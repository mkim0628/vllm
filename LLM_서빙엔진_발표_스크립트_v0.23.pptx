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90" r:id="rId2"/>
    <p:sldMasterId id="2147483707" r:id="rId3"/>
    <p:sldMasterId id="2147483744" r:id="rId4"/>
  </p:sldMasterIdLst>
  <p:notesMasterIdLst>
    <p:notesMasterId r:id="rId236"/>
  </p:notesMasterIdLst>
  <p:sldIdLst>
    <p:sldId id="862" r:id="rId5"/>
    <p:sldId id="716" r:id="rId6"/>
    <p:sldId id="976" r:id="rId7"/>
    <p:sldId id="937" r:id="rId8"/>
    <p:sldId id="1034" r:id="rId9"/>
    <p:sldId id="696" r:id="rId10"/>
    <p:sldId id="1009" r:id="rId11"/>
    <p:sldId id="929" r:id="rId12"/>
    <p:sldId id="1060" r:id="rId13"/>
    <p:sldId id="1053" r:id="rId14"/>
    <p:sldId id="943" r:id="rId15"/>
    <p:sldId id="942" r:id="rId16"/>
    <p:sldId id="770" r:id="rId17"/>
    <p:sldId id="868" r:id="rId18"/>
    <p:sldId id="977" r:id="rId19"/>
    <p:sldId id="888" r:id="rId20"/>
    <p:sldId id="1065" r:id="rId21"/>
    <p:sldId id="745" r:id="rId22"/>
    <p:sldId id="945" r:id="rId23"/>
    <p:sldId id="946" r:id="rId24"/>
    <p:sldId id="806" r:id="rId25"/>
    <p:sldId id="926" r:id="rId26"/>
    <p:sldId id="1068" r:id="rId27"/>
    <p:sldId id="947" r:id="rId28"/>
    <p:sldId id="959" r:id="rId29"/>
    <p:sldId id="960" r:id="rId30"/>
    <p:sldId id="978" r:id="rId31"/>
    <p:sldId id="979" r:id="rId32"/>
    <p:sldId id="980" r:id="rId33"/>
    <p:sldId id="1000" r:id="rId34"/>
    <p:sldId id="1016" r:id="rId35"/>
    <p:sldId id="1008" r:id="rId36"/>
    <p:sldId id="718" r:id="rId37"/>
    <p:sldId id="1031" r:id="rId38"/>
    <p:sldId id="1032" r:id="rId39"/>
    <p:sldId id="1030" r:id="rId40"/>
    <p:sldId id="1024" r:id="rId41"/>
    <p:sldId id="1025" r:id="rId42"/>
    <p:sldId id="1029" r:id="rId43"/>
    <p:sldId id="849" r:id="rId44"/>
    <p:sldId id="912" r:id="rId45"/>
    <p:sldId id="692" r:id="rId46"/>
    <p:sldId id="614" r:id="rId47"/>
    <p:sldId id="726" r:id="rId48"/>
    <p:sldId id="727" r:id="rId49"/>
    <p:sldId id="728" r:id="rId50"/>
    <p:sldId id="729" r:id="rId51"/>
    <p:sldId id="1013" r:id="rId52"/>
    <p:sldId id="689" r:id="rId53"/>
    <p:sldId id="987" r:id="rId54"/>
    <p:sldId id="1043" r:id="rId55"/>
    <p:sldId id="1038" r:id="rId56"/>
    <p:sldId id="1050" r:id="rId57"/>
    <p:sldId id="1054" r:id="rId58"/>
    <p:sldId id="1044" r:id="rId59"/>
    <p:sldId id="1051" r:id="rId60"/>
    <p:sldId id="1048" r:id="rId61"/>
    <p:sldId id="1033" r:id="rId62"/>
    <p:sldId id="1037" r:id="rId63"/>
    <p:sldId id="730" r:id="rId64"/>
    <p:sldId id="731" r:id="rId65"/>
    <p:sldId id="732" r:id="rId66"/>
    <p:sldId id="733" r:id="rId67"/>
    <p:sldId id="941" r:id="rId68"/>
    <p:sldId id="984" r:id="rId69"/>
    <p:sldId id="986" r:id="rId70"/>
    <p:sldId id="994" r:id="rId71"/>
    <p:sldId id="995" r:id="rId72"/>
    <p:sldId id="1012" r:id="rId73"/>
    <p:sldId id="704" r:id="rId74"/>
    <p:sldId id="705" r:id="rId75"/>
    <p:sldId id="706" r:id="rId76"/>
    <p:sldId id="707" r:id="rId77"/>
    <p:sldId id="708" r:id="rId78"/>
    <p:sldId id="709" r:id="rId79"/>
    <p:sldId id="1036" r:id="rId80"/>
    <p:sldId id="1014" r:id="rId81"/>
    <p:sldId id="710" r:id="rId82"/>
    <p:sldId id="719" r:id="rId83"/>
    <p:sldId id="1045" r:id="rId84"/>
    <p:sldId id="964" r:id="rId85"/>
    <p:sldId id="721" r:id="rId86"/>
    <p:sldId id="965" r:id="rId87"/>
    <p:sldId id="933" r:id="rId88"/>
    <p:sldId id="1047" r:id="rId89"/>
    <p:sldId id="966" r:id="rId90"/>
    <p:sldId id="961" r:id="rId91"/>
    <p:sldId id="967" r:id="rId92"/>
    <p:sldId id="724" r:id="rId93"/>
    <p:sldId id="968" r:id="rId94"/>
    <p:sldId id="1067" r:id="rId95"/>
    <p:sldId id="1052" r:id="rId96"/>
    <p:sldId id="722" r:id="rId97"/>
    <p:sldId id="1046" r:id="rId98"/>
    <p:sldId id="969" r:id="rId99"/>
    <p:sldId id="723" r:id="rId100"/>
    <p:sldId id="1039" r:id="rId101"/>
    <p:sldId id="1063" r:id="rId102"/>
    <p:sldId id="1064" r:id="rId103"/>
    <p:sldId id="962" r:id="rId104"/>
    <p:sldId id="905" r:id="rId105"/>
    <p:sldId id="906" r:id="rId106"/>
    <p:sldId id="907" r:id="rId107"/>
    <p:sldId id="908" r:id="rId108"/>
    <p:sldId id="909" r:id="rId109"/>
    <p:sldId id="988" r:id="rId110"/>
    <p:sldId id="1028" r:id="rId111"/>
    <p:sldId id="1017" r:id="rId112"/>
    <p:sldId id="934" r:id="rId113"/>
    <p:sldId id="1061" r:id="rId114"/>
    <p:sldId id="1015" r:id="rId115"/>
    <p:sldId id="989" r:id="rId116"/>
    <p:sldId id="996" r:id="rId117"/>
    <p:sldId id="990" r:id="rId118"/>
    <p:sldId id="997" r:id="rId119"/>
    <p:sldId id="991" r:id="rId120"/>
    <p:sldId id="998" r:id="rId121"/>
    <p:sldId id="992" r:id="rId122"/>
    <p:sldId id="993" r:id="rId123"/>
    <p:sldId id="999" r:id="rId124"/>
    <p:sldId id="776" r:id="rId125"/>
    <p:sldId id="777" r:id="rId126"/>
    <p:sldId id="778" r:id="rId127"/>
    <p:sldId id="779" r:id="rId128"/>
    <p:sldId id="780" r:id="rId129"/>
    <p:sldId id="781" r:id="rId130"/>
    <p:sldId id="782" r:id="rId131"/>
    <p:sldId id="748" r:id="rId132"/>
    <p:sldId id="749" r:id="rId133"/>
    <p:sldId id="804" r:id="rId134"/>
    <p:sldId id="795" r:id="rId135"/>
    <p:sldId id="808" r:id="rId136"/>
    <p:sldId id="807" r:id="rId137"/>
    <p:sldId id="811" r:id="rId138"/>
    <p:sldId id="1055" r:id="rId139"/>
    <p:sldId id="1066" r:id="rId140"/>
    <p:sldId id="931" r:id="rId141"/>
    <p:sldId id="1027" r:id="rId142"/>
    <p:sldId id="920" r:id="rId143"/>
    <p:sldId id="1056" r:id="rId144"/>
    <p:sldId id="1040" r:id="rId145"/>
    <p:sldId id="1057" r:id="rId146"/>
    <p:sldId id="1058" r:id="rId147"/>
    <p:sldId id="1041" r:id="rId148"/>
    <p:sldId id="886" r:id="rId149"/>
    <p:sldId id="1059" r:id="rId150"/>
    <p:sldId id="870" r:id="rId151"/>
    <p:sldId id="816" r:id="rId152"/>
    <p:sldId id="831" r:id="rId153"/>
    <p:sldId id="256" r:id="rId154"/>
    <p:sldId id="257" r:id="rId155"/>
    <p:sldId id="258" r:id="rId156"/>
    <p:sldId id="259" r:id="rId157"/>
    <p:sldId id="260" r:id="rId158"/>
    <p:sldId id="620" r:id="rId159"/>
    <p:sldId id="556" r:id="rId160"/>
    <p:sldId id="832" r:id="rId161"/>
    <p:sldId id="833" r:id="rId162"/>
    <p:sldId id="789" r:id="rId163"/>
    <p:sldId id="790" r:id="rId164"/>
    <p:sldId id="791" r:id="rId165"/>
    <p:sldId id="792" r:id="rId166"/>
    <p:sldId id="857" r:id="rId167"/>
    <p:sldId id="876" r:id="rId168"/>
    <p:sldId id="877" r:id="rId169"/>
    <p:sldId id="878" r:id="rId170"/>
    <p:sldId id="879" r:id="rId171"/>
    <p:sldId id="875" r:id="rId172"/>
    <p:sldId id="882" r:id="rId173"/>
    <p:sldId id="880" r:id="rId174"/>
    <p:sldId id="881" r:id="rId175"/>
    <p:sldId id="890" r:id="rId176"/>
    <p:sldId id="891" r:id="rId177"/>
    <p:sldId id="892" r:id="rId178"/>
    <p:sldId id="893" r:id="rId179"/>
    <p:sldId id="894" r:id="rId180"/>
    <p:sldId id="895" r:id="rId181"/>
    <p:sldId id="896" r:id="rId182"/>
    <p:sldId id="897" r:id="rId183"/>
    <p:sldId id="898" r:id="rId184"/>
    <p:sldId id="899" r:id="rId185"/>
    <p:sldId id="900" r:id="rId186"/>
    <p:sldId id="901" r:id="rId187"/>
    <p:sldId id="902" r:id="rId188"/>
    <p:sldId id="903" r:id="rId189"/>
    <p:sldId id="921" r:id="rId190"/>
    <p:sldId id="922" r:id="rId191"/>
    <p:sldId id="918" r:id="rId192"/>
    <p:sldId id="940" r:id="rId193"/>
    <p:sldId id="948" r:id="rId194"/>
    <p:sldId id="949" r:id="rId195"/>
    <p:sldId id="944" r:id="rId196"/>
    <p:sldId id="854" r:id="rId197"/>
    <p:sldId id="864" r:id="rId198"/>
    <p:sldId id="952" r:id="rId199"/>
    <p:sldId id="953" r:id="rId200"/>
    <p:sldId id="954" r:id="rId201"/>
    <p:sldId id="957" r:id="rId202"/>
    <p:sldId id="956" r:id="rId203"/>
    <p:sldId id="958" r:id="rId204"/>
    <p:sldId id="914" r:id="rId205"/>
    <p:sldId id="823" r:id="rId206"/>
    <p:sldId id="950" r:id="rId207"/>
    <p:sldId id="951" r:id="rId208"/>
    <p:sldId id="963" r:id="rId209"/>
    <p:sldId id="971" r:id="rId210"/>
    <p:sldId id="972" r:id="rId211"/>
    <p:sldId id="970" r:id="rId212"/>
    <p:sldId id="973" r:id="rId213"/>
    <p:sldId id="974" r:id="rId214"/>
    <p:sldId id="975" r:id="rId215"/>
    <p:sldId id="859" r:id="rId216"/>
    <p:sldId id="913" r:id="rId217"/>
    <p:sldId id="938" r:id="rId218"/>
    <p:sldId id="985" r:id="rId219"/>
    <p:sldId id="812" r:id="rId220"/>
    <p:sldId id="981" r:id="rId221"/>
    <p:sldId id="982" r:id="rId222"/>
    <p:sldId id="983" r:id="rId223"/>
    <p:sldId id="1006" r:id="rId224"/>
    <p:sldId id="1001" r:id="rId225"/>
    <p:sldId id="1002" r:id="rId226"/>
    <p:sldId id="1003" r:id="rId227"/>
    <p:sldId id="1004" r:id="rId228"/>
    <p:sldId id="1005" r:id="rId229"/>
    <p:sldId id="1019" r:id="rId230"/>
    <p:sldId id="1018" r:id="rId231"/>
    <p:sldId id="1020" r:id="rId232"/>
    <p:sldId id="1021" r:id="rId233"/>
    <p:sldId id="1022" r:id="rId234"/>
    <p:sldId id="1023" r:id="rId23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7118AFE9-5D72-4ADD-986E-7181C34260F3}">
          <p14:sldIdLst>
            <p14:sldId id="862"/>
            <p14:sldId id="716"/>
            <p14:sldId id="976"/>
            <p14:sldId id="937"/>
            <p14:sldId id="1034"/>
            <p14:sldId id="696"/>
            <p14:sldId id="1009"/>
            <p14:sldId id="929"/>
            <p14:sldId id="1060"/>
            <p14:sldId id="1053"/>
            <p14:sldId id="943"/>
            <p14:sldId id="942"/>
            <p14:sldId id="770"/>
            <p14:sldId id="868"/>
            <p14:sldId id="977"/>
            <p14:sldId id="888"/>
            <p14:sldId id="1065"/>
            <p14:sldId id="745"/>
            <p14:sldId id="945"/>
            <p14:sldId id="946"/>
            <p14:sldId id="806"/>
            <p14:sldId id="926"/>
            <p14:sldId id="1068"/>
            <p14:sldId id="947"/>
            <p14:sldId id="959"/>
            <p14:sldId id="960"/>
            <p14:sldId id="978"/>
            <p14:sldId id="979"/>
            <p14:sldId id="980"/>
            <p14:sldId id="1000"/>
            <p14:sldId id="1016"/>
            <p14:sldId id="1008"/>
          </p14:sldIdLst>
        </p14:section>
        <p14:section name="Appendix" id="{C4AFB420-AF52-4545-B969-4A475A016A9E}">
          <p14:sldIdLst>
            <p14:sldId id="718"/>
            <p14:sldId id="1031"/>
            <p14:sldId id="1032"/>
            <p14:sldId id="1030"/>
            <p14:sldId id="1024"/>
            <p14:sldId id="1025"/>
            <p14:sldId id="1029"/>
            <p14:sldId id="849"/>
            <p14:sldId id="912"/>
            <p14:sldId id="692"/>
            <p14:sldId id="614"/>
            <p14:sldId id="726"/>
            <p14:sldId id="727"/>
            <p14:sldId id="728"/>
            <p14:sldId id="729"/>
            <p14:sldId id="1013"/>
            <p14:sldId id="689"/>
            <p14:sldId id="987"/>
            <p14:sldId id="1043"/>
            <p14:sldId id="1038"/>
            <p14:sldId id="1050"/>
            <p14:sldId id="1054"/>
            <p14:sldId id="1044"/>
            <p14:sldId id="1051"/>
            <p14:sldId id="1048"/>
            <p14:sldId id="1033"/>
            <p14:sldId id="1037"/>
            <p14:sldId id="730"/>
            <p14:sldId id="731"/>
            <p14:sldId id="732"/>
            <p14:sldId id="733"/>
            <p14:sldId id="941"/>
            <p14:sldId id="984"/>
            <p14:sldId id="986"/>
            <p14:sldId id="994"/>
            <p14:sldId id="995"/>
            <p14:sldId id="1012"/>
            <p14:sldId id="704"/>
            <p14:sldId id="705"/>
            <p14:sldId id="706"/>
            <p14:sldId id="707"/>
            <p14:sldId id="708"/>
            <p14:sldId id="709"/>
            <p14:sldId id="1036"/>
            <p14:sldId id="1014"/>
            <p14:sldId id="710"/>
            <p14:sldId id="719"/>
            <p14:sldId id="1045"/>
            <p14:sldId id="964"/>
            <p14:sldId id="721"/>
            <p14:sldId id="965"/>
            <p14:sldId id="933"/>
            <p14:sldId id="1047"/>
            <p14:sldId id="966"/>
            <p14:sldId id="961"/>
            <p14:sldId id="967"/>
            <p14:sldId id="724"/>
            <p14:sldId id="968"/>
            <p14:sldId id="1067"/>
            <p14:sldId id="1052"/>
            <p14:sldId id="722"/>
            <p14:sldId id="1046"/>
            <p14:sldId id="969"/>
            <p14:sldId id="723"/>
            <p14:sldId id="1039"/>
            <p14:sldId id="1063"/>
            <p14:sldId id="1064"/>
            <p14:sldId id="962"/>
            <p14:sldId id="905"/>
            <p14:sldId id="906"/>
            <p14:sldId id="907"/>
            <p14:sldId id="908"/>
            <p14:sldId id="909"/>
            <p14:sldId id="988"/>
            <p14:sldId id="1028"/>
            <p14:sldId id="1017"/>
            <p14:sldId id="934"/>
            <p14:sldId id="1061"/>
            <p14:sldId id="1015"/>
            <p14:sldId id="989"/>
            <p14:sldId id="996"/>
            <p14:sldId id="990"/>
            <p14:sldId id="997"/>
            <p14:sldId id="991"/>
            <p14:sldId id="998"/>
            <p14:sldId id="992"/>
            <p14:sldId id="993"/>
            <p14:sldId id="999"/>
            <p14:sldId id="776"/>
            <p14:sldId id="777"/>
            <p14:sldId id="778"/>
            <p14:sldId id="779"/>
            <p14:sldId id="780"/>
            <p14:sldId id="781"/>
            <p14:sldId id="782"/>
            <p14:sldId id="748"/>
            <p14:sldId id="749"/>
            <p14:sldId id="804"/>
            <p14:sldId id="795"/>
            <p14:sldId id="808"/>
            <p14:sldId id="807"/>
            <p14:sldId id="811"/>
            <p14:sldId id="1055"/>
            <p14:sldId id="1066"/>
            <p14:sldId id="931"/>
            <p14:sldId id="1027"/>
            <p14:sldId id="920"/>
            <p14:sldId id="1056"/>
            <p14:sldId id="1040"/>
            <p14:sldId id="1057"/>
            <p14:sldId id="1058"/>
            <p14:sldId id="1041"/>
            <p14:sldId id="886"/>
            <p14:sldId id="1059"/>
            <p14:sldId id="870"/>
            <p14:sldId id="816"/>
            <p14:sldId id="831"/>
            <p14:sldId id="256"/>
            <p14:sldId id="257"/>
            <p14:sldId id="258"/>
            <p14:sldId id="259"/>
            <p14:sldId id="260"/>
            <p14:sldId id="620"/>
            <p14:sldId id="556"/>
            <p14:sldId id="832"/>
            <p14:sldId id="833"/>
            <p14:sldId id="789"/>
            <p14:sldId id="790"/>
            <p14:sldId id="791"/>
            <p14:sldId id="792"/>
            <p14:sldId id="857"/>
            <p14:sldId id="876"/>
            <p14:sldId id="877"/>
            <p14:sldId id="878"/>
            <p14:sldId id="879"/>
            <p14:sldId id="875"/>
            <p14:sldId id="882"/>
            <p14:sldId id="880"/>
            <p14:sldId id="881"/>
            <p14:sldId id="890"/>
            <p14:sldId id="891"/>
            <p14:sldId id="892"/>
            <p14:sldId id="893"/>
            <p14:sldId id="894"/>
            <p14:sldId id="895"/>
            <p14:sldId id="896"/>
            <p14:sldId id="897"/>
            <p14:sldId id="898"/>
            <p14:sldId id="899"/>
            <p14:sldId id="900"/>
            <p14:sldId id="901"/>
            <p14:sldId id="902"/>
            <p14:sldId id="903"/>
            <p14:sldId id="921"/>
            <p14:sldId id="922"/>
            <p14:sldId id="918"/>
            <p14:sldId id="940"/>
            <p14:sldId id="948"/>
            <p14:sldId id="949"/>
            <p14:sldId id="944"/>
            <p14:sldId id="854"/>
            <p14:sldId id="864"/>
            <p14:sldId id="952"/>
            <p14:sldId id="953"/>
            <p14:sldId id="954"/>
            <p14:sldId id="957"/>
            <p14:sldId id="956"/>
            <p14:sldId id="958"/>
            <p14:sldId id="914"/>
            <p14:sldId id="823"/>
            <p14:sldId id="950"/>
            <p14:sldId id="951"/>
            <p14:sldId id="963"/>
            <p14:sldId id="971"/>
            <p14:sldId id="972"/>
            <p14:sldId id="970"/>
            <p14:sldId id="973"/>
            <p14:sldId id="974"/>
            <p14:sldId id="975"/>
            <p14:sldId id="859"/>
            <p14:sldId id="913"/>
            <p14:sldId id="938"/>
            <p14:sldId id="985"/>
            <p14:sldId id="812"/>
            <p14:sldId id="981"/>
            <p14:sldId id="982"/>
            <p14:sldId id="983"/>
            <p14:sldId id="1006"/>
            <p14:sldId id="1001"/>
            <p14:sldId id="1002"/>
            <p14:sldId id="1003"/>
            <p14:sldId id="1004"/>
            <p14:sldId id="1005"/>
            <p14:sldId id="1019"/>
            <p14:sldId id="1018"/>
            <p14:sldId id="1020"/>
            <p14:sldId id="1021"/>
            <p14:sldId id="1022"/>
            <p14:sldId id="102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66FF"/>
    <a:srgbClr val="EAF2FA"/>
    <a:srgbClr val="3A3A3A"/>
    <a:srgbClr val="F0D8FA"/>
    <a:srgbClr val="FFFFFF"/>
    <a:srgbClr val="C00000"/>
    <a:srgbClr val="FBE5D6"/>
    <a:srgbClr val="E6B99A"/>
    <a:srgbClr val="AFCE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52" autoAdjust="0"/>
    <p:restoredTop sz="87551" autoAdjust="0"/>
  </p:normalViewPr>
  <p:slideViewPr>
    <p:cSldViewPr snapToGrid="0">
      <p:cViewPr varScale="1">
        <p:scale>
          <a:sx n="144" d="100"/>
          <a:sy n="144" d="100"/>
        </p:scale>
        <p:origin x="432" y="126"/>
      </p:cViewPr>
      <p:guideLst/>
    </p:cSldViewPr>
  </p:slideViewPr>
  <p:outlineViewPr>
    <p:cViewPr>
      <p:scale>
        <a:sx n="33" d="100"/>
        <a:sy n="33" d="100"/>
      </p:scale>
      <p:origin x="0" y="-29352"/>
    </p:cViewPr>
  </p:outlineViewPr>
  <p:notesTextViewPr>
    <p:cViewPr>
      <p:scale>
        <a:sx n="3" d="2"/>
        <a:sy n="3" d="2"/>
      </p:scale>
      <p:origin x="0" y="0"/>
    </p:cViewPr>
  </p:notesTextViewPr>
  <p:sorterViewPr>
    <p:cViewPr>
      <p:scale>
        <a:sx n="100" d="100"/>
        <a:sy n="100" d="100"/>
      </p:scale>
      <p:origin x="0" y="-25164"/>
    </p:cViewPr>
  </p:sorterViewPr>
  <p:notesViewPr>
    <p:cSldViewPr snapToGrid="0">
      <p:cViewPr varScale="1">
        <p:scale>
          <a:sx n="86" d="100"/>
          <a:sy n="86" d="100"/>
        </p:scale>
        <p:origin x="3864" y="7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notesMaster" Target="notesMasters/notesMaster1.xml"/><Relationship Id="rId237" Type="http://schemas.openxmlformats.org/officeDocument/2006/relationships/presProps" Target="presProps.xml"/><Relationship Id="rId238" Type="http://schemas.openxmlformats.org/officeDocument/2006/relationships/viewProps" Target="viewProps.xml"/><Relationship Id="rId239" Type="http://schemas.openxmlformats.org/officeDocument/2006/relationships/theme" Target="theme/theme1.xml"/><Relationship Id="rId24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____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887433636064135"/>
          <c:y val="0.1294447804195234"/>
          <c:w val="0.76501858205613482"/>
          <c:h val="0.6041622782281354"/>
        </c:manualLayout>
      </c:layout>
      <c:lineChart>
        <c:grouping val="standard"/>
        <c:varyColors val="0"/>
        <c:ser>
          <c:idx val="0"/>
          <c:order val="0"/>
          <c:tx>
            <c:strRef>
              <c:f>Sheet1!$B$1</c:f>
              <c:strCache>
                <c:ptCount val="1"/>
                <c:pt idx="0">
                  <c:v>Baseline-GPU-local goodput (tok/s)</c:v>
                </c:pt>
              </c:strCache>
            </c:strRef>
          </c:tx>
          <c:spPr>
            <a:ln w="25400">
              <a:solidFill>
                <a:srgbClr val="FF0000"/>
              </a:solidFill>
            </a:ln>
          </c:spPr>
          <c:dLbls>
            <c:dLbl>
              <c:idx val="0"/>
              <c:layout>
                <c:manualLayout>
                  <c:x val="-6.9903294412562642E-2"/>
                  <c:y val="6.2169734609887499E-2"/>
                </c:manualLayout>
              </c:layout>
              <c:dLblPos val="r"/>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4-89D1-4026-9E5B-6579A7EECAC2}"/>
                </c:ext>
              </c:extLst>
            </c:dLbl>
            <c:dLbl>
              <c:idx val="6"/>
              <c:layout>
                <c:manualLayout>
                  <c:x val="-4.7965712492954102E-2"/>
                  <c:y val="-7.4466422499609358E-2"/>
                </c:manualLayout>
              </c:layout>
              <c:dLblPos val="r"/>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1-89D1-4026-9E5B-6579A7EECAC2}"/>
                </c:ext>
              </c:extLst>
            </c:dLbl>
            <c:dLbl>
              <c:idx val="7"/>
              <c:layout>
                <c:manualLayout>
                  <c:x val="-5.9120493516235523E-2"/>
                  <c:y val="-7.4466422499609358E-2"/>
                </c:manualLayout>
              </c:layout>
              <c:dLblPos val="r"/>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2-89D1-4026-9E5B-6579A7EECAC2}"/>
                </c:ext>
              </c:extLst>
            </c:dLbl>
            <c:dLbl>
              <c:idx val="8"/>
              <c:layout>
                <c:manualLayout>
                  <c:x val="-6.3034451770018277E-2"/>
                  <c:y val="-6.7275045809635836E-2"/>
                </c:manualLayout>
              </c:layout>
              <c:dLblPos val="r"/>
              <c:showLegendKey val="0"/>
              <c:showVal val="1"/>
              <c:showCatName val="0"/>
              <c:showSerName val="0"/>
              <c:showPercent val="0"/>
              <c:showBubbleSize val="0"/>
              <c:extLst>
                <c:ext xmlns:c15="http://schemas.microsoft.com/office/drawing/2012/chart" uri="{CE6537A1-D6FC-4f65-9D91-7224C49458BB}">
                  <c15:layout/>
                </c:ext>
                <c:ext xmlns:c16="http://schemas.microsoft.com/office/drawing/2014/chart" uri="{C3380CC4-5D6E-409C-BE32-E72D297353CC}">
                  <c16:uniqueId val="{00000003-89D1-4026-9E5B-6579A7EECAC2}"/>
                </c:ext>
              </c:extLst>
            </c:dLbl>
            <c:spPr>
              <a:noFill/>
              <a:ln>
                <a:noFill/>
              </a:ln>
              <a:effectLst/>
            </c:spPr>
            <c:txPr>
              <a:bodyPr wrap="square" lIns="38100" tIns="19050" rIns="38100" bIns="19050" anchor="ctr">
                <a:spAutoFit/>
              </a:bodyPr>
              <a:lstStyle/>
              <a:p>
                <a:pPr>
                  <a:defRPr sz="1000"/>
                </a:pPr>
                <a:endParaRPr lang="ko-KR"/>
              </a:p>
            </c:txPr>
            <c:dLblPos val="b"/>
            <c:showLegendKey val="0"/>
            <c:showVal val="1"/>
            <c:showCatName val="0"/>
            <c:showSerName val="0"/>
            <c:showPercent val="0"/>
            <c:showBubbleSize val="0"/>
            <c:showLeaderLines val="0"/>
            <c:extLst>
              <c:ext xmlns:c15="http://schemas.microsoft.com/office/drawing/2012/chart" uri="{CE6537A1-D6FC-4f65-9D91-7224C49458BB}">
                <c15:layout/>
                <c15:showLeaderLines val="1"/>
              </c:ext>
            </c:extLst>
          </c:dLbls>
          <c:cat>
            <c:strRef>
              <c:f>Sheet1!$A$2:$A$10</c:f>
              <c:strCache>
                <c:ptCount val="9"/>
                <c:pt idx="0">
                  <c:v>1</c:v>
                </c:pt>
                <c:pt idx="1">
                  <c:v>2</c:v>
                </c:pt>
                <c:pt idx="2">
                  <c:v>3</c:v>
                </c:pt>
                <c:pt idx="3">
                  <c:v>4</c:v>
                </c:pt>
                <c:pt idx="4">
                  <c:v>6</c:v>
                </c:pt>
                <c:pt idx="5">
                  <c:v>8</c:v>
                </c:pt>
                <c:pt idx="6">
                  <c:v>12</c:v>
                </c:pt>
                <c:pt idx="7">
                  <c:v>16</c:v>
                </c:pt>
                <c:pt idx="8">
                  <c:v>24</c:v>
                </c:pt>
              </c:strCache>
            </c:strRef>
          </c:cat>
          <c:val>
            <c:numRef>
              <c:f>Sheet1!$B$2:$B$10</c:f>
              <c:numCache>
                <c:formatCode>General</c:formatCode>
                <c:ptCount val="9"/>
                <c:pt idx="0">
                  <c:v>22.3</c:v>
                </c:pt>
                <c:pt idx="1">
                  <c:v>45</c:v>
                </c:pt>
                <c:pt idx="2">
                  <c:v>69.7</c:v>
                </c:pt>
                <c:pt idx="3">
                  <c:v>83.4</c:v>
                </c:pt>
                <c:pt idx="4">
                  <c:v>59.5</c:v>
                </c:pt>
                <c:pt idx="5">
                  <c:v>35.299999999999997</c:v>
                </c:pt>
                <c:pt idx="6">
                  <c:v>9</c:v>
                </c:pt>
                <c:pt idx="7">
                  <c:v>2.2000000000000002</c:v>
                </c:pt>
                <c:pt idx="8">
                  <c:v>1.3</c:v>
                </c:pt>
              </c:numCache>
            </c:numRef>
          </c:val>
          <c:smooth val="0"/>
          <c:extLst>
            <c:ext xmlns:c16="http://schemas.microsoft.com/office/drawing/2014/chart" uri="{C3380CC4-5D6E-409C-BE32-E72D297353CC}">
              <c16:uniqueId val="{00000000-18D8-48BF-83D8-8E2EEA1F4921}"/>
            </c:ext>
          </c:extLst>
        </c:ser>
        <c:dLbls>
          <c:dLblPos val="b"/>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pPr>
                  <a:defRPr sz="700"/>
                </a:pPr>
                <a:r>
                  <a:rPr lang="ko-KR" altLang="en-US" sz="700" dirty="0"/>
                  <a:t>동시 세션 수 </a:t>
                </a:r>
              </a:p>
            </c:rich>
          </c:tx>
          <c:layout/>
          <c:overlay val="0"/>
        </c:title>
        <c:numFmt formatCode="General" sourceLinked="0"/>
        <c:majorTickMark val="out"/>
        <c:minorTickMark val="none"/>
        <c:tickLblPos val="nextTo"/>
        <c:txPr>
          <a:bodyPr/>
          <a:lstStyle/>
          <a:p>
            <a:pPr>
              <a:defRPr sz="800"/>
            </a:pPr>
            <a:endParaRPr lang="ko-KR"/>
          </a:p>
        </c:txPr>
        <c:crossAx val="2140495176"/>
        <c:crosses val="autoZero"/>
        <c:auto val="1"/>
        <c:lblAlgn val="ctr"/>
        <c:lblOffset val="100"/>
        <c:noMultiLvlLbl val="0"/>
      </c:catAx>
      <c:valAx>
        <c:axId val="2140495176"/>
        <c:scaling>
          <c:orientation val="minMax"/>
        </c:scaling>
        <c:delete val="0"/>
        <c:axPos val="l"/>
        <c:title>
          <c:tx>
            <c:rich>
              <a:bodyPr/>
              <a:lstStyle/>
              <a:p>
                <a:pPr>
                  <a:defRPr sz="700"/>
                </a:pPr>
                <a:r>
                  <a:rPr lang="en-US" altLang="ko-KR" sz="700" dirty="0"/>
                  <a:t>SLO Goodput</a:t>
                </a:r>
                <a:endParaRPr lang="ko-KR" altLang="en-US" sz="700" dirty="0"/>
              </a:p>
            </c:rich>
          </c:tx>
          <c:layout/>
          <c:overlay val="0"/>
        </c:title>
        <c:numFmt formatCode="General" sourceLinked="1"/>
        <c:majorTickMark val="out"/>
        <c:minorTickMark val="none"/>
        <c:tickLblPos val="nextTo"/>
        <c:txPr>
          <a:bodyPr/>
          <a:lstStyle/>
          <a:p>
            <a:pPr>
              <a:defRPr sz="800"/>
            </a:pPr>
            <a:endParaRPr lang="ko-KR"/>
          </a:p>
        </c:txPr>
        <c:crossAx val="2118791784"/>
        <c:crosses val="autoZero"/>
        <c:crossBetween val="between"/>
      </c:valAx>
    </c:plotArea>
    <c:plotVisOnly val="1"/>
    <c:dispBlanksAs val="gap"/>
    <c:showDLblsOverMax val="0"/>
  </c:chart>
  <c:txPr>
    <a:bodyPr/>
    <a:lstStyle/>
    <a:p>
      <a:pPr>
        <a:defRPr sz="1800"/>
      </a:pPr>
      <a:endParaRPr lang="ko-K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r>
              <a:rPr lang="ko-KR" altLang="en-US" sz="900" b="1" dirty="0">
                <a:latin typeface="맑은 고딕"/>
              </a:rPr>
              <a:t>처리량 </a:t>
            </a:r>
            <a:r>
              <a:rPr lang="en-US" sz="900" b="1" dirty="0">
                <a:latin typeface="맑은 고딕"/>
              </a:rPr>
              <a:t>R = Max SLO </a:t>
            </a:r>
            <a:r>
              <a:rPr lang="en-US" sz="900" b="1" dirty="0" err="1">
                <a:latin typeface="맑은 고딕"/>
              </a:rPr>
              <a:t>goodput</a:t>
            </a:r>
            <a:r>
              <a:rPr lang="en-US" sz="900" b="1" dirty="0">
                <a:latin typeface="맑은 고딕"/>
              </a:rPr>
              <a:t> ÷ Baseline</a:t>
            </a:r>
            <a:r>
              <a:rPr lang="en-US" sz="900" b="1" baseline="0" dirty="0">
                <a:latin typeface="맑은 고딕"/>
              </a:rPr>
              <a:t> </a:t>
            </a:r>
            <a:r>
              <a:rPr lang="en-US" sz="900" b="1" dirty="0">
                <a:latin typeface="맑은 고딕"/>
              </a:rPr>
              <a:t>(↑ </a:t>
            </a:r>
            <a:r>
              <a:rPr lang="ko-KR" altLang="en-US" sz="900" b="1" dirty="0">
                <a:latin typeface="맑은 고딕"/>
              </a:rPr>
              <a:t>좋음</a:t>
            </a:r>
            <a:r>
              <a:rPr lang="en-US" altLang="ko-KR" sz="900" b="1" dirty="0">
                <a:latin typeface="맑은 고딕"/>
              </a:rPr>
              <a:t>)</a:t>
            </a:r>
          </a:p>
        </c:rich>
      </c:tx>
      <c:layout>
        <c:manualLayout>
          <c:xMode val="edge"/>
          <c:yMode val="edge"/>
          <c:x val="0.26025928887795274"/>
          <c:y val="4.7080979284369112E-3"/>
        </c:manualLayout>
      </c:layout>
      <c:overlay val="0"/>
    </c:title>
    <c:autoTitleDeleted val="0"/>
    <c:plotArea>
      <c:layout/>
      <c:barChart>
        <c:barDir val="col"/>
        <c:grouping val="clustered"/>
        <c:varyColors val="1"/>
        <c:ser>
          <c:idx val="0"/>
          <c:order val="0"/>
          <c:tx>
            <c:strRef>
              <c:f>Sheet1!$B$1</c:f>
              <c:strCache>
                <c:ptCount val="1"/>
                <c:pt idx="0">
                  <c:v>값</c:v>
                </c:pt>
              </c:strCache>
            </c:strRef>
          </c:tx>
          <c:invertIfNegative val="1"/>
          <c:dPt>
            <c:idx val="0"/>
            <c:invertIfNegative val="1"/>
            <c:bubble3D val="0"/>
            <c:spPr>
              <a:solidFill>
                <a:srgbClr val="C00000"/>
              </a:solidFill>
            </c:spPr>
            <c:extLst>
              <c:ext xmlns:c16="http://schemas.microsoft.com/office/drawing/2014/chart" uri="{C3380CC4-5D6E-409C-BE32-E72D297353CC}">
                <c16:uniqueId val="{00000001-2C5C-4F42-97B4-4009137DAC34}"/>
              </c:ext>
            </c:extLst>
          </c:dPt>
          <c:dPt>
            <c:idx val="1"/>
            <c:invertIfNegative val="1"/>
            <c:bubble3D val="0"/>
            <c:spPr>
              <a:solidFill>
                <a:srgbClr val="BFBFBF"/>
              </a:solidFill>
            </c:spPr>
            <c:extLst>
              <c:ext xmlns:c16="http://schemas.microsoft.com/office/drawing/2014/chart" uri="{C3380CC4-5D6E-409C-BE32-E72D297353CC}">
                <c16:uniqueId val="{00000003-2C5C-4F42-97B4-4009137DAC34}"/>
              </c:ext>
            </c:extLst>
          </c:dPt>
          <c:dPt>
            <c:idx val="2"/>
            <c:invertIfNegative val="1"/>
            <c:bubble3D val="0"/>
            <c:spPr>
              <a:solidFill>
                <a:srgbClr val="2E75B6"/>
              </a:solidFill>
            </c:spPr>
            <c:extLst>
              <c:ext xmlns:c16="http://schemas.microsoft.com/office/drawing/2014/chart" uri="{C3380CC4-5D6E-409C-BE32-E72D297353CC}">
                <c16:uniqueId val="{00000005-2C5C-4F42-97B4-4009137DAC34}"/>
              </c:ext>
            </c:extLst>
          </c:dPt>
          <c:dPt>
            <c:idx val="3"/>
            <c:invertIfNegative val="1"/>
            <c:bubble3D val="0"/>
            <c:spPr>
              <a:solidFill>
                <a:srgbClr val="2E75B6"/>
              </a:solidFill>
            </c:spPr>
            <c:extLst>
              <c:ext xmlns:c16="http://schemas.microsoft.com/office/drawing/2014/chart" uri="{C3380CC4-5D6E-409C-BE32-E72D297353CC}">
                <c16:uniqueId val="{00000007-2C5C-4F42-97B4-4009137DAC34}"/>
              </c:ext>
            </c:extLst>
          </c:dPt>
          <c:dPt>
            <c:idx val="4"/>
            <c:invertIfNegative val="1"/>
            <c:bubble3D val="0"/>
            <c:spPr>
              <a:solidFill>
                <a:srgbClr val="2E75B6"/>
              </a:solidFill>
            </c:spPr>
            <c:extLst>
              <c:ext xmlns:c16="http://schemas.microsoft.com/office/drawing/2014/chart" uri="{C3380CC4-5D6E-409C-BE32-E72D297353CC}">
                <c16:uniqueId val="{00000009-2C5C-4F42-97B4-4009137DAC34}"/>
              </c:ext>
            </c:extLst>
          </c:dPt>
          <c:dPt>
            <c:idx val="5"/>
            <c:invertIfNegative val="1"/>
            <c:bubble3D val="0"/>
            <c:spPr>
              <a:solidFill>
                <a:srgbClr val="2E75B6"/>
              </a:solidFill>
            </c:spPr>
            <c:extLst>
              <c:ext xmlns:c16="http://schemas.microsoft.com/office/drawing/2014/chart" uri="{C3380CC4-5D6E-409C-BE32-E72D297353CC}">
                <c16:uniqueId val="{0000000B-2C5C-4F42-97B4-4009137DAC34}"/>
              </c:ext>
            </c:extLst>
          </c:dPt>
          <c:dLbls>
            <c:dLbl>
              <c:idx val="2"/>
              <c:layout>
                <c:manualLayout>
                  <c:x val="0"/>
                  <c:y val="2.6668607898667689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2C5C-4F42-97B4-4009137DAC34}"/>
                </c:ext>
              </c:extLst>
            </c:dLbl>
            <c:dLbl>
              <c:idx val="3"/>
              <c:layout>
                <c:manualLayout>
                  <c:x val="-7.957084005012495E-17"/>
                  <c:y val="2.2223839915556407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2C5C-4F42-97B4-4009137DAC34}"/>
                </c:ext>
              </c:extLst>
            </c:dLbl>
            <c:dLbl>
              <c:idx val="4"/>
              <c:layout>
                <c:manualLayout>
                  <c:x val="0"/>
                  <c:y val="1.3334303949333805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2C5C-4F42-97B4-4009137DAC34}"/>
                </c:ext>
              </c:extLst>
            </c:dLbl>
            <c:dLbl>
              <c:idx val="5"/>
              <c:layout>
                <c:manualLayout>
                  <c:x val="-1.591416801002499E-16"/>
                  <c:y val="9.3340127645336918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2C5C-4F42-97B4-4009137DAC34}"/>
                </c:ext>
              </c:extLst>
            </c:dLbl>
            <c:numFmt formatCode="0.00&quot;x&quot;" sourceLinked="0"/>
            <c:spPr>
              <a:noFill/>
              <a:ln>
                <a:noFill/>
              </a:ln>
              <a:effectLst/>
            </c:spPr>
            <c:txPr>
              <a:bodyPr/>
              <a:lstStyle/>
              <a:p>
                <a:pPr>
                  <a:defRPr sz="900" b="1"/>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품질 시나리오</c:v>
                </c:pt>
                <c:pt idx="1">
                  <c:v>B1 경쟁
기술</c:v>
                </c:pt>
                <c:pt idx="2">
                  <c:v>DP1
2안</c:v>
                </c:pt>
                <c:pt idx="3">
                  <c:v>DP2
2안</c:v>
                </c:pt>
                <c:pt idx="4">
                  <c:v>DP3
2안</c:v>
                </c:pt>
                <c:pt idx="5">
                  <c:v>DP4
1안</c:v>
                </c:pt>
              </c:strCache>
            </c:strRef>
          </c:cat>
          <c:val>
            <c:numRef>
              <c:f>Sheet1!$B$2:$B$7</c:f>
              <c:numCache>
                <c:formatCode>General</c:formatCode>
                <c:ptCount val="6"/>
                <c:pt idx="0">
                  <c:v>2</c:v>
                </c:pt>
                <c:pt idx="1">
                  <c:v>2.35</c:v>
                </c:pt>
                <c:pt idx="2">
                  <c:v>4.3</c:v>
                </c:pt>
                <c:pt idx="3">
                  <c:v>4.4000000000000004</c:v>
                </c:pt>
                <c:pt idx="4">
                  <c:v>3</c:v>
                </c:pt>
                <c:pt idx="5">
                  <c:v>6.4</c:v>
                </c:pt>
              </c:numCache>
            </c:numRef>
          </c:val>
          <c:extLst>
            <c:ext xmlns:c16="http://schemas.microsoft.com/office/drawing/2014/chart" uri="{C3380CC4-5D6E-409C-BE32-E72D297353CC}">
              <c16:uniqueId val="{0000000C-2C5C-4F42-97B4-4009137DAC34}"/>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4.4000000000000004"/>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latin typeface="맑은 고딕"/>
        </a:defRPr>
      </a:pPr>
      <a:endParaRPr lang="ko-K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r>
              <a:rPr lang="en-US" altLang="ko-KR" sz="900" b="1">
                <a:latin typeface="맑은 고딕"/>
              </a:rPr>
              <a:t>HBM </a:t>
            </a:r>
            <a:r>
              <a:rPr lang="ko-KR" altLang="en-US" sz="900" b="1">
                <a:latin typeface="맑은 고딕"/>
              </a:rPr>
              <a:t>사용량 감소율 </a:t>
            </a:r>
            <a:r>
              <a:rPr lang="en-US" altLang="ko-KR" sz="900" b="1">
                <a:latin typeface="맑은 고딕"/>
              </a:rPr>
              <a:t>(B0 </a:t>
            </a:r>
            <a:r>
              <a:rPr lang="ko-KR" altLang="en-US" sz="900" b="1">
                <a:latin typeface="맑은 고딕"/>
              </a:rPr>
              <a:t>대비</a:t>
            </a:r>
            <a:r>
              <a:rPr lang="en-US" altLang="ko-KR" sz="900" b="1">
                <a:latin typeface="맑은 고딕"/>
              </a:rPr>
              <a:t>, ↑ </a:t>
            </a:r>
            <a:r>
              <a:rPr lang="ko-KR" altLang="en-US" sz="900" b="1">
                <a:latin typeface="맑은 고딕"/>
              </a:rPr>
              <a:t>좋음</a:t>
            </a:r>
            <a:r>
              <a:rPr lang="en-US" altLang="ko-KR" sz="900" b="1">
                <a:latin typeface="맑은 고딕"/>
              </a:rPr>
              <a:t>)</a:t>
            </a:r>
          </a:p>
        </c:rich>
      </c:tx>
      <c:overlay val="0"/>
    </c:title>
    <c:autoTitleDeleted val="0"/>
    <c:plotArea>
      <c:layout/>
      <c:barChart>
        <c:barDir val="col"/>
        <c:grouping val="clustered"/>
        <c:varyColors val="1"/>
        <c:ser>
          <c:idx val="0"/>
          <c:order val="0"/>
          <c:tx>
            <c:strRef>
              <c:f>Sheet1!$B$1</c:f>
              <c:strCache>
                <c:ptCount val="1"/>
                <c:pt idx="0">
                  <c:v>값</c:v>
                </c:pt>
              </c:strCache>
            </c:strRef>
          </c:tx>
          <c:invertIfNegative val="1"/>
          <c:dPt>
            <c:idx val="0"/>
            <c:invertIfNegative val="1"/>
            <c:bubble3D val="0"/>
            <c:spPr>
              <a:solidFill>
                <a:srgbClr val="C00000"/>
              </a:solidFill>
            </c:spPr>
            <c:extLst>
              <c:ext xmlns:c16="http://schemas.microsoft.com/office/drawing/2014/chart" uri="{C3380CC4-5D6E-409C-BE32-E72D297353CC}">
                <c16:uniqueId val="{00000001-2A3F-44BA-BE38-9A57177D0DDD}"/>
              </c:ext>
            </c:extLst>
          </c:dPt>
          <c:dPt>
            <c:idx val="1"/>
            <c:invertIfNegative val="1"/>
            <c:bubble3D val="0"/>
            <c:spPr>
              <a:solidFill>
                <a:srgbClr val="BFBFBF"/>
              </a:solidFill>
            </c:spPr>
            <c:extLst>
              <c:ext xmlns:c16="http://schemas.microsoft.com/office/drawing/2014/chart" uri="{C3380CC4-5D6E-409C-BE32-E72D297353CC}">
                <c16:uniqueId val="{00000003-2A3F-44BA-BE38-9A57177D0DDD}"/>
              </c:ext>
            </c:extLst>
          </c:dPt>
          <c:dPt>
            <c:idx val="2"/>
            <c:invertIfNegative val="1"/>
            <c:bubble3D val="0"/>
            <c:spPr>
              <a:solidFill>
                <a:srgbClr val="2E75B6"/>
              </a:solidFill>
            </c:spPr>
            <c:extLst>
              <c:ext xmlns:c16="http://schemas.microsoft.com/office/drawing/2014/chart" uri="{C3380CC4-5D6E-409C-BE32-E72D297353CC}">
                <c16:uniqueId val="{00000005-2A3F-44BA-BE38-9A57177D0DDD}"/>
              </c:ext>
            </c:extLst>
          </c:dPt>
          <c:dPt>
            <c:idx val="3"/>
            <c:invertIfNegative val="1"/>
            <c:bubble3D val="0"/>
            <c:spPr>
              <a:solidFill>
                <a:srgbClr val="2E75B6"/>
              </a:solidFill>
            </c:spPr>
            <c:extLst>
              <c:ext xmlns:c16="http://schemas.microsoft.com/office/drawing/2014/chart" uri="{C3380CC4-5D6E-409C-BE32-E72D297353CC}">
                <c16:uniqueId val="{00000007-2A3F-44BA-BE38-9A57177D0DDD}"/>
              </c:ext>
            </c:extLst>
          </c:dPt>
          <c:dPt>
            <c:idx val="4"/>
            <c:invertIfNegative val="1"/>
            <c:bubble3D val="0"/>
            <c:spPr>
              <a:solidFill>
                <a:srgbClr val="2E75B6"/>
              </a:solidFill>
            </c:spPr>
            <c:extLst>
              <c:ext xmlns:c16="http://schemas.microsoft.com/office/drawing/2014/chart" uri="{C3380CC4-5D6E-409C-BE32-E72D297353CC}">
                <c16:uniqueId val="{00000009-2A3F-44BA-BE38-9A57177D0DDD}"/>
              </c:ext>
            </c:extLst>
          </c:dPt>
          <c:dLbls>
            <c:numFmt formatCode="0&quot;%&quot;" sourceLinked="0"/>
            <c:spPr>
              <a:noFill/>
              <a:ln>
                <a:noFill/>
              </a:ln>
              <a:effectLst/>
            </c:spPr>
            <c:txPr>
              <a:bodyPr/>
              <a:lstStyle/>
              <a:p>
                <a:pPr>
                  <a:defRPr sz="900" b="1"/>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Response
Measure</c:v>
                </c:pt>
                <c:pt idx="1">
                  <c:v>B1 경쟁
기술</c:v>
                </c:pt>
                <c:pt idx="2">
                  <c:v>DP1
2안</c:v>
                </c:pt>
                <c:pt idx="3">
                  <c:v>DP2
2안</c:v>
                </c:pt>
                <c:pt idx="4">
                  <c:v>DP3
2안</c:v>
                </c:pt>
              </c:strCache>
            </c:strRef>
          </c:cat>
          <c:val>
            <c:numRef>
              <c:f>Sheet1!$B$2:$B$6</c:f>
              <c:numCache>
                <c:formatCode>General</c:formatCode>
                <c:ptCount val="5"/>
                <c:pt idx="0">
                  <c:v>20</c:v>
                </c:pt>
                <c:pt idx="1">
                  <c:v>0</c:v>
                </c:pt>
                <c:pt idx="2">
                  <c:v>5</c:v>
                </c:pt>
                <c:pt idx="3">
                  <c:v>8</c:v>
                </c:pt>
                <c:pt idx="4">
                  <c:v>25</c:v>
                </c:pt>
              </c:numCache>
            </c:numRef>
          </c:val>
          <c:extLst>
            <c:ext xmlns:c16="http://schemas.microsoft.com/office/drawing/2014/chart" uri="{C3380CC4-5D6E-409C-BE32-E72D297353CC}">
              <c16:uniqueId val="{0000000A-2A3F-44BA-BE38-9A57177D0DD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latin typeface="맑은 고딕"/>
        </a:defRPr>
      </a:pPr>
      <a:endParaRPr lang="ko-K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r>
              <a:rPr lang="en-US" altLang="ko-KR" sz="900" b="1">
                <a:latin typeface="맑은 고딕"/>
              </a:rPr>
              <a:t>P99 </a:t>
            </a:r>
            <a:r>
              <a:rPr lang="ko-KR" altLang="en-US" sz="900" b="1">
                <a:latin typeface="맑은 고딕"/>
              </a:rPr>
              <a:t>개선 </a:t>
            </a:r>
            <a:r>
              <a:rPr lang="en-US" altLang="ko-KR" sz="900" b="1">
                <a:latin typeface="맑은 고딕"/>
              </a:rPr>
              <a:t>r = √(TTFT </a:t>
            </a:r>
            <a:r>
              <a:rPr lang="ko-KR" altLang="en-US" sz="900" b="1">
                <a:latin typeface="맑은 고딕"/>
              </a:rPr>
              <a:t>개선 </a:t>
            </a:r>
            <a:r>
              <a:rPr lang="en-US" altLang="ko-KR" sz="900" b="1">
                <a:latin typeface="맑은 고딕"/>
              </a:rPr>
              <a:t>× TPOT </a:t>
            </a:r>
            <a:r>
              <a:rPr lang="ko-KR" altLang="en-US" sz="900" b="1">
                <a:latin typeface="맑은 고딕"/>
              </a:rPr>
              <a:t>개선</a:t>
            </a:r>
            <a:r>
              <a:rPr lang="en-US" altLang="ko-KR" sz="900" b="1">
                <a:latin typeface="맑은 고딕"/>
              </a:rPr>
              <a:t>) (↑ </a:t>
            </a:r>
            <a:r>
              <a:rPr lang="ko-KR" altLang="en-US" sz="900" b="1">
                <a:latin typeface="맑은 고딕"/>
              </a:rPr>
              <a:t>좋음</a:t>
            </a:r>
            <a:r>
              <a:rPr lang="en-US" altLang="ko-KR" sz="900" b="1">
                <a:latin typeface="맑은 고딕"/>
              </a:rPr>
              <a:t>)</a:t>
            </a:r>
          </a:p>
        </c:rich>
      </c:tx>
      <c:overlay val="0"/>
    </c:title>
    <c:autoTitleDeleted val="0"/>
    <c:plotArea>
      <c:layout/>
      <c:barChart>
        <c:barDir val="col"/>
        <c:grouping val="clustered"/>
        <c:varyColors val="1"/>
        <c:ser>
          <c:idx val="0"/>
          <c:order val="0"/>
          <c:tx>
            <c:strRef>
              <c:f>Sheet1!$B$1</c:f>
              <c:strCache>
                <c:ptCount val="1"/>
                <c:pt idx="0">
                  <c:v>값</c:v>
                </c:pt>
              </c:strCache>
            </c:strRef>
          </c:tx>
          <c:invertIfNegative val="1"/>
          <c:dPt>
            <c:idx val="0"/>
            <c:invertIfNegative val="1"/>
            <c:bubble3D val="0"/>
            <c:spPr>
              <a:solidFill>
                <a:srgbClr val="C00000"/>
              </a:solidFill>
            </c:spPr>
            <c:extLst>
              <c:ext xmlns:c16="http://schemas.microsoft.com/office/drawing/2014/chart" uri="{C3380CC4-5D6E-409C-BE32-E72D297353CC}">
                <c16:uniqueId val="{00000001-A5A9-40D3-954C-B4262C34C65A}"/>
              </c:ext>
            </c:extLst>
          </c:dPt>
          <c:dPt>
            <c:idx val="1"/>
            <c:invertIfNegative val="1"/>
            <c:bubble3D val="0"/>
            <c:spPr>
              <a:solidFill>
                <a:srgbClr val="BFBFBF"/>
              </a:solidFill>
            </c:spPr>
            <c:extLst>
              <c:ext xmlns:c16="http://schemas.microsoft.com/office/drawing/2014/chart" uri="{C3380CC4-5D6E-409C-BE32-E72D297353CC}">
                <c16:uniqueId val="{00000003-A5A9-40D3-954C-B4262C34C65A}"/>
              </c:ext>
            </c:extLst>
          </c:dPt>
          <c:dPt>
            <c:idx val="2"/>
            <c:invertIfNegative val="1"/>
            <c:bubble3D val="0"/>
            <c:spPr>
              <a:solidFill>
                <a:srgbClr val="2E75B6"/>
              </a:solidFill>
            </c:spPr>
            <c:extLst>
              <c:ext xmlns:c16="http://schemas.microsoft.com/office/drawing/2014/chart" uri="{C3380CC4-5D6E-409C-BE32-E72D297353CC}">
                <c16:uniqueId val="{00000005-A5A9-40D3-954C-B4262C34C65A}"/>
              </c:ext>
            </c:extLst>
          </c:dPt>
          <c:dPt>
            <c:idx val="3"/>
            <c:invertIfNegative val="1"/>
            <c:bubble3D val="0"/>
            <c:spPr>
              <a:solidFill>
                <a:srgbClr val="2E75B6"/>
              </a:solidFill>
            </c:spPr>
            <c:extLst>
              <c:ext xmlns:c16="http://schemas.microsoft.com/office/drawing/2014/chart" uri="{C3380CC4-5D6E-409C-BE32-E72D297353CC}">
                <c16:uniqueId val="{00000007-A5A9-40D3-954C-B4262C34C65A}"/>
              </c:ext>
            </c:extLst>
          </c:dPt>
          <c:dPt>
            <c:idx val="4"/>
            <c:invertIfNegative val="1"/>
            <c:bubble3D val="0"/>
            <c:spPr>
              <a:solidFill>
                <a:srgbClr val="2E75B6"/>
              </a:solidFill>
            </c:spPr>
            <c:extLst>
              <c:ext xmlns:c16="http://schemas.microsoft.com/office/drawing/2014/chart" uri="{C3380CC4-5D6E-409C-BE32-E72D297353CC}">
                <c16:uniqueId val="{00000009-A5A9-40D3-954C-B4262C34C65A}"/>
              </c:ext>
            </c:extLst>
          </c:dPt>
          <c:dPt>
            <c:idx val="5"/>
            <c:invertIfNegative val="1"/>
            <c:bubble3D val="0"/>
            <c:spPr>
              <a:solidFill>
                <a:srgbClr val="2E75B6"/>
              </a:solidFill>
            </c:spPr>
            <c:extLst>
              <c:ext xmlns:c16="http://schemas.microsoft.com/office/drawing/2014/chart" uri="{C3380CC4-5D6E-409C-BE32-E72D297353CC}">
                <c16:uniqueId val="{0000000B-A5A9-40D3-954C-B4262C34C65A}"/>
              </c:ext>
            </c:extLst>
          </c:dPt>
          <c:dLbls>
            <c:numFmt formatCode="0.00" sourceLinked="0"/>
            <c:spPr>
              <a:noFill/>
              <a:ln>
                <a:noFill/>
              </a:ln>
              <a:effectLst/>
            </c:spPr>
            <c:txPr>
              <a:bodyPr/>
              <a:lstStyle/>
              <a:p>
                <a:pPr>
                  <a:defRPr sz="900" b="1"/>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Response
Measure</c:v>
                </c:pt>
                <c:pt idx="1">
                  <c:v>B1 경쟁
기술</c:v>
                </c:pt>
                <c:pt idx="2">
                  <c:v>DP1
2안</c:v>
                </c:pt>
                <c:pt idx="3">
                  <c:v>DP2
2안</c:v>
                </c:pt>
                <c:pt idx="4">
                  <c:v>DP3
2안</c:v>
                </c:pt>
                <c:pt idx="5">
                  <c:v>DP4
1안</c:v>
                </c:pt>
              </c:strCache>
            </c:strRef>
          </c:cat>
          <c:val>
            <c:numRef>
              <c:f>Sheet1!$B$2:$B$7</c:f>
              <c:numCache>
                <c:formatCode>General</c:formatCode>
                <c:ptCount val="6"/>
                <c:pt idx="0">
                  <c:v>1.43</c:v>
                </c:pt>
                <c:pt idx="1">
                  <c:v>2.1</c:v>
                </c:pt>
                <c:pt idx="2">
                  <c:v>2.14</c:v>
                </c:pt>
                <c:pt idx="3">
                  <c:v>2.35</c:v>
                </c:pt>
                <c:pt idx="4">
                  <c:v>2.76</c:v>
                </c:pt>
                <c:pt idx="5">
                  <c:v>3.36</c:v>
                </c:pt>
              </c:numCache>
            </c:numRef>
          </c:val>
          <c:extLst>
            <c:ext xmlns:c16="http://schemas.microsoft.com/office/drawing/2014/chart" uri="{C3380CC4-5D6E-409C-BE32-E72D297353CC}">
              <c16:uniqueId val="{0000000C-A5A9-40D3-954C-B4262C34C65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4"/>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latin typeface="맑은 고딕"/>
        </a:defRPr>
      </a:pPr>
      <a:endParaRPr lang="ko-K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r>
              <a:rPr lang="en-US" sz="900" b="1">
                <a:latin typeface="맑은 고딕"/>
              </a:rPr>
              <a:t>Scaling Efficiency SE(N=16) (↑ </a:t>
            </a:r>
            <a:r>
              <a:rPr lang="ko-KR" altLang="en-US" sz="900" b="1">
                <a:latin typeface="맑은 고딕"/>
              </a:rPr>
              <a:t>좋음</a:t>
            </a:r>
            <a:r>
              <a:rPr lang="en-US" altLang="ko-KR" sz="900" b="1">
                <a:latin typeface="맑은 고딕"/>
              </a:rPr>
              <a:t>)</a:t>
            </a:r>
          </a:p>
        </c:rich>
      </c:tx>
      <c:overlay val="0"/>
    </c:title>
    <c:autoTitleDeleted val="0"/>
    <c:plotArea>
      <c:layout/>
      <c:barChart>
        <c:barDir val="col"/>
        <c:grouping val="clustered"/>
        <c:varyColors val="1"/>
        <c:ser>
          <c:idx val="0"/>
          <c:order val="0"/>
          <c:tx>
            <c:strRef>
              <c:f>Sheet1!$B$1</c:f>
              <c:strCache>
                <c:ptCount val="1"/>
                <c:pt idx="0">
                  <c:v>값</c:v>
                </c:pt>
              </c:strCache>
            </c:strRef>
          </c:tx>
          <c:invertIfNegative val="1"/>
          <c:dPt>
            <c:idx val="0"/>
            <c:invertIfNegative val="1"/>
            <c:bubble3D val="0"/>
            <c:spPr>
              <a:solidFill>
                <a:srgbClr val="C00000"/>
              </a:solidFill>
            </c:spPr>
            <c:extLst>
              <c:ext xmlns:c16="http://schemas.microsoft.com/office/drawing/2014/chart" uri="{C3380CC4-5D6E-409C-BE32-E72D297353CC}">
                <c16:uniqueId val="{00000001-6634-4EE9-B511-6872E80F3B23}"/>
              </c:ext>
            </c:extLst>
          </c:dPt>
          <c:dPt>
            <c:idx val="1"/>
            <c:invertIfNegative val="1"/>
            <c:bubble3D val="0"/>
            <c:spPr>
              <a:solidFill>
                <a:srgbClr val="BFBFBF"/>
              </a:solidFill>
            </c:spPr>
            <c:extLst>
              <c:ext xmlns:c16="http://schemas.microsoft.com/office/drawing/2014/chart" uri="{C3380CC4-5D6E-409C-BE32-E72D297353CC}">
                <c16:uniqueId val="{00000003-6634-4EE9-B511-6872E80F3B23}"/>
              </c:ext>
            </c:extLst>
          </c:dPt>
          <c:dPt>
            <c:idx val="2"/>
            <c:invertIfNegative val="1"/>
            <c:bubble3D val="0"/>
            <c:spPr>
              <a:solidFill>
                <a:srgbClr val="2E75B6"/>
              </a:solidFill>
            </c:spPr>
            <c:extLst>
              <c:ext xmlns:c16="http://schemas.microsoft.com/office/drawing/2014/chart" uri="{C3380CC4-5D6E-409C-BE32-E72D297353CC}">
                <c16:uniqueId val="{00000005-6634-4EE9-B511-6872E80F3B23}"/>
              </c:ext>
            </c:extLst>
          </c:dPt>
          <c:dPt>
            <c:idx val="3"/>
            <c:invertIfNegative val="1"/>
            <c:bubble3D val="0"/>
            <c:spPr>
              <a:solidFill>
                <a:srgbClr val="2E75B6"/>
              </a:solidFill>
            </c:spPr>
            <c:extLst>
              <c:ext xmlns:c16="http://schemas.microsoft.com/office/drawing/2014/chart" uri="{C3380CC4-5D6E-409C-BE32-E72D297353CC}">
                <c16:uniqueId val="{00000007-6634-4EE9-B511-6872E80F3B23}"/>
              </c:ext>
            </c:extLst>
          </c:dPt>
          <c:dLbls>
            <c:numFmt formatCode="0&quot;%&quot;" sourceLinked="0"/>
            <c:spPr>
              <a:noFill/>
              <a:ln>
                <a:noFill/>
              </a:ln>
              <a:effectLst/>
            </c:spPr>
            <c:txPr>
              <a:bodyPr/>
              <a:lstStyle/>
              <a:p>
                <a:pPr>
                  <a:defRPr sz="900" b="1"/>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Response
Measure</c:v>
                </c:pt>
                <c:pt idx="1">
                  <c:v>B1 경쟁 기술
(노드 독립)</c:v>
                </c:pt>
                <c:pt idx="2">
                  <c:v>DP2 2안</c:v>
                </c:pt>
                <c:pt idx="3">
                  <c:v>DP4 1안</c:v>
                </c:pt>
              </c:strCache>
            </c:strRef>
          </c:cat>
          <c:val>
            <c:numRef>
              <c:f>Sheet1!$B$2:$B$5</c:f>
              <c:numCache>
                <c:formatCode>General</c:formatCode>
                <c:ptCount val="4"/>
                <c:pt idx="0">
                  <c:v>80</c:v>
                </c:pt>
                <c:pt idx="1">
                  <c:v>98</c:v>
                </c:pt>
                <c:pt idx="2">
                  <c:v>97</c:v>
                </c:pt>
                <c:pt idx="3">
                  <c:v>99</c:v>
                </c:pt>
              </c:numCache>
            </c:numRef>
          </c:val>
          <c:extLst>
            <c:ext xmlns:c16="http://schemas.microsoft.com/office/drawing/2014/chart" uri="{C3380CC4-5D6E-409C-BE32-E72D297353CC}">
              <c16:uniqueId val="{00000008-6634-4EE9-B511-6872E80F3B23}"/>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12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latin typeface="맑은 고딕"/>
        </a:defRPr>
      </a:pPr>
      <a:endParaRPr lang="ko-K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r>
              <a:rPr lang="ko-KR" altLang="en-US" sz="900" b="1">
                <a:latin typeface="맑은 고딕"/>
              </a:rPr>
              <a:t>변경 </a:t>
            </a:r>
            <a:r>
              <a:rPr lang="en-US" sz="900" b="1">
                <a:latin typeface="맑은 고딕"/>
              </a:rPr>
              <a:t>module </a:t>
            </a:r>
            <a:r>
              <a:rPr lang="ko-KR" altLang="en-US" sz="900" b="1">
                <a:latin typeface="맑은 고딕"/>
              </a:rPr>
              <a:t>수 </a:t>
            </a:r>
            <a:r>
              <a:rPr lang="en-US" altLang="ko-KR" sz="900" b="1">
                <a:latin typeface="맑은 고딕"/>
              </a:rPr>
              <a:t>(↓ </a:t>
            </a:r>
            <a:r>
              <a:rPr lang="ko-KR" altLang="en-US" sz="900" b="1">
                <a:latin typeface="맑은 고딕"/>
              </a:rPr>
              <a:t>좋음</a:t>
            </a:r>
            <a:r>
              <a:rPr lang="en-US" altLang="ko-KR" sz="900" b="1">
                <a:latin typeface="맑은 고딕"/>
              </a:rPr>
              <a:t>)</a:t>
            </a:r>
          </a:p>
        </c:rich>
      </c:tx>
      <c:overlay val="0"/>
    </c:title>
    <c:autoTitleDeleted val="0"/>
    <c:plotArea>
      <c:layout/>
      <c:barChart>
        <c:barDir val="col"/>
        <c:grouping val="clustered"/>
        <c:varyColors val="1"/>
        <c:ser>
          <c:idx val="0"/>
          <c:order val="0"/>
          <c:tx>
            <c:strRef>
              <c:f>Sheet1!$B$1</c:f>
              <c:strCache>
                <c:ptCount val="1"/>
                <c:pt idx="0">
                  <c:v>값</c:v>
                </c:pt>
              </c:strCache>
            </c:strRef>
          </c:tx>
          <c:invertIfNegative val="1"/>
          <c:dPt>
            <c:idx val="0"/>
            <c:invertIfNegative val="1"/>
            <c:bubble3D val="0"/>
            <c:spPr>
              <a:solidFill>
                <a:srgbClr val="C00000"/>
              </a:solidFill>
            </c:spPr>
            <c:extLst>
              <c:ext xmlns:c16="http://schemas.microsoft.com/office/drawing/2014/chart" uri="{C3380CC4-5D6E-409C-BE32-E72D297353CC}">
                <c16:uniqueId val="{00000001-3296-4110-B98C-772C51BB2719}"/>
              </c:ext>
            </c:extLst>
          </c:dPt>
          <c:dPt>
            <c:idx val="1"/>
            <c:invertIfNegative val="1"/>
            <c:bubble3D val="0"/>
            <c:spPr>
              <a:solidFill>
                <a:srgbClr val="BFBFBF"/>
              </a:solidFill>
            </c:spPr>
            <c:extLst>
              <c:ext xmlns:c16="http://schemas.microsoft.com/office/drawing/2014/chart" uri="{C3380CC4-5D6E-409C-BE32-E72D297353CC}">
                <c16:uniqueId val="{00000003-3296-4110-B98C-772C51BB2719}"/>
              </c:ext>
            </c:extLst>
          </c:dPt>
          <c:dPt>
            <c:idx val="2"/>
            <c:invertIfNegative val="1"/>
            <c:bubble3D val="0"/>
            <c:spPr>
              <a:solidFill>
                <a:srgbClr val="2E75B6"/>
              </a:solidFill>
            </c:spPr>
            <c:extLst>
              <c:ext xmlns:c16="http://schemas.microsoft.com/office/drawing/2014/chart" uri="{C3380CC4-5D6E-409C-BE32-E72D297353CC}">
                <c16:uniqueId val="{00000005-3296-4110-B98C-772C51BB2719}"/>
              </c:ext>
            </c:extLst>
          </c:dPt>
          <c:dLbls>
            <c:dLbl>
              <c:idx val="1"/>
              <c:tx>
                <c:rich>
                  <a:bodyPr/>
                  <a:lstStyle/>
                  <a:p>
                    <a:r>
                      <a:rPr lang="en-US" altLang="ko-KR"/>
                      <a:t>3.3</a:t>
                    </a:r>
                    <a:endParaRPr lang="en-US" altLang="ko-KR" dirty="0"/>
                  </a:p>
                </c:rich>
              </c:tx>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296-4110-B98C-772C51BB2719}"/>
                </c:ext>
              </c:extLst>
            </c:dLbl>
            <c:dLbl>
              <c:idx val="2"/>
              <c:tx>
                <c:rich>
                  <a:bodyPr/>
                  <a:lstStyle/>
                  <a:p>
                    <a:r>
                      <a:rPr lang="en-US" altLang="ko-KR"/>
                      <a:t>3.6</a:t>
                    </a:r>
                    <a:endParaRPr lang="en-US" altLang="ko-KR" dirty="0"/>
                  </a:p>
                </c:rich>
              </c:tx>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296-4110-B98C-772C51BB2719}"/>
                </c:ext>
              </c:extLst>
            </c:dLbl>
            <c:numFmt formatCode="0.00" sourceLinked="0"/>
            <c:spPr>
              <a:noFill/>
              <a:ln>
                <a:noFill/>
              </a:ln>
              <a:effectLst/>
            </c:spPr>
            <c:txPr>
              <a:bodyPr/>
              <a:lstStyle/>
              <a:p>
                <a:pPr>
                  <a:defRPr sz="900" b="1"/>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Response
Measure</c:v>
                </c:pt>
                <c:pt idx="1">
                  <c:v>DP1
1안</c:v>
                </c:pt>
                <c:pt idx="2">
                  <c:v>DP1
2안</c:v>
                </c:pt>
              </c:strCache>
            </c:strRef>
          </c:cat>
          <c:val>
            <c:numRef>
              <c:f>Sheet1!$B$2:$B$4</c:f>
              <c:numCache>
                <c:formatCode>General</c:formatCode>
                <c:ptCount val="3"/>
                <c:pt idx="0">
                  <c:v>5</c:v>
                </c:pt>
                <c:pt idx="1">
                  <c:v>3.3</c:v>
                </c:pt>
                <c:pt idx="2">
                  <c:v>3.6</c:v>
                </c:pt>
              </c:numCache>
            </c:numRef>
          </c:val>
          <c:extLst>
            <c:ext xmlns:c16="http://schemas.microsoft.com/office/drawing/2014/chart" uri="{C3380CC4-5D6E-409C-BE32-E72D297353CC}">
              <c16:uniqueId val="{00000006-3296-4110-B98C-772C51BB2719}"/>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6.5"/>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latin typeface="맑은 고딕"/>
        </a:defRPr>
      </a:pPr>
      <a:endParaRPr lang="ko-K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r>
              <a:rPr lang="ko-KR" altLang="en-US" sz="900" b="1">
                <a:latin typeface="맑은 고딕"/>
              </a:rPr>
              <a:t>개발 공수 </a:t>
            </a:r>
            <a:r>
              <a:rPr lang="en-US" altLang="ko-KR" sz="900" b="1">
                <a:latin typeface="맑은 고딕"/>
              </a:rPr>
              <a:t>M/M (↓ </a:t>
            </a:r>
            <a:r>
              <a:rPr lang="ko-KR" altLang="en-US" sz="900" b="1">
                <a:latin typeface="맑은 고딕"/>
              </a:rPr>
              <a:t>좋음</a:t>
            </a:r>
            <a:r>
              <a:rPr lang="en-US" altLang="ko-KR" sz="900" b="1">
                <a:latin typeface="맑은 고딕"/>
              </a:rPr>
              <a:t>)</a:t>
            </a:r>
          </a:p>
        </c:rich>
      </c:tx>
      <c:overlay val="0"/>
    </c:title>
    <c:autoTitleDeleted val="0"/>
    <c:plotArea>
      <c:layout/>
      <c:barChart>
        <c:barDir val="col"/>
        <c:grouping val="clustered"/>
        <c:varyColors val="1"/>
        <c:ser>
          <c:idx val="0"/>
          <c:order val="0"/>
          <c:tx>
            <c:strRef>
              <c:f>Sheet1!$B$1</c:f>
              <c:strCache>
                <c:ptCount val="1"/>
                <c:pt idx="0">
                  <c:v>값</c:v>
                </c:pt>
              </c:strCache>
            </c:strRef>
          </c:tx>
          <c:invertIfNegative val="1"/>
          <c:dPt>
            <c:idx val="0"/>
            <c:invertIfNegative val="1"/>
            <c:bubble3D val="0"/>
            <c:spPr>
              <a:solidFill>
                <a:srgbClr val="C00000"/>
              </a:solidFill>
            </c:spPr>
            <c:extLst>
              <c:ext xmlns:c16="http://schemas.microsoft.com/office/drawing/2014/chart" uri="{C3380CC4-5D6E-409C-BE32-E72D297353CC}">
                <c16:uniqueId val="{00000001-3B9F-46EA-B9B4-4F9A8E4161BD}"/>
              </c:ext>
            </c:extLst>
          </c:dPt>
          <c:dPt>
            <c:idx val="1"/>
            <c:invertIfNegative val="1"/>
            <c:bubble3D val="0"/>
            <c:spPr>
              <a:solidFill>
                <a:srgbClr val="BFBFBF"/>
              </a:solidFill>
            </c:spPr>
            <c:extLst>
              <c:ext xmlns:c16="http://schemas.microsoft.com/office/drawing/2014/chart" uri="{C3380CC4-5D6E-409C-BE32-E72D297353CC}">
                <c16:uniqueId val="{00000003-3B9F-46EA-B9B4-4F9A8E4161BD}"/>
              </c:ext>
            </c:extLst>
          </c:dPt>
          <c:dPt>
            <c:idx val="2"/>
            <c:invertIfNegative val="1"/>
            <c:bubble3D val="0"/>
            <c:spPr>
              <a:solidFill>
                <a:srgbClr val="2E75B6"/>
              </a:solidFill>
            </c:spPr>
            <c:extLst>
              <c:ext xmlns:c16="http://schemas.microsoft.com/office/drawing/2014/chart" uri="{C3380CC4-5D6E-409C-BE32-E72D297353CC}">
                <c16:uniqueId val="{00000005-3B9F-46EA-B9B4-4F9A8E4161BD}"/>
              </c:ext>
            </c:extLst>
          </c:dPt>
          <c:dLbls>
            <c:numFmt formatCode="0.00" sourceLinked="0"/>
            <c:spPr>
              <a:noFill/>
              <a:ln>
                <a:noFill/>
              </a:ln>
              <a:effectLst/>
            </c:spPr>
            <c:txPr>
              <a:bodyPr/>
              <a:lstStyle/>
              <a:p>
                <a:pPr>
                  <a:defRPr sz="900" b="1"/>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Response
Measure</c:v>
                </c:pt>
                <c:pt idx="1">
                  <c:v>DP1
1안</c:v>
                </c:pt>
                <c:pt idx="2">
                  <c:v>DP1
2안</c:v>
                </c:pt>
              </c:strCache>
            </c:strRef>
          </c:cat>
          <c:val>
            <c:numRef>
              <c:f>Sheet1!$B$2:$B$4</c:f>
              <c:numCache>
                <c:formatCode>General</c:formatCode>
                <c:ptCount val="3"/>
                <c:pt idx="0">
                  <c:v>1</c:v>
                </c:pt>
                <c:pt idx="1">
                  <c:v>0.66</c:v>
                </c:pt>
                <c:pt idx="2">
                  <c:v>0.72</c:v>
                </c:pt>
              </c:numCache>
            </c:numRef>
          </c:val>
          <c:extLst>
            <c:ext xmlns:c16="http://schemas.microsoft.com/office/drawing/2014/chart" uri="{C3380CC4-5D6E-409C-BE32-E72D297353CC}">
              <c16:uniqueId val="{00000006-3B9F-46EA-B9B4-4F9A8E4161B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1.3"/>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00">
          <a:latin typeface="맑은 고딕"/>
        </a:defRPr>
      </a:pPr>
      <a:endParaRPr lang="ko-KR"/>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8D4DA1-426E-4D21-9B9A-474ECADB0C4E}" type="doc">
      <dgm:prSet loTypeId="urn:microsoft.com/office/officeart/2005/8/layout/pyramid1" loCatId="pyramid" qsTypeId="urn:microsoft.com/office/officeart/2005/8/quickstyle/simple1" qsCatId="simple" csTypeId="urn:microsoft.com/office/officeart/2005/8/colors/accent1_3" csCatId="accent1" phldr="1"/>
      <dgm:spPr/>
    </dgm:pt>
    <dgm:pt modelId="{8776A37F-A541-4689-B97F-29ECF816070C}">
      <dgm:prSet phldrT="[텍스트]" custT="1"/>
      <dgm:spPr>
        <a:xfrm>
          <a:off x="851034" y="884133"/>
          <a:ext cx="1469622" cy="534626"/>
        </a:xfrm>
        <a:prstGeom prst="trapezoid">
          <a:avLst>
            <a:gd name="adj" fmla="val 51792"/>
          </a:avLst>
        </a:prstGeom>
        <a:gradFill flip="none" rotWithShape="1">
          <a:gsLst>
            <a:gs pos="0">
              <a:srgbClr val="A5A5A5">
                <a:lumMod val="67000"/>
              </a:srgbClr>
            </a:gs>
            <a:gs pos="48000">
              <a:srgbClr val="A5A5A5">
                <a:lumMod val="97000"/>
                <a:lumOff val="3000"/>
              </a:srgbClr>
            </a:gs>
            <a:gs pos="100000">
              <a:srgbClr val="A5A5A5">
                <a:lumMod val="60000"/>
                <a:lumOff val="40000"/>
              </a:srgbClr>
            </a:gs>
          </a:gsLst>
          <a:lin ang="16200000" scaled="1"/>
          <a:tileRect/>
        </a:gradFill>
        <a:ln w="12700" cap="flat" cmpd="sng" algn="ctr">
          <a:solidFill>
            <a:sysClr val="window" lastClr="FFFFFF">
              <a:hueOff val="0"/>
              <a:satOff val="0"/>
              <a:lumOff val="0"/>
              <a:alphaOff val="0"/>
            </a:sysClr>
          </a:solidFill>
          <a:prstDash val="solid"/>
          <a:miter lim="800000"/>
        </a:ln>
        <a:effectLst/>
      </dgm:spPr>
      <dgm:t>
        <a:bodyPr lIns="0" tIns="0" rIns="0"/>
        <a:lstStyle/>
        <a:p>
          <a:pPr latinLnBrk="1"/>
          <a:r>
            <a:rPr lang="en-US" altLang="ko-KR" sz="1050" b="0" dirty="0">
              <a:solidFill>
                <a:sysClr val="windowText" lastClr="000000"/>
              </a:solidFill>
              <a:latin typeface="SAMSUNGONE-400C" panose="020B0506030303020204" pitchFamily="34" charset="0"/>
              <a:ea typeface="SAMSUNGONE-400C" panose="020B0506030303020204" pitchFamily="34" charset="0"/>
              <a:cs typeface="+mn-cs"/>
            </a:rPr>
            <a:t>LLC</a:t>
          </a:r>
          <a:endParaRPr lang="en-US" altLang="ko-KR" sz="1050" b="1" dirty="0">
            <a:solidFill>
              <a:sysClr val="windowText" lastClr="000000"/>
            </a:solidFill>
            <a:latin typeface="SAMSUNGONE-400C" panose="020B0506030303020204" pitchFamily="34" charset="0"/>
            <a:ea typeface="SAMSUNGONE-400C" panose="020B0506030303020204" pitchFamily="34" charset="0"/>
            <a:cs typeface="+mn-cs"/>
          </a:endParaRPr>
        </a:p>
      </dgm:t>
    </dgm:pt>
    <dgm:pt modelId="{8DF77ECB-4B2D-4553-8FC5-05D1A0EF1772}" type="parTrans" cxnId="{CBBF6837-78BF-412F-845D-1CD7B45DEDE1}">
      <dgm:prSet/>
      <dgm:spPr/>
      <dgm:t>
        <a:bodyPr/>
        <a:lstStyle/>
        <a:p>
          <a:pPr latinLnBrk="1"/>
          <a:endParaRPr lang="ko-KR" altLang="en-US" sz="900" b="1">
            <a:solidFill>
              <a:schemeClr val="bg1"/>
            </a:solidFill>
          </a:endParaRPr>
        </a:p>
      </dgm:t>
    </dgm:pt>
    <dgm:pt modelId="{43E7C9F4-464A-4F4A-A107-E317B33BA34B}" type="sibTrans" cxnId="{CBBF6837-78BF-412F-845D-1CD7B45DEDE1}">
      <dgm:prSet/>
      <dgm:spPr/>
      <dgm:t>
        <a:bodyPr/>
        <a:lstStyle/>
        <a:p>
          <a:pPr latinLnBrk="1"/>
          <a:endParaRPr lang="ko-KR" altLang="en-US" sz="900" b="1">
            <a:solidFill>
              <a:schemeClr val="bg1"/>
            </a:solidFill>
          </a:endParaRPr>
        </a:p>
      </dgm:t>
    </dgm:pt>
    <dgm:pt modelId="{916BA443-C127-4428-AF8B-9BA9E3C7ED44}">
      <dgm:prSet phldrT="[텍스트]" custT="1"/>
      <dgm:spPr>
        <a:xfrm>
          <a:off x="393119" y="1418760"/>
          <a:ext cx="2385451" cy="884133"/>
        </a:xfrm>
        <a:prstGeom prst="trapezoid">
          <a:avLst>
            <a:gd name="adj" fmla="val 51792"/>
          </a:avLst>
        </a:prstGeom>
        <a:solidFill>
          <a:sysClr val="window" lastClr="FFFFFF">
            <a:lumMod val="65000"/>
          </a:sysClr>
        </a:solidFill>
        <a:ln w="12700" cap="flat" cmpd="sng" algn="ctr">
          <a:solidFill>
            <a:sysClr val="window" lastClr="FFFFFF">
              <a:hueOff val="0"/>
              <a:satOff val="0"/>
              <a:lumOff val="0"/>
              <a:alphaOff val="0"/>
            </a:sysClr>
          </a:solidFill>
          <a:prstDash val="solid"/>
          <a:miter lim="800000"/>
        </a:ln>
        <a:effectLst/>
      </dgm:spPr>
      <dgm:t>
        <a:bodyPr/>
        <a:lstStyle/>
        <a:p>
          <a:pPr latinLnBrk="1"/>
          <a:endParaRPr lang="ko-KR" altLang="en-US" sz="900" b="1" dirty="0">
            <a:solidFill>
              <a:sysClr val="window" lastClr="FFFFFF"/>
            </a:solidFill>
            <a:latin typeface="맑은 고딕" panose="020F0502020204030204"/>
            <a:ea typeface="맑은 고딕" panose="020B0503020000020004" pitchFamily="50" charset="-127"/>
            <a:cs typeface="+mn-cs"/>
          </a:endParaRPr>
        </a:p>
      </dgm:t>
    </dgm:pt>
    <dgm:pt modelId="{FE3F29B7-94B0-4FF0-B629-BEAE3F647833}" type="parTrans" cxnId="{6987E937-DAB5-4A99-A6E3-70AFE27D25EF}">
      <dgm:prSet/>
      <dgm:spPr/>
      <dgm:t>
        <a:bodyPr/>
        <a:lstStyle/>
        <a:p>
          <a:pPr latinLnBrk="1"/>
          <a:endParaRPr lang="ko-KR" altLang="en-US" sz="900" b="1">
            <a:solidFill>
              <a:schemeClr val="bg1"/>
            </a:solidFill>
          </a:endParaRPr>
        </a:p>
      </dgm:t>
    </dgm:pt>
    <dgm:pt modelId="{E8C21253-19C0-4E97-B8D2-946078171FBA}" type="sibTrans" cxnId="{6987E937-DAB5-4A99-A6E3-70AFE27D25EF}">
      <dgm:prSet/>
      <dgm:spPr/>
      <dgm:t>
        <a:bodyPr/>
        <a:lstStyle/>
        <a:p>
          <a:pPr latinLnBrk="1"/>
          <a:endParaRPr lang="ko-KR" altLang="en-US" sz="900" b="1">
            <a:solidFill>
              <a:schemeClr val="bg1"/>
            </a:solidFill>
          </a:endParaRPr>
        </a:p>
      </dgm:t>
    </dgm:pt>
    <dgm:pt modelId="{E61C2EBA-D66E-425C-AE1B-91ABC3299E72}">
      <dgm:prSet phldrT="[텍스트]" custT="1"/>
      <dgm:spPr>
        <a:xfrm>
          <a:off x="0" y="2302894"/>
          <a:ext cx="3171691" cy="759028"/>
        </a:xfrm>
        <a:prstGeom prst="trapezoid">
          <a:avLst>
            <a:gd name="adj" fmla="val 51792"/>
          </a:avLst>
        </a:prstGeom>
        <a:gradFill flip="none" rotWithShape="1">
          <a:gsLst>
            <a:gs pos="0">
              <a:srgbClr val="A5A5A5">
                <a:lumMod val="67000"/>
              </a:srgbClr>
            </a:gs>
            <a:gs pos="48000">
              <a:srgbClr val="A5A5A5">
                <a:lumMod val="97000"/>
                <a:lumOff val="3000"/>
              </a:srgbClr>
            </a:gs>
            <a:gs pos="100000">
              <a:srgbClr val="A5A5A5">
                <a:lumMod val="60000"/>
                <a:lumOff val="40000"/>
              </a:srgbClr>
            </a:gs>
          </a:gsLst>
          <a:lin ang="16200000" scaled="1"/>
          <a:tileRect/>
        </a:gradFill>
        <a:ln w="12700" cap="flat" cmpd="sng" algn="ctr">
          <a:solidFill>
            <a:sysClr val="window" lastClr="FFFFFF">
              <a:hueOff val="0"/>
              <a:satOff val="0"/>
              <a:lumOff val="0"/>
              <a:alphaOff val="0"/>
            </a:sysClr>
          </a:solidFill>
          <a:prstDash val="solid"/>
          <a:miter lim="800000"/>
        </a:ln>
        <a:effectLst/>
      </dgm:spPr>
      <dgm:t>
        <a:bodyPr/>
        <a:lstStyle/>
        <a:p>
          <a:pPr latinLnBrk="1"/>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Storage </a:t>
          </a:r>
        </a:p>
        <a:p>
          <a:pPr latinLnBrk="1"/>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(SSD,</a:t>
          </a:r>
          <a:r>
            <a:rPr lang="en-US" altLang="ko-KR" sz="1050" b="1" kern="1200" dirty="0">
              <a:solidFill>
                <a:sysClr val="windowText" lastClr="000000"/>
              </a:solidFill>
              <a:latin typeface="SAMSUNGONE-400C" panose="020B0506030303020204" pitchFamily="34" charset="0"/>
              <a:ea typeface="SAMSUNGONE-400C" panose="020B0506030303020204" pitchFamily="34" charset="0"/>
              <a:cs typeface="+mn-cs"/>
            </a:rPr>
            <a:t> </a:t>
          </a:r>
          <a:r>
            <a:rPr kumimoji="0" lang="en-US" altLang="ko-KR" sz="1100" b="1" i="0" u="none" strike="noStrike" kern="0" cap="none" spc="0" normalizeH="0" baseline="0" dirty="0">
              <a:ln>
                <a:noFill/>
              </a:ln>
              <a:solidFill>
                <a:srgbClr val="FFFF00"/>
              </a:solidFill>
              <a:effectLst/>
              <a:uLnTx/>
              <a:uFillTx/>
              <a:latin typeface="SAMSUNGONE-400C" panose="020B0506030303020204" pitchFamily="34" charset="0"/>
              <a:ea typeface="SAMSUNGONE-400C" panose="020B0506030303020204" pitchFamily="34" charset="0"/>
              <a:cs typeface="+mn-cs"/>
            </a:rPr>
            <a:t>SSD-PIM</a:t>
          </a:r>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 </a:t>
          </a:r>
          <a:endParaRPr lang="ko-KR" altLang="en-US" sz="1050" b="0" kern="1200" dirty="0">
            <a:solidFill>
              <a:sysClr val="windowText" lastClr="000000"/>
            </a:solidFill>
            <a:latin typeface="SAMSUNGONE-400C" panose="020B0506030303020204" pitchFamily="34" charset="0"/>
            <a:ea typeface="맑은 고딕" panose="020B0503020000020004" pitchFamily="50" charset="-127"/>
            <a:cs typeface="+mn-cs"/>
          </a:endParaRPr>
        </a:p>
      </dgm:t>
    </dgm:pt>
    <dgm:pt modelId="{59557979-DE57-4A5D-9B80-67CE8D7D45CB}" type="parTrans" cxnId="{8533A957-3E1F-4B8D-B651-EF12A87074A2}">
      <dgm:prSet/>
      <dgm:spPr/>
      <dgm:t>
        <a:bodyPr/>
        <a:lstStyle/>
        <a:p>
          <a:pPr latinLnBrk="1"/>
          <a:endParaRPr lang="ko-KR" altLang="en-US">
            <a:solidFill>
              <a:schemeClr val="bg1"/>
            </a:solidFill>
          </a:endParaRPr>
        </a:p>
      </dgm:t>
    </dgm:pt>
    <dgm:pt modelId="{0FBB359D-7E82-4022-8120-308F51DEECB8}" type="sibTrans" cxnId="{8533A957-3E1F-4B8D-B651-EF12A87074A2}">
      <dgm:prSet/>
      <dgm:spPr/>
      <dgm:t>
        <a:bodyPr/>
        <a:lstStyle/>
        <a:p>
          <a:pPr latinLnBrk="1"/>
          <a:endParaRPr lang="ko-KR" altLang="en-US">
            <a:solidFill>
              <a:schemeClr val="bg1"/>
            </a:solidFill>
          </a:endParaRPr>
        </a:p>
      </dgm:t>
    </dgm:pt>
    <dgm:pt modelId="{62E871E0-D935-4DC5-833E-12E38E9CFA36}">
      <dgm:prSet phldrT="[텍스트]" custT="1"/>
      <dgm:spPr>
        <a:xfrm>
          <a:off x="1127930" y="0"/>
          <a:ext cx="915829" cy="884133"/>
        </a:xfrm>
        <a:prstGeom prst="trapezoid">
          <a:avLst>
            <a:gd name="adj" fmla="val 51792"/>
          </a:avLst>
        </a:prstGeom>
        <a:gradFill flip="none" rotWithShape="1">
          <a:gsLst>
            <a:gs pos="0">
              <a:srgbClr val="A5A5A5">
                <a:lumMod val="67000"/>
              </a:srgbClr>
            </a:gs>
            <a:gs pos="48000">
              <a:srgbClr val="A5A5A5">
                <a:lumMod val="97000"/>
                <a:lumOff val="3000"/>
              </a:srgbClr>
            </a:gs>
            <a:gs pos="100000">
              <a:srgbClr val="A5A5A5">
                <a:lumMod val="60000"/>
                <a:lumOff val="40000"/>
              </a:srgbClr>
            </a:gs>
          </a:gsLst>
          <a:lin ang="16200000" scaled="1"/>
          <a:tileRect/>
        </a:gradFill>
        <a:ln w="12700" cap="flat" cmpd="sng" algn="ctr">
          <a:solidFill>
            <a:sysClr val="window" lastClr="FFFFFF">
              <a:hueOff val="0"/>
              <a:satOff val="0"/>
              <a:lumOff val="0"/>
              <a:alphaOff val="0"/>
            </a:sysClr>
          </a:solidFill>
          <a:prstDash val="solid"/>
          <a:miter lim="800000"/>
        </a:ln>
        <a:effectLst/>
      </dgm:spPr>
      <dgm:t>
        <a:bodyPr/>
        <a:lstStyle/>
        <a:p>
          <a:pPr latinLnBrk="1"/>
          <a:r>
            <a:rPr lang="en-US" altLang="ko-KR" sz="1000" b="0" dirty="0" err="1">
              <a:solidFill>
                <a:sysClr val="windowText" lastClr="000000"/>
              </a:solidFill>
              <a:latin typeface="SAMSUNGONE-400C" panose="020B0506030303020204" pitchFamily="34" charset="0"/>
              <a:ea typeface="SAMSUNGONE-400C" panose="020B0506030303020204" pitchFamily="34" charset="0"/>
              <a:cs typeface="+mn-cs"/>
            </a:rPr>
            <a:t>Reg</a:t>
          </a:r>
          <a:endParaRPr lang="en-US" altLang="ko-KR" sz="1000" b="0" dirty="0">
            <a:solidFill>
              <a:sysClr val="windowText" lastClr="000000"/>
            </a:solidFill>
            <a:latin typeface="SAMSUNGONE-400C" panose="020B0506030303020204" pitchFamily="34" charset="0"/>
            <a:ea typeface="SAMSUNGONE-400C" panose="020B0506030303020204" pitchFamily="34" charset="0"/>
            <a:cs typeface="+mn-cs"/>
          </a:endParaRPr>
        </a:p>
      </dgm:t>
    </dgm:pt>
    <dgm:pt modelId="{2477010A-10AD-4936-9D21-E1103DE96F40}" type="parTrans" cxnId="{A8AA6294-10BE-49FD-A918-D38F6C3B56CA}">
      <dgm:prSet/>
      <dgm:spPr/>
      <dgm:t>
        <a:bodyPr/>
        <a:lstStyle/>
        <a:p>
          <a:pPr latinLnBrk="1"/>
          <a:endParaRPr lang="ko-KR" altLang="en-US">
            <a:solidFill>
              <a:schemeClr val="bg1"/>
            </a:solidFill>
          </a:endParaRPr>
        </a:p>
      </dgm:t>
    </dgm:pt>
    <dgm:pt modelId="{EE8F6648-3031-4B8E-BFFE-AE13B449745B}" type="sibTrans" cxnId="{A8AA6294-10BE-49FD-A918-D38F6C3B56CA}">
      <dgm:prSet/>
      <dgm:spPr/>
      <dgm:t>
        <a:bodyPr/>
        <a:lstStyle/>
        <a:p>
          <a:pPr latinLnBrk="1"/>
          <a:endParaRPr lang="ko-KR" altLang="en-US">
            <a:solidFill>
              <a:schemeClr val="bg1"/>
            </a:solidFill>
          </a:endParaRPr>
        </a:p>
      </dgm:t>
    </dgm:pt>
    <dgm:pt modelId="{D65F3845-EC46-48F7-A64A-C4C8C05CEC82}" type="pres">
      <dgm:prSet presAssocID="{358D4DA1-426E-4D21-9B9A-474ECADB0C4E}" presName="Name0" presStyleCnt="0">
        <dgm:presLayoutVars>
          <dgm:dir/>
          <dgm:animLvl val="lvl"/>
          <dgm:resizeHandles val="exact"/>
        </dgm:presLayoutVars>
      </dgm:prSet>
      <dgm:spPr/>
    </dgm:pt>
    <dgm:pt modelId="{70ED9392-3F8E-40F3-AF96-B8B5212AD13A}" type="pres">
      <dgm:prSet presAssocID="{62E871E0-D935-4DC5-833E-12E38E9CFA36}" presName="Name8" presStyleCnt="0"/>
      <dgm:spPr/>
    </dgm:pt>
    <dgm:pt modelId="{1521D5C2-7B04-40AB-87A8-064E5D1FAC1E}" type="pres">
      <dgm:prSet presAssocID="{62E871E0-D935-4DC5-833E-12E38E9CFA36}" presName="level" presStyleLbl="node1" presStyleIdx="0" presStyleCnt="4">
        <dgm:presLayoutVars>
          <dgm:chMax val="1"/>
          <dgm:bulletEnabled val="1"/>
        </dgm:presLayoutVars>
      </dgm:prSet>
      <dgm:spPr/>
      <dgm:t>
        <a:bodyPr/>
        <a:lstStyle/>
        <a:p>
          <a:pPr latinLnBrk="1"/>
          <a:endParaRPr lang="ko-KR" altLang="en-US"/>
        </a:p>
      </dgm:t>
    </dgm:pt>
    <dgm:pt modelId="{C4C12F7B-8051-463A-958E-B34BE2839BBB}" type="pres">
      <dgm:prSet presAssocID="{62E871E0-D935-4DC5-833E-12E38E9CFA36}" presName="levelTx" presStyleLbl="revTx" presStyleIdx="0" presStyleCnt="0">
        <dgm:presLayoutVars>
          <dgm:chMax val="1"/>
          <dgm:bulletEnabled val="1"/>
        </dgm:presLayoutVars>
      </dgm:prSet>
      <dgm:spPr/>
      <dgm:t>
        <a:bodyPr/>
        <a:lstStyle/>
        <a:p>
          <a:pPr latinLnBrk="1"/>
          <a:endParaRPr lang="ko-KR" altLang="en-US"/>
        </a:p>
      </dgm:t>
    </dgm:pt>
    <dgm:pt modelId="{46A3605E-E381-4B65-80B6-C4408E08C6FB}" type="pres">
      <dgm:prSet presAssocID="{8776A37F-A541-4689-B97F-29ECF816070C}" presName="Name8" presStyleCnt="0"/>
      <dgm:spPr/>
    </dgm:pt>
    <dgm:pt modelId="{5C331DD1-B6B7-4D37-92E2-A6BE22EE6A92}" type="pres">
      <dgm:prSet presAssocID="{8776A37F-A541-4689-B97F-29ECF816070C}" presName="level" presStyleLbl="node1" presStyleIdx="1" presStyleCnt="4" custScaleX="100434" custScaleY="60469">
        <dgm:presLayoutVars>
          <dgm:chMax val="1"/>
          <dgm:bulletEnabled val="1"/>
        </dgm:presLayoutVars>
      </dgm:prSet>
      <dgm:spPr/>
      <dgm:t>
        <a:bodyPr/>
        <a:lstStyle/>
        <a:p>
          <a:pPr latinLnBrk="1"/>
          <a:endParaRPr lang="ko-KR" altLang="en-US"/>
        </a:p>
      </dgm:t>
    </dgm:pt>
    <dgm:pt modelId="{DE7C2FE9-7FE9-439B-BE23-EB8DCD6F1672}" type="pres">
      <dgm:prSet presAssocID="{8776A37F-A541-4689-B97F-29ECF816070C}" presName="levelTx" presStyleLbl="revTx" presStyleIdx="0" presStyleCnt="0">
        <dgm:presLayoutVars>
          <dgm:chMax val="1"/>
          <dgm:bulletEnabled val="1"/>
        </dgm:presLayoutVars>
      </dgm:prSet>
      <dgm:spPr/>
      <dgm:t>
        <a:bodyPr/>
        <a:lstStyle/>
        <a:p>
          <a:pPr latinLnBrk="1"/>
          <a:endParaRPr lang="ko-KR" altLang="en-US"/>
        </a:p>
      </dgm:t>
    </dgm:pt>
    <dgm:pt modelId="{E37D6E85-B186-4156-BD9F-65CF64F2AAAB}" type="pres">
      <dgm:prSet presAssocID="{916BA443-C127-4428-AF8B-9BA9E3C7ED44}" presName="Name8" presStyleCnt="0"/>
      <dgm:spPr/>
    </dgm:pt>
    <dgm:pt modelId="{8ECD95B4-311F-4081-830B-27B8D0C24326}" type="pres">
      <dgm:prSet presAssocID="{916BA443-C127-4428-AF8B-9BA9E3C7ED44}" presName="level" presStyleLbl="node1" presStyleIdx="2" presStyleCnt="4">
        <dgm:presLayoutVars>
          <dgm:chMax val="1"/>
          <dgm:bulletEnabled val="1"/>
        </dgm:presLayoutVars>
      </dgm:prSet>
      <dgm:spPr/>
      <dgm:t>
        <a:bodyPr/>
        <a:lstStyle/>
        <a:p>
          <a:pPr latinLnBrk="1"/>
          <a:endParaRPr lang="ko-KR" altLang="en-US"/>
        </a:p>
      </dgm:t>
    </dgm:pt>
    <dgm:pt modelId="{E6B59D18-B347-4E62-AAD0-4FDB96A58FAC}" type="pres">
      <dgm:prSet presAssocID="{916BA443-C127-4428-AF8B-9BA9E3C7ED44}" presName="levelTx" presStyleLbl="revTx" presStyleIdx="0" presStyleCnt="0">
        <dgm:presLayoutVars>
          <dgm:chMax val="1"/>
          <dgm:bulletEnabled val="1"/>
        </dgm:presLayoutVars>
      </dgm:prSet>
      <dgm:spPr/>
      <dgm:t>
        <a:bodyPr/>
        <a:lstStyle/>
        <a:p>
          <a:pPr latinLnBrk="1"/>
          <a:endParaRPr lang="ko-KR" altLang="en-US"/>
        </a:p>
      </dgm:t>
    </dgm:pt>
    <dgm:pt modelId="{0525643B-300A-4ABC-B9FC-8BFADF46E03C}" type="pres">
      <dgm:prSet presAssocID="{E61C2EBA-D66E-425C-AE1B-91ABC3299E72}" presName="Name8" presStyleCnt="0"/>
      <dgm:spPr/>
    </dgm:pt>
    <dgm:pt modelId="{D3A7E110-048A-4012-B89D-7988C87EFD18}" type="pres">
      <dgm:prSet presAssocID="{E61C2EBA-D66E-425C-AE1B-91ABC3299E72}" presName="level" presStyleLbl="node1" presStyleIdx="3" presStyleCnt="4" custScaleY="85850" custLinFactNeighborX="2074" custLinFactNeighborY="22163">
        <dgm:presLayoutVars>
          <dgm:chMax val="1"/>
          <dgm:bulletEnabled val="1"/>
        </dgm:presLayoutVars>
      </dgm:prSet>
      <dgm:spPr/>
      <dgm:t>
        <a:bodyPr/>
        <a:lstStyle/>
        <a:p>
          <a:pPr latinLnBrk="1"/>
          <a:endParaRPr lang="ko-KR" altLang="en-US"/>
        </a:p>
      </dgm:t>
    </dgm:pt>
    <dgm:pt modelId="{DBC6C121-C491-4460-B208-E8DA097522B0}" type="pres">
      <dgm:prSet presAssocID="{E61C2EBA-D66E-425C-AE1B-91ABC3299E72}" presName="levelTx" presStyleLbl="revTx" presStyleIdx="0" presStyleCnt="0">
        <dgm:presLayoutVars>
          <dgm:chMax val="1"/>
          <dgm:bulletEnabled val="1"/>
        </dgm:presLayoutVars>
      </dgm:prSet>
      <dgm:spPr/>
      <dgm:t>
        <a:bodyPr/>
        <a:lstStyle/>
        <a:p>
          <a:pPr latinLnBrk="1"/>
          <a:endParaRPr lang="ko-KR" altLang="en-US"/>
        </a:p>
      </dgm:t>
    </dgm:pt>
  </dgm:ptLst>
  <dgm:cxnLst>
    <dgm:cxn modelId="{EC3EAA58-8DC8-4D0C-B313-216C092C62D5}" type="presOf" srcId="{E61C2EBA-D66E-425C-AE1B-91ABC3299E72}" destId="{DBC6C121-C491-4460-B208-E8DA097522B0}" srcOrd="1" destOrd="0" presId="urn:microsoft.com/office/officeart/2005/8/layout/pyramid1"/>
    <dgm:cxn modelId="{1D019F4B-63FB-445F-8FCF-A3D7A709978F}" type="presOf" srcId="{62E871E0-D935-4DC5-833E-12E38E9CFA36}" destId="{C4C12F7B-8051-463A-958E-B34BE2839BBB}" srcOrd="1" destOrd="0" presId="urn:microsoft.com/office/officeart/2005/8/layout/pyramid1"/>
    <dgm:cxn modelId="{8533A957-3E1F-4B8D-B651-EF12A87074A2}" srcId="{358D4DA1-426E-4D21-9B9A-474ECADB0C4E}" destId="{E61C2EBA-D66E-425C-AE1B-91ABC3299E72}" srcOrd="3" destOrd="0" parTransId="{59557979-DE57-4A5D-9B80-67CE8D7D45CB}" sibTransId="{0FBB359D-7E82-4022-8120-308F51DEECB8}"/>
    <dgm:cxn modelId="{7FF610F4-C9C3-40CC-9DD2-6F52DBAEF70B}" type="presOf" srcId="{8776A37F-A541-4689-B97F-29ECF816070C}" destId="{DE7C2FE9-7FE9-439B-BE23-EB8DCD6F1672}" srcOrd="1" destOrd="0" presId="urn:microsoft.com/office/officeart/2005/8/layout/pyramid1"/>
    <dgm:cxn modelId="{3D6BB78F-94D5-4B4B-A3AF-0A23071412F9}" type="presOf" srcId="{358D4DA1-426E-4D21-9B9A-474ECADB0C4E}" destId="{D65F3845-EC46-48F7-A64A-C4C8C05CEC82}" srcOrd="0" destOrd="0" presId="urn:microsoft.com/office/officeart/2005/8/layout/pyramid1"/>
    <dgm:cxn modelId="{A8AA6294-10BE-49FD-A918-D38F6C3B56CA}" srcId="{358D4DA1-426E-4D21-9B9A-474ECADB0C4E}" destId="{62E871E0-D935-4DC5-833E-12E38E9CFA36}" srcOrd="0" destOrd="0" parTransId="{2477010A-10AD-4936-9D21-E1103DE96F40}" sibTransId="{EE8F6648-3031-4B8E-BFFE-AE13B449745B}"/>
    <dgm:cxn modelId="{12C90D9F-B302-41BE-B6DE-48ED255C3BDA}" type="presOf" srcId="{62E871E0-D935-4DC5-833E-12E38E9CFA36}" destId="{1521D5C2-7B04-40AB-87A8-064E5D1FAC1E}" srcOrd="0" destOrd="0" presId="urn:microsoft.com/office/officeart/2005/8/layout/pyramid1"/>
    <dgm:cxn modelId="{CBBF6837-78BF-412F-845D-1CD7B45DEDE1}" srcId="{358D4DA1-426E-4D21-9B9A-474ECADB0C4E}" destId="{8776A37F-A541-4689-B97F-29ECF816070C}" srcOrd="1" destOrd="0" parTransId="{8DF77ECB-4B2D-4553-8FC5-05D1A0EF1772}" sibTransId="{43E7C9F4-464A-4F4A-A107-E317B33BA34B}"/>
    <dgm:cxn modelId="{6987E937-DAB5-4A99-A6E3-70AFE27D25EF}" srcId="{358D4DA1-426E-4D21-9B9A-474ECADB0C4E}" destId="{916BA443-C127-4428-AF8B-9BA9E3C7ED44}" srcOrd="2" destOrd="0" parTransId="{FE3F29B7-94B0-4FF0-B629-BEAE3F647833}" sibTransId="{E8C21253-19C0-4E97-B8D2-946078171FBA}"/>
    <dgm:cxn modelId="{839A798A-6D00-480B-9116-B22FB51702F7}" type="presOf" srcId="{916BA443-C127-4428-AF8B-9BA9E3C7ED44}" destId="{8ECD95B4-311F-4081-830B-27B8D0C24326}" srcOrd="0" destOrd="0" presId="urn:microsoft.com/office/officeart/2005/8/layout/pyramid1"/>
    <dgm:cxn modelId="{A5180FA0-29DB-4773-B0F2-AD931C340ECD}" type="presOf" srcId="{E61C2EBA-D66E-425C-AE1B-91ABC3299E72}" destId="{D3A7E110-048A-4012-B89D-7988C87EFD18}" srcOrd="0" destOrd="0" presId="urn:microsoft.com/office/officeart/2005/8/layout/pyramid1"/>
    <dgm:cxn modelId="{E5242344-CE9D-4E77-9368-DD8D80417C98}" type="presOf" srcId="{916BA443-C127-4428-AF8B-9BA9E3C7ED44}" destId="{E6B59D18-B347-4E62-AAD0-4FDB96A58FAC}" srcOrd="1" destOrd="0" presId="urn:microsoft.com/office/officeart/2005/8/layout/pyramid1"/>
    <dgm:cxn modelId="{7E60757D-5520-433A-9A07-E51868DE0367}" type="presOf" srcId="{8776A37F-A541-4689-B97F-29ECF816070C}" destId="{5C331DD1-B6B7-4D37-92E2-A6BE22EE6A92}" srcOrd="0" destOrd="0" presId="urn:microsoft.com/office/officeart/2005/8/layout/pyramid1"/>
    <dgm:cxn modelId="{C3C7893E-9901-4AF5-BA18-2591AB020D2E}" type="presParOf" srcId="{D65F3845-EC46-48F7-A64A-C4C8C05CEC82}" destId="{70ED9392-3F8E-40F3-AF96-B8B5212AD13A}" srcOrd="0" destOrd="0" presId="urn:microsoft.com/office/officeart/2005/8/layout/pyramid1"/>
    <dgm:cxn modelId="{401E1DEE-D23D-4DA3-9D0A-FE22B59C90AF}" type="presParOf" srcId="{70ED9392-3F8E-40F3-AF96-B8B5212AD13A}" destId="{1521D5C2-7B04-40AB-87A8-064E5D1FAC1E}" srcOrd="0" destOrd="0" presId="urn:microsoft.com/office/officeart/2005/8/layout/pyramid1"/>
    <dgm:cxn modelId="{BBC48315-4F47-4A25-B58B-7DEC5D13B663}" type="presParOf" srcId="{70ED9392-3F8E-40F3-AF96-B8B5212AD13A}" destId="{C4C12F7B-8051-463A-958E-B34BE2839BBB}" srcOrd="1" destOrd="0" presId="urn:microsoft.com/office/officeart/2005/8/layout/pyramid1"/>
    <dgm:cxn modelId="{2E9831F5-8DA1-4F90-AF6F-905CDA9F9145}" type="presParOf" srcId="{D65F3845-EC46-48F7-A64A-C4C8C05CEC82}" destId="{46A3605E-E381-4B65-80B6-C4408E08C6FB}" srcOrd="1" destOrd="0" presId="urn:microsoft.com/office/officeart/2005/8/layout/pyramid1"/>
    <dgm:cxn modelId="{29E79A94-7076-427D-8668-41B975B0EA95}" type="presParOf" srcId="{46A3605E-E381-4B65-80B6-C4408E08C6FB}" destId="{5C331DD1-B6B7-4D37-92E2-A6BE22EE6A92}" srcOrd="0" destOrd="0" presId="urn:microsoft.com/office/officeart/2005/8/layout/pyramid1"/>
    <dgm:cxn modelId="{27F0401F-F467-420D-94EC-3F37B672B774}" type="presParOf" srcId="{46A3605E-E381-4B65-80B6-C4408E08C6FB}" destId="{DE7C2FE9-7FE9-439B-BE23-EB8DCD6F1672}" srcOrd="1" destOrd="0" presId="urn:microsoft.com/office/officeart/2005/8/layout/pyramid1"/>
    <dgm:cxn modelId="{DA45827E-1F5B-4E2E-8508-5EED1FE967D8}" type="presParOf" srcId="{D65F3845-EC46-48F7-A64A-C4C8C05CEC82}" destId="{E37D6E85-B186-4156-BD9F-65CF64F2AAAB}" srcOrd="2" destOrd="0" presId="urn:microsoft.com/office/officeart/2005/8/layout/pyramid1"/>
    <dgm:cxn modelId="{F5208D89-693B-4F54-A8DD-981759411F60}" type="presParOf" srcId="{E37D6E85-B186-4156-BD9F-65CF64F2AAAB}" destId="{8ECD95B4-311F-4081-830B-27B8D0C24326}" srcOrd="0" destOrd="0" presId="urn:microsoft.com/office/officeart/2005/8/layout/pyramid1"/>
    <dgm:cxn modelId="{E3ACEC4D-2520-475E-8ECF-DAAC721BE486}" type="presParOf" srcId="{E37D6E85-B186-4156-BD9F-65CF64F2AAAB}" destId="{E6B59D18-B347-4E62-AAD0-4FDB96A58FAC}" srcOrd="1" destOrd="0" presId="urn:microsoft.com/office/officeart/2005/8/layout/pyramid1"/>
    <dgm:cxn modelId="{755F08A5-6861-44C2-BDD8-9776CDC98722}" type="presParOf" srcId="{D65F3845-EC46-48F7-A64A-C4C8C05CEC82}" destId="{0525643B-300A-4ABC-B9FC-8BFADF46E03C}" srcOrd="3" destOrd="0" presId="urn:microsoft.com/office/officeart/2005/8/layout/pyramid1"/>
    <dgm:cxn modelId="{951A8665-4A47-4B27-9170-95B8199A812E}" type="presParOf" srcId="{0525643B-300A-4ABC-B9FC-8BFADF46E03C}" destId="{D3A7E110-048A-4012-B89D-7988C87EFD18}" srcOrd="0" destOrd="0" presId="urn:microsoft.com/office/officeart/2005/8/layout/pyramid1"/>
    <dgm:cxn modelId="{8C59AAD7-65CE-4500-8E26-B1C496ED798F}" type="presParOf" srcId="{0525643B-300A-4ABC-B9FC-8BFADF46E03C}" destId="{DBC6C121-C491-4460-B208-E8DA097522B0}" srcOrd="1" destOrd="0" presId="urn:microsoft.com/office/officeart/2005/8/layout/pyramid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21D5C2-7B04-40AB-87A8-064E5D1FAC1E}">
      <dsp:nvSpPr>
        <dsp:cNvPr id="0" name=""/>
        <dsp:cNvSpPr/>
      </dsp:nvSpPr>
      <dsp:spPr>
        <a:xfrm>
          <a:off x="885393" y="0"/>
          <a:ext cx="718900" cy="650455"/>
        </a:xfrm>
        <a:prstGeom prst="trapezoid">
          <a:avLst>
            <a:gd name="adj" fmla="val 51792"/>
          </a:avLst>
        </a:prstGeom>
        <a:gradFill flip="none" rotWithShape="1">
          <a:gsLst>
            <a:gs pos="0">
              <a:srgbClr val="A5A5A5">
                <a:lumMod val="67000"/>
              </a:srgbClr>
            </a:gs>
            <a:gs pos="48000">
              <a:srgbClr val="A5A5A5">
                <a:lumMod val="97000"/>
                <a:lumOff val="3000"/>
              </a:srgbClr>
            </a:gs>
            <a:gs pos="100000">
              <a:srgbClr val="A5A5A5">
                <a:lumMod val="60000"/>
                <a:lumOff val="40000"/>
              </a:srgbClr>
            </a:gs>
          </a:gsLst>
          <a:lin ang="16200000" scaled="1"/>
          <a:tileRect/>
        </a:gra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lvl="0" algn="ctr" defTabSz="444500" latinLnBrk="1">
            <a:lnSpc>
              <a:spcPct val="90000"/>
            </a:lnSpc>
            <a:spcBef>
              <a:spcPct val="0"/>
            </a:spcBef>
            <a:spcAft>
              <a:spcPct val="35000"/>
            </a:spcAft>
          </a:pPr>
          <a:r>
            <a:rPr lang="en-US" altLang="ko-KR" sz="1000" b="0" kern="1200" dirty="0" err="1">
              <a:solidFill>
                <a:sysClr val="windowText" lastClr="000000"/>
              </a:solidFill>
              <a:latin typeface="SAMSUNGONE-400C" panose="020B0506030303020204" pitchFamily="34" charset="0"/>
              <a:ea typeface="SAMSUNGONE-400C" panose="020B0506030303020204" pitchFamily="34" charset="0"/>
              <a:cs typeface="+mn-cs"/>
            </a:rPr>
            <a:t>Reg</a:t>
          </a:r>
          <a:endParaRPr lang="en-US" altLang="ko-KR" sz="1000" b="0" kern="1200" dirty="0">
            <a:solidFill>
              <a:sysClr val="windowText" lastClr="000000"/>
            </a:solidFill>
            <a:latin typeface="SAMSUNGONE-400C" panose="020B0506030303020204" pitchFamily="34" charset="0"/>
            <a:ea typeface="SAMSUNGONE-400C" panose="020B0506030303020204" pitchFamily="34" charset="0"/>
            <a:cs typeface="+mn-cs"/>
          </a:endParaRPr>
        </a:p>
      </dsp:txBody>
      <dsp:txXfrm>
        <a:off x="1109982" y="203206"/>
        <a:ext cx="269722" cy="447249"/>
      </dsp:txXfrm>
    </dsp:sp>
    <dsp:sp modelId="{5C331DD1-B6B7-4D37-92E2-A6BE22EE6A92}">
      <dsp:nvSpPr>
        <dsp:cNvPr id="0" name=""/>
        <dsp:cNvSpPr/>
      </dsp:nvSpPr>
      <dsp:spPr>
        <a:xfrm>
          <a:off x="665534" y="650455"/>
          <a:ext cx="1158618" cy="393324"/>
        </a:xfrm>
        <a:prstGeom prst="trapezoid">
          <a:avLst>
            <a:gd name="adj" fmla="val 51792"/>
          </a:avLst>
        </a:prstGeom>
        <a:gradFill flip="none" rotWithShape="1">
          <a:gsLst>
            <a:gs pos="0">
              <a:srgbClr val="A5A5A5">
                <a:lumMod val="67000"/>
              </a:srgbClr>
            </a:gs>
            <a:gs pos="48000">
              <a:srgbClr val="A5A5A5">
                <a:lumMod val="97000"/>
                <a:lumOff val="3000"/>
              </a:srgbClr>
            </a:gs>
            <a:gs pos="100000">
              <a:srgbClr val="A5A5A5">
                <a:lumMod val="60000"/>
                <a:lumOff val="40000"/>
              </a:srgbClr>
            </a:gs>
          </a:gsLst>
          <a:lin ang="16200000" scaled="1"/>
          <a:tileRect/>
        </a:gra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13970" numCol="1" spcCol="1270" anchor="ctr" anchorCtr="0">
          <a:noAutofit/>
        </a:bodyPr>
        <a:lstStyle/>
        <a:p>
          <a:pPr lvl="0" algn="ctr" defTabSz="466725" latinLnBrk="1">
            <a:lnSpc>
              <a:spcPct val="90000"/>
            </a:lnSpc>
            <a:spcBef>
              <a:spcPct val="0"/>
            </a:spcBef>
            <a:spcAft>
              <a:spcPct val="35000"/>
            </a:spcAft>
          </a:pPr>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LLC</a:t>
          </a:r>
          <a:endParaRPr lang="en-US" altLang="ko-KR" sz="1050" b="1" kern="1200" dirty="0">
            <a:solidFill>
              <a:sysClr val="windowText" lastClr="000000"/>
            </a:solidFill>
            <a:latin typeface="SAMSUNGONE-400C" panose="020B0506030303020204" pitchFamily="34" charset="0"/>
            <a:ea typeface="SAMSUNGONE-400C" panose="020B0506030303020204" pitchFamily="34" charset="0"/>
            <a:cs typeface="+mn-cs"/>
          </a:endParaRPr>
        </a:p>
      </dsp:txBody>
      <dsp:txXfrm>
        <a:off x="1004099" y="721383"/>
        <a:ext cx="481488" cy="322396"/>
      </dsp:txXfrm>
    </dsp:sp>
    <dsp:sp modelId="{8ECD95B4-311F-4081-830B-27B8D0C24326}">
      <dsp:nvSpPr>
        <dsp:cNvPr id="0" name=""/>
        <dsp:cNvSpPr/>
      </dsp:nvSpPr>
      <dsp:spPr>
        <a:xfrm>
          <a:off x="308587" y="1043779"/>
          <a:ext cx="1872512" cy="650455"/>
        </a:xfrm>
        <a:prstGeom prst="trapezoid">
          <a:avLst>
            <a:gd name="adj" fmla="val 51792"/>
          </a:avLst>
        </a:prstGeom>
        <a:solidFill>
          <a:sysClr val="window" lastClr="FFFFFF">
            <a:lumMod val="65000"/>
          </a:sysClr>
        </a:soli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400050" latinLnBrk="1">
            <a:lnSpc>
              <a:spcPct val="90000"/>
            </a:lnSpc>
            <a:spcBef>
              <a:spcPct val="0"/>
            </a:spcBef>
            <a:spcAft>
              <a:spcPct val="35000"/>
            </a:spcAft>
          </a:pPr>
          <a:endParaRPr lang="ko-KR" altLang="en-US" sz="900" b="1" kern="1200" dirty="0">
            <a:solidFill>
              <a:sysClr val="window" lastClr="FFFFFF"/>
            </a:solidFill>
            <a:latin typeface="맑은 고딕" panose="020F0502020204030204"/>
            <a:ea typeface="맑은 고딕" panose="020B0503020000020004" pitchFamily="50" charset="-127"/>
            <a:cs typeface="+mn-cs"/>
          </a:endParaRPr>
        </a:p>
      </dsp:txBody>
      <dsp:txXfrm>
        <a:off x="860866" y="1163803"/>
        <a:ext cx="767954" cy="530431"/>
      </dsp:txXfrm>
    </dsp:sp>
    <dsp:sp modelId="{D3A7E110-048A-4012-B89D-7988C87EFD18}">
      <dsp:nvSpPr>
        <dsp:cNvPr id="0" name=""/>
        <dsp:cNvSpPr/>
      </dsp:nvSpPr>
      <dsp:spPr>
        <a:xfrm>
          <a:off x="0" y="1694235"/>
          <a:ext cx="2489688" cy="558416"/>
        </a:xfrm>
        <a:prstGeom prst="trapezoid">
          <a:avLst>
            <a:gd name="adj" fmla="val 51792"/>
          </a:avLst>
        </a:prstGeom>
        <a:gradFill flip="none" rotWithShape="1">
          <a:gsLst>
            <a:gs pos="0">
              <a:srgbClr val="A5A5A5">
                <a:lumMod val="67000"/>
              </a:srgbClr>
            </a:gs>
            <a:gs pos="48000">
              <a:srgbClr val="A5A5A5">
                <a:lumMod val="97000"/>
                <a:lumOff val="3000"/>
              </a:srgbClr>
            </a:gs>
            <a:gs pos="100000">
              <a:srgbClr val="A5A5A5">
                <a:lumMod val="60000"/>
                <a:lumOff val="40000"/>
              </a:srgbClr>
            </a:gs>
          </a:gsLst>
          <a:lin ang="16200000" scaled="1"/>
          <a:tileRect/>
        </a:gradFill>
        <a:ln w="12700" cap="flat" cmpd="sng" algn="ctr">
          <a:solidFill>
            <a:sysClr val="window" lastClr="FFFFFF">
              <a:hueOff val="0"/>
              <a:satOff val="0"/>
              <a:lumOff val="0"/>
              <a:alphaOff val="0"/>
            </a:sys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66725" latinLnBrk="1">
            <a:lnSpc>
              <a:spcPct val="90000"/>
            </a:lnSpc>
            <a:spcBef>
              <a:spcPct val="0"/>
            </a:spcBef>
            <a:spcAft>
              <a:spcPct val="35000"/>
            </a:spcAft>
          </a:pPr>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Storage </a:t>
          </a:r>
        </a:p>
        <a:p>
          <a:pPr lvl="0" algn="ctr" defTabSz="466725" latinLnBrk="1">
            <a:lnSpc>
              <a:spcPct val="90000"/>
            </a:lnSpc>
            <a:spcBef>
              <a:spcPct val="0"/>
            </a:spcBef>
            <a:spcAft>
              <a:spcPct val="35000"/>
            </a:spcAft>
          </a:pPr>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(SSD,</a:t>
          </a:r>
          <a:r>
            <a:rPr lang="en-US" altLang="ko-KR" sz="1050" b="1" kern="1200" dirty="0">
              <a:solidFill>
                <a:sysClr val="windowText" lastClr="000000"/>
              </a:solidFill>
              <a:latin typeface="SAMSUNGONE-400C" panose="020B0506030303020204" pitchFamily="34" charset="0"/>
              <a:ea typeface="SAMSUNGONE-400C" panose="020B0506030303020204" pitchFamily="34" charset="0"/>
              <a:cs typeface="+mn-cs"/>
            </a:rPr>
            <a:t> </a:t>
          </a:r>
          <a:r>
            <a:rPr kumimoji="0" lang="en-US" altLang="ko-KR" sz="1100" b="1" i="0" u="none" strike="noStrike" kern="0" cap="none" spc="0" normalizeH="0" baseline="0" dirty="0">
              <a:ln>
                <a:noFill/>
              </a:ln>
              <a:solidFill>
                <a:srgbClr val="FFFF00"/>
              </a:solidFill>
              <a:effectLst/>
              <a:uLnTx/>
              <a:uFillTx/>
              <a:latin typeface="SAMSUNGONE-400C" panose="020B0506030303020204" pitchFamily="34" charset="0"/>
              <a:ea typeface="SAMSUNGONE-400C" panose="020B0506030303020204" pitchFamily="34" charset="0"/>
              <a:cs typeface="+mn-cs"/>
            </a:rPr>
            <a:t>SSD-PIM</a:t>
          </a:r>
          <a:r>
            <a:rPr lang="en-US" altLang="ko-KR" sz="1050" b="0" kern="1200" dirty="0">
              <a:solidFill>
                <a:sysClr val="windowText" lastClr="000000"/>
              </a:solidFill>
              <a:latin typeface="SAMSUNGONE-400C" panose="020B0506030303020204" pitchFamily="34" charset="0"/>
              <a:ea typeface="SAMSUNGONE-400C" panose="020B0506030303020204" pitchFamily="34" charset="0"/>
              <a:cs typeface="+mn-cs"/>
            </a:rPr>
            <a:t>) </a:t>
          </a:r>
          <a:endParaRPr lang="ko-KR" altLang="en-US" sz="1050" b="0" kern="1200" dirty="0">
            <a:solidFill>
              <a:sysClr val="windowText" lastClr="000000"/>
            </a:solidFill>
            <a:latin typeface="SAMSUNGONE-400C" panose="020B0506030303020204" pitchFamily="34" charset="0"/>
            <a:ea typeface="맑은 고딕" panose="020B0503020000020004" pitchFamily="50" charset="-127"/>
            <a:cs typeface="+mn-cs"/>
          </a:endParaRPr>
        </a:p>
      </dsp:txBody>
      <dsp:txXfrm>
        <a:off x="628505" y="1760767"/>
        <a:ext cx="1232677" cy="491884"/>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E6DFF4-997A-46AB-885E-08C25B81A166}" type="datetimeFigureOut">
              <a:rPr lang="ko-KR" altLang="en-US" smtClean="0"/>
              <a:t>2026-10-29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B17B06-B204-4E73-B04E-053CD704EFD3}" type="slidenum">
              <a:rPr lang="ko-KR" altLang="en-US" smtClean="0"/>
              <a:t>‹#›</a:t>
            </a:fld>
            <a:endParaRPr lang="ko-KR" altLang="en-US"/>
          </a:p>
        </p:txBody>
      </p:sp>
    </p:spTree>
    <p:extLst>
      <p:ext uri="{BB962C8B-B14F-4D97-AF65-F5344CB8AC3E}">
        <p14:creationId xmlns:p14="http://schemas.microsoft.com/office/powerpoint/2010/main" val="145527027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 | 목표 40초 | 누적 0분40초]</a:t>
            </a:r>
          </a:p>
          <a:p>
            <a:r>
              <a:t>안녕하세요, SAIT AI System Platform 김명우입니다. 오늘은 'LLM 추론 처리량 향상을 위해 이기종 메모리를 활용하는 서빙 엔진 개발' 과제를, 요구사항에서 아키텍처 결정, 검증까지 어떤 근거로 의사결정을 했는지 중심으로 발표드리겠습니다.</a:t>
            </a:r>
          </a:p>
          <a:p/>
          <a:p>
            <a:r>
              <a:t>여기서 이기종 메모리란 HBM, DRAM, SSD부터 CXL 메모리, CXL-PNM, PIM-SSD까지 용량, 대역폭, 연산 가능 여부가 서로 다른 메모리를 말합니다.</a:t>
            </a:r>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a:t>
            </a:fld>
            <a:endParaRPr lang="ko-KR" altLang="en-US"/>
          </a:p>
        </p:txBody>
      </p:sp>
    </p:spTree>
    <p:extLst>
      <p:ext uri="{BB962C8B-B14F-4D97-AF65-F5344CB8AC3E}">
        <p14:creationId xmlns:p14="http://schemas.microsoft.com/office/powerpoint/2010/main" val="12588155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 | 목표 30초 | 누적 1분10초]</a:t>
            </a:r>
          </a:p>
          <a:p>
            <a:r>
              <a:t>발표는 과제 소개, 요구사항 분석, 아키텍처 설계, 구현 및 검증, 성과 및 교훈의 다섯 부분으로 진행합니다.</a:t>
            </a:r>
          </a:p>
          <a:p/>
          <a:p>
            <a:r>
              <a:t>시간은 아키텍처 설계에 가장 많이 쓰겠습니다. 네 개의 핵심 설계 결정, 즉 Design Point를 어떤 대안들 사이에서 어떤 품질 속성을 근거로 골랐는지가 오늘 발표의 중심입니다.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3 | 목표 2분00초 | 누적 3분10초]</a:t>
            </a:r>
          </a:p>
          <a:p>
            <a:r>
              <a:t>먼저 배경입니다. 한 줄로 말씀드리면, 메모리 병목은 더 심해지는데 워크로드는 그 병목을 더 세게 건드리는 방향으로 바뀌고 있다는 것입니다.</a:t>
            </a:r>
          </a:p>
          <a:p/>
          <a:p>
            <a:r>
              <a:t>왼쪽 위는 단일 세션의 KV 캐시 크기입니다. Llama 70B급에서 토큰당 KV는 약 0.33MB라서, 채팅은 6GB, 문맥이 75K 토큰쯤 쌓이는 에이전트는 25GB, 멀티 에이전트는 93GB입니다. 세션 하나가 H100의 HBM 80GB를 넘어서는 지점이 이미 보입니다. 이것이 동시 100세션이 되면 채팅은 630GB지만 에이전트는 2.5TB, 멀티 에이전트는 9.3TB로, B300 HBM 기준 9개, 32개분이 필요합니다.</a:t>
            </a:r>
          </a:p>
          <a:p/>
          <a:p>
            <a:r>
              <a:t>그 아래는 시간 축의 문제입니다. Agent는 추론, 도구 호출, 대기를 반복하는데, 도구가 도는 동안에도 그 세션의 KV는 HBM에 남습니다. 예시에서는 HBM을 11.4초 점유하는 동안 GPU 연산은 4.9초, 43%뿐이고 57%는 자리만 차지합니다.</a:t>
            </a:r>
          </a:p>
          <a:p/>
          <a:p>
            <a:r>
              <a:t>오른쪽은 시장입니다. HBM 시장은 2025년 약 350억 달러에서 2028년 약 1,000억 달러로 연평균 42% 성장이 전망되고, 범용 DRAM 가격은 2025년 4분기를 100으로 두면 2026년 4분기에 약 401까지 오릅니다. 증설은 27년 말 이후라 공급 부족이 이어지고, 그래서 수요가 cHBM, CXL 메모리 풀, HBF 같은 KV 전용 계층으로 분화되고 있습니다.</a:t>
            </a:r>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3</a:t>
            </a:fld>
            <a:endParaRPr lang="ko-KR" altLang="en-US"/>
          </a:p>
        </p:txBody>
      </p:sp>
    </p:spTree>
    <p:extLst>
      <p:ext uri="{BB962C8B-B14F-4D97-AF65-F5344CB8AC3E}">
        <p14:creationId xmlns:p14="http://schemas.microsoft.com/office/powerpoint/2010/main" val="1957394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4 | 목표 1분30초 | 누적 4분40초]</a:t>
            </a:r>
          </a:p>
          <a:p>
            <a:r>
              <a:t>왜 이 연구를 연구소가, 지금 해야 하는지입니다. 왼쪽은 시점의 문제입니다. 어떤 메모리 수요가 커질지는 불확실한데, 수요가 드러난 뒤에 요구 분석과 개발, 검증을 시작하면 고객에게 늦게 갑니다. 공통 Framework를 먼저 개발하고 검증해 두면 수요가 확인되는 순간 제품 적용과 Promote로 넘어가 선점 구간을 확보할 수 있습니다. 그래서 연구소는 고객 workload와 요구를 선제적으로 파악해 이기종 메모리 인지형 런타임을 연구하고, 그 결과를 사업부의 차세대 Device 개발에 반영하는 역할을 맡습니다. Meta, Google Research, ARM Research와 협업도 진행 중입니다.</a:t>
            </a:r>
          </a:p>
          <a:p/>
          <a:p>
            <a:r>
              <a:t>오른쪽은 기술적 공백입니다. AI 워크로드는 자원 수요가 동적으로 변하는데, HBM, DRAM, SSD 같은 기존 계층만 알 뿐, CXL 메모리, CXL-PNM, PIM-SSD의 대역폭, 용량, 연산 가능 여부를 인식해 배치와 스케줄링을 결정하는 서빙 엔진이 없습니다. 그래서 결론은 이기종 메모리를 활용해 LLM 추론 처리량을 높이는 SW 연구입니다.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1333796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5 | 목표 1분20초 | 누적 6분00초]</a:t>
            </a:r>
          </a:p>
          <a:p>
            <a:r>
              <a:t>앞 장의 선제 대응 논거를 뒷받침하는 사례가 HBM입니다. HBM2는 2016년에 양산됐지만 오랫동안 GPU, HPC 중심의 틈새 시장이었고, 업계는 범용 DRAM 경쟁력에 집중했습니다. 2023년 AI가 급부상하자 HBM 수요는 2024년 160억 달러에서 2025년 350억 달러로 2.2배가 됐고, 고객 인증에 시간이 걸려 대응이 늦었다는 보도가 있습니다. 수요 변곡점은 예측보다 빠르고 개발, 인증, 양산 리드타임이 대응 속도를 좌우한다는 것이 시사점입니다.</a:t>
            </a:r>
          </a:p>
          <a:p/>
          <a:p>
            <a:r>
              <a:t>또 하나는 SW가 만드는 격차입니다. 각주 ①처럼 H100 한 장에서 CPU DRAM으로 KV를 offloading하는 것만으로 처리량이 초당 1,850토큰에서 16,650토큰으로 9배, ②처럼 에이전트를 프로그램 단위로 인지하는 스케줄링은 vLLM 기본 대비 1.79배 높았습니다. 같은 HW에서도 런타임이 성능을 가르는데, 그 런타임이 신규 메모리를 모른다는 것이 이 과제의 필요성입니다.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5</a:t>
            </a:fld>
            <a:endParaRPr lang="ko-KR" altLang="en-US"/>
          </a:p>
        </p:txBody>
      </p:sp>
    </p:spTree>
    <p:extLst>
      <p:ext uri="{BB962C8B-B14F-4D97-AF65-F5344CB8AC3E}">
        <p14:creationId xmlns:p14="http://schemas.microsoft.com/office/powerpoint/2010/main" val="2717623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6 | 목표 1분25초 | 누적 7분25초]</a:t>
            </a:r>
          </a:p>
          <a:p>
            <a:r>
              <a:t>과제 개요입니다. 과제명은 '이기종 메모리 기반 서빙 엔진 개발'이고, 서로 다른 메모리가 섞인 시스템에서 AI 워크로드를 최적화하는 런타임을 설계해 당사 메모리 제품의 가치를 LLM 추론 성능으로 보여주는 것이 목적입니다.</a:t>
            </a:r>
          </a:p>
          <a:p/>
          <a:p>
            <a:r>
              <a:t>오른쪽 과제 범위에서 빨간 점선이 이번 과제의 범위입니다. 요청 라우팅과 스케줄링을 맡는 Inference Orchestrator, 즉 llm-d와, 토큰을 만드는 Inference Engine, 즉 vLLM이고, 오픈소스 프레임워크를 확장하는 방식입니다. 그 아래 Compute, Network Library와 Device Runtime은 가져다 씁니다.</a:t>
            </a:r>
          </a:p>
          <a:p/>
          <a:p>
            <a:r>
              <a:t>대상 메모리는 현세대 HBM, DRAM, SSD와 차세대 CXL-PNM, PIM-SSD이고 ScHBM과 HBF까지 시야에 두고 있습니다. 인력은 전체 국내 22명, SRCX 4명이며 제가 리딩하는 그룹은 국내 7명, SRCX 4명입니다. 올해 12개월은 2028년까지 36개월 과제의 첫 해입니다.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6</a:t>
            </a:fld>
            <a:endParaRPr lang="ko-KR" altLang="en-US"/>
          </a:p>
        </p:txBody>
      </p:sp>
    </p:spTree>
    <p:extLst>
      <p:ext uri="{BB962C8B-B14F-4D97-AF65-F5344CB8AC3E}">
        <p14:creationId xmlns:p14="http://schemas.microsoft.com/office/powerpoint/2010/main" val="27039258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7 | 목표 1분10초 | 누적 8분35초]</a:t>
            </a:r>
          </a:p>
          <a:p>
            <a:r>
              <a:t>요구사항은 수집과 분석, 정제 두 단계로 도출했습니다. 먼저 이해관계자 의견을 들었습니다. 오른쪽 표처럼 DRAM 설계팀에서 PIM, DRAM 솔루션팀에서 CXL-PNM, Flash 설계팀에서 HBF, 저희 SAIT에서 Samsung Custom HBM 요구를 받았고, 경영진의 신규 메모리 개발 요구와 개발 연구원의 우리 제품에서 AI 응용을 돌리고 싶다는 요구를 더했습니다. 메모리 제품 쪽 요구가 곧 설계의 입력입니다.</a:t>
            </a:r>
          </a:p>
          <a:p/>
          <a:p>
            <a:r>
              <a:t>이를 기능, 품질, 제약으로 분류하고 중복을 통합해 과제 범위를 정한 뒤, Use Case와 Domain Model을 분석해 Architecture Driver를 도출했습니다. 품질 속성은 QAW로 우선순위를 매겨, 최종적으로 설계에 영향을 주는 핵심 요구사항 11종, 즉 기능 4개, 품질 5개, 제약 2개를 선정했습니다.</a:t>
            </a:r>
          </a:p>
        </p:txBody>
      </p:sp>
      <p:sp>
        <p:nvSpPr>
          <p:cNvPr id="4" name="슬라이드 번호 개체 틀 3"/>
          <p:cNvSpPr>
            <a:spLocks noGrp="1"/>
          </p:cNvSpPr>
          <p:nvPr>
            <p:ph type="sldNum" sz="quarter" idx="5"/>
          </p:nvPr>
        </p:nvSpPr>
        <p:spPr/>
        <p:txBody>
          <a:bodyPr/>
          <a:lstStyle/>
          <a:p>
            <a:fld id="{4DB17B06-B204-4E73-B04E-053CD704EFD3}" type="slidenum">
              <a:rPr lang="ko-KR" altLang="en-US" smtClean="0"/>
              <a:t>7</a:t>
            </a:fld>
            <a:endParaRPr lang="ko-KR" altLang="en-US"/>
          </a:p>
        </p:txBody>
      </p:sp>
    </p:spTree>
    <p:extLst>
      <p:ext uri="{BB962C8B-B14F-4D97-AF65-F5344CB8AC3E}">
        <p14:creationId xmlns:p14="http://schemas.microsoft.com/office/powerpoint/2010/main" val="41656767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8 | 목표 50초 | 누적 9분25초]</a:t>
            </a:r>
          </a:p>
          <a:p>
            <a:r>
              <a:t>기능 요구사항은 네 가지입니다. FR01 추론 요청 관리, FR02 추론 스케줄링, FR03 LLM 추론 실행, FR04 KV 캐시 관리입니다. 요청을 받아 상태를 관리하고, 실행 순서와 배칭을 정해 자원에 할당하고, 모델을 실행해 토큰을 만들고, 그 과정의 KV 캐시를 할당, 저장, 재사용, 해제하는 흐름입니다.</a:t>
            </a:r>
          </a:p>
          <a:p/>
          <a:p>
            <a:r>
              <a:t>제약은 두 가지입니다. C01은 vLLM, llm-d 서빙 Framework 기반으로 개발한다는 것이고, C02는 LLM이 최대 1M 토큰의 Context를 지원해야 한다는 것입니다. 이 두 제약이 설계 대안의 범위를 한정합니다.</a:t>
            </a:r>
          </a:p>
        </p:txBody>
      </p:sp>
      <p:sp>
        <p:nvSpPr>
          <p:cNvPr id="4" name="슬라이드 번호 개체 틀 3"/>
          <p:cNvSpPr>
            <a:spLocks noGrp="1"/>
          </p:cNvSpPr>
          <p:nvPr>
            <p:ph type="sldNum" sz="quarter" idx="5"/>
          </p:nvPr>
        </p:nvSpPr>
        <p:spPr/>
        <p:txBody>
          <a:bodyPr/>
          <a:lstStyle/>
          <a:p>
            <a:fld id="{4DB17B06-B204-4E73-B04E-053CD704EFD3}" type="slidenum">
              <a:rPr lang="ko-KR" altLang="en-US" smtClean="0"/>
              <a:t>8</a:t>
            </a:fld>
            <a:endParaRPr lang="ko-KR" altLang="en-US"/>
          </a:p>
        </p:txBody>
      </p:sp>
    </p:spTree>
    <p:extLst>
      <p:ext uri="{BB962C8B-B14F-4D97-AF65-F5344CB8AC3E}">
        <p14:creationId xmlns:p14="http://schemas.microsoft.com/office/powerpoint/2010/main" val="13934587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10 | 목표 1분10초 | 누적 11분45초]</a:t>
            </a:r>
          </a:p>
          <a:p>
            <a:r>
              <a:t>그런데 이 Target은 일부러 불리하게 잡은 시스템입니다. Llama-3.1-70B BF16 분석 모델로 보면, GPU가 절반이라 prefill 처리량은 25,400에서 12,700 tok/s로 0.5배이고, HBM 대역폭이 절반이라 decode TPOT는 6.5ms에서 13.1ms로 두 배 느립니다. 일반 시나리오 처리량도 0.5배인데, 롱컨텍스트에서는 0.35배까지 떨어집니다. KV가 HBM에 상주하는 한 용량 한도 때문에 동시 처리 시퀀스가 11개에서 4개로 먼저 줄기 때문입니다.</a:t>
            </a:r>
          </a:p>
          <a:p/>
          <a:p>
            <a:r>
              <a:t>이 분석에는 PNM과 PIM 연산 경로를 쓰지 않았다는 점이 중요합니다. 즉 하드웨어만 바꾸면 성능은 0.35에서 0.5배이고 비용은 0.69배입니다. 이 간극을 소프트웨어로 메워 Baseline을 넘는 것이 이 과제의 도전이고, 이후 모든 품질 목표의 전제입니다.</a:t>
            </a:r>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10</a:t>
            </a:fld>
            <a:endParaRPr lang="ko-KR" altLang="en-US"/>
          </a:p>
        </p:txBody>
      </p:sp>
    </p:spTree>
    <p:extLst>
      <p:ext uri="{BB962C8B-B14F-4D97-AF65-F5344CB8AC3E}">
        <p14:creationId xmlns:p14="http://schemas.microsoft.com/office/powerpoint/2010/main" val="4193942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11 | 목표 1분15초 | 누적 13분00초]</a:t>
            </a:r>
          </a:p>
          <a:p>
            <a:r>
              <a:t>QAW에서 나온 품질 요구사항을 Utility Tree로 평가해서, 중요도 High이면서 난이도 Medium 이상인 다섯 개를 핵심으로 골랐습니다. 표의 위 다섯 개이고 모두 정량 목표가 있습니다.</a:t>
            </a:r>
          </a:p>
          <a:p/>
          <a:p>
            <a:r>
              <a:t>처리량은 TTFT 2초, TPOT 50ms SLO를 만족하는 최대 처리량이 Baseline의 1.5배 이상, 고부하 tail latency는 P99 30% 이상 감소, 확장성은 Scaling Efficiency 80% 초과, 변경 용이성은 새 메모리나 정책을 추가할 때 변경 모듈 6개 이하, 기능 정확성은 F1 하락이 Baseline 대비 1% 미만입니다. 목표값마다 근거도 적었습니다. 처리량은 이해관계자 요구, 확장 효율은 문헌 보고값, 변경 모듈은 오픈소스 커밋의 80%가 6개 파일 이하라는 데이터입니다.</a:t>
            </a:r>
          </a:p>
          <a:p/>
          <a:p>
            <a:r>
              <a:t>장애 대체와 진단 용이성은 중요도가 Medium이라 이번 설계 동인에서는 제외했습니다.</a:t>
            </a:r>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11</a:t>
            </a:fld>
            <a:endParaRPr lang="ko-KR" altLang="en-US"/>
          </a:p>
        </p:txBody>
      </p:sp>
    </p:spTree>
    <p:extLst>
      <p:ext uri="{BB962C8B-B14F-4D97-AF65-F5344CB8AC3E}">
        <p14:creationId xmlns:p14="http://schemas.microsoft.com/office/powerpoint/2010/main" val="19844617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12 | 목표 30초 | 누적 13분30초]</a:t>
            </a:r>
          </a:p>
          <a:p>
            <a:r>
              <a:t>이렇게 정리한 것이 아키텍처 드라이버입니다. 기능 4개, 품질 속성 5개, 제약 2개, 총 11개가 설계의 입력이고, 이를 관통하는 목표가 가운데 문장, 이기종 메모리를 활용해 LLM 추론 성능을 향상시키는 서빙 엔진 개발입니다.</a:t>
            </a:r>
          </a:p>
          <a:p/>
          <a:p>
            <a:r>
              <a:t>이후 각 설계 결정마다 이 열한 개 중 무엇을 위한 결정인지 표시하겠습니다.</a:t>
            </a:r>
          </a:p>
        </p:txBody>
      </p:sp>
      <p:sp>
        <p:nvSpPr>
          <p:cNvPr id="4" name="슬라이드 번호 개체 틀 3"/>
          <p:cNvSpPr>
            <a:spLocks noGrp="1"/>
          </p:cNvSpPr>
          <p:nvPr>
            <p:ph type="sldNum" sz="quarter" idx="5"/>
          </p:nvPr>
        </p:nvSpPr>
        <p:spPr/>
        <p:txBody>
          <a:bodyPr/>
          <a:lstStyle/>
          <a:p>
            <a:fld id="{4DB17B06-B204-4E73-B04E-053CD704EFD3}" type="slidenum">
              <a:rPr lang="ko-KR" altLang="en-US" smtClean="0"/>
              <a:t>12</a:t>
            </a:fld>
            <a:endParaRPr lang="ko-KR" altLang="en-US"/>
          </a:p>
        </p:txBody>
      </p:sp>
    </p:spTree>
    <p:extLst>
      <p:ext uri="{BB962C8B-B14F-4D97-AF65-F5344CB8AC3E}">
        <p14:creationId xmlns:p14="http://schemas.microsoft.com/office/powerpoint/2010/main" val="16536821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13 | 목표 1분00초 | 누적 14분30초]</a:t>
            </a:r>
          </a:p>
          <a:p>
            <a:r>
              <a:t>아키텍처 분석의 첫 단계, 컨텍스트 뷰입니다. 가운데가 우리가 만드는 이기종 메모리 기반 서빙 엔진입니다.</a:t>
            </a:r>
          </a:p>
          <a:p/>
          <a:p>
            <a:r>
              <a:t>외부에는 네 주체가 있습니다. AI 애플리케이션과 Agent Framework는 Query, Context, 요청 ID를 보내고 생성 토큰을 받습니다. 서비스 제공자는 SLO, 정책, 자원 구성을 주고 성능 지표와 Health 이벤트, 오류를 받습니다. Device 제공자는 Device Runtime과 Driver, Emulation API, HW 스펙을 제공하고, 시스템 제공자는 컴퓨트, 메모리, 네트워크 구성 정보를 제공합니다. 이 경계가 설계 범위이고, 신규 메모리는 Emulation API로 접한다는 점이 뒤의 검증 방식과 연결됩니다.</a:t>
            </a:r>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13</a:t>
            </a:fld>
            <a:endParaRPr lang="ko-KR" altLang="en-US"/>
          </a:p>
        </p:txBody>
      </p:sp>
    </p:spTree>
    <p:extLst>
      <p:ext uri="{BB962C8B-B14F-4D97-AF65-F5344CB8AC3E}">
        <p14:creationId xmlns:p14="http://schemas.microsoft.com/office/powerpoint/2010/main" val="15559190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14 | 목표 1분00초 | 누적 15분30초]</a:t>
            </a:r>
          </a:p>
          <a:p>
            <a:r>
              <a:t>설계 결정을 네 개로 나눈 논리입니다. 출발점은 KV 캐시가 점점 커진다는 문제이고, 비즈니스 드라이버는 이기종 메모리를 활용해 풀자는 것입니다. 해법의 축은 둘, 분산 배치와 데이터 재사용입니다.</a:t>
            </a:r>
          </a:p>
          <a:p/>
          <a:p>
            <a:r>
              <a:t>분산 배치의 첫 질문이 DP1, 어떤 데이터를 언제 어디에 둘 것인가입니다. 데이터가 여러 메모리에 흩어지면 DP2, Prefill과 Decode 연산을 어디서 수행할 것인가가 따라옵니다. 재사용 축의 DP3은 KV를 새로 만들지 않고 가진 KV의 재사용률을 높일 수 있느냐는 질문입니다. 그래도 서버 간 KV 전송이 여전히 병목이어서, DP4는 공유 메모리 구조로 전송 비용을 줄입니다. 배치, 연산 위치, 재사용, 공유가 서로 이어진 네 개의 결정입니다.</a:t>
            </a:r>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14</a:t>
            </a:fld>
            <a:endParaRPr lang="ko-KR" altLang="en-US"/>
          </a:p>
        </p:txBody>
      </p:sp>
    </p:spTree>
    <p:extLst>
      <p:ext uri="{BB962C8B-B14F-4D97-AF65-F5344CB8AC3E}">
        <p14:creationId xmlns:p14="http://schemas.microsoft.com/office/powerpoint/2010/main" val="34565279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15 | 목표 1분25초 | 누적 16분55초]</a:t>
            </a:r>
          </a:p>
          <a:p>
            <a:r>
              <a:t>전체 아키텍처의 요약 모듈 뷰입니다. 위쪽 Request Orchestrator는 llm-d 기반으로 요청을 받아 스케줄링과 라우팅을 하고, 아래 Inference Engine은 vLLM 기반으로 실제 생성을 합니다. 그 사이에 KV Pool, Data Management, Resource Management가 있고, 맨 아래에 Network와 Memory Pool, Shared Pool 같은 시스템 계층이 있습니다.</a:t>
            </a:r>
          </a:p>
          <a:p/>
          <a:p>
            <a:r>
              <a:t>노란색이 신규, 수정 모듈이고 나머지는 기존 vLLM 모듈이라 C01 제약을 지키는 확장 방식입니다. 테두리 색이 담당 DP로, 예를 들어 Data Migration Scheduler는 DP1, Execution Planner와 Router는 DP2, Blending Manager는 DP3, Metadata Client와 Shared Pool은 DP4입니다. 박스에는 각 DP가 겨냥하는 품질 속성을 표시했고, 상세는 뒤의 최종 모듈 뷰에서 다시 보겠습니다.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16 | 목표 1분05초 | 누적 18분00초]</a:t>
            </a:r>
          </a:p>
          <a:p>
            <a:r>
              <a:t>첫 번째 결정, DP1 데이터 이동 결정입니다. 배경부터 보면, Agent는 Multi-turn과 병렬 작업으로 컨텍스트와 동시 요청이 늘어 KV 요구량이 급증하고, Tool을 호출하는 동안 GPU는 다른 요청으로 넘어가지만 그 세션의 KV는 HBM에 idle 상태로 남습니다.</a:t>
            </a:r>
          </a:p>
          <a:p/>
          <a:p>
            <a:r>
              <a:t>왼쪽 Legacy 시스템은 HBM이 차면 KV를 버리고 필요하면 다시 계산합니다. 오른쪽 이기종 메모리 시스템은 버리는 대신 DRAM, CXL-PNM, SSD-PIM 같은 하위 계층으로 내렸다가 필요할 때 올립니다. 문제는 무엇을, 언제, 어디로 옮길지입니다. 자원 상태와 데이터의 접근 특성을 함께 보고 이동을 동적으로 결정하는 Migration 구조가 필요하다는 것이 DP1의 문제 정의입니다.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16</a:t>
            </a:fld>
            <a:endParaRPr lang="ko-KR" altLang="en-US"/>
          </a:p>
        </p:txBody>
      </p:sp>
    </p:spTree>
    <p:extLst>
      <p:ext uri="{BB962C8B-B14F-4D97-AF65-F5344CB8AC3E}">
        <p14:creationId xmlns:p14="http://schemas.microsoft.com/office/powerpoint/2010/main" val="19805623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17 | 목표 1분45초 | 누적 19분45초]</a:t>
            </a:r>
          </a:p>
          <a:p>
            <a:r>
              <a:t>DP1의 설계 대안입니다. 앞으로 모든 DP를 같은 형식으로 보여드립니다. 위쪽에 이 설계가 관여하는 기능, 품질, 제약을 표시했고, 표는 구조, 장단점, 품질 속성별 평가입니다.</a:t>
            </a:r>
          </a:p>
          <a:p/>
          <a:p>
            <a:r>
              <a:t>두 안의 차이는 상태 관측과 이동 결정을 어떻게 묶느냐입니다. 1안은 자원 상태를 우선합니다. HBM 사용량이 임계치를 넘으면 Threshold Trigger가 즉시 판단을 기동해 압박 구간이 짧고, 구조가 단순해 변경 영향이 작습니다. 반면 같은 자원 상태에서 서로 다른 접근 패턴을 구분하지 못해 처리량 개선은 2.1배에 그칩니다.</a:t>
            </a:r>
          </a:p>
          <a:p/>
          <a:p>
            <a:r>
              <a:t>2안은 데이터 특성을 우선합니다. 독립된 Decision Scheduler가 주기적으로 스냅샷을 보고 객체별 접근 특성에 맞춰 세밀하게 이동을 결정하고, 명령은 비동기 큐로 넘깁니다. 처리량은 3.3배로 앞서지만, 스냅샷만큼 stale해져 HBM 확보가 늦어 고부하 지연시간 개선이 55%에서 42%로 줄고, 새 데이터 특성을 추가할 때 변경 모듈도 2.25개에서 3.5개로 늘어납니다.</a:t>
            </a:r>
          </a:p>
          <a:p/>
          <a:p>
            <a:r>
              <a:t>처리량이 최우선 품질 속성이라 2안을 선택했고, stale 문제는 HBM에 올릴 때 점유 기한인 Lease를 부여해 주기적으로 재평가하는 tactic으로 보완했습니다. 보완 후 평가는 부록에 있습니다.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a:t>
            </a:fld>
            <a:endParaRPr lang="ko-KR" altLang="en-US"/>
          </a:p>
        </p:txBody>
      </p:sp>
    </p:spTree>
    <p:extLst>
      <p:ext uri="{BB962C8B-B14F-4D97-AF65-F5344CB8AC3E}">
        <p14:creationId xmlns:p14="http://schemas.microsoft.com/office/powerpoint/2010/main" val="2068589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18 | 목표 1분25초 | 누적 21분10초]</a:t>
            </a:r>
          </a:p>
          <a:p>
            <a:r>
              <a:t>두 번째 결정, DP2 연산 실행 위치입니다. 문제의 시작은 같습니다. 동시 요청이 늘면 새로 만든 KV가 HBM에 있던 idle 세션의 KV를 쫓아냅니다. 왼쪽 그래프는 Llama 70B, 문맥 128K에서 256K, H100 한 장에서의 goodput인데, 동시 세션 4개까지는 22 tok/s에서 83 tok/s로 늘다가 4개를 넘으면 급락해, 4개에서 12개로 3배 늘리면 처리량이 약 89% 떨어집니다. 모든 연산을 GPU에서만 하기 때문입니다.</a:t>
            </a:r>
          </a:p>
          <a:p/>
          <a:p>
            <a:r>
              <a:t>DP1로 KV가 여러 메모리에 분산되면 선택지가 생깁니다. 오른쪽 예처럼 Decode할 세션의 KV가 CXL에 있다면, GPU로 옮겨 연산하거나 KV가 있는 CXL-PNM에서 직접 연산할 수 있고, 후자는 GPU 대비 연산 latency가 20% 개선되는 결과가 있습니다. 하지만 어느 쪽이 유리한지는 KV 위치, 전송 비용, 자원 상태에 따라 바뀝니다. 그래서 실행 위치를 동적으로 정하는 스케줄링 구조가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02373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19 | 목표 1분40초 | 누적 22분50초]</a:t>
            </a:r>
          </a:p>
          <a:p>
            <a:r>
              <a:t>DP2의 핵심 질문은 실행 위치를 언제 계산하느냐입니다. 내비게이션에 비유하겠습니다.</a:t>
            </a:r>
          </a:p>
          <a:p/>
          <a:p>
            <a:r>
              <a:t>1안은 출발 직전에 경로를 계산하고, 그 결과를 기다렸다가 출발하는 방식입니다. 스케줄링하는 순간 Cost Evaluator가 비용을 계산해 위치를 정하므로 최신 상태가 반영되고, 계획이 확정되면 즉시 실행되어 tail latency 완화에 유리합니다. 하지만 비용 계산이 critical path 안에 들어가 매 요청에 지연이 더해지고, 연산 자원이 늘수록 계획 비용도 커집니다. 처리량은 2.3배, 고부하 지연시간은 57% 감소입니다.</a:t>
            </a:r>
          </a:p>
          <a:p/>
          <a:p>
            <a:r>
              <a:t>2안은 미리 경로를 계산해 두는 방식입니다. Plan과 Decision을 분리해서, Planner가 critical path 밖에서 비동기로 Plan Cache에 계획을 쌓고, Router는 캐시를 조회해 검증만 합니다. 판단 지연이 사라져 처리량이 3.7배까지 오르고, 계획 컴포넌트를 독립적으로 확장할 수 있습니다. 대신 가는 도중 정체가 생기듯, 고부하에서 계획과 실제 상태가 어긋나면 재계획이 발생해 지연 개선이 32%로 줄어듭니다.</a:t>
            </a:r>
          </a:p>
          <a:p/>
          <a:p>
            <a:r>
              <a:t>처리량을 위해 2안을 택하고, 약점은 다음 장에서 보완합니다.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19</a:t>
            </a:fld>
            <a:endParaRPr lang="ko-KR" altLang="en-US"/>
          </a:p>
        </p:txBody>
      </p:sp>
    </p:spTree>
    <p:extLst>
      <p:ext uri="{BB962C8B-B14F-4D97-AF65-F5344CB8AC3E}">
        <p14:creationId xmlns:p14="http://schemas.microsoft.com/office/powerpoint/2010/main" val="33897266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20 | 목표 1분10초 | 누적 24분00초]</a:t>
            </a:r>
          </a:p>
          <a:p>
            <a:r>
              <a:t>2안의 약점은 mismatch가 났을 때의 재계획 비용이었습니다. 세 가지 tactic을 넣었습니다.</a:t>
            </a:r>
          </a:p>
          <a:p/>
          <a:p>
            <a:r>
              <a:t>첫째, 계획할 때 1순위만 만들지 않고 k개의 대안을 순위와 함께 저장해 두어, mismatch가 나면 비용을 다시 계산하지 않고 다음 순위를 순차 조회합니다. 둘째, 계획에 유효 기간을 두어 plan age가 W 슬롯에 평균 서비스 시간을 곱한 값을 넘으면 폐기합니다. 셋째, 이 두 값을 부하에 따라 조절하는 피드백입니다. 부하가 높으면 W를 줄이고 k를 늘려 계획을 짧고 넓게, 부하가 낮으면 W를 늘리고 k를 줄여 완전한 사전 계획으로 갑니다.</a:t>
            </a:r>
          </a:p>
          <a:p/>
          <a:p>
            <a:r>
              <a:t>그 결과 고부하 지연시간 개선이 32%에서 57%로 올라 1안과 같은 수준이 됐고, 처리량 3.7배는 유지했습니다. 처리량과 지연을 함께 얻은 이 구조가 DP2의 최종 선택입니다.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20</a:t>
            </a:fld>
            <a:endParaRPr lang="ko-KR" altLang="en-US"/>
          </a:p>
        </p:txBody>
      </p:sp>
    </p:spTree>
    <p:extLst>
      <p:ext uri="{BB962C8B-B14F-4D97-AF65-F5344CB8AC3E}">
        <p14:creationId xmlns:p14="http://schemas.microsoft.com/office/powerpoint/2010/main" val="10116143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21 | 목표 1분15초 | 누적 25분15초]</a:t>
            </a:r>
          </a:p>
          <a:p>
            <a:r>
              <a:t>세 번째 결정, DP3 KV 캐시 재사용입니다. DP1과 DP2가 KV를 어디에 둘지, 어디서 연산할지였다면, DP3은 연산 자체를 줄이는 접근입니다.</a:t>
            </a:r>
          </a:p>
          <a:p/>
          <a:p>
            <a:r>
              <a:t>왼쪽이 기존 Prefix Caching입니다. 요청 1이 청크 1, 2, 3, 4의 KV를 만들어 두었을 때, 요청 2가 같은 순서로 시작해야만 재사용하고, 순서가 2, 1, 3, 4로 바뀌면 첫 토큰부터 불일치해서 전부 다시 계산합니다. 문서나 도구 결과의 순서가 바뀌는 워크로드에서는 재사용률이 낮을 수밖에 없습니다.</a:t>
            </a:r>
          </a:p>
          <a:p/>
          <a:p>
            <a:r>
              <a:t>그래서 오른쪽처럼 순서가 달라도 가진 KV를 최대한 재사용하고, 정확도를 위해 필요한 토큰만 선택적으로 재계산하는 Blending을 씁니다. 유사도를 계산하고, 재사용할 토큰과 재계산할 토큰을 고른 뒤, 고른 토큰만 재계산하는 4단계입니다. 설계 과제는 정확도를 보장하면서 재사용률을 높여 메모리 압박과 지연을 줄이는 구조입니다.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66900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22 | 목표 1분40초 | 누적 26분55초]</a:t>
            </a:r>
          </a:p>
          <a:p>
            <a:r>
              <a:t>DP3의 두 대안은 4단계 분석을 언제 하느냐가 다릅니다.</a:t>
            </a:r>
          </a:p>
          <a:p/>
          <a:p>
            <a:r>
              <a:t>1안 Pipe-and-Filter는 요청마다 유사도 계산부터 선택적 재계산까지 전체 체인을 실행합니다. 실제 Query를 반영하므로 정확도 유지에 유리해 F1 하락이 0.27%에 그치고, 정책을 바꿀 때 필터 하나만 교체하면 되고 사전 저장 데이터도 없어 변경 모듈이 1.25개로 가장 작습니다. 반면 같은 Query가 반복되면 체인을 다시 돌려 중복 계산이 생기고, 처리량은 2.4배입니다.</a:t>
            </a:r>
          </a:p>
          <a:p/>
          <a:p>
            <a:r>
              <a:t>2안 Shared Repository는 워크로드별 대표 Query로 분석을 한 번만 오프라인에서 수행하고, 재사용 KV와 재계산 위치를 저장소에 둡니다. 서빙 경로는 읽기만 하고 Validator가 stale해진 위치를 보정하므로 처리량이 4.2배로 높습니다. 대신 사전에 정한 위치가 실제 Query와 어긋나면 정확도가 떨어져 하락이 0.7%로 커지고, 정책을 바꾸면 저장소 스키마와 Validator를 같이 고치고 분석을 전량 다시 해야 해서 변경 모듈이 3.75개입니다.</a:t>
            </a:r>
          </a:p>
          <a:p/>
          <a:p>
            <a:r>
              <a:t>정확도 1% 이내라는 기준을 두 안 모두 통과하므로, 먼저 1안의 약점을 보완해 공정하게 비교하겠습니다.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22</a:t>
            </a:fld>
            <a:endParaRPr lang="ko-KR" altLang="en-US"/>
          </a:p>
        </p:txBody>
      </p:sp>
    </p:spTree>
    <p:extLst>
      <p:ext uri="{BB962C8B-B14F-4D97-AF65-F5344CB8AC3E}">
        <p14:creationId xmlns:p14="http://schemas.microsoft.com/office/powerpoint/2010/main" val="19977295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23 | 목표 1분15초 | 누적 28분10초]</a:t>
            </a:r>
          </a:p>
          <a:p>
            <a:r>
              <a:t>1안의 약점인 중복 계산을 보완한 결과입니다. 같은 서명의 요청은 Filter Result Cache에서 선정 결과를 찾아 3단계 체인을 통째로 건너뛰고, miss인 요청들은 Chain Batcher가 같은 KV 블록을 쓰는 것끼리 묶어 요청 수와 무관하게 체인을 한 번만 실행합니다. 처리량은 2.4배에서 3.3배로 올랐고, 정확도 하락은 0.27%를 유지했습니다. 대신 캐시와 배처가 추가되어 변경 모듈은 1.25개에서 2.5개로 늘었습니다.</a:t>
            </a:r>
          </a:p>
          <a:p/>
          <a:p>
            <a:r>
              <a:t>그래도 2안의 4.2배에는 못 미치고, 2안의 정확도 하락 0.7%는 제약 안입니다. 그래서 DP3은 2안을 선택했습니다. 다만 2안은 요청마다 KV를 복사해 HBM이 중복되는 약점이 있어, 재사용 KV는 요청 간 공유하는 Base로, 재계산분만 요청별 Delta로 두는 레이아웃으로 보완했고 이것이 최종 구조에 반영됩니다.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23</a:t>
            </a:fld>
            <a:endParaRPr lang="ko-KR" altLang="en-US"/>
          </a:p>
        </p:txBody>
      </p:sp>
    </p:spTree>
    <p:extLst>
      <p:ext uri="{BB962C8B-B14F-4D97-AF65-F5344CB8AC3E}">
        <p14:creationId xmlns:p14="http://schemas.microsoft.com/office/powerpoint/2010/main" val="3321293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24 | 목표 1분10초 | 누적 29분20초]</a:t>
            </a:r>
          </a:p>
          <a:p>
            <a:r>
              <a:t>네 번째 결정, DP4 서버 간 KV 캐시 공유입니다. DP2에서 최적의 연산 위치를 골라도 노드 간 KV 전송 비용은 남습니다.</a:t>
            </a:r>
          </a:p>
          <a:p/>
          <a:p>
            <a:r>
              <a:t>왼쪽 메시지 패싱 구조에서는 P 노드와 D 노드가 Turn마다 KV를 주고받아 전송이 누적됩니다. 오른쪽처럼 CXL 기반 공유 메모리 풀을 두면 KV 위치가 노드에 묶이지 않고 요청 간에 직접 참조할 수 있어 전송이 줄어듭니다. 대신 동시 쓰기와 stale read 같은 정합성 문제가 생기므로, 노드 간 Coherency 보장이 관건입니다.</a:t>
            </a:r>
          </a:p>
          <a:p/>
          <a:p>
            <a:r>
              <a:t>다른 DP와의 관계도 있습니다. DP1의 데이터 이동 범위를 서버 간으로 넓혀 참조가 많은 KV를 공유 풀로 보내고, DP2의 비용 기반 P/D 노드 선택에서 전송 비용을 줄여 줍니다. 정합성을 보장하면서 전송과 동기화 비용을 최소화하는 SW 구조가 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1462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[발표 스크립트 | 슬라이드 25 | 목표 1분30초 | 누적 30분50초]</a:t>
            </a:r>
          </a:p>
          <a:p>
            <a:r>
              <a:t>DP4의 두 대안은 공유 메모리의 메타데이터를 누가 갱신하느냐입니다.</a:t>
            </a:r>
          </a:p>
          <a:p/>
          <a:p>
            <a:r>
              <a:t>1안은 중앙 Metadata Server가 모든 갱신을 관리하고 각 노드가 클라이언트로 요청하는 구조입니다. 동기화를 한곳에서 일괄 처리해 요청당 오버헤드가 작고 순서와 동시성을 제어하기 쉬워, 처리량 2.8배, 고부하 지연시간 52% 감소로 앞섭니다. 하지만 요청이 서버에 몰리면 병목이 되고, 노드가 늘수록 서버 처리 용량이 한계가 됩니다.</a:t>
            </a:r>
          </a:p>
          <a:p/>
          <a:p>
            <a:r>
              <a:t>2안은 메타데이터를 공유 메모리 풀에 두고 모든 노드가 락으로 직접 갱신합니다. 중앙 병목이 없고 노드별로 병렬 처리되어 확장 효율이 96%로 높지만, 락 획득 오버헤드와 고부하 시 락 경합으로 지연 편차가 커져 처리량은 2.4배, 지연 개선은 44%입니다.</a:t>
            </a:r>
          </a:p>
          <a:p/>
          <a:p>
            <a:r>
              <a:t>처리량과 고부하 지연시간의 우선순위가 높아 1안을 택하고, 약점인 확장성은 메타데이터를 KV 해시로 샤딩해 shard별 독립 Worker를 두는 방식으로 보완했습니다. 중앙 관리 인터페이스는 유지하면서 서버 처리량을 병렬로 늘리는 방법이고, 보완 결과는 부록에 있습니다.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25</a:t>
            </a:fld>
            <a:endParaRPr lang="ko-KR" altLang="en-US"/>
          </a:p>
        </p:txBody>
      </p:sp>
    </p:spTree>
    <p:extLst>
      <p:ext uri="{BB962C8B-B14F-4D97-AF65-F5344CB8AC3E}">
        <p14:creationId xmlns:p14="http://schemas.microsoft.com/office/powerpoint/2010/main" val="19162093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26 | 목표 45초 | 누적 31분35초]</a:t>
            </a:r>
          </a:p>
          <a:p>
            <a:r>
              <a:t>네 개의 DP가 11개 드라이버를 모두 덮는지 확인한 Coverage입니다. 세로가 DP, 가로가 기능, 품질, 제약입니다.</a:t>
            </a:r>
          </a:p>
          <a:p/>
          <a:p>
            <a:r>
              <a:t>기능은 F1부터 F4까지 모두 하나 이상의 DP가 다룹니다. 품질은 처리량 Q1을 네 DP가 모두 겨냥하고, 고부하 지연시간 Q2는 DP1, 2, 4, 확장성 Q3은 DP2와 DP4, 변경 용이성 Q4는 DP1과 DP3, 기능 정확성 Q5는 DP3이 맡습니다. 제약 C1은 모든 DP가, C2는 DP4를 뺀 세 DP가 해당합니다. 빈 열이 없다는 것이 이 표의 요점입니다.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27 | 목표 1분10초 | 누적 32분45초]</a:t>
            </a:r>
          </a:p>
          <a:p>
            <a:r>
              <a:t>각 DP에서 선택한 안을 합친 최종 모듈 뷰입니다. DP1은 2안, 상태와 이동 결정을 분리하고 Lease를 더한 구조입니다. DP2는 2안, Plan과 Decision을 분리하고 Feedback으로 보완한 구조, DP3은 2안, Shared Repository에 Base/Delta 레이아웃을 더한 구조, DP4는 1안, 중앙 Metadata Server에 Sharding을 더한 구조입니다.</a:t>
            </a:r>
          </a:p>
          <a:p/>
          <a:p>
            <a:r>
              <a:t>앞의 요약 뷰와 달리 보완 tactic이 모두 반영된 상태입니다. DP3의 Offline Analyzer와 Plan Store가 새로 생겼고, Admission Controller가 요청 경로의 스케줄러와 맞물립니다. 노란색이 신규, 수정 모듈, 테두리 색이 담당 DP이며, 나머지는 기존 vLLM 모듈을 그대로 씁니다.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28 | 목표 1분10초 | 누적 33분55초]</a:t>
            </a:r>
          </a:p>
          <a:p>
            <a:r>
              <a:t>런타임 구조인 C&amp;C 뷰입니다. 프로세스는 vLLM 구조를 그대로 따릅니다. API Server, 스케줄러가 있는 EngineCore, GPU별 Worker가 ZMQ와 공유 메모리 큐로 통신합니다. 여기에 두 프로세스가 새로 붙습니다. DP3의 Offline Analyzer는 서빙 밖에서 도는 배치 작업이고, DP4의 Metadata Server는 shard별 Worker로 메타데이터를 처리합니다.</a:t>
            </a:r>
          </a:p>
          <a:p/>
          <a:p>
            <a:r>
              <a:t>DP1의 이동 로직은 vLLM의 KV Connector 인터페이스를 scheduler와 worker 양쪽에 구현해 연결하므로 서빙 경로 수정이 최소화됩니다. 하단의 Common Memory Backend 인터페이스 뒤에 HBM, DRAM, SSD와, 시뮬레이션으로 대체하는 CXL-PNM, ScHBM, HBF, 그리고 CXL 공유 풀이 놓입니다.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29 | 목표 55초 | 누적 34분50초]</a:t>
            </a:r>
          </a:p>
          <a:p>
            <a:r>
              <a:t>배치 뷰입니다. 왼쪽 단일 노드는 GPU 8장 서버 한 대에 EngineCore와 Worker 8개가 올라가고, DP1에서 DP3 모듈이 그 프로세스 안에 plug-in으로 들어갑니다. 평가는 H100과 B200 시스템에서 합니다.</a:t>
            </a:r>
          </a:p>
          <a:p/>
          <a:p>
            <a:r>
              <a:t>오른쪽 멀티 노드는 GPU 서버 두 대를 P 노드와 D 노드로 두고 CXL 공유 메모리 풀과 Metadata Server를 붙인 구성으로, DP4가 여기서 동작합니다. 서버 간 연결은 PCIe 64GB/s입니다. 차세대 메모리의 성능은 시뮬레이션으로 반영하고 device runtime 오버헤드는 범위 밖이라는 점을, 검증 결과를 해석하는 전제로 명시해 두었습니다.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 스크립트 | 슬라이드 30 | 목표 1분35초 | 누적 36분25초]</a:t>
            </a:r>
          </a:p>
          <a:p>
            <a:r>
              <a:t>이제 구현 및 검증 결과입니다. 앞서 정한 다섯 개 품질 요구사항을 하나씩 측정했고, 모두 목표를 달성했습니다.</a:t>
            </a:r>
          </a:p>
          <a:p/>
          <a:p>
            <a:r>
              <a:t>QA-01 처리량은 SLO를 만족하는 최대 처리량이 Baseline 대비 2.34배로 목표 2배를 넘었습니다. 아래 화면이 측정 로그입니다.</a:t>
            </a:r>
          </a:p>
          <a:p/>
          <a:p>
            <a:r>
              <a:t>QA-02 HBM 점유율은 감소율 20% 이상이 목표인데, DP3의 KV 재사용이 25% 감소로 달성했습니다. 솔직하게 말씀드리면 DP1은 5%, DP2는 8%로 단독으로는 미달이었고, HBM 절감은 DP3가 책임지는 구조입니다. 이 점은 향후 아키텍처 개선 사항으로 다루겠습니다.</a:t>
            </a:r>
          </a:p>
          <a:p/>
          <a:p>
            <a:r>
              <a:t>QA-03 고부하 tail latency는 P99 30% 감소, 배율로 1.43배 이상이 목표인데, DP1이 2.14, DP2 2.35, DP3 2.76, DP4 3.36으로 모두 넘었고 DP4가 가장 큽니다.</a:t>
            </a:r>
          </a:p>
          <a:p/>
          <a:p>
            <a:r>
              <a:t>QA-04 확장성은 N=16 기준 Scaling Efficiency가 DP2 97%, DP4 99%로 목표 80%를 넉넉히 넘었습니다. QA-05 변경 용이성은 변경 모듈 5개 이하가 목표인데, DP1 변경 시나리오에서 2.5개, 0.51 인월로 목표 1.0 인월 이내였습니다.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40795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34</a:t>
            </a:fld>
            <a:endParaRPr lang="ko-KR" altLang="en-US"/>
          </a:p>
        </p:txBody>
      </p:sp>
    </p:spTree>
    <p:extLst>
      <p:ext uri="{BB962C8B-B14F-4D97-AF65-F5344CB8AC3E}">
        <p14:creationId xmlns:p14="http://schemas.microsoft.com/office/powerpoint/2010/main" val="22549216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35</a:t>
            </a:fld>
            <a:endParaRPr lang="ko-KR" altLang="en-US"/>
          </a:p>
        </p:txBody>
      </p:sp>
    </p:spTree>
    <p:extLst>
      <p:ext uri="{BB962C8B-B14F-4D97-AF65-F5344CB8AC3E}">
        <p14:creationId xmlns:p14="http://schemas.microsoft.com/office/powerpoint/2010/main" val="92171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36</a:t>
            </a:fld>
            <a:endParaRPr lang="ko-KR" altLang="en-US"/>
          </a:p>
        </p:txBody>
      </p:sp>
    </p:spTree>
    <p:extLst>
      <p:ext uri="{BB962C8B-B14F-4D97-AF65-F5344CB8AC3E}">
        <p14:creationId xmlns:p14="http://schemas.microsoft.com/office/powerpoint/2010/main" val="243007186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37</a:t>
            </a:fld>
            <a:endParaRPr lang="ko-KR" altLang="en-US"/>
          </a:p>
        </p:txBody>
      </p:sp>
    </p:spTree>
    <p:extLst>
      <p:ext uri="{BB962C8B-B14F-4D97-AF65-F5344CB8AC3E}">
        <p14:creationId xmlns:p14="http://schemas.microsoft.com/office/powerpoint/2010/main" val="33424219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38</a:t>
            </a:fld>
            <a:endParaRPr lang="ko-KR" altLang="en-US"/>
          </a:p>
        </p:txBody>
      </p:sp>
    </p:spTree>
    <p:extLst>
      <p:ext uri="{BB962C8B-B14F-4D97-AF65-F5344CB8AC3E}">
        <p14:creationId xmlns:p14="http://schemas.microsoft.com/office/powerpoint/2010/main" val="7886841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39</a:t>
            </a:fld>
            <a:endParaRPr lang="ko-KR" altLang="en-US"/>
          </a:p>
        </p:txBody>
      </p:sp>
    </p:spTree>
    <p:extLst>
      <p:ext uri="{BB962C8B-B14F-4D97-AF65-F5344CB8AC3E}">
        <p14:creationId xmlns:p14="http://schemas.microsoft.com/office/powerpoint/2010/main" val="447266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40</a:t>
            </a:fld>
            <a:endParaRPr lang="ko-KR" altLang="en-US"/>
          </a:p>
        </p:txBody>
      </p:sp>
    </p:spTree>
    <p:extLst>
      <p:ext uri="{BB962C8B-B14F-4D97-AF65-F5344CB8AC3E}">
        <p14:creationId xmlns:p14="http://schemas.microsoft.com/office/powerpoint/2010/main" val="157813068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41</a:t>
            </a:fld>
            <a:endParaRPr lang="ko-KR" altLang="en-US"/>
          </a:p>
        </p:txBody>
      </p:sp>
    </p:spTree>
    <p:extLst>
      <p:ext uri="{BB962C8B-B14F-4D97-AF65-F5344CB8AC3E}">
        <p14:creationId xmlns:p14="http://schemas.microsoft.com/office/powerpoint/2010/main" val="8048144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2860675" y="952500"/>
            <a:ext cx="4560888" cy="2566988"/>
          </a:xfrm>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pPr marL="0" marR="0" lvl="0" indent="0" algn="r" defTabSz="990752" rtl="0" eaLnBrk="1" fontAlgn="auto" latinLnBrk="1" hangingPunct="1">
              <a:lnSpc>
                <a:spcPct val="100000"/>
              </a:lnSpc>
              <a:spcBef>
                <a:spcPts val="0"/>
              </a:spcBef>
              <a:spcAft>
                <a:spcPts val="0"/>
              </a:spcAft>
              <a:buClrTx/>
              <a:buSzTx/>
              <a:buFontTx/>
              <a:buNone/>
              <a:tabLst/>
              <a:defRPr/>
            </a:pPr>
            <a:fld id="{9D2F056C-5338-4C48-9E39-2596836312FB}" type="slidenum">
              <a:rPr kumimoji="1" lang="ja-JP" altLang="en-US" sz="1300" b="0" i="0" u="none" strike="noStrike" kern="1200" cap="none" spc="0" normalizeH="0" baseline="0" noProof="0">
                <a:ln>
                  <a:noFill/>
                </a:ln>
                <a:solidFill>
                  <a:prstClr val="black"/>
                </a:solidFill>
                <a:effectLst/>
                <a:uLnTx/>
                <a:uFillTx/>
                <a:latin typeface="맑은 고딕" panose="020F0502020204030204"/>
                <a:ea typeface="游ゴシック" panose="020B0400000000000000" pitchFamily="34" charset="-128"/>
                <a:cs typeface="+mn-cs"/>
              </a:rPr>
              <a:pPr marL="0" marR="0" lvl="0" indent="0" algn="r" defTabSz="990752" rtl="0" eaLnBrk="1" fontAlgn="auto" latinLnBrk="1" hangingPunct="1">
                <a:lnSpc>
                  <a:spcPct val="100000"/>
                </a:lnSpc>
                <a:spcBef>
                  <a:spcPts val="0"/>
                </a:spcBef>
                <a:spcAft>
                  <a:spcPts val="0"/>
                </a:spcAft>
                <a:buClrTx/>
                <a:buSzTx/>
                <a:buFontTx/>
                <a:buNone/>
                <a:tabLst/>
                <a:defRPr/>
              </a:pPr>
              <a:t>44</a:t>
            </a:fld>
            <a:endParaRPr kumimoji="1" lang="ja-JP" altLang="en-US" sz="1300" b="0" i="0" u="none" strike="noStrike" kern="1200" cap="none" spc="0" normalizeH="0" baseline="0" noProof="0">
              <a:ln>
                <a:noFill/>
              </a:ln>
              <a:solidFill>
                <a:prstClr val="black"/>
              </a:solidFill>
              <a:effectLst/>
              <a:uLnTx/>
              <a:uFillTx/>
              <a:latin typeface="맑은 고딕" panose="020F0502020204030204"/>
              <a:ea typeface="游ゴシック" panose="020B0400000000000000" pitchFamily="34" charset="-128"/>
              <a:cs typeface="+mn-cs"/>
            </a:endParaRPr>
          </a:p>
        </p:txBody>
      </p:sp>
    </p:spTree>
    <p:extLst>
      <p:ext uri="{BB962C8B-B14F-4D97-AF65-F5344CB8AC3E}">
        <p14:creationId xmlns:p14="http://schemas.microsoft.com/office/powerpoint/2010/main" val="359028356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48</a:t>
            </a:fld>
            <a:endParaRPr lang="ko-KR" altLang="en-US"/>
          </a:p>
        </p:txBody>
      </p:sp>
    </p:spTree>
    <p:extLst>
      <p:ext uri="{BB962C8B-B14F-4D97-AF65-F5344CB8AC3E}">
        <p14:creationId xmlns:p14="http://schemas.microsoft.com/office/powerpoint/2010/main" val="999566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49</a:t>
            </a:fld>
            <a:endParaRPr lang="ko-KR" altLang="en-US"/>
          </a:p>
        </p:txBody>
      </p:sp>
    </p:spTree>
    <p:extLst>
      <p:ext uri="{BB962C8B-B14F-4D97-AF65-F5344CB8AC3E}">
        <p14:creationId xmlns:p14="http://schemas.microsoft.com/office/powerpoint/2010/main" val="34833440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5"/>
          </p:nvPr>
        </p:nvSpPr>
        <p:spPr/>
        <p:txBody>
          <a:bodyPr/>
          <a:lstStyle/>
          <a:p>
            <a:fld id="{4DB17B06-B204-4E73-B04E-053CD704EFD3}" type="slidenum">
              <a:rPr lang="ko-KR" altLang="en-US" smtClean="0"/>
              <a:t>51</a:t>
            </a:fld>
            <a:endParaRPr lang="ko-KR" altLang="en-US"/>
          </a:p>
        </p:txBody>
      </p:sp>
    </p:spTree>
    <p:extLst>
      <p:ext uri="{BB962C8B-B14F-4D97-AF65-F5344CB8AC3E}">
        <p14:creationId xmlns:p14="http://schemas.microsoft.com/office/powerpoint/2010/main" val="309633626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52</a:t>
            </a:fld>
            <a:endParaRPr lang="ko-KR" altLang="en-US"/>
          </a:p>
        </p:txBody>
      </p:sp>
    </p:spTree>
    <p:extLst>
      <p:ext uri="{BB962C8B-B14F-4D97-AF65-F5344CB8AC3E}">
        <p14:creationId xmlns:p14="http://schemas.microsoft.com/office/powerpoint/2010/main" val="335714882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53</a:t>
            </a:fld>
            <a:endParaRPr lang="ko-KR" altLang="en-US"/>
          </a:p>
        </p:txBody>
      </p:sp>
    </p:spTree>
    <p:extLst>
      <p:ext uri="{BB962C8B-B14F-4D97-AF65-F5344CB8AC3E}">
        <p14:creationId xmlns:p14="http://schemas.microsoft.com/office/powerpoint/2010/main" val="345093705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54</a:t>
            </a:fld>
            <a:endParaRPr lang="ko-KR" altLang="en-US"/>
          </a:p>
        </p:txBody>
      </p:sp>
    </p:spTree>
    <p:extLst>
      <p:ext uri="{BB962C8B-B14F-4D97-AF65-F5344CB8AC3E}">
        <p14:creationId xmlns:p14="http://schemas.microsoft.com/office/powerpoint/2010/main" val="14156246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57</a:t>
            </a:fld>
            <a:endParaRPr lang="ko-KR" altLang="en-US"/>
          </a:p>
        </p:txBody>
      </p:sp>
    </p:spTree>
    <p:extLst>
      <p:ext uri="{BB962C8B-B14F-4D97-AF65-F5344CB8AC3E}">
        <p14:creationId xmlns:p14="http://schemas.microsoft.com/office/powerpoint/2010/main" val="34740519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5"/>
          </p:nvPr>
        </p:nvSpPr>
        <p:spPr/>
        <p:txBody>
          <a:bodyPr/>
          <a:lstStyle/>
          <a:p>
            <a:fld id="{4DB17B06-B204-4E73-B04E-053CD704EFD3}" type="slidenum">
              <a:rPr lang="ko-KR" altLang="en-US" smtClean="0"/>
              <a:t>58</a:t>
            </a:fld>
            <a:endParaRPr lang="ko-KR" altLang="en-US"/>
          </a:p>
        </p:txBody>
      </p:sp>
    </p:spTree>
    <p:extLst>
      <p:ext uri="{BB962C8B-B14F-4D97-AF65-F5344CB8AC3E}">
        <p14:creationId xmlns:p14="http://schemas.microsoft.com/office/powerpoint/2010/main" val="25784844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14661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760199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0605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76</a:t>
            </a:fld>
            <a:endParaRPr lang="ko-KR" altLang="en-US"/>
          </a:p>
        </p:txBody>
      </p:sp>
    </p:spTree>
    <p:extLst>
      <p:ext uri="{BB962C8B-B14F-4D97-AF65-F5344CB8AC3E}">
        <p14:creationId xmlns:p14="http://schemas.microsoft.com/office/powerpoint/2010/main" val="31367845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77</a:t>
            </a:fld>
            <a:endParaRPr lang="ko-KR" altLang="en-US"/>
          </a:p>
        </p:txBody>
      </p:sp>
    </p:spTree>
    <p:extLst>
      <p:ext uri="{BB962C8B-B14F-4D97-AF65-F5344CB8AC3E}">
        <p14:creationId xmlns:p14="http://schemas.microsoft.com/office/powerpoint/2010/main" val="417661382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78</a:t>
            </a:fld>
            <a:endParaRPr lang="ko-KR" altLang="en-US"/>
          </a:p>
        </p:txBody>
      </p:sp>
    </p:spTree>
    <p:extLst>
      <p:ext uri="{BB962C8B-B14F-4D97-AF65-F5344CB8AC3E}">
        <p14:creationId xmlns:p14="http://schemas.microsoft.com/office/powerpoint/2010/main" val="4265661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63263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152703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196929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498595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106821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16720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839330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51005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287388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903892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107</a:t>
            </a:fld>
            <a:endParaRPr lang="ko-KR" altLang="en-US"/>
          </a:p>
        </p:txBody>
      </p:sp>
    </p:spTree>
    <p:extLst>
      <p:ext uri="{BB962C8B-B14F-4D97-AF65-F5344CB8AC3E}">
        <p14:creationId xmlns:p14="http://schemas.microsoft.com/office/powerpoint/2010/main" val="232003478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529542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110</a:t>
            </a:fld>
            <a:endParaRPr lang="ko-KR" altLang="en-US"/>
          </a:p>
        </p:txBody>
      </p:sp>
    </p:spTree>
    <p:extLst>
      <p:ext uri="{BB962C8B-B14F-4D97-AF65-F5344CB8AC3E}">
        <p14:creationId xmlns:p14="http://schemas.microsoft.com/office/powerpoint/2010/main" val="259589579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111</a:t>
            </a:fld>
            <a:endParaRPr lang="ko-KR" altLang="en-US"/>
          </a:p>
        </p:txBody>
      </p:sp>
    </p:spTree>
    <p:extLst>
      <p:ext uri="{BB962C8B-B14F-4D97-AF65-F5344CB8AC3E}">
        <p14:creationId xmlns:p14="http://schemas.microsoft.com/office/powerpoint/2010/main" val="370887161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555257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986191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449843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206467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121</a:t>
            </a:fld>
            <a:endParaRPr lang="ko-KR" altLang="en-US"/>
          </a:p>
        </p:txBody>
      </p:sp>
    </p:spTree>
    <p:extLst>
      <p:ext uri="{BB962C8B-B14F-4D97-AF65-F5344CB8AC3E}">
        <p14:creationId xmlns:p14="http://schemas.microsoft.com/office/powerpoint/2010/main" val="429438269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130</a:t>
            </a:fld>
            <a:endParaRPr lang="ko-KR" altLang="en-US"/>
          </a:p>
        </p:txBody>
      </p:sp>
    </p:spTree>
    <p:extLst>
      <p:ext uri="{BB962C8B-B14F-4D97-AF65-F5344CB8AC3E}">
        <p14:creationId xmlns:p14="http://schemas.microsoft.com/office/powerpoint/2010/main" val="862919069"/>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133</a:t>
            </a:fld>
            <a:endParaRPr lang="ko-KR" altLang="en-US"/>
          </a:p>
        </p:txBody>
      </p:sp>
    </p:spTree>
    <p:extLst>
      <p:ext uri="{BB962C8B-B14F-4D97-AF65-F5344CB8AC3E}">
        <p14:creationId xmlns:p14="http://schemas.microsoft.com/office/powerpoint/2010/main" val="286558139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422021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136</a:t>
            </a:fld>
            <a:endParaRPr lang="ko-KR" altLang="en-US"/>
          </a:p>
        </p:txBody>
      </p:sp>
    </p:spTree>
    <p:extLst>
      <p:ext uri="{BB962C8B-B14F-4D97-AF65-F5344CB8AC3E}">
        <p14:creationId xmlns:p14="http://schemas.microsoft.com/office/powerpoint/2010/main" val="104468141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137</a:t>
            </a:fld>
            <a:endParaRPr lang="ko-KR" altLang="en-US"/>
          </a:p>
        </p:txBody>
      </p:sp>
    </p:spTree>
    <p:extLst>
      <p:ext uri="{BB962C8B-B14F-4D97-AF65-F5344CB8AC3E}">
        <p14:creationId xmlns:p14="http://schemas.microsoft.com/office/powerpoint/2010/main" val="148246950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138</a:t>
            </a:fld>
            <a:endParaRPr lang="ko-KR" altLang="en-US"/>
          </a:p>
        </p:txBody>
      </p:sp>
    </p:spTree>
    <p:extLst>
      <p:ext uri="{BB962C8B-B14F-4D97-AF65-F5344CB8AC3E}">
        <p14:creationId xmlns:p14="http://schemas.microsoft.com/office/powerpoint/2010/main" val="5254487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139</a:t>
            </a:fld>
            <a:endParaRPr lang="ko-KR" altLang="en-US"/>
          </a:p>
        </p:txBody>
      </p:sp>
    </p:spTree>
    <p:extLst>
      <p:ext uri="{BB962C8B-B14F-4D97-AF65-F5344CB8AC3E}">
        <p14:creationId xmlns:p14="http://schemas.microsoft.com/office/powerpoint/2010/main" val="335495997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460713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141</a:t>
            </a:fld>
            <a:endParaRPr lang="ko-KR" altLang="en-US"/>
          </a:p>
        </p:txBody>
      </p:sp>
    </p:spTree>
    <p:extLst>
      <p:ext uri="{BB962C8B-B14F-4D97-AF65-F5344CB8AC3E}">
        <p14:creationId xmlns:p14="http://schemas.microsoft.com/office/powerpoint/2010/main" val="432588883"/>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142</a:t>
            </a:fld>
            <a:endParaRPr lang="ko-KR" altLang="en-US"/>
          </a:p>
        </p:txBody>
      </p:sp>
    </p:spTree>
    <p:extLst>
      <p:ext uri="{BB962C8B-B14F-4D97-AF65-F5344CB8AC3E}">
        <p14:creationId xmlns:p14="http://schemas.microsoft.com/office/powerpoint/2010/main" val="287644039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701604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144</a:t>
            </a:fld>
            <a:endParaRPr lang="ko-KR" altLang="en-US"/>
          </a:p>
        </p:txBody>
      </p:sp>
    </p:spTree>
    <p:extLst>
      <p:ext uri="{BB962C8B-B14F-4D97-AF65-F5344CB8AC3E}">
        <p14:creationId xmlns:p14="http://schemas.microsoft.com/office/powerpoint/2010/main" val="231949450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145</a:t>
            </a:fld>
            <a:endParaRPr lang="ko-KR" altLang="en-US"/>
          </a:p>
        </p:txBody>
      </p:sp>
    </p:spTree>
    <p:extLst>
      <p:ext uri="{BB962C8B-B14F-4D97-AF65-F5344CB8AC3E}">
        <p14:creationId xmlns:p14="http://schemas.microsoft.com/office/powerpoint/2010/main" val="17296140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791573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147</a:t>
            </a:fld>
            <a:endParaRPr lang="ko-KR" altLang="en-US"/>
          </a:p>
        </p:txBody>
      </p:sp>
    </p:spTree>
    <p:extLst>
      <p:ext uri="{BB962C8B-B14F-4D97-AF65-F5344CB8AC3E}">
        <p14:creationId xmlns:p14="http://schemas.microsoft.com/office/powerpoint/2010/main" val="73801240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149</a:t>
            </a:fld>
            <a:endParaRPr lang="ko-KR" altLang="en-US"/>
          </a:p>
        </p:txBody>
      </p:sp>
    </p:spTree>
    <p:extLst>
      <p:ext uri="{BB962C8B-B14F-4D97-AF65-F5344CB8AC3E}">
        <p14:creationId xmlns:p14="http://schemas.microsoft.com/office/powerpoint/2010/main" val="158977016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41928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156</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2420664"/>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158</a:t>
            </a:fld>
            <a:endParaRPr lang="ko-KR" altLang="en-US"/>
          </a:p>
        </p:txBody>
      </p:sp>
    </p:spTree>
    <p:extLst>
      <p:ext uri="{BB962C8B-B14F-4D97-AF65-F5344CB8AC3E}">
        <p14:creationId xmlns:p14="http://schemas.microsoft.com/office/powerpoint/2010/main" val="70799027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7906642"/>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160</a:t>
            </a:fld>
            <a:endParaRPr lang="ko-KR" altLang="en-US"/>
          </a:p>
        </p:txBody>
      </p:sp>
    </p:spTree>
    <p:extLst>
      <p:ext uri="{BB962C8B-B14F-4D97-AF65-F5344CB8AC3E}">
        <p14:creationId xmlns:p14="http://schemas.microsoft.com/office/powerpoint/2010/main" val="347143108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397236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162</a:t>
            </a:fld>
            <a:endParaRPr lang="ko-KR" altLang="en-US"/>
          </a:p>
        </p:txBody>
      </p:sp>
    </p:spTree>
    <p:extLst>
      <p:ext uri="{BB962C8B-B14F-4D97-AF65-F5344CB8AC3E}">
        <p14:creationId xmlns:p14="http://schemas.microsoft.com/office/powerpoint/2010/main" val="322917342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163</a:t>
            </a:fld>
            <a:endParaRPr lang="ko-KR" altLang="en-US"/>
          </a:p>
        </p:txBody>
      </p:sp>
    </p:spTree>
    <p:extLst>
      <p:ext uri="{BB962C8B-B14F-4D97-AF65-F5344CB8AC3E}">
        <p14:creationId xmlns:p14="http://schemas.microsoft.com/office/powerpoint/2010/main" val="2272900334"/>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169</a:t>
            </a:fld>
            <a:endParaRPr lang="ko-KR" altLang="en-US"/>
          </a:p>
        </p:txBody>
      </p:sp>
    </p:spTree>
    <p:extLst>
      <p:ext uri="{BB962C8B-B14F-4D97-AF65-F5344CB8AC3E}">
        <p14:creationId xmlns:p14="http://schemas.microsoft.com/office/powerpoint/2010/main" val="860744186"/>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8977985"/>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3122230"/>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137870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173</a:t>
            </a:fld>
            <a:endParaRPr lang="ko-KR" altLang="en-US"/>
          </a:p>
        </p:txBody>
      </p:sp>
    </p:spTree>
    <p:extLst>
      <p:ext uri="{BB962C8B-B14F-4D97-AF65-F5344CB8AC3E}">
        <p14:creationId xmlns:p14="http://schemas.microsoft.com/office/powerpoint/2010/main" val="1302992674"/>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174</a:t>
            </a:fld>
            <a:endParaRPr lang="ko-KR" altLang="en-US"/>
          </a:p>
        </p:txBody>
      </p:sp>
    </p:spTree>
    <p:extLst>
      <p:ext uri="{BB962C8B-B14F-4D97-AF65-F5344CB8AC3E}">
        <p14:creationId xmlns:p14="http://schemas.microsoft.com/office/powerpoint/2010/main" val="406138631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176</a:t>
            </a:fld>
            <a:endParaRPr lang="ko-KR" altLang="en-US"/>
          </a:p>
        </p:txBody>
      </p:sp>
    </p:spTree>
    <p:extLst>
      <p:ext uri="{BB962C8B-B14F-4D97-AF65-F5344CB8AC3E}">
        <p14:creationId xmlns:p14="http://schemas.microsoft.com/office/powerpoint/2010/main" val="2176460232"/>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177</a:t>
            </a:fld>
            <a:endParaRPr lang="ko-KR" altLang="en-US"/>
          </a:p>
        </p:txBody>
      </p:sp>
    </p:spTree>
    <p:extLst>
      <p:ext uri="{BB962C8B-B14F-4D97-AF65-F5344CB8AC3E}">
        <p14:creationId xmlns:p14="http://schemas.microsoft.com/office/powerpoint/2010/main" val="85716497"/>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178</a:t>
            </a:fld>
            <a:endParaRPr lang="ko-KR" altLang="en-US"/>
          </a:p>
        </p:txBody>
      </p:sp>
    </p:spTree>
    <p:extLst>
      <p:ext uri="{BB962C8B-B14F-4D97-AF65-F5344CB8AC3E}">
        <p14:creationId xmlns:p14="http://schemas.microsoft.com/office/powerpoint/2010/main" val="168077098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179</a:t>
            </a:fld>
            <a:endParaRPr lang="ko-KR" altLang="en-US"/>
          </a:p>
        </p:txBody>
      </p:sp>
    </p:spTree>
    <p:extLst>
      <p:ext uri="{BB962C8B-B14F-4D97-AF65-F5344CB8AC3E}">
        <p14:creationId xmlns:p14="http://schemas.microsoft.com/office/powerpoint/2010/main" val="3702406319"/>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180</a:t>
            </a:fld>
            <a:endParaRPr lang="ko-KR" altLang="en-US"/>
          </a:p>
        </p:txBody>
      </p:sp>
    </p:spTree>
    <p:extLst>
      <p:ext uri="{BB962C8B-B14F-4D97-AF65-F5344CB8AC3E}">
        <p14:creationId xmlns:p14="http://schemas.microsoft.com/office/powerpoint/2010/main" val="331870239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181</a:t>
            </a:fld>
            <a:endParaRPr lang="ko-KR" altLang="en-US"/>
          </a:p>
        </p:txBody>
      </p:sp>
    </p:spTree>
    <p:extLst>
      <p:ext uri="{BB962C8B-B14F-4D97-AF65-F5344CB8AC3E}">
        <p14:creationId xmlns:p14="http://schemas.microsoft.com/office/powerpoint/2010/main" val="344214263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182</a:t>
            </a:fld>
            <a:endParaRPr lang="ko-KR" altLang="en-US"/>
          </a:p>
        </p:txBody>
      </p:sp>
    </p:spTree>
    <p:extLst>
      <p:ext uri="{BB962C8B-B14F-4D97-AF65-F5344CB8AC3E}">
        <p14:creationId xmlns:p14="http://schemas.microsoft.com/office/powerpoint/2010/main" val="382701400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183</a:t>
            </a:fld>
            <a:endParaRPr lang="ko-KR" altLang="en-US"/>
          </a:p>
        </p:txBody>
      </p:sp>
    </p:spTree>
    <p:extLst>
      <p:ext uri="{BB962C8B-B14F-4D97-AF65-F5344CB8AC3E}">
        <p14:creationId xmlns:p14="http://schemas.microsoft.com/office/powerpoint/2010/main" val="50617245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184</a:t>
            </a:fld>
            <a:endParaRPr lang="ko-KR" altLang="en-US"/>
          </a:p>
        </p:txBody>
      </p:sp>
    </p:spTree>
    <p:extLst>
      <p:ext uri="{BB962C8B-B14F-4D97-AF65-F5344CB8AC3E}">
        <p14:creationId xmlns:p14="http://schemas.microsoft.com/office/powerpoint/2010/main" val="129287173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185</a:t>
            </a:fld>
            <a:endParaRPr lang="ko-KR" altLang="en-US"/>
          </a:p>
        </p:txBody>
      </p:sp>
    </p:spTree>
    <p:extLst>
      <p:ext uri="{BB962C8B-B14F-4D97-AF65-F5344CB8AC3E}">
        <p14:creationId xmlns:p14="http://schemas.microsoft.com/office/powerpoint/2010/main" val="56824448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186</a:t>
            </a:fld>
            <a:endParaRPr lang="ko-KR" altLang="en-US"/>
          </a:p>
        </p:txBody>
      </p:sp>
    </p:spTree>
    <p:extLst>
      <p:ext uri="{BB962C8B-B14F-4D97-AF65-F5344CB8AC3E}">
        <p14:creationId xmlns:p14="http://schemas.microsoft.com/office/powerpoint/2010/main" val="170894747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187</a:t>
            </a:fld>
            <a:endParaRPr lang="ko-KR" altLang="en-US"/>
          </a:p>
        </p:txBody>
      </p:sp>
    </p:spTree>
    <p:extLst>
      <p:ext uri="{BB962C8B-B14F-4D97-AF65-F5344CB8AC3E}">
        <p14:creationId xmlns:p14="http://schemas.microsoft.com/office/powerpoint/2010/main" val="279770012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341556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192</a:t>
            </a:fld>
            <a:endParaRPr lang="ko-KR" altLang="en-US"/>
          </a:p>
        </p:txBody>
      </p:sp>
    </p:spTree>
    <p:extLst>
      <p:ext uri="{BB962C8B-B14F-4D97-AF65-F5344CB8AC3E}">
        <p14:creationId xmlns:p14="http://schemas.microsoft.com/office/powerpoint/2010/main" val="4108526786"/>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193</a:t>
            </a:fld>
            <a:endParaRPr lang="ko-KR" altLang="en-US"/>
          </a:p>
        </p:txBody>
      </p:sp>
    </p:spTree>
    <p:extLst>
      <p:ext uri="{BB962C8B-B14F-4D97-AF65-F5344CB8AC3E}">
        <p14:creationId xmlns:p14="http://schemas.microsoft.com/office/powerpoint/2010/main" val="1570529543"/>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194</a:t>
            </a:fld>
            <a:endParaRPr lang="ko-KR" altLang="en-US"/>
          </a:p>
        </p:txBody>
      </p:sp>
    </p:spTree>
    <p:extLst>
      <p:ext uri="{BB962C8B-B14F-4D97-AF65-F5344CB8AC3E}">
        <p14:creationId xmlns:p14="http://schemas.microsoft.com/office/powerpoint/2010/main" val="297770971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195</a:t>
            </a:fld>
            <a:endParaRPr lang="ko-KR" altLang="en-US"/>
          </a:p>
        </p:txBody>
      </p:sp>
    </p:spTree>
    <p:extLst>
      <p:ext uri="{BB962C8B-B14F-4D97-AF65-F5344CB8AC3E}">
        <p14:creationId xmlns:p14="http://schemas.microsoft.com/office/powerpoint/2010/main" val="3395002209"/>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196</a:t>
            </a:fld>
            <a:endParaRPr lang="ko-KR" altLang="en-US"/>
          </a:p>
        </p:txBody>
      </p:sp>
    </p:spTree>
    <p:extLst>
      <p:ext uri="{BB962C8B-B14F-4D97-AF65-F5344CB8AC3E}">
        <p14:creationId xmlns:p14="http://schemas.microsoft.com/office/powerpoint/2010/main" val="164937909"/>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538334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664007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201</a:t>
            </a:fld>
            <a:endParaRPr lang="ko-KR" altLang="en-US"/>
          </a:p>
        </p:txBody>
      </p:sp>
    </p:spTree>
    <p:extLst>
      <p:ext uri="{BB962C8B-B14F-4D97-AF65-F5344CB8AC3E}">
        <p14:creationId xmlns:p14="http://schemas.microsoft.com/office/powerpoint/2010/main" val="255464979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202</a:t>
            </a:fld>
            <a:endParaRPr lang="ko-KR" altLang="en-US"/>
          </a:p>
        </p:txBody>
      </p:sp>
    </p:spTree>
    <p:extLst>
      <p:ext uri="{BB962C8B-B14F-4D97-AF65-F5344CB8AC3E}">
        <p14:creationId xmlns:p14="http://schemas.microsoft.com/office/powerpoint/2010/main" val="142352090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203</a:t>
            </a:fld>
            <a:endParaRPr lang="ko-KR" altLang="en-US"/>
          </a:p>
        </p:txBody>
      </p:sp>
    </p:spTree>
    <p:extLst>
      <p:ext uri="{BB962C8B-B14F-4D97-AF65-F5344CB8AC3E}">
        <p14:creationId xmlns:p14="http://schemas.microsoft.com/office/powerpoint/2010/main" val="19716402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204</a:t>
            </a:fld>
            <a:endParaRPr lang="ko-KR" altLang="en-US"/>
          </a:p>
        </p:txBody>
      </p:sp>
    </p:spTree>
    <p:extLst>
      <p:ext uri="{BB962C8B-B14F-4D97-AF65-F5344CB8AC3E}">
        <p14:creationId xmlns:p14="http://schemas.microsoft.com/office/powerpoint/2010/main" val="2595104276"/>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6B8A67FF-AAEF-4AED-A21E-4ECCB842E1E7}" type="slidenum">
              <a:rPr lang="ko-KR" altLang="en-US" smtClean="0"/>
              <a:t>205</a:t>
            </a:fld>
            <a:endParaRPr lang="ko-KR" altLang="en-US"/>
          </a:p>
        </p:txBody>
      </p:sp>
    </p:spTree>
    <p:extLst>
      <p:ext uri="{BB962C8B-B14F-4D97-AF65-F5344CB8AC3E}">
        <p14:creationId xmlns:p14="http://schemas.microsoft.com/office/powerpoint/2010/main" val="1437437008"/>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212</a:t>
            </a:fld>
            <a:endParaRPr lang="ko-KR" altLang="en-US"/>
          </a:p>
        </p:txBody>
      </p:sp>
    </p:spTree>
    <p:extLst>
      <p:ext uri="{BB962C8B-B14F-4D97-AF65-F5344CB8AC3E}">
        <p14:creationId xmlns:p14="http://schemas.microsoft.com/office/powerpoint/2010/main" val="2208076456"/>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213</a:t>
            </a:fld>
            <a:endParaRPr lang="ko-KR" altLang="en-US"/>
          </a:p>
        </p:txBody>
      </p:sp>
    </p:spTree>
    <p:extLst>
      <p:ext uri="{BB962C8B-B14F-4D97-AF65-F5344CB8AC3E}">
        <p14:creationId xmlns:p14="http://schemas.microsoft.com/office/powerpoint/2010/main" val="2527139983"/>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126783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216</a:t>
            </a:fld>
            <a:endParaRPr lang="ko-KR" altLang="en-US"/>
          </a:p>
        </p:txBody>
      </p:sp>
    </p:spTree>
    <p:extLst>
      <p:ext uri="{BB962C8B-B14F-4D97-AF65-F5344CB8AC3E}">
        <p14:creationId xmlns:p14="http://schemas.microsoft.com/office/powerpoint/2010/main" val="2186198499"/>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121043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3295728"/>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299255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045253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2132707"/>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9371361"/>
      </p:ext>
    </p:extLst>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슬라이드 9 | 목표 1분10초 | 누적 10분35초]</a:t>
            </a:r>
          </a:p>
          <a:p>
            <a:r>
              <a:t>여기서부터는 무엇과 비교하느냐입니다. 왼쪽 Baseline은 H100 8장 서버로, HBM이 640GB, DRAM까지 합친 총 메모리가 1,664GB입니다.</a:t>
            </a:r>
          </a:p>
          <a:p/>
          <a:p>
            <a:r>
              <a:t>가운데 Target은 비용을 낮추기 위해 GPU를 4장으로 줄이고 그 자리에 CXL-PNM 4개와 PIM-SSD를 넣은 구성입니다. HBM은 320GB, 대역폭은 13.4TB/s로 절반이 되지만, PNM의 DDR 512GB가 더해져 총 메모리는 1,856GB로 1.12배가 되고, 4노드 기준 총 비용은 1,132K달러에서 777K달러로 0.69배입니다. 메모리 용량은 늘고 비용은 3할 줄지만, GPU 연산 자원과 HBM은 절반인 시스템입니다.</a:t>
            </a:r>
          </a:p>
          <a:p/>
          <a:p>
            <a:r>
              <a:t>오른쪽 Testbed는 실제 실험에 쓰는 구성으로, HBM 40GB GPU에 HBF 320GB를 붙이고 PNM 2개를 둔 형태이며 총 비용은 0.86배입니다.</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슬라이드 31 | 목표 2분15초 | 누적 38분40초]</a:t>
            </a:r>
          </a:p>
          <a:p>
            <a:r>
              <a:t>성과와 계획입니다. 성과부터 말씀드리면, 이기종 메모리를 활용해 LLM 추론 성능을 높이는 서빙 엔진을 설계하고 구현해, 처리량을 2.7배 이상 가속하고 처리 가능한 문맥을 512K에서 10M 토큰으로 확대했습니다. 신규 메모리 활용 측면에서는 CXL-PNM으로 연산을 offloading해 장문맥 토큰 생성 latency를 3.4배 줄였고, PIM-SSD로 문서 검색을 2배에서 3.6배 가속했습니다. 연구 산출물로는 CompBlend를 EuroSys '27에, BlendPrune을 MLSys '27에 교신저자로 제출했고, A급 특허 5건을 출원했습니다.</a:t>
            </a:r>
          </a:p>
          <a:p/>
          <a:p>
            <a:r>
              <a:t>더 중요한 성과는 사업부와의 연결입니다. 메모리 사업부 SW 개발팀과는 PIM-SSD 문서 검색 가속 결과를 AI 반도체 협의회에 보고하고, 올해 10월부터 27년 12월까지 공동 개발에 착수했습니다. 목표는 PIM-SSD 활용 AI 응용 가속 알고리즘과 차세대 SSD 기능, 구조 제안입니다. Flash 설계팀과는 Tiered Memory Architecture 결과를 부문장께 보고하고, 27년 3월까지 UBF 개발 당위성 확보와 개발 착수를 목표로 시작했습니다. 해외에서는 Google Research, ARM Research와 공동 연구 협약을 맺고 활용 시나리오와 프로파일 결과를 공유합니다.</a:t>
            </a:r>
          </a:p>
          <a:p/>
          <a:p>
            <a:r>
              <a:t>향후에는 핵심 설계 요소를 vLLM에 통합해 Integration Test로 검증하고, Agentic AI 워크로드로 처리량, 지연, 메모리 활용률, 확장성을 평가해 아키텍처 개선 사항과 추가 기술 과제를 도출하겠습니다.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슬라이드 32 | 목표 1분20초 | 누적 40분00초]</a:t>
            </a:r>
          </a:p>
          <a:p>
            <a:r>
              <a:t>마지막으로 Architect 양성 과정을 하며 달라진 점입니다.</a:t>
            </a:r>
          </a:p>
          <a:p/>
          <a:p>
            <a:r>
              <a:t>첫째, 과제를 보는 시선입니다. 연구소는 사업화 과제와 달리 요구사항과 목표를 스스로 찾아야 하는 경우가 많은데, 왜 해야 하는지, 무엇을 개선하는지, 정말 필요한지, 어떻게 측정하는지, 목표와 Baseline의 근거는 무엇인지를 계속 묻는 Architecture Driver 중심의 습관이 생겼고, 과제원들에게도 같은 훈련을 하고 있습니다.</a:t>
            </a:r>
          </a:p>
          <a:p/>
          <a:p>
            <a:r>
              <a:t>둘째, Architect의 역할은 내 문제를 Driver 기반으로 계획하고, 설득하고, 증명하는 것입니다. SW뿐 아니라 H/W 구성부터 시스템 개발팀과 함께 결정했고, 이해관계자 간 상충하는 요구는 정량적 근거로 설득했습니다.</a:t>
            </a:r>
          </a:p>
          <a:p/>
          <a:p>
            <a:r>
              <a:t>셋째, AI Coding으로 구현 속도가 빨라질수록 무엇을 왜 구현할지 정하고, AI가 만든 결과가 설계 의도와 품질 속성을 만족하는지 책임지는 일이 Architect의 몫이라고 생각합니다.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jpe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jpe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jpe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jpe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e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jpe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AB4EC650-D728-4CCD-827E-82C3E43FAE72}" type="datetime1">
              <a:rPr lang="ko-KR" altLang="en-US" smtClean="0"/>
              <a:t>2026-10-29</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F889C64-266A-4D07-AD8F-5B592E61CCE1}" type="slidenum">
              <a:rPr lang="ko-KR" altLang="en-US" smtClean="0"/>
              <a:t>‹#›</a:t>
            </a:fld>
            <a:endParaRPr lang="ko-KR" altLang="en-US"/>
          </a:p>
        </p:txBody>
      </p:sp>
    </p:spTree>
    <p:extLst>
      <p:ext uri="{BB962C8B-B14F-4D97-AF65-F5344CB8AC3E}">
        <p14:creationId xmlns:p14="http://schemas.microsoft.com/office/powerpoint/2010/main" val="3079227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3537407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과제소개">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59788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요구사항">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305381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설계">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14442678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구현검증">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18732025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결론">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2801272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직선 연결선 14"/>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7" name="갈매기형 수장 16"/>
          <p:cNvSpPr/>
          <p:nvPr userDrawn="1"/>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18" name="갈매기형 수장 17"/>
          <p:cNvSpPr/>
          <p:nvPr userDrawn="1"/>
        </p:nvSpPr>
        <p:spPr>
          <a:xfrm>
            <a:off x="7402754"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요구사항</a:t>
            </a:r>
          </a:p>
        </p:txBody>
      </p:sp>
      <p:sp>
        <p:nvSpPr>
          <p:cNvPr id="19" name="갈매기형 수장 18"/>
          <p:cNvSpPr/>
          <p:nvPr userDrawn="1"/>
        </p:nvSpPr>
        <p:spPr>
          <a:xfrm>
            <a:off x="83016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5" name="갈매기형 수장 24"/>
          <p:cNvSpPr/>
          <p:nvPr userDrawn="1"/>
        </p:nvSpPr>
        <p:spPr>
          <a:xfrm>
            <a:off x="9194153"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6" name="갈매기형 수장 25"/>
          <p:cNvSpPr/>
          <p:nvPr userDrawn="1"/>
        </p:nvSpPr>
        <p:spPr>
          <a:xfrm>
            <a:off x="1008663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8" name="직사각형 27"/>
          <p:cNvSpPr/>
          <p:nvPr userDrawn="1"/>
        </p:nvSpPr>
        <p:spPr>
          <a:xfrm>
            <a:off x="10909598"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29" name="직사각형 28"/>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4" name="직사각형 13"/>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21"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22" name="TextBox 2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2671872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직선 연결선 14"/>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7" name="갈매기형 수장 16"/>
          <p:cNvSpPr/>
          <p:nvPr userDrawn="1"/>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18" name="갈매기형 수장 17"/>
          <p:cNvSpPr/>
          <p:nvPr userDrawn="1"/>
        </p:nvSpPr>
        <p:spPr>
          <a:xfrm>
            <a:off x="7402754"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19" name="갈매기형 수장 18"/>
          <p:cNvSpPr/>
          <p:nvPr userDrawn="1"/>
        </p:nvSpPr>
        <p:spPr>
          <a:xfrm>
            <a:off x="8301672"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설계</a:t>
            </a:r>
          </a:p>
        </p:txBody>
      </p:sp>
      <p:sp>
        <p:nvSpPr>
          <p:cNvPr id="25" name="갈매기형 수장 24"/>
          <p:cNvSpPr/>
          <p:nvPr userDrawn="1"/>
        </p:nvSpPr>
        <p:spPr>
          <a:xfrm>
            <a:off x="9194153"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6" name="갈매기형 수장 25"/>
          <p:cNvSpPr/>
          <p:nvPr userDrawn="1"/>
        </p:nvSpPr>
        <p:spPr>
          <a:xfrm>
            <a:off x="1008663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8" name="직사각형 27"/>
          <p:cNvSpPr/>
          <p:nvPr userDrawn="1"/>
        </p:nvSpPr>
        <p:spPr>
          <a:xfrm>
            <a:off x="10909598"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29" name="직사각형 28"/>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4" name="직사각형 13"/>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21"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22" name="TextBox 2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23342723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직선 연결선 14"/>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7" name="갈매기형 수장 16"/>
          <p:cNvSpPr/>
          <p:nvPr userDrawn="1"/>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18" name="갈매기형 수장 17"/>
          <p:cNvSpPr/>
          <p:nvPr userDrawn="1"/>
        </p:nvSpPr>
        <p:spPr>
          <a:xfrm>
            <a:off x="7402754"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19" name="갈매기형 수장 18"/>
          <p:cNvSpPr/>
          <p:nvPr userDrawn="1"/>
        </p:nvSpPr>
        <p:spPr>
          <a:xfrm>
            <a:off x="83016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5" name="갈매기형 수장 24"/>
          <p:cNvSpPr/>
          <p:nvPr userDrawn="1"/>
        </p:nvSpPr>
        <p:spPr>
          <a:xfrm>
            <a:off x="9194153"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6" name="갈매기형 수장 25"/>
          <p:cNvSpPr/>
          <p:nvPr userDrawn="1"/>
        </p:nvSpPr>
        <p:spPr>
          <a:xfrm>
            <a:off x="1008663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8" name="직사각형 27"/>
          <p:cNvSpPr/>
          <p:nvPr userDrawn="1"/>
        </p:nvSpPr>
        <p:spPr>
          <a:xfrm>
            <a:off x="10909598"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29" name="직사각형 28"/>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4" name="직사각형 13"/>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21"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22" name="TextBox 2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6967540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6_제목 및 내용">
    <p:spTree>
      <p:nvGrpSpPr>
        <p:cNvPr id="1" name=""/>
        <p:cNvGrpSpPr/>
        <p:nvPr/>
      </p:nvGrpSpPr>
      <p:grpSpPr>
        <a:xfrm>
          <a:off x="0" y="0"/>
          <a:ext cx="0" cy="0"/>
          <a:chOff x="0" y="0"/>
          <a:chExt cx="0" cy="0"/>
        </a:xfrm>
      </p:grpSpPr>
      <p:cxnSp>
        <p:nvCxnSpPr>
          <p:cNvPr id="10" name="직선 연결선 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제목 개체 틀 1"/>
          <p:cNvSpPr>
            <a:spLocks noGrp="1"/>
          </p:cNvSpPr>
          <p:nvPr userDrawn="1">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4" name="갈매기형 수장 13"/>
          <p:cNvSpPr/>
          <p:nvPr/>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0" name="갈매기형 수장 19"/>
          <p:cNvSpPr/>
          <p:nvPr/>
        </p:nvSpPr>
        <p:spPr>
          <a:xfrm>
            <a:off x="7402754"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1" name="갈매기형 수장 20"/>
          <p:cNvSpPr/>
          <p:nvPr/>
        </p:nvSpPr>
        <p:spPr>
          <a:xfrm>
            <a:off x="83016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2" name="갈매기형 수장 21"/>
          <p:cNvSpPr/>
          <p:nvPr/>
        </p:nvSpPr>
        <p:spPr>
          <a:xfrm>
            <a:off x="9194153"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3" name="갈매기형 수장 22"/>
          <p:cNvSpPr/>
          <p:nvPr/>
        </p:nvSpPr>
        <p:spPr>
          <a:xfrm>
            <a:off x="1008663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결론</a:t>
            </a:r>
          </a:p>
        </p:txBody>
      </p:sp>
      <p:sp>
        <p:nvSpPr>
          <p:cNvPr id="3" name="직사각형 2"/>
          <p:cNvSpPr/>
          <p:nvPr userDrawn="1"/>
        </p:nvSpPr>
        <p:spPr>
          <a:xfrm>
            <a:off x="10909598"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a:solidFill>
                <a:schemeClr val="bg1"/>
              </a:solidFill>
            </a:endParaRPr>
          </a:p>
        </p:txBody>
      </p:sp>
      <p:sp>
        <p:nvSpPr>
          <p:cNvPr id="15" name="직사각형 14"/>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6" name="직사각형 15"/>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18"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19" name="TextBox 18"/>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7702077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24722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6_Custom Layout">
    <p:spTree>
      <p:nvGrpSpPr>
        <p:cNvPr id="1" name=""/>
        <p:cNvGrpSpPr/>
        <p:nvPr/>
      </p:nvGrpSpPr>
      <p:grpSpPr>
        <a:xfrm>
          <a:off x="0" y="0"/>
          <a:ext cx="0" cy="0"/>
          <a:chOff x="0" y="0"/>
          <a:chExt cx="0" cy="0"/>
        </a:xfrm>
      </p:grpSpPr>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044E2504-815A-4C6B-8A62-674F8922AA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23356250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obj">
  <p:cSld name="1_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sz="2800" baseline="0">
                <a:latin typeface="+mj-lt"/>
                <a:ea typeface="+mj-ea"/>
              </a:defRPr>
            </a:lvl1pPr>
          </a:lstStyle>
          <a:p>
            <a:r>
              <a:rPr lang="en-US" altLang="ko-KR"/>
              <a:t>Click to edit Master title style</a:t>
            </a:r>
            <a:endParaRPr lang="ko-KR" altLang="en-US" dirty="0"/>
          </a:p>
        </p:txBody>
      </p:sp>
      <p:sp>
        <p:nvSpPr>
          <p:cNvPr id="3" name="내용 개체 틀 2"/>
          <p:cNvSpPr>
            <a:spLocks noGrp="1"/>
          </p:cNvSpPr>
          <p:nvPr>
            <p:ph idx="1"/>
          </p:nvPr>
        </p:nvSpPr>
        <p:spPr/>
        <p:txBody>
          <a:bodyPr>
            <a:noAutofit/>
          </a:bodyPr>
          <a:lstStyle>
            <a:lvl1pPr latinLnBrk="0">
              <a:lnSpc>
                <a:spcPct val="99000"/>
              </a:lnSpc>
              <a:defRPr sz="2000" baseline="0">
                <a:latin typeface="+mn-lt"/>
                <a:ea typeface="+mn-ea"/>
              </a:defRPr>
            </a:lvl1pPr>
            <a:lvl2pPr marL="685800" indent="-228600" latinLnBrk="0">
              <a:lnSpc>
                <a:spcPct val="99000"/>
              </a:lnSpc>
              <a:buFont typeface="Arial" panose="020B0604020202020204" pitchFamily="34" charset="0"/>
              <a:buChar char="–"/>
              <a:defRPr sz="1800" baseline="0">
                <a:latin typeface="+mn-lt"/>
                <a:ea typeface="+mn-ea"/>
              </a:defRPr>
            </a:lvl2pPr>
            <a:lvl3pPr marL="1143000" indent="-228600" latinLnBrk="0">
              <a:lnSpc>
                <a:spcPct val="99000"/>
              </a:lnSpc>
              <a:buFont typeface="Arial" panose="020B0604020202020204" pitchFamily="34" charset="0"/>
              <a:buChar char="="/>
              <a:defRPr sz="1600" baseline="0">
                <a:latin typeface="+mn-lt"/>
                <a:ea typeface="+mn-ea"/>
              </a:defRPr>
            </a:lvl3pPr>
            <a:lvl4pPr marL="1600200" indent="-228600" latinLnBrk="0">
              <a:lnSpc>
                <a:spcPct val="99000"/>
              </a:lnSpc>
              <a:buFont typeface="Arial" panose="020B0604020202020204" pitchFamily="34" charset="0"/>
              <a:buChar char="+"/>
              <a:defRPr sz="1400" baseline="0">
                <a:latin typeface="+mn-lt"/>
                <a:ea typeface="+mn-ea"/>
              </a:defRPr>
            </a:lvl4pPr>
            <a:lvl5pPr latinLnBrk="0">
              <a:lnSpc>
                <a:spcPct val="99000"/>
              </a:lnSpc>
              <a:defRPr sz="1400" baseline="0">
                <a:latin typeface="+mn-lt"/>
                <a:ea typeface="+mn-ea"/>
              </a:defRPr>
            </a:lvl5pPr>
          </a:lstStyle>
          <a:p>
            <a:pPr lvl="0"/>
            <a:r>
              <a:rPr lang="en-US" altLang="ko-KR"/>
              <a:t>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dirty="0"/>
          </a:p>
        </p:txBody>
      </p:sp>
      <p:sp>
        <p:nvSpPr>
          <p:cNvPr id="5" name="바닥글 개체 틀 4"/>
          <p:cNvSpPr>
            <a:spLocks noGrp="1"/>
          </p:cNvSpPr>
          <p:nvPr>
            <p:ph type="ftr" sz="quarter" idx="11"/>
          </p:nvPr>
        </p:nvSpPr>
        <p:spPr/>
        <p:txBody>
          <a:bodyPr/>
          <a:lstStyle>
            <a:lvl1pPr algn="r">
              <a:defRPr b="0" baseline="0">
                <a:effectLst/>
                <a:latin typeface="+mn-lt"/>
                <a:ea typeface="+mn-ea"/>
              </a:defRPr>
            </a:lvl1pPr>
          </a:lstStyle>
          <a:p>
            <a:endParaRPr lang="ko-KR" altLang="en-US"/>
          </a:p>
        </p:txBody>
      </p:sp>
      <p:sp>
        <p:nvSpPr>
          <p:cNvPr id="6" name="슬라이드 번호 개체 틀 5"/>
          <p:cNvSpPr>
            <a:spLocks noGrp="1"/>
          </p:cNvSpPr>
          <p:nvPr>
            <p:ph type="sldNum" sz="quarter" idx="12"/>
          </p:nvPr>
        </p:nvSpPr>
        <p:spPr>
          <a:xfrm>
            <a:off x="11093562" y="6309000"/>
            <a:ext cx="720000" cy="549000"/>
          </a:xfrm>
        </p:spPr>
        <p:txBody>
          <a:bodyPr/>
          <a:lstStyle>
            <a:lvl1pPr>
              <a:defRPr baseline="0">
                <a:solidFill>
                  <a:schemeClr val="bg1">
                    <a:lumMod val="65000"/>
                  </a:schemeClr>
                </a:solidFill>
                <a:latin typeface="+mn-lt"/>
                <a:ea typeface="+mn-ea"/>
              </a:defRPr>
            </a:lvl1pPr>
          </a:lstStyle>
          <a:p>
            <a:fld id="{006AB58B-850D-41AE-B362-DEB7C589915B}" type="slidenum">
              <a:rPr lang="ko-KR" altLang="en-US" smtClean="0"/>
              <a:t>‹#›</a:t>
            </a:fld>
            <a:endParaRPr lang="ko-KR" altLang="en-US"/>
          </a:p>
        </p:txBody>
      </p:sp>
      <p:pic>
        <p:nvPicPr>
          <p:cNvPr id="7"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554601" y="54590"/>
            <a:ext cx="1554858" cy="258957"/>
          </a:xfrm>
          <a:prstGeom prst="rect">
            <a:avLst/>
          </a:prstGeom>
        </p:spPr>
      </p:pic>
    </p:spTree>
    <p:extLst>
      <p:ext uri="{BB962C8B-B14F-4D97-AF65-F5344CB8AC3E}">
        <p14:creationId xmlns:p14="http://schemas.microsoft.com/office/powerpoint/2010/main" val="1325124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6324F"/>
          </a:solidFill>
          <a:ln w="12700">
            <a:solidFill>
              <a:srgbClr val="16324F"/>
            </a:solidFill>
            <a:prstDash val="solid"/>
          </a:ln>
        </p:spPr>
      </p:sp>
      <p:sp>
        <p:nvSpPr>
          <p:cNvPr id="3" name="Text 1"/>
          <p:cNvSpPr/>
          <p:nvPr/>
        </p:nvSpPr>
        <p:spPr>
          <a:xfrm>
            <a:off x="502920" y="164592"/>
            <a:ext cx="3840480" cy="256032"/>
          </a:xfrm>
          <a:prstGeom prst="rect">
            <a:avLst/>
          </a:prstGeom>
          <a:noFill/>
          <a:ln/>
        </p:spPr>
        <p:txBody>
          <a:bodyPr wrap="square" lIns="0" tIns="0" rIns="0" bIns="0" rtlCol="0" anchor="ctr"/>
          <a:lstStyle/>
          <a:p>
            <a:pPr marL="0" indent="0">
              <a:buNone/>
            </a:pPr>
            <a:r>
              <a:rPr lang="en-US" sz="1000" dirty="0">
                <a:solidFill>
                  <a:srgbClr val="6B7280"/>
                </a:solidFill>
                <a:latin typeface="Aptos" pitchFamily="34" charset="0"/>
                <a:ea typeface="Aptos" pitchFamily="34" charset="-122"/>
                <a:cs typeface="Aptos" pitchFamily="34" charset="-120"/>
              </a:rPr>
              <a:t>vLLM Runtime Architecture</a:t>
            </a:r>
            <a:endParaRPr lang="en-US" sz="1000" dirty="0"/>
          </a:p>
        </p:txBody>
      </p:sp>
      <p:sp>
        <p:nvSpPr>
          <p:cNvPr id="25" name="Slide Number Placeholder 0"/>
          <p:cNvSpPr>
            <a:spLocks noGrp="1"/>
          </p:cNvSpPr>
          <p:nvPr>
            <p:ph type="sldNum" sz="quarter" idx="4294967295"/>
          </p:nvPr>
        </p:nvSpPr>
        <p:spPr>
          <a:xfrm>
            <a:off x="11475720" y="6473952"/>
            <a:ext cx="27432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9CA3AF"/>
                </a:solidFill>
                <a:latin typeface="Aptos"/>
                <a:ea typeface="Aptos"/>
                <a:cs typeface="Aptos"/>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9072192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5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994259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FF63A8D-519A-4754-BD8A-A6C3902E2219}"/>
              </a:ext>
            </a:extLst>
          </p:cNvPr>
          <p:cNvSpPr>
            <a:spLocks noGrp="1"/>
          </p:cNvSpPr>
          <p:nvPr>
            <p:ph type="dt" sz="half" idx="10"/>
          </p:nvPr>
        </p:nvSpPr>
        <p:spPr/>
        <p:txBody>
          <a:bodyPr/>
          <a:lstStyle/>
          <a:p>
            <a:fld id="{CE8297C4-C912-488D-90D2-A09CDF0E16F2}" type="datetimeFigureOut">
              <a:rPr lang="ko-KR" altLang="en-US" smtClean="0"/>
              <a:t>2026-10-29</a:t>
            </a:fld>
            <a:endParaRPr lang="ko-KR" altLang="en-US"/>
          </a:p>
        </p:txBody>
      </p:sp>
      <p:sp>
        <p:nvSpPr>
          <p:cNvPr id="3" name="바닥글 개체 틀 2">
            <a:extLst>
              <a:ext uri="{FF2B5EF4-FFF2-40B4-BE49-F238E27FC236}">
                <a16:creationId xmlns:a16="http://schemas.microsoft.com/office/drawing/2014/main" id="{F5D7ACB4-B44A-45D9-AA29-345D66F2B55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51EC944-DB75-4BBC-B971-7E74031C79DD}"/>
              </a:ext>
            </a:extLst>
          </p:cNvPr>
          <p:cNvSpPr>
            <a:spLocks noGrp="1"/>
          </p:cNvSpPr>
          <p:nvPr>
            <p:ph type="sldNum" sz="quarter" idx="12"/>
          </p:nvPr>
        </p:nvSpPr>
        <p:spPr/>
        <p:txBody>
          <a:bodyPr/>
          <a:lstStyle/>
          <a:p>
            <a:fld id="{64F16AF9-1BAB-4D78-B552-54F13912AD8B}" type="slidenum">
              <a:rPr lang="ko-KR" altLang="en-US" smtClean="0"/>
              <a:t>‹#›</a:t>
            </a:fld>
            <a:endParaRPr lang="ko-KR" altLang="en-US"/>
          </a:p>
        </p:txBody>
      </p:sp>
    </p:spTree>
    <p:extLst>
      <p:ext uri="{BB962C8B-B14F-4D97-AF65-F5344CB8AC3E}">
        <p14:creationId xmlns:p14="http://schemas.microsoft.com/office/powerpoint/2010/main" val="25264961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2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777CFFB-C76B-255C-F08B-AE4D272C1272}"/>
              </a:ext>
            </a:extLst>
          </p:cNvPr>
          <p:cNvSpPr/>
          <p:nvPr userDrawn="1"/>
        </p:nvSpPr>
        <p:spPr>
          <a:xfrm>
            <a:off x="0" y="0"/>
            <a:ext cx="12192000" cy="6858000"/>
          </a:xfrm>
          <a:prstGeom prst="rect">
            <a:avLst/>
          </a:prstGeom>
          <a:solidFill>
            <a:schemeClr val="tx1">
              <a:alpha val="20424"/>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015762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0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00854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3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85264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6A5056-25CA-7D11-6782-D571A0F8859F}"/>
              </a:ext>
            </a:extLst>
          </p:cNvPr>
          <p:cNvSpPr/>
          <p:nvPr userDrawn="1"/>
        </p:nvSpPr>
        <p:spPr>
          <a:xfrm>
            <a:off x="0" y="0"/>
            <a:ext cx="12192000" cy="6858000"/>
          </a:xfrm>
          <a:prstGeom prst="rect">
            <a:avLst/>
          </a:prstGeom>
          <a:solidFill>
            <a:schemeClr val="tx1">
              <a:alpha val="24526"/>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4611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4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945663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9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04318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5_Title">
    <p:bg>
      <p:bgPr>
        <a:solidFill>
          <a:schemeClr val="tx1"/>
        </a:solidFill>
        <a:effectLst/>
      </p:bgPr>
    </p:bg>
    <p:spTree>
      <p:nvGrpSpPr>
        <p:cNvPr id="1" name=""/>
        <p:cNvGrpSpPr/>
        <p:nvPr/>
      </p:nvGrpSpPr>
      <p:grpSpPr>
        <a:xfrm>
          <a:off x="0" y="0"/>
          <a:ext cx="0" cy="0"/>
          <a:chOff x="0" y="0"/>
          <a:chExt cx="0" cy="0"/>
        </a:xfrm>
      </p:grpSpPr>
      <p:pic>
        <p:nvPicPr>
          <p:cNvPr id="4" name="Picture 3" descr="A picture containing green&#10;&#10;Description automatically generated">
            <a:extLst>
              <a:ext uri="{FF2B5EF4-FFF2-40B4-BE49-F238E27FC236}">
                <a16:creationId xmlns:a16="http://schemas.microsoft.com/office/drawing/2014/main" id="{9CDD1722-AC1D-A3E6-8241-89D910B6400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Rectangle 4">
            <a:extLst>
              <a:ext uri="{FF2B5EF4-FFF2-40B4-BE49-F238E27FC236}">
                <a16:creationId xmlns:a16="http://schemas.microsoft.com/office/drawing/2014/main" id="{5F6BE802-6EAA-9CAC-D92E-3323E0DB61F0}"/>
              </a:ext>
            </a:extLst>
          </p:cNvPr>
          <p:cNvSpPr/>
          <p:nvPr userDrawn="1"/>
        </p:nvSpPr>
        <p:spPr>
          <a:xfrm>
            <a:off x="0" y="-2"/>
            <a:ext cx="12192000" cy="6858001"/>
          </a:xfrm>
          <a:prstGeom prst="rect">
            <a:avLst/>
          </a:prstGeom>
          <a:solidFill>
            <a:schemeClr val="tx1">
              <a:alpha val="9734"/>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956663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7923508" cy="532925"/>
          </a:xfrm>
          <a:prstGeom prst="rect">
            <a:avLst/>
          </a:prstGeom>
        </p:spPr>
        <p:txBody>
          <a:bodyPr lIns="0" rIns="0"/>
          <a:lstStyle>
            <a:lvl1pPr algn="l">
              <a:defRPr sz="3200" b="1" i="0">
                <a:solidFill>
                  <a:schemeClr val="bg1"/>
                </a:solidFill>
                <a:latin typeface="Samsung Sharp Sans Bold" pitchFamily="2" charset="77"/>
                <a:ea typeface="Samsung Sharp Sans Bold" pitchFamily="2" charset="77"/>
                <a:cs typeface="Samsung Sharp Sans Bold" pitchFamily="2" charset="77"/>
              </a:defRPr>
            </a:lvl1pPr>
          </a:lstStyle>
          <a:p>
            <a:r>
              <a:rPr lang="en-US" dirty="0"/>
              <a:t>Click to edit Master title</a:t>
            </a:r>
            <a:br>
              <a:rPr lang="en-US" dirty="0"/>
            </a:br>
            <a:endParaRPr lang="en-US" dirty="0"/>
          </a:p>
        </p:txBody>
      </p:sp>
      <p:sp>
        <p:nvSpPr>
          <p:cNvPr id="9" name="Subtitle 2">
            <a:extLst>
              <a:ext uri="{FF2B5EF4-FFF2-40B4-BE49-F238E27FC236}">
                <a16:creationId xmlns:a16="http://schemas.microsoft.com/office/drawing/2014/main" id="{409EC9C4-DF97-8740-95BD-2B75B46592C8}"/>
              </a:ext>
            </a:extLst>
          </p:cNvPr>
          <p:cNvSpPr>
            <a:spLocks noGrp="1"/>
          </p:cNvSpPr>
          <p:nvPr>
            <p:ph type="subTitle" idx="1"/>
          </p:nvPr>
        </p:nvSpPr>
        <p:spPr>
          <a:xfrm>
            <a:off x="475010" y="925139"/>
            <a:ext cx="5905948" cy="362996"/>
          </a:xfrm>
          <a:prstGeom prst="rect">
            <a:avLst/>
          </a:prstGeom>
        </p:spPr>
        <p:txBody>
          <a:bodyPr lIns="0" rIns="0"/>
          <a:lstStyle>
            <a:lvl1pPr marL="0" indent="0" algn="l">
              <a:buNone/>
              <a:defRPr sz="1867" b="0" i="0">
                <a:solidFill>
                  <a:schemeClr val="bg1"/>
                </a:solidFill>
                <a:latin typeface="Samsung Sharp Sans Medium" pitchFamily="2" charset="77"/>
                <a:ea typeface="Samsung Sharp Sans Medium" pitchFamily="2" charset="77"/>
                <a:cs typeface="Samsung Sharp Sans Medium" pitchFamily="2" charset="77"/>
              </a:defRPr>
            </a:lvl1pPr>
            <a:lvl2pPr marL="609555" indent="0" algn="ctr">
              <a:buNone/>
              <a:defRPr sz="2667"/>
            </a:lvl2pPr>
            <a:lvl3pPr marL="1219110" indent="0" algn="ctr">
              <a:buNone/>
              <a:defRPr sz="2400"/>
            </a:lvl3pPr>
            <a:lvl4pPr marL="1828664" indent="0" algn="ctr">
              <a:buNone/>
              <a:defRPr sz="2133"/>
            </a:lvl4pPr>
            <a:lvl5pPr marL="2438218" indent="0" algn="ctr">
              <a:buNone/>
              <a:defRPr sz="2133"/>
            </a:lvl5pPr>
            <a:lvl6pPr marL="3047772" indent="0" algn="ctr">
              <a:buNone/>
              <a:defRPr sz="2133"/>
            </a:lvl6pPr>
            <a:lvl7pPr marL="3657327" indent="0" algn="ctr">
              <a:buNone/>
              <a:defRPr sz="2133"/>
            </a:lvl7pPr>
            <a:lvl8pPr marL="4266880" indent="0" algn="ctr">
              <a:buNone/>
              <a:defRPr sz="2133"/>
            </a:lvl8pPr>
            <a:lvl9pPr marL="4876435" indent="0" algn="ctr">
              <a:buNone/>
              <a:defRPr sz="2133"/>
            </a:lvl9pPr>
          </a:lstStyle>
          <a:p>
            <a:r>
              <a:rPr lang="en-US" dirty="0"/>
              <a:t>Click to edit Master subtitle style</a:t>
            </a:r>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sp>
        <p:nvSpPr>
          <p:cNvPr id="14" name="Text Placeholder 61">
            <a:extLst>
              <a:ext uri="{FF2B5EF4-FFF2-40B4-BE49-F238E27FC236}">
                <a16:creationId xmlns:a16="http://schemas.microsoft.com/office/drawing/2014/main" id="{20BB6F58-1910-91C8-58C7-4EED278E8A50}"/>
              </a:ext>
            </a:extLst>
          </p:cNvPr>
          <p:cNvSpPr>
            <a:spLocks noGrp="1"/>
          </p:cNvSpPr>
          <p:nvPr>
            <p:ph type="body" sz="quarter" idx="42" hasCustomPrompt="1"/>
          </p:nvPr>
        </p:nvSpPr>
        <p:spPr>
          <a:xfrm>
            <a:off x="475010" y="2573607"/>
            <a:ext cx="8663073" cy="338554"/>
          </a:xfrm>
          <a:prstGeom prst="rect">
            <a:avLst/>
          </a:prstGeom>
        </p:spPr>
        <p:txBody>
          <a:bodyPr wrap="square">
            <a:spAutoFit/>
          </a:bodyPr>
          <a:lstStyle>
            <a:lvl1pPr marL="0" indent="0">
              <a:lnSpc>
                <a:spcPct val="100000"/>
              </a:lnSpc>
              <a:spcBef>
                <a:spcPts val="267"/>
              </a:spcBef>
              <a:buNone/>
              <a:defRPr kumimoji="1" lang="ja-JP" altLang="en-US" sz="1600" baseline="0" dirty="0">
                <a:solidFill>
                  <a:schemeClr val="bg1"/>
                </a:solidFill>
                <a:latin typeface="Samsung Sharp Sans Medium" pitchFamily="2" charset="0"/>
                <a:cs typeface="Samsung Sharp Sans Medium" pitchFamily="2" charset="0"/>
              </a:defRPr>
            </a:lvl1pPr>
          </a:lstStyle>
          <a:p>
            <a:pPr lvl="0"/>
            <a:r>
              <a:rPr kumimoji="1" lang="en-US" altLang="ja-JP" dirty="0"/>
              <a:t>Text here. </a:t>
            </a:r>
          </a:p>
        </p:txBody>
      </p:sp>
      <p:sp>
        <p:nvSpPr>
          <p:cNvPr id="15" name="Text Placeholder 61">
            <a:extLst>
              <a:ext uri="{FF2B5EF4-FFF2-40B4-BE49-F238E27FC236}">
                <a16:creationId xmlns:a16="http://schemas.microsoft.com/office/drawing/2014/main" id="{780E7B3E-1329-1322-4298-FEF2833BB339}"/>
              </a:ext>
            </a:extLst>
          </p:cNvPr>
          <p:cNvSpPr>
            <a:spLocks noGrp="1"/>
          </p:cNvSpPr>
          <p:nvPr>
            <p:ph type="body" sz="quarter" idx="43" hasCustomPrompt="1"/>
          </p:nvPr>
        </p:nvSpPr>
        <p:spPr>
          <a:xfrm>
            <a:off x="475008" y="1929073"/>
            <a:ext cx="8668264" cy="502766"/>
          </a:xfrm>
          <a:prstGeom prst="rect">
            <a:avLst/>
          </a:prstGeom>
        </p:spPr>
        <p:txBody>
          <a:bodyPr wrap="square">
            <a:spAutoFit/>
          </a:bodyPr>
          <a:lstStyle>
            <a:lvl1pPr marL="0" indent="0">
              <a:spcBef>
                <a:spcPts val="267"/>
              </a:spcBef>
              <a:buNone/>
              <a:defRPr kumimoji="1" lang="ja-JP" altLang="en-US" sz="2667" baseline="0" dirty="0">
                <a:solidFill>
                  <a:schemeClr val="bg1"/>
                </a:solidFill>
                <a:latin typeface="Samsung Sharp Sans Bold" pitchFamily="2" charset="0"/>
                <a:cs typeface="Samsung Sharp Sans Bold" pitchFamily="2" charset="0"/>
              </a:defRPr>
            </a:lvl1pPr>
          </a:lstStyle>
          <a:p>
            <a:pPr lvl="0"/>
            <a:r>
              <a:rPr lang="en-US" altLang="ko-KR" dirty="0"/>
              <a:t>Insert text here. </a:t>
            </a:r>
            <a:endParaRPr lang="ko-KR" altLang="en-US" dirty="0"/>
          </a:p>
        </p:txBody>
      </p:sp>
      <p:pic>
        <p:nvPicPr>
          <p:cNvPr id="10" name="그림 9">
            <a:extLst>
              <a:ext uri="{FF2B5EF4-FFF2-40B4-BE49-F238E27FC236}">
                <a16:creationId xmlns:a16="http://schemas.microsoft.com/office/drawing/2014/main" id="{B0200668-03D7-44A1-8921-FDA2284D957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3701945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7923508" cy="532925"/>
          </a:xfrm>
          <a:prstGeom prst="rect">
            <a:avLst/>
          </a:prstGeom>
        </p:spPr>
        <p:txBody>
          <a:bodyPr lIns="0" rIns="0"/>
          <a:lstStyle>
            <a:lvl1pPr algn="l">
              <a:defRPr sz="3200" b="1" i="0">
                <a:solidFill>
                  <a:schemeClr val="bg1"/>
                </a:solidFill>
                <a:latin typeface="Samsung Sharp Sans Bold" pitchFamily="2" charset="77"/>
                <a:ea typeface="Samsung Sharp Sans Bold" pitchFamily="2" charset="77"/>
                <a:cs typeface="Samsung Sharp Sans Bold" pitchFamily="2" charset="77"/>
              </a:defRPr>
            </a:lvl1pPr>
          </a:lstStyle>
          <a:p>
            <a:r>
              <a:rPr lang="en-US" dirty="0"/>
              <a:t>Click to edit Master title</a:t>
            </a:r>
            <a:br>
              <a:rPr lang="en-US" dirty="0"/>
            </a:br>
            <a:endParaRPr lang="en-US" dirty="0"/>
          </a:p>
        </p:txBody>
      </p:sp>
      <p:sp>
        <p:nvSpPr>
          <p:cNvPr id="9" name="Subtitle 2">
            <a:extLst>
              <a:ext uri="{FF2B5EF4-FFF2-40B4-BE49-F238E27FC236}">
                <a16:creationId xmlns:a16="http://schemas.microsoft.com/office/drawing/2014/main" id="{409EC9C4-DF97-8740-95BD-2B75B46592C8}"/>
              </a:ext>
            </a:extLst>
          </p:cNvPr>
          <p:cNvSpPr>
            <a:spLocks noGrp="1"/>
          </p:cNvSpPr>
          <p:nvPr>
            <p:ph type="subTitle" idx="1"/>
          </p:nvPr>
        </p:nvSpPr>
        <p:spPr>
          <a:xfrm>
            <a:off x="475010" y="925139"/>
            <a:ext cx="5905948" cy="362996"/>
          </a:xfrm>
          <a:prstGeom prst="rect">
            <a:avLst/>
          </a:prstGeom>
        </p:spPr>
        <p:txBody>
          <a:bodyPr lIns="0" rIns="0"/>
          <a:lstStyle>
            <a:lvl1pPr marL="0" indent="0" algn="l">
              <a:buNone/>
              <a:defRPr sz="1867" b="0" i="0">
                <a:solidFill>
                  <a:schemeClr val="bg1"/>
                </a:solidFill>
                <a:latin typeface="Samsung Sharp Sans Medium" pitchFamily="2" charset="77"/>
                <a:ea typeface="Samsung Sharp Sans Medium" pitchFamily="2" charset="77"/>
                <a:cs typeface="Samsung Sharp Sans Medium" pitchFamily="2" charset="77"/>
              </a:defRPr>
            </a:lvl1pPr>
            <a:lvl2pPr marL="609555" indent="0" algn="ctr">
              <a:buNone/>
              <a:defRPr sz="2667"/>
            </a:lvl2pPr>
            <a:lvl3pPr marL="1219110" indent="0" algn="ctr">
              <a:buNone/>
              <a:defRPr sz="2400"/>
            </a:lvl3pPr>
            <a:lvl4pPr marL="1828664" indent="0" algn="ctr">
              <a:buNone/>
              <a:defRPr sz="2133"/>
            </a:lvl4pPr>
            <a:lvl5pPr marL="2438218" indent="0" algn="ctr">
              <a:buNone/>
              <a:defRPr sz="2133"/>
            </a:lvl5pPr>
            <a:lvl6pPr marL="3047772" indent="0" algn="ctr">
              <a:buNone/>
              <a:defRPr sz="2133"/>
            </a:lvl6pPr>
            <a:lvl7pPr marL="3657327" indent="0" algn="ctr">
              <a:buNone/>
              <a:defRPr sz="2133"/>
            </a:lvl7pPr>
            <a:lvl8pPr marL="4266880" indent="0" algn="ctr">
              <a:buNone/>
              <a:defRPr sz="2133"/>
            </a:lvl8pPr>
            <a:lvl9pPr marL="4876435" indent="0" algn="ctr">
              <a:buNone/>
              <a:defRPr sz="2133"/>
            </a:lvl9pPr>
          </a:lstStyle>
          <a:p>
            <a:r>
              <a:rPr lang="en-US" dirty="0"/>
              <a:t>Click to edit Master subtitle style</a:t>
            </a:r>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6" name="그림 5">
            <a:extLst>
              <a:ext uri="{FF2B5EF4-FFF2-40B4-BE49-F238E27FC236}">
                <a16:creationId xmlns:a16="http://schemas.microsoft.com/office/drawing/2014/main" id="{A62D887E-1BE1-438E-A7D0-B415A62AEC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4400943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0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7923508" cy="532925"/>
          </a:xfrm>
          <a:prstGeom prst="rect">
            <a:avLst/>
          </a:prstGeom>
        </p:spPr>
        <p:txBody>
          <a:bodyPr lIns="0" rIns="0"/>
          <a:lstStyle>
            <a:lvl1pPr algn="l">
              <a:defRPr sz="3200" b="1" i="0">
                <a:solidFill>
                  <a:schemeClr val="bg1"/>
                </a:solidFill>
                <a:latin typeface="Samsung Sharp Sans Bold" pitchFamily="2" charset="77"/>
                <a:ea typeface="Samsung Sharp Sans Bold" pitchFamily="2" charset="77"/>
                <a:cs typeface="Samsung Sharp Sans Bold" pitchFamily="2" charset="77"/>
              </a:defRPr>
            </a:lvl1pPr>
          </a:lstStyle>
          <a:p>
            <a:r>
              <a:rPr lang="en-US" dirty="0"/>
              <a:t>Click to edit Master title</a:t>
            </a:r>
            <a:br>
              <a:rPr lang="en-US" dirty="0"/>
            </a:br>
            <a:endParaRPr lang="en-US" dirty="0"/>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57240E10-7EA5-456D-BB5F-B1D424DFE6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273774403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6_Custom Layout">
    <p:spTree>
      <p:nvGrpSpPr>
        <p:cNvPr id="1" name=""/>
        <p:cNvGrpSpPr/>
        <p:nvPr/>
      </p:nvGrpSpPr>
      <p:grpSpPr>
        <a:xfrm>
          <a:off x="0" y="0"/>
          <a:ext cx="0" cy="0"/>
          <a:chOff x="0" y="0"/>
          <a:chExt cx="0" cy="0"/>
        </a:xfrm>
      </p:grpSpPr>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044E2504-815A-4C6B-8A62-674F8922AA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18146621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6B1CE6-BE81-4923-8FB3-24AF0844BDA1}"/>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0DA8BD7E-0C67-4426-AB4F-E6A4BF088F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113D5FA-9BDD-415C-80E9-BF2A84A2CF1C}"/>
              </a:ext>
            </a:extLst>
          </p:cNvPr>
          <p:cNvSpPr>
            <a:spLocks noGrp="1"/>
          </p:cNvSpPr>
          <p:nvPr>
            <p:ph type="dt" sz="half" idx="10"/>
          </p:nvPr>
        </p:nvSpPr>
        <p:spPr/>
        <p:txBody>
          <a:bodyPr/>
          <a:lstStyle/>
          <a:p>
            <a:fld id="{9A06FC0D-950D-4B77-A05A-940B8884255E}" type="datetimeFigureOut">
              <a:rPr lang="ko-KR" altLang="en-US" smtClean="0"/>
              <a:t>2026-10-29</a:t>
            </a:fld>
            <a:endParaRPr lang="ko-KR" altLang="en-US"/>
          </a:p>
        </p:txBody>
      </p:sp>
      <p:sp>
        <p:nvSpPr>
          <p:cNvPr id="5" name="바닥글 개체 틀 4">
            <a:extLst>
              <a:ext uri="{FF2B5EF4-FFF2-40B4-BE49-F238E27FC236}">
                <a16:creationId xmlns:a16="http://schemas.microsoft.com/office/drawing/2014/main" id="{1635717D-8F85-4A46-A80D-28F861FB30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E82799C-0BB5-495A-92EE-5BED2DD69C50}"/>
              </a:ext>
            </a:extLst>
          </p:cNvPr>
          <p:cNvSpPr>
            <a:spLocks noGrp="1"/>
          </p:cNvSpPr>
          <p:nvPr>
            <p:ph type="sldNum" sz="quarter" idx="12"/>
          </p:nvPr>
        </p:nvSpPr>
        <p:spPr/>
        <p:txBody>
          <a:bodyPr/>
          <a:lstStyle/>
          <a:p>
            <a:fld id="{2249A7A2-F324-4CFD-B13E-7D0812B8DAC5}" type="slidenum">
              <a:rPr lang="ko-KR" altLang="en-US" smtClean="0"/>
              <a:t>‹#›</a:t>
            </a:fld>
            <a:endParaRPr lang="ko-KR" altLang="en-US"/>
          </a:p>
        </p:txBody>
      </p:sp>
    </p:spTree>
    <p:extLst>
      <p:ext uri="{BB962C8B-B14F-4D97-AF65-F5344CB8AC3E}">
        <p14:creationId xmlns:p14="http://schemas.microsoft.com/office/powerpoint/2010/main" val="312530048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7" name="Picture 6" descr="A picture containing drawing&#10;&#10;Description automatically generated">
            <a:extLst>
              <a:ext uri="{FF2B5EF4-FFF2-40B4-BE49-F238E27FC236}">
                <a16:creationId xmlns:a16="http://schemas.microsoft.com/office/drawing/2014/main" id="{BEB4836A-ADBD-45EF-3E65-9170AB581F1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054288" y="3128148"/>
            <a:ext cx="4083427" cy="601707"/>
          </a:xfrm>
          <a:prstGeom prst="rect">
            <a:avLst/>
          </a:prstGeom>
        </p:spPr>
      </p:pic>
    </p:spTree>
    <p:extLst>
      <p:ext uri="{BB962C8B-B14F-4D97-AF65-F5344CB8AC3E}">
        <p14:creationId xmlns:p14="http://schemas.microsoft.com/office/powerpoint/2010/main" val="29015849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92552080-B4B6-4F33-9842-246C7211B8B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745727" y="2804708"/>
            <a:ext cx="4700545" cy="1248583"/>
          </a:xfrm>
          <a:prstGeom prst="rect">
            <a:avLst/>
          </a:prstGeom>
        </p:spPr>
      </p:pic>
    </p:spTree>
    <p:extLst>
      <p:ext uri="{BB962C8B-B14F-4D97-AF65-F5344CB8AC3E}">
        <p14:creationId xmlns:p14="http://schemas.microsoft.com/office/powerpoint/2010/main" val="33203375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4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9600000" cy="532925"/>
          </a:xfrm>
          <a:prstGeom prst="rect">
            <a:avLst/>
          </a:prstGeom>
        </p:spPr>
        <p:txBody>
          <a:bodyPr lIns="0" rIns="0"/>
          <a:lstStyle>
            <a:lvl1pPr algn="l">
              <a:defRPr sz="3200" b="1" i="0" baseline="0">
                <a:solidFill>
                  <a:schemeClr val="bg1"/>
                </a:solidFill>
                <a:latin typeface="Samsung Sharp Sans Bold"/>
                <a:ea typeface="맑은 고딕" panose="020B0503020000020004" pitchFamily="50" charset="-127"/>
                <a:cs typeface="맑은 고딕" panose="020B0503020000020004" pitchFamily="50" charset="-127"/>
              </a:defRPr>
            </a:lvl1pPr>
          </a:lstStyle>
          <a:p>
            <a:r>
              <a:rPr lang="en-US" dirty="0"/>
              <a:t>Click to edit Master title</a:t>
            </a:r>
            <a:br>
              <a:rPr lang="en-US" dirty="0"/>
            </a:br>
            <a:endParaRPr lang="en-US" dirty="0"/>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57240E10-7EA5-456D-BB5F-B1D424DFE6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1" y="151659"/>
            <a:ext cx="1237801" cy="328791"/>
          </a:xfrm>
          <a:prstGeom prst="rect">
            <a:avLst/>
          </a:prstGeom>
        </p:spPr>
      </p:pic>
      <p:sp>
        <p:nvSpPr>
          <p:cNvPr id="7" name="내용 개체 틀 2"/>
          <p:cNvSpPr>
            <a:spLocks noGrp="1"/>
          </p:cNvSpPr>
          <p:nvPr>
            <p:ph idx="10"/>
          </p:nvPr>
        </p:nvSpPr>
        <p:spPr>
          <a:xfrm>
            <a:off x="475010" y="1079500"/>
            <a:ext cx="11259790" cy="5400500"/>
          </a:xfrm>
        </p:spPr>
        <p:txBody>
          <a:bodyPr>
            <a:normAutofit/>
          </a:bodyPr>
          <a:lstStyle>
            <a:lvl1pPr>
              <a:defRPr b="1" baseline="0">
                <a:solidFill>
                  <a:srgbClr val="FFFFFF"/>
                </a:solidFill>
                <a:latin typeface="SamsungOneKorean 600C"/>
                <a:ea typeface="SamsungOneKorean 600C"/>
              </a:defRPr>
            </a:lvl1pPr>
            <a:lvl2pPr marL="501909" indent="-342900">
              <a:buFont typeface="Arial" panose="020B0604020202020204" pitchFamily="34" charset="0"/>
              <a:buChar char="•"/>
              <a:defRPr sz="2000" baseline="0">
                <a:solidFill>
                  <a:srgbClr val="FFFFFF"/>
                </a:solidFill>
                <a:latin typeface="SamsungOneKorean 600C"/>
                <a:ea typeface="SamsungOneKorean 600C"/>
              </a:defRPr>
            </a:lvl2pPr>
            <a:lvl3pPr marL="720000" indent="-342900">
              <a:buFont typeface="Arial" panose="020B0604020202020204" pitchFamily="34" charset="0"/>
              <a:buChar char="•"/>
              <a:defRPr sz="1800" baseline="0">
                <a:solidFill>
                  <a:srgbClr val="FFFFFF"/>
                </a:solidFill>
                <a:latin typeface="SamsungOneKorean 600C"/>
                <a:ea typeface="SamsungOneKorean 600C"/>
              </a:defRPr>
            </a:lvl3pPr>
            <a:lvl4pPr marL="900000" indent="-285750">
              <a:buFont typeface="Arial" panose="020B0604020202020204" pitchFamily="34" charset="0"/>
              <a:buChar char="•"/>
              <a:defRPr sz="1400" baseline="0">
                <a:solidFill>
                  <a:srgbClr val="FFFFFF"/>
                </a:solidFill>
                <a:latin typeface="SamsungOneKorean 600C"/>
                <a:ea typeface="SamsungOneKorean 600C"/>
              </a:defRPr>
            </a:lvl4pPr>
            <a:lvl5pPr marL="1080000" indent="-285750">
              <a:buFont typeface="Arial" panose="020B0604020202020204" pitchFamily="34" charset="0"/>
              <a:buChar char="•"/>
              <a:defRPr sz="1400" baseline="0">
                <a:solidFill>
                  <a:srgbClr val="FFFFFF"/>
                </a:solidFill>
                <a:latin typeface="SamsungOneKorean 600C"/>
                <a:ea typeface="SamsungOneKorean 600C"/>
              </a:defRPr>
            </a:lvl5pPr>
          </a:lstStyle>
          <a:p>
            <a:pPr lvl="0"/>
            <a:r>
              <a:rPr lang="ko-KR" altLang="en-US" dirty="0"/>
              <a:t>마스터 텍스트 스타일 편집</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cxnSp>
        <p:nvCxnSpPr>
          <p:cNvPr id="6" name="직선 연결선 5">
            <a:extLst>
              <a:ext uri="{FF2B5EF4-FFF2-40B4-BE49-F238E27FC236}">
                <a16:creationId xmlns:a16="http://schemas.microsoft.com/office/drawing/2014/main" id="{E78C25FD-2FD7-4801-A6F1-7CDC27D1CDF1}"/>
              </a:ext>
            </a:extLst>
          </p:cNvPr>
          <p:cNvCxnSpPr/>
          <p:nvPr userDrawn="1"/>
        </p:nvCxnSpPr>
        <p:spPr>
          <a:xfrm flipH="1">
            <a:off x="296231" y="1018418"/>
            <a:ext cx="11552869" cy="0"/>
          </a:xfrm>
          <a:prstGeom prst="line">
            <a:avLst/>
          </a:prstGeom>
          <a:ln w="28575">
            <a:gradFill flip="none" rotWithShape="1">
              <a:gsLst>
                <a:gs pos="0">
                  <a:srgbClr val="004AEE"/>
                </a:gs>
                <a:gs pos="89524">
                  <a:srgbClr val="0DD5FF"/>
                </a:gs>
                <a:gs pos="61000">
                  <a:srgbClr val="0DD5FF"/>
                </a:gs>
              </a:gsLst>
              <a:lin ang="10800000" scaled="1"/>
              <a:tileRect/>
            </a:gra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78627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2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777CFFB-C76B-255C-F08B-AE4D272C1272}"/>
              </a:ext>
            </a:extLst>
          </p:cNvPr>
          <p:cNvSpPr/>
          <p:nvPr userDrawn="1"/>
        </p:nvSpPr>
        <p:spPr>
          <a:xfrm>
            <a:off x="0" y="0"/>
            <a:ext cx="12192000" cy="6858000"/>
          </a:xfrm>
          <a:prstGeom prst="rect">
            <a:avLst/>
          </a:prstGeom>
          <a:solidFill>
            <a:schemeClr val="tx1">
              <a:alpha val="20424"/>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360413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0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69193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3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42943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1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6A5056-25CA-7D11-6782-D571A0F8859F}"/>
              </a:ext>
            </a:extLst>
          </p:cNvPr>
          <p:cNvSpPr/>
          <p:nvPr userDrawn="1"/>
        </p:nvSpPr>
        <p:spPr>
          <a:xfrm>
            <a:off x="0" y="0"/>
            <a:ext cx="12192000" cy="6858000"/>
          </a:xfrm>
          <a:prstGeom prst="rect">
            <a:avLst/>
          </a:prstGeom>
          <a:solidFill>
            <a:schemeClr val="tx1">
              <a:alpha val="24526"/>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933564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4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27331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9_Tit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61502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5_Title">
    <p:bg>
      <p:bgPr>
        <a:solidFill>
          <a:schemeClr val="tx1"/>
        </a:solidFill>
        <a:effectLst/>
      </p:bgPr>
    </p:bg>
    <p:spTree>
      <p:nvGrpSpPr>
        <p:cNvPr id="1" name=""/>
        <p:cNvGrpSpPr/>
        <p:nvPr/>
      </p:nvGrpSpPr>
      <p:grpSpPr>
        <a:xfrm>
          <a:off x="0" y="0"/>
          <a:ext cx="0" cy="0"/>
          <a:chOff x="0" y="0"/>
          <a:chExt cx="0" cy="0"/>
        </a:xfrm>
      </p:grpSpPr>
      <p:pic>
        <p:nvPicPr>
          <p:cNvPr id="4" name="Picture 3" descr="A picture containing green&#10;&#10;Description automatically generated">
            <a:extLst>
              <a:ext uri="{FF2B5EF4-FFF2-40B4-BE49-F238E27FC236}">
                <a16:creationId xmlns:a16="http://schemas.microsoft.com/office/drawing/2014/main" id="{9CDD1722-AC1D-A3E6-8241-89D910B6400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Rectangle 4">
            <a:extLst>
              <a:ext uri="{FF2B5EF4-FFF2-40B4-BE49-F238E27FC236}">
                <a16:creationId xmlns:a16="http://schemas.microsoft.com/office/drawing/2014/main" id="{5F6BE802-6EAA-9CAC-D92E-3323E0DB61F0}"/>
              </a:ext>
            </a:extLst>
          </p:cNvPr>
          <p:cNvSpPr/>
          <p:nvPr userDrawn="1"/>
        </p:nvSpPr>
        <p:spPr>
          <a:xfrm>
            <a:off x="0" y="-2"/>
            <a:ext cx="12192000" cy="6858001"/>
          </a:xfrm>
          <a:prstGeom prst="rect">
            <a:avLst/>
          </a:prstGeom>
          <a:solidFill>
            <a:schemeClr val="tx1">
              <a:alpha val="9734"/>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45679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7923508" cy="532925"/>
          </a:xfrm>
          <a:prstGeom prst="rect">
            <a:avLst/>
          </a:prstGeom>
        </p:spPr>
        <p:txBody>
          <a:bodyPr lIns="0" rIns="0"/>
          <a:lstStyle>
            <a:lvl1pPr algn="l">
              <a:defRPr sz="3200" b="1" i="0">
                <a:solidFill>
                  <a:schemeClr val="bg1"/>
                </a:solidFill>
                <a:latin typeface="Samsung Sharp Sans Bold" pitchFamily="2" charset="77"/>
                <a:ea typeface="Samsung Sharp Sans Bold" pitchFamily="2" charset="77"/>
                <a:cs typeface="Samsung Sharp Sans Bold" pitchFamily="2" charset="77"/>
              </a:defRPr>
            </a:lvl1pPr>
          </a:lstStyle>
          <a:p>
            <a:r>
              <a:rPr lang="en-US" dirty="0"/>
              <a:t>Click to edit Master title</a:t>
            </a:r>
            <a:br>
              <a:rPr lang="en-US" dirty="0"/>
            </a:br>
            <a:endParaRPr lang="en-US" dirty="0"/>
          </a:p>
        </p:txBody>
      </p:sp>
      <p:sp>
        <p:nvSpPr>
          <p:cNvPr id="9" name="Subtitle 2">
            <a:extLst>
              <a:ext uri="{FF2B5EF4-FFF2-40B4-BE49-F238E27FC236}">
                <a16:creationId xmlns:a16="http://schemas.microsoft.com/office/drawing/2014/main" id="{409EC9C4-DF97-8740-95BD-2B75B46592C8}"/>
              </a:ext>
            </a:extLst>
          </p:cNvPr>
          <p:cNvSpPr>
            <a:spLocks noGrp="1"/>
          </p:cNvSpPr>
          <p:nvPr>
            <p:ph type="subTitle" idx="1"/>
          </p:nvPr>
        </p:nvSpPr>
        <p:spPr>
          <a:xfrm>
            <a:off x="475010" y="925139"/>
            <a:ext cx="5905948" cy="362996"/>
          </a:xfrm>
          <a:prstGeom prst="rect">
            <a:avLst/>
          </a:prstGeom>
        </p:spPr>
        <p:txBody>
          <a:bodyPr lIns="0" rIns="0"/>
          <a:lstStyle>
            <a:lvl1pPr marL="0" indent="0" algn="l">
              <a:buNone/>
              <a:defRPr sz="1867" b="0" i="0">
                <a:solidFill>
                  <a:schemeClr val="bg1"/>
                </a:solidFill>
                <a:latin typeface="Samsung Sharp Sans Medium" pitchFamily="2" charset="77"/>
                <a:ea typeface="Samsung Sharp Sans Medium" pitchFamily="2" charset="77"/>
                <a:cs typeface="Samsung Sharp Sans Medium" pitchFamily="2" charset="77"/>
              </a:defRPr>
            </a:lvl1pPr>
            <a:lvl2pPr marL="609555" indent="0" algn="ctr">
              <a:buNone/>
              <a:defRPr sz="2667"/>
            </a:lvl2pPr>
            <a:lvl3pPr marL="1219110" indent="0" algn="ctr">
              <a:buNone/>
              <a:defRPr sz="2400"/>
            </a:lvl3pPr>
            <a:lvl4pPr marL="1828664" indent="0" algn="ctr">
              <a:buNone/>
              <a:defRPr sz="2133"/>
            </a:lvl4pPr>
            <a:lvl5pPr marL="2438218" indent="0" algn="ctr">
              <a:buNone/>
              <a:defRPr sz="2133"/>
            </a:lvl5pPr>
            <a:lvl6pPr marL="3047772" indent="0" algn="ctr">
              <a:buNone/>
              <a:defRPr sz="2133"/>
            </a:lvl6pPr>
            <a:lvl7pPr marL="3657327" indent="0" algn="ctr">
              <a:buNone/>
              <a:defRPr sz="2133"/>
            </a:lvl7pPr>
            <a:lvl8pPr marL="4266880" indent="0" algn="ctr">
              <a:buNone/>
              <a:defRPr sz="2133"/>
            </a:lvl8pPr>
            <a:lvl9pPr marL="4876435" indent="0" algn="ctr">
              <a:buNone/>
              <a:defRPr sz="2133"/>
            </a:lvl9pPr>
          </a:lstStyle>
          <a:p>
            <a:r>
              <a:rPr lang="en-US" dirty="0"/>
              <a:t>Click to edit Master subtitle style</a:t>
            </a:r>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sp>
        <p:nvSpPr>
          <p:cNvPr id="14" name="Text Placeholder 61">
            <a:extLst>
              <a:ext uri="{FF2B5EF4-FFF2-40B4-BE49-F238E27FC236}">
                <a16:creationId xmlns:a16="http://schemas.microsoft.com/office/drawing/2014/main" id="{20BB6F58-1910-91C8-58C7-4EED278E8A50}"/>
              </a:ext>
            </a:extLst>
          </p:cNvPr>
          <p:cNvSpPr>
            <a:spLocks noGrp="1"/>
          </p:cNvSpPr>
          <p:nvPr>
            <p:ph type="body" sz="quarter" idx="42" hasCustomPrompt="1"/>
          </p:nvPr>
        </p:nvSpPr>
        <p:spPr>
          <a:xfrm>
            <a:off x="475010" y="2573607"/>
            <a:ext cx="8663073" cy="338554"/>
          </a:xfrm>
          <a:prstGeom prst="rect">
            <a:avLst/>
          </a:prstGeom>
        </p:spPr>
        <p:txBody>
          <a:bodyPr wrap="square">
            <a:spAutoFit/>
          </a:bodyPr>
          <a:lstStyle>
            <a:lvl1pPr marL="0" indent="0">
              <a:lnSpc>
                <a:spcPct val="100000"/>
              </a:lnSpc>
              <a:spcBef>
                <a:spcPts val="267"/>
              </a:spcBef>
              <a:buNone/>
              <a:defRPr kumimoji="1" lang="ja-JP" altLang="en-US" sz="1600" baseline="0" dirty="0">
                <a:solidFill>
                  <a:schemeClr val="bg1"/>
                </a:solidFill>
                <a:latin typeface="Samsung Sharp Sans Medium" pitchFamily="2" charset="0"/>
                <a:cs typeface="Samsung Sharp Sans Medium" pitchFamily="2" charset="0"/>
              </a:defRPr>
            </a:lvl1pPr>
          </a:lstStyle>
          <a:p>
            <a:pPr lvl="0"/>
            <a:r>
              <a:rPr kumimoji="1" lang="en-US" altLang="ja-JP" dirty="0"/>
              <a:t>Text here. </a:t>
            </a:r>
          </a:p>
        </p:txBody>
      </p:sp>
      <p:sp>
        <p:nvSpPr>
          <p:cNvPr id="15" name="Text Placeholder 61">
            <a:extLst>
              <a:ext uri="{FF2B5EF4-FFF2-40B4-BE49-F238E27FC236}">
                <a16:creationId xmlns:a16="http://schemas.microsoft.com/office/drawing/2014/main" id="{780E7B3E-1329-1322-4298-FEF2833BB339}"/>
              </a:ext>
            </a:extLst>
          </p:cNvPr>
          <p:cNvSpPr>
            <a:spLocks noGrp="1"/>
          </p:cNvSpPr>
          <p:nvPr>
            <p:ph type="body" sz="quarter" idx="43" hasCustomPrompt="1"/>
          </p:nvPr>
        </p:nvSpPr>
        <p:spPr>
          <a:xfrm>
            <a:off x="475008" y="1929073"/>
            <a:ext cx="8668264" cy="502766"/>
          </a:xfrm>
          <a:prstGeom prst="rect">
            <a:avLst/>
          </a:prstGeom>
        </p:spPr>
        <p:txBody>
          <a:bodyPr wrap="square">
            <a:spAutoFit/>
          </a:bodyPr>
          <a:lstStyle>
            <a:lvl1pPr marL="0" indent="0">
              <a:spcBef>
                <a:spcPts val="267"/>
              </a:spcBef>
              <a:buNone/>
              <a:defRPr kumimoji="1" lang="ja-JP" altLang="en-US" sz="2667" baseline="0" dirty="0">
                <a:solidFill>
                  <a:schemeClr val="bg1"/>
                </a:solidFill>
                <a:latin typeface="Samsung Sharp Sans Bold" pitchFamily="2" charset="0"/>
                <a:cs typeface="Samsung Sharp Sans Bold" pitchFamily="2" charset="0"/>
              </a:defRPr>
            </a:lvl1pPr>
          </a:lstStyle>
          <a:p>
            <a:pPr lvl="0"/>
            <a:r>
              <a:rPr lang="en-US" altLang="ko-KR" dirty="0"/>
              <a:t>Insert text here. </a:t>
            </a:r>
            <a:endParaRPr lang="ko-KR" altLang="en-US" dirty="0"/>
          </a:p>
        </p:txBody>
      </p:sp>
      <p:pic>
        <p:nvPicPr>
          <p:cNvPr id="10" name="그림 9">
            <a:extLst>
              <a:ext uri="{FF2B5EF4-FFF2-40B4-BE49-F238E27FC236}">
                <a16:creationId xmlns:a16="http://schemas.microsoft.com/office/drawing/2014/main" id="{B0200668-03D7-44A1-8921-FDA2284D957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63080506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7923508" cy="532925"/>
          </a:xfrm>
          <a:prstGeom prst="rect">
            <a:avLst/>
          </a:prstGeom>
        </p:spPr>
        <p:txBody>
          <a:bodyPr lIns="0" rIns="0"/>
          <a:lstStyle>
            <a:lvl1pPr algn="l">
              <a:defRPr sz="3200" b="1" i="0">
                <a:solidFill>
                  <a:schemeClr val="bg1"/>
                </a:solidFill>
                <a:latin typeface="Samsung Sharp Sans Bold" pitchFamily="2" charset="77"/>
                <a:ea typeface="Samsung Sharp Sans Bold" pitchFamily="2" charset="77"/>
                <a:cs typeface="Samsung Sharp Sans Bold" pitchFamily="2" charset="77"/>
              </a:defRPr>
            </a:lvl1pPr>
          </a:lstStyle>
          <a:p>
            <a:r>
              <a:rPr lang="en-US" dirty="0"/>
              <a:t>Click to edit Master title</a:t>
            </a:r>
            <a:br>
              <a:rPr lang="en-US" dirty="0"/>
            </a:br>
            <a:endParaRPr lang="en-US" dirty="0"/>
          </a:p>
        </p:txBody>
      </p:sp>
      <p:sp>
        <p:nvSpPr>
          <p:cNvPr id="9" name="Subtitle 2">
            <a:extLst>
              <a:ext uri="{FF2B5EF4-FFF2-40B4-BE49-F238E27FC236}">
                <a16:creationId xmlns:a16="http://schemas.microsoft.com/office/drawing/2014/main" id="{409EC9C4-DF97-8740-95BD-2B75B46592C8}"/>
              </a:ext>
            </a:extLst>
          </p:cNvPr>
          <p:cNvSpPr>
            <a:spLocks noGrp="1"/>
          </p:cNvSpPr>
          <p:nvPr>
            <p:ph type="subTitle" idx="1"/>
          </p:nvPr>
        </p:nvSpPr>
        <p:spPr>
          <a:xfrm>
            <a:off x="475010" y="925139"/>
            <a:ext cx="5905948" cy="362996"/>
          </a:xfrm>
          <a:prstGeom prst="rect">
            <a:avLst/>
          </a:prstGeom>
        </p:spPr>
        <p:txBody>
          <a:bodyPr lIns="0" rIns="0"/>
          <a:lstStyle>
            <a:lvl1pPr marL="0" indent="0" algn="l">
              <a:buNone/>
              <a:defRPr sz="1867" b="0" i="0">
                <a:solidFill>
                  <a:schemeClr val="bg1"/>
                </a:solidFill>
                <a:latin typeface="Samsung Sharp Sans Medium" pitchFamily="2" charset="77"/>
                <a:ea typeface="Samsung Sharp Sans Medium" pitchFamily="2" charset="77"/>
                <a:cs typeface="Samsung Sharp Sans Medium" pitchFamily="2" charset="77"/>
              </a:defRPr>
            </a:lvl1pPr>
            <a:lvl2pPr marL="609555" indent="0" algn="ctr">
              <a:buNone/>
              <a:defRPr sz="2667"/>
            </a:lvl2pPr>
            <a:lvl3pPr marL="1219110" indent="0" algn="ctr">
              <a:buNone/>
              <a:defRPr sz="2400"/>
            </a:lvl3pPr>
            <a:lvl4pPr marL="1828664" indent="0" algn="ctr">
              <a:buNone/>
              <a:defRPr sz="2133"/>
            </a:lvl4pPr>
            <a:lvl5pPr marL="2438218" indent="0" algn="ctr">
              <a:buNone/>
              <a:defRPr sz="2133"/>
            </a:lvl5pPr>
            <a:lvl6pPr marL="3047772" indent="0" algn="ctr">
              <a:buNone/>
              <a:defRPr sz="2133"/>
            </a:lvl6pPr>
            <a:lvl7pPr marL="3657327" indent="0" algn="ctr">
              <a:buNone/>
              <a:defRPr sz="2133"/>
            </a:lvl7pPr>
            <a:lvl8pPr marL="4266880" indent="0" algn="ctr">
              <a:buNone/>
              <a:defRPr sz="2133"/>
            </a:lvl8pPr>
            <a:lvl9pPr marL="4876435" indent="0" algn="ctr">
              <a:buNone/>
              <a:defRPr sz="2133"/>
            </a:lvl9pPr>
          </a:lstStyle>
          <a:p>
            <a:r>
              <a:rPr lang="en-US" dirty="0"/>
              <a:t>Click to edit Master subtitle style</a:t>
            </a:r>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6" name="그림 5">
            <a:extLst>
              <a:ext uri="{FF2B5EF4-FFF2-40B4-BE49-F238E27FC236}">
                <a16:creationId xmlns:a16="http://schemas.microsoft.com/office/drawing/2014/main" id="{A62D887E-1BE1-438E-A7D0-B415A62AEC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25761629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0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7923508" cy="532925"/>
          </a:xfrm>
          <a:prstGeom prst="rect">
            <a:avLst/>
          </a:prstGeom>
        </p:spPr>
        <p:txBody>
          <a:bodyPr lIns="0" rIns="0"/>
          <a:lstStyle>
            <a:lvl1pPr algn="l">
              <a:defRPr sz="3200" b="1" i="0">
                <a:solidFill>
                  <a:schemeClr val="bg1"/>
                </a:solidFill>
                <a:latin typeface="Samsung Sharp Sans Bold" pitchFamily="2" charset="77"/>
                <a:ea typeface="Samsung Sharp Sans Bold" pitchFamily="2" charset="77"/>
                <a:cs typeface="Samsung Sharp Sans Bold" pitchFamily="2" charset="77"/>
              </a:defRPr>
            </a:lvl1pPr>
          </a:lstStyle>
          <a:p>
            <a:r>
              <a:rPr lang="en-US" dirty="0"/>
              <a:t>Click to edit Master title</a:t>
            </a:r>
            <a:br>
              <a:rPr lang="en-US" dirty="0"/>
            </a:br>
            <a:endParaRPr lang="en-US" dirty="0"/>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57240E10-7EA5-456D-BB5F-B1D424DFE6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2571248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_Custom Layout">
    <p:spTree>
      <p:nvGrpSpPr>
        <p:cNvPr id="1" name=""/>
        <p:cNvGrpSpPr/>
        <p:nvPr/>
      </p:nvGrpSpPr>
      <p:grpSpPr>
        <a:xfrm>
          <a:off x="0" y="0"/>
          <a:ext cx="0" cy="0"/>
          <a:chOff x="0" y="0"/>
          <a:chExt cx="0" cy="0"/>
        </a:xfrm>
      </p:grpSpPr>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044E2504-815A-4C6B-8A62-674F8922AA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46119576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6B1CE6-BE81-4923-8FB3-24AF0844BDA1}"/>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0DA8BD7E-0C67-4426-AB4F-E6A4BF088F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113D5FA-9BDD-415C-80E9-BF2A84A2CF1C}"/>
              </a:ext>
            </a:extLst>
          </p:cNvPr>
          <p:cNvSpPr>
            <a:spLocks noGrp="1"/>
          </p:cNvSpPr>
          <p:nvPr>
            <p:ph type="dt" sz="half" idx="10"/>
          </p:nvPr>
        </p:nvSpPr>
        <p:spPr/>
        <p:txBody>
          <a:bodyPr/>
          <a:lstStyle/>
          <a:p>
            <a:fld id="{9A06FC0D-950D-4B77-A05A-940B8884255E}" type="datetimeFigureOut">
              <a:rPr lang="ko-KR" altLang="en-US" smtClean="0"/>
              <a:t>2026-10-29</a:t>
            </a:fld>
            <a:endParaRPr lang="ko-KR" altLang="en-US"/>
          </a:p>
        </p:txBody>
      </p:sp>
      <p:sp>
        <p:nvSpPr>
          <p:cNvPr id="5" name="바닥글 개체 틀 4">
            <a:extLst>
              <a:ext uri="{FF2B5EF4-FFF2-40B4-BE49-F238E27FC236}">
                <a16:creationId xmlns:a16="http://schemas.microsoft.com/office/drawing/2014/main" id="{1635717D-8F85-4A46-A80D-28F861FB30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E82799C-0BB5-495A-92EE-5BED2DD69C50}"/>
              </a:ext>
            </a:extLst>
          </p:cNvPr>
          <p:cNvSpPr>
            <a:spLocks noGrp="1"/>
          </p:cNvSpPr>
          <p:nvPr>
            <p:ph type="sldNum" sz="quarter" idx="12"/>
          </p:nvPr>
        </p:nvSpPr>
        <p:spPr/>
        <p:txBody>
          <a:bodyPr/>
          <a:lstStyle/>
          <a:p>
            <a:fld id="{2249A7A2-F324-4CFD-B13E-7D0812B8DAC5}" type="slidenum">
              <a:rPr lang="ko-KR" altLang="en-US" smtClean="0"/>
              <a:t>‹#›</a:t>
            </a:fld>
            <a:endParaRPr lang="ko-KR" altLang="en-US"/>
          </a:p>
        </p:txBody>
      </p:sp>
    </p:spTree>
    <p:extLst>
      <p:ext uri="{BB962C8B-B14F-4D97-AF65-F5344CB8AC3E}">
        <p14:creationId xmlns:p14="http://schemas.microsoft.com/office/powerpoint/2010/main" val="402972563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7" name="Picture 6" descr="A picture containing drawing&#10;&#10;Description automatically generated">
            <a:extLst>
              <a:ext uri="{FF2B5EF4-FFF2-40B4-BE49-F238E27FC236}">
                <a16:creationId xmlns:a16="http://schemas.microsoft.com/office/drawing/2014/main" id="{BEB4836A-ADBD-45EF-3E65-9170AB581F1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054288" y="3128148"/>
            <a:ext cx="4083427" cy="601707"/>
          </a:xfrm>
          <a:prstGeom prst="rect">
            <a:avLst/>
          </a:prstGeom>
        </p:spPr>
      </p:pic>
    </p:spTree>
    <p:extLst>
      <p:ext uri="{BB962C8B-B14F-4D97-AF65-F5344CB8AC3E}">
        <p14:creationId xmlns:p14="http://schemas.microsoft.com/office/powerpoint/2010/main" val="7846835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92552080-B4B6-4F33-9842-246C7211B8B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745727" y="2804708"/>
            <a:ext cx="4700545" cy="1248583"/>
          </a:xfrm>
          <a:prstGeom prst="rect">
            <a:avLst/>
          </a:prstGeom>
        </p:spPr>
      </p:pic>
    </p:spTree>
    <p:extLst>
      <p:ext uri="{BB962C8B-B14F-4D97-AF65-F5344CB8AC3E}">
        <p14:creationId xmlns:p14="http://schemas.microsoft.com/office/powerpoint/2010/main" val="263331994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4_Custom Layout">
    <p:spTree>
      <p:nvGrpSpPr>
        <p:cNvPr id="1" name=""/>
        <p:cNvGrpSpPr/>
        <p:nvPr/>
      </p:nvGrpSpPr>
      <p:grpSpPr>
        <a:xfrm>
          <a:off x="0" y="0"/>
          <a:ext cx="0" cy="0"/>
          <a:chOff x="0" y="0"/>
          <a:chExt cx="0" cy="0"/>
        </a:xfrm>
      </p:grpSpPr>
      <p:sp>
        <p:nvSpPr>
          <p:cNvPr id="8" name="Title 18">
            <a:extLst>
              <a:ext uri="{FF2B5EF4-FFF2-40B4-BE49-F238E27FC236}">
                <a16:creationId xmlns:a16="http://schemas.microsoft.com/office/drawing/2014/main" id="{1924F11C-976A-084C-9B69-A2A6AA2B237D}"/>
              </a:ext>
            </a:extLst>
          </p:cNvPr>
          <p:cNvSpPr>
            <a:spLocks noGrp="1"/>
          </p:cNvSpPr>
          <p:nvPr>
            <p:ph type="title" hasCustomPrompt="1"/>
          </p:nvPr>
        </p:nvSpPr>
        <p:spPr>
          <a:xfrm>
            <a:off x="475010" y="367440"/>
            <a:ext cx="9600000" cy="532925"/>
          </a:xfrm>
          <a:prstGeom prst="rect">
            <a:avLst/>
          </a:prstGeom>
        </p:spPr>
        <p:txBody>
          <a:bodyPr lIns="0" rIns="0"/>
          <a:lstStyle>
            <a:lvl1pPr algn="l">
              <a:defRPr sz="3200" b="1" i="0" baseline="0">
                <a:solidFill>
                  <a:schemeClr val="bg1"/>
                </a:solidFill>
                <a:latin typeface="Samsung Sharp Sans Bold"/>
                <a:ea typeface="맑은 고딕" panose="020B0503020000020004" pitchFamily="50" charset="-127"/>
                <a:cs typeface="맑은 고딕" panose="020B0503020000020004" pitchFamily="50" charset="-127"/>
              </a:defRPr>
            </a:lvl1pPr>
          </a:lstStyle>
          <a:p>
            <a:r>
              <a:rPr lang="en-US" dirty="0"/>
              <a:t>Click to edit Master title</a:t>
            </a:r>
            <a:br>
              <a:rPr lang="en-US" dirty="0"/>
            </a:br>
            <a:endParaRPr lang="en-US" dirty="0"/>
          </a:p>
        </p:txBody>
      </p:sp>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57240E10-7EA5-456D-BB5F-B1D424DFE6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1" y="151659"/>
            <a:ext cx="1237801" cy="328791"/>
          </a:xfrm>
          <a:prstGeom prst="rect">
            <a:avLst/>
          </a:prstGeom>
        </p:spPr>
      </p:pic>
      <p:sp>
        <p:nvSpPr>
          <p:cNvPr id="7" name="내용 개체 틀 2"/>
          <p:cNvSpPr>
            <a:spLocks noGrp="1"/>
          </p:cNvSpPr>
          <p:nvPr>
            <p:ph idx="10"/>
          </p:nvPr>
        </p:nvSpPr>
        <p:spPr>
          <a:xfrm>
            <a:off x="475010" y="1079500"/>
            <a:ext cx="11259790" cy="5400500"/>
          </a:xfrm>
        </p:spPr>
        <p:txBody>
          <a:bodyPr>
            <a:normAutofit/>
          </a:bodyPr>
          <a:lstStyle>
            <a:lvl1pPr>
              <a:defRPr b="1" baseline="0">
                <a:solidFill>
                  <a:srgbClr val="FFFFFF"/>
                </a:solidFill>
                <a:latin typeface="SamsungOneKorean 600C"/>
                <a:ea typeface="SamsungOneKorean 600C"/>
              </a:defRPr>
            </a:lvl1pPr>
            <a:lvl2pPr marL="501909" indent="-342900">
              <a:buFont typeface="Arial" panose="020B0604020202020204" pitchFamily="34" charset="0"/>
              <a:buChar char="•"/>
              <a:defRPr sz="2000" baseline="0">
                <a:solidFill>
                  <a:srgbClr val="FFFFFF"/>
                </a:solidFill>
                <a:latin typeface="SamsungOneKorean 600C"/>
                <a:ea typeface="SamsungOneKorean 600C"/>
              </a:defRPr>
            </a:lvl2pPr>
            <a:lvl3pPr marL="720000" indent="-342900">
              <a:buFont typeface="Arial" panose="020B0604020202020204" pitchFamily="34" charset="0"/>
              <a:buChar char="•"/>
              <a:defRPr sz="1800" baseline="0">
                <a:solidFill>
                  <a:srgbClr val="FFFFFF"/>
                </a:solidFill>
                <a:latin typeface="SamsungOneKorean 600C"/>
                <a:ea typeface="SamsungOneKorean 600C"/>
              </a:defRPr>
            </a:lvl3pPr>
            <a:lvl4pPr marL="900000" indent="-285750">
              <a:buFont typeface="Arial" panose="020B0604020202020204" pitchFamily="34" charset="0"/>
              <a:buChar char="•"/>
              <a:defRPr sz="1400" baseline="0">
                <a:solidFill>
                  <a:srgbClr val="FFFFFF"/>
                </a:solidFill>
                <a:latin typeface="SamsungOneKorean 600C"/>
                <a:ea typeface="SamsungOneKorean 600C"/>
              </a:defRPr>
            </a:lvl4pPr>
            <a:lvl5pPr marL="1080000" indent="-285750">
              <a:buFont typeface="Arial" panose="020B0604020202020204" pitchFamily="34" charset="0"/>
              <a:buChar char="•"/>
              <a:defRPr sz="1400" baseline="0">
                <a:solidFill>
                  <a:srgbClr val="FFFFFF"/>
                </a:solidFill>
                <a:latin typeface="SamsungOneKorean 600C"/>
                <a:ea typeface="SamsungOneKorean 600C"/>
              </a:defRPr>
            </a:lvl5pPr>
          </a:lstStyle>
          <a:p>
            <a:pPr lvl="0"/>
            <a:r>
              <a:rPr lang="ko-KR" altLang="en-US" dirty="0"/>
              <a:t>마스터 텍스트 스타일 편집</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cxnSp>
        <p:nvCxnSpPr>
          <p:cNvPr id="6" name="직선 연결선 5">
            <a:extLst>
              <a:ext uri="{FF2B5EF4-FFF2-40B4-BE49-F238E27FC236}">
                <a16:creationId xmlns:a16="http://schemas.microsoft.com/office/drawing/2014/main" id="{E78C25FD-2FD7-4801-A6F1-7CDC27D1CDF1}"/>
              </a:ext>
            </a:extLst>
          </p:cNvPr>
          <p:cNvCxnSpPr/>
          <p:nvPr userDrawn="1"/>
        </p:nvCxnSpPr>
        <p:spPr>
          <a:xfrm flipH="1">
            <a:off x="296231" y="1018418"/>
            <a:ext cx="11552869" cy="0"/>
          </a:xfrm>
          <a:prstGeom prst="line">
            <a:avLst/>
          </a:prstGeom>
          <a:ln w="28575">
            <a:gradFill flip="none" rotWithShape="1">
              <a:gsLst>
                <a:gs pos="0">
                  <a:srgbClr val="004AEE"/>
                </a:gs>
                <a:gs pos="89524">
                  <a:srgbClr val="0DD5FF"/>
                </a:gs>
                <a:gs pos="61000">
                  <a:srgbClr val="0DD5FF"/>
                </a:gs>
              </a:gsLst>
              <a:lin ang="10800000" scaled="1"/>
              <a:tileRect/>
            </a:gra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712808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AB4EC650-D728-4CCD-827E-82C3E43FAE72}" type="datetime1">
              <a:rPr lang="ko-KR" altLang="en-US" smtClean="0"/>
              <a:t>2026-10-29</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F889C64-266A-4D07-AD8F-5B592E61CCE1}" type="slidenum">
              <a:rPr lang="ko-KR" altLang="en-US" smtClean="0"/>
              <a:t>‹#›</a:t>
            </a:fld>
            <a:endParaRPr lang="ko-KR" altLang="en-US"/>
          </a:p>
        </p:txBody>
      </p:sp>
    </p:spTree>
    <p:extLst>
      <p:ext uri="{BB962C8B-B14F-4D97-AF65-F5344CB8AC3E}">
        <p14:creationId xmlns:p14="http://schemas.microsoft.com/office/powerpoint/2010/main" val="250419346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123613722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과제소개">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15515756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요구사항">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29626305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설계">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130519664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구현검증">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24089099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결론">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96115508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직선 연결선 14"/>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7" name="갈매기형 수장 16"/>
          <p:cNvSpPr/>
          <p:nvPr userDrawn="1"/>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18" name="갈매기형 수장 17"/>
          <p:cNvSpPr/>
          <p:nvPr userDrawn="1"/>
        </p:nvSpPr>
        <p:spPr>
          <a:xfrm>
            <a:off x="7402754"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요구사항</a:t>
            </a:r>
          </a:p>
        </p:txBody>
      </p:sp>
      <p:sp>
        <p:nvSpPr>
          <p:cNvPr id="19" name="갈매기형 수장 18"/>
          <p:cNvSpPr/>
          <p:nvPr userDrawn="1"/>
        </p:nvSpPr>
        <p:spPr>
          <a:xfrm>
            <a:off x="83016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5" name="갈매기형 수장 24"/>
          <p:cNvSpPr/>
          <p:nvPr userDrawn="1"/>
        </p:nvSpPr>
        <p:spPr>
          <a:xfrm>
            <a:off x="9194153"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6" name="갈매기형 수장 25"/>
          <p:cNvSpPr/>
          <p:nvPr userDrawn="1"/>
        </p:nvSpPr>
        <p:spPr>
          <a:xfrm>
            <a:off x="1008663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8" name="직사각형 27"/>
          <p:cNvSpPr/>
          <p:nvPr userDrawn="1"/>
        </p:nvSpPr>
        <p:spPr>
          <a:xfrm>
            <a:off x="10909598"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29" name="직사각형 28"/>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4" name="직사각형 13"/>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10217212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3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직선 연결선 14"/>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7" name="갈매기형 수장 16"/>
          <p:cNvSpPr/>
          <p:nvPr userDrawn="1"/>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18" name="갈매기형 수장 17"/>
          <p:cNvSpPr/>
          <p:nvPr userDrawn="1"/>
        </p:nvSpPr>
        <p:spPr>
          <a:xfrm>
            <a:off x="7402754"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19" name="갈매기형 수장 18"/>
          <p:cNvSpPr/>
          <p:nvPr userDrawn="1"/>
        </p:nvSpPr>
        <p:spPr>
          <a:xfrm>
            <a:off x="8301672"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설계</a:t>
            </a:r>
          </a:p>
        </p:txBody>
      </p:sp>
      <p:sp>
        <p:nvSpPr>
          <p:cNvPr id="25" name="갈매기형 수장 24"/>
          <p:cNvSpPr/>
          <p:nvPr userDrawn="1"/>
        </p:nvSpPr>
        <p:spPr>
          <a:xfrm>
            <a:off x="9194153"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6" name="갈매기형 수장 25"/>
          <p:cNvSpPr/>
          <p:nvPr userDrawn="1"/>
        </p:nvSpPr>
        <p:spPr>
          <a:xfrm>
            <a:off x="1008663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8" name="직사각형 27"/>
          <p:cNvSpPr/>
          <p:nvPr userDrawn="1"/>
        </p:nvSpPr>
        <p:spPr>
          <a:xfrm>
            <a:off x="10909598"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29" name="직사각형 28"/>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4" name="직사각형 13"/>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21"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22" name="TextBox 2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236494574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직선 연결선 14"/>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제목 개체 틀 1"/>
          <p:cNvSpPr>
            <a:spLocks noGrp="1"/>
          </p:cNvSpPr>
          <p:nvPr>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7" name="갈매기형 수장 16"/>
          <p:cNvSpPr/>
          <p:nvPr userDrawn="1"/>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18" name="갈매기형 수장 17"/>
          <p:cNvSpPr/>
          <p:nvPr userDrawn="1"/>
        </p:nvSpPr>
        <p:spPr>
          <a:xfrm>
            <a:off x="7402754"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19" name="갈매기형 수장 18"/>
          <p:cNvSpPr/>
          <p:nvPr userDrawn="1"/>
        </p:nvSpPr>
        <p:spPr>
          <a:xfrm>
            <a:off x="83016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5" name="갈매기형 수장 24"/>
          <p:cNvSpPr/>
          <p:nvPr userDrawn="1"/>
        </p:nvSpPr>
        <p:spPr>
          <a:xfrm>
            <a:off x="9194153"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6" name="갈매기형 수장 25"/>
          <p:cNvSpPr/>
          <p:nvPr userDrawn="1"/>
        </p:nvSpPr>
        <p:spPr>
          <a:xfrm>
            <a:off x="1008663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8" name="직사각형 27"/>
          <p:cNvSpPr/>
          <p:nvPr userDrawn="1"/>
        </p:nvSpPr>
        <p:spPr>
          <a:xfrm>
            <a:off x="10909598"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29" name="직사각형 28"/>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4" name="직사각형 13"/>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21"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22" name="TextBox 2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399887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제목 및 내용">
    <p:spTree>
      <p:nvGrpSpPr>
        <p:cNvPr id="1" name=""/>
        <p:cNvGrpSpPr/>
        <p:nvPr/>
      </p:nvGrpSpPr>
      <p:grpSpPr>
        <a:xfrm>
          <a:off x="0" y="0"/>
          <a:ext cx="0" cy="0"/>
          <a:chOff x="0" y="0"/>
          <a:chExt cx="0" cy="0"/>
        </a:xfrm>
      </p:grpSpPr>
      <p:cxnSp>
        <p:nvCxnSpPr>
          <p:cNvPr id="10" name="직선 연결선 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제목 개체 틀 1"/>
          <p:cNvSpPr>
            <a:spLocks noGrp="1"/>
          </p:cNvSpPr>
          <p:nvPr userDrawn="1">
            <p:ph type="title"/>
          </p:nvPr>
        </p:nvSpPr>
        <p:spPr>
          <a:xfrm>
            <a:off x="234949" y="137379"/>
            <a:ext cx="6217198"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14" name="갈매기형 수장 13"/>
          <p:cNvSpPr/>
          <p:nvPr/>
        </p:nvSpPr>
        <p:spPr>
          <a:xfrm>
            <a:off x="65102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0" name="갈매기형 수장 19"/>
          <p:cNvSpPr/>
          <p:nvPr/>
        </p:nvSpPr>
        <p:spPr>
          <a:xfrm>
            <a:off x="7402754"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1" name="갈매기형 수장 20"/>
          <p:cNvSpPr/>
          <p:nvPr/>
        </p:nvSpPr>
        <p:spPr>
          <a:xfrm>
            <a:off x="8301672"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2" name="갈매기형 수장 21"/>
          <p:cNvSpPr/>
          <p:nvPr/>
        </p:nvSpPr>
        <p:spPr>
          <a:xfrm>
            <a:off x="9194153"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3" name="갈매기형 수장 22"/>
          <p:cNvSpPr/>
          <p:nvPr/>
        </p:nvSpPr>
        <p:spPr>
          <a:xfrm>
            <a:off x="1008663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결론</a:t>
            </a:r>
          </a:p>
        </p:txBody>
      </p:sp>
      <p:sp>
        <p:nvSpPr>
          <p:cNvPr id="3" name="직사각형 2"/>
          <p:cNvSpPr/>
          <p:nvPr userDrawn="1"/>
        </p:nvSpPr>
        <p:spPr>
          <a:xfrm>
            <a:off x="10909598"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a:solidFill>
                <a:schemeClr val="bg1"/>
              </a:solidFill>
            </a:endParaRPr>
          </a:p>
        </p:txBody>
      </p:sp>
      <p:sp>
        <p:nvSpPr>
          <p:cNvPr id="15" name="직사각형 14"/>
          <p:cNvSpPr/>
          <p:nvPr userDrawn="1"/>
        </p:nvSpPr>
        <p:spPr>
          <a:xfrm>
            <a:off x="6507070"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16" name="직사각형 15"/>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
        <p:nvSpPr>
          <p:cNvPr id="18"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sp>
        <p:nvSpPr>
          <p:cNvPr id="19" name="TextBox 18"/>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74100540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505140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16_Custom Layout">
    <p:spTree>
      <p:nvGrpSpPr>
        <p:cNvPr id="1" name=""/>
        <p:cNvGrpSpPr/>
        <p:nvPr/>
      </p:nvGrpSpPr>
      <p:grpSpPr>
        <a:xfrm>
          <a:off x="0" y="0"/>
          <a:ext cx="0" cy="0"/>
          <a:chOff x="0" y="0"/>
          <a:chExt cx="0" cy="0"/>
        </a:xfrm>
      </p:grpSpPr>
      <p:sp>
        <p:nvSpPr>
          <p:cNvPr id="16" name="Slide Number Placeholder 6">
            <a:extLst>
              <a:ext uri="{FF2B5EF4-FFF2-40B4-BE49-F238E27FC236}">
                <a16:creationId xmlns:a16="http://schemas.microsoft.com/office/drawing/2014/main" id="{A8C20AAF-7C67-DC85-1530-88EA4083F4E5}"/>
              </a:ext>
            </a:extLst>
          </p:cNvPr>
          <p:cNvSpPr txBox="1">
            <a:spLocks/>
          </p:cNvSpPr>
          <p:nvPr userDrawn="1"/>
        </p:nvSpPr>
        <p:spPr>
          <a:xfrm>
            <a:off x="11467767" y="6495487"/>
            <a:ext cx="490636" cy="160852"/>
          </a:xfrm>
          <a:prstGeom prst="rect">
            <a:avLst/>
          </a:prstGeom>
        </p:spPr>
        <p:txBody>
          <a:bodyPr vert="horz" wrap="square" lIns="0" tIns="0" rIns="0" bIns="0" rtlCol="0" anchor="b" anchorCtr="0"/>
          <a:lstStyle>
            <a:defPPr>
              <a:defRPr lang="en-US"/>
            </a:defPPr>
            <a:lvl1pPr marL="0" algn="ctr" defTabSz="914400" rtl="0" eaLnBrk="1" latinLnBrk="0" hangingPunct="1">
              <a:defRPr sz="1050" b="1" i="0" kern="1200" spc="0">
                <a:solidFill>
                  <a:schemeClr val="bg1"/>
                </a:solidFill>
                <a:latin typeface="Arial" panose="020B0604020202020204"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BCC8D0D-EAEC-449D-9161-023DFF90F2E2}" type="slidenum">
              <a:rPr lang="en-US" sz="1067" b="0" i="0" smtClean="0">
                <a:solidFill>
                  <a:schemeClr val="bg1"/>
                </a:solidFill>
                <a:latin typeface="Samsung Sharp Sans Medium" pitchFamily="2" charset="77"/>
                <a:ea typeface="Samsung Sharp Sans Medium" pitchFamily="2" charset="77"/>
                <a:cs typeface="Samsung Sharp Sans Medium" pitchFamily="2" charset="77"/>
              </a:rPr>
              <a:pPr algn="r"/>
              <a:t>‹#›</a:t>
            </a:fld>
            <a:endParaRPr lang="en-US" sz="1067" b="0" i="0" dirty="0">
              <a:solidFill>
                <a:schemeClr val="bg1"/>
              </a:solidFill>
              <a:latin typeface="Samsung Sharp Sans Medium" pitchFamily="2" charset="77"/>
              <a:ea typeface="Samsung Sharp Sans Medium" pitchFamily="2" charset="77"/>
              <a:cs typeface="Samsung Sharp Sans Medium" pitchFamily="2" charset="77"/>
            </a:endParaRPr>
          </a:p>
        </p:txBody>
      </p:sp>
      <p:pic>
        <p:nvPicPr>
          <p:cNvPr id="3" name="그림 2">
            <a:extLst>
              <a:ext uri="{FF2B5EF4-FFF2-40B4-BE49-F238E27FC236}">
                <a16:creationId xmlns:a16="http://schemas.microsoft.com/office/drawing/2014/main" id="{044E2504-815A-4C6B-8A62-674F8922AA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95200" y="151658"/>
            <a:ext cx="1237801" cy="328791"/>
          </a:xfrm>
          <a:prstGeom prst="rect">
            <a:avLst/>
          </a:prstGeom>
        </p:spPr>
      </p:pic>
    </p:spTree>
    <p:extLst>
      <p:ext uri="{BB962C8B-B14F-4D97-AF65-F5344CB8AC3E}">
        <p14:creationId xmlns:p14="http://schemas.microsoft.com/office/powerpoint/2010/main" val="41681121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obj">
  <p:cSld name="1_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sz="2800" baseline="0">
                <a:latin typeface="+mj-lt"/>
                <a:ea typeface="+mj-ea"/>
              </a:defRPr>
            </a:lvl1pPr>
          </a:lstStyle>
          <a:p>
            <a:r>
              <a:rPr lang="en-US" altLang="ko-KR"/>
              <a:t>Click to edit Master title style</a:t>
            </a:r>
            <a:endParaRPr lang="ko-KR" altLang="en-US" dirty="0"/>
          </a:p>
        </p:txBody>
      </p:sp>
      <p:sp>
        <p:nvSpPr>
          <p:cNvPr id="3" name="내용 개체 틀 2"/>
          <p:cNvSpPr>
            <a:spLocks noGrp="1"/>
          </p:cNvSpPr>
          <p:nvPr>
            <p:ph idx="1"/>
          </p:nvPr>
        </p:nvSpPr>
        <p:spPr/>
        <p:txBody>
          <a:bodyPr>
            <a:noAutofit/>
          </a:bodyPr>
          <a:lstStyle>
            <a:lvl1pPr latinLnBrk="0">
              <a:lnSpc>
                <a:spcPct val="99000"/>
              </a:lnSpc>
              <a:defRPr sz="2000" baseline="0">
                <a:latin typeface="+mn-lt"/>
                <a:ea typeface="+mn-ea"/>
              </a:defRPr>
            </a:lvl1pPr>
            <a:lvl2pPr marL="685800" indent="-228600" latinLnBrk="0">
              <a:lnSpc>
                <a:spcPct val="99000"/>
              </a:lnSpc>
              <a:buFont typeface="Arial" panose="020B0604020202020204" pitchFamily="34" charset="0"/>
              <a:buChar char="–"/>
              <a:defRPr sz="1800" baseline="0">
                <a:latin typeface="+mn-lt"/>
                <a:ea typeface="+mn-ea"/>
              </a:defRPr>
            </a:lvl2pPr>
            <a:lvl3pPr marL="1143000" indent="-228600" latinLnBrk="0">
              <a:lnSpc>
                <a:spcPct val="99000"/>
              </a:lnSpc>
              <a:buFont typeface="Arial" panose="020B0604020202020204" pitchFamily="34" charset="0"/>
              <a:buChar char="="/>
              <a:defRPr sz="1600" baseline="0">
                <a:latin typeface="+mn-lt"/>
                <a:ea typeface="+mn-ea"/>
              </a:defRPr>
            </a:lvl3pPr>
            <a:lvl4pPr marL="1600200" indent="-228600" latinLnBrk="0">
              <a:lnSpc>
                <a:spcPct val="99000"/>
              </a:lnSpc>
              <a:buFont typeface="Arial" panose="020B0604020202020204" pitchFamily="34" charset="0"/>
              <a:buChar char="+"/>
              <a:defRPr sz="1400" baseline="0">
                <a:latin typeface="+mn-lt"/>
                <a:ea typeface="+mn-ea"/>
              </a:defRPr>
            </a:lvl4pPr>
            <a:lvl5pPr latinLnBrk="0">
              <a:lnSpc>
                <a:spcPct val="99000"/>
              </a:lnSpc>
              <a:defRPr sz="1400" baseline="0">
                <a:latin typeface="+mn-lt"/>
                <a:ea typeface="+mn-ea"/>
              </a:defRPr>
            </a:lvl5pPr>
          </a:lstStyle>
          <a:p>
            <a:pPr lvl="0"/>
            <a:r>
              <a:rPr lang="en-US" altLang="ko-KR"/>
              <a:t>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dirty="0"/>
          </a:p>
        </p:txBody>
      </p:sp>
      <p:sp>
        <p:nvSpPr>
          <p:cNvPr id="5" name="바닥글 개체 틀 4"/>
          <p:cNvSpPr>
            <a:spLocks noGrp="1"/>
          </p:cNvSpPr>
          <p:nvPr>
            <p:ph type="ftr" sz="quarter" idx="11"/>
          </p:nvPr>
        </p:nvSpPr>
        <p:spPr/>
        <p:txBody>
          <a:bodyPr/>
          <a:lstStyle>
            <a:lvl1pPr algn="r">
              <a:defRPr b="0" baseline="0">
                <a:effectLst/>
                <a:latin typeface="+mn-lt"/>
                <a:ea typeface="+mn-ea"/>
              </a:defRPr>
            </a:lvl1pPr>
          </a:lstStyle>
          <a:p>
            <a:endParaRPr lang="ko-KR" altLang="en-US"/>
          </a:p>
        </p:txBody>
      </p:sp>
      <p:sp>
        <p:nvSpPr>
          <p:cNvPr id="6" name="슬라이드 번호 개체 틀 5"/>
          <p:cNvSpPr>
            <a:spLocks noGrp="1"/>
          </p:cNvSpPr>
          <p:nvPr>
            <p:ph type="sldNum" sz="quarter" idx="12"/>
          </p:nvPr>
        </p:nvSpPr>
        <p:spPr>
          <a:xfrm>
            <a:off x="11093562" y="6309000"/>
            <a:ext cx="720000" cy="549000"/>
          </a:xfrm>
        </p:spPr>
        <p:txBody>
          <a:bodyPr/>
          <a:lstStyle>
            <a:lvl1pPr>
              <a:defRPr baseline="0">
                <a:solidFill>
                  <a:schemeClr val="bg1">
                    <a:lumMod val="65000"/>
                  </a:schemeClr>
                </a:solidFill>
                <a:latin typeface="+mn-lt"/>
                <a:ea typeface="+mn-ea"/>
              </a:defRPr>
            </a:lvl1pPr>
          </a:lstStyle>
          <a:p>
            <a:fld id="{006AB58B-850D-41AE-B362-DEB7C589915B}" type="slidenum">
              <a:rPr lang="ko-KR" altLang="en-US" smtClean="0"/>
              <a:t>‹#›</a:t>
            </a:fld>
            <a:endParaRPr lang="ko-KR" altLang="en-US"/>
          </a:p>
        </p:txBody>
      </p:sp>
      <p:pic>
        <p:nvPicPr>
          <p:cNvPr id="7"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554601" y="54590"/>
            <a:ext cx="1554858" cy="258957"/>
          </a:xfrm>
          <a:prstGeom prst="rect">
            <a:avLst/>
          </a:prstGeom>
        </p:spPr>
      </p:pic>
    </p:spTree>
    <p:extLst>
      <p:ext uri="{BB962C8B-B14F-4D97-AF65-F5344CB8AC3E}">
        <p14:creationId xmlns:p14="http://schemas.microsoft.com/office/powerpoint/2010/main" val="205930733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6324F"/>
          </a:solidFill>
          <a:ln w="12700">
            <a:solidFill>
              <a:srgbClr val="16324F"/>
            </a:solidFill>
            <a:prstDash val="solid"/>
          </a:ln>
        </p:spPr>
      </p:sp>
      <p:sp>
        <p:nvSpPr>
          <p:cNvPr id="3" name="Text 1"/>
          <p:cNvSpPr/>
          <p:nvPr/>
        </p:nvSpPr>
        <p:spPr>
          <a:xfrm>
            <a:off x="502920" y="164592"/>
            <a:ext cx="3840480" cy="256032"/>
          </a:xfrm>
          <a:prstGeom prst="rect">
            <a:avLst/>
          </a:prstGeom>
          <a:noFill/>
          <a:ln/>
        </p:spPr>
        <p:txBody>
          <a:bodyPr wrap="square" lIns="0" tIns="0" rIns="0" bIns="0" rtlCol="0" anchor="ctr"/>
          <a:lstStyle/>
          <a:p>
            <a:pPr marL="0" indent="0">
              <a:buNone/>
            </a:pPr>
            <a:r>
              <a:rPr lang="en-US" sz="1000" dirty="0">
                <a:solidFill>
                  <a:srgbClr val="6B7280"/>
                </a:solidFill>
                <a:latin typeface="Aptos" pitchFamily="34" charset="0"/>
                <a:ea typeface="Aptos" pitchFamily="34" charset="-122"/>
                <a:cs typeface="Aptos" pitchFamily="34" charset="-120"/>
              </a:rPr>
              <a:t>vLLM Runtime Architecture</a:t>
            </a:r>
            <a:endParaRPr lang="en-US" sz="1000" dirty="0"/>
          </a:p>
        </p:txBody>
      </p:sp>
      <p:sp>
        <p:nvSpPr>
          <p:cNvPr id="25" name="Slide Number Placeholder 0"/>
          <p:cNvSpPr>
            <a:spLocks noGrp="1"/>
          </p:cNvSpPr>
          <p:nvPr>
            <p:ph type="sldNum" sz="quarter" idx="4294967295"/>
          </p:nvPr>
        </p:nvSpPr>
        <p:spPr>
          <a:xfrm>
            <a:off x="11475720" y="6473952"/>
            <a:ext cx="27432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9CA3AF"/>
                </a:solidFill>
                <a:latin typeface="Aptos"/>
                <a:ea typeface="Aptos"/>
                <a:cs typeface="Aptos"/>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312977880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userDrawn="1">
  <p:cSld name="5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429200727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FF63A8D-519A-4754-BD8A-A6C3902E2219}"/>
              </a:ext>
            </a:extLst>
          </p:cNvPr>
          <p:cNvSpPr>
            <a:spLocks noGrp="1"/>
          </p:cNvSpPr>
          <p:nvPr>
            <p:ph type="dt" sz="half" idx="10"/>
          </p:nvPr>
        </p:nvSpPr>
        <p:spPr/>
        <p:txBody>
          <a:bodyPr/>
          <a:lstStyle/>
          <a:p>
            <a:fld id="{CE8297C4-C912-488D-90D2-A09CDF0E16F2}" type="datetimeFigureOut">
              <a:rPr lang="ko-KR" altLang="en-US" smtClean="0"/>
              <a:t>2026-10-29</a:t>
            </a:fld>
            <a:endParaRPr lang="ko-KR" altLang="en-US"/>
          </a:p>
        </p:txBody>
      </p:sp>
      <p:sp>
        <p:nvSpPr>
          <p:cNvPr id="3" name="바닥글 개체 틀 2">
            <a:extLst>
              <a:ext uri="{FF2B5EF4-FFF2-40B4-BE49-F238E27FC236}">
                <a16:creationId xmlns:a16="http://schemas.microsoft.com/office/drawing/2014/main" id="{F5D7ACB4-B44A-45D9-AA29-345D66F2B55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51EC944-DB75-4BBC-B971-7E74031C79DD}"/>
              </a:ext>
            </a:extLst>
          </p:cNvPr>
          <p:cNvSpPr>
            <a:spLocks noGrp="1"/>
          </p:cNvSpPr>
          <p:nvPr>
            <p:ph type="sldNum" sz="quarter" idx="12"/>
          </p:nvPr>
        </p:nvSpPr>
        <p:spPr/>
        <p:txBody>
          <a:bodyPr/>
          <a:lstStyle/>
          <a:p>
            <a:fld id="{64F16AF9-1BAB-4D78-B552-54F13912AD8B}" type="slidenum">
              <a:rPr lang="ko-KR" altLang="en-US" smtClean="0"/>
              <a:t>‹#›</a:t>
            </a:fld>
            <a:endParaRPr lang="ko-KR" altLang="en-US"/>
          </a:p>
        </p:txBody>
      </p:sp>
    </p:spTree>
    <p:extLst>
      <p:ext uri="{BB962C8B-B14F-4D97-AF65-F5344CB8AC3E}">
        <p14:creationId xmlns:p14="http://schemas.microsoft.com/office/powerpoint/2010/main" val="231044541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slideLayout" Target="../slideLayouts/slideLayout40.xml"/><Relationship Id="rId9" Type="http://schemas.openxmlformats.org/officeDocument/2006/relationships/slideLayout" Target="../slideLayouts/slideLayout41.xml"/><Relationship Id="rId10" Type="http://schemas.openxmlformats.org/officeDocument/2006/relationships/slideLayout" Target="../slideLayouts/slideLayout42.xml"/><Relationship Id="rId11" Type="http://schemas.openxmlformats.org/officeDocument/2006/relationships/slideLayout" Target="../slideLayouts/slideLayout43.xml"/><Relationship Id="rId12" Type="http://schemas.openxmlformats.org/officeDocument/2006/relationships/slideLayout" Target="../slideLayouts/slideLayout44.xml"/><Relationship Id="rId13" Type="http://schemas.openxmlformats.org/officeDocument/2006/relationships/slideLayout" Target="../slideLayouts/slideLayout45.xml"/><Relationship Id="rId14" Type="http://schemas.openxmlformats.org/officeDocument/2006/relationships/slideLayout" Target="../slideLayouts/slideLayout46.xml"/><Relationship Id="rId15" Type="http://schemas.openxmlformats.org/officeDocument/2006/relationships/slideLayout" Target="../slideLayouts/slideLayout47.xml"/><Relationship Id="rId16"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slideLayout" Target="../slideLayouts/slideLayout61.xml"/><Relationship Id="rId15" Type="http://schemas.openxmlformats.org/officeDocument/2006/relationships/slideLayout" Target="../slideLayouts/slideLayout62.xml"/><Relationship Id="rId16" Type="http://schemas.openxmlformats.org/officeDocument/2006/relationships/slideLayout" Target="../slideLayouts/slideLayout63.xml"/><Relationship Id="rId17" Type="http://schemas.openxmlformats.org/officeDocument/2006/relationships/slideLayout" Target="../slideLayouts/slideLayout64.xml"/><Relationship Id="rId18"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9883F9-11C6-43F9-9CCF-256006557EC2}" type="datetimeFigureOut">
              <a:rPr lang="ko-KR" altLang="en-US" smtClean="0"/>
              <a:t>2026-10-29</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44F6AC5-D4FC-4374-A58A-50B206F924DB}" type="slidenum">
              <a:rPr lang="ko-KR" altLang="en-US" smtClean="0"/>
              <a:t>‹#›</a:t>
            </a:fld>
            <a:endParaRPr lang="ko-KR" altLang="en-US"/>
          </a:p>
        </p:txBody>
      </p:sp>
    </p:spTree>
    <p:extLst>
      <p:ext uri="{BB962C8B-B14F-4D97-AF65-F5344CB8AC3E}">
        <p14:creationId xmlns:p14="http://schemas.microsoft.com/office/powerpoint/2010/main" val="1323046487"/>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723" r:id="rId4"/>
    <p:sldLayoutId id="2147483724" r:id="rId5"/>
    <p:sldLayoutId id="2147483725" r:id="rId6"/>
    <p:sldLayoutId id="2147483726" r:id="rId7"/>
    <p:sldLayoutId id="2147483678" r:id="rId8"/>
    <p:sldLayoutId id="2147483679" r:id="rId9"/>
    <p:sldLayoutId id="2147483680" r:id="rId10"/>
    <p:sldLayoutId id="2147483681" r:id="rId11"/>
    <p:sldLayoutId id="2147483684" r:id="rId12"/>
    <p:sldLayoutId id="2147483687" r:id="rId13"/>
    <p:sldLayoutId id="2147483688" r:id="rId14"/>
    <p:sldLayoutId id="2147483706" r:id="rId15"/>
    <p:sldLayoutId id="2147483727" r:id="rId16"/>
    <p:sldLayoutId id="2147483728" r:id="rId17"/>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2474551"/>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Lst>
  <p:txStyles>
    <p:titleStyle>
      <a:lvl1pPr algn="l" defTabSz="609555" rtl="0" eaLnBrk="1" latinLnBrk="0" hangingPunct="1">
        <a:spcBef>
          <a:spcPct val="0"/>
        </a:spcBef>
        <a:buNone/>
        <a:defRPr sz="2400" b="1" i="0" kern="1200" spc="0" baseline="0">
          <a:solidFill>
            <a:schemeClr val="tx1"/>
          </a:solidFill>
          <a:latin typeface="Samsung Sharp Sans Regular" pitchFamily="2" charset="77"/>
          <a:ea typeface="Samsung Sharp Sans Regular" pitchFamily="2" charset="77"/>
          <a:cs typeface="Samsung Sharp Sans Regular" pitchFamily="2" charset="77"/>
        </a:defRPr>
      </a:lvl1pPr>
    </p:titleStyle>
    <p:bodyStyle>
      <a:lvl1pPr marL="457167" indent="-457167" algn="l" defTabSz="609555" rtl="0" eaLnBrk="1" latinLnBrk="0" hangingPunct="1">
        <a:spcBef>
          <a:spcPct val="20000"/>
        </a:spcBef>
        <a:buFont typeface="Arial"/>
        <a:buChar char="•"/>
        <a:defRPr sz="2400" kern="1200">
          <a:solidFill>
            <a:schemeClr val="tx1"/>
          </a:solidFill>
          <a:latin typeface="Helvetica Neue"/>
          <a:ea typeface="+mn-ea"/>
          <a:cs typeface="Helvetica Neue"/>
        </a:defRPr>
      </a:lvl1pPr>
      <a:lvl2pPr marL="990526" indent="-380972" algn="l" defTabSz="609555" rtl="0" eaLnBrk="1" latinLnBrk="0" hangingPunct="1">
        <a:spcBef>
          <a:spcPct val="20000"/>
        </a:spcBef>
        <a:buFont typeface="Arial"/>
        <a:buChar char="–"/>
        <a:defRPr sz="2133" kern="1200">
          <a:solidFill>
            <a:schemeClr val="tx1"/>
          </a:solidFill>
          <a:latin typeface="Helvetica Neue"/>
          <a:ea typeface="+mn-ea"/>
          <a:cs typeface="Helvetica Neue"/>
        </a:defRPr>
      </a:lvl2pPr>
      <a:lvl3pPr marL="1523887" indent="-304776" algn="l" defTabSz="609555" rtl="0" eaLnBrk="1" latinLnBrk="0" hangingPunct="1">
        <a:spcBef>
          <a:spcPct val="20000"/>
        </a:spcBef>
        <a:buFont typeface="Arial"/>
        <a:buChar char="•"/>
        <a:defRPr sz="1867" kern="1200">
          <a:solidFill>
            <a:schemeClr val="tx1"/>
          </a:solidFill>
          <a:latin typeface="Helvetica Neue"/>
          <a:ea typeface="+mn-ea"/>
          <a:cs typeface="Helvetica Neue"/>
        </a:defRPr>
      </a:lvl3pPr>
      <a:lvl4pPr marL="2133440" indent="-304776" algn="l" defTabSz="609555" rtl="0" eaLnBrk="1" latinLnBrk="0" hangingPunct="1">
        <a:spcBef>
          <a:spcPct val="20000"/>
        </a:spcBef>
        <a:buFont typeface="Arial"/>
        <a:buChar char="–"/>
        <a:defRPr sz="1600" kern="1200">
          <a:solidFill>
            <a:schemeClr val="tx1"/>
          </a:solidFill>
          <a:latin typeface="Helvetica Neue"/>
          <a:ea typeface="+mn-ea"/>
          <a:cs typeface="Helvetica Neue"/>
        </a:defRPr>
      </a:lvl4pPr>
      <a:lvl5pPr marL="2742994" indent="-304776" algn="l" defTabSz="609555" rtl="0" eaLnBrk="1" latinLnBrk="0" hangingPunct="1">
        <a:spcBef>
          <a:spcPct val="20000"/>
        </a:spcBef>
        <a:buFont typeface="Arial"/>
        <a:buChar char="»"/>
        <a:defRPr sz="1600" kern="1200">
          <a:solidFill>
            <a:schemeClr val="tx1"/>
          </a:solidFill>
          <a:latin typeface="Helvetica Neue"/>
          <a:ea typeface="+mn-ea"/>
          <a:cs typeface="Helvetica Neue"/>
        </a:defRPr>
      </a:lvl5pPr>
      <a:lvl6pPr marL="3352548" indent="-304776" algn="l" defTabSz="609555" rtl="0" eaLnBrk="1" latinLnBrk="0" hangingPunct="1">
        <a:spcBef>
          <a:spcPct val="20000"/>
        </a:spcBef>
        <a:buFont typeface="Arial"/>
        <a:buChar char="•"/>
        <a:defRPr sz="2667" kern="1200">
          <a:solidFill>
            <a:schemeClr val="tx1"/>
          </a:solidFill>
          <a:latin typeface="+mn-lt"/>
          <a:ea typeface="+mn-ea"/>
          <a:cs typeface="+mn-cs"/>
        </a:defRPr>
      </a:lvl6pPr>
      <a:lvl7pPr marL="3962104" indent="-304776" algn="l" defTabSz="609555" rtl="0" eaLnBrk="1" latinLnBrk="0" hangingPunct="1">
        <a:spcBef>
          <a:spcPct val="20000"/>
        </a:spcBef>
        <a:buFont typeface="Arial"/>
        <a:buChar char="•"/>
        <a:defRPr sz="2667" kern="1200">
          <a:solidFill>
            <a:schemeClr val="tx1"/>
          </a:solidFill>
          <a:latin typeface="+mn-lt"/>
          <a:ea typeface="+mn-ea"/>
          <a:cs typeface="+mn-cs"/>
        </a:defRPr>
      </a:lvl7pPr>
      <a:lvl8pPr marL="4571658" indent="-304776" algn="l" defTabSz="609555" rtl="0" eaLnBrk="1" latinLnBrk="0" hangingPunct="1">
        <a:spcBef>
          <a:spcPct val="20000"/>
        </a:spcBef>
        <a:buFont typeface="Arial"/>
        <a:buChar char="•"/>
        <a:defRPr sz="2667" kern="1200">
          <a:solidFill>
            <a:schemeClr val="tx1"/>
          </a:solidFill>
          <a:latin typeface="+mn-lt"/>
          <a:ea typeface="+mn-ea"/>
          <a:cs typeface="+mn-cs"/>
        </a:defRPr>
      </a:lvl8pPr>
      <a:lvl9pPr marL="5181212" indent="-304776" algn="l" defTabSz="60955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55" rtl="0" eaLnBrk="1" latinLnBrk="0" hangingPunct="1">
        <a:defRPr sz="2400" kern="1200">
          <a:solidFill>
            <a:schemeClr val="tx1"/>
          </a:solidFill>
          <a:latin typeface="+mn-lt"/>
          <a:ea typeface="+mn-ea"/>
          <a:cs typeface="+mn-cs"/>
        </a:defRPr>
      </a:lvl1pPr>
      <a:lvl2pPr marL="609555" algn="l" defTabSz="609555" rtl="0" eaLnBrk="1" latinLnBrk="0" hangingPunct="1">
        <a:defRPr sz="2400" kern="1200">
          <a:solidFill>
            <a:schemeClr val="tx1"/>
          </a:solidFill>
          <a:latin typeface="+mn-lt"/>
          <a:ea typeface="+mn-ea"/>
          <a:cs typeface="+mn-cs"/>
        </a:defRPr>
      </a:lvl2pPr>
      <a:lvl3pPr marL="1219110" algn="l" defTabSz="609555" rtl="0" eaLnBrk="1" latinLnBrk="0" hangingPunct="1">
        <a:defRPr sz="2400" kern="1200">
          <a:solidFill>
            <a:schemeClr val="tx1"/>
          </a:solidFill>
          <a:latin typeface="+mn-lt"/>
          <a:ea typeface="+mn-ea"/>
          <a:cs typeface="+mn-cs"/>
        </a:defRPr>
      </a:lvl3pPr>
      <a:lvl4pPr marL="1828664" algn="l" defTabSz="609555" rtl="0" eaLnBrk="1" latinLnBrk="0" hangingPunct="1">
        <a:defRPr sz="2400" kern="1200">
          <a:solidFill>
            <a:schemeClr val="tx1"/>
          </a:solidFill>
          <a:latin typeface="+mn-lt"/>
          <a:ea typeface="+mn-ea"/>
          <a:cs typeface="+mn-cs"/>
        </a:defRPr>
      </a:lvl4pPr>
      <a:lvl5pPr marL="2438218" algn="l" defTabSz="609555" rtl="0" eaLnBrk="1" latinLnBrk="0" hangingPunct="1">
        <a:defRPr sz="2400" kern="1200">
          <a:solidFill>
            <a:schemeClr val="tx1"/>
          </a:solidFill>
          <a:latin typeface="+mn-lt"/>
          <a:ea typeface="+mn-ea"/>
          <a:cs typeface="+mn-cs"/>
        </a:defRPr>
      </a:lvl5pPr>
      <a:lvl6pPr marL="3047772" algn="l" defTabSz="609555" rtl="0" eaLnBrk="1" latinLnBrk="0" hangingPunct="1">
        <a:defRPr sz="2400" kern="1200">
          <a:solidFill>
            <a:schemeClr val="tx1"/>
          </a:solidFill>
          <a:latin typeface="+mn-lt"/>
          <a:ea typeface="+mn-ea"/>
          <a:cs typeface="+mn-cs"/>
        </a:defRPr>
      </a:lvl6pPr>
      <a:lvl7pPr marL="3657327" algn="l" defTabSz="609555" rtl="0" eaLnBrk="1" latinLnBrk="0" hangingPunct="1">
        <a:defRPr sz="2400" kern="1200">
          <a:solidFill>
            <a:schemeClr val="tx1"/>
          </a:solidFill>
          <a:latin typeface="+mn-lt"/>
          <a:ea typeface="+mn-ea"/>
          <a:cs typeface="+mn-cs"/>
        </a:defRPr>
      </a:lvl7pPr>
      <a:lvl8pPr marL="4266880" algn="l" defTabSz="609555" rtl="0" eaLnBrk="1" latinLnBrk="0" hangingPunct="1">
        <a:defRPr sz="2400" kern="1200">
          <a:solidFill>
            <a:schemeClr val="tx1"/>
          </a:solidFill>
          <a:latin typeface="+mn-lt"/>
          <a:ea typeface="+mn-ea"/>
          <a:cs typeface="+mn-cs"/>
        </a:defRPr>
      </a:lvl8pPr>
      <a:lvl9pPr marL="4876435" algn="l" defTabSz="609555"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3076113"/>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Lst>
  <p:txStyles>
    <p:titleStyle>
      <a:lvl1pPr algn="l" defTabSz="609555" rtl="0" eaLnBrk="1" latinLnBrk="0" hangingPunct="1">
        <a:spcBef>
          <a:spcPct val="0"/>
        </a:spcBef>
        <a:buNone/>
        <a:defRPr sz="2400" b="1" i="0" kern="1200" spc="0" baseline="0">
          <a:solidFill>
            <a:schemeClr val="tx1"/>
          </a:solidFill>
          <a:latin typeface="Samsung Sharp Sans Regular" pitchFamily="2" charset="77"/>
          <a:ea typeface="Samsung Sharp Sans Regular" pitchFamily="2" charset="77"/>
          <a:cs typeface="Samsung Sharp Sans Regular" pitchFamily="2" charset="77"/>
        </a:defRPr>
      </a:lvl1pPr>
    </p:titleStyle>
    <p:bodyStyle>
      <a:lvl1pPr marL="457167" indent="-457167" algn="l" defTabSz="609555" rtl="0" eaLnBrk="1" latinLnBrk="0" hangingPunct="1">
        <a:spcBef>
          <a:spcPct val="20000"/>
        </a:spcBef>
        <a:buFont typeface="Arial"/>
        <a:buChar char="•"/>
        <a:defRPr sz="2400" kern="1200">
          <a:solidFill>
            <a:schemeClr val="tx1"/>
          </a:solidFill>
          <a:latin typeface="Helvetica Neue"/>
          <a:ea typeface="+mn-ea"/>
          <a:cs typeface="Helvetica Neue"/>
        </a:defRPr>
      </a:lvl1pPr>
      <a:lvl2pPr marL="990526" indent="-380972" algn="l" defTabSz="609555" rtl="0" eaLnBrk="1" latinLnBrk="0" hangingPunct="1">
        <a:spcBef>
          <a:spcPct val="20000"/>
        </a:spcBef>
        <a:buFont typeface="Arial"/>
        <a:buChar char="–"/>
        <a:defRPr sz="2133" kern="1200">
          <a:solidFill>
            <a:schemeClr val="tx1"/>
          </a:solidFill>
          <a:latin typeface="Helvetica Neue"/>
          <a:ea typeface="+mn-ea"/>
          <a:cs typeface="Helvetica Neue"/>
        </a:defRPr>
      </a:lvl2pPr>
      <a:lvl3pPr marL="1523887" indent="-304776" algn="l" defTabSz="609555" rtl="0" eaLnBrk="1" latinLnBrk="0" hangingPunct="1">
        <a:spcBef>
          <a:spcPct val="20000"/>
        </a:spcBef>
        <a:buFont typeface="Arial"/>
        <a:buChar char="•"/>
        <a:defRPr sz="1867" kern="1200">
          <a:solidFill>
            <a:schemeClr val="tx1"/>
          </a:solidFill>
          <a:latin typeface="Helvetica Neue"/>
          <a:ea typeface="+mn-ea"/>
          <a:cs typeface="Helvetica Neue"/>
        </a:defRPr>
      </a:lvl3pPr>
      <a:lvl4pPr marL="2133440" indent="-304776" algn="l" defTabSz="609555" rtl="0" eaLnBrk="1" latinLnBrk="0" hangingPunct="1">
        <a:spcBef>
          <a:spcPct val="20000"/>
        </a:spcBef>
        <a:buFont typeface="Arial"/>
        <a:buChar char="–"/>
        <a:defRPr sz="1600" kern="1200">
          <a:solidFill>
            <a:schemeClr val="tx1"/>
          </a:solidFill>
          <a:latin typeface="Helvetica Neue"/>
          <a:ea typeface="+mn-ea"/>
          <a:cs typeface="Helvetica Neue"/>
        </a:defRPr>
      </a:lvl4pPr>
      <a:lvl5pPr marL="2742994" indent="-304776" algn="l" defTabSz="609555" rtl="0" eaLnBrk="1" latinLnBrk="0" hangingPunct="1">
        <a:spcBef>
          <a:spcPct val="20000"/>
        </a:spcBef>
        <a:buFont typeface="Arial"/>
        <a:buChar char="»"/>
        <a:defRPr sz="1600" kern="1200">
          <a:solidFill>
            <a:schemeClr val="tx1"/>
          </a:solidFill>
          <a:latin typeface="Helvetica Neue"/>
          <a:ea typeface="+mn-ea"/>
          <a:cs typeface="Helvetica Neue"/>
        </a:defRPr>
      </a:lvl5pPr>
      <a:lvl6pPr marL="3352548" indent="-304776" algn="l" defTabSz="609555" rtl="0" eaLnBrk="1" latinLnBrk="0" hangingPunct="1">
        <a:spcBef>
          <a:spcPct val="20000"/>
        </a:spcBef>
        <a:buFont typeface="Arial"/>
        <a:buChar char="•"/>
        <a:defRPr sz="2667" kern="1200">
          <a:solidFill>
            <a:schemeClr val="tx1"/>
          </a:solidFill>
          <a:latin typeface="+mn-lt"/>
          <a:ea typeface="+mn-ea"/>
          <a:cs typeface="+mn-cs"/>
        </a:defRPr>
      </a:lvl6pPr>
      <a:lvl7pPr marL="3962104" indent="-304776" algn="l" defTabSz="609555" rtl="0" eaLnBrk="1" latinLnBrk="0" hangingPunct="1">
        <a:spcBef>
          <a:spcPct val="20000"/>
        </a:spcBef>
        <a:buFont typeface="Arial"/>
        <a:buChar char="•"/>
        <a:defRPr sz="2667" kern="1200">
          <a:solidFill>
            <a:schemeClr val="tx1"/>
          </a:solidFill>
          <a:latin typeface="+mn-lt"/>
          <a:ea typeface="+mn-ea"/>
          <a:cs typeface="+mn-cs"/>
        </a:defRPr>
      </a:lvl7pPr>
      <a:lvl8pPr marL="4571658" indent="-304776" algn="l" defTabSz="609555" rtl="0" eaLnBrk="1" latinLnBrk="0" hangingPunct="1">
        <a:spcBef>
          <a:spcPct val="20000"/>
        </a:spcBef>
        <a:buFont typeface="Arial"/>
        <a:buChar char="•"/>
        <a:defRPr sz="2667" kern="1200">
          <a:solidFill>
            <a:schemeClr val="tx1"/>
          </a:solidFill>
          <a:latin typeface="+mn-lt"/>
          <a:ea typeface="+mn-ea"/>
          <a:cs typeface="+mn-cs"/>
        </a:defRPr>
      </a:lvl8pPr>
      <a:lvl9pPr marL="5181212" indent="-304776" algn="l" defTabSz="60955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55" rtl="0" eaLnBrk="1" latinLnBrk="0" hangingPunct="1">
        <a:defRPr sz="2400" kern="1200">
          <a:solidFill>
            <a:schemeClr val="tx1"/>
          </a:solidFill>
          <a:latin typeface="+mn-lt"/>
          <a:ea typeface="+mn-ea"/>
          <a:cs typeface="+mn-cs"/>
        </a:defRPr>
      </a:lvl1pPr>
      <a:lvl2pPr marL="609555" algn="l" defTabSz="609555" rtl="0" eaLnBrk="1" latinLnBrk="0" hangingPunct="1">
        <a:defRPr sz="2400" kern="1200">
          <a:solidFill>
            <a:schemeClr val="tx1"/>
          </a:solidFill>
          <a:latin typeface="+mn-lt"/>
          <a:ea typeface="+mn-ea"/>
          <a:cs typeface="+mn-cs"/>
        </a:defRPr>
      </a:lvl2pPr>
      <a:lvl3pPr marL="1219110" algn="l" defTabSz="609555" rtl="0" eaLnBrk="1" latinLnBrk="0" hangingPunct="1">
        <a:defRPr sz="2400" kern="1200">
          <a:solidFill>
            <a:schemeClr val="tx1"/>
          </a:solidFill>
          <a:latin typeface="+mn-lt"/>
          <a:ea typeface="+mn-ea"/>
          <a:cs typeface="+mn-cs"/>
        </a:defRPr>
      </a:lvl3pPr>
      <a:lvl4pPr marL="1828664" algn="l" defTabSz="609555" rtl="0" eaLnBrk="1" latinLnBrk="0" hangingPunct="1">
        <a:defRPr sz="2400" kern="1200">
          <a:solidFill>
            <a:schemeClr val="tx1"/>
          </a:solidFill>
          <a:latin typeface="+mn-lt"/>
          <a:ea typeface="+mn-ea"/>
          <a:cs typeface="+mn-cs"/>
        </a:defRPr>
      </a:lvl4pPr>
      <a:lvl5pPr marL="2438218" algn="l" defTabSz="609555" rtl="0" eaLnBrk="1" latinLnBrk="0" hangingPunct="1">
        <a:defRPr sz="2400" kern="1200">
          <a:solidFill>
            <a:schemeClr val="tx1"/>
          </a:solidFill>
          <a:latin typeface="+mn-lt"/>
          <a:ea typeface="+mn-ea"/>
          <a:cs typeface="+mn-cs"/>
        </a:defRPr>
      </a:lvl5pPr>
      <a:lvl6pPr marL="3047772" algn="l" defTabSz="609555" rtl="0" eaLnBrk="1" latinLnBrk="0" hangingPunct="1">
        <a:defRPr sz="2400" kern="1200">
          <a:solidFill>
            <a:schemeClr val="tx1"/>
          </a:solidFill>
          <a:latin typeface="+mn-lt"/>
          <a:ea typeface="+mn-ea"/>
          <a:cs typeface="+mn-cs"/>
        </a:defRPr>
      </a:lvl6pPr>
      <a:lvl7pPr marL="3657327" algn="l" defTabSz="609555" rtl="0" eaLnBrk="1" latinLnBrk="0" hangingPunct="1">
        <a:defRPr sz="2400" kern="1200">
          <a:solidFill>
            <a:schemeClr val="tx1"/>
          </a:solidFill>
          <a:latin typeface="+mn-lt"/>
          <a:ea typeface="+mn-ea"/>
          <a:cs typeface="+mn-cs"/>
        </a:defRPr>
      </a:lvl7pPr>
      <a:lvl8pPr marL="4266880" algn="l" defTabSz="609555" rtl="0" eaLnBrk="1" latinLnBrk="0" hangingPunct="1">
        <a:defRPr sz="2400" kern="1200">
          <a:solidFill>
            <a:schemeClr val="tx1"/>
          </a:solidFill>
          <a:latin typeface="+mn-lt"/>
          <a:ea typeface="+mn-ea"/>
          <a:cs typeface="+mn-cs"/>
        </a:defRPr>
      </a:lvl8pPr>
      <a:lvl9pPr marL="4876435" algn="l" defTabSz="609555"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9883F9-11C6-43F9-9CCF-256006557EC2}" type="datetimeFigureOut">
              <a:rPr lang="ko-KR" altLang="en-US" smtClean="0"/>
              <a:t>2026-10-29</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44F6AC5-D4FC-4374-A58A-50B206F924DB}" type="slidenum">
              <a:rPr lang="ko-KR" altLang="en-US" smtClean="0"/>
              <a:t>‹#›</a:t>
            </a:fld>
            <a:endParaRPr lang="ko-KR" altLang="en-US"/>
          </a:p>
        </p:txBody>
      </p:sp>
    </p:spTree>
    <p:extLst>
      <p:ext uri="{BB962C8B-B14F-4D97-AF65-F5344CB8AC3E}">
        <p14:creationId xmlns:p14="http://schemas.microsoft.com/office/powerpoint/2010/main" val="753186830"/>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6.png"/><Relationship Id="rId10" Type="http://schemas.openxmlformats.org/officeDocument/2006/relationships/image" Target="../media/image161.png"/><Relationship Id="rId11"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slide" Target="slide4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slide" Target="slide4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slide" Target="slide131.xml"/><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slide" Target="slide61.xml"/><Relationship Id="rId6" Type="http://schemas.openxmlformats.org/officeDocument/2006/relationships/hyperlink" Target="http://www.google.co.kr/url?sa=i&amp;rct=j&amp;q=&amp;esrc=s&amp;frm=1&amp;source=images&amp;cd=&amp;cad=rja&amp;uact=8&amp;ved=0CAcQjRxqFQoTCIfu4JSc-scCFQaglAodZO4OGg&amp;url=http://blog.daum.net/_blog/BlogTypeView.do?blogid=0DxMP&amp;articleno=5345643&amp;categoryId=475726&amp;regdt=20070605101851&amp;bvm=bv.102537793,d.dGo&amp;psig=AFQjCNGKFlfq0CfCIXt-zro3-RaBhpLEoQ&amp;ust=1442447020710464" TargetMode="External"/><Relationship Id="rId7" Type="http://schemas.openxmlformats.org/officeDocument/2006/relationships/image" Target="../media/image27.jpeg"/><Relationship Id="rId8" Type="http://schemas.openxmlformats.org/officeDocument/2006/relationships/slide" Target="slide60.xml"/><Relationship Id="rId9" Type="http://schemas.openxmlformats.org/officeDocument/2006/relationships/slide" Target="slide63.xml"/><Relationship Id="rId10" Type="http://schemas.openxmlformats.org/officeDocument/2006/relationships/slide" Target="slide6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slide" Target="slide71.xml"/><Relationship Id="rId4" Type="http://schemas.openxmlformats.org/officeDocument/2006/relationships/slide" Target="slide72.xml"/><Relationship Id="rId5" Type="http://schemas.openxmlformats.org/officeDocument/2006/relationships/slide" Target="slide6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slide" Target="slide130.xml"/><Relationship Id="rId5" Type="http://schemas.openxmlformats.org/officeDocument/2006/relationships/slide" Target="slide80.xml"/><Relationship Id="rId6" Type="http://schemas.openxmlformats.org/officeDocument/2006/relationships/slide" Target="slide84.xml"/><Relationship Id="rId7" Type="http://schemas.openxmlformats.org/officeDocument/2006/relationships/slide" Target="slide89.xml"/><Relationship Id="rId8" Type="http://schemas.openxmlformats.org/officeDocument/2006/relationships/slide" Target="slide91.xml"/><Relationship Id="rId9" Type="http://schemas.openxmlformats.org/officeDocument/2006/relationships/slide" Target="slide87.xml"/><Relationship Id="rId10" Type="http://schemas.openxmlformats.org/officeDocument/2006/relationships/slide" Target="slide9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slide" Target="slide114.xml"/><Relationship Id="rId4" Type="http://schemas.openxmlformats.org/officeDocument/2006/relationships/slide" Target="slide208.xml"/><Relationship Id="rId5" Type="http://schemas.openxmlformats.org/officeDocument/2006/relationships/slide" Target="slide1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slide" Target="slide209.xml"/><Relationship Id="rId4" Type="http://schemas.openxmlformats.org/officeDocument/2006/relationships/slide" Target="slide116.xml"/><Relationship Id="rId5" Type="http://schemas.openxmlformats.org/officeDocument/2006/relationships/slide" Target="slide200.xml"/><Relationship Id="rId6" Type="http://schemas.openxmlformats.org/officeDocument/2006/relationships/slide" Target="slide1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slide" Target="slide116.xml"/><Relationship Id="rId4" Type="http://schemas.openxmlformats.org/officeDocument/2006/relationships/slide" Target="slide200.xml"/><Relationship Id="rId5" Type="http://schemas.openxmlformats.org/officeDocument/2006/relationships/slide" Target="slide1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slide" Target="slide169.xml"/><Relationship Id="rId4" Type="http://schemas.openxmlformats.org/officeDocument/2006/relationships/slide" Target="slide210.xml"/><Relationship Id="rId5" Type="http://schemas.openxmlformats.org/officeDocument/2006/relationships/slide" Target="slide118.xml"/><Relationship Id="rId6" Type="http://schemas.openxmlformats.org/officeDocument/2006/relationships/slide" Target="slide1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slide" Target="slide210.xml"/><Relationship Id="rId4" Type="http://schemas.openxmlformats.org/officeDocument/2006/relationships/slide" Target="slide118.xml"/><Relationship Id="rId5" Type="http://schemas.openxmlformats.org/officeDocument/2006/relationships/slide" Target="slide1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slide" Target="slide211.xml"/><Relationship Id="rId4" Type="http://schemas.openxmlformats.org/officeDocument/2006/relationships/slide" Target="slide119.xml"/><Relationship Id="rId5" Type="http://schemas.openxmlformats.org/officeDocument/2006/relationships/slide" Target="slide1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slide" Target="slide2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227.xml"/><Relationship Id="rId3" Type="http://schemas.openxmlformats.org/officeDocument/2006/relationships/slide" Target="slide226.xml"/><Relationship Id="rId4" Type="http://schemas.openxmlformats.org/officeDocument/2006/relationships/slide" Target="slide228.xml"/><Relationship Id="rId5" Type="http://schemas.openxmlformats.org/officeDocument/2006/relationships/slide" Target="slide229.xml"/><Relationship Id="rId6" Type="http://schemas.openxmlformats.org/officeDocument/2006/relationships/slide" Target="slide231.xml"/><Relationship Id="rId7" Type="http://schemas.openxmlformats.org/officeDocument/2006/relationships/slide" Target="slide230.xml"/><Relationship Id="rId8" Type="http://schemas.openxmlformats.org/officeDocument/2006/relationships/notesSlide" Target="../notesSlides/notesSlide2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8" Type="http://schemas.openxmlformats.org/officeDocument/2006/relationships/image" Target="../media/image210.png"/><Relationship Id="rId9" Type="http://schemas.openxmlformats.org/officeDocument/2006/relationships/image" Target="../media/image220.png"/><Relationship Id="rId10" Type="http://schemas.openxmlformats.org/officeDocument/2006/relationships/image" Target="../media/image16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slide" Target="slide4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8" Type="http://schemas.openxmlformats.org/officeDocument/2006/relationships/image" Target="../media/image210.png"/><Relationship Id="rId9" Type="http://schemas.openxmlformats.org/officeDocument/2006/relationships/image" Target="../media/image220.png"/><Relationship Id="rId12" Type="http://schemas.openxmlformats.org/officeDocument/2006/relationships/image" Target="../media/image17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8" Type="http://schemas.openxmlformats.org/officeDocument/2006/relationships/image" Target="../media/image210.png"/><Relationship Id="rId9" Type="http://schemas.openxmlformats.org/officeDocument/2006/relationships/image" Target="../media/image220.png"/><Relationship Id="rId10" Type="http://schemas.openxmlformats.org/officeDocument/2006/relationships/image" Target="../media/image33.png"/><Relationship Id="rId11" Type="http://schemas.openxmlformats.org/officeDocument/2006/relationships/slide" Target="slide42.xml"/><Relationship Id="rId12" Type="http://schemas.openxmlformats.org/officeDocument/2006/relationships/image" Target="../media/image17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2.pn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160.png"/><Relationship Id="rId4" Type="http://schemas.openxmlformats.org/officeDocument/2006/relationships/image" Target="../media/image170.png"/><Relationship Id="rId5" Type="http://schemas.openxmlformats.org/officeDocument/2006/relationships/image" Target="../media/image180.png"/><Relationship Id="rId6" Type="http://schemas.openxmlformats.org/officeDocument/2006/relationships/image" Target="../media/image190.png"/><Relationship Id="rId7" Type="http://schemas.openxmlformats.org/officeDocument/2006/relationships/image" Target="../media/image36.png"/><Relationship Id="rId8" Type="http://schemas.openxmlformats.org/officeDocument/2006/relationships/image" Target="../media/image210.png"/><Relationship Id="rId9" Type="http://schemas.openxmlformats.org/officeDocument/2006/relationships/image" Target="../media/image220.png"/><Relationship Id="rId10" Type="http://schemas.openxmlformats.org/officeDocument/2006/relationships/image" Target="../media/image34.png"/><Relationship Id="rId11" Type="http://schemas.openxmlformats.org/officeDocument/2006/relationships/image" Target="../media/image45.png"/><Relationship Id="rId12" Type="http://schemas.openxmlformats.org/officeDocument/2006/relationships/image" Target="../media/image36.png"/><Relationship Id="rId13" Type="http://schemas.openxmlformats.org/officeDocument/2006/relationships/slide" Target="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1.xml"/><Relationship Id="rId3" Type="http://schemas.openxmlformats.org/officeDocument/2006/relationships/image" Target="../media/image39.png"/><Relationship Id="rId4" Type="http://schemas.openxmlformats.org/officeDocument/2006/relationships/slide" Target="slide4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2.xml"/><Relationship Id="rId3" Type="http://schemas.openxmlformats.org/officeDocument/2006/relationships/slide" Target="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3.xml"/><Relationship Id="rId3" Type="http://schemas.openxmlformats.org/officeDocument/2006/relationships/image" Target="../media/image40.png"/><Relationship Id="rId4" Type="http://schemas.openxmlformats.org/officeDocument/2006/relationships/slide" Target="slide4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4.xml"/><Relationship Id="rId3" Type="http://schemas.openxmlformats.org/officeDocument/2006/relationships/slide" Target="slide4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slide" Target="slide44.xml"/><Relationship Id="rId8" Type="http://schemas.openxmlformats.org/officeDocument/2006/relationships/image" Target="../media/image22.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slide" Target="slide131.xml"/><Relationship Id="rId12" Type="http://schemas.openxmlformats.org/officeDocument/2006/relationships/image" Target="../media/image23.png"/><Relationship Id="rId1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28.png"/><Relationship Id="rId4" Type="http://schemas.openxmlformats.org/officeDocument/2006/relationships/slide" Target="slide130.xml"/><Relationship Id="rId5" Type="http://schemas.openxmlformats.org/officeDocument/2006/relationships/slide" Target="slide80.xml"/><Relationship Id="rId6" Type="http://schemas.openxmlformats.org/officeDocument/2006/relationships/slide" Target="slide84.xml"/><Relationship Id="rId7" Type="http://schemas.openxmlformats.org/officeDocument/2006/relationships/slide" Target="slide89.xml"/><Relationship Id="rId8" Type="http://schemas.openxmlformats.org/officeDocument/2006/relationships/slide" Target="slide93.xml"/><Relationship Id="rId9" Type="http://schemas.openxmlformats.org/officeDocument/2006/relationships/slide" Target="slide87.xml"/><Relationship Id="rId10" Type="http://schemas.openxmlformats.org/officeDocument/2006/relationships/slide" Target="slide9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 Id="rId3" Type="http://schemas.openxmlformats.org/officeDocument/2006/relationships/slide" Target="slide71.xml"/><Relationship Id="rId4" Type="http://schemas.openxmlformats.org/officeDocument/2006/relationships/slide" Target="slide72.xml"/><Relationship Id="rId5" Type="http://schemas.openxmlformats.org/officeDocument/2006/relationships/slide" Target="slide6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slide" Target="slide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slide" Target="slide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slide" Target="slide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slide" Target="slide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slide" Target="slide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 Id="rId3" Type="http://schemas.openxmlformats.org/officeDocument/2006/relationships/slide" Target="slide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slide" Target="slide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 Id="rId3" Type="http://schemas.openxmlformats.org/officeDocument/2006/relationships/image" Target="../media/image44.png"/><Relationship Id="rId4" Type="http://schemas.openxmlformats.org/officeDocument/2006/relationships/image" Target="../media/image4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 Id="rId3" Type="http://schemas.openxmlformats.org/officeDocument/2006/relationships/slide" Target="slide20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 Id="rId3" Type="http://schemas.openxmlformats.org/officeDocument/2006/relationships/slide" Target="slide20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 Id="rId3" Type="http://schemas.openxmlformats.org/officeDocument/2006/relationships/slide" Target="slide20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 Id="rId3" Type="http://schemas.openxmlformats.org/officeDocument/2006/relationships/slide" Target="slide20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 Id="rId3" Type="http://schemas.openxmlformats.org/officeDocument/2006/relationships/slide" Target="slide20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 Id="rId3" Type="http://schemas.openxmlformats.org/officeDocument/2006/relationships/image" Target="../media/image28.png"/><Relationship Id="rId4" Type="http://schemas.openxmlformats.org/officeDocument/2006/relationships/slide" Target="slide130.xml"/><Relationship Id="rId5" Type="http://schemas.openxmlformats.org/officeDocument/2006/relationships/slide" Target="slide79.xml"/><Relationship Id="rId6" Type="http://schemas.openxmlformats.org/officeDocument/2006/relationships/slide" Target="slide82.xml"/><Relationship Id="rId7" Type="http://schemas.openxmlformats.org/officeDocument/2006/relationships/slide" Target="slide84.xml"/><Relationship Id="rId8" Type="http://schemas.openxmlformats.org/officeDocument/2006/relationships/slide" Target="slide89.xml"/><Relationship Id="rId9" Type="http://schemas.openxmlformats.org/officeDocument/2006/relationships/slide" Target="slide93.xml"/><Relationship Id="rId10" Type="http://schemas.openxmlformats.org/officeDocument/2006/relationships/slide" Target="slide8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 Id="rId3" Type="http://schemas.openxmlformats.org/officeDocument/2006/relationships/image" Target="../media/image28.png"/><Relationship Id="rId4" Type="http://schemas.openxmlformats.org/officeDocument/2006/relationships/slide" Target="slide130.xml"/><Relationship Id="rId5" Type="http://schemas.openxmlformats.org/officeDocument/2006/relationships/slide" Target="slide79.xml"/><Relationship Id="rId6" Type="http://schemas.openxmlformats.org/officeDocument/2006/relationships/slide" Target="slide82.xml"/><Relationship Id="rId7" Type="http://schemas.openxmlformats.org/officeDocument/2006/relationships/slide" Target="slide84.xml"/><Relationship Id="rId8" Type="http://schemas.openxmlformats.org/officeDocument/2006/relationships/slide" Target="slide89.xml"/><Relationship Id="rId9" Type="http://schemas.openxmlformats.org/officeDocument/2006/relationships/slide" Target="slide93.xml"/><Relationship Id="rId10" Type="http://schemas.openxmlformats.org/officeDocument/2006/relationships/slide" Target="slide8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 Id="rId3" Type="http://schemas.openxmlformats.org/officeDocument/2006/relationships/image" Target="../media/image28.png"/><Relationship Id="rId4" Type="http://schemas.openxmlformats.org/officeDocument/2006/relationships/slide" Target="slide79.xml"/><Relationship Id="rId5" Type="http://schemas.openxmlformats.org/officeDocument/2006/relationships/slide" Target="slide82.xml"/><Relationship Id="rId6" Type="http://schemas.openxmlformats.org/officeDocument/2006/relationships/slide" Target="slide93.xml"/><Relationship Id="rId7" Type="http://schemas.openxmlformats.org/officeDocument/2006/relationships/slide" Target="slide89.xml"/><Relationship Id="rId8" Type="http://schemas.openxmlformats.org/officeDocument/2006/relationships/slide" Target="slide130.xml"/><Relationship Id="rId9" Type="http://schemas.openxmlformats.org/officeDocument/2006/relationships/slide" Target="slide9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3.xml"/><Relationship Id="rId3" Type="http://schemas.openxmlformats.org/officeDocument/2006/relationships/slide" Target="slide1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4.xml"/><Relationship Id="rId3" Type="http://schemas.openxmlformats.org/officeDocument/2006/relationships/slide" Target="slide1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5.xml"/><Relationship Id="rId3" Type="http://schemas.openxmlformats.org/officeDocument/2006/relationships/slide" Target="slide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6.xml"/><Relationship Id="rId3" Type="http://schemas.openxmlformats.org/officeDocument/2006/relationships/slide" Target="slide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7.xml"/><Relationship Id="rId3" Type="http://schemas.openxmlformats.org/officeDocument/2006/relationships/slide" Target="slide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8.xml"/><Relationship Id="rId3" Type="http://schemas.openxmlformats.org/officeDocument/2006/relationships/image" Target="../media/image47.png"/><Relationship Id="rId4" Type="http://schemas.openxmlformats.org/officeDocument/2006/relationships/slide" Target="slide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9.xml"/><Relationship Id="rId3" Type="http://schemas.openxmlformats.org/officeDocument/2006/relationships/image" Target="../media/image47.png"/><Relationship Id="rId4" Type="http://schemas.openxmlformats.org/officeDocument/2006/relationships/slide" Target="slide1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0.xml"/><Relationship Id="rId3" Type="http://schemas.openxmlformats.org/officeDocument/2006/relationships/image" Target="../media/image47.png"/><Relationship Id="rId4" Type="http://schemas.openxmlformats.org/officeDocument/2006/relationships/slide" Target="slide1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1.xml"/><Relationship Id="rId3" Type="http://schemas.openxmlformats.org/officeDocument/2006/relationships/slide" Target="slide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2.xml"/><Relationship Id="rId3" Type="http://schemas.openxmlformats.org/officeDocument/2006/relationships/slide" Target="slide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3.xml"/><Relationship Id="rId3" Type="http://schemas.openxmlformats.org/officeDocument/2006/relationships/slide" Target="slide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4.xml"/><Relationship Id="rId3" Type="http://schemas.openxmlformats.org/officeDocument/2006/relationships/slide" Target="slide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5.xml"/><Relationship Id="rId3" Type="http://schemas.openxmlformats.org/officeDocument/2006/relationships/slide" Target="slide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6.xml"/><Relationship Id="rId3" Type="http://schemas.openxmlformats.org/officeDocument/2006/relationships/slide" Target="slide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7.xml"/><Relationship Id="rId3" Type="http://schemas.openxmlformats.org/officeDocument/2006/relationships/slide" Target="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8.xml"/><Relationship Id="rId3" Type="http://schemas.openxmlformats.org/officeDocument/2006/relationships/slide" Target="slide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9.xml"/><Relationship Id="rId3" Type="http://schemas.openxmlformats.org/officeDocument/2006/relationships/slide" Target="slide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0.xml"/><Relationship Id="rId3" Type="http://schemas.openxmlformats.org/officeDocument/2006/relationships/slide" Target="slide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1.xml"/><Relationship Id="rId3" Type="http://schemas.openxmlformats.org/officeDocument/2006/relationships/slide" Target="slide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2.xml"/><Relationship Id="rId3" Type="http://schemas.openxmlformats.org/officeDocument/2006/relationships/slide" Target="slide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3.xml"/><Relationship Id="rId3" Type="http://schemas.openxmlformats.org/officeDocument/2006/relationships/slide" Target="slide151.xml"/><Relationship Id="rId4" Type="http://schemas.openxmlformats.org/officeDocument/2006/relationships/slide" Target="slide152.xml"/><Relationship Id="rId5" Type="http://schemas.openxmlformats.org/officeDocument/2006/relationships/slide" Target="slide153.xml"/><Relationship Id="rId6" Type="http://schemas.openxmlformats.org/officeDocument/2006/relationships/slide" Target="slide154.xml"/><Relationship Id="rId7" Type="http://schemas.openxmlformats.org/officeDocument/2006/relationships/slide" Target="slide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4.xml"/><Relationship Id="rId3" Type="http://schemas.openxmlformats.org/officeDocument/2006/relationships/slide" Target="slide1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5.xml"/><Relationship Id="rId3" Type="http://schemas.openxmlformats.org/officeDocument/2006/relationships/slide" Target="slide1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6.xml"/><Relationship Id="rId3" Type="http://schemas.openxmlformats.org/officeDocument/2006/relationships/slide" Target="slide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7.xml"/><Relationship Id="rId3" Type="http://schemas.openxmlformats.org/officeDocument/2006/relationships/slide" Target="slide1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8.xml"/><Relationship Id="rId3" Type="http://schemas.openxmlformats.org/officeDocument/2006/relationships/slide" Target="slide1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1.xml"/><Relationship Id="rId3" Type="http://schemas.openxmlformats.org/officeDocument/2006/relationships/slide" Target="slide190.xml"/><Relationship Id="rId4" Type="http://schemas.openxmlformats.org/officeDocument/2006/relationships/slide" Target="slide19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2.xml"/><Relationship Id="rId3" Type="http://schemas.openxmlformats.org/officeDocument/2006/relationships/slide" Target="slide190.xml"/><Relationship Id="rId4" Type="http://schemas.openxmlformats.org/officeDocument/2006/relationships/slide" Target="slide19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6.xml"/><Relationship Id="rId3" Type="http://schemas.openxmlformats.org/officeDocument/2006/relationships/slide" Target="slide13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7.xml"/><Relationship Id="rId3" Type="http://schemas.openxmlformats.org/officeDocument/2006/relationships/slide" Target="slide13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8.xml"/><Relationship Id="rId3" Type="http://schemas.openxmlformats.org/officeDocument/2006/relationships/slide" Target="slide1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9.xml"/><Relationship Id="rId3" Type="http://schemas.openxmlformats.org/officeDocument/2006/relationships/slide" Target="slide1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0.xml"/><Relationship Id="rId3" Type="http://schemas.openxmlformats.org/officeDocument/2006/relationships/slide" Target="slide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1.xml"/><Relationship Id="rId3" Type="http://schemas.openxmlformats.org/officeDocument/2006/relationships/slide" Target="slide2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2.xml"/><Relationship Id="rId3" Type="http://schemas.openxmlformats.org/officeDocument/2006/relationships/slide" Target="slide2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3.xml"/><Relationship Id="rId3" Type="http://schemas.openxmlformats.org/officeDocument/2006/relationships/slide" Target="slide2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4.xml"/><Relationship Id="rId3" Type="http://schemas.openxmlformats.org/officeDocument/2006/relationships/slide" Target="slide2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5.xml"/><Relationship Id="rId3" Type="http://schemas.openxmlformats.org/officeDocument/2006/relationships/image" Target="../media/image48.png"/><Relationship Id="rId4" Type="http://schemas.openxmlformats.org/officeDocument/2006/relationships/slide" Target="slide2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6.xml"/><Relationship Id="rId3" Type="http://schemas.openxmlformats.org/officeDocument/2006/relationships/slide" Target="slide2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7.xml"/><Relationship Id="rId3" Type="http://schemas.openxmlformats.org/officeDocument/2006/relationships/slide" Target="slide25.xml"/><Relationship Id="rId4" Type="http://schemas.openxmlformats.org/officeDocument/2006/relationships/slide" Target="slide3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8.xml"/><Relationship Id="rId3" Type="http://schemas.openxmlformats.org/officeDocument/2006/relationships/slide" Target="slide14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1.xml"/><Relationship Id="rId3" Type="http://schemas.openxmlformats.org/officeDocument/2006/relationships/image" Target="../media/image49.png"/><Relationship Id="rId4" Type="http://schemas.openxmlformats.org/officeDocument/2006/relationships/slide" Target="slide14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2.xml"/><Relationship Id="rId3" Type="http://schemas.openxmlformats.org/officeDocument/2006/relationships/image" Target="../media/image50.png"/><Relationship Id="rId4" Type="http://schemas.openxmlformats.org/officeDocument/2006/relationships/slide" Target="slide14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 Id="rId3" Type="http://schemas.openxmlformats.org/officeDocument/2006/relationships/slide" Target="slide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 Id="rId3" Type="http://schemas.openxmlformats.org/officeDocument/2006/relationships/slide" Target="slide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6.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slide" Target="slide16.xml"/><Relationship Id="rId13" Type="http://schemas.openxmlformats.org/officeDocument/2006/relationships/slide" Target="slide13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9.xml"/><Relationship Id="rId3" Type="http://schemas.openxmlformats.org/officeDocument/2006/relationships/slide" Target="slide114.xml"/><Relationship Id="rId4" Type="http://schemas.openxmlformats.org/officeDocument/2006/relationships/slide" Target="slide208.xml"/><Relationship Id="rId5" Type="http://schemas.openxmlformats.org/officeDocument/2006/relationships/slide" Target="slide1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0.xml"/><Relationship Id="rId3" Type="http://schemas.openxmlformats.org/officeDocument/2006/relationships/slide" Target="slide114.xml"/><Relationship Id="rId4" Type="http://schemas.openxmlformats.org/officeDocument/2006/relationships/slide" Target="slide208.xml"/><Relationship Id="rId5" Type="http://schemas.openxmlformats.org/officeDocument/2006/relationships/slide" Target="slide1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1.xml"/><Relationship Id="rId3" Type="http://schemas.openxmlformats.org/officeDocument/2006/relationships/slide" Target="slide114.xml"/><Relationship Id="rId4" Type="http://schemas.openxmlformats.org/officeDocument/2006/relationships/slide" Target="slide208.xml"/><Relationship Id="rId5" Type="http://schemas.openxmlformats.org/officeDocument/2006/relationships/slide" Target="slide1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2.xml"/><Relationship Id="rId3" Type="http://schemas.openxmlformats.org/officeDocument/2006/relationships/slide" Target="slide114.xml"/><Relationship Id="rId4" Type="http://schemas.openxmlformats.org/officeDocument/2006/relationships/slide" Target="slide1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4.xml"/><Relationship Id="rId3" Type="http://schemas.openxmlformats.org/officeDocument/2006/relationships/slide" Target="slide209.xml"/><Relationship Id="rId4" Type="http://schemas.openxmlformats.org/officeDocument/2006/relationships/slide" Target="slide116.xml"/><Relationship Id="rId5" Type="http://schemas.openxmlformats.org/officeDocument/2006/relationships/slide" Target="slide200.xml"/><Relationship Id="rId6" Type="http://schemas.openxmlformats.org/officeDocument/2006/relationships/slide" Target="slide11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5.xml"/><Relationship Id="rId3" Type="http://schemas.openxmlformats.org/officeDocument/2006/relationships/slide" Target="slide116.xml"/><Relationship Id="rId4" Type="http://schemas.openxmlformats.org/officeDocument/2006/relationships/slide" Target="slide200.xml"/><Relationship Id="rId5" Type="http://schemas.openxmlformats.org/officeDocument/2006/relationships/slide" Target="slide1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7.xml"/><Relationship Id="rId3" Type="http://schemas.openxmlformats.org/officeDocument/2006/relationships/slide" Target="slide169.xml"/><Relationship Id="rId4" Type="http://schemas.openxmlformats.org/officeDocument/2006/relationships/slide" Target="slide210.xml"/><Relationship Id="rId5" Type="http://schemas.openxmlformats.org/officeDocument/2006/relationships/slide" Target="slide118.xml"/><Relationship Id="rId6" Type="http://schemas.openxmlformats.org/officeDocument/2006/relationships/slide" Target="slide11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8.xml"/><Relationship Id="rId3" Type="http://schemas.openxmlformats.org/officeDocument/2006/relationships/slide" Target="slide169.xml"/><Relationship Id="rId4" Type="http://schemas.openxmlformats.org/officeDocument/2006/relationships/slide" Target="slide199.xml"/><Relationship Id="rId5" Type="http://schemas.openxmlformats.org/officeDocument/2006/relationships/slide" Target="slide118.xml"/><Relationship Id="rId6" Type="http://schemas.openxmlformats.org/officeDocument/2006/relationships/slide" Target="slide11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0.xml"/><Relationship Id="rId3" Type="http://schemas.openxmlformats.org/officeDocument/2006/relationships/slide" Target="slide119.xml"/><Relationship Id="rId4" Type="http://schemas.openxmlformats.org/officeDocument/2006/relationships/slide" Target="slide12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9.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0.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5.xml"/><Relationship Id="rId3" Type="http://schemas.openxmlformats.org/officeDocument/2006/relationships/slide" Target="slide212.xml"/><Relationship Id="rId4" Type="http://schemas.openxmlformats.org/officeDocument/2006/relationships/slide" Target="slide12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6.xml"/><Relationship Id="rId3" Type="http://schemas.openxmlformats.org/officeDocument/2006/relationships/image" Target="../media/image930.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60.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image" Target="../media/image102.png"/><Relationship Id="rId13" Type="http://schemas.openxmlformats.org/officeDocument/2006/relationships/image" Target="../media/image103.png"/><Relationship Id="rId14" Type="http://schemas.openxmlformats.org/officeDocument/2006/relationships/image" Target="../media/image10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9.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0.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2.xml"/><Relationship Id="rId3" Type="http://schemas.openxmlformats.org/officeDocument/2006/relationships/slide" Target="slide14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8.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9.xml"/><Relationship Id="rId3" Type="http://schemas.openxmlformats.org/officeDocument/2006/relationships/slide" Target="slide124.xml"/><Relationship Id="rId4" Type="http://schemas.openxmlformats.org/officeDocument/2006/relationships/slide" Target="slide122.xml"/><Relationship Id="rId5" Type="http://schemas.openxmlformats.org/officeDocument/2006/relationships/slide" Target="slide123.xml"/><Relationship Id="rId6" Type="http://schemas.openxmlformats.org/officeDocument/2006/relationships/slide" Target="slide12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0.xml"/><Relationship Id="rId3" Type="http://schemas.openxmlformats.org/officeDocument/2006/relationships/slide" Target="slide124.xml"/><Relationship Id="rId4" Type="http://schemas.openxmlformats.org/officeDocument/2006/relationships/slide" Target="slide122.xml"/><Relationship Id="rId5" Type="http://schemas.openxmlformats.org/officeDocument/2006/relationships/slide" Target="slide123.xml"/><Relationship Id="rId6" Type="http://schemas.openxmlformats.org/officeDocument/2006/relationships/slide" Target="slide12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1.xml"/><Relationship Id="rId3" Type="http://schemas.openxmlformats.org/officeDocument/2006/relationships/slide" Target="slide121.xml"/><Relationship Id="rId4" Type="http://schemas.openxmlformats.org/officeDocument/2006/relationships/slide" Target="slide124.xml"/><Relationship Id="rId5" Type="http://schemas.openxmlformats.org/officeDocument/2006/relationships/slide" Target="slide122.xml"/><Relationship Id="rId6" Type="http://schemas.openxmlformats.org/officeDocument/2006/relationships/slide" Target="slide12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2.xml"/><Relationship Id="rId3" Type="http://schemas.openxmlformats.org/officeDocument/2006/relationships/slide" Target="slide121.xml"/><Relationship Id="rId4" Type="http://schemas.openxmlformats.org/officeDocument/2006/relationships/slide" Target="slide124.xml"/><Relationship Id="rId5" Type="http://schemas.openxmlformats.org/officeDocument/2006/relationships/slide" Target="slide122.xml"/><Relationship Id="rId6" Type="http://schemas.openxmlformats.org/officeDocument/2006/relationships/slide" Target="slide12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3.xml"/><Relationship Id="rId3" Type="http://schemas.openxmlformats.org/officeDocument/2006/relationships/slide" Target="slide121.xml"/><Relationship Id="rId4" Type="http://schemas.openxmlformats.org/officeDocument/2006/relationships/slide" Target="slide124.xml"/><Relationship Id="rId5" Type="http://schemas.openxmlformats.org/officeDocument/2006/relationships/slide" Target="slide122.xml"/><Relationship Id="rId6" Type="http://schemas.openxmlformats.org/officeDocument/2006/relationships/slide" Target="slide12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5.xml"/><Relationship Id="rId3" Type="http://schemas.openxmlformats.org/officeDocument/2006/relationships/image" Target="../media/image61.png"/><Relationship Id="rId4" Type="http://schemas.openxmlformats.org/officeDocument/2006/relationships/image" Target="../media/image6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7.xml"/><Relationship Id="rId3" Type="http://schemas.openxmlformats.org/officeDocument/2006/relationships/slide" Target="slide121.xml"/><Relationship Id="rId4" Type="http://schemas.openxmlformats.org/officeDocument/2006/relationships/slide" Target="slide124.xml"/><Relationship Id="rId5" Type="http://schemas.openxmlformats.org/officeDocument/2006/relationships/slide" Target="slide122.xml"/><Relationship Id="rId6" Type="http://schemas.openxmlformats.org/officeDocument/2006/relationships/slide" Target="slide12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9.xml"/><Relationship Id="rId3" Type="http://schemas.openxmlformats.org/officeDocument/2006/relationships/slide" Target="slide124.xml"/><Relationship Id="rId4" Type="http://schemas.openxmlformats.org/officeDocument/2006/relationships/slide" Target="slide122.xml"/><Relationship Id="rId5" Type="http://schemas.openxmlformats.org/officeDocument/2006/relationships/slide" Target="slide12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0.xml"/><Relationship Id="rId3" Type="http://schemas.openxmlformats.org/officeDocument/2006/relationships/slide" Target="slide124.xml"/><Relationship Id="rId4" Type="http://schemas.openxmlformats.org/officeDocument/2006/relationships/slide" Target="slide122.xml"/><Relationship Id="rId5" Type="http://schemas.openxmlformats.org/officeDocument/2006/relationships/slide" Target="slide12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3.xml"/><Relationship Id="rId3" Type="http://schemas.openxmlformats.org/officeDocument/2006/relationships/image" Target="../media/image63.png"/><Relationship Id="rId4" Type="http://schemas.openxmlformats.org/officeDocument/2006/relationships/slide" Target="slide133.xml"/><Relationship Id="rId5" Type="http://schemas.openxmlformats.org/officeDocument/2006/relationships/image" Target="../media/image58.png"/><Relationship Id="rId6" Type="http://schemas.openxmlformats.org/officeDocument/2006/relationships/image" Target="../media/image51.png"/><Relationship Id="rId7" Type="http://schemas.openxmlformats.org/officeDocument/2006/relationships/slide" Target="slide109.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184.xml"/><Relationship Id="rId3" Type="http://schemas.openxmlformats.org/officeDocument/2006/relationships/slide" Target="slide109.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5.xml"/><Relationship Id="rId3" Type="http://schemas.openxmlformats.org/officeDocument/2006/relationships/slide" Target="slide124.xml"/><Relationship Id="rId4" Type="http://schemas.openxmlformats.org/officeDocument/2006/relationships/slide" Target="slide122.xml"/><Relationship Id="rId5" Type="http://schemas.openxmlformats.org/officeDocument/2006/relationships/slide" Target="slide12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8.xml"/><Relationship Id="rId3" Type="http://schemas.openxmlformats.org/officeDocument/2006/relationships/slide" Target="slide16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9.xml"/><Relationship Id="rId3" Type="http://schemas.openxmlformats.org/officeDocument/2006/relationships/slide" Target="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0.xml"/><Relationship Id="rId3" Type="http://schemas.openxmlformats.org/officeDocument/2006/relationships/image" Target="../media/image64.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2.xml"/><Relationship Id="rId3" Type="http://schemas.openxmlformats.org/officeDocument/2006/relationships/slide" Target="slide14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3.xml"/><Relationship Id="rId3" Type="http://schemas.openxmlformats.org/officeDocument/2006/relationships/slide" Target="slide1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4.xml"/><Relationship Id="rId3" Type="http://schemas.openxmlformats.org/officeDocument/2006/relationships/image" Target="../media/image28.png"/><Relationship Id="rId4" Type="http://schemas.openxmlformats.org/officeDocument/2006/relationships/slide" Target="slide101.xml"/><Relationship Id="rId5" Type="http://schemas.openxmlformats.org/officeDocument/2006/relationships/slide" Target="slide102.xml"/><Relationship Id="rId6" Type="http://schemas.openxmlformats.org/officeDocument/2006/relationships/slide" Target="slide103.xml"/><Relationship Id="rId7" Type="http://schemas.openxmlformats.org/officeDocument/2006/relationships/slide" Target="slide104.xml"/><Relationship Id="rId8" Type="http://schemas.openxmlformats.org/officeDocument/2006/relationships/slide" Target="slide130.xml"/><Relationship Id="rId9" Type="http://schemas.openxmlformats.org/officeDocument/2006/relationships/slide" Target="slide10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6.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8.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9.xml"/><Relationship Id="rId3" Type="http://schemas.openxmlformats.org/officeDocument/2006/relationships/slide" Target="slide208.xml"/><Relationship Id="rId4" Type="http://schemas.openxmlformats.org/officeDocument/2006/relationships/slide" Target="slide209.xml"/><Relationship Id="rId5" Type="http://schemas.openxmlformats.org/officeDocument/2006/relationships/slide" Target="slide210.xml"/><Relationship Id="rId6" Type="http://schemas.openxmlformats.org/officeDocument/2006/relationships/slide" Target="slide21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0.xml"/><Relationship Id="rId3" Type="http://schemas.openxmlformats.org/officeDocument/2006/relationships/slide" Target="slide208.xml"/><Relationship Id="rId4" Type="http://schemas.openxmlformats.org/officeDocument/2006/relationships/slide" Target="slide209.xml"/><Relationship Id="rId5" Type="http://schemas.openxmlformats.org/officeDocument/2006/relationships/slide" Target="slide210.xml"/><Relationship Id="rId6" Type="http://schemas.openxmlformats.org/officeDocument/2006/relationships/slide" Target="slide21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1.xml"/><Relationship Id="rId3" Type="http://schemas.openxmlformats.org/officeDocument/2006/relationships/slide" Target="slide206.xml"/><Relationship Id="rId4" Type="http://schemas.openxmlformats.org/officeDocument/2006/relationships/slide" Target="slide207.xml"/><Relationship Id="rId5" Type="http://schemas.openxmlformats.org/officeDocument/2006/relationships/slide" Target="slide137.xml"/><Relationship Id="rId6" Type="http://schemas.openxmlformats.org/officeDocument/2006/relationships/slide" Target="slide79.xml"/><Relationship Id="rId7" Type="http://schemas.openxmlformats.org/officeDocument/2006/relationships/slide" Target="slide82.xml"/><Relationship Id="rId8" Type="http://schemas.openxmlformats.org/officeDocument/2006/relationships/slide" Target="slide84.xml"/><Relationship Id="rId9" Type="http://schemas.openxmlformats.org/officeDocument/2006/relationships/slide" Target="slide89.xml"/><Relationship Id="rId10" Type="http://schemas.openxmlformats.org/officeDocument/2006/relationships/slide" Target="slide9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2.xml"/><Relationship Id="rId3" Type="http://schemas.openxmlformats.org/officeDocument/2006/relationships/slide" Target="slide206.xml"/><Relationship Id="rId4" Type="http://schemas.openxmlformats.org/officeDocument/2006/relationships/slide" Target="slide207.xml"/><Relationship Id="rId5" Type="http://schemas.openxmlformats.org/officeDocument/2006/relationships/slide" Target="slide19.xml"/><Relationship Id="rId6" Type="http://schemas.openxmlformats.org/officeDocument/2006/relationships/slide" Target="slide79.xml"/><Relationship Id="rId7" Type="http://schemas.openxmlformats.org/officeDocument/2006/relationships/slide" Target="slide82.xml"/><Relationship Id="rId8" Type="http://schemas.openxmlformats.org/officeDocument/2006/relationships/slide" Target="slide84.xml"/><Relationship Id="rId9" Type="http://schemas.openxmlformats.org/officeDocument/2006/relationships/slide" Target="slide89.xml"/><Relationship Id="rId10" Type="http://schemas.openxmlformats.org/officeDocument/2006/relationships/slide" Target="slide9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3.xml"/><Relationship Id="rId3" Type="http://schemas.openxmlformats.org/officeDocument/2006/relationships/slide" Target="slide206.xml"/><Relationship Id="rId4" Type="http://schemas.openxmlformats.org/officeDocument/2006/relationships/slide" Target="slide207.xml"/><Relationship Id="rId5" Type="http://schemas.openxmlformats.org/officeDocument/2006/relationships/slide" Target="slide22.xml"/><Relationship Id="rId6" Type="http://schemas.openxmlformats.org/officeDocument/2006/relationships/slide" Target="slide79.xml"/><Relationship Id="rId7" Type="http://schemas.openxmlformats.org/officeDocument/2006/relationships/slide" Target="slide82.xml"/><Relationship Id="rId8" Type="http://schemas.openxmlformats.org/officeDocument/2006/relationships/slide" Target="slide84.xml"/><Relationship Id="rId9" Type="http://schemas.openxmlformats.org/officeDocument/2006/relationships/slide" Target="slide89.xml"/><Relationship Id="rId10" Type="http://schemas.openxmlformats.org/officeDocument/2006/relationships/slide" Target="slide9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4.xml"/><Relationship Id="rId3" Type="http://schemas.openxmlformats.org/officeDocument/2006/relationships/slide" Target="slide206.xml"/><Relationship Id="rId4" Type="http://schemas.openxmlformats.org/officeDocument/2006/relationships/slide" Target="slide207.xml"/><Relationship Id="rId5" Type="http://schemas.openxmlformats.org/officeDocument/2006/relationships/slide" Target="slide25.xml"/><Relationship Id="rId6" Type="http://schemas.openxmlformats.org/officeDocument/2006/relationships/slide" Target="slide79.xml"/><Relationship Id="rId7" Type="http://schemas.openxmlformats.org/officeDocument/2006/relationships/slide" Target="slide82.xml"/><Relationship Id="rId8" Type="http://schemas.openxmlformats.org/officeDocument/2006/relationships/slide" Target="slide84.xml"/><Relationship Id="rId9" Type="http://schemas.openxmlformats.org/officeDocument/2006/relationships/slide" Target="slide89.xml"/><Relationship Id="rId10" Type="http://schemas.openxmlformats.org/officeDocument/2006/relationships/slide" Target="slide9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5.xml"/><Relationship Id="rId3" Type="http://schemas.openxmlformats.org/officeDocument/2006/relationships/image" Target="../media/image66.png"/><Relationship Id="rId4" Type="http://schemas.openxmlformats.org/officeDocument/2006/relationships/image" Target="../media/image171.png"/><Relationship Id="rId5" Type="http://schemas.openxmlformats.org/officeDocument/2006/relationships/image" Target="../media/image181.png"/><Relationship Id="rId6" Type="http://schemas.openxmlformats.org/officeDocument/2006/relationships/image" Target="../media/image191.png"/><Relationship Id="rId8" Type="http://schemas.openxmlformats.org/officeDocument/2006/relationships/image" Target="../media/image210.png"/><Relationship Id="rId9" Type="http://schemas.openxmlformats.org/officeDocument/2006/relationships/image" Target="../media/image220.png"/><Relationship Id="rId10" Type="http://schemas.openxmlformats.org/officeDocument/2006/relationships/image" Target="../media/image66.png"/><Relationship Id="rId11" Type="http://schemas.openxmlformats.org/officeDocument/2006/relationships/slide" Target="slide4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6.xml"/><Relationship Id="rId3" Type="http://schemas.openxmlformats.org/officeDocument/2006/relationships/slide" Target="slide43.xml"/><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image" Target="../media/image67.png"/><Relationship Id="rId10" Type="http://schemas.openxmlformats.org/officeDocument/2006/relationships/image" Target="../media/image70.png"/><Relationship Id="rId11" Type="http://schemas.openxmlformats.org/officeDocument/2006/relationships/slide" Target="slide214.xml"/><Relationship Id="rId12" Type="http://schemas.openxmlformats.org/officeDocument/2006/relationships/image" Target="../media/image68.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8.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9.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0.xml"/><Relationship Id="rId3" Type="http://schemas.openxmlformats.org/officeDocument/2006/relationships/slide" Target="slide28.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1.xml"/><Relationship Id="rId3" Type="http://schemas.openxmlformats.org/officeDocument/2006/relationships/slide" Target="slide2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2.xml"/><Relationship Id="rId3" Type="http://schemas.openxmlformats.org/officeDocument/2006/relationships/slide" Target="slide2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4.xml"/><Relationship Id="rId3" Type="http://schemas.openxmlformats.org/officeDocument/2006/relationships/chart" Target="../charts/chart2.xml"/><Relationship Id="rId4" Type="http://schemas.openxmlformats.org/officeDocument/2006/relationships/image" Target="../media/image31.png"/><Relationship Id="rId5" Type="http://schemas.openxmlformats.org/officeDocument/2006/relationships/slide" Target="slide3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5.xml"/><Relationship Id="rId3" Type="http://schemas.openxmlformats.org/officeDocument/2006/relationships/chart" Target="../charts/chart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6.xml"/><Relationship Id="rId3" Type="http://schemas.openxmlformats.org/officeDocument/2006/relationships/chart" Target="../charts/chart4.xml"/><Relationship Id="rId4" Type="http://schemas.openxmlformats.org/officeDocument/2006/relationships/image" Target="../media/image30.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7.xml"/><Relationship Id="rId3" Type="http://schemas.openxmlformats.org/officeDocument/2006/relationships/chart" Target="../charts/char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8.xml"/><Relationship Id="rId3" Type="http://schemas.openxmlformats.org/officeDocument/2006/relationships/chart" Target="../charts/chart6.xml"/><Relationship Id="rId4" Type="http://schemas.openxmlformats.org/officeDocument/2006/relationships/chart" Target="../charts/char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slide" Target="slide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1.png"/><Relationship Id="rId3" Type="http://schemas.openxmlformats.org/officeDocument/2006/relationships/slide" Target="slide31.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2.png"/><Relationship Id="rId3" Type="http://schemas.openxmlformats.org/officeDocument/2006/relationships/slide" Target="slide31.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png"/><Relationship Id="rId3" Type="http://schemas.openxmlformats.org/officeDocument/2006/relationships/slide" Target="slide3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emf"/><Relationship Id="rId3" Type="http://schemas.openxmlformats.org/officeDocument/2006/relationships/slide" Target="slide3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5.png"/><Relationship Id="rId3" Type="http://schemas.openxmlformats.org/officeDocument/2006/relationships/slide" Target="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그림 14"/>
          <p:cNvPicPr>
            <a:picLocks noChangeAspect="1"/>
          </p:cNvPicPr>
          <p:nvPr/>
        </p:nvPicPr>
        <p:blipFill rotWithShape="1">
          <a:blip r:embed="rId3" cstate="hqprint">
            <a:extLst>
              <a:ext uri="{28A0092B-C50C-407E-A947-70E740481C1C}">
                <a14:useLocalDpi xmlns:a14="http://schemas.microsoft.com/office/drawing/2010/main" val="0"/>
              </a:ext>
            </a:extLst>
          </a:blip>
          <a:srcRect t="17446" b="15415"/>
          <a:stretch/>
        </p:blipFill>
        <p:spPr>
          <a:xfrm>
            <a:off x="0" y="26894"/>
            <a:ext cx="12192000" cy="6831106"/>
          </a:xfrm>
          <a:prstGeom prst="rect">
            <a:avLst/>
          </a:prstGeom>
        </p:spPr>
      </p:pic>
      <p:sp>
        <p:nvSpPr>
          <p:cNvPr id="17" name="Title 1">
            <a:extLst>
              <a:ext uri="{FF2B5EF4-FFF2-40B4-BE49-F238E27FC236}">
                <a16:creationId xmlns:a16="http://schemas.microsoft.com/office/drawing/2014/main" id="{A2C0D6AF-3F07-4FB9-B630-CA7F48943D71}"/>
              </a:ext>
            </a:extLst>
          </p:cNvPr>
          <p:cNvSpPr txBox="1">
            <a:spLocks/>
          </p:cNvSpPr>
          <p:nvPr/>
        </p:nvSpPr>
        <p:spPr>
          <a:xfrm>
            <a:off x="1048174" y="1410191"/>
            <a:ext cx="10212608" cy="3100849"/>
          </a:xfrm>
          <a:prstGeom prst="rect">
            <a:avLst/>
          </a:prstGeom>
          <a:solidFill>
            <a:schemeClr val="tx1">
              <a:alpha val="70000"/>
            </a:schemeClr>
          </a:solidFill>
          <a:ln w="9525">
            <a:noFill/>
            <a:miter lim="800000"/>
            <a:headEnd/>
            <a:tailEnd/>
          </a:ln>
        </p:spPr>
        <p:txBody>
          <a:bodyPr wrap="square" lIns="0" tIns="0" rIns="0" bIns="0" anchor="ctr">
            <a:spAutoFit/>
            <a:scene3d>
              <a:camera prst="orthographicFront"/>
              <a:lightRig rig="threePt" dir="t"/>
            </a:scene3d>
            <a:sp3d contourW="2540">
              <a:contourClr>
                <a:srgbClr val="00B0F0"/>
              </a:contourClr>
            </a:sp3d>
          </a:bodyPr>
          <a:lstStyle>
            <a:lvl1pPr indent="0" defTabSz="1038831">
              <a:spcBef>
                <a:spcPct val="20000"/>
              </a:spcBef>
              <a:spcAft>
                <a:spcPts val="681"/>
              </a:spcAft>
              <a:buFont typeface="Arial"/>
              <a:buNone/>
              <a:defRPr sz="3600">
                <a:solidFill>
                  <a:schemeClr val="bg1"/>
                </a:solidFill>
                <a:latin typeface="Samsung Sharp Sans Bold" pitchFamily="2" charset="0"/>
                <a:ea typeface="Samsung Sharp Sans Bold" pitchFamily="2" charset="0"/>
                <a:cs typeface="Samsung Sharp Sans Bold" pitchFamily="2" charset="0"/>
              </a:defRPr>
            </a:lvl1pPr>
            <a:lvl2pPr marL="990526" indent="-380972" defTabSz="609555" latinLnBrk="0">
              <a:spcBef>
                <a:spcPct val="20000"/>
              </a:spcBef>
              <a:buFont typeface="Arial"/>
              <a:buChar char="–"/>
              <a:defRPr sz="2133">
                <a:latin typeface="Helvetica Neue"/>
                <a:cs typeface="Helvetica Neue"/>
              </a:defRPr>
            </a:lvl2pPr>
            <a:lvl3pPr marL="1523887" indent="-304776" defTabSz="609555" latinLnBrk="0">
              <a:spcBef>
                <a:spcPct val="20000"/>
              </a:spcBef>
              <a:buFont typeface="Arial"/>
              <a:buChar char="•"/>
              <a:defRPr sz="1867">
                <a:latin typeface="Helvetica Neue"/>
                <a:cs typeface="Helvetica Neue"/>
              </a:defRPr>
            </a:lvl3pPr>
            <a:lvl4pPr marL="2133440" indent="-304776" defTabSz="609555" latinLnBrk="0">
              <a:spcBef>
                <a:spcPct val="20000"/>
              </a:spcBef>
              <a:buFont typeface="Arial"/>
              <a:buChar char="–"/>
              <a:defRPr sz="1600">
                <a:latin typeface="Helvetica Neue"/>
                <a:cs typeface="Helvetica Neue"/>
              </a:defRPr>
            </a:lvl4pPr>
            <a:lvl5pPr marL="2742994" indent="-304776" defTabSz="609555" latinLnBrk="0">
              <a:spcBef>
                <a:spcPct val="20000"/>
              </a:spcBef>
              <a:buFont typeface="Arial"/>
              <a:buChar char="»"/>
              <a:defRPr sz="1600">
                <a:latin typeface="Helvetica Neue"/>
                <a:cs typeface="Helvetica Neue"/>
              </a:defRPr>
            </a:lvl5pPr>
            <a:lvl6pPr marL="3352548" indent="-304776" defTabSz="609555" latinLnBrk="0">
              <a:spcBef>
                <a:spcPct val="20000"/>
              </a:spcBef>
              <a:buFont typeface="Arial"/>
              <a:buChar char="•"/>
              <a:defRPr sz="2667"/>
            </a:lvl6pPr>
            <a:lvl7pPr marL="3962104" indent="-304776" defTabSz="609555" latinLnBrk="0">
              <a:spcBef>
                <a:spcPct val="20000"/>
              </a:spcBef>
              <a:buFont typeface="Arial"/>
              <a:buChar char="•"/>
              <a:defRPr sz="2667"/>
            </a:lvl7pPr>
            <a:lvl8pPr marL="4571658" indent="-304776" defTabSz="609555" latinLnBrk="0">
              <a:spcBef>
                <a:spcPct val="20000"/>
              </a:spcBef>
              <a:buFont typeface="Arial"/>
              <a:buChar char="•"/>
              <a:defRPr sz="2667"/>
            </a:lvl8pPr>
            <a:lvl9pPr marL="5181212" indent="-304776" defTabSz="609555" latinLnBrk="0">
              <a:spcBef>
                <a:spcPct val="20000"/>
              </a:spcBef>
              <a:buFont typeface="Arial"/>
              <a:buChar char="•"/>
              <a:defRPr sz="2667"/>
            </a:lvl9pPr>
          </a:lstStyle>
          <a:p>
            <a:pPr algn="ctr"/>
            <a:r>
              <a:rPr lang="en-US" altLang="ko-KR" sz="4000" dirty="0">
                <a:latin typeface="+mj-ea"/>
                <a:ea typeface="+mj-ea"/>
              </a:rPr>
              <a:t>LLM </a:t>
            </a:r>
            <a:r>
              <a:rPr lang="ko-KR" altLang="en-US" sz="4000" dirty="0">
                <a:latin typeface="+mj-ea"/>
                <a:ea typeface="+mj-ea"/>
              </a:rPr>
              <a:t>추론 처리량 향상을 위해</a:t>
            </a:r>
            <a:endParaRPr lang="en-US" altLang="ko-KR" sz="4000" dirty="0">
              <a:latin typeface="+mj-ea"/>
              <a:ea typeface="+mj-ea"/>
            </a:endParaRPr>
          </a:p>
          <a:p>
            <a:pPr algn="ctr"/>
            <a:r>
              <a:rPr lang="ko-KR" altLang="en-US" sz="4000" dirty="0">
                <a:latin typeface="+mj-ea"/>
                <a:ea typeface="+mj-ea"/>
              </a:rPr>
              <a:t>이기종 메모리를 활용하는 </a:t>
            </a:r>
            <a:endParaRPr lang="en-US" altLang="ko-KR" sz="4000" dirty="0">
              <a:latin typeface="+mj-ea"/>
              <a:ea typeface="+mj-ea"/>
            </a:endParaRPr>
          </a:p>
          <a:p>
            <a:pPr algn="ctr"/>
            <a:r>
              <a:rPr lang="ko-KR" altLang="en-US" sz="4000" dirty="0">
                <a:latin typeface="+mj-ea"/>
                <a:ea typeface="+mj-ea"/>
              </a:rPr>
              <a:t>서빙 엔진 개발</a:t>
            </a:r>
            <a:endParaRPr lang="en-US" altLang="ko-KR" sz="4000" dirty="0">
              <a:latin typeface="+mj-ea"/>
              <a:ea typeface="+mj-ea"/>
            </a:endParaRPr>
          </a:p>
          <a:p>
            <a:pPr algn="ctr"/>
            <a:endParaRPr lang="ko-KR" altLang="en-US" sz="4000" dirty="0">
              <a:latin typeface="+mj-ea"/>
              <a:ea typeface="+mj-ea"/>
            </a:endParaRPr>
          </a:p>
        </p:txBody>
      </p:sp>
      <p:sp>
        <p:nvSpPr>
          <p:cNvPr id="18" name="텍스트 개체 틀 38">
            <a:extLst>
              <a:ext uri="{FF2B5EF4-FFF2-40B4-BE49-F238E27FC236}">
                <a16:creationId xmlns:a16="http://schemas.microsoft.com/office/drawing/2014/main" id="{04BDDCBA-0CF1-4334-A7C5-0A13738CDB3F}"/>
              </a:ext>
            </a:extLst>
          </p:cNvPr>
          <p:cNvSpPr txBox="1">
            <a:spLocks/>
          </p:cNvSpPr>
          <p:nvPr/>
        </p:nvSpPr>
        <p:spPr>
          <a:xfrm>
            <a:off x="2284362" y="4914900"/>
            <a:ext cx="7623277" cy="1400151"/>
          </a:xfrm>
          <a:prstGeom prst="rect">
            <a:avLst/>
          </a:prstGeom>
          <a:solidFill>
            <a:schemeClr val="tx1">
              <a:alpha val="70000"/>
            </a:schemeClr>
          </a:solidFill>
        </p:spPr>
        <p:txBody>
          <a:bodyPr lIns="0" tIns="0" rIns="0" bIns="0" anchor="ctr"/>
          <a:lstStyle>
            <a:defPPr>
              <a:defRPr lang="ko-KR"/>
            </a:defPPr>
            <a:lvl1pPr marR="0" lvl="0" indent="0" algn="ctr" defTabSz="920670" fontAlgn="auto">
              <a:lnSpc>
                <a:spcPct val="100000"/>
              </a:lnSpc>
              <a:spcBef>
                <a:spcPts val="0"/>
              </a:spcBef>
              <a:spcAft>
                <a:spcPts val="0"/>
              </a:spcAft>
              <a:buClrTx/>
              <a:buSzTx/>
              <a:buFont typeface="Wingdings" panose="05000000000000000000" pitchFamily="2" charset="2"/>
              <a:buNone/>
              <a:tabLst/>
              <a:defRPr kumimoji="1" sz="3600" b="0" baseline="0">
                <a:solidFill>
                  <a:schemeClr val="bg1"/>
                </a:solidFill>
                <a:effectLst>
                  <a:outerShdw blurRad="38100" dist="38100" dir="2700000" algn="tl">
                    <a:srgbClr val="000000">
                      <a:alpha val="43137"/>
                    </a:srgbClr>
                  </a:outerShdw>
                </a:effectLst>
                <a:latin typeface="Samsung Sharp Sans Bold" pitchFamily="50" charset="0"/>
                <a:ea typeface="Samsung Sharp Sans Bold" pitchFamily="50" charset="0"/>
                <a:cs typeface="Samsung Sharp Sans Bold" pitchFamily="50" charset="0"/>
              </a:defRPr>
            </a:lvl1pPr>
            <a:lvl2pPr marL="563012" indent="-285750">
              <a:lnSpc>
                <a:spcPct val="150000"/>
              </a:lnSpc>
              <a:buFont typeface="Wingdings" panose="05000000000000000000" pitchFamily="2" charset="2"/>
              <a:buChar char="§"/>
              <a:defRPr sz="2000" b="1">
                <a:latin typeface="Samsung Sharp Sans Bold" pitchFamily="2" charset="0"/>
                <a:ea typeface="맑은 고딕" panose="020B0503020000020004" pitchFamily="50" charset="-127"/>
                <a:cs typeface="Samsung Sharp Sans Bold" pitchFamily="2" charset="0"/>
              </a:defRPr>
            </a:lvl2pPr>
            <a:lvl3pPr marL="554524">
              <a:defRPr b="1">
                <a:latin typeface="Samsung Sharp Sans Bold" pitchFamily="2" charset="0"/>
                <a:ea typeface="맑은 고딕" panose="020B0503020000020004" pitchFamily="50" charset="-127"/>
                <a:cs typeface="Samsung Sharp Sans Bold" pitchFamily="2" charset="0"/>
              </a:defRPr>
            </a:lvl3pPr>
            <a:lvl4pPr marL="831786"/>
            <a:lvl5pPr marL="1109048"/>
            <a:lvl6pPr marL="1386310"/>
            <a:lvl7pPr marL="1663570"/>
            <a:lvl8pPr marL="1940834"/>
            <a:lvl9pPr marL="2218095"/>
          </a:lstStyle>
          <a:p>
            <a:r>
              <a:rPr lang="en-US" altLang="ko-KR" sz="2800" b="1" dirty="0">
                <a:latin typeface="+mn-ea"/>
                <a:ea typeface="+mn-ea"/>
              </a:rPr>
              <a:t>SAIT </a:t>
            </a:r>
          </a:p>
          <a:p>
            <a:r>
              <a:rPr lang="en-US" altLang="ko-KR" sz="2800" b="1" dirty="0">
                <a:latin typeface="+mn-ea"/>
                <a:ea typeface="+mn-ea"/>
              </a:rPr>
              <a:t>AI System Platform </a:t>
            </a:r>
          </a:p>
          <a:p>
            <a:r>
              <a:rPr lang="ko-KR" altLang="en-US" sz="2800" b="1" dirty="0">
                <a:latin typeface="+mn-ea"/>
                <a:ea typeface="+mn-ea"/>
              </a:rPr>
              <a:t>김명우</a:t>
            </a:r>
            <a:endParaRPr lang="en-US" altLang="ko-KR" sz="2800" b="1" dirty="0">
              <a:latin typeface="+mn-ea"/>
              <a:ea typeface="+mn-ea"/>
            </a:endParaRPr>
          </a:p>
        </p:txBody>
      </p:sp>
      <p:sp>
        <p:nvSpPr>
          <p:cNvPr id="5" name="TextBox 4"/>
          <p:cNvSpPr txBox="1"/>
          <p:nvPr/>
        </p:nvSpPr>
        <p:spPr>
          <a:xfrm>
            <a:off x="2162616" y="3822000"/>
            <a:ext cx="7983724" cy="307777"/>
          </a:xfrm>
          <a:prstGeom prst="rect">
            <a:avLst/>
          </a:prstGeom>
          <a:noFill/>
        </p:spPr>
        <p:txBody>
          <a:bodyPr wrap="none" rtlCol="0">
            <a:spAutoFit/>
          </a:bodyPr>
          <a:lstStyle/>
          <a:p>
            <a:pPr algn="ctr"/>
            <a:r>
              <a:rPr lang="ko-KR" altLang="en-US" sz="1400" dirty="0">
                <a:solidFill>
                  <a:schemeClr val="bg1">
                    <a:lumMod val="65000"/>
                  </a:schemeClr>
                </a:solidFill>
                <a:latin typeface="+mj-ea"/>
              </a:rPr>
              <a:t>이기종 메모리</a:t>
            </a:r>
            <a:r>
              <a:rPr lang="en-US" altLang="ko-KR" sz="1400" dirty="0">
                <a:solidFill>
                  <a:schemeClr val="bg1">
                    <a:lumMod val="65000"/>
                  </a:schemeClr>
                </a:solidFill>
                <a:latin typeface="+mj-ea"/>
              </a:rPr>
              <a:t>: </a:t>
            </a:r>
            <a:r>
              <a:rPr lang="ko-KR" altLang="en-US" sz="1400" dirty="0">
                <a:solidFill>
                  <a:schemeClr val="bg1">
                    <a:lumMod val="65000"/>
                  </a:schemeClr>
                </a:solidFill>
                <a:latin typeface="+mj-ea"/>
              </a:rPr>
              <a:t>서로 다른 특성을 가진 메모리 </a:t>
            </a:r>
            <a:r>
              <a:rPr lang="en-US" altLang="ko-KR" sz="1400" dirty="0">
                <a:solidFill>
                  <a:schemeClr val="bg1">
                    <a:lumMod val="65000"/>
                  </a:schemeClr>
                </a:solidFill>
                <a:latin typeface="+mj-ea"/>
              </a:rPr>
              <a:t>(HBM,DRAM,SSD,CXL-</a:t>
            </a:r>
            <a:r>
              <a:rPr lang="en-US" altLang="ko-KR" sz="1400" dirty="0" err="1">
                <a:solidFill>
                  <a:schemeClr val="bg1">
                    <a:lumMod val="65000"/>
                  </a:schemeClr>
                </a:solidFill>
                <a:latin typeface="+mj-ea"/>
              </a:rPr>
              <a:t>Memory,CXL</a:t>
            </a:r>
            <a:r>
              <a:rPr lang="en-US" altLang="ko-KR" sz="1400" dirty="0">
                <a:solidFill>
                  <a:schemeClr val="bg1">
                    <a:lumMod val="65000"/>
                  </a:schemeClr>
                </a:solidFill>
                <a:latin typeface="+mj-ea"/>
              </a:rPr>
              <a:t>-PNM,PIM-SSD)</a:t>
            </a:r>
            <a:endParaRPr lang="ko-KR" altLang="en-US" sz="1400" dirty="0">
              <a:solidFill>
                <a:schemeClr val="bg1">
                  <a:lumMod val="65000"/>
                </a:schemeClr>
              </a:solidFill>
              <a:latin typeface="+mj-ea"/>
            </a:endParaRPr>
          </a:p>
        </p:txBody>
      </p:sp>
    </p:spTree>
    <p:extLst>
      <p:ext uri="{BB962C8B-B14F-4D97-AF65-F5344CB8AC3E}">
        <p14:creationId xmlns:p14="http://schemas.microsoft.com/office/powerpoint/2010/main" val="21064568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그림 13"/>
          <p:cNvPicPr>
            <a:picLocks noChangeAspect="1"/>
          </p:cNvPicPr>
          <p:nvPr/>
        </p:nvPicPr>
        <p:blipFill rotWithShape="1">
          <a:blip r:embed="rId3" cstate="hqprint">
            <a:extLst>
              <a:ext uri="{28A0092B-C50C-407E-A947-70E740481C1C}">
                <a14:useLocalDpi xmlns:a14="http://schemas.microsoft.com/office/drawing/2010/main" val="0"/>
              </a:ext>
            </a:extLst>
          </a:blip>
          <a:srcRect t="17446" b="15415"/>
          <a:stretch/>
        </p:blipFill>
        <p:spPr>
          <a:xfrm>
            <a:off x="0" y="30480"/>
            <a:ext cx="12192000" cy="6827520"/>
          </a:xfrm>
          <a:prstGeom prst="rect">
            <a:avLst/>
          </a:prstGeom>
        </p:spPr>
      </p:pic>
      <p:sp>
        <p:nvSpPr>
          <p:cNvPr id="3" name="직사각형 2"/>
          <p:cNvSpPr/>
          <p:nvPr/>
        </p:nvSpPr>
        <p:spPr>
          <a:xfrm>
            <a:off x="1089736" y="565876"/>
            <a:ext cx="3615092" cy="830997"/>
          </a:xfrm>
          <a:prstGeom prst="rect">
            <a:avLst/>
          </a:prstGeom>
          <a:solidFill>
            <a:schemeClr val="tx1">
              <a:alpha val="70000"/>
            </a:schemeClr>
          </a:solidFill>
          <a:ln w="9525">
            <a:noFill/>
            <a:miter lim="800000"/>
            <a:headEnd/>
            <a:tailEnd/>
          </a:ln>
        </p:spPr>
        <p:txBody>
          <a:bodyPr wrap="square" lIns="0" tIns="0" rIns="0" bIns="0">
            <a:spAutoFit/>
            <a:scene3d>
              <a:camera prst="orthographicFront"/>
              <a:lightRig rig="threePt" dir="t"/>
            </a:scene3d>
            <a:sp3d contourW="2540">
              <a:contourClr>
                <a:srgbClr val="00B0F0"/>
              </a:contourClr>
            </a:sp3d>
          </a:bodyPr>
          <a:lstStyle/>
          <a:p>
            <a:pPr algn="ctr" defTabSz="1038831">
              <a:spcBef>
                <a:spcPct val="20000"/>
              </a:spcBef>
              <a:spcAft>
                <a:spcPts val="681"/>
              </a:spcAft>
              <a:buFont typeface="Arial"/>
              <a:buNone/>
            </a:pPr>
            <a:r>
              <a:rPr lang="en-US" altLang="ko-KR" sz="5400" dirty="0">
                <a:solidFill>
                  <a:schemeClr val="bg1"/>
                </a:solidFill>
                <a:latin typeface="Samsung Sharp Sans Bold" pitchFamily="2" charset="0"/>
                <a:ea typeface="Samsung Sharp Sans Bold" pitchFamily="2" charset="0"/>
                <a:cs typeface="Samsung Sharp Sans Bold" pitchFamily="2" charset="0"/>
              </a:rPr>
              <a:t>CONTENTS</a:t>
            </a:r>
          </a:p>
        </p:txBody>
      </p:sp>
      <p:grpSp>
        <p:nvGrpSpPr>
          <p:cNvPr id="2" name="그룹 1"/>
          <p:cNvGrpSpPr/>
          <p:nvPr/>
        </p:nvGrpSpPr>
        <p:grpSpPr>
          <a:xfrm>
            <a:off x="883031" y="2232015"/>
            <a:ext cx="4270572" cy="3572260"/>
            <a:chOff x="6521831" y="1697177"/>
            <a:chExt cx="4270572" cy="3572260"/>
          </a:xfrm>
        </p:grpSpPr>
        <p:sp>
          <p:nvSpPr>
            <p:cNvPr id="7" name="TextBox 6"/>
            <p:cNvSpPr txBox="1"/>
            <p:nvPr/>
          </p:nvSpPr>
          <p:spPr>
            <a:xfrm>
              <a:off x="7108571" y="1697177"/>
              <a:ext cx="3683832" cy="3572260"/>
            </a:xfrm>
            <a:prstGeom prst="rect">
              <a:avLst/>
            </a:prstGeom>
            <a:solidFill>
              <a:schemeClr val="tx1">
                <a:alpha val="70000"/>
              </a:schemeClr>
            </a:solidFill>
            <a:ln w="9525">
              <a:noFill/>
              <a:miter lim="800000"/>
              <a:headEnd/>
              <a:tailEnd/>
            </a:ln>
          </p:spPr>
          <p:txBody>
            <a:bodyPr wrap="square" lIns="0" tIns="0" rIns="0" bIns="0">
              <a:spAutoFit/>
              <a:scene3d>
                <a:camera prst="orthographicFront"/>
                <a:lightRig rig="threePt" dir="t"/>
              </a:scene3d>
              <a:sp3d contourW="2540">
                <a:contourClr>
                  <a:srgbClr val="00B0F0"/>
                </a:contourClr>
              </a:sp3d>
            </a:bodyPr>
            <a:lstStyle>
              <a:defPPr>
                <a:defRPr lang="ko-KR"/>
              </a:defPPr>
              <a:lvl1pPr indent="0" algn="ctr" defTabSz="1038831">
                <a:spcBef>
                  <a:spcPct val="20000"/>
                </a:spcBef>
                <a:spcAft>
                  <a:spcPts val="681"/>
                </a:spcAft>
                <a:buFont typeface="Arial"/>
                <a:buNone/>
                <a:defRPr sz="5400">
                  <a:solidFill>
                    <a:schemeClr val="bg1"/>
                  </a:solidFill>
                  <a:latin typeface="Samsung Sharp Sans Bold" pitchFamily="2" charset="0"/>
                  <a:ea typeface="Samsung Sharp Sans Bold" pitchFamily="2" charset="0"/>
                  <a:cs typeface="Samsung Sharp Sans Bold" pitchFamily="2" charset="0"/>
                </a:defRPr>
              </a:lvl1pPr>
              <a:lvl2pPr marL="990526" indent="-380972" defTabSz="609555" latinLnBrk="0">
                <a:spcBef>
                  <a:spcPct val="20000"/>
                </a:spcBef>
                <a:buFont typeface="Arial"/>
                <a:buChar char="–"/>
                <a:defRPr sz="2133">
                  <a:latin typeface="Helvetica Neue"/>
                  <a:cs typeface="Helvetica Neue"/>
                </a:defRPr>
              </a:lvl2pPr>
              <a:lvl3pPr marL="1523887" indent="-304776" defTabSz="609555" latinLnBrk="0">
                <a:spcBef>
                  <a:spcPct val="20000"/>
                </a:spcBef>
                <a:buFont typeface="Arial"/>
                <a:buChar char="•"/>
                <a:defRPr sz="1867">
                  <a:latin typeface="Helvetica Neue"/>
                  <a:cs typeface="Helvetica Neue"/>
                </a:defRPr>
              </a:lvl3pPr>
              <a:lvl4pPr marL="2133440" indent="-304776" defTabSz="609555" latinLnBrk="0">
                <a:spcBef>
                  <a:spcPct val="20000"/>
                </a:spcBef>
                <a:buFont typeface="Arial"/>
                <a:buChar char="–"/>
                <a:defRPr sz="1600">
                  <a:latin typeface="Helvetica Neue"/>
                  <a:cs typeface="Helvetica Neue"/>
                </a:defRPr>
              </a:lvl4pPr>
              <a:lvl5pPr marL="2742994" indent="-304776" defTabSz="609555" latinLnBrk="0">
                <a:spcBef>
                  <a:spcPct val="20000"/>
                </a:spcBef>
                <a:buFont typeface="Arial"/>
                <a:buChar char="»"/>
                <a:defRPr sz="1600">
                  <a:latin typeface="Helvetica Neue"/>
                  <a:cs typeface="Helvetica Neue"/>
                </a:defRPr>
              </a:lvl5pPr>
              <a:lvl6pPr marL="3352548" indent="-304776" defTabSz="609555" latinLnBrk="0">
                <a:spcBef>
                  <a:spcPct val="20000"/>
                </a:spcBef>
                <a:buFont typeface="Arial"/>
                <a:buChar char="•"/>
                <a:defRPr sz="2667"/>
              </a:lvl6pPr>
              <a:lvl7pPr marL="3962104" indent="-304776" defTabSz="609555" latinLnBrk="0">
                <a:spcBef>
                  <a:spcPct val="20000"/>
                </a:spcBef>
                <a:buFont typeface="Arial"/>
                <a:buChar char="•"/>
                <a:defRPr sz="2667"/>
              </a:lvl7pPr>
              <a:lvl8pPr marL="4571658" indent="-304776" defTabSz="609555" latinLnBrk="0">
                <a:spcBef>
                  <a:spcPct val="20000"/>
                </a:spcBef>
                <a:buFont typeface="Arial"/>
                <a:buChar char="•"/>
                <a:defRPr sz="2667"/>
              </a:lvl8pPr>
              <a:lvl9pPr marL="5181212" indent="-304776" defTabSz="609555" latinLnBrk="0">
                <a:spcBef>
                  <a:spcPct val="20000"/>
                </a:spcBef>
                <a:buFont typeface="Arial"/>
                <a:buChar char="•"/>
                <a:defRPr sz="2667"/>
              </a:lvl9pPr>
            </a:lstStyle>
            <a:p>
              <a:pPr algn="l"/>
              <a:r>
                <a:rPr lang="ko-KR" altLang="en-US" sz="3600" dirty="0">
                  <a:latin typeface="+mn-ea"/>
                  <a:ea typeface="+mn-ea"/>
                </a:rPr>
                <a:t>과제</a:t>
              </a:r>
              <a:r>
                <a:rPr lang="en-US" altLang="ko-KR" sz="3600" dirty="0">
                  <a:latin typeface="+mn-ea"/>
                  <a:ea typeface="+mn-ea"/>
                </a:rPr>
                <a:t> </a:t>
              </a:r>
              <a:r>
                <a:rPr lang="ko-KR" altLang="en-US" sz="3600" dirty="0">
                  <a:latin typeface="+mn-ea"/>
                  <a:ea typeface="+mn-ea"/>
                </a:rPr>
                <a:t>소개</a:t>
              </a:r>
              <a:endParaRPr lang="en-US" altLang="ko-KR" sz="3600" dirty="0">
                <a:latin typeface="+mn-ea"/>
                <a:ea typeface="+mn-ea"/>
              </a:endParaRPr>
            </a:p>
            <a:p>
              <a:pPr algn="l"/>
              <a:r>
                <a:rPr lang="ko-KR" altLang="en-US" sz="3600" dirty="0">
                  <a:latin typeface="+mn-ea"/>
                  <a:ea typeface="+mn-ea"/>
                </a:rPr>
                <a:t>요구사항 분석</a:t>
              </a:r>
              <a:endParaRPr lang="en-US" altLang="ko-KR" sz="3600" dirty="0">
                <a:latin typeface="+mn-ea"/>
                <a:ea typeface="+mn-ea"/>
              </a:endParaRPr>
            </a:p>
            <a:p>
              <a:pPr algn="l"/>
              <a:r>
                <a:rPr lang="ko-KR" altLang="en-US" sz="3600" dirty="0">
                  <a:latin typeface="+mn-ea"/>
                  <a:ea typeface="+mn-ea"/>
                </a:rPr>
                <a:t>아키텍처 설계</a:t>
              </a:r>
              <a:endParaRPr lang="en-US" altLang="ko-KR" sz="3600" dirty="0">
                <a:latin typeface="+mn-ea"/>
                <a:ea typeface="+mn-ea"/>
              </a:endParaRPr>
            </a:p>
            <a:p>
              <a:pPr algn="l"/>
              <a:r>
                <a:rPr lang="ko-KR" altLang="en-US" sz="3600" dirty="0">
                  <a:latin typeface="+mn-ea"/>
                  <a:ea typeface="+mn-ea"/>
                </a:rPr>
                <a:t>구현 및 검증</a:t>
              </a:r>
              <a:endParaRPr lang="en-US" altLang="ko-KR" sz="3600" dirty="0">
                <a:latin typeface="+mn-ea"/>
                <a:ea typeface="+mn-ea"/>
              </a:endParaRPr>
            </a:p>
            <a:p>
              <a:pPr algn="l"/>
              <a:r>
                <a:rPr lang="ko-KR" altLang="en-US" sz="3600" dirty="0">
                  <a:latin typeface="+mn-ea"/>
                  <a:ea typeface="+mn-ea"/>
                </a:rPr>
                <a:t>성과</a:t>
              </a:r>
              <a:r>
                <a:rPr lang="en-US" altLang="ko-KR" sz="3600" dirty="0">
                  <a:latin typeface="+mn-ea"/>
                  <a:ea typeface="+mn-ea"/>
                </a:rPr>
                <a:t> </a:t>
              </a:r>
              <a:r>
                <a:rPr lang="ko-KR" altLang="en-US" sz="3600" dirty="0">
                  <a:latin typeface="+mn-ea"/>
                  <a:ea typeface="+mn-ea"/>
                </a:rPr>
                <a:t>및 교훈</a:t>
              </a:r>
            </a:p>
          </p:txBody>
        </p:sp>
        <p:sp>
          <p:nvSpPr>
            <p:cNvPr id="15" name="TextBox 14"/>
            <p:cNvSpPr txBox="1"/>
            <p:nvPr/>
          </p:nvSpPr>
          <p:spPr>
            <a:xfrm>
              <a:off x="6521831" y="1760695"/>
              <a:ext cx="586740" cy="553998"/>
            </a:xfrm>
            <a:prstGeom prst="rect">
              <a:avLst/>
            </a:prstGeom>
            <a:solidFill>
              <a:schemeClr val="tx1">
                <a:alpha val="70000"/>
              </a:schemeClr>
            </a:solidFill>
            <a:ln w="9525">
              <a:noFill/>
              <a:miter lim="800000"/>
              <a:headEnd/>
              <a:tailEnd/>
            </a:ln>
          </p:spPr>
          <p:txBody>
            <a:bodyPr wrap="square" lIns="0" tIns="0" rIns="0" bIns="0">
              <a:spAutoFit/>
              <a:scene3d>
                <a:camera prst="orthographicFront"/>
                <a:lightRig rig="threePt" dir="t"/>
              </a:scene3d>
              <a:sp3d contourW="2540">
                <a:contourClr>
                  <a:srgbClr val="00B0F0"/>
                </a:contourClr>
              </a:sp3d>
            </a:bodyPr>
            <a:lstStyle>
              <a:defPPr>
                <a:defRPr lang="ko-KR"/>
              </a:defPPr>
              <a:lvl1pPr indent="0" algn="ctr" defTabSz="1038831">
                <a:spcBef>
                  <a:spcPct val="20000"/>
                </a:spcBef>
                <a:spcAft>
                  <a:spcPts val="681"/>
                </a:spcAft>
                <a:buFont typeface="Arial"/>
                <a:buNone/>
                <a:defRPr sz="5400">
                  <a:solidFill>
                    <a:schemeClr val="bg1"/>
                  </a:solidFill>
                  <a:latin typeface="Samsung Sharp Sans Bold" pitchFamily="2" charset="0"/>
                  <a:ea typeface="Samsung Sharp Sans Bold" pitchFamily="2" charset="0"/>
                  <a:cs typeface="Samsung Sharp Sans Bold" pitchFamily="2" charset="0"/>
                </a:defRPr>
              </a:lvl1pPr>
              <a:lvl2pPr marL="990526" indent="-380972" defTabSz="609555" latinLnBrk="0">
                <a:spcBef>
                  <a:spcPct val="20000"/>
                </a:spcBef>
                <a:buFont typeface="Arial"/>
                <a:buChar char="–"/>
                <a:defRPr sz="2133">
                  <a:latin typeface="Helvetica Neue"/>
                  <a:cs typeface="Helvetica Neue"/>
                </a:defRPr>
              </a:lvl2pPr>
              <a:lvl3pPr marL="1523887" indent="-304776" defTabSz="609555" latinLnBrk="0">
                <a:spcBef>
                  <a:spcPct val="20000"/>
                </a:spcBef>
                <a:buFont typeface="Arial"/>
                <a:buChar char="•"/>
                <a:defRPr sz="1867">
                  <a:latin typeface="Helvetica Neue"/>
                  <a:cs typeface="Helvetica Neue"/>
                </a:defRPr>
              </a:lvl3pPr>
              <a:lvl4pPr marL="2133440" indent="-304776" defTabSz="609555" latinLnBrk="0">
                <a:spcBef>
                  <a:spcPct val="20000"/>
                </a:spcBef>
                <a:buFont typeface="Arial"/>
                <a:buChar char="–"/>
                <a:defRPr sz="1600">
                  <a:latin typeface="Helvetica Neue"/>
                  <a:cs typeface="Helvetica Neue"/>
                </a:defRPr>
              </a:lvl4pPr>
              <a:lvl5pPr marL="2742994" indent="-304776" defTabSz="609555" latinLnBrk="0">
                <a:spcBef>
                  <a:spcPct val="20000"/>
                </a:spcBef>
                <a:buFont typeface="Arial"/>
                <a:buChar char="»"/>
                <a:defRPr sz="1600">
                  <a:latin typeface="Helvetica Neue"/>
                  <a:cs typeface="Helvetica Neue"/>
                </a:defRPr>
              </a:lvl5pPr>
              <a:lvl6pPr marL="3352548" indent="-304776" defTabSz="609555" latinLnBrk="0">
                <a:spcBef>
                  <a:spcPct val="20000"/>
                </a:spcBef>
                <a:buFont typeface="Arial"/>
                <a:buChar char="•"/>
                <a:defRPr sz="2667"/>
              </a:lvl6pPr>
              <a:lvl7pPr marL="3962104" indent="-304776" defTabSz="609555" latinLnBrk="0">
                <a:spcBef>
                  <a:spcPct val="20000"/>
                </a:spcBef>
                <a:buFont typeface="Arial"/>
                <a:buChar char="•"/>
                <a:defRPr sz="2667"/>
              </a:lvl7pPr>
              <a:lvl8pPr marL="4571658" indent="-304776" defTabSz="609555" latinLnBrk="0">
                <a:spcBef>
                  <a:spcPct val="20000"/>
                </a:spcBef>
                <a:buFont typeface="Arial"/>
                <a:buChar char="•"/>
                <a:defRPr sz="2667"/>
              </a:lvl8pPr>
              <a:lvl9pPr marL="5181212" indent="-304776" defTabSz="609555" latinLnBrk="0">
                <a:spcBef>
                  <a:spcPct val="20000"/>
                </a:spcBef>
                <a:buFont typeface="Arial"/>
                <a:buChar char="•"/>
                <a:defRPr sz="2667"/>
              </a:lvl9pPr>
            </a:lstStyle>
            <a:p>
              <a:pPr algn="l"/>
              <a:endParaRPr lang="ko-KR" altLang="en-US" sz="3600" dirty="0">
                <a:latin typeface="+mn-ea"/>
                <a:ea typeface="+mn-ea"/>
              </a:endParaRPr>
            </a:p>
          </p:txBody>
        </p:sp>
        <p:sp>
          <p:nvSpPr>
            <p:cNvPr id="8" name="갈매기형 수장 7"/>
            <p:cNvSpPr/>
            <p:nvPr/>
          </p:nvSpPr>
          <p:spPr>
            <a:xfrm>
              <a:off x="6615878" y="1863979"/>
              <a:ext cx="345642" cy="256921"/>
            </a:xfrm>
            <a:prstGeom prst="chevron">
              <a:avLst>
                <a:gd name="adj" fmla="val 3867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solidFill>
                  <a:schemeClr val="bg1"/>
                </a:solidFill>
              </a:endParaRPr>
            </a:p>
          </p:txBody>
        </p:sp>
        <p:sp>
          <p:nvSpPr>
            <p:cNvPr id="10" name="갈매기형 수장 9"/>
            <p:cNvSpPr/>
            <p:nvPr/>
          </p:nvSpPr>
          <p:spPr>
            <a:xfrm>
              <a:off x="6615878" y="2617323"/>
              <a:ext cx="345642" cy="256921"/>
            </a:xfrm>
            <a:prstGeom prst="chevron">
              <a:avLst>
                <a:gd name="adj" fmla="val 3867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solidFill>
                  <a:schemeClr val="bg1"/>
                </a:solidFill>
              </a:endParaRPr>
            </a:p>
          </p:txBody>
        </p:sp>
        <p:sp>
          <p:nvSpPr>
            <p:cNvPr id="11" name="갈매기형 수장 10"/>
            <p:cNvSpPr/>
            <p:nvPr/>
          </p:nvSpPr>
          <p:spPr>
            <a:xfrm>
              <a:off x="6615878" y="3333083"/>
              <a:ext cx="345642" cy="256921"/>
            </a:xfrm>
            <a:prstGeom prst="chevron">
              <a:avLst>
                <a:gd name="adj" fmla="val 3867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solidFill>
                  <a:schemeClr val="bg1"/>
                </a:solidFill>
              </a:endParaRPr>
            </a:p>
          </p:txBody>
        </p:sp>
        <p:sp>
          <p:nvSpPr>
            <p:cNvPr id="12" name="갈매기형 수장 11"/>
            <p:cNvSpPr/>
            <p:nvPr/>
          </p:nvSpPr>
          <p:spPr>
            <a:xfrm>
              <a:off x="6615878" y="4096276"/>
              <a:ext cx="345642" cy="256921"/>
            </a:xfrm>
            <a:prstGeom prst="chevron">
              <a:avLst>
                <a:gd name="adj" fmla="val 3867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solidFill>
                  <a:schemeClr val="bg1"/>
                </a:solidFill>
              </a:endParaRPr>
            </a:p>
          </p:txBody>
        </p:sp>
        <p:sp>
          <p:nvSpPr>
            <p:cNvPr id="13" name="갈매기형 수장 12"/>
            <p:cNvSpPr/>
            <p:nvPr/>
          </p:nvSpPr>
          <p:spPr>
            <a:xfrm>
              <a:off x="6615878" y="4865317"/>
              <a:ext cx="345642" cy="256921"/>
            </a:xfrm>
            <a:prstGeom prst="chevron">
              <a:avLst>
                <a:gd name="adj" fmla="val 3867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solidFill>
                  <a:schemeClr val="bg1"/>
                </a:solidFill>
              </a:endParaRPr>
            </a:p>
          </p:txBody>
        </p:sp>
      </p:grpSp>
    </p:spTree>
    <p:extLst>
      <p:ext uri="{BB962C8B-B14F-4D97-AF65-F5344CB8AC3E}">
        <p14:creationId xmlns:p14="http://schemas.microsoft.com/office/powerpoint/2010/main" val="277522174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6" name="Shape 63">
            <a:extLst>
              <a:ext uri="{FF2B5EF4-FFF2-40B4-BE49-F238E27FC236}">
                <a16:creationId xmlns:a16="http://schemas.microsoft.com/office/drawing/2014/main" id="{1499D730-2F7A-4B24-9C95-201103A3468C}"/>
              </a:ext>
            </a:extLst>
          </p:cNvPr>
          <p:cNvSpPr/>
          <p:nvPr/>
        </p:nvSpPr>
        <p:spPr>
          <a:xfrm>
            <a:off x="8782397" y="1778086"/>
            <a:ext cx="2894509" cy="1512268"/>
          </a:xfrm>
          <a:prstGeom prst="roundRect">
            <a:avLst>
              <a:gd name="adj" fmla="val 7202"/>
            </a:avLst>
          </a:prstGeom>
          <a:solidFill>
            <a:srgbClr val="F4F7FB"/>
          </a:solidFill>
          <a:ln/>
        </p:spPr>
      </p:sp>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143695"/>
            <a:ext cx="5844033" cy="5210721"/>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143695"/>
            <a:ext cx="5844033" cy="5210721"/>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011011"/>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고객과 시장의 변화</a:t>
            </a:r>
          </a:p>
        </p:txBody>
      </p:sp>
      <p:sp>
        <p:nvSpPr>
          <p:cNvPr id="75" name="직사각형 74"/>
          <p:cNvSpPr/>
          <p:nvPr/>
        </p:nvSpPr>
        <p:spPr>
          <a:xfrm>
            <a:off x="1089957" y="1010799"/>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Agent</a:t>
            </a:r>
            <a:r>
              <a:rPr lang="ko-KR" altLang="en-US" sz="1400" b="1" dirty="0">
                <a:latin typeface="+mj-ea"/>
                <a:ea typeface="+mj-ea"/>
              </a:rPr>
              <a:t>의 확산</a:t>
            </a:r>
            <a:r>
              <a:rPr lang="en-US" altLang="ko-KR" sz="1400" b="1" dirty="0">
                <a:latin typeface="+mj-ea"/>
                <a:ea typeface="+mj-ea"/>
              </a:rPr>
              <a:t>: KV </a:t>
            </a:r>
            <a:r>
              <a:rPr lang="ko-KR" altLang="en-US" sz="1400" b="1" dirty="0">
                <a:latin typeface="+mj-ea"/>
                <a:ea typeface="+mj-ea"/>
              </a:rPr>
              <a:t>캐시 폭증과 </a:t>
            </a:r>
            <a:r>
              <a:rPr lang="en-US" altLang="ko-KR" sz="1400" b="1" dirty="0">
                <a:latin typeface="+mj-ea"/>
                <a:ea typeface="+mj-ea"/>
              </a:rPr>
              <a:t>HBM </a:t>
            </a:r>
            <a:r>
              <a:rPr lang="ko-KR" altLang="en-US" sz="1400" b="1" dirty="0">
                <a:latin typeface="+mj-ea"/>
                <a:ea typeface="+mj-ea"/>
              </a:rPr>
              <a:t>병목</a:t>
            </a:r>
          </a:p>
        </p:txBody>
      </p:sp>
      <p:sp>
        <p:nvSpPr>
          <p:cNvPr id="55" name="Text 46">
            <a:extLst>
              <a:ext uri="{FF2B5EF4-FFF2-40B4-BE49-F238E27FC236}">
                <a16:creationId xmlns:a16="http://schemas.microsoft.com/office/drawing/2014/main" id="{C8A28DF0-ABCC-48F5-9ED9-DE4811816B18}"/>
              </a:ext>
            </a:extLst>
          </p:cNvPr>
          <p:cNvSpPr/>
          <p:nvPr/>
        </p:nvSpPr>
        <p:spPr>
          <a:xfrm>
            <a:off x="6328664" y="1435965"/>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ko-KR" altLang="en-US" sz="1200" b="1" dirty="0" smtClean="0">
                <a:solidFill>
                  <a:srgbClr val="222222"/>
                </a:solidFill>
                <a:latin typeface="+mj-ea"/>
                <a:ea typeface="+mj-ea"/>
                <a:cs typeface="Noto Sans KR" pitchFamily="34" charset="-120"/>
              </a:rPr>
              <a:t>수요 </a:t>
            </a:r>
            <a:r>
              <a:rPr lang="ko-KR" altLang="en-US" sz="1200" b="1" dirty="0">
                <a:solidFill>
                  <a:srgbClr val="222222"/>
                </a:solidFill>
                <a:latin typeface="+mj-ea"/>
                <a:ea typeface="+mj-ea"/>
                <a:cs typeface="Noto Sans KR" pitchFamily="34" charset="-120"/>
              </a:rPr>
              <a:t>급증 → 시장 규모 확대</a:t>
            </a:r>
            <a:r>
              <a:rPr lang="en-US" altLang="ko-KR" sz="1200" b="1" dirty="0">
                <a:solidFill>
                  <a:srgbClr val="222222"/>
                </a:solidFill>
                <a:latin typeface="+mj-ea"/>
                <a:ea typeface="+mj-ea"/>
                <a:cs typeface="Noto Sans KR" pitchFamily="34" charset="-120"/>
              </a:rPr>
              <a:t>, </a:t>
            </a:r>
            <a:r>
              <a:rPr lang="ko-KR" altLang="en-US" sz="1200" b="1" dirty="0">
                <a:solidFill>
                  <a:srgbClr val="222222"/>
                </a:solidFill>
                <a:latin typeface="+mj-ea"/>
                <a:ea typeface="+mj-ea"/>
                <a:cs typeface="Noto Sans KR" pitchFamily="34" charset="-120"/>
              </a:rPr>
              <a:t>공급 부족 → 가격 급등</a:t>
            </a:r>
          </a:p>
        </p:txBody>
      </p:sp>
      <p:sp>
        <p:nvSpPr>
          <p:cNvPr id="85" name="Text 72">
            <a:extLst>
              <a:ext uri="{FF2B5EF4-FFF2-40B4-BE49-F238E27FC236}">
                <a16:creationId xmlns:a16="http://schemas.microsoft.com/office/drawing/2014/main" id="{D907F967-3823-4F1E-8786-56273222550E}"/>
              </a:ext>
            </a:extLst>
          </p:cNvPr>
          <p:cNvSpPr/>
          <p:nvPr/>
        </p:nvSpPr>
        <p:spPr>
          <a:xfrm>
            <a:off x="6377360" y="3386254"/>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a:t>
            </a:r>
            <a:r>
              <a:rPr lang="en-US" sz="1100" dirty="0" smtClean="0">
                <a:solidFill>
                  <a:srgbClr val="555555"/>
                </a:solidFill>
                <a:latin typeface="+mj-ea"/>
                <a:ea typeface="+mj-ea"/>
                <a:cs typeface="Noto Sans KR" pitchFamily="34" charset="-120"/>
              </a:rPr>
              <a:t> </a:t>
            </a:r>
            <a:r>
              <a:rPr lang="en-US" sz="1100" dirty="0" err="1" smtClean="0">
                <a:solidFill>
                  <a:srgbClr val="555555"/>
                </a:solidFill>
                <a:latin typeface="+mj-ea"/>
                <a:ea typeface="+mj-ea"/>
                <a:cs typeface="Noto Sans KR" pitchFamily="34" charset="-120"/>
              </a:rPr>
              <a:t>대규모</a:t>
            </a:r>
            <a:r>
              <a:rPr lang="en-US" sz="1100" dirty="0" smtClean="0">
                <a:solidFill>
                  <a:srgbClr val="555555"/>
                </a:solidFill>
                <a:latin typeface="+mj-ea"/>
                <a:ea typeface="+mj-ea"/>
                <a:cs typeface="Noto Sans KR" pitchFamily="34" charset="-120"/>
              </a:rPr>
              <a:t> </a:t>
            </a:r>
            <a:r>
              <a:rPr lang="en-US" sz="1100" dirty="0">
                <a:solidFill>
                  <a:srgbClr val="555555"/>
                </a:solidFill>
                <a:latin typeface="+mj-ea"/>
                <a:ea typeface="+mj-ea"/>
                <a:cs typeface="Noto Sans KR" pitchFamily="34" charset="-120"/>
              </a:rPr>
              <a:t>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3985208"/>
            <a:ext cx="5389372" cy="256480"/>
          </a:xfrm>
          <a:prstGeom prst="rect">
            <a:avLst/>
          </a:prstGeom>
          <a:noFill/>
          <a:ln/>
        </p:spPr>
        <p:txBody>
          <a:bodyPr wrap="square" lIns="0" tIns="0" rIns="0" bIns="0" rtlCol="0" anchor="t">
            <a:noAutofit/>
          </a:bodyPr>
          <a:lstStyle/>
          <a:p>
            <a:pPr>
              <a:lnSpc>
                <a:spcPts val="1820"/>
              </a:lnSpc>
            </a:pPr>
            <a:r>
              <a:rPr lang="ko-KR" altLang="en-US" sz="1200" dirty="0">
                <a:latin typeface="+mj-ea"/>
              </a:rPr>
              <a:t>■ </a:t>
            </a:r>
            <a:r>
              <a:rPr lang="ko-KR" altLang="en-US" sz="1200" b="1" dirty="0">
                <a:solidFill>
                  <a:srgbClr val="222222"/>
                </a:solidFill>
                <a:latin typeface="+mj-ea"/>
                <a:ea typeface="+mj-ea"/>
              </a:rPr>
              <a:t>고객 수요가 용도별로 분화</a:t>
            </a:r>
            <a:r>
              <a:rPr lang="en-US" altLang="ko-KR" sz="1200" b="1" dirty="0">
                <a:solidFill>
                  <a:srgbClr val="222222"/>
                </a:solidFill>
                <a:latin typeface="+mj-ea"/>
                <a:ea typeface="+mj-ea"/>
              </a:rPr>
              <a:t>, </a:t>
            </a:r>
            <a:r>
              <a:rPr lang="ko-KR" altLang="en-US" sz="1200" b="1" dirty="0">
                <a:solidFill>
                  <a:srgbClr val="222222"/>
                </a:solidFill>
                <a:latin typeface="+mj-ea"/>
                <a:ea typeface="+mj-ea"/>
              </a:rPr>
              <a:t>신규 시장 성장</a:t>
            </a:r>
          </a:p>
          <a:p>
            <a:pPr>
              <a:lnSpc>
                <a:spcPts val="1820"/>
              </a:lnSpc>
            </a:pPr>
            <a:endParaRPr lang="en-US" sz="1200" b="1" dirty="0">
              <a:latin typeface="+mj-ea"/>
              <a:ea typeface="+mj-ea"/>
            </a:endParaRPr>
          </a:p>
        </p:txBody>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5917896" cy="323165"/>
          </a:xfrm>
          <a:prstGeom prst="rect">
            <a:avLst/>
          </a:prstGeom>
          <a:noFill/>
        </p:spPr>
        <p:txBody>
          <a:bodyPr wrap="square" rtlCol="0">
            <a:spAutoFit/>
          </a:bodyPr>
          <a:lstStyle/>
          <a:p>
            <a:pPr marL="0" indent="0" algn="ctr">
              <a:lnSpc>
                <a:spcPts val="1820"/>
              </a:lnSpc>
              <a:buNone/>
            </a:pPr>
            <a:r>
              <a:rPr lang="ko-KR" altLang="en-US" sz="1400" b="1" dirty="0">
                <a:solidFill>
                  <a:srgbClr val="C55A11"/>
                </a:solidFill>
                <a:latin typeface="+mj-ea"/>
                <a:ea typeface="+mj-ea"/>
                <a:cs typeface="Noto Sans KR" pitchFamily="34" charset="-120"/>
              </a:rPr>
              <a:t>메모리 병목이 더욱 심화</a:t>
            </a:r>
            <a:r>
              <a:rPr lang="en-US" altLang="ko-KR" sz="1400" b="1" dirty="0">
                <a:solidFill>
                  <a:srgbClr val="C55A11"/>
                </a:solidFill>
                <a:latin typeface="+mj-ea"/>
                <a:ea typeface="+mj-ea"/>
                <a:cs typeface="Noto Sans KR" pitchFamily="34" charset="-120"/>
              </a:rPr>
              <a:t>, But </a:t>
            </a:r>
            <a:r>
              <a:rPr lang="ko-KR" altLang="en-US" sz="1400" b="1" dirty="0">
                <a:solidFill>
                  <a:srgbClr val="C55A11"/>
                </a:solidFill>
                <a:latin typeface="+mj-ea"/>
                <a:ea typeface="+mj-ea"/>
                <a:cs typeface="Noto Sans KR" pitchFamily="34" charset="-120"/>
              </a:rPr>
              <a:t>워크로드가 조금씩 변하고 있다</a:t>
            </a:r>
            <a:r>
              <a:rPr lang="en-US" altLang="ko-KR" sz="1400" b="1" dirty="0">
                <a:solidFill>
                  <a:srgbClr val="C55A11"/>
                </a:solidFill>
                <a:latin typeface="+mj-ea"/>
                <a:ea typeface="+mj-ea"/>
                <a:cs typeface="Noto Sans KR" pitchFamily="34" charset="-120"/>
              </a:rPr>
              <a:t> </a:t>
            </a:r>
            <a:endParaRPr lang="en-US" altLang="ko-KR" sz="1400" dirty="0">
              <a:latin typeface="+mj-ea"/>
              <a:ea typeface="+mj-ea"/>
            </a:endParaRPr>
          </a:p>
        </p:txBody>
      </p:sp>
      <p:grpSp>
        <p:nvGrpSpPr>
          <p:cNvPr id="6" name="그룹 5">
            <a:extLst>
              <a:ext uri="{FF2B5EF4-FFF2-40B4-BE49-F238E27FC236}">
                <a16:creationId xmlns:a16="http://schemas.microsoft.com/office/drawing/2014/main" id="{5D5A1D00-3C86-4A76-9142-E82CE89B13B6}"/>
              </a:ext>
            </a:extLst>
          </p:cNvPr>
          <p:cNvGrpSpPr/>
          <p:nvPr/>
        </p:nvGrpSpPr>
        <p:grpSpPr>
          <a:xfrm>
            <a:off x="6400817" y="1776183"/>
            <a:ext cx="2350378" cy="1539608"/>
            <a:chOff x="6407150" y="1808384"/>
            <a:chExt cx="2350378" cy="1272404"/>
          </a:xfrm>
        </p:grpSpPr>
        <p:sp>
          <p:nvSpPr>
            <p:cNvPr id="134" name="Shape 51">
              <a:extLst>
                <a:ext uri="{FF2B5EF4-FFF2-40B4-BE49-F238E27FC236}">
                  <a16:creationId xmlns:a16="http://schemas.microsoft.com/office/drawing/2014/main" id="{A98CAA66-307E-4879-8F2D-0C946988D30F}"/>
                </a:ext>
              </a:extLst>
            </p:cNvPr>
            <p:cNvSpPr/>
            <p:nvPr/>
          </p:nvSpPr>
          <p:spPr>
            <a:xfrm>
              <a:off x="6407150" y="1808384"/>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5978" y="1890826"/>
                  <a:ext cx="2172570" cy="208260"/>
                </a:xfrm>
                <a:prstGeom prst="rect">
                  <a:avLst/>
                </a:prstGeom>
                <a:noFill/>
                <a:ln/>
              </p:spPr>
              <p:txBody>
                <a:bodyPr wrap="square" lIns="0" tIns="0" rIns="0" bIns="0" rtlCol="0" anchor="t">
                  <a:normAutofit/>
                </a:bodyPr>
                <a:lstStyle/>
                <a:p>
                  <a:pPr algn="ct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5978" y="1890826"/>
                  <a:ext cx="2172570" cy="208260"/>
                </a:xfrm>
                <a:prstGeom prst="rect">
                  <a:avLst/>
                </a:prstGeom>
                <a:blipFill>
                  <a:blip r:embed="rId3"/>
                  <a:stretch>
                    <a:fillRect t="-7317"/>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329084"/>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524644"/>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271934"/>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467494"/>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068734"/>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264294"/>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600844"/>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600844"/>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600844"/>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584958" y="2872528"/>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grpSp>
      <p:sp>
        <p:nvSpPr>
          <p:cNvPr id="167" name="TextBox 166">
            <a:extLst>
              <a:ext uri="{FF2B5EF4-FFF2-40B4-BE49-F238E27FC236}">
                <a16:creationId xmlns:a16="http://schemas.microsoft.com/office/drawing/2014/main" id="{6D44623D-F088-4C5E-92CF-0FEF7D09EFD3}"/>
              </a:ext>
            </a:extLst>
          </p:cNvPr>
          <p:cNvSpPr txBox="1"/>
          <p:nvPr/>
        </p:nvSpPr>
        <p:spPr>
          <a:xfrm>
            <a:off x="294321" y="1366316"/>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여러 턴에 걸쳐 </a:t>
            </a:r>
            <a:r>
              <a:rPr lang="en-US" altLang="ko-KR" sz="1200" b="1" dirty="0"/>
              <a:t>Context</a:t>
            </a:r>
            <a:r>
              <a:rPr lang="ko-KR" altLang="en-US" sz="1200" b="1" dirty="0"/>
              <a:t>가 누적되어 </a:t>
            </a:r>
            <a:r>
              <a:rPr lang="en-US" altLang="ko-KR" sz="1200" b="1" dirty="0"/>
              <a:t>KV </a:t>
            </a:r>
            <a:r>
              <a:rPr lang="ko-KR" altLang="en-US" sz="1200" b="1" dirty="0"/>
              <a:t>캐시 크기 폭증</a:t>
            </a:r>
            <a:endParaRPr lang="en-US" altLang="ko-KR" sz="1200" b="1" dirty="0"/>
          </a:p>
        </p:txBody>
      </p:sp>
      <p:sp>
        <p:nvSpPr>
          <p:cNvPr id="200" name="TextBox 199">
            <a:extLst>
              <a:ext uri="{FF2B5EF4-FFF2-40B4-BE49-F238E27FC236}">
                <a16:creationId xmlns:a16="http://schemas.microsoft.com/office/drawing/2014/main" id="{CE105C95-5508-4E86-8637-1A88AEFA109B}"/>
              </a:ext>
            </a:extLst>
          </p:cNvPr>
          <p:cNvSpPr txBox="1"/>
          <p:nvPr/>
        </p:nvSpPr>
        <p:spPr>
          <a:xfrm>
            <a:off x="294321" y="439527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 </a:t>
            </a:r>
            <a:r>
              <a:rPr lang="ko-KR" altLang="en-US" sz="1200" b="1" dirty="0"/>
              <a:t>검색</a:t>
            </a:r>
            <a:r>
              <a:rPr lang="en-US" altLang="ko-KR" sz="1200" b="1" dirty="0"/>
              <a:t>, </a:t>
            </a:r>
            <a:r>
              <a:rPr lang="ko-KR" altLang="en-US" sz="1200" b="1" dirty="0"/>
              <a:t>도구 실행 반복 중 유휴 </a:t>
            </a:r>
            <a:r>
              <a:rPr lang="en-US" altLang="ko-KR" sz="1200" b="1" dirty="0"/>
              <a:t>KV </a:t>
            </a:r>
            <a:r>
              <a:rPr lang="ko-KR" altLang="en-US" sz="1200" b="1" dirty="0"/>
              <a:t>캐시의 불필요한 </a:t>
            </a:r>
            <a:r>
              <a:rPr lang="en-US" altLang="ko-KR" sz="1200" b="1" dirty="0"/>
              <a:t>HBM </a:t>
            </a:r>
            <a:r>
              <a:rPr lang="ko-KR" altLang="en-US" sz="1200" b="1" dirty="0"/>
              <a:t>점유 증가 </a:t>
            </a:r>
          </a:p>
        </p:txBody>
      </p:sp>
      <mc:AlternateContent xmlns:mc="http://schemas.openxmlformats.org/markup-compatibility/2006" xmlns:a14="http://schemas.microsoft.com/office/drawing/2010/main">
        <mc:Choice Requires="a14">
          <p:sp>
            <p:nvSpPr>
              <p:cNvPr id="265" name="Text 85">
                <a:extLst>
                  <a:ext uri="{FF2B5EF4-FFF2-40B4-BE49-F238E27FC236}">
                    <a16:creationId xmlns:a16="http://schemas.microsoft.com/office/drawing/2014/main" id="{9BFB2DD1-19C2-4FEC-B909-725DFC6CF086}"/>
                  </a:ext>
                </a:extLst>
              </p:cNvPr>
              <p:cNvSpPr/>
              <p:nvPr/>
            </p:nvSpPr>
            <p:spPr>
              <a:xfrm>
                <a:off x="8147050" y="5840195"/>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SSD</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oMath>
                  </m:oMathPara>
                </a14:m>
                <a:endParaRPr lang="en-US" sz="1050" dirty="0">
                  <a:latin typeface="+mj-ea"/>
                  <a:ea typeface="+mj-ea"/>
                </a:endParaRPr>
              </a:p>
            </p:txBody>
          </p:sp>
        </mc:Choice>
        <mc:Fallback xmlns="">
          <p:sp>
            <p:nvSpPr>
              <p:cNvPr id="265" name="Text 85">
                <a:extLst>
                  <a:ext uri="{FF2B5EF4-FFF2-40B4-BE49-F238E27FC236}">
                    <a16:creationId xmlns:a16="http://schemas.microsoft.com/office/drawing/2014/main" id="{9BFB2DD1-19C2-4FEC-B909-725DFC6CF086}"/>
                  </a:ext>
                </a:extLst>
              </p:cNvPr>
              <p:cNvSpPr>
                <a:spLocks noRot="1" noChangeAspect="1" noMove="1" noResize="1" noEditPoints="1" noAdjustHandles="1" noChangeArrowheads="1" noChangeShapeType="1" noTextEdit="1"/>
              </p:cNvSpPr>
              <p:nvPr/>
            </p:nvSpPr>
            <p:spPr>
              <a:xfrm>
                <a:off x="8147050" y="5840195"/>
                <a:ext cx="3505708" cy="223441"/>
              </a:xfrm>
              <a:prstGeom prst="rect">
                <a:avLst/>
              </a:prstGeom>
              <a:blipFill>
                <a:blip r:embed="rId10"/>
                <a:stretch>
                  <a:fillRect l="-1389" b="-2703"/>
                </a:stretch>
              </a:blipFill>
              <a:ln/>
            </p:spPr>
            <p:txBody>
              <a:bodyPr/>
              <a:lstStyle/>
              <a:p>
                <a:r>
                  <a:rPr lang="ko-KR" altLang="en-US">
                    <a:noFill/>
                  </a:rPr>
                  <a:t> </a:t>
                </a:r>
              </a:p>
            </p:txBody>
          </p:sp>
        </mc:Fallback>
      </mc:AlternateContent>
      <p:sp>
        <p:nvSpPr>
          <p:cNvPr id="266" name="Segment panel">
            <a:extLst>
              <a:ext uri="{FF2B5EF4-FFF2-40B4-BE49-F238E27FC236}">
                <a16:creationId xmlns:a16="http://schemas.microsoft.com/office/drawing/2014/main" id="{038DC8BC-20A2-4373-847C-169B00DCDD65}"/>
              </a:ext>
            </a:extLst>
          </p:cNvPr>
          <p:cNvSpPr/>
          <p:nvPr/>
        </p:nvSpPr>
        <p:spPr>
          <a:xfrm>
            <a:off x="6409944" y="4433264"/>
            <a:ext cx="5230368" cy="1847088"/>
          </a:xfrm>
          <a:prstGeom prst="roundRect">
            <a:avLst>
              <a:gd name="adj" fmla="val 4000"/>
            </a:avLst>
          </a:prstGeom>
          <a:solidFill>
            <a:srgbClr val="F4F7FB"/>
          </a:solidFill>
          <a:ln>
            <a:noFill/>
          </a:ln>
        </p:spPr>
        <p:txBody>
          <a:bodyPr rtlCol="0" anchor="ctr"/>
          <a:lstStyle/>
          <a:p>
            <a:pPr algn="ctr"/>
            <a:endParaRPr/>
          </a:p>
        </p:txBody>
      </p:sp>
      <p:sp>
        <p:nvSpPr>
          <p:cNvPr id="267" name="TextBox 266">
            <a:extLst>
              <a:ext uri="{FF2B5EF4-FFF2-40B4-BE49-F238E27FC236}">
                <a16:creationId xmlns:a16="http://schemas.microsoft.com/office/drawing/2014/main" id="{A939EC7F-1698-4935-950B-2AFF0F3A995F}"/>
              </a:ext>
            </a:extLst>
          </p:cNvPr>
          <p:cNvSpPr txBox="1"/>
          <p:nvPr/>
        </p:nvSpPr>
        <p:spPr>
          <a:xfrm>
            <a:off x="6510528" y="4440884"/>
            <a:ext cx="1188720" cy="146304"/>
          </a:xfrm>
          <a:prstGeom prst="rect">
            <a:avLst/>
          </a:prstGeom>
          <a:noFill/>
        </p:spPr>
        <p:txBody>
          <a:bodyPr wrap="square" lIns="0" tIns="0" rIns="0" bIns="0" anchor="t">
            <a:noAutofit/>
          </a:bodyPr>
          <a:lstStyle/>
          <a:p>
            <a:pPr algn="ctr"/>
            <a:r>
              <a:rPr sz="850" b="1" dirty="0" err="1">
                <a:solidFill>
                  <a:srgbClr val="555555"/>
                </a:solidFill>
                <a:latin typeface="+mj-ea"/>
                <a:ea typeface="+mj-ea"/>
              </a:rPr>
              <a:t>세그먼트</a:t>
            </a:r>
            <a:endParaRPr sz="850" b="1" dirty="0">
              <a:solidFill>
                <a:srgbClr val="555555"/>
              </a:solidFill>
              <a:latin typeface="+mj-ea"/>
              <a:ea typeface="+mj-ea"/>
            </a:endParaRPr>
          </a:p>
        </p:txBody>
      </p:sp>
      <p:sp>
        <p:nvSpPr>
          <p:cNvPr id="268" name="TextBox 267">
            <a:extLst>
              <a:ext uri="{FF2B5EF4-FFF2-40B4-BE49-F238E27FC236}">
                <a16:creationId xmlns:a16="http://schemas.microsoft.com/office/drawing/2014/main" id="{E66FB391-0AD5-40B4-BA2A-F18186B11F53}"/>
              </a:ext>
            </a:extLst>
          </p:cNvPr>
          <p:cNvSpPr txBox="1"/>
          <p:nvPr/>
        </p:nvSpPr>
        <p:spPr>
          <a:xfrm>
            <a:off x="7818120" y="4440884"/>
            <a:ext cx="1371600" cy="146304"/>
          </a:xfrm>
          <a:prstGeom prst="rect">
            <a:avLst/>
          </a:prstGeom>
          <a:noFill/>
        </p:spPr>
        <p:txBody>
          <a:bodyPr wrap="square" lIns="0" tIns="0" rIns="0" bIns="0" anchor="t">
            <a:noAutofit/>
          </a:bodyPr>
          <a:lstStyle/>
          <a:p>
            <a:pPr algn="ctr"/>
            <a:r>
              <a:rPr sz="850" b="1">
                <a:solidFill>
                  <a:srgbClr val="555555"/>
                </a:solidFill>
                <a:latin typeface="+mj-ea"/>
                <a:ea typeface="+mj-ea"/>
              </a:rPr>
              <a:t>특징</a:t>
            </a:r>
          </a:p>
        </p:txBody>
      </p:sp>
      <p:sp>
        <p:nvSpPr>
          <p:cNvPr id="269" name="TextBox 268">
            <a:extLst>
              <a:ext uri="{FF2B5EF4-FFF2-40B4-BE49-F238E27FC236}">
                <a16:creationId xmlns:a16="http://schemas.microsoft.com/office/drawing/2014/main" id="{4235C67F-0F3F-405B-A837-0D63984024E1}"/>
              </a:ext>
            </a:extLst>
          </p:cNvPr>
          <p:cNvSpPr txBox="1"/>
          <p:nvPr/>
        </p:nvSpPr>
        <p:spPr>
          <a:xfrm>
            <a:off x="9281160" y="4440884"/>
            <a:ext cx="1225296" cy="146304"/>
          </a:xfrm>
          <a:prstGeom prst="rect">
            <a:avLst/>
          </a:prstGeom>
          <a:noFill/>
        </p:spPr>
        <p:txBody>
          <a:bodyPr wrap="square" lIns="0" tIns="0" rIns="0" bIns="0" anchor="t">
            <a:noAutofit/>
          </a:bodyPr>
          <a:lstStyle/>
          <a:p>
            <a:pPr algn="ctr"/>
            <a:r>
              <a:rPr sz="850" b="1">
                <a:solidFill>
                  <a:srgbClr val="555555"/>
                </a:solidFill>
                <a:latin typeface="+mj-ea"/>
                <a:ea typeface="+mj-ea"/>
              </a:rPr>
              <a:t>시장 규모</a:t>
            </a:r>
          </a:p>
        </p:txBody>
      </p:sp>
      <p:sp>
        <p:nvSpPr>
          <p:cNvPr id="270" name="TextBox 269">
            <a:extLst>
              <a:ext uri="{FF2B5EF4-FFF2-40B4-BE49-F238E27FC236}">
                <a16:creationId xmlns:a16="http://schemas.microsoft.com/office/drawing/2014/main" id="{B141CC1D-646E-41EE-B53D-68DB97FA9794}"/>
              </a:ext>
            </a:extLst>
          </p:cNvPr>
          <p:cNvSpPr txBox="1"/>
          <p:nvPr/>
        </p:nvSpPr>
        <p:spPr>
          <a:xfrm>
            <a:off x="10515600" y="4440884"/>
            <a:ext cx="1097280" cy="146304"/>
          </a:xfrm>
          <a:prstGeom prst="rect">
            <a:avLst/>
          </a:prstGeom>
          <a:noFill/>
        </p:spPr>
        <p:txBody>
          <a:bodyPr wrap="square" lIns="0" tIns="0" rIns="0" bIns="0" anchor="t">
            <a:noAutofit/>
          </a:bodyPr>
          <a:lstStyle/>
          <a:p>
            <a:pPr algn="ctr"/>
            <a:r>
              <a:rPr sz="850" b="1">
                <a:solidFill>
                  <a:srgbClr val="555555"/>
                </a:solidFill>
                <a:latin typeface="+mj-ea"/>
                <a:ea typeface="+mj-ea"/>
              </a:rPr>
              <a:t>규모 ($B) · 성장</a:t>
            </a:r>
          </a:p>
        </p:txBody>
      </p:sp>
      <p:sp>
        <p:nvSpPr>
          <p:cNvPr id="271" name="Segment chip">
            <a:extLst>
              <a:ext uri="{FF2B5EF4-FFF2-40B4-BE49-F238E27FC236}">
                <a16:creationId xmlns:a16="http://schemas.microsoft.com/office/drawing/2014/main" id="{C0A3FA2E-28E5-47B9-B33C-7F54E18CAAA2}"/>
              </a:ext>
            </a:extLst>
          </p:cNvPr>
          <p:cNvSpPr/>
          <p:nvPr/>
        </p:nvSpPr>
        <p:spPr>
          <a:xfrm>
            <a:off x="6492240" y="4671008"/>
            <a:ext cx="1261872" cy="246888"/>
          </a:xfrm>
          <a:prstGeom prst="roundRect">
            <a:avLst>
              <a:gd name="adj" fmla="val 19000"/>
            </a:avLst>
          </a:prstGeom>
          <a:solidFill>
            <a:srgbClr val="F0F1F3"/>
          </a:solidFill>
          <a:ln w="12700">
            <a:solidFill>
              <a:srgbClr val="7F7F7F"/>
            </a:solidFill>
          </a:ln>
        </p:spPr>
        <p:txBody>
          <a:bodyPr wrap="square" lIns="54864" tIns="18288" rIns="45720" bIns="18288" rtlCol="0" anchor="ctr"/>
          <a:lstStyle/>
          <a:p>
            <a:pPr algn="l"/>
            <a:r>
              <a:rPr sz="950" b="1">
                <a:solidFill>
                  <a:srgbClr val="222222"/>
                </a:solidFill>
                <a:latin typeface="+mj-ea"/>
                <a:ea typeface="+mj-ea"/>
              </a:rPr>
              <a:t>HBM (기준)</a:t>
            </a:r>
          </a:p>
        </p:txBody>
      </p:sp>
      <p:sp>
        <p:nvSpPr>
          <p:cNvPr id="272" name="TextBox 271">
            <a:extLst>
              <a:ext uri="{FF2B5EF4-FFF2-40B4-BE49-F238E27FC236}">
                <a16:creationId xmlns:a16="http://schemas.microsoft.com/office/drawing/2014/main" id="{F1E76BD8-C30C-4BC8-B4E5-7B412F623F17}"/>
              </a:ext>
            </a:extLst>
          </p:cNvPr>
          <p:cNvSpPr txBox="1"/>
          <p:nvPr/>
        </p:nvSpPr>
        <p:spPr>
          <a:xfrm>
            <a:off x="7818120" y="4671008"/>
            <a:ext cx="1417320" cy="246888"/>
          </a:xfrm>
          <a:prstGeom prst="rect">
            <a:avLst/>
          </a:prstGeom>
          <a:noFill/>
        </p:spPr>
        <p:txBody>
          <a:bodyPr wrap="square" lIns="0" tIns="0" rIns="0" bIns="0" anchor="ctr">
            <a:noAutofit/>
          </a:bodyPr>
          <a:lstStyle/>
          <a:p>
            <a:pPr algn="l">
              <a:lnSpc>
                <a:spcPct val="95000"/>
              </a:lnSpc>
            </a:pPr>
            <a:r>
              <a:rPr sz="850" b="0" dirty="0">
                <a:solidFill>
                  <a:srgbClr val="222222"/>
                </a:solidFill>
                <a:latin typeface="+mj-ea"/>
                <a:ea typeface="+mj-ea"/>
              </a:rPr>
              <a:t>GPU </a:t>
            </a:r>
            <a:r>
              <a:rPr sz="850" b="0" dirty="0" err="1">
                <a:solidFill>
                  <a:srgbClr val="222222"/>
                </a:solidFill>
                <a:latin typeface="+mj-ea"/>
                <a:ea typeface="+mj-ea"/>
              </a:rPr>
              <a:t>온패키지</a:t>
            </a:r>
            <a:r>
              <a:rPr sz="850" b="0" dirty="0">
                <a:solidFill>
                  <a:srgbClr val="222222"/>
                </a:solidFill>
                <a:latin typeface="+mj-ea"/>
                <a:ea typeface="+mj-ea"/>
              </a:rPr>
              <a:t> </a:t>
            </a:r>
            <a:r>
              <a:rPr sz="850" b="0" dirty="0" err="1">
                <a:solidFill>
                  <a:srgbClr val="222222"/>
                </a:solidFill>
                <a:latin typeface="+mj-ea"/>
                <a:ea typeface="+mj-ea"/>
              </a:rPr>
              <a:t>고대역폭</a:t>
            </a:r>
            <a:r>
              <a:rPr sz="850" b="0" dirty="0">
                <a:solidFill>
                  <a:srgbClr val="222222"/>
                </a:solidFill>
                <a:latin typeface="+mj-ea"/>
                <a:ea typeface="+mj-ea"/>
              </a:rPr>
              <a:t>, </a:t>
            </a:r>
            <a:endParaRPr lang="en-US" sz="850" b="0" dirty="0">
              <a:solidFill>
                <a:srgbClr val="222222"/>
              </a:solidFill>
              <a:latin typeface="+mj-ea"/>
              <a:ea typeface="+mj-ea"/>
            </a:endParaRPr>
          </a:p>
          <a:p>
            <a:pPr algn="l">
              <a:lnSpc>
                <a:spcPct val="95000"/>
              </a:lnSpc>
            </a:pPr>
            <a:r>
              <a:rPr sz="850" b="0" dirty="0" err="1">
                <a:solidFill>
                  <a:srgbClr val="222222"/>
                </a:solidFill>
                <a:latin typeface="+mj-ea"/>
                <a:ea typeface="+mj-ea"/>
              </a:rPr>
              <a:t>공급</a:t>
            </a:r>
            <a:r>
              <a:rPr sz="850" b="0" dirty="0">
                <a:solidFill>
                  <a:srgbClr val="222222"/>
                </a:solidFill>
                <a:latin typeface="+mj-ea"/>
                <a:ea typeface="+mj-ea"/>
              </a:rPr>
              <a:t> </a:t>
            </a:r>
            <a:r>
              <a:rPr sz="850" b="0" dirty="0" err="1">
                <a:solidFill>
                  <a:srgbClr val="222222"/>
                </a:solidFill>
                <a:latin typeface="+mj-ea"/>
                <a:ea typeface="+mj-ea"/>
              </a:rPr>
              <a:t>부족</a:t>
            </a:r>
            <a:r>
              <a:rPr sz="850" b="0" dirty="0">
                <a:solidFill>
                  <a:srgbClr val="222222"/>
                </a:solidFill>
                <a:latin typeface="+mj-ea"/>
                <a:ea typeface="+mj-ea"/>
              </a:rPr>
              <a:t> </a:t>
            </a:r>
            <a:r>
              <a:rPr sz="850" b="0" dirty="0" err="1">
                <a:solidFill>
                  <a:srgbClr val="222222"/>
                </a:solidFill>
                <a:latin typeface="+mj-ea"/>
                <a:ea typeface="+mj-ea"/>
              </a:rPr>
              <a:t>지속</a:t>
            </a:r>
            <a:endParaRPr sz="850" b="0" dirty="0">
              <a:solidFill>
                <a:srgbClr val="222222"/>
              </a:solidFill>
              <a:latin typeface="+mj-ea"/>
              <a:ea typeface="+mj-ea"/>
            </a:endParaRPr>
          </a:p>
        </p:txBody>
      </p:sp>
      <p:sp>
        <p:nvSpPr>
          <p:cNvPr id="273" name="seg bar now">
            <a:extLst>
              <a:ext uri="{FF2B5EF4-FFF2-40B4-BE49-F238E27FC236}">
                <a16:creationId xmlns:a16="http://schemas.microsoft.com/office/drawing/2014/main" id="{B1DA3349-DF92-4EB4-A946-8238767E8D3D}"/>
              </a:ext>
            </a:extLst>
          </p:cNvPr>
          <p:cNvSpPr/>
          <p:nvPr/>
        </p:nvSpPr>
        <p:spPr>
          <a:xfrm>
            <a:off x="9281160" y="4698440"/>
            <a:ext cx="400050" cy="91440"/>
          </a:xfrm>
          <a:prstGeom prst="rect">
            <a:avLst/>
          </a:prstGeom>
          <a:solidFill>
            <a:srgbClr val="9DB9DE"/>
          </a:solidFill>
          <a:ln>
            <a:noFill/>
          </a:ln>
        </p:spPr>
        <p:txBody>
          <a:bodyPr rtlCol="0" anchor="ctr"/>
          <a:lstStyle/>
          <a:p>
            <a:pPr algn="ctr"/>
            <a:endParaRPr/>
          </a:p>
        </p:txBody>
      </p:sp>
      <p:sp>
        <p:nvSpPr>
          <p:cNvPr id="274" name="seg bar future">
            <a:extLst>
              <a:ext uri="{FF2B5EF4-FFF2-40B4-BE49-F238E27FC236}">
                <a16:creationId xmlns:a16="http://schemas.microsoft.com/office/drawing/2014/main" id="{A659B3C4-273C-4500-B4E8-0B336B0EAF53}"/>
              </a:ext>
            </a:extLst>
          </p:cNvPr>
          <p:cNvSpPr/>
          <p:nvPr/>
        </p:nvSpPr>
        <p:spPr>
          <a:xfrm>
            <a:off x="9281160" y="4799023"/>
            <a:ext cx="1143000" cy="91440"/>
          </a:xfrm>
          <a:prstGeom prst="rect">
            <a:avLst/>
          </a:prstGeom>
          <a:solidFill>
            <a:srgbClr val="1C3F6E"/>
          </a:solidFill>
          <a:ln>
            <a:noFill/>
          </a:ln>
        </p:spPr>
        <p:txBody>
          <a:bodyPr rtlCol="0" anchor="ctr"/>
          <a:lstStyle/>
          <a:p>
            <a:pPr algn="ctr"/>
            <a:endParaRPr/>
          </a:p>
        </p:txBody>
      </p:sp>
      <p:sp>
        <p:nvSpPr>
          <p:cNvPr id="275" name="TextBox 274">
            <a:extLst>
              <a:ext uri="{FF2B5EF4-FFF2-40B4-BE49-F238E27FC236}">
                <a16:creationId xmlns:a16="http://schemas.microsoft.com/office/drawing/2014/main" id="{7514A97E-8378-4D87-A18A-3E4B28425394}"/>
              </a:ext>
            </a:extLst>
          </p:cNvPr>
          <p:cNvSpPr txBox="1"/>
          <p:nvPr/>
        </p:nvSpPr>
        <p:spPr>
          <a:xfrm>
            <a:off x="10515600" y="4661864"/>
            <a:ext cx="1115568" cy="265176"/>
          </a:xfrm>
          <a:prstGeom prst="rect">
            <a:avLst/>
          </a:prstGeom>
          <a:noFill/>
        </p:spPr>
        <p:txBody>
          <a:bodyPr wrap="square" lIns="0" tIns="0" rIns="0" bIns="0" anchor="ctr">
            <a:noAutofit/>
          </a:bodyPr>
          <a:lstStyle/>
          <a:p>
            <a:pPr algn="l">
              <a:lnSpc>
                <a:spcPct val="95000"/>
              </a:lnSpc>
            </a:pPr>
            <a:r>
              <a:rPr sz="900" b="1" dirty="0">
                <a:solidFill>
                  <a:srgbClr val="1C3F6E"/>
                </a:solidFill>
                <a:latin typeface="+mj-ea"/>
                <a:ea typeface="+mj-ea"/>
              </a:rPr>
              <a:t>$35B → ≈$100B</a:t>
            </a:r>
          </a:p>
          <a:p>
            <a:pPr algn="l">
              <a:lnSpc>
                <a:spcPct val="95000"/>
              </a:lnSpc>
            </a:pPr>
            <a:r>
              <a:rPr sz="750" b="0" dirty="0">
                <a:solidFill>
                  <a:srgbClr val="555555"/>
                </a:solidFill>
                <a:latin typeface="+mj-ea"/>
                <a:ea typeface="+mj-ea"/>
              </a:rPr>
              <a:t>’25→’28E</a:t>
            </a:r>
            <a:r>
              <a:rPr lang="en-US" sz="750" b="0" dirty="0">
                <a:solidFill>
                  <a:srgbClr val="555555"/>
                </a:solidFill>
                <a:latin typeface="+mj-ea"/>
                <a:ea typeface="+mj-ea"/>
              </a:rPr>
              <a:t>, </a:t>
            </a:r>
            <a:r>
              <a:rPr sz="750" b="0" dirty="0">
                <a:solidFill>
                  <a:srgbClr val="555555"/>
                </a:solidFill>
                <a:latin typeface="+mj-ea"/>
                <a:ea typeface="+mj-ea"/>
              </a:rPr>
              <a:t>CAGR ≈42%</a:t>
            </a:r>
          </a:p>
        </p:txBody>
      </p:sp>
      <p:sp>
        <p:nvSpPr>
          <p:cNvPr id="276" name="Segment chip">
            <a:extLst>
              <a:ext uri="{FF2B5EF4-FFF2-40B4-BE49-F238E27FC236}">
                <a16:creationId xmlns:a16="http://schemas.microsoft.com/office/drawing/2014/main" id="{0567273D-9BEC-4EFB-A786-9FBE92143C7F}"/>
              </a:ext>
            </a:extLst>
          </p:cNvPr>
          <p:cNvSpPr/>
          <p:nvPr/>
        </p:nvSpPr>
        <p:spPr>
          <a:xfrm>
            <a:off x="6492240" y="4981903"/>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cHBM</a:t>
            </a:r>
          </a:p>
        </p:txBody>
      </p:sp>
      <p:sp>
        <p:nvSpPr>
          <p:cNvPr id="277" name="TextBox 276">
            <a:extLst>
              <a:ext uri="{FF2B5EF4-FFF2-40B4-BE49-F238E27FC236}">
                <a16:creationId xmlns:a16="http://schemas.microsoft.com/office/drawing/2014/main" id="{0B98DD65-41FF-4DCD-94CD-076143051650}"/>
              </a:ext>
            </a:extLst>
          </p:cNvPr>
          <p:cNvSpPr txBox="1"/>
          <p:nvPr/>
        </p:nvSpPr>
        <p:spPr>
          <a:xfrm>
            <a:off x="7818120" y="4981903"/>
            <a:ext cx="1417320" cy="246888"/>
          </a:xfrm>
          <a:prstGeom prst="rect">
            <a:avLst/>
          </a:prstGeom>
          <a:noFill/>
        </p:spPr>
        <p:txBody>
          <a:bodyPr wrap="square" lIns="0" tIns="0" rIns="0" bIns="0" anchor="ctr">
            <a:noAutofit/>
          </a:bodyPr>
          <a:lstStyle/>
          <a:p>
            <a:pPr algn="l">
              <a:lnSpc>
                <a:spcPct val="95000"/>
              </a:lnSpc>
            </a:pPr>
            <a:r>
              <a:rPr sz="850" b="0" dirty="0">
                <a:solidFill>
                  <a:srgbClr val="222222"/>
                </a:solidFill>
                <a:latin typeface="+mj-ea"/>
                <a:ea typeface="+mj-ea"/>
              </a:rPr>
              <a:t>Base </a:t>
            </a:r>
            <a:r>
              <a:rPr sz="850" b="0" dirty="0" err="1">
                <a:solidFill>
                  <a:srgbClr val="222222"/>
                </a:solidFill>
                <a:latin typeface="+mj-ea"/>
                <a:ea typeface="+mj-ea"/>
              </a:rPr>
              <a:t>die에</a:t>
            </a:r>
            <a:r>
              <a:rPr sz="850" b="0" dirty="0">
                <a:solidFill>
                  <a:srgbClr val="222222"/>
                </a:solidFill>
                <a:latin typeface="+mj-ea"/>
                <a:ea typeface="+mj-ea"/>
              </a:rPr>
              <a:t> </a:t>
            </a:r>
            <a:r>
              <a:rPr sz="850" b="0" dirty="0" err="1">
                <a:solidFill>
                  <a:srgbClr val="222222"/>
                </a:solidFill>
                <a:latin typeface="+mj-ea"/>
                <a:ea typeface="+mj-ea"/>
              </a:rPr>
              <a:t>고객</a:t>
            </a:r>
            <a:r>
              <a:rPr sz="850" b="0" dirty="0">
                <a:solidFill>
                  <a:srgbClr val="222222"/>
                </a:solidFill>
                <a:latin typeface="+mj-ea"/>
                <a:ea typeface="+mj-ea"/>
              </a:rPr>
              <a:t> </a:t>
            </a:r>
            <a:r>
              <a:rPr sz="850" b="0" dirty="0" err="1">
                <a:solidFill>
                  <a:srgbClr val="222222"/>
                </a:solidFill>
                <a:latin typeface="+mj-ea"/>
                <a:ea typeface="+mj-ea"/>
              </a:rPr>
              <a:t>특화</a:t>
            </a:r>
            <a:r>
              <a:rPr sz="850" b="0" dirty="0">
                <a:solidFill>
                  <a:srgbClr val="222222"/>
                </a:solidFill>
                <a:latin typeface="+mj-ea"/>
                <a:ea typeface="+mj-ea"/>
              </a:rPr>
              <a:t> </a:t>
            </a:r>
            <a:r>
              <a:rPr sz="850" b="0" dirty="0" err="1">
                <a:solidFill>
                  <a:srgbClr val="222222"/>
                </a:solidFill>
                <a:latin typeface="+mj-ea"/>
                <a:ea typeface="+mj-ea"/>
              </a:rPr>
              <a:t>로직</a:t>
            </a:r>
            <a:endParaRPr sz="850" b="0" dirty="0">
              <a:solidFill>
                <a:srgbClr val="222222"/>
              </a:solidFill>
              <a:latin typeface="+mj-ea"/>
              <a:ea typeface="+mj-ea"/>
            </a:endParaRPr>
          </a:p>
        </p:txBody>
      </p:sp>
      <p:sp>
        <p:nvSpPr>
          <p:cNvPr id="278" name="seg bar now">
            <a:extLst>
              <a:ext uri="{FF2B5EF4-FFF2-40B4-BE49-F238E27FC236}">
                <a16:creationId xmlns:a16="http://schemas.microsoft.com/office/drawing/2014/main" id="{DCDB4FEA-DA94-4502-B811-0FB024E6FE36}"/>
              </a:ext>
            </a:extLst>
          </p:cNvPr>
          <p:cNvSpPr/>
          <p:nvPr/>
        </p:nvSpPr>
        <p:spPr>
          <a:xfrm>
            <a:off x="9281160" y="5009336"/>
            <a:ext cx="70866" cy="91440"/>
          </a:xfrm>
          <a:prstGeom prst="rect">
            <a:avLst/>
          </a:prstGeom>
          <a:solidFill>
            <a:srgbClr val="9DB9DE"/>
          </a:solidFill>
          <a:ln>
            <a:noFill/>
          </a:ln>
        </p:spPr>
        <p:txBody>
          <a:bodyPr rtlCol="0" anchor="ctr"/>
          <a:lstStyle/>
          <a:p>
            <a:pPr algn="ctr"/>
            <a:endParaRPr/>
          </a:p>
        </p:txBody>
      </p:sp>
      <p:sp>
        <p:nvSpPr>
          <p:cNvPr id="279" name="seg bar future">
            <a:extLst>
              <a:ext uri="{FF2B5EF4-FFF2-40B4-BE49-F238E27FC236}">
                <a16:creationId xmlns:a16="http://schemas.microsoft.com/office/drawing/2014/main" id="{D0171506-A0EA-4CAA-B51E-C1D45883A563}"/>
              </a:ext>
            </a:extLst>
          </p:cNvPr>
          <p:cNvSpPr/>
          <p:nvPr/>
        </p:nvSpPr>
        <p:spPr>
          <a:xfrm>
            <a:off x="9281160" y="5109919"/>
            <a:ext cx="290322" cy="91440"/>
          </a:xfrm>
          <a:prstGeom prst="rect">
            <a:avLst/>
          </a:prstGeom>
          <a:solidFill>
            <a:srgbClr val="2F6DB5"/>
          </a:solidFill>
          <a:ln>
            <a:noFill/>
          </a:ln>
        </p:spPr>
        <p:txBody>
          <a:bodyPr rtlCol="0" anchor="ctr"/>
          <a:lstStyle/>
          <a:p>
            <a:pPr algn="ctr"/>
            <a:endParaRPr/>
          </a:p>
        </p:txBody>
      </p:sp>
      <p:sp>
        <p:nvSpPr>
          <p:cNvPr id="280" name="TextBox 279">
            <a:extLst>
              <a:ext uri="{FF2B5EF4-FFF2-40B4-BE49-F238E27FC236}">
                <a16:creationId xmlns:a16="http://schemas.microsoft.com/office/drawing/2014/main" id="{FBE87DDD-FA04-44AA-B39C-078B141C3C3A}"/>
              </a:ext>
            </a:extLst>
          </p:cNvPr>
          <p:cNvSpPr txBox="1"/>
          <p:nvPr/>
        </p:nvSpPr>
        <p:spPr>
          <a:xfrm>
            <a:off x="10515600" y="4972760"/>
            <a:ext cx="1115568" cy="265176"/>
          </a:xfrm>
          <a:prstGeom prst="rect">
            <a:avLst/>
          </a:prstGeom>
          <a:noFill/>
        </p:spPr>
        <p:txBody>
          <a:bodyPr wrap="square" lIns="0" tIns="0" rIns="0" bIns="0" anchor="ctr">
            <a:noAutofit/>
          </a:bodyPr>
          <a:lstStyle/>
          <a:p>
            <a:pPr algn="l">
              <a:lnSpc>
                <a:spcPct val="95000"/>
              </a:lnSpc>
            </a:pPr>
            <a:r>
              <a:rPr sz="900" b="1" dirty="0">
                <a:solidFill>
                  <a:srgbClr val="1C3F6E"/>
                </a:solidFill>
                <a:latin typeface="+mj-ea"/>
                <a:ea typeface="+mj-ea"/>
              </a:rPr>
              <a:t>$6.2B → $25.4B</a:t>
            </a:r>
          </a:p>
          <a:p>
            <a:pPr algn="l">
              <a:lnSpc>
                <a:spcPct val="95000"/>
              </a:lnSpc>
            </a:pPr>
            <a:r>
              <a:rPr sz="750" b="0" dirty="0">
                <a:solidFill>
                  <a:srgbClr val="555555"/>
                </a:solidFill>
                <a:latin typeface="+mj-ea"/>
                <a:ea typeface="+mj-ea"/>
              </a:rPr>
              <a:t>’25→’31E</a:t>
            </a:r>
            <a:r>
              <a:rPr lang="en-US" sz="750" b="0" dirty="0">
                <a:solidFill>
                  <a:srgbClr val="555555"/>
                </a:solidFill>
                <a:latin typeface="+mj-ea"/>
                <a:ea typeface="+mj-ea"/>
              </a:rPr>
              <a:t>, </a:t>
            </a:r>
            <a:r>
              <a:rPr sz="750" b="0" dirty="0">
                <a:solidFill>
                  <a:srgbClr val="555555"/>
                </a:solidFill>
                <a:latin typeface="+mj-ea"/>
                <a:ea typeface="+mj-ea"/>
              </a:rPr>
              <a:t>CAGR ≈27%</a:t>
            </a:r>
          </a:p>
        </p:txBody>
      </p:sp>
      <p:sp>
        <p:nvSpPr>
          <p:cNvPr id="281" name="Segment chip">
            <a:extLst>
              <a:ext uri="{FF2B5EF4-FFF2-40B4-BE49-F238E27FC236}">
                <a16:creationId xmlns:a16="http://schemas.microsoft.com/office/drawing/2014/main" id="{C76930F2-7808-4EDD-B03D-9A9B905987CD}"/>
              </a:ext>
            </a:extLst>
          </p:cNvPr>
          <p:cNvSpPr/>
          <p:nvPr/>
        </p:nvSpPr>
        <p:spPr>
          <a:xfrm>
            <a:off x="6492240" y="5292799"/>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CXL 메모리 풀</a:t>
            </a:r>
          </a:p>
        </p:txBody>
      </p:sp>
      <p:sp>
        <p:nvSpPr>
          <p:cNvPr id="282" name="TextBox 281">
            <a:extLst>
              <a:ext uri="{FF2B5EF4-FFF2-40B4-BE49-F238E27FC236}">
                <a16:creationId xmlns:a16="http://schemas.microsoft.com/office/drawing/2014/main" id="{1750F99D-F96D-4EF5-85D4-F50EC98E0095}"/>
              </a:ext>
            </a:extLst>
          </p:cNvPr>
          <p:cNvSpPr txBox="1"/>
          <p:nvPr/>
        </p:nvSpPr>
        <p:spPr>
          <a:xfrm>
            <a:off x="7818120" y="5292799"/>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a:t>
            </a:r>
            <a:r>
              <a:rPr sz="850" b="0" dirty="0">
                <a:solidFill>
                  <a:srgbClr val="222222"/>
                </a:solidFill>
                <a:latin typeface="+mj-ea"/>
                <a:ea typeface="+mj-ea"/>
              </a:rPr>
              <a:t> </a:t>
            </a:r>
            <a:r>
              <a:rPr sz="850" b="0" dirty="0" err="1">
                <a:solidFill>
                  <a:srgbClr val="222222"/>
                </a:solidFill>
                <a:latin typeface="+mj-ea"/>
                <a:ea typeface="+mj-ea"/>
              </a:rPr>
              <a:t>단위</a:t>
            </a:r>
            <a:r>
              <a:rPr sz="850" b="0" dirty="0">
                <a:solidFill>
                  <a:srgbClr val="222222"/>
                </a:solidFill>
                <a:latin typeface="+mj-ea"/>
                <a:ea typeface="+mj-ea"/>
              </a:rPr>
              <a:t> </a:t>
            </a:r>
            <a:r>
              <a:rPr sz="850" b="0" dirty="0" err="1">
                <a:solidFill>
                  <a:srgbClr val="222222"/>
                </a:solidFill>
                <a:latin typeface="+mj-ea"/>
                <a:ea typeface="+mj-ea"/>
              </a:rPr>
              <a:t>용량</a:t>
            </a:r>
            <a:r>
              <a:rPr sz="850" b="0" dirty="0">
                <a:solidFill>
                  <a:srgbClr val="222222"/>
                </a:solidFill>
                <a:latin typeface="+mj-ea"/>
                <a:ea typeface="+mj-ea"/>
              </a:rPr>
              <a:t> </a:t>
            </a:r>
            <a:r>
              <a:rPr sz="850" b="0" dirty="0" err="1">
                <a:solidFill>
                  <a:srgbClr val="222222"/>
                </a:solidFill>
                <a:latin typeface="+mj-ea"/>
                <a:ea typeface="+mj-ea"/>
              </a:rPr>
              <a:t>확장</a:t>
            </a:r>
            <a:r>
              <a:rPr sz="850" b="0" dirty="0">
                <a:solidFill>
                  <a:srgbClr val="222222"/>
                </a:solidFill>
                <a:latin typeface="+mj-ea"/>
                <a:ea typeface="+mj-ea"/>
              </a:rPr>
              <a:t>, KV </a:t>
            </a:r>
            <a:r>
              <a:rPr sz="850" b="0" dirty="0" err="1">
                <a:solidFill>
                  <a:srgbClr val="222222"/>
                </a:solidFill>
                <a:latin typeface="+mj-ea"/>
                <a:ea typeface="+mj-ea"/>
              </a:rPr>
              <a:t>공유</a:t>
            </a:r>
            <a:endParaRPr sz="850" b="0" dirty="0">
              <a:solidFill>
                <a:srgbClr val="222222"/>
              </a:solidFill>
              <a:latin typeface="+mj-ea"/>
              <a:ea typeface="+mj-ea"/>
            </a:endParaRPr>
          </a:p>
        </p:txBody>
      </p:sp>
      <p:sp>
        <p:nvSpPr>
          <p:cNvPr id="283" name="seg bar now">
            <a:extLst>
              <a:ext uri="{FF2B5EF4-FFF2-40B4-BE49-F238E27FC236}">
                <a16:creationId xmlns:a16="http://schemas.microsoft.com/office/drawing/2014/main" id="{DC6707B1-0338-4262-A877-1EFEE6D31C03}"/>
              </a:ext>
            </a:extLst>
          </p:cNvPr>
          <p:cNvSpPr/>
          <p:nvPr/>
        </p:nvSpPr>
        <p:spPr>
          <a:xfrm>
            <a:off x="9281160" y="5320231"/>
            <a:ext cx="28232" cy="91440"/>
          </a:xfrm>
          <a:prstGeom prst="rect">
            <a:avLst/>
          </a:prstGeom>
          <a:solidFill>
            <a:srgbClr val="9DB9DE"/>
          </a:solidFill>
          <a:ln>
            <a:noFill/>
          </a:ln>
        </p:spPr>
        <p:txBody>
          <a:bodyPr rtlCol="0" anchor="ctr"/>
          <a:lstStyle/>
          <a:p>
            <a:pPr algn="ctr"/>
            <a:endParaRPr/>
          </a:p>
        </p:txBody>
      </p:sp>
      <p:sp>
        <p:nvSpPr>
          <p:cNvPr id="284" name="seg bar future">
            <a:extLst>
              <a:ext uri="{FF2B5EF4-FFF2-40B4-BE49-F238E27FC236}">
                <a16:creationId xmlns:a16="http://schemas.microsoft.com/office/drawing/2014/main" id="{1B21EF73-EC8F-4D14-A62A-305D9DC09481}"/>
              </a:ext>
            </a:extLst>
          </p:cNvPr>
          <p:cNvSpPr/>
          <p:nvPr/>
        </p:nvSpPr>
        <p:spPr>
          <a:xfrm>
            <a:off x="9281160" y="5420815"/>
            <a:ext cx="146989" cy="91440"/>
          </a:xfrm>
          <a:prstGeom prst="rect">
            <a:avLst/>
          </a:prstGeom>
          <a:solidFill>
            <a:srgbClr val="2F6DB5"/>
          </a:solidFill>
          <a:ln>
            <a:noFill/>
          </a:ln>
        </p:spPr>
        <p:txBody>
          <a:bodyPr rtlCol="0" anchor="ctr"/>
          <a:lstStyle/>
          <a:p>
            <a:pPr algn="ctr"/>
            <a:endParaRPr/>
          </a:p>
        </p:txBody>
      </p:sp>
      <p:sp>
        <p:nvSpPr>
          <p:cNvPr id="285" name="TextBox 284">
            <a:extLst>
              <a:ext uri="{FF2B5EF4-FFF2-40B4-BE49-F238E27FC236}">
                <a16:creationId xmlns:a16="http://schemas.microsoft.com/office/drawing/2014/main" id="{186178A9-B695-43FE-87D0-52147BBD0F07}"/>
              </a:ext>
            </a:extLst>
          </p:cNvPr>
          <p:cNvSpPr txBox="1"/>
          <p:nvPr/>
        </p:nvSpPr>
        <p:spPr>
          <a:xfrm>
            <a:off x="10515600" y="5283655"/>
            <a:ext cx="1115568" cy="265176"/>
          </a:xfrm>
          <a:prstGeom prst="rect">
            <a:avLst/>
          </a:prstGeom>
          <a:noFill/>
        </p:spPr>
        <p:txBody>
          <a:bodyPr wrap="square" lIns="0" tIns="0" rIns="0" bIns="0" anchor="ctr">
            <a:noAutofit/>
          </a:bodyPr>
          <a:lstStyle/>
          <a:p>
            <a:pPr algn="l">
              <a:lnSpc>
                <a:spcPct val="95000"/>
              </a:lnSpc>
            </a:pPr>
            <a:r>
              <a:rPr sz="900" b="1" dirty="0">
                <a:solidFill>
                  <a:srgbClr val="1C3F6E"/>
                </a:solidFill>
                <a:latin typeface="+mj-ea"/>
                <a:ea typeface="+mj-ea"/>
              </a:rPr>
              <a:t>$2.5B → $12.9B</a:t>
            </a:r>
          </a:p>
          <a:p>
            <a:pPr algn="l">
              <a:lnSpc>
                <a:spcPct val="95000"/>
              </a:lnSpc>
            </a:pPr>
            <a:r>
              <a:rPr sz="750" b="0" dirty="0">
                <a:solidFill>
                  <a:srgbClr val="555555"/>
                </a:solidFill>
                <a:latin typeface="+mj-ea"/>
                <a:ea typeface="+mj-ea"/>
              </a:rPr>
              <a:t>’26→’31E</a:t>
            </a:r>
            <a:r>
              <a:rPr lang="en-US" sz="750" b="0" dirty="0">
                <a:solidFill>
                  <a:srgbClr val="555555"/>
                </a:solidFill>
                <a:latin typeface="+mj-ea"/>
                <a:ea typeface="+mj-ea"/>
              </a:rPr>
              <a:t>, </a:t>
            </a:r>
            <a:r>
              <a:rPr sz="750" b="0" dirty="0">
                <a:solidFill>
                  <a:srgbClr val="555555"/>
                </a:solidFill>
                <a:latin typeface="+mj-ea"/>
                <a:ea typeface="+mj-ea"/>
              </a:rPr>
              <a:t>CAGR ≈39%</a:t>
            </a:r>
          </a:p>
        </p:txBody>
      </p:sp>
      <p:sp>
        <p:nvSpPr>
          <p:cNvPr id="286" name="Segment chip">
            <a:extLst>
              <a:ext uri="{FF2B5EF4-FFF2-40B4-BE49-F238E27FC236}">
                <a16:creationId xmlns:a16="http://schemas.microsoft.com/office/drawing/2014/main" id="{229E2F15-9E9F-4E27-8118-53783761E5BD}"/>
              </a:ext>
            </a:extLst>
          </p:cNvPr>
          <p:cNvSpPr/>
          <p:nvPr/>
        </p:nvSpPr>
        <p:spPr>
          <a:xfrm>
            <a:off x="6492240" y="5603695"/>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SOCAMM2</a:t>
            </a:r>
            <a:r>
              <a:rPr lang="en-US" sz="950" b="1" dirty="0">
                <a:solidFill>
                  <a:srgbClr val="222222"/>
                </a:solidFill>
                <a:latin typeface="+mj-ea"/>
                <a:ea typeface="+mj-ea"/>
              </a:rPr>
              <a:t>, </a:t>
            </a:r>
            <a:r>
              <a:rPr sz="950" b="1" dirty="0">
                <a:solidFill>
                  <a:srgbClr val="222222"/>
                </a:solidFill>
                <a:latin typeface="+mj-ea"/>
                <a:ea typeface="+mj-ea"/>
              </a:rPr>
              <a:t>LPDDR</a:t>
            </a:r>
          </a:p>
        </p:txBody>
      </p:sp>
      <p:sp>
        <p:nvSpPr>
          <p:cNvPr id="287" name="TextBox 286">
            <a:extLst>
              <a:ext uri="{FF2B5EF4-FFF2-40B4-BE49-F238E27FC236}">
                <a16:creationId xmlns:a16="http://schemas.microsoft.com/office/drawing/2014/main" id="{0ED8C0BA-92F5-4A5F-B05E-50828EF11512}"/>
              </a:ext>
            </a:extLst>
          </p:cNvPr>
          <p:cNvSpPr txBox="1"/>
          <p:nvPr/>
        </p:nvSpPr>
        <p:spPr>
          <a:xfrm>
            <a:off x="7818120" y="5603695"/>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서버용</a:t>
            </a:r>
            <a:r>
              <a:rPr sz="850" b="0" dirty="0">
                <a:solidFill>
                  <a:srgbClr val="222222"/>
                </a:solidFill>
                <a:latin typeface="+mj-ea"/>
                <a:ea typeface="+mj-ea"/>
              </a:rPr>
              <a:t> </a:t>
            </a:r>
            <a:r>
              <a:rPr sz="850" b="0" dirty="0" err="1">
                <a:solidFill>
                  <a:srgbClr val="222222"/>
                </a:solidFill>
                <a:latin typeface="+mj-ea"/>
                <a:ea typeface="+mj-ea"/>
              </a:rPr>
              <a:t>저전력</a:t>
            </a:r>
            <a:endParaRPr sz="850" b="0" dirty="0">
              <a:solidFill>
                <a:srgbClr val="222222"/>
              </a:solidFill>
              <a:latin typeface="+mj-ea"/>
              <a:ea typeface="+mj-ea"/>
            </a:endParaRPr>
          </a:p>
        </p:txBody>
      </p:sp>
      <p:sp>
        <p:nvSpPr>
          <p:cNvPr id="288" name="TextBox 287">
            <a:extLst>
              <a:ext uri="{FF2B5EF4-FFF2-40B4-BE49-F238E27FC236}">
                <a16:creationId xmlns:a16="http://schemas.microsoft.com/office/drawing/2014/main" id="{7AF18399-56D7-42EB-A6B5-8BF90C0B2037}"/>
              </a:ext>
            </a:extLst>
          </p:cNvPr>
          <p:cNvSpPr txBox="1"/>
          <p:nvPr/>
        </p:nvSpPr>
        <p:spPr>
          <a:xfrm>
            <a:off x="10515600" y="5594551"/>
            <a:ext cx="1115568" cy="265176"/>
          </a:xfrm>
          <a:prstGeom prst="rect">
            <a:avLst/>
          </a:prstGeom>
          <a:noFill/>
        </p:spPr>
        <p:txBody>
          <a:bodyPr wrap="square" lIns="0" tIns="0" rIns="0" bIns="0" anchor="ctr">
            <a:noAutofit/>
          </a:bodyPr>
          <a:lstStyle/>
          <a:p>
            <a:pPr algn="l">
              <a:lnSpc>
                <a:spcPct val="95000"/>
              </a:lnSpc>
            </a:pPr>
            <a:r>
              <a:rPr sz="900" b="1" dirty="0" err="1">
                <a:solidFill>
                  <a:srgbClr val="555555"/>
                </a:solidFill>
                <a:latin typeface="+mj-ea"/>
                <a:ea typeface="+mj-ea"/>
              </a:rPr>
              <a:t>공개</a:t>
            </a:r>
            <a:r>
              <a:rPr sz="900" b="1" dirty="0">
                <a:solidFill>
                  <a:srgbClr val="555555"/>
                </a:solidFill>
                <a:latin typeface="+mj-ea"/>
                <a:ea typeface="+mj-ea"/>
              </a:rPr>
              <a:t> </a:t>
            </a:r>
            <a:r>
              <a:rPr sz="900" b="1" dirty="0" err="1">
                <a:solidFill>
                  <a:srgbClr val="555555"/>
                </a:solidFill>
                <a:latin typeface="+mj-ea"/>
                <a:ea typeface="+mj-ea"/>
              </a:rPr>
              <a:t>추정치</a:t>
            </a:r>
            <a:r>
              <a:rPr sz="900" b="1" dirty="0">
                <a:solidFill>
                  <a:srgbClr val="555555"/>
                </a:solidFill>
                <a:latin typeface="+mj-ea"/>
                <a:ea typeface="+mj-ea"/>
              </a:rPr>
              <a:t> </a:t>
            </a:r>
            <a:r>
              <a:rPr sz="900" b="1" dirty="0" err="1">
                <a:solidFill>
                  <a:srgbClr val="555555"/>
                </a:solidFill>
                <a:latin typeface="+mj-ea"/>
                <a:ea typeface="+mj-ea"/>
              </a:rPr>
              <a:t>부재</a:t>
            </a:r>
            <a:endParaRPr sz="900" b="1" dirty="0">
              <a:solidFill>
                <a:srgbClr val="555555"/>
              </a:solidFill>
              <a:latin typeface="+mj-ea"/>
              <a:ea typeface="+mj-ea"/>
            </a:endParaRPr>
          </a:p>
          <a:p>
            <a:pPr algn="l">
              <a:lnSpc>
                <a:spcPct val="95000"/>
              </a:lnSpc>
            </a:pPr>
            <a:r>
              <a:rPr sz="750" b="0" dirty="0" err="1">
                <a:solidFill>
                  <a:srgbClr val="555555"/>
                </a:solidFill>
                <a:latin typeface="+mj-ea"/>
                <a:ea typeface="+mj-ea"/>
              </a:rPr>
              <a:t>초기</a:t>
            </a:r>
            <a:r>
              <a:rPr sz="750" b="0" dirty="0">
                <a:solidFill>
                  <a:srgbClr val="555555"/>
                </a:solidFill>
                <a:latin typeface="+mj-ea"/>
                <a:ea typeface="+mj-ea"/>
              </a:rPr>
              <a:t> </a:t>
            </a:r>
            <a:r>
              <a:rPr sz="750" b="0" dirty="0" err="1">
                <a:solidFill>
                  <a:srgbClr val="555555"/>
                </a:solidFill>
                <a:latin typeface="+mj-ea"/>
                <a:ea typeface="+mj-ea"/>
              </a:rPr>
              <a:t>시장</a:t>
            </a:r>
            <a:endParaRPr sz="750" b="0" dirty="0">
              <a:solidFill>
                <a:srgbClr val="555555"/>
              </a:solidFill>
              <a:latin typeface="+mj-ea"/>
              <a:ea typeface="+mj-ea"/>
            </a:endParaRPr>
          </a:p>
        </p:txBody>
      </p:sp>
      <p:sp>
        <p:nvSpPr>
          <p:cNvPr id="289" name="TextBox 288">
            <a:extLst>
              <a:ext uri="{FF2B5EF4-FFF2-40B4-BE49-F238E27FC236}">
                <a16:creationId xmlns:a16="http://schemas.microsoft.com/office/drawing/2014/main" id="{D1DFF20F-D994-4612-A468-25132F6A7713}"/>
              </a:ext>
            </a:extLst>
          </p:cNvPr>
          <p:cNvSpPr txBox="1"/>
          <p:nvPr/>
        </p:nvSpPr>
        <p:spPr>
          <a:xfrm>
            <a:off x="9281160" y="5603695"/>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0" name="Segment chip">
            <a:extLst>
              <a:ext uri="{FF2B5EF4-FFF2-40B4-BE49-F238E27FC236}">
                <a16:creationId xmlns:a16="http://schemas.microsoft.com/office/drawing/2014/main" id="{8D340E3D-0023-495B-A71C-3D2B423C4BFF}"/>
              </a:ext>
            </a:extLst>
          </p:cNvPr>
          <p:cNvSpPr/>
          <p:nvPr/>
        </p:nvSpPr>
        <p:spPr>
          <a:xfrm>
            <a:off x="6492240" y="5914592"/>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HBF</a:t>
            </a:r>
          </a:p>
        </p:txBody>
      </p:sp>
      <p:sp>
        <p:nvSpPr>
          <p:cNvPr id="291" name="TextBox 290">
            <a:extLst>
              <a:ext uri="{FF2B5EF4-FFF2-40B4-BE49-F238E27FC236}">
                <a16:creationId xmlns:a16="http://schemas.microsoft.com/office/drawing/2014/main" id="{B7C44A1C-DA37-4FAD-AC39-BDE1B9730229}"/>
              </a:ext>
            </a:extLst>
          </p:cNvPr>
          <p:cNvSpPr txBox="1"/>
          <p:nvPr/>
        </p:nvSpPr>
        <p:spPr>
          <a:xfrm>
            <a:off x="7818120" y="5914592"/>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HBM급</a:t>
            </a:r>
            <a:r>
              <a:rPr sz="850" b="0" dirty="0">
                <a:solidFill>
                  <a:srgbClr val="222222"/>
                </a:solidFill>
                <a:latin typeface="+mj-ea"/>
                <a:ea typeface="+mj-ea"/>
              </a:rPr>
              <a:t> </a:t>
            </a:r>
            <a:r>
              <a:rPr lang="ko-KR" altLang="en-US" sz="850" dirty="0">
                <a:solidFill>
                  <a:srgbClr val="222222"/>
                </a:solidFill>
                <a:latin typeface="+mj-ea"/>
                <a:ea typeface="+mj-ea"/>
              </a:rPr>
              <a:t>읽기</a:t>
            </a:r>
            <a:r>
              <a:rPr sz="850" b="0" dirty="0">
                <a:solidFill>
                  <a:srgbClr val="222222"/>
                </a:solidFill>
                <a:latin typeface="+mj-ea"/>
                <a:ea typeface="+mj-ea"/>
              </a:rPr>
              <a:t> BW</a:t>
            </a:r>
            <a:r>
              <a:rPr lang="en-US" sz="850" b="0" dirty="0">
                <a:solidFill>
                  <a:srgbClr val="222222"/>
                </a:solidFill>
                <a:latin typeface="+mj-ea"/>
                <a:ea typeface="+mj-ea"/>
              </a:rPr>
              <a:t> + </a:t>
            </a:r>
            <a:r>
              <a:rPr lang="ko-KR" altLang="en-US" sz="850" b="0" dirty="0">
                <a:solidFill>
                  <a:srgbClr val="222222"/>
                </a:solidFill>
                <a:latin typeface="+mj-ea"/>
                <a:ea typeface="+mj-ea"/>
              </a:rPr>
              <a:t>대</a:t>
            </a:r>
            <a:r>
              <a:rPr sz="850" b="0" dirty="0" err="1">
                <a:solidFill>
                  <a:srgbClr val="222222"/>
                </a:solidFill>
                <a:latin typeface="+mj-ea"/>
                <a:ea typeface="+mj-ea"/>
              </a:rPr>
              <a:t>용량</a:t>
            </a:r>
            <a:r>
              <a:rPr sz="850" b="0" dirty="0">
                <a:solidFill>
                  <a:srgbClr val="222222"/>
                </a:solidFill>
                <a:latin typeface="+mj-ea"/>
                <a:ea typeface="+mj-ea"/>
              </a:rPr>
              <a:t> </a:t>
            </a:r>
          </a:p>
        </p:txBody>
      </p:sp>
      <p:sp>
        <p:nvSpPr>
          <p:cNvPr id="292" name="TextBox 291">
            <a:extLst>
              <a:ext uri="{FF2B5EF4-FFF2-40B4-BE49-F238E27FC236}">
                <a16:creationId xmlns:a16="http://schemas.microsoft.com/office/drawing/2014/main" id="{B50A0650-1D9B-4BE5-9F2A-6FCFC51C43E5}"/>
              </a:ext>
            </a:extLst>
          </p:cNvPr>
          <p:cNvSpPr txBox="1"/>
          <p:nvPr/>
        </p:nvSpPr>
        <p:spPr>
          <a:xfrm>
            <a:off x="10515600" y="5905448"/>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93" name="TextBox 292">
            <a:extLst>
              <a:ext uri="{FF2B5EF4-FFF2-40B4-BE49-F238E27FC236}">
                <a16:creationId xmlns:a16="http://schemas.microsoft.com/office/drawing/2014/main" id="{EF822EB5-4849-4978-829A-149CBDB0DDEA}"/>
              </a:ext>
            </a:extLst>
          </p:cNvPr>
          <p:cNvSpPr txBox="1"/>
          <p:nvPr/>
        </p:nvSpPr>
        <p:spPr>
          <a:xfrm>
            <a:off x="9281160" y="5914592"/>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4" name="Text 99">
            <a:extLst>
              <a:ext uri="{FF2B5EF4-FFF2-40B4-BE49-F238E27FC236}">
                <a16:creationId xmlns:a16="http://schemas.microsoft.com/office/drawing/2014/main" id="{6BC63208-ADEC-4F19-B11C-A90016756407}"/>
              </a:ext>
            </a:extLst>
          </p:cNvPr>
          <p:cNvSpPr/>
          <p:nvPr/>
        </p:nvSpPr>
        <p:spPr>
          <a:xfrm>
            <a:off x="6130551" y="6528274"/>
            <a:ext cx="5862667" cy="454947"/>
          </a:xfrm>
          <a:prstGeom prst="rect">
            <a:avLst/>
          </a:prstGeom>
          <a:noFill/>
          <a:ln/>
        </p:spPr>
        <p:txBody>
          <a:bodyPr wrap="square" lIns="0" tIns="0" rIns="0" bIns="0" rtlCol="0" anchor="t">
            <a:noAutofit/>
          </a:bodyPr>
          <a:lstStyle/>
          <a:p>
            <a:pPr marL="0" indent="0" algn="l">
              <a:lnSpc>
                <a:spcPct val="125000"/>
              </a:lnSpc>
              <a:buNone/>
            </a:pPr>
            <a:r>
              <a:rPr lang="en-US" sz="600" dirty="0">
                <a:solidFill>
                  <a:srgbClr val="555555"/>
                </a:solidFill>
                <a:latin typeface="Noto Sans KR" pitchFamily="34" charset="0"/>
                <a:ea typeface="Noto Sans KR" pitchFamily="34" charset="-122"/>
                <a:cs typeface="Noto Sans KR" pitchFamily="34" charset="-120"/>
              </a:rPr>
              <a:t> [4] Micron(HBM TAM $16B ’24 · $35B ’25 · ≈$100B ’28E) [5] TrendForce(범용 DRAM 계약가 QoQ 전망: 1Q26 +90~95%, 2Q26 +58~63%, 3Q26E +13~18%, 4Q26E +10~15%; 누적 ≈4.0×는 구간 중앙값 곱) [6] SK hynix CES’26·Samsung OCP’26, Mordor Intelligence(CXL), Mobility Foresights(cHBM) [7] arXiv:2610.08378·2609.25782 [8] DRAMeXchange·TrendForce(DDR4 8Gb). 시장규모는 기관별 정의·범위가 달라 직접 비교 불가</a:t>
            </a:r>
            <a:endParaRPr lang="en-US" sz="600" dirty="0"/>
          </a:p>
        </p:txBody>
      </p:sp>
      <p:grpSp>
        <p:nvGrpSpPr>
          <p:cNvPr id="11" name="그룹 10"/>
          <p:cNvGrpSpPr/>
          <p:nvPr/>
        </p:nvGrpSpPr>
        <p:grpSpPr>
          <a:xfrm>
            <a:off x="280574" y="1897028"/>
            <a:ext cx="2869351" cy="2065737"/>
            <a:chOff x="331767" y="1927046"/>
            <a:chExt cx="2909257" cy="2096528"/>
          </a:xfrm>
        </p:grpSpPr>
        <p:grpSp>
          <p:nvGrpSpPr>
            <p:cNvPr id="132" name="그룹 131"/>
            <p:cNvGrpSpPr/>
            <p:nvPr/>
          </p:nvGrpSpPr>
          <p:grpSpPr>
            <a:xfrm>
              <a:off x="331767" y="1927046"/>
              <a:ext cx="2909257" cy="2096528"/>
              <a:chOff x="410179" y="1078992"/>
              <a:chExt cx="5669316" cy="4494093"/>
            </a:xfrm>
          </p:grpSpPr>
          <p:sp>
            <p:nvSpPr>
              <p:cNvPr id="133" name="L-region-over-B300"/>
              <p:cNvSpPr/>
              <p:nvPr/>
            </p:nvSpPr>
            <p:spPr>
              <a:xfrm>
                <a:off x="1234440" y="1188720"/>
                <a:ext cx="4572000" cy="1049731"/>
              </a:xfrm>
              <a:prstGeom prst="rect">
                <a:avLst/>
              </a:prstGeom>
              <a:solidFill>
                <a:srgbClr val="F6D9D6">
                  <a:alpha val="70000"/>
                </a:srgbClr>
              </a:solidFill>
              <a:ln/>
            </p:spPr>
          </p:sp>
          <p:sp>
            <p:nvSpPr>
              <p:cNvPr id="164" name="L-tick-y-0"/>
              <p:cNvSpPr txBox="1"/>
              <p:nvPr/>
            </p:nvSpPr>
            <p:spPr>
              <a:xfrm>
                <a:off x="731520" y="482803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0</a:t>
                </a:r>
                <a:endParaRPr lang="en-US" sz="600" dirty="0"/>
              </a:p>
            </p:txBody>
          </p:sp>
          <p:sp>
            <p:nvSpPr>
              <p:cNvPr id="165" name="L-grid-y-50"/>
              <p:cNvSpPr/>
              <p:nvPr/>
            </p:nvSpPr>
            <p:spPr>
              <a:xfrm>
                <a:off x="1234440" y="4469130"/>
                <a:ext cx="4572000" cy="0"/>
              </a:xfrm>
              <a:prstGeom prst="line">
                <a:avLst/>
              </a:prstGeom>
              <a:noFill/>
              <a:ln w="9525">
                <a:solidFill>
                  <a:srgbClr val="E3E3E3"/>
                </a:solidFill>
                <a:prstDash val="solid"/>
              </a:ln>
            </p:spPr>
          </p:sp>
          <p:sp>
            <p:nvSpPr>
              <p:cNvPr id="166" name="L-tick-y-50"/>
              <p:cNvSpPr txBox="1"/>
              <p:nvPr/>
            </p:nvSpPr>
            <p:spPr>
              <a:xfrm>
                <a:off x="731520" y="435940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50</a:t>
                </a:r>
                <a:endParaRPr lang="en-US" sz="600" dirty="0"/>
              </a:p>
            </p:txBody>
          </p:sp>
          <p:sp>
            <p:nvSpPr>
              <p:cNvPr id="168" name="L-grid-y-100"/>
              <p:cNvSpPr/>
              <p:nvPr/>
            </p:nvSpPr>
            <p:spPr>
              <a:xfrm>
                <a:off x="1234440" y="4000500"/>
                <a:ext cx="4572000" cy="0"/>
              </a:xfrm>
              <a:prstGeom prst="line">
                <a:avLst/>
              </a:prstGeom>
              <a:noFill/>
              <a:ln w="9525">
                <a:solidFill>
                  <a:srgbClr val="E3E3E3"/>
                </a:solidFill>
                <a:prstDash val="solid"/>
              </a:ln>
            </p:spPr>
          </p:sp>
          <p:sp>
            <p:nvSpPr>
              <p:cNvPr id="169" name="L-tick-y-100"/>
              <p:cNvSpPr txBox="1"/>
              <p:nvPr/>
            </p:nvSpPr>
            <p:spPr>
              <a:xfrm>
                <a:off x="731520" y="389077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100</a:t>
                </a:r>
                <a:endParaRPr lang="en-US" sz="600" dirty="0"/>
              </a:p>
            </p:txBody>
          </p:sp>
          <p:sp>
            <p:nvSpPr>
              <p:cNvPr id="170" name="L-grid-y-150"/>
              <p:cNvSpPr/>
              <p:nvPr/>
            </p:nvSpPr>
            <p:spPr>
              <a:xfrm>
                <a:off x="1234440" y="3531870"/>
                <a:ext cx="4572000" cy="0"/>
              </a:xfrm>
              <a:prstGeom prst="line">
                <a:avLst/>
              </a:prstGeom>
              <a:noFill/>
              <a:ln w="9525">
                <a:solidFill>
                  <a:srgbClr val="E3E3E3"/>
                </a:solidFill>
                <a:prstDash val="solid"/>
              </a:ln>
            </p:spPr>
          </p:sp>
          <p:sp>
            <p:nvSpPr>
              <p:cNvPr id="171" name="L-tick-y-150"/>
              <p:cNvSpPr txBox="1"/>
              <p:nvPr/>
            </p:nvSpPr>
            <p:spPr>
              <a:xfrm>
                <a:off x="731520" y="342214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150</a:t>
                </a:r>
                <a:endParaRPr lang="en-US" sz="600" dirty="0"/>
              </a:p>
            </p:txBody>
          </p:sp>
          <p:sp>
            <p:nvSpPr>
              <p:cNvPr id="172" name="L-grid-y-200"/>
              <p:cNvSpPr/>
              <p:nvPr/>
            </p:nvSpPr>
            <p:spPr>
              <a:xfrm>
                <a:off x="1234440" y="3063240"/>
                <a:ext cx="4572000" cy="0"/>
              </a:xfrm>
              <a:prstGeom prst="line">
                <a:avLst/>
              </a:prstGeom>
              <a:noFill/>
              <a:ln w="9525">
                <a:solidFill>
                  <a:srgbClr val="E3E3E3"/>
                </a:solidFill>
                <a:prstDash val="solid"/>
              </a:ln>
            </p:spPr>
          </p:sp>
          <p:sp>
            <p:nvSpPr>
              <p:cNvPr id="173" name="L-tick-y-200"/>
              <p:cNvSpPr txBox="1"/>
              <p:nvPr/>
            </p:nvSpPr>
            <p:spPr>
              <a:xfrm>
                <a:off x="731520" y="295351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200</a:t>
                </a:r>
                <a:endParaRPr lang="en-US" sz="600" dirty="0"/>
              </a:p>
            </p:txBody>
          </p:sp>
          <p:sp>
            <p:nvSpPr>
              <p:cNvPr id="174" name="L-grid-y-250"/>
              <p:cNvSpPr/>
              <p:nvPr/>
            </p:nvSpPr>
            <p:spPr>
              <a:xfrm>
                <a:off x="1234440" y="2594610"/>
                <a:ext cx="4572000" cy="0"/>
              </a:xfrm>
              <a:prstGeom prst="line">
                <a:avLst/>
              </a:prstGeom>
              <a:noFill/>
              <a:ln w="9525">
                <a:solidFill>
                  <a:srgbClr val="E3E3E3"/>
                </a:solidFill>
                <a:prstDash val="solid"/>
              </a:ln>
            </p:spPr>
          </p:sp>
          <p:sp>
            <p:nvSpPr>
              <p:cNvPr id="175" name="L-tick-y-250"/>
              <p:cNvSpPr txBox="1"/>
              <p:nvPr/>
            </p:nvSpPr>
            <p:spPr>
              <a:xfrm>
                <a:off x="731520" y="248488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250</a:t>
                </a:r>
                <a:endParaRPr lang="en-US" sz="600" dirty="0"/>
              </a:p>
            </p:txBody>
          </p:sp>
          <p:sp>
            <p:nvSpPr>
              <p:cNvPr id="176" name="L-grid-y-300"/>
              <p:cNvSpPr/>
              <p:nvPr/>
            </p:nvSpPr>
            <p:spPr>
              <a:xfrm>
                <a:off x="1234440" y="2125980"/>
                <a:ext cx="4572000" cy="0"/>
              </a:xfrm>
              <a:prstGeom prst="line">
                <a:avLst/>
              </a:prstGeom>
              <a:noFill/>
              <a:ln w="9525">
                <a:solidFill>
                  <a:srgbClr val="E3E3E3"/>
                </a:solidFill>
                <a:prstDash val="solid"/>
              </a:ln>
            </p:spPr>
          </p:sp>
          <p:sp>
            <p:nvSpPr>
              <p:cNvPr id="177" name="L-tick-y-300"/>
              <p:cNvSpPr txBox="1"/>
              <p:nvPr/>
            </p:nvSpPr>
            <p:spPr>
              <a:xfrm>
                <a:off x="731520" y="201625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300</a:t>
                </a:r>
                <a:endParaRPr lang="en-US" sz="600" dirty="0"/>
              </a:p>
            </p:txBody>
          </p:sp>
          <p:sp>
            <p:nvSpPr>
              <p:cNvPr id="178" name="L-grid-y-350"/>
              <p:cNvSpPr/>
              <p:nvPr/>
            </p:nvSpPr>
            <p:spPr>
              <a:xfrm>
                <a:off x="1234440" y="1657350"/>
                <a:ext cx="4572000" cy="0"/>
              </a:xfrm>
              <a:prstGeom prst="line">
                <a:avLst/>
              </a:prstGeom>
              <a:noFill/>
              <a:ln w="9525">
                <a:solidFill>
                  <a:srgbClr val="E3E3E3"/>
                </a:solidFill>
                <a:prstDash val="solid"/>
              </a:ln>
            </p:spPr>
          </p:sp>
          <p:sp>
            <p:nvSpPr>
              <p:cNvPr id="179" name="L-tick-y-350"/>
              <p:cNvSpPr txBox="1"/>
              <p:nvPr/>
            </p:nvSpPr>
            <p:spPr>
              <a:xfrm>
                <a:off x="731520" y="154762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350</a:t>
                </a:r>
                <a:endParaRPr lang="en-US" sz="600" dirty="0"/>
              </a:p>
            </p:txBody>
          </p:sp>
          <p:sp>
            <p:nvSpPr>
              <p:cNvPr id="180" name="L-tick-y-400"/>
              <p:cNvSpPr txBox="1"/>
              <p:nvPr/>
            </p:nvSpPr>
            <p:spPr>
              <a:xfrm>
                <a:off x="731520" y="107899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400</a:t>
                </a:r>
                <a:endParaRPr lang="en-US" sz="600" dirty="0"/>
              </a:p>
            </p:txBody>
          </p:sp>
          <p:sp>
            <p:nvSpPr>
              <p:cNvPr id="181" name="L-tick-x-10K"/>
              <p:cNvSpPr txBox="1"/>
              <p:nvPr/>
            </p:nvSpPr>
            <p:spPr>
              <a:xfrm>
                <a:off x="868680" y="4983480"/>
                <a:ext cx="731520" cy="219456"/>
              </a:xfrm>
              <a:prstGeom prst="rect">
                <a:avLst/>
              </a:prstGeom>
              <a:noFill/>
              <a:ln/>
            </p:spPr>
            <p:txBody>
              <a:bodyPr wrap="square" lIns="0" tIns="0" rIns="0" bIns="0" rtlCol="0" anchor="ctr"/>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10K</a:t>
                </a:r>
                <a:endParaRPr lang="en-US" sz="600" dirty="0"/>
              </a:p>
            </p:txBody>
          </p:sp>
          <p:sp>
            <p:nvSpPr>
              <p:cNvPr id="182" name="L-grid-x-100K"/>
              <p:cNvSpPr/>
              <p:nvPr/>
            </p:nvSpPr>
            <p:spPr>
              <a:xfrm>
                <a:off x="3474087" y="1188720"/>
                <a:ext cx="0" cy="3749040"/>
              </a:xfrm>
              <a:prstGeom prst="line">
                <a:avLst/>
              </a:prstGeom>
              <a:noFill/>
              <a:ln w="9525">
                <a:solidFill>
                  <a:srgbClr val="E3E3E3"/>
                </a:solidFill>
                <a:prstDash val="solid"/>
              </a:ln>
            </p:spPr>
          </p:sp>
          <p:sp>
            <p:nvSpPr>
              <p:cNvPr id="183" name="L-tick-x-100K"/>
              <p:cNvSpPr txBox="1"/>
              <p:nvPr/>
            </p:nvSpPr>
            <p:spPr>
              <a:xfrm>
                <a:off x="3108327" y="4983480"/>
                <a:ext cx="731520" cy="219456"/>
              </a:xfrm>
              <a:prstGeom prst="rect">
                <a:avLst/>
              </a:prstGeom>
              <a:noFill/>
              <a:ln/>
            </p:spPr>
            <p:txBody>
              <a:bodyPr wrap="square" lIns="0" tIns="0" rIns="0" bIns="0" rtlCol="0" anchor="ctr"/>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100K</a:t>
                </a:r>
                <a:endParaRPr lang="en-US" sz="600" dirty="0"/>
              </a:p>
            </p:txBody>
          </p:sp>
          <p:sp>
            <p:nvSpPr>
              <p:cNvPr id="184" name="L-grid-x-1M"/>
              <p:cNvSpPr/>
              <p:nvPr/>
            </p:nvSpPr>
            <p:spPr>
              <a:xfrm>
                <a:off x="5713735" y="1188720"/>
                <a:ext cx="0" cy="3749040"/>
              </a:xfrm>
              <a:prstGeom prst="line">
                <a:avLst/>
              </a:prstGeom>
              <a:noFill/>
              <a:ln w="9525">
                <a:solidFill>
                  <a:srgbClr val="E3E3E3"/>
                </a:solidFill>
                <a:prstDash val="solid"/>
              </a:ln>
            </p:spPr>
          </p:sp>
          <p:sp>
            <p:nvSpPr>
              <p:cNvPr id="201" name="L-tick-x-1M"/>
              <p:cNvSpPr txBox="1"/>
              <p:nvPr/>
            </p:nvSpPr>
            <p:spPr>
              <a:xfrm>
                <a:off x="5347975" y="4983480"/>
                <a:ext cx="731520" cy="219456"/>
              </a:xfrm>
              <a:prstGeom prst="rect">
                <a:avLst/>
              </a:prstGeom>
              <a:noFill/>
              <a:ln/>
            </p:spPr>
            <p:txBody>
              <a:bodyPr wrap="square" lIns="0" tIns="0" rIns="0" bIns="0" rtlCol="0" anchor="ctr"/>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1M</a:t>
                </a:r>
                <a:endParaRPr lang="en-US" sz="600" dirty="0"/>
              </a:p>
            </p:txBody>
          </p:sp>
          <p:sp>
            <p:nvSpPr>
              <p:cNvPr id="204" name="L-axis-title-x"/>
              <p:cNvSpPr txBox="1"/>
              <p:nvPr/>
            </p:nvSpPr>
            <p:spPr>
              <a:xfrm>
                <a:off x="1234439" y="5335342"/>
                <a:ext cx="4572000" cy="237743"/>
              </a:xfrm>
              <a:prstGeom prst="rect">
                <a:avLst/>
              </a:prstGeom>
              <a:noFill/>
              <a:ln/>
            </p:spPr>
            <p:txBody>
              <a:bodyPr wrap="square" lIns="0" tIns="0" rIns="0" bIns="0" rtlCol="0" anchor="ctr"/>
              <a:lstStyle/>
              <a:p>
                <a:pPr marL="0" indent="0" algn="ctr">
                  <a:buNone/>
                </a:pPr>
                <a:r>
                  <a:rPr lang="en-US" sz="800" b="1" dirty="0" err="1">
                    <a:solidFill>
                      <a:srgbClr val="333333"/>
                    </a:solidFill>
                    <a:latin typeface="Malgun Gothic" pitchFamily="34" charset="0"/>
                    <a:ea typeface="Malgun Gothic" pitchFamily="34" charset="-122"/>
                    <a:cs typeface="Malgun Gothic" pitchFamily="34" charset="-120"/>
                  </a:rPr>
                  <a:t>누적</a:t>
                </a:r>
                <a:r>
                  <a:rPr lang="en-US" sz="800" b="1" dirty="0">
                    <a:solidFill>
                      <a:srgbClr val="333333"/>
                    </a:solidFill>
                    <a:latin typeface="Malgun Gothic" pitchFamily="34" charset="0"/>
                    <a:ea typeface="Malgun Gothic" pitchFamily="34" charset="-122"/>
                    <a:cs typeface="Malgun Gothic" pitchFamily="34" charset="-120"/>
                  </a:rPr>
                  <a:t> Context </a:t>
                </a:r>
                <a:r>
                  <a:rPr lang="en-US" sz="800" b="1" dirty="0" err="1">
                    <a:solidFill>
                      <a:srgbClr val="333333"/>
                    </a:solidFill>
                    <a:latin typeface="Malgun Gothic" pitchFamily="34" charset="0"/>
                    <a:ea typeface="Malgun Gothic" pitchFamily="34" charset="-122"/>
                    <a:cs typeface="Malgun Gothic" pitchFamily="34" charset="-120"/>
                  </a:rPr>
                  <a:t>길이</a:t>
                </a:r>
                <a:r>
                  <a:rPr lang="en-US" sz="800" b="1" dirty="0">
                    <a:solidFill>
                      <a:srgbClr val="333333"/>
                    </a:solidFill>
                    <a:latin typeface="Malgun Gothic" pitchFamily="34" charset="0"/>
                    <a:ea typeface="Malgun Gothic" pitchFamily="34" charset="-122"/>
                    <a:cs typeface="Malgun Gothic" pitchFamily="34" charset="-120"/>
                  </a:rPr>
                  <a:t> (log)</a:t>
                </a:r>
                <a:endParaRPr lang="en-US" sz="800" b="1" dirty="0"/>
              </a:p>
            </p:txBody>
          </p:sp>
          <p:sp>
            <p:nvSpPr>
              <p:cNvPr id="205" name="L-axis-title-y"/>
              <p:cNvSpPr txBox="1"/>
              <p:nvPr/>
            </p:nvSpPr>
            <p:spPr>
              <a:xfrm rot="16200000">
                <a:off x="-536521" y="2645198"/>
                <a:ext cx="2358153" cy="464753"/>
              </a:xfrm>
              <a:prstGeom prst="rect">
                <a:avLst/>
              </a:prstGeom>
              <a:noFill/>
              <a:ln/>
            </p:spPr>
            <p:txBody>
              <a:bodyPr wrap="square" lIns="0" tIns="0" rIns="0" bIns="0" rtlCol="0" anchor="ctr"/>
              <a:lstStyle/>
              <a:p>
                <a:pPr marL="0" indent="0" algn="ctr">
                  <a:buNone/>
                </a:pPr>
                <a:r>
                  <a:rPr lang="en-US" sz="800" b="1" dirty="0">
                    <a:solidFill>
                      <a:srgbClr val="333333"/>
                    </a:solidFill>
                    <a:latin typeface="Malgun Gothic" pitchFamily="34" charset="0"/>
                    <a:ea typeface="Malgun Gothic" pitchFamily="34" charset="-122"/>
                    <a:cs typeface="Malgun Gothic" pitchFamily="34" charset="-120"/>
                  </a:rPr>
                  <a:t>KV cache 크기 (GB)</a:t>
                </a:r>
                <a:endParaRPr lang="en-US" sz="800" b="1" dirty="0"/>
              </a:p>
            </p:txBody>
          </p:sp>
          <p:sp>
            <p:nvSpPr>
              <p:cNvPr id="206" name="L-hbm-line-H100"/>
              <p:cNvSpPr/>
              <p:nvPr/>
            </p:nvSpPr>
            <p:spPr>
              <a:xfrm>
                <a:off x="1234440" y="4187952"/>
                <a:ext cx="4572000" cy="0"/>
              </a:xfrm>
              <a:prstGeom prst="line">
                <a:avLst/>
              </a:prstGeom>
              <a:noFill/>
              <a:ln w="15875">
                <a:solidFill>
                  <a:srgbClr val="C0392B">
                    <a:alpha val="55000"/>
                  </a:srgbClr>
                </a:solidFill>
                <a:prstDash val="dash"/>
              </a:ln>
            </p:spPr>
          </p:sp>
          <p:sp>
            <p:nvSpPr>
              <p:cNvPr id="207" name="L-hbm-line-B200"/>
              <p:cNvSpPr/>
              <p:nvPr/>
            </p:nvSpPr>
            <p:spPr>
              <a:xfrm>
                <a:off x="1234440" y="3138221"/>
                <a:ext cx="4572000" cy="0"/>
              </a:xfrm>
              <a:prstGeom prst="line">
                <a:avLst/>
              </a:prstGeom>
              <a:noFill/>
              <a:ln w="15875">
                <a:solidFill>
                  <a:srgbClr val="C0392B">
                    <a:alpha val="75000"/>
                  </a:srgbClr>
                </a:solidFill>
                <a:prstDash val="dash"/>
              </a:ln>
            </p:spPr>
          </p:sp>
          <p:sp>
            <p:nvSpPr>
              <p:cNvPr id="208" name="L-hbm-line-B300"/>
              <p:cNvSpPr/>
              <p:nvPr/>
            </p:nvSpPr>
            <p:spPr>
              <a:xfrm>
                <a:off x="1234440" y="2238451"/>
                <a:ext cx="4572000" cy="0"/>
              </a:xfrm>
              <a:prstGeom prst="line">
                <a:avLst/>
              </a:prstGeom>
              <a:noFill/>
              <a:ln w="15875">
                <a:solidFill>
                  <a:srgbClr val="C0392B">
                    <a:alpha val="95000"/>
                  </a:srgbClr>
                </a:solidFill>
                <a:prstDash val="dash"/>
              </a:ln>
            </p:spPr>
          </p:sp>
          <p:sp>
            <p:nvSpPr>
              <p:cNvPr id="209" name="L-kv-curve"/>
              <p:cNvSpPr/>
              <p:nvPr/>
            </p:nvSpPr>
            <p:spPr>
              <a:xfrm>
                <a:off x="1234440" y="1844802"/>
                <a:ext cx="4479295" cy="3062028"/>
              </a:xfrm>
              <a:custGeom>
                <a:avLst/>
                <a:gdLst/>
                <a:ahLst/>
                <a:cxnLst/>
                <a:rect l="l" t="t" r="r" b="b"/>
                <a:pathLst>
                  <a:path w="4479295" h="3062028">
                    <a:moveTo>
                      <a:pt x="0" y="3062028"/>
                    </a:moveTo>
                    <a:lnTo>
                      <a:pt x="74655" y="3059561"/>
                    </a:lnTo>
                    <a:lnTo>
                      <a:pt x="149310" y="3056897"/>
                    </a:lnTo>
                    <a:lnTo>
                      <a:pt x="223965" y="3054020"/>
                    </a:lnTo>
                    <a:lnTo>
                      <a:pt x="298620" y="3050914"/>
                    </a:lnTo>
                    <a:lnTo>
                      <a:pt x="373275" y="3047560"/>
                    </a:lnTo>
                    <a:lnTo>
                      <a:pt x="447929" y="3043938"/>
                    </a:lnTo>
                    <a:lnTo>
                      <a:pt x="522584" y="3040027"/>
                    </a:lnTo>
                    <a:lnTo>
                      <a:pt x="597239" y="3035805"/>
                    </a:lnTo>
                    <a:lnTo>
                      <a:pt x="671894" y="3031245"/>
                    </a:lnTo>
                    <a:lnTo>
                      <a:pt x="746549" y="3026322"/>
                    </a:lnTo>
                    <a:lnTo>
                      <a:pt x="821204" y="3021006"/>
                    </a:lnTo>
                    <a:lnTo>
                      <a:pt x="895859" y="3015266"/>
                    </a:lnTo>
                    <a:lnTo>
                      <a:pt x="970514" y="3009069"/>
                    </a:lnTo>
                    <a:lnTo>
                      <a:pt x="1045169" y="3002376"/>
                    </a:lnTo>
                    <a:lnTo>
                      <a:pt x="1119824" y="2995150"/>
                    </a:lnTo>
                    <a:lnTo>
                      <a:pt x="1194479" y="2987347"/>
                    </a:lnTo>
                    <a:lnTo>
                      <a:pt x="1269134" y="2978922"/>
                    </a:lnTo>
                    <a:lnTo>
                      <a:pt x="1343788" y="2969825"/>
                    </a:lnTo>
                    <a:lnTo>
                      <a:pt x="1418443" y="2960002"/>
                    </a:lnTo>
                    <a:lnTo>
                      <a:pt x="1493098" y="2949396"/>
                    </a:lnTo>
                    <a:lnTo>
                      <a:pt x="1567753" y="2937943"/>
                    </a:lnTo>
                    <a:lnTo>
                      <a:pt x="1642408" y="2925577"/>
                    </a:lnTo>
                    <a:lnTo>
                      <a:pt x="1717063" y="2912224"/>
                    </a:lnTo>
                    <a:lnTo>
                      <a:pt x="1791718" y="2897806"/>
                    </a:lnTo>
                    <a:lnTo>
                      <a:pt x="1866373" y="2882237"/>
                    </a:lnTo>
                    <a:lnTo>
                      <a:pt x="1941028" y="2865427"/>
                    </a:lnTo>
                    <a:lnTo>
                      <a:pt x="2015683" y="2847276"/>
                    </a:lnTo>
                    <a:lnTo>
                      <a:pt x="2090338" y="2827676"/>
                    </a:lnTo>
                    <a:lnTo>
                      <a:pt x="2164993" y="2806513"/>
                    </a:lnTo>
                    <a:lnTo>
                      <a:pt x="2239647" y="2783662"/>
                    </a:lnTo>
                    <a:lnTo>
                      <a:pt x="2314302" y="2758988"/>
                    </a:lnTo>
                    <a:lnTo>
                      <a:pt x="2388957" y="2732346"/>
                    </a:lnTo>
                    <a:lnTo>
                      <a:pt x="2463612" y="2703578"/>
                    </a:lnTo>
                    <a:lnTo>
                      <a:pt x="2538267" y="2672515"/>
                    </a:lnTo>
                    <a:lnTo>
                      <a:pt x="2612922" y="2638974"/>
                    </a:lnTo>
                    <a:lnTo>
                      <a:pt x="2687577" y="2602757"/>
                    </a:lnTo>
                    <a:lnTo>
                      <a:pt x="2762232" y="2563651"/>
                    </a:lnTo>
                    <a:lnTo>
                      <a:pt x="2836887" y="2521426"/>
                    </a:lnTo>
                    <a:lnTo>
                      <a:pt x="2911542" y="2475832"/>
                    </a:lnTo>
                    <a:lnTo>
                      <a:pt x="2986197" y="2426600"/>
                    </a:lnTo>
                    <a:lnTo>
                      <a:pt x="3060852" y="2373442"/>
                    </a:lnTo>
                    <a:lnTo>
                      <a:pt x="3135506" y="2316042"/>
                    </a:lnTo>
                    <a:lnTo>
                      <a:pt x="3210161" y="2254063"/>
                    </a:lnTo>
                    <a:lnTo>
                      <a:pt x="3284816" y="2187141"/>
                    </a:lnTo>
                    <a:lnTo>
                      <a:pt x="3359471" y="2114879"/>
                    </a:lnTo>
                    <a:lnTo>
                      <a:pt x="3434126" y="2036852"/>
                    </a:lnTo>
                    <a:lnTo>
                      <a:pt x="3508781" y="1952601"/>
                    </a:lnTo>
                    <a:lnTo>
                      <a:pt x="3583436" y="1861629"/>
                    </a:lnTo>
                    <a:lnTo>
                      <a:pt x="3658091" y="1763400"/>
                    </a:lnTo>
                    <a:lnTo>
                      <a:pt x="3732746" y="1657334"/>
                    </a:lnTo>
                    <a:lnTo>
                      <a:pt x="3807401" y="1542807"/>
                    </a:lnTo>
                    <a:lnTo>
                      <a:pt x="3882056" y="1419143"/>
                    </a:lnTo>
                    <a:lnTo>
                      <a:pt x="3956711" y="1285615"/>
                    </a:lnTo>
                    <a:lnTo>
                      <a:pt x="4031365" y="1141433"/>
                    </a:lnTo>
                    <a:lnTo>
                      <a:pt x="4106020" y="985750"/>
                    </a:lnTo>
                    <a:lnTo>
                      <a:pt x="4180675" y="817647"/>
                    </a:lnTo>
                    <a:lnTo>
                      <a:pt x="4255330" y="636134"/>
                    </a:lnTo>
                    <a:lnTo>
                      <a:pt x="4329985" y="440141"/>
                    </a:lnTo>
                    <a:lnTo>
                      <a:pt x="4404640" y="228512"/>
                    </a:lnTo>
                    <a:lnTo>
                      <a:pt x="4479295" y="0"/>
                    </a:lnTo>
                  </a:path>
                </a:pathLst>
              </a:custGeom>
              <a:ln w="38100">
                <a:solidFill>
                  <a:srgbClr val="1F3B73"/>
                </a:solidFill>
                <a:prstDash val="solid"/>
              </a:ln>
            </p:spPr>
          </p:sp>
          <p:sp>
            <p:nvSpPr>
              <p:cNvPr id="241" name="L-label-chat"/>
              <p:cNvSpPr txBox="1"/>
              <p:nvPr/>
            </p:nvSpPr>
            <p:spPr>
              <a:xfrm>
                <a:off x="1443386" y="4513346"/>
                <a:ext cx="670504" cy="219789"/>
              </a:xfrm>
              <a:prstGeom prst="rect">
                <a:avLst/>
              </a:prstGeom>
              <a:noFill/>
              <a:ln/>
            </p:spPr>
            <p:txBody>
              <a:bodyPr wrap="square" lIns="0" tIns="0" rIns="0" bIns="0" rtlCol="0" anchor="ctr"/>
              <a:lstStyle/>
              <a:p>
                <a:pPr marL="0" indent="0" algn="l">
                  <a:buNone/>
                </a:pPr>
                <a:r>
                  <a:rPr lang="en-US" sz="700" b="1" dirty="0">
                    <a:solidFill>
                      <a:srgbClr val="2F6DB5"/>
                    </a:solidFill>
                    <a:latin typeface="Malgun Gothic" pitchFamily="34" charset="0"/>
                    <a:ea typeface="Malgun Gothic" pitchFamily="34" charset="-122"/>
                    <a:cs typeface="Malgun Gothic" pitchFamily="34" charset="-120"/>
                  </a:rPr>
                  <a:t>채팅 1×</a:t>
                </a:r>
                <a:endParaRPr lang="en-US" sz="700" dirty="0"/>
              </a:p>
            </p:txBody>
          </p:sp>
          <p:sp>
            <p:nvSpPr>
              <p:cNvPr id="242" name="L-label-agent"/>
              <p:cNvSpPr txBox="1"/>
              <p:nvPr/>
            </p:nvSpPr>
            <p:spPr>
              <a:xfrm>
                <a:off x="2369925" y="4396742"/>
                <a:ext cx="1053532" cy="177924"/>
              </a:xfrm>
              <a:prstGeom prst="rect">
                <a:avLst/>
              </a:prstGeom>
              <a:noFill/>
              <a:ln/>
            </p:spPr>
            <p:txBody>
              <a:bodyPr wrap="square" lIns="0" tIns="0" rIns="0" bIns="0" rtlCol="0" anchor="ctr"/>
              <a:lstStyle/>
              <a:p>
                <a:pPr marL="0" indent="0" algn="r">
                  <a:buNone/>
                </a:pPr>
                <a:r>
                  <a:rPr lang="en-US" sz="700" b="1" dirty="0" err="1">
                    <a:solidFill>
                      <a:srgbClr val="2F6DB5"/>
                    </a:solidFill>
                    <a:latin typeface="Malgun Gothic" pitchFamily="34" charset="0"/>
                    <a:ea typeface="Malgun Gothic" pitchFamily="34" charset="-122"/>
                    <a:cs typeface="Malgun Gothic" pitchFamily="34" charset="-120"/>
                  </a:rPr>
                  <a:t>에이전트</a:t>
                </a:r>
                <a:r>
                  <a:rPr lang="en-US" sz="700" b="1" dirty="0">
                    <a:solidFill>
                      <a:srgbClr val="2F6DB5"/>
                    </a:solidFill>
                    <a:latin typeface="Malgun Gothic" pitchFamily="34" charset="0"/>
                    <a:ea typeface="Malgun Gothic" pitchFamily="34" charset="-122"/>
                    <a:cs typeface="Malgun Gothic" pitchFamily="34" charset="-120"/>
                  </a:rPr>
                  <a:t> 4×</a:t>
                </a:r>
                <a:endParaRPr lang="en-US" sz="700" dirty="0"/>
              </a:p>
            </p:txBody>
          </p:sp>
          <p:sp>
            <p:nvSpPr>
              <p:cNvPr id="243" name="L-label-multi"/>
              <p:cNvSpPr txBox="1"/>
              <p:nvPr/>
            </p:nvSpPr>
            <p:spPr>
              <a:xfrm>
                <a:off x="2747795" y="3785149"/>
                <a:ext cx="1737360" cy="228600"/>
              </a:xfrm>
              <a:prstGeom prst="rect">
                <a:avLst/>
              </a:prstGeom>
              <a:noFill/>
              <a:ln/>
            </p:spPr>
            <p:txBody>
              <a:bodyPr wrap="square" lIns="0" tIns="0" rIns="0" bIns="0" rtlCol="0" anchor="ctr"/>
              <a:lstStyle/>
              <a:p>
                <a:pPr marL="0" indent="0" algn="r">
                  <a:buNone/>
                </a:pPr>
                <a:r>
                  <a:rPr lang="en-US" sz="700" b="1" dirty="0" err="1">
                    <a:solidFill>
                      <a:srgbClr val="2F6DB5"/>
                    </a:solidFill>
                    <a:latin typeface="Malgun Gothic" pitchFamily="34" charset="0"/>
                    <a:ea typeface="Malgun Gothic" pitchFamily="34" charset="-122"/>
                    <a:cs typeface="Malgun Gothic" pitchFamily="34" charset="-120"/>
                  </a:rPr>
                  <a:t>멀티</a:t>
                </a:r>
                <a:r>
                  <a:rPr lang="en-US" sz="700" b="1" dirty="0">
                    <a:solidFill>
                      <a:srgbClr val="2F6DB5"/>
                    </a:solidFill>
                    <a:latin typeface="Malgun Gothic" pitchFamily="34" charset="0"/>
                    <a:ea typeface="Malgun Gothic" pitchFamily="34" charset="-122"/>
                    <a:cs typeface="Malgun Gothic" pitchFamily="34" charset="-120"/>
                  </a:rPr>
                  <a:t> </a:t>
                </a:r>
                <a:r>
                  <a:rPr lang="en-US" sz="700" b="1" dirty="0" err="1">
                    <a:solidFill>
                      <a:srgbClr val="2F6DB5"/>
                    </a:solidFill>
                    <a:latin typeface="Malgun Gothic" pitchFamily="34" charset="0"/>
                    <a:ea typeface="Malgun Gothic" pitchFamily="34" charset="-122"/>
                    <a:cs typeface="Malgun Gothic" pitchFamily="34" charset="-120"/>
                  </a:rPr>
                  <a:t>에이전트</a:t>
                </a:r>
                <a:r>
                  <a:rPr lang="en-US" sz="700" b="1" dirty="0">
                    <a:solidFill>
                      <a:srgbClr val="2F6DB5"/>
                    </a:solidFill>
                    <a:latin typeface="Malgun Gothic" pitchFamily="34" charset="0"/>
                    <a:ea typeface="Malgun Gothic" pitchFamily="34" charset="-122"/>
                    <a:cs typeface="Malgun Gothic" pitchFamily="34" charset="-120"/>
                  </a:rPr>
                  <a:t> 15×</a:t>
                </a:r>
                <a:endParaRPr lang="en-US" sz="700" dirty="0"/>
              </a:p>
            </p:txBody>
          </p:sp>
          <p:sp>
            <p:nvSpPr>
              <p:cNvPr id="249" name="L-pt-chat"/>
              <p:cNvSpPr/>
              <p:nvPr/>
            </p:nvSpPr>
            <p:spPr>
              <a:xfrm>
                <a:off x="1794742" y="4814986"/>
                <a:ext cx="128016" cy="128016"/>
              </a:xfrm>
              <a:prstGeom prst="ellipse">
                <a:avLst/>
              </a:prstGeom>
              <a:solidFill>
                <a:srgbClr val="2F6DB5"/>
              </a:solidFill>
              <a:ln w="9525">
                <a:solidFill>
                  <a:srgbClr val="FFFFFF"/>
                </a:solidFill>
                <a:prstDash val="solid"/>
              </a:ln>
            </p:spPr>
          </p:sp>
          <p:sp>
            <p:nvSpPr>
              <p:cNvPr id="251" name="L-pt-agent"/>
              <p:cNvSpPr/>
              <p:nvPr/>
            </p:nvSpPr>
            <p:spPr>
              <a:xfrm>
                <a:off x="3130261" y="4641780"/>
                <a:ext cx="128016" cy="128016"/>
              </a:xfrm>
              <a:prstGeom prst="ellipse">
                <a:avLst/>
              </a:prstGeom>
              <a:solidFill>
                <a:srgbClr val="2F6DB5"/>
              </a:solidFill>
              <a:ln w="9525">
                <a:solidFill>
                  <a:srgbClr val="FFFFFF"/>
                </a:solidFill>
                <a:prstDash val="solid"/>
              </a:ln>
            </p:spPr>
          </p:sp>
          <p:sp>
            <p:nvSpPr>
              <p:cNvPr id="252" name="L-pt-multi"/>
              <p:cNvSpPr/>
              <p:nvPr/>
            </p:nvSpPr>
            <p:spPr>
              <a:xfrm>
                <a:off x="4415023" y="4004631"/>
                <a:ext cx="128016" cy="128016"/>
              </a:xfrm>
              <a:prstGeom prst="ellipse">
                <a:avLst/>
              </a:prstGeom>
              <a:solidFill>
                <a:srgbClr val="2F6DB5"/>
              </a:solidFill>
              <a:ln w="9525">
                <a:solidFill>
                  <a:srgbClr val="FFFFFF"/>
                </a:solidFill>
                <a:prstDash val="solid"/>
              </a:ln>
            </p:spPr>
          </p:sp>
          <p:sp>
            <p:nvSpPr>
              <p:cNvPr id="256" name="L-hbm-label-H100"/>
              <p:cNvSpPr txBox="1"/>
              <p:nvPr/>
            </p:nvSpPr>
            <p:spPr>
              <a:xfrm>
                <a:off x="1289304" y="3909374"/>
                <a:ext cx="1377288" cy="242407"/>
              </a:xfrm>
              <a:prstGeom prst="rect">
                <a:avLst/>
              </a:prstGeom>
            </p:spPr>
            <p:txBody>
              <a:bodyPr wrap="square" lIns="0" tIns="0" rIns="0" bIns="0" rtlCol="0" anchor="ctr"/>
              <a:lstStyle/>
              <a:p>
                <a:r>
                  <a:rPr lang="en-US" sz="600" dirty="0">
                    <a:solidFill>
                      <a:srgbClr val="C0392B"/>
                    </a:solidFill>
                    <a:latin typeface="Malgun Gothic" pitchFamily="34" charset="0"/>
                    <a:ea typeface="Malgun Gothic" pitchFamily="34" charset="-122"/>
                    <a:cs typeface="Malgun Gothic" pitchFamily="34" charset="-120"/>
                  </a:rPr>
                  <a:t>H100(HBM3) 80 GB</a:t>
                </a:r>
              </a:p>
            </p:txBody>
          </p:sp>
          <p:sp>
            <p:nvSpPr>
              <p:cNvPr id="257" name="L-hbm-label-B200"/>
              <p:cNvSpPr txBox="1"/>
              <p:nvPr/>
            </p:nvSpPr>
            <p:spPr>
              <a:xfrm>
                <a:off x="1267813" y="2826688"/>
                <a:ext cx="1669879" cy="200382"/>
              </a:xfrm>
              <a:prstGeom prst="rect">
                <a:avLst/>
              </a:prstGeom>
            </p:spPr>
            <p:txBody>
              <a:bodyPr wrap="square" lIns="0" tIns="0" rIns="0" bIns="0" rtlCol="0" anchor="ctr"/>
              <a:lstStyle/>
              <a:p>
                <a:r>
                  <a:rPr lang="en-US" sz="600" dirty="0">
                    <a:solidFill>
                      <a:srgbClr val="C0392B"/>
                    </a:solidFill>
                    <a:latin typeface="Malgun Gothic" pitchFamily="34" charset="0"/>
                    <a:ea typeface="Malgun Gothic" pitchFamily="34" charset="-122"/>
                    <a:cs typeface="Malgun Gothic" pitchFamily="34" charset="-120"/>
                  </a:rPr>
                  <a:t>B200(HBM3E) 192 GB</a:t>
                </a:r>
              </a:p>
            </p:txBody>
          </p:sp>
          <p:sp>
            <p:nvSpPr>
              <p:cNvPr id="258" name="L-hbm-label-B300"/>
              <p:cNvSpPr txBox="1"/>
              <p:nvPr/>
            </p:nvSpPr>
            <p:spPr>
              <a:xfrm>
                <a:off x="1267811" y="1926915"/>
                <a:ext cx="1700462" cy="258421"/>
              </a:xfrm>
              <a:prstGeom prst="rect">
                <a:avLst/>
              </a:prstGeom>
            </p:spPr>
            <p:txBody>
              <a:bodyPr wrap="square" lIns="0" tIns="0" rIns="0" bIns="0" rtlCol="0" anchor="ctr"/>
              <a:lstStyle/>
              <a:p>
                <a:r>
                  <a:rPr lang="en-US" sz="600" dirty="0">
                    <a:solidFill>
                      <a:srgbClr val="C0392B"/>
                    </a:solidFill>
                    <a:latin typeface="Malgun Gothic" pitchFamily="34" charset="0"/>
                    <a:ea typeface="Malgun Gothic" pitchFamily="34" charset="-122"/>
                    <a:cs typeface="Malgun Gothic" pitchFamily="34" charset="-120"/>
                  </a:rPr>
                  <a:t>B300(HBM3E) 288 GB</a:t>
                </a:r>
              </a:p>
            </p:txBody>
          </p:sp>
          <p:sp>
            <p:nvSpPr>
              <p:cNvPr id="259" name="L-pt-1M"/>
              <p:cNvSpPr/>
              <p:nvPr/>
            </p:nvSpPr>
            <p:spPr>
              <a:xfrm>
                <a:off x="5567431" y="1698498"/>
                <a:ext cx="292608" cy="292608"/>
              </a:xfrm>
              <a:prstGeom prst="star5">
                <a:avLst/>
              </a:prstGeom>
              <a:solidFill>
                <a:srgbClr val="FF0000"/>
              </a:solidFill>
              <a:ln w="6350">
                <a:solidFill>
                  <a:srgbClr val="D35400"/>
                </a:solidFill>
                <a:prstDash val="solid"/>
              </a:ln>
            </p:spPr>
          </p:sp>
          <p:sp>
            <p:nvSpPr>
              <p:cNvPr id="261" name="L-label-multi"/>
              <p:cNvSpPr txBox="1"/>
              <p:nvPr/>
            </p:nvSpPr>
            <p:spPr>
              <a:xfrm>
                <a:off x="4525014" y="3985642"/>
                <a:ext cx="671159" cy="208215"/>
              </a:xfrm>
              <a:prstGeom prst="rect">
                <a:avLst/>
              </a:prstGeom>
              <a:noFill/>
              <a:ln/>
            </p:spPr>
            <p:txBody>
              <a:bodyPr wrap="square" lIns="0" tIns="0" rIns="0" bIns="0" rtlCol="0" anchor="ctr"/>
              <a:lstStyle/>
              <a:p>
                <a:pPr marL="0" indent="0" algn="r">
                  <a:buNone/>
                </a:pPr>
                <a:r>
                  <a:rPr lang="en-US" sz="700" b="1" dirty="0">
                    <a:solidFill>
                      <a:srgbClr val="2F6DB5"/>
                    </a:solidFill>
                    <a:latin typeface="Malgun Gothic" pitchFamily="34" charset="0"/>
                    <a:ea typeface="Malgun Gothic" pitchFamily="34" charset="-122"/>
                    <a:cs typeface="Malgun Gothic" pitchFamily="34" charset="-120"/>
                  </a:rPr>
                  <a:t>93 GB</a:t>
                </a:r>
                <a:endParaRPr lang="en-US" sz="700" dirty="0"/>
              </a:p>
            </p:txBody>
          </p:sp>
          <p:sp>
            <p:nvSpPr>
              <p:cNvPr id="262" name="L-label-agent"/>
              <p:cNvSpPr txBox="1"/>
              <p:nvPr/>
            </p:nvSpPr>
            <p:spPr>
              <a:xfrm>
                <a:off x="3255053" y="4694988"/>
                <a:ext cx="682279" cy="215146"/>
              </a:xfrm>
              <a:prstGeom prst="rect">
                <a:avLst/>
              </a:prstGeom>
              <a:noFill/>
              <a:ln/>
            </p:spPr>
            <p:txBody>
              <a:bodyPr wrap="square" lIns="0" tIns="0" rIns="0" bIns="0" rtlCol="0" anchor="ctr"/>
              <a:lstStyle/>
              <a:p>
                <a:pPr marL="0" indent="0" algn="r">
                  <a:buNone/>
                </a:pPr>
                <a:r>
                  <a:rPr lang="en-US" sz="700" b="1" dirty="0">
                    <a:solidFill>
                      <a:srgbClr val="2F6DB5"/>
                    </a:solidFill>
                    <a:latin typeface="Malgun Gothic" pitchFamily="34" charset="0"/>
                    <a:ea typeface="Malgun Gothic" pitchFamily="34" charset="-122"/>
                    <a:cs typeface="Malgun Gothic" pitchFamily="34" charset="-120"/>
                  </a:rPr>
                  <a:t>25 GB</a:t>
                </a:r>
                <a:endParaRPr lang="en-US" sz="700" dirty="0"/>
              </a:p>
            </p:txBody>
          </p:sp>
          <p:sp>
            <p:nvSpPr>
              <p:cNvPr id="263" name="L-label-chat"/>
              <p:cNvSpPr txBox="1"/>
              <p:nvPr/>
            </p:nvSpPr>
            <p:spPr>
              <a:xfrm>
                <a:off x="1782280" y="5019611"/>
                <a:ext cx="663320" cy="238513"/>
              </a:xfrm>
              <a:prstGeom prst="rect">
                <a:avLst/>
              </a:prstGeom>
              <a:noFill/>
              <a:ln/>
            </p:spPr>
            <p:txBody>
              <a:bodyPr wrap="square" lIns="0" tIns="0" rIns="0" bIns="0" rtlCol="0" anchor="ctr"/>
              <a:lstStyle/>
              <a:p>
                <a:pPr marL="0" indent="0" algn="l">
                  <a:buNone/>
                </a:pPr>
                <a:r>
                  <a:rPr lang="en-US" sz="700" b="1" dirty="0">
                    <a:solidFill>
                      <a:srgbClr val="2F6DB5"/>
                    </a:solidFill>
                    <a:latin typeface="Malgun Gothic" pitchFamily="34" charset="0"/>
                    <a:ea typeface="Malgun Gothic" pitchFamily="34" charset="-122"/>
                    <a:cs typeface="Malgun Gothic" pitchFamily="34" charset="-120"/>
                  </a:rPr>
                  <a:t>6.3 GB</a:t>
                </a:r>
                <a:endParaRPr lang="en-US" sz="700" dirty="0"/>
              </a:p>
            </p:txBody>
          </p:sp>
          <p:sp>
            <p:nvSpPr>
              <p:cNvPr id="264" name="L-label-1M"/>
              <p:cNvSpPr txBox="1"/>
              <p:nvPr/>
            </p:nvSpPr>
            <p:spPr>
              <a:xfrm>
                <a:off x="5025418" y="1611251"/>
                <a:ext cx="624943" cy="171892"/>
              </a:xfrm>
              <a:prstGeom prst="rect">
                <a:avLst/>
              </a:prstGeom>
              <a:noFill/>
              <a:ln/>
            </p:spPr>
            <p:txBody>
              <a:bodyPr wrap="square" lIns="0" tIns="0" rIns="0" bIns="0" rtlCol="0" anchor="ctr"/>
              <a:lstStyle/>
              <a:p>
                <a:r>
                  <a:rPr lang="en-US" sz="700" b="1" dirty="0">
                    <a:solidFill>
                      <a:srgbClr val="C0392B"/>
                    </a:solidFill>
                    <a:latin typeface="Malgun Gothic" pitchFamily="34" charset="0"/>
                    <a:ea typeface="Malgun Gothic" pitchFamily="34" charset="-122"/>
                    <a:cs typeface="Malgun Gothic" pitchFamily="34" charset="-120"/>
                  </a:rPr>
                  <a:t>330 GB</a:t>
                </a:r>
              </a:p>
            </p:txBody>
          </p:sp>
        </p:grpSp>
        <p:sp>
          <p:nvSpPr>
            <p:cNvPr id="10" name="직사각형 9"/>
            <p:cNvSpPr/>
            <p:nvPr/>
          </p:nvSpPr>
          <p:spPr>
            <a:xfrm>
              <a:off x="754743" y="1974978"/>
              <a:ext cx="2344789" cy="1757781"/>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361" name="그룹 360"/>
          <p:cNvGrpSpPr/>
          <p:nvPr/>
        </p:nvGrpSpPr>
        <p:grpSpPr>
          <a:xfrm>
            <a:off x="3175416" y="1953366"/>
            <a:ext cx="2853441" cy="2016938"/>
            <a:chOff x="6464209" y="1188720"/>
            <a:chExt cx="5078905" cy="4251960"/>
          </a:xfrm>
        </p:grpSpPr>
        <p:sp>
          <p:nvSpPr>
            <p:cNvPr id="362" name="R-region-over-B300"/>
            <p:cNvSpPr/>
            <p:nvPr/>
          </p:nvSpPr>
          <p:spPr>
            <a:xfrm>
              <a:off x="7360920" y="1188720"/>
              <a:ext cx="3566160" cy="3201952"/>
            </a:xfrm>
            <a:prstGeom prst="rect">
              <a:avLst/>
            </a:prstGeom>
            <a:solidFill>
              <a:srgbClr val="F6D9D6">
                <a:alpha val="70000"/>
              </a:srgbClr>
            </a:solidFill>
            <a:ln/>
          </p:spPr>
        </p:sp>
        <p:sp>
          <p:nvSpPr>
            <p:cNvPr id="363" name="R-grid-100 GB"/>
            <p:cNvSpPr/>
            <p:nvPr/>
          </p:nvSpPr>
          <p:spPr>
            <a:xfrm>
              <a:off x="7360920" y="4683823"/>
              <a:ext cx="3566160" cy="0"/>
            </a:xfrm>
            <a:prstGeom prst="line">
              <a:avLst/>
            </a:prstGeom>
            <a:noFill/>
            <a:ln w="9525">
              <a:solidFill>
                <a:srgbClr val="E3E3E3"/>
              </a:solidFill>
              <a:prstDash val="solid"/>
            </a:ln>
          </p:spPr>
        </p:sp>
        <p:sp>
          <p:nvSpPr>
            <p:cNvPr id="364" name="R-tick-100 GB"/>
            <p:cNvSpPr txBox="1"/>
            <p:nvPr/>
          </p:nvSpPr>
          <p:spPr>
            <a:xfrm>
              <a:off x="6675120" y="4574095"/>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100 GB</a:t>
              </a:r>
              <a:endParaRPr lang="en-US" sz="700" dirty="0"/>
            </a:p>
          </p:txBody>
        </p:sp>
        <p:sp>
          <p:nvSpPr>
            <p:cNvPr id="365" name="R-grid-1 TB"/>
            <p:cNvSpPr/>
            <p:nvPr/>
          </p:nvSpPr>
          <p:spPr>
            <a:xfrm>
              <a:off x="7360920" y="4045696"/>
              <a:ext cx="3566160" cy="0"/>
            </a:xfrm>
            <a:prstGeom prst="line">
              <a:avLst/>
            </a:prstGeom>
            <a:noFill/>
            <a:ln w="9525">
              <a:solidFill>
                <a:srgbClr val="E3E3E3"/>
              </a:solidFill>
              <a:prstDash val="solid"/>
            </a:ln>
          </p:spPr>
        </p:sp>
        <p:sp>
          <p:nvSpPr>
            <p:cNvPr id="366" name="R-tick-1 TB"/>
            <p:cNvSpPr txBox="1"/>
            <p:nvPr/>
          </p:nvSpPr>
          <p:spPr>
            <a:xfrm>
              <a:off x="6675120" y="3935968"/>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 TB</a:t>
              </a:r>
              <a:endParaRPr lang="en-US" sz="700" dirty="0"/>
            </a:p>
          </p:txBody>
        </p:sp>
        <p:sp>
          <p:nvSpPr>
            <p:cNvPr id="367" name="R-grid-10 TB"/>
            <p:cNvSpPr/>
            <p:nvPr/>
          </p:nvSpPr>
          <p:spPr>
            <a:xfrm>
              <a:off x="7360920" y="3407568"/>
              <a:ext cx="3566160" cy="0"/>
            </a:xfrm>
            <a:prstGeom prst="line">
              <a:avLst/>
            </a:prstGeom>
            <a:noFill/>
            <a:ln w="9525">
              <a:solidFill>
                <a:srgbClr val="E3E3E3"/>
              </a:solidFill>
              <a:prstDash val="solid"/>
            </a:ln>
          </p:spPr>
        </p:sp>
        <p:sp>
          <p:nvSpPr>
            <p:cNvPr id="368" name="R-tick-10 TB"/>
            <p:cNvSpPr txBox="1"/>
            <p:nvPr/>
          </p:nvSpPr>
          <p:spPr>
            <a:xfrm>
              <a:off x="6675120" y="3297840"/>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 TB</a:t>
              </a:r>
              <a:endParaRPr lang="en-US" sz="700" dirty="0"/>
            </a:p>
          </p:txBody>
        </p:sp>
        <p:sp>
          <p:nvSpPr>
            <p:cNvPr id="369" name="R-grid-100 TB"/>
            <p:cNvSpPr/>
            <p:nvPr/>
          </p:nvSpPr>
          <p:spPr>
            <a:xfrm>
              <a:off x="7360920" y="2769440"/>
              <a:ext cx="3566160" cy="0"/>
            </a:xfrm>
            <a:prstGeom prst="line">
              <a:avLst/>
            </a:prstGeom>
            <a:noFill/>
            <a:ln w="9525">
              <a:solidFill>
                <a:srgbClr val="E3E3E3"/>
              </a:solidFill>
              <a:prstDash val="solid"/>
            </a:ln>
          </p:spPr>
        </p:sp>
        <p:sp>
          <p:nvSpPr>
            <p:cNvPr id="370" name="R-tick-100 TB"/>
            <p:cNvSpPr txBox="1"/>
            <p:nvPr/>
          </p:nvSpPr>
          <p:spPr>
            <a:xfrm>
              <a:off x="6675120" y="2659712"/>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100 TB</a:t>
              </a:r>
              <a:endParaRPr lang="en-US" sz="700" dirty="0"/>
            </a:p>
          </p:txBody>
        </p:sp>
        <p:sp>
          <p:nvSpPr>
            <p:cNvPr id="371" name="R-grid-1 PB"/>
            <p:cNvSpPr/>
            <p:nvPr/>
          </p:nvSpPr>
          <p:spPr>
            <a:xfrm>
              <a:off x="7360920" y="2131312"/>
              <a:ext cx="3566160" cy="0"/>
            </a:xfrm>
            <a:prstGeom prst="line">
              <a:avLst/>
            </a:prstGeom>
            <a:noFill/>
            <a:ln w="9525">
              <a:solidFill>
                <a:srgbClr val="E3E3E3"/>
              </a:solidFill>
              <a:prstDash val="solid"/>
            </a:ln>
          </p:spPr>
        </p:sp>
        <p:sp>
          <p:nvSpPr>
            <p:cNvPr id="372" name="R-tick-1 PB"/>
            <p:cNvSpPr txBox="1"/>
            <p:nvPr/>
          </p:nvSpPr>
          <p:spPr>
            <a:xfrm>
              <a:off x="6675120" y="2021584"/>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 PB</a:t>
              </a:r>
              <a:endParaRPr lang="en-US" sz="700" dirty="0"/>
            </a:p>
          </p:txBody>
        </p:sp>
        <p:sp>
          <p:nvSpPr>
            <p:cNvPr id="373" name="R-grid-10 PB"/>
            <p:cNvSpPr/>
            <p:nvPr/>
          </p:nvSpPr>
          <p:spPr>
            <a:xfrm>
              <a:off x="7360920" y="1493184"/>
              <a:ext cx="3566160" cy="0"/>
            </a:xfrm>
            <a:prstGeom prst="line">
              <a:avLst/>
            </a:prstGeom>
            <a:noFill/>
            <a:ln w="9525">
              <a:solidFill>
                <a:srgbClr val="E3E3E3"/>
              </a:solidFill>
              <a:prstDash val="solid"/>
            </a:ln>
          </p:spPr>
        </p:sp>
        <p:sp>
          <p:nvSpPr>
            <p:cNvPr id="374" name="R-tick-10 PB"/>
            <p:cNvSpPr txBox="1"/>
            <p:nvPr/>
          </p:nvSpPr>
          <p:spPr>
            <a:xfrm>
              <a:off x="6675120" y="1383456"/>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 PB</a:t>
              </a:r>
              <a:endParaRPr lang="en-US" sz="700" dirty="0"/>
            </a:p>
          </p:txBody>
        </p:sp>
        <p:sp>
          <p:nvSpPr>
            <p:cNvPr id="375" name="R-axis-title-y"/>
            <p:cNvSpPr txBox="1"/>
            <p:nvPr/>
          </p:nvSpPr>
          <p:spPr>
            <a:xfrm rot="16200000">
              <a:off x="5200707" y="2712369"/>
              <a:ext cx="2940954" cy="413950"/>
            </a:xfrm>
            <a:prstGeom prst="rect">
              <a:avLst/>
            </a:prstGeom>
            <a:noFill/>
            <a:ln/>
          </p:spPr>
          <p:txBody>
            <a:bodyPr wrap="square" lIns="0" tIns="0" rIns="0" bIns="0" rtlCol="0" anchor="ctr"/>
            <a:lstStyle/>
            <a:p>
              <a:pPr marL="0" indent="0" algn="ctr">
                <a:buNone/>
              </a:pPr>
              <a:r>
                <a:rPr lang="en-US" sz="800" b="1" dirty="0">
                  <a:solidFill>
                    <a:srgbClr val="333333"/>
                  </a:solidFill>
                  <a:latin typeface="Malgun Gothic" pitchFamily="34" charset="0"/>
                  <a:ea typeface="Malgun Gothic" pitchFamily="34" charset="-122"/>
                  <a:cs typeface="Malgun Gothic" pitchFamily="34" charset="-120"/>
                </a:rPr>
                <a:t>총 KV cache 크기 (log)</a:t>
              </a:r>
              <a:endParaRPr lang="en-US" sz="800" b="1" dirty="0"/>
            </a:p>
          </p:txBody>
        </p:sp>
        <p:sp>
          <p:nvSpPr>
            <p:cNvPr id="376" name="R-bar-1"/>
            <p:cNvSpPr/>
            <p:nvPr/>
          </p:nvSpPr>
          <p:spPr>
            <a:xfrm>
              <a:off x="7530313" y="4175065"/>
              <a:ext cx="552755" cy="762695"/>
            </a:xfrm>
            <a:prstGeom prst="rect">
              <a:avLst/>
            </a:prstGeom>
            <a:solidFill>
              <a:srgbClr val="2F6DB5"/>
            </a:solidFill>
            <a:ln/>
          </p:spPr>
        </p:sp>
        <p:sp>
          <p:nvSpPr>
            <p:cNvPr id="377" name="R-bar-label-1"/>
            <p:cNvSpPr txBox="1"/>
            <p:nvPr/>
          </p:nvSpPr>
          <p:spPr>
            <a:xfrm>
              <a:off x="7303770" y="3772729"/>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630 GB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(2×)</a:t>
              </a:r>
              <a:endParaRPr lang="en-US" sz="700" dirty="0"/>
            </a:p>
          </p:txBody>
        </p:sp>
        <p:sp>
          <p:nvSpPr>
            <p:cNvPr id="378" name="R-xlabel-1"/>
            <p:cNvSpPr txBox="1"/>
            <p:nvPr/>
          </p:nvSpPr>
          <p:spPr>
            <a:xfrm>
              <a:off x="737920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채팅</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×100세션</a:t>
              </a:r>
              <a:endParaRPr lang="en-US" sz="600" dirty="0"/>
            </a:p>
          </p:txBody>
        </p:sp>
        <p:sp>
          <p:nvSpPr>
            <p:cNvPr id="379" name="R-bar-2"/>
            <p:cNvSpPr/>
            <p:nvPr/>
          </p:nvSpPr>
          <p:spPr>
            <a:xfrm>
              <a:off x="8421853" y="3794544"/>
              <a:ext cx="552755" cy="1143216"/>
            </a:xfrm>
            <a:prstGeom prst="rect">
              <a:avLst/>
            </a:prstGeom>
            <a:solidFill>
              <a:srgbClr val="2F6DB5"/>
            </a:solidFill>
            <a:ln/>
          </p:spPr>
        </p:sp>
        <p:sp>
          <p:nvSpPr>
            <p:cNvPr id="380" name="R-bar-label-2"/>
            <p:cNvSpPr txBox="1"/>
            <p:nvPr/>
          </p:nvSpPr>
          <p:spPr>
            <a:xfrm>
              <a:off x="8195310" y="3392208"/>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2.5 TB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(9×)</a:t>
              </a:r>
              <a:endParaRPr lang="en-US" sz="700" dirty="0"/>
            </a:p>
          </p:txBody>
        </p:sp>
        <p:sp>
          <p:nvSpPr>
            <p:cNvPr id="381" name="R-xlabel-2"/>
            <p:cNvSpPr txBox="1"/>
            <p:nvPr/>
          </p:nvSpPr>
          <p:spPr>
            <a:xfrm>
              <a:off x="827074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에이전트</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×100세션</a:t>
              </a:r>
              <a:endParaRPr lang="en-US" sz="600" dirty="0"/>
            </a:p>
          </p:txBody>
        </p:sp>
        <p:sp>
          <p:nvSpPr>
            <p:cNvPr id="382" name="R-bar-3"/>
            <p:cNvSpPr/>
            <p:nvPr/>
          </p:nvSpPr>
          <p:spPr>
            <a:xfrm>
              <a:off x="9313393" y="3428485"/>
              <a:ext cx="552755" cy="1509275"/>
            </a:xfrm>
            <a:prstGeom prst="rect">
              <a:avLst/>
            </a:prstGeom>
            <a:solidFill>
              <a:srgbClr val="2F6DB5"/>
            </a:solidFill>
            <a:ln/>
          </p:spPr>
        </p:sp>
        <p:sp>
          <p:nvSpPr>
            <p:cNvPr id="383" name="R-bar-label-3"/>
            <p:cNvSpPr txBox="1"/>
            <p:nvPr/>
          </p:nvSpPr>
          <p:spPr>
            <a:xfrm>
              <a:off x="9086850" y="3026149"/>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9.3 TB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(32×)</a:t>
              </a:r>
              <a:endParaRPr lang="en-US" sz="700" dirty="0"/>
            </a:p>
          </p:txBody>
        </p:sp>
        <p:sp>
          <p:nvSpPr>
            <p:cNvPr id="384" name="R-xlabel-3"/>
            <p:cNvSpPr txBox="1"/>
            <p:nvPr/>
          </p:nvSpPr>
          <p:spPr>
            <a:xfrm>
              <a:off x="916228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멀티에이전트</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×100세션</a:t>
              </a:r>
              <a:endParaRPr lang="en-US" sz="600" dirty="0"/>
            </a:p>
          </p:txBody>
        </p:sp>
        <p:sp>
          <p:nvSpPr>
            <p:cNvPr id="385" name="R-bar-4"/>
            <p:cNvSpPr/>
            <p:nvPr/>
          </p:nvSpPr>
          <p:spPr>
            <a:xfrm>
              <a:off x="10204933" y="1800434"/>
              <a:ext cx="552755" cy="3137326"/>
            </a:xfrm>
            <a:prstGeom prst="rect">
              <a:avLst/>
            </a:prstGeom>
            <a:solidFill>
              <a:srgbClr val="D35400"/>
            </a:solidFill>
            <a:ln/>
          </p:spPr>
        </p:sp>
        <p:sp>
          <p:nvSpPr>
            <p:cNvPr id="386" name="R-bar-label-4"/>
            <p:cNvSpPr txBox="1"/>
            <p:nvPr/>
          </p:nvSpPr>
          <p:spPr>
            <a:xfrm>
              <a:off x="9978390" y="1398098"/>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3.3 PB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(11,500×)</a:t>
              </a:r>
              <a:endParaRPr lang="en-US" sz="700" dirty="0"/>
            </a:p>
          </p:txBody>
        </p:sp>
        <p:sp>
          <p:nvSpPr>
            <p:cNvPr id="387" name="R-xlabel-4"/>
            <p:cNvSpPr txBox="1"/>
            <p:nvPr/>
          </p:nvSpPr>
          <p:spPr>
            <a:xfrm>
              <a:off x="1005382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ASTRA </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1M x 10,000 agents</a:t>
              </a:r>
              <a:endParaRPr lang="en-US" sz="600" dirty="0"/>
            </a:p>
          </p:txBody>
        </p:sp>
        <p:sp>
          <p:nvSpPr>
            <p:cNvPr id="388" name="R-plot-frame"/>
            <p:cNvSpPr/>
            <p:nvPr/>
          </p:nvSpPr>
          <p:spPr>
            <a:xfrm>
              <a:off x="7360920" y="1188720"/>
              <a:ext cx="3566160" cy="3749040"/>
            </a:xfrm>
            <a:prstGeom prst="rect">
              <a:avLst/>
            </a:prstGeom>
            <a:ln w="6350">
              <a:solidFill>
                <a:srgbClr val="222222"/>
              </a:solidFill>
              <a:prstDash val="solid"/>
            </a:ln>
          </p:spPr>
        </p:sp>
        <p:sp>
          <p:nvSpPr>
            <p:cNvPr id="389" name="R-hbm-line-H100"/>
            <p:cNvSpPr/>
            <p:nvPr/>
          </p:nvSpPr>
          <p:spPr>
            <a:xfrm>
              <a:off x="7360920" y="4745664"/>
              <a:ext cx="3566160" cy="0"/>
            </a:xfrm>
            <a:prstGeom prst="line">
              <a:avLst/>
            </a:prstGeom>
            <a:noFill/>
            <a:ln w="15875">
              <a:solidFill>
                <a:srgbClr val="C0392B">
                  <a:alpha val="55000"/>
                </a:srgbClr>
              </a:solidFill>
              <a:prstDash val="dash"/>
            </a:ln>
          </p:spPr>
        </p:sp>
        <p:sp>
          <p:nvSpPr>
            <p:cNvPr id="390" name="R-hbm-label-H100"/>
            <p:cNvSpPr txBox="1"/>
            <p:nvPr/>
          </p:nvSpPr>
          <p:spPr>
            <a:xfrm>
              <a:off x="11000232" y="4635937"/>
              <a:ext cx="530659" cy="409099"/>
            </a:xfrm>
            <a:prstGeom prst="rect">
              <a:avLst/>
            </a:prstGeom>
            <a:noFill/>
            <a:ln/>
          </p:spPr>
          <p:txBody>
            <a:bodyPr wrap="square" lIns="0" tIns="0" rIns="0" bIns="0" rtlCol="0" anchor="ctr"/>
            <a:lstStyle/>
            <a:p>
              <a:pPr marL="0" indent="0">
                <a:buNone/>
              </a:pPr>
              <a:r>
                <a:rPr lang="en-US" sz="600" dirty="0">
                  <a:solidFill>
                    <a:srgbClr val="C0392B"/>
                  </a:solidFill>
                  <a:latin typeface="Malgun Gothic" pitchFamily="34" charset="0"/>
                  <a:ea typeface="Malgun Gothic" pitchFamily="34" charset="-122"/>
                  <a:cs typeface="Malgun Gothic" pitchFamily="34" charset="-120"/>
                </a:rPr>
                <a:t>HBM3</a:t>
              </a:r>
            </a:p>
            <a:p>
              <a:pPr marL="0" indent="0">
                <a:buNone/>
              </a:pPr>
              <a:r>
                <a:rPr lang="en-US" sz="600" dirty="0">
                  <a:solidFill>
                    <a:srgbClr val="C0392B"/>
                  </a:solidFill>
                  <a:latin typeface="Malgun Gothic" pitchFamily="34" charset="0"/>
                  <a:ea typeface="Malgun Gothic" pitchFamily="34" charset="-122"/>
                  <a:cs typeface="Malgun Gothic" pitchFamily="34" charset="-120"/>
                </a:rPr>
                <a:t>80 GB</a:t>
              </a:r>
              <a:endParaRPr lang="en-US" sz="600" dirty="0"/>
            </a:p>
          </p:txBody>
        </p:sp>
        <p:sp>
          <p:nvSpPr>
            <p:cNvPr id="392" name="R-hbm-line-B300"/>
            <p:cNvSpPr/>
            <p:nvPr/>
          </p:nvSpPr>
          <p:spPr>
            <a:xfrm>
              <a:off x="7360920" y="4390672"/>
              <a:ext cx="3566160" cy="0"/>
            </a:xfrm>
            <a:prstGeom prst="line">
              <a:avLst/>
            </a:prstGeom>
            <a:noFill/>
            <a:ln w="15875">
              <a:solidFill>
                <a:srgbClr val="C0392B">
                  <a:alpha val="95000"/>
                </a:srgbClr>
              </a:solidFill>
              <a:prstDash val="dash"/>
            </a:ln>
          </p:spPr>
        </p:sp>
        <p:sp>
          <p:nvSpPr>
            <p:cNvPr id="393" name="R-hbm-label-B300"/>
            <p:cNvSpPr txBox="1"/>
            <p:nvPr/>
          </p:nvSpPr>
          <p:spPr>
            <a:xfrm>
              <a:off x="11000232" y="4107221"/>
              <a:ext cx="542882" cy="427142"/>
            </a:xfrm>
            <a:prstGeom prst="rect">
              <a:avLst/>
            </a:prstGeom>
            <a:noFill/>
            <a:ln/>
          </p:spPr>
          <p:txBody>
            <a:bodyPr wrap="square" lIns="0" tIns="0" rIns="0" bIns="0" rtlCol="0" anchor="ctr"/>
            <a:lstStyle/>
            <a:p>
              <a:pPr marL="0" indent="0">
                <a:buNone/>
              </a:pPr>
              <a:r>
                <a:rPr lang="en-US" sz="600" dirty="0">
                  <a:solidFill>
                    <a:srgbClr val="C0392B"/>
                  </a:solidFill>
                  <a:latin typeface="Malgun Gothic" pitchFamily="34" charset="0"/>
                  <a:ea typeface="Malgun Gothic" pitchFamily="34" charset="-122"/>
                  <a:cs typeface="Malgun Gothic" pitchFamily="34" charset="-120"/>
                </a:rPr>
                <a:t>HBM3E</a:t>
              </a:r>
            </a:p>
            <a:p>
              <a:pPr marL="0" indent="0">
                <a:buNone/>
              </a:pPr>
              <a:r>
                <a:rPr lang="en-US" sz="600" dirty="0">
                  <a:solidFill>
                    <a:srgbClr val="C0392B"/>
                  </a:solidFill>
                  <a:latin typeface="Malgun Gothic" pitchFamily="34" charset="0"/>
                  <a:ea typeface="Malgun Gothic" pitchFamily="34" charset="-122"/>
                  <a:cs typeface="Malgun Gothic" pitchFamily="34" charset="-120"/>
                </a:rPr>
                <a:t>288 GB</a:t>
              </a:r>
              <a:endParaRPr lang="en-US" sz="600" dirty="0"/>
            </a:p>
          </p:txBody>
        </p:sp>
        <p:sp>
          <p:nvSpPr>
            <p:cNvPr id="394" name="R-subtitle"/>
            <p:cNvSpPr txBox="1"/>
            <p:nvPr/>
          </p:nvSpPr>
          <p:spPr>
            <a:xfrm>
              <a:off x="7423554" y="1241000"/>
              <a:ext cx="2781378" cy="209647"/>
            </a:xfrm>
            <a:prstGeom prst="rect">
              <a:avLst/>
            </a:prstGeom>
            <a:noFill/>
            <a:ln/>
          </p:spPr>
          <p:txBody>
            <a:bodyPr wrap="square" lIns="0" tIns="0" rIns="0" bIns="0" rtlCol="0" anchor="ctr"/>
            <a:lstStyle/>
            <a:p>
              <a:pPr marL="0" indent="0">
                <a:buNone/>
              </a:pPr>
              <a:r>
                <a:rPr lang="en-US" sz="600" dirty="0">
                  <a:solidFill>
                    <a:srgbClr val="666666"/>
                  </a:solidFill>
                  <a:latin typeface="Malgun Gothic" pitchFamily="34" charset="0"/>
                  <a:ea typeface="Malgun Gothic" pitchFamily="34" charset="-122"/>
                  <a:cs typeface="Malgun Gothic" pitchFamily="34" charset="-120"/>
                </a:rPr>
                <a:t>괄호: B300</a:t>
              </a:r>
              <a:r>
                <a:rPr lang="ko-KR" altLang="en-US" sz="600" dirty="0">
                  <a:solidFill>
                    <a:srgbClr val="666666"/>
                  </a:solidFill>
                  <a:latin typeface="Malgun Gothic" pitchFamily="34" charset="0"/>
                  <a:ea typeface="Malgun Gothic" pitchFamily="34" charset="-122"/>
                  <a:cs typeface="Malgun Gothic" pitchFamily="34" charset="-120"/>
                </a:rPr>
                <a:t> </a:t>
              </a:r>
              <a:r>
                <a:rPr lang="en-US" altLang="ko-KR" sz="600" dirty="0">
                  <a:solidFill>
                    <a:srgbClr val="666666"/>
                  </a:solidFill>
                  <a:latin typeface="Malgun Gothic" pitchFamily="34" charset="0"/>
                  <a:ea typeface="Malgun Gothic" pitchFamily="34" charset="-122"/>
                  <a:cs typeface="Malgun Gothic" pitchFamily="34" charset="-120"/>
                </a:rPr>
                <a:t>1</a:t>
              </a:r>
              <a:r>
                <a:rPr lang="ko-KR" altLang="en-US" sz="600" dirty="0">
                  <a:solidFill>
                    <a:srgbClr val="666666"/>
                  </a:solidFill>
                  <a:latin typeface="Malgun Gothic" pitchFamily="34" charset="0"/>
                  <a:ea typeface="Malgun Gothic" pitchFamily="34" charset="-122"/>
                  <a:cs typeface="Malgun Gothic" pitchFamily="34" charset="-120"/>
                </a:rPr>
                <a:t>개 </a:t>
              </a:r>
              <a:r>
                <a:rPr lang="en-US" sz="600" dirty="0">
                  <a:solidFill>
                    <a:srgbClr val="666666"/>
                  </a:solidFill>
                  <a:latin typeface="Malgun Gothic" pitchFamily="34" charset="0"/>
                  <a:ea typeface="Malgun Gothic" pitchFamily="34" charset="-122"/>
                  <a:cs typeface="Malgun Gothic" pitchFamily="34" charset="-120"/>
                </a:rPr>
                <a:t>HBM3E(288GB) </a:t>
              </a:r>
              <a:r>
                <a:rPr lang="en-US" sz="600" dirty="0" err="1">
                  <a:solidFill>
                    <a:srgbClr val="666666"/>
                  </a:solidFill>
                  <a:latin typeface="Malgun Gothic" pitchFamily="34" charset="0"/>
                  <a:ea typeface="Malgun Gothic" pitchFamily="34" charset="-122"/>
                  <a:cs typeface="Malgun Gothic" pitchFamily="34" charset="-120"/>
                </a:rPr>
                <a:t>배수</a:t>
              </a:r>
              <a:endParaRPr lang="en-US" sz="600" dirty="0"/>
            </a:p>
          </p:txBody>
        </p:sp>
      </p:grpSp>
      <p:sp>
        <p:nvSpPr>
          <p:cNvPr id="395" name="L-title"/>
          <p:cNvSpPr txBox="1"/>
          <p:nvPr/>
        </p:nvSpPr>
        <p:spPr>
          <a:xfrm>
            <a:off x="1492059" y="1739146"/>
            <a:ext cx="699236" cy="192847"/>
          </a:xfrm>
          <a:prstGeom prst="rect">
            <a:avLst/>
          </a:prstGeom>
          <a:noFill/>
          <a:ln/>
        </p:spPr>
        <p:txBody>
          <a:bodyPr wrap="square" lIns="0" tIns="0" rIns="0" bIns="0" rtlCol="0" anchor="ctr"/>
          <a:lstStyle/>
          <a:p>
            <a:pPr marL="0" indent="0">
              <a:buNone/>
            </a:pPr>
            <a:r>
              <a:rPr lang="en-US" sz="900" b="1" dirty="0">
                <a:solidFill>
                  <a:srgbClr val="333333"/>
                </a:solidFill>
                <a:latin typeface="Malgun Gothic" pitchFamily="34" charset="0"/>
                <a:ea typeface="Malgun Gothic" pitchFamily="34" charset="-122"/>
                <a:cs typeface="Malgun Gothic" pitchFamily="34" charset="-120"/>
              </a:rPr>
              <a:t>① </a:t>
            </a:r>
            <a:r>
              <a:rPr lang="en-US" sz="900" b="1" dirty="0" err="1">
                <a:solidFill>
                  <a:srgbClr val="333333"/>
                </a:solidFill>
                <a:latin typeface="Malgun Gothic" pitchFamily="34" charset="0"/>
                <a:ea typeface="Malgun Gothic" pitchFamily="34" charset="-122"/>
                <a:cs typeface="Malgun Gothic" pitchFamily="34" charset="-120"/>
              </a:rPr>
              <a:t>단일</a:t>
            </a:r>
            <a:r>
              <a:rPr lang="en-US" sz="900" b="1" dirty="0">
                <a:solidFill>
                  <a:srgbClr val="333333"/>
                </a:solidFill>
                <a:latin typeface="Malgun Gothic" pitchFamily="34" charset="0"/>
                <a:ea typeface="Malgun Gothic" pitchFamily="34" charset="-122"/>
                <a:cs typeface="Malgun Gothic" pitchFamily="34" charset="-120"/>
              </a:rPr>
              <a:t> </a:t>
            </a:r>
            <a:r>
              <a:rPr lang="en-US" sz="900" b="1" dirty="0" err="1">
                <a:solidFill>
                  <a:srgbClr val="333333"/>
                </a:solidFill>
                <a:latin typeface="Malgun Gothic" pitchFamily="34" charset="0"/>
                <a:ea typeface="Malgun Gothic" pitchFamily="34" charset="-122"/>
                <a:cs typeface="Malgun Gothic" pitchFamily="34" charset="-120"/>
              </a:rPr>
              <a:t>세션</a:t>
            </a:r>
            <a:endParaRPr lang="en-US" sz="900" dirty="0"/>
          </a:p>
        </p:txBody>
      </p:sp>
      <p:sp>
        <p:nvSpPr>
          <p:cNvPr id="396" name="R-title"/>
          <p:cNvSpPr txBox="1"/>
          <p:nvPr/>
        </p:nvSpPr>
        <p:spPr>
          <a:xfrm>
            <a:off x="4028648" y="1748532"/>
            <a:ext cx="1326558" cy="182189"/>
          </a:xfrm>
          <a:prstGeom prst="rect">
            <a:avLst/>
          </a:prstGeom>
          <a:noFill/>
          <a:ln/>
        </p:spPr>
        <p:txBody>
          <a:bodyPr wrap="square" lIns="0" tIns="0" rIns="0" bIns="0" rtlCol="0" anchor="ctr"/>
          <a:lstStyle/>
          <a:p>
            <a:pPr marL="0" indent="0" algn="ctr">
              <a:buNone/>
            </a:pPr>
            <a:r>
              <a:rPr lang="en-US" sz="900" b="1" dirty="0">
                <a:solidFill>
                  <a:srgbClr val="333333"/>
                </a:solidFill>
                <a:latin typeface="Malgun Gothic" pitchFamily="34" charset="0"/>
                <a:ea typeface="Malgun Gothic" pitchFamily="34" charset="-122"/>
                <a:cs typeface="Malgun Gothic" pitchFamily="34" charset="-120"/>
              </a:rPr>
              <a:t>② </a:t>
            </a:r>
            <a:r>
              <a:rPr lang="ko-KR" altLang="en-US" sz="900" b="1" dirty="0">
                <a:solidFill>
                  <a:srgbClr val="333333"/>
                </a:solidFill>
                <a:latin typeface="Malgun Gothic" pitchFamily="34" charset="0"/>
                <a:ea typeface="Malgun Gothic" pitchFamily="34" charset="-122"/>
                <a:cs typeface="Malgun Gothic" pitchFamily="34" charset="-120"/>
              </a:rPr>
              <a:t>동시 </a:t>
            </a:r>
            <a:r>
              <a:rPr lang="en-US" sz="900" b="1" dirty="0" err="1">
                <a:solidFill>
                  <a:srgbClr val="333333"/>
                </a:solidFill>
                <a:latin typeface="Malgun Gothic" pitchFamily="34" charset="0"/>
                <a:ea typeface="Malgun Gothic" pitchFamily="34" charset="-122"/>
                <a:cs typeface="Malgun Gothic" pitchFamily="34" charset="-120"/>
              </a:rPr>
              <a:t>세션</a:t>
            </a:r>
            <a:endParaRPr lang="en-US" sz="900" dirty="0"/>
          </a:p>
        </p:txBody>
      </p:sp>
      <p:sp>
        <p:nvSpPr>
          <p:cNvPr id="398" name="R-subtitle"/>
          <p:cNvSpPr txBox="1"/>
          <p:nvPr/>
        </p:nvSpPr>
        <p:spPr>
          <a:xfrm>
            <a:off x="736839" y="1959259"/>
            <a:ext cx="750227" cy="116257"/>
          </a:xfrm>
          <a:prstGeom prst="rect">
            <a:avLst/>
          </a:prstGeom>
          <a:noFill/>
          <a:ln/>
        </p:spPr>
        <p:txBody>
          <a:bodyPr wrap="square" lIns="0" tIns="0" rIns="0" bIns="0" rtlCol="0" anchor="ctr"/>
          <a:lstStyle/>
          <a:p>
            <a:pPr marL="0" indent="0">
              <a:buNone/>
            </a:pPr>
            <a:r>
              <a:rPr lang="en-US" sz="600" dirty="0">
                <a:solidFill>
                  <a:srgbClr val="666666"/>
                </a:solidFill>
                <a:latin typeface="Malgun Gothic" pitchFamily="34" charset="0"/>
                <a:ea typeface="Malgun Gothic" pitchFamily="34" charset="-122"/>
              </a:rPr>
              <a:t>Llama-3-70B </a:t>
            </a:r>
            <a:r>
              <a:rPr lang="ko-KR" altLang="en-US" sz="600" dirty="0">
                <a:solidFill>
                  <a:srgbClr val="666666"/>
                </a:solidFill>
                <a:latin typeface="Malgun Gothic" pitchFamily="34" charset="0"/>
                <a:ea typeface="Malgun Gothic" pitchFamily="34" charset="-122"/>
              </a:rPr>
              <a:t>기준</a:t>
            </a:r>
            <a:endParaRPr lang="en-US" sz="600" dirty="0"/>
          </a:p>
        </p:txBody>
      </p:sp>
      <p:sp>
        <p:nvSpPr>
          <p:cNvPr id="399" name="footnote"/>
          <p:cNvSpPr txBox="1"/>
          <p:nvPr/>
        </p:nvSpPr>
        <p:spPr>
          <a:xfrm>
            <a:off x="292704" y="6568411"/>
            <a:ext cx="5644270" cy="285783"/>
          </a:xfrm>
          <a:prstGeom prst="rect">
            <a:avLst/>
          </a:prstGeom>
          <a:noFill/>
          <a:ln/>
        </p:spPr>
        <p:txBody>
          <a:bodyPr wrap="square" lIns="0" tIns="0" rIns="0" bIns="0" rtlCol="0" anchor="t"/>
          <a:lstStyle/>
          <a:p>
            <a:pPr marL="0" indent="0">
              <a:buNone/>
            </a:pPr>
            <a:r>
              <a:rPr lang="en-US" sz="600" dirty="0">
                <a:solidFill>
                  <a:srgbClr val="666666"/>
                </a:solidFill>
                <a:latin typeface="Malgun Gothic" pitchFamily="34" charset="0"/>
                <a:ea typeface="Malgun Gothic" pitchFamily="34" charset="-122"/>
                <a:cs typeface="Malgun Gothic" pitchFamily="34" charset="-120"/>
              </a:rPr>
              <a:t>KV cache 0.33MB/token (Llama-3.1-70B, BF16). 문맥 길이: 에이전트 ≈75K </a:t>
            </a:r>
          </a:p>
          <a:p>
            <a:r>
              <a:rPr lang="en-US" sz="600" dirty="0">
                <a:solidFill>
                  <a:srgbClr val="666666"/>
                </a:solidFill>
                <a:latin typeface="Malgun Gothic" pitchFamily="34" charset="0"/>
                <a:ea typeface="Malgun Gothic" pitchFamily="34" charset="-122"/>
                <a:cs typeface="Malgun Gothic" pitchFamily="34" charset="-120"/>
              </a:rPr>
              <a:t>[1] (SWE-bench Pro 평균 누적 문맥 69–80K), </a:t>
            </a:r>
            <a:r>
              <a:rPr lang="en-US" sz="600" dirty="0" err="1">
                <a:solidFill>
                  <a:srgbClr val="666666"/>
                </a:solidFill>
                <a:latin typeface="Malgun Gothic" pitchFamily="34" charset="0"/>
                <a:ea typeface="Malgun Gothic" pitchFamily="34" charset="-122"/>
                <a:cs typeface="Malgun Gothic" pitchFamily="34" charset="-120"/>
              </a:rPr>
              <a:t>채팅·멀티에이전트는</a:t>
            </a:r>
            <a:r>
              <a:rPr lang="en-US" sz="600" dirty="0">
                <a:solidFill>
                  <a:srgbClr val="666666"/>
                </a:solidFill>
                <a:latin typeface="Malgun Gothic" pitchFamily="34" charset="0"/>
                <a:ea typeface="Malgun Gothic" pitchFamily="34" charset="-122"/>
                <a:cs typeface="Malgun Gothic" pitchFamily="34" charset="-120"/>
              </a:rPr>
              <a:t> [2] </a:t>
            </a:r>
            <a:r>
              <a:rPr lang="ko-KR" altLang="en-US" sz="600" dirty="0">
                <a:solidFill>
                  <a:srgbClr val="666666"/>
                </a:solidFill>
                <a:latin typeface="Malgun Gothic" pitchFamily="34" charset="0"/>
                <a:ea typeface="Malgun Gothic" pitchFamily="34" charset="-122"/>
                <a:cs typeface="Malgun Gothic" pitchFamily="34" charset="-120"/>
              </a:rPr>
              <a:t>에이전트 토</a:t>
            </a:r>
            <a:r>
              <a:rPr lang="en-US" sz="600" dirty="0">
                <a:solidFill>
                  <a:srgbClr val="666666"/>
                </a:solidFill>
                <a:latin typeface="Malgun Gothic" pitchFamily="34" charset="0"/>
                <a:ea typeface="Malgun Gothic" pitchFamily="34" charset="-122"/>
                <a:cs typeface="Malgun Gothic" pitchFamily="34" charset="-120"/>
              </a:rPr>
              <a:t>큰 사용량 배수(≈4×/≈15×) </a:t>
            </a:r>
            <a:r>
              <a:rPr lang="en-US" altLang="ko-KR" sz="600" dirty="0">
                <a:solidFill>
                  <a:srgbClr val="666666"/>
                </a:solidFill>
                <a:latin typeface="Malgun Gothic" pitchFamily="34" charset="0"/>
                <a:ea typeface="Malgun Gothic" pitchFamily="34" charset="-122"/>
                <a:cs typeface="Malgun Gothic" pitchFamily="34" charset="-120"/>
              </a:rPr>
              <a:t>Anthropic Eng. Blog  [3] </a:t>
            </a:r>
            <a:r>
              <a:rPr lang="en-US" altLang="ko-KR" sz="600" dirty="0" err="1">
                <a:solidFill>
                  <a:srgbClr val="666666"/>
                </a:solidFill>
                <a:latin typeface="Malgun Gothic" pitchFamily="34" charset="0"/>
                <a:ea typeface="Malgun Gothic" pitchFamily="34" charset="-122"/>
                <a:cs typeface="Malgun Gothic" pitchFamily="34" charset="-120"/>
              </a:rPr>
              <a:t>OpenAI</a:t>
            </a:r>
            <a:r>
              <a:rPr lang="en-US" altLang="ko-KR" sz="600" dirty="0">
                <a:solidFill>
                  <a:srgbClr val="666666"/>
                </a:solidFill>
                <a:latin typeface="Malgun Gothic" pitchFamily="34" charset="0"/>
                <a:ea typeface="Malgun Gothic" pitchFamily="34" charset="-122"/>
                <a:cs typeface="Malgun Gothic" pitchFamily="34" charset="-120"/>
              </a:rPr>
              <a:t> ASTRA</a:t>
            </a:r>
            <a:endParaRPr lang="en-US" sz="600" dirty="0">
              <a:solidFill>
                <a:srgbClr val="666666"/>
              </a:solidFill>
              <a:latin typeface="Malgun Gothic" pitchFamily="34" charset="0"/>
              <a:ea typeface="Malgun Gothic" pitchFamily="34" charset="-122"/>
              <a:cs typeface="Malgun Gothic" pitchFamily="34" charset="-120"/>
            </a:endParaRPr>
          </a:p>
          <a:p>
            <a:r>
              <a:rPr lang="en-US" altLang="ko-KR" sz="600" dirty="0">
                <a:solidFill>
                  <a:srgbClr val="555555"/>
                </a:solidFill>
                <a:latin typeface="Noto Sans KR" pitchFamily="34" charset="0"/>
                <a:ea typeface="Noto Sans KR" pitchFamily="34" charset="-122"/>
                <a:cs typeface="Noto Sans KR" pitchFamily="34" charset="-120"/>
              </a:rPr>
              <a:t>[9] </a:t>
            </a:r>
            <a:r>
              <a:rPr lang="en-US" altLang="ko-KR" sz="600" dirty="0">
                <a:solidFill>
                  <a:srgbClr val="777777"/>
                </a:solidFill>
                <a:latin typeface="Arial"/>
              </a:rPr>
              <a:t>Conceptual illustration based on Continuum (Li et al., 2025), arXiv:2511.02230</a:t>
            </a:r>
            <a:endParaRPr lang="en-US" sz="600" dirty="0"/>
          </a:p>
        </p:txBody>
      </p:sp>
      <p:grpSp>
        <p:nvGrpSpPr>
          <p:cNvPr id="25" name="그룹 24"/>
          <p:cNvGrpSpPr/>
          <p:nvPr/>
        </p:nvGrpSpPr>
        <p:grpSpPr>
          <a:xfrm>
            <a:off x="400490" y="4858921"/>
            <a:ext cx="5498869" cy="1340256"/>
            <a:chOff x="503120" y="4611174"/>
            <a:chExt cx="5237018" cy="1206743"/>
          </a:xfrm>
        </p:grpSpPr>
        <p:sp>
          <p:nvSpPr>
            <p:cNvPr id="400" name="Rectangle 3"/>
            <p:cNvSpPr/>
            <p:nvPr/>
          </p:nvSpPr>
          <p:spPr>
            <a:xfrm>
              <a:off x="503120" y="4611174"/>
              <a:ext cx="5237018" cy="1206743"/>
            </a:xfrm>
            <a:prstGeom prst="rect">
              <a:avLst/>
            </a:prstGeom>
            <a:solidFill>
              <a:srgbClr val="FCFCF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1" name="Rectangle 4"/>
            <p:cNvSpPr/>
            <p:nvPr/>
          </p:nvSpPr>
          <p:spPr>
            <a:xfrm>
              <a:off x="4270857" y="4656516"/>
              <a:ext cx="8313" cy="9618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2" name="Rectangle 5"/>
            <p:cNvSpPr/>
            <p:nvPr/>
          </p:nvSpPr>
          <p:spPr>
            <a:xfrm>
              <a:off x="1251265" y="4682966"/>
              <a:ext cx="91440" cy="83127"/>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3" name="TextBox 402"/>
            <p:cNvSpPr txBox="1"/>
            <p:nvPr/>
          </p:nvSpPr>
          <p:spPr>
            <a:xfrm>
              <a:off x="1384268" y="4669106"/>
              <a:ext cx="1288473" cy="110847"/>
            </a:xfrm>
            <a:prstGeom prst="rect">
              <a:avLst/>
            </a:prstGeom>
            <a:noFill/>
          </p:spPr>
          <p:txBody>
            <a:bodyPr wrap="square" lIns="0" tIns="0" rIns="0" bIns="0" anchor="ctr">
              <a:spAutoFit/>
            </a:bodyPr>
            <a:lstStyle/>
            <a:p>
              <a:pPr algn="l"/>
              <a:r>
                <a:rPr sz="800" b="0" i="0" dirty="0">
                  <a:latin typeface="맑은 고딕"/>
                  <a:ea typeface="맑은 고딕"/>
                </a:rPr>
                <a:t>GPU </a:t>
              </a:r>
              <a:r>
                <a:rPr sz="800" b="0" i="0" dirty="0" err="1">
                  <a:latin typeface="맑은 고딕"/>
                  <a:ea typeface="맑은 고딕"/>
                </a:rPr>
                <a:t>연산</a:t>
              </a:r>
              <a:r>
                <a:rPr sz="800" b="0" i="0" dirty="0">
                  <a:latin typeface="맑은 고딕"/>
                  <a:ea typeface="맑은 고딕"/>
                </a:rPr>
                <a:t> 중</a:t>
              </a:r>
              <a:r>
                <a:rPr lang="en-US" sz="800" b="0" i="0" dirty="0">
                  <a:latin typeface="맑은 고딕"/>
                  <a:ea typeface="맑은 고딕"/>
                </a:rPr>
                <a:t> -</a:t>
              </a:r>
              <a:r>
                <a:rPr sz="800" b="0" i="0" dirty="0">
                  <a:latin typeface="맑은 고딕"/>
                  <a:ea typeface="맑은 고딕"/>
                </a:rPr>
                <a:t> KV </a:t>
              </a:r>
              <a:r>
                <a:rPr sz="800" b="0" i="0" dirty="0" err="1">
                  <a:latin typeface="맑은 고딕"/>
                  <a:ea typeface="맑은 고딕"/>
                </a:rPr>
                <a:t>사용</a:t>
              </a:r>
              <a:endParaRPr sz="800" b="0" i="0" dirty="0">
                <a:latin typeface="맑은 고딕"/>
                <a:ea typeface="맑은 고딕"/>
              </a:endParaRPr>
            </a:p>
          </p:txBody>
        </p:sp>
        <p:sp>
          <p:nvSpPr>
            <p:cNvPr id="404" name="Rectangle 7"/>
            <p:cNvSpPr/>
            <p:nvPr/>
          </p:nvSpPr>
          <p:spPr>
            <a:xfrm>
              <a:off x="2705993" y="4682966"/>
              <a:ext cx="91440" cy="83127"/>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5" name="TextBox 404"/>
            <p:cNvSpPr txBox="1"/>
            <p:nvPr/>
          </p:nvSpPr>
          <p:spPr>
            <a:xfrm>
              <a:off x="2838996" y="4669106"/>
              <a:ext cx="1288473" cy="110847"/>
            </a:xfrm>
            <a:prstGeom prst="rect">
              <a:avLst/>
            </a:prstGeom>
            <a:noFill/>
          </p:spPr>
          <p:txBody>
            <a:bodyPr wrap="square" lIns="0" tIns="0" rIns="0" bIns="0" anchor="ctr">
              <a:spAutoFit/>
            </a:bodyPr>
            <a:lstStyle/>
            <a:p>
              <a:pPr algn="l"/>
              <a:r>
                <a:rPr sz="800" b="0" i="0" dirty="0">
                  <a:latin typeface="맑은 고딕"/>
                  <a:ea typeface="맑은 고딕"/>
                </a:rPr>
                <a:t>GPU </a:t>
              </a:r>
              <a:r>
                <a:rPr sz="800" b="0" i="0" dirty="0" err="1">
                  <a:latin typeface="맑은 고딕"/>
                  <a:ea typeface="맑은 고딕"/>
                </a:rPr>
                <a:t>유휴</a:t>
              </a:r>
              <a:r>
                <a:rPr sz="800" b="0" i="0" dirty="0">
                  <a:latin typeface="맑은 고딕"/>
                  <a:ea typeface="맑은 고딕"/>
                </a:rPr>
                <a:t> </a:t>
              </a:r>
              <a:r>
                <a:rPr lang="en-US" sz="800" b="0" i="0" dirty="0">
                  <a:latin typeface="맑은 고딕"/>
                  <a:ea typeface="맑은 고딕"/>
                </a:rPr>
                <a:t>-</a:t>
              </a:r>
              <a:r>
                <a:rPr sz="800" b="0" i="0" dirty="0">
                  <a:latin typeface="맑은 고딕"/>
                  <a:ea typeface="맑은 고딕"/>
                </a:rPr>
                <a:t> KV </a:t>
              </a:r>
              <a:r>
                <a:rPr sz="800" b="0" i="0" dirty="0" err="1">
                  <a:latin typeface="맑은 고딕"/>
                  <a:ea typeface="맑은 고딕"/>
                </a:rPr>
                <a:t>점유만</a:t>
              </a:r>
              <a:endParaRPr sz="800" b="0" i="0" dirty="0">
                <a:latin typeface="맑은 고딕"/>
                <a:ea typeface="맑은 고딕"/>
              </a:endParaRPr>
            </a:p>
          </p:txBody>
        </p:sp>
        <p:sp>
          <p:nvSpPr>
            <p:cNvPr id="406" name="TextBox 405"/>
            <p:cNvSpPr txBox="1"/>
            <p:nvPr/>
          </p:nvSpPr>
          <p:spPr>
            <a:xfrm>
              <a:off x="707273" y="4849966"/>
              <a:ext cx="557485" cy="232778"/>
            </a:xfrm>
            <a:prstGeom prst="rect">
              <a:avLst/>
            </a:prstGeom>
            <a:noFill/>
          </p:spPr>
          <p:txBody>
            <a:bodyPr wrap="square" lIns="0" tIns="0" rIns="0" bIns="0" anchor="ctr">
              <a:spAutoFit/>
            </a:bodyPr>
            <a:lstStyle/>
            <a:p>
              <a:pPr algn="ctr">
                <a:lnSpc>
                  <a:spcPct val="105000"/>
                </a:lnSpc>
              </a:pPr>
              <a:r>
                <a:rPr sz="800" b="1" i="0" dirty="0">
                  <a:solidFill>
                    <a:srgbClr val="404040"/>
                  </a:solidFill>
                  <a:latin typeface="맑은 고딕"/>
                  <a:ea typeface="맑은 고딕"/>
                </a:rPr>
                <a:t>Agent A</a:t>
              </a:r>
              <a:r>
                <a:rPr lang="en-US" sz="800" b="1" i="0" dirty="0">
                  <a:solidFill>
                    <a:srgbClr val="404040"/>
                  </a:solidFill>
                  <a:latin typeface="맑은 고딕"/>
                  <a:ea typeface="맑은 고딕"/>
                </a:rPr>
                <a:t> </a:t>
              </a:r>
              <a:endParaRPr sz="800" b="1" i="0" dirty="0">
                <a:solidFill>
                  <a:srgbClr val="404040"/>
                </a:solidFill>
                <a:latin typeface="맑은 고딕"/>
                <a:ea typeface="맑은 고딕"/>
              </a:endParaRPr>
            </a:p>
            <a:p>
              <a:pPr algn="ctr">
                <a:lnSpc>
                  <a:spcPct val="105000"/>
                </a:lnSpc>
              </a:pPr>
              <a:r>
                <a:rPr sz="800" b="1" i="0" dirty="0" err="1">
                  <a:solidFill>
                    <a:srgbClr val="404040"/>
                  </a:solidFill>
                  <a:latin typeface="맑은 고딕"/>
                  <a:ea typeface="맑은 고딕"/>
                </a:rPr>
                <a:t>실행</a:t>
              </a:r>
              <a:r>
                <a:rPr sz="800" b="1" i="0" dirty="0">
                  <a:solidFill>
                    <a:srgbClr val="404040"/>
                  </a:solidFill>
                  <a:latin typeface="맑은 고딕"/>
                  <a:ea typeface="맑은 고딕"/>
                </a:rPr>
                <a:t> </a:t>
              </a:r>
              <a:r>
                <a:rPr sz="800" b="1" i="0" dirty="0" err="1">
                  <a:solidFill>
                    <a:srgbClr val="404040"/>
                  </a:solidFill>
                  <a:latin typeface="맑은 고딕"/>
                  <a:ea typeface="맑은 고딕"/>
                </a:rPr>
                <a:t>단계</a:t>
              </a:r>
              <a:endParaRPr sz="800" b="1" i="0" dirty="0">
                <a:solidFill>
                  <a:srgbClr val="404040"/>
                </a:solidFill>
                <a:latin typeface="맑은 고딕"/>
                <a:ea typeface="맑은 고딕"/>
              </a:endParaRPr>
            </a:p>
          </p:txBody>
        </p:sp>
        <p:sp>
          <p:nvSpPr>
            <p:cNvPr id="407" name="Rectangle 10"/>
            <p:cNvSpPr/>
            <p:nvPr/>
          </p:nvSpPr>
          <p:spPr>
            <a:xfrm>
              <a:off x="1251265" y="4852999"/>
              <a:ext cx="415271" cy="226711"/>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추론</a:t>
              </a:r>
            </a:p>
          </p:txBody>
        </p:sp>
        <p:sp>
          <p:nvSpPr>
            <p:cNvPr id="408" name="Rectangle 11"/>
            <p:cNvSpPr/>
            <p:nvPr/>
          </p:nvSpPr>
          <p:spPr>
            <a:xfrm>
              <a:off x="1666536" y="4852999"/>
              <a:ext cx="390844"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도구</a:t>
              </a:r>
            </a:p>
          </p:txBody>
        </p:sp>
        <p:sp>
          <p:nvSpPr>
            <p:cNvPr id="409" name="Rectangle 12"/>
            <p:cNvSpPr/>
            <p:nvPr/>
          </p:nvSpPr>
          <p:spPr>
            <a:xfrm>
              <a:off x="2057381" y="4852999"/>
              <a:ext cx="512983"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대기</a:t>
              </a:r>
            </a:p>
          </p:txBody>
        </p:sp>
        <p:sp>
          <p:nvSpPr>
            <p:cNvPr id="410" name="Rectangle 13"/>
            <p:cNvSpPr/>
            <p:nvPr/>
          </p:nvSpPr>
          <p:spPr>
            <a:xfrm>
              <a:off x="2570364" y="4852999"/>
              <a:ext cx="341988" cy="226711"/>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추론</a:t>
              </a:r>
            </a:p>
          </p:txBody>
        </p:sp>
        <p:sp>
          <p:nvSpPr>
            <p:cNvPr id="411" name="Rectangle 14"/>
            <p:cNvSpPr/>
            <p:nvPr/>
          </p:nvSpPr>
          <p:spPr>
            <a:xfrm>
              <a:off x="2912352" y="4852999"/>
              <a:ext cx="317560"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도구</a:t>
              </a:r>
            </a:p>
          </p:txBody>
        </p:sp>
        <p:sp>
          <p:nvSpPr>
            <p:cNvPr id="412" name="Rectangle 15"/>
            <p:cNvSpPr/>
            <p:nvPr/>
          </p:nvSpPr>
          <p:spPr>
            <a:xfrm>
              <a:off x="3229913" y="4852999"/>
              <a:ext cx="366415"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대기</a:t>
              </a:r>
            </a:p>
          </p:txBody>
        </p:sp>
        <p:sp>
          <p:nvSpPr>
            <p:cNvPr id="413" name="Rectangle 16"/>
            <p:cNvSpPr/>
            <p:nvPr/>
          </p:nvSpPr>
          <p:spPr>
            <a:xfrm>
              <a:off x="3596329" y="4852999"/>
              <a:ext cx="439699" cy="226711"/>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추론</a:t>
              </a:r>
            </a:p>
          </p:txBody>
        </p:sp>
        <p:sp>
          <p:nvSpPr>
            <p:cNvPr id="414" name="TextBox 413"/>
            <p:cNvSpPr txBox="1"/>
            <p:nvPr/>
          </p:nvSpPr>
          <p:spPr>
            <a:xfrm>
              <a:off x="707272" y="5210442"/>
              <a:ext cx="557485" cy="116389"/>
            </a:xfrm>
            <a:prstGeom prst="rect">
              <a:avLst/>
            </a:prstGeom>
            <a:noFill/>
          </p:spPr>
          <p:txBody>
            <a:bodyPr wrap="square" lIns="0" tIns="0" rIns="0" bIns="0" anchor="ctr">
              <a:spAutoFit/>
            </a:bodyPr>
            <a:lstStyle/>
            <a:p>
              <a:pPr algn="ctr">
                <a:lnSpc>
                  <a:spcPct val="105000"/>
                </a:lnSpc>
              </a:pPr>
              <a:r>
                <a:rPr sz="800" b="1" i="0" dirty="0">
                  <a:solidFill>
                    <a:srgbClr val="7B1A1A"/>
                  </a:solidFill>
                  <a:latin typeface="맑은 고딕"/>
                  <a:ea typeface="맑은 고딕"/>
                </a:rPr>
                <a:t>KV </a:t>
              </a:r>
              <a:r>
                <a:rPr sz="800" b="1" i="0" dirty="0" err="1">
                  <a:solidFill>
                    <a:srgbClr val="7B1A1A"/>
                  </a:solidFill>
                  <a:latin typeface="맑은 고딕"/>
                  <a:ea typeface="맑은 고딕"/>
                </a:rPr>
                <a:t>캐시</a:t>
              </a:r>
              <a:endParaRPr lang="en-US" sz="800" b="1" i="0" dirty="0">
                <a:solidFill>
                  <a:srgbClr val="7B1A1A"/>
                </a:solidFill>
                <a:latin typeface="맑은 고딕"/>
                <a:ea typeface="맑은 고딕"/>
              </a:endParaRPr>
            </a:p>
          </p:txBody>
        </p:sp>
        <p:sp>
          <p:nvSpPr>
            <p:cNvPr id="415" name="Rectangle 18"/>
            <p:cNvSpPr/>
            <p:nvPr/>
          </p:nvSpPr>
          <p:spPr>
            <a:xfrm>
              <a:off x="1251265" y="5155280"/>
              <a:ext cx="415271" cy="226711"/>
            </a:xfrm>
            <a:prstGeom prst="rect">
              <a:avLst/>
            </a:prstGeom>
            <a:solidFill>
              <a:srgbClr val="DAE8F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사용</a:t>
              </a:r>
            </a:p>
          </p:txBody>
        </p:sp>
        <p:sp>
          <p:nvSpPr>
            <p:cNvPr id="416" name="Rectangle 19"/>
            <p:cNvSpPr/>
            <p:nvPr/>
          </p:nvSpPr>
          <p:spPr>
            <a:xfrm>
              <a:off x="1666536" y="5155280"/>
              <a:ext cx="903826" cy="226711"/>
            </a:xfrm>
            <a:prstGeom prst="rect">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7B1A1A"/>
                  </a:solidFill>
                  <a:latin typeface="맑은 고딕"/>
                  <a:ea typeface="맑은 고딕"/>
                </a:rPr>
                <a:t>유휴</a:t>
              </a:r>
            </a:p>
          </p:txBody>
        </p:sp>
        <p:sp>
          <p:nvSpPr>
            <p:cNvPr id="417" name="Rectangle 20"/>
            <p:cNvSpPr/>
            <p:nvPr/>
          </p:nvSpPr>
          <p:spPr>
            <a:xfrm>
              <a:off x="2570364" y="5155280"/>
              <a:ext cx="341988" cy="226711"/>
            </a:xfrm>
            <a:prstGeom prst="rect">
              <a:avLst/>
            </a:prstGeom>
            <a:solidFill>
              <a:srgbClr val="DAE8F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사용</a:t>
              </a:r>
            </a:p>
          </p:txBody>
        </p:sp>
        <p:sp>
          <p:nvSpPr>
            <p:cNvPr id="418" name="Rectangle 21"/>
            <p:cNvSpPr/>
            <p:nvPr/>
          </p:nvSpPr>
          <p:spPr>
            <a:xfrm>
              <a:off x="2912352" y="5155280"/>
              <a:ext cx="683976" cy="226711"/>
            </a:xfrm>
            <a:prstGeom prst="rect">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7B1A1A"/>
                  </a:solidFill>
                  <a:latin typeface="맑은 고딕"/>
                  <a:ea typeface="맑은 고딕"/>
                </a:rPr>
                <a:t>유휴</a:t>
              </a:r>
            </a:p>
          </p:txBody>
        </p:sp>
        <p:sp>
          <p:nvSpPr>
            <p:cNvPr id="419" name="Rectangle 22"/>
            <p:cNvSpPr/>
            <p:nvPr/>
          </p:nvSpPr>
          <p:spPr>
            <a:xfrm>
              <a:off x="3596329" y="5155280"/>
              <a:ext cx="439699" cy="226711"/>
            </a:xfrm>
            <a:prstGeom prst="rect">
              <a:avLst/>
            </a:prstGeom>
            <a:solidFill>
              <a:srgbClr val="DAE8F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사용</a:t>
              </a:r>
            </a:p>
          </p:txBody>
        </p:sp>
        <p:sp>
          <p:nvSpPr>
            <p:cNvPr id="420" name="Rectangle 23"/>
            <p:cNvSpPr/>
            <p:nvPr/>
          </p:nvSpPr>
          <p:spPr>
            <a:xfrm>
              <a:off x="1251265" y="5155280"/>
              <a:ext cx="2784764" cy="226711"/>
            </a:xfrm>
            <a:prstGeom prst="rect">
              <a:avLst/>
            </a:prstGeom>
            <a:no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cxnSp>
          <p:nvCxnSpPr>
            <p:cNvPr id="421" name="Connector 24"/>
            <p:cNvCxnSpPr/>
            <p:nvPr/>
          </p:nvCxnSpPr>
          <p:spPr>
            <a:xfrm>
              <a:off x="1666536"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cxnSp>
          <p:nvCxnSpPr>
            <p:cNvPr id="422" name="Connector 25"/>
            <p:cNvCxnSpPr/>
            <p:nvPr/>
          </p:nvCxnSpPr>
          <p:spPr>
            <a:xfrm>
              <a:off x="2570364"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cxnSp>
          <p:nvCxnSpPr>
            <p:cNvPr id="423" name="Connector 26"/>
            <p:cNvCxnSpPr/>
            <p:nvPr/>
          </p:nvCxnSpPr>
          <p:spPr>
            <a:xfrm>
              <a:off x="2912352"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cxnSp>
          <p:nvCxnSpPr>
            <p:cNvPr id="424" name="Connector 27"/>
            <p:cNvCxnSpPr/>
            <p:nvPr/>
          </p:nvCxnSpPr>
          <p:spPr>
            <a:xfrm>
              <a:off x="3596329"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sp>
          <p:nvSpPr>
            <p:cNvPr id="425" name="TextBox 424"/>
            <p:cNvSpPr txBox="1"/>
            <p:nvPr/>
          </p:nvSpPr>
          <p:spPr>
            <a:xfrm>
              <a:off x="2052884" y="5622092"/>
              <a:ext cx="1229921" cy="138558"/>
            </a:xfrm>
            <a:prstGeom prst="rect">
              <a:avLst/>
            </a:prstGeom>
            <a:noFill/>
          </p:spPr>
          <p:txBody>
            <a:bodyPr wrap="square" lIns="0" tIns="0" rIns="0" bIns="0" anchor="t">
              <a:spAutoFit/>
            </a:bodyPr>
            <a:lstStyle/>
            <a:p>
              <a:pPr algn="l">
                <a:lnSpc>
                  <a:spcPct val="125000"/>
                </a:lnSpc>
              </a:pPr>
              <a:r>
                <a:rPr lang="ko-KR" altLang="en-US" sz="800" b="1" i="0" dirty="0">
                  <a:solidFill>
                    <a:srgbClr val="0066FF"/>
                  </a:solidFill>
                  <a:latin typeface="맑은 고딕" panose="020B0503020000020004" pitchFamily="50" charset="-127"/>
                  <a:ea typeface="맑은 고딕" panose="020B0503020000020004" pitchFamily="50" charset="-127"/>
                </a:rPr>
                <a:t>→ </a:t>
              </a:r>
              <a:r>
                <a:rPr sz="800" b="1" i="0" dirty="0">
                  <a:solidFill>
                    <a:srgbClr val="0066FF"/>
                  </a:solidFill>
                  <a:latin typeface="맑은 고딕"/>
                  <a:ea typeface="맑은 고딕"/>
                </a:rPr>
                <a:t>GPU </a:t>
              </a:r>
              <a:r>
                <a:rPr sz="800" b="1" i="0" dirty="0" err="1">
                  <a:solidFill>
                    <a:srgbClr val="0066FF"/>
                  </a:solidFill>
                  <a:latin typeface="맑은 고딕"/>
                  <a:ea typeface="맑은 고딕"/>
                </a:rPr>
                <a:t>연산</a:t>
              </a:r>
              <a:r>
                <a:rPr sz="800" b="1" i="0" dirty="0">
                  <a:solidFill>
                    <a:srgbClr val="0066FF"/>
                  </a:solidFill>
                  <a:latin typeface="맑은 고딕"/>
                  <a:ea typeface="맑은 고딕"/>
                </a:rPr>
                <a:t> 4.9초 (43%)</a:t>
              </a:r>
            </a:p>
          </p:txBody>
        </p:sp>
        <p:sp>
          <p:nvSpPr>
            <p:cNvPr id="426" name="TextBox 425"/>
            <p:cNvSpPr txBox="1"/>
            <p:nvPr/>
          </p:nvSpPr>
          <p:spPr>
            <a:xfrm>
              <a:off x="4452633" y="4675756"/>
              <a:ext cx="1124185" cy="124702"/>
            </a:xfrm>
            <a:prstGeom prst="rect">
              <a:avLst/>
            </a:prstGeom>
            <a:noFill/>
          </p:spPr>
          <p:txBody>
            <a:bodyPr wrap="square" lIns="0" tIns="0" rIns="0" bIns="0" anchor="ctr">
              <a:spAutoFit/>
            </a:bodyPr>
            <a:lstStyle/>
            <a:p>
              <a:pPr algn="ctr"/>
              <a:r>
                <a:rPr sz="900" b="1" i="0" dirty="0">
                  <a:solidFill>
                    <a:srgbClr val="404040"/>
                  </a:solidFill>
                  <a:latin typeface="맑은 고딕"/>
                  <a:ea typeface="맑은 고딕"/>
                </a:rPr>
                <a:t>HBM </a:t>
              </a:r>
              <a:r>
                <a:rPr sz="900" b="1" i="0" dirty="0" err="1">
                  <a:solidFill>
                    <a:srgbClr val="404040"/>
                  </a:solidFill>
                  <a:latin typeface="맑은 고딕"/>
                  <a:ea typeface="맑은 고딕"/>
                </a:rPr>
                <a:t>상주</a:t>
              </a:r>
              <a:r>
                <a:rPr sz="900" b="1" i="0" dirty="0">
                  <a:solidFill>
                    <a:srgbClr val="404040"/>
                  </a:solidFill>
                  <a:latin typeface="맑은 고딕"/>
                  <a:ea typeface="맑은 고딕"/>
                </a:rPr>
                <a:t> KV </a:t>
              </a:r>
              <a:r>
                <a:rPr sz="900" b="1" i="0" dirty="0" err="1">
                  <a:solidFill>
                    <a:srgbClr val="404040"/>
                  </a:solidFill>
                  <a:latin typeface="맑은 고딕"/>
                  <a:ea typeface="맑은 고딕"/>
                </a:rPr>
                <a:t>캐시</a:t>
              </a:r>
              <a:endParaRPr sz="900" b="1" i="0" dirty="0">
                <a:solidFill>
                  <a:srgbClr val="404040"/>
                </a:solidFill>
                <a:latin typeface="맑은 고딕"/>
                <a:ea typeface="맑은 고딕"/>
              </a:endParaRPr>
            </a:p>
          </p:txBody>
        </p:sp>
        <p:sp>
          <p:nvSpPr>
            <p:cNvPr id="427" name="Rectangle 30"/>
            <p:cNvSpPr/>
            <p:nvPr/>
          </p:nvSpPr>
          <p:spPr>
            <a:xfrm>
              <a:off x="4725985" y="4870956"/>
              <a:ext cx="581891" cy="302281"/>
            </a:xfrm>
            <a:prstGeom prst="rect">
              <a:avLst/>
            </a:prstGeom>
            <a:solidFill>
              <a:srgbClr val="FDECEC"/>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7B1A1A"/>
                  </a:solidFill>
                  <a:latin typeface="맑은 고딕"/>
                  <a:ea typeface="맑은 고딕"/>
                </a:rPr>
                <a:t>유휴 57%</a:t>
              </a:r>
            </a:p>
          </p:txBody>
        </p:sp>
        <p:sp>
          <p:nvSpPr>
            <p:cNvPr id="428" name="Rectangle 31"/>
            <p:cNvSpPr/>
            <p:nvPr/>
          </p:nvSpPr>
          <p:spPr>
            <a:xfrm>
              <a:off x="4725985" y="5173237"/>
              <a:ext cx="581891" cy="226711"/>
            </a:xfrm>
            <a:prstGeom prst="rect">
              <a:avLst/>
            </a:prstGeom>
            <a:solidFill>
              <a:srgbClr val="DAE8F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1F4E79"/>
                  </a:solidFill>
                  <a:latin typeface="맑은 고딕"/>
                  <a:ea typeface="맑은 고딕"/>
                </a:rPr>
                <a:t>사용 43%</a:t>
              </a:r>
            </a:p>
          </p:txBody>
        </p:sp>
        <p:cxnSp>
          <p:nvCxnSpPr>
            <p:cNvPr id="20" name="직선 연결선 19"/>
            <p:cNvCxnSpPr/>
            <p:nvPr/>
          </p:nvCxnSpPr>
          <p:spPr>
            <a:xfrm>
              <a:off x="1251265" y="5509101"/>
              <a:ext cx="2784763" cy="0"/>
            </a:xfrm>
            <a:prstGeom prst="line">
              <a:avLst/>
            </a:prstGeom>
            <a:ln>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38" name="TextBox 437"/>
            <p:cNvSpPr txBox="1"/>
            <p:nvPr/>
          </p:nvSpPr>
          <p:spPr>
            <a:xfrm>
              <a:off x="2029606" y="5452120"/>
              <a:ext cx="1156867" cy="138558"/>
            </a:xfrm>
            <a:prstGeom prst="rect">
              <a:avLst/>
            </a:prstGeom>
            <a:solidFill>
              <a:schemeClr val="bg1"/>
            </a:solidFill>
          </p:spPr>
          <p:txBody>
            <a:bodyPr wrap="square" lIns="0" tIns="0" rIns="0" bIns="0" anchor="t">
              <a:spAutoFit/>
            </a:bodyPr>
            <a:lstStyle/>
            <a:p>
              <a:pPr algn="ctr">
                <a:lnSpc>
                  <a:spcPct val="125000"/>
                </a:lnSpc>
              </a:pPr>
              <a:r>
                <a:rPr sz="800" b="1" i="0" dirty="0">
                  <a:solidFill>
                    <a:srgbClr val="404040"/>
                  </a:solidFill>
                  <a:latin typeface="맑은 고딕"/>
                  <a:ea typeface="맑은 고딕"/>
                </a:rPr>
                <a:t>HBM </a:t>
              </a:r>
              <a:r>
                <a:rPr sz="800" b="1" i="0" dirty="0" err="1">
                  <a:solidFill>
                    <a:srgbClr val="404040"/>
                  </a:solidFill>
                  <a:latin typeface="맑은 고딕"/>
                  <a:ea typeface="맑은 고딕"/>
                </a:rPr>
                <a:t>점유</a:t>
              </a:r>
              <a:r>
                <a:rPr sz="800" b="1" i="0" dirty="0">
                  <a:solidFill>
                    <a:srgbClr val="404040"/>
                  </a:solidFill>
                  <a:latin typeface="맑은 고딕"/>
                  <a:ea typeface="맑은 고딕"/>
                </a:rPr>
                <a:t> 11.4초 (100%)</a:t>
              </a:r>
            </a:p>
          </p:txBody>
        </p:sp>
      </p:grpSp>
      <p:sp>
        <p:nvSpPr>
          <p:cNvPr id="187" name="TextBox 186">
            <a:extLst>
              <a:ext uri="{FF2B5EF4-FFF2-40B4-BE49-F238E27FC236}">
                <a16:creationId xmlns:a16="http://schemas.microsoft.com/office/drawing/2014/main" id="{7AF71897-E419-4A9C-A232-B7F53889C234}"/>
              </a:ext>
            </a:extLst>
          </p:cNvPr>
          <p:cNvSpPr txBox="1"/>
          <p:nvPr/>
        </p:nvSpPr>
        <p:spPr>
          <a:xfrm>
            <a:off x="6175527" y="649600"/>
            <a:ext cx="5817691" cy="304635"/>
          </a:xfrm>
          <a:prstGeom prst="rect">
            <a:avLst/>
          </a:prstGeom>
          <a:noFill/>
        </p:spPr>
        <p:txBody>
          <a:bodyPr wrap="square" rtlCol="0">
            <a:spAutoFit/>
          </a:bodyPr>
          <a:lstStyle/>
          <a:p>
            <a:pPr marL="0" indent="0" algn="ctr">
              <a:lnSpc>
                <a:spcPts val="1820"/>
              </a:lnSpc>
              <a:buNone/>
            </a:pPr>
            <a:r>
              <a:rPr lang="ko-KR" altLang="en-US" sz="1400" b="1" dirty="0">
                <a:solidFill>
                  <a:srgbClr val="C55A11"/>
                </a:solidFill>
                <a:latin typeface="+mj-ea"/>
                <a:ea typeface="+mj-ea"/>
                <a:cs typeface="Noto Sans KR" pitchFamily="34" charset="-120"/>
              </a:rPr>
              <a:t>시장이 조금씩 바뀌고 있다</a:t>
            </a:r>
            <a:endParaRPr lang="en-US" altLang="ko-KR" sz="1400" dirty="0">
              <a:latin typeface="+mj-ea"/>
              <a:ea typeface="+mj-ea"/>
            </a:endParaRPr>
          </a:p>
        </p:txBody>
      </p:sp>
      <p:grpSp>
        <p:nvGrpSpPr>
          <p:cNvPr id="5" name="그룹 4">
            <a:extLst>
              <a:ext uri="{FF2B5EF4-FFF2-40B4-BE49-F238E27FC236}">
                <a16:creationId xmlns:a16="http://schemas.microsoft.com/office/drawing/2014/main" id="{7B151A57-A6F6-4975-86A4-2316D5054569}"/>
              </a:ext>
            </a:extLst>
          </p:cNvPr>
          <p:cNvGrpSpPr/>
          <p:nvPr/>
        </p:nvGrpSpPr>
        <p:grpSpPr>
          <a:xfrm>
            <a:off x="8768315" y="1869938"/>
            <a:ext cx="2950203" cy="1371489"/>
            <a:chOff x="10224236" y="3042764"/>
            <a:chExt cx="2950203" cy="1371489"/>
          </a:xfrm>
        </p:grpSpPr>
        <p:grpSp>
          <p:nvGrpSpPr>
            <p:cNvPr id="4" name="그룹 3">
              <a:extLst>
                <a:ext uri="{FF2B5EF4-FFF2-40B4-BE49-F238E27FC236}">
                  <a16:creationId xmlns:a16="http://schemas.microsoft.com/office/drawing/2014/main" id="{42294D34-36A0-4CD0-B955-F92C2020E544}"/>
                </a:ext>
              </a:extLst>
            </p:cNvPr>
            <p:cNvGrpSpPr/>
            <p:nvPr/>
          </p:nvGrpSpPr>
          <p:grpSpPr>
            <a:xfrm>
              <a:off x="10224236" y="3252433"/>
              <a:ext cx="2950203" cy="1161820"/>
              <a:chOff x="8811433" y="642225"/>
              <a:chExt cx="2950203" cy="1161820"/>
            </a:xfrm>
          </p:grpSpPr>
          <p:sp>
            <p:nvSpPr>
              <p:cNvPr id="296" name="Rectangle 27">
                <a:extLst>
                  <a:ext uri="{FF2B5EF4-FFF2-40B4-BE49-F238E27FC236}">
                    <a16:creationId xmlns:a16="http://schemas.microsoft.com/office/drawing/2014/main" id="{65497ED1-84C7-4BCC-A424-76DA57AEC332}"/>
                  </a:ext>
                </a:extLst>
              </p:cNvPr>
              <p:cNvSpPr/>
              <p:nvPr/>
            </p:nvSpPr>
            <p:spPr>
              <a:xfrm>
                <a:off x="9639343" y="660513"/>
                <a:ext cx="118872" cy="118872"/>
              </a:xfrm>
              <a:prstGeom prst="rect">
                <a:avLst/>
              </a:prstGeom>
              <a:solidFill>
                <a:srgbClr val="C55A11"/>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297" name="TextBox 296">
                <a:extLst>
                  <a:ext uri="{FF2B5EF4-FFF2-40B4-BE49-F238E27FC236}">
                    <a16:creationId xmlns:a16="http://schemas.microsoft.com/office/drawing/2014/main" id="{9CB43F3E-347C-4DB7-8D4F-10F6CA151A31}"/>
                  </a:ext>
                </a:extLst>
              </p:cNvPr>
              <p:cNvSpPr txBox="1"/>
              <p:nvPr/>
            </p:nvSpPr>
            <p:spPr>
              <a:xfrm>
                <a:off x="9803935" y="642225"/>
                <a:ext cx="382016" cy="155448"/>
              </a:xfrm>
              <a:prstGeom prst="rect">
                <a:avLst/>
              </a:prstGeom>
              <a:noFill/>
            </p:spPr>
            <p:txBody>
              <a:bodyPr wrap="square" lIns="0" tIns="0" rIns="0" bIns="0" anchor="ctr">
                <a:spAutoFit/>
              </a:bodyPr>
              <a:lstStyle/>
              <a:p>
                <a:r>
                  <a:rPr sz="850">
                    <a:solidFill>
                      <a:srgbClr val="595959"/>
                    </a:solidFill>
                    <a:ea typeface="맑은 고딕"/>
                  </a:rPr>
                  <a:t>DRAM</a:t>
                </a:r>
              </a:p>
            </p:txBody>
          </p:sp>
          <p:sp>
            <p:nvSpPr>
              <p:cNvPr id="298" name="Rectangle 29">
                <a:extLst>
                  <a:ext uri="{FF2B5EF4-FFF2-40B4-BE49-F238E27FC236}">
                    <a16:creationId xmlns:a16="http://schemas.microsoft.com/office/drawing/2014/main" id="{AF950194-6A8A-4E91-A170-64D9F18492B4}"/>
                  </a:ext>
                </a:extLst>
              </p:cNvPr>
              <p:cNvSpPr/>
              <p:nvPr/>
            </p:nvSpPr>
            <p:spPr>
              <a:xfrm>
                <a:off x="10387119" y="660513"/>
                <a:ext cx="118872" cy="118872"/>
              </a:xfrm>
              <a:prstGeom prst="rect">
                <a:avLst/>
              </a:prstGeom>
              <a:solidFill>
                <a:srgbClr val="F4B183"/>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299" name="TextBox 298">
                <a:extLst>
                  <a:ext uri="{FF2B5EF4-FFF2-40B4-BE49-F238E27FC236}">
                    <a16:creationId xmlns:a16="http://schemas.microsoft.com/office/drawing/2014/main" id="{0B151F0F-A052-4B08-A915-A1F397CBE25A}"/>
                  </a:ext>
                </a:extLst>
              </p:cNvPr>
              <p:cNvSpPr txBox="1"/>
              <p:nvPr/>
            </p:nvSpPr>
            <p:spPr>
              <a:xfrm>
                <a:off x="10551711" y="642225"/>
                <a:ext cx="382016" cy="155448"/>
              </a:xfrm>
              <a:prstGeom prst="rect">
                <a:avLst/>
              </a:prstGeom>
              <a:noFill/>
            </p:spPr>
            <p:txBody>
              <a:bodyPr wrap="square" lIns="0" tIns="0" rIns="0" bIns="0" anchor="ctr">
                <a:spAutoFit/>
              </a:bodyPr>
              <a:lstStyle/>
              <a:p>
                <a:r>
                  <a:rPr sz="850" dirty="0">
                    <a:solidFill>
                      <a:srgbClr val="595959"/>
                    </a:solidFill>
                    <a:ea typeface="맑은 고딕"/>
                  </a:rPr>
                  <a:t>NAND</a:t>
                </a:r>
              </a:p>
            </p:txBody>
          </p:sp>
          <p:sp>
            <p:nvSpPr>
              <p:cNvPr id="300" name="Rectangle 31">
                <a:extLst>
                  <a:ext uri="{FF2B5EF4-FFF2-40B4-BE49-F238E27FC236}">
                    <a16:creationId xmlns:a16="http://schemas.microsoft.com/office/drawing/2014/main" id="{99858662-0356-4DCE-BEDC-789B07AD7F1F}"/>
                  </a:ext>
                </a:extLst>
              </p:cNvPr>
              <p:cNvSpPr/>
              <p:nvPr/>
            </p:nvSpPr>
            <p:spPr>
              <a:xfrm>
                <a:off x="9009557" y="1245979"/>
                <a:ext cx="179240" cy="100333"/>
              </a:xfrm>
              <a:prstGeom prst="rect">
                <a:avLst/>
              </a:prstGeom>
              <a:solidFill>
                <a:srgbClr val="C55A11"/>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01" name="TextBox 300">
                <a:extLst>
                  <a:ext uri="{FF2B5EF4-FFF2-40B4-BE49-F238E27FC236}">
                    <a16:creationId xmlns:a16="http://schemas.microsoft.com/office/drawing/2014/main" id="{84BB3912-1ED6-49F7-AA5F-D069D157780E}"/>
                  </a:ext>
                </a:extLst>
              </p:cNvPr>
              <p:cNvSpPr txBox="1"/>
              <p:nvPr/>
            </p:nvSpPr>
            <p:spPr>
              <a:xfrm>
                <a:off x="8811433" y="1072243"/>
                <a:ext cx="475488" cy="164592"/>
              </a:xfrm>
              <a:prstGeom prst="rect">
                <a:avLst/>
              </a:prstGeom>
              <a:noFill/>
            </p:spPr>
            <p:txBody>
              <a:bodyPr wrap="square" lIns="0" tIns="0" rIns="0" bIns="0" anchor="ctr">
                <a:spAutoFit/>
              </a:bodyPr>
              <a:lstStyle/>
              <a:p>
                <a:pPr algn="ctr"/>
                <a:r>
                  <a:rPr sz="850" b="1">
                    <a:solidFill>
                      <a:srgbClr val="262626"/>
                    </a:solidFill>
                    <a:ea typeface="맑은 고딕"/>
                  </a:rPr>
                  <a:t>100</a:t>
                </a:r>
              </a:p>
            </p:txBody>
          </p:sp>
          <p:sp>
            <p:nvSpPr>
              <p:cNvPr id="302" name="Rectangle 33">
                <a:extLst>
                  <a:ext uri="{FF2B5EF4-FFF2-40B4-BE49-F238E27FC236}">
                    <a16:creationId xmlns:a16="http://schemas.microsoft.com/office/drawing/2014/main" id="{7A394E4F-759A-45F7-B2B0-390C00346EE9}"/>
                  </a:ext>
                </a:extLst>
              </p:cNvPr>
              <p:cNvSpPr/>
              <p:nvPr/>
            </p:nvSpPr>
            <p:spPr>
              <a:xfrm>
                <a:off x="9211657" y="1245980"/>
                <a:ext cx="179240" cy="100333"/>
              </a:xfrm>
              <a:prstGeom prst="rect">
                <a:avLst/>
              </a:prstGeom>
              <a:solidFill>
                <a:srgbClr val="F4B183"/>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03" name="TextBox 302">
                <a:extLst>
                  <a:ext uri="{FF2B5EF4-FFF2-40B4-BE49-F238E27FC236}">
                    <a16:creationId xmlns:a16="http://schemas.microsoft.com/office/drawing/2014/main" id="{2C113819-0452-4F4F-88F9-1FEB371F7003}"/>
                  </a:ext>
                </a:extLst>
              </p:cNvPr>
              <p:cNvSpPr txBox="1"/>
              <p:nvPr/>
            </p:nvSpPr>
            <p:spPr>
              <a:xfrm>
                <a:off x="9113534" y="1072244"/>
                <a:ext cx="475488" cy="164592"/>
              </a:xfrm>
              <a:prstGeom prst="rect">
                <a:avLst/>
              </a:prstGeom>
              <a:noFill/>
            </p:spPr>
            <p:txBody>
              <a:bodyPr wrap="square" lIns="0" tIns="0" rIns="0" bIns="0" anchor="ctr">
                <a:spAutoFit/>
              </a:bodyPr>
              <a:lstStyle/>
              <a:p>
                <a:pPr algn="ctr"/>
                <a:r>
                  <a:rPr sz="850" b="1">
                    <a:solidFill>
                      <a:srgbClr val="262626"/>
                    </a:solidFill>
                    <a:ea typeface="맑은 고딕"/>
                  </a:rPr>
                  <a:t>100</a:t>
                </a:r>
              </a:p>
            </p:txBody>
          </p:sp>
          <p:sp>
            <p:nvSpPr>
              <p:cNvPr id="304" name="TextBox 303">
                <a:extLst>
                  <a:ext uri="{FF2B5EF4-FFF2-40B4-BE49-F238E27FC236}">
                    <a16:creationId xmlns:a16="http://schemas.microsoft.com/office/drawing/2014/main" id="{52796464-D240-4441-B739-A1F6EA91766D}"/>
                  </a:ext>
                </a:extLst>
              </p:cNvPr>
              <p:cNvSpPr txBox="1"/>
              <p:nvPr/>
            </p:nvSpPr>
            <p:spPr>
              <a:xfrm>
                <a:off x="8928650" y="1373745"/>
                <a:ext cx="543153" cy="182880"/>
              </a:xfrm>
              <a:prstGeom prst="rect">
                <a:avLst/>
              </a:prstGeom>
              <a:noFill/>
            </p:spPr>
            <p:txBody>
              <a:bodyPr wrap="square" lIns="0" tIns="0" rIns="0" bIns="0" anchor="t">
                <a:spAutoFit/>
              </a:bodyPr>
              <a:lstStyle/>
              <a:p>
                <a:pPr algn="ctr"/>
                <a:r>
                  <a:rPr sz="950">
                    <a:solidFill>
                      <a:srgbClr val="595959"/>
                    </a:solidFill>
                    <a:ea typeface="맑은 고딕"/>
                  </a:rPr>
                  <a:t>4Q25</a:t>
                </a:r>
              </a:p>
            </p:txBody>
          </p:sp>
          <p:sp>
            <p:nvSpPr>
              <p:cNvPr id="305" name="Rectangle 36">
                <a:extLst>
                  <a:ext uri="{FF2B5EF4-FFF2-40B4-BE49-F238E27FC236}">
                    <a16:creationId xmlns:a16="http://schemas.microsoft.com/office/drawing/2014/main" id="{A582B03C-223E-4108-A406-0E0B70D9694E}"/>
                  </a:ext>
                </a:extLst>
              </p:cNvPr>
              <p:cNvSpPr/>
              <p:nvPr/>
            </p:nvSpPr>
            <p:spPr>
              <a:xfrm>
                <a:off x="9552710" y="1152669"/>
                <a:ext cx="179240" cy="193643"/>
              </a:xfrm>
              <a:prstGeom prst="rect">
                <a:avLst/>
              </a:prstGeom>
              <a:solidFill>
                <a:srgbClr val="C55A11"/>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06" name="TextBox 305">
                <a:extLst>
                  <a:ext uri="{FF2B5EF4-FFF2-40B4-BE49-F238E27FC236}">
                    <a16:creationId xmlns:a16="http://schemas.microsoft.com/office/drawing/2014/main" id="{272035E4-7539-46E5-AAA2-132D188A94B4}"/>
                  </a:ext>
                </a:extLst>
              </p:cNvPr>
              <p:cNvSpPr txBox="1"/>
              <p:nvPr/>
            </p:nvSpPr>
            <p:spPr>
              <a:xfrm>
                <a:off x="9354587" y="978933"/>
                <a:ext cx="475488" cy="164592"/>
              </a:xfrm>
              <a:prstGeom prst="rect">
                <a:avLst/>
              </a:prstGeom>
              <a:noFill/>
            </p:spPr>
            <p:txBody>
              <a:bodyPr wrap="square" lIns="0" tIns="0" rIns="0" bIns="0" anchor="ctr">
                <a:spAutoFit/>
              </a:bodyPr>
              <a:lstStyle/>
              <a:p>
                <a:pPr algn="ctr"/>
                <a:r>
                  <a:rPr sz="850" b="1">
                    <a:solidFill>
                      <a:srgbClr val="262626"/>
                    </a:solidFill>
                    <a:ea typeface="맑은 고딕"/>
                  </a:rPr>
                  <a:t>193</a:t>
                </a:r>
              </a:p>
            </p:txBody>
          </p:sp>
          <p:sp>
            <p:nvSpPr>
              <p:cNvPr id="307" name="Rectangle 38">
                <a:extLst>
                  <a:ext uri="{FF2B5EF4-FFF2-40B4-BE49-F238E27FC236}">
                    <a16:creationId xmlns:a16="http://schemas.microsoft.com/office/drawing/2014/main" id="{2031020D-E715-4F2A-A19E-DD89CED168D3}"/>
                  </a:ext>
                </a:extLst>
              </p:cNvPr>
              <p:cNvSpPr/>
              <p:nvPr/>
            </p:nvSpPr>
            <p:spPr>
              <a:xfrm>
                <a:off x="9754811" y="1187787"/>
                <a:ext cx="179240" cy="158526"/>
              </a:xfrm>
              <a:prstGeom prst="rect">
                <a:avLst/>
              </a:prstGeom>
              <a:solidFill>
                <a:srgbClr val="F4B183"/>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08" name="TextBox 307">
                <a:extLst>
                  <a:ext uri="{FF2B5EF4-FFF2-40B4-BE49-F238E27FC236}">
                    <a16:creationId xmlns:a16="http://schemas.microsoft.com/office/drawing/2014/main" id="{37115E8E-A317-4263-987C-19462A3C1928}"/>
                  </a:ext>
                </a:extLst>
              </p:cNvPr>
              <p:cNvSpPr txBox="1"/>
              <p:nvPr/>
            </p:nvSpPr>
            <p:spPr>
              <a:xfrm>
                <a:off x="9656687" y="1014051"/>
                <a:ext cx="475488" cy="164592"/>
              </a:xfrm>
              <a:prstGeom prst="rect">
                <a:avLst/>
              </a:prstGeom>
              <a:noFill/>
            </p:spPr>
            <p:txBody>
              <a:bodyPr wrap="square" lIns="0" tIns="0" rIns="0" bIns="0" anchor="ctr">
                <a:spAutoFit/>
              </a:bodyPr>
              <a:lstStyle/>
              <a:p>
                <a:pPr algn="ctr"/>
                <a:r>
                  <a:rPr sz="850" b="1">
                    <a:solidFill>
                      <a:srgbClr val="262626"/>
                    </a:solidFill>
                    <a:ea typeface="맑은 고딕"/>
                  </a:rPr>
                  <a:t>158</a:t>
                </a:r>
              </a:p>
            </p:txBody>
          </p:sp>
          <p:sp>
            <p:nvSpPr>
              <p:cNvPr id="309" name="TextBox 308">
                <a:extLst>
                  <a:ext uri="{FF2B5EF4-FFF2-40B4-BE49-F238E27FC236}">
                    <a16:creationId xmlns:a16="http://schemas.microsoft.com/office/drawing/2014/main" id="{15B2693A-159A-427F-805B-1618FE59AA7B}"/>
                  </a:ext>
                </a:extLst>
              </p:cNvPr>
              <p:cNvSpPr txBox="1"/>
              <p:nvPr/>
            </p:nvSpPr>
            <p:spPr>
              <a:xfrm>
                <a:off x="9471804" y="1373745"/>
                <a:ext cx="543153" cy="182880"/>
              </a:xfrm>
              <a:prstGeom prst="rect">
                <a:avLst/>
              </a:prstGeom>
              <a:noFill/>
            </p:spPr>
            <p:txBody>
              <a:bodyPr wrap="square" lIns="0" tIns="0" rIns="0" bIns="0" anchor="t">
                <a:spAutoFit/>
              </a:bodyPr>
              <a:lstStyle/>
              <a:p>
                <a:pPr algn="ctr"/>
                <a:r>
                  <a:rPr sz="950">
                    <a:solidFill>
                      <a:srgbClr val="595959"/>
                    </a:solidFill>
                    <a:ea typeface="맑은 고딕"/>
                  </a:rPr>
                  <a:t>1Q26</a:t>
                </a:r>
              </a:p>
            </p:txBody>
          </p:sp>
          <p:sp>
            <p:nvSpPr>
              <p:cNvPr id="310" name="Rectangle 41">
                <a:extLst>
                  <a:ext uri="{FF2B5EF4-FFF2-40B4-BE49-F238E27FC236}">
                    <a16:creationId xmlns:a16="http://schemas.microsoft.com/office/drawing/2014/main" id="{6EC55BC2-5F1F-402E-AE6B-E90399F2C058}"/>
                  </a:ext>
                </a:extLst>
              </p:cNvPr>
              <p:cNvSpPr/>
              <p:nvPr/>
            </p:nvSpPr>
            <p:spPr>
              <a:xfrm>
                <a:off x="10095864" y="1036283"/>
                <a:ext cx="179240" cy="310029"/>
              </a:xfrm>
              <a:prstGeom prst="rect">
                <a:avLst/>
              </a:prstGeom>
              <a:solidFill>
                <a:srgbClr val="C55A11"/>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11" name="TextBox 310">
                <a:extLst>
                  <a:ext uri="{FF2B5EF4-FFF2-40B4-BE49-F238E27FC236}">
                    <a16:creationId xmlns:a16="http://schemas.microsoft.com/office/drawing/2014/main" id="{72F1F4AD-8CB4-4E6A-AD0B-C3DF34F139D6}"/>
                  </a:ext>
                </a:extLst>
              </p:cNvPr>
              <p:cNvSpPr txBox="1"/>
              <p:nvPr/>
            </p:nvSpPr>
            <p:spPr>
              <a:xfrm>
                <a:off x="9897740" y="862547"/>
                <a:ext cx="475488" cy="164592"/>
              </a:xfrm>
              <a:prstGeom prst="rect">
                <a:avLst/>
              </a:prstGeom>
              <a:noFill/>
            </p:spPr>
            <p:txBody>
              <a:bodyPr wrap="square" lIns="0" tIns="0" rIns="0" bIns="0" anchor="ctr">
                <a:spAutoFit/>
              </a:bodyPr>
              <a:lstStyle/>
              <a:p>
                <a:pPr algn="ctr"/>
                <a:r>
                  <a:rPr sz="850" b="1">
                    <a:solidFill>
                      <a:srgbClr val="262626"/>
                    </a:solidFill>
                    <a:ea typeface="맑은 고딕"/>
                  </a:rPr>
                  <a:t>309</a:t>
                </a:r>
              </a:p>
            </p:txBody>
          </p:sp>
          <p:sp>
            <p:nvSpPr>
              <p:cNvPr id="312" name="Rectangle 43">
                <a:extLst>
                  <a:ext uri="{FF2B5EF4-FFF2-40B4-BE49-F238E27FC236}">
                    <a16:creationId xmlns:a16="http://schemas.microsoft.com/office/drawing/2014/main" id="{023093C7-2AA5-436C-B82B-F1662E66ED7C}"/>
                  </a:ext>
                </a:extLst>
              </p:cNvPr>
              <p:cNvSpPr/>
              <p:nvPr/>
            </p:nvSpPr>
            <p:spPr>
              <a:xfrm>
                <a:off x="10297965" y="1073407"/>
                <a:ext cx="179240" cy="272906"/>
              </a:xfrm>
              <a:prstGeom prst="rect">
                <a:avLst/>
              </a:prstGeom>
              <a:solidFill>
                <a:srgbClr val="F4B183"/>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13" name="TextBox 312">
                <a:extLst>
                  <a:ext uri="{FF2B5EF4-FFF2-40B4-BE49-F238E27FC236}">
                    <a16:creationId xmlns:a16="http://schemas.microsoft.com/office/drawing/2014/main" id="{38964C26-7DE7-4B88-8846-FAE2D699FDE0}"/>
                  </a:ext>
                </a:extLst>
              </p:cNvPr>
              <p:cNvSpPr txBox="1"/>
              <p:nvPr/>
            </p:nvSpPr>
            <p:spPr>
              <a:xfrm>
                <a:off x="10199841" y="899671"/>
                <a:ext cx="475488" cy="164592"/>
              </a:xfrm>
              <a:prstGeom prst="rect">
                <a:avLst/>
              </a:prstGeom>
              <a:noFill/>
            </p:spPr>
            <p:txBody>
              <a:bodyPr wrap="square" lIns="0" tIns="0" rIns="0" bIns="0" anchor="ctr">
                <a:spAutoFit/>
              </a:bodyPr>
              <a:lstStyle/>
              <a:p>
                <a:pPr algn="ctr"/>
                <a:r>
                  <a:rPr sz="850" b="1">
                    <a:solidFill>
                      <a:srgbClr val="262626"/>
                    </a:solidFill>
                    <a:ea typeface="맑은 고딕"/>
                  </a:rPr>
                  <a:t>272</a:t>
                </a:r>
              </a:p>
            </p:txBody>
          </p:sp>
          <p:sp>
            <p:nvSpPr>
              <p:cNvPr id="314" name="TextBox 313">
                <a:extLst>
                  <a:ext uri="{FF2B5EF4-FFF2-40B4-BE49-F238E27FC236}">
                    <a16:creationId xmlns:a16="http://schemas.microsoft.com/office/drawing/2014/main" id="{D6FDE36B-A200-4F36-BD4D-2B1B30C03A6B}"/>
                  </a:ext>
                </a:extLst>
              </p:cNvPr>
              <p:cNvSpPr txBox="1"/>
              <p:nvPr/>
            </p:nvSpPr>
            <p:spPr>
              <a:xfrm>
                <a:off x="10014958" y="1373745"/>
                <a:ext cx="543153" cy="182880"/>
              </a:xfrm>
              <a:prstGeom prst="rect">
                <a:avLst/>
              </a:prstGeom>
              <a:noFill/>
            </p:spPr>
            <p:txBody>
              <a:bodyPr wrap="square" lIns="0" tIns="0" rIns="0" bIns="0" anchor="t">
                <a:spAutoFit/>
              </a:bodyPr>
              <a:lstStyle/>
              <a:p>
                <a:pPr algn="ctr"/>
                <a:r>
                  <a:rPr sz="950">
                    <a:solidFill>
                      <a:srgbClr val="595959"/>
                    </a:solidFill>
                    <a:ea typeface="맑은 고딕"/>
                  </a:rPr>
                  <a:t>2Q26</a:t>
                </a:r>
              </a:p>
            </p:txBody>
          </p:sp>
          <p:sp>
            <p:nvSpPr>
              <p:cNvPr id="315" name="Rectangle 46">
                <a:extLst>
                  <a:ext uri="{FF2B5EF4-FFF2-40B4-BE49-F238E27FC236}">
                    <a16:creationId xmlns:a16="http://schemas.microsoft.com/office/drawing/2014/main" id="{2769CC77-048E-4BA2-B6F4-3DD3B3A64639}"/>
                  </a:ext>
                </a:extLst>
              </p:cNvPr>
              <p:cNvSpPr/>
              <p:nvPr/>
            </p:nvSpPr>
            <p:spPr>
              <a:xfrm>
                <a:off x="10639017" y="988123"/>
                <a:ext cx="179240" cy="358189"/>
              </a:xfrm>
              <a:prstGeom prst="rect">
                <a:avLst/>
              </a:prstGeom>
              <a:solidFill>
                <a:srgbClr val="C55A11"/>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16" name="TextBox 315">
                <a:extLst>
                  <a:ext uri="{FF2B5EF4-FFF2-40B4-BE49-F238E27FC236}">
                    <a16:creationId xmlns:a16="http://schemas.microsoft.com/office/drawing/2014/main" id="{053D36A0-87F5-4EE6-8B9F-CE3E1EE8ABFC}"/>
                  </a:ext>
                </a:extLst>
              </p:cNvPr>
              <p:cNvSpPr txBox="1"/>
              <p:nvPr/>
            </p:nvSpPr>
            <p:spPr>
              <a:xfrm>
                <a:off x="10440894" y="814387"/>
                <a:ext cx="475488" cy="164592"/>
              </a:xfrm>
              <a:prstGeom prst="rect">
                <a:avLst/>
              </a:prstGeom>
              <a:noFill/>
            </p:spPr>
            <p:txBody>
              <a:bodyPr wrap="square" lIns="0" tIns="0" rIns="0" bIns="0" anchor="ctr">
                <a:spAutoFit/>
              </a:bodyPr>
              <a:lstStyle/>
              <a:p>
                <a:pPr algn="ctr"/>
                <a:r>
                  <a:rPr sz="850" b="1">
                    <a:solidFill>
                      <a:srgbClr val="262626"/>
                    </a:solidFill>
                    <a:ea typeface="맑은 고딕"/>
                  </a:rPr>
                  <a:t>357</a:t>
                </a:r>
              </a:p>
            </p:txBody>
          </p:sp>
          <p:sp>
            <p:nvSpPr>
              <p:cNvPr id="317" name="Rectangle 48">
                <a:extLst>
                  <a:ext uri="{FF2B5EF4-FFF2-40B4-BE49-F238E27FC236}">
                    <a16:creationId xmlns:a16="http://schemas.microsoft.com/office/drawing/2014/main" id="{CA671856-2261-4712-81BA-407EDE29ED03}"/>
                  </a:ext>
                </a:extLst>
              </p:cNvPr>
              <p:cNvSpPr/>
              <p:nvPr/>
            </p:nvSpPr>
            <p:spPr>
              <a:xfrm>
                <a:off x="10841118" y="1039294"/>
                <a:ext cx="179240" cy="307019"/>
              </a:xfrm>
              <a:prstGeom prst="rect">
                <a:avLst/>
              </a:prstGeom>
              <a:solidFill>
                <a:srgbClr val="F4B183"/>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18" name="TextBox 317">
                <a:extLst>
                  <a:ext uri="{FF2B5EF4-FFF2-40B4-BE49-F238E27FC236}">
                    <a16:creationId xmlns:a16="http://schemas.microsoft.com/office/drawing/2014/main" id="{3A3E3D3B-97BA-41F4-87B6-FF03021F93A8}"/>
                  </a:ext>
                </a:extLst>
              </p:cNvPr>
              <p:cNvSpPr txBox="1"/>
              <p:nvPr/>
            </p:nvSpPr>
            <p:spPr>
              <a:xfrm>
                <a:off x="10742994" y="865558"/>
                <a:ext cx="475488" cy="164592"/>
              </a:xfrm>
              <a:prstGeom prst="rect">
                <a:avLst/>
              </a:prstGeom>
              <a:noFill/>
            </p:spPr>
            <p:txBody>
              <a:bodyPr wrap="square" lIns="0" tIns="0" rIns="0" bIns="0" anchor="ctr">
                <a:spAutoFit/>
              </a:bodyPr>
              <a:lstStyle/>
              <a:p>
                <a:pPr algn="ctr"/>
                <a:r>
                  <a:rPr sz="850" b="1">
                    <a:solidFill>
                      <a:srgbClr val="262626"/>
                    </a:solidFill>
                    <a:ea typeface="맑은 고딕"/>
                  </a:rPr>
                  <a:t>306</a:t>
                </a:r>
              </a:p>
            </p:txBody>
          </p:sp>
          <p:sp>
            <p:nvSpPr>
              <p:cNvPr id="319" name="TextBox 318">
                <a:extLst>
                  <a:ext uri="{FF2B5EF4-FFF2-40B4-BE49-F238E27FC236}">
                    <a16:creationId xmlns:a16="http://schemas.microsoft.com/office/drawing/2014/main" id="{C05DFCE8-042D-415F-85E7-92DAB97C2B48}"/>
                  </a:ext>
                </a:extLst>
              </p:cNvPr>
              <p:cNvSpPr txBox="1"/>
              <p:nvPr/>
            </p:nvSpPr>
            <p:spPr>
              <a:xfrm>
                <a:off x="10558111" y="1373745"/>
                <a:ext cx="543153" cy="182880"/>
              </a:xfrm>
              <a:prstGeom prst="rect">
                <a:avLst/>
              </a:prstGeom>
              <a:noFill/>
            </p:spPr>
            <p:txBody>
              <a:bodyPr wrap="square" lIns="0" tIns="0" rIns="0" bIns="0" anchor="t">
                <a:spAutoFit/>
              </a:bodyPr>
              <a:lstStyle/>
              <a:p>
                <a:pPr algn="ctr"/>
                <a:r>
                  <a:rPr sz="950">
                    <a:solidFill>
                      <a:srgbClr val="595959"/>
                    </a:solidFill>
                    <a:ea typeface="맑은 고딕"/>
                  </a:rPr>
                  <a:t>3Q26</a:t>
                </a:r>
              </a:p>
            </p:txBody>
          </p:sp>
          <p:sp>
            <p:nvSpPr>
              <p:cNvPr id="320" name="Rectangle 51">
                <a:extLst>
                  <a:ext uri="{FF2B5EF4-FFF2-40B4-BE49-F238E27FC236}">
                    <a16:creationId xmlns:a16="http://schemas.microsoft.com/office/drawing/2014/main" id="{9BCA8491-C43C-41F1-83C9-A19CFDA656D8}"/>
                  </a:ext>
                </a:extLst>
              </p:cNvPr>
              <p:cNvSpPr/>
              <p:nvPr/>
            </p:nvSpPr>
            <p:spPr>
              <a:xfrm>
                <a:off x="11182171" y="943977"/>
                <a:ext cx="179240" cy="402336"/>
              </a:xfrm>
              <a:prstGeom prst="rect">
                <a:avLst/>
              </a:prstGeom>
              <a:solidFill>
                <a:srgbClr val="C55A11"/>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21" name="TextBox 320">
                <a:extLst>
                  <a:ext uri="{FF2B5EF4-FFF2-40B4-BE49-F238E27FC236}">
                    <a16:creationId xmlns:a16="http://schemas.microsoft.com/office/drawing/2014/main" id="{AC6CEF2F-FB6D-41AD-96F4-A9B1C8DCE035}"/>
                  </a:ext>
                </a:extLst>
              </p:cNvPr>
              <p:cNvSpPr txBox="1"/>
              <p:nvPr/>
            </p:nvSpPr>
            <p:spPr>
              <a:xfrm>
                <a:off x="10984047" y="770241"/>
                <a:ext cx="475488" cy="164592"/>
              </a:xfrm>
              <a:prstGeom prst="rect">
                <a:avLst/>
              </a:prstGeom>
              <a:noFill/>
            </p:spPr>
            <p:txBody>
              <a:bodyPr wrap="square" lIns="0" tIns="0" rIns="0" bIns="0" anchor="ctr">
                <a:spAutoFit/>
              </a:bodyPr>
              <a:lstStyle/>
              <a:p>
                <a:pPr algn="ctr"/>
                <a:r>
                  <a:rPr sz="850" b="1">
                    <a:solidFill>
                      <a:srgbClr val="262626"/>
                    </a:solidFill>
                    <a:ea typeface="맑은 고딕"/>
                  </a:rPr>
                  <a:t>≈401</a:t>
                </a:r>
              </a:p>
            </p:txBody>
          </p:sp>
          <p:sp>
            <p:nvSpPr>
              <p:cNvPr id="322" name="Rectangle 53">
                <a:extLst>
                  <a:ext uri="{FF2B5EF4-FFF2-40B4-BE49-F238E27FC236}">
                    <a16:creationId xmlns:a16="http://schemas.microsoft.com/office/drawing/2014/main" id="{55587B5A-B2B9-4251-A443-2EBB8501C4B4}"/>
                  </a:ext>
                </a:extLst>
              </p:cNvPr>
              <p:cNvSpPr/>
              <p:nvPr/>
            </p:nvSpPr>
            <p:spPr>
              <a:xfrm>
                <a:off x="11384272" y="986117"/>
                <a:ext cx="179240" cy="360196"/>
              </a:xfrm>
              <a:prstGeom prst="rect">
                <a:avLst/>
              </a:prstGeom>
              <a:solidFill>
                <a:srgbClr val="F4B183"/>
              </a:solidFill>
              <a:ln w="6350" cap="flat" cmpd="sng" algn="ctr">
                <a:noFill/>
                <a:prstDash val="solid"/>
                <a:miter lim="800000"/>
              </a:ln>
              <a:effectLst/>
            </p:spPr>
            <p:txBody>
              <a:bodyPr wrap="square" lIns="27432" tIns="0" rIns="27432" bIns="0" rtlCol="0" anchor="ctr"/>
              <a:lstStyle/>
              <a:p>
                <a:pPr marL="0" marR="0" lvl="0" indent="0" algn="ctr" defTabSz="914400" eaLnBrk="1" fontAlgn="auto" latinLnBrk="0" hangingPunct="1">
                  <a:lnSpc>
                    <a:spcPct val="95000"/>
                  </a:lnSpc>
                  <a:spcBef>
                    <a:spcPts val="0"/>
                  </a:spcBef>
                  <a:spcAft>
                    <a:spcPts val="0"/>
                  </a:spcAft>
                  <a:buClrTx/>
                  <a:buSzTx/>
                  <a:buFontTx/>
                  <a:buNone/>
                  <a:tabLst/>
                  <a:defRPr/>
                </a:pPr>
                <a:endParaRPr kumimoji="0" sz="1800" b="0" i="0" u="none" strike="noStrike" kern="0" cap="none" spc="0" normalizeH="0" baseline="0" noProof="0">
                  <a:ln>
                    <a:noFill/>
                  </a:ln>
                  <a:solidFill>
                    <a:prstClr val="white"/>
                  </a:solidFill>
                  <a:effectLst/>
                  <a:uLnTx/>
                  <a:uFillTx/>
                  <a:latin typeface="맑은 고딕" panose="020F0502020204030204"/>
                  <a:ea typeface="+mn-ea"/>
                  <a:cs typeface="+mn-cs"/>
                </a:endParaRPr>
              </a:p>
            </p:txBody>
          </p:sp>
          <p:sp>
            <p:nvSpPr>
              <p:cNvPr id="323" name="TextBox 322">
                <a:extLst>
                  <a:ext uri="{FF2B5EF4-FFF2-40B4-BE49-F238E27FC236}">
                    <a16:creationId xmlns:a16="http://schemas.microsoft.com/office/drawing/2014/main" id="{04049E89-0553-4958-94B3-B1D3DE1F0A6A}"/>
                  </a:ext>
                </a:extLst>
              </p:cNvPr>
              <p:cNvSpPr txBox="1"/>
              <p:nvPr/>
            </p:nvSpPr>
            <p:spPr>
              <a:xfrm>
                <a:off x="11286148" y="812381"/>
                <a:ext cx="475488" cy="164592"/>
              </a:xfrm>
              <a:prstGeom prst="rect">
                <a:avLst/>
              </a:prstGeom>
              <a:noFill/>
            </p:spPr>
            <p:txBody>
              <a:bodyPr wrap="square" lIns="0" tIns="0" rIns="0" bIns="0" anchor="ctr">
                <a:spAutoFit/>
              </a:bodyPr>
              <a:lstStyle/>
              <a:p>
                <a:pPr algn="ctr"/>
                <a:r>
                  <a:rPr sz="850" b="1">
                    <a:solidFill>
                      <a:srgbClr val="262626"/>
                    </a:solidFill>
                    <a:ea typeface="맑은 고딕"/>
                  </a:rPr>
                  <a:t>359</a:t>
                </a:r>
              </a:p>
            </p:txBody>
          </p:sp>
          <p:sp>
            <p:nvSpPr>
              <p:cNvPr id="324" name="TextBox 323">
                <a:extLst>
                  <a:ext uri="{FF2B5EF4-FFF2-40B4-BE49-F238E27FC236}">
                    <a16:creationId xmlns:a16="http://schemas.microsoft.com/office/drawing/2014/main" id="{EAF87E5F-CEB1-4B4D-A0D5-AF746EC8718F}"/>
                  </a:ext>
                </a:extLst>
              </p:cNvPr>
              <p:cNvSpPr txBox="1"/>
              <p:nvPr/>
            </p:nvSpPr>
            <p:spPr>
              <a:xfrm>
                <a:off x="11101265" y="1373745"/>
                <a:ext cx="543153" cy="182880"/>
              </a:xfrm>
              <a:prstGeom prst="rect">
                <a:avLst/>
              </a:prstGeom>
              <a:noFill/>
            </p:spPr>
            <p:txBody>
              <a:bodyPr wrap="square" lIns="0" tIns="0" rIns="0" bIns="0" anchor="t">
                <a:spAutoFit/>
              </a:bodyPr>
              <a:lstStyle/>
              <a:p>
                <a:pPr algn="ctr"/>
                <a:r>
                  <a:rPr sz="950">
                    <a:solidFill>
                      <a:srgbClr val="595959"/>
                    </a:solidFill>
                    <a:ea typeface="맑은 고딕"/>
                  </a:rPr>
                  <a:t>4Q26E</a:t>
                </a:r>
              </a:p>
            </p:txBody>
          </p:sp>
          <p:sp>
            <p:nvSpPr>
              <p:cNvPr id="325" name="TextBox 324">
                <a:extLst>
                  <a:ext uri="{FF2B5EF4-FFF2-40B4-BE49-F238E27FC236}">
                    <a16:creationId xmlns:a16="http://schemas.microsoft.com/office/drawing/2014/main" id="{403193B1-5E2C-4B21-8D12-C76910DEC5BD}"/>
                  </a:ext>
                </a:extLst>
              </p:cNvPr>
              <p:cNvSpPr txBox="1"/>
              <p:nvPr/>
            </p:nvSpPr>
            <p:spPr>
              <a:xfrm>
                <a:off x="8946938" y="1641436"/>
                <a:ext cx="2679191" cy="162609"/>
              </a:xfrm>
              <a:prstGeom prst="rect">
                <a:avLst/>
              </a:prstGeom>
              <a:noFill/>
            </p:spPr>
            <p:txBody>
              <a:bodyPr wrap="square" lIns="0" tIns="0" rIns="0" bIns="0" anchor="ctr">
                <a:spAutoFit/>
              </a:bodyPr>
              <a:lstStyle/>
              <a:p>
                <a:pPr marL="0" marR="0" lvl="0" indent="0" algn="l" defTabSz="914400" rtl="0" eaLnBrk="1" fontAlgn="auto" latinLnBrk="1" hangingPunct="1">
                  <a:lnSpc>
                    <a:spcPts val="1440"/>
                  </a:lnSpc>
                  <a:spcBef>
                    <a:spcPts val="0"/>
                  </a:spcBef>
                  <a:spcAft>
                    <a:spcPts val="0"/>
                  </a:spcAft>
                  <a:buClrTx/>
                  <a:buSzTx/>
                  <a:buFontTx/>
                  <a:buNone/>
                  <a:tabLst/>
                  <a:defRPr/>
                </a:pPr>
                <a:r>
                  <a:rPr kumimoji="0" lang="en-US" altLang="ko-KR" sz="1000" b="1" i="0" u="none" strike="noStrike" kern="1200" cap="none" spc="0" normalizeH="0" baseline="0" noProof="0" dirty="0" err="1">
                    <a:ln>
                      <a:noFill/>
                    </a:ln>
                    <a:solidFill>
                      <a:srgbClr val="7A3608"/>
                    </a:solidFill>
                    <a:effectLst/>
                    <a:uLnTx/>
                    <a:uFillTx/>
                    <a:latin typeface="+mn-lt"/>
                    <a:ea typeface="+mn-ea"/>
                    <a:cs typeface="Noto Sans KR" pitchFamily="34" charset="-120"/>
                  </a:rPr>
                  <a:t>가격</a:t>
                </a:r>
                <a:r>
                  <a:rPr kumimoji="0" lang="en-US" altLang="ko-KR" sz="1000" b="1" i="0" u="none" strike="noStrike" kern="1200" cap="none" spc="0" normalizeH="0" baseline="0" noProof="0" dirty="0">
                    <a:ln>
                      <a:noFill/>
                    </a:ln>
                    <a:solidFill>
                      <a:srgbClr val="7A3608"/>
                    </a:solidFill>
                    <a:effectLst/>
                    <a:uLnTx/>
                    <a:uFillTx/>
                    <a:latin typeface="+mn-lt"/>
                    <a:ea typeface="+mn-ea"/>
                    <a:cs typeface="Noto Sans KR" pitchFamily="34" charset="-120"/>
                  </a:rPr>
                  <a:t> </a:t>
                </a:r>
                <a:r>
                  <a:rPr kumimoji="0" lang="en-US" altLang="ko-KR" sz="1000" b="1" i="0" u="none" strike="noStrike" kern="1200" cap="none" spc="0" normalizeH="0" baseline="0" noProof="0" dirty="0" err="1">
                    <a:ln>
                      <a:noFill/>
                    </a:ln>
                    <a:solidFill>
                      <a:srgbClr val="7A3608"/>
                    </a:solidFill>
                    <a:effectLst/>
                    <a:uLnTx/>
                    <a:uFillTx/>
                    <a:latin typeface="+mn-lt"/>
                    <a:ea typeface="+mn-ea"/>
                    <a:cs typeface="Noto Sans KR" pitchFamily="34" charset="-120"/>
                  </a:rPr>
                  <a:t>계속</a:t>
                </a:r>
                <a:r>
                  <a:rPr kumimoji="0" lang="en-US" altLang="ko-KR" sz="1000" b="1" i="0" u="none" strike="noStrike" kern="1200" cap="none" spc="0" normalizeH="0" baseline="0" noProof="0" dirty="0">
                    <a:ln>
                      <a:noFill/>
                    </a:ln>
                    <a:solidFill>
                      <a:srgbClr val="7A3608"/>
                    </a:solidFill>
                    <a:effectLst/>
                    <a:uLnTx/>
                    <a:uFillTx/>
                    <a:latin typeface="+mn-lt"/>
                    <a:ea typeface="+mn-ea"/>
                    <a:cs typeface="Noto Sans KR" pitchFamily="34" charset="-120"/>
                  </a:rPr>
                  <a:t> </a:t>
                </a:r>
                <a:r>
                  <a:rPr kumimoji="0" lang="en-US" altLang="ko-KR" sz="1000" b="1" i="0" u="none" strike="noStrike" kern="1200" cap="none" spc="0" normalizeH="0" baseline="0" noProof="0" dirty="0" err="1">
                    <a:ln>
                      <a:noFill/>
                    </a:ln>
                    <a:solidFill>
                      <a:srgbClr val="7A3608"/>
                    </a:solidFill>
                    <a:effectLst/>
                    <a:uLnTx/>
                    <a:uFillTx/>
                    <a:latin typeface="+mn-lt"/>
                    <a:ea typeface="+mn-ea"/>
                    <a:cs typeface="Noto Sans KR" pitchFamily="34" charset="-120"/>
                  </a:rPr>
                  <a:t>상승</a:t>
                </a:r>
                <a:r>
                  <a:rPr kumimoji="0" lang="en-US" altLang="ko-KR" sz="1000" b="1" i="0" u="none" strike="noStrike" kern="1200" cap="none" spc="0" normalizeH="0" baseline="0" noProof="0" dirty="0">
                    <a:ln>
                      <a:noFill/>
                    </a:ln>
                    <a:solidFill>
                      <a:srgbClr val="7A3608"/>
                    </a:solidFill>
                    <a:effectLst/>
                    <a:uLnTx/>
                    <a:uFillTx/>
                    <a:latin typeface="+mn-lt"/>
                    <a:ea typeface="+mn-ea"/>
                    <a:cs typeface="Noto Sans KR" pitchFamily="34" charset="-120"/>
                  </a:rPr>
                  <a:t> (</a:t>
                </a:r>
                <a:r>
                  <a:rPr kumimoji="0" lang="en-US" altLang="ko-KR" sz="1000" b="1" i="0" u="none" strike="noStrike" kern="1200" cap="none" spc="0" normalizeH="0" baseline="0" noProof="0" dirty="0" err="1">
                    <a:ln>
                      <a:noFill/>
                    </a:ln>
                    <a:solidFill>
                      <a:srgbClr val="7A3608"/>
                    </a:solidFill>
                    <a:effectLst/>
                    <a:uLnTx/>
                    <a:uFillTx/>
                    <a:latin typeface="맑은 고딕" panose="020B0503020000020004" pitchFamily="50" charset="-127"/>
                    <a:ea typeface="맑은 고딕" panose="020B0503020000020004" pitchFamily="50" charset="-127"/>
                    <a:cs typeface="Noto Sans KR" pitchFamily="34" charset="-120"/>
                  </a:rPr>
                  <a:t>증가율</a:t>
                </a:r>
                <a:r>
                  <a:rPr kumimoji="0" lang="en-US" altLang="ko-KR" sz="1000" b="1" i="0" u="none" strike="noStrike" kern="1200" cap="none" spc="0" normalizeH="0" baseline="0" noProof="0" dirty="0">
                    <a:ln>
                      <a:noFill/>
                    </a:ln>
                    <a:solidFill>
                      <a:srgbClr val="7A3608"/>
                    </a:solidFill>
                    <a:effectLst/>
                    <a:uLnTx/>
                    <a:uFillTx/>
                    <a:latin typeface="맑은 고딕" panose="020B0503020000020004" pitchFamily="50" charset="-127"/>
                    <a:ea typeface="맑은 고딕" panose="020B0503020000020004" pitchFamily="50" charset="-127"/>
                    <a:cs typeface="Noto Sans KR" pitchFamily="34" charset="-120"/>
                  </a:rPr>
                  <a:t> </a:t>
                </a:r>
                <a:r>
                  <a:rPr kumimoji="0" lang="en-US" altLang="ko-KR" sz="1000" b="1" i="0" u="none" strike="noStrike" kern="1200" cap="none" spc="0" normalizeH="0" baseline="0" noProof="0" dirty="0" err="1">
                    <a:ln>
                      <a:noFill/>
                    </a:ln>
                    <a:solidFill>
                      <a:srgbClr val="7A3608"/>
                    </a:solidFill>
                    <a:effectLst/>
                    <a:uLnTx/>
                    <a:uFillTx/>
                    <a:latin typeface="맑은 고딕" panose="020B0503020000020004" pitchFamily="50" charset="-127"/>
                    <a:ea typeface="맑은 고딕" panose="020B0503020000020004" pitchFamily="50" charset="-127"/>
                    <a:cs typeface="Noto Sans KR" pitchFamily="34" charset="-120"/>
                  </a:rPr>
                  <a:t>둔화</a:t>
                </a:r>
                <a:r>
                  <a:rPr kumimoji="0" lang="en-US" altLang="ko-KR" sz="1000" b="1" i="0" u="none" strike="noStrike" kern="1200" cap="none" spc="0" normalizeH="0" baseline="0" noProof="0" dirty="0">
                    <a:ln>
                      <a:noFill/>
                    </a:ln>
                    <a:solidFill>
                      <a:srgbClr val="7A3608"/>
                    </a:solidFill>
                    <a:effectLst/>
                    <a:uLnTx/>
                    <a:uFillTx/>
                    <a:latin typeface="맑은 고딕" panose="020B0503020000020004" pitchFamily="50" charset="-127"/>
                    <a:ea typeface="맑은 고딕" panose="020B0503020000020004" pitchFamily="50" charset="-127"/>
                    <a:cs typeface="Noto Sans KR" pitchFamily="34" charset="-120"/>
                  </a:rPr>
                  <a:t>)</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p:txBody>
          </p:sp>
        </p:gr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10306435" y="3042764"/>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i="0" dirty="0" smtClean="0">
                                <a:solidFill>
                                  <a:srgbClr val="333333"/>
                                </a:solidFill>
                                <a:latin typeface="+mj-ea"/>
                                <a:cs typeface="Noto Sans KR" pitchFamily="34" charset="-120"/>
                              </a:rPr>
                              <m:t>, </m:t>
                            </m:r>
                            <m:r>
                              <m:rPr>
                                <m:nor/>
                              </m:rPr>
                              <a:rPr lang="en-US" altLang="ko-KR" sz="1050" b="1" i="0" dirty="0" smtClean="0">
                                <a:solidFill>
                                  <a:srgbClr val="333333"/>
                                </a:solidFill>
                                <a:latin typeface="+mj-ea"/>
                                <a:cs typeface="Noto Sans KR" pitchFamily="34" charset="-120"/>
                              </a:rPr>
                              <m:t>NAND</m:t>
                            </m:r>
                            <m:r>
                              <m:rPr>
                                <m:nor/>
                              </m:rPr>
                              <a:rPr lang="en-US" altLang="ko-KR" sz="1050" b="1" i="0" dirty="0" smtClean="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10306435" y="3042764"/>
                  <a:ext cx="2824372" cy="208260"/>
                </a:xfrm>
                <a:prstGeom prst="rect">
                  <a:avLst/>
                </a:prstGeom>
                <a:blipFill>
                  <a:blip r:embed="rId11"/>
                  <a:stretch>
                    <a:fillRect t="-8824" b="-5882"/>
                  </a:stretch>
                </a:blipFill>
                <a:ln/>
              </p:spPr>
              <p:txBody>
                <a:bodyPr/>
                <a:lstStyle/>
                <a:p>
                  <a:r>
                    <a:rPr lang="ko-KR" altLang="en-US">
                      <a:noFill/>
                    </a:rPr>
                    <a:t> </a:t>
                  </a:r>
                </a:p>
              </p:txBody>
            </p:sp>
          </mc:Fallback>
        </mc:AlternateContent>
      </p:grpSp>
    </p:spTree>
    <p:extLst>
      <p:ext uri="{BB962C8B-B14F-4D97-AF65-F5344CB8AC3E}">
        <p14:creationId xmlns:p14="http://schemas.microsoft.com/office/powerpoint/2010/main" val="402861223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필요성</a:t>
            </a:r>
          </a:p>
        </p:txBody>
      </p:sp>
      <p:sp>
        <p:nvSpPr>
          <p:cNvPr id="55" name="모서리가 둥근 직사각형 54"/>
          <p:cNvSpPr/>
          <p:nvPr/>
        </p:nvSpPr>
        <p:spPr>
          <a:xfrm>
            <a:off x="6172198" y="1119861"/>
            <a:ext cx="5830571" cy="294193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실행 단추: 앞으로 또는 다음 3">
            <a:hlinkClick r:id="rId3" action="ppaction://hlinksldjump" highlightClick="1"/>
          </p:cNvPr>
          <p:cNvSpPr/>
          <p:nvPr/>
        </p:nvSpPr>
        <p:spPr>
          <a:xfrm>
            <a:off x="7557747" y="205641"/>
            <a:ext cx="220978" cy="22859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p:cNvSpPr txBox="1"/>
          <p:nvPr/>
        </p:nvSpPr>
        <p:spPr>
          <a:xfrm>
            <a:off x="6382851" y="205641"/>
            <a:ext cx="1174896" cy="215444"/>
          </a:xfrm>
          <a:prstGeom prst="rect">
            <a:avLst/>
          </a:prstGeom>
          <a:noFill/>
        </p:spPr>
        <p:txBody>
          <a:bodyPr wrap="square" rtlCol="0">
            <a:spAutoFit/>
          </a:bodyPr>
          <a:lstStyle/>
          <a:p>
            <a:r>
              <a:rPr lang="en-US" altLang="ko-KR" sz="800" b="1" dirty="0">
                <a:solidFill>
                  <a:schemeClr val="tx1">
                    <a:lumMod val="50000"/>
                    <a:lumOff val="50000"/>
                  </a:schemeClr>
                </a:solidFill>
              </a:rPr>
              <a:t>System </a:t>
            </a:r>
            <a:r>
              <a:rPr lang="ko-KR" altLang="en-US" sz="800" b="1" dirty="0">
                <a:solidFill>
                  <a:schemeClr val="tx1">
                    <a:lumMod val="50000"/>
                    <a:lumOff val="50000"/>
                  </a:schemeClr>
                </a:solidFill>
              </a:rPr>
              <a:t>연구 필요성</a:t>
            </a:r>
          </a:p>
        </p:txBody>
      </p:sp>
      <p:sp>
        <p:nvSpPr>
          <p:cNvPr id="111" name="TextBox 110"/>
          <p:cNvSpPr txBox="1"/>
          <p:nvPr/>
        </p:nvSpPr>
        <p:spPr>
          <a:xfrm>
            <a:off x="264303" y="1399253"/>
            <a:ext cx="5771860" cy="333617"/>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latin typeface="+mj-ea"/>
                <a:ea typeface="+mj-ea"/>
              </a:rPr>
              <a:t>■ </a:t>
            </a:r>
            <a:r>
              <a:rPr lang="ko-KR" altLang="en-US" sz="1200" b="1" dirty="0">
                <a:latin typeface="+mj-ea"/>
                <a:ea typeface="+mj-ea"/>
              </a:rPr>
              <a:t>향후 어떤 메모리</a:t>
            </a:r>
            <a:r>
              <a:rPr lang="en-US" altLang="ko-KR" sz="1200" b="1" dirty="0">
                <a:latin typeface="+mj-ea"/>
                <a:ea typeface="+mj-ea"/>
              </a:rPr>
              <a:t> </a:t>
            </a:r>
            <a:r>
              <a:rPr lang="ko-KR" altLang="en-US" sz="1200" b="1" dirty="0">
                <a:latin typeface="+mj-ea"/>
                <a:ea typeface="+mj-ea"/>
              </a:rPr>
              <a:t>제품의 수요가 증가할지 불확실 </a:t>
            </a:r>
            <a:r>
              <a:rPr lang="en-US" altLang="ko-KR" sz="1200" b="1" dirty="0">
                <a:latin typeface="+mj-ea"/>
                <a:ea typeface="+mj-ea"/>
              </a:rPr>
              <a:t>→ </a:t>
            </a:r>
            <a:r>
              <a:rPr lang="ko-KR" altLang="en-US" sz="1200" b="1" dirty="0">
                <a:latin typeface="+mj-ea"/>
                <a:ea typeface="+mj-ea"/>
              </a:rPr>
              <a:t>선제적 솔루션 준비 필요</a:t>
            </a:r>
            <a:endParaRPr lang="en-US" altLang="ko-KR" sz="1200" b="1" dirty="0">
              <a:solidFill>
                <a:srgbClr val="222222"/>
              </a:solidFill>
              <a:latin typeface="+mj-ea"/>
              <a:ea typeface="+mj-ea"/>
            </a:endParaRPr>
          </a:p>
        </p:txBody>
      </p:sp>
      <p:sp>
        <p:nvSpPr>
          <p:cNvPr id="112" name="TextBox 111"/>
          <p:cNvSpPr txBox="1"/>
          <p:nvPr/>
        </p:nvSpPr>
        <p:spPr>
          <a:xfrm>
            <a:off x="293659" y="4139711"/>
            <a:ext cx="5771860" cy="610616"/>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b="1" dirty="0"/>
              <a:t>■ 연구소의 역할</a:t>
            </a:r>
            <a:r>
              <a:rPr lang="en-US" altLang="ko-KR" sz="1200" b="1" dirty="0"/>
              <a:t>: </a:t>
            </a:r>
            <a:r>
              <a:rPr lang="ko-KR" altLang="en-US" sz="1200" b="1" dirty="0"/>
              <a:t>시스템 관점에서 시장</a:t>
            </a:r>
            <a:r>
              <a:rPr lang="en-US" altLang="ko-KR" sz="1200" b="1" dirty="0"/>
              <a:t>, </a:t>
            </a:r>
            <a:r>
              <a:rPr lang="ko-KR" altLang="en-US" sz="1200" b="1" dirty="0"/>
              <a:t>고객이 필요로 하는 것을 선제 파악하고 당사 차세대 </a:t>
            </a:r>
            <a:r>
              <a:rPr lang="en-US" altLang="ko-KR" sz="1200" b="1" dirty="0"/>
              <a:t>Device </a:t>
            </a:r>
            <a:r>
              <a:rPr lang="ko-KR" altLang="en-US" sz="1200" b="1" dirty="0"/>
              <a:t>개발 방향을 제시 </a:t>
            </a:r>
            <a:endParaRPr lang="en-US" altLang="ko-KR" sz="1200" b="1" strike="sngStrike" dirty="0"/>
          </a:p>
        </p:txBody>
      </p:sp>
      <p:sp>
        <p:nvSpPr>
          <p:cNvPr id="118" name="TextBox 117"/>
          <p:cNvSpPr txBox="1"/>
          <p:nvPr/>
        </p:nvSpPr>
        <p:spPr>
          <a:xfrm>
            <a:off x="6201552" y="1405456"/>
            <a:ext cx="5771860" cy="369332"/>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smtClean="0"/>
              <a:t>당사 신규 메모리를 </a:t>
            </a:r>
            <a:r>
              <a:rPr lang="ko-KR" altLang="en-US" sz="1200" b="1" dirty="0"/>
              <a:t>고려하는 </a:t>
            </a:r>
            <a:r>
              <a:rPr lang="en-US" altLang="ko-KR" sz="1200" b="1" dirty="0"/>
              <a:t>AI </a:t>
            </a:r>
            <a:r>
              <a:rPr lang="ko-KR" altLang="en-US" sz="1200" b="1" dirty="0"/>
              <a:t>추론 런타임</a:t>
            </a:r>
            <a:r>
              <a:rPr lang="en-US" altLang="ko-KR" sz="1200" b="1" dirty="0"/>
              <a:t>(</a:t>
            </a:r>
            <a:r>
              <a:rPr lang="ko-KR" altLang="en-US" sz="1200" b="1" dirty="0" err="1"/>
              <a:t>서빙</a:t>
            </a:r>
            <a:r>
              <a:rPr lang="ko-KR" altLang="en-US" sz="1200" b="1" dirty="0"/>
              <a:t> 엔진</a:t>
            </a:r>
            <a:r>
              <a:rPr lang="en-US" altLang="ko-KR" sz="1200" b="1" dirty="0"/>
              <a:t>) </a:t>
            </a:r>
            <a:r>
              <a:rPr lang="ko-KR" altLang="en-US" sz="1200" b="1" dirty="0"/>
              <a:t>부재</a:t>
            </a:r>
            <a:endParaRPr lang="en-US" altLang="ko-KR" sz="1200" b="1" dirty="0"/>
          </a:p>
        </p:txBody>
      </p:sp>
      <p:sp>
        <p:nvSpPr>
          <p:cNvPr id="8" name="TextBox 7">
            <a:extLst>
              <a:ext uri="{FF2B5EF4-FFF2-40B4-BE49-F238E27FC236}">
                <a16:creationId xmlns:a16="http://schemas.microsoft.com/office/drawing/2014/main" id="{3E426D35-55AF-4F94-AC6D-261857A848AB}"/>
              </a:ext>
            </a:extLst>
          </p:cNvPr>
          <p:cNvSpPr txBox="1"/>
          <p:nvPr/>
        </p:nvSpPr>
        <p:spPr>
          <a:xfrm>
            <a:off x="6172198" y="5129103"/>
            <a:ext cx="5660287" cy="675634"/>
          </a:xfrm>
          <a:prstGeom prst="rect">
            <a:avLst/>
          </a:prstGeom>
          <a:noFill/>
        </p:spPr>
        <p:txBody>
          <a:bodyPr wrap="square" rtlCol="0">
            <a:spAutoFit/>
          </a:bodyPr>
          <a:lstStyle/>
          <a:p>
            <a:pPr algn="ctr">
              <a:lnSpc>
                <a:spcPct val="125000"/>
              </a:lnSpc>
            </a:pPr>
            <a:r>
              <a:rPr lang="ko-KR" altLang="en-US" sz="1600" b="1" dirty="0">
                <a:solidFill>
                  <a:srgbClr val="0000FF"/>
                </a:solidFill>
              </a:rPr>
              <a:t>이기종 메모리를 활용하여 </a:t>
            </a:r>
            <a:endParaRPr lang="en-US" altLang="ko-KR" sz="1600" b="1" dirty="0">
              <a:solidFill>
                <a:srgbClr val="0000FF"/>
              </a:solidFill>
            </a:endParaRPr>
          </a:p>
          <a:p>
            <a:pPr algn="ctr">
              <a:lnSpc>
                <a:spcPct val="125000"/>
              </a:lnSpc>
            </a:pPr>
            <a:r>
              <a:rPr lang="en-US" altLang="ko-KR" sz="1600" b="1" dirty="0">
                <a:solidFill>
                  <a:srgbClr val="0000FF"/>
                </a:solidFill>
              </a:rPr>
              <a:t>LLM </a:t>
            </a:r>
            <a:r>
              <a:rPr lang="ko-KR" altLang="en-US" sz="1600" b="1" dirty="0">
                <a:solidFill>
                  <a:srgbClr val="0000FF"/>
                </a:solidFill>
              </a:rPr>
              <a:t>추론 처리량을 향상시키는 </a:t>
            </a:r>
            <a:r>
              <a:rPr lang="en-US" altLang="ko-KR" sz="1600" b="1" dirty="0">
                <a:solidFill>
                  <a:srgbClr val="0000FF"/>
                </a:solidFill>
              </a:rPr>
              <a:t>SW </a:t>
            </a:r>
            <a:r>
              <a:rPr lang="ko-KR" altLang="en-US" sz="1600" b="1" dirty="0">
                <a:solidFill>
                  <a:srgbClr val="0000FF"/>
                </a:solidFill>
              </a:rPr>
              <a:t>연구 개발 필요 </a:t>
            </a:r>
          </a:p>
        </p:txBody>
      </p:sp>
      <p:sp>
        <p:nvSpPr>
          <p:cNvPr id="2" name="화살표: 아래쪽 1">
            <a:extLst>
              <a:ext uri="{FF2B5EF4-FFF2-40B4-BE49-F238E27FC236}">
                <a16:creationId xmlns:a16="http://schemas.microsoft.com/office/drawing/2014/main" id="{B625C597-E67B-4695-9BC8-B8F2F6B8E5EB}"/>
              </a:ext>
            </a:extLst>
          </p:cNvPr>
          <p:cNvSpPr/>
          <p:nvPr/>
        </p:nvSpPr>
        <p:spPr>
          <a:xfrm>
            <a:off x="8718102" y="4366423"/>
            <a:ext cx="651672" cy="44629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 72">
            <a:extLst>
              <a:ext uri="{FF2B5EF4-FFF2-40B4-BE49-F238E27FC236}">
                <a16:creationId xmlns:a16="http://schemas.microsoft.com/office/drawing/2014/main" id="{6A49CD4B-9085-4E60-A50E-F364EF7FACD3}"/>
              </a:ext>
            </a:extLst>
          </p:cNvPr>
          <p:cNvSpPr/>
          <p:nvPr/>
        </p:nvSpPr>
        <p:spPr>
          <a:xfrm>
            <a:off x="355600" y="6529437"/>
            <a:ext cx="11825224" cy="406400"/>
          </a:xfrm>
          <a:prstGeom prst="rect">
            <a:avLst/>
          </a:prstGeom>
          <a:noFill/>
          <a:ln/>
        </p:spPr>
        <p:txBody>
          <a:bodyPr wrap="square" lIns="0" tIns="0" rIns="0" bIns="0" rtlCol="0" anchor="t">
            <a:normAutofit/>
          </a:bodyPr>
          <a:lstStyle/>
          <a:p>
            <a:pPr marL="0" indent="0" algn="l">
              <a:lnSpc>
                <a:spcPts val="1500"/>
              </a:lnSpc>
              <a:buNone/>
            </a:pPr>
            <a:endParaRPr lang="en-US" sz="800" dirty="0"/>
          </a:p>
        </p:txBody>
      </p:sp>
      <p:grpSp>
        <p:nvGrpSpPr>
          <p:cNvPr id="6" name="그룹 5"/>
          <p:cNvGrpSpPr/>
          <p:nvPr/>
        </p:nvGrpSpPr>
        <p:grpSpPr>
          <a:xfrm>
            <a:off x="6338802" y="1835692"/>
            <a:ext cx="5376672" cy="1831863"/>
            <a:chOff x="6338802" y="1946387"/>
            <a:chExt cx="5376672" cy="1637153"/>
          </a:xfrm>
        </p:grpSpPr>
        <p:sp>
          <p:nvSpPr>
            <p:cNvPr id="47" name="Rectangle 64">
              <a:extLst>
                <a:ext uri="{FF2B5EF4-FFF2-40B4-BE49-F238E27FC236}">
                  <a16:creationId xmlns:a16="http://schemas.microsoft.com/office/drawing/2014/main" id="{8DCA8C13-6BCB-483C-8687-92D69655611B}"/>
                </a:ext>
              </a:extLst>
            </p:cNvPr>
            <p:cNvSpPr/>
            <p:nvPr/>
          </p:nvSpPr>
          <p:spPr>
            <a:xfrm>
              <a:off x="6411954" y="1946387"/>
              <a:ext cx="5212080" cy="27432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dirty="0">
                  <a:solidFill>
                    <a:srgbClr val="000000"/>
                  </a:solidFill>
                  <a:latin typeface="맑은 고딕"/>
                  <a:ea typeface="맑은 고딕"/>
                  <a:cs typeface="맑은 고딕"/>
                </a:rPr>
                <a:t>AI </a:t>
              </a:r>
              <a:r>
                <a:rPr sz="1000" b="1" dirty="0" err="1">
                  <a:solidFill>
                    <a:srgbClr val="000000"/>
                  </a:solidFill>
                  <a:latin typeface="맑은 고딕"/>
                  <a:ea typeface="맑은 고딕"/>
                  <a:cs typeface="맑은 고딕"/>
                </a:rPr>
                <a:t>워크로드</a:t>
              </a:r>
              <a:r>
                <a:rPr lang="en-US" sz="1000" b="1" dirty="0">
                  <a:solidFill>
                    <a:srgbClr val="000000"/>
                  </a:solidFill>
                  <a:latin typeface="맑은 고딕"/>
                  <a:ea typeface="맑은 고딕"/>
                  <a:cs typeface="맑은 고딕"/>
                </a:rPr>
                <a:t> (</a:t>
              </a:r>
              <a:r>
                <a:rPr lang="ko-KR" altLang="en-US" sz="1000" b="1" dirty="0">
                  <a:solidFill>
                    <a:srgbClr val="000000"/>
                  </a:solidFill>
                  <a:latin typeface="맑은 고딕"/>
                  <a:ea typeface="맑은 고딕"/>
                  <a:cs typeface="맑은 고딕"/>
                </a:rPr>
                <a:t>자원 수요 동적 변동</a:t>
              </a:r>
              <a:r>
                <a:rPr lang="en-US" altLang="ko-KR" sz="1000" b="1" dirty="0">
                  <a:solidFill>
                    <a:srgbClr val="000000"/>
                  </a:solidFill>
                  <a:latin typeface="맑은 고딕"/>
                  <a:ea typeface="맑은 고딕"/>
                  <a:cs typeface="맑은 고딕"/>
                </a:rPr>
                <a:t>)</a:t>
              </a:r>
              <a:endParaRPr sz="1000" b="1" dirty="0">
                <a:solidFill>
                  <a:srgbClr val="000000"/>
                </a:solidFill>
                <a:latin typeface="맑은 고딕"/>
                <a:ea typeface="맑은 고딕"/>
                <a:cs typeface="맑은 고딕"/>
              </a:endParaRPr>
            </a:p>
          </p:txBody>
        </p:sp>
        <p:cxnSp>
          <p:nvCxnSpPr>
            <p:cNvPr id="48" name="Connector 65">
              <a:extLst>
                <a:ext uri="{FF2B5EF4-FFF2-40B4-BE49-F238E27FC236}">
                  <a16:creationId xmlns:a16="http://schemas.microsoft.com/office/drawing/2014/main" id="{A686614B-E1CA-4E7B-A5A4-A47937F3C5BB}"/>
                </a:ext>
              </a:extLst>
            </p:cNvPr>
            <p:cNvCxnSpPr>
              <a:stCxn id="47" idx="2"/>
            </p:cNvCxnSpPr>
            <p:nvPr/>
          </p:nvCxnSpPr>
          <p:spPr>
            <a:xfrm>
              <a:off x="9017994" y="2220707"/>
              <a:ext cx="0" cy="179026"/>
            </a:xfrm>
            <a:prstGeom prst="line">
              <a:avLst/>
            </a:prstGeom>
            <a:ln w="19050">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9" name="Rectangle 66">
              <a:extLst>
                <a:ext uri="{FF2B5EF4-FFF2-40B4-BE49-F238E27FC236}">
                  <a16:creationId xmlns:a16="http://schemas.microsoft.com/office/drawing/2014/main" id="{45CE6021-533E-4D48-BA43-BBA13E9CF3CA}"/>
                </a:ext>
              </a:extLst>
            </p:cNvPr>
            <p:cNvSpPr/>
            <p:nvPr/>
          </p:nvSpPr>
          <p:spPr>
            <a:xfrm>
              <a:off x="6411954" y="2374228"/>
              <a:ext cx="5212080" cy="493776"/>
            </a:xfrm>
            <a:prstGeom prst="rect">
              <a:avLst/>
            </a:prstGeom>
            <a:solidFill>
              <a:srgbClr val="FFFFFF"/>
            </a:solidFill>
            <a:ln w="19050">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1100" b="1" dirty="0" smtClean="0">
                  <a:solidFill>
                    <a:srgbClr val="FF0000"/>
                  </a:solidFill>
                  <a:latin typeface="맑은 고딕"/>
                  <a:ea typeface="맑은 고딕"/>
                  <a:cs typeface="맑은 고딕"/>
                </a:rPr>
                <a:t>당사의 신규 </a:t>
              </a:r>
              <a:r>
                <a:rPr sz="1100" b="1" dirty="0" err="1" smtClean="0">
                  <a:solidFill>
                    <a:srgbClr val="FF0000"/>
                  </a:solidFill>
                  <a:latin typeface="맑은 고딕"/>
                  <a:ea typeface="맑은 고딕"/>
                  <a:cs typeface="맑은 고딕"/>
                </a:rPr>
                <a:t>메모리</a:t>
              </a:r>
              <a:r>
                <a:rPr sz="1100" b="1" dirty="0" smtClean="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인지형</a:t>
              </a:r>
              <a:r>
                <a:rPr sz="1100" b="1" dirty="0">
                  <a:solidFill>
                    <a:srgbClr val="FF0000"/>
                  </a:solidFill>
                  <a:latin typeface="맑은 고딕"/>
                  <a:ea typeface="맑은 고딕"/>
                  <a:cs typeface="맑은 고딕"/>
                </a:rPr>
                <a:t> </a:t>
              </a:r>
              <a:r>
                <a:rPr lang="ko-KR" altLang="en-US" sz="1100" b="1" dirty="0">
                  <a:solidFill>
                    <a:srgbClr val="FF0000"/>
                  </a:solidFill>
                  <a:latin typeface="맑은 고딕"/>
                  <a:ea typeface="맑은 고딕"/>
                  <a:cs typeface="맑은 고딕"/>
                </a:rPr>
                <a:t>런타임</a:t>
              </a:r>
              <a:r>
                <a:rPr lang="en-US" altLang="ko-KR" sz="1100" b="1" dirty="0">
                  <a:solidFill>
                    <a:srgbClr val="FF0000"/>
                  </a:solidFill>
                  <a:latin typeface="맑은 고딕"/>
                  <a:ea typeface="맑은 고딕"/>
                  <a:cs typeface="맑은 고딕"/>
                </a:rPr>
                <a:t>(</a:t>
              </a:r>
              <a:r>
                <a:rPr lang="ko-KR" altLang="en-US" sz="1100" b="1" dirty="0" err="1">
                  <a:solidFill>
                    <a:srgbClr val="FF0000"/>
                  </a:solidFill>
                  <a:latin typeface="맑은 고딕"/>
                  <a:ea typeface="맑은 고딕"/>
                  <a:cs typeface="맑은 고딕"/>
                </a:rPr>
                <a:t>서빙</a:t>
              </a:r>
              <a:r>
                <a:rPr lang="ko-KR" altLang="en-US" sz="1100" b="1" dirty="0">
                  <a:solidFill>
                    <a:srgbClr val="FF0000"/>
                  </a:solidFill>
                  <a:latin typeface="맑은 고딕"/>
                  <a:ea typeface="맑은 고딕"/>
                  <a:cs typeface="맑은 고딕"/>
                </a:rPr>
                <a:t> 엔진</a:t>
              </a:r>
              <a:r>
                <a:rPr lang="en-US" altLang="ko-KR" sz="1100" b="1" dirty="0">
                  <a:solidFill>
                    <a:srgbClr val="FF0000"/>
                  </a:solidFill>
                  <a:latin typeface="맑은 고딕"/>
                  <a:ea typeface="맑은 고딕"/>
                  <a:cs typeface="맑은 고딕"/>
                </a:rPr>
                <a:t>)</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부재</a:t>
              </a:r>
              <a:r>
                <a:rPr sz="1100" b="1" dirty="0">
                  <a:solidFill>
                    <a:srgbClr val="FF0000"/>
                  </a:solidFill>
                  <a:latin typeface="맑은 고딕"/>
                  <a:ea typeface="맑은 고딕"/>
                  <a:cs typeface="맑은 고딕"/>
                </a:rPr>
                <a:t> </a:t>
              </a:r>
              <a:endParaRPr lang="en-US" sz="1100" b="1" dirty="0">
                <a:solidFill>
                  <a:srgbClr val="FF0000"/>
                </a:solidFill>
                <a:latin typeface="맑은 고딕"/>
                <a:ea typeface="맑은 고딕"/>
                <a:cs typeface="맑은 고딕"/>
              </a:endParaRPr>
            </a:p>
            <a:p>
              <a:pPr algn="ctr">
                <a:spcAft>
                  <a:spcPts val="200"/>
                </a:spcAft>
              </a:pPr>
              <a:r>
                <a:rPr sz="850" b="0" dirty="0" err="1">
                  <a:solidFill>
                    <a:srgbClr val="595959"/>
                  </a:solidFill>
                  <a:latin typeface="맑은 고딕"/>
                  <a:ea typeface="맑은 고딕"/>
                  <a:cs typeface="맑은 고딕"/>
                </a:rPr>
                <a:t>메모리</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특성</a:t>
              </a:r>
              <a:r>
                <a:rPr sz="850" b="0" dirty="0">
                  <a:solidFill>
                    <a:srgbClr val="595959"/>
                  </a:solidFill>
                  <a:latin typeface="맑은 고딕"/>
                  <a:ea typeface="맑은 고딕"/>
                  <a:cs typeface="맑은 고딕"/>
                </a:rPr>
                <a:t>(</a:t>
              </a:r>
              <a:r>
                <a:rPr sz="850" b="0" dirty="0" err="1">
                  <a:solidFill>
                    <a:srgbClr val="595959"/>
                  </a:solidFill>
                  <a:latin typeface="맑은 고딕"/>
                  <a:ea typeface="맑은 고딕"/>
                  <a:cs typeface="맑은 고딕"/>
                </a:rPr>
                <a:t>대역폭</a:t>
              </a:r>
              <a:r>
                <a:rPr lang="en-US" sz="850" dirty="0">
                  <a:solidFill>
                    <a:srgbClr val="595959"/>
                  </a:solidFill>
                  <a:latin typeface="맑은 고딕"/>
                  <a:ea typeface="맑은 고딕"/>
                  <a:cs typeface="맑은 고딕"/>
                </a:rPr>
                <a:t>, </a:t>
              </a:r>
              <a:r>
                <a:rPr lang="ko-KR" altLang="en-US" sz="850" dirty="0">
                  <a:solidFill>
                    <a:srgbClr val="595959"/>
                  </a:solidFill>
                  <a:latin typeface="맑은 고딕"/>
                  <a:ea typeface="맑은 고딕"/>
                  <a:cs typeface="맑은 고딕"/>
                </a:rPr>
                <a:t>용</a:t>
              </a:r>
              <a:r>
                <a:rPr sz="850" b="0" dirty="0">
                  <a:solidFill>
                    <a:srgbClr val="595959"/>
                  </a:solidFill>
                  <a:latin typeface="맑은 고딕"/>
                  <a:ea typeface="맑은 고딕"/>
                  <a:cs typeface="맑은 고딕"/>
                </a:rPr>
                <a:t>량</a:t>
              </a:r>
              <a:r>
                <a:rPr lang="en-US" sz="85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연산</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가능</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여부</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인식</a:t>
              </a:r>
              <a:r>
                <a:rPr sz="850" b="0" dirty="0">
                  <a:solidFill>
                    <a:srgbClr val="595959"/>
                  </a:solidFill>
                  <a:latin typeface="맑은 고딕"/>
                  <a:ea typeface="맑은 고딕"/>
                  <a:cs typeface="맑은 고딕"/>
                </a:rPr>
                <a:t> → </a:t>
              </a:r>
              <a:r>
                <a:rPr sz="850" b="0" dirty="0" err="1">
                  <a:solidFill>
                    <a:srgbClr val="595959"/>
                  </a:solidFill>
                  <a:latin typeface="맑은 고딕"/>
                  <a:ea typeface="맑은 고딕"/>
                  <a:cs typeface="맑은 고딕"/>
                </a:rPr>
                <a:t>배치·스케줄링</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결정</a:t>
              </a:r>
              <a:endParaRPr sz="850" b="0" dirty="0">
                <a:solidFill>
                  <a:srgbClr val="595959"/>
                </a:solidFill>
                <a:latin typeface="맑은 고딕"/>
                <a:ea typeface="맑은 고딕"/>
                <a:cs typeface="맑은 고딕"/>
              </a:endParaRPr>
            </a:p>
          </p:txBody>
        </p:sp>
        <p:cxnSp>
          <p:nvCxnSpPr>
            <p:cNvPr id="50" name="Connector 67">
              <a:extLst>
                <a:ext uri="{FF2B5EF4-FFF2-40B4-BE49-F238E27FC236}">
                  <a16:creationId xmlns:a16="http://schemas.microsoft.com/office/drawing/2014/main" id="{5D282C66-6D3B-4CCE-96C5-463FFBD46600}"/>
                </a:ext>
              </a:extLst>
            </p:cNvPr>
            <p:cNvCxnSpPr>
              <a:stCxn id="49" idx="2"/>
            </p:cNvCxnSpPr>
            <p:nvPr/>
          </p:nvCxnSpPr>
          <p:spPr>
            <a:xfrm>
              <a:off x="9017994" y="2868004"/>
              <a:ext cx="0" cy="231455"/>
            </a:xfrm>
            <a:prstGeom prst="line">
              <a:avLst/>
            </a:prstGeom>
            <a:ln w="19050">
              <a:solidFill>
                <a:srgbClr val="FF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51" name="Rectangle 68">
              <a:extLst>
                <a:ext uri="{FF2B5EF4-FFF2-40B4-BE49-F238E27FC236}">
                  <a16:creationId xmlns:a16="http://schemas.microsoft.com/office/drawing/2014/main" id="{D14A622C-56E0-4758-A09A-6DC13A6A0844}"/>
                </a:ext>
              </a:extLst>
            </p:cNvPr>
            <p:cNvSpPr/>
            <p:nvPr/>
          </p:nvSpPr>
          <p:spPr>
            <a:xfrm>
              <a:off x="6338802" y="3099459"/>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HBM</a:t>
              </a:r>
            </a:p>
          </p:txBody>
        </p:sp>
        <p:sp>
          <p:nvSpPr>
            <p:cNvPr id="52" name="Rectangle 69">
              <a:extLst>
                <a:ext uri="{FF2B5EF4-FFF2-40B4-BE49-F238E27FC236}">
                  <a16:creationId xmlns:a16="http://schemas.microsoft.com/office/drawing/2014/main" id="{3ED850D0-4EB0-4CA5-AF32-D0F7BB94F778}"/>
                </a:ext>
              </a:extLst>
            </p:cNvPr>
            <p:cNvSpPr/>
            <p:nvPr/>
          </p:nvSpPr>
          <p:spPr>
            <a:xfrm>
              <a:off x="7225770" y="3099459"/>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DRAM</a:t>
              </a:r>
            </a:p>
          </p:txBody>
        </p:sp>
        <p:sp>
          <p:nvSpPr>
            <p:cNvPr id="53" name="Rectangle 70">
              <a:extLst>
                <a:ext uri="{FF2B5EF4-FFF2-40B4-BE49-F238E27FC236}">
                  <a16:creationId xmlns:a16="http://schemas.microsoft.com/office/drawing/2014/main" id="{EA7EC8A1-A9C0-490E-B42F-7E9101EF6AAD}"/>
                </a:ext>
              </a:extLst>
            </p:cNvPr>
            <p:cNvSpPr/>
            <p:nvPr/>
          </p:nvSpPr>
          <p:spPr>
            <a:xfrm>
              <a:off x="8112738" y="3099459"/>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SSD</a:t>
              </a:r>
            </a:p>
          </p:txBody>
        </p:sp>
        <p:sp>
          <p:nvSpPr>
            <p:cNvPr id="54" name="Rectangle 71">
              <a:extLst>
                <a:ext uri="{FF2B5EF4-FFF2-40B4-BE49-F238E27FC236}">
                  <a16:creationId xmlns:a16="http://schemas.microsoft.com/office/drawing/2014/main" id="{80B38AE7-A1A7-42C7-AA04-9B472F02A2D2}"/>
                </a:ext>
              </a:extLst>
            </p:cNvPr>
            <p:cNvSpPr/>
            <p:nvPr/>
          </p:nvSpPr>
          <p:spPr>
            <a:xfrm>
              <a:off x="8999706" y="3099459"/>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dirty="0">
                  <a:solidFill>
                    <a:srgbClr val="000000"/>
                  </a:solidFill>
                  <a:latin typeface="맑은 고딕"/>
                  <a:ea typeface="맑은 고딕"/>
                  <a:cs typeface="맑은 고딕"/>
                </a:rPr>
                <a:t>CXL-Memory</a:t>
              </a:r>
            </a:p>
          </p:txBody>
        </p:sp>
        <p:sp>
          <p:nvSpPr>
            <p:cNvPr id="57" name="Rectangle 72">
              <a:extLst>
                <a:ext uri="{FF2B5EF4-FFF2-40B4-BE49-F238E27FC236}">
                  <a16:creationId xmlns:a16="http://schemas.microsoft.com/office/drawing/2014/main" id="{D39180E6-1BC0-4BF6-A0C5-972782D939A5}"/>
                </a:ext>
              </a:extLst>
            </p:cNvPr>
            <p:cNvSpPr/>
            <p:nvPr/>
          </p:nvSpPr>
          <p:spPr>
            <a:xfrm>
              <a:off x="9886674" y="3099459"/>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CXL-PNM</a:t>
              </a:r>
            </a:p>
          </p:txBody>
        </p:sp>
        <p:sp>
          <p:nvSpPr>
            <p:cNvPr id="60" name="Rectangle 73">
              <a:extLst>
                <a:ext uri="{FF2B5EF4-FFF2-40B4-BE49-F238E27FC236}">
                  <a16:creationId xmlns:a16="http://schemas.microsoft.com/office/drawing/2014/main" id="{3AF4BA0F-B071-4D25-85D2-27FD11833D3B}"/>
                </a:ext>
              </a:extLst>
            </p:cNvPr>
            <p:cNvSpPr/>
            <p:nvPr/>
          </p:nvSpPr>
          <p:spPr>
            <a:xfrm>
              <a:off x="10773642" y="3099459"/>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dirty="0">
                  <a:solidFill>
                    <a:srgbClr val="000000"/>
                  </a:solidFill>
                  <a:latin typeface="맑은 고딕"/>
                  <a:ea typeface="맑은 고딕"/>
                  <a:cs typeface="맑은 고딕"/>
                </a:rPr>
                <a:t>PIM</a:t>
              </a:r>
              <a:r>
                <a:rPr lang="en-US" sz="850" b="1" dirty="0">
                  <a:solidFill>
                    <a:srgbClr val="000000"/>
                  </a:solidFill>
                  <a:latin typeface="맑은 고딕"/>
                  <a:ea typeface="맑은 고딕"/>
                  <a:cs typeface="맑은 고딕"/>
                </a:rPr>
                <a:t>-SSD</a:t>
              </a:r>
              <a:endParaRPr sz="850" b="1" dirty="0">
                <a:solidFill>
                  <a:srgbClr val="000000"/>
                </a:solidFill>
                <a:latin typeface="맑은 고딕"/>
                <a:ea typeface="맑은 고딕"/>
                <a:cs typeface="맑은 고딕"/>
              </a:endParaRPr>
            </a:p>
          </p:txBody>
        </p:sp>
        <p:sp>
          <p:nvSpPr>
            <p:cNvPr id="61" name="TextBox 60">
              <a:extLst>
                <a:ext uri="{FF2B5EF4-FFF2-40B4-BE49-F238E27FC236}">
                  <a16:creationId xmlns:a16="http://schemas.microsoft.com/office/drawing/2014/main" id="{D163E465-429E-4E53-81C1-5082B8CADCE8}"/>
                </a:ext>
              </a:extLst>
            </p:cNvPr>
            <p:cNvSpPr txBox="1"/>
            <p:nvPr/>
          </p:nvSpPr>
          <p:spPr>
            <a:xfrm>
              <a:off x="6338802" y="3418948"/>
              <a:ext cx="2651760" cy="164592"/>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기존 메모리 계층</a:t>
              </a:r>
            </a:p>
          </p:txBody>
        </p:sp>
        <p:sp>
          <p:nvSpPr>
            <p:cNvPr id="62" name="TextBox 61">
              <a:extLst>
                <a:ext uri="{FF2B5EF4-FFF2-40B4-BE49-F238E27FC236}">
                  <a16:creationId xmlns:a16="http://schemas.microsoft.com/office/drawing/2014/main" id="{6F400612-4371-4D0B-A293-563CC829736A}"/>
                </a:ext>
              </a:extLst>
            </p:cNvPr>
            <p:cNvSpPr txBox="1"/>
            <p:nvPr/>
          </p:nvSpPr>
          <p:spPr>
            <a:xfrm>
              <a:off x="8972274" y="3418948"/>
              <a:ext cx="2743200" cy="145784"/>
            </a:xfrm>
            <a:prstGeom prst="rect">
              <a:avLst/>
            </a:prstGeom>
            <a:noFill/>
          </p:spPr>
          <p:txBody>
            <a:bodyPr wrap="square" lIns="45720" tIns="27432" rIns="45720" bIns="27432" anchor="t">
              <a:spAutoFit/>
            </a:bodyPr>
            <a:lstStyle/>
            <a:p>
              <a:pPr algn="r">
                <a:spcAft>
                  <a:spcPts val="200"/>
                </a:spcAft>
              </a:pPr>
              <a:r>
                <a:rPr lang="ko-KR" altLang="en-US" sz="700" dirty="0">
                  <a:solidFill>
                    <a:srgbClr val="C55A11"/>
                  </a:solidFill>
                  <a:ea typeface="맑은 고딕"/>
                  <a:cs typeface="맑은 고딕"/>
                </a:rPr>
                <a:t>신규 메모리</a:t>
              </a:r>
              <a:r>
                <a:rPr lang="en-US" altLang="ko-KR" sz="700" dirty="0">
                  <a:solidFill>
                    <a:srgbClr val="C55A11"/>
                  </a:solidFill>
                  <a:ea typeface="맑은 고딕"/>
                  <a:cs typeface="맑은 고딕"/>
                </a:rPr>
                <a:t>: </a:t>
              </a:r>
              <a:r>
                <a:rPr lang="ko-KR" altLang="en-US" sz="700" dirty="0">
                  <a:solidFill>
                    <a:srgbClr val="C55A11"/>
                  </a:solidFill>
                  <a:ea typeface="맑은 고딕"/>
                  <a:cs typeface="맑은 고딕"/>
                </a:rPr>
                <a:t>특성 비인지 → 활용 불가</a:t>
              </a:r>
            </a:p>
          </p:txBody>
        </p:sp>
      </p:grpSp>
      <p:sp>
        <p:nvSpPr>
          <p:cNvPr id="155" name="Customers">
            <a:extLst>
              <a:ext uri="{FF2B5EF4-FFF2-40B4-BE49-F238E27FC236}">
                <a16:creationId xmlns:a16="http://schemas.microsoft.com/office/drawing/2014/main" id="{AE067F2F-D83F-4552-8F5C-DBF285D81799}"/>
              </a:ext>
            </a:extLst>
          </p:cNvPr>
          <p:cNvSpPr/>
          <p:nvPr/>
        </p:nvSpPr>
        <p:spPr>
          <a:xfrm>
            <a:off x="347472" y="4860247"/>
            <a:ext cx="1664208" cy="872836"/>
          </a:xfrm>
          <a:prstGeom prst="roundRect">
            <a:avLst>
              <a:gd name="adj" fmla="val 8000"/>
            </a:avLst>
          </a:prstGeom>
          <a:solidFill>
            <a:srgbClr val="F0F1F3"/>
          </a:solidFill>
          <a:ln w="12700">
            <a:solidFill>
              <a:srgbClr val="7F7F7F"/>
            </a:solidFill>
          </a:ln>
        </p:spPr>
        <p:txBody>
          <a:bodyPr wrap="square" lIns="45720" tIns="18288" rIns="45720" bIns="18288" rtlCol="0" anchor="ctr"/>
          <a:lstStyle/>
          <a:p>
            <a:pPr algn="ctr">
              <a:lnSpc>
                <a:spcPct val="150000"/>
              </a:lnSpc>
            </a:pPr>
            <a:r>
              <a:rPr sz="1100" b="1" dirty="0" err="1">
                <a:solidFill>
                  <a:srgbClr val="222222"/>
                </a:solidFill>
                <a:latin typeface="+mj-ea"/>
                <a:ea typeface="+mj-ea"/>
              </a:rPr>
              <a:t>시장</a:t>
            </a:r>
            <a:r>
              <a:rPr sz="1100" b="1" dirty="0">
                <a:solidFill>
                  <a:srgbClr val="222222"/>
                </a:solidFill>
                <a:latin typeface="+mj-ea"/>
                <a:ea typeface="+mj-ea"/>
              </a:rPr>
              <a:t> · </a:t>
            </a:r>
            <a:r>
              <a:rPr sz="1100" b="1" dirty="0" err="1">
                <a:solidFill>
                  <a:srgbClr val="222222"/>
                </a:solidFill>
                <a:latin typeface="+mj-ea"/>
                <a:ea typeface="+mj-ea"/>
              </a:rPr>
              <a:t>고객</a:t>
            </a:r>
            <a:endParaRPr sz="1100" b="1" dirty="0">
              <a:solidFill>
                <a:srgbClr val="222222"/>
              </a:solidFill>
              <a:latin typeface="+mj-ea"/>
              <a:ea typeface="+mj-ea"/>
            </a:endParaRPr>
          </a:p>
          <a:p>
            <a:pPr algn="ctr">
              <a:lnSpc>
                <a:spcPct val="125000"/>
              </a:lnSpc>
            </a:pPr>
            <a:r>
              <a:rPr sz="900" b="0" dirty="0">
                <a:solidFill>
                  <a:srgbClr val="555555"/>
                </a:solidFill>
                <a:latin typeface="+mj-ea"/>
                <a:ea typeface="+mj-ea"/>
              </a:rPr>
              <a:t>Meta</a:t>
            </a:r>
            <a:r>
              <a:rPr lang="en-US" sz="900" b="0" dirty="0">
                <a:solidFill>
                  <a:srgbClr val="555555"/>
                </a:solidFill>
                <a:latin typeface="+mj-ea"/>
                <a:ea typeface="+mj-ea"/>
              </a:rPr>
              <a:t>, </a:t>
            </a:r>
            <a:r>
              <a:rPr sz="900" b="0" dirty="0">
                <a:solidFill>
                  <a:srgbClr val="555555"/>
                </a:solidFill>
                <a:latin typeface="+mj-ea"/>
                <a:ea typeface="+mj-ea"/>
              </a:rPr>
              <a:t>Google Research</a:t>
            </a:r>
            <a:r>
              <a:rPr lang="en-US" sz="900" b="0" dirty="0">
                <a:solidFill>
                  <a:srgbClr val="555555"/>
                </a:solidFill>
                <a:latin typeface="+mj-ea"/>
                <a:ea typeface="+mj-ea"/>
              </a:rPr>
              <a:t>, </a:t>
            </a:r>
          </a:p>
          <a:p>
            <a:pPr algn="ctr">
              <a:lnSpc>
                <a:spcPct val="125000"/>
              </a:lnSpc>
            </a:pPr>
            <a:r>
              <a:rPr lang="en-US" sz="900" b="0" dirty="0">
                <a:solidFill>
                  <a:srgbClr val="555555"/>
                </a:solidFill>
                <a:latin typeface="+mj-ea"/>
                <a:ea typeface="+mj-ea"/>
              </a:rPr>
              <a:t>ARM </a:t>
            </a:r>
            <a:r>
              <a:rPr sz="900" b="0" dirty="0">
                <a:solidFill>
                  <a:srgbClr val="555555"/>
                </a:solidFill>
                <a:latin typeface="+mj-ea"/>
                <a:ea typeface="+mj-ea"/>
              </a:rPr>
              <a:t>Research 와 </a:t>
            </a:r>
            <a:endParaRPr lang="en-US" sz="900" b="0" dirty="0">
              <a:solidFill>
                <a:srgbClr val="555555"/>
              </a:solidFill>
              <a:latin typeface="+mj-ea"/>
              <a:ea typeface="+mj-ea"/>
            </a:endParaRPr>
          </a:p>
          <a:p>
            <a:pPr algn="ctr">
              <a:lnSpc>
                <a:spcPct val="125000"/>
              </a:lnSpc>
            </a:pPr>
            <a:r>
              <a:rPr sz="900" b="0" dirty="0" err="1">
                <a:solidFill>
                  <a:srgbClr val="555555"/>
                </a:solidFill>
                <a:latin typeface="+mj-ea"/>
                <a:ea typeface="+mj-ea"/>
              </a:rPr>
              <a:t>연구</a:t>
            </a:r>
            <a:r>
              <a:rPr sz="900" b="0" dirty="0">
                <a:solidFill>
                  <a:srgbClr val="555555"/>
                </a:solidFill>
                <a:latin typeface="+mj-ea"/>
                <a:ea typeface="+mj-ea"/>
              </a:rPr>
              <a:t> </a:t>
            </a:r>
            <a:r>
              <a:rPr sz="900" b="0" dirty="0" err="1">
                <a:solidFill>
                  <a:srgbClr val="555555"/>
                </a:solidFill>
                <a:latin typeface="+mj-ea"/>
                <a:ea typeface="+mj-ea"/>
              </a:rPr>
              <a:t>협업</a:t>
            </a:r>
            <a:r>
              <a:rPr sz="900" b="0" dirty="0">
                <a:solidFill>
                  <a:srgbClr val="555555"/>
                </a:solidFill>
                <a:latin typeface="+mj-ea"/>
                <a:ea typeface="+mj-ea"/>
              </a:rPr>
              <a:t> </a:t>
            </a:r>
            <a:r>
              <a:rPr sz="900" b="0" dirty="0" err="1">
                <a:solidFill>
                  <a:srgbClr val="555555"/>
                </a:solidFill>
                <a:latin typeface="+mj-ea"/>
                <a:ea typeface="+mj-ea"/>
              </a:rPr>
              <a:t>진행</a:t>
            </a:r>
            <a:r>
              <a:rPr sz="900" b="0" dirty="0">
                <a:solidFill>
                  <a:srgbClr val="555555"/>
                </a:solidFill>
                <a:latin typeface="+mj-ea"/>
                <a:ea typeface="+mj-ea"/>
              </a:rPr>
              <a:t> 중</a:t>
            </a:r>
          </a:p>
        </p:txBody>
      </p:sp>
      <p:sp>
        <p:nvSpPr>
          <p:cNvPr id="156" name="Research lab">
            <a:extLst>
              <a:ext uri="{FF2B5EF4-FFF2-40B4-BE49-F238E27FC236}">
                <a16:creationId xmlns:a16="http://schemas.microsoft.com/office/drawing/2014/main" id="{5489BF64-474A-4FD6-9F1A-5E5B29635537}"/>
              </a:ext>
            </a:extLst>
          </p:cNvPr>
          <p:cNvSpPr/>
          <p:nvPr/>
        </p:nvSpPr>
        <p:spPr>
          <a:xfrm>
            <a:off x="2304288" y="4860247"/>
            <a:ext cx="1664208" cy="872836"/>
          </a:xfrm>
          <a:prstGeom prst="roundRect">
            <a:avLst>
              <a:gd name="adj" fmla="val 8000"/>
            </a:avLst>
          </a:prstGeom>
          <a:solidFill>
            <a:srgbClr val="EAF1FA"/>
          </a:solidFill>
          <a:ln w="22225">
            <a:solidFill>
              <a:srgbClr val="2F6DB5"/>
            </a:solidFill>
          </a:ln>
        </p:spPr>
        <p:txBody>
          <a:bodyPr wrap="square" lIns="45720" tIns="18288" rIns="45720" bIns="18288" rtlCol="0" anchor="ctr"/>
          <a:lstStyle/>
          <a:p>
            <a:pPr algn="ctr">
              <a:lnSpc>
                <a:spcPct val="150000"/>
              </a:lnSpc>
            </a:pPr>
            <a:r>
              <a:rPr sz="1100" b="1" dirty="0" err="1">
                <a:solidFill>
                  <a:srgbClr val="1C3F6E"/>
                </a:solidFill>
                <a:latin typeface="+mj-ea"/>
                <a:ea typeface="+mj-ea"/>
              </a:rPr>
              <a:t>연구소</a:t>
            </a:r>
            <a:endParaRPr sz="1100" b="1" dirty="0">
              <a:solidFill>
                <a:srgbClr val="1C3F6E"/>
              </a:solidFill>
              <a:latin typeface="+mj-ea"/>
              <a:ea typeface="+mj-ea"/>
            </a:endParaRPr>
          </a:p>
          <a:p>
            <a:pPr algn="ctr">
              <a:lnSpc>
                <a:spcPct val="125000"/>
              </a:lnSpc>
            </a:pPr>
            <a:r>
              <a:rPr sz="900" b="0" dirty="0" err="1">
                <a:solidFill>
                  <a:srgbClr val="222222"/>
                </a:solidFill>
                <a:latin typeface="+mj-ea"/>
                <a:ea typeface="+mj-ea"/>
              </a:rPr>
              <a:t>고객</a:t>
            </a:r>
            <a:r>
              <a:rPr sz="900" b="0" dirty="0">
                <a:solidFill>
                  <a:srgbClr val="222222"/>
                </a:solidFill>
                <a:latin typeface="+mj-ea"/>
                <a:ea typeface="+mj-ea"/>
              </a:rPr>
              <a:t> </a:t>
            </a:r>
            <a:r>
              <a:rPr sz="900" b="0" dirty="0" err="1">
                <a:solidFill>
                  <a:srgbClr val="222222"/>
                </a:solidFill>
                <a:latin typeface="+mj-ea"/>
                <a:ea typeface="+mj-ea"/>
              </a:rPr>
              <a:t>workloa</a:t>
            </a:r>
            <a:r>
              <a:rPr lang="en-US" sz="900" dirty="0" err="1">
                <a:solidFill>
                  <a:srgbClr val="222222"/>
                </a:solidFill>
                <a:latin typeface="+mj-ea"/>
                <a:ea typeface="+mj-ea"/>
              </a:rPr>
              <a:t>d,</a:t>
            </a:r>
            <a:r>
              <a:rPr sz="900" b="0" dirty="0" err="1">
                <a:solidFill>
                  <a:srgbClr val="222222"/>
                </a:solidFill>
                <a:latin typeface="+mj-ea"/>
                <a:ea typeface="+mj-ea"/>
              </a:rPr>
              <a:t>요구</a:t>
            </a:r>
            <a:r>
              <a:rPr sz="900" b="0" dirty="0">
                <a:solidFill>
                  <a:srgbClr val="222222"/>
                </a:solidFill>
                <a:latin typeface="+mj-ea"/>
                <a:ea typeface="+mj-ea"/>
              </a:rPr>
              <a:t> </a:t>
            </a:r>
            <a:r>
              <a:rPr sz="900" b="0" dirty="0" err="1">
                <a:solidFill>
                  <a:srgbClr val="222222"/>
                </a:solidFill>
                <a:latin typeface="+mj-ea"/>
                <a:ea typeface="+mj-ea"/>
              </a:rPr>
              <a:t>선제</a:t>
            </a:r>
            <a:r>
              <a:rPr sz="900" b="0" dirty="0">
                <a:solidFill>
                  <a:srgbClr val="222222"/>
                </a:solidFill>
                <a:latin typeface="+mj-ea"/>
                <a:ea typeface="+mj-ea"/>
              </a:rPr>
              <a:t> </a:t>
            </a:r>
            <a:r>
              <a:rPr sz="900" b="0" dirty="0" err="1">
                <a:solidFill>
                  <a:srgbClr val="222222"/>
                </a:solidFill>
                <a:latin typeface="+mj-ea"/>
                <a:ea typeface="+mj-ea"/>
              </a:rPr>
              <a:t>파악</a:t>
            </a:r>
            <a:r>
              <a:rPr sz="900" b="0" dirty="0">
                <a:solidFill>
                  <a:srgbClr val="222222"/>
                </a:solidFill>
                <a:latin typeface="+mj-ea"/>
                <a:ea typeface="+mj-ea"/>
              </a:rPr>
              <a:t> → </a:t>
            </a:r>
            <a:r>
              <a:rPr sz="900" b="0" dirty="0" err="1">
                <a:solidFill>
                  <a:srgbClr val="222222"/>
                </a:solidFill>
                <a:latin typeface="+mj-ea"/>
                <a:ea typeface="+mj-ea"/>
              </a:rPr>
              <a:t>이기종</a:t>
            </a:r>
            <a:r>
              <a:rPr sz="900" b="0" dirty="0">
                <a:solidFill>
                  <a:srgbClr val="222222"/>
                </a:solidFill>
                <a:latin typeface="+mj-ea"/>
                <a:ea typeface="+mj-ea"/>
              </a:rPr>
              <a:t> </a:t>
            </a:r>
            <a:r>
              <a:rPr sz="900" b="0" dirty="0" err="1">
                <a:solidFill>
                  <a:srgbClr val="222222"/>
                </a:solidFill>
                <a:latin typeface="+mj-ea"/>
                <a:ea typeface="+mj-ea"/>
              </a:rPr>
              <a:t>메모리</a:t>
            </a:r>
            <a:r>
              <a:rPr sz="900" b="0" dirty="0">
                <a:solidFill>
                  <a:srgbClr val="222222"/>
                </a:solidFill>
                <a:latin typeface="+mj-ea"/>
                <a:ea typeface="+mj-ea"/>
              </a:rPr>
              <a:t> </a:t>
            </a:r>
            <a:endParaRPr lang="en-US" sz="900" b="0" dirty="0">
              <a:solidFill>
                <a:srgbClr val="222222"/>
              </a:solidFill>
              <a:latin typeface="+mj-ea"/>
              <a:ea typeface="+mj-ea"/>
            </a:endParaRPr>
          </a:p>
          <a:p>
            <a:pPr algn="ctr">
              <a:lnSpc>
                <a:spcPct val="125000"/>
              </a:lnSpc>
            </a:pPr>
            <a:r>
              <a:rPr sz="900" b="0" dirty="0" err="1">
                <a:solidFill>
                  <a:srgbClr val="222222"/>
                </a:solidFill>
                <a:latin typeface="+mj-ea"/>
                <a:ea typeface="+mj-ea"/>
              </a:rPr>
              <a:t>인지형</a:t>
            </a:r>
            <a:r>
              <a:rPr sz="900" b="0" dirty="0">
                <a:solidFill>
                  <a:srgbClr val="222222"/>
                </a:solidFill>
                <a:latin typeface="+mj-ea"/>
                <a:ea typeface="+mj-ea"/>
              </a:rPr>
              <a:t> </a:t>
            </a:r>
            <a:r>
              <a:rPr lang="en-US" sz="900" dirty="0">
                <a:solidFill>
                  <a:srgbClr val="222222"/>
                </a:solidFill>
                <a:latin typeface="+mj-ea"/>
                <a:ea typeface="+mj-ea"/>
              </a:rPr>
              <a:t>AI </a:t>
            </a:r>
            <a:r>
              <a:rPr lang="ko-KR" altLang="en-US" sz="900" dirty="0">
                <a:solidFill>
                  <a:srgbClr val="222222"/>
                </a:solidFill>
                <a:latin typeface="+mj-ea"/>
                <a:ea typeface="+mj-ea"/>
              </a:rPr>
              <a:t>런타임 </a:t>
            </a:r>
            <a:r>
              <a:rPr sz="900" b="0" dirty="0" err="1">
                <a:solidFill>
                  <a:srgbClr val="222222"/>
                </a:solidFill>
                <a:latin typeface="+mj-ea"/>
                <a:ea typeface="+mj-ea"/>
              </a:rPr>
              <a:t>연구</a:t>
            </a:r>
            <a:endParaRPr sz="900" b="0" dirty="0">
              <a:solidFill>
                <a:srgbClr val="222222"/>
              </a:solidFill>
              <a:latin typeface="+mj-ea"/>
              <a:ea typeface="+mj-ea"/>
            </a:endParaRPr>
          </a:p>
        </p:txBody>
      </p:sp>
      <p:sp>
        <p:nvSpPr>
          <p:cNvPr id="157" name="Business unit">
            <a:extLst>
              <a:ext uri="{FF2B5EF4-FFF2-40B4-BE49-F238E27FC236}">
                <a16:creationId xmlns:a16="http://schemas.microsoft.com/office/drawing/2014/main" id="{6657B398-553F-4050-BB27-324EA9F4960A}"/>
              </a:ext>
            </a:extLst>
          </p:cNvPr>
          <p:cNvSpPr/>
          <p:nvPr/>
        </p:nvSpPr>
        <p:spPr>
          <a:xfrm>
            <a:off x="4261104" y="4860247"/>
            <a:ext cx="1664208" cy="872836"/>
          </a:xfrm>
          <a:prstGeom prst="roundRect">
            <a:avLst>
              <a:gd name="adj" fmla="val 8000"/>
            </a:avLst>
          </a:prstGeom>
          <a:solidFill>
            <a:srgbClr val="F0F1F3"/>
          </a:solidFill>
          <a:ln w="12700">
            <a:solidFill>
              <a:srgbClr val="7F7F7F"/>
            </a:solidFill>
          </a:ln>
        </p:spPr>
        <p:txBody>
          <a:bodyPr wrap="square" lIns="45720" tIns="18288" rIns="45720" bIns="18288" rtlCol="0" anchor="ctr"/>
          <a:lstStyle/>
          <a:p>
            <a:pPr algn="ctr">
              <a:lnSpc>
                <a:spcPct val="150000"/>
              </a:lnSpc>
            </a:pPr>
            <a:r>
              <a:rPr sz="1100" b="1" dirty="0" err="1" smtClean="0">
                <a:solidFill>
                  <a:srgbClr val="222222"/>
                </a:solidFill>
                <a:latin typeface="+mj-ea"/>
                <a:ea typeface="+mj-ea"/>
              </a:rPr>
              <a:t>사업부</a:t>
            </a:r>
            <a:endParaRPr sz="1100" b="1" dirty="0">
              <a:solidFill>
                <a:srgbClr val="222222"/>
              </a:solidFill>
              <a:latin typeface="+mj-ea"/>
              <a:ea typeface="+mj-ea"/>
            </a:endParaRPr>
          </a:p>
          <a:p>
            <a:pPr algn="ctr">
              <a:lnSpc>
                <a:spcPct val="125000"/>
              </a:lnSpc>
            </a:pPr>
            <a:r>
              <a:rPr sz="900" b="0" dirty="0" err="1">
                <a:solidFill>
                  <a:srgbClr val="555555"/>
                </a:solidFill>
                <a:latin typeface="+mj-ea"/>
                <a:ea typeface="+mj-ea"/>
              </a:rPr>
              <a:t>연구</a:t>
            </a:r>
            <a:r>
              <a:rPr sz="900" b="0" dirty="0">
                <a:solidFill>
                  <a:srgbClr val="555555"/>
                </a:solidFill>
                <a:latin typeface="+mj-ea"/>
                <a:ea typeface="+mj-ea"/>
              </a:rPr>
              <a:t> </a:t>
            </a:r>
            <a:r>
              <a:rPr sz="900" b="0" dirty="0" err="1">
                <a:solidFill>
                  <a:srgbClr val="555555"/>
                </a:solidFill>
                <a:latin typeface="+mj-ea"/>
                <a:ea typeface="+mj-ea"/>
              </a:rPr>
              <a:t>결과</a:t>
            </a:r>
            <a:r>
              <a:rPr lang="en-US" sz="900" b="0" dirty="0">
                <a:solidFill>
                  <a:srgbClr val="555555"/>
                </a:solidFill>
                <a:latin typeface="+mj-ea"/>
                <a:ea typeface="+mj-ea"/>
              </a:rPr>
              <a:t> </a:t>
            </a:r>
            <a:r>
              <a:rPr sz="900" b="0" dirty="0" err="1">
                <a:solidFill>
                  <a:srgbClr val="555555"/>
                </a:solidFill>
                <a:latin typeface="+mj-ea"/>
                <a:ea typeface="+mj-ea"/>
              </a:rPr>
              <a:t>반영</a:t>
            </a:r>
            <a:endParaRPr lang="en-US" sz="900" b="0" dirty="0">
              <a:solidFill>
                <a:srgbClr val="555555"/>
              </a:solidFill>
              <a:latin typeface="+mj-ea"/>
              <a:ea typeface="+mj-ea"/>
            </a:endParaRPr>
          </a:p>
          <a:p>
            <a:pPr algn="ctr">
              <a:lnSpc>
                <a:spcPct val="125000"/>
              </a:lnSpc>
            </a:pPr>
            <a:r>
              <a:rPr lang="ko-KR" altLang="en-US" sz="900" dirty="0">
                <a:solidFill>
                  <a:srgbClr val="222222"/>
                </a:solidFill>
                <a:latin typeface="+mj-ea"/>
              </a:rPr>
              <a:t>→ </a:t>
            </a:r>
            <a:r>
              <a:rPr lang="ko-KR" altLang="en-US" sz="900" dirty="0">
                <a:solidFill>
                  <a:srgbClr val="555555"/>
                </a:solidFill>
                <a:latin typeface="+mj-ea"/>
              </a:rPr>
              <a:t>차세대 </a:t>
            </a:r>
            <a:r>
              <a:rPr lang="en-US" altLang="ko-KR" sz="900" dirty="0">
                <a:solidFill>
                  <a:srgbClr val="555555"/>
                </a:solidFill>
                <a:latin typeface="+mj-ea"/>
              </a:rPr>
              <a:t>Device </a:t>
            </a:r>
            <a:r>
              <a:rPr lang="ko-KR" altLang="en-US" sz="900" dirty="0">
                <a:solidFill>
                  <a:srgbClr val="555555"/>
                </a:solidFill>
                <a:latin typeface="+mj-ea"/>
              </a:rPr>
              <a:t>개발</a:t>
            </a:r>
          </a:p>
        </p:txBody>
      </p:sp>
      <p:sp>
        <p:nvSpPr>
          <p:cNvPr id="158" name="flow arrow">
            <a:extLst>
              <a:ext uri="{FF2B5EF4-FFF2-40B4-BE49-F238E27FC236}">
                <a16:creationId xmlns:a16="http://schemas.microsoft.com/office/drawing/2014/main" id="{E339278A-C89C-4EAA-99F3-FFCBF3F8F261}"/>
              </a:ext>
            </a:extLst>
          </p:cNvPr>
          <p:cNvSpPr/>
          <p:nvPr/>
        </p:nvSpPr>
        <p:spPr>
          <a:xfrm>
            <a:off x="2039112" y="5186937"/>
            <a:ext cx="237744" cy="219456"/>
          </a:xfrm>
          <a:prstGeom prst="rightArrow">
            <a:avLst/>
          </a:prstGeom>
          <a:solidFill>
            <a:srgbClr val="7F7F7F"/>
          </a:solidFill>
          <a:ln>
            <a:noFill/>
          </a:ln>
        </p:spPr>
        <p:txBody>
          <a:bodyPr rtlCol="0" anchor="ctr"/>
          <a:lstStyle/>
          <a:p>
            <a:pPr algn="ctr"/>
            <a:endParaRPr/>
          </a:p>
        </p:txBody>
      </p:sp>
      <p:sp>
        <p:nvSpPr>
          <p:cNvPr id="159" name="flow arrow">
            <a:extLst>
              <a:ext uri="{FF2B5EF4-FFF2-40B4-BE49-F238E27FC236}">
                <a16:creationId xmlns:a16="http://schemas.microsoft.com/office/drawing/2014/main" id="{343CF676-4ACD-4B05-9FF3-AC348B04D1DC}"/>
              </a:ext>
            </a:extLst>
          </p:cNvPr>
          <p:cNvSpPr/>
          <p:nvPr/>
        </p:nvSpPr>
        <p:spPr>
          <a:xfrm>
            <a:off x="3995928" y="5186937"/>
            <a:ext cx="237744" cy="219456"/>
          </a:xfrm>
          <a:prstGeom prst="rightArrow">
            <a:avLst/>
          </a:prstGeom>
          <a:solidFill>
            <a:srgbClr val="7F7F7F"/>
          </a:solidFill>
          <a:ln>
            <a:noFill/>
          </a:ln>
        </p:spPr>
        <p:txBody>
          <a:bodyPr rtlCol="0" anchor="ctr"/>
          <a:lstStyle/>
          <a:p>
            <a:pPr algn="ctr"/>
            <a:endParaRPr/>
          </a:p>
        </p:txBody>
      </p:sp>
      <p:sp>
        <p:nvSpPr>
          <p:cNvPr id="160" name="Conclusion">
            <a:extLst>
              <a:ext uri="{FF2B5EF4-FFF2-40B4-BE49-F238E27FC236}">
                <a16:creationId xmlns:a16="http://schemas.microsoft.com/office/drawing/2014/main" id="{7F19F002-64D8-4D83-90E3-06335248ECD7}"/>
              </a:ext>
            </a:extLst>
          </p:cNvPr>
          <p:cNvSpPr/>
          <p:nvPr/>
        </p:nvSpPr>
        <p:spPr>
          <a:xfrm>
            <a:off x="347472" y="5985513"/>
            <a:ext cx="5577840" cy="310896"/>
          </a:xfrm>
          <a:prstGeom prst="roundRect">
            <a:avLst>
              <a:gd name="adj" fmla="val 20000"/>
            </a:avLst>
          </a:prstGeom>
          <a:solidFill>
            <a:srgbClr val="FDF1E7"/>
          </a:solidFill>
          <a:ln>
            <a:noFill/>
          </a:ln>
        </p:spPr>
        <p:txBody>
          <a:bodyPr wrap="square" lIns="45720" tIns="18288" rIns="45720" bIns="18288" rtlCol="0" anchor="ctr"/>
          <a:lstStyle/>
          <a:p>
            <a:pPr algn="ctr"/>
            <a:r>
              <a:rPr lang="ko-KR" altLang="en-US" sz="1050" b="1" dirty="0">
                <a:solidFill>
                  <a:srgbClr val="222222"/>
                </a:solidFill>
                <a:latin typeface="+mj-ea"/>
                <a:ea typeface="+mj-ea"/>
              </a:rPr>
              <a:t>당사의 다양한 제품을 고려한 </a:t>
            </a:r>
            <a:r>
              <a:rPr sz="1050" b="1" dirty="0" err="1">
                <a:solidFill>
                  <a:srgbClr val="C55A11"/>
                </a:solidFill>
                <a:latin typeface="+mj-ea"/>
                <a:ea typeface="+mj-ea"/>
              </a:rPr>
              <a:t>이기종</a:t>
            </a:r>
            <a:r>
              <a:rPr sz="1050" b="1" dirty="0">
                <a:solidFill>
                  <a:srgbClr val="C55A11"/>
                </a:solidFill>
                <a:latin typeface="+mj-ea"/>
                <a:ea typeface="+mj-ea"/>
              </a:rPr>
              <a:t> </a:t>
            </a:r>
            <a:r>
              <a:rPr sz="1050" b="1" dirty="0" err="1">
                <a:solidFill>
                  <a:srgbClr val="C55A11"/>
                </a:solidFill>
                <a:latin typeface="+mj-ea"/>
                <a:ea typeface="+mj-ea"/>
              </a:rPr>
              <a:t>메모리</a:t>
            </a:r>
            <a:r>
              <a:rPr sz="1050" b="1" dirty="0">
                <a:solidFill>
                  <a:srgbClr val="C55A11"/>
                </a:solidFill>
                <a:latin typeface="+mj-ea"/>
                <a:ea typeface="+mj-ea"/>
              </a:rPr>
              <a:t> </a:t>
            </a:r>
            <a:r>
              <a:rPr sz="1050" b="1" dirty="0" err="1">
                <a:solidFill>
                  <a:srgbClr val="C55A11"/>
                </a:solidFill>
                <a:latin typeface="+mj-ea"/>
                <a:ea typeface="+mj-ea"/>
              </a:rPr>
              <a:t>시스템</a:t>
            </a:r>
            <a:r>
              <a:rPr sz="1050" b="1" dirty="0">
                <a:solidFill>
                  <a:srgbClr val="C55A11"/>
                </a:solidFill>
                <a:latin typeface="+mj-ea"/>
                <a:ea typeface="+mj-ea"/>
              </a:rPr>
              <a:t> </a:t>
            </a:r>
            <a:r>
              <a:rPr sz="1050" b="1" dirty="0" err="1">
                <a:solidFill>
                  <a:srgbClr val="C55A11"/>
                </a:solidFill>
                <a:latin typeface="+mj-ea"/>
                <a:ea typeface="+mj-ea"/>
              </a:rPr>
              <a:t>연구</a:t>
            </a:r>
            <a:r>
              <a:rPr sz="1050" b="1" dirty="0">
                <a:solidFill>
                  <a:srgbClr val="222222"/>
                </a:solidFill>
                <a:latin typeface="+mj-ea"/>
                <a:ea typeface="+mj-ea"/>
              </a:rPr>
              <a:t> </a:t>
            </a:r>
            <a:r>
              <a:rPr sz="1050" b="1" dirty="0" err="1">
                <a:solidFill>
                  <a:srgbClr val="222222"/>
                </a:solidFill>
                <a:latin typeface="+mj-ea"/>
                <a:ea typeface="+mj-ea"/>
              </a:rPr>
              <a:t>필요</a:t>
            </a:r>
            <a:endParaRPr sz="1050" b="1" dirty="0">
              <a:solidFill>
                <a:srgbClr val="222222"/>
              </a:solidFill>
              <a:latin typeface="+mj-ea"/>
              <a:ea typeface="+mj-ea"/>
            </a:endParaRPr>
          </a:p>
        </p:txBody>
      </p:sp>
      <p:sp>
        <p:nvSpPr>
          <p:cNvPr id="182" name="TextBox 181">
            <a:extLst>
              <a:ext uri="{FF2B5EF4-FFF2-40B4-BE49-F238E27FC236}">
                <a16:creationId xmlns:a16="http://schemas.microsoft.com/office/drawing/2014/main" id="{59C04A12-23FA-420E-A103-80FB627BE3AA}"/>
              </a:ext>
            </a:extLst>
          </p:cNvPr>
          <p:cNvSpPr txBox="1"/>
          <p:nvPr/>
        </p:nvSpPr>
        <p:spPr>
          <a:xfrm>
            <a:off x="355600" y="6662601"/>
            <a:ext cx="5321807" cy="128016"/>
          </a:xfrm>
          <a:prstGeom prst="rect">
            <a:avLst/>
          </a:prstGeom>
          <a:noFill/>
        </p:spPr>
        <p:txBody>
          <a:bodyPr wrap="square" lIns="0" tIns="0" rIns="0" bIns="0" anchor="t">
            <a:noAutofit/>
          </a:bodyPr>
          <a:lstStyle/>
          <a:p>
            <a:pPr algn="l"/>
            <a:r>
              <a:rPr sz="650" b="0" dirty="0" err="1">
                <a:solidFill>
                  <a:srgbClr val="555555"/>
                </a:solidFill>
                <a:latin typeface="+mj-ea"/>
                <a:ea typeface="+mj-ea"/>
              </a:rPr>
              <a:t>출처</a:t>
            </a:r>
            <a:r>
              <a:rPr sz="650" b="0" dirty="0">
                <a:solidFill>
                  <a:srgbClr val="555555"/>
                </a:solidFill>
                <a:latin typeface="+mj-ea"/>
                <a:ea typeface="+mj-ea"/>
              </a:rPr>
              <a:t>: Micron(HBM TAM), </a:t>
            </a:r>
            <a:r>
              <a:rPr sz="650" b="0" dirty="0" err="1">
                <a:solidFill>
                  <a:srgbClr val="555555"/>
                </a:solidFill>
                <a:latin typeface="+mj-ea"/>
                <a:ea typeface="+mj-ea"/>
              </a:rPr>
              <a:t>공개</a:t>
            </a:r>
            <a:r>
              <a:rPr sz="650" b="0" dirty="0">
                <a:solidFill>
                  <a:srgbClr val="555555"/>
                </a:solidFill>
                <a:latin typeface="+mj-ea"/>
                <a:ea typeface="+mj-ea"/>
              </a:rPr>
              <a:t> </a:t>
            </a:r>
            <a:r>
              <a:rPr sz="650" b="0" dirty="0" err="1">
                <a:solidFill>
                  <a:srgbClr val="555555"/>
                </a:solidFill>
                <a:latin typeface="+mj-ea"/>
                <a:ea typeface="+mj-ea"/>
              </a:rPr>
              <a:t>보도</a:t>
            </a:r>
            <a:r>
              <a:rPr sz="650" b="0" dirty="0">
                <a:solidFill>
                  <a:srgbClr val="555555"/>
                </a:solidFill>
                <a:latin typeface="+mj-ea"/>
                <a:ea typeface="+mj-ea"/>
              </a:rPr>
              <a:t>(</a:t>
            </a:r>
            <a:r>
              <a:rPr sz="650" b="0" dirty="0" err="1">
                <a:solidFill>
                  <a:srgbClr val="555555"/>
                </a:solidFill>
                <a:latin typeface="+mj-ea"/>
                <a:ea typeface="+mj-ea"/>
              </a:rPr>
              <a:t>삼성</a:t>
            </a:r>
            <a:r>
              <a:rPr sz="650" b="0" dirty="0">
                <a:solidFill>
                  <a:srgbClr val="555555"/>
                </a:solidFill>
                <a:latin typeface="+mj-ea"/>
                <a:ea typeface="+mj-ea"/>
              </a:rPr>
              <a:t> HBM2 </a:t>
            </a:r>
            <a:r>
              <a:rPr sz="650" b="0" dirty="0" err="1">
                <a:solidFill>
                  <a:srgbClr val="555555"/>
                </a:solidFill>
                <a:latin typeface="+mj-ea"/>
                <a:ea typeface="+mj-ea"/>
              </a:rPr>
              <a:t>양산</a:t>
            </a:r>
            <a:r>
              <a:rPr sz="650" b="0" dirty="0">
                <a:solidFill>
                  <a:srgbClr val="555555"/>
                </a:solidFill>
                <a:latin typeface="+mj-ea"/>
                <a:ea typeface="+mj-ea"/>
              </a:rPr>
              <a:t> 2016.1; HBM3E/HBM4 </a:t>
            </a:r>
            <a:r>
              <a:rPr sz="650" b="0" dirty="0" err="1">
                <a:solidFill>
                  <a:srgbClr val="555555"/>
                </a:solidFill>
                <a:latin typeface="+mj-ea"/>
                <a:ea typeface="+mj-ea"/>
              </a:rPr>
              <a:t>인증</a:t>
            </a:r>
            <a:r>
              <a:rPr sz="650" b="0" dirty="0">
                <a:solidFill>
                  <a:srgbClr val="555555"/>
                </a:solidFill>
                <a:latin typeface="+mj-ea"/>
                <a:ea typeface="+mj-ea"/>
              </a:rPr>
              <a:t> </a:t>
            </a:r>
            <a:r>
              <a:rPr sz="650" b="0" dirty="0" err="1">
                <a:solidFill>
                  <a:srgbClr val="555555"/>
                </a:solidFill>
                <a:latin typeface="+mj-ea"/>
                <a:ea typeface="+mj-ea"/>
              </a:rPr>
              <a:t>관련</a:t>
            </a:r>
            <a:r>
              <a:rPr sz="650" b="0" dirty="0">
                <a:solidFill>
                  <a:srgbClr val="555555"/>
                </a:solidFill>
                <a:latin typeface="+mj-ea"/>
                <a:ea typeface="+mj-ea"/>
              </a:rPr>
              <a:t> Bloomberg 2026.1, Korea Times 2025.1 등)</a:t>
            </a:r>
          </a:p>
        </p:txBody>
      </p:sp>
      <p:sp>
        <p:nvSpPr>
          <p:cNvPr id="214" name="TextBox 213">
            <a:extLst>
              <a:ext uri="{FF2B5EF4-FFF2-40B4-BE49-F238E27FC236}">
                <a16:creationId xmlns:a16="http://schemas.microsoft.com/office/drawing/2014/main" id="{4FCDC9F5-D66A-4E36-8843-200B176A9619}"/>
              </a:ext>
            </a:extLst>
          </p:cNvPr>
          <p:cNvSpPr txBox="1"/>
          <p:nvPr/>
        </p:nvSpPr>
        <p:spPr>
          <a:xfrm>
            <a:off x="6232394" y="6554591"/>
            <a:ext cx="5479760" cy="270843"/>
          </a:xfrm>
          <a:prstGeom prst="rect">
            <a:avLst/>
          </a:prstGeom>
          <a:noFill/>
        </p:spPr>
        <p:txBody>
          <a:bodyPr wrap="square" lIns="45720" tIns="27432" rIns="45720" bIns="27432" anchor="t">
            <a:spAutoFit/>
          </a:bodyPr>
          <a:lstStyle/>
          <a:p>
            <a:r>
              <a:rPr lang="ko-KR" altLang="en-US" sz="700" dirty="0">
                <a:solidFill>
                  <a:srgbClr val="595959"/>
                </a:solidFill>
                <a:ea typeface="맑은 고딕"/>
                <a:cs typeface="맑은 고딕"/>
              </a:rPr>
              <a:t>① </a:t>
            </a:r>
            <a:r>
              <a:rPr sz="700" b="0" dirty="0">
                <a:solidFill>
                  <a:srgbClr val="595959"/>
                </a:solidFill>
                <a:latin typeface="맑은 고딕"/>
                <a:ea typeface="맑은 고딕"/>
                <a:cs typeface="맑은 고딕"/>
              </a:rPr>
              <a:t>H100 80GB, Llama-3.1-8B-Instruct, CPU DRAM 128GB offload, </a:t>
            </a:r>
            <a:r>
              <a:rPr sz="700" b="0" dirty="0" err="1">
                <a:solidFill>
                  <a:srgbClr val="595959"/>
                </a:solidFill>
                <a:latin typeface="맑은 고딕"/>
                <a:ea typeface="맑은 고딕"/>
                <a:cs typeface="맑은 고딕"/>
              </a:rPr>
              <a:t>vLLM</a:t>
            </a:r>
            <a:r>
              <a:rPr sz="700" b="0" dirty="0">
                <a:solidFill>
                  <a:srgbClr val="595959"/>
                </a:solidFill>
                <a:latin typeface="맑은 고딕"/>
                <a:ea typeface="맑은 고딕"/>
                <a:cs typeface="맑은 고딕"/>
              </a:rPr>
              <a:t> native connector (</a:t>
            </a:r>
            <a:r>
              <a:rPr sz="700" b="0" dirty="0" err="1">
                <a:solidFill>
                  <a:srgbClr val="595959"/>
                </a:solidFill>
                <a:latin typeface="맑은 고딕"/>
                <a:ea typeface="맑은 고딕"/>
                <a:cs typeface="맑은 고딕"/>
              </a:rPr>
              <a:t>동시성</a:t>
            </a:r>
            <a:r>
              <a:rPr sz="700" b="0" dirty="0">
                <a:solidFill>
                  <a:srgbClr val="595959"/>
                </a:solidFill>
                <a:latin typeface="맑은 고딕"/>
                <a:ea typeface="맑은 고딕"/>
                <a:cs typeface="맑은 고딕"/>
              </a:rPr>
              <a:t> </a:t>
            </a:r>
            <a:r>
              <a:rPr sz="700" b="0" dirty="0" err="1">
                <a:solidFill>
                  <a:srgbClr val="595959"/>
                </a:solidFill>
                <a:latin typeface="맑은 고딕"/>
                <a:ea typeface="맑은 고딕"/>
                <a:cs typeface="맑은 고딕"/>
              </a:rPr>
              <a:t>높은</a:t>
            </a:r>
            <a:r>
              <a:rPr sz="700" b="0" dirty="0">
                <a:solidFill>
                  <a:srgbClr val="595959"/>
                </a:solidFill>
                <a:latin typeface="맑은 고딕"/>
                <a:ea typeface="맑은 고딕"/>
                <a:cs typeface="맑은 고딕"/>
              </a:rPr>
              <a:t> </a:t>
            </a:r>
            <a:r>
              <a:rPr sz="700" b="0" dirty="0" err="1">
                <a:solidFill>
                  <a:srgbClr val="595959"/>
                </a:solidFill>
                <a:latin typeface="맑은 고딕"/>
                <a:ea typeface="맑은 고딕"/>
                <a:cs typeface="맑은 고딕"/>
              </a:rPr>
              <a:t>부하</a:t>
            </a:r>
            <a:r>
              <a:rPr sz="700" b="0" dirty="0">
                <a:solidFill>
                  <a:srgbClr val="595959"/>
                </a:solidFill>
                <a:latin typeface="맑은 고딕"/>
                <a:ea typeface="맑은 고딕"/>
                <a:cs typeface="맑은 고딕"/>
              </a:rPr>
              <a:t>)</a:t>
            </a:r>
            <a:endParaRPr lang="en-US" sz="700" b="0" dirty="0">
              <a:solidFill>
                <a:srgbClr val="595959"/>
              </a:solidFill>
              <a:latin typeface="맑은 고딕"/>
              <a:ea typeface="맑은 고딕"/>
              <a:cs typeface="맑은 고딕"/>
            </a:endParaRPr>
          </a:p>
          <a:p>
            <a:r>
              <a:rPr lang="en-US" altLang="ko-KR" sz="700" dirty="0">
                <a:solidFill>
                  <a:srgbClr val="595959"/>
                </a:solidFill>
                <a:ea typeface="맑은 고딕"/>
                <a:cs typeface="맑은 고딕"/>
              </a:rPr>
              <a:t>② H100 2</a:t>
            </a:r>
            <a:r>
              <a:rPr lang="ko-KR" altLang="en-US" sz="700" dirty="0">
                <a:solidFill>
                  <a:srgbClr val="595959"/>
                </a:solidFill>
                <a:ea typeface="맑은 고딕"/>
                <a:cs typeface="맑은 고딕"/>
              </a:rPr>
              <a:t>노드</a:t>
            </a:r>
            <a:r>
              <a:rPr lang="en-US" altLang="ko-KR" sz="700" dirty="0">
                <a:solidFill>
                  <a:srgbClr val="595959"/>
                </a:solidFill>
                <a:ea typeface="맑은 고딕"/>
                <a:cs typeface="맑은 고딕"/>
              </a:rPr>
              <a:t>, GLM-4.5-fp8, mini-SWE-agent, </a:t>
            </a:r>
            <a:r>
              <a:rPr lang="ko-KR" altLang="en-US" sz="700" dirty="0">
                <a:solidFill>
                  <a:srgbClr val="595959"/>
                </a:solidFill>
                <a:ea typeface="맑은 고딕"/>
                <a:cs typeface="맑은 고딕"/>
              </a:rPr>
              <a:t>동시 </a:t>
            </a:r>
            <a:r>
              <a:rPr lang="en-US" altLang="ko-KR" sz="700" dirty="0">
                <a:solidFill>
                  <a:srgbClr val="595959"/>
                </a:solidFill>
                <a:ea typeface="맑은 고딕"/>
                <a:cs typeface="맑은 고딕"/>
              </a:rPr>
              <a:t>144 programs (</a:t>
            </a:r>
            <a:r>
              <a:rPr lang="ko-KR" altLang="en-US" sz="700" dirty="0">
                <a:solidFill>
                  <a:srgbClr val="595959"/>
                </a:solidFill>
                <a:ea typeface="맑은 고딕"/>
                <a:cs typeface="맑은 고딕"/>
              </a:rPr>
              <a:t>벤치마크 전반 </a:t>
            </a:r>
            <a:r>
              <a:rPr lang="en-US" altLang="ko-KR" sz="700" dirty="0">
                <a:solidFill>
                  <a:srgbClr val="595959"/>
                </a:solidFill>
                <a:ea typeface="맑은 고딕"/>
                <a:cs typeface="맑은 고딕"/>
              </a:rPr>
              <a:t>1.48–3.58×)</a:t>
            </a:r>
          </a:p>
        </p:txBody>
      </p:sp>
      <p:sp>
        <p:nvSpPr>
          <p:cNvPr id="77" name="모서리가 둥근 직사각형 76"/>
          <p:cNvSpPr/>
          <p:nvPr/>
        </p:nvSpPr>
        <p:spPr>
          <a:xfrm>
            <a:off x="212656" y="1119861"/>
            <a:ext cx="5844033" cy="5234555"/>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81" name="TextBox 80">
            <a:extLst>
              <a:ext uri="{FF2B5EF4-FFF2-40B4-BE49-F238E27FC236}">
                <a16:creationId xmlns:a16="http://schemas.microsoft.com/office/drawing/2014/main" id="{7AF71897-E419-4A9C-A232-B7F53889C234}"/>
              </a:ext>
            </a:extLst>
          </p:cNvPr>
          <p:cNvSpPr txBox="1"/>
          <p:nvPr/>
        </p:nvSpPr>
        <p:spPr>
          <a:xfrm>
            <a:off x="212655" y="649600"/>
            <a:ext cx="5917896" cy="323165"/>
          </a:xfrm>
          <a:prstGeom prst="rect">
            <a:avLst/>
          </a:prstGeom>
          <a:noFill/>
        </p:spPr>
        <p:txBody>
          <a:bodyPr wrap="square" rtlCol="0">
            <a:spAutoFit/>
          </a:bodyPr>
          <a:lstStyle/>
          <a:p>
            <a:pPr marL="0" indent="0" algn="ctr">
              <a:lnSpc>
                <a:spcPts val="1820"/>
              </a:lnSpc>
              <a:buNone/>
            </a:pPr>
            <a:r>
              <a:rPr lang="ko-KR" altLang="en-US" sz="1400" b="1" dirty="0">
                <a:solidFill>
                  <a:srgbClr val="C55A11"/>
                </a:solidFill>
                <a:latin typeface="+mj-ea"/>
                <a:ea typeface="+mj-ea"/>
                <a:cs typeface="Noto Sans KR" pitchFamily="34" charset="-120"/>
              </a:rPr>
              <a:t>변하는 시장에 대한 선제적인 대응이 필요 </a:t>
            </a:r>
            <a:r>
              <a:rPr lang="ko-KR" altLang="en-US" sz="1400" b="1" dirty="0">
                <a:solidFill>
                  <a:srgbClr val="C55A11"/>
                </a:solidFill>
                <a:latin typeface="맑은 고딕" panose="020B0503020000020004" pitchFamily="50" charset="-127"/>
                <a:ea typeface="맑은 고딕" panose="020B0503020000020004" pitchFamily="50" charset="-127"/>
                <a:cs typeface="Noto Sans KR" pitchFamily="34" charset="-120"/>
              </a:rPr>
              <a:t>→</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이기종 메모리 연구 </a:t>
            </a:r>
            <a:endParaRPr lang="en-US" altLang="ko-KR" sz="1400" dirty="0">
              <a:latin typeface="+mj-ea"/>
              <a:ea typeface="+mj-ea"/>
            </a:endParaRPr>
          </a:p>
        </p:txBody>
      </p:sp>
      <p:sp>
        <p:nvSpPr>
          <p:cNvPr id="82" name="TextBox 81">
            <a:extLst>
              <a:ext uri="{FF2B5EF4-FFF2-40B4-BE49-F238E27FC236}">
                <a16:creationId xmlns:a16="http://schemas.microsoft.com/office/drawing/2014/main" id="{7AF71897-E419-4A9C-A232-B7F53889C234}"/>
              </a:ext>
            </a:extLst>
          </p:cNvPr>
          <p:cNvSpPr txBox="1"/>
          <p:nvPr/>
        </p:nvSpPr>
        <p:spPr>
          <a:xfrm>
            <a:off x="6175527" y="649600"/>
            <a:ext cx="5817691" cy="323165"/>
          </a:xfrm>
          <a:prstGeom prst="rect">
            <a:avLst/>
          </a:prstGeom>
          <a:noFill/>
        </p:spPr>
        <p:txBody>
          <a:bodyPr wrap="square" rtlCol="0">
            <a:spAutoFit/>
          </a:bodyPr>
          <a:lstStyle/>
          <a:p>
            <a:pPr marL="0" indent="0" algn="ctr">
              <a:lnSpc>
                <a:spcPts val="1820"/>
              </a:lnSpc>
              <a:buNone/>
            </a:pPr>
            <a:r>
              <a:rPr lang="ko-KR" altLang="en-US" sz="1400" b="1" dirty="0" smtClean="0">
                <a:solidFill>
                  <a:srgbClr val="C55A11"/>
                </a:solidFill>
                <a:latin typeface="+mj-ea"/>
                <a:ea typeface="+mj-ea"/>
                <a:cs typeface="Noto Sans KR" pitchFamily="34" charset="-120"/>
              </a:rPr>
              <a:t>당사 신규 메모리를 인지하는 추론 </a:t>
            </a:r>
            <a:r>
              <a:rPr lang="ko-KR" altLang="en-US" sz="1400" b="1" dirty="0" err="1">
                <a:solidFill>
                  <a:srgbClr val="C55A11"/>
                </a:solidFill>
                <a:latin typeface="+mj-ea"/>
                <a:ea typeface="+mj-ea"/>
                <a:cs typeface="Noto Sans KR" pitchFamily="34" charset="-120"/>
              </a:rPr>
              <a:t>서빙</a:t>
            </a:r>
            <a:r>
              <a:rPr lang="ko-KR" altLang="en-US" sz="1400" b="1" dirty="0">
                <a:solidFill>
                  <a:srgbClr val="C55A11"/>
                </a:solidFill>
                <a:latin typeface="+mj-ea"/>
                <a:ea typeface="+mj-ea"/>
                <a:cs typeface="Noto Sans KR" pitchFamily="34" charset="-120"/>
              </a:rPr>
              <a:t> 엔진이 없다</a:t>
            </a:r>
            <a:endParaRPr lang="en-US" altLang="ko-KR" sz="1400" dirty="0">
              <a:latin typeface="+mj-ea"/>
              <a:ea typeface="+mj-ea"/>
            </a:endParaRPr>
          </a:p>
        </p:txBody>
      </p:sp>
      <p:sp>
        <p:nvSpPr>
          <p:cNvPr id="85" name="직사각형 84"/>
          <p:cNvSpPr/>
          <p:nvPr/>
        </p:nvSpPr>
        <p:spPr>
          <a:xfrm>
            <a:off x="7056136" y="1011011"/>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기존 </a:t>
            </a:r>
            <a:r>
              <a:rPr lang="en-US" altLang="ko-KR" sz="1400" b="1" dirty="0"/>
              <a:t>AI SW </a:t>
            </a:r>
            <a:r>
              <a:rPr lang="ko-KR" altLang="en-US" sz="1400" b="1" dirty="0"/>
              <a:t>역할의 한계</a:t>
            </a:r>
          </a:p>
        </p:txBody>
      </p:sp>
      <p:sp>
        <p:nvSpPr>
          <p:cNvPr id="86" name="직사각형 85"/>
          <p:cNvSpPr/>
          <p:nvPr/>
        </p:nvSpPr>
        <p:spPr>
          <a:xfrm>
            <a:off x="1089957" y="1010799"/>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미래 시장 수요 대응을 위한 연구 필요 </a:t>
            </a:r>
            <a:endParaRPr lang="en-US" altLang="ko-KR" sz="1400" b="1" dirty="0"/>
          </a:p>
        </p:txBody>
      </p:sp>
      <p:sp>
        <p:nvSpPr>
          <p:cNvPr id="39" name="TextBox 38"/>
          <p:cNvSpPr txBox="1"/>
          <p:nvPr/>
        </p:nvSpPr>
        <p:spPr>
          <a:xfrm>
            <a:off x="1603229" y="1771044"/>
            <a:ext cx="1962930" cy="444096"/>
          </a:xfrm>
          <a:prstGeom prst="rect">
            <a:avLst/>
          </a:prstGeom>
          <a:noFill/>
        </p:spPr>
        <p:txBody>
          <a:bodyPr wrap="square" lIns="0" tIns="0" rIns="0" bIns="0" anchor="ctr">
            <a:spAutoFit/>
          </a:bodyPr>
          <a:lstStyle/>
          <a:p>
            <a:pPr algn="ctr">
              <a:lnSpc>
                <a:spcPct val="110000"/>
              </a:lnSpc>
            </a:pPr>
            <a:r>
              <a:rPr lang="ko-KR" altLang="en-US" sz="900" b="1" i="0" dirty="0" smtClean="0">
                <a:solidFill>
                  <a:srgbClr val="C55A11"/>
                </a:solidFill>
                <a:latin typeface="맑은 고딕"/>
                <a:ea typeface="맑은 고딕"/>
              </a:rPr>
              <a:t>신규 시장 확인</a:t>
            </a:r>
            <a:endParaRPr lang="en-US" altLang="ko-KR" sz="900" b="1" i="0" dirty="0" smtClean="0">
              <a:solidFill>
                <a:srgbClr val="C55A11"/>
              </a:solidFill>
              <a:latin typeface="맑은 고딕"/>
              <a:ea typeface="맑은 고딕"/>
            </a:endParaRPr>
          </a:p>
          <a:p>
            <a:pPr algn="ctr">
              <a:lnSpc>
                <a:spcPct val="110000"/>
              </a:lnSpc>
            </a:pPr>
            <a:r>
              <a:rPr sz="900" b="1" i="0" dirty="0" smtClean="0">
                <a:solidFill>
                  <a:srgbClr val="C55A11"/>
                </a:solidFill>
                <a:latin typeface="맑은 고딕"/>
                <a:ea typeface="맑은 고딕"/>
              </a:rPr>
              <a:t>(</a:t>
            </a:r>
            <a:r>
              <a:rPr lang="ko-KR" altLang="en-US" sz="900" b="1" i="0" dirty="0" smtClean="0">
                <a:solidFill>
                  <a:srgbClr val="C55A11"/>
                </a:solidFill>
                <a:latin typeface="맑은 고딕"/>
                <a:ea typeface="맑은 고딕"/>
              </a:rPr>
              <a:t>어느 </a:t>
            </a:r>
            <a:r>
              <a:rPr sz="900" b="1" i="0" dirty="0" err="1" smtClean="0">
                <a:solidFill>
                  <a:srgbClr val="C55A11"/>
                </a:solidFill>
                <a:latin typeface="맑은 고딕"/>
                <a:ea typeface="맑은 고딕"/>
              </a:rPr>
              <a:t>메모리</a:t>
            </a:r>
            <a:r>
              <a:rPr lang="ko-KR" altLang="en-US" sz="900" b="1" dirty="0" smtClean="0">
                <a:solidFill>
                  <a:srgbClr val="C55A11"/>
                </a:solidFill>
                <a:latin typeface="맑은 고딕"/>
                <a:ea typeface="맑은 고딕"/>
              </a:rPr>
              <a:t>가 커지는지 드러남</a:t>
            </a:r>
            <a:r>
              <a:rPr sz="900" b="1" i="0" dirty="0" smtClean="0">
                <a:solidFill>
                  <a:srgbClr val="C55A11"/>
                </a:solidFill>
                <a:latin typeface="맑은 고딕"/>
                <a:ea typeface="맑은 고딕"/>
              </a:rPr>
              <a:t>)</a:t>
            </a:r>
            <a:endParaRPr sz="900" b="1" i="0" dirty="0">
              <a:solidFill>
                <a:srgbClr val="C55A11"/>
              </a:solidFill>
              <a:latin typeface="맑은 고딕"/>
              <a:ea typeface="맑은 고딕"/>
            </a:endParaRPr>
          </a:p>
        </p:txBody>
      </p:sp>
      <p:sp>
        <p:nvSpPr>
          <p:cNvPr id="41" name="TextBox 40"/>
          <p:cNvSpPr txBox="1"/>
          <p:nvPr/>
        </p:nvSpPr>
        <p:spPr>
          <a:xfrm>
            <a:off x="355600" y="2160604"/>
            <a:ext cx="891208" cy="161583"/>
          </a:xfrm>
          <a:prstGeom prst="rect">
            <a:avLst/>
          </a:prstGeom>
          <a:noFill/>
        </p:spPr>
        <p:txBody>
          <a:bodyPr wrap="square" lIns="0" tIns="0" rIns="0" bIns="0" anchor="t">
            <a:spAutoFit/>
          </a:bodyPr>
          <a:lstStyle/>
          <a:p>
            <a:pPr algn="l"/>
            <a:r>
              <a:rPr sz="1050" b="1" i="0" dirty="0" err="1">
                <a:solidFill>
                  <a:srgbClr val="C00000"/>
                </a:solidFill>
                <a:latin typeface="맑은 고딕"/>
                <a:ea typeface="맑은 고딕"/>
              </a:rPr>
              <a:t>사후</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개발</a:t>
            </a:r>
            <a:r>
              <a:rPr sz="1050" b="1" i="0" dirty="0">
                <a:solidFill>
                  <a:srgbClr val="C00000"/>
                </a:solidFill>
                <a:latin typeface="맑은 고딕"/>
                <a:ea typeface="맑은 고딕"/>
              </a:rPr>
              <a:t> </a:t>
            </a:r>
          </a:p>
        </p:txBody>
      </p:sp>
      <p:sp>
        <p:nvSpPr>
          <p:cNvPr id="42" name="Rectangle 32"/>
          <p:cNvSpPr/>
          <p:nvPr/>
        </p:nvSpPr>
        <p:spPr>
          <a:xfrm>
            <a:off x="351459" y="2372428"/>
            <a:ext cx="1924685" cy="341781"/>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ko-KR" altLang="en-US" sz="1000" dirty="0" smtClean="0">
                <a:solidFill>
                  <a:srgbClr val="808080"/>
                </a:solidFill>
                <a:ea typeface="맑은 고딕"/>
              </a:rPr>
              <a:t>기존 수요가 </a:t>
            </a:r>
            <a:r>
              <a:rPr lang="ko-KR" altLang="en-US" sz="1000" dirty="0">
                <a:solidFill>
                  <a:srgbClr val="808080"/>
                </a:solidFill>
                <a:ea typeface="맑은 고딕"/>
              </a:rPr>
              <a:t>높은 메모리에 </a:t>
            </a:r>
            <a:r>
              <a:rPr lang="ko-KR" altLang="en-US" sz="1000" dirty="0" smtClean="0">
                <a:solidFill>
                  <a:srgbClr val="808080"/>
                </a:solidFill>
                <a:ea typeface="맑은 고딕"/>
              </a:rPr>
              <a:t>집중</a:t>
            </a:r>
            <a:endParaRPr sz="1000" b="0" i="0" dirty="0">
              <a:solidFill>
                <a:srgbClr val="808080"/>
              </a:solidFill>
              <a:latin typeface="맑은 고딕"/>
              <a:ea typeface="맑은 고딕"/>
            </a:endParaRPr>
          </a:p>
        </p:txBody>
      </p:sp>
      <p:sp>
        <p:nvSpPr>
          <p:cNvPr id="43" name="Rectangle 33"/>
          <p:cNvSpPr/>
          <p:nvPr/>
        </p:nvSpPr>
        <p:spPr>
          <a:xfrm>
            <a:off x="2276144" y="2372428"/>
            <a:ext cx="778064" cy="341781"/>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dirty="0" err="1">
                <a:solidFill>
                  <a:srgbClr val="7B1A1A"/>
                </a:solidFill>
                <a:latin typeface="맑은 고딕"/>
                <a:ea typeface="맑은 고딕"/>
              </a:rPr>
              <a:t>요구</a:t>
            </a:r>
            <a:r>
              <a:rPr sz="1000" b="0" i="0" dirty="0">
                <a:solidFill>
                  <a:srgbClr val="7B1A1A"/>
                </a:solidFill>
                <a:latin typeface="맑은 고딕"/>
                <a:ea typeface="맑은 고딕"/>
              </a:rPr>
              <a:t> </a:t>
            </a:r>
            <a:r>
              <a:rPr sz="1000" b="0" i="0" dirty="0" err="1">
                <a:solidFill>
                  <a:srgbClr val="7B1A1A"/>
                </a:solidFill>
                <a:latin typeface="맑은 고딕"/>
                <a:ea typeface="맑은 고딕"/>
              </a:rPr>
              <a:t>분석</a:t>
            </a:r>
            <a:endParaRPr sz="1000" b="0" i="0" dirty="0">
              <a:solidFill>
                <a:srgbClr val="7B1A1A"/>
              </a:solidFill>
              <a:latin typeface="맑은 고딕"/>
              <a:ea typeface="맑은 고딕"/>
            </a:endParaRPr>
          </a:p>
        </p:txBody>
      </p:sp>
      <p:sp>
        <p:nvSpPr>
          <p:cNvPr id="44" name="Rectangle 34"/>
          <p:cNvSpPr/>
          <p:nvPr/>
        </p:nvSpPr>
        <p:spPr>
          <a:xfrm>
            <a:off x="3054208" y="2372428"/>
            <a:ext cx="1228523" cy="341781"/>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ko-KR" altLang="en-US" sz="1000" dirty="0" smtClean="0">
                <a:solidFill>
                  <a:srgbClr val="7B1A1A"/>
                </a:solidFill>
                <a:latin typeface="맑은 고딕"/>
                <a:ea typeface="맑은 고딕"/>
              </a:rPr>
              <a:t>솔루션 신규 개발</a:t>
            </a:r>
            <a:endParaRPr lang="en-US" altLang="ko-KR" sz="1000" dirty="0" smtClean="0">
              <a:solidFill>
                <a:srgbClr val="7B1A1A"/>
              </a:solidFill>
              <a:latin typeface="맑은 고딕"/>
              <a:ea typeface="맑은 고딕"/>
            </a:endParaRPr>
          </a:p>
        </p:txBody>
      </p:sp>
      <p:sp>
        <p:nvSpPr>
          <p:cNvPr id="45" name="Rectangle 35"/>
          <p:cNvSpPr/>
          <p:nvPr/>
        </p:nvSpPr>
        <p:spPr>
          <a:xfrm>
            <a:off x="4282731" y="2372428"/>
            <a:ext cx="614261" cy="341781"/>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7B1A1A"/>
                </a:solidFill>
                <a:latin typeface="맑은 고딕"/>
                <a:ea typeface="맑은 고딕"/>
              </a:rPr>
              <a:t>검증</a:t>
            </a:r>
          </a:p>
        </p:txBody>
      </p:sp>
      <p:sp>
        <p:nvSpPr>
          <p:cNvPr id="46" name="Pentagon 36"/>
          <p:cNvSpPr/>
          <p:nvPr/>
        </p:nvSpPr>
        <p:spPr>
          <a:xfrm>
            <a:off x="4896992" y="2372428"/>
            <a:ext cx="573311" cy="341781"/>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deliver</a:t>
            </a:r>
          </a:p>
        </p:txBody>
      </p:sp>
      <p:sp>
        <p:nvSpPr>
          <p:cNvPr id="58" name="TextBox 57"/>
          <p:cNvSpPr txBox="1"/>
          <p:nvPr/>
        </p:nvSpPr>
        <p:spPr>
          <a:xfrm>
            <a:off x="371900" y="2860522"/>
            <a:ext cx="998153" cy="215067"/>
          </a:xfrm>
          <a:prstGeom prst="rect">
            <a:avLst/>
          </a:prstGeom>
          <a:noFill/>
        </p:spPr>
        <p:txBody>
          <a:bodyPr wrap="square" lIns="0" tIns="0" rIns="0" bIns="0" anchor="t">
            <a:spAutoFit/>
          </a:bodyPr>
          <a:lstStyle/>
          <a:p>
            <a:pPr algn="l"/>
            <a:r>
              <a:rPr sz="1050" b="1" i="0" dirty="0" err="1">
                <a:solidFill>
                  <a:srgbClr val="375623"/>
                </a:solidFill>
                <a:latin typeface="맑은 고딕"/>
                <a:ea typeface="맑은 고딕"/>
              </a:rPr>
              <a:t>선제</a:t>
            </a:r>
            <a:r>
              <a:rPr sz="1050" b="1" i="0" dirty="0">
                <a:solidFill>
                  <a:srgbClr val="375623"/>
                </a:solidFill>
                <a:latin typeface="맑은 고딕"/>
                <a:ea typeface="맑은 고딕"/>
              </a:rPr>
              <a:t> </a:t>
            </a:r>
            <a:r>
              <a:rPr sz="1050" b="1" i="0" dirty="0" err="1">
                <a:solidFill>
                  <a:srgbClr val="375623"/>
                </a:solidFill>
                <a:latin typeface="맑은 고딕"/>
                <a:ea typeface="맑은 고딕"/>
              </a:rPr>
              <a:t>준비</a:t>
            </a:r>
            <a:r>
              <a:rPr sz="1050" b="1" i="0" dirty="0">
                <a:solidFill>
                  <a:srgbClr val="375623"/>
                </a:solidFill>
                <a:latin typeface="맑은 고딕"/>
                <a:ea typeface="맑은 고딕"/>
              </a:rPr>
              <a:t>  </a:t>
            </a:r>
          </a:p>
        </p:txBody>
      </p:sp>
      <p:sp>
        <p:nvSpPr>
          <p:cNvPr id="59" name="Rectangle 39"/>
          <p:cNvSpPr/>
          <p:nvPr/>
        </p:nvSpPr>
        <p:spPr>
          <a:xfrm>
            <a:off x="351459" y="3085009"/>
            <a:ext cx="2197795" cy="341781"/>
          </a:xfrm>
          <a:prstGeom prst="rect">
            <a:avLst/>
          </a:prstGeom>
          <a:solidFill>
            <a:srgbClr val="DAE8F6"/>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ko-KR" altLang="en-US" sz="1000" b="1" i="0" dirty="0" smtClean="0">
                <a:solidFill>
                  <a:srgbClr val="1F4E79"/>
                </a:solidFill>
                <a:latin typeface="맑은 고딕"/>
                <a:ea typeface="맑은 고딕"/>
              </a:rPr>
              <a:t>공통 </a:t>
            </a:r>
            <a:r>
              <a:rPr sz="1000" b="1" i="0" dirty="0" smtClean="0">
                <a:solidFill>
                  <a:srgbClr val="1F4E79"/>
                </a:solidFill>
                <a:latin typeface="맑은 고딕"/>
                <a:ea typeface="맑은 고딕"/>
              </a:rPr>
              <a:t>Framework </a:t>
            </a:r>
            <a:r>
              <a:rPr sz="1000" b="1" i="0" dirty="0" err="1">
                <a:solidFill>
                  <a:srgbClr val="1F4E79"/>
                </a:solidFill>
                <a:latin typeface="맑은 고딕"/>
                <a:ea typeface="맑은 고딕"/>
              </a:rPr>
              <a:t>개발</a:t>
            </a:r>
            <a:r>
              <a:rPr sz="1000" b="1" i="0" dirty="0">
                <a:solidFill>
                  <a:srgbClr val="1F4E79"/>
                </a:solidFill>
                <a:latin typeface="맑은 고딕"/>
                <a:ea typeface="맑은 고딕"/>
              </a:rPr>
              <a:t> </a:t>
            </a:r>
            <a:r>
              <a:rPr lang="ko-KR" altLang="en-US" sz="1000" b="1" dirty="0" smtClean="0">
                <a:solidFill>
                  <a:srgbClr val="1F4E79"/>
                </a:solidFill>
                <a:latin typeface="맑은 고딕"/>
                <a:ea typeface="맑은 고딕"/>
              </a:rPr>
              <a:t>및 </a:t>
            </a:r>
            <a:r>
              <a:rPr sz="1000" b="1" i="0" dirty="0" err="1" smtClean="0">
                <a:solidFill>
                  <a:srgbClr val="1F4E79"/>
                </a:solidFill>
                <a:latin typeface="맑은 고딕"/>
                <a:ea typeface="맑은 고딕"/>
              </a:rPr>
              <a:t>검증</a:t>
            </a:r>
            <a:r>
              <a:rPr sz="1000" b="1" i="0" dirty="0" smtClean="0">
                <a:solidFill>
                  <a:srgbClr val="1F4E79"/>
                </a:solidFill>
                <a:latin typeface="맑은 고딕"/>
                <a:ea typeface="맑은 고딕"/>
              </a:rPr>
              <a:t> (</a:t>
            </a:r>
            <a:r>
              <a:rPr sz="1000" b="1" i="0" dirty="0" err="1">
                <a:solidFill>
                  <a:srgbClr val="1F4E79"/>
                </a:solidFill>
                <a:latin typeface="맑은 고딕"/>
                <a:ea typeface="맑은 고딕"/>
              </a:rPr>
              <a:t>선행</a:t>
            </a:r>
            <a:r>
              <a:rPr sz="1000" b="1" i="0" dirty="0">
                <a:solidFill>
                  <a:srgbClr val="1F4E79"/>
                </a:solidFill>
                <a:latin typeface="맑은 고딕"/>
                <a:ea typeface="맑은 고딕"/>
              </a:rPr>
              <a:t>)</a:t>
            </a:r>
          </a:p>
        </p:txBody>
      </p:sp>
      <p:sp>
        <p:nvSpPr>
          <p:cNvPr id="63" name="Rectangle 40"/>
          <p:cNvSpPr/>
          <p:nvPr/>
        </p:nvSpPr>
        <p:spPr>
          <a:xfrm>
            <a:off x="2561448" y="3085009"/>
            <a:ext cx="696163" cy="341781"/>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dirty="0" err="1">
                <a:solidFill>
                  <a:srgbClr val="375623"/>
                </a:solidFill>
                <a:latin typeface="맑은 고딕"/>
                <a:ea typeface="맑은 고딕"/>
              </a:rPr>
              <a:t>제품</a:t>
            </a:r>
            <a:r>
              <a:rPr sz="1000" b="0" i="0" dirty="0">
                <a:solidFill>
                  <a:srgbClr val="375623"/>
                </a:solidFill>
                <a:latin typeface="맑은 고딕"/>
                <a:ea typeface="맑은 고딕"/>
              </a:rPr>
              <a:t> </a:t>
            </a:r>
            <a:r>
              <a:rPr sz="1000" b="0" i="0" dirty="0" err="1">
                <a:solidFill>
                  <a:srgbClr val="375623"/>
                </a:solidFill>
                <a:latin typeface="맑은 고딕"/>
                <a:ea typeface="맑은 고딕"/>
              </a:rPr>
              <a:t>적용</a:t>
            </a:r>
            <a:endParaRPr sz="1000" b="0" i="0" dirty="0">
              <a:solidFill>
                <a:srgbClr val="375623"/>
              </a:solidFill>
              <a:latin typeface="맑은 고딕"/>
              <a:ea typeface="맑은 고딕"/>
            </a:endParaRPr>
          </a:p>
        </p:txBody>
      </p:sp>
      <p:sp>
        <p:nvSpPr>
          <p:cNvPr id="64" name="Pentagon 41"/>
          <p:cNvSpPr/>
          <p:nvPr/>
        </p:nvSpPr>
        <p:spPr>
          <a:xfrm>
            <a:off x="3257610" y="3085009"/>
            <a:ext cx="724061" cy="341781"/>
          </a:xfrm>
          <a:prstGeom prst="homePlat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000" b="1" i="0" dirty="0" smtClean="0">
                <a:solidFill>
                  <a:srgbClr val="FFFFFF"/>
                </a:solidFill>
                <a:latin typeface="맑은 고딕"/>
                <a:ea typeface="맑은 고딕"/>
              </a:rPr>
              <a:t>Deliver/</a:t>
            </a:r>
          </a:p>
          <a:p>
            <a:pPr algn="ctr">
              <a:lnSpc>
                <a:spcPct val="95000"/>
              </a:lnSpc>
            </a:pPr>
            <a:r>
              <a:rPr lang="en-US" sz="1000" b="1" i="0" dirty="0" smtClean="0">
                <a:solidFill>
                  <a:srgbClr val="FFFFFF"/>
                </a:solidFill>
                <a:latin typeface="맑은 고딕"/>
                <a:ea typeface="맑은 고딕"/>
              </a:rPr>
              <a:t>Promote</a:t>
            </a:r>
            <a:endParaRPr sz="1000" b="1" i="0" dirty="0">
              <a:solidFill>
                <a:srgbClr val="FFFFFF"/>
              </a:solidFill>
              <a:latin typeface="맑은 고딕"/>
              <a:ea typeface="맑은 고딕"/>
            </a:endParaRPr>
          </a:p>
        </p:txBody>
      </p:sp>
      <p:cxnSp>
        <p:nvCxnSpPr>
          <p:cNvPr id="66" name="Connector 43"/>
          <p:cNvCxnSpPr/>
          <p:nvPr/>
        </p:nvCxnSpPr>
        <p:spPr>
          <a:xfrm>
            <a:off x="3981311" y="3254752"/>
            <a:ext cx="0" cy="256785"/>
          </a:xfrm>
          <a:prstGeom prst="line">
            <a:avLst/>
          </a:prstGeom>
          <a:ln w="9525">
            <a:solidFill>
              <a:srgbClr val="C55A11"/>
            </a:solidFill>
          </a:ln>
        </p:spPr>
        <p:style>
          <a:lnRef idx="2">
            <a:schemeClr val="accent1"/>
          </a:lnRef>
          <a:fillRef idx="0">
            <a:schemeClr val="accent1"/>
          </a:fillRef>
          <a:effectRef idx="1">
            <a:schemeClr val="accent1"/>
          </a:effectRef>
          <a:fontRef idx="minor">
            <a:schemeClr val="tx1"/>
          </a:fontRef>
        </p:style>
      </p:cxnSp>
      <p:cxnSp>
        <p:nvCxnSpPr>
          <p:cNvPr id="67" name="Connector 44"/>
          <p:cNvCxnSpPr/>
          <p:nvPr/>
        </p:nvCxnSpPr>
        <p:spPr>
          <a:xfrm>
            <a:off x="5470303" y="2618371"/>
            <a:ext cx="0" cy="893165"/>
          </a:xfrm>
          <a:prstGeom prst="line">
            <a:avLst/>
          </a:prstGeom>
          <a:ln w="9525">
            <a:solidFill>
              <a:srgbClr val="C55A11"/>
            </a:solidFill>
          </a:ln>
        </p:spPr>
        <p:style>
          <a:lnRef idx="2">
            <a:schemeClr val="accent1"/>
          </a:lnRef>
          <a:fillRef idx="0">
            <a:schemeClr val="accent1"/>
          </a:fillRef>
          <a:effectRef idx="1">
            <a:schemeClr val="accent1"/>
          </a:effectRef>
          <a:fontRef idx="minor">
            <a:schemeClr val="tx1"/>
          </a:fontRef>
        </p:style>
      </p:cxnSp>
      <p:cxnSp>
        <p:nvCxnSpPr>
          <p:cNvPr id="69" name="Connector 46"/>
          <p:cNvCxnSpPr/>
          <p:nvPr/>
        </p:nvCxnSpPr>
        <p:spPr>
          <a:xfrm flipH="1" flipV="1">
            <a:off x="3995928" y="3439704"/>
            <a:ext cx="1474377" cy="1"/>
          </a:xfrm>
          <a:prstGeom prst="line">
            <a:avLst/>
          </a:prstGeom>
          <a:ln w="19050">
            <a:solidFill>
              <a:srgbClr val="0000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47"/>
          <p:cNvSpPr/>
          <p:nvPr/>
        </p:nvSpPr>
        <p:spPr>
          <a:xfrm>
            <a:off x="4009156" y="3463977"/>
            <a:ext cx="1488992" cy="256526"/>
          </a:xfrm>
          <a:prstGeom prst="rect">
            <a:avLst/>
          </a:prstGeom>
          <a:noFill/>
          <a:ln w="12700">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dirty="0" err="1">
                <a:solidFill>
                  <a:srgbClr val="0000FF"/>
                </a:solidFill>
                <a:latin typeface="맑은 고딕"/>
                <a:ea typeface="맑은 고딕"/>
              </a:rPr>
              <a:t>선점</a:t>
            </a:r>
            <a:r>
              <a:rPr sz="1050" b="1" i="0" dirty="0">
                <a:solidFill>
                  <a:srgbClr val="0000FF"/>
                </a:solidFill>
                <a:latin typeface="맑은 고딕"/>
                <a:ea typeface="맑은 고딕"/>
              </a:rPr>
              <a:t> </a:t>
            </a:r>
            <a:r>
              <a:rPr sz="1050" b="1" i="0" dirty="0" err="1" smtClean="0">
                <a:solidFill>
                  <a:srgbClr val="0000FF"/>
                </a:solidFill>
                <a:latin typeface="맑은 고딕"/>
                <a:ea typeface="맑은 고딕"/>
              </a:rPr>
              <a:t>구간</a:t>
            </a:r>
            <a:endParaRPr sz="1050" b="1" i="0" dirty="0">
              <a:solidFill>
                <a:srgbClr val="0000FF"/>
              </a:solidFill>
              <a:latin typeface="맑은 고딕"/>
              <a:ea typeface="맑은 고딕"/>
            </a:endParaRPr>
          </a:p>
        </p:txBody>
      </p:sp>
      <p:cxnSp>
        <p:nvCxnSpPr>
          <p:cNvPr id="72" name="Connector 49"/>
          <p:cNvCxnSpPr/>
          <p:nvPr/>
        </p:nvCxnSpPr>
        <p:spPr>
          <a:xfrm>
            <a:off x="351459" y="3857639"/>
            <a:ext cx="5127035" cy="0"/>
          </a:xfrm>
          <a:prstGeom prst="line">
            <a:avLst/>
          </a:prstGeom>
          <a:ln w="12700">
            <a:solidFill>
              <a:srgbClr val="BFBF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905183" y="3891133"/>
            <a:ext cx="573311" cy="153888"/>
          </a:xfrm>
          <a:prstGeom prst="rect">
            <a:avLst/>
          </a:prstGeom>
          <a:noFill/>
        </p:spPr>
        <p:txBody>
          <a:bodyPr wrap="square" lIns="0" tIns="0" rIns="0" bIns="0" anchor="t">
            <a:spAutoFit/>
          </a:bodyPr>
          <a:lstStyle/>
          <a:p>
            <a:pPr algn="r"/>
            <a:r>
              <a:rPr sz="1000" b="0" i="0">
                <a:solidFill>
                  <a:srgbClr val="808080"/>
                </a:solidFill>
                <a:latin typeface="맑은 고딕"/>
                <a:ea typeface="맑은 고딕"/>
              </a:rPr>
              <a:t>시간</a:t>
            </a:r>
          </a:p>
        </p:txBody>
      </p:sp>
      <p:sp>
        <p:nvSpPr>
          <p:cNvPr id="74" name="TextBox 73"/>
          <p:cNvSpPr txBox="1"/>
          <p:nvPr/>
        </p:nvSpPr>
        <p:spPr>
          <a:xfrm>
            <a:off x="4051023" y="3166261"/>
            <a:ext cx="788319" cy="225309"/>
          </a:xfrm>
          <a:prstGeom prst="rect">
            <a:avLst/>
          </a:prstGeom>
          <a:noFill/>
        </p:spPr>
        <p:txBody>
          <a:bodyPr wrap="square" lIns="0" tIns="0" rIns="0" bIns="0" anchor="t">
            <a:spAutoFit/>
          </a:bodyPr>
          <a:lstStyle/>
          <a:p>
            <a:pPr algn="l"/>
            <a:r>
              <a:rPr lang="ko-KR" altLang="en-US" sz="1100" b="1" i="0" dirty="0" smtClean="0">
                <a:latin typeface="맑은 고딕"/>
                <a:ea typeface="맑은 고딕"/>
              </a:rPr>
              <a:t>고객</a:t>
            </a:r>
            <a:endParaRPr sz="1100" b="1" i="0" dirty="0">
              <a:latin typeface="맑은 고딕"/>
              <a:ea typeface="맑은 고딕"/>
            </a:endParaRPr>
          </a:p>
        </p:txBody>
      </p:sp>
      <p:sp>
        <p:nvSpPr>
          <p:cNvPr id="75" name="TextBox 74"/>
          <p:cNvSpPr txBox="1"/>
          <p:nvPr/>
        </p:nvSpPr>
        <p:spPr>
          <a:xfrm>
            <a:off x="5559027" y="2428851"/>
            <a:ext cx="436564" cy="169277"/>
          </a:xfrm>
          <a:prstGeom prst="rect">
            <a:avLst/>
          </a:prstGeom>
          <a:noFill/>
        </p:spPr>
        <p:txBody>
          <a:bodyPr wrap="square" lIns="0" tIns="0" rIns="0" bIns="0" anchor="t">
            <a:spAutoFit/>
          </a:bodyPr>
          <a:lstStyle/>
          <a:p>
            <a:pPr algn="l"/>
            <a:r>
              <a:rPr lang="ko-KR" altLang="en-US" sz="1100" b="1" i="0" dirty="0" smtClean="0">
                <a:latin typeface="맑은 고딕"/>
                <a:ea typeface="맑은 고딕"/>
              </a:rPr>
              <a:t>고객</a:t>
            </a:r>
            <a:endParaRPr sz="1100" b="1" i="0" dirty="0">
              <a:latin typeface="맑은 고딕"/>
              <a:ea typeface="맑은 고딕"/>
            </a:endParaRPr>
          </a:p>
        </p:txBody>
      </p:sp>
      <p:cxnSp>
        <p:nvCxnSpPr>
          <p:cNvPr id="40" name="Connector 30"/>
          <p:cNvCxnSpPr/>
          <p:nvPr/>
        </p:nvCxnSpPr>
        <p:spPr>
          <a:xfrm>
            <a:off x="2558084" y="2194117"/>
            <a:ext cx="0" cy="1317419"/>
          </a:xfrm>
          <a:prstGeom prst="line">
            <a:avLst/>
          </a:prstGeom>
          <a:ln w="19050">
            <a:solidFill>
              <a:srgbClr val="C55A1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8195397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필요성</a:t>
            </a:r>
          </a:p>
        </p:txBody>
      </p:sp>
      <p:sp>
        <p:nvSpPr>
          <p:cNvPr id="55" name="모서리가 둥근 직사각형 54"/>
          <p:cNvSpPr/>
          <p:nvPr/>
        </p:nvSpPr>
        <p:spPr>
          <a:xfrm>
            <a:off x="6172198" y="1119861"/>
            <a:ext cx="5830571" cy="294193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실행 단추: 앞으로 또는 다음 3">
            <a:hlinkClick r:id="rId3" action="ppaction://hlinksldjump" highlightClick="1"/>
          </p:cNvPr>
          <p:cNvSpPr/>
          <p:nvPr/>
        </p:nvSpPr>
        <p:spPr>
          <a:xfrm>
            <a:off x="7557747" y="205641"/>
            <a:ext cx="220978" cy="22859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p:cNvSpPr txBox="1"/>
          <p:nvPr/>
        </p:nvSpPr>
        <p:spPr>
          <a:xfrm>
            <a:off x="6382851" y="205641"/>
            <a:ext cx="1174896" cy="215444"/>
          </a:xfrm>
          <a:prstGeom prst="rect">
            <a:avLst/>
          </a:prstGeom>
          <a:noFill/>
        </p:spPr>
        <p:txBody>
          <a:bodyPr wrap="square" rtlCol="0">
            <a:spAutoFit/>
          </a:bodyPr>
          <a:lstStyle/>
          <a:p>
            <a:r>
              <a:rPr lang="en-US" altLang="ko-KR" sz="800" b="1" dirty="0">
                <a:solidFill>
                  <a:schemeClr val="tx1">
                    <a:lumMod val="50000"/>
                    <a:lumOff val="50000"/>
                  </a:schemeClr>
                </a:solidFill>
              </a:rPr>
              <a:t>System </a:t>
            </a:r>
            <a:r>
              <a:rPr lang="ko-KR" altLang="en-US" sz="800" b="1" dirty="0">
                <a:solidFill>
                  <a:schemeClr val="tx1">
                    <a:lumMod val="50000"/>
                    <a:lumOff val="50000"/>
                  </a:schemeClr>
                </a:solidFill>
              </a:rPr>
              <a:t>연구 필요성</a:t>
            </a:r>
          </a:p>
        </p:txBody>
      </p:sp>
      <p:sp>
        <p:nvSpPr>
          <p:cNvPr id="111" name="TextBox 110"/>
          <p:cNvSpPr txBox="1"/>
          <p:nvPr/>
        </p:nvSpPr>
        <p:spPr>
          <a:xfrm>
            <a:off x="264303" y="1399253"/>
            <a:ext cx="5771860" cy="333617"/>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latin typeface="+mj-ea"/>
                <a:ea typeface="+mj-ea"/>
              </a:rPr>
              <a:t>■ </a:t>
            </a:r>
            <a:r>
              <a:rPr lang="ko-KR" altLang="en-US" sz="1200" b="1" dirty="0">
                <a:latin typeface="+mj-ea"/>
                <a:ea typeface="+mj-ea"/>
              </a:rPr>
              <a:t>향후 어떤 메모리</a:t>
            </a:r>
            <a:r>
              <a:rPr lang="en-US" altLang="ko-KR" sz="1200" b="1" dirty="0">
                <a:latin typeface="+mj-ea"/>
                <a:ea typeface="+mj-ea"/>
              </a:rPr>
              <a:t> </a:t>
            </a:r>
            <a:r>
              <a:rPr lang="ko-KR" altLang="en-US" sz="1200" b="1" dirty="0">
                <a:latin typeface="+mj-ea"/>
                <a:ea typeface="+mj-ea"/>
              </a:rPr>
              <a:t>제품의 수요가 증가할지 불확실 </a:t>
            </a:r>
            <a:r>
              <a:rPr lang="en-US" altLang="ko-KR" sz="1200" b="1" dirty="0">
                <a:latin typeface="+mj-ea"/>
                <a:ea typeface="+mj-ea"/>
              </a:rPr>
              <a:t>→ </a:t>
            </a:r>
            <a:r>
              <a:rPr lang="ko-KR" altLang="en-US" sz="1200" b="1" dirty="0">
                <a:latin typeface="+mj-ea"/>
                <a:ea typeface="+mj-ea"/>
              </a:rPr>
              <a:t>선제적 솔루션 준비 필요</a:t>
            </a:r>
            <a:endParaRPr lang="en-US" altLang="ko-KR" sz="1200" b="1" dirty="0">
              <a:solidFill>
                <a:srgbClr val="222222"/>
              </a:solidFill>
              <a:latin typeface="+mj-ea"/>
              <a:ea typeface="+mj-ea"/>
            </a:endParaRPr>
          </a:p>
        </p:txBody>
      </p:sp>
      <p:sp>
        <p:nvSpPr>
          <p:cNvPr id="112" name="TextBox 111"/>
          <p:cNvSpPr txBox="1"/>
          <p:nvPr/>
        </p:nvSpPr>
        <p:spPr>
          <a:xfrm>
            <a:off x="293659" y="4139711"/>
            <a:ext cx="5771860" cy="610616"/>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b="1" dirty="0"/>
              <a:t>■ 연구소의 역할</a:t>
            </a:r>
            <a:r>
              <a:rPr lang="en-US" altLang="ko-KR" sz="1200" b="1" dirty="0"/>
              <a:t>: </a:t>
            </a:r>
            <a:r>
              <a:rPr lang="ko-KR" altLang="en-US" sz="1200" b="1" dirty="0"/>
              <a:t>시스템 관점에서 시장</a:t>
            </a:r>
            <a:r>
              <a:rPr lang="en-US" altLang="ko-KR" sz="1200" b="1" dirty="0"/>
              <a:t>, </a:t>
            </a:r>
            <a:r>
              <a:rPr lang="ko-KR" altLang="en-US" sz="1200" b="1" dirty="0"/>
              <a:t>고객이 필요로 하는 것을 선제 파악하고 당사 차세대 </a:t>
            </a:r>
            <a:r>
              <a:rPr lang="en-US" altLang="ko-KR" sz="1200" b="1" dirty="0"/>
              <a:t>Device </a:t>
            </a:r>
            <a:r>
              <a:rPr lang="ko-KR" altLang="en-US" sz="1200" b="1" dirty="0"/>
              <a:t>개발 방향을 제시 </a:t>
            </a:r>
            <a:endParaRPr lang="en-US" altLang="ko-KR" sz="1200" b="1" strike="sngStrike" dirty="0"/>
          </a:p>
        </p:txBody>
      </p:sp>
      <p:sp>
        <p:nvSpPr>
          <p:cNvPr id="118" name="TextBox 117"/>
          <p:cNvSpPr txBox="1"/>
          <p:nvPr/>
        </p:nvSpPr>
        <p:spPr>
          <a:xfrm>
            <a:off x="6201552" y="1405456"/>
            <a:ext cx="5771860" cy="369332"/>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이기종 메모리를 고려하는 </a:t>
            </a:r>
            <a:r>
              <a:rPr lang="en-US" altLang="ko-KR" sz="1200" b="1" dirty="0"/>
              <a:t>AI </a:t>
            </a:r>
            <a:r>
              <a:rPr lang="ko-KR" altLang="en-US" sz="1200" b="1" dirty="0"/>
              <a:t>추론 런타임</a:t>
            </a:r>
            <a:r>
              <a:rPr lang="en-US" altLang="ko-KR" sz="1200" b="1" dirty="0"/>
              <a:t>(</a:t>
            </a:r>
            <a:r>
              <a:rPr lang="ko-KR" altLang="en-US" sz="1200" b="1" dirty="0" err="1"/>
              <a:t>서빙</a:t>
            </a:r>
            <a:r>
              <a:rPr lang="ko-KR" altLang="en-US" sz="1200" b="1" dirty="0"/>
              <a:t> 엔진</a:t>
            </a:r>
            <a:r>
              <a:rPr lang="en-US" altLang="ko-KR" sz="1200" b="1" dirty="0"/>
              <a:t>) </a:t>
            </a:r>
            <a:r>
              <a:rPr lang="ko-KR" altLang="en-US" sz="1200" b="1" dirty="0"/>
              <a:t>부재</a:t>
            </a:r>
            <a:endParaRPr lang="en-US" altLang="ko-KR" sz="1200" b="1" dirty="0"/>
          </a:p>
        </p:txBody>
      </p:sp>
      <p:sp>
        <p:nvSpPr>
          <p:cNvPr id="8" name="TextBox 7">
            <a:extLst>
              <a:ext uri="{FF2B5EF4-FFF2-40B4-BE49-F238E27FC236}">
                <a16:creationId xmlns:a16="http://schemas.microsoft.com/office/drawing/2014/main" id="{3E426D35-55AF-4F94-AC6D-261857A848AB}"/>
              </a:ext>
            </a:extLst>
          </p:cNvPr>
          <p:cNvSpPr txBox="1"/>
          <p:nvPr/>
        </p:nvSpPr>
        <p:spPr>
          <a:xfrm>
            <a:off x="6172198" y="5129103"/>
            <a:ext cx="5660287" cy="675634"/>
          </a:xfrm>
          <a:prstGeom prst="rect">
            <a:avLst/>
          </a:prstGeom>
          <a:noFill/>
        </p:spPr>
        <p:txBody>
          <a:bodyPr wrap="square" rtlCol="0">
            <a:spAutoFit/>
          </a:bodyPr>
          <a:lstStyle/>
          <a:p>
            <a:pPr algn="ctr">
              <a:lnSpc>
                <a:spcPct val="125000"/>
              </a:lnSpc>
            </a:pPr>
            <a:r>
              <a:rPr lang="ko-KR" altLang="en-US" sz="1600" b="1" dirty="0">
                <a:solidFill>
                  <a:srgbClr val="0000FF"/>
                </a:solidFill>
              </a:rPr>
              <a:t>이기종 메모리를 활용하여 </a:t>
            </a:r>
            <a:endParaRPr lang="en-US" altLang="ko-KR" sz="1600" b="1" dirty="0">
              <a:solidFill>
                <a:srgbClr val="0000FF"/>
              </a:solidFill>
            </a:endParaRPr>
          </a:p>
          <a:p>
            <a:pPr algn="ctr">
              <a:lnSpc>
                <a:spcPct val="125000"/>
              </a:lnSpc>
            </a:pPr>
            <a:r>
              <a:rPr lang="en-US" altLang="ko-KR" sz="1600" b="1" dirty="0">
                <a:solidFill>
                  <a:srgbClr val="0000FF"/>
                </a:solidFill>
              </a:rPr>
              <a:t>LLM </a:t>
            </a:r>
            <a:r>
              <a:rPr lang="ko-KR" altLang="en-US" sz="1600" b="1" dirty="0">
                <a:solidFill>
                  <a:srgbClr val="0000FF"/>
                </a:solidFill>
              </a:rPr>
              <a:t>추론 처리량을 향상시키는 </a:t>
            </a:r>
            <a:r>
              <a:rPr lang="en-US" altLang="ko-KR" sz="1600" b="1" dirty="0">
                <a:solidFill>
                  <a:srgbClr val="0000FF"/>
                </a:solidFill>
              </a:rPr>
              <a:t>SW </a:t>
            </a:r>
            <a:r>
              <a:rPr lang="ko-KR" altLang="en-US" sz="1600" b="1" dirty="0">
                <a:solidFill>
                  <a:srgbClr val="0000FF"/>
                </a:solidFill>
              </a:rPr>
              <a:t>연구 개발 필요 </a:t>
            </a:r>
          </a:p>
        </p:txBody>
      </p:sp>
      <p:sp>
        <p:nvSpPr>
          <p:cNvPr id="2" name="화살표: 아래쪽 1">
            <a:extLst>
              <a:ext uri="{FF2B5EF4-FFF2-40B4-BE49-F238E27FC236}">
                <a16:creationId xmlns:a16="http://schemas.microsoft.com/office/drawing/2014/main" id="{B625C597-E67B-4695-9BC8-B8F2F6B8E5EB}"/>
              </a:ext>
            </a:extLst>
          </p:cNvPr>
          <p:cNvSpPr/>
          <p:nvPr/>
        </p:nvSpPr>
        <p:spPr>
          <a:xfrm>
            <a:off x="8718102" y="4366423"/>
            <a:ext cx="651672" cy="44629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 72">
            <a:extLst>
              <a:ext uri="{FF2B5EF4-FFF2-40B4-BE49-F238E27FC236}">
                <a16:creationId xmlns:a16="http://schemas.microsoft.com/office/drawing/2014/main" id="{6A49CD4B-9085-4E60-A50E-F364EF7FACD3}"/>
              </a:ext>
            </a:extLst>
          </p:cNvPr>
          <p:cNvSpPr/>
          <p:nvPr/>
        </p:nvSpPr>
        <p:spPr>
          <a:xfrm>
            <a:off x="355600" y="6529437"/>
            <a:ext cx="11825224" cy="406400"/>
          </a:xfrm>
          <a:prstGeom prst="rect">
            <a:avLst/>
          </a:prstGeom>
          <a:noFill/>
          <a:ln/>
        </p:spPr>
        <p:txBody>
          <a:bodyPr wrap="square" lIns="0" tIns="0" rIns="0" bIns="0" rtlCol="0" anchor="t">
            <a:normAutofit/>
          </a:bodyPr>
          <a:lstStyle/>
          <a:p>
            <a:pPr marL="0" indent="0" algn="l">
              <a:lnSpc>
                <a:spcPts val="1500"/>
              </a:lnSpc>
              <a:buNone/>
            </a:pPr>
            <a:endParaRPr lang="en-US" sz="800" dirty="0"/>
          </a:p>
        </p:txBody>
      </p:sp>
      <p:grpSp>
        <p:nvGrpSpPr>
          <p:cNvPr id="6" name="그룹 5"/>
          <p:cNvGrpSpPr/>
          <p:nvPr/>
        </p:nvGrpSpPr>
        <p:grpSpPr>
          <a:xfrm>
            <a:off x="6338802" y="1835692"/>
            <a:ext cx="5376672" cy="1831863"/>
            <a:chOff x="6338802" y="1946387"/>
            <a:chExt cx="5376672" cy="1637153"/>
          </a:xfrm>
        </p:grpSpPr>
        <p:sp>
          <p:nvSpPr>
            <p:cNvPr id="47" name="Rectangle 64">
              <a:extLst>
                <a:ext uri="{FF2B5EF4-FFF2-40B4-BE49-F238E27FC236}">
                  <a16:creationId xmlns:a16="http://schemas.microsoft.com/office/drawing/2014/main" id="{8DCA8C13-6BCB-483C-8687-92D69655611B}"/>
                </a:ext>
              </a:extLst>
            </p:cNvPr>
            <p:cNvSpPr/>
            <p:nvPr/>
          </p:nvSpPr>
          <p:spPr>
            <a:xfrm>
              <a:off x="6411954" y="1946387"/>
              <a:ext cx="5212080" cy="27432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dirty="0">
                  <a:solidFill>
                    <a:srgbClr val="000000"/>
                  </a:solidFill>
                  <a:latin typeface="맑은 고딕"/>
                  <a:ea typeface="맑은 고딕"/>
                  <a:cs typeface="맑은 고딕"/>
                </a:rPr>
                <a:t>AI </a:t>
              </a:r>
              <a:r>
                <a:rPr sz="1000" b="1" dirty="0" err="1">
                  <a:solidFill>
                    <a:srgbClr val="000000"/>
                  </a:solidFill>
                  <a:latin typeface="맑은 고딕"/>
                  <a:ea typeface="맑은 고딕"/>
                  <a:cs typeface="맑은 고딕"/>
                </a:rPr>
                <a:t>워크로드</a:t>
              </a:r>
              <a:r>
                <a:rPr lang="en-US" sz="1000" b="1" dirty="0">
                  <a:solidFill>
                    <a:srgbClr val="000000"/>
                  </a:solidFill>
                  <a:latin typeface="맑은 고딕"/>
                  <a:ea typeface="맑은 고딕"/>
                  <a:cs typeface="맑은 고딕"/>
                </a:rPr>
                <a:t> (</a:t>
              </a:r>
              <a:r>
                <a:rPr lang="ko-KR" altLang="en-US" sz="1000" b="1" dirty="0">
                  <a:solidFill>
                    <a:srgbClr val="000000"/>
                  </a:solidFill>
                  <a:latin typeface="맑은 고딕"/>
                  <a:ea typeface="맑은 고딕"/>
                  <a:cs typeface="맑은 고딕"/>
                </a:rPr>
                <a:t>자원 수요 동적 변동</a:t>
              </a:r>
              <a:r>
                <a:rPr lang="en-US" altLang="ko-KR" sz="1000" b="1" dirty="0">
                  <a:solidFill>
                    <a:srgbClr val="000000"/>
                  </a:solidFill>
                  <a:latin typeface="맑은 고딕"/>
                  <a:ea typeface="맑은 고딕"/>
                  <a:cs typeface="맑은 고딕"/>
                </a:rPr>
                <a:t>)</a:t>
              </a:r>
              <a:endParaRPr sz="1000" b="1" dirty="0">
                <a:solidFill>
                  <a:srgbClr val="000000"/>
                </a:solidFill>
                <a:latin typeface="맑은 고딕"/>
                <a:ea typeface="맑은 고딕"/>
                <a:cs typeface="맑은 고딕"/>
              </a:endParaRPr>
            </a:p>
          </p:txBody>
        </p:sp>
        <p:cxnSp>
          <p:nvCxnSpPr>
            <p:cNvPr id="48" name="Connector 65">
              <a:extLst>
                <a:ext uri="{FF2B5EF4-FFF2-40B4-BE49-F238E27FC236}">
                  <a16:creationId xmlns:a16="http://schemas.microsoft.com/office/drawing/2014/main" id="{A686614B-E1CA-4E7B-A5A4-A47937F3C5BB}"/>
                </a:ext>
              </a:extLst>
            </p:cNvPr>
            <p:cNvCxnSpPr>
              <a:stCxn id="47" idx="2"/>
            </p:cNvCxnSpPr>
            <p:nvPr/>
          </p:nvCxnSpPr>
          <p:spPr>
            <a:xfrm>
              <a:off x="9017994" y="2220707"/>
              <a:ext cx="0" cy="179026"/>
            </a:xfrm>
            <a:prstGeom prst="line">
              <a:avLst/>
            </a:prstGeom>
            <a:ln w="19050">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9" name="Rectangle 66">
              <a:extLst>
                <a:ext uri="{FF2B5EF4-FFF2-40B4-BE49-F238E27FC236}">
                  <a16:creationId xmlns:a16="http://schemas.microsoft.com/office/drawing/2014/main" id="{45CE6021-533E-4D48-BA43-BBA13E9CF3CA}"/>
                </a:ext>
              </a:extLst>
            </p:cNvPr>
            <p:cNvSpPr/>
            <p:nvPr/>
          </p:nvSpPr>
          <p:spPr>
            <a:xfrm>
              <a:off x="6411954" y="2374228"/>
              <a:ext cx="5212080" cy="493776"/>
            </a:xfrm>
            <a:prstGeom prst="rect">
              <a:avLst/>
            </a:prstGeom>
            <a:solidFill>
              <a:srgbClr val="FFFFFF"/>
            </a:solidFill>
            <a:ln w="19050">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dirty="0" err="1">
                  <a:solidFill>
                    <a:srgbClr val="FF0000"/>
                  </a:solidFill>
                  <a:latin typeface="맑은 고딕"/>
                  <a:ea typeface="맑은 고딕"/>
                  <a:cs typeface="맑은 고딕"/>
                </a:rPr>
                <a:t>이기종</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메모리</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인지형</a:t>
              </a:r>
              <a:r>
                <a:rPr sz="1100" b="1" dirty="0">
                  <a:solidFill>
                    <a:srgbClr val="FF0000"/>
                  </a:solidFill>
                  <a:latin typeface="맑은 고딕"/>
                  <a:ea typeface="맑은 고딕"/>
                  <a:cs typeface="맑은 고딕"/>
                </a:rPr>
                <a:t> </a:t>
              </a:r>
              <a:r>
                <a:rPr lang="ko-KR" altLang="en-US" sz="1100" b="1" dirty="0">
                  <a:solidFill>
                    <a:srgbClr val="FF0000"/>
                  </a:solidFill>
                  <a:latin typeface="맑은 고딕"/>
                  <a:ea typeface="맑은 고딕"/>
                  <a:cs typeface="맑은 고딕"/>
                </a:rPr>
                <a:t>런타임</a:t>
              </a:r>
              <a:r>
                <a:rPr lang="en-US" altLang="ko-KR" sz="1100" b="1" dirty="0">
                  <a:solidFill>
                    <a:srgbClr val="FF0000"/>
                  </a:solidFill>
                  <a:latin typeface="맑은 고딕"/>
                  <a:ea typeface="맑은 고딕"/>
                  <a:cs typeface="맑은 고딕"/>
                </a:rPr>
                <a:t>(</a:t>
              </a:r>
              <a:r>
                <a:rPr lang="ko-KR" altLang="en-US" sz="1100" b="1" dirty="0" err="1">
                  <a:solidFill>
                    <a:srgbClr val="FF0000"/>
                  </a:solidFill>
                  <a:latin typeface="맑은 고딕"/>
                  <a:ea typeface="맑은 고딕"/>
                  <a:cs typeface="맑은 고딕"/>
                </a:rPr>
                <a:t>서빙</a:t>
              </a:r>
              <a:r>
                <a:rPr lang="ko-KR" altLang="en-US" sz="1100" b="1" dirty="0">
                  <a:solidFill>
                    <a:srgbClr val="FF0000"/>
                  </a:solidFill>
                  <a:latin typeface="맑은 고딕"/>
                  <a:ea typeface="맑은 고딕"/>
                  <a:cs typeface="맑은 고딕"/>
                </a:rPr>
                <a:t> 엔진</a:t>
              </a:r>
              <a:r>
                <a:rPr lang="en-US" altLang="ko-KR" sz="1100" b="1" dirty="0">
                  <a:solidFill>
                    <a:srgbClr val="FF0000"/>
                  </a:solidFill>
                  <a:latin typeface="맑은 고딕"/>
                  <a:ea typeface="맑은 고딕"/>
                  <a:cs typeface="맑은 고딕"/>
                </a:rPr>
                <a:t>)</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부재</a:t>
              </a:r>
              <a:r>
                <a:rPr sz="1100" b="1" dirty="0">
                  <a:solidFill>
                    <a:srgbClr val="FF0000"/>
                  </a:solidFill>
                  <a:latin typeface="맑은 고딕"/>
                  <a:ea typeface="맑은 고딕"/>
                  <a:cs typeface="맑은 고딕"/>
                </a:rPr>
                <a:t> </a:t>
              </a:r>
              <a:endParaRPr lang="en-US" sz="1100" b="1" dirty="0">
                <a:solidFill>
                  <a:srgbClr val="FF0000"/>
                </a:solidFill>
                <a:latin typeface="맑은 고딕"/>
                <a:ea typeface="맑은 고딕"/>
                <a:cs typeface="맑은 고딕"/>
              </a:endParaRPr>
            </a:p>
            <a:p>
              <a:pPr algn="ctr">
                <a:spcAft>
                  <a:spcPts val="200"/>
                </a:spcAft>
              </a:pPr>
              <a:r>
                <a:rPr sz="850" b="0" dirty="0" err="1">
                  <a:solidFill>
                    <a:srgbClr val="595959"/>
                  </a:solidFill>
                  <a:latin typeface="맑은 고딕"/>
                  <a:ea typeface="맑은 고딕"/>
                  <a:cs typeface="맑은 고딕"/>
                </a:rPr>
                <a:t>메모리</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특성</a:t>
              </a:r>
              <a:r>
                <a:rPr sz="850" b="0" dirty="0">
                  <a:solidFill>
                    <a:srgbClr val="595959"/>
                  </a:solidFill>
                  <a:latin typeface="맑은 고딕"/>
                  <a:ea typeface="맑은 고딕"/>
                  <a:cs typeface="맑은 고딕"/>
                </a:rPr>
                <a:t>(</a:t>
              </a:r>
              <a:r>
                <a:rPr sz="850" b="0" dirty="0" err="1">
                  <a:solidFill>
                    <a:srgbClr val="595959"/>
                  </a:solidFill>
                  <a:latin typeface="맑은 고딕"/>
                  <a:ea typeface="맑은 고딕"/>
                  <a:cs typeface="맑은 고딕"/>
                </a:rPr>
                <a:t>대역폭</a:t>
              </a:r>
              <a:r>
                <a:rPr lang="en-US" sz="850" dirty="0">
                  <a:solidFill>
                    <a:srgbClr val="595959"/>
                  </a:solidFill>
                  <a:latin typeface="맑은 고딕"/>
                  <a:ea typeface="맑은 고딕"/>
                  <a:cs typeface="맑은 고딕"/>
                </a:rPr>
                <a:t>, </a:t>
              </a:r>
              <a:r>
                <a:rPr lang="ko-KR" altLang="en-US" sz="850" dirty="0">
                  <a:solidFill>
                    <a:srgbClr val="595959"/>
                  </a:solidFill>
                  <a:latin typeface="맑은 고딕"/>
                  <a:ea typeface="맑은 고딕"/>
                  <a:cs typeface="맑은 고딕"/>
                </a:rPr>
                <a:t>용</a:t>
              </a:r>
              <a:r>
                <a:rPr sz="850" b="0" dirty="0">
                  <a:solidFill>
                    <a:srgbClr val="595959"/>
                  </a:solidFill>
                  <a:latin typeface="맑은 고딕"/>
                  <a:ea typeface="맑은 고딕"/>
                  <a:cs typeface="맑은 고딕"/>
                </a:rPr>
                <a:t>량</a:t>
              </a:r>
              <a:r>
                <a:rPr lang="en-US" sz="85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연산</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가능</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여부</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인식</a:t>
              </a:r>
              <a:r>
                <a:rPr sz="850" b="0" dirty="0">
                  <a:solidFill>
                    <a:srgbClr val="595959"/>
                  </a:solidFill>
                  <a:latin typeface="맑은 고딕"/>
                  <a:ea typeface="맑은 고딕"/>
                  <a:cs typeface="맑은 고딕"/>
                </a:rPr>
                <a:t> → </a:t>
              </a:r>
              <a:r>
                <a:rPr sz="850" b="0" dirty="0" err="1">
                  <a:solidFill>
                    <a:srgbClr val="595959"/>
                  </a:solidFill>
                  <a:latin typeface="맑은 고딕"/>
                  <a:ea typeface="맑은 고딕"/>
                  <a:cs typeface="맑은 고딕"/>
                </a:rPr>
                <a:t>배치·스케줄링</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결정</a:t>
              </a:r>
              <a:endParaRPr sz="850" b="0" dirty="0">
                <a:solidFill>
                  <a:srgbClr val="595959"/>
                </a:solidFill>
                <a:latin typeface="맑은 고딕"/>
                <a:ea typeface="맑은 고딕"/>
                <a:cs typeface="맑은 고딕"/>
              </a:endParaRPr>
            </a:p>
          </p:txBody>
        </p:sp>
        <p:cxnSp>
          <p:nvCxnSpPr>
            <p:cNvPr id="50" name="Connector 67">
              <a:extLst>
                <a:ext uri="{FF2B5EF4-FFF2-40B4-BE49-F238E27FC236}">
                  <a16:creationId xmlns:a16="http://schemas.microsoft.com/office/drawing/2014/main" id="{5D282C66-6D3B-4CCE-96C5-463FFBD46600}"/>
                </a:ext>
              </a:extLst>
            </p:cNvPr>
            <p:cNvCxnSpPr>
              <a:stCxn id="49" idx="2"/>
            </p:cNvCxnSpPr>
            <p:nvPr/>
          </p:nvCxnSpPr>
          <p:spPr>
            <a:xfrm>
              <a:off x="9017994" y="2868004"/>
              <a:ext cx="0" cy="231455"/>
            </a:xfrm>
            <a:prstGeom prst="line">
              <a:avLst/>
            </a:prstGeom>
            <a:ln w="19050">
              <a:solidFill>
                <a:srgbClr val="FF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51" name="Rectangle 68">
              <a:extLst>
                <a:ext uri="{FF2B5EF4-FFF2-40B4-BE49-F238E27FC236}">
                  <a16:creationId xmlns:a16="http://schemas.microsoft.com/office/drawing/2014/main" id="{D14A622C-56E0-4758-A09A-6DC13A6A0844}"/>
                </a:ext>
              </a:extLst>
            </p:cNvPr>
            <p:cNvSpPr/>
            <p:nvPr/>
          </p:nvSpPr>
          <p:spPr>
            <a:xfrm>
              <a:off x="6338802" y="3099459"/>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HBM</a:t>
              </a:r>
            </a:p>
          </p:txBody>
        </p:sp>
        <p:sp>
          <p:nvSpPr>
            <p:cNvPr id="52" name="Rectangle 69">
              <a:extLst>
                <a:ext uri="{FF2B5EF4-FFF2-40B4-BE49-F238E27FC236}">
                  <a16:creationId xmlns:a16="http://schemas.microsoft.com/office/drawing/2014/main" id="{3ED850D0-4EB0-4CA5-AF32-D0F7BB94F778}"/>
                </a:ext>
              </a:extLst>
            </p:cNvPr>
            <p:cNvSpPr/>
            <p:nvPr/>
          </p:nvSpPr>
          <p:spPr>
            <a:xfrm>
              <a:off x="7225770" y="3099459"/>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DRAM</a:t>
              </a:r>
            </a:p>
          </p:txBody>
        </p:sp>
        <p:sp>
          <p:nvSpPr>
            <p:cNvPr id="53" name="Rectangle 70">
              <a:extLst>
                <a:ext uri="{FF2B5EF4-FFF2-40B4-BE49-F238E27FC236}">
                  <a16:creationId xmlns:a16="http://schemas.microsoft.com/office/drawing/2014/main" id="{EA7EC8A1-A9C0-490E-B42F-7E9101EF6AAD}"/>
                </a:ext>
              </a:extLst>
            </p:cNvPr>
            <p:cNvSpPr/>
            <p:nvPr/>
          </p:nvSpPr>
          <p:spPr>
            <a:xfrm>
              <a:off x="8112738" y="3099459"/>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SSD</a:t>
              </a:r>
            </a:p>
          </p:txBody>
        </p:sp>
        <p:sp>
          <p:nvSpPr>
            <p:cNvPr id="54" name="Rectangle 71">
              <a:extLst>
                <a:ext uri="{FF2B5EF4-FFF2-40B4-BE49-F238E27FC236}">
                  <a16:creationId xmlns:a16="http://schemas.microsoft.com/office/drawing/2014/main" id="{80B38AE7-A1A7-42C7-AA04-9B472F02A2D2}"/>
                </a:ext>
              </a:extLst>
            </p:cNvPr>
            <p:cNvSpPr/>
            <p:nvPr/>
          </p:nvSpPr>
          <p:spPr>
            <a:xfrm>
              <a:off x="8999706" y="3099459"/>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dirty="0">
                  <a:solidFill>
                    <a:srgbClr val="000000"/>
                  </a:solidFill>
                  <a:latin typeface="맑은 고딕"/>
                  <a:ea typeface="맑은 고딕"/>
                  <a:cs typeface="맑은 고딕"/>
                </a:rPr>
                <a:t>CXL-Memory</a:t>
              </a:r>
            </a:p>
          </p:txBody>
        </p:sp>
        <p:sp>
          <p:nvSpPr>
            <p:cNvPr id="57" name="Rectangle 72">
              <a:extLst>
                <a:ext uri="{FF2B5EF4-FFF2-40B4-BE49-F238E27FC236}">
                  <a16:creationId xmlns:a16="http://schemas.microsoft.com/office/drawing/2014/main" id="{D39180E6-1BC0-4BF6-A0C5-972782D939A5}"/>
                </a:ext>
              </a:extLst>
            </p:cNvPr>
            <p:cNvSpPr/>
            <p:nvPr/>
          </p:nvSpPr>
          <p:spPr>
            <a:xfrm>
              <a:off x="9886674" y="3099459"/>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CXL-PNM</a:t>
              </a:r>
            </a:p>
          </p:txBody>
        </p:sp>
        <p:sp>
          <p:nvSpPr>
            <p:cNvPr id="60" name="Rectangle 73">
              <a:extLst>
                <a:ext uri="{FF2B5EF4-FFF2-40B4-BE49-F238E27FC236}">
                  <a16:creationId xmlns:a16="http://schemas.microsoft.com/office/drawing/2014/main" id="{3AF4BA0F-B071-4D25-85D2-27FD11833D3B}"/>
                </a:ext>
              </a:extLst>
            </p:cNvPr>
            <p:cNvSpPr/>
            <p:nvPr/>
          </p:nvSpPr>
          <p:spPr>
            <a:xfrm>
              <a:off x="10773642" y="3099459"/>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dirty="0">
                  <a:solidFill>
                    <a:srgbClr val="000000"/>
                  </a:solidFill>
                  <a:latin typeface="맑은 고딕"/>
                  <a:ea typeface="맑은 고딕"/>
                  <a:cs typeface="맑은 고딕"/>
                </a:rPr>
                <a:t>PIM</a:t>
              </a:r>
              <a:r>
                <a:rPr lang="en-US" sz="850" b="1" dirty="0">
                  <a:solidFill>
                    <a:srgbClr val="000000"/>
                  </a:solidFill>
                  <a:latin typeface="맑은 고딕"/>
                  <a:ea typeface="맑은 고딕"/>
                  <a:cs typeface="맑은 고딕"/>
                </a:rPr>
                <a:t>-SSD</a:t>
              </a:r>
              <a:endParaRPr sz="850" b="1" dirty="0">
                <a:solidFill>
                  <a:srgbClr val="000000"/>
                </a:solidFill>
                <a:latin typeface="맑은 고딕"/>
                <a:ea typeface="맑은 고딕"/>
                <a:cs typeface="맑은 고딕"/>
              </a:endParaRPr>
            </a:p>
          </p:txBody>
        </p:sp>
        <p:sp>
          <p:nvSpPr>
            <p:cNvPr id="61" name="TextBox 60">
              <a:extLst>
                <a:ext uri="{FF2B5EF4-FFF2-40B4-BE49-F238E27FC236}">
                  <a16:creationId xmlns:a16="http://schemas.microsoft.com/office/drawing/2014/main" id="{D163E465-429E-4E53-81C1-5082B8CADCE8}"/>
                </a:ext>
              </a:extLst>
            </p:cNvPr>
            <p:cNvSpPr txBox="1"/>
            <p:nvPr/>
          </p:nvSpPr>
          <p:spPr>
            <a:xfrm>
              <a:off x="6338802" y="3418948"/>
              <a:ext cx="2651760" cy="164592"/>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기존 메모리 계층</a:t>
              </a:r>
            </a:p>
          </p:txBody>
        </p:sp>
        <p:sp>
          <p:nvSpPr>
            <p:cNvPr id="62" name="TextBox 61">
              <a:extLst>
                <a:ext uri="{FF2B5EF4-FFF2-40B4-BE49-F238E27FC236}">
                  <a16:creationId xmlns:a16="http://schemas.microsoft.com/office/drawing/2014/main" id="{6F400612-4371-4D0B-A293-563CC829736A}"/>
                </a:ext>
              </a:extLst>
            </p:cNvPr>
            <p:cNvSpPr txBox="1"/>
            <p:nvPr/>
          </p:nvSpPr>
          <p:spPr>
            <a:xfrm>
              <a:off x="8972274" y="3418948"/>
              <a:ext cx="2743200" cy="145784"/>
            </a:xfrm>
            <a:prstGeom prst="rect">
              <a:avLst/>
            </a:prstGeom>
            <a:noFill/>
          </p:spPr>
          <p:txBody>
            <a:bodyPr wrap="square" lIns="45720" tIns="27432" rIns="45720" bIns="27432" anchor="t">
              <a:spAutoFit/>
            </a:bodyPr>
            <a:lstStyle/>
            <a:p>
              <a:pPr algn="r">
                <a:spcAft>
                  <a:spcPts val="200"/>
                </a:spcAft>
              </a:pPr>
              <a:r>
                <a:rPr sz="700" b="0" dirty="0" err="1">
                  <a:solidFill>
                    <a:srgbClr val="C55A11"/>
                  </a:solidFill>
                  <a:latin typeface="맑은 고딕"/>
                  <a:ea typeface="맑은 고딕"/>
                  <a:cs typeface="맑은 고딕"/>
                </a:rPr>
                <a:t>신규</a:t>
              </a:r>
              <a:r>
                <a:rPr sz="700" b="0" dirty="0">
                  <a:solidFill>
                    <a:srgbClr val="C55A11"/>
                  </a:solidFill>
                  <a:latin typeface="맑은 고딕"/>
                  <a:ea typeface="맑은 고딕"/>
                  <a:cs typeface="맑은 고딕"/>
                </a:rPr>
                <a:t> </a:t>
              </a:r>
              <a:r>
                <a:rPr sz="700" b="0" dirty="0" err="1">
                  <a:solidFill>
                    <a:srgbClr val="C55A11"/>
                  </a:solidFill>
                  <a:latin typeface="맑은 고딕"/>
                  <a:ea typeface="맑은 고딕"/>
                  <a:cs typeface="맑은 고딕"/>
                </a:rPr>
                <a:t>메모리</a:t>
              </a:r>
              <a:r>
                <a:rPr sz="700" b="0" dirty="0">
                  <a:solidFill>
                    <a:srgbClr val="C55A11"/>
                  </a:solidFill>
                  <a:latin typeface="맑은 고딕"/>
                  <a:ea typeface="맑은 고딕"/>
                  <a:cs typeface="맑은 고딕"/>
                </a:rPr>
                <a:t>: </a:t>
              </a:r>
              <a:r>
                <a:rPr sz="700" b="0" dirty="0" err="1">
                  <a:solidFill>
                    <a:srgbClr val="C55A11"/>
                  </a:solidFill>
                  <a:latin typeface="맑은 고딕"/>
                  <a:ea typeface="맑은 고딕"/>
                  <a:cs typeface="맑은 고딕"/>
                </a:rPr>
                <a:t>특성</a:t>
              </a:r>
              <a:r>
                <a:rPr sz="700" b="0" dirty="0">
                  <a:solidFill>
                    <a:srgbClr val="C55A11"/>
                  </a:solidFill>
                  <a:latin typeface="맑은 고딕"/>
                  <a:ea typeface="맑은 고딕"/>
                  <a:cs typeface="맑은 고딕"/>
                </a:rPr>
                <a:t> </a:t>
              </a:r>
              <a:r>
                <a:rPr lang="ko-KR" altLang="en-US" sz="700" dirty="0">
                  <a:solidFill>
                    <a:srgbClr val="C55A11"/>
                  </a:solidFill>
                  <a:latin typeface="맑은 고딕"/>
                  <a:ea typeface="맑은 고딕"/>
                  <a:cs typeface="맑은 고딕"/>
                </a:rPr>
                <a:t>비인지</a:t>
              </a:r>
              <a:r>
                <a:rPr lang="en-US" sz="700" b="0" dirty="0">
                  <a:solidFill>
                    <a:srgbClr val="C55A11"/>
                  </a:solidFill>
                  <a:latin typeface="맑은 고딕"/>
                  <a:ea typeface="맑은 고딕"/>
                  <a:cs typeface="맑은 고딕"/>
                </a:rPr>
                <a:t> </a:t>
              </a:r>
              <a:r>
                <a:rPr sz="700" b="0" dirty="0">
                  <a:solidFill>
                    <a:srgbClr val="C55A11"/>
                  </a:solidFill>
                  <a:latin typeface="맑은 고딕"/>
                  <a:ea typeface="맑은 고딕"/>
                  <a:cs typeface="맑은 고딕"/>
                </a:rPr>
                <a:t>→ </a:t>
              </a:r>
              <a:r>
                <a:rPr sz="700" b="0" dirty="0" err="1">
                  <a:solidFill>
                    <a:srgbClr val="C55A11"/>
                  </a:solidFill>
                  <a:latin typeface="맑은 고딕"/>
                  <a:ea typeface="맑은 고딕"/>
                  <a:cs typeface="맑은 고딕"/>
                </a:rPr>
                <a:t>활용</a:t>
              </a:r>
              <a:r>
                <a:rPr sz="700" b="0" dirty="0">
                  <a:solidFill>
                    <a:srgbClr val="C55A11"/>
                  </a:solidFill>
                  <a:latin typeface="맑은 고딕"/>
                  <a:ea typeface="맑은 고딕"/>
                  <a:cs typeface="맑은 고딕"/>
                </a:rPr>
                <a:t> </a:t>
              </a:r>
              <a:r>
                <a:rPr sz="700" b="0" dirty="0" err="1">
                  <a:solidFill>
                    <a:srgbClr val="C55A11"/>
                  </a:solidFill>
                  <a:latin typeface="맑은 고딕"/>
                  <a:ea typeface="맑은 고딕"/>
                  <a:cs typeface="맑은 고딕"/>
                </a:rPr>
                <a:t>불가</a:t>
              </a:r>
              <a:endParaRPr sz="700" b="0" dirty="0">
                <a:solidFill>
                  <a:srgbClr val="C55A11"/>
                </a:solidFill>
                <a:latin typeface="맑은 고딕"/>
                <a:ea typeface="맑은 고딕"/>
                <a:cs typeface="맑은 고딕"/>
              </a:endParaRPr>
            </a:p>
          </p:txBody>
        </p:sp>
      </p:grpSp>
      <p:sp>
        <p:nvSpPr>
          <p:cNvPr id="155" name="Customers">
            <a:extLst>
              <a:ext uri="{FF2B5EF4-FFF2-40B4-BE49-F238E27FC236}">
                <a16:creationId xmlns:a16="http://schemas.microsoft.com/office/drawing/2014/main" id="{AE067F2F-D83F-4552-8F5C-DBF285D81799}"/>
              </a:ext>
            </a:extLst>
          </p:cNvPr>
          <p:cNvSpPr/>
          <p:nvPr/>
        </p:nvSpPr>
        <p:spPr>
          <a:xfrm>
            <a:off x="347472" y="4816605"/>
            <a:ext cx="1664208" cy="960120"/>
          </a:xfrm>
          <a:prstGeom prst="roundRect">
            <a:avLst>
              <a:gd name="adj" fmla="val 8000"/>
            </a:avLst>
          </a:prstGeom>
          <a:solidFill>
            <a:srgbClr val="F0F1F3"/>
          </a:solidFill>
          <a:ln w="12700">
            <a:solidFill>
              <a:srgbClr val="7F7F7F"/>
            </a:solidFill>
          </a:ln>
        </p:spPr>
        <p:txBody>
          <a:bodyPr wrap="square" lIns="45720" tIns="18288" rIns="45720" bIns="18288" rtlCol="0" anchor="ctr"/>
          <a:lstStyle/>
          <a:p>
            <a:pPr algn="ctr">
              <a:lnSpc>
                <a:spcPct val="150000"/>
              </a:lnSpc>
            </a:pPr>
            <a:r>
              <a:rPr sz="1100" b="1" dirty="0" err="1">
                <a:solidFill>
                  <a:srgbClr val="222222"/>
                </a:solidFill>
                <a:latin typeface="+mj-ea"/>
                <a:ea typeface="+mj-ea"/>
              </a:rPr>
              <a:t>시장</a:t>
            </a:r>
            <a:r>
              <a:rPr sz="1100" b="1" dirty="0">
                <a:solidFill>
                  <a:srgbClr val="222222"/>
                </a:solidFill>
                <a:latin typeface="+mj-ea"/>
                <a:ea typeface="+mj-ea"/>
              </a:rPr>
              <a:t> · </a:t>
            </a:r>
            <a:r>
              <a:rPr sz="1100" b="1" dirty="0" err="1">
                <a:solidFill>
                  <a:srgbClr val="222222"/>
                </a:solidFill>
                <a:latin typeface="+mj-ea"/>
                <a:ea typeface="+mj-ea"/>
              </a:rPr>
              <a:t>고객</a:t>
            </a:r>
            <a:endParaRPr sz="1100" b="1" dirty="0">
              <a:solidFill>
                <a:srgbClr val="222222"/>
              </a:solidFill>
              <a:latin typeface="+mj-ea"/>
              <a:ea typeface="+mj-ea"/>
            </a:endParaRPr>
          </a:p>
          <a:p>
            <a:pPr algn="ctr">
              <a:lnSpc>
                <a:spcPct val="125000"/>
              </a:lnSpc>
            </a:pPr>
            <a:r>
              <a:rPr sz="900" b="0" dirty="0">
                <a:solidFill>
                  <a:srgbClr val="555555"/>
                </a:solidFill>
                <a:latin typeface="+mj-ea"/>
                <a:ea typeface="+mj-ea"/>
              </a:rPr>
              <a:t>Meta</a:t>
            </a:r>
            <a:r>
              <a:rPr lang="en-US" sz="900" b="0" dirty="0">
                <a:solidFill>
                  <a:srgbClr val="555555"/>
                </a:solidFill>
                <a:latin typeface="+mj-ea"/>
                <a:ea typeface="+mj-ea"/>
              </a:rPr>
              <a:t>, </a:t>
            </a:r>
            <a:r>
              <a:rPr sz="900" b="0" dirty="0">
                <a:solidFill>
                  <a:srgbClr val="555555"/>
                </a:solidFill>
                <a:latin typeface="+mj-ea"/>
                <a:ea typeface="+mj-ea"/>
              </a:rPr>
              <a:t>Google Research</a:t>
            </a:r>
            <a:r>
              <a:rPr lang="en-US" sz="900" b="0" dirty="0">
                <a:solidFill>
                  <a:srgbClr val="555555"/>
                </a:solidFill>
                <a:latin typeface="+mj-ea"/>
                <a:ea typeface="+mj-ea"/>
              </a:rPr>
              <a:t>, </a:t>
            </a:r>
          </a:p>
          <a:p>
            <a:pPr algn="ctr">
              <a:lnSpc>
                <a:spcPct val="125000"/>
              </a:lnSpc>
            </a:pPr>
            <a:r>
              <a:rPr lang="en-US" sz="900" b="0" dirty="0">
                <a:solidFill>
                  <a:srgbClr val="555555"/>
                </a:solidFill>
                <a:latin typeface="+mj-ea"/>
                <a:ea typeface="+mj-ea"/>
              </a:rPr>
              <a:t>ARM </a:t>
            </a:r>
            <a:r>
              <a:rPr sz="900" b="0" dirty="0">
                <a:solidFill>
                  <a:srgbClr val="555555"/>
                </a:solidFill>
                <a:latin typeface="+mj-ea"/>
                <a:ea typeface="+mj-ea"/>
              </a:rPr>
              <a:t>Research 와 </a:t>
            </a:r>
            <a:endParaRPr lang="en-US" sz="900" b="0" dirty="0">
              <a:solidFill>
                <a:srgbClr val="555555"/>
              </a:solidFill>
              <a:latin typeface="+mj-ea"/>
              <a:ea typeface="+mj-ea"/>
            </a:endParaRPr>
          </a:p>
          <a:p>
            <a:pPr algn="ctr">
              <a:lnSpc>
                <a:spcPct val="125000"/>
              </a:lnSpc>
            </a:pPr>
            <a:r>
              <a:rPr sz="900" b="0" dirty="0" err="1">
                <a:solidFill>
                  <a:srgbClr val="555555"/>
                </a:solidFill>
                <a:latin typeface="+mj-ea"/>
                <a:ea typeface="+mj-ea"/>
              </a:rPr>
              <a:t>연구</a:t>
            </a:r>
            <a:r>
              <a:rPr sz="900" b="0" dirty="0">
                <a:solidFill>
                  <a:srgbClr val="555555"/>
                </a:solidFill>
                <a:latin typeface="+mj-ea"/>
                <a:ea typeface="+mj-ea"/>
              </a:rPr>
              <a:t> </a:t>
            </a:r>
            <a:r>
              <a:rPr sz="900" b="0" dirty="0" err="1">
                <a:solidFill>
                  <a:srgbClr val="555555"/>
                </a:solidFill>
                <a:latin typeface="+mj-ea"/>
                <a:ea typeface="+mj-ea"/>
              </a:rPr>
              <a:t>협업</a:t>
            </a:r>
            <a:r>
              <a:rPr sz="900" b="0" dirty="0">
                <a:solidFill>
                  <a:srgbClr val="555555"/>
                </a:solidFill>
                <a:latin typeface="+mj-ea"/>
                <a:ea typeface="+mj-ea"/>
              </a:rPr>
              <a:t> </a:t>
            </a:r>
            <a:r>
              <a:rPr sz="900" b="0" dirty="0" err="1">
                <a:solidFill>
                  <a:srgbClr val="555555"/>
                </a:solidFill>
                <a:latin typeface="+mj-ea"/>
                <a:ea typeface="+mj-ea"/>
              </a:rPr>
              <a:t>진행</a:t>
            </a:r>
            <a:r>
              <a:rPr sz="900" b="0" dirty="0">
                <a:solidFill>
                  <a:srgbClr val="555555"/>
                </a:solidFill>
                <a:latin typeface="+mj-ea"/>
                <a:ea typeface="+mj-ea"/>
              </a:rPr>
              <a:t> 중</a:t>
            </a:r>
          </a:p>
        </p:txBody>
      </p:sp>
      <p:sp>
        <p:nvSpPr>
          <p:cNvPr id="156" name="Research lab">
            <a:extLst>
              <a:ext uri="{FF2B5EF4-FFF2-40B4-BE49-F238E27FC236}">
                <a16:creationId xmlns:a16="http://schemas.microsoft.com/office/drawing/2014/main" id="{5489BF64-474A-4FD6-9F1A-5E5B29635537}"/>
              </a:ext>
            </a:extLst>
          </p:cNvPr>
          <p:cNvSpPr/>
          <p:nvPr/>
        </p:nvSpPr>
        <p:spPr>
          <a:xfrm>
            <a:off x="2304288" y="4816605"/>
            <a:ext cx="1664208" cy="960120"/>
          </a:xfrm>
          <a:prstGeom prst="roundRect">
            <a:avLst>
              <a:gd name="adj" fmla="val 8000"/>
            </a:avLst>
          </a:prstGeom>
          <a:solidFill>
            <a:srgbClr val="EAF1FA"/>
          </a:solidFill>
          <a:ln w="22225">
            <a:solidFill>
              <a:srgbClr val="2F6DB5"/>
            </a:solidFill>
          </a:ln>
        </p:spPr>
        <p:txBody>
          <a:bodyPr wrap="square" lIns="45720" tIns="18288" rIns="45720" bIns="18288" rtlCol="0" anchor="ctr"/>
          <a:lstStyle/>
          <a:p>
            <a:pPr algn="ctr">
              <a:lnSpc>
                <a:spcPct val="150000"/>
              </a:lnSpc>
            </a:pPr>
            <a:r>
              <a:rPr sz="1100" b="1" dirty="0" err="1">
                <a:solidFill>
                  <a:srgbClr val="1C3F6E"/>
                </a:solidFill>
                <a:latin typeface="+mj-ea"/>
                <a:ea typeface="+mj-ea"/>
              </a:rPr>
              <a:t>연구소</a:t>
            </a:r>
            <a:endParaRPr sz="1100" b="1" dirty="0">
              <a:solidFill>
                <a:srgbClr val="1C3F6E"/>
              </a:solidFill>
              <a:latin typeface="+mj-ea"/>
              <a:ea typeface="+mj-ea"/>
            </a:endParaRPr>
          </a:p>
          <a:p>
            <a:pPr algn="ctr">
              <a:lnSpc>
                <a:spcPct val="125000"/>
              </a:lnSpc>
            </a:pPr>
            <a:r>
              <a:rPr sz="900" b="0" dirty="0" err="1">
                <a:solidFill>
                  <a:srgbClr val="222222"/>
                </a:solidFill>
                <a:latin typeface="+mj-ea"/>
                <a:ea typeface="+mj-ea"/>
              </a:rPr>
              <a:t>고객</a:t>
            </a:r>
            <a:r>
              <a:rPr sz="900" b="0" dirty="0">
                <a:solidFill>
                  <a:srgbClr val="222222"/>
                </a:solidFill>
                <a:latin typeface="+mj-ea"/>
                <a:ea typeface="+mj-ea"/>
              </a:rPr>
              <a:t> </a:t>
            </a:r>
            <a:r>
              <a:rPr sz="900" b="0" dirty="0" err="1">
                <a:solidFill>
                  <a:srgbClr val="222222"/>
                </a:solidFill>
                <a:latin typeface="+mj-ea"/>
                <a:ea typeface="+mj-ea"/>
              </a:rPr>
              <a:t>workloa</a:t>
            </a:r>
            <a:r>
              <a:rPr lang="en-US" sz="900" dirty="0" err="1">
                <a:solidFill>
                  <a:srgbClr val="222222"/>
                </a:solidFill>
                <a:latin typeface="+mj-ea"/>
                <a:ea typeface="+mj-ea"/>
              </a:rPr>
              <a:t>d,</a:t>
            </a:r>
            <a:r>
              <a:rPr sz="900" b="0" dirty="0" err="1">
                <a:solidFill>
                  <a:srgbClr val="222222"/>
                </a:solidFill>
                <a:latin typeface="+mj-ea"/>
                <a:ea typeface="+mj-ea"/>
              </a:rPr>
              <a:t>요구</a:t>
            </a:r>
            <a:r>
              <a:rPr sz="900" b="0" dirty="0">
                <a:solidFill>
                  <a:srgbClr val="222222"/>
                </a:solidFill>
                <a:latin typeface="+mj-ea"/>
                <a:ea typeface="+mj-ea"/>
              </a:rPr>
              <a:t> </a:t>
            </a:r>
            <a:r>
              <a:rPr sz="900" b="0" dirty="0" err="1">
                <a:solidFill>
                  <a:srgbClr val="222222"/>
                </a:solidFill>
                <a:latin typeface="+mj-ea"/>
                <a:ea typeface="+mj-ea"/>
              </a:rPr>
              <a:t>선제</a:t>
            </a:r>
            <a:r>
              <a:rPr sz="900" b="0" dirty="0">
                <a:solidFill>
                  <a:srgbClr val="222222"/>
                </a:solidFill>
                <a:latin typeface="+mj-ea"/>
                <a:ea typeface="+mj-ea"/>
              </a:rPr>
              <a:t> </a:t>
            </a:r>
            <a:r>
              <a:rPr sz="900" b="0" dirty="0" err="1">
                <a:solidFill>
                  <a:srgbClr val="222222"/>
                </a:solidFill>
                <a:latin typeface="+mj-ea"/>
                <a:ea typeface="+mj-ea"/>
              </a:rPr>
              <a:t>파악</a:t>
            </a:r>
            <a:r>
              <a:rPr sz="900" b="0" dirty="0">
                <a:solidFill>
                  <a:srgbClr val="222222"/>
                </a:solidFill>
                <a:latin typeface="+mj-ea"/>
                <a:ea typeface="+mj-ea"/>
              </a:rPr>
              <a:t> → </a:t>
            </a:r>
            <a:r>
              <a:rPr sz="900" b="0" dirty="0" err="1">
                <a:solidFill>
                  <a:srgbClr val="222222"/>
                </a:solidFill>
                <a:latin typeface="+mj-ea"/>
                <a:ea typeface="+mj-ea"/>
              </a:rPr>
              <a:t>이기종</a:t>
            </a:r>
            <a:r>
              <a:rPr sz="900" b="0" dirty="0">
                <a:solidFill>
                  <a:srgbClr val="222222"/>
                </a:solidFill>
                <a:latin typeface="+mj-ea"/>
                <a:ea typeface="+mj-ea"/>
              </a:rPr>
              <a:t> </a:t>
            </a:r>
            <a:r>
              <a:rPr sz="900" b="0" dirty="0" err="1">
                <a:solidFill>
                  <a:srgbClr val="222222"/>
                </a:solidFill>
                <a:latin typeface="+mj-ea"/>
                <a:ea typeface="+mj-ea"/>
              </a:rPr>
              <a:t>메모리</a:t>
            </a:r>
            <a:r>
              <a:rPr sz="900" b="0" dirty="0">
                <a:solidFill>
                  <a:srgbClr val="222222"/>
                </a:solidFill>
                <a:latin typeface="+mj-ea"/>
                <a:ea typeface="+mj-ea"/>
              </a:rPr>
              <a:t> </a:t>
            </a:r>
            <a:endParaRPr lang="en-US" sz="900" b="0" dirty="0">
              <a:solidFill>
                <a:srgbClr val="222222"/>
              </a:solidFill>
              <a:latin typeface="+mj-ea"/>
              <a:ea typeface="+mj-ea"/>
            </a:endParaRPr>
          </a:p>
          <a:p>
            <a:pPr algn="ctr">
              <a:lnSpc>
                <a:spcPct val="125000"/>
              </a:lnSpc>
            </a:pPr>
            <a:r>
              <a:rPr sz="900" b="0" dirty="0" err="1">
                <a:solidFill>
                  <a:srgbClr val="222222"/>
                </a:solidFill>
                <a:latin typeface="+mj-ea"/>
                <a:ea typeface="+mj-ea"/>
              </a:rPr>
              <a:t>인지형</a:t>
            </a:r>
            <a:r>
              <a:rPr sz="900" b="0" dirty="0">
                <a:solidFill>
                  <a:srgbClr val="222222"/>
                </a:solidFill>
                <a:latin typeface="+mj-ea"/>
                <a:ea typeface="+mj-ea"/>
              </a:rPr>
              <a:t> </a:t>
            </a:r>
            <a:r>
              <a:rPr lang="en-US" sz="900" dirty="0">
                <a:solidFill>
                  <a:srgbClr val="222222"/>
                </a:solidFill>
                <a:latin typeface="+mj-ea"/>
                <a:ea typeface="+mj-ea"/>
              </a:rPr>
              <a:t>AI </a:t>
            </a:r>
            <a:r>
              <a:rPr lang="ko-KR" altLang="en-US" sz="900" dirty="0">
                <a:solidFill>
                  <a:srgbClr val="222222"/>
                </a:solidFill>
                <a:latin typeface="+mj-ea"/>
                <a:ea typeface="+mj-ea"/>
              </a:rPr>
              <a:t>런타임 </a:t>
            </a:r>
            <a:r>
              <a:rPr sz="900" b="0" dirty="0" err="1">
                <a:solidFill>
                  <a:srgbClr val="222222"/>
                </a:solidFill>
                <a:latin typeface="+mj-ea"/>
                <a:ea typeface="+mj-ea"/>
              </a:rPr>
              <a:t>연구</a:t>
            </a:r>
            <a:endParaRPr sz="900" b="0" dirty="0">
              <a:solidFill>
                <a:srgbClr val="222222"/>
              </a:solidFill>
              <a:latin typeface="+mj-ea"/>
              <a:ea typeface="+mj-ea"/>
            </a:endParaRPr>
          </a:p>
        </p:txBody>
      </p:sp>
      <p:sp>
        <p:nvSpPr>
          <p:cNvPr id="157" name="Business unit">
            <a:extLst>
              <a:ext uri="{FF2B5EF4-FFF2-40B4-BE49-F238E27FC236}">
                <a16:creationId xmlns:a16="http://schemas.microsoft.com/office/drawing/2014/main" id="{6657B398-553F-4050-BB27-324EA9F4960A}"/>
              </a:ext>
            </a:extLst>
          </p:cNvPr>
          <p:cNvSpPr/>
          <p:nvPr/>
        </p:nvSpPr>
        <p:spPr>
          <a:xfrm>
            <a:off x="4261104" y="4816605"/>
            <a:ext cx="1664208" cy="960120"/>
          </a:xfrm>
          <a:prstGeom prst="roundRect">
            <a:avLst>
              <a:gd name="adj" fmla="val 8000"/>
            </a:avLst>
          </a:prstGeom>
          <a:solidFill>
            <a:srgbClr val="F0F1F3"/>
          </a:solidFill>
          <a:ln w="12700">
            <a:solidFill>
              <a:srgbClr val="7F7F7F"/>
            </a:solidFill>
          </a:ln>
        </p:spPr>
        <p:txBody>
          <a:bodyPr wrap="square" lIns="45720" tIns="18288" rIns="45720" bIns="18288" rtlCol="0" anchor="ctr"/>
          <a:lstStyle/>
          <a:p>
            <a:pPr algn="ctr">
              <a:lnSpc>
                <a:spcPct val="150000"/>
              </a:lnSpc>
            </a:pPr>
            <a:r>
              <a:rPr sz="1100" b="1" dirty="0" err="1">
                <a:solidFill>
                  <a:srgbClr val="222222"/>
                </a:solidFill>
                <a:latin typeface="+mj-ea"/>
                <a:ea typeface="+mj-ea"/>
              </a:rPr>
              <a:t>사업부</a:t>
            </a:r>
            <a:endParaRPr sz="1100" b="1" dirty="0">
              <a:solidFill>
                <a:srgbClr val="222222"/>
              </a:solidFill>
              <a:latin typeface="+mj-ea"/>
              <a:ea typeface="+mj-ea"/>
            </a:endParaRPr>
          </a:p>
          <a:p>
            <a:pPr algn="ctr">
              <a:lnSpc>
                <a:spcPct val="125000"/>
              </a:lnSpc>
            </a:pPr>
            <a:r>
              <a:rPr sz="900" b="0" dirty="0" err="1">
                <a:solidFill>
                  <a:srgbClr val="555555"/>
                </a:solidFill>
                <a:latin typeface="+mj-ea"/>
                <a:ea typeface="+mj-ea"/>
              </a:rPr>
              <a:t>연구</a:t>
            </a:r>
            <a:r>
              <a:rPr sz="900" b="0" dirty="0">
                <a:solidFill>
                  <a:srgbClr val="555555"/>
                </a:solidFill>
                <a:latin typeface="+mj-ea"/>
                <a:ea typeface="+mj-ea"/>
              </a:rPr>
              <a:t> </a:t>
            </a:r>
            <a:r>
              <a:rPr sz="900" b="0" dirty="0" err="1">
                <a:solidFill>
                  <a:srgbClr val="555555"/>
                </a:solidFill>
                <a:latin typeface="+mj-ea"/>
                <a:ea typeface="+mj-ea"/>
              </a:rPr>
              <a:t>결과</a:t>
            </a:r>
            <a:r>
              <a:rPr lang="en-US" sz="900" b="0" dirty="0">
                <a:solidFill>
                  <a:srgbClr val="555555"/>
                </a:solidFill>
                <a:latin typeface="+mj-ea"/>
                <a:ea typeface="+mj-ea"/>
              </a:rPr>
              <a:t> </a:t>
            </a:r>
            <a:r>
              <a:rPr sz="900" b="0" dirty="0" err="1">
                <a:solidFill>
                  <a:srgbClr val="555555"/>
                </a:solidFill>
                <a:latin typeface="+mj-ea"/>
                <a:ea typeface="+mj-ea"/>
              </a:rPr>
              <a:t>반영</a:t>
            </a:r>
            <a:endParaRPr lang="en-US" sz="900" b="0" dirty="0">
              <a:solidFill>
                <a:srgbClr val="555555"/>
              </a:solidFill>
              <a:latin typeface="+mj-ea"/>
              <a:ea typeface="+mj-ea"/>
            </a:endParaRPr>
          </a:p>
          <a:p>
            <a:pPr algn="ctr">
              <a:lnSpc>
                <a:spcPct val="125000"/>
              </a:lnSpc>
            </a:pPr>
            <a:r>
              <a:rPr lang="ko-KR" altLang="en-US" sz="900" dirty="0">
                <a:solidFill>
                  <a:srgbClr val="222222"/>
                </a:solidFill>
                <a:latin typeface="+mj-ea"/>
              </a:rPr>
              <a:t>→ </a:t>
            </a:r>
            <a:r>
              <a:rPr lang="ko-KR" altLang="en-US" sz="900" dirty="0">
                <a:solidFill>
                  <a:srgbClr val="555555"/>
                </a:solidFill>
                <a:latin typeface="+mj-ea"/>
              </a:rPr>
              <a:t>차세대 </a:t>
            </a:r>
            <a:r>
              <a:rPr lang="en-US" altLang="ko-KR" sz="900" dirty="0">
                <a:solidFill>
                  <a:srgbClr val="555555"/>
                </a:solidFill>
                <a:latin typeface="+mj-ea"/>
              </a:rPr>
              <a:t>Device </a:t>
            </a:r>
            <a:r>
              <a:rPr lang="ko-KR" altLang="en-US" sz="900" dirty="0">
                <a:solidFill>
                  <a:srgbClr val="555555"/>
                </a:solidFill>
                <a:latin typeface="+mj-ea"/>
              </a:rPr>
              <a:t>개발</a:t>
            </a:r>
          </a:p>
        </p:txBody>
      </p:sp>
      <p:sp>
        <p:nvSpPr>
          <p:cNvPr id="158" name="flow arrow">
            <a:extLst>
              <a:ext uri="{FF2B5EF4-FFF2-40B4-BE49-F238E27FC236}">
                <a16:creationId xmlns:a16="http://schemas.microsoft.com/office/drawing/2014/main" id="{E339278A-C89C-4EAA-99F3-FFCBF3F8F261}"/>
              </a:ext>
            </a:extLst>
          </p:cNvPr>
          <p:cNvSpPr/>
          <p:nvPr/>
        </p:nvSpPr>
        <p:spPr>
          <a:xfrm>
            <a:off x="2039112" y="5186937"/>
            <a:ext cx="237744" cy="219456"/>
          </a:xfrm>
          <a:prstGeom prst="rightArrow">
            <a:avLst/>
          </a:prstGeom>
          <a:solidFill>
            <a:srgbClr val="7F7F7F"/>
          </a:solidFill>
          <a:ln>
            <a:noFill/>
          </a:ln>
        </p:spPr>
        <p:txBody>
          <a:bodyPr rtlCol="0" anchor="ctr"/>
          <a:lstStyle/>
          <a:p>
            <a:pPr algn="ctr"/>
            <a:endParaRPr/>
          </a:p>
        </p:txBody>
      </p:sp>
      <p:sp>
        <p:nvSpPr>
          <p:cNvPr id="159" name="flow arrow">
            <a:extLst>
              <a:ext uri="{FF2B5EF4-FFF2-40B4-BE49-F238E27FC236}">
                <a16:creationId xmlns:a16="http://schemas.microsoft.com/office/drawing/2014/main" id="{343CF676-4ACD-4B05-9FF3-AC348B04D1DC}"/>
              </a:ext>
            </a:extLst>
          </p:cNvPr>
          <p:cNvSpPr/>
          <p:nvPr/>
        </p:nvSpPr>
        <p:spPr>
          <a:xfrm>
            <a:off x="3995928" y="5186937"/>
            <a:ext cx="237744" cy="219456"/>
          </a:xfrm>
          <a:prstGeom prst="rightArrow">
            <a:avLst/>
          </a:prstGeom>
          <a:solidFill>
            <a:srgbClr val="7F7F7F"/>
          </a:solidFill>
          <a:ln>
            <a:noFill/>
          </a:ln>
        </p:spPr>
        <p:txBody>
          <a:bodyPr rtlCol="0" anchor="ctr"/>
          <a:lstStyle/>
          <a:p>
            <a:pPr algn="ctr"/>
            <a:endParaRPr/>
          </a:p>
        </p:txBody>
      </p:sp>
      <p:sp>
        <p:nvSpPr>
          <p:cNvPr id="160" name="Conclusion">
            <a:extLst>
              <a:ext uri="{FF2B5EF4-FFF2-40B4-BE49-F238E27FC236}">
                <a16:creationId xmlns:a16="http://schemas.microsoft.com/office/drawing/2014/main" id="{7F19F002-64D8-4D83-90E3-06335248ECD7}"/>
              </a:ext>
            </a:extLst>
          </p:cNvPr>
          <p:cNvSpPr/>
          <p:nvPr/>
        </p:nvSpPr>
        <p:spPr>
          <a:xfrm>
            <a:off x="347472" y="5985513"/>
            <a:ext cx="5577840" cy="310896"/>
          </a:xfrm>
          <a:prstGeom prst="roundRect">
            <a:avLst>
              <a:gd name="adj" fmla="val 20000"/>
            </a:avLst>
          </a:prstGeom>
          <a:solidFill>
            <a:srgbClr val="FDF1E7"/>
          </a:solidFill>
          <a:ln>
            <a:noFill/>
          </a:ln>
        </p:spPr>
        <p:txBody>
          <a:bodyPr wrap="square" lIns="45720" tIns="18288" rIns="45720" bIns="18288" rtlCol="0" anchor="ctr"/>
          <a:lstStyle/>
          <a:p>
            <a:pPr algn="ctr"/>
            <a:r>
              <a:rPr lang="ko-KR" altLang="en-US" sz="1050" b="1" dirty="0">
                <a:solidFill>
                  <a:srgbClr val="222222"/>
                </a:solidFill>
                <a:latin typeface="+mj-ea"/>
                <a:ea typeface="+mj-ea"/>
              </a:rPr>
              <a:t>당사의 다양한 제품을 고려한 </a:t>
            </a:r>
            <a:r>
              <a:rPr sz="1050" b="1" dirty="0" err="1">
                <a:solidFill>
                  <a:srgbClr val="C55A11"/>
                </a:solidFill>
                <a:latin typeface="+mj-ea"/>
                <a:ea typeface="+mj-ea"/>
              </a:rPr>
              <a:t>이기종</a:t>
            </a:r>
            <a:r>
              <a:rPr sz="1050" b="1" dirty="0">
                <a:solidFill>
                  <a:srgbClr val="C55A11"/>
                </a:solidFill>
                <a:latin typeface="+mj-ea"/>
                <a:ea typeface="+mj-ea"/>
              </a:rPr>
              <a:t> </a:t>
            </a:r>
            <a:r>
              <a:rPr sz="1050" b="1" dirty="0" err="1">
                <a:solidFill>
                  <a:srgbClr val="C55A11"/>
                </a:solidFill>
                <a:latin typeface="+mj-ea"/>
                <a:ea typeface="+mj-ea"/>
              </a:rPr>
              <a:t>메모리</a:t>
            </a:r>
            <a:r>
              <a:rPr sz="1050" b="1" dirty="0">
                <a:solidFill>
                  <a:srgbClr val="C55A11"/>
                </a:solidFill>
                <a:latin typeface="+mj-ea"/>
                <a:ea typeface="+mj-ea"/>
              </a:rPr>
              <a:t> </a:t>
            </a:r>
            <a:r>
              <a:rPr sz="1050" b="1" dirty="0" err="1">
                <a:solidFill>
                  <a:srgbClr val="C55A11"/>
                </a:solidFill>
                <a:latin typeface="+mj-ea"/>
                <a:ea typeface="+mj-ea"/>
              </a:rPr>
              <a:t>시스템</a:t>
            </a:r>
            <a:r>
              <a:rPr sz="1050" b="1" dirty="0">
                <a:solidFill>
                  <a:srgbClr val="C55A11"/>
                </a:solidFill>
                <a:latin typeface="+mj-ea"/>
                <a:ea typeface="+mj-ea"/>
              </a:rPr>
              <a:t> </a:t>
            </a:r>
            <a:r>
              <a:rPr sz="1050" b="1" dirty="0" err="1">
                <a:solidFill>
                  <a:srgbClr val="C55A11"/>
                </a:solidFill>
                <a:latin typeface="+mj-ea"/>
                <a:ea typeface="+mj-ea"/>
              </a:rPr>
              <a:t>연구</a:t>
            </a:r>
            <a:r>
              <a:rPr sz="1050" b="1" dirty="0">
                <a:solidFill>
                  <a:srgbClr val="222222"/>
                </a:solidFill>
                <a:latin typeface="+mj-ea"/>
                <a:ea typeface="+mj-ea"/>
              </a:rPr>
              <a:t> </a:t>
            </a:r>
            <a:r>
              <a:rPr sz="1050" b="1" dirty="0" err="1">
                <a:solidFill>
                  <a:srgbClr val="222222"/>
                </a:solidFill>
                <a:latin typeface="+mj-ea"/>
                <a:ea typeface="+mj-ea"/>
              </a:rPr>
              <a:t>필요</a:t>
            </a:r>
            <a:endParaRPr sz="1050" b="1" dirty="0">
              <a:solidFill>
                <a:srgbClr val="222222"/>
              </a:solidFill>
              <a:latin typeface="+mj-ea"/>
              <a:ea typeface="+mj-ea"/>
            </a:endParaRPr>
          </a:p>
        </p:txBody>
      </p:sp>
      <p:sp>
        <p:nvSpPr>
          <p:cNvPr id="161" name="Case box">
            <a:extLst>
              <a:ext uri="{FF2B5EF4-FFF2-40B4-BE49-F238E27FC236}">
                <a16:creationId xmlns:a16="http://schemas.microsoft.com/office/drawing/2014/main" id="{5DD0417E-7882-4D24-A2ED-3AFE9B562693}"/>
              </a:ext>
            </a:extLst>
          </p:cNvPr>
          <p:cNvSpPr/>
          <p:nvPr/>
        </p:nvSpPr>
        <p:spPr>
          <a:xfrm>
            <a:off x="347472" y="1808069"/>
            <a:ext cx="5577840" cy="2039723"/>
          </a:xfrm>
          <a:prstGeom prst="roundRect">
            <a:avLst>
              <a:gd name="adj" fmla="val 4000"/>
            </a:avLst>
          </a:prstGeom>
          <a:solidFill>
            <a:srgbClr val="F4F7FB"/>
          </a:solidFill>
          <a:ln>
            <a:noFill/>
          </a:ln>
        </p:spPr>
        <p:txBody>
          <a:bodyPr rtlCol="0" anchor="ctr"/>
          <a:lstStyle/>
          <a:p>
            <a:pPr algn="ctr"/>
            <a:endParaRPr/>
          </a:p>
        </p:txBody>
      </p:sp>
      <p:sp>
        <p:nvSpPr>
          <p:cNvPr id="162" name="TextBox 161">
            <a:extLst>
              <a:ext uri="{FF2B5EF4-FFF2-40B4-BE49-F238E27FC236}">
                <a16:creationId xmlns:a16="http://schemas.microsoft.com/office/drawing/2014/main" id="{7AFD0E6F-DD21-4A01-8EC4-C2D0D40E7DED}"/>
              </a:ext>
            </a:extLst>
          </p:cNvPr>
          <p:cNvSpPr txBox="1"/>
          <p:nvPr/>
        </p:nvSpPr>
        <p:spPr>
          <a:xfrm>
            <a:off x="475488" y="1881220"/>
            <a:ext cx="4572000" cy="182880"/>
          </a:xfrm>
          <a:prstGeom prst="rect">
            <a:avLst/>
          </a:prstGeom>
          <a:noFill/>
        </p:spPr>
        <p:txBody>
          <a:bodyPr wrap="square" lIns="0" tIns="0" rIns="0" bIns="0" anchor="t">
            <a:noAutofit/>
          </a:bodyPr>
          <a:lstStyle/>
          <a:p>
            <a:pPr algn="l"/>
            <a:r>
              <a:rPr sz="1050" b="1" dirty="0" err="1">
                <a:solidFill>
                  <a:srgbClr val="C55A11"/>
                </a:solidFill>
                <a:latin typeface="+mj-ea"/>
                <a:ea typeface="+mj-ea"/>
              </a:rPr>
              <a:t>참고</a:t>
            </a:r>
            <a:r>
              <a:rPr sz="1050" b="1" dirty="0">
                <a:solidFill>
                  <a:srgbClr val="C55A11"/>
                </a:solidFill>
                <a:latin typeface="+mj-ea"/>
                <a:ea typeface="+mj-ea"/>
              </a:rPr>
              <a:t> </a:t>
            </a:r>
            <a:r>
              <a:rPr sz="1050" b="1" dirty="0" err="1">
                <a:solidFill>
                  <a:srgbClr val="C55A11"/>
                </a:solidFill>
                <a:latin typeface="+mj-ea"/>
                <a:ea typeface="+mj-ea"/>
              </a:rPr>
              <a:t>사례</a:t>
            </a:r>
            <a:r>
              <a:rPr sz="1050" b="1" dirty="0">
                <a:solidFill>
                  <a:srgbClr val="222222"/>
                </a:solidFill>
                <a:latin typeface="+mj-ea"/>
                <a:ea typeface="+mj-ea"/>
              </a:rPr>
              <a:t>  </a:t>
            </a:r>
            <a:r>
              <a:rPr sz="1050" b="1" dirty="0" err="1">
                <a:solidFill>
                  <a:srgbClr val="222222"/>
                </a:solidFill>
                <a:latin typeface="+mj-ea"/>
                <a:ea typeface="+mj-ea"/>
              </a:rPr>
              <a:t>시장</a:t>
            </a:r>
            <a:r>
              <a:rPr sz="1050" b="1" dirty="0">
                <a:solidFill>
                  <a:srgbClr val="222222"/>
                </a:solidFill>
                <a:latin typeface="+mj-ea"/>
                <a:ea typeface="+mj-ea"/>
              </a:rPr>
              <a:t> </a:t>
            </a:r>
            <a:r>
              <a:rPr sz="1050" b="1" dirty="0" err="1">
                <a:solidFill>
                  <a:srgbClr val="222222"/>
                </a:solidFill>
                <a:latin typeface="+mj-ea"/>
                <a:ea typeface="+mj-ea"/>
              </a:rPr>
              <a:t>전환기</a:t>
            </a:r>
            <a:r>
              <a:rPr sz="1050" b="1" dirty="0">
                <a:solidFill>
                  <a:srgbClr val="222222"/>
                </a:solidFill>
                <a:latin typeface="+mj-ea"/>
                <a:ea typeface="+mj-ea"/>
              </a:rPr>
              <a:t>, </a:t>
            </a:r>
            <a:r>
              <a:rPr sz="1050" b="1" dirty="0" err="1">
                <a:solidFill>
                  <a:srgbClr val="222222"/>
                </a:solidFill>
                <a:latin typeface="+mj-ea"/>
                <a:ea typeface="+mj-ea"/>
              </a:rPr>
              <a:t>수요</a:t>
            </a:r>
            <a:r>
              <a:rPr sz="1050" b="1" dirty="0">
                <a:solidFill>
                  <a:srgbClr val="222222"/>
                </a:solidFill>
                <a:latin typeface="+mj-ea"/>
                <a:ea typeface="+mj-ea"/>
              </a:rPr>
              <a:t> </a:t>
            </a:r>
            <a:r>
              <a:rPr sz="1050" b="1" dirty="0" err="1">
                <a:solidFill>
                  <a:srgbClr val="222222"/>
                </a:solidFill>
                <a:latin typeface="+mj-ea"/>
                <a:ea typeface="+mj-ea"/>
              </a:rPr>
              <a:t>변곡점</a:t>
            </a:r>
            <a:r>
              <a:rPr sz="1050" b="1" dirty="0">
                <a:solidFill>
                  <a:srgbClr val="222222"/>
                </a:solidFill>
                <a:latin typeface="+mj-ea"/>
                <a:ea typeface="+mj-ea"/>
              </a:rPr>
              <a:t> </a:t>
            </a:r>
            <a:r>
              <a:rPr sz="1050" b="1" dirty="0" err="1">
                <a:solidFill>
                  <a:srgbClr val="222222"/>
                </a:solidFill>
                <a:latin typeface="+mj-ea"/>
                <a:ea typeface="+mj-ea"/>
              </a:rPr>
              <a:t>대응에</a:t>
            </a:r>
            <a:r>
              <a:rPr sz="1050" b="1" dirty="0">
                <a:solidFill>
                  <a:srgbClr val="222222"/>
                </a:solidFill>
                <a:latin typeface="+mj-ea"/>
                <a:ea typeface="+mj-ea"/>
              </a:rPr>
              <a:t> </a:t>
            </a:r>
            <a:r>
              <a:rPr sz="1050" b="1" dirty="0" err="1">
                <a:solidFill>
                  <a:srgbClr val="222222"/>
                </a:solidFill>
                <a:latin typeface="+mj-ea"/>
                <a:ea typeface="+mj-ea"/>
              </a:rPr>
              <a:t>걸린</a:t>
            </a:r>
            <a:r>
              <a:rPr sz="1050" b="1" dirty="0">
                <a:solidFill>
                  <a:srgbClr val="222222"/>
                </a:solidFill>
                <a:latin typeface="+mj-ea"/>
                <a:ea typeface="+mj-ea"/>
              </a:rPr>
              <a:t> </a:t>
            </a:r>
            <a:r>
              <a:rPr sz="1050" b="1" dirty="0" err="1">
                <a:solidFill>
                  <a:srgbClr val="222222"/>
                </a:solidFill>
                <a:latin typeface="+mj-ea"/>
                <a:ea typeface="+mj-ea"/>
              </a:rPr>
              <a:t>시간</a:t>
            </a:r>
            <a:r>
              <a:rPr sz="1050" b="1" dirty="0">
                <a:solidFill>
                  <a:srgbClr val="222222"/>
                </a:solidFill>
                <a:latin typeface="+mj-ea"/>
                <a:ea typeface="+mj-ea"/>
              </a:rPr>
              <a:t> (HBM)</a:t>
            </a:r>
          </a:p>
        </p:txBody>
      </p:sp>
      <p:sp>
        <p:nvSpPr>
          <p:cNvPr id="163" name="TextBox 162">
            <a:extLst>
              <a:ext uri="{FF2B5EF4-FFF2-40B4-BE49-F238E27FC236}">
                <a16:creationId xmlns:a16="http://schemas.microsoft.com/office/drawing/2014/main" id="{9091D874-470E-42D1-B9E2-EC24C784E2D6}"/>
              </a:ext>
            </a:extLst>
          </p:cNvPr>
          <p:cNvSpPr txBox="1"/>
          <p:nvPr/>
        </p:nvSpPr>
        <p:spPr>
          <a:xfrm>
            <a:off x="4828032" y="1899508"/>
            <a:ext cx="1005840" cy="146304"/>
          </a:xfrm>
          <a:prstGeom prst="rect">
            <a:avLst/>
          </a:prstGeom>
          <a:noFill/>
        </p:spPr>
        <p:txBody>
          <a:bodyPr wrap="square" lIns="0" tIns="0" rIns="0" bIns="0" anchor="t">
            <a:noAutofit/>
          </a:bodyPr>
          <a:lstStyle/>
          <a:p>
            <a:pPr algn="r"/>
            <a:r>
              <a:rPr sz="800" b="0" dirty="0" err="1">
                <a:solidFill>
                  <a:srgbClr val="555555"/>
                </a:solidFill>
                <a:latin typeface="+mj-ea"/>
                <a:ea typeface="+mj-ea"/>
              </a:rPr>
              <a:t>공개</a:t>
            </a:r>
            <a:r>
              <a:rPr sz="800" b="0" dirty="0">
                <a:solidFill>
                  <a:srgbClr val="555555"/>
                </a:solidFill>
                <a:latin typeface="+mj-ea"/>
                <a:ea typeface="+mj-ea"/>
              </a:rPr>
              <a:t> </a:t>
            </a:r>
            <a:r>
              <a:rPr sz="800" b="0" dirty="0" err="1">
                <a:solidFill>
                  <a:srgbClr val="555555"/>
                </a:solidFill>
                <a:latin typeface="+mj-ea"/>
                <a:ea typeface="+mj-ea"/>
              </a:rPr>
              <a:t>보도</a:t>
            </a:r>
            <a:r>
              <a:rPr sz="800" b="0" dirty="0">
                <a:solidFill>
                  <a:srgbClr val="555555"/>
                </a:solidFill>
                <a:latin typeface="+mj-ea"/>
                <a:ea typeface="+mj-ea"/>
              </a:rPr>
              <a:t> </a:t>
            </a:r>
            <a:r>
              <a:rPr sz="800" b="0" dirty="0" err="1">
                <a:solidFill>
                  <a:srgbClr val="555555"/>
                </a:solidFill>
                <a:latin typeface="+mj-ea"/>
                <a:ea typeface="+mj-ea"/>
              </a:rPr>
              <a:t>기준</a:t>
            </a:r>
            <a:endParaRPr sz="800" b="0" dirty="0">
              <a:solidFill>
                <a:srgbClr val="555555"/>
              </a:solidFill>
              <a:latin typeface="+mj-ea"/>
              <a:ea typeface="+mj-ea"/>
            </a:endParaRPr>
          </a:p>
        </p:txBody>
      </p:sp>
      <p:cxnSp>
        <p:nvCxnSpPr>
          <p:cNvPr id="164" name="Connector 151">
            <a:extLst>
              <a:ext uri="{FF2B5EF4-FFF2-40B4-BE49-F238E27FC236}">
                <a16:creationId xmlns:a16="http://schemas.microsoft.com/office/drawing/2014/main" id="{7DC344EC-6985-4B6C-8B7C-E4009CF78636}"/>
              </a:ext>
            </a:extLst>
          </p:cNvPr>
          <p:cNvCxnSpPr/>
          <p:nvPr/>
        </p:nvCxnSpPr>
        <p:spPr>
          <a:xfrm>
            <a:off x="621792" y="2466436"/>
            <a:ext cx="5029200" cy="0"/>
          </a:xfrm>
          <a:prstGeom prst="line">
            <a:avLst/>
          </a:prstGeom>
          <a:ln w="19050">
            <a:solidFill>
              <a:srgbClr val="A6A6A6"/>
            </a:solidFill>
          </a:ln>
        </p:spPr>
      </p:cxnSp>
      <p:sp>
        <p:nvSpPr>
          <p:cNvPr id="165" name="TextBox 164">
            <a:extLst>
              <a:ext uri="{FF2B5EF4-FFF2-40B4-BE49-F238E27FC236}">
                <a16:creationId xmlns:a16="http://schemas.microsoft.com/office/drawing/2014/main" id="{DF021E09-C593-4851-9F01-170106E4745E}"/>
              </a:ext>
            </a:extLst>
          </p:cNvPr>
          <p:cNvSpPr txBox="1"/>
          <p:nvPr/>
        </p:nvSpPr>
        <p:spPr>
          <a:xfrm>
            <a:off x="475488" y="2118963"/>
            <a:ext cx="1335024" cy="182880"/>
          </a:xfrm>
          <a:prstGeom prst="rect">
            <a:avLst/>
          </a:prstGeom>
          <a:noFill/>
        </p:spPr>
        <p:txBody>
          <a:bodyPr wrap="square" lIns="0" tIns="0" rIns="0" bIns="0" anchor="t">
            <a:noAutofit/>
          </a:bodyPr>
          <a:lstStyle/>
          <a:p>
            <a:pPr algn="ctr"/>
            <a:r>
              <a:rPr sz="1100" b="1">
                <a:solidFill>
                  <a:srgbClr val="2F6DB5"/>
                </a:solidFill>
                <a:latin typeface="+mj-ea"/>
                <a:ea typeface="+mj-ea"/>
              </a:rPr>
              <a:t>2016</a:t>
            </a:r>
          </a:p>
        </p:txBody>
      </p:sp>
      <p:sp>
        <p:nvSpPr>
          <p:cNvPr id="166" name="timeline dot">
            <a:extLst>
              <a:ext uri="{FF2B5EF4-FFF2-40B4-BE49-F238E27FC236}">
                <a16:creationId xmlns:a16="http://schemas.microsoft.com/office/drawing/2014/main" id="{7840A52F-DEB3-49C4-8004-31BEDA573DC9}"/>
              </a:ext>
            </a:extLst>
          </p:cNvPr>
          <p:cNvSpPr/>
          <p:nvPr/>
        </p:nvSpPr>
        <p:spPr>
          <a:xfrm>
            <a:off x="1078992" y="2402428"/>
            <a:ext cx="128016" cy="128016"/>
          </a:xfrm>
          <a:prstGeom prst="ellipse">
            <a:avLst/>
          </a:prstGeom>
          <a:solidFill>
            <a:srgbClr val="2F6DB5"/>
          </a:solidFill>
          <a:ln>
            <a:noFill/>
          </a:ln>
        </p:spPr>
        <p:txBody>
          <a:bodyPr rtlCol="0" anchor="ctr"/>
          <a:lstStyle/>
          <a:p>
            <a:pPr algn="ctr"/>
            <a:endParaRPr/>
          </a:p>
        </p:txBody>
      </p:sp>
      <p:sp>
        <p:nvSpPr>
          <p:cNvPr id="167" name="TextBox 166">
            <a:extLst>
              <a:ext uri="{FF2B5EF4-FFF2-40B4-BE49-F238E27FC236}">
                <a16:creationId xmlns:a16="http://schemas.microsoft.com/office/drawing/2014/main" id="{EFA66737-7E92-4F82-9606-6E9533AFD7A6}"/>
              </a:ext>
            </a:extLst>
          </p:cNvPr>
          <p:cNvSpPr txBox="1"/>
          <p:nvPr/>
        </p:nvSpPr>
        <p:spPr>
          <a:xfrm>
            <a:off x="475488" y="2594452"/>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HBM2 양산 개시</a:t>
            </a:r>
          </a:p>
        </p:txBody>
      </p:sp>
      <p:sp>
        <p:nvSpPr>
          <p:cNvPr id="168" name="TextBox 167">
            <a:extLst>
              <a:ext uri="{FF2B5EF4-FFF2-40B4-BE49-F238E27FC236}">
                <a16:creationId xmlns:a16="http://schemas.microsoft.com/office/drawing/2014/main" id="{3F861876-17C7-4D01-8E96-098E908FF03E}"/>
              </a:ext>
            </a:extLst>
          </p:cNvPr>
          <p:cNvSpPr txBox="1"/>
          <p:nvPr/>
        </p:nvSpPr>
        <p:spPr>
          <a:xfrm>
            <a:off x="512064" y="2786476"/>
            <a:ext cx="1261872" cy="676656"/>
          </a:xfrm>
          <a:prstGeom prst="rect">
            <a:avLst/>
          </a:prstGeom>
          <a:noFill/>
        </p:spPr>
        <p:txBody>
          <a:bodyPr wrap="square" lIns="0" tIns="0" rIns="0" bIns="0" anchor="t">
            <a:noAutofit/>
          </a:bodyPr>
          <a:lstStyle/>
          <a:p>
            <a:pPr algn="l">
              <a:lnSpc>
                <a:spcPct val="125000"/>
              </a:lnSpc>
            </a:pPr>
            <a:r>
              <a:rPr sz="800" b="0" dirty="0">
                <a:solidFill>
                  <a:srgbClr val="555555"/>
                </a:solidFill>
                <a:latin typeface="+mj-ea"/>
                <a:ea typeface="+mj-ea"/>
              </a:rPr>
              <a:t>GPU·HPC </a:t>
            </a:r>
            <a:r>
              <a:rPr sz="800" b="0" dirty="0" err="1">
                <a:solidFill>
                  <a:srgbClr val="555555"/>
                </a:solidFill>
                <a:latin typeface="+mj-ea"/>
                <a:ea typeface="+mj-ea"/>
              </a:rPr>
              <a:t>중심의</a:t>
            </a:r>
            <a:r>
              <a:rPr sz="800" b="0" dirty="0">
                <a:solidFill>
                  <a:srgbClr val="555555"/>
                </a:solidFill>
                <a:latin typeface="+mj-ea"/>
                <a:ea typeface="+mj-ea"/>
              </a:rPr>
              <a:t> </a:t>
            </a:r>
            <a:r>
              <a:rPr sz="800" b="0" dirty="0" err="1">
                <a:solidFill>
                  <a:srgbClr val="555555"/>
                </a:solidFill>
                <a:latin typeface="+mj-ea"/>
                <a:ea typeface="+mj-ea"/>
              </a:rPr>
              <a:t>소규모</a:t>
            </a:r>
            <a:r>
              <a:rPr sz="800" b="0" dirty="0">
                <a:solidFill>
                  <a:srgbClr val="555555"/>
                </a:solidFill>
                <a:latin typeface="+mj-ea"/>
                <a:ea typeface="+mj-ea"/>
              </a:rPr>
              <a:t> </a:t>
            </a:r>
            <a:r>
              <a:rPr sz="800" b="0" dirty="0" err="1">
                <a:solidFill>
                  <a:srgbClr val="555555"/>
                </a:solidFill>
                <a:latin typeface="+mj-ea"/>
                <a:ea typeface="+mj-ea"/>
              </a:rPr>
              <a:t>틈새</a:t>
            </a:r>
            <a:r>
              <a:rPr sz="800" b="0" dirty="0">
                <a:solidFill>
                  <a:srgbClr val="555555"/>
                </a:solidFill>
                <a:latin typeface="+mj-ea"/>
                <a:ea typeface="+mj-ea"/>
              </a:rPr>
              <a:t> </a:t>
            </a:r>
            <a:r>
              <a:rPr sz="800" b="0" dirty="0" err="1">
                <a:solidFill>
                  <a:srgbClr val="555555"/>
                </a:solidFill>
                <a:latin typeface="+mj-ea"/>
                <a:ea typeface="+mj-ea"/>
              </a:rPr>
              <a:t>시장</a:t>
            </a:r>
            <a:endParaRPr sz="800" b="0" dirty="0">
              <a:solidFill>
                <a:srgbClr val="555555"/>
              </a:solidFill>
              <a:latin typeface="+mj-ea"/>
              <a:ea typeface="+mj-ea"/>
            </a:endParaRPr>
          </a:p>
        </p:txBody>
      </p:sp>
      <p:sp>
        <p:nvSpPr>
          <p:cNvPr id="169" name="TextBox 168">
            <a:extLst>
              <a:ext uri="{FF2B5EF4-FFF2-40B4-BE49-F238E27FC236}">
                <a16:creationId xmlns:a16="http://schemas.microsoft.com/office/drawing/2014/main" id="{D8F47929-67E8-420C-8BD4-8BDFB0E1F56B}"/>
              </a:ext>
            </a:extLst>
          </p:cNvPr>
          <p:cNvSpPr txBox="1"/>
          <p:nvPr/>
        </p:nvSpPr>
        <p:spPr>
          <a:xfrm>
            <a:off x="1847088" y="2118963"/>
            <a:ext cx="1335024" cy="182880"/>
          </a:xfrm>
          <a:prstGeom prst="rect">
            <a:avLst/>
          </a:prstGeom>
          <a:noFill/>
        </p:spPr>
        <p:txBody>
          <a:bodyPr wrap="square" lIns="0" tIns="0" rIns="0" bIns="0" anchor="t">
            <a:noAutofit/>
          </a:bodyPr>
          <a:lstStyle/>
          <a:p>
            <a:pPr algn="ctr"/>
            <a:r>
              <a:rPr sz="1100" b="1">
                <a:solidFill>
                  <a:srgbClr val="2F6DB5"/>
                </a:solidFill>
                <a:latin typeface="+mj-ea"/>
                <a:ea typeface="+mj-ea"/>
              </a:rPr>
              <a:t>~2022</a:t>
            </a:r>
          </a:p>
        </p:txBody>
      </p:sp>
      <p:sp>
        <p:nvSpPr>
          <p:cNvPr id="170" name="timeline dot">
            <a:extLst>
              <a:ext uri="{FF2B5EF4-FFF2-40B4-BE49-F238E27FC236}">
                <a16:creationId xmlns:a16="http://schemas.microsoft.com/office/drawing/2014/main" id="{54B0998F-E545-420E-B989-1DCCEAEED8F5}"/>
              </a:ext>
            </a:extLst>
          </p:cNvPr>
          <p:cNvSpPr/>
          <p:nvPr/>
        </p:nvSpPr>
        <p:spPr>
          <a:xfrm>
            <a:off x="2450592" y="2402428"/>
            <a:ext cx="128016" cy="128016"/>
          </a:xfrm>
          <a:prstGeom prst="ellipse">
            <a:avLst/>
          </a:prstGeom>
          <a:solidFill>
            <a:srgbClr val="2F6DB5"/>
          </a:solidFill>
          <a:ln>
            <a:noFill/>
          </a:ln>
        </p:spPr>
        <p:txBody>
          <a:bodyPr rtlCol="0" anchor="ctr"/>
          <a:lstStyle/>
          <a:p>
            <a:pPr algn="ctr"/>
            <a:endParaRPr/>
          </a:p>
        </p:txBody>
      </p:sp>
      <p:sp>
        <p:nvSpPr>
          <p:cNvPr id="171" name="TextBox 170">
            <a:extLst>
              <a:ext uri="{FF2B5EF4-FFF2-40B4-BE49-F238E27FC236}">
                <a16:creationId xmlns:a16="http://schemas.microsoft.com/office/drawing/2014/main" id="{8C1F3E0E-2841-4121-B2B1-BDA761D96C54}"/>
              </a:ext>
            </a:extLst>
          </p:cNvPr>
          <p:cNvSpPr txBox="1"/>
          <p:nvPr/>
        </p:nvSpPr>
        <p:spPr>
          <a:xfrm>
            <a:off x="1847088" y="2594452"/>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범용 DRAM 집중</a:t>
            </a:r>
          </a:p>
        </p:txBody>
      </p:sp>
      <p:sp>
        <p:nvSpPr>
          <p:cNvPr id="172" name="TextBox 171">
            <a:extLst>
              <a:ext uri="{FF2B5EF4-FFF2-40B4-BE49-F238E27FC236}">
                <a16:creationId xmlns:a16="http://schemas.microsoft.com/office/drawing/2014/main" id="{B7D2F3F8-D830-4EB2-BD84-A4D895B79108}"/>
              </a:ext>
            </a:extLst>
          </p:cNvPr>
          <p:cNvSpPr txBox="1"/>
          <p:nvPr/>
        </p:nvSpPr>
        <p:spPr>
          <a:xfrm>
            <a:off x="1883664" y="2786476"/>
            <a:ext cx="1261872" cy="676656"/>
          </a:xfrm>
          <a:prstGeom prst="rect">
            <a:avLst/>
          </a:prstGeom>
          <a:noFill/>
        </p:spPr>
        <p:txBody>
          <a:bodyPr wrap="square" lIns="0" tIns="0" rIns="0" bIns="0" anchor="t">
            <a:noAutofit/>
          </a:bodyPr>
          <a:lstStyle/>
          <a:p>
            <a:pPr algn="l">
              <a:lnSpc>
                <a:spcPct val="125000"/>
              </a:lnSpc>
            </a:pPr>
            <a:r>
              <a:rPr sz="800" b="0" dirty="0" err="1">
                <a:solidFill>
                  <a:srgbClr val="555555"/>
                </a:solidFill>
                <a:latin typeface="+mj-ea"/>
                <a:ea typeface="+mj-ea"/>
              </a:rPr>
              <a:t>수요가</a:t>
            </a:r>
            <a:r>
              <a:rPr sz="800" b="0" dirty="0">
                <a:solidFill>
                  <a:srgbClr val="555555"/>
                </a:solidFill>
                <a:latin typeface="+mj-ea"/>
                <a:ea typeface="+mj-ea"/>
              </a:rPr>
              <a:t> </a:t>
            </a:r>
            <a:r>
              <a:rPr sz="800" b="0" dirty="0" err="1">
                <a:solidFill>
                  <a:srgbClr val="555555"/>
                </a:solidFill>
                <a:latin typeface="+mj-ea"/>
                <a:ea typeface="+mj-ea"/>
              </a:rPr>
              <a:t>제한적이던</a:t>
            </a:r>
            <a:r>
              <a:rPr sz="800" b="0" dirty="0">
                <a:solidFill>
                  <a:srgbClr val="555555"/>
                </a:solidFill>
                <a:latin typeface="+mj-ea"/>
                <a:ea typeface="+mj-ea"/>
              </a:rPr>
              <a:t> HBM </a:t>
            </a:r>
            <a:endParaRPr lang="en-US" sz="800" b="0" dirty="0">
              <a:solidFill>
                <a:srgbClr val="555555"/>
              </a:solidFill>
              <a:latin typeface="+mj-ea"/>
              <a:ea typeface="+mj-ea"/>
            </a:endParaRPr>
          </a:p>
          <a:p>
            <a:pPr algn="l">
              <a:lnSpc>
                <a:spcPct val="125000"/>
              </a:lnSpc>
            </a:pPr>
            <a:r>
              <a:rPr sz="800" b="0" dirty="0" err="1">
                <a:solidFill>
                  <a:srgbClr val="555555"/>
                </a:solidFill>
                <a:latin typeface="+mj-ea"/>
                <a:ea typeface="+mj-ea"/>
              </a:rPr>
              <a:t>대신</a:t>
            </a:r>
            <a:r>
              <a:rPr sz="800" b="0" dirty="0">
                <a:solidFill>
                  <a:srgbClr val="555555"/>
                </a:solidFill>
                <a:latin typeface="+mj-ea"/>
                <a:ea typeface="+mj-ea"/>
              </a:rPr>
              <a:t> </a:t>
            </a:r>
            <a:r>
              <a:rPr sz="800" b="0" dirty="0" err="1">
                <a:solidFill>
                  <a:srgbClr val="555555"/>
                </a:solidFill>
                <a:latin typeface="+mj-ea"/>
                <a:ea typeface="+mj-ea"/>
              </a:rPr>
              <a:t>범용</a:t>
            </a:r>
            <a:r>
              <a:rPr sz="800" b="0" dirty="0">
                <a:solidFill>
                  <a:srgbClr val="555555"/>
                </a:solidFill>
                <a:latin typeface="+mj-ea"/>
                <a:ea typeface="+mj-ea"/>
              </a:rPr>
              <a:t> DRAM</a:t>
            </a:r>
            <a:r>
              <a:rPr lang="en-US" sz="800" b="0" dirty="0">
                <a:solidFill>
                  <a:srgbClr val="555555"/>
                </a:solidFill>
                <a:latin typeface="+mj-ea"/>
                <a:ea typeface="+mj-ea"/>
              </a:rPr>
              <a:t> </a:t>
            </a:r>
            <a:r>
              <a:rPr sz="800" b="0" dirty="0" err="1">
                <a:solidFill>
                  <a:srgbClr val="555555"/>
                </a:solidFill>
                <a:latin typeface="+mj-ea"/>
                <a:ea typeface="+mj-ea"/>
              </a:rPr>
              <a:t>경쟁력에</a:t>
            </a:r>
            <a:r>
              <a:rPr sz="800" b="0" dirty="0">
                <a:solidFill>
                  <a:srgbClr val="555555"/>
                </a:solidFill>
                <a:latin typeface="+mj-ea"/>
                <a:ea typeface="+mj-ea"/>
              </a:rPr>
              <a:t> </a:t>
            </a:r>
            <a:r>
              <a:rPr sz="800" b="0" dirty="0" err="1">
                <a:solidFill>
                  <a:srgbClr val="555555"/>
                </a:solidFill>
                <a:latin typeface="+mj-ea"/>
                <a:ea typeface="+mj-ea"/>
              </a:rPr>
              <a:t>집중</a:t>
            </a:r>
            <a:endParaRPr sz="800" b="0" dirty="0">
              <a:solidFill>
                <a:srgbClr val="555555"/>
              </a:solidFill>
              <a:latin typeface="+mj-ea"/>
              <a:ea typeface="+mj-ea"/>
            </a:endParaRPr>
          </a:p>
        </p:txBody>
      </p:sp>
      <p:sp>
        <p:nvSpPr>
          <p:cNvPr id="173" name="TextBox 172">
            <a:extLst>
              <a:ext uri="{FF2B5EF4-FFF2-40B4-BE49-F238E27FC236}">
                <a16:creationId xmlns:a16="http://schemas.microsoft.com/office/drawing/2014/main" id="{ECAD46D3-A777-478C-A253-6C892443C6C0}"/>
              </a:ext>
            </a:extLst>
          </p:cNvPr>
          <p:cNvSpPr txBox="1"/>
          <p:nvPr/>
        </p:nvSpPr>
        <p:spPr>
          <a:xfrm>
            <a:off x="3218688" y="2118963"/>
            <a:ext cx="1335024" cy="182880"/>
          </a:xfrm>
          <a:prstGeom prst="rect">
            <a:avLst/>
          </a:prstGeom>
          <a:noFill/>
        </p:spPr>
        <p:txBody>
          <a:bodyPr wrap="square" lIns="0" tIns="0" rIns="0" bIns="0" anchor="t">
            <a:noAutofit/>
          </a:bodyPr>
          <a:lstStyle/>
          <a:p>
            <a:pPr algn="ctr"/>
            <a:r>
              <a:rPr sz="1100" b="1" dirty="0">
                <a:solidFill>
                  <a:srgbClr val="C55A11"/>
                </a:solidFill>
                <a:latin typeface="+mj-ea"/>
                <a:ea typeface="+mj-ea"/>
              </a:rPr>
              <a:t>2023~</a:t>
            </a:r>
          </a:p>
        </p:txBody>
      </p:sp>
      <p:sp>
        <p:nvSpPr>
          <p:cNvPr id="174" name="timeline dot">
            <a:extLst>
              <a:ext uri="{FF2B5EF4-FFF2-40B4-BE49-F238E27FC236}">
                <a16:creationId xmlns:a16="http://schemas.microsoft.com/office/drawing/2014/main" id="{458473B9-1CD8-4037-8C52-A9EBF83644BB}"/>
              </a:ext>
            </a:extLst>
          </p:cNvPr>
          <p:cNvSpPr/>
          <p:nvPr/>
        </p:nvSpPr>
        <p:spPr>
          <a:xfrm>
            <a:off x="3822191" y="2402428"/>
            <a:ext cx="128016" cy="128016"/>
          </a:xfrm>
          <a:prstGeom prst="ellipse">
            <a:avLst/>
          </a:prstGeom>
          <a:solidFill>
            <a:srgbClr val="C55A11"/>
          </a:solidFill>
          <a:ln>
            <a:noFill/>
          </a:ln>
        </p:spPr>
        <p:txBody>
          <a:bodyPr rtlCol="0" anchor="ctr"/>
          <a:lstStyle/>
          <a:p>
            <a:pPr algn="ctr"/>
            <a:endParaRPr/>
          </a:p>
        </p:txBody>
      </p:sp>
      <p:sp>
        <p:nvSpPr>
          <p:cNvPr id="175" name="TextBox 174">
            <a:extLst>
              <a:ext uri="{FF2B5EF4-FFF2-40B4-BE49-F238E27FC236}">
                <a16:creationId xmlns:a16="http://schemas.microsoft.com/office/drawing/2014/main" id="{59F8BD59-5AA7-4A58-AA3F-225BF2C95A75}"/>
              </a:ext>
            </a:extLst>
          </p:cNvPr>
          <p:cNvSpPr txBox="1"/>
          <p:nvPr/>
        </p:nvSpPr>
        <p:spPr>
          <a:xfrm>
            <a:off x="3218688" y="2594452"/>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AI 급부상</a:t>
            </a:r>
          </a:p>
        </p:txBody>
      </p:sp>
      <p:sp>
        <p:nvSpPr>
          <p:cNvPr id="176" name="TextBox 175">
            <a:extLst>
              <a:ext uri="{FF2B5EF4-FFF2-40B4-BE49-F238E27FC236}">
                <a16:creationId xmlns:a16="http://schemas.microsoft.com/office/drawing/2014/main" id="{42F8EB34-2138-4974-998F-49A2B82B25C5}"/>
              </a:ext>
            </a:extLst>
          </p:cNvPr>
          <p:cNvSpPr txBox="1"/>
          <p:nvPr/>
        </p:nvSpPr>
        <p:spPr>
          <a:xfrm>
            <a:off x="3255264" y="2786476"/>
            <a:ext cx="1261872" cy="387512"/>
          </a:xfrm>
          <a:prstGeom prst="rect">
            <a:avLst/>
          </a:prstGeom>
          <a:noFill/>
        </p:spPr>
        <p:txBody>
          <a:bodyPr wrap="square" lIns="0" tIns="0" rIns="0" bIns="0" anchor="t">
            <a:noAutofit/>
          </a:bodyPr>
          <a:lstStyle/>
          <a:p>
            <a:pPr algn="l">
              <a:lnSpc>
                <a:spcPct val="125000"/>
              </a:lnSpc>
            </a:pPr>
            <a:r>
              <a:rPr sz="800" b="0" dirty="0">
                <a:solidFill>
                  <a:srgbClr val="555555"/>
                </a:solidFill>
                <a:latin typeface="+mj-ea"/>
                <a:ea typeface="+mj-ea"/>
              </a:rPr>
              <a:t>HBM </a:t>
            </a:r>
            <a:r>
              <a:rPr sz="800" b="0" dirty="0" err="1">
                <a:solidFill>
                  <a:srgbClr val="555555"/>
                </a:solidFill>
                <a:latin typeface="+mj-ea"/>
                <a:ea typeface="+mj-ea"/>
              </a:rPr>
              <a:t>수요</a:t>
            </a:r>
            <a:r>
              <a:rPr sz="800" b="0" dirty="0">
                <a:solidFill>
                  <a:srgbClr val="555555"/>
                </a:solidFill>
                <a:latin typeface="+mj-ea"/>
                <a:ea typeface="+mj-ea"/>
              </a:rPr>
              <a:t> </a:t>
            </a:r>
            <a:r>
              <a:rPr sz="800" b="0" dirty="0" err="1">
                <a:solidFill>
                  <a:srgbClr val="555555"/>
                </a:solidFill>
                <a:latin typeface="+mj-ea"/>
                <a:ea typeface="+mj-ea"/>
              </a:rPr>
              <a:t>급증</a:t>
            </a:r>
            <a:r>
              <a:rPr sz="800" b="0" dirty="0">
                <a:solidFill>
                  <a:srgbClr val="555555"/>
                </a:solidFill>
                <a:latin typeface="+mj-ea"/>
                <a:ea typeface="+mj-ea"/>
              </a:rPr>
              <a:t>: 2024 $16B → 2025 $35B (2.2×)</a:t>
            </a:r>
          </a:p>
        </p:txBody>
      </p:sp>
      <p:sp>
        <p:nvSpPr>
          <p:cNvPr id="177" name="TextBox 176">
            <a:extLst>
              <a:ext uri="{FF2B5EF4-FFF2-40B4-BE49-F238E27FC236}">
                <a16:creationId xmlns:a16="http://schemas.microsoft.com/office/drawing/2014/main" id="{0F217585-5CD9-48CA-A5CA-6E494D70C461}"/>
              </a:ext>
            </a:extLst>
          </p:cNvPr>
          <p:cNvSpPr txBox="1"/>
          <p:nvPr/>
        </p:nvSpPr>
        <p:spPr>
          <a:xfrm>
            <a:off x="4590288" y="2118963"/>
            <a:ext cx="1335024" cy="182880"/>
          </a:xfrm>
          <a:prstGeom prst="rect">
            <a:avLst/>
          </a:prstGeom>
          <a:noFill/>
        </p:spPr>
        <p:txBody>
          <a:bodyPr wrap="square" lIns="0" tIns="0" rIns="0" bIns="0" anchor="t">
            <a:noAutofit/>
          </a:bodyPr>
          <a:lstStyle/>
          <a:p>
            <a:pPr algn="ctr"/>
            <a:r>
              <a:rPr sz="1100" b="1">
                <a:solidFill>
                  <a:srgbClr val="C55A11"/>
                </a:solidFill>
                <a:latin typeface="+mj-ea"/>
                <a:ea typeface="+mj-ea"/>
              </a:rPr>
              <a:t>2024~25</a:t>
            </a:r>
          </a:p>
        </p:txBody>
      </p:sp>
      <p:sp>
        <p:nvSpPr>
          <p:cNvPr id="178" name="timeline dot">
            <a:extLst>
              <a:ext uri="{FF2B5EF4-FFF2-40B4-BE49-F238E27FC236}">
                <a16:creationId xmlns:a16="http://schemas.microsoft.com/office/drawing/2014/main" id="{E5115058-AAF8-4FF8-8281-537800902D29}"/>
              </a:ext>
            </a:extLst>
          </p:cNvPr>
          <p:cNvSpPr/>
          <p:nvPr/>
        </p:nvSpPr>
        <p:spPr>
          <a:xfrm>
            <a:off x="5193792" y="2402428"/>
            <a:ext cx="128016" cy="128016"/>
          </a:xfrm>
          <a:prstGeom prst="ellipse">
            <a:avLst/>
          </a:prstGeom>
          <a:solidFill>
            <a:srgbClr val="C55A11"/>
          </a:solidFill>
          <a:ln>
            <a:noFill/>
          </a:ln>
        </p:spPr>
        <p:txBody>
          <a:bodyPr rtlCol="0" anchor="ctr"/>
          <a:lstStyle/>
          <a:p>
            <a:pPr algn="ctr"/>
            <a:endParaRPr/>
          </a:p>
        </p:txBody>
      </p:sp>
      <p:sp>
        <p:nvSpPr>
          <p:cNvPr id="179" name="TextBox 178">
            <a:extLst>
              <a:ext uri="{FF2B5EF4-FFF2-40B4-BE49-F238E27FC236}">
                <a16:creationId xmlns:a16="http://schemas.microsoft.com/office/drawing/2014/main" id="{048B1904-DC95-407E-84C8-C13F5413C035}"/>
              </a:ext>
            </a:extLst>
          </p:cNvPr>
          <p:cNvSpPr txBox="1"/>
          <p:nvPr/>
        </p:nvSpPr>
        <p:spPr>
          <a:xfrm>
            <a:off x="4590288" y="2594452"/>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대응에 시간 소요</a:t>
            </a:r>
          </a:p>
        </p:txBody>
      </p:sp>
      <p:sp>
        <p:nvSpPr>
          <p:cNvPr id="180" name="TextBox 179">
            <a:extLst>
              <a:ext uri="{FF2B5EF4-FFF2-40B4-BE49-F238E27FC236}">
                <a16:creationId xmlns:a16="http://schemas.microsoft.com/office/drawing/2014/main" id="{7F57237E-F5BA-4C1F-B6F4-CE33ED518896}"/>
              </a:ext>
            </a:extLst>
          </p:cNvPr>
          <p:cNvSpPr txBox="1"/>
          <p:nvPr/>
        </p:nvSpPr>
        <p:spPr>
          <a:xfrm>
            <a:off x="4626864" y="2786476"/>
            <a:ext cx="1261872" cy="676656"/>
          </a:xfrm>
          <a:prstGeom prst="rect">
            <a:avLst/>
          </a:prstGeom>
          <a:noFill/>
        </p:spPr>
        <p:txBody>
          <a:bodyPr wrap="square" lIns="0" tIns="0" rIns="0" bIns="0" anchor="t">
            <a:noAutofit/>
          </a:bodyPr>
          <a:lstStyle/>
          <a:p>
            <a:pPr algn="l">
              <a:lnSpc>
                <a:spcPct val="125000"/>
              </a:lnSpc>
            </a:pPr>
            <a:r>
              <a:rPr sz="800" b="0" dirty="0">
                <a:solidFill>
                  <a:srgbClr val="555555"/>
                </a:solidFill>
                <a:latin typeface="+mj-ea"/>
                <a:ea typeface="+mj-ea"/>
              </a:rPr>
              <a:t>HBM3E 12단 </a:t>
            </a:r>
            <a:r>
              <a:rPr sz="800" b="0" dirty="0" err="1">
                <a:solidFill>
                  <a:srgbClr val="555555"/>
                </a:solidFill>
                <a:latin typeface="+mj-ea"/>
                <a:ea typeface="+mj-ea"/>
              </a:rPr>
              <a:t>고객</a:t>
            </a:r>
            <a:r>
              <a:rPr sz="800" b="0" dirty="0">
                <a:solidFill>
                  <a:srgbClr val="555555"/>
                </a:solidFill>
                <a:latin typeface="+mj-ea"/>
                <a:ea typeface="+mj-ea"/>
              </a:rPr>
              <a:t> </a:t>
            </a:r>
            <a:r>
              <a:rPr sz="800" b="0" dirty="0" err="1">
                <a:solidFill>
                  <a:srgbClr val="555555"/>
                </a:solidFill>
                <a:latin typeface="+mj-ea"/>
                <a:ea typeface="+mj-ea"/>
              </a:rPr>
              <a:t>인증에</a:t>
            </a:r>
            <a:r>
              <a:rPr sz="800" b="0" dirty="0">
                <a:solidFill>
                  <a:srgbClr val="555555"/>
                </a:solidFill>
                <a:latin typeface="+mj-ea"/>
                <a:ea typeface="+mj-ea"/>
              </a:rPr>
              <a:t> </a:t>
            </a:r>
            <a:r>
              <a:rPr sz="800" b="0" dirty="0" err="1">
                <a:solidFill>
                  <a:srgbClr val="555555"/>
                </a:solidFill>
                <a:latin typeface="+mj-ea"/>
                <a:ea typeface="+mj-ea"/>
              </a:rPr>
              <a:t>시간</a:t>
            </a:r>
            <a:r>
              <a:rPr sz="800" b="0" dirty="0">
                <a:solidFill>
                  <a:srgbClr val="555555"/>
                </a:solidFill>
                <a:latin typeface="+mj-ea"/>
                <a:ea typeface="+mj-ea"/>
              </a:rPr>
              <a:t> </a:t>
            </a:r>
            <a:r>
              <a:rPr sz="800" b="0" dirty="0" err="1">
                <a:solidFill>
                  <a:srgbClr val="555555"/>
                </a:solidFill>
                <a:latin typeface="+mj-ea"/>
                <a:ea typeface="+mj-ea"/>
              </a:rPr>
              <a:t>소요</a:t>
            </a:r>
            <a:r>
              <a:rPr sz="800" b="0" dirty="0">
                <a:solidFill>
                  <a:srgbClr val="555555"/>
                </a:solidFill>
                <a:latin typeface="+mj-ea"/>
                <a:ea typeface="+mj-ea"/>
              </a:rPr>
              <a:t> (</a:t>
            </a:r>
            <a:r>
              <a:rPr sz="800" b="0" dirty="0" err="1">
                <a:solidFill>
                  <a:srgbClr val="555555"/>
                </a:solidFill>
                <a:latin typeface="+mj-ea"/>
                <a:ea typeface="+mj-ea"/>
              </a:rPr>
              <a:t>공개</a:t>
            </a:r>
            <a:r>
              <a:rPr sz="800" b="0" dirty="0">
                <a:solidFill>
                  <a:srgbClr val="555555"/>
                </a:solidFill>
                <a:latin typeface="+mj-ea"/>
                <a:ea typeface="+mj-ea"/>
              </a:rPr>
              <a:t> </a:t>
            </a:r>
            <a:r>
              <a:rPr sz="800" b="0" dirty="0" err="1">
                <a:solidFill>
                  <a:srgbClr val="555555"/>
                </a:solidFill>
                <a:latin typeface="+mj-ea"/>
                <a:ea typeface="+mj-ea"/>
              </a:rPr>
              <a:t>보도</a:t>
            </a:r>
            <a:r>
              <a:rPr sz="800" b="0" dirty="0">
                <a:solidFill>
                  <a:srgbClr val="555555"/>
                </a:solidFill>
                <a:latin typeface="+mj-ea"/>
                <a:ea typeface="+mj-ea"/>
              </a:rPr>
              <a:t>) </a:t>
            </a:r>
            <a:endParaRPr lang="en-US" sz="800" b="0" dirty="0">
              <a:solidFill>
                <a:srgbClr val="555555"/>
              </a:solidFill>
              <a:latin typeface="+mj-ea"/>
              <a:ea typeface="+mj-ea"/>
            </a:endParaRPr>
          </a:p>
          <a:p>
            <a:pPr algn="l">
              <a:lnSpc>
                <a:spcPct val="125000"/>
              </a:lnSpc>
            </a:pPr>
            <a:r>
              <a:rPr sz="800" b="0" dirty="0">
                <a:solidFill>
                  <a:srgbClr val="555555"/>
                </a:solidFill>
                <a:latin typeface="+mj-ea"/>
                <a:ea typeface="+mj-ea"/>
              </a:rPr>
              <a:t>→ HBM4 </a:t>
            </a:r>
            <a:r>
              <a:rPr sz="800" b="0" dirty="0" err="1">
                <a:solidFill>
                  <a:srgbClr val="555555"/>
                </a:solidFill>
                <a:latin typeface="+mj-ea"/>
                <a:ea typeface="+mj-ea"/>
              </a:rPr>
              <a:t>인증</a:t>
            </a:r>
            <a:r>
              <a:rPr sz="800" b="0" dirty="0">
                <a:solidFill>
                  <a:srgbClr val="555555"/>
                </a:solidFill>
                <a:latin typeface="+mj-ea"/>
                <a:ea typeface="+mj-ea"/>
              </a:rPr>
              <a:t> </a:t>
            </a:r>
            <a:r>
              <a:rPr sz="800" b="0" dirty="0" err="1">
                <a:solidFill>
                  <a:srgbClr val="555555"/>
                </a:solidFill>
                <a:latin typeface="+mj-ea"/>
                <a:ea typeface="+mj-ea"/>
              </a:rPr>
              <a:t>진행</a:t>
            </a:r>
            <a:endParaRPr sz="800" b="0" dirty="0">
              <a:solidFill>
                <a:srgbClr val="555555"/>
              </a:solidFill>
              <a:latin typeface="+mj-ea"/>
              <a:ea typeface="+mj-ea"/>
            </a:endParaRPr>
          </a:p>
        </p:txBody>
      </p:sp>
      <p:sp>
        <p:nvSpPr>
          <p:cNvPr id="181" name="Insight">
            <a:extLst>
              <a:ext uri="{FF2B5EF4-FFF2-40B4-BE49-F238E27FC236}">
                <a16:creationId xmlns:a16="http://schemas.microsoft.com/office/drawing/2014/main" id="{08845506-1E78-4859-A2FB-365EDAB0145F}"/>
              </a:ext>
            </a:extLst>
          </p:cNvPr>
          <p:cNvSpPr/>
          <p:nvPr/>
        </p:nvSpPr>
        <p:spPr>
          <a:xfrm>
            <a:off x="475488" y="3333825"/>
            <a:ext cx="5321807" cy="457200"/>
          </a:xfrm>
          <a:prstGeom prst="roundRect">
            <a:avLst>
              <a:gd name="adj" fmla="val 12000"/>
            </a:avLst>
          </a:prstGeom>
          <a:solidFill>
            <a:srgbClr val="FDF1E7"/>
          </a:solidFill>
          <a:ln>
            <a:noFill/>
          </a:ln>
        </p:spPr>
        <p:txBody>
          <a:bodyPr wrap="square" tIns="18288" bIns="18288" rtlCol="0" anchor="ctr"/>
          <a:lstStyle/>
          <a:p>
            <a:pPr algn="l">
              <a:lnSpc>
                <a:spcPct val="105000"/>
              </a:lnSpc>
            </a:pPr>
            <a:r>
              <a:rPr sz="1000" b="1" dirty="0" err="1">
                <a:solidFill>
                  <a:srgbClr val="C55A11"/>
                </a:solidFill>
                <a:latin typeface="+mj-ea"/>
                <a:ea typeface="+mj-ea"/>
              </a:rPr>
              <a:t>시사점</a:t>
            </a:r>
            <a:r>
              <a:rPr sz="1000" b="1" dirty="0">
                <a:solidFill>
                  <a:srgbClr val="C55A11"/>
                </a:solidFill>
                <a:latin typeface="+mj-ea"/>
                <a:ea typeface="+mj-ea"/>
              </a:rPr>
              <a:t>  </a:t>
            </a:r>
            <a:r>
              <a:rPr sz="1000" b="1" dirty="0" err="1">
                <a:solidFill>
                  <a:srgbClr val="222222"/>
                </a:solidFill>
                <a:latin typeface="+mj-ea"/>
                <a:ea typeface="+mj-ea"/>
              </a:rPr>
              <a:t>수요</a:t>
            </a:r>
            <a:r>
              <a:rPr sz="1000" b="1" dirty="0">
                <a:solidFill>
                  <a:srgbClr val="222222"/>
                </a:solidFill>
                <a:latin typeface="+mj-ea"/>
                <a:ea typeface="+mj-ea"/>
              </a:rPr>
              <a:t> </a:t>
            </a:r>
            <a:r>
              <a:rPr sz="1000" b="1" dirty="0" err="1">
                <a:solidFill>
                  <a:srgbClr val="222222"/>
                </a:solidFill>
                <a:latin typeface="+mj-ea"/>
                <a:ea typeface="+mj-ea"/>
              </a:rPr>
              <a:t>변곡점은</a:t>
            </a:r>
            <a:r>
              <a:rPr sz="1000" b="1" dirty="0">
                <a:solidFill>
                  <a:srgbClr val="222222"/>
                </a:solidFill>
                <a:latin typeface="+mj-ea"/>
                <a:ea typeface="+mj-ea"/>
              </a:rPr>
              <a:t> </a:t>
            </a:r>
            <a:r>
              <a:rPr sz="1000" b="1" dirty="0" err="1">
                <a:solidFill>
                  <a:srgbClr val="222222"/>
                </a:solidFill>
                <a:latin typeface="+mj-ea"/>
                <a:ea typeface="+mj-ea"/>
              </a:rPr>
              <a:t>예측보다</a:t>
            </a:r>
            <a:r>
              <a:rPr sz="1000" b="1" dirty="0">
                <a:solidFill>
                  <a:srgbClr val="222222"/>
                </a:solidFill>
                <a:latin typeface="+mj-ea"/>
                <a:ea typeface="+mj-ea"/>
              </a:rPr>
              <a:t> </a:t>
            </a:r>
            <a:r>
              <a:rPr sz="1000" b="1" dirty="0" err="1">
                <a:solidFill>
                  <a:srgbClr val="222222"/>
                </a:solidFill>
                <a:latin typeface="+mj-ea"/>
                <a:ea typeface="+mj-ea"/>
              </a:rPr>
              <a:t>빠르고</a:t>
            </a:r>
            <a:r>
              <a:rPr sz="1000" b="1" dirty="0">
                <a:solidFill>
                  <a:srgbClr val="222222"/>
                </a:solidFill>
                <a:latin typeface="+mj-ea"/>
                <a:ea typeface="+mj-ea"/>
              </a:rPr>
              <a:t>, </a:t>
            </a:r>
            <a:r>
              <a:rPr sz="1000" b="1" dirty="0" err="1">
                <a:solidFill>
                  <a:srgbClr val="222222"/>
                </a:solidFill>
                <a:latin typeface="+mj-ea"/>
                <a:ea typeface="+mj-ea"/>
              </a:rPr>
              <a:t>개발</a:t>
            </a:r>
            <a:r>
              <a:rPr lang="en-US" sz="1000" b="1" dirty="0">
                <a:solidFill>
                  <a:srgbClr val="222222"/>
                </a:solidFill>
                <a:latin typeface="+mj-ea"/>
                <a:ea typeface="+mj-ea"/>
              </a:rPr>
              <a:t>/</a:t>
            </a:r>
            <a:r>
              <a:rPr sz="1000" b="1" dirty="0" err="1">
                <a:solidFill>
                  <a:srgbClr val="222222"/>
                </a:solidFill>
                <a:latin typeface="+mj-ea"/>
                <a:ea typeface="+mj-ea"/>
              </a:rPr>
              <a:t>인증</a:t>
            </a:r>
            <a:r>
              <a:rPr lang="en-US" sz="1000" b="1" dirty="0">
                <a:solidFill>
                  <a:srgbClr val="222222"/>
                </a:solidFill>
                <a:latin typeface="+mj-ea"/>
                <a:ea typeface="+mj-ea"/>
              </a:rPr>
              <a:t>/</a:t>
            </a:r>
            <a:r>
              <a:rPr sz="1000" b="1" dirty="0" err="1">
                <a:solidFill>
                  <a:srgbClr val="222222"/>
                </a:solidFill>
                <a:latin typeface="+mj-ea"/>
                <a:ea typeface="+mj-ea"/>
              </a:rPr>
              <a:t>양산</a:t>
            </a:r>
            <a:r>
              <a:rPr sz="1000" b="1" dirty="0">
                <a:solidFill>
                  <a:srgbClr val="222222"/>
                </a:solidFill>
                <a:latin typeface="+mj-ea"/>
                <a:ea typeface="+mj-ea"/>
              </a:rPr>
              <a:t> </a:t>
            </a:r>
            <a:r>
              <a:rPr sz="1000" b="1" dirty="0" err="1">
                <a:solidFill>
                  <a:srgbClr val="222222"/>
                </a:solidFill>
                <a:latin typeface="+mj-ea"/>
                <a:ea typeface="+mj-ea"/>
              </a:rPr>
              <a:t>리드타임이</a:t>
            </a:r>
            <a:r>
              <a:rPr sz="1000" b="1" dirty="0">
                <a:solidFill>
                  <a:srgbClr val="222222"/>
                </a:solidFill>
                <a:latin typeface="+mj-ea"/>
                <a:ea typeface="+mj-ea"/>
              </a:rPr>
              <a:t> </a:t>
            </a:r>
            <a:r>
              <a:rPr sz="1000" b="1" dirty="0" err="1">
                <a:solidFill>
                  <a:srgbClr val="222222"/>
                </a:solidFill>
                <a:latin typeface="+mj-ea"/>
                <a:ea typeface="+mj-ea"/>
              </a:rPr>
              <a:t>대응</a:t>
            </a:r>
            <a:r>
              <a:rPr sz="1000" b="1" dirty="0">
                <a:solidFill>
                  <a:srgbClr val="222222"/>
                </a:solidFill>
                <a:latin typeface="+mj-ea"/>
                <a:ea typeface="+mj-ea"/>
              </a:rPr>
              <a:t> </a:t>
            </a:r>
            <a:r>
              <a:rPr sz="1000" b="1" dirty="0" err="1">
                <a:solidFill>
                  <a:srgbClr val="222222"/>
                </a:solidFill>
                <a:latin typeface="+mj-ea"/>
                <a:ea typeface="+mj-ea"/>
              </a:rPr>
              <a:t>속도를</a:t>
            </a:r>
            <a:r>
              <a:rPr sz="1000" b="1" dirty="0">
                <a:solidFill>
                  <a:srgbClr val="222222"/>
                </a:solidFill>
                <a:latin typeface="+mj-ea"/>
                <a:ea typeface="+mj-ea"/>
              </a:rPr>
              <a:t> </a:t>
            </a:r>
            <a:r>
              <a:rPr sz="1000" b="1" dirty="0" err="1">
                <a:solidFill>
                  <a:srgbClr val="222222"/>
                </a:solidFill>
                <a:latin typeface="+mj-ea"/>
                <a:ea typeface="+mj-ea"/>
              </a:rPr>
              <a:t>좌우</a:t>
            </a:r>
            <a:r>
              <a:rPr sz="1000" b="1" dirty="0">
                <a:solidFill>
                  <a:srgbClr val="222222"/>
                </a:solidFill>
                <a:latin typeface="+mj-ea"/>
                <a:ea typeface="+mj-ea"/>
              </a:rPr>
              <a:t> </a:t>
            </a:r>
            <a:endParaRPr lang="en-US" sz="1000" b="1" dirty="0">
              <a:solidFill>
                <a:srgbClr val="222222"/>
              </a:solidFill>
              <a:latin typeface="+mj-ea"/>
              <a:ea typeface="+mj-ea"/>
            </a:endParaRPr>
          </a:p>
          <a:p>
            <a:pPr algn="l">
              <a:lnSpc>
                <a:spcPct val="105000"/>
              </a:lnSpc>
            </a:pPr>
            <a:r>
              <a:rPr sz="1000" b="1" dirty="0">
                <a:solidFill>
                  <a:srgbClr val="0066FF"/>
                </a:solidFill>
                <a:latin typeface="+mj-ea"/>
                <a:ea typeface="+mj-ea"/>
              </a:rPr>
              <a:t>→ </a:t>
            </a:r>
            <a:r>
              <a:rPr sz="1000" b="1" dirty="0" err="1">
                <a:solidFill>
                  <a:srgbClr val="0066FF"/>
                </a:solidFill>
                <a:latin typeface="+mj-ea"/>
                <a:ea typeface="+mj-ea"/>
              </a:rPr>
              <a:t>다음</a:t>
            </a:r>
            <a:r>
              <a:rPr sz="1000" b="1" dirty="0">
                <a:solidFill>
                  <a:srgbClr val="0066FF"/>
                </a:solidFill>
                <a:latin typeface="+mj-ea"/>
                <a:ea typeface="+mj-ea"/>
              </a:rPr>
              <a:t> </a:t>
            </a:r>
            <a:r>
              <a:rPr sz="1000" b="1" dirty="0" err="1">
                <a:solidFill>
                  <a:srgbClr val="0066FF"/>
                </a:solidFill>
                <a:latin typeface="+mj-ea"/>
                <a:ea typeface="+mj-ea"/>
              </a:rPr>
              <a:t>수요</a:t>
            </a:r>
            <a:r>
              <a:rPr sz="1000" b="1" dirty="0">
                <a:solidFill>
                  <a:srgbClr val="0066FF"/>
                </a:solidFill>
                <a:latin typeface="+mj-ea"/>
                <a:ea typeface="+mj-ea"/>
              </a:rPr>
              <a:t> </a:t>
            </a:r>
            <a:r>
              <a:rPr sz="1000" b="1" dirty="0" err="1">
                <a:solidFill>
                  <a:srgbClr val="0066FF"/>
                </a:solidFill>
                <a:latin typeface="+mj-ea"/>
                <a:ea typeface="+mj-ea"/>
              </a:rPr>
              <a:t>후보를</a:t>
            </a:r>
            <a:r>
              <a:rPr sz="1000" b="1" dirty="0">
                <a:solidFill>
                  <a:srgbClr val="0066FF"/>
                </a:solidFill>
                <a:latin typeface="+mj-ea"/>
                <a:ea typeface="+mj-ea"/>
              </a:rPr>
              <a:t> </a:t>
            </a:r>
            <a:r>
              <a:rPr sz="1000" b="1" dirty="0" err="1">
                <a:solidFill>
                  <a:srgbClr val="0066FF"/>
                </a:solidFill>
                <a:latin typeface="+mj-ea"/>
                <a:ea typeface="+mj-ea"/>
              </a:rPr>
              <a:t>미리</a:t>
            </a:r>
            <a:r>
              <a:rPr sz="1000" b="1" dirty="0">
                <a:solidFill>
                  <a:srgbClr val="0066FF"/>
                </a:solidFill>
                <a:latin typeface="+mj-ea"/>
                <a:ea typeface="+mj-ea"/>
              </a:rPr>
              <a:t> </a:t>
            </a:r>
            <a:r>
              <a:rPr sz="1000" b="1" dirty="0" err="1">
                <a:solidFill>
                  <a:srgbClr val="0066FF"/>
                </a:solidFill>
                <a:latin typeface="+mj-ea"/>
                <a:ea typeface="+mj-ea"/>
              </a:rPr>
              <a:t>연구해</a:t>
            </a:r>
            <a:r>
              <a:rPr sz="1000" b="1" dirty="0">
                <a:solidFill>
                  <a:srgbClr val="0066FF"/>
                </a:solidFill>
                <a:latin typeface="+mj-ea"/>
                <a:ea typeface="+mj-ea"/>
              </a:rPr>
              <a:t> 둘 </a:t>
            </a:r>
            <a:r>
              <a:rPr sz="1000" b="1" dirty="0" err="1">
                <a:solidFill>
                  <a:srgbClr val="0066FF"/>
                </a:solidFill>
                <a:latin typeface="+mj-ea"/>
                <a:ea typeface="+mj-ea"/>
              </a:rPr>
              <a:t>필요</a:t>
            </a:r>
            <a:endParaRPr sz="1000" b="1" dirty="0">
              <a:solidFill>
                <a:srgbClr val="0066FF"/>
              </a:solidFill>
              <a:latin typeface="+mj-ea"/>
              <a:ea typeface="+mj-ea"/>
            </a:endParaRPr>
          </a:p>
        </p:txBody>
      </p:sp>
      <p:sp>
        <p:nvSpPr>
          <p:cNvPr id="182" name="TextBox 181">
            <a:extLst>
              <a:ext uri="{FF2B5EF4-FFF2-40B4-BE49-F238E27FC236}">
                <a16:creationId xmlns:a16="http://schemas.microsoft.com/office/drawing/2014/main" id="{59C04A12-23FA-420E-A103-80FB627BE3AA}"/>
              </a:ext>
            </a:extLst>
          </p:cNvPr>
          <p:cNvSpPr txBox="1"/>
          <p:nvPr/>
        </p:nvSpPr>
        <p:spPr>
          <a:xfrm>
            <a:off x="355600" y="6662601"/>
            <a:ext cx="5321807" cy="128016"/>
          </a:xfrm>
          <a:prstGeom prst="rect">
            <a:avLst/>
          </a:prstGeom>
          <a:noFill/>
        </p:spPr>
        <p:txBody>
          <a:bodyPr wrap="square" lIns="0" tIns="0" rIns="0" bIns="0" anchor="t">
            <a:noAutofit/>
          </a:bodyPr>
          <a:lstStyle/>
          <a:p>
            <a:pPr algn="l"/>
            <a:r>
              <a:rPr sz="650" b="0" dirty="0" err="1">
                <a:solidFill>
                  <a:srgbClr val="555555"/>
                </a:solidFill>
                <a:latin typeface="+mj-ea"/>
                <a:ea typeface="+mj-ea"/>
              </a:rPr>
              <a:t>출처</a:t>
            </a:r>
            <a:r>
              <a:rPr sz="650" b="0" dirty="0">
                <a:solidFill>
                  <a:srgbClr val="555555"/>
                </a:solidFill>
                <a:latin typeface="+mj-ea"/>
                <a:ea typeface="+mj-ea"/>
              </a:rPr>
              <a:t>: Micron(HBM TAM), </a:t>
            </a:r>
            <a:r>
              <a:rPr sz="650" b="0" dirty="0" err="1">
                <a:solidFill>
                  <a:srgbClr val="555555"/>
                </a:solidFill>
                <a:latin typeface="+mj-ea"/>
                <a:ea typeface="+mj-ea"/>
              </a:rPr>
              <a:t>공개</a:t>
            </a:r>
            <a:r>
              <a:rPr sz="650" b="0" dirty="0">
                <a:solidFill>
                  <a:srgbClr val="555555"/>
                </a:solidFill>
                <a:latin typeface="+mj-ea"/>
                <a:ea typeface="+mj-ea"/>
              </a:rPr>
              <a:t> </a:t>
            </a:r>
            <a:r>
              <a:rPr sz="650" b="0" dirty="0" err="1">
                <a:solidFill>
                  <a:srgbClr val="555555"/>
                </a:solidFill>
                <a:latin typeface="+mj-ea"/>
                <a:ea typeface="+mj-ea"/>
              </a:rPr>
              <a:t>보도</a:t>
            </a:r>
            <a:r>
              <a:rPr sz="650" b="0" dirty="0">
                <a:solidFill>
                  <a:srgbClr val="555555"/>
                </a:solidFill>
                <a:latin typeface="+mj-ea"/>
                <a:ea typeface="+mj-ea"/>
              </a:rPr>
              <a:t>(</a:t>
            </a:r>
            <a:r>
              <a:rPr sz="650" b="0" dirty="0" err="1">
                <a:solidFill>
                  <a:srgbClr val="555555"/>
                </a:solidFill>
                <a:latin typeface="+mj-ea"/>
                <a:ea typeface="+mj-ea"/>
              </a:rPr>
              <a:t>삼성</a:t>
            </a:r>
            <a:r>
              <a:rPr sz="650" b="0" dirty="0">
                <a:solidFill>
                  <a:srgbClr val="555555"/>
                </a:solidFill>
                <a:latin typeface="+mj-ea"/>
                <a:ea typeface="+mj-ea"/>
              </a:rPr>
              <a:t> HBM2 </a:t>
            </a:r>
            <a:r>
              <a:rPr sz="650" b="0" dirty="0" err="1">
                <a:solidFill>
                  <a:srgbClr val="555555"/>
                </a:solidFill>
                <a:latin typeface="+mj-ea"/>
                <a:ea typeface="+mj-ea"/>
              </a:rPr>
              <a:t>양산</a:t>
            </a:r>
            <a:r>
              <a:rPr sz="650" b="0" dirty="0">
                <a:solidFill>
                  <a:srgbClr val="555555"/>
                </a:solidFill>
                <a:latin typeface="+mj-ea"/>
                <a:ea typeface="+mj-ea"/>
              </a:rPr>
              <a:t> 2016.1; HBM3E/HBM4 </a:t>
            </a:r>
            <a:r>
              <a:rPr sz="650" b="0" dirty="0" err="1">
                <a:solidFill>
                  <a:srgbClr val="555555"/>
                </a:solidFill>
                <a:latin typeface="+mj-ea"/>
                <a:ea typeface="+mj-ea"/>
              </a:rPr>
              <a:t>인증</a:t>
            </a:r>
            <a:r>
              <a:rPr sz="650" b="0" dirty="0">
                <a:solidFill>
                  <a:srgbClr val="555555"/>
                </a:solidFill>
                <a:latin typeface="+mj-ea"/>
                <a:ea typeface="+mj-ea"/>
              </a:rPr>
              <a:t> </a:t>
            </a:r>
            <a:r>
              <a:rPr sz="650" b="0" dirty="0" err="1">
                <a:solidFill>
                  <a:srgbClr val="555555"/>
                </a:solidFill>
                <a:latin typeface="+mj-ea"/>
                <a:ea typeface="+mj-ea"/>
              </a:rPr>
              <a:t>관련</a:t>
            </a:r>
            <a:r>
              <a:rPr sz="650" b="0" dirty="0">
                <a:solidFill>
                  <a:srgbClr val="555555"/>
                </a:solidFill>
                <a:latin typeface="+mj-ea"/>
                <a:ea typeface="+mj-ea"/>
              </a:rPr>
              <a:t> Bloomberg 2026.1, Korea Times 2025.1 등)</a:t>
            </a:r>
          </a:p>
        </p:txBody>
      </p:sp>
      <p:sp>
        <p:nvSpPr>
          <p:cNvPr id="214" name="TextBox 213">
            <a:extLst>
              <a:ext uri="{FF2B5EF4-FFF2-40B4-BE49-F238E27FC236}">
                <a16:creationId xmlns:a16="http://schemas.microsoft.com/office/drawing/2014/main" id="{4FCDC9F5-D66A-4E36-8843-200B176A9619}"/>
              </a:ext>
            </a:extLst>
          </p:cNvPr>
          <p:cNvSpPr txBox="1"/>
          <p:nvPr/>
        </p:nvSpPr>
        <p:spPr>
          <a:xfrm>
            <a:off x="6232394" y="6554591"/>
            <a:ext cx="5479760" cy="270843"/>
          </a:xfrm>
          <a:prstGeom prst="rect">
            <a:avLst/>
          </a:prstGeom>
          <a:noFill/>
        </p:spPr>
        <p:txBody>
          <a:bodyPr wrap="square" lIns="45720" tIns="27432" rIns="45720" bIns="27432" anchor="t">
            <a:spAutoFit/>
          </a:bodyPr>
          <a:lstStyle/>
          <a:p>
            <a:r>
              <a:rPr lang="ko-KR" altLang="en-US" sz="700" dirty="0">
                <a:solidFill>
                  <a:srgbClr val="595959"/>
                </a:solidFill>
                <a:ea typeface="맑은 고딕"/>
                <a:cs typeface="맑은 고딕"/>
              </a:rPr>
              <a:t>① </a:t>
            </a:r>
            <a:r>
              <a:rPr sz="700" b="0" dirty="0">
                <a:solidFill>
                  <a:srgbClr val="595959"/>
                </a:solidFill>
                <a:latin typeface="맑은 고딕"/>
                <a:ea typeface="맑은 고딕"/>
                <a:cs typeface="맑은 고딕"/>
              </a:rPr>
              <a:t>H100 80GB, Llama-3.1-8B-Instruct, CPU DRAM 128GB offload, </a:t>
            </a:r>
            <a:r>
              <a:rPr sz="700" b="0" dirty="0" err="1">
                <a:solidFill>
                  <a:srgbClr val="595959"/>
                </a:solidFill>
                <a:latin typeface="맑은 고딕"/>
                <a:ea typeface="맑은 고딕"/>
                <a:cs typeface="맑은 고딕"/>
              </a:rPr>
              <a:t>vLLM</a:t>
            </a:r>
            <a:r>
              <a:rPr sz="700" b="0" dirty="0">
                <a:solidFill>
                  <a:srgbClr val="595959"/>
                </a:solidFill>
                <a:latin typeface="맑은 고딕"/>
                <a:ea typeface="맑은 고딕"/>
                <a:cs typeface="맑은 고딕"/>
              </a:rPr>
              <a:t> native connector (</a:t>
            </a:r>
            <a:r>
              <a:rPr sz="700" b="0" dirty="0" err="1">
                <a:solidFill>
                  <a:srgbClr val="595959"/>
                </a:solidFill>
                <a:latin typeface="맑은 고딕"/>
                <a:ea typeface="맑은 고딕"/>
                <a:cs typeface="맑은 고딕"/>
              </a:rPr>
              <a:t>동시성</a:t>
            </a:r>
            <a:r>
              <a:rPr sz="700" b="0" dirty="0">
                <a:solidFill>
                  <a:srgbClr val="595959"/>
                </a:solidFill>
                <a:latin typeface="맑은 고딕"/>
                <a:ea typeface="맑은 고딕"/>
                <a:cs typeface="맑은 고딕"/>
              </a:rPr>
              <a:t> </a:t>
            </a:r>
            <a:r>
              <a:rPr sz="700" b="0" dirty="0" err="1">
                <a:solidFill>
                  <a:srgbClr val="595959"/>
                </a:solidFill>
                <a:latin typeface="맑은 고딕"/>
                <a:ea typeface="맑은 고딕"/>
                <a:cs typeface="맑은 고딕"/>
              </a:rPr>
              <a:t>높은</a:t>
            </a:r>
            <a:r>
              <a:rPr sz="700" b="0" dirty="0">
                <a:solidFill>
                  <a:srgbClr val="595959"/>
                </a:solidFill>
                <a:latin typeface="맑은 고딕"/>
                <a:ea typeface="맑은 고딕"/>
                <a:cs typeface="맑은 고딕"/>
              </a:rPr>
              <a:t> </a:t>
            </a:r>
            <a:r>
              <a:rPr sz="700" b="0" dirty="0" err="1">
                <a:solidFill>
                  <a:srgbClr val="595959"/>
                </a:solidFill>
                <a:latin typeface="맑은 고딕"/>
                <a:ea typeface="맑은 고딕"/>
                <a:cs typeface="맑은 고딕"/>
              </a:rPr>
              <a:t>부하</a:t>
            </a:r>
            <a:r>
              <a:rPr sz="700" b="0" dirty="0">
                <a:solidFill>
                  <a:srgbClr val="595959"/>
                </a:solidFill>
                <a:latin typeface="맑은 고딕"/>
                <a:ea typeface="맑은 고딕"/>
                <a:cs typeface="맑은 고딕"/>
              </a:rPr>
              <a:t>)</a:t>
            </a:r>
            <a:endParaRPr lang="en-US" sz="700" b="0" dirty="0">
              <a:solidFill>
                <a:srgbClr val="595959"/>
              </a:solidFill>
              <a:latin typeface="맑은 고딕"/>
              <a:ea typeface="맑은 고딕"/>
              <a:cs typeface="맑은 고딕"/>
            </a:endParaRPr>
          </a:p>
          <a:p>
            <a:r>
              <a:rPr lang="en-US" altLang="ko-KR" sz="700" dirty="0">
                <a:solidFill>
                  <a:srgbClr val="595959"/>
                </a:solidFill>
                <a:ea typeface="맑은 고딕"/>
                <a:cs typeface="맑은 고딕"/>
              </a:rPr>
              <a:t>② H100 2</a:t>
            </a:r>
            <a:r>
              <a:rPr lang="ko-KR" altLang="en-US" sz="700" dirty="0">
                <a:solidFill>
                  <a:srgbClr val="595959"/>
                </a:solidFill>
                <a:ea typeface="맑은 고딕"/>
                <a:cs typeface="맑은 고딕"/>
              </a:rPr>
              <a:t>노드</a:t>
            </a:r>
            <a:r>
              <a:rPr lang="en-US" altLang="ko-KR" sz="700" dirty="0">
                <a:solidFill>
                  <a:srgbClr val="595959"/>
                </a:solidFill>
                <a:ea typeface="맑은 고딕"/>
                <a:cs typeface="맑은 고딕"/>
              </a:rPr>
              <a:t>, GLM-4.5-fp8, mini-SWE-agent, </a:t>
            </a:r>
            <a:r>
              <a:rPr lang="ko-KR" altLang="en-US" sz="700" dirty="0">
                <a:solidFill>
                  <a:srgbClr val="595959"/>
                </a:solidFill>
                <a:ea typeface="맑은 고딕"/>
                <a:cs typeface="맑은 고딕"/>
              </a:rPr>
              <a:t>동시 </a:t>
            </a:r>
            <a:r>
              <a:rPr lang="en-US" altLang="ko-KR" sz="700" dirty="0">
                <a:solidFill>
                  <a:srgbClr val="595959"/>
                </a:solidFill>
                <a:ea typeface="맑은 고딕"/>
                <a:cs typeface="맑은 고딕"/>
              </a:rPr>
              <a:t>144 programs (</a:t>
            </a:r>
            <a:r>
              <a:rPr lang="ko-KR" altLang="en-US" sz="700" dirty="0">
                <a:solidFill>
                  <a:srgbClr val="595959"/>
                </a:solidFill>
                <a:ea typeface="맑은 고딕"/>
                <a:cs typeface="맑은 고딕"/>
              </a:rPr>
              <a:t>벤치마크 전반 </a:t>
            </a:r>
            <a:r>
              <a:rPr lang="en-US" altLang="ko-KR" sz="700" dirty="0">
                <a:solidFill>
                  <a:srgbClr val="595959"/>
                </a:solidFill>
                <a:ea typeface="맑은 고딕"/>
                <a:cs typeface="맑은 고딕"/>
              </a:rPr>
              <a:t>1.48–3.58×)</a:t>
            </a:r>
          </a:p>
        </p:txBody>
      </p:sp>
      <p:sp>
        <p:nvSpPr>
          <p:cNvPr id="77" name="모서리가 둥근 직사각형 76"/>
          <p:cNvSpPr/>
          <p:nvPr/>
        </p:nvSpPr>
        <p:spPr>
          <a:xfrm>
            <a:off x="212656" y="1119861"/>
            <a:ext cx="5844033" cy="5234555"/>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81" name="TextBox 80">
            <a:extLst>
              <a:ext uri="{FF2B5EF4-FFF2-40B4-BE49-F238E27FC236}">
                <a16:creationId xmlns:a16="http://schemas.microsoft.com/office/drawing/2014/main" id="{7AF71897-E419-4A9C-A232-B7F53889C234}"/>
              </a:ext>
            </a:extLst>
          </p:cNvPr>
          <p:cNvSpPr txBox="1"/>
          <p:nvPr/>
        </p:nvSpPr>
        <p:spPr>
          <a:xfrm>
            <a:off x="212655" y="649600"/>
            <a:ext cx="5917896" cy="323165"/>
          </a:xfrm>
          <a:prstGeom prst="rect">
            <a:avLst/>
          </a:prstGeom>
          <a:noFill/>
        </p:spPr>
        <p:txBody>
          <a:bodyPr wrap="square" rtlCol="0">
            <a:spAutoFit/>
          </a:bodyPr>
          <a:lstStyle/>
          <a:p>
            <a:pPr marL="0" indent="0" algn="ctr">
              <a:lnSpc>
                <a:spcPts val="1820"/>
              </a:lnSpc>
              <a:buNone/>
            </a:pPr>
            <a:r>
              <a:rPr lang="ko-KR" altLang="en-US" sz="1400" b="1" dirty="0">
                <a:solidFill>
                  <a:srgbClr val="C55A11"/>
                </a:solidFill>
                <a:latin typeface="+mj-ea"/>
                <a:ea typeface="+mj-ea"/>
                <a:cs typeface="Noto Sans KR" pitchFamily="34" charset="-120"/>
              </a:rPr>
              <a:t>변하는 시장에 대한 선제적인 대응이 필요 </a:t>
            </a:r>
            <a:r>
              <a:rPr lang="ko-KR" altLang="en-US" sz="1400" b="1" dirty="0">
                <a:solidFill>
                  <a:srgbClr val="C55A11"/>
                </a:solidFill>
                <a:latin typeface="맑은 고딕" panose="020B0503020000020004" pitchFamily="50" charset="-127"/>
                <a:ea typeface="맑은 고딕" panose="020B0503020000020004" pitchFamily="50" charset="-127"/>
                <a:cs typeface="Noto Sans KR" pitchFamily="34" charset="-120"/>
              </a:rPr>
              <a:t>→</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이기종 메모리 연구 </a:t>
            </a:r>
            <a:endParaRPr lang="en-US" altLang="ko-KR" sz="1400" dirty="0">
              <a:latin typeface="+mj-ea"/>
              <a:ea typeface="+mj-ea"/>
            </a:endParaRPr>
          </a:p>
        </p:txBody>
      </p:sp>
      <p:sp>
        <p:nvSpPr>
          <p:cNvPr id="82" name="TextBox 81">
            <a:extLst>
              <a:ext uri="{FF2B5EF4-FFF2-40B4-BE49-F238E27FC236}">
                <a16:creationId xmlns:a16="http://schemas.microsoft.com/office/drawing/2014/main" id="{7AF71897-E419-4A9C-A232-B7F53889C234}"/>
              </a:ext>
            </a:extLst>
          </p:cNvPr>
          <p:cNvSpPr txBox="1"/>
          <p:nvPr/>
        </p:nvSpPr>
        <p:spPr>
          <a:xfrm>
            <a:off x="6175527" y="649600"/>
            <a:ext cx="5817691" cy="323165"/>
          </a:xfrm>
          <a:prstGeom prst="rect">
            <a:avLst/>
          </a:prstGeom>
          <a:noFill/>
        </p:spPr>
        <p:txBody>
          <a:bodyPr wrap="square" rtlCol="0">
            <a:spAutoFit/>
          </a:bodyPr>
          <a:lstStyle/>
          <a:p>
            <a:pPr marL="0" indent="0" algn="ctr">
              <a:lnSpc>
                <a:spcPts val="1820"/>
              </a:lnSpc>
              <a:buNone/>
            </a:pPr>
            <a:r>
              <a:rPr lang="ko-KR" altLang="en-US" sz="1400" b="1" dirty="0">
                <a:solidFill>
                  <a:srgbClr val="C55A11"/>
                </a:solidFill>
                <a:latin typeface="+mj-ea"/>
                <a:ea typeface="+mj-ea"/>
                <a:cs typeface="Noto Sans KR" pitchFamily="34" charset="-120"/>
              </a:rPr>
              <a:t>현재 이기종 메모리 기반의 추론 </a:t>
            </a:r>
            <a:r>
              <a:rPr lang="ko-KR" altLang="en-US" sz="1400" b="1" dirty="0" err="1">
                <a:solidFill>
                  <a:srgbClr val="C55A11"/>
                </a:solidFill>
                <a:latin typeface="+mj-ea"/>
                <a:ea typeface="+mj-ea"/>
                <a:cs typeface="Noto Sans KR" pitchFamily="34" charset="-120"/>
              </a:rPr>
              <a:t>서빙</a:t>
            </a:r>
            <a:r>
              <a:rPr lang="ko-KR" altLang="en-US" sz="1400" b="1" dirty="0">
                <a:solidFill>
                  <a:srgbClr val="C55A11"/>
                </a:solidFill>
                <a:latin typeface="+mj-ea"/>
                <a:ea typeface="+mj-ea"/>
                <a:cs typeface="Noto Sans KR" pitchFamily="34" charset="-120"/>
              </a:rPr>
              <a:t> 엔진이 없다</a:t>
            </a:r>
            <a:endParaRPr lang="en-US" altLang="ko-KR" sz="1400" dirty="0">
              <a:latin typeface="+mj-ea"/>
              <a:ea typeface="+mj-ea"/>
            </a:endParaRPr>
          </a:p>
        </p:txBody>
      </p:sp>
      <p:sp>
        <p:nvSpPr>
          <p:cNvPr id="85" name="직사각형 84"/>
          <p:cNvSpPr/>
          <p:nvPr/>
        </p:nvSpPr>
        <p:spPr>
          <a:xfrm>
            <a:off x="7056136" y="1011011"/>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기존 </a:t>
            </a:r>
            <a:r>
              <a:rPr lang="en-US" altLang="ko-KR" sz="1400" b="1" dirty="0"/>
              <a:t>AI SW </a:t>
            </a:r>
            <a:r>
              <a:rPr lang="ko-KR" altLang="en-US" sz="1400" b="1" dirty="0"/>
              <a:t>역할의 한계</a:t>
            </a:r>
          </a:p>
        </p:txBody>
      </p:sp>
      <p:sp>
        <p:nvSpPr>
          <p:cNvPr id="86" name="직사각형 85"/>
          <p:cNvSpPr/>
          <p:nvPr/>
        </p:nvSpPr>
        <p:spPr>
          <a:xfrm>
            <a:off x="1089957" y="1010799"/>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미래 시장 수요 대응을 위한 연구 필요 </a:t>
            </a:r>
            <a:endParaRPr lang="en-US" altLang="ko-KR" sz="1400" b="1" dirty="0"/>
          </a:p>
        </p:txBody>
      </p:sp>
    </p:spTree>
    <p:extLst>
      <p:ext uri="{BB962C8B-B14F-4D97-AF65-F5344CB8AC3E}">
        <p14:creationId xmlns:p14="http://schemas.microsoft.com/office/powerpoint/2010/main" val="51619438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개요</a:t>
            </a:r>
          </a:p>
        </p:txBody>
      </p:sp>
      <p:sp>
        <p:nvSpPr>
          <p:cNvPr id="5" name="TextBox 4"/>
          <p:cNvSpPr txBox="1"/>
          <p:nvPr/>
        </p:nvSpPr>
        <p:spPr>
          <a:xfrm>
            <a:off x="320673" y="542996"/>
            <a:ext cx="6188531" cy="5129033"/>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600" dirty="0"/>
              <a:t>■ </a:t>
            </a:r>
            <a:r>
              <a:rPr lang="ko-KR" altLang="en-US" sz="1600" dirty="0" err="1"/>
              <a:t>과제명</a:t>
            </a:r>
            <a:endParaRPr lang="en-US" altLang="ko-KR" sz="1800" dirty="0"/>
          </a:p>
          <a:p>
            <a:pPr marL="742950" lvl="1" indent="-285750">
              <a:lnSpc>
                <a:spcPct val="150000"/>
              </a:lnSpc>
              <a:buFont typeface="Wingdings" panose="05000000000000000000" pitchFamily="2" charset="2"/>
              <a:buChar char="§"/>
            </a:pPr>
            <a:r>
              <a:rPr lang="ko-KR" altLang="en-US" sz="1400" dirty="0"/>
              <a:t>이기종 메모리 기반 </a:t>
            </a:r>
            <a:r>
              <a:rPr lang="ko-KR" altLang="en-US" sz="1400" dirty="0" err="1"/>
              <a:t>서빙</a:t>
            </a:r>
            <a:r>
              <a:rPr lang="ko-KR" altLang="en-US" sz="1400" dirty="0"/>
              <a:t> 엔진</a:t>
            </a:r>
            <a:r>
              <a:rPr lang="en-US" altLang="ko-KR" sz="1400" dirty="0"/>
              <a:t>(AI </a:t>
            </a:r>
            <a:r>
              <a:rPr lang="ko-KR" altLang="en-US" sz="1400" dirty="0"/>
              <a:t>추론 런타임</a:t>
            </a:r>
            <a:r>
              <a:rPr lang="en-US" altLang="ko-KR" sz="1400" dirty="0"/>
              <a:t>)</a:t>
            </a:r>
            <a:r>
              <a:rPr lang="ko-KR" altLang="en-US" sz="1400" dirty="0"/>
              <a:t> 개발</a:t>
            </a:r>
            <a:endParaRPr lang="en-US" altLang="ko-KR" sz="1400" dirty="0"/>
          </a:p>
          <a:p>
            <a:pPr algn="l">
              <a:lnSpc>
                <a:spcPct val="150000"/>
              </a:lnSpc>
            </a:pPr>
            <a:r>
              <a:rPr lang="ko-KR" altLang="en-US" sz="1600" dirty="0"/>
              <a:t>■ 과제 개요</a:t>
            </a:r>
            <a:endParaRPr lang="en-US" altLang="ko-KR" sz="1600" dirty="0"/>
          </a:p>
          <a:p>
            <a:pPr marL="742950" lvl="1" indent="-285750">
              <a:lnSpc>
                <a:spcPct val="150000"/>
              </a:lnSpc>
              <a:buFont typeface="Wingdings" panose="05000000000000000000" pitchFamily="2" charset="2"/>
              <a:buChar char="§"/>
            </a:pPr>
            <a:r>
              <a:rPr lang="ko-KR" altLang="en-US" sz="1400" dirty="0">
                <a:solidFill>
                  <a:prstClr val="black"/>
                </a:solidFill>
              </a:rPr>
              <a:t>서로 다른 특성을 가진 메모리가 혼재된 시스템에서 </a:t>
            </a:r>
            <a:r>
              <a:rPr lang="en-US" altLang="ko-KR" sz="1400" dirty="0">
                <a:solidFill>
                  <a:prstClr val="black"/>
                </a:solidFill>
              </a:rPr>
              <a:t>AI </a:t>
            </a:r>
            <a:r>
              <a:rPr lang="ko-KR" altLang="en-US" sz="1400" dirty="0">
                <a:solidFill>
                  <a:prstClr val="black"/>
                </a:solidFill>
              </a:rPr>
              <a:t>워크로드를 최적화하는 </a:t>
            </a:r>
            <a:r>
              <a:rPr lang="ko-KR" altLang="en-US" sz="1400" dirty="0" err="1">
                <a:solidFill>
                  <a:prstClr val="black"/>
                </a:solidFill>
              </a:rPr>
              <a:t>서빙</a:t>
            </a:r>
            <a:r>
              <a:rPr lang="ko-KR" altLang="en-US" sz="1400" dirty="0">
                <a:solidFill>
                  <a:prstClr val="black"/>
                </a:solidFill>
              </a:rPr>
              <a:t> 엔진 설계</a:t>
            </a:r>
            <a:endParaRPr lang="en-US" altLang="ko-KR" sz="1400" dirty="0">
              <a:solidFill>
                <a:prstClr val="black"/>
              </a:solidFill>
            </a:endParaRPr>
          </a:p>
          <a:p>
            <a:pPr marL="742950" lvl="1" indent="-285750">
              <a:lnSpc>
                <a:spcPct val="150000"/>
              </a:lnSpc>
              <a:buFont typeface="Wingdings" panose="05000000000000000000" pitchFamily="2" charset="2"/>
              <a:buChar char="§"/>
            </a:pPr>
            <a:r>
              <a:rPr lang="en-US" altLang="ko-KR" sz="1400" dirty="0">
                <a:solidFill>
                  <a:prstClr val="black"/>
                </a:solidFill>
              </a:rPr>
              <a:t>LM </a:t>
            </a:r>
            <a:r>
              <a:rPr lang="ko-KR" altLang="en-US" sz="1400" dirty="0">
                <a:solidFill>
                  <a:prstClr val="black"/>
                </a:solidFill>
              </a:rPr>
              <a:t>추론 성능 개선을 통해 당사의 다양한 메모리 제품 가치 재고 </a:t>
            </a:r>
            <a:endParaRPr lang="en-US" altLang="ko-KR" sz="1600" dirty="0"/>
          </a:p>
          <a:p>
            <a:pPr algn="l">
              <a:lnSpc>
                <a:spcPct val="150000"/>
              </a:lnSpc>
            </a:pPr>
            <a:r>
              <a:rPr lang="ko-KR" altLang="en-US" sz="1600" dirty="0"/>
              <a:t>■ 참여 인력</a:t>
            </a:r>
            <a:endParaRPr lang="en-US" altLang="ko-KR" sz="2000" dirty="0"/>
          </a:p>
          <a:p>
            <a:pPr marL="742950" lvl="1" indent="-285750">
              <a:lnSpc>
                <a:spcPct val="150000"/>
              </a:lnSpc>
              <a:buFont typeface="Wingdings" panose="05000000000000000000" pitchFamily="2" charset="2"/>
              <a:buChar char="§"/>
            </a:pPr>
            <a:r>
              <a:rPr lang="ko-KR" altLang="en-US" sz="1400" dirty="0"/>
              <a:t>전체</a:t>
            </a:r>
            <a:r>
              <a:rPr lang="en-US" altLang="ko-KR" sz="1400" dirty="0"/>
              <a:t>: </a:t>
            </a:r>
            <a:r>
              <a:rPr lang="ko-KR" altLang="en-US" sz="1400" dirty="0"/>
              <a:t>국내 </a:t>
            </a:r>
            <a:r>
              <a:rPr lang="en-US" altLang="ko-KR" sz="1400" dirty="0"/>
              <a:t>22</a:t>
            </a:r>
            <a:r>
              <a:rPr lang="ko-KR" altLang="en-US" sz="1400" dirty="0"/>
              <a:t>명</a:t>
            </a:r>
            <a:r>
              <a:rPr lang="en-US" altLang="ko-KR" sz="1400" dirty="0"/>
              <a:t>, SRCX 4</a:t>
            </a:r>
            <a:r>
              <a:rPr lang="ko-KR" altLang="en-US" sz="1400" dirty="0"/>
              <a:t>명</a:t>
            </a:r>
            <a:endParaRPr lang="en-US" altLang="ko-KR" sz="1400" dirty="0"/>
          </a:p>
          <a:p>
            <a:pPr marL="742950" lvl="1" indent="-285750">
              <a:lnSpc>
                <a:spcPct val="150000"/>
              </a:lnSpc>
              <a:buFont typeface="Wingdings" panose="05000000000000000000" pitchFamily="2" charset="2"/>
              <a:buChar char="§"/>
            </a:pPr>
            <a:r>
              <a:rPr lang="ko-KR" altLang="en-US" sz="1400" dirty="0"/>
              <a:t>리딩</a:t>
            </a:r>
            <a:r>
              <a:rPr lang="en-US" altLang="ko-KR" sz="1400" dirty="0"/>
              <a:t>: </a:t>
            </a:r>
            <a:r>
              <a:rPr lang="ko-KR" altLang="en-US" sz="1400" dirty="0"/>
              <a:t>국내 </a:t>
            </a:r>
            <a:r>
              <a:rPr lang="en-US" altLang="ko-KR" sz="1400" dirty="0"/>
              <a:t>7</a:t>
            </a:r>
            <a:r>
              <a:rPr lang="ko-KR" altLang="en-US" sz="1400" dirty="0"/>
              <a:t>명</a:t>
            </a:r>
            <a:r>
              <a:rPr lang="en-US" altLang="ko-KR" sz="1400" dirty="0"/>
              <a:t>, SRCX 4</a:t>
            </a:r>
            <a:r>
              <a:rPr lang="ko-KR" altLang="en-US" sz="1400" dirty="0"/>
              <a:t>명</a:t>
            </a:r>
            <a:endParaRPr lang="en-US" altLang="ko-KR" sz="1400" dirty="0"/>
          </a:p>
          <a:p>
            <a:pPr algn="l">
              <a:lnSpc>
                <a:spcPct val="150000"/>
              </a:lnSpc>
            </a:pPr>
            <a:r>
              <a:rPr lang="ko-KR" altLang="en-US" sz="1600" dirty="0"/>
              <a:t>■ </a:t>
            </a:r>
            <a:r>
              <a:rPr lang="en-US" altLang="ko-KR" sz="1600" dirty="0"/>
              <a:t>Target </a:t>
            </a:r>
            <a:r>
              <a:rPr lang="ko-KR" altLang="en-US" sz="1600" dirty="0"/>
              <a:t>시스템 </a:t>
            </a:r>
            <a:r>
              <a:rPr lang="en-US" altLang="ko-KR" sz="1600" dirty="0"/>
              <a:t>/ </a:t>
            </a:r>
            <a:r>
              <a:rPr lang="ko-KR" altLang="en-US" sz="1600" dirty="0"/>
              <a:t>장치</a:t>
            </a:r>
            <a:endParaRPr lang="en-US" altLang="ko-KR" sz="1600" dirty="0"/>
          </a:p>
          <a:p>
            <a:pPr marL="742950" lvl="1" indent="-285750">
              <a:lnSpc>
                <a:spcPct val="150000"/>
              </a:lnSpc>
              <a:buFont typeface="Wingdings" panose="05000000000000000000" pitchFamily="2" charset="2"/>
              <a:buChar char="§"/>
            </a:pPr>
            <a:r>
              <a:rPr lang="ko-KR" altLang="en-US" sz="1400" dirty="0" err="1">
                <a:solidFill>
                  <a:prstClr val="black"/>
                </a:solidFill>
              </a:rPr>
              <a:t>현세대</a:t>
            </a:r>
            <a:r>
              <a:rPr lang="ko-KR" altLang="en-US" sz="1400" dirty="0">
                <a:solidFill>
                  <a:prstClr val="black"/>
                </a:solidFill>
              </a:rPr>
              <a:t> 메모리</a:t>
            </a:r>
            <a:r>
              <a:rPr lang="en-US" altLang="ko-KR" sz="1400" dirty="0">
                <a:solidFill>
                  <a:prstClr val="black"/>
                </a:solidFill>
              </a:rPr>
              <a:t>: HBM, DRAM, </a:t>
            </a:r>
            <a:r>
              <a:rPr lang="en-US" altLang="ko-KR" sz="1400" dirty="0" smtClean="0">
                <a:solidFill>
                  <a:prstClr val="black"/>
                </a:solidFill>
              </a:rPr>
              <a:t>SSD</a:t>
            </a:r>
            <a:endParaRPr lang="en-US" altLang="ko-KR" sz="1400" dirty="0">
              <a:solidFill>
                <a:prstClr val="black"/>
              </a:solidFill>
            </a:endParaRPr>
          </a:p>
          <a:p>
            <a:pPr marL="742950" lvl="1" indent="-285750">
              <a:lnSpc>
                <a:spcPct val="150000"/>
              </a:lnSpc>
              <a:buFont typeface="Wingdings" panose="05000000000000000000" pitchFamily="2" charset="2"/>
              <a:buChar char="§"/>
            </a:pPr>
            <a:r>
              <a:rPr lang="ko-KR" altLang="en-US" sz="1400" dirty="0">
                <a:solidFill>
                  <a:prstClr val="black"/>
                </a:solidFill>
              </a:rPr>
              <a:t>차세대 메모리</a:t>
            </a:r>
            <a:r>
              <a:rPr lang="en-US" altLang="ko-KR" sz="1400" dirty="0">
                <a:solidFill>
                  <a:prstClr val="black"/>
                </a:solidFill>
              </a:rPr>
              <a:t>: CXL-PNM*. SSD-PIM</a:t>
            </a:r>
            <a:r>
              <a:rPr lang="en-US" altLang="ko-KR" sz="1400" dirty="0" smtClean="0">
                <a:solidFill>
                  <a:prstClr val="black"/>
                </a:solidFill>
              </a:rPr>
              <a:t>**</a:t>
            </a:r>
            <a:endParaRPr lang="en-US" altLang="ko-KR" sz="1600" dirty="0"/>
          </a:p>
          <a:p>
            <a:pPr algn="l">
              <a:lnSpc>
                <a:spcPct val="150000"/>
              </a:lnSpc>
            </a:pPr>
            <a:r>
              <a:rPr lang="ko-KR" altLang="en-US" sz="1600" dirty="0"/>
              <a:t>■ 일정</a:t>
            </a:r>
            <a:endParaRPr lang="en-US" altLang="ko-KR" sz="2000" dirty="0"/>
          </a:p>
          <a:p>
            <a:pPr marL="742950" lvl="1" indent="-285750">
              <a:lnSpc>
                <a:spcPct val="150000"/>
              </a:lnSpc>
              <a:buFont typeface="Wingdings" panose="05000000000000000000" pitchFamily="2" charset="2"/>
              <a:buChar char="§"/>
            </a:pPr>
            <a:r>
              <a:rPr lang="en-US" altLang="ko-KR" sz="1400" dirty="0">
                <a:solidFill>
                  <a:schemeClr val="tx1">
                    <a:lumMod val="75000"/>
                    <a:lumOff val="25000"/>
                  </a:schemeClr>
                </a:solidFill>
                <a:latin typeface="맑은 고딕" panose="020B0503020000020004" pitchFamily="50" charset="-127"/>
              </a:rPr>
              <a:t>26</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 26</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12</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a:t>
            </a:r>
            <a:r>
              <a:rPr lang="ko-KR" altLang="en-US" sz="1400" dirty="0">
                <a:solidFill>
                  <a:schemeClr val="tx1">
                    <a:lumMod val="75000"/>
                    <a:lumOff val="25000"/>
                  </a:schemeClr>
                </a:solidFill>
                <a:latin typeface="맑은 고딕" panose="020B0503020000020004" pitchFamily="50" charset="-127"/>
              </a:rPr>
              <a:t>총 </a:t>
            </a:r>
            <a:r>
              <a:rPr lang="en-US" altLang="ko-KR" sz="1400" dirty="0">
                <a:solidFill>
                  <a:schemeClr val="tx1">
                    <a:lumMod val="75000"/>
                    <a:lumOff val="25000"/>
                  </a:schemeClr>
                </a:solidFill>
                <a:latin typeface="맑은 고딕" panose="020B0503020000020004" pitchFamily="50" charset="-127"/>
              </a:rPr>
              <a:t>12</a:t>
            </a:r>
            <a:r>
              <a:rPr lang="ko-KR" altLang="en-US" sz="1400" dirty="0">
                <a:solidFill>
                  <a:schemeClr val="tx1">
                    <a:lumMod val="75000"/>
                    <a:lumOff val="25000"/>
                  </a:schemeClr>
                </a:solidFill>
                <a:latin typeface="맑은 고딕" panose="020B0503020000020004" pitchFamily="50" charset="-127"/>
              </a:rPr>
              <a:t>개월</a:t>
            </a:r>
            <a:r>
              <a:rPr lang="en-US" altLang="ko-KR" sz="1400" dirty="0">
                <a:solidFill>
                  <a:schemeClr val="tx1">
                    <a:lumMod val="75000"/>
                    <a:lumOff val="25000"/>
                  </a:schemeClr>
                </a:solidFill>
                <a:latin typeface="맑은 고딕" panose="020B0503020000020004" pitchFamily="50" charset="-127"/>
              </a:rPr>
              <a:t>)</a:t>
            </a:r>
            <a:endParaRPr lang="en-US" altLang="ko-KR" sz="1400" dirty="0"/>
          </a:p>
          <a:p>
            <a:pPr marL="742950" lvl="1" indent="-285750">
              <a:lnSpc>
                <a:spcPct val="150000"/>
              </a:lnSpc>
              <a:buFont typeface="Wingdings" panose="05000000000000000000" pitchFamily="2" charset="2"/>
              <a:buChar char="§"/>
            </a:pPr>
            <a:r>
              <a:rPr lang="ko-KR" altLang="en-US" sz="1400" dirty="0">
                <a:solidFill>
                  <a:schemeClr val="tx1">
                    <a:lumMod val="75000"/>
                    <a:lumOff val="25000"/>
                  </a:schemeClr>
                </a:solidFill>
                <a:latin typeface="맑은 고딕" panose="020B0503020000020004" pitchFamily="50" charset="-127"/>
              </a:rPr>
              <a:t>연구과제 일정 </a:t>
            </a:r>
            <a:r>
              <a:rPr lang="en-US" altLang="ko-KR" sz="1400" dirty="0">
                <a:solidFill>
                  <a:schemeClr val="tx1">
                    <a:lumMod val="75000"/>
                    <a:lumOff val="25000"/>
                  </a:schemeClr>
                </a:solidFill>
                <a:latin typeface="맑은 고딕" panose="020B0503020000020004" pitchFamily="50" charset="-127"/>
              </a:rPr>
              <a:t>26</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 28</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12</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a:t>
            </a:r>
            <a:r>
              <a:rPr lang="ko-KR" altLang="en-US" sz="1400" dirty="0">
                <a:solidFill>
                  <a:schemeClr val="tx1">
                    <a:lumMod val="75000"/>
                    <a:lumOff val="25000"/>
                  </a:schemeClr>
                </a:solidFill>
                <a:latin typeface="맑은 고딕" panose="020B0503020000020004" pitchFamily="50" charset="-127"/>
              </a:rPr>
              <a:t>총 </a:t>
            </a:r>
            <a:r>
              <a:rPr lang="en-US" altLang="ko-KR" sz="1400" dirty="0">
                <a:solidFill>
                  <a:schemeClr val="tx1">
                    <a:lumMod val="75000"/>
                    <a:lumOff val="25000"/>
                  </a:schemeClr>
                </a:solidFill>
                <a:latin typeface="맑은 고딕" panose="020B0503020000020004" pitchFamily="50" charset="-127"/>
              </a:rPr>
              <a:t>36</a:t>
            </a:r>
            <a:r>
              <a:rPr lang="ko-KR" altLang="en-US" sz="1400" dirty="0">
                <a:solidFill>
                  <a:schemeClr val="tx1">
                    <a:lumMod val="75000"/>
                    <a:lumOff val="25000"/>
                  </a:schemeClr>
                </a:solidFill>
                <a:latin typeface="맑은 고딕" panose="020B0503020000020004" pitchFamily="50" charset="-127"/>
              </a:rPr>
              <a:t>개월</a:t>
            </a:r>
            <a:r>
              <a:rPr lang="en-US" altLang="ko-KR" sz="1400" dirty="0">
                <a:solidFill>
                  <a:schemeClr val="tx1">
                    <a:lumMod val="75000"/>
                    <a:lumOff val="25000"/>
                  </a:schemeClr>
                </a:solidFill>
                <a:latin typeface="맑은 고딕" panose="020B0503020000020004" pitchFamily="50" charset="-127"/>
              </a:rPr>
              <a:t>)</a:t>
            </a:r>
          </a:p>
        </p:txBody>
      </p:sp>
      <p:sp>
        <p:nvSpPr>
          <p:cNvPr id="232" name="TextBox 231"/>
          <p:cNvSpPr txBox="1"/>
          <p:nvPr/>
        </p:nvSpPr>
        <p:spPr>
          <a:xfrm>
            <a:off x="6716307" y="6437994"/>
            <a:ext cx="3336170" cy="215444"/>
          </a:xfrm>
          <a:prstGeom prst="rect">
            <a:avLst/>
          </a:prstGeom>
          <a:noFill/>
        </p:spPr>
        <p:txBody>
          <a:bodyPr wrap="none" rtlCol="0">
            <a:spAutoFit/>
          </a:bodyPr>
          <a:lstStyle/>
          <a:p>
            <a:r>
              <a:rPr lang="en-US" altLang="ko-KR" sz="800" dirty="0" smtClean="0">
                <a:solidFill>
                  <a:schemeClr val="tx1">
                    <a:lumMod val="75000"/>
                    <a:lumOff val="25000"/>
                  </a:schemeClr>
                </a:solidFill>
              </a:rPr>
              <a:t>*</a:t>
            </a:r>
            <a:r>
              <a:rPr lang="en-US" altLang="ko-KR" sz="800" dirty="0" err="1" smtClean="0">
                <a:solidFill>
                  <a:schemeClr val="tx1">
                    <a:lumMod val="75000"/>
                    <a:lumOff val="25000"/>
                  </a:schemeClr>
                </a:solidFill>
              </a:rPr>
              <a:t>ScHBM</a:t>
            </a:r>
            <a:r>
              <a:rPr lang="en-US" altLang="ko-KR" sz="800" dirty="0">
                <a:solidFill>
                  <a:schemeClr val="tx1">
                    <a:lumMod val="75000"/>
                    <a:lumOff val="25000"/>
                  </a:schemeClr>
                </a:solidFill>
              </a:rPr>
              <a:t>: Samsung Custom HBM (Base Die</a:t>
            </a:r>
            <a:r>
              <a:rPr lang="ko-KR" altLang="en-US" sz="800" dirty="0">
                <a:solidFill>
                  <a:schemeClr val="tx1">
                    <a:lumMod val="75000"/>
                    <a:lumOff val="25000"/>
                  </a:schemeClr>
                </a:solidFill>
              </a:rPr>
              <a:t>에 </a:t>
            </a:r>
            <a:r>
              <a:rPr lang="en-US" altLang="ko-KR" sz="800" dirty="0">
                <a:solidFill>
                  <a:schemeClr val="tx1">
                    <a:lumMod val="75000"/>
                    <a:lumOff val="25000"/>
                  </a:schemeClr>
                </a:solidFill>
              </a:rPr>
              <a:t>Processing Element)</a:t>
            </a:r>
            <a:endParaRPr lang="ko-KR" altLang="en-US" sz="800" dirty="0">
              <a:solidFill>
                <a:schemeClr val="tx1">
                  <a:lumMod val="75000"/>
                  <a:lumOff val="25000"/>
                </a:schemeClr>
              </a:solidFill>
            </a:endParaRPr>
          </a:p>
        </p:txBody>
      </p:sp>
      <p:sp>
        <p:nvSpPr>
          <p:cNvPr id="19" name="TextBox 18">
            <a:extLst>
              <a:ext uri="{FF2B5EF4-FFF2-40B4-BE49-F238E27FC236}">
                <a16:creationId xmlns:a16="http://schemas.microsoft.com/office/drawing/2014/main" id="{EDF70A8A-9B7B-449F-A5DD-3D6FB7C549AF}"/>
              </a:ext>
            </a:extLst>
          </p:cNvPr>
          <p:cNvSpPr txBox="1"/>
          <p:nvPr/>
        </p:nvSpPr>
        <p:spPr>
          <a:xfrm>
            <a:off x="223924" y="6070903"/>
            <a:ext cx="1737976" cy="215444"/>
          </a:xfrm>
          <a:prstGeom prst="rect">
            <a:avLst/>
          </a:prstGeom>
          <a:noFill/>
        </p:spPr>
        <p:txBody>
          <a:bodyPr wrap="none" rtlCol="0">
            <a:spAutoFit/>
          </a:bodyPr>
          <a:lstStyle/>
          <a:p>
            <a:r>
              <a:rPr lang="en-US" altLang="ko-KR" sz="800" dirty="0">
                <a:solidFill>
                  <a:schemeClr val="tx1">
                    <a:lumMod val="75000"/>
                    <a:lumOff val="25000"/>
                  </a:schemeClr>
                </a:solidFill>
              </a:rPr>
              <a:t>*PNM: Processing Near Memory </a:t>
            </a:r>
          </a:p>
        </p:txBody>
      </p:sp>
      <p:sp>
        <p:nvSpPr>
          <p:cNvPr id="20" name="TextBox 19">
            <a:extLst>
              <a:ext uri="{FF2B5EF4-FFF2-40B4-BE49-F238E27FC236}">
                <a16:creationId xmlns:a16="http://schemas.microsoft.com/office/drawing/2014/main" id="{B567E618-E632-4153-BD3F-663FACD83C6A}"/>
              </a:ext>
            </a:extLst>
          </p:cNvPr>
          <p:cNvSpPr txBox="1"/>
          <p:nvPr/>
        </p:nvSpPr>
        <p:spPr>
          <a:xfrm>
            <a:off x="223924" y="6188682"/>
            <a:ext cx="1593706" cy="215444"/>
          </a:xfrm>
          <a:prstGeom prst="rect">
            <a:avLst/>
          </a:prstGeom>
          <a:noFill/>
        </p:spPr>
        <p:txBody>
          <a:bodyPr wrap="none" rtlCol="0">
            <a:spAutoFit/>
          </a:bodyPr>
          <a:lstStyle/>
          <a:p>
            <a:r>
              <a:rPr lang="en-US" altLang="ko-KR" sz="800" dirty="0">
                <a:solidFill>
                  <a:schemeClr val="tx1">
                    <a:lumMod val="75000"/>
                    <a:lumOff val="25000"/>
                  </a:schemeClr>
                </a:solidFill>
              </a:rPr>
              <a:t>**PIM: Processing In Memory </a:t>
            </a:r>
            <a:endParaRPr lang="ko-KR" altLang="en-US" sz="800" dirty="0">
              <a:solidFill>
                <a:schemeClr val="tx1">
                  <a:lumMod val="75000"/>
                  <a:lumOff val="25000"/>
                </a:schemeClr>
              </a:solidFill>
            </a:endParaRPr>
          </a:p>
        </p:txBody>
      </p:sp>
      <p:grpSp>
        <p:nvGrpSpPr>
          <p:cNvPr id="2" name="그룹 1"/>
          <p:cNvGrpSpPr/>
          <p:nvPr/>
        </p:nvGrpSpPr>
        <p:grpSpPr>
          <a:xfrm>
            <a:off x="6716307" y="697349"/>
            <a:ext cx="3629820" cy="5706777"/>
            <a:chOff x="3059952" y="717570"/>
            <a:chExt cx="4831290" cy="5706777"/>
          </a:xfrm>
        </p:grpSpPr>
        <p:cxnSp>
          <p:nvCxnSpPr>
            <p:cNvPr id="82" name="직선 화살표 연결선 185">
              <a:extLst>
                <a:ext uri="{FF2B5EF4-FFF2-40B4-BE49-F238E27FC236}">
                  <a16:creationId xmlns:a16="http://schemas.microsoft.com/office/drawing/2014/main" id="{C77B044C-CFD5-4C99-9B08-C9CDFDD38AC5}"/>
                </a:ext>
              </a:extLst>
            </p:cNvPr>
            <p:cNvCxnSpPr>
              <a:cxnSpLocks/>
            </p:cNvCxnSpPr>
            <p:nvPr/>
          </p:nvCxnSpPr>
          <p:spPr>
            <a:xfrm flipV="1">
              <a:off x="7034559" y="3128628"/>
              <a:ext cx="0" cy="1122023"/>
            </a:xfrm>
            <a:prstGeom prst="straightConnector1">
              <a:avLst/>
            </a:prstGeom>
            <a:noFill/>
            <a:ln w="6350">
              <a:solidFill>
                <a:srgbClr val="888C91"/>
              </a:solidFill>
              <a:prstDash val="solid"/>
              <a:headEnd type="triangle" w="med" len="med"/>
              <a:tailEnd type="none" w="med" len="med"/>
            </a:ln>
          </p:spPr>
        </p:cxnSp>
        <p:sp>
          <p:nvSpPr>
            <p:cNvPr id="83" name="직사각형 82"/>
            <p:cNvSpPr/>
            <p:nvPr/>
          </p:nvSpPr>
          <p:spPr>
            <a:xfrm>
              <a:off x="4435174" y="1141656"/>
              <a:ext cx="1865308" cy="37462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lvl="0" algn="ctr">
                <a:defRPr/>
              </a:pPr>
              <a:r>
                <a:rPr lang="en-US" altLang="ko-KR" sz="1200" b="1">
                  <a:solidFill>
                    <a:schemeClr val="tx1"/>
                  </a:solidFill>
                  <a:latin typeface="Calibri" panose="020F0502020204030204"/>
                  <a:ea typeface="맑은 고딕" panose="020B0503020000020004" pitchFamily="50" charset="-127"/>
                </a:rPr>
                <a:t>Application</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a:solidFill>
                    <a:schemeClr val="bg1">
                      <a:lumMod val="50000"/>
                    </a:schemeClr>
                  </a:solidFill>
                  <a:latin typeface="Calibri" panose="020F0502020204030204"/>
                  <a:ea typeface="맑은 고딕" panose="020B0503020000020004" pitchFamily="50" charset="-127"/>
                </a:rPr>
                <a:t>Agent </a:t>
              </a:r>
              <a:r>
                <a:rPr lang="ko-KR" altLang="en-US" sz="800" b="1">
                  <a:solidFill>
                    <a:schemeClr val="bg1">
                      <a:lumMod val="50000"/>
                    </a:schemeClr>
                  </a:solidFill>
                  <a:latin typeface="Calibri" panose="020F0502020204030204"/>
                  <a:ea typeface="맑은 고딕" panose="020B0503020000020004" pitchFamily="50" charset="-127"/>
                </a:rPr>
                <a:t>봇</a:t>
              </a:r>
              <a:r>
                <a:rPr lang="en-US" altLang="ko-KR" sz="800" b="1">
                  <a:solidFill>
                    <a:schemeClr val="bg1">
                      <a:lumMod val="50000"/>
                    </a:schemeClr>
                  </a:solidFill>
                  <a:latin typeface="Calibri" panose="020F0502020204030204"/>
                  <a:ea typeface="맑은 고딕" panose="020B0503020000020004" pitchFamily="50" charset="-127"/>
                </a:rPr>
                <a:t>, </a:t>
              </a:r>
              <a:r>
                <a:rPr lang="ko-KR" altLang="en-US" sz="800" b="1">
                  <a:solidFill>
                    <a:schemeClr val="bg1">
                      <a:lumMod val="50000"/>
                    </a:schemeClr>
                  </a:solidFill>
                  <a:latin typeface="Calibri" panose="020F0502020204030204"/>
                  <a:ea typeface="맑은 고딕" panose="020B0503020000020004" pitchFamily="50" charset="-127"/>
                </a:rPr>
                <a:t>챗봇</a:t>
              </a:r>
              <a:endParaRPr lang="ko-KR" altLang="en-US" sz="800" b="1" dirty="0">
                <a:solidFill>
                  <a:schemeClr val="bg1">
                    <a:lumMod val="50000"/>
                  </a:schemeClr>
                </a:solidFill>
                <a:latin typeface="Calibri" panose="020F0502020204030204"/>
                <a:ea typeface="맑은 고딕" panose="020B0503020000020004" pitchFamily="50" charset="-127"/>
              </a:endParaRPr>
            </a:p>
          </p:txBody>
        </p:sp>
        <p:sp>
          <p:nvSpPr>
            <p:cNvPr id="84" name="직사각형 83"/>
            <p:cNvSpPr/>
            <p:nvPr/>
          </p:nvSpPr>
          <p:spPr>
            <a:xfrm>
              <a:off x="4002329" y="1713974"/>
              <a:ext cx="2730999" cy="60333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ltLang="ko-KR" sz="1200" b="1">
                  <a:solidFill>
                    <a:schemeClr val="tx1"/>
                  </a:solidFill>
                  <a:latin typeface="Calibri" panose="020F0502020204030204"/>
                  <a:ea typeface="맑은 고딕" panose="020B0503020000020004" pitchFamily="50" charset="-127"/>
                </a:rPr>
                <a:t>Agent Framework</a:t>
              </a:r>
              <a:endParaRPr lang="en-US" altLang="ko-KR" sz="1200" b="1" noProof="0" dirty="0">
                <a:solidFill>
                  <a:schemeClr val="tx1"/>
                </a:solidFill>
                <a:latin typeface="Calibri" panose="020F0502020204030204"/>
                <a:ea typeface="맑은 고딕" panose="020B0503020000020004" pitchFamily="50" charset="-127"/>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dirty="0">
                  <a:solidFill>
                    <a:schemeClr val="bg1">
                      <a:lumMod val="50000"/>
                    </a:schemeClr>
                  </a:solidFill>
                  <a:latin typeface="Calibri" panose="020F0502020204030204"/>
                  <a:ea typeface="맑은 고딕" panose="020B0503020000020004" pitchFamily="50" charset="-127"/>
                </a:rPr>
                <a:t>Reasoning loop </a:t>
              </a:r>
              <a:r>
                <a:rPr lang="ko-KR" altLang="en-US" sz="800" b="1" dirty="0">
                  <a:solidFill>
                    <a:schemeClr val="bg1">
                      <a:lumMod val="50000"/>
                    </a:schemeClr>
                  </a:solidFill>
                  <a:latin typeface="Calibri" panose="020F0502020204030204"/>
                  <a:ea typeface="맑은 고딕" panose="020B0503020000020004" pitchFamily="50" charset="-127"/>
                </a:rPr>
                <a:t>진행 중 </a:t>
              </a:r>
              <a:endParaRPr lang="en-US" altLang="ko-KR" sz="800" b="1" dirty="0">
                <a:solidFill>
                  <a:schemeClr val="bg1">
                    <a:lumMod val="50000"/>
                  </a:schemeClr>
                </a:solidFill>
                <a:latin typeface="Calibri" panose="020F0502020204030204"/>
                <a:ea typeface="맑은 고딕" panose="020B0503020000020004" pitchFamily="50" charset="-127"/>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dirty="0">
                  <a:solidFill>
                    <a:schemeClr val="bg1">
                      <a:lumMod val="50000"/>
                    </a:schemeClr>
                  </a:solidFill>
                  <a:latin typeface="Calibri" panose="020F0502020204030204"/>
                  <a:ea typeface="맑은 고딕" panose="020B0503020000020004" pitchFamily="50" charset="-127"/>
                </a:rPr>
                <a:t>“LLM </a:t>
              </a:r>
              <a:r>
                <a:rPr lang="ko-KR" altLang="en-US" sz="800" b="1" dirty="0">
                  <a:solidFill>
                    <a:schemeClr val="bg1">
                      <a:lumMod val="50000"/>
                    </a:schemeClr>
                  </a:solidFill>
                  <a:latin typeface="Calibri" panose="020F0502020204030204"/>
                  <a:ea typeface="맑은 고딕" panose="020B0503020000020004" pitchFamily="50" charset="-127"/>
                </a:rPr>
                <a:t>호출 필요</a:t>
              </a:r>
              <a:r>
                <a:rPr lang="en-US" altLang="ko-KR" sz="800" b="1" dirty="0">
                  <a:solidFill>
                    <a:schemeClr val="bg1">
                      <a:lumMod val="50000"/>
                    </a:schemeClr>
                  </a:solidFill>
                  <a:latin typeface="Calibri" panose="020F0502020204030204"/>
                  <a:ea typeface="맑은 고딕" panose="020B0503020000020004" pitchFamily="50" charset="-127"/>
                </a:rPr>
                <a:t> / “</a:t>
              </a:r>
              <a:r>
                <a:rPr lang="ko-KR" altLang="en-US" sz="800" b="1" dirty="0">
                  <a:solidFill>
                    <a:schemeClr val="bg1">
                      <a:lumMod val="50000"/>
                    </a:schemeClr>
                  </a:solidFill>
                  <a:latin typeface="Calibri" panose="020F0502020204030204"/>
                  <a:ea typeface="맑은 고딕" panose="020B0503020000020004" pitchFamily="50" charset="-127"/>
                </a:rPr>
                <a:t>문서 검색 필요</a:t>
              </a:r>
              <a:r>
                <a:rPr lang="en-US" altLang="ko-KR" sz="800" b="1" dirty="0">
                  <a:solidFill>
                    <a:schemeClr val="bg1">
                      <a:lumMod val="50000"/>
                    </a:schemeClr>
                  </a:solidFill>
                  <a:latin typeface="Calibri" panose="020F0502020204030204"/>
                  <a:ea typeface="맑은 고딕" panose="020B0503020000020004" pitchFamily="50" charset="-127"/>
                </a:rPr>
                <a:t>” /  </a:t>
              </a:r>
              <a:r>
                <a:rPr lang="ko-KR" altLang="en-US" sz="800" b="1" dirty="0">
                  <a:solidFill>
                    <a:schemeClr val="bg1">
                      <a:lumMod val="50000"/>
                    </a:schemeClr>
                  </a:solidFill>
                  <a:latin typeface="Calibri" panose="020F0502020204030204"/>
                  <a:ea typeface="맑은 고딕" panose="020B0503020000020004" pitchFamily="50" charset="-127"/>
                </a:rPr>
                <a:t>도구 호출 필요</a:t>
              </a:r>
              <a:r>
                <a:rPr lang="en-US" altLang="ko-KR" sz="800" b="1" dirty="0">
                  <a:solidFill>
                    <a:schemeClr val="bg1">
                      <a:lumMod val="50000"/>
                    </a:schemeClr>
                  </a:solidFill>
                  <a:latin typeface="Calibri" panose="020F0502020204030204"/>
                  <a:ea typeface="맑은 고딕" panose="020B0503020000020004" pitchFamily="50" charset="-127"/>
                </a:rPr>
                <a:t>” </a:t>
              </a:r>
              <a:r>
                <a:rPr lang="ko-KR" altLang="en-US" sz="800" b="1" dirty="0">
                  <a:solidFill>
                    <a:schemeClr val="bg1">
                      <a:lumMod val="50000"/>
                    </a:schemeClr>
                  </a:solidFill>
                  <a:latin typeface="Calibri" panose="020F0502020204030204"/>
                  <a:ea typeface="맑은 고딕" panose="020B0503020000020004" pitchFamily="50" charset="-127"/>
                </a:rPr>
                <a:t>판단</a:t>
              </a:r>
              <a:endParaRPr kumimoji="0" lang="ko-KR" altLang="en-US" sz="800" b="1" i="0" u="none" strike="noStrike" kern="1200" cap="none" spc="0" normalizeH="0" baseline="0" noProof="0" dirty="0">
                <a:ln>
                  <a:noFill/>
                </a:ln>
                <a:solidFill>
                  <a:schemeClr val="bg1">
                    <a:lumMod val="50000"/>
                  </a:schemeClr>
                </a:solidFill>
                <a:effectLst/>
                <a:uLnTx/>
                <a:uFillTx/>
                <a:latin typeface="Calibri" panose="020F0502020204030204"/>
                <a:ea typeface="맑은 고딕" panose="020B0503020000020004" pitchFamily="50" charset="-127"/>
              </a:endParaRPr>
            </a:p>
          </p:txBody>
        </p:sp>
        <p:sp>
          <p:nvSpPr>
            <p:cNvPr id="85" name="직사각형 84"/>
            <p:cNvSpPr/>
            <p:nvPr/>
          </p:nvSpPr>
          <p:spPr>
            <a:xfrm>
              <a:off x="3492704" y="2623962"/>
              <a:ext cx="1865308" cy="498623"/>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200" b="1" dirty="0">
                  <a:solidFill>
                    <a:schemeClr val="tx1"/>
                  </a:solidFill>
                  <a:latin typeface="Calibri" panose="020F0502020204030204"/>
                  <a:ea typeface="맑은 고딕" panose="020B0503020000020004" pitchFamily="50" charset="-127"/>
                </a:rPr>
                <a:t>Inference Orchestrator </a:t>
              </a:r>
            </a:p>
            <a:p>
              <a:pPr algn="ctr">
                <a:defRPr/>
              </a:pPr>
              <a:r>
                <a:rPr lang="ko-KR" altLang="en-US" sz="800" b="1" dirty="0">
                  <a:solidFill>
                    <a:schemeClr val="bg1">
                      <a:lumMod val="50000"/>
                    </a:schemeClr>
                  </a:solidFill>
                  <a:latin typeface="Calibri" panose="020F0502020204030204"/>
                </a:rPr>
                <a:t>요청 라우팅</a:t>
              </a:r>
              <a:r>
                <a:rPr lang="en-US" altLang="ko-KR" sz="800" b="1" dirty="0">
                  <a:solidFill>
                    <a:schemeClr val="bg1">
                      <a:lumMod val="50000"/>
                    </a:schemeClr>
                  </a:solidFill>
                  <a:latin typeface="Calibri" panose="020F0502020204030204"/>
                </a:rPr>
                <a:t>/</a:t>
              </a:r>
              <a:r>
                <a:rPr lang="ko-KR" altLang="en-US" sz="800" b="1" dirty="0">
                  <a:solidFill>
                    <a:schemeClr val="bg1">
                      <a:lumMod val="50000"/>
                    </a:schemeClr>
                  </a:solidFill>
                  <a:latin typeface="Calibri" panose="020F0502020204030204"/>
                </a:rPr>
                <a:t>스케줄링</a:t>
              </a:r>
              <a:endParaRPr lang="en-US" altLang="ko-KR" sz="800" b="1" dirty="0">
                <a:solidFill>
                  <a:schemeClr val="bg1">
                    <a:lumMod val="50000"/>
                  </a:schemeClr>
                </a:solidFill>
                <a:latin typeface="Calibri" panose="020F0502020204030204"/>
              </a:endParaRPr>
            </a:p>
          </p:txBody>
        </p:sp>
        <p:sp>
          <p:nvSpPr>
            <p:cNvPr id="86" name="직사각형 85"/>
            <p:cNvSpPr/>
            <p:nvPr/>
          </p:nvSpPr>
          <p:spPr>
            <a:xfrm>
              <a:off x="5850247" y="2623962"/>
              <a:ext cx="1865308" cy="49862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lvl="0" algn="ctr">
                <a:defRPr/>
              </a:pPr>
              <a:r>
                <a:rPr lang="en-US" altLang="ko-KR" sz="1200" b="1">
                  <a:solidFill>
                    <a:schemeClr val="tx1"/>
                  </a:solidFill>
                  <a:latin typeface="Calibri" panose="020F0502020204030204"/>
                </a:rPr>
                <a:t>Compute Library</a:t>
              </a:r>
            </a:p>
            <a:p>
              <a:pPr algn="ctr">
                <a:defRPr/>
              </a:pPr>
              <a:r>
                <a:rPr lang="ko-KR" altLang="en-US" sz="800" b="1">
                  <a:solidFill>
                    <a:schemeClr val="bg1">
                      <a:lumMod val="50000"/>
                    </a:schemeClr>
                  </a:solidFill>
                  <a:latin typeface="Calibri" panose="020F0502020204030204"/>
                </a:rPr>
                <a:t>연산 함수 </a:t>
              </a:r>
            </a:p>
          </p:txBody>
        </p:sp>
        <p:sp>
          <p:nvSpPr>
            <p:cNvPr id="87" name="직사각형 86"/>
            <p:cNvSpPr/>
            <p:nvPr/>
          </p:nvSpPr>
          <p:spPr>
            <a:xfrm>
              <a:off x="3492704" y="3318470"/>
              <a:ext cx="1865308" cy="498623"/>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chemeClr val="tx1"/>
                  </a:solidFill>
                  <a:latin typeface="Calibri" panose="020F0502020204030204"/>
                  <a:ea typeface="맑은 고딕" panose="020B0503020000020004" pitchFamily="50" charset="-127"/>
                </a:rPr>
                <a:t>Inference Engine</a:t>
              </a:r>
            </a:p>
            <a:p>
              <a:pPr lvl="0" algn="ctr">
                <a:defRPr/>
              </a:pPr>
              <a:r>
                <a:rPr lang="en-US" altLang="ko-KR" sz="800" b="1" dirty="0">
                  <a:solidFill>
                    <a:schemeClr val="bg1">
                      <a:lumMod val="50000"/>
                    </a:schemeClr>
                  </a:solidFill>
                  <a:latin typeface="Calibri" panose="020F0502020204030204"/>
                </a:rPr>
                <a:t>LLM </a:t>
              </a:r>
              <a:r>
                <a:rPr lang="ko-KR" altLang="en-US" sz="800" b="1" dirty="0">
                  <a:solidFill>
                    <a:schemeClr val="bg1">
                      <a:lumMod val="50000"/>
                    </a:schemeClr>
                  </a:solidFill>
                  <a:latin typeface="Calibri" panose="020F0502020204030204"/>
                </a:rPr>
                <a:t>출력 </a:t>
              </a:r>
              <a:r>
                <a:rPr lang="en-US" altLang="ko-KR" sz="800" b="1" dirty="0">
                  <a:solidFill>
                    <a:schemeClr val="bg1">
                      <a:lumMod val="50000"/>
                    </a:schemeClr>
                  </a:solidFill>
                  <a:latin typeface="Calibri" panose="020F0502020204030204"/>
                </a:rPr>
                <a:t>(</a:t>
              </a:r>
              <a:r>
                <a:rPr lang="ko-KR" altLang="en-US" sz="800" b="1" dirty="0">
                  <a:solidFill>
                    <a:schemeClr val="bg1">
                      <a:lumMod val="50000"/>
                    </a:schemeClr>
                  </a:solidFill>
                  <a:latin typeface="Calibri" panose="020F0502020204030204"/>
                </a:rPr>
                <a:t>토큰 생성</a:t>
              </a:r>
              <a:r>
                <a:rPr lang="en-US" altLang="ko-KR" sz="800" b="1" dirty="0">
                  <a:solidFill>
                    <a:schemeClr val="bg1">
                      <a:lumMod val="50000"/>
                    </a:schemeClr>
                  </a:solidFill>
                  <a:latin typeface="Calibri" panose="020F0502020204030204"/>
                </a:rPr>
                <a:t>)</a:t>
              </a:r>
              <a:endParaRPr lang="ko-KR" altLang="en-US" sz="800" b="1" dirty="0">
                <a:solidFill>
                  <a:schemeClr val="bg1">
                    <a:lumMod val="50000"/>
                  </a:schemeClr>
                </a:solidFill>
                <a:latin typeface="Calibri" panose="020F0502020204030204"/>
              </a:endParaRPr>
            </a:p>
          </p:txBody>
        </p:sp>
        <p:sp>
          <p:nvSpPr>
            <p:cNvPr id="88" name="직사각형 87"/>
            <p:cNvSpPr/>
            <p:nvPr/>
          </p:nvSpPr>
          <p:spPr>
            <a:xfrm>
              <a:off x="3492703" y="4250651"/>
              <a:ext cx="4222851" cy="45329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a:solidFill>
                    <a:schemeClr val="tx1"/>
                  </a:solidFill>
                  <a:latin typeface="Calibri" panose="020F0502020204030204"/>
                  <a:ea typeface="맑은 고딕" panose="020B0503020000020004" pitchFamily="50" charset="-127"/>
                </a:rPr>
                <a:t>Device Runtime/Driver</a:t>
              </a:r>
              <a:endParaRPr lang="en-US" altLang="ko-KR" sz="1200" b="1" dirty="0">
                <a:solidFill>
                  <a:schemeClr val="tx1"/>
                </a:solidFill>
                <a:latin typeface="Calibri" panose="020F0502020204030204"/>
                <a:ea typeface="맑은 고딕" panose="020B0503020000020004" pitchFamily="50" charset="-127"/>
              </a:endParaRPr>
            </a:p>
            <a:p>
              <a:pPr lvl="0" algn="ctr">
                <a:defRPr/>
              </a:pPr>
              <a:r>
                <a:rPr lang="ko-KR" altLang="en-US" sz="800" b="1">
                  <a:solidFill>
                    <a:prstClr val="white">
                      <a:lumMod val="50000"/>
                    </a:prstClr>
                  </a:solidFill>
                  <a:latin typeface="Calibri" panose="020F0502020204030204"/>
                </a:rPr>
                <a:t>실제 </a:t>
              </a:r>
              <a:r>
                <a:rPr lang="en-US" altLang="ko-KR" sz="800" b="1">
                  <a:solidFill>
                    <a:prstClr val="white">
                      <a:lumMod val="50000"/>
                    </a:prstClr>
                  </a:solidFill>
                  <a:latin typeface="Calibri" panose="020F0502020204030204"/>
                </a:rPr>
                <a:t>HW </a:t>
              </a:r>
              <a:r>
                <a:rPr lang="ko-KR" altLang="en-US" sz="800" b="1">
                  <a:solidFill>
                    <a:prstClr val="white">
                      <a:lumMod val="50000"/>
                    </a:prstClr>
                  </a:solidFill>
                  <a:latin typeface="Calibri" panose="020F0502020204030204"/>
                </a:rPr>
                <a:t>제어 함수 제공</a:t>
              </a:r>
            </a:p>
          </p:txBody>
        </p:sp>
        <p:sp>
          <p:nvSpPr>
            <p:cNvPr id="89" name="직사각형 88"/>
            <p:cNvSpPr/>
            <p:nvPr/>
          </p:nvSpPr>
          <p:spPr>
            <a:xfrm>
              <a:off x="3399220" y="5022253"/>
              <a:ext cx="666903"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GPU </a:t>
              </a:r>
              <a:endParaRPr lang="ko-KR" altLang="en-US" sz="800" b="1" dirty="0">
                <a:solidFill>
                  <a:prstClr val="black"/>
                </a:solidFill>
                <a:latin typeface="Calibri" panose="020F0502020204030204"/>
              </a:endParaRPr>
            </a:p>
          </p:txBody>
        </p:sp>
        <p:cxnSp>
          <p:nvCxnSpPr>
            <p:cNvPr id="90" name="직선 화살표 연결선 185">
              <a:extLst>
                <a:ext uri="{FF2B5EF4-FFF2-40B4-BE49-F238E27FC236}">
                  <a16:creationId xmlns:a16="http://schemas.microsoft.com/office/drawing/2014/main" id="{C77B044C-CFD5-4C99-9B08-C9CDFDD38AC5}"/>
                </a:ext>
              </a:extLst>
            </p:cNvPr>
            <p:cNvCxnSpPr>
              <a:cxnSpLocks/>
              <a:stCxn id="84" idx="0"/>
              <a:endCxn id="83" idx="2"/>
            </p:cNvCxnSpPr>
            <p:nvPr/>
          </p:nvCxnSpPr>
          <p:spPr>
            <a:xfrm flipV="1">
              <a:off x="5367829" y="1483770"/>
              <a:ext cx="1" cy="230204"/>
            </a:xfrm>
            <a:prstGeom prst="straightConnector1">
              <a:avLst/>
            </a:prstGeom>
            <a:noFill/>
            <a:ln w="6350">
              <a:solidFill>
                <a:srgbClr val="888C91"/>
              </a:solidFill>
              <a:prstDash val="solid"/>
              <a:headEnd type="triangle" w="med" len="med"/>
              <a:tailEnd type="none" w="med" len="med"/>
            </a:ln>
          </p:spPr>
        </p:cxnSp>
        <p:cxnSp>
          <p:nvCxnSpPr>
            <p:cNvPr id="93" name="직선 화살표 연결선 185">
              <a:extLst>
                <a:ext uri="{FF2B5EF4-FFF2-40B4-BE49-F238E27FC236}">
                  <a16:creationId xmlns:a16="http://schemas.microsoft.com/office/drawing/2014/main" id="{C77B044C-CFD5-4C99-9B08-C9CDFDD38AC5}"/>
                </a:ext>
              </a:extLst>
            </p:cNvPr>
            <p:cNvCxnSpPr>
              <a:cxnSpLocks/>
              <a:stCxn id="87" idx="0"/>
              <a:endCxn id="85" idx="2"/>
            </p:cNvCxnSpPr>
            <p:nvPr/>
          </p:nvCxnSpPr>
          <p:spPr>
            <a:xfrm flipV="1">
              <a:off x="4425358" y="3122585"/>
              <a:ext cx="0" cy="195885"/>
            </a:xfrm>
            <a:prstGeom prst="straightConnector1">
              <a:avLst/>
            </a:prstGeom>
            <a:noFill/>
            <a:ln w="6350">
              <a:solidFill>
                <a:srgbClr val="888C91"/>
              </a:solidFill>
              <a:prstDash val="solid"/>
              <a:headEnd type="triangle" w="med" len="med"/>
              <a:tailEnd type="none" w="med" len="med"/>
            </a:ln>
          </p:spPr>
        </p:cxnSp>
        <p:cxnSp>
          <p:nvCxnSpPr>
            <p:cNvPr id="94" name="직선 화살표 연결선 185">
              <a:extLst>
                <a:ext uri="{FF2B5EF4-FFF2-40B4-BE49-F238E27FC236}">
                  <a16:creationId xmlns:a16="http://schemas.microsoft.com/office/drawing/2014/main" id="{C77B044C-CFD5-4C99-9B08-C9CDFDD38AC5}"/>
                </a:ext>
              </a:extLst>
            </p:cNvPr>
            <p:cNvCxnSpPr>
              <a:cxnSpLocks/>
              <a:endCxn id="87" idx="2"/>
            </p:cNvCxnSpPr>
            <p:nvPr/>
          </p:nvCxnSpPr>
          <p:spPr>
            <a:xfrm flipV="1">
              <a:off x="4425358" y="3817093"/>
              <a:ext cx="0" cy="425073"/>
            </a:xfrm>
            <a:prstGeom prst="straightConnector1">
              <a:avLst/>
            </a:prstGeom>
            <a:noFill/>
            <a:ln w="6350">
              <a:solidFill>
                <a:srgbClr val="888C91"/>
              </a:solidFill>
              <a:prstDash val="solid"/>
              <a:headEnd type="triangle" w="med" len="med"/>
              <a:tailEnd type="none" w="med" len="med"/>
            </a:ln>
          </p:spPr>
        </p:cxnSp>
        <p:cxnSp>
          <p:nvCxnSpPr>
            <p:cNvPr id="95" name="직선 화살표 연결선 185">
              <a:extLst>
                <a:ext uri="{FF2B5EF4-FFF2-40B4-BE49-F238E27FC236}">
                  <a16:creationId xmlns:a16="http://schemas.microsoft.com/office/drawing/2014/main" id="{C77B044C-CFD5-4C99-9B08-C9CDFDD38AC5}"/>
                </a:ext>
              </a:extLst>
            </p:cNvPr>
            <p:cNvCxnSpPr>
              <a:cxnSpLocks/>
              <a:stCxn id="115" idx="0"/>
              <a:endCxn id="88" idx="2"/>
            </p:cNvCxnSpPr>
            <p:nvPr/>
          </p:nvCxnSpPr>
          <p:spPr>
            <a:xfrm rot="5400000" flipH="1" flipV="1">
              <a:off x="5218294" y="4636418"/>
              <a:ext cx="318308" cy="453363"/>
            </a:xfrm>
            <a:prstGeom prst="bentConnector3">
              <a:avLst>
                <a:gd name="adj1" fmla="val 50000"/>
              </a:avLst>
            </a:prstGeom>
            <a:noFill/>
            <a:ln w="6350">
              <a:solidFill>
                <a:srgbClr val="888C91"/>
              </a:solidFill>
              <a:prstDash val="solid"/>
              <a:headEnd type="triangle" w="med" len="med"/>
              <a:tailEnd type="none" w="med" len="med"/>
            </a:ln>
          </p:spPr>
        </p:cxnSp>
        <p:cxnSp>
          <p:nvCxnSpPr>
            <p:cNvPr id="97" name="직선 화살표 연결선 185">
              <a:extLst>
                <a:ext uri="{FF2B5EF4-FFF2-40B4-BE49-F238E27FC236}">
                  <a16:creationId xmlns:a16="http://schemas.microsoft.com/office/drawing/2014/main" id="{C77B044C-CFD5-4C99-9B08-C9CDFDD38AC5}"/>
                </a:ext>
              </a:extLst>
            </p:cNvPr>
            <p:cNvCxnSpPr>
              <a:cxnSpLocks/>
              <a:stCxn id="85" idx="0"/>
              <a:endCxn id="84" idx="2"/>
            </p:cNvCxnSpPr>
            <p:nvPr/>
          </p:nvCxnSpPr>
          <p:spPr>
            <a:xfrm rot="5400000" flipH="1" flipV="1">
              <a:off x="4743266" y="1999400"/>
              <a:ext cx="306654" cy="942470"/>
            </a:xfrm>
            <a:prstGeom prst="bentConnector3">
              <a:avLst>
                <a:gd name="adj1" fmla="val 50000"/>
              </a:avLst>
            </a:prstGeom>
            <a:noFill/>
            <a:ln w="6350">
              <a:solidFill>
                <a:srgbClr val="888C91"/>
              </a:solidFill>
              <a:prstDash val="solid"/>
              <a:headEnd type="triangle" w="med" len="med"/>
              <a:tailEnd type="none" w="med" len="med"/>
            </a:ln>
          </p:spPr>
        </p:cxnSp>
        <p:sp>
          <p:nvSpPr>
            <p:cNvPr id="98" name="직사각형 97"/>
            <p:cNvSpPr/>
            <p:nvPr/>
          </p:nvSpPr>
          <p:spPr>
            <a:xfrm>
              <a:off x="6972988" y="1685133"/>
              <a:ext cx="876880" cy="663667"/>
            </a:xfrm>
            <a:prstGeom prst="rect">
              <a:avLst/>
            </a:prstGeom>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Tool </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dirty="0">
                  <a:solidFill>
                    <a:schemeClr val="bg1">
                      <a:lumMod val="50000"/>
                    </a:schemeClr>
                  </a:solidFill>
                  <a:latin typeface="Calibri" panose="020F0502020204030204"/>
                  <a:ea typeface="맑은 고딕" panose="020B0503020000020004" pitchFamily="50" charset="-127"/>
                </a:rPr>
                <a:t>Web fetch, </a:t>
              </a:r>
              <a:r>
                <a:rPr lang="ko-KR" altLang="en-US" sz="800" b="1" dirty="0">
                  <a:solidFill>
                    <a:schemeClr val="bg1">
                      <a:lumMod val="50000"/>
                    </a:schemeClr>
                  </a:solidFill>
                  <a:latin typeface="Calibri" panose="020F0502020204030204"/>
                  <a:ea typeface="맑은 고딕" panose="020B0503020000020004" pitchFamily="50" charset="-127"/>
                </a:rPr>
                <a:t>스크립트 실행</a:t>
              </a:r>
              <a:r>
                <a:rPr lang="en-US" altLang="ko-KR" sz="800" b="1" dirty="0">
                  <a:solidFill>
                    <a:schemeClr val="bg1">
                      <a:lumMod val="50000"/>
                    </a:schemeClr>
                  </a:solidFill>
                  <a:latin typeface="Calibri" panose="020F0502020204030204"/>
                  <a:ea typeface="맑은 고딕" panose="020B0503020000020004" pitchFamily="50" charset="-127"/>
                </a:rPr>
                <a:t>, </a:t>
              </a:r>
              <a:r>
                <a:rPr lang="ko-KR" altLang="en-US" sz="800" b="1" dirty="0">
                  <a:solidFill>
                    <a:schemeClr val="bg1">
                      <a:lumMod val="50000"/>
                    </a:schemeClr>
                  </a:solidFill>
                  <a:latin typeface="Calibri" panose="020F0502020204030204"/>
                  <a:ea typeface="맑은 고딕" panose="020B0503020000020004" pitchFamily="50" charset="-127"/>
                </a:rPr>
                <a:t>계산기</a:t>
              </a:r>
              <a:r>
                <a:rPr lang="en-US" altLang="ko-KR" sz="800" b="1" dirty="0">
                  <a:solidFill>
                    <a:schemeClr val="bg1">
                      <a:lumMod val="50000"/>
                    </a:schemeClr>
                  </a:solidFill>
                  <a:latin typeface="Calibri" panose="020F0502020204030204"/>
                  <a:ea typeface="맑은 고딕" panose="020B0503020000020004" pitchFamily="50" charset="-127"/>
                </a:rPr>
                <a:t>, … </a:t>
              </a:r>
              <a:r>
                <a:rPr lang="ko-KR" altLang="en-US" sz="800" b="1" dirty="0">
                  <a:solidFill>
                    <a:schemeClr val="bg1">
                      <a:lumMod val="50000"/>
                    </a:schemeClr>
                  </a:solidFill>
                  <a:latin typeface="Calibri" panose="020F0502020204030204"/>
                  <a:ea typeface="맑은 고딕" panose="020B0503020000020004" pitchFamily="50" charset="-127"/>
                </a:rPr>
                <a:t> </a:t>
              </a:r>
            </a:p>
          </p:txBody>
        </p:sp>
        <p:cxnSp>
          <p:nvCxnSpPr>
            <p:cNvPr id="99" name="직선 화살표 연결선 185">
              <a:extLst>
                <a:ext uri="{FF2B5EF4-FFF2-40B4-BE49-F238E27FC236}">
                  <a16:creationId xmlns:a16="http://schemas.microsoft.com/office/drawing/2014/main" id="{C77B044C-CFD5-4C99-9B08-C9CDFDD38AC5}"/>
                </a:ext>
              </a:extLst>
            </p:cNvPr>
            <p:cNvCxnSpPr>
              <a:cxnSpLocks/>
              <a:stCxn id="98" idx="1"/>
              <a:endCxn id="84" idx="3"/>
            </p:cNvCxnSpPr>
            <p:nvPr/>
          </p:nvCxnSpPr>
          <p:spPr>
            <a:xfrm flipH="1" flipV="1">
              <a:off x="6733328" y="2015641"/>
              <a:ext cx="239660" cy="1326"/>
            </a:xfrm>
            <a:prstGeom prst="straightConnector1">
              <a:avLst/>
            </a:prstGeom>
            <a:noFill/>
            <a:ln w="6350">
              <a:solidFill>
                <a:srgbClr val="888C91"/>
              </a:solidFill>
              <a:prstDash val="solid"/>
              <a:headEnd type="triangle" w="med" len="med"/>
              <a:tailEnd type="none" w="med" len="med"/>
            </a:ln>
          </p:spPr>
        </p:cxnSp>
        <p:pic>
          <p:nvPicPr>
            <p:cNvPr id="100" name="Picture 20" descr="Welcome to vLLM — vLLM">
              <a:extLst>
                <a:ext uri="{FF2B5EF4-FFF2-40B4-BE49-F238E27FC236}">
                  <a16:creationId xmlns:a16="http://schemas.microsoft.com/office/drawing/2014/main" id="{9884D772-A696-C6F1-82A5-9A35E51C03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63869" y="3909451"/>
              <a:ext cx="575821" cy="183699"/>
            </a:xfrm>
            <a:prstGeom prst="rect">
              <a:avLst/>
            </a:prstGeom>
            <a:noFill/>
            <a:extLst>
              <a:ext uri="{909E8E84-426E-40DD-AFC4-6F175D3DCCD1}">
                <a14:hiddenFill xmlns:a14="http://schemas.microsoft.com/office/drawing/2010/main">
                  <a:solidFill>
                    <a:srgbClr val="FFFFFF"/>
                  </a:solidFill>
                </a14:hiddenFill>
              </a:ext>
            </a:extLst>
          </p:spPr>
        </p:pic>
        <p:pic>
          <p:nvPicPr>
            <p:cNvPr id="101" name="Picture 4" descr="Prism"/>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37359" y="3132304"/>
              <a:ext cx="406630" cy="136836"/>
            </a:xfrm>
            <a:prstGeom prst="rect">
              <a:avLst/>
            </a:prstGeom>
            <a:noFill/>
            <a:extLst>
              <a:ext uri="{909E8E84-426E-40DD-AFC4-6F175D3DCCD1}">
                <a14:hiddenFill xmlns:a14="http://schemas.microsoft.com/office/drawing/2010/main">
                  <a:solidFill>
                    <a:srgbClr val="FFFFFF"/>
                  </a:solidFill>
                </a14:hiddenFill>
              </a:ext>
            </a:extLst>
          </p:spPr>
        </p:pic>
        <p:pic>
          <p:nvPicPr>
            <p:cNvPr id="102" name="Picture 2" descr="OpenCode, 오픈소스 AI 코딩 에이전트의 가능성과 현실 - 박재홍의 실리콘밸리"/>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13102" y="1766483"/>
              <a:ext cx="364235" cy="225684"/>
            </a:xfrm>
            <a:prstGeom prst="rect">
              <a:avLst/>
            </a:prstGeom>
            <a:noFill/>
            <a:extLst>
              <a:ext uri="{909E8E84-426E-40DD-AFC4-6F175D3DCCD1}">
                <a14:hiddenFill xmlns:a14="http://schemas.microsoft.com/office/drawing/2010/main">
                  <a:solidFill>
                    <a:srgbClr val="FFFFFF"/>
                  </a:solidFill>
                </a14:hiddenFill>
              </a:ext>
            </a:extLst>
          </p:spPr>
        </p:pic>
        <p:sp>
          <p:nvSpPr>
            <p:cNvPr id="103" name="직사각형 102"/>
            <p:cNvSpPr/>
            <p:nvPr/>
          </p:nvSpPr>
          <p:spPr>
            <a:xfrm>
              <a:off x="3378450" y="2552220"/>
              <a:ext cx="2026092" cy="1297005"/>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직사각형 103"/>
            <p:cNvSpPr/>
            <p:nvPr/>
          </p:nvSpPr>
          <p:spPr>
            <a:xfrm>
              <a:off x="5850247" y="3322867"/>
              <a:ext cx="1865308" cy="49862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lvl="0" algn="ctr">
                <a:defRPr/>
              </a:pPr>
              <a:r>
                <a:rPr lang="en-US" altLang="ko-KR" sz="1200" b="1">
                  <a:solidFill>
                    <a:schemeClr val="tx1"/>
                  </a:solidFill>
                  <a:latin typeface="Calibri" panose="020F0502020204030204"/>
                </a:rPr>
                <a:t>Network Library</a:t>
              </a:r>
            </a:p>
            <a:p>
              <a:pPr algn="ctr">
                <a:defRPr/>
              </a:pPr>
              <a:r>
                <a:rPr lang="ko-KR" altLang="en-US" sz="800" b="1">
                  <a:solidFill>
                    <a:schemeClr val="bg1">
                      <a:lumMod val="50000"/>
                    </a:schemeClr>
                  </a:solidFill>
                  <a:latin typeface="Calibri" panose="020F0502020204030204"/>
                </a:rPr>
                <a:t>연산 함수 제공 </a:t>
              </a:r>
            </a:p>
          </p:txBody>
        </p:sp>
        <p:sp>
          <p:nvSpPr>
            <p:cNvPr id="105" name="모서리가 둥근 직사각형 104"/>
            <p:cNvSpPr/>
            <p:nvPr/>
          </p:nvSpPr>
          <p:spPr>
            <a:xfrm>
              <a:off x="3066450" y="925284"/>
              <a:ext cx="4824792" cy="5499063"/>
            </a:xfrm>
            <a:prstGeom prst="roundRect">
              <a:avLst>
                <a:gd name="adj" fmla="val 2369"/>
              </a:avLst>
            </a:prstGeom>
            <a:noFill/>
            <a:ln w="19050">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6" name="양쪽 모서리가 잘린 사각형 105"/>
            <p:cNvSpPr/>
            <p:nvPr/>
          </p:nvSpPr>
          <p:spPr>
            <a:xfrm>
              <a:off x="3059952" y="717570"/>
              <a:ext cx="4830981" cy="328694"/>
            </a:xfrm>
            <a:prstGeom prst="snip2SameRect">
              <a:avLst/>
            </a:prstGeom>
            <a:solidFill>
              <a:srgbClr val="333F50"/>
            </a:solidFill>
            <a:ln>
              <a:noFill/>
            </a:ln>
          </p:spPr>
          <p:style>
            <a:lnRef idx="2">
              <a:schemeClr val="accent1">
                <a:shade val="50000"/>
              </a:schemeClr>
            </a:lnRef>
            <a:fillRef idx="1">
              <a:schemeClr val="accent1"/>
            </a:fillRef>
            <a:effectRef idx="0">
              <a:schemeClr val="accent1"/>
            </a:effectRef>
            <a:fontRef idx="minor">
              <a:schemeClr val="lt1"/>
            </a:fontRef>
          </p:style>
          <p:txBody>
            <a:bodyPr lIns="91434" tIns="45718" rIns="91434" bIns="45718" rtlCol="0" anchor="ctr"/>
            <a:lstStyle/>
            <a:p>
              <a:pPr algn="ctr"/>
              <a:r>
                <a:rPr lang="ko-KR" altLang="en-US" sz="1200" b="1" dirty="0">
                  <a:latin typeface="+mn-ea"/>
                </a:rPr>
                <a:t>과제 범위</a:t>
              </a:r>
            </a:p>
          </p:txBody>
        </p:sp>
        <p:cxnSp>
          <p:nvCxnSpPr>
            <p:cNvPr id="109" name="직선 화살표 연결선 185">
              <a:extLst>
                <a:ext uri="{FF2B5EF4-FFF2-40B4-BE49-F238E27FC236}">
                  <a16:creationId xmlns:a16="http://schemas.microsoft.com/office/drawing/2014/main" id="{C77B044C-CFD5-4C99-9B08-C9CDFDD38AC5}"/>
                </a:ext>
              </a:extLst>
            </p:cNvPr>
            <p:cNvCxnSpPr>
              <a:cxnSpLocks/>
              <a:stCxn id="86" idx="1"/>
              <a:endCxn id="87" idx="3"/>
            </p:cNvCxnSpPr>
            <p:nvPr/>
          </p:nvCxnSpPr>
          <p:spPr>
            <a:xfrm rot="10800000" flipV="1">
              <a:off x="5358014" y="2873274"/>
              <a:ext cx="492235" cy="694508"/>
            </a:xfrm>
            <a:prstGeom prst="bentConnector3">
              <a:avLst>
                <a:gd name="adj1" fmla="val 50000"/>
              </a:avLst>
            </a:prstGeom>
            <a:noFill/>
            <a:ln w="6350">
              <a:solidFill>
                <a:srgbClr val="888C91"/>
              </a:solidFill>
              <a:prstDash val="solid"/>
              <a:headEnd type="triangle" w="med" len="med"/>
              <a:tailEnd type="none" w="med" len="med"/>
            </a:ln>
          </p:spPr>
        </p:cxnSp>
        <p:cxnSp>
          <p:nvCxnSpPr>
            <p:cNvPr id="110" name="직선 화살표 연결선 185">
              <a:extLst>
                <a:ext uri="{FF2B5EF4-FFF2-40B4-BE49-F238E27FC236}">
                  <a16:creationId xmlns:a16="http://schemas.microsoft.com/office/drawing/2014/main" id="{C77B044C-CFD5-4C99-9B08-C9CDFDD38AC5}"/>
                </a:ext>
              </a:extLst>
            </p:cNvPr>
            <p:cNvCxnSpPr>
              <a:cxnSpLocks/>
            </p:cNvCxnSpPr>
            <p:nvPr/>
          </p:nvCxnSpPr>
          <p:spPr>
            <a:xfrm flipV="1">
              <a:off x="6401234" y="3825578"/>
              <a:ext cx="0" cy="425073"/>
            </a:xfrm>
            <a:prstGeom prst="straightConnector1">
              <a:avLst/>
            </a:prstGeom>
            <a:noFill/>
            <a:ln w="6350">
              <a:solidFill>
                <a:srgbClr val="888C91"/>
              </a:solidFill>
              <a:prstDash val="solid"/>
              <a:headEnd type="triangle" w="med" len="med"/>
              <a:tailEnd type="none" w="med" len="med"/>
            </a:ln>
          </p:spPr>
        </p:cxnSp>
        <p:sp>
          <p:nvSpPr>
            <p:cNvPr id="111" name="실행 단추: 앞으로 또는 다음 110">
              <a:hlinkClick r:id="rId6" action="ppaction://hlinksldjump" highlightClick="1"/>
            </p:cNvPr>
            <p:cNvSpPr/>
            <p:nvPr/>
          </p:nvSpPr>
          <p:spPr>
            <a:xfrm>
              <a:off x="5039692" y="3919715"/>
              <a:ext cx="278562" cy="15049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3" name="직사각형 112"/>
            <p:cNvSpPr/>
            <p:nvPr/>
          </p:nvSpPr>
          <p:spPr>
            <a:xfrm>
              <a:off x="3399220" y="5466703"/>
              <a:ext cx="666903"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HBM</a:t>
              </a:r>
              <a:endParaRPr lang="ko-KR" altLang="en-US" sz="800" b="1" dirty="0">
                <a:solidFill>
                  <a:prstClr val="black"/>
                </a:solidFill>
                <a:latin typeface="Calibri" panose="020F0502020204030204"/>
              </a:endParaRPr>
            </a:p>
          </p:txBody>
        </p:sp>
        <p:sp>
          <p:nvSpPr>
            <p:cNvPr id="114" name="직사각형 113"/>
            <p:cNvSpPr/>
            <p:nvPr/>
          </p:nvSpPr>
          <p:spPr>
            <a:xfrm>
              <a:off x="4153495" y="5466703"/>
              <a:ext cx="806952"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DRAM</a:t>
              </a:r>
              <a:endParaRPr lang="ko-KR" altLang="en-US" sz="800" b="1" dirty="0">
                <a:solidFill>
                  <a:prstClr val="black"/>
                </a:solidFill>
                <a:latin typeface="Calibri" panose="020F0502020204030204"/>
              </a:endParaRPr>
            </a:p>
          </p:txBody>
        </p:sp>
        <p:sp>
          <p:nvSpPr>
            <p:cNvPr id="115" name="직사각형 114"/>
            <p:cNvSpPr/>
            <p:nvPr/>
          </p:nvSpPr>
          <p:spPr>
            <a:xfrm>
              <a:off x="4817315" y="5022253"/>
              <a:ext cx="666903"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CPU </a:t>
              </a:r>
              <a:endParaRPr lang="ko-KR" altLang="en-US" sz="800" b="1" dirty="0">
                <a:solidFill>
                  <a:prstClr val="black"/>
                </a:solidFill>
                <a:latin typeface="Calibri" panose="020F0502020204030204"/>
              </a:endParaRPr>
            </a:p>
          </p:txBody>
        </p:sp>
        <p:sp>
          <p:nvSpPr>
            <p:cNvPr id="116" name="직사각형 115"/>
            <p:cNvSpPr/>
            <p:nvPr/>
          </p:nvSpPr>
          <p:spPr>
            <a:xfrm>
              <a:off x="5073877" y="5465017"/>
              <a:ext cx="976414"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CXL-Memory</a:t>
              </a:r>
              <a:endParaRPr lang="ko-KR" altLang="en-US" sz="800" b="1" dirty="0">
                <a:solidFill>
                  <a:prstClr val="black"/>
                </a:solidFill>
                <a:latin typeface="Calibri" panose="020F0502020204030204"/>
              </a:endParaRPr>
            </a:p>
          </p:txBody>
        </p:sp>
        <p:cxnSp>
          <p:nvCxnSpPr>
            <p:cNvPr id="117" name="직선 연결선 116"/>
            <p:cNvCxnSpPr>
              <a:stCxn id="89" idx="2"/>
              <a:endCxn id="113" idx="0"/>
            </p:cNvCxnSpPr>
            <p:nvPr/>
          </p:nvCxnSpPr>
          <p:spPr>
            <a:xfrm>
              <a:off x="3732671" y="5337675"/>
              <a:ext cx="0" cy="12902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8" name="직선 연결선 117"/>
            <p:cNvCxnSpPr>
              <a:stCxn id="115" idx="2"/>
              <a:endCxn id="114" idx="0"/>
            </p:cNvCxnSpPr>
            <p:nvPr/>
          </p:nvCxnSpPr>
          <p:spPr>
            <a:xfrm flipH="1">
              <a:off x="4556971" y="5337675"/>
              <a:ext cx="593795" cy="12902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9" name="직선 연결선 118"/>
            <p:cNvCxnSpPr>
              <a:stCxn id="115" idx="2"/>
              <a:endCxn id="116" idx="0"/>
            </p:cNvCxnSpPr>
            <p:nvPr/>
          </p:nvCxnSpPr>
          <p:spPr>
            <a:xfrm>
              <a:off x="5150766" y="5337675"/>
              <a:ext cx="411318"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20" name="직사각형 119"/>
            <p:cNvSpPr/>
            <p:nvPr/>
          </p:nvSpPr>
          <p:spPr>
            <a:xfrm>
              <a:off x="6890889" y="5465017"/>
              <a:ext cx="666903"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SSD</a:t>
              </a:r>
              <a:endParaRPr lang="ko-KR" altLang="en-US" sz="800" b="1" dirty="0">
                <a:solidFill>
                  <a:prstClr val="black"/>
                </a:solidFill>
                <a:latin typeface="Calibri" panose="020F0502020204030204"/>
              </a:endParaRPr>
            </a:p>
          </p:txBody>
        </p:sp>
        <p:cxnSp>
          <p:nvCxnSpPr>
            <p:cNvPr id="121" name="직선 연결선 120"/>
            <p:cNvCxnSpPr>
              <a:stCxn id="115" idx="2"/>
              <a:endCxn id="120" idx="0"/>
            </p:cNvCxnSpPr>
            <p:nvPr/>
          </p:nvCxnSpPr>
          <p:spPr>
            <a:xfrm>
              <a:off x="5150766" y="5337675"/>
              <a:ext cx="2073574"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2" name="직선 화살표 연결선 185">
              <a:extLst>
                <a:ext uri="{FF2B5EF4-FFF2-40B4-BE49-F238E27FC236}">
                  <a16:creationId xmlns:a16="http://schemas.microsoft.com/office/drawing/2014/main" id="{C77B044C-CFD5-4C99-9B08-C9CDFDD38AC5}"/>
                </a:ext>
              </a:extLst>
            </p:cNvPr>
            <p:cNvCxnSpPr>
              <a:cxnSpLocks/>
              <a:stCxn id="89" idx="0"/>
              <a:endCxn id="88" idx="2"/>
            </p:cNvCxnSpPr>
            <p:nvPr/>
          </p:nvCxnSpPr>
          <p:spPr>
            <a:xfrm rot="5400000" flipH="1" flipV="1">
              <a:off x="4509246" y="3927370"/>
              <a:ext cx="318308" cy="1871458"/>
            </a:xfrm>
            <a:prstGeom prst="bentConnector3">
              <a:avLst>
                <a:gd name="adj1" fmla="val 50000"/>
              </a:avLst>
            </a:prstGeom>
            <a:noFill/>
            <a:ln w="6350">
              <a:solidFill>
                <a:srgbClr val="888C91"/>
              </a:solidFill>
              <a:prstDash val="solid"/>
              <a:headEnd type="triangle" w="med" len="med"/>
              <a:tailEnd type="none" w="med" len="med"/>
            </a:ln>
          </p:spPr>
        </p:cxnSp>
        <p:sp>
          <p:nvSpPr>
            <p:cNvPr id="123" name="직사각형 122"/>
            <p:cNvSpPr/>
            <p:nvPr/>
          </p:nvSpPr>
          <p:spPr>
            <a:xfrm>
              <a:off x="5228634" y="5894529"/>
              <a:ext cx="666904"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PNM</a:t>
              </a:r>
              <a:endParaRPr lang="ko-KR" altLang="en-US" sz="800" b="1" dirty="0">
                <a:solidFill>
                  <a:prstClr val="black"/>
                </a:solidFill>
                <a:latin typeface="Calibri" panose="020F0502020204030204"/>
              </a:endParaRPr>
            </a:p>
          </p:txBody>
        </p:sp>
        <p:sp>
          <p:nvSpPr>
            <p:cNvPr id="124" name="직사각형 123"/>
            <p:cNvSpPr/>
            <p:nvPr/>
          </p:nvSpPr>
          <p:spPr>
            <a:xfrm>
              <a:off x="6560607" y="5022253"/>
              <a:ext cx="947901" cy="315422"/>
            </a:xfrm>
            <a:prstGeom prst="rect">
              <a:avLst/>
            </a:prstGeom>
            <a:solidFill>
              <a:schemeClr val="accent4">
                <a:lumMod val="20000"/>
                <a:lumOff val="80000"/>
              </a:schemeClr>
            </a:solidFill>
            <a:ln>
              <a:prstDash val="dash"/>
            </a:ln>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err="1" smtClean="0">
                  <a:solidFill>
                    <a:prstClr val="black"/>
                  </a:solidFill>
                  <a:latin typeface="Calibri" panose="020F0502020204030204"/>
                </a:rPr>
                <a:t>ScHBM</a:t>
              </a:r>
              <a:endParaRPr lang="ko-KR" altLang="en-US" sz="800" b="1" dirty="0">
                <a:solidFill>
                  <a:prstClr val="black"/>
                </a:solidFill>
                <a:latin typeface="Calibri" panose="020F0502020204030204"/>
              </a:endParaRPr>
            </a:p>
          </p:txBody>
        </p:sp>
        <p:cxnSp>
          <p:nvCxnSpPr>
            <p:cNvPr id="125" name="직선 화살표 연결선 185">
              <a:extLst>
                <a:ext uri="{FF2B5EF4-FFF2-40B4-BE49-F238E27FC236}">
                  <a16:creationId xmlns:a16="http://schemas.microsoft.com/office/drawing/2014/main" id="{C77B044C-CFD5-4C99-9B08-C9CDFDD38AC5}"/>
                </a:ext>
              </a:extLst>
            </p:cNvPr>
            <p:cNvCxnSpPr>
              <a:cxnSpLocks/>
              <a:stCxn id="124" idx="0"/>
              <a:endCxn id="88" idx="2"/>
            </p:cNvCxnSpPr>
            <p:nvPr/>
          </p:nvCxnSpPr>
          <p:spPr>
            <a:xfrm rot="16200000" flipV="1">
              <a:off x="6160189" y="4147885"/>
              <a:ext cx="318308" cy="1430428"/>
            </a:xfrm>
            <a:prstGeom prst="bentConnector3">
              <a:avLst>
                <a:gd name="adj1" fmla="val 50000"/>
              </a:avLst>
            </a:prstGeom>
            <a:noFill/>
            <a:ln w="6350">
              <a:solidFill>
                <a:srgbClr val="888C91"/>
              </a:solidFill>
              <a:prstDash val="solid"/>
              <a:headEnd type="triangle" w="med" len="med"/>
              <a:tailEnd type="none" w="med" len="med"/>
            </a:ln>
          </p:spPr>
        </p:cxnSp>
        <p:sp>
          <p:nvSpPr>
            <p:cNvPr id="126" name="직사각형 125"/>
            <p:cNvSpPr/>
            <p:nvPr/>
          </p:nvSpPr>
          <p:spPr>
            <a:xfrm>
              <a:off x="6890889" y="5884226"/>
              <a:ext cx="666903"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a:solidFill>
                    <a:prstClr val="black"/>
                  </a:solidFill>
                  <a:latin typeface="Calibri" panose="020F0502020204030204"/>
                </a:rPr>
                <a:t>PIM</a:t>
              </a:r>
              <a:endParaRPr lang="ko-KR" altLang="en-US" sz="800" b="1" dirty="0">
                <a:solidFill>
                  <a:prstClr val="black"/>
                </a:solidFill>
                <a:latin typeface="Calibri" panose="020F0502020204030204"/>
              </a:endParaRPr>
            </a:p>
          </p:txBody>
        </p:sp>
        <p:cxnSp>
          <p:nvCxnSpPr>
            <p:cNvPr id="127" name="직선 연결선 126"/>
            <p:cNvCxnSpPr>
              <a:stCxn id="120" idx="2"/>
              <a:endCxn id="126" idx="0"/>
            </p:cNvCxnSpPr>
            <p:nvPr/>
          </p:nvCxnSpPr>
          <p:spPr>
            <a:xfrm>
              <a:off x="7224341" y="5780439"/>
              <a:ext cx="0" cy="103787"/>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28" name="직사각형 127"/>
            <p:cNvSpPr/>
            <p:nvPr/>
          </p:nvSpPr>
          <p:spPr>
            <a:xfrm>
              <a:off x="6186000" y="5465017"/>
              <a:ext cx="614531" cy="315422"/>
            </a:xfrm>
            <a:prstGeom prst="rect">
              <a:avLst/>
            </a:prstGeom>
            <a:solidFill>
              <a:schemeClr val="accent4">
                <a:lumMod val="20000"/>
                <a:lumOff val="80000"/>
              </a:schemeClr>
            </a:solidFill>
            <a:ln>
              <a:prstDash val="dash"/>
            </a:ln>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100" b="1" dirty="0" smtClean="0">
                  <a:solidFill>
                    <a:prstClr val="black"/>
                  </a:solidFill>
                  <a:latin typeface="Calibri" panose="020F0502020204030204"/>
                </a:rPr>
                <a:t>HBF</a:t>
              </a:r>
              <a:endParaRPr lang="ko-KR" altLang="en-US" sz="800" b="1" dirty="0">
                <a:solidFill>
                  <a:prstClr val="black"/>
                </a:solidFill>
                <a:latin typeface="Calibri" panose="020F0502020204030204"/>
              </a:endParaRPr>
            </a:p>
          </p:txBody>
        </p:sp>
        <p:cxnSp>
          <p:nvCxnSpPr>
            <p:cNvPr id="129" name="직선 연결선 128"/>
            <p:cNvCxnSpPr>
              <a:stCxn id="115" idx="2"/>
              <a:endCxn id="128" idx="0"/>
            </p:cNvCxnSpPr>
            <p:nvPr/>
          </p:nvCxnSpPr>
          <p:spPr>
            <a:xfrm>
              <a:off x="5150766" y="5337675"/>
              <a:ext cx="1342498"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a:stCxn id="116" idx="2"/>
              <a:endCxn id="123" idx="0"/>
            </p:cNvCxnSpPr>
            <p:nvPr/>
          </p:nvCxnSpPr>
          <p:spPr>
            <a:xfrm>
              <a:off x="5562084" y="5780439"/>
              <a:ext cx="3" cy="11409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31" name="직사각형 130"/>
          <p:cNvSpPr/>
          <p:nvPr/>
        </p:nvSpPr>
        <p:spPr>
          <a:xfrm>
            <a:off x="5881185" y="5862056"/>
            <a:ext cx="749883" cy="267872"/>
          </a:xfrm>
          <a:prstGeom prst="rect">
            <a:avLst/>
          </a:prstGeom>
          <a:solidFill>
            <a:schemeClr val="accent1">
              <a:lumMod val="20000"/>
              <a:lumOff val="80000"/>
            </a:schemeClr>
          </a:solidFill>
          <a:ln w="9525"/>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solidFill>
                  <a:schemeClr val="tx1"/>
                </a:solidFill>
                <a:latin typeface="Calibri" panose="020F0502020204030204"/>
              </a:rPr>
              <a:t>오픈소스 </a:t>
            </a:r>
            <a:r>
              <a:rPr lang="en-US" altLang="ko-KR" sz="800" b="1" dirty="0">
                <a:solidFill>
                  <a:schemeClr val="tx1"/>
                </a:solidFill>
                <a:latin typeface="Calibri" panose="020F0502020204030204"/>
              </a:rPr>
              <a:t>FW </a:t>
            </a:r>
            <a:r>
              <a:rPr lang="ko-KR" altLang="en-US" sz="800" b="1" dirty="0">
                <a:solidFill>
                  <a:schemeClr val="tx1"/>
                </a:solidFill>
                <a:latin typeface="Calibri" panose="020F0502020204030204"/>
              </a:rPr>
              <a:t>확장 </a:t>
            </a:r>
          </a:p>
        </p:txBody>
      </p:sp>
      <p:sp>
        <p:nvSpPr>
          <p:cNvPr id="133" name="직사각형 132"/>
          <p:cNvSpPr/>
          <p:nvPr/>
        </p:nvSpPr>
        <p:spPr>
          <a:xfrm>
            <a:off x="5877827" y="6150573"/>
            <a:ext cx="742663" cy="221382"/>
          </a:xfrm>
          <a:prstGeom prst="rect">
            <a:avLst/>
          </a:prstGeom>
          <a:solidFill>
            <a:schemeClr val="accent4">
              <a:lumMod val="20000"/>
              <a:lumOff val="80000"/>
            </a:schemeClr>
          </a:solidFill>
          <a:ln w="9525"/>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800" b="1" dirty="0">
                <a:solidFill>
                  <a:prstClr val="black"/>
                </a:solidFill>
                <a:latin typeface="Calibri" panose="020F0502020204030204"/>
              </a:rPr>
              <a:t>신규 메모리</a:t>
            </a:r>
          </a:p>
        </p:txBody>
      </p:sp>
      <p:sp>
        <p:nvSpPr>
          <p:cNvPr id="134" name="모서리가 둥근 직사각형 133"/>
          <p:cNvSpPr/>
          <p:nvPr/>
        </p:nvSpPr>
        <p:spPr>
          <a:xfrm>
            <a:off x="10526187" y="923476"/>
            <a:ext cx="1418987" cy="5526039"/>
          </a:xfrm>
          <a:prstGeom prst="roundRect">
            <a:avLst>
              <a:gd name="adj" fmla="val 2369"/>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양쪽 모서리가 잘린 사각형 134"/>
          <p:cNvSpPr/>
          <p:nvPr/>
        </p:nvSpPr>
        <p:spPr>
          <a:xfrm>
            <a:off x="10526187" y="717570"/>
            <a:ext cx="1418988" cy="318961"/>
          </a:xfrm>
          <a:prstGeom prst="snip2SameRect">
            <a:avLst/>
          </a:prstGeom>
          <a:solidFill>
            <a:srgbClr val="33513D"/>
          </a:solidFill>
          <a:ln>
            <a:noFill/>
          </a:ln>
        </p:spPr>
        <p:style>
          <a:lnRef idx="2">
            <a:schemeClr val="accent1">
              <a:shade val="50000"/>
            </a:schemeClr>
          </a:lnRef>
          <a:fillRef idx="1">
            <a:schemeClr val="accent1"/>
          </a:fillRef>
          <a:effectRef idx="0">
            <a:schemeClr val="accent1"/>
          </a:effectRef>
          <a:fontRef idx="minor">
            <a:schemeClr val="lt1"/>
          </a:fontRef>
        </p:style>
        <p:txBody>
          <a:bodyPr lIns="91434" tIns="45718" rIns="91434" bIns="45718" rtlCol="0" anchor="ctr"/>
          <a:lstStyle/>
          <a:p>
            <a:pPr algn="ctr"/>
            <a:r>
              <a:rPr lang="en-US" altLang="ko-KR" sz="1200" b="1" dirty="0">
                <a:latin typeface="+mn-ea"/>
              </a:rPr>
              <a:t>Target Memory</a:t>
            </a:r>
            <a:endParaRPr lang="ko-KR" altLang="en-US" sz="1200" b="1" dirty="0">
              <a:latin typeface="+mn-ea"/>
            </a:endParaRPr>
          </a:p>
        </p:txBody>
      </p:sp>
      <p:grpSp>
        <p:nvGrpSpPr>
          <p:cNvPr id="136" name="그룹 135"/>
          <p:cNvGrpSpPr/>
          <p:nvPr/>
        </p:nvGrpSpPr>
        <p:grpSpPr>
          <a:xfrm>
            <a:off x="10696628" y="5087348"/>
            <a:ext cx="1063160" cy="1316778"/>
            <a:chOff x="10380055" y="2623962"/>
            <a:chExt cx="1286424" cy="1316778"/>
          </a:xfrm>
        </p:grpSpPr>
        <p:pic>
          <p:nvPicPr>
            <p:cNvPr id="137" name="그림 136"/>
            <p:cNvPicPr>
              <a:picLocks noChangeAspect="1"/>
            </p:cNvPicPr>
            <p:nvPr/>
          </p:nvPicPr>
          <p:blipFill rotWithShape="1">
            <a:blip r:embed="rId7"/>
            <a:srcRect l="8565" t="2372" r="9981" b="34301"/>
            <a:stretch/>
          </p:blipFill>
          <p:spPr>
            <a:xfrm>
              <a:off x="10380055" y="2623962"/>
              <a:ext cx="1286424" cy="1094829"/>
            </a:xfrm>
            <a:prstGeom prst="rect">
              <a:avLst/>
            </a:prstGeom>
            <a:solidFill>
              <a:schemeClr val="tx1"/>
            </a:solidFill>
          </p:spPr>
        </p:pic>
        <p:sp>
          <p:nvSpPr>
            <p:cNvPr id="139" name="TextBox 138"/>
            <p:cNvSpPr txBox="1"/>
            <p:nvPr/>
          </p:nvSpPr>
          <p:spPr>
            <a:xfrm>
              <a:off x="10613579" y="3679130"/>
              <a:ext cx="937231" cy="261610"/>
            </a:xfrm>
            <a:prstGeom prst="rect">
              <a:avLst/>
            </a:prstGeom>
            <a:noFill/>
          </p:spPr>
          <p:txBody>
            <a:bodyPr wrap="none" rtlCol="0">
              <a:spAutoFit/>
            </a:bodyPr>
            <a:lstStyle/>
            <a:p>
              <a:r>
                <a:rPr lang="en-US" altLang="ko-KR" sz="1100" b="1" dirty="0"/>
                <a:t>PIM-SSD</a:t>
              </a:r>
              <a:endParaRPr lang="ko-KR" altLang="en-US" sz="1100" b="1" dirty="0"/>
            </a:p>
          </p:txBody>
        </p:sp>
      </p:grpSp>
      <p:grpSp>
        <p:nvGrpSpPr>
          <p:cNvPr id="141" name="그룹 140"/>
          <p:cNvGrpSpPr/>
          <p:nvPr/>
        </p:nvGrpSpPr>
        <p:grpSpPr>
          <a:xfrm>
            <a:off x="10634399" y="3476125"/>
            <a:ext cx="1214899" cy="1276029"/>
            <a:chOff x="10219614" y="3398879"/>
            <a:chExt cx="1617031" cy="1403632"/>
          </a:xfrm>
        </p:grpSpPr>
        <p:pic>
          <p:nvPicPr>
            <p:cNvPr id="142" name="그림 141"/>
            <p:cNvPicPr>
              <a:picLocks noChangeAspect="1"/>
            </p:cNvPicPr>
            <p:nvPr/>
          </p:nvPicPr>
          <p:blipFill rotWithShape="1">
            <a:blip r:embed="rId8" cstate="print">
              <a:extLst>
                <a:ext uri="{28A0092B-C50C-407E-A947-70E740481C1C}">
                  <a14:useLocalDpi xmlns:a14="http://schemas.microsoft.com/office/drawing/2010/main" val="0"/>
                </a:ext>
              </a:extLst>
            </a:blip>
            <a:srcRect l="2149" t="2553" r="9045" b="45911"/>
            <a:stretch/>
          </p:blipFill>
          <p:spPr>
            <a:xfrm>
              <a:off x="10219614" y="3398879"/>
              <a:ext cx="1617031" cy="1149321"/>
            </a:xfrm>
            <a:prstGeom prst="rect">
              <a:avLst/>
            </a:prstGeom>
          </p:spPr>
        </p:pic>
        <p:sp>
          <p:nvSpPr>
            <p:cNvPr id="143" name="TextBox 142"/>
            <p:cNvSpPr txBox="1"/>
            <p:nvPr/>
          </p:nvSpPr>
          <p:spPr>
            <a:xfrm>
              <a:off x="10633718" y="4540901"/>
              <a:ext cx="830676" cy="261610"/>
            </a:xfrm>
            <a:prstGeom prst="rect">
              <a:avLst/>
            </a:prstGeom>
            <a:noFill/>
          </p:spPr>
          <p:txBody>
            <a:bodyPr wrap="none" rtlCol="0">
              <a:spAutoFit/>
            </a:bodyPr>
            <a:lstStyle/>
            <a:p>
              <a:pPr algn="ctr"/>
              <a:r>
                <a:rPr lang="en-US" altLang="ko-KR" sz="1100" b="1" dirty="0"/>
                <a:t>CXL-PNM</a:t>
              </a:r>
              <a:endParaRPr lang="ko-KR" altLang="en-US" sz="1100" b="1" dirty="0"/>
            </a:p>
          </p:txBody>
        </p:sp>
      </p:grpSp>
      <p:pic>
        <p:nvPicPr>
          <p:cNvPr id="144" name="그림 143"/>
          <p:cNvPicPr>
            <a:picLocks noChangeAspect="1"/>
          </p:cNvPicPr>
          <p:nvPr/>
        </p:nvPicPr>
        <p:blipFill rotWithShape="1">
          <a:blip r:embed="rId9"/>
          <a:srcRect l="6481" t="25682" r="5591" b="13151"/>
          <a:stretch/>
        </p:blipFill>
        <p:spPr>
          <a:xfrm>
            <a:off x="10612534" y="1147960"/>
            <a:ext cx="1209007" cy="595041"/>
          </a:xfrm>
          <a:prstGeom prst="rect">
            <a:avLst/>
          </a:prstGeom>
        </p:spPr>
      </p:pic>
      <p:pic>
        <p:nvPicPr>
          <p:cNvPr id="145" name="그림 144"/>
          <p:cNvPicPr>
            <a:picLocks noChangeAspect="1"/>
          </p:cNvPicPr>
          <p:nvPr/>
        </p:nvPicPr>
        <p:blipFill rotWithShape="1">
          <a:blip r:embed="rId10"/>
          <a:srcRect l="6282" t="29226" r="3865" b="20950"/>
          <a:stretch/>
        </p:blipFill>
        <p:spPr>
          <a:xfrm>
            <a:off x="10606862" y="2322787"/>
            <a:ext cx="1318378" cy="682318"/>
          </a:xfrm>
          <a:prstGeom prst="rect">
            <a:avLst/>
          </a:prstGeom>
        </p:spPr>
      </p:pic>
      <p:sp>
        <p:nvSpPr>
          <p:cNvPr id="146" name="TextBox 145"/>
          <p:cNvSpPr txBox="1"/>
          <p:nvPr/>
        </p:nvSpPr>
        <p:spPr>
          <a:xfrm>
            <a:off x="11048027" y="1846995"/>
            <a:ext cx="429499" cy="261610"/>
          </a:xfrm>
          <a:prstGeom prst="rect">
            <a:avLst/>
          </a:prstGeom>
          <a:noFill/>
        </p:spPr>
        <p:txBody>
          <a:bodyPr wrap="none" rtlCol="0">
            <a:spAutoFit/>
          </a:bodyPr>
          <a:lstStyle/>
          <a:p>
            <a:pPr algn="ctr"/>
            <a:r>
              <a:rPr lang="en-US" altLang="ko-KR" sz="1100" b="1" dirty="0"/>
              <a:t>HBM</a:t>
            </a:r>
            <a:endParaRPr lang="ko-KR" altLang="en-US" sz="1100" b="1" dirty="0"/>
          </a:p>
        </p:txBody>
      </p:sp>
      <p:sp>
        <p:nvSpPr>
          <p:cNvPr id="147" name="TextBox 146"/>
          <p:cNvSpPr txBox="1"/>
          <p:nvPr/>
        </p:nvSpPr>
        <p:spPr>
          <a:xfrm>
            <a:off x="11006958" y="3010269"/>
            <a:ext cx="511636" cy="261610"/>
          </a:xfrm>
          <a:prstGeom prst="rect">
            <a:avLst/>
          </a:prstGeom>
          <a:noFill/>
        </p:spPr>
        <p:txBody>
          <a:bodyPr wrap="none" rtlCol="0">
            <a:spAutoFit/>
          </a:bodyPr>
          <a:lstStyle/>
          <a:p>
            <a:pPr algn="ctr"/>
            <a:r>
              <a:rPr lang="en-US" altLang="ko-KR" sz="1100" b="1" dirty="0"/>
              <a:t>DRAM</a:t>
            </a:r>
            <a:endParaRPr lang="ko-KR" altLang="en-US" sz="1100" b="1" dirty="0"/>
          </a:p>
        </p:txBody>
      </p:sp>
      <p:sp>
        <p:nvSpPr>
          <p:cNvPr id="65" name="TextBox 64"/>
          <p:cNvSpPr txBox="1"/>
          <p:nvPr/>
        </p:nvSpPr>
        <p:spPr>
          <a:xfrm>
            <a:off x="6716307" y="6590108"/>
            <a:ext cx="1689886" cy="215444"/>
          </a:xfrm>
          <a:prstGeom prst="rect">
            <a:avLst/>
          </a:prstGeom>
          <a:noFill/>
        </p:spPr>
        <p:txBody>
          <a:bodyPr wrap="none" rtlCol="0">
            <a:spAutoFit/>
          </a:bodyPr>
          <a:lstStyle/>
          <a:p>
            <a:r>
              <a:rPr lang="en-US" altLang="ko-KR" sz="800" dirty="0" smtClean="0">
                <a:solidFill>
                  <a:schemeClr val="tx1">
                    <a:lumMod val="75000"/>
                    <a:lumOff val="25000"/>
                  </a:schemeClr>
                </a:solidFill>
              </a:rPr>
              <a:t>**HBF: High Bandwidth Memory</a:t>
            </a:r>
            <a:endParaRPr lang="ko-KR" altLang="en-US" sz="800" dirty="0">
              <a:solidFill>
                <a:schemeClr val="tx1">
                  <a:lumMod val="75000"/>
                  <a:lumOff val="25000"/>
                </a:schemeClr>
              </a:solidFill>
            </a:endParaRPr>
          </a:p>
        </p:txBody>
      </p:sp>
    </p:spTree>
    <p:extLst>
      <p:ext uri="{BB962C8B-B14F-4D97-AF65-F5344CB8AC3E}">
        <p14:creationId xmlns:p14="http://schemas.microsoft.com/office/powerpoint/2010/main" val="361148360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3" name="그룹 62">
            <a:extLst>
              <a:ext uri="{FF2B5EF4-FFF2-40B4-BE49-F238E27FC236}">
                <a16:creationId xmlns:a16="http://schemas.microsoft.com/office/drawing/2014/main" id="{A6E887FA-DB31-47CF-96B4-21482567E561}"/>
              </a:ext>
            </a:extLst>
          </p:cNvPr>
          <p:cNvGrpSpPr/>
          <p:nvPr/>
        </p:nvGrpSpPr>
        <p:grpSpPr>
          <a:xfrm>
            <a:off x="905115" y="4384720"/>
            <a:ext cx="509433" cy="406151"/>
            <a:chOff x="394031" y="4827631"/>
            <a:chExt cx="566661" cy="483705"/>
          </a:xfrm>
        </p:grpSpPr>
        <p:pic>
          <p:nvPicPr>
            <p:cNvPr id="64" name="Picture 3">
              <a:extLst>
                <a:ext uri="{FF2B5EF4-FFF2-40B4-BE49-F238E27FC236}">
                  <a16:creationId xmlns:a16="http://schemas.microsoft.com/office/drawing/2014/main" id="{8528B64E-1C70-4482-983B-C50DB90C948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985" y="4827631"/>
              <a:ext cx="483707" cy="4837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2">
              <a:extLst>
                <a:ext uri="{FF2B5EF4-FFF2-40B4-BE49-F238E27FC236}">
                  <a16:creationId xmlns:a16="http://schemas.microsoft.com/office/drawing/2014/main" id="{F22028D3-AAA2-4383-9091-DF7A365F30E5}"/>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94031" y="4834577"/>
              <a:ext cx="336747" cy="444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160" name="실행 단추: 앞으로 또는 다음 159">
            <a:hlinkClick r:id="rId5" action="ppaction://hlinksldjump" highlightClick="1"/>
          </p:cNvPr>
          <p:cNvSpPr/>
          <p:nvPr/>
        </p:nvSpPr>
        <p:spPr>
          <a:xfrm>
            <a:off x="446490" y="2490605"/>
            <a:ext cx="198120" cy="19052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a:extLst>
              <a:ext uri="{FF2B5EF4-FFF2-40B4-BE49-F238E27FC236}">
                <a16:creationId xmlns:a16="http://schemas.microsoft.com/office/drawing/2014/main" id="{AB4BC2A7-8170-4CFC-8BD2-26DE7B29F068}"/>
              </a:ext>
            </a:extLst>
          </p:cNvPr>
          <p:cNvGrpSpPr/>
          <p:nvPr/>
        </p:nvGrpSpPr>
        <p:grpSpPr>
          <a:xfrm>
            <a:off x="905115" y="5164069"/>
            <a:ext cx="509433" cy="406151"/>
            <a:chOff x="394031" y="4827631"/>
            <a:chExt cx="566661" cy="483705"/>
          </a:xfrm>
        </p:grpSpPr>
        <p:pic>
          <p:nvPicPr>
            <p:cNvPr id="74" name="Picture 3">
              <a:extLst>
                <a:ext uri="{FF2B5EF4-FFF2-40B4-BE49-F238E27FC236}">
                  <a16:creationId xmlns:a16="http://schemas.microsoft.com/office/drawing/2014/main" id="{30AB0C03-7EDC-4245-9A45-139C2A66AF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985" y="4827631"/>
              <a:ext cx="483707" cy="4837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2">
              <a:extLst>
                <a:ext uri="{FF2B5EF4-FFF2-40B4-BE49-F238E27FC236}">
                  <a16:creationId xmlns:a16="http://schemas.microsoft.com/office/drawing/2014/main" id="{93D2D388-FC09-440D-8BD4-7CF1E439477C}"/>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94031" y="4834577"/>
              <a:ext cx="336747" cy="444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17" name="오른쪽 화살표 28">
            <a:extLst>
              <a:ext uri="{FF2B5EF4-FFF2-40B4-BE49-F238E27FC236}">
                <a16:creationId xmlns:a16="http://schemas.microsoft.com/office/drawing/2014/main" id="{226600EF-A5D1-4867-B303-DD2DFCAF32B8}"/>
              </a:ext>
            </a:extLst>
          </p:cNvPr>
          <p:cNvSpPr/>
          <p:nvPr/>
        </p:nvSpPr>
        <p:spPr>
          <a:xfrm>
            <a:off x="148450" y="960918"/>
            <a:ext cx="11972042" cy="299393"/>
          </a:xfrm>
          <a:prstGeom prst="rightArrow">
            <a:avLst>
              <a:gd name="adj1" fmla="val 50000"/>
              <a:gd name="adj2" fmla="val 90932"/>
            </a:avLst>
          </a:prstGeom>
          <a:solidFill>
            <a:schemeClr val="bg2">
              <a:lumMod val="90000"/>
            </a:schemeClr>
          </a:solid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5" name="양쪽 모서리가 잘린 사각형 116">
            <a:extLst>
              <a:ext uri="{FF2B5EF4-FFF2-40B4-BE49-F238E27FC236}">
                <a16:creationId xmlns:a16="http://schemas.microsoft.com/office/drawing/2014/main" id="{9AA1A3CF-22C0-4B45-99D5-CE0A095A06F5}"/>
              </a:ext>
            </a:extLst>
          </p:cNvPr>
          <p:cNvSpPr/>
          <p:nvPr/>
        </p:nvSpPr>
        <p:spPr>
          <a:xfrm>
            <a:off x="434385" y="729407"/>
            <a:ext cx="2826801" cy="381219"/>
          </a:xfrm>
          <a:prstGeom prst="snip2Same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1400" b="1" i="0" u="none" strike="noStrike" kern="1200" cap="none" spc="0" normalizeH="0" baseline="0" noProof="0" dirty="0">
                <a:ln>
                  <a:noFill/>
                </a:ln>
                <a:solidFill>
                  <a:prstClr val="white"/>
                </a:solidFill>
                <a:effectLst/>
                <a:uLnTx/>
                <a:uFillTx/>
                <a:latin typeface="맑은 고딕" panose="020B0503020000020004" pitchFamily="50" charset="-127"/>
                <a:ea typeface="맑은 고딕" panose="020B0503020000020004" pitchFamily="50" charset="-127"/>
                <a:cs typeface="+mn-cs"/>
              </a:rPr>
              <a:t>요구사항 수집</a:t>
            </a:r>
            <a:endParaRPr kumimoji="0" lang="en-US" altLang="ko-KR" sz="1400" b="1" i="0" u="none" strike="noStrike" kern="1200" cap="none" spc="0" normalizeH="0" baseline="0" noProof="0" dirty="0">
              <a:ln>
                <a:noFill/>
              </a:ln>
              <a:solidFill>
                <a:prstClr val="white"/>
              </a:solidFill>
              <a:effectLst/>
              <a:uLnTx/>
              <a:uFillTx/>
              <a:latin typeface="맑은 고딕" panose="020B0503020000020004" pitchFamily="50" charset="-127"/>
              <a:ea typeface="맑은 고딕" panose="020B0503020000020004" pitchFamily="50" charset="-127"/>
              <a:cs typeface="+mn-cs"/>
            </a:endParaRPr>
          </a:p>
        </p:txBody>
      </p:sp>
      <p:sp>
        <p:nvSpPr>
          <p:cNvPr id="4" name="제목 3"/>
          <p:cNvSpPr>
            <a:spLocks noGrp="1"/>
          </p:cNvSpPr>
          <p:nvPr>
            <p:ph type="title"/>
          </p:nvPr>
        </p:nvSpPr>
        <p:spPr/>
        <p:txBody>
          <a:bodyPr/>
          <a:lstStyle/>
          <a:p>
            <a:r>
              <a:rPr lang="ko-KR" altLang="en-US" dirty="0"/>
              <a:t>요구사항 수집 및 분석</a:t>
            </a:r>
            <a:endParaRPr lang="en-US" altLang="ko-KR" dirty="0"/>
          </a:p>
        </p:txBody>
      </p:sp>
      <p:sp>
        <p:nvSpPr>
          <p:cNvPr id="21" name="TextBox 20">
            <a:extLst>
              <a:ext uri="{FF2B5EF4-FFF2-40B4-BE49-F238E27FC236}">
                <a16:creationId xmlns:a16="http://schemas.microsoft.com/office/drawing/2014/main" id="{91FFEC83-CDA3-4829-B99A-AA42996FABE5}"/>
              </a:ext>
            </a:extLst>
          </p:cNvPr>
          <p:cNvSpPr txBox="1"/>
          <p:nvPr/>
        </p:nvSpPr>
        <p:spPr>
          <a:xfrm>
            <a:off x="490744" y="1318473"/>
            <a:ext cx="2657838" cy="300744"/>
          </a:xfrm>
          <a:prstGeom prst="roundRect">
            <a:avLst>
              <a:gd name="adj" fmla="val 9481"/>
            </a:avLst>
          </a:prstGeom>
          <a:solidFill>
            <a:srgbClr val="F2F2F2">
              <a:alpha val="50196"/>
            </a:srgbClr>
          </a:solidFill>
          <a:ln>
            <a:solidFill>
              <a:schemeClr val="bg1">
                <a:lumMod val="75000"/>
              </a:schemeClr>
            </a:solidFill>
          </a:ln>
        </p:spPr>
        <p:txBody>
          <a:bodyPr wrap="square" lIns="27000" tIns="0" rIns="0" bIns="0" rtlCol="0" anchor="ctr" anchorCtr="0">
            <a:noAutofit/>
          </a:bodyPr>
          <a:lstStyle/>
          <a:p>
            <a:pPr marL="128588" indent="-81000">
              <a:spcBef>
                <a:spcPts val="225"/>
              </a:spcBef>
              <a:spcAft>
                <a:spcPts val="225"/>
              </a:spcAft>
              <a:buFont typeface="Wingdings" panose="05000000000000000000" pitchFamily="2" charset="2"/>
              <a:buChar char="§"/>
            </a:pPr>
            <a:r>
              <a:rPr lang="ko-KR" altLang="en-US" sz="1050" b="1" dirty="0">
                <a:effectLst>
                  <a:glow rad="50800">
                    <a:schemeClr val="bg1">
                      <a:alpha val="70000"/>
                    </a:schemeClr>
                  </a:glow>
                </a:effectLst>
              </a:rPr>
              <a:t>주요 </a:t>
            </a:r>
            <a:r>
              <a:rPr lang="en-US" altLang="ko-KR" sz="1050" b="1" dirty="0">
                <a:effectLst>
                  <a:glow rad="50800">
                    <a:schemeClr val="bg1">
                      <a:alpha val="70000"/>
                    </a:schemeClr>
                  </a:glow>
                </a:effectLst>
              </a:rPr>
              <a:t>Stakeholder </a:t>
            </a:r>
            <a:r>
              <a:rPr lang="ko-KR" altLang="en-US" sz="1050" b="1" dirty="0">
                <a:effectLst>
                  <a:glow rad="50800">
                    <a:schemeClr val="bg1">
                      <a:alpha val="70000"/>
                    </a:schemeClr>
                  </a:glow>
                </a:effectLst>
              </a:rPr>
              <a:t>선정 및 의견 청취</a:t>
            </a:r>
            <a:endParaRPr lang="ko-KR" altLang="en-US" sz="900" dirty="0">
              <a:effectLst>
                <a:glow rad="50800">
                  <a:schemeClr val="bg1">
                    <a:alpha val="70000"/>
                  </a:schemeClr>
                </a:glow>
              </a:effectLst>
              <a:latin typeface="+mn-ea"/>
            </a:endParaRPr>
          </a:p>
        </p:txBody>
      </p:sp>
      <p:grpSp>
        <p:nvGrpSpPr>
          <p:cNvPr id="37" name="그룹 36">
            <a:extLst>
              <a:ext uri="{FF2B5EF4-FFF2-40B4-BE49-F238E27FC236}">
                <a16:creationId xmlns:a16="http://schemas.microsoft.com/office/drawing/2014/main" id="{928C1DC0-A15D-41FB-90BB-DC8BA9228D5D}"/>
              </a:ext>
            </a:extLst>
          </p:cNvPr>
          <p:cNvGrpSpPr/>
          <p:nvPr/>
        </p:nvGrpSpPr>
        <p:grpSpPr>
          <a:xfrm>
            <a:off x="877566" y="2789344"/>
            <a:ext cx="523885" cy="368763"/>
            <a:chOff x="357223" y="3258615"/>
            <a:chExt cx="578018" cy="435622"/>
          </a:xfrm>
        </p:grpSpPr>
        <p:pic>
          <p:nvPicPr>
            <p:cNvPr id="38" name="Picture 7" descr="http://cfs9.blog.daum.net/image/31/blog/2007/06/05/10/10/4664b8082c95b">
              <a:hlinkClick r:id="rId6"/>
              <a:extLst>
                <a:ext uri="{FF2B5EF4-FFF2-40B4-BE49-F238E27FC236}">
                  <a16:creationId xmlns:a16="http://schemas.microsoft.com/office/drawing/2014/main" id="{0D90F639-1259-47C6-97C2-35C9AFE7CB3F}"/>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6934" y="3273982"/>
              <a:ext cx="408307" cy="353889"/>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2">
              <a:extLst>
                <a:ext uri="{FF2B5EF4-FFF2-40B4-BE49-F238E27FC236}">
                  <a16:creationId xmlns:a16="http://schemas.microsoft.com/office/drawing/2014/main" id="{32DD36AC-0F1E-4F8F-A212-11A117FC0CCD}"/>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57223" y="3258615"/>
              <a:ext cx="330016" cy="435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cxnSp>
        <p:nvCxnSpPr>
          <p:cNvPr id="41" name="직선 연결선 73">
            <a:extLst>
              <a:ext uri="{FF2B5EF4-FFF2-40B4-BE49-F238E27FC236}">
                <a16:creationId xmlns:a16="http://schemas.microsoft.com/office/drawing/2014/main" id="{34BB7B71-41F2-4F28-A019-A24E78135B69}"/>
              </a:ext>
            </a:extLst>
          </p:cNvPr>
          <p:cNvCxnSpPr/>
          <p:nvPr/>
        </p:nvCxnSpPr>
        <p:spPr>
          <a:xfrm>
            <a:off x="3385456" y="1189081"/>
            <a:ext cx="17803" cy="5125144"/>
          </a:xfrm>
          <a:prstGeom prst="line">
            <a:avLst/>
          </a:prstGeom>
          <a:ln>
            <a:solidFill>
              <a:schemeClr val="bg1">
                <a:lumMod val="8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67" name="그룹 66">
            <a:extLst>
              <a:ext uri="{FF2B5EF4-FFF2-40B4-BE49-F238E27FC236}">
                <a16:creationId xmlns:a16="http://schemas.microsoft.com/office/drawing/2014/main" id="{4CD6BCCF-B9B4-48D7-A174-D3903256BBCF}"/>
              </a:ext>
            </a:extLst>
          </p:cNvPr>
          <p:cNvGrpSpPr/>
          <p:nvPr/>
        </p:nvGrpSpPr>
        <p:grpSpPr>
          <a:xfrm>
            <a:off x="873449" y="3566578"/>
            <a:ext cx="523885" cy="368763"/>
            <a:chOff x="357223" y="3258615"/>
            <a:chExt cx="578018" cy="435622"/>
          </a:xfrm>
        </p:grpSpPr>
        <p:pic>
          <p:nvPicPr>
            <p:cNvPr id="68" name="Picture 7" descr="http://cfs9.blog.daum.net/image/31/blog/2007/06/05/10/10/4664b8082c95b">
              <a:hlinkClick r:id="rId6"/>
              <a:extLst>
                <a:ext uri="{FF2B5EF4-FFF2-40B4-BE49-F238E27FC236}">
                  <a16:creationId xmlns:a16="http://schemas.microsoft.com/office/drawing/2014/main" id="{B696F41A-223C-4143-9E4C-2F4B3C7A229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6934" y="3273982"/>
              <a:ext cx="408307" cy="353889"/>
            </a:xfrm>
            <a:prstGeom prst="rect">
              <a:avLst/>
            </a:prstGeom>
            <a:noFill/>
            <a:extLst>
              <a:ext uri="{909E8E84-426E-40DD-AFC4-6F175D3DCCD1}">
                <a14:hiddenFill xmlns:a14="http://schemas.microsoft.com/office/drawing/2010/main">
                  <a:solidFill>
                    <a:srgbClr val="FFFFFF"/>
                  </a:solidFill>
                </a14:hiddenFill>
              </a:ext>
            </a:extLst>
          </p:spPr>
        </p:pic>
        <p:pic>
          <p:nvPicPr>
            <p:cNvPr id="69" name="Picture 2">
              <a:extLst>
                <a:ext uri="{FF2B5EF4-FFF2-40B4-BE49-F238E27FC236}">
                  <a16:creationId xmlns:a16="http://schemas.microsoft.com/office/drawing/2014/main" id="{288B1F40-036D-4A3F-9F15-E8FF434F747D}"/>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57223" y="3258615"/>
              <a:ext cx="330016" cy="435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70" name="그룹 69">
            <a:extLst>
              <a:ext uri="{FF2B5EF4-FFF2-40B4-BE49-F238E27FC236}">
                <a16:creationId xmlns:a16="http://schemas.microsoft.com/office/drawing/2014/main" id="{8712185C-C023-4B98-B289-17DE7A3CBB08}"/>
              </a:ext>
            </a:extLst>
          </p:cNvPr>
          <p:cNvGrpSpPr/>
          <p:nvPr/>
        </p:nvGrpSpPr>
        <p:grpSpPr>
          <a:xfrm>
            <a:off x="873366" y="2033080"/>
            <a:ext cx="523885" cy="368763"/>
            <a:chOff x="357223" y="3258615"/>
            <a:chExt cx="578018" cy="435622"/>
          </a:xfrm>
        </p:grpSpPr>
        <p:pic>
          <p:nvPicPr>
            <p:cNvPr id="71" name="Picture 7" descr="http://cfs9.blog.daum.net/image/31/blog/2007/06/05/10/10/4664b8082c95b">
              <a:hlinkClick r:id="rId6"/>
              <a:extLst>
                <a:ext uri="{FF2B5EF4-FFF2-40B4-BE49-F238E27FC236}">
                  <a16:creationId xmlns:a16="http://schemas.microsoft.com/office/drawing/2014/main" id="{D2BAF332-530A-4501-8856-1B5FCF2A2D6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6934" y="3273982"/>
              <a:ext cx="408307" cy="353889"/>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a:extLst>
                <a:ext uri="{FF2B5EF4-FFF2-40B4-BE49-F238E27FC236}">
                  <a16:creationId xmlns:a16="http://schemas.microsoft.com/office/drawing/2014/main" id="{FDAB8658-50B0-410E-991A-A0CAA43321A1}"/>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57223" y="3258615"/>
              <a:ext cx="330016" cy="435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76" name="그룹 75">
            <a:extLst>
              <a:ext uri="{FF2B5EF4-FFF2-40B4-BE49-F238E27FC236}">
                <a16:creationId xmlns:a16="http://schemas.microsoft.com/office/drawing/2014/main" id="{942919C2-0490-456F-ABB1-18CE4CBC6E19}"/>
              </a:ext>
            </a:extLst>
          </p:cNvPr>
          <p:cNvGrpSpPr/>
          <p:nvPr/>
        </p:nvGrpSpPr>
        <p:grpSpPr>
          <a:xfrm>
            <a:off x="890663" y="5943418"/>
            <a:ext cx="523885" cy="368763"/>
            <a:chOff x="357223" y="3258615"/>
            <a:chExt cx="578018" cy="435622"/>
          </a:xfrm>
        </p:grpSpPr>
        <p:pic>
          <p:nvPicPr>
            <p:cNvPr id="79" name="Picture 7" descr="http://cfs9.blog.daum.net/image/31/blog/2007/06/05/10/10/4664b8082c95b">
              <a:hlinkClick r:id="rId6"/>
              <a:extLst>
                <a:ext uri="{FF2B5EF4-FFF2-40B4-BE49-F238E27FC236}">
                  <a16:creationId xmlns:a16="http://schemas.microsoft.com/office/drawing/2014/main" id="{DAECB72E-C2F9-48B5-ABCB-FE93FF31AD40}"/>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6934" y="3273982"/>
              <a:ext cx="408307" cy="353889"/>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a:extLst>
                <a:ext uri="{FF2B5EF4-FFF2-40B4-BE49-F238E27FC236}">
                  <a16:creationId xmlns:a16="http://schemas.microsoft.com/office/drawing/2014/main" id="{53536C09-CB8B-49DD-BA9B-A7AA799FF85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57223" y="3258615"/>
              <a:ext cx="330016" cy="4356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5" name="TextBox 24">
            <a:extLst>
              <a:ext uri="{FF2B5EF4-FFF2-40B4-BE49-F238E27FC236}">
                <a16:creationId xmlns:a16="http://schemas.microsoft.com/office/drawing/2014/main" id="{6CCA94C3-F2E4-42C0-869C-4B9E4F8B814A}"/>
              </a:ext>
            </a:extLst>
          </p:cNvPr>
          <p:cNvSpPr txBox="1"/>
          <p:nvPr/>
        </p:nvSpPr>
        <p:spPr>
          <a:xfrm>
            <a:off x="8328083" y="1318472"/>
            <a:ext cx="3114198" cy="921453"/>
          </a:xfrm>
          <a:prstGeom prst="roundRect">
            <a:avLst>
              <a:gd name="adj" fmla="val 9481"/>
            </a:avLst>
          </a:prstGeom>
          <a:solidFill>
            <a:srgbClr val="F2F2F2">
              <a:alpha val="50196"/>
            </a:srgbClr>
          </a:solidFill>
          <a:ln>
            <a:solidFill>
              <a:schemeClr val="bg1">
                <a:lumMod val="75000"/>
              </a:schemeClr>
            </a:solidFill>
          </a:ln>
        </p:spPr>
        <p:txBody>
          <a:bodyPr wrap="square" lIns="27000" tIns="0" rIns="0" bIns="0" rtlCol="0" anchor="ctr" anchorCtr="0">
            <a:noAutofit/>
          </a:bodyPr>
          <a:lstStyle/>
          <a:p>
            <a:pPr marL="128588" indent="-81000">
              <a:lnSpc>
                <a:spcPct val="150000"/>
              </a:lnSpc>
              <a:spcBef>
                <a:spcPts val="225"/>
              </a:spcBef>
              <a:spcAft>
                <a:spcPts val="225"/>
              </a:spcAft>
              <a:buFont typeface="Wingdings" panose="05000000000000000000" pitchFamily="2" charset="2"/>
              <a:buChar char="§"/>
            </a:pPr>
            <a:r>
              <a:rPr lang="ko-KR" altLang="en-US" sz="1050" b="1" dirty="0">
                <a:effectLst>
                  <a:glow rad="50800">
                    <a:schemeClr val="bg1">
                      <a:alpha val="70000"/>
                    </a:schemeClr>
                  </a:glow>
                </a:effectLst>
              </a:rPr>
              <a:t> 기능</a:t>
            </a:r>
            <a:r>
              <a:rPr lang="en-US" altLang="ko-KR" sz="1050" b="1" dirty="0">
                <a:effectLst>
                  <a:glow rad="50800">
                    <a:schemeClr val="bg1">
                      <a:alpha val="70000"/>
                    </a:schemeClr>
                  </a:glow>
                </a:effectLst>
              </a:rPr>
              <a:t>/</a:t>
            </a:r>
            <a:r>
              <a:rPr lang="ko-KR" altLang="en-US" sz="1050" b="1" dirty="0">
                <a:effectLst>
                  <a:glow rad="50800">
                    <a:schemeClr val="bg1">
                      <a:alpha val="70000"/>
                    </a:schemeClr>
                  </a:glow>
                </a:effectLst>
              </a:rPr>
              <a:t>품질</a:t>
            </a:r>
            <a:r>
              <a:rPr lang="en-US" altLang="ko-KR" sz="1050" b="1" dirty="0">
                <a:effectLst>
                  <a:glow rad="50800">
                    <a:schemeClr val="bg1">
                      <a:alpha val="70000"/>
                    </a:schemeClr>
                  </a:glow>
                </a:effectLst>
              </a:rPr>
              <a:t>/</a:t>
            </a:r>
            <a:r>
              <a:rPr lang="ko-KR" altLang="en-US" sz="1050" b="1" dirty="0">
                <a:effectLst>
                  <a:glow rad="50800">
                    <a:schemeClr val="bg1">
                      <a:alpha val="70000"/>
                    </a:schemeClr>
                  </a:glow>
                </a:effectLst>
              </a:rPr>
              <a:t>제약사항 분류</a:t>
            </a:r>
            <a:endParaRPr lang="en-US" altLang="ko-KR" sz="1050" b="1" dirty="0">
              <a:effectLst>
                <a:glow rad="50800">
                  <a:schemeClr val="bg1">
                    <a:alpha val="70000"/>
                  </a:schemeClr>
                </a:glow>
              </a:effectLst>
            </a:endParaRPr>
          </a:p>
          <a:p>
            <a:pPr marL="128588" indent="-81000">
              <a:lnSpc>
                <a:spcPct val="150000"/>
              </a:lnSpc>
              <a:spcBef>
                <a:spcPts val="225"/>
              </a:spcBef>
              <a:spcAft>
                <a:spcPts val="225"/>
              </a:spcAft>
              <a:buFont typeface="Wingdings" panose="05000000000000000000" pitchFamily="2" charset="2"/>
              <a:buChar char="§"/>
            </a:pPr>
            <a:r>
              <a:rPr lang="en-US" altLang="ko-KR" sz="1050" b="1" dirty="0">
                <a:effectLst>
                  <a:glow rad="50800">
                    <a:schemeClr val="bg1">
                      <a:alpha val="70000"/>
                    </a:schemeClr>
                  </a:glow>
                </a:effectLst>
              </a:rPr>
              <a:t>QAW</a:t>
            </a:r>
            <a:r>
              <a:rPr lang="ko-KR" altLang="en-US" sz="1050" b="1" dirty="0">
                <a:effectLst>
                  <a:glow rad="50800">
                    <a:schemeClr val="bg1">
                      <a:alpha val="70000"/>
                    </a:schemeClr>
                  </a:glow>
                </a:effectLst>
              </a:rPr>
              <a:t>를 통한 품질 속성 우선순위 화</a:t>
            </a:r>
            <a:endParaRPr lang="en-US" altLang="ko-KR" sz="1050" b="1" dirty="0">
              <a:effectLst>
                <a:glow rad="50800">
                  <a:schemeClr val="bg1">
                    <a:alpha val="70000"/>
                  </a:schemeClr>
                </a:glow>
              </a:effectLst>
            </a:endParaRPr>
          </a:p>
          <a:p>
            <a:pPr marL="128588" indent="-81000">
              <a:lnSpc>
                <a:spcPct val="150000"/>
              </a:lnSpc>
              <a:spcBef>
                <a:spcPts val="225"/>
              </a:spcBef>
              <a:spcAft>
                <a:spcPts val="225"/>
              </a:spcAft>
              <a:buFont typeface="Wingdings" panose="05000000000000000000" pitchFamily="2" charset="2"/>
              <a:buChar char="§"/>
            </a:pPr>
            <a:r>
              <a:rPr lang="ko-KR" altLang="en-US" sz="1050" b="1" dirty="0">
                <a:effectLst>
                  <a:glow rad="50800">
                    <a:schemeClr val="bg1">
                      <a:alpha val="70000"/>
                    </a:schemeClr>
                  </a:glow>
                </a:effectLst>
              </a:rPr>
              <a:t>설계에 영향을 주는 핵심 요구사항 </a:t>
            </a:r>
            <a:r>
              <a:rPr lang="en-US" altLang="ko-KR" sz="1050" b="1" dirty="0">
                <a:effectLst>
                  <a:glow rad="50800">
                    <a:schemeClr val="bg1">
                      <a:alpha val="70000"/>
                    </a:schemeClr>
                  </a:glow>
                </a:effectLst>
              </a:rPr>
              <a:t>11</a:t>
            </a:r>
            <a:r>
              <a:rPr lang="ko-KR" altLang="en-US" sz="1050" b="1" dirty="0">
                <a:effectLst>
                  <a:glow rad="50800">
                    <a:schemeClr val="bg1">
                      <a:alpha val="70000"/>
                    </a:schemeClr>
                  </a:glow>
                </a:effectLst>
              </a:rPr>
              <a:t>종 선정</a:t>
            </a:r>
            <a:endParaRPr lang="en-US" altLang="ko-KR" sz="1050" b="1" dirty="0">
              <a:effectLst>
                <a:glow rad="50800">
                  <a:schemeClr val="bg1">
                    <a:alpha val="70000"/>
                  </a:schemeClr>
                </a:glow>
              </a:effectLst>
            </a:endParaRPr>
          </a:p>
        </p:txBody>
      </p:sp>
      <p:cxnSp>
        <p:nvCxnSpPr>
          <p:cNvPr id="42" name="직선 연결선 74">
            <a:extLst>
              <a:ext uri="{FF2B5EF4-FFF2-40B4-BE49-F238E27FC236}">
                <a16:creationId xmlns:a16="http://schemas.microsoft.com/office/drawing/2014/main" id="{73A850CA-BB31-48F9-BFAA-17285A29565F}"/>
              </a:ext>
            </a:extLst>
          </p:cNvPr>
          <p:cNvCxnSpPr/>
          <p:nvPr/>
        </p:nvCxnSpPr>
        <p:spPr>
          <a:xfrm>
            <a:off x="8100053" y="1203121"/>
            <a:ext cx="0" cy="3591000"/>
          </a:xfrm>
          <a:prstGeom prst="line">
            <a:avLst/>
          </a:prstGeom>
          <a:ln>
            <a:solidFill>
              <a:schemeClr val="bg1">
                <a:lumMod val="8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직선 연결선 124">
            <a:extLst>
              <a:ext uri="{FF2B5EF4-FFF2-40B4-BE49-F238E27FC236}">
                <a16:creationId xmlns:a16="http://schemas.microsoft.com/office/drawing/2014/main" id="{AA51284D-5633-45C6-9661-0E0BECB0DAC5}"/>
              </a:ext>
            </a:extLst>
          </p:cNvPr>
          <p:cNvCxnSpPr/>
          <p:nvPr/>
        </p:nvCxnSpPr>
        <p:spPr>
          <a:xfrm>
            <a:off x="11700354" y="1195585"/>
            <a:ext cx="79430" cy="5125946"/>
          </a:xfrm>
          <a:prstGeom prst="line">
            <a:avLst/>
          </a:prstGeom>
          <a:ln>
            <a:solidFill>
              <a:schemeClr val="bg1">
                <a:lumMod val="8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4" name="양쪽 모서리가 잘린 사각형 117">
            <a:extLst>
              <a:ext uri="{FF2B5EF4-FFF2-40B4-BE49-F238E27FC236}">
                <a16:creationId xmlns:a16="http://schemas.microsoft.com/office/drawing/2014/main" id="{D7420376-10A7-4696-A608-8696E4DAC4BB}"/>
              </a:ext>
            </a:extLst>
          </p:cNvPr>
          <p:cNvSpPr/>
          <p:nvPr/>
        </p:nvSpPr>
        <p:spPr>
          <a:xfrm>
            <a:off x="8180163" y="731126"/>
            <a:ext cx="3420430" cy="381219"/>
          </a:xfrm>
          <a:prstGeom prst="snip2Same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solidFill>
                  <a:prstClr val="white"/>
                </a:solidFill>
                <a:latin typeface="맑은 고딕" panose="020B0503020000020004" pitchFamily="50" charset="-127"/>
                <a:ea typeface="맑은 고딕" panose="020B0503020000020004" pitchFamily="50" charset="-127"/>
              </a:rPr>
              <a:t>Architecture Driver </a:t>
            </a:r>
            <a:r>
              <a:rPr lang="ko-KR" altLang="en-US" sz="1400" b="1" dirty="0">
                <a:solidFill>
                  <a:prstClr val="white"/>
                </a:solidFill>
                <a:latin typeface="맑은 고딕" panose="020B0503020000020004" pitchFamily="50" charset="-127"/>
                <a:ea typeface="맑은 고딕" panose="020B0503020000020004" pitchFamily="50" charset="-127"/>
              </a:rPr>
              <a:t>도출</a:t>
            </a:r>
            <a:endParaRPr lang="en-US" altLang="ko-KR" sz="1400" b="1" dirty="0">
              <a:solidFill>
                <a:prstClr val="white"/>
              </a:solidFill>
              <a:latin typeface="맑은 고딕" panose="020B0503020000020004" pitchFamily="50" charset="-127"/>
              <a:ea typeface="맑은 고딕" panose="020B0503020000020004" pitchFamily="50" charset="-127"/>
            </a:endParaRPr>
          </a:p>
        </p:txBody>
      </p:sp>
      <p:sp>
        <p:nvSpPr>
          <p:cNvPr id="150" name="실행 단추: 앞으로 또는 다음 149">
            <a:hlinkClick r:id="rId8" action="ppaction://hlinksldjump" highlightClick="1"/>
          </p:cNvPr>
          <p:cNvSpPr/>
          <p:nvPr/>
        </p:nvSpPr>
        <p:spPr>
          <a:xfrm>
            <a:off x="421251" y="3243504"/>
            <a:ext cx="198120" cy="19052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실행 단추: 앞으로 또는 다음 161">
            <a:hlinkClick r:id="rId9" action="ppaction://hlinksldjump" highlightClick="1"/>
          </p:cNvPr>
          <p:cNvSpPr/>
          <p:nvPr/>
        </p:nvSpPr>
        <p:spPr>
          <a:xfrm>
            <a:off x="407509" y="3994919"/>
            <a:ext cx="198120" cy="19052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p:cNvGrpSpPr/>
          <p:nvPr/>
        </p:nvGrpSpPr>
        <p:grpSpPr>
          <a:xfrm>
            <a:off x="3818925" y="729407"/>
            <a:ext cx="3912021" cy="3055663"/>
            <a:chOff x="3212562" y="729407"/>
            <a:chExt cx="2826801" cy="3055663"/>
          </a:xfrm>
        </p:grpSpPr>
        <p:sp>
          <p:nvSpPr>
            <p:cNvPr id="22" name="TextBox 21">
              <a:extLst>
                <a:ext uri="{FF2B5EF4-FFF2-40B4-BE49-F238E27FC236}">
                  <a16:creationId xmlns:a16="http://schemas.microsoft.com/office/drawing/2014/main" id="{703FB1BF-A70C-4402-8CD7-6A7722AFA745}"/>
                </a:ext>
              </a:extLst>
            </p:cNvPr>
            <p:cNvSpPr txBox="1"/>
            <p:nvPr/>
          </p:nvSpPr>
          <p:spPr>
            <a:xfrm>
              <a:off x="3330857" y="1279676"/>
              <a:ext cx="2563736" cy="1083372"/>
            </a:xfrm>
            <a:prstGeom prst="roundRect">
              <a:avLst>
                <a:gd name="adj" fmla="val 3438"/>
              </a:avLst>
            </a:prstGeom>
            <a:solidFill>
              <a:srgbClr val="F2F2F2">
                <a:alpha val="50196"/>
              </a:srgbClr>
            </a:solidFill>
            <a:ln>
              <a:solidFill>
                <a:schemeClr val="bg1">
                  <a:lumMod val="75000"/>
                </a:schemeClr>
              </a:solidFill>
            </a:ln>
          </p:spPr>
          <p:txBody>
            <a:bodyPr wrap="square" lIns="27000" tIns="0" rIns="0" bIns="0" rtlCol="0" anchor="ctr" anchorCtr="0">
              <a:noAutofit/>
            </a:bodyPr>
            <a:lstStyle/>
            <a:p>
              <a:pPr marL="128588" lvl="0" indent="-81000">
                <a:spcBef>
                  <a:spcPts val="225"/>
                </a:spcBef>
                <a:spcAft>
                  <a:spcPts val="225"/>
                </a:spcAft>
                <a:buFont typeface="Wingdings" panose="05000000000000000000" pitchFamily="2" charset="2"/>
                <a:buChar char="§"/>
              </a:pPr>
              <a:r>
                <a:rPr lang="en-US" altLang="ko-KR" sz="1050" b="1" dirty="0">
                  <a:solidFill>
                    <a:prstClr val="black"/>
                  </a:solidFill>
                  <a:effectLst>
                    <a:glow rad="50800">
                      <a:prstClr val="white">
                        <a:alpha val="70000"/>
                      </a:prstClr>
                    </a:glow>
                  </a:effectLst>
                  <a:latin typeface="맑은 고딕" panose="020B0503020000020004" pitchFamily="50" charset="-127"/>
                </a:rPr>
                <a:t> </a:t>
              </a:r>
              <a:r>
                <a:rPr lang="ko-KR" altLang="en-US" sz="1050" b="1" dirty="0">
                  <a:solidFill>
                    <a:prstClr val="black"/>
                  </a:solidFill>
                  <a:effectLst>
                    <a:glow rad="50800">
                      <a:prstClr val="white">
                        <a:alpha val="70000"/>
                      </a:prstClr>
                    </a:glow>
                  </a:effectLst>
                  <a:latin typeface="맑은 고딕" panose="020B0503020000020004" pitchFamily="50" charset="-127"/>
                </a:rPr>
                <a:t>요구사항 분석</a:t>
              </a:r>
              <a:endParaRPr lang="en-US" altLang="ko-KR" sz="1050" b="1" dirty="0">
                <a:solidFill>
                  <a:prstClr val="black"/>
                </a:solidFill>
                <a:effectLst>
                  <a:glow rad="50800">
                    <a:prstClr val="white">
                      <a:alpha val="70000"/>
                    </a:prstClr>
                  </a:glow>
                </a:effectLst>
                <a:latin typeface="맑은 고딕" panose="020B0503020000020004" pitchFamily="50" charset="-127"/>
              </a:endParaRPr>
            </a:p>
            <a:p>
              <a:pPr marL="219038" lvl="0" indent="-171450">
                <a:spcBef>
                  <a:spcPts val="225"/>
                </a:spcBef>
                <a:spcAft>
                  <a:spcPts val="225"/>
                </a:spcAft>
                <a:buFontTx/>
                <a:buChar char="-"/>
              </a:pPr>
              <a:r>
                <a:rPr lang="ko-KR" altLang="en-US" sz="1050" dirty="0">
                  <a:solidFill>
                    <a:prstClr val="black"/>
                  </a:solidFill>
                  <a:effectLst>
                    <a:glow rad="50800">
                      <a:prstClr val="white">
                        <a:alpha val="70000"/>
                      </a:prstClr>
                    </a:glow>
                  </a:effectLst>
                  <a:latin typeface="맑은 고딕" panose="020B0503020000020004" pitchFamily="50" charset="-127"/>
                </a:rPr>
                <a:t>요구사항 분류 </a:t>
              </a:r>
              <a:r>
                <a:rPr lang="en-US" altLang="ko-KR" sz="1050" dirty="0">
                  <a:solidFill>
                    <a:prstClr val="black"/>
                  </a:solidFill>
                  <a:effectLst>
                    <a:glow rad="50800">
                      <a:prstClr val="white">
                        <a:alpha val="70000"/>
                      </a:prstClr>
                    </a:glow>
                  </a:effectLst>
                  <a:latin typeface="맑은 고딕" panose="020B0503020000020004" pitchFamily="50" charset="-127"/>
                </a:rPr>
                <a:t>(</a:t>
              </a:r>
              <a:r>
                <a:rPr lang="ko-KR" altLang="en-US" sz="1050" dirty="0">
                  <a:solidFill>
                    <a:prstClr val="black"/>
                  </a:solidFill>
                  <a:effectLst>
                    <a:glow rad="50800">
                      <a:prstClr val="white">
                        <a:alpha val="70000"/>
                      </a:prstClr>
                    </a:glow>
                  </a:effectLst>
                  <a:latin typeface="맑은 고딕" panose="020B0503020000020004" pitchFamily="50" charset="-127"/>
                </a:rPr>
                <a:t>비즈니스 </a:t>
              </a:r>
              <a:r>
                <a:rPr lang="en-US" altLang="ko-KR" sz="1050" dirty="0">
                  <a:solidFill>
                    <a:prstClr val="black"/>
                  </a:solidFill>
                  <a:effectLst>
                    <a:glow rad="50800">
                      <a:prstClr val="white">
                        <a:alpha val="70000"/>
                      </a:prstClr>
                    </a:glow>
                  </a:effectLst>
                  <a:latin typeface="맑은 고딕" panose="020B0503020000020004" pitchFamily="50" charset="-127"/>
                </a:rPr>
                <a:t>&amp; </a:t>
              </a:r>
              <a:r>
                <a:rPr lang="ko-KR" altLang="en-US" sz="1050" dirty="0">
                  <a:solidFill>
                    <a:prstClr val="black"/>
                  </a:solidFill>
                  <a:effectLst>
                    <a:glow rad="50800">
                      <a:prstClr val="white">
                        <a:alpha val="70000"/>
                      </a:prstClr>
                    </a:glow>
                  </a:effectLst>
                  <a:latin typeface="맑은 고딕" panose="020B0503020000020004" pitchFamily="50" charset="-127"/>
                </a:rPr>
                <a:t>기술</a:t>
              </a:r>
              <a:r>
                <a:rPr lang="en-US" altLang="ko-KR" sz="1050" dirty="0">
                  <a:solidFill>
                    <a:prstClr val="black"/>
                  </a:solidFill>
                  <a:effectLst>
                    <a:glow rad="50800">
                      <a:prstClr val="white">
                        <a:alpha val="70000"/>
                      </a:prstClr>
                    </a:glow>
                  </a:effectLst>
                  <a:latin typeface="맑은 고딕" panose="020B0503020000020004" pitchFamily="50" charset="-127"/>
                </a:rPr>
                <a:t>)</a:t>
              </a:r>
            </a:p>
            <a:p>
              <a:pPr marL="219038" lvl="0" indent="-171450">
                <a:spcBef>
                  <a:spcPts val="225"/>
                </a:spcBef>
                <a:spcAft>
                  <a:spcPts val="225"/>
                </a:spcAft>
                <a:buFontTx/>
                <a:buChar char="-"/>
              </a:pPr>
              <a:r>
                <a:rPr lang="ko-KR" altLang="en-US" sz="1050" dirty="0">
                  <a:solidFill>
                    <a:prstClr val="black"/>
                  </a:solidFill>
                  <a:effectLst>
                    <a:glow rad="50800">
                      <a:prstClr val="white">
                        <a:alpha val="70000"/>
                      </a:prstClr>
                    </a:glow>
                  </a:effectLst>
                  <a:latin typeface="맑은 고딕" panose="020B0503020000020004" pitchFamily="50" charset="-127"/>
                </a:rPr>
                <a:t>관련 요구사항 통합</a:t>
              </a:r>
              <a:endParaRPr lang="en-US" altLang="ko-KR" sz="1050" dirty="0">
                <a:solidFill>
                  <a:prstClr val="black"/>
                </a:solidFill>
                <a:effectLst>
                  <a:glow rad="50800">
                    <a:prstClr val="white">
                      <a:alpha val="70000"/>
                    </a:prstClr>
                  </a:glow>
                </a:effectLst>
                <a:latin typeface="맑은 고딕" panose="020B0503020000020004" pitchFamily="50" charset="-127"/>
              </a:endParaRPr>
            </a:p>
            <a:p>
              <a:pPr marL="219038" lvl="0" indent="-171450">
                <a:spcBef>
                  <a:spcPts val="225"/>
                </a:spcBef>
                <a:spcAft>
                  <a:spcPts val="225"/>
                </a:spcAft>
                <a:buFontTx/>
                <a:buChar char="-"/>
              </a:pPr>
              <a:r>
                <a:rPr lang="ko-KR" altLang="en-US" sz="1050" dirty="0">
                  <a:solidFill>
                    <a:prstClr val="black"/>
                  </a:solidFill>
                  <a:effectLst>
                    <a:glow rad="50800">
                      <a:prstClr val="white">
                        <a:alpha val="70000"/>
                      </a:prstClr>
                    </a:glow>
                  </a:effectLst>
                  <a:latin typeface="맑은 고딕" panose="020B0503020000020004" pitchFamily="50" charset="-127"/>
                </a:rPr>
                <a:t>과제 범위 정의 </a:t>
              </a:r>
            </a:p>
          </p:txBody>
        </p:sp>
        <p:sp>
          <p:nvSpPr>
            <p:cNvPr id="53" name="양쪽 모서리가 잘린 사각형 116">
              <a:extLst>
                <a:ext uri="{FF2B5EF4-FFF2-40B4-BE49-F238E27FC236}">
                  <a16:creationId xmlns:a16="http://schemas.microsoft.com/office/drawing/2014/main" id="{B06A8DAA-65A9-4796-986C-6A603937AE58}"/>
                </a:ext>
              </a:extLst>
            </p:cNvPr>
            <p:cNvSpPr/>
            <p:nvPr/>
          </p:nvSpPr>
          <p:spPr>
            <a:xfrm>
              <a:off x="3212562" y="729407"/>
              <a:ext cx="2826801" cy="381219"/>
            </a:xfrm>
            <a:prstGeom prst="snip2Same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solidFill>
                    <a:prstClr val="white"/>
                  </a:solidFill>
                  <a:latin typeface="맑은 고딕" panose="020B0503020000020004" pitchFamily="50" charset="-127"/>
                  <a:ea typeface="맑은 고딕" panose="020B0503020000020004" pitchFamily="50" charset="-127"/>
                </a:rPr>
                <a:t>요구사항 분석 및 정제</a:t>
              </a:r>
              <a:endParaRPr lang="en-US" altLang="ko-KR" sz="1400" b="1" dirty="0">
                <a:solidFill>
                  <a:prstClr val="white"/>
                </a:solidFill>
                <a:latin typeface="맑은 고딕" panose="020B0503020000020004" pitchFamily="50" charset="-127"/>
                <a:ea typeface="맑은 고딕" panose="020B0503020000020004" pitchFamily="50" charset="-127"/>
              </a:endParaRPr>
            </a:p>
          </p:txBody>
        </p:sp>
        <p:sp>
          <p:nvSpPr>
            <p:cNvPr id="176" name="TextBox 175">
              <a:extLst>
                <a:ext uri="{FF2B5EF4-FFF2-40B4-BE49-F238E27FC236}">
                  <a16:creationId xmlns:a16="http://schemas.microsoft.com/office/drawing/2014/main" id="{703FB1BF-A70C-4402-8CD7-6A7722AFA745}"/>
                </a:ext>
              </a:extLst>
            </p:cNvPr>
            <p:cNvSpPr txBox="1"/>
            <p:nvPr/>
          </p:nvSpPr>
          <p:spPr>
            <a:xfrm>
              <a:off x="3335605" y="2488302"/>
              <a:ext cx="2558988" cy="1296768"/>
            </a:xfrm>
            <a:prstGeom prst="roundRect">
              <a:avLst>
                <a:gd name="adj" fmla="val 3438"/>
              </a:avLst>
            </a:prstGeom>
            <a:solidFill>
              <a:srgbClr val="F2F2F2">
                <a:alpha val="50196"/>
              </a:srgbClr>
            </a:solidFill>
            <a:ln>
              <a:solidFill>
                <a:schemeClr val="bg1">
                  <a:lumMod val="75000"/>
                </a:schemeClr>
              </a:solidFill>
            </a:ln>
          </p:spPr>
          <p:txBody>
            <a:bodyPr wrap="square" lIns="27000" tIns="0" rIns="0" bIns="0" rtlCol="0" anchor="ctr" anchorCtr="0">
              <a:noAutofit/>
            </a:bodyPr>
            <a:lstStyle/>
            <a:p>
              <a:pPr marL="128588" lvl="0" indent="-81000">
                <a:spcBef>
                  <a:spcPts val="225"/>
                </a:spcBef>
                <a:spcAft>
                  <a:spcPts val="225"/>
                </a:spcAft>
                <a:buFont typeface="Wingdings" panose="05000000000000000000" pitchFamily="2" charset="2"/>
                <a:buChar char="§"/>
              </a:pPr>
              <a:r>
                <a:rPr lang="en-US" altLang="ko-KR" sz="1050" b="1" dirty="0">
                  <a:solidFill>
                    <a:prstClr val="black"/>
                  </a:solidFill>
                  <a:effectLst>
                    <a:glow rad="50800">
                      <a:prstClr val="white">
                        <a:alpha val="70000"/>
                      </a:prstClr>
                    </a:glow>
                  </a:effectLst>
                  <a:latin typeface="맑은 고딕" panose="020B0503020000020004" pitchFamily="50" charset="-127"/>
                </a:rPr>
                <a:t> </a:t>
              </a:r>
              <a:r>
                <a:rPr lang="ko-KR" altLang="en-US" sz="1050" b="1" dirty="0">
                  <a:solidFill>
                    <a:prstClr val="black"/>
                  </a:solidFill>
                  <a:effectLst>
                    <a:glow rad="50800">
                      <a:prstClr val="white">
                        <a:alpha val="70000"/>
                      </a:prstClr>
                    </a:glow>
                  </a:effectLst>
                  <a:latin typeface="맑은 고딕" panose="020B0503020000020004" pitchFamily="50" charset="-127"/>
                </a:rPr>
                <a:t>요구사항 정제</a:t>
              </a:r>
              <a:endParaRPr lang="en-US" altLang="ko-KR" sz="1050" b="1" dirty="0">
                <a:solidFill>
                  <a:prstClr val="black"/>
                </a:solidFill>
                <a:effectLst>
                  <a:glow rad="50800">
                    <a:prstClr val="white">
                      <a:alpha val="70000"/>
                    </a:prstClr>
                  </a:glow>
                </a:effectLst>
                <a:latin typeface="맑은 고딕" panose="020B0503020000020004" pitchFamily="50" charset="-127"/>
              </a:endParaRPr>
            </a:p>
            <a:p>
              <a:pPr marL="219038" lvl="0" indent="-171450">
                <a:spcBef>
                  <a:spcPts val="225"/>
                </a:spcBef>
                <a:spcAft>
                  <a:spcPts val="225"/>
                </a:spcAft>
                <a:buFontTx/>
                <a:buChar char="-"/>
              </a:pPr>
              <a:r>
                <a:rPr lang="ko-KR" altLang="en-US" sz="1050" dirty="0">
                  <a:solidFill>
                    <a:prstClr val="black"/>
                  </a:solidFill>
                  <a:effectLst>
                    <a:glow rad="50800">
                      <a:prstClr val="white">
                        <a:alpha val="70000"/>
                      </a:prstClr>
                    </a:glow>
                  </a:effectLst>
                  <a:latin typeface="맑은 고딕" panose="020B0503020000020004" pitchFamily="50" charset="-127"/>
                </a:rPr>
                <a:t>기능 요구사항 도출</a:t>
              </a:r>
              <a:endParaRPr lang="en-US" altLang="ko-KR" sz="1050" dirty="0">
                <a:solidFill>
                  <a:prstClr val="black"/>
                </a:solidFill>
                <a:effectLst>
                  <a:glow rad="50800">
                    <a:prstClr val="white">
                      <a:alpha val="70000"/>
                    </a:prstClr>
                  </a:glow>
                </a:effectLst>
                <a:latin typeface="맑은 고딕" panose="020B0503020000020004" pitchFamily="50" charset="-127"/>
              </a:endParaRPr>
            </a:p>
            <a:p>
              <a:pPr marL="219038" lvl="0" indent="-171450">
                <a:spcBef>
                  <a:spcPts val="225"/>
                </a:spcBef>
                <a:spcAft>
                  <a:spcPts val="225"/>
                </a:spcAft>
                <a:buFontTx/>
                <a:buChar char="-"/>
              </a:pPr>
              <a:r>
                <a:rPr lang="ko-KR" altLang="en-US" sz="1050" dirty="0">
                  <a:solidFill>
                    <a:prstClr val="black"/>
                  </a:solidFill>
                  <a:effectLst>
                    <a:glow rad="50800">
                      <a:prstClr val="white">
                        <a:alpha val="70000"/>
                      </a:prstClr>
                    </a:glow>
                  </a:effectLst>
                  <a:latin typeface="맑은 고딕" panose="020B0503020000020004" pitchFamily="50" charset="-127"/>
                </a:rPr>
                <a:t>제약사항 도출</a:t>
              </a:r>
              <a:endParaRPr lang="en-US" altLang="ko-KR" sz="1050" dirty="0">
                <a:solidFill>
                  <a:prstClr val="black"/>
                </a:solidFill>
                <a:effectLst>
                  <a:glow rad="50800">
                    <a:prstClr val="white">
                      <a:alpha val="70000"/>
                    </a:prstClr>
                  </a:glow>
                </a:effectLst>
                <a:latin typeface="맑은 고딕" panose="020B0503020000020004" pitchFamily="50" charset="-127"/>
              </a:endParaRPr>
            </a:p>
            <a:p>
              <a:pPr marL="219038" lvl="0" indent="-171450">
                <a:spcBef>
                  <a:spcPts val="225"/>
                </a:spcBef>
                <a:spcAft>
                  <a:spcPts val="225"/>
                </a:spcAft>
                <a:buFontTx/>
                <a:buChar char="-"/>
              </a:pPr>
              <a:r>
                <a:rPr lang="ko-KR" altLang="en-US" sz="1050" dirty="0">
                  <a:solidFill>
                    <a:prstClr val="black"/>
                  </a:solidFill>
                  <a:effectLst>
                    <a:glow rad="50800">
                      <a:prstClr val="white">
                        <a:alpha val="70000"/>
                      </a:prstClr>
                    </a:glow>
                  </a:effectLst>
                  <a:latin typeface="맑은 고딕" panose="020B0503020000020004" pitchFamily="50" charset="-127"/>
                </a:rPr>
                <a:t>품질 시나리오 명세</a:t>
              </a:r>
              <a:endParaRPr lang="en-US" altLang="ko-KR" sz="1050" dirty="0">
                <a:solidFill>
                  <a:prstClr val="black"/>
                </a:solidFill>
                <a:effectLst>
                  <a:glow rad="50800">
                    <a:prstClr val="white">
                      <a:alpha val="70000"/>
                    </a:prstClr>
                  </a:glow>
                </a:effectLst>
                <a:latin typeface="맑은 고딕" panose="020B0503020000020004" pitchFamily="50" charset="-127"/>
              </a:endParaRPr>
            </a:p>
            <a:p>
              <a:pPr marL="219038" lvl="0" indent="-171450">
                <a:spcBef>
                  <a:spcPts val="225"/>
                </a:spcBef>
                <a:spcAft>
                  <a:spcPts val="225"/>
                </a:spcAft>
                <a:buFontTx/>
                <a:buChar char="-"/>
              </a:pPr>
              <a:r>
                <a:rPr lang="en-US" altLang="ko-KR" sz="1050" dirty="0">
                  <a:solidFill>
                    <a:prstClr val="black"/>
                  </a:solidFill>
                  <a:effectLst>
                    <a:glow rad="50800">
                      <a:prstClr val="white">
                        <a:alpha val="70000"/>
                      </a:prstClr>
                    </a:glow>
                  </a:effectLst>
                  <a:latin typeface="맑은 고딕" panose="020B0503020000020004" pitchFamily="50" charset="-127"/>
                </a:rPr>
                <a:t>Use Case, Domain Model </a:t>
              </a:r>
              <a:r>
                <a:rPr lang="ko-KR" altLang="en-US" sz="1050" dirty="0">
                  <a:solidFill>
                    <a:prstClr val="black"/>
                  </a:solidFill>
                  <a:effectLst>
                    <a:glow rad="50800">
                      <a:prstClr val="white">
                        <a:alpha val="70000"/>
                      </a:prstClr>
                    </a:glow>
                  </a:effectLst>
                  <a:latin typeface="맑은 고딕" panose="020B0503020000020004" pitchFamily="50" charset="-127"/>
                </a:rPr>
                <a:t>분석</a:t>
              </a:r>
            </a:p>
          </p:txBody>
        </p:sp>
      </p:grpSp>
      <p:graphicFrame>
        <p:nvGraphicFramePr>
          <p:cNvPr id="5" name="표 4"/>
          <p:cNvGraphicFramePr>
            <a:graphicFrameLocks noGrp="1"/>
          </p:cNvGraphicFramePr>
          <p:nvPr>
            <p:extLst>
              <p:ext uri="{D42A27DB-BD31-4B8C-83A1-F6EECF244321}">
                <p14:modId xmlns:p14="http://schemas.microsoft.com/office/powerpoint/2010/main" val="3806575177"/>
              </p:ext>
            </p:extLst>
          </p:nvPr>
        </p:nvGraphicFramePr>
        <p:xfrm>
          <a:off x="8377475" y="2401843"/>
          <a:ext cx="2974897" cy="3965626"/>
        </p:xfrm>
        <a:graphic>
          <a:graphicData uri="http://schemas.openxmlformats.org/drawingml/2006/table">
            <a:tbl>
              <a:tblPr firstRow="1" bandRow="1">
                <a:tableStyleId>{5C22544A-7EE6-4342-B048-85BDC9FD1C3A}</a:tableStyleId>
              </a:tblPr>
              <a:tblGrid>
                <a:gridCol w="735911">
                  <a:extLst>
                    <a:ext uri="{9D8B030D-6E8A-4147-A177-3AD203B41FA5}">
                      <a16:colId xmlns:a16="http://schemas.microsoft.com/office/drawing/2014/main" val="3091734757"/>
                    </a:ext>
                  </a:extLst>
                </a:gridCol>
                <a:gridCol w="2238986">
                  <a:extLst>
                    <a:ext uri="{9D8B030D-6E8A-4147-A177-3AD203B41FA5}">
                      <a16:colId xmlns:a16="http://schemas.microsoft.com/office/drawing/2014/main" val="2823561476"/>
                    </a:ext>
                  </a:extLst>
                </a:gridCol>
              </a:tblGrid>
              <a:tr h="283259">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100" b="1" dirty="0">
                          <a:solidFill>
                            <a:schemeClr val="tx1"/>
                          </a:solidFill>
                        </a:rPr>
                        <a:t>Functional Requirements</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pPr latinLnBrk="1"/>
                      <a:endParaRPr lang="ko-KR" altLang="en-US" sz="1100" b="0" dirty="0">
                        <a:solidFill>
                          <a:schemeClr val="tx1"/>
                        </a:solidFill>
                      </a:endParaRPr>
                    </a:p>
                  </a:txBody>
                  <a:tcP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5846847"/>
                  </a:ext>
                </a:extLst>
              </a:tr>
              <a:tr h="283259">
                <a:tc>
                  <a:txBody>
                    <a:bodyPr/>
                    <a:lstStyle/>
                    <a:p>
                      <a:pPr latinLnBrk="1"/>
                      <a:r>
                        <a:rPr lang="en-US" altLang="ko-KR" sz="1100" b="0" dirty="0">
                          <a:solidFill>
                            <a:schemeClr val="tx1"/>
                          </a:solidFill>
                        </a:rPr>
                        <a:t>F1</a:t>
                      </a:r>
                      <a:endParaRPr lang="ko-KR" altLang="en-US" sz="1100" b="0"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latinLnBrk="1"/>
                      <a:r>
                        <a:rPr lang="ko-KR" altLang="en-US" sz="1100" b="0" dirty="0">
                          <a:solidFill>
                            <a:schemeClr val="tx1"/>
                          </a:solidFill>
                        </a:rPr>
                        <a:t>추론 요청 관리</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1164688"/>
                  </a:ext>
                </a:extLst>
              </a:tr>
              <a:tr h="283259">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100" b="0" dirty="0">
                          <a:solidFill>
                            <a:schemeClr val="tx1"/>
                          </a:solidFill>
                        </a:rPr>
                        <a:t>F2</a:t>
                      </a:r>
                      <a:endParaRPr lang="ko-KR" altLang="en-US" sz="1100" b="0"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100" b="0" dirty="0"/>
                        <a:t>추론 스케줄링</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9594824"/>
                  </a:ext>
                </a:extLst>
              </a:tr>
              <a:tr h="283259">
                <a:tc>
                  <a:txBody>
                    <a:bodyPr/>
                    <a:lstStyle/>
                    <a:p>
                      <a:pPr latinLnBrk="1"/>
                      <a:r>
                        <a:rPr lang="en-US" altLang="ko-KR" sz="1100" b="0" dirty="0">
                          <a:solidFill>
                            <a:schemeClr val="tx1"/>
                          </a:solidFill>
                        </a:rPr>
                        <a:t>F3</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100" b="0" dirty="0"/>
                        <a:t>LLM </a:t>
                      </a:r>
                      <a:r>
                        <a:rPr lang="ko-KR" altLang="en-US" sz="1100" b="0" dirty="0"/>
                        <a:t>추론 실행</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1456238"/>
                  </a:ext>
                </a:extLst>
              </a:tr>
              <a:tr h="283259">
                <a:tc>
                  <a:txBody>
                    <a:bodyPr/>
                    <a:lstStyle/>
                    <a:p>
                      <a:pPr latinLnBrk="1"/>
                      <a:r>
                        <a:rPr lang="en-US" altLang="ko-KR" sz="1100" b="0" dirty="0">
                          <a:solidFill>
                            <a:schemeClr val="tx1"/>
                          </a:solidFill>
                        </a:rPr>
                        <a:t>F4</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100" b="0" dirty="0"/>
                        <a:t>KV </a:t>
                      </a:r>
                      <a:r>
                        <a:rPr lang="ko-KR" altLang="en-US" sz="1100" b="0" dirty="0"/>
                        <a:t>캐시 관리</a:t>
                      </a:r>
                      <a:endParaRPr lang="en-US" altLang="ko-KR" sz="1100" b="0" dirty="0"/>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6703184"/>
                  </a:ext>
                </a:extLst>
              </a:tr>
              <a:tr h="283259">
                <a:tc gridSpan="2">
                  <a:txBody>
                    <a:bodyPr/>
                    <a:lstStyle/>
                    <a:p>
                      <a:pPr latinLnBrk="1"/>
                      <a:r>
                        <a:rPr lang="en-US" altLang="ko-KR" sz="1100" b="1" dirty="0">
                          <a:solidFill>
                            <a:schemeClr val="tx1"/>
                          </a:solidFill>
                        </a:rPr>
                        <a:t>Quality</a:t>
                      </a:r>
                      <a:r>
                        <a:rPr lang="en-US" altLang="ko-KR" sz="1100" b="1" baseline="0" dirty="0">
                          <a:solidFill>
                            <a:schemeClr val="tx1"/>
                          </a:solidFill>
                        </a:rPr>
                        <a:t> Attributes</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hMerge="1">
                  <a:txBody>
                    <a:bodyPr/>
                    <a:lstStyle/>
                    <a:p>
                      <a:pPr latinLnBrk="1"/>
                      <a:endParaRPr lang="ko-KR" altLang="en-US" sz="1100" b="0" dirty="0">
                        <a:solidFill>
                          <a:schemeClr val="tx1"/>
                        </a:solidFill>
                      </a:endParaRPr>
                    </a:p>
                  </a:txBody>
                  <a:tcP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7266983"/>
                  </a:ext>
                </a:extLst>
              </a:tr>
              <a:tr h="283259">
                <a:tc>
                  <a:txBody>
                    <a:bodyPr/>
                    <a:lstStyle/>
                    <a:p>
                      <a:pPr latinLnBrk="1"/>
                      <a:r>
                        <a:rPr lang="en-US" altLang="ko-KR" sz="1100" b="0" dirty="0">
                          <a:solidFill>
                            <a:schemeClr val="tx1"/>
                          </a:solidFill>
                        </a:rPr>
                        <a:t>Q1</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latinLnBrk="1"/>
                      <a:r>
                        <a:rPr lang="ko-KR" altLang="en-US" sz="1100" b="0" dirty="0">
                          <a:solidFill>
                            <a:schemeClr val="tx1"/>
                          </a:solidFill>
                        </a:rPr>
                        <a:t>추론 요청 처리량</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4648464"/>
                  </a:ext>
                </a:extLst>
              </a:tr>
              <a:tr h="283259">
                <a:tc>
                  <a:txBody>
                    <a:bodyPr/>
                    <a:lstStyle/>
                    <a:p>
                      <a:pPr latinLnBrk="1"/>
                      <a:r>
                        <a:rPr lang="en-US" altLang="ko-KR" sz="1100" b="0" dirty="0">
                          <a:solidFill>
                            <a:schemeClr val="tx1"/>
                          </a:solidFill>
                        </a:rPr>
                        <a:t>Q2</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latinLnBrk="1"/>
                      <a:r>
                        <a:rPr lang="en-US" altLang="ko-KR" sz="1100" b="0" dirty="0">
                          <a:solidFill>
                            <a:schemeClr val="tx1"/>
                          </a:solidFill>
                        </a:rPr>
                        <a:t>HBM </a:t>
                      </a:r>
                      <a:r>
                        <a:rPr lang="ko-KR" altLang="en-US" sz="1100" b="0" dirty="0">
                          <a:solidFill>
                            <a:schemeClr val="tx1"/>
                          </a:solidFill>
                        </a:rPr>
                        <a:t>사용량</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059604"/>
                  </a:ext>
                </a:extLst>
              </a:tr>
              <a:tr h="283259">
                <a:tc>
                  <a:txBody>
                    <a:bodyPr/>
                    <a:lstStyle/>
                    <a:p>
                      <a:pPr latinLnBrk="1"/>
                      <a:r>
                        <a:rPr lang="en-US" altLang="ko-KR" sz="1100" b="0" dirty="0">
                          <a:solidFill>
                            <a:schemeClr val="tx1"/>
                          </a:solidFill>
                        </a:rPr>
                        <a:t>Q3</a:t>
                      </a:r>
                      <a:endParaRPr lang="ko-KR" altLang="en-US" sz="1100" b="0"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latinLnBrk="1"/>
                      <a:r>
                        <a:rPr lang="ko-KR" altLang="en-US" sz="1100" b="0" dirty="0">
                          <a:solidFill>
                            <a:schemeClr val="tx1"/>
                          </a:solidFill>
                        </a:rPr>
                        <a:t>고부하 지연시간</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9090274"/>
                  </a:ext>
                </a:extLst>
              </a:tr>
              <a:tr h="283259">
                <a:tc>
                  <a:txBody>
                    <a:bodyPr/>
                    <a:lstStyle/>
                    <a:p>
                      <a:pPr latinLnBrk="1"/>
                      <a:r>
                        <a:rPr lang="en-US" altLang="ko-KR" sz="1100" b="0" dirty="0">
                          <a:solidFill>
                            <a:schemeClr val="tx1"/>
                          </a:solidFill>
                        </a:rPr>
                        <a:t>Q4</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latinLnBrk="1"/>
                      <a:r>
                        <a:rPr lang="ko-KR" altLang="en-US" sz="1100" b="0" dirty="0">
                          <a:solidFill>
                            <a:schemeClr val="tx1"/>
                          </a:solidFill>
                        </a:rPr>
                        <a:t>시스템 확장성</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5698441"/>
                  </a:ext>
                </a:extLst>
              </a:tr>
              <a:tr h="283259">
                <a:tc>
                  <a:txBody>
                    <a:bodyPr/>
                    <a:lstStyle/>
                    <a:p>
                      <a:pPr latinLnBrk="1"/>
                      <a:r>
                        <a:rPr lang="en-US" altLang="ko-KR" sz="1100" b="0" dirty="0">
                          <a:solidFill>
                            <a:schemeClr val="tx1"/>
                          </a:solidFill>
                        </a:rPr>
                        <a:t>Q5</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latinLnBrk="1"/>
                      <a:r>
                        <a:rPr lang="ko-KR" altLang="en-US" sz="1100" b="0" dirty="0">
                          <a:solidFill>
                            <a:schemeClr val="tx1"/>
                          </a:solidFill>
                        </a:rPr>
                        <a:t>변경 용이성</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0114"/>
                  </a:ext>
                </a:extLst>
              </a:tr>
              <a:tr h="283259">
                <a:tc gridSpan="2">
                  <a:txBody>
                    <a:bodyPr/>
                    <a:lstStyle/>
                    <a:p>
                      <a:pPr latinLnBrk="1"/>
                      <a:r>
                        <a:rPr lang="en-US" altLang="ko-KR" sz="1100" b="1" dirty="0">
                          <a:solidFill>
                            <a:schemeClr val="tx1"/>
                          </a:solidFill>
                        </a:rPr>
                        <a:t>Constraints</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hMerge="1">
                  <a:txBody>
                    <a:bodyPr/>
                    <a:lstStyle/>
                    <a:p>
                      <a:pPr latinLnBrk="1"/>
                      <a:endParaRPr lang="ko-KR" altLang="en-US" sz="1100" b="0" dirty="0">
                        <a:solidFill>
                          <a:schemeClr val="tx1"/>
                        </a:solidFill>
                      </a:endParaRPr>
                    </a:p>
                  </a:txBody>
                  <a:tcP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1767189"/>
                  </a:ext>
                </a:extLst>
              </a:tr>
              <a:tr h="283259">
                <a:tc>
                  <a:txBody>
                    <a:bodyPr/>
                    <a:lstStyle/>
                    <a:p>
                      <a:pPr latinLnBrk="1"/>
                      <a:r>
                        <a:rPr lang="en-US" altLang="ko-KR" sz="1100" b="0" dirty="0">
                          <a:solidFill>
                            <a:schemeClr val="tx1"/>
                          </a:solidFill>
                        </a:rPr>
                        <a:t>C1</a:t>
                      </a:r>
                      <a:endParaRPr lang="ko-KR" altLang="en-US" sz="1100" b="1"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latinLnBrk="1"/>
                      <a:r>
                        <a:rPr lang="en-US" altLang="ko-KR" sz="1100" b="0" dirty="0" err="1">
                          <a:solidFill>
                            <a:schemeClr val="tx1"/>
                          </a:solidFill>
                        </a:rPr>
                        <a:t>vLLM</a:t>
                      </a:r>
                      <a:r>
                        <a:rPr lang="en-US" altLang="ko-KR" sz="1100" b="0" dirty="0">
                          <a:solidFill>
                            <a:schemeClr val="tx1"/>
                          </a:solidFill>
                        </a:rPr>
                        <a:t> </a:t>
                      </a:r>
                      <a:r>
                        <a:rPr lang="ko-KR" altLang="en-US" sz="1100" b="0" dirty="0">
                          <a:solidFill>
                            <a:schemeClr val="tx1"/>
                          </a:solidFill>
                        </a:rPr>
                        <a:t>개발 환경</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1384368"/>
                  </a:ext>
                </a:extLst>
              </a:tr>
              <a:tr h="283259">
                <a:tc>
                  <a:txBody>
                    <a:bodyPr/>
                    <a:lstStyle/>
                    <a:p>
                      <a:pPr latinLnBrk="1"/>
                      <a:r>
                        <a:rPr lang="en-US" altLang="ko-KR" sz="1100" b="0" dirty="0">
                          <a:solidFill>
                            <a:schemeClr val="tx1"/>
                          </a:solidFill>
                        </a:rPr>
                        <a:t>C2</a:t>
                      </a:r>
                      <a:endParaRPr lang="ko-KR" altLang="en-US" sz="1100" b="0" dirty="0">
                        <a:solidFill>
                          <a:schemeClr val="tx1"/>
                        </a:solidFill>
                      </a:endParaRP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latinLnBrk="1"/>
                      <a:r>
                        <a:rPr lang="ko-KR" altLang="en-US" sz="1100" b="0" dirty="0">
                          <a:solidFill>
                            <a:schemeClr val="tx1"/>
                          </a:solidFill>
                        </a:rPr>
                        <a:t>추론 정확도 보장</a:t>
                      </a:r>
                    </a:p>
                  </a:txBody>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9056560"/>
                  </a:ext>
                </a:extLst>
              </a:tr>
            </a:tbl>
          </a:graphicData>
        </a:graphic>
      </p:graphicFrame>
      <p:grpSp>
        <p:nvGrpSpPr>
          <p:cNvPr id="323" name="그룹 322"/>
          <p:cNvGrpSpPr/>
          <p:nvPr/>
        </p:nvGrpSpPr>
        <p:grpSpPr>
          <a:xfrm>
            <a:off x="3676576" y="4028860"/>
            <a:ext cx="3988788" cy="2363604"/>
            <a:chOff x="1798670" y="894600"/>
            <a:chExt cx="7668138" cy="5573257"/>
          </a:xfrm>
        </p:grpSpPr>
        <p:sp>
          <p:nvSpPr>
            <p:cNvPr id="324" name="Rectangle 4"/>
            <p:cNvSpPr/>
            <p:nvPr/>
          </p:nvSpPr>
          <p:spPr>
            <a:xfrm>
              <a:off x="3150108" y="894600"/>
              <a:ext cx="5125280" cy="5551920"/>
            </a:xfrm>
            <a:prstGeom prst="rect">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25" name="TextBox 324"/>
            <p:cNvSpPr txBox="1"/>
            <p:nvPr/>
          </p:nvSpPr>
          <p:spPr>
            <a:xfrm>
              <a:off x="2547139" y="950976"/>
              <a:ext cx="6492240" cy="341089"/>
            </a:xfrm>
            <a:prstGeom prst="rect">
              <a:avLst/>
            </a:prstGeom>
            <a:noFill/>
          </p:spPr>
          <p:txBody>
            <a:bodyPr wrap="square" lIns="36576" tIns="18288" rIns="36576" bIns="18288" anchor="t">
              <a:spAutoFit/>
            </a:bodyPr>
            <a:lstStyle/>
            <a:p>
              <a:pPr algn="ctr">
                <a:spcAft>
                  <a:spcPts val="0"/>
                </a:spcAft>
              </a:pPr>
              <a:r>
                <a:rPr sz="700" b="1" i="0" dirty="0">
                  <a:solidFill>
                    <a:srgbClr val="000000"/>
                  </a:solidFill>
                  <a:latin typeface="맑은 고딕"/>
                  <a:ea typeface="맑은 고딕"/>
                  <a:cs typeface="맑은 고딕"/>
                </a:rPr>
                <a:t>Memory-Centric Runtime Framework</a:t>
              </a:r>
            </a:p>
          </p:txBody>
        </p:sp>
        <p:sp>
          <p:nvSpPr>
            <p:cNvPr id="326" name="Oval 6"/>
            <p:cNvSpPr/>
            <p:nvPr/>
          </p:nvSpPr>
          <p:spPr>
            <a:xfrm>
              <a:off x="2356454" y="2340864"/>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cxnSp>
          <p:nvCxnSpPr>
            <p:cNvPr id="327" name="Connector 7"/>
            <p:cNvCxnSpPr/>
            <p:nvPr/>
          </p:nvCxnSpPr>
          <p:spPr>
            <a:xfrm>
              <a:off x="2438750" y="2505456"/>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28" name="Connector 8"/>
            <p:cNvCxnSpPr/>
            <p:nvPr/>
          </p:nvCxnSpPr>
          <p:spPr>
            <a:xfrm>
              <a:off x="2301590" y="2596896"/>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29" name="Connector 9"/>
            <p:cNvCxnSpPr/>
            <p:nvPr/>
          </p:nvCxnSpPr>
          <p:spPr>
            <a:xfrm flipH="1">
              <a:off x="2329022" y="2724912"/>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30" name="Connector 10"/>
            <p:cNvCxnSpPr/>
            <p:nvPr/>
          </p:nvCxnSpPr>
          <p:spPr>
            <a:xfrm>
              <a:off x="2438750" y="2724912"/>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1798670" y="2926079"/>
              <a:ext cx="1280158" cy="957952"/>
            </a:xfrm>
            <a:prstGeom prst="rect">
              <a:avLst/>
            </a:prstGeom>
            <a:noFill/>
          </p:spPr>
          <p:txBody>
            <a:bodyPr wrap="square" lIns="0" tIns="18288" rIns="0" bIns="18288" anchor="t">
              <a:spAutoFit/>
            </a:bodyPr>
            <a:lstStyle/>
            <a:p>
              <a:pPr algn="ctr">
                <a:spcAft>
                  <a:spcPts val="0"/>
                </a:spcAft>
              </a:pPr>
              <a:r>
                <a:rPr sz="600" b="1" i="0">
                  <a:solidFill>
                    <a:srgbClr val="000000"/>
                  </a:solidFill>
                  <a:latin typeface="맑은 고딕"/>
                  <a:ea typeface="맑은 고딕"/>
                  <a:cs typeface="맑은 고딕"/>
                </a:rPr>
                <a:t>AI Application /</a:t>
              </a:r>
            </a:p>
            <a:p>
              <a:pPr algn="ctr">
                <a:spcAft>
                  <a:spcPts val="0"/>
                </a:spcAft>
              </a:pPr>
              <a:r>
                <a:rPr sz="600" b="1" i="0">
                  <a:solidFill>
                    <a:srgbClr val="000000"/>
                  </a:solidFill>
                  <a:latin typeface="맑은 고딕"/>
                  <a:ea typeface="맑은 고딕"/>
                  <a:cs typeface="맑은 고딕"/>
                </a:rPr>
                <a:t>Agent Framework</a:t>
              </a:r>
            </a:p>
            <a:p>
              <a:pPr algn="ctr">
                <a:spcAft>
                  <a:spcPts val="0"/>
                </a:spcAft>
              </a:pPr>
              <a:r>
                <a:rPr sz="600" b="1" i="0">
                  <a:solidFill>
                    <a:srgbClr val="000000"/>
                  </a:solidFill>
                  <a:latin typeface="맑은 고딕"/>
                  <a:ea typeface="맑은 고딕"/>
                  <a:cs typeface="맑은 고딕"/>
                </a:rPr>
                <a:t>(사용자)</a:t>
              </a:r>
            </a:p>
          </p:txBody>
        </p:sp>
        <p:sp>
          <p:nvSpPr>
            <p:cNvPr id="332" name="Oval 12"/>
            <p:cNvSpPr/>
            <p:nvPr/>
          </p:nvSpPr>
          <p:spPr>
            <a:xfrm>
              <a:off x="2516475" y="470916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cxnSp>
          <p:nvCxnSpPr>
            <p:cNvPr id="333" name="Connector 13"/>
            <p:cNvCxnSpPr/>
            <p:nvPr/>
          </p:nvCxnSpPr>
          <p:spPr>
            <a:xfrm>
              <a:off x="2598771" y="4873752"/>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34" name="Connector 14"/>
            <p:cNvCxnSpPr/>
            <p:nvPr/>
          </p:nvCxnSpPr>
          <p:spPr>
            <a:xfrm>
              <a:off x="2461611" y="4965192"/>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35" name="Connector 15"/>
            <p:cNvCxnSpPr/>
            <p:nvPr/>
          </p:nvCxnSpPr>
          <p:spPr>
            <a:xfrm flipH="1">
              <a:off x="2489043" y="50932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36" name="Connector 16"/>
            <p:cNvCxnSpPr/>
            <p:nvPr/>
          </p:nvCxnSpPr>
          <p:spPr>
            <a:xfrm>
              <a:off x="2598771" y="50932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37" name="TextBox 336"/>
            <p:cNvSpPr txBox="1"/>
            <p:nvPr/>
          </p:nvSpPr>
          <p:spPr>
            <a:xfrm>
              <a:off x="1958692" y="5294374"/>
              <a:ext cx="1280158" cy="304803"/>
            </a:xfrm>
            <a:prstGeom prst="rect">
              <a:avLst/>
            </a:prstGeom>
            <a:noFill/>
          </p:spPr>
          <p:txBody>
            <a:bodyPr wrap="square" lIns="0" tIns="18288" rIns="0" bIns="18288" anchor="t">
              <a:spAutoFit/>
            </a:bodyPr>
            <a:lstStyle/>
            <a:p>
              <a:pPr algn="ctr">
                <a:spcAft>
                  <a:spcPts val="0"/>
                </a:spcAft>
              </a:pPr>
              <a:r>
                <a:rPr sz="600" b="1" i="0">
                  <a:solidFill>
                    <a:srgbClr val="000000"/>
                  </a:solidFill>
                  <a:latin typeface="맑은 고딕"/>
                  <a:ea typeface="맑은 고딕"/>
                  <a:cs typeface="맑은 고딕"/>
                </a:rPr>
                <a:t>시스템 제공자</a:t>
              </a:r>
            </a:p>
          </p:txBody>
        </p:sp>
        <p:sp>
          <p:nvSpPr>
            <p:cNvPr id="338" name="Oval 18"/>
            <p:cNvSpPr/>
            <p:nvPr/>
          </p:nvSpPr>
          <p:spPr>
            <a:xfrm>
              <a:off x="2516475" y="557784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cxnSp>
          <p:nvCxnSpPr>
            <p:cNvPr id="339" name="Connector 19"/>
            <p:cNvCxnSpPr/>
            <p:nvPr/>
          </p:nvCxnSpPr>
          <p:spPr>
            <a:xfrm>
              <a:off x="2598771" y="5742431"/>
              <a:ext cx="0" cy="219457"/>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0" name="Connector 20"/>
            <p:cNvCxnSpPr/>
            <p:nvPr/>
          </p:nvCxnSpPr>
          <p:spPr>
            <a:xfrm>
              <a:off x="2461611" y="5833872"/>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1" name="Connector 21"/>
            <p:cNvCxnSpPr/>
            <p:nvPr/>
          </p:nvCxnSpPr>
          <p:spPr>
            <a:xfrm flipH="1">
              <a:off x="2489043" y="59618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2" name="Connector 22"/>
            <p:cNvCxnSpPr/>
            <p:nvPr/>
          </p:nvCxnSpPr>
          <p:spPr>
            <a:xfrm>
              <a:off x="2598771" y="59618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43" name="TextBox 342"/>
            <p:cNvSpPr txBox="1"/>
            <p:nvPr/>
          </p:nvSpPr>
          <p:spPr>
            <a:xfrm>
              <a:off x="1958692" y="6163054"/>
              <a:ext cx="1280158" cy="304803"/>
            </a:xfrm>
            <a:prstGeom prst="rect">
              <a:avLst/>
            </a:prstGeom>
            <a:noFill/>
          </p:spPr>
          <p:txBody>
            <a:bodyPr wrap="square" lIns="0" tIns="18288" rIns="0" bIns="18288" anchor="t">
              <a:spAutoFit/>
            </a:bodyPr>
            <a:lstStyle/>
            <a:p>
              <a:pPr algn="ctr">
                <a:spcAft>
                  <a:spcPts val="0"/>
                </a:spcAft>
              </a:pPr>
              <a:r>
                <a:rPr sz="600" b="1" i="0">
                  <a:solidFill>
                    <a:srgbClr val="000000"/>
                  </a:solidFill>
                  <a:latin typeface="맑은 고딕"/>
                  <a:ea typeface="맑은 고딕"/>
                  <a:cs typeface="맑은 고딕"/>
                </a:rPr>
                <a:t>Device 제공자</a:t>
              </a:r>
            </a:p>
          </p:txBody>
        </p:sp>
        <p:sp>
          <p:nvSpPr>
            <p:cNvPr id="344" name="Oval 24"/>
            <p:cNvSpPr/>
            <p:nvPr/>
          </p:nvSpPr>
          <p:spPr>
            <a:xfrm>
              <a:off x="8744432" y="512064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cxnSp>
          <p:nvCxnSpPr>
            <p:cNvPr id="345" name="Connector 25"/>
            <p:cNvCxnSpPr/>
            <p:nvPr/>
          </p:nvCxnSpPr>
          <p:spPr>
            <a:xfrm>
              <a:off x="8826728" y="5285231"/>
              <a:ext cx="0" cy="219457"/>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6" name="Connector 26"/>
            <p:cNvCxnSpPr/>
            <p:nvPr/>
          </p:nvCxnSpPr>
          <p:spPr>
            <a:xfrm>
              <a:off x="8689567" y="5376672"/>
              <a:ext cx="274321"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7" name="Connector 27"/>
            <p:cNvCxnSpPr/>
            <p:nvPr/>
          </p:nvCxnSpPr>
          <p:spPr>
            <a:xfrm flipH="1">
              <a:off x="8717000" y="55046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48" name="Connector 28"/>
            <p:cNvCxnSpPr/>
            <p:nvPr/>
          </p:nvCxnSpPr>
          <p:spPr>
            <a:xfrm>
              <a:off x="8826728" y="5504688"/>
              <a:ext cx="109727"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49" name="TextBox 348"/>
            <p:cNvSpPr txBox="1"/>
            <p:nvPr/>
          </p:nvSpPr>
          <p:spPr>
            <a:xfrm>
              <a:off x="8186650" y="5705855"/>
              <a:ext cx="1280158" cy="304803"/>
            </a:xfrm>
            <a:prstGeom prst="rect">
              <a:avLst/>
            </a:prstGeom>
            <a:noFill/>
          </p:spPr>
          <p:txBody>
            <a:bodyPr wrap="square" lIns="0" tIns="18288" rIns="0" bIns="18288" anchor="t">
              <a:spAutoFit/>
            </a:bodyPr>
            <a:lstStyle/>
            <a:p>
              <a:pPr algn="ctr">
                <a:spcAft>
                  <a:spcPts val="0"/>
                </a:spcAft>
              </a:pPr>
              <a:r>
                <a:rPr sz="600" b="1" i="0">
                  <a:solidFill>
                    <a:srgbClr val="000000"/>
                  </a:solidFill>
                  <a:latin typeface="맑은 고딕"/>
                  <a:ea typeface="맑은 고딕"/>
                  <a:cs typeface="맑은 고딕"/>
                </a:rPr>
                <a:t>서비스 제공자</a:t>
              </a:r>
            </a:p>
          </p:txBody>
        </p:sp>
        <p:sp>
          <p:nvSpPr>
            <p:cNvPr id="350" name="Oval 30"/>
            <p:cNvSpPr/>
            <p:nvPr/>
          </p:nvSpPr>
          <p:spPr>
            <a:xfrm>
              <a:off x="3337560" y="2720339"/>
              <a:ext cx="2103120" cy="594360"/>
            </a:xfrm>
            <a:prstGeom prst="ellipse">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UC01 LLM 추론 요청</a:t>
              </a:r>
            </a:p>
            <a:p>
              <a:pPr algn="ctr">
                <a:spcAft>
                  <a:spcPts val="0"/>
                </a:spcAft>
              </a:pPr>
              <a:r>
                <a:rPr sz="500" b="1" i="0">
                  <a:solidFill>
                    <a:srgbClr val="000000"/>
                  </a:solidFill>
                  <a:latin typeface="맑은 고딕"/>
                  <a:ea typeface="맑은 고딕"/>
                  <a:cs typeface="맑은 고딕"/>
                </a:rPr>
                <a:t>(스트리밍 응답)</a:t>
              </a:r>
            </a:p>
          </p:txBody>
        </p:sp>
        <p:sp>
          <p:nvSpPr>
            <p:cNvPr id="351" name="Oval 31"/>
            <p:cNvSpPr/>
            <p:nvPr/>
          </p:nvSpPr>
          <p:spPr>
            <a:xfrm>
              <a:off x="6035039" y="1371599"/>
              <a:ext cx="1920240" cy="457199"/>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dirty="0">
                  <a:solidFill>
                    <a:srgbClr val="000000"/>
                  </a:solidFill>
                  <a:latin typeface="맑은 고딕"/>
                  <a:ea typeface="맑은 고딕"/>
                  <a:cs typeface="맑은 고딕"/>
                </a:rPr>
                <a:t>UC02 LLM </a:t>
              </a:r>
              <a:r>
                <a:rPr sz="500" b="1" i="0" dirty="0" err="1">
                  <a:solidFill>
                    <a:srgbClr val="000000"/>
                  </a:solidFill>
                  <a:latin typeface="맑은 고딕"/>
                  <a:ea typeface="맑은 고딕"/>
                  <a:cs typeface="맑은 고딕"/>
                </a:rPr>
                <a:t>추론</a:t>
              </a:r>
              <a:r>
                <a:rPr sz="500" b="1" i="0" dirty="0">
                  <a:solidFill>
                    <a:srgbClr val="000000"/>
                  </a:solidFill>
                  <a:latin typeface="맑은 고딕"/>
                  <a:ea typeface="맑은 고딕"/>
                  <a:cs typeface="맑은 고딕"/>
                </a:rPr>
                <a:t> </a:t>
              </a:r>
              <a:r>
                <a:rPr sz="500" b="1" i="0" dirty="0" err="1">
                  <a:solidFill>
                    <a:srgbClr val="000000"/>
                  </a:solidFill>
                  <a:latin typeface="맑은 고딕"/>
                  <a:ea typeface="맑은 고딕"/>
                  <a:cs typeface="맑은 고딕"/>
                </a:rPr>
                <a:t>실행</a:t>
              </a:r>
              <a:endParaRPr sz="500" b="1" i="0" dirty="0">
                <a:solidFill>
                  <a:srgbClr val="000000"/>
                </a:solidFill>
                <a:latin typeface="맑은 고딕"/>
                <a:ea typeface="맑은 고딕"/>
                <a:cs typeface="맑은 고딕"/>
              </a:endParaRPr>
            </a:p>
            <a:p>
              <a:pPr algn="ctr">
                <a:spcAft>
                  <a:spcPts val="0"/>
                </a:spcAft>
              </a:pPr>
              <a:r>
                <a:rPr sz="500" b="1" i="0" dirty="0">
                  <a:solidFill>
                    <a:srgbClr val="000000"/>
                  </a:solidFill>
                  <a:latin typeface="맑은 고딕"/>
                  <a:ea typeface="맑은 고딕"/>
                  <a:cs typeface="맑은 고딕"/>
                </a:rPr>
                <a:t>(</a:t>
              </a:r>
              <a:r>
                <a:rPr sz="500" b="1" i="0" dirty="0" err="1">
                  <a:solidFill>
                    <a:srgbClr val="000000"/>
                  </a:solidFill>
                  <a:latin typeface="맑은 고딕"/>
                  <a:ea typeface="맑은 고딕"/>
                  <a:cs typeface="맑은 고딕"/>
                </a:rPr>
                <a:t>출력</a:t>
              </a:r>
              <a:r>
                <a:rPr sz="500" b="1" i="0" dirty="0">
                  <a:solidFill>
                    <a:srgbClr val="000000"/>
                  </a:solidFill>
                  <a:latin typeface="맑은 고딕"/>
                  <a:ea typeface="맑은 고딕"/>
                  <a:cs typeface="맑은 고딕"/>
                </a:rPr>
                <a:t> </a:t>
              </a:r>
              <a:r>
                <a:rPr sz="500" b="1" i="0" dirty="0" err="1">
                  <a:solidFill>
                    <a:srgbClr val="000000"/>
                  </a:solidFill>
                  <a:latin typeface="맑은 고딕"/>
                  <a:ea typeface="맑은 고딕"/>
                  <a:cs typeface="맑은 고딕"/>
                </a:rPr>
                <a:t>토큰</a:t>
              </a:r>
              <a:r>
                <a:rPr sz="500" b="1" i="0" dirty="0">
                  <a:solidFill>
                    <a:srgbClr val="000000"/>
                  </a:solidFill>
                  <a:latin typeface="맑은 고딕"/>
                  <a:ea typeface="맑은 고딕"/>
                  <a:cs typeface="맑은 고딕"/>
                </a:rPr>
                <a:t> </a:t>
              </a:r>
              <a:r>
                <a:rPr sz="500" b="1" i="0" dirty="0" err="1">
                  <a:solidFill>
                    <a:srgbClr val="000000"/>
                  </a:solidFill>
                  <a:latin typeface="맑은 고딕"/>
                  <a:ea typeface="맑은 고딕"/>
                  <a:cs typeface="맑은 고딕"/>
                </a:rPr>
                <a:t>생성</a:t>
              </a:r>
              <a:r>
                <a:rPr sz="500" b="1" i="0" dirty="0">
                  <a:solidFill>
                    <a:srgbClr val="000000"/>
                  </a:solidFill>
                  <a:latin typeface="맑은 고딕"/>
                  <a:ea typeface="맑은 고딕"/>
                  <a:cs typeface="맑은 고딕"/>
                </a:rPr>
                <a:t>)</a:t>
              </a:r>
            </a:p>
          </p:txBody>
        </p:sp>
        <p:sp>
          <p:nvSpPr>
            <p:cNvPr id="352" name="Oval 32"/>
            <p:cNvSpPr/>
            <p:nvPr/>
          </p:nvSpPr>
          <p:spPr>
            <a:xfrm>
              <a:off x="6035039" y="196596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UC03 요청 스케줄링</a:t>
              </a:r>
            </a:p>
          </p:txBody>
        </p:sp>
        <p:sp>
          <p:nvSpPr>
            <p:cNvPr id="353" name="Oval 33"/>
            <p:cNvSpPr/>
            <p:nvPr/>
          </p:nvSpPr>
          <p:spPr>
            <a:xfrm>
              <a:off x="6035039" y="256032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UC04 KV 캐시 생성·</a:t>
              </a:r>
            </a:p>
            <a:p>
              <a:pPr algn="ctr">
                <a:spcAft>
                  <a:spcPts val="0"/>
                </a:spcAft>
              </a:pPr>
              <a:r>
                <a:rPr sz="500" b="1" i="0">
                  <a:solidFill>
                    <a:srgbClr val="000000"/>
                  </a:solidFill>
                  <a:latin typeface="맑은 고딕"/>
                  <a:ea typeface="맑은 고딕"/>
                  <a:cs typeface="맑은 고딕"/>
                </a:rPr>
                <a:t>할당·해제</a:t>
              </a:r>
            </a:p>
          </p:txBody>
        </p:sp>
        <p:sp>
          <p:nvSpPr>
            <p:cNvPr id="354" name="Oval 34"/>
            <p:cNvSpPr/>
            <p:nvPr/>
          </p:nvSpPr>
          <p:spPr>
            <a:xfrm>
              <a:off x="6035039" y="315468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dirty="0">
                  <a:solidFill>
                    <a:srgbClr val="000000"/>
                  </a:solidFill>
                  <a:latin typeface="맑은 고딕"/>
                  <a:ea typeface="맑은 고딕"/>
                  <a:cs typeface="맑은 고딕"/>
                </a:rPr>
                <a:t>UC05 </a:t>
              </a:r>
              <a:r>
                <a:rPr sz="500" b="1" i="0" dirty="0" err="1">
                  <a:solidFill>
                    <a:srgbClr val="000000"/>
                  </a:solidFill>
                  <a:latin typeface="맑은 고딕"/>
                  <a:ea typeface="맑은 고딕"/>
                  <a:cs typeface="맑은 고딕"/>
                </a:rPr>
                <a:t>멀티턴·Agent</a:t>
              </a:r>
              <a:endParaRPr sz="500" b="1" i="0" dirty="0">
                <a:solidFill>
                  <a:srgbClr val="000000"/>
                </a:solidFill>
                <a:latin typeface="맑은 고딕"/>
                <a:ea typeface="맑은 고딕"/>
                <a:cs typeface="맑은 고딕"/>
              </a:endParaRPr>
            </a:p>
            <a:p>
              <a:pPr algn="ctr">
                <a:spcAft>
                  <a:spcPts val="0"/>
                </a:spcAft>
              </a:pPr>
              <a:r>
                <a:rPr sz="500" b="1" i="0" dirty="0" err="1">
                  <a:solidFill>
                    <a:srgbClr val="000000"/>
                  </a:solidFill>
                  <a:latin typeface="맑은 고딕"/>
                  <a:ea typeface="맑은 고딕"/>
                  <a:cs typeface="맑은 고딕"/>
                </a:rPr>
                <a:t>세션</a:t>
              </a:r>
              <a:r>
                <a:rPr sz="500" b="1" i="0" dirty="0">
                  <a:solidFill>
                    <a:srgbClr val="000000"/>
                  </a:solidFill>
                  <a:latin typeface="맑은 고딕"/>
                  <a:ea typeface="맑은 고딕"/>
                  <a:cs typeface="맑은 고딕"/>
                </a:rPr>
                <a:t> </a:t>
              </a:r>
              <a:r>
                <a:rPr sz="500" b="1" i="0" dirty="0" err="1">
                  <a:solidFill>
                    <a:srgbClr val="000000"/>
                  </a:solidFill>
                  <a:latin typeface="맑은 고딕"/>
                  <a:ea typeface="맑은 고딕"/>
                  <a:cs typeface="맑은 고딕"/>
                </a:rPr>
                <a:t>이어가기</a:t>
              </a:r>
              <a:endParaRPr sz="500" b="1" i="0" dirty="0">
                <a:solidFill>
                  <a:srgbClr val="000000"/>
                </a:solidFill>
                <a:latin typeface="맑은 고딕"/>
                <a:ea typeface="맑은 고딕"/>
                <a:cs typeface="맑은 고딕"/>
              </a:endParaRPr>
            </a:p>
          </p:txBody>
        </p:sp>
        <p:sp>
          <p:nvSpPr>
            <p:cNvPr id="355" name="Oval 35"/>
            <p:cNvSpPr/>
            <p:nvPr/>
          </p:nvSpPr>
          <p:spPr>
            <a:xfrm>
              <a:off x="6035039" y="3749039"/>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UC06 장문·RAG</a:t>
              </a:r>
            </a:p>
            <a:p>
              <a:pPr algn="ctr">
                <a:spcAft>
                  <a:spcPts val="0"/>
                </a:spcAft>
              </a:pPr>
              <a:r>
                <a:rPr sz="500" b="1" i="0">
                  <a:solidFill>
                    <a:srgbClr val="000000"/>
                  </a:solidFill>
                  <a:latin typeface="맑은 고딕"/>
                  <a:ea typeface="맑은 고딕"/>
                  <a:cs typeface="맑은 고딕"/>
                </a:rPr>
                <a:t>컨텍스트 요청</a:t>
              </a:r>
            </a:p>
          </p:txBody>
        </p:sp>
        <p:sp>
          <p:nvSpPr>
            <p:cNvPr id="356" name="Oval 36"/>
            <p:cNvSpPr/>
            <p:nvPr/>
          </p:nvSpPr>
          <p:spPr>
            <a:xfrm>
              <a:off x="6035039" y="434340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UC07 다중 서버에서</a:t>
              </a:r>
            </a:p>
            <a:p>
              <a:pPr algn="ctr">
                <a:spcAft>
                  <a:spcPts val="0"/>
                </a:spcAft>
              </a:pPr>
              <a:r>
                <a:rPr sz="500" b="1" i="0">
                  <a:solidFill>
                    <a:srgbClr val="000000"/>
                  </a:solidFill>
                  <a:latin typeface="맑은 고딕"/>
                  <a:ea typeface="맑은 고딕"/>
                  <a:cs typeface="맑은 고딕"/>
                </a:rPr>
                <a:t>요청 처리</a:t>
              </a:r>
            </a:p>
          </p:txBody>
        </p:sp>
        <p:sp>
          <p:nvSpPr>
            <p:cNvPr id="357" name="Oval 37"/>
            <p:cNvSpPr/>
            <p:nvPr/>
          </p:nvSpPr>
          <p:spPr>
            <a:xfrm>
              <a:off x="3337560" y="493776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UC08 시스템 구성</a:t>
              </a:r>
            </a:p>
            <a:p>
              <a:pPr algn="ctr">
                <a:spcAft>
                  <a:spcPts val="0"/>
                </a:spcAft>
              </a:pPr>
              <a:r>
                <a:rPr sz="500" b="1" i="0">
                  <a:solidFill>
                    <a:srgbClr val="000000"/>
                  </a:solidFill>
                  <a:latin typeface="맑은 고딕"/>
                  <a:ea typeface="맑은 고딕"/>
                  <a:cs typeface="맑은 고딕"/>
                </a:rPr>
                <a:t>정보 반영</a:t>
              </a:r>
            </a:p>
          </p:txBody>
        </p:sp>
        <p:sp>
          <p:nvSpPr>
            <p:cNvPr id="358" name="Oval 38"/>
            <p:cNvSpPr/>
            <p:nvPr/>
          </p:nvSpPr>
          <p:spPr>
            <a:xfrm>
              <a:off x="6035039" y="502920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UC09 SLO·정책·자원 구성</a:t>
              </a:r>
            </a:p>
          </p:txBody>
        </p:sp>
        <p:sp>
          <p:nvSpPr>
            <p:cNvPr id="359" name="Oval 39"/>
            <p:cNvSpPr/>
            <p:nvPr/>
          </p:nvSpPr>
          <p:spPr>
            <a:xfrm>
              <a:off x="3337560" y="562356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UC10 Device 연동</a:t>
              </a:r>
            </a:p>
          </p:txBody>
        </p:sp>
        <p:sp>
          <p:nvSpPr>
            <p:cNvPr id="360" name="Oval 40"/>
            <p:cNvSpPr/>
            <p:nvPr/>
          </p:nvSpPr>
          <p:spPr>
            <a:xfrm>
              <a:off x="6035039" y="571500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500" b="1" i="0">
                  <a:solidFill>
                    <a:srgbClr val="000000"/>
                  </a:solidFill>
                  <a:latin typeface="맑은 고딕"/>
                  <a:ea typeface="맑은 고딕"/>
                  <a:cs typeface="맑은 고딕"/>
                </a:rPr>
                <a:t>UC11 상태·성능 모니터링</a:t>
              </a:r>
            </a:p>
          </p:txBody>
        </p:sp>
        <p:cxnSp>
          <p:nvCxnSpPr>
            <p:cNvPr id="361" name="Connector 41"/>
            <p:cNvCxnSpPr>
              <a:stCxn id="351" idx="2"/>
            </p:cNvCxnSpPr>
            <p:nvPr/>
          </p:nvCxnSpPr>
          <p:spPr>
            <a:xfrm flipH="1">
              <a:off x="5394960" y="1600200"/>
              <a:ext cx="640078" cy="1062989"/>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362" name="Connector 42"/>
            <p:cNvCxnSpPr>
              <a:stCxn id="352" idx="2"/>
            </p:cNvCxnSpPr>
            <p:nvPr/>
          </p:nvCxnSpPr>
          <p:spPr>
            <a:xfrm flipH="1">
              <a:off x="5394960" y="2194560"/>
              <a:ext cx="640079" cy="617219"/>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363" name="Connector 43"/>
            <p:cNvCxnSpPr>
              <a:stCxn id="353" idx="2"/>
            </p:cNvCxnSpPr>
            <p:nvPr/>
          </p:nvCxnSpPr>
          <p:spPr>
            <a:xfrm flipH="1">
              <a:off x="5394960" y="2788920"/>
              <a:ext cx="640079" cy="17145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364" name="Connector 44"/>
            <p:cNvCxnSpPr>
              <a:stCxn id="354" idx="2"/>
            </p:cNvCxnSpPr>
            <p:nvPr/>
          </p:nvCxnSpPr>
          <p:spPr>
            <a:xfrm flipH="1" flipV="1">
              <a:off x="5394960" y="3108960"/>
              <a:ext cx="640079" cy="27432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365" name="Connector 45"/>
            <p:cNvCxnSpPr>
              <a:stCxn id="355" idx="2"/>
            </p:cNvCxnSpPr>
            <p:nvPr/>
          </p:nvCxnSpPr>
          <p:spPr>
            <a:xfrm flipH="1" flipV="1">
              <a:off x="5394960" y="3257551"/>
              <a:ext cx="640079" cy="720088"/>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366" name="Connector 46"/>
            <p:cNvCxnSpPr>
              <a:stCxn id="356" idx="2"/>
            </p:cNvCxnSpPr>
            <p:nvPr/>
          </p:nvCxnSpPr>
          <p:spPr>
            <a:xfrm flipH="1" flipV="1">
              <a:off x="5394960" y="3406140"/>
              <a:ext cx="640079" cy="116586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367" name="TextBox 366"/>
            <p:cNvSpPr txBox="1"/>
            <p:nvPr/>
          </p:nvSpPr>
          <p:spPr>
            <a:xfrm>
              <a:off x="5362414" y="2057399"/>
              <a:ext cx="430845" cy="232232"/>
            </a:xfrm>
            <a:prstGeom prst="rect">
              <a:avLst/>
            </a:prstGeom>
            <a:noFill/>
          </p:spPr>
          <p:txBody>
            <a:bodyPr wrap="none" lIns="0" tIns="18288" rIns="0" bIns="18288" anchor="t">
              <a:spAutoFit/>
            </a:bodyPr>
            <a:lstStyle/>
            <a:p>
              <a:pPr algn="ctr">
                <a:spcAft>
                  <a:spcPts val="0"/>
                </a:spcAft>
              </a:pPr>
              <a:r>
                <a:rPr sz="400" b="0" i="1">
                  <a:solidFill>
                    <a:srgbClr val="595959"/>
                  </a:solidFill>
                  <a:latin typeface="맑은 고딕"/>
                  <a:ea typeface="맑은 고딕"/>
                  <a:cs typeface="맑은 고딕"/>
                </a:rPr>
                <a:t>«extend»</a:t>
              </a:r>
            </a:p>
          </p:txBody>
        </p:sp>
        <p:cxnSp>
          <p:nvCxnSpPr>
            <p:cNvPr id="368" name="Connector 48"/>
            <p:cNvCxnSpPr>
              <a:endCxn id="350" idx="2"/>
            </p:cNvCxnSpPr>
            <p:nvPr/>
          </p:nvCxnSpPr>
          <p:spPr>
            <a:xfrm>
              <a:off x="2693577" y="2720339"/>
              <a:ext cx="643983" cy="29718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69" name="Connector 49"/>
            <p:cNvCxnSpPr>
              <a:endCxn id="357" idx="2"/>
            </p:cNvCxnSpPr>
            <p:nvPr/>
          </p:nvCxnSpPr>
          <p:spPr>
            <a:xfrm>
              <a:off x="2804510" y="5129784"/>
              <a:ext cx="533050" cy="36576"/>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70" name="Connector 50"/>
            <p:cNvCxnSpPr>
              <a:endCxn id="359" idx="2"/>
            </p:cNvCxnSpPr>
            <p:nvPr/>
          </p:nvCxnSpPr>
          <p:spPr>
            <a:xfrm flipV="1">
              <a:off x="2895951" y="5852160"/>
              <a:ext cx="441609" cy="36576"/>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71" name="Connector 51"/>
            <p:cNvCxnSpPr/>
            <p:nvPr/>
          </p:nvCxnSpPr>
          <p:spPr>
            <a:xfrm flipH="1" flipV="1">
              <a:off x="7978210" y="5257800"/>
              <a:ext cx="766221" cy="265175"/>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72" name="Connector 52"/>
            <p:cNvCxnSpPr/>
            <p:nvPr/>
          </p:nvCxnSpPr>
          <p:spPr>
            <a:xfrm flipH="1">
              <a:off x="7978211" y="5504688"/>
              <a:ext cx="753710" cy="43891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grpSp>
      <p:sp>
        <p:nvSpPr>
          <p:cNvPr id="373" name="실행 단추: 앞으로 또는 다음 7">
            <a:hlinkClick r:id="rId10" action="ppaction://hlinksldjump" highlightClick="1"/>
            <a:extLst>
              <a:ext uri="{FF2B5EF4-FFF2-40B4-BE49-F238E27FC236}">
                <a16:creationId xmlns:a16="http://schemas.microsoft.com/office/drawing/2014/main" id="{488D03AB-D1BE-4EE6-A246-CCD7889E2748}"/>
              </a:ext>
            </a:extLst>
          </p:cNvPr>
          <p:cNvSpPr/>
          <p:nvPr/>
        </p:nvSpPr>
        <p:spPr>
          <a:xfrm>
            <a:off x="7595143" y="4256050"/>
            <a:ext cx="185276" cy="177414"/>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158000" y="4017214"/>
            <a:ext cx="1008609" cy="230832"/>
          </a:xfrm>
          <a:prstGeom prst="rect">
            <a:avLst/>
          </a:prstGeom>
          <a:noFill/>
        </p:spPr>
        <p:txBody>
          <a:bodyPr wrap="none" rtlCol="0">
            <a:spAutoFit/>
          </a:bodyPr>
          <a:lstStyle/>
          <a:p>
            <a:r>
              <a:rPr lang="en-US" altLang="ko-KR" sz="900" dirty="0"/>
              <a:t>Domain Model </a:t>
            </a:r>
            <a:endParaRPr lang="ko-KR" altLang="en-US" sz="900" dirty="0"/>
          </a:p>
        </p:txBody>
      </p:sp>
      <p:graphicFrame>
        <p:nvGraphicFramePr>
          <p:cNvPr id="36" name="표 50">
            <a:extLst>
              <a:ext uri="{FF2B5EF4-FFF2-40B4-BE49-F238E27FC236}">
                <a16:creationId xmlns:a16="http://schemas.microsoft.com/office/drawing/2014/main" id="{2DE8B767-7F5C-4897-9A5C-78F6297FF66E}"/>
              </a:ext>
            </a:extLst>
          </p:cNvPr>
          <p:cNvGraphicFramePr>
            <a:graphicFrameLocks noGrp="1"/>
          </p:cNvGraphicFramePr>
          <p:nvPr>
            <p:extLst>
              <p:ext uri="{D42A27DB-BD31-4B8C-83A1-F6EECF244321}">
                <p14:modId xmlns:p14="http://schemas.microsoft.com/office/powerpoint/2010/main" val="2839439476"/>
              </p:ext>
            </p:extLst>
          </p:nvPr>
        </p:nvGraphicFramePr>
        <p:xfrm>
          <a:off x="424167" y="1754873"/>
          <a:ext cx="2753849" cy="4762247"/>
        </p:xfrm>
        <a:graphic>
          <a:graphicData uri="http://schemas.openxmlformats.org/drawingml/2006/table">
            <a:tbl>
              <a:tblPr firstRow="1" bandRow="1">
                <a:tableStyleId>{21E4AEA4-8DFA-4A89-87EB-49C32662AFE0}</a:tableStyleId>
              </a:tblPr>
              <a:tblGrid>
                <a:gridCol w="1168889">
                  <a:extLst>
                    <a:ext uri="{9D8B030D-6E8A-4147-A177-3AD203B41FA5}">
                      <a16:colId xmlns:a16="http://schemas.microsoft.com/office/drawing/2014/main" val="3568797503"/>
                    </a:ext>
                  </a:extLst>
                </a:gridCol>
                <a:gridCol w="1584960">
                  <a:extLst>
                    <a:ext uri="{9D8B030D-6E8A-4147-A177-3AD203B41FA5}">
                      <a16:colId xmlns:a16="http://schemas.microsoft.com/office/drawing/2014/main" val="15593522"/>
                    </a:ext>
                  </a:extLst>
                </a:gridCol>
              </a:tblGrid>
              <a:tr h="223205">
                <a:tc>
                  <a:txBody>
                    <a:bodyPr/>
                    <a:lstStyle/>
                    <a:p>
                      <a:pPr marL="0" indent="0" algn="ctr" latinLnBrk="1">
                        <a:lnSpc>
                          <a:spcPct val="120000"/>
                        </a:lnSpc>
                        <a:buFont typeface="Arial" pitchFamily="34" charset="0"/>
                        <a:buNone/>
                      </a:pPr>
                      <a:r>
                        <a:rPr lang="en-US" altLang="ko-KR" sz="1000" b="1" kern="1200" dirty="0">
                          <a:solidFill>
                            <a:schemeClr val="tx1"/>
                          </a:solidFill>
                          <a:latin typeface="맑은 고딕" pitchFamily="50" charset="-127"/>
                          <a:ea typeface="맑은 고딕" pitchFamily="50" charset="-127"/>
                          <a:cs typeface="+mn-cs"/>
                        </a:rPr>
                        <a:t>Stakeholder</a:t>
                      </a:r>
                      <a:endParaRPr lang="ko-KR" altLang="en-US" sz="1000" b="1" kern="1200" dirty="0">
                        <a:solidFill>
                          <a:schemeClr val="tx1"/>
                        </a:solidFill>
                        <a:latin typeface="맑은 고딕" pitchFamily="50" charset="-127"/>
                        <a:ea typeface="맑은 고딕" pitchFamily="50" charset="-127"/>
                        <a:cs typeface="+mn-cs"/>
                      </a:endParaRP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90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lnSpc>
                          <a:spcPct val="120000"/>
                        </a:lnSpc>
                      </a:pPr>
                      <a:r>
                        <a:rPr lang="en-US" altLang="ko-KR" sz="1000" b="1" kern="1200" dirty="0">
                          <a:solidFill>
                            <a:schemeClr val="tx1">
                              <a:lumMod val="75000"/>
                              <a:lumOff val="25000"/>
                            </a:schemeClr>
                          </a:solidFill>
                          <a:latin typeface="맑은 고딕" pitchFamily="50" charset="-127"/>
                          <a:ea typeface="맑은 고딕" pitchFamily="50" charset="-127"/>
                          <a:cs typeface="+mn-cs"/>
                        </a:rPr>
                        <a:t>VOC </a:t>
                      </a:r>
                      <a:r>
                        <a:rPr lang="ko-KR" altLang="en-US" sz="1000" b="1" kern="1200" dirty="0">
                          <a:solidFill>
                            <a:schemeClr val="tx1">
                              <a:lumMod val="75000"/>
                              <a:lumOff val="25000"/>
                            </a:schemeClr>
                          </a:solidFill>
                          <a:latin typeface="맑은 고딕" pitchFamily="50" charset="-127"/>
                          <a:ea typeface="맑은 고딕" pitchFamily="50" charset="-127"/>
                          <a:cs typeface="+mn-cs"/>
                        </a:rPr>
                        <a:t>수집</a:t>
                      </a: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90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24937682"/>
                  </a:ext>
                </a:extLst>
              </a:tr>
              <a:tr h="716310">
                <a:tc>
                  <a:txBody>
                    <a:bodyPr/>
                    <a:lstStyle/>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맑은 고딕" pitchFamily="50" charset="-127"/>
                        <a:cs typeface="+mn-cs"/>
                      </a:endParaRPr>
                    </a:p>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맑은 고딕" pitchFamily="50" charset="-127"/>
                        <a:cs typeface="+mn-cs"/>
                      </a:endParaRPr>
                    </a:p>
                    <a:p>
                      <a:pPr marL="0" indent="0" algn="ctr" latinLnBrk="1">
                        <a:lnSpc>
                          <a:spcPct val="120000"/>
                        </a:lnSpc>
                        <a:buFont typeface="Arial" pitchFamily="34" charset="0"/>
                        <a:buNone/>
                      </a:pPr>
                      <a:r>
                        <a:rPr lang="ko-KR" altLang="en-US" sz="1000" b="1" kern="1200" dirty="0">
                          <a:solidFill>
                            <a:schemeClr val="tx1"/>
                          </a:solidFill>
                          <a:latin typeface="맑은 고딕" pitchFamily="50" charset="-127"/>
                          <a:ea typeface="+mn-ea"/>
                          <a:cs typeface="+mn-cs"/>
                        </a:rPr>
                        <a:t>메모리 사업부</a:t>
                      </a: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r>
                        <a:rPr lang="en-US" altLang="ko-KR" sz="800" b="1" kern="1200" dirty="0">
                          <a:solidFill>
                            <a:schemeClr val="tx1"/>
                          </a:solidFill>
                          <a:latin typeface="맑은 고딕" pitchFamily="50" charset="-127"/>
                          <a:ea typeface="+mn-ea"/>
                          <a:cs typeface="+mn-cs"/>
                        </a:rPr>
                        <a:t>(DRAM </a:t>
                      </a:r>
                      <a:r>
                        <a:rPr lang="ko-KR" altLang="en-US" sz="800" b="1" kern="1200" dirty="0">
                          <a:solidFill>
                            <a:schemeClr val="tx1"/>
                          </a:solidFill>
                          <a:latin typeface="맑은 고딕" pitchFamily="50" charset="-127"/>
                          <a:ea typeface="+mn-ea"/>
                          <a:cs typeface="+mn-cs"/>
                        </a:rPr>
                        <a:t>설계팀</a:t>
                      </a:r>
                      <a:r>
                        <a:rPr lang="en-US" altLang="ko-KR" sz="800" b="1" kern="1200" baseline="0" dirty="0">
                          <a:solidFill>
                            <a:schemeClr val="tx1"/>
                          </a:solidFill>
                          <a:latin typeface="맑은 고딕" pitchFamily="50" charset="-127"/>
                          <a:ea typeface="+mn-ea"/>
                          <a:cs typeface="+mn-cs"/>
                        </a:rPr>
                        <a:t>)</a:t>
                      </a:r>
                      <a:endParaRPr lang="ko-KR" altLang="en-US" sz="800" b="1" kern="1200" dirty="0">
                        <a:solidFill>
                          <a:schemeClr val="tx1"/>
                        </a:solidFill>
                        <a:latin typeface="맑은 고딕" pitchFamily="50" charset="-127"/>
                        <a:ea typeface="맑은 고딕" pitchFamily="50" charset="-127"/>
                        <a:cs typeface="+mn-cs"/>
                      </a:endParaRP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tc>
                  <a:txBody>
                    <a:bodyPr/>
                    <a:lstStyle/>
                    <a:p>
                      <a:pPr algn="ctr" latinLnBrk="1">
                        <a:lnSpc>
                          <a:spcPct val="120000"/>
                        </a:lnSpc>
                      </a:pPr>
                      <a:r>
                        <a:rPr lang="en-US" altLang="ko-KR" sz="1000" b="0" kern="1200" dirty="0">
                          <a:solidFill>
                            <a:schemeClr val="tx1">
                              <a:lumMod val="75000"/>
                              <a:lumOff val="25000"/>
                            </a:schemeClr>
                          </a:solidFill>
                          <a:latin typeface="맑은 고딕" pitchFamily="50" charset="-127"/>
                          <a:ea typeface="+mn-ea"/>
                          <a:cs typeface="+mn-cs"/>
                        </a:rPr>
                        <a:t>PIM</a:t>
                      </a:r>
                      <a:r>
                        <a:rPr lang="ko-KR" altLang="en-US" sz="1000" b="0" kern="1200" dirty="0">
                          <a:solidFill>
                            <a:schemeClr val="tx1">
                              <a:lumMod val="75000"/>
                              <a:lumOff val="25000"/>
                            </a:schemeClr>
                          </a:solidFill>
                          <a:latin typeface="맑은 고딕" pitchFamily="50" charset="-127"/>
                          <a:ea typeface="+mn-ea"/>
                          <a:cs typeface="+mn-cs"/>
                        </a:rPr>
                        <a:t> 관련 </a:t>
                      </a:r>
                      <a:r>
                        <a:rPr lang="en-US" altLang="ko-KR" sz="1000" b="0" kern="1200" dirty="0">
                          <a:solidFill>
                            <a:schemeClr val="tx1">
                              <a:lumMod val="75000"/>
                              <a:lumOff val="25000"/>
                            </a:schemeClr>
                          </a:solidFill>
                          <a:latin typeface="맑은 고딕" pitchFamily="50" charset="-127"/>
                          <a:ea typeface="+mn-ea"/>
                          <a:cs typeface="+mn-cs"/>
                        </a:rPr>
                        <a:t/>
                      </a:r>
                      <a:br>
                        <a:rPr lang="en-US" altLang="ko-KR" sz="1000" b="0" kern="1200" dirty="0">
                          <a:solidFill>
                            <a:schemeClr val="tx1">
                              <a:lumMod val="75000"/>
                              <a:lumOff val="25000"/>
                            </a:schemeClr>
                          </a:solidFill>
                          <a:latin typeface="맑은 고딕" pitchFamily="50" charset="-127"/>
                          <a:ea typeface="+mn-ea"/>
                          <a:cs typeface="+mn-cs"/>
                        </a:rPr>
                      </a:br>
                      <a:r>
                        <a:rPr lang="ko-KR" altLang="en-US" sz="1000" b="0" kern="1200" dirty="0">
                          <a:solidFill>
                            <a:schemeClr val="tx1">
                              <a:lumMod val="75000"/>
                              <a:lumOff val="25000"/>
                            </a:schemeClr>
                          </a:solidFill>
                          <a:latin typeface="맑은 고딕" pitchFamily="50" charset="-127"/>
                          <a:ea typeface="+mn-ea"/>
                          <a:cs typeface="+mn-cs"/>
                        </a:rPr>
                        <a:t>요구사항 전달</a:t>
                      </a:r>
                      <a:endParaRPr lang="en-US" altLang="ko-KR" sz="1000" b="0" kern="1200" dirty="0">
                        <a:solidFill>
                          <a:schemeClr val="tx1">
                            <a:lumMod val="75000"/>
                            <a:lumOff val="25000"/>
                          </a:schemeClr>
                        </a:solidFill>
                        <a:latin typeface="맑은 고딕" pitchFamily="50" charset="-127"/>
                        <a:ea typeface="+mn-ea"/>
                        <a:cs typeface="+mn-cs"/>
                      </a:endParaRPr>
                    </a:p>
                    <a:p>
                      <a:pPr algn="ctr" latinLnBrk="1">
                        <a:lnSpc>
                          <a:spcPct val="120000"/>
                        </a:lnSpc>
                      </a:pPr>
                      <a:r>
                        <a:rPr lang="en-US" altLang="ko-KR" sz="800" b="0" kern="1200" dirty="0">
                          <a:solidFill>
                            <a:schemeClr val="tx1">
                              <a:lumMod val="75000"/>
                              <a:lumOff val="25000"/>
                            </a:schemeClr>
                          </a:solidFill>
                          <a:latin typeface="맑은 고딕" pitchFamily="50" charset="-127"/>
                          <a:ea typeface="+mn-ea"/>
                          <a:cs typeface="+mn-cs"/>
                        </a:rPr>
                        <a:t>(</a:t>
                      </a:r>
                      <a:r>
                        <a:rPr lang="ko-KR" altLang="en-US" sz="800" b="0" kern="1200" dirty="0">
                          <a:solidFill>
                            <a:schemeClr val="tx1">
                              <a:lumMod val="75000"/>
                              <a:lumOff val="25000"/>
                            </a:schemeClr>
                          </a:solidFill>
                          <a:latin typeface="맑은 고딕" pitchFamily="50" charset="-127"/>
                          <a:ea typeface="+mn-ea"/>
                          <a:cs typeface="+mn-cs"/>
                        </a:rPr>
                        <a:t>인터뷰</a:t>
                      </a:r>
                      <a:r>
                        <a:rPr lang="en-US" altLang="ko-KR" sz="800" b="0" kern="1200" dirty="0">
                          <a:solidFill>
                            <a:schemeClr val="tx1">
                              <a:lumMod val="75000"/>
                              <a:lumOff val="25000"/>
                            </a:schemeClr>
                          </a:solidFill>
                          <a:latin typeface="맑은 고딕" pitchFamily="50" charset="-127"/>
                          <a:ea typeface="+mn-ea"/>
                          <a:cs typeface="+mn-cs"/>
                        </a:rPr>
                        <a:t>, </a:t>
                      </a:r>
                      <a:r>
                        <a:rPr lang="ko-KR" altLang="en-US" sz="800" b="0" kern="1200" dirty="0">
                          <a:solidFill>
                            <a:schemeClr val="tx1">
                              <a:lumMod val="75000"/>
                              <a:lumOff val="25000"/>
                            </a:schemeClr>
                          </a:solidFill>
                          <a:latin typeface="맑은 고딕" pitchFamily="50" charset="-127"/>
                          <a:ea typeface="+mn-ea"/>
                          <a:cs typeface="+mn-cs"/>
                        </a:rPr>
                        <a:t>부서간 </a:t>
                      </a:r>
                      <a:r>
                        <a:rPr lang="ko-KR" altLang="en-US" sz="800" b="0" kern="1200" dirty="0" err="1">
                          <a:solidFill>
                            <a:schemeClr val="tx1">
                              <a:lumMod val="75000"/>
                              <a:lumOff val="25000"/>
                            </a:schemeClr>
                          </a:solidFill>
                          <a:latin typeface="맑은 고딕" pitchFamily="50" charset="-127"/>
                          <a:ea typeface="+mn-ea"/>
                          <a:cs typeface="+mn-cs"/>
                        </a:rPr>
                        <a:t>기술교류회</a:t>
                      </a:r>
                      <a:r>
                        <a:rPr lang="en-US" altLang="ko-KR" sz="800" b="0" kern="1200" dirty="0">
                          <a:solidFill>
                            <a:schemeClr val="tx1">
                              <a:lumMod val="75000"/>
                              <a:lumOff val="25000"/>
                            </a:schemeClr>
                          </a:solidFill>
                          <a:latin typeface="맑은 고딕" pitchFamily="50" charset="-127"/>
                          <a:ea typeface="+mn-ea"/>
                          <a:cs typeface="+mn-cs"/>
                        </a:rPr>
                        <a:t>)</a:t>
                      </a:r>
                      <a:endParaRPr lang="ko-KR" altLang="en-US" sz="1000" b="0" kern="1200" dirty="0">
                        <a:solidFill>
                          <a:schemeClr val="tx1">
                            <a:lumMod val="75000"/>
                            <a:lumOff val="25000"/>
                          </a:schemeClr>
                        </a:solidFill>
                        <a:latin typeface="맑은 고딕" pitchFamily="50" charset="-127"/>
                        <a:ea typeface="+mn-ea"/>
                        <a:cs typeface="+mn-cs"/>
                      </a:endParaRP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386498588"/>
                  </a:ext>
                </a:extLst>
              </a:tr>
              <a:tr h="716310">
                <a:tc>
                  <a:txBody>
                    <a:bodyPr/>
                    <a:lstStyle/>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r>
                        <a:rPr lang="ko-KR" altLang="en-US" sz="1000" b="1" kern="1200" dirty="0">
                          <a:solidFill>
                            <a:schemeClr val="tx1"/>
                          </a:solidFill>
                          <a:latin typeface="맑은 고딕" pitchFamily="50" charset="-127"/>
                          <a:ea typeface="+mn-ea"/>
                          <a:cs typeface="+mn-cs"/>
                        </a:rPr>
                        <a:t>메모리 사업부</a:t>
                      </a: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r>
                        <a:rPr lang="en-US" altLang="ko-KR" sz="800" b="1" kern="1200" dirty="0">
                          <a:solidFill>
                            <a:schemeClr val="tx1"/>
                          </a:solidFill>
                          <a:latin typeface="맑은 고딕" pitchFamily="50" charset="-127"/>
                          <a:ea typeface="+mn-ea"/>
                          <a:cs typeface="+mn-cs"/>
                        </a:rPr>
                        <a:t>(DRAM </a:t>
                      </a:r>
                      <a:r>
                        <a:rPr lang="ko-KR" altLang="en-US" sz="800" b="1" kern="1200" dirty="0" err="1">
                          <a:solidFill>
                            <a:schemeClr val="tx1"/>
                          </a:solidFill>
                          <a:latin typeface="맑은 고딕" pitchFamily="50" charset="-127"/>
                          <a:ea typeface="+mn-ea"/>
                          <a:cs typeface="+mn-cs"/>
                        </a:rPr>
                        <a:t>솔루션팀</a:t>
                      </a:r>
                      <a:r>
                        <a:rPr lang="en-US" altLang="ko-KR" sz="800" b="1" kern="1200" dirty="0">
                          <a:solidFill>
                            <a:schemeClr val="tx1"/>
                          </a:solidFill>
                          <a:latin typeface="맑은 고딕" pitchFamily="50" charset="-127"/>
                          <a:ea typeface="+mn-ea"/>
                          <a:cs typeface="+mn-cs"/>
                        </a:rPr>
                        <a:t>)</a:t>
                      </a: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tc>
                  <a:txBody>
                    <a:bodyPr/>
                    <a:lstStyle/>
                    <a:p>
                      <a:pPr algn="ctr" latinLnBrk="1">
                        <a:lnSpc>
                          <a:spcPct val="120000"/>
                        </a:lnSpc>
                      </a:pPr>
                      <a:r>
                        <a:rPr lang="en-US" altLang="ko-KR" sz="1000" b="0" kern="1200" dirty="0">
                          <a:solidFill>
                            <a:schemeClr val="tx1">
                              <a:lumMod val="75000"/>
                              <a:lumOff val="25000"/>
                            </a:schemeClr>
                          </a:solidFill>
                          <a:latin typeface="맑은 고딕" pitchFamily="50" charset="-127"/>
                          <a:ea typeface="+mn-ea"/>
                          <a:cs typeface="+mn-cs"/>
                        </a:rPr>
                        <a:t>CXL-PNM </a:t>
                      </a:r>
                      <a:r>
                        <a:rPr lang="ko-KR" altLang="en-US" sz="1000" b="0" kern="1200" dirty="0">
                          <a:solidFill>
                            <a:schemeClr val="tx1">
                              <a:lumMod val="75000"/>
                              <a:lumOff val="25000"/>
                            </a:schemeClr>
                          </a:solidFill>
                          <a:latin typeface="맑은 고딕" pitchFamily="50" charset="-127"/>
                          <a:ea typeface="+mn-ea"/>
                          <a:cs typeface="+mn-cs"/>
                        </a:rPr>
                        <a:t>관련 </a:t>
                      </a:r>
                      <a:r>
                        <a:rPr lang="en-US" altLang="ko-KR" sz="1000" b="0" kern="1200" dirty="0">
                          <a:solidFill>
                            <a:schemeClr val="tx1">
                              <a:lumMod val="75000"/>
                              <a:lumOff val="25000"/>
                            </a:schemeClr>
                          </a:solidFill>
                          <a:latin typeface="맑은 고딕" pitchFamily="50" charset="-127"/>
                          <a:ea typeface="+mn-ea"/>
                          <a:cs typeface="+mn-cs"/>
                        </a:rPr>
                        <a:t/>
                      </a:r>
                      <a:br>
                        <a:rPr lang="en-US" altLang="ko-KR" sz="1000" b="0" kern="1200" dirty="0">
                          <a:solidFill>
                            <a:schemeClr val="tx1">
                              <a:lumMod val="75000"/>
                              <a:lumOff val="25000"/>
                            </a:schemeClr>
                          </a:solidFill>
                          <a:latin typeface="맑은 고딕" pitchFamily="50" charset="-127"/>
                          <a:ea typeface="+mn-ea"/>
                          <a:cs typeface="+mn-cs"/>
                        </a:rPr>
                      </a:br>
                      <a:r>
                        <a:rPr lang="ko-KR" altLang="en-US" sz="1000" b="0" kern="1200" dirty="0">
                          <a:solidFill>
                            <a:schemeClr val="tx1">
                              <a:lumMod val="75000"/>
                              <a:lumOff val="25000"/>
                            </a:schemeClr>
                          </a:solidFill>
                          <a:latin typeface="맑은 고딕" pitchFamily="50" charset="-127"/>
                          <a:ea typeface="+mn-ea"/>
                          <a:cs typeface="+mn-cs"/>
                        </a:rPr>
                        <a:t>요구 사항 전달</a:t>
                      </a:r>
                      <a:endParaRPr lang="en-US" altLang="ko-KR" sz="1000" b="0" kern="1200" dirty="0">
                        <a:solidFill>
                          <a:schemeClr val="tx1">
                            <a:lumMod val="75000"/>
                            <a:lumOff val="25000"/>
                          </a:schemeClr>
                        </a:solidFill>
                        <a:latin typeface="맑은 고딕" pitchFamily="50" charset="-127"/>
                        <a:ea typeface="+mn-ea"/>
                        <a:cs typeface="+mn-cs"/>
                      </a:endParaRPr>
                    </a:p>
                    <a:p>
                      <a:pPr algn="ctr" latinLnBrk="1">
                        <a:lnSpc>
                          <a:spcPct val="120000"/>
                        </a:lnSpc>
                      </a:pPr>
                      <a:r>
                        <a:rPr kumimoji="0" lang="en-US" altLang="ko-KR" sz="800" b="0" i="0" u="none" strike="noStrike" kern="1200" cap="none" spc="0" normalizeH="0" baseline="0" noProof="0" dirty="0">
                          <a:ln>
                            <a:noFill/>
                          </a:ln>
                          <a:solidFill>
                            <a:prstClr val="black">
                              <a:lumMod val="75000"/>
                              <a:lumOff val="25000"/>
                            </a:prstClr>
                          </a:solidFill>
                          <a:effectLst/>
                          <a:uLnTx/>
                          <a:uFillTx/>
                          <a:latin typeface="맑은 고딕" pitchFamily="50" charset="-127"/>
                          <a:ea typeface="+mn-ea"/>
                          <a:cs typeface="+mn-cs"/>
                        </a:rPr>
                        <a:t>(</a:t>
                      </a:r>
                      <a:r>
                        <a:rPr kumimoji="0" lang="ko-KR" altLang="en-US" sz="800" b="0" i="0" u="none" strike="noStrike" kern="1200" cap="none" spc="0" normalizeH="0" baseline="0" noProof="0" dirty="0">
                          <a:ln>
                            <a:noFill/>
                          </a:ln>
                          <a:solidFill>
                            <a:prstClr val="black">
                              <a:lumMod val="75000"/>
                              <a:lumOff val="25000"/>
                            </a:prstClr>
                          </a:solidFill>
                          <a:effectLst/>
                          <a:uLnTx/>
                          <a:uFillTx/>
                          <a:latin typeface="맑은 고딕" pitchFamily="50" charset="-127"/>
                          <a:ea typeface="+mn-ea"/>
                          <a:cs typeface="+mn-cs"/>
                        </a:rPr>
                        <a:t>부서간 </a:t>
                      </a:r>
                      <a:r>
                        <a:rPr kumimoji="0" lang="ko-KR" altLang="en-US" sz="800" b="0" i="0" u="none" strike="noStrike" kern="1200" cap="none" spc="0" normalizeH="0" baseline="0" noProof="0" dirty="0" err="1">
                          <a:ln>
                            <a:noFill/>
                          </a:ln>
                          <a:solidFill>
                            <a:prstClr val="black">
                              <a:lumMod val="75000"/>
                              <a:lumOff val="25000"/>
                            </a:prstClr>
                          </a:solidFill>
                          <a:effectLst/>
                          <a:uLnTx/>
                          <a:uFillTx/>
                          <a:latin typeface="맑은 고딕" pitchFamily="50" charset="-127"/>
                          <a:ea typeface="+mn-ea"/>
                          <a:cs typeface="+mn-cs"/>
                        </a:rPr>
                        <a:t>기술교류회</a:t>
                      </a:r>
                      <a:r>
                        <a:rPr kumimoji="0" lang="en-US" altLang="ko-KR" sz="800" b="0" i="0" u="none" strike="noStrike" kern="1200" cap="none" spc="0" normalizeH="0" baseline="0" noProof="0" dirty="0">
                          <a:ln>
                            <a:noFill/>
                          </a:ln>
                          <a:solidFill>
                            <a:prstClr val="black">
                              <a:lumMod val="75000"/>
                              <a:lumOff val="25000"/>
                            </a:prstClr>
                          </a:solidFill>
                          <a:effectLst/>
                          <a:uLnTx/>
                          <a:uFillTx/>
                          <a:latin typeface="맑은 고딕" pitchFamily="50" charset="-127"/>
                          <a:ea typeface="+mn-ea"/>
                          <a:cs typeface="+mn-cs"/>
                        </a:rPr>
                        <a:t>)</a:t>
                      </a:r>
                      <a:endParaRPr lang="ko-KR" altLang="en-US" sz="1000" b="0" kern="1200" dirty="0">
                        <a:solidFill>
                          <a:schemeClr val="tx1">
                            <a:lumMod val="75000"/>
                            <a:lumOff val="25000"/>
                          </a:schemeClr>
                        </a:solidFill>
                        <a:latin typeface="맑은 고딕" pitchFamily="50" charset="-127"/>
                        <a:ea typeface="+mn-ea"/>
                        <a:cs typeface="+mn-cs"/>
                      </a:endParaRP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04460395"/>
                  </a:ext>
                </a:extLst>
              </a:tr>
              <a:tr h="716310">
                <a:tc>
                  <a:txBody>
                    <a:bodyPr/>
                    <a:lstStyle/>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r>
                        <a:rPr lang="ko-KR" altLang="en-US" sz="1000" b="1" kern="1200" dirty="0">
                          <a:solidFill>
                            <a:schemeClr val="tx1"/>
                          </a:solidFill>
                          <a:latin typeface="맑은 고딕" pitchFamily="50" charset="-127"/>
                          <a:ea typeface="+mn-ea"/>
                          <a:cs typeface="+mn-cs"/>
                        </a:rPr>
                        <a:t>메모리</a:t>
                      </a:r>
                      <a:r>
                        <a:rPr lang="en-US" altLang="ko-KR" sz="1000" b="1" kern="1200" dirty="0">
                          <a:solidFill>
                            <a:schemeClr val="tx1"/>
                          </a:solidFill>
                          <a:latin typeface="맑은 고딕" pitchFamily="50" charset="-127"/>
                          <a:ea typeface="+mn-ea"/>
                          <a:cs typeface="+mn-cs"/>
                        </a:rPr>
                        <a:t> </a:t>
                      </a:r>
                      <a:r>
                        <a:rPr lang="ko-KR" altLang="en-US" sz="1000" b="1" kern="1200" dirty="0">
                          <a:solidFill>
                            <a:schemeClr val="tx1"/>
                          </a:solidFill>
                          <a:latin typeface="맑은 고딕" pitchFamily="50" charset="-127"/>
                          <a:ea typeface="+mn-ea"/>
                          <a:cs typeface="+mn-cs"/>
                        </a:rPr>
                        <a:t>사업부 </a:t>
                      </a:r>
                      <a:endParaRPr lang="en-US" altLang="ko-KR" sz="1000" b="1" kern="1200" dirty="0">
                        <a:solidFill>
                          <a:schemeClr val="tx1"/>
                        </a:solidFill>
                        <a:latin typeface="맑은 고딕" pitchFamily="50" charset="-127"/>
                        <a:ea typeface="+mn-ea"/>
                        <a:cs typeface="+mn-cs"/>
                      </a:endParaRPr>
                    </a:p>
                    <a:p>
                      <a:pPr marL="0" marR="0" lvl="0" indent="0" algn="ctr" defTabSz="914400" rtl="0" eaLnBrk="1" fontAlgn="auto" latinLnBrk="1" hangingPunct="1">
                        <a:lnSpc>
                          <a:spcPct val="120000"/>
                        </a:lnSpc>
                        <a:spcBef>
                          <a:spcPts val="0"/>
                        </a:spcBef>
                        <a:spcAft>
                          <a:spcPts val="0"/>
                        </a:spcAft>
                        <a:buClrTx/>
                        <a:buSzTx/>
                        <a:buFont typeface="Arial" pitchFamily="34" charset="0"/>
                        <a:buNone/>
                        <a:tabLst/>
                        <a:defRPr/>
                      </a:pPr>
                      <a:r>
                        <a:rPr lang="en-US" altLang="ko-KR" sz="800" b="1" kern="1200" dirty="0">
                          <a:solidFill>
                            <a:schemeClr val="tx1"/>
                          </a:solidFill>
                          <a:latin typeface="맑은 고딕" pitchFamily="50" charset="-127"/>
                          <a:ea typeface="+mn-ea"/>
                          <a:cs typeface="+mn-cs"/>
                        </a:rPr>
                        <a:t>(Flash </a:t>
                      </a:r>
                      <a:r>
                        <a:rPr lang="ko-KR" altLang="en-US" sz="800" b="1" kern="1200" dirty="0">
                          <a:solidFill>
                            <a:schemeClr val="tx1"/>
                          </a:solidFill>
                          <a:latin typeface="맑은 고딕" pitchFamily="50" charset="-127"/>
                          <a:ea typeface="+mn-ea"/>
                          <a:cs typeface="+mn-cs"/>
                        </a:rPr>
                        <a:t>설계팀</a:t>
                      </a:r>
                      <a:r>
                        <a:rPr lang="en-US" altLang="ko-KR" sz="800" b="1" kern="1200" dirty="0">
                          <a:solidFill>
                            <a:schemeClr val="tx1"/>
                          </a:solidFill>
                          <a:latin typeface="맑은 고딕" pitchFamily="50" charset="-127"/>
                          <a:ea typeface="+mn-ea"/>
                          <a:cs typeface="+mn-cs"/>
                        </a:rPr>
                        <a:t>)</a:t>
                      </a: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tc>
                  <a:txBody>
                    <a:bodyPr/>
                    <a:lstStyle/>
                    <a:p>
                      <a:pPr algn="ctr" latinLnBrk="1">
                        <a:lnSpc>
                          <a:spcPct val="120000"/>
                        </a:lnSpc>
                      </a:pPr>
                      <a:r>
                        <a:rPr lang="en-US" altLang="ko-KR" sz="1000" b="0" kern="1200" dirty="0">
                          <a:solidFill>
                            <a:schemeClr val="tx1">
                              <a:lumMod val="75000"/>
                              <a:lumOff val="25000"/>
                            </a:schemeClr>
                          </a:solidFill>
                          <a:latin typeface="맑은 고딕" pitchFamily="50" charset="-127"/>
                          <a:ea typeface="+mn-ea"/>
                          <a:cs typeface="+mn-cs"/>
                        </a:rPr>
                        <a:t>UBF(HBF) </a:t>
                      </a:r>
                      <a:r>
                        <a:rPr lang="ko-KR" altLang="en-US" sz="1000" b="0" kern="1200" dirty="0">
                          <a:solidFill>
                            <a:schemeClr val="tx1">
                              <a:lumMod val="75000"/>
                              <a:lumOff val="25000"/>
                            </a:schemeClr>
                          </a:solidFill>
                          <a:latin typeface="맑은 고딕" pitchFamily="50" charset="-127"/>
                          <a:ea typeface="+mn-ea"/>
                          <a:cs typeface="+mn-cs"/>
                        </a:rPr>
                        <a:t>관련 </a:t>
                      </a:r>
                      <a:r>
                        <a:rPr lang="en-US" altLang="ko-KR" sz="1000" b="0" kern="1200" dirty="0">
                          <a:solidFill>
                            <a:schemeClr val="tx1">
                              <a:lumMod val="75000"/>
                              <a:lumOff val="25000"/>
                            </a:schemeClr>
                          </a:solidFill>
                          <a:latin typeface="맑은 고딕" pitchFamily="50" charset="-127"/>
                          <a:ea typeface="+mn-ea"/>
                          <a:cs typeface="+mn-cs"/>
                        </a:rPr>
                        <a:t/>
                      </a:r>
                      <a:br>
                        <a:rPr lang="en-US" altLang="ko-KR" sz="1000" b="0" kern="1200" dirty="0">
                          <a:solidFill>
                            <a:schemeClr val="tx1">
                              <a:lumMod val="75000"/>
                              <a:lumOff val="25000"/>
                            </a:schemeClr>
                          </a:solidFill>
                          <a:latin typeface="맑은 고딕" pitchFamily="50" charset="-127"/>
                          <a:ea typeface="+mn-ea"/>
                          <a:cs typeface="+mn-cs"/>
                        </a:rPr>
                      </a:br>
                      <a:r>
                        <a:rPr lang="ko-KR" altLang="en-US" sz="1000" b="0" kern="1200" dirty="0">
                          <a:solidFill>
                            <a:schemeClr val="tx1">
                              <a:lumMod val="75000"/>
                              <a:lumOff val="25000"/>
                            </a:schemeClr>
                          </a:solidFill>
                          <a:latin typeface="맑은 고딕" pitchFamily="50" charset="-127"/>
                          <a:ea typeface="+mn-ea"/>
                          <a:cs typeface="+mn-cs"/>
                        </a:rPr>
                        <a:t>요구사항 전달</a:t>
                      </a:r>
                      <a:endParaRPr lang="en-US" altLang="ko-KR" sz="1000" b="0" kern="1200" dirty="0">
                        <a:solidFill>
                          <a:schemeClr val="tx1">
                            <a:lumMod val="75000"/>
                            <a:lumOff val="25000"/>
                          </a:schemeClr>
                        </a:solidFill>
                        <a:latin typeface="맑은 고딕" pitchFamily="50" charset="-127"/>
                        <a:ea typeface="+mn-ea"/>
                        <a:cs typeface="+mn-cs"/>
                      </a:endParaRPr>
                    </a:p>
                    <a:p>
                      <a:pPr algn="ctr" latinLnBrk="1">
                        <a:lnSpc>
                          <a:spcPct val="120000"/>
                        </a:lnSpc>
                      </a:pPr>
                      <a:r>
                        <a:rPr lang="en-US" altLang="ko-KR" sz="800" b="0" kern="1200" dirty="0">
                          <a:solidFill>
                            <a:schemeClr val="tx1">
                              <a:lumMod val="75000"/>
                              <a:lumOff val="25000"/>
                            </a:schemeClr>
                          </a:solidFill>
                          <a:latin typeface="맑은 고딕" pitchFamily="50" charset="-127"/>
                          <a:ea typeface="+mn-ea"/>
                          <a:cs typeface="+mn-cs"/>
                        </a:rPr>
                        <a:t>(</a:t>
                      </a:r>
                      <a:r>
                        <a:rPr lang="ko-KR" altLang="en-US" sz="800" b="0" kern="1200" dirty="0">
                          <a:solidFill>
                            <a:schemeClr val="tx1">
                              <a:lumMod val="75000"/>
                              <a:lumOff val="25000"/>
                            </a:schemeClr>
                          </a:solidFill>
                          <a:latin typeface="맑은 고딕" pitchFamily="50" charset="-127"/>
                          <a:ea typeface="+mn-ea"/>
                          <a:cs typeface="+mn-cs"/>
                        </a:rPr>
                        <a:t>부서간 </a:t>
                      </a:r>
                      <a:r>
                        <a:rPr lang="ko-KR" altLang="en-US" sz="800" b="0" kern="1200" dirty="0" err="1">
                          <a:solidFill>
                            <a:schemeClr val="tx1">
                              <a:lumMod val="75000"/>
                              <a:lumOff val="25000"/>
                            </a:schemeClr>
                          </a:solidFill>
                          <a:latin typeface="맑은 고딕" pitchFamily="50" charset="-127"/>
                          <a:ea typeface="+mn-ea"/>
                          <a:cs typeface="+mn-cs"/>
                        </a:rPr>
                        <a:t>교류회</a:t>
                      </a:r>
                      <a:r>
                        <a:rPr lang="en-US" altLang="ko-KR" sz="800" b="0" kern="1200" dirty="0">
                          <a:solidFill>
                            <a:schemeClr val="tx1">
                              <a:lumMod val="75000"/>
                              <a:lumOff val="25000"/>
                            </a:schemeClr>
                          </a:solidFill>
                          <a:latin typeface="맑은 고딕" pitchFamily="50" charset="-127"/>
                          <a:ea typeface="+mn-ea"/>
                          <a:cs typeface="+mn-cs"/>
                        </a:rPr>
                        <a:t>)</a:t>
                      </a:r>
                      <a:endParaRPr lang="en-US" altLang="ko-KR" sz="1000" b="0" kern="1200" dirty="0">
                        <a:solidFill>
                          <a:schemeClr val="tx1">
                            <a:lumMod val="75000"/>
                            <a:lumOff val="25000"/>
                          </a:schemeClr>
                        </a:solidFill>
                        <a:latin typeface="맑은 고딕" pitchFamily="50" charset="-127"/>
                        <a:ea typeface="+mn-ea"/>
                        <a:cs typeface="+mn-cs"/>
                      </a:endParaRP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00010643"/>
                  </a:ext>
                </a:extLst>
              </a:tr>
              <a:tr h="695841">
                <a:tc>
                  <a:txBody>
                    <a:bodyPr/>
                    <a:lstStyle/>
                    <a:p>
                      <a:pPr marL="0" indent="0" algn="ctr" latinLnBrk="1">
                        <a:lnSpc>
                          <a:spcPct val="120000"/>
                        </a:lnSpc>
                        <a:buFont typeface="Arial" pitchFamily="34" charset="0"/>
                        <a:buNone/>
                      </a:pPr>
                      <a:endParaRPr lang="en-US" altLang="ko-KR" sz="18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endParaRPr lang="en-US" altLang="ko-KR" sz="500" b="1" kern="1200" dirty="0">
                        <a:solidFill>
                          <a:schemeClr val="tx1"/>
                        </a:solidFill>
                        <a:latin typeface="맑은 고딕" pitchFamily="50" charset="-127"/>
                        <a:ea typeface="+mn-ea"/>
                        <a:cs typeface="+mn-cs"/>
                      </a:endParaRPr>
                    </a:p>
                    <a:p>
                      <a:pPr marL="0" marR="0" lvl="0" indent="0" algn="ctr" defTabSz="914400" rtl="0" eaLnBrk="1" fontAlgn="auto" latinLnBrk="1" hangingPunct="1">
                        <a:lnSpc>
                          <a:spcPct val="120000"/>
                        </a:lnSpc>
                        <a:spcBef>
                          <a:spcPts val="0"/>
                        </a:spcBef>
                        <a:spcAft>
                          <a:spcPts val="0"/>
                        </a:spcAft>
                        <a:buClrTx/>
                        <a:buSzTx/>
                        <a:buFont typeface="Arial" pitchFamily="34" charset="0"/>
                        <a:buNone/>
                        <a:tabLst/>
                        <a:defRPr/>
                      </a:pPr>
                      <a:r>
                        <a:rPr lang="en-US" altLang="ko-KR" sz="1000" b="1" kern="1200" dirty="0">
                          <a:solidFill>
                            <a:schemeClr val="tx1"/>
                          </a:solidFill>
                          <a:latin typeface="맑은 고딕" pitchFamily="50" charset="-127"/>
                          <a:ea typeface="+mn-ea"/>
                          <a:cs typeface="+mn-cs"/>
                        </a:rPr>
                        <a:t>SAIT</a:t>
                      </a:r>
                    </a:p>
                    <a:p>
                      <a:pPr marL="0" marR="0" lvl="0" indent="0" algn="ctr" defTabSz="914400" rtl="0" eaLnBrk="1" fontAlgn="auto" latinLnBrk="1" hangingPunct="1">
                        <a:lnSpc>
                          <a:spcPct val="120000"/>
                        </a:lnSpc>
                        <a:spcBef>
                          <a:spcPts val="0"/>
                        </a:spcBef>
                        <a:spcAft>
                          <a:spcPts val="0"/>
                        </a:spcAft>
                        <a:buClrTx/>
                        <a:buSzTx/>
                        <a:buFont typeface="Arial" pitchFamily="34" charset="0"/>
                        <a:buNone/>
                        <a:tabLst/>
                        <a:defRPr/>
                      </a:pPr>
                      <a:r>
                        <a:rPr kumimoji="0" lang="en-US" altLang="ko-KR" sz="800" b="1" i="0" u="none" strike="noStrike" kern="1200" cap="none" spc="0" normalizeH="0" baseline="0" noProof="0" dirty="0">
                          <a:ln>
                            <a:noFill/>
                          </a:ln>
                          <a:solidFill>
                            <a:prstClr val="black"/>
                          </a:solidFill>
                          <a:effectLst/>
                          <a:uLnTx/>
                          <a:uFillTx/>
                          <a:latin typeface="맑은 고딕" pitchFamily="50" charset="-127"/>
                          <a:ea typeface="+mn-ea"/>
                          <a:cs typeface="+mn-cs"/>
                        </a:rPr>
                        <a:t>(AI System Platform)</a:t>
                      </a:r>
                      <a:endParaRPr lang="en-US" altLang="ko-KR" sz="1000" b="1" kern="1200" dirty="0">
                        <a:solidFill>
                          <a:schemeClr val="tx1"/>
                        </a:solidFill>
                        <a:latin typeface="맑은 고딕" pitchFamily="50" charset="-127"/>
                        <a:ea typeface="+mn-ea"/>
                        <a:cs typeface="+mn-cs"/>
                      </a:endParaRP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tc>
                  <a:txBody>
                    <a:bodyPr/>
                    <a:lstStyle/>
                    <a:p>
                      <a:pPr algn="ctr" latinLnBrk="1">
                        <a:lnSpc>
                          <a:spcPct val="120000"/>
                        </a:lnSpc>
                      </a:pPr>
                      <a:r>
                        <a:rPr lang="en-US" altLang="ko-KR" sz="1000" b="0" kern="1200" dirty="0">
                          <a:solidFill>
                            <a:schemeClr val="tx1">
                              <a:lumMod val="75000"/>
                              <a:lumOff val="25000"/>
                            </a:schemeClr>
                          </a:solidFill>
                          <a:latin typeface="맑은 고딕" pitchFamily="50" charset="-127"/>
                          <a:ea typeface="+mn-ea"/>
                          <a:cs typeface="+mn-cs"/>
                        </a:rPr>
                        <a:t>Samsung Custom HBM </a:t>
                      </a:r>
                      <a:r>
                        <a:rPr lang="ko-KR" altLang="en-US" sz="1000" b="0" kern="1200" dirty="0">
                          <a:solidFill>
                            <a:schemeClr val="tx1">
                              <a:lumMod val="75000"/>
                              <a:lumOff val="25000"/>
                            </a:schemeClr>
                          </a:solidFill>
                          <a:latin typeface="맑은 고딕" pitchFamily="50" charset="-127"/>
                          <a:ea typeface="+mn-ea"/>
                          <a:cs typeface="+mn-cs"/>
                        </a:rPr>
                        <a:t>관련 요구사항 전달</a:t>
                      </a:r>
                      <a:endParaRPr lang="en-US" altLang="ko-KR" sz="1000" b="0" kern="1200" dirty="0">
                        <a:solidFill>
                          <a:schemeClr val="tx1">
                            <a:lumMod val="75000"/>
                            <a:lumOff val="25000"/>
                          </a:schemeClr>
                        </a:solidFill>
                        <a:latin typeface="맑은 고딕" pitchFamily="50" charset="-127"/>
                        <a:ea typeface="+mn-ea"/>
                        <a:cs typeface="+mn-cs"/>
                      </a:endParaRPr>
                    </a:p>
                    <a:p>
                      <a:pPr algn="ctr" latinLnBrk="1">
                        <a:lnSpc>
                          <a:spcPct val="120000"/>
                        </a:lnSpc>
                      </a:pPr>
                      <a:r>
                        <a:rPr lang="en-US" altLang="ko-KR" sz="800" b="0" kern="1200" dirty="0">
                          <a:solidFill>
                            <a:schemeClr val="tx1">
                              <a:lumMod val="75000"/>
                              <a:lumOff val="25000"/>
                            </a:schemeClr>
                          </a:solidFill>
                          <a:latin typeface="맑은 고딕" pitchFamily="50" charset="-127"/>
                          <a:ea typeface="+mn-ea"/>
                          <a:cs typeface="+mn-cs"/>
                        </a:rPr>
                        <a:t>(</a:t>
                      </a:r>
                      <a:r>
                        <a:rPr lang="ko-KR" altLang="en-US" sz="800" b="0" kern="1200" dirty="0">
                          <a:solidFill>
                            <a:schemeClr val="tx1">
                              <a:lumMod val="75000"/>
                              <a:lumOff val="25000"/>
                            </a:schemeClr>
                          </a:solidFill>
                          <a:latin typeface="맑은 고딕" pitchFamily="50" charset="-127"/>
                          <a:ea typeface="+mn-ea"/>
                          <a:cs typeface="+mn-cs"/>
                        </a:rPr>
                        <a:t>부서간 정기 회의</a:t>
                      </a:r>
                      <a:r>
                        <a:rPr lang="en-US" altLang="ko-KR" sz="800" b="0" kern="1200" dirty="0">
                          <a:solidFill>
                            <a:schemeClr val="tx1">
                              <a:lumMod val="75000"/>
                              <a:lumOff val="25000"/>
                            </a:schemeClr>
                          </a:solidFill>
                          <a:latin typeface="맑은 고딕" pitchFamily="50" charset="-127"/>
                          <a:ea typeface="+mn-ea"/>
                          <a:cs typeface="+mn-cs"/>
                        </a:rPr>
                        <a:t>)</a:t>
                      </a:r>
                      <a:r>
                        <a:rPr lang="ko-KR" altLang="en-US" sz="800" b="0" kern="1200" dirty="0">
                          <a:solidFill>
                            <a:schemeClr val="tx1">
                              <a:lumMod val="75000"/>
                              <a:lumOff val="25000"/>
                            </a:schemeClr>
                          </a:solidFill>
                          <a:latin typeface="맑은 고딕" pitchFamily="50" charset="-127"/>
                          <a:ea typeface="+mn-ea"/>
                          <a:cs typeface="+mn-cs"/>
                        </a:rPr>
                        <a:t> </a:t>
                      </a:r>
                      <a:endParaRPr lang="en-US" altLang="ko-KR" sz="1000" b="0" kern="1200" dirty="0">
                        <a:solidFill>
                          <a:schemeClr val="tx1">
                            <a:lumMod val="75000"/>
                            <a:lumOff val="25000"/>
                          </a:schemeClr>
                        </a:solidFill>
                        <a:latin typeface="맑은 고딕" pitchFamily="50" charset="-127"/>
                        <a:ea typeface="+mn-ea"/>
                        <a:cs typeface="+mn-cs"/>
                      </a:endParaRP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942504308"/>
                  </a:ext>
                </a:extLst>
              </a:tr>
              <a:tr h="679269">
                <a:tc>
                  <a:txBody>
                    <a:bodyPr/>
                    <a:lstStyle/>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marR="0" lvl="0" indent="0" algn="ctr" defTabSz="914400" rtl="0" eaLnBrk="1" fontAlgn="auto" latinLnBrk="1" hangingPunct="1">
                        <a:lnSpc>
                          <a:spcPct val="120000"/>
                        </a:lnSpc>
                        <a:spcBef>
                          <a:spcPts val="0"/>
                        </a:spcBef>
                        <a:spcAft>
                          <a:spcPts val="0"/>
                        </a:spcAft>
                        <a:buClrTx/>
                        <a:buSzTx/>
                        <a:buFont typeface="Arial" pitchFamily="34" charset="0"/>
                        <a:buNone/>
                        <a:tabLst/>
                        <a:defRPr/>
                      </a:pPr>
                      <a:r>
                        <a:rPr lang="ko-KR" altLang="en-US" sz="1000" b="1" kern="1200" dirty="0">
                          <a:solidFill>
                            <a:schemeClr val="tx1"/>
                          </a:solidFill>
                          <a:latin typeface="맑은 고딕" pitchFamily="50" charset="-127"/>
                          <a:ea typeface="+mn-ea"/>
                          <a:cs typeface="+mn-cs"/>
                        </a:rPr>
                        <a:t>경영진</a:t>
                      </a:r>
                      <a:endParaRPr lang="en-US" altLang="ko-KR" sz="1000" b="1" kern="1200" dirty="0">
                        <a:solidFill>
                          <a:schemeClr val="tx1"/>
                        </a:solidFill>
                        <a:latin typeface="맑은 고딕" pitchFamily="50" charset="-127"/>
                        <a:ea typeface="+mn-ea"/>
                        <a:cs typeface="+mn-cs"/>
                      </a:endParaRPr>
                    </a:p>
                    <a:p>
                      <a:pPr marL="0" marR="0" lvl="0" indent="0" algn="ctr" defTabSz="914400" rtl="0" eaLnBrk="1" fontAlgn="auto" latinLnBrk="1" hangingPunct="1">
                        <a:lnSpc>
                          <a:spcPct val="120000"/>
                        </a:lnSpc>
                        <a:spcBef>
                          <a:spcPts val="0"/>
                        </a:spcBef>
                        <a:spcAft>
                          <a:spcPts val="0"/>
                        </a:spcAft>
                        <a:buClrTx/>
                        <a:buSzTx/>
                        <a:buFont typeface="Arial" pitchFamily="34" charset="0"/>
                        <a:buNone/>
                        <a:tabLst/>
                        <a:defRPr/>
                      </a:pPr>
                      <a:r>
                        <a:rPr kumimoji="0" lang="en-US" altLang="ko-KR" sz="800" b="1" i="0" u="none" strike="noStrike" kern="1200" cap="none" spc="0" normalizeH="0" baseline="0" dirty="0" smtClean="0">
                          <a:ln>
                            <a:noFill/>
                          </a:ln>
                          <a:solidFill>
                            <a:prstClr val="black"/>
                          </a:solidFill>
                          <a:effectLst/>
                          <a:uLnTx/>
                          <a:uFillTx/>
                          <a:latin typeface="맑은 고딕" pitchFamily="50" charset="-127"/>
                          <a:ea typeface="+mn-ea"/>
                          <a:cs typeface="+mn-cs"/>
                        </a:rPr>
                        <a:t>(</a:t>
                      </a:r>
                      <a:r>
                        <a:rPr kumimoji="0" lang="ko-KR" altLang="en-US" sz="800" b="1" i="0" u="none" strike="noStrike" kern="1200" cap="none" spc="0" normalizeH="0" baseline="0" dirty="0" err="1" smtClean="0">
                          <a:ln>
                            <a:noFill/>
                          </a:ln>
                          <a:solidFill>
                            <a:prstClr val="black"/>
                          </a:solidFill>
                          <a:effectLst/>
                          <a:uLnTx/>
                          <a:uFillTx/>
                          <a:latin typeface="맑은 고딕" pitchFamily="50" charset="-127"/>
                          <a:ea typeface="+mn-ea"/>
                          <a:cs typeface="+mn-cs"/>
                        </a:rPr>
                        <a:t>부문장</a:t>
                      </a:r>
                      <a:r>
                        <a:rPr kumimoji="0" lang="en-US" altLang="ko-KR" sz="800" b="1" i="0" u="none" strike="noStrike" kern="1200" cap="none" spc="0" normalizeH="0" baseline="0" dirty="0" smtClean="0">
                          <a:ln>
                            <a:noFill/>
                          </a:ln>
                          <a:solidFill>
                            <a:prstClr val="black"/>
                          </a:solidFill>
                          <a:effectLst/>
                          <a:uLnTx/>
                          <a:uFillTx/>
                          <a:latin typeface="맑은 고딕" pitchFamily="50" charset="-127"/>
                          <a:ea typeface="+mn-ea"/>
                          <a:cs typeface="+mn-cs"/>
                        </a:rPr>
                        <a:t>, </a:t>
                      </a:r>
                      <a:r>
                        <a:rPr kumimoji="0" lang="ko-KR" altLang="en-US" sz="800" b="1" i="0" u="none" strike="noStrike" kern="1200" cap="none" spc="0" normalizeH="0" baseline="0" dirty="0">
                          <a:ln>
                            <a:noFill/>
                          </a:ln>
                          <a:solidFill>
                            <a:prstClr val="black"/>
                          </a:solidFill>
                          <a:effectLst/>
                          <a:uLnTx/>
                          <a:uFillTx/>
                          <a:latin typeface="맑은 고딕" pitchFamily="50" charset="-127"/>
                          <a:ea typeface="+mn-ea"/>
                          <a:cs typeface="+mn-cs"/>
                        </a:rPr>
                        <a:t>플랫폼장</a:t>
                      </a:r>
                      <a:r>
                        <a:rPr kumimoji="0" lang="en-US" altLang="ko-KR" sz="800" b="1" i="0" u="none" strike="noStrike" kern="1200" cap="none" spc="0" normalizeH="0" baseline="0" dirty="0">
                          <a:ln>
                            <a:noFill/>
                          </a:ln>
                          <a:solidFill>
                            <a:prstClr val="black"/>
                          </a:solidFill>
                          <a:effectLst/>
                          <a:uLnTx/>
                          <a:uFillTx/>
                          <a:latin typeface="맑은 고딕" pitchFamily="50" charset="-127"/>
                          <a:ea typeface="+mn-ea"/>
                          <a:cs typeface="+mn-cs"/>
                        </a:rPr>
                        <a:t>)</a:t>
                      </a: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tc>
                  <a:txBody>
                    <a:bodyPr/>
                    <a:lstStyle/>
                    <a:p>
                      <a:pPr algn="ctr" latinLnBrk="1">
                        <a:lnSpc>
                          <a:spcPct val="120000"/>
                        </a:lnSpc>
                      </a:pPr>
                      <a:r>
                        <a:rPr lang="ko-KR" altLang="en-US" sz="1000" b="0" kern="1200" dirty="0">
                          <a:solidFill>
                            <a:schemeClr val="tx1">
                              <a:lumMod val="75000"/>
                              <a:lumOff val="25000"/>
                            </a:schemeClr>
                          </a:solidFill>
                          <a:latin typeface="맑은 고딕" pitchFamily="50" charset="-127"/>
                          <a:ea typeface="+mn-ea"/>
                          <a:cs typeface="+mn-cs"/>
                        </a:rPr>
                        <a:t>신규 메모리 개발 </a:t>
                      </a:r>
                      <a:endParaRPr lang="en-US" altLang="ko-KR" sz="1000" b="0" kern="1200" dirty="0">
                        <a:solidFill>
                          <a:schemeClr val="tx1">
                            <a:lumMod val="75000"/>
                            <a:lumOff val="25000"/>
                          </a:schemeClr>
                        </a:solidFill>
                        <a:latin typeface="맑은 고딕" pitchFamily="50" charset="-127"/>
                        <a:ea typeface="+mn-ea"/>
                        <a:cs typeface="+mn-cs"/>
                      </a:endParaRPr>
                    </a:p>
                    <a:p>
                      <a:pPr algn="ctr" latinLnBrk="1">
                        <a:lnSpc>
                          <a:spcPct val="120000"/>
                        </a:lnSpc>
                      </a:pPr>
                      <a:r>
                        <a:rPr lang="ko-KR" altLang="en-US" sz="1000" b="0" kern="1200" dirty="0">
                          <a:solidFill>
                            <a:schemeClr val="tx1">
                              <a:lumMod val="75000"/>
                              <a:lumOff val="25000"/>
                            </a:schemeClr>
                          </a:solidFill>
                          <a:latin typeface="맑은 고딕" pitchFamily="50" charset="-127"/>
                          <a:ea typeface="+mn-ea"/>
                          <a:cs typeface="+mn-cs"/>
                        </a:rPr>
                        <a:t>관련 요구사항 전달</a:t>
                      </a:r>
                      <a:endParaRPr lang="en-US" altLang="ko-KR" sz="1000" b="0" kern="1200" dirty="0">
                        <a:solidFill>
                          <a:schemeClr val="tx1">
                            <a:lumMod val="75000"/>
                            <a:lumOff val="25000"/>
                          </a:schemeClr>
                        </a:solidFill>
                        <a:latin typeface="맑은 고딕" pitchFamily="50" charset="-127"/>
                        <a:ea typeface="+mn-ea"/>
                        <a:cs typeface="+mn-cs"/>
                      </a:endParaRP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206728790"/>
                  </a:ext>
                </a:extLst>
              </a:tr>
              <a:tr h="638303">
                <a:tc>
                  <a:txBody>
                    <a:bodyPr/>
                    <a:lstStyle/>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endParaRPr lang="en-US" altLang="ko-KR" sz="1000" b="1" kern="1200" dirty="0">
                        <a:solidFill>
                          <a:schemeClr val="tx1"/>
                        </a:solidFill>
                        <a:latin typeface="맑은 고딕" pitchFamily="50" charset="-127"/>
                        <a:ea typeface="+mn-ea"/>
                        <a:cs typeface="+mn-cs"/>
                      </a:endParaRPr>
                    </a:p>
                    <a:p>
                      <a:pPr marL="0" indent="0" algn="ctr" latinLnBrk="1">
                        <a:lnSpc>
                          <a:spcPct val="120000"/>
                        </a:lnSpc>
                        <a:buFont typeface="Arial" pitchFamily="34" charset="0"/>
                        <a:buNone/>
                      </a:pPr>
                      <a:r>
                        <a:rPr lang="ko-KR" altLang="en-US" sz="1000" b="1" kern="1200" dirty="0">
                          <a:solidFill>
                            <a:schemeClr val="tx1"/>
                          </a:solidFill>
                          <a:latin typeface="맑은 고딕" pitchFamily="50" charset="-127"/>
                          <a:ea typeface="+mn-ea"/>
                          <a:cs typeface="+mn-cs"/>
                        </a:rPr>
                        <a:t>개발자</a:t>
                      </a:r>
                      <a:r>
                        <a:rPr lang="en-US" altLang="ko-KR" sz="800" b="1" kern="1200" dirty="0">
                          <a:solidFill>
                            <a:schemeClr val="tx1"/>
                          </a:solidFill>
                          <a:latin typeface="맑은 고딕" pitchFamily="50" charset="-127"/>
                          <a:ea typeface="+mn-ea"/>
                          <a:cs typeface="+mn-cs"/>
                        </a:rPr>
                        <a:t>(</a:t>
                      </a:r>
                      <a:r>
                        <a:rPr lang="ko-KR" altLang="en-US" sz="800" b="1" kern="1200" dirty="0">
                          <a:solidFill>
                            <a:schemeClr val="tx1"/>
                          </a:solidFill>
                          <a:latin typeface="맑은 고딕" pitchFamily="50" charset="-127"/>
                          <a:ea typeface="+mn-ea"/>
                          <a:cs typeface="+mn-cs"/>
                        </a:rPr>
                        <a:t>연구원</a:t>
                      </a:r>
                      <a:r>
                        <a:rPr lang="en-US" altLang="ko-KR" sz="800" b="1" kern="1200" dirty="0">
                          <a:solidFill>
                            <a:schemeClr val="tx1"/>
                          </a:solidFill>
                          <a:latin typeface="맑은 고딕" pitchFamily="50" charset="-127"/>
                          <a:ea typeface="+mn-ea"/>
                          <a:cs typeface="+mn-cs"/>
                        </a:rPr>
                        <a:t>)</a:t>
                      </a:r>
                      <a:endParaRPr lang="en-US" altLang="ko-KR" sz="1000" b="1" kern="1200" dirty="0">
                        <a:solidFill>
                          <a:schemeClr val="tx1"/>
                        </a:solidFill>
                        <a:latin typeface="맑은 고딕" pitchFamily="50" charset="-127"/>
                        <a:ea typeface="+mn-ea"/>
                        <a:cs typeface="+mn-cs"/>
                      </a:endParaRPr>
                    </a:p>
                  </a:txBody>
                  <a:tcPr marL="68580" marR="68580" marT="34290" marB="34290" anchor="ctr">
                    <a:lnL w="12700" cap="flat" cmpd="sng" algn="ctr">
                      <a:solidFill>
                        <a:schemeClr val="bg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latinLnBrk="1">
                        <a:lnSpc>
                          <a:spcPct val="120000"/>
                        </a:lnSpc>
                      </a:pPr>
                      <a:r>
                        <a:rPr lang="ko-KR" altLang="en-US" sz="1000" b="0" kern="1200" dirty="0">
                          <a:solidFill>
                            <a:schemeClr val="tx1">
                              <a:lumMod val="75000"/>
                              <a:lumOff val="25000"/>
                            </a:schemeClr>
                          </a:solidFill>
                          <a:latin typeface="맑은 고딕" pitchFamily="50" charset="-127"/>
                          <a:ea typeface="+mn-ea"/>
                          <a:cs typeface="+mn-cs"/>
                        </a:rPr>
                        <a:t>당사 제품에서 </a:t>
                      </a:r>
                      <a:r>
                        <a:rPr lang="en-US" altLang="ko-KR" sz="1000" b="0" kern="1200" dirty="0">
                          <a:solidFill>
                            <a:schemeClr val="tx1">
                              <a:lumMod val="75000"/>
                              <a:lumOff val="25000"/>
                            </a:schemeClr>
                          </a:solidFill>
                          <a:latin typeface="맑은 고딕" pitchFamily="50" charset="-127"/>
                          <a:ea typeface="+mn-ea"/>
                          <a:cs typeface="+mn-cs"/>
                        </a:rPr>
                        <a:t>AI </a:t>
                      </a:r>
                      <a:r>
                        <a:rPr lang="ko-KR" altLang="en-US" sz="1000" b="0" kern="1200" dirty="0">
                          <a:solidFill>
                            <a:schemeClr val="tx1">
                              <a:lumMod val="75000"/>
                              <a:lumOff val="25000"/>
                            </a:schemeClr>
                          </a:solidFill>
                          <a:latin typeface="맑은 고딕" pitchFamily="50" charset="-127"/>
                          <a:ea typeface="+mn-ea"/>
                          <a:cs typeface="+mn-cs"/>
                        </a:rPr>
                        <a:t>응용을 </a:t>
                      </a:r>
                      <a:r>
                        <a:rPr lang="ko-KR" altLang="en-US" sz="1000" b="0" kern="1200" dirty="0" err="1">
                          <a:solidFill>
                            <a:schemeClr val="tx1">
                              <a:lumMod val="75000"/>
                              <a:lumOff val="25000"/>
                            </a:schemeClr>
                          </a:solidFill>
                          <a:latin typeface="맑은 고딕" pitchFamily="50" charset="-127"/>
                          <a:ea typeface="+mn-ea"/>
                          <a:cs typeface="+mn-cs"/>
                        </a:rPr>
                        <a:t>동작시키기</a:t>
                      </a:r>
                      <a:r>
                        <a:rPr lang="ko-KR" altLang="en-US" sz="1000" b="0" kern="1200" dirty="0">
                          <a:solidFill>
                            <a:schemeClr val="tx1">
                              <a:lumMod val="75000"/>
                              <a:lumOff val="25000"/>
                            </a:schemeClr>
                          </a:solidFill>
                          <a:latin typeface="맑은 고딕" pitchFamily="50" charset="-127"/>
                          <a:ea typeface="+mn-ea"/>
                          <a:cs typeface="+mn-cs"/>
                        </a:rPr>
                        <a:t> 위한 요구사항 전달 </a:t>
                      </a:r>
                      <a:endParaRPr lang="en-US" altLang="ko-KR" sz="1000" b="0" kern="1200" dirty="0">
                        <a:solidFill>
                          <a:schemeClr val="tx1">
                            <a:lumMod val="75000"/>
                            <a:lumOff val="25000"/>
                          </a:schemeClr>
                        </a:solidFill>
                        <a:latin typeface="맑은 고딕" pitchFamily="50" charset="-127"/>
                        <a:ea typeface="+mn-ea"/>
                        <a:cs typeface="+mn-cs"/>
                      </a:endParaRPr>
                    </a:p>
                  </a:txBody>
                  <a:tcPr marL="68580" marR="68580" marT="34290" marB="34290"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35789243"/>
                  </a:ext>
                </a:extLst>
              </a:tr>
            </a:tbl>
          </a:graphicData>
        </a:graphic>
      </p:graphicFrame>
    </p:spTree>
    <p:extLst>
      <p:ext uri="{BB962C8B-B14F-4D97-AF65-F5344CB8AC3E}">
        <p14:creationId xmlns:p14="http://schemas.microsoft.com/office/powerpoint/2010/main" val="247341184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91440"/>
            <a:ext cx="11521440" cy="457200"/>
          </a:xfrm>
          <a:prstGeom prst="rect">
            <a:avLst/>
          </a:prstGeom>
          <a:noFill/>
        </p:spPr>
        <p:txBody>
          <a:bodyPr wrap="square" lIns="73152" tIns="27432" rIns="73152" bIns="27432" anchor="ctr">
            <a:spAutoFit/>
          </a:bodyPr>
          <a:lstStyle/>
          <a:p>
            <a:pPr algn="l"/>
            <a:r>
              <a:rPr sz="2200" b="1" i="0" dirty="0" err="1">
                <a:solidFill>
                  <a:srgbClr val="000000"/>
                </a:solidFill>
                <a:latin typeface="맑은 고딕"/>
              </a:rPr>
              <a:t>주요</a:t>
            </a:r>
            <a:r>
              <a:rPr sz="2200" b="1" i="0" dirty="0">
                <a:solidFill>
                  <a:srgbClr val="000000"/>
                </a:solidFill>
                <a:latin typeface="맑은 고딕"/>
              </a:rPr>
              <a:t> </a:t>
            </a:r>
            <a:r>
              <a:rPr sz="2200" b="1" i="0" dirty="0" err="1">
                <a:solidFill>
                  <a:srgbClr val="000000"/>
                </a:solidFill>
                <a:latin typeface="맑은 고딕"/>
              </a:rPr>
              <a:t>기능</a:t>
            </a:r>
            <a:r>
              <a:rPr sz="2200" b="1" i="0" dirty="0">
                <a:solidFill>
                  <a:srgbClr val="000000"/>
                </a:solidFill>
                <a:latin typeface="맑은 고딕"/>
              </a:rPr>
              <a:t> </a:t>
            </a:r>
            <a:r>
              <a:rPr sz="2200" b="1" i="0" dirty="0" err="1">
                <a:solidFill>
                  <a:srgbClr val="000000"/>
                </a:solidFill>
                <a:latin typeface="맑은 고딕"/>
              </a:rPr>
              <a:t>요구사항</a:t>
            </a:r>
            <a:r>
              <a:rPr sz="2200" b="1" i="0" dirty="0">
                <a:solidFill>
                  <a:srgbClr val="000000"/>
                </a:solidFill>
                <a:latin typeface="맑은 고딕"/>
              </a:rPr>
              <a:t> 및 </a:t>
            </a:r>
            <a:r>
              <a:rPr sz="2200" b="1" i="0" dirty="0" err="1">
                <a:solidFill>
                  <a:srgbClr val="000000"/>
                </a:solidFill>
                <a:latin typeface="맑은 고딕"/>
              </a:rPr>
              <a:t>제약사항</a:t>
            </a:r>
            <a:endParaRPr sz="2200" b="1" i="0" dirty="0">
              <a:solidFill>
                <a:srgbClr val="000000"/>
              </a:solidFill>
              <a:latin typeface="맑은 고딕"/>
            </a:endParaRPr>
          </a:p>
        </p:txBody>
      </p:sp>
      <p:sp>
        <p:nvSpPr>
          <p:cNvPr id="5" name="Rectangle 4"/>
          <p:cNvSpPr/>
          <p:nvPr/>
        </p:nvSpPr>
        <p:spPr>
          <a:xfrm>
            <a:off x="265175" y="1360639"/>
            <a:ext cx="11588157"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03503" y="1360639"/>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30936" y="1378927"/>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FR01</a:t>
            </a:r>
          </a:p>
        </p:txBody>
      </p:sp>
      <p:sp>
        <p:nvSpPr>
          <p:cNvPr id="9" name="Rectangle 8"/>
          <p:cNvSpPr/>
          <p:nvPr/>
        </p:nvSpPr>
        <p:spPr>
          <a:xfrm>
            <a:off x="265175" y="1890991"/>
            <a:ext cx="11588157"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3503" y="1890991"/>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30936" y="1909279"/>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FR02</a:t>
            </a:r>
          </a:p>
        </p:txBody>
      </p:sp>
      <p:sp>
        <p:nvSpPr>
          <p:cNvPr id="12" name="TextBox 11"/>
          <p:cNvSpPr txBox="1"/>
          <p:nvPr/>
        </p:nvSpPr>
        <p:spPr>
          <a:xfrm>
            <a:off x="1179575" y="1482231"/>
            <a:ext cx="6093291" cy="206210"/>
          </a:xfrm>
          <a:prstGeom prst="rect">
            <a:avLst/>
          </a:prstGeom>
          <a:noFill/>
        </p:spPr>
        <p:txBody>
          <a:bodyPr wrap="square" lIns="36576" tIns="18288" rIns="36576" bIns="18288" anchor="ctr">
            <a:spAutoFit/>
          </a:bodyPr>
          <a:lstStyle/>
          <a:p>
            <a:r>
              <a:rPr lang="en-US" altLang="ko-KR" sz="1100" b="1" dirty="0">
                <a:solidFill>
                  <a:srgbClr val="000000"/>
                </a:solidFill>
              </a:rPr>
              <a:t>LLM </a:t>
            </a:r>
            <a:r>
              <a:rPr lang="ko-KR" altLang="en-US" sz="1100" b="1" dirty="0">
                <a:solidFill>
                  <a:srgbClr val="000000"/>
                </a:solidFill>
              </a:rPr>
              <a:t>추론 요청을 수신하고</a:t>
            </a:r>
            <a:r>
              <a:rPr lang="en-US" altLang="ko-KR" sz="1100" b="1" dirty="0">
                <a:solidFill>
                  <a:srgbClr val="000000"/>
                </a:solidFill>
              </a:rPr>
              <a:t>, </a:t>
            </a:r>
            <a:r>
              <a:rPr lang="ko-KR" altLang="en-US" sz="1100" b="1" dirty="0" err="1">
                <a:solidFill>
                  <a:srgbClr val="000000"/>
                </a:solidFill>
              </a:rPr>
              <a:t>요청별</a:t>
            </a:r>
            <a:r>
              <a:rPr lang="ko-KR" altLang="en-US" sz="1100" b="1" dirty="0">
                <a:solidFill>
                  <a:srgbClr val="000000"/>
                </a:solidFill>
              </a:rPr>
              <a:t> 입력 및 실행 상태를 관리한다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13" name="Rectangle 12"/>
          <p:cNvSpPr/>
          <p:nvPr/>
        </p:nvSpPr>
        <p:spPr>
          <a:xfrm>
            <a:off x="265176" y="2421342"/>
            <a:ext cx="11588156"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03503" y="2421342"/>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30936" y="2439630"/>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FR03</a:t>
            </a:r>
          </a:p>
        </p:txBody>
      </p:sp>
      <p:sp>
        <p:nvSpPr>
          <p:cNvPr id="17" name="Rectangle 16"/>
          <p:cNvSpPr/>
          <p:nvPr/>
        </p:nvSpPr>
        <p:spPr>
          <a:xfrm>
            <a:off x="265176" y="2951694"/>
            <a:ext cx="11588156"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3503" y="2951694"/>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30936" y="2969982"/>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FR04</a:t>
            </a:r>
          </a:p>
        </p:txBody>
      </p:sp>
      <p:sp>
        <p:nvSpPr>
          <p:cNvPr id="24" name="TextBox 23"/>
          <p:cNvSpPr txBox="1"/>
          <p:nvPr/>
        </p:nvSpPr>
        <p:spPr>
          <a:xfrm>
            <a:off x="1179576" y="2015771"/>
            <a:ext cx="7265924" cy="206210"/>
          </a:xfrm>
          <a:prstGeom prst="rect">
            <a:avLst/>
          </a:prstGeom>
          <a:noFill/>
        </p:spPr>
        <p:txBody>
          <a:bodyPr wrap="square" lIns="36576" tIns="18288" rIns="36576" bIns="18288" anchor="ctr">
            <a:spAutoFit/>
          </a:bodyPr>
          <a:lstStyle/>
          <a:p>
            <a:r>
              <a:rPr lang="ko-KR" altLang="en-US" sz="1100" b="1" dirty="0">
                <a:solidFill>
                  <a:srgbClr val="000000"/>
                </a:solidFill>
              </a:rPr>
              <a:t>다중 요청의 실행 순서와 </a:t>
            </a:r>
            <a:r>
              <a:rPr lang="ko-KR" altLang="en-US" sz="1100" b="1" dirty="0" err="1">
                <a:solidFill>
                  <a:srgbClr val="000000"/>
                </a:solidFill>
              </a:rPr>
              <a:t>배칭을</a:t>
            </a:r>
            <a:r>
              <a:rPr lang="ko-KR" altLang="en-US" sz="1100" b="1" dirty="0">
                <a:solidFill>
                  <a:srgbClr val="000000"/>
                </a:solidFill>
              </a:rPr>
              <a:t> 결정하고</a:t>
            </a:r>
            <a:r>
              <a:rPr lang="en-US" altLang="ko-KR" sz="1100" b="1" dirty="0">
                <a:solidFill>
                  <a:srgbClr val="000000"/>
                </a:solidFill>
              </a:rPr>
              <a:t>, </a:t>
            </a:r>
            <a:r>
              <a:rPr lang="ko-KR" altLang="en-US" sz="1100" b="1" dirty="0">
                <a:solidFill>
                  <a:srgbClr val="000000"/>
                </a:solidFill>
              </a:rPr>
              <a:t>가용 연산 자원에 작업을 할당하여 실행 시점을 조정</a:t>
            </a:r>
            <a:r>
              <a:rPr lang="en-US" altLang="ko-KR" sz="1100" b="1" dirty="0">
                <a:solidFill>
                  <a:srgbClr val="000000"/>
                </a:solidFill>
              </a:rPr>
              <a:t>(</a:t>
            </a:r>
            <a:r>
              <a:rPr lang="ko-KR" altLang="en-US" sz="1100" b="1" dirty="0">
                <a:solidFill>
                  <a:srgbClr val="000000"/>
                </a:solidFill>
              </a:rPr>
              <a:t>스케줄링</a:t>
            </a:r>
            <a:r>
              <a:rPr lang="en-US" altLang="ko-KR" sz="1100" b="1" dirty="0">
                <a:solidFill>
                  <a:srgbClr val="000000"/>
                </a:solidFill>
              </a:rPr>
              <a:t>)</a:t>
            </a:r>
            <a:r>
              <a:rPr lang="ko-KR" altLang="en-US" sz="1100" b="1" dirty="0">
                <a:solidFill>
                  <a:srgbClr val="000000"/>
                </a:solidFill>
              </a:rPr>
              <a:t>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75" name="TextBox 74">
            <a:extLst>
              <a:ext uri="{FF2B5EF4-FFF2-40B4-BE49-F238E27FC236}">
                <a16:creationId xmlns:a16="http://schemas.microsoft.com/office/drawing/2014/main" id="{FD39D4B0-244F-4FC9-B93F-DC6D352A79F4}"/>
              </a:ext>
            </a:extLst>
          </p:cNvPr>
          <p:cNvSpPr txBox="1"/>
          <p:nvPr/>
        </p:nvSpPr>
        <p:spPr>
          <a:xfrm>
            <a:off x="8144933" y="1460530"/>
            <a:ext cx="3708399" cy="261610"/>
          </a:xfrm>
          <a:prstGeom prst="rect">
            <a:avLst/>
          </a:prstGeom>
          <a:noFill/>
        </p:spPr>
        <p:txBody>
          <a:bodyPr wrap="square" rtlCol="0">
            <a:spAutoFit/>
          </a:bodyPr>
          <a:lstStyle/>
          <a:p>
            <a:pPr algn="r"/>
            <a:r>
              <a:rPr lang="en-US" altLang="ko-KR" sz="1100" dirty="0"/>
              <a:t>* </a:t>
            </a:r>
            <a:r>
              <a:rPr lang="ko-KR" altLang="en-US" sz="1100" dirty="0"/>
              <a:t>추론 요청 관리</a:t>
            </a:r>
          </a:p>
        </p:txBody>
      </p:sp>
      <p:sp>
        <p:nvSpPr>
          <p:cNvPr id="78" name="TextBox 77">
            <a:extLst>
              <a:ext uri="{FF2B5EF4-FFF2-40B4-BE49-F238E27FC236}">
                <a16:creationId xmlns:a16="http://schemas.microsoft.com/office/drawing/2014/main" id="{C8A3B323-AAEE-473A-AF1A-0D606D76FEB4}"/>
              </a:ext>
            </a:extLst>
          </p:cNvPr>
          <p:cNvSpPr txBox="1"/>
          <p:nvPr/>
        </p:nvSpPr>
        <p:spPr>
          <a:xfrm>
            <a:off x="5046133" y="1991636"/>
            <a:ext cx="6807199" cy="261610"/>
          </a:xfrm>
          <a:prstGeom prst="rect">
            <a:avLst/>
          </a:prstGeom>
          <a:noFill/>
        </p:spPr>
        <p:txBody>
          <a:bodyPr wrap="square" rtlCol="0">
            <a:spAutoFit/>
          </a:bodyPr>
          <a:lstStyle/>
          <a:p>
            <a:pPr algn="r"/>
            <a:r>
              <a:rPr lang="en-US" altLang="ko-KR" sz="1100" dirty="0"/>
              <a:t>* </a:t>
            </a:r>
            <a:r>
              <a:rPr lang="ko-KR" altLang="en-US" sz="1100" dirty="0"/>
              <a:t>추론 스케줄링</a:t>
            </a:r>
          </a:p>
        </p:txBody>
      </p:sp>
      <p:sp>
        <p:nvSpPr>
          <p:cNvPr id="79" name="Rectangle 45">
            <a:extLst>
              <a:ext uri="{FF2B5EF4-FFF2-40B4-BE49-F238E27FC236}">
                <a16:creationId xmlns:a16="http://schemas.microsoft.com/office/drawing/2014/main" id="{3FCA8F25-63F1-47C2-AF65-DF75850C1EA1}"/>
              </a:ext>
            </a:extLst>
          </p:cNvPr>
          <p:cNvSpPr/>
          <p:nvPr/>
        </p:nvSpPr>
        <p:spPr>
          <a:xfrm>
            <a:off x="218102" y="4813596"/>
            <a:ext cx="11615588" cy="480902"/>
          </a:xfrm>
          <a:prstGeom prst="rect">
            <a:avLst/>
          </a:prstGeom>
          <a:solidFill>
            <a:srgbClr val="E2EFD9"/>
          </a:solidFill>
          <a:ln w="2857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46">
            <a:extLst>
              <a:ext uri="{FF2B5EF4-FFF2-40B4-BE49-F238E27FC236}">
                <a16:creationId xmlns:a16="http://schemas.microsoft.com/office/drawing/2014/main" id="{D28FE1C4-816C-4972-B17F-633272FB8ED7}"/>
              </a:ext>
            </a:extLst>
          </p:cNvPr>
          <p:cNvSpPr/>
          <p:nvPr/>
        </p:nvSpPr>
        <p:spPr>
          <a:xfrm>
            <a:off x="556430" y="4813596"/>
            <a:ext cx="640080" cy="480902"/>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47">
            <a:extLst>
              <a:ext uri="{FF2B5EF4-FFF2-40B4-BE49-F238E27FC236}">
                <a16:creationId xmlns:a16="http://schemas.microsoft.com/office/drawing/2014/main" id="{6441E98F-EA5F-4518-BA2F-8B9E7D52008A}"/>
              </a:ext>
            </a:extLst>
          </p:cNvPr>
          <p:cNvSpPr/>
          <p:nvPr/>
        </p:nvSpPr>
        <p:spPr>
          <a:xfrm>
            <a:off x="583862" y="4827336"/>
            <a:ext cx="603503" cy="453421"/>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i="0">
                <a:solidFill>
                  <a:srgbClr val="FFFFFF"/>
                </a:solidFill>
                <a:latin typeface="맑은 고딕"/>
              </a:rPr>
              <a:t>C01</a:t>
            </a:r>
          </a:p>
        </p:txBody>
      </p:sp>
      <p:sp>
        <p:nvSpPr>
          <p:cNvPr id="82" name="TextBox 81">
            <a:extLst>
              <a:ext uri="{FF2B5EF4-FFF2-40B4-BE49-F238E27FC236}">
                <a16:creationId xmlns:a16="http://schemas.microsoft.com/office/drawing/2014/main" id="{AD5A7070-27AE-4C35-BBA5-133CB01EB5CD}"/>
              </a:ext>
            </a:extLst>
          </p:cNvPr>
          <p:cNvSpPr txBox="1"/>
          <p:nvPr/>
        </p:nvSpPr>
        <p:spPr>
          <a:xfrm>
            <a:off x="1315381" y="4954789"/>
            <a:ext cx="7540751" cy="198516"/>
          </a:xfrm>
          <a:prstGeom prst="rect">
            <a:avLst/>
          </a:prstGeom>
          <a:noFill/>
        </p:spPr>
        <p:txBody>
          <a:bodyPr wrap="square" lIns="36576" tIns="18288" rIns="36576" bIns="18288" anchor="ctr">
            <a:spAutoFit/>
          </a:bodyPr>
          <a:lstStyle/>
          <a:p>
            <a:r>
              <a:rPr lang="en-US" altLang="ko-KR" sz="1050" b="1" dirty="0" err="1" smtClean="0"/>
              <a:t>vLLM</a:t>
            </a:r>
            <a:r>
              <a:rPr lang="en-US" altLang="ko-KR" sz="1050" b="1" dirty="0" smtClean="0"/>
              <a:t>, </a:t>
            </a:r>
            <a:r>
              <a:rPr lang="en-US" altLang="ko-KR" sz="1050" b="1" dirty="0" err="1" smtClean="0"/>
              <a:t>llm</a:t>
            </a:r>
            <a:r>
              <a:rPr lang="en-US" altLang="ko-KR" sz="1050" b="1" dirty="0" smtClean="0"/>
              <a:t>-d </a:t>
            </a:r>
            <a:r>
              <a:rPr lang="ko-KR" altLang="en-US" sz="1050" b="1" dirty="0" err="1" smtClean="0"/>
              <a:t>서빙</a:t>
            </a:r>
            <a:r>
              <a:rPr lang="ko-KR" altLang="en-US" sz="1050" b="1" dirty="0" smtClean="0"/>
              <a:t> </a:t>
            </a:r>
            <a:r>
              <a:rPr lang="en-US" altLang="ko-KR" sz="1050" b="1" dirty="0" smtClean="0"/>
              <a:t>Framework </a:t>
            </a:r>
            <a:r>
              <a:rPr lang="ko-KR" altLang="en-US" sz="1050" b="1" dirty="0"/>
              <a:t>기반으로 개발한다</a:t>
            </a:r>
            <a:r>
              <a:rPr lang="en-US" altLang="ko-KR" sz="1050" b="1" dirty="0"/>
              <a:t> </a:t>
            </a:r>
            <a:endParaRPr lang="en-US" altLang="ko-KR" sz="1050" b="1" i="0" dirty="0"/>
          </a:p>
        </p:txBody>
      </p:sp>
      <p:sp>
        <p:nvSpPr>
          <p:cNvPr id="107" name="TextBox 106">
            <a:extLst>
              <a:ext uri="{FF2B5EF4-FFF2-40B4-BE49-F238E27FC236}">
                <a16:creationId xmlns:a16="http://schemas.microsoft.com/office/drawing/2014/main" id="{2004FE08-1DEE-45B4-9CF1-EF975F110581}"/>
              </a:ext>
            </a:extLst>
          </p:cNvPr>
          <p:cNvSpPr txBox="1"/>
          <p:nvPr/>
        </p:nvSpPr>
        <p:spPr>
          <a:xfrm>
            <a:off x="197339" y="921031"/>
            <a:ext cx="1852402" cy="400110"/>
          </a:xfrm>
          <a:prstGeom prst="rect">
            <a:avLst/>
          </a:prstGeom>
          <a:noFill/>
        </p:spPr>
        <p:txBody>
          <a:bodyPr wrap="square" rtlCol="0">
            <a:spAutoFit/>
          </a:bodyPr>
          <a:lstStyle/>
          <a:p>
            <a:r>
              <a:rPr lang="ko-KR" altLang="en-US" sz="2000" b="1" dirty="0">
                <a:solidFill>
                  <a:schemeClr val="accent5">
                    <a:lumMod val="50000"/>
                  </a:schemeClr>
                </a:solidFill>
              </a:rPr>
              <a:t>기능 요구사항</a:t>
            </a:r>
          </a:p>
        </p:txBody>
      </p:sp>
      <p:sp>
        <p:nvSpPr>
          <p:cNvPr id="108" name="TextBox 107">
            <a:extLst>
              <a:ext uri="{FF2B5EF4-FFF2-40B4-BE49-F238E27FC236}">
                <a16:creationId xmlns:a16="http://schemas.microsoft.com/office/drawing/2014/main" id="{A646E41B-0C2D-4C16-B4E0-E14283A0EF12}"/>
              </a:ext>
            </a:extLst>
          </p:cNvPr>
          <p:cNvSpPr txBox="1"/>
          <p:nvPr/>
        </p:nvSpPr>
        <p:spPr>
          <a:xfrm>
            <a:off x="218102" y="4352692"/>
            <a:ext cx="1852402" cy="400110"/>
          </a:xfrm>
          <a:prstGeom prst="rect">
            <a:avLst/>
          </a:prstGeom>
          <a:noFill/>
        </p:spPr>
        <p:txBody>
          <a:bodyPr wrap="square" rtlCol="0">
            <a:spAutoFit/>
          </a:bodyPr>
          <a:lstStyle/>
          <a:p>
            <a:r>
              <a:rPr lang="ko-KR" altLang="en-US" sz="2000" b="1" dirty="0">
                <a:solidFill>
                  <a:schemeClr val="accent6">
                    <a:lumMod val="50000"/>
                  </a:schemeClr>
                </a:solidFill>
              </a:rPr>
              <a:t>제약사항</a:t>
            </a:r>
          </a:p>
        </p:txBody>
      </p:sp>
      <p:sp>
        <p:nvSpPr>
          <p:cNvPr id="139" name="TextBox 138">
            <a:extLst>
              <a:ext uri="{FF2B5EF4-FFF2-40B4-BE49-F238E27FC236}">
                <a16:creationId xmlns:a16="http://schemas.microsoft.com/office/drawing/2014/main" id="{03D20420-D68B-4666-B110-11317DEE246D}"/>
              </a:ext>
            </a:extLst>
          </p:cNvPr>
          <p:cNvSpPr txBox="1"/>
          <p:nvPr/>
        </p:nvSpPr>
        <p:spPr>
          <a:xfrm>
            <a:off x="1179576" y="2570535"/>
            <a:ext cx="6834124" cy="206210"/>
          </a:xfrm>
          <a:prstGeom prst="rect">
            <a:avLst/>
          </a:prstGeom>
          <a:noFill/>
        </p:spPr>
        <p:txBody>
          <a:bodyPr wrap="square" lIns="36576" tIns="18288" rIns="36576" bIns="18288" anchor="ctr">
            <a:spAutoFit/>
          </a:bodyPr>
          <a:lstStyle/>
          <a:p>
            <a:r>
              <a:rPr lang="en-US" altLang="ko-KR" sz="1100" b="1" dirty="0">
                <a:solidFill>
                  <a:srgbClr val="000000"/>
                </a:solidFill>
              </a:rPr>
              <a:t>LLM </a:t>
            </a:r>
            <a:r>
              <a:rPr lang="ko-KR" altLang="en-US" sz="1100" b="1" dirty="0">
                <a:solidFill>
                  <a:srgbClr val="000000"/>
                </a:solidFill>
              </a:rPr>
              <a:t>모델을 실행하여 입력에 대한</a:t>
            </a:r>
            <a:r>
              <a:rPr lang="en-US" altLang="ko-KR" sz="1100" b="1" dirty="0">
                <a:solidFill>
                  <a:srgbClr val="000000"/>
                </a:solidFill>
              </a:rPr>
              <a:t> </a:t>
            </a:r>
            <a:r>
              <a:rPr lang="ko-KR" altLang="en-US" sz="1100" b="1" dirty="0">
                <a:solidFill>
                  <a:srgbClr val="000000"/>
                </a:solidFill>
              </a:rPr>
              <a:t>연산을 수행하고 출력 토큰을 생성한다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140" name="TextBox 139">
            <a:extLst>
              <a:ext uri="{FF2B5EF4-FFF2-40B4-BE49-F238E27FC236}">
                <a16:creationId xmlns:a16="http://schemas.microsoft.com/office/drawing/2014/main" id="{31461643-C2FA-4E83-9270-39C3F56B508A}"/>
              </a:ext>
            </a:extLst>
          </p:cNvPr>
          <p:cNvSpPr txBox="1"/>
          <p:nvPr/>
        </p:nvSpPr>
        <p:spPr>
          <a:xfrm>
            <a:off x="5046133" y="2532478"/>
            <a:ext cx="6807199" cy="261610"/>
          </a:xfrm>
          <a:prstGeom prst="rect">
            <a:avLst/>
          </a:prstGeom>
          <a:noFill/>
        </p:spPr>
        <p:txBody>
          <a:bodyPr wrap="square" rtlCol="0">
            <a:spAutoFit/>
          </a:bodyPr>
          <a:lstStyle/>
          <a:p>
            <a:pPr algn="r"/>
            <a:r>
              <a:rPr lang="en-US" altLang="ko-KR" sz="1100" dirty="0"/>
              <a:t>* LLM </a:t>
            </a:r>
            <a:r>
              <a:rPr lang="ko-KR" altLang="en-US" sz="1100" dirty="0"/>
              <a:t>추론 실행</a:t>
            </a:r>
          </a:p>
        </p:txBody>
      </p:sp>
      <p:sp>
        <p:nvSpPr>
          <p:cNvPr id="141" name="TextBox 140">
            <a:extLst>
              <a:ext uri="{FF2B5EF4-FFF2-40B4-BE49-F238E27FC236}">
                <a16:creationId xmlns:a16="http://schemas.microsoft.com/office/drawing/2014/main" id="{721E31D8-0D3C-4FBD-9B1A-AF55B77A1FD7}"/>
              </a:ext>
            </a:extLst>
          </p:cNvPr>
          <p:cNvSpPr txBox="1"/>
          <p:nvPr/>
        </p:nvSpPr>
        <p:spPr>
          <a:xfrm>
            <a:off x="1179576" y="3077572"/>
            <a:ext cx="4846320" cy="206210"/>
          </a:xfrm>
          <a:prstGeom prst="rect">
            <a:avLst/>
          </a:prstGeom>
          <a:noFill/>
        </p:spPr>
        <p:txBody>
          <a:bodyPr wrap="square" lIns="36576" tIns="18288" rIns="36576" bIns="18288" anchor="ctr">
            <a:spAutoFit/>
          </a:bodyPr>
          <a:lstStyle/>
          <a:p>
            <a:r>
              <a:rPr lang="ko-KR" altLang="en-US" sz="1100" b="1" dirty="0">
                <a:solidFill>
                  <a:srgbClr val="000000"/>
                </a:solidFill>
              </a:rPr>
              <a:t>추론 과정에서 생성되는 </a:t>
            </a:r>
            <a:r>
              <a:rPr lang="en-US" altLang="ko-KR" sz="1100" b="1" dirty="0">
                <a:solidFill>
                  <a:srgbClr val="000000"/>
                </a:solidFill>
              </a:rPr>
              <a:t>KV </a:t>
            </a:r>
            <a:r>
              <a:rPr lang="ko-KR" altLang="en-US" sz="1100" b="1" dirty="0">
                <a:solidFill>
                  <a:srgbClr val="000000"/>
                </a:solidFill>
              </a:rPr>
              <a:t>캐시를 할당</a:t>
            </a:r>
            <a:r>
              <a:rPr lang="en-US" altLang="ko-KR" sz="1100" b="1" dirty="0">
                <a:solidFill>
                  <a:srgbClr val="000000"/>
                </a:solidFill>
              </a:rPr>
              <a:t>, </a:t>
            </a:r>
            <a:r>
              <a:rPr lang="ko-KR" altLang="en-US" sz="1100" b="1" dirty="0">
                <a:solidFill>
                  <a:srgbClr val="000000"/>
                </a:solidFill>
              </a:rPr>
              <a:t>저장</a:t>
            </a:r>
            <a:r>
              <a:rPr lang="en-US" altLang="ko-KR" sz="1100" b="1" dirty="0">
                <a:solidFill>
                  <a:srgbClr val="000000"/>
                </a:solidFill>
              </a:rPr>
              <a:t>, </a:t>
            </a:r>
            <a:r>
              <a:rPr lang="ko-KR" altLang="en-US" sz="1100" b="1" dirty="0">
                <a:solidFill>
                  <a:srgbClr val="000000"/>
                </a:solidFill>
              </a:rPr>
              <a:t>재사용 및 해제한다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142" name="TextBox 141">
            <a:extLst>
              <a:ext uri="{FF2B5EF4-FFF2-40B4-BE49-F238E27FC236}">
                <a16:creationId xmlns:a16="http://schemas.microsoft.com/office/drawing/2014/main" id="{3E03050F-1B33-4E51-B626-E954EE61AD7F}"/>
              </a:ext>
            </a:extLst>
          </p:cNvPr>
          <p:cNvSpPr txBox="1"/>
          <p:nvPr/>
        </p:nvSpPr>
        <p:spPr>
          <a:xfrm>
            <a:off x="5046133" y="3058684"/>
            <a:ext cx="6807199" cy="261610"/>
          </a:xfrm>
          <a:prstGeom prst="rect">
            <a:avLst/>
          </a:prstGeom>
          <a:noFill/>
        </p:spPr>
        <p:txBody>
          <a:bodyPr wrap="square" rtlCol="0">
            <a:spAutoFit/>
          </a:bodyPr>
          <a:lstStyle/>
          <a:p>
            <a:pPr algn="r"/>
            <a:r>
              <a:rPr lang="en-US" altLang="ko-KR" sz="1100" dirty="0"/>
              <a:t>* KV </a:t>
            </a:r>
            <a:r>
              <a:rPr lang="ko-KR" altLang="en-US" sz="1100" dirty="0"/>
              <a:t>캐시 관리</a:t>
            </a:r>
            <a:endParaRPr lang="en-US" altLang="ko-KR" sz="1100" dirty="0"/>
          </a:p>
        </p:txBody>
      </p:sp>
      <p:sp>
        <p:nvSpPr>
          <p:cNvPr id="8" name="실행 단추: 앞으로 또는 다음 7">
            <a:hlinkClick r:id="rId3" action="ppaction://hlinksldjump" highlightClick="1"/>
          </p:cNvPr>
          <p:cNvSpPr/>
          <p:nvPr/>
        </p:nvSpPr>
        <p:spPr>
          <a:xfrm>
            <a:off x="10302719" y="1000682"/>
            <a:ext cx="247357" cy="22556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실행 단추: 앞으로 또는 다음 54">
            <a:hlinkClick r:id="rId4" action="ppaction://hlinksldjump" highlightClick="1"/>
          </p:cNvPr>
          <p:cNvSpPr/>
          <p:nvPr/>
        </p:nvSpPr>
        <p:spPr>
          <a:xfrm>
            <a:off x="11671292" y="999121"/>
            <a:ext cx="232287" cy="228736"/>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p:cNvSpPr txBox="1"/>
          <p:nvPr/>
        </p:nvSpPr>
        <p:spPr>
          <a:xfrm>
            <a:off x="9071569" y="1028401"/>
            <a:ext cx="1278043" cy="161583"/>
          </a:xfrm>
          <a:prstGeom prst="rect">
            <a:avLst/>
          </a:prstGeom>
          <a:noFill/>
        </p:spPr>
        <p:txBody>
          <a:bodyPr wrap="square" lIns="0" tIns="0" rIns="0" bIns="0" anchor="ctr">
            <a:spAutoFit/>
          </a:bodyPr>
          <a:lstStyle/>
          <a:p>
            <a:pPr algn="l"/>
            <a:r>
              <a:rPr lang="ko-KR" altLang="en-US" sz="1050" b="0" i="0" dirty="0">
                <a:solidFill>
                  <a:srgbClr val="404040"/>
                </a:solidFill>
                <a:latin typeface="맑은 고딕"/>
                <a:ea typeface="맑은 고딕"/>
              </a:rPr>
              <a:t>기능 요구사항 전체 </a:t>
            </a:r>
            <a:endParaRPr sz="1050" b="0" i="0" dirty="0">
              <a:solidFill>
                <a:srgbClr val="404040"/>
              </a:solidFill>
              <a:latin typeface="맑은 고딕"/>
              <a:ea typeface="맑은 고딕"/>
            </a:endParaRPr>
          </a:p>
        </p:txBody>
      </p:sp>
      <p:sp>
        <p:nvSpPr>
          <p:cNvPr id="57" name="TextBox 56"/>
          <p:cNvSpPr txBox="1"/>
          <p:nvPr/>
        </p:nvSpPr>
        <p:spPr>
          <a:xfrm>
            <a:off x="10735432" y="1028401"/>
            <a:ext cx="982791" cy="161583"/>
          </a:xfrm>
          <a:prstGeom prst="rect">
            <a:avLst/>
          </a:prstGeom>
          <a:noFill/>
        </p:spPr>
        <p:txBody>
          <a:bodyPr wrap="square" lIns="0" tIns="0" rIns="0" bIns="0" anchor="ctr">
            <a:spAutoFit/>
          </a:bodyPr>
          <a:lstStyle/>
          <a:p>
            <a:pPr algn="l"/>
            <a:r>
              <a:rPr lang="ko-KR" altLang="en-US" sz="1050" b="0" i="0">
                <a:solidFill>
                  <a:srgbClr val="404040"/>
                </a:solidFill>
                <a:latin typeface="맑은 고딕"/>
                <a:ea typeface="맑은 고딕"/>
              </a:rPr>
              <a:t>요구사항 정제</a:t>
            </a:r>
            <a:endParaRPr sz="1050" b="0" i="0" dirty="0">
              <a:solidFill>
                <a:srgbClr val="404040"/>
              </a:solidFill>
              <a:latin typeface="맑은 고딕"/>
              <a:ea typeface="맑은 고딕"/>
            </a:endParaRPr>
          </a:p>
        </p:txBody>
      </p:sp>
      <p:sp>
        <p:nvSpPr>
          <p:cNvPr id="58" name="TextBox 57">
            <a:extLst>
              <a:ext uri="{FF2B5EF4-FFF2-40B4-BE49-F238E27FC236}">
                <a16:creationId xmlns:a16="http://schemas.microsoft.com/office/drawing/2014/main" id="{981C0127-3DDD-4B91-8D00-013FC1325DD7}"/>
              </a:ext>
            </a:extLst>
          </p:cNvPr>
          <p:cNvSpPr txBox="1"/>
          <p:nvPr/>
        </p:nvSpPr>
        <p:spPr>
          <a:xfrm>
            <a:off x="5046133" y="4933589"/>
            <a:ext cx="6807199" cy="261610"/>
          </a:xfrm>
          <a:prstGeom prst="rect">
            <a:avLst/>
          </a:prstGeom>
          <a:noFill/>
        </p:spPr>
        <p:txBody>
          <a:bodyPr wrap="square" rtlCol="0">
            <a:spAutoFit/>
          </a:bodyPr>
          <a:lstStyle/>
          <a:p>
            <a:pPr algn="r"/>
            <a:r>
              <a:rPr lang="en-US" altLang="ko-KR" sz="1100" dirty="0"/>
              <a:t>* </a:t>
            </a:r>
            <a:r>
              <a:rPr lang="ko-KR" altLang="en-US" sz="1100" dirty="0"/>
              <a:t>개발 환경 </a:t>
            </a:r>
          </a:p>
        </p:txBody>
      </p:sp>
      <p:sp>
        <p:nvSpPr>
          <p:cNvPr id="50" name="Rectangle 45">
            <a:extLst>
              <a:ext uri="{FF2B5EF4-FFF2-40B4-BE49-F238E27FC236}">
                <a16:creationId xmlns:a16="http://schemas.microsoft.com/office/drawing/2014/main" id="{21BDE2AC-7258-4268-A7AD-C44418089B10}"/>
              </a:ext>
            </a:extLst>
          </p:cNvPr>
          <p:cNvSpPr/>
          <p:nvPr/>
        </p:nvSpPr>
        <p:spPr>
          <a:xfrm>
            <a:off x="218102" y="5393514"/>
            <a:ext cx="11615588" cy="480902"/>
          </a:xfrm>
          <a:prstGeom prst="rect">
            <a:avLst/>
          </a:prstGeom>
          <a:solidFill>
            <a:srgbClr val="E2EFD9"/>
          </a:solidFill>
          <a:ln w="2857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46">
            <a:extLst>
              <a:ext uri="{FF2B5EF4-FFF2-40B4-BE49-F238E27FC236}">
                <a16:creationId xmlns:a16="http://schemas.microsoft.com/office/drawing/2014/main" id="{24055539-83D1-4EB6-A5F6-D51297921A05}"/>
              </a:ext>
            </a:extLst>
          </p:cNvPr>
          <p:cNvSpPr/>
          <p:nvPr/>
        </p:nvSpPr>
        <p:spPr>
          <a:xfrm>
            <a:off x="556430" y="5393514"/>
            <a:ext cx="640080" cy="480902"/>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47">
            <a:extLst>
              <a:ext uri="{FF2B5EF4-FFF2-40B4-BE49-F238E27FC236}">
                <a16:creationId xmlns:a16="http://schemas.microsoft.com/office/drawing/2014/main" id="{00FBCFC1-DC86-4DF0-A0F5-D033401BDB43}"/>
              </a:ext>
            </a:extLst>
          </p:cNvPr>
          <p:cNvSpPr/>
          <p:nvPr/>
        </p:nvSpPr>
        <p:spPr>
          <a:xfrm>
            <a:off x="583862" y="5407254"/>
            <a:ext cx="603503" cy="453421"/>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i="0" dirty="0">
                <a:solidFill>
                  <a:srgbClr val="FFFFFF"/>
                </a:solidFill>
                <a:latin typeface="맑은 고딕"/>
              </a:rPr>
              <a:t>C0</a:t>
            </a:r>
            <a:r>
              <a:rPr lang="en-US" sz="1100" b="1" i="0" dirty="0">
                <a:solidFill>
                  <a:srgbClr val="FFFFFF"/>
                </a:solidFill>
                <a:latin typeface="맑은 고딕"/>
              </a:rPr>
              <a:t>2</a:t>
            </a:r>
            <a:endParaRPr sz="1100" b="1" i="0" dirty="0">
              <a:solidFill>
                <a:srgbClr val="FFFFFF"/>
              </a:solidFill>
              <a:latin typeface="맑은 고딕"/>
            </a:endParaRPr>
          </a:p>
        </p:txBody>
      </p:sp>
      <p:sp>
        <p:nvSpPr>
          <p:cNvPr id="53" name="TextBox 52">
            <a:extLst>
              <a:ext uri="{FF2B5EF4-FFF2-40B4-BE49-F238E27FC236}">
                <a16:creationId xmlns:a16="http://schemas.microsoft.com/office/drawing/2014/main" id="{22687D3C-A50F-431C-A9DE-F1E7205F8F17}"/>
              </a:ext>
            </a:extLst>
          </p:cNvPr>
          <p:cNvSpPr txBox="1"/>
          <p:nvPr/>
        </p:nvSpPr>
        <p:spPr>
          <a:xfrm>
            <a:off x="1315381" y="5534707"/>
            <a:ext cx="7540751" cy="198516"/>
          </a:xfrm>
          <a:prstGeom prst="rect">
            <a:avLst/>
          </a:prstGeom>
          <a:noFill/>
        </p:spPr>
        <p:txBody>
          <a:bodyPr wrap="square" lIns="36576" tIns="18288" rIns="36576" bIns="18288" anchor="ctr">
            <a:spAutoFit/>
          </a:bodyPr>
          <a:lstStyle/>
          <a:p>
            <a:r>
              <a:rPr lang="en-US" altLang="ko-KR" sz="1050" b="1" dirty="0" smtClean="0"/>
              <a:t>LLM </a:t>
            </a:r>
            <a:r>
              <a:rPr lang="ko-KR" altLang="en-US" sz="1050" b="1" dirty="0"/>
              <a:t>모델은 최대 </a:t>
            </a:r>
            <a:r>
              <a:rPr lang="en-US" altLang="ko-KR" sz="1050" b="1" dirty="0"/>
              <a:t>1M </a:t>
            </a:r>
            <a:r>
              <a:rPr lang="ko-KR" altLang="en-US" sz="1050" b="1" dirty="0"/>
              <a:t>토큰의 </a:t>
            </a:r>
            <a:r>
              <a:rPr lang="en-US" altLang="ko-KR" sz="1050" b="1" dirty="0"/>
              <a:t>Context </a:t>
            </a:r>
            <a:r>
              <a:rPr lang="ko-KR" altLang="en-US" sz="1050" b="1" dirty="0"/>
              <a:t>길이를 지원할 수 있어야 </a:t>
            </a:r>
            <a:r>
              <a:rPr lang="ko-KR" altLang="en-US" sz="1050" b="1" dirty="0" smtClean="0"/>
              <a:t>한다</a:t>
            </a:r>
            <a:endParaRPr lang="en-US" altLang="ko-KR" sz="1050" b="1" dirty="0"/>
          </a:p>
        </p:txBody>
      </p:sp>
      <p:sp>
        <p:nvSpPr>
          <p:cNvPr id="54" name="TextBox 53">
            <a:extLst>
              <a:ext uri="{FF2B5EF4-FFF2-40B4-BE49-F238E27FC236}">
                <a16:creationId xmlns:a16="http://schemas.microsoft.com/office/drawing/2014/main" id="{82831A06-B334-4FFE-82CD-1259EF6E0A64}"/>
              </a:ext>
            </a:extLst>
          </p:cNvPr>
          <p:cNvSpPr txBox="1"/>
          <p:nvPr/>
        </p:nvSpPr>
        <p:spPr>
          <a:xfrm>
            <a:off x="7272866" y="5513507"/>
            <a:ext cx="4580466" cy="261610"/>
          </a:xfrm>
          <a:prstGeom prst="rect">
            <a:avLst/>
          </a:prstGeom>
          <a:noFill/>
        </p:spPr>
        <p:txBody>
          <a:bodyPr wrap="square" rtlCol="0">
            <a:spAutoFit/>
          </a:bodyPr>
          <a:lstStyle/>
          <a:p>
            <a:pPr algn="r"/>
            <a:r>
              <a:rPr lang="en-US" altLang="ko-KR" sz="1100" dirty="0"/>
              <a:t>*</a:t>
            </a:r>
            <a:r>
              <a:rPr lang="ko-KR" altLang="en-US" sz="1100" dirty="0"/>
              <a:t> </a:t>
            </a:r>
            <a:r>
              <a:rPr lang="en-US" altLang="ko-KR" sz="1100" dirty="0" smtClean="0"/>
              <a:t>LLM </a:t>
            </a:r>
            <a:r>
              <a:rPr lang="ko-KR" altLang="en-US" sz="1100" dirty="0" smtClean="0"/>
              <a:t>모델의 </a:t>
            </a:r>
            <a:r>
              <a:rPr lang="en-US" altLang="ko-KR" sz="1100" dirty="0" smtClean="0"/>
              <a:t>Context </a:t>
            </a:r>
            <a:r>
              <a:rPr lang="ko-KR" altLang="en-US" sz="1100" dirty="0" smtClean="0"/>
              <a:t>길이</a:t>
            </a:r>
            <a:endParaRPr lang="ko-KR" altLang="en-US" sz="1100" dirty="0"/>
          </a:p>
        </p:txBody>
      </p:sp>
      <p:sp>
        <p:nvSpPr>
          <p:cNvPr id="40" name="실행 단추: 앞으로 또는 다음 7">
            <a:hlinkClick r:id="rId5" action="ppaction://hlinksldjump" highlightClick="1"/>
            <a:extLst>
              <a:ext uri="{FF2B5EF4-FFF2-40B4-BE49-F238E27FC236}">
                <a16:creationId xmlns:a16="http://schemas.microsoft.com/office/drawing/2014/main" id="{488D03AB-D1BE-4EE6-A246-CCD7889E2748}"/>
              </a:ext>
            </a:extLst>
          </p:cNvPr>
          <p:cNvSpPr/>
          <p:nvPr/>
        </p:nvSpPr>
        <p:spPr>
          <a:xfrm>
            <a:off x="8485862" y="993079"/>
            <a:ext cx="247357" cy="22556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TextBox 40">
            <a:extLst>
              <a:ext uri="{FF2B5EF4-FFF2-40B4-BE49-F238E27FC236}">
                <a16:creationId xmlns:a16="http://schemas.microsoft.com/office/drawing/2014/main" id="{056A5BE1-74B6-4722-92F2-5822FEFB116D}"/>
              </a:ext>
            </a:extLst>
          </p:cNvPr>
          <p:cNvSpPr txBox="1"/>
          <p:nvPr/>
        </p:nvSpPr>
        <p:spPr>
          <a:xfrm>
            <a:off x="7232918" y="1028401"/>
            <a:ext cx="1278043" cy="161583"/>
          </a:xfrm>
          <a:prstGeom prst="rect">
            <a:avLst/>
          </a:prstGeom>
          <a:noFill/>
        </p:spPr>
        <p:txBody>
          <a:bodyPr wrap="square" lIns="0" tIns="0" rIns="0" bIns="0" anchor="ctr">
            <a:spAutoFit/>
          </a:bodyPr>
          <a:lstStyle/>
          <a:p>
            <a:pPr algn="l"/>
            <a:r>
              <a:rPr lang="en-US" altLang="ko-KR" sz="1050" b="0" i="0" dirty="0">
                <a:solidFill>
                  <a:srgbClr val="404040"/>
                </a:solidFill>
                <a:latin typeface="맑은 고딕"/>
                <a:ea typeface="맑은 고딕"/>
              </a:rPr>
              <a:t>Use Case </a:t>
            </a:r>
            <a:r>
              <a:rPr lang="en-US" altLang="ko-KR" sz="1050" dirty="0">
                <a:solidFill>
                  <a:srgbClr val="404040"/>
                </a:solidFill>
                <a:latin typeface="맑은 고딕"/>
                <a:ea typeface="맑은 고딕"/>
              </a:rPr>
              <a:t>Diagram</a:t>
            </a:r>
            <a:endParaRPr sz="1050" b="0" i="0" dirty="0">
              <a:solidFill>
                <a:srgbClr val="404040"/>
              </a:solidFill>
              <a:latin typeface="맑은 고딕"/>
              <a:ea typeface="맑은 고딕"/>
            </a:endParaRPr>
          </a:p>
        </p:txBody>
      </p:sp>
    </p:spTree>
    <p:extLst>
      <p:ext uri="{BB962C8B-B14F-4D97-AF65-F5344CB8AC3E}">
        <p14:creationId xmlns:p14="http://schemas.microsoft.com/office/powerpoint/2010/main" val="16749739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sp>
        <p:nvSpPr>
          <p:cNvPr id="119" name="Rectangle 3"/>
          <p:cNvSpPr/>
          <p:nvPr/>
        </p:nvSpPr>
        <p:spPr>
          <a:xfrm>
            <a:off x="365760" y="694944"/>
            <a:ext cx="11521440" cy="18288"/>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8" name="Rectangle 78"/>
          <p:cNvSpPr/>
          <p:nvPr/>
        </p:nvSpPr>
        <p:spPr>
          <a:xfrm>
            <a:off x="361950" y="3124200"/>
            <a:ext cx="11515725"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9" name="TextBox 308"/>
          <p:cNvSpPr txBox="1"/>
          <p:nvPr/>
        </p:nvSpPr>
        <p:spPr>
          <a:xfrm>
            <a:off x="2825796" y="3171825"/>
            <a:ext cx="2686050" cy="133350"/>
          </a:xfrm>
          <a:prstGeom prst="rect">
            <a:avLst/>
          </a:prstGeom>
          <a:noFill/>
        </p:spPr>
        <p:txBody>
          <a:bodyPr wrap="square" lIns="0" tIns="0" rIns="0" bIns="0" anchor="ctr">
            <a:spAutoFit/>
          </a:bodyPr>
          <a:lstStyle/>
          <a:p>
            <a:pPr algn="l"/>
            <a:r>
              <a:rPr sz="850" b="1" i="0" dirty="0" err="1">
                <a:solidFill>
                  <a:srgbClr val="808080"/>
                </a:solidFill>
                <a:latin typeface="맑은 고딕"/>
                <a:ea typeface="맑은 고딕"/>
              </a:rPr>
              <a:t>계층별</a:t>
            </a:r>
            <a:r>
              <a:rPr sz="850" b="1" i="0" dirty="0">
                <a:solidFill>
                  <a:srgbClr val="808080"/>
                </a:solidFill>
                <a:latin typeface="맑은 고딕"/>
                <a:ea typeface="맑은 고딕"/>
              </a:rPr>
              <a:t>  </a:t>
            </a:r>
            <a:r>
              <a:rPr sz="850" b="1" i="0" dirty="0" err="1">
                <a:solidFill>
                  <a:srgbClr val="808080"/>
                </a:solidFill>
                <a:latin typeface="맑은 고딕"/>
                <a:ea typeface="맑은 고딕"/>
              </a:rPr>
              <a:t>용량</a:t>
            </a:r>
            <a:r>
              <a:rPr sz="850" b="1" i="0" dirty="0">
                <a:solidFill>
                  <a:srgbClr val="808080"/>
                </a:solidFill>
                <a:latin typeface="맑은 고딕"/>
                <a:ea typeface="맑은 고딕"/>
              </a:rPr>
              <a:t>  ·  </a:t>
            </a:r>
            <a:r>
              <a:rPr sz="850" b="1" i="0" dirty="0" err="1">
                <a:solidFill>
                  <a:srgbClr val="808080"/>
                </a:solidFill>
                <a:latin typeface="맑은 고딕"/>
                <a:ea typeface="맑은 고딕"/>
              </a:rPr>
              <a:t>대역폭</a:t>
            </a:r>
            <a:r>
              <a:rPr sz="850" b="1" i="0" dirty="0">
                <a:solidFill>
                  <a:srgbClr val="808080"/>
                </a:solidFill>
                <a:latin typeface="맑은 고딕"/>
                <a:ea typeface="맑은 고딕"/>
              </a:rPr>
              <a:t>  (1노드 </a:t>
            </a:r>
            <a:r>
              <a:rPr sz="850" b="1" i="0" dirty="0" err="1">
                <a:solidFill>
                  <a:srgbClr val="808080"/>
                </a:solidFill>
                <a:latin typeface="맑은 고딕"/>
                <a:ea typeface="맑은 고딕"/>
              </a:rPr>
              <a:t>기준</a:t>
            </a:r>
            <a:r>
              <a:rPr sz="850" b="1" i="0" dirty="0">
                <a:solidFill>
                  <a:srgbClr val="808080"/>
                </a:solidFill>
                <a:latin typeface="맑은 고딕"/>
                <a:ea typeface="맑은 고딕"/>
              </a:rPr>
              <a:t>)</a:t>
            </a:r>
          </a:p>
        </p:txBody>
      </p:sp>
      <p:sp>
        <p:nvSpPr>
          <p:cNvPr id="310" name="TextBox 309"/>
          <p:cNvSpPr txBox="1"/>
          <p:nvPr/>
        </p:nvSpPr>
        <p:spPr>
          <a:xfrm>
            <a:off x="361950" y="333375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318" name="TextBox 317"/>
          <p:cNvSpPr txBox="1"/>
          <p:nvPr/>
        </p:nvSpPr>
        <p:spPr>
          <a:xfrm>
            <a:off x="361950" y="3726180"/>
            <a:ext cx="1733550" cy="209550"/>
          </a:xfrm>
          <a:prstGeom prst="rect">
            <a:avLst/>
          </a:prstGeom>
          <a:noFill/>
        </p:spPr>
        <p:txBody>
          <a:bodyPr wrap="square" lIns="0" tIns="0" rIns="0" bIns="0" anchor="ctr">
            <a:spAutoFit/>
          </a:bodyPr>
          <a:lstStyle/>
          <a:p>
            <a:pPr algn="l"/>
            <a:r>
              <a:rPr sz="900" b="0" i="0" dirty="0">
                <a:solidFill>
                  <a:srgbClr val="808080"/>
                </a:solidFill>
                <a:latin typeface="맑은 고딕"/>
                <a:ea typeface="맑은 고딕"/>
              </a:rPr>
              <a:t>CXL-PNM (DDR)</a:t>
            </a:r>
          </a:p>
        </p:txBody>
      </p:sp>
      <p:sp>
        <p:nvSpPr>
          <p:cNvPr id="322" name="TextBox 321"/>
          <p:cNvSpPr txBox="1"/>
          <p:nvPr/>
        </p:nvSpPr>
        <p:spPr>
          <a:xfrm>
            <a:off x="361950" y="3935730"/>
            <a:ext cx="1733550" cy="209550"/>
          </a:xfrm>
          <a:prstGeom prst="rect">
            <a:avLst/>
          </a:prstGeom>
          <a:noFill/>
        </p:spPr>
        <p:txBody>
          <a:bodyPr wrap="square" lIns="0" tIns="0" rIns="0" bIns="0" anchor="ctr">
            <a:spAutoFit/>
          </a:bodyPr>
          <a:lstStyle/>
          <a:p>
            <a:pPr algn="l"/>
            <a:r>
              <a:rPr sz="900" b="0" i="0" dirty="0">
                <a:solidFill>
                  <a:srgbClr val="808080"/>
                </a:solidFill>
                <a:latin typeface="맑은 고딕"/>
                <a:ea typeface="맑은 고딕"/>
              </a:rPr>
              <a:t>CPU DDR</a:t>
            </a:r>
          </a:p>
        </p:txBody>
      </p:sp>
      <p:sp>
        <p:nvSpPr>
          <p:cNvPr id="334" name="Rectangle 104"/>
          <p:cNvSpPr/>
          <p:nvPr/>
        </p:nvSpPr>
        <p:spPr>
          <a:xfrm>
            <a:off x="361950" y="4498712"/>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5" name="TextBox 334"/>
          <p:cNvSpPr txBox="1"/>
          <p:nvPr/>
        </p:nvSpPr>
        <p:spPr>
          <a:xfrm>
            <a:off x="438150" y="4498712"/>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가속기측</a:t>
            </a:r>
            <a:r>
              <a:rPr sz="950" b="1" i="0" dirty="0">
                <a:solidFill>
                  <a:srgbClr val="262626"/>
                </a:solidFill>
                <a:latin typeface="맑은 고딕"/>
                <a:ea typeface="맑은 고딕"/>
              </a:rPr>
              <a:t> </a:t>
            </a:r>
            <a:r>
              <a:rPr sz="950" b="1" i="0" dirty="0" err="1">
                <a:solidFill>
                  <a:srgbClr val="262626"/>
                </a:solidFill>
                <a:latin typeface="맑은 고딕"/>
                <a:ea typeface="맑은 고딕"/>
              </a:rPr>
              <a:t>고대역</a:t>
            </a:r>
            <a:r>
              <a:rPr sz="950" b="1" i="0" dirty="0">
                <a:solidFill>
                  <a:srgbClr val="262626"/>
                </a:solidFill>
                <a:latin typeface="맑은 고딕"/>
                <a:ea typeface="맑은 고딕"/>
              </a:rPr>
              <a:t> </a:t>
            </a:r>
            <a:r>
              <a:rPr sz="950" b="1" i="0" dirty="0" err="1">
                <a:solidFill>
                  <a:srgbClr val="262626"/>
                </a:solidFill>
                <a:latin typeface="맑은 고딕"/>
                <a:ea typeface="맑은 고딕"/>
              </a:rPr>
              <a:t>용량</a:t>
            </a:r>
            <a:endParaRPr sz="950" b="1" i="0" dirty="0">
              <a:solidFill>
                <a:srgbClr val="262626"/>
              </a:solidFill>
              <a:latin typeface="맑은 고딕"/>
              <a:ea typeface="맑은 고딕"/>
            </a:endParaRPr>
          </a:p>
        </p:txBody>
      </p:sp>
      <p:sp>
        <p:nvSpPr>
          <p:cNvPr id="339" name="Rectangle 109"/>
          <p:cNvSpPr/>
          <p:nvPr/>
        </p:nvSpPr>
        <p:spPr>
          <a:xfrm>
            <a:off x="361950" y="4708262"/>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0" name="TextBox 339"/>
          <p:cNvSpPr txBox="1"/>
          <p:nvPr/>
        </p:nvSpPr>
        <p:spPr>
          <a:xfrm>
            <a:off x="438150" y="4708262"/>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가속기측</a:t>
            </a:r>
            <a:r>
              <a:rPr sz="950" b="1" i="0" dirty="0">
                <a:solidFill>
                  <a:srgbClr val="262626"/>
                </a:solidFill>
                <a:latin typeface="맑은 고딕"/>
                <a:ea typeface="맑은 고딕"/>
              </a:rPr>
              <a:t> </a:t>
            </a:r>
            <a:r>
              <a:rPr sz="950" b="1" i="0" dirty="0" err="1">
                <a:solidFill>
                  <a:srgbClr val="262626"/>
                </a:solidFill>
                <a:latin typeface="맑은 고딕"/>
                <a:ea typeface="맑은 고딕"/>
              </a:rPr>
              <a:t>고대역</a:t>
            </a:r>
            <a:r>
              <a:rPr sz="950" b="1" i="0" dirty="0">
                <a:solidFill>
                  <a:srgbClr val="262626"/>
                </a:solidFill>
                <a:latin typeface="맑은 고딕"/>
                <a:ea typeface="맑은 고딕"/>
              </a:rPr>
              <a:t> </a:t>
            </a:r>
            <a:r>
              <a:rPr sz="950" b="1" i="0" dirty="0" err="1">
                <a:solidFill>
                  <a:srgbClr val="262626"/>
                </a:solidFill>
                <a:latin typeface="맑은 고딕"/>
                <a:ea typeface="맑은 고딕"/>
              </a:rPr>
              <a:t>대역폭</a:t>
            </a:r>
            <a:endParaRPr sz="950" b="1" i="0" dirty="0">
              <a:solidFill>
                <a:srgbClr val="262626"/>
              </a:solidFill>
              <a:latin typeface="맑은 고딕"/>
              <a:ea typeface="맑은 고딕"/>
            </a:endParaRPr>
          </a:p>
        </p:txBody>
      </p:sp>
      <p:sp>
        <p:nvSpPr>
          <p:cNvPr id="344" name="Rectangle 114"/>
          <p:cNvSpPr/>
          <p:nvPr/>
        </p:nvSpPr>
        <p:spPr>
          <a:xfrm>
            <a:off x="361950" y="4917812"/>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5" name="TextBox 344"/>
          <p:cNvSpPr txBox="1"/>
          <p:nvPr/>
        </p:nvSpPr>
        <p:spPr>
          <a:xfrm>
            <a:off x="438150" y="4917812"/>
            <a:ext cx="1657350" cy="209550"/>
          </a:xfrm>
          <a:prstGeom prst="rect">
            <a:avLst/>
          </a:prstGeom>
          <a:noFill/>
        </p:spPr>
        <p:txBody>
          <a:bodyPr wrap="square" lIns="0" tIns="0" rIns="0" bIns="0" anchor="ctr">
            <a:spAutoFit/>
          </a:bodyPr>
          <a:lstStyle/>
          <a:p>
            <a:pPr algn="l"/>
            <a:r>
              <a:rPr sz="950" b="1" i="0" dirty="0">
                <a:solidFill>
                  <a:srgbClr val="262626"/>
                </a:solidFill>
                <a:latin typeface="맑은 고딕"/>
                <a:ea typeface="맑은 고딕"/>
              </a:rPr>
              <a:t>총 </a:t>
            </a:r>
            <a:r>
              <a:rPr sz="950" b="1" i="0" dirty="0" err="1">
                <a:solidFill>
                  <a:srgbClr val="262626"/>
                </a:solidFill>
                <a:latin typeface="맑은 고딕"/>
                <a:ea typeface="맑은 고딕"/>
              </a:rPr>
              <a:t>메모리</a:t>
            </a:r>
            <a:r>
              <a:rPr sz="950" b="1" i="0" dirty="0">
                <a:solidFill>
                  <a:srgbClr val="262626"/>
                </a:solidFill>
                <a:latin typeface="맑은 고딕"/>
                <a:ea typeface="맑은 고딕"/>
              </a:rPr>
              <a:t> </a:t>
            </a:r>
            <a:r>
              <a:rPr sz="950" b="1" i="0" dirty="0" err="1">
                <a:solidFill>
                  <a:srgbClr val="262626"/>
                </a:solidFill>
                <a:latin typeface="맑은 고딕"/>
                <a:ea typeface="맑은 고딕"/>
              </a:rPr>
              <a:t>용량</a:t>
            </a:r>
            <a:endParaRPr sz="950" b="1" i="0" dirty="0">
              <a:solidFill>
                <a:srgbClr val="262626"/>
              </a:solidFill>
              <a:latin typeface="맑은 고딕"/>
              <a:ea typeface="맑은 고딕"/>
            </a:endParaRPr>
          </a:p>
        </p:txBody>
      </p:sp>
      <p:sp>
        <p:nvSpPr>
          <p:cNvPr id="349" name="Rectangle 119"/>
          <p:cNvSpPr/>
          <p:nvPr/>
        </p:nvSpPr>
        <p:spPr>
          <a:xfrm>
            <a:off x="361950" y="5863768"/>
            <a:ext cx="11515725" cy="20955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0" name="TextBox 349"/>
          <p:cNvSpPr txBox="1"/>
          <p:nvPr/>
        </p:nvSpPr>
        <p:spPr>
          <a:xfrm>
            <a:off x="438150" y="5863768"/>
            <a:ext cx="1657350" cy="209550"/>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총 비용 (4노드)</a:t>
            </a:r>
          </a:p>
        </p:txBody>
      </p:sp>
      <p:sp>
        <p:nvSpPr>
          <p:cNvPr id="355" name="TextBox 354"/>
          <p:cNvSpPr txBox="1"/>
          <p:nvPr/>
        </p:nvSpPr>
        <p:spPr>
          <a:xfrm>
            <a:off x="365760" y="6414739"/>
            <a:ext cx="11521440" cy="420624"/>
          </a:xfrm>
          <a:prstGeom prst="rect">
            <a:avLst/>
          </a:prstGeom>
          <a:noFill/>
        </p:spPr>
        <p:txBody>
          <a:bodyPr wrap="square" lIns="0" tIns="0" rIns="0" bIns="0" anchor="t">
            <a:spAutoFit/>
          </a:bodyPr>
          <a:lstStyle/>
          <a:p>
            <a:pPr algn="l">
              <a:lnSpc>
                <a:spcPct val="130000"/>
              </a:lnSpc>
            </a:pPr>
            <a:r>
              <a:rPr sz="800" b="0" i="0" dirty="0">
                <a:solidFill>
                  <a:srgbClr val="808080"/>
                </a:solidFill>
                <a:latin typeface="맑은 고딕"/>
                <a:ea typeface="맑은 고딕"/>
              </a:rPr>
              <a:t>※ GPU = H100 SXM5 (132 SM · HBM3 80GB · 3.35 TB/s) · CPU DDR 175 GB/s × 2소켓 · CXL-PNM(</a:t>
            </a:r>
            <a:r>
              <a:rPr sz="800" b="0" i="0" dirty="0" err="1">
                <a:solidFill>
                  <a:srgbClr val="808080"/>
                </a:solidFill>
                <a:latin typeface="맑은 고딕"/>
                <a:ea typeface="맑은 고딕"/>
              </a:rPr>
              <a:t>Structera</a:t>
            </a:r>
            <a:r>
              <a:rPr sz="800" b="0" i="0" dirty="0">
                <a:solidFill>
                  <a:srgbClr val="808080"/>
                </a:solidFill>
                <a:latin typeface="맑은 고딕"/>
                <a:ea typeface="맑은 고딕"/>
              </a:rPr>
              <a:t> A) 200 GB/s × 4카드. </a:t>
            </a:r>
            <a:r>
              <a:rPr sz="800" b="0" i="0" dirty="0" err="1">
                <a:solidFill>
                  <a:srgbClr val="808080"/>
                </a:solidFill>
                <a:latin typeface="맑은 고딕"/>
                <a:ea typeface="맑은 고딕"/>
              </a:rPr>
              <a:t>용량</a:t>
            </a:r>
            <a:r>
              <a:rPr sz="800" b="0" i="0" dirty="0">
                <a:solidFill>
                  <a:srgbClr val="808080"/>
                </a:solidFill>
                <a:latin typeface="맑은 고딕"/>
                <a:ea typeface="맑은 고딕"/>
              </a:rPr>
              <a:t> · </a:t>
            </a:r>
            <a:r>
              <a:rPr sz="800" b="0" i="0" dirty="0" err="1">
                <a:solidFill>
                  <a:srgbClr val="808080"/>
                </a:solidFill>
                <a:latin typeface="맑은 고딕"/>
                <a:ea typeface="맑은 고딕"/>
              </a:rPr>
              <a:t>대역폭은</a:t>
            </a:r>
            <a:r>
              <a:rPr sz="800" b="0" i="0" dirty="0">
                <a:solidFill>
                  <a:srgbClr val="808080"/>
                </a:solidFill>
                <a:latin typeface="맑은 고딕"/>
                <a:ea typeface="맑은 고딕"/>
              </a:rPr>
              <a:t> 1노드 </a:t>
            </a:r>
            <a:r>
              <a:rPr sz="800" b="0" i="0" dirty="0" err="1">
                <a:solidFill>
                  <a:srgbClr val="808080"/>
                </a:solidFill>
                <a:latin typeface="맑은 고딕"/>
                <a:ea typeface="맑은 고딕"/>
              </a:rPr>
              <a:t>기준</a:t>
            </a:r>
            <a:r>
              <a:rPr sz="800" b="0" i="0" dirty="0">
                <a:solidFill>
                  <a:srgbClr val="808080"/>
                </a:solidFill>
                <a:latin typeface="맑은 고딕"/>
                <a:ea typeface="맑은 고딕"/>
              </a:rPr>
              <a:t>.</a:t>
            </a:r>
          </a:p>
          <a:p>
            <a:pPr algn="l">
              <a:lnSpc>
                <a:spcPct val="130000"/>
              </a:lnSpc>
            </a:pPr>
            <a:r>
              <a:rPr sz="800" b="0" i="0" dirty="0">
                <a:solidFill>
                  <a:srgbClr val="808080"/>
                </a:solidFill>
                <a:latin typeface="맑은 고딕"/>
                <a:ea typeface="맑은 고딕"/>
              </a:rPr>
              <a:t>※ </a:t>
            </a:r>
            <a:r>
              <a:rPr sz="800" b="0" i="0" dirty="0" err="1">
                <a:solidFill>
                  <a:srgbClr val="808080"/>
                </a:solidFill>
                <a:latin typeface="맑은 고딕"/>
                <a:ea typeface="맑은 고딕"/>
              </a:rPr>
              <a:t>신품</a:t>
            </a:r>
            <a:r>
              <a:rPr sz="800" b="0" i="0" dirty="0">
                <a:solidFill>
                  <a:srgbClr val="808080"/>
                </a:solidFill>
                <a:latin typeface="맑은 고딕"/>
                <a:ea typeface="맑은 고딕"/>
              </a:rPr>
              <a:t> </a:t>
            </a:r>
            <a:r>
              <a:rPr sz="800" b="0" i="0" dirty="0" err="1">
                <a:solidFill>
                  <a:srgbClr val="808080"/>
                </a:solidFill>
                <a:latin typeface="맑은 고딕"/>
                <a:ea typeface="맑은 고딕"/>
              </a:rPr>
              <a:t>단가</a:t>
            </a:r>
            <a:r>
              <a:rPr sz="800" b="0" i="0" dirty="0">
                <a:solidFill>
                  <a:srgbClr val="808080"/>
                </a:solidFill>
                <a:latin typeface="맑은 고딕"/>
                <a:ea typeface="맑은 고딕"/>
              </a:rPr>
              <a:t>(2026.10) H100 SXM5 80GB $30K(</a:t>
            </a:r>
            <a:r>
              <a:rPr sz="800" b="0" i="0" dirty="0" err="1">
                <a:solidFill>
                  <a:srgbClr val="808080"/>
                </a:solidFill>
                <a:latin typeface="맑은 고딕"/>
                <a:ea typeface="맑은 고딕"/>
              </a:rPr>
              <a:t>범위</a:t>
            </a:r>
            <a:r>
              <a:rPr sz="800" b="0" i="0" dirty="0">
                <a:solidFill>
                  <a:srgbClr val="808080"/>
                </a:solidFill>
                <a:latin typeface="맑은 고딕"/>
                <a:ea typeface="맑은 고딕"/>
              </a:rPr>
              <a:t> $25~35K, HBM </a:t>
            </a:r>
            <a:r>
              <a:rPr sz="800" b="0" i="0" dirty="0" err="1">
                <a:solidFill>
                  <a:srgbClr val="808080"/>
                </a:solidFill>
                <a:latin typeface="맑은 고딕"/>
                <a:ea typeface="맑은 고딕"/>
              </a:rPr>
              <a:t>포함</a:t>
            </a:r>
            <a:r>
              <a:rPr sz="800" b="0" i="0" dirty="0">
                <a:solidFill>
                  <a:srgbClr val="808080"/>
                </a:solidFill>
                <a:latin typeface="맑은 고딕"/>
                <a:ea typeface="맑은 고딕"/>
              </a:rPr>
              <a:t>) · DDR5 RDIMM $35/GB · </a:t>
            </a:r>
            <a:r>
              <a:rPr sz="800" b="0" i="0" dirty="0" err="1">
                <a:solidFill>
                  <a:srgbClr val="808080"/>
                </a:solidFill>
                <a:latin typeface="맑은 고딕"/>
                <a:ea typeface="맑은 고딕"/>
              </a:rPr>
              <a:t>엔터프라이즈</a:t>
            </a:r>
            <a:r>
              <a:rPr sz="800" b="0" i="0" dirty="0">
                <a:solidFill>
                  <a:srgbClr val="808080"/>
                </a:solidFill>
                <a:latin typeface="맑은 고딕"/>
                <a:ea typeface="맑은 고딕"/>
              </a:rPr>
              <a:t> </a:t>
            </a:r>
            <a:r>
              <a:rPr sz="800" b="0" i="0" dirty="0" err="1">
                <a:solidFill>
                  <a:srgbClr val="808080"/>
                </a:solidFill>
                <a:latin typeface="맑은 고딕"/>
                <a:ea typeface="맑은 고딕"/>
              </a:rPr>
              <a:t>NVMe·PIM-SSD</a:t>
            </a:r>
            <a:r>
              <a:rPr sz="800" b="0" i="0" dirty="0">
                <a:solidFill>
                  <a:srgbClr val="808080"/>
                </a:solidFill>
                <a:latin typeface="맑은 고딕"/>
                <a:ea typeface="맑은 고딕"/>
              </a:rPr>
              <a:t> $0.45/GB · PNM </a:t>
            </a:r>
            <a:r>
              <a:rPr sz="800" b="0" i="0" dirty="0" err="1">
                <a:solidFill>
                  <a:srgbClr val="808080"/>
                </a:solidFill>
                <a:latin typeface="맑은 고딕"/>
                <a:ea typeface="맑은 고딕"/>
              </a:rPr>
              <a:t>카드</a:t>
            </a:r>
            <a:r>
              <a:rPr sz="800" b="0" i="0" dirty="0">
                <a:solidFill>
                  <a:srgbClr val="808080"/>
                </a:solidFill>
                <a:latin typeface="맑은 고딕"/>
                <a:ea typeface="맑은 고딕"/>
              </a:rPr>
              <a:t> $1.5K(</a:t>
            </a:r>
            <a:r>
              <a:rPr sz="800" b="0" i="0" dirty="0" err="1">
                <a:solidFill>
                  <a:srgbClr val="808080"/>
                </a:solidFill>
                <a:latin typeface="맑은 고딕"/>
                <a:ea typeface="맑은 고딕"/>
              </a:rPr>
              <a:t>가정</a:t>
            </a:r>
            <a:r>
              <a:rPr sz="800" b="0" i="0" dirty="0">
                <a:solidFill>
                  <a:srgbClr val="808080"/>
                </a:solidFill>
                <a:latin typeface="맑은 고딕"/>
                <a:ea typeface="맑은 고딕"/>
              </a:rPr>
              <a:t>). 4노드 </a:t>
            </a:r>
            <a:r>
              <a:rPr sz="800" b="0" i="0" dirty="0" err="1">
                <a:solidFill>
                  <a:srgbClr val="808080"/>
                </a:solidFill>
                <a:latin typeface="맑은 고딕"/>
                <a:ea typeface="맑은 고딕"/>
              </a:rPr>
              <a:t>합계</a:t>
            </a:r>
            <a:r>
              <a:rPr sz="800" b="0" i="0" dirty="0">
                <a:solidFill>
                  <a:srgbClr val="808080"/>
                </a:solidFill>
                <a:latin typeface="맑은 고딕"/>
                <a:ea typeface="맑은 고딕"/>
              </a:rPr>
              <a:t>, </a:t>
            </a:r>
            <a:r>
              <a:rPr sz="800" b="0" i="0" dirty="0" err="1">
                <a:solidFill>
                  <a:srgbClr val="808080"/>
                </a:solidFill>
                <a:latin typeface="맑은 고딕"/>
                <a:ea typeface="맑은 고딕"/>
              </a:rPr>
              <a:t>CPU·보드·전원은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제외</a:t>
            </a:r>
            <a:r>
              <a:rPr sz="800" b="0" i="0" dirty="0">
                <a:solidFill>
                  <a:srgbClr val="808080"/>
                </a:solidFill>
                <a:latin typeface="맑은 고딕"/>
                <a:ea typeface="맑은 고딕"/>
              </a:rPr>
              <a:t>.</a:t>
            </a:r>
          </a:p>
        </p:txBody>
      </p:sp>
      <p:sp>
        <p:nvSpPr>
          <p:cNvPr id="356" name="Rectangle N1"/>
          <p:cNvSpPr/>
          <p:nvPr/>
        </p:nvSpPr>
        <p:spPr>
          <a:xfrm>
            <a:off x="361950" y="5444668"/>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7" name="TextBox NL1"/>
          <p:cNvSpPr txBox="1"/>
          <p:nvPr/>
        </p:nvSpPr>
        <p:spPr>
          <a:xfrm>
            <a:off x="438150" y="5444668"/>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메모리·SSD</a:t>
            </a:r>
            <a:r>
              <a:rPr sz="950" b="1" i="0" dirty="0">
                <a:solidFill>
                  <a:srgbClr val="262626"/>
                </a:solidFill>
                <a:latin typeface="맑은 고딕"/>
                <a:ea typeface="맑은 고딕"/>
              </a:rPr>
              <a:t> </a:t>
            </a:r>
            <a:r>
              <a:rPr sz="950" b="1" i="0" dirty="0" err="1">
                <a:solidFill>
                  <a:srgbClr val="262626"/>
                </a:solidFill>
                <a:latin typeface="맑은 고딕"/>
                <a:ea typeface="맑은 고딕"/>
              </a:rPr>
              <a:t>비용</a:t>
            </a:r>
            <a:r>
              <a:rPr sz="950" b="1" i="0" dirty="0">
                <a:solidFill>
                  <a:srgbClr val="262626"/>
                </a:solidFill>
                <a:latin typeface="맑은 고딕"/>
                <a:ea typeface="맑은 고딕"/>
              </a:rPr>
              <a:t> (4노드)</a:t>
            </a:r>
          </a:p>
        </p:txBody>
      </p:sp>
      <p:sp>
        <p:nvSpPr>
          <p:cNvPr id="361" name="Rectangle N2"/>
          <p:cNvSpPr/>
          <p:nvPr/>
        </p:nvSpPr>
        <p:spPr>
          <a:xfrm>
            <a:off x="361950" y="5654218"/>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2" name="TextBox NL2"/>
          <p:cNvSpPr txBox="1"/>
          <p:nvPr/>
        </p:nvSpPr>
        <p:spPr>
          <a:xfrm>
            <a:off x="438150" y="5654218"/>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카드 비용 (4노드)</a:t>
            </a:r>
          </a:p>
        </p:txBody>
      </p:sp>
      <p:sp>
        <p:nvSpPr>
          <p:cNvPr id="121" name="Rectangle 5"/>
          <p:cNvSpPr/>
          <p:nvPr/>
        </p:nvSpPr>
        <p:spPr>
          <a:xfrm>
            <a:off x="2027096" y="804672"/>
            <a:ext cx="3169444"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Baseline  —  H100 × 8</a:t>
            </a:r>
          </a:p>
        </p:txBody>
      </p:sp>
      <p:sp>
        <p:nvSpPr>
          <p:cNvPr id="242" name="Rectangle 12"/>
          <p:cNvSpPr/>
          <p:nvPr/>
        </p:nvSpPr>
        <p:spPr>
          <a:xfrm>
            <a:off x="2027096" y="1133475"/>
            <a:ext cx="3169444"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3" name="Rectangle 13"/>
          <p:cNvSpPr/>
          <p:nvPr/>
        </p:nvSpPr>
        <p:spPr>
          <a:xfrm>
            <a:off x="2128518"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44" name="Rectangle 14"/>
          <p:cNvSpPr/>
          <p:nvPr/>
        </p:nvSpPr>
        <p:spPr>
          <a:xfrm>
            <a:off x="2128518"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5" name="Rectangle 15"/>
          <p:cNvSpPr/>
          <p:nvPr/>
        </p:nvSpPr>
        <p:spPr>
          <a:xfrm>
            <a:off x="2870167"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46" name="Rectangle 16"/>
          <p:cNvSpPr/>
          <p:nvPr/>
        </p:nvSpPr>
        <p:spPr>
          <a:xfrm>
            <a:off x="2870167"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7" name="Rectangle 17"/>
          <p:cNvSpPr/>
          <p:nvPr/>
        </p:nvSpPr>
        <p:spPr>
          <a:xfrm>
            <a:off x="3611818"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48" name="Rectangle 18"/>
          <p:cNvSpPr/>
          <p:nvPr/>
        </p:nvSpPr>
        <p:spPr>
          <a:xfrm>
            <a:off x="3611818"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9" name="Rectangle 19"/>
          <p:cNvSpPr/>
          <p:nvPr/>
        </p:nvSpPr>
        <p:spPr>
          <a:xfrm>
            <a:off x="4353469"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50" name="Rectangle 20"/>
          <p:cNvSpPr/>
          <p:nvPr/>
        </p:nvSpPr>
        <p:spPr>
          <a:xfrm>
            <a:off x="4353469"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1" name="Rectangle 21"/>
          <p:cNvSpPr/>
          <p:nvPr/>
        </p:nvSpPr>
        <p:spPr>
          <a:xfrm>
            <a:off x="2128518"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dirty="0">
                <a:solidFill>
                  <a:srgbClr val="262626"/>
                </a:solidFill>
                <a:latin typeface="맑은 고딕"/>
                <a:ea typeface="맑은 고딕"/>
              </a:rPr>
              <a:t>CPU0</a:t>
            </a:r>
          </a:p>
          <a:p>
            <a:pPr algn="ctr">
              <a:lnSpc>
                <a:spcPct val="115000"/>
              </a:lnSpc>
            </a:pPr>
            <a:r>
              <a:rPr sz="750" b="0" i="0" dirty="0" smtClean="0">
                <a:solidFill>
                  <a:srgbClr val="262626"/>
                </a:solidFill>
                <a:latin typeface="맑은 고딕"/>
                <a:ea typeface="맑은 고딕"/>
              </a:rPr>
              <a:t>56</a:t>
            </a:r>
            <a:r>
              <a:rPr lang="en-US" sz="750" b="0" i="0" dirty="0" smtClean="0">
                <a:solidFill>
                  <a:srgbClr val="262626"/>
                </a:solidFill>
                <a:latin typeface="맑은 고딕"/>
                <a:ea typeface="맑은 고딕"/>
              </a:rPr>
              <a:t> </a:t>
            </a:r>
            <a:r>
              <a:rPr lang="en-US" altLang="ko-KR" sz="750" dirty="0">
                <a:solidFill>
                  <a:srgbClr val="262626"/>
                </a:solidFill>
                <a:ea typeface="맑은 고딕"/>
              </a:rPr>
              <a:t>cores</a:t>
            </a:r>
            <a:r>
              <a:rPr sz="750" b="0" i="0" dirty="0" smtClean="0">
                <a:solidFill>
                  <a:srgbClr val="262626"/>
                </a:solidFill>
                <a:latin typeface="맑은 고딕"/>
                <a:ea typeface="맑은 고딕"/>
              </a:rPr>
              <a:t> </a:t>
            </a:r>
            <a:r>
              <a:rPr sz="750" b="0" i="0" dirty="0">
                <a:solidFill>
                  <a:srgbClr val="262626"/>
                </a:solidFill>
                <a:latin typeface="맑은 고딕"/>
                <a:ea typeface="맑은 고딕"/>
              </a:rPr>
              <a:t>· DDR 512GB</a:t>
            </a:r>
          </a:p>
        </p:txBody>
      </p:sp>
      <p:sp>
        <p:nvSpPr>
          <p:cNvPr id="252" name="Rectangle 22"/>
          <p:cNvSpPr/>
          <p:nvPr/>
        </p:nvSpPr>
        <p:spPr>
          <a:xfrm>
            <a:off x="3611818"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53" name="Rectangle 23"/>
          <p:cNvSpPr/>
          <p:nvPr/>
        </p:nvSpPr>
        <p:spPr>
          <a:xfrm>
            <a:off x="2128518"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254" name="Rectangle 24"/>
          <p:cNvSpPr/>
          <p:nvPr/>
        </p:nvSpPr>
        <p:spPr>
          <a:xfrm>
            <a:off x="2128518"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5" name="Rectangle 25"/>
          <p:cNvSpPr/>
          <p:nvPr/>
        </p:nvSpPr>
        <p:spPr>
          <a:xfrm>
            <a:off x="2870167"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256" name="Rectangle 26"/>
          <p:cNvSpPr/>
          <p:nvPr/>
        </p:nvSpPr>
        <p:spPr>
          <a:xfrm>
            <a:off x="2870167"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7" name="Rectangle 27"/>
          <p:cNvSpPr/>
          <p:nvPr/>
        </p:nvSpPr>
        <p:spPr>
          <a:xfrm>
            <a:off x="3611818"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GPU6</a:t>
            </a:r>
          </a:p>
        </p:txBody>
      </p:sp>
      <p:sp>
        <p:nvSpPr>
          <p:cNvPr id="258" name="Rectangle 28"/>
          <p:cNvSpPr/>
          <p:nvPr/>
        </p:nvSpPr>
        <p:spPr>
          <a:xfrm>
            <a:off x="3611818"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9" name="Rectangle 29"/>
          <p:cNvSpPr/>
          <p:nvPr/>
        </p:nvSpPr>
        <p:spPr>
          <a:xfrm>
            <a:off x="4353469"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GPU7</a:t>
            </a:r>
          </a:p>
        </p:txBody>
      </p:sp>
      <p:sp>
        <p:nvSpPr>
          <p:cNvPr id="260" name="Rectangle 30"/>
          <p:cNvSpPr/>
          <p:nvPr/>
        </p:nvSpPr>
        <p:spPr>
          <a:xfrm>
            <a:off x="4353469"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1" name="Rectangle 31"/>
          <p:cNvSpPr/>
          <p:nvPr/>
        </p:nvSpPr>
        <p:spPr>
          <a:xfrm>
            <a:off x="2128518" y="2762250"/>
            <a:ext cx="2922227"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311" name="TextBox 310"/>
          <p:cNvSpPr txBox="1"/>
          <p:nvPr/>
        </p:nvSpPr>
        <p:spPr>
          <a:xfrm>
            <a:off x="2027096" y="3333750"/>
            <a:ext cx="3169444" cy="209550"/>
          </a:xfrm>
          <a:prstGeom prst="rect">
            <a:avLst/>
          </a:prstGeom>
          <a:noFill/>
        </p:spPr>
        <p:txBody>
          <a:bodyPr wrap="square" lIns="0" tIns="0" rIns="0" bIns="0" anchor="ctr">
            <a:spAutoFit/>
          </a:bodyPr>
          <a:lstStyle/>
          <a:p>
            <a:pPr algn="ctr"/>
            <a:r>
              <a:rPr sz="900" b="0" i="0" dirty="0">
                <a:solidFill>
                  <a:srgbClr val="404040"/>
                </a:solidFill>
                <a:latin typeface="맑은 고딕"/>
                <a:ea typeface="맑은 고딕"/>
              </a:rPr>
              <a:t>640 GB  ·  26.8 TB/s</a:t>
            </a:r>
          </a:p>
        </p:txBody>
      </p:sp>
      <p:sp>
        <p:nvSpPr>
          <p:cNvPr id="319" name="TextBox 318"/>
          <p:cNvSpPr txBox="1"/>
          <p:nvPr/>
        </p:nvSpPr>
        <p:spPr>
          <a:xfrm>
            <a:off x="2027096" y="3726180"/>
            <a:ext cx="3169444"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23" name="TextBox 322"/>
          <p:cNvSpPr txBox="1"/>
          <p:nvPr/>
        </p:nvSpPr>
        <p:spPr>
          <a:xfrm>
            <a:off x="2027096" y="3935730"/>
            <a:ext cx="3169444"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36" name="TextBox 335"/>
          <p:cNvSpPr txBox="1"/>
          <p:nvPr/>
        </p:nvSpPr>
        <p:spPr>
          <a:xfrm>
            <a:off x="2027096" y="4498712"/>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640 GB  (1.00×)</a:t>
            </a:r>
          </a:p>
        </p:txBody>
      </p:sp>
      <p:sp>
        <p:nvSpPr>
          <p:cNvPr id="341" name="TextBox 340"/>
          <p:cNvSpPr txBox="1"/>
          <p:nvPr/>
        </p:nvSpPr>
        <p:spPr>
          <a:xfrm>
            <a:off x="2027096" y="4708262"/>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26.8 TB/s  (1.00×)</a:t>
            </a:r>
          </a:p>
        </p:txBody>
      </p:sp>
      <p:sp>
        <p:nvSpPr>
          <p:cNvPr id="346" name="TextBox 345"/>
          <p:cNvSpPr txBox="1"/>
          <p:nvPr/>
        </p:nvSpPr>
        <p:spPr>
          <a:xfrm>
            <a:off x="2027096" y="4949490"/>
            <a:ext cx="3169444" cy="146194"/>
          </a:xfrm>
          <a:prstGeom prst="rect">
            <a:avLst/>
          </a:prstGeom>
          <a:noFill/>
        </p:spPr>
        <p:txBody>
          <a:bodyPr wrap="square" lIns="0" tIns="0" rIns="0" bIns="0" anchor="ctr">
            <a:spAutoFit/>
          </a:bodyPr>
          <a:lstStyle/>
          <a:p>
            <a:pPr algn="ctr"/>
            <a:r>
              <a:rPr lang="en-US" sz="950" b="1" i="0" dirty="0" smtClean="0">
                <a:solidFill>
                  <a:srgbClr val="262626"/>
                </a:solidFill>
                <a:latin typeface="맑은 고딕"/>
                <a:ea typeface="맑은 고딕"/>
              </a:rPr>
              <a:t>1,664</a:t>
            </a:r>
            <a:r>
              <a:rPr sz="950" b="1" i="0" dirty="0" smtClean="0">
                <a:solidFill>
                  <a:srgbClr val="262626"/>
                </a:solidFill>
                <a:latin typeface="맑은 고딕"/>
                <a:ea typeface="맑은 고딕"/>
              </a:rPr>
              <a:t> </a:t>
            </a:r>
            <a:r>
              <a:rPr sz="950" b="1" i="0" dirty="0">
                <a:solidFill>
                  <a:srgbClr val="262626"/>
                </a:solidFill>
                <a:latin typeface="맑은 고딕"/>
                <a:ea typeface="맑은 고딕"/>
              </a:rPr>
              <a:t>GB  (1.00×)</a:t>
            </a:r>
          </a:p>
        </p:txBody>
      </p:sp>
      <p:sp>
        <p:nvSpPr>
          <p:cNvPr id="351" name="TextBox 350"/>
          <p:cNvSpPr txBox="1"/>
          <p:nvPr/>
        </p:nvSpPr>
        <p:spPr>
          <a:xfrm>
            <a:off x="2027096" y="5863768"/>
            <a:ext cx="3169444"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$1,132K  (1.00×)</a:t>
            </a:r>
          </a:p>
        </p:txBody>
      </p:sp>
      <p:sp>
        <p:nvSpPr>
          <p:cNvPr id="358" name="TextBox NB1"/>
          <p:cNvSpPr txBox="1"/>
          <p:nvPr/>
        </p:nvSpPr>
        <p:spPr>
          <a:xfrm>
            <a:off x="2027096" y="5444668"/>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$172K  (1.00×)</a:t>
            </a:r>
          </a:p>
        </p:txBody>
      </p:sp>
      <p:sp>
        <p:nvSpPr>
          <p:cNvPr id="363" name="TextBox NB2"/>
          <p:cNvSpPr txBox="1"/>
          <p:nvPr/>
        </p:nvSpPr>
        <p:spPr>
          <a:xfrm>
            <a:off x="2027096" y="5654218"/>
            <a:ext cx="3169444"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$960K  (1.00×)</a:t>
            </a:r>
          </a:p>
        </p:txBody>
      </p:sp>
      <p:sp>
        <p:nvSpPr>
          <p:cNvPr id="236" name="Rectangle 6"/>
          <p:cNvSpPr/>
          <p:nvPr/>
        </p:nvSpPr>
        <p:spPr>
          <a:xfrm>
            <a:off x="5342334" y="804672"/>
            <a:ext cx="3169444"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dirty="0">
                <a:solidFill>
                  <a:srgbClr val="FFFFFF"/>
                </a:solidFill>
                <a:latin typeface="맑은 고딕"/>
                <a:ea typeface="맑은 고딕"/>
              </a:rPr>
              <a:t>Target  —  </a:t>
            </a:r>
            <a:r>
              <a:rPr sz="950" b="1" i="0" dirty="0" smtClean="0">
                <a:solidFill>
                  <a:srgbClr val="FFFFFF"/>
                </a:solidFill>
                <a:latin typeface="맑은 고딕"/>
                <a:ea typeface="맑은 고딕"/>
              </a:rPr>
              <a:t>H100×4 + CXL-PNM×4</a:t>
            </a:r>
            <a:r>
              <a:rPr lang="en-US" sz="950" b="1" i="0" dirty="0" smtClean="0">
                <a:solidFill>
                  <a:srgbClr val="FFFFFF"/>
                </a:solidFill>
                <a:latin typeface="맑은 고딕"/>
                <a:ea typeface="맑은 고딕"/>
              </a:rPr>
              <a:t> + </a:t>
            </a:r>
            <a:r>
              <a:rPr lang="en-US" sz="950" b="1" dirty="0" smtClean="0">
                <a:solidFill>
                  <a:srgbClr val="FFFFFF"/>
                </a:solidFill>
                <a:latin typeface="맑은 고딕"/>
                <a:ea typeface="맑은 고딕"/>
              </a:rPr>
              <a:t>PIM-SSD</a:t>
            </a:r>
            <a:endParaRPr sz="950" b="1" i="0" dirty="0">
              <a:solidFill>
                <a:srgbClr val="FFFFFF"/>
              </a:solidFill>
              <a:latin typeface="맑은 고딕"/>
              <a:ea typeface="맑은 고딕"/>
            </a:endParaRPr>
          </a:p>
        </p:txBody>
      </p:sp>
      <p:sp>
        <p:nvSpPr>
          <p:cNvPr id="262" name="Rectangle 32"/>
          <p:cNvSpPr/>
          <p:nvPr/>
        </p:nvSpPr>
        <p:spPr>
          <a:xfrm>
            <a:off x="5342334" y="1133475"/>
            <a:ext cx="3169444"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3" name="Rectangle 33"/>
          <p:cNvSpPr/>
          <p:nvPr/>
        </p:nvSpPr>
        <p:spPr>
          <a:xfrm>
            <a:off x="5443756"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64" name="Rectangle 34"/>
          <p:cNvSpPr/>
          <p:nvPr/>
        </p:nvSpPr>
        <p:spPr>
          <a:xfrm>
            <a:off x="5443756"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5" name="Rectangle 35"/>
          <p:cNvSpPr/>
          <p:nvPr/>
        </p:nvSpPr>
        <p:spPr>
          <a:xfrm>
            <a:off x="6185405"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66" name="Rectangle 36"/>
          <p:cNvSpPr/>
          <p:nvPr/>
        </p:nvSpPr>
        <p:spPr>
          <a:xfrm>
            <a:off x="6185405"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7" name="Rectangle 37"/>
          <p:cNvSpPr/>
          <p:nvPr/>
        </p:nvSpPr>
        <p:spPr>
          <a:xfrm>
            <a:off x="6927056"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68" name="Rectangle 38"/>
          <p:cNvSpPr/>
          <p:nvPr/>
        </p:nvSpPr>
        <p:spPr>
          <a:xfrm>
            <a:off x="6927056"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9" name="Rectangle 39"/>
          <p:cNvSpPr/>
          <p:nvPr/>
        </p:nvSpPr>
        <p:spPr>
          <a:xfrm>
            <a:off x="7668707"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70" name="Rectangle 40"/>
          <p:cNvSpPr/>
          <p:nvPr/>
        </p:nvSpPr>
        <p:spPr>
          <a:xfrm>
            <a:off x="7668707"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71" name="Rectangle 41"/>
          <p:cNvSpPr/>
          <p:nvPr/>
        </p:nvSpPr>
        <p:spPr>
          <a:xfrm>
            <a:off x="5443756"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dirty="0">
                <a:solidFill>
                  <a:srgbClr val="262626"/>
                </a:solidFill>
                <a:latin typeface="맑은 고딕"/>
                <a:ea typeface="맑은 고딕"/>
              </a:rPr>
              <a:t>CPU0</a:t>
            </a:r>
          </a:p>
          <a:p>
            <a:pPr algn="ctr">
              <a:lnSpc>
                <a:spcPct val="115000"/>
              </a:lnSpc>
            </a:pPr>
            <a:r>
              <a:rPr sz="750" b="0" i="0" dirty="0" smtClean="0">
                <a:solidFill>
                  <a:srgbClr val="262626"/>
                </a:solidFill>
                <a:latin typeface="맑은 고딕"/>
                <a:ea typeface="맑은 고딕"/>
              </a:rPr>
              <a:t>56</a:t>
            </a:r>
            <a:r>
              <a:rPr lang="en-US" sz="750" b="0" i="0" dirty="0" smtClean="0">
                <a:solidFill>
                  <a:srgbClr val="262626"/>
                </a:solidFill>
                <a:latin typeface="맑은 고딕"/>
                <a:ea typeface="맑은 고딕"/>
              </a:rPr>
              <a:t> </a:t>
            </a:r>
            <a:r>
              <a:rPr lang="en-US" altLang="ko-KR" sz="750" dirty="0">
                <a:solidFill>
                  <a:srgbClr val="262626"/>
                </a:solidFill>
                <a:ea typeface="맑은 고딕"/>
              </a:rPr>
              <a:t>cores</a:t>
            </a:r>
            <a:r>
              <a:rPr sz="750" b="0" i="0" dirty="0" smtClean="0">
                <a:solidFill>
                  <a:srgbClr val="262626"/>
                </a:solidFill>
                <a:latin typeface="맑은 고딕"/>
                <a:ea typeface="맑은 고딕"/>
              </a:rPr>
              <a:t> </a:t>
            </a:r>
            <a:r>
              <a:rPr sz="750" b="0" i="0" dirty="0">
                <a:solidFill>
                  <a:srgbClr val="262626"/>
                </a:solidFill>
                <a:latin typeface="맑은 고딕"/>
                <a:ea typeface="맑은 고딕"/>
              </a:rPr>
              <a:t>· DDR 512GB</a:t>
            </a:r>
          </a:p>
        </p:txBody>
      </p:sp>
      <p:sp>
        <p:nvSpPr>
          <p:cNvPr id="272" name="Rectangle 42"/>
          <p:cNvSpPr/>
          <p:nvPr/>
        </p:nvSpPr>
        <p:spPr>
          <a:xfrm>
            <a:off x="6927056"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73" name="Rectangle 43"/>
          <p:cNvSpPr/>
          <p:nvPr/>
        </p:nvSpPr>
        <p:spPr>
          <a:xfrm>
            <a:off x="5443756"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PNM0</a:t>
            </a:r>
          </a:p>
        </p:txBody>
      </p:sp>
      <p:sp>
        <p:nvSpPr>
          <p:cNvPr id="274" name="Rectangle 44"/>
          <p:cNvSpPr/>
          <p:nvPr/>
        </p:nvSpPr>
        <p:spPr>
          <a:xfrm>
            <a:off x="5443756"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5" name="Rectangle 45"/>
          <p:cNvSpPr/>
          <p:nvPr/>
        </p:nvSpPr>
        <p:spPr>
          <a:xfrm>
            <a:off x="6185405"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PNM1</a:t>
            </a:r>
          </a:p>
        </p:txBody>
      </p:sp>
      <p:sp>
        <p:nvSpPr>
          <p:cNvPr id="276" name="Rectangle 46"/>
          <p:cNvSpPr/>
          <p:nvPr/>
        </p:nvSpPr>
        <p:spPr>
          <a:xfrm>
            <a:off x="6185405"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7" name="Rectangle 47"/>
          <p:cNvSpPr/>
          <p:nvPr/>
        </p:nvSpPr>
        <p:spPr>
          <a:xfrm>
            <a:off x="6927056"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PNM2</a:t>
            </a:r>
          </a:p>
        </p:txBody>
      </p:sp>
      <p:sp>
        <p:nvSpPr>
          <p:cNvPr id="278" name="Rectangle 48"/>
          <p:cNvSpPr/>
          <p:nvPr/>
        </p:nvSpPr>
        <p:spPr>
          <a:xfrm>
            <a:off x="6927056"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9" name="Rectangle 49"/>
          <p:cNvSpPr/>
          <p:nvPr/>
        </p:nvSpPr>
        <p:spPr>
          <a:xfrm>
            <a:off x="7668707"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PNM3</a:t>
            </a:r>
          </a:p>
        </p:txBody>
      </p:sp>
      <p:sp>
        <p:nvSpPr>
          <p:cNvPr id="280" name="Rectangle 50"/>
          <p:cNvSpPr/>
          <p:nvPr/>
        </p:nvSpPr>
        <p:spPr>
          <a:xfrm>
            <a:off x="7668707"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81" name="Rectangle 51"/>
          <p:cNvSpPr/>
          <p:nvPr/>
        </p:nvSpPr>
        <p:spPr>
          <a:xfrm>
            <a:off x="5443756" y="2762250"/>
            <a:ext cx="2922228"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312" name="TextBox 311"/>
          <p:cNvSpPr txBox="1"/>
          <p:nvPr/>
        </p:nvSpPr>
        <p:spPr>
          <a:xfrm>
            <a:off x="5342334" y="3369275"/>
            <a:ext cx="3169444" cy="138499"/>
          </a:xfrm>
          <a:prstGeom prst="rect">
            <a:avLst/>
          </a:prstGeom>
          <a:noFill/>
        </p:spPr>
        <p:txBody>
          <a:bodyPr wrap="square" lIns="0" tIns="0" rIns="0" bIns="0" anchor="ctr">
            <a:spAutoFit/>
          </a:bodyPr>
          <a:lstStyle/>
          <a:p>
            <a:pPr algn="ctr"/>
            <a:r>
              <a:rPr sz="900" b="0" i="0" dirty="0">
                <a:solidFill>
                  <a:srgbClr val="FF0000"/>
                </a:solidFill>
                <a:latin typeface="맑은 고딕"/>
                <a:ea typeface="맑은 고딕"/>
              </a:rPr>
              <a:t>320</a:t>
            </a:r>
            <a:r>
              <a:rPr sz="900" b="0" i="0" dirty="0">
                <a:solidFill>
                  <a:srgbClr val="404040"/>
                </a:solidFill>
                <a:latin typeface="맑은 고딕"/>
                <a:ea typeface="맑은 고딕"/>
              </a:rPr>
              <a:t> GB  ·  13.4 TB/s</a:t>
            </a:r>
          </a:p>
        </p:txBody>
      </p:sp>
      <p:sp>
        <p:nvSpPr>
          <p:cNvPr id="320" name="TextBox 319"/>
          <p:cNvSpPr txBox="1"/>
          <p:nvPr/>
        </p:nvSpPr>
        <p:spPr>
          <a:xfrm>
            <a:off x="5342334" y="3761705"/>
            <a:ext cx="3169444" cy="138499"/>
          </a:xfrm>
          <a:prstGeom prst="rect">
            <a:avLst/>
          </a:prstGeom>
          <a:noFill/>
        </p:spPr>
        <p:txBody>
          <a:bodyPr wrap="square" lIns="0" tIns="0" rIns="0" bIns="0" anchor="ctr">
            <a:spAutoFit/>
          </a:bodyPr>
          <a:lstStyle/>
          <a:p>
            <a:pPr algn="ctr"/>
            <a:r>
              <a:rPr sz="900" b="0" i="0" dirty="0">
                <a:solidFill>
                  <a:srgbClr val="0000FF"/>
                </a:solidFill>
                <a:latin typeface="맑은 고딕"/>
                <a:ea typeface="맑은 고딕"/>
              </a:rPr>
              <a:t>512</a:t>
            </a:r>
            <a:r>
              <a:rPr sz="900" b="0" i="0" dirty="0">
                <a:solidFill>
                  <a:srgbClr val="404040"/>
                </a:solidFill>
                <a:latin typeface="맑은 고딕"/>
                <a:ea typeface="맑은 고딕"/>
              </a:rPr>
              <a:t> GB  ·  800 GB/s</a:t>
            </a:r>
          </a:p>
        </p:txBody>
      </p:sp>
      <p:sp>
        <p:nvSpPr>
          <p:cNvPr id="324" name="TextBox 323"/>
          <p:cNvSpPr txBox="1"/>
          <p:nvPr/>
        </p:nvSpPr>
        <p:spPr>
          <a:xfrm>
            <a:off x="5342334" y="3935730"/>
            <a:ext cx="3169444" cy="209550"/>
          </a:xfrm>
          <a:prstGeom prst="rect">
            <a:avLst/>
          </a:prstGeom>
          <a:noFill/>
        </p:spPr>
        <p:txBody>
          <a:bodyPr wrap="square" lIns="0" tIns="0" rIns="0" bIns="0" anchor="ctr">
            <a:spAutoFit/>
          </a:bodyPr>
          <a:lstStyle/>
          <a:p>
            <a:pPr algn="ctr"/>
            <a:r>
              <a:rPr sz="900" b="0" i="0" dirty="0">
                <a:solidFill>
                  <a:srgbClr val="404040"/>
                </a:solidFill>
                <a:latin typeface="맑은 고딕"/>
                <a:ea typeface="맑은 고딕"/>
              </a:rPr>
              <a:t>1,024 GB  ·  350 GB/s</a:t>
            </a:r>
          </a:p>
        </p:txBody>
      </p:sp>
      <p:sp>
        <p:nvSpPr>
          <p:cNvPr id="337" name="TextBox 336"/>
          <p:cNvSpPr txBox="1"/>
          <p:nvPr/>
        </p:nvSpPr>
        <p:spPr>
          <a:xfrm>
            <a:off x="5342334" y="4530390"/>
            <a:ext cx="3169444" cy="146194"/>
          </a:xfrm>
          <a:prstGeom prst="rect">
            <a:avLst/>
          </a:prstGeom>
          <a:noFill/>
        </p:spPr>
        <p:txBody>
          <a:bodyPr wrap="square" lIns="0" tIns="0" rIns="0" bIns="0" anchor="ctr">
            <a:spAutoFit/>
          </a:bodyPr>
          <a:lstStyle/>
          <a:p>
            <a:pPr algn="ctr"/>
            <a:r>
              <a:rPr lang="en-US" sz="950" b="1" i="0" dirty="0" smtClean="0">
                <a:solidFill>
                  <a:srgbClr val="FF0000"/>
                </a:solidFill>
                <a:latin typeface="맑은 고딕"/>
                <a:ea typeface="맑은 고딕"/>
              </a:rPr>
              <a:t>320</a:t>
            </a:r>
            <a:r>
              <a:rPr sz="950" b="1" i="0" dirty="0" smtClean="0">
                <a:solidFill>
                  <a:srgbClr val="FF0000"/>
                </a:solidFill>
                <a:latin typeface="맑은 고딕"/>
                <a:ea typeface="맑은 고딕"/>
              </a:rPr>
              <a:t> </a:t>
            </a:r>
            <a:r>
              <a:rPr sz="950" b="1" i="0" dirty="0">
                <a:solidFill>
                  <a:srgbClr val="FF0000"/>
                </a:solidFill>
                <a:latin typeface="맑은 고딕"/>
                <a:ea typeface="맑은 고딕"/>
              </a:rPr>
              <a:t>GB  </a:t>
            </a:r>
            <a:r>
              <a:rPr sz="950" b="1" i="0" dirty="0" smtClean="0">
                <a:solidFill>
                  <a:srgbClr val="FF0000"/>
                </a:solidFill>
                <a:latin typeface="맑은 고딕"/>
                <a:ea typeface="맑은 고딕"/>
              </a:rPr>
              <a:t>(</a:t>
            </a:r>
            <a:r>
              <a:rPr lang="en-US" sz="950" b="1" dirty="0" smtClean="0">
                <a:solidFill>
                  <a:srgbClr val="FF0000"/>
                </a:solidFill>
                <a:latin typeface="맑은 고딕"/>
                <a:ea typeface="맑은 고딕"/>
              </a:rPr>
              <a:t>0.5</a:t>
            </a:r>
            <a:r>
              <a:rPr sz="950" b="1" i="0" dirty="0" smtClean="0">
                <a:solidFill>
                  <a:srgbClr val="FF0000"/>
                </a:solidFill>
                <a:latin typeface="맑은 고딕"/>
                <a:ea typeface="맑은 고딕"/>
              </a:rPr>
              <a:t>×)</a:t>
            </a:r>
            <a:endParaRPr sz="950" b="1" i="0" dirty="0">
              <a:solidFill>
                <a:srgbClr val="FF0000"/>
              </a:solidFill>
              <a:latin typeface="맑은 고딕"/>
              <a:ea typeface="맑은 고딕"/>
            </a:endParaRPr>
          </a:p>
        </p:txBody>
      </p:sp>
      <p:sp>
        <p:nvSpPr>
          <p:cNvPr id="342" name="TextBox 341"/>
          <p:cNvSpPr txBox="1"/>
          <p:nvPr/>
        </p:nvSpPr>
        <p:spPr>
          <a:xfrm>
            <a:off x="5342334" y="4739940"/>
            <a:ext cx="3169444" cy="146194"/>
          </a:xfrm>
          <a:prstGeom prst="rect">
            <a:avLst/>
          </a:prstGeom>
          <a:noFill/>
        </p:spPr>
        <p:txBody>
          <a:bodyPr wrap="square" lIns="0" tIns="0" rIns="0" bIns="0" anchor="ctr">
            <a:spAutoFit/>
          </a:bodyPr>
          <a:lstStyle/>
          <a:p>
            <a:pPr algn="ctr"/>
            <a:r>
              <a:rPr lang="en-US" sz="950" b="1" dirty="0" smtClean="0">
                <a:solidFill>
                  <a:srgbClr val="FF0000"/>
                </a:solidFill>
                <a:latin typeface="맑은 고딕"/>
                <a:ea typeface="맑은 고딕"/>
              </a:rPr>
              <a:t>13.4 </a:t>
            </a:r>
            <a:r>
              <a:rPr sz="950" b="1" i="0" dirty="0" smtClean="0">
                <a:solidFill>
                  <a:srgbClr val="FF0000"/>
                </a:solidFill>
                <a:latin typeface="맑은 고딕"/>
                <a:ea typeface="맑은 고딕"/>
              </a:rPr>
              <a:t>TB/s  </a:t>
            </a:r>
            <a:r>
              <a:rPr sz="950" b="1" i="0" dirty="0">
                <a:solidFill>
                  <a:srgbClr val="FF0000"/>
                </a:solidFill>
                <a:latin typeface="맑은 고딕"/>
                <a:ea typeface="맑은 고딕"/>
              </a:rPr>
              <a:t>(</a:t>
            </a:r>
            <a:r>
              <a:rPr sz="950" b="1" i="0" dirty="0" smtClean="0">
                <a:solidFill>
                  <a:srgbClr val="FF0000"/>
                </a:solidFill>
                <a:latin typeface="맑은 고딕"/>
                <a:ea typeface="맑은 고딕"/>
              </a:rPr>
              <a:t>0.5×)</a:t>
            </a:r>
            <a:endParaRPr sz="950" b="1" i="0" dirty="0">
              <a:solidFill>
                <a:srgbClr val="FF0000"/>
              </a:solidFill>
              <a:latin typeface="맑은 고딕"/>
              <a:ea typeface="맑은 고딕"/>
            </a:endParaRPr>
          </a:p>
        </p:txBody>
      </p:sp>
      <p:sp>
        <p:nvSpPr>
          <p:cNvPr id="347" name="TextBox 346"/>
          <p:cNvSpPr txBox="1"/>
          <p:nvPr/>
        </p:nvSpPr>
        <p:spPr>
          <a:xfrm>
            <a:off x="5342334" y="4949490"/>
            <a:ext cx="3169444" cy="146194"/>
          </a:xfrm>
          <a:prstGeom prst="rect">
            <a:avLst/>
          </a:prstGeom>
          <a:noFill/>
        </p:spPr>
        <p:txBody>
          <a:bodyPr wrap="square" lIns="0" tIns="0" rIns="0" bIns="0" anchor="ctr">
            <a:spAutoFit/>
          </a:bodyPr>
          <a:lstStyle/>
          <a:p>
            <a:pPr algn="ctr"/>
            <a:r>
              <a:rPr lang="en-US" sz="950" b="1" i="0" dirty="0" smtClean="0">
                <a:solidFill>
                  <a:srgbClr val="0000FF"/>
                </a:solidFill>
                <a:latin typeface="맑은 고딕"/>
                <a:ea typeface="맑은 고딕"/>
              </a:rPr>
              <a:t>1,856 </a:t>
            </a:r>
            <a:r>
              <a:rPr sz="950" b="1" i="0" dirty="0" smtClean="0">
                <a:solidFill>
                  <a:srgbClr val="0000FF"/>
                </a:solidFill>
                <a:latin typeface="맑은 고딕"/>
                <a:ea typeface="맑은 고딕"/>
              </a:rPr>
              <a:t>GB  </a:t>
            </a:r>
            <a:r>
              <a:rPr sz="950" b="1" i="0" dirty="0">
                <a:solidFill>
                  <a:srgbClr val="0000FF"/>
                </a:solidFill>
                <a:latin typeface="맑은 고딕"/>
                <a:ea typeface="맑은 고딕"/>
              </a:rPr>
              <a:t>(</a:t>
            </a:r>
            <a:r>
              <a:rPr sz="950" b="1" i="0" dirty="0" smtClean="0">
                <a:solidFill>
                  <a:srgbClr val="0000FF"/>
                </a:solidFill>
                <a:latin typeface="맑은 고딕"/>
                <a:ea typeface="맑은 고딕"/>
              </a:rPr>
              <a:t>1.</a:t>
            </a:r>
            <a:r>
              <a:rPr lang="en-US" sz="950" b="1" i="0" dirty="0" smtClean="0">
                <a:solidFill>
                  <a:srgbClr val="0000FF"/>
                </a:solidFill>
                <a:latin typeface="맑은 고딕"/>
                <a:ea typeface="맑은 고딕"/>
              </a:rPr>
              <a:t>12</a:t>
            </a:r>
            <a:r>
              <a:rPr sz="950" b="1" i="0" dirty="0" smtClean="0">
                <a:solidFill>
                  <a:srgbClr val="0000FF"/>
                </a:solidFill>
                <a:latin typeface="맑은 고딕"/>
                <a:ea typeface="맑은 고딕"/>
              </a:rPr>
              <a:t>×)</a:t>
            </a:r>
            <a:endParaRPr sz="950" b="1" i="0" dirty="0">
              <a:solidFill>
                <a:srgbClr val="0000FF"/>
              </a:solidFill>
              <a:latin typeface="맑은 고딕"/>
              <a:ea typeface="맑은 고딕"/>
            </a:endParaRPr>
          </a:p>
        </p:txBody>
      </p:sp>
      <p:sp>
        <p:nvSpPr>
          <p:cNvPr id="352" name="TextBox 351"/>
          <p:cNvSpPr txBox="1"/>
          <p:nvPr/>
        </p:nvSpPr>
        <p:spPr>
          <a:xfrm>
            <a:off x="5342334" y="5863768"/>
            <a:ext cx="3169444"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$777K  (0.69×)</a:t>
            </a:r>
          </a:p>
        </p:txBody>
      </p:sp>
      <p:sp>
        <p:nvSpPr>
          <p:cNvPr id="359" name="TextBox NT1"/>
          <p:cNvSpPr txBox="1"/>
          <p:nvPr/>
        </p:nvSpPr>
        <p:spPr>
          <a:xfrm>
            <a:off x="5342334" y="5444668"/>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$273K  (1.58×)</a:t>
            </a:r>
          </a:p>
        </p:txBody>
      </p:sp>
      <p:sp>
        <p:nvSpPr>
          <p:cNvPr id="364" name="TextBox NT2"/>
          <p:cNvSpPr txBox="1"/>
          <p:nvPr/>
        </p:nvSpPr>
        <p:spPr>
          <a:xfrm>
            <a:off x="5342334" y="5654218"/>
            <a:ext cx="3169444"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$504K  (0.53×)</a:t>
            </a:r>
          </a:p>
        </p:txBody>
      </p:sp>
      <p:sp>
        <p:nvSpPr>
          <p:cNvPr id="108" name="Rectangle 6"/>
          <p:cNvSpPr/>
          <p:nvPr/>
        </p:nvSpPr>
        <p:spPr>
          <a:xfrm>
            <a:off x="8708231" y="804672"/>
            <a:ext cx="3169444"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950" b="1" i="0" dirty="0" smtClean="0">
                <a:solidFill>
                  <a:srgbClr val="FFFFFF"/>
                </a:solidFill>
                <a:latin typeface="맑은 고딕"/>
                <a:ea typeface="맑은 고딕"/>
              </a:rPr>
              <a:t>Testbed</a:t>
            </a:r>
            <a:endParaRPr sz="950" b="1" i="0" dirty="0">
              <a:solidFill>
                <a:srgbClr val="FFFFFF"/>
              </a:solidFill>
              <a:latin typeface="맑은 고딕"/>
              <a:ea typeface="맑은 고딕"/>
            </a:endParaRPr>
          </a:p>
        </p:txBody>
      </p:sp>
      <p:sp>
        <p:nvSpPr>
          <p:cNvPr id="109" name="Rectangle 32"/>
          <p:cNvSpPr/>
          <p:nvPr/>
        </p:nvSpPr>
        <p:spPr>
          <a:xfrm>
            <a:off x="8708231" y="1133475"/>
            <a:ext cx="3169444"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10" name="Rectangle 33"/>
          <p:cNvSpPr/>
          <p:nvPr/>
        </p:nvSpPr>
        <p:spPr>
          <a:xfrm>
            <a:off x="8809653"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111" name="Rectangle 34"/>
          <p:cNvSpPr/>
          <p:nvPr/>
        </p:nvSpPr>
        <p:spPr>
          <a:xfrm>
            <a:off x="8809653"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112" name="Rectangle 35"/>
          <p:cNvSpPr/>
          <p:nvPr/>
        </p:nvSpPr>
        <p:spPr>
          <a:xfrm>
            <a:off x="9551302"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113" name="Rectangle 36"/>
          <p:cNvSpPr/>
          <p:nvPr/>
        </p:nvSpPr>
        <p:spPr>
          <a:xfrm>
            <a:off x="9551302"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114" name="Rectangle 37"/>
          <p:cNvSpPr/>
          <p:nvPr/>
        </p:nvSpPr>
        <p:spPr>
          <a:xfrm>
            <a:off x="10292953"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115" name="Rectangle 38"/>
          <p:cNvSpPr/>
          <p:nvPr/>
        </p:nvSpPr>
        <p:spPr>
          <a:xfrm>
            <a:off x="10292953"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116" name="Rectangle 39"/>
          <p:cNvSpPr/>
          <p:nvPr/>
        </p:nvSpPr>
        <p:spPr>
          <a:xfrm>
            <a:off x="11034604"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117" name="Rectangle 40"/>
          <p:cNvSpPr/>
          <p:nvPr/>
        </p:nvSpPr>
        <p:spPr>
          <a:xfrm>
            <a:off x="11034604"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118" name="Rectangle 41"/>
          <p:cNvSpPr/>
          <p:nvPr/>
        </p:nvSpPr>
        <p:spPr>
          <a:xfrm>
            <a:off x="8809653"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dirty="0">
                <a:solidFill>
                  <a:srgbClr val="262626"/>
                </a:solidFill>
                <a:latin typeface="맑은 고딕"/>
                <a:ea typeface="맑은 고딕"/>
              </a:rPr>
              <a:t>CPU0</a:t>
            </a:r>
          </a:p>
          <a:p>
            <a:pPr algn="ctr">
              <a:lnSpc>
                <a:spcPct val="115000"/>
              </a:lnSpc>
            </a:pPr>
            <a:r>
              <a:rPr sz="750" b="0" i="0" dirty="0" smtClean="0">
                <a:solidFill>
                  <a:srgbClr val="262626"/>
                </a:solidFill>
                <a:latin typeface="맑은 고딕"/>
                <a:ea typeface="맑은 고딕"/>
              </a:rPr>
              <a:t>56</a:t>
            </a:r>
            <a:r>
              <a:rPr lang="en-US" sz="750" b="0" i="0" dirty="0" smtClean="0">
                <a:solidFill>
                  <a:srgbClr val="262626"/>
                </a:solidFill>
                <a:latin typeface="맑은 고딕"/>
                <a:ea typeface="맑은 고딕"/>
              </a:rPr>
              <a:t> </a:t>
            </a:r>
            <a:r>
              <a:rPr lang="en-US" altLang="ko-KR" sz="750" dirty="0">
                <a:solidFill>
                  <a:srgbClr val="262626"/>
                </a:solidFill>
                <a:ea typeface="맑은 고딕"/>
              </a:rPr>
              <a:t>cores</a:t>
            </a:r>
            <a:r>
              <a:rPr sz="750" b="0" i="0" dirty="0" smtClean="0">
                <a:solidFill>
                  <a:srgbClr val="262626"/>
                </a:solidFill>
                <a:latin typeface="맑은 고딕"/>
                <a:ea typeface="맑은 고딕"/>
              </a:rPr>
              <a:t> </a:t>
            </a:r>
            <a:r>
              <a:rPr sz="750" b="0" i="0" dirty="0">
                <a:solidFill>
                  <a:srgbClr val="262626"/>
                </a:solidFill>
                <a:latin typeface="맑은 고딕"/>
                <a:ea typeface="맑은 고딕"/>
              </a:rPr>
              <a:t>· DDR 512GB</a:t>
            </a:r>
          </a:p>
        </p:txBody>
      </p:sp>
      <p:sp>
        <p:nvSpPr>
          <p:cNvPr id="122" name="Rectangle 42"/>
          <p:cNvSpPr/>
          <p:nvPr/>
        </p:nvSpPr>
        <p:spPr>
          <a:xfrm>
            <a:off x="10292953"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123" name="Rectangle 43"/>
          <p:cNvSpPr/>
          <p:nvPr/>
        </p:nvSpPr>
        <p:spPr>
          <a:xfrm>
            <a:off x="10292953"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PNM0</a:t>
            </a:r>
          </a:p>
        </p:txBody>
      </p:sp>
      <p:sp>
        <p:nvSpPr>
          <p:cNvPr id="124" name="Rectangle 44"/>
          <p:cNvSpPr/>
          <p:nvPr/>
        </p:nvSpPr>
        <p:spPr>
          <a:xfrm>
            <a:off x="10292953"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125" name="Rectangle 45"/>
          <p:cNvSpPr/>
          <p:nvPr/>
        </p:nvSpPr>
        <p:spPr>
          <a:xfrm>
            <a:off x="11034604"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PNM1</a:t>
            </a:r>
          </a:p>
        </p:txBody>
      </p:sp>
      <p:sp>
        <p:nvSpPr>
          <p:cNvPr id="126" name="Rectangle 46"/>
          <p:cNvSpPr/>
          <p:nvPr/>
        </p:nvSpPr>
        <p:spPr>
          <a:xfrm>
            <a:off x="11034604"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127" name="Rectangle 51"/>
          <p:cNvSpPr/>
          <p:nvPr/>
        </p:nvSpPr>
        <p:spPr>
          <a:xfrm>
            <a:off x="8809653" y="2762250"/>
            <a:ext cx="2922228"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135" name="TextBox 134"/>
          <p:cNvSpPr txBox="1"/>
          <p:nvPr/>
        </p:nvSpPr>
        <p:spPr>
          <a:xfrm>
            <a:off x="9102328" y="4561822"/>
            <a:ext cx="2381250" cy="146194"/>
          </a:xfrm>
          <a:prstGeom prst="rect">
            <a:avLst/>
          </a:prstGeom>
          <a:noFill/>
        </p:spPr>
        <p:txBody>
          <a:bodyPr wrap="square" lIns="0" tIns="0" rIns="0" bIns="0" anchor="ctr">
            <a:spAutoFit/>
          </a:bodyPr>
          <a:lstStyle/>
          <a:p>
            <a:pPr algn="ctr"/>
            <a:r>
              <a:rPr sz="950" b="1" i="0" dirty="0" smtClean="0">
                <a:latin typeface="맑은 고딕"/>
                <a:ea typeface="맑은 고딕"/>
              </a:rPr>
              <a:t>1,</a:t>
            </a:r>
            <a:r>
              <a:rPr lang="en-US" sz="950" b="1" i="0" dirty="0" smtClean="0">
                <a:latin typeface="맑은 고딕"/>
                <a:ea typeface="맑은 고딕"/>
              </a:rPr>
              <a:t>040</a:t>
            </a:r>
            <a:r>
              <a:rPr sz="950" b="1" i="0" dirty="0" smtClean="0">
                <a:latin typeface="맑은 고딕"/>
                <a:ea typeface="맑은 고딕"/>
              </a:rPr>
              <a:t> </a:t>
            </a:r>
            <a:r>
              <a:rPr sz="950" b="1" i="0" dirty="0">
                <a:latin typeface="맑은 고딕"/>
                <a:ea typeface="맑은 고딕"/>
              </a:rPr>
              <a:t>GB  </a:t>
            </a:r>
            <a:r>
              <a:rPr sz="950" b="1" i="0" dirty="0" smtClean="0">
                <a:latin typeface="맑은 고딕"/>
                <a:ea typeface="맑은 고딕"/>
              </a:rPr>
              <a:t>(</a:t>
            </a:r>
            <a:r>
              <a:rPr lang="en-US" sz="950" b="1" dirty="0" smtClean="0">
                <a:latin typeface="맑은 고딕"/>
                <a:ea typeface="맑은 고딕"/>
              </a:rPr>
              <a:t>1.63</a:t>
            </a:r>
            <a:r>
              <a:rPr sz="950" b="1" i="0" dirty="0" smtClean="0">
                <a:latin typeface="맑은 고딕"/>
                <a:ea typeface="맑은 고딕"/>
              </a:rPr>
              <a:t>×)</a:t>
            </a:r>
            <a:endParaRPr sz="950" b="1" i="0" dirty="0">
              <a:latin typeface="맑은 고딕"/>
              <a:ea typeface="맑은 고딕"/>
            </a:endParaRPr>
          </a:p>
        </p:txBody>
      </p:sp>
      <p:sp>
        <p:nvSpPr>
          <p:cNvPr id="136" name="TextBox 135"/>
          <p:cNvSpPr txBox="1"/>
          <p:nvPr/>
        </p:nvSpPr>
        <p:spPr>
          <a:xfrm>
            <a:off x="9102328" y="4761847"/>
            <a:ext cx="2381250" cy="146194"/>
          </a:xfrm>
          <a:prstGeom prst="rect">
            <a:avLst/>
          </a:prstGeom>
          <a:noFill/>
        </p:spPr>
        <p:txBody>
          <a:bodyPr wrap="square" lIns="0" tIns="0" rIns="0" bIns="0" anchor="ctr">
            <a:spAutoFit/>
          </a:bodyPr>
          <a:lstStyle/>
          <a:p>
            <a:pPr algn="ctr"/>
            <a:r>
              <a:rPr sz="950" b="1" i="0" dirty="0">
                <a:latin typeface="맑은 고딕"/>
                <a:ea typeface="맑은 고딕"/>
              </a:rPr>
              <a:t>20.5 TB/s  (0.76×)</a:t>
            </a:r>
          </a:p>
        </p:txBody>
      </p:sp>
      <p:sp>
        <p:nvSpPr>
          <p:cNvPr id="137" name="TextBox 136"/>
          <p:cNvSpPr txBox="1"/>
          <p:nvPr/>
        </p:nvSpPr>
        <p:spPr>
          <a:xfrm>
            <a:off x="9102328" y="4961872"/>
            <a:ext cx="2381250" cy="146194"/>
          </a:xfrm>
          <a:prstGeom prst="rect">
            <a:avLst/>
          </a:prstGeom>
          <a:noFill/>
        </p:spPr>
        <p:txBody>
          <a:bodyPr wrap="square" lIns="0" tIns="0" rIns="0" bIns="0" anchor="ctr">
            <a:spAutoFit/>
          </a:bodyPr>
          <a:lstStyle/>
          <a:p>
            <a:pPr algn="ctr"/>
            <a:r>
              <a:rPr lang="en-US" sz="950" b="1" i="0" dirty="0" smtClean="0">
                <a:latin typeface="맑은 고딕"/>
                <a:ea typeface="맑은 고딕"/>
              </a:rPr>
              <a:t>2,320</a:t>
            </a:r>
            <a:r>
              <a:rPr sz="950" b="1" i="0" dirty="0" smtClean="0">
                <a:latin typeface="맑은 고딕"/>
                <a:ea typeface="맑은 고딕"/>
              </a:rPr>
              <a:t> </a:t>
            </a:r>
            <a:r>
              <a:rPr sz="950" b="1" i="0" dirty="0">
                <a:latin typeface="맑은 고딕"/>
                <a:ea typeface="맑은 고딕"/>
              </a:rPr>
              <a:t>GB  (</a:t>
            </a:r>
            <a:r>
              <a:rPr sz="950" b="1" i="0" dirty="0" smtClean="0">
                <a:latin typeface="맑은 고딕"/>
                <a:ea typeface="맑은 고딕"/>
              </a:rPr>
              <a:t>1.</a:t>
            </a:r>
            <a:r>
              <a:rPr lang="en-US" sz="950" b="1" i="0" dirty="0" smtClean="0">
                <a:latin typeface="맑은 고딕"/>
                <a:ea typeface="맑은 고딕"/>
              </a:rPr>
              <a:t>39</a:t>
            </a:r>
            <a:r>
              <a:rPr sz="950" b="1" i="0" dirty="0" smtClean="0">
                <a:latin typeface="맑은 고딕"/>
                <a:ea typeface="맑은 고딕"/>
              </a:rPr>
              <a:t>×)</a:t>
            </a:r>
            <a:endParaRPr sz="950" b="1" i="0" dirty="0">
              <a:latin typeface="맑은 고딕"/>
              <a:ea typeface="맑은 고딕"/>
            </a:endParaRPr>
          </a:p>
        </p:txBody>
      </p:sp>
      <p:sp>
        <p:nvSpPr>
          <p:cNvPr id="138" name="TextBox 137"/>
          <p:cNvSpPr txBox="1"/>
          <p:nvPr/>
        </p:nvSpPr>
        <p:spPr>
          <a:xfrm>
            <a:off x="9102328" y="5852338"/>
            <a:ext cx="2381250" cy="200025"/>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$969K  (0.86×)</a:t>
            </a:r>
          </a:p>
        </p:txBody>
      </p:sp>
      <p:sp>
        <p:nvSpPr>
          <p:cNvPr id="139" name="GPU label H4"/>
          <p:cNvSpPr/>
          <p:nvPr/>
        </p:nvSpPr>
        <p:spPr>
          <a:xfrm>
            <a:off x="8809653"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140" name="GPU label H5"/>
          <p:cNvSpPr/>
          <p:nvPr/>
        </p:nvSpPr>
        <p:spPr>
          <a:xfrm>
            <a:off x="9551302"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141" name="HBM half 4"/>
          <p:cNvSpPr/>
          <p:nvPr/>
        </p:nvSpPr>
        <p:spPr>
          <a:xfrm>
            <a:off x="8809653" y="2409825"/>
            <a:ext cx="697278" cy="1524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1F6FB5"/>
                </a:solidFill>
                <a:latin typeface="맑은 고딕"/>
                <a:ea typeface="맑은 고딕"/>
              </a:rPr>
              <a:t>HBM 40GB</a:t>
            </a:r>
          </a:p>
        </p:txBody>
      </p:sp>
      <p:sp>
        <p:nvSpPr>
          <p:cNvPr id="142" name="HBM half 5"/>
          <p:cNvSpPr/>
          <p:nvPr/>
        </p:nvSpPr>
        <p:spPr>
          <a:xfrm>
            <a:off x="9551302" y="2409825"/>
            <a:ext cx="697278" cy="1524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1F6FB5"/>
                </a:solidFill>
                <a:latin typeface="맑은 고딕"/>
                <a:ea typeface="맑은 고딕"/>
              </a:rPr>
              <a:t>HBM 40GB</a:t>
            </a:r>
          </a:p>
        </p:txBody>
      </p:sp>
      <p:sp>
        <p:nvSpPr>
          <p:cNvPr id="143" name="HBF box 4"/>
          <p:cNvSpPr/>
          <p:nvPr/>
        </p:nvSpPr>
        <p:spPr>
          <a:xfrm>
            <a:off x="8809653" y="2562225"/>
            <a:ext cx="697278" cy="152400"/>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4A2E73"/>
                </a:solidFill>
                <a:latin typeface="맑은 고딕"/>
                <a:ea typeface="맑은 고딕"/>
              </a:rPr>
              <a:t>HBF 320GB</a:t>
            </a:r>
          </a:p>
        </p:txBody>
      </p:sp>
      <p:sp>
        <p:nvSpPr>
          <p:cNvPr id="144" name="HBF box 5"/>
          <p:cNvSpPr/>
          <p:nvPr/>
        </p:nvSpPr>
        <p:spPr>
          <a:xfrm>
            <a:off x="9551302" y="2562225"/>
            <a:ext cx="697278" cy="152400"/>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4A2E73"/>
                </a:solidFill>
                <a:latin typeface="맑은 고딕"/>
                <a:ea typeface="맑은 고딕"/>
              </a:rPr>
              <a:t>HBF 320GB</a:t>
            </a:r>
          </a:p>
        </p:txBody>
      </p:sp>
      <p:sp>
        <p:nvSpPr>
          <p:cNvPr id="145" name="TextBox NT1"/>
          <p:cNvSpPr txBox="1"/>
          <p:nvPr/>
        </p:nvSpPr>
        <p:spPr>
          <a:xfrm>
            <a:off x="9102328" y="5452288"/>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$237K  (1.38×)</a:t>
            </a:r>
          </a:p>
        </p:txBody>
      </p:sp>
      <p:sp>
        <p:nvSpPr>
          <p:cNvPr id="146" name="TextBox NT2"/>
          <p:cNvSpPr txBox="1"/>
          <p:nvPr/>
        </p:nvSpPr>
        <p:spPr>
          <a:xfrm>
            <a:off x="9102328" y="5652313"/>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$732K  (0.76×)</a:t>
            </a:r>
          </a:p>
        </p:txBody>
      </p:sp>
      <p:sp>
        <p:nvSpPr>
          <p:cNvPr id="147" name="Rectangle 52"/>
          <p:cNvSpPr/>
          <p:nvPr/>
        </p:nvSpPr>
        <p:spPr>
          <a:xfrm>
            <a:off x="7687500" y="2796730"/>
            <a:ext cx="615003" cy="201549"/>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smtClean="0">
                <a:solidFill>
                  <a:srgbClr val="375623"/>
                </a:solidFill>
                <a:latin typeface="맑은 고딕"/>
                <a:ea typeface="맑은 고딕"/>
              </a:rPr>
              <a:t>PIM</a:t>
            </a:r>
            <a:endParaRPr sz="1000" b="1" i="0" dirty="0">
              <a:solidFill>
                <a:srgbClr val="375623"/>
              </a:solidFill>
              <a:latin typeface="맑은 고딕"/>
              <a:ea typeface="맑은 고딕"/>
            </a:endParaRPr>
          </a:p>
        </p:txBody>
      </p:sp>
      <p:sp>
        <p:nvSpPr>
          <p:cNvPr id="148" name="Rectangle 52"/>
          <p:cNvSpPr/>
          <p:nvPr/>
        </p:nvSpPr>
        <p:spPr>
          <a:xfrm>
            <a:off x="11075741" y="2796730"/>
            <a:ext cx="615003" cy="201549"/>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smtClean="0">
                <a:solidFill>
                  <a:srgbClr val="375623"/>
                </a:solidFill>
                <a:latin typeface="맑은 고딕"/>
                <a:ea typeface="맑은 고딕"/>
              </a:rPr>
              <a:t>PIM</a:t>
            </a:r>
            <a:endParaRPr sz="1000" b="1" i="0" dirty="0">
              <a:solidFill>
                <a:srgbClr val="375623"/>
              </a:solidFill>
              <a:latin typeface="맑은 고딕"/>
              <a:ea typeface="맑은 고딕"/>
            </a:endParaRPr>
          </a:p>
        </p:txBody>
      </p:sp>
      <p:sp>
        <p:nvSpPr>
          <p:cNvPr id="6" name="직사각형 5"/>
          <p:cNvSpPr/>
          <p:nvPr/>
        </p:nvSpPr>
        <p:spPr>
          <a:xfrm>
            <a:off x="300990" y="6225891"/>
            <a:ext cx="6096000" cy="246221"/>
          </a:xfrm>
          <a:prstGeom prst="rect">
            <a:avLst/>
          </a:prstGeom>
        </p:spPr>
        <p:txBody>
          <a:bodyPr>
            <a:spAutoFit/>
          </a:bodyPr>
          <a:lstStyle/>
          <a:p>
            <a:pPr>
              <a:lnSpc>
                <a:spcPct val="125000"/>
              </a:lnSpc>
            </a:pPr>
            <a:r>
              <a:rPr lang="ko-KR" altLang="en-US" sz="800" dirty="0">
                <a:solidFill>
                  <a:srgbClr val="7F5F00"/>
                </a:solidFill>
                <a:ea typeface="맑은 고딕"/>
              </a:rPr>
              <a:t>매체 지연 </a:t>
            </a:r>
            <a:r>
              <a:rPr lang="en-US" altLang="ko-KR" sz="800" dirty="0">
                <a:solidFill>
                  <a:srgbClr val="7F5F00"/>
                </a:solidFill>
                <a:ea typeface="맑은 고딕"/>
              </a:rPr>
              <a:t>: HBM ~100 ns · CXL-PNM ~300 ns · HBF ~10 </a:t>
            </a:r>
            <a:r>
              <a:rPr lang="en-US" altLang="ko-KR" sz="800" dirty="0" err="1">
                <a:solidFill>
                  <a:srgbClr val="7F5F00"/>
                </a:solidFill>
                <a:ea typeface="맑은 고딕"/>
              </a:rPr>
              <a:t>μs</a:t>
            </a:r>
            <a:r>
              <a:rPr lang="ko-KR" altLang="en-US" sz="800" dirty="0">
                <a:solidFill>
                  <a:srgbClr val="7F5F00"/>
                </a:solidFill>
                <a:ea typeface="맑은 고딕"/>
              </a:rPr>
              <a:t>급</a:t>
            </a:r>
            <a:r>
              <a:rPr lang="en-US" altLang="ko-KR" sz="800" dirty="0">
                <a:solidFill>
                  <a:srgbClr val="7F5F00"/>
                </a:solidFill>
                <a:ea typeface="맑은 고딕"/>
              </a:rPr>
              <a:t>(NAND) · </a:t>
            </a:r>
            <a:r>
              <a:rPr lang="en-US" altLang="ko-KR" sz="800" dirty="0" err="1">
                <a:solidFill>
                  <a:srgbClr val="7F5F00"/>
                </a:solidFill>
                <a:ea typeface="맑은 고딕"/>
              </a:rPr>
              <a:t>NVMe</a:t>
            </a:r>
            <a:r>
              <a:rPr lang="ko-KR" altLang="en-US" sz="800" dirty="0">
                <a:solidFill>
                  <a:srgbClr val="7F5F00"/>
                </a:solidFill>
                <a:ea typeface="맑은 고딕"/>
              </a:rPr>
              <a:t> </a:t>
            </a:r>
            <a:r>
              <a:rPr lang="en-US" altLang="ko-KR" sz="800" dirty="0">
                <a:solidFill>
                  <a:srgbClr val="7F5F00"/>
                </a:solidFill>
                <a:ea typeface="맑은 고딕"/>
              </a:rPr>
              <a:t>~100 </a:t>
            </a:r>
            <a:r>
              <a:rPr lang="en-US" altLang="ko-KR" sz="800" dirty="0" err="1">
                <a:solidFill>
                  <a:srgbClr val="7F5F00"/>
                </a:solidFill>
                <a:ea typeface="맑은 고딕"/>
              </a:rPr>
              <a:t>μs</a:t>
            </a:r>
            <a:r>
              <a:rPr lang="ko-KR" altLang="en-US" sz="800" dirty="0">
                <a:solidFill>
                  <a:srgbClr val="7F5F00"/>
                </a:solidFill>
                <a:ea typeface="맑은 고딕"/>
              </a:rPr>
              <a:t> </a:t>
            </a:r>
          </a:p>
        </p:txBody>
      </p:sp>
      <p:sp>
        <p:nvSpPr>
          <p:cNvPr id="150" name="TextBox 149"/>
          <p:cNvSpPr txBox="1"/>
          <p:nvPr/>
        </p:nvSpPr>
        <p:spPr>
          <a:xfrm>
            <a:off x="5932670" y="3171825"/>
            <a:ext cx="2686050" cy="133350"/>
          </a:xfrm>
          <a:prstGeom prst="rect">
            <a:avLst/>
          </a:prstGeom>
          <a:noFill/>
        </p:spPr>
        <p:txBody>
          <a:bodyPr wrap="square" lIns="0" tIns="0" rIns="0" bIns="0" anchor="ctr">
            <a:spAutoFit/>
          </a:bodyPr>
          <a:lstStyle/>
          <a:p>
            <a:pPr algn="l"/>
            <a:r>
              <a:rPr sz="850" b="1" i="0" dirty="0" err="1">
                <a:solidFill>
                  <a:srgbClr val="808080"/>
                </a:solidFill>
                <a:latin typeface="맑은 고딕"/>
                <a:ea typeface="맑은 고딕"/>
              </a:rPr>
              <a:t>계층별</a:t>
            </a:r>
            <a:r>
              <a:rPr sz="850" b="1" i="0" dirty="0">
                <a:solidFill>
                  <a:srgbClr val="808080"/>
                </a:solidFill>
                <a:latin typeface="맑은 고딕"/>
                <a:ea typeface="맑은 고딕"/>
              </a:rPr>
              <a:t>  </a:t>
            </a:r>
            <a:r>
              <a:rPr sz="850" b="1" i="0" dirty="0" err="1">
                <a:solidFill>
                  <a:srgbClr val="808080"/>
                </a:solidFill>
                <a:latin typeface="맑은 고딕"/>
                <a:ea typeface="맑은 고딕"/>
              </a:rPr>
              <a:t>용량</a:t>
            </a:r>
            <a:r>
              <a:rPr sz="850" b="1" i="0" dirty="0">
                <a:solidFill>
                  <a:srgbClr val="808080"/>
                </a:solidFill>
                <a:latin typeface="맑은 고딕"/>
                <a:ea typeface="맑은 고딕"/>
              </a:rPr>
              <a:t>  ·  </a:t>
            </a:r>
            <a:r>
              <a:rPr sz="850" b="1" i="0" dirty="0" err="1">
                <a:solidFill>
                  <a:srgbClr val="808080"/>
                </a:solidFill>
                <a:latin typeface="맑은 고딕"/>
                <a:ea typeface="맑은 고딕"/>
              </a:rPr>
              <a:t>대역폭</a:t>
            </a:r>
            <a:r>
              <a:rPr sz="850" b="1" i="0" dirty="0">
                <a:solidFill>
                  <a:srgbClr val="808080"/>
                </a:solidFill>
                <a:latin typeface="맑은 고딕"/>
                <a:ea typeface="맑은 고딕"/>
              </a:rPr>
              <a:t>  (1노드 </a:t>
            </a:r>
            <a:r>
              <a:rPr sz="850" b="1" i="0" dirty="0" err="1">
                <a:solidFill>
                  <a:srgbClr val="808080"/>
                </a:solidFill>
                <a:latin typeface="맑은 고딕"/>
                <a:ea typeface="맑은 고딕"/>
              </a:rPr>
              <a:t>기준</a:t>
            </a:r>
            <a:r>
              <a:rPr sz="850" b="1" i="0" dirty="0">
                <a:solidFill>
                  <a:srgbClr val="808080"/>
                </a:solidFill>
                <a:latin typeface="맑은 고딕"/>
                <a:ea typeface="맑은 고딕"/>
              </a:rPr>
              <a:t>)</a:t>
            </a:r>
          </a:p>
        </p:txBody>
      </p:sp>
      <p:sp>
        <p:nvSpPr>
          <p:cNvPr id="151" name="TextBox 150"/>
          <p:cNvSpPr txBox="1"/>
          <p:nvPr/>
        </p:nvSpPr>
        <p:spPr>
          <a:xfrm>
            <a:off x="9417634" y="3171825"/>
            <a:ext cx="2686050" cy="133350"/>
          </a:xfrm>
          <a:prstGeom prst="rect">
            <a:avLst/>
          </a:prstGeom>
          <a:noFill/>
        </p:spPr>
        <p:txBody>
          <a:bodyPr wrap="square" lIns="0" tIns="0" rIns="0" bIns="0" anchor="ctr">
            <a:spAutoFit/>
          </a:bodyPr>
          <a:lstStyle/>
          <a:p>
            <a:pPr algn="l"/>
            <a:r>
              <a:rPr sz="850" b="1" i="0" dirty="0" err="1">
                <a:solidFill>
                  <a:srgbClr val="808080"/>
                </a:solidFill>
                <a:latin typeface="맑은 고딕"/>
                <a:ea typeface="맑은 고딕"/>
              </a:rPr>
              <a:t>계층별</a:t>
            </a:r>
            <a:r>
              <a:rPr sz="850" b="1" i="0" dirty="0">
                <a:solidFill>
                  <a:srgbClr val="808080"/>
                </a:solidFill>
                <a:latin typeface="맑은 고딕"/>
                <a:ea typeface="맑은 고딕"/>
              </a:rPr>
              <a:t>  </a:t>
            </a:r>
            <a:r>
              <a:rPr sz="850" b="1" i="0" dirty="0" err="1">
                <a:solidFill>
                  <a:srgbClr val="808080"/>
                </a:solidFill>
                <a:latin typeface="맑은 고딕"/>
                <a:ea typeface="맑은 고딕"/>
              </a:rPr>
              <a:t>용량</a:t>
            </a:r>
            <a:r>
              <a:rPr sz="850" b="1" i="0" dirty="0">
                <a:solidFill>
                  <a:srgbClr val="808080"/>
                </a:solidFill>
                <a:latin typeface="맑은 고딕"/>
                <a:ea typeface="맑은 고딕"/>
              </a:rPr>
              <a:t>  ·  </a:t>
            </a:r>
            <a:r>
              <a:rPr sz="850" b="1" i="0" dirty="0" err="1">
                <a:solidFill>
                  <a:srgbClr val="808080"/>
                </a:solidFill>
                <a:latin typeface="맑은 고딕"/>
                <a:ea typeface="맑은 고딕"/>
              </a:rPr>
              <a:t>대역폭</a:t>
            </a:r>
            <a:r>
              <a:rPr sz="850" b="1" i="0" dirty="0">
                <a:solidFill>
                  <a:srgbClr val="808080"/>
                </a:solidFill>
                <a:latin typeface="맑은 고딕"/>
                <a:ea typeface="맑은 고딕"/>
              </a:rPr>
              <a:t>  (1노드 </a:t>
            </a:r>
            <a:r>
              <a:rPr sz="850" b="1" i="0" dirty="0" err="1">
                <a:solidFill>
                  <a:srgbClr val="808080"/>
                </a:solidFill>
                <a:latin typeface="맑은 고딕"/>
                <a:ea typeface="맑은 고딕"/>
              </a:rPr>
              <a:t>기준</a:t>
            </a:r>
            <a:r>
              <a:rPr sz="850" b="1" i="0" dirty="0">
                <a:solidFill>
                  <a:srgbClr val="808080"/>
                </a:solidFill>
                <a:latin typeface="맑은 고딕"/>
                <a:ea typeface="맑은 고딕"/>
              </a:rPr>
              <a:t>)</a:t>
            </a:r>
          </a:p>
        </p:txBody>
      </p:sp>
      <p:sp>
        <p:nvSpPr>
          <p:cNvPr id="152" name="TextBox 151"/>
          <p:cNvSpPr txBox="1"/>
          <p:nvPr/>
        </p:nvSpPr>
        <p:spPr>
          <a:xfrm>
            <a:off x="361950" y="3533775"/>
            <a:ext cx="1733550" cy="200025"/>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HBF</a:t>
            </a:r>
          </a:p>
        </p:txBody>
      </p:sp>
      <p:sp>
        <p:nvSpPr>
          <p:cNvPr id="153" name="TextBox 152"/>
          <p:cNvSpPr txBox="1"/>
          <p:nvPr/>
        </p:nvSpPr>
        <p:spPr>
          <a:xfrm>
            <a:off x="2417233" y="353377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154" name="TextBox 153"/>
          <p:cNvSpPr txBox="1"/>
          <p:nvPr/>
        </p:nvSpPr>
        <p:spPr>
          <a:xfrm>
            <a:off x="9102328" y="3340608"/>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400 GB  ·  16.75 TB/s</a:t>
            </a:r>
          </a:p>
        </p:txBody>
      </p:sp>
      <p:sp>
        <p:nvSpPr>
          <p:cNvPr id="155" name="TextBox 154"/>
          <p:cNvSpPr txBox="1"/>
          <p:nvPr/>
        </p:nvSpPr>
        <p:spPr>
          <a:xfrm>
            <a:off x="9102328" y="3540633"/>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3.35 TB/s</a:t>
            </a:r>
          </a:p>
        </p:txBody>
      </p:sp>
      <p:sp>
        <p:nvSpPr>
          <p:cNvPr id="156" name="TextBox 155"/>
          <p:cNvSpPr txBox="1"/>
          <p:nvPr/>
        </p:nvSpPr>
        <p:spPr>
          <a:xfrm>
            <a:off x="9102328" y="3740658"/>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256 GB  ·  400 GB/s</a:t>
            </a:r>
          </a:p>
        </p:txBody>
      </p:sp>
      <p:sp>
        <p:nvSpPr>
          <p:cNvPr id="157" name="TextBox 156"/>
          <p:cNvSpPr txBox="1"/>
          <p:nvPr/>
        </p:nvSpPr>
        <p:spPr>
          <a:xfrm>
            <a:off x="9102328" y="3940683"/>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159" name="TextBox 158"/>
          <p:cNvSpPr txBox="1"/>
          <p:nvPr/>
        </p:nvSpPr>
        <p:spPr>
          <a:xfrm>
            <a:off x="361950" y="4282740"/>
            <a:ext cx="1177290" cy="167827"/>
          </a:xfrm>
          <a:prstGeom prst="rect">
            <a:avLst/>
          </a:prstGeom>
          <a:noFill/>
        </p:spPr>
        <p:txBody>
          <a:bodyPr wrap="square" lIns="0" tIns="0" rIns="0" bIns="0" anchor="ctr">
            <a:spAutoFit/>
          </a:bodyPr>
          <a:lstStyle/>
          <a:p>
            <a:r>
              <a:rPr lang="ko-KR" altLang="en-US" sz="1100" b="1" dirty="0" smtClean="0">
                <a:solidFill>
                  <a:srgbClr val="404040"/>
                </a:solidFill>
                <a:latin typeface="맑은 고딕"/>
                <a:ea typeface="맑은 고딕"/>
              </a:rPr>
              <a:t>전체 용량</a:t>
            </a:r>
            <a:r>
              <a:rPr lang="en-US" altLang="ko-KR" sz="1100" b="1" dirty="0" smtClean="0">
                <a:solidFill>
                  <a:srgbClr val="404040"/>
                </a:solidFill>
                <a:latin typeface="맑은 고딕"/>
                <a:ea typeface="맑은 고딕"/>
              </a:rPr>
              <a:t>, </a:t>
            </a:r>
            <a:r>
              <a:rPr lang="ko-KR" altLang="en-US" sz="1100" b="1" dirty="0" smtClean="0">
                <a:solidFill>
                  <a:srgbClr val="404040"/>
                </a:solidFill>
                <a:latin typeface="맑은 고딕"/>
                <a:ea typeface="맑은 고딕"/>
              </a:rPr>
              <a:t>대역폭</a:t>
            </a:r>
            <a:endParaRPr sz="1100" b="1" i="0" dirty="0">
              <a:solidFill>
                <a:srgbClr val="404040"/>
              </a:solidFill>
              <a:latin typeface="맑은 고딕"/>
              <a:ea typeface="맑은 고딕"/>
            </a:endParaRPr>
          </a:p>
        </p:txBody>
      </p:sp>
      <p:sp>
        <p:nvSpPr>
          <p:cNvPr id="176" name="TextBox 175"/>
          <p:cNvSpPr txBox="1"/>
          <p:nvPr/>
        </p:nvSpPr>
        <p:spPr>
          <a:xfrm>
            <a:off x="361950" y="5259038"/>
            <a:ext cx="1177290" cy="167827"/>
          </a:xfrm>
          <a:prstGeom prst="rect">
            <a:avLst/>
          </a:prstGeom>
          <a:noFill/>
        </p:spPr>
        <p:txBody>
          <a:bodyPr wrap="square" lIns="0" tIns="0" rIns="0" bIns="0" anchor="ctr">
            <a:spAutoFit/>
          </a:bodyPr>
          <a:lstStyle/>
          <a:p>
            <a:r>
              <a:rPr lang="ko-KR" altLang="en-US" sz="1100" b="1" dirty="0" smtClean="0">
                <a:solidFill>
                  <a:srgbClr val="404040"/>
                </a:solidFill>
                <a:latin typeface="맑은 고딕"/>
                <a:ea typeface="맑은 고딕"/>
              </a:rPr>
              <a:t>비용</a:t>
            </a:r>
            <a:endParaRPr sz="1100" b="1" i="0" dirty="0">
              <a:solidFill>
                <a:srgbClr val="404040"/>
              </a:solidFill>
              <a:latin typeface="맑은 고딕"/>
              <a:ea typeface="맑은 고딕"/>
            </a:endParaRPr>
          </a:p>
        </p:txBody>
      </p:sp>
    </p:spTree>
    <p:extLst>
      <p:ext uri="{BB962C8B-B14F-4D97-AF65-F5344CB8AC3E}">
        <p14:creationId xmlns:p14="http://schemas.microsoft.com/office/powerpoint/2010/main" val="181266832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sp>
        <p:nvSpPr>
          <p:cNvPr id="309" name="TextBox 308"/>
          <p:cNvSpPr txBox="1"/>
          <p:nvPr/>
        </p:nvSpPr>
        <p:spPr>
          <a:xfrm>
            <a:off x="2825796" y="3171825"/>
            <a:ext cx="2686050" cy="133350"/>
          </a:xfrm>
          <a:prstGeom prst="rect">
            <a:avLst/>
          </a:prstGeom>
          <a:noFill/>
        </p:spPr>
        <p:txBody>
          <a:bodyPr wrap="square" lIns="0" tIns="0" rIns="0" bIns="0" anchor="ctr">
            <a:spAutoFit/>
          </a:bodyPr>
          <a:lstStyle/>
          <a:p>
            <a:pPr algn="l"/>
            <a:r>
              <a:rPr sz="850" b="1" i="0" dirty="0" err="1">
                <a:solidFill>
                  <a:srgbClr val="808080"/>
                </a:solidFill>
                <a:latin typeface="맑은 고딕"/>
                <a:ea typeface="맑은 고딕"/>
              </a:rPr>
              <a:t>계층별</a:t>
            </a:r>
            <a:r>
              <a:rPr sz="850" b="1" i="0" dirty="0">
                <a:solidFill>
                  <a:srgbClr val="808080"/>
                </a:solidFill>
                <a:latin typeface="맑은 고딕"/>
                <a:ea typeface="맑은 고딕"/>
              </a:rPr>
              <a:t>  </a:t>
            </a:r>
            <a:r>
              <a:rPr sz="850" b="1" i="0" dirty="0" err="1">
                <a:solidFill>
                  <a:srgbClr val="808080"/>
                </a:solidFill>
                <a:latin typeface="맑은 고딕"/>
                <a:ea typeface="맑은 고딕"/>
              </a:rPr>
              <a:t>용량</a:t>
            </a:r>
            <a:r>
              <a:rPr sz="850" b="1" i="0" dirty="0">
                <a:solidFill>
                  <a:srgbClr val="808080"/>
                </a:solidFill>
                <a:latin typeface="맑은 고딕"/>
                <a:ea typeface="맑은 고딕"/>
              </a:rPr>
              <a:t>  ·  </a:t>
            </a:r>
            <a:r>
              <a:rPr sz="850" b="1" i="0" dirty="0" err="1">
                <a:solidFill>
                  <a:srgbClr val="808080"/>
                </a:solidFill>
                <a:latin typeface="맑은 고딕"/>
                <a:ea typeface="맑은 고딕"/>
              </a:rPr>
              <a:t>대역폭</a:t>
            </a:r>
            <a:r>
              <a:rPr sz="850" b="1" i="0" dirty="0">
                <a:solidFill>
                  <a:srgbClr val="808080"/>
                </a:solidFill>
                <a:latin typeface="맑은 고딕"/>
                <a:ea typeface="맑은 고딕"/>
              </a:rPr>
              <a:t>  (1노드 </a:t>
            </a:r>
            <a:r>
              <a:rPr sz="850" b="1" i="0" dirty="0" err="1">
                <a:solidFill>
                  <a:srgbClr val="808080"/>
                </a:solidFill>
                <a:latin typeface="맑은 고딕"/>
                <a:ea typeface="맑은 고딕"/>
              </a:rPr>
              <a:t>기준</a:t>
            </a:r>
            <a:r>
              <a:rPr sz="850" b="1" i="0" dirty="0">
                <a:solidFill>
                  <a:srgbClr val="808080"/>
                </a:solidFill>
                <a:latin typeface="맑은 고딕"/>
                <a:ea typeface="맑은 고딕"/>
              </a:rPr>
              <a:t>)</a:t>
            </a:r>
          </a:p>
        </p:txBody>
      </p:sp>
      <p:sp>
        <p:nvSpPr>
          <p:cNvPr id="310" name="TextBox 309"/>
          <p:cNvSpPr txBox="1"/>
          <p:nvPr/>
        </p:nvSpPr>
        <p:spPr>
          <a:xfrm>
            <a:off x="361950" y="333375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318" name="TextBox 317"/>
          <p:cNvSpPr txBox="1"/>
          <p:nvPr/>
        </p:nvSpPr>
        <p:spPr>
          <a:xfrm>
            <a:off x="361950" y="3554530"/>
            <a:ext cx="1733550" cy="209550"/>
          </a:xfrm>
          <a:prstGeom prst="rect">
            <a:avLst/>
          </a:prstGeom>
          <a:noFill/>
        </p:spPr>
        <p:txBody>
          <a:bodyPr wrap="square" lIns="0" tIns="0" rIns="0" bIns="0" anchor="ctr">
            <a:spAutoFit/>
          </a:bodyPr>
          <a:lstStyle/>
          <a:p>
            <a:pPr algn="l"/>
            <a:r>
              <a:rPr sz="900" b="0" i="0" dirty="0">
                <a:solidFill>
                  <a:srgbClr val="808080"/>
                </a:solidFill>
                <a:latin typeface="맑은 고딕"/>
                <a:ea typeface="맑은 고딕"/>
              </a:rPr>
              <a:t>CXL-PNM (DDR)</a:t>
            </a:r>
          </a:p>
        </p:txBody>
      </p:sp>
      <p:sp>
        <p:nvSpPr>
          <p:cNvPr id="322" name="TextBox 321"/>
          <p:cNvSpPr txBox="1"/>
          <p:nvPr/>
        </p:nvSpPr>
        <p:spPr>
          <a:xfrm>
            <a:off x="361950" y="3764080"/>
            <a:ext cx="1733550" cy="209550"/>
          </a:xfrm>
          <a:prstGeom prst="rect">
            <a:avLst/>
          </a:prstGeom>
          <a:noFill/>
        </p:spPr>
        <p:txBody>
          <a:bodyPr wrap="square" lIns="0" tIns="0" rIns="0" bIns="0" anchor="ctr">
            <a:spAutoFit/>
          </a:bodyPr>
          <a:lstStyle/>
          <a:p>
            <a:pPr algn="l"/>
            <a:r>
              <a:rPr sz="900" b="0" i="0" dirty="0">
                <a:solidFill>
                  <a:srgbClr val="808080"/>
                </a:solidFill>
                <a:latin typeface="맑은 고딕"/>
                <a:ea typeface="맑은 고딕"/>
              </a:rPr>
              <a:t>CPU DDR</a:t>
            </a:r>
          </a:p>
        </p:txBody>
      </p:sp>
      <p:sp>
        <p:nvSpPr>
          <p:cNvPr id="334" name="Rectangle 104"/>
          <p:cNvSpPr/>
          <p:nvPr/>
        </p:nvSpPr>
        <p:spPr>
          <a:xfrm>
            <a:off x="361951" y="4314296"/>
            <a:ext cx="8149828"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5" name="TextBox 334"/>
          <p:cNvSpPr txBox="1"/>
          <p:nvPr/>
        </p:nvSpPr>
        <p:spPr>
          <a:xfrm>
            <a:off x="438150" y="4345974"/>
            <a:ext cx="1657350" cy="146194"/>
          </a:xfrm>
          <a:prstGeom prst="rect">
            <a:avLst/>
          </a:prstGeom>
          <a:noFill/>
        </p:spPr>
        <p:txBody>
          <a:bodyPr wrap="square" lIns="0" tIns="0" rIns="0" bIns="0" anchor="ctr">
            <a:spAutoFit/>
          </a:bodyPr>
          <a:lstStyle/>
          <a:p>
            <a:pPr algn="l"/>
            <a:r>
              <a:rPr lang="en-US" sz="950" b="1" dirty="0" smtClean="0">
                <a:solidFill>
                  <a:srgbClr val="262626"/>
                </a:solidFill>
                <a:latin typeface="맑은 고딕"/>
                <a:ea typeface="맑은 고딕"/>
              </a:rPr>
              <a:t>HBM </a:t>
            </a:r>
            <a:r>
              <a:rPr sz="950" b="1" i="0" dirty="0" err="1" smtClean="0">
                <a:solidFill>
                  <a:srgbClr val="262626"/>
                </a:solidFill>
                <a:latin typeface="맑은 고딕"/>
                <a:ea typeface="맑은 고딕"/>
              </a:rPr>
              <a:t>용량</a:t>
            </a:r>
            <a:r>
              <a:rPr lang="en-US" sz="950" b="1" i="0" dirty="0" smtClean="0">
                <a:solidFill>
                  <a:srgbClr val="262626"/>
                </a:solidFill>
                <a:latin typeface="맑은 고딕"/>
                <a:ea typeface="맑은 고딕"/>
              </a:rPr>
              <a:t> </a:t>
            </a:r>
            <a:r>
              <a:rPr lang="en-US" sz="950" b="1" dirty="0" smtClean="0">
                <a:solidFill>
                  <a:srgbClr val="262626"/>
                </a:solidFill>
                <a:latin typeface="맑은 고딕"/>
                <a:ea typeface="맑은 고딕"/>
              </a:rPr>
              <a:t>(</a:t>
            </a:r>
            <a:r>
              <a:rPr lang="ko-KR" altLang="en-US" sz="950" b="1" dirty="0" smtClean="0">
                <a:solidFill>
                  <a:srgbClr val="262626"/>
                </a:solidFill>
                <a:latin typeface="맑은 고딕"/>
                <a:ea typeface="맑은 고딕"/>
              </a:rPr>
              <a:t>총합</a:t>
            </a:r>
            <a:r>
              <a:rPr lang="en-US" altLang="ko-KR" sz="950" b="1" dirty="0" smtClean="0">
                <a:solidFill>
                  <a:srgbClr val="262626"/>
                </a:solidFill>
                <a:latin typeface="맑은 고딕"/>
                <a:ea typeface="맑은 고딕"/>
              </a:rPr>
              <a:t>)</a:t>
            </a:r>
            <a:endParaRPr sz="950" b="1" i="0" dirty="0">
              <a:solidFill>
                <a:srgbClr val="262626"/>
              </a:solidFill>
              <a:latin typeface="맑은 고딕"/>
              <a:ea typeface="맑은 고딕"/>
            </a:endParaRPr>
          </a:p>
        </p:txBody>
      </p:sp>
      <p:sp>
        <p:nvSpPr>
          <p:cNvPr id="339" name="Rectangle 109"/>
          <p:cNvSpPr/>
          <p:nvPr/>
        </p:nvSpPr>
        <p:spPr>
          <a:xfrm>
            <a:off x="361951" y="4523846"/>
            <a:ext cx="8149828"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0" name="TextBox 339"/>
          <p:cNvSpPr txBox="1"/>
          <p:nvPr/>
        </p:nvSpPr>
        <p:spPr>
          <a:xfrm>
            <a:off x="438150" y="4555524"/>
            <a:ext cx="1657350" cy="146194"/>
          </a:xfrm>
          <a:prstGeom prst="rect">
            <a:avLst/>
          </a:prstGeom>
          <a:noFill/>
        </p:spPr>
        <p:txBody>
          <a:bodyPr wrap="square" lIns="0" tIns="0" rIns="0" bIns="0" anchor="ctr">
            <a:spAutoFit/>
          </a:bodyPr>
          <a:lstStyle/>
          <a:p>
            <a:pPr algn="l"/>
            <a:r>
              <a:rPr lang="en-US" sz="950" b="1" i="0" dirty="0" smtClean="0">
                <a:solidFill>
                  <a:srgbClr val="262626"/>
                </a:solidFill>
                <a:latin typeface="맑은 고딕"/>
                <a:ea typeface="맑은 고딕"/>
              </a:rPr>
              <a:t>HBM </a:t>
            </a:r>
            <a:r>
              <a:rPr sz="950" b="1" i="0" dirty="0" err="1" smtClean="0">
                <a:solidFill>
                  <a:srgbClr val="262626"/>
                </a:solidFill>
                <a:latin typeface="맑은 고딕"/>
                <a:ea typeface="맑은 고딕"/>
              </a:rPr>
              <a:t>대역폭</a:t>
            </a:r>
            <a:r>
              <a:rPr lang="en-US" sz="950" b="1" i="0" dirty="0" smtClean="0">
                <a:solidFill>
                  <a:srgbClr val="262626"/>
                </a:solidFill>
                <a:latin typeface="맑은 고딕"/>
                <a:ea typeface="맑은 고딕"/>
              </a:rPr>
              <a:t> (</a:t>
            </a:r>
            <a:r>
              <a:rPr lang="ko-KR" altLang="en-US" sz="950" b="1" i="0" dirty="0" smtClean="0">
                <a:solidFill>
                  <a:srgbClr val="262626"/>
                </a:solidFill>
                <a:latin typeface="맑은 고딕"/>
                <a:ea typeface="맑은 고딕"/>
              </a:rPr>
              <a:t>총합</a:t>
            </a:r>
            <a:r>
              <a:rPr lang="en-US" altLang="ko-KR" sz="950" b="1" i="0" dirty="0" smtClean="0">
                <a:solidFill>
                  <a:srgbClr val="262626"/>
                </a:solidFill>
                <a:latin typeface="맑은 고딕"/>
                <a:ea typeface="맑은 고딕"/>
              </a:rPr>
              <a:t>)</a:t>
            </a:r>
            <a:endParaRPr sz="950" b="1" i="0" dirty="0">
              <a:solidFill>
                <a:srgbClr val="262626"/>
              </a:solidFill>
              <a:latin typeface="맑은 고딕"/>
              <a:ea typeface="맑은 고딕"/>
            </a:endParaRPr>
          </a:p>
        </p:txBody>
      </p:sp>
      <p:sp>
        <p:nvSpPr>
          <p:cNvPr id="344" name="Rectangle 114"/>
          <p:cNvSpPr/>
          <p:nvPr/>
        </p:nvSpPr>
        <p:spPr>
          <a:xfrm>
            <a:off x="361951" y="4733396"/>
            <a:ext cx="8149828"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5" name="TextBox 344"/>
          <p:cNvSpPr txBox="1"/>
          <p:nvPr/>
        </p:nvSpPr>
        <p:spPr>
          <a:xfrm>
            <a:off x="438150" y="4765074"/>
            <a:ext cx="1657350" cy="146194"/>
          </a:xfrm>
          <a:prstGeom prst="rect">
            <a:avLst/>
          </a:prstGeom>
          <a:noFill/>
        </p:spPr>
        <p:txBody>
          <a:bodyPr wrap="square" lIns="0" tIns="0" rIns="0" bIns="0" anchor="ctr">
            <a:spAutoFit/>
          </a:bodyPr>
          <a:lstStyle/>
          <a:p>
            <a:pPr algn="l"/>
            <a:r>
              <a:rPr lang="en-US" sz="950" b="1" i="0" dirty="0" smtClean="0">
                <a:solidFill>
                  <a:srgbClr val="262626"/>
                </a:solidFill>
                <a:latin typeface="맑은 고딕"/>
                <a:ea typeface="맑은 고딕"/>
              </a:rPr>
              <a:t>HBM + DRAM </a:t>
            </a:r>
            <a:endParaRPr sz="950" b="1" i="0" dirty="0">
              <a:solidFill>
                <a:srgbClr val="262626"/>
              </a:solidFill>
              <a:latin typeface="맑은 고딕"/>
              <a:ea typeface="맑은 고딕"/>
            </a:endParaRPr>
          </a:p>
        </p:txBody>
      </p:sp>
      <p:sp>
        <p:nvSpPr>
          <p:cNvPr id="349" name="Rectangle 119"/>
          <p:cNvSpPr/>
          <p:nvPr/>
        </p:nvSpPr>
        <p:spPr>
          <a:xfrm>
            <a:off x="361951" y="5863768"/>
            <a:ext cx="8149828" cy="20955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0" name="TextBox 349"/>
          <p:cNvSpPr txBox="1"/>
          <p:nvPr/>
        </p:nvSpPr>
        <p:spPr>
          <a:xfrm>
            <a:off x="438150" y="5863768"/>
            <a:ext cx="1657350" cy="209550"/>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총 비용 (4노드)</a:t>
            </a:r>
          </a:p>
        </p:txBody>
      </p:sp>
      <p:sp>
        <p:nvSpPr>
          <p:cNvPr id="355" name="TextBox 354"/>
          <p:cNvSpPr txBox="1"/>
          <p:nvPr/>
        </p:nvSpPr>
        <p:spPr>
          <a:xfrm>
            <a:off x="424685" y="6352073"/>
            <a:ext cx="11521440" cy="420624"/>
          </a:xfrm>
          <a:prstGeom prst="rect">
            <a:avLst/>
          </a:prstGeom>
          <a:noFill/>
        </p:spPr>
        <p:txBody>
          <a:bodyPr wrap="square" lIns="0" tIns="0" rIns="0" bIns="0" anchor="t">
            <a:spAutoFit/>
          </a:bodyPr>
          <a:lstStyle/>
          <a:p>
            <a:pPr algn="l">
              <a:lnSpc>
                <a:spcPct val="130000"/>
              </a:lnSpc>
            </a:pPr>
            <a:r>
              <a:rPr sz="800" b="0" i="0" dirty="0">
                <a:solidFill>
                  <a:srgbClr val="808080"/>
                </a:solidFill>
                <a:latin typeface="맑은 고딕"/>
                <a:ea typeface="맑은 고딕"/>
              </a:rPr>
              <a:t>※ GPU = H100 SXM5 (132 SM · HBM3 80GB · 3.35 TB/s) · CPU DDR 175 GB/s × 2소켓 · CXL-PNM(</a:t>
            </a:r>
            <a:r>
              <a:rPr sz="800" b="0" i="0" dirty="0" err="1">
                <a:solidFill>
                  <a:srgbClr val="808080"/>
                </a:solidFill>
                <a:latin typeface="맑은 고딕"/>
                <a:ea typeface="맑은 고딕"/>
              </a:rPr>
              <a:t>Structera</a:t>
            </a:r>
            <a:r>
              <a:rPr sz="800" b="0" i="0" dirty="0">
                <a:solidFill>
                  <a:srgbClr val="808080"/>
                </a:solidFill>
                <a:latin typeface="맑은 고딕"/>
                <a:ea typeface="맑은 고딕"/>
              </a:rPr>
              <a:t> A) 200 GB/s × 4카드. </a:t>
            </a:r>
            <a:r>
              <a:rPr sz="800" b="0" i="0" dirty="0" err="1">
                <a:solidFill>
                  <a:srgbClr val="808080"/>
                </a:solidFill>
                <a:latin typeface="맑은 고딕"/>
                <a:ea typeface="맑은 고딕"/>
              </a:rPr>
              <a:t>용량</a:t>
            </a:r>
            <a:r>
              <a:rPr sz="800" b="0" i="0" dirty="0">
                <a:solidFill>
                  <a:srgbClr val="808080"/>
                </a:solidFill>
                <a:latin typeface="맑은 고딕"/>
                <a:ea typeface="맑은 고딕"/>
              </a:rPr>
              <a:t> · </a:t>
            </a:r>
            <a:r>
              <a:rPr sz="800" b="0" i="0" dirty="0" err="1">
                <a:solidFill>
                  <a:srgbClr val="808080"/>
                </a:solidFill>
                <a:latin typeface="맑은 고딕"/>
                <a:ea typeface="맑은 고딕"/>
              </a:rPr>
              <a:t>대역폭은</a:t>
            </a:r>
            <a:r>
              <a:rPr sz="800" b="0" i="0" dirty="0">
                <a:solidFill>
                  <a:srgbClr val="808080"/>
                </a:solidFill>
                <a:latin typeface="맑은 고딕"/>
                <a:ea typeface="맑은 고딕"/>
              </a:rPr>
              <a:t> 1노드 </a:t>
            </a:r>
            <a:r>
              <a:rPr sz="800" b="0" i="0" dirty="0" err="1">
                <a:solidFill>
                  <a:srgbClr val="808080"/>
                </a:solidFill>
                <a:latin typeface="맑은 고딕"/>
                <a:ea typeface="맑은 고딕"/>
              </a:rPr>
              <a:t>기준</a:t>
            </a:r>
            <a:r>
              <a:rPr sz="800" b="0" i="0" dirty="0">
                <a:solidFill>
                  <a:srgbClr val="808080"/>
                </a:solidFill>
                <a:latin typeface="맑은 고딕"/>
                <a:ea typeface="맑은 고딕"/>
              </a:rPr>
              <a:t>.</a:t>
            </a:r>
          </a:p>
          <a:p>
            <a:pPr algn="l">
              <a:lnSpc>
                <a:spcPct val="130000"/>
              </a:lnSpc>
            </a:pPr>
            <a:r>
              <a:rPr sz="800" b="0" i="0" dirty="0">
                <a:solidFill>
                  <a:srgbClr val="808080"/>
                </a:solidFill>
                <a:latin typeface="맑은 고딕"/>
                <a:ea typeface="맑은 고딕"/>
              </a:rPr>
              <a:t>※ </a:t>
            </a:r>
            <a:r>
              <a:rPr sz="800" b="0" i="0" dirty="0" err="1">
                <a:solidFill>
                  <a:srgbClr val="808080"/>
                </a:solidFill>
                <a:latin typeface="맑은 고딕"/>
                <a:ea typeface="맑은 고딕"/>
              </a:rPr>
              <a:t>신품</a:t>
            </a:r>
            <a:r>
              <a:rPr sz="800" b="0" i="0" dirty="0">
                <a:solidFill>
                  <a:srgbClr val="808080"/>
                </a:solidFill>
                <a:latin typeface="맑은 고딕"/>
                <a:ea typeface="맑은 고딕"/>
              </a:rPr>
              <a:t> </a:t>
            </a:r>
            <a:r>
              <a:rPr sz="800" b="0" i="0" dirty="0" err="1">
                <a:solidFill>
                  <a:srgbClr val="808080"/>
                </a:solidFill>
                <a:latin typeface="맑은 고딕"/>
                <a:ea typeface="맑은 고딕"/>
              </a:rPr>
              <a:t>단가</a:t>
            </a:r>
            <a:r>
              <a:rPr sz="800" b="0" i="0" dirty="0">
                <a:solidFill>
                  <a:srgbClr val="808080"/>
                </a:solidFill>
                <a:latin typeface="맑은 고딕"/>
                <a:ea typeface="맑은 고딕"/>
              </a:rPr>
              <a:t>(2026.10) H100 SXM5 80GB $30K(</a:t>
            </a:r>
            <a:r>
              <a:rPr sz="800" b="0" i="0" dirty="0" err="1">
                <a:solidFill>
                  <a:srgbClr val="808080"/>
                </a:solidFill>
                <a:latin typeface="맑은 고딕"/>
                <a:ea typeface="맑은 고딕"/>
              </a:rPr>
              <a:t>범위</a:t>
            </a:r>
            <a:r>
              <a:rPr sz="800" b="0" i="0" dirty="0">
                <a:solidFill>
                  <a:srgbClr val="808080"/>
                </a:solidFill>
                <a:latin typeface="맑은 고딕"/>
                <a:ea typeface="맑은 고딕"/>
              </a:rPr>
              <a:t> $25~35K, HBM </a:t>
            </a:r>
            <a:r>
              <a:rPr sz="800" b="0" i="0" dirty="0" err="1">
                <a:solidFill>
                  <a:srgbClr val="808080"/>
                </a:solidFill>
                <a:latin typeface="맑은 고딕"/>
                <a:ea typeface="맑은 고딕"/>
              </a:rPr>
              <a:t>포함</a:t>
            </a:r>
            <a:r>
              <a:rPr sz="800" b="0" i="0" dirty="0">
                <a:solidFill>
                  <a:srgbClr val="808080"/>
                </a:solidFill>
                <a:latin typeface="맑은 고딕"/>
                <a:ea typeface="맑은 고딕"/>
              </a:rPr>
              <a:t>) · DDR5 RDIMM $35/GB · </a:t>
            </a:r>
            <a:r>
              <a:rPr sz="800" b="0" i="0" dirty="0" err="1">
                <a:solidFill>
                  <a:srgbClr val="808080"/>
                </a:solidFill>
                <a:latin typeface="맑은 고딕"/>
                <a:ea typeface="맑은 고딕"/>
              </a:rPr>
              <a:t>엔터프라이즈</a:t>
            </a:r>
            <a:r>
              <a:rPr sz="800" b="0" i="0" dirty="0">
                <a:solidFill>
                  <a:srgbClr val="808080"/>
                </a:solidFill>
                <a:latin typeface="맑은 고딕"/>
                <a:ea typeface="맑은 고딕"/>
              </a:rPr>
              <a:t> </a:t>
            </a:r>
            <a:r>
              <a:rPr sz="800" b="0" i="0" dirty="0" err="1">
                <a:solidFill>
                  <a:srgbClr val="808080"/>
                </a:solidFill>
                <a:latin typeface="맑은 고딕"/>
                <a:ea typeface="맑은 고딕"/>
              </a:rPr>
              <a:t>NVMe·PIM-SSD</a:t>
            </a:r>
            <a:r>
              <a:rPr sz="800" b="0" i="0" dirty="0">
                <a:solidFill>
                  <a:srgbClr val="808080"/>
                </a:solidFill>
                <a:latin typeface="맑은 고딕"/>
                <a:ea typeface="맑은 고딕"/>
              </a:rPr>
              <a:t> $0.45/GB · PNM </a:t>
            </a:r>
            <a:r>
              <a:rPr sz="800" b="0" i="0" dirty="0" err="1">
                <a:solidFill>
                  <a:srgbClr val="808080"/>
                </a:solidFill>
                <a:latin typeface="맑은 고딕"/>
                <a:ea typeface="맑은 고딕"/>
              </a:rPr>
              <a:t>카드</a:t>
            </a:r>
            <a:r>
              <a:rPr sz="800" b="0" i="0" dirty="0">
                <a:solidFill>
                  <a:srgbClr val="808080"/>
                </a:solidFill>
                <a:latin typeface="맑은 고딕"/>
                <a:ea typeface="맑은 고딕"/>
              </a:rPr>
              <a:t> $1.5K(</a:t>
            </a:r>
            <a:r>
              <a:rPr sz="800" b="0" i="0" dirty="0" err="1">
                <a:solidFill>
                  <a:srgbClr val="808080"/>
                </a:solidFill>
                <a:latin typeface="맑은 고딕"/>
                <a:ea typeface="맑은 고딕"/>
              </a:rPr>
              <a:t>가정</a:t>
            </a:r>
            <a:r>
              <a:rPr sz="800" b="0" i="0" dirty="0">
                <a:solidFill>
                  <a:srgbClr val="808080"/>
                </a:solidFill>
                <a:latin typeface="맑은 고딕"/>
                <a:ea typeface="맑은 고딕"/>
              </a:rPr>
              <a:t>). 4노드 </a:t>
            </a:r>
            <a:r>
              <a:rPr sz="800" b="0" i="0" dirty="0" err="1">
                <a:solidFill>
                  <a:srgbClr val="808080"/>
                </a:solidFill>
                <a:latin typeface="맑은 고딕"/>
                <a:ea typeface="맑은 고딕"/>
              </a:rPr>
              <a:t>합계</a:t>
            </a:r>
            <a:r>
              <a:rPr sz="800" b="0" i="0" dirty="0">
                <a:solidFill>
                  <a:srgbClr val="808080"/>
                </a:solidFill>
                <a:latin typeface="맑은 고딕"/>
                <a:ea typeface="맑은 고딕"/>
              </a:rPr>
              <a:t>, </a:t>
            </a:r>
            <a:r>
              <a:rPr sz="800" b="0" i="0" dirty="0" err="1">
                <a:solidFill>
                  <a:srgbClr val="808080"/>
                </a:solidFill>
                <a:latin typeface="맑은 고딕"/>
                <a:ea typeface="맑은 고딕"/>
              </a:rPr>
              <a:t>CPU·보드·전원은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제외</a:t>
            </a:r>
            <a:r>
              <a:rPr sz="800" b="0" i="0" dirty="0">
                <a:solidFill>
                  <a:srgbClr val="808080"/>
                </a:solidFill>
                <a:latin typeface="맑은 고딕"/>
                <a:ea typeface="맑은 고딕"/>
              </a:rPr>
              <a:t>.</a:t>
            </a:r>
          </a:p>
        </p:txBody>
      </p:sp>
      <p:sp>
        <p:nvSpPr>
          <p:cNvPr id="356" name="Rectangle N1"/>
          <p:cNvSpPr/>
          <p:nvPr/>
        </p:nvSpPr>
        <p:spPr>
          <a:xfrm>
            <a:off x="361951" y="5444668"/>
            <a:ext cx="8149828"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7" name="TextBox NL1"/>
          <p:cNvSpPr txBox="1"/>
          <p:nvPr/>
        </p:nvSpPr>
        <p:spPr>
          <a:xfrm>
            <a:off x="438150" y="5444668"/>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메모리·SSD</a:t>
            </a:r>
            <a:r>
              <a:rPr sz="950" b="1" i="0" dirty="0">
                <a:solidFill>
                  <a:srgbClr val="262626"/>
                </a:solidFill>
                <a:latin typeface="맑은 고딕"/>
                <a:ea typeface="맑은 고딕"/>
              </a:rPr>
              <a:t> </a:t>
            </a:r>
            <a:r>
              <a:rPr sz="950" b="1" i="0" dirty="0" err="1">
                <a:solidFill>
                  <a:srgbClr val="262626"/>
                </a:solidFill>
                <a:latin typeface="맑은 고딕"/>
                <a:ea typeface="맑은 고딕"/>
              </a:rPr>
              <a:t>비용</a:t>
            </a:r>
            <a:r>
              <a:rPr sz="950" b="1" i="0" dirty="0">
                <a:solidFill>
                  <a:srgbClr val="262626"/>
                </a:solidFill>
                <a:latin typeface="맑은 고딕"/>
                <a:ea typeface="맑은 고딕"/>
              </a:rPr>
              <a:t> (4노드)</a:t>
            </a:r>
          </a:p>
        </p:txBody>
      </p:sp>
      <p:sp>
        <p:nvSpPr>
          <p:cNvPr id="361" name="Rectangle N2"/>
          <p:cNvSpPr/>
          <p:nvPr/>
        </p:nvSpPr>
        <p:spPr>
          <a:xfrm>
            <a:off x="361951" y="5654218"/>
            <a:ext cx="8149828"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2" name="TextBox NL2"/>
          <p:cNvSpPr txBox="1"/>
          <p:nvPr/>
        </p:nvSpPr>
        <p:spPr>
          <a:xfrm>
            <a:off x="438150" y="5654218"/>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카드 비용 (4노드)</a:t>
            </a:r>
          </a:p>
        </p:txBody>
      </p:sp>
      <p:sp>
        <p:nvSpPr>
          <p:cNvPr id="121" name="Rectangle 5"/>
          <p:cNvSpPr/>
          <p:nvPr/>
        </p:nvSpPr>
        <p:spPr>
          <a:xfrm>
            <a:off x="2027096" y="881956"/>
            <a:ext cx="3169444" cy="21984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950" b="1" i="0" dirty="0" smtClean="0">
                <a:solidFill>
                  <a:srgbClr val="FFFFFF"/>
                </a:solidFill>
                <a:latin typeface="맑은 고딕"/>
                <a:ea typeface="맑은 고딕"/>
              </a:rPr>
              <a:t>HBM</a:t>
            </a:r>
            <a:r>
              <a:rPr lang="en-US" sz="950" b="1" dirty="0">
                <a:solidFill>
                  <a:srgbClr val="FFFFFF"/>
                </a:solidFill>
                <a:latin typeface="맑은 고딕"/>
                <a:ea typeface="맑은 고딕"/>
              </a:rPr>
              <a:t>*</a:t>
            </a:r>
            <a:r>
              <a:rPr sz="950" b="1" i="0" dirty="0" smtClean="0">
                <a:solidFill>
                  <a:srgbClr val="FFFFFF"/>
                </a:solidFill>
                <a:latin typeface="맑은 고딕"/>
                <a:ea typeface="맑은 고딕"/>
              </a:rPr>
              <a:t>8</a:t>
            </a:r>
            <a:r>
              <a:rPr lang="en-US" sz="950" b="1" i="0" dirty="0" smtClean="0">
                <a:solidFill>
                  <a:srgbClr val="FFFFFF"/>
                </a:solidFill>
                <a:latin typeface="맑은 고딕"/>
                <a:ea typeface="맑은 고딕"/>
              </a:rPr>
              <a:t> + </a:t>
            </a:r>
            <a:r>
              <a:rPr lang="en-US" sz="950" b="1" dirty="0" smtClean="0">
                <a:solidFill>
                  <a:srgbClr val="FFFFFF"/>
                </a:solidFill>
                <a:latin typeface="맑은 고딕"/>
                <a:ea typeface="맑은 고딕"/>
              </a:rPr>
              <a:t>DRAM*2 + SSD</a:t>
            </a:r>
            <a:endParaRPr sz="950" b="1" i="0" dirty="0">
              <a:solidFill>
                <a:srgbClr val="FFFFFF"/>
              </a:solidFill>
              <a:latin typeface="맑은 고딕"/>
              <a:ea typeface="맑은 고딕"/>
            </a:endParaRPr>
          </a:p>
        </p:txBody>
      </p:sp>
      <p:sp>
        <p:nvSpPr>
          <p:cNvPr id="242" name="Rectangle 12"/>
          <p:cNvSpPr/>
          <p:nvPr/>
        </p:nvSpPr>
        <p:spPr>
          <a:xfrm>
            <a:off x="2027096" y="1133475"/>
            <a:ext cx="3169444"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3" name="Rectangle 13"/>
          <p:cNvSpPr/>
          <p:nvPr/>
        </p:nvSpPr>
        <p:spPr>
          <a:xfrm>
            <a:off x="2128518"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44" name="Rectangle 14"/>
          <p:cNvSpPr/>
          <p:nvPr/>
        </p:nvSpPr>
        <p:spPr>
          <a:xfrm>
            <a:off x="2128518"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5" name="Rectangle 15"/>
          <p:cNvSpPr/>
          <p:nvPr/>
        </p:nvSpPr>
        <p:spPr>
          <a:xfrm>
            <a:off x="2870167"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46" name="Rectangle 16"/>
          <p:cNvSpPr/>
          <p:nvPr/>
        </p:nvSpPr>
        <p:spPr>
          <a:xfrm>
            <a:off x="2870167"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7" name="Rectangle 17"/>
          <p:cNvSpPr/>
          <p:nvPr/>
        </p:nvSpPr>
        <p:spPr>
          <a:xfrm>
            <a:off x="3611818"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48" name="Rectangle 18"/>
          <p:cNvSpPr/>
          <p:nvPr/>
        </p:nvSpPr>
        <p:spPr>
          <a:xfrm>
            <a:off x="3611818"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9" name="Rectangle 19"/>
          <p:cNvSpPr/>
          <p:nvPr/>
        </p:nvSpPr>
        <p:spPr>
          <a:xfrm>
            <a:off x="4353469"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50" name="Rectangle 20"/>
          <p:cNvSpPr/>
          <p:nvPr/>
        </p:nvSpPr>
        <p:spPr>
          <a:xfrm>
            <a:off x="4353469"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1" name="Rectangle 21"/>
          <p:cNvSpPr/>
          <p:nvPr/>
        </p:nvSpPr>
        <p:spPr>
          <a:xfrm>
            <a:off x="2128518"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dirty="0">
                <a:solidFill>
                  <a:srgbClr val="262626"/>
                </a:solidFill>
                <a:latin typeface="맑은 고딕"/>
                <a:ea typeface="맑은 고딕"/>
              </a:rPr>
              <a:t>CPU0</a:t>
            </a:r>
          </a:p>
          <a:p>
            <a:pPr algn="ctr">
              <a:lnSpc>
                <a:spcPct val="115000"/>
              </a:lnSpc>
            </a:pPr>
            <a:r>
              <a:rPr sz="750" b="0" i="0" dirty="0" smtClean="0">
                <a:solidFill>
                  <a:srgbClr val="262626"/>
                </a:solidFill>
                <a:latin typeface="맑은 고딕"/>
                <a:ea typeface="맑은 고딕"/>
              </a:rPr>
              <a:t>56</a:t>
            </a:r>
            <a:r>
              <a:rPr lang="en-US" sz="750" b="0" i="0" dirty="0" smtClean="0">
                <a:solidFill>
                  <a:srgbClr val="262626"/>
                </a:solidFill>
                <a:latin typeface="맑은 고딕"/>
                <a:ea typeface="맑은 고딕"/>
              </a:rPr>
              <a:t> </a:t>
            </a:r>
            <a:r>
              <a:rPr lang="en-US" altLang="ko-KR" sz="750" dirty="0">
                <a:solidFill>
                  <a:srgbClr val="262626"/>
                </a:solidFill>
                <a:ea typeface="맑은 고딕"/>
              </a:rPr>
              <a:t>cores</a:t>
            </a:r>
            <a:r>
              <a:rPr sz="750" b="0" i="0" dirty="0" smtClean="0">
                <a:solidFill>
                  <a:srgbClr val="262626"/>
                </a:solidFill>
                <a:latin typeface="맑은 고딕"/>
                <a:ea typeface="맑은 고딕"/>
              </a:rPr>
              <a:t> </a:t>
            </a:r>
            <a:r>
              <a:rPr sz="750" b="0" i="0" dirty="0">
                <a:solidFill>
                  <a:srgbClr val="262626"/>
                </a:solidFill>
                <a:latin typeface="맑은 고딕"/>
                <a:ea typeface="맑은 고딕"/>
              </a:rPr>
              <a:t>· DDR 512GB</a:t>
            </a:r>
          </a:p>
        </p:txBody>
      </p:sp>
      <p:sp>
        <p:nvSpPr>
          <p:cNvPr id="252" name="Rectangle 22"/>
          <p:cNvSpPr/>
          <p:nvPr/>
        </p:nvSpPr>
        <p:spPr>
          <a:xfrm>
            <a:off x="3611818"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53" name="Rectangle 23"/>
          <p:cNvSpPr/>
          <p:nvPr/>
        </p:nvSpPr>
        <p:spPr>
          <a:xfrm>
            <a:off x="2128518"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254" name="Rectangle 24"/>
          <p:cNvSpPr/>
          <p:nvPr/>
        </p:nvSpPr>
        <p:spPr>
          <a:xfrm>
            <a:off x="2128518"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5" name="Rectangle 25"/>
          <p:cNvSpPr/>
          <p:nvPr/>
        </p:nvSpPr>
        <p:spPr>
          <a:xfrm>
            <a:off x="2870167"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256" name="Rectangle 26"/>
          <p:cNvSpPr/>
          <p:nvPr/>
        </p:nvSpPr>
        <p:spPr>
          <a:xfrm>
            <a:off x="2870167"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7" name="Rectangle 27"/>
          <p:cNvSpPr/>
          <p:nvPr/>
        </p:nvSpPr>
        <p:spPr>
          <a:xfrm>
            <a:off x="3611818"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GPU6</a:t>
            </a:r>
          </a:p>
        </p:txBody>
      </p:sp>
      <p:sp>
        <p:nvSpPr>
          <p:cNvPr id="258" name="Rectangle 28"/>
          <p:cNvSpPr/>
          <p:nvPr/>
        </p:nvSpPr>
        <p:spPr>
          <a:xfrm>
            <a:off x="3611818"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9" name="Rectangle 29"/>
          <p:cNvSpPr/>
          <p:nvPr/>
        </p:nvSpPr>
        <p:spPr>
          <a:xfrm>
            <a:off x="4353469" y="2181225"/>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GPU7</a:t>
            </a:r>
          </a:p>
        </p:txBody>
      </p:sp>
      <p:sp>
        <p:nvSpPr>
          <p:cNvPr id="260" name="Rectangle 30"/>
          <p:cNvSpPr/>
          <p:nvPr/>
        </p:nvSpPr>
        <p:spPr>
          <a:xfrm>
            <a:off x="4353469" y="2409825"/>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1" name="Rectangle 31"/>
          <p:cNvSpPr/>
          <p:nvPr/>
        </p:nvSpPr>
        <p:spPr>
          <a:xfrm>
            <a:off x="2128518" y="2762250"/>
            <a:ext cx="2922227"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311" name="TextBox 310"/>
          <p:cNvSpPr txBox="1"/>
          <p:nvPr/>
        </p:nvSpPr>
        <p:spPr>
          <a:xfrm>
            <a:off x="2027096" y="3333750"/>
            <a:ext cx="3169444" cy="209550"/>
          </a:xfrm>
          <a:prstGeom prst="rect">
            <a:avLst/>
          </a:prstGeom>
          <a:noFill/>
        </p:spPr>
        <p:txBody>
          <a:bodyPr wrap="square" lIns="0" tIns="0" rIns="0" bIns="0" anchor="ctr">
            <a:spAutoFit/>
          </a:bodyPr>
          <a:lstStyle/>
          <a:p>
            <a:pPr algn="ctr"/>
            <a:r>
              <a:rPr sz="900" b="0" i="0" dirty="0">
                <a:solidFill>
                  <a:srgbClr val="404040"/>
                </a:solidFill>
                <a:latin typeface="맑은 고딕"/>
                <a:ea typeface="맑은 고딕"/>
              </a:rPr>
              <a:t>640 GB  ·  26.8 TB/s</a:t>
            </a:r>
          </a:p>
        </p:txBody>
      </p:sp>
      <p:sp>
        <p:nvSpPr>
          <p:cNvPr id="319" name="TextBox 318"/>
          <p:cNvSpPr txBox="1"/>
          <p:nvPr/>
        </p:nvSpPr>
        <p:spPr>
          <a:xfrm>
            <a:off x="2027096" y="3554530"/>
            <a:ext cx="3169444"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23" name="TextBox 322"/>
          <p:cNvSpPr txBox="1"/>
          <p:nvPr/>
        </p:nvSpPr>
        <p:spPr>
          <a:xfrm>
            <a:off x="2027096" y="3764080"/>
            <a:ext cx="3169444"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36" name="TextBox 335"/>
          <p:cNvSpPr txBox="1"/>
          <p:nvPr/>
        </p:nvSpPr>
        <p:spPr>
          <a:xfrm>
            <a:off x="2027096" y="4314296"/>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640 GB  (1.00×)</a:t>
            </a:r>
          </a:p>
        </p:txBody>
      </p:sp>
      <p:sp>
        <p:nvSpPr>
          <p:cNvPr id="341" name="TextBox 340"/>
          <p:cNvSpPr txBox="1"/>
          <p:nvPr/>
        </p:nvSpPr>
        <p:spPr>
          <a:xfrm>
            <a:off x="2027096" y="4523846"/>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26.8 TB/s  (1.00×)</a:t>
            </a:r>
          </a:p>
        </p:txBody>
      </p:sp>
      <p:sp>
        <p:nvSpPr>
          <p:cNvPr id="346" name="TextBox 345"/>
          <p:cNvSpPr txBox="1"/>
          <p:nvPr/>
        </p:nvSpPr>
        <p:spPr>
          <a:xfrm>
            <a:off x="2027096" y="4765074"/>
            <a:ext cx="3169444" cy="146194"/>
          </a:xfrm>
          <a:prstGeom prst="rect">
            <a:avLst/>
          </a:prstGeom>
          <a:noFill/>
        </p:spPr>
        <p:txBody>
          <a:bodyPr wrap="square" lIns="0" tIns="0" rIns="0" bIns="0" anchor="ctr">
            <a:spAutoFit/>
          </a:bodyPr>
          <a:lstStyle/>
          <a:p>
            <a:pPr algn="ctr"/>
            <a:r>
              <a:rPr lang="en-US" sz="950" b="1" i="0" dirty="0" smtClean="0">
                <a:solidFill>
                  <a:srgbClr val="262626"/>
                </a:solidFill>
                <a:latin typeface="맑은 고딕"/>
                <a:ea typeface="맑은 고딕"/>
              </a:rPr>
              <a:t>1,664</a:t>
            </a:r>
            <a:r>
              <a:rPr sz="950" b="1" i="0" dirty="0" smtClean="0">
                <a:solidFill>
                  <a:srgbClr val="262626"/>
                </a:solidFill>
                <a:latin typeface="맑은 고딕"/>
                <a:ea typeface="맑은 고딕"/>
              </a:rPr>
              <a:t> </a:t>
            </a:r>
            <a:r>
              <a:rPr sz="950" b="1" i="0" dirty="0">
                <a:solidFill>
                  <a:srgbClr val="262626"/>
                </a:solidFill>
                <a:latin typeface="맑은 고딕"/>
                <a:ea typeface="맑은 고딕"/>
              </a:rPr>
              <a:t>GB  (1.00×)</a:t>
            </a:r>
          </a:p>
        </p:txBody>
      </p:sp>
      <p:sp>
        <p:nvSpPr>
          <p:cNvPr id="351" name="TextBox 350"/>
          <p:cNvSpPr txBox="1"/>
          <p:nvPr/>
        </p:nvSpPr>
        <p:spPr>
          <a:xfrm>
            <a:off x="2027096" y="5863768"/>
            <a:ext cx="3169444"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$1,132K  (1.00×)</a:t>
            </a:r>
          </a:p>
        </p:txBody>
      </p:sp>
      <p:sp>
        <p:nvSpPr>
          <p:cNvPr id="358" name="TextBox NB1"/>
          <p:cNvSpPr txBox="1"/>
          <p:nvPr/>
        </p:nvSpPr>
        <p:spPr>
          <a:xfrm>
            <a:off x="2027096" y="5444668"/>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$172K  (1.00×)</a:t>
            </a:r>
          </a:p>
        </p:txBody>
      </p:sp>
      <p:sp>
        <p:nvSpPr>
          <p:cNvPr id="363" name="TextBox NB2"/>
          <p:cNvSpPr txBox="1"/>
          <p:nvPr/>
        </p:nvSpPr>
        <p:spPr>
          <a:xfrm>
            <a:off x="2027096" y="5654218"/>
            <a:ext cx="3169444"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$960K  (1.00×)</a:t>
            </a:r>
          </a:p>
        </p:txBody>
      </p:sp>
      <p:sp>
        <p:nvSpPr>
          <p:cNvPr id="236" name="Rectangle 6"/>
          <p:cNvSpPr/>
          <p:nvPr/>
        </p:nvSpPr>
        <p:spPr>
          <a:xfrm>
            <a:off x="5342334" y="881956"/>
            <a:ext cx="3169444" cy="21984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950" b="1" i="0" dirty="0" smtClean="0">
                <a:solidFill>
                  <a:srgbClr val="FFFFFF"/>
                </a:solidFill>
                <a:latin typeface="맑은 고딕"/>
                <a:ea typeface="맑은 고딕"/>
              </a:rPr>
              <a:t>HBM</a:t>
            </a:r>
            <a:r>
              <a:rPr lang="en-US" sz="950" b="1" dirty="0">
                <a:solidFill>
                  <a:srgbClr val="FFFFFF"/>
                </a:solidFill>
                <a:latin typeface="맑은 고딕"/>
                <a:ea typeface="맑은 고딕"/>
              </a:rPr>
              <a:t>*</a:t>
            </a:r>
            <a:r>
              <a:rPr sz="950" b="1" i="0" dirty="0" smtClean="0">
                <a:solidFill>
                  <a:srgbClr val="FFFFFF"/>
                </a:solidFill>
                <a:latin typeface="맑은 고딕"/>
                <a:ea typeface="맑은 고딕"/>
              </a:rPr>
              <a:t>4 + </a:t>
            </a:r>
            <a:r>
              <a:rPr lang="en-US" sz="950" b="1" i="0" dirty="0" smtClean="0">
                <a:solidFill>
                  <a:srgbClr val="FFFFFF"/>
                </a:solidFill>
                <a:latin typeface="맑은 고딕"/>
                <a:ea typeface="맑은 고딕"/>
              </a:rPr>
              <a:t>DRAM*2 + </a:t>
            </a:r>
            <a:r>
              <a:rPr sz="950" b="1" i="0" dirty="0" smtClean="0">
                <a:solidFill>
                  <a:srgbClr val="FFFFFF"/>
                </a:solidFill>
                <a:latin typeface="맑은 고딕"/>
                <a:ea typeface="맑은 고딕"/>
              </a:rPr>
              <a:t>CXL-PNM</a:t>
            </a:r>
            <a:r>
              <a:rPr lang="en-US" sz="950" b="1" i="0" dirty="0" smtClean="0">
                <a:solidFill>
                  <a:srgbClr val="FFFFFF"/>
                </a:solidFill>
                <a:latin typeface="맑은 고딕"/>
                <a:ea typeface="맑은 고딕"/>
              </a:rPr>
              <a:t>*</a:t>
            </a:r>
            <a:r>
              <a:rPr sz="950" b="1" i="0" dirty="0" smtClean="0">
                <a:solidFill>
                  <a:srgbClr val="FFFFFF"/>
                </a:solidFill>
                <a:latin typeface="맑은 고딕"/>
                <a:ea typeface="맑은 고딕"/>
              </a:rPr>
              <a:t>4</a:t>
            </a:r>
            <a:r>
              <a:rPr lang="en-US" sz="950" b="1" i="0" dirty="0" smtClean="0">
                <a:solidFill>
                  <a:srgbClr val="FFFFFF"/>
                </a:solidFill>
                <a:latin typeface="맑은 고딕"/>
                <a:ea typeface="맑은 고딕"/>
              </a:rPr>
              <a:t> </a:t>
            </a:r>
            <a:r>
              <a:rPr lang="en-US" sz="950" b="1" i="0" dirty="0" smtClean="0">
                <a:solidFill>
                  <a:srgbClr val="FFFFFF"/>
                </a:solidFill>
                <a:latin typeface="맑은 고딕"/>
                <a:ea typeface="맑은 고딕"/>
              </a:rPr>
              <a:t>+ </a:t>
            </a:r>
            <a:r>
              <a:rPr lang="en-US" sz="950" b="1" dirty="0" smtClean="0">
                <a:solidFill>
                  <a:srgbClr val="FFFFFF"/>
                </a:solidFill>
                <a:latin typeface="맑은 고딕"/>
                <a:ea typeface="맑은 고딕"/>
              </a:rPr>
              <a:t>PIM-SSD</a:t>
            </a:r>
            <a:endParaRPr sz="950" b="1" i="0" dirty="0">
              <a:solidFill>
                <a:srgbClr val="FFFFFF"/>
              </a:solidFill>
              <a:latin typeface="맑은 고딕"/>
              <a:ea typeface="맑은 고딕"/>
            </a:endParaRPr>
          </a:p>
        </p:txBody>
      </p:sp>
      <p:sp>
        <p:nvSpPr>
          <p:cNvPr id="262" name="Rectangle 32"/>
          <p:cNvSpPr/>
          <p:nvPr/>
        </p:nvSpPr>
        <p:spPr>
          <a:xfrm>
            <a:off x="5342334" y="1133475"/>
            <a:ext cx="3169444"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3" name="Rectangle 33"/>
          <p:cNvSpPr/>
          <p:nvPr/>
        </p:nvSpPr>
        <p:spPr>
          <a:xfrm>
            <a:off x="5443756"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64" name="Rectangle 34"/>
          <p:cNvSpPr/>
          <p:nvPr/>
        </p:nvSpPr>
        <p:spPr>
          <a:xfrm>
            <a:off x="5443756"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5" name="Rectangle 35"/>
          <p:cNvSpPr/>
          <p:nvPr/>
        </p:nvSpPr>
        <p:spPr>
          <a:xfrm>
            <a:off x="6185405"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66" name="Rectangle 36"/>
          <p:cNvSpPr/>
          <p:nvPr/>
        </p:nvSpPr>
        <p:spPr>
          <a:xfrm>
            <a:off x="6185405"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7" name="Rectangle 37"/>
          <p:cNvSpPr/>
          <p:nvPr/>
        </p:nvSpPr>
        <p:spPr>
          <a:xfrm>
            <a:off x="6927056"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68" name="Rectangle 38"/>
          <p:cNvSpPr/>
          <p:nvPr/>
        </p:nvSpPr>
        <p:spPr>
          <a:xfrm>
            <a:off x="6927056"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9" name="Rectangle 39"/>
          <p:cNvSpPr/>
          <p:nvPr/>
        </p:nvSpPr>
        <p:spPr>
          <a:xfrm>
            <a:off x="7668707" y="1181100"/>
            <a:ext cx="697278"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70" name="Rectangle 40"/>
          <p:cNvSpPr/>
          <p:nvPr/>
        </p:nvSpPr>
        <p:spPr>
          <a:xfrm>
            <a:off x="7668707" y="1409700"/>
            <a:ext cx="697278"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71" name="Rectangle 41"/>
          <p:cNvSpPr/>
          <p:nvPr/>
        </p:nvSpPr>
        <p:spPr>
          <a:xfrm>
            <a:off x="5443756"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dirty="0">
                <a:solidFill>
                  <a:srgbClr val="262626"/>
                </a:solidFill>
                <a:latin typeface="맑은 고딕"/>
                <a:ea typeface="맑은 고딕"/>
              </a:rPr>
              <a:t>CPU0</a:t>
            </a:r>
          </a:p>
          <a:p>
            <a:pPr algn="ctr">
              <a:lnSpc>
                <a:spcPct val="115000"/>
              </a:lnSpc>
            </a:pPr>
            <a:r>
              <a:rPr sz="750" b="0" i="0" dirty="0" smtClean="0">
                <a:solidFill>
                  <a:srgbClr val="262626"/>
                </a:solidFill>
                <a:latin typeface="맑은 고딕"/>
                <a:ea typeface="맑은 고딕"/>
              </a:rPr>
              <a:t>56</a:t>
            </a:r>
            <a:r>
              <a:rPr lang="en-US" sz="750" b="0" i="0" dirty="0" smtClean="0">
                <a:solidFill>
                  <a:srgbClr val="262626"/>
                </a:solidFill>
                <a:latin typeface="맑은 고딕"/>
                <a:ea typeface="맑은 고딕"/>
              </a:rPr>
              <a:t> </a:t>
            </a:r>
            <a:r>
              <a:rPr lang="en-US" altLang="ko-KR" sz="750" dirty="0">
                <a:solidFill>
                  <a:srgbClr val="262626"/>
                </a:solidFill>
                <a:ea typeface="맑은 고딕"/>
              </a:rPr>
              <a:t>cores</a:t>
            </a:r>
            <a:r>
              <a:rPr sz="750" b="0" i="0" dirty="0" smtClean="0">
                <a:solidFill>
                  <a:srgbClr val="262626"/>
                </a:solidFill>
                <a:latin typeface="맑은 고딕"/>
                <a:ea typeface="맑은 고딕"/>
              </a:rPr>
              <a:t> </a:t>
            </a:r>
            <a:r>
              <a:rPr sz="750" b="0" i="0" dirty="0">
                <a:solidFill>
                  <a:srgbClr val="262626"/>
                </a:solidFill>
                <a:latin typeface="맑은 고딕"/>
                <a:ea typeface="맑은 고딕"/>
              </a:rPr>
              <a:t>· DDR 512GB</a:t>
            </a:r>
          </a:p>
        </p:txBody>
      </p:sp>
      <p:sp>
        <p:nvSpPr>
          <p:cNvPr id="272" name="Rectangle 42"/>
          <p:cNvSpPr/>
          <p:nvPr/>
        </p:nvSpPr>
        <p:spPr>
          <a:xfrm>
            <a:off x="6927056" y="1752600"/>
            <a:ext cx="143892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73" name="Rectangle 43"/>
          <p:cNvSpPr/>
          <p:nvPr/>
        </p:nvSpPr>
        <p:spPr>
          <a:xfrm>
            <a:off x="5443756"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PNM0</a:t>
            </a:r>
          </a:p>
        </p:txBody>
      </p:sp>
      <p:sp>
        <p:nvSpPr>
          <p:cNvPr id="274" name="Rectangle 44"/>
          <p:cNvSpPr/>
          <p:nvPr/>
        </p:nvSpPr>
        <p:spPr>
          <a:xfrm>
            <a:off x="5443756"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5" name="Rectangle 45"/>
          <p:cNvSpPr/>
          <p:nvPr/>
        </p:nvSpPr>
        <p:spPr>
          <a:xfrm>
            <a:off x="6185405"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PNM1</a:t>
            </a:r>
          </a:p>
        </p:txBody>
      </p:sp>
      <p:sp>
        <p:nvSpPr>
          <p:cNvPr id="276" name="Rectangle 46"/>
          <p:cNvSpPr/>
          <p:nvPr/>
        </p:nvSpPr>
        <p:spPr>
          <a:xfrm>
            <a:off x="6185405"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7" name="Rectangle 47"/>
          <p:cNvSpPr/>
          <p:nvPr/>
        </p:nvSpPr>
        <p:spPr>
          <a:xfrm>
            <a:off x="6927056"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PNM2</a:t>
            </a:r>
          </a:p>
        </p:txBody>
      </p:sp>
      <p:sp>
        <p:nvSpPr>
          <p:cNvPr id="278" name="Rectangle 48"/>
          <p:cNvSpPr/>
          <p:nvPr/>
        </p:nvSpPr>
        <p:spPr>
          <a:xfrm>
            <a:off x="6927056"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9" name="Rectangle 49"/>
          <p:cNvSpPr/>
          <p:nvPr/>
        </p:nvSpPr>
        <p:spPr>
          <a:xfrm>
            <a:off x="7668707" y="2181225"/>
            <a:ext cx="697278"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PNM3</a:t>
            </a:r>
          </a:p>
        </p:txBody>
      </p:sp>
      <p:sp>
        <p:nvSpPr>
          <p:cNvPr id="280" name="Rectangle 50"/>
          <p:cNvSpPr/>
          <p:nvPr/>
        </p:nvSpPr>
        <p:spPr>
          <a:xfrm>
            <a:off x="7668707" y="2409825"/>
            <a:ext cx="697278"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81" name="Rectangle 51"/>
          <p:cNvSpPr/>
          <p:nvPr/>
        </p:nvSpPr>
        <p:spPr>
          <a:xfrm>
            <a:off x="5443756" y="2762250"/>
            <a:ext cx="2922228"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312" name="TextBox 311"/>
          <p:cNvSpPr txBox="1"/>
          <p:nvPr/>
        </p:nvSpPr>
        <p:spPr>
          <a:xfrm>
            <a:off x="5342334" y="3369275"/>
            <a:ext cx="3169444" cy="138499"/>
          </a:xfrm>
          <a:prstGeom prst="rect">
            <a:avLst/>
          </a:prstGeom>
          <a:noFill/>
        </p:spPr>
        <p:txBody>
          <a:bodyPr wrap="square" lIns="0" tIns="0" rIns="0" bIns="0" anchor="ctr">
            <a:spAutoFit/>
          </a:bodyPr>
          <a:lstStyle/>
          <a:p>
            <a:pPr algn="ctr"/>
            <a:r>
              <a:rPr sz="900" b="0" i="0" dirty="0">
                <a:solidFill>
                  <a:srgbClr val="FF0000"/>
                </a:solidFill>
                <a:latin typeface="맑은 고딕"/>
                <a:ea typeface="맑은 고딕"/>
              </a:rPr>
              <a:t>320</a:t>
            </a:r>
            <a:r>
              <a:rPr sz="900" b="0" i="0" dirty="0">
                <a:solidFill>
                  <a:srgbClr val="404040"/>
                </a:solidFill>
                <a:latin typeface="맑은 고딕"/>
                <a:ea typeface="맑은 고딕"/>
              </a:rPr>
              <a:t> GB  ·  13.4 TB/s</a:t>
            </a:r>
          </a:p>
        </p:txBody>
      </p:sp>
      <p:sp>
        <p:nvSpPr>
          <p:cNvPr id="320" name="TextBox 319"/>
          <p:cNvSpPr txBox="1"/>
          <p:nvPr/>
        </p:nvSpPr>
        <p:spPr>
          <a:xfrm>
            <a:off x="5342334" y="3590055"/>
            <a:ext cx="3169444" cy="138499"/>
          </a:xfrm>
          <a:prstGeom prst="rect">
            <a:avLst/>
          </a:prstGeom>
          <a:noFill/>
        </p:spPr>
        <p:txBody>
          <a:bodyPr wrap="square" lIns="0" tIns="0" rIns="0" bIns="0" anchor="ctr">
            <a:spAutoFit/>
          </a:bodyPr>
          <a:lstStyle/>
          <a:p>
            <a:pPr algn="ctr"/>
            <a:r>
              <a:rPr sz="900" b="0" i="0" dirty="0">
                <a:solidFill>
                  <a:srgbClr val="0000FF"/>
                </a:solidFill>
                <a:latin typeface="맑은 고딕"/>
                <a:ea typeface="맑은 고딕"/>
              </a:rPr>
              <a:t>512</a:t>
            </a:r>
            <a:r>
              <a:rPr sz="900" b="0" i="0" dirty="0">
                <a:solidFill>
                  <a:srgbClr val="404040"/>
                </a:solidFill>
                <a:latin typeface="맑은 고딕"/>
                <a:ea typeface="맑은 고딕"/>
              </a:rPr>
              <a:t> GB  ·  800 GB/s</a:t>
            </a:r>
          </a:p>
        </p:txBody>
      </p:sp>
      <p:sp>
        <p:nvSpPr>
          <p:cNvPr id="324" name="TextBox 323"/>
          <p:cNvSpPr txBox="1"/>
          <p:nvPr/>
        </p:nvSpPr>
        <p:spPr>
          <a:xfrm>
            <a:off x="5342334" y="3764080"/>
            <a:ext cx="3169444" cy="209550"/>
          </a:xfrm>
          <a:prstGeom prst="rect">
            <a:avLst/>
          </a:prstGeom>
          <a:noFill/>
        </p:spPr>
        <p:txBody>
          <a:bodyPr wrap="square" lIns="0" tIns="0" rIns="0" bIns="0" anchor="ctr">
            <a:spAutoFit/>
          </a:bodyPr>
          <a:lstStyle/>
          <a:p>
            <a:pPr algn="ctr"/>
            <a:r>
              <a:rPr sz="900" b="0" i="0" dirty="0">
                <a:solidFill>
                  <a:srgbClr val="404040"/>
                </a:solidFill>
                <a:latin typeface="맑은 고딕"/>
                <a:ea typeface="맑은 고딕"/>
              </a:rPr>
              <a:t>1,024 GB  ·  350 GB/s</a:t>
            </a:r>
          </a:p>
        </p:txBody>
      </p:sp>
      <p:sp>
        <p:nvSpPr>
          <p:cNvPr id="337" name="TextBox 336"/>
          <p:cNvSpPr txBox="1"/>
          <p:nvPr/>
        </p:nvSpPr>
        <p:spPr>
          <a:xfrm>
            <a:off x="5342334" y="4345974"/>
            <a:ext cx="3169444" cy="146194"/>
          </a:xfrm>
          <a:prstGeom prst="rect">
            <a:avLst/>
          </a:prstGeom>
          <a:noFill/>
        </p:spPr>
        <p:txBody>
          <a:bodyPr wrap="square" lIns="0" tIns="0" rIns="0" bIns="0" anchor="ctr">
            <a:spAutoFit/>
          </a:bodyPr>
          <a:lstStyle/>
          <a:p>
            <a:pPr algn="ctr"/>
            <a:r>
              <a:rPr lang="en-US" sz="950" b="1" i="0" dirty="0" smtClean="0">
                <a:solidFill>
                  <a:srgbClr val="FF0000"/>
                </a:solidFill>
                <a:latin typeface="맑은 고딕"/>
                <a:ea typeface="맑은 고딕"/>
              </a:rPr>
              <a:t>320</a:t>
            </a:r>
            <a:r>
              <a:rPr sz="950" b="1" i="0" dirty="0" smtClean="0">
                <a:solidFill>
                  <a:srgbClr val="FF0000"/>
                </a:solidFill>
                <a:latin typeface="맑은 고딕"/>
                <a:ea typeface="맑은 고딕"/>
              </a:rPr>
              <a:t> </a:t>
            </a:r>
            <a:r>
              <a:rPr sz="950" b="1" i="0" dirty="0">
                <a:solidFill>
                  <a:srgbClr val="FF0000"/>
                </a:solidFill>
                <a:latin typeface="맑은 고딕"/>
                <a:ea typeface="맑은 고딕"/>
              </a:rPr>
              <a:t>GB  </a:t>
            </a:r>
            <a:r>
              <a:rPr sz="950" b="1" i="0" dirty="0" smtClean="0">
                <a:solidFill>
                  <a:srgbClr val="FF0000"/>
                </a:solidFill>
                <a:latin typeface="맑은 고딕"/>
                <a:ea typeface="맑은 고딕"/>
              </a:rPr>
              <a:t>(</a:t>
            </a:r>
            <a:r>
              <a:rPr lang="en-US" sz="950" b="1" dirty="0" smtClean="0">
                <a:solidFill>
                  <a:srgbClr val="FF0000"/>
                </a:solidFill>
                <a:latin typeface="맑은 고딕"/>
                <a:ea typeface="맑은 고딕"/>
              </a:rPr>
              <a:t>0.5</a:t>
            </a:r>
            <a:r>
              <a:rPr sz="950" b="1" i="0" dirty="0" smtClean="0">
                <a:solidFill>
                  <a:srgbClr val="FF0000"/>
                </a:solidFill>
                <a:latin typeface="맑은 고딕"/>
                <a:ea typeface="맑은 고딕"/>
              </a:rPr>
              <a:t>×)</a:t>
            </a:r>
            <a:endParaRPr sz="950" b="1" i="0" dirty="0">
              <a:solidFill>
                <a:srgbClr val="FF0000"/>
              </a:solidFill>
              <a:latin typeface="맑은 고딕"/>
              <a:ea typeface="맑은 고딕"/>
            </a:endParaRPr>
          </a:p>
        </p:txBody>
      </p:sp>
      <p:sp>
        <p:nvSpPr>
          <p:cNvPr id="342" name="TextBox 341"/>
          <p:cNvSpPr txBox="1"/>
          <p:nvPr/>
        </p:nvSpPr>
        <p:spPr>
          <a:xfrm>
            <a:off x="5342334" y="4555524"/>
            <a:ext cx="3169444" cy="146194"/>
          </a:xfrm>
          <a:prstGeom prst="rect">
            <a:avLst/>
          </a:prstGeom>
          <a:noFill/>
        </p:spPr>
        <p:txBody>
          <a:bodyPr wrap="square" lIns="0" tIns="0" rIns="0" bIns="0" anchor="ctr">
            <a:spAutoFit/>
          </a:bodyPr>
          <a:lstStyle/>
          <a:p>
            <a:pPr algn="ctr"/>
            <a:r>
              <a:rPr lang="en-US" sz="950" b="1" dirty="0" smtClean="0">
                <a:solidFill>
                  <a:srgbClr val="FF0000"/>
                </a:solidFill>
                <a:latin typeface="맑은 고딕"/>
                <a:ea typeface="맑은 고딕"/>
              </a:rPr>
              <a:t>13.4 </a:t>
            </a:r>
            <a:r>
              <a:rPr sz="950" b="1" i="0" dirty="0" smtClean="0">
                <a:solidFill>
                  <a:srgbClr val="FF0000"/>
                </a:solidFill>
                <a:latin typeface="맑은 고딕"/>
                <a:ea typeface="맑은 고딕"/>
              </a:rPr>
              <a:t>TB/s  </a:t>
            </a:r>
            <a:r>
              <a:rPr sz="950" b="1" i="0" dirty="0">
                <a:solidFill>
                  <a:srgbClr val="FF0000"/>
                </a:solidFill>
                <a:latin typeface="맑은 고딕"/>
                <a:ea typeface="맑은 고딕"/>
              </a:rPr>
              <a:t>(</a:t>
            </a:r>
            <a:r>
              <a:rPr sz="950" b="1" i="0" dirty="0" smtClean="0">
                <a:solidFill>
                  <a:srgbClr val="FF0000"/>
                </a:solidFill>
                <a:latin typeface="맑은 고딕"/>
                <a:ea typeface="맑은 고딕"/>
              </a:rPr>
              <a:t>0.5×)</a:t>
            </a:r>
            <a:endParaRPr sz="950" b="1" i="0" dirty="0">
              <a:solidFill>
                <a:srgbClr val="FF0000"/>
              </a:solidFill>
              <a:latin typeface="맑은 고딕"/>
              <a:ea typeface="맑은 고딕"/>
            </a:endParaRPr>
          </a:p>
        </p:txBody>
      </p:sp>
      <p:sp>
        <p:nvSpPr>
          <p:cNvPr id="347" name="TextBox 346"/>
          <p:cNvSpPr txBox="1"/>
          <p:nvPr/>
        </p:nvSpPr>
        <p:spPr>
          <a:xfrm>
            <a:off x="5342334" y="4765074"/>
            <a:ext cx="3169444" cy="146194"/>
          </a:xfrm>
          <a:prstGeom prst="rect">
            <a:avLst/>
          </a:prstGeom>
          <a:noFill/>
        </p:spPr>
        <p:txBody>
          <a:bodyPr wrap="square" lIns="0" tIns="0" rIns="0" bIns="0" anchor="ctr">
            <a:spAutoFit/>
          </a:bodyPr>
          <a:lstStyle/>
          <a:p>
            <a:pPr algn="ctr"/>
            <a:r>
              <a:rPr lang="en-US" sz="950" b="1" i="0" dirty="0" smtClean="0">
                <a:solidFill>
                  <a:srgbClr val="0000FF"/>
                </a:solidFill>
                <a:latin typeface="맑은 고딕"/>
                <a:ea typeface="맑은 고딕"/>
              </a:rPr>
              <a:t>1,856 </a:t>
            </a:r>
            <a:r>
              <a:rPr sz="950" b="1" i="0" dirty="0" smtClean="0">
                <a:solidFill>
                  <a:srgbClr val="0000FF"/>
                </a:solidFill>
                <a:latin typeface="맑은 고딕"/>
                <a:ea typeface="맑은 고딕"/>
              </a:rPr>
              <a:t>GB  </a:t>
            </a:r>
            <a:r>
              <a:rPr sz="950" b="1" i="0" dirty="0">
                <a:solidFill>
                  <a:srgbClr val="0000FF"/>
                </a:solidFill>
                <a:latin typeface="맑은 고딕"/>
                <a:ea typeface="맑은 고딕"/>
              </a:rPr>
              <a:t>(</a:t>
            </a:r>
            <a:r>
              <a:rPr sz="950" b="1" i="0" dirty="0" smtClean="0">
                <a:solidFill>
                  <a:srgbClr val="0000FF"/>
                </a:solidFill>
                <a:latin typeface="맑은 고딕"/>
                <a:ea typeface="맑은 고딕"/>
              </a:rPr>
              <a:t>1.</a:t>
            </a:r>
            <a:r>
              <a:rPr lang="en-US" sz="950" b="1" i="0" dirty="0" smtClean="0">
                <a:solidFill>
                  <a:srgbClr val="0000FF"/>
                </a:solidFill>
                <a:latin typeface="맑은 고딕"/>
                <a:ea typeface="맑은 고딕"/>
              </a:rPr>
              <a:t>12</a:t>
            </a:r>
            <a:r>
              <a:rPr sz="950" b="1" i="0" dirty="0" smtClean="0">
                <a:solidFill>
                  <a:srgbClr val="0000FF"/>
                </a:solidFill>
                <a:latin typeface="맑은 고딕"/>
                <a:ea typeface="맑은 고딕"/>
              </a:rPr>
              <a:t>×)</a:t>
            </a:r>
            <a:endParaRPr sz="950" b="1" i="0" dirty="0">
              <a:solidFill>
                <a:srgbClr val="0000FF"/>
              </a:solidFill>
              <a:latin typeface="맑은 고딕"/>
              <a:ea typeface="맑은 고딕"/>
            </a:endParaRPr>
          </a:p>
        </p:txBody>
      </p:sp>
      <p:sp>
        <p:nvSpPr>
          <p:cNvPr id="352" name="TextBox 351"/>
          <p:cNvSpPr txBox="1"/>
          <p:nvPr/>
        </p:nvSpPr>
        <p:spPr>
          <a:xfrm>
            <a:off x="5342334" y="5863768"/>
            <a:ext cx="3169444"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$777K  (0.69×)</a:t>
            </a:r>
          </a:p>
        </p:txBody>
      </p:sp>
      <p:sp>
        <p:nvSpPr>
          <p:cNvPr id="359" name="TextBox NT1"/>
          <p:cNvSpPr txBox="1"/>
          <p:nvPr/>
        </p:nvSpPr>
        <p:spPr>
          <a:xfrm>
            <a:off x="5342334" y="5444668"/>
            <a:ext cx="3169444"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$273K  (1.58×)</a:t>
            </a:r>
          </a:p>
        </p:txBody>
      </p:sp>
      <p:sp>
        <p:nvSpPr>
          <p:cNvPr id="364" name="TextBox NT2"/>
          <p:cNvSpPr txBox="1"/>
          <p:nvPr/>
        </p:nvSpPr>
        <p:spPr>
          <a:xfrm>
            <a:off x="5342334" y="5654218"/>
            <a:ext cx="3169444"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$504K  (0.53×)</a:t>
            </a:r>
          </a:p>
        </p:txBody>
      </p:sp>
      <p:sp>
        <p:nvSpPr>
          <p:cNvPr id="147" name="Rectangle 52"/>
          <p:cNvSpPr/>
          <p:nvPr/>
        </p:nvSpPr>
        <p:spPr>
          <a:xfrm>
            <a:off x="7687500" y="2796730"/>
            <a:ext cx="615003" cy="201549"/>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smtClean="0">
                <a:solidFill>
                  <a:srgbClr val="375623"/>
                </a:solidFill>
                <a:latin typeface="맑은 고딕"/>
                <a:ea typeface="맑은 고딕"/>
              </a:rPr>
              <a:t>PIM</a:t>
            </a:r>
            <a:endParaRPr sz="1000" b="1" i="0" dirty="0">
              <a:solidFill>
                <a:srgbClr val="375623"/>
              </a:solidFill>
              <a:latin typeface="맑은 고딕"/>
              <a:ea typeface="맑은 고딕"/>
            </a:endParaRPr>
          </a:p>
        </p:txBody>
      </p:sp>
      <p:sp>
        <p:nvSpPr>
          <p:cNvPr id="6" name="직사각형 5"/>
          <p:cNvSpPr/>
          <p:nvPr/>
        </p:nvSpPr>
        <p:spPr>
          <a:xfrm>
            <a:off x="300990" y="6140588"/>
            <a:ext cx="6096000" cy="246221"/>
          </a:xfrm>
          <a:prstGeom prst="rect">
            <a:avLst/>
          </a:prstGeom>
        </p:spPr>
        <p:txBody>
          <a:bodyPr>
            <a:spAutoFit/>
          </a:bodyPr>
          <a:lstStyle/>
          <a:p>
            <a:pPr>
              <a:lnSpc>
                <a:spcPct val="125000"/>
              </a:lnSpc>
            </a:pPr>
            <a:r>
              <a:rPr lang="ko-KR" altLang="en-US" sz="800" dirty="0">
                <a:solidFill>
                  <a:srgbClr val="7F5F00"/>
                </a:solidFill>
                <a:ea typeface="맑은 고딕"/>
              </a:rPr>
              <a:t>매체 지연 </a:t>
            </a:r>
            <a:r>
              <a:rPr lang="en-US" altLang="ko-KR" sz="800" dirty="0">
                <a:solidFill>
                  <a:srgbClr val="7F5F00"/>
                </a:solidFill>
                <a:ea typeface="맑은 고딕"/>
              </a:rPr>
              <a:t>: HBM ~100 ns · CXL-PNM ~300 ns · HBF ~10 </a:t>
            </a:r>
            <a:r>
              <a:rPr lang="en-US" altLang="ko-KR" sz="800" dirty="0" err="1">
                <a:solidFill>
                  <a:srgbClr val="7F5F00"/>
                </a:solidFill>
                <a:ea typeface="맑은 고딕"/>
              </a:rPr>
              <a:t>μs</a:t>
            </a:r>
            <a:r>
              <a:rPr lang="ko-KR" altLang="en-US" sz="800" dirty="0">
                <a:solidFill>
                  <a:srgbClr val="7F5F00"/>
                </a:solidFill>
                <a:ea typeface="맑은 고딕"/>
              </a:rPr>
              <a:t>급</a:t>
            </a:r>
            <a:r>
              <a:rPr lang="en-US" altLang="ko-KR" sz="800" dirty="0">
                <a:solidFill>
                  <a:srgbClr val="7F5F00"/>
                </a:solidFill>
                <a:ea typeface="맑은 고딕"/>
              </a:rPr>
              <a:t>(NAND) · </a:t>
            </a:r>
            <a:r>
              <a:rPr lang="en-US" altLang="ko-KR" sz="800" dirty="0" err="1">
                <a:solidFill>
                  <a:srgbClr val="7F5F00"/>
                </a:solidFill>
                <a:ea typeface="맑은 고딕"/>
              </a:rPr>
              <a:t>NVMe</a:t>
            </a:r>
            <a:r>
              <a:rPr lang="ko-KR" altLang="en-US" sz="800" dirty="0">
                <a:solidFill>
                  <a:srgbClr val="7F5F00"/>
                </a:solidFill>
                <a:ea typeface="맑은 고딕"/>
              </a:rPr>
              <a:t> </a:t>
            </a:r>
            <a:r>
              <a:rPr lang="en-US" altLang="ko-KR" sz="800" dirty="0">
                <a:solidFill>
                  <a:srgbClr val="7F5F00"/>
                </a:solidFill>
                <a:ea typeface="맑은 고딕"/>
              </a:rPr>
              <a:t>~100 </a:t>
            </a:r>
            <a:r>
              <a:rPr lang="en-US" altLang="ko-KR" sz="800" dirty="0" err="1">
                <a:solidFill>
                  <a:srgbClr val="7F5F00"/>
                </a:solidFill>
                <a:ea typeface="맑은 고딕"/>
              </a:rPr>
              <a:t>μs</a:t>
            </a:r>
            <a:r>
              <a:rPr lang="ko-KR" altLang="en-US" sz="800" dirty="0">
                <a:solidFill>
                  <a:srgbClr val="7F5F00"/>
                </a:solidFill>
                <a:ea typeface="맑은 고딕"/>
              </a:rPr>
              <a:t> </a:t>
            </a:r>
          </a:p>
        </p:txBody>
      </p:sp>
      <p:sp>
        <p:nvSpPr>
          <p:cNvPr id="150" name="TextBox 149"/>
          <p:cNvSpPr txBox="1"/>
          <p:nvPr/>
        </p:nvSpPr>
        <p:spPr>
          <a:xfrm>
            <a:off x="5932670" y="3171825"/>
            <a:ext cx="2686050" cy="133350"/>
          </a:xfrm>
          <a:prstGeom prst="rect">
            <a:avLst/>
          </a:prstGeom>
          <a:noFill/>
        </p:spPr>
        <p:txBody>
          <a:bodyPr wrap="square" lIns="0" tIns="0" rIns="0" bIns="0" anchor="ctr">
            <a:spAutoFit/>
          </a:bodyPr>
          <a:lstStyle/>
          <a:p>
            <a:pPr algn="l"/>
            <a:r>
              <a:rPr sz="850" b="1" i="0" dirty="0" err="1">
                <a:solidFill>
                  <a:srgbClr val="808080"/>
                </a:solidFill>
                <a:latin typeface="맑은 고딕"/>
                <a:ea typeface="맑은 고딕"/>
              </a:rPr>
              <a:t>계층별</a:t>
            </a:r>
            <a:r>
              <a:rPr sz="850" b="1" i="0" dirty="0">
                <a:solidFill>
                  <a:srgbClr val="808080"/>
                </a:solidFill>
                <a:latin typeface="맑은 고딕"/>
                <a:ea typeface="맑은 고딕"/>
              </a:rPr>
              <a:t>  </a:t>
            </a:r>
            <a:r>
              <a:rPr sz="850" b="1" i="0" dirty="0" err="1">
                <a:solidFill>
                  <a:srgbClr val="808080"/>
                </a:solidFill>
                <a:latin typeface="맑은 고딕"/>
                <a:ea typeface="맑은 고딕"/>
              </a:rPr>
              <a:t>용량</a:t>
            </a:r>
            <a:r>
              <a:rPr sz="850" b="1" i="0" dirty="0">
                <a:solidFill>
                  <a:srgbClr val="808080"/>
                </a:solidFill>
                <a:latin typeface="맑은 고딕"/>
                <a:ea typeface="맑은 고딕"/>
              </a:rPr>
              <a:t>  ·  </a:t>
            </a:r>
            <a:r>
              <a:rPr sz="850" b="1" i="0" dirty="0" err="1">
                <a:solidFill>
                  <a:srgbClr val="808080"/>
                </a:solidFill>
                <a:latin typeface="맑은 고딕"/>
                <a:ea typeface="맑은 고딕"/>
              </a:rPr>
              <a:t>대역폭</a:t>
            </a:r>
            <a:r>
              <a:rPr sz="850" b="1" i="0" dirty="0">
                <a:solidFill>
                  <a:srgbClr val="808080"/>
                </a:solidFill>
                <a:latin typeface="맑은 고딕"/>
                <a:ea typeface="맑은 고딕"/>
              </a:rPr>
              <a:t>  (1노드 </a:t>
            </a:r>
            <a:r>
              <a:rPr sz="850" b="1" i="0" dirty="0" err="1">
                <a:solidFill>
                  <a:srgbClr val="808080"/>
                </a:solidFill>
                <a:latin typeface="맑은 고딕"/>
                <a:ea typeface="맑은 고딕"/>
              </a:rPr>
              <a:t>기준</a:t>
            </a:r>
            <a:r>
              <a:rPr sz="850" b="1" i="0" dirty="0">
                <a:solidFill>
                  <a:srgbClr val="808080"/>
                </a:solidFill>
                <a:latin typeface="맑은 고딕"/>
                <a:ea typeface="맑은 고딕"/>
              </a:rPr>
              <a:t>)</a:t>
            </a:r>
          </a:p>
        </p:txBody>
      </p:sp>
      <p:sp>
        <p:nvSpPr>
          <p:cNvPr id="159" name="TextBox 158"/>
          <p:cNvSpPr txBox="1"/>
          <p:nvPr/>
        </p:nvSpPr>
        <p:spPr>
          <a:xfrm>
            <a:off x="361950" y="4098324"/>
            <a:ext cx="1177290" cy="167827"/>
          </a:xfrm>
          <a:prstGeom prst="rect">
            <a:avLst/>
          </a:prstGeom>
          <a:noFill/>
        </p:spPr>
        <p:txBody>
          <a:bodyPr wrap="square" lIns="0" tIns="0" rIns="0" bIns="0" anchor="ctr">
            <a:spAutoFit/>
          </a:bodyPr>
          <a:lstStyle/>
          <a:p>
            <a:r>
              <a:rPr lang="ko-KR" altLang="en-US" sz="1100" b="1" dirty="0" smtClean="0">
                <a:solidFill>
                  <a:srgbClr val="404040"/>
                </a:solidFill>
                <a:latin typeface="맑은 고딕"/>
                <a:ea typeface="맑은 고딕"/>
              </a:rPr>
              <a:t>전체 용량</a:t>
            </a:r>
            <a:r>
              <a:rPr lang="en-US" altLang="ko-KR" sz="1100" b="1" dirty="0" smtClean="0">
                <a:solidFill>
                  <a:srgbClr val="404040"/>
                </a:solidFill>
                <a:latin typeface="맑은 고딕"/>
                <a:ea typeface="맑은 고딕"/>
              </a:rPr>
              <a:t>, </a:t>
            </a:r>
            <a:r>
              <a:rPr lang="ko-KR" altLang="en-US" sz="1100" b="1" dirty="0" smtClean="0">
                <a:solidFill>
                  <a:srgbClr val="404040"/>
                </a:solidFill>
                <a:latin typeface="맑은 고딕"/>
                <a:ea typeface="맑은 고딕"/>
              </a:rPr>
              <a:t>대역폭</a:t>
            </a:r>
            <a:endParaRPr sz="1100" b="1" i="0" dirty="0">
              <a:solidFill>
                <a:srgbClr val="404040"/>
              </a:solidFill>
              <a:latin typeface="맑은 고딕"/>
              <a:ea typeface="맑은 고딕"/>
            </a:endParaRPr>
          </a:p>
        </p:txBody>
      </p:sp>
      <p:sp>
        <p:nvSpPr>
          <p:cNvPr id="176" name="TextBox 175"/>
          <p:cNvSpPr txBox="1"/>
          <p:nvPr/>
        </p:nvSpPr>
        <p:spPr>
          <a:xfrm>
            <a:off x="361950" y="5259038"/>
            <a:ext cx="1177290" cy="167827"/>
          </a:xfrm>
          <a:prstGeom prst="rect">
            <a:avLst/>
          </a:prstGeom>
          <a:noFill/>
        </p:spPr>
        <p:txBody>
          <a:bodyPr wrap="square" lIns="0" tIns="0" rIns="0" bIns="0" anchor="ctr">
            <a:spAutoFit/>
          </a:bodyPr>
          <a:lstStyle/>
          <a:p>
            <a:r>
              <a:rPr lang="ko-KR" altLang="en-US" sz="1100" b="1" dirty="0" smtClean="0">
                <a:solidFill>
                  <a:srgbClr val="404040"/>
                </a:solidFill>
                <a:latin typeface="맑은 고딕"/>
                <a:ea typeface="맑은 고딕"/>
              </a:rPr>
              <a:t>비용</a:t>
            </a:r>
            <a:endParaRPr sz="1100" b="1" i="0" dirty="0">
              <a:solidFill>
                <a:srgbClr val="404040"/>
              </a:solidFill>
              <a:latin typeface="맑은 고딕"/>
              <a:ea typeface="맑은 고딕"/>
            </a:endParaRPr>
          </a:p>
        </p:txBody>
      </p:sp>
      <p:sp>
        <p:nvSpPr>
          <p:cNvPr id="102" name="TextBox 101"/>
          <p:cNvSpPr txBox="1"/>
          <p:nvPr/>
        </p:nvSpPr>
        <p:spPr>
          <a:xfrm>
            <a:off x="3153992" y="602545"/>
            <a:ext cx="1177290" cy="215444"/>
          </a:xfrm>
          <a:prstGeom prst="rect">
            <a:avLst/>
          </a:prstGeom>
          <a:noFill/>
        </p:spPr>
        <p:txBody>
          <a:bodyPr wrap="square" lIns="0" tIns="0" rIns="0" bIns="0" anchor="ctr">
            <a:spAutoFit/>
          </a:bodyPr>
          <a:lstStyle/>
          <a:p>
            <a:pPr algn="ctr"/>
            <a:r>
              <a:rPr lang="en-US" sz="1400" b="1" dirty="0" smtClean="0">
                <a:solidFill>
                  <a:srgbClr val="404040"/>
                </a:solidFill>
                <a:latin typeface="맑은 고딕"/>
                <a:ea typeface="맑은 고딕"/>
              </a:rPr>
              <a:t>Baseline</a:t>
            </a:r>
            <a:endParaRPr sz="1400" b="1" i="0" dirty="0">
              <a:solidFill>
                <a:srgbClr val="404040"/>
              </a:solidFill>
              <a:latin typeface="맑은 고딕"/>
              <a:ea typeface="맑은 고딕"/>
            </a:endParaRPr>
          </a:p>
        </p:txBody>
      </p:sp>
      <p:sp>
        <p:nvSpPr>
          <p:cNvPr id="103" name="TextBox 102"/>
          <p:cNvSpPr txBox="1"/>
          <p:nvPr/>
        </p:nvSpPr>
        <p:spPr>
          <a:xfrm>
            <a:off x="6396990" y="602545"/>
            <a:ext cx="1177290" cy="215444"/>
          </a:xfrm>
          <a:prstGeom prst="rect">
            <a:avLst/>
          </a:prstGeom>
          <a:noFill/>
        </p:spPr>
        <p:txBody>
          <a:bodyPr wrap="square" lIns="0" tIns="0" rIns="0" bIns="0" anchor="ctr">
            <a:spAutoFit/>
          </a:bodyPr>
          <a:lstStyle/>
          <a:p>
            <a:pPr algn="ctr"/>
            <a:r>
              <a:rPr lang="en-US" sz="1400" b="1" dirty="0" smtClean="0">
                <a:solidFill>
                  <a:srgbClr val="404040"/>
                </a:solidFill>
                <a:latin typeface="맑은 고딕"/>
                <a:ea typeface="맑은 고딕"/>
              </a:rPr>
              <a:t>Target</a:t>
            </a:r>
            <a:endParaRPr sz="1400" b="1" i="0" dirty="0">
              <a:solidFill>
                <a:srgbClr val="404040"/>
              </a:solidFill>
              <a:latin typeface="맑은 고딕"/>
              <a:ea typeface="맑은 고딕"/>
            </a:endParaRPr>
          </a:p>
        </p:txBody>
      </p:sp>
      <p:grpSp>
        <p:nvGrpSpPr>
          <p:cNvPr id="7" name="그룹 6"/>
          <p:cNvGrpSpPr/>
          <p:nvPr/>
        </p:nvGrpSpPr>
        <p:grpSpPr>
          <a:xfrm>
            <a:off x="8932602" y="942882"/>
            <a:ext cx="2816352" cy="5156554"/>
            <a:chOff x="8759952" y="877824"/>
            <a:chExt cx="2816352" cy="5156554"/>
          </a:xfrm>
        </p:grpSpPr>
        <p:sp>
          <p:nvSpPr>
            <p:cNvPr id="158" name="Rectangle 1"/>
            <p:cNvSpPr/>
            <p:nvPr/>
          </p:nvSpPr>
          <p:spPr>
            <a:xfrm>
              <a:off x="8759952" y="877824"/>
              <a:ext cx="2816352" cy="2743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err="1" smtClean="0">
                  <a:solidFill>
                    <a:srgbClr val="FFFFFF"/>
                  </a:solidFill>
                  <a:latin typeface="맑은 고딕"/>
                  <a:ea typeface="맑은 고딕"/>
                </a:rPr>
                <a:t>Target</a:t>
              </a:r>
              <a:r>
                <a:rPr sz="1000" b="1" i="0" dirty="0" err="1">
                  <a:solidFill>
                    <a:srgbClr val="FFFFFF"/>
                  </a:solidFill>
                  <a:latin typeface="맑은 고딕"/>
                  <a:ea typeface="맑은 고딕"/>
                </a:rPr>
                <a:t>이</a:t>
              </a:r>
              <a:r>
                <a:rPr sz="1000" b="1" i="0" dirty="0">
                  <a:solidFill>
                    <a:srgbClr val="FFFFFF"/>
                  </a:solidFill>
                  <a:latin typeface="맑은 고딕"/>
                  <a:ea typeface="맑은 고딕"/>
                </a:rPr>
                <a:t> </a:t>
              </a:r>
              <a:r>
                <a:rPr sz="1000" b="1" i="0" dirty="0" err="1" smtClean="0">
                  <a:solidFill>
                    <a:srgbClr val="FFFFFF"/>
                  </a:solidFill>
                  <a:latin typeface="맑은 고딕"/>
                  <a:ea typeface="맑은 고딕"/>
                </a:rPr>
                <a:t>열악</a:t>
              </a:r>
              <a:r>
                <a:rPr lang="ko-KR" altLang="en-US" sz="1000" b="1" i="0" dirty="0" smtClean="0">
                  <a:solidFill>
                    <a:srgbClr val="FFFFFF"/>
                  </a:solidFill>
                  <a:latin typeface="맑은 고딕"/>
                  <a:ea typeface="맑은 고딕"/>
                </a:rPr>
                <a:t>한 시스템</a:t>
              </a:r>
              <a:endParaRPr sz="1000" b="1" i="0" dirty="0">
                <a:solidFill>
                  <a:srgbClr val="FFFFFF"/>
                </a:solidFill>
                <a:latin typeface="맑은 고딕"/>
                <a:ea typeface="맑은 고딕"/>
              </a:endParaRPr>
            </a:p>
          </p:txBody>
        </p:sp>
        <p:sp>
          <p:nvSpPr>
            <p:cNvPr id="160" name="TextBox 159"/>
            <p:cNvSpPr txBox="1"/>
            <p:nvPr/>
          </p:nvSpPr>
          <p:spPr>
            <a:xfrm>
              <a:off x="8759952" y="1205683"/>
              <a:ext cx="2816352" cy="115416"/>
            </a:xfrm>
            <a:prstGeom prst="rect">
              <a:avLst/>
            </a:prstGeom>
            <a:noFill/>
          </p:spPr>
          <p:txBody>
            <a:bodyPr wrap="square" lIns="0" tIns="0" rIns="0" bIns="0" anchor="ctr">
              <a:spAutoFit/>
            </a:bodyPr>
            <a:lstStyle/>
            <a:p>
              <a:pPr algn="ctr"/>
              <a:r>
                <a:rPr lang="ko-KR" altLang="en-US" sz="750" dirty="0" smtClean="0">
                  <a:solidFill>
                    <a:srgbClr val="808080"/>
                  </a:solidFill>
                  <a:ea typeface="맑은 고딕"/>
                </a:rPr>
                <a:t>분석 </a:t>
              </a:r>
              <a:r>
                <a:rPr lang="ko-KR" altLang="en-US" sz="750" dirty="0">
                  <a:solidFill>
                    <a:srgbClr val="808080"/>
                  </a:solidFill>
                  <a:ea typeface="맑은 고딕"/>
                </a:rPr>
                <a:t>모델 기준</a:t>
              </a:r>
              <a:endParaRPr lang="ko-KR" altLang="en-US" sz="750" dirty="0">
                <a:solidFill>
                  <a:srgbClr val="808080"/>
                </a:solidFill>
                <a:ea typeface="맑은 고딕"/>
              </a:endParaRPr>
            </a:p>
          </p:txBody>
        </p:sp>
        <p:sp>
          <p:nvSpPr>
            <p:cNvPr id="162" name="TextBox 161"/>
            <p:cNvSpPr txBox="1"/>
            <p:nvPr/>
          </p:nvSpPr>
          <p:spPr>
            <a:xfrm>
              <a:off x="8842248" y="1508760"/>
              <a:ext cx="2651760" cy="173736"/>
            </a:xfrm>
            <a:prstGeom prst="rect">
              <a:avLst/>
            </a:prstGeom>
            <a:noFill/>
          </p:spPr>
          <p:txBody>
            <a:bodyPr wrap="square" lIns="0" tIns="0" rIns="0" bIns="0" anchor="ctr">
              <a:spAutoFit/>
            </a:bodyPr>
            <a:lstStyle/>
            <a:p>
              <a:pPr algn="l"/>
              <a:r>
                <a:rPr sz="850" b="1" i="0">
                  <a:solidFill>
                    <a:srgbClr val="1F4E79"/>
                  </a:solidFill>
                  <a:latin typeface="맑은 고딕"/>
                  <a:ea typeface="맑은 고딕"/>
                </a:rPr>
                <a:t>① HW 상한</a:t>
              </a:r>
            </a:p>
          </p:txBody>
        </p:sp>
        <p:cxnSp>
          <p:nvCxnSpPr>
            <p:cNvPr id="163" name="Connector 5"/>
            <p:cNvCxnSpPr/>
            <p:nvPr/>
          </p:nvCxnSpPr>
          <p:spPr>
            <a:xfrm>
              <a:off x="8842248" y="1682495"/>
              <a:ext cx="2651760"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4" name="TextBox 163"/>
            <p:cNvSpPr txBox="1"/>
            <p:nvPr/>
          </p:nvSpPr>
          <p:spPr>
            <a:xfrm>
              <a:off x="8842248" y="1719072"/>
              <a:ext cx="1371600" cy="155448"/>
            </a:xfrm>
            <a:prstGeom prst="rect">
              <a:avLst/>
            </a:prstGeom>
            <a:noFill/>
          </p:spPr>
          <p:txBody>
            <a:bodyPr wrap="square" lIns="0" tIns="0" rIns="0" bIns="0" anchor="ctr">
              <a:spAutoFit/>
            </a:bodyPr>
            <a:lstStyle/>
            <a:p>
              <a:pPr algn="l"/>
              <a:r>
                <a:rPr sz="800" b="1" i="0">
                  <a:solidFill>
                    <a:srgbClr val="404040"/>
                  </a:solidFill>
                  <a:latin typeface="맑은 고딕"/>
                  <a:ea typeface="맑은 고딕"/>
                </a:rPr>
                <a:t>연산 — prefill 처리량</a:t>
              </a:r>
            </a:p>
          </p:txBody>
        </p:sp>
        <p:sp>
          <p:nvSpPr>
            <p:cNvPr id="165" name="TextBox 164"/>
            <p:cNvSpPr txBox="1"/>
            <p:nvPr/>
          </p:nvSpPr>
          <p:spPr>
            <a:xfrm>
              <a:off x="10213848" y="1719072"/>
              <a:ext cx="1280160" cy="155448"/>
            </a:xfrm>
            <a:prstGeom prst="rect">
              <a:avLst/>
            </a:prstGeom>
            <a:noFill/>
          </p:spPr>
          <p:txBody>
            <a:bodyPr wrap="square" lIns="0" tIns="0" rIns="0" bIns="0" anchor="ctr">
              <a:spAutoFit/>
            </a:bodyPr>
            <a:lstStyle/>
            <a:p>
              <a:pPr algn="r"/>
              <a:r>
                <a:rPr sz="700" b="0" i="0">
                  <a:solidFill>
                    <a:srgbClr val="808080"/>
                  </a:solidFill>
                  <a:latin typeface="맑은 고딕"/>
                  <a:ea typeface="맑은 고딕"/>
                </a:rPr>
                <a:t>tok/s  ↑</a:t>
              </a:r>
            </a:p>
          </p:txBody>
        </p:sp>
        <p:sp>
          <p:nvSpPr>
            <p:cNvPr id="166" name="Rectangle 8"/>
            <p:cNvSpPr/>
            <p:nvPr/>
          </p:nvSpPr>
          <p:spPr>
            <a:xfrm>
              <a:off x="8842248" y="1874519"/>
              <a:ext cx="1591056" cy="118872"/>
            </a:xfrm>
            <a:prstGeom prst="rect">
              <a:avLst/>
            </a:prstGeom>
            <a:solidFill>
              <a:srgbClr val="D9D9D9"/>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0" i="0">
                  <a:solidFill>
                    <a:srgbClr val="595959"/>
                  </a:solidFill>
                  <a:latin typeface="맑은 고딕"/>
                  <a:ea typeface="맑은 고딕"/>
                </a:rPr>
                <a:t> Baseline</a:t>
              </a:r>
            </a:p>
          </p:txBody>
        </p:sp>
        <p:sp>
          <p:nvSpPr>
            <p:cNvPr id="167" name="Rectangle 9"/>
            <p:cNvSpPr/>
            <p:nvPr/>
          </p:nvSpPr>
          <p:spPr>
            <a:xfrm>
              <a:off x="8842248" y="2016251"/>
              <a:ext cx="795528" cy="118872"/>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1" i="0">
                  <a:solidFill>
                    <a:srgbClr val="FFFFFF"/>
                  </a:solidFill>
                  <a:latin typeface="맑은 고딕"/>
                  <a:ea typeface="맑은 고딕"/>
                </a:rPr>
                <a:t> Target</a:t>
              </a:r>
            </a:p>
          </p:txBody>
        </p:sp>
        <p:sp>
          <p:nvSpPr>
            <p:cNvPr id="168" name="TextBox 167"/>
            <p:cNvSpPr txBox="1"/>
            <p:nvPr/>
          </p:nvSpPr>
          <p:spPr>
            <a:xfrm>
              <a:off x="10488168" y="1874519"/>
              <a:ext cx="512064" cy="118872"/>
            </a:xfrm>
            <a:prstGeom prst="rect">
              <a:avLst/>
            </a:prstGeom>
            <a:noFill/>
          </p:spPr>
          <p:txBody>
            <a:bodyPr wrap="square" lIns="0" tIns="0" rIns="0" bIns="0" anchor="ctr">
              <a:spAutoFit/>
            </a:bodyPr>
            <a:lstStyle/>
            <a:p>
              <a:pPr algn="r"/>
              <a:r>
                <a:rPr sz="750" b="0" i="0">
                  <a:solidFill>
                    <a:srgbClr val="595959"/>
                  </a:solidFill>
                  <a:latin typeface="맑은 고딕"/>
                  <a:ea typeface="맑은 고딕"/>
                </a:rPr>
                <a:t>25,400</a:t>
              </a:r>
            </a:p>
          </p:txBody>
        </p:sp>
        <p:sp>
          <p:nvSpPr>
            <p:cNvPr id="169" name="TextBox 168"/>
            <p:cNvSpPr txBox="1"/>
            <p:nvPr/>
          </p:nvSpPr>
          <p:spPr>
            <a:xfrm>
              <a:off x="10488168" y="2016251"/>
              <a:ext cx="512064" cy="118872"/>
            </a:xfrm>
            <a:prstGeom prst="rect">
              <a:avLst/>
            </a:prstGeom>
            <a:noFill/>
          </p:spPr>
          <p:txBody>
            <a:bodyPr wrap="square" lIns="0" tIns="0" rIns="0" bIns="0" anchor="ctr">
              <a:spAutoFit/>
            </a:bodyPr>
            <a:lstStyle/>
            <a:p>
              <a:pPr algn="r"/>
              <a:r>
                <a:rPr sz="750" b="1" i="0">
                  <a:solidFill>
                    <a:srgbClr val="C00000"/>
                  </a:solidFill>
                  <a:latin typeface="맑은 고딕"/>
                  <a:ea typeface="맑은 고딕"/>
                </a:rPr>
                <a:t>12,700</a:t>
              </a:r>
            </a:p>
          </p:txBody>
        </p:sp>
        <p:sp>
          <p:nvSpPr>
            <p:cNvPr id="170" name="TextBox 169"/>
            <p:cNvSpPr txBox="1"/>
            <p:nvPr/>
          </p:nvSpPr>
          <p:spPr>
            <a:xfrm>
              <a:off x="11018520" y="1874519"/>
              <a:ext cx="475488" cy="260604"/>
            </a:xfrm>
            <a:prstGeom prst="rect">
              <a:avLst/>
            </a:prstGeom>
            <a:noFill/>
          </p:spPr>
          <p:txBody>
            <a:bodyPr wrap="square" lIns="0" tIns="0" rIns="0" bIns="0" anchor="ctr">
              <a:spAutoFit/>
            </a:bodyPr>
            <a:lstStyle/>
            <a:p>
              <a:pPr algn="r"/>
              <a:r>
                <a:rPr sz="950" b="1" i="0">
                  <a:solidFill>
                    <a:srgbClr val="C00000"/>
                  </a:solidFill>
                  <a:latin typeface="맑은 고딕"/>
                  <a:ea typeface="맑은 고딕"/>
                </a:rPr>
                <a:t>0.50×</a:t>
              </a:r>
            </a:p>
          </p:txBody>
        </p:sp>
        <p:sp>
          <p:nvSpPr>
            <p:cNvPr id="171" name="TextBox 170"/>
            <p:cNvSpPr txBox="1"/>
            <p:nvPr/>
          </p:nvSpPr>
          <p:spPr>
            <a:xfrm>
              <a:off x="8842248" y="2226563"/>
              <a:ext cx="1371600" cy="155448"/>
            </a:xfrm>
            <a:prstGeom prst="rect">
              <a:avLst/>
            </a:prstGeom>
            <a:noFill/>
          </p:spPr>
          <p:txBody>
            <a:bodyPr wrap="square" lIns="0" tIns="0" rIns="0" bIns="0" anchor="ctr">
              <a:spAutoFit/>
            </a:bodyPr>
            <a:lstStyle/>
            <a:p>
              <a:pPr algn="l"/>
              <a:r>
                <a:rPr sz="800" b="1" i="0">
                  <a:solidFill>
                    <a:srgbClr val="404040"/>
                  </a:solidFill>
                  <a:latin typeface="맑은 고딕"/>
                  <a:ea typeface="맑은 고딕"/>
                </a:rPr>
                <a:t>대역폭 — decode TPOT</a:t>
              </a:r>
            </a:p>
          </p:txBody>
        </p:sp>
        <p:sp>
          <p:nvSpPr>
            <p:cNvPr id="172" name="TextBox 171"/>
            <p:cNvSpPr txBox="1"/>
            <p:nvPr/>
          </p:nvSpPr>
          <p:spPr>
            <a:xfrm>
              <a:off x="10213848" y="2226563"/>
              <a:ext cx="1280160" cy="155448"/>
            </a:xfrm>
            <a:prstGeom prst="rect">
              <a:avLst/>
            </a:prstGeom>
            <a:noFill/>
          </p:spPr>
          <p:txBody>
            <a:bodyPr wrap="square" lIns="0" tIns="0" rIns="0" bIns="0" anchor="ctr">
              <a:spAutoFit/>
            </a:bodyPr>
            <a:lstStyle/>
            <a:p>
              <a:pPr algn="r"/>
              <a:r>
                <a:rPr sz="700" b="0" i="0" dirty="0" err="1">
                  <a:solidFill>
                    <a:srgbClr val="808080"/>
                  </a:solidFill>
                  <a:latin typeface="맑은 고딕"/>
                  <a:ea typeface="맑은 고딕"/>
                </a:rPr>
                <a:t>ms</a:t>
              </a:r>
              <a:r>
                <a:rPr sz="700" b="0" i="0" dirty="0">
                  <a:solidFill>
                    <a:srgbClr val="808080"/>
                  </a:solidFill>
                  <a:latin typeface="맑은 고딕"/>
                  <a:ea typeface="맑은 고딕"/>
                </a:rPr>
                <a:t>/token  ↓</a:t>
              </a:r>
            </a:p>
          </p:txBody>
        </p:sp>
        <p:sp>
          <p:nvSpPr>
            <p:cNvPr id="173" name="Rectangle 15"/>
            <p:cNvSpPr/>
            <p:nvPr/>
          </p:nvSpPr>
          <p:spPr>
            <a:xfrm>
              <a:off x="8842248" y="2382011"/>
              <a:ext cx="789455" cy="118872"/>
            </a:xfrm>
            <a:prstGeom prst="rect">
              <a:avLst/>
            </a:prstGeom>
            <a:solidFill>
              <a:srgbClr val="D9D9D9"/>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0" i="0">
                  <a:solidFill>
                    <a:srgbClr val="595959"/>
                  </a:solidFill>
                  <a:latin typeface="맑은 고딕"/>
                  <a:ea typeface="맑은 고딕"/>
                </a:rPr>
                <a:t> Baseline</a:t>
              </a:r>
            </a:p>
          </p:txBody>
        </p:sp>
        <p:sp>
          <p:nvSpPr>
            <p:cNvPr id="174" name="Rectangle 16"/>
            <p:cNvSpPr/>
            <p:nvPr/>
          </p:nvSpPr>
          <p:spPr>
            <a:xfrm>
              <a:off x="8842248" y="2523743"/>
              <a:ext cx="1591056" cy="118872"/>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1" i="0">
                  <a:solidFill>
                    <a:srgbClr val="FFFFFF"/>
                  </a:solidFill>
                  <a:latin typeface="맑은 고딕"/>
                  <a:ea typeface="맑은 고딕"/>
                </a:rPr>
                <a:t> Target</a:t>
              </a:r>
            </a:p>
          </p:txBody>
        </p:sp>
        <p:sp>
          <p:nvSpPr>
            <p:cNvPr id="175" name="TextBox 174"/>
            <p:cNvSpPr txBox="1"/>
            <p:nvPr/>
          </p:nvSpPr>
          <p:spPr>
            <a:xfrm>
              <a:off x="10488168" y="2382011"/>
              <a:ext cx="512064" cy="118872"/>
            </a:xfrm>
            <a:prstGeom prst="rect">
              <a:avLst/>
            </a:prstGeom>
            <a:noFill/>
          </p:spPr>
          <p:txBody>
            <a:bodyPr wrap="square" lIns="0" tIns="0" rIns="0" bIns="0" anchor="ctr">
              <a:spAutoFit/>
            </a:bodyPr>
            <a:lstStyle/>
            <a:p>
              <a:pPr algn="r"/>
              <a:r>
                <a:rPr sz="750" b="0" i="0">
                  <a:solidFill>
                    <a:srgbClr val="595959"/>
                  </a:solidFill>
                  <a:latin typeface="맑은 고딕"/>
                  <a:ea typeface="맑은 고딕"/>
                </a:rPr>
                <a:t>6.5</a:t>
              </a:r>
            </a:p>
          </p:txBody>
        </p:sp>
        <p:sp>
          <p:nvSpPr>
            <p:cNvPr id="177" name="TextBox 176"/>
            <p:cNvSpPr txBox="1"/>
            <p:nvPr/>
          </p:nvSpPr>
          <p:spPr>
            <a:xfrm>
              <a:off x="10488168" y="2523743"/>
              <a:ext cx="512064" cy="118872"/>
            </a:xfrm>
            <a:prstGeom prst="rect">
              <a:avLst/>
            </a:prstGeom>
            <a:noFill/>
          </p:spPr>
          <p:txBody>
            <a:bodyPr wrap="square" lIns="0" tIns="0" rIns="0" bIns="0" anchor="ctr">
              <a:spAutoFit/>
            </a:bodyPr>
            <a:lstStyle/>
            <a:p>
              <a:pPr algn="r"/>
              <a:r>
                <a:rPr sz="750" b="1" i="0">
                  <a:solidFill>
                    <a:srgbClr val="C00000"/>
                  </a:solidFill>
                  <a:latin typeface="맑은 고딕"/>
                  <a:ea typeface="맑은 고딕"/>
                </a:rPr>
                <a:t>13.1</a:t>
              </a:r>
            </a:p>
          </p:txBody>
        </p:sp>
        <p:sp>
          <p:nvSpPr>
            <p:cNvPr id="178" name="TextBox 177"/>
            <p:cNvSpPr txBox="1"/>
            <p:nvPr/>
          </p:nvSpPr>
          <p:spPr>
            <a:xfrm>
              <a:off x="11018520" y="2382011"/>
              <a:ext cx="475488" cy="260604"/>
            </a:xfrm>
            <a:prstGeom prst="rect">
              <a:avLst/>
            </a:prstGeom>
            <a:noFill/>
          </p:spPr>
          <p:txBody>
            <a:bodyPr wrap="square" lIns="0" tIns="0" rIns="0" bIns="0" anchor="ctr">
              <a:spAutoFit/>
            </a:bodyPr>
            <a:lstStyle/>
            <a:p>
              <a:pPr algn="r"/>
              <a:r>
                <a:rPr sz="950" b="1" i="0">
                  <a:solidFill>
                    <a:srgbClr val="C00000"/>
                  </a:solidFill>
                  <a:latin typeface="맑은 고딕"/>
                  <a:ea typeface="맑은 고딕"/>
                </a:rPr>
                <a:t>2.02×</a:t>
              </a:r>
            </a:p>
          </p:txBody>
        </p:sp>
        <p:sp>
          <p:nvSpPr>
            <p:cNvPr id="179" name="TextBox 178"/>
            <p:cNvSpPr txBox="1"/>
            <p:nvPr/>
          </p:nvSpPr>
          <p:spPr>
            <a:xfrm>
              <a:off x="8842248" y="2734055"/>
              <a:ext cx="2651760" cy="173736"/>
            </a:xfrm>
            <a:prstGeom prst="rect">
              <a:avLst/>
            </a:prstGeom>
            <a:noFill/>
          </p:spPr>
          <p:txBody>
            <a:bodyPr wrap="square" lIns="0" tIns="0" rIns="0" bIns="0" anchor="ctr">
              <a:spAutoFit/>
            </a:bodyPr>
            <a:lstStyle/>
            <a:p>
              <a:pPr algn="l"/>
              <a:r>
                <a:rPr sz="850" b="1" i="0">
                  <a:solidFill>
                    <a:srgbClr val="1F4E79"/>
                  </a:solidFill>
                  <a:latin typeface="맑은 고딕"/>
                  <a:ea typeface="맑은 고딕"/>
                </a:rPr>
                <a:t>② 시나리오 처리량</a:t>
              </a:r>
            </a:p>
          </p:txBody>
        </p:sp>
        <p:cxnSp>
          <p:nvCxnSpPr>
            <p:cNvPr id="180" name="Connector 21"/>
            <p:cNvCxnSpPr/>
            <p:nvPr/>
          </p:nvCxnSpPr>
          <p:spPr>
            <a:xfrm>
              <a:off x="8842248" y="2907791"/>
              <a:ext cx="2651760"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8842248" y="2944367"/>
              <a:ext cx="1371600" cy="155448"/>
            </a:xfrm>
            <a:prstGeom prst="rect">
              <a:avLst/>
            </a:prstGeom>
            <a:noFill/>
          </p:spPr>
          <p:txBody>
            <a:bodyPr wrap="square" lIns="0" tIns="0" rIns="0" bIns="0" anchor="ctr">
              <a:spAutoFit/>
            </a:bodyPr>
            <a:lstStyle/>
            <a:p>
              <a:pPr algn="l"/>
              <a:r>
                <a:rPr sz="800" b="1" i="0">
                  <a:solidFill>
                    <a:srgbClr val="404040"/>
                  </a:solidFill>
                  <a:latin typeface="맑은 고딕"/>
                  <a:ea typeface="맑은 고딕"/>
                </a:rPr>
                <a:t>일반 (2K → 256)</a:t>
              </a:r>
            </a:p>
          </p:txBody>
        </p:sp>
        <p:sp>
          <p:nvSpPr>
            <p:cNvPr id="182" name="TextBox 181"/>
            <p:cNvSpPr txBox="1"/>
            <p:nvPr/>
          </p:nvSpPr>
          <p:spPr>
            <a:xfrm>
              <a:off x="10213848" y="2944367"/>
              <a:ext cx="1280160" cy="155448"/>
            </a:xfrm>
            <a:prstGeom prst="rect">
              <a:avLst/>
            </a:prstGeom>
            <a:noFill/>
          </p:spPr>
          <p:txBody>
            <a:bodyPr wrap="square" lIns="0" tIns="0" rIns="0" bIns="0" anchor="ctr">
              <a:spAutoFit/>
            </a:bodyPr>
            <a:lstStyle/>
            <a:p>
              <a:pPr algn="r"/>
              <a:r>
                <a:rPr sz="700" b="0" i="0">
                  <a:solidFill>
                    <a:srgbClr val="808080"/>
                  </a:solidFill>
                  <a:latin typeface="맑은 고딕"/>
                  <a:ea typeface="맑은 고딕"/>
                </a:rPr>
                <a:t>tok/s  ↑</a:t>
              </a:r>
            </a:p>
          </p:txBody>
        </p:sp>
        <p:sp>
          <p:nvSpPr>
            <p:cNvPr id="183" name="Rectangle 24"/>
            <p:cNvSpPr/>
            <p:nvPr/>
          </p:nvSpPr>
          <p:spPr>
            <a:xfrm>
              <a:off x="8842248" y="3099815"/>
              <a:ext cx="1591056" cy="118872"/>
            </a:xfrm>
            <a:prstGeom prst="rect">
              <a:avLst/>
            </a:prstGeom>
            <a:solidFill>
              <a:srgbClr val="D9D9D9"/>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0" i="0">
                  <a:solidFill>
                    <a:srgbClr val="595959"/>
                  </a:solidFill>
                  <a:latin typeface="맑은 고딕"/>
                  <a:ea typeface="맑은 고딕"/>
                </a:rPr>
                <a:t> Baseline</a:t>
              </a:r>
            </a:p>
          </p:txBody>
        </p:sp>
        <p:sp>
          <p:nvSpPr>
            <p:cNvPr id="184" name="Rectangle 25"/>
            <p:cNvSpPr/>
            <p:nvPr/>
          </p:nvSpPr>
          <p:spPr>
            <a:xfrm>
              <a:off x="8842248" y="3241547"/>
              <a:ext cx="796584" cy="118872"/>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1" i="0">
                  <a:solidFill>
                    <a:srgbClr val="FFFFFF"/>
                  </a:solidFill>
                  <a:latin typeface="맑은 고딕"/>
                  <a:ea typeface="맑은 고딕"/>
                </a:rPr>
                <a:t> Target</a:t>
              </a:r>
            </a:p>
          </p:txBody>
        </p:sp>
        <p:sp>
          <p:nvSpPr>
            <p:cNvPr id="185" name="TextBox 184"/>
            <p:cNvSpPr txBox="1"/>
            <p:nvPr/>
          </p:nvSpPr>
          <p:spPr>
            <a:xfrm>
              <a:off x="10488168" y="3099815"/>
              <a:ext cx="512064" cy="118872"/>
            </a:xfrm>
            <a:prstGeom prst="rect">
              <a:avLst/>
            </a:prstGeom>
            <a:noFill/>
          </p:spPr>
          <p:txBody>
            <a:bodyPr wrap="square" lIns="0" tIns="0" rIns="0" bIns="0" anchor="ctr">
              <a:spAutoFit/>
            </a:bodyPr>
            <a:lstStyle/>
            <a:p>
              <a:pPr algn="r"/>
              <a:r>
                <a:rPr sz="750" b="0" i="0">
                  <a:solidFill>
                    <a:srgbClr val="595959"/>
                  </a:solidFill>
                  <a:latin typeface="맑은 고딕"/>
                  <a:ea typeface="맑은 고딕"/>
                </a:rPr>
                <a:t>7,530</a:t>
              </a:r>
            </a:p>
          </p:txBody>
        </p:sp>
        <p:sp>
          <p:nvSpPr>
            <p:cNvPr id="186" name="TextBox 185"/>
            <p:cNvSpPr txBox="1"/>
            <p:nvPr/>
          </p:nvSpPr>
          <p:spPr>
            <a:xfrm>
              <a:off x="10488168" y="3241547"/>
              <a:ext cx="512064" cy="118872"/>
            </a:xfrm>
            <a:prstGeom prst="rect">
              <a:avLst/>
            </a:prstGeom>
            <a:noFill/>
          </p:spPr>
          <p:txBody>
            <a:bodyPr wrap="square" lIns="0" tIns="0" rIns="0" bIns="0" anchor="ctr">
              <a:spAutoFit/>
            </a:bodyPr>
            <a:lstStyle/>
            <a:p>
              <a:pPr algn="r"/>
              <a:r>
                <a:rPr sz="750" b="1" i="0">
                  <a:solidFill>
                    <a:srgbClr val="C00000"/>
                  </a:solidFill>
                  <a:latin typeface="맑은 고딕"/>
                  <a:ea typeface="맑은 고딕"/>
                </a:rPr>
                <a:t>3,770</a:t>
              </a:r>
            </a:p>
          </p:txBody>
        </p:sp>
        <p:sp>
          <p:nvSpPr>
            <p:cNvPr id="187" name="TextBox 186"/>
            <p:cNvSpPr txBox="1"/>
            <p:nvPr/>
          </p:nvSpPr>
          <p:spPr>
            <a:xfrm>
              <a:off x="11018520" y="3099815"/>
              <a:ext cx="475488" cy="260604"/>
            </a:xfrm>
            <a:prstGeom prst="rect">
              <a:avLst/>
            </a:prstGeom>
            <a:noFill/>
          </p:spPr>
          <p:txBody>
            <a:bodyPr wrap="square" lIns="0" tIns="0" rIns="0" bIns="0" anchor="ctr">
              <a:spAutoFit/>
            </a:bodyPr>
            <a:lstStyle/>
            <a:p>
              <a:pPr algn="r"/>
              <a:r>
                <a:rPr sz="950" b="1" i="0">
                  <a:solidFill>
                    <a:srgbClr val="C00000"/>
                  </a:solidFill>
                  <a:latin typeface="맑은 고딕"/>
                  <a:ea typeface="맑은 고딕"/>
                </a:rPr>
                <a:t>0.50×</a:t>
              </a:r>
            </a:p>
          </p:txBody>
        </p:sp>
        <p:sp>
          <p:nvSpPr>
            <p:cNvPr id="188" name="TextBox 187"/>
            <p:cNvSpPr txBox="1"/>
            <p:nvPr/>
          </p:nvSpPr>
          <p:spPr>
            <a:xfrm>
              <a:off x="8842248" y="3451859"/>
              <a:ext cx="1371600" cy="155448"/>
            </a:xfrm>
            <a:prstGeom prst="rect">
              <a:avLst/>
            </a:prstGeom>
            <a:noFill/>
          </p:spPr>
          <p:txBody>
            <a:bodyPr wrap="square" lIns="0" tIns="0" rIns="0" bIns="0" anchor="ctr">
              <a:spAutoFit/>
            </a:bodyPr>
            <a:lstStyle/>
            <a:p>
              <a:pPr algn="l"/>
              <a:r>
                <a:rPr sz="800" b="1" i="0">
                  <a:solidFill>
                    <a:srgbClr val="404040"/>
                  </a:solidFill>
                  <a:latin typeface="맑은 고딕"/>
                  <a:ea typeface="맑은 고딕"/>
                </a:rPr>
                <a:t>롱컨텍스트 (128K → 2K)</a:t>
              </a:r>
            </a:p>
          </p:txBody>
        </p:sp>
        <p:sp>
          <p:nvSpPr>
            <p:cNvPr id="189" name="TextBox 188"/>
            <p:cNvSpPr txBox="1"/>
            <p:nvPr/>
          </p:nvSpPr>
          <p:spPr>
            <a:xfrm>
              <a:off x="10213848" y="3451859"/>
              <a:ext cx="1280160" cy="155448"/>
            </a:xfrm>
            <a:prstGeom prst="rect">
              <a:avLst/>
            </a:prstGeom>
            <a:noFill/>
          </p:spPr>
          <p:txBody>
            <a:bodyPr wrap="square" lIns="0" tIns="0" rIns="0" bIns="0" anchor="ctr">
              <a:spAutoFit/>
            </a:bodyPr>
            <a:lstStyle/>
            <a:p>
              <a:pPr algn="r"/>
              <a:r>
                <a:rPr sz="700" b="0" i="0">
                  <a:solidFill>
                    <a:srgbClr val="808080"/>
                  </a:solidFill>
                  <a:latin typeface="맑은 고딕"/>
                  <a:ea typeface="맑은 고딕"/>
                </a:rPr>
                <a:t>tok/s  ↑</a:t>
              </a:r>
            </a:p>
          </p:txBody>
        </p:sp>
        <p:sp>
          <p:nvSpPr>
            <p:cNvPr id="190" name="Rectangle 31"/>
            <p:cNvSpPr/>
            <p:nvPr/>
          </p:nvSpPr>
          <p:spPr>
            <a:xfrm>
              <a:off x="8842248" y="3607307"/>
              <a:ext cx="1591056" cy="118872"/>
            </a:xfrm>
            <a:prstGeom prst="rect">
              <a:avLst/>
            </a:prstGeom>
            <a:solidFill>
              <a:srgbClr val="D9D9D9"/>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0" i="0">
                  <a:solidFill>
                    <a:srgbClr val="595959"/>
                  </a:solidFill>
                  <a:latin typeface="맑은 고딕"/>
                  <a:ea typeface="맑은 고딕"/>
                </a:rPr>
                <a:t> Baseline</a:t>
              </a:r>
            </a:p>
          </p:txBody>
        </p:sp>
        <p:sp>
          <p:nvSpPr>
            <p:cNvPr id="191" name="Rectangle 32"/>
            <p:cNvSpPr/>
            <p:nvPr/>
          </p:nvSpPr>
          <p:spPr>
            <a:xfrm>
              <a:off x="8842248" y="3749039"/>
              <a:ext cx="562739" cy="118872"/>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650" b="1" i="0">
                  <a:solidFill>
                    <a:srgbClr val="FFFFFF"/>
                  </a:solidFill>
                  <a:latin typeface="맑은 고딕"/>
                  <a:ea typeface="맑은 고딕"/>
                </a:rPr>
                <a:t> Target</a:t>
              </a:r>
            </a:p>
          </p:txBody>
        </p:sp>
        <p:sp>
          <p:nvSpPr>
            <p:cNvPr id="192" name="TextBox 191"/>
            <p:cNvSpPr txBox="1"/>
            <p:nvPr/>
          </p:nvSpPr>
          <p:spPr>
            <a:xfrm>
              <a:off x="10488168" y="3607307"/>
              <a:ext cx="512064" cy="118872"/>
            </a:xfrm>
            <a:prstGeom prst="rect">
              <a:avLst/>
            </a:prstGeom>
            <a:noFill/>
          </p:spPr>
          <p:txBody>
            <a:bodyPr wrap="square" lIns="0" tIns="0" rIns="0" bIns="0" anchor="ctr">
              <a:spAutoFit/>
            </a:bodyPr>
            <a:lstStyle/>
            <a:p>
              <a:pPr algn="r"/>
              <a:r>
                <a:rPr sz="750" b="0" i="0">
                  <a:solidFill>
                    <a:srgbClr val="595959"/>
                  </a:solidFill>
                  <a:latin typeface="맑은 고딕"/>
                  <a:ea typeface="맑은 고딕"/>
                </a:rPr>
                <a:t>393</a:t>
              </a:r>
            </a:p>
          </p:txBody>
        </p:sp>
        <p:sp>
          <p:nvSpPr>
            <p:cNvPr id="193" name="TextBox 192"/>
            <p:cNvSpPr txBox="1"/>
            <p:nvPr/>
          </p:nvSpPr>
          <p:spPr>
            <a:xfrm>
              <a:off x="10488168" y="3749039"/>
              <a:ext cx="512064" cy="118872"/>
            </a:xfrm>
            <a:prstGeom prst="rect">
              <a:avLst/>
            </a:prstGeom>
            <a:noFill/>
          </p:spPr>
          <p:txBody>
            <a:bodyPr wrap="square" lIns="0" tIns="0" rIns="0" bIns="0" anchor="ctr">
              <a:spAutoFit/>
            </a:bodyPr>
            <a:lstStyle/>
            <a:p>
              <a:pPr algn="r"/>
              <a:r>
                <a:rPr sz="750" b="1" i="0">
                  <a:solidFill>
                    <a:srgbClr val="C00000"/>
                  </a:solidFill>
                  <a:latin typeface="맑은 고딕"/>
                  <a:ea typeface="맑은 고딕"/>
                </a:rPr>
                <a:t>139</a:t>
              </a:r>
            </a:p>
          </p:txBody>
        </p:sp>
        <p:sp>
          <p:nvSpPr>
            <p:cNvPr id="194" name="TextBox 193"/>
            <p:cNvSpPr txBox="1"/>
            <p:nvPr/>
          </p:nvSpPr>
          <p:spPr>
            <a:xfrm>
              <a:off x="11018520" y="3607307"/>
              <a:ext cx="475488" cy="260604"/>
            </a:xfrm>
            <a:prstGeom prst="rect">
              <a:avLst/>
            </a:prstGeom>
            <a:noFill/>
          </p:spPr>
          <p:txBody>
            <a:bodyPr wrap="square" lIns="0" tIns="0" rIns="0" bIns="0" anchor="ctr">
              <a:spAutoFit/>
            </a:bodyPr>
            <a:lstStyle/>
            <a:p>
              <a:pPr algn="r"/>
              <a:r>
                <a:rPr sz="950" b="1" i="0">
                  <a:solidFill>
                    <a:srgbClr val="C00000"/>
                  </a:solidFill>
                  <a:latin typeface="맑은 고딕"/>
                  <a:ea typeface="맑은 고딕"/>
                </a:rPr>
                <a:t>0.35×</a:t>
              </a:r>
            </a:p>
          </p:txBody>
        </p:sp>
        <p:sp>
          <p:nvSpPr>
            <p:cNvPr id="196" name="TextBox 195"/>
            <p:cNvSpPr txBox="1"/>
            <p:nvPr/>
          </p:nvSpPr>
          <p:spPr>
            <a:xfrm>
              <a:off x="8842248" y="4093359"/>
              <a:ext cx="2651760" cy="130805"/>
            </a:xfrm>
            <a:prstGeom prst="rect">
              <a:avLst/>
            </a:prstGeom>
            <a:noFill/>
          </p:spPr>
          <p:txBody>
            <a:bodyPr wrap="square" lIns="0" tIns="0" rIns="0" bIns="0" anchor="ctr">
              <a:spAutoFit/>
            </a:bodyPr>
            <a:lstStyle/>
            <a:p>
              <a:pPr algn="l"/>
              <a:r>
                <a:rPr lang="ko-KR" altLang="en-US" sz="850" b="1" i="0" dirty="0" smtClean="0">
                  <a:solidFill>
                    <a:srgbClr val="1F4E79"/>
                  </a:solidFill>
                  <a:latin typeface="맑은 고딕"/>
                  <a:ea typeface="맑은 고딕"/>
                </a:rPr>
                <a:t>분석 모델 </a:t>
              </a:r>
              <a:endParaRPr sz="850" b="1" i="0" dirty="0">
                <a:solidFill>
                  <a:srgbClr val="1F4E79"/>
                </a:solidFill>
                <a:latin typeface="맑은 고딕"/>
                <a:ea typeface="맑은 고딕"/>
              </a:endParaRPr>
            </a:p>
          </p:txBody>
        </p:sp>
        <p:cxnSp>
          <p:nvCxnSpPr>
            <p:cNvPr id="197" name="Connector 38"/>
            <p:cNvCxnSpPr/>
            <p:nvPr/>
          </p:nvCxnSpPr>
          <p:spPr>
            <a:xfrm>
              <a:off x="8842248" y="4247323"/>
              <a:ext cx="2651760"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8" name="TextBox 197"/>
            <p:cNvSpPr txBox="1"/>
            <p:nvPr/>
          </p:nvSpPr>
          <p:spPr>
            <a:xfrm>
              <a:off x="8842248" y="4283899"/>
              <a:ext cx="2651760" cy="1750479"/>
            </a:xfrm>
            <a:prstGeom prst="rect">
              <a:avLst/>
            </a:prstGeom>
            <a:noFill/>
          </p:spPr>
          <p:txBody>
            <a:bodyPr wrap="square" lIns="0" tIns="0" rIns="0" bIns="0" anchor="t">
              <a:spAutoFit/>
            </a:bodyPr>
            <a:lstStyle/>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모델</a:t>
              </a:r>
              <a:r>
                <a:rPr sz="700" b="0" i="0" dirty="0">
                  <a:solidFill>
                    <a:srgbClr val="808080"/>
                  </a:solidFill>
                  <a:latin typeface="맑은 고딕"/>
                  <a:ea typeface="맑은 고딕"/>
                </a:rPr>
                <a:t>    Llama-3.1-70B · BF16 → weight 140 GB,</a:t>
              </a:r>
            </a:p>
            <a:p>
              <a:pPr algn="l">
                <a:lnSpc>
                  <a:spcPct val="125000"/>
                </a:lnSpc>
              </a:pPr>
              <a:r>
                <a:rPr sz="700" b="0" i="0" dirty="0">
                  <a:solidFill>
                    <a:srgbClr val="808080"/>
                  </a:solidFill>
                  <a:latin typeface="맑은 고딕"/>
                  <a:ea typeface="맑은 고딕"/>
                </a:rPr>
                <a:t>             GQA KV head 8 → KV 320 KB/token</a:t>
              </a:r>
            </a:p>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실행</a:t>
              </a:r>
              <a:r>
                <a:rPr sz="700" b="0" i="0" dirty="0">
                  <a:solidFill>
                    <a:srgbClr val="808080"/>
                  </a:solidFill>
                  <a:latin typeface="맑은 고딕"/>
                  <a:ea typeface="맑은 고딕"/>
                </a:rPr>
                <a:t>    Baseline TP8 (GPU×8) / Target TP4 (GPU×4),</a:t>
              </a:r>
            </a:p>
            <a:p>
              <a:pPr algn="l">
                <a:lnSpc>
                  <a:spcPct val="125000"/>
                </a:lnSpc>
              </a:pPr>
              <a:r>
                <a:rPr sz="700" b="0" i="0" dirty="0">
                  <a:solidFill>
                    <a:srgbClr val="808080"/>
                  </a:solidFill>
                  <a:latin typeface="맑은 고딕"/>
                  <a:ea typeface="맑은 고딕"/>
                </a:rPr>
                <a:t>             PNM · PIM </a:t>
              </a:r>
              <a:r>
                <a:rPr sz="700" b="0" i="0" dirty="0" err="1">
                  <a:solidFill>
                    <a:srgbClr val="808080"/>
                  </a:solidFill>
                  <a:latin typeface="맑은 고딕"/>
                  <a:ea typeface="맑은 고딕"/>
                </a:rPr>
                <a:t>연산</a:t>
              </a:r>
              <a:r>
                <a:rPr sz="700" b="0" i="0" dirty="0">
                  <a:solidFill>
                    <a:srgbClr val="808080"/>
                  </a:solidFill>
                  <a:latin typeface="맑은 고딕"/>
                  <a:ea typeface="맑은 고딕"/>
                </a:rPr>
                <a:t> </a:t>
              </a:r>
              <a:r>
                <a:rPr sz="700" b="0" i="0" dirty="0" err="1">
                  <a:solidFill>
                    <a:srgbClr val="808080"/>
                  </a:solidFill>
                  <a:latin typeface="맑은 고딕"/>
                  <a:ea typeface="맑은 고딕"/>
                </a:rPr>
                <a:t>경로</a:t>
              </a:r>
              <a:r>
                <a:rPr sz="700" b="0" i="0" dirty="0">
                  <a:solidFill>
                    <a:srgbClr val="808080"/>
                  </a:solidFill>
                  <a:latin typeface="맑은 고딕"/>
                  <a:ea typeface="맑은 고딕"/>
                </a:rPr>
                <a:t> </a:t>
              </a:r>
              <a:r>
                <a:rPr sz="700" b="0" i="0" dirty="0" err="1">
                  <a:solidFill>
                    <a:srgbClr val="808080"/>
                  </a:solidFill>
                  <a:latin typeface="맑은 고딕"/>
                  <a:ea typeface="맑은 고딕"/>
                </a:rPr>
                <a:t>미사용</a:t>
              </a:r>
              <a:r>
                <a:rPr sz="700" b="0" i="0" dirty="0">
                  <a:solidFill>
                    <a:srgbClr val="808080"/>
                  </a:solidFill>
                  <a:latin typeface="맑은 고딕"/>
                  <a:ea typeface="맑은 고딕"/>
                </a:rPr>
                <a:t> · </a:t>
              </a:r>
              <a:r>
                <a:rPr sz="700" b="0" i="0" dirty="0" err="1">
                  <a:solidFill>
                    <a:srgbClr val="808080"/>
                  </a:solidFill>
                  <a:latin typeface="맑은 고딕"/>
                  <a:ea typeface="맑은 고딕"/>
                </a:rPr>
                <a:t>KV는</a:t>
              </a:r>
              <a:r>
                <a:rPr sz="700" b="0" i="0" dirty="0">
                  <a:solidFill>
                    <a:srgbClr val="808080"/>
                  </a:solidFill>
                  <a:latin typeface="맑은 고딕"/>
                  <a:ea typeface="맑은 고딕"/>
                </a:rPr>
                <a:t> HBM </a:t>
              </a:r>
              <a:r>
                <a:rPr sz="700" b="0" i="0" dirty="0" err="1">
                  <a:solidFill>
                    <a:srgbClr val="808080"/>
                  </a:solidFill>
                  <a:latin typeface="맑은 고딕"/>
                  <a:ea typeface="맑은 고딕"/>
                </a:rPr>
                <a:t>상주</a:t>
              </a:r>
              <a:endParaRPr sz="700" b="0" i="0" dirty="0">
                <a:solidFill>
                  <a:srgbClr val="808080"/>
                </a:solidFill>
                <a:latin typeface="맑은 고딕"/>
                <a:ea typeface="맑은 고딕"/>
              </a:endParaRPr>
            </a:p>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일반</a:t>
              </a:r>
              <a:r>
                <a:rPr sz="700" b="0" i="0" dirty="0">
                  <a:solidFill>
                    <a:srgbClr val="808080"/>
                  </a:solidFill>
                  <a:latin typeface="맑은 고딕"/>
                  <a:ea typeface="맑은 고딕"/>
                </a:rPr>
                <a:t>    </a:t>
              </a:r>
              <a:r>
                <a:rPr sz="700" b="0" i="0" dirty="0" err="1">
                  <a:solidFill>
                    <a:srgbClr val="808080"/>
                  </a:solidFill>
                  <a:latin typeface="맑은 고딕"/>
                  <a:ea typeface="맑은 고딕"/>
                </a:rPr>
                <a:t>입력</a:t>
              </a:r>
              <a:r>
                <a:rPr sz="700" b="0" i="0" dirty="0">
                  <a:solidFill>
                    <a:srgbClr val="808080"/>
                  </a:solidFill>
                  <a:latin typeface="맑은 고딕"/>
                  <a:ea typeface="맑은 고딕"/>
                </a:rPr>
                <a:t> 2K · </a:t>
              </a:r>
              <a:r>
                <a:rPr sz="700" b="0" i="0" dirty="0" err="1">
                  <a:solidFill>
                    <a:srgbClr val="808080"/>
                  </a:solidFill>
                  <a:latin typeface="맑은 고딕"/>
                  <a:ea typeface="맑은 고딕"/>
                </a:rPr>
                <a:t>출력</a:t>
              </a:r>
              <a:r>
                <a:rPr sz="700" b="0" i="0" dirty="0">
                  <a:solidFill>
                    <a:srgbClr val="808080"/>
                  </a:solidFill>
                  <a:latin typeface="맑은 고딕"/>
                  <a:ea typeface="맑은 고딕"/>
                </a:rPr>
                <a:t> 256 · </a:t>
              </a:r>
              <a:r>
                <a:rPr sz="700" b="0" i="0" dirty="0" err="1">
                  <a:solidFill>
                    <a:srgbClr val="808080"/>
                  </a:solidFill>
                  <a:latin typeface="맑은 고딕"/>
                  <a:ea typeface="맑은 고딕"/>
                </a:rPr>
                <a:t>배치</a:t>
              </a:r>
              <a:r>
                <a:rPr sz="700" b="0" i="0" dirty="0">
                  <a:solidFill>
                    <a:srgbClr val="808080"/>
                  </a:solidFill>
                  <a:latin typeface="맑은 고딕"/>
                  <a:ea typeface="맑은 고딕"/>
                </a:rPr>
                <a:t> 64</a:t>
              </a:r>
            </a:p>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롱컨</a:t>
              </a:r>
              <a:r>
                <a:rPr sz="700" b="0" i="0" dirty="0">
                  <a:solidFill>
                    <a:srgbClr val="808080"/>
                  </a:solidFill>
                  <a:latin typeface="맑은 고딕"/>
                  <a:ea typeface="맑은 고딕"/>
                </a:rPr>
                <a:t>    </a:t>
              </a:r>
              <a:r>
                <a:rPr sz="700" b="0" i="0" dirty="0" err="1">
                  <a:solidFill>
                    <a:srgbClr val="808080"/>
                  </a:solidFill>
                  <a:latin typeface="맑은 고딕"/>
                  <a:ea typeface="맑은 고딕"/>
                </a:rPr>
                <a:t>입력</a:t>
              </a:r>
              <a:r>
                <a:rPr sz="700" b="0" i="0" dirty="0">
                  <a:solidFill>
                    <a:srgbClr val="808080"/>
                  </a:solidFill>
                  <a:latin typeface="맑은 고딕"/>
                  <a:ea typeface="맑은 고딕"/>
                </a:rPr>
                <a:t> 128K · </a:t>
              </a:r>
              <a:r>
                <a:rPr sz="700" b="0" i="0" dirty="0" err="1">
                  <a:solidFill>
                    <a:srgbClr val="808080"/>
                  </a:solidFill>
                  <a:latin typeface="맑은 고딕"/>
                  <a:ea typeface="맑은 고딕"/>
                </a:rPr>
                <a:t>출력</a:t>
              </a:r>
              <a:r>
                <a:rPr sz="700" b="0" i="0" dirty="0">
                  <a:solidFill>
                    <a:srgbClr val="808080"/>
                  </a:solidFill>
                  <a:latin typeface="맑은 고딕"/>
                  <a:ea typeface="맑은 고딕"/>
                </a:rPr>
                <a:t> 2K · KV </a:t>
              </a:r>
              <a:r>
                <a:rPr sz="700" b="0" i="0" dirty="0" err="1">
                  <a:solidFill>
                    <a:srgbClr val="808080"/>
                  </a:solidFill>
                  <a:latin typeface="맑은 고딕"/>
                  <a:ea typeface="맑은 고딕"/>
                </a:rPr>
                <a:t>한도까지</a:t>
              </a:r>
              <a:r>
                <a:rPr sz="700" b="0" i="0" dirty="0">
                  <a:solidFill>
                    <a:srgbClr val="808080"/>
                  </a:solidFill>
                  <a:latin typeface="맑은 고딕"/>
                  <a:ea typeface="맑은 고딕"/>
                </a:rPr>
                <a:t> </a:t>
              </a:r>
              <a:r>
                <a:rPr sz="700" b="0" i="0" dirty="0" err="1">
                  <a:solidFill>
                    <a:srgbClr val="808080"/>
                  </a:solidFill>
                  <a:latin typeface="맑은 고딕"/>
                  <a:ea typeface="맑은 고딕"/>
                </a:rPr>
                <a:t>배치</a:t>
              </a:r>
              <a:endParaRPr sz="700" b="0" i="0" dirty="0">
                <a:solidFill>
                  <a:srgbClr val="808080"/>
                </a:solidFill>
                <a:latin typeface="맑은 고딕"/>
                <a:ea typeface="맑은 고딕"/>
              </a:endParaRPr>
            </a:p>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동시</a:t>
              </a:r>
              <a:r>
                <a:rPr sz="700" b="0" i="0" dirty="0">
                  <a:solidFill>
                    <a:srgbClr val="808080"/>
                  </a:solidFill>
                  <a:latin typeface="맑은 고딕"/>
                  <a:ea typeface="맑은 고딕"/>
                </a:rPr>
                <a:t> 11 </a:t>
              </a:r>
              <a:r>
                <a:rPr sz="700" b="0" i="0" dirty="0" err="1">
                  <a:solidFill>
                    <a:srgbClr val="808080"/>
                  </a:solidFill>
                  <a:latin typeface="맑은 고딕"/>
                  <a:ea typeface="맑은 고딕"/>
                </a:rPr>
                <a:t>seq</a:t>
              </a:r>
              <a:r>
                <a:rPr sz="700" b="0" i="0" dirty="0">
                  <a:solidFill>
                    <a:srgbClr val="808080"/>
                  </a:solidFill>
                  <a:latin typeface="맑은 고딕"/>
                  <a:ea typeface="맑은 고딕"/>
                </a:rPr>
                <a:t> ↔ 4 </a:t>
              </a:r>
              <a:r>
                <a:rPr sz="700" b="0" i="0" dirty="0" err="1">
                  <a:solidFill>
                    <a:srgbClr val="808080"/>
                  </a:solidFill>
                  <a:latin typeface="맑은 고딕"/>
                  <a:ea typeface="맑은 고딕"/>
                </a:rPr>
                <a:t>seq</a:t>
              </a:r>
              <a:r>
                <a:rPr sz="700" b="0" i="0" dirty="0">
                  <a:solidFill>
                    <a:srgbClr val="808080"/>
                  </a:solidFill>
                  <a:latin typeface="맑은 고딕"/>
                  <a:ea typeface="맑은 고딕"/>
                </a:rPr>
                <a:t> — </a:t>
              </a:r>
              <a:r>
                <a:rPr sz="700" b="0" i="0" dirty="0" err="1">
                  <a:solidFill>
                    <a:srgbClr val="808080"/>
                  </a:solidFill>
                  <a:latin typeface="맑은 고딕"/>
                  <a:ea typeface="맑은 고딕"/>
                </a:rPr>
                <a:t>배치가</a:t>
              </a:r>
              <a:r>
                <a:rPr sz="700" b="0" i="0" dirty="0">
                  <a:solidFill>
                    <a:srgbClr val="808080"/>
                  </a:solidFill>
                  <a:latin typeface="맑은 고딕"/>
                  <a:ea typeface="맑은 고딕"/>
                </a:rPr>
                <a:t> </a:t>
              </a:r>
              <a:r>
                <a:rPr sz="700" b="0" i="0" dirty="0" err="1">
                  <a:solidFill>
                    <a:srgbClr val="808080"/>
                  </a:solidFill>
                  <a:latin typeface="맑은 고딕"/>
                  <a:ea typeface="맑은 고딕"/>
                </a:rPr>
                <a:t>먼저</a:t>
              </a:r>
              <a:r>
                <a:rPr sz="700" b="0" i="0" dirty="0">
                  <a:solidFill>
                    <a:srgbClr val="808080"/>
                  </a:solidFill>
                  <a:latin typeface="맑은 고딕"/>
                  <a:ea typeface="맑은 고딕"/>
                </a:rPr>
                <a:t> </a:t>
              </a:r>
              <a:r>
                <a:rPr sz="700" b="0" i="0" dirty="0" err="1">
                  <a:solidFill>
                    <a:srgbClr val="808080"/>
                  </a:solidFill>
                  <a:latin typeface="맑은 고딕"/>
                  <a:ea typeface="맑은 고딕"/>
                </a:rPr>
                <a:t>깎인다</a:t>
              </a:r>
              <a:r>
                <a:rPr sz="700" b="0" i="0" dirty="0">
                  <a:solidFill>
                    <a:srgbClr val="808080"/>
                  </a:solidFill>
                  <a:latin typeface="맑은 고딕"/>
                  <a:ea typeface="맑은 고딕"/>
                </a:rPr>
                <a:t>)</a:t>
              </a:r>
            </a:p>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효율</a:t>
              </a:r>
              <a:r>
                <a:rPr sz="700" b="0" i="0" dirty="0">
                  <a:solidFill>
                    <a:srgbClr val="808080"/>
                  </a:solidFill>
                  <a:latin typeface="맑은 고딕"/>
                  <a:ea typeface="맑은 고딕"/>
                </a:rPr>
                <a:t>    prefill MFU 45% · decode </a:t>
              </a:r>
              <a:r>
                <a:rPr sz="700" b="0" i="0" dirty="0" err="1">
                  <a:solidFill>
                    <a:srgbClr val="808080"/>
                  </a:solidFill>
                  <a:latin typeface="맑은 고딕"/>
                  <a:ea typeface="맑은 고딕"/>
                </a:rPr>
                <a:t>실효</a:t>
              </a:r>
              <a:r>
                <a:rPr sz="700" b="0" i="0" dirty="0">
                  <a:solidFill>
                    <a:srgbClr val="808080"/>
                  </a:solidFill>
                  <a:latin typeface="맑은 고딕"/>
                  <a:ea typeface="맑은 고딕"/>
                </a:rPr>
                <a:t> </a:t>
              </a:r>
              <a:r>
                <a:rPr sz="700" b="0" i="0" dirty="0" err="1">
                  <a:solidFill>
                    <a:srgbClr val="808080"/>
                  </a:solidFill>
                  <a:latin typeface="맑은 고딕"/>
                  <a:ea typeface="맑은 고딕"/>
                </a:rPr>
                <a:t>대역폭</a:t>
              </a:r>
              <a:r>
                <a:rPr sz="700" b="0" i="0" dirty="0">
                  <a:solidFill>
                    <a:srgbClr val="808080"/>
                  </a:solidFill>
                  <a:latin typeface="맑은 고딕"/>
                  <a:ea typeface="맑은 고딕"/>
                </a:rPr>
                <a:t> 80%</a:t>
              </a:r>
            </a:p>
            <a:p>
              <a:pPr algn="l">
                <a:lnSpc>
                  <a:spcPct val="125000"/>
                </a:lnSpc>
              </a:pPr>
              <a:r>
                <a:rPr sz="700" b="0" i="0" dirty="0">
                  <a:solidFill>
                    <a:srgbClr val="808080"/>
                  </a:solidFill>
                  <a:latin typeface="맑은 고딕"/>
                  <a:ea typeface="맑은 고딕"/>
                </a:rPr>
                <a:t>· HW     H100 SXM5 · 132 SM · 989 TFLOP/s · 3.35 TB/s</a:t>
              </a:r>
            </a:p>
            <a:p>
              <a:pPr algn="l">
                <a:lnSpc>
                  <a:spcPct val="125000"/>
                </a:lnSpc>
              </a:pPr>
              <a:r>
                <a:rPr sz="700" b="0" i="0" dirty="0">
                  <a:solidFill>
                    <a:srgbClr val="808080"/>
                  </a:solidFill>
                  <a:latin typeface="맑은 고딕"/>
                  <a:ea typeface="맑은 고딕"/>
                </a:rPr>
                <a:t>· </a:t>
              </a:r>
              <a:r>
                <a:rPr sz="700" b="0" i="0" dirty="0" err="1">
                  <a:solidFill>
                    <a:srgbClr val="808080"/>
                  </a:solidFill>
                  <a:latin typeface="맑은 고딕"/>
                  <a:ea typeface="맑은 고딕"/>
                </a:rPr>
                <a:t>비용</a:t>
              </a:r>
              <a:r>
                <a:rPr sz="700" b="0" i="0" dirty="0">
                  <a:solidFill>
                    <a:srgbClr val="808080"/>
                  </a:solidFill>
                  <a:latin typeface="맑은 고딕"/>
                  <a:ea typeface="맑은 고딕"/>
                </a:rPr>
                <a:t>    4노드 합 $1,132K → $777K = 0.69</a:t>
              </a:r>
              <a:r>
                <a:rPr sz="700" b="0" i="0" dirty="0" smtClean="0">
                  <a:solidFill>
                    <a:srgbClr val="808080"/>
                  </a:solidFill>
                  <a:latin typeface="맑은 고딕"/>
                  <a:ea typeface="맑은 고딕"/>
                </a:rPr>
                <a:t>×</a:t>
              </a:r>
              <a:endParaRPr lang="en-US" sz="700" b="0" i="0" dirty="0" smtClean="0">
                <a:solidFill>
                  <a:srgbClr val="808080"/>
                </a:solidFill>
                <a:latin typeface="맑은 고딕"/>
                <a:ea typeface="맑은 고딕"/>
              </a:endParaRPr>
            </a:p>
            <a:p>
              <a:pPr algn="l">
                <a:lnSpc>
                  <a:spcPct val="125000"/>
                </a:lnSpc>
              </a:pPr>
              <a:endParaRPr lang="en-US" sz="700" dirty="0">
                <a:solidFill>
                  <a:srgbClr val="808080"/>
                </a:solidFill>
                <a:latin typeface="맑은 고딕"/>
                <a:ea typeface="맑은 고딕"/>
              </a:endParaRPr>
            </a:p>
            <a:p>
              <a:pPr>
                <a:lnSpc>
                  <a:spcPct val="125000"/>
                </a:lnSpc>
              </a:pPr>
              <a:r>
                <a:rPr lang="en-US" sz="700" dirty="0">
                  <a:solidFill>
                    <a:srgbClr val="808080"/>
                  </a:solidFill>
                  <a:ea typeface="맑은 고딕"/>
                </a:rPr>
                <a:t>prefill </a:t>
              </a:r>
              <a:r>
                <a:rPr lang="ko-KR" altLang="en-US" sz="700" dirty="0">
                  <a:solidFill>
                    <a:srgbClr val="808080"/>
                  </a:solidFill>
                  <a:ea typeface="맑은 고딕"/>
                </a:rPr>
                <a:t>처리량 </a:t>
              </a:r>
              <a:r>
                <a:rPr lang="en-US" altLang="ko-KR" sz="700" dirty="0">
                  <a:solidFill>
                    <a:srgbClr val="808080"/>
                  </a:solidFill>
                  <a:ea typeface="맑은 고딕"/>
                </a:rPr>
                <a:t>= (</a:t>
              </a:r>
              <a:r>
                <a:rPr lang="en-US" sz="700" dirty="0">
                  <a:solidFill>
                    <a:srgbClr val="808080"/>
                  </a:solidFill>
                  <a:ea typeface="맑은 고딕"/>
                </a:rPr>
                <a:t>GPU </a:t>
              </a:r>
              <a:r>
                <a:rPr lang="ko-KR" altLang="en-US" sz="700" dirty="0">
                  <a:solidFill>
                    <a:srgbClr val="808080"/>
                  </a:solidFill>
                  <a:ea typeface="맑은 고딕"/>
                </a:rPr>
                <a:t>수 </a:t>
              </a:r>
              <a:r>
                <a:rPr lang="en-US" altLang="ko-KR" sz="700" dirty="0">
                  <a:solidFill>
                    <a:srgbClr val="808080"/>
                  </a:solidFill>
                  <a:ea typeface="맑은 고딕"/>
                </a:rPr>
                <a:t>× </a:t>
              </a:r>
              <a:r>
                <a:rPr lang="en-US" sz="700" dirty="0">
                  <a:solidFill>
                    <a:srgbClr val="808080"/>
                  </a:solidFill>
                  <a:ea typeface="맑은 고딕"/>
                </a:rPr>
                <a:t>BF16 dense peak × MFU) ÷ (2 × </a:t>
              </a:r>
              <a:r>
                <a:rPr lang="ko-KR" altLang="en-US" sz="700" dirty="0" err="1">
                  <a:solidFill>
                    <a:srgbClr val="808080"/>
                  </a:solidFill>
                  <a:ea typeface="맑은 고딕"/>
                </a:rPr>
                <a:t>파라미터</a:t>
              </a:r>
              <a:r>
                <a:rPr lang="ko-KR" altLang="en-US" sz="700" dirty="0">
                  <a:solidFill>
                    <a:srgbClr val="808080"/>
                  </a:solidFill>
                  <a:ea typeface="맑은 고딕"/>
                </a:rPr>
                <a:t> 수</a:t>
              </a:r>
              <a:r>
                <a:rPr lang="en-US" altLang="ko-KR" sz="700" dirty="0" smtClean="0">
                  <a:solidFill>
                    <a:srgbClr val="808080"/>
                  </a:solidFill>
                  <a:ea typeface="맑은 고딕"/>
                </a:rPr>
                <a:t>)</a:t>
              </a:r>
              <a:endParaRPr lang="en-US" altLang="ko-KR" sz="700" dirty="0">
                <a:solidFill>
                  <a:srgbClr val="808080"/>
                </a:solidFill>
                <a:ea typeface="맑은 고딕"/>
              </a:endParaRPr>
            </a:p>
          </p:txBody>
        </p:sp>
      </p:grpSp>
    </p:spTree>
    <p:extLst>
      <p:ext uri="{BB962C8B-B14F-4D97-AF65-F5344CB8AC3E}">
        <p14:creationId xmlns:p14="http://schemas.microsoft.com/office/powerpoint/2010/main" val="25073113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중요도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난이도</a:t>
            </a:r>
            <a:r>
              <a:rPr lang="en-US" altLang="ko-KR" sz="1600" dirty="0">
                <a:solidFill>
                  <a:prstClr val="black"/>
                </a:solidFill>
                <a:latin typeface="맑은 고딕" panose="020F0502020204030204"/>
                <a:ea typeface="맑은 고딕" panose="020B0503020000020004" pitchFamily="50" charset="-127"/>
              </a:rPr>
              <a:t> M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extLst>
              <p:ext uri="{D42A27DB-BD31-4B8C-83A1-F6EECF244321}">
                <p14:modId xmlns:p14="http://schemas.microsoft.com/office/powerpoint/2010/main" val="3673314245"/>
              </p:ext>
            </p:extLst>
          </p:nvPr>
        </p:nvGraphicFramePr>
        <p:xfrm>
          <a:off x="278859" y="996757"/>
          <a:ext cx="11709382" cy="5181524"/>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639678">
                  <a:extLst>
                    <a:ext uri="{9D8B030D-6E8A-4147-A177-3AD203B41FA5}">
                      <a16:colId xmlns:a16="http://schemas.microsoft.com/office/drawing/2014/main" val="714743119"/>
                    </a:ext>
                  </a:extLst>
                </a:gridCol>
                <a:gridCol w="6583680">
                  <a:extLst>
                    <a:ext uri="{9D8B030D-6E8A-4147-A177-3AD203B41FA5}">
                      <a16:colId xmlns:a16="http://schemas.microsoft.com/office/drawing/2014/main" val="713779841"/>
                    </a:ext>
                  </a:extLst>
                </a:gridCol>
                <a:gridCol w="632460">
                  <a:extLst>
                    <a:ext uri="{9D8B030D-6E8A-4147-A177-3AD203B41FA5}">
                      <a16:colId xmlns:a16="http://schemas.microsoft.com/office/drawing/2014/main" val="4072428474"/>
                    </a:ext>
                  </a:extLst>
                </a:gridCol>
                <a:gridCol w="632460">
                  <a:extLst>
                    <a:ext uri="{9D8B030D-6E8A-4147-A177-3AD203B41FA5}">
                      <a16:colId xmlns:a16="http://schemas.microsoft.com/office/drawing/2014/main" val="2666804482"/>
                    </a:ext>
                  </a:extLst>
                </a:gridCol>
                <a:gridCol w="558241">
                  <a:extLst>
                    <a:ext uri="{9D8B030D-6E8A-4147-A177-3AD203B41FA5}">
                      <a16:colId xmlns:a16="http://schemas.microsoft.com/office/drawing/2014/main" val="2282568718"/>
                    </a:ext>
                  </a:extLst>
                </a:gridCol>
              </a:tblGrid>
              <a:tr h="317693">
                <a:tc>
                  <a:txBody>
                    <a:bodyPr/>
                    <a:lstStyle/>
                    <a:p>
                      <a:pPr algn="ctr"/>
                      <a:r>
                        <a:rPr lang="ko-KR" altLang="en-US" sz="1050" b="1" dirty="0">
                          <a:solidFill>
                            <a:schemeClr val="bg1"/>
                          </a:solidFill>
                        </a:rPr>
                        <a:t>번호</a:t>
                      </a:r>
                    </a:p>
                  </a:txBody>
                  <a:tcPr anchor="ctr">
                    <a:solidFill>
                      <a:srgbClr val="3B3B3B"/>
                    </a:solidFill>
                  </a:tcPr>
                </a:tc>
                <a:tc>
                  <a:txBody>
                    <a:bodyPr/>
                    <a:lstStyle/>
                    <a:p>
                      <a:pPr algn="ctr"/>
                      <a:r>
                        <a:rPr lang="en-US" sz="1050" b="1" dirty="0">
                          <a:solidFill>
                            <a:schemeClr val="bg1"/>
                          </a:solidFill>
                        </a:rPr>
                        <a:t>QA</a:t>
                      </a:r>
                    </a:p>
                  </a:txBody>
                  <a:tcPr anchor="ctr">
                    <a:solidFill>
                      <a:srgbClr val="3B3B3B"/>
                    </a:solidFill>
                  </a:tcPr>
                </a:tc>
                <a:tc>
                  <a:txBody>
                    <a:bodyPr/>
                    <a:lstStyle/>
                    <a:p>
                      <a:pPr algn="ctr"/>
                      <a:r>
                        <a:rPr lang="en-US" sz="1050" b="1" dirty="0">
                          <a:solidFill>
                            <a:schemeClr val="bg1"/>
                          </a:solidFill>
                        </a:rPr>
                        <a:t>Refinement</a:t>
                      </a:r>
                    </a:p>
                  </a:txBody>
                  <a:tcPr anchor="ctr">
                    <a:solidFill>
                      <a:srgbClr val="3B3B3B"/>
                    </a:solidFill>
                  </a:tcPr>
                </a:tc>
                <a:tc>
                  <a:txBody>
                    <a:bodyPr/>
                    <a:lstStyle/>
                    <a:p>
                      <a:pPr algn="ctr"/>
                      <a:r>
                        <a:rPr lang="en-US" sz="1050" b="1" dirty="0">
                          <a:solidFill>
                            <a:schemeClr val="bg1"/>
                          </a:solidFill>
                        </a:rPr>
                        <a:t>Scenario</a:t>
                      </a:r>
                    </a:p>
                  </a:txBody>
                  <a:tcPr anchor="ctr">
                    <a:solidFill>
                      <a:srgbClr val="3B3B3B"/>
                    </a:solidFill>
                  </a:tcPr>
                </a:tc>
                <a:tc>
                  <a:txBody>
                    <a:bodyPr/>
                    <a:lstStyle/>
                    <a:p>
                      <a:pPr algn="ctr"/>
                      <a:r>
                        <a:rPr lang="ko-KR" altLang="en-US" sz="1050" b="1">
                          <a:solidFill>
                            <a:schemeClr val="bg1"/>
                          </a:solidFill>
                        </a:rPr>
                        <a:t>중요도</a:t>
                      </a:r>
                    </a:p>
                  </a:txBody>
                  <a:tcPr anchor="ctr">
                    <a:solidFill>
                      <a:srgbClr val="3B3B3B"/>
                    </a:solidFill>
                  </a:tcPr>
                </a:tc>
                <a:tc>
                  <a:txBody>
                    <a:bodyPr/>
                    <a:lstStyle/>
                    <a:p>
                      <a:pPr algn="ctr"/>
                      <a:r>
                        <a:rPr lang="ko-KR" altLang="en-US" sz="1050" b="1" dirty="0">
                          <a:solidFill>
                            <a:schemeClr val="bg1"/>
                          </a:solidFill>
                        </a:rPr>
                        <a:t>난이도</a:t>
                      </a:r>
                    </a:p>
                  </a:txBody>
                  <a:tcPr anchor="ctr">
                    <a:solidFill>
                      <a:srgbClr val="3B3B3B"/>
                    </a:solidFill>
                  </a:tcPr>
                </a:tc>
                <a:tc>
                  <a:txBody>
                    <a:bodyPr/>
                    <a:lstStyle/>
                    <a:p>
                      <a:pPr algn="ctr"/>
                      <a:r>
                        <a:rPr lang="ko-KR" altLang="en-US" sz="105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786339">
                <a:tc>
                  <a:txBody>
                    <a:bodyPr/>
                    <a:lstStyle/>
                    <a:p>
                      <a:r>
                        <a:rPr lang="en-US" sz="1000" dirty="0"/>
                        <a:t>QA-01</a:t>
                      </a:r>
                    </a:p>
                  </a:txBody>
                  <a:tcPr anchor="ctr">
                    <a:solidFill>
                      <a:schemeClr val="accent4">
                        <a:lumMod val="20000"/>
                        <a:lumOff val="80000"/>
                      </a:schemeClr>
                    </a:solidFill>
                  </a:tcPr>
                </a:tc>
                <a:tc>
                  <a:txBody>
                    <a:bodyPr/>
                    <a:lstStyle/>
                    <a:p>
                      <a:r>
                        <a:rPr lang="en-US" sz="10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dirty="0"/>
                        <a:t>(Throughput)</a:t>
                      </a:r>
                    </a:p>
                  </a:txBody>
                  <a:tcPr anchor="ctr">
                    <a:solidFill>
                      <a:schemeClr val="accent4">
                        <a:lumMod val="20000"/>
                        <a:lumOff val="80000"/>
                      </a:schemeClr>
                    </a:solidFill>
                  </a:tcPr>
                </a:tc>
                <a:tc>
                  <a:txBody>
                    <a:bodyPr/>
                    <a:lstStyle/>
                    <a:p>
                      <a:r>
                        <a:rPr lang="ko-KR" altLang="en-US" sz="1000" dirty="0"/>
                        <a:t>서비스 수준 목표</a:t>
                      </a:r>
                      <a:r>
                        <a:rPr lang="en-US" altLang="ko-KR" sz="1000" dirty="0"/>
                        <a:t>(SLO)</a:t>
                      </a:r>
                      <a:r>
                        <a:rPr lang="ko-KR" altLang="en-US" sz="1000" dirty="0"/>
                        <a:t>를 만족하는 요청 처리량</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다수의 </a:t>
                      </a:r>
                      <a:r>
                        <a:rPr lang="en-US" altLang="ko-KR" sz="1000" dirty="0"/>
                        <a:t>agent </a:t>
                      </a:r>
                      <a:r>
                        <a:rPr lang="ko-KR" altLang="en-US" sz="1000" dirty="0"/>
                        <a:t>세션이 동시에 요청하는 상황에서</a:t>
                      </a:r>
                      <a:r>
                        <a:rPr lang="en-US" altLang="ko-KR" sz="1000" dirty="0"/>
                        <a:t>, </a:t>
                      </a:r>
                      <a:r>
                        <a:rPr lang="ko-KR" altLang="en-US" sz="1000" dirty="0"/>
                        <a:t>지정한 </a:t>
                      </a:r>
                      <a:r>
                        <a:rPr lang="en-US" altLang="ko-KR" sz="1000" dirty="0"/>
                        <a:t>SLO*</a:t>
                      </a:r>
                      <a:r>
                        <a:rPr lang="ko-KR" altLang="en-US" sz="1000" dirty="0"/>
                        <a:t>를 만족하며</a:t>
                      </a:r>
                      <a:r>
                        <a:rPr lang="en-US" altLang="ko-KR" sz="1000" dirty="0"/>
                        <a:t>, </a:t>
                      </a:r>
                      <a:r>
                        <a:rPr lang="ko-KR" altLang="en-US" sz="1000" dirty="0"/>
                        <a:t>처리할 수 있는 최대 </a:t>
                      </a:r>
                      <a:r>
                        <a:rPr lang="ko-KR" altLang="en-US" sz="1000" dirty="0" err="1"/>
                        <a:t>요청량이</a:t>
                      </a:r>
                      <a:r>
                        <a:rPr lang="ko-KR" altLang="en-US" sz="1000" dirty="0"/>
                        <a:t> 기존 시스템</a:t>
                      </a:r>
                      <a:r>
                        <a:rPr lang="en-US" altLang="ko-KR" sz="1000" dirty="0"/>
                        <a:t>(Baseline)</a:t>
                      </a:r>
                      <a:r>
                        <a:rPr lang="ko-KR" altLang="en-US" sz="1000" dirty="0"/>
                        <a:t>보다 증가해야 한다</a:t>
                      </a:r>
                      <a:r>
                        <a:rPr lang="en-US" altLang="ko-KR" sz="1000" dirty="0"/>
                        <a:t>. (*SLO: Service Level</a:t>
                      </a:r>
                      <a:r>
                        <a:rPr lang="ko-KR" altLang="en-US" sz="1000" dirty="0"/>
                        <a:t> </a:t>
                      </a:r>
                      <a:r>
                        <a:rPr lang="en-US" altLang="ko-KR" sz="1000" dirty="0"/>
                        <a:t>Objective)</a:t>
                      </a:r>
                      <a:br>
                        <a:rPr lang="en-US" altLang="ko-KR" sz="1000" dirty="0"/>
                      </a:br>
                      <a:r>
                        <a:rPr lang="en-US" altLang="ko-KR" sz="1000" b="1" dirty="0"/>
                        <a:t>[</a:t>
                      </a:r>
                      <a:r>
                        <a:rPr lang="ko-KR" altLang="en-US" sz="1000" b="1" dirty="0"/>
                        <a:t>측정</a:t>
                      </a:r>
                      <a:r>
                        <a:rPr lang="en-US" altLang="ko-KR" sz="1000" b="1" dirty="0"/>
                        <a:t>: SLO </a:t>
                      </a:r>
                      <a:r>
                        <a:rPr lang="ko-KR" altLang="en-US" sz="1000" b="1" dirty="0"/>
                        <a:t>만족 최대 처리량 </a:t>
                      </a:r>
                      <a:r>
                        <a:rPr lang="en-US" altLang="ko-KR" sz="1000" b="1" dirty="0"/>
                        <a:t>≥ Baseline </a:t>
                      </a:r>
                      <a:r>
                        <a:rPr lang="ko-KR" altLang="en-US" sz="1000" b="1" dirty="0"/>
                        <a:t>대비 </a:t>
                      </a:r>
                      <a:r>
                        <a:rPr lang="en-US" altLang="ko-KR" sz="1000" b="1" dirty="0"/>
                        <a:t>1.5x (Stakeholder </a:t>
                      </a:r>
                      <a:r>
                        <a:rPr lang="ko-KR" altLang="en-US" sz="1000" b="1" dirty="0"/>
                        <a:t>요구사항 기준</a:t>
                      </a:r>
                      <a:r>
                        <a:rPr lang="en-US" altLang="ko-KR" sz="1100" b="1" dirty="0"/>
                        <a:t>)</a:t>
                      </a:r>
                      <a:r>
                        <a:rPr kumimoji="0" lang="en-US" altLang="ko-KR" sz="1100" b="1" i="0" u="none" strike="noStrike" kern="1200" cap="none" spc="0" normalizeH="0" baseline="0" noProof="0" dirty="0">
                          <a:ln>
                            <a:noFill/>
                          </a:ln>
                          <a:solidFill>
                            <a:prstClr val="black"/>
                          </a:solidFill>
                          <a:effectLst/>
                          <a:uLnTx/>
                          <a:uFillTx/>
                          <a:latin typeface="+mn-lt"/>
                          <a:ea typeface="+mn-ea"/>
                          <a:cs typeface="+mn-cs"/>
                        </a:rPr>
                        <a:t>] </a:t>
                      </a:r>
                      <a:r>
                        <a:rPr kumimoji="0" lang="en-US" altLang="ko-KR" sz="900" b="1" i="0" u="none" strike="noStrike" kern="1200" cap="none" spc="0" normalizeH="0" baseline="0" noProof="0" dirty="0">
                          <a:ln>
                            <a:noFill/>
                          </a:ln>
                          <a:solidFill>
                            <a:prstClr val="black"/>
                          </a:solidFill>
                          <a:effectLst/>
                          <a:uLnTx/>
                          <a:uFillTx/>
                          <a:latin typeface="+mn-lt"/>
                          <a:ea typeface="+mn-ea"/>
                          <a:cs typeface="+mn-cs"/>
                        </a:rPr>
                        <a:t>(SLO: TTFT ≤ 2s, TPOT ≤ 50ms)</a:t>
                      </a:r>
                      <a:endParaRPr kumimoji="0" lang="en-US" altLang="ko-KR" sz="12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900" dirty="0"/>
                        <a:t>(*TTFT: Time To First Token, **TPOT: Time Per Output Token)</a:t>
                      </a:r>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altLang="ko-KR" sz="1000" dirty="0" smtClean="0"/>
                        <a:t>H</a:t>
                      </a:r>
                      <a:endParaRPr lang="en-US" sz="1000" dirty="0"/>
                    </a:p>
                  </a:txBody>
                  <a:tcPr anchor="ctr">
                    <a:solidFill>
                      <a:schemeClr val="accent4">
                        <a:lumMod val="20000"/>
                        <a:lumOff val="80000"/>
                      </a:schemeClr>
                    </a:solidFill>
                  </a:tcPr>
                </a:tc>
                <a:tc>
                  <a:txBody>
                    <a:bodyPr/>
                    <a:lstStyle/>
                    <a:p>
                      <a:r>
                        <a:rPr lang="en-US" altLang="ko-KR" sz="1000" dirty="0"/>
                        <a:t>1</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786339">
                <a:tc>
                  <a:txBody>
                    <a:bodyPr/>
                    <a:lstStyle/>
                    <a:p>
                      <a:r>
                        <a:rPr lang="en-US" sz="1000" dirty="0"/>
                        <a:t>QA-02</a:t>
                      </a:r>
                    </a:p>
                  </a:txBody>
                  <a:tcPr anchor="ctr">
                    <a:solidFill>
                      <a:schemeClr val="accent4">
                        <a:lumMod val="20000"/>
                        <a:lumOff val="80000"/>
                      </a:schemeClr>
                    </a:solidFill>
                  </a:tcPr>
                </a:tc>
                <a:tc>
                  <a:txBody>
                    <a:bodyPr/>
                    <a:lstStyle/>
                    <a:p>
                      <a:r>
                        <a:rPr lang="en-US" sz="1000" dirty="0"/>
                        <a:t>Performance</a:t>
                      </a:r>
                    </a:p>
                    <a:p>
                      <a:r>
                        <a:rPr lang="en-US" sz="1000" dirty="0"/>
                        <a:t>(Tail</a:t>
                      </a:r>
                      <a:r>
                        <a:rPr lang="ko-KR" altLang="en-US" sz="1000" dirty="0"/>
                        <a:t> </a:t>
                      </a:r>
                      <a:r>
                        <a:rPr lang="en-US" altLang="ko-KR" sz="1000" dirty="0"/>
                        <a:t>Latency)</a:t>
                      </a:r>
                      <a:endParaRPr lang="en-US" sz="1000" dirty="0"/>
                    </a:p>
                  </a:txBody>
                  <a:tcPr anchor="ctr">
                    <a:solidFill>
                      <a:schemeClr val="accent4">
                        <a:lumMod val="20000"/>
                        <a:lumOff val="80000"/>
                      </a:schemeClr>
                    </a:solidFill>
                  </a:tcPr>
                </a:tc>
                <a:tc>
                  <a:txBody>
                    <a:bodyPr/>
                    <a:lstStyle/>
                    <a:p>
                      <a:r>
                        <a:rPr lang="ko-KR" altLang="en-US" sz="1000" dirty="0"/>
                        <a:t>고부하 지연시간 </a:t>
                      </a:r>
                      <a:r>
                        <a:rPr lang="en-US" altLang="ko-KR" sz="1000" dirty="0"/>
                        <a:t>(P99)</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b="0" baseline="0" dirty="0"/>
                        <a:t>고부하 환경에서 </a:t>
                      </a:r>
                      <a:r>
                        <a:rPr lang="ko-KR" altLang="en-US" sz="1000" b="0" baseline="0" dirty="0" smtClean="0"/>
                        <a:t>요청의 최악 </a:t>
                      </a:r>
                      <a:r>
                        <a:rPr lang="ko-KR" altLang="en-US" sz="1000" b="0" baseline="0" dirty="0"/>
                        <a:t>응답 지연</a:t>
                      </a:r>
                      <a:r>
                        <a:rPr lang="en-US" altLang="ko-KR" sz="1000" b="0" baseline="0" dirty="0"/>
                        <a:t>(Tail Latency)</a:t>
                      </a:r>
                      <a:r>
                        <a:rPr lang="ko-KR" altLang="en-US" sz="1000" b="0" baseline="0" dirty="0"/>
                        <a:t>을 </a:t>
                      </a:r>
                      <a:r>
                        <a:rPr lang="en-US" altLang="ko-KR" sz="1000" b="0" baseline="0" dirty="0"/>
                        <a:t>baseline </a:t>
                      </a:r>
                      <a:r>
                        <a:rPr lang="ko-KR" altLang="en-US" sz="1000" b="0" baseline="0" dirty="0"/>
                        <a:t>대비 개선해야 한다</a:t>
                      </a:r>
                      <a:r>
                        <a:rPr lang="en-US" altLang="ko-KR" sz="1000" b="0" baseline="0" dirty="0"/>
                        <a:t>. </a:t>
                      </a: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a:t>
                      </a:r>
                      <a:r>
                        <a:rPr lang="en-US" altLang="ko-KR" sz="1000" b="1" dirty="0" smtClean="0"/>
                        <a:t>Elapsed</a:t>
                      </a:r>
                      <a:r>
                        <a:rPr lang="en-US" altLang="ko-KR" sz="1000" b="1" baseline="0" dirty="0" smtClean="0"/>
                        <a:t> Time (</a:t>
                      </a:r>
                      <a:r>
                        <a:rPr lang="en-US" altLang="ko-KR" sz="1000" b="1" dirty="0" smtClean="0"/>
                        <a:t>P99) </a:t>
                      </a:r>
                      <a:r>
                        <a:rPr lang="ko-KR" altLang="en-US" sz="1000" b="1" dirty="0"/>
                        <a:t>감소율</a:t>
                      </a:r>
                      <a:r>
                        <a:rPr lang="en-US" altLang="ko-KR" sz="1000" b="1" dirty="0"/>
                        <a:t>) ≥ Baseline </a:t>
                      </a:r>
                      <a:r>
                        <a:rPr lang="ko-KR" altLang="en-US" sz="1000" b="1" dirty="0"/>
                        <a:t>대비 </a:t>
                      </a:r>
                      <a:r>
                        <a:rPr lang="en-US" altLang="ko-KR" sz="1000" b="1" dirty="0"/>
                        <a:t>30% (</a:t>
                      </a:r>
                      <a:r>
                        <a:rPr lang="ko-KR" altLang="en-US" sz="1000" b="1" dirty="0"/>
                        <a:t>사용자 체감 성능 개선 기준</a:t>
                      </a:r>
                      <a:r>
                        <a:rPr lang="en-US" altLang="ko-KR" sz="1000" b="1" dirty="0"/>
                        <a:t>) (</a:t>
                      </a:r>
                      <a:r>
                        <a:rPr lang="ko-KR" altLang="en-US" sz="1000" b="1" dirty="0"/>
                        <a:t>단</a:t>
                      </a:r>
                      <a:r>
                        <a:rPr lang="en-US" altLang="ko-KR" sz="1000" b="1" dirty="0"/>
                        <a:t>, SLO </a:t>
                      </a:r>
                      <a:r>
                        <a:rPr lang="ko-KR" altLang="en-US" sz="1000" b="1" dirty="0"/>
                        <a:t>만족</a:t>
                      </a:r>
                      <a:r>
                        <a:rPr lang="en-US" altLang="ko-KR" sz="1000" b="1" dirty="0"/>
                        <a:t>)] </a:t>
                      </a:r>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altLang="ko-KR" sz="1000" dirty="0" smtClean="0"/>
                        <a:t>2</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2212802997"/>
                  </a:ext>
                </a:extLst>
              </a:tr>
              <a:tr h="626053">
                <a:tc>
                  <a:txBody>
                    <a:bodyPr/>
                    <a:lstStyle/>
                    <a:p>
                      <a:r>
                        <a:rPr lang="en-US" sz="1000" dirty="0"/>
                        <a:t>QA-03</a:t>
                      </a:r>
                    </a:p>
                  </a:txBody>
                  <a:tcPr anchor="ctr">
                    <a:solidFill>
                      <a:schemeClr val="accent4">
                        <a:lumMod val="20000"/>
                        <a:lumOff val="80000"/>
                      </a:schemeClr>
                    </a:solidFill>
                  </a:tcPr>
                </a:tc>
                <a:tc>
                  <a:txBody>
                    <a:bodyPr/>
                    <a:lstStyle/>
                    <a:p>
                      <a:r>
                        <a:rPr lang="en-US" sz="1000" dirty="0"/>
                        <a:t>Scalability</a:t>
                      </a:r>
                    </a:p>
                  </a:txBody>
                  <a:tcPr anchor="ctr">
                    <a:solidFill>
                      <a:schemeClr val="accent4">
                        <a:lumMod val="20000"/>
                        <a:lumOff val="80000"/>
                      </a:schemeClr>
                    </a:solidFill>
                  </a:tcPr>
                </a:tc>
                <a:tc>
                  <a:txBody>
                    <a:bodyPr/>
                    <a:lstStyle/>
                    <a:p>
                      <a:r>
                        <a:rPr lang="ko-KR" altLang="en-US" sz="1000" dirty="0"/>
                        <a:t>시스템 확장성</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자원</a:t>
                      </a:r>
                      <a:r>
                        <a:rPr lang="ko-KR" altLang="en-US" sz="1000" baseline="0" dirty="0"/>
                        <a:t> 증가에 따른 처리량 증가 폭의 감소를 최소화해야 한다</a:t>
                      </a:r>
                      <a:r>
                        <a:rPr lang="en-US" altLang="ko-KR" sz="1000" baseline="0" dirty="0"/>
                        <a:t>. </a:t>
                      </a:r>
                      <a:endParaRPr lang="en-US" altLang="ko-KR" sz="1000" dirty="0"/>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Scaling Efficiency (</a:t>
                      </a:r>
                      <a:r>
                        <a:rPr lang="ko-KR" altLang="en-US" sz="1000" b="1" dirty="0"/>
                        <a:t>처리량 증가</a:t>
                      </a:r>
                      <a:r>
                        <a:rPr lang="ko-KR" altLang="en-US" sz="1000" b="1" baseline="0" dirty="0"/>
                        <a:t> 배율 </a:t>
                      </a:r>
                      <a:r>
                        <a:rPr lang="en-US" altLang="ko-KR" sz="1000" b="1" dirty="0"/>
                        <a:t>/ </a:t>
                      </a:r>
                      <a:r>
                        <a:rPr lang="ko-KR" altLang="en-US" sz="1000" b="1" dirty="0"/>
                        <a:t>자원 증가</a:t>
                      </a:r>
                      <a:r>
                        <a:rPr lang="ko-KR" altLang="en-US" sz="1000" b="1" baseline="0" dirty="0"/>
                        <a:t> 배율</a:t>
                      </a:r>
                      <a:r>
                        <a:rPr lang="en-US" altLang="ko-KR" sz="1000" b="1" dirty="0"/>
                        <a:t>) &gt; 80% (</a:t>
                      </a:r>
                      <a:r>
                        <a:rPr lang="ko-KR" altLang="en-US" sz="1000" b="1" dirty="0"/>
                        <a:t>문헌 보고 값</a:t>
                      </a:r>
                      <a:r>
                        <a:rPr lang="en-US" altLang="ko-KR" sz="1000" b="1" dirty="0"/>
                        <a:t>) ]</a:t>
                      </a:r>
                      <a:endParaRPr lang="ko-KR" altLang="en-US" sz="1000" dirty="0"/>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altLang="ko-KR" sz="1000" dirty="0" smtClean="0"/>
                        <a:t>3</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1522200776"/>
                  </a:ext>
                </a:extLst>
              </a:tr>
              <a:tr h="626053">
                <a:tc>
                  <a:txBody>
                    <a:bodyPr/>
                    <a:lstStyle/>
                    <a:p>
                      <a:r>
                        <a:rPr lang="en-US" sz="1000" dirty="0"/>
                        <a:t>QA-04</a:t>
                      </a:r>
                    </a:p>
                  </a:txBody>
                  <a:tcPr anchor="ctr">
                    <a:solidFill>
                      <a:schemeClr val="accent4">
                        <a:lumMod val="20000"/>
                        <a:lumOff val="80000"/>
                      </a:schemeClr>
                    </a:solidFill>
                  </a:tcPr>
                </a:tc>
                <a:tc>
                  <a:txBody>
                    <a:bodyPr/>
                    <a:lstStyle/>
                    <a:p>
                      <a:r>
                        <a:rPr lang="en-US" sz="1000" dirty="0"/>
                        <a:t>Modifiability</a:t>
                      </a:r>
                    </a:p>
                  </a:txBody>
                  <a:tcPr anchor="ctr">
                    <a:solidFill>
                      <a:schemeClr val="accent4">
                        <a:lumMod val="20000"/>
                        <a:lumOff val="80000"/>
                      </a:schemeClr>
                    </a:solidFill>
                  </a:tcPr>
                </a:tc>
                <a:tc>
                  <a:txBody>
                    <a:bodyPr/>
                    <a:lstStyle/>
                    <a:p>
                      <a:r>
                        <a:rPr lang="en-US" altLang="ko-KR" sz="1000" dirty="0"/>
                        <a:t>Device/</a:t>
                      </a:r>
                      <a:r>
                        <a:rPr lang="ko-KR" altLang="en-US" sz="1000" dirty="0"/>
                        <a:t>정책에 대한 변경 용이성</a:t>
                      </a:r>
                    </a:p>
                  </a:txBody>
                  <a:tcPr anchor="ctr">
                    <a:solidFill>
                      <a:schemeClr val="accent4">
                        <a:lumMod val="20000"/>
                        <a:lumOff val="80000"/>
                      </a:schemeClr>
                    </a:solidFill>
                  </a:tcPr>
                </a:tc>
                <a:tc>
                  <a:txBody>
                    <a:bodyPr/>
                    <a:lstStyle/>
                    <a:p>
                      <a:pPr>
                        <a:lnSpc>
                          <a:spcPct val="125000"/>
                        </a:lnSpc>
                      </a:pPr>
                      <a:r>
                        <a:rPr lang="ko-KR" altLang="en-US" sz="1000" dirty="0" smtClean="0"/>
                        <a:t>새로운 메모리 추가</a:t>
                      </a:r>
                      <a:r>
                        <a:rPr lang="en-US" altLang="ko-KR" sz="1000" dirty="0" smtClean="0"/>
                        <a:t>, </a:t>
                      </a:r>
                      <a:r>
                        <a:rPr lang="ko-KR" altLang="en-US" sz="1000" dirty="0" smtClean="0"/>
                        <a:t>이동</a:t>
                      </a:r>
                      <a:r>
                        <a:rPr lang="en-US" altLang="ko-KR" sz="1000" dirty="0" smtClean="0"/>
                        <a:t>·</a:t>
                      </a:r>
                      <a:r>
                        <a:rPr lang="ko-KR" altLang="en-US" sz="1000" dirty="0" smtClean="0"/>
                        <a:t>배치 정책</a:t>
                      </a:r>
                      <a:r>
                        <a:rPr lang="ko-KR" altLang="en-US" sz="1000" baseline="0" dirty="0" smtClean="0"/>
                        <a:t> 변경 시 </a:t>
                      </a:r>
                      <a:r>
                        <a:rPr lang="ko-KR" altLang="en-US" sz="1000" dirty="0" err="1" smtClean="0"/>
                        <a:t>서빙</a:t>
                      </a:r>
                      <a:r>
                        <a:rPr lang="ko-KR" altLang="en-US" sz="1000" dirty="0" smtClean="0"/>
                        <a:t> 경로에 미치는 변경 범위를 최소화하여 반영할 수 있어야 한다</a:t>
                      </a:r>
                      <a:r>
                        <a:rPr lang="en-US" altLang="ko-KR" sz="1000" dirty="0" smtClean="0"/>
                        <a:t>. </a:t>
                      </a: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smtClean="0"/>
                        <a:t>[</a:t>
                      </a:r>
                      <a:r>
                        <a:rPr lang="en-US" altLang="ko-KR" sz="1000" b="1" dirty="0" err="1" smtClean="0"/>
                        <a:t>측정</a:t>
                      </a:r>
                      <a:r>
                        <a:rPr lang="en-US" altLang="ko-KR" sz="1000" b="1" dirty="0" smtClean="0"/>
                        <a:t>: </a:t>
                      </a:r>
                      <a:r>
                        <a:rPr lang="en-US" altLang="ko-KR" sz="1000" b="1" dirty="0" err="1" smtClean="0"/>
                        <a:t>변경</a:t>
                      </a:r>
                      <a:r>
                        <a:rPr lang="en-US" altLang="ko-KR" sz="1000" b="1" dirty="0" smtClean="0"/>
                        <a:t> </a:t>
                      </a:r>
                      <a:r>
                        <a:rPr lang="en-US" altLang="ko-KR" sz="1000" b="1" dirty="0" err="1" smtClean="0"/>
                        <a:t>시나리오별</a:t>
                      </a:r>
                      <a:r>
                        <a:rPr lang="en-US" altLang="ko-KR" sz="1000" b="1" dirty="0" smtClean="0"/>
                        <a:t> </a:t>
                      </a:r>
                      <a:r>
                        <a:rPr lang="en-US" altLang="ko-KR" sz="1000" b="1" dirty="0" err="1" smtClean="0"/>
                        <a:t>변경</a:t>
                      </a:r>
                      <a:r>
                        <a:rPr lang="en-US" altLang="ko-KR" sz="1000" b="1" dirty="0" smtClean="0"/>
                        <a:t> </a:t>
                      </a:r>
                      <a:r>
                        <a:rPr lang="en-US" altLang="ko-KR" sz="1000" b="1" dirty="0" err="1" smtClean="0"/>
                        <a:t>모듈</a:t>
                      </a:r>
                      <a:r>
                        <a:rPr lang="en-US" altLang="ko-KR" sz="1000" b="1" dirty="0" smtClean="0"/>
                        <a:t> ≤ 6개 (</a:t>
                      </a:r>
                      <a:r>
                        <a:rPr lang="ko-KR" altLang="en-US" sz="1000" b="1" dirty="0" smtClean="0"/>
                        <a:t>오픈소스 </a:t>
                      </a:r>
                      <a:r>
                        <a:rPr lang="en-US" altLang="ko-KR" sz="1000" b="1" dirty="0" smtClean="0"/>
                        <a:t>SW </a:t>
                      </a:r>
                      <a:r>
                        <a:rPr lang="en-US" altLang="ko-KR" sz="1000" b="1" dirty="0" err="1" smtClean="0"/>
                        <a:t>commit의</a:t>
                      </a:r>
                      <a:r>
                        <a:rPr lang="en-US" altLang="ko-KR" sz="1000" b="1" dirty="0" smtClean="0"/>
                        <a:t> 80%가 6 file </a:t>
                      </a:r>
                      <a:r>
                        <a:rPr lang="en-US" altLang="ko-KR" sz="1000" b="1" dirty="0" err="1" smtClean="0"/>
                        <a:t>이하</a:t>
                      </a:r>
                      <a:r>
                        <a:rPr lang="en-US" altLang="ko-KR" sz="1000" b="1" dirty="0" smtClean="0"/>
                        <a:t>)]</a:t>
                      </a:r>
                      <a:endParaRPr lang="en-US" altLang="ko-KR" sz="1000" dirty="0" smtClean="0"/>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sz="1000" dirty="0" smtClean="0"/>
                        <a:t>M</a:t>
                      </a:r>
                      <a:endParaRPr lang="en-US" sz="1000" dirty="0"/>
                    </a:p>
                  </a:txBody>
                  <a:tcPr anchor="ctr">
                    <a:solidFill>
                      <a:schemeClr val="accent4">
                        <a:lumMod val="20000"/>
                        <a:lumOff val="80000"/>
                      </a:schemeClr>
                    </a:solidFill>
                  </a:tcPr>
                </a:tc>
                <a:tc>
                  <a:txBody>
                    <a:bodyPr/>
                    <a:lstStyle/>
                    <a:p>
                      <a:r>
                        <a:rPr lang="en-US" altLang="ko-KR" sz="1000" dirty="0" smtClean="0"/>
                        <a:t>4</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626053">
                <a:tc>
                  <a:txBody>
                    <a:bodyPr/>
                    <a:lstStyle/>
                    <a:p>
                      <a:r>
                        <a:rPr lang="en-US" sz="1000" dirty="0"/>
                        <a:t>QA-05</a:t>
                      </a:r>
                    </a:p>
                  </a:txBody>
                  <a:tcPr anchor="ctr">
                    <a:solidFill>
                      <a:schemeClr val="accent4">
                        <a:lumMod val="20000"/>
                        <a:lumOff val="80000"/>
                      </a:schemeClr>
                    </a:solidFill>
                  </a:tcPr>
                </a:tc>
                <a:tc>
                  <a:txBody>
                    <a:bodyPr/>
                    <a:lstStyle/>
                    <a:p>
                      <a:pPr marL="0" algn="l" defTabSz="914400" rtl="0" eaLnBrk="1" latinLnBrk="1" hangingPunct="1"/>
                      <a:r>
                        <a:rPr lang="en-US" sz="1000" kern="1200" dirty="0">
                          <a:solidFill>
                            <a:schemeClr val="tx1"/>
                          </a:solidFill>
                          <a:latin typeface="+mn-lt"/>
                          <a:ea typeface="+mn-ea"/>
                          <a:cs typeface="+mn-cs"/>
                        </a:rPr>
                        <a:t>Functional </a:t>
                      </a:r>
                    </a:p>
                    <a:p>
                      <a:pPr marL="0" algn="l" defTabSz="914400" rtl="0" eaLnBrk="1" latinLnBrk="1" hangingPunct="1"/>
                      <a:r>
                        <a:rPr lang="en-US" sz="1000" kern="1200" dirty="0">
                          <a:solidFill>
                            <a:schemeClr val="tx1"/>
                          </a:solidFill>
                          <a:latin typeface="+mn-lt"/>
                          <a:ea typeface="+mn-ea"/>
                          <a:cs typeface="+mn-cs"/>
                        </a:rPr>
                        <a:t>Correctness</a:t>
                      </a:r>
                    </a:p>
                  </a:txBody>
                  <a:tcPr anchor="ctr">
                    <a:solidFill>
                      <a:schemeClr val="accent4">
                        <a:lumMod val="20000"/>
                        <a:lumOff val="80000"/>
                      </a:schemeClr>
                    </a:solidFill>
                  </a:tcPr>
                </a:tc>
                <a:tc>
                  <a:txBody>
                    <a:bodyPr/>
                    <a:lstStyle/>
                    <a:p>
                      <a:pPr marL="0" algn="l" defTabSz="914400" rtl="0" eaLnBrk="1" latinLnBrk="1" hangingPunct="1"/>
                      <a:r>
                        <a:rPr lang="ko-KR" altLang="en-US" sz="1000" kern="1200" dirty="0">
                          <a:solidFill>
                            <a:schemeClr val="tx1"/>
                          </a:solidFill>
                          <a:latin typeface="+mn-lt"/>
                          <a:ea typeface="+mn-ea"/>
                          <a:cs typeface="+mn-cs"/>
                        </a:rPr>
                        <a:t>추론 정확도</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dirty="0" smtClean="0"/>
                        <a:t>KV </a:t>
                      </a:r>
                      <a:r>
                        <a:rPr lang="ko-KR" altLang="en-US" sz="1000" dirty="0" smtClean="0"/>
                        <a:t>캐시의 재계산 경로</a:t>
                      </a:r>
                      <a:r>
                        <a:rPr lang="ko-KR" altLang="en-US" sz="1000" baseline="0" dirty="0" smtClean="0"/>
                        <a:t> 변경 시 </a:t>
                      </a:r>
                      <a:r>
                        <a:rPr lang="ko-KR" altLang="en-US" sz="1000" dirty="0" smtClean="0"/>
                        <a:t>추론 </a:t>
                      </a:r>
                      <a:r>
                        <a:rPr lang="ko-KR" altLang="en-US" sz="1000" dirty="0"/>
                        <a:t>결과가 </a:t>
                      </a:r>
                      <a:r>
                        <a:rPr lang="en-US" altLang="ko-KR" sz="1000" dirty="0"/>
                        <a:t>Baseline(full recompute) </a:t>
                      </a:r>
                      <a:r>
                        <a:rPr lang="ko-KR" altLang="en-US" sz="1000" dirty="0"/>
                        <a:t>결과와 동등 수준이어야 한다</a:t>
                      </a:r>
                      <a:r>
                        <a:rPr lang="en-US" altLang="ko-KR" sz="1000" dirty="0"/>
                        <a:t>. </a:t>
                      </a:r>
                    </a:p>
                    <a:p>
                      <a:pPr>
                        <a:lnSpc>
                          <a:spcPct val="125000"/>
                        </a:lnSpc>
                      </a:pPr>
                      <a:r>
                        <a:rPr lang="en-US" altLang="ko-KR" sz="1000" b="1" dirty="0"/>
                        <a:t>[</a:t>
                      </a:r>
                      <a:r>
                        <a:rPr lang="ko-KR" altLang="en-US" sz="1000" b="1" dirty="0"/>
                        <a:t>측정</a:t>
                      </a:r>
                      <a:r>
                        <a:rPr lang="en-US" altLang="ko-KR" sz="1000" b="1" dirty="0"/>
                        <a:t>: LLM </a:t>
                      </a:r>
                      <a:r>
                        <a:rPr lang="ko-KR" altLang="en-US" sz="1000" b="1" dirty="0"/>
                        <a:t>출력 정확도 </a:t>
                      </a:r>
                      <a:r>
                        <a:rPr lang="en-US" altLang="ko-KR" sz="1000" b="1" dirty="0"/>
                        <a:t>(F1 Score) &lt; Baseline </a:t>
                      </a:r>
                      <a:r>
                        <a:rPr lang="ko-KR" altLang="en-US" sz="1000" b="1" dirty="0"/>
                        <a:t>대비 감소율 </a:t>
                      </a:r>
                      <a:r>
                        <a:rPr lang="en-US" altLang="ko-KR" sz="1000" b="1" dirty="0" smtClean="0"/>
                        <a:t>1%] </a:t>
                      </a:r>
                      <a:r>
                        <a:rPr lang="en-US" altLang="ko-KR" sz="1000" b="1" dirty="0"/>
                        <a:t>]</a:t>
                      </a:r>
                    </a:p>
                  </a:txBody>
                  <a:tcPr anchor="ctr">
                    <a:solidFill>
                      <a:schemeClr val="accent4">
                        <a:lumMod val="20000"/>
                        <a:lumOff val="80000"/>
                      </a:schemeClr>
                    </a:solidFill>
                  </a:tcPr>
                </a:tc>
                <a:tc>
                  <a:txBody>
                    <a:bodyPr/>
                    <a:lstStyle/>
                    <a:p>
                      <a:r>
                        <a:rPr lang="en-US" sz="1000" dirty="0" smtClean="0"/>
                        <a:t>H</a:t>
                      </a:r>
                      <a:endParaRPr lang="en-US" sz="1000" dirty="0"/>
                    </a:p>
                  </a:txBody>
                  <a:tcPr anchor="ctr">
                    <a:solidFill>
                      <a:schemeClr val="accent4">
                        <a:lumMod val="20000"/>
                        <a:lumOff val="80000"/>
                      </a:schemeClr>
                    </a:solidFill>
                  </a:tcPr>
                </a:tc>
                <a:tc>
                  <a:txBody>
                    <a:bodyPr/>
                    <a:lstStyle/>
                    <a:p>
                      <a:r>
                        <a:rPr lang="en-US" sz="1000" dirty="0" smtClean="0"/>
                        <a:t>M</a:t>
                      </a:r>
                      <a:endParaRPr lang="en-US" sz="1000" dirty="0"/>
                    </a:p>
                  </a:txBody>
                  <a:tcPr anchor="ctr">
                    <a:solidFill>
                      <a:schemeClr val="accent4">
                        <a:lumMod val="20000"/>
                        <a:lumOff val="80000"/>
                      </a:schemeClr>
                    </a:solidFill>
                  </a:tcPr>
                </a:tc>
                <a:tc>
                  <a:txBody>
                    <a:bodyPr/>
                    <a:lstStyle/>
                    <a:p>
                      <a:r>
                        <a:rPr lang="en-US" altLang="ko-KR" sz="1000" dirty="0"/>
                        <a:t>5</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655547552"/>
                  </a:ext>
                </a:extLst>
              </a:tr>
              <a:tr h="626053">
                <a:tc>
                  <a:txBody>
                    <a:bodyPr/>
                    <a:lstStyle/>
                    <a:p>
                      <a:r>
                        <a:rPr lang="en-US" sz="1000" dirty="0"/>
                        <a:t>QA-06</a:t>
                      </a:r>
                    </a:p>
                  </a:txBody>
                  <a:tcPr anchor="ctr">
                    <a:solidFill>
                      <a:schemeClr val="bg1"/>
                    </a:solidFill>
                  </a:tcPr>
                </a:tc>
                <a:tc>
                  <a:txBody>
                    <a:bodyPr/>
                    <a:lstStyle/>
                    <a:p>
                      <a:r>
                        <a:rPr lang="en-US" sz="1000" dirty="0"/>
                        <a:t>Fault tolerance</a:t>
                      </a:r>
                    </a:p>
                  </a:txBody>
                  <a:tcPr anchor="ctr">
                    <a:solidFill>
                      <a:schemeClr val="bg1"/>
                    </a:solidFill>
                  </a:tcPr>
                </a:tc>
                <a:tc>
                  <a:txBody>
                    <a:bodyPr/>
                    <a:lstStyle/>
                    <a:p>
                      <a:r>
                        <a:rPr lang="ko-KR" altLang="en-US" sz="1000" dirty="0"/>
                        <a:t>전송</a:t>
                      </a:r>
                      <a:r>
                        <a:rPr lang="en-US" altLang="ko-KR" sz="1000" dirty="0"/>
                        <a:t>·offload </a:t>
                      </a:r>
                      <a:r>
                        <a:rPr lang="ko-KR" altLang="en-US" sz="1000" dirty="0"/>
                        <a:t>실패 대체</a:t>
                      </a:r>
                    </a:p>
                  </a:txBody>
                  <a:tcPr anchor="ctr">
                    <a:solidFill>
                      <a:schemeClr val="bg1"/>
                    </a:solidFill>
                  </a:tcPr>
                </a:tc>
                <a:tc>
                  <a:txBody>
                    <a:bodyPr/>
                    <a:lstStyle/>
                    <a:p>
                      <a:pPr>
                        <a:lnSpc>
                          <a:spcPct val="125000"/>
                        </a:lnSpc>
                      </a:pPr>
                      <a:r>
                        <a:rPr lang="en-US" altLang="ko-KR" sz="1000" b="0" dirty="0"/>
                        <a:t>KV </a:t>
                      </a:r>
                      <a:r>
                        <a:rPr lang="ko-KR" altLang="en-US" sz="1000" b="0" dirty="0"/>
                        <a:t>전송이나 </a:t>
                      </a:r>
                      <a:r>
                        <a:rPr lang="en-US" altLang="ko-KR" sz="1000" b="0" dirty="0"/>
                        <a:t>offload</a:t>
                      </a:r>
                      <a:r>
                        <a:rPr lang="ko-KR" altLang="en-US" sz="1000" b="0" dirty="0"/>
                        <a:t>가 실패하거나 시간 초과해도 재계산 등 대체 경로로 요청 처리를 이어가야 한다</a:t>
                      </a:r>
                      <a:r>
                        <a:rPr lang="en-US" altLang="ko-KR" sz="1000" b="0" dirty="0"/>
                        <a:t>.</a:t>
                      </a:r>
                      <a:br>
                        <a:rPr lang="en-US" altLang="ko-KR" sz="1000" b="0" dirty="0"/>
                      </a:br>
                      <a:r>
                        <a:rPr lang="en-US" altLang="ko-KR" sz="1000" b="0" dirty="0"/>
                        <a:t>[</a:t>
                      </a:r>
                      <a:r>
                        <a:rPr lang="ko-KR" altLang="en-US" sz="1000" b="0" dirty="0"/>
                        <a:t>측정</a:t>
                      </a:r>
                      <a:r>
                        <a:rPr lang="en-US" altLang="ko-KR" sz="1000" b="0" dirty="0"/>
                        <a:t>: fallback </a:t>
                      </a:r>
                      <a:r>
                        <a:rPr lang="ko-KR" altLang="en-US" sz="1000" b="0" dirty="0"/>
                        <a:t>성공률 </a:t>
                      </a:r>
                      <a:r>
                        <a:rPr lang="en-US" altLang="ko-KR" sz="1000" b="0" dirty="0"/>
                        <a:t>&gt; 99.9 ]</a:t>
                      </a:r>
                      <a:endParaRPr lang="ko-KR" altLang="en-US" sz="1000" b="0" dirty="0"/>
                    </a:p>
                  </a:txBody>
                  <a:tcPr anchor="ctr">
                    <a:solidFill>
                      <a:schemeClr val="bg1"/>
                    </a:solidFill>
                  </a:tcPr>
                </a:tc>
                <a:tc>
                  <a:txBody>
                    <a:bodyPr/>
                    <a:lstStyle/>
                    <a:p>
                      <a:r>
                        <a:rPr lang="en-US" sz="1000" dirty="0" smtClean="0"/>
                        <a:t>M</a:t>
                      </a:r>
                      <a:endParaRPr lang="en-US" sz="1000" dirty="0"/>
                    </a:p>
                  </a:txBody>
                  <a:tcPr anchor="ctr">
                    <a:solidFill>
                      <a:schemeClr val="bg1"/>
                    </a:solidFill>
                  </a:tcPr>
                </a:tc>
                <a:tc>
                  <a:txBody>
                    <a:bodyPr/>
                    <a:lstStyle/>
                    <a:p>
                      <a:r>
                        <a:rPr lang="en-US" sz="1000" dirty="0"/>
                        <a:t>H</a:t>
                      </a:r>
                    </a:p>
                  </a:txBody>
                  <a:tcPr anchor="ctr">
                    <a:solidFill>
                      <a:schemeClr val="bg1"/>
                    </a:solidFill>
                  </a:tcPr>
                </a:tc>
                <a:tc>
                  <a:txBody>
                    <a:bodyPr/>
                    <a:lstStyle/>
                    <a:p>
                      <a:r>
                        <a:rPr lang="en-US" altLang="ko-KR" sz="1000" dirty="0"/>
                        <a:t>6</a:t>
                      </a:r>
                      <a:endParaRPr lang="ko-KR" altLang="en-US" sz="1000" dirty="0"/>
                    </a:p>
                  </a:txBody>
                  <a:tcPr anchor="ctr">
                    <a:solidFill>
                      <a:schemeClr val="bg1"/>
                    </a:solidFill>
                  </a:tcPr>
                </a:tc>
                <a:extLst>
                  <a:ext uri="{0D108BD9-81ED-4DB2-BD59-A6C34878D82A}">
                    <a16:rowId xmlns:a16="http://schemas.microsoft.com/office/drawing/2014/main" val="3774210047"/>
                  </a:ext>
                </a:extLst>
              </a:tr>
              <a:tr h="626053">
                <a:tc>
                  <a:txBody>
                    <a:bodyPr/>
                    <a:lstStyle/>
                    <a:p>
                      <a:r>
                        <a:rPr lang="en-US" sz="1000" dirty="0"/>
                        <a:t>QA-07</a:t>
                      </a:r>
                    </a:p>
                  </a:txBody>
                  <a:tcPr anchor="ctr">
                    <a:solidFill>
                      <a:schemeClr val="bg1"/>
                    </a:solidFill>
                  </a:tcPr>
                </a:tc>
                <a:tc>
                  <a:txBody>
                    <a:bodyPr/>
                    <a:lstStyle/>
                    <a:p>
                      <a:r>
                        <a:rPr lang="en-US" sz="1000" dirty="0" err="1"/>
                        <a:t>Analysability</a:t>
                      </a:r>
                      <a:endParaRPr lang="en-US" sz="1000" dirty="0"/>
                    </a:p>
                  </a:txBody>
                  <a:tcPr anchor="ctr">
                    <a:solidFill>
                      <a:schemeClr val="bg1"/>
                    </a:solidFill>
                  </a:tcPr>
                </a:tc>
                <a:tc>
                  <a:txBody>
                    <a:bodyPr/>
                    <a:lstStyle/>
                    <a:p>
                      <a:r>
                        <a:rPr lang="ko-KR" altLang="en-US" sz="1000" dirty="0"/>
                        <a:t>결정 근거 진단</a:t>
                      </a:r>
                    </a:p>
                  </a:txBody>
                  <a:tcPr anchor="ctr">
                    <a:solidFill>
                      <a:schemeClr val="bg1"/>
                    </a:solidFill>
                  </a:tcPr>
                </a:tc>
                <a:tc>
                  <a:txBody>
                    <a:bodyPr/>
                    <a:lstStyle/>
                    <a:p>
                      <a:r>
                        <a:rPr lang="ko-KR" altLang="en-US" sz="1000" b="0" dirty="0"/>
                        <a:t>이동</a:t>
                      </a:r>
                      <a:r>
                        <a:rPr lang="en-US" altLang="ko-KR" sz="1000" b="0" dirty="0"/>
                        <a:t>/</a:t>
                      </a:r>
                      <a:r>
                        <a:rPr lang="ko-KR" altLang="en-US" sz="1000" b="0" dirty="0"/>
                        <a:t>배치</a:t>
                      </a:r>
                      <a:r>
                        <a:rPr lang="en-US" altLang="ko-KR" sz="1000" b="0" dirty="0"/>
                        <a:t>,</a:t>
                      </a:r>
                      <a:r>
                        <a:rPr lang="en-US" altLang="ko-KR" sz="1000" b="0" baseline="0" dirty="0"/>
                        <a:t> </a:t>
                      </a:r>
                      <a:r>
                        <a:rPr lang="ko-KR" altLang="en-US" sz="1000" b="0" dirty="0"/>
                        <a:t>라우팅 결정이 기대와 다를 때 결정 입력과 근거 기록으로 원인을 찾을 수 있어야 한다</a:t>
                      </a:r>
                      <a:r>
                        <a:rPr lang="en-US" altLang="ko-KR" sz="1000" b="0" dirty="0"/>
                        <a:t>.</a:t>
                      </a:r>
                      <a:br>
                        <a:rPr lang="en-US" altLang="ko-KR" sz="1000" b="0" dirty="0"/>
                      </a:br>
                      <a:r>
                        <a:rPr lang="en-US" altLang="ko-KR" sz="1000" b="0" dirty="0">
                          <a:solidFill>
                            <a:srgbClr val="000000"/>
                          </a:solidFill>
                          <a:latin typeface="+mn-lt"/>
                        </a:rPr>
                        <a:t>[</a:t>
                      </a:r>
                      <a:r>
                        <a:rPr lang="ko-KR" altLang="en-US" sz="1000" b="0" dirty="0">
                          <a:solidFill>
                            <a:srgbClr val="000000"/>
                          </a:solidFill>
                          <a:latin typeface="+mn-lt"/>
                        </a:rPr>
                        <a:t>측정</a:t>
                      </a:r>
                      <a:r>
                        <a:rPr lang="en-US" altLang="ko-KR" sz="1000" b="0" dirty="0">
                          <a:solidFill>
                            <a:srgbClr val="000000"/>
                          </a:solidFill>
                          <a:latin typeface="+mn-lt"/>
                        </a:rPr>
                        <a:t>: </a:t>
                      </a:r>
                      <a:r>
                        <a:rPr lang="ko-KR" altLang="en-US" sz="1000" b="0" dirty="0">
                          <a:solidFill>
                            <a:srgbClr val="000000"/>
                          </a:solidFill>
                          <a:latin typeface="+mn-lt"/>
                        </a:rPr>
                        <a:t>원인 파악 시간 </a:t>
                      </a:r>
                      <a:r>
                        <a:rPr lang="en-US" altLang="ko-KR" sz="1000" b="0" dirty="0">
                          <a:solidFill>
                            <a:srgbClr val="000000"/>
                          </a:solidFill>
                          <a:latin typeface="+mn-lt"/>
                        </a:rPr>
                        <a:t>&lt; 1 </a:t>
                      </a:r>
                      <a:r>
                        <a:rPr lang="ko-KR" altLang="en-US" sz="1000" b="0" dirty="0">
                          <a:solidFill>
                            <a:srgbClr val="000000"/>
                          </a:solidFill>
                          <a:latin typeface="+mn-lt"/>
                        </a:rPr>
                        <a:t>시간 </a:t>
                      </a:r>
                      <a:r>
                        <a:rPr lang="en-US" altLang="ko-KR" sz="1000" b="0" dirty="0">
                          <a:solidFill>
                            <a:srgbClr val="000000"/>
                          </a:solidFill>
                          <a:latin typeface="+mn-lt"/>
                        </a:rPr>
                        <a:t>(</a:t>
                      </a:r>
                      <a:r>
                        <a:rPr lang="ko-KR" altLang="en-US" sz="1000" b="0" dirty="0">
                          <a:solidFill>
                            <a:srgbClr val="000000"/>
                          </a:solidFill>
                          <a:latin typeface="+mn-lt"/>
                        </a:rPr>
                        <a:t>개발자 </a:t>
                      </a:r>
                      <a:r>
                        <a:rPr lang="en-US" altLang="ko-KR" sz="1000" b="0" dirty="0">
                          <a:solidFill>
                            <a:srgbClr val="000000"/>
                          </a:solidFill>
                          <a:latin typeface="+mn-lt"/>
                        </a:rPr>
                        <a:t>1</a:t>
                      </a:r>
                      <a:r>
                        <a:rPr lang="ko-KR" altLang="en-US" sz="1000" b="0" dirty="0">
                          <a:solidFill>
                            <a:srgbClr val="000000"/>
                          </a:solidFill>
                          <a:latin typeface="+mn-lt"/>
                        </a:rPr>
                        <a:t>인</a:t>
                      </a:r>
                      <a:r>
                        <a:rPr lang="en-US" altLang="ko-KR" sz="1000" b="0" dirty="0">
                          <a:solidFill>
                            <a:srgbClr val="000000"/>
                          </a:solidFill>
                          <a:latin typeface="+mn-lt"/>
                        </a:rPr>
                        <a:t>, </a:t>
                      </a:r>
                      <a:r>
                        <a:rPr lang="ko-KR" altLang="en-US" sz="1000" b="0" dirty="0">
                          <a:solidFill>
                            <a:srgbClr val="000000"/>
                          </a:solidFill>
                          <a:latin typeface="+mn-lt"/>
                        </a:rPr>
                        <a:t>결정 </a:t>
                      </a:r>
                      <a:r>
                        <a:rPr lang="en-US" altLang="ko-KR" sz="1000" b="0" dirty="0">
                          <a:solidFill>
                            <a:srgbClr val="000000"/>
                          </a:solidFill>
                          <a:latin typeface="+mn-lt"/>
                        </a:rPr>
                        <a:t>1</a:t>
                      </a:r>
                      <a:r>
                        <a:rPr lang="ko-KR" altLang="en-US" sz="1000" b="0" dirty="0">
                          <a:solidFill>
                            <a:srgbClr val="000000"/>
                          </a:solidFill>
                          <a:latin typeface="+mn-lt"/>
                        </a:rPr>
                        <a:t>건 기준</a:t>
                      </a:r>
                      <a:r>
                        <a:rPr lang="en-US" altLang="ko-KR" sz="1000" b="0" dirty="0">
                          <a:solidFill>
                            <a:srgbClr val="000000"/>
                          </a:solidFill>
                          <a:latin typeface="+mn-lt"/>
                        </a:rPr>
                        <a:t>) ]</a:t>
                      </a:r>
                      <a:endParaRPr lang="ko-KR" altLang="en-US" sz="1000" b="0" dirty="0"/>
                    </a:p>
                  </a:txBody>
                  <a:tcPr anchor="ctr">
                    <a:solidFill>
                      <a:schemeClr val="bg1"/>
                    </a:solidFill>
                  </a:tcPr>
                </a:tc>
                <a:tc>
                  <a:txBody>
                    <a:bodyPr/>
                    <a:lstStyle/>
                    <a:p>
                      <a:r>
                        <a:rPr lang="en-US" sz="1000" dirty="0" smtClean="0"/>
                        <a:t>M</a:t>
                      </a:r>
                      <a:endParaRPr lang="en-US" sz="100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altLang="ko-KR" sz="1000" dirty="0"/>
                        <a:t>7</a:t>
                      </a:r>
                      <a:endParaRPr lang="ko-KR" altLang="en-US" sz="1000" dirty="0"/>
                    </a:p>
                  </a:txBody>
                  <a:tcPr anchor="ctr">
                    <a:solidFill>
                      <a:schemeClr val="bg1"/>
                    </a:solidFill>
                  </a:tcPr>
                </a:tc>
                <a:extLst>
                  <a:ext uri="{0D108BD9-81ED-4DB2-BD59-A6C34878D82A}">
                    <a16:rowId xmlns:a16="http://schemas.microsoft.com/office/drawing/2014/main" val="2197771220"/>
                  </a:ext>
                </a:extLst>
              </a:tr>
            </a:tbl>
          </a:graphicData>
        </a:graphic>
      </p:graphicFrame>
      <p:sp>
        <p:nvSpPr>
          <p:cNvPr id="21" name="실행 단추: 앞으로 또는 다음 3">
            <a:hlinkClick r:id="rId4" action="ppaction://hlinksldjump" highlightClick="1"/>
            <a:extLst>
              <a:ext uri="{FF2B5EF4-FFF2-40B4-BE49-F238E27FC236}">
                <a16:creationId xmlns:a16="http://schemas.microsoft.com/office/drawing/2014/main" id="{D0D1EB79-0F10-4C29-8756-3FFD242915BE}"/>
              </a:ext>
            </a:extLst>
          </p:cNvPr>
          <p:cNvSpPr/>
          <p:nvPr/>
        </p:nvSpPr>
        <p:spPr>
          <a:xfrm>
            <a:off x="1644905" y="1135612"/>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실행 단추: 앞으로 또는 다음 1">
            <a:hlinkClick r:id="rId5" action="ppaction://hlinksldjump" highlightClick="1"/>
            <a:extLst>
              <a:ext uri="{FF2B5EF4-FFF2-40B4-BE49-F238E27FC236}">
                <a16:creationId xmlns:a16="http://schemas.microsoft.com/office/drawing/2014/main" id="{B43A4CC6-3683-436B-940F-BD679BB1A116}"/>
              </a:ext>
            </a:extLst>
          </p:cNvPr>
          <p:cNvSpPr/>
          <p:nvPr/>
        </p:nvSpPr>
        <p:spPr>
          <a:xfrm>
            <a:off x="511126" y="1929263"/>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실행 단추: 앞으로 또는 다음 1">
            <a:hlinkClick r:id="rId6" action="ppaction://hlinksldjump" highlightClick="1"/>
            <a:extLst>
              <a:ext uri="{FF2B5EF4-FFF2-40B4-BE49-F238E27FC236}">
                <a16:creationId xmlns:a16="http://schemas.microsoft.com/office/drawing/2014/main" id="{B43A4CC6-3683-436B-940F-BD679BB1A116}"/>
              </a:ext>
            </a:extLst>
          </p:cNvPr>
          <p:cNvSpPr/>
          <p:nvPr/>
        </p:nvSpPr>
        <p:spPr>
          <a:xfrm>
            <a:off x="511126" y="275075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실행 단추: 앞으로 또는 다음 1">
            <a:hlinkClick r:id="rId7" action="ppaction://hlinksldjump" highlightClick="1"/>
            <a:extLst>
              <a:ext uri="{FF2B5EF4-FFF2-40B4-BE49-F238E27FC236}">
                <a16:creationId xmlns:a16="http://schemas.microsoft.com/office/drawing/2014/main" id="{B43A4CC6-3683-436B-940F-BD679BB1A116}"/>
              </a:ext>
            </a:extLst>
          </p:cNvPr>
          <p:cNvSpPr/>
          <p:nvPr/>
        </p:nvSpPr>
        <p:spPr>
          <a:xfrm>
            <a:off x="507023" y="341084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실행 단추: 앞으로 또는 다음 1">
            <a:hlinkClick r:id="rId8" action="ppaction://hlinksldjump" highlightClick="1"/>
            <a:extLst>
              <a:ext uri="{FF2B5EF4-FFF2-40B4-BE49-F238E27FC236}">
                <a16:creationId xmlns:a16="http://schemas.microsoft.com/office/drawing/2014/main" id="{B43A4CC6-3683-436B-940F-BD679BB1A116}"/>
              </a:ext>
            </a:extLst>
          </p:cNvPr>
          <p:cNvSpPr/>
          <p:nvPr/>
        </p:nvSpPr>
        <p:spPr>
          <a:xfrm>
            <a:off x="460640" y="4098186"/>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실행 단추: 앞으로 또는 다음 1">
            <a:hlinkClick r:id="rId9" action="ppaction://hlinksldjump" highlightClick="1"/>
            <a:extLst>
              <a:ext uri="{FF2B5EF4-FFF2-40B4-BE49-F238E27FC236}">
                <a16:creationId xmlns:a16="http://schemas.microsoft.com/office/drawing/2014/main" id="{B43A4CC6-3683-436B-940F-BD679BB1A116}"/>
              </a:ext>
            </a:extLst>
          </p:cNvPr>
          <p:cNvSpPr/>
          <p:nvPr/>
        </p:nvSpPr>
        <p:spPr>
          <a:xfrm>
            <a:off x="9889001" y="1147586"/>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TextBox 1">
            <a:extLst>
              <a:ext uri="{FF2B5EF4-FFF2-40B4-BE49-F238E27FC236}">
                <a16:creationId xmlns:a16="http://schemas.microsoft.com/office/drawing/2014/main" id="{4D49E20A-DDC8-4511-8B0B-3AB91A5F2863}"/>
              </a:ext>
            </a:extLst>
          </p:cNvPr>
          <p:cNvSpPr txBox="1"/>
          <p:nvPr/>
        </p:nvSpPr>
        <p:spPr>
          <a:xfrm>
            <a:off x="8210550" y="1135612"/>
            <a:ext cx="1678451" cy="215444"/>
          </a:xfrm>
          <a:prstGeom prst="rect">
            <a:avLst/>
          </a:prstGeom>
          <a:noFill/>
        </p:spPr>
        <p:txBody>
          <a:bodyPr wrap="square" rtlCol="0">
            <a:spAutoFit/>
          </a:bodyPr>
          <a:lstStyle/>
          <a:p>
            <a:pPr algn="ctr"/>
            <a:r>
              <a:rPr lang="en-US" altLang="ko-KR" sz="800" b="1" dirty="0">
                <a:solidFill>
                  <a:schemeClr val="bg1"/>
                </a:solidFill>
              </a:rPr>
              <a:t>SLO(Service</a:t>
            </a:r>
            <a:r>
              <a:rPr lang="ko-KR" altLang="en-US" sz="800" b="1" dirty="0">
                <a:solidFill>
                  <a:schemeClr val="bg1"/>
                </a:solidFill>
              </a:rPr>
              <a:t> </a:t>
            </a:r>
            <a:r>
              <a:rPr lang="en-US" altLang="ko-KR" sz="800" b="1" dirty="0">
                <a:solidFill>
                  <a:schemeClr val="bg1"/>
                </a:solidFill>
              </a:rPr>
              <a:t>Objective</a:t>
            </a:r>
            <a:r>
              <a:rPr lang="ko-KR" altLang="en-US" sz="800" b="1" dirty="0">
                <a:solidFill>
                  <a:schemeClr val="bg1"/>
                </a:solidFill>
              </a:rPr>
              <a:t> </a:t>
            </a:r>
            <a:r>
              <a:rPr lang="en-US" altLang="ko-KR" sz="800" b="1" dirty="0">
                <a:solidFill>
                  <a:schemeClr val="bg1"/>
                </a:solidFill>
              </a:rPr>
              <a:t>Object)</a:t>
            </a:r>
            <a:endParaRPr lang="ko-KR" altLang="en-US" sz="800" b="1" dirty="0">
              <a:solidFill>
                <a:schemeClr val="bg1"/>
              </a:solidFill>
            </a:endParaRPr>
          </a:p>
        </p:txBody>
      </p:sp>
      <p:sp>
        <p:nvSpPr>
          <p:cNvPr id="13" name="실행 단추: 앞으로 또는 다음 1">
            <a:hlinkClick r:id="rId10" action="ppaction://hlinksldjump" highlightClick="1"/>
            <a:extLst>
              <a:ext uri="{FF2B5EF4-FFF2-40B4-BE49-F238E27FC236}">
                <a16:creationId xmlns:a16="http://schemas.microsoft.com/office/drawing/2014/main" id="{31A8CA6E-A747-446C-89D9-0900B54E5631}"/>
              </a:ext>
            </a:extLst>
          </p:cNvPr>
          <p:cNvSpPr/>
          <p:nvPr/>
        </p:nvSpPr>
        <p:spPr>
          <a:xfrm>
            <a:off x="460640" y="474792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0684132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pPr algn="l"/>
            <a:r>
              <a:rPr lang="ko-KR" altLang="en-US" dirty="0"/>
              <a:t>아키텍처 드라이버 선정</a:t>
            </a:r>
          </a:p>
        </p:txBody>
      </p:sp>
      <p:sp>
        <p:nvSpPr>
          <p:cNvPr id="74" name="직사각형 73">
            <a:extLst>
              <a:ext uri="{FF2B5EF4-FFF2-40B4-BE49-F238E27FC236}">
                <a16:creationId xmlns:a16="http://schemas.microsoft.com/office/drawing/2014/main" id="{54CCB8FA-FDB4-4FC9-AF22-78FCF33F868B}"/>
              </a:ext>
            </a:extLst>
          </p:cNvPr>
          <p:cNvSpPr/>
          <p:nvPr/>
        </p:nvSpPr>
        <p:spPr>
          <a:xfrm>
            <a:off x="201714" y="1016139"/>
            <a:ext cx="11799786" cy="5556111"/>
          </a:xfrm>
          <a:prstGeom prst="rect">
            <a:avLst/>
          </a:prstGeom>
          <a:no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grpSp>
        <p:nvGrpSpPr>
          <p:cNvPr id="75" name="그룹 74">
            <a:extLst>
              <a:ext uri="{FF2B5EF4-FFF2-40B4-BE49-F238E27FC236}">
                <a16:creationId xmlns:a16="http://schemas.microsoft.com/office/drawing/2014/main" id="{77D51612-B8B9-458B-8C05-019D2A96C8DB}"/>
              </a:ext>
            </a:extLst>
          </p:cNvPr>
          <p:cNvGrpSpPr/>
          <p:nvPr/>
        </p:nvGrpSpPr>
        <p:grpSpPr>
          <a:xfrm>
            <a:off x="471115" y="1089312"/>
            <a:ext cx="11473921" cy="5452125"/>
            <a:chOff x="-1717250" y="2489786"/>
            <a:chExt cx="15994676" cy="7600277"/>
          </a:xfrm>
        </p:grpSpPr>
        <p:sp>
          <p:nvSpPr>
            <p:cNvPr id="76" name="아래쪽 화살표 135">
              <a:extLst>
                <a:ext uri="{FF2B5EF4-FFF2-40B4-BE49-F238E27FC236}">
                  <a16:creationId xmlns:a16="http://schemas.microsoft.com/office/drawing/2014/main" id="{408C1FBD-E827-4427-A278-853D0EE5E9B9}"/>
                </a:ext>
              </a:extLst>
            </p:cNvPr>
            <p:cNvSpPr/>
            <p:nvPr/>
          </p:nvSpPr>
          <p:spPr>
            <a:xfrm>
              <a:off x="4945242" y="8103781"/>
              <a:ext cx="3062944" cy="1090613"/>
            </a:xfrm>
            <a:prstGeom prst="downArrow">
              <a:avLst/>
            </a:prstGeom>
            <a:gradFill flip="none" rotWithShape="1">
              <a:gsLst>
                <a:gs pos="0">
                  <a:schemeClr val="tx1">
                    <a:lumMod val="50000"/>
                    <a:lumOff val="50000"/>
                  </a:schemeClr>
                </a:gs>
                <a:gs pos="50000">
                  <a:schemeClr val="bg1">
                    <a:lumMod val="65000"/>
                  </a:schemeClr>
                </a:gs>
                <a:gs pos="100000">
                  <a:schemeClr val="accent3">
                    <a:tint val="23500"/>
                    <a:satMod val="160000"/>
                  </a:schemeClr>
                </a:gs>
              </a:gsLst>
              <a:lin ang="16200000" scaled="1"/>
              <a:tileRect/>
            </a:gra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ko-KR" altLang="en-US" sz="1100"/>
            </a:p>
          </p:txBody>
        </p:sp>
        <p:sp>
          <p:nvSpPr>
            <p:cNvPr id="77" name="모서리가 둥근 직사각형 136">
              <a:extLst>
                <a:ext uri="{FF2B5EF4-FFF2-40B4-BE49-F238E27FC236}">
                  <a16:creationId xmlns:a16="http://schemas.microsoft.com/office/drawing/2014/main" id="{5036D757-DAEF-4340-8C0C-CDFFA19533B7}"/>
                </a:ext>
              </a:extLst>
            </p:cNvPr>
            <p:cNvSpPr/>
            <p:nvPr/>
          </p:nvSpPr>
          <p:spPr>
            <a:xfrm>
              <a:off x="3987802" y="2996713"/>
              <a:ext cx="5038726" cy="485775"/>
            </a:xfrm>
            <a:prstGeom prst="roundRect">
              <a:avLst/>
            </a:prstGeom>
            <a:solidFill>
              <a:srgbClr val="33513D"/>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a:solidFill>
                    <a:schemeClr val="bg1"/>
                  </a:solidFill>
                </a:rPr>
                <a:t>QA-01 [Performance] </a:t>
              </a:r>
              <a:r>
                <a:rPr lang="ko-KR" altLang="en-US" sz="1100" b="1" dirty="0">
                  <a:latin typeface="맑은 고딕" panose="020B0503020000020004" pitchFamily="50" charset="-127"/>
                  <a:ea typeface="맑은 고딕" panose="020B0503020000020004" pitchFamily="50" charset="-127"/>
                </a:rPr>
                <a:t>토큰 처리량 </a:t>
              </a:r>
              <a:r>
                <a:rPr lang="en-US" altLang="ko-KR" sz="1100" b="1" dirty="0">
                  <a:latin typeface="맑은 고딕" panose="020B0503020000020004" pitchFamily="50" charset="-127"/>
                  <a:ea typeface="맑은 고딕" panose="020B0503020000020004" pitchFamily="50" charset="-127"/>
                </a:rPr>
                <a:t>(SLO </a:t>
              </a:r>
              <a:r>
                <a:rPr lang="ko-KR" altLang="en-US" sz="1100" b="1" dirty="0">
                  <a:latin typeface="맑은 고딕" panose="020B0503020000020004" pitchFamily="50" charset="-127"/>
                  <a:ea typeface="맑은 고딕" panose="020B0503020000020004" pitchFamily="50" charset="-127"/>
                </a:rPr>
                <a:t>만족</a:t>
              </a:r>
              <a:r>
                <a:rPr lang="en-US" altLang="ko-KR" sz="1100" b="1" dirty="0">
                  <a:latin typeface="맑은 고딕" panose="020B0503020000020004" pitchFamily="50" charset="-127"/>
                  <a:ea typeface="맑은 고딕" panose="020B0503020000020004" pitchFamily="50" charset="-127"/>
                </a:rPr>
                <a:t>)</a:t>
              </a:r>
              <a:endParaRPr lang="ko-KR" altLang="en-US" sz="1100" b="1" dirty="0">
                <a:latin typeface="맑은 고딕" panose="020B0503020000020004" pitchFamily="50" charset="-127"/>
                <a:ea typeface="맑은 고딕" panose="020B0503020000020004" pitchFamily="50" charset="-127"/>
              </a:endParaRPr>
            </a:p>
          </p:txBody>
        </p:sp>
        <p:sp>
          <p:nvSpPr>
            <p:cNvPr id="78" name="모서리가 둥근 직사각형 137">
              <a:extLst>
                <a:ext uri="{FF2B5EF4-FFF2-40B4-BE49-F238E27FC236}">
                  <a16:creationId xmlns:a16="http://schemas.microsoft.com/office/drawing/2014/main" id="{BBCB3A63-2A6C-44A2-B2D0-1CB38DCEE876}"/>
                </a:ext>
              </a:extLst>
            </p:cNvPr>
            <p:cNvSpPr/>
            <p:nvPr/>
          </p:nvSpPr>
          <p:spPr>
            <a:xfrm>
              <a:off x="-1582581" y="3015359"/>
              <a:ext cx="5201433" cy="485775"/>
            </a:xfrm>
            <a:prstGeom prst="roundRect">
              <a:avLst/>
            </a:prstGeom>
            <a:solidFill>
              <a:srgbClr val="333F5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a:solidFill>
                    <a:schemeClr val="bg1"/>
                  </a:solidFill>
                </a:rPr>
                <a:t>FR-01 </a:t>
              </a:r>
              <a:r>
                <a:rPr lang="ko-KR" altLang="en-US" sz="1100" b="1" dirty="0">
                  <a:solidFill>
                    <a:schemeClr val="bg1"/>
                  </a:solidFill>
                </a:rPr>
                <a:t>추론 요청 관리</a:t>
              </a:r>
            </a:p>
          </p:txBody>
        </p:sp>
        <p:sp>
          <p:nvSpPr>
            <p:cNvPr id="79" name="모서리가 둥근 직사각형 138">
              <a:extLst>
                <a:ext uri="{FF2B5EF4-FFF2-40B4-BE49-F238E27FC236}">
                  <a16:creationId xmlns:a16="http://schemas.microsoft.com/office/drawing/2014/main" id="{4032A28E-3BE5-47D7-B3DD-8C6A7ED5AD0B}"/>
                </a:ext>
              </a:extLst>
            </p:cNvPr>
            <p:cNvSpPr/>
            <p:nvPr/>
          </p:nvSpPr>
          <p:spPr>
            <a:xfrm>
              <a:off x="9204588" y="7147181"/>
              <a:ext cx="5072838" cy="485775"/>
            </a:xfrm>
            <a:prstGeom prst="roundRect">
              <a:avLst/>
            </a:prstGeom>
            <a:solidFill>
              <a:srgbClr val="8A552E"/>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en-US" altLang="ko-KR" sz="1100" b="1" dirty="0">
                  <a:solidFill>
                    <a:schemeClr val="bg1"/>
                  </a:solidFill>
                </a:rPr>
                <a:t>C-01 </a:t>
              </a:r>
              <a:r>
                <a:rPr lang="en-US" altLang="ko-KR" sz="1100" b="1" dirty="0" err="1">
                  <a:solidFill>
                    <a:schemeClr val="bg1"/>
                  </a:solidFill>
                </a:rPr>
                <a:t>vLLM</a:t>
              </a:r>
              <a:r>
                <a:rPr lang="en-US" altLang="ko-KR" sz="1100" b="1" dirty="0">
                  <a:solidFill>
                    <a:schemeClr val="bg1"/>
                  </a:solidFill>
                </a:rPr>
                <a:t> </a:t>
              </a:r>
              <a:r>
                <a:rPr lang="ko-KR" altLang="en-US" sz="1100" b="1" dirty="0" err="1">
                  <a:solidFill>
                    <a:schemeClr val="bg1"/>
                  </a:solidFill>
                </a:rPr>
                <a:t>서빙</a:t>
              </a:r>
              <a:r>
                <a:rPr lang="ko-KR" altLang="en-US" sz="1100" b="1" dirty="0">
                  <a:solidFill>
                    <a:schemeClr val="bg1"/>
                  </a:solidFill>
                </a:rPr>
                <a:t> </a:t>
              </a:r>
              <a:r>
                <a:rPr lang="en-US" altLang="ko-KR" sz="1100" b="1" dirty="0">
                  <a:solidFill>
                    <a:schemeClr val="bg1"/>
                  </a:solidFill>
                </a:rPr>
                <a:t>Framework</a:t>
              </a:r>
              <a:r>
                <a:rPr lang="ko-KR" altLang="en-US" sz="1100" b="1" dirty="0">
                  <a:solidFill>
                    <a:schemeClr val="bg1"/>
                  </a:solidFill>
                </a:rPr>
                <a:t> 제약</a:t>
              </a:r>
            </a:p>
          </p:txBody>
        </p:sp>
        <p:sp>
          <p:nvSpPr>
            <p:cNvPr id="80" name="모서리가 둥근 직사각형 139">
              <a:extLst>
                <a:ext uri="{FF2B5EF4-FFF2-40B4-BE49-F238E27FC236}">
                  <a16:creationId xmlns:a16="http://schemas.microsoft.com/office/drawing/2014/main" id="{D230ACF2-4850-4644-B6CD-6CA5B6CB0B5F}"/>
                </a:ext>
              </a:extLst>
            </p:cNvPr>
            <p:cNvSpPr/>
            <p:nvPr/>
          </p:nvSpPr>
          <p:spPr>
            <a:xfrm>
              <a:off x="-1582581" y="3682110"/>
              <a:ext cx="5201433" cy="485775"/>
            </a:xfrm>
            <a:prstGeom prst="roundRect">
              <a:avLst/>
            </a:prstGeom>
            <a:solidFill>
              <a:srgbClr val="333F5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a:solidFill>
                    <a:schemeClr val="bg1"/>
                  </a:solidFill>
                </a:rPr>
                <a:t>FR-02 </a:t>
              </a:r>
              <a:r>
                <a:rPr lang="ko-KR" altLang="en-US" sz="1100" b="1" dirty="0">
                  <a:solidFill>
                    <a:schemeClr val="bg1"/>
                  </a:solidFill>
                </a:rPr>
                <a:t>추론 스케줄링</a:t>
              </a:r>
            </a:p>
          </p:txBody>
        </p:sp>
        <p:sp>
          <p:nvSpPr>
            <p:cNvPr id="81" name="모서리가 둥근 직사각형 140">
              <a:extLst>
                <a:ext uri="{FF2B5EF4-FFF2-40B4-BE49-F238E27FC236}">
                  <a16:creationId xmlns:a16="http://schemas.microsoft.com/office/drawing/2014/main" id="{FEE67ACA-9302-49BE-AB0D-E53A6E51D0E4}"/>
                </a:ext>
              </a:extLst>
            </p:cNvPr>
            <p:cNvSpPr/>
            <p:nvPr/>
          </p:nvSpPr>
          <p:spPr>
            <a:xfrm>
              <a:off x="-1582581" y="4348860"/>
              <a:ext cx="5201433" cy="485775"/>
            </a:xfrm>
            <a:prstGeom prst="roundRect">
              <a:avLst/>
            </a:prstGeom>
            <a:solidFill>
              <a:srgbClr val="333F5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a:solidFill>
                    <a:schemeClr val="bg1"/>
                  </a:solidFill>
                </a:rPr>
                <a:t>FR-03 LLM </a:t>
              </a:r>
              <a:r>
                <a:rPr lang="ko-KR" altLang="en-US" sz="1100" b="1" dirty="0">
                  <a:solidFill>
                    <a:schemeClr val="bg1"/>
                  </a:solidFill>
                </a:rPr>
                <a:t>추론 실행</a:t>
              </a:r>
            </a:p>
          </p:txBody>
        </p:sp>
        <p:sp>
          <p:nvSpPr>
            <p:cNvPr id="82" name="모서리가 둥근 직사각형 141">
              <a:extLst>
                <a:ext uri="{FF2B5EF4-FFF2-40B4-BE49-F238E27FC236}">
                  <a16:creationId xmlns:a16="http://schemas.microsoft.com/office/drawing/2014/main" id="{68FFDCC7-0FE3-4072-9144-F616132B128F}"/>
                </a:ext>
              </a:extLst>
            </p:cNvPr>
            <p:cNvSpPr/>
            <p:nvPr/>
          </p:nvSpPr>
          <p:spPr>
            <a:xfrm>
              <a:off x="-1582581" y="5015610"/>
              <a:ext cx="5201433" cy="485775"/>
            </a:xfrm>
            <a:prstGeom prst="roundRect">
              <a:avLst/>
            </a:prstGeom>
            <a:solidFill>
              <a:srgbClr val="333F5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a:solidFill>
                    <a:schemeClr val="bg1"/>
                  </a:solidFill>
                </a:rPr>
                <a:t>FR-04 KV </a:t>
              </a:r>
              <a:r>
                <a:rPr lang="ko-KR" altLang="en-US" sz="1100" b="1" dirty="0">
                  <a:solidFill>
                    <a:schemeClr val="bg1"/>
                  </a:solidFill>
                </a:rPr>
                <a:t>캐시 관리</a:t>
              </a:r>
            </a:p>
          </p:txBody>
        </p:sp>
        <p:sp>
          <p:nvSpPr>
            <p:cNvPr id="84" name="모서리가 둥근 직사각형 143">
              <a:extLst>
                <a:ext uri="{FF2B5EF4-FFF2-40B4-BE49-F238E27FC236}">
                  <a16:creationId xmlns:a16="http://schemas.microsoft.com/office/drawing/2014/main" id="{1B27D503-1E7E-4962-B80D-FCAE1BB8C15A}"/>
                </a:ext>
              </a:extLst>
            </p:cNvPr>
            <p:cNvSpPr/>
            <p:nvPr/>
          </p:nvSpPr>
          <p:spPr>
            <a:xfrm>
              <a:off x="3987802" y="3619013"/>
              <a:ext cx="5038726" cy="485775"/>
            </a:xfrm>
            <a:prstGeom prst="roundRect">
              <a:avLst/>
            </a:prstGeom>
            <a:solidFill>
              <a:srgbClr val="33513D"/>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smtClean="0">
                  <a:solidFill>
                    <a:schemeClr val="bg1"/>
                  </a:solidFill>
                </a:rPr>
                <a:t>QA-02 </a:t>
              </a:r>
              <a:r>
                <a:rPr lang="en-US" altLang="ko-KR" sz="1100" b="1" dirty="0">
                  <a:solidFill>
                    <a:schemeClr val="bg1"/>
                  </a:solidFill>
                </a:rPr>
                <a:t>[Performance] </a:t>
              </a:r>
              <a:r>
                <a:rPr lang="ko-KR" altLang="en-US" sz="1100" b="1" dirty="0">
                  <a:latin typeface="맑은 고딕" panose="020B0503020000020004" pitchFamily="50" charset="-127"/>
                </a:rPr>
                <a:t>고부하 지연시간 </a:t>
              </a:r>
              <a:r>
                <a:rPr lang="en-US" altLang="ko-KR" sz="1100" b="1" dirty="0">
                  <a:latin typeface="맑은 고딕" panose="020B0503020000020004" pitchFamily="50" charset="-127"/>
                </a:rPr>
                <a:t>(P99)</a:t>
              </a:r>
            </a:p>
          </p:txBody>
        </p:sp>
        <p:sp>
          <p:nvSpPr>
            <p:cNvPr id="85" name="모서리가 둥근 직사각형 144">
              <a:extLst>
                <a:ext uri="{FF2B5EF4-FFF2-40B4-BE49-F238E27FC236}">
                  <a16:creationId xmlns:a16="http://schemas.microsoft.com/office/drawing/2014/main" id="{7B08FCC3-938D-4D6D-A8BC-2044C0107336}"/>
                </a:ext>
              </a:extLst>
            </p:cNvPr>
            <p:cNvSpPr/>
            <p:nvPr/>
          </p:nvSpPr>
          <p:spPr>
            <a:xfrm>
              <a:off x="3987802" y="4241313"/>
              <a:ext cx="5038726" cy="485775"/>
            </a:xfrm>
            <a:prstGeom prst="roundRect">
              <a:avLst/>
            </a:prstGeom>
            <a:solidFill>
              <a:srgbClr val="33513D"/>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smtClean="0">
                  <a:solidFill>
                    <a:schemeClr val="bg1"/>
                  </a:solidFill>
                </a:rPr>
                <a:t>QA-03 </a:t>
              </a:r>
              <a:r>
                <a:rPr lang="en-US" altLang="ko-KR" sz="1100" b="1" dirty="0">
                  <a:solidFill>
                    <a:schemeClr val="bg1"/>
                  </a:solidFill>
                </a:rPr>
                <a:t>[Scalability] </a:t>
              </a:r>
              <a:r>
                <a:rPr lang="ko-KR" altLang="en-US" sz="1100" b="1" dirty="0" smtClean="0">
                  <a:solidFill>
                    <a:schemeClr val="bg1"/>
                  </a:solidFill>
                </a:rPr>
                <a:t>시스템 </a:t>
              </a:r>
              <a:r>
                <a:rPr lang="ko-KR" altLang="en-US" sz="1100" b="1" dirty="0" smtClean="0">
                  <a:latin typeface="맑은 고딕" panose="020B0503020000020004" pitchFamily="50" charset="-127"/>
                </a:rPr>
                <a:t>확장성</a:t>
              </a:r>
              <a:endParaRPr lang="en-US" altLang="ko-KR" sz="1100" b="1" dirty="0">
                <a:latin typeface="맑은 고딕" panose="020B0503020000020004" pitchFamily="50" charset="-127"/>
              </a:endParaRPr>
            </a:p>
          </p:txBody>
        </p:sp>
        <p:sp>
          <p:nvSpPr>
            <p:cNvPr id="86" name="모서리가 둥근 직사각형 145">
              <a:extLst>
                <a:ext uri="{FF2B5EF4-FFF2-40B4-BE49-F238E27FC236}">
                  <a16:creationId xmlns:a16="http://schemas.microsoft.com/office/drawing/2014/main" id="{C6F238CD-AE71-49C7-9948-2B1B529BF96A}"/>
                </a:ext>
              </a:extLst>
            </p:cNvPr>
            <p:cNvSpPr/>
            <p:nvPr/>
          </p:nvSpPr>
          <p:spPr>
            <a:xfrm>
              <a:off x="3987801" y="4863613"/>
              <a:ext cx="5038726" cy="485775"/>
            </a:xfrm>
            <a:prstGeom prst="roundRect">
              <a:avLst/>
            </a:prstGeom>
            <a:solidFill>
              <a:srgbClr val="33513D"/>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smtClean="0">
                  <a:solidFill>
                    <a:schemeClr val="bg1"/>
                  </a:solidFill>
                </a:rPr>
                <a:t>QA-04 </a:t>
              </a:r>
              <a:r>
                <a:rPr lang="en-US" altLang="ko-KR" sz="1100" b="1" dirty="0">
                  <a:solidFill>
                    <a:schemeClr val="bg1"/>
                  </a:solidFill>
                </a:rPr>
                <a:t>[Modifiability] </a:t>
              </a:r>
              <a:r>
                <a:rPr lang="en-US" altLang="ko-KR" sz="1100" b="1" dirty="0" smtClean="0">
                  <a:solidFill>
                    <a:schemeClr val="bg1"/>
                  </a:solidFill>
                </a:rPr>
                <a:t>Device</a:t>
              </a:r>
              <a:r>
                <a:rPr lang="en-US" altLang="ko-KR" sz="1100" dirty="0" smtClean="0"/>
                <a:t>/</a:t>
              </a:r>
              <a:r>
                <a:rPr lang="ko-KR" altLang="en-US" sz="1100" b="1" dirty="0" smtClean="0">
                  <a:solidFill>
                    <a:schemeClr val="bg1"/>
                  </a:solidFill>
                </a:rPr>
                <a:t>정책 </a:t>
              </a:r>
              <a:r>
                <a:rPr lang="ko-KR" altLang="en-US" sz="1100" b="1" dirty="0" smtClean="0">
                  <a:latin typeface="맑은 고딕" panose="020B0503020000020004" pitchFamily="50" charset="-127"/>
                </a:rPr>
                <a:t>변경 </a:t>
              </a:r>
              <a:r>
                <a:rPr lang="ko-KR" altLang="en-US" sz="1100" b="1" dirty="0">
                  <a:latin typeface="맑은 고딕" panose="020B0503020000020004" pitchFamily="50" charset="-127"/>
                </a:rPr>
                <a:t>용이성</a:t>
              </a:r>
              <a:r>
                <a:rPr lang="en-US" altLang="ko-KR" sz="1100" b="1" dirty="0">
                  <a:solidFill>
                    <a:schemeClr val="bg1"/>
                  </a:solidFill>
                </a:rPr>
                <a:t> </a:t>
              </a:r>
              <a:endParaRPr lang="en-US" altLang="ko-KR" sz="1100" b="1" dirty="0">
                <a:latin typeface="맑은 고딕" panose="020B0503020000020004" pitchFamily="50" charset="-127"/>
              </a:endParaRPr>
            </a:p>
          </p:txBody>
        </p:sp>
        <p:sp>
          <p:nvSpPr>
            <p:cNvPr id="89" name="아래쪽 화살표 148">
              <a:extLst>
                <a:ext uri="{FF2B5EF4-FFF2-40B4-BE49-F238E27FC236}">
                  <a16:creationId xmlns:a16="http://schemas.microsoft.com/office/drawing/2014/main" id="{78078890-88C7-4406-8C81-1541ABBDAAED}"/>
                </a:ext>
              </a:extLst>
            </p:cNvPr>
            <p:cNvSpPr/>
            <p:nvPr/>
          </p:nvSpPr>
          <p:spPr>
            <a:xfrm>
              <a:off x="6118227" y="6705349"/>
              <a:ext cx="723900" cy="315487"/>
            </a:xfrm>
            <a:prstGeom prst="downArrow">
              <a:avLst/>
            </a:prstGeom>
            <a:solidFill>
              <a:srgbClr val="33513D"/>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100"/>
            </a:p>
          </p:txBody>
        </p:sp>
        <p:sp>
          <p:nvSpPr>
            <p:cNvPr id="90" name="아래쪽 화살표 149">
              <a:extLst>
                <a:ext uri="{FF2B5EF4-FFF2-40B4-BE49-F238E27FC236}">
                  <a16:creationId xmlns:a16="http://schemas.microsoft.com/office/drawing/2014/main" id="{79A8C164-7CAA-4B77-8A27-920807BCB1CD}"/>
                </a:ext>
              </a:extLst>
            </p:cNvPr>
            <p:cNvSpPr/>
            <p:nvPr/>
          </p:nvSpPr>
          <p:spPr>
            <a:xfrm rot="16200000">
              <a:off x="3794263" y="7373463"/>
              <a:ext cx="723900" cy="676275"/>
            </a:xfrm>
            <a:prstGeom prst="downArrow">
              <a:avLst/>
            </a:prstGeom>
            <a:solidFill>
              <a:srgbClr val="333F5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100"/>
            </a:p>
          </p:txBody>
        </p:sp>
        <p:sp>
          <p:nvSpPr>
            <p:cNvPr id="91" name="아래쪽 화살표 150">
              <a:extLst>
                <a:ext uri="{FF2B5EF4-FFF2-40B4-BE49-F238E27FC236}">
                  <a16:creationId xmlns:a16="http://schemas.microsoft.com/office/drawing/2014/main" id="{C3AC556C-BD28-4B41-A9A6-4A5664D64123}"/>
                </a:ext>
              </a:extLst>
            </p:cNvPr>
            <p:cNvSpPr/>
            <p:nvPr/>
          </p:nvSpPr>
          <p:spPr>
            <a:xfrm rot="5400000">
              <a:off x="8271738" y="7432152"/>
              <a:ext cx="723900" cy="558904"/>
            </a:xfrm>
            <a:prstGeom prst="downArrow">
              <a:avLst/>
            </a:prstGeom>
            <a:solidFill>
              <a:srgbClr val="8A552E"/>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100"/>
            </a:p>
          </p:txBody>
        </p:sp>
        <p:sp>
          <p:nvSpPr>
            <p:cNvPr id="92" name="TextBox 91">
              <a:extLst>
                <a:ext uri="{FF2B5EF4-FFF2-40B4-BE49-F238E27FC236}">
                  <a16:creationId xmlns:a16="http://schemas.microsoft.com/office/drawing/2014/main" id="{22A50A36-95E1-43F8-89B4-8DF820549D9D}"/>
                </a:ext>
              </a:extLst>
            </p:cNvPr>
            <p:cNvSpPr txBox="1"/>
            <p:nvPr/>
          </p:nvSpPr>
          <p:spPr>
            <a:xfrm>
              <a:off x="-1717250" y="2489786"/>
              <a:ext cx="3030730" cy="429042"/>
            </a:xfrm>
            <a:prstGeom prst="rect">
              <a:avLst/>
            </a:prstGeom>
            <a:noFill/>
          </p:spPr>
          <p:txBody>
            <a:bodyPr wrap="none" rtlCol="0">
              <a:spAutoFit/>
            </a:bodyPr>
            <a:lstStyle/>
            <a:p>
              <a:r>
                <a:rPr lang="en-US" altLang="ko-KR" sz="1400" b="1" dirty="0">
                  <a:solidFill>
                    <a:srgbClr val="333F50"/>
                  </a:solidFill>
                  <a:effectLst>
                    <a:outerShdw blurRad="50800" dist="38100" dir="2700000" algn="tl" rotWithShape="0">
                      <a:prstClr val="black">
                        <a:alpha val="40000"/>
                      </a:prstClr>
                    </a:outerShdw>
                  </a:effectLst>
                </a:rPr>
                <a:t>| Functional Requirements</a:t>
              </a:r>
              <a:endParaRPr lang="ko-KR" altLang="en-US" sz="1400" b="1" dirty="0">
                <a:solidFill>
                  <a:srgbClr val="333F50"/>
                </a:solidFill>
                <a:effectLst>
                  <a:outerShdw blurRad="50800" dist="38100" dir="2700000" algn="tl" rotWithShape="0">
                    <a:prstClr val="black">
                      <a:alpha val="40000"/>
                    </a:prstClr>
                  </a:outerShdw>
                </a:effectLst>
              </a:endParaRPr>
            </a:p>
          </p:txBody>
        </p:sp>
        <p:sp>
          <p:nvSpPr>
            <p:cNvPr id="93" name="TextBox 92">
              <a:extLst>
                <a:ext uri="{FF2B5EF4-FFF2-40B4-BE49-F238E27FC236}">
                  <a16:creationId xmlns:a16="http://schemas.microsoft.com/office/drawing/2014/main" id="{6C6A4DED-0CC1-4AAA-83E2-0EAFB0A4F61A}"/>
                </a:ext>
              </a:extLst>
            </p:cNvPr>
            <p:cNvSpPr txBox="1"/>
            <p:nvPr/>
          </p:nvSpPr>
          <p:spPr>
            <a:xfrm>
              <a:off x="3824227" y="2489786"/>
              <a:ext cx="2292868" cy="429042"/>
            </a:xfrm>
            <a:prstGeom prst="rect">
              <a:avLst/>
            </a:prstGeom>
            <a:noFill/>
          </p:spPr>
          <p:txBody>
            <a:bodyPr wrap="none" rtlCol="0">
              <a:spAutoFit/>
            </a:bodyPr>
            <a:lstStyle/>
            <a:p>
              <a:r>
                <a:rPr lang="en-US" altLang="ko-KR" sz="1400" b="1" dirty="0">
                  <a:solidFill>
                    <a:srgbClr val="33513D"/>
                  </a:solidFill>
                  <a:effectLst>
                    <a:outerShdw blurRad="50800" dist="38100" dir="2700000" algn="tl" rotWithShape="0">
                      <a:prstClr val="black">
                        <a:alpha val="40000"/>
                      </a:prstClr>
                    </a:outerShdw>
                  </a:effectLst>
                </a:rPr>
                <a:t>| Quality Attributes</a:t>
              </a:r>
              <a:endParaRPr lang="ko-KR" altLang="en-US" sz="1400" b="1" dirty="0">
                <a:solidFill>
                  <a:srgbClr val="33513D"/>
                </a:solidFill>
                <a:effectLst>
                  <a:outerShdw blurRad="50800" dist="38100" dir="2700000" algn="tl" rotWithShape="0">
                    <a:prstClr val="black">
                      <a:alpha val="40000"/>
                    </a:prstClr>
                  </a:outerShdw>
                </a:effectLst>
              </a:endParaRPr>
            </a:p>
          </p:txBody>
        </p:sp>
        <p:sp>
          <p:nvSpPr>
            <p:cNvPr id="94" name="TextBox 93">
              <a:extLst>
                <a:ext uri="{FF2B5EF4-FFF2-40B4-BE49-F238E27FC236}">
                  <a16:creationId xmlns:a16="http://schemas.microsoft.com/office/drawing/2014/main" id="{98C6C661-DE18-49C8-A74F-F5625B685B1B}"/>
                </a:ext>
              </a:extLst>
            </p:cNvPr>
            <p:cNvSpPr txBox="1"/>
            <p:nvPr/>
          </p:nvSpPr>
          <p:spPr>
            <a:xfrm>
              <a:off x="9123138" y="6653120"/>
              <a:ext cx="1704408" cy="455496"/>
            </a:xfrm>
            <a:prstGeom prst="rect">
              <a:avLst/>
            </a:prstGeom>
            <a:noFill/>
          </p:spPr>
          <p:txBody>
            <a:bodyPr wrap="none" rtlCol="0">
              <a:spAutoFit/>
            </a:bodyPr>
            <a:lstStyle/>
            <a:p>
              <a:r>
                <a:rPr lang="en-US" altLang="ko-KR" sz="1400" b="1" dirty="0">
                  <a:solidFill>
                    <a:srgbClr val="8A552E"/>
                  </a:solidFill>
                  <a:effectLst>
                    <a:outerShdw blurRad="50800" dist="38100" dir="2700000" algn="tl" rotWithShape="0">
                      <a:prstClr val="black">
                        <a:alpha val="40000"/>
                      </a:prstClr>
                    </a:outerShdw>
                  </a:effectLst>
                </a:rPr>
                <a:t>| Constraints</a:t>
              </a:r>
              <a:endParaRPr lang="ko-KR" altLang="en-US" sz="1400" b="1" dirty="0">
                <a:solidFill>
                  <a:srgbClr val="8A552E"/>
                </a:solidFill>
                <a:effectLst>
                  <a:outerShdw blurRad="50800" dist="38100" dir="2700000" algn="tl" rotWithShape="0">
                    <a:prstClr val="black">
                      <a:alpha val="40000"/>
                    </a:prstClr>
                  </a:outerShdw>
                </a:effectLst>
              </a:endParaRPr>
            </a:p>
          </p:txBody>
        </p:sp>
        <p:sp>
          <p:nvSpPr>
            <p:cNvPr id="95" name="타원 94">
              <a:extLst>
                <a:ext uri="{FF2B5EF4-FFF2-40B4-BE49-F238E27FC236}">
                  <a16:creationId xmlns:a16="http://schemas.microsoft.com/office/drawing/2014/main" id="{A7A93DA7-F0B3-4DF7-81CD-4C085C42B2BE}"/>
                </a:ext>
              </a:extLst>
            </p:cNvPr>
            <p:cNvSpPr/>
            <p:nvPr/>
          </p:nvSpPr>
          <p:spPr>
            <a:xfrm>
              <a:off x="4719639" y="7141225"/>
              <a:ext cx="3521075" cy="1387475"/>
            </a:xfrm>
            <a:prstGeom prst="ellipse">
              <a:avLst/>
            </a:prstGeom>
            <a:solidFill>
              <a:srgbClr val="FFFF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b="1" dirty="0">
                  <a:solidFill>
                    <a:schemeClr val="tx1">
                      <a:lumMod val="85000"/>
                      <a:lumOff val="15000"/>
                    </a:schemeClr>
                  </a:solidFill>
                </a:rPr>
                <a:t>Architectural Drivers</a:t>
              </a:r>
              <a:endParaRPr lang="ko-KR" altLang="en-US" sz="1600" b="1" dirty="0">
                <a:solidFill>
                  <a:schemeClr val="tx1">
                    <a:lumMod val="85000"/>
                    <a:lumOff val="15000"/>
                  </a:schemeClr>
                </a:solidFill>
              </a:endParaRPr>
            </a:p>
          </p:txBody>
        </p:sp>
        <p:sp>
          <p:nvSpPr>
            <p:cNvPr id="96" name="TextBox 95">
              <a:extLst>
                <a:ext uri="{FF2B5EF4-FFF2-40B4-BE49-F238E27FC236}">
                  <a16:creationId xmlns:a16="http://schemas.microsoft.com/office/drawing/2014/main" id="{0C73E8A6-6A78-4530-8179-9BE9301D5A82}"/>
                </a:ext>
              </a:extLst>
            </p:cNvPr>
            <p:cNvSpPr txBox="1"/>
            <p:nvPr/>
          </p:nvSpPr>
          <p:spPr>
            <a:xfrm>
              <a:off x="2025672" y="9189076"/>
              <a:ext cx="9477863" cy="900987"/>
            </a:xfrm>
            <a:prstGeom prst="rect">
              <a:avLst/>
            </a:prstGeom>
            <a:noFill/>
          </p:spPr>
          <p:txBody>
            <a:bodyPr wrap="square" rtlCol="0">
              <a:spAutoFit/>
            </a:bodyPr>
            <a:lstStyle/>
            <a:p>
              <a:pPr algn="ctr"/>
              <a:r>
                <a:rPr lang="en-US" altLang="ko-KR" b="1" dirty="0">
                  <a:solidFill>
                    <a:schemeClr val="tx1">
                      <a:lumMod val="85000"/>
                      <a:lumOff val="15000"/>
                    </a:schemeClr>
                  </a:solidFill>
                  <a:effectLst/>
                </a:rPr>
                <a:t>“</a:t>
              </a:r>
              <a:r>
                <a:rPr lang="ko-KR" altLang="en-US" b="1" dirty="0">
                  <a:solidFill>
                    <a:schemeClr val="tx1">
                      <a:lumMod val="85000"/>
                      <a:lumOff val="15000"/>
                    </a:schemeClr>
                  </a:solidFill>
                  <a:effectLst/>
                </a:rPr>
                <a:t>이기종 메모리를 활용하여 </a:t>
              </a:r>
              <a:endParaRPr lang="en-US" altLang="ko-KR" b="1" dirty="0">
                <a:solidFill>
                  <a:schemeClr val="tx1">
                    <a:lumMod val="85000"/>
                    <a:lumOff val="15000"/>
                  </a:schemeClr>
                </a:solidFill>
                <a:effectLst/>
              </a:endParaRPr>
            </a:p>
            <a:p>
              <a:pPr algn="ctr"/>
              <a:r>
                <a:rPr lang="en-US" altLang="ko-KR" b="1" dirty="0">
                  <a:solidFill>
                    <a:schemeClr val="tx1">
                      <a:lumMod val="85000"/>
                      <a:lumOff val="15000"/>
                    </a:schemeClr>
                  </a:solidFill>
                  <a:effectLst/>
                </a:rPr>
                <a:t>LLM </a:t>
              </a:r>
              <a:r>
                <a:rPr lang="ko-KR" altLang="en-US" b="1" dirty="0">
                  <a:solidFill>
                    <a:schemeClr val="tx1">
                      <a:lumMod val="85000"/>
                      <a:lumOff val="15000"/>
                    </a:schemeClr>
                  </a:solidFill>
                  <a:effectLst/>
                </a:rPr>
                <a:t>추론 성능을 향상시키는 </a:t>
              </a:r>
              <a:r>
                <a:rPr lang="ko-KR" altLang="en-US" b="1" dirty="0" err="1">
                  <a:solidFill>
                    <a:schemeClr val="tx1">
                      <a:lumMod val="85000"/>
                      <a:lumOff val="15000"/>
                    </a:schemeClr>
                  </a:solidFill>
                  <a:effectLst/>
                </a:rPr>
                <a:t>서빙</a:t>
              </a:r>
              <a:r>
                <a:rPr lang="ko-KR" altLang="en-US" b="1" dirty="0">
                  <a:solidFill>
                    <a:schemeClr val="tx1">
                      <a:lumMod val="85000"/>
                      <a:lumOff val="15000"/>
                    </a:schemeClr>
                  </a:solidFill>
                  <a:effectLst/>
                </a:rPr>
                <a:t> 엔진</a:t>
              </a:r>
              <a:r>
                <a:rPr lang="en-US" altLang="ko-KR" b="1" dirty="0">
                  <a:solidFill>
                    <a:schemeClr val="tx1">
                      <a:lumMod val="85000"/>
                      <a:lumOff val="15000"/>
                    </a:schemeClr>
                  </a:solidFill>
                  <a:effectLst/>
                </a:rPr>
                <a:t> </a:t>
              </a:r>
              <a:r>
                <a:rPr lang="ko-KR" altLang="en-US" b="1" dirty="0">
                  <a:solidFill>
                    <a:schemeClr val="tx1">
                      <a:lumMod val="85000"/>
                      <a:lumOff val="15000"/>
                    </a:schemeClr>
                  </a:solidFill>
                  <a:effectLst/>
                </a:rPr>
                <a:t>개발 </a:t>
              </a:r>
              <a:r>
                <a:rPr lang="en-US" altLang="ko-KR" b="1" dirty="0">
                  <a:solidFill>
                    <a:schemeClr val="tx1">
                      <a:lumMod val="85000"/>
                      <a:lumOff val="15000"/>
                    </a:schemeClr>
                  </a:solidFill>
                  <a:effectLst/>
                </a:rPr>
                <a:t>”</a:t>
              </a:r>
              <a:endParaRPr lang="ko-KR" altLang="en-US" b="1" dirty="0">
                <a:solidFill>
                  <a:schemeClr val="tx1">
                    <a:lumMod val="85000"/>
                    <a:lumOff val="15000"/>
                  </a:schemeClr>
                </a:solidFill>
                <a:effectLst/>
              </a:endParaRPr>
            </a:p>
          </p:txBody>
        </p:sp>
        <p:sp>
          <p:nvSpPr>
            <p:cNvPr id="34" name="모서리가 둥근 직사각형 146">
              <a:extLst>
                <a:ext uri="{FF2B5EF4-FFF2-40B4-BE49-F238E27FC236}">
                  <a16:creationId xmlns:a16="http://schemas.microsoft.com/office/drawing/2014/main" id="{0A555439-646C-44A6-B38F-F6C80394B33C}"/>
                </a:ext>
              </a:extLst>
            </p:cNvPr>
            <p:cNvSpPr/>
            <p:nvPr/>
          </p:nvSpPr>
          <p:spPr>
            <a:xfrm>
              <a:off x="3987799" y="5501385"/>
              <a:ext cx="5038726" cy="485775"/>
            </a:xfrm>
            <a:prstGeom prst="roundRect">
              <a:avLst/>
            </a:prstGeom>
            <a:solidFill>
              <a:srgbClr val="33513D"/>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100" b="1" dirty="0">
                  <a:solidFill>
                    <a:schemeClr val="bg1"/>
                  </a:solidFill>
                </a:rPr>
                <a:t>QA-05 </a:t>
              </a:r>
              <a:r>
                <a:rPr lang="en-US" altLang="ko-KR" sz="1100" b="1" dirty="0" smtClean="0">
                  <a:solidFill>
                    <a:schemeClr val="bg1"/>
                  </a:solidFill>
                </a:rPr>
                <a:t>[Functional Correctness] </a:t>
              </a:r>
              <a:r>
                <a:rPr lang="ko-KR" altLang="en-US" sz="1100" b="1" dirty="0" smtClean="0">
                  <a:latin typeface="맑은 고딕" panose="020B0503020000020004" pitchFamily="50" charset="-127"/>
                </a:rPr>
                <a:t>기능 정확성</a:t>
              </a:r>
              <a:endParaRPr lang="en-US" altLang="ko-KR" sz="1100" b="1" dirty="0">
                <a:latin typeface="맑은 고딕" panose="020B0503020000020004" pitchFamily="50" charset="-127"/>
              </a:endParaRPr>
            </a:p>
          </p:txBody>
        </p:sp>
        <p:sp>
          <p:nvSpPr>
            <p:cNvPr id="33" name="모서리가 둥근 직사각형 138">
              <a:extLst>
                <a:ext uri="{FF2B5EF4-FFF2-40B4-BE49-F238E27FC236}">
                  <a16:creationId xmlns:a16="http://schemas.microsoft.com/office/drawing/2014/main" id="{1E365A70-E8AC-4D7C-9F00-AE8DBE5417D4}"/>
                </a:ext>
              </a:extLst>
            </p:cNvPr>
            <p:cNvSpPr/>
            <p:nvPr/>
          </p:nvSpPr>
          <p:spPr>
            <a:xfrm>
              <a:off x="9204588" y="7768993"/>
              <a:ext cx="5072838" cy="485775"/>
            </a:xfrm>
            <a:prstGeom prst="roundRect">
              <a:avLst/>
            </a:prstGeom>
            <a:solidFill>
              <a:srgbClr val="8A552E"/>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en-US" altLang="ko-KR" sz="1100" b="1" dirty="0" smtClean="0">
                  <a:solidFill>
                    <a:schemeClr val="bg1"/>
                  </a:solidFill>
                </a:rPr>
                <a:t>C-02 Context 1</a:t>
              </a:r>
              <a:r>
                <a:rPr lang="en-US" altLang="ko-KR" sz="1100" b="1" dirty="0" smtClean="0">
                  <a:solidFill>
                    <a:schemeClr val="bg1"/>
                  </a:solidFill>
                </a:rPr>
                <a:t>M </a:t>
              </a:r>
              <a:r>
                <a:rPr lang="ko-KR" altLang="en-US" sz="1100" b="1" dirty="0" smtClean="0">
                  <a:solidFill>
                    <a:schemeClr val="bg1"/>
                  </a:solidFill>
                </a:rPr>
                <a:t>지원</a:t>
              </a:r>
              <a:endParaRPr lang="ko-KR" altLang="en-US" sz="1100" b="1" dirty="0">
                <a:solidFill>
                  <a:schemeClr val="bg1"/>
                </a:solidFill>
              </a:endParaRPr>
            </a:p>
          </p:txBody>
        </p:sp>
      </p:grpSp>
    </p:spTree>
    <p:extLst>
      <p:ext uri="{BB962C8B-B14F-4D97-AF65-F5344CB8AC3E}">
        <p14:creationId xmlns:p14="http://schemas.microsoft.com/office/powerpoint/2010/main" val="264352344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Architecture </a:t>
            </a:r>
            <a:r>
              <a:rPr lang="ko-KR" altLang="en-US" dirty="0"/>
              <a:t>분석 </a:t>
            </a:r>
            <a:r>
              <a:rPr lang="en-US" altLang="ko-KR" dirty="0"/>
              <a:t>– Overall System (Context View)</a:t>
            </a:r>
            <a:endParaRPr lang="ko-KR" altLang="en-US" dirty="0"/>
          </a:p>
        </p:txBody>
      </p:sp>
      <p:sp>
        <p:nvSpPr>
          <p:cNvPr id="2" name="타원 1"/>
          <p:cNvSpPr/>
          <p:nvPr/>
        </p:nvSpPr>
        <p:spPr>
          <a:xfrm>
            <a:off x="3383077" y="1871834"/>
            <a:ext cx="4990662" cy="221742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400" dirty="0"/>
              <a:t>&lt;&lt;System&gt;&gt;</a:t>
            </a:r>
          </a:p>
          <a:p>
            <a:pPr algn="ctr"/>
            <a:r>
              <a:rPr lang="ko-KR" altLang="en-US" dirty="0"/>
              <a:t>이기종 메모리 기반</a:t>
            </a:r>
            <a:endParaRPr lang="en-US" altLang="ko-KR" dirty="0"/>
          </a:p>
          <a:p>
            <a:pPr algn="ctr"/>
            <a:r>
              <a:rPr lang="ko-KR" altLang="en-US" dirty="0"/>
              <a:t>서빙 엔진</a:t>
            </a:r>
          </a:p>
        </p:txBody>
      </p:sp>
      <p:sp>
        <p:nvSpPr>
          <p:cNvPr id="5" name="직사각형 4">
            <a:extLst>
              <a:ext uri="{FF2B5EF4-FFF2-40B4-BE49-F238E27FC236}">
                <a16:creationId xmlns:a16="http://schemas.microsoft.com/office/drawing/2014/main" id="{BA68B45C-E374-4136-8B8F-AA8EC19E2770}"/>
              </a:ext>
            </a:extLst>
          </p:cNvPr>
          <p:cNvSpPr>
            <a:spLocks noGrp="1"/>
          </p:cNvSpPr>
          <p:nvPr/>
        </p:nvSpPr>
        <p:spPr>
          <a:xfrm>
            <a:off x="410538" y="976438"/>
            <a:ext cx="2047875" cy="942975"/>
          </a:xfrm>
          <a:prstGeom prst="rect">
            <a:avLst/>
          </a:prstGeom>
          <a:noFill/>
          <a:ln w="12383">
            <a:noFill/>
            <a:prstDash val="solid"/>
          </a:ln>
        </p:spPr>
        <p:txBody>
          <a:bodyPr wrap="square" lIns="66675" tIns="38100" rIns="66675" bIns="38100" anchor="ctr">
            <a:noAutofit/>
          </a:bodyPr>
          <a:lstStyle/>
          <a:p>
            <a:pPr algn="ctr">
              <a:defRPr sz="1350" b="1">
                <a:solidFill>
                  <a:srgbClr val="202A35"/>
                </a:solidFill>
                <a:latin typeface="맑은 고딕"/>
                <a:ea typeface="맑은 고딕"/>
                <a:cs typeface="맑은 고딕"/>
              </a:defRPr>
            </a:pPr>
            <a:r>
              <a:rPr sz="1600" b="1" dirty="0">
                <a:solidFill>
                  <a:srgbClr val="202A35"/>
                </a:solidFill>
                <a:latin typeface="맑은 고딕"/>
                <a:ea typeface="맑은 고딕"/>
                <a:cs typeface="맑은 고딕"/>
              </a:rPr>
              <a:t>AI Application / </a:t>
            </a:r>
            <a:endParaRPr lang="en-US" sz="1600" b="1" dirty="0">
              <a:solidFill>
                <a:srgbClr val="202A35"/>
              </a:solidFill>
              <a:latin typeface="맑은 고딕"/>
              <a:ea typeface="맑은 고딕"/>
              <a:cs typeface="맑은 고딕"/>
            </a:endParaRPr>
          </a:p>
          <a:p>
            <a:pPr algn="ctr">
              <a:defRPr sz="1350" b="1">
                <a:solidFill>
                  <a:srgbClr val="202A35"/>
                </a:solidFill>
                <a:latin typeface="맑은 고딕"/>
                <a:ea typeface="맑은 고딕"/>
                <a:cs typeface="맑은 고딕"/>
              </a:defRPr>
            </a:pPr>
            <a:r>
              <a:rPr sz="1600" b="1" dirty="0">
                <a:solidFill>
                  <a:srgbClr val="202A35"/>
                </a:solidFill>
                <a:latin typeface="맑은 고딕"/>
                <a:ea typeface="맑은 고딕"/>
                <a:cs typeface="맑은 고딕"/>
              </a:rPr>
              <a:t>Agent</a:t>
            </a:r>
            <a:r>
              <a:rPr lang="en-US" sz="1600" b="1" dirty="0">
                <a:solidFill>
                  <a:srgbClr val="202A35"/>
                </a:solidFill>
                <a:latin typeface="맑은 고딕"/>
                <a:ea typeface="맑은 고딕"/>
                <a:cs typeface="맑은 고딕"/>
              </a:rPr>
              <a:t> Framework</a:t>
            </a:r>
          </a:p>
          <a:p>
            <a:pPr algn="ctr">
              <a:defRPr sz="1350" b="1">
                <a:solidFill>
                  <a:srgbClr val="202A35"/>
                </a:solidFill>
                <a:latin typeface="맑은 고딕"/>
                <a:ea typeface="맑은 고딕"/>
                <a:cs typeface="맑은 고딕"/>
              </a:defRPr>
            </a:pPr>
            <a:r>
              <a:rPr lang="en-US" sz="1600" b="1" dirty="0">
                <a:solidFill>
                  <a:srgbClr val="202A35"/>
                </a:solidFill>
                <a:latin typeface="맑은 고딕"/>
                <a:ea typeface="맑은 고딕"/>
                <a:cs typeface="맑은 고딕"/>
              </a:rPr>
              <a:t>(</a:t>
            </a:r>
            <a:r>
              <a:rPr lang="ko-KR" altLang="en-US" sz="1600" b="1" dirty="0">
                <a:solidFill>
                  <a:srgbClr val="202A35"/>
                </a:solidFill>
                <a:latin typeface="맑은 고딕"/>
                <a:ea typeface="맑은 고딕"/>
                <a:cs typeface="맑은 고딕"/>
              </a:rPr>
              <a:t>사용자</a:t>
            </a:r>
            <a:r>
              <a:rPr lang="en-US" altLang="ko-KR" sz="1600" b="1" dirty="0">
                <a:solidFill>
                  <a:srgbClr val="202A35"/>
                </a:solidFill>
                <a:latin typeface="맑은 고딕"/>
                <a:ea typeface="맑은 고딕"/>
                <a:cs typeface="맑은 고딕"/>
              </a:rPr>
              <a:t>)</a:t>
            </a:r>
            <a:endParaRPr sz="1600" b="1" dirty="0">
              <a:solidFill>
                <a:srgbClr val="202A35"/>
              </a:solidFill>
              <a:latin typeface="맑은 고딕"/>
              <a:ea typeface="맑은 고딕"/>
              <a:cs typeface="맑은 고딕"/>
            </a:endParaRPr>
          </a:p>
        </p:txBody>
      </p:sp>
      <p:sp>
        <p:nvSpPr>
          <p:cNvPr id="6" name="직사각형 5">
            <a:extLst>
              <a:ext uri="{FF2B5EF4-FFF2-40B4-BE49-F238E27FC236}">
                <a16:creationId xmlns:a16="http://schemas.microsoft.com/office/drawing/2014/main" id="{82B27171-1E43-49F7-A113-94662EB66C9F}"/>
              </a:ext>
            </a:extLst>
          </p:cNvPr>
          <p:cNvSpPr>
            <a:spLocks noGrp="1"/>
          </p:cNvSpPr>
          <p:nvPr/>
        </p:nvSpPr>
        <p:spPr>
          <a:xfrm>
            <a:off x="2358299" y="1230954"/>
            <a:ext cx="1905" cy="1905"/>
          </a:xfrm>
          <a:prstGeom prst="rect">
            <a:avLst/>
          </a:prstGeom>
          <a:noFill/>
          <a:ln w="9525">
            <a:noFill/>
            <a:prstDash val="solid"/>
          </a:ln>
        </p:spPr>
      </p:sp>
      <p:sp>
        <p:nvSpPr>
          <p:cNvPr id="7" name="직사각형 6">
            <a:extLst>
              <a:ext uri="{FF2B5EF4-FFF2-40B4-BE49-F238E27FC236}">
                <a16:creationId xmlns:a16="http://schemas.microsoft.com/office/drawing/2014/main" id="{03991D5A-8366-480D-89A3-7678BA58D368}"/>
              </a:ext>
            </a:extLst>
          </p:cNvPr>
          <p:cNvSpPr>
            <a:spLocks noGrp="1"/>
          </p:cNvSpPr>
          <p:nvPr/>
        </p:nvSpPr>
        <p:spPr>
          <a:xfrm>
            <a:off x="4234724" y="1230954"/>
            <a:ext cx="1905" cy="1905"/>
          </a:xfrm>
          <a:prstGeom prst="rect">
            <a:avLst/>
          </a:prstGeom>
          <a:noFill/>
          <a:ln w="9525">
            <a:noFill/>
            <a:prstDash val="solid"/>
          </a:ln>
        </p:spPr>
      </p:sp>
      <p:cxnSp>
        <p:nvCxnSpPr>
          <p:cNvPr id="8" name="직선 화살표 연결선 7">
            <a:extLst>
              <a:ext uri="{FF2B5EF4-FFF2-40B4-BE49-F238E27FC236}">
                <a16:creationId xmlns:a16="http://schemas.microsoft.com/office/drawing/2014/main" id="{08289DA7-3EC2-4F43-B729-0FA6DB3D2E7A}"/>
              </a:ext>
            </a:extLst>
          </p:cNvPr>
          <p:cNvCxnSpPr>
            <a:cxnSpLocks/>
          </p:cNvCxnSpPr>
          <p:nvPr/>
        </p:nvCxnSpPr>
        <p:spPr>
          <a:xfrm>
            <a:off x="2662028" y="1505892"/>
            <a:ext cx="1295868" cy="596206"/>
          </a:xfrm>
          <a:prstGeom prst="straightConnector1">
            <a:avLst/>
          </a:prstGeom>
          <a:ln w="15240">
            <a:solidFill>
              <a:srgbClr val="315B91"/>
            </a:solidFill>
            <a:prstDash val="solid"/>
            <a:headEnd type="none" w="med" len="med"/>
            <a:tailEnd type="triangle" w="med" len="med"/>
          </a:ln>
        </p:spPr>
      </p:cxnSp>
      <p:sp>
        <p:nvSpPr>
          <p:cNvPr id="9" name="직사각형 8">
            <a:extLst>
              <a:ext uri="{FF2B5EF4-FFF2-40B4-BE49-F238E27FC236}">
                <a16:creationId xmlns:a16="http://schemas.microsoft.com/office/drawing/2014/main" id="{39C404F2-61FB-4939-83FB-E13FF4A4B84E}"/>
              </a:ext>
            </a:extLst>
          </p:cNvPr>
          <p:cNvSpPr>
            <a:spLocks noGrp="1"/>
          </p:cNvSpPr>
          <p:nvPr/>
        </p:nvSpPr>
        <p:spPr>
          <a:xfrm>
            <a:off x="2986226" y="1357431"/>
            <a:ext cx="2307356" cy="304800"/>
          </a:xfrm>
          <a:prstGeom prst="rect">
            <a:avLst/>
          </a:prstGeom>
          <a:noFill/>
          <a:ln w="9525">
            <a:noFill/>
            <a:prstDash val="solid"/>
          </a:ln>
        </p:spPr>
        <p:txBody>
          <a:bodyPr wrap="square" lIns="19050" tIns="9525" rIns="19050" bIns="9525" anchor="ctr">
            <a:noAutofit/>
          </a:bodyPr>
          <a:lstStyle/>
          <a:p>
            <a:pPr algn="ctr">
              <a:defRPr sz="1050" b="0">
                <a:solidFill>
                  <a:srgbClr val="315B91"/>
                </a:solidFill>
                <a:latin typeface="맑은 고딕"/>
                <a:ea typeface="맑은 고딕"/>
                <a:cs typeface="맑은 고딕"/>
              </a:defRPr>
            </a:pPr>
            <a:r>
              <a:rPr sz="1100" b="0" dirty="0">
                <a:solidFill>
                  <a:srgbClr val="315B91"/>
                </a:solidFill>
                <a:latin typeface="맑은 고딕"/>
                <a:ea typeface="맑은 고딕"/>
                <a:cs typeface="맑은 고딕"/>
              </a:rPr>
              <a:t>Query</a:t>
            </a:r>
            <a:r>
              <a:rPr lang="en-US" sz="1100" b="0" dirty="0">
                <a:solidFill>
                  <a:srgbClr val="315B91"/>
                </a:solidFill>
                <a:latin typeface="맑은 고딕"/>
                <a:ea typeface="맑은 고딕"/>
                <a:cs typeface="맑은 고딕"/>
              </a:rPr>
              <a:t> </a:t>
            </a:r>
            <a:r>
              <a:rPr sz="1100" b="0" dirty="0">
                <a:solidFill>
                  <a:srgbClr val="315B91"/>
                </a:solidFill>
                <a:latin typeface="맑은 고딕"/>
                <a:ea typeface="맑은 고딕"/>
                <a:cs typeface="맑은 고딕"/>
              </a:rPr>
              <a:t>·</a:t>
            </a:r>
            <a:r>
              <a:rPr lang="en-US" sz="1100" b="0" dirty="0">
                <a:solidFill>
                  <a:srgbClr val="315B91"/>
                </a:solidFill>
                <a:latin typeface="맑은 고딕"/>
                <a:ea typeface="맑은 고딕"/>
                <a:cs typeface="맑은 고딕"/>
              </a:rPr>
              <a:t> </a:t>
            </a:r>
            <a:r>
              <a:rPr sz="1100" b="0" dirty="0">
                <a:solidFill>
                  <a:srgbClr val="315B91"/>
                </a:solidFill>
                <a:latin typeface="맑은 고딕"/>
                <a:ea typeface="맑은 고딕"/>
                <a:cs typeface="맑은 고딕"/>
              </a:rPr>
              <a:t>Context</a:t>
            </a:r>
            <a:r>
              <a:rPr lang="en-US" sz="1100" b="0" dirty="0">
                <a:solidFill>
                  <a:srgbClr val="315B91"/>
                </a:solidFill>
                <a:latin typeface="맑은 고딕"/>
                <a:ea typeface="맑은 고딕"/>
                <a:cs typeface="맑은 고딕"/>
              </a:rPr>
              <a:t> </a:t>
            </a:r>
            <a:r>
              <a:rPr sz="1100" b="0" dirty="0">
                <a:solidFill>
                  <a:srgbClr val="315B91"/>
                </a:solidFill>
                <a:latin typeface="맑은 고딕"/>
                <a:ea typeface="맑은 고딕"/>
                <a:cs typeface="맑은 고딕"/>
              </a:rPr>
              <a:t>·</a:t>
            </a:r>
            <a:r>
              <a:rPr lang="en-US" sz="1100" b="0" dirty="0">
                <a:solidFill>
                  <a:srgbClr val="315B91"/>
                </a:solidFill>
                <a:latin typeface="맑은 고딕"/>
                <a:ea typeface="맑은 고딕"/>
                <a:cs typeface="맑은 고딕"/>
              </a:rPr>
              <a:t> </a:t>
            </a:r>
            <a:r>
              <a:rPr sz="1100" b="0" dirty="0" err="1">
                <a:solidFill>
                  <a:srgbClr val="315B91"/>
                </a:solidFill>
                <a:latin typeface="맑은 고딕"/>
                <a:ea typeface="맑은 고딕"/>
                <a:cs typeface="맑은 고딕"/>
              </a:rPr>
              <a:t>요청</a:t>
            </a:r>
            <a:r>
              <a:rPr sz="1100" b="0" dirty="0">
                <a:solidFill>
                  <a:srgbClr val="315B91"/>
                </a:solidFill>
                <a:latin typeface="맑은 고딕"/>
                <a:ea typeface="맑은 고딕"/>
                <a:cs typeface="맑은 고딕"/>
              </a:rPr>
              <a:t> ID</a:t>
            </a:r>
          </a:p>
        </p:txBody>
      </p:sp>
      <p:sp>
        <p:nvSpPr>
          <p:cNvPr id="10" name="직사각형 9">
            <a:extLst>
              <a:ext uri="{FF2B5EF4-FFF2-40B4-BE49-F238E27FC236}">
                <a16:creationId xmlns:a16="http://schemas.microsoft.com/office/drawing/2014/main" id="{B7B8BBDC-7D1C-4E9E-8B96-63322F50118A}"/>
              </a:ext>
            </a:extLst>
          </p:cNvPr>
          <p:cNvSpPr>
            <a:spLocks noGrp="1"/>
          </p:cNvSpPr>
          <p:nvPr/>
        </p:nvSpPr>
        <p:spPr>
          <a:xfrm>
            <a:off x="4234724" y="1688154"/>
            <a:ext cx="1905" cy="1905"/>
          </a:xfrm>
          <a:prstGeom prst="rect">
            <a:avLst/>
          </a:prstGeom>
          <a:noFill/>
          <a:ln w="9525">
            <a:noFill/>
            <a:prstDash val="solid"/>
          </a:ln>
        </p:spPr>
      </p:sp>
      <p:sp>
        <p:nvSpPr>
          <p:cNvPr id="11" name="직사각형 10">
            <a:extLst>
              <a:ext uri="{FF2B5EF4-FFF2-40B4-BE49-F238E27FC236}">
                <a16:creationId xmlns:a16="http://schemas.microsoft.com/office/drawing/2014/main" id="{0936F43D-7E26-401E-A9DF-0A716AB0733E}"/>
              </a:ext>
            </a:extLst>
          </p:cNvPr>
          <p:cNvSpPr>
            <a:spLocks noGrp="1"/>
          </p:cNvSpPr>
          <p:nvPr/>
        </p:nvSpPr>
        <p:spPr>
          <a:xfrm>
            <a:off x="2358299" y="1688154"/>
            <a:ext cx="1905" cy="1905"/>
          </a:xfrm>
          <a:prstGeom prst="rect">
            <a:avLst/>
          </a:prstGeom>
          <a:noFill/>
          <a:ln w="9525">
            <a:noFill/>
            <a:prstDash val="solid"/>
          </a:ln>
        </p:spPr>
      </p:sp>
      <p:cxnSp>
        <p:nvCxnSpPr>
          <p:cNvPr id="12" name="직선 화살표 연결선 11">
            <a:extLst>
              <a:ext uri="{FF2B5EF4-FFF2-40B4-BE49-F238E27FC236}">
                <a16:creationId xmlns:a16="http://schemas.microsoft.com/office/drawing/2014/main" id="{A92E8D5A-65AE-489E-9326-53B7630E3FE8}"/>
              </a:ext>
            </a:extLst>
          </p:cNvPr>
          <p:cNvCxnSpPr>
            <a:cxnSpLocks/>
          </p:cNvCxnSpPr>
          <p:nvPr/>
        </p:nvCxnSpPr>
        <p:spPr>
          <a:xfrm flipH="1" flipV="1">
            <a:off x="2343437" y="1853859"/>
            <a:ext cx="1249137" cy="527333"/>
          </a:xfrm>
          <a:prstGeom prst="straightConnector1">
            <a:avLst/>
          </a:prstGeom>
          <a:ln w="15240">
            <a:solidFill>
              <a:srgbClr val="666666"/>
            </a:solidFill>
            <a:prstDash val="dash"/>
            <a:headEnd type="none" w="med" len="med"/>
            <a:tailEnd type="triangle" w="med" len="med"/>
          </a:ln>
        </p:spPr>
      </p:cxnSp>
      <p:sp>
        <p:nvSpPr>
          <p:cNvPr id="13" name="직사각형 12">
            <a:extLst>
              <a:ext uri="{FF2B5EF4-FFF2-40B4-BE49-F238E27FC236}">
                <a16:creationId xmlns:a16="http://schemas.microsoft.com/office/drawing/2014/main" id="{95EE068C-FDCD-4596-B73D-45B0C3044F25}"/>
              </a:ext>
            </a:extLst>
          </p:cNvPr>
          <p:cNvSpPr>
            <a:spLocks noGrp="1"/>
          </p:cNvSpPr>
          <p:nvPr/>
        </p:nvSpPr>
        <p:spPr>
          <a:xfrm>
            <a:off x="1367839" y="2127906"/>
            <a:ext cx="1896428" cy="400050"/>
          </a:xfrm>
          <a:prstGeom prst="rect">
            <a:avLst/>
          </a:prstGeom>
          <a:noFill/>
          <a:ln w="9525">
            <a:noFill/>
            <a:prstDash val="solid"/>
          </a:ln>
        </p:spPr>
        <p:txBody>
          <a:bodyPr wrap="square" lIns="19050" tIns="9525" rIns="19050" bIns="9525" anchor="ctr">
            <a:noAutofit/>
          </a:bodyPr>
          <a:lstStyle/>
          <a:p>
            <a:pPr algn="ctr">
              <a:defRPr sz="1050" b="0">
                <a:solidFill>
                  <a:srgbClr val="666666"/>
                </a:solidFill>
                <a:latin typeface="맑은 고딕"/>
                <a:ea typeface="맑은 고딕"/>
                <a:cs typeface="맑은 고딕"/>
              </a:defRPr>
            </a:pPr>
            <a:r>
              <a:rPr lang="en-US" sz="1100" dirty="0">
                <a:solidFill>
                  <a:srgbClr val="666666"/>
                </a:solidFill>
                <a:latin typeface="맑은 고딕"/>
                <a:ea typeface="맑은 고딕"/>
                <a:cs typeface="맑은 고딕"/>
              </a:rPr>
              <a:t>LLM</a:t>
            </a:r>
            <a:r>
              <a:rPr lang="ko-KR" altLang="en-US" sz="1100" dirty="0">
                <a:solidFill>
                  <a:srgbClr val="666666"/>
                </a:solidFill>
                <a:latin typeface="맑은 고딕"/>
                <a:ea typeface="맑은 고딕"/>
                <a:cs typeface="맑은 고딕"/>
              </a:rPr>
              <a:t> 출력 결과</a:t>
            </a:r>
            <a:endParaRPr lang="en-US" altLang="ko-KR" sz="1100" dirty="0">
              <a:solidFill>
                <a:srgbClr val="666666"/>
              </a:solidFill>
              <a:latin typeface="맑은 고딕"/>
              <a:ea typeface="맑은 고딕"/>
              <a:cs typeface="맑은 고딕"/>
            </a:endParaRPr>
          </a:p>
          <a:p>
            <a:pPr algn="ctr">
              <a:defRPr sz="1050" b="0">
                <a:solidFill>
                  <a:srgbClr val="666666"/>
                </a:solidFill>
                <a:latin typeface="맑은 고딕"/>
                <a:ea typeface="맑은 고딕"/>
                <a:cs typeface="맑은 고딕"/>
              </a:defRPr>
            </a:pPr>
            <a:r>
              <a:rPr lang="en-US" altLang="ko-KR" sz="1100" dirty="0">
                <a:solidFill>
                  <a:srgbClr val="666666"/>
                </a:solidFill>
                <a:latin typeface="맑은 고딕"/>
                <a:ea typeface="맑은 고딕"/>
                <a:cs typeface="맑은 고딕"/>
              </a:rPr>
              <a:t>(</a:t>
            </a:r>
            <a:r>
              <a:rPr lang="ko-KR" altLang="en-US" sz="1100" dirty="0">
                <a:solidFill>
                  <a:srgbClr val="666666"/>
                </a:solidFill>
                <a:latin typeface="맑은 고딕"/>
                <a:ea typeface="맑은 고딕"/>
                <a:cs typeface="맑은 고딕"/>
              </a:rPr>
              <a:t>생성 토큰</a:t>
            </a:r>
            <a:r>
              <a:rPr lang="en-US" altLang="ko-KR" sz="1100" dirty="0">
                <a:solidFill>
                  <a:srgbClr val="666666"/>
                </a:solidFill>
                <a:latin typeface="맑은 고딕"/>
                <a:ea typeface="맑은 고딕"/>
                <a:cs typeface="맑은 고딕"/>
              </a:rPr>
              <a:t>)</a:t>
            </a:r>
          </a:p>
        </p:txBody>
      </p:sp>
      <p:sp>
        <p:nvSpPr>
          <p:cNvPr id="31" name="직사각형 30">
            <a:extLst>
              <a:ext uri="{FF2B5EF4-FFF2-40B4-BE49-F238E27FC236}">
                <a16:creationId xmlns:a16="http://schemas.microsoft.com/office/drawing/2014/main" id="{0068A91F-F4E2-45CE-9FA3-7F9A7E18A07A}"/>
              </a:ext>
            </a:extLst>
          </p:cNvPr>
          <p:cNvSpPr>
            <a:spLocks noGrp="1"/>
          </p:cNvSpPr>
          <p:nvPr/>
        </p:nvSpPr>
        <p:spPr>
          <a:xfrm>
            <a:off x="9625367" y="1076408"/>
            <a:ext cx="2206521" cy="942975"/>
          </a:xfrm>
          <a:prstGeom prst="rect">
            <a:avLst/>
          </a:prstGeom>
          <a:noFill/>
          <a:ln w="12383">
            <a:noFill/>
            <a:prstDash val="solid"/>
          </a:ln>
        </p:spPr>
        <p:txBody>
          <a:bodyPr wrap="square" lIns="66675" tIns="38100" rIns="66675" bIns="38100" anchor="ctr">
            <a:noAutofit/>
          </a:bodyPr>
          <a:lstStyle/>
          <a:p>
            <a:pPr algn="ctr"/>
            <a:r>
              <a:rPr lang="ko-KR" altLang="en-US" sz="1600" b="1" dirty="0">
                <a:solidFill>
                  <a:srgbClr val="202A35"/>
                </a:solidFill>
                <a:latin typeface="맑은 고딕"/>
                <a:ea typeface="맑은 고딕"/>
              </a:rPr>
              <a:t>서비스 제공자</a:t>
            </a:r>
            <a:endParaRPr sz="1600" b="1" dirty="0">
              <a:solidFill>
                <a:srgbClr val="202A35"/>
              </a:solidFill>
              <a:latin typeface="맑은 고딕"/>
              <a:ea typeface="맑은 고딕"/>
            </a:endParaRPr>
          </a:p>
        </p:txBody>
      </p:sp>
      <p:sp>
        <p:nvSpPr>
          <p:cNvPr id="32" name="직사각형 31">
            <a:extLst>
              <a:ext uri="{FF2B5EF4-FFF2-40B4-BE49-F238E27FC236}">
                <a16:creationId xmlns:a16="http://schemas.microsoft.com/office/drawing/2014/main" id="{64A94A4C-4FBD-4ACB-BCA3-32FF45C353AD}"/>
              </a:ext>
            </a:extLst>
          </p:cNvPr>
          <p:cNvSpPr>
            <a:spLocks noGrp="1"/>
          </p:cNvSpPr>
          <p:nvPr/>
        </p:nvSpPr>
        <p:spPr>
          <a:xfrm>
            <a:off x="9838170" y="1747057"/>
            <a:ext cx="1905" cy="1905"/>
          </a:xfrm>
          <a:prstGeom prst="rect">
            <a:avLst/>
          </a:prstGeom>
          <a:noFill/>
          <a:ln w="9525">
            <a:noFill/>
            <a:prstDash val="solid"/>
          </a:ln>
        </p:spPr>
      </p:sp>
      <p:sp>
        <p:nvSpPr>
          <p:cNvPr id="33" name="직사각형 32">
            <a:extLst>
              <a:ext uri="{FF2B5EF4-FFF2-40B4-BE49-F238E27FC236}">
                <a16:creationId xmlns:a16="http://schemas.microsoft.com/office/drawing/2014/main" id="{1C1D13AB-2F36-4BEE-AC41-9354C738CA4D}"/>
              </a:ext>
            </a:extLst>
          </p:cNvPr>
          <p:cNvSpPr>
            <a:spLocks noGrp="1"/>
          </p:cNvSpPr>
          <p:nvPr/>
        </p:nvSpPr>
        <p:spPr>
          <a:xfrm>
            <a:off x="7952220" y="1747057"/>
            <a:ext cx="1905" cy="1905"/>
          </a:xfrm>
          <a:prstGeom prst="rect">
            <a:avLst/>
          </a:prstGeom>
          <a:noFill/>
          <a:ln w="9525">
            <a:noFill/>
            <a:prstDash val="solid"/>
          </a:ln>
        </p:spPr>
      </p:sp>
      <p:cxnSp>
        <p:nvCxnSpPr>
          <p:cNvPr id="34" name="직선 화살표 연결선 33">
            <a:extLst>
              <a:ext uri="{FF2B5EF4-FFF2-40B4-BE49-F238E27FC236}">
                <a16:creationId xmlns:a16="http://schemas.microsoft.com/office/drawing/2014/main" id="{37146208-76D8-4075-8695-CDAA34BE26D9}"/>
              </a:ext>
            </a:extLst>
          </p:cNvPr>
          <p:cNvCxnSpPr>
            <a:cxnSpLocks/>
          </p:cNvCxnSpPr>
          <p:nvPr/>
        </p:nvCxnSpPr>
        <p:spPr>
          <a:xfrm flipH="1">
            <a:off x="7954125" y="1519890"/>
            <a:ext cx="1467627" cy="578295"/>
          </a:xfrm>
          <a:prstGeom prst="straightConnector1">
            <a:avLst/>
          </a:prstGeom>
          <a:ln w="15240">
            <a:solidFill>
              <a:srgbClr val="315B91"/>
            </a:solidFill>
            <a:prstDash val="solid"/>
            <a:headEnd type="none" w="med" len="med"/>
            <a:tailEnd type="triangle" w="med" len="med"/>
          </a:ln>
        </p:spPr>
      </p:cxnSp>
      <p:sp>
        <p:nvSpPr>
          <p:cNvPr id="35" name="직사각형 34">
            <a:extLst>
              <a:ext uri="{FF2B5EF4-FFF2-40B4-BE49-F238E27FC236}">
                <a16:creationId xmlns:a16="http://schemas.microsoft.com/office/drawing/2014/main" id="{6DAEE100-4A2A-4CBB-8623-4836FCB64F1C}"/>
              </a:ext>
            </a:extLst>
          </p:cNvPr>
          <p:cNvSpPr>
            <a:spLocks noGrp="1"/>
          </p:cNvSpPr>
          <p:nvPr/>
        </p:nvSpPr>
        <p:spPr>
          <a:xfrm>
            <a:off x="7252289" y="1348313"/>
            <a:ext cx="1762125" cy="323850"/>
          </a:xfrm>
          <a:prstGeom prst="rect">
            <a:avLst/>
          </a:prstGeom>
          <a:noFill/>
          <a:ln w="9525">
            <a:noFill/>
            <a:prstDash val="solid"/>
          </a:ln>
        </p:spPr>
        <p:txBody>
          <a:bodyPr wrap="square" lIns="19050" tIns="9525" rIns="19050" bIns="9525" anchor="ctr">
            <a:noAutofit/>
          </a:bodyPr>
          <a:lstStyle/>
          <a:p>
            <a:pPr algn="ctr">
              <a:defRPr sz="1050" b="0">
                <a:solidFill>
                  <a:srgbClr val="315B91"/>
                </a:solidFill>
                <a:latin typeface="맑은 고딕"/>
                <a:ea typeface="맑은 고딕"/>
                <a:cs typeface="맑은 고딕"/>
              </a:defRPr>
            </a:pPr>
            <a:r>
              <a:rPr sz="1100" b="0" dirty="0" err="1">
                <a:solidFill>
                  <a:srgbClr val="315B91"/>
                </a:solidFill>
                <a:latin typeface="맑은 고딕"/>
                <a:ea typeface="맑은 고딕"/>
                <a:cs typeface="맑은 고딕"/>
              </a:rPr>
              <a:t>SLO·정책·자원</a:t>
            </a:r>
            <a:r>
              <a:rPr sz="1100" b="0" dirty="0">
                <a:solidFill>
                  <a:srgbClr val="315B91"/>
                </a:solidFill>
                <a:latin typeface="맑은 고딕"/>
                <a:ea typeface="맑은 고딕"/>
                <a:cs typeface="맑은 고딕"/>
              </a:rPr>
              <a:t> </a:t>
            </a:r>
            <a:r>
              <a:rPr sz="1100" b="0" dirty="0" err="1">
                <a:solidFill>
                  <a:srgbClr val="315B91"/>
                </a:solidFill>
                <a:latin typeface="맑은 고딕"/>
                <a:ea typeface="맑은 고딕"/>
                <a:cs typeface="맑은 고딕"/>
              </a:rPr>
              <a:t>구성</a:t>
            </a:r>
            <a:endParaRPr sz="1100" b="0" dirty="0">
              <a:solidFill>
                <a:srgbClr val="315B91"/>
              </a:solidFill>
              <a:latin typeface="맑은 고딕"/>
              <a:ea typeface="맑은 고딕"/>
              <a:cs typeface="맑은 고딕"/>
            </a:endParaRPr>
          </a:p>
        </p:txBody>
      </p:sp>
      <p:sp>
        <p:nvSpPr>
          <p:cNvPr id="36" name="직사각형 35">
            <a:extLst>
              <a:ext uri="{FF2B5EF4-FFF2-40B4-BE49-F238E27FC236}">
                <a16:creationId xmlns:a16="http://schemas.microsoft.com/office/drawing/2014/main" id="{44CD7416-1114-4589-B381-3C4603C8638C}"/>
              </a:ext>
            </a:extLst>
          </p:cNvPr>
          <p:cNvSpPr>
            <a:spLocks noGrp="1"/>
          </p:cNvSpPr>
          <p:nvPr/>
        </p:nvSpPr>
        <p:spPr>
          <a:xfrm>
            <a:off x="7952220" y="2204257"/>
            <a:ext cx="1905" cy="1905"/>
          </a:xfrm>
          <a:prstGeom prst="rect">
            <a:avLst/>
          </a:prstGeom>
          <a:noFill/>
          <a:ln w="9525">
            <a:noFill/>
            <a:prstDash val="solid"/>
          </a:ln>
        </p:spPr>
      </p:sp>
      <p:sp>
        <p:nvSpPr>
          <p:cNvPr id="37" name="직사각형 36">
            <a:extLst>
              <a:ext uri="{FF2B5EF4-FFF2-40B4-BE49-F238E27FC236}">
                <a16:creationId xmlns:a16="http://schemas.microsoft.com/office/drawing/2014/main" id="{FD25DC21-4466-4569-915A-3A84AF66E612}"/>
              </a:ext>
            </a:extLst>
          </p:cNvPr>
          <p:cNvSpPr>
            <a:spLocks noGrp="1"/>
          </p:cNvSpPr>
          <p:nvPr/>
        </p:nvSpPr>
        <p:spPr>
          <a:xfrm>
            <a:off x="9838170" y="2204257"/>
            <a:ext cx="1905" cy="1905"/>
          </a:xfrm>
          <a:prstGeom prst="rect">
            <a:avLst/>
          </a:prstGeom>
          <a:noFill/>
          <a:ln w="9525">
            <a:noFill/>
            <a:prstDash val="solid"/>
          </a:ln>
        </p:spPr>
      </p:sp>
      <p:sp>
        <p:nvSpPr>
          <p:cNvPr id="39" name="직사각형 38">
            <a:extLst>
              <a:ext uri="{FF2B5EF4-FFF2-40B4-BE49-F238E27FC236}">
                <a16:creationId xmlns:a16="http://schemas.microsoft.com/office/drawing/2014/main" id="{F865313A-9120-47CE-978A-74999F8B2BB8}"/>
              </a:ext>
            </a:extLst>
          </p:cNvPr>
          <p:cNvSpPr>
            <a:spLocks noGrp="1"/>
          </p:cNvSpPr>
          <p:nvPr/>
        </p:nvSpPr>
        <p:spPr>
          <a:xfrm>
            <a:off x="8919303" y="2270468"/>
            <a:ext cx="1771521" cy="352425"/>
          </a:xfrm>
          <a:prstGeom prst="rect">
            <a:avLst/>
          </a:prstGeom>
          <a:noFill/>
          <a:ln w="9525">
            <a:noFill/>
            <a:prstDash val="solid"/>
          </a:ln>
        </p:spPr>
        <p:txBody>
          <a:bodyPr wrap="square" lIns="19050" tIns="9525" rIns="19050" bIns="9525" anchor="ctr">
            <a:noAutofit/>
          </a:bodyPr>
          <a:lstStyle/>
          <a:p>
            <a:pPr algn="ctr">
              <a:defRPr sz="1050" b="0">
                <a:solidFill>
                  <a:srgbClr val="666666"/>
                </a:solidFill>
                <a:latin typeface="맑은 고딕"/>
                <a:ea typeface="맑은 고딕"/>
                <a:cs typeface="맑은 고딕"/>
              </a:defRPr>
            </a:pPr>
            <a:r>
              <a:rPr sz="1100" b="0" dirty="0" err="1">
                <a:solidFill>
                  <a:srgbClr val="666666"/>
                </a:solidFill>
                <a:latin typeface="맑은 고딕"/>
                <a:ea typeface="맑은 고딕"/>
                <a:cs typeface="맑은 고딕"/>
              </a:rPr>
              <a:t>성능</a:t>
            </a:r>
            <a:r>
              <a:rPr sz="1100" b="0" dirty="0">
                <a:solidFill>
                  <a:srgbClr val="666666"/>
                </a:solidFill>
                <a:latin typeface="맑은 고딕"/>
                <a:ea typeface="맑은 고딕"/>
                <a:cs typeface="맑은 고딕"/>
              </a:rPr>
              <a:t> </a:t>
            </a:r>
            <a:r>
              <a:rPr sz="1100" b="0" dirty="0" err="1">
                <a:solidFill>
                  <a:srgbClr val="666666"/>
                </a:solidFill>
                <a:latin typeface="맑은 고딕"/>
                <a:ea typeface="맑은 고딕"/>
                <a:cs typeface="맑은 고딕"/>
              </a:rPr>
              <a:t>지표</a:t>
            </a:r>
            <a:r>
              <a:rPr lang="en-US" sz="1100" b="0" dirty="0">
                <a:solidFill>
                  <a:srgbClr val="666666"/>
                </a:solidFill>
                <a:latin typeface="맑은 고딕"/>
                <a:ea typeface="맑은 고딕"/>
                <a:cs typeface="맑은 고딕"/>
              </a:rPr>
              <a:t> </a:t>
            </a:r>
            <a:r>
              <a:rPr lang="en-US" altLang="ko-KR" sz="1100" b="0" dirty="0">
                <a:solidFill>
                  <a:srgbClr val="666666"/>
                </a:solidFill>
                <a:latin typeface="맑은 고딕"/>
                <a:ea typeface="맑은 고딕"/>
                <a:cs typeface="맑은 고딕"/>
              </a:rPr>
              <a:t>·</a:t>
            </a:r>
            <a:endParaRPr lang="en-US" sz="1100" b="0" dirty="0">
              <a:solidFill>
                <a:srgbClr val="666666"/>
              </a:solidFill>
              <a:latin typeface="맑은 고딕"/>
              <a:ea typeface="맑은 고딕"/>
              <a:cs typeface="맑은 고딕"/>
            </a:endParaRPr>
          </a:p>
          <a:p>
            <a:pPr algn="ctr">
              <a:defRPr sz="1050" b="0">
                <a:solidFill>
                  <a:srgbClr val="666666"/>
                </a:solidFill>
                <a:latin typeface="맑은 고딕"/>
                <a:ea typeface="맑은 고딕"/>
                <a:cs typeface="맑은 고딕"/>
              </a:defRPr>
            </a:pPr>
            <a:r>
              <a:rPr sz="1100" b="0" dirty="0">
                <a:solidFill>
                  <a:srgbClr val="666666"/>
                </a:solidFill>
                <a:latin typeface="맑은 고딕"/>
                <a:ea typeface="맑은 고딕"/>
                <a:cs typeface="맑은 고딕"/>
              </a:rPr>
              <a:t>Health</a:t>
            </a:r>
            <a:r>
              <a:rPr lang="en-US" sz="1100" b="0" dirty="0">
                <a:solidFill>
                  <a:srgbClr val="666666"/>
                </a:solidFill>
                <a:latin typeface="맑은 고딕"/>
                <a:ea typeface="맑은 고딕"/>
                <a:cs typeface="맑은 고딕"/>
              </a:rPr>
              <a:t> </a:t>
            </a:r>
            <a:r>
              <a:rPr sz="1100" b="0" dirty="0" err="1">
                <a:solidFill>
                  <a:srgbClr val="666666"/>
                </a:solidFill>
                <a:latin typeface="맑은 고딕"/>
                <a:ea typeface="맑은 고딕"/>
                <a:cs typeface="맑은 고딕"/>
              </a:rPr>
              <a:t>이벤트</a:t>
            </a:r>
            <a:r>
              <a:rPr lang="en-US" sz="1100" b="0" dirty="0">
                <a:solidFill>
                  <a:srgbClr val="666666"/>
                </a:solidFill>
                <a:latin typeface="맑은 고딕"/>
                <a:ea typeface="맑은 고딕"/>
                <a:cs typeface="맑은 고딕"/>
              </a:rPr>
              <a:t> </a:t>
            </a:r>
            <a:r>
              <a:rPr sz="1100" b="0" dirty="0">
                <a:solidFill>
                  <a:srgbClr val="666666"/>
                </a:solidFill>
                <a:latin typeface="맑은 고딕"/>
                <a:ea typeface="맑은 고딕"/>
                <a:cs typeface="맑은 고딕"/>
              </a:rPr>
              <a:t>·</a:t>
            </a:r>
            <a:r>
              <a:rPr lang="en-US" sz="1100" b="0" dirty="0">
                <a:solidFill>
                  <a:srgbClr val="666666"/>
                </a:solidFill>
                <a:latin typeface="맑은 고딕"/>
                <a:ea typeface="맑은 고딕"/>
                <a:cs typeface="맑은 고딕"/>
              </a:rPr>
              <a:t> </a:t>
            </a:r>
            <a:r>
              <a:rPr sz="1100" b="0" dirty="0" err="1">
                <a:solidFill>
                  <a:srgbClr val="666666"/>
                </a:solidFill>
                <a:latin typeface="맑은 고딕"/>
                <a:ea typeface="맑은 고딕"/>
                <a:cs typeface="맑은 고딕"/>
              </a:rPr>
              <a:t>오류</a:t>
            </a:r>
            <a:endParaRPr sz="1100" b="0" dirty="0">
              <a:solidFill>
                <a:srgbClr val="666666"/>
              </a:solidFill>
              <a:latin typeface="맑은 고딕"/>
              <a:ea typeface="맑은 고딕"/>
              <a:cs typeface="맑은 고딕"/>
            </a:endParaRPr>
          </a:p>
        </p:txBody>
      </p:sp>
      <p:cxnSp>
        <p:nvCxnSpPr>
          <p:cNvPr id="41" name="직선 화살표 연결선 40">
            <a:extLst>
              <a:ext uri="{FF2B5EF4-FFF2-40B4-BE49-F238E27FC236}">
                <a16:creationId xmlns:a16="http://schemas.microsoft.com/office/drawing/2014/main" id="{215FF0F8-14EE-4468-B21D-F930B101DC36}"/>
              </a:ext>
            </a:extLst>
          </p:cNvPr>
          <p:cNvCxnSpPr>
            <a:cxnSpLocks/>
          </p:cNvCxnSpPr>
          <p:nvPr/>
        </p:nvCxnSpPr>
        <p:spPr>
          <a:xfrm flipV="1">
            <a:off x="8348755" y="1940601"/>
            <a:ext cx="1423202" cy="545960"/>
          </a:xfrm>
          <a:prstGeom prst="straightConnector1">
            <a:avLst/>
          </a:prstGeom>
          <a:ln w="15240">
            <a:solidFill>
              <a:srgbClr val="666666"/>
            </a:solidFill>
            <a:prstDash val="dash"/>
            <a:headEnd type="none" w="med" len="med"/>
            <a:tailEnd type="triangle" w="med" len="med"/>
          </a:ln>
        </p:spPr>
      </p:cxnSp>
      <p:sp>
        <p:nvSpPr>
          <p:cNvPr id="43" name="직사각형 42">
            <a:extLst>
              <a:ext uri="{FF2B5EF4-FFF2-40B4-BE49-F238E27FC236}">
                <a16:creationId xmlns:a16="http://schemas.microsoft.com/office/drawing/2014/main" id="{879FBC1F-D135-4E8C-A77F-B1446FD2FC3B}"/>
              </a:ext>
            </a:extLst>
          </p:cNvPr>
          <p:cNvSpPr>
            <a:spLocks noGrp="1"/>
          </p:cNvSpPr>
          <p:nvPr/>
        </p:nvSpPr>
        <p:spPr>
          <a:xfrm>
            <a:off x="9321409" y="4288925"/>
            <a:ext cx="2329370" cy="800334"/>
          </a:xfrm>
          <a:prstGeom prst="rect">
            <a:avLst/>
          </a:prstGeom>
          <a:noFill/>
          <a:ln w="12383">
            <a:noFill/>
            <a:prstDash val="solid"/>
          </a:ln>
        </p:spPr>
        <p:txBody>
          <a:bodyPr wrap="square" lIns="66675" tIns="38100" rIns="66675" bIns="38100" anchor="ctr">
            <a:noAutofit/>
          </a:bodyPr>
          <a:lstStyle/>
          <a:p>
            <a:pPr algn="ctr"/>
            <a:r>
              <a:rPr lang="en-US" altLang="ko-KR" sz="1600" b="1" dirty="0">
                <a:solidFill>
                  <a:srgbClr val="202A35"/>
                </a:solidFill>
                <a:latin typeface="맑은 고딕"/>
                <a:ea typeface="맑은 고딕"/>
              </a:rPr>
              <a:t>Device </a:t>
            </a:r>
            <a:r>
              <a:rPr lang="ko-KR" altLang="en-US" sz="1600" b="1" dirty="0">
                <a:solidFill>
                  <a:srgbClr val="202A35"/>
                </a:solidFill>
                <a:latin typeface="맑은 고딕"/>
                <a:ea typeface="맑은 고딕"/>
              </a:rPr>
              <a:t>제공자 </a:t>
            </a:r>
            <a:r>
              <a:rPr lang="en-US" altLang="ko-KR" sz="1600" b="1" dirty="0">
                <a:solidFill>
                  <a:srgbClr val="202A35"/>
                </a:solidFill>
                <a:latin typeface="맑은 고딕"/>
                <a:ea typeface="맑은 고딕"/>
              </a:rPr>
              <a:t> </a:t>
            </a:r>
          </a:p>
        </p:txBody>
      </p:sp>
      <p:sp>
        <p:nvSpPr>
          <p:cNvPr id="44" name="직사각형 43">
            <a:extLst>
              <a:ext uri="{FF2B5EF4-FFF2-40B4-BE49-F238E27FC236}">
                <a16:creationId xmlns:a16="http://schemas.microsoft.com/office/drawing/2014/main" id="{8B5193D1-0CCF-4174-9A19-47E19C401269}"/>
              </a:ext>
            </a:extLst>
          </p:cNvPr>
          <p:cNvSpPr>
            <a:spLocks noGrp="1"/>
          </p:cNvSpPr>
          <p:nvPr/>
        </p:nvSpPr>
        <p:spPr>
          <a:xfrm>
            <a:off x="8033273" y="4046746"/>
            <a:ext cx="1905" cy="1905"/>
          </a:xfrm>
          <a:prstGeom prst="rect">
            <a:avLst/>
          </a:prstGeom>
          <a:noFill/>
          <a:ln w="9525">
            <a:noFill/>
            <a:prstDash val="solid"/>
          </a:ln>
        </p:spPr>
      </p:sp>
      <p:sp>
        <p:nvSpPr>
          <p:cNvPr id="45" name="직사각형 44">
            <a:extLst>
              <a:ext uri="{FF2B5EF4-FFF2-40B4-BE49-F238E27FC236}">
                <a16:creationId xmlns:a16="http://schemas.microsoft.com/office/drawing/2014/main" id="{E119526E-6A11-46CE-9946-1FC219CF4FF9}"/>
              </a:ext>
            </a:extLst>
          </p:cNvPr>
          <p:cNvSpPr>
            <a:spLocks noGrp="1"/>
          </p:cNvSpPr>
          <p:nvPr/>
        </p:nvSpPr>
        <p:spPr>
          <a:xfrm>
            <a:off x="10538634" y="4383469"/>
            <a:ext cx="1432" cy="1432"/>
          </a:xfrm>
          <a:prstGeom prst="rect">
            <a:avLst/>
          </a:prstGeom>
          <a:noFill/>
          <a:ln w="9525">
            <a:noFill/>
            <a:prstDash val="solid"/>
          </a:ln>
        </p:spPr>
      </p:sp>
      <p:sp>
        <p:nvSpPr>
          <p:cNvPr id="48" name="직사각형 47">
            <a:extLst>
              <a:ext uri="{FF2B5EF4-FFF2-40B4-BE49-F238E27FC236}">
                <a16:creationId xmlns:a16="http://schemas.microsoft.com/office/drawing/2014/main" id="{0A912E8C-C641-420A-B28B-AF85E1AE4704}"/>
              </a:ext>
            </a:extLst>
          </p:cNvPr>
          <p:cNvSpPr>
            <a:spLocks noGrp="1"/>
          </p:cNvSpPr>
          <p:nvPr/>
        </p:nvSpPr>
        <p:spPr>
          <a:xfrm>
            <a:off x="8864346" y="3680041"/>
            <a:ext cx="2084211" cy="352425"/>
          </a:xfrm>
          <a:prstGeom prst="rect">
            <a:avLst/>
          </a:prstGeom>
          <a:noFill/>
          <a:ln w="9525">
            <a:noFill/>
            <a:prstDash val="solid"/>
          </a:ln>
        </p:spPr>
        <p:txBody>
          <a:bodyPr wrap="square" lIns="19050" tIns="9525" rIns="19050" bIns="9525" anchor="ctr">
            <a:noAutofit/>
          </a:bodyPr>
          <a:lstStyle/>
          <a:p>
            <a:pPr>
              <a:defRPr sz="1050" b="0">
                <a:solidFill>
                  <a:srgbClr val="666666"/>
                </a:solidFill>
                <a:latin typeface="맑은 고딕"/>
                <a:ea typeface="맑은 고딕"/>
                <a:cs typeface="맑은 고딕"/>
              </a:defRPr>
            </a:pPr>
            <a:r>
              <a:rPr lang="en-US" altLang="ko-KR" sz="1100" dirty="0">
                <a:solidFill>
                  <a:srgbClr val="666666"/>
                </a:solidFill>
                <a:latin typeface="맑은 고딕"/>
                <a:ea typeface="맑은 고딕"/>
                <a:cs typeface="맑은 고딕"/>
              </a:rPr>
              <a:t>Device Runtime/Driver </a:t>
            </a:r>
            <a:r>
              <a:rPr lang="en-US" altLang="ko-KR" sz="1100" b="0" dirty="0">
                <a:solidFill>
                  <a:srgbClr val="666666"/>
                </a:solidFill>
                <a:latin typeface="맑은 고딕"/>
                <a:ea typeface="맑은 고딕"/>
                <a:cs typeface="맑은 고딕"/>
              </a:rPr>
              <a:t>·</a:t>
            </a:r>
            <a:endParaRPr lang="en-US" altLang="ko-KR" sz="1100" dirty="0">
              <a:solidFill>
                <a:srgbClr val="666666"/>
              </a:solidFill>
              <a:latin typeface="맑은 고딕"/>
              <a:ea typeface="맑은 고딕"/>
              <a:cs typeface="맑은 고딕"/>
            </a:endParaRPr>
          </a:p>
          <a:p>
            <a:pPr>
              <a:defRPr sz="1050" b="0">
                <a:solidFill>
                  <a:srgbClr val="666666"/>
                </a:solidFill>
                <a:latin typeface="맑은 고딕"/>
                <a:ea typeface="맑은 고딕"/>
                <a:cs typeface="맑은 고딕"/>
              </a:defRPr>
            </a:pPr>
            <a:r>
              <a:rPr lang="en-US" altLang="ko-KR" sz="1100" dirty="0">
                <a:solidFill>
                  <a:srgbClr val="666666"/>
                </a:solidFill>
                <a:latin typeface="맑은 고딕"/>
                <a:ea typeface="맑은 고딕"/>
                <a:cs typeface="맑은 고딕"/>
              </a:rPr>
              <a:t>Emulation API </a:t>
            </a:r>
            <a:r>
              <a:rPr lang="en-US" altLang="ko-KR" sz="1100" b="0" dirty="0">
                <a:solidFill>
                  <a:srgbClr val="666666"/>
                </a:solidFill>
                <a:latin typeface="맑은 고딕"/>
                <a:ea typeface="맑은 고딕"/>
                <a:cs typeface="맑은 고딕"/>
              </a:rPr>
              <a:t>·</a:t>
            </a:r>
            <a:r>
              <a:rPr lang="ko-KR" altLang="en-US" sz="1100" dirty="0">
                <a:solidFill>
                  <a:srgbClr val="666666"/>
                </a:solidFill>
                <a:latin typeface="맑은 고딕"/>
                <a:ea typeface="맑은 고딕"/>
                <a:cs typeface="맑은 고딕"/>
              </a:rPr>
              <a:t> </a:t>
            </a:r>
            <a:r>
              <a:rPr lang="en-US" altLang="ko-KR" sz="1100" dirty="0">
                <a:solidFill>
                  <a:srgbClr val="666666"/>
                </a:solidFill>
                <a:latin typeface="맑은 고딕"/>
                <a:ea typeface="맑은 고딕"/>
                <a:cs typeface="맑은 고딕"/>
              </a:rPr>
              <a:t>HW </a:t>
            </a:r>
            <a:r>
              <a:rPr lang="ko-KR" altLang="en-US" sz="1100" dirty="0">
                <a:solidFill>
                  <a:srgbClr val="666666"/>
                </a:solidFill>
                <a:latin typeface="맑은 고딕"/>
                <a:ea typeface="맑은 고딕"/>
                <a:cs typeface="맑은 고딕"/>
              </a:rPr>
              <a:t>스펙</a:t>
            </a:r>
            <a:endParaRPr lang="en-US" altLang="ko-KR" sz="1100" dirty="0">
              <a:solidFill>
                <a:srgbClr val="666666"/>
              </a:solidFill>
              <a:latin typeface="맑은 고딕"/>
              <a:ea typeface="맑은 고딕"/>
              <a:cs typeface="맑은 고딕"/>
            </a:endParaRPr>
          </a:p>
        </p:txBody>
      </p:sp>
      <p:sp>
        <p:nvSpPr>
          <p:cNvPr id="49" name="직사각형 48">
            <a:extLst>
              <a:ext uri="{FF2B5EF4-FFF2-40B4-BE49-F238E27FC236}">
                <a16:creationId xmlns:a16="http://schemas.microsoft.com/office/drawing/2014/main" id="{8A101B18-591B-49F5-86B3-125F5A3E9C9D}"/>
              </a:ext>
            </a:extLst>
          </p:cNvPr>
          <p:cNvSpPr>
            <a:spLocks noGrp="1"/>
          </p:cNvSpPr>
          <p:nvPr/>
        </p:nvSpPr>
        <p:spPr>
          <a:xfrm>
            <a:off x="10538634" y="4897819"/>
            <a:ext cx="1432" cy="1432"/>
          </a:xfrm>
          <a:prstGeom prst="rect">
            <a:avLst/>
          </a:prstGeom>
          <a:noFill/>
          <a:ln w="9525">
            <a:noFill/>
            <a:prstDash val="solid"/>
          </a:ln>
        </p:spPr>
      </p:sp>
      <p:sp>
        <p:nvSpPr>
          <p:cNvPr id="50" name="직사각형 49">
            <a:extLst>
              <a:ext uri="{FF2B5EF4-FFF2-40B4-BE49-F238E27FC236}">
                <a16:creationId xmlns:a16="http://schemas.microsoft.com/office/drawing/2014/main" id="{9D7C5956-FEE7-4BE9-9613-5B97501A293A}"/>
              </a:ext>
            </a:extLst>
          </p:cNvPr>
          <p:cNvSpPr>
            <a:spLocks noGrp="1"/>
          </p:cNvSpPr>
          <p:nvPr/>
        </p:nvSpPr>
        <p:spPr>
          <a:xfrm>
            <a:off x="8033273" y="4561096"/>
            <a:ext cx="1905" cy="1905"/>
          </a:xfrm>
          <a:prstGeom prst="rect">
            <a:avLst/>
          </a:prstGeom>
          <a:noFill/>
          <a:ln w="9525">
            <a:noFill/>
            <a:prstDash val="solid"/>
          </a:ln>
        </p:spPr>
      </p:sp>
      <p:cxnSp>
        <p:nvCxnSpPr>
          <p:cNvPr id="51" name="직선 화살표 연결선 50">
            <a:extLst>
              <a:ext uri="{FF2B5EF4-FFF2-40B4-BE49-F238E27FC236}">
                <a16:creationId xmlns:a16="http://schemas.microsoft.com/office/drawing/2014/main" id="{EB6BEA70-54E7-4CCC-A660-8095DA80E73F}"/>
              </a:ext>
            </a:extLst>
          </p:cNvPr>
          <p:cNvCxnSpPr>
            <a:cxnSpLocks/>
            <a:stCxn id="43" idx="1"/>
          </p:cNvCxnSpPr>
          <p:nvPr/>
        </p:nvCxnSpPr>
        <p:spPr>
          <a:xfrm flipH="1" flipV="1">
            <a:off x="7698401" y="3994437"/>
            <a:ext cx="1623008" cy="694655"/>
          </a:xfrm>
          <a:prstGeom prst="straightConnector1">
            <a:avLst/>
          </a:prstGeom>
          <a:ln w="15240">
            <a:solidFill>
              <a:srgbClr val="315B91"/>
            </a:solidFill>
            <a:prstDash val="solid"/>
            <a:headEnd type="triangle" w="med" len="med"/>
            <a:tailEnd type="none" w="med" len="med"/>
          </a:ln>
        </p:spPr>
      </p:cxnSp>
      <p:sp>
        <p:nvSpPr>
          <p:cNvPr id="52" name="직사각형 51">
            <a:extLst>
              <a:ext uri="{FF2B5EF4-FFF2-40B4-BE49-F238E27FC236}">
                <a16:creationId xmlns:a16="http://schemas.microsoft.com/office/drawing/2014/main" id="{F918ABE3-C8D4-48D2-95A4-A1D7B92DC2EC}"/>
              </a:ext>
            </a:extLst>
          </p:cNvPr>
          <p:cNvSpPr>
            <a:spLocks noGrp="1"/>
          </p:cNvSpPr>
          <p:nvPr/>
        </p:nvSpPr>
        <p:spPr>
          <a:xfrm>
            <a:off x="6867885" y="4351797"/>
            <a:ext cx="1743075" cy="409575"/>
          </a:xfrm>
          <a:prstGeom prst="rect">
            <a:avLst/>
          </a:prstGeom>
          <a:noFill/>
          <a:ln w="9525">
            <a:noFill/>
            <a:prstDash val="solid"/>
          </a:ln>
        </p:spPr>
        <p:txBody>
          <a:bodyPr wrap="square" lIns="19050" tIns="9525" rIns="19050" bIns="9525" anchor="ctr">
            <a:noAutofit/>
          </a:bodyPr>
          <a:lstStyle/>
          <a:p>
            <a:pPr algn="ctr">
              <a:defRPr sz="1050" b="0">
                <a:solidFill>
                  <a:srgbClr val="315B91"/>
                </a:solidFill>
                <a:latin typeface="맑은 고딕"/>
                <a:ea typeface="맑은 고딕"/>
                <a:cs typeface="맑은 고딕"/>
              </a:defRPr>
            </a:pPr>
            <a:r>
              <a:rPr lang="en-US" sz="1100" dirty="0">
                <a:solidFill>
                  <a:srgbClr val="315B91"/>
                </a:solidFill>
                <a:latin typeface="맑은 고딕"/>
                <a:ea typeface="맑은 고딕"/>
                <a:cs typeface="맑은 고딕"/>
              </a:rPr>
              <a:t>Device</a:t>
            </a:r>
            <a:r>
              <a:rPr lang="ko-KR" altLang="en-US" sz="1100" dirty="0">
                <a:solidFill>
                  <a:srgbClr val="315B91"/>
                </a:solidFill>
                <a:latin typeface="맑은 고딕"/>
                <a:ea typeface="맑은 고딕"/>
                <a:cs typeface="맑은 고딕"/>
              </a:rPr>
              <a:t> </a:t>
            </a:r>
            <a:r>
              <a:rPr lang="en-US" altLang="ko-KR" sz="1100" dirty="0">
                <a:solidFill>
                  <a:srgbClr val="315B91"/>
                </a:solidFill>
                <a:latin typeface="맑은 고딕"/>
                <a:ea typeface="맑은 고딕"/>
                <a:cs typeface="맑은 고딕"/>
              </a:rPr>
              <a:t>Runtime, Device</a:t>
            </a:r>
            <a:r>
              <a:rPr lang="ko-KR" altLang="en-US" sz="1100" dirty="0">
                <a:solidFill>
                  <a:srgbClr val="315B91"/>
                </a:solidFill>
                <a:latin typeface="맑은 고딕"/>
                <a:ea typeface="맑은 고딕"/>
                <a:cs typeface="맑은 고딕"/>
              </a:rPr>
              <a:t> </a:t>
            </a:r>
            <a:r>
              <a:rPr lang="en-US" altLang="ko-KR" sz="1100" dirty="0">
                <a:solidFill>
                  <a:srgbClr val="315B91"/>
                </a:solidFill>
                <a:latin typeface="맑은 고딕"/>
                <a:ea typeface="맑은 고딕"/>
                <a:cs typeface="맑은 고딕"/>
              </a:rPr>
              <a:t>Driver</a:t>
            </a:r>
            <a:endParaRPr lang="en-US" sz="1100" b="0" dirty="0">
              <a:solidFill>
                <a:srgbClr val="315B91"/>
              </a:solidFill>
              <a:latin typeface="맑은 고딕"/>
              <a:ea typeface="맑은 고딕"/>
              <a:cs typeface="맑은 고딕"/>
            </a:endParaRPr>
          </a:p>
        </p:txBody>
      </p:sp>
      <p:cxnSp>
        <p:nvCxnSpPr>
          <p:cNvPr id="78" name="직선 화살표 연결선 77">
            <a:extLst>
              <a:ext uri="{FF2B5EF4-FFF2-40B4-BE49-F238E27FC236}">
                <a16:creationId xmlns:a16="http://schemas.microsoft.com/office/drawing/2014/main" id="{FF32AA38-13FC-417C-8A91-A6CCF25D99C3}"/>
              </a:ext>
            </a:extLst>
          </p:cNvPr>
          <p:cNvCxnSpPr>
            <a:cxnSpLocks/>
          </p:cNvCxnSpPr>
          <p:nvPr/>
        </p:nvCxnSpPr>
        <p:spPr>
          <a:xfrm flipH="1" flipV="1">
            <a:off x="8013330" y="3832236"/>
            <a:ext cx="1355219" cy="551233"/>
          </a:xfrm>
          <a:prstGeom prst="straightConnector1">
            <a:avLst/>
          </a:prstGeom>
          <a:ln w="15240">
            <a:solidFill>
              <a:srgbClr val="666666"/>
            </a:solidFill>
            <a:prstDash val="dash"/>
            <a:headEnd type="none" w="med" len="med"/>
            <a:tailEnd type="triangle" w="med" len="med"/>
          </a:ln>
        </p:spPr>
      </p:cxnSp>
      <p:sp>
        <p:nvSpPr>
          <p:cNvPr id="79" name="타원 78">
            <a:extLst>
              <a:ext uri="{FF2B5EF4-FFF2-40B4-BE49-F238E27FC236}">
                <a16:creationId xmlns:a16="http://schemas.microsoft.com/office/drawing/2014/main" id="{76BD1D13-A259-40D8-B7DE-A979FC321936}"/>
              </a:ext>
            </a:extLst>
          </p:cNvPr>
          <p:cNvSpPr/>
          <p:nvPr/>
        </p:nvSpPr>
        <p:spPr>
          <a:xfrm>
            <a:off x="5137106" y="5313781"/>
            <a:ext cx="1200771" cy="308223"/>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400" dirty="0"/>
              <a:t>System</a:t>
            </a:r>
            <a:endParaRPr lang="ko-KR" altLang="en-US" sz="1400" dirty="0"/>
          </a:p>
        </p:txBody>
      </p:sp>
      <p:cxnSp>
        <p:nvCxnSpPr>
          <p:cNvPr id="81" name="직선 화살표 연결선 80">
            <a:extLst>
              <a:ext uri="{FF2B5EF4-FFF2-40B4-BE49-F238E27FC236}">
                <a16:creationId xmlns:a16="http://schemas.microsoft.com/office/drawing/2014/main" id="{50B073ED-1D13-40F3-A9D9-79E7CEBEEA54}"/>
              </a:ext>
            </a:extLst>
          </p:cNvPr>
          <p:cNvCxnSpPr/>
          <p:nvPr/>
        </p:nvCxnSpPr>
        <p:spPr>
          <a:xfrm>
            <a:off x="5068683" y="5949249"/>
            <a:ext cx="1303336" cy="0"/>
          </a:xfrm>
          <a:prstGeom prst="straightConnector1">
            <a:avLst/>
          </a:prstGeom>
          <a:ln w="15240">
            <a:solidFill>
              <a:srgbClr val="315B91"/>
            </a:solidFill>
            <a:prstDash val="solid"/>
            <a:headEnd type="none" w="med" len="med"/>
            <a:tailEnd type="triangle" w="med" len="med"/>
          </a:ln>
        </p:spPr>
      </p:cxnSp>
      <p:cxnSp>
        <p:nvCxnSpPr>
          <p:cNvPr id="94" name="직선 화살표 연결선 93">
            <a:extLst>
              <a:ext uri="{FF2B5EF4-FFF2-40B4-BE49-F238E27FC236}">
                <a16:creationId xmlns:a16="http://schemas.microsoft.com/office/drawing/2014/main" id="{98076766-8DE4-4942-BB45-F1EF97E949A8}"/>
              </a:ext>
            </a:extLst>
          </p:cNvPr>
          <p:cNvCxnSpPr/>
          <p:nvPr/>
        </p:nvCxnSpPr>
        <p:spPr>
          <a:xfrm>
            <a:off x="5069719" y="6287303"/>
            <a:ext cx="1303336" cy="0"/>
          </a:xfrm>
          <a:prstGeom prst="straightConnector1">
            <a:avLst/>
          </a:prstGeom>
          <a:ln w="15240">
            <a:solidFill>
              <a:srgbClr val="666666"/>
            </a:solidFill>
            <a:prstDash val="dash"/>
            <a:headEnd type="none" w="med" len="med"/>
            <a:tailEnd type="triangle" w="med" len="med"/>
          </a:ln>
        </p:spPr>
      </p:cxnSp>
      <p:sp>
        <p:nvSpPr>
          <p:cNvPr id="95" name="직사각형 94">
            <a:extLst>
              <a:ext uri="{FF2B5EF4-FFF2-40B4-BE49-F238E27FC236}">
                <a16:creationId xmlns:a16="http://schemas.microsoft.com/office/drawing/2014/main" id="{F4F45AA7-0902-494D-8857-85C8EE3EF775}"/>
              </a:ext>
            </a:extLst>
          </p:cNvPr>
          <p:cNvSpPr>
            <a:spLocks noGrp="1"/>
          </p:cNvSpPr>
          <p:nvPr/>
        </p:nvSpPr>
        <p:spPr>
          <a:xfrm>
            <a:off x="5062421" y="6008413"/>
            <a:ext cx="1309598" cy="264782"/>
          </a:xfrm>
          <a:prstGeom prst="rect">
            <a:avLst/>
          </a:prstGeom>
          <a:noFill/>
          <a:ln w="9525">
            <a:noFill/>
            <a:prstDash val="solid"/>
          </a:ln>
        </p:spPr>
        <p:txBody>
          <a:bodyPr wrap="square" lIns="19050" tIns="9525" rIns="19050" bIns="9525" anchor="ctr">
            <a:noAutofit/>
          </a:bodyPr>
          <a:lstStyle/>
          <a:p>
            <a:pPr algn="ctr">
              <a:defRPr sz="1050" b="0">
                <a:solidFill>
                  <a:srgbClr val="666666"/>
                </a:solidFill>
                <a:latin typeface="맑은 고딕"/>
                <a:ea typeface="맑은 고딕"/>
                <a:cs typeface="맑은 고딕"/>
              </a:defRPr>
            </a:pPr>
            <a:r>
              <a:rPr lang="en-US" sz="1100" dirty="0">
                <a:solidFill>
                  <a:srgbClr val="666666"/>
                </a:solidFill>
                <a:latin typeface="맑은 고딕"/>
                <a:ea typeface="맑은 고딕"/>
                <a:cs typeface="맑은 고딕"/>
              </a:rPr>
              <a:t>Data</a:t>
            </a:r>
          </a:p>
        </p:txBody>
      </p:sp>
      <p:sp>
        <p:nvSpPr>
          <p:cNvPr id="96" name="직사각형 95">
            <a:extLst>
              <a:ext uri="{FF2B5EF4-FFF2-40B4-BE49-F238E27FC236}">
                <a16:creationId xmlns:a16="http://schemas.microsoft.com/office/drawing/2014/main" id="{3E5C275B-4679-4AD9-91B8-A6BCEB2E1C0B}"/>
              </a:ext>
            </a:extLst>
          </p:cNvPr>
          <p:cNvSpPr>
            <a:spLocks noGrp="1"/>
          </p:cNvSpPr>
          <p:nvPr/>
        </p:nvSpPr>
        <p:spPr>
          <a:xfrm>
            <a:off x="5102825" y="5620316"/>
            <a:ext cx="1309598" cy="307720"/>
          </a:xfrm>
          <a:prstGeom prst="rect">
            <a:avLst/>
          </a:prstGeom>
          <a:noFill/>
          <a:ln w="9525">
            <a:noFill/>
            <a:prstDash val="solid"/>
          </a:ln>
        </p:spPr>
        <p:txBody>
          <a:bodyPr wrap="square" lIns="19050" tIns="9525" rIns="19050" bIns="9525" anchor="ctr">
            <a:noAutofit/>
          </a:bodyPr>
          <a:lstStyle/>
          <a:p>
            <a:pPr algn="ctr">
              <a:defRPr sz="1050" b="0">
                <a:solidFill>
                  <a:srgbClr val="315B91"/>
                </a:solidFill>
                <a:latin typeface="맑은 고딕"/>
                <a:ea typeface="맑은 고딕"/>
                <a:cs typeface="맑은 고딕"/>
              </a:defRPr>
            </a:pPr>
            <a:r>
              <a:rPr lang="en-US" sz="1100" b="0" dirty="0">
                <a:solidFill>
                  <a:srgbClr val="315B91"/>
                </a:solidFill>
                <a:latin typeface="맑은 고딕"/>
                <a:ea typeface="맑은 고딕"/>
                <a:cs typeface="맑은 고딕"/>
              </a:rPr>
              <a:t>Request</a:t>
            </a:r>
          </a:p>
        </p:txBody>
      </p:sp>
      <p:sp>
        <p:nvSpPr>
          <p:cNvPr id="103" name="직사각형 102">
            <a:extLst>
              <a:ext uri="{FF2B5EF4-FFF2-40B4-BE49-F238E27FC236}">
                <a16:creationId xmlns:a16="http://schemas.microsoft.com/office/drawing/2014/main" id="{721342A7-2154-46A1-8081-1BE3DE10C7D0}"/>
              </a:ext>
            </a:extLst>
          </p:cNvPr>
          <p:cNvSpPr>
            <a:spLocks noGrp="1"/>
          </p:cNvSpPr>
          <p:nvPr/>
        </p:nvSpPr>
        <p:spPr>
          <a:xfrm>
            <a:off x="307519" y="4349152"/>
            <a:ext cx="2329370" cy="800334"/>
          </a:xfrm>
          <a:prstGeom prst="rect">
            <a:avLst/>
          </a:prstGeom>
          <a:noFill/>
          <a:ln w="12383">
            <a:noFill/>
            <a:prstDash val="solid"/>
          </a:ln>
        </p:spPr>
        <p:txBody>
          <a:bodyPr wrap="square" lIns="66675" tIns="38100" rIns="66675" bIns="38100" anchor="ctr">
            <a:noAutofit/>
          </a:bodyPr>
          <a:lstStyle/>
          <a:p>
            <a:pPr algn="ctr"/>
            <a:r>
              <a:rPr lang="ko-KR" altLang="en-US" sz="1600" b="1" dirty="0">
                <a:solidFill>
                  <a:srgbClr val="202A35"/>
                </a:solidFill>
                <a:latin typeface="맑은 고딕"/>
                <a:ea typeface="맑은 고딕"/>
              </a:rPr>
              <a:t>시스템 제공자</a:t>
            </a:r>
            <a:endParaRPr lang="en-US" sz="1600" b="1" dirty="0">
              <a:solidFill>
                <a:srgbClr val="202A35"/>
              </a:solidFill>
              <a:latin typeface="맑은 고딕"/>
              <a:ea typeface="맑은 고딕"/>
            </a:endParaRPr>
          </a:p>
        </p:txBody>
      </p:sp>
      <p:cxnSp>
        <p:nvCxnSpPr>
          <p:cNvPr id="104" name="직선 화살표 연결선 103">
            <a:extLst>
              <a:ext uri="{FF2B5EF4-FFF2-40B4-BE49-F238E27FC236}">
                <a16:creationId xmlns:a16="http://schemas.microsoft.com/office/drawing/2014/main" id="{648693E9-649A-47F0-AFAB-83598F02B527}"/>
              </a:ext>
            </a:extLst>
          </p:cNvPr>
          <p:cNvCxnSpPr>
            <a:cxnSpLocks/>
          </p:cNvCxnSpPr>
          <p:nvPr/>
        </p:nvCxnSpPr>
        <p:spPr>
          <a:xfrm flipH="1">
            <a:off x="2364180" y="3862592"/>
            <a:ext cx="1462629" cy="678791"/>
          </a:xfrm>
          <a:prstGeom prst="straightConnector1">
            <a:avLst/>
          </a:prstGeom>
          <a:ln w="15240">
            <a:solidFill>
              <a:srgbClr val="315B91"/>
            </a:solidFill>
            <a:prstDash val="solid"/>
            <a:headEnd type="none" w="med" len="med"/>
            <a:tailEnd type="triangle" w="med" len="med"/>
          </a:ln>
        </p:spPr>
      </p:cxnSp>
      <p:cxnSp>
        <p:nvCxnSpPr>
          <p:cNvPr id="106" name="직선 화살표 연결선 105">
            <a:extLst>
              <a:ext uri="{FF2B5EF4-FFF2-40B4-BE49-F238E27FC236}">
                <a16:creationId xmlns:a16="http://schemas.microsoft.com/office/drawing/2014/main" id="{CE48A474-2446-4A37-86B2-22C9140B73E6}"/>
              </a:ext>
            </a:extLst>
          </p:cNvPr>
          <p:cNvCxnSpPr>
            <a:cxnSpLocks/>
          </p:cNvCxnSpPr>
          <p:nvPr/>
        </p:nvCxnSpPr>
        <p:spPr>
          <a:xfrm flipH="1">
            <a:off x="2187711" y="3619292"/>
            <a:ext cx="1336219" cy="632200"/>
          </a:xfrm>
          <a:prstGeom prst="straightConnector1">
            <a:avLst/>
          </a:prstGeom>
          <a:ln w="15240">
            <a:solidFill>
              <a:srgbClr val="666666"/>
            </a:solidFill>
            <a:prstDash val="dash"/>
            <a:headEnd type="triangle" w="med" len="med"/>
            <a:tailEnd type="none" w="med" len="med"/>
          </a:ln>
        </p:spPr>
      </p:cxnSp>
      <p:sp>
        <p:nvSpPr>
          <p:cNvPr id="108" name="직사각형 107">
            <a:extLst>
              <a:ext uri="{FF2B5EF4-FFF2-40B4-BE49-F238E27FC236}">
                <a16:creationId xmlns:a16="http://schemas.microsoft.com/office/drawing/2014/main" id="{7F9EC2B7-F8E4-4FB8-BD06-D6E8456A9F4B}"/>
              </a:ext>
            </a:extLst>
          </p:cNvPr>
          <p:cNvSpPr>
            <a:spLocks noGrp="1"/>
          </p:cNvSpPr>
          <p:nvPr/>
        </p:nvSpPr>
        <p:spPr>
          <a:xfrm>
            <a:off x="2743167" y="4251492"/>
            <a:ext cx="1616725" cy="409575"/>
          </a:xfrm>
          <a:prstGeom prst="rect">
            <a:avLst/>
          </a:prstGeom>
          <a:noFill/>
          <a:ln w="9525">
            <a:noFill/>
            <a:prstDash val="solid"/>
          </a:ln>
        </p:spPr>
        <p:txBody>
          <a:bodyPr wrap="square" lIns="19050" tIns="9525" rIns="19050" bIns="9525" anchor="ctr">
            <a:noAutofit/>
          </a:bodyPr>
          <a:lstStyle/>
          <a:p>
            <a:pPr algn="ctr">
              <a:defRPr sz="1050" b="0">
                <a:solidFill>
                  <a:srgbClr val="315B91"/>
                </a:solidFill>
                <a:latin typeface="맑은 고딕"/>
                <a:ea typeface="맑은 고딕"/>
                <a:cs typeface="맑은 고딕"/>
              </a:defRPr>
            </a:pPr>
            <a:r>
              <a:rPr lang="ko-KR" altLang="en-US" sz="1100" dirty="0">
                <a:solidFill>
                  <a:srgbClr val="315B91"/>
                </a:solidFill>
                <a:latin typeface="맑은 고딕"/>
                <a:ea typeface="맑은 고딕"/>
                <a:cs typeface="맑은 고딕"/>
              </a:rPr>
              <a:t>시스템 구성 정보</a:t>
            </a:r>
            <a:endParaRPr lang="en-US" sz="1100" b="0" dirty="0">
              <a:solidFill>
                <a:srgbClr val="315B91"/>
              </a:solidFill>
              <a:latin typeface="맑은 고딕"/>
              <a:ea typeface="맑은 고딕"/>
              <a:cs typeface="맑은 고딕"/>
            </a:endParaRPr>
          </a:p>
        </p:txBody>
      </p:sp>
      <p:sp>
        <p:nvSpPr>
          <p:cNvPr id="109" name="직사각형 108">
            <a:extLst>
              <a:ext uri="{FF2B5EF4-FFF2-40B4-BE49-F238E27FC236}">
                <a16:creationId xmlns:a16="http://schemas.microsoft.com/office/drawing/2014/main" id="{441C5ECB-E04F-43E3-B6BD-836BB1E91C5E}"/>
              </a:ext>
            </a:extLst>
          </p:cNvPr>
          <p:cNvSpPr>
            <a:spLocks noGrp="1"/>
          </p:cNvSpPr>
          <p:nvPr/>
        </p:nvSpPr>
        <p:spPr>
          <a:xfrm>
            <a:off x="1224930" y="3443079"/>
            <a:ext cx="1743075" cy="352425"/>
          </a:xfrm>
          <a:prstGeom prst="rect">
            <a:avLst/>
          </a:prstGeom>
          <a:noFill/>
          <a:ln w="9525">
            <a:noFill/>
            <a:prstDash val="solid"/>
          </a:ln>
        </p:spPr>
        <p:txBody>
          <a:bodyPr wrap="square" lIns="19050" tIns="9525" rIns="19050" bIns="9525" anchor="ctr">
            <a:noAutofit/>
          </a:bodyPr>
          <a:lstStyle/>
          <a:p>
            <a:pPr algn="ctr">
              <a:defRPr sz="1050" b="0">
                <a:solidFill>
                  <a:srgbClr val="666666"/>
                </a:solidFill>
                <a:latin typeface="맑은 고딕"/>
                <a:ea typeface="맑은 고딕"/>
                <a:cs typeface="맑은 고딕"/>
              </a:defRPr>
            </a:pPr>
            <a:r>
              <a:rPr lang="en-US" altLang="ko-KR" sz="1100" dirty="0">
                <a:solidFill>
                  <a:srgbClr val="666666"/>
                </a:solidFill>
                <a:latin typeface="맑은 고딕"/>
                <a:ea typeface="맑은 고딕"/>
                <a:cs typeface="맑은 고딕"/>
              </a:rPr>
              <a:t>Compute/Memory/</a:t>
            </a:r>
            <a:r>
              <a:rPr lang="ko-KR" altLang="en-US" sz="1100" dirty="0">
                <a:solidFill>
                  <a:srgbClr val="666666"/>
                </a:solidFill>
                <a:latin typeface="맑은 고딕"/>
                <a:ea typeface="맑은 고딕"/>
                <a:cs typeface="맑은 고딕"/>
              </a:rPr>
              <a:t>네트워크 구성 정보</a:t>
            </a:r>
            <a:endParaRPr lang="en-US" altLang="ko-KR" sz="1100" dirty="0">
              <a:solidFill>
                <a:srgbClr val="666666"/>
              </a:solidFill>
              <a:latin typeface="맑은 고딕"/>
              <a:ea typeface="맑은 고딕"/>
              <a:cs typeface="맑은 고딕"/>
            </a:endParaRPr>
          </a:p>
        </p:txBody>
      </p:sp>
    </p:spTree>
    <p:extLst>
      <p:ext uri="{BB962C8B-B14F-4D97-AF65-F5344CB8AC3E}">
        <p14:creationId xmlns:p14="http://schemas.microsoft.com/office/powerpoint/2010/main" val="188184173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Architecture </a:t>
            </a:r>
            <a:r>
              <a:rPr lang="ko-KR" altLang="en-US" dirty="0"/>
              <a:t>분석 </a:t>
            </a:r>
            <a:r>
              <a:rPr lang="en-US" altLang="ko-KR" dirty="0"/>
              <a:t>– ASR</a:t>
            </a:r>
            <a:r>
              <a:rPr lang="ko-KR" altLang="en-US" dirty="0"/>
              <a:t>과 </a:t>
            </a:r>
            <a:r>
              <a:rPr lang="en-US" altLang="ko-KR" dirty="0"/>
              <a:t>DP </a:t>
            </a:r>
            <a:r>
              <a:rPr lang="ko-KR" altLang="en-US" dirty="0"/>
              <a:t>간의 연결성</a:t>
            </a:r>
          </a:p>
        </p:txBody>
      </p:sp>
      <p:sp>
        <p:nvSpPr>
          <p:cNvPr id="93" name="DP2 9001">
            <a:extLst>
              <a:ext uri="{FF2B5EF4-FFF2-40B4-BE49-F238E27FC236}">
                <a16:creationId xmlns:a16="http://schemas.microsoft.com/office/drawing/2014/main" id="{7CA6CCB6-F8B1-4DE6-B029-37A2E6B43850}"/>
              </a:ext>
            </a:extLst>
          </p:cNvPr>
          <p:cNvSpPr/>
          <p:nvPr/>
        </p:nvSpPr>
        <p:spPr>
          <a:xfrm>
            <a:off x="4732488" y="719407"/>
            <a:ext cx="2889304" cy="361505"/>
          </a:xfrm>
          <a:prstGeom prst="round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wrap="square" lIns="27432" tIns="7315" rIns="27432" bIns="7315" anchor="ctr">
            <a:noAutofit/>
          </a:bodyPr>
          <a:lstStyle/>
          <a:p>
            <a:pPr algn="ctr">
              <a:lnSpc>
                <a:spcPct val="120000"/>
              </a:lnSpc>
            </a:pPr>
            <a:r>
              <a:rPr lang="en-US" altLang="ko-KR" sz="1100" b="1" dirty="0">
                <a:solidFill>
                  <a:srgbClr val="1F3864"/>
                </a:solidFill>
                <a:latin typeface="맑은 고딕" panose="020B0503020000020004" pitchFamily="50" charset="-127"/>
                <a:ea typeface="맑은 고딕" panose="020B0503020000020004" pitchFamily="50" charset="-127"/>
              </a:rPr>
              <a:t>KV </a:t>
            </a:r>
            <a:r>
              <a:rPr lang="ko-KR" altLang="en-US" sz="1100" b="1" dirty="0">
                <a:solidFill>
                  <a:srgbClr val="1F3864"/>
                </a:solidFill>
                <a:latin typeface="맑은 고딕" panose="020B0503020000020004" pitchFamily="50" charset="-127"/>
                <a:ea typeface="맑은 고딕" panose="020B0503020000020004" pitchFamily="50" charset="-127"/>
              </a:rPr>
              <a:t>캐시의 크기가 점점 커진다</a:t>
            </a:r>
            <a:endParaRPr lang="en-US" altLang="ko-KR" sz="1100" b="1" i="0" dirty="0">
              <a:solidFill>
                <a:schemeClr val="tx1">
                  <a:lumMod val="50000"/>
                  <a:lumOff val="50000"/>
                </a:schemeClr>
              </a:solidFill>
              <a:latin typeface="맑은 고딕" panose="020B0503020000020004" pitchFamily="50" charset="-127"/>
              <a:ea typeface="맑은 고딕" panose="020B0503020000020004" pitchFamily="50" charset="-127"/>
            </a:endParaRPr>
          </a:p>
        </p:txBody>
      </p:sp>
      <p:cxnSp>
        <p:nvCxnSpPr>
          <p:cNvPr id="94" name="꺾인 연결선 7">
            <a:extLst>
              <a:ext uri="{FF2B5EF4-FFF2-40B4-BE49-F238E27FC236}">
                <a16:creationId xmlns:a16="http://schemas.microsoft.com/office/drawing/2014/main" id="{9CB709F5-2C9D-43AD-A069-8DC36D6D325B}"/>
              </a:ext>
            </a:extLst>
          </p:cNvPr>
          <p:cNvCxnSpPr>
            <a:cxnSpLocks/>
            <a:stCxn id="93" idx="2"/>
            <a:endCxn id="21" idx="0"/>
          </p:cNvCxnSpPr>
          <p:nvPr/>
        </p:nvCxnSpPr>
        <p:spPr>
          <a:xfrm>
            <a:off x="6177140" y="1080912"/>
            <a:ext cx="0" cy="22998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꺾인 연결선 335">
            <a:extLst>
              <a:ext uri="{FF2B5EF4-FFF2-40B4-BE49-F238E27FC236}">
                <a16:creationId xmlns:a16="http://schemas.microsoft.com/office/drawing/2014/main" id="{CA95B265-D511-4FE2-B652-6105286CE775}"/>
              </a:ext>
            </a:extLst>
          </p:cNvPr>
          <p:cNvCxnSpPr>
            <a:cxnSpLocks/>
            <a:stCxn id="4" idx="2"/>
            <a:endCxn id="26" idx="0"/>
          </p:cNvCxnSpPr>
          <p:nvPr/>
        </p:nvCxnSpPr>
        <p:spPr>
          <a:xfrm flipH="1">
            <a:off x="3569834" y="3442966"/>
            <a:ext cx="3170" cy="684858"/>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 name="모서리가 둥근 직사각형 3"/>
          <p:cNvSpPr/>
          <p:nvPr/>
        </p:nvSpPr>
        <p:spPr>
          <a:xfrm>
            <a:off x="1839318" y="2519398"/>
            <a:ext cx="3467371" cy="923568"/>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ko-KR" altLang="en-US" sz="1400" dirty="0"/>
              <a:t>이기종 메모리 환경에서 </a:t>
            </a:r>
            <a:endParaRPr lang="en-US" altLang="ko-KR" sz="1400" dirty="0"/>
          </a:p>
          <a:p>
            <a:pPr algn="ctr">
              <a:lnSpc>
                <a:spcPct val="125000"/>
              </a:lnSpc>
            </a:pPr>
            <a:r>
              <a:rPr lang="ko-KR" altLang="en-US" sz="1400" dirty="0"/>
              <a:t>어떤 데이터를 언제</a:t>
            </a:r>
            <a:r>
              <a:rPr lang="en-US" altLang="ko-KR" sz="1400" dirty="0"/>
              <a:t>, </a:t>
            </a:r>
            <a:r>
              <a:rPr lang="ko-KR" altLang="en-US" sz="1400" dirty="0"/>
              <a:t>어디에 </a:t>
            </a:r>
            <a:endParaRPr lang="en-US" altLang="ko-KR" sz="1400" dirty="0"/>
          </a:p>
          <a:p>
            <a:pPr algn="ctr">
              <a:lnSpc>
                <a:spcPct val="125000"/>
              </a:lnSpc>
            </a:pPr>
            <a:r>
              <a:rPr lang="ko-KR" altLang="en-US" sz="1400" dirty="0"/>
              <a:t>위치할 것인가</a:t>
            </a:r>
            <a:r>
              <a:rPr lang="en-US" altLang="ko-KR" sz="1400" dirty="0"/>
              <a:t>? </a:t>
            </a:r>
            <a:r>
              <a:rPr lang="en-US" altLang="ko-KR" sz="1400" b="1" dirty="0" smtClean="0">
                <a:solidFill>
                  <a:schemeClr val="accent1"/>
                </a:solidFill>
              </a:rPr>
              <a:t>(</a:t>
            </a:r>
            <a:r>
              <a:rPr lang="en-US" altLang="ko-KR" sz="1400" b="1" dirty="0">
                <a:solidFill>
                  <a:schemeClr val="accent1"/>
                </a:solidFill>
              </a:rPr>
              <a:t>DP1)</a:t>
            </a:r>
            <a:endParaRPr lang="ko-KR" altLang="en-US" sz="1400" b="1" dirty="0">
              <a:solidFill>
                <a:schemeClr val="accent1"/>
              </a:solidFill>
            </a:endParaRPr>
          </a:p>
        </p:txBody>
      </p:sp>
      <p:sp>
        <p:nvSpPr>
          <p:cNvPr id="26" name="모서리가 둥근 직사각형 25"/>
          <p:cNvSpPr/>
          <p:nvPr/>
        </p:nvSpPr>
        <p:spPr>
          <a:xfrm>
            <a:off x="1836148" y="4127824"/>
            <a:ext cx="3467371" cy="93739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ko-KR" altLang="en-US" sz="1400" dirty="0"/>
              <a:t>이기종 메모리 환경에서</a:t>
            </a:r>
            <a:endParaRPr lang="en-US" altLang="ko-KR" sz="1400" dirty="0"/>
          </a:p>
          <a:p>
            <a:pPr algn="ctr">
              <a:lnSpc>
                <a:spcPct val="125000"/>
              </a:lnSpc>
            </a:pPr>
            <a:r>
              <a:rPr lang="en-US" altLang="ko-KR" sz="1400" dirty="0"/>
              <a:t>Prefill/Decode </a:t>
            </a:r>
            <a:r>
              <a:rPr lang="ko-KR" altLang="en-US" sz="1400" dirty="0"/>
              <a:t>연산을 </a:t>
            </a:r>
            <a:endParaRPr lang="en-US" altLang="ko-KR" sz="1400" dirty="0"/>
          </a:p>
          <a:p>
            <a:pPr algn="ctr">
              <a:lnSpc>
                <a:spcPct val="125000"/>
              </a:lnSpc>
            </a:pPr>
            <a:r>
              <a:rPr lang="ko-KR" altLang="en-US" sz="1400" dirty="0"/>
              <a:t>어디서 수행할 것인가</a:t>
            </a:r>
            <a:r>
              <a:rPr lang="en-US" altLang="ko-KR" sz="1400" dirty="0" smtClean="0"/>
              <a:t>? </a:t>
            </a:r>
            <a:r>
              <a:rPr lang="en-US" altLang="ko-KR" sz="1400" b="1" dirty="0" smtClean="0">
                <a:solidFill>
                  <a:schemeClr val="accent1"/>
                </a:solidFill>
              </a:rPr>
              <a:t>(</a:t>
            </a:r>
            <a:r>
              <a:rPr lang="en-US" altLang="ko-KR" sz="1400" b="1" dirty="0">
                <a:solidFill>
                  <a:schemeClr val="accent1"/>
                </a:solidFill>
              </a:rPr>
              <a:t>DP2)</a:t>
            </a:r>
          </a:p>
        </p:txBody>
      </p:sp>
      <p:sp>
        <p:nvSpPr>
          <p:cNvPr id="27" name="모서리가 둥근 직사각형 26"/>
          <p:cNvSpPr/>
          <p:nvPr/>
        </p:nvSpPr>
        <p:spPr>
          <a:xfrm>
            <a:off x="6892814" y="2519398"/>
            <a:ext cx="3466235" cy="94179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en-US" altLang="ko-KR" sz="1400" dirty="0"/>
              <a:t>KV </a:t>
            </a:r>
            <a:r>
              <a:rPr lang="ko-KR" altLang="en-US" sz="1400" dirty="0"/>
              <a:t>캐시를 생성하지 않고 </a:t>
            </a:r>
            <a:endParaRPr lang="en-US" altLang="ko-KR" sz="1400" dirty="0"/>
          </a:p>
          <a:p>
            <a:pPr algn="ctr">
              <a:lnSpc>
                <a:spcPct val="125000"/>
              </a:lnSpc>
            </a:pPr>
            <a:r>
              <a:rPr lang="ko-KR" altLang="en-US" sz="1400" dirty="0"/>
              <a:t>기존 보유한 </a:t>
            </a:r>
            <a:r>
              <a:rPr lang="en-US" altLang="ko-KR" sz="1400" dirty="0"/>
              <a:t>KV</a:t>
            </a:r>
            <a:r>
              <a:rPr lang="ko-KR" altLang="en-US" sz="1400" dirty="0"/>
              <a:t>의 </a:t>
            </a:r>
            <a:r>
              <a:rPr lang="ko-KR" altLang="en-US" sz="1400" dirty="0" err="1"/>
              <a:t>재사용률을</a:t>
            </a:r>
            <a:r>
              <a:rPr lang="ko-KR" altLang="en-US" sz="1400" dirty="0"/>
              <a:t> </a:t>
            </a:r>
            <a:endParaRPr lang="en-US" altLang="ko-KR" sz="1400" dirty="0"/>
          </a:p>
          <a:p>
            <a:pPr algn="ctr">
              <a:lnSpc>
                <a:spcPct val="125000"/>
              </a:lnSpc>
            </a:pPr>
            <a:r>
              <a:rPr lang="ko-KR" altLang="en-US" sz="1400" dirty="0"/>
              <a:t>높여 해결할 수 있을까</a:t>
            </a:r>
            <a:r>
              <a:rPr lang="en-US" altLang="ko-KR" sz="1400" dirty="0"/>
              <a:t>? </a:t>
            </a:r>
            <a:r>
              <a:rPr lang="en-US" altLang="ko-KR" sz="1400" b="1" dirty="0" smtClean="0">
                <a:solidFill>
                  <a:schemeClr val="accent1"/>
                </a:solidFill>
              </a:rPr>
              <a:t>(</a:t>
            </a:r>
            <a:r>
              <a:rPr lang="en-US" altLang="ko-KR" sz="1400" b="1" dirty="0">
                <a:solidFill>
                  <a:schemeClr val="accent1"/>
                </a:solidFill>
              </a:rPr>
              <a:t>DP3)</a:t>
            </a:r>
          </a:p>
        </p:txBody>
      </p:sp>
      <p:cxnSp>
        <p:nvCxnSpPr>
          <p:cNvPr id="6" name="직선 화살표 연결선 5"/>
          <p:cNvCxnSpPr>
            <a:stCxn id="21" idx="2"/>
            <a:endCxn id="27" idx="0"/>
          </p:cNvCxnSpPr>
          <p:nvPr/>
        </p:nvCxnSpPr>
        <p:spPr>
          <a:xfrm rot="16200000" flipH="1">
            <a:off x="6978038" y="871504"/>
            <a:ext cx="846996" cy="2448792"/>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모서리가 둥근 직사각형 36"/>
          <p:cNvSpPr/>
          <p:nvPr/>
        </p:nvSpPr>
        <p:spPr>
          <a:xfrm>
            <a:off x="1836148" y="5621846"/>
            <a:ext cx="3458716" cy="9216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ko-KR" altLang="en-US" sz="1400" dirty="0"/>
              <a:t>서버 간 </a:t>
            </a:r>
            <a:r>
              <a:rPr lang="en-US" altLang="ko-KR" sz="1400" dirty="0"/>
              <a:t>KV </a:t>
            </a:r>
            <a:r>
              <a:rPr lang="ko-KR" altLang="en-US" sz="1400" dirty="0"/>
              <a:t>전송 비용을 </a:t>
            </a:r>
            <a:endParaRPr lang="en-US" altLang="ko-KR" sz="1400" dirty="0" smtClean="0"/>
          </a:p>
          <a:p>
            <a:pPr algn="ctr">
              <a:lnSpc>
                <a:spcPct val="125000"/>
              </a:lnSpc>
            </a:pPr>
            <a:r>
              <a:rPr lang="ko-KR" altLang="en-US" sz="1400" dirty="0" smtClean="0"/>
              <a:t>줄이기 위해 공유 메모리 구조를 </a:t>
            </a:r>
            <a:endParaRPr lang="en-US" altLang="ko-KR" sz="1400" dirty="0"/>
          </a:p>
          <a:p>
            <a:pPr algn="ctr">
              <a:lnSpc>
                <a:spcPct val="125000"/>
              </a:lnSpc>
            </a:pPr>
            <a:r>
              <a:rPr lang="ko-KR" altLang="en-US" sz="1400" dirty="0" smtClean="0"/>
              <a:t>구축할 수 있을까</a:t>
            </a:r>
            <a:r>
              <a:rPr lang="en-US" altLang="ko-KR" sz="1400" dirty="0" smtClean="0"/>
              <a:t>? </a:t>
            </a:r>
            <a:r>
              <a:rPr lang="en-US" altLang="ko-KR" sz="1400" b="1" dirty="0" smtClean="0">
                <a:solidFill>
                  <a:schemeClr val="accent1"/>
                </a:solidFill>
              </a:rPr>
              <a:t>(</a:t>
            </a:r>
            <a:r>
              <a:rPr lang="en-US" altLang="ko-KR" sz="1400" b="1" dirty="0">
                <a:solidFill>
                  <a:schemeClr val="accent1"/>
                </a:solidFill>
              </a:rPr>
              <a:t>DP4)</a:t>
            </a:r>
          </a:p>
        </p:txBody>
      </p:sp>
      <p:cxnSp>
        <p:nvCxnSpPr>
          <p:cNvPr id="41" name="직선 화살표 연결선 40"/>
          <p:cNvCxnSpPr>
            <a:cxnSpLocks/>
            <a:stCxn id="26" idx="2"/>
            <a:endCxn id="37" idx="0"/>
          </p:cNvCxnSpPr>
          <p:nvPr/>
        </p:nvCxnSpPr>
        <p:spPr>
          <a:xfrm flipH="1">
            <a:off x="3565506" y="5065222"/>
            <a:ext cx="4328" cy="55662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85CD19AA-B1AF-4EB1-8EBE-F63058DB88AE}"/>
              </a:ext>
            </a:extLst>
          </p:cNvPr>
          <p:cNvSpPr txBox="1"/>
          <p:nvPr/>
        </p:nvSpPr>
        <p:spPr>
          <a:xfrm>
            <a:off x="3569833" y="5125939"/>
            <a:ext cx="1374094" cy="400110"/>
          </a:xfrm>
          <a:prstGeom prst="rect">
            <a:avLst/>
          </a:prstGeom>
          <a:noFill/>
        </p:spPr>
        <p:txBody>
          <a:bodyPr wrap="none" rtlCol="0">
            <a:spAutoFit/>
          </a:bodyPr>
          <a:lstStyle/>
          <a:p>
            <a:pPr algn="ctr"/>
            <a:r>
              <a:rPr lang="ko-KR" altLang="en-US" sz="1000" dirty="0"/>
              <a:t>그럼에도 여전히 </a:t>
            </a:r>
            <a:endParaRPr lang="en-US" altLang="ko-KR" sz="1000" dirty="0"/>
          </a:p>
          <a:p>
            <a:pPr algn="ctr"/>
            <a:r>
              <a:rPr lang="en-US" altLang="ko-KR" sz="1000" dirty="0"/>
              <a:t>KV</a:t>
            </a:r>
            <a:r>
              <a:rPr lang="ko-KR" altLang="en-US" sz="1000" dirty="0"/>
              <a:t> 캐시 전송이 병목</a:t>
            </a:r>
          </a:p>
        </p:txBody>
      </p:sp>
      <p:sp>
        <p:nvSpPr>
          <p:cNvPr id="7" name="직사각형 6"/>
          <p:cNvSpPr/>
          <p:nvPr/>
        </p:nvSpPr>
        <p:spPr>
          <a:xfrm>
            <a:off x="3569216" y="2166627"/>
            <a:ext cx="870571" cy="2657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tx1"/>
                </a:solidFill>
              </a:rPr>
              <a:t>분산 배치</a:t>
            </a:r>
          </a:p>
        </p:txBody>
      </p:sp>
      <p:sp>
        <p:nvSpPr>
          <p:cNvPr id="23" name="직사각형 22"/>
          <p:cNvSpPr/>
          <p:nvPr/>
        </p:nvSpPr>
        <p:spPr>
          <a:xfrm>
            <a:off x="3169584" y="3597839"/>
            <a:ext cx="2137105" cy="3463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000" dirty="0">
                <a:solidFill>
                  <a:schemeClr val="tx1"/>
                </a:solidFill>
              </a:rPr>
              <a:t>여러 메모리 자원에 </a:t>
            </a:r>
            <a:endParaRPr lang="en-US" altLang="ko-KR" sz="1000" dirty="0">
              <a:solidFill>
                <a:schemeClr val="tx1"/>
              </a:solidFill>
            </a:endParaRPr>
          </a:p>
          <a:p>
            <a:pPr algn="ctr"/>
            <a:r>
              <a:rPr lang="ko-KR" altLang="en-US" sz="1000" dirty="0">
                <a:solidFill>
                  <a:schemeClr val="tx1"/>
                </a:solidFill>
              </a:rPr>
              <a:t>분산 배치된 </a:t>
            </a:r>
            <a:r>
              <a:rPr lang="en-US" altLang="ko-KR" sz="1000" dirty="0">
                <a:solidFill>
                  <a:schemeClr val="tx1"/>
                </a:solidFill>
              </a:rPr>
              <a:t>KV </a:t>
            </a:r>
            <a:r>
              <a:rPr lang="ko-KR" altLang="en-US" sz="1000" dirty="0">
                <a:solidFill>
                  <a:schemeClr val="tx1"/>
                </a:solidFill>
              </a:rPr>
              <a:t>캐시</a:t>
            </a:r>
            <a:endParaRPr lang="en-US" altLang="ko-KR" sz="1000" dirty="0">
              <a:solidFill>
                <a:schemeClr val="tx1"/>
              </a:solidFill>
            </a:endParaRPr>
          </a:p>
        </p:txBody>
      </p:sp>
      <p:sp>
        <p:nvSpPr>
          <p:cNvPr id="40" name="직사각형 39"/>
          <p:cNvSpPr/>
          <p:nvPr/>
        </p:nvSpPr>
        <p:spPr>
          <a:xfrm>
            <a:off x="7235475" y="2162188"/>
            <a:ext cx="1390456" cy="2746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smtClean="0">
                <a:solidFill>
                  <a:schemeClr val="tx1"/>
                </a:solidFill>
              </a:rPr>
              <a:t>데이터 재사용 </a:t>
            </a:r>
            <a:endParaRPr lang="ko-KR" altLang="en-US" sz="1100" dirty="0">
              <a:solidFill>
                <a:schemeClr val="tx1"/>
              </a:solidFill>
            </a:endParaRPr>
          </a:p>
        </p:txBody>
      </p:sp>
      <p:sp>
        <p:nvSpPr>
          <p:cNvPr id="21" name="DP2 9001">
            <a:extLst>
              <a:ext uri="{FF2B5EF4-FFF2-40B4-BE49-F238E27FC236}">
                <a16:creationId xmlns:a16="http://schemas.microsoft.com/office/drawing/2014/main" id="{BF099738-C647-467A-8848-BF9CDE6B359C}"/>
              </a:ext>
            </a:extLst>
          </p:cNvPr>
          <p:cNvSpPr/>
          <p:nvPr/>
        </p:nvSpPr>
        <p:spPr>
          <a:xfrm>
            <a:off x="4732488" y="1310897"/>
            <a:ext cx="2889303" cy="361505"/>
          </a:xfrm>
          <a:prstGeom prst="roundRect">
            <a:avLst/>
          </a:prstGeom>
          <a:solidFill>
            <a:schemeClr val="accent2">
              <a:lumMod val="20000"/>
              <a:lumOff val="80000"/>
            </a:schemeClr>
          </a:solidFill>
          <a:ln/>
        </p:spPr>
        <p:style>
          <a:lnRef idx="2">
            <a:schemeClr val="dk1"/>
          </a:lnRef>
          <a:fillRef idx="1">
            <a:schemeClr val="lt1"/>
          </a:fillRef>
          <a:effectRef idx="0">
            <a:schemeClr val="dk1"/>
          </a:effectRef>
          <a:fontRef idx="minor">
            <a:schemeClr val="dk1"/>
          </a:fontRef>
        </p:style>
        <p:txBody>
          <a:bodyPr wrap="square" lIns="27432" tIns="7315" rIns="27432" bIns="7315" anchor="ctr">
            <a:noAutofit/>
          </a:bodyPr>
          <a:lstStyle/>
          <a:p>
            <a:pPr algn="ctr">
              <a:lnSpc>
                <a:spcPct val="120000"/>
              </a:lnSpc>
            </a:pPr>
            <a:r>
              <a:rPr lang="ko-KR" altLang="en-US" sz="1100" b="1" i="0" dirty="0">
                <a:solidFill>
                  <a:srgbClr val="1F3864"/>
                </a:solidFill>
                <a:latin typeface="맑은 고딕" panose="020B0503020000020004" pitchFamily="50" charset="-127"/>
                <a:ea typeface="맑은 고딕" panose="020B0503020000020004" pitchFamily="50" charset="-127"/>
              </a:rPr>
              <a:t>이기종 메모리 활용해서 해결하자</a:t>
            </a:r>
            <a:endParaRPr lang="en-US" altLang="ko-KR" sz="1100" b="1" i="0" dirty="0">
              <a:solidFill>
                <a:schemeClr val="tx1">
                  <a:lumMod val="50000"/>
                  <a:lumOff val="50000"/>
                </a:schemeClr>
              </a:solidFill>
              <a:latin typeface="맑은 고딕" panose="020B0503020000020004" pitchFamily="50" charset="-127"/>
              <a:ea typeface="맑은 고딕" panose="020B0503020000020004" pitchFamily="50" charset="-127"/>
            </a:endParaRPr>
          </a:p>
        </p:txBody>
      </p:sp>
      <p:sp>
        <p:nvSpPr>
          <p:cNvPr id="17" name="직사각형 16"/>
          <p:cNvSpPr/>
          <p:nvPr/>
        </p:nvSpPr>
        <p:spPr>
          <a:xfrm>
            <a:off x="4145280" y="762673"/>
            <a:ext cx="620996" cy="2662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b="1" dirty="0">
                <a:solidFill>
                  <a:schemeClr val="tx1"/>
                </a:solidFill>
              </a:rPr>
              <a:t>문제</a:t>
            </a:r>
            <a:endParaRPr lang="en-US" altLang="ko-KR" sz="1100" b="1" dirty="0">
              <a:solidFill>
                <a:schemeClr val="tx1"/>
              </a:solidFill>
            </a:endParaRPr>
          </a:p>
        </p:txBody>
      </p:sp>
      <p:sp>
        <p:nvSpPr>
          <p:cNvPr id="58" name="직사각형 57"/>
          <p:cNvSpPr/>
          <p:nvPr/>
        </p:nvSpPr>
        <p:spPr>
          <a:xfrm>
            <a:off x="3404455" y="1381408"/>
            <a:ext cx="1361821" cy="2662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b="1" dirty="0">
                <a:solidFill>
                  <a:schemeClr val="tx1"/>
                </a:solidFill>
              </a:rPr>
              <a:t>비즈니스 드라이버</a:t>
            </a:r>
          </a:p>
        </p:txBody>
      </p:sp>
      <p:cxnSp>
        <p:nvCxnSpPr>
          <p:cNvPr id="63" name="직선 화살표 연결선 5"/>
          <p:cNvCxnSpPr>
            <a:stCxn id="21" idx="2"/>
            <a:endCxn id="4" idx="0"/>
          </p:cNvCxnSpPr>
          <p:nvPr/>
        </p:nvCxnSpPr>
        <p:spPr>
          <a:xfrm rot="5400000">
            <a:off x="4451574" y="793832"/>
            <a:ext cx="846996" cy="260413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163213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분석 – Overall Architecture (Module View, 요약)</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4</a:t>
            </a:r>
          </a:p>
        </p:txBody>
      </p:sp>
      <p:sp>
        <p:nvSpPr>
          <p:cNvPr id="4" name="Rectangle 3"/>
          <p:cNvSpPr/>
          <p:nvPr/>
        </p:nvSpPr>
        <p:spPr>
          <a:xfrm>
            <a:off x="274320" y="1261872"/>
            <a:ext cx="9281160" cy="5230368"/>
          </a:xfrm>
          <a:prstGeom prst="rect">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 name="Rectangle 4"/>
          <p:cNvSpPr/>
          <p:nvPr/>
        </p:nvSpPr>
        <p:spPr>
          <a:xfrm>
            <a:off x="274320" y="1097280"/>
            <a:ext cx="2377440" cy="246888"/>
          </a:xfrm>
          <a:prstGeom prst="rect">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000" b="1" dirty="0">
                <a:solidFill>
                  <a:srgbClr val="000000"/>
                </a:solidFill>
                <a:latin typeface="맑은 고딕"/>
                <a:ea typeface="맑은 고딕"/>
                <a:cs typeface="맑은 고딕"/>
              </a:rPr>
              <a:t>이기종 메모리 기반 </a:t>
            </a:r>
            <a:r>
              <a:rPr lang="ko-KR" altLang="en-US" sz="1000" b="1" dirty="0" err="1">
                <a:solidFill>
                  <a:srgbClr val="000000"/>
                </a:solidFill>
                <a:latin typeface="맑은 고딕"/>
                <a:ea typeface="맑은 고딕"/>
                <a:cs typeface="맑은 고딕"/>
              </a:rPr>
              <a:t>서빙</a:t>
            </a:r>
            <a:r>
              <a:rPr lang="ko-KR" altLang="en-US" sz="1000" b="1" dirty="0">
                <a:solidFill>
                  <a:srgbClr val="000000"/>
                </a:solidFill>
                <a:latin typeface="맑은 고딕"/>
                <a:ea typeface="맑은 고딕"/>
                <a:cs typeface="맑은 고딕"/>
              </a:rPr>
              <a:t> 엔진 </a:t>
            </a:r>
            <a:endParaRPr sz="1000" b="1" i="0" dirty="0">
              <a:solidFill>
                <a:srgbClr val="000000"/>
              </a:solidFill>
              <a:latin typeface="맑은 고딕"/>
              <a:ea typeface="맑은 고딕"/>
              <a:cs typeface="맑은 고딕"/>
            </a:endParaRPr>
          </a:p>
        </p:txBody>
      </p:sp>
      <p:sp>
        <p:nvSpPr>
          <p:cNvPr id="6" name="TextBox 5"/>
          <p:cNvSpPr txBox="1"/>
          <p:nvPr/>
        </p:nvSpPr>
        <p:spPr>
          <a:xfrm>
            <a:off x="274320" y="640080"/>
            <a:ext cx="9326880" cy="175433"/>
          </a:xfrm>
          <a:prstGeom prst="rect">
            <a:avLst/>
          </a:prstGeom>
          <a:noFill/>
        </p:spPr>
        <p:txBody>
          <a:bodyPr wrap="square" lIns="36576" tIns="18288" rIns="36576" bIns="18288" anchor="t">
            <a:spAutoFit/>
          </a:bodyPr>
          <a:lstStyle/>
          <a:p>
            <a:pPr algn="l">
              <a:spcAft>
                <a:spcPts val="0"/>
              </a:spcAft>
            </a:pPr>
            <a:r>
              <a:rPr sz="900" b="0" i="0" dirty="0" err="1">
                <a:solidFill>
                  <a:srgbClr val="595959"/>
                </a:solidFill>
                <a:latin typeface="맑은 고딕"/>
                <a:ea typeface="맑은 고딕"/>
                <a:cs typeface="맑은 고딕"/>
              </a:rPr>
              <a:t>전체</a:t>
            </a:r>
            <a:r>
              <a:rPr sz="900" b="0" i="0" dirty="0">
                <a:solidFill>
                  <a:srgbClr val="595959"/>
                </a:solidFill>
                <a:latin typeface="맑은 고딕"/>
                <a:ea typeface="맑은 고딕"/>
                <a:cs typeface="맑은 고딕"/>
              </a:rPr>
              <a:t> Overall Architecture – </a:t>
            </a:r>
            <a:r>
              <a:rPr sz="900" b="0" i="0" dirty="0" err="1">
                <a:solidFill>
                  <a:srgbClr val="595959"/>
                </a:solidFill>
                <a:latin typeface="맑은 고딕"/>
                <a:ea typeface="맑은 고딕"/>
                <a:cs typeface="맑은 고딕"/>
              </a:rPr>
              <a:t>패키지와</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핵심</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모듈</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상세</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모듈은</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설계</a:t>
            </a:r>
            <a:r>
              <a:rPr sz="900" b="0" i="0" dirty="0">
                <a:solidFill>
                  <a:srgbClr val="595959"/>
                </a:solidFill>
                <a:latin typeface="맑은 고딕"/>
                <a:ea typeface="맑은 고딕"/>
                <a:cs typeface="맑은 고딕"/>
              </a:rPr>
              <a:t>/</a:t>
            </a:r>
            <a:r>
              <a:rPr sz="900" b="0" i="0" dirty="0" err="1">
                <a:solidFill>
                  <a:srgbClr val="595959"/>
                </a:solidFill>
                <a:latin typeface="맑은 고딕"/>
                <a:ea typeface="맑은 고딕"/>
                <a:cs typeface="맑은 고딕"/>
              </a:rPr>
              <a:t>구현</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단계의</a:t>
            </a:r>
            <a:r>
              <a:rPr sz="900" b="0" i="0" dirty="0">
                <a:solidFill>
                  <a:srgbClr val="595959"/>
                </a:solidFill>
                <a:latin typeface="맑은 고딕"/>
                <a:ea typeface="맑은 고딕"/>
                <a:cs typeface="맑은 고딕"/>
              </a:rPr>
              <a:t> Module View </a:t>
            </a:r>
            <a:r>
              <a:rPr sz="900" b="0" i="0" dirty="0" err="1">
                <a:solidFill>
                  <a:srgbClr val="595959"/>
                </a:solidFill>
                <a:latin typeface="맑은 고딕"/>
                <a:ea typeface="맑은 고딕"/>
                <a:cs typeface="맑은 고딕"/>
              </a:rPr>
              <a:t>참조</a:t>
            </a:r>
            <a:r>
              <a:rPr sz="900" b="0" i="0" dirty="0">
                <a:solidFill>
                  <a:srgbClr val="595959"/>
                </a:solidFill>
                <a:latin typeface="맑은 고딕"/>
                <a:ea typeface="맑은 고딕"/>
                <a:cs typeface="맑은 고딕"/>
              </a:rPr>
              <a:t>)</a:t>
            </a:r>
            <a:r>
              <a:rPr lang="en-US" sz="900" b="0" i="0" dirty="0">
                <a:solidFill>
                  <a:srgbClr val="595959"/>
                </a:solidFill>
                <a:latin typeface="맑은 고딕"/>
                <a:ea typeface="맑은 고딕"/>
                <a:cs typeface="맑은 고딕"/>
              </a:rPr>
              <a:t> </a:t>
            </a:r>
            <a:endParaRPr sz="900" b="0" i="0" dirty="0">
              <a:solidFill>
                <a:srgbClr val="595959"/>
              </a:solidFill>
              <a:latin typeface="맑은 고딕"/>
              <a:ea typeface="맑은 고딕"/>
              <a:cs typeface="맑은 고딕"/>
            </a:endParaRPr>
          </a:p>
        </p:txBody>
      </p:sp>
      <p:sp>
        <p:nvSpPr>
          <p:cNvPr id="7" name="Rectangle 6"/>
          <p:cNvSpPr/>
          <p:nvPr/>
        </p:nvSpPr>
        <p:spPr>
          <a:xfrm>
            <a:off x="365760" y="1481328"/>
            <a:ext cx="1417320" cy="118872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Rectangle 7"/>
          <p:cNvSpPr/>
          <p:nvPr/>
        </p:nvSpPr>
        <p:spPr>
          <a:xfrm>
            <a:off x="365760" y="1389888"/>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9" name="TextBox 8"/>
          <p:cNvSpPr txBox="1"/>
          <p:nvPr/>
        </p:nvSpPr>
        <p:spPr>
          <a:xfrm>
            <a:off x="365760" y="1512483"/>
            <a:ext cx="1417320" cy="175433"/>
          </a:xfrm>
          <a:prstGeom prst="rect">
            <a:avLst/>
          </a:prstGeom>
          <a:noFill/>
        </p:spPr>
        <p:txBody>
          <a:bodyPr wrap="square" lIns="0" tIns="18288" rIns="0" bIns="18288" anchor="ctr">
            <a:spAutoFit/>
          </a:bodyPr>
          <a:lstStyle/>
          <a:p>
            <a:pPr algn="ctr">
              <a:spcAft>
                <a:spcPts val="0"/>
              </a:spcAft>
            </a:pPr>
            <a:r>
              <a:rPr sz="900" b="1" i="0">
                <a:solidFill>
                  <a:srgbClr val="000000"/>
                </a:solidFill>
                <a:latin typeface="맑은 고딕"/>
                <a:ea typeface="맑은 고딕"/>
                <a:cs typeface="맑은 고딕"/>
              </a:rPr>
              <a:t>Input</a:t>
            </a:r>
          </a:p>
        </p:txBody>
      </p:sp>
      <p:sp>
        <p:nvSpPr>
          <p:cNvPr id="10" name="Rectangle 9"/>
          <p:cNvSpPr/>
          <p:nvPr/>
        </p:nvSpPr>
        <p:spPr>
          <a:xfrm>
            <a:off x="429768" y="1828800"/>
            <a:ext cx="1280160" cy="32004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User Query Manager</a:t>
            </a:r>
          </a:p>
        </p:txBody>
      </p:sp>
      <p:sp>
        <p:nvSpPr>
          <p:cNvPr id="11" name="Rectangle 10"/>
          <p:cNvSpPr/>
          <p:nvPr/>
        </p:nvSpPr>
        <p:spPr>
          <a:xfrm>
            <a:off x="429768" y="2240280"/>
            <a:ext cx="1280160" cy="32004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Query History Manager</a:t>
            </a:r>
          </a:p>
        </p:txBody>
      </p:sp>
      <p:sp>
        <p:nvSpPr>
          <p:cNvPr id="12" name="Rectangle 11"/>
          <p:cNvSpPr/>
          <p:nvPr/>
        </p:nvSpPr>
        <p:spPr>
          <a:xfrm>
            <a:off x="1920240" y="1481328"/>
            <a:ext cx="6172200" cy="118872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3" name="Rectangle 12"/>
          <p:cNvSpPr/>
          <p:nvPr/>
        </p:nvSpPr>
        <p:spPr>
          <a:xfrm>
            <a:off x="1920240" y="1389888"/>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4" name="TextBox 13"/>
          <p:cNvSpPr txBox="1"/>
          <p:nvPr/>
        </p:nvSpPr>
        <p:spPr>
          <a:xfrm>
            <a:off x="1920240" y="1512483"/>
            <a:ext cx="6172200" cy="175433"/>
          </a:xfrm>
          <a:prstGeom prst="rect">
            <a:avLst/>
          </a:prstGeom>
          <a:noFill/>
        </p:spPr>
        <p:txBody>
          <a:bodyPr wrap="square" lIns="0" tIns="18288" rIns="0" bIns="18288" anchor="ctr">
            <a:spAutoFit/>
          </a:bodyPr>
          <a:lstStyle/>
          <a:p>
            <a:pPr algn="ctr">
              <a:spcAft>
                <a:spcPts val="0"/>
              </a:spcAft>
            </a:pPr>
            <a:r>
              <a:rPr sz="900" b="1" i="0" dirty="0">
                <a:solidFill>
                  <a:srgbClr val="000000"/>
                </a:solidFill>
                <a:latin typeface="맑은 고딕"/>
                <a:ea typeface="맑은 고딕"/>
                <a:cs typeface="맑은 고딕"/>
              </a:rPr>
              <a:t>Request </a:t>
            </a:r>
            <a:r>
              <a:rPr sz="900" b="1" i="0" dirty="0" smtClean="0">
                <a:solidFill>
                  <a:srgbClr val="000000"/>
                </a:solidFill>
                <a:latin typeface="맑은 고딕"/>
                <a:ea typeface="맑은 고딕"/>
                <a:cs typeface="맑은 고딕"/>
              </a:rPr>
              <a:t>Orchestrator</a:t>
            </a:r>
            <a:r>
              <a:rPr lang="en-US" sz="900" b="1" i="0" dirty="0" smtClean="0">
                <a:solidFill>
                  <a:srgbClr val="000000"/>
                </a:solidFill>
                <a:latin typeface="맑은 고딕"/>
                <a:ea typeface="맑은 고딕"/>
                <a:cs typeface="맑은 고딕"/>
              </a:rPr>
              <a:t> (</a:t>
            </a:r>
            <a:r>
              <a:rPr lang="en-US" sz="900" b="1" i="0" dirty="0" err="1" smtClean="0">
                <a:solidFill>
                  <a:srgbClr val="000000"/>
                </a:solidFill>
                <a:latin typeface="맑은 고딕"/>
                <a:ea typeface="맑은 고딕"/>
                <a:cs typeface="맑은 고딕"/>
              </a:rPr>
              <a:t>llm</a:t>
            </a:r>
            <a:r>
              <a:rPr lang="en-US" sz="900" b="1" i="0" dirty="0" smtClean="0">
                <a:solidFill>
                  <a:srgbClr val="000000"/>
                </a:solidFill>
                <a:latin typeface="맑은 고딕"/>
                <a:ea typeface="맑은 고딕"/>
                <a:cs typeface="맑은 고딕"/>
              </a:rPr>
              <a:t>-d)</a:t>
            </a:r>
            <a:endParaRPr sz="900" b="1" i="0" dirty="0">
              <a:solidFill>
                <a:srgbClr val="000000"/>
              </a:solidFill>
              <a:latin typeface="맑은 고딕"/>
              <a:ea typeface="맑은 고딕"/>
              <a:cs typeface="맑은 고딕"/>
            </a:endParaRPr>
          </a:p>
        </p:txBody>
      </p:sp>
      <p:sp>
        <p:nvSpPr>
          <p:cNvPr id="15" name="Rectangle 14"/>
          <p:cNvSpPr/>
          <p:nvPr/>
        </p:nvSpPr>
        <p:spPr>
          <a:xfrm>
            <a:off x="2011680" y="1874519"/>
            <a:ext cx="109728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Request</a:t>
            </a:r>
          </a:p>
          <a:p>
            <a:pPr algn="ctr">
              <a:spcAft>
                <a:spcPts val="0"/>
              </a:spcAft>
            </a:pPr>
            <a:r>
              <a:rPr sz="800" b="0" i="0">
                <a:solidFill>
                  <a:srgbClr val="000000"/>
                </a:solidFill>
                <a:latin typeface="맑은 고딕"/>
                <a:ea typeface="맑은 고딕"/>
                <a:cs typeface="맑은 고딕"/>
              </a:rPr>
              <a:t>Scheduler</a:t>
            </a:r>
          </a:p>
        </p:txBody>
      </p:sp>
      <p:sp>
        <p:nvSpPr>
          <p:cNvPr id="16" name="Rectangle 15"/>
          <p:cNvSpPr/>
          <p:nvPr/>
        </p:nvSpPr>
        <p:spPr>
          <a:xfrm>
            <a:off x="3200400" y="1874519"/>
            <a:ext cx="1097280" cy="502920"/>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Prefill/Decode</a:t>
            </a:r>
          </a:p>
          <a:p>
            <a:pPr algn="ctr">
              <a:spcAft>
                <a:spcPts val="0"/>
              </a:spcAft>
            </a:pPr>
            <a:r>
              <a:rPr sz="800" b="0" i="0">
                <a:solidFill>
                  <a:srgbClr val="000000"/>
                </a:solidFill>
                <a:latin typeface="맑은 고딕"/>
                <a:ea typeface="맑은 고딕"/>
                <a:cs typeface="맑은 고딕"/>
              </a:rPr>
              <a:t>Execution Planner</a:t>
            </a:r>
          </a:p>
        </p:txBody>
      </p:sp>
      <p:sp>
        <p:nvSpPr>
          <p:cNvPr id="17" name="Rectangle 16"/>
          <p:cNvSpPr/>
          <p:nvPr/>
        </p:nvSpPr>
        <p:spPr>
          <a:xfrm>
            <a:off x="4389120" y="1874519"/>
            <a:ext cx="109728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Router</a:t>
            </a:r>
          </a:p>
        </p:txBody>
      </p:sp>
      <p:sp>
        <p:nvSpPr>
          <p:cNvPr id="18" name="Rectangle 17"/>
          <p:cNvSpPr/>
          <p:nvPr/>
        </p:nvSpPr>
        <p:spPr>
          <a:xfrm>
            <a:off x="5577840" y="1874519"/>
            <a:ext cx="1097280" cy="502920"/>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KV State</a:t>
            </a:r>
          </a:p>
          <a:p>
            <a:pPr algn="ctr">
              <a:spcAft>
                <a:spcPts val="0"/>
              </a:spcAft>
            </a:pPr>
            <a:r>
              <a:rPr sz="800" b="0" i="0">
                <a:solidFill>
                  <a:srgbClr val="000000"/>
                </a:solidFill>
                <a:latin typeface="맑은 고딕"/>
                <a:ea typeface="맑은 고딕"/>
                <a:cs typeface="맑은 고딕"/>
              </a:rPr>
              <a:t>Monitor</a:t>
            </a:r>
          </a:p>
        </p:txBody>
      </p:sp>
      <p:sp>
        <p:nvSpPr>
          <p:cNvPr id="19" name="Rectangle 18"/>
          <p:cNvSpPr/>
          <p:nvPr/>
        </p:nvSpPr>
        <p:spPr>
          <a:xfrm>
            <a:off x="6766560" y="1874519"/>
            <a:ext cx="1097280" cy="502920"/>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Cost Evaluator</a:t>
            </a:r>
          </a:p>
        </p:txBody>
      </p:sp>
      <p:sp>
        <p:nvSpPr>
          <p:cNvPr id="20" name="Rectangle 19"/>
          <p:cNvSpPr/>
          <p:nvPr/>
        </p:nvSpPr>
        <p:spPr>
          <a:xfrm>
            <a:off x="365760" y="2880360"/>
            <a:ext cx="1417320" cy="3520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ectangle 20"/>
          <p:cNvSpPr/>
          <p:nvPr/>
        </p:nvSpPr>
        <p:spPr>
          <a:xfrm>
            <a:off x="365760" y="2788920"/>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2" name="TextBox 21"/>
          <p:cNvSpPr txBox="1"/>
          <p:nvPr/>
        </p:nvSpPr>
        <p:spPr>
          <a:xfrm>
            <a:off x="365760" y="2911514"/>
            <a:ext cx="1417320" cy="175433"/>
          </a:xfrm>
          <a:prstGeom prst="rect">
            <a:avLst/>
          </a:prstGeom>
          <a:noFill/>
        </p:spPr>
        <p:txBody>
          <a:bodyPr wrap="square" lIns="0" tIns="18288" rIns="0" bIns="18288" anchor="ctr">
            <a:spAutoFit/>
          </a:bodyPr>
          <a:lstStyle/>
          <a:p>
            <a:pPr algn="ctr">
              <a:spcAft>
                <a:spcPts val="0"/>
              </a:spcAft>
            </a:pPr>
            <a:r>
              <a:rPr sz="900" b="1" i="0">
                <a:solidFill>
                  <a:srgbClr val="000000"/>
                </a:solidFill>
                <a:latin typeface="맑은 고딕"/>
                <a:ea typeface="맑은 고딕"/>
                <a:cs typeface="맑은 고딕"/>
              </a:rPr>
              <a:t>KV Pool</a:t>
            </a:r>
          </a:p>
        </p:txBody>
      </p:sp>
      <p:sp>
        <p:nvSpPr>
          <p:cNvPr id="23" name="Rectangle 22"/>
          <p:cNvSpPr/>
          <p:nvPr/>
        </p:nvSpPr>
        <p:spPr>
          <a:xfrm>
            <a:off x="429768" y="3291840"/>
            <a:ext cx="1280160" cy="59436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KV Compressor</a:t>
            </a:r>
          </a:p>
        </p:txBody>
      </p:sp>
      <p:sp>
        <p:nvSpPr>
          <p:cNvPr id="24" name="Rectangle 23"/>
          <p:cNvSpPr/>
          <p:nvPr/>
        </p:nvSpPr>
        <p:spPr>
          <a:xfrm>
            <a:off x="429768" y="4160520"/>
            <a:ext cx="1280160" cy="59436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Blending Manager</a:t>
            </a:r>
          </a:p>
        </p:txBody>
      </p:sp>
      <p:sp>
        <p:nvSpPr>
          <p:cNvPr id="25" name="Rectangle 24"/>
          <p:cNvSpPr/>
          <p:nvPr/>
        </p:nvSpPr>
        <p:spPr>
          <a:xfrm>
            <a:off x="429768" y="5029200"/>
            <a:ext cx="1280160" cy="59436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KV Index Manager</a:t>
            </a:r>
          </a:p>
        </p:txBody>
      </p:sp>
      <p:sp>
        <p:nvSpPr>
          <p:cNvPr id="26" name="Rectangle 25"/>
          <p:cNvSpPr/>
          <p:nvPr/>
        </p:nvSpPr>
        <p:spPr>
          <a:xfrm>
            <a:off x="1920240" y="2880360"/>
            <a:ext cx="6172200" cy="3520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7" name="Rectangle 26"/>
          <p:cNvSpPr/>
          <p:nvPr/>
        </p:nvSpPr>
        <p:spPr>
          <a:xfrm>
            <a:off x="1920240" y="2788920"/>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8" name="TextBox 27"/>
          <p:cNvSpPr txBox="1"/>
          <p:nvPr/>
        </p:nvSpPr>
        <p:spPr>
          <a:xfrm>
            <a:off x="1920240" y="2911514"/>
            <a:ext cx="6172200" cy="175433"/>
          </a:xfrm>
          <a:prstGeom prst="rect">
            <a:avLst/>
          </a:prstGeom>
          <a:noFill/>
        </p:spPr>
        <p:txBody>
          <a:bodyPr wrap="square" lIns="0" tIns="18288" rIns="0" bIns="18288" anchor="ctr">
            <a:spAutoFit/>
          </a:bodyPr>
          <a:lstStyle/>
          <a:p>
            <a:pPr algn="ctr">
              <a:spcAft>
                <a:spcPts val="0"/>
              </a:spcAft>
            </a:pPr>
            <a:r>
              <a:rPr sz="900" b="1" i="0" dirty="0">
                <a:solidFill>
                  <a:srgbClr val="000000"/>
                </a:solidFill>
                <a:latin typeface="맑은 고딕"/>
                <a:ea typeface="맑은 고딕"/>
                <a:cs typeface="맑은 고딕"/>
              </a:rPr>
              <a:t>Inference </a:t>
            </a:r>
            <a:r>
              <a:rPr sz="900" b="1" i="0" dirty="0" smtClean="0">
                <a:solidFill>
                  <a:srgbClr val="000000"/>
                </a:solidFill>
                <a:latin typeface="맑은 고딕"/>
                <a:ea typeface="맑은 고딕"/>
                <a:cs typeface="맑은 고딕"/>
              </a:rPr>
              <a:t>Engine</a:t>
            </a:r>
            <a:r>
              <a:rPr lang="en-US" sz="900" b="1" i="0" dirty="0" smtClean="0">
                <a:solidFill>
                  <a:srgbClr val="000000"/>
                </a:solidFill>
                <a:latin typeface="맑은 고딕"/>
                <a:ea typeface="맑은 고딕"/>
                <a:cs typeface="맑은 고딕"/>
              </a:rPr>
              <a:t> (</a:t>
            </a:r>
            <a:r>
              <a:rPr lang="en-US" sz="900" b="1" i="0" dirty="0" err="1" smtClean="0">
                <a:solidFill>
                  <a:srgbClr val="000000"/>
                </a:solidFill>
                <a:latin typeface="맑은 고딕"/>
                <a:ea typeface="맑은 고딕"/>
                <a:cs typeface="맑은 고딕"/>
              </a:rPr>
              <a:t>vLLM</a:t>
            </a:r>
            <a:r>
              <a:rPr lang="en-US" sz="900" b="1" dirty="0">
                <a:solidFill>
                  <a:srgbClr val="000000"/>
                </a:solidFill>
                <a:latin typeface="맑은 고딕"/>
                <a:ea typeface="맑은 고딕"/>
                <a:cs typeface="맑은 고딕"/>
              </a:rPr>
              <a:t>)</a:t>
            </a:r>
            <a:endParaRPr sz="900" b="1" i="0" dirty="0">
              <a:solidFill>
                <a:srgbClr val="000000"/>
              </a:solidFill>
              <a:latin typeface="맑은 고딕"/>
              <a:ea typeface="맑은 고딕"/>
              <a:cs typeface="맑은 고딕"/>
            </a:endParaRPr>
          </a:p>
        </p:txBody>
      </p:sp>
      <p:sp>
        <p:nvSpPr>
          <p:cNvPr id="29" name="Rectangle 28"/>
          <p:cNvSpPr/>
          <p:nvPr/>
        </p:nvSpPr>
        <p:spPr>
          <a:xfrm>
            <a:off x="2011680" y="3200400"/>
            <a:ext cx="1097280" cy="310896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0" name="Rectangle 29"/>
          <p:cNvSpPr/>
          <p:nvPr/>
        </p:nvSpPr>
        <p:spPr>
          <a:xfrm>
            <a:off x="2011680" y="310896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TextBox 30"/>
          <p:cNvSpPr txBox="1"/>
          <p:nvPr/>
        </p:nvSpPr>
        <p:spPr>
          <a:xfrm>
            <a:off x="2011680" y="3222411"/>
            <a:ext cx="1097280" cy="175433"/>
          </a:xfrm>
          <a:prstGeom prst="rect">
            <a:avLst/>
          </a:prstGeom>
          <a:noFill/>
        </p:spPr>
        <p:txBody>
          <a:bodyPr wrap="square" lIns="0" tIns="18288" rIns="0" bIns="18288" anchor="ctr">
            <a:spAutoFit/>
          </a:bodyPr>
          <a:lstStyle/>
          <a:p>
            <a:pPr algn="ctr">
              <a:spcAft>
                <a:spcPts val="0"/>
              </a:spcAft>
            </a:pPr>
            <a:r>
              <a:rPr sz="900" b="1" i="0">
                <a:solidFill>
                  <a:srgbClr val="000000"/>
                </a:solidFill>
                <a:latin typeface="맑은 고딕"/>
                <a:ea typeface="맑은 고딕"/>
                <a:cs typeface="맑은 고딕"/>
              </a:rPr>
              <a:t>Generation</a:t>
            </a:r>
          </a:p>
        </p:txBody>
      </p:sp>
      <p:sp>
        <p:nvSpPr>
          <p:cNvPr id="32" name="Rectangle 31"/>
          <p:cNvSpPr/>
          <p:nvPr/>
        </p:nvSpPr>
        <p:spPr>
          <a:xfrm>
            <a:off x="2075688" y="3520440"/>
            <a:ext cx="969264"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Scheduler</a:t>
            </a:r>
          </a:p>
        </p:txBody>
      </p:sp>
      <p:sp>
        <p:nvSpPr>
          <p:cNvPr id="33" name="Rectangle 32"/>
          <p:cNvSpPr/>
          <p:nvPr/>
        </p:nvSpPr>
        <p:spPr>
          <a:xfrm>
            <a:off x="2075688" y="4206240"/>
            <a:ext cx="969264"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Engine Core</a:t>
            </a:r>
          </a:p>
        </p:txBody>
      </p:sp>
      <p:sp>
        <p:nvSpPr>
          <p:cNvPr id="34" name="Rectangle 33"/>
          <p:cNvSpPr/>
          <p:nvPr/>
        </p:nvSpPr>
        <p:spPr>
          <a:xfrm>
            <a:off x="2075688" y="4892040"/>
            <a:ext cx="969264" cy="502920"/>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Executor</a:t>
            </a:r>
          </a:p>
        </p:txBody>
      </p:sp>
      <p:sp>
        <p:nvSpPr>
          <p:cNvPr id="35" name="Rectangle 34"/>
          <p:cNvSpPr/>
          <p:nvPr/>
        </p:nvSpPr>
        <p:spPr>
          <a:xfrm>
            <a:off x="2075688" y="5577840"/>
            <a:ext cx="969264"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Input/Output</a:t>
            </a:r>
          </a:p>
          <a:p>
            <a:pPr algn="ctr">
              <a:spcAft>
                <a:spcPts val="0"/>
              </a:spcAft>
            </a:pPr>
            <a:r>
              <a:rPr sz="800" b="0" i="0">
                <a:solidFill>
                  <a:srgbClr val="000000"/>
                </a:solidFill>
                <a:latin typeface="맑은 고딕"/>
                <a:ea typeface="맑은 고딕"/>
                <a:cs typeface="맑은 고딕"/>
              </a:rPr>
              <a:t>Processor</a:t>
            </a:r>
          </a:p>
        </p:txBody>
      </p:sp>
      <p:sp>
        <p:nvSpPr>
          <p:cNvPr id="36" name="Rectangle 35"/>
          <p:cNvSpPr/>
          <p:nvPr/>
        </p:nvSpPr>
        <p:spPr>
          <a:xfrm>
            <a:off x="3200400" y="3200400"/>
            <a:ext cx="1097280" cy="310896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7" name="Rectangle 36"/>
          <p:cNvSpPr/>
          <p:nvPr/>
        </p:nvSpPr>
        <p:spPr>
          <a:xfrm>
            <a:off x="3200400" y="310896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8" name="TextBox 37"/>
          <p:cNvSpPr txBox="1"/>
          <p:nvPr/>
        </p:nvSpPr>
        <p:spPr>
          <a:xfrm>
            <a:off x="3200400" y="3168551"/>
            <a:ext cx="1097280" cy="283154"/>
          </a:xfrm>
          <a:prstGeom prst="rect">
            <a:avLst/>
          </a:prstGeom>
          <a:noFill/>
        </p:spPr>
        <p:txBody>
          <a:bodyPr wrap="square" lIns="0" tIns="18288" rIns="0" bIns="18288" anchor="ctr">
            <a:spAutoFit/>
          </a:bodyPr>
          <a:lstStyle/>
          <a:p>
            <a:pPr algn="ctr">
              <a:spcAft>
                <a:spcPts val="0"/>
              </a:spcAft>
            </a:pPr>
            <a:r>
              <a:rPr sz="800" b="1" i="0" dirty="0">
                <a:solidFill>
                  <a:srgbClr val="000000"/>
                </a:solidFill>
                <a:latin typeface="맑은 고딕"/>
                <a:ea typeface="맑은 고딕"/>
                <a:cs typeface="맑은 고딕"/>
              </a:rPr>
              <a:t>Compute </a:t>
            </a:r>
            <a:endParaRPr lang="en-US" sz="800" b="1" i="0" dirty="0">
              <a:solidFill>
                <a:srgbClr val="000000"/>
              </a:solidFill>
              <a:latin typeface="맑은 고딕"/>
              <a:ea typeface="맑은 고딕"/>
              <a:cs typeface="맑은 고딕"/>
            </a:endParaRPr>
          </a:p>
          <a:p>
            <a:pPr algn="ctr">
              <a:spcAft>
                <a:spcPts val="0"/>
              </a:spcAft>
            </a:pPr>
            <a:r>
              <a:rPr sz="800" b="1" i="0" dirty="0">
                <a:solidFill>
                  <a:srgbClr val="000000"/>
                </a:solidFill>
                <a:latin typeface="맑은 고딕"/>
                <a:ea typeface="맑은 고딕"/>
                <a:cs typeface="맑은 고딕"/>
              </a:rPr>
              <a:t>Management</a:t>
            </a:r>
          </a:p>
        </p:txBody>
      </p:sp>
      <p:sp>
        <p:nvSpPr>
          <p:cNvPr id="39" name="Rectangle 38"/>
          <p:cNvSpPr/>
          <p:nvPr/>
        </p:nvSpPr>
        <p:spPr>
          <a:xfrm>
            <a:off x="3264408" y="3520440"/>
            <a:ext cx="969264"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Worker</a:t>
            </a:r>
          </a:p>
        </p:txBody>
      </p:sp>
      <p:sp>
        <p:nvSpPr>
          <p:cNvPr id="40" name="Rectangle 39"/>
          <p:cNvSpPr/>
          <p:nvPr/>
        </p:nvSpPr>
        <p:spPr>
          <a:xfrm>
            <a:off x="3264408" y="4206240"/>
            <a:ext cx="969264"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Model Runner</a:t>
            </a:r>
          </a:p>
        </p:txBody>
      </p:sp>
      <p:sp>
        <p:nvSpPr>
          <p:cNvPr id="41" name="Rectangle 40"/>
          <p:cNvSpPr/>
          <p:nvPr/>
        </p:nvSpPr>
        <p:spPr>
          <a:xfrm>
            <a:off x="3264408" y="4892040"/>
            <a:ext cx="969264" cy="50292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Attention Backend</a:t>
            </a:r>
          </a:p>
        </p:txBody>
      </p:sp>
      <p:sp>
        <p:nvSpPr>
          <p:cNvPr id="42" name="Rectangle 41"/>
          <p:cNvSpPr/>
          <p:nvPr/>
        </p:nvSpPr>
        <p:spPr>
          <a:xfrm>
            <a:off x="3264408" y="5577840"/>
            <a:ext cx="969264"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Custom Operator</a:t>
            </a:r>
          </a:p>
        </p:txBody>
      </p:sp>
      <p:sp>
        <p:nvSpPr>
          <p:cNvPr id="43" name="Rectangle 42"/>
          <p:cNvSpPr/>
          <p:nvPr/>
        </p:nvSpPr>
        <p:spPr>
          <a:xfrm>
            <a:off x="4389120" y="3200400"/>
            <a:ext cx="2286000" cy="310896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4" name="Rectangle 43"/>
          <p:cNvSpPr/>
          <p:nvPr/>
        </p:nvSpPr>
        <p:spPr>
          <a:xfrm>
            <a:off x="4389120" y="310896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5" name="TextBox 44"/>
          <p:cNvSpPr txBox="1"/>
          <p:nvPr/>
        </p:nvSpPr>
        <p:spPr>
          <a:xfrm>
            <a:off x="4389120" y="3222411"/>
            <a:ext cx="2286000" cy="175433"/>
          </a:xfrm>
          <a:prstGeom prst="rect">
            <a:avLst/>
          </a:prstGeom>
          <a:noFill/>
        </p:spPr>
        <p:txBody>
          <a:bodyPr wrap="square" lIns="0" tIns="18288" rIns="0" bIns="18288" anchor="ctr">
            <a:spAutoFit/>
          </a:bodyPr>
          <a:lstStyle/>
          <a:p>
            <a:pPr algn="ctr">
              <a:spcAft>
                <a:spcPts val="0"/>
              </a:spcAft>
            </a:pPr>
            <a:r>
              <a:rPr sz="900" b="1" i="0">
                <a:solidFill>
                  <a:srgbClr val="000000"/>
                </a:solidFill>
                <a:latin typeface="맑은 고딕"/>
                <a:ea typeface="맑은 고딕"/>
                <a:cs typeface="맑은 고딕"/>
              </a:rPr>
              <a:t>Data Management</a:t>
            </a:r>
          </a:p>
        </p:txBody>
      </p:sp>
      <p:sp>
        <p:nvSpPr>
          <p:cNvPr id="46" name="Rectangle 45"/>
          <p:cNvSpPr/>
          <p:nvPr/>
        </p:nvSpPr>
        <p:spPr>
          <a:xfrm>
            <a:off x="4453128" y="3520440"/>
            <a:ext cx="1005840"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Data Migration</a:t>
            </a:r>
          </a:p>
          <a:p>
            <a:pPr algn="ctr">
              <a:spcAft>
                <a:spcPts val="0"/>
              </a:spcAft>
            </a:pPr>
            <a:r>
              <a:rPr sz="800" b="0" i="0">
                <a:solidFill>
                  <a:srgbClr val="000000"/>
                </a:solidFill>
                <a:latin typeface="맑은 고딕"/>
                <a:ea typeface="맑은 고딕"/>
                <a:cs typeface="맑은 고딕"/>
              </a:rPr>
              <a:t>Scheduler</a:t>
            </a:r>
          </a:p>
        </p:txBody>
      </p:sp>
      <p:sp>
        <p:nvSpPr>
          <p:cNvPr id="47" name="Rectangle 46"/>
          <p:cNvSpPr/>
          <p:nvPr/>
        </p:nvSpPr>
        <p:spPr>
          <a:xfrm>
            <a:off x="4453128" y="4206240"/>
            <a:ext cx="1005840"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Data Behavior</a:t>
            </a:r>
          </a:p>
          <a:p>
            <a:pPr algn="ctr">
              <a:spcAft>
                <a:spcPts val="0"/>
              </a:spcAft>
            </a:pPr>
            <a:r>
              <a:rPr sz="800" b="0" i="0">
                <a:solidFill>
                  <a:srgbClr val="000000"/>
                </a:solidFill>
                <a:latin typeface="맑은 고딕"/>
                <a:ea typeface="맑은 고딕"/>
                <a:cs typeface="맑은 고딕"/>
              </a:rPr>
              <a:t>Monitor</a:t>
            </a:r>
          </a:p>
        </p:txBody>
      </p:sp>
      <p:sp>
        <p:nvSpPr>
          <p:cNvPr id="48" name="Rectangle 47"/>
          <p:cNvSpPr/>
          <p:nvPr/>
        </p:nvSpPr>
        <p:spPr>
          <a:xfrm>
            <a:off x="4453128" y="4892040"/>
            <a:ext cx="1005840"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Data Eviction</a:t>
            </a:r>
          </a:p>
          <a:p>
            <a:pPr algn="ctr">
              <a:spcAft>
                <a:spcPts val="0"/>
              </a:spcAft>
            </a:pPr>
            <a:r>
              <a:rPr sz="800" b="0" i="0">
                <a:solidFill>
                  <a:srgbClr val="000000"/>
                </a:solidFill>
                <a:latin typeface="맑은 고딕"/>
                <a:ea typeface="맑은 고딕"/>
                <a:cs typeface="맑은 고딕"/>
              </a:rPr>
              <a:t>Manager</a:t>
            </a:r>
          </a:p>
        </p:txBody>
      </p:sp>
      <p:sp>
        <p:nvSpPr>
          <p:cNvPr id="49" name="Rectangle 48"/>
          <p:cNvSpPr/>
          <p:nvPr/>
        </p:nvSpPr>
        <p:spPr>
          <a:xfrm>
            <a:off x="4453128" y="5577840"/>
            <a:ext cx="1005840"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Data Object</a:t>
            </a:r>
          </a:p>
          <a:p>
            <a:pPr algn="ctr">
              <a:spcAft>
                <a:spcPts val="0"/>
              </a:spcAft>
            </a:pPr>
            <a:r>
              <a:rPr sz="800" b="0" i="0">
                <a:solidFill>
                  <a:srgbClr val="000000"/>
                </a:solidFill>
                <a:latin typeface="맑은 고딕"/>
                <a:ea typeface="맑은 고딕"/>
                <a:cs typeface="맑은 고딕"/>
              </a:rPr>
              <a:t>Registry</a:t>
            </a:r>
          </a:p>
        </p:txBody>
      </p:sp>
      <p:sp>
        <p:nvSpPr>
          <p:cNvPr id="50" name="Rectangle 49"/>
          <p:cNvSpPr/>
          <p:nvPr/>
        </p:nvSpPr>
        <p:spPr>
          <a:xfrm>
            <a:off x="5577840" y="3520440"/>
            <a:ext cx="1033271"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KV Cache</a:t>
            </a:r>
          </a:p>
          <a:p>
            <a:pPr algn="ctr">
              <a:spcAft>
                <a:spcPts val="0"/>
              </a:spcAft>
            </a:pPr>
            <a:r>
              <a:rPr sz="800" b="0" i="0">
                <a:solidFill>
                  <a:srgbClr val="000000"/>
                </a:solidFill>
                <a:latin typeface="맑은 고딕"/>
                <a:ea typeface="맑은 고딕"/>
                <a:cs typeface="맑은 고딕"/>
              </a:rPr>
              <a:t>Manager</a:t>
            </a:r>
          </a:p>
        </p:txBody>
      </p:sp>
      <p:sp>
        <p:nvSpPr>
          <p:cNvPr id="51" name="Rectangle 50"/>
          <p:cNvSpPr/>
          <p:nvPr/>
        </p:nvSpPr>
        <p:spPr>
          <a:xfrm>
            <a:off x="5577840" y="4206240"/>
            <a:ext cx="1033271"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Expert Manager</a:t>
            </a:r>
          </a:p>
        </p:txBody>
      </p:sp>
      <p:sp>
        <p:nvSpPr>
          <p:cNvPr id="52" name="Rectangle 51"/>
          <p:cNvSpPr/>
          <p:nvPr/>
        </p:nvSpPr>
        <p:spPr>
          <a:xfrm>
            <a:off x="5577840" y="4892040"/>
            <a:ext cx="1033271"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LoRA Manager</a:t>
            </a:r>
          </a:p>
        </p:txBody>
      </p:sp>
      <p:sp>
        <p:nvSpPr>
          <p:cNvPr id="53" name="Rectangle 52"/>
          <p:cNvSpPr/>
          <p:nvPr/>
        </p:nvSpPr>
        <p:spPr>
          <a:xfrm>
            <a:off x="5577840" y="5577840"/>
            <a:ext cx="1033271" cy="502920"/>
          </a:xfrm>
          <a:prstGeom prst="rect">
            <a:avLst/>
          </a:prstGeom>
          <a:solidFill>
            <a:srgbClr val="FFF2CC"/>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Metadata Client</a:t>
            </a:r>
          </a:p>
        </p:txBody>
      </p:sp>
      <p:sp>
        <p:nvSpPr>
          <p:cNvPr id="54" name="Rectangle 53"/>
          <p:cNvSpPr/>
          <p:nvPr/>
        </p:nvSpPr>
        <p:spPr>
          <a:xfrm>
            <a:off x="6766560" y="3200400"/>
            <a:ext cx="1261872" cy="310896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5" name="Rectangle 54"/>
          <p:cNvSpPr/>
          <p:nvPr/>
        </p:nvSpPr>
        <p:spPr>
          <a:xfrm>
            <a:off x="6766560" y="310896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6" name="TextBox 55"/>
          <p:cNvSpPr txBox="1"/>
          <p:nvPr/>
        </p:nvSpPr>
        <p:spPr>
          <a:xfrm>
            <a:off x="6766560" y="3222411"/>
            <a:ext cx="1261872" cy="175433"/>
          </a:xfrm>
          <a:prstGeom prst="rect">
            <a:avLst/>
          </a:prstGeom>
          <a:noFill/>
        </p:spPr>
        <p:txBody>
          <a:bodyPr wrap="square" lIns="0" tIns="18288" rIns="0" bIns="18288" anchor="ctr">
            <a:spAutoFit/>
          </a:bodyPr>
          <a:lstStyle/>
          <a:p>
            <a:pPr algn="ctr">
              <a:spcAft>
                <a:spcPts val="0"/>
              </a:spcAft>
            </a:pPr>
            <a:r>
              <a:rPr sz="900" b="1" i="0">
                <a:solidFill>
                  <a:srgbClr val="000000"/>
                </a:solidFill>
                <a:latin typeface="맑은 고딕"/>
                <a:ea typeface="맑은 고딕"/>
                <a:cs typeface="맑은 고딕"/>
              </a:rPr>
              <a:t>Resource Mgmt</a:t>
            </a:r>
          </a:p>
        </p:txBody>
      </p:sp>
      <p:sp>
        <p:nvSpPr>
          <p:cNvPr id="57" name="Rectangle 56"/>
          <p:cNvSpPr/>
          <p:nvPr/>
        </p:nvSpPr>
        <p:spPr>
          <a:xfrm>
            <a:off x="6821424" y="3520440"/>
            <a:ext cx="1152144"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Resource State</a:t>
            </a:r>
          </a:p>
          <a:p>
            <a:pPr algn="ctr">
              <a:spcAft>
                <a:spcPts val="0"/>
              </a:spcAft>
            </a:pPr>
            <a:r>
              <a:rPr sz="800" b="0" i="0">
                <a:solidFill>
                  <a:srgbClr val="000000"/>
                </a:solidFill>
                <a:latin typeface="맑은 고딕"/>
                <a:ea typeface="맑은 고딕"/>
                <a:cs typeface="맑은 고딕"/>
              </a:rPr>
              <a:t>Monitor</a:t>
            </a:r>
          </a:p>
        </p:txBody>
      </p:sp>
      <p:sp>
        <p:nvSpPr>
          <p:cNvPr id="58" name="Rectangle 57"/>
          <p:cNvSpPr/>
          <p:nvPr/>
        </p:nvSpPr>
        <p:spPr>
          <a:xfrm>
            <a:off x="6821424" y="4206240"/>
            <a:ext cx="1152144"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Resource</a:t>
            </a:r>
          </a:p>
          <a:p>
            <a:pPr algn="ctr">
              <a:spcAft>
                <a:spcPts val="0"/>
              </a:spcAft>
            </a:pPr>
            <a:r>
              <a:rPr sz="800" b="0" i="0">
                <a:solidFill>
                  <a:srgbClr val="000000"/>
                </a:solidFill>
                <a:latin typeface="맑은 고딕"/>
                <a:ea typeface="맑은 고딕"/>
                <a:cs typeface="맑은 고딕"/>
              </a:rPr>
              <a:t>Analyzer</a:t>
            </a:r>
          </a:p>
        </p:txBody>
      </p:sp>
      <p:sp>
        <p:nvSpPr>
          <p:cNvPr id="59" name="Rectangle 58"/>
          <p:cNvSpPr/>
          <p:nvPr/>
        </p:nvSpPr>
        <p:spPr>
          <a:xfrm>
            <a:off x="6821424" y="4892040"/>
            <a:ext cx="1152144"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Destination Tier</a:t>
            </a:r>
          </a:p>
          <a:p>
            <a:pPr algn="ctr">
              <a:spcAft>
                <a:spcPts val="0"/>
              </a:spcAft>
            </a:pPr>
            <a:r>
              <a:rPr sz="800" b="0" i="0">
                <a:solidFill>
                  <a:srgbClr val="000000"/>
                </a:solidFill>
                <a:latin typeface="맑은 고딕"/>
                <a:ea typeface="맑은 고딕"/>
                <a:cs typeface="맑은 고딕"/>
              </a:rPr>
              <a:t>Selector</a:t>
            </a:r>
          </a:p>
        </p:txBody>
      </p:sp>
      <p:sp>
        <p:nvSpPr>
          <p:cNvPr id="60" name="Rectangle 59"/>
          <p:cNvSpPr/>
          <p:nvPr/>
        </p:nvSpPr>
        <p:spPr>
          <a:xfrm>
            <a:off x="6821424" y="5577840"/>
            <a:ext cx="1152144" cy="50292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Telemetry</a:t>
            </a:r>
          </a:p>
          <a:p>
            <a:pPr algn="ctr">
              <a:spcAft>
                <a:spcPts val="0"/>
              </a:spcAft>
            </a:pPr>
            <a:r>
              <a:rPr sz="800" b="0" i="0">
                <a:solidFill>
                  <a:srgbClr val="000000"/>
                </a:solidFill>
                <a:latin typeface="맑은 고딕"/>
                <a:ea typeface="맑은 고딕"/>
                <a:cs typeface="맑은 고딕"/>
              </a:rPr>
              <a:t>Collector</a:t>
            </a:r>
          </a:p>
        </p:txBody>
      </p:sp>
      <p:sp>
        <p:nvSpPr>
          <p:cNvPr id="61" name="Rectangle 60"/>
          <p:cNvSpPr/>
          <p:nvPr/>
        </p:nvSpPr>
        <p:spPr>
          <a:xfrm>
            <a:off x="8211312" y="1481328"/>
            <a:ext cx="1234440" cy="4919472"/>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2" name="Rectangle 61"/>
          <p:cNvSpPr/>
          <p:nvPr/>
        </p:nvSpPr>
        <p:spPr>
          <a:xfrm>
            <a:off x="8211312" y="1389888"/>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3" name="TextBox 62"/>
          <p:cNvSpPr txBox="1"/>
          <p:nvPr/>
        </p:nvSpPr>
        <p:spPr>
          <a:xfrm>
            <a:off x="8211312" y="1512483"/>
            <a:ext cx="1234440" cy="175433"/>
          </a:xfrm>
          <a:prstGeom prst="rect">
            <a:avLst/>
          </a:prstGeom>
          <a:noFill/>
        </p:spPr>
        <p:txBody>
          <a:bodyPr wrap="square" lIns="0" tIns="18288" rIns="0" bIns="18288" anchor="ctr">
            <a:spAutoFit/>
          </a:bodyPr>
          <a:lstStyle/>
          <a:p>
            <a:pPr algn="ctr">
              <a:spcAft>
                <a:spcPts val="0"/>
              </a:spcAft>
            </a:pPr>
            <a:r>
              <a:rPr sz="900" b="1" i="0">
                <a:solidFill>
                  <a:srgbClr val="000000"/>
                </a:solidFill>
                <a:latin typeface="맑은 고딕"/>
                <a:ea typeface="맑은 고딕"/>
                <a:cs typeface="맑은 고딕"/>
              </a:rPr>
              <a:t>System</a:t>
            </a:r>
          </a:p>
        </p:txBody>
      </p:sp>
      <p:sp>
        <p:nvSpPr>
          <p:cNvPr id="64" name="Rectangle 63"/>
          <p:cNvSpPr/>
          <p:nvPr/>
        </p:nvSpPr>
        <p:spPr>
          <a:xfrm>
            <a:off x="8275320" y="1810512"/>
            <a:ext cx="1106424" cy="36576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Utility</a:t>
            </a:r>
          </a:p>
        </p:txBody>
      </p:sp>
      <p:sp>
        <p:nvSpPr>
          <p:cNvPr id="65" name="Rectangle 64"/>
          <p:cNvSpPr/>
          <p:nvPr/>
        </p:nvSpPr>
        <p:spPr>
          <a:xfrm>
            <a:off x="8275320" y="2286000"/>
            <a:ext cx="1106424" cy="36576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Configuration</a:t>
            </a:r>
          </a:p>
        </p:txBody>
      </p:sp>
      <p:sp>
        <p:nvSpPr>
          <p:cNvPr id="66" name="Rectangle 65"/>
          <p:cNvSpPr/>
          <p:nvPr/>
        </p:nvSpPr>
        <p:spPr>
          <a:xfrm>
            <a:off x="8275320" y="2834640"/>
            <a:ext cx="1106424" cy="457200"/>
          </a:xfrm>
          <a:prstGeom prst="rect">
            <a:avLst/>
          </a:prstGeom>
          <a:solidFill>
            <a:srgbClr val="FFFFFF"/>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Network</a:t>
            </a:r>
          </a:p>
        </p:txBody>
      </p:sp>
      <p:sp>
        <p:nvSpPr>
          <p:cNvPr id="67" name="Rectangle 66"/>
          <p:cNvSpPr/>
          <p:nvPr/>
        </p:nvSpPr>
        <p:spPr>
          <a:xfrm>
            <a:off x="8275320" y="3520440"/>
            <a:ext cx="1106424" cy="502920"/>
          </a:xfrm>
          <a:prstGeom prst="rect">
            <a:avLst/>
          </a:prstGeom>
          <a:solidFill>
            <a:srgbClr val="FFFFFF"/>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Memory Pool</a:t>
            </a:r>
          </a:p>
        </p:txBody>
      </p:sp>
      <p:sp>
        <p:nvSpPr>
          <p:cNvPr id="68" name="Rectangle 67"/>
          <p:cNvSpPr/>
          <p:nvPr/>
        </p:nvSpPr>
        <p:spPr>
          <a:xfrm>
            <a:off x="8275320" y="4251960"/>
            <a:ext cx="1106424" cy="502920"/>
          </a:xfrm>
          <a:prstGeom prst="rect">
            <a:avLst/>
          </a:prstGeom>
          <a:solidFill>
            <a:srgbClr val="FFFFFF"/>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Shared Pool</a:t>
            </a:r>
          </a:p>
        </p:txBody>
      </p:sp>
      <p:sp>
        <p:nvSpPr>
          <p:cNvPr id="69" name="Rectangle 68"/>
          <p:cNvSpPr/>
          <p:nvPr/>
        </p:nvSpPr>
        <p:spPr>
          <a:xfrm>
            <a:off x="8275320" y="5029200"/>
            <a:ext cx="1106424" cy="36576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0" i="0">
                <a:solidFill>
                  <a:srgbClr val="000000"/>
                </a:solidFill>
                <a:latin typeface="맑은 고딕"/>
                <a:ea typeface="맑은 고딕"/>
                <a:cs typeface="맑은 고딕"/>
              </a:rPr>
              <a:t>Debug Log</a:t>
            </a:r>
          </a:p>
        </p:txBody>
      </p:sp>
      <p:cxnSp>
        <p:nvCxnSpPr>
          <p:cNvPr id="70" name="Connector 69"/>
          <p:cNvCxnSpPr/>
          <p:nvPr/>
        </p:nvCxnSpPr>
        <p:spPr>
          <a:xfrm>
            <a:off x="1097280" y="2670048"/>
            <a:ext cx="0" cy="210312"/>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783080" y="2103120"/>
            <a:ext cx="137160" cy="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37760" y="2670048"/>
            <a:ext cx="0" cy="210312"/>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743796" y="2692908"/>
            <a:ext cx="387927" cy="144655"/>
          </a:xfrm>
          <a:prstGeom prst="rect">
            <a:avLst/>
          </a:prstGeom>
          <a:noFill/>
        </p:spPr>
        <p:txBody>
          <a:bodyPr wrap="none" lIns="0" tIns="18288" rIns="0" bIns="18288" anchor="t">
            <a:spAutoFit/>
          </a:bodyPr>
          <a:lstStyle/>
          <a:p>
            <a:pPr algn="ctr">
              <a:spcAft>
                <a:spcPts val="0"/>
              </a:spcAft>
            </a:pPr>
            <a:r>
              <a:rPr sz="700" b="0" i="0">
                <a:solidFill>
                  <a:srgbClr val="595959"/>
                </a:solidFill>
                <a:latin typeface="맑은 고딕"/>
                <a:ea typeface="맑은 고딕"/>
                <a:cs typeface="맑은 고딕"/>
              </a:rPr>
              <a:t>&lt;&lt;use&gt;&gt;</a:t>
            </a:r>
          </a:p>
        </p:txBody>
      </p:sp>
      <p:cxnSp>
        <p:nvCxnSpPr>
          <p:cNvPr id="74" name="Connector 73"/>
          <p:cNvCxnSpPr/>
          <p:nvPr/>
        </p:nvCxnSpPr>
        <p:spPr>
          <a:xfrm>
            <a:off x="8092440" y="2103120"/>
            <a:ext cx="118872" cy="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783080" y="4480560"/>
            <a:ext cx="137160" cy="0"/>
          </a:xfrm>
          <a:prstGeom prst="line">
            <a:avLst/>
          </a:prstGeom>
          <a:ln w="10160">
            <a:solidFill>
              <a:srgbClr val="595959"/>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657696" y="4398264"/>
            <a:ext cx="387927" cy="144655"/>
          </a:xfrm>
          <a:prstGeom prst="rect">
            <a:avLst/>
          </a:prstGeom>
          <a:noFill/>
        </p:spPr>
        <p:txBody>
          <a:bodyPr wrap="none" lIns="0" tIns="18288" rIns="0" bIns="18288" anchor="t">
            <a:spAutoFit/>
          </a:bodyPr>
          <a:lstStyle/>
          <a:p>
            <a:pPr algn="ctr">
              <a:spcAft>
                <a:spcPts val="0"/>
              </a:spcAft>
            </a:pPr>
            <a:r>
              <a:rPr sz="700" b="0" i="0">
                <a:solidFill>
                  <a:srgbClr val="595959"/>
                </a:solidFill>
                <a:latin typeface="맑은 고딕"/>
                <a:ea typeface="맑은 고딕"/>
                <a:cs typeface="맑은 고딕"/>
              </a:rPr>
              <a:t>&lt;&lt;use&gt;&gt;</a:t>
            </a:r>
          </a:p>
        </p:txBody>
      </p:sp>
      <p:cxnSp>
        <p:nvCxnSpPr>
          <p:cNvPr id="77" name="Connector 76"/>
          <p:cNvCxnSpPr/>
          <p:nvPr/>
        </p:nvCxnSpPr>
        <p:spPr>
          <a:xfrm>
            <a:off x="8028431" y="4754880"/>
            <a:ext cx="182881" cy="0"/>
          </a:xfrm>
          <a:prstGeom prst="line">
            <a:avLst/>
          </a:prstGeom>
          <a:ln w="10160">
            <a:solidFill>
              <a:srgbClr val="595959"/>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925908" y="4672584"/>
            <a:ext cx="387927" cy="144655"/>
          </a:xfrm>
          <a:prstGeom prst="rect">
            <a:avLst/>
          </a:prstGeom>
          <a:noFill/>
        </p:spPr>
        <p:txBody>
          <a:bodyPr wrap="none" lIns="0" tIns="18288" rIns="0" bIns="18288" anchor="t">
            <a:spAutoFit/>
          </a:bodyPr>
          <a:lstStyle/>
          <a:p>
            <a:pPr algn="ctr">
              <a:spcAft>
                <a:spcPts val="0"/>
              </a:spcAft>
            </a:pPr>
            <a:r>
              <a:rPr sz="700" b="0" i="0">
                <a:solidFill>
                  <a:srgbClr val="595959"/>
                </a:solidFill>
                <a:latin typeface="맑은 고딕"/>
                <a:ea typeface="맑은 고딕"/>
                <a:cs typeface="맑은 고딕"/>
              </a:rPr>
              <a:t>&lt;&lt;use&gt;&gt;</a:t>
            </a:r>
          </a:p>
        </p:txBody>
      </p:sp>
      <p:sp>
        <p:nvSpPr>
          <p:cNvPr id="79" name="Rectangle 78"/>
          <p:cNvSpPr/>
          <p:nvPr/>
        </p:nvSpPr>
        <p:spPr>
          <a:xfrm>
            <a:off x="9738360" y="1188720"/>
            <a:ext cx="82296" cy="91440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9875520" y="1161288"/>
            <a:ext cx="2194560" cy="714042"/>
          </a:xfrm>
          <a:prstGeom prst="rect">
            <a:avLst/>
          </a:prstGeom>
          <a:noFill/>
        </p:spPr>
        <p:txBody>
          <a:bodyPr wrap="square" lIns="36576" tIns="18288" rIns="36576" bIns="18288" anchor="t">
            <a:spAutoFit/>
          </a:bodyPr>
          <a:lstStyle/>
          <a:p>
            <a:pPr algn="l">
              <a:spcAft>
                <a:spcPts val="0"/>
              </a:spcAft>
            </a:pPr>
            <a:r>
              <a:rPr sz="1000" b="1" i="0" dirty="0">
                <a:solidFill>
                  <a:srgbClr val="000000"/>
                </a:solidFill>
                <a:latin typeface="맑은 고딕"/>
                <a:ea typeface="맑은 고딕"/>
                <a:cs typeface="맑은 고딕"/>
              </a:rPr>
              <a:t>DP1. Data Migration </a:t>
            </a:r>
            <a:r>
              <a:rPr sz="1000" b="1" i="0" dirty="0" err="1">
                <a:solidFill>
                  <a:srgbClr val="000000"/>
                </a:solidFill>
                <a:latin typeface="맑은 고딕"/>
                <a:ea typeface="맑은 고딕"/>
                <a:cs typeface="맑은 고딕"/>
              </a:rPr>
              <a:t>결정</a:t>
            </a:r>
            <a:endParaRPr sz="1000" b="1" i="0" dirty="0">
              <a:solidFill>
                <a:srgbClr val="000000"/>
              </a:solidFill>
              <a:latin typeface="맑은 고딕"/>
              <a:ea typeface="맑은 고딕"/>
              <a:cs typeface="맑은 고딕"/>
            </a:endParaRPr>
          </a:p>
          <a:p>
            <a:pPr algn="l">
              <a:spcAft>
                <a:spcPts val="0"/>
              </a:spcAft>
            </a:pPr>
            <a:r>
              <a:rPr sz="850" b="1" i="0" dirty="0">
                <a:solidFill>
                  <a:srgbClr val="000000"/>
                </a:solidFill>
                <a:latin typeface="맑은 고딕"/>
                <a:ea typeface="맑은 고딕"/>
                <a:cs typeface="맑은 고딕"/>
              </a:rPr>
              <a:t>QA1 Throughput</a:t>
            </a:r>
          </a:p>
          <a:p>
            <a:pPr algn="l">
              <a:spcAft>
                <a:spcPts val="0"/>
              </a:spcAft>
            </a:pPr>
            <a:r>
              <a:rPr sz="850" b="1" i="0" dirty="0">
                <a:solidFill>
                  <a:srgbClr val="000000"/>
                </a:solidFill>
                <a:latin typeface="맑은 고딕"/>
                <a:ea typeface="맑은 고딕"/>
                <a:cs typeface="맑은 고딕"/>
              </a:rPr>
              <a:t>QA2 HBM </a:t>
            </a:r>
            <a:r>
              <a:rPr lang="ko-KR" altLang="en-US" sz="850" b="1" dirty="0">
                <a:solidFill>
                  <a:srgbClr val="000000"/>
                </a:solidFill>
                <a:latin typeface="맑은 고딕"/>
                <a:ea typeface="맑은 고딕"/>
                <a:cs typeface="맑은 고딕"/>
              </a:rPr>
              <a:t>사용</a:t>
            </a:r>
            <a:r>
              <a:rPr sz="850" b="1" i="0" dirty="0">
                <a:solidFill>
                  <a:srgbClr val="000000"/>
                </a:solidFill>
                <a:latin typeface="맑은 고딕"/>
                <a:ea typeface="맑은 고딕"/>
                <a:cs typeface="맑은 고딕"/>
              </a:rPr>
              <a:t>율</a:t>
            </a:r>
            <a:endParaRPr lang="en-US" sz="850" b="1" i="0" dirty="0">
              <a:solidFill>
                <a:srgbClr val="000000"/>
              </a:solidFill>
              <a:latin typeface="맑은 고딕"/>
              <a:ea typeface="맑은 고딕"/>
              <a:cs typeface="맑은 고딕"/>
            </a:endParaRPr>
          </a:p>
          <a:p>
            <a:r>
              <a:rPr lang="en-US" altLang="ko-KR" sz="850" b="1" i="0" dirty="0">
                <a:solidFill>
                  <a:srgbClr val="000000"/>
                </a:solidFill>
                <a:latin typeface="맑은 고딕"/>
                <a:ea typeface="맑은 고딕"/>
                <a:cs typeface="맑은 고딕"/>
              </a:rPr>
              <a:t>QA3 </a:t>
            </a:r>
            <a:r>
              <a:rPr lang="ko-KR" altLang="en-US" sz="850" b="1" i="0" dirty="0">
                <a:solidFill>
                  <a:srgbClr val="000000"/>
                </a:solidFill>
                <a:latin typeface="맑은 고딕"/>
                <a:ea typeface="맑은 고딕"/>
                <a:cs typeface="맑은 고딕"/>
              </a:rPr>
              <a:t>고부하 지연시간</a:t>
            </a:r>
            <a:endParaRPr lang="en-US" altLang="ko-KR" sz="850" b="1" i="0" dirty="0">
              <a:solidFill>
                <a:srgbClr val="000000"/>
              </a:solidFill>
              <a:latin typeface="맑은 고딕"/>
              <a:ea typeface="맑은 고딕"/>
              <a:cs typeface="맑은 고딕"/>
            </a:endParaRPr>
          </a:p>
          <a:p>
            <a:r>
              <a:rPr sz="850" b="1" i="0" dirty="0">
                <a:solidFill>
                  <a:srgbClr val="000000"/>
                </a:solidFill>
                <a:latin typeface="맑은 고딕"/>
                <a:ea typeface="맑은 고딕"/>
                <a:cs typeface="맑은 고딕"/>
              </a:rPr>
              <a:t>QA5 Modifiability</a:t>
            </a:r>
          </a:p>
        </p:txBody>
      </p:sp>
      <p:sp>
        <p:nvSpPr>
          <p:cNvPr id="81" name="Rectangle 80"/>
          <p:cNvSpPr/>
          <p:nvPr/>
        </p:nvSpPr>
        <p:spPr>
          <a:xfrm>
            <a:off x="9738360" y="2377440"/>
            <a:ext cx="82296" cy="9144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9875520" y="2350008"/>
            <a:ext cx="2194560" cy="714042"/>
          </a:xfrm>
          <a:prstGeom prst="rect">
            <a:avLst/>
          </a:prstGeom>
          <a:noFill/>
        </p:spPr>
        <p:txBody>
          <a:bodyPr wrap="square" lIns="36576" tIns="18288" rIns="36576" bIns="18288" anchor="t">
            <a:spAutoFit/>
          </a:bodyPr>
          <a:lstStyle/>
          <a:p>
            <a:pPr algn="l">
              <a:spcAft>
                <a:spcPts val="0"/>
              </a:spcAft>
            </a:pPr>
            <a:r>
              <a:rPr sz="1000" b="1" i="0" dirty="0">
                <a:solidFill>
                  <a:srgbClr val="000000"/>
                </a:solidFill>
                <a:latin typeface="맑은 고딕"/>
                <a:ea typeface="맑은 고딕"/>
                <a:cs typeface="맑은 고딕"/>
              </a:rPr>
              <a:t>DP2. </a:t>
            </a:r>
            <a:r>
              <a:rPr sz="1000" b="1" i="0" dirty="0" err="1">
                <a:solidFill>
                  <a:srgbClr val="000000"/>
                </a:solidFill>
                <a:latin typeface="맑은 고딕"/>
                <a:ea typeface="맑은 고딕"/>
                <a:cs typeface="맑은 고딕"/>
              </a:rPr>
              <a:t>연산</a:t>
            </a:r>
            <a:r>
              <a:rPr sz="1000" b="1" i="0" dirty="0">
                <a:solidFill>
                  <a:srgbClr val="000000"/>
                </a:solidFill>
                <a:latin typeface="맑은 고딕"/>
                <a:ea typeface="맑은 고딕"/>
                <a:cs typeface="맑은 고딕"/>
              </a:rPr>
              <a:t> </a:t>
            </a:r>
            <a:r>
              <a:rPr sz="1000" b="1" i="0" dirty="0" err="1">
                <a:solidFill>
                  <a:srgbClr val="000000"/>
                </a:solidFill>
                <a:latin typeface="맑은 고딕"/>
                <a:ea typeface="맑은 고딕"/>
                <a:cs typeface="맑은 고딕"/>
              </a:rPr>
              <a:t>실행</a:t>
            </a:r>
            <a:r>
              <a:rPr sz="1000" b="1" i="0" dirty="0">
                <a:solidFill>
                  <a:srgbClr val="000000"/>
                </a:solidFill>
                <a:latin typeface="맑은 고딕"/>
                <a:ea typeface="맑은 고딕"/>
                <a:cs typeface="맑은 고딕"/>
              </a:rPr>
              <a:t> </a:t>
            </a:r>
            <a:r>
              <a:rPr sz="1000" b="1" i="0" dirty="0" err="1">
                <a:solidFill>
                  <a:srgbClr val="000000"/>
                </a:solidFill>
                <a:latin typeface="맑은 고딕"/>
                <a:ea typeface="맑은 고딕"/>
                <a:cs typeface="맑은 고딕"/>
              </a:rPr>
              <a:t>위치</a:t>
            </a:r>
            <a:r>
              <a:rPr sz="1000" b="1" i="0" dirty="0">
                <a:solidFill>
                  <a:srgbClr val="000000"/>
                </a:solidFill>
                <a:latin typeface="맑은 고딕"/>
                <a:ea typeface="맑은 고딕"/>
                <a:cs typeface="맑은 고딕"/>
              </a:rPr>
              <a:t> </a:t>
            </a:r>
            <a:r>
              <a:rPr sz="1000" b="1" i="0" dirty="0" err="1">
                <a:solidFill>
                  <a:srgbClr val="000000"/>
                </a:solidFill>
                <a:latin typeface="맑은 고딕"/>
                <a:ea typeface="맑은 고딕"/>
                <a:cs typeface="맑은 고딕"/>
              </a:rPr>
              <a:t>결정</a:t>
            </a:r>
            <a:endParaRPr sz="1000" b="1" i="0" dirty="0">
              <a:solidFill>
                <a:srgbClr val="000000"/>
              </a:solidFill>
              <a:latin typeface="맑은 고딕"/>
              <a:ea typeface="맑은 고딕"/>
              <a:cs typeface="맑은 고딕"/>
            </a:endParaRPr>
          </a:p>
          <a:p>
            <a:pPr algn="l">
              <a:spcAft>
                <a:spcPts val="0"/>
              </a:spcAft>
            </a:pPr>
            <a:r>
              <a:rPr sz="850" b="1" i="0" dirty="0">
                <a:solidFill>
                  <a:srgbClr val="000000"/>
                </a:solidFill>
                <a:latin typeface="맑은 고딕"/>
                <a:ea typeface="맑은 고딕"/>
                <a:cs typeface="맑은 고딕"/>
              </a:rPr>
              <a:t>QA1 Throughput</a:t>
            </a:r>
          </a:p>
          <a:p>
            <a:r>
              <a:rPr sz="850" b="1" i="0" dirty="0">
                <a:solidFill>
                  <a:srgbClr val="000000"/>
                </a:solidFill>
                <a:latin typeface="맑은 고딕"/>
                <a:ea typeface="맑은 고딕"/>
                <a:cs typeface="맑은 고딕"/>
              </a:rPr>
              <a:t>QA2 </a:t>
            </a:r>
            <a:r>
              <a:rPr lang="en-US" altLang="ko-KR" sz="850" b="1" i="0" dirty="0">
                <a:solidFill>
                  <a:srgbClr val="000000"/>
                </a:solidFill>
                <a:latin typeface="맑은 고딕"/>
                <a:ea typeface="맑은 고딕"/>
                <a:cs typeface="맑은 고딕"/>
              </a:rPr>
              <a:t>HBM </a:t>
            </a:r>
            <a:r>
              <a:rPr lang="ko-KR" altLang="en-US" sz="850" b="1" dirty="0" err="1">
                <a:solidFill>
                  <a:srgbClr val="000000"/>
                </a:solidFill>
                <a:latin typeface="맑은 고딕"/>
                <a:ea typeface="맑은 고딕"/>
                <a:cs typeface="맑은 고딕"/>
              </a:rPr>
              <a:t>사용</a:t>
            </a:r>
            <a:r>
              <a:rPr lang="ko-KR" altLang="en-US" sz="850" b="1" i="0" dirty="0" err="1">
                <a:solidFill>
                  <a:srgbClr val="000000"/>
                </a:solidFill>
                <a:latin typeface="맑은 고딕"/>
                <a:ea typeface="맑은 고딕"/>
                <a:cs typeface="맑은 고딕"/>
              </a:rPr>
              <a:t>율</a:t>
            </a:r>
            <a:endParaRPr lang="en-US" sz="850" b="1" i="0" dirty="0">
              <a:solidFill>
                <a:srgbClr val="000000"/>
              </a:solidFill>
              <a:latin typeface="맑은 고딕"/>
              <a:ea typeface="맑은 고딕"/>
              <a:cs typeface="맑은 고딕"/>
            </a:endParaRPr>
          </a:p>
          <a:p>
            <a:r>
              <a:rPr lang="en-US" altLang="ko-KR" sz="850" b="1" i="0" dirty="0">
                <a:solidFill>
                  <a:srgbClr val="000000"/>
                </a:solidFill>
                <a:latin typeface="맑은 고딕"/>
                <a:ea typeface="맑은 고딕"/>
                <a:cs typeface="맑은 고딕"/>
              </a:rPr>
              <a:t>QA3 </a:t>
            </a:r>
            <a:r>
              <a:rPr lang="ko-KR" altLang="en-US" sz="850" b="1" i="0" dirty="0">
                <a:solidFill>
                  <a:srgbClr val="000000"/>
                </a:solidFill>
                <a:latin typeface="맑은 고딕"/>
                <a:ea typeface="맑은 고딕"/>
                <a:cs typeface="맑은 고딕"/>
              </a:rPr>
              <a:t>고부하 지연시간</a:t>
            </a:r>
            <a:endParaRPr lang="en-US" altLang="ko-KR" sz="850" b="1" i="0" dirty="0">
              <a:solidFill>
                <a:srgbClr val="000000"/>
              </a:solidFill>
              <a:latin typeface="맑은 고딕"/>
              <a:ea typeface="맑은 고딕"/>
              <a:cs typeface="맑은 고딕"/>
            </a:endParaRPr>
          </a:p>
          <a:p>
            <a:pPr algn="l">
              <a:spcAft>
                <a:spcPts val="0"/>
              </a:spcAft>
            </a:pPr>
            <a:r>
              <a:rPr sz="850" b="1" i="0" dirty="0">
                <a:solidFill>
                  <a:srgbClr val="000000"/>
                </a:solidFill>
                <a:latin typeface="맑은 고딕"/>
                <a:ea typeface="맑은 고딕"/>
                <a:cs typeface="맑은 고딕"/>
              </a:rPr>
              <a:t>QA4 Scalability</a:t>
            </a:r>
          </a:p>
        </p:txBody>
      </p:sp>
      <p:sp>
        <p:nvSpPr>
          <p:cNvPr id="83" name="Rectangle 82"/>
          <p:cNvSpPr/>
          <p:nvPr/>
        </p:nvSpPr>
        <p:spPr>
          <a:xfrm>
            <a:off x="9738360" y="3566160"/>
            <a:ext cx="82296" cy="914400"/>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875520" y="3538728"/>
            <a:ext cx="2194560" cy="714042"/>
          </a:xfrm>
          <a:prstGeom prst="rect">
            <a:avLst/>
          </a:prstGeom>
          <a:noFill/>
        </p:spPr>
        <p:txBody>
          <a:bodyPr wrap="square" lIns="36576" tIns="18288" rIns="36576" bIns="18288" anchor="t">
            <a:spAutoFit/>
          </a:bodyPr>
          <a:lstStyle/>
          <a:p>
            <a:pPr algn="l">
              <a:spcAft>
                <a:spcPts val="0"/>
              </a:spcAft>
            </a:pPr>
            <a:r>
              <a:rPr sz="1000" b="1" i="0" dirty="0">
                <a:solidFill>
                  <a:srgbClr val="000000"/>
                </a:solidFill>
                <a:latin typeface="맑은 고딕"/>
                <a:ea typeface="맑은 고딕"/>
                <a:cs typeface="맑은 고딕"/>
              </a:rPr>
              <a:t>DP3. KV </a:t>
            </a:r>
            <a:r>
              <a:rPr sz="1000" b="1" i="0" dirty="0" err="1">
                <a:solidFill>
                  <a:srgbClr val="000000"/>
                </a:solidFill>
                <a:latin typeface="맑은 고딕"/>
                <a:ea typeface="맑은 고딕"/>
                <a:cs typeface="맑은 고딕"/>
              </a:rPr>
              <a:t>캐시</a:t>
            </a:r>
            <a:r>
              <a:rPr sz="1000" b="1" i="0" dirty="0">
                <a:solidFill>
                  <a:srgbClr val="000000"/>
                </a:solidFill>
                <a:latin typeface="맑은 고딕"/>
                <a:ea typeface="맑은 고딕"/>
                <a:cs typeface="맑은 고딕"/>
              </a:rPr>
              <a:t> </a:t>
            </a:r>
            <a:r>
              <a:rPr sz="1000" b="1" i="0" dirty="0" err="1">
                <a:solidFill>
                  <a:srgbClr val="000000"/>
                </a:solidFill>
                <a:latin typeface="맑은 고딕"/>
                <a:ea typeface="맑은 고딕"/>
                <a:cs typeface="맑은 고딕"/>
              </a:rPr>
              <a:t>재사용</a:t>
            </a:r>
            <a:endParaRPr sz="1000" b="1" i="0" dirty="0">
              <a:solidFill>
                <a:srgbClr val="000000"/>
              </a:solidFill>
              <a:latin typeface="맑은 고딕"/>
              <a:ea typeface="맑은 고딕"/>
              <a:cs typeface="맑은 고딕"/>
            </a:endParaRPr>
          </a:p>
          <a:p>
            <a:pPr algn="l">
              <a:spcAft>
                <a:spcPts val="0"/>
              </a:spcAft>
            </a:pPr>
            <a:r>
              <a:rPr sz="850" b="1" i="0" dirty="0">
                <a:solidFill>
                  <a:srgbClr val="000000"/>
                </a:solidFill>
                <a:latin typeface="맑은 고딕"/>
                <a:ea typeface="맑은 고딕"/>
                <a:cs typeface="맑은 고딕"/>
              </a:rPr>
              <a:t>QA1 Throughput</a:t>
            </a:r>
          </a:p>
          <a:p>
            <a:r>
              <a:rPr sz="850" b="1" i="0" dirty="0">
                <a:solidFill>
                  <a:srgbClr val="000000"/>
                </a:solidFill>
                <a:latin typeface="맑은 고딕"/>
                <a:ea typeface="맑은 고딕"/>
                <a:cs typeface="맑은 고딕"/>
              </a:rPr>
              <a:t>QA2 </a:t>
            </a:r>
            <a:r>
              <a:rPr lang="en-US" altLang="ko-KR" sz="850" b="1" i="0" dirty="0">
                <a:solidFill>
                  <a:srgbClr val="000000"/>
                </a:solidFill>
                <a:latin typeface="맑은 고딕"/>
                <a:ea typeface="맑은 고딕"/>
                <a:cs typeface="맑은 고딕"/>
              </a:rPr>
              <a:t>HBM </a:t>
            </a:r>
            <a:r>
              <a:rPr lang="ko-KR" altLang="en-US" sz="850" b="1" dirty="0" err="1">
                <a:solidFill>
                  <a:srgbClr val="000000"/>
                </a:solidFill>
                <a:latin typeface="맑은 고딕"/>
                <a:ea typeface="맑은 고딕"/>
                <a:cs typeface="맑은 고딕"/>
              </a:rPr>
              <a:t>사용</a:t>
            </a:r>
            <a:r>
              <a:rPr lang="ko-KR" altLang="en-US" sz="850" b="1" i="0" dirty="0" err="1">
                <a:solidFill>
                  <a:srgbClr val="000000"/>
                </a:solidFill>
                <a:latin typeface="맑은 고딕"/>
                <a:ea typeface="맑은 고딕"/>
                <a:cs typeface="맑은 고딕"/>
              </a:rPr>
              <a:t>율</a:t>
            </a:r>
            <a:endParaRPr lang="en-US" sz="850" b="1" i="0" dirty="0">
              <a:solidFill>
                <a:srgbClr val="000000"/>
              </a:solidFill>
              <a:latin typeface="맑은 고딕"/>
              <a:ea typeface="맑은 고딕"/>
              <a:cs typeface="맑은 고딕"/>
            </a:endParaRPr>
          </a:p>
          <a:p>
            <a:r>
              <a:rPr lang="en-US" altLang="ko-KR" sz="850" b="1" i="0" dirty="0">
                <a:solidFill>
                  <a:srgbClr val="000000"/>
                </a:solidFill>
                <a:latin typeface="맑은 고딕"/>
                <a:ea typeface="맑은 고딕"/>
                <a:cs typeface="맑은 고딕"/>
              </a:rPr>
              <a:t>QA3 </a:t>
            </a:r>
            <a:r>
              <a:rPr lang="ko-KR" altLang="en-US" sz="850" b="1" i="0" dirty="0">
                <a:solidFill>
                  <a:srgbClr val="000000"/>
                </a:solidFill>
                <a:latin typeface="맑은 고딕"/>
                <a:ea typeface="맑은 고딕"/>
                <a:cs typeface="맑은 고딕"/>
              </a:rPr>
              <a:t>고부하 지연시간</a:t>
            </a:r>
            <a:endParaRPr lang="en-US" altLang="ko-KR" sz="850" b="1" i="0" dirty="0">
              <a:solidFill>
                <a:srgbClr val="000000"/>
              </a:solidFill>
              <a:latin typeface="맑은 고딕"/>
              <a:ea typeface="맑은 고딕"/>
              <a:cs typeface="맑은 고딕"/>
            </a:endParaRPr>
          </a:p>
          <a:p>
            <a:pPr algn="l">
              <a:spcAft>
                <a:spcPts val="0"/>
              </a:spcAft>
            </a:pPr>
            <a:r>
              <a:rPr sz="850" b="1" i="0" dirty="0" err="1">
                <a:solidFill>
                  <a:srgbClr val="000000"/>
                </a:solidFill>
                <a:latin typeface="맑은 고딕"/>
                <a:ea typeface="맑은 고딕"/>
                <a:cs typeface="맑은 고딕"/>
              </a:rPr>
              <a:t>정확도</a:t>
            </a:r>
            <a:r>
              <a:rPr sz="850" b="1" i="0" dirty="0">
                <a:solidFill>
                  <a:srgbClr val="000000"/>
                </a:solidFill>
                <a:latin typeface="맑은 고딕"/>
                <a:ea typeface="맑은 고딕"/>
                <a:cs typeface="맑은 고딕"/>
              </a:rPr>
              <a:t>(C02)</a:t>
            </a:r>
          </a:p>
        </p:txBody>
      </p:sp>
      <p:sp>
        <p:nvSpPr>
          <p:cNvPr id="85" name="Rectangle 84"/>
          <p:cNvSpPr/>
          <p:nvPr/>
        </p:nvSpPr>
        <p:spPr>
          <a:xfrm>
            <a:off x="9738360" y="4754880"/>
            <a:ext cx="82296" cy="91440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875520" y="4727448"/>
            <a:ext cx="2194560" cy="583237"/>
          </a:xfrm>
          <a:prstGeom prst="rect">
            <a:avLst/>
          </a:prstGeom>
          <a:noFill/>
        </p:spPr>
        <p:txBody>
          <a:bodyPr wrap="square" lIns="36576" tIns="18288" rIns="36576" bIns="18288" anchor="t">
            <a:spAutoFit/>
          </a:bodyPr>
          <a:lstStyle/>
          <a:p>
            <a:r>
              <a:rPr lang="en-US" altLang="ko-KR" sz="1000" b="1" dirty="0">
                <a:solidFill>
                  <a:srgbClr val="000000"/>
                </a:solidFill>
                <a:ea typeface="맑은 고딕"/>
                <a:cs typeface="맑은 고딕"/>
              </a:rPr>
              <a:t>DP4. </a:t>
            </a:r>
            <a:r>
              <a:rPr lang="ko-KR" altLang="en-US" sz="1000" b="1" dirty="0">
                <a:solidFill>
                  <a:srgbClr val="000000"/>
                </a:solidFill>
                <a:ea typeface="맑은 고딕"/>
                <a:cs typeface="맑은 고딕"/>
              </a:rPr>
              <a:t>서버 간 </a:t>
            </a:r>
            <a:r>
              <a:rPr lang="en-US" altLang="ko-KR" sz="1000" b="1" dirty="0">
                <a:solidFill>
                  <a:srgbClr val="000000"/>
                </a:solidFill>
                <a:ea typeface="맑은 고딕"/>
                <a:cs typeface="맑은 고딕"/>
              </a:rPr>
              <a:t>KV </a:t>
            </a:r>
            <a:r>
              <a:rPr lang="ko-KR" altLang="en-US" sz="1000" b="1" dirty="0">
                <a:solidFill>
                  <a:srgbClr val="000000"/>
                </a:solidFill>
                <a:ea typeface="맑은 고딕"/>
                <a:cs typeface="맑은 고딕"/>
              </a:rPr>
              <a:t>공유</a:t>
            </a:r>
            <a:endParaRPr lang="en-US" altLang="ko-KR" sz="1000" b="1" dirty="0">
              <a:solidFill>
                <a:srgbClr val="000000"/>
              </a:solidFill>
              <a:ea typeface="맑은 고딕"/>
              <a:cs typeface="맑은 고딕"/>
            </a:endParaRPr>
          </a:p>
          <a:p>
            <a:r>
              <a:rPr sz="850" b="1" i="0" dirty="0">
                <a:solidFill>
                  <a:srgbClr val="000000"/>
                </a:solidFill>
                <a:latin typeface="맑은 고딕"/>
                <a:ea typeface="맑은 고딕"/>
                <a:cs typeface="맑은 고딕"/>
              </a:rPr>
              <a:t>QA1 Throughput</a:t>
            </a:r>
          </a:p>
          <a:p>
            <a:pPr algn="l">
              <a:spcAft>
                <a:spcPts val="0"/>
              </a:spcAft>
            </a:pPr>
            <a:r>
              <a:rPr sz="850" b="1" i="0" dirty="0">
                <a:solidFill>
                  <a:srgbClr val="000000"/>
                </a:solidFill>
                <a:latin typeface="맑은 고딕"/>
                <a:ea typeface="맑은 고딕"/>
                <a:cs typeface="맑은 고딕"/>
              </a:rPr>
              <a:t>QA3 </a:t>
            </a:r>
            <a:r>
              <a:rPr sz="850" b="1" i="0" dirty="0" err="1">
                <a:solidFill>
                  <a:srgbClr val="000000"/>
                </a:solidFill>
                <a:latin typeface="맑은 고딕"/>
                <a:ea typeface="맑은 고딕"/>
                <a:cs typeface="맑은 고딕"/>
              </a:rPr>
              <a:t>고부하</a:t>
            </a:r>
            <a:r>
              <a:rPr sz="850" b="1" i="0" dirty="0">
                <a:solidFill>
                  <a:srgbClr val="000000"/>
                </a:solidFill>
                <a:latin typeface="맑은 고딕"/>
                <a:ea typeface="맑은 고딕"/>
                <a:cs typeface="맑은 고딕"/>
              </a:rPr>
              <a:t> </a:t>
            </a:r>
            <a:r>
              <a:rPr sz="850" b="1" i="0" dirty="0" err="1">
                <a:solidFill>
                  <a:srgbClr val="000000"/>
                </a:solidFill>
                <a:latin typeface="맑은 고딕"/>
                <a:ea typeface="맑은 고딕"/>
                <a:cs typeface="맑은 고딕"/>
              </a:rPr>
              <a:t>지연</a:t>
            </a:r>
            <a:r>
              <a:rPr lang="ko-KR" altLang="en-US" sz="850" b="1" i="0" dirty="0">
                <a:solidFill>
                  <a:srgbClr val="000000"/>
                </a:solidFill>
                <a:latin typeface="맑은 고딕"/>
                <a:ea typeface="맑은 고딕"/>
                <a:cs typeface="맑은 고딕"/>
              </a:rPr>
              <a:t>시간</a:t>
            </a:r>
            <a:endParaRPr sz="850" b="1" i="0" dirty="0">
              <a:solidFill>
                <a:srgbClr val="000000"/>
              </a:solidFill>
              <a:latin typeface="맑은 고딕"/>
              <a:ea typeface="맑은 고딕"/>
              <a:cs typeface="맑은 고딕"/>
            </a:endParaRPr>
          </a:p>
          <a:p>
            <a:pPr algn="l">
              <a:spcAft>
                <a:spcPts val="0"/>
              </a:spcAft>
            </a:pPr>
            <a:r>
              <a:rPr sz="850" b="1" i="0" dirty="0">
                <a:solidFill>
                  <a:srgbClr val="000000"/>
                </a:solidFill>
                <a:latin typeface="맑은 고딕"/>
                <a:ea typeface="맑은 고딕"/>
                <a:cs typeface="맑은 고딕"/>
              </a:rPr>
              <a:t>QA4 Scalability</a:t>
            </a:r>
          </a:p>
        </p:txBody>
      </p:sp>
      <p:sp>
        <p:nvSpPr>
          <p:cNvPr id="87" name="Rectangle 86"/>
          <p:cNvSpPr/>
          <p:nvPr/>
        </p:nvSpPr>
        <p:spPr>
          <a:xfrm>
            <a:off x="9784080" y="5989320"/>
            <a:ext cx="320040" cy="20116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기존</a:t>
            </a:r>
          </a:p>
        </p:txBody>
      </p:sp>
      <p:sp>
        <p:nvSpPr>
          <p:cNvPr id="88" name="Rectangle 87"/>
          <p:cNvSpPr/>
          <p:nvPr/>
        </p:nvSpPr>
        <p:spPr>
          <a:xfrm>
            <a:off x="10149840" y="5989320"/>
            <a:ext cx="548640" cy="201168"/>
          </a:xfrm>
          <a:prstGeom prst="rect">
            <a:avLst/>
          </a:prstGeom>
          <a:solidFill>
            <a:srgbClr val="FFF2CC"/>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800" b="0" i="0" dirty="0" err="1">
                <a:solidFill>
                  <a:srgbClr val="000000"/>
                </a:solidFill>
                <a:latin typeface="맑은 고딕"/>
                <a:ea typeface="맑은 고딕"/>
                <a:cs typeface="맑은 고딕"/>
              </a:rPr>
              <a:t>신규</a:t>
            </a:r>
            <a:r>
              <a:rPr sz="800" b="0" i="0" dirty="0">
                <a:solidFill>
                  <a:srgbClr val="000000"/>
                </a:solidFill>
                <a:latin typeface="맑은 고딕"/>
                <a:ea typeface="맑은 고딕"/>
                <a:cs typeface="맑은 고딕"/>
              </a:rPr>
              <a:t>/</a:t>
            </a:r>
            <a:r>
              <a:rPr sz="800" b="0" i="0" dirty="0" err="1">
                <a:solidFill>
                  <a:srgbClr val="000000"/>
                </a:solidFill>
                <a:latin typeface="맑은 고딕"/>
                <a:ea typeface="맑은 고딕"/>
                <a:cs typeface="맑은 고딕"/>
              </a:rPr>
              <a:t>수정</a:t>
            </a:r>
            <a:endParaRPr sz="800" b="0" i="0" dirty="0">
              <a:solidFill>
                <a:srgbClr val="000000"/>
              </a:solidFill>
              <a:latin typeface="맑은 고딕"/>
              <a:ea typeface="맑은 고딕"/>
              <a:cs typeface="맑은 고딕"/>
            </a:endParaRPr>
          </a:p>
        </p:txBody>
      </p:sp>
      <p:sp>
        <p:nvSpPr>
          <p:cNvPr id="89" name="TextBox 88"/>
          <p:cNvSpPr txBox="1"/>
          <p:nvPr/>
        </p:nvSpPr>
        <p:spPr>
          <a:xfrm>
            <a:off x="10789920" y="6012180"/>
            <a:ext cx="1280160" cy="274320"/>
          </a:xfrm>
          <a:prstGeom prst="rect">
            <a:avLst/>
          </a:prstGeom>
          <a:noFill/>
        </p:spPr>
        <p:txBody>
          <a:bodyPr wrap="square" lIns="36576" tIns="18288" rIns="36576" bIns="18288" anchor="t">
            <a:spAutoFit/>
          </a:bodyPr>
          <a:lstStyle/>
          <a:p>
            <a:pPr algn="l">
              <a:spcAft>
                <a:spcPts val="0"/>
              </a:spcAft>
            </a:pPr>
            <a:r>
              <a:rPr sz="650" b="0" i="0">
                <a:solidFill>
                  <a:srgbClr val="595959"/>
                </a:solidFill>
                <a:latin typeface="맑은 고딕"/>
                <a:ea typeface="맑은 고딕"/>
                <a:cs typeface="맑은 고딕"/>
              </a:rPr>
              <a:t>테두리 색 = 담당 DP</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배경</a:t>
            </a:r>
          </a:p>
        </p:txBody>
      </p:sp>
      <p:sp>
        <p:nvSpPr>
          <p:cNvPr id="94" name="직사각형 93">
            <a:extLst>
              <a:ext uri="{FF2B5EF4-FFF2-40B4-BE49-F238E27FC236}">
                <a16:creationId xmlns:a16="http://schemas.microsoft.com/office/drawing/2014/main" id="{E3784E02-153A-49F1-A2CD-CE4252048DE7}"/>
              </a:ext>
            </a:extLst>
          </p:cNvPr>
          <p:cNvSpPr/>
          <p:nvPr/>
        </p:nvSpPr>
        <p:spPr>
          <a:xfrm>
            <a:off x="6306426" y="2054917"/>
            <a:ext cx="5581827" cy="3302391"/>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044361" y="1909388"/>
            <a:ext cx="4043238" cy="298539"/>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이기종 메모리 기반 시스템</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378605" y="1884594"/>
            <a:ext cx="5507847" cy="3472713"/>
            <a:chOff x="211958" y="4887480"/>
            <a:chExt cx="6173883" cy="3742196"/>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5074719"/>
              <a:ext cx="6173883" cy="3554957"/>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850622" y="4887480"/>
              <a:ext cx="4896555"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Legacy </a:t>
              </a:r>
              <a:r>
                <a:rPr lang="ko-KR" altLang="en-US" sz="1200" b="1" dirty="0"/>
                <a:t>시스템</a:t>
              </a:r>
            </a:p>
          </p:txBody>
        </p:sp>
      </p:grpSp>
      <p:sp>
        <p:nvSpPr>
          <p:cNvPr id="69" name="직사각형 68">
            <a:extLst>
              <a:ext uri="{FF2B5EF4-FFF2-40B4-BE49-F238E27FC236}">
                <a16:creationId xmlns:a16="http://schemas.microsoft.com/office/drawing/2014/main" id="{0BCCC85D-1FBD-4C83-B4AF-2792CFF0B2AB}"/>
              </a:ext>
            </a:extLst>
          </p:cNvPr>
          <p:cNvSpPr/>
          <p:nvPr/>
        </p:nvSpPr>
        <p:spPr>
          <a:xfrm>
            <a:off x="2814757" y="4037831"/>
            <a:ext cx="738509" cy="223103"/>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70" name="모서리가 둥근 직사각형 191">
            <a:extLst>
              <a:ext uri="{FF2B5EF4-FFF2-40B4-BE49-F238E27FC236}">
                <a16:creationId xmlns:a16="http://schemas.microsoft.com/office/drawing/2014/main" id="{795925F7-5E48-4631-95C6-073E2EFCFB23}"/>
              </a:ext>
            </a:extLst>
          </p:cNvPr>
          <p:cNvSpPr/>
          <p:nvPr/>
        </p:nvSpPr>
        <p:spPr>
          <a:xfrm>
            <a:off x="2768654" y="4449395"/>
            <a:ext cx="823758"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71" name="모서리가 둥근 직사각형 192">
            <a:extLst>
              <a:ext uri="{FF2B5EF4-FFF2-40B4-BE49-F238E27FC236}">
                <a16:creationId xmlns:a16="http://schemas.microsoft.com/office/drawing/2014/main" id="{36EA04E4-DB36-45E4-A5F7-44FA2EF7DFD9}"/>
              </a:ext>
            </a:extLst>
          </p:cNvPr>
          <p:cNvSpPr/>
          <p:nvPr/>
        </p:nvSpPr>
        <p:spPr>
          <a:xfrm>
            <a:off x="4066119" y="4038289"/>
            <a:ext cx="812361"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72" name="직선 연결선 9">
            <a:extLst>
              <a:ext uri="{FF2B5EF4-FFF2-40B4-BE49-F238E27FC236}">
                <a16:creationId xmlns:a16="http://schemas.microsoft.com/office/drawing/2014/main" id="{0C2B1A7B-490D-4C9D-B8ED-90DA508F84BF}"/>
              </a:ext>
            </a:extLst>
          </p:cNvPr>
          <p:cNvCxnSpPr>
            <a:stCxn id="76" idx="2"/>
            <a:endCxn id="69" idx="0"/>
          </p:cNvCxnSpPr>
          <p:nvPr/>
        </p:nvCxnSpPr>
        <p:spPr>
          <a:xfrm flipH="1">
            <a:off x="3184012" y="3841272"/>
            <a:ext cx="1" cy="196559"/>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3" name="직선 연결선 72">
            <a:extLst>
              <a:ext uri="{FF2B5EF4-FFF2-40B4-BE49-F238E27FC236}">
                <a16:creationId xmlns:a16="http://schemas.microsoft.com/office/drawing/2014/main" id="{C2183A2F-93CD-433A-ACCD-0495C8DC704A}"/>
              </a:ext>
            </a:extLst>
          </p:cNvPr>
          <p:cNvCxnSpPr>
            <a:stCxn id="69" idx="2"/>
            <a:endCxn id="70" idx="0"/>
          </p:cNvCxnSpPr>
          <p:nvPr/>
        </p:nvCxnSpPr>
        <p:spPr>
          <a:xfrm flipH="1">
            <a:off x="3180534" y="4260934"/>
            <a:ext cx="3479" cy="18846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6" name="직사각형 75">
            <a:extLst>
              <a:ext uri="{FF2B5EF4-FFF2-40B4-BE49-F238E27FC236}">
                <a16:creationId xmlns:a16="http://schemas.microsoft.com/office/drawing/2014/main" id="{E2D72289-DFF2-4325-8858-FE9248524064}"/>
              </a:ext>
            </a:extLst>
          </p:cNvPr>
          <p:cNvSpPr/>
          <p:nvPr/>
        </p:nvSpPr>
        <p:spPr>
          <a:xfrm>
            <a:off x="2814758" y="3595859"/>
            <a:ext cx="738509" cy="245413"/>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77" name="모서리가 둥근 직사각형 203">
            <a:extLst>
              <a:ext uri="{FF2B5EF4-FFF2-40B4-BE49-F238E27FC236}">
                <a16:creationId xmlns:a16="http://schemas.microsoft.com/office/drawing/2014/main" id="{EB81CB47-0F9C-4438-BAE0-E5E6FD1E3466}"/>
              </a:ext>
            </a:extLst>
          </p:cNvPr>
          <p:cNvSpPr/>
          <p:nvPr/>
        </p:nvSpPr>
        <p:spPr>
          <a:xfrm>
            <a:off x="2692536" y="2941039"/>
            <a:ext cx="982958" cy="24541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78" name="직선 연결선 77">
            <a:extLst>
              <a:ext uri="{FF2B5EF4-FFF2-40B4-BE49-F238E27FC236}">
                <a16:creationId xmlns:a16="http://schemas.microsoft.com/office/drawing/2014/main" id="{ADA754F7-D977-4FA1-BA67-909ACD5D2544}"/>
              </a:ext>
            </a:extLst>
          </p:cNvPr>
          <p:cNvCxnSpPr>
            <a:stCxn id="77" idx="2"/>
            <a:endCxn id="76" idx="0"/>
          </p:cNvCxnSpPr>
          <p:nvPr/>
        </p:nvCxnSpPr>
        <p:spPr>
          <a:xfrm flipH="1">
            <a:off x="3184013" y="3186452"/>
            <a:ext cx="2" cy="409407"/>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32" name="순서도: 자기 디스크 31">
            <a:extLst>
              <a:ext uri="{FF2B5EF4-FFF2-40B4-BE49-F238E27FC236}">
                <a16:creationId xmlns:a16="http://schemas.microsoft.com/office/drawing/2014/main" id="{B60E5847-1BBF-4D09-99AD-D48C86FB1CF9}"/>
              </a:ext>
            </a:extLst>
          </p:cNvPr>
          <p:cNvSpPr/>
          <p:nvPr/>
        </p:nvSpPr>
        <p:spPr>
          <a:xfrm>
            <a:off x="2425550" y="2886461"/>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grpSp>
        <p:nvGrpSpPr>
          <p:cNvPr id="34" name="그룹 33">
            <a:extLst>
              <a:ext uri="{FF2B5EF4-FFF2-40B4-BE49-F238E27FC236}">
                <a16:creationId xmlns:a16="http://schemas.microsoft.com/office/drawing/2014/main" id="{62DC0CEE-2DA3-476E-BB62-B5D9C5BC61FF}"/>
              </a:ext>
            </a:extLst>
          </p:cNvPr>
          <p:cNvGrpSpPr/>
          <p:nvPr/>
        </p:nvGrpSpPr>
        <p:grpSpPr>
          <a:xfrm>
            <a:off x="465858" y="2680841"/>
            <a:ext cx="1712141" cy="1624482"/>
            <a:chOff x="429779" y="2706833"/>
            <a:chExt cx="1687120" cy="1817828"/>
          </a:xfrm>
        </p:grpSpPr>
        <p:grpSp>
          <p:nvGrpSpPr>
            <p:cNvPr id="41" name="그룹 40">
              <a:extLst>
                <a:ext uri="{FF2B5EF4-FFF2-40B4-BE49-F238E27FC236}">
                  <a16:creationId xmlns:a16="http://schemas.microsoft.com/office/drawing/2014/main" id="{8002BEDB-1EE8-41BE-ABEB-777AD6C722D2}"/>
                </a:ext>
              </a:extLst>
            </p:cNvPr>
            <p:cNvGrpSpPr/>
            <p:nvPr/>
          </p:nvGrpSpPr>
          <p:grpSpPr>
            <a:xfrm>
              <a:off x="489941" y="3237748"/>
              <a:ext cx="797013" cy="253916"/>
              <a:chOff x="647355" y="4269583"/>
              <a:chExt cx="797013" cy="253916"/>
            </a:xfrm>
          </p:grpSpPr>
          <p:sp>
            <p:nvSpPr>
              <p:cNvPr id="66" name="모서리가 둥근 직사각형 235">
                <a:extLst>
                  <a:ext uri="{FF2B5EF4-FFF2-40B4-BE49-F238E27FC236}">
                    <a16:creationId xmlns:a16="http://schemas.microsoft.com/office/drawing/2014/main" id="{4C782C8E-3001-47D0-99C3-6AAE9A7F158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68" name="TextBox 67">
                <a:extLst>
                  <a:ext uri="{FF2B5EF4-FFF2-40B4-BE49-F238E27FC236}">
                    <a16:creationId xmlns:a16="http://schemas.microsoft.com/office/drawing/2014/main" id="{5FF0386B-ADF5-4388-8C24-8496BECCB2EE}"/>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42" name="직사각형 41">
              <a:extLst>
                <a:ext uri="{FF2B5EF4-FFF2-40B4-BE49-F238E27FC236}">
                  <a16:creationId xmlns:a16="http://schemas.microsoft.com/office/drawing/2014/main" id="{CF20F0B5-AE89-4B8D-B7C8-D3C108BAA476}"/>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43" name="TextBox 42">
              <a:extLst>
                <a:ext uri="{FF2B5EF4-FFF2-40B4-BE49-F238E27FC236}">
                  <a16:creationId xmlns:a16="http://schemas.microsoft.com/office/drawing/2014/main" id="{3201E123-549E-4895-99B4-30620C55E96F}"/>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44" name="그룹 43">
              <a:extLst>
                <a:ext uri="{FF2B5EF4-FFF2-40B4-BE49-F238E27FC236}">
                  <a16:creationId xmlns:a16="http://schemas.microsoft.com/office/drawing/2014/main" id="{DF78B081-B943-4ED8-B9CD-FED3C62BE9F5}"/>
                </a:ext>
              </a:extLst>
            </p:cNvPr>
            <p:cNvGrpSpPr/>
            <p:nvPr/>
          </p:nvGrpSpPr>
          <p:grpSpPr>
            <a:xfrm>
              <a:off x="489941" y="2997325"/>
              <a:ext cx="797013" cy="253916"/>
              <a:chOff x="647355" y="4269583"/>
              <a:chExt cx="797013" cy="253916"/>
            </a:xfrm>
          </p:grpSpPr>
          <p:sp>
            <p:nvSpPr>
              <p:cNvPr id="58" name="모서리가 둥근 직사각형 233">
                <a:extLst>
                  <a:ext uri="{FF2B5EF4-FFF2-40B4-BE49-F238E27FC236}">
                    <a16:creationId xmlns:a16="http://schemas.microsoft.com/office/drawing/2014/main" id="{6564B833-0767-4003-B556-6651C191AC8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65" name="TextBox 64">
                <a:extLst>
                  <a:ext uri="{FF2B5EF4-FFF2-40B4-BE49-F238E27FC236}">
                    <a16:creationId xmlns:a16="http://schemas.microsoft.com/office/drawing/2014/main" id="{B62003E2-245E-4E9C-A43A-AE30F0229791}"/>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45" name="그룹 44">
              <a:extLst>
                <a:ext uri="{FF2B5EF4-FFF2-40B4-BE49-F238E27FC236}">
                  <a16:creationId xmlns:a16="http://schemas.microsoft.com/office/drawing/2014/main" id="{27F3112F-9B9E-445E-930B-6B75186B9392}"/>
                </a:ext>
              </a:extLst>
            </p:cNvPr>
            <p:cNvGrpSpPr/>
            <p:nvPr/>
          </p:nvGrpSpPr>
          <p:grpSpPr>
            <a:xfrm>
              <a:off x="489941" y="3479840"/>
              <a:ext cx="797013" cy="253916"/>
              <a:chOff x="647355" y="4269583"/>
              <a:chExt cx="797013" cy="253916"/>
            </a:xfrm>
          </p:grpSpPr>
          <p:sp>
            <p:nvSpPr>
              <p:cNvPr id="56" name="모서리가 둥근 직사각형 231">
                <a:extLst>
                  <a:ext uri="{FF2B5EF4-FFF2-40B4-BE49-F238E27FC236}">
                    <a16:creationId xmlns:a16="http://schemas.microsoft.com/office/drawing/2014/main" id="{09148CD6-AAEB-4D4E-B9DF-11C6B9B5184A}"/>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57" name="TextBox 56">
                <a:extLst>
                  <a:ext uri="{FF2B5EF4-FFF2-40B4-BE49-F238E27FC236}">
                    <a16:creationId xmlns:a16="http://schemas.microsoft.com/office/drawing/2014/main" id="{349C797C-B670-470C-86A2-5B6F5D1AB591}"/>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46" name="그룹 45">
              <a:extLst>
                <a:ext uri="{FF2B5EF4-FFF2-40B4-BE49-F238E27FC236}">
                  <a16:creationId xmlns:a16="http://schemas.microsoft.com/office/drawing/2014/main" id="{2D8081D2-C12F-4E84-925C-ABAF65276E86}"/>
                </a:ext>
              </a:extLst>
            </p:cNvPr>
            <p:cNvGrpSpPr/>
            <p:nvPr/>
          </p:nvGrpSpPr>
          <p:grpSpPr>
            <a:xfrm>
              <a:off x="489941" y="3734968"/>
              <a:ext cx="797013" cy="253916"/>
              <a:chOff x="647355" y="4269583"/>
              <a:chExt cx="797013" cy="253916"/>
            </a:xfrm>
          </p:grpSpPr>
          <p:sp>
            <p:nvSpPr>
              <p:cNvPr id="54" name="모서리가 둥근 직사각형 229">
                <a:extLst>
                  <a:ext uri="{FF2B5EF4-FFF2-40B4-BE49-F238E27FC236}">
                    <a16:creationId xmlns:a16="http://schemas.microsoft.com/office/drawing/2014/main" id="{03ACE2DC-F464-41E2-AB0E-7F88ACE0B35D}"/>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55" name="TextBox 54">
                <a:extLst>
                  <a:ext uri="{FF2B5EF4-FFF2-40B4-BE49-F238E27FC236}">
                    <a16:creationId xmlns:a16="http://schemas.microsoft.com/office/drawing/2014/main" id="{3FE25738-9BE5-49D7-B255-69FFBB67736B}"/>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47" name="그룹 46">
              <a:extLst>
                <a:ext uri="{FF2B5EF4-FFF2-40B4-BE49-F238E27FC236}">
                  <a16:creationId xmlns:a16="http://schemas.microsoft.com/office/drawing/2014/main" id="{745FEE51-29B9-433D-AB8B-07B26990813C}"/>
                </a:ext>
              </a:extLst>
            </p:cNvPr>
            <p:cNvGrpSpPr/>
            <p:nvPr/>
          </p:nvGrpSpPr>
          <p:grpSpPr>
            <a:xfrm>
              <a:off x="489941" y="3980247"/>
              <a:ext cx="797013" cy="253916"/>
              <a:chOff x="647355" y="4269583"/>
              <a:chExt cx="797013" cy="253916"/>
            </a:xfrm>
          </p:grpSpPr>
          <p:sp>
            <p:nvSpPr>
              <p:cNvPr id="52" name="모서리가 둥근 직사각형 227">
                <a:extLst>
                  <a:ext uri="{FF2B5EF4-FFF2-40B4-BE49-F238E27FC236}">
                    <a16:creationId xmlns:a16="http://schemas.microsoft.com/office/drawing/2014/main" id="{4FF38D7F-7A41-4F4F-B363-076C41D7CE48}"/>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53" name="TextBox 52">
                <a:extLst>
                  <a:ext uri="{FF2B5EF4-FFF2-40B4-BE49-F238E27FC236}">
                    <a16:creationId xmlns:a16="http://schemas.microsoft.com/office/drawing/2014/main" id="{D532B14D-D796-4818-9173-A518D179414A}"/>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48" name="직선 화살표 연결선 47">
              <a:extLst>
                <a:ext uri="{FF2B5EF4-FFF2-40B4-BE49-F238E27FC236}">
                  <a16:creationId xmlns:a16="http://schemas.microsoft.com/office/drawing/2014/main" id="{CC6F8AD7-674C-420A-BA4D-9F0365B5AD1D}"/>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B361375F-FE80-48A8-8337-841D834CF66B}"/>
                </a:ext>
              </a:extLst>
            </p:cNvPr>
            <p:cNvSpPr txBox="1"/>
            <p:nvPr/>
          </p:nvSpPr>
          <p:spPr>
            <a:xfrm>
              <a:off x="1359966" y="3472535"/>
              <a:ext cx="756933" cy="284137"/>
            </a:xfrm>
            <a:prstGeom prst="rect">
              <a:avLst/>
            </a:prstGeom>
            <a:noFill/>
          </p:spPr>
          <p:txBody>
            <a:bodyPr wrap="none" rtlCol="0">
              <a:spAutoFit/>
            </a:bodyPr>
            <a:lstStyle/>
            <a:p>
              <a:r>
                <a:rPr lang="en-US" altLang="ko-KR" sz="1050" dirty="0"/>
                <a:t>Tool </a:t>
              </a:r>
              <a:r>
                <a:rPr lang="ko-KR" altLang="en-US" sz="1050" dirty="0"/>
                <a:t>호출</a:t>
              </a:r>
            </a:p>
          </p:txBody>
        </p:sp>
        <p:cxnSp>
          <p:nvCxnSpPr>
            <p:cNvPr id="50" name="직선 화살표 연결선 49">
              <a:extLst>
                <a:ext uri="{FF2B5EF4-FFF2-40B4-BE49-F238E27FC236}">
                  <a16:creationId xmlns:a16="http://schemas.microsoft.com/office/drawing/2014/main" id="{0399E6AF-8CE3-4E20-B31A-53478186EF6E}"/>
                </a:ext>
              </a:extLst>
            </p:cNvPr>
            <p:cNvCxnSpPr/>
            <p:nvPr/>
          </p:nvCxnSpPr>
          <p:spPr>
            <a:xfrm>
              <a:off x="1262757" y="3870467"/>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D758DD7F-522C-479B-8067-7B52AADCC004}"/>
                </a:ext>
              </a:extLst>
            </p:cNvPr>
            <p:cNvSpPr txBox="1"/>
            <p:nvPr/>
          </p:nvSpPr>
          <p:spPr>
            <a:xfrm>
              <a:off x="1359470" y="3744826"/>
              <a:ext cx="756933" cy="284137"/>
            </a:xfrm>
            <a:prstGeom prst="rect">
              <a:avLst/>
            </a:prstGeom>
            <a:noFill/>
          </p:spPr>
          <p:txBody>
            <a:bodyPr wrap="none" rtlCol="0">
              <a:spAutoFit/>
            </a:bodyPr>
            <a:lstStyle/>
            <a:p>
              <a:r>
                <a:rPr lang="en-US" altLang="ko-KR" sz="1050" dirty="0"/>
                <a:t>Tool </a:t>
              </a:r>
              <a:r>
                <a:rPr lang="ko-KR" altLang="en-US" sz="1050" dirty="0"/>
                <a:t>호출</a:t>
              </a:r>
            </a:p>
          </p:txBody>
        </p:sp>
      </p:grpSp>
      <p:sp>
        <p:nvSpPr>
          <p:cNvPr id="36" name="순서도: 자기 디스크 35">
            <a:extLst>
              <a:ext uri="{FF2B5EF4-FFF2-40B4-BE49-F238E27FC236}">
                <a16:creationId xmlns:a16="http://schemas.microsoft.com/office/drawing/2014/main" id="{8B833563-F08F-465A-B3B1-B0A298AE100A}"/>
              </a:ext>
            </a:extLst>
          </p:cNvPr>
          <p:cNvSpPr/>
          <p:nvPr/>
        </p:nvSpPr>
        <p:spPr>
          <a:xfrm>
            <a:off x="2421560" y="3114890"/>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37" name="순서도: 자기 디스크 36">
            <a:extLst>
              <a:ext uri="{FF2B5EF4-FFF2-40B4-BE49-F238E27FC236}">
                <a16:creationId xmlns:a16="http://schemas.microsoft.com/office/drawing/2014/main" id="{F9CCDF6C-EC90-44CA-A217-D2CDB4F7D1AB}"/>
              </a:ext>
            </a:extLst>
          </p:cNvPr>
          <p:cNvSpPr/>
          <p:nvPr/>
        </p:nvSpPr>
        <p:spPr>
          <a:xfrm>
            <a:off x="3525210" y="2882024"/>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smtClean="0"/>
              <a:t>KV3</a:t>
            </a:r>
            <a:endParaRPr lang="ko-KR" altLang="en-US" sz="800" b="1" dirty="0"/>
          </a:p>
        </p:txBody>
      </p:sp>
      <p:sp>
        <p:nvSpPr>
          <p:cNvPr id="89" name="순서도: 자기 디스크 88">
            <a:extLst>
              <a:ext uri="{FF2B5EF4-FFF2-40B4-BE49-F238E27FC236}">
                <a16:creationId xmlns:a16="http://schemas.microsoft.com/office/drawing/2014/main" id="{16AFB98C-FD20-4E62-B6C9-2B7176AD9DE9}"/>
              </a:ext>
            </a:extLst>
          </p:cNvPr>
          <p:cNvSpPr/>
          <p:nvPr/>
        </p:nvSpPr>
        <p:spPr>
          <a:xfrm>
            <a:off x="3484331" y="3134287"/>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90" name="순서도: 자기 디스크 89">
            <a:extLst>
              <a:ext uri="{FF2B5EF4-FFF2-40B4-BE49-F238E27FC236}">
                <a16:creationId xmlns:a16="http://schemas.microsoft.com/office/drawing/2014/main" id="{696CAC2C-4D5B-4756-B24C-F6E6574B3626}"/>
              </a:ext>
            </a:extLst>
          </p:cNvPr>
          <p:cNvSpPr/>
          <p:nvPr/>
        </p:nvSpPr>
        <p:spPr>
          <a:xfrm>
            <a:off x="2987415" y="3147743"/>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smtClean="0"/>
              <a:t>KV5</a:t>
            </a:r>
            <a:endParaRPr lang="ko-KR" altLang="en-US" sz="800" b="1" dirty="0"/>
          </a:p>
        </p:txBody>
      </p:sp>
      <p:cxnSp>
        <p:nvCxnSpPr>
          <p:cNvPr id="80" name="직선 연결선 221">
            <a:extLst>
              <a:ext uri="{FF2B5EF4-FFF2-40B4-BE49-F238E27FC236}">
                <a16:creationId xmlns:a16="http://schemas.microsoft.com/office/drawing/2014/main" id="{2BD88357-0182-4B7E-B446-564E4B8428DF}"/>
              </a:ext>
            </a:extLst>
          </p:cNvPr>
          <p:cNvCxnSpPr>
            <a:stCxn id="69" idx="3"/>
            <a:endCxn id="71" idx="1"/>
          </p:cNvCxnSpPr>
          <p:nvPr/>
        </p:nvCxnSpPr>
        <p:spPr>
          <a:xfrm>
            <a:off x="3553266" y="4149383"/>
            <a:ext cx="512853" cy="458"/>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81" name="모서리가 둥근 직사각형 192">
            <a:extLst>
              <a:ext uri="{FF2B5EF4-FFF2-40B4-BE49-F238E27FC236}">
                <a16:creationId xmlns:a16="http://schemas.microsoft.com/office/drawing/2014/main" id="{FCD63C2E-57BB-4395-BF39-EE45DC3D2ABB}"/>
              </a:ext>
            </a:extLst>
          </p:cNvPr>
          <p:cNvSpPr/>
          <p:nvPr/>
        </p:nvSpPr>
        <p:spPr>
          <a:xfrm>
            <a:off x="4925318" y="4903931"/>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86" name="Text 22">
            <a:extLst>
              <a:ext uri="{FF2B5EF4-FFF2-40B4-BE49-F238E27FC236}">
                <a16:creationId xmlns:a16="http://schemas.microsoft.com/office/drawing/2014/main" id="{CFF18E5A-0B87-439D-BF5E-AD93088D656A}"/>
              </a:ext>
            </a:extLst>
          </p:cNvPr>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spcAft>
                <a:spcPts val="300"/>
              </a:spcAft>
              <a:buFontTx/>
              <a:buChar char="-"/>
            </a:pPr>
            <a:r>
              <a:rPr lang="en-US" altLang="ko-KR" sz="1200" dirty="0"/>
              <a:t>Agent</a:t>
            </a:r>
            <a:r>
              <a:rPr lang="ko-KR" altLang="en-US" sz="1200" dirty="0"/>
              <a:t>의 </a:t>
            </a:r>
            <a:r>
              <a:rPr lang="en-US" altLang="ko-KR" sz="1200" dirty="0"/>
              <a:t>Multi-turn </a:t>
            </a:r>
            <a:r>
              <a:rPr lang="ko-KR" altLang="en-US" sz="1200" dirty="0"/>
              <a:t>및 병렬 작업으로 </a:t>
            </a:r>
            <a:r>
              <a:rPr lang="en-US" altLang="ko-KR" sz="1200" dirty="0"/>
              <a:t>Context</a:t>
            </a:r>
            <a:r>
              <a:rPr lang="ko-KR" altLang="en-US" sz="1200" dirty="0"/>
              <a:t>와 동시 요청이 증가하여 </a:t>
            </a:r>
            <a:r>
              <a:rPr lang="en-US" altLang="ko-KR" sz="1200" b="1" dirty="0">
                <a:solidFill>
                  <a:srgbClr val="FF0000"/>
                </a:solidFill>
              </a:rPr>
              <a:t>KV </a:t>
            </a:r>
            <a:r>
              <a:rPr lang="ko-KR" altLang="en-US" sz="1200" b="1" dirty="0">
                <a:solidFill>
                  <a:srgbClr val="FF0000"/>
                </a:solidFill>
              </a:rPr>
              <a:t>캐시의 메모리 요구량 급증</a:t>
            </a:r>
            <a:endParaRPr lang="en-US" altLang="ko-KR" sz="1200" b="1" dirty="0">
              <a:solidFill>
                <a:srgbClr val="FF0000"/>
              </a:solidFill>
            </a:endParaRPr>
          </a:p>
          <a:p>
            <a:pPr marL="285750" indent="-285750">
              <a:lnSpc>
                <a:spcPct val="150000"/>
              </a:lnSpc>
              <a:spcAft>
                <a:spcPts val="300"/>
              </a:spcAft>
              <a:buFontTx/>
              <a:buChar char="-"/>
            </a:pPr>
            <a:r>
              <a:rPr lang="en-US" altLang="ko-KR" sz="1200" dirty="0"/>
              <a:t>Tool </a:t>
            </a:r>
            <a:r>
              <a:rPr lang="ko-KR" altLang="en-US" sz="1200" dirty="0"/>
              <a:t>실행 및 응답 대기 중인 </a:t>
            </a:r>
            <a:r>
              <a:rPr lang="en-US" altLang="ko-KR" sz="1200" dirty="0"/>
              <a:t>KV </a:t>
            </a:r>
            <a:r>
              <a:rPr lang="ko-KR" altLang="en-US" sz="1200" dirty="0"/>
              <a:t>캐시의 </a:t>
            </a:r>
            <a:r>
              <a:rPr lang="en-US" altLang="ko-KR" sz="1200" dirty="0"/>
              <a:t>HBM </a:t>
            </a:r>
            <a:r>
              <a:rPr lang="ko-KR" altLang="en-US" sz="1200" dirty="0"/>
              <a:t>상주로 </a:t>
            </a:r>
            <a:r>
              <a:rPr lang="ko-KR" altLang="en-US" sz="1200" b="1" dirty="0">
                <a:solidFill>
                  <a:srgbClr val="FF0000"/>
                </a:solidFill>
              </a:rPr>
              <a:t>메모리 활용 효율 저하</a:t>
            </a:r>
            <a:r>
              <a:rPr lang="ko-KR" altLang="en-US" sz="1200" dirty="0"/>
              <a:t> </a:t>
            </a:r>
            <a:r>
              <a:rPr lang="ko-KR" altLang="en-US" sz="1200" dirty="0">
                <a:latin typeface="맑은 고딕" panose="020B0503020000020004" pitchFamily="50" charset="-127"/>
                <a:ea typeface="맑은 고딕" panose="020B0503020000020004" pitchFamily="50" charset="-127"/>
              </a:rPr>
              <a:t>→ </a:t>
            </a:r>
            <a:r>
              <a:rPr lang="en-US" altLang="ko-KR" sz="1200" dirty="0"/>
              <a:t>DRAM, CXL-Memory </a:t>
            </a:r>
            <a:r>
              <a:rPr lang="ko-KR" altLang="en-US" sz="1200" dirty="0"/>
              <a:t>등 다양한 메모리 활용 필요</a:t>
            </a:r>
            <a:endParaRPr lang="en-US" altLang="ko-KR" sz="1200" dirty="0"/>
          </a:p>
          <a:p>
            <a:pPr marL="285750" indent="-285750">
              <a:lnSpc>
                <a:spcPct val="150000"/>
              </a:lnSpc>
              <a:spcAft>
                <a:spcPts val="300"/>
              </a:spcAft>
              <a:buFontTx/>
              <a:buChar char="-"/>
            </a:pPr>
            <a:r>
              <a:rPr lang="ko-KR" altLang="en-US" sz="1200" dirty="0"/>
              <a:t>자원 상태와 데이터 접근 특성을 고려하여 </a:t>
            </a:r>
            <a:r>
              <a:rPr lang="ko-KR" altLang="en-US" sz="1200" b="1" dirty="0">
                <a:solidFill>
                  <a:srgbClr val="0066FF"/>
                </a:solidFill>
              </a:rPr>
              <a:t>메모리 간 데이터 이동을 동적으로 결정하는 </a:t>
            </a:r>
            <a:r>
              <a:rPr lang="en-US" altLang="ko-KR" sz="1200" b="1" dirty="0">
                <a:solidFill>
                  <a:srgbClr val="0066FF"/>
                </a:solidFill>
              </a:rPr>
              <a:t>Migration </a:t>
            </a:r>
            <a:r>
              <a:rPr lang="ko-KR" altLang="en-US" sz="1200" b="1" dirty="0">
                <a:solidFill>
                  <a:srgbClr val="0066FF"/>
                </a:solidFill>
              </a:rPr>
              <a:t>구조 필요 </a:t>
            </a:r>
            <a:endParaRPr lang="en-US" altLang="ko-KR" sz="1200" b="1" dirty="0">
              <a:solidFill>
                <a:srgbClr val="0066FF"/>
              </a:solidFill>
            </a:endParaRPr>
          </a:p>
        </p:txBody>
      </p:sp>
      <p:grpSp>
        <p:nvGrpSpPr>
          <p:cNvPr id="2" name="그룹 1"/>
          <p:cNvGrpSpPr/>
          <p:nvPr/>
        </p:nvGrpSpPr>
        <p:grpSpPr>
          <a:xfrm>
            <a:off x="583210" y="5869540"/>
            <a:ext cx="10141395" cy="325343"/>
            <a:chOff x="465858" y="5727372"/>
            <a:chExt cx="10141395" cy="325343"/>
          </a:xfrm>
        </p:grpSpPr>
        <p:sp>
          <p:nvSpPr>
            <p:cNvPr id="128" name="Text 22">
              <a:extLst>
                <a:ext uri="{FF2B5EF4-FFF2-40B4-BE49-F238E27FC236}">
                  <a16:creationId xmlns:a16="http://schemas.microsoft.com/office/drawing/2014/main" id="{6E4C06FB-5661-411C-992A-C3DD21D98412}"/>
                </a:ext>
              </a:extLst>
            </p:cNvPr>
            <p:cNvSpPr/>
            <p:nvPr/>
          </p:nvSpPr>
          <p:spPr>
            <a:xfrm>
              <a:off x="922542" y="5727372"/>
              <a:ext cx="9684711" cy="325343"/>
            </a:xfrm>
            <a:prstGeom prst="rect">
              <a:avLst/>
            </a:prstGeom>
            <a:noFill/>
            <a:ln/>
          </p:spPr>
          <p:txBody>
            <a:bodyPr wrap="square" lIns="0" tIns="0" rIns="0" bIns="0" rtlCol="0" anchor="t"/>
            <a:lstStyle/>
            <a:p>
              <a:pPr>
                <a:lnSpc>
                  <a:spcPct val="150000"/>
                </a:lnSpc>
              </a:pPr>
              <a:r>
                <a:rPr lang="ko-KR" altLang="en-US" sz="1600" b="1" dirty="0">
                  <a:solidFill>
                    <a:srgbClr val="0066FF"/>
                  </a:solidFill>
                  <a:sym typeface="Wingdings" panose="05000000000000000000" pitchFamily="2" charset="2"/>
                </a:rPr>
                <a:t>이기종 메모리의 자원 상태 및 데이터의 접근 특성을 인지한 데이터 이동 스케줄링 구조 설계 필요</a:t>
              </a:r>
              <a:endParaRPr lang="en-US" altLang="ko-KR" sz="1600" b="1" dirty="0">
                <a:solidFill>
                  <a:srgbClr val="0066FF"/>
                </a:solidFill>
                <a:sym typeface="Wingdings" panose="05000000000000000000" pitchFamily="2" charset="2"/>
              </a:endParaRPr>
            </a:p>
          </p:txBody>
        </p:sp>
        <p:sp>
          <p:nvSpPr>
            <p:cNvPr id="129" name="오른쪽 화살표 39">
              <a:extLst>
                <a:ext uri="{FF2B5EF4-FFF2-40B4-BE49-F238E27FC236}">
                  <a16:creationId xmlns:a16="http://schemas.microsoft.com/office/drawing/2014/main" id="{54EC47CE-2C51-4E80-9454-E8A1DE43DF59}"/>
                </a:ext>
              </a:extLst>
            </p:cNvPr>
            <p:cNvSpPr/>
            <p:nvPr/>
          </p:nvSpPr>
          <p:spPr>
            <a:xfrm>
              <a:off x="465858" y="5797701"/>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88" name="직사각형 87">
            <a:extLst>
              <a:ext uri="{FF2B5EF4-FFF2-40B4-BE49-F238E27FC236}">
                <a16:creationId xmlns:a16="http://schemas.microsoft.com/office/drawing/2014/main" id="{0BCCC85D-1FBD-4C83-B4AF-2792CFF0B2AB}"/>
              </a:ext>
            </a:extLst>
          </p:cNvPr>
          <p:cNvSpPr/>
          <p:nvPr/>
        </p:nvSpPr>
        <p:spPr>
          <a:xfrm>
            <a:off x="9339144" y="3965655"/>
            <a:ext cx="738509" cy="223103"/>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97" name="모서리가 둥근 직사각형 191">
            <a:extLst>
              <a:ext uri="{FF2B5EF4-FFF2-40B4-BE49-F238E27FC236}">
                <a16:creationId xmlns:a16="http://schemas.microsoft.com/office/drawing/2014/main" id="{795925F7-5E48-4631-95C6-073E2EFCFB23}"/>
              </a:ext>
            </a:extLst>
          </p:cNvPr>
          <p:cNvSpPr/>
          <p:nvPr/>
        </p:nvSpPr>
        <p:spPr>
          <a:xfrm>
            <a:off x="9293041" y="4377219"/>
            <a:ext cx="823758"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SSD-PIM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98" name="모서리가 둥근 직사각형 192">
            <a:extLst>
              <a:ext uri="{FF2B5EF4-FFF2-40B4-BE49-F238E27FC236}">
                <a16:creationId xmlns:a16="http://schemas.microsoft.com/office/drawing/2014/main" id="{36EA04E4-DB36-45E4-A5F7-44FA2EF7DFD9}"/>
              </a:ext>
            </a:extLst>
          </p:cNvPr>
          <p:cNvSpPr/>
          <p:nvPr/>
        </p:nvSpPr>
        <p:spPr>
          <a:xfrm>
            <a:off x="10590506" y="4120947"/>
            <a:ext cx="812361"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01" name="직선 연결선 9">
            <a:extLst>
              <a:ext uri="{FF2B5EF4-FFF2-40B4-BE49-F238E27FC236}">
                <a16:creationId xmlns:a16="http://schemas.microsoft.com/office/drawing/2014/main" id="{0C2B1A7B-490D-4C9D-B8ED-90DA508F84BF}"/>
              </a:ext>
            </a:extLst>
          </p:cNvPr>
          <p:cNvCxnSpPr>
            <a:stCxn id="114" idx="2"/>
            <a:endCxn id="88" idx="0"/>
          </p:cNvCxnSpPr>
          <p:nvPr/>
        </p:nvCxnSpPr>
        <p:spPr>
          <a:xfrm flipH="1">
            <a:off x="9708399" y="3604130"/>
            <a:ext cx="1" cy="361525"/>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7" name="직선 연결선 106">
            <a:extLst>
              <a:ext uri="{FF2B5EF4-FFF2-40B4-BE49-F238E27FC236}">
                <a16:creationId xmlns:a16="http://schemas.microsoft.com/office/drawing/2014/main" id="{C2183A2F-93CD-433A-ACCD-0495C8DC704A}"/>
              </a:ext>
            </a:extLst>
          </p:cNvPr>
          <p:cNvCxnSpPr>
            <a:stCxn id="88" idx="2"/>
            <a:endCxn id="97" idx="0"/>
          </p:cNvCxnSpPr>
          <p:nvPr/>
        </p:nvCxnSpPr>
        <p:spPr>
          <a:xfrm flipH="1">
            <a:off x="9704921" y="4188758"/>
            <a:ext cx="3479" cy="18846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08" name="그룹 107">
            <a:extLst>
              <a:ext uri="{FF2B5EF4-FFF2-40B4-BE49-F238E27FC236}">
                <a16:creationId xmlns:a16="http://schemas.microsoft.com/office/drawing/2014/main" id="{EEF64109-7928-450D-9D6B-83692369E70C}"/>
              </a:ext>
            </a:extLst>
          </p:cNvPr>
          <p:cNvGrpSpPr/>
          <p:nvPr/>
        </p:nvGrpSpPr>
        <p:grpSpPr>
          <a:xfrm>
            <a:off x="9216923" y="2907750"/>
            <a:ext cx="982958" cy="696380"/>
            <a:chOff x="2993908" y="2540807"/>
            <a:chExt cx="959776" cy="797998"/>
          </a:xfrm>
        </p:grpSpPr>
        <p:sp>
          <p:nvSpPr>
            <p:cNvPr id="114" name="직사각형 113">
              <a:extLst>
                <a:ext uri="{FF2B5EF4-FFF2-40B4-BE49-F238E27FC236}">
                  <a16:creationId xmlns:a16="http://schemas.microsoft.com/office/drawing/2014/main" id="{E2D72289-DFF2-4325-8858-FE9248524064}"/>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15" name="모서리가 둥근 직사각형 203">
              <a:extLst>
                <a:ext uri="{FF2B5EF4-FFF2-40B4-BE49-F238E27FC236}">
                  <a16:creationId xmlns:a16="http://schemas.microsoft.com/office/drawing/2014/main" id="{EB81CB47-0F9C-4438-BAE0-E5E6FD1E3466}"/>
                </a:ext>
              </a:extLst>
            </p:cNvPr>
            <p:cNvSpPr/>
            <p:nvPr/>
          </p:nvSpPr>
          <p:spPr>
            <a:xfrm>
              <a:off x="2993908" y="2540807"/>
              <a:ext cx="959776"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24" name="직선 연결선 123">
              <a:extLst>
                <a:ext uri="{FF2B5EF4-FFF2-40B4-BE49-F238E27FC236}">
                  <a16:creationId xmlns:a16="http://schemas.microsoft.com/office/drawing/2014/main" id="{ADA754F7-D977-4FA1-BA67-909ACD5D2544}"/>
                </a:ext>
              </a:extLst>
            </p:cNvPr>
            <p:cNvCxnSpPr>
              <a:stCxn id="115" idx="2"/>
              <a:endCxn id="114"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10" name="모서리가 둥근 직사각형 240">
            <a:extLst>
              <a:ext uri="{FF2B5EF4-FFF2-40B4-BE49-F238E27FC236}">
                <a16:creationId xmlns:a16="http://schemas.microsoft.com/office/drawing/2014/main" id="{449DBC07-FA70-4448-8EEA-509B451A505C}"/>
              </a:ext>
            </a:extLst>
          </p:cNvPr>
          <p:cNvSpPr/>
          <p:nvPr/>
        </p:nvSpPr>
        <p:spPr>
          <a:xfrm>
            <a:off x="8255730" y="3965654"/>
            <a:ext cx="862705"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CXL-PNM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26" name="직선 연결선 125">
            <a:extLst>
              <a:ext uri="{FF2B5EF4-FFF2-40B4-BE49-F238E27FC236}">
                <a16:creationId xmlns:a16="http://schemas.microsoft.com/office/drawing/2014/main" id="{F0EDFE42-9E3C-4B44-9C17-E441AA365B76}"/>
              </a:ext>
            </a:extLst>
          </p:cNvPr>
          <p:cNvCxnSpPr>
            <a:stCxn id="110" idx="3"/>
            <a:endCxn id="88" idx="1"/>
          </p:cNvCxnSpPr>
          <p:nvPr/>
        </p:nvCxnSpPr>
        <p:spPr>
          <a:xfrm>
            <a:off x="9118434" y="4077207"/>
            <a:ext cx="220710"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31" name="순서도: 자기 디스크 130">
            <a:extLst>
              <a:ext uri="{FF2B5EF4-FFF2-40B4-BE49-F238E27FC236}">
                <a16:creationId xmlns:a16="http://schemas.microsoft.com/office/drawing/2014/main" id="{B60E5847-1BBF-4D09-99AD-D48C86FB1CF9}"/>
              </a:ext>
            </a:extLst>
          </p:cNvPr>
          <p:cNvSpPr/>
          <p:nvPr/>
        </p:nvSpPr>
        <p:spPr>
          <a:xfrm>
            <a:off x="8949937" y="2853172"/>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grpSp>
        <p:nvGrpSpPr>
          <p:cNvPr id="132" name="그룹 131">
            <a:extLst>
              <a:ext uri="{FF2B5EF4-FFF2-40B4-BE49-F238E27FC236}">
                <a16:creationId xmlns:a16="http://schemas.microsoft.com/office/drawing/2014/main" id="{62DC0CEE-2DA3-476E-BB62-B5D9C5BC61FF}"/>
              </a:ext>
            </a:extLst>
          </p:cNvPr>
          <p:cNvGrpSpPr/>
          <p:nvPr/>
        </p:nvGrpSpPr>
        <p:grpSpPr>
          <a:xfrm>
            <a:off x="6450404" y="2680841"/>
            <a:ext cx="1712141" cy="1624482"/>
            <a:chOff x="429779" y="2706833"/>
            <a:chExt cx="1687120" cy="1817828"/>
          </a:xfrm>
        </p:grpSpPr>
        <p:grpSp>
          <p:nvGrpSpPr>
            <p:cNvPr id="133" name="그룹 132">
              <a:extLst>
                <a:ext uri="{FF2B5EF4-FFF2-40B4-BE49-F238E27FC236}">
                  <a16:creationId xmlns:a16="http://schemas.microsoft.com/office/drawing/2014/main" id="{8002BEDB-1EE8-41BE-ABEB-777AD6C722D2}"/>
                </a:ext>
              </a:extLst>
            </p:cNvPr>
            <p:cNvGrpSpPr/>
            <p:nvPr/>
          </p:nvGrpSpPr>
          <p:grpSpPr>
            <a:xfrm>
              <a:off x="489941" y="3237748"/>
              <a:ext cx="797013" cy="253916"/>
              <a:chOff x="647355" y="4269583"/>
              <a:chExt cx="797013" cy="253916"/>
            </a:xfrm>
          </p:grpSpPr>
          <p:sp>
            <p:nvSpPr>
              <p:cNvPr id="152" name="모서리가 둥근 직사각형 235">
                <a:extLst>
                  <a:ext uri="{FF2B5EF4-FFF2-40B4-BE49-F238E27FC236}">
                    <a16:creationId xmlns:a16="http://schemas.microsoft.com/office/drawing/2014/main" id="{4C782C8E-3001-47D0-99C3-6AAE9A7F158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153" name="TextBox 152">
                <a:extLst>
                  <a:ext uri="{FF2B5EF4-FFF2-40B4-BE49-F238E27FC236}">
                    <a16:creationId xmlns:a16="http://schemas.microsoft.com/office/drawing/2014/main" id="{5FF0386B-ADF5-4388-8C24-8496BECCB2EE}"/>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134" name="직사각형 133">
              <a:extLst>
                <a:ext uri="{FF2B5EF4-FFF2-40B4-BE49-F238E27FC236}">
                  <a16:creationId xmlns:a16="http://schemas.microsoft.com/office/drawing/2014/main" id="{CF20F0B5-AE89-4B8D-B7C8-D3C108BAA476}"/>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135" name="TextBox 134">
              <a:extLst>
                <a:ext uri="{FF2B5EF4-FFF2-40B4-BE49-F238E27FC236}">
                  <a16:creationId xmlns:a16="http://schemas.microsoft.com/office/drawing/2014/main" id="{3201E123-549E-4895-99B4-30620C55E96F}"/>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136" name="그룹 135">
              <a:extLst>
                <a:ext uri="{FF2B5EF4-FFF2-40B4-BE49-F238E27FC236}">
                  <a16:creationId xmlns:a16="http://schemas.microsoft.com/office/drawing/2014/main" id="{DF78B081-B943-4ED8-B9CD-FED3C62BE9F5}"/>
                </a:ext>
              </a:extLst>
            </p:cNvPr>
            <p:cNvGrpSpPr/>
            <p:nvPr/>
          </p:nvGrpSpPr>
          <p:grpSpPr>
            <a:xfrm>
              <a:off x="489941" y="2997325"/>
              <a:ext cx="797013" cy="253916"/>
              <a:chOff x="647355" y="4269583"/>
              <a:chExt cx="797013" cy="253916"/>
            </a:xfrm>
          </p:grpSpPr>
          <p:sp>
            <p:nvSpPr>
              <p:cNvPr id="150" name="모서리가 둥근 직사각형 233">
                <a:extLst>
                  <a:ext uri="{FF2B5EF4-FFF2-40B4-BE49-F238E27FC236}">
                    <a16:creationId xmlns:a16="http://schemas.microsoft.com/office/drawing/2014/main" id="{6564B833-0767-4003-B556-6651C191AC8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151" name="TextBox 150">
                <a:extLst>
                  <a:ext uri="{FF2B5EF4-FFF2-40B4-BE49-F238E27FC236}">
                    <a16:creationId xmlns:a16="http://schemas.microsoft.com/office/drawing/2014/main" id="{B62003E2-245E-4E9C-A43A-AE30F0229791}"/>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137" name="그룹 136">
              <a:extLst>
                <a:ext uri="{FF2B5EF4-FFF2-40B4-BE49-F238E27FC236}">
                  <a16:creationId xmlns:a16="http://schemas.microsoft.com/office/drawing/2014/main" id="{27F3112F-9B9E-445E-930B-6B75186B9392}"/>
                </a:ext>
              </a:extLst>
            </p:cNvPr>
            <p:cNvGrpSpPr/>
            <p:nvPr/>
          </p:nvGrpSpPr>
          <p:grpSpPr>
            <a:xfrm>
              <a:off x="489941" y="3479840"/>
              <a:ext cx="797013" cy="253916"/>
              <a:chOff x="647355" y="4269583"/>
              <a:chExt cx="797013" cy="253916"/>
            </a:xfrm>
          </p:grpSpPr>
          <p:sp>
            <p:nvSpPr>
              <p:cNvPr id="148" name="모서리가 둥근 직사각형 231">
                <a:extLst>
                  <a:ext uri="{FF2B5EF4-FFF2-40B4-BE49-F238E27FC236}">
                    <a16:creationId xmlns:a16="http://schemas.microsoft.com/office/drawing/2014/main" id="{09148CD6-AAEB-4D4E-B9DF-11C6B9B5184A}"/>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149" name="TextBox 148">
                <a:extLst>
                  <a:ext uri="{FF2B5EF4-FFF2-40B4-BE49-F238E27FC236}">
                    <a16:creationId xmlns:a16="http://schemas.microsoft.com/office/drawing/2014/main" id="{349C797C-B670-470C-86A2-5B6F5D1AB591}"/>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138" name="그룹 137">
              <a:extLst>
                <a:ext uri="{FF2B5EF4-FFF2-40B4-BE49-F238E27FC236}">
                  <a16:creationId xmlns:a16="http://schemas.microsoft.com/office/drawing/2014/main" id="{2D8081D2-C12F-4E84-925C-ABAF65276E86}"/>
                </a:ext>
              </a:extLst>
            </p:cNvPr>
            <p:cNvGrpSpPr/>
            <p:nvPr/>
          </p:nvGrpSpPr>
          <p:grpSpPr>
            <a:xfrm>
              <a:off x="489941" y="3734968"/>
              <a:ext cx="797013" cy="253916"/>
              <a:chOff x="647355" y="4269583"/>
              <a:chExt cx="797013" cy="253916"/>
            </a:xfrm>
          </p:grpSpPr>
          <p:sp>
            <p:nvSpPr>
              <p:cNvPr id="146" name="모서리가 둥근 직사각형 229">
                <a:extLst>
                  <a:ext uri="{FF2B5EF4-FFF2-40B4-BE49-F238E27FC236}">
                    <a16:creationId xmlns:a16="http://schemas.microsoft.com/office/drawing/2014/main" id="{03ACE2DC-F464-41E2-AB0E-7F88ACE0B35D}"/>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147" name="TextBox 146">
                <a:extLst>
                  <a:ext uri="{FF2B5EF4-FFF2-40B4-BE49-F238E27FC236}">
                    <a16:creationId xmlns:a16="http://schemas.microsoft.com/office/drawing/2014/main" id="{3FE25738-9BE5-49D7-B255-69FFBB67736B}"/>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139" name="그룹 138">
              <a:extLst>
                <a:ext uri="{FF2B5EF4-FFF2-40B4-BE49-F238E27FC236}">
                  <a16:creationId xmlns:a16="http://schemas.microsoft.com/office/drawing/2014/main" id="{745FEE51-29B9-433D-AB8B-07B26990813C}"/>
                </a:ext>
              </a:extLst>
            </p:cNvPr>
            <p:cNvGrpSpPr/>
            <p:nvPr/>
          </p:nvGrpSpPr>
          <p:grpSpPr>
            <a:xfrm>
              <a:off x="489941" y="3980247"/>
              <a:ext cx="797013" cy="253916"/>
              <a:chOff x="647355" y="4269583"/>
              <a:chExt cx="797013" cy="253916"/>
            </a:xfrm>
          </p:grpSpPr>
          <p:sp>
            <p:nvSpPr>
              <p:cNvPr id="144" name="모서리가 둥근 직사각형 227">
                <a:extLst>
                  <a:ext uri="{FF2B5EF4-FFF2-40B4-BE49-F238E27FC236}">
                    <a16:creationId xmlns:a16="http://schemas.microsoft.com/office/drawing/2014/main" id="{4FF38D7F-7A41-4F4F-B363-076C41D7CE48}"/>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145" name="TextBox 144">
                <a:extLst>
                  <a:ext uri="{FF2B5EF4-FFF2-40B4-BE49-F238E27FC236}">
                    <a16:creationId xmlns:a16="http://schemas.microsoft.com/office/drawing/2014/main" id="{D532B14D-D796-4818-9173-A518D179414A}"/>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140" name="직선 화살표 연결선 139">
              <a:extLst>
                <a:ext uri="{FF2B5EF4-FFF2-40B4-BE49-F238E27FC236}">
                  <a16:creationId xmlns:a16="http://schemas.microsoft.com/office/drawing/2014/main" id="{CC6F8AD7-674C-420A-BA4D-9F0365B5AD1D}"/>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1" name="TextBox 140">
              <a:extLst>
                <a:ext uri="{FF2B5EF4-FFF2-40B4-BE49-F238E27FC236}">
                  <a16:creationId xmlns:a16="http://schemas.microsoft.com/office/drawing/2014/main" id="{B361375F-FE80-48A8-8337-841D834CF66B}"/>
                </a:ext>
              </a:extLst>
            </p:cNvPr>
            <p:cNvSpPr txBox="1"/>
            <p:nvPr/>
          </p:nvSpPr>
          <p:spPr>
            <a:xfrm>
              <a:off x="1359966" y="3472535"/>
              <a:ext cx="756933" cy="284137"/>
            </a:xfrm>
            <a:prstGeom prst="rect">
              <a:avLst/>
            </a:prstGeom>
            <a:noFill/>
          </p:spPr>
          <p:txBody>
            <a:bodyPr wrap="none" rtlCol="0">
              <a:spAutoFit/>
            </a:bodyPr>
            <a:lstStyle/>
            <a:p>
              <a:r>
                <a:rPr lang="en-US" altLang="ko-KR" sz="1050" dirty="0"/>
                <a:t>Tool </a:t>
              </a:r>
              <a:r>
                <a:rPr lang="ko-KR" altLang="en-US" sz="1050" dirty="0"/>
                <a:t>호출</a:t>
              </a:r>
            </a:p>
          </p:txBody>
        </p:sp>
        <p:cxnSp>
          <p:nvCxnSpPr>
            <p:cNvPr id="142" name="직선 화살표 연결선 141">
              <a:extLst>
                <a:ext uri="{FF2B5EF4-FFF2-40B4-BE49-F238E27FC236}">
                  <a16:creationId xmlns:a16="http://schemas.microsoft.com/office/drawing/2014/main" id="{0399E6AF-8CE3-4E20-B31A-53478186EF6E}"/>
                </a:ext>
              </a:extLst>
            </p:cNvPr>
            <p:cNvCxnSpPr/>
            <p:nvPr/>
          </p:nvCxnSpPr>
          <p:spPr>
            <a:xfrm>
              <a:off x="1262757" y="3870467"/>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3" name="TextBox 142">
              <a:extLst>
                <a:ext uri="{FF2B5EF4-FFF2-40B4-BE49-F238E27FC236}">
                  <a16:creationId xmlns:a16="http://schemas.microsoft.com/office/drawing/2014/main" id="{D758DD7F-522C-479B-8067-7B52AADCC004}"/>
                </a:ext>
              </a:extLst>
            </p:cNvPr>
            <p:cNvSpPr txBox="1"/>
            <p:nvPr/>
          </p:nvSpPr>
          <p:spPr>
            <a:xfrm>
              <a:off x="1359470" y="3744826"/>
              <a:ext cx="756933" cy="284137"/>
            </a:xfrm>
            <a:prstGeom prst="rect">
              <a:avLst/>
            </a:prstGeom>
            <a:noFill/>
          </p:spPr>
          <p:txBody>
            <a:bodyPr wrap="none" rtlCol="0">
              <a:spAutoFit/>
            </a:bodyPr>
            <a:lstStyle/>
            <a:p>
              <a:r>
                <a:rPr lang="en-US" altLang="ko-KR" sz="1050" dirty="0"/>
                <a:t>Tool </a:t>
              </a:r>
              <a:r>
                <a:rPr lang="ko-KR" altLang="en-US" sz="1050" dirty="0"/>
                <a:t>호출</a:t>
              </a:r>
            </a:p>
          </p:txBody>
        </p:sp>
      </p:grpSp>
      <p:sp>
        <p:nvSpPr>
          <p:cNvPr id="155" name="순서도: 자기 디스크 154">
            <a:extLst>
              <a:ext uri="{FF2B5EF4-FFF2-40B4-BE49-F238E27FC236}">
                <a16:creationId xmlns:a16="http://schemas.microsoft.com/office/drawing/2014/main" id="{8B833563-F08F-465A-B3B1-B0A298AE100A}"/>
              </a:ext>
            </a:extLst>
          </p:cNvPr>
          <p:cNvSpPr/>
          <p:nvPr/>
        </p:nvSpPr>
        <p:spPr>
          <a:xfrm>
            <a:off x="8945947" y="3081601"/>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156" name="순서도: 자기 디스크 155">
            <a:extLst>
              <a:ext uri="{FF2B5EF4-FFF2-40B4-BE49-F238E27FC236}">
                <a16:creationId xmlns:a16="http://schemas.microsoft.com/office/drawing/2014/main" id="{F9CCDF6C-EC90-44CA-A217-D2CDB4F7D1AB}"/>
              </a:ext>
            </a:extLst>
          </p:cNvPr>
          <p:cNvSpPr/>
          <p:nvPr/>
        </p:nvSpPr>
        <p:spPr>
          <a:xfrm>
            <a:off x="10049597" y="2848735"/>
            <a:ext cx="386234" cy="201802"/>
          </a:xfrm>
          <a:prstGeom prst="flowChartMagneticDisk">
            <a:avLst/>
          </a:prstGeom>
          <a:ln>
            <a:solidFill>
              <a:srgbClr val="FF0000"/>
            </a:solidFill>
            <a:prstDash val="dash"/>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157" name="순서도: 자기 디스크 156">
            <a:extLst>
              <a:ext uri="{FF2B5EF4-FFF2-40B4-BE49-F238E27FC236}">
                <a16:creationId xmlns:a16="http://schemas.microsoft.com/office/drawing/2014/main" id="{78DE9643-1AF8-42FA-A516-0F925CD549F2}"/>
              </a:ext>
            </a:extLst>
          </p:cNvPr>
          <p:cNvSpPr/>
          <p:nvPr/>
        </p:nvSpPr>
        <p:spPr>
          <a:xfrm>
            <a:off x="8958450" y="3826301"/>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158" name="순서도: 자기 디스크 157">
            <a:extLst>
              <a:ext uri="{FF2B5EF4-FFF2-40B4-BE49-F238E27FC236}">
                <a16:creationId xmlns:a16="http://schemas.microsoft.com/office/drawing/2014/main" id="{AD3237B1-3522-4FA1-98DE-3114F707C892}"/>
              </a:ext>
            </a:extLst>
          </p:cNvPr>
          <p:cNvSpPr/>
          <p:nvPr/>
        </p:nvSpPr>
        <p:spPr>
          <a:xfrm>
            <a:off x="10019081" y="4263288"/>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159" name="순서도: 자기 디스크 158">
            <a:extLst>
              <a:ext uri="{FF2B5EF4-FFF2-40B4-BE49-F238E27FC236}">
                <a16:creationId xmlns:a16="http://schemas.microsoft.com/office/drawing/2014/main" id="{16AFB98C-FD20-4E62-B6C9-2B7176AD9DE9}"/>
              </a:ext>
            </a:extLst>
          </p:cNvPr>
          <p:cNvSpPr/>
          <p:nvPr/>
        </p:nvSpPr>
        <p:spPr>
          <a:xfrm>
            <a:off x="9939139" y="3100998"/>
            <a:ext cx="386234" cy="201802"/>
          </a:xfrm>
          <a:prstGeom prst="flowChartMagneticDisk">
            <a:avLst/>
          </a:prstGeom>
          <a:ln>
            <a:solidFill>
              <a:srgbClr val="FF0000"/>
            </a:solidFill>
            <a:prstDash val="dash"/>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160" name="순서도: 자기 디스크 159">
            <a:extLst>
              <a:ext uri="{FF2B5EF4-FFF2-40B4-BE49-F238E27FC236}">
                <a16:creationId xmlns:a16="http://schemas.microsoft.com/office/drawing/2014/main" id="{696CAC2C-4D5B-4756-B24C-F6E6574B3626}"/>
              </a:ext>
            </a:extLst>
          </p:cNvPr>
          <p:cNvSpPr/>
          <p:nvPr/>
        </p:nvSpPr>
        <p:spPr>
          <a:xfrm>
            <a:off x="9492765" y="3137115"/>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smtClean="0"/>
              <a:t>KV5</a:t>
            </a:r>
            <a:endParaRPr lang="ko-KR" altLang="en-US" sz="800" b="1" dirty="0"/>
          </a:p>
        </p:txBody>
      </p:sp>
      <p:cxnSp>
        <p:nvCxnSpPr>
          <p:cNvPr id="161" name="직선 연결선 221">
            <a:extLst>
              <a:ext uri="{FF2B5EF4-FFF2-40B4-BE49-F238E27FC236}">
                <a16:creationId xmlns:a16="http://schemas.microsoft.com/office/drawing/2014/main" id="{2BD88357-0182-4B7E-B446-564E4B8428DF}"/>
              </a:ext>
            </a:extLst>
          </p:cNvPr>
          <p:cNvCxnSpPr>
            <a:stCxn id="88" idx="3"/>
            <a:endCxn id="98" idx="1"/>
          </p:cNvCxnSpPr>
          <p:nvPr/>
        </p:nvCxnSpPr>
        <p:spPr>
          <a:xfrm>
            <a:off x="10077653" y="4077207"/>
            <a:ext cx="512853" cy="155292"/>
          </a:xfrm>
          <a:prstGeom prst="bentConnector3">
            <a:avLst>
              <a:gd name="adj1" fmla="val 50000"/>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62" name="모서리가 둥근 직사각형 192">
            <a:extLst>
              <a:ext uri="{FF2B5EF4-FFF2-40B4-BE49-F238E27FC236}">
                <a16:creationId xmlns:a16="http://schemas.microsoft.com/office/drawing/2014/main" id="{FCD63C2E-57BB-4395-BF39-EE45DC3D2ABB}"/>
              </a:ext>
            </a:extLst>
          </p:cNvPr>
          <p:cNvSpPr/>
          <p:nvPr/>
        </p:nvSpPr>
        <p:spPr>
          <a:xfrm>
            <a:off x="10892707" y="5015483"/>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163" name="모서리가 둥근 직사각형 192">
            <a:extLst>
              <a:ext uri="{FF2B5EF4-FFF2-40B4-BE49-F238E27FC236}">
                <a16:creationId xmlns:a16="http://schemas.microsoft.com/office/drawing/2014/main" id="{25934FFE-8773-4246-B5D3-741DE9E57005}"/>
              </a:ext>
            </a:extLst>
          </p:cNvPr>
          <p:cNvSpPr/>
          <p:nvPr/>
        </p:nvSpPr>
        <p:spPr>
          <a:xfrm>
            <a:off x="10892707" y="4755156"/>
            <a:ext cx="817052"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신규 메모리</a:t>
            </a:r>
          </a:p>
        </p:txBody>
      </p:sp>
      <p:cxnSp>
        <p:nvCxnSpPr>
          <p:cNvPr id="166" name="직선 화살표 연결선 5">
            <a:extLst>
              <a:ext uri="{FF2B5EF4-FFF2-40B4-BE49-F238E27FC236}">
                <a16:creationId xmlns:a16="http://schemas.microsoft.com/office/drawing/2014/main" id="{16B80118-F351-4EC8-8938-C7A54CF51D87}"/>
              </a:ext>
            </a:extLst>
          </p:cNvPr>
          <p:cNvCxnSpPr>
            <a:cxnSpLocks/>
            <a:stCxn id="156" idx="4"/>
            <a:endCxn id="158" idx="1"/>
          </p:cNvCxnSpPr>
          <p:nvPr/>
        </p:nvCxnSpPr>
        <p:spPr>
          <a:xfrm flipH="1">
            <a:off x="10212198" y="2949636"/>
            <a:ext cx="223633" cy="1313652"/>
          </a:xfrm>
          <a:prstGeom prst="bentConnector4">
            <a:avLst>
              <a:gd name="adj1" fmla="val -102221"/>
              <a:gd name="adj2" fmla="val 5384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직선 화살표 연결선 5">
            <a:extLst>
              <a:ext uri="{FF2B5EF4-FFF2-40B4-BE49-F238E27FC236}">
                <a16:creationId xmlns:a16="http://schemas.microsoft.com/office/drawing/2014/main" id="{A07ED061-B608-4349-9A33-84FBAFCB9792}"/>
              </a:ext>
            </a:extLst>
          </p:cNvPr>
          <p:cNvCxnSpPr>
            <a:cxnSpLocks/>
            <a:stCxn id="159" idx="3"/>
            <a:endCxn id="157" idx="1"/>
          </p:cNvCxnSpPr>
          <p:nvPr/>
        </p:nvCxnSpPr>
        <p:spPr>
          <a:xfrm rot="5400000">
            <a:off x="9380162" y="3074206"/>
            <a:ext cx="523501" cy="980689"/>
          </a:xfrm>
          <a:prstGeom prst="bentConnector3">
            <a:avLst>
              <a:gd name="adj1" fmla="val 74745"/>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8" name="TextBox 167">
            <a:extLst>
              <a:ext uri="{FF2B5EF4-FFF2-40B4-BE49-F238E27FC236}">
                <a16:creationId xmlns:a16="http://schemas.microsoft.com/office/drawing/2014/main" id="{D758DD7F-522C-479B-8067-7B52AADCC004}"/>
              </a:ext>
            </a:extLst>
          </p:cNvPr>
          <p:cNvSpPr txBox="1"/>
          <p:nvPr/>
        </p:nvSpPr>
        <p:spPr>
          <a:xfrm>
            <a:off x="6537708" y="4595248"/>
            <a:ext cx="2973891" cy="738664"/>
          </a:xfrm>
          <a:prstGeom prst="rect">
            <a:avLst/>
          </a:prstGeom>
          <a:noFill/>
        </p:spPr>
        <p:txBody>
          <a:bodyPr wrap="none" rtlCol="0">
            <a:spAutoFit/>
          </a:bodyPr>
          <a:lstStyle/>
          <a:p>
            <a:r>
              <a:rPr lang="en-US" altLang="ko-KR" sz="1050" dirty="0"/>
              <a:t>Tool </a:t>
            </a:r>
            <a:r>
              <a:rPr lang="ko-KR" altLang="en-US" sz="1050" dirty="0"/>
              <a:t>호출 시 </a:t>
            </a:r>
            <a:endParaRPr lang="en-US" altLang="ko-KR" sz="1050" dirty="0"/>
          </a:p>
          <a:p>
            <a:r>
              <a:rPr lang="en-US" altLang="ko-KR" sz="1050" dirty="0">
                <a:latin typeface="맑은 고딕" panose="020B0503020000020004" pitchFamily="50" charset="-127"/>
                <a:ea typeface="맑은 고딕" panose="020B0503020000020004" pitchFamily="50" charset="-127"/>
              </a:rPr>
              <a:t>→</a:t>
            </a:r>
            <a:r>
              <a:rPr lang="en-US" altLang="ko-KR" sz="1050" dirty="0"/>
              <a:t> LLM </a:t>
            </a:r>
            <a:r>
              <a:rPr lang="ko-KR" altLang="en-US" sz="1050" dirty="0"/>
              <a:t>연산을 하던 </a:t>
            </a:r>
            <a:r>
              <a:rPr lang="en-US" altLang="ko-KR" sz="1050" dirty="0"/>
              <a:t>GPU </a:t>
            </a:r>
            <a:r>
              <a:rPr lang="ko-KR" altLang="en-US" sz="1050" dirty="0"/>
              <a:t>반환하고 </a:t>
            </a:r>
            <a:r>
              <a:rPr lang="en-US" altLang="ko-KR" sz="1050" dirty="0"/>
              <a:t>CPU </a:t>
            </a:r>
            <a:r>
              <a:rPr lang="ko-KR" altLang="en-US" sz="1050" dirty="0"/>
              <a:t>호출 </a:t>
            </a:r>
            <a:endParaRPr lang="en-US" altLang="ko-KR" sz="1050" dirty="0"/>
          </a:p>
          <a:p>
            <a:r>
              <a:rPr lang="en-US" altLang="ko-KR" sz="1050" dirty="0">
                <a:latin typeface="맑은 고딕" panose="020B0503020000020004" pitchFamily="50" charset="-127"/>
              </a:rPr>
              <a:t>→</a:t>
            </a:r>
            <a:r>
              <a:rPr lang="en-US" altLang="ko-KR" sz="1050" dirty="0"/>
              <a:t> HBM</a:t>
            </a:r>
            <a:r>
              <a:rPr lang="ko-KR" altLang="en-US" sz="1050" dirty="0"/>
              <a:t>에 상주하는</a:t>
            </a:r>
            <a:r>
              <a:rPr lang="en-US" altLang="ko-KR" sz="1050" dirty="0"/>
              <a:t> KV </a:t>
            </a:r>
            <a:r>
              <a:rPr lang="ko-KR" altLang="en-US" sz="1050" dirty="0"/>
              <a:t>캐시는 </a:t>
            </a:r>
            <a:r>
              <a:rPr lang="en-US" altLang="ko-KR" sz="1050" dirty="0"/>
              <a:t>idle </a:t>
            </a:r>
            <a:r>
              <a:rPr lang="ko-KR" altLang="en-US" sz="1050" dirty="0"/>
              <a:t>상태가 됨</a:t>
            </a:r>
            <a:endParaRPr lang="en-US" altLang="ko-KR" sz="1050" dirty="0"/>
          </a:p>
          <a:p>
            <a:endParaRPr lang="ko-KR" altLang="en-US" sz="1050" dirty="0"/>
          </a:p>
        </p:txBody>
      </p:sp>
      <p:sp>
        <p:nvSpPr>
          <p:cNvPr id="169" name="직사각형 168">
            <a:extLst>
              <a:ext uri="{FF2B5EF4-FFF2-40B4-BE49-F238E27FC236}">
                <a16:creationId xmlns:a16="http://schemas.microsoft.com/office/drawing/2014/main" id="{FACAAB8D-5B72-441F-856B-681B9E0FD6B1}"/>
              </a:ext>
            </a:extLst>
          </p:cNvPr>
          <p:cNvSpPr/>
          <p:nvPr/>
        </p:nvSpPr>
        <p:spPr>
          <a:xfrm>
            <a:off x="438066" y="2525538"/>
            <a:ext cx="5397519" cy="2713048"/>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0" name="TextBox 169">
            <a:extLst>
              <a:ext uri="{FF2B5EF4-FFF2-40B4-BE49-F238E27FC236}">
                <a16:creationId xmlns:a16="http://schemas.microsoft.com/office/drawing/2014/main" id="{4467D1D3-25DE-4A7C-8F0D-79C4EC3CD2D5}"/>
              </a:ext>
            </a:extLst>
          </p:cNvPr>
          <p:cNvSpPr txBox="1"/>
          <p:nvPr/>
        </p:nvSpPr>
        <p:spPr>
          <a:xfrm>
            <a:off x="2171384" y="2382562"/>
            <a:ext cx="1883850" cy="253916"/>
          </a:xfrm>
          <a:prstGeom prst="rect">
            <a:avLst/>
          </a:prstGeom>
          <a:solidFill>
            <a:schemeClr val="bg1"/>
          </a:solidFill>
        </p:spPr>
        <p:txBody>
          <a:bodyPr wrap="none" rtlCol="0">
            <a:spAutoFit/>
          </a:bodyPr>
          <a:lstStyle/>
          <a:p>
            <a:pPr algn="ctr"/>
            <a:r>
              <a:rPr lang="en-US" altLang="ko-KR" sz="1050" dirty="0"/>
              <a:t>&lt;</a:t>
            </a:r>
            <a:r>
              <a:rPr lang="ko-KR" altLang="en-US" sz="1050" dirty="0"/>
              <a:t>데이터 </a:t>
            </a:r>
            <a:r>
              <a:rPr lang="en-US" altLang="ko-KR" sz="1050" dirty="0"/>
              <a:t>Eviction</a:t>
            </a:r>
            <a:r>
              <a:rPr lang="ko-KR" altLang="en-US" sz="1050" dirty="0"/>
              <a:t> 시나리오</a:t>
            </a:r>
            <a:r>
              <a:rPr lang="en-US" altLang="ko-KR" sz="1050" dirty="0"/>
              <a:t>&gt;</a:t>
            </a:r>
            <a:endParaRPr lang="ko-KR" altLang="en-US" sz="1050" dirty="0"/>
          </a:p>
        </p:txBody>
      </p:sp>
      <p:sp>
        <p:nvSpPr>
          <p:cNvPr id="171" name="직사각형 170">
            <a:extLst>
              <a:ext uri="{FF2B5EF4-FFF2-40B4-BE49-F238E27FC236}">
                <a16:creationId xmlns:a16="http://schemas.microsoft.com/office/drawing/2014/main" id="{FACAAB8D-5B72-441F-856B-681B9E0FD6B1}"/>
              </a:ext>
            </a:extLst>
          </p:cNvPr>
          <p:cNvSpPr/>
          <p:nvPr/>
        </p:nvSpPr>
        <p:spPr>
          <a:xfrm>
            <a:off x="6427883" y="2525538"/>
            <a:ext cx="5397519" cy="2713048"/>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2" name="TextBox 171">
            <a:extLst>
              <a:ext uri="{FF2B5EF4-FFF2-40B4-BE49-F238E27FC236}">
                <a16:creationId xmlns:a16="http://schemas.microsoft.com/office/drawing/2014/main" id="{4467D1D3-25DE-4A7C-8F0D-79C4EC3CD2D5}"/>
              </a:ext>
            </a:extLst>
          </p:cNvPr>
          <p:cNvSpPr txBox="1"/>
          <p:nvPr/>
        </p:nvSpPr>
        <p:spPr>
          <a:xfrm>
            <a:off x="7547261" y="2382562"/>
            <a:ext cx="3111750" cy="253916"/>
          </a:xfrm>
          <a:prstGeom prst="rect">
            <a:avLst/>
          </a:prstGeom>
          <a:solidFill>
            <a:schemeClr val="bg1"/>
          </a:solidFill>
        </p:spPr>
        <p:txBody>
          <a:bodyPr wrap="none" rtlCol="0">
            <a:spAutoFit/>
          </a:bodyPr>
          <a:lstStyle/>
          <a:p>
            <a:pPr algn="ctr"/>
            <a:r>
              <a:rPr lang="en-US" altLang="ko-KR" sz="1050" dirty="0"/>
              <a:t>&lt;</a:t>
            </a:r>
            <a:r>
              <a:rPr lang="ko-KR" altLang="en-US" sz="1050" dirty="0"/>
              <a:t>데이터 이동</a:t>
            </a:r>
            <a:r>
              <a:rPr lang="en-US" altLang="ko-KR" sz="1050" dirty="0"/>
              <a:t>(Offloading/Promotion)</a:t>
            </a:r>
            <a:r>
              <a:rPr lang="ko-KR" altLang="en-US" sz="1050" dirty="0"/>
              <a:t> 시나리오</a:t>
            </a:r>
            <a:r>
              <a:rPr lang="en-US" altLang="ko-KR" sz="1050" dirty="0"/>
              <a:t>&gt;</a:t>
            </a:r>
            <a:endParaRPr lang="ko-KR" altLang="en-US" sz="1050" dirty="0"/>
          </a:p>
        </p:txBody>
      </p:sp>
      <p:sp>
        <p:nvSpPr>
          <p:cNvPr id="173" name="TextBox 172">
            <a:extLst>
              <a:ext uri="{FF2B5EF4-FFF2-40B4-BE49-F238E27FC236}">
                <a16:creationId xmlns:a16="http://schemas.microsoft.com/office/drawing/2014/main" id="{24E4EFAD-67F2-41C6-ACC8-40AD76E19052}"/>
              </a:ext>
            </a:extLst>
          </p:cNvPr>
          <p:cNvSpPr txBox="1"/>
          <p:nvPr/>
        </p:nvSpPr>
        <p:spPr>
          <a:xfrm>
            <a:off x="4376468" y="2924427"/>
            <a:ext cx="1074284" cy="253916"/>
          </a:xfrm>
          <a:prstGeom prst="rect">
            <a:avLst/>
          </a:prstGeom>
          <a:noFill/>
          <a:ln w="9525">
            <a:noFill/>
          </a:ln>
        </p:spPr>
        <p:txBody>
          <a:bodyPr wrap="square" rtlCol="0">
            <a:spAutoFit/>
          </a:bodyPr>
          <a:lstStyle/>
          <a:p>
            <a:r>
              <a:rPr lang="ko-KR" altLang="en-US" sz="1050" dirty="0">
                <a:solidFill>
                  <a:srgbClr val="FF0000"/>
                </a:solidFill>
              </a:rPr>
              <a:t>버림</a:t>
            </a:r>
            <a:r>
              <a:rPr lang="en-US" altLang="ko-KR" sz="1050" dirty="0">
                <a:solidFill>
                  <a:srgbClr val="FF0000"/>
                </a:solidFill>
              </a:rPr>
              <a:t>(Eviction)</a:t>
            </a:r>
            <a:endParaRPr lang="ko-KR" altLang="en-US" sz="1050" dirty="0">
              <a:solidFill>
                <a:srgbClr val="FF0000"/>
              </a:solidFill>
            </a:endParaRPr>
          </a:p>
        </p:txBody>
      </p:sp>
      <p:sp>
        <p:nvSpPr>
          <p:cNvPr id="174" name="TextBox 173">
            <a:extLst>
              <a:ext uri="{FF2B5EF4-FFF2-40B4-BE49-F238E27FC236}">
                <a16:creationId xmlns:a16="http://schemas.microsoft.com/office/drawing/2014/main" id="{FD796661-0D4E-4B26-9C34-90DCD5C12137}"/>
              </a:ext>
            </a:extLst>
          </p:cNvPr>
          <p:cNvSpPr txBox="1"/>
          <p:nvPr/>
        </p:nvSpPr>
        <p:spPr>
          <a:xfrm>
            <a:off x="3059414" y="2594598"/>
            <a:ext cx="897976" cy="260099"/>
          </a:xfrm>
          <a:prstGeom prst="rect">
            <a:avLst/>
          </a:prstGeom>
          <a:noFill/>
          <a:ln w="9525">
            <a:noFill/>
          </a:ln>
        </p:spPr>
        <p:txBody>
          <a:bodyPr wrap="none" rtlCol="0">
            <a:spAutoFit/>
          </a:bodyPr>
          <a:lstStyle/>
          <a:p>
            <a:r>
              <a:rPr lang="en-US" altLang="ko-KR" sz="1050" dirty="0">
                <a:solidFill>
                  <a:srgbClr val="FF0000"/>
                </a:solidFill>
              </a:rPr>
              <a:t>HBM </a:t>
            </a:r>
            <a:r>
              <a:rPr lang="ko-KR" altLang="en-US" sz="1050" dirty="0">
                <a:solidFill>
                  <a:srgbClr val="FF0000"/>
                </a:solidFill>
              </a:rPr>
              <a:t>초과</a:t>
            </a:r>
            <a:r>
              <a:rPr lang="en-US" altLang="ko-KR" sz="1050" dirty="0">
                <a:solidFill>
                  <a:srgbClr val="FF0000"/>
                </a:solidFill>
              </a:rPr>
              <a:t>!</a:t>
            </a:r>
            <a:endParaRPr lang="ko-KR" altLang="en-US" sz="1050" dirty="0">
              <a:solidFill>
                <a:srgbClr val="FF0000"/>
              </a:solidFill>
            </a:endParaRPr>
          </a:p>
        </p:txBody>
      </p:sp>
      <p:pic>
        <p:nvPicPr>
          <p:cNvPr id="175" name="Picture 2" descr="휴지통으로 보내기 - 무료 ui개 아이콘"/>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86882" y="3209584"/>
            <a:ext cx="378468" cy="378468"/>
          </a:xfrm>
          <a:prstGeom prst="rect">
            <a:avLst/>
          </a:prstGeom>
          <a:noFill/>
          <a:extLst>
            <a:ext uri="{909E8E84-426E-40DD-AFC4-6F175D3DCCD1}">
              <a14:hiddenFill xmlns:a14="http://schemas.microsoft.com/office/drawing/2010/main">
                <a:solidFill>
                  <a:srgbClr val="FFFFFF"/>
                </a:solidFill>
              </a14:hiddenFill>
            </a:ext>
          </a:extLst>
        </p:spPr>
      </p:pic>
      <p:cxnSp>
        <p:nvCxnSpPr>
          <p:cNvPr id="176" name="꺾인 연결선 190">
            <a:extLst>
              <a:ext uri="{FF2B5EF4-FFF2-40B4-BE49-F238E27FC236}">
                <a16:creationId xmlns:a16="http://schemas.microsoft.com/office/drawing/2014/main" id="{A9475D4E-A4B7-4768-8481-89EBE0C931C6}"/>
              </a:ext>
            </a:extLst>
          </p:cNvPr>
          <p:cNvCxnSpPr>
            <a:stCxn id="37" idx="4"/>
            <a:endCxn id="175" idx="0"/>
          </p:cNvCxnSpPr>
          <p:nvPr/>
        </p:nvCxnSpPr>
        <p:spPr>
          <a:xfrm>
            <a:off x="3911444" y="2982925"/>
            <a:ext cx="464672" cy="226659"/>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꺾인 연결선 190">
            <a:extLst>
              <a:ext uri="{FF2B5EF4-FFF2-40B4-BE49-F238E27FC236}">
                <a16:creationId xmlns:a16="http://schemas.microsoft.com/office/drawing/2014/main" id="{A9475D4E-A4B7-4768-8481-89EBE0C931C6}"/>
              </a:ext>
            </a:extLst>
          </p:cNvPr>
          <p:cNvCxnSpPr>
            <a:stCxn id="175" idx="2"/>
            <a:endCxn id="178" idx="4"/>
          </p:cNvCxnSpPr>
          <p:nvPr/>
        </p:nvCxnSpPr>
        <p:spPr>
          <a:xfrm rot="5400000">
            <a:off x="4041296" y="3337154"/>
            <a:ext cx="83922" cy="585718"/>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8" name="순서도: 자기 디스크 177">
            <a:extLst>
              <a:ext uri="{FF2B5EF4-FFF2-40B4-BE49-F238E27FC236}">
                <a16:creationId xmlns:a16="http://schemas.microsoft.com/office/drawing/2014/main" id="{F9CCDF6C-EC90-44CA-A217-D2CDB4F7D1AB}"/>
              </a:ext>
            </a:extLst>
          </p:cNvPr>
          <p:cNvSpPr/>
          <p:nvPr/>
        </p:nvSpPr>
        <p:spPr>
          <a:xfrm>
            <a:off x="3404164" y="3571073"/>
            <a:ext cx="386234" cy="201802"/>
          </a:xfrm>
          <a:prstGeom prst="flowChartMagneticDisk">
            <a:avLst/>
          </a:prstGeom>
          <a:ln>
            <a:solidFill>
              <a:srgbClr val="FF0000"/>
            </a:solidFill>
            <a:prstDash val="dash"/>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smtClean="0"/>
              <a:t>KV3</a:t>
            </a:r>
            <a:endParaRPr lang="ko-KR" altLang="en-US" sz="800" b="1" dirty="0"/>
          </a:p>
        </p:txBody>
      </p:sp>
      <p:sp>
        <p:nvSpPr>
          <p:cNvPr id="179" name="TextBox 178">
            <a:extLst>
              <a:ext uri="{FF2B5EF4-FFF2-40B4-BE49-F238E27FC236}">
                <a16:creationId xmlns:a16="http://schemas.microsoft.com/office/drawing/2014/main" id="{24E4EFAD-67F2-41C6-ACC8-40AD76E19052}"/>
              </a:ext>
            </a:extLst>
          </p:cNvPr>
          <p:cNvSpPr txBox="1"/>
          <p:nvPr/>
        </p:nvSpPr>
        <p:spPr>
          <a:xfrm>
            <a:off x="3717792" y="3687993"/>
            <a:ext cx="1362725" cy="253916"/>
          </a:xfrm>
          <a:prstGeom prst="rect">
            <a:avLst/>
          </a:prstGeom>
          <a:noFill/>
          <a:ln w="9525">
            <a:noFill/>
          </a:ln>
        </p:spPr>
        <p:txBody>
          <a:bodyPr wrap="square" rtlCol="0">
            <a:spAutoFit/>
          </a:bodyPr>
          <a:lstStyle/>
          <a:p>
            <a:r>
              <a:rPr lang="ko-KR" altLang="en-US" sz="1050" dirty="0">
                <a:solidFill>
                  <a:srgbClr val="FF0000"/>
                </a:solidFill>
              </a:rPr>
              <a:t>필요 시 재생성</a:t>
            </a:r>
          </a:p>
        </p:txBody>
      </p:sp>
      <p:sp>
        <p:nvSpPr>
          <p:cNvPr id="180" name="TextBox 179">
            <a:extLst>
              <a:ext uri="{FF2B5EF4-FFF2-40B4-BE49-F238E27FC236}">
                <a16:creationId xmlns:a16="http://schemas.microsoft.com/office/drawing/2014/main" id="{24E4EFAD-67F2-41C6-ACC8-40AD76E19052}"/>
              </a:ext>
            </a:extLst>
          </p:cNvPr>
          <p:cNvSpPr txBox="1"/>
          <p:nvPr/>
        </p:nvSpPr>
        <p:spPr>
          <a:xfrm>
            <a:off x="10162098" y="3680939"/>
            <a:ext cx="1395093" cy="253916"/>
          </a:xfrm>
          <a:prstGeom prst="rect">
            <a:avLst/>
          </a:prstGeom>
          <a:noFill/>
          <a:ln w="9525">
            <a:noFill/>
          </a:ln>
        </p:spPr>
        <p:txBody>
          <a:bodyPr wrap="square" rtlCol="0">
            <a:spAutoFit/>
          </a:bodyPr>
          <a:lstStyle/>
          <a:p>
            <a:r>
              <a:rPr lang="ko-KR" altLang="en-US" sz="1050" dirty="0">
                <a:solidFill>
                  <a:srgbClr val="FF0000"/>
                </a:solidFill>
              </a:rPr>
              <a:t>내림</a:t>
            </a:r>
            <a:r>
              <a:rPr lang="en-US" altLang="ko-KR" sz="1050" dirty="0">
                <a:solidFill>
                  <a:srgbClr val="FF0000"/>
                </a:solidFill>
              </a:rPr>
              <a:t>(</a:t>
            </a:r>
            <a:r>
              <a:rPr lang="en-US" altLang="ko-KR" sz="1050" dirty="0" smtClean="0">
                <a:solidFill>
                  <a:srgbClr val="FF0000"/>
                </a:solidFill>
              </a:rPr>
              <a:t>Offloading)</a:t>
            </a:r>
            <a:endParaRPr lang="ko-KR" altLang="en-US" sz="1050" dirty="0">
              <a:solidFill>
                <a:srgbClr val="FF0000"/>
              </a:solidFill>
            </a:endParaRPr>
          </a:p>
        </p:txBody>
      </p:sp>
    </p:spTree>
    <p:extLst>
      <p:ext uri="{BB962C8B-B14F-4D97-AF65-F5344CB8AC3E}">
        <p14:creationId xmlns:p14="http://schemas.microsoft.com/office/powerpoint/2010/main" val="122717403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3447122256"/>
              </p:ext>
            </p:extLst>
          </p:nvPr>
        </p:nvGraphicFramePr>
        <p:xfrm>
          <a:off x="249035" y="1044054"/>
          <a:ext cx="11747501" cy="5233192"/>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2618081">
                  <a:extLst>
                    <a:ext uri="{9D8B030D-6E8A-4147-A177-3AD203B41FA5}">
                      <a16:colId xmlns:a16="http://schemas.microsoft.com/office/drawing/2014/main" val="5654497"/>
                    </a:ext>
                  </a:extLst>
                </a:gridCol>
                <a:gridCol w="619941">
                  <a:extLst>
                    <a:ext uri="{9D8B030D-6E8A-4147-A177-3AD203B41FA5}">
                      <a16:colId xmlns:a16="http://schemas.microsoft.com/office/drawing/2014/main" val="1488648967"/>
                    </a:ext>
                  </a:extLst>
                </a:gridCol>
                <a:gridCol w="2198032">
                  <a:extLst>
                    <a:ext uri="{9D8B030D-6E8A-4147-A177-3AD203B41FA5}">
                      <a16:colId xmlns:a16="http://schemas.microsoft.com/office/drawing/2014/main" val="2953438935"/>
                    </a:ext>
                  </a:extLst>
                </a:gridCol>
                <a:gridCol w="2792524">
                  <a:extLst>
                    <a:ext uri="{9D8B030D-6E8A-4147-A177-3AD203B41FA5}">
                      <a16:colId xmlns:a16="http://schemas.microsoft.com/office/drawing/2014/main" val="3070054508"/>
                    </a:ext>
                  </a:extLst>
                </a:gridCol>
                <a:gridCol w="476794">
                  <a:extLst>
                    <a:ext uri="{9D8B030D-6E8A-4147-A177-3AD203B41FA5}">
                      <a16:colId xmlns:a16="http://schemas.microsoft.com/office/drawing/2014/main" val="4076489270"/>
                    </a:ext>
                  </a:extLst>
                </a:gridCol>
                <a:gridCol w="2166736">
                  <a:extLst>
                    <a:ext uri="{9D8B030D-6E8A-4147-A177-3AD203B41FA5}">
                      <a16:colId xmlns:a16="http://schemas.microsoft.com/office/drawing/2014/main" val="3101495520"/>
                    </a:ext>
                  </a:extLst>
                </a:gridCol>
              </a:tblGrid>
              <a:tr h="335904">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메모리 자원 상태에 우선한 이동 결정</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데이터 특성에 우선한 이동 결정</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33014303"/>
                  </a:ext>
                </a:extLst>
              </a:tr>
              <a:tr h="3272130">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90915045"/>
                  </a:ext>
                </a:extLst>
              </a:tr>
              <a:tr h="477299">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chemeClr val="tx1"/>
                          </a:solidFill>
                          <a:latin typeface="+mn-lt"/>
                          <a:ea typeface="맑은 고딕"/>
                        </a:rPr>
                        <a:t>Threshold trigger</a:t>
                      </a:r>
                      <a:r>
                        <a:rPr lang="ko-KR" altLang="en-US" sz="1200" b="0" i="0" dirty="0">
                          <a:solidFill>
                            <a:schemeClr val="tx1"/>
                          </a:solidFill>
                          <a:latin typeface="+mn-lt"/>
                          <a:ea typeface="맑은 고딕"/>
                        </a:rPr>
                        <a:t>가 즉시 판단을 기동해 </a:t>
                      </a:r>
                      <a:r>
                        <a:rPr lang="en-US" altLang="ko-KR" sz="1200" b="0" i="0" dirty="0">
                          <a:solidFill>
                            <a:schemeClr val="tx1"/>
                          </a:solidFill>
                          <a:latin typeface="+mn-lt"/>
                          <a:ea typeface="맑은 고딕"/>
                        </a:rPr>
                        <a:t>HBM </a:t>
                      </a:r>
                      <a:r>
                        <a:rPr lang="ko-KR" altLang="en-US" sz="1200" b="0" i="0" dirty="0">
                          <a:solidFill>
                            <a:schemeClr val="tx1"/>
                          </a:solidFill>
                          <a:latin typeface="+mn-lt"/>
                          <a:ea typeface="맑은 고딕"/>
                        </a:rPr>
                        <a:t>압박 구간이 짧음 </a:t>
                      </a:r>
                      <a:r>
                        <a:rPr lang="en-US" altLang="ko-KR" sz="1200" b="0" i="0" dirty="0">
                          <a:solidFill>
                            <a:schemeClr val="tx1"/>
                          </a:solidFill>
                          <a:latin typeface="+mn-lt"/>
                          <a:ea typeface="맑은 고딕"/>
                        </a:rPr>
                        <a:t>(</a:t>
                      </a:r>
                      <a:r>
                        <a:rPr lang="en-US" altLang="ko-KR" sz="1200" b="0" i="0" dirty="0" smtClean="0">
                          <a:solidFill>
                            <a:schemeClr val="tx1"/>
                          </a:solidFill>
                          <a:latin typeface="+mn-lt"/>
                          <a:ea typeface="맑은 고딕"/>
                        </a:rPr>
                        <a:t>Q2) </a:t>
                      </a:r>
                      <a:endParaRPr lang="en-US" altLang="ko-KR" sz="1200" b="0" i="0" dirty="0">
                        <a:solidFill>
                          <a:schemeClr val="tx1"/>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자원 중심 판단 구조로 신규 워크로드 특성 추가 시 변경 영향 적음 </a:t>
                      </a:r>
                      <a:r>
                        <a:rPr lang="en-US" altLang="ko-KR" sz="1200" dirty="0"/>
                        <a:t>(</a:t>
                      </a:r>
                      <a:r>
                        <a:rPr lang="en-US" altLang="ko-KR" sz="1200" dirty="0" smtClean="0"/>
                        <a:t>Q4)</a:t>
                      </a:r>
                      <a:endParaRPr lang="en-US" altLang="ko-KR" sz="1200" dirty="0">
                        <a:solidFill>
                          <a:schemeClr val="tx1"/>
                        </a:solidFill>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(Q1)</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72501578"/>
                  </a:ext>
                </a:extLst>
              </a:tr>
              <a:tr h="477299">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자원 상태에서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(Q1)</a:t>
                      </a:r>
                      <a:endParaRPr lang="en-US" altLang="ko-KR" sz="1200"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chemeClr val="tx1"/>
                          </a:solidFill>
                          <a:latin typeface="+mn-lt"/>
                          <a:ea typeface="맑은 고딕"/>
                        </a:rPr>
                        <a:t>Snapshot age </a:t>
                      </a:r>
                      <a:r>
                        <a:rPr lang="ko-KR" altLang="en-US" sz="1200" b="0" i="0" dirty="0">
                          <a:solidFill>
                            <a:schemeClr val="tx1"/>
                          </a:solidFill>
                          <a:latin typeface="+mn-lt"/>
                          <a:ea typeface="맑은 고딕"/>
                        </a:rPr>
                        <a:t>만큼 </a:t>
                      </a:r>
                      <a:r>
                        <a:rPr lang="en-US" altLang="ko-KR" sz="1200" b="0" i="0" dirty="0">
                          <a:solidFill>
                            <a:schemeClr val="tx1"/>
                          </a:solidFill>
                          <a:latin typeface="+mn-lt"/>
                          <a:ea typeface="맑은 고딕"/>
                        </a:rPr>
                        <a:t>stale → HBM </a:t>
                      </a:r>
                      <a:r>
                        <a:rPr lang="ko-KR" altLang="en-US" sz="1200" b="0" i="0" dirty="0">
                          <a:solidFill>
                            <a:schemeClr val="tx1"/>
                          </a:solidFill>
                          <a:latin typeface="+mn-lt"/>
                          <a:ea typeface="맑은 고딕"/>
                        </a:rPr>
                        <a:t>확보 지연으로 </a:t>
                      </a:r>
                      <a:r>
                        <a:rPr lang="en-US" altLang="ko-KR" sz="1200" b="0" i="0" dirty="0">
                          <a:solidFill>
                            <a:schemeClr val="tx1"/>
                          </a:solidFill>
                          <a:latin typeface="+mn-lt"/>
                          <a:ea typeface="맑은 고딕"/>
                        </a:rPr>
                        <a:t>tail</a:t>
                      </a:r>
                      <a:r>
                        <a:rPr lang="ko-KR" altLang="en-US" sz="1200" b="0" i="0" dirty="0">
                          <a:solidFill>
                            <a:schemeClr val="tx1"/>
                          </a:solidFill>
                          <a:latin typeface="+mn-lt"/>
                          <a:ea typeface="맑은 고딕"/>
                        </a:rPr>
                        <a:t> </a:t>
                      </a:r>
                      <a:r>
                        <a:rPr lang="en-US" altLang="ko-KR" sz="1200" b="0" i="0" dirty="0">
                          <a:solidFill>
                            <a:schemeClr val="tx1"/>
                          </a:solidFill>
                          <a:latin typeface="+mn-lt"/>
                          <a:ea typeface="맑은 고딕"/>
                        </a:rPr>
                        <a:t>latency</a:t>
                      </a:r>
                      <a:r>
                        <a:rPr lang="ko-KR" altLang="en-US" sz="1200" b="0" i="0" dirty="0">
                          <a:solidFill>
                            <a:schemeClr val="tx1"/>
                          </a:solidFill>
                          <a:latin typeface="+mn-lt"/>
                          <a:ea typeface="맑은 고딕"/>
                        </a:rPr>
                        <a:t> 지연 </a:t>
                      </a:r>
                      <a:r>
                        <a:rPr lang="en-US" altLang="ko-KR" sz="1200" b="0" i="0" dirty="0">
                          <a:solidFill>
                            <a:schemeClr val="tx1"/>
                          </a:solidFill>
                          <a:latin typeface="+mn-lt"/>
                          <a:ea typeface="맑은 고딕"/>
                        </a:rPr>
                        <a:t>(</a:t>
                      </a:r>
                      <a:r>
                        <a:rPr lang="en-US" altLang="ko-KR" sz="1200" b="0" i="0" dirty="0" smtClean="0">
                          <a:solidFill>
                            <a:schemeClr val="tx1"/>
                          </a:solidFill>
                          <a:latin typeface="+mn-lt"/>
                          <a:ea typeface="맑은 고딕"/>
                        </a:rPr>
                        <a:t>Q2)</a:t>
                      </a:r>
                      <a:endParaRPr lang="en-US" altLang="ko-KR" sz="1200" b="0" i="0" dirty="0">
                        <a:solidFill>
                          <a:schemeClr val="tx1"/>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신규 데이터 특성 추가 시 관련 모듈 변경 범위 확대 </a:t>
                      </a:r>
                      <a:r>
                        <a:rPr lang="en-US" altLang="ko-KR" sz="1200" dirty="0"/>
                        <a:t>(</a:t>
                      </a:r>
                      <a:r>
                        <a:rPr lang="en-US" altLang="ko-KR" sz="1200" dirty="0" smtClean="0"/>
                        <a:t>Q4)</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82029663"/>
                  </a:ext>
                </a:extLst>
              </a:tr>
              <a:tr h="668219">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Q4.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Modifiability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3.70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q/s (2.1x)</a:t>
                      </a:r>
                      <a:endParaRPr lang="en-US" altLang="ko-KR" sz="1200" b="0" dirty="0" smtClean="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a:t>
                      </a:r>
                      <a:r>
                        <a:rPr kumimoji="0" lang="en-US" altLang="ko-KR" sz="14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3.42 s (-55%)</a:t>
                      </a:r>
                      <a:endParaRPr lang="en-US" altLang="ko-KR" sz="1400" b="0" dirty="0" smtClean="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chemeClr val="accent5"/>
                          </a:solidFill>
                          <a:effectLst/>
                          <a:uLnTx/>
                          <a:uFillTx/>
                          <a:latin typeface="맑은 고딕" panose="020B0503020000020004" pitchFamily="50" charset="-127"/>
                          <a:ea typeface="+mn-ea"/>
                          <a:cs typeface="+mn-cs"/>
                        </a:rPr>
                        <a:t>●</a:t>
                      </a: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2.25 m</a:t>
                      </a:r>
                      <a:endParaRPr kumimoji="0" lang="en-US" altLang="ko-KR" sz="14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Q4.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Modifiability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5.80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q/s (3.3x)</a:t>
                      </a:r>
                      <a:endParaRPr lang="en-US" altLang="ko-KR" sz="1200" b="0" dirty="0" smtClean="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7.60→4.40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s (-42%)</a:t>
                      </a:r>
                      <a:endParaRPr kumimoji="0" lang="en-US" altLang="ko-KR" sz="14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3.5 m</a:t>
                      </a:r>
                      <a:endParaRPr kumimoji="0" lang="en-US" altLang="ko-KR" sz="14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처리량</a:t>
            </a:r>
            <a:r>
              <a:rPr lang="en-US" altLang="ko-KR" sz="1400" b="1" dirty="0">
                <a:solidFill>
                  <a:schemeClr val="bg1"/>
                </a:solidFill>
              </a:rPr>
              <a:t>, </a:t>
            </a:r>
            <a:r>
              <a:rPr lang="ko-KR" altLang="en-US" sz="1400" b="1" dirty="0">
                <a:solidFill>
                  <a:schemeClr val="bg1"/>
                </a:solidFill>
              </a:rPr>
              <a:t>지연</a:t>
            </a:r>
            <a:r>
              <a:rPr lang="en-US" altLang="ko-KR" sz="1400" b="1" dirty="0">
                <a:solidFill>
                  <a:schemeClr val="bg1"/>
                </a:solidFill>
              </a:rPr>
              <a:t>, </a:t>
            </a:r>
            <a:r>
              <a:rPr lang="ko-KR" altLang="en-US" sz="1400" b="1" dirty="0">
                <a:solidFill>
                  <a:schemeClr val="bg1"/>
                </a:solidFill>
              </a:rPr>
              <a:t>변경 용이성을 고려한 데이터 이동</a:t>
            </a:r>
            <a:r>
              <a:rPr lang="en-US" altLang="ko-KR" sz="1400" b="1" dirty="0">
                <a:solidFill>
                  <a:schemeClr val="bg1"/>
                </a:solidFill>
              </a:rPr>
              <a:t> </a:t>
            </a:r>
            <a:r>
              <a:rPr lang="ko-KR" altLang="en-US" sz="1400" b="1" dirty="0">
                <a:solidFill>
                  <a:schemeClr val="bg1"/>
                </a:solidFill>
              </a:rPr>
              <a:t>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94755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Q2 </a:t>
            </a:r>
            <a:r>
              <a:rPr lang="ko-KR" altLang="en-US" sz="700" dirty="0">
                <a:latin typeface="맑은 고딕" panose="020B0503020000020004" pitchFamily="50" charset="-127"/>
              </a:rPr>
              <a:t>고부하 성능 </a:t>
            </a:r>
          </a:p>
        </p:txBody>
      </p:sp>
      <p:sp>
        <p:nvSpPr>
          <p:cNvPr id="102" name="실행 단추: 앞으로 또는 다음 101">
            <a:hlinkClick r:id="rId3"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7855986" y="801875"/>
            <a:ext cx="110413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smtClean="0">
                <a:latin typeface="맑은 고딕" panose="020B0503020000020004" pitchFamily="50" charset="-127"/>
              </a:rPr>
              <a:t>C2 </a:t>
            </a:r>
            <a:r>
              <a:rPr lang="ko-KR" altLang="en-US" sz="700" dirty="0" smtClean="0">
                <a:latin typeface="맑은 고딕" panose="020B0503020000020004" pitchFamily="50" charset="-127"/>
              </a:rPr>
              <a:t>모델 </a:t>
            </a:r>
            <a:r>
              <a:rPr lang="en-US" altLang="ko-KR" sz="700" dirty="0" smtClean="0">
                <a:latin typeface="맑은 고딕" panose="020B0503020000020004" pitchFamily="50" charset="-127"/>
              </a:rPr>
              <a:t>Context </a:t>
            </a:r>
            <a:r>
              <a:rPr lang="ko-KR" altLang="en-US" sz="700" dirty="0" smtClean="0">
                <a:latin typeface="맑은 고딕" panose="020B0503020000020004" pitchFamily="50" charset="-127"/>
              </a:rPr>
              <a:t>길이</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Q4 </a:t>
            </a:r>
            <a:r>
              <a:rPr lang="ko-KR" altLang="en-US" sz="700" dirty="0" err="1">
                <a:latin typeface="맑은 고딕" panose="020B0503020000020004" pitchFamily="50" charset="-127"/>
              </a:rPr>
              <a:t>변경용이성</a:t>
            </a:r>
            <a:endParaRPr lang="ko-KR" altLang="en-US" sz="700" dirty="0">
              <a:latin typeface="맑은 고딕" panose="020B0503020000020004" pitchFamily="50" charset="-127"/>
            </a:endParaRPr>
          </a:p>
        </p:txBody>
      </p:sp>
      <p:sp>
        <p:nvSpPr>
          <p:cNvPr id="311" name="Rectangle 73"/>
          <p:cNvSpPr/>
          <p:nvPr/>
        </p:nvSpPr>
        <p:spPr>
          <a:xfrm>
            <a:off x="6721606" y="1761935"/>
            <a:ext cx="1317565"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lang="en-US" altLang="ko-KR" sz="900" b="1" dirty="0">
                <a:solidFill>
                  <a:srgbClr val="7F5F00"/>
                </a:solidFill>
                <a:ea typeface="맑은 고딕"/>
              </a:rPr>
              <a:t>Decision Scheduler</a:t>
            </a:r>
          </a:p>
          <a:p>
            <a:pPr algn="ctr">
              <a:lnSpc>
                <a:spcPct val="125000"/>
              </a:lnSpc>
            </a:pPr>
            <a:r>
              <a:rPr lang="ko-KR" altLang="en-US" sz="800" dirty="0">
                <a:solidFill>
                  <a:srgbClr val="7F5F00"/>
                </a:solidFill>
                <a:ea typeface="맑은 고딕"/>
              </a:rPr>
              <a:t>판단 주기 독립 보유</a:t>
            </a:r>
            <a:endParaRPr lang="ko-KR" altLang="en-US" sz="800" dirty="0">
              <a:solidFill>
                <a:srgbClr val="7F5F00"/>
              </a:solidFill>
              <a:ea typeface="맑은 고딕"/>
            </a:endParaRPr>
          </a:p>
        </p:txBody>
      </p:sp>
      <p:sp>
        <p:nvSpPr>
          <p:cNvPr id="312" name="Rectangle 74"/>
          <p:cNvSpPr/>
          <p:nvPr/>
        </p:nvSpPr>
        <p:spPr>
          <a:xfrm>
            <a:off x="8377728" y="1761935"/>
            <a:ext cx="1151687"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lang="ko-KR" altLang="en-US" sz="700" dirty="0">
                <a:solidFill>
                  <a:srgbClr val="404040"/>
                </a:solidFill>
                <a:latin typeface="맑은 고딕"/>
                <a:ea typeface="맑은 고딕"/>
              </a:rPr>
              <a:t>데이터</a:t>
            </a:r>
            <a:r>
              <a:rPr lang="en-US" altLang="ko-KR" sz="700" dirty="0">
                <a:solidFill>
                  <a:srgbClr val="404040"/>
                </a:solidFill>
                <a:latin typeface="맑은 고딕"/>
                <a:ea typeface="맑은 고딕"/>
              </a:rPr>
              <a:t>,</a:t>
            </a:r>
            <a:r>
              <a:rPr lang="ko-KR" altLang="en-US" sz="700" dirty="0">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14" name="Rectangle 76"/>
          <p:cNvSpPr/>
          <p:nvPr/>
        </p:nvSpPr>
        <p:spPr>
          <a:xfrm>
            <a:off x="10017603" y="1761935"/>
            <a:ext cx="1163782"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15" name="Connector 77"/>
          <p:cNvCxnSpPr>
            <a:stCxn id="311" idx="3"/>
            <a:endCxn id="312" idx="1"/>
          </p:cNvCxnSpPr>
          <p:nvPr/>
        </p:nvCxnSpPr>
        <p:spPr>
          <a:xfrm>
            <a:off x="8039171" y="1990535"/>
            <a:ext cx="338557"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8047485" y="2019933"/>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8" name="Connector 80"/>
          <p:cNvCxnSpPr>
            <a:stCxn id="312" idx="3"/>
            <a:endCxn id="314" idx="1"/>
          </p:cNvCxnSpPr>
          <p:nvPr/>
        </p:nvCxnSpPr>
        <p:spPr>
          <a:xfrm>
            <a:off x="9529415" y="1990535"/>
            <a:ext cx="488188"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1" name="Rectangle 83"/>
          <p:cNvSpPr/>
          <p:nvPr/>
        </p:nvSpPr>
        <p:spPr>
          <a:xfrm>
            <a:off x="6729920" y="2717644"/>
            <a:ext cx="2327564" cy="4702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State Snapshot Builder</a:t>
            </a:r>
          </a:p>
          <a:p>
            <a:pPr algn="ctr">
              <a:lnSpc>
                <a:spcPct val="125000"/>
              </a:lnSpc>
            </a:pPr>
            <a:r>
              <a:rPr sz="800" b="0" i="0" dirty="0" err="1">
                <a:solidFill>
                  <a:srgbClr val="7F5F00"/>
                </a:solidFill>
                <a:latin typeface="맑은 고딕"/>
                <a:ea typeface="맑은 고딕"/>
              </a:rPr>
              <a:t>일관</a:t>
            </a:r>
            <a:r>
              <a:rPr sz="800" b="0" i="0" dirty="0">
                <a:solidFill>
                  <a:srgbClr val="7F5F00"/>
                </a:solidFill>
                <a:latin typeface="맑은 고딕"/>
                <a:ea typeface="맑은 고딕"/>
              </a:rPr>
              <a:t> </a:t>
            </a:r>
            <a:r>
              <a:rPr sz="800" b="0" i="0" dirty="0" err="1">
                <a:solidFill>
                  <a:srgbClr val="7F5F00"/>
                </a:solidFill>
                <a:latin typeface="맑은 고딕"/>
                <a:ea typeface="맑은 고딕"/>
              </a:rPr>
              <a:t>복사본</a:t>
            </a:r>
            <a:r>
              <a:rPr sz="800" b="0" i="0" dirty="0">
                <a:solidFill>
                  <a:srgbClr val="7F5F00"/>
                </a:solidFill>
                <a:latin typeface="맑은 고딕"/>
                <a:ea typeface="맑은 고딕"/>
              </a:rPr>
              <a:t> </a:t>
            </a:r>
            <a:r>
              <a:rPr sz="800" b="0" i="0" dirty="0" err="1">
                <a:solidFill>
                  <a:srgbClr val="7F5F00"/>
                </a:solidFill>
                <a:latin typeface="맑은 고딕"/>
                <a:ea typeface="맑은 고딕"/>
              </a:rPr>
              <a:t>생성</a:t>
            </a:r>
            <a:r>
              <a:rPr sz="800" b="0" i="0" dirty="0">
                <a:solidFill>
                  <a:srgbClr val="7F5F00"/>
                </a:solidFill>
                <a:latin typeface="맑은 고딕"/>
                <a:ea typeface="맑은 고딕"/>
              </a:rPr>
              <a:t> · object 수 </a:t>
            </a:r>
            <a:r>
              <a:rPr sz="800" b="0" i="0" dirty="0" err="1">
                <a:solidFill>
                  <a:srgbClr val="7F5F00"/>
                </a:solidFill>
                <a:latin typeface="맑은 고딕"/>
                <a:ea typeface="맑은 고딕"/>
              </a:rPr>
              <a:t>비례</a:t>
            </a:r>
            <a:r>
              <a:rPr sz="800" b="0" i="0" dirty="0">
                <a:solidFill>
                  <a:srgbClr val="7F5F00"/>
                </a:solidFill>
                <a:latin typeface="맑은 고딕"/>
                <a:ea typeface="맑은 고딕"/>
              </a:rPr>
              <a:t> </a:t>
            </a:r>
            <a:r>
              <a:rPr sz="800" b="0" i="0" dirty="0" err="1">
                <a:solidFill>
                  <a:srgbClr val="7F5F00"/>
                </a:solidFill>
                <a:latin typeface="맑은 고딕"/>
                <a:ea typeface="맑은 고딕"/>
              </a:rPr>
              <a:t>비용</a:t>
            </a:r>
            <a:endParaRPr sz="800" b="0" i="0" dirty="0">
              <a:solidFill>
                <a:srgbClr val="7F5F00"/>
              </a:solidFill>
              <a:latin typeface="맑은 고딕"/>
              <a:ea typeface="맑은 고딕"/>
            </a:endParaRPr>
          </a:p>
        </p:txBody>
      </p:sp>
      <p:sp>
        <p:nvSpPr>
          <p:cNvPr id="322" name="Rectangle 84"/>
          <p:cNvSpPr/>
          <p:nvPr/>
        </p:nvSpPr>
        <p:spPr>
          <a:xfrm>
            <a:off x="6721607" y="3657221"/>
            <a:ext cx="111390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Telemetry Collector</a:t>
            </a:r>
          </a:p>
        </p:txBody>
      </p:sp>
      <p:sp>
        <p:nvSpPr>
          <p:cNvPr id="323" name="Rectangle 85"/>
          <p:cNvSpPr/>
          <p:nvPr/>
        </p:nvSpPr>
        <p:spPr>
          <a:xfrm>
            <a:off x="7935265" y="3657221"/>
            <a:ext cx="111390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900" dirty="0">
                <a:solidFill>
                  <a:srgbClr val="404040"/>
                </a:solidFill>
                <a:ea typeface="맑은 고딕"/>
              </a:rPr>
              <a:t>Memory Registry</a:t>
            </a:r>
            <a:endParaRPr lang="en-US" altLang="ko-KR" sz="900" dirty="0">
              <a:solidFill>
                <a:srgbClr val="404040"/>
              </a:solidFill>
              <a:ea typeface="맑은 고딕"/>
            </a:endParaRPr>
          </a:p>
        </p:txBody>
      </p:sp>
      <p:cxnSp>
        <p:nvCxnSpPr>
          <p:cNvPr id="325" name="Connector 87"/>
          <p:cNvCxnSpPr>
            <a:stCxn id="322" idx="0"/>
          </p:cNvCxnSpPr>
          <p:nvPr/>
        </p:nvCxnSpPr>
        <p:spPr>
          <a:xfrm flipV="1">
            <a:off x="7278560" y="3165539"/>
            <a:ext cx="0" cy="49168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a:stCxn id="323" idx="0"/>
          </p:cNvCxnSpPr>
          <p:nvPr/>
        </p:nvCxnSpPr>
        <p:spPr>
          <a:xfrm flipV="1">
            <a:off x="8492218" y="3209960"/>
            <a:ext cx="0" cy="447261"/>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8415814" y="3378137"/>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sp>
        <p:nvSpPr>
          <p:cNvPr id="333" name="Rectangle 95"/>
          <p:cNvSpPr/>
          <p:nvPr/>
        </p:nvSpPr>
        <p:spPr>
          <a:xfrm>
            <a:off x="9547934" y="2708931"/>
            <a:ext cx="2103120" cy="470961"/>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Migration Command Queue</a:t>
            </a:r>
          </a:p>
          <a:p>
            <a:pPr algn="ctr">
              <a:lnSpc>
                <a:spcPct val="125000"/>
              </a:lnSpc>
            </a:pPr>
            <a:r>
              <a:rPr sz="800" b="0" i="0" dirty="0" err="1">
                <a:solidFill>
                  <a:srgbClr val="7F5F00"/>
                </a:solidFill>
                <a:latin typeface="맑은 고딕"/>
                <a:ea typeface="맑은 고딕"/>
              </a:rPr>
              <a:t>비동기</a:t>
            </a:r>
            <a:r>
              <a:rPr sz="800" b="0" i="0" dirty="0">
                <a:solidFill>
                  <a:srgbClr val="7F5F00"/>
                </a:solidFill>
                <a:latin typeface="맑은 고딕"/>
                <a:ea typeface="맑은 고딕"/>
              </a:rPr>
              <a:t> </a:t>
            </a: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결과</a:t>
            </a:r>
            <a:r>
              <a:rPr sz="800" b="0" i="0" dirty="0">
                <a:solidFill>
                  <a:srgbClr val="7F5F00"/>
                </a:solidFill>
                <a:latin typeface="맑은 고딕"/>
                <a:ea typeface="맑은 고딕"/>
              </a:rPr>
              <a:t> </a:t>
            </a:r>
            <a:r>
              <a:rPr sz="800" b="0" i="0" dirty="0" err="1" smtClean="0">
                <a:solidFill>
                  <a:srgbClr val="7F5F00"/>
                </a:solidFill>
                <a:latin typeface="맑은 고딕"/>
                <a:ea typeface="맑은 고딕"/>
              </a:rPr>
              <a:t>버퍼</a:t>
            </a:r>
            <a:endParaRPr sz="800" b="0" i="0" dirty="0">
              <a:solidFill>
                <a:srgbClr val="7F5F00"/>
              </a:solidFill>
              <a:latin typeface="맑은 고딕"/>
              <a:ea typeface="맑은 고딕"/>
            </a:endParaRPr>
          </a:p>
        </p:txBody>
      </p:sp>
      <p:sp>
        <p:nvSpPr>
          <p:cNvPr id="334" name="Rectangle 96"/>
          <p:cNvSpPr/>
          <p:nvPr/>
        </p:nvSpPr>
        <p:spPr>
          <a:xfrm>
            <a:off x="9547934" y="3657221"/>
            <a:ext cx="2103120" cy="248537"/>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Migration Executor</a:t>
            </a:r>
          </a:p>
        </p:txBody>
      </p:sp>
      <p:cxnSp>
        <p:nvCxnSpPr>
          <p:cNvPr id="336" name="Connector 98"/>
          <p:cNvCxnSpPr>
            <a:stCxn id="333" idx="2"/>
            <a:endCxn id="334" idx="0"/>
          </p:cNvCxnSpPr>
          <p:nvPr/>
        </p:nvCxnSpPr>
        <p:spPr>
          <a:xfrm>
            <a:off x="10599494" y="3179892"/>
            <a:ext cx="0" cy="477329"/>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528836" y="3301703"/>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⑤</a:t>
            </a:r>
          </a:p>
        </p:txBody>
      </p:sp>
      <p:cxnSp>
        <p:nvCxnSpPr>
          <p:cNvPr id="338" name="Connector 100"/>
          <p:cNvCxnSpPr>
            <a:stCxn id="334" idx="2"/>
            <a:endCxn id="335" idx="0"/>
          </p:cNvCxnSpPr>
          <p:nvPr/>
        </p:nvCxnSpPr>
        <p:spPr>
          <a:xfrm>
            <a:off x="10599494" y="3905758"/>
            <a:ext cx="0" cy="29218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528836" y="3936041"/>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⑥</a:t>
            </a:r>
          </a:p>
        </p:txBody>
      </p:sp>
      <p:cxnSp>
        <p:nvCxnSpPr>
          <p:cNvPr id="340" name="Connector 102"/>
          <p:cNvCxnSpPr>
            <a:stCxn id="314" idx="2"/>
            <a:endCxn id="333" idx="0"/>
          </p:cNvCxnSpPr>
          <p:nvPr/>
        </p:nvCxnSpPr>
        <p:spPr>
          <a:xfrm>
            <a:off x="10599494" y="2219135"/>
            <a:ext cx="0" cy="489796"/>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0528836" y="2375574"/>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④</a:t>
            </a:r>
          </a:p>
        </p:txBody>
      </p:sp>
      <p:sp>
        <p:nvSpPr>
          <p:cNvPr id="347" name="Rectangle 109"/>
          <p:cNvSpPr/>
          <p:nvPr/>
        </p:nvSpPr>
        <p:spPr>
          <a:xfrm>
            <a:off x="6621855" y="4191953"/>
            <a:ext cx="252706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sp>
        <p:nvSpPr>
          <p:cNvPr id="360" name="Rectangle 39"/>
          <p:cNvSpPr/>
          <p:nvPr/>
        </p:nvSpPr>
        <p:spPr>
          <a:xfrm>
            <a:off x="1517841"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Trend Analyzer</a:t>
            </a:r>
          </a:p>
          <a:p>
            <a:pPr algn="ctr">
              <a:lnSpc>
                <a:spcPct val="125000"/>
              </a:lnSpc>
            </a:pPr>
            <a:r>
              <a:rPr sz="800" dirty="0" err="1">
                <a:solidFill>
                  <a:srgbClr val="404040"/>
                </a:solidFill>
                <a:latin typeface="맑은 고딕"/>
                <a:ea typeface="맑은 고딕"/>
              </a:rPr>
              <a:t>자원</a:t>
            </a:r>
            <a:r>
              <a:rPr sz="800" dirty="0">
                <a:solidFill>
                  <a:srgbClr val="404040"/>
                </a:solidFill>
                <a:latin typeface="맑은 고딕"/>
                <a:ea typeface="맑은 고딕"/>
              </a:rPr>
              <a:t> </a:t>
            </a:r>
            <a:r>
              <a:rPr sz="800" dirty="0" err="1">
                <a:solidFill>
                  <a:srgbClr val="404040"/>
                </a:solidFill>
                <a:latin typeface="맑은 고딕"/>
                <a:ea typeface="맑은 고딕"/>
              </a:rPr>
              <a:t>추세</a:t>
            </a:r>
            <a:r>
              <a:rPr sz="800" dirty="0">
                <a:solidFill>
                  <a:srgbClr val="404040"/>
                </a:solidFill>
                <a:latin typeface="맑은 고딕"/>
                <a:ea typeface="맑은 고딕"/>
              </a:rPr>
              <a:t> </a:t>
            </a:r>
            <a:r>
              <a:rPr sz="800" dirty="0" err="1">
                <a:solidFill>
                  <a:srgbClr val="404040"/>
                </a:solidFill>
                <a:latin typeface="맑은 고딕"/>
                <a:ea typeface="맑은 고딕"/>
              </a:rPr>
              <a:t>판단</a:t>
            </a:r>
            <a:endParaRPr sz="800" dirty="0">
              <a:solidFill>
                <a:srgbClr val="404040"/>
              </a:solidFill>
              <a:latin typeface="맑은 고딕"/>
              <a:ea typeface="맑은 고딕"/>
            </a:endParaRPr>
          </a:p>
        </p:txBody>
      </p:sp>
      <p:sp>
        <p:nvSpPr>
          <p:cNvPr id="361" name="Rectangle 40"/>
          <p:cNvSpPr/>
          <p:nvPr/>
        </p:nvSpPr>
        <p:spPr>
          <a:xfrm>
            <a:off x="3070130"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lang="en-US" altLang="ko-KR" sz="900" b="1" dirty="0">
                <a:solidFill>
                  <a:srgbClr val="404040"/>
                </a:solidFill>
                <a:ea typeface="맑은 고딕"/>
              </a:rPr>
              <a:t>Policy Engine</a:t>
            </a:r>
          </a:p>
          <a:p>
            <a:pPr algn="ctr">
              <a:lnSpc>
                <a:spcPct val="125000"/>
              </a:lnSpc>
            </a:pPr>
            <a:r>
              <a:rPr lang="ko-KR" altLang="en-US" sz="800" dirty="0">
                <a:solidFill>
                  <a:srgbClr val="404040"/>
                </a:solidFill>
                <a:ea typeface="맑은 고딕"/>
              </a:rPr>
              <a:t>이동 명령 확정</a:t>
            </a:r>
            <a:endParaRPr lang="ko-KR" altLang="en-US" sz="800" dirty="0">
              <a:solidFill>
                <a:srgbClr val="404040"/>
              </a:solidFill>
              <a:ea typeface="맑은 고딕"/>
            </a:endParaRPr>
          </a:p>
        </p:txBody>
      </p:sp>
      <p:cxnSp>
        <p:nvCxnSpPr>
          <p:cNvPr id="363" name="Connector 42"/>
          <p:cNvCxnSpPr>
            <a:endCxn id="361" idx="1"/>
          </p:cNvCxnSpPr>
          <p:nvPr/>
        </p:nvCxnSpPr>
        <p:spPr>
          <a:xfrm>
            <a:off x="2651697" y="1986735"/>
            <a:ext cx="418433"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2776627" y="193211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②</a:t>
            </a:r>
          </a:p>
        </p:txBody>
      </p:sp>
      <p:sp>
        <p:nvSpPr>
          <p:cNvPr id="367" name="Rectangle 45"/>
          <p:cNvSpPr/>
          <p:nvPr/>
        </p:nvSpPr>
        <p:spPr>
          <a:xfrm>
            <a:off x="1398786" y="2453701"/>
            <a:ext cx="1371966" cy="455184"/>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Threshold Trigger</a:t>
            </a:r>
          </a:p>
          <a:p>
            <a:pPr algn="ctr">
              <a:lnSpc>
                <a:spcPct val="125000"/>
              </a:lnSpc>
            </a:pPr>
            <a:r>
              <a:rPr sz="800" b="0" i="0" dirty="0" err="1">
                <a:solidFill>
                  <a:srgbClr val="7F5F00"/>
                </a:solidFill>
                <a:latin typeface="맑은 고딕"/>
                <a:ea typeface="맑은 고딕"/>
              </a:rPr>
              <a:t>임계치</a:t>
            </a:r>
            <a:r>
              <a:rPr sz="800" b="0" i="0" dirty="0">
                <a:solidFill>
                  <a:srgbClr val="7F5F00"/>
                </a:solidFill>
                <a:latin typeface="맑은 고딕"/>
                <a:ea typeface="맑은 고딕"/>
              </a:rPr>
              <a:t> </a:t>
            </a:r>
            <a:r>
              <a:rPr sz="800" b="0" i="0" dirty="0" err="1">
                <a:solidFill>
                  <a:srgbClr val="7F5F00"/>
                </a:solidFill>
                <a:latin typeface="맑은 고딕"/>
                <a:ea typeface="맑은 고딕"/>
              </a:rPr>
              <a:t>교차</a:t>
            </a:r>
            <a:r>
              <a:rPr sz="800" b="0" i="0" dirty="0">
                <a:solidFill>
                  <a:srgbClr val="7F5F00"/>
                </a:solidFill>
                <a:latin typeface="맑은 고딕"/>
                <a:ea typeface="맑은 고딕"/>
              </a:rPr>
              <a:t> 시 </a:t>
            </a: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기동</a:t>
            </a:r>
            <a:endParaRPr sz="800" b="0" i="0" dirty="0">
              <a:solidFill>
                <a:srgbClr val="7F5F00"/>
              </a:solidFill>
              <a:latin typeface="맑은 고딕"/>
              <a:ea typeface="맑은 고딕"/>
            </a:endParaRPr>
          </a:p>
        </p:txBody>
      </p:sp>
      <p:cxnSp>
        <p:nvCxnSpPr>
          <p:cNvPr id="368" name="Connector 46"/>
          <p:cNvCxnSpPr>
            <a:stCxn id="367" idx="0"/>
          </p:cNvCxnSpPr>
          <p:nvPr/>
        </p:nvCxnSpPr>
        <p:spPr>
          <a:xfrm flipV="1">
            <a:off x="2084769" y="2197049"/>
            <a:ext cx="0" cy="25665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159421" y="228372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①</a:t>
            </a:r>
          </a:p>
        </p:txBody>
      </p:sp>
      <p:sp>
        <p:nvSpPr>
          <p:cNvPr id="370" name="Rectangle 48"/>
          <p:cNvSpPr/>
          <p:nvPr/>
        </p:nvSpPr>
        <p:spPr>
          <a:xfrm>
            <a:off x="1462977" y="3165539"/>
            <a:ext cx="2523744" cy="816102"/>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2" name="Rectangle 50"/>
          <p:cNvSpPr/>
          <p:nvPr/>
        </p:nvSpPr>
        <p:spPr>
          <a:xfrm>
            <a:off x="1517841" y="3290540"/>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Telemetry Collector</a:t>
            </a:r>
          </a:p>
        </p:txBody>
      </p:sp>
      <p:sp>
        <p:nvSpPr>
          <p:cNvPr id="373" name="Rectangle 51"/>
          <p:cNvSpPr/>
          <p:nvPr/>
        </p:nvSpPr>
        <p:spPr>
          <a:xfrm>
            <a:off x="2779713" y="3312971"/>
            <a:ext cx="1133856" cy="254628"/>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Memory Registry</a:t>
            </a:r>
          </a:p>
        </p:txBody>
      </p:sp>
      <p:sp>
        <p:nvSpPr>
          <p:cNvPr id="374" name="TextBox 373"/>
          <p:cNvSpPr txBox="1"/>
          <p:nvPr/>
        </p:nvSpPr>
        <p:spPr>
          <a:xfrm>
            <a:off x="2953033" y="3828799"/>
            <a:ext cx="1133856" cy="137160"/>
          </a:xfrm>
          <a:prstGeom prst="rect">
            <a:avLst/>
          </a:prstGeom>
          <a:noFill/>
        </p:spPr>
        <p:txBody>
          <a:bodyPr wrap="square" lIns="0" tIns="0" rIns="0" bIns="0" anchor="ctr">
            <a:spAutoFit/>
          </a:bodyPr>
          <a:lstStyle/>
          <a:p>
            <a:pPr algn="ctr"/>
            <a:r>
              <a:rPr sz="620" b="1" i="0" dirty="0">
                <a:solidFill>
                  <a:srgbClr val="7F5F00"/>
                </a:solidFill>
                <a:latin typeface="맑은 고딕"/>
                <a:ea typeface="맑은 고딕"/>
              </a:rPr>
              <a:t>State Lock Manager</a:t>
            </a:r>
          </a:p>
        </p:txBody>
      </p:sp>
      <p:cxnSp>
        <p:nvCxnSpPr>
          <p:cNvPr id="376" name="Connector 54"/>
          <p:cNvCxnSpPr>
            <a:stCxn id="372" idx="0"/>
            <a:endCxn id="367" idx="2"/>
          </p:cNvCxnSpPr>
          <p:nvPr/>
        </p:nvCxnSpPr>
        <p:spPr>
          <a:xfrm flipV="1">
            <a:off x="2084769" y="2908885"/>
            <a:ext cx="0" cy="381655"/>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a:stCxn id="373" idx="0"/>
          </p:cNvCxnSpPr>
          <p:nvPr/>
        </p:nvCxnSpPr>
        <p:spPr>
          <a:xfrm flipV="1">
            <a:off x="3346641" y="2197047"/>
            <a:ext cx="0" cy="111592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3273489" y="269695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③</a:t>
            </a:r>
          </a:p>
        </p:txBody>
      </p:sp>
      <p:sp>
        <p:nvSpPr>
          <p:cNvPr id="381" name="Rectangle 59"/>
          <p:cNvSpPr/>
          <p:nvPr/>
        </p:nvSpPr>
        <p:spPr>
          <a:xfrm>
            <a:off x="4170566" y="3605088"/>
            <a:ext cx="2030800"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Migration Executor</a:t>
            </a:r>
          </a:p>
        </p:txBody>
      </p:sp>
      <p:sp>
        <p:nvSpPr>
          <p:cNvPr id="382" name="Rectangle 60"/>
          <p:cNvSpPr/>
          <p:nvPr/>
        </p:nvSpPr>
        <p:spPr>
          <a:xfrm>
            <a:off x="4171747" y="4143144"/>
            <a:ext cx="2030800" cy="237533"/>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dirty="0">
                <a:solidFill>
                  <a:srgbClr val="FFFFFF"/>
                </a:solidFill>
                <a:latin typeface="맑은 고딕"/>
                <a:ea typeface="맑은 고딕"/>
              </a:rPr>
              <a:t>Transfer Handler  (Background DMA)</a:t>
            </a:r>
          </a:p>
        </p:txBody>
      </p:sp>
      <p:cxnSp>
        <p:nvCxnSpPr>
          <p:cNvPr id="383" name="Connector 61"/>
          <p:cNvCxnSpPr>
            <a:stCxn id="381" idx="2"/>
            <a:endCxn id="382" idx="0"/>
          </p:cNvCxnSpPr>
          <p:nvPr/>
        </p:nvCxnSpPr>
        <p:spPr>
          <a:xfrm>
            <a:off x="5185966" y="3833688"/>
            <a:ext cx="1480" cy="31839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127478" y="387443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⑥</a:t>
            </a:r>
          </a:p>
        </p:txBody>
      </p:sp>
      <p:cxnSp>
        <p:nvCxnSpPr>
          <p:cNvPr id="385" name="Connector 63"/>
          <p:cNvCxnSpPr>
            <a:stCxn id="361" idx="3"/>
            <a:endCxn id="381" idx="0"/>
          </p:cNvCxnSpPr>
          <p:nvPr/>
        </p:nvCxnSpPr>
        <p:spPr>
          <a:xfrm>
            <a:off x="4203986" y="1986735"/>
            <a:ext cx="981980" cy="1618353"/>
          </a:xfrm>
          <a:prstGeom prst="bentConnector2">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124733" y="273217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8" name="Connector 66"/>
          <p:cNvCxnSpPr>
            <a:stCxn id="381" idx="1"/>
            <a:endCxn id="373" idx="2"/>
          </p:cNvCxnSpPr>
          <p:nvPr/>
        </p:nvCxnSpPr>
        <p:spPr>
          <a:xfrm rot="10800000">
            <a:off x="3346642" y="3567600"/>
            <a:ext cx="823925" cy="151789"/>
          </a:xfrm>
          <a:prstGeom prst="bentConnector2">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763851" y="366909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⑤</a:t>
            </a:r>
          </a:p>
        </p:txBody>
      </p:sp>
      <p:sp>
        <p:nvSpPr>
          <p:cNvPr id="390" name="Rectangle 68"/>
          <p:cNvSpPr/>
          <p:nvPr/>
        </p:nvSpPr>
        <p:spPr>
          <a:xfrm>
            <a:off x="1261809" y="4153092"/>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dirty="0">
                <a:solidFill>
                  <a:srgbClr val="FFFFFF"/>
                </a:solidFill>
                <a:latin typeface="맑은 고딕"/>
                <a:ea typeface="맑은 고딕"/>
              </a:rPr>
              <a:t>Common Memory Backend Interface</a:t>
            </a:r>
          </a:p>
        </p:txBody>
      </p:sp>
      <p:cxnSp>
        <p:nvCxnSpPr>
          <p:cNvPr id="391" name="Connector 69"/>
          <p:cNvCxnSpPr>
            <a:endCxn id="372" idx="2"/>
          </p:cNvCxnSpPr>
          <p:nvPr/>
        </p:nvCxnSpPr>
        <p:spPr>
          <a:xfrm flipV="1">
            <a:off x="2084769" y="3546572"/>
            <a:ext cx="0" cy="606521"/>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grpSp>
        <p:nvGrpSpPr>
          <p:cNvPr id="7" name="그룹 6"/>
          <p:cNvGrpSpPr/>
          <p:nvPr/>
        </p:nvGrpSpPr>
        <p:grpSpPr>
          <a:xfrm>
            <a:off x="311665" y="3341561"/>
            <a:ext cx="768096" cy="1115568"/>
            <a:chOff x="292545" y="3435232"/>
            <a:chExt cx="768096" cy="1115568"/>
          </a:xfrm>
        </p:grpSpPr>
        <p:sp>
          <p:nvSpPr>
            <p:cNvPr id="392"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
        <p:nvSpPr>
          <p:cNvPr id="113" name="모서리가 둥근 직사각형 112"/>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105" name="실행 단추: 앞으로 또는 다음으로 이동 104">
            <a:hlinkClick r:id="rId4" action="ppaction://hlinksldjump" highlightClick="1"/>
            <a:extLst>
              <a:ext uri="{FF2B5EF4-FFF2-40B4-BE49-F238E27FC236}">
                <a16:creationId xmlns:a16="http://schemas.microsoft.com/office/drawing/2014/main" id="{2FD9E54B-85A4-4F54-B55B-7E511F28F739}"/>
              </a:ext>
            </a:extLst>
          </p:cNvPr>
          <p:cNvSpPr/>
          <p:nvPr/>
        </p:nvSpPr>
        <p:spPr>
          <a:xfrm>
            <a:off x="595831" y="603413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0" name="실행 단추: 앞으로 또는 다음 109">
            <a:hlinkClick r:id="rId5" action="ppaction://hlinksldjump" highlightClick="1"/>
          </p:cNvPr>
          <p:cNvSpPr/>
          <p:nvPr/>
        </p:nvSpPr>
        <p:spPr>
          <a:xfrm>
            <a:off x="6236437"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6" name="Connector 66"/>
          <p:cNvCxnSpPr>
            <a:stCxn id="334" idx="1"/>
            <a:endCxn id="323" idx="3"/>
          </p:cNvCxnSpPr>
          <p:nvPr/>
        </p:nvCxnSpPr>
        <p:spPr>
          <a:xfrm flipH="1">
            <a:off x="9049171" y="3781490"/>
            <a:ext cx="498763" cy="3747"/>
          </a:xfrm>
          <a:prstGeom prst="straightConnector1">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9254941" y="3730818"/>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⑦</a:t>
            </a:r>
          </a:p>
        </p:txBody>
      </p:sp>
      <p:cxnSp>
        <p:nvCxnSpPr>
          <p:cNvPr id="157" name="Connector 69"/>
          <p:cNvCxnSpPr>
            <a:endCxn id="322" idx="2"/>
          </p:cNvCxnSpPr>
          <p:nvPr/>
        </p:nvCxnSpPr>
        <p:spPr>
          <a:xfrm flipV="1">
            <a:off x="7278560" y="3913253"/>
            <a:ext cx="0" cy="424016"/>
          </a:xfrm>
          <a:prstGeom prst="straightConnector1">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A19DE7E3-9727-4AAE-AF79-40DA077862EE}"/>
              </a:ext>
            </a:extLst>
          </p:cNvPr>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이동</a:t>
            </a:r>
            <a:r>
              <a:rPr lang="en-US" altLang="ko-KR" sz="1100" dirty="0"/>
              <a:t>“</a:t>
            </a:r>
          </a:p>
        </p:txBody>
      </p:sp>
      <p:sp>
        <p:nvSpPr>
          <p:cNvPr id="92" name="TextBox 91">
            <a:extLst>
              <a:ext uri="{FF2B5EF4-FFF2-40B4-BE49-F238E27FC236}">
                <a16:creationId xmlns:a16="http://schemas.microsoft.com/office/drawing/2014/main" id="{6808D04C-22A5-4934-B199-257B712E586E}"/>
              </a:ext>
            </a:extLst>
          </p:cNvPr>
          <p:cNvSpPr txBox="1"/>
          <p:nvPr/>
        </p:nvSpPr>
        <p:spPr>
          <a:xfrm>
            <a:off x="6534149" y="1383052"/>
            <a:ext cx="5448301" cy="261610"/>
          </a:xfrm>
          <a:prstGeom prst="rect">
            <a:avLst/>
          </a:prstGeom>
          <a:noFill/>
        </p:spPr>
        <p:txBody>
          <a:bodyPr wrap="square" rtlCol="0">
            <a:spAutoFit/>
          </a:bodyPr>
          <a:lstStyle/>
          <a:p>
            <a:r>
              <a:rPr lang="en-US" altLang="ko-KR" sz="1100" dirty="0"/>
              <a:t>“</a:t>
            </a:r>
            <a:r>
              <a:rPr lang="ko-KR" altLang="en-US" sz="1100" dirty="0">
                <a:solidFill>
                  <a:srgbClr val="0066FF"/>
                </a:solidFill>
              </a:rPr>
              <a:t>데이터 특성</a:t>
            </a:r>
            <a:r>
              <a:rPr lang="en-US" altLang="ko-KR" sz="1100" dirty="0">
                <a:solidFill>
                  <a:srgbClr val="0066FF"/>
                </a:solidFill>
              </a:rPr>
              <a:t>(KV</a:t>
            </a:r>
            <a:r>
              <a:rPr lang="ko-KR" altLang="en-US" sz="1100" dirty="0">
                <a:solidFill>
                  <a:srgbClr val="0066FF"/>
                </a:solidFill>
              </a:rPr>
              <a:t> </a:t>
            </a:r>
            <a:r>
              <a:rPr lang="en-US" altLang="ko-KR" sz="1100" dirty="0">
                <a:solidFill>
                  <a:srgbClr val="0066FF"/>
                </a:solidFill>
              </a:rPr>
              <a:t>Hotness/Agent Tool Info </a:t>
            </a:r>
            <a:r>
              <a:rPr lang="ko-KR" altLang="en-US" sz="1100" dirty="0">
                <a:solidFill>
                  <a:srgbClr val="0066FF"/>
                </a:solidFill>
              </a:rPr>
              <a:t>등</a:t>
            </a:r>
            <a:r>
              <a:rPr lang="en-US" altLang="ko-KR" sz="1100" dirty="0">
                <a:solidFill>
                  <a:srgbClr val="0066FF"/>
                </a:solidFill>
              </a:rPr>
              <a:t>)</a:t>
            </a:r>
            <a:r>
              <a:rPr lang="ko-KR" altLang="en-US" sz="1100" dirty="0"/>
              <a:t>에 우선한 이동</a:t>
            </a:r>
            <a:r>
              <a:rPr lang="en-US" altLang="ko-KR" sz="1100" dirty="0"/>
              <a:t>“</a:t>
            </a:r>
            <a:endParaRPr lang="ko-KR" altLang="en-US" sz="1100" dirty="0"/>
          </a:p>
        </p:txBody>
      </p:sp>
      <p:sp>
        <p:nvSpPr>
          <p:cNvPr id="87" name="직사각형 86">
            <a:extLst>
              <a:ext uri="{FF2B5EF4-FFF2-40B4-BE49-F238E27FC236}">
                <a16:creationId xmlns:a16="http://schemas.microsoft.com/office/drawing/2014/main" id="{6E2B7273-A609-42E8-9B1D-ED211C704AFC}"/>
              </a:ext>
            </a:extLst>
          </p:cNvPr>
          <p:cNvSpPr/>
          <p:nvPr/>
        </p:nvSpPr>
        <p:spPr>
          <a:xfrm>
            <a:off x="6534148" y="1053935"/>
            <a:ext cx="5580545" cy="536210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37">
            <a:extLst>
              <a:ext uri="{FF2B5EF4-FFF2-40B4-BE49-F238E27FC236}">
                <a16:creationId xmlns:a16="http://schemas.microsoft.com/office/drawing/2014/main" id="{476B6E1C-7561-417D-A669-4DEFCE610223}"/>
              </a:ext>
            </a:extLst>
          </p:cNvPr>
          <p:cNvSpPr/>
          <p:nvPr/>
        </p:nvSpPr>
        <p:spPr>
          <a:xfrm>
            <a:off x="7872631"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09" name="Oval 90"/>
          <p:cNvSpPr/>
          <p:nvPr/>
        </p:nvSpPr>
        <p:spPr>
          <a:xfrm>
            <a:off x="7208592" y="3378137"/>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111" name="Connector 88"/>
          <p:cNvCxnSpPr/>
          <p:nvPr/>
        </p:nvCxnSpPr>
        <p:spPr>
          <a:xfrm flipV="1">
            <a:off x="8702184" y="2230072"/>
            <a:ext cx="0" cy="48757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640813" y="2359517"/>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③</a:t>
            </a:r>
          </a:p>
        </p:txBody>
      </p:sp>
      <p:sp>
        <p:nvSpPr>
          <p:cNvPr id="120" name="Rectangle 60"/>
          <p:cNvSpPr/>
          <p:nvPr/>
        </p:nvSpPr>
        <p:spPr>
          <a:xfrm>
            <a:off x="9577063" y="4198915"/>
            <a:ext cx="2030800" cy="237533"/>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dirty="0">
                <a:solidFill>
                  <a:srgbClr val="FFFFFF"/>
                </a:solidFill>
                <a:latin typeface="맑은 고딕"/>
                <a:ea typeface="맑은 고딕"/>
              </a:rPr>
              <a:t>Transfer Handler  (Background DMA)</a:t>
            </a:r>
          </a:p>
        </p:txBody>
      </p:sp>
    </p:spTree>
    <p:extLst>
      <p:ext uri="{BB962C8B-B14F-4D97-AF65-F5344CB8AC3E}">
        <p14:creationId xmlns:p14="http://schemas.microsoft.com/office/powerpoint/2010/main" val="148677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DP2. </a:t>
            </a:r>
            <a:r>
              <a:rPr lang="ko-KR" altLang="en-US" dirty="0"/>
              <a:t>연산</a:t>
            </a:r>
            <a:r>
              <a:rPr lang="en-US" altLang="ko-KR" dirty="0"/>
              <a:t>(Prefill/Decode)</a:t>
            </a:r>
            <a:r>
              <a:rPr lang="ko-KR" altLang="en-US" dirty="0"/>
              <a:t> 실행 위치 결정 </a:t>
            </a:r>
            <a:r>
              <a:rPr lang="ko-KR" altLang="en-US" dirty="0" smtClean="0"/>
              <a:t>구조 </a:t>
            </a:r>
            <a:r>
              <a:rPr lang="en-US" altLang="ko-KR" dirty="0" smtClean="0"/>
              <a:t>- </a:t>
            </a:r>
            <a:r>
              <a:rPr lang="ko-KR" altLang="en-US" dirty="0"/>
              <a:t>배경</a:t>
            </a:r>
            <a:endParaRPr lang="en-US" altLang="ko-KR" dirty="0"/>
          </a:p>
        </p:txBody>
      </p:sp>
      <p:sp>
        <p:nvSpPr>
          <p:cNvPr id="79" name="Text 22"/>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spcAft>
                <a:spcPts val="300"/>
              </a:spcAft>
              <a:buFontTx/>
              <a:buChar char="-"/>
            </a:pPr>
            <a:r>
              <a:rPr lang="en-US" altLang="ko-KR" sz="1200" dirty="0"/>
              <a:t>Agent</a:t>
            </a:r>
            <a:r>
              <a:rPr lang="ko-KR" altLang="en-US" sz="1200" dirty="0"/>
              <a:t>에서 동시 요청이 늘면서 새로 생성한 </a:t>
            </a:r>
            <a:r>
              <a:rPr lang="en-US" altLang="ko-KR" sz="1200" dirty="0"/>
              <a:t>KV</a:t>
            </a:r>
            <a:r>
              <a:rPr lang="ko-KR" altLang="en-US" sz="1200" dirty="0"/>
              <a:t> 캐시가 </a:t>
            </a:r>
            <a:r>
              <a:rPr lang="en-US" altLang="ko-KR" sz="1200" dirty="0"/>
              <a:t>HBM</a:t>
            </a:r>
            <a:r>
              <a:rPr lang="ko-KR" altLang="en-US" sz="1200" dirty="0"/>
              <a:t>에 상주하고 있는 </a:t>
            </a:r>
            <a:r>
              <a:rPr lang="en-US" altLang="ko-KR" sz="1200" dirty="0"/>
              <a:t>KV </a:t>
            </a:r>
            <a:r>
              <a:rPr lang="ko-KR" altLang="en-US" sz="1200" dirty="0"/>
              <a:t>캐시를 </a:t>
            </a:r>
            <a:r>
              <a:rPr lang="en-US" altLang="ko-KR" sz="1200" dirty="0"/>
              <a:t>eviction</a:t>
            </a:r>
            <a:r>
              <a:rPr lang="ko-KR" altLang="en-US" sz="1200" dirty="0"/>
              <a:t>하여 </a:t>
            </a:r>
            <a:r>
              <a:rPr lang="ko-KR" altLang="en-US" sz="1200" b="1" dirty="0">
                <a:solidFill>
                  <a:srgbClr val="FF0000"/>
                </a:solidFill>
              </a:rPr>
              <a:t>전체 처리량 저하를 유발</a:t>
            </a:r>
            <a:endParaRPr lang="en-US" altLang="ko-KR" sz="1200" b="1" dirty="0">
              <a:solidFill>
                <a:srgbClr val="FF0000"/>
              </a:solidFill>
            </a:endParaRPr>
          </a:p>
          <a:p>
            <a:pPr marL="285750" indent="-285750">
              <a:lnSpc>
                <a:spcPct val="150000"/>
              </a:lnSpc>
              <a:spcAft>
                <a:spcPts val="300"/>
              </a:spcAft>
              <a:buFontTx/>
              <a:buChar char="-"/>
            </a:pPr>
            <a:r>
              <a:rPr lang="en-US" altLang="ko-KR" sz="1200" dirty="0">
                <a:latin typeface="맑은 고딕" panose="020B0503020000020004" pitchFamily="50" charset="-127"/>
              </a:rPr>
              <a:t>DP1</a:t>
            </a:r>
            <a:r>
              <a:rPr lang="ko-KR" altLang="en-US" sz="1200" dirty="0">
                <a:latin typeface="맑은 고딕" panose="020B0503020000020004" pitchFamily="50" charset="-127"/>
              </a:rPr>
              <a:t>의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분산 배치 환경에서 </a:t>
            </a:r>
            <a:r>
              <a:rPr lang="en-US" altLang="ko-KR" sz="1200" dirty="0">
                <a:latin typeface="맑은 고딕" panose="020B0503020000020004" pitchFamily="50" charset="-127"/>
              </a:rPr>
              <a:t>GPU </a:t>
            </a:r>
            <a:r>
              <a:rPr lang="ko-KR" altLang="en-US" sz="1200" dirty="0">
                <a:latin typeface="맑은 고딕" panose="020B0503020000020004" pitchFamily="50" charset="-127"/>
              </a:rPr>
              <a:t>중심의 연산 수행보다 </a:t>
            </a:r>
            <a:r>
              <a:rPr lang="en-US" altLang="ko-KR" sz="1200" b="1" dirty="0">
                <a:solidFill>
                  <a:srgbClr val="0066FF"/>
                </a:solidFill>
                <a:latin typeface="맑은 고딕" panose="020B0503020000020004" pitchFamily="50" charset="-127"/>
              </a:rPr>
              <a:t>KV </a:t>
            </a:r>
            <a:r>
              <a:rPr lang="ko-KR" altLang="en-US" sz="1200" b="1" dirty="0">
                <a:solidFill>
                  <a:srgbClr val="0066FF"/>
                </a:solidFill>
                <a:latin typeface="맑은 고딕" panose="020B0503020000020004" pitchFamily="50" charset="-127"/>
              </a:rPr>
              <a:t>캐시 인접 연산 자원 활용이 성능에 유리할 수 있음</a:t>
            </a:r>
            <a:endParaRPr lang="en-US" altLang="ko-KR" sz="1200" b="1" dirty="0">
              <a:solidFill>
                <a:srgbClr val="0066FF"/>
              </a:solidFill>
              <a:latin typeface="맑은 고딕" panose="020B0503020000020004" pitchFamily="50" charset="-127"/>
            </a:endParaRPr>
          </a:p>
          <a:p>
            <a:pPr marL="285750" indent="-285750">
              <a:lnSpc>
                <a:spcPct val="150000"/>
              </a:lnSpc>
              <a:spcAft>
                <a:spcPts val="300"/>
              </a:spcAft>
              <a:buFontTx/>
              <a:buChar char="-"/>
            </a:pPr>
            <a:r>
              <a:rPr lang="en-US" altLang="ko-KR" sz="1200" b="1" dirty="0">
                <a:solidFill>
                  <a:srgbClr val="0066FF"/>
                </a:solidFill>
                <a:latin typeface="맑은 고딕" panose="020B0503020000020004" pitchFamily="50" charset="-127"/>
              </a:rPr>
              <a:t>KV </a:t>
            </a:r>
            <a:r>
              <a:rPr lang="ko-KR" altLang="en-US" sz="1200" b="1" dirty="0">
                <a:solidFill>
                  <a:srgbClr val="0066FF"/>
                </a:solidFill>
                <a:latin typeface="맑은 고딕" panose="020B0503020000020004" pitchFamily="50" charset="-127"/>
              </a:rPr>
              <a:t>캐시 위치</a:t>
            </a:r>
            <a:r>
              <a:rPr lang="en-US" altLang="ko-KR" sz="1200" b="1" dirty="0">
                <a:solidFill>
                  <a:srgbClr val="0066FF"/>
                </a:solidFill>
                <a:latin typeface="맑은 고딕" panose="020B0503020000020004" pitchFamily="50" charset="-127"/>
              </a:rPr>
              <a:t>, </a:t>
            </a:r>
            <a:r>
              <a:rPr lang="ko-KR" altLang="en-US" sz="1200" b="1" dirty="0">
                <a:solidFill>
                  <a:srgbClr val="0066FF"/>
                </a:solidFill>
                <a:latin typeface="맑은 고딕" panose="020B0503020000020004" pitchFamily="50" charset="-127"/>
              </a:rPr>
              <a:t>데이터 이동 비용 및 연산 자원 상태</a:t>
            </a:r>
            <a:r>
              <a:rPr lang="ko-KR" altLang="en-US" sz="1200" dirty="0">
                <a:latin typeface="맑은 고딕" panose="020B0503020000020004" pitchFamily="50" charset="-127"/>
              </a:rPr>
              <a:t>에 따라 </a:t>
            </a:r>
            <a:r>
              <a:rPr lang="en-US" altLang="ko-KR" sz="1200" dirty="0">
                <a:latin typeface="맑은 고딕" panose="020B0503020000020004" pitchFamily="50" charset="-127"/>
              </a:rPr>
              <a:t>Prefill/Decode </a:t>
            </a:r>
            <a:r>
              <a:rPr lang="ko-KR" altLang="en-US" sz="1200" dirty="0">
                <a:latin typeface="맑은 고딕" panose="020B0503020000020004" pitchFamily="50" charset="-127"/>
              </a:rPr>
              <a:t>실행 위치와 성능이 달라지므로</a:t>
            </a:r>
            <a:r>
              <a:rPr lang="en-US" altLang="ko-KR" sz="1200" dirty="0">
                <a:latin typeface="맑은 고딕" panose="020B0503020000020004" pitchFamily="50" charset="-127"/>
              </a:rPr>
              <a:t>, </a:t>
            </a:r>
            <a:r>
              <a:rPr lang="ko-KR" altLang="en-US" sz="1200" dirty="0">
                <a:latin typeface="맑은 고딕" panose="020B0503020000020004" pitchFamily="50" charset="-127"/>
              </a:rPr>
              <a:t>이를 고려한 동적 실행 위치 결정 필요</a:t>
            </a:r>
            <a:endParaRPr lang="en-US" altLang="ko-KR" sz="1200" dirty="0">
              <a:latin typeface="맑은 고딕" panose="020B0503020000020004" pitchFamily="50" charset="-127"/>
            </a:endParaRP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925424"/>
            <a:ext cx="5533854" cy="3347597"/>
            <a:chOff x="6167674" y="2324996"/>
            <a:chExt cx="5533854" cy="2785485"/>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650146"/>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6"/>
              <a:ext cx="4990654" cy="254748"/>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KV</a:t>
              </a:r>
              <a:r>
                <a:rPr lang="ko-KR" altLang="en-US" sz="1200" b="1" dirty="0"/>
                <a:t> 위치</a:t>
              </a:r>
              <a:r>
                <a:rPr lang="en-US" altLang="ko-KR" sz="1200" b="1" dirty="0"/>
                <a:t>, </a:t>
              </a:r>
              <a:r>
                <a:rPr lang="ko-KR" altLang="en-US" sz="1200" b="1" dirty="0"/>
                <a:t>자원 상태를 고려해</a:t>
              </a:r>
              <a:r>
                <a:rPr lang="en-US" altLang="ko-KR" sz="1200" b="1" dirty="0"/>
                <a:t> </a:t>
              </a:r>
              <a:r>
                <a:rPr lang="ko-KR" altLang="en-US" sz="1200" b="1" dirty="0"/>
                <a:t>연산 실행 위치 결정</a:t>
              </a:r>
            </a:p>
          </p:txBody>
        </p:sp>
      </p:gr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920384"/>
            <a:ext cx="5533854" cy="3352637"/>
            <a:chOff x="99695" y="3138920"/>
            <a:chExt cx="5744956" cy="3116804"/>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744956" cy="2979527"/>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기존 연산 스케줄링 한계</a:t>
              </a:r>
            </a:p>
          </p:txBody>
        </p:sp>
      </p:grpSp>
      <p:graphicFrame>
        <p:nvGraphicFramePr>
          <p:cNvPr id="309" name="Chart 12">
            <a:extLst>
              <a:ext uri="{FF2B5EF4-FFF2-40B4-BE49-F238E27FC236}">
                <a16:creationId xmlns:a16="http://schemas.microsoft.com/office/drawing/2014/main" id="{19A282A2-95C9-4A50-BAAE-09C7C9424504}"/>
              </a:ext>
            </a:extLst>
          </p:cNvPr>
          <p:cNvGraphicFramePr>
            <a:graphicFrameLocks noGrp="1"/>
          </p:cNvGraphicFramePr>
          <p:nvPr>
            <p:extLst>
              <p:ext uri="{D42A27DB-BD31-4B8C-83A1-F6EECF244321}">
                <p14:modId xmlns:p14="http://schemas.microsoft.com/office/powerpoint/2010/main" val="2317435573"/>
              </p:ext>
            </p:extLst>
          </p:nvPr>
        </p:nvGraphicFramePr>
        <p:xfrm>
          <a:off x="376744" y="2724919"/>
          <a:ext cx="3569277" cy="2136864"/>
        </p:xfrm>
        <a:graphic>
          <a:graphicData uri="http://schemas.openxmlformats.org/drawingml/2006/chart">
            <c:chart xmlns:c="http://schemas.openxmlformats.org/drawingml/2006/chart" xmlns:r="http://schemas.openxmlformats.org/officeDocument/2006/relationships" r:id="rId3"/>
          </a:graphicData>
        </a:graphic>
      </p:graphicFrame>
      <p:sp>
        <p:nvSpPr>
          <p:cNvPr id="314" name="Rectangle 9067">
            <a:extLst>
              <a:ext uri="{FF2B5EF4-FFF2-40B4-BE49-F238E27FC236}">
                <a16:creationId xmlns:a16="http://schemas.microsoft.com/office/drawing/2014/main" id="{130BB20A-404F-4A67-871A-F7C2B73822A8}"/>
              </a:ext>
            </a:extLst>
          </p:cNvPr>
          <p:cNvSpPr/>
          <p:nvPr/>
        </p:nvSpPr>
        <p:spPr>
          <a:xfrm>
            <a:off x="582933" y="2634792"/>
            <a:ext cx="3156897" cy="38630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rtl="0"/>
            <a:r>
              <a:rPr lang="ko-KR" altLang="en-US" sz="900" b="1" dirty="0">
                <a:solidFill>
                  <a:srgbClr val="404040"/>
                </a:solidFill>
                <a:latin typeface="맑은 고딕"/>
                <a:ea typeface="맑은 고딕"/>
                <a:cs typeface="맑은 고딕"/>
              </a:rPr>
              <a:t>동시 세션 수 대비 처리량</a:t>
            </a:r>
            <a:endParaRPr lang="en-US" altLang="ko-KR" sz="900" b="1" dirty="0">
              <a:solidFill>
                <a:srgbClr val="404040"/>
              </a:solidFill>
              <a:latin typeface="맑은 고딕"/>
              <a:ea typeface="맑은 고딕"/>
              <a:cs typeface="맑은 고딕"/>
            </a:endParaRPr>
          </a:p>
          <a:p>
            <a:pPr algn="ctr"/>
            <a:r>
              <a:rPr lang="en-US" altLang="ko-KR" sz="700" b="1" dirty="0">
                <a:solidFill>
                  <a:srgbClr val="404040"/>
                </a:solidFill>
                <a:latin typeface="맑은 고딕"/>
                <a:ea typeface="맑은 고딕"/>
                <a:cs typeface="맑은 고딕"/>
              </a:rPr>
              <a:t>(</a:t>
            </a:r>
            <a:r>
              <a:rPr lang="en-US" altLang="ko-KR" sz="700" b="1" dirty="0">
                <a:solidFill>
                  <a:srgbClr val="404040"/>
                </a:solidFill>
                <a:ea typeface="맑은 고딕"/>
                <a:cs typeface="맑은 고딕"/>
              </a:rPr>
              <a:t>Context </a:t>
            </a:r>
            <a:r>
              <a:rPr lang="ko-KR" altLang="en-US" sz="700" b="1" dirty="0">
                <a:solidFill>
                  <a:srgbClr val="404040"/>
                </a:solidFill>
                <a:ea typeface="맑은 고딕"/>
                <a:cs typeface="맑은 고딕"/>
              </a:rPr>
              <a:t>길이 </a:t>
            </a:r>
            <a:r>
              <a:rPr lang="en-US" altLang="ko-KR" sz="700" b="1" dirty="0">
                <a:solidFill>
                  <a:srgbClr val="404040"/>
                </a:solidFill>
                <a:ea typeface="맑은 고딕"/>
                <a:cs typeface="맑은 고딕"/>
              </a:rPr>
              <a:t>128~256K, H100 1GPU,</a:t>
            </a:r>
            <a:r>
              <a:rPr lang="ko-KR" altLang="en-US" sz="700" b="1" dirty="0">
                <a:solidFill>
                  <a:srgbClr val="404040"/>
                </a:solidFill>
                <a:ea typeface="맑은 고딕"/>
                <a:cs typeface="맑은 고딕"/>
              </a:rPr>
              <a:t> </a:t>
            </a:r>
            <a:r>
              <a:rPr lang="en-US" altLang="ko-KR" sz="700" b="1" dirty="0">
                <a:solidFill>
                  <a:srgbClr val="404040"/>
                </a:solidFill>
                <a:ea typeface="맑은 고딕"/>
                <a:cs typeface="맑은 고딕"/>
              </a:rPr>
              <a:t>Llaam3.1</a:t>
            </a:r>
            <a:r>
              <a:rPr lang="ko-KR" altLang="en-US" sz="700" b="1" dirty="0">
                <a:solidFill>
                  <a:srgbClr val="404040"/>
                </a:solidFill>
                <a:ea typeface="맑은 고딕"/>
                <a:cs typeface="맑은 고딕"/>
              </a:rPr>
              <a:t> </a:t>
            </a:r>
            <a:r>
              <a:rPr lang="en-US" altLang="ko-KR" sz="700" b="1" dirty="0">
                <a:solidFill>
                  <a:srgbClr val="404040"/>
                </a:solidFill>
                <a:ea typeface="맑은 고딕"/>
                <a:cs typeface="맑은 고딕"/>
              </a:rPr>
              <a:t>70B )</a:t>
            </a:r>
          </a:p>
        </p:txBody>
      </p:sp>
      <p:sp>
        <p:nvSpPr>
          <p:cNvPr id="315" name="TextBox 314">
            <a:extLst>
              <a:ext uri="{FF2B5EF4-FFF2-40B4-BE49-F238E27FC236}">
                <a16:creationId xmlns:a16="http://schemas.microsoft.com/office/drawing/2014/main" id="{CA96ECC6-80A1-41E9-9AB6-97DCC6BA7DCF}"/>
              </a:ext>
            </a:extLst>
          </p:cNvPr>
          <p:cNvSpPr txBox="1"/>
          <p:nvPr/>
        </p:nvSpPr>
        <p:spPr>
          <a:xfrm>
            <a:off x="3498815" y="3358088"/>
            <a:ext cx="2234475" cy="568361"/>
          </a:xfrm>
          <a:prstGeom prst="rect">
            <a:avLst/>
          </a:prstGeom>
          <a:noFill/>
        </p:spPr>
        <p:txBody>
          <a:bodyPr wrap="square" lIns="45720" tIns="27432" rIns="45720" bIns="27432" anchor="t">
            <a:spAutoFit/>
          </a:bodyPr>
          <a:lstStyle/>
          <a:p>
            <a:pPr algn="l">
              <a:spcAft>
                <a:spcPts val="200"/>
              </a:spcAft>
            </a:pPr>
            <a:r>
              <a:rPr lang="en-US" altLang="ko-KR" sz="1000" dirty="0">
                <a:solidFill>
                  <a:srgbClr val="404040"/>
                </a:solidFill>
                <a:latin typeface="맑은 고딕"/>
                <a:ea typeface="맑은 고딕"/>
                <a:cs typeface="맑은 고딕"/>
              </a:rPr>
              <a:t>I</a:t>
            </a:r>
            <a:r>
              <a:rPr lang="en-US" altLang="ko-KR" sz="1000" b="0" dirty="0">
                <a:solidFill>
                  <a:srgbClr val="404040"/>
                </a:solidFill>
                <a:latin typeface="맑은 고딕"/>
                <a:ea typeface="맑은 고딕"/>
                <a:cs typeface="맑은 고딕"/>
              </a:rPr>
              <a:t>dle </a:t>
            </a:r>
            <a:r>
              <a:rPr lang="ko-KR" altLang="en-US" sz="1000" b="0" dirty="0">
                <a:solidFill>
                  <a:srgbClr val="404040"/>
                </a:solidFill>
                <a:latin typeface="맑은 고딕"/>
                <a:ea typeface="맑은 고딕"/>
                <a:cs typeface="맑은 고딕"/>
              </a:rPr>
              <a:t>세션의 </a:t>
            </a:r>
            <a:r>
              <a:rPr lang="en-US" altLang="ko-KR" sz="1000" b="0" dirty="0">
                <a:solidFill>
                  <a:srgbClr val="404040"/>
                </a:solidFill>
                <a:latin typeface="맑은 고딕"/>
                <a:ea typeface="맑은 고딕"/>
                <a:cs typeface="맑은 고딕"/>
              </a:rPr>
              <a:t>KV </a:t>
            </a:r>
            <a:r>
              <a:rPr lang="ko-KR" altLang="en-US" sz="1000" dirty="0">
                <a:solidFill>
                  <a:srgbClr val="404040"/>
                </a:solidFill>
                <a:latin typeface="맑은 고딕"/>
                <a:ea typeface="맑은 고딕"/>
                <a:cs typeface="맑은 고딕"/>
              </a:rPr>
              <a:t>추출</a:t>
            </a:r>
            <a:r>
              <a:rPr lang="en-US" altLang="ko-KR" sz="1000" dirty="0">
                <a:solidFill>
                  <a:srgbClr val="404040"/>
                </a:solidFill>
                <a:latin typeface="맑은 고딕"/>
                <a:ea typeface="맑은 고딕"/>
                <a:cs typeface="맑은 고딕"/>
              </a:rPr>
              <a:t>(Eviction)</a:t>
            </a:r>
          </a:p>
          <a:p>
            <a:pPr marL="171450" indent="-171450" algn="l">
              <a:spcAft>
                <a:spcPts val="200"/>
              </a:spcAft>
              <a:buFontTx/>
              <a:buChar char="-"/>
            </a:pPr>
            <a:r>
              <a:rPr lang="ko-KR" altLang="en-US" sz="1000" dirty="0">
                <a:solidFill>
                  <a:srgbClr val="404040"/>
                </a:solidFill>
                <a:latin typeface="맑은 고딕"/>
                <a:ea typeface="맑은 고딕"/>
                <a:cs typeface="맑은 고딕"/>
              </a:rPr>
              <a:t>동시 세션 수 </a:t>
            </a:r>
            <a:r>
              <a:rPr lang="en-US" altLang="ko-KR" sz="1000" dirty="0">
                <a:solidFill>
                  <a:srgbClr val="404040"/>
                </a:solidFill>
                <a:latin typeface="맑은 고딕"/>
                <a:ea typeface="맑은 고딕"/>
                <a:cs typeface="맑은 고딕"/>
              </a:rPr>
              <a:t>4</a:t>
            </a:r>
            <a:r>
              <a:rPr lang="ko-KR" altLang="en-US" sz="1000" dirty="0">
                <a:solidFill>
                  <a:srgbClr val="404040"/>
                </a:solidFill>
                <a:latin typeface="맑은 고딕"/>
                <a:ea typeface="맑은 고딕"/>
                <a:cs typeface="맑은 고딕"/>
              </a:rPr>
              <a:t>초과부터 </a:t>
            </a:r>
            <a:endParaRPr lang="en-US" altLang="ko-KR" sz="1000" dirty="0">
              <a:solidFill>
                <a:srgbClr val="404040"/>
              </a:solidFill>
              <a:latin typeface="맑은 고딕"/>
              <a:ea typeface="맑은 고딕"/>
              <a:cs typeface="맑은 고딕"/>
            </a:endParaRPr>
          </a:p>
          <a:p>
            <a:pPr algn="l">
              <a:spcAft>
                <a:spcPts val="200"/>
              </a:spcAft>
            </a:pPr>
            <a:r>
              <a:rPr lang="en-US" altLang="ko-KR" sz="1000" dirty="0">
                <a:solidFill>
                  <a:srgbClr val="C00000"/>
                </a:solidFill>
                <a:latin typeface="맑은 고딕"/>
                <a:ea typeface="맑은 고딕"/>
                <a:cs typeface="맑은 고딕"/>
              </a:rPr>
              <a:t>   3</a:t>
            </a:r>
            <a:r>
              <a:rPr lang="ko-KR" altLang="en-US" sz="1000" dirty="0">
                <a:solidFill>
                  <a:srgbClr val="C00000"/>
                </a:solidFill>
                <a:latin typeface="맑은 고딕"/>
                <a:ea typeface="맑은 고딕"/>
                <a:cs typeface="맑은 고딕"/>
              </a:rPr>
              <a:t>배 증가 시 처리량 </a:t>
            </a:r>
            <a:r>
              <a:rPr lang="en-US" altLang="ko-KR" sz="1000" dirty="0">
                <a:solidFill>
                  <a:srgbClr val="C00000"/>
                </a:solidFill>
                <a:latin typeface="맑은 고딕"/>
                <a:ea typeface="맑은 고딕"/>
                <a:cs typeface="맑은 고딕"/>
              </a:rPr>
              <a:t>89.3% </a:t>
            </a:r>
            <a:r>
              <a:rPr lang="ko-KR" altLang="en-US" sz="1000" dirty="0">
                <a:solidFill>
                  <a:srgbClr val="C00000"/>
                </a:solidFill>
                <a:latin typeface="맑은 고딕"/>
                <a:ea typeface="맑은 고딕"/>
                <a:cs typeface="맑은 고딕"/>
              </a:rPr>
              <a:t>저하 </a:t>
            </a:r>
            <a:r>
              <a:rPr lang="ko-KR" altLang="en-US" sz="1000" dirty="0">
                <a:solidFill>
                  <a:srgbClr val="404040"/>
                </a:solidFill>
                <a:latin typeface="맑은 고딕"/>
                <a:ea typeface="맑은 고딕"/>
                <a:cs typeface="맑은 고딕"/>
              </a:rPr>
              <a:t> </a:t>
            </a:r>
            <a:endParaRPr lang="en-US" altLang="ko-KR" sz="1000" dirty="0">
              <a:solidFill>
                <a:srgbClr val="404040"/>
              </a:solidFill>
              <a:latin typeface="맑은 고딕"/>
              <a:ea typeface="맑은 고딕"/>
              <a:cs typeface="맑은 고딕"/>
            </a:endParaRPr>
          </a:p>
        </p:txBody>
      </p:sp>
      <p:sp>
        <p:nvSpPr>
          <p:cNvPr id="317" name="TextBox 316">
            <a:extLst>
              <a:ext uri="{FF2B5EF4-FFF2-40B4-BE49-F238E27FC236}">
                <a16:creationId xmlns:a16="http://schemas.microsoft.com/office/drawing/2014/main" id="{D0AD827D-7BF6-4709-B9DD-2C96283D9573}"/>
              </a:ext>
            </a:extLst>
          </p:cNvPr>
          <p:cNvSpPr txBox="1"/>
          <p:nvPr/>
        </p:nvSpPr>
        <p:spPr>
          <a:xfrm>
            <a:off x="3399111" y="3063610"/>
            <a:ext cx="2423407" cy="216982"/>
          </a:xfrm>
          <a:prstGeom prst="rect">
            <a:avLst/>
          </a:prstGeom>
          <a:noFill/>
        </p:spPr>
        <p:txBody>
          <a:bodyPr wrap="square" lIns="45720" tIns="27432" rIns="45720" bIns="27432" anchor="t">
            <a:spAutoFit/>
          </a:bodyPr>
          <a:lstStyle/>
          <a:p>
            <a:pPr algn="ctr">
              <a:spcAft>
                <a:spcPts val="200"/>
              </a:spcAft>
            </a:pPr>
            <a:r>
              <a:rPr lang="ko-KR" altLang="en-US" sz="1050" b="1" dirty="0">
                <a:solidFill>
                  <a:srgbClr val="FF0000"/>
                </a:solidFill>
                <a:latin typeface="맑은 고딕"/>
                <a:ea typeface="맑은 고딕"/>
                <a:cs typeface="맑은 고딕"/>
              </a:rPr>
              <a:t>모든</a:t>
            </a:r>
            <a:r>
              <a:rPr lang="en-US" altLang="ko-KR" sz="1050" b="1" dirty="0">
                <a:solidFill>
                  <a:srgbClr val="FF0000"/>
                </a:solidFill>
                <a:latin typeface="맑은 고딕"/>
                <a:ea typeface="맑은 고딕"/>
                <a:cs typeface="맑은 고딕"/>
              </a:rPr>
              <a:t> </a:t>
            </a:r>
            <a:r>
              <a:rPr lang="ko-KR" altLang="en-US" sz="1050" b="1" dirty="0">
                <a:solidFill>
                  <a:srgbClr val="FF0000"/>
                </a:solidFill>
                <a:latin typeface="맑은 고딕"/>
                <a:ea typeface="맑은 고딕"/>
                <a:cs typeface="맑은 고딕"/>
              </a:rPr>
              <a:t>연산을 </a:t>
            </a:r>
            <a:r>
              <a:rPr lang="en-US" altLang="ko-KR" sz="1050" b="1" dirty="0">
                <a:solidFill>
                  <a:srgbClr val="FF0000"/>
                </a:solidFill>
                <a:latin typeface="맑은 고딕"/>
                <a:ea typeface="맑은 고딕"/>
                <a:cs typeface="맑은 고딕"/>
              </a:rPr>
              <a:t>GPU</a:t>
            </a:r>
            <a:r>
              <a:rPr lang="ko-KR" altLang="en-US" sz="1050" b="1" dirty="0">
                <a:solidFill>
                  <a:srgbClr val="FF0000"/>
                </a:solidFill>
                <a:latin typeface="맑은 고딕"/>
                <a:ea typeface="맑은 고딕"/>
                <a:cs typeface="맑은 고딕"/>
              </a:rPr>
              <a:t>에서 처리 시 </a:t>
            </a:r>
            <a:endParaRPr sz="1000" b="0" dirty="0">
              <a:solidFill>
                <a:srgbClr val="404040"/>
              </a:solidFill>
              <a:latin typeface="맑은 고딕"/>
              <a:ea typeface="맑은 고딕"/>
              <a:cs typeface="맑은 고딕"/>
            </a:endParaRPr>
          </a:p>
        </p:txBody>
      </p:sp>
      <p:sp>
        <p:nvSpPr>
          <p:cNvPr id="360" name="Rectangle 9049">
            <a:extLst>
              <a:ext uri="{FF2B5EF4-FFF2-40B4-BE49-F238E27FC236}">
                <a16:creationId xmlns:a16="http://schemas.microsoft.com/office/drawing/2014/main" id="{18D4A735-6072-4493-A019-B648E31EFF9E}"/>
              </a:ext>
            </a:extLst>
          </p:cNvPr>
          <p:cNvSpPr/>
          <p:nvPr/>
        </p:nvSpPr>
        <p:spPr>
          <a:xfrm>
            <a:off x="6334248" y="2655538"/>
            <a:ext cx="4780714" cy="15683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r>
              <a:rPr lang="ko-KR" altLang="en-US" sz="900" dirty="0">
                <a:solidFill>
                  <a:srgbClr val="FF0000"/>
                </a:solidFill>
                <a:latin typeface="맑은 고딕"/>
                <a:ea typeface="맑은 고딕"/>
              </a:rPr>
              <a:t>예</a:t>
            </a:r>
            <a:r>
              <a:rPr lang="en-US" altLang="ko-KR" sz="900" dirty="0">
                <a:solidFill>
                  <a:srgbClr val="FF0000"/>
                </a:solidFill>
                <a:latin typeface="맑은 고딕"/>
                <a:ea typeface="맑은 고딕"/>
              </a:rPr>
              <a:t>) Node</a:t>
            </a:r>
            <a:r>
              <a:rPr lang="ko-KR" altLang="en-US" sz="900" dirty="0">
                <a:solidFill>
                  <a:srgbClr val="FF0000"/>
                </a:solidFill>
                <a:latin typeface="맑은 고딕"/>
                <a:ea typeface="맑은 고딕"/>
              </a:rPr>
              <a:t> 내 스케줄링 </a:t>
            </a:r>
            <a:r>
              <a:rPr lang="en-US" altLang="ko-KR" sz="900" dirty="0">
                <a:solidFill>
                  <a:srgbClr val="FF0000"/>
                </a:solidFill>
                <a:latin typeface="맑은 고딕"/>
                <a:ea typeface="맑은 고딕"/>
              </a:rPr>
              <a:t>- Decode </a:t>
            </a:r>
            <a:r>
              <a:rPr lang="ko-KR" altLang="en-US" sz="900" dirty="0">
                <a:solidFill>
                  <a:srgbClr val="FF0000"/>
                </a:solidFill>
                <a:latin typeface="맑은 고딕"/>
                <a:ea typeface="맑은 고딕"/>
              </a:rPr>
              <a:t>실행 결정 시점 </a:t>
            </a:r>
            <a:r>
              <a:rPr lang="en-US" altLang="ko-KR" sz="900" dirty="0">
                <a:solidFill>
                  <a:srgbClr val="FF0000"/>
                </a:solidFill>
                <a:latin typeface="맑은 고딕"/>
                <a:ea typeface="맑은 고딕"/>
              </a:rPr>
              <a:t>(</a:t>
            </a:r>
            <a:r>
              <a:rPr lang="ko-KR" altLang="en-US" sz="900" dirty="0">
                <a:solidFill>
                  <a:srgbClr val="FF0000"/>
                </a:solidFill>
                <a:latin typeface="맑은 고딕"/>
                <a:ea typeface="맑은 고딕"/>
              </a:rPr>
              <a:t>해당 세션의 </a:t>
            </a:r>
            <a:r>
              <a:rPr lang="en-US" altLang="ko-KR" sz="900" dirty="0">
                <a:solidFill>
                  <a:srgbClr val="FF0000"/>
                </a:solidFill>
                <a:latin typeface="맑은 고딕"/>
                <a:ea typeface="맑은 고딕"/>
              </a:rPr>
              <a:t>KV</a:t>
            </a:r>
            <a:r>
              <a:rPr lang="ko-KR" altLang="en-US" sz="900" dirty="0">
                <a:solidFill>
                  <a:srgbClr val="FF0000"/>
                </a:solidFill>
                <a:latin typeface="맑은 고딕"/>
                <a:ea typeface="맑은 고딕"/>
              </a:rPr>
              <a:t>는 </a:t>
            </a:r>
            <a:r>
              <a:rPr lang="en-US" altLang="ko-KR" sz="900" dirty="0">
                <a:solidFill>
                  <a:srgbClr val="FF0000"/>
                </a:solidFill>
                <a:latin typeface="맑은 고딕"/>
                <a:ea typeface="맑은 고딕"/>
              </a:rPr>
              <a:t>CXL</a:t>
            </a:r>
            <a:r>
              <a:rPr lang="ko-KR" altLang="en-US" sz="900" dirty="0">
                <a:solidFill>
                  <a:srgbClr val="FF0000"/>
                </a:solidFill>
                <a:latin typeface="맑은 고딕"/>
                <a:ea typeface="맑은 고딕"/>
              </a:rPr>
              <a:t>에 위치</a:t>
            </a:r>
            <a:r>
              <a:rPr lang="en-US" altLang="ko-KR" sz="900" dirty="0">
                <a:solidFill>
                  <a:srgbClr val="FF0000"/>
                </a:solidFill>
                <a:latin typeface="맑은 고딕"/>
                <a:ea typeface="맑은 고딕"/>
              </a:rPr>
              <a:t>)</a:t>
            </a:r>
            <a:endParaRPr sz="900" b="0" dirty="0">
              <a:solidFill>
                <a:srgbClr val="FF0000"/>
              </a:solidFill>
              <a:latin typeface="맑은 고딕"/>
              <a:ea typeface="맑은 고딕"/>
            </a:endParaRPr>
          </a:p>
        </p:txBody>
      </p:sp>
      <p:sp>
        <p:nvSpPr>
          <p:cNvPr id="109" name="TextBox 108">
            <a:extLst>
              <a:ext uri="{FF2B5EF4-FFF2-40B4-BE49-F238E27FC236}">
                <a16:creationId xmlns:a16="http://schemas.microsoft.com/office/drawing/2014/main" id="{5856B1E4-82BE-491A-95CF-591074222B14}"/>
              </a:ext>
            </a:extLst>
          </p:cNvPr>
          <p:cNvSpPr txBox="1"/>
          <p:nvPr/>
        </p:nvSpPr>
        <p:spPr>
          <a:xfrm>
            <a:off x="8815095" y="1099388"/>
            <a:ext cx="2448063" cy="178510"/>
          </a:xfrm>
          <a:prstGeom prst="rect">
            <a:avLst/>
          </a:prstGeom>
          <a:noFill/>
        </p:spPr>
        <p:txBody>
          <a:bodyPr wrap="square" lIns="45720" tIns="27432" rIns="45720" bIns="27432" anchor="t">
            <a:spAutoFit/>
          </a:bodyPr>
          <a:lstStyle/>
          <a:p>
            <a:pPr algn="l">
              <a:spcAft>
                <a:spcPts val="200"/>
              </a:spcAft>
            </a:pPr>
            <a:r>
              <a:rPr lang="en-US" altLang="ko-KR" sz="800" dirty="0">
                <a:solidFill>
                  <a:schemeClr val="bg1">
                    <a:lumMod val="50000"/>
                  </a:schemeClr>
                </a:solidFill>
                <a:latin typeface="맑은 고딕"/>
                <a:ea typeface="맑은 고딕"/>
                <a:cs typeface="맑은 고딕"/>
              </a:rPr>
              <a:t>CXL-PNM</a:t>
            </a:r>
            <a:r>
              <a:rPr lang="ko-KR" altLang="en-US" sz="800" dirty="0">
                <a:solidFill>
                  <a:schemeClr val="bg1">
                    <a:lumMod val="50000"/>
                  </a:schemeClr>
                </a:solidFill>
                <a:latin typeface="맑은 고딕"/>
                <a:ea typeface="맑은 고딕"/>
                <a:cs typeface="맑은 고딕"/>
              </a:rPr>
              <a:t> 활용 연산 </a:t>
            </a:r>
            <a:r>
              <a:rPr lang="en-US" altLang="ko-KR" sz="800" dirty="0">
                <a:solidFill>
                  <a:schemeClr val="bg1">
                    <a:lumMod val="50000"/>
                  </a:schemeClr>
                </a:solidFill>
                <a:latin typeface="맑은 고딕"/>
                <a:ea typeface="맑은 고딕"/>
                <a:cs typeface="맑은 고딕"/>
              </a:rPr>
              <a:t>latency GPU</a:t>
            </a:r>
            <a:r>
              <a:rPr lang="ko-KR" altLang="en-US" sz="800" dirty="0">
                <a:solidFill>
                  <a:schemeClr val="bg1">
                    <a:lumMod val="50000"/>
                  </a:schemeClr>
                </a:solidFill>
                <a:latin typeface="맑은 고딕"/>
                <a:ea typeface="맑은 고딕"/>
                <a:cs typeface="맑은 고딕"/>
              </a:rPr>
              <a:t> 대비 </a:t>
            </a:r>
            <a:r>
              <a:rPr lang="en-US" altLang="ko-KR" sz="800" dirty="0">
                <a:solidFill>
                  <a:schemeClr val="bg1">
                    <a:lumMod val="50000"/>
                  </a:schemeClr>
                </a:solidFill>
                <a:latin typeface="맑은 고딕"/>
                <a:ea typeface="맑은 고딕"/>
                <a:cs typeface="맑은 고딕"/>
              </a:rPr>
              <a:t>20% </a:t>
            </a:r>
            <a:r>
              <a:rPr lang="ko-KR" altLang="en-US" sz="800" dirty="0">
                <a:solidFill>
                  <a:schemeClr val="bg1">
                    <a:lumMod val="50000"/>
                  </a:schemeClr>
                </a:solidFill>
                <a:latin typeface="맑은 고딕"/>
                <a:ea typeface="맑은 고딕"/>
                <a:cs typeface="맑은 고딕"/>
              </a:rPr>
              <a:t>개선</a:t>
            </a:r>
            <a:endParaRPr lang="en-US" altLang="ko-KR" sz="800" dirty="0">
              <a:solidFill>
                <a:schemeClr val="bg1">
                  <a:lumMod val="50000"/>
                </a:schemeClr>
              </a:solidFill>
              <a:latin typeface="맑은 고딕"/>
              <a:ea typeface="맑은 고딕"/>
              <a:cs typeface="맑은 고딕"/>
            </a:endParaRPr>
          </a:p>
        </p:txBody>
      </p:sp>
      <p:sp>
        <p:nvSpPr>
          <p:cNvPr id="112" name="Rectangle 9067"/>
          <p:cNvSpPr/>
          <p:nvPr/>
        </p:nvSpPr>
        <p:spPr>
          <a:xfrm>
            <a:off x="8411085" y="3773275"/>
            <a:ext cx="9144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1000" b="1" dirty="0">
                <a:solidFill>
                  <a:srgbClr val="595959"/>
                </a:solidFill>
                <a:latin typeface="맑은 고딕"/>
                <a:ea typeface="맑은 고딕"/>
              </a:rPr>
              <a:t>VS</a:t>
            </a:r>
            <a:endParaRPr sz="1000" b="1" dirty="0">
              <a:solidFill>
                <a:srgbClr val="595959"/>
              </a:solidFill>
              <a:latin typeface="맑은 고딕"/>
              <a:ea typeface="맑은 고딕"/>
            </a:endParaRPr>
          </a:p>
        </p:txBody>
      </p:sp>
      <p:sp>
        <p:nvSpPr>
          <p:cNvPr id="113" name="직사각형 112">
            <a:extLst>
              <a:ext uri="{FF2B5EF4-FFF2-40B4-BE49-F238E27FC236}">
                <a16:creationId xmlns:a16="http://schemas.microsoft.com/office/drawing/2014/main" id="{7F8BF892-FDE2-4EFE-A215-3E96438B936F}"/>
              </a:ext>
            </a:extLst>
          </p:cNvPr>
          <p:cNvSpPr/>
          <p:nvPr/>
        </p:nvSpPr>
        <p:spPr>
          <a:xfrm>
            <a:off x="6281269" y="2963538"/>
            <a:ext cx="2344545" cy="177158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lstStyle/>
          <a:p>
            <a:pPr algn="ctr"/>
            <a:r>
              <a:rPr lang="en-US" altLang="ko-KR" sz="1100" b="1" dirty="0">
                <a:solidFill>
                  <a:schemeClr val="tx1"/>
                </a:solidFill>
              </a:rPr>
              <a:t>CXL-PNM</a:t>
            </a:r>
            <a:r>
              <a:rPr lang="ko-KR" altLang="en-US" sz="1100" b="1" dirty="0">
                <a:solidFill>
                  <a:schemeClr val="tx1"/>
                </a:solidFill>
              </a:rPr>
              <a:t>에서 연산</a:t>
            </a:r>
          </a:p>
        </p:txBody>
      </p:sp>
      <p:sp>
        <p:nvSpPr>
          <p:cNvPr id="114" name="직사각형 113">
            <a:extLst>
              <a:ext uri="{FF2B5EF4-FFF2-40B4-BE49-F238E27FC236}">
                <a16:creationId xmlns:a16="http://schemas.microsoft.com/office/drawing/2014/main" id="{17FCEAF3-3943-4305-BD86-F343A55AD243}"/>
              </a:ext>
            </a:extLst>
          </p:cNvPr>
          <p:cNvSpPr/>
          <p:nvPr/>
        </p:nvSpPr>
        <p:spPr>
          <a:xfrm>
            <a:off x="9065980" y="2963538"/>
            <a:ext cx="2511713" cy="177158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lstStyle/>
          <a:p>
            <a:pPr algn="ctr"/>
            <a:r>
              <a:rPr lang="en-US" altLang="ko-KR" sz="1100" b="1" dirty="0">
                <a:solidFill>
                  <a:schemeClr val="tx1"/>
                </a:solidFill>
              </a:rPr>
              <a:t>GPU </a:t>
            </a:r>
            <a:r>
              <a:rPr lang="ko-KR" altLang="en-US" sz="1100" b="1" dirty="0">
                <a:solidFill>
                  <a:schemeClr val="tx1"/>
                </a:solidFill>
              </a:rPr>
              <a:t>전송 후 연산</a:t>
            </a:r>
          </a:p>
        </p:txBody>
      </p:sp>
      <p:grpSp>
        <p:nvGrpSpPr>
          <p:cNvPr id="115" name="그룹 114">
            <a:extLst>
              <a:ext uri="{FF2B5EF4-FFF2-40B4-BE49-F238E27FC236}">
                <a16:creationId xmlns:a16="http://schemas.microsoft.com/office/drawing/2014/main" id="{D8AA424F-C36F-4F29-BBE8-77B26F954540}"/>
              </a:ext>
            </a:extLst>
          </p:cNvPr>
          <p:cNvGrpSpPr/>
          <p:nvPr/>
        </p:nvGrpSpPr>
        <p:grpSpPr>
          <a:xfrm>
            <a:off x="6364594" y="3356439"/>
            <a:ext cx="2100310" cy="1171506"/>
            <a:chOff x="467184" y="3748644"/>
            <a:chExt cx="2310341" cy="1242310"/>
          </a:xfrm>
        </p:grpSpPr>
        <p:grpSp>
          <p:nvGrpSpPr>
            <p:cNvPr id="116" name="그룹 115">
              <a:extLst>
                <a:ext uri="{FF2B5EF4-FFF2-40B4-BE49-F238E27FC236}">
                  <a16:creationId xmlns:a16="http://schemas.microsoft.com/office/drawing/2014/main" id="{42C5534D-3290-4354-AD74-E3CD2434AE9B}"/>
                </a:ext>
              </a:extLst>
            </p:cNvPr>
            <p:cNvGrpSpPr/>
            <p:nvPr/>
          </p:nvGrpSpPr>
          <p:grpSpPr>
            <a:xfrm>
              <a:off x="467184" y="3748644"/>
              <a:ext cx="2310341" cy="1242310"/>
              <a:chOff x="2074073" y="2746134"/>
              <a:chExt cx="2730066" cy="1583219"/>
            </a:xfrm>
          </p:grpSpPr>
          <p:grpSp>
            <p:nvGrpSpPr>
              <p:cNvPr id="118" name="그룹 117">
                <a:extLst>
                  <a:ext uri="{FF2B5EF4-FFF2-40B4-BE49-F238E27FC236}">
                    <a16:creationId xmlns:a16="http://schemas.microsoft.com/office/drawing/2014/main" id="{3BB38D70-819A-4908-A534-1EC7D40B6D01}"/>
                  </a:ext>
                </a:extLst>
              </p:cNvPr>
              <p:cNvGrpSpPr/>
              <p:nvPr/>
            </p:nvGrpSpPr>
            <p:grpSpPr>
              <a:xfrm>
                <a:off x="2074073" y="2873922"/>
                <a:ext cx="2730066" cy="1455431"/>
                <a:chOff x="1384719" y="2541031"/>
                <a:chExt cx="2665680" cy="1667813"/>
              </a:xfrm>
            </p:grpSpPr>
            <p:sp>
              <p:nvSpPr>
                <p:cNvPr id="126" name="직사각형 125">
                  <a:extLst>
                    <a:ext uri="{FF2B5EF4-FFF2-40B4-BE49-F238E27FC236}">
                      <a16:creationId xmlns:a16="http://schemas.microsoft.com/office/drawing/2014/main" id="{3C2942DF-D1F6-4EF0-A1B9-51B22EB830D7}"/>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CPU</a:t>
                  </a:r>
                  <a:endParaRPr lang="ko-KR" altLang="en-US" sz="900" b="1" dirty="0">
                    <a:solidFill>
                      <a:srgbClr val="1F3864"/>
                    </a:solidFill>
                    <a:latin typeface="Malgun Gothic" pitchFamily="34" charset="0"/>
                    <a:ea typeface="Malgun Gothic" pitchFamily="34" charset="-122"/>
                    <a:cs typeface="Malgun Gothic" pitchFamily="34" charset="-120"/>
                  </a:endParaRPr>
                </a:p>
              </p:txBody>
            </p:sp>
            <p:sp>
              <p:nvSpPr>
                <p:cNvPr id="127" name="모서리가 둥근 직사각형 191">
                  <a:extLst>
                    <a:ext uri="{FF2B5EF4-FFF2-40B4-BE49-F238E27FC236}">
                      <a16:creationId xmlns:a16="http://schemas.microsoft.com/office/drawing/2014/main" id="{6898F218-821C-4661-9430-90B44A36518B}"/>
                    </a:ext>
                  </a:extLst>
                </p:cNvPr>
                <p:cNvSpPr/>
                <p:nvPr/>
              </p:nvSpPr>
              <p:spPr>
                <a:xfrm>
                  <a:off x="2357349" y="3953185"/>
                  <a:ext cx="884764"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SSD-PIM</a:t>
                  </a:r>
                  <a:endParaRPr lang="ko-KR" altLang="en-US" sz="900" b="1" dirty="0">
                    <a:solidFill>
                      <a:srgbClr val="1F3864"/>
                    </a:solidFill>
                    <a:latin typeface="Malgun Gothic" pitchFamily="34" charset="0"/>
                    <a:ea typeface="Malgun Gothic" pitchFamily="34" charset="-122"/>
                    <a:cs typeface="Malgun Gothic" pitchFamily="34" charset="-120"/>
                  </a:endParaRPr>
                </a:p>
              </p:txBody>
            </p:sp>
            <p:sp>
              <p:nvSpPr>
                <p:cNvPr id="128" name="모서리가 둥근 직사각형 192">
                  <a:extLst>
                    <a:ext uri="{FF2B5EF4-FFF2-40B4-BE49-F238E27FC236}">
                      <a16:creationId xmlns:a16="http://schemas.microsoft.com/office/drawing/2014/main" id="{E3BB37B7-0083-4B8F-BA4B-53C30B8913C6}"/>
                    </a:ext>
                  </a:extLst>
                </p:cNvPr>
                <p:cNvSpPr/>
                <p:nvPr/>
              </p:nvSpPr>
              <p:spPr>
                <a:xfrm>
                  <a:off x="3257197" y="3478256"/>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DRAM</a:t>
                  </a:r>
                  <a:endParaRPr lang="ko-KR" altLang="en-US" sz="900" b="1" dirty="0">
                    <a:solidFill>
                      <a:srgbClr val="1F3864"/>
                    </a:solidFill>
                    <a:latin typeface="Malgun Gothic" pitchFamily="34" charset="0"/>
                    <a:ea typeface="Malgun Gothic" pitchFamily="34" charset="-122"/>
                    <a:cs typeface="Malgun Gothic" pitchFamily="34" charset="-120"/>
                  </a:endParaRPr>
                </a:p>
              </p:txBody>
            </p:sp>
            <p:cxnSp>
              <p:nvCxnSpPr>
                <p:cNvPr id="129" name="직선 연결선 9">
                  <a:extLst>
                    <a:ext uri="{FF2B5EF4-FFF2-40B4-BE49-F238E27FC236}">
                      <a16:creationId xmlns:a16="http://schemas.microsoft.com/office/drawing/2014/main" id="{B9F893EC-7021-4EBE-99E6-5F8A06C047BA}"/>
                    </a:ext>
                  </a:extLst>
                </p:cNvPr>
                <p:cNvCxnSpPr>
                  <a:stCxn id="133" idx="2"/>
                  <a:endCxn id="126"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0" name="직선 연결선 129">
                  <a:extLst>
                    <a:ext uri="{FF2B5EF4-FFF2-40B4-BE49-F238E27FC236}">
                      <a16:creationId xmlns:a16="http://schemas.microsoft.com/office/drawing/2014/main" id="{9237F041-9622-4553-A657-1327A1C90794}"/>
                    </a:ext>
                  </a:extLst>
                </p:cNvPr>
                <p:cNvCxnSpPr>
                  <a:cxnSpLocks/>
                  <a:stCxn id="126" idx="2"/>
                  <a:endCxn id="127" idx="0"/>
                </p:cNvCxnSpPr>
                <p:nvPr/>
              </p:nvCxnSpPr>
              <p:spPr>
                <a:xfrm flipH="1">
                  <a:off x="2799731"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31" name="그룹 130">
                  <a:extLst>
                    <a:ext uri="{FF2B5EF4-FFF2-40B4-BE49-F238E27FC236}">
                      <a16:creationId xmlns:a16="http://schemas.microsoft.com/office/drawing/2014/main" id="{99C32748-A126-4CC9-9E6E-5ACA38DC41A5}"/>
                    </a:ext>
                  </a:extLst>
                </p:cNvPr>
                <p:cNvGrpSpPr/>
                <p:nvPr/>
              </p:nvGrpSpPr>
              <p:grpSpPr>
                <a:xfrm>
                  <a:off x="2323244" y="2541031"/>
                  <a:ext cx="959775" cy="797999"/>
                  <a:chOff x="2993909" y="2540806"/>
                  <a:chExt cx="959775" cy="797999"/>
                </a:xfrm>
              </p:grpSpPr>
              <p:sp>
                <p:nvSpPr>
                  <p:cNvPr id="133" name="직사각형 132">
                    <a:extLst>
                      <a:ext uri="{FF2B5EF4-FFF2-40B4-BE49-F238E27FC236}">
                        <a16:creationId xmlns:a16="http://schemas.microsoft.com/office/drawing/2014/main" id="{D7588F97-03D2-413F-92A7-612A19391E0A}"/>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GPU</a:t>
                    </a:r>
                    <a:endParaRPr lang="ko-KR" altLang="en-US" sz="900" b="1" dirty="0">
                      <a:solidFill>
                        <a:srgbClr val="1F3864"/>
                      </a:solidFill>
                      <a:latin typeface="Malgun Gothic" pitchFamily="34" charset="0"/>
                      <a:ea typeface="Malgun Gothic" pitchFamily="34" charset="-122"/>
                      <a:cs typeface="Malgun Gothic" pitchFamily="34" charset="-120"/>
                    </a:endParaRPr>
                  </a:p>
                </p:txBody>
              </p:sp>
              <p:sp>
                <p:nvSpPr>
                  <p:cNvPr id="134" name="모서리가 둥근 직사각형 203">
                    <a:extLst>
                      <a:ext uri="{FF2B5EF4-FFF2-40B4-BE49-F238E27FC236}">
                        <a16:creationId xmlns:a16="http://schemas.microsoft.com/office/drawing/2014/main" id="{AF216AF5-A4FF-41D9-9240-4672BB9EF362}"/>
                      </a:ext>
                    </a:extLst>
                  </p:cNvPr>
                  <p:cNvSpPr/>
                  <p:nvPr/>
                </p:nvSpPr>
                <p:spPr>
                  <a:xfrm>
                    <a:off x="2993909" y="2540806"/>
                    <a:ext cx="959775"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HBM</a:t>
                    </a:r>
                    <a:endParaRPr lang="ko-KR" altLang="en-US" sz="900" b="1" dirty="0">
                      <a:solidFill>
                        <a:srgbClr val="1F3864"/>
                      </a:solidFill>
                      <a:latin typeface="Malgun Gothic" pitchFamily="34" charset="0"/>
                      <a:ea typeface="Malgun Gothic" pitchFamily="34" charset="-122"/>
                      <a:cs typeface="Malgun Gothic" pitchFamily="34" charset="-120"/>
                    </a:endParaRPr>
                  </a:p>
                </p:txBody>
              </p:sp>
              <p:cxnSp>
                <p:nvCxnSpPr>
                  <p:cNvPr id="135" name="직선 연결선 134">
                    <a:extLst>
                      <a:ext uri="{FF2B5EF4-FFF2-40B4-BE49-F238E27FC236}">
                        <a16:creationId xmlns:a16="http://schemas.microsoft.com/office/drawing/2014/main" id="{668E0657-426E-4376-8C40-B77446FC6021}"/>
                      </a:ext>
                    </a:extLst>
                  </p:cNvPr>
                  <p:cNvCxnSpPr>
                    <a:stCxn id="134" idx="2"/>
                    <a:endCxn id="133"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32" name="모서리가 둥근 직사각형 240">
                  <a:extLst>
                    <a:ext uri="{FF2B5EF4-FFF2-40B4-BE49-F238E27FC236}">
                      <a16:creationId xmlns:a16="http://schemas.microsoft.com/office/drawing/2014/main" id="{5697726D-4B97-435E-A78B-F2E28EB0026A}"/>
                    </a:ext>
                  </a:extLst>
                </p:cNvPr>
                <p:cNvSpPr/>
                <p:nvPr/>
              </p:nvSpPr>
              <p:spPr>
                <a:xfrm>
                  <a:off x="1384719" y="3481563"/>
                  <a:ext cx="985752" cy="255659"/>
                </a:xfrm>
                <a:prstGeom prst="roundRect">
                  <a:avLst/>
                </a:prstGeom>
                <a:solidFill>
                  <a:schemeClr val="accent1">
                    <a:lumMod val="40000"/>
                    <a:lumOff val="6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CXL-PNM</a:t>
                  </a:r>
                  <a:endParaRPr lang="ko-KR" altLang="en-US" sz="900" b="1" dirty="0">
                    <a:solidFill>
                      <a:srgbClr val="1F3864"/>
                    </a:solidFill>
                    <a:latin typeface="Malgun Gothic" pitchFamily="34" charset="0"/>
                    <a:ea typeface="Malgun Gothic" pitchFamily="34" charset="-122"/>
                    <a:cs typeface="Malgun Gothic" pitchFamily="34" charset="-120"/>
                  </a:endParaRPr>
                </a:p>
              </p:txBody>
            </p:sp>
          </p:grpSp>
          <p:cxnSp>
            <p:nvCxnSpPr>
              <p:cNvPr id="119" name="직선 연결선 118">
                <a:extLst>
                  <a:ext uri="{FF2B5EF4-FFF2-40B4-BE49-F238E27FC236}">
                    <a16:creationId xmlns:a16="http://schemas.microsoft.com/office/drawing/2014/main" id="{4B26A2BD-2837-49EA-9A9C-5181F7E8F06D}"/>
                  </a:ext>
                </a:extLst>
              </p:cNvPr>
              <p:cNvCxnSpPr>
                <a:cxnSpLocks/>
                <a:stCxn id="132" idx="3"/>
                <a:endCxn id="126" idx="1"/>
              </p:cNvCxnSpPr>
              <p:nvPr/>
            </p:nvCxnSpPr>
            <p:spPr>
              <a:xfrm>
                <a:off x="3083635" y="3806237"/>
                <a:ext cx="73852"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21" name="순서도: 자기 디스크 120">
                <a:extLst>
                  <a:ext uri="{FF2B5EF4-FFF2-40B4-BE49-F238E27FC236}">
                    <a16:creationId xmlns:a16="http://schemas.microsoft.com/office/drawing/2014/main" id="{83F70491-2B4D-4276-A045-28BBA2930DDF}"/>
                  </a:ext>
                </a:extLst>
              </p:cNvPr>
              <p:cNvSpPr/>
              <p:nvPr/>
            </p:nvSpPr>
            <p:spPr>
              <a:xfrm>
                <a:off x="2688819" y="2973080"/>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22" name="순서도: 자기 디스크 121">
                <a:extLst>
                  <a:ext uri="{FF2B5EF4-FFF2-40B4-BE49-F238E27FC236}">
                    <a16:creationId xmlns:a16="http://schemas.microsoft.com/office/drawing/2014/main" id="{98A0968A-2349-4C59-83F4-C25915F9A3CD}"/>
                  </a:ext>
                </a:extLst>
              </p:cNvPr>
              <p:cNvSpPr/>
              <p:nvPr/>
            </p:nvSpPr>
            <p:spPr>
              <a:xfrm>
                <a:off x="3786508" y="2993538"/>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23" name="순서도: 자기 디스크 122">
                <a:extLst>
                  <a:ext uri="{FF2B5EF4-FFF2-40B4-BE49-F238E27FC236}">
                    <a16:creationId xmlns:a16="http://schemas.microsoft.com/office/drawing/2014/main" id="{DC0B23D4-C357-4CB6-AB03-C17BA3308085}"/>
                  </a:ext>
                </a:extLst>
              </p:cNvPr>
              <p:cNvSpPr/>
              <p:nvPr/>
            </p:nvSpPr>
            <p:spPr>
              <a:xfrm>
                <a:off x="3805078" y="2746134"/>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24" name="순서도: 자기 디스크 123">
                <a:extLst>
                  <a:ext uri="{FF2B5EF4-FFF2-40B4-BE49-F238E27FC236}">
                    <a16:creationId xmlns:a16="http://schemas.microsoft.com/office/drawing/2014/main" id="{33C912BD-9B2F-4291-9CDE-540CB255A316}"/>
                  </a:ext>
                </a:extLst>
              </p:cNvPr>
              <p:cNvSpPr/>
              <p:nvPr/>
            </p:nvSpPr>
            <p:spPr>
              <a:xfrm>
                <a:off x="2701171" y="2746134"/>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25" name="순서도: 자기 디스크 124">
                <a:extLst>
                  <a:ext uri="{FF2B5EF4-FFF2-40B4-BE49-F238E27FC236}">
                    <a16:creationId xmlns:a16="http://schemas.microsoft.com/office/drawing/2014/main" id="{2B8B5382-53D9-4A3F-9E02-6141943C680F}"/>
                  </a:ext>
                </a:extLst>
              </p:cNvPr>
              <p:cNvSpPr/>
              <p:nvPr/>
            </p:nvSpPr>
            <p:spPr>
              <a:xfrm>
                <a:off x="2646850" y="3500898"/>
                <a:ext cx="467343" cy="201802"/>
              </a:xfrm>
              <a:prstGeom prst="flowChartMagneticDisk">
                <a:avLst/>
              </a:prstGeom>
              <a:solidFill>
                <a:schemeClr val="accent1">
                  <a:lumMod val="40000"/>
                  <a:lumOff val="60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grpSp>
        <p:cxnSp>
          <p:nvCxnSpPr>
            <p:cNvPr id="117" name="직선 연결선 116">
              <a:extLst>
                <a:ext uri="{FF2B5EF4-FFF2-40B4-BE49-F238E27FC236}">
                  <a16:creationId xmlns:a16="http://schemas.microsoft.com/office/drawing/2014/main" id="{4DEBD9C2-D79E-4E20-9881-746F8982890D}"/>
                </a:ext>
              </a:extLst>
            </p:cNvPr>
            <p:cNvCxnSpPr>
              <a:cxnSpLocks/>
              <a:stCxn id="128" idx="1"/>
              <a:endCxn id="126" idx="3"/>
            </p:cNvCxnSpPr>
            <p:nvPr/>
          </p:nvCxnSpPr>
          <p:spPr>
            <a:xfrm flipH="1">
              <a:off x="2009001" y="4578214"/>
              <a:ext cx="81057" cy="22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4" name="그룹 3"/>
          <p:cNvGrpSpPr/>
          <p:nvPr/>
        </p:nvGrpSpPr>
        <p:grpSpPr>
          <a:xfrm>
            <a:off x="9270652" y="3353452"/>
            <a:ext cx="2100310" cy="1171506"/>
            <a:chOff x="9299658" y="3450384"/>
            <a:chExt cx="2100310" cy="1171506"/>
          </a:xfrm>
        </p:grpSpPr>
        <p:grpSp>
          <p:nvGrpSpPr>
            <p:cNvPr id="137" name="그룹 136">
              <a:extLst>
                <a:ext uri="{FF2B5EF4-FFF2-40B4-BE49-F238E27FC236}">
                  <a16:creationId xmlns:a16="http://schemas.microsoft.com/office/drawing/2014/main" id="{92C8B678-6E61-43D6-B966-8C46768FCB71}"/>
                </a:ext>
              </a:extLst>
            </p:cNvPr>
            <p:cNvGrpSpPr/>
            <p:nvPr/>
          </p:nvGrpSpPr>
          <p:grpSpPr>
            <a:xfrm>
              <a:off x="9299658" y="3450384"/>
              <a:ext cx="2100310" cy="1171506"/>
              <a:chOff x="467184" y="3748644"/>
              <a:chExt cx="2310341" cy="1242310"/>
            </a:xfrm>
          </p:grpSpPr>
          <p:grpSp>
            <p:nvGrpSpPr>
              <p:cNvPr id="138" name="그룹 137">
                <a:extLst>
                  <a:ext uri="{FF2B5EF4-FFF2-40B4-BE49-F238E27FC236}">
                    <a16:creationId xmlns:a16="http://schemas.microsoft.com/office/drawing/2014/main" id="{02F35CD2-7E51-4B29-94A3-C72570FF6F39}"/>
                  </a:ext>
                </a:extLst>
              </p:cNvPr>
              <p:cNvGrpSpPr/>
              <p:nvPr/>
            </p:nvGrpSpPr>
            <p:grpSpPr>
              <a:xfrm>
                <a:off x="467184" y="3748644"/>
                <a:ext cx="2310341" cy="1242310"/>
                <a:chOff x="2074073" y="2746134"/>
                <a:chExt cx="2730066" cy="1583219"/>
              </a:xfrm>
            </p:grpSpPr>
            <p:grpSp>
              <p:nvGrpSpPr>
                <p:cNvPr id="140" name="그룹 139">
                  <a:extLst>
                    <a:ext uri="{FF2B5EF4-FFF2-40B4-BE49-F238E27FC236}">
                      <a16:creationId xmlns:a16="http://schemas.microsoft.com/office/drawing/2014/main" id="{57045D92-75AC-4D02-8F3B-7FC4497E1042}"/>
                    </a:ext>
                  </a:extLst>
                </p:cNvPr>
                <p:cNvGrpSpPr/>
                <p:nvPr/>
              </p:nvGrpSpPr>
              <p:grpSpPr>
                <a:xfrm>
                  <a:off x="2074073" y="2873922"/>
                  <a:ext cx="2730066" cy="1455431"/>
                  <a:chOff x="1384719" y="2541031"/>
                  <a:chExt cx="2665680" cy="1667813"/>
                </a:xfrm>
              </p:grpSpPr>
              <p:sp>
                <p:nvSpPr>
                  <p:cNvPr id="147" name="직사각형 146">
                    <a:extLst>
                      <a:ext uri="{FF2B5EF4-FFF2-40B4-BE49-F238E27FC236}">
                        <a16:creationId xmlns:a16="http://schemas.microsoft.com/office/drawing/2014/main" id="{DAF2CB10-886A-4EDA-AC59-5E647B74D936}"/>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CPU</a:t>
                    </a:r>
                    <a:endParaRPr lang="ko-KR" altLang="en-US" sz="900" b="1" dirty="0">
                      <a:solidFill>
                        <a:srgbClr val="1F3864"/>
                      </a:solidFill>
                      <a:latin typeface="Malgun Gothic" pitchFamily="34" charset="0"/>
                      <a:ea typeface="Malgun Gothic" pitchFamily="34" charset="-122"/>
                      <a:cs typeface="Malgun Gothic" pitchFamily="34" charset="-120"/>
                    </a:endParaRPr>
                  </a:p>
                </p:txBody>
              </p:sp>
              <p:sp>
                <p:nvSpPr>
                  <p:cNvPr id="148" name="모서리가 둥근 직사각형 191">
                    <a:extLst>
                      <a:ext uri="{FF2B5EF4-FFF2-40B4-BE49-F238E27FC236}">
                        <a16:creationId xmlns:a16="http://schemas.microsoft.com/office/drawing/2014/main" id="{B1E56274-118E-4D6C-9351-778B76FFA971}"/>
                      </a:ext>
                    </a:extLst>
                  </p:cNvPr>
                  <p:cNvSpPr/>
                  <p:nvPr/>
                </p:nvSpPr>
                <p:spPr>
                  <a:xfrm>
                    <a:off x="2357349" y="3953185"/>
                    <a:ext cx="884764"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SSD-PIM</a:t>
                    </a:r>
                    <a:endParaRPr lang="ko-KR" altLang="en-US" sz="900" b="1" dirty="0">
                      <a:solidFill>
                        <a:srgbClr val="1F3864"/>
                      </a:solidFill>
                      <a:latin typeface="Malgun Gothic" pitchFamily="34" charset="0"/>
                      <a:ea typeface="Malgun Gothic" pitchFamily="34" charset="-122"/>
                      <a:cs typeface="Malgun Gothic" pitchFamily="34" charset="-120"/>
                    </a:endParaRPr>
                  </a:p>
                </p:txBody>
              </p:sp>
              <p:sp>
                <p:nvSpPr>
                  <p:cNvPr id="149" name="모서리가 둥근 직사각형 192">
                    <a:extLst>
                      <a:ext uri="{FF2B5EF4-FFF2-40B4-BE49-F238E27FC236}">
                        <a16:creationId xmlns:a16="http://schemas.microsoft.com/office/drawing/2014/main" id="{437735C7-37CA-476F-BAFB-F9577188F449}"/>
                      </a:ext>
                    </a:extLst>
                  </p:cNvPr>
                  <p:cNvSpPr/>
                  <p:nvPr/>
                </p:nvSpPr>
                <p:spPr>
                  <a:xfrm>
                    <a:off x="3257197" y="3478256"/>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DRAM</a:t>
                    </a:r>
                    <a:endParaRPr lang="ko-KR" altLang="en-US" sz="900" b="1" dirty="0">
                      <a:solidFill>
                        <a:srgbClr val="1F3864"/>
                      </a:solidFill>
                      <a:latin typeface="Malgun Gothic" pitchFamily="34" charset="0"/>
                      <a:ea typeface="Malgun Gothic" pitchFamily="34" charset="-122"/>
                      <a:cs typeface="Malgun Gothic" pitchFamily="34" charset="-120"/>
                    </a:endParaRPr>
                  </a:p>
                </p:txBody>
              </p:sp>
              <p:cxnSp>
                <p:nvCxnSpPr>
                  <p:cNvPr id="150" name="직선 연결선 9">
                    <a:extLst>
                      <a:ext uri="{FF2B5EF4-FFF2-40B4-BE49-F238E27FC236}">
                        <a16:creationId xmlns:a16="http://schemas.microsoft.com/office/drawing/2014/main" id="{744D6072-734E-4BF3-A7C4-20D67F7A4CE0}"/>
                      </a:ext>
                    </a:extLst>
                  </p:cNvPr>
                  <p:cNvCxnSpPr>
                    <a:stCxn id="156" idx="2"/>
                    <a:endCxn id="147"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1" name="직선 연결선 150">
                    <a:extLst>
                      <a:ext uri="{FF2B5EF4-FFF2-40B4-BE49-F238E27FC236}">
                        <a16:creationId xmlns:a16="http://schemas.microsoft.com/office/drawing/2014/main" id="{1027F2C7-9384-4CA9-B976-E4771FA471DD}"/>
                      </a:ext>
                    </a:extLst>
                  </p:cNvPr>
                  <p:cNvCxnSpPr>
                    <a:cxnSpLocks/>
                    <a:stCxn id="147" idx="2"/>
                    <a:endCxn id="148" idx="0"/>
                  </p:cNvCxnSpPr>
                  <p:nvPr/>
                </p:nvCxnSpPr>
                <p:spPr>
                  <a:xfrm flipH="1">
                    <a:off x="2799731"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54" name="그룹 153">
                    <a:extLst>
                      <a:ext uri="{FF2B5EF4-FFF2-40B4-BE49-F238E27FC236}">
                        <a16:creationId xmlns:a16="http://schemas.microsoft.com/office/drawing/2014/main" id="{A7792511-44EC-4C32-90F6-6CF48EC74B15}"/>
                      </a:ext>
                    </a:extLst>
                  </p:cNvPr>
                  <p:cNvGrpSpPr/>
                  <p:nvPr/>
                </p:nvGrpSpPr>
                <p:grpSpPr>
                  <a:xfrm>
                    <a:off x="2323244" y="2541031"/>
                    <a:ext cx="959775" cy="797999"/>
                    <a:chOff x="2993909" y="2540806"/>
                    <a:chExt cx="959775" cy="797999"/>
                  </a:xfrm>
                </p:grpSpPr>
                <p:sp>
                  <p:nvSpPr>
                    <p:cNvPr id="156" name="직사각형 155">
                      <a:extLst>
                        <a:ext uri="{FF2B5EF4-FFF2-40B4-BE49-F238E27FC236}">
                          <a16:creationId xmlns:a16="http://schemas.microsoft.com/office/drawing/2014/main" id="{E7438A48-0C6A-4C11-9E33-77F675DFBC4F}"/>
                        </a:ext>
                      </a:extLst>
                    </p:cNvPr>
                    <p:cNvSpPr/>
                    <p:nvPr/>
                  </p:nvSpPr>
                  <p:spPr>
                    <a:xfrm>
                      <a:off x="3113248" y="3057580"/>
                      <a:ext cx="721092" cy="281225"/>
                    </a:xfrm>
                    <a:prstGeom prst="rect">
                      <a:avLst/>
                    </a:prstGeom>
                    <a:solidFill>
                      <a:schemeClr val="accent1">
                        <a:lumMod val="40000"/>
                        <a:lumOff val="60000"/>
                      </a:schemeClr>
                    </a:solidFill>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GPU</a:t>
                      </a:r>
                      <a:endParaRPr lang="ko-KR" altLang="en-US" sz="900" b="1" dirty="0">
                        <a:solidFill>
                          <a:srgbClr val="1F3864"/>
                        </a:solidFill>
                        <a:latin typeface="Malgun Gothic" pitchFamily="34" charset="0"/>
                        <a:ea typeface="Malgun Gothic" pitchFamily="34" charset="-122"/>
                        <a:cs typeface="Malgun Gothic" pitchFamily="34" charset="-120"/>
                      </a:endParaRPr>
                    </a:p>
                  </p:txBody>
                </p:sp>
                <p:sp>
                  <p:nvSpPr>
                    <p:cNvPr id="157" name="모서리가 둥근 직사각형 203">
                      <a:extLst>
                        <a:ext uri="{FF2B5EF4-FFF2-40B4-BE49-F238E27FC236}">
                          <a16:creationId xmlns:a16="http://schemas.microsoft.com/office/drawing/2014/main" id="{CA8CCF5B-9E48-41A6-B6FD-400921D5CF90}"/>
                        </a:ext>
                      </a:extLst>
                    </p:cNvPr>
                    <p:cNvSpPr/>
                    <p:nvPr/>
                  </p:nvSpPr>
                  <p:spPr>
                    <a:xfrm>
                      <a:off x="2993909" y="2540806"/>
                      <a:ext cx="959775"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HBM</a:t>
                      </a:r>
                      <a:endParaRPr lang="ko-KR" altLang="en-US" sz="900" b="1" dirty="0">
                        <a:solidFill>
                          <a:srgbClr val="1F3864"/>
                        </a:solidFill>
                        <a:latin typeface="Malgun Gothic" pitchFamily="34" charset="0"/>
                        <a:ea typeface="Malgun Gothic" pitchFamily="34" charset="-122"/>
                        <a:cs typeface="Malgun Gothic" pitchFamily="34" charset="-120"/>
                      </a:endParaRPr>
                    </a:p>
                  </p:txBody>
                </p:sp>
                <p:cxnSp>
                  <p:nvCxnSpPr>
                    <p:cNvPr id="158" name="직선 연결선 157">
                      <a:extLst>
                        <a:ext uri="{FF2B5EF4-FFF2-40B4-BE49-F238E27FC236}">
                          <a16:creationId xmlns:a16="http://schemas.microsoft.com/office/drawing/2014/main" id="{E4AD32F9-BB99-40E7-B21B-D450AC79E8DA}"/>
                        </a:ext>
                      </a:extLst>
                    </p:cNvPr>
                    <p:cNvCxnSpPr>
                      <a:stCxn id="157" idx="2"/>
                      <a:endCxn id="156"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55" name="모서리가 둥근 직사각형 240">
                    <a:extLst>
                      <a:ext uri="{FF2B5EF4-FFF2-40B4-BE49-F238E27FC236}">
                        <a16:creationId xmlns:a16="http://schemas.microsoft.com/office/drawing/2014/main" id="{BDEDC927-18E0-4DA0-A72B-DF8DDF724C25}"/>
                      </a:ext>
                    </a:extLst>
                  </p:cNvPr>
                  <p:cNvSpPr/>
                  <p:nvPr/>
                </p:nvSpPr>
                <p:spPr>
                  <a:xfrm>
                    <a:off x="1384719" y="3481563"/>
                    <a:ext cx="985752" cy="255659"/>
                  </a:xfrm>
                  <a:prstGeom prst="roundRect">
                    <a:avLst/>
                  </a:prstGeom>
                  <a:solidFill>
                    <a:schemeClr val="bg1"/>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900" b="1" dirty="0">
                        <a:solidFill>
                          <a:srgbClr val="1F3864"/>
                        </a:solidFill>
                        <a:latin typeface="Malgun Gothic" pitchFamily="34" charset="0"/>
                        <a:ea typeface="Malgun Gothic" pitchFamily="34" charset="-122"/>
                        <a:cs typeface="Malgun Gothic" pitchFamily="34" charset="-120"/>
                      </a:rPr>
                      <a:t>CXL-PNM</a:t>
                    </a:r>
                    <a:endParaRPr lang="ko-KR" altLang="en-US" sz="900" b="1" dirty="0">
                      <a:solidFill>
                        <a:srgbClr val="1F3864"/>
                      </a:solidFill>
                      <a:latin typeface="Malgun Gothic" pitchFamily="34" charset="0"/>
                      <a:ea typeface="Malgun Gothic" pitchFamily="34" charset="-122"/>
                      <a:cs typeface="Malgun Gothic" pitchFamily="34" charset="-120"/>
                    </a:endParaRPr>
                  </a:p>
                </p:txBody>
              </p:sp>
            </p:grpSp>
            <p:cxnSp>
              <p:nvCxnSpPr>
                <p:cNvPr id="141" name="직선 연결선 140">
                  <a:extLst>
                    <a:ext uri="{FF2B5EF4-FFF2-40B4-BE49-F238E27FC236}">
                      <a16:creationId xmlns:a16="http://schemas.microsoft.com/office/drawing/2014/main" id="{13CF4F43-09F8-433D-AE48-680373B681E3}"/>
                    </a:ext>
                  </a:extLst>
                </p:cNvPr>
                <p:cNvCxnSpPr>
                  <a:cxnSpLocks/>
                  <a:stCxn id="155" idx="3"/>
                  <a:endCxn id="147" idx="1"/>
                </p:cNvCxnSpPr>
                <p:nvPr/>
              </p:nvCxnSpPr>
              <p:spPr>
                <a:xfrm>
                  <a:off x="3083635" y="3806237"/>
                  <a:ext cx="73852"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43" name="순서도: 자기 디스크 142">
                  <a:extLst>
                    <a:ext uri="{FF2B5EF4-FFF2-40B4-BE49-F238E27FC236}">
                      <a16:creationId xmlns:a16="http://schemas.microsoft.com/office/drawing/2014/main" id="{C8D34B47-F76E-48F8-8C0A-22CD52F8BF55}"/>
                    </a:ext>
                  </a:extLst>
                </p:cNvPr>
                <p:cNvSpPr/>
                <p:nvPr/>
              </p:nvSpPr>
              <p:spPr>
                <a:xfrm>
                  <a:off x="2688819" y="2973080"/>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44" name="순서도: 자기 디스크 143">
                  <a:extLst>
                    <a:ext uri="{FF2B5EF4-FFF2-40B4-BE49-F238E27FC236}">
                      <a16:creationId xmlns:a16="http://schemas.microsoft.com/office/drawing/2014/main" id="{13E141CB-5440-4A68-9DB3-E9B8C47A3D1C}"/>
                    </a:ext>
                  </a:extLst>
                </p:cNvPr>
                <p:cNvSpPr/>
                <p:nvPr/>
              </p:nvSpPr>
              <p:spPr>
                <a:xfrm>
                  <a:off x="3786508" y="2993538"/>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45" name="순서도: 자기 디스크 144">
                  <a:extLst>
                    <a:ext uri="{FF2B5EF4-FFF2-40B4-BE49-F238E27FC236}">
                      <a16:creationId xmlns:a16="http://schemas.microsoft.com/office/drawing/2014/main" id="{20514B3A-EB62-4204-8A5C-B135A0F1B444}"/>
                    </a:ext>
                  </a:extLst>
                </p:cNvPr>
                <p:cNvSpPr/>
                <p:nvPr/>
              </p:nvSpPr>
              <p:spPr>
                <a:xfrm>
                  <a:off x="3805078" y="2746134"/>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sp>
              <p:nvSpPr>
                <p:cNvPr id="146" name="순서도: 자기 디스크 145">
                  <a:extLst>
                    <a:ext uri="{FF2B5EF4-FFF2-40B4-BE49-F238E27FC236}">
                      <a16:creationId xmlns:a16="http://schemas.microsoft.com/office/drawing/2014/main" id="{28ABF13B-179D-45E2-9186-750B43CB3AD5}"/>
                    </a:ext>
                  </a:extLst>
                </p:cNvPr>
                <p:cNvSpPr/>
                <p:nvPr/>
              </p:nvSpPr>
              <p:spPr>
                <a:xfrm>
                  <a:off x="2701171" y="2746134"/>
                  <a:ext cx="467343"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grpSp>
          <p:cxnSp>
            <p:nvCxnSpPr>
              <p:cNvPr id="139" name="직선 연결선 138">
                <a:extLst>
                  <a:ext uri="{FF2B5EF4-FFF2-40B4-BE49-F238E27FC236}">
                    <a16:creationId xmlns:a16="http://schemas.microsoft.com/office/drawing/2014/main" id="{A3C37668-9708-4C3E-A178-064985516DB2}"/>
                  </a:ext>
                </a:extLst>
              </p:cNvPr>
              <p:cNvCxnSpPr>
                <a:cxnSpLocks/>
                <a:stCxn id="149" idx="1"/>
                <a:endCxn id="147" idx="3"/>
              </p:cNvCxnSpPr>
              <p:nvPr/>
            </p:nvCxnSpPr>
            <p:spPr>
              <a:xfrm flipH="1">
                <a:off x="2009001" y="4578214"/>
                <a:ext cx="81057" cy="22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63" name="순서도: 자기 디스크 162">
              <a:extLst>
                <a:ext uri="{FF2B5EF4-FFF2-40B4-BE49-F238E27FC236}">
                  <a16:creationId xmlns:a16="http://schemas.microsoft.com/office/drawing/2014/main" id="{A4B89101-8E2E-4B88-810C-790283B8FB55}"/>
                </a:ext>
              </a:extLst>
            </p:cNvPr>
            <p:cNvSpPr/>
            <p:nvPr/>
          </p:nvSpPr>
          <p:spPr>
            <a:xfrm>
              <a:off x="10090553" y="3509424"/>
              <a:ext cx="359539" cy="149324"/>
            </a:xfrm>
            <a:prstGeom prst="flowChartMagneticDisk">
              <a:avLst/>
            </a:prstGeom>
            <a:solidFill>
              <a:schemeClr val="accent1">
                <a:lumMod val="40000"/>
                <a:lumOff val="60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cxnSp>
          <p:nvCxnSpPr>
            <p:cNvPr id="165" name="직선 화살표 연결선 13">
              <a:extLst>
                <a:ext uri="{FF2B5EF4-FFF2-40B4-BE49-F238E27FC236}">
                  <a16:creationId xmlns:a16="http://schemas.microsoft.com/office/drawing/2014/main" id="{65C06F06-0479-43D2-96E1-8F9EFBE22C82}"/>
                </a:ext>
              </a:extLst>
            </p:cNvPr>
            <p:cNvCxnSpPr>
              <a:cxnSpLocks/>
              <a:endCxn id="163" idx="3"/>
            </p:cNvCxnSpPr>
            <p:nvPr/>
          </p:nvCxnSpPr>
          <p:spPr>
            <a:xfrm rot="5400000" flipH="1" flipV="1">
              <a:off x="9963266" y="3734611"/>
              <a:ext cx="382920" cy="231194"/>
            </a:xfrm>
            <a:prstGeom prst="bentConnector3">
              <a:avLst>
                <a:gd name="adj1" fmla="val 50000"/>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68" name="순서도: 자기 디스크 167">
              <a:extLst>
                <a:ext uri="{FF2B5EF4-FFF2-40B4-BE49-F238E27FC236}">
                  <a16:creationId xmlns:a16="http://schemas.microsoft.com/office/drawing/2014/main" id="{2B8B5382-53D9-4A3F-9E02-6141943C680F}"/>
                </a:ext>
              </a:extLst>
            </p:cNvPr>
            <p:cNvSpPr/>
            <p:nvPr/>
          </p:nvSpPr>
          <p:spPr>
            <a:xfrm>
              <a:off x="9731014" y="4047797"/>
              <a:ext cx="359539" cy="149324"/>
            </a:xfrm>
            <a:prstGeom prst="flowChartMagneticDisk">
              <a:avLst/>
            </a:prstGeom>
            <a:solidFill>
              <a:schemeClr val="accent1">
                <a:lumMod val="40000"/>
                <a:lumOff val="60000"/>
              </a:schemeClr>
            </a:solidFill>
            <a:ln>
              <a:prstDash val="dash"/>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500" b="1" dirty="0"/>
                <a:t>KV</a:t>
              </a:r>
              <a:endParaRPr lang="ko-KR" altLang="en-US" sz="500" b="1" dirty="0"/>
            </a:p>
          </p:txBody>
        </p:sp>
      </p:grpSp>
      <p:grpSp>
        <p:nvGrpSpPr>
          <p:cNvPr id="83" name="그룹 82"/>
          <p:cNvGrpSpPr/>
          <p:nvPr/>
        </p:nvGrpSpPr>
        <p:grpSpPr>
          <a:xfrm>
            <a:off x="534224" y="5593741"/>
            <a:ext cx="11512996" cy="325343"/>
            <a:chOff x="465858" y="5727372"/>
            <a:chExt cx="11512996" cy="325343"/>
          </a:xfrm>
        </p:grpSpPr>
        <p:sp>
          <p:nvSpPr>
            <p:cNvPr id="84" name="Text 22">
              <a:extLst>
                <a:ext uri="{FF2B5EF4-FFF2-40B4-BE49-F238E27FC236}">
                  <a16:creationId xmlns:a16="http://schemas.microsoft.com/office/drawing/2014/main" id="{6E4C06FB-5661-411C-992A-C3DD21D98412}"/>
                </a:ext>
              </a:extLst>
            </p:cNvPr>
            <p:cNvSpPr/>
            <p:nvPr/>
          </p:nvSpPr>
          <p:spPr>
            <a:xfrm>
              <a:off x="922542" y="5727372"/>
              <a:ext cx="11056312" cy="325343"/>
            </a:xfrm>
            <a:prstGeom prst="rect">
              <a:avLst/>
            </a:prstGeom>
            <a:noFill/>
            <a:ln/>
          </p:spPr>
          <p:txBody>
            <a:bodyPr wrap="square" lIns="0" tIns="0" rIns="0" bIns="0" rtlCol="0" anchor="t"/>
            <a:lstStyle/>
            <a:p>
              <a:pPr>
                <a:lnSpc>
                  <a:spcPct val="150000"/>
                </a:lnSpc>
              </a:pPr>
              <a:r>
                <a:rPr lang="ko-KR" altLang="en-US" sz="1600" b="1" dirty="0">
                  <a:solidFill>
                    <a:srgbClr val="0066FF"/>
                  </a:solidFill>
                  <a:sym typeface="Wingdings" panose="05000000000000000000" pitchFamily="2" charset="2"/>
                </a:rPr>
                <a:t>워크로드</a:t>
              </a:r>
              <a:r>
                <a:rPr lang="en-US" altLang="ko-KR" sz="1600" b="1" dirty="0">
                  <a:solidFill>
                    <a:srgbClr val="0066FF"/>
                  </a:solidFill>
                  <a:sym typeface="Wingdings" panose="05000000000000000000" pitchFamily="2" charset="2"/>
                </a:rPr>
                <a:t>, KV </a:t>
              </a:r>
              <a:r>
                <a:rPr lang="ko-KR" altLang="en-US" sz="1600" b="1" dirty="0">
                  <a:solidFill>
                    <a:srgbClr val="0066FF"/>
                  </a:solidFill>
                  <a:sym typeface="Wingdings" panose="05000000000000000000" pitchFamily="2" charset="2"/>
                </a:rPr>
                <a:t>위치 및 자원</a:t>
              </a:r>
              <a:r>
                <a:rPr lang="en-US" altLang="ko-KR" sz="1600" b="1" dirty="0">
                  <a:solidFill>
                    <a:srgbClr val="0066FF"/>
                  </a:solidFill>
                  <a:sym typeface="Wingdings" panose="05000000000000000000" pitchFamily="2" charset="2"/>
                </a:rPr>
                <a:t> </a:t>
              </a:r>
              <a:r>
                <a:rPr lang="ko-KR" altLang="en-US" sz="1600" b="1" dirty="0">
                  <a:solidFill>
                    <a:srgbClr val="0066FF"/>
                  </a:solidFill>
                  <a:sym typeface="Wingdings" panose="05000000000000000000" pitchFamily="2" charset="2"/>
                </a:rPr>
                <a:t>상태 등을 고려하여 </a:t>
              </a:r>
              <a:endParaRPr lang="en-US" altLang="ko-KR" sz="1600" b="1" dirty="0">
                <a:solidFill>
                  <a:srgbClr val="0066FF"/>
                </a:solidFill>
                <a:sym typeface="Wingdings" panose="05000000000000000000" pitchFamily="2" charset="2"/>
              </a:endParaRPr>
            </a:p>
            <a:p>
              <a:pPr>
                <a:lnSpc>
                  <a:spcPct val="150000"/>
                </a:lnSpc>
              </a:pPr>
              <a:r>
                <a:rPr lang="ko-KR" altLang="en-US" sz="1600" b="1" dirty="0">
                  <a:solidFill>
                    <a:srgbClr val="0066FF"/>
                  </a:solidFill>
                  <a:sym typeface="Wingdings" panose="05000000000000000000" pitchFamily="2" charset="2"/>
                </a:rPr>
                <a:t>연산 실행 위치의 결정 시점과 방식을 최적화 하는 스케줄링 구조 설계 필요</a:t>
              </a:r>
            </a:p>
          </p:txBody>
        </p:sp>
        <p:sp>
          <p:nvSpPr>
            <p:cNvPr id="85" name="오른쪽 화살표 39">
              <a:extLst>
                <a:ext uri="{FF2B5EF4-FFF2-40B4-BE49-F238E27FC236}">
                  <a16:creationId xmlns:a16="http://schemas.microsoft.com/office/drawing/2014/main" id="{54EC47CE-2C51-4E80-9454-E8A1DE43DF59}"/>
                </a:ext>
              </a:extLst>
            </p:cNvPr>
            <p:cNvSpPr/>
            <p:nvPr/>
          </p:nvSpPr>
          <p:spPr>
            <a:xfrm>
              <a:off x="465858" y="5797701"/>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1697986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746335416"/>
              </p:ext>
            </p:extLst>
          </p:nvPr>
        </p:nvGraphicFramePr>
        <p:xfrm>
          <a:off x="304992" y="1061955"/>
          <a:ext cx="11759184" cy="533151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2893884">
                  <a:extLst>
                    <a:ext uri="{9D8B030D-6E8A-4147-A177-3AD203B41FA5}">
                      <a16:colId xmlns:a16="http://schemas.microsoft.com/office/drawing/2014/main" val="5654497"/>
                    </a:ext>
                  </a:extLst>
                </a:gridCol>
                <a:gridCol w="2546796">
                  <a:extLst>
                    <a:ext uri="{9D8B030D-6E8A-4147-A177-3AD203B41FA5}">
                      <a16:colId xmlns:a16="http://schemas.microsoft.com/office/drawing/2014/main" val="2953438935"/>
                    </a:ext>
                  </a:extLst>
                </a:gridCol>
                <a:gridCol w="3196779">
                  <a:extLst>
                    <a:ext uri="{9D8B030D-6E8A-4147-A177-3AD203B41FA5}">
                      <a16:colId xmlns:a16="http://schemas.microsoft.com/office/drawing/2014/main" val="3070054508"/>
                    </a:ext>
                  </a:extLst>
                </a:gridCol>
                <a:gridCol w="2243901">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(Plan + Decision</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동시 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(Plan, Decision </a:t>
                      </a:r>
                      <a:r>
                        <a:rPr lang="ko-KR" altLang="en-US" sz="1050" b="1" kern="1200" baseline="0" dirty="0">
                          <a:solidFill>
                            <a:schemeClr val="bg1">
                              <a:lumMod val="50000"/>
                            </a:schemeClr>
                          </a:solidFill>
                          <a:latin typeface="+mn-lt"/>
                          <a:ea typeface="+mn-ea"/>
                          <a:cs typeface="+mn-cs"/>
                        </a:rPr>
                        <a:t>분리 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계획 확정 후 즉시 실행하여</a:t>
                      </a:r>
                      <a:r>
                        <a:rPr lang="en-US" altLang="ko-KR" sz="1200" strike="noStrike" kern="1200" baseline="0" dirty="0">
                          <a:solidFill>
                            <a:schemeClr val="tx1"/>
                          </a:solidFill>
                          <a:effectLst/>
                          <a:latin typeface="+mn-lt"/>
                          <a:ea typeface="+mn-ea"/>
                          <a:cs typeface="+mn-cs"/>
                        </a:rPr>
                        <a:t> </a:t>
                      </a:r>
                      <a:r>
                        <a:rPr lang="en-US" altLang="ko-KR" sz="1200" strike="noStrike" kern="1200" baseline="0" dirty="0" smtClean="0">
                          <a:solidFill>
                            <a:schemeClr val="tx1"/>
                          </a:solidFill>
                          <a:effectLst/>
                          <a:latin typeface="+mn-lt"/>
                          <a:ea typeface="+mn-ea"/>
                          <a:cs typeface="+mn-cs"/>
                        </a:rPr>
                        <a:t>tail latency </a:t>
                      </a:r>
                      <a:r>
                        <a:rPr lang="ko-KR" altLang="en-US" sz="1200" strike="noStrike" kern="1200" baseline="0" dirty="0" smtClean="0">
                          <a:solidFill>
                            <a:schemeClr val="tx1"/>
                          </a:solidFill>
                          <a:effectLst/>
                          <a:latin typeface="+mn-lt"/>
                          <a:ea typeface="+mn-ea"/>
                          <a:cs typeface="+mn-cs"/>
                        </a:rPr>
                        <a:t>완화 </a:t>
                      </a:r>
                      <a:r>
                        <a:rPr lang="en-US" altLang="ko-KR" sz="1200" strike="noStrike" kern="1200" baseline="0" dirty="0" smtClean="0">
                          <a:solidFill>
                            <a:schemeClr val="tx1"/>
                          </a:solidFill>
                          <a:effectLst/>
                          <a:latin typeface="+mn-lt"/>
                          <a:ea typeface="+mn-ea"/>
                          <a:cs typeface="+mn-cs"/>
                        </a:rPr>
                        <a:t>(Q2)</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연산 위치 결정을 </a:t>
                      </a:r>
                      <a:r>
                        <a:rPr lang="en-US" altLang="ko-KR" sz="1200" strike="noStrike" dirty="0">
                          <a:solidFill>
                            <a:schemeClr val="tx1"/>
                          </a:solidFill>
                          <a:effectLst/>
                        </a:rPr>
                        <a:t>critical path </a:t>
                      </a:r>
                      <a:r>
                        <a:rPr lang="ko-KR" altLang="en-US" sz="1200" strike="noStrike" dirty="0">
                          <a:solidFill>
                            <a:schemeClr val="tx1"/>
                          </a:solidFill>
                          <a:effectLst/>
                        </a:rPr>
                        <a:t>밖으로 분리하여 </a:t>
                      </a:r>
                      <a:r>
                        <a:rPr lang="ko-KR" altLang="en-US" sz="1200" strike="noStrike" dirty="0" smtClean="0">
                          <a:solidFill>
                            <a:schemeClr val="tx1"/>
                          </a:solidFill>
                          <a:effectLst/>
                        </a:rPr>
                        <a:t>처리량 증가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smtClean="0"/>
                        <a:t>연산 자원 증가에 따른 계획 비용 증가에도 오프라인 계획으로 스케줄링 오버헤드 최소화 </a:t>
                      </a:r>
                      <a:r>
                        <a:rPr lang="en-US" altLang="ko-KR" sz="1200" dirty="0" smtClean="0"/>
                        <a:t>(Q3)</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위치에 인한 </a:t>
                      </a:r>
                      <a:r>
                        <a:rPr lang="en-US" altLang="ko-KR" sz="1200" strike="noStrike" baseline="0" dirty="0">
                          <a:solidFill>
                            <a:schemeClr val="tx1"/>
                          </a:solidFill>
                          <a:effectLst/>
                        </a:rPr>
                        <a:t>decision latency</a:t>
                      </a:r>
                      <a:r>
                        <a:rPr lang="ko-KR" altLang="en-US" sz="1200" strike="noStrike" baseline="0" dirty="0">
                          <a:solidFill>
                            <a:schemeClr val="tx1"/>
                          </a:solidFill>
                          <a:effectLst/>
                        </a:rPr>
                        <a:t>가 </a:t>
                      </a:r>
                      <a:r>
                        <a:rPr lang="en-US" altLang="ko-KR" sz="1200" strike="noStrike" baseline="0" dirty="0">
                          <a:solidFill>
                            <a:schemeClr val="tx1"/>
                          </a:solidFill>
                          <a:effectLst/>
                        </a:rPr>
                        <a:t>critical path</a:t>
                      </a:r>
                      <a:r>
                        <a:rPr lang="ko-KR" altLang="en-US" sz="1200" strike="noStrike" baseline="0" dirty="0">
                          <a:solidFill>
                            <a:schemeClr val="tx1"/>
                          </a:solidFill>
                          <a:effectLst/>
                        </a:rPr>
                        <a:t>에 포함 </a:t>
                      </a:r>
                      <a:r>
                        <a:rPr lang="en-US" altLang="ko-KR" sz="1200" strike="noStrike" baseline="0"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solidFill>
                            <a:schemeClr val="tx1"/>
                          </a:solidFill>
                          <a:effectLst/>
                        </a:rPr>
                        <a:t>연산 자원 증가 </a:t>
                      </a:r>
                      <a:r>
                        <a:rPr lang="ko-KR" altLang="en-US" sz="1200" strike="noStrike" baseline="0" dirty="0">
                          <a:solidFill>
                            <a:schemeClr val="tx1"/>
                          </a:solidFill>
                          <a:effectLst/>
                        </a:rPr>
                        <a:t>시 </a:t>
                      </a:r>
                      <a:r>
                        <a:rPr lang="ko-KR" altLang="en-US" sz="1200" strike="noStrike" baseline="0" dirty="0" smtClean="0">
                          <a:solidFill>
                            <a:schemeClr val="tx1"/>
                          </a:solidFill>
                          <a:effectLst/>
                        </a:rPr>
                        <a:t>계획</a:t>
                      </a:r>
                      <a:r>
                        <a:rPr lang="en-US" altLang="ko-KR" sz="1200" strike="noStrike" baseline="0" dirty="0" smtClean="0">
                          <a:solidFill>
                            <a:schemeClr val="tx1"/>
                          </a:solidFill>
                          <a:effectLst/>
                        </a:rPr>
                        <a:t> </a:t>
                      </a:r>
                      <a:r>
                        <a:rPr lang="ko-KR" altLang="en-US" sz="1200" strike="noStrike" baseline="0" dirty="0">
                          <a:solidFill>
                            <a:schemeClr val="tx1"/>
                          </a:solidFill>
                          <a:effectLst/>
                        </a:rPr>
                        <a:t>비용이 </a:t>
                      </a:r>
                      <a:r>
                        <a:rPr lang="ko-KR" altLang="en-US" sz="1200" strike="noStrike" baseline="0" dirty="0" smtClean="0">
                          <a:solidFill>
                            <a:schemeClr val="tx1"/>
                          </a:solidFill>
                          <a:effectLst/>
                        </a:rPr>
                        <a:t>증가해 스케줄링 지연 발생 가능 </a:t>
                      </a:r>
                      <a:r>
                        <a:rPr lang="en-US" altLang="ko-KR" sz="1200" strike="noStrike" baseline="0" dirty="0" smtClean="0">
                          <a:solidFill>
                            <a:schemeClr val="tx1"/>
                          </a:solidFill>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smtClean="0">
                          <a:solidFill>
                            <a:schemeClr val="tx1"/>
                          </a:solidFill>
                          <a:effectLst/>
                        </a:rPr>
                        <a:t>대규모 고부하 시 </a:t>
                      </a:r>
                      <a:r>
                        <a:rPr lang="en-US" altLang="ko-KR" sz="1200" strike="noStrike" baseline="0" dirty="0" smtClean="0">
                          <a:solidFill>
                            <a:schemeClr val="tx1"/>
                          </a:solidFill>
                          <a:effectLst/>
                        </a:rPr>
                        <a:t>mismatch</a:t>
                      </a:r>
                      <a:r>
                        <a:rPr lang="ko-KR" altLang="en-US" sz="1200" strike="noStrike" baseline="0" dirty="0" smtClean="0">
                          <a:solidFill>
                            <a:schemeClr val="tx1"/>
                          </a:solidFill>
                          <a:effectLst/>
                        </a:rPr>
                        <a:t>로 </a:t>
                      </a:r>
                      <a:r>
                        <a:rPr lang="ko-KR" altLang="en-US" sz="1200" strike="noStrike" baseline="0" dirty="0" err="1" smtClean="0">
                          <a:solidFill>
                            <a:schemeClr val="tx1"/>
                          </a:solidFill>
                          <a:effectLst/>
                        </a:rPr>
                        <a:t>재계획</a:t>
                      </a:r>
                      <a:r>
                        <a:rPr lang="ko-KR" altLang="en-US" sz="1200" strike="noStrike" baseline="0" dirty="0" smtClean="0">
                          <a:solidFill>
                            <a:schemeClr val="tx1"/>
                          </a:solidFill>
                          <a:effectLst/>
                        </a:rPr>
                        <a:t> 발생 빈도 높고</a:t>
                      </a:r>
                      <a:r>
                        <a:rPr lang="en-US" altLang="ko-KR" sz="1200" strike="noStrike" baseline="0" dirty="0" smtClean="0">
                          <a:solidFill>
                            <a:schemeClr val="tx1"/>
                          </a:solidFill>
                          <a:effectLst/>
                        </a:rPr>
                        <a:t>, </a:t>
                      </a:r>
                      <a:r>
                        <a:rPr lang="ko-KR" altLang="en-US" sz="1200" strike="noStrike" baseline="0" dirty="0" err="1" smtClean="0">
                          <a:solidFill>
                            <a:schemeClr val="tx1"/>
                          </a:solidFill>
                          <a:effectLst/>
                        </a:rPr>
                        <a:t>재계획</a:t>
                      </a:r>
                      <a:r>
                        <a:rPr lang="ko-KR" altLang="en-US" sz="1200" strike="noStrike" baseline="0" dirty="0" smtClean="0">
                          <a:solidFill>
                            <a:schemeClr val="tx1"/>
                          </a:solidFill>
                          <a:effectLst/>
                        </a:rPr>
                        <a:t> 시 </a:t>
                      </a:r>
                      <a:r>
                        <a:rPr lang="ko-KR" altLang="en-US" sz="1200" strike="noStrike" baseline="0" dirty="0">
                          <a:solidFill>
                            <a:schemeClr val="tx1"/>
                          </a:solidFill>
                          <a:effectLst/>
                        </a:rPr>
                        <a:t>기존 </a:t>
                      </a:r>
                      <a:r>
                        <a:rPr lang="en-US" altLang="ko-KR" sz="1200" strike="noStrike" baseline="0" dirty="0">
                          <a:solidFill>
                            <a:schemeClr val="tx1"/>
                          </a:solidFill>
                          <a:effectLst/>
                        </a:rPr>
                        <a:t>Execution Planner</a:t>
                      </a:r>
                      <a:r>
                        <a:rPr lang="ko-KR" altLang="en-US" sz="1200" strike="noStrike" baseline="0" dirty="0">
                          <a:solidFill>
                            <a:schemeClr val="tx1"/>
                          </a:solidFill>
                          <a:effectLst/>
                        </a:rPr>
                        <a:t>의 작업 완료 대기로 </a:t>
                      </a:r>
                      <a:r>
                        <a:rPr lang="ko-KR" altLang="en-US" sz="1200" strike="noStrike" baseline="0" dirty="0" smtClean="0">
                          <a:solidFill>
                            <a:schemeClr val="tx1"/>
                          </a:solidFill>
                          <a:effectLst/>
                        </a:rPr>
                        <a:t>지연 </a:t>
                      </a:r>
                      <a:r>
                        <a:rPr lang="ko-KR" altLang="en-US" sz="1200" strike="noStrike" baseline="0" dirty="0">
                          <a:solidFill>
                            <a:schemeClr val="tx1"/>
                          </a:solidFill>
                          <a:effectLst/>
                        </a:rPr>
                        <a:t>발생 </a:t>
                      </a:r>
                      <a:r>
                        <a:rPr lang="en-US" altLang="ko-KR" sz="1200" strike="noStrike" baseline="0" dirty="0">
                          <a:solidFill>
                            <a:schemeClr val="tx1"/>
                          </a:solidFill>
                          <a:effectLst/>
                        </a:rPr>
                        <a:t>(</a:t>
                      </a:r>
                      <a:r>
                        <a:rPr lang="en-US" altLang="ko-KR" sz="1200" strike="noStrike" baseline="0" dirty="0" smtClean="0">
                          <a:solidFill>
                            <a:schemeClr val="tx1"/>
                          </a:solidFill>
                          <a:effectLst/>
                        </a:rPr>
                        <a:t>Q2)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4.05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q/s (2.3x)</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3.27 s (-57%)</a:t>
                      </a:r>
                      <a:endParaRPr kumimoji="0" lang="en-US" altLang="ko-KR" sz="14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chemeClr val="bg1">
                              <a:lumMod val="50000"/>
                            </a:schemeClr>
                          </a:solidFill>
                          <a:effectLst/>
                          <a:uLnTx/>
                          <a:uFillTx/>
                          <a:latin typeface="+mn-lt"/>
                          <a:ea typeface="맑은 고딕"/>
                          <a:cs typeface="+mn-cs"/>
                        </a:rPr>
                        <a:t>93 %</a:t>
                      </a:r>
                      <a:endParaRPr lang="en-US" altLang="ko-KR" sz="1400" b="0" dirty="0">
                        <a:solidFill>
                          <a:schemeClr val="bg1">
                            <a:lumMod val="50000"/>
                          </a:schemeClr>
                        </a:solidFill>
                        <a:latin typeface="+mn-lt"/>
                        <a:ea typeface="맑은 고딕"/>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Q1</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a:t>
                      </a: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6.51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q/s (3.7x)</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5.17 s (-32%)</a:t>
                      </a:r>
                      <a:endParaRPr kumimoji="0" lang="en-US" altLang="ko-KR" sz="14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a:t>
                      </a:r>
                      <a:r>
                        <a:rPr lang="en-US" altLang="ko-KR" sz="1200" b="0" dirty="0" smtClean="0">
                          <a:solidFill>
                            <a:schemeClr val="tx1"/>
                          </a:solidFill>
                          <a:latin typeface="맑은 고딕" panose="020B0503020000020004" pitchFamily="50" charset="-127"/>
                          <a:ea typeface="+mn-ea"/>
                        </a:rPr>
                        <a:t>○</a:t>
                      </a:r>
                      <a:r>
                        <a:rPr lang="en-US" altLang="ko-KR" sz="1200" b="0" baseline="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prstClr val="white">
                              <a:lumMod val="50000"/>
                            </a:prstClr>
                          </a:solidFill>
                          <a:effectLst/>
                          <a:uLnTx/>
                          <a:uFillTx/>
                          <a:latin typeface="+mn-lt"/>
                          <a:ea typeface="맑은 고딕"/>
                          <a:cs typeface="+mn-cs"/>
                        </a:rPr>
                        <a:t>91 %</a:t>
                      </a:r>
                      <a:endParaRPr kumimoji="0" lang="en-US" altLang="ko-KR" sz="1400" b="0" i="0" u="none" strike="noStrike" kern="1200" cap="none" spc="0" normalizeH="0" baseline="0" noProof="0" dirty="0">
                        <a:ln>
                          <a:noFill/>
                        </a:ln>
                        <a:solidFill>
                          <a:prstClr val="white">
                            <a:lumMod val="50000"/>
                          </a:prstClr>
                        </a:solidFill>
                        <a:effectLst/>
                        <a:uLnTx/>
                        <a:uFillTx/>
                        <a:latin typeface="+mn-lt"/>
                        <a:ea typeface="맑은 고딕"/>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DP2. </a:t>
            </a:r>
            <a:r>
              <a:rPr lang="ko-KR" altLang="en-US" dirty="0"/>
              <a:t>연산</a:t>
            </a:r>
            <a:r>
              <a:rPr lang="en-US" altLang="ko-KR" dirty="0"/>
              <a:t>(Prefill/Decode)</a:t>
            </a:r>
            <a:r>
              <a:rPr lang="ko-KR" altLang="en-US" dirty="0"/>
              <a:t> 실행 위치 결정 </a:t>
            </a:r>
            <a:r>
              <a:rPr lang="ko-KR" altLang="en-US" dirty="0" smtClean="0"/>
              <a:t>구조 </a:t>
            </a:r>
            <a:r>
              <a:rPr lang="en-US" altLang="ko-KR" dirty="0" smtClean="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smtClean="0">
                <a:solidFill>
                  <a:schemeClr val="bg1"/>
                </a:solidFill>
              </a:rPr>
              <a:t>처리량</a:t>
            </a:r>
            <a:r>
              <a:rPr lang="en-US" altLang="ko-KR" sz="1400" b="1" dirty="0" smtClean="0">
                <a:solidFill>
                  <a:schemeClr val="bg1"/>
                </a:solidFill>
              </a:rPr>
              <a:t>, </a:t>
            </a:r>
            <a:r>
              <a:rPr lang="ko-KR" altLang="en-US" sz="1400" b="1" dirty="0" smtClean="0">
                <a:solidFill>
                  <a:schemeClr val="bg1"/>
                </a:solidFill>
              </a:rPr>
              <a:t>지연</a:t>
            </a:r>
            <a:r>
              <a:rPr lang="en-US" altLang="ko-KR" sz="1400" b="1" dirty="0" smtClean="0">
                <a:solidFill>
                  <a:schemeClr val="bg1"/>
                </a:solidFill>
              </a:rPr>
              <a:t>, </a:t>
            </a:r>
            <a:r>
              <a:rPr lang="ko-KR" altLang="en-US" sz="1400" b="1" dirty="0">
                <a:solidFill>
                  <a:schemeClr val="bg1"/>
                </a:solidFill>
              </a:rPr>
              <a:t>시스템 확장성을 고려한 연산 실행 위치 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62983"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연산 실행 위치 결정 </a:t>
            </a:r>
            <a:r>
              <a:rPr lang="en-US" altLang="ko-KR" sz="1100" dirty="0"/>
              <a:t>“</a:t>
            </a:r>
          </a:p>
        </p:txBody>
      </p:sp>
      <p:sp>
        <p:nvSpPr>
          <p:cNvPr id="106" name="TextBox 105"/>
          <p:cNvSpPr txBox="1"/>
          <p:nvPr/>
        </p:nvSpPr>
        <p:spPr>
          <a:xfrm>
            <a:off x="6657051" y="1383052"/>
            <a:ext cx="4953001" cy="261610"/>
          </a:xfrm>
          <a:prstGeom prst="rect">
            <a:avLst/>
          </a:prstGeom>
          <a:noFill/>
        </p:spPr>
        <p:txBody>
          <a:bodyPr wrap="square" rtlCol="0">
            <a:spAutoFit/>
          </a:bodyPr>
          <a:lstStyle/>
          <a:p>
            <a:r>
              <a:rPr lang="en-US" altLang="ko-KR" sz="1100" dirty="0"/>
              <a:t>“</a:t>
            </a:r>
            <a:r>
              <a:rPr lang="ko-KR" altLang="en-US" sz="1100" dirty="0"/>
              <a:t>스케줄링 시점과 연산 실행 시점을 분리</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sp>
        <p:nvSpPr>
          <p:cNvPr id="112" name="Shape 31">
            <a:extLst>
              <a:ext uri="{FF2B5EF4-FFF2-40B4-BE49-F238E27FC236}">
                <a16:creationId xmlns:a16="http://schemas.microsoft.com/office/drawing/2014/main" id="{823D7D32-6771-4AA4-9581-77C6BEA03C53}"/>
              </a:ext>
            </a:extLst>
          </p:cNvPr>
          <p:cNvSpPr/>
          <p:nvPr/>
        </p:nvSpPr>
        <p:spPr>
          <a:xfrm>
            <a:off x="2862635" y="1853692"/>
            <a:ext cx="1411795" cy="292607"/>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44" idx="0"/>
          </p:cNvCxnSpPr>
          <p:nvPr/>
        </p:nvCxnSpPr>
        <p:spPr>
          <a:xfrm>
            <a:off x="3568533" y="2146299"/>
            <a:ext cx="1889" cy="289506"/>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2394012"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25" name="Shape 31">
            <a:extLst>
              <a:ext uri="{FF2B5EF4-FFF2-40B4-BE49-F238E27FC236}">
                <a16:creationId xmlns:a16="http://schemas.microsoft.com/office/drawing/2014/main" id="{823D7D32-6771-4AA4-9581-77C6BEA03C53}"/>
              </a:ext>
            </a:extLst>
          </p:cNvPr>
          <p:cNvSpPr/>
          <p:nvPr/>
        </p:nvSpPr>
        <p:spPr>
          <a:xfrm>
            <a:off x="1434016"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26" name="Shape 31">
            <a:extLst>
              <a:ext uri="{FF2B5EF4-FFF2-40B4-BE49-F238E27FC236}">
                <a16:creationId xmlns:a16="http://schemas.microsoft.com/office/drawing/2014/main" id="{823D7D32-6771-4AA4-9581-77C6BEA03C53}"/>
              </a:ext>
            </a:extLst>
          </p:cNvPr>
          <p:cNvSpPr/>
          <p:nvPr/>
        </p:nvSpPr>
        <p:spPr>
          <a:xfrm>
            <a:off x="3337592" y="4212297"/>
            <a:ext cx="875450"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51" idx="2"/>
            <a:endCxn id="125" idx="0"/>
          </p:cNvCxnSpPr>
          <p:nvPr/>
        </p:nvCxnSpPr>
        <p:spPr>
          <a:xfrm rot="5400000">
            <a:off x="2567161" y="3209036"/>
            <a:ext cx="268048" cy="1738474"/>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51" idx="2"/>
            <a:endCxn id="126" idx="0"/>
          </p:cNvCxnSpPr>
          <p:nvPr/>
        </p:nvCxnSpPr>
        <p:spPr>
          <a:xfrm rot="16200000" flipH="1">
            <a:off x="3538845" y="3975825"/>
            <a:ext cx="268048" cy="204895"/>
          </a:xfrm>
          <a:prstGeom prst="bentConnector3">
            <a:avLst>
              <a:gd name="adj1" fmla="val 50000"/>
            </a:avLst>
          </a:prstGeom>
          <a:noFill/>
          <a:ln w="11430">
            <a:solidFill>
              <a:srgbClr val="888C91"/>
            </a:solidFill>
            <a:prstDash val="solid"/>
            <a:headEnd type="none"/>
            <a:tailEnd type="triangle"/>
          </a:ln>
        </p:spPr>
      </p:cxnSp>
      <p:sp>
        <p:nvSpPr>
          <p:cNvPr id="77" name="TextBox 76"/>
          <p:cNvSpPr txBox="1"/>
          <p:nvPr/>
        </p:nvSpPr>
        <p:spPr>
          <a:xfrm>
            <a:off x="4482797" y="3231336"/>
            <a:ext cx="1600000" cy="276999"/>
          </a:xfrm>
          <a:prstGeom prst="rect">
            <a:avLst/>
          </a:prstGeom>
          <a:noFill/>
        </p:spPr>
        <p:txBody>
          <a:bodyPr wrap="square" lIns="0" tIns="0" rIns="0" bIns="0" anchor="ctr">
            <a:spAutoFit/>
          </a:bodyPr>
          <a:lstStyle/>
          <a:p>
            <a:pPr algn="l">
              <a:lnSpc>
                <a:spcPct val="100000"/>
              </a:lnSpc>
            </a:pPr>
            <a:r>
              <a:rPr lang="en-US" altLang="ko-KR" sz="900" b="0" i="0" dirty="0">
                <a:solidFill>
                  <a:srgbClr val="808080"/>
                </a:solidFill>
                <a:latin typeface="맑은 고딕"/>
                <a:ea typeface="맑은 고딕"/>
              </a:rPr>
              <a:t>Cost </a:t>
            </a:r>
            <a:r>
              <a:rPr lang="ko-KR" altLang="en-US" sz="900" b="0" i="0" dirty="0">
                <a:solidFill>
                  <a:srgbClr val="808080"/>
                </a:solidFill>
                <a:latin typeface="맑은 고딕"/>
                <a:ea typeface="맑은 고딕"/>
              </a:rPr>
              <a:t>계산이</a:t>
            </a:r>
          </a:p>
          <a:p>
            <a:pPr algn="l">
              <a:lnSpc>
                <a:spcPct val="100000"/>
              </a:lnSpc>
            </a:pPr>
            <a:r>
              <a:rPr lang="en-US" altLang="ko-KR" sz="900" b="0" i="0" dirty="0">
                <a:solidFill>
                  <a:srgbClr val="808080"/>
                </a:solidFill>
                <a:latin typeface="맑은 고딕"/>
                <a:ea typeface="맑은 고딕"/>
              </a:rPr>
              <a:t>critical path  </a:t>
            </a:r>
            <a:r>
              <a:rPr lang="ko-KR" altLang="en-US" sz="900" b="0" i="0" dirty="0">
                <a:solidFill>
                  <a:srgbClr val="808080"/>
                </a:solidFill>
                <a:latin typeface="맑은 고딕"/>
                <a:ea typeface="맑은 고딕"/>
              </a:rPr>
              <a:t>내부</a:t>
            </a:r>
          </a:p>
        </p:txBody>
      </p:sp>
      <p:sp>
        <p:nvSpPr>
          <p:cNvPr id="136" name="Shape 37">
            <a:extLst>
              <a:ext uri="{FF2B5EF4-FFF2-40B4-BE49-F238E27FC236}">
                <a16:creationId xmlns:a16="http://schemas.microsoft.com/office/drawing/2014/main" id="{7F2072DD-19B6-48CA-BD3D-876E8DDC9C60}"/>
              </a:ext>
            </a:extLst>
          </p:cNvPr>
          <p:cNvSpPr/>
          <p:nvPr/>
        </p:nvSpPr>
        <p:spPr>
          <a:xfrm>
            <a:off x="4737207" y="2129473"/>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43" name="직선 화살표 연결선 185">
            <a:extLst>
              <a:ext uri="{FF2B5EF4-FFF2-40B4-BE49-F238E27FC236}">
                <a16:creationId xmlns:a16="http://schemas.microsoft.com/office/drawing/2014/main" id="{BA0CBBE8-3F10-4B7D-B934-710047CDD61C}"/>
              </a:ext>
            </a:extLst>
          </p:cNvPr>
          <p:cNvCxnSpPr>
            <a:cxnSpLocks/>
            <a:stCxn id="144" idx="3"/>
            <a:endCxn id="136" idx="1"/>
          </p:cNvCxnSpPr>
          <p:nvPr/>
        </p:nvCxnSpPr>
        <p:spPr>
          <a:xfrm flipV="1">
            <a:off x="4324906" y="2292936"/>
            <a:ext cx="412301" cy="322679"/>
          </a:xfrm>
          <a:prstGeom prst="bentConnector3">
            <a:avLst>
              <a:gd name="adj1" fmla="val 50000"/>
            </a:avLst>
          </a:prstGeom>
          <a:noFill/>
          <a:ln w="9525">
            <a:solidFill>
              <a:schemeClr val="tx1"/>
            </a:solidFill>
            <a:prstDash val="solid"/>
            <a:headEnd type="none" w="med" len="med"/>
            <a:tailEnd type="triangle" w="med" len="med"/>
          </a:ln>
        </p:spPr>
      </p:cxnSp>
      <p:sp>
        <p:nvSpPr>
          <p:cNvPr id="144" name="Shape 37">
            <a:extLst>
              <a:ext uri="{FF2B5EF4-FFF2-40B4-BE49-F238E27FC236}">
                <a16:creationId xmlns:a16="http://schemas.microsoft.com/office/drawing/2014/main" id="{70E92FE8-4878-4154-BB88-F90E93B7B850}"/>
              </a:ext>
            </a:extLst>
          </p:cNvPr>
          <p:cNvSpPr/>
          <p:nvPr/>
        </p:nvSpPr>
        <p:spPr>
          <a:xfrm>
            <a:off x="2815938" y="2435805"/>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a:t>
            </a:r>
          </a:p>
          <a:p>
            <a:pPr algn="ctr"/>
            <a:r>
              <a:rPr lang="en-US" altLang="ko-KR" sz="900" b="1" dirty="0">
                <a:solidFill>
                  <a:schemeClr val="accent2">
                    <a:lumMod val="75000"/>
                  </a:schemeClr>
                </a:solidFill>
              </a:rPr>
              <a:t>(Plan)</a:t>
            </a:r>
          </a:p>
        </p:txBody>
      </p:sp>
      <p:sp>
        <p:nvSpPr>
          <p:cNvPr id="145" name="Shape 37">
            <a:extLst>
              <a:ext uri="{FF2B5EF4-FFF2-40B4-BE49-F238E27FC236}">
                <a16:creationId xmlns:a16="http://schemas.microsoft.com/office/drawing/2014/main" id="{7EA846FB-2BF9-4A17-B933-665E6BCC5A1E}"/>
              </a:ext>
            </a:extLst>
          </p:cNvPr>
          <p:cNvSpPr/>
          <p:nvPr/>
        </p:nvSpPr>
        <p:spPr>
          <a:xfrm>
            <a:off x="4737207" y="2582530"/>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a:solidFill>
                  <a:srgbClr val="1A1A1A"/>
                </a:solidFill>
                <a:latin typeface="Malgun Gothic" pitchFamily="34" charset="0"/>
                <a:ea typeface="Malgun Gothic" pitchFamily="34" charset="-122"/>
                <a:cs typeface="Malgun Gothic" pitchFamily="34" charset="-120"/>
              </a:rPr>
              <a:t>Resource State</a:t>
            </a:r>
          </a:p>
          <a:p>
            <a:pPr algn="ctr"/>
            <a:r>
              <a:rPr lang="en-US" altLang="ko-KR" sz="1000">
                <a:solidFill>
                  <a:srgbClr val="1A1A1A"/>
                </a:solidFill>
                <a:latin typeface="Malgun Gothic" pitchFamily="34" charset="0"/>
                <a:ea typeface="Malgun Gothic" pitchFamily="34" charset="-122"/>
                <a:cs typeface="Malgun Gothic" pitchFamily="34" charset="-120"/>
              </a:rPr>
              <a:t>Monitor</a:t>
            </a:r>
            <a:endParaRPr lang="en-US" altLang="ko-KR" sz="1000" dirty="0">
              <a:solidFill>
                <a:srgbClr val="1A1A1A"/>
              </a:solidFill>
              <a:latin typeface="Malgun Gothic" pitchFamily="34" charset="0"/>
              <a:ea typeface="Malgun Gothic" pitchFamily="34" charset="-122"/>
              <a:cs typeface="Malgun Gothic" pitchFamily="34" charset="-120"/>
            </a:endParaRPr>
          </a:p>
        </p:txBody>
      </p:sp>
      <p:cxnSp>
        <p:nvCxnSpPr>
          <p:cNvPr id="146" name="직선 화살표 연결선 185">
            <a:extLst>
              <a:ext uri="{FF2B5EF4-FFF2-40B4-BE49-F238E27FC236}">
                <a16:creationId xmlns:a16="http://schemas.microsoft.com/office/drawing/2014/main" id="{866738E6-B5E2-485B-BCC3-7AB7D686059C}"/>
              </a:ext>
            </a:extLst>
          </p:cNvPr>
          <p:cNvCxnSpPr>
            <a:cxnSpLocks/>
            <a:stCxn id="144" idx="3"/>
            <a:endCxn id="145" idx="1"/>
          </p:cNvCxnSpPr>
          <p:nvPr/>
        </p:nvCxnSpPr>
        <p:spPr>
          <a:xfrm>
            <a:off x="4324906" y="2615615"/>
            <a:ext cx="412301" cy="130378"/>
          </a:xfrm>
          <a:prstGeom prst="bentConnector3">
            <a:avLst>
              <a:gd name="adj1" fmla="val 50000"/>
            </a:avLst>
          </a:prstGeom>
          <a:noFill/>
          <a:ln w="9525">
            <a:solidFill>
              <a:schemeClr val="tx1"/>
            </a:solidFill>
            <a:prstDash val="solid"/>
            <a:headEnd type="none" w="med" len="med"/>
            <a:tailEnd type="triangle" w="med" len="med"/>
          </a:ln>
        </p:spPr>
      </p:cxnSp>
      <p:sp>
        <p:nvSpPr>
          <p:cNvPr id="149" name="Shape 37">
            <a:extLst>
              <a:ext uri="{FF2B5EF4-FFF2-40B4-BE49-F238E27FC236}">
                <a16:creationId xmlns:a16="http://schemas.microsoft.com/office/drawing/2014/main" id="{D29B8A49-AE77-46A5-BF3C-C5FFF88BE9D4}"/>
              </a:ext>
            </a:extLst>
          </p:cNvPr>
          <p:cNvSpPr/>
          <p:nvPr/>
        </p:nvSpPr>
        <p:spPr>
          <a:xfrm>
            <a:off x="2815938" y="3112583"/>
            <a:ext cx="1508968" cy="297205"/>
          </a:xfrm>
          <a:prstGeom prst="rect">
            <a:avLst/>
          </a:prstGeom>
          <a:solidFill>
            <a:srgbClr val="FFFFFF"/>
          </a:solidFill>
          <a:ln w="9525">
            <a:solidFill>
              <a:schemeClr val="tx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Cost Evaluator</a:t>
            </a:r>
            <a:endParaRPr lang="en-US" altLang="ko-KR" sz="1000" b="1" dirty="0">
              <a:solidFill>
                <a:srgbClr val="1A1A1A"/>
              </a:solidFill>
              <a:latin typeface="Malgun Gothic" pitchFamily="34" charset="0"/>
              <a:ea typeface="Malgun Gothic" pitchFamily="34" charset="-122"/>
            </a:endParaRPr>
          </a:p>
        </p:txBody>
      </p:sp>
      <p:cxnSp>
        <p:nvCxnSpPr>
          <p:cNvPr id="150" name="직선 화살표 연결선 185">
            <a:extLst>
              <a:ext uri="{FF2B5EF4-FFF2-40B4-BE49-F238E27FC236}">
                <a16:creationId xmlns:a16="http://schemas.microsoft.com/office/drawing/2014/main" id="{EFEBEDC4-80EE-4735-B71E-6C1DFDD6FCDC}"/>
              </a:ext>
            </a:extLst>
          </p:cNvPr>
          <p:cNvCxnSpPr>
            <a:cxnSpLocks/>
            <a:stCxn id="144" idx="2"/>
            <a:endCxn id="149" idx="0"/>
          </p:cNvCxnSpPr>
          <p:nvPr/>
        </p:nvCxnSpPr>
        <p:spPr>
          <a:xfrm>
            <a:off x="3570422" y="2795424"/>
            <a:ext cx="0" cy="317159"/>
          </a:xfrm>
          <a:prstGeom prst="straightConnector1">
            <a:avLst/>
          </a:prstGeom>
          <a:noFill/>
          <a:ln w="9525">
            <a:solidFill>
              <a:schemeClr val="tx1"/>
            </a:solidFill>
            <a:prstDash val="solid"/>
            <a:headEnd type="none" w="med" len="med"/>
            <a:tailEnd type="triangle" w="med" len="med"/>
          </a:ln>
        </p:spPr>
      </p:cxnSp>
      <p:sp>
        <p:nvSpPr>
          <p:cNvPr id="151" name="Shape 37">
            <a:extLst>
              <a:ext uri="{FF2B5EF4-FFF2-40B4-BE49-F238E27FC236}">
                <a16:creationId xmlns:a16="http://schemas.microsoft.com/office/drawing/2014/main" id="{1AFCAFB9-F8C0-41A8-8E3E-3B7ACC234BE6}"/>
              </a:ext>
            </a:extLst>
          </p:cNvPr>
          <p:cNvSpPr/>
          <p:nvPr/>
        </p:nvSpPr>
        <p:spPr>
          <a:xfrm>
            <a:off x="2815938" y="3584630"/>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algn="ctr"/>
            <a:r>
              <a:rPr lang="en-US" altLang="ko-KR" sz="900" b="1" dirty="0">
                <a:solidFill>
                  <a:schemeClr val="accent2">
                    <a:lumMod val="75000"/>
                  </a:schemeClr>
                </a:solidFill>
                <a:latin typeface="Malgun Gothic" pitchFamily="34" charset="0"/>
                <a:ea typeface="Malgun Gothic" pitchFamily="34" charset="-122"/>
              </a:rPr>
              <a:t>(Decision)</a:t>
            </a:r>
          </a:p>
        </p:txBody>
      </p:sp>
      <p:cxnSp>
        <p:nvCxnSpPr>
          <p:cNvPr id="152" name="직선 화살표 연결선 185">
            <a:extLst>
              <a:ext uri="{FF2B5EF4-FFF2-40B4-BE49-F238E27FC236}">
                <a16:creationId xmlns:a16="http://schemas.microsoft.com/office/drawing/2014/main" id="{A5D1AF10-B4E4-4F84-8D33-8BACD09A70C2}"/>
              </a:ext>
            </a:extLst>
          </p:cNvPr>
          <p:cNvCxnSpPr>
            <a:cxnSpLocks/>
            <a:stCxn id="149" idx="2"/>
            <a:endCxn id="151" idx="0"/>
          </p:cNvCxnSpPr>
          <p:nvPr/>
        </p:nvCxnSpPr>
        <p:spPr>
          <a:xfrm>
            <a:off x="3570422" y="3409788"/>
            <a:ext cx="0" cy="174842"/>
          </a:xfrm>
          <a:prstGeom prst="straightConnector1">
            <a:avLst/>
          </a:prstGeom>
          <a:noFill/>
          <a:ln w="11430">
            <a:solidFill>
              <a:srgbClr val="888C91"/>
            </a:solidFill>
            <a:prstDash val="solid"/>
            <a:headEnd type="none"/>
            <a:tailEnd type="triangle"/>
          </a:ln>
        </p:spPr>
      </p:cxnSp>
      <p:cxnSp>
        <p:nvCxnSpPr>
          <p:cNvPr id="153" name="직선 화살표 연결선 185">
            <a:extLst>
              <a:ext uri="{FF2B5EF4-FFF2-40B4-BE49-F238E27FC236}">
                <a16:creationId xmlns:a16="http://schemas.microsoft.com/office/drawing/2014/main" id="{667011A0-7D9C-4D04-BD0D-206D0F921C23}"/>
              </a:ext>
            </a:extLst>
          </p:cNvPr>
          <p:cNvCxnSpPr>
            <a:cxnSpLocks/>
            <a:stCxn id="151" idx="2"/>
            <a:endCxn id="124" idx="0"/>
          </p:cNvCxnSpPr>
          <p:nvPr/>
        </p:nvCxnSpPr>
        <p:spPr>
          <a:xfrm rot="5400000">
            <a:off x="3047159" y="3689034"/>
            <a:ext cx="268048" cy="778478"/>
          </a:xfrm>
          <a:prstGeom prst="bentConnector3">
            <a:avLst>
              <a:gd name="adj1" fmla="val 50000"/>
            </a:avLst>
          </a:prstGeom>
          <a:noFill/>
          <a:ln w="11430">
            <a:solidFill>
              <a:srgbClr val="888C91"/>
            </a:solidFill>
            <a:prstDash val="solid"/>
            <a:headEnd type="none"/>
            <a:tailEnd type="triangle"/>
          </a:ln>
        </p:spPr>
      </p:cxnSp>
      <p:sp>
        <p:nvSpPr>
          <p:cNvPr id="155" name="Shape 31">
            <a:extLst>
              <a:ext uri="{FF2B5EF4-FFF2-40B4-BE49-F238E27FC236}">
                <a16:creationId xmlns:a16="http://schemas.microsoft.com/office/drawing/2014/main" id="{C0494BB5-740B-474B-8EDE-7DEE62853B08}"/>
              </a:ext>
            </a:extLst>
          </p:cNvPr>
          <p:cNvSpPr/>
          <p:nvPr/>
        </p:nvSpPr>
        <p:spPr>
          <a:xfrm>
            <a:off x="4393753" y="4212297"/>
            <a:ext cx="87545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57" name="직선 화살표 연결선 185">
            <a:extLst>
              <a:ext uri="{FF2B5EF4-FFF2-40B4-BE49-F238E27FC236}">
                <a16:creationId xmlns:a16="http://schemas.microsoft.com/office/drawing/2014/main" id="{D2EDFE24-B445-4346-8805-83EFFC8CB053}"/>
              </a:ext>
            </a:extLst>
          </p:cNvPr>
          <p:cNvCxnSpPr>
            <a:cxnSpLocks/>
            <a:stCxn id="151" idx="2"/>
            <a:endCxn id="155" idx="0"/>
          </p:cNvCxnSpPr>
          <p:nvPr/>
        </p:nvCxnSpPr>
        <p:spPr>
          <a:xfrm rot="16200000" flipH="1">
            <a:off x="4066926" y="3447745"/>
            <a:ext cx="268048" cy="1261056"/>
          </a:xfrm>
          <a:prstGeom prst="bentConnector3">
            <a:avLst>
              <a:gd name="adj1" fmla="val 50000"/>
            </a:avLst>
          </a:prstGeom>
          <a:noFill/>
          <a:ln w="11430">
            <a:solidFill>
              <a:srgbClr val="888C91"/>
            </a:solidFill>
            <a:prstDash val="dash"/>
            <a:headEnd type="none"/>
            <a:tailEnd type="triangle"/>
          </a:ln>
        </p:spPr>
      </p:cxnSp>
      <p:sp>
        <p:nvSpPr>
          <p:cNvPr id="1271" name="C1 Critical path boundary"/>
          <p:cNvSpPr/>
          <p:nvPr/>
        </p:nvSpPr>
        <p:spPr>
          <a:xfrm>
            <a:off x="2695773" y="1800000"/>
            <a:ext cx="3420000" cy="2185000"/>
          </a:xfrm>
          <a:prstGeom prst="rect">
            <a:avLst/>
          </a:prstGeom>
          <a:noFill/>
          <a:ln w="12700">
            <a:solidFill>
              <a:srgbClr val="C76E31"/>
            </a:solidFill>
            <a:prstDash val="dash"/>
          </a:ln>
        </p:spPr>
        <p:txBody>
          <a:bodyPr rtlCol="0" anchor="ctr"/>
          <a:lstStyle/>
          <a:p>
            <a:pPr algn="ctr"/>
            <a:endParaRPr lang="en-US" altLang="ko-KR" sz="900" dirty="0">
              <a:solidFill>
                <a:schemeClr val="bg1">
                  <a:lumMod val="50000"/>
                </a:schemeClr>
              </a:solidFill>
            </a:endParaRPr>
          </a:p>
        </p:txBody>
      </p:sp>
      <p:sp>
        <p:nvSpPr>
          <p:cNvPr id="2293" name="C1 Critical path label"/>
          <p:cNvSpPr/>
          <p:nvPr/>
        </p:nvSpPr>
        <p:spPr>
          <a:xfrm>
            <a:off x="4330000" y="1815000"/>
            <a:ext cx="1440000" cy="250000"/>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 + Decision</a:t>
            </a:r>
          </a:p>
        </p:txBody>
      </p:sp>
      <p:grpSp>
        <p:nvGrpSpPr>
          <p:cNvPr id="130" name="그룹 129">
            <a:extLst>
              <a:ext uri="{FF2B5EF4-FFF2-40B4-BE49-F238E27FC236}">
                <a16:creationId xmlns:a16="http://schemas.microsoft.com/office/drawing/2014/main" id="{CA2D3743-1992-478F-B82E-9DE9B085B94D}"/>
              </a:ext>
            </a:extLst>
          </p:cNvPr>
          <p:cNvGrpSpPr/>
          <p:nvPr/>
        </p:nvGrpSpPr>
        <p:grpSpPr>
          <a:xfrm>
            <a:off x="334761" y="3538083"/>
            <a:ext cx="822008" cy="1106192"/>
            <a:chOff x="269738" y="3554621"/>
            <a:chExt cx="822008" cy="1106192"/>
          </a:xfrm>
        </p:grpSpPr>
        <p:sp>
          <p:nvSpPr>
            <p:cNvPr id="131" name="KV Cache Manager">
              <a:extLst>
                <a:ext uri="{FF2B5EF4-FFF2-40B4-BE49-F238E27FC236}">
                  <a16:creationId xmlns:a16="http://schemas.microsoft.com/office/drawing/2014/main" id="{97729FA2-8208-495A-88B5-6AB9793CB4B9}"/>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2" name="KV Cache Manager">
              <a:extLst>
                <a:ext uri="{FF2B5EF4-FFF2-40B4-BE49-F238E27FC236}">
                  <a16:creationId xmlns:a16="http://schemas.microsoft.com/office/drawing/2014/main" id="{5E4E7F90-5323-48ED-A793-E537EC85E83D}"/>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4" name="KV Cache Manager">
              <a:extLst>
                <a:ext uri="{FF2B5EF4-FFF2-40B4-BE49-F238E27FC236}">
                  <a16:creationId xmlns:a16="http://schemas.microsoft.com/office/drawing/2014/main" id="{F1372DCD-DBB8-422B-8D97-E7C565A45741}"/>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bg1"/>
                  </a:solidFill>
                </a:rPr>
                <a:t>타</a:t>
              </a:r>
              <a:r>
                <a:rPr lang="en-US" altLang="ko-KR" sz="800" b="1" dirty="0">
                  <a:solidFill>
                    <a:schemeClr val="bg1"/>
                  </a:solidFill>
                </a:rPr>
                <a:t> </a:t>
              </a:r>
              <a:r>
                <a:rPr lang="ko-KR" altLang="en-US" sz="800" b="1" dirty="0">
                  <a:solidFill>
                    <a:schemeClr val="bg1"/>
                  </a:solidFill>
                </a:rPr>
                <a:t>모듈</a:t>
              </a:r>
              <a:r>
                <a:rPr lang="en-US" altLang="ko-KR" sz="800" b="1" dirty="0">
                  <a:solidFill>
                    <a:schemeClr val="bg1"/>
                  </a:solidFill>
                </a:rPr>
                <a:t> I/F</a:t>
              </a:r>
              <a:endParaRPr lang="ko-KR" altLang="en-US" sz="800" b="1" dirty="0">
                <a:solidFill>
                  <a:schemeClr val="bg1"/>
                </a:solidFill>
              </a:endParaRPr>
            </a:p>
          </p:txBody>
        </p:sp>
        <p:sp>
          <p:nvSpPr>
            <p:cNvPr id="135" name="직사각형 134">
              <a:extLst>
                <a:ext uri="{FF2B5EF4-FFF2-40B4-BE49-F238E27FC236}">
                  <a16:creationId xmlns:a16="http://schemas.microsoft.com/office/drawing/2014/main" id="{33666AC1-1D1F-4D44-8ABD-9FC7C996F49A}"/>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7" name="KV Cache Manager">
              <a:extLst>
                <a:ext uri="{FF2B5EF4-FFF2-40B4-BE49-F238E27FC236}">
                  <a16:creationId xmlns:a16="http://schemas.microsoft.com/office/drawing/2014/main" id="{3DAC31F2-953F-4F50-9270-4AC41B0280B9}"/>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cxnSp>
        <p:nvCxnSpPr>
          <p:cNvPr id="120" name="직선 화살표 연결선 185">
            <a:extLst>
              <a:ext uri="{FF2B5EF4-FFF2-40B4-BE49-F238E27FC236}">
                <a16:creationId xmlns:a16="http://schemas.microsoft.com/office/drawing/2014/main" id="{6B405AD3-50C7-4140-923C-39C9EC62E997}"/>
              </a:ext>
            </a:extLst>
          </p:cNvPr>
          <p:cNvCxnSpPr>
            <a:cxnSpLocks/>
            <a:stCxn id="149" idx="1"/>
            <a:endCxn id="123" idx="0"/>
          </p:cNvCxnSpPr>
          <p:nvPr/>
        </p:nvCxnSpPr>
        <p:spPr>
          <a:xfrm rot="10800000" flipV="1">
            <a:off x="1977484" y="3261185"/>
            <a:ext cx="838455" cy="122381"/>
          </a:xfrm>
          <a:prstGeom prst="bentConnector2">
            <a:avLst/>
          </a:prstGeom>
          <a:noFill/>
          <a:ln w="9525">
            <a:solidFill>
              <a:schemeClr val="tx1"/>
            </a:solidFill>
            <a:prstDash val="solid"/>
            <a:headEnd type="none" w="med" len="med"/>
            <a:tailEnd type="triangle" w="med" len="med"/>
          </a:ln>
        </p:spPr>
      </p:cxnSp>
      <p:sp>
        <p:nvSpPr>
          <p:cNvPr id="123" name="KV Cache Manager">
            <a:extLst>
              <a:ext uri="{FF2B5EF4-FFF2-40B4-BE49-F238E27FC236}">
                <a16:creationId xmlns:a16="http://schemas.microsoft.com/office/drawing/2014/main" id="{AF50C5FD-82D2-49A4-BB8D-5B9CCB95E6F0}"/>
              </a:ext>
            </a:extLst>
          </p:cNvPr>
          <p:cNvSpPr/>
          <p:nvPr/>
        </p:nvSpPr>
        <p:spPr>
          <a:xfrm>
            <a:off x="1422351" y="3383567"/>
            <a:ext cx="1110263" cy="28409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grpSp>
        <p:nvGrpSpPr>
          <p:cNvPr id="2260" name="그룹 2259">
            <a:extLst>
              <a:ext uri="{FF2B5EF4-FFF2-40B4-BE49-F238E27FC236}">
                <a16:creationId xmlns:a16="http://schemas.microsoft.com/office/drawing/2014/main" id="{2D332D0F-0324-46B1-B1F2-8FDFA83DC440}"/>
              </a:ext>
            </a:extLst>
          </p:cNvPr>
          <p:cNvGrpSpPr/>
          <p:nvPr/>
        </p:nvGrpSpPr>
        <p:grpSpPr>
          <a:xfrm>
            <a:off x="6650290" y="1792641"/>
            <a:ext cx="5377940" cy="2718256"/>
            <a:chOff x="6650290" y="1836885"/>
            <a:chExt cx="5377940" cy="2718256"/>
          </a:xfrm>
        </p:grpSpPr>
        <p:sp>
          <p:nvSpPr>
            <p:cNvPr id="122" name="Shape 31">
              <a:extLst>
                <a:ext uri="{FF2B5EF4-FFF2-40B4-BE49-F238E27FC236}">
                  <a16:creationId xmlns:a16="http://schemas.microsoft.com/office/drawing/2014/main" id="{2CB8AAFC-DFAB-4056-A6EA-BB95D28E11E9}"/>
                </a:ext>
              </a:extLst>
            </p:cNvPr>
            <p:cNvSpPr/>
            <p:nvPr/>
          </p:nvSpPr>
          <p:spPr>
            <a:xfrm>
              <a:off x="6968158" y="222990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52643" y="4250503"/>
              <a:ext cx="1106485" cy="301105"/>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64" name="직선 화살표 연결선 185">
              <a:extLst>
                <a:ext uri="{FF2B5EF4-FFF2-40B4-BE49-F238E27FC236}">
                  <a16:creationId xmlns:a16="http://schemas.microsoft.com/office/drawing/2014/main" id="{D76D373A-AD73-4958-8644-743AF962871F}"/>
                </a:ext>
              </a:extLst>
            </p:cNvPr>
            <p:cNvCxnSpPr>
              <a:cxnSpLocks/>
            </p:cNvCxnSpPr>
            <p:nvPr/>
          </p:nvCxnSpPr>
          <p:spPr>
            <a:xfrm flipH="1">
              <a:off x="7585118" y="3976053"/>
              <a:ext cx="127" cy="242833"/>
            </a:xfrm>
            <a:prstGeom prst="straightConnector1">
              <a:avLst/>
            </a:prstGeom>
            <a:noFill/>
            <a:ln w="12700">
              <a:solidFill>
                <a:srgbClr val="C76E31"/>
              </a:solidFill>
              <a:prstDash val="solid"/>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flipH="1">
              <a:off x="10700123" y="2548568"/>
              <a:ext cx="1" cy="359667"/>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1966" y="1864405"/>
              <a:ext cx="2152357"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a:t>
              </a:r>
              <a:r>
                <a:rPr lang="en-US" altLang="ko-KR" sz="900" dirty="0">
                  <a:solidFill>
                    <a:srgbClr val="FF0000"/>
                  </a:solidFill>
                </a:rPr>
                <a:t> -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rgbClr val="FF0000"/>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58398" y="2282562"/>
              <a:ext cx="1283450" cy="1629131"/>
              <a:chOff x="13158709" y="2383427"/>
              <a:chExt cx="1283450" cy="1629131"/>
            </a:xfrm>
          </p:grpSpPr>
          <p:sp>
            <p:nvSpPr>
              <p:cNvPr id="186" name="Shape 31">
                <a:extLst>
                  <a:ext uri="{FF2B5EF4-FFF2-40B4-BE49-F238E27FC236}">
                    <a16:creationId xmlns:a16="http://schemas.microsoft.com/office/drawing/2014/main" id="{2CB8AAFC-DFAB-4056-A6EA-BB95D28E11E9}"/>
                  </a:ext>
                </a:extLst>
              </p:cNvPr>
              <p:cNvSpPr/>
              <p:nvPr/>
            </p:nvSpPr>
            <p:spPr>
              <a:xfrm>
                <a:off x="132170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158709" y="3009100"/>
                <a:ext cx="1283450" cy="324035"/>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Validator</a:t>
                </a:r>
              </a:p>
            </p:txBody>
          </p:sp>
          <p:sp>
            <p:nvSpPr>
              <p:cNvPr id="188" name="Shape 31">
                <a:extLst>
                  <a:ext uri="{FF2B5EF4-FFF2-40B4-BE49-F238E27FC236}">
                    <a16:creationId xmlns:a16="http://schemas.microsoft.com/office/drawing/2014/main" id="{2CB8AAFC-DFAB-4056-A6EA-BB95D28E11E9}"/>
                  </a:ext>
                </a:extLst>
              </p:cNvPr>
              <p:cNvSpPr/>
              <p:nvPr/>
            </p:nvSpPr>
            <p:spPr>
              <a:xfrm>
                <a:off x="13158709" y="3623097"/>
                <a:ext cx="1283450" cy="38946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lvl="0" algn="ctr"/>
                <a:r>
                  <a:rPr lang="en-US" altLang="ko-KR" sz="900" b="1" dirty="0">
                    <a:solidFill>
                      <a:schemeClr val="accent2">
                        <a:lumMod val="75000"/>
                      </a:schemeClr>
                    </a:solidFill>
                    <a:latin typeface="Malgun Gothic" pitchFamily="34" charset="0"/>
                    <a:ea typeface="Malgun Gothic" pitchFamily="34" charset="-122"/>
                    <a:cs typeface="Malgun Gothic" pitchFamily="34" charset="-120"/>
                  </a:rPr>
                  <a:t>(Decision)</a:t>
                </a:r>
                <a:endParaRPr lang="ko-KR" altLang="en-US" sz="900" b="1" dirty="0">
                  <a:solidFill>
                    <a:schemeClr val="accent2">
                      <a:lumMod val="75000"/>
                    </a:schemeClr>
                  </a:solidFill>
                  <a:latin typeface="Malgun Gothic" pitchFamily="34" charset="0"/>
                  <a:ea typeface="Malgun Gothic" pitchFamily="34" charset="-122"/>
                  <a:cs typeface="Malgun Gothic" pitchFamily="34" charset="-120"/>
                </a:endParaRPr>
              </a:p>
            </p:txBody>
          </p:sp>
        </p:grp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188" idx="0"/>
            </p:cNvCxnSpPr>
            <p:nvPr/>
          </p:nvCxnSpPr>
          <p:spPr>
            <a:xfrm>
              <a:off x="10700123" y="3232270"/>
              <a:ext cx="0" cy="289962"/>
            </a:xfrm>
            <a:prstGeom prst="straightConnector1">
              <a:avLst/>
            </a:prstGeom>
            <a:noFill/>
            <a:ln w="11430">
              <a:solidFill>
                <a:srgbClr val="888C91"/>
              </a:solidFill>
              <a:prstDash val="solid"/>
              <a:headEnd type="none"/>
              <a:tailEnd type="triangle"/>
            </a:ln>
          </p:spPr>
        </p:cxnSp>
        <p:cxnSp>
          <p:nvCxnSpPr>
            <p:cNvPr id="99" name="직선 화살표 연결선 185">
              <a:extLst>
                <a:ext uri="{FF2B5EF4-FFF2-40B4-BE49-F238E27FC236}">
                  <a16:creationId xmlns:a16="http://schemas.microsoft.com/office/drawing/2014/main" id="{D76D373A-AD73-4958-8644-743AF962871F}"/>
                </a:ext>
              </a:extLst>
            </p:cNvPr>
            <p:cNvCxnSpPr>
              <a:cxnSpLocks/>
            </p:cNvCxnSpPr>
            <p:nvPr/>
          </p:nvCxnSpPr>
          <p:spPr>
            <a:xfrm rot="10800000">
              <a:off x="8164462" y="2717377"/>
              <a:ext cx="1893937" cy="259939"/>
            </a:xfrm>
            <a:prstGeom prst="bentConnector3">
              <a:avLst>
                <a:gd name="adj1" fmla="val 30143"/>
              </a:avLst>
            </a:prstGeom>
            <a:noFill/>
            <a:ln w="9525">
              <a:solidFill>
                <a:srgbClr val="C76E31"/>
              </a:solidFill>
              <a:prstDash val="dash"/>
              <a:headEnd type="none" w="med" len="med"/>
              <a:tailEnd type="triangle" w="med" len="med"/>
            </a:ln>
          </p:spPr>
        </p:cxn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92" idx="0"/>
            </p:cNvCxnSpPr>
            <p:nvPr/>
          </p:nvCxnSpPr>
          <p:spPr>
            <a:xfrm rot="5400000">
              <a:off x="10094192" y="3627684"/>
              <a:ext cx="321923" cy="88994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95" idx="0"/>
            </p:cNvCxnSpPr>
            <p:nvPr/>
          </p:nvCxnSpPr>
          <p:spPr>
            <a:xfrm rot="16200000" flipH="1">
              <a:off x="11038780" y="3573035"/>
              <a:ext cx="321923" cy="999237"/>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91" idx="0"/>
            </p:cNvCxnSpPr>
            <p:nvPr/>
          </p:nvCxnSpPr>
          <p:spPr>
            <a:xfrm rot="5400000">
              <a:off x="10386001" y="3919493"/>
              <a:ext cx="321923" cy="306322"/>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9" idx="0"/>
            </p:cNvCxnSpPr>
            <p:nvPr/>
          </p:nvCxnSpPr>
          <p:spPr>
            <a:xfrm>
              <a:off x="7634416" y="2429761"/>
              <a:ext cx="2" cy="231001"/>
            </a:xfrm>
            <a:prstGeom prst="straightConnector1">
              <a:avLst/>
            </a:prstGeom>
            <a:noFill/>
            <a:ln w="11430">
              <a:solidFill>
                <a:srgbClr val="888C91"/>
              </a:solidFill>
              <a:prstDash val="solid"/>
              <a:headEnd type="none"/>
              <a:tailEnd type="triangle"/>
            </a:ln>
          </p:spPr>
        </p:cxnSp>
        <p:sp>
          <p:nvSpPr>
            <p:cNvPr id="78" name="TextBox 77"/>
            <p:cNvSpPr txBox="1"/>
            <p:nvPr/>
          </p:nvSpPr>
          <p:spPr>
            <a:xfrm>
              <a:off x="8406016" y="2555570"/>
              <a:ext cx="827393" cy="138499"/>
            </a:xfrm>
            <a:prstGeom prst="rect">
              <a:avLst/>
            </a:prstGeom>
            <a:noFill/>
          </p:spPr>
          <p:txBody>
            <a:bodyPr wrap="square" lIns="0" tIns="0" rIns="0" bIns="0" anchor="ctr">
              <a:spAutoFit/>
            </a:bodyPr>
            <a:lstStyle/>
            <a:p>
              <a:pPr algn="l">
                <a:lnSpc>
                  <a:spcPct val="100000"/>
                </a:lnSpc>
              </a:pPr>
              <a:r>
                <a:rPr sz="900" b="0" i="0" dirty="0">
                  <a:solidFill>
                    <a:srgbClr val="C55A11"/>
                  </a:solidFill>
                  <a:latin typeface="맑은 고딕"/>
                  <a:ea typeface="맑은 고딕"/>
                </a:rPr>
                <a:t>Async</a:t>
              </a:r>
              <a:r>
                <a:rPr lang="en-US" sz="900" b="0" i="0" dirty="0">
                  <a:solidFill>
                    <a:srgbClr val="C55A11"/>
                  </a:solidFill>
                  <a:latin typeface="맑은 고딕"/>
                  <a:ea typeface="맑은 고딕"/>
                </a:rPr>
                <a:t> </a:t>
              </a:r>
              <a:r>
                <a:rPr sz="900" b="0" i="0" dirty="0">
                  <a:solidFill>
                    <a:srgbClr val="C55A11"/>
                  </a:solidFill>
                  <a:latin typeface="맑은 고딕"/>
                  <a:ea typeface="맑은 고딕"/>
                </a:rPr>
                <a:t>re-plan</a:t>
              </a: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Decision</a:t>
              </a:r>
              <a:r>
                <a:rPr lang="en-US" altLang="ko-KR" sz="900" dirty="0">
                  <a:solidFill>
                    <a:srgbClr val="FF0000"/>
                  </a:solidFill>
                </a:rPr>
                <a:t> - </a:t>
              </a:r>
              <a:r>
                <a:rPr lang="en-US" altLang="ko-KR" sz="900" dirty="0">
                  <a:solidFill>
                    <a:schemeClr val="bg1">
                      <a:lumMod val="50000"/>
                    </a:schemeClr>
                  </a:solidFill>
                </a:rPr>
                <a:t>Critical path </a:t>
              </a:r>
              <a:r>
                <a:rPr lang="ko-KR" altLang="en-US" sz="900" dirty="0">
                  <a:solidFill>
                    <a:schemeClr val="bg1">
                      <a:lumMod val="50000"/>
                    </a:schemeClr>
                  </a:solidFill>
                </a:rPr>
                <a:t>내</a:t>
              </a:r>
              <a:endParaRPr lang="en-US" altLang="ko-KR" sz="900" dirty="0">
                <a:solidFill>
                  <a:srgbClr val="FF0000"/>
                </a:solidFill>
              </a:endParaRPr>
            </a:p>
          </p:txBody>
        </p:sp>
        <p:grpSp>
          <p:nvGrpSpPr>
            <p:cNvPr id="55" name="그룹 54">
              <a:extLst>
                <a:ext uri="{FF2B5EF4-FFF2-40B4-BE49-F238E27FC236}">
                  <a16:creationId xmlns:a16="http://schemas.microsoft.com/office/drawing/2014/main" id="{20247864-5FE1-4F69-9F2A-D6FA572B779B}"/>
                </a:ext>
              </a:extLst>
            </p:cNvPr>
            <p:cNvGrpSpPr/>
            <p:nvPr/>
          </p:nvGrpSpPr>
          <p:grpSpPr>
            <a:xfrm>
              <a:off x="6959257" y="2660762"/>
              <a:ext cx="2250800" cy="1353122"/>
              <a:chOff x="6334829" y="2532795"/>
              <a:chExt cx="3029193" cy="1637279"/>
            </a:xfrm>
          </p:grpSpPr>
          <p:sp>
            <p:nvSpPr>
              <p:cNvPr id="167" name="Shape 37">
                <a:extLst>
                  <a:ext uri="{FF2B5EF4-FFF2-40B4-BE49-F238E27FC236}">
                    <a16:creationId xmlns:a16="http://schemas.microsoft.com/office/drawing/2014/main" id="{90DAE390-C546-4459-96AF-4143F55DB1B8}"/>
                  </a:ext>
                </a:extLst>
              </p:cNvPr>
              <p:cNvSpPr/>
              <p:nvPr/>
            </p:nvSpPr>
            <p:spPr>
              <a:xfrm>
                <a:off x="8340414" y="2718034"/>
                <a:ext cx="1023608" cy="395581"/>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68" name="직선 화살표 연결선 185">
                <a:extLst>
                  <a:ext uri="{FF2B5EF4-FFF2-40B4-BE49-F238E27FC236}">
                    <a16:creationId xmlns:a16="http://schemas.microsoft.com/office/drawing/2014/main" id="{5147715F-B5AF-48FB-9317-FF7DCBEA214E}"/>
                  </a:ext>
                </a:extLst>
              </p:cNvPr>
              <p:cNvCxnSpPr>
                <a:cxnSpLocks/>
                <a:stCxn id="169" idx="3"/>
                <a:endCxn id="167" idx="1"/>
              </p:cNvCxnSpPr>
              <p:nvPr/>
            </p:nvCxnSpPr>
            <p:spPr>
              <a:xfrm>
                <a:off x="7929375" y="2750365"/>
                <a:ext cx="411039" cy="165459"/>
              </a:xfrm>
              <a:prstGeom prst="bentConnector3">
                <a:avLst>
                  <a:gd name="adj1" fmla="val 50000"/>
                </a:avLst>
              </a:prstGeom>
              <a:noFill/>
              <a:ln w="9525">
                <a:solidFill>
                  <a:schemeClr val="tx1"/>
                </a:solidFill>
                <a:prstDash val="solid"/>
                <a:headEnd type="none" w="med" len="med"/>
                <a:tailEnd type="triangle" w="med" len="med"/>
              </a:ln>
            </p:spPr>
          </p:cxnSp>
          <p:sp>
            <p:nvSpPr>
              <p:cNvPr id="169" name="Shape 37">
                <a:extLst>
                  <a:ext uri="{FF2B5EF4-FFF2-40B4-BE49-F238E27FC236}">
                    <a16:creationId xmlns:a16="http://schemas.microsoft.com/office/drawing/2014/main" id="{5A9E902C-C762-43E4-8FBB-2BC7D8D934DC}"/>
                  </a:ext>
                </a:extLst>
              </p:cNvPr>
              <p:cNvSpPr/>
              <p:nvPr/>
            </p:nvSpPr>
            <p:spPr>
              <a:xfrm>
                <a:off x="6557585" y="2532795"/>
                <a:ext cx="1371789" cy="43514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 </a:t>
                </a:r>
                <a:r>
                  <a:rPr lang="en-US" altLang="ko-KR" sz="900" b="1" dirty="0">
                    <a:solidFill>
                      <a:schemeClr val="accent2">
                        <a:lumMod val="75000"/>
                      </a:schemeClr>
                    </a:solidFill>
                  </a:rPr>
                  <a:t>(Plan)</a:t>
                </a:r>
              </a:p>
            </p:txBody>
          </p:sp>
          <p:sp>
            <p:nvSpPr>
              <p:cNvPr id="170" name="Shape 37">
                <a:extLst>
                  <a:ext uri="{FF2B5EF4-FFF2-40B4-BE49-F238E27FC236}">
                    <a16:creationId xmlns:a16="http://schemas.microsoft.com/office/drawing/2014/main" id="{6CC00633-A2ED-4E85-98F5-915767F01623}"/>
                  </a:ext>
                </a:extLst>
              </p:cNvPr>
              <p:cNvSpPr/>
              <p:nvPr/>
            </p:nvSpPr>
            <p:spPr>
              <a:xfrm>
                <a:off x="8340407" y="3195654"/>
                <a:ext cx="1023610" cy="55548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dirty="0">
                    <a:solidFill>
                      <a:srgbClr val="1A1A1A"/>
                    </a:solidFill>
                    <a:latin typeface="Malgun Gothic" pitchFamily="34" charset="0"/>
                    <a:ea typeface="Malgun Gothic" pitchFamily="34" charset="-122"/>
                    <a:cs typeface="Malgun Gothic" pitchFamily="34" charset="-120"/>
                  </a:rPr>
                  <a:t>Monitor</a:t>
                </a:r>
              </a:p>
            </p:txBody>
          </p:sp>
          <p:cxnSp>
            <p:nvCxnSpPr>
              <p:cNvPr id="171" name="직선 화살표 연결선 185">
                <a:extLst>
                  <a:ext uri="{FF2B5EF4-FFF2-40B4-BE49-F238E27FC236}">
                    <a16:creationId xmlns:a16="http://schemas.microsoft.com/office/drawing/2014/main" id="{A10F8AFC-DE84-4F55-A9D7-1E2452D3B196}"/>
                  </a:ext>
                </a:extLst>
              </p:cNvPr>
              <p:cNvCxnSpPr>
                <a:cxnSpLocks/>
                <a:stCxn id="169" idx="3"/>
                <a:endCxn id="170" idx="1"/>
              </p:cNvCxnSpPr>
              <p:nvPr/>
            </p:nvCxnSpPr>
            <p:spPr>
              <a:xfrm>
                <a:off x="7929375" y="2750365"/>
                <a:ext cx="411032" cy="723032"/>
              </a:xfrm>
              <a:prstGeom prst="bentConnector3">
                <a:avLst>
                  <a:gd name="adj1" fmla="val 50000"/>
                </a:avLst>
              </a:prstGeom>
              <a:noFill/>
              <a:ln w="9525">
                <a:solidFill>
                  <a:schemeClr val="tx1"/>
                </a:solidFill>
                <a:prstDash val="solid"/>
                <a:headEnd type="none" w="med" len="med"/>
                <a:tailEnd type="triangle" w="med" len="med"/>
              </a:ln>
            </p:spPr>
          </p:cxnSp>
          <p:sp>
            <p:nvSpPr>
              <p:cNvPr id="172" name="Shape 37">
                <a:extLst>
                  <a:ext uri="{FF2B5EF4-FFF2-40B4-BE49-F238E27FC236}">
                    <a16:creationId xmlns:a16="http://schemas.microsoft.com/office/drawing/2014/main" id="{70B458B8-8383-4A34-B3D0-8FE89C2B733A}"/>
                  </a:ext>
                </a:extLst>
              </p:cNvPr>
              <p:cNvSpPr/>
              <p:nvPr/>
            </p:nvSpPr>
            <p:spPr>
              <a:xfrm>
                <a:off x="6561862" y="3253418"/>
                <a:ext cx="1371789" cy="359618"/>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Cost Evaluator</a:t>
                </a:r>
              </a:p>
            </p:txBody>
          </p:sp>
          <p:cxnSp>
            <p:nvCxnSpPr>
              <p:cNvPr id="173" name="직선 화살표 연결선 185">
                <a:extLst>
                  <a:ext uri="{FF2B5EF4-FFF2-40B4-BE49-F238E27FC236}">
                    <a16:creationId xmlns:a16="http://schemas.microsoft.com/office/drawing/2014/main" id="{95D5E7CF-8934-4F6E-B767-D7C6E910F7F6}"/>
                  </a:ext>
                </a:extLst>
              </p:cNvPr>
              <p:cNvCxnSpPr>
                <a:cxnSpLocks/>
                <a:stCxn id="169" idx="2"/>
                <a:endCxn id="172" idx="0"/>
              </p:cNvCxnSpPr>
              <p:nvPr/>
            </p:nvCxnSpPr>
            <p:spPr>
              <a:xfrm>
                <a:off x="7243481" y="2967936"/>
                <a:ext cx="4277" cy="285483"/>
              </a:xfrm>
              <a:prstGeom prst="straightConnector1">
                <a:avLst/>
              </a:prstGeom>
              <a:noFill/>
              <a:ln w="9525">
                <a:solidFill>
                  <a:schemeClr val="tx1"/>
                </a:solidFill>
                <a:prstDash val="solid"/>
                <a:headEnd type="none" w="med" len="med"/>
                <a:tailEnd type="triangle" w="med" len="med"/>
              </a:ln>
            </p:spPr>
          </p:cxnSp>
          <p:sp>
            <p:nvSpPr>
              <p:cNvPr id="174" name="Shape 37">
                <a:extLst>
                  <a:ext uri="{FF2B5EF4-FFF2-40B4-BE49-F238E27FC236}">
                    <a16:creationId xmlns:a16="http://schemas.microsoft.com/office/drawing/2014/main" id="{F35F2B03-9D6C-46EF-9020-017926F86EEA}"/>
                  </a:ext>
                </a:extLst>
              </p:cNvPr>
              <p:cNvSpPr/>
              <p:nvPr/>
            </p:nvSpPr>
            <p:spPr>
              <a:xfrm>
                <a:off x="6334829" y="3810455"/>
                <a:ext cx="1825852" cy="359619"/>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Publisher</a:t>
                </a:r>
              </a:p>
            </p:txBody>
          </p:sp>
          <p:cxnSp>
            <p:nvCxnSpPr>
              <p:cNvPr id="175" name="직선 화살표 연결선 185">
                <a:extLst>
                  <a:ext uri="{FF2B5EF4-FFF2-40B4-BE49-F238E27FC236}">
                    <a16:creationId xmlns:a16="http://schemas.microsoft.com/office/drawing/2014/main" id="{68BFF503-4C29-43B1-9353-9A83B9332F63}"/>
                  </a:ext>
                </a:extLst>
              </p:cNvPr>
              <p:cNvCxnSpPr>
                <a:cxnSpLocks/>
                <a:stCxn id="172" idx="2"/>
                <a:endCxn id="174" idx="0"/>
              </p:cNvCxnSpPr>
              <p:nvPr/>
            </p:nvCxnSpPr>
            <p:spPr>
              <a:xfrm flipH="1">
                <a:off x="7247755" y="3613036"/>
                <a:ext cx="3" cy="197419"/>
              </a:xfrm>
              <a:prstGeom prst="straightConnector1">
                <a:avLst/>
              </a:prstGeom>
              <a:noFill/>
              <a:ln w="11430">
                <a:solidFill>
                  <a:srgbClr val="888C91"/>
                </a:solidFill>
                <a:prstDash val="solid"/>
                <a:headEnd type="none"/>
                <a:tailEnd type="triangle"/>
              </a:ln>
            </p:spPr>
          </p:cxnSp>
        </p:grpSp>
        <p:sp>
          <p:nvSpPr>
            <p:cNvPr id="191" name="Shape 31">
              <a:extLst>
                <a:ext uri="{FF2B5EF4-FFF2-40B4-BE49-F238E27FC236}">
                  <a16:creationId xmlns:a16="http://schemas.microsoft.com/office/drawing/2014/main" id="{7AB93E39-C877-4F6E-91E3-4818D5AD8143}"/>
                </a:ext>
              </a:extLst>
            </p:cNvPr>
            <p:cNvSpPr/>
            <p:nvPr/>
          </p:nvSpPr>
          <p:spPr>
            <a:xfrm>
              <a:off x="10122008"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92" name="Shape 31">
              <a:extLst>
                <a:ext uri="{FF2B5EF4-FFF2-40B4-BE49-F238E27FC236}">
                  <a16:creationId xmlns:a16="http://schemas.microsoft.com/office/drawing/2014/main" id="{0FE145B6-CE91-4FE8-9E63-351A03D67391}"/>
                </a:ext>
              </a:extLst>
            </p:cNvPr>
            <p:cNvSpPr/>
            <p:nvPr/>
          </p:nvSpPr>
          <p:spPr>
            <a:xfrm>
              <a:off x="9538389"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94" name="Shape 31">
              <a:extLst>
                <a:ext uri="{FF2B5EF4-FFF2-40B4-BE49-F238E27FC236}">
                  <a16:creationId xmlns:a16="http://schemas.microsoft.com/office/drawing/2014/main" id="{9355122B-B076-4AD6-8266-92347533977C}"/>
                </a:ext>
              </a:extLst>
            </p:cNvPr>
            <p:cNvSpPr/>
            <p:nvPr/>
          </p:nvSpPr>
          <p:spPr>
            <a:xfrm>
              <a:off x="10723037" y="4233616"/>
              <a:ext cx="597945"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sp>
          <p:nvSpPr>
            <p:cNvPr id="195" name="Shape 31">
              <a:extLst>
                <a:ext uri="{FF2B5EF4-FFF2-40B4-BE49-F238E27FC236}">
                  <a16:creationId xmlns:a16="http://schemas.microsoft.com/office/drawing/2014/main" id="{5B34D1C2-0536-47F9-A4E3-D0D324ADCE23}"/>
                </a:ext>
              </a:extLst>
            </p:cNvPr>
            <p:cNvSpPr/>
            <p:nvPr/>
          </p:nvSpPr>
          <p:spPr>
            <a:xfrm>
              <a:off x="11370490" y="4233616"/>
              <a:ext cx="65774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96" name="직선 화살표 연결선 185">
              <a:extLst>
                <a:ext uri="{FF2B5EF4-FFF2-40B4-BE49-F238E27FC236}">
                  <a16:creationId xmlns:a16="http://schemas.microsoft.com/office/drawing/2014/main" id="{64718AD8-8AEE-402C-9432-118EAEC37816}"/>
                </a:ext>
              </a:extLst>
            </p:cNvPr>
            <p:cNvCxnSpPr>
              <a:cxnSpLocks/>
              <a:stCxn id="188" idx="2"/>
              <a:endCxn id="194" idx="0"/>
            </p:cNvCxnSpPr>
            <p:nvPr/>
          </p:nvCxnSpPr>
          <p:spPr>
            <a:xfrm rot="16200000" flipH="1">
              <a:off x="10700105" y="3911710"/>
              <a:ext cx="321923" cy="321887"/>
            </a:xfrm>
            <a:prstGeom prst="bentConnector3">
              <a:avLst>
                <a:gd name="adj1" fmla="val 50000"/>
              </a:avLst>
            </a:prstGeom>
            <a:noFill/>
            <a:ln w="11430">
              <a:solidFill>
                <a:srgbClr val="888C91"/>
              </a:solidFill>
              <a:prstDash val="solid"/>
              <a:headEnd type="none"/>
              <a:tailEnd type="triangle"/>
            </a:ln>
          </p:spPr>
        </p:cxnSp>
        <p:sp>
          <p:nvSpPr>
            <p:cNvPr id="3310" name="C2 freshness note"/>
            <p:cNvSpPr txBox="1"/>
            <p:nvPr/>
          </p:nvSpPr>
          <p:spPr>
            <a:xfrm>
              <a:off x="7679898" y="4028093"/>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10" name="C2 freshness note">
              <a:extLst>
                <a:ext uri="{FF2B5EF4-FFF2-40B4-BE49-F238E27FC236}">
                  <a16:creationId xmlns:a16="http://schemas.microsoft.com/office/drawing/2014/main" id="{127B7BA2-AF32-48BD-B4B6-6292B5DF4C0B}"/>
                </a:ext>
              </a:extLst>
            </p:cNvPr>
            <p:cNvSpPr txBox="1"/>
            <p:nvPr/>
          </p:nvSpPr>
          <p:spPr>
            <a:xfrm>
              <a:off x="10762871" y="3300036"/>
              <a:ext cx="542659"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13" name="TextBox 112">
              <a:extLst>
                <a:ext uri="{FF2B5EF4-FFF2-40B4-BE49-F238E27FC236}">
                  <a16:creationId xmlns:a16="http://schemas.microsoft.com/office/drawing/2014/main" id="{21A4406A-848C-40A9-8F3E-43EAB95C7998}"/>
                </a:ext>
              </a:extLst>
            </p:cNvPr>
            <p:cNvSpPr txBox="1"/>
            <p:nvPr/>
          </p:nvSpPr>
          <p:spPr>
            <a:xfrm>
              <a:off x="9528263" y="2716734"/>
              <a:ext cx="640080" cy="138499"/>
            </a:xfrm>
            <a:prstGeom prst="rect">
              <a:avLst/>
            </a:prstGeom>
            <a:noFill/>
          </p:spPr>
          <p:txBody>
            <a:bodyPr wrap="square" lIns="0" tIns="0" rIns="0" bIns="0" anchor="ctr">
              <a:spAutoFit/>
            </a:bodyPr>
            <a:lstStyle/>
            <a:p>
              <a:pPr algn="ctr">
                <a:lnSpc>
                  <a:spcPct val="100000"/>
                </a:lnSpc>
              </a:pPr>
              <a:r>
                <a:rPr lang="en-US" sz="900" b="0" i="0" dirty="0">
                  <a:solidFill>
                    <a:srgbClr val="C55A11"/>
                  </a:solidFill>
                  <a:latin typeface="맑은 고딕"/>
                  <a:ea typeface="맑은 고딕"/>
                </a:rPr>
                <a:t>If </a:t>
              </a:r>
              <a:r>
                <a:rPr lang="en-US" sz="900" dirty="0">
                  <a:solidFill>
                    <a:srgbClr val="C55A11"/>
                  </a:solidFill>
                  <a:latin typeface="맑은 고딕"/>
                  <a:ea typeface="맑은 고딕"/>
                </a:rPr>
                <a:t>m</a:t>
              </a:r>
              <a:r>
                <a:rPr lang="en-US" sz="900" b="0" i="0" dirty="0">
                  <a:solidFill>
                    <a:srgbClr val="C55A11"/>
                  </a:solidFill>
                  <a:latin typeface="맑은 고딕"/>
                  <a:ea typeface="맑은 고딕"/>
                </a:rPr>
                <a:t>ismatch</a:t>
              </a:r>
              <a:endParaRPr sz="900" b="0" i="0" dirty="0">
                <a:solidFill>
                  <a:srgbClr val="C55A11"/>
                </a:solidFill>
                <a:latin typeface="맑은 고딕"/>
                <a:ea typeface="맑은 고딕"/>
              </a:endParaRPr>
            </a:p>
          </p:txBody>
        </p:sp>
        <p:sp>
          <p:nvSpPr>
            <p:cNvPr id="162" name="Rectangle 9065">
              <a:extLst>
                <a:ext uri="{FF2B5EF4-FFF2-40B4-BE49-F238E27FC236}">
                  <a16:creationId xmlns:a16="http://schemas.microsoft.com/office/drawing/2014/main" id="{DC0FC1D3-B7E6-42CE-84E0-E28CE1ED44E9}"/>
                </a:ext>
              </a:extLst>
            </p:cNvPr>
            <p:cNvSpPr/>
            <p:nvPr/>
          </p:nvSpPr>
          <p:spPr>
            <a:xfrm>
              <a:off x="6650290" y="2283984"/>
              <a:ext cx="265546" cy="112170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eaVert" lIns="36000" tIns="18000" rIns="36000" bIns="18000" rtlCol="0" anchor="ctr">
              <a:noAutofit/>
            </a:bodyPr>
            <a:lstStyle/>
            <a:p>
              <a:pPr algn="ctr"/>
              <a:r>
                <a:rPr lang="en-US" sz="900" dirty="0">
                  <a:solidFill>
                    <a:schemeClr val="bg1"/>
                  </a:solidFill>
                </a:rPr>
                <a:t>Common Memory</a:t>
              </a:r>
            </a:p>
            <a:p>
              <a:pPr algn="ctr"/>
              <a:r>
                <a:rPr lang="en-US" sz="900" dirty="0">
                  <a:solidFill>
                    <a:schemeClr val="bg1"/>
                  </a:solidFill>
                </a:rPr>
                <a:t> Backend Interface</a:t>
              </a:r>
            </a:p>
          </p:txBody>
        </p:sp>
        <p:cxnSp>
          <p:nvCxnSpPr>
            <p:cNvPr id="177" name="직선 화살표 연결선 185">
              <a:extLst>
                <a:ext uri="{FF2B5EF4-FFF2-40B4-BE49-F238E27FC236}">
                  <a16:creationId xmlns:a16="http://schemas.microsoft.com/office/drawing/2014/main" id="{643E492D-CE08-4786-9B0D-A7E6F1A63A29}"/>
                </a:ext>
              </a:extLst>
            </p:cNvPr>
            <p:cNvCxnSpPr>
              <a:cxnSpLocks/>
              <a:stCxn id="162" idx="3"/>
              <a:endCxn id="169" idx="1"/>
            </p:cNvCxnSpPr>
            <p:nvPr/>
          </p:nvCxnSpPr>
          <p:spPr>
            <a:xfrm flipV="1">
              <a:off x="6915836" y="2840572"/>
              <a:ext cx="208937" cy="4265"/>
            </a:xfrm>
            <a:prstGeom prst="straightConnector1">
              <a:avLst/>
            </a:prstGeom>
            <a:noFill/>
            <a:ln w="11430">
              <a:solidFill>
                <a:srgbClr val="888C91"/>
              </a:solidFill>
              <a:prstDash val="solid"/>
              <a:headEnd type="none"/>
              <a:tailEnd type="triangle"/>
            </a:ln>
          </p:spPr>
        </p:cxnSp>
      </p:grpSp>
      <p:cxnSp>
        <p:nvCxnSpPr>
          <p:cNvPr id="14" name="직선 연결선 13"/>
          <p:cNvCxnSpPr/>
          <p:nvPr/>
        </p:nvCxnSpPr>
        <p:spPr>
          <a:xfrm>
            <a:off x="9348289" y="1809408"/>
            <a:ext cx="0" cy="2790583"/>
          </a:xfrm>
          <a:prstGeom prst="line">
            <a:avLst/>
          </a:prstGeom>
          <a:noFill/>
          <a:ln w="12700">
            <a:solidFill>
              <a:srgbClr val="C76E31"/>
            </a:solidFill>
            <a:prstDash val="dash"/>
          </a:ln>
        </p:spPr>
      </p:cxnSp>
      <p:sp>
        <p:nvSpPr>
          <p:cNvPr id="115" name="모서리가 둥근 직사각형 114"/>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F2 </a:t>
            </a:r>
            <a:r>
              <a:rPr lang="ko-KR" altLang="en-US" sz="700" dirty="0">
                <a:latin typeface="맑은 고딕" panose="020B0503020000020004" pitchFamily="50" charset="-127"/>
              </a:rPr>
              <a:t>추론 스케줄링</a:t>
            </a:r>
          </a:p>
        </p:txBody>
      </p:sp>
      <p:sp>
        <p:nvSpPr>
          <p:cNvPr id="11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17" name="모서리가 둥근 직사각형 37">
            <a:extLst>
              <a:ext uri="{FF2B5EF4-FFF2-40B4-BE49-F238E27FC236}">
                <a16:creationId xmlns:a16="http://schemas.microsoft.com/office/drawing/2014/main" id="{E99FD0CC-4F44-40AB-8E8E-E5E878FDD956}"/>
              </a:ext>
            </a:extLst>
          </p:cNvPr>
          <p:cNvSpPr/>
          <p:nvPr/>
        </p:nvSpPr>
        <p:spPr>
          <a:xfrm>
            <a:off x="9252022"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18" name="모서리가 둥근 직사각형 37">
            <a:extLst>
              <a:ext uri="{FF2B5EF4-FFF2-40B4-BE49-F238E27FC236}">
                <a16:creationId xmlns:a16="http://schemas.microsoft.com/office/drawing/2014/main" id="{63E127C8-1374-4049-8A7A-84E9B191F365}"/>
              </a:ext>
            </a:extLst>
          </p:cNvPr>
          <p:cNvSpPr/>
          <p:nvPr/>
        </p:nvSpPr>
        <p:spPr>
          <a:xfrm>
            <a:off x="10141608" y="821023"/>
            <a:ext cx="942771" cy="155341"/>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Q2 </a:t>
            </a:r>
            <a:r>
              <a:rPr lang="ko-KR" altLang="en-US" sz="700" dirty="0" smtClean="0">
                <a:latin typeface="맑은 고딕" panose="020B0503020000020004" pitchFamily="50" charset="-127"/>
              </a:rPr>
              <a:t>고부하 지연시간</a:t>
            </a:r>
            <a:endParaRPr lang="ko-KR" altLang="en-US" sz="700" dirty="0">
              <a:latin typeface="맑은 고딕" panose="020B0503020000020004" pitchFamily="50" charset="-127"/>
            </a:endParaRPr>
          </a:p>
        </p:txBody>
      </p:sp>
      <p:sp>
        <p:nvSpPr>
          <p:cNvPr id="119" name="모서리가 둥근 직사각형 37">
            <a:extLst>
              <a:ext uri="{FF2B5EF4-FFF2-40B4-BE49-F238E27FC236}">
                <a16:creationId xmlns:a16="http://schemas.microsoft.com/office/drawing/2014/main" id="{8B476E63-C72E-465A-98C8-0CB6FC0C7249}"/>
              </a:ext>
            </a:extLst>
          </p:cNvPr>
          <p:cNvSpPr/>
          <p:nvPr/>
        </p:nvSpPr>
        <p:spPr>
          <a:xfrm>
            <a:off x="11137079"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Q3 </a:t>
            </a:r>
            <a:r>
              <a:rPr lang="ko-KR" altLang="en-US" sz="700" dirty="0" smtClean="0">
                <a:latin typeface="맑은 고딕" panose="020B0503020000020004" pitchFamily="50" charset="-127"/>
              </a:rPr>
              <a:t>확장성</a:t>
            </a:r>
            <a:endParaRPr lang="ko-KR" altLang="en-US" sz="700" dirty="0">
              <a:latin typeface="맑은 고딕" panose="020B0503020000020004" pitchFamily="50" charset="-127"/>
            </a:endParaRPr>
          </a:p>
        </p:txBody>
      </p:sp>
      <p:sp>
        <p:nvSpPr>
          <p:cNvPr id="129" name="모서리가 둥근 직사각형 128"/>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추론 요청 관리</a:t>
            </a:r>
          </a:p>
        </p:txBody>
      </p:sp>
      <p:sp>
        <p:nvSpPr>
          <p:cNvPr id="91" name="실행 단추: 앞으로 또는 다음으로 이동 90">
            <a:hlinkClick r:id="rId3" action="ppaction://hlinksldjump" highlightClick="1"/>
            <a:extLst>
              <a:ext uri="{FF2B5EF4-FFF2-40B4-BE49-F238E27FC236}">
                <a16:creationId xmlns:a16="http://schemas.microsoft.com/office/drawing/2014/main" id="{2F781E54-C2A9-4CF1-9D95-4CC4378F6989}"/>
              </a:ext>
            </a:extLst>
          </p:cNvPr>
          <p:cNvSpPr/>
          <p:nvPr/>
        </p:nvSpPr>
        <p:spPr>
          <a:xfrm>
            <a:off x="645883" y="6347694"/>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2" name="실행 단추: 앞으로 또는 다음 101">
            <a:hlinkClick r:id="rId4" action="ppaction://hlinksldjump" highlightClick="1"/>
            <a:extLst>
              <a:ext uri="{FF2B5EF4-FFF2-40B4-BE49-F238E27FC236}">
                <a16:creationId xmlns:a16="http://schemas.microsoft.com/office/drawing/2014/main" id="{C663284F-7CC3-4744-A191-35C2BE755D86}"/>
              </a:ext>
            </a:extLst>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실행 단추: 앞으로 또는 다음 107">
            <a:hlinkClick r:id="rId5" action="ppaction://hlinksldjump" highlightClick="1"/>
            <a:extLst>
              <a:ext uri="{FF2B5EF4-FFF2-40B4-BE49-F238E27FC236}">
                <a16:creationId xmlns:a16="http://schemas.microsoft.com/office/drawing/2014/main" id="{0C2D7D3F-4CBE-42CC-9639-D4412922C7D0}"/>
              </a:ext>
            </a:extLst>
          </p:cNvPr>
          <p:cNvSpPr/>
          <p:nvPr/>
        </p:nvSpPr>
        <p:spPr>
          <a:xfrm>
            <a:off x="941498" y="1937279"/>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CEDBF6B3-F433-4953-8A1F-84DEA8B576C3}"/>
              </a:ext>
            </a:extLst>
          </p:cNvPr>
          <p:cNvSpPr txBox="1"/>
          <p:nvPr/>
        </p:nvSpPr>
        <p:spPr>
          <a:xfrm>
            <a:off x="298437" y="1948684"/>
            <a:ext cx="730531" cy="230832"/>
          </a:xfrm>
          <a:prstGeom prst="rect">
            <a:avLst/>
          </a:prstGeom>
          <a:noFill/>
        </p:spPr>
        <p:txBody>
          <a:bodyPr wrap="square" rtlCol="0">
            <a:spAutoFit/>
          </a:bodyPr>
          <a:lstStyle>
            <a:defPPr>
              <a:defRPr lang="ko-KR"/>
            </a:defPPr>
            <a:lvl1pPr>
              <a:defRPr sz="1100"/>
            </a:lvl1pPr>
          </a:lstStyle>
          <a:p>
            <a:r>
              <a:rPr lang="en-US" sz="900" dirty="0"/>
              <a:t>Cost </a:t>
            </a:r>
            <a:r>
              <a:rPr lang="ko-KR" altLang="en-US" sz="900" dirty="0"/>
              <a:t>참고</a:t>
            </a:r>
            <a:endParaRPr lang="en-US" sz="900" dirty="0"/>
          </a:p>
        </p:txBody>
      </p:sp>
      <p:sp>
        <p:nvSpPr>
          <p:cNvPr id="97" name="실행 단추: 앞으로 또는 다음 101">
            <a:hlinkClick r:id="rId6" action="ppaction://hlinksldjump" highlightClick="1"/>
            <a:extLst>
              <a:ext uri="{FF2B5EF4-FFF2-40B4-BE49-F238E27FC236}">
                <a16:creationId xmlns:a16="http://schemas.microsoft.com/office/drawing/2014/main" id="{C663284F-7CC3-4744-A191-35C2BE755D86}"/>
              </a:ext>
            </a:extLst>
          </p:cNvPr>
          <p:cNvSpPr/>
          <p:nvPr/>
        </p:nvSpPr>
        <p:spPr>
          <a:xfrm>
            <a:off x="6315895"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모서리가 둥근 직사각형 37">
            <a:extLst>
              <a:ext uri="{FF2B5EF4-FFF2-40B4-BE49-F238E27FC236}">
                <a16:creationId xmlns:a16="http://schemas.microsoft.com/office/drawing/2014/main" id="{476B6E1C-7561-417D-A669-4DEFCE610223}"/>
              </a:ext>
            </a:extLst>
          </p:cNvPr>
          <p:cNvSpPr/>
          <p:nvPr/>
        </p:nvSpPr>
        <p:spPr>
          <a:xfrm>
            <a:off x="7855986" y="801875"/>
            <a:ext cx="110413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smtClean="0">
                <a:latin typeface="맑은 고딕" panose="020B0503020000020004" pitchFamily="50" charset="-127"/>
              </a:rPr>
              <a:t>C2 </a:t>
            </a:r>
            <a:r>
              <a:rPr lang="ko-KR" altLang="en-US" sz="700" dirty="0" smtClean="0">
                <a:latin typeface="맑은 고딕" panose="020B0503020000020004" pitchFamily="50" charset="-127"/>
              </a:rPr>
              <a:t>모델 </a:t>
            </a:r>
            <a:r>
              <a:rPr lang="en-US" altLang="ko-KR" sz="700" dirty="0" smtClean="0">
                <a:latin typeface="맑은 고딕" panose="020B0503020000020004" pitchFamily="50" charset="-127"/>
              </a:rPr>
              <a:t>Context </a:t>
            </a:r>
            <a:r>
              <a:rPr lang="ko-KR" altLang="en-US" sz="700" dirty="0" smtClean="0">
                <a:latin typeface="맑은 고딕" panose="020B0503020000020004" pitchFamily="50" charset="-127"/>
              </a:rPr>
              <a:t>길이</a:t>
            </a:r>
            <a:endParaRPr lang="ko-KR" altLang="en-US" sz="700" dirty="0">
              <a:latin typeface="맑은 고딕" panose="020B0503020000020004" pitchFamily="50" charset="-127"/>
            </a:endParaRPr>
          </a:p>
        </p:txBody>
      </p:sp>
      <p:sp>
        <p:nvSpPr>
          <p:cNvPr id="101" name="모서리가 둥근 직사각형 37">
            <a:extLst>
              <a:ext uri="{FF2B5EF4-FFF2-40B4-BE49-F238E27FC236}">
                <a16:creationId xmlns:a16="http://schemas.microsoft.com/office/drawing/2014/main" id="{476B6E1C-7561-417D-A669-4DEFCE610223}"/>
              </a:ext>
            </a:extLst>
          </p:cNvPr>
          <p:cNvSpPr/>
          <p:nvPr/>
        </p:nvSpPr>
        <p:spPr>
          <a:xfrm>
            <a:off x="7872631"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spTree>
    <p:extLst>
      <p:ext uri="{BB962C8B-B14F-4D97-AF65-F5344CB8AC3E}">
        <p14:creationId xmlns:p14="http://schemas.microsoft.com/office/powerpoint/2010/main" val="317705172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3669804573"/>
              </p:ext>
            </p:extLst>
          </p:nvPr>
        </p:nvGraphicFramePr>
        <p:xfrm>
          <a:off x="304992" y="1061955"/>
          <a:ext cx="11759184" cy="5586495"/>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2836734">
                  <a:extLst>
                    <a:ext uri="{9D8B030D-6E8A-4147-A177-3AD203B41FA5}">
                      <a16:colId xmlns:a16="http://schemas.microsoft.com/office/drawing/2014/main" val="5654497"/>
                    </a:ext>
                  </a:extLst>
                </a:gridCol>
                <a:gridCol w="2165350">
                  <a:extLst>
                    <a:ext uri="{9D8B030D-6E8A-4147-A177-3AD203B41FA5}">
                      <a16:colId xmlns:a16="http://schemas.microsoft.com/office/drawing/2014/main" val="2953438935"/>
                    </a:ext>
                  </a:extLst>
                </a:gridCol>
                <a:gridCol w="3559175">
                  <a:extLst>
                    <a:ext uri="{9D8B030D-6E8A-4147-A177-3AD203B41FA5}">
                      <a16:colId xmlns:a16="http://schemas.microsoft.com/office/drawing/2014/main" val="3070054508"/>
                    </a:ext>
                  </a:extLst>
                </a:gridCol>
                <a:gridCol w="2320101">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(Plan + Decision</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동시 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200" b="1" kern="1200" baseline="0" noProof="0" dirty="0">
                          <a:solidFill>
                            <a:schemeClr val="bg1">
                              <a:lumMod val="50000"/>
                            </a:schemeClr>
                          </a:solidFill>
                          <a:latin typeface="+mn-lt"/>
                          <a:ea typeface="+mn-ea"/>
                          <a:cs typeface="+mn-cs"/>
                        </a:rPr>
                        <a:t>(Plan, Decision </a:t>
                      </a:r>
                      <a:r>
                        <a:rPr lang="ko-KR" altLang="en-US" sz="1200" b="1" kern="1200" baseline="0" noProof="0" dirty="0">
                          <a:solidFill>
                            <a:schemeClr val="bg1">
                              <a:lumMod val="50000"/>
                            </a:schemeClr>
                          </a:solidFill>
                          <a:latin typeface="+mn-lt"/>
                          <a:ea typeface="+mn-ea"/>
                          <a:cs typeface="+mn-cs"/>
                        </a:rPr>
                        <a:t>분리 구조</a:t>
                      </a:r>
                      <a:r>
                        <a:rPr lang="en-US" altLang="ko-KR" sz="1200" b="1" kern="1200" baseline="0" noProof="0" dirty="0">
                          <a:solidFill>
                            <a:schemeClr val="bg1">
                              <a:lumMod val="50000"/>
                            </a:schemeClr>
                          </a:solidFill>
                          <a:latin typeface="+mn-lt"/>
                          <a:ea typeface="+mn-ea"/>
                          <a:cs typeface="+mn-cs"/>
                        </a:rPr>
                        <a:t>)</a:t>
                      </a:r>
                      <a:r>
                        <a:rPr lang="ko-KR" altLang="en-US" sz="1200" b="1" strike="noStrike" baseline="0" dirty="0"/>
                        <a:t> </a:t>
                      </a:r>
                      <a:r>
                        <a:rPr lang="en-US" altLang="ko-KR" sz="1200" b="1" strike="noStrike" kern="1200" baseline="0" noProof="0" dirty="0">
                          <a:solidFill>
                            <a:srgbClr val="0000FF"/>
                          </a:solidFill>
                          <a:latin typeface="+mn-lt"/>
                          <a:ea typeface="+mn-ea"/>
                          <a:cs typeface="+mn-cs"/>
                        </a:rPr>
                        <a:t>+ </a:t>
                      </a:r>
                      <a:r>
                        <a:rPr kumimoji="0" lang="ko-KR" altLang="en-US" sz="1200" b="1" i="0" u="none" strike="noStrike" kern="1200" cap="none" spc="0" normalizeH="0" baseline="0" noProof="0" dirty="0">
                          <a:ln>
                            <a:noFill/>
                          </a:ln>
                          <a:solidFill>
                            <a:srgbClr val="0000FF"/>
                          </a:solidFill>
                          <a:effectLst/>
                          <a:uLnTx/>
                          <a:uFillTx/>
                          <a:latin typeface="+mn-lt"/>
                          <a:ea typeface="맑은 고딕"/>
                          <a:cs typeface="+mn-cs"/>
                        </a:rPr>
                        <a:t>저비용 검증 </a:t>
                      </a:r>
                      <a:endParaRPr lang="en-US" altLang="ko-KR" sz="1050" b="1" kern="1200" baseline="0" noProof="0" dirty="0">
                        <a:solidFill>
                          <a:srgbClr val="0000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2927936">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계획 확정 후 즉시 실행하여</a:t>
                      </a:r>
                      <a:r>
                        <a:rPr lang="en-US" altLang="ko-KR" sz="1200" strike="noStrike" kern="1200" baseline="0" dirty="0">
                          <a:solidFill>
                            <a:schemeClr val="tx1"/>
                          </a:solidFill>
                          <a:effectLst/>
                          <a:latin typeface="+mn-lt"/>
                          <a:ea typeface="+mn-ea"/>
                          <a:cs typeface="+mn-cs"/>
                        </a:rPr>
                        <a:t> </a:t>
                      </a:r>
                      <a:r>
                        <a:rPr lang="en-US" altLang="ko-KR" sz="1200" strike="noStrike" kern="1200" baseline="0" dirty="0" smtClean="0">
                          <a:solidFill>
                            <a:schemeClr val="tx1"/>
                          </a:solidFill>
                          <a:effectLst/>
                          <a:latin typeface="+mn-lt"/>
                          <a:ea typeface="+mn-ea"/>
                          <a:cs typeface="+mn-cs"/>
                        </a:rPr>
                        <a:t>tail latency </a:t>
                      </a:r>
                      <a:r>
                        <a:rPr lang="ko-KR" altLang="en-US" sz="1200" strike="noStrike" kern="1200" baseline="0" dirty="0" smtClean="0">
                          <a:solidFill>
                            <a:schemeClr val="tx1"/>
                          </a:solidFill>
                          <a:effectLst/>
                          <a:latin typeface="+mn-lt"/>
                          <a:ea typeface="+mn-ea"/>
                          <a:cs typeface="+mn-cs"/>
                        </a:rPr>
                        <a:t>완화 </a:t>
                      </a:r>
                      <a:r>
                        <a:rPr lang="en-US" altLang="ko-KR" sz="1200" strike="noStrike" kern="1200" baseline="0" dirty="0" smtClean="0">
                          <a:solidFill>
                            <a:schemeClr val="tx1"/>
                          </a:solidFill>
                          <a:effectLst/>
                          <a:latin typeface="+mn-lt"/>
                          <a:ea typeface="+mn-ea"/>
                          <a:cs typeface="+mn-cs"/>
                        </a:rPr>
                        <a:t>(Q2)</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smtClean="0">
                          <a:solidFill>
                            <a:schemeClr val="tx1"/>
                          </a:solidFill>
                          <a:effectLst/>
                        </a:rPr>
                        <a:t>연산 위치 결정을 </a:t>
                      </a:r>
                      <a:r>
                        <a:rPr lang="en-US" altLang="ko-KR" sz="1200" strike="noStrike" dirty="0" smtClean="0">
                          <a:solidFill>
                            <a:schemeClr val="tx1"/>
                          </a:solidFill>
                          <a:effectLst/>
                        </a:rPr>
                        <a:t>critical path </a:t>
                      </a:r>
                      <a:r>
                        <a:rPr lang="ko-KR" altLang="en-US" sz="1200" strike="noStrike" dirty="0" smtClean="0">
                          <a:solidFill>
                            <a:schemeClr val="tx1"/>
                          </a:solidFill>
                          <a:effectLst/>
                        </a:rPr>
                        <a:t>밖으로 분리하여 </a:t>
                      </a:r>
                      <a:r>
                        <a:rPr lang="ko-KR" altLang="en-US" sz="1200" strike="noStrike" dirty="0" smtClean="0">
                          <a:solidFill>
                            <a:schemeClr val="tx1"/>
                          </a:solidFill>
                          <a:effectLst/>
                        </a:rPr>
                        <a:t>처리량 증가</a:t>
                      </a:r>
                      <a:r>
                        <a:rPr lang="en-US" altLang="ko-KR" sz="1200" strike="noStrike" dirty="0" smtClean="0">
                          <a:solidFill>
                            <a:schemeClr val="tx1"/>
                          </a:solidFill>
                          <a:effectLst/>
                        </a:rPr>
                        <a:t>(</a:t>
                      </a:r>
                      <a:r>
                        <a:rPr lang="en-US" altLang="ko-KR" sz="1200" strike="noStrike" dirty="0" smtClean="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smtClean="0"/>
                        <a:t>연산 자원 증가에 따른 계획 비용 증가에도 오프라인 계획으로 스케줄링 오버헤드 최소화 </a:t>
                      </a:r>
                      <a:r>
                        <a:rPr lang="en-US" altLang="ko-KR" sz="1200" dirty="0" smtClean="0"/>
                        <a:t>(Q3)</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748030">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위치에 인한 </a:t>
                      </a:r>
                      <a:r>
                        <a:rPr lang="en-US" altLang="ko-KR" sz="1200" strike="noStrike" baseline="0" dirty="0">
                          <a:solidFill>
                            <a:schemeClr val="tx1"/>
                          </a:solidFill>
                          <a:effectLst/>
                        </a:rPr>
                        <a:t>decision latency</a:t>
                      </a:r>
                      <a:r>
                        <a:rPr lang="ko-KR" altLang="en-US" sz="1200" strike="noStrike" baseline="0" dirty="0">
                          <a:solidFill>
                            <a:schemeClr val="tx1"/>
                          </a:solidFill>
                          <a:effectLst/>
                        </a:rPr>
                        <a:t>가 </a:t>
                      </a:r>
                      <a:r>
                        <a:rPr lang="en-US" altLang="ko-KR" sz="1200" strike="noStrike" baseline="0" dirty="0">
                          <a:solidFill>
                            <a:schemeClr val="tx1"/>
                          </a:solidFill>
                          <a:effectLst/>
                        </a:rPr>
                        <a:t>critical path</a:t>
                      </a:r>
                      <a:r>
                        <a:rPr lang="ko-KR" altLang="en-US" sz="1200" strike="noStrike" baseline="0" dirty="0">
                          <a:solidFill>
                            <a:schemeClr val="tx1"/>
                          </a:solidFill>
                          <a:effectLst/>
                        </a:rPr>
                        <a:t>에 포함 </a:t>
                      </a:r>
                      <a:r>
                        <a:rPr lang="en-US" altLang="ko-KR" sz="1200" strike="noStrike" baseline="0"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solidFill>
                            <a:schemeClr val="tx1"/>
                          </a:solidFill>
                          <a:effectLst/>
                        </a:rPr>
                        <a:t>연산 자원 증가 </a:t>
                      </a:r>
                      <a:r>
                        <a:rPr lang="ko-KR" altLang="en-US" sz="1200" strike="noStrike" baseline="0" dirty="0">
                          <a:solidFill>
                            <a:schemeClr val="tx1"/>
                          </a:solidFill>
                          <a:effectLst/>
                        </a:rPr>
                        <a:t>시 </a:t>
                      </a:r>
                      <a:r>
                        <a:rPr lang="ko-KR" altLang="en-US" sz="1200" strike="noStrike" baseline="0" dirty="0" smtClean="0">
                          <a:solidFill>
                            <a:schemeClr val="tx1"/>
                          </a:solidFill>
                          <a:effectLst/>
                        </a:rPr>
                        <a:t>계획</a:t>
                      </a:r>
                      <a:r>
                        <a:rPr lang="en-US" altLang="ko-KR" sz="1200" strike="noStrike" baseline="0" dirty="0" smtClean="0">
                          <a:solidFill>
                            <a:schemeClr val="tx1"/>
                          </a:solidFill>
                          <a:effectLst/>
                        </a:rPr>
                        <a:t> </a:t>
                      </a:r>
                      <a:r>
                        <a:rPr lang="ko-KR" altLang="en-US" sz="1200" strike="noStrike" baseline="0" dirty="0">
                          <a:solidFill>
                            <a:schemeClr val="tx1"/>
                          </a:solidFill>
                          <a:effectLst/>
                        </a:rPr>
                        <a:t>비용이 </a:t>
                      </a:r>
                      <a:r>
                        <a:rPr lang="ko-KR" altLang="en-US" sz="1200" strike="noStrike" baseline="0" dirty="0" smtClean="0">
                          <a:solidFill>
                            <a:schemeClr val="tx1"/>
                          </a:solidFill>
                          <a:effectLst/>
                        </a:rPr>
                        <a:t>증가해 스케줄링 지연 발생 가능 </a:t>
                      </a:r>
                      <a:r>
                        <a:rPr lang="en-US" altLang="ko-KR" sz="1200" strike="noStrike" baseline="0" dirty="0" smtClean="0">
                          <a:solidFill>
                            <a:schemeClr val="tx1"/>
                          </a:solidFill>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smtClean="0">
                          <a:solidFill>
                            <a:schemeClr val="tx1"/>
                          </a:solidFill>
                          <a:effectLst/>
                        </a:rPr>
                        <a:t>대규모 고부하 시 </a:t>
                      </a:r>
                      <a:r>
                        <a:rPr lang="en-US" altLang="ko-KR" sz="1200" strike="noStrike" baseline="0" dirty="0" smtClean="0">
                          <a:solidFill>
                            <a:schemeClr val="tx1"/>
                          </a:solidFill>
                          <a:effectLst/>
                        </a:rPr>
                        <a:t>mismatch</a:t>
                      </a:r>
                      <a:r>
                        <a:rPr lang="ko-KR" altLang="en-US" sz="1200" strike="noStrike" baseline="0" dirty="0" smtClean="0">
                          <a:solidFill>
                            <a:schemeClr val="tx1"/>
                          </a:solidFill>
                          <a:effectLst/>
                        </a:rPr>
                        <a:t>로 </a:t>
                      </a:r>
                      <a:r>
                        <a:rPr lang="ko-KR" altLang="en-US" sz="1200" strike="noStrike" baseline="0" dirty="0" err="1" smtClean="0">
                          <a:solidFill>
                            <a:schemeClr val="tx1"/>
                          </a:solidFill>
                          <a:effectLst/>
                        </a:rPr>
                        <a:t>재계획</a:t>
                      </a:r>
                      <a:r>
                        <a:rPr lang="ko-KR" altLang="en-US" sz="1200" strike="noStrike" baseline="0" dirty="0" smtClean="0">
                          <a:solidFill>
                            <a:schemeClr val="tx1"/>
                          </a:solidFill>
                          <a:effectLst/>
                        </a:rPr>
                        <a:t> 발생 빈도 높고</a:t>
                      </a:r>
                      <a:r>
                        <a:rPr lang="en-US" altLang="ko-KR" sz="1200" strike="noStrike" baseline="0" dirty="0" smtClean="0">
                          <a:solidFill>
                            <a:schemeClr val="tx1"/>
                          </a:solidFill>
                          <a:effectLst/>
                        </a:rPr>
                        <a:t>, </a:t>
                      </a:r>
                      <a:r>
                        <a:rPr lang="ko-KR" altLang="en-US" sz="1200" strike="noStrike" baseline="0" dirty="0" err="1" smtClean="0">
                          <a:solidFill>
                            <a:schemeClr val="tx1"/>
                          </a:solidFill>
                          <a:effectLst/>
                        </a:rPr>
                        <a:t>재계획</a:t>
                      </a:r>
                      <a:r>
                        <a:rPr lang="ko-KR" altLang="en-US" sz="1200" strike="noStrike" baseline="0" dirty="0" smtClean="0">
                          <a:solidFill>
                            <a:schemeClr val="tx1"/>
                          </a:solidFill>
                          <a:effectLst/>
                        </a:rPr>
                        <a:t> 시 기존 </a:t>
                      </a:r>
                      <a:r>
                        <a:rPr lang="en-US" altLang="ko-KR" sz="1200" strike="noStrike" baseline="0" dirty="0" smtClean="0">
                          <a:solidFill>
                            <a:schemeClr val="tx1"/>
                          </a:solidFill>
                          <a:effectLst/>
                        </a:rPr>
                        <a:t>Execution Planner</a:t>
                      </a:r>
                      <a:r>
                        <a:rPr lang="ko-KR" altLang="en-US" sz="1200" strike="noStrike" baseline="0" dirty="0" smtClean="0">
                          <a:solidFill>
                            <a:schemeClr val="tx1"/>
                          </a:solidFill>
                          <a:effectLst/>
                        </a:rPr>
                        <a:t>의 작업 완료 대기로 지연 발생 </a:t>
                      </a:r>
                      <a:r>
                        <a:rPr lang="en-US" altLang="ko-KR" sz="1200" strike="noStrike" baseline="0" dirty="0" smtClean="0">
                          <a:solidFill>
                            <a:schemeClr val="tx1"/>
                          </a:solidFill>
                          <a:effectLst/>
                        </a:rPr>
                        <a:t>(Q2) </a:t>
                      </a:r>
                    </a:p>
                    <a:p>
                      <a:pPr marL="228600" indent="-228600">
                        <a:lnSpc>
                          <a:spcPct val="100000"/>
                        </a:lnSpc>
                        <a:spcAft>
                          <a:spcPts val="200"/>
                        </a:spcAft>
                        <a:buFont typeface="Arial" pitchFamily="34" charset="0"/>
                        <a:buAutoNum type="arabicPeriod"/>
                      </a:pPr>
                      <a:r>
                        <a:rPr lang="ko-KR" altLang="en-US" sz="1200" dirty="0" smtClean="0">
                          <a:solidFill>
                            <a:srgbClr val="0000FF"/>
                          </a:solidFill>
                          <a:latin typeface="+mn-lt"/>
                          <a:ea typeface="맑은 고딕"/>
                        </a:rPr>
                        <a:t>여러 </a:t>
                      </a:r>
                      <a:r>
                        <a:rPr lang="ko-KR" altLang="en-US" sz="1200" dirty="0">
                          <a:solidFill>
                            <a:srgbClr val="0000FF"/>
                          </a:solidFill>
                          <a:latin typeface="+mn-lt"/>
                          <a:ea typeface="맑은 고딕"/>
                        </a:rPr>
                        <a:t>안을 계획해서 </a:t>
                      </a:r>
                      <a:r>
                        <a:rPr lang="en-US" altLang="ko-KR" sz="1200" dirty="0">
                          <a:solidFill>
                            <a:srgbClr val="0000FF"/>
                          </a:solidFill>
                          <a:latin typeface="+mn-lt"/>
                          <a:ea typeface="맑은 고딕"/>
                        </a:rPr>
                        <a:t>Mismatch</a:t>
                      </a:r>
                      <a:r>
                        <a:rPr lang="ko-KR" altLang="en-US" sz="1200" dirty="0">
                          <a:solidFill>
                            <a:srgbClr val="0000FF"/>
                          </a:solidFill>
                          <a:latin typeface="+mn-lt"/>
                          <a:ea typeface="맑은 고딕"/>
                        </a:rPr>
                        <a:t>시 </a:t>
                      </a:r>
                      <a:r>
                        <a:rPr lang="en-US" altLang="ko-KR" sz="1200" dirty="0">
                          <a:solidFill>
                            <a:srgbClr val="0000FF"/>
                          </a:solidFill>
                          <a:latin typeface="+mn-lt"/>
                          <a:ea typeface="맑은 고딕"/>
                        </a:rPr>
                        <a:t>Cost </a:t>
                      </a:r>
                      <a:r>
                        <a:rPr lang="ko-KR" altLang="en-US" sz="1200" dirty="0">
                          <a:solidFill>
                            <a:srgbClr val="0000FF"/>
                          </a:solidFill>
                          <a:latin typeface="+mn-lt"/>
                          <a:ea typeface="맑은 고딕"/>
                        </a:rPr>
                        <a:t>재계산 없이 순차적 구간 조회 </a:t>
                      </a:r>
                      <a:r>
                        <a:rPr lang="en-US" altLang="ko-KR" sz="1200" dirty="0">
                          <a:solidFill>
                            <a:srgbClr val="0000FF"/>
                          </a:solidFill>
                          <a:latin typeface="+mn-lt"/>
                          <a:ea typeface="맑은 고딕"/>
                        </a:rPr>
                        <a:t>(k)</a:t>
                      </a:r>
                    </a:p>
                    <a:p>
                      <a:pPr marL="228600" indent="-228600">
                        <a:lnSpc>
                          <a:spcPct val="100000"/>
                        </a:lnSpc>
                        <a:spcAft>
                          <a:spcPts val="200"/>
                        </a:spcAft>
                        <a:buFont typeface="Arial" pitchFamily="34" charset="0"/>
                        <a:buAutoNum type="arabicPeriod"/>
                      </a:pPr>
                      <a:r>
                        <a:rPr lang="ko-KR" altLang="en-US" sz="1200" dirty="0">
                          <a:solidFill>
                            <a:srgbClr val="0000FF"/>
                          </a:solidFill>
                          <a:latin typeface="+mn-lt"/>
                          <a:ea typeface="맑은 고딕"/>
                        </a:rPr>
                        <a:t>요청이 </a:t>
                      </a:r>
                      <a:r>
                        <a:rPr lang="en-US" altLang="ko-KR" sz="1200" b="0" i="0" dirty="0">
                          <a:solidFill>
                            <a:srgbClr val="0000FF"/>
                          </a:solidFill>
                          <a:latin typeface="+mn-lt"/>
                          <a:ea typeface="맑은 고딕"/>
                        </a:rPr>
                        <a:t>Queue</a:t>
                      </a:r>
                      <a:r>
                        <a:rPr lang="ko-KR" altLang="en-US" sz="1200" b="0" i="0" dirty="0">
                          <a:solidFill>
                            <a:srgbClr val="0000FF"/>
                          </a:solidFill>
                          <a:latin typeface="+mn-lt"/>
                          <a:ea typeface="맑은 고딕"/>
                        </a:rPr>
                        <a:t>에 </a:t>
                      </a:r>
                      <a:r>
                        <a:rPr lang="ko-KR" altLang="en-US" sz="1200" dirty="0">
                          <a:solidFill>
                            <a:srgbClr val="0000FF"/>
                          </a:solidFill>
                          <a:latin typeface="+mn-lt"/>
                          <a:ea typeface="맑은 고딕"/>
                        </a:rPr>
                        <a:t>도착 즉시가 아니라 </a:t>
                      </a:r>
                      <a:r>
                        <a:rPr lang="en-US" altLang="ko-KR" sz="1200" dirty="0">
                          <a:solidFill>
                            <a:srgbClr val="0000FF"/>
                          </a:solidFill>
                          <a:latin typeface="+mn-lt"/>
                          <a:ea typeface="맑은 고딕"/>
                        </a:rPr>
                        <a:t>head</a:t>
                      </a:r>
                      <a:r>
                        <a:rPr lang="ko-KR" altLang="en-US" sz="1200" dirty="0">
                          <a:solidFill>
                            <a:srgbClr val="0000FF"/>
                          </a:solidFill>
                          <a:latin typeface="+mn-lt"/>
                          <a:ea typeface="맑은 고딕"/>
                        </a:rPr>
                        <a:t>로부터 </a:t>
                      </a:r>
                      <a:r>
                        <a:rPr lang="en-US" altLang="ko-KR" sz="1200" dirty="0">
                          <a:solidFill>
                            <a:srgbClr val="0000FF"/>
                          </a:solidFill>
                          <a:latin typeface="+mn-lt"/>
                          <a:ea typeface="맑은 고딕"/>
                        </a:rPr>
                        <a:t>W </a:t>
                      </a:r>
                      <a:r>
                        <a:rPr lang="ko-KR" altLang="en-US" sz="1200" dirty="0">
                          <a:solidFill>
                            <a:srgbClr val="0000FF"/>
                          </a:solidFill>
                          <a:latin typeface="+mn-lt"/>
                          <a:ea typeface="맑은 고딕"/>
                        </a:rPr>
                        <a:t>슬롯 안에 들어올 때 계획 </a:t>
                      </a:r>
                      <a:endParaRPr lang="en-US" altLang="ko-KR" sz="1200" dirty="0">
                        <a:solidFill>
                          <a:srgbClr val="0000FF"/>
                        </a:solidFill>
                        <a:latin typeface="+mn-lt"/>
                        <a:ea typeface="맑은 고딕"/>
                      </a:endParaRPr>
                    </a:p>
                    <a:p>
                      <a:pPr marL="228600" indent="-228600">
                        <a:lnSpc>
                          <a:spcPct val="100000"/>
                        </a:lnSpc>
                        <a:spcAft>
                          <a:spcPts val="200"/>
                        </a:spcAft>
                        <a:buFont typeface="Arial" pitchFamily="34" charset="0"/>
                        <a:buAutoNum type="arabicPeriod"/>
                      </a:pPr>
                      <a:r>
                        <a:rPr lang="en-US" altLang="ko-KR" sz="1200" dirty="0">
                          <a:solidFill>
                            <a:srgbClr val="0000FF"/>
                          </a:solidFill>
                          <a:latin typeface="+mn-lt"/>
                          <a:ea typeface="맑은 고딕"/>
                        </a:rPr>
                        <a:t>L</a:t>
                      </a:r>
                      <a:r>
                        <a:rPr lang="en-US" altLang="ko-KR" sz="1200" b="0" i="0" dirty="0">
                          <a:solidFill>
                            <a:srgbClr val="0000FF"/>
                          </a:solidFill>
                          <a:latin typeface="+mn-lt"/>
                          <a:ea typeface="맑은 고딕"/>
                        </a:rPr>
                        <a:t>oad</a:t>
                      </a:r>
                      <a:r>
                        <a:rPr lang="ko-KR" altLang="en-US" sz="1200" b="0" i="0" dirty="0">
                          <a:solidFill>
                            <a:srgbClr val="0000FF"/>
                          </a:solidFill>
                          <a:latin typeface="+mn-lt"/>
                          <a:ea typeface="맑은 고딕"/>
                        </a:rPr>
                        <a:t>↑ → </a:t>
                      </a:r>
                      <a:r>
                        <a:rPr lang="en-US" altLang="ko-KR" sz="1200" b="0" i="0" dirty="0" err="1">
                          <a:solidFill>
                            <a:srgbClr val="0000FF"/>
                          </a:solidFill>
                          <a:latin typeface="+mn-lt"/>
                          <a:ea typeface="맑은 고딕"/>
                        </a:rPr>
                        <a:t>W↓k</a:t>
                      </a:r>
                      <a:r>
                        <a:rPr lang="ko-KR" altLang="en-US" sz="1200" b="0" i="0" dirty="0">
                          <a:solidFill>
                            <a:srgbClr val="0000FF"/>
                          </a:solidFill>
                          <a:latin typeface="+mn-lt"/>
                          <a:ea typeface="맑은 고딕"/>
                        </a:rPr>
                        <a:t>↑</a:t>
                      </a:r>
                      <a:r>
                        <a:rPr lang="en-US" altLang="ko-KR" sz="1200" b="0" i="0" dirty="0">
                          <a:solidFill>
                            <a:srgbClr val="0000FF"/>
                          </a:solidFill>
                          <a:latin typeface="+mn-lt"/>
                          <a:ea typeface="맑은 고딕"/>
                        </a:rPr>
                        <a:t>(</a:t>
                      </a:r>
                      <a:r>
                        <a:rPr lang="ko-KR" altLang="en-US" sz="1200" b="0" i="0" dirty="0">
                          <a:solidFill>
                            <a:srgbClr val="0000FF"/>
                          </a:solidFill>
                          <a:latin typeface="+mn-lt"/>
                          <a:ea typeface="맑은 고딕"/>
                        </a:rPr>
                        <a:t>계획을 짧고 넓게</a:t>
                      </a:r>
                      <a:r>
                        <a:rPr lang="en-US" altLang="ko-KR" sz="1200" b="0" i="0" dirty="0">
                          <a:solidFill>
                            <a:srgbClr val="0000FF"/>
                          </a:solidFill>
                          <a:latin typeface="+mn-lt"/>
                          <a:ea typeface="맑은 고딕"/>
                        </a:rPr>
                        <a:t>), Load</a:t>
                      </a:r>
                      <a:r>
                        <a:rPr lang="ko-KR" altLang="en-US" sz="1200" b="0" i="0" dirty="0">
                          <a:solidFill>
                            <a:srgbClr val="0000FF"/>
                          </a:solidFill>
                          <a:latin typeface="+mn-lt"/>
                          <a:ea typeface="맑은 고딕"/>
                        </a:rPr>
                        <a:t>↓ → </a:t>
                      </a:r>
                      <a:r>
                        <a:rPr lang="en-US" altLang="ko-KR" sz="1200" dirty="0" err="1">
                          <a:solidFill>
                            <a:srgbClr val="0000FF"/>
                          </a:solidFill>
                          <a:latin typeface="+mn-lt"/>
                          <a:ea typeface="맑은 고딕"/>
                        </a:rPr>
                        <a:t>W↑k</a:t>
                      </a:r>
                      <a:r>
                        <a:rPr lang="ko-KR" altLang="en-US" sz="1200" dirty="0">
                          <a:solidFill>
                            <a:srgbClr val="0000FF"/>
                          </a:solidFill>
                          <a:latin typeface="+mn-lt"/>
                          <a:ea typeface="맑은 고딕"/>
                        </a:rPr>
                        <a:t>↓</a:t>
                      </a:r>
                      <a:r>
                        <a:rPr lang="en-US" altLang="ko-KR" sz="1200" dirty="0">
                          <a:solidFill>
                            <a:srgbClr val="0000FF"/>
                          </a:solidFill>
                          <a:latin typeface="+mn-lt"/>
                          <a:ea typeface="맑은 고딕"/>
                        </a:rPr>
                        <a:t>(</a:t>
                      </a:r>
                      <a:r>
                        <a:rPr lang="ko-KR" altLang="en-US" sz="1200" dirty="0">
                          <a:solidFill>
                            <a:srgbClr val="0000FF"/>
                          </a:solidFill>
                          <a:latin typeface="+mn-lt"/>
                          <a:ea typeface="맑은 고딕"/>
                        </a:rPr>
                        <a:t>완전 사전 계획</a:t>
                      </a:r>
                      <a:r>
                        <a:rPr lang="en-US" altLang="ko-KR" sz="1200" dirty="0">
                          <a:solidFill>
                            <a:srgbClr val="0000FF"/>
                          </a:solidFill>
                          <a:latin typeface="+mn-lt"/>
                          <a:ea typeface="맑은 고딕"/>
                        </a:rPr>
                        <a:t>)</a:t>
                      </a:r>
                      <a:endParaRPr lang="ko-KR" altLang="en-US" sz="1200" b="0" i="0" dirty="0">
                        <a:solidFill>
                          <a:srgbClr val="0000FF"/>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4.05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q/s (2.3x)</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3.27 s (-57%)</a:t>
                      </a:r>
                      <a:endParaRPr kumimoji="0" lang="en-US" altLang="ko-KR" sz="14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prstClr val="white">
                              <a:lumMod val="50000"/>
                            </a:prstClr>
                          </a:solidFill>
                          <a:effectLst/>
                          <a:uLnTx/>
                          <a:uFillTx/>
                          <a:latin typeface="+mn-lt"/>
                          <a:ea typeface="맑은 고딕"/>
                          <a:cs typeface="+mn-cs"/>
                        </a:rPr>
                        <a:t>93 %</a:t>
                      </a:r>
                      <a:endParaRPr kumimoji="0" lang="en-US" altLang="ko-KR" sz="1400" b="0" i="0" u="none" strike="noStrike" kern="1200" cap="none" spc="0" normalizeH="0" baseline="0" noProof="0" dirty="0">
                        <a:ln>
                          <a:noFill/>
                        </a:ln>
                        <a:solidFill>
                          <a:prstClr val="white">
                            <a:lumMod val="50000"/>
                          </a:prstClr>
                        </a:solidFill>
                        <a:effectLst/>
                        <a:uLnTx/>
                        <a:uFillTx/>
                        <a:latin typeface="+mn-lt"/>
                        <a:ea typeface="맑은 고딕"/>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smtClean="0">
                          <a:ln>
                            <a:noFill/>
                          </a:ln>
                          <a:solidFill>
                            <a:prstClr val="black"/>
                          </a:solidFill>
                          <a:effectLst/>
                          <a:uLnTx/>
                          <a:uFillTx/>
                          <a:latin typeface="+mn-lt"/>
                          <a:ea typeface="+mn-ea"/>
                          <a:cs typeface="+mn-cs"/>
                        </a:rPr>
                        <a:t>처리량</a:t>
                      </a:r>
                      <a:endParaRPr kumimoji="0" lang="en-US" altLang="ko-KR" sz="1000" b="0" i="0" u="none" strike="noStrike" kern="1200" cap="none" spc="0" normalizeH="0" baseline="0" noProof="0" dirty="0" smtClean="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smtClean="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smtClean="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6.51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q/s (3.7x)</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srgbClr val="0000FF"/>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srgbClr val="0000FF"/>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5.17s(-32%) </a:t>
                      </a:r>
                      <a:r>
                        <a:rPr kumimoji="0" lang="en-US" altLang="ko-KR" sz="900" b="0" i="0" u="none" strike="noStrike" kern="1200" cap="none" spc="0" normalizeH="0" baseline="0" noProof="0" dirty="0" smtClean="0">
                          <a:ln>
                            <a:noFill/>
                          </a:ln>
                          <a:solidFill>
                            <a:srgbClr val="0000FF"/>
                          </a:solidFill>
                          <a:effectLst/>
                          <a:uLnTx/>
                          <a:uFillTx/>
                          <a:latin typeface="+mn-lt"/>
                          <a:ea typeface="맑은 고딕"/>
                          <a:cs typeface="+mn-cs"/>
                        </a:rPr>
                        <a:t>→ 3.27s(-</a:t>
                      </a:r>
                      <a:r>
                        <a:rPr kumimoji="0" lang="en-US" altLang="ko-KR" sz="900" b="0" i="0" u="none" strike="noStrike" kern="1200" cap="none" spc="0" normalizeH="0" baseline="0" noProof="0" dirty="0" smtClean="0">
                          <a:ln>
                            <a:noFill/>
                          </a:ln>
                          <a:solidFill>
                            <a:srgbClr val="0000FF"/>
                          </a:solidFill>
                          <a:effectLst/>
                          <a:uLnTx/>
                          <a:uFillTx/>
                          <a:latin typeface="+mn-lt"/>
                          <a:ea typeface="맑은 고딕"/>
                          <a:cs typeface="+mn-cs"/>
                        </a:rPr>
                        <a:t>57%)</a:t>
                      </a:r>
                      <a:endParaRPr kumimoji="0" lang="en-US" altLang="ko-KR" sz="1200" b="0" i="0" u="none" strike="noStrike" kern="1200" cap="none" spc="0" normalizeH="0" baseline="0" noProof="0" dirty="0" smtClean="0">
                        <a:ln>
                          <a:noFill/>
                        </a:ln>
                        <a:solidFill>
                          <a:srgbClr val="0000FF"/>
                        </a:solidFill>
                        <a:effectLst/>
                        <a:uLnTx/>
                        <a:uFillTx/>
                        <a:latin typeface="맑은 고딕" panose="020B0503020000020004" pitchFamily="50" charset="-127"/>
                        <a:ea typeface="+mn-ea"/>
                        <a:cs typeface="+mn-cs"/>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prstClr val="white">
                              <a:lumMod val="50000"/>
                            </a:prstClr>
                          </a:solidFill>
                          <a:effectLst/>
                          <a:uLnTx/>
                          <a:uFillTx/>
                          <a:latin typeface="+mn-lt"/>
                          <a:ea typeface="맑은 고딕"/>
                          <a:cs typeface="+mn-cs"/>
                        </a:rPr>
                        <a:t>91 %</a:t>
                      </a:r>
                      <a:endParaRPr kumimoji="0" lang="en-US" altLang="ko-KR" sz="1400" b="0" i="0" u="none" strike="noStrike" kern="1200" cap="none" spc="0" normalizeH="0" baseline="0" noProof="0" dirty="0">
                        <a:ln>
                          <a:noFill/>
                        </a:ln>
                        <a:solidFill>
                          <a:prstClr val="white">
                            <a:lumMod val="50000"/>
                          </a:prstClr>
                        </a:solidFill>
                        <a:effectLst/>
                        <a:uLnTx/>
                        <a:uFillTx/>
                        <a:latin typeface="+mn-lt"/>
                        <a:ea typeface="맑은 고딕"/>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8108381" cy="365125"/>
          </a:xfrm>
        </p:spPr>
        <p:txBody>
          <a:bodyPr/>
          <a:lstStyle/>
          <a:p>
            <a:r>
              <a:rPr lang="en-US" altLang="ko-KR" dirty="0"/>
              <a:t>DP2. </a:t>
            </a:r>
            <a:r>
              <a:rPr lang="ko-KR" altLang="en-US" dirty="0"/>
              <a:t>연산</a:t>
            </a:r>
            <a:r>
              <a:rPr lang="en-US" altLang="ko-KR" dirty="0"/>
              <a:t>(Prefill/Decode)</a:t>
            </a:r>
            <a:r>
              <a:rPr lang="ko-KR" altLang="en-US" dirty="0"/>
              <a:t> 실행 위치 </a:t>
            </a:r>
            <a:r>
              <a:rPr lang="ko-KR" altLang="en-US" dirty="0" smtClean="0"/>
              <a:t>결정 구조 </a:t>
            </a:r>
            <a:r>
              <a:rPr lang="en-US" altLang="ko-KR" dirty="0" smtClean="0"/>
              <a:t>– </a:t>
            </a:r>
            <a:r>
              <a:rPr lang="ko-KR" altLang="en-US" dirty="0">
                <a:solidFill>
                  <a:srgbClr val="0000FF"/>
                </a:solidFill>
              </a:rPr>
              <a:t>보완 </a:t>
            </a:r>
            <a:r>
              <a:rPr lang="en-US" altLang="ko-KR" dirty="0">
                <a:solidFill>
                  <a:srgbClr val="0000FF"/>
                </a:solidFill>
              </a:rPr>
              <a:t>Tactic </a:t>
            </a:r>
            <a:endParaRPr lang="ko-KR" altLang="en-US" dirty="0">
              <a:solidFill>
                <a:srgbClr val="0000FF"/>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처리량</a:t>
            </a:r>
            <a:r>
              <a:rPr lang="en-US" altLang="ko-KR" sz="1400" b="1" dirty="0">
                <a:solidFill>
                  <a:schemeClr val="bg1"/>
                </a:solidFill>
              </a:rPr>
              <a:t>, </a:t>
            </a:r>
            <a:r>
              <a:rPr lang="ko-KR" altLang="en-US" sz="1400" b="1" dirty="0">
                <a:solidFill>
                  <a:schemeClr val="bg1"/>
                </a:solidFill>
              </a:rPr>
              <a:t>지연</a:t>
            </a:r>
            <a:r>
              <a:rPr lang="en-US" altLang="ko-KR" sz="1400" b="1" dirty="0">
                <a:solidFill>
                  <a:schemeClr val="bg1"/>
                </a:solidFill>
              </a:rPr>
              <a:t>, </a:t>
            </a:r>
            <a:r>
              <a:rPr lang="ko-KR" altLang="en-US" sz="1400" b="1" dirty="0">
                <a:solidFill>
                  <a:schemeClr val="bg1"/>
                </a:solidFill>
              </a:rPr>
              <a:t>시스템 확장성을 고려한 연산 실행 위치 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62983"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연산 실행 위치 결정 </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grpSp>
        <p:nvGrpSpPr>
          <p:cNvPr id="130" name="그룹 129">
            <a:extLst>
              <a:ext uri="{FF2B5EF4-FFF2-40B4-BE49-F238E27FC236}">
                <a16:creationId xmlns:a16="http://schemas.microsoft.com/office/drawing/2014/main" id="{CA2D3743-1992-478F-B82E-9DE9B085B94D}"/>
              </a:ext>
            </a:extLst>
          </p:cNvPr>
          <p:cNvGrpSpPr/>
          <p:nvPr/>
        </p:nvGrpSpPr>
        <p:grpSpPr>
          <a:xfrm>
            <a:off x="334761" y="3136866"/>
            <a:ext cx="822008" cy="1106192"/>
            <a:chOff x="269738" y="3554621"/>
            <a:chExt cx="822008" cy="1106192"/>
          </a:xfrm>
        </p:grpSpPr>
        <p:sp>
          <p:nvSpPr>
            <p:cNvPr id="131" name="KV Cache Manager">
              <a:extLst>
                <a:ext uri="{FF2B5EF4-FFF2-40B4-BE49-F238E27FC236}">
                  <a16:creationId xmlns:a16="http://schemas.microsoft.com/office/drawing/2014/main" id="{97729FA2-8208-495A-88B5-6AB9793CB4B9}"/>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2" name="KV Cache Manager">
              <a:extLst>
                <a:ext uri="{FF2B5EF4-FFF2-40B4-BE49-F238E27FC236}">
                  <a16:creationId xmlns:a16="http://schemas.microsoft.com/office/drawing/2014/main" id="{5E4E7F90-5323-48ED-A793-E537EC85E83D}"/>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4" name="KV Cache Manager">
              <a:extLst>
                <a:ext uri="{FF2B5EF4-FFF2-40B4-BE49-F238E27FC236}">
                  <a16:creationId xmlns:a16="http://schemas.microsoft.com/office/drawing/2014/main" id="{F1372DCD-DBB8-422B-8D97-E7C565A45741}"/>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bg1"/>
                  </a:solidFill>
                </a:rPr>
                <a:t>타</a:t>
              </a:r>
              <a:r>
                <a:rPr lang="en-US" altLang="ko-KR" sz="800" b="1" dirty="0">
                  <a:solidFill>
                    <a:schemeClr val="bg1"/>
                  </a:solidFill>
                </a:rPr>
                <a:t> </a:t>
              </a:r>
              <a:r>
                <a:rPr lang="ko-KR" altLang="en-US" sz="800" b="1" dirty="0">
                  <a:solidFill>
                    <a:schemeClr val="bg1"/>
                  </a:solidFill>
                </a:rPr>
                <a:t>모듈</a:t>
              </a:r>
              <a:r>
                <a:rPr lang="en-US" altLang="ko-KR" sz="800" b="1" dirty="0">
                  <a:solidFill>
                    <a:schemeClr val="bg1"/>
                  </a:solidFill>
                </a:rPr>
                <a:t> I/F</a:t>
              </a:r>
              <a:endParaRPr lang="ko-KR" altLang="en-US" sz="800" b="1" dirty="0">
                <a:solidFill>
                  <a:schemeClr val="bg1"/>
                </a:solidFill>
              </a:endParaRPr>
            </a:p>
          </p:txBody>
        </p:sp>
        <p:sp>
          <p:nvSpPr>
            <p:cNvPr id="135" name="직사각형 134">
              <a:extLst>
                <a:ext uri="{FF2B5EF4-FFF2-40B4-BE49-F238E27FC236}">
                  <a16:creationId xmlns:a16="http://schemas.microsoft.com/office/drawing/2014/main" id="{33666AC1-1D1F-4D44-8ABD-9FC7C996F49A}"/>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7" name="KV Cache Manager">
              <a:extLst>
                <a:ext uri="{FF2B5EF4-FFF2-40B4-BE49-F238E27FC236}">
                  <a16:creationId xmlns:a16="http://schemas.microsoft.com/office/drawing/2014/main" id="{3DAC31F2-953F-4F50-9270-4AC41B0280B9}"/>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5" name="직사각형 114">
            <a:extLst>
              <a:ext uri="{FF2B5EF4-FFF2-40B4-BE49-F238E27FC236}">
                <a16:creationId xmlns:a16="http://schemas.microsoft.com/office/drawing/2014/main" id="{6E2B7273-A609-42E8-9B1D-ED211C704AFC}"/>
              </a:ext>
            </a:extLst>
          </p:cNvPr>
          <p:cNvSpPr/>
          <p:nvPr/>
        </p:nvSpPr>
        <p:spPr>
          <a:xfrm>
            <a:off x="6125252" y="1053935"/>
            <a:ext cx="5989442" cy="57094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p:cNvGrpSpPr/>
          <p:nvPr/>
        </p:nvGrpSpPr>
        <p:grpSpPr>
          <a:xfrm>
            <a:off x="6236792" y="1589059"/>
            <a:ext cx="5760721" cy="2680725"/>
            <a:chOff x="6783687" y="1726402"/>
            <a:chExt cx="5237019" cy="2789573"/>
          </a:xfrm>
        </p:grpSpPr>
        <p:sp>
          <p:nvSpPr>
            <p:cNvPr id="116" name="Shape 31">
              <a:extLst>
                <a:ext uri="{FF2B5EF4-FFF2-40B4-BE49-F238E27FC236}">
                  <a16:creationId xmlns:a16="http://schemas.microsoft.com/office/drawing/2014/main" id="{76AB0CFB-9315-4F87-BDDA-11D011BB00D3}"/>
                </a:ext>
              </a:extLst>
            </p:cNvPr>
            <p:cNvSpPr/>
            <p:nvPr/>
          </p:nvSpPr>
          <p:spPr>
            <a:xfrm>
              <a:off x="7519638" y="201536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117" name="원통 5">
              <a:extLst>
                <a:ext uri="{FF2B5EF4-FFF2-40B4-BE49-F238E27FC236}">
                  <a16:creationId xmlns:a16="http://schemas.microsoft.com/office/drawing/2014/main" id="{607D3B1A-A13D-4B9F-A6DE-E266ED68AFC3}"/>
                </a:ext>
              </a:extLst>
            </p:cNvPr>
            <p:cNvSpPr/>
            <p:nvPr/>
          </p:nvSpPr>
          <p:spPr>
            <a:xfrm>
              <a:off x="7954418" y="3861869"/>
              <a:ext cx="1005895" cy="273732"/>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18" name="직선 화살표 연결선 185">
              <a:extLst>
                <a:ext uri="{FF2B5EF4-FFF2-40B4-BE49-F238E27FC236}">
                  <a16:creationId xmlns:a16="http://schemas.microsoft.com/office/drawing/2014/main" id="{7AFE4BD9-002D-4D76-9079-6287254D9FC3}"/>
                </a:ext>
              </a:extLst>
            </p:cNvPr>
            <p:cNvCxnSpPr>
              <a:cxnSpLocks/>
            </p:cNvCxnSpPr>
            <p:nvPr/>
          </p:nvCxnSpPr>
          <p:spPr>
            <a:xfrm flipH="1">
              <a:off x="8136598" y="3609825"/>
              <a:ext cx="127" cy="242833"/>
            </a:xfrm>
            <a:prstGeom prst="straightConnector1">
              <a:avLst/>
            </a:prstGeom>
            <a:noFill/>
            <a:ln w="12700">
              <a:solidFill>
                <a:srgbClr val="C76E31"/>
              </a:solidFill>
              <a:prstDash val="solid"/>
              <a:headEnd type="none" w="med" len="med"/>
              <a:tailEnd type="triangle" w="med" len="med"/>
            </a:ln>
          </p:spPr>
        </p:cxnSp>
        <p:cxnSp>
          <p:nvCxnSpPr>
            <p:cNvPr id="119" name="직선 화살표 연결선 185">
              <a:extLst>
                <a:ext uri="{FF2B5EF4-FFF2-40B4-BE49-F238E27FC236}">
                  <a16:creationId xmlns:a16="http://schemas.microsoft.com/office/drawing/2014/main" id="{73E7D81B-6FBE-4226-ADD7-0FFEA572F57E}"/>
                </a:ext>
              </a:extLst>
            </p:cNvPr>
            <p:cNvCxnSpPr>
              <a:cxnSpLocks/>
              <a:stCxn id="129" idx="2"/>
              <a:endCxn id="138" idx="0"/>
            </p:cNvCxnSpPr>
            <p:nvPr/>
          </p:nvCxnSpPr>
          <p:spPr>
            <a:xfrm flipH="1">
              <a:off x="10602968" y="2410565"/>
              <a:ext cx="1" cy="242828"/>
            </a:xfrm>
            <a:prstGeom prst="straightConnector1">
              <a:avLst/>
            </a:prstGeom>
            <a:noFill/>
            <a:ln w="11430">
              <a:solidFill>
                <a:srgbClr val="888C91"/>
              </a:solidFill>
              <a:prstDash val="solid"/>
              <a:headEnd type="none"/>
              <a:tailEnd type="triangle"/>
            </a:ln>
          </p:spPr>
        </p:cxnSp>
        <p:sp>
          <p:nvSpPr>
            <p:cNvPr id="121" name="직사각형 120">
              <a:extLst>
                <a:ext uri="{FF2B5EF4-FFF2-40B4-BE49-F238E27FC236}">
                  <a16:creationId xmlns:a16="http://schemas.microsoft.com/office/drawing/2014/main" id="{3A6C8762-AA1E-48D6-AFE6-B4BC62313E1E}"/>
                </a:ext>
              </a:extLst>
            </p:cNvPr>
            <p:cNvSpPr/>
            <p:nvPr/>
          </p:nvSpPr>
          <p:spPr>
            <a:xfrm>
              <a:off x="7520870" y="1726402"/>
              <a:ext cx="1383184"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a:t>
              </a:r>
            </a:p>
          </p:txBody>
        </p:sp>
        <p:grpSp>
          <p:nvGrpSpPr>
            <p:cNvPr id="127" name="그룹 126">
              <a:extLst>
                <a:ext uri="{FF2B5EF4-FFF2-40B4-BE49-F238E27FC236}">
                  <a16:creationId xmlns:a16="http://schemas.microsoft.com/office/drawing/2014/main" id="{D9478518-0083-431B-895B-C1BB81DDE028}"/>
                </a:ext>
              </a:extLst>
            </p:cNvPr>
            <p:cNvGrpSpPr/>
            <p:nvPr/>
          </p:nvGrpSpPr>
          <p:grpSpPr>
            <a:xfrm>
              <a:off x="9748834" y="2144559"/>
              <a:ext cx="1708273" cy="2126181"/>
              <a:chOff x="12508587" y="2383427"/>
              <a:chExt cx="1879100" cy="2126181"/>
            </a:xfrm>
          </p:grpSpPr>
          <p:sp>
            <p:nvSpPr>
              <p:cNvPr id="129" name="Shape 31">
                <a:extLst>
                  <a:ext uri="{FF2B5EF4-FFF2-40B4-BE49-F238E27FC236}">
                    <a16:creationId xmlns:a16="http://schemas.microsoft.com/office/drawing/2014/main" id="{F355C5E5-D60B-4572-9D91-2061BF7DD83A}"/>
                  </a:ext>
                </a:extLst>
              </p:cNvPr>
              <p:cNvSpPr/>
              <p:nvPr/>
            </p:nvSpPr>
            <p:spPr>
              <a:xfrm>
                <a:off x="128647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535199C9-9527-4091-AD95-AB60C112E9D7}"/>
                  </a:ext>
                </a:extLst>
              </p:cNvPr>
              <p:cNvSpPr/>
              <p:nvPr/>
            </p:nvSpPr>
            <p:spPr>
              <a:xfrm>
                <a:off x="12508587" y="2892261"/>
                <a:ext cx="1879100" cy="962972"/>
              </a:xfrm>
              <a:prstGeom prst="rect">
                <a:avLst/>
              </a:prstGeom>
              <a:solidFill>
                <a:schemeClr val="accent4">
                  <a:lumMod val="20000"/>
                  <a:lumOff val="80000"/>
                </a:schemeClr>
              </a:solidFill>
              <a:ln w="12700">
                <a:solidFill>
                  <a:srgbClr val="C76E31"/>
                </a:solidFill>
                <a:prstDash val="solid"/>
              </a:ln>
            </p:spPr>
            <p:txBody>
              <a:bodyPr anchor="t"/>
              <a:lstStyle/>
              <a:p>
                <a:pPr algn="ctr"/>
                <a:r>
                  <a:rPr lang="en-US" altLang="ko-KR" sz="900" b="1" dirty="0">
                    <a:solidFill>
                      <a:srgbClr val="1A1A1A"/>
                    </a:solidFill>
                    <a:latin typeface="Malgun Gothic" pitchFamily="34" charset="0"/>
                    <a:ea typeface="Malgun Gothic" pitchFamily="34" charset="-122"/>
                    <a:cs typeface="Malgun Gothic" pitchFamily="34" charset="-120"/>
                  </a:rPr>
                  <a:t>Plan Lookup Validator</a:t>
                </a:r>
                <a:endParaRPr lang="ko-KR" altLang="en-US" sz="900" b="1" dirty="0">
                  <a:solidFill>
                    <a:srgbClr val="1A1A1A"/>
                  </a:solidFill>
                  <a:latin typeface="Malgun Gothic" pitchFamily="34" charset="0"/>
                  <a:ea typeface="Malgun Gothic" pitchFamily="34" charset="-122"/>
                  <a:cs typeface="Malgun Gothic" pitchFamily="34" charset="-120"/>
                </a:endParaRPr>
              </a:p>
            </p:txBody>
          </p:sp>
          <p:sp>
            <p:nvSpPr>
              <p:cNvPr id="139" name="Shape 31">
                <a:extLst>
                  <a:ext uri="{FF2B5EF4-FFF2-40B4-BE49-F238E27FC236}">
                    <a16:creationId xmlns:a16="http://schemas.microsoft.com/office/drawing/2014/main" id="{BD56F8F3-399D-40F7-9849-206895CDE16B}"/>
                  </a:ext>
                </a:extLst>
              </p:cNvPr>
              <p:cNvSpPr/>
              <p:nvPr/>
            </p:nvSpPr>
            <p:spPr>
              <a:xfrm>
                <a:off x="12806409" y="4243602"/>
                <a:ext cx="1283450" cy="266006"/>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endParaRPr lang="ko-KR" altLang="en-US" sz="1000" b="1" dirty="0">
                  <a:solidFill>
                    <a:srgbClr val="1A1A1A"/>
                  </a:solidFill>
                  <a:latin typeface="Malgun Gothic" pitchFamily="34" charset="0"/>
                  <a:ea typeface="Malgun Gothic" pitchFamily="34" charset="-122"/>
                </a:endParaRPr>
              </a:p>
            </p:txBody>
          </p:sp>
        </p:grpSp>
        <p:cxnSp>
          <p:nvCxnSpPr>
            <p:cNvPr id="142" name="직선 화살표 연결선 185">
              <a:extLst>
                <a:ext uri="{FF2B5EF4-FFF2-40B4-BE49-F238E27FC236}">
                  <a16:creationId xmlns:a16="http://schemas.microsoft.com/office/drawing/2014/main" id="{03ABB882-11D6-4845-A2A5-4FDFAA1E6339}"/>
                </a:ext>
              </a:extLst>
            </p:cNvPr>
            <p:cNvCxnSpPr>
              <a:cxnSpLocks/>
              <a:stCxn id="138" idx="2"/>
              <a:endCxn id="139" idx="0"/>
            </p:cNvCxnSpPr>
            <p:nvPr/>
          </p:nvCxnSpPr>
          <p:spPr>
            <a:xfrm>
              <a:off x="10602968" y="3616365"/>
              <a:ext cx="0" cy="388369"/>
            </a:xfrm>
            <a:prstGeom prst="straightConnector1">
              <a:avLst/>
            </a:prstGeom>
            <a:noFill/>
            <a:ln w="11430">
              <a:solidFill>
                <a:srgbClr val="888C91"/>
              </a:solidFill>
              <a:prstDash val="solid"/>
              <a:headEnd type="none"/>
              <a:tailEnd type="triangle"/>
            </a:ln>
          </p:spPr>
        </p:cxnSp>
        <p:cxnSp>
          <p:nvCxnSpPr>
            <p:cNvPr id="147" name="직선 화살표 연결선 185">
              <a:extLst>
                <a:ext uri="{FF2B5EF4-FFF2-40B4-BE49-F238E27FC236}">
                  <a16:creationId xmlns:a16="http://schemas.microsoft.com/office/drawing/2014/main" id="{0B056F2D-FE29-4725-A3F3-CA2EBC006FB4}"/>
                </a:ext>
              </a:extLst>
            </p:cNvPr>
            <p:cNvCxnSpPr>
              <a:cxnSpLocks/>
            </p:cNvCxnSpPr>
            <p:nvPr/>
          </p:nvCxnSpPr>
          <p:spPr>
            <a:xfrm>
              <a:off x="7923737" y="2215221"/>
              <a:ext cx="2" cy="201448"/>
            </a:xfrm>
            <a:prstGeom prst="straightConnector1">
              <a:avLst/>
            </a:prstGeom>
            <a:noFill/>
            <a:ln w="11430">
              <a:solidFill>
                <a:srgbClr val="888C91"/>
              </a:solidFill>
              <a:prstDash val="solid"/>
              <a:headEnd type="none"/>
              <a:tailEnd type="triangle"/>
            </a:ln>
          </p:spPr>
        </p:cxnSp>
        <p:sp>
          <p:nvSpPr>
            <p:cNvPr id="154" name="직사각형 153">
              <a:extLst>
                <a:ext uri="{FF2B5EF4-FFF2-40B4-BE49-F238E27FC236}">
                  <a16:creationId xmlns:a16="http://schemas.microsoft.com/office/drawing/2014/main" id="{362F8D9F-BDB3-4426-BE60-50824CFD8181}"/>
                </a:ext>
              </a:extLst>
            </p:cNvPr>
            <p:cNvSpPr/>
            <p:nvPr/>
          </p:nvSpPr>
          <p:spPr>
            <a:xfrm>
              <a:off x="9763641" y="1763109"/>
              <a:ext cx="1746648"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Decision</a:t>
              </a:r>
            </a:p>
          </p:txBody>
        </p:sp>
        <p:grpSp>
          <p:nvGrpSpPr>
            <p:cNvPr id="156" name="그룹 155">
              <a:extLst>
                <a:ext uri="{FF2B5EF4-FFF2-40B4-BE49-F238E27FC236}">
                  <a16:creationId xmlns:a16="http://schemas.microsoft.com/office/drawing/2014/main" id="{66104227-632F-4532-A15F-A94E4AD0E570}"/>
                </a:ext>
              </a:extLst>
            </p:cNvPr>
            <p:cNvGrpSpPr/>
            <p:nvPr/>
          </p:nvGrpSpPr>
          <p:grpSpPr>
            <a:xfrm>
              <a:off x="7507561" y="2416669"/>
              <a:ext cx="1359852" cy="1199696"/>
              <a:chOff x="6330553" y="2404429"/>
              <a:chExt cx="1830129" cy="1451634"/>
            </a:xfrm>
          </p:grpSpPr>
          <p:sp>
            <p:nvSpPr>
              <p:cNvPr id="158" name="Shape 37">
                <a:extLst>
                  <a:ext uri="{FF2B5EF4-FFF2-40B4-BE49-F238E27FC236}">
                    <a16:creationId xmlns:a16="http://schemas.microsoft.com/office/drawing/2014/main" id="{4BEDC545-66DD-4655-A68A-E3E610279C82}"/>
                  </a:ext>
                </a:extLst>
              </p:cNvPr>
              <p:cNvSpPr/>
              <p:nvPr/>
            </p:nvSpPr>
            <p:spPr>
              <a:xfrm>
                <a:off x="6330553" y="2404429"/>
                <a:ext cx="1825852" cy="395582"/>
              </a:xfrm>
              <a:prstGeom prst="rect">
                <a:avLst/>
              </a:prstGeom>
              <a:solidFill>
                <a:srgbClr val="FFFFFF"/>
              </a:solidFill>
              <a:ln w="9525">
                <a:solidFill>
                  <a:schemeClr val="tx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Prefill/Decode Execution Planner</a:t>
                </a:r>
              </a:p>
            </p:txBody>
          </p:sp>
          <p:sp>
            <p:nvSpPr>
              <p:cNvPr id="159" name="Shape 37">
                <a:extLst>
                  <a:ext uri="{FF2B5EF4-FFF2-40B4-BE49-F238E27FC236}">
                    <a16:creationId xmlns:a16="http://schemas.microsoft.com/office/drawing/2014/main" id="{3B719E66-F236-4D8A-A4DD-359F1145DC18}"/>
                  </a:ext>
                </a:extLst>
              </p:cNvPr>
              <p:cNvSpPr/>
              <p:nvPr/>
            </p:nvSpPr>
            <p:spPr>
              <a:xfrm>
                <a:off x="6561862" y="2908105"/>
                <a:ext cx="1371789" cy="270187"/>
              </a:xfrm>
              <a:prstGeom prst="rect">
                <a:avLst/>
              </a:prstGeom>
              <a:solidFill>
                <a:srgbClr val="FFFFFF"/>
              </a:solidFill>
              <a:ln w="9525">
                <a:solidFill>
                  <a:schemeClr val="tx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Cost Evaluator</a:t>
                </a:r>
              </a:p>
            </p:txBody>
          </p:sp>
          <p:cxnSp>
            <p:nvCxnSpPr>
              <p:cNvPr id="160" name="직선 화살표 연결선 185">
                <a:extLst>
                  <a:ext uri="{FF2B5EF4-FFF2-40B4-BE49-F238E27FC236}">
                    <a16:creationId xmlns:a16="http://schemas.microsoft.com/office/drawing/2014/main" id="{7DF56018-1135-4C31-BF01-C43F9DB53B8F}"/>
                  </a:ext>
                </a:extLst>
              </p:cNvPr>
              <p:cNvCxnSpPr>
                <a:cxnSpLocks/>
                <a:stCxn id="158" idx="2"/>
                <a:endCxn id="159" idx="0"/>
              </p:cNvCxnSpPr>
              <p:nvPr/>
            </p:nvCxnSpPr>
            <p:spPr>
              <a:xfrm>
                <a:off x="7243479" y="2800011"/>
                <a:ext cx="4278" cy="108094"/>
              </a:xfrm>
              <a:prstGeom prst="straightConnector1">
                <a:avLst/>
              </a:prstGeom>
              <a:noFill/>
              <a:ln w="9525">
                <a:solidFill>
                  <a:schemeClr val="tx1"/>
                </a:solidFill>
                <a:prstDash val="solid"/>
                <a:headEnd type="none" w="med" len="med"/>
                <a:tailEnd type="triangle" w="med" len="med"/>
              </a:ln>
            </p:spPr>
          </p:cxnSp>
          <p:sp>
            <p:nvSpPr>
              <p:cNvPr id="161" name="Shape 37">
                <a:extLst>
                  <a:ext uri="{FF2B5EF4-FFF2-40B4-BE49-F238E27FC236}">
                    <a16:creationId xmlns:a16="http://schemas.microsoft.com/office/drawing/2014/main" id="{2A62CB42-EEB8-43B7-BCDD-BC501C1BDA1F}"/>
                  </a:ext>
                </a:extLst>
              </p:cNvPr>
              <p:cNvSpPr/>
              <p:nvPr/>
            </p:nvSpPr>
            <p:spPr>
              <a:xfrm>
                <a:off x="6334829" y="3329544"/>
                <a:ext cx="1825853" cy="526519"/>
              </a:xfrm>
              <a:prstGeom prst="rect">
                <a:avLst/>
              </a:prstGeom>
              <a:solidFill>
                <a:schemeClr val="accent4">
                  <a:lumMod val="20000"/>
                  <a:lumOff val="80000"/>
                </a:schemeClr>
              </a:solidFill>
              <a:ln w="12700">
                <a:solidFill>
                  <a:srgbClr val="C76E31"/>
                </a:solidFill>
                <a:prstDash val="solid"/>
              </a:ln>
            </p:spPr>
            <p:txBody>
              <a:bodyPr anchor="t"/>
              <a:lstStyle/>
              <a:p>
                <a:pPr algn="ctr"/>
                <a:r>
                  <a:rPr lang="en-US" altLang="ko-KR" sz="900" b="1" dirty="0">
                    <a:solidFill>
                      <a:srgbClr val="1A1A1A"/>
                    </a:solidFill>
                    <a:latin typeface="Malgun Gothic" pitchFamily="34" charset="0"/>
                    <a:ea typeface="Malgun Gothic" pitchFamily="34" charset="-122"/>
                  </a:rPr>
                  <a:t>Plan</a:t>
                </a:r>
                <a:r>
                  <a:rPr lang="ko-KR" altLang="en-US" sz="900" b="1" dirty="0">
                    <a:solidFill>
                      <a:srgbClr val="1A1A1A"/>
                    </a:solidFill>
                    <a:latin typeface="Malgun Gothic" pitchFamily="34" charset="0"/>
                    <a:ea typeface="Malgun Gothic" pitchFamily="34" charset="-122"/>
                  </a:rPr>
                  <a:t> </a:t>
                </a:r>
                <a:r>
                  <a:rPr lang="en-US" altLang="ko-KR" sz="900" b="1" dirty="0">
                    <a:solidFill>
                      <a:srgbClr val="1A1A1A"/>
                    </a:solidFill>
                    <a:latin typeface="Malgun Gothic" pitchFamily="34" charset="0"/>
                    <a:ea typeface="Malgun Gothic" pitchFamily="34" charset="-122"/>
                  </a:rPr>
                  <a:t>Publisher</a:t>
                </a:r>
              </a:p>
            </p:txBody>
          </p:sp>
          <p:cxnSp>
            <p:nvCxnSpPr>
              <p:cNvPr id="165" name="직선 화살표 연결선 185">
                <a:extLst>
                  <a:ext uri="{FF2B5EF4-FFF2-40B4-BE49-F238E27FC236}">
                    <a16:creationId xmlns:a16="http://schemas.microsoft.com/office/drawing/2014/main" id="{2D8BFBA6-054C-465C-BB99-DA2EF692189C}"/>
                  </a:ext>
                </a:extLst>
              </p:cNvPr>
              <p:cNvCxnSpPr>
                <a:cxnSpLocks/>
                <a:stCxn id="159" idx="2"/>
                <a:endCxn id="161" idx="0"/>
              </p:cNvCxnSpPr>
              <p:nvPr/>
            </p:nvCxnSpPr>
            <p:spPr>
              <a:xfrm flipH="1">
                <a:off x="7247756" y="3178293"/>
                <a:ext cx="1" cy="151251"/>
              </a:xfrm>
              <a:prstGeom prst="straightConnector1">
                <a:avLst/>
              </a:prstGeom>
              <a:noFill/>
              <a:ln w="11430">
                <a:solidFill>
                  <a:srgbClr val="888C91"/>
                </a:solidFill>
                <a:prstDash val="solid"/>
                <a:headEnd type="none"/>
                <a:tailEnd type="triangle"/>
              </a:ln>
            </p:spPr>
          </p:cxnSp>
        </p:grpSp>
        <p:sp>
          <p:nvSpPr>
            <p:cNvPr id="166" name="C2 freshness note">
              <a:extLst>
                <a:ext uri="{FF2B5EF4-FFF2-40B4-BE49-F238E27FC236}">
                  <a16:creationId xmlns:a16="http://schemas.microsoft.com/office/drawing/2014/main" id="{6CDBB823-D88F-4179-AF8F-A7BA5D43B7BC}"/>
                </a:ext>
              </a:extLst>
            </p:cNvPr>
            <p:cNvSpPr txBox="1"/>
            <p:nvPr/>
          </p:nvSpPr>
          <p:spPr>
            <a:xfrm>
              <a:off x="8231378" y="3680819"/>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76" name="C2 freshness note">
              <a:extLst>
                <a:ext uri="{FF2B5EF4-FFF2-40B4-BE49-F238E27FC236}">
                  <a16:creationId xmlns:a16="http://schemas.microsoft.com/office/drawing/2014/main" id="{1BC6499B-FF93-4BF7-AC46-B40964266EDA}"/>
                </a:ext>
              </a:extLst>
            </p:cNvPr>
            <p:cNvSpPr txBox="1"/>
            <p:nvPr/>
          </p:nvSpPr>
          <p:spPr>
            <a:xfrm>
              <a:off x="10720148" y="3720694"/>
              <a:ext cx="493326"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78" name="Rectangle 72">
              <a:extLst>
                <a:ext uri="{FF2B5EF4-FFF2-40B4-BE49-F238E27FC236}">
                  <a16:creationId xmlns:a16="http://schemas.microsoft.com/office/drawing/2014/main" id="{B1580EF9-18C1-4398-A6A7-79BDE5FB0E99}"/>
                </a:ext>
              </a:extLst>
            </p:cNvPr>
            <p:cNvSpPr/>
            <p:nvPr/>
          </p:nvSpPr>
          <p:spPr>
            <a:xfrm>
              <a:off x="6783687" y="1980022"/>
              <a:ext cx="687999" cy="292609"/>
            </a:xfrm>
            <a:prstGeom prst="rect">
              <a:avLst/>
            </a:prstGeom>
            <a:solidFill>
              <a:schemeClr val="accent2">
                <a:lumMod val="20000"/>
                <a:lumOff val="80000"/>
              </a:schemeClr>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ko-KR" altLang="en-US" sz="900" b="1" dirty="0">
                  <a:solidFill>
                    <a:schemeClr val="tx1"/>
                  </a:solidFill>
                  <a:latin typeface="맑은 고딕"/>
                  <a:ea typeface="맑은 고딕"/>
                </a:rPr>
                <a:t>②</a:t>
              </a:r>
              <a:r>
                <a:rPr sz="900" b="1" i="0" dirty="0">
                  <a:solidFill>
                    <a:schemeClr val="tx1"/>
                  </a:solidFill>
                  <a:latin typeface="맑은 고딕"/>
                  <a:ea typeface="맑은 고딕"/>
                </a:rPr>
                <a:t> </a:t>
              </a:r>
              <a:r>
                <a:rPr lang="en-US" sz="900" b="1" i="0" dirty="0">
                  <a:solidFill>
                    <a:schemeClr val="tx1"/>
                  </a:solidFill>
                  <a:latin typeface="맑은 고딕"/>
                  <a:ea typeface="맑은 고딕"/>
                </a:rPr>
                <a:t>Plan age </a:t>
              </a:r>
              <a:r>
                <a:rPr lang="ko-KR" altLang="en-US" sz="900" b="1" i="0" dirty="0">
                  <a:solidFill>
                    <a:schemeClr val="tx1"/>
                  </a:solidFill>
                  <a:latin typeface="맑은 고딕"/>
                  <a:ea typeface="맑은 고딕"/>
                </a:rPr>
                <a:t>조절</a:t>
              </a:r>
              <a:endParaRPr sz="900" b="1" i="0" dirty="0">
                <a:solidFill>
                  <a:schemeClr val="tx1"/>
                </a:solidFill>
                <a:latin typeface="맑은 고딕"/>
                <a:ea typeface="맑은 고딕"/>
              </a:endParaRPr>
            </a:p>
          </p:txBody>
        </p:sp>
        <p:cxnSp>
          <p:nvCxnSpPr>
            <p:cNvPr id="179" name="Connector 73">
              <a:extLst>
                <a:ext uri="{FF2B5EF4-FFF2-40B4-BE49-F238E27FC236}">
                  <a16:creationId xmlns:a16="http://schemas.microsoft.com/office/drawing/2014/main" id="{36B8346B-263D-4054-9586-665ED38BBD97}"/>
                </a:ext>
              </a:extLst>
            </p:cNvPr>
            <p:cNvCxnSpPr>
              <a:cxnSpLocks/>
              <a:stCxn id="178" idx="3"/>
            </p:cNvCxnSpPr>
            <p:nvPr/>
          </p:nvCxnSpPr>
          <p:spPr>
            <a:xfrm>
              <a:off x="7471686" y="2126327"/>
              <a:ext cx="249313" cy="0"/>
            </a:xfrm>
            <a:prstGeom prst="line">
              <a:avLst/>
            </a:prstGeom>
            <a:ln w="12700">
              <a:solidFill>
                <a:schemeClr val="accent6">
                  <a:lumMod val="75000"/>
                </a:schemeClr>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0" name="TextBox 179">
              <a:extLst>
                <a:ext uri="{FF2B5EF4-FFF2-40B4-BE49-F238E27FC236}">
                  <a16:creationId xmlns:a16="http://schemas.microsoft.com/office/drawing/2014/main" id="{3836ECBB-F50B-4462-AF0B-785DCB30583C}"/>
                </a:ext>
              </a:extLst>
            </p:cNvPr>
            <p:cNvSpPr txBox="1"/>
            <p:nvPr/>
          </p:nvSpPr>
          <p:spPr>
            <a:xfrm>
              <a:off x="8012029" y="2239351"/>
              <a:ext cx="1704411" cy="124173"/>
            </a:xfrm>
            <a:prstGeom prst="rect">
              <a:avLst/>
            </a:prstGeom>
            <a:noFill/>
          </p:spPr>
          <p:txBody>
            <a:bodyPr wrap="square" lIns="0" tIns="0" rIns="0" bIns="0" anchor="ctr">
              <a:spAutoFit/>
            </a:bodyPr>
            <a:lstStyle/>
            <a:p>
              <a:pPr>
                <a:lnSpc>
                  <a:spcPct val="105000"/>
                </a:lnSpc>
              </a:pPr>
              <a:r>
                <a:rPr lang="en-US" altLang="ko-KR" sz="800" dirty="0">
                  <a:solidFill>
                    <a:srgbClr val="0000FF"/>
                  </a:solidFill>
                  <a:ea typeface="맑은 고딕"/>
                </a:rPr>
                <a:t>plan age ≤ W × </a:t>
              </a:r>
              <a:r>
                <a:rPr lang="ko-KR" altLang="en-US" sz="800" dirty="0">
                  <a:solidFill>
                    <a:srgbClr val="0000FF"/>
                  </a:solidFill>
                  <a:ea typeface="맑은 고딕"/>
                </a:rPr>
                <a:t>평균 </a:t>
              </a:r>
              <a:r>
                <a:rPr lang="ko-KR" altLang="en-US" sz="800" dirty="0" err="1">
                  <a:solidFill>
                    <a:srgbClr val="0000FF"/>
                  </a:solidFill>
                  <a:ea typeface="맑은 고딕"/>
                </a:rPr>
                <a:t>서비스시간</a:t>
              </a:r>
              <a:endParaRPr sz="650" b="0" i="0" dirty="0">
                <a:solidFill>
                  <a:srgbClr val="0000FF"/>
                </a:solidFill>
                <a:latin typeface="맑은 고딕"/>
                <a:ea typeface="맑은 고딕"/>
              </a:endParaRPr>
            </a:p>
          </p:txBody>
        </p:sp>
        <p:sp>
          <p:nvSpPr>
            <p:cNvPr id="181" name="Rectangle 90">
              <a:extLst>
                <a:ext uri="{FF2B5EF4-FFF2-40B4-BE49-F238E27FC236}">
                  <a16:creationId xmlns:a16="http://schemas.microsoft.com/office/drawing/2014/main" id="{393AF082-229B-4EA1-B973-529F7E5939CD}"/>
                </a:ext>
              </a:extLst>
            </p:cNvPr>
            <p:cNvSpPr/>
            <p:nvPr/>
          </p:nvSpPr>
          <p:spPr>
            <a:xfrm>
              <a:off x="7397563" y="4243058"/>
              <a:ext cx="2194560" cy="262988"/>
            </a:xfrm>
            <a:prstGeom prst="rect">
              <a:avLst/>
            </a:prstGeom>
            <a:solidFill>
              <a:schemeClr val="accent2">
                <a:lumMod val="20000"/>
                <a:lumOff val="80000"/>
              </a:schemeClr>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lang="ko-KR" altLang="en-US" sz="900" b="1" dirty="0">
                  <a:solidFill>
                    <a:schemeClr val="tx1"/>
                  </a:solidFill>
                  <a:latin typeface="맑은 고딕"/>
                  <a:ea typeface="맑은 고딕"/>
                </a:rPr>
                <a:t>③</a:t>
              </a:r>
              <a:r>
                <a:rPr sz="900" b="1" i="0" dirty="0">
                  <a:solidFill>
                    <a:schemeClr val="tx1"/>
                  </a:solidFill>
                  <a:latin typeface="맑은 고딕"/>
                  <a:ea typeface="맑은 고딕"/>
                </a:rPr>
                <a:t> </a:t>
              </a:r>
              <a:r>
                <a:rPr lang="en-US" sz="900" b="1" dirty="0">
                  <a:solidFill>
                    <a:schemeClr val="tx1"/>
                  </a:solidFill>
                  <a:latin typeface="맑은 고딕"/>
                  <a:ea typeface="맑은 고딕"/>
                </a:rPr>
                <a:t>Load</a:t>
              </a:r>
              <a:r>
                <a:rPr lang="ko-KR" altLang="en-US" sz="900" b="1" dirty="0">
                  <a:solidFill>
                    <a:schemeClr val="tx1"/>
                  </a:solidFill>
                  <a:latin typeface="맑은 고딕"/>
                  <a:ea typeface="맑은 고딕"/>
                </a:rPr>
                <a:t>에 따라 </a:t>
              </a:r>
              <a:r>
                <a:rPr lang="en-US" altLang="ko-KR" sz="900" b="1" dirty="0">
                  <a:solidFill>
                    <a:schemeClr val="tx1"/>
                  </a:solidFill>
                  <a:latin typeface="맑은 고딕"/>
                  <a:ea typeface="맑은 고딕"/>
                </a:rPr>
                <a:t>plan age, </a:t>
              </a:r>
              <a:r>
                <a:rPr lang="ko-KR" altLang="en-US" sz="900" b="1" dirty="0">
                  <a:solidFill>
                    <a:schemeClr val="tx1"/>
                  </a:solidFill>
                  <a:latin typeface="맑은 고딕"/>
                  <a:ea typeface="맑은 고딕"/>
                </a:rPr>
                <a:t>구간 조절</a:t>
              </a:r>
              <a:endParaRPr sz="900" b="1" i="0" dirty="0">
                <a:solidFill>
                  <a:schemeClr val="tx1"/>
                </a:solidFill>
                <a:latin typeface="맑은 고딕"/>
                <a:ea typeface="맑은 고딕"/>
              </a:endParaRPr>
            </a:p>
          </p:txBody>
        </p:sp>
        <p:cxnSp>
          <p:nvCxnSpPr>
            <p:cNvPr id="182" name="Connector 91">
              <a:extLst>
                <a:ext uri="{FF2B5EF4-FFF2-40B4-BE49-F238E27FC236}">
                  <a16:creationId xmlns:a16="http://schemas.microsoft.com/office/drawing/2014/main" id="{CA4C1222-DD39-4CB4-9CC3-03ED0A73CBF2}"/>
                </a:ext>
              </a:extLst>
            </p:cNvPr>
            <p:cNvCxnSpPr>
              <a:cxnSpLocks/>
            </p:cNvCxnSpPr>
            <p:nvPr/>
          </p:nvCxnSpPr>
          <p:spPr>
            <a:xfrm flipV="1">
              <a:off x="7596343" y="3586363"/>
              <a:ext cx="0" cy="660487"/>
            </a:xfrm>
            <a:prstGeom prst="line">
              <a:avLst/>
            </a:prstGeom>
            <a:ln w="12700">
              <a:solidFill>
                <a:schemeClr val="accent6">
                  <a:lumMod val="75000"/>
                </a:schemeClr>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3" name="Rectangle 99">
              <a:extLst>
                <a:ext uri="{FF2B5EF4-FFF2-40B4-BE49-F238E27FC236}">
                  <a16:creationId xmlns:a16="http://schemas.microsoft.com/office/drawing/2014/main" id="{DEC58700-628A-46D6-8DB4-59853C5D7B6E}"/>
                </a:ext>
              </a:extLst>
            </p:cNvPr>
            <p:cNvSpPr/>
            <p:nvPr/>
          </p:nvSpPr>
          <p:spPr>
            <a:xfrm>
              <a:off x="9840834" y="2926911"/>
              <a:ext cx="1493409" cy="543913"/>
            </a:xfrm>
            <a:prstGeom prst="rect">
              <a:avLst/>
            </a:prstGeom>
            <a:solidFill>
              <a:schemeClr val="accent2">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800" b="1" i="0" dirty="0">
                  <a:solidFill>
                    <a:srgbClr val="404040"/>
                  </a:solidFill>
                  <a:latin typeface="맑은 고딕"/>
                  <a:ea typeface="맑은 고딕"/>
                </a:rPr>
                <a:t>① </a:t>
              </a:r>
              <a:r>
                <a:rPr lang="en-US" sz="800" b="1" i="0" dirty="0">
                  <a:solidFill>
                    <a:srgbClr val="404040"/>
                  </a:solidFill>
                  <a:latin typeface="맑은 고딕"/>
                  <a:ea typeface="맑은 고딕"/>
                </a:rPr>
                <a:t>Mismatch </a:t>
              </a:r>
              <a:r>
                <a:rPr lang="ko-KR" altLang="en-US" sz="800" b="1" i="0" dirty="0">
                  <a:solidFill>
                    <a:srgbClr val="404040"/>
                  </a:solidFill>
                  <a:latin typeface="맑은 고딕"/>
                  <a:ea typeface="맑은 고딕"/>
                </a:rPr>
                <a:t>시 구간</a:t>
              </a:r>
              <a:r>
                <a:rPr lang="en-US" altLang="ko-KR" sz="800" b="1" i="0" dirty="0">
                  <a:solidFill>
                    <a:srgbClr val="404040"/>
                  </a:solidFill>
                  <a:latin typeface="맑은 고딕"/>
                  <a:ea typeface="맑은 고딕"/>
                </a:rPr>
                <a:t>(</a:t>
              </a:r>
              <a:r>
                <a:rPr lang="en-US" altLang="ko-KR" sz="800" b="1" dirty="0">
                  <a:solidFill>
                    <a:srgbClr val="404040"/>
                  </a:solidFill>
                  <a:latin typeface="맑은 고딕"/>
                  <a:ea typeface="맑은 고딕"/>
                </a:rPr>
                <a:t>k)</a:t>
              </a:r>
              <a:r>
                <a:rPr lang="ko-KR" altLang="en-US" sz="800" b="1" i="0" dirty="0">
                  <a:solidFill>
                    <a:srgbClr val="404040"/>
                  </a:solidFill>
                  <a:latin typeface="맑은 고딕"/>
                  <a:ea typeface="맑은 고딕"/>
                </a:rPr>
                <a:t> 조회</a:t>
              </a:r>
              <a:endParaRPr lang="en-US" altLang="ko-KR" sz="800" b="1" dirty="0">
                <a:solidFill>
                  <a:srgbClr val="404040"/>
                </a:solidFill>
                <a:latin typeface="맑은 고딕"/>
                <a:ea typeface="맑은 고딕"/>
              </a:endParaRPr>
            </a:p>
            <a:p>
              <a:pPr algn="ctr">
                <a:lnSpc>
                  <a:spcPct val="150000"/>
                </a:lnSpc>
              </a:pPr>
              <a:r>
                <a:rPr lang="en-US" altLang="ko-KR" sz="800" b="1" dirty="0">
                  <a:solidFill>
                    <a:srgbClr val="404040"/>
                  </a:solidFill>
                  <a:latin typeface="맑은 고딕"/>
                  <a:ea typeface="맑은 고딕"/>
                </a:rPr>
                <a:t>1</a:t>
              </a:r>
              <a:r>
                <a:rPr lang="ko-KR" altLang="en-US" sz="800" b="1" dirty="0">
                  <a:solidFill>
                    <a:srgbClr val="404040"/>
                  </a:solidFill>
                  <a:latin typeface="맑은 고딕"/>
                  <a:ea typeface="맑은 고딕"/>
                </a:rPr>
                <a:t>순위 </a:t>
              </a:r>
              <a:r>
                <a:rPr lang="en-US" altLang="ko-KR" sz="800" b="1" dirty="0">
                  <a:solidFill>
                    <a:srgbClr val="404040"/>
                  </a:solidFill>
                  <a:latin typeface="맑은 고딕"/>
                  <a:ea typeface="맑은 고딕"/>
                </a:rPr>
                <a:t>fail → 2</a:t>
              </a:r>
              <a:r>
                <a:rPr lang="ko-KR" altLang="en-US" sz="800" b="1" dirty="0">
                  <a:solidFill>
                    <a:srgbClr val="404040"/>
                  </a:solidFill>
                  <a:latin typeface="맑은 고딕"/>
                  <a:ea typeface="맑은 고딕"/>
                </a:rPr>
                <a:t>순위 선택</a:t>
              </a:r>
            </a:p>
          </p:txBody>
        </p:sp>
        <p:sp>
          <p:nvSpPr>
            <p:cNvPr id="184" name="Rectangle 99">
              <a:extLst>
                <a:ext uri="{FF2B5EF4-FFF2-40B4-BE49-F238E27FC236}">
                  <a16:creationId xmlns:a16="http://schemas.microsoft.com/office/drawing/2014/main" id="{AC7EA8DB-BC4B-4D91-B691-7CA48A2BFA88}"/>
                </a:ext>
              </a:extLst>
            </p:cNvPr>
            <p:cNvSpPr/>
            <p:nvPr/>
          </p:nvSpPr>
          <p:spPr>
            <a:xfrm>
              <a:off x="7705229" y="3373532"/>
              <a:ext cx="973633" cy="167992"/>
            </a:xfrm>
            <a:prstGeom prst="rect">
              <a:avLst/>
            </a:prstGeom>
            <a:solidFill>
              <a:schemeClr val="accent2">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lang="en-US" sz="800" b="1" dirty="0">
                  <a:solidFill>
                    <a:srgbClr val="404040"/>
                  </a:solidFill>
                  <a:latin typeface="맑은 고딕"/>
                  <a:ea typeface="맑은 고딕"/>
                </a:rPr>
                <a:t>Plan </a:t>
              </a:r>
              <a:r>
                <a:rPr lang="ko-KR" altLang="en-US" sz="800" b="1" dirty="0">
                  <a:solidFill>
                    <a:srgbClr val="404040"/>
                  </a:solidFill>
                  <a:latin typeface="맑은 고딕"/>
                  <a:ea typeface="맑은 고딕"/>
                </a:rPr>
                <a:t>구간 가변</a:t>
              </a:r>
            </a:p>
          </p:txBody>
        </p:sp>
        <p:grpSp>
          <p:nvGrpSpPr>
            <p:cNvPr id="185" name="그룹 184">
              <a:extLst>
                <a:ext uri="{FF2B5EF4-FFF2-40B4-BE49-F238E27FC236}">
                  <a16:creationId xmlns:a16="http://schemas.microsoft.com/office/drawing/2014/main" id="{010BE734-ED4C-4304-B91C-30745AE9AA7F}"/>
                </a:ext>
              </a:extLst>
            </p:cNvPr>
            <p:cNvGrpSpPr/>
            <p:nvPr/>
          </p:nvGrpSpPr>
          <p:grpSpPr>
            <a:xfrm>
              <a:off x="11288365" y="4027657"/>
              <a:ext cx="732341" cy="488318"/>
              <a:chOff x="11056831" y="3583489"/>
              <a:chExt cx="886133" cy="488318"/>
            </a:xfrm>
          </p:grpSpPr>
          <p:sp>
            <p:nvSpPr>
              <p:cNvPr id="189" name="KV Cache Manager">
                <a:extLst>
                  <a:ext uri="{FF2B5EF4-FFF2-40B4-BE49-F238E27FC236}">
                    <a16:creationId xmlns:a16="http://schemas.microsoft.com/office/drawing/2014/main" id="{7193BC83-981B-478E-BB00-B0CCD220C611}"/>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190" name="직사각형 189">
                <a:extLst>
                  <a:ext uri="{FF2B5EF4-FFF2-40B4-BE49-F238E27FC236}">
                    <a16:creationId xmlns:a16="http://schemas.microsoft.com/office/drawing/2014/main" id="{C84C114C-72C6-4726-8195-A62CCA108A92}"/>
                  </a:ext>
                </a:extLst>
              </p:cNvPr>
              <p:cNvSpPr/>
              <p:nvPr/>
            </p:nvSpPr>
            <p:spPr>
              <a:xfrm>
                <a:off x="11056831" y="3583489"/>
                <a:ext cx="886133" cy="488318"/>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cxnSp>
          <p:nvCxnSpPr>
            <p:cNvPr id="197" name="직선 연결선 196"/>
            <p:cNvCxnSpPr/>
            <p:nvPr/>
          </p:nvCxnSpPr>
          <p:spPr>
            <a:xfrm>
              <a:off x="9628991" y="1977996"/>
              <a:ext cx="0" cy="2536897"/>
            </a:xfrm>
            <a:prstGeom prst="line">
              <a:avLst/>
            </a:prstGeom>
            <a:noFill/>
            <a:ln w="12700">
              <a:solidFill>
                <a:srgbClr val="C76E31"/>
              </a:solidFill>
              <a:prstDash val="dash"/>
            </a:ln>
          </p:spPr>
        </p:cxnSp>
      </p:grpSp>
      <p:grpSp>
        <p:nvGrpSpPr>
          <p:cNvPr id="4" name="그룹 3"/>
          <p:cNvGrpSpPr/>
          <p:nvPr/>
        </p:nvGrpSpPr>
        <p:grpSpPr>
          <a:xfrm>
            <a:off x="1513665" y="1714715"/>
            <a:ext cx="4266747" cy="2485293"/>
            <a:chOff x="1422351" y="1800000"/>
            <a:chExt cx="4693422" cy="2733822"/>
          </a:xfrm>
        </p:grpSpPr>
        <p:sp>
          <p:nvSpPr>
            <p:cNvPr id="112" name="Shape 31">
              <a:extLst>
                <a:ext uri="{FF2B5EF4-FFF2-40B4-BE49-F238E27FC236}">
                  <a16:creationId xmlns:a16="http://schemas.microsoft.com/office/drawing/2014/main" id="{823D7D32-6771-4AA4-9581-77C6BEA03C53}"/>
                </a:ext>
              </a:extLst>
            </p:cNvPr>
            <p:cNvSpPr/>
            <p:nvPr/>
          </p:nvSpPr>
          <p:spPr>
            <a:xfrm>
              <a:off x="2862635" y="1853692"/>
              <a:ext cx="1411795" cy="292607"/>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44" idx="0"/>
            </p:cNvCxnSpPr>
            <p:nvPr/>
          </p:nvCxnSpPr>
          <p:spPr>
            <a:xfrm>
              <a:off x="3568533" y="2146299"/>
              <a:ext cx="1889" cy="289506"/>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2394012"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25" name="Shape 31">
              <a:extLst>
                <a:ext uri="{FF2B5EF4-FFF2-40B4-BE49-F238E27FC236}">
                  <a16:creationId xmlns:a16="http://schemas.microsoft.com/office/drawing/2014/main" id="{823D7D32-6771-4AA4-9581-77C6BEA03C53}"/>
                </a:ext>
              </a:extLst>
            </p:cNvPr>
            <p:cNvSpPr/>
            <p:nvPr/>
          </p:nvSpPr>
          <p:spPr>
            <a:xfrm>
              <a:off x="1434016"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26" name="Shape 31">
              <a:extLst>
                <a:ext uri="{FF2B5EF4-FFF2-40B4-BE49-F238E27FC236}">
                  <a16:creationId xmlns:a16="http://schemas.microsoft.com/office/drawing/2014/main" id="{823D7D32-6771-4AA4-9581-77C6BEA03C53}"/>
                </a:ext>
              </a:extLst>
            </p:cNvPr>
            <p:cNvSpPr/>
            <p:nvPr/>
          </p:nvSpPr>
          <p:spPr>
            <a:xfrm>
              <a:off x="3337592" y="4212297"/>
              <a:ext cx="875450"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51" idx="2"/>
              <a:endCxn id="125" idx="0"/>
            </p:cNvCxnSpPr>
            <p:nvPr/>
          </p:nvCxnSpPr>
          <p:spPr>
            <a:xfrm rot="5400000">
              <a:off x="2567161" y="3209036"/>
              <a:ext cx="268048" cy="1738474"/>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51" idx="2"/>
              <a:endCxn id="126" idx="0"/>
            </p:cNvCxnSpPr>
            <p:nvPr/>
          </p:nvCxnSpPr>
          <p:spPr>
            <a:xfrm rot="16200000" flipH="1">
              <a:off x="3538845" y="3975825"/>
              <a:ext cx="268048" cy="204895"/>
            </a:xfrm>
            <a:prstGeom prst="bentConnector3">
              <a:avLst>
                <a:gd name="adj1" fmla="val 50000"/>
              </a:avLst>
            </a:prstGeom>
            <a:noFill/>
            <a:ln w="11430">
              <a:solidFill>
                <a:srgbClr val="888C91"/>
              </a:solidFill>
              <a:prstDash val="solid"/>
              <a:headEnd type="none"/>
              <a:tailEnd type="triangle"/>
            </a:ln>
          </p:spPr>
        </p:cxnSp>
        <p:sp>
          <p:nvSpPr>
            <p:cNvPr id="77" name="TextBox 76"/>
            <p:cNvSpPr txBox="1"/>
            <p:nvPr/>
          </p:nvSpPr>
          <p:spPr>
            <a:xfrm>
              <a:off x="4482797" y="3231336"/>
              <a:ext cx="1600000" cy="276999"/>
            </a:xfrm>
            <a:prstGeom prst="rect">
              <a:avLst/>
            </a:prstGeom>
            <a:noFill/>
          </p:spPr>
          <p:txBody>
            <a:bodyPr wrap="square" lIns="0" tIns="0" rIns="0" bIns="0" anchor="ctr">
              <a:spAutoFit/>
            </a:bodyPr>
            <a:lstStyle/>
            <a:p>
              <a:pPr algn="l">
                <a:lnSpc>
                  <a:spcPct val="100000"/>
                </a:lnSpc>
              </a:pPr>
              <a:r>
                <a:rPr lang="en-US" altLang="ko-KR" sz="900" b="0" i="0" dirty="0">
                  <a:solidFill>
                    <a:srgbClr val="808080"/>
                  </a:solidFill>
                  <a:latin typeface="맑은 고딕"/>
                  <a:ea typeface="맑은 고딕"/>
                </a:rPr>
                <a:t>Cost </a:t>
              </a:r>
              <a:r>
                <a:rPr lang="ko-KR" altLang="en-US" sz="900" b="0" i="0" dirty="0">
                  <a:solidFill>
                    <a:srgbClr val="808080"/>
                  </a:solidFill>
                  <a:latin typeface="맑은 고딕"/>
                  <a:ea typeface="맑은 고딕"/>
                </a:rPr>
                <a:t>계산이</a:t>
              </a:r>
            </a:p>
            <a:p>
              <a:pPr algn="l">
                <a:lnSpc>
                  <a:spcPct val="100000"/>
                </a:lnSpc>
              </a:pPr>
              <a:r>
                <a:rPr lang="en-US" altLang="ko-KR" sz="900" b="0" i="0" dirty="0">
                  <a:solidFill>
                    <a:srgbClr val="808080"/>
                  </a:solidFill>
                  <a:latin typeface="맑은 고딕"/>
                  <a:ea typeface="맑은 고딕"/>
                </a:rPr>
                <a:t>critical path  </a:t>
              </a:r>
              <a:r>
                <a:rPr lang="ko-KR" altLang="en-US" sz="900" b="0" i="0" dirty="0">
                  <a:solidFill>
                    <a:srgbClr val="808080"/>
                  </a:solidFill>
                  <a:latin typeface="맑은 고딕"/>
                  <a:ea typeface="맑은 고딕"/>
                </a:rPr>
                <a:t>내부</a:t>
              </a:r>
            </a:p>
          </p:txBody>
        </p:sp>
        <p:sp>
          <p:nvSpPr>
            <p:cNvPr id="136" name="Shape 37">
              <a:extLst>
                <a:ext uri="{FF2B5EF4-FFF2-40B4-BE49-F238E27FC236}">
                  <a16:creationId xmlns:a16="http://schemas.microsoft.com/office/drawing/2014/main" id="{7F2072DD-19B6-48CA-BD3D-876E8DDC9C60}"/>
                </a:ext>
              </a:extLst>
            </p:cNvPr>
            <p:cNvSpPr/>
            <p:nvPr/>
          </p:nvSpPr>
          <p:spPr>
            <a:xfrm>
              <a:off x="4737207" y="2129473"/>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43" name="직선 화살표 연결선 185">
              <a:extLst>
                <a:ext uri="{FF2B5EF4-FFF2-40B4-BE49-F238E27FC236}">
                  <a16:creationId xmlns:a16="http://schemas.microsoft.com/office/drawing/2014/main" id="{BA0CBBE8-3F10-4B7D-B934-710047CDD61C}"/>
                </a:ext>
              </a:extLst>
            </p:cNvPr>
            <p:cNvCxnSpPr>
              <a:cxnSpLocks/>
              <a:stCxn id="144" idx="3"/>
              <a:endCxn id="136" idx="1"/>
            </p:cNvCxnSpPr>
            <p:nvPr/>
          </p:nvCxnSpPr>
          <p:spPr>
            <a:xfrm flipV="1">
              <a:off x="4324906" y="2292936"/>
              <a:ext cx="412301" cy="322679"/>
            </a:xfrm>
            <a:prstGeom prst="bentConnector3">
              <a:avLst>
                <a:gd name="adj1" fmla="val 50000"/>
              </a:avLst>
            </a:prstGeom>
            <a:noFill/>
            <a:ln w="9525">
              <a:solidFill>
                <a:schemeClr val="tx1"/>
              </a:solidFill>
              <a:prstDash val="solid"/>
              <a:headEnd type="none" w="med" len="med"/>
              <a:tailEnd type="triangle" w="med" len="med"/>
            </a:ln>
          </p:spPr>
        </p:cxnSp>
        <p:sp>
          <p:nvSpPr>
            <p:cNvPr id="144" name="Shape 37">
              <a:extLst>
                <a:ext uri="{FF2B5EF4-FFF2-40B4-BE49-F238E27FC236}">
                  <a16:creationId xmlns:a16="http://schemas.microsoft.com/office/drawing/2014/main" id="{70E92FE8-4878-4154-BB88-F90E93B7B850}"/>
                </a:ext>
              </a:extLst>
            </p:cNvPr>
            <p:cNvSpPr/>
            <p:nvPr/>
          </p:nvSpPr>
          <p:spPr>
            <a:xfrm>
              <a:off x="2815938" y="2435805"/>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a:t>
              </a:r>
            </a:p>
            <a:p>
              <a:pPr algn="ctr"/>
              <a:r>
                <a:rPr lang="en-US" altLang="ko-KR" sz="900" b="1" dirty="0">
                  <a:solidFill>
                    <a:schemeClr val="accent2">
                      <a:lumMod val="75000"/>
                    </a:schemeClr>
                  </a:solidFill>
                </a:rPr>
                <a:t>(Plan)</a:t>
              </a:r>
            </a:p>
          </p:txBody>
        </p:sp>
        <p:sp>
          <p:nvSpPr>
            <p:cNvPr id="145" name="Shape 37">
              <a:extLst>
                <a:ext uri="{FF2B5EF4-FFF2-40B4-BE49-F238E27FC236}">
                  <a16:creationId xmlns:a16="http://schemas.microsoft.com/office/drawing/2014/main" id="{7EA846FB-2BF9-4A17-B933-665E6BCC5A1E}"/>
                </a:ext>
              </a:extLst>
            </p:cNvPr>
            <p:cNvSpPr/>
            <p:nvPr/>
          </p:nvSpPr>
          <p:spPr>
            <a:xfrm>
              <a:off x="4737207" y="2582530"/>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a:solidFill>
                    <a:srgbClr val="1A1A1A"/>
                  </a:solidFill>
                  <a:latin typeface="Malgun Gothic" pitchFamily="34" charset="0"/>
                  <a:ea typeface="Malgun Gothic" pitchFamily="34" charset="-122"/>
                  <a:cs typeface="Malgun Gothic" pitchFamily="34" charset="-120"/>
                </a:rPr>
                <a:t>Resource State</a:t>
              </a:r>
            </a:p>
            <a:p>
              <a:pPr algn="ctr"/>
              <a:r>
                <a:rPr lang="en-US" altLang="ko-KR" sz="1000">
                  <a:solidFill>
                    <a:srgbClr val="1A1A1A"/>
                  </a:solidFill>
                  <a:latin typeface="Malgun Gothic" pitchFamily="34" charset="0"/>
                  <a:ea typeface="Malgun Gothic" pitchFamily="34" charset="-122"/>
                  <a:cs typeface="Malgun Gothic" pitchFamily="34" charset="-120"/>
                </a:rPr>
                <a:t>Monitor</a:t>
              </a:r>
              <a:endParaRPr lang="en-US" altLang="ko-KR" sz="1000" dirty="0">
                <a:solidFill>
                  <a:srgbClr val="1A1A1A"/>
                </a:solidFill>
                <a:latin typeface="Malgun Gothic" pitchFamily="34" charset="0"/>
                <a:ea typeface="Malgun Gothic" pitchFamily="34" charset="-122"/>
                <a:cs typeface="Malgun Gothic" pitchFamily="34" charset="-120"/>
              </a:endParaRPr>
            </a:p>
          </p:txBody>
        </p:sp>
        <p:cxnSp>
          <p:nvCxnSpPr>
            <p:cNvPr id="146" name="직선 화살표 연결선 185">
              <a:extLst>
                <a:ext uri="{FF2B5EF4-FFF2-40B4-BE49-F238E27FC236}">
                  <a16:creationId xmlns:a16="http://schemas.microsoft.com/office/drawing/2014/main" id="{866738E6-B5E2-485B-BCC3-7AB7D686059C}"/>
                </a:ext>
              </a:extLst>
            </p:cNvPr>
            <p:cNvCxnSpPr>
              <a:cxnSpLocks/>
              <a:stCxn id="144" idx="3"/>
              <a:endCxn id="145" idx="1"/>
            </p:cNvCxnSpPr>
            <p:nvPr/>
          </p:nvCxnSpPr>
          <p:spPr>
            <a:xfrm>
              <a:off x="4324906" y="2615615"/>
              <a:ext cx="412301" cy="130378"/>
            </a:xfrm>
            <a:prstGeom prst="bentConnector3">
              <a:avLst>
                <a:gd name="adj1" fmla="val 50000"/>
              </a:avLst>
            </a:prstGeom>
            <a:noFill/>
            <a:ln w="9525">
              <a:solidFill>
                <a:schemeClr val="tx1"/>
              </a:solidFill>
              <a:prstDash val="solid"/>
              <a:headEnd type="none" w="med" len="med"/>
              <a:tailEnd type="triangle" w="med" len="med"/>
            </a:ln>
          </p:spPr>
        </p:cxnSp>
        <p:sp>
          <p:nvSpPr>
            <p:cNvPr id="149" name="Shape 37">
              <a:extLst>
                <a:ext uri="{FF2B5EF4-FFF2-40B4-BE49-F238E27FC236}">
                  <a16:creationId xmlns:a16="http://schemas.microsoft.com/office/drawing/2014/main" id="{D29B8A49-AE77-46A5-BF3C-C5FFF88BE9D4}"/>
                </a:ext>
              </a:extLst>
            </p:cNvPr>
            <p:cNvSpPr/>
            <p:nvPr/>
          </p:nvSpPr>
          <p:spPr>
            <a:xfrm>
              <a:off x="2815938" y="3112583"/>
              <a:ext cx="1508968" cy="297205"/>
            </a:xfrm>
            <a:prstGeom prst="rect">
              <a:avLst/>
            </a:prstGeom>
            <a:solidFill>
              <a:srgbClr val="FFFFFF"/>
            </a:solidFill>
            <a:ln w="9525">
              <a:solidFill>
                <a:schemeClr val="tx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Cost Evaluator</a:t>
              </a:r>
              <a:endParaRPr lang="en-US" altLang="ko-KR" sz="1000" b="1" dirty="0">
                <a:solidFill>
                  <a:srgbClr val="1A1A1A"/>
                </a:solidFill>
                <a:latin typeface="Malgun Gothic" pitchFamily="34" charset="0"/>
                <a:ea typeface="Malgun Gothic" pitchFamily="34" charset="-122"/>
              </a:endParaRPr>
            </a:p>
          </p:txBody>
        </p:sp>
        <p:cxnSp>
          <p:nvCxnSpPr>
            <p:cNvPr id="150" name="직선 화살표 연결선 185">
              <a:extLst>
                <a:ext uri="{FF2B5EF4-FFF2-40B4-BE49-F238E27FC236}">
                  <a16:creationId xmlns:a16="http://schemas.microsoft.com/office/drawing/2014/main" id="{EFEBEDC4-80EE-4735-B71E-6C1DFDD6FCDC}"/>
                </a:ext>
              </a:extLst>
            </p:cNvPr>
            <p:cNvCxnSpPr>
              <a:cxnSpLocks/>
              <a:stCxn id="144" idx="2"/>
              <a:endCxn id="149" idx="0"/>
            </p:cNvCxnSpPr>
            <p:nvPr/>
          </p:nvCxnSpPr>
          <p:spPr>
            <a:xfrm>
              <a:off x="3570422" y="2795424"/>
              <a:ext cx="0" cy="317159"/>
            </a:xfrm>
            <a:prstGeom prst="straightConnector1">
              <a:avLst/>
            </a:prstGeom>
            <a:noFill/>
            <a:ln w="9525">
              <a:solidFill>
                <a:schemeClr val="tx1"/>
              </a:solidFill>
              <a:prstDash val="solid"/>
              <a:headEnd type="none" w="med" len="med"/>
              <a:tailEnd type="triangle" w="med" len="med"/>
            </a:ln>
          </p:spPr>
        </p:cxnSp>
        <p:sp>
          <p:nvSpPr>
            <p:cNvPr id="151" name="Shape 37">
              <a:extLst>
                <a:ext uri="{FF2B5EF4-FFF2-40B4-BE49-F238E27FC236}">
                  <a16:creationId xmlns:a16="http://schemas.microsoft.com/office/drawing/2014/main" id="{1AFCAFB9-F8C0-41A8-8E3E-3B7ACC234BE6}"/>
                </a:ext>
              </a:extLst>
            </p:cNvPr>
            <p:cNvSpPr/>
            <p:nvPr/>
          </p:nvSpPr>
          <p:spPr>
            <a:xfrm>
              <a:off x="2815938" y="3584630"/>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algn="ctr"/>
              <a:r>
                <a:rPr lang="en-US" altLang="ko-KR" sz="900" b="1" dirty="0">
                  <a:solidFill>
                    <a:schemeClr val="accent2">
                      <a:lumMod val="75000"/>
                    </a:schemeClr>
                  </a:solidFill>
                  <a:latin typeface="Malgun Gothic" pitchFamily="34" charset="0"/>
                  <a:ea typeface="Malgun Gothic" pitchFamily="34" charset="-122"/>
                </a:rPr>
                <a:t>(Decision)</a:t>
              </a:r>
            </a:p>
          </p:txBody>
        </p:sp>
        <p:cxnSp>
          <p:nvCxnSpPr>
            <p:cNvPr id="152" name="직선 화살표 연결선 185">
              <a:extLst>
                <a:ext uri="{FF2B5EF4-FFF2-40B4-BE49-F238E27FC236}">
                  <a16:creationId xmlns:a16="http://schemas.microsoft.com/office/drawing/2014/main" id="{A5D1AF10-B4E4-4F84-8D33-8BACD09A70C2}"/>
                </a:ext>
              </a:extLst>
            </p:cNvPr>
            <p:cNvCxnSpPr>
              <a:cxnSpLocks/>
              <a:stCxn id="149" idx="2"/>
              <a:endCxn id="151" idx="0"/>
            </p:cNvCxnSpPr>
            <p:nvPr/>
          </p:nvCxnSpPr>
          <p:spPr>
            <a:xfrm>
              <a:off x="3570422" y="3409788"/>
              <a:ext cx="0" cy="174842"/>
            </a:xfrm>
            <a:prstGeom prst="straightConnector1">
              <a:avLst/>
            </a:prstGeom>
            <a:noFill/>
            <a:ln w="11430">
              <a:solidFill>
                <a:srgbClr val="888C91"/>
              </a:solidFill>
              <a:prstDash val="solid"/>
              <a:headEnd type="none"/>
              <a:tailEnd type="triangle"/>
            </a:ln>
          </p:spPr>
        </p:cxnSp>
        <p:cxnSp>
          <p:nvCxnSpPr>
            <p:cNvPr id="153" name="직선 화살표 연결선 185">
              <a:extLst>
                <a:ext uri="{FF2B5EF4-FFF2-40B4-BE49-F238E27FC236}">
                  <a16:creationId xmlns:a16="http://schemas.microsoft.com/office/drawing/2014/main" id="{667011A0-7D9C-4D04-BD0D-206D0F921C23}"/>
                </a:ext>
              </a:extLst>
            </p:cNvPr>
            <p:cNvCxnSpPr>
              <a:cxnSpLocks/>
              <a:stCxn id="151" idx="2"/>
              <a:endCxn id="124" idx="0"/>
            </p:cNvCxnSpPr>
            <p:nvPr/>
          </p:nvCxnSpPr>
          <p:spPr>
            <a:xfrm rot="5400000">
              <a:off x="3047159" y="3689034"/>
              <a:ext cx="268048" cy="778478"/>
            </a:xfrm>
            <a:prstGeom prst="bentConnector3">
              <a:avLst>
                <a:gd name="adj1" fmla="val 50000"/>
              </a:avLst>
            </a:prstGeom>
            <a:noFill/>
            <a:ln w="11430">
              <a:solidFill>
                <a:srgbClr val="888C91"/>
              </a:solidFill>
              <a:prstDash val="solid"/>
              <a:headEnd type="none"/>
              <a:tailEnd type="triangle"/>
            </a:ln>
          </p:spPr>
        </p:cxnSp>
        <p:sp>
          <p:nvSpPr>
            <p:cNvPr id="155" name="Shape 31">
              <a:extLst>
                <a:ext uri="{FF2B5EF4-FFF2-40B4-BE49-F238E27FC236}">
                  <a16:creationId xmlns:a16="http://schemas.microsoft.com/office/drawing/2014/main" id="{C0494BB5-740B-474B-8EDE-7DEE62853B08}"/>
                </a:ext>
              </a:extLst>
            </p:cNvPr>
            <p:cNvSpPr/>
            <p:nvPr/>
          </p:nvSpPr>
          <p:spPr>
            <a:xfrm>
              <a:off x="4393753" y="4212297"/>
              <a:ext cx="87545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57" name="직선 화살표 연결선 185">
              <a:extLst>
                <a:ext uri="{FF2B5EF4-FFF2-40B4-BE49-F238E27FC236}">
                  <a16:creationId xmlns:a16="http://schemas.microsoft.com/office/drawing/2014/main" id="{D2EDFE24-B445-4346-8805-83EFFC8CB053}"/>
                </a:ext>
              </a:extLst>
            </p:cNvPr>
            <p:cNvCxnSpPr>
              <a:cxnSpLocks/>
              <a:stCxn id="151" idx="2"/>
              <a:endCxn id="155" idx="0"/>
            </p:cNvCxnSpPr>
            <p:nvPr/>
          </p:nvCxnSpPr>
          <p:spPr>
            <a:xfrm rot="16200000" flipH="1">
              <a:off x="4066926" y="3447745"/>
              <a:ext cx="268048" cy="1261056"/>
            </a:xfrm>
            <a:prstGeom prst="bentConnector3">
              <a:avLst>
                <a:gd name="adj1" fmla="val 50000"/>
              </a:avLst>
            </a:prstGeom>
            <a:noFill/>
            <a:ln w="11430">
              <a:solidFill>
                <a:srgbClr val="888C91"/>
              </a:solidFill>
              <a:prstDash val="dash"/>
              <a:headEnd type="none"/>
              <a:tailEnd type="triangle"/>
            </a:ln>
          </p:spPr>
        </p:cxnSp>
        <p:sp>
          <p:nvSpPr>
            <p:cNvPr id="1271" name="C1 Critical path boundary"/>
            <p:cNvSpPr/>
            <p:nvPr/>
          </p:nvSpPr>
          <p:spPr>
            <a:xfrm>
              <a:off x="2695773" y="1800000"/>
              <a:ext cx="3420000" cy="2185000"/>
            </a:xfrm>
            <a:prstGeom prst="rect">
              <a:avLst/>
            </a:prstGeom>
            <a:noFill/>
            <a:ln w="12700">
              <a:solidFill>
                <a:srgbClr val="C76E31"/>
              </a:solidFill>
              <a:prstDash val="dash"/>
            </a:ln>
          </p:spPr>
          <p:txBody>
            <a:bodyPr rtlCol="0" anchor="ctr"/>
            <a:lstStyle/>
            <a:p>
              <a:pPr algn="ctr"/>
              <a:endParaRPr lang="en-US" altLang="ko-KR" sz="900" dirty="0">
                <a:solidFill>
                  <a:schemeClr val="bg1">
                    <a:lumMod val="50000"/>
                  </a:schemeClr>
                </a:solidFill>
              </a:endParaRPr>
            </a:p>
          </p:txBody>
        </p:sp>
        <p:sp>
          <p:nvSpPr>
            <p:cNvPr id="2293" name="C1 Critical path label"/>
            <p:cNvSpPr/>
            <p:nvPr/>
          </p:nvSpPr>
          <p:spPr>
            <a:xfrm>
              <a:off x="4330000" y="1815000"/>
              <a:ext cx="1440000" cy="250000"/>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 + Decision</a:t>
              </a:r>
            </a:p>
          </p:txBody>
        </p:sp>
        <p:cxnSp>
          <p:nvCxnSpPr>
            <p:cNvPr id="120" name="직선 화살표 연결선 185">
              <a:extLst>
                <a:ext uri="{FF2B5EF4-FFF2-40B4-BE49-F238E27FC236}">
                  <a16:creationId xmlns:a16="http://schemas.microsoft.com/office/drawing/2014/main" id="{6B405AD3-50C7-4140-923C-39C9EC62E997}"/>
                </a:ext>
              </a:extLst>
            </p:cNvPr>
            <p:cNvCxnSpPr>
              <a:cxnSpLocks/>
              <a:stCxn id="149" idx="1"/>
              <a:endCxn id="123" idx="0"/>
            </p:cNvCxnSpPr>
            <p:nvPr/>
          </p:nvCxnSpPr>
          <p:spPr>
            <a:xfrm rot="10800000" flipV="1">
              <a:off x="1977484" y="3261185"/>
              <a:ext cx="838455" cy="122381"/>
            </a:xfrm>
            <a:prstGeom prst="bentConnector2">
              <a:avLst/>
            </a:prstGeom>
            <a:noFill/>
            <a:ln w="9525">
              <a:solidFill>
                <a:schemeClr val="tx1"/>
              </a:solidFill>
              <a:prstDash val="solid"/>
              <a:headEnd type="none" w="med" len="med"/>
              <a:tailEnd type="triangle" w="med" len="med"/>
            </a:ln>
          </p:spPr>
        </p:cxnSp>
        <p:sp>
          <p:nvSpPr>
            <p:cNvPr id="123" name="KV Cache Manager">
              <a:extLst>
                <a:ext uri="{FF2B5EF4-FFF2-40B4-BE49-F238E27FC236}">
                  <a16:creationId xmlns:a16="http://schemas.microsoft.com/office/drawing/2014/main" id="{AF50C5FD-82D2-49A4-BB8D-5B9CCB95E6F0}"/>
                </a:ext>
              </a:extLst>
            </p:cNvPr>
            <p:cNvSpPr/>
            <p:nvPr/>
          </p:nvSpPr>
          <p:spPr>
            <a:xfrm>
              <a:off x="1422351" y="3383568"/>
              <a:ext cx="1110263" cy="46576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grpSp>
      <p:sp>
        <p:nvSpPr>
          <p:cNvPr id="207" name="TextBox 206"/>
          <p:cNvSpPr txBox="1"/>
          <p:nvPr/>
        </p:nvSpPr>
        <p:spPr>
          <a:xfrm>
            <a:off x="6184584" y="1397170"/>
            <a:ext cx="6263640" cy="261610"/>
          </a:xfrm>
          <a:prstGeom prst="rect">
            <a:avLst/>
          </a:prstGeom>
          <a:noFill/>
        </p:spPr>
        <p:txBody>
          <a:bodyPr wrap="square" rtlCol="0">
            <a:spAutoFit/>
          </a:bodyPr>
          <a:lstStyle>
            <a:defPPr>
              <a:defRPr lang="ko-KR"/>
            </a:defPPr>
            <a:lvl1pPr>
              <a:defRPr sz="1100"/>
            </a:lvl1pPr>
          </a:lstStyle>
          <a:p>
            <a:r>
              <a:rPr dirty="0">
                <a:solidFill>
                  <a:srgbClr val="0000FF"/>
                </a:solidFill>
              </a:rPr>
              <a:t>“</a:t>
            </a:r>
            <a:r>
              <a:rPr lang="ko-KR" altLang="en-US" dirty="0">
                <a:solidFill>
                  <a:srgbClr val="0000FF"/>
                </a:solidFill>
              </a:rPr>
              <a:t>계획의 구간을 확장하고</a:t>
            </a:r>
            <a:r>
              <a:rPr lang="en-US" altLang="ko-KR" dirty="0">
                <a:solidFill>
                  <a:srgbClr val="0000FF"/>
                </a:solidFill>
              </a:rPr>
              <a:t>, Queue</a:t>
            </a:r>
            <a:r>
              <a:rPr lang="ko-KR" altLang="en-US" dirty="0">
                <a:solidFill>
                  <a:srgbClr val="0000FF"/>
                </a:solidFill>
              </a:rPr>
              <a:t>의 크기를 보고 계획 시점을 조율</a:t>
            </a:r>
            <a:r>
              <a:rPr lang="en-US" altLang="ko-KR" dirty="0">
                <a:solidFill>
                  <a:srgbClr val="0000FF"/>
                </a:solidFill>
              </a:rPr>
              <a:t>”</a:t>
            </a:r>
            <a:endParaRPr lang="en-US" dirty="0">
              <a:solidFill>
                <a:srgbClr val="0000FF"/>
              </a:solidFill>
            </a:endParaRPr>
          </a:p>
        </p:txBody>
      </p:sp>
      <p:sp>
        <p:nvSpPr>
          <p:cNvPr id="85" name="실행 단추: 앞으로 또는 다음 101">
            <a:hlinkClick r:id="rId3" action="ppaction://hlinksldjump" highlightClick="1"/>
            <a:extLst>
              <a:ext uri="{FF2B5EF4-FFF2-40B4-BE49-F238E27FC236}">
                <a16:creationId xmlns:a16="http://schemas.microsoft.com/office/drawing/2014/main" id="{0769863F-A187-437D-8436-48DD90BD0A20}"/>
              </a:ext>
            </a:extLst>
          </p:cNvPr>
          <p:cNvSpPr/>
          <p:nvPr/>
        </p:nvSpPr>
        <p:spPr>
          <a:xfrm>
            <a:off x="11789792"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실행 단추: 앞으로 또는 다음 107">
            <a:hlinkClick r:id="rId4" action="ppaction://hlinksldjump" highlightClick="1"/>
            <a:extLst>
              <a:ext uri="{FF2B5EF4-FFF2-40B4-BE49-F238E27FC236}">
                <a16:creationId xmlns:a16="http://schemas.microsoft.com/office/drawing/2014/main" id="{533DDD3B-0393-4D1F-8934-2A4BED6AD700}"/>
              </a:ext>
            </a:extLst>
          </p:cNvPr>
          <p:cNvSpPr/>
          <p:nvPr/>
        </p:nvSpPr>
        <p:spPr>
          <a:xfrm>
            <a:off x="943029" y="1864079"/>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EA6B3DAC-C1A0-4671-8D94-3321E9CF568C}"/>
              </a:ext>
            </a:extLst>
          </p:cNvPr>
          <p:cNvSpPr txBox="1"/>
          <p:nvPr/>
        </p:nvSpPr>
        <p:spPr>
          <a:xfrm>
            <a:off x="299968" y="1875484"/>
            <a:ext cx="730531" cy="230832"/>
          </a:xfrm>
          <a:prstGeom prst="rect">
            <a:avLst/>
          </a:prstGeom>
          <a:noFill/>
        </p:spPr>
        <p:txBody>
          <a:bodyPr wrap="square" rtlCol="0">
            <a:spAutoFit/>
          </a:bodyPr>
          <a:lstStyle>
            <a:defPPr>
              <a:defRPr lang="ko-KR"/>
            </a:defPPr>
            <a:lvl1pPr>
              <a:defRPr sz="1100"/>
            </a:lvl1pPr>
          </a:lstStyle>
          <a:p>
            <a:r>
              <a:rPr lang="en-US" sz="900" dirty="0"/>
              <a:t>Cost </a:t>
            </a:r>
            <a:r>
              <a:rPr lang="ko-KR" altLang="en-US" sz="900" dirty="0"/>
              <a:t>참고</a:t>
            </a:r>
            <a:endParaRPr lang="en-US" sz="900" dirty="0"/>
          </a:p>
        </p:txBody>
      </p:sp>
      <p:sp>
        <p:nvSpPr>
          <p:cNvPr id="91" name="실행 단추: 앞으로 또는 다음 101">
            <a:hlinkClick r:id="rId5" action="ppaction://hlinksldjump" highlightClick="1"/>
            <a:extLst>
              <a:ext uri="{FF2B5EF4-FFF2-40B4-BE49-F238E27FC236}">
                <a16:creationId xmlns:a16="http://schemas.microsoft.com/office/drawing/2014/main" id="{C663284F-7CC3-4744-A191-35C2BE755D86}"/>
              </a:ext>
            </a:extLst>
          </p:cNvPr>
          <p:cNvSpPr/>
          <p:nvPr/>
        </p:nvSpPr>
        <p:spPr>
          <a:xfrm>
            <a:off x="5858699"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모서리가 둥근 직사각형 91"/>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F2 </a:t>
            </a:r>
            <a:r>
              <a:rPr lang="ko-KR" altLang="en-US" sz="700" dirty="0">
                <a:latin typeface="맑은 고딕" panose="020B0503020000020004" pitchFamily="50" charset="-127"/>
              </a:rPr>
              <a:t>추론 스케줄링</a:t>
            </a:r>
          </a:p>
        </p:txBody>
      </p:sp>
      <p:sp>
        <p:nvSpPr>
          <p:cNvPr id="93"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94" name="모서리가 둥근 직사각형 37">
            <a:extLst>
              <a:ext uri="{FF2B5EF4-FFF2-40B4-BE49-F238E27FC236}">
                <a16:creationId xmlns:a16="http://schemas.microsoft.com/office/drawing/2014/main" id="{E99FD0CC-4F44-40AB-8E8E-E5E878FDD956}"/>
              </a:ext>
            </a:extLst>
          </p:cNvPr>
          <p:cNvSpPr/>
          <p:nvPr/>
        </p:nvSpPr>
        <p:spPr>
          <a:xfrm>
            <a:off x="9252022"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5" name="모서리가 둥근 직사각형 37">
            <a:extLst>
              <a:ext uri="{FF2B5EF4-FFF2-40B4-BE49-F238E27FC236}">
                <a16:creationId xmlns:a16="http://schemas.microsoft.com/office/drawing/2014/main" id="{63E127C8-1374-4049-8A7A-84E9B191F365}"/>
              </a:ext>
            </a:extLst>
          </p:cNvPr>
          <p:cNvSpPr/>
          <p:nvPr/>
        </p:nvSpPr>
        <p:spPr>
          <a:xfrm>
            <a:off x="10141608" y="821023"/>
            <a:ext cx="942771" cy="155341"/>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Q2 </a:t>
            </a:r>
            <a:r>
              <a:rPr lang="ko-KR" altLang="en-US" sz="700" dirty="0" smtClean="0">
                <a:latin typeface="맑은 고딕" panose="020B0503020000020004" pitchFamily="50" charset="-127"/>
              </a:rPr>
              <a:t>고부하 지연시간</a:t>
            </a:r>
            <a:endParaRPr lang="ko-KR" altLang="en-US" sz="700" dirty="0">
              <a:latin typeface="맑은 고딕" panose="020B0503020000020004" pitchFamily="50" charset="-127"/>
            </a:endParaRPr>
          </a:p>
        </p:txBody>
      </p:sp>
      <p:sp>
        <p:nvSpPr>
          <p:cNvPr id="96" name="모서리가 둥근 직사각형 37">
            <a:extLst>
              <a:ext uri="{FF2B5EF4-FFF2-40B4-BE49-F238E27FC236}">
                <a16:creationId xmlns:a16="http://schemas.microsoft.com/office/drawing/2014/main" id="{8B476E63-C72E-465A-98C8-0CB6FC0C7249}"/>
              </a:ext>
            </a:extLst>
          </p:cNvPr>
          <p:cNvSpPr/>
          <p:nvPr/>
        </p:nvSpPr>
        <p:spPr>
          <a:xfrm>
            <a:off x="11137079"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Q3 </a:t>
            </a:r>
            <a:r>
              <a:rPr lang="ko-KR" altLang="en-US" sz="700" dirty="0" smtClean="0">
                <a:latin typeface="맑은 고딕" panose="020B0503020000020004" pitchFamily="50" charset="-127"/>
              </a:rPr>
              <a:t>확장성</a:t>
            </a:r>
            <a:endParaRPr lang="ko-KR" altLang="en-US" sz="700" dirty="0">
              <a:latin typeface="맑은 고딕" panose="020B0503020000020004" pitchFamily="50" charset="-127"/>
            </a:endParaRPr>
          </a:p>
        </p:txBody>
      </p:sp>
      <p:sp>
        <p:nvSpPr>
          <p:cNvPr id="98" name="모서리가 둥근 직사각형 97"/>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추론 요청 관리</a:t>
            </a:r>
          </a:p>
        </p:txBody>
      </p:sp>
      <p:sp>
        <p:nvSpPr>
          <p:cNvPr id="100" name="모서리가 둥근 직사각형 37">
            <a:extLst>
              <a:ext uri="{FF2B5EF4-FFF2-40B4-BE49-F238E27FC236}">
                <a16:creationId xmlns:a16="http://schemas.microsoft.com/office/drawing/2014/main" id="{476B6E1C-7561-417D-A669-4DEFCE610223}"/>
              </a:ext>
            </a:extLst>
          </p:cNvPr>
          <p:cNvSpPr/>
          <p:nvPr/>
        </p:nvSpPr>
        <p:spPr>
          <a:xfrm>
            <a:off x="7855986" y="801875"/>
            <a:ext cx="110413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smtClean="0">
                <a:latin typeface="맑은 고딕" panose="020B0503020000020004" pitchFamily="50" charset="-127"/>
              </a:rPr>
              <a:t>C2 </a:t>
            </a:r>
            <a:r>
              <a:rPr lang="ko-KR" altLang="en-US" sz="700" dirty="0" smtClean="0">
                <a:latin typeface="맑은 고딕" panose="020B0503020000020004" pitchFamily="50" charset="-127"/>
              </a:rPr>
              <a:t>모델 </a:t>
            </a:r>
            <a:r>
              <a:rPr lang="en-US" altLang="ko-KR" sz="700" dirty="0" smtClean="0">
                <a:latin typeface="맑은 고딕" panose="020B0503020000020004" pitchFamily="50" charset="-127"/>
              </a:rPr>
              <a:t>Context </a:t>
            </a:r>
            <a:r>
              <a:rPr lang="ko-KR" altLang="en-US" sz="700" dirty="0" smtClean="0">
                <a:latin typeface="맑은 고딕" panose="020B0503020000020004" pitchFamily="50" charset="-127"/>
              </a:rPr>
              <a:t>길이</a:t>
            </a:r>
            <a:endParaRPr lang="ko-KR" altLang="en-US" sz="700" dirty="0">
              <a:latin typeface="맑은 고딕" panose="020B0503020000020004" pitchFamily="50" charset="-127"/>
            </a:endParaRPr>
          </a:p>
        </p:txBody>
      </p:sp>
      <p:sp>
        <p:nvSpPr>
          <p:cNvPr id="101" name="모서리가 둥근 직사각형 37">
            <a:extLst>
              <a:ext uri="{FF2B5EF4-FFF2-40B4-BE49-F238E27FC236}">
                <a16:creationId xmlns:a16="http://schemas.microsoft.com/office/drawing/2014/main" id="{476B6E1C-7561-417D-A669-4DEFCE610223}"/>
              </a:ext>
            </a:extLst>
          </p:cNvPr>
          <p:cNvSpPr/>
          <p:nvPr/>
        </p:nvSpPr>
        <p:spPr>
          <a:xfrm>
            <a:off x="7872631"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spTree>
    <p:extLst>
      <p:ext uri="{BB962C8B-B14F-4D97-AF65-F5344CB8AC3E}">
        <p14:creationId xmlns:p14="http://schemas.microsoft.com/office/powerpoint/2010/main" val="248356367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배경 </a:t>
            </a:r>
            <a:endParaRPr lang="en-US" altLang="ko-KR" dirty="0"/>
          </a:p>
        </p:txBody>
      </p:sp>
      <p:sp>
        <p:nvSpPr>
          <p:cNvPr id="79" name="Text 22"/>
          <p:cNvSpPr/>
          <p:nvPr/>
        </p:nvSpPr>
        <p:spPr>
          <a:xfrm>
            <a:off x="359582" y="634765"/>
            <a:ext cx="11687638" cy="875444"/>
          </a:xfrm>
          <a:prstGeom prst="rect">
            <a:avLst/>
          </a:prstGeom>
          <a:noFill/>
          <a:ln/>
        </p:spPr>
        <p:txBody>
          <a:bodyPr wrap="square" lIns="0" tIns="0" rIns="0" bIns="0" rtlCol="0" anchor="t"/>
          <a:lstStyle/>
          <a:p>
            <a:pPr marL="285750" indent="-285750">
              <a:lnSpc>
                <a:spcPct val="150000"/>
              </a:lnSpc>
              <a:buFontTx/>
              <a:buChar char="-"/>
            </a:pPr>
            <a:r>
              <a:rPr lang="ko-KR" altLang="en-US" sz="1200" dirty="0">
                <a:latin typeface="맑은 고딕" panose="020B0503020000020004" pitchFamily="50" charset="-127"/>
              </a:rPr>
              <a:t>이기종 메모리 </a:t>
            </a:r>
            <a:r>
              <a:rPr lang="en-US" altLang="ko-KR" sz="1200" dirty="0">
                <a:latin typeface="맑은 고딕" panose="020B0503020000020004" pitchFamily="50" charset="-127"/>
              </a:rPr>
              <a:t>tier</a:t>
            </a:r>
            <a:r>
              <a:rPr lang="ko-KR" altLang="en-US" sz="1200" dirty="0">
                <a:latin typeface="맑은 고딕" panose="020B0503020000020004" pitchFamily="50" charset="-127"/>
              </a:rPr>
              <a:t>에 데이터를 분산 배치하더라도 </a:t>
            </a:r>
            <a:r>
              <a:rPr lang="en-US" altLang="ko-KR" sz="1200" b="1" dirty="0">
                <a:solidFill>
                  <a:srgbClr val="FF0000"/>
                </a:solidFill>
                <a:latin typeface="맑은 고딕" panose="020B0503020000020004" pitchFamily="50" charset="-127"/>
              </a:rPr>
              <a:t>KV </a:t>
            </a:r>
            <a:r>
              <a:rPr lang="ko-KR" altLang="en-US" sz="1200" b="1" dirty="0">
                <a:solidFill>
                  <a:srgbClr val="FF0000"/>
                </a:solidFill>
                <a:latin typeface="맑은 고딕" panose="020B0503020000020004" pitchFamily="50" charset="-127"/>
              </a:rPr>
              <a:t>캐시는 여전히 </a:t>
            </a:r>
            <a:r>
              <a:rPr lang="en-US" altLang="ko-KR" sz="1200" b="1" dirty="0">
                <a:solidFill>
                  <a:srgbClr val="FF0000"/>
                </a:solidFill>
                <a:latin typeface="맑은 고딕" panose="020B0503020000020004" pitchFamily="50" charset="-127"/>
              </a:rPr>
              <a:t>AI </a:t>
            </a:r>
            <a:r>
              <a:rPr lang="ko-KR" altLang="en-US" sz="1200" b="1" dirty="0">
                <a:solidFill>
                  <a:srgbClr val="FF0000"/>
                </a:solidFill>
                <a:latin typeface="맑은 고딕" panose="020B0503020000020004" pitchFamily="50" charset="-127"/>
              </a:rPr>
              <a:t>추론 시스템의 주요 병목</a:t>
            </a:r>
            <a:r>
              <a:rPr lang="ko-KR" altLang="en-US" sz="1200" dirty="0">
                <a:latin typeface="맑은 고딕" panose="020B0503020000020004" pitchFamily="50" charset="-127"/>
              </a:rPr>
              <a:t>으로 작용</a:t>
            </a:r>
            <a:endParaRPr lang="en-US" altLang="ko-KR" sz="1200" dirty="0">
              <a:latin typeface="맑은 고딕" panose="020B0503020000020004" pitchFamily="50" charset="-127"/>
            </a:endParaRPr>
          </a:p>
          <a:p>
            <a:pPr marL="285750" indent="-285750">
              <a:lnSpc>
                <a:spcPct val="150000"/>
              </a:lnSpc>
              <a:buFontTx/>
              <a:buChar char="-"/>
            </a:pPr>
            <a:r>
              <a:rPr lang="ko-KR" altLang="en-US" sz="1200" dirty="0">
                <a:latin typeface="맑은 고딕" panose="020B0503020000020004" pitchFamily="50" charset="-127"/>
              </a:rPr>
              <a:t>동일 </a:t>
            </a:r>
            <a:r>
              <a:rPr lang="en-US" altLang="ko-KR" sz="1200" dirty="0">
                <a:latin typeface="맑은 고딕" panose="020B0503020000020004" pitchFamily="50" charset="-127"/>
              </a:rPr>
              <a:t>Context</a:t>
            </a:r>
            <a:r>
              <a:rPr lang="ko-KR" altLang="en-US" sz="1200" dirty="0">
                <a:latin typeface="맑은 고딕" panose="020B0503020000020004" pitchFamily="50" charset="-127"/>
              </a:rPr>
              <a:t>의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재사용으로 </a:t>
            </a:r>
            <a:r>
              <a:rPr lang="en-US" altLang="ko-KR" sz="1200" dirty="0">
                <a:latin typeface="맑은 고딕" panose="020B0503020000020004" pitchFamily="50" charset="-127"/>
              </a:rPr>
              <a:t>Prefill </a:t>
            </a:r>
            <a:r>
              <a:rPr lang="ko-KR" altLang="en-US" sz="1200" dirty="0">
                <a:latin typeface="맑은 고딕" panose="020B0503020000020004" pitchFamily="50" charset="-127"/>
              </a:rPr>
              <a:t>연산을 생략할 수 있으나 </a:t>
            </a:r>
            <a:r>
              <a:rPr lang="en-US" altLang="ko-KR" sz="1200" dirty="0">
                <a:latin typeface="맑은 고딕" panose="020B0503020000020004" pitchFamily="50" charset="-127"/>
              </a:rPr>
              <a:t>Prefix </a:t>
            </a:r>
            <a:r>
              <a:rPr lang="ko-KR" altLang="en-US" sz="1200" dirty="0">
                <a:latin typeface="맑은 고딕" panose="020B0503020000020004" pitchFamily="50" charset="-127"/>
              </a:rPr>
              <a:t>일치 조건으로 인해 </a:t>
            </a:r>
            <a:r>
              <a:rPr lang="ko-KR" altLang="en-US" sz="1200" dirty="0" err="1">
                <a:latin typeface="맑은 고딕" panose="020B0503020000020004" pitchFamily="50" charset="-127"/>
              </a:rPr>
              <a:t>재사용률이</a:t>
            </a:r>
            <a:r>
              <a:rPr lang="ko-KR" altLang="en-US" sz="1200" dirty="0">
                <a:latin typeface="맑은 고딕" panose="020B0503020000020004" pitchFamily="50" charset="-127"/>
              </a:rPr>
              <a:t> 제한적</a:t>
            </a:r>
            <a:endParaRPr lang="en-US" altLang="ko-KR" sz="1200" dirty="0">
              <a:latin typeface="맑은 고딕" panose="020B0503020000020004" pitchFamily="50" charset="-127"/>
            </a:endParaRPr>
          </a:p>
          <a:p>
            <a:pPr marL="285750" indent="-285750">
              <a:lnSpc>
                <a:spcPct val="150000"/>
              </a:lnSpc>
              <a:buFontTx/>
              <a:buChar char="-"/>
            </a:pPr>
            <a:r>
              <a:rPr lang="ko-KR" altLang="en-US" sz="1200" dirty="0">
                <a:latin typeface="맑은 고딕" panose="020B0503020000020004" pitchFamily="50" charset="-127"/>
              </a:rPr>
              <a:t>토큰 순서에 유연하게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a:t>
            </a:r>
            <a:r>
              <a:rPr lang="ko-KR" altLang="en-US" sz="1200" dirty="0" err="1">
                <a:latin typeface="맑은 고딕" panose="020B0503020000020004" pitchFamily="50" charset="-127"/>
              </a:rPr>
              <a:t>재사용률은</a:t>
            </a:r>
            <a:r>
              <a:rPr lang="ko-KR" altLang="en-US" sz="1200" dirty="0">
                <a:latin typeface="맑은 고딕" panose="020B0503020000020004" pitchFamily="50" charset="-127"/>
              </a:rPr>
              <a:t> 높이되</a:t>
            </a:r>
            <a:r>
              <a:rPr lang="en-US" altLang="ko-KR" sz="1200" dirty="0">
                <a:latin typeface="맑은 고딕" panose="020B0503020000020004" pitchFamily="50" charset="-127"/>
              </a:rPr>
              <a:t>, </a:t>
            </a:r>
            <a:r>
              <a:rPr lang="ko-KR" altLang="en-US" sz="1200" dirty="0">
                <a:latin typeface="맑은 고딕" panose="020B0503020000020004" pitchFamily="50" charset="-127"/>
              </a:rPr>
              <a:t>필요한 부분만 선택적으로 재계산하여 정확도를 보장하는 구조 필요 </a:t>
            </a:r>
            <a:endParaRPr lang="en-US" altLang="ko-KR" sz="1200" dirty="0">
              <a:latin typeface="맑은 고딕" panose="020B0503020000020004" pitchFamily="50" charset="-127"/>
            </a:endParaRPr>
          </a:p>
        </p:txBody>
      </p:sp>
      <p:sp>
        <p:nvSpPr>
          <p:cNvPr id="9062" name="Rectangle 9061"/>
          <p:cNvSpPr/>
          <p:nvPr/>
        </p:nvSpPr>
        <p:spPr>
          <a:xfrm>
            <a:off x="426284" y="1677714"/>
            <a:ext cx="5440680" cy="3299712"/>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9064" name="Rectangle 9063"/>
          <p:cNvSpPr/>
          <p:nvPr/>
        </p:nvSpPr>
        <p:spPr>
          <a:xfrm>
            <a:off x="6355080" y="1677713"/>
            <a:ext cx="5440680" cy="3299713"/>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9065" name="Rounded Rectangle 9064"/>
          <p:cNvSpPr/>
          <p:nvPr/>
        </p:nvSpPr>
        <p:spPr>
          <a:xfrm>
            <a:off x="6687803" y="1798529"/>
            <a:ext cx="4697755"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1000" b="1" i="0" dirty="0">
                <a:solidFill>
                  <a:srgbClr val="FFFFFF"/>
                </a:solidFill>
                <a:latin typeface="맑은 고딕"/>
                <a:ea typeface="맑은 고딕"/>
              </a:rPr>
              <a:t>재사용 </a:t>
            </a:r>
            <a:r>
              <a:rPr lang="en-US" altLang="ko-KR" sz="1000" b="1" dirty="0">
                <a:solidFill>
                  <a:srgbClr val="FFFFFF"/>
                </a:solidFill>
                <a:latin typeface="맑은 고딕"/>
                <a:ea typeface="맑은 고딕"/>
              </a:rPr>
              <a:t>+ </a:t>
            </a:r>
            <a:r>
              <a:rPr lang="ko-KR" altLang="en-US" sz="1000" b="1" dirty="0">
                <a:solidFill>
                  <a:srgbClr val="FFFFFF"/>
                </a:solidFill>
                <a:latin typeface="맑은 고딕"/>
                <a:ea typeface="맑은 고딕"/>
              </a:rPr>
              <a:t>선택적 재계산 </a:t>
            </a:r>
            <a:r>
              <a:rPr lang="en-US" altLang="ko-KR" sz="1000" b="1" i="0" dirty="0">
                <a:solidFill>
                  <a:srgbClr val="FFFFFF"/>
                </a:solidFill>
                <a:latin typeface="맑은 고딕"/>
                <a:ea typeface="맑은 고딕"/>
              </a:rPr>
              <a:t>(Blending)</a:t>
            </a:r>
            <a:endParaRPr sz="1000" b="1" i="0" dirty="0">
              <a:solidFill>
                <a:srgbClr val="FFFFFF"/>
              </a:solidFill>
              <a:latin typeface="맑은 고딕"/>
              <a:ea typeface="맑은 고딕"/>
            </a:endParaRPr>
          </a:p>
        </p:txBody>
      </p:sp>
      <p:sp>
        <p:nvSpPr>
          <p:cNvPr id="9066" name="Right Arrow 9065"/>
          <p:cNvSpPr/>
          <p:nvPr/>
        </p:nvSpPr>
        <p:spPr>
          <a:xfrm>
            <a:off x="5943600" y="3083927"/>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141" name="TextBox 9140"/>
          <p:cNvSpPr txBox="1"/>
          <p:nvPr/>
        </p:nvSpPr>
        <p:spPr>
          <a:xfrm>
            <a:off x="438495" y="5133393"/>
            <a:ext cx="5486400" cy="184666"/>
          </a:xfrm>
          <a:prstGeom prst="rect">
            <a:avLst/>
          </a:prstGeom>
          <a:noFill/>
        </p:spPr>
        <p:txBody>
          <a:bodyPr wrap="square" lIns="0" tIns="0" rIns="0" bIns="0" anchor="t">
            <a:spAutoFit/>
          </a:bodyPr>
          <a:lstStyle/>
          <a:p>
            <a:pPr algn="l"/>
            <a:r>
              <a:rPr sz="1200" b="1" i="0" dirty="0">
                <a:solidFill>
                  <a:srgbClr val="404040"/>
                </a:solidFill>
                <a:latin typeface="맑은 고딕"/>
                <a:ea typeface="맑은 고딕"/>
              </a:rPr>
              <a:t>KV </a:t>
            </a:r>
            <a:r>
              <a:rPr sz="1200" b="1" i="0" dirty="0" err="1">
                <a:solidFill>
                  <a:srgbClr val="404040"/>
                </a:solidFill>
                <a:latin typeface="맑은 고딕"/>
                <a:ea typeface="맑은 고딕"/>
              </a:rPr>
              <a:t>수명주기</a:t>
            </a:r>
            <a:endParaRPr sz="1200" b="1" i="0" dirty="0">
              <a:solidFill>
                <a:srgbClr val="404040"/>
              </a:solidFill>
              <a:latin typeface="맑은 고딕"/>
              <a:ea typeface="맑은 고딕"/>
            </a:endParaRPr>
          </a:p>
        </p:txBody>
      </p:sp>
      <p:sp>
        <p:nvSpPr>
          <p:cNvPr id="9142" name="Rounded Rectangle 9141"/>
          <p:cNvSpPr/>
          <p:nvPr/>
        </p:nvSpPr>
        <p:spPr>
          <a:xfrm>
            <a:off x="438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생</a:t>
            </a:r>
            <a:r>
              <a:rPr lang="ko-KR" altLang="en-US" sz="1200" b="1" i="0" dirty="0">
                <a:solidFill>
                  <a:srgbClr val="000000"/>
                </a:solidFill>
                <a:latin typeface="맑은 고딕"/>
                <a:ea typeface="맑은 고딕"/>
              </a:rPr>
              <a:t>성</a:t>
            </a:r>
            <a:endParaRPr sz="1200" b="1" i="0" dirty="0">
              <a:solidFill>
                <a:srgbClr val="000000"/>
              </a:solidFill>
              <a:latin typeface="맑은 고딕"/>
              <a:ea typeface="맑은 고딕"/>
            </a:endParaRPr>
          </a:p>
        </p:txBody>
      </p:sp>
      <p:cxnSp>
        <p:nvCxnSpPr>
          <p:cNvPr id="9143" name="Connector 9142"/>
          <p:cNvCxnSpPr/>
          <p:nvPr/>
        </p:nvCxnSpPr>
        <p:spPr>
          <a:xfrm>
            <a:off x="2450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4" name="Rounded Rectangle 9143"/>
          <p:cNvSpPr/>
          <p:nvPr/>
        </p:nvSpPr>
        <p:spPr>
          <a:xfrm>
            <a:off x="2724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a:t>
            </a:r>
            <a:r>
              <a:rPr sz="1200" b="1" i="0" dirty="0" err="1">
                <a:solidFill>
                  <a:srgbClr val="000000"/>
                </a:solidFill>
                <a:latin typeface="맑은 고딕"/>
                <a:ea typeface="맑은 고딕"/>
              </a:rPr>
              <a:t>배치·이동</a:t>
            </a:r>
            <a:r>
              <a:rPr lang="en-US" sz="1200" b="1" i="0" dirty="0">
                <a:solidFill>
                  <a:srgbClr val="000000"/>
                </a:solidFill>
                <a:latin typeface="맑은 고딕"/>
                <a:ea typeface="맑은 고딕"/>
              </a:rPr>
              <a:t> </a:t>
            </a:r>
            <a:endParaRPr sz="1200" b="1" i="0" dirty="0">
              <a:solidFill>
                <a:srgbClr val="000000"/>
              </a:solidFill>
              <a:latin typeface="맑은 고딕"/>
              <a:ea typeface="맑은 고딕"/>
            </a:endParaRPr>
          </a:p>
          <a:p>
            <a:pPr algn="ctr">
              <a:lnSpc>
                <a:spcPct val="150000"/>
              </a:lnSpc>
            </a:pPr>
            <a:r>
              <a:rPr sz="1050" b="0" i="0" dirty="0" err="1">
                <a:solidFill>
                  <a:srgbClr val="000000"/>
                </a:solidFill>
                <a:latin typeface="맑은 고딕"/>
                <a:ea typeface="맑은 고딕"/>
              </a:rPr>
              <a:t>어느</a:t>
            </a:r>
            <a:r>
              <a:rPr sz="1050" b="0" i="0" dirty="0">
                <a:solidFill>
                  <a:srgbClr val="000000"/>
                </a:solidFill>
                <a:latin typeface="맑은 고딕"/>
                <a:ea typeface="맑은 고딕"/>
              </a:rPr>
              <a:t> </a:t>
            </a:r>
            <a:r>
              <a:rPr sz="1050" b="0" i="0" dirty="0" err="1">
                <a:solidFill>
                  <a:srgbClr val="000000"/>
                </a:solidFill>
                <a:latin typeface="맑은 고딕"/>
                <a:ea typeface="맑은 고딕"/>
              </a:rPr>
              <a:t>tier에</a:t>
            </a:r>
            <a:r>
              <a:rPr sz="1050" b="0" i="0" dirty="0">
                <a:solidFill>
                  <a:srgbClr val="000000"/>
                </a:solidFill>
                <a:latin typeface="맑은 고딕"/>
                <a:ea typeface="맑은 고딕"/>
              </a:rPr>
              <a:t> </a:t>
            </a:r>
            <a:r>
              <a:rPr sz="1050" b="0" i="0" dirty="0" err="1">
                <a:solidFill>
                  <a:srgbClr val="000000"/>
                </a:solidFill>
                <a:latin typeface="맑은 고딕"/>
                <a:ea typeface="맑은 고딕"/>
              </a:rPr>
              <a:t>둘지</a:t>
            </a:r>
            <a:r>
              <a:rPr lang="en-US" sz="1050" b="0" i="0" dirty="0">
                <a:solidFill>
                  <a:srgbClr val="000000"/>
                </a:solidFill>
                <a:latin typeface="맑은 고딕"/>
                <a:ea typeface="맑은 고딕"/>
              </a:rPr>
              <a:t>(</a:t>
            </a:r>
            <a:r>
              <a:rPr sz="1050" b="0" i="0" dirty="0">
                <a:solidFill>
                  <a:srgbClr val="000000"/>
                </a:solidFill>
                <a:latin typeface="맑은 고딕"/>
                <a:ea typeface="맑은 고딕"/>
              </a:rPr>
              <a:t>DP1</a:t>
            </a:r>
            <a:r>
              <a:rPr lang="en-US" sz="1050" b="0" i="0" dirty="0">
                <a:solidFill>
                  <a:srgbClr val="000000"/>
                </a:solidFill>
                <a:latin typeface="맑은 고딕"/>
                <a:ea typeface="맑은 고딕"/>
              </a:rPr>
              <a:t>)</a:t>
            </a:r>
            <a:endParaRPr sz="1050" b="0" i="0" dirty="0">
              <a:solidFill>
                <a:srgbClr val="000000"/>
              </a:solidFill>
              <a:latin typeface="맑은 고딕"/>
              <a:ea typeface="맑은 고딕"/>
            </a:endParaRPr>
          </a:p>
        </p:txBody>
      </p:sp>
      <p:cxnSp>
        <p:nvCxnSpPr>
          <p:cNvPr id="9145" name="Connector 9144"/>
          <p:cNvCxnSpPr/>
          <p:nvPr/>
        </p:nvCxnSpPr>
        <p:spPr>
          <a:xfrm>
            <a:off x="4736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6" name="Rounded Rectangle 9145"/>
          <p:cNvSpPr/>
          <p:nvPr/>
        </p:nvSpPr>
        <p:spPr>
          <a:xfrm>
            <a:off x="5010495" y="5405327"/>
            <a:ext cx="2011680" cy="468535"/>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a:t>
            </a:r>
            <a:r>
              <a:rPr sz="1200" b="1" i="0" dirty="0" err="1">
                <a:solidFill>
                  <a:srgbClr val="000000"/>
                </a:solidFill>
                <a:latin typeface="맑은 고딕"/>
                <a:ea typeface="맑은 고딕"/>
              </a:rPr>
              <a:t>재사용</a:t>
            </a:r>
            <a:r>
              <a:rPr lang="en-US" sz="1200" b="1" dirty="0">
                <a:solidFill>
                  <a:srgbClr val="000000"/>
                </a:solidFill>
                <a:latin typeface="맑은 고딕"/>
                <a:ea typeface="맑은 고딕"/>
              </a:rPr>
              <a:t> </a:t>
            </a:r>
          </a:p>
          <a:p>
            <a:pPr algn="ctr"/>
            <a:r>
              <a:rPr lang="ko-KR" altLang="en-US" sz="1050" dirty="0" err="1">
                <a:solidFill>
                  <a:srgbClr val="000000"/>
                </a:solidFill>
                <a:latin typeface="맑은 고딕"/>
                <a:ea typeface="맑은 고딕"/>
              </a:rPr>
              <a:t>재사용</a:t>
            </a:r>
            <a:r>
              <a:rPr lang="ko-KR" altLang="en-US" sz="1050" dirty="0" err="1">
                <a:solidFill>
                  <a:srgbClr val="000000"/>
                </a:solidFill>
                <a:latin typeface="맑은 고딕" panose="020B0503020000020004" pitchFamily="50" charset="-127"/>
                <a:ea typeface="맑은 고딕" panose="020B0503020000020004" pitchFamily="50" charset="-127"/>
              </a:rPr>
              <a:t>∙</a:t>
            </a:r>
            <a:r>
              <a:rPr lang="ko-KR" altLang="en-US" sz="1050" dirty="0" err="1">
                <a:solidFill>
                  <a:srgbClr val="000000"/>
                </a:solidFill>
                <a:latin typeface="맑은 고딕"/>
                <a:ea typeface="맑은 고딕"/>
              </a:rPr>
              <a:t>재계산</a:t>
            </a:r>
            <a:r>
              <a:rPr lang="ko-KR" altLang="en-US" sz="1050" dirty="0">
                <a:solidFill>
                  <a:srgbClr val="000000"/>
                </a:solidFill>
                <a:latin typeface="맑은 고딕"/>
                <a:ea typeface="맑은 고딕"/>
              </a:rPr>
              <a:t> 토큰 선정</a:t>
            </a:r>
            <a:r>
              <a:rPr lang="en-US" sz="1050" dirty="0">
                <a:solidFill>
                  <a:srgbClr val="000000"/>
                </a:solidFill>
                <a:latin typeface="맑은 고딕"/>
                <a:ea typeface="맑은 고딕"/>
              </a:rPr>
              <a:t>(DP3)</a:t>
            </a:r>
            <a:endParaRPr lang="en-US" sz="1050" i="0" dirty="0">
              <a:solidFill>
                <a:srgbClr val="000000"/>
              </a:solidFill>
              <a:latin typeface="맑은 고딕"/>
              <a:ea typeface="맑은 고딕"/>
            </a:endParaRPr>
          </a:p>
        </p:txBody>
      </p:sp>
      <p:cxnSp>
        <p:nvCxnSpPr>
          <p:cNvPr id="9147" name="Connector 9146"/>
          <p:cNvCxnSpPr/>
          <p:nvPr/>
        </p:nvCxnSpPr>
        <p:spPr>
          <a:xfrm>
            <a:off x="7022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8" name="Rounded Rectangle 9147"/>
          <p:cNvSpPr/>
          <p:nvPr/>
        </p:nvSpPr>
        <p:spPr>
          <a:xfrm>
            <a:off x="7296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1200" b="1" i="0" u="none" strike="noStrike" kern="1200" cap="none" spc="0" normalizeH="0" baseline="0" noProof="0" dirty="0">
                <a:ln>
                  <a:noFill/>
                </a:ln>
                <a:solidFill>
                  <a:srgbClr val="000000"/>
                </a:solidFill>
                <a:effectLst/>
                <a:uLnTx/>
                <a:uFillTx/>
                <a:latin typeface="맑은 고딕"/>
                <a:ea typeface="맑은 고딕"/>
                <a:cs typeface="+mn-cs"/>
              </a:rPr>
              <a:t>선택 재계산</a:t>
            </a: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050" b="0" i="0" u="none" strike="noStrike" kern="1200" cap="none" spc="0" normalizeH="0" baseline="0" noProof="0" dirty="0">
                <a:ln>
                  <a:noFill/>
                </a:ln>
                <a:solidFill>
                  <a:srgbClr val="000000"/>
                </a:solidFill>
                <a:effectLst/>
                <a:uLnTx/>
                <a:uFillTx/>
                <a:latin typeface="맑은 고딕"/>
                <a:ea typeface="맑은 고딕"/>
                <a:cs typeface="+mn-cs"/>
              </a:rPr>
              <a:t>실행 자원</a:t>
            </a:r>
            <a:r>
              <a:rPr kumimoji="0" lang="en-US" altLang="ko-KR" sz="1050" b="0" i="0" u="none" strike="noStrike" kern="1200" cap="none" spc="0" normalizeH="0" baseline="0" noProof="0" dirty="0">
                <a:ln>
                  <a:noFill/>
                </a:ln>
                <a:solidFill>
                  <a:srgbClr val="000000"/>
                </a:solidFill>
                <a:effectLst/>
                <a:uLnTx/>
                <a:uFillTx/>
                <a:latin typeface="맑은 고딕"/>
                <a:ea typeface="맑은 고딕"/>
                <a:cs typeface="+mn-cs"/>
              </a:rPr>
              <a:t>(DP2)</a:t>
            </a:r>
            <a:endParaRPr kumimoji="0" lang="ko-KR" altLang="en-US" sz="1050" b="0" i="0" u="none" strike="noStrike" kern="1200" cap="none" spc="0" normalizeH="0" baseline="0" noProof="0" dirty="0">
              <a:ln>
                <a:noFill/>
              </a:ln>
              <a:solidFill>
                <a:srgbClr val="000000"/>
              </a:solidFill>
              <a:effectLst/>
              <a:uLnTx/>
              <a:uFillTx/>
              <a:latin typeface="맑은 고딕"/>
              <a:ea typeface="맑은 고딕"/>
              <a:cs typeface="+mn-cs"/>
            </a:endParaRPr>
          </a:p>
        </p:txBody>
      </p:sp>
      <p:cxnSp>
        <p:nvCxnSpPr>
          <p:cNvPr id="9149" name="Connector 9148"/>
          <p:cNvCxnSpPr/>
          <p:nvPr/>
        </p:nvCxnSpPr>
        <p:spPr>
          <a:xfrm>
            <a:off x="9308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50" name="Rounded Rectangle 9149"/>
          <p:cNvSpPr/>
          <p:nvPr/>
        </p:nvSpPr>
        <p:spPr>
          <a:xfrm>
            <a:off x="9582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rgbClr val="000000"/>
                </a:solidFill>
                <a:latin typeface="맑은 고딕"/>
                <a:ea typeface="맑은 고딕"/>
              </a:rPr>
              <a:t>Decode</a:t>
            </a:r>
            <a:endParaRPr kumimoji="0" lang="ko-KR" altLang="en-US" sz="120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lang="ko-KR" altLang="en-US" sz="1050" dirty="0">
                <a:solidFill>
                  <a:srgbClr val="000000"/>
                </a:solidFill>
                <a:latin typeface="맑은 고딕"/>
                <a:ea typeface="맑은 고딕"/>
              </a:rPr>
              <a:t>응답 생성</a:t>
            </a:r>
            <a:r>
              <a:rPr kumimoji="0" lang="en-US" altLang="ko-KR" sz="1050" b="0" i="0" u="none" strike="noStrike" kern="1200" cap="none" spc="0" normalizeH="0" baseline="0" noProof="0" dirty="0">
                <a:ln>
                  <a:noFill/>
                </a:ln>
                <a:solidFill>
                  <a:srgbClr val="000000"/>
                </a:solidFill>
                <a:effectLst/>
                <a:uLnTx/>
                <a:uFillTx/>
                <a:latin typeface="맑은 고딕"/>
                <a:ea typeface="맑은 고딕"/>
                <a:cs typeface="+mn-cs"/>
              </a:rPr>
              <a:t>(DP2)</a:t>
            </a:r>
            <a:endParaRPr sz="1050" b="0" i="0" dirty="0">
              <a:solidFill>
                <a:srgbClr val="000000"/>
              </a:solidFill>
              <a:latin typeface="맑은 고딕"/>
              <a:ea typeface="맑은 고딕"/>
            </a:endParaRPr>
          </a:p>
        </p:txBody>
      </p:sp>
      <p:sp>
        <p:nvSpPr>
          <p:cNvPr id="115" name="Rounded Rectangle 9062">
            <a:extLst>
              <a:ext uri="{FF2B5EF4-FFF2-40B4-BE49-F238E27FC236}">
                <a16:creationId xmlns:a16="http://schemas.microsoft.com/office/drawing/2014/main" id="{FBAE990F-EF7A-4373-A5F3-21B8C9AEE532}"/>
              </a:ext>
            </a:extLst>
          </p:cNvPr>
          <p:cNvSpPr/>
          <p:nvPr/>
        </p:nvSpPr>
        <p:spPr>
          <a:xfrm>
            <a:off x="516509" y="3389746"/>
            <a:ext cx="329654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en-US" altLang="ko-KR" sz="1000" b="1" dirty="0">
                <a:solidFill>
                  <a:srgbClr val="FFFFFF"/>
                </a:solidFill>
                <a:latin typeface="맑은 고딕"/>
                <a:ea typeface="맑은 고딕"/>
              </a:rPr>
              <a:t>Prefix Caching</a:t>
            </a:r>
            <a:r>
              <a:rPr lang="ko-KR" altLang="en-US" sz="1000" b="1" dirty="0">
                <a:solidFill>
                  <a:srgbClr val="FFFFFF"/>
                </a:solidFill>
                <a:latin typeface="맑은 고딕"/>
                <a:ea typeface="맑은 고딕"/>
              </a:rPr>
              <a:t>의 한계</a:t>
            </a:r>
            <a:endParaRPr sz="1000" b="1" i="0" dirty="0">
              <a:solidFill>
                <a:srgbClr val="FFFFFF"/>
              </a:solidFill>
              <a:latin typeface="맑은 고딕"/>
              <a:ea typeface="맑은 고딕"/>
            </a:endParaRPr>
          </a:p>
        </p:txBody>
      </p:sp>
      <p:sp>
        <p:nvSpPr>
          <p:cNvPr id="281" name="Rounded Rectangle 9062">
            <a:extLst>
              <a:ext uri="{FF2B5EF4-FFF2-40B4-BE49-F238E27FC236}">
                <a16:creationId xmlns:a16="http://schemas.microsoft.com/office/drawing/2014/main" id="{3E8E2949-89FA-4CB2-B603-7A088EB3594E}"/>
              </a:ext>
            </a:extLst>
          </p:cNvPr>
          <p:cNvSpPr/>
          <p:nvPr/>
        </p:nvSpPr>
        <p:spPr>
          <a:xfrm>
            <a:off x="516509" y="1801114"/>
            <a:ext cx="320863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1000" b="1" dirty="0">
                <a:solidFill>
                  <a:srgbClr val="FFFFFF"/>
                </a:solidFill>
                <a:latin typeface="맑은 고딕"/>
                <a:ea typeface="맑은 고딕"/>
              </a:rPr>
              <a:t>기존 </a:t>
            </a:r>
            <a:r>
              <a:rPr lang="en-US" altLang="ko-KR" sz="1000" b="1" dirty="0">
                <a:solidFill>
                  <a:srgbClr val="FFFFFF"/>
                </a:solidFill>
                <a:latin typeface="맑은 고딕"/>
                <a:ea typeface="맑은 고딕"/>
              </a:rPr>
              <a:t>KV</a:t>
            </a:r>
            <a:r>
              <a:rPr lang="ko-KR" altLang="en-US" sz="1000" b="1" dirty="0">
                <a:solidFill>
                  <a:srgbClr val="FFFFFF"/>
                </a:solidFill>
                <a:latin typeface="맑은 고딕"/>
                <a:ea typeface="맑은 고딕"/>
              </a:rPr>
              <a:t> 캐시의 </a:t>
            </a:r>
            <a:r>
              <a:rPr lang="ko-KR" altLang="en-US" sz="1000" b="1" i="0" dirty="0">
                <a:solidFill>
                  <a:srgbClr val="FFFFFF"/>
                </a:solidFill>
                <a:latin typeface="맑은 고딕"/>
                <a:ea typeface="맑은 고딕"/>
              </a:rPr>
              <a:t>재사용 조건 </a:t>
            </a:r>
            <a:r>
              <a:rPr lang="en-US" altLang="ko-KR" sz="1000" b="1" i="0" dirty="0">
                <a:solidFill>
                  <a:srgbClr val="FFFFFF"/>
                </a:solidFill>
                <a:latin typeface="맑은 고딕"/>
                <a:ea typeface="맑은 고딕"/>
              </a:rPr>
              <a:t>(</a:t>
            </a:r>
            <a:r>
              <a:rPr lang="en-US" altLang="ko-KR" sz="1000" b="1" dirty="0">
                <a:solidFill>
                  <a:srgbClr val="FFFFFF"/>
                </a:solidFill>
                <a:latin typeface="맑은 고딕"/>
                <a:ea typeface="맑은 고딕"/>
              </a:rPr>
              <a:t>Prefix</a:t>
            </a:r>
            <a:r>
              <a:rPr lang="ko-KR" altLang="en-US" sz="1000" b="1" dirty="0">
                <a:solidFill>
                  <a:srgbClr val="FFFFFF"/>
                </a:solidFill>
                <a:latin typeface="맑은 고딕"/>
                <a:ea typeface="맑은 고딕"/>
              </a:rPr>
              <a:t> </a:t>
            </a:r>
            <a:r>
              <a:rPr lang="en-US" altLang="ko-KR" sz="1000" b="1" dirty="0">
                <a:solidFill>
                  <a:srgbClr val="FFFFFF"/>
                </a:solidFill>
                <a:latin typeface="맑은 고딕"/>
                <a:ea typeface="맑은 고딕"/>
              </a:rPr>
              <a:t>Caching)</a:t>
            </a:r>
            <a:endParaRPr sz="1000" b="1" i="0" dirty="0">
              <a:solidFill>
                <a:srgbClr val="FFFFFF"/>
              </a:solidFill>
              <a:latin typeface="맑은 고딕"/>
              <a:ea typeface="맑은 고딕"/>
            </a:endParaRPr>
          </a:p>
        </p:txBody>
      </p:sp>
      <p:sp>
        <p:nvSpPr>
          <p:cNvPr id="378" name="TextBox 377">
            <a:extLst>
              <a:ext uri="{FF2B5EF4-FFF2-40B4-BE49-F238E27FC236}">
                <a16:creationId xmlns:a16="http://schemas.microsoft.com/office/drawing/2014/main" id="{B2210258-316D-4D12-BD47-91AF827A84F2}"/>
              </a:ext>
            </a:extLst>
          </p:cNvPr>
          <p:cNvSpPr txBox="1"/>
          <p:nvPr/>
        </p:nvSpPr>
        <p:spPr>
          <a:xfrm>
            <a:off x="1188720" y="2076086"/>
            <a:ext cx="512036" cy="123111"/>
          </a:xfrm>
          <a:prstGeom prst="rect">
            <a:avLst/>
          </a:prstGeom>
          <a:noFill/>
        </p:spPr>
        <p:txBody>
          <a:bodyPr wrap="square" lIns="0" tIns="0" rIns="0" bIns="0" anchor="t">
            <a:spAutoFit/>
          </a:bodyPr>
          <a:lstStyle/>
          <a:p>
            <a:pPr algn="ctr"/>
            <a:r>
              <a:rPr lang="en-US" sz="800" b="1" dirty="0">
                <a:solidFill>
                  <a:srgbClr val="404040"/>
                </a:solidFill>
                <a:latin typeface="맑은 고딕"/>
                <a:ea typeface="맑은 고딕"/>
              </a:rPr>
              <a:t>Query </a:t>
            </a:r>
            <a:endParaRPr sz="800" b="1" dirty="0">
              <a:solidFill>
                <a:srgbClr val="404040"/>
              </a:solidFill>
              <a:latin typeface="맑은 고딕"/>
              <a:ea typeface="맑은 고딕"/>
            </a:endParaRPr>
          </a:p>
        </p:txBody>
      </p:sp>
      <p:sp>
        <p:nvSpPr>
          <p:cNvPr id="381" name="TextBox 380">
            <a:extLst>
              <a:ext uri="{FF2B5EF4-FFF2-40B4-BE49-F238E27FC236}">
                <a16:creationId xmlns:a16="http://schemas.microsoft.com/office/drawing/2014/main" id="{BF88575E-B8A6-46B0-938E-826761BC282D}"/>
              </a:ext>
            </a:extLst>
          </p:cNvPr>
          <p:cNvSpPr txBox="1"/>
          <p:nvPr/>
        </p:nvSpPr>
        <p:spPr>
          <a:xfrm>
            <a:off x="548640" y="2286086"/>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382" name="Rectangle 9154">
            <a:extLst>
              <a:ext uri="{FF2B5EF4-FFF2-40B4-BE49-F238E27FC236}">
                <a16:creationId xmlns:a16="http://schemas.microsoft.com/office/drawing/2014/main" id="{2A1DC431-3504-42B7-A7CE-F4E1B36D9915}"/>
              </a:ext>
            </a:extLst>
          </p:cNvPr>
          <p:cNvSpPr/>
          <p:nvPr/>
        </p:nvSpPr>
        <p:spPr>
          <a:xfrm>
            <a:off x="1183957"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83" name="Rectangle 9155">
            <a:extLst>
              <a:ext uri="{FF2B5EF4-FFF2-40B4-BE49-F238E27FC236}">
                <a16:creationId xmlns:a16="http://schemas.microsoft.com/office/drawing/2014/main" id="{B2C5B9CF-5D7C-41BC-B78A-030B131F2A21}"/>
              </a:ext>
            </a:extLst>
          </p:cNvPr>
          <p:cNvSpPr/>
          <p:nvPr/>
        </p:nvSpPr>
        <p:spPr>
          <a:xfrm>
            <a:off x="1319479"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84" name="Rectangle 9156">
            <a:extLst>
              <a:ext uri="{FF2B5EF4-FFF2-40B4-BE49-F238E27FC236}">
                <a16:creationId xmlns:a16="http://schemas.microsoft.com/office/drawing/2014/main" id="{86E56E00-5970-4B3D-8183-6DCA16D7A440}"/>
              </a:ext>
            </a:extLst>
          </p:cNvPr>
          <p:cNvSpPr/>
          <p:nvPr/>
        </p:nvSpPr>
        <p:spPr>
          <a:xfrm>
            <a:off x="1457858"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85" name="Rectangle 9157">
            <a:extLst>
              <a:ext uri="{FF2B5EF4-FFF2-40B4-BE49-F238E27FC236}">
                <a16:creationId xmlns:a16="http://schemas.microsoft.com/office/drawing/2014/main" id="{AB36267F-B312-464F-814B-A457BE54CCC6}"/>
              </a:ext>
            </a:extLst>
          </p:cNvPr>
          <p:cNvSpPr/>
          <p:nvPr/>
        </p:nvSpPr>
        <p:spPr>
          <a:xfrm>
            <a:off x="1596237"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402" name="TextBox 401">
            <a:extLst>
              <a:ext uri="{FF2B5EF4-FFF2-40B4-BE49-F238E27FC236}">
                <a16:creationId xmlns:a16="http://schemas.microsoft.com/office/drawing/2014/main" id="{6E1A37FF-F12A-4422-90DB-AC0610142CE2}"/>
              </a:ext>
            </a:extLst>
          </p:cNvPr>
          <p:cNvSpPr txBox="1"/>
          <p:nvPr/>
        </p:nvSpPr>
        <p:spPr>
          <a:xfrm>
            <a:off x="3695842" y="2286086"/>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403" name="TextBox 402">
            <a:extLst>
              <a:ext uri="{FF2B5EF4-FFF2-40B4-BE49-F238E27FC236}">
                <a16:creationId xmlns:a16="http://schemas.microsoft.com/office/drawing/2014/main" id="{FF013E8E-7F9B-4A58-A4A5-098B378B6CAB}"/>
              </a:ext>
            </a:extLst>
          </p:cNvPr>
          <p:cNvSpPr txBox="1"/>
          <p:nvPr/>
        </p:nvSpPr>
        <p:spPr>
          <a:xfrm>
            <a:off x="548640" y="2596086"/>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404" name="Rectangle 9176">
            <a:extLst>
              <a:ext uri="{FF2B5EF4-FFF2-40B4-BE49-F238E27FC236}">
                <a16:creationId xmlns:a16="http://schemas.microsoft.com/office/drawing/2014/main" id="{982ACB3F-A75A-4AEE-8257-22D5DFC9FD78}"/>
              </a:ext>
            </a:extLst>
          </p:cNvPr>
          <p:cNvSpPr/>
          <p:nvPr/>
        </p:nvSpPr>
        <p:spPr>
          <a:xfrm>
            <a:off x="1183957"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1</a:t>
            </a:r>
            <a:endParaRPr sz="1000" dirty="0"/>
          </a:p>
        </p:txBody>
      </p:sp>
      <p:sp>
        <p:nvSpPr>
          <p:cNvPr id="405" name="Rectangle 9177">
            <a:extLst>
              <a:ext uri="{FF2B5EF4-FFF2-40B4-BE49-F238E27FC236}">
                <a16:creationId xmlns:a16="http://schemas.microsoft.com/office/drawing/2014/main" id="{EC1E33C6-72BC-4C3F-884E-072A7D5337FA}"/>
              </a:ext>
            </a:extLst>
          </p:cNvPr>
          <p:cNvSpPr/>
          <p:nvPr/>
        </p:nvSpPr>
        <p:spPr>
          <a:xfrm>
            <a:off x="1319479"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2</a:t>
            </a:r>
            <a:endParaRPr sz="1000" dirty="0"/>
          </a:p>
        </p:txBody>
      </p:sp>
      <p:sp>
        <p:nvSpPr>
          <p:cNvPr id="406" name="Rectangle 9178">
            <a:extLst>
              <a:ext uri="{FF2B5EF4-FFF2-40B4-BE49-F238E27FC236}">
                <a16:creationId xmlns:a16="http://schemas.microsoft.com/office/drawing/2014/main" id="{2EC5DC78-8873-48FC-A1FE-693AA95827E7}"/>
              </a:ext>
            </a:extLst>
          </p:cNvPr>
          <p:cNvSpPr/>
          <p:nvPr/>
        </p:nvSpPr>
        <p:spPr>
          <a:xfrm>
            <a:off x="1457858"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3</a:t>
            </a:r>
            <a:endParaRPr sz="1000" dirty="0"/>
          </a:p>
        </p:txBody>
      </p:sp>
      <p:sp>
        <p:nvSpPr>
          <p:cNvPr id="407" name="Rectangle 9179">
            <a:extLst>
              <a:ext uri="{FF2B5EF4-FFF2-40B4-BE49-F238E27FC236}">
                <a16:creationId xmlns:a16="http://schemas.microsoft.com/office/drawing/2014/main" id="{87B264D5-4AEA-405D-8FB0-AA127D79A0EE}"/>
              </a:ext>
            </a:extLst>
          </p:cNvPr>
          <p:cNvSpPr/>
          <p:nvPr/>
        </p:nvSpPr>
        <p:spPr>
          <a:xfrm>
            <a:off x="1596237"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4</a:t>
            </a:r>
            <a:endParaRPr sz="1000" dirty="0"/>
          </a:p>
        </p:txBody>
      </p:sp>
      <p:sp>
        <p:nvSpPr>
          <p:cNvPr id="408" name="Rectangle 9180">
            <a:extLst>
              <a:ext uri="{FF2B5EF4-FFF2-40B4-BE49-F238E27FC236}">
                <a16:creationId xmlns:a16="http://schemas.microsoft.com/office/drawing/2014/main" id="{748053FE-795D-49F4-AEBF-7E9318D0FDDD}"/>
              </a:ext>
            </a:extLst>
          </p:cNvPr>
          <p:cNvSpPr/>
          <p:nvPr/>
        </p:nvSpPr>
        <p:spPr>
          <a:xfrm>
            <a:off x="1831756"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Rectangle 9181">
            <a:extLst>
              <a:ext uri="{FF2B5EF4-FFF2-40B4-BE49-F238E27FC236}">
                <a16:creationId xmlns:a16="http://schemas.microsoft.com/office/drawing/2014/main" id="{1891CCCD-39BD-42E3-859D-91E1AC53D9AB}"/>
              </a:ext>
            </a:extLst>
          </p:cNvPr>
          <p:cNvSpPr/>
          <p:nvPr/>
        </p:nvSpPr>
        <p:spPr>
          <a:xfrm>
            <a:off x="1962515"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Rectangle 9182">
            <a:extLst>
              <a:ext uri="{FF2B5EF4-FFF2-40B4-BE49-F238E27FC236}">
                <a16:creationId xmlns:a16="http://schemas.microsoft.com/office/drawing/2014/main" id="{80B039DF-97EF-4B2B-AB48-69BCFE1EACB6}"/>
              </a:ext>
            </a:extLst>
          </p:cNvPr>
          <p:cNvSpPr/>
          <p:nvPr/>
        </p:nvSpPr>
        <p:spPr>
          <a:xfrm>
            <a:off x="2093274"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Rectangle 9183">
            <a:extLst>
              <a:ext uri="{FF2B5EF4-FFF2-40B4-BE49-F238E27FC236}">
                <a16:creationId xmlns:a16="http://schemas.microsoft.com/office/drawing/2014/main" id="{C160D577-CADF-4F61-9E22-D14DDF4C12E3}"/>
              </a:ext>
            </a:extLst>
          </p:cNvPr>
          <p:cNvSpPr/>
          <p:nvPr/>
        </p:nvSpPr>
        <p:spPr>
          <a:xfrm>
            <a:off x="2224033"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Rectangle 9184">
            <a:extLst>
              <a:ext uri="{FF2B5EF4-FFF2-40B4-BE49-F238E27FC236}">
                <a16:creationId xmlns:a16="http://schemas.microsoft.com/office/drawing/2014/main" id="{48725D1F-FCDE-42C6-9656-24C16B8B5262}"/>
              </a:ext>
            </a:extLst>
          </p:cNvPr>
          <p:cNvSpPr/>
          <p:nvPr/>
        </p:nvSpPr>
        <p:spPr>
          <a:xfrm>
            <a:off x="2354792"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Rectangle 9185">
            <a:extLst>
              <a:ext uri="{FF2B5EF4-FFF2-40B4-BE49-F238E27FC236}">
                <a16:creationId xmlns:a16="http://schemas.microsoft.com/office/drawing/2014/main" id="{5A5815D2-7912-49E4-8839-DBC4A6D0E467}"/>
              </a:ext>
            </a:extLst>
          </p:cNvPr>
          <p:cNvSpPr/>
          <p:nvPr/>
        </p:nvSpPr>
        <p:spPr>
          <a:xfrm>
            <a:off x="2485551"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Rectangle 9186">
            <a:extLst>
              <a:ext uri="{FF2B5EF4-FFF2-40B4-BE49-F238E27FC236}">
                <a16:creationId xmlns:a16="http://schemas.microsoft.com/office/drawing/2014/main" id="{F0E69FFC-771F-4B39-8638-CC0E31024E45}"/>
              </a:ext>
            </a:extLst>
          </p:cNvPr>
          <p:cNvSpPr/>
          <p:nvPr/>
        </p:nvSpPr>
        <p:spPr>
          <a:xfrm>
            <a:off x="2616310"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Rectangle 9187">
            <a:extLst>
              <a:ext uri="{FF2B5EF4-FFF2-40B4-BE49-F238E27FC236}">
                <a16:creationId xmlns:a16="http://schemas.microsoft.com/office/drawing/2014/main" id="{DCBF4EEF-77A0-4F08-92C8-7A03A252F1CB}"/>
              </a:ext>
            </a:extLst>
          </p:cNvPr>
          <p:cNvSpPr/>
          <p:nvPr/>
        </p:nvSpPr>
        <p:spPr>
          <a:xfrm>
            <a:off x="2747069"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Rectangle 9188">
            <a:extLst>
              <a:ext uri="{FF2B5EF4-FFF2-40B4-BE49-F238E27FC236}">
                <a16:creationId xmlns:a16="http://schemas.microsoft.com/office/drawing/2014/main" id="{A03BD33B-594B-4014-AD18-55057EDEDBC7}"/>
              </a:ext>
            </a:extLst>
          </p:cNvPr>
          <p:cNvSpPr/>
          <p:nvPr/>
        </p:nvSpPr>
        <p:spPr>
          <a:xfrm>
            <a:off x="2877828"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Rectangle 9189">
            <a:extLst>
              <a:ext uri="{FF2B5EF4-FFF2-40B4-BE49-F238E27FC236}">
                <a16:creationId xmlns:a16="http://schemas.microsoft.com/office/drawing/2014/main" id="{5701E5E9-6614-41FD-AB4B-D5AF40CD7F49}"/>
              </a:ext>
            </a:extLst>
          </p:cNvPr>
          <p:cNvSpPr/>
          <p:nvPr/>
        </p:nvSpPr>
        <p:spPr>
          <a:xfrm>
            <a:off x="3008587"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Rectangle 9190">
            <a:extLst>
              <a:ext uri="{FF2B5EF4-FFF2-40B4-BE49-F238E27FC236}">
                <a16:creationId xmlns:a16="http://schemas.microsoft.com/office/drawing/2014/main" id="{F37EBE04-A1F8-4128-8AAF-FC83C0AE937F}"/>
              </a:ext>
            </a:extLst>
          </p:cNvPr>
          <p:cNvSpPr/>
          <p:nvPr/>
        </p:nvSpPr>
        <p:spPr>
          <a:xfrm>
            <a:off x="3139346"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Rectangle 9191">
            <a:extLst>
              <a:ext uri="{FF2B5EF4-FFF2-40B4-BE49-F238E27FC236}">
                <a16:creationId xmlns:a16="http://schemas.microsoft.com/office/drawing/2014/main" id="{05194FE4-E8EE-4E98-9E41-E44A82EADC99}"/>
              </a:ext>
            </a:extLst>
          </p:cNvPr>
          <p:cNvSpPr/>
          <p:nvPr/>
        </p:nvSpPr>
        <p:spPr>
          <a:xfrm>
            <a:off x="3270105"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25" name="Connector 9197">
            <a:extLst>
              <a:ext uri="{FF2B5EF4-FFF2-40B4-BE49-F238E27FC236}">
                <a16:creationId xmlns:a16="http://schemas.microsoft.com/office/drawing/2014/main" id="{3B93274C-06A5-4EA2-9CBF-C3EC13EA8E3A}"/>
              </a:ext>
            </a:extLst>
          </p:cNvPr>
          <p:cNvCxnSpPr/>
          <p:nvPr/>
        </p:nvCxnSpPr>
        <p:spPr>
          <a:xfrm>
            <a:off x="1188720" y="2841086"/>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26" name="Connector 9198">
            <a:extLst>
              <a:ext uri="{FF2B5EF4-FFF2-40B4-BE49-F238E27FC236}">
                <a16:creationId xmlns:a16="http://schemas.microsoft.com/office/drawing/2014/main" id="{5BCB623F-DB8B-4180-A42D-BCA6D9B1BEC6}"/>
              </a:ext>
            </a:extLst>
          </p:cNvPr>
          <p:cNvCxnSpPr/>
          <p:nvPr/>
        </p:nvCxnSpPr>
        <p:spPr>
          <a:xfrm>
            <a:off x="1188720" y="2796086"/>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27" name="Connector 9199">
            <a:extLst>
              <a:ext uri="{FF2B5EF4-FFF2-40B4-BE49-F238E27FC236}">
                <a16:creationId xmlns:a16="http://schemas.microsoft.com/office/drawing/2014/main" id="{5CCFC2C7-A9CA-4397-910C-BAD436F0F0CF}"/>
              </a:ext>
            </a:extLst>
          </p:cNvPr>
          <p:cNvCxnSpPr/>
          <p:nvPr/>
        </p:nvCxnSpPr>
        <p:spPr>
          <a:xfrm>
            <a:off x="3389864" y="2796086"/>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428" name="TextBox 427">
            <a:extLst>
              <a:ext uri="{FF2B5EF4-FFF2-40B4-BE49-F238E27FC236}">
                <a16:creationId xmlns:a16="http://schemas.microsoft.com/office/drawing/2014/main" id="{DDF82F91-B0D7-4D3C-94E3-FDFD8CF8F51D}"/>
              </a:ext>
            </a:extLst>
          </p:cNvPr>
          <p:cNvSpPr txBox="1"/>
          <p:nvPr/>
        </p:nvSpPr>
        <p:spPr>
          <a:xfrm>
            <a:off x="1188720" y="2866086"/>
            <a:ext cx="2201144" cy="138499"/>
          </a:xfrm>
          <a:prstGeom prst="rect">
            <a:avLst/>
          </a:prstGeom>
          <a:noFill/>
        </p:spPr>
        <p:txBody>
          <a:bodyPr wrap="square" lIns="0" tIns="0" rIns="0" bIns="0" anchor="t">
            <a:spAutoFit/>
          </a:bodyPr>
          <a:lstStyle/>
          <a:p>
            <a:pPr algn="ctr"/>
            <a:r>
              <a:rPr sz="900" b="0" dirty="0" err="1">
                <a:solidFill>
                  <a:schemeClr val="bg1">
                    <a:lumMod val="50000"/>
                  </a:schemeClr>
                </a:solidFill>
                <a:latin typeface="맑은 고딕"/>
                <a:ea typeface="맑은 고딕"/>
              </a:rPr>
              <a:t>동일</a:t>
            </a:r>
            <a:r>
              <a:rPr sz="900" b="0" dirty="0">
                <a:solidFill>
                  <a:schemeClr val="bg1">
                    <a:lumMod val="50000"/>
                  </a:schemeClr>
                </a:solidFill>
                <a:latin typeface="맑은 고딕"/>
                <a:ea typeface="맑은 고딕"/>
              </a:rPr>
              <a:t> Prefix → KV </a:t>
            </a:r>
            <a:r>
              <a:rPr sz="900" b="0" dirty="0" err="1">
                <a:solidFill>
                  <a:schemeClr val="bg1">
                    <a:lumMod val="50000"/>
                  </a:schemeClr>
                </a:solidFill>
                <a:latin typeface="맑은 고딕"/>
                <a:ea typeface="맑은 고딕"/>
              </a:rPr>
              <a:t>재사용</a:t>
            </a:r>
            <a:endParaRPr sz="900" b="0" dirty="0">
              <a:solidFill>
                <a:schemeClr val="bg1">
                  <a:lumMod val="50000"/>
                </a:schemeClr>
              </a:solidFill>
              <a:latin typeface="맑은 고딕"/>
              <a:ea typeface="맑은 고딕"/>
            </a:endParaRPr>
          </a:p>
        </p:txBody>
      </p:sp>
      <p:sp>
        <p:nvSpPr>
          <p:cNvPr id="180" name="TextBox 179">
            <a:extLst>
              <a:ext uri="{FF2B5EF4-FFF2-40B4-BE49-F238E27FC236}">
                <a16:creationId xmlns:a16="http://schemas.microsoft.com/office/drawing/2014/main" id="{2F666957-1F81-462F-B0DE-40E133AAB838}"/>
              </a:ext>
            </a:extLst>
          </p:cNvPr>
          <p:cNvSpPr txBox="1"/>
          <p:nvPr/>
        </p:nvSpPr>
        <p:spPr>
          <a:xfrm>
            <a:off x="1950254" y="2076086"/>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476" name="TextBox 475">
            <a:extLst>
              <a:ext uri="{FF2B5EF4-FFF2-40B4-BE49-F238E27FC236}">
                <a16:creationId xmlns:a16="http://schemas.microsoft.com/office/drawing/2014/main" id="{9A5243BE-86E0-4EF5-AFCF-9508E17E7CCD}"/>
              </a:ext>
            </a:extLst>
          </p:cNvPr>
          <p:cNvSpPr txBox="1"/>
          <p:nvPr/>
        </p:nvSpPr>
        <p:spPr>
          <a:xfrm>
            <a:off x="3770845" y="2227927"/>
            <a:ext cx="1650000" cy="553998"/>
          </a:xfrm>
          <a:prstGeom prst="rect">
            <a:avLst/>
          </a:prstGeom>
          <a:noFill/>
        </p:spPr>
        <p:txBody>
          <a:bodyPr wrap="square" lIns="0" tIns="0" rIns="0" bIns="0" anchor="t">
            <a:spAutoFit/>
          </a:bodyPr>
          <a:lstStyle/>
          <a:p>
            <a:r>
              <a:rPr sz="900" b="0" dirty="0">
                <a:solidFill>
                  <a:schemeClr val="accent5">
                    <a:lumMod val="75000"/>
                  </a:schemeClr>
                </a:solidFill>
                <a:latin typeface="맑은 고딕"/>
                <a:ea typeface="맑은 고딕"/>
              </a:rPr>
              <a:t>■</a:t>
            </a:r>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chemeClr val="bg1">
                    <a:lumMod val="50000"/>
                  </a:schemeClr>
                </a:solidFill>
                <a:latin typeface="맑은 고딕"/>
                <a:ea typeface="맑은 고딕"/>
              </a:rPr>
              <a:t>연산</a:t>
            </a:r>
            <a:endParaRPr sz="900" b="0" dirty="0">
              <a:solidFill>
                <a:schemeClr val="bg1">
                  <a:lumMod val="50000"/>
                </a:schemeClr>
              </a:solidFill>
              <a:latin typeface="맑은 고딕"/>
              <a:ea typeface="맑은 고딕"/>
            </a:endParaRPr>
          </a:p>
        </p:txBody>
      </p:sp>
      <p:sp>
        <p:nvSpPr>
          <p:cNvPr id="9140" name="TextBox 9139"/>
          <p:cNvSpPr txBox="1"/>
          <p:nvPr/>
        </p:nvSpPr>
        <p:spPr>
          <a:xfrm>
            <a:off x="6736957" y="4705576"/>
            <a:ext cx="4900792" cy="153888"/>
          </a:xfrm>
          <a:prstGeom prst="rect">
            <a:avLst/>
          </a:prstGeom>
          <a:noFill/>
        </p:spPr>
        <p:txBody>
          <a:bodyPr wrap="square" lIns="0" tIns="0" rIns="0" bIns="0" anchor="t">
            <a:spAutoFit/>
          </a:bodyPr>
          <a:lstStyle/>
          <a:p>
            <a:pPr algn="l"/>
            <a:r>
              <a:rPr lang="ko-KR" altLang="en-US" sz="1000" b="1" i="0" dirty="0">
                <a:solidFill>
                  <a:srgbClr val="0000FF"/>
                </a:solidFill>
                <a:latin typeface="맑은 고딕"/>
                <a:ea typeface="맑은 고딕"/>
              </a:rPr>
              <a:t>기존에 생성되어 있던 토큰 중 일부 재사용 </a:t>
            </a:r>
            <a:r>
              <a:rPr lang="en-US" altLang="ko-KR" sz="1000" b="1" i="0" dirty="0">
                <a:solidFill>
                  <a:srgbClr val="0000FF"/>
                </a:solidFill>
                <a:latin typeface="맑은 고딕"/>
                <a:ea typeface="맑은 고딕"/>
              </a:rPr>
              <a:t>+ </a:t>
            </a:r>
            <a:r>
              <a:rPr lang="ko-KR" altLang="en-US" sz="1000" b="1" dirty="0">
                <a:solidFill>
                  <a:srgbClr val="0000FF"/>
                </a:solidFill>
                <a:latin typeface="맑은 고딕"/>
                <a:ea typeface="맑은 고딕"/>
              </a:rPr>
              <a:t>일부 토큰만 연산 </a:t>
            </a:r>
            <a:r>
              <a:rPr lang="en-US" altLang="ko-KR" sz="1000" b="1" dirty="0">
                <a:solidFill>
                  <a:srgbClr val="0000FF"/>
                </a:solidFill>
                <a:latin typeface="맑은 고딕"/>
                <a:ea typeface="맑은 고딕"/>
              </a:rPr>
              <a:t>(</a:t>
            </a:r>
            <a:r>
              <a:rPr lang="ko-KR" altLang="en-US" sz="1000" b="1" dirty="0">
                <a:solidFill>
                  <a:srgbClr val="0000FF"/>
                </a:solidFill>
                <a:latin typeface="맑은 고딕"/>
                <a:ea typeface="맑은 고딕"/>
              </a:rPr>
              <a:t>선택적 재계산</a:t>
            </a:r>
            <a:r>
              <a:rPr lang="en-US" altLang="ko-KR" sz="1000" b="1" dirty="0">
                <a:solidFill>
                  <a:srgbClr val="0000FF"/>
                </a:solidFill>
                <a:latin typeface="맑은 고딕"/>
                <a:ea typeface="맑은 고딕"/>
              </a:rPr>
              <a:t>)</a:t>
            </a:r>
            <a:endParaRPr sz="1000" b="0" i="0" dirty="0">
              <a:solidFill>
                <a:srgbClr val="0000FF"/>
              </a:solidFill>
              <a:latin typeface="맑은 고딕"/>
              <a:ea typeface="맑은 고딕"/>
            </a:endParaRPr>
          </a:p>
        </p:txBody>
      </p:sp>
      <p:grpSp>
        <p:nvGrpSpPr>
          <p:cNvPr id="290" name="그룹 289"/>
          <p:cNvGrpSpPr/>
          <p:nvPr/>
        </p:nvGrpSpPr>
        <p:grpSpPr>
          <a:xfrm>
            <a:off x="548640" y="3780229"/>
            <a:ext cx="4872205" cy="928499"/>
            <a:chOff x="548640" y="2308421"/>
            <a:chExt cx="4872205" cy="928499"/>
          </a:xfrm>
        </p:grpSpPr>
        <p:grpSp>
          <p:nvGrpSpPr>
            <p:cNvPr id="291" name="그룹 PrefixCaching">
              <a:extLst>
                <a:ext uri="{FF2B5EF4-FFF2-40B4-BE49-F238E27FC236}">
                  <a16:creationId xmlns:a16="http://schemas.microsoft.com/office/drawing/2014/main" id="{B90E02AA-B756-4331-B7A3-BC6313B4612D}"/>
                </a:ext>
              </a:extLst>
            </p:cNvPr>
            <p:cNvGrpSpPr/>
            <p:nvPr/>
          </p:nvGrpSpPr>
          <p:grpSpPr>
            <a:xfrm>
              <a:off x="548640" y="2308421"/>
              <a:ext cx="4797202" cy="928499"/>
              <a:chOff x="548640" y="3560000"/>
              <a:chExt cx="4797202" cy="928499"/>
            </a:xfrm>
          </p:grpSpPr>
          <p:sp>
            <p:nvSpPr>
              <p:cNvPr id="293" name="TextBox 292">
                <a:extLst>
                  <a:ext uri="{FF2B5EF4-FFF2-40B4-BE49-F238E27FC236}">
                    <a16:creationId xmlns:a16="http://schemas.microsoft.com/office/drawing/2014/main" id="{B2210258-316D-4D12-BD47-91AF827A84F2}"/>
                  </a:ext>
                </a:extLst>
              </p:cNvPr>
              <p:cNvSpPr txBox="1"/>
              <p:nvPr/>
            </p:nvSpPr>
            <p:spPr>
              <a:xfrm>
                <a:off x="1188720" y="3560000"/>
                <a:ext cx="512036" cy="123111"/>
              </a:xfrm>
              <a:prstGeom prst="rect">
                <a:avLst/>
              </a:prstGeom>
              <a:noFill/>
            </p:spPr>
            <p:txBody>
              <a:bodyPr wrap="square" lIns="0" tIns="0" rIns="0" bIns="0" anchor="t">
                <a:spAutoFit/>
              </a:bodyPr>
              <a:lstStyle/>
              <a:p>
                <a:pPr algn="ctr"/>
                <a:r>
                  <a:rPr lang="en-US" sz="800" b="1" dirty="0">
                    <a:solidFill>
                      <a:srgbClr val="404040"/>
                    </a:solidFill>
                    <a:latin typeface="맑은 고딕"/>
                    <a:ea typeface="맑은 고딕"/>
                  </a:rPr>
                  <a:t>Query </a:t>
                </a:r>
                <a:endParaRPr sz="800" b="1" dirty="0">
                  <a:solidFill>
                    <a:srgbClr val="404040"/>
                  </a:solidFill>
                  <a:latin typeface="맑은 고딕"/>
                  <a:ea typeface="맑은 고딕"/>
                </a:endParaRPr>
              </a:p>
            </p:txBody>
          </p:sp>
          <p:sp>
            <p:nvSpPr>
              <p:cNvPr id="294" name="TextBox 293">
                <a:extLst>
                  <a:ext uri="{FF2B5EF4-FFF2-40B4-BE49-F238E27FC236}">
                    <a16:creationId xmlns:a16="http://schemas.microsoft.com/office/drawing/2014/main" id="{BF88575E-B8A6-46B0-938E-826761BC282D}"/>
                  </a:ext>
                </a:extLst>
              </p:cNvPr>
              <p:cNvSpPr txBox="1"/>
              <p:nvPr/>
            </p:nvSpPr>
            <p:spPr>
              <a:xfrm>
                <a:off x="548640" y="377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295" name="Rectangle 9154">
                <a:extLst>
                  <a:ext uri="{FF2B5EF4-FFF2-40B4-BE49-F238E27FC236}">
                    <a16:creationId xmlns:a16="http://schemas.microsoft.com/office/drawing/2014/main" id="{2A1DC431-3504-42B7-A7CE-F4E1B36D9915}"/>
                  </a:ext>
                </a:extLst>
              </p:cNvPr>
              <p:cNvSpPr/>
              <p:nvPr/>
            </p:nvSpPr>
            <p:spPr>
              <a:xfrm>
                <a:off x="118395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96" name="Rectangle 9155">
                <a:extLst>
                  <a:ext uri="{FF2B5EF4-FFF2-40B4-BE49-F238E27FC236}">
                    <a16:creationId xmlns:a16="http://schemas.microsoft.com/office/drawing/2014/main" id="{B2C5B9CF-5D7C-41BC-B78A-030B131F2A21}"/>
                  </a:ext>
                </a:extLst>
              </p:cNvPr>
              <p:cNvSpPr/>
              <p:nvPr/>
            </p:nvSpPr>
            <p:spPr>
              <a:xfrm>
                <a:off x="1319479"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97" name="Rectangle 9156">
                <a:extLst>
                  <a:ext uri="{FF2B5EF4-FFF2-40B4-BE49-F238E27FC236}">
                    <a16:creationId xmlns:a16="http://schemas.microsoft.com/office/drawing/2014/main" id="{86E56E00-5970-4B3D-8183-6DCA16D7A440}"/>
                  </a:ext>
                </a:extLst>
              </p:cNvPr>
              <p:cNvSpPr/>
              <p:nvPr/>
            </p:nvSpPr>
            <p:spPr>
              <a:xfrm>
                <a:off x="1457858"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98" name="Rectangle 9157">
                <a:extLst>
                  <a:ext uri="{FF2B5EF4-FFF2-40B4-BE49-F238E27FC236}">
                    <a16:creationId xmlns:a16="http://schemas.microsoft.com/office/drawing/2014/main" id="{AB36267F-B312-464F-814B-A457BE54CCC6}"/>
                  </a:ext>
                </a:extLst>
              </p:cNvPr>
              <p:cNvSpPr/>
              <p:nvPr/>
            </p:nvSpPr>
            <p:spPr>
              <a:xfrm>
                <a:off x="159623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99" name="TextBox 298">
                <a:extLst>
                  <a:ext uri="{FF2B5EF4-FFF2-40B4-BE49-F238E27FC236}">
                    <a16:creationId xmlns:a16="http://schemas.microsoft.com/office/drawing/2014/main" id="{6E1A37FF-F12A-4422-90DB-AC0610142CE2}"/>
                  </a:ext>
                </a:extLst>
              </p:cNvPr>
              <p:cNvSpPr txBox="1"/>
              <p:nvPr/>
            </p:nvSpPr>
            <p:spPr>
              <a:xfrm>
                <a:off x="3695842" y="3770000"/>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300" name="TextBox 299">
                <a:extLst>
                  <a:ext uri="{FF2B5EF4-FFF2-40B4-BE49-F238E27FC236}">
                    <a16:creationId xmlns:a16="http://schemas.microsoft.com/office/drawing/2014/main" id="{FF013E8E-7F9B-4A58-A4A5-098B378B6CAB}"/>
                  </a:ext>
                </a:extLst>
              </p:cNvPr>
              <p:cNvSpPr txBox="1"/>
              <p:nvPr/>
            </p:nvSpPr>
            <p:spPr>
              <a:xfrm>
                <a:off x="548640" y="408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301" name="Rectangle 9176">
                <a:extLst>
                  <a:ext uri="{FF2B5EF4-FFF2-40B4-BE49-F238E27FC236}">
                    <a16:creationId xmlns:a16="http://schemas.microsoft.com/office/drawing/2014/main" id="{982ACB3F-A75A-4AEE-8257-22D5DFC9FD78}"/>
                  </a:ext>
                </a:extLst>
              </p:cNvPr>
              <p:cNvSpPr/>
              <p:nvPr/>
            </p:nvSpPr>
            <p:spPr>
              <a:xfrm>
                <a:off x="1183957" y="4020000"/>
                <a:ext cx="118872" cy="256032"/>
              </a:xfrm>
              <a:prstGeom prst="rect">
                <a:avLst/>
              </a:prstGeom>
              <a:solidFill>
                <a:srgbClr val="D9D9D9"/>
              </a:solid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02" name="Rectangle 9177">
                <a:extLst>
                  <a:ext uri="{FF2B5EF4-FFF2-40B4-BE49-F238E27FC236}">
                    <a16:creationId xmlns:a16="http://schemas.microsoft.com/office/drawing/2014/main" id="{EC1E33C6-72BC-4C3F-884E-072A7D5337FA}"/>
                  </a:ext>
                </a:extLst>
              </p:cNvPr>
              <p:cNvSpPr/>
              <p:nvPr/>
            </p:nvSpPr>
            <p:spPr>
              <a:xfrm>
                <a:off x="131947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03" name="Rectangle 9178">
                <a:extLst>
                  <a:ext uri="{FF2B5EF4-FFF2-40B4-BE49-F238E27FC236}">
                    <a16:creationId xmlns:a16="http://schemas.microsoft.com/office/drawing/2014/main" id="{2EC5DC78-8873-48FC-A1FE-693AA95827E7}"/>
                  </a:ext>
                </a:extLst>
              </p:cNvPr>
              <p:cNvSpPr/>
              <p:nvPr/>
            </p:nvSpPr>
            <p:spPr>
              <a:xfrm>
                <a:off x="145785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04" name="Rectangle 9179">
                <a:extLst>
                  <a:ext uri="{FF2B5EF4-FFF2-40B4-BE49-F238E27FC236}">
                    <a16:creationId xmlns:a16="http://schemas.microsoft.com/office/drawing/2014/main" id="{87B264D5-4AEA-405D-8FB0-AA127D79A0EE}"/>
                  </a:ext>
                </a:extLst>
              </p:cNvPr>
              <p:cNvSpPr/>
              <p:nvPr/>
            </p:nvSpPr>
            <p:spPr>
              <a:xfrm>
                <a:off x="159623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05" name="Rectangle 9180">
                <a:extLst>
                  <a:ext uri="{FF2B5EF4-FFF2-40B4-BE49-F238E27FC236}">
                    <a16:creationId xmlns:a16="http://schemas.microsoft.com/office/drawing/2014/main" id="{748053FE-795D-49F4-AEBF-7E9318D0FDDD}"/>
                  </a:ext>
                </a:extLst>
              </p:cNvPr>
              <p:cNvSpPr/>
              <p:nvPr/>
            </p:nvSpPr>
            <p:spPr>
              <a:xfrm>
                <a:off x="183175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Rectangle 9181">
                <a:extLst>
                  <a:ext uri="{FF2B5EF4-FFF2-40B4-BE49-F238E27FC236}">
                    <a16:creationId xmlns:a16="http://schemas.microsoft.com/office/drawing/2014/main" id="{1891CCCD-39BD-42E3-859D-91E1AC53D9AB}"/>
                  </a:ext>
                </a:extLst>
              </p:cNvPr>
              <p:cNvSpPr/>
              <p:nvPr/>
            </p:nvSpPr>
            <p:spPr>
              <a:xfrm>
                <a:off x="196251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Rectangle 9182">
                <a:extLst>
                  <a:ext uri="{FF2B5EF4-FFF2-40B4-BE49-F238E27FC236}">
                    <a16:creationId xmlns:a16="http://schemas.microsoft.com/office/drawing/2014/main" id="{80B039DF-97EF-4B2B-AB48-69BCFE1EACB6}"/>
                  </a:ext>
                </a:extLst>
              </p:cNvPr>
              <p:cNvSpPr/>
              <p:nvPr/>
            </p:nvSpPr>
            <p:spPr>
              <a:xfrm>
                <a:off x="2093274"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Rectangle 9183">
                <a:extLst>
                  <a:ext uri="{FF2B5EF4-FFF2-40B4-BE49-F238E27FC236}">
                    <a16:creationId xmlns:a16="http://schemas.microsoft.com/office/drawing/2014/main" id="{C160D577-CADF-4F61-9E22-D14DDF4C12E3}"/>
                  </a:ext>
                </a:extLst>
              </p:cNvPr>
              <p:cNvSpPr/>
              <p:nvPr/>
            </p:nvSpPr>
            <p:spPr>
              <a:xfrm>
                <a:off x="2224033"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Rectangle 9184">
                <a:extLst>
                  <a:ext uri="{FF2B5EF4-FFF2-40B4-BE49-F238E27FC236}">
                    <a16:creationId xmlns:a16="http://schemas.microsoft.com/office/drawing/2014/main" id="{48725D1F-FCDE-42C6-9656-24C16B8B5262}"/>
                  </a:ext>
                </a:extLst>
              </p:cNvPr>
              <p:cNvSpPr/>
              <p:nvPr/>
            </p:nvSpPr>
            <p:spPr>
              <a:xfrm>
                <a:off x="2354792"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Rectangle 9185">
                <a:extLst>
                  <a:ext uri="{FF2B5EF4-FFF2-40B4-BE49-F238E27FC236}">
                    <a16:creationId xmlns:a16="http://schemas.microsoft.com/office/drawing/2014/main" id="{5A5815D2-7912-49E4-8839-DBC4A6D0E467}"/>
                  </a:ext>
                </a:extLst>
              </p:cNvPr>
              <p:cNvSpPr/>
              <p:nvPr/>
            </p:nvSpPr>
            <p:spPr>
              <a:xfrm>
                <a:off x="2485551"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Rectangle 9186">
                <a:extLst>
                  <a:ext uri="{FF2B5EF4-FFF2-40B4-BE49-F238E27FC236}">
                    <a16:creationId xmlns:a16="http://schemas.microsoft.com/office/drawing/2014/main" id="{F0E69FFC-771F-4B39-8638-CC0E31024E45}"/>
                  </a:ext>
                </a:extLst>
              </p:cNvPr>
              <p:cNvSpPr/>
              <p:nvPr/>
            </p:nvSpPr>
            <p:spPr>
              <a:xfrm>
                <a:off x="2616310"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Rectangle 9187">
                <a:extLst>
                  <a:ext uri="{FF2B5EF4-FFF2-40B4-BE49-F238E27FC236}">
                    <a16:creationId xmlns:a16="http://schemas.microsoft.com/office/drawing/2014/main" id="{DCBF4EEF-77A0-4F08-92C8-7A03A252F1CB}"/>
                  </a:ext>
                </a:extLst>
              </p:cNvPr>
              <p:cNvSpPr/>
              <p:nvPr/>
            </p:nvSpPr>
            <p:spPr>
              <a:xfrm>
                <a:off x="274706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Rectangle 9188">
                <a:extLst>
                  <a:ext uri="{FF2B5EF4-FFF2-40B4-BE49-F238E27FC236}">
                    <a16:creationId xmlns:a16="http://schemas.microsoft.com/office/drawing/2014/main" id="{A03BD33B-594B-4014-AD18-55057EDEDBC7}"/>
                  </a:ext>
                </a:extLst>
              </p:cNvPr>
              <p:cNvSpPr/>
              <p:nvPr/>
            </p:nvSpPr>
            <p:spPr>
              <a:xfrm>
                <a:off x="287782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Rectangle 9189">
                <a:extLst>
                  <a:ext uri="{FF2B5EF4-FFF2-40B4-BE49-F238E27FC236}">
                    <a16:creationId xmlns:a16="http://schemas.microsoft.com/office/drawing/2014/main" id="{5701E5E9-6614-41FD-AB4B-D5AF40CD7F49}"/>
                  </a:ext>
                </a:extLst>
              </p:cNvPr>
              <p:cNvSpPr/>
              <p:nvPr/>
            </p:nvSpPr>
            <p:spPr>
              <a:xfrm>
                <a:off x="300858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Rectangle 9190">
                <a:extLst>
                  <a:ext uri="{FF2B5EF4-FFF2-40B4-BE49-F238E27FC236}">
                    <a16:creationId xmlns:a16="http://schemas.microsoft.com/office/drawing/2014/main" id="{F37EBE04-A1F8-4128-8AAF-FC83C0AE937F}"/>
                  </a:ext>
                </a:extLst>
              </p:cNvPr>
              <p:cNvSpPr/>
              <p:nvPr/>
            </p:nvSpPr>
            <p:spPr>
              <a:xfrm>
                <a:off x="313934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Rectangle 9191">
                <a:extLst>
                  <a:ext uri="{FF2B5EF4-FFF2-40B4-BE49-F238E27FC236}">
                    <a16:creationId xmlns:a16="http://schemas.microsoft.com/office/drawing/2014/main" id="{05194FE4-E8EE-4E98-9E41-E44A82EADC99}"/>
                  </a:ext>
                </a:extLst>
              </p:cNvPr>
              <p:cNvSpPr/>
              <p:nvPr/>
            </p:nvSpPr>
            <p:spPr>
              <a:xfrm>
                <a:off x="327010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7" name="Connector 9197">
                <a:extLst>
                  <a:ext uri="{FF2B5EF4-FFF2-40B4-BE49-F238E27FC236}">
                    <a16:creationId xmlns:a16="http://schemas.microsoft.com/office/drawing/2014/main" id="{3B93274C-06A5-4EA2-9CBF-C3EC13EA8E3A}"/>
                  </a:ext>
                </a:extLst>
              </p:cNvPr>
              <p:cNvCxnSpPr/>
              <p:nvPr/>
            </p:nvCxnSpPr>
            <p:spPr>
              <a:xfrm>
                <a:off x="1188720" y="4325000"/>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318" name="Connector 9198">
                <a:extLst>
                  <a:ext uri="{FF2B5EF4-FFF2-40B4-BE49-F238E27FC236}">
                    <a16:creationId xmlns:a16="http://schemas.microsoft.com/office/drawing/2014/main" id="{5BCB623F-DB8B-4180-A42D-BCA6D9B1BEC6}"/>
                  </a:ext>
                </a:extLst>
              </p:cNvPr>
              <p:cNvCxnSpPr/>
              <p:nvPr/>
            </p:nvCxnSpPr>
            <p:spPr>
              <a:xfrm>
                <a:off x="1188720"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319" name="Connector 9199">
                <a:extLst>
                  <a:ext uri="{FF2B5EF4-FFF2-40B4-BE49-F238E27FC236}">
                    <a16:creationId xmlns:a16="http://schemas.microsoft.com/office/drawing/2014/main" id="{5CCFC2C7-A9CA-4397-910C-BAD436F0F0CF}"/>
                  </a:ext>
                </a:extLst>
              </p:cNvPr>
              <p:cNvCxnSpPr/>
              <p:nvPr/>
            </p:nvCxnSpPr>
            <p:spPr>
              <a:xfrm>
                <a:off x="3389864"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TextBox 319">
                <a:extLst>
                  <a:ext uri="{FF2B5EF4-FFF2-40B4-BE49-F238E27FC236}">
                    <a16:creationId xmlns:a16="http://schemas.microsoft.com/office/drawing/2014/main" id="{DDF82F91-B0D7-4D3C-94E3-FDFD8CF8F51D}"/>
                  </a:ext>
                </a:extLst>
              </p:cNvPr>
              <p:cNvSpPr txBox="1"/>
              <p:nvPr/>
            </p:nvSpPr>
            <p:spPr>
              <a:xfrm>
                <a:off x="1188719" y="4350000"/>
                <a:ext cx="3547455" cy="138499"/>
              </a:xfrm>
              <a:prstGeom prst="rect">
                <a:avLst/>
              </a:prstGeom>
              <a:noFill/>
            </p:spPr>
            <p:txBody>
              <a:bodyPr wrap="square" lIns="0" tIns="0" rIns="0" bIns="0" anchor="t">
                <a:spAutoFit/>
              </a:bodyPr>
              <a:lstStyle/>
              <a:p>
                <a:r>
                  <a:rPr lang="ko-KR" altLang="en-US" sz="900" b="1" dirty="0">
                    <a:solidFill>
                      <a:srgbClr val="C00000"/>
                    </a:solidFill>
                    <a:ea typeface="맑은 고딕"/>
                  </a:rPr>
                  <a:t>첫 토큰부터 일치하지 않으면 이후부터는 모두 연산</a:t>
                </a:r>
                <a:r>
                  <a:rPr lang="en-US" altLang="ko-KR" sz="900" b="1" dirty="0">
                    <a:solidFill>
                      <a:srgbClr val="C00000"/>
                    </a:solidFill>
                    <a:ea typeface="맑은 고딕"/>
                  </a:rPr>
                  <a:t>(</a:t>
                </a:r>
                <a:r>
                  <a:rPr lang="ko-KR" altLang="en-US" sz="900" b="1" dirty="0">
                    <a:solidFill>
                      <a:srgbClr val="C00000"/>
                    </a:solidFill>
                    <a:ea typeface="맑은 고딕"/>
                  </a:rPr>
                  <a:t>재계산</a:t>
                </a:r>
                <a:r>
                  <a:rPr lang="en-US" altLang="ko-KR" sz="900" b="1" dirty="0">
                    <a:solidFill>
                      <a:srgbClr val="C00000"/>
                    </a:solidFill>
                    <a:ea typeface="맑은 고딕"/>
                  </a:rPr>
                  <a:t>)</a:t>
                </a:r>
                <a:endParaRPr lang="ko-KR" altLang="en-US" sz="900" dirty="0">
                  <a:solidFill>
                    <a:srgbClr val="C00000"/>
                  </a:solidFill>
                  <a:ea typeface="맑은 고딕"/>
                </a:endParaRPr>
              </a:p>
            </p:txBody>
          </p:sp>
        </p:grpSp>
        <p:sp>
          <p:nvSpPr>
            <p:cNvPr id="292" name="TextBox 291">
              <a:extLst>
                <a:ext uri="{FF2B5EF4-FFF2-40B4-BE49-F238E27FC236}">
                  <a16:creationId xmlns:a16="http://schemas.microsoft.com/office/drawing/2014/main" id="{9A5243BE-86E0-4EF5-AFCF-9508E17E7CCD}"/>
                </a:ext>
              </a:extLst>
            </p:cNvPr>
            <p:cNvSpPr txBox="1"/>
            <p:nvPr/>
          </p:nvSpPr>
          <p:spPr>
            <a:xfrm>
              <a:off x="3770845" y="2460262"/>
              <a:ext cx="1650000" cy="553998"/>
            </a:xfrm>
            <a:prstGeom prst="rect">
              <a:avLst/>
            </a:prstGeom>
            <a:noFill/>
          </p:spPr>
          <p:txBody>
            <a:bodyPr wrap="square" lIns="0" tIns="0" rIns="0" bIns="0" anchor="t">
              <a:spAutoFit/>
            </a:bodyPr>
            <a:lstStyle/>
            <a:p>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rgbClr val="A6A6A6"/>
                  </a:solidFill>
                  <a:latin typeface="맑은 고딕"/>
                  <a:ea typeface="맑은 고딕"/>
                </a:rPr>
                <a:t>연산</a:t>
              </a:r>
              <a:endParaRPr sz="900" b="0" dirty="0">
                <a:solidFill>
                  <a:srgbClr val="7F7F7F"/>
                </a:solidFill>
                <a:latin typeface="맑은 고딕"/>
                <a:ea typeface="맑은 고딕"/>
              </a:endParaRPr>
            </a:p>
          </p:txBody>
        </p:sp>
      </p:grpSp>
      <p:sp>
        <p:nvSpPr>
          <p:cNvPr id="9" name="화살표: 오른쪽 8">
            <a:extLst>
              <a:ext uri="{FF2B5EF4-FFF2-40B4-BE49-F238E27FC236}">
                <a16:creationId xmlns:a16="http://schemas.microsoft.com/office/drawing/2014/main" id="{6C6BDE96-5BE0-4FBC-9BB3-1F73B9F9CED7}"/>
              </a:ext>
            </a:extLst>
          </p:cNvPr>
          <p:cNvSpPr/>
          <p:nvPr/>
        </p:nvSpPr>
        <p:spPr>
          <a:xfrm>
            <a:off x="1815725" y="2327780"/>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 name="직선 화살표 연결선 10">
            <a:extLst>
              <a:ext uri="{FF2B5EF4-FFF2-40B4-BE49-F238E27FC236}">
                <a16:creationId xmlns:a16="http://schemas.microsoft.com/office/drawing/2014/main" id="{C124A045-C140-4977-A3DF-5A5CFC01FC17}"/>
              </a:ext>
            </a:extLst>
          </p:cNvPr>
          <p:cNvCxnSpPr>
            <a:cxnSpLocks/>
          </p:cNvCxnSpPr>
          <p:nvPr/>
        </p:nvCxnSpPr>
        <p:spPr>
          <a:xfrm flipV="1">
            <a:off x="1747354" y="2482118"/>
            <a:ext cx="159419" cy="2935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 name="오른쪽 중괄호 12">
            <a:extLst>
              <a:ext uri="{FF2B5EF4-FFF2-40B4-BE49-F238E27FC236}">
                <a16:creationId xmlns:a16="http://schemas.microsoft.com/office/drawing/2014/main" id="{469E9377-230F-4A92-9A19-438436EB4BE6}"/>
              </a:ext>
            </a:extLst>
          </p:cNvPr>
          <p:cNvSpPr/>
          <p:nvPr/>
        </p:nvSpPr>
        <p:spPr>
          <a:xfrm rot="16200000">
            <a:off x="1424245" y="2247878"/>
            <a:ext cx="71509" cy="5493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88" name="화살표: 오른쪽 187">
            <a:extLst>
              <a:ext uri="{FF2B5EF4-FFF2-40B4-BE49-F238E27FC236}">
                <a16:creationId xmlns:a16="http://schemas.microsoft.com/office/drawing/2014/main" id="{8AF888D3-D700-4CA8-B85F-537C3676B282}"/>
              </a:ext>
            </a:extLst>
          </p:cNvPr>
          <p:cNvSpPr/>
          <p:nvPr/>
        </p:nvSpPr>
        <p:spPr>
          <a:xfrm>
            <a:off x="1789573" y="4039224"/>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1" name="직선 화살표 연결선 190">
            <a:extLst>
              <a:ext uri="{FF2B5EF4-FFF2-40B4-BE49-F238E27FC236}">
                <a16:creationId xmlns:a16="http://schemas.microsoft.com/office/drawing/2014/main" id="{12F11375-B399-488D-B364-616D492DA34E}"/>
              </a:ext>
            </a:extLst>
          </p:cNvPr>
          <p:cNvCxnSpPr>
            <a:cxnSpLocks/>
          </p:cNvCxnSpPr>
          <p:nvPr/>
        </p:nvCxnSpPr>
        <p:spPr>
          <a:xfrm flipV="1">
            <a:off x="1724153" y="4186261"/>
            <a:ext cx="161726" cy="5557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E3CB8BE-313E-4F02-A8BE-1D502B62542E}"/>
              </a:ext>
            </a:extLst>
          </p:cNvPr>
          <p:cNvSpPr txBox="1"/>
          <p:nvPr/>
        </p:nvSpPr>
        <p:spPr>
          <a:xfrm>
            <a:off x="1648350" y="4090662"/>
            <a:ext cx="250390" cy="261610"/>
          </a:xfrm>
          <a:prstGeom prst="rect">
            <a:avLst/>
          </a:prstGeom>
          <a:noFill/>
        </p:spPr>
        <p:txBody>
          <a:bodyPr wrap="none" rtlCol="0">
            <a:spAutoFit/>
          </a:bodyPr>
          <a:lstStyle/>
          <a:p>
            <a:r>
              <a:rPr lang="en-US" altLang="ko-KR" sz="1050" dirty="0">
                <a:solidFill>
                  <a:srgbClr val="FF0000"/>
                </a:solidFill>
              </a:rPr>
              <a:t>x</a:t>
            </a:r>
            <a:endParaRPr lang="ko-KR" altLang="en-US" sz="1050" dirty="0">
              <a:solidFill>
                <a:srgbClr val="FF0000"/>
              </a:solidFill>
            </a:endParaRPr>
          </a:p>
        </p:txBody>
      </p:sp>
      <p:sp>
        <p:nvSpPr>
          <p:cNvPr id="194" name="Rectangle 19"/>
          <p:cNvSpPr/>
          <p:nvPr/>
        </p:nvSpPr>
        <p:spPr>
          <a:xfrm>
            <a:off x="6582458" y="3678022"/>
            <a:ext cx="881589" cy="431149"/>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panose="020B0503020000020004" pitchFamily="50" charset="-127"/>
                <a:ea typeface="맑은 고딕" panose="020B0503020000020004" pitchFamily="50" charset="-127"/>
                <a:cs typeface="맑은 고딕"/>
              </a:rPr>
              <a:t>①유사도 계산</a:t>
            </a:r>
            <a:endParaRPr lang="en-US" altLang="ko-KR" sz="900" b="1" dirty="0">
              <a:solidFill>
                <a:srgbClr val="000000"/>
              </a:solidFill>
              <a:latin typeface="맑은 고딕" panose="020B0503020000020004" pitchFamily="50" charset="-127"/>
              <a:ea typeface="맑은 고딕" panose="020B0503020000020004" pitchFamily="50" charset="-127"/>
              <a:cs typeface="맑은 고딕"/>
            </a:endParaRPr>
          </a:p>
          <a:p>
            <a:pPr algn="ctr">
              <a:spcAft>
                <a:spcPts val="200"/>
              </a:spcAft>
            </a:pPr>
            <a:r>
              <a:rPr lang="en-US" sz="700" b="1" dirty="0">
                <a:solidFill>
                  <a:srgbClr val="000000"/>
                </a:solidFill>
                <a:latin typeface="맑은 고딕"/>
                <a:ea typeface="맑은 고딕"/>
                <a:cs typeface="맑은 고딕"/>
              </a:rPr>
              <a:t>(</a:t>
            </a:r>
            <a:r>
              <a:rPr sz="700" b="1" dirty="0">
                <a:solidFill>
                  <a:srgbClr val="000000"/>
                </a:solidFill>
                <a:latin typeface="맑은 고딕"/>
                <a:ea typeface="맑은 고딕"/>
                <a:cs typeface="맑은 고딕"/>
              </a:rPr>
              <a:t>A</a:t>
            </a:r>
            <a:r>
              <a:rPr lang="en-US" sz="700" b="1" dirty="0">
                <a:solidFill>
                  <a:srgbClr val="000000"/>
                </a:solidFill>
                <a:latin typeface="맑은 고딕"/>
                <a:ea typeface="맑은 고딕"/>
                <a:cs typeface="맑은 고딕"/>
              </a:rPr>
              <a:t>ttention)</a:t>
            </a:r>
            <a:endParaRPr sz="700" b="1" dirty="0">
              <a:solidFill>
                <a:srgbClr val="000000"/>
              </a:solidFill>
              <a:latin typeface="맑은 고딕"/>
              <a:ea typeface="맑은 고딕"/>
              <a:cs typeface="맑은 고딕"/>
            </a:endParaRPr>
          </a:p>
        </p:txBody>
      </p:sp>
      <p:cxnSp>
        <p:nvCxnSpPr>
          <p:cNvPr id="195" name="Connector 20"/>
          <p:cNvCxnSpPr>
            <a:stCxn id="194" idx="3"/>
            <a:endCxn id="196" idx="1"/>
          </p:cNvCxnSpPr>
          <p:nvPr/>
        </p:nvCxnSpPr>
        <p:spPr>
          <a:xfrm>
            <a:off x="7464047" y="3893597"/>
            <a:ext cx="26009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96" name="Rectangle 21"/>
          <p:cNvSpPr/>
          <p:nvPr/>
        </p:nvSpPr>
        <p:spPr>
          <a:xfrm>
            <a:off x="7724145" y="3678022"/>
            <a:ext cx="1126447" cy="431149"/>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900" b="1" dirty="0">
                <a:solidFill>
                  <a:srgbClr val="000000"/>
                </a:solidFill>
                <a:latin typeface="맑은 고딕" panose="020B0503020000020004" pitchFamily="50" charset="-127"/>
                <a:ea typeface="맑은 고딕" panose="020B0503020000020004" pitchFamily="50" charset="-127"/>
                <a:cs typeface="맑은 고딕"/>
              </a:rPr>
              <a:t>②</a:t>
            </a:r>
            <a:r>
              <a:rPr lang="ko-KR" altLang="en-US" sz="900" b="1" dirty="0">
                <a:solidFill>
                  <a:srgbClr val="000000"/>
                </a:solidFill>
                <a:latin typeface="맑은 고딕" panose="020B0503020000020004" pitchFamily="50" charset="-127"/>
                <a:ea typeface="맑은 고딕" panose="020B0503020000020004" pitchFamily="50" charset="-127"/>
                <a:cs typeface="맑은 고딕"/>
              </a:rPr>
              <a:t>재사용 토큰 선정 </a:t>
            </a:r>
            <a:r>
              <a:rPr lang="en-US" altLang="ko-KR" sz="700" b="1" dirty="0">
                <a:solidFill>
                  <a:srgbClr val="000000"/>
                </a:solidFill>
                <a:latin typeface="맑은 고딕" panose="020B0503020000020004" pitchFamily="50" charset="-127"/>
                <a:ea typeface="맑은 고딕" panose="020B0503020000020004" pitchFamily="50" charset="-127"/>
                <a:cs typeface="맑은 고딕"/>
              </a:rPr>
              <a:t>(</a:t>
            </a:r>
            <a:r>
              <a:rPr lang="en-US" sz="700" b="1" dirty="0">
                <a:solidFill>
                  <a:srgbClr val="000000"/>
                </a:solidFill>
                <a:latin typeface="맑은 고딕"/>
                <a:ea typeface="맑은 고딕"/>
                <a:cs typeface="맑은 고딕"/>
              </a:rPr>
              <a:t>KV Sampler)</a:t>
            </a:r>
            <a:endParaRPr sz="700" b="1" dirty="0">
              <a:solidFill>
                <a:srgbClr val="000000"/>
              </a:solidFill>
              <a:latin typeface="맑은 고딕"/>
              <a:ea typeface="맑은 고딕"/>
              <a:cs typeface="맑은 고딕"/>
            </a:endParaRPr>
          </a:p>
        </p:txBody>
      </p:sp>
      <p:cxnSp>
        <p:nvCxnSpPr>
          <p:cNvPr id="197" name="Connector 22"/>
          <p:cNvCxnSpPr>
            <a:stCxn id="196" idx="3"/>
            <a:endCxn id="198" idx="1"/>
          </p:cNvCxnSpPr>
          <p:nvPr/>
        </p:nvCxnSpPr>
        <p:spPr>
          <a:xfrm>
            <a:off x="8850592" y="3893597"/>
            <a:ext cx="21538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98" name="Rectangle 23"/>
          <p:cNvSpPr/>
          <p:nvPr/>
        </p:nvSpPr>
        <p:spPr>
          <a:xfrm>
            <a:off x="9065980" y="3678022"/>
            <a:ext cx="1273792" cy="431149"/>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900" b="1" dirty="0">
                <a:solidFill>
                  <a:srgbClr val="000000"/>
                </a:solidFill>
                <a:latin typeface="맑은 고딕" panose="020B0503020000020004" pitchFamily="50" charset="-127"/>
                <a:cs typeface="맑은 고딕"/>
              </a:rPr>
              <a:t>③</a:t>
            </a:r>
            <a:r>
              <a:rPr lang="ko-KR" altLang="en-US" sz="900" b="1" dirty="0">
                <a:solidFill>
                  <a:srgbClr val="000000"/>
                </a:solidFill>
                <a:latin typeface="맑은 고딕" panose="020B0503020000020004" pitchFamily="50" charset="-127"/>
                <a:cs typeface="맑은 고딕"/>
              </a:rPr>
              <a:t>재계산 토큰 선정 </a:t>
            </a:r>
            <a:endParaRPr lang="en-US" altLang="ko-KR" sz="900" b="1" dirty="0">
              <a:solidFill>
                <a:srgbClr val="000000"/>
              </a:solidFill>
              <a:latin typeface="맑은 고딕" panose="020B0503020000020004" pitchFamily="50" charset="-127"/>
              <a:cs typeface="맑은 고딕"/>
            </a:endParaRPr>
          </a:p>
          <a:p>
            <a:pPr algn="ctr">
              <a:spcAft>
                <a:spcPts val="200"/>
              </a:spcAft>
            </a:pPr>
            <a:r>
              <a:rPr lang="en-US" sz="700" b="1" dirty="0">
                <a:solidFill>
                  <a:srgbClr val="000000"/>
                </a:solidFill>
                <a:latin typeface="맑은 고딕"/>
                <a:ea typeface="맑은 고딕"/>
                <a:cs typeface="맑은 고딕"/>
              </a:rPr>
              <a:t>(</a:t>
            </a:r>
            <a:r>
              <a:rPr lang="en-US" sz="700" b="1" dirty="0" err="1">
                <a:solidFill>
                  <a:srgbClr val="000000"/>
                </a:solidFill>
                <a:latin typeface="맑은 고딕"/>
                <a:ea typeface="맑은 고딕"/>
                <a:cs typeface="맑은 고딕"/>
              </a:rPr>
              <a:t>Recompute</a:t>
            </a:r>
            <a:r>
              <a:rPr lang="en-US" sz="700" b="1" dirty="0">
                <a:solidFill>
                  <a:srgbClr val="000000"/>
                </a:solidFill>
                <a:latin typeface="맑은 고딕"/>
                <a:ea typeface="맑은 고딕"/>
                <a:cs typeface="맑은 고딕"/>
              </a:rPr>
              <a:t>-Token </a:t>
            </a:r>
          </a:p>
          <a:p>
            <a:pPr algn="ctr">
              <a:spcAft>
                <a:spcPts val="200"/>
              </a:spcAft>
            </a:pPr>
            <a:r>
              <a:rPr lang="en-US" sz="700" b="1" dirty="0">
                <a:solidFill>
                  <a:srgbClr val="000000"/>
                </a:solidFill>
                <a:latin typeface="맑은 고딕"/>
                <a:ea typeface="맑은 고딕"/>
                <a:cs typeface="맑은 고딕"/>
              </a:rPr>
              <a:t>Selector)</a:t>
            </a:r>
          </a:p>
        </p:txBody>
      </p:sp>
      <p:cxnSp>
        <p:nvCxnSpPr>
          <p:cNvPr id="199" name="Connector 24"/>
          <p:cNvCxnSpPr>
            <a:stCxn id="198" idx="3"/>
          </p:cNvCxnSpPr>
          <p:nvPr/>
        </p:nvCxnSpPr>
        <p:spPr>
          <a:xfrm>
            <a:off x="10339772" y="3893597"/>
            <a:ext cx="23232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200" name="Rectangle 25"/>
          <p:cNvSpPr/>
          <p:nvPr/>
        </p:nvSpPr>
        <p:spPr>
          <a:xfrm>
            <a:off x="10572099" y="3678022"/>
            <a:ext cx="1098066" cy="431149"/>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900" b="1" dirty="0">
                <a:solidFill>
                  <a:srgbClr val="000000"/>
                </a:solidFill>
                <a:latin typeface="맑은 고딕" panose="020B0503020000020004" pitchFamily="50" charset="-127"/>
                <a:cs typeface="맑은 고딕"/>
              </a:rPr>
              <a:t>④</a:t>
            </a:r>
            <a:r>
              <a:rPr lang="ko-KR" altLang="en-US" sz="900" b="1" dirty="0">
                <a:solidFill>
                  <a:srgbClr val="000000"/>
                </a:solidFill>
                <a:latin typeface="맑은 고딕" panose="020B0503020000020004" pitchFamily="50" charset="-127"/>
                <a:cs typeface="맑은 고딕"/>
              </a:rPr>
              <a:t>선택적 재계산</a:t>
            </a:r>
            <a:endParaRPr lang="en-US" altLang="ko-KR" sz="900" b="1" dirty="0">
              <a:solidFill>
                <a:srgbClr val="000000"/>
              </a:solidFill>
              <a:latin typeface="맑은 고딕" panose="020B0503020000020004" pitchFamily="50" charset="-127"/>
              <a:cs typeface="맑은 고딕"/>
            </a:endParaRPr>
          </a:p>
          <a:p>
            <a:pPr algn="ctr">
              <a:spcAft>
                <a:spcPts val="200"/>
              </a:spcAft>
            </a:pPr>
            <a:r>
              <a:rPr lang="en-US" sz="700" b="1" dirty="0">
                <a:solidFill>
                  <a:srgbClr val="000000"/>
                </a:solidFill>
                <a:latin typeface="맑은 고딕"/>
                <a:ea typeface="맑은 고딕"/>
                <a:cs typeface="맑은 고딕"/>
              </a:rPr>
              <a:t>(Selective </a:t>
            </a:r>
          </a:p>
          <a:p>
            <a:pPr algn="ctr">
              <a:spcAft>
                <a:spcPts val="200"/>
              </a:spcAft>
            </a:pPr>
            <a:r>
              <a:rPr lang="en-US" sz="700" b="1" dirty="0" err="1">
                <a:solidFill>
                  <a:srgbClr val="000000"/>
                </a:solidFill>
                <a:latin typeface="맑은 고딕"/>
                <a:ea typeface="맑은 고딕"/>
                <a:cs typeface="맑은 고딕"/>
              </a:rPr>
              <a:t>Recomputer</a:t>
            </a:r>
            <a:r>
              <a:rPr lang="en-US" sz="700" b="1" dirty="0">
                <a:solidFill>
                  <a:srgbClr val="000000"/>
                </a:solidFill>
                <a:latin typeface="맑은 고딕"/>
                <a:ea typeface="맑은 고딕"/>
                <a:cs typeface="맑은 고딕"/>
              </a:rPr>
              <a:t>)</a:t>
            </a:r>
            <a:endParaRPr sz="700" b="1" dirty="0">
              <a:solidFill>
                <a:srgbClr val="000000"/>
              </a:solidFill>
              <a:latin typeface="맑은 고딕"/>
              <a:ea typeface="맑은 고딕"/>
              <a:cs typeface="맑은 고딕"/>
            </a:endParaRPr>
          </a:p>
        </p:txBody>
      </p:sp>
      <p:sp>
        <p:nvSpPr>
          <p:cNvPr id="201" name="TextBox 200"/>
          <p:cNvSpPr txBox="1"/>
          <p:nvPr/>
        </p:nvSpPr>
        <p:spPr>
          <a:xfrm>
            <a:off x="6608457" y="4173056"/>
            <a:ext cx="1028472" cy="473463"/>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입력 </a:t>
            </a:r>
            <a:r>
              <a:rPr lang="en-US" altLang="ko-KR" sz="850" b="1" dirty="0">
                <a:solidFill>
                  <a:srgbClr val="FF0000"/>
                </a:solidFill>
                <a:latin typeface="맑은 고딕"/>
                <a:ea typeface="맑은 고딕"/>
                <a:cs typeface="맑은 고딕"/>
              </a:rPr>
              <a:t>Query</a:t>
            </a:r>
            <a:r>
              <a:rPr lang="ko-KR" altLang="en-US" sz="850" b="1" dirty="0">
                <a:solidFill>
                  <a:srgbClr val="FF0000"/>
                </a:solidFill>
                <a:latin typeface="맑은 고딕"/>
                <a:ea typeface="맑은 고딕"/>
                <a:cs typeface="맑은 고딕"/>
              </a:rPr>
              <a:t>와 </a:t>
            </a:r>
            <a:endParaRPr lang="en-US" altLang="ko-KR" sz="850" b="1" dirty="0">
              <a:solidFill>
                <a:srgbClr val="FF0000"/>
              </a:solidFill>
              <a:latin typeface="맑은 고딕"/>
              <a:ea typeface="맑은 고딕"/>
              <a:cs typeface="맑은 고딕"/>
            </a:endParaRPr>
          </a:p>
          <a:p>
            <a:pPr algn="l">
              <a:spcAft>
                <a:spcPts val="200"/>
              </a:spcAft>
            </a:pPr>
            <a:r>
              <a:rPr lang="ko-KR" altLang="en-US" sz="850" b="1" dirty="0">
                <a:solidFill>
                  <a:srgbClr val="FF0000"/>
                </a:solidFill>
                <a:latin typeface="맑은 고딕"/>
                <a:ea typeface="맑은 고딕"/>
                <a:cs typeface="맑은 고딕"/>
              </a:rPr>
              <a:t>기존 </a:t>
            </a:r>
            <a:r>
              <a:rPr lang="en-US" altLang="ko-KR" sz="850" b="1" dirty="0">
                <a:solidFill>
                  <a:srgbClr val="FF0000"/>
                </a:solidFill>
                <a:latin typeface="맑은 고딕"/>
                <a:ea typeface="맑은 고딕"/>
                <a:cs typeface="맑은 고딕"/>
              </a:rPr>
              <a:t>KV</a:t>
            </a:r>
            <a:r>
              <a:rPr lang="ko-KR" altLang="en-US" sz="850" b="1" dirty="0">
                <a:solidFill>
                  <a:srgbClr val="FF0000"/>
                </a:solidFill>
                <a:latin typeface="맑은 고딕"/>
                <a:ea typeface="맑은 고딕"/>
                <a:cs typeface="맑은 고딕"/>
              </a:rPr>
              <a:t> 캐시 간의</a:t>
            </a:r>
            <a:r>
              <a:rPr lang="en-US" altLang="ko-KR" sz="850" b="1" dirty="0">
                <a:solidFill>
                  <a:srgbClr val="FF0000"/>
                </a:solidFill>
                <a:latin typeface="맑은 고딕"/>
                <a:ea typeface="맑은 고딕"/>
                <a:cs typeface="맑은 고딕"/>
              </a:rPr>
              <a:t> </a:t>
            </a:r>
            <a:r>
              <a:rPr lang="ko-KR" altLang="en-US" sz="850" b="1" dirty="0">
                <a:solidFill>
                  <a:srgbClr val="FF0000"/>
                </a:solidFill>
                <a:latin typeface="맑은 고딕"/>
                <a:ea typeface="맑은 고딕"/>
                <a:cs typeface="맑은 고딕"/>
              </a:rPr>
              <a:t>유사도 계산 </a:t>
            </a:r>
            <a:endParaRPr lang="en-US" altLang="ko-KR" sz="850" b="1" dirty="0">
              <a:solidFill>
                <a:srgbClr val="FF0000"/>
              </a:solidFill>
              <a:latin typeface="맑은 고딕"/>
              <a:ea typeface="맑은 고딕"/>
              <a:cs typeface="맑은 고딕"/>
            </a:endParaRPr>
          </a:p>
        </p:txBody>
      </p:sp>
      <p:sp>
        <p:nvSpPr>
          <p:cNvPr id="203" name="TextBox 202">
            <a:extLst>
              <a:ext uri="{FF2B5EF4-FFF2-40B4-BE49-F238E27FC236}">
                <a16:creationId xmlns:a16="http://schemas.microsoft.com/office/drawing/2014/main" id="{2F666957-1F81-462F-B0DE-40E133AAB838}"/>
              </a:ext>
            </a:extLst>
          </p:cNvPr>
          <p:cNvSpPr txBox="1"/>
          <p:nvPr/>
        </p:nvSpPr>
        <p:spPr>
          <a:xfrm>
            <a:off x="1950254" y="3772276"/>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206" name="TextBox 205"/>
          <p:cNvSpPr txBox="1"/>
          <p:nvPr/>
        </p:nvSpPr>
        <p:spPr>
          <a:xfrm>
            <a:off x="7682649" y="4160232"/>
            <a:ext cx="1289749" cy="342658"/>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유사도</a:t>
            </a:r>
            <a:r>
              <a:rPr lang="en-US" altLang="ko-KR" sz="850" b="1" dirty="0">
                <a:solidFill>
                  <a:srgbClr val="FF0000"/>
                </a:solidFill>
                <a:latin typeface="맑은 고딕"/>
                <a:ea typeface="맑은 고딕"/>
                <a:cs typeface="맑은 고딕"/>
              </a:rPr>
              <a:t> </a:t>
            </a:r>
            <a:r>
              <a:rPr lang="ko-KR" altLang="en-US" sz="850" b="1" dirty="0">
                <a:solidFill>
                  <a:srgbClr val="FF0000"/>
                </a:solidFill>
                <a:latin typeface="맑은 고딕"/>
                <a:ea typeface="맑은 고딕"/>
                <a:cs typeface="맑은 고딕"/>
              </a:rPr>
              <a:t>점수로 </a:t>
            </a:r>
            <a:r>
              <a:rPr lang="en-US" altLang="ko-KR" sz="850" b="1" dirty="0">
                <a:solidFill>
                  <a:srgbClr val="FF0000"/>
                </a:solidFill>
                <a:latin typeface="맑은 고딕"/>
                <a:ea typeface="맑은 고딕"/>
                <a:cs typeface="맑은 고딕"/>
              </a:rPr>
              <a:t>KV </a:t>
            </a:r>
            <a:r>
              <a:rPr lang="ko-KR" altLang="en-US" sz="850" b="1" dirty="0">
                <a:solidFill>
                  <a:srgbClr val="FF0000"/>
                </a:solidFill>
                <a:latin typeface="맑은 고딕"/>
                <a:ea typeface="맑은 고딕"/>
                <a:cs typeface="맑은 고딕"/>
              </a:rPr>
              <a:t>캐시 </a:t>
            </a:r>
            <a:endParaRPr lang="en-US" altLang="ko-KR" sz="850" b="1" dirty="0">
              <a:solidFill>
                <a:srgbClr val="FF0000"/>
              </a:solidFill>
              <a:latin typeface="맑은 고딕"/>
              <a:ea typeface="맑은 고딕"/>
              <a:cs typeface="맑은 고딕"/>
            </a:endParaRPr>
          </a:p>
          <a:p>
            <a:pPr algn="l">
              <a:spcAft>
                <a:spcPts val="200"/>
              </a:spcAft>
            </a:pPr>
            <a:r>
              <a:rPr lang="ko-KR" altLang="en-US" sz="850" b="1" dirty="0">
                <a:solidFill>
                  <a:srgbClr val="FF0000"/>
                </a:solidFill>
                <a:latin typeface="맑은 고딕"/>
                <a:ea typeface="맑은 고딕"/>
                <a:cs typeface="맑은 고딕"/>
              </a:rPr>
              <a:t>재사용할 토큰 위치 선정</a:t>
            </a:r>
            <a:endParaRPr sz="850" b="1" dirty="0">
              <a:solidFill>
                <a:srgbClr val="FF0000"/>
              </a:solidFill>
              <a:latin typeface="맑은 고딕"/>
              <a:ea typeface="맑은 고딕"/>
              <a:cs typeface="맑은 고딕"/>
            </a:endParaRPr>
          </a:p>
        </p:txBody>
      </p:sp>
      <p:sp>
        <p:nvSpPr>
          <p:cNvPr id="208" name="TextBox 207"/>
          <p:cNvSpPr txBox="1"/>
          <p:nvPr/>
        </p:nvSpPr>
        <p:spPr>
          <a:xfrm>
            <a:off x="9110103" y="4173056"/>
            <a:ext cx="1037466" cy="186205"/>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재계산할 토큰 선정</a:t>
            </a:r>
            <a:endParaRPr sz="850" b="1" dirty="0">
              <a:solidFill>
                <a:srgbClr val="FF0000"/>
              </a:solidFill>
              <a:latin typeface="맑은 고딕"/>
              <a:ea typeface="맑은 고딕"/>
              <a:cs typeface="맑은 고딕"/>
            </a:endParaRPr>
          </a:p>
        </p:txBody>
      </p:sp>
      <p:sp>
        <p:nvSpPr>
          <p:cNvPr id="209" name="TextBox 208"/>
          <p:cNvSpPr txBox="1"/>
          <p:nvPr/>
        </p:nvSpPr>
        <p:spPr>
          <a:xfrm>
            <a:off x="10488676" y="4173056"/>
            <a:ext cx="1181489" cy="473463"/>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선정한 토큰만 재계산</a:t>
            </a:r>
            <a:r>
              <a:rPr lang="en-US" altLang="ko-KR" sz="850" b="1" dirty="0">
                <a:solidFill>
                  <a:srgbClr val="FF0000"/>
                </a:solidFill>
                <a:latin typeface="맑은 고딕"/>
                <a:ea typeface="맑은 고딕"/>
                <a:cs typeface="맑은 고딕"/>
              </a:rPr>
              <a:t>, </a:t>
            </a:r>
          </a:p>
          <a:p>
            <a:pPr>
              <a:spcAft>
                <a:spcPts val="200"/>
              </a:spcAft>
            </a:pPr>
            <a:r>
              <a:rPr lang="ko-KR" altLang="en-US" sz="850" b="1" dirty="0">
                <a:solidFill>
                  <a:srgbClr val="FF0000"/>
                </a:solidFill>
                <a:ea typeface="맑은 고딕"/>
                <a:cs typeface="맑은 고딕"/>
              </a:rPr>
              <a:t>재사용할 토큰 위치의 </a:t>
            </a:r>
            <a:r>
              <a:rPr lang="en-US" altLang="ko-KR" sz="850" b="1" dirty="0">
                <a:solidFill>
                  <a:srgbClr val="FF0000"/>
                </a:solidFill>
                <a:ea typeface="맑은 고딕"/>
                <a:cs typeface="맑은 고딕"/>
              </a:rPr>
              <a:t>KV </a:t>
            </a:r>
            <a:r>
              <a:rPr lang="ko-KR" altLang="en-US" sz="850" b="1" dirty="0">
                <a:solidFill>
                  <a:srgbClr val="FF0000"/>
                </a:solidFill>
                <a:ea typeface="맑은 고딕"/>
                <a:cs typeface="맑은 고딕"/>
              </a:rPr>
              <a:t>캐시는 재사용 </a:t>
            </a:r>
            <a:endParaRPr sz="850" b="1" dirty="0">
              <a:solidFill>
                <a:srgbClr val="FF0000"/>
              </a:solidFill>
              <a:latin typeface="맑은 고딕"/>
              <a:ea typeface="맑은 고딕"/>
              <a:cs typeface="맑은 고딕"/>
            </a:endParaRPr>
          </a:p>
        </p:txBody>
      </p:sp>
      <p:sp>
        <p:nvSpPr>
          <p:cNvPr id="231" name="TextBox 230">
            <a:extLst>
              <a:ext uri="{FF2B5EF4-FFF2-40B4-BE49-F238E27FC236}">
                <a16:creationId xmlns:a16="http://schemas.microsoft.com/office/drawing/2014/main" id="{3B701CEB-52C9-4298-9CD8-60B369B73CFD}"/>
              </a:ext>
            </a:extLst>
          </p:cNvPr>
          <p:cNvSpPr txBox="1"/>
          <p:nvPr/>
        </p:nvSpPr>
        <p:spPr>
          <a:xfrm>
            <a:off x="6668275" y="3034483"/>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232" name="Rectangle 9177">
            <a:extLst>
              <a:ext uri="{FF2B5EF4-FFF2-40B4-BE49-F238E27FC236}">
                <a16:creationId xmlns:a16="http://schemas.microsoft.com/office/drawing/2014/main" id="{AFA95F0A-0B51-412D-991D-94E331F92211}"/>
              </a:ext>
            </a:extLst>
          </p:cNvPr>
          <p:cNvSpPr/>
          <p:nvPr/>
        </p:nvSpPr>
        <p:spPr>
          <a:xfrm>
            <a:off x="7439114"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33" name="Rectangle 9178">
            <a:extLst>
              <a:ext uri="{FF2B5EF4-FFF2-40B4-BE49-F238E27FC236}">
                <a16:creationId xmlns:a16="http://schemas.microsoft.com/office/drawing/2014/main" id="{1771B0AB-3041-4657-B033-930EE08656D9}"/>
              </a:ext>
            </a:extLst>
          </p:cNvPr>
          <p:cNvSpPr/>
          <p:nvPr/>
        </p:nvSpPr>
        <p:spPr>
          <a:xfrm>
            <a:off x="7577493"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34" name="Rectangle 9179">
            <a:extLst>
              <a:ext uri="{FF2B5EF4-FFF2-40B4-BE49-F238E27FC236}">
                <a16:creationId xmlns:a16="http://schemas.microsoft.com/office/drawing/2014/main" id="{3BC693D2-AC42-45E4-A9D7-BEA0AFA35EEF}"/>
              </a:ext>
            </a:extLst>
          </p:cNvPr>
          <p:cNvSpPr/>
          <p:nvPr/>
        </p:nvSpPr>
        <p:spPr>
          <a:xfrm>
            <a:off x="7715872"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51" name="Rectangle 9154">
            <a:extLst>
              <a:ext uri="{FF2B5EF4-FFF2-40B4-BE49-F238E27FC236}">
                <a16:creationId xmlns:a16="http://schemas.microsoft.com/office/drawing/2014/main" id="{0D9A49DE-EF56-4FB4-A66D-A08C049B28DF}"/>
              </a:ext>
            </a:extLst>
          </p:cNvPr>
          <p:cNvSpPr/>
          <p:nvPr/>
        </p:nvSpPr>
        <p:spPr>
          <a:xfrm>
            <a:off x="7303592" y="2974483"/>
            <a:ext cx="118872" cy="256901"/>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24" name="TextBox 223">
            <a:extLst>
              <a:ext uri="{FF2B5EF4-FFF2-40B4-BE49-F238E27FC236}">
                <a16:creationId xmlns:a16="http://schemas.microsoft.com/office/drawing/2014/main" id="{2C683090-9DC8-4025-B946-CD624C957B60}"/>
              </a:ext>
            </a:extLst>
          </p:cNvPr>
          <p:cNvSpPr txBox="1"/>
          <p:nvPr/>
        </p:nvSpPr>
        <p:spPr>
          <a:xfrm>
            <a:off x="7308355" y="2186853"/>
            <a:ext cx="512036" cy="138499"/>
          </a:xfrm>
          <a:prstGeom prst="rect">
            <a:avLst/>
          </a:prstGeom>
          <a:noFill/>
        </p:spPr>
        <p:txBody>
          <a:bodyPr wrap="square" lIns="0" tIns="0" rIns="0" bIns="0" anchor="t">
            <a:spAutoFit/>
          </a:bodyPr>
          <a:lstStyle/>
          <a:p>
            <a:pPr algn="ctr"/>
            <a:r>
              <a:rPr sz="900" b="1" dirty="0">
                <a:solidFill>
                  <a:srgbClr val="404040"/>
                </a:solidFill>
                <a:latin typeface="맑은 고딕"/>
                <a:ea typeface="맑은 고딕"/>
              </a:rPr>
              <a:t>Prefix</a:t>
            </a:r>
          </a:p>
        </p:txBody>
      </p:sp>
      <p:sp>
        <p:nvSpPr>
          <p:cNvPr id="225" name="TextBox 224">
            <a:extLst>
              <a:ext uri="{FF2B5EF4-FFF2-40B4-BE49-F238E27FC236}">
                <a16:creationId xmlns:a16="http://schemas.microsoft.com/office/drawing/2014/main" id="{8526556A-E6B8-416F-ACF1-A76B008E22D2}"/>
              </a:ext>
            </a:extLst>
          </p:cNvPr>
          <p:cNvSpPr txBox="1"/>
          <p:nvPr/>
        </p:nvSpPr>
        <p:spPr>
          <a:xfrm>
            <a:off x="6668275" y="2396853"/>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226" name="Rectangle 9154">
            <a:extLst>
              <a:ext uri="{FF2B5EF4-FFF2-40B4-BE49-F238E27FC236}">
                <a16:creationId xmlns:a16="http://schemas.microsoft.com/office/drawing/2014/main" id="{35276C1E-AF9A-4AFE-B949-9F64250C7F30}"/>
              </a:ext>
            </a:extLst>
          </p:cNvPr>
          <p:cNvSpPr/>
          <p:nvPr/>
        </p:nvSpPr>
        <p:spPr>
          <a:xfrm>
            <a:off x="7303592" y="233685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27" name="Rectangle 9155">
            <a:extLst>
              <a:ext uri="{FF2B5EF4-FFF2-40B4-BE49-F238E27FC236}">
                <a16:creationId xmlns:a16="http://schemas.microsoft.com/office/drawing/2014/main" id="{AF732566-9886-4550-ADE4-FBA6FF8B62C9}"/>
              </a:ext>
            </a:extLst>
          </p:cNvPr>
          <p:cNvSpPr/>
          <p:nvPr/>
        </p:nvSpPr>
        <p:spPr>
          <a:xfrm>
            <a:off x="7439114" y="233685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28" name="Rectangle 9156">
            <a:extLst>
              <a:ext uri="{FF2B5EF4-FFF2-40B4-BE49-F238E27FC236}">
                <a16:creationId xmlns:a16="http://schemas.microsoft.com/office/drawing/2014/main" id="{137B5783-2039-4AEA-9796-7FFC96DD02E7}"/>
              </a:ext>
            </a:extLst>
          </p:cNvPr>
          <p:cNvSpPr/>
          <p:nvPr/>
        </p:nvSpPr>
        <p:spPr>
          <a:xfrm>
            <a:off x="7577493" y="233685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29" name="Rectangle 9157">
            <a:extLst>
              <a:ext uri="{FF2B5EF4-FFF2-40B4-BE49-F238E27FC236}">
                <a16:creationId xmlns:a16="http://schemas.microsoft.com/office/drawing/2014/main" id="{43B28283-A0A4-41A7-A5D4-3D2F06BF285C}"/>
              </a:ext>
            </a:extLst>
          </p:cNvPr>
          <p:cNvSpPr/>
          <p:nvPr/>
        </p:nvSpPr>
        <p:spPr>
          <a:xfrm>
            <a:off x="7715872" y="233685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56" name="화살표: 오른쪽 324">
            <a:extLst>
              <a:ext uri="{FF2B5EF4-FFF2-40B4-BE49-F238E27FC236}">
                <a16:creationId xmlns:a16="http://schemas.microsoft.com/office/drawing/2014/main" id="{805FBAF8-09B4-412C-8B0B-3AE21541E41E}"/>
              </a:ext>
            </a:extLst>
          </p:cNvPr>
          <p:cNvSpPr/>
          <p:nvPr/>
        </p:nvSpPr>
        <p:spPr>
          <a:xfrm>
            <a:off x="7909208" y="2445848"/>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위로 구부러진 화살표 32"/>
          <p:cNvSpPr/>
          <p:nvPr/>
        </p:nvSpPr>
        <p:spPr>
          <a:xfrm rot="18900000">
            <a:off x="7920064" y="2808167"/>
            <a:ext cx="378992" cy="151283"/>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59" name="Oval 159">
            <a:extLst>
              <a:ext uri="{FF2B5EF4-FFF2-40B4-BE49-F238E27FC236}">
                <a16:creationId xmlns:a16="http://schemas.microsoft.com/office/drawing/2014/main" id="{DA54D0DB-719B-484E-AABC-3D8E4B4763DB}"/>
              </a:ext>
            </a:extLst>
          </p:cNvPr>
          <p:cNvSpPr/>
          <p:nvPr/>
        </p:nvSpPr>
        <p:spPr>
          <a:xfrm>
            <a:off x="8111710" y="284581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361" name="TextBox 360">
            <a:extLst>
              <a:ext uri="{FF2B5EF4-FFF2-40B4-BE49-F238E27FC236}">
                <a16:creationId xmlns:a16="http://schemas.microsoft.com/office/drawing/2014/main" id="{2F666957-1F81-462F-B0DE-40E133AAB838}"/>
              </a:ext>
            </a:extLst>
          </p:cNvPr>
          <p:cNvSpPr txBox="1"/>
          <p:nvPr/>
        </p:nvSpPr>
        <p:spPr>
          <a:xfrm>
            <a:off x="8086746" y="2189753"/>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362" name="Rectangle 9177">
            <a:extLst>
              <a:ext uri="{FF2B5EF4-FFF2-40B4-BE49-F238E27FC236}">
                <a16:creationId xmlns:a16="http://schemas.microsoft.com/office/drawing/2014/main" id="{AFA95F0A-0B51-412D-991D-94E331F92211}"/>
              </a:ext>
            </a:extLst>
          </p:cNvPr>
          <p:cNvSpPr/>
          <p:nvPr/>
        </p:nvSpPr>
        <p:spPr>
          <a:xfrm>
            <a:off x="8865517" y="2974483"/>
            <a:ext cx="143835"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63" name="Rectangle 9178">
            <a:extLst>
              <a:ext uri="{FF2B5EF4-FFF2-40B4-BE49-F238E27FC236}">
                <a16:creationId xmlns:a16="http://schemas.microsoft.com/office/drawing/2014/main" id="{1771B0AB-3041-4657-B033-930EE08656D9}"/>
              </a:ext>
            </a:extLst>
          </p:cNvPr>
          <p:cNvSpPr/>
          <p:nvPr/>
        </p:nvSpPr>
        <p:spPr>
          <a:xfrm>
            <a:off x="9059853" y="2974483"/>
            <a:ext cx="143835"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64" name="Rectangle 9179">
            <a:extLst>
              <a:ext uri="{FF2B5EF4-FFF2-40B4-BE49-F238E27FC236}">
                <a16:creationId xmlns:a16="http://schemas.microsoft.com/office/drawing/2014/main" id="{3BC693D2-AC42-45E4-A9D7-BEA0AFA35EEF}"/>
              </a:ext>
            </a:extLst>
          </p:cNvPr>
          <p:cNvSpPr/>
          <p:nvPr/>
        </p:nvSpPr>
        <p:spPr>
          <a:xfrm>
            <a:off x="9249302" y="2974483"/>
            <a:ext cx="143835"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65" name="Rectangle 9154">
            <a:extLst>
              <a:ext uri="{FF2B5EF4-FFF2-40B4-BE49-F238E27FC236}">
                <a16:creationId xmlns:a16="http://schemas.microsoft.com/office/drawing/2014/main" id="{0D9A49DE-EF56-4FB4-A66D-A08C049B28DF}"/>
              </a:ext>
            </a:extLst>
          </p:cNvPr>
          <p:cNvSpPr/>
          <p:nvPr/>
        </p:nvSpPr>
        <p:spPr>
          <a:xfrm>
            <a:off x="8665345" y="2975352"/>
            <a:ext cx="143835"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cxnSp>
        <p:nvCxnSpPr>
          <p:cNvPr id="36" name="직선 화살표 연결선 35"/>
          <p:cNvCxnSpPr>
            <a:cxnSpLocks/>
          </p:cNvCxnSpPr>
          <p:nvPr/>
        </p:nvCxnSpPr>
        <p:spPr>
          <a:xfrm>
            <a:off x="7590404" y="3253387"/>
            <a:ext cx="259041" cy="100839"/>
          </a:xfrm>
          <a:prstGeom prst="bentConnector3">
            <a:avLst>
              <a:gd name="adj1" fmla="val -166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75" name="직선 화살표 연결선 374"/>
          <p:cNvCxnSpPr/>
          <p:nvPr/>
        </p:nvCxnSpPr>
        <p:spPr>
          <a:xfrm>
            <a:off x="9567486" y="3087145"/>
            <a:ext cx="259337" cy="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164" name="그룹 163"/>
          <p:cNvGrpSpPr/>
          <p:nvPr/>
        </p:nvGrpSpPr>
        <p:grpSpPr>
          <a:xfrm>
            <a:off x="516509" y="6105945"/>
            <a:ext cx="11512996" cy="325343"/>
            <a:chOff x="465858" y="5727372"/>
            <a:chExt cx="11512996" cy="325343"/>
          </a:xfrm>
        </p:grpSpPr>
        <p:sp>
          <p:nvSpPr>
            <p:cNvPr id="165" name="Text 22">
              <a:extLst>
                <a:ext uri="{FF2B5EF4-FFF2-40B4-BE49-F238E27FC236}">
                  <a16:creationId xmlns:a16="http://schemas.microsoft.com/office/drawing/2014/main" id="{6E4C06FB-5661-411C-992A-C3DD21D98412}"/>
                </a:ext>
              </a:extLst>
            </p:cNvPr>
            <p:cNvSpPr/>
            <p:nvPr/>
          </p:nvSpPr>
          <p:spPr>
            <a:xfrm>
              <a:off x="922542" y="5727372"/>
              <a:ext cx="11056312" cy="325343"/>
            </a:xfrm>
            <a:prstGeom prst="rect">
              <a:avLst/>
            </a:prstGeom>
            <a:noFill/>
            <a:ln/>
          </p:spPr>
          <p:txBody>
            <a:bodyPr wrap="square" lIns="0" tIns="0" rIns="0" bIns="0" rtlCol="0" anchor="t"/>
            <a:lstStyle/>
            <a:p>
              <a:pPr>
                <a:lnSpc>
                  <a:spcPct val="150000"/>
                </a:lnSpc>
              </a:pPr>
              <a:r>
                <a:rPr lang="ko-KR" altLang="en-US" sz="1600" b="1" dirty="0">
                  <a:solidFill>
                    <a:srgbClr val="0066FF"/>
                  </a:solidFill>
                  <a:sym typeface="Wingdings" panose="05000000000000000000" pitchFamily="2" charset="2"/>
                </a:rPr>
                <a:t>추론 정확도를 보장하면서 </a:t>
              </a:r>
              <a:r>
                <a:rPr lang="en-US" altLang="ko-KR" sz="1600" b="1" dirty="0">
                  <a:solidFill>
                    <a:srgbClr val="0066FF"/>
                  </a:solidFill>
                  <a:sym typeface="Wingdings" panose="05000000000000000000" pitchFamily="2" charset="2"/>
                </a:rPr>
                <a:t>KV </a:t>
              </a:r>
              <a:r>
                <a:rPr lang="ko-KR" altLang="en-US" sz="1600" b="1" dirty="0">
                  <a:solidFill>
                    <a:srgbClr val="0066FF"/>
                  </a:solidFill>
                  <a:sym typeface="Wingdings" panose="05000000000000000000" pitchFamily="2" charset="2"/>
                </a:rPr>
                <a:t>캐시 </a:t>
              </a:r>
              <a:r>
                <a:rPr lang="ko-KR" altLang="en-US" sz="1600" b="1" dirty="0" err="1">
                  <a:solidFill>
                    <a:srgbClr val="0066FF"/>
                  </a:solidFill>
                  <a:sym typeface="Wingdings" panose="05000000000000000000" pitchFamily="2" charset="2"/>
                </a:rPr>
                <a:t>재사용률을</a:t>
              </a:r>
              <a:r>
                <a:rPr lang="ko-KR" altLang="en-US" sz="1600" b="1" dirty="0">
                  <a:solidFill>
                    <a:srgbClr val="0066FF"/>
                  </a:solidFill>
                  <a:sym typeface="Wingdings" panose="05000000000000000000" pitchFamily="2" charset="2"/>
                </a:rPr>
                <a:t> 높여 메모리 </a:t>
              </a:r>
              <a:r>
                <a:rPr lang="en-US" altLang="ko-KR" sz="1600" b="1" dirty="0">
                  <a:solidFill>
                    <a:srgbClr val="0066FF"/>
                  </a:solidFill>
                  <a:sym typeface="Wingdings" panose="05000000000000000000" pitchFamily="2" charset="2"/>
                </a:rPr>
                <a:t>pressure</a:t>
              </a:r>
              <a:r>
                <a:rPr lang="ko-KR" altLang="en-US" sz="1600" b="1" dirty="0">
                  <a:solidFill>
                    <a:srgbClr val="0066FF"/>
                  </a:solidFill>
                  <a:sym typeface="Wingdings" panose="05000000000000000000" pitchFamily="2" charset="2"/>
                </a:rPr>
                <a:t>와 응답 지연을 줄이는 구조 설계 필요</a:t>
              </a:r>
            </a:p>
          </p:txBody>
        </p:sp>
        <p:sp>
          <p:nvSpPr>
            <p:cNvPr id="166" name="오른쪽 화살표 39">
              <a:extLst>
                <a:ext uri="{FF2B5EF4-FFF2-40B4-BE49-F238E27FC236}">
                  <a16:creationId xmlns:a16="http://schemas.microsoft.com/office/drawing/2014/main" id="{54EC47CE-2C51-4E80-9454-E8A1DE43DF59}"/>
                </a:ext>
              </a:extLst>
            </p:cNvPr>
            <p:cNvSpPr/>
            <p:nvPr/>
          </p:nvSpPr>
          <p:spPr>
            <a:xfrm>
              <a:off x="465858" y="5797701"/>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189" name="직선 화살표 연결선 188"/>
          <p:cNvCxnSpPr>
            <a:cxnSpLocks/>
          </p:cNvCxnSpPr>
          <p:nvPr/>
        </p:nvCxnSpPr>
        <p:spPr>
          <a:xfrm>
            <a:off x="8026887" y="3087144"/>
            <a:ext cx="515515" cy="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2" name="TextBox 201">
            <a:extLst>
              <a:ext uri="{FF2B5EF4-FFF2-40B4-BE49-F238E27FC236}">
                <a16:creationId xmlns:a16="http://schemas.microsoft.com/office/drawing/2014/main" id="{2F666957-1F81-462F-B0DE-40E133AAB838}"/>
              </a:ext>
            </a:extLst>
          </p:cNvPr>
          <p:cNvSpPr txBox="1"/>
          <p:nvPr/>
        </p:nvSpPr>
        <p:spPr>
          <a:xfrm>
            <a:off x="9059853" y="2645444"/>
            <a:ext cx="580665" cy="107722"/>
          </a:xfrm>
          <a:prstGeom prst="rect">
            <a:avLst/>
          </a:prstGeom>
          <a:noFill/>
        </p:spPr>
        <p:txBody>
          <a:bodyPr wrap="square" lIns="0" tIns="0" rIns="0" bIns="0" anchor="t">
            <a:spAutoFit/>
          </a:bodyPr>
          <a:lstStyle/>
          <a:p>
            <a:pPr algn="ctr"/>
            <a:r>
              <a:rPr lang="ko-KR" altLang="en-US" sz="700" b="1" dirty="0">
                <a:solidFill>
                  <a:srgbClr val="0066FF"/>
                </a:solidFill>
                <a:latin typeface="맑은 고딕"/>
                <a:ea typeface="맑은 고딕"/>
              </a:rPr>
              <a:t>부분 재사용 </a:t>
            </a:r>
            <a:endParaRPr sz="700" b="1" dirty="0">
              <a:solidFill>
                <a:srgbClr val="0066FF"/>
              </a:solidFill>
              <a:latin typeface="맑은 고딕"/>
              <a:ea typeface="맑은 고딕"/>
            </a:endParaRPr>
          </a:p>
        </p:txBody>
      </p:sp>
      <p:sp>
        <p:nvSpPr>
          <p:cNvPr id="210" name="TextBox 209"/>
          <p:cNvSpPr txBox="1"/>
          <p:nvPr/>
        </p:nvSpPr>
        <p:spPr>
          <a:xfrm>
            <a:off x="9015717" y="2150992"/>
            <a:ext cx="2346405" cy="107722"/>
          </a:xfrm>
          <a:prstGeom prst="rect">
            <a:avLst/>
          </a:prstGeom>
          <a:noFill/>
        </p:spPr>
        <p:txBody>
          <a:bodyPr wrap="square" lIns="0" tIns="0" rIns="0" bIns="0" anchor="t">
            <a:spAutoFit/>
          </a:bodyPr>
          <a:lstStyle/>
          <a:p>
            <a:pPr algn="l"/>
            <a:r>
              <a:rPr lang="en-US" altLang="ko-KR" sz="700" b="1" i="0" dirty="0">
                <a:solidFill>
                  <a:srgbClr val="0000FF"/>
                </a:solidFill>
                <a:latin typeface="맑은 고딕"/>
                <a:ea typeface="맑은 고딕"/>
              </a:rPr>
              <a:t>* </a:t>
            </a:r>
            <a:r>
              <a:rPr lang="ko-KR" altLang="en-US" sz="700" b="1" i="0" dirty="0">
                <a:solidFill>
                  <a:srgbClr val="0000FF"/>
                </a:solidFill>
                <a:latin typeface="맑은 고딕"/>
                <a:ea typeface="맑은 고딕"/>
              </a:rPr>
              <a:t>각 </a:t>
            </a:r>
            <a:r>
              <a:rPr lang="en-US" altLang="ko-KR" sz="700" b="1" dirty="0">
                <a:solidFill>
                  <a:srgbClr val="0000FF"/>
                </a:solidFill>
                <a:latin typeface="맑은 고딕"/>
                <a:ea typeface="맑은 고딕"/>
              </a:rPr>
              <a:t>chunk(1,2,3,4)</a:t>
            </a:r>
            <a:r>
              <a:rPr lang="ko-KR" altLang="en-US" sz="700" b="1" dirty="0">
                <a:solidFill>
                  <a:srgbClr val="0000FF"/>
                </a:solidFill>
                <a:latin typeface="맑은 고딕"/>
                <a:ea typeface="맑은 고딕"/>
              </a:rPr>
              <a:t>의 </a:t>
            </a:r>
            <a:r>
              <a:rPr lang="en-US" altLang="ko-KR" sz="700" b="1" dirty="0">
                <a:solidFill>
                  <a:srgbClr val="0000FF"/>
                </a:solidFill>
                <a:latin typeface="맑은 고딕"/>
                <a:ea typeface="맑은 고딕"/>
              </a:rPr>
              <a:t>KV</a:t>
            </a:r>
            <a:r>
              <a:rPr lang="ko-KR" altLang="en-US" sz="700" b="1" dirty="0">
                <a:solidFill>
                  <a:srgbClr val="0000FF"/>
                </a:solidFill>
                <a:latin typeface="맑은 고딕"/>
                <a:ea typeface="맑은 고딕"/>
              </a:rPr>
              <a:t>를 보유</a:t>
            </a:r>
            <a:endParaRPr sz="700" b="0" i="0" dirty="0">
              <a:solidFill>
                <a:srgbClr val="0000FF"/>
              </a:solidFill>
              <a:latin typeface="맑은 고딕"/>
              <a:ea typeface="맑은 고딕"/>
            </a:endParaRPr>
          </a:p>
        </p:txBody>
      </p:sp>
      <p:sp>
        <p:nvSpPr>
          <p:cNvPr id="367" name="Oval 159">
            <a:extLst>
              <a:ext uri="{FF2B5EF4-FFF2-40B4-BE49-F238E27FC236}">
                <a16:creationId xmlns:a16="http://schemas.microsoft.com/office/drawing/2014/main" id="{DA54D0DB-719B-484E-AABC-3D8E4B4763DB}"/>
              </a:ext>
            </a:extLst>
          </p:cNvPr>
          <p:cNvSpPr/>
          <p:nvPr/>
        </p:nvSpPr>
        <p:spPr>
          <a:xfrm>
            <a:off x="8737262" y="2767675"/>
            <a:ext cx="153002" cy="139648"/>
          </a:xfrm>
          <a:prstGeom prst="ellipse">
            <a:avLst/>
          </a:prstGeom>
          <a:solidFill>
            <a:schemeClr val="accent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368" name="Oval 159">
            <a:extLst>
              <a:ext uri="{FF2B5EF4-FFF2-40B4-BE49-F238E27FC236}">
                <a16:creationId xmlns:a16="http://schemas.microsoft.com/office/drawing/2014/main" id="{DA54D0DB-719B-484E-AABC-3D8E4B4763DB}"/>
              </a:ext>
            </a:extLst>
          </p:cNvPr>
          <p:cNvSpPr/>
          <p:nvPr/>
        </p:nvSpPr>
        <p:spPr>
          <a:xfrm>
            <a:off x="9083986" y="2783057"/>
            <a:ext cx="153002" cy="139648"/>
          </a:xfrm>
          <a:prstGeom prst="ellipse">
            <a:avLst/>
          </a:prstGeom>
          <a:solidFill>
            <a:srgbClr val="FF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3</a:t>
            </a:r>
            <a:endParaRPr sz="1000" b="1" i="0" dirty="0">
              <a:solidFill>
                <a:srgbClr val="FFFFFF"/>
              </a:solidFill>
              <a:latin typeface="맑은 고딕"/>
              <a:ea typeface="맑은 고딕"/>
            </a:endParaRPr>
          </a:p>
        </p:txBody>
      </p:sp>
      <p:cxnSp>
        <p:nvCxnSpPr>
          <p:cNvPr id="38" name="직선 연결선 37"/>
          <p:cNvCxnSpPr/>
          <p:nvPr/>
        </p:nvCxnSpPr>
        <p:spPr>
          <a:xfrm>
            <a:off x="8670587"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1" name="직선 연결선 210"/>
          <p:cNvCxnSpPr/>
          <p:nvPr/>
        </p:nvCxnSpPr>
        <p:spPr>
          <a:xfrm>
            <a:off x="8728930"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2" name="직선 연결선 211"/>
          <p:cNvCxnSpPr/>
          <p:nvPr/>
        </p:nvCxnSpPr>
        <p:spPr>
          <a:xfrm>
            <a:off x="8774038"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3" name="직선 연결선 212"/>
          <p:cNvCxnSpPr/>
          <p:nvPr/>
        </p:nvCxnSpPr>
        <p:spPr>
          <a:xfrm>
            <a:off x="8890264"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4" name="직선 연결선 213"/>
          <p:cNvCxnSpPr/>
          <p:nvPr/>
        </p:nvCxnSpPr>
        <p:spPr>
          <a:xfrm>
            <a:off x="8963120"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5" name="직선 연결선 214"/>
          <p:cNvCxnSpPr/>
          <p:nvPr/>
        </p:nvCxnSpPr>
        <p:spPr>
          <a:xfrm>
            <a:off x="9007425"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7" name="직선 연결선 236"/>
          <p:cNvCxnSpPr/>
          <p:nvPr/>
        </p:nvCxnSpPr>
        <p:spPr>
          <a:xfrm>
            <a:off x="9117098"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7" name="직선 화살표 연결선 246"/>
          <p:cNvCxnSpPr/>
          <p:nvPr/>
        </p:nvCxnSpPr>
        <p:spPr>
          <a:xfrm flipH="1">
            <a:off x="8958286" y="2676844"/>
            <a:ext cx="125700" cy="202564"/>
          </a:xfrm>
          <a:prstGeom prst="straightConnector1">
            <a:avLst/>
          </a:prstGeom>
          <a:ln w="12700">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48" name="Oval 159">
            <a:extLst>
              <a:ext uri="{FF2B5EF4-FFF2-40B4-BE49-F238E27FC236}">
                <a16:creationId xmlns:a16="http://schemas.microsoft.com/office/drawing/2014/main" id="{DA54D0DB-719B-484E-AABC-3D8E4B4763DB}"/>
              </a:ext>
            </a:extLst>
          </p:cNvPr>
          <p:cNvSpPr/>
          <p:nvPr/>
        </p:nvSpPr>
        <p:spPr>
          <a:xfrm>
            <a:off x="9941972" y="281398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274" name="Rectangle 9157">
            <a:extLst>
              <a:ext uri="{FF2B5EF4-FFF2-40B4-BE49-F238E27FC236}">
                <a16:creationId xmlns:a16="http://schemas.microsoft.com/office/drawing/2014/main" id="{268F0222-FF02-44A2-8977-1F00C1CB767F}"/>
              </a:ext>
            </a:extLst>
          </p:cNvPr>
          <p:cNvSpPr/>
          <p:nvPr/>
        </p:nvSpPr>
        <p:spPr>
          <a:xfrm>
            <a:off x="8967301" y="2314804"/>
            <a:ext cx="158219"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75" name="Rectangle 9157">
            <a:extLst>
              <a:ext uri="{FF2B5EF4-FFF2-40B4-BE49-F238E27FC236}">
                <a16:creationId xmlns:a16="http://schemas.microsoft.com/office/drawing/2014/main" id="{D3E8FCF1-375D-4F0C-BE0F-335F0E6EDE1F}"/>
              </a:ext>
            </a:extLst>
          </p:cNvPr>
          <p:cNvSpPr/>
          <p:nvPr/>
        </p:nvSpPr>
        <p:spPr>
          <a:xfrm>
            <a:off x="9110103" y="2314804"/>
            <a:ext cx="158219"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76" name="Rectangle 9157">
            <a:extLst>
              <a:ext uri="{FF2B5EF4-FFF2-40B4-BE49-F238E27FC236}">
                <a16:creationId xmlns:a16="http://schemas.microsoft.com/office/drawing/2014/main" id="{C951C3A9-1DDF-4CDD-B18F-4CCD3EE98605}"/>
              </a:ext>
            </a:extLst>
          </p:cNvPr>
          <p:cNvSpPr/>
          <p:nvPr/>
        </p:nvSpPr>
        <p:spPr>
          <a:xfrm>
            <a:off x="9264564" y="2314804"/>
            <a:ext cx="158219"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77" name="Rectangle 9157">
            <a:extLst>
              <a:ext uri="{FF2B5EF4-FFF2-40B4-BE49-F238E27FC236}">
                <a16:creationId xmlns:a16="http://schemas.microsoft.com/office/drawing/2014/main" id="{C7F7FC97-6C97-4296-8240-405248F211DF}"/>
              </a:ext>
            </a:extLst>
          </p:cNvPr>
          <p:cNvSpPr/>
          <p:nvPr/>
        </p:nvSpPr>
        <p:spPr>
          <a:xfrm>
            <a:off x="9416159" y="2314804"/>
            <a:ext cx="158219"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grpSp>
        <p:nvGrpSpPr>
          <p:cNvPr id="22" name="그룹 21">
            <a:extLst>
              <a:ext uri="{FF2B5EF4-FFF2-40B4-BE49-F238E27FC236}">
                <a16:creationId xmlns:a16="http://schemas.microsoft.com/office/drawing/2014/main" id="{93CE767E-0D29-42D2-9C8D-9CB053B8EDEE}"/>
              </a:ext>
            </a:extLst>
          </p:cNvPr>
          <p:cNvGrpSpPr/>
          <p:nvPr/>
        </p:nvGrpSpPr>
        <p:grpSpPr>
          <a:xfrm>
            <a:off x="8026887" y="2330516"/>
            <a:ext cx="671755" cy="284334"/>
            <a:chOff x="8597758" y="2344154"/>
            <a:chExt cx="671755" cy="284334"/>
          </a:xfrm>
        </p:grpSpPr>
        <p:sp>
          <p:nvSpPr>
            <p:cNvPr id="205" name="Rectangle 9157">
              <a:extLst>
                <a:ext uri="{FF2B5EF4-FFF2-40B4-BE49-F238E27FC236}">
                  <a16:creationId xmlns:a16="http://schemas.microsoft.com/office/drawing/2014/main" id="{51E94D4B-773D-4D88-89AD-6FE19DC89B60}"/>
                </a:ext>
              </a:extLst>
            </p:cNvPr>
            <p:cNvSpPr/>
            <p:nvPr/>
          </p:nvSpPr>
          <p:spPr>
            <a:xfrm>
              <a:off x="8670587" y="2344154"/>
              <a:ext cx="598926"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dirty="0">
                <a:solidFill>
                  <a:schemeClr val="tx1"/>
                </a:solidFill>
              </a:endParaRPr>
            </a:p>
          </p:txBody>
        </p:sp>
        <p:cxnSp>
          <p:nvCxnSpPr>
            <p:cNvPr id="20" name="직선 연결선 19">
              <a:extLst>
                <a:ext uri="{FF2B5EF4-FFF2-40B4-BE49-F238E27FC236}">
                  <a16:creationId xmlns:a16="http://schemas.microsoft.com/office/drawing/2014/main" id="{38539745-B171-487F-BEA2-D3E29D108ED5}"/>
                </a:ext>
              </a:extLst>
            </p:cNvPr>
            <p:cNvCxnSpPr/>
            <p:nvPr/>
          </p:nvCxnSpPr>
          <p:spPr>
            <a:xfrm>
              <a:off x="8933582"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03AD0B9-EE10-4285-8711-25772A168F9D}"/>
                </a:ext>
              </a:extLst>
            </p:cNvPr>
            <p:cNvSpPr txBox="1"/>
            <p:nvPr/>
          </p:nvSpPr>
          <p:spPr>
            <a:xfrm>
              <a:off x="8597758" y="2382267"/>
              <a:ext cx="176279" cy="246221"/>
            </a:xfrm>
            <a:prstGeom prst="rect">
              <a:avLst/>
            </a:prstGeom>
            <a:noFill/>
          </p:spPr>
          <p:txBody>
            <a:bodyPr wrap="square" rtlCol="0">
              <a:spAutoFit/>
            </a:bodyPr>
            <a:lstStyle/>
            <a:p>
              <a:r>
                <a:rPr lang="en-US" altLang="ko-KR" sz="1000" dirty="0"/>
                <a:t>1</a:t>
              </a:r>
              <a:endParaRPr lang="ko-KR" altLang="en-US" sz="1000" dirty="0"/>
            </a:p>
          </p:txBody>
        </p:sp>
        <p:cxnSp>
          <p:nvCxnSpPr>
            <p:cNvPr id="207" name="직선 연결선 206">
              <a:extLst>
                <a:ext uri="{FF2B5EF4-FFF2-40B4-BE49-F238E27FC236}">
                  <a16:creationId xmlns:a16="http://schemas.microsoft.com/office/drawing/2014/main" id="{D7C447CF-2FDD-4171-B1FA-D84F7F3E392F}"/>
                </a:ext>
              </a:extLst>
            </p:cNvPr>
            <p:cNvCxnSpPr/>
            <p:nvPr/>
          </p:nvCxnSpPr>
          <p:spPr>
            <a:xfrm>
              <a:off x="9065980" y="2406193"/>
              <a:ext cx="0" cy="197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230" name="직선 연결선 229">
              <a:extLst>
                <a:ext uri="{FF2B5EF4-FFF2-40B4-BE49-F238E27FC236}">
                  <a16:creationId xmlns:a16="http://schemas.microsoft.com/office/drawing/2014/main" id="{D8295B1A-9FF0-4474-95CB-414CED641AA0}"/>
                </a:ext>
              </a:extLst>
            </p:cNvPr>
            <p:cNvCxnSpPr/>
            <p:nvPr/>
          </p:nvCxnSpPr>
          <p:spPr>
            <a:xfrm>
              <a:off x="8806424"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239" name="TextBox 238">
              <a:extLst>
                <a:ext uri="{FF2B5EF4-FFF2-40B4-BE49-F238E27FC236}">
                  <a16:creationId xmlns:a16="http://schemas.microsoft.com/office/drawing/2014/main" id="{E19930DE-5F59-4311-AD44-541B25F77DFD}"/>
                </a:ext>
              </a:extLst>
            </p:cNvPr>
            <p:cNvSpPr txBox="1"/>
            <p:nvPr/>
          </p:nvSpPr>
          <p:spPr>
            <a:xfrm>
              <a:off x="8734443" y="2382267"/>
              <a:ext cx="176279" cy="246221"/>
            </a:xfrm>
            <a:prstGeom prst="rect">
              <a:avLst/>
            </a:prstGeom>
            <a:noFill/>
          </p:spPr>
          <p:txBody>
            <a:bodyPr wrap="square" rtlCol="0">
              <a:spAutoFit/>
            </a:bodyPr>
            <a:lstStyle/>
            <a:p>
              <a:r>
                <a:rPr lang="en-US" altLang="ko-KR" sz="1000" dirty="0"/>
                <a:t>2</a:t>
              </a:r>
              <a:endParaRPr lang="ko-KR" altLang="en-US" sz="1000" dirty="0"/>
            </a:p>
          </p:txBody>
        </p:sp>
        <p:sp>
          <p:nvSpPr>
            <p:cNvPr id="240" name="TextBox 239">
              <a:extLst>
                <a:ext uri="{FF2B5EF4-FFF2-40B4-BE49-F238E27FC236}">
                  <a16:creationId xmlns:a16="http://schemas.microsoft.com/office/drawing/2014/main" id="{238638EC-9EDD-4540-801E-582731D92505}"/>
                </a:ext>
              </a:extLst>
            </p:cNvPr>
            <p:cNvSpPr txBox="1"/>
            <p:nvPr/>
          </p:nvSpPr>
          <p:spPr>
            <a:xfrm>
              <a:off x="8874465" y="2382267"/>
              <a:ext cx="176279" cy="246221"/>
            </a:xfrm>
            <a:prstGeom prst="rect">
              <a:avLst/>
            </a:prstGeom>
            <a:noFill/>
          </p:spPr>
          <p:txBody>
            <a:bodyPr wrap="square" rtlCol="0">
              <a:spAutoFit/>
            </a:bodyPr>
            <a:lstStyle/>
            <a:p>
              <a:r>
                <a:rPr lang="en-US" altLang="ko-KR" sz="1000" dirty="0"/>
                <a:t>3</a:t>
              </a:r>
              <a:endParaRPr lang="ko-KR" altLang="en-US" sz="1000" dirty="0"/>
            </a:p>
          </p:txBody>
        </p:sp>
        <p:sp>
          <p:nvSpPr>
            <p:cNvPr id="241" name="TextBox 240">
              <a:extLst>
                <a:ext uri="{FF2B5EF4-FFF2-40B4-BE49-F238E27FC236}">
                  <a16:creationId xmlns:a16="http://schemas.microsoft.com/office/drawing/2014/main" id="{89969C75-4CD7-40E3-AFED-FDC19A2CA623}"/>
                </a:ext>
              </a:extLst>
            </p:cNvPr>
            <p:cNvSpPr txBox="1"/>
            <p:nvPr/>
          </p:nvSpPr>
          <p:spPr>
            <a:xfrm>
              <a:off x="9021963" y="2382267"/>
              <a:ext cx="176279" cy="246221"/>
            </a:xfrm>
            <a:prstGeom prst="rect">
              <a:avLst/>
            </a:prstGeom>
            <a:noFill/>
          </p:spPr>
          <p:txBody>
            <a:bodyPr wrap="square" rtlCol="0">
              <a:spAutoFit/>
            </a:bodyPr>
            <a:lstStyle/>
            <a:p>
              <a:r>
                <a:rPr lang="en-US" altLang="ko-KR" sz="1000" dirty="0"/>
                <a:t>4</a:t>
              </a:r>
              <a:endParaRPr lang="ko-KR" altLang="en-US" sz="1000" dirty="0"/>
            </a:p>
          </p:txBody>
        </p:sp>
      </p:grpSp>
      <p:grpSp>
        <p:nvGrpSpPr>
          <p:cNvPr id="270" name="그룹 269">
            <a:extLst>
              <a:ext uri="{FF2B5EF4-FFF2-40B4-BE49-F238E27FC236}">
                <a16:creationId xmlns:a16="http://schemas.microsoft.com/office/drawing/2014/main" id="{CB549A2B-AE82-42E3-8C04-662416C2C61B}"/>
              </a:ext>
            </a:extLst>
          </p:cNvPr>
          <p:cNvGrpSpPr/>
          <p:nvPr/>
        </p:nvGrpSpPr>
        <p:grpSpPr>
          <a:xfrm>
            <a:off x="1886918" y="2216339"/>
            <a:ext cx="671755" cy="284334"/>
            <a:chOff x="8597758" y="2344154"/>
            <a:chExt cx="671755" cy="284334"/>
          </a:xfrm>
        </p:grpSpPr>
        <p:sp>
          <p:nvSpPr>
            <p:cNvPr id="271" name="Rectangle 9157">
              <a:extLst>
                <a:ext uri="{FF2B5EF4-FFF2-40B4-BE49-F238E27FC236}">
                  <a16:creationId xmlns:a16="http://schemas.microsoft.com/office/drawing/2014/main" id="{FFABC495-688B-461D-B649-C90563F4F9B8}"/>
                </a:ext>
              </a:extLst>
            </p:cNvPr>
            <p:cNvSpPr/>
            <p:nvPr/>
          </p:nvSpPr>
          <p:spPr>
            <a:xfrm>
              <a:off x="8670587" y="2344154"/>
              <a:ext cx="598926"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dirty="0">
                <a:solidFill>
                  <a:schemeClr val="tx1"/>
                </a:solidFill>
              </a:endParaRPr>
            </a:p>
          </p:txBody>
        </p:sp>
        <p:cxnSp>
          <p:nvCxnSpPr>
            <p:cNvPr id="273" name="직선 연결선 272">
              <a:extLst>
                <a:ext uri="{FF2B5EF4-FFF2-40B4-BE49-F238E27FC236}">
                  <a16:creationId xmlns:a16="http://schemas.microsoft.com/office/drawing/2014/main" id="{33937E57-61F4-41E2-8847-5491533091A8}"/>
                </a:ext>
              </a:extLst>
            </p:cNvPr>
            <p:cNvCxnSpPr/>
            <p:nvPr/>
          </p:nvCxnSpPr>
          <p:spPr>
            <a:xfrm>
              <a:off x="8933582"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278" name="TextBox 277">
              <a:extLst>
                <a:ext uri="{FF2B5EF4-FFF2-40B4-BE49-F238E27FC236}">
                  <a16:creationId xmlns:a16="http://schemas.microsoft.com/office/drawing/2014/main" id="{E40EEBEE-8659-4776-A04E-13A3243142ED}"/>
                </a:ext>
              </a:extLst>
            </p:cNvPr>
            <p:cNvSpPr txBox="1"/>
            <p:nvPr/>
          </p:nvSpPr>
          <p:spPr>
            <a:xfrm>
              <a:off x="8597758" y="2382267"/>
              <a:ext cx="176279" cy="246221"/>
            </a:xfrm>
            <a:prstGeom prst="rect">
              <a:avLst/>
            </a:prstGeom>
            <a:noFill/>
          </p:spPr>
          <p:txBody>
            <a:bodyPr wrap="square" rtlCol="0">
              <a:spAutoFit/>
            </a:bodyPr>
            <a:lstStyle/>
            <a:p>
              <a:r>
                <a:rPr lang="en-US" altLang="ko-KR" sz="1000" dirty="0"/>
                <a:t>1</a:t>
              </a:r>
              <a:endParaRPr lang="ko-KR" altLang="en-US" sz="1000" dirty="0"/>
            </a:p>
          </p:txBody>
        </p:sp>
        <p:cxnSp>
          <p:nvCxnSpPr>
            <p:cNvPr id="279" name="직선 연결선 278">
              <a:extLst>
                <a:ext uri="{FF2B5EF4-FFF2-40B4-BE49-F238E27FC236}">
                  <a16:creationId xmlns:a16="http://schemas.microsoft.com/office/drawing/2014/main" id="{88238812-561A-4FD7-8CE1-67878F179310}"/>
                </a:ext>
              </a:extLst>
            </p:cNvPr>
            <p:cNvCxnSpPr/>
            <p:nvPr/>
          </p:nvCxnSpPr>
          <p:spPr>
            <a:xfrm>
              <a:off x="9065980" y="2406193"/>
              <a:ext cx="0" cy="197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280" name="직선 연결선 279">
              <a:extLst>
                <a:ext uri="{FF2B5EF4-FFF2-40B4-BE49-F238E27FC236}">
                  <a16:creationId xmlns:a16="http://schemas.microsoft.com/office/drawing/2014/main" id="{4D46E745-CA83-4FE6-9850-E4ADB44C8A0C}"/>
                </a:ext>
              </a:extLst>
            </p:cNvPr>
            <p:cNvCxnSpPr/>
            <p:nvPr/>
          </p:nvCxnSpPr>
          <p:spPr>
            <a:xfrm>
              <a:off x="8806424"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282" name="TextBox 281">
              <a:extLst>
                <a:ext uri="{FF2B5EF4-FFF2-40B4-BE49-F238E27FC236}">
                  <a16:creationId xmlns:a16="http://schemas.microsoft.com/office/drawing/2014/main" id="{F3F3AC59-9CDB-46E4-B6BA-C33984F28D5D}"/>
                </a:ext>
              </a:extLst>
            </p:cNvPr>
            <p:cNvSpPr txBox="1"/>
            <p:nvPr/>
          </p:nvSpPr>
          <p:spPr>
            <a:xfrm>
              <a:off x="8734443" y="2382267"/>
              <a:ext cx="176279" cy="246221"/>
            </a:xfrm>
            <a:prstGeom prst="rect">
              <a:avLst/>
            </a:prstGeom>
            <a:noFill/>
          </p:spPr>
          <p:txBody>
            <a:bodyPr wrap="square" rtlCol="0">
              <a:spAutoFit/>
            </a:bodyPr>
            <a:lstStyle/>
            <a:p>
              <a:r>
                <a:rPr lang="en-US" altLang="ko-KR" sz="1000" dirty="0"/>
                <a:t>2</a:t>
              </a:r>
              <a:endParaRPr lang="ko-KR" altLang="en-US" sz="1000" dirty="0"/>
            </a:p>
          </p:txBody>
        </p:sp>
        <p:sp>
          <p:nvSpPr>
            <p:cNvPr id="283" name="TextBox 282">
              <a:extLst>
                <a:ext uri="{FF2B5EF4-FFF2-40B4-BE49-F238E27FC236}">
                  <a16:creationId xmlns:a16="http://schemas.microsoft.com/office/drawing/2014/main" id="{85DB1144-BA93-4F19-ADBF-AFC7909391D8}"/>
                </a:ext>
              </a:extLst>
            </p:cNvPr>
            <p:cNvSpPr txBox="1"/>
            <p:nvPr/>
          </p:nvSpPr>
          <p:spPr>
            <a:xfrm>
              <a:off x="8874465" y="2382267"/>
              <a:ext cx="176279" cy="246221"/>
            </a:xfrm>
            <a:prstGeom prst="rect">
              <a:avLst/>
            </a:prstGeom>
            <a:noFill/>
          </p:spPr>
          <p:txBody>
            <a:bodyPr wrap="square" rtlCol="0">
              <a:spAutoFit/>
            </a:bodyPr>
            <a:lstStyle/>
            <a:p>
              <a:r>
                <a:rPr lang="en-US" altLang="ko-KR" sz="1000" dirty="0"/>
                <a:t>3</a:t>
              </a:r>
              <a:endParaRPr lang="ko-KR" altLang="en-US" sz="1000" dirty="0"/>
            </a:p>
          </p:txBody>
        </p:sp>
        <p:sp>
          <p:nvSpPr>
            <p:cNvPr id="284" name="TextBox 283">
              <a:extLst>
                <a:ext uri="{FF2B5EF4-FFF2-40B4-BE49-F238E27FC236}">
                  <a16:creationId xmlns:a16="http://schemas.microsoft.com/office/drawing/2014/main" id="{3AB9BAB0-01AC-4678-A40F-E77B463E3728}"/>
                </a:ext>
              </a:extLst>
            </p:cNvPr>
            <p:cNvSpPr txBox="1"/>
            <p:nvPr/>
          </p:nvSpPr>
          <p:spPr>
            <a:xfrm>
              <a:off x="9021963" y="2382267"/>
              <a:ext cx="176279" cy="246221"/>
            </a:xfrm>
            <a:prstGeom prst="rect">
              <a:avLst/>
            </a:prstGeom>
            <a:noFill/>
          </p:spPr>
          <p:txBody>
            <a:bodyPr wrap="square" rtlCol="0">
              <a:spAutoFit/>
            </a:bodyPr>
            <a:lstStyle/>
            <a:p>
              <a:r>
                <a:rPr lang="en-US" altLang="ko-KR" sz="1000" dirty="0"/>
                <a:t>4</a:t>
              </a:r>
              <a:endParaRPr lang="ko-KR" altLang="en-US" sz="1000" dirty="0"/>
            </a:p>
          </p:txBody>
        </p:sp>
      </p:grpSp>
      <p:grpSp>
        <p:nvGrpSpPr>
          <p:cNvPr id="285" name="그룹 284">
            <a:extLst>
              <a:ext uri="{FF2B5EF4-FFF2-40B4-BE49-F238E27FC236}">
                <a16:creationId xmlns:a16="http://schemas.microsoft.com/office/drawing/2014/main" id="{F5809047-0CCC-45CF-A388-937F13BA1ADB}"/>
              </a:ext>
            </a:extLst>
          </p:cNvPr>
          <p:cNvGrpSpPr/>
          <p:nvPr/>
        </p:nvGrpSpPr>
        <p:grpSpPr>
          <a:xfrm>
            <a:off x="1864735" y="3923760"/>
            <a:ext cx="671755" cy="284334"/>
            <a:chOff x="8597758" y="2344154"/>
            <a:chExt cx="671755" cy="284334"/>
          </a:xfrm>
        </p:grpSpPr>
        <p:sp>
          <p:nvSpPr>
            <p:cNvPr id="286" name="Rectangle 9157">
              <a:extLst>
                <a:ext uri="{FF2B5EF4-FFF2-40B4-BE49-F238E27FC236}">
                  <a16:creationId xmlns:a16="http://schemas.microsoft.com/office/drawing/2014/main" id="{FA2753E3-7E9B-425A-A6F6-54C06EB130B7}"/>
                </a:ext>
              </a:extLst>
            </p:cNvPr>
            <p:cNvSpPr/>
            <p:nvPr/>
          </p:nvSpPr>
          <p:spPr>
            <a:xfrm>
              <a:off x="8670587" y="2344154"/>
              <a:ext cx="598926"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dirty="0">
                <a:solidFill>
                  <a:schemeClr val="tx1"/>
                </a:solidFill>
              </a:endParaRPr>
            </a:p>
          </p:txBody>
        </p:sp>
        <p:cxnSp>
          <p:nvCxnSpPr>
            <p:cNvPr id="287" name="직선 연결선 286">
              <a:extLst>
                <a:ext uri="{FF2B5EF4-FFF2-40B4-BE49-F238E27FC236}">
                  <a16:creationId xmlns:a16="http://schemas.microsoft.com/office/drawing/2014/main" id="{AB675629-B4B3-42BF-B345-A61702A4FEFD}"/>
                </a:ext>
              </a:extLst>
            </p:cNvPr>
            <p:cNvCxnSpPr/>
            <p:nvPr/>
          </p:nvCxnSpPr>
          <p:spPr>
            <a:xfrm>
              <a:off x="8933582"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288" name="TextBox 287">
              <a:extLst>
                <a:ext uri="{FF2B5EF4-FFF2-40B4-BE49-F238E27FC236}">
                  <a16:creationId xmlns:a16="http://schemas.microsoft.com/office/drawing/2014/main" id="{D6ED09D4-AAF6-4127-B267-3CAA71976EBE}"/>
                </a:ext>
              </a:extLst>
            </p:cNvPr>
            <p:cNvSpPr txBox="1"/>
            <p:nvPr/>
          </p:nvSpPr>
          <p:spPr>
            <a:xfrm>
              <a:off x="8597758" y="2382267"/>
              <a:ext cx="176279" cy="246221"/>
            </a:xfrm>
            <a:prstGeom prst="rect">
              <a:avLst/>
            </a:prstGeom>
            <a:noFill/>
          </p:spPr>
          <p:txBody>
            <a:bodyPr wrap="square" rtlCol="0">
              <a:spAutoFit/>
            </a:bodyPr>
            <a:lstStyle/>
            <a:p>
              <a:r>
                <a:rPr lang="en-US" altLang="ko-KR" sz="1000" dirty="0"/>
                <a:t>1</a:t>
              </a:r>
              <a:endParaRPr lang="ko-KR" altLang="en-US" sz="1000" dirty="0"/>
            </a:p>
          </p:txBody>
        </p:sp>
        <p:cxnSp>
          <p:nvCxnSpPr>
            <p:cNvPr id="289" name="직선 연결선 288">
              <a:extLst>
                <a:ext uri="{FF2B5EF4-FFF2-40B4-BE49-F238E27FC236}">
                  <a16:creationId xmlns:a16="http://schemas.microsoft.com/office/drawing/2014/main" id="{AB0E2839-83A3-4F6B-A68E-90B78A3BB7B3}"/>
                </a:ext>
              </a:extLst>
            </p:cNvPr>
            <p:cNvCxnSpPr/>
            <p:nvPr/>
          </p:nvCxnSpPr>
          <p:spPr>
            <a:xfrm>
              <a:off x="9065980" y="2406193"/>
              <a:ext cx="0" cy="197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321" name="직선 연결선 320">
              <a:extLst>
                <a:ext uri="{FF2B5EF4-FFF2-40B4-BE49-F238E27FC236}">
                  <a16:creationId xmlns:a16="http://schemas.microsoft.com/office/drawing/2014/main" id="{CCB6D3AA-F989-4D17-B0B7-AC0F2A03388B}"/>
                </a:ext>
              </a:extLst>
            </p:cNvPr>
            <p:cNvCxnSpPr/>
            <p:nvPr/>
          </p:nvCxnSpPr>
          <p:spPr>
            <a:xfrm>
              <a:off x="8806424"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322" name="TextBox 321">
              <a:extLst>
                <a:ext uri="{FF2B5EF4-FFF2-40B4-BE49-F238E27FC236}">
                  <a16:creationId xmlns:a16="http://schemas.microsoft.com/office/drawing/2014/main" id="{B4DF1F9A-EE93-42F3-8D16-7B0C848286C6}"/>
                </a:ext>
              </a:extLst>
            </p:cNvPr>
            <p:cNvSpPr txBox="1"/>
            <p:nvPr/>
          </p:nvSpPr>
          <p:spPr>
            <a:xfrm>
              <a:off x="8734443" y="2382267"/>
              <a:ext cx="176279" cy="246221"/>
            </a:xfrm>
            <a:prstGeom prst="rect">
              <a:avLst/>
            </a:prstGeom>
            <a:noFill/>
          </p:spPr>
          <p:txBody>
            <a:bodyPr wrap="square" rtlCol="0">
              <a:spAutoFit/>
            </a:bodyPr>
            <a:lstStyle/>
            <a:p>
              <a:r>
                <a:rPr lang="en-US" altLang="ko-KR" sz="1000" dirty="0"/>
                <a:t>2</a:t>
              </a:r>
              <a:endParaRPr lang="ko-KR" altLang="en-US" sz="1000" dirty="0"/>
            </a:p>
          </p:txBody>
        </p:sp>
        <p:sp>
          <p:nvSpPr>
            <p:cNvPr id="323" name="TextBox 322">
              <a:extLst>
                <a:ext uri="{FF2B5EF4-FFF2-40B4-BE49-F238E27FC236}">
                  <a16:creationId xmlns:a16="http://schemas.microsoft.com/office/drawing/2014/main" id="{C5EDF9DD-0AFC-4FB2-9D57-98BAE6D1A9CF}"/>
                </a:ext>
              </a:extLst>
            </p:cNvPr>
            <p:cNvSpPr txBox="1"/>
            <p:nvPr/>
          </p:nvSpPr>
          <p:spPr>
            <a:xfrm>
              <a:off x="8874465" y="2382267"/>
              <a:ext cx="176279" cy="246221"/>
            </a:xfrm>
            <a:prstGeom prst="rect">
              <a:avLst/>
            </a:prstGeom>
            <a:noFill/>
          </p:spPr>
          <p:txBody>
            <a:bodyPr wrap="square" rtlCol="0">
              <a:spAutoFit/>
            </a:bodyPr>
            <a:lstStyle/>
            <a:p>
              <a:r>
                <a:rPr lang="en-US" altLang="ko-KR" sz="1000" dirty="0"/>
                <a:t>3</a:t>
              </a:r>
              <a:endParaRPr lang="ko-KR" altLang="en-US" sz="1000" dirty="0"/>
            </a:p>
          </p:txBody>
        </p:sp>
        <p:sp>
          <p:nvSpPr>
            <p:cNvPr id="324" name="TextBox 323">
              <a:extLst>
                <a:ext uri="{FF2B5EF4-FFF2-40B4-BE49-F238E27FC236}">
                  <a16:creationId xmlns:a16="http://schemas.microsoft.com/office/drawing/2014/main" id="{8FF3BF65-6BD5-47BE-93C8-BDE666FEB9EE}"/>
                </a:ext>
              </a:extLst>
            </p:cNvPr>
            <p:cNvSpPr txBox="1"/>
            <p:nvPr/>
          </p:nvSpPr>
          <p:spPr>
            <a:xfrm>
              <a:off x="9021963" y="2382267"/>
              <a:ext cx="176279" cy="246221"/>
            </a:xfrm>
            <a:prstGeom prst="rect">
              <a:avLst/>
            </a:prstGeom>
            <a:noFill/>
          </p:spPr>
          <p:txBody>
            <a:bodyPr wrap="square" rtlCol="0">
              <a:spAutoFit/>
            </a:bodyPr>
            <a:lstStyle/>
            <a:p>
              <a:r>
                <a:rPr lang="en-US" altLang="ko-KR" sz="1000" dirty="0"/>
                <a:t>4</a:t>
              </a:r>
              <a:endParaRPr lang="ko-KR" altLang="en-US" sz="1000" dirty="0"/>
            </a:p>
          </p:txBody>
        </p:sp>
      </p:grpSp>
      <p:grpSp>
        <p:nvGrpSpPr>
          <p:cNvPr id="325" name="그룹 324">
            <a:extLst>
              <a:ext uri="{FF2B5EF4-FFF2-40B4-BE49-F238E27FC236}">
                <a16:creationId xmlns:a16="http://schemas.microsoft.com/office/drawing/2014/main" id="{3D4D591A-F77C-4A7E-851D-4579D898E79C}"/>
              </a:ext>
            </a:extLst>
          </p:cNvPr>
          <p:cNvGrpSpPr/>
          <p:nvPr/>
        </p:nvGrpSpPr>
        <p:grpSpPr>
          <a:xfrm>
            <a:off x="7802607" y="3233247"/>
            <a:ext cx="671755" cy="284334"/>
            <a:chOff x="8597758" y="2344154"/>
            <a:chExt cx="671755" cy="284334"/>
          </a:xfrm>
        </p:grpSpPr>
        <p:sp>
          <p:nvSpPr>
            <p:cNvPr id="326" name="Rectangle 9157">
              <a:extLst>
                <a:ext uri="{FF2B5EF4-FFF2-40B4-BE49-F238E27FC236}">
                  <a16:creationId xmlns:a16="http://schemas.microsoft.com/office/drawing/2014/main" id="{BCA30A1B-C951-4730-91FE-E2A780CD404C}"/>
                </a:ext>
              </a:extLst>
            </p:cNvPr>
            <p:cNvSpPr/>
            <p:nvPr/>
          </p:nvSpPr>
          <p:spPr>
            <a:xfrm>
              <a:off x="8670587" y="2344154"/>
              <a:ext cx="598926"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dirty="0">
                <a:solidFill>
                  <a:schemeClr val="tx1"/>
                </a:solidFill>
              </a:endParaRPr>
            </a:p>
          </p:txBody>
        </p:sp>
        <p:cxnSp>
          <p:nvCxnSpPr>
            <p:cNvPr id="327" name="직선 연결선 326">
              <a:extLst>
                <a:ext uri="{FF2B5EF4-FFF2-40B4-BE49-F238E27FC236}">
                  <a16:creationId xmlns:a16="http://schemas.microsoft.com/office/drawing/2014/main" id="{C6728A9C-6720-442B-A060-698EBC647984}"/>
                </a:ext>
              </a:extLst>
            </p:cNvPr>
            <p:cNvCxnSpPr/>
            <p:nvPr/>
          </p:nvCxnSpPr>
          <p:spPr>
            <a:xfrm>
              <a:off x="8933582"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328" name="TextBox 327">
              <a:extLst>
                <a:ext uri="{FF2B5EF4-FFF2-40B4-BE49-F238E27FC236}">
                  <a16:creationId xmlns:a16="http://schemas.microsoft.com/office/drawing/2014/main" id="{B088C14A-018D-4624-BE37-81E87FC44D50}"/>
                </a:ext>
              </a:extLst>
            </p:cNvPr>
            <p:cNvSpPr txBox="1"/>
            <p:nvPr/>
          </p:nvSpPr>
          <p:spPr>
            <a:xfrm>
              <a:off x="8597758" y="2382267"/>
              <a:ext cx="176279" cy="246221"/>
            </a:xfrm>
            <a:prstGeom prst="rect">
              <a:avLst/>
            </a:prstGeom>
            <a:noFill/>
          </p:spPr>
          <p:txBody>
            <a:bodyPr wrap="square" rtlCol="0">
              <a:spAutoFit/>
            </a:bodyPr>
            <a:lstStyle/>
            <a:p>
              <a:r>
                <a:rPr lang="en-US" altLang="ko-KR" sz="1000" dirty="0"/>
                <a:t>2</a:t>
              </a:r>
              <a:endParaRPr lang="ko-KR" altLang="en-US" sz="1000" dirty="0"/>
            </a:p>
          </p:txBody>
        </p:sp>
        <p:cxnSp>
          <p:nvCxnSpPr>
            <p:cNvPr id="329" name="직선 연결선 328">
              <a:extLst>
                <a:ext uri="{FF2B5EF4-FFF2-40B4-BE49-F238E27FC236}">
                  <a16:creationId xmlns:a16="http://schemas.microsoft.com/office/drawing/2014/main" id="{332FDC7D-2E6D-4AAB-A12F-FA5BF79F7FC4}"/>
                </a:ext>
              </a:extLst>
            </p:cNvPr>
            <p:cNvCxnSpPr/>
            <p:nvPr/>
          </p:nvCxnSpPr>
          <p:spPr>
            <a:xfrm>
              <a:off x="9065980" y="2406193"/>
              <a:ext cx="0" cy="197353"/>
            </a:xfrm>
            <a:prstGeom prst="line">
              <a:avLst/>
            </a:prstGeom>
          </p:spPr>
          <p:style>
            <a:lnRef idx="1">
              <a:schemeClr val="accent1"/>
            </a:lnRef>
            <a:fillRef idx="0">
              <a:schemeClr val="accent1"/>
            </a:fillRef>
            <a:effectRef idx="0">
              <a:schemeClr val="accent1"/>
            </a:effectRef>
            <a:fontRef idx="minor">
              <a:schemeClr val="tx1"/>
            </a:fontRef>
          </p:style>
        </p:cxnSp>
        <p:cxnSp>
          <p:nvCxnSpPr>
            <p:cNvPr id="330" name="직선 연결선 329">
              <a:extLst>
                <a:ext uri="{FF2B5EF4-FFF2-40B4-BE49-F238E27FC236}">
                  <a16:creationId xmlns:a16="http://schemas.microsoft.com/office/drawing/2014/main" id="{02FBC298-BDB9-4DAA-A4CF-1EF0B76318A4}"/>
                </a:ext>
              </a:extLst>
            </p:cNvPr>
            <p:cNvCxnSpPr/>
            <p:nvPr/>
          </p:nvCxnSpPr>
          <p:spPr>
            <a:xfrm>
              <a:off x="8806424" y="2406193"/>
              <a:ext cx="0" cy="197353"/>
            </a:xfrm>
            <a:prstGeom prst="line">
              <a:avLst/>
            </a:prstGeom>
          </p:spPr>
          <p:style>
            <a:lnRef idx="1">
              <a:schemeClr val="accent1"/>
            </a:lnRef>
            <a:fillRef idx="0">
              <a:schemeClr val="accent1"/>
            </a:fillRef>
            <a:effectRef idx="0">
              <a:schemeClr val="accent1"/>
            </a:effectRef>
            <a:fontRef idx="minor">
              <a:schemeClr val="tx1"/>
            </a:fontRef>
          </p:style>
        </p:cxnSp>
        <p:sp>
          <p:nvSpPr>
            <p:cNvPr id="331" name="TextBox 330">
              <a:extLst>
                <a:ext uri="{FF2B5EF4-FFF2-40B4-BE49-F238E27FC236}">
                  <a16:creationId xmlns:a16="http://schemas.microsoft.com/office/drawing/2014/main" id="{867317BC-91BA-4816-A5C9-7EA7D8184506}"/>
                </a:ext>
              </a:extLst>
            </p:cNvPr>
            <p:cNvSpPr txBox="1"/>
            <p:nvPr/>
          </p:nvSpPr>
          <p:spPr>
            <a:xfrm>
              <a:off x="8734443" y="2382267"/>
              <a:ext cx="176279" cy="246221"/>
            </a:xfrm>
            <a:prstGeom prst="rect">
              <a:avLst/>
            </a:prstGeom>
            <a:noFill/>
          </p:spPr>
          <p:txBody>
            <a:bodyPr wrap="square" rtlCol="0">
              <a:spAutoFit/>
            </a:bodyPr>
            <a:lstStyle/>
            <a:p>
              <a:r>
                <a:rPr lang="en-US" altLang="ko-KR" sz="1000" dirty="0"/>
                <a:t>1</a:t>
              </a:r>
              <a:endParaRPr lang="ko-KR" altLang="en-US" sz="1000" dirty="0"/>
            </a:p>
          </p:txBody>
        </p:sp>
        <p:sp>
          <p:nvSpPr>
            <p:cNvPr id="332" name="TextBox 331">
              <a:extLst>
                <a:ext uri="{FF2B5EF4-FFF2-40B4-BE49-F238E27FC236}">
                  <a16:creationId xmlns:a16="http://schemas.microsoft.com/office/drawing/2014/main" id="{9FE7DEE8-0E95-44D4-A3CC-6FD2C751D46A}"/>
                </a:ext>
              </a:extLst>
            </p:cNvPr>
            <p:cNvSpPr txBox="1"/>
            <p:nvPr/>
          </p:nvSpPr>
          <p:spPr>
            <a:xfrm>
              <a:off x="8874465" y="2382267"/>
              <a:ext cx="176279" cy="246221"/>
            </a:xfrm>
            <a:prstGeom prst="rect">
              <a:avLst/>
            </a:prstGeom>
            <a:noFill/>
          </p:spPr>
          <p:txBody>
            <a:bodyPr wrap="square" rtlCol="0">
              <a:spAutoFit/>
            </a:bodyPr>
            <a:lstStyle/>
            <a:p>
              <a:r>
                <a:rPr lang="en-US" altLang="ko-KR" sz="1000" dirty="0"/>
                <a:t>3</a:t>
              </a:r>
              <a:endParaRPr lang="ko-KR" altLang="en-US" sz="1000" dirty="0"/>
            </a:p>
          </p:txBody>
        </p:sp>
        <p:sp>
          <p:nvSpPr>
            <p:cNvPr id="333" name="TextBox 332">
              <a:extLst>
                <a:ext uri="{FF2B5EF4-FFF2-40B4-BE49-F238E27FC236}">
                  <a16:creationId xmlns:a16="http://schemas.microsoft.com/office/drawing/2014/main" id="{5B7F4749-A011-474B-A1D4-4379218B6784}"/>
                </a:ext>
              </a:extLst>
            </p:cNvPr>
            <p:cNvSpPr txBox="1"/>
            <p:nvPr/>
          </p:nvSpPr>
          <p:spPr>
            <a:xfrm>
              <a:off x="9021963" y="2382267"/>
              <a:ext cx="176279" cy="246221"/>
            </a:xfrm>
            <a:prstGeom prst="rect">
              <a:avLst/>
            </a:prstGeom>
            <a:noFill/>
          </p:spPr>
          <p:txBody>
            <a:bodyPr wrap="square" rtlCol="0">
              <a:spAutoFit/>
            </a:bodyPr>
            <a:lstStyle/>
            <a:p>
              <a:r>
                <a:rPr lang="en-US" altLang="ko-KR" sz="1000" dirty="0"/>
                <a:t>4</a:t>
              </a:r>
              <a:endParaRPr lang="ko-KR" altLang="en-US" sz="1000" dirty="0"/>
            </a:p>
          </p:txBody>
        </p:sp>
      </p:grpSp>
      <p:cxnSp>
        <p:nvCxnSpPr>
          <p:cNvPr id="334" name="직선 연결선 333">
            <a:extLst>
              <a:ext uri="{FF2B5EF4-FFF2-40B4-BE49-F238E27FC236}">
                <a16:creationId xmlns:a16="http://schemas.microsoft.com/office/drawing/2014/main" id="{D66782C2-058D-4231-84A0-A9E7E0B75C37}"/>
              </a:ext>
            </a:extLst>
          </p:cNvPr>
          <p:cNvCxnSpPr>
            <a:cxnSpLocks/>
          </p:cNvCxnSpPr>
          <p:nvPr/>
        </p:nvCxnSpPr>
        <p:spPr>
          <a:xfrm flipV="1">
            <a:off x="7877811" y="3217543"/>
            <a:ext cx="559046" cy="312037"/>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5" name="직선 연결선 334">
            <a:extLst>
              <a:ext uri="{FF2B5EF4-FFF2-40B4-BE49-F238E27FC236}">
                <a16:creationId xmlns:a16="http://schemas.microsoft.com/office/drawing/2014/main" id="{1EBC7B89-C050-4FF7-9AB4-01EEE3F1AF59}"/>
              </a:ext>
            </a:extLst>
          </p:cNvPr>
          <p:cNvCxnSpPr>
            <a:cxnSpLocks/>
          </p:cNvCxnSpPr>
          <p:nvPr/>
        </p:nvCxnSpPr>
        <p:spPr>
          <a:xfrm flipH="1" flipV="1">
            <a:off x="7887005" y="3230515"/>
            <a:ext cx="535278" cy="32118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70" name="TextBox 169">
            <a:extLst>
              <a:ext uri="{FF2B5EF4-FFF2-40B4-BE49-F238E27FC236}">
                <a16:creationId xmlns:a16="http://schemas.microsoft.com/office/drawing/2014/main" id="{2F666957-1F81-462F-B0DE-40E133AAB838}"/>
              </a:ext>
            </a:extLst>
          </p:cNvPr>
          <p:cNvSpPr txBox="1"/>
          <p:nvPr/>
        </p:nvSpPr>
        <p:spPr>
          <a:xfrm>
            <a:off x="8455566" y="3367745"/>
            <a:ext cx="712696" cy="107722"/>
          </a:xfrm>
          <a:prstGeom prst="rect">
            <a:avLst/>
          </a:prstGeom>
          <a:noFill/>
        </p:spPr>
        <p:txBody>
          <a:bodyPr wrap="square" lIns="0" tIns="0" rIns="0" bIns="0" anchor="t">
            <a:spAutoFit/>
          </a:bodyPr>
          <a:lstStyle/>
          <a:p>
            <a:pPr algn="ctr"/>
            <a:r>
              <a:rPr lang="en-US" sz="700" b="1" dirty="0">
                <a:solidFill>
                  <a:srgbClr val="FF0000"/>
                </a:solidFill>
                <a:latin typeface="맑은 고딕"/>
                <a:ea typeface="맑은 고딕"/>
              </a:rPr>
              <a:t>KV</a:t>
            </a:r>
            <a:r>
              <a:rPr lang="ko-KR" altLang="en-US" sz="700" b="1" dirty="0">
                <a:solidFill>
                  <a:srgbClr val="FF0000"/>
                </a:solidFill>
                <a:latin typeface="맑은 고딕"/>
                <a:ea typeface="맑은 고딕"/>
              </a:rPr>
              <a:t> 캐시 생성 </a:t>
            </a:r>
            <a:r>
              <a:rPr lang="en-US" altLang="ko-KR" sz="700" b="1" dirty="0">
                <a:solidFill>
                  <a:srgbClr val="FF0000"/>
                </a:solidFill>
                <a:latin typeface="맑은 고딕"/>
                <a:ea typeface="맑은 고딕"/>
              </a:rPr>
              <a:t>X</a:t>
            </a:r>
            <a:endParaRPr sz="700" b="1" dirty="0">
              <a:solidFill>
                <a:srgbClr val="FF0000"/>
              </a:solidFill>
              <a:latin typeface="맑은 고딕"/>
              <a:ea typeface="맑은 고딕"/>
            </a:endParaRPr>
          </a:p>
        </p:txBody>
      </p:sp>
      <p:sp>
        <p:nvSpPr>
          <p:cNvPr id="26" name="직사각형 25">
            <a:extLst>
              <a:ext uri="{FF2B5EF4-FFF2-40B4-BE49-F238E27FC236}">
                <a16:creationId xmlns:a16="http://schemas.microsoft.com/office/drawing/2014/main" id="{53073318-2DFB-451A-8884-FB70C6584CE5}"/>
              </a:ext>
            </a:extLst>
          </p:cNvPr>
          <p:cNvSpPr/>
          <p:nvPr/>
        </p:nvSpPr>
        <p:spPr>
          <a:xfrm>
            <a:off x="8624796" y="2923422"/>
            <a:ext cx="813515" cy="347937"/>
          </a:xfrm>
          <a:prstGeom prst="rect">
            <a:avLst/>
          </a:prstGeom>
          <a:noFill/>
          <a:ln w="9525">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6" name="Rectangle 9177">
            <a:extLst>
              <a:ext uri="{FF2B5EF4-FFF2-40B4-BE49-F238E27FC236}">
                <a16:creationId xmlns:a16="http://schemas.microsoft.com/office/drawing/2014/main" id="{CAD6D331-3B5E-46CC-B975-8EF2565F2533}"/>
              </a:ext>
            </a:extLst>
          </p:cNvPr>
          <p:cNvSpPr/>
          <p:nvPr/>
        </p:nvSpPr>
        <p:spPr>
          <a:xfrm>
            <a:off x="10105188" y="2974483"/>
            <a:ext cx="143835" cy="256032"/>
          </a:xfrm>
          <a:prstGeom prst="rect">
            <a:avLst/>
          </a:prstGeom>
          <a:solidFill>
            <a:schemeClr val="accent1">
              <a:lumMod val="40000"/>
              <a:lumOff val="60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37" name="Rectangle 9178">
            <a:extLst>
              <a:ext uri="{FF2B5EF4-FFF2-40B4-BE49-F238E27FC236}">
                <a16:creationId xmlns:a16="http://schemas.microsoft.com/office/drawing/2014/main" id="{B5A63E4F-33CC-4063-823D-F7C2DCFCE759}"/>
              </a:ext>
            </a:extLst>
          </p:cNvPr>
          <p:cNvSpPr/>
          <p:nvPr/>
        </p:nvSpPr>
        <p:spPr>
          <a:xfrm>
            <a:off x="10299524" y="2974483"/>
            <a:ext cx="143835" cy="256032"/>
          </a:xfrm>
          <a:prstGeom prst="rect">
            <a:avLst/>
          </a:prstGeom>
          <a:solidFill>
            <a:schemeClr val="accent1">
              <a:lumMod val="40000"/>
              <a:lumOff val="60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38" name="Rectangle 9179">
            <a:extLst>
              <a:ext uri="{FF2B5EF4-FFF2-40B4-BE49-F238E27FC236}">
                <a16:creationId xmlns:a16="http://schemas.microsoft.com/office/drawing/2014/main" id="{62407642-AAE9-4CA9-ABC4-351E19DA1E0A}"/>
              </a:ext>
            </a:extLst>
          </p:cNvPr>
          <p:cNvSpPr/>
          <p:nvPr/>
        </p:nvSpPr>
        <p:spPr>
          <a:xfrm>
            <a:off x="10488973" y="2974483"/>
            <a:ext cx="143835" cy="256032"/>
          </a:xfrm>
          <a:prstGeom prst="rect">
            <a:avLst/>
          </a:prstGeom>
          <a:solidFill>
            <a:schemeClr val="accent1">
              <a:lumMod val="40000"/>
              <a:lumOff val="60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39" name="Rectangle 9154">
            <a:extLst>
              <a:ext uri="{FF2B5EF4-FFF2-40B4-BE49-F238E27FC236}">
                <a16:creationId xmlns:a16="http://schemas.microsoft.com/office/drawing/2014/main" id="{C329E551-EA8D-4D77-8282-4AF9B976F3F0}"/>
              </a:ext>
            </a:extLst>
          </p:cNvPr>
          <p:cNvSpPr/>
          <p:nvPr/>
        </p:nvSpPr>
        <p:spPr>
          <a:xfrm>
            <a:off x="9905016" y="2975352"/>
            <a:ext cx="143835" cy="256032"/>
          </a:xfrm>
          <a:prstGeom prst="rect">
            <a:avLst/>
          </a:prstGeom>
          <a:solidFill>
            <a:schemeClr val="accent1">
              <a:lumMod val="40000"/>
              <a:lumOff val="60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cxnSp>
        <p:nvCxnSpPr>
          <p:cNvPr id="341" name="직선 연결선 340">
            <a:extLst>
              <a:ext uri="{FF2B5EF4-FFF2-40B4-BE49-F238E27FC236}">
                <a16:creationId xmlns:a16="http://schemas.microsoft.com/office/drawing/2014/main" id="{EBB894EE-066D-46A5-AEA0-CB25FCF4E13B}"/>
              </a:ext>
            </a:extLst>
          </p:cNvPr>
          <p:cNvCxnSpPr/>
          <p:nvPr/>
        </p:nvCxnSpPr>
        <p:spPr>
          <a:xfrm>
            <a:off x="9910258"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2" name="직선 연결선 341">
            <a:extLst>
              <a:ext uri="{FF2B5EF4-FFF2-40B4-BE49-F238E27FC236}">
                <a16:creationId xmlns:a16="http://schemas.microsoft.com/office/drawing/2014/main" id="{E02A0A7F-88E1-4174-B29F-D5BEC426677A}"/>
              </a:ext>
            </a:extLst>
          </p:cNvPr>
          <p:cNvCxnSpPr/>
          <p:nvPr/>
        </p:nvCxnSpPr>
        <p:spPr>
          <a:xfrm>
            <a:off x="9968601"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3" name="직선 연결선 342">
            <a:extLst>
              <a:ext uri="{FF2B5EF4-FFF2-40B4-BE49-F238E27FC236}">
                <a16:creationId xmlns:a16="http://schemas.microsoft.com/office/drawing/2014/main" id="{3E323FE3-6421-4890-AD76-87B12F540527}"/>
              </a:ext>
            </a:extLst>
          </p:cNvPr>
          <p:cNvCxnSpPr/>
          <p:nvPr/>
        </p:nvCxnSpPr>
        <p:spPr>
          <a:xfrm>
            <a:off x="10013709"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4" name="직선 연결선 343">
            <a:extLst>
              <a:ext uri="{FF2B5EF4-FFF2-40B4-BE49-F238E27FC236}">
                <a16:creationId xmlns:a16="http://schemas.microsoft.com/office/drawing/2014/main" id="{AC85BA88-C225-4D78-83F3-3A63FB5CC9F1}"/>
              </a:ext>
            </a:extLst>
          </p:cNvPr>
          <p:cNvCxnSpPr/>
          <p:nvPr/>
        </p:nvCxnSpPr>
        <p:spPr>
          <a:xfrm>
            <a:off x="10147569"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5" name="직선 연결선 344">
            <a:extLst>
              <a:ext uri="{FF2B5EF4-FFF2-40B4-BE49-F238E27FC236}">
                <a16:creationId xmlns:a16="http://schemas.microsoft.com/office/drawing/2014/main" id="{5C44438B-82AA-4754-BCA3-C1EC65AEE7EA}"/>
              </a:ext>
            </a:extLst>
          </p:cNvPr>
          <p:cNvCxnSpPr/>
          <p:nvPr/>
        </p:nvCxnSpPr>
        <p:spPr>
          <a:xfrm>
            <a:off x="10202791"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6" name="직선 연결선 345">
            <a:extLst>
              <a:ext uri="{FF2B5EF4-FFF2-40B4-BE49-F238E27FC236}">
                <a16:creationId xmlns:a16="http://schemas.microsoft.com/office/drawing/2014/main" id="{8CF09BA5-E86A-4E51-9F3E-AC2A7CA0BC35}"/>
              </a:ext>
            </a:extLst>
          </p:cNvPr>
          <p:cNvCxnSpPr/>
          <p:nvPr/>
        </p:nvCxnSpPr>
        <p:spPr>
          <a:xfrm>
            <a:off x="10247096"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7" name="직선 연결선 346">
            <a:extLst>
              <a:ext uri="{FF2B5EF4-FFF2-40B4-BE49-F238E27FC236}">
                <a16:creationId xmlns:a16="http://schemas.microsoft.com/office/drawing/2014/main" id="{2A82B7AA-D08B-4230-9932-1F3722F7B951}"/>
              </a:ext>
            </a:extLst>
          </p:cNvPr>
          <p:cNvCxnSpPr/>
          <p:nvPr/>
        </p:nvCxnSpPr>
        <p:spPr>
          <a:xfrm>
            <a:off x="10356769" y="2975352"/>
            <a:ext cx="0" cy="256032"/>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 name="그룹 9"/>
          <p:cNvGrpSpPr/>
          <p:nvPr/>
        </p:nvGrpSpPr>
        <p:grpSpPr>
          <a:xfrm>
            <a:off x="11014858" y="2982339"/>
            <a:ext cx="545707" cy="225362"/>
            <a:chOff x="11014858" y="2982339"/>
            <a:chExt cx="545707" cy="225362"/>
          </a:xfrm>
        </p:grpSpPr>
        <p:cxnSp>
          <p:nvCxnSpPr>
            <p:cNvPr id="5" name="직선 연결선 4"/>
            <p:cNvCxnSpPr/>
            <p:nvPr/>
          </p:nvCxnSpPr>
          <p:spPr>
            <a:xfrm>
              <a:off x="11014858" y="3037063"/>
              <a:ext cx="233387" cy="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236" name="TextBox 235">
              <a:extLst>
                <a:ext uri="{FF2B5EF4-FFF2-40B4-BE49-F238E27FC236}">
                  <a16:creationId xmlns:a16="http://schemas.microsoft.com/office/drawing/2014/main" id="{2F666957-1F81-462F-B0DE-40E133AAB838}"/>
                </a:ext>
              </a:extLst>
            </p:cNvPr>
            <p:cNvSpPr txBox="1"/>
            <p:nvPr/>
          </p:nvSpPr>
          <p:spPr>
            <a:xfrm>
              <a:off x="11282955" y="2982339"/>
              <a:ext cx="277610" cy="107722"/>
            </a:xfrm>
            <a:prstGeom prst="rect">
              <a:avLst/>
            </a:prstGeom>
            <a:noFill/>
          </p:spPr>
          <p:txBody>
            <a:bodyPr wrap="square" lIns="0" tIns="0" rIns="0" bIns="0" anchor="t">
              <a:spAutoFit/>
            </a:bodyPr>
            <a:lstStyle/>
            <a:p>
              <a:pPr algn="ctr"/>
              <a:r>
                <a:rPr lang="ko-KR" altLang="en-US" sz="700" b="1" dirty="0" smtClean="0">
                  <a:solidFill>
                    <a:srgbClr val="404040"/>
                  </a:solidFill>
                  <a:latin typeface="맑은 고딕"/>
                  <a:ea typeface="맑은 고딕"/>
                </a:rPr>
                <a:t>재계산</a:t>
              </a:r>
              <a:endParaRPr sz="700" b="1" dirty="0">
                <a:solidFill>
                  <a:srgbClr val="404040"/>
                </a:solidFill>
                <a:latin typeface="맑은 고딕"/>
                <a:ea typeface="맑은 고딕"/>
              </a:endParaRPr>
            </a:p>
          </p:txBody>
        </p:sp>
        <p:sp>
          <p:nvSpPr>
            <p:cNvPr id="242" name="TextBox 241">
              <a:extLst>
                <a:ext uri="{FF2B5EF4-FFF2-40B4-BE49-F238E27FC236}">
                  <a16:creationId xmlns:a16="http://schemas.microsoft.com/office/drawing/2014/main" id="{2F666957-1F81-462F-B0DE-40E133AAB838}"/>
                </a:ext>
              </a:extLst>
            </p:cNvPr>
            <p:cNvSpPr txBox="1"/>
            <p:nvPr/>
          </p:nvSpPr>
          <p:spPr>
            <a:xfrm>
              <a:off x="11282955" y="3099979"/>
              <a:ext cx="277610" cy="107722"/>
            </a:xfrm>
            <a:prstGeom prst="rect">
              <a:avLst/>
            </a:prstGeom>
            <a:noFill/>
          </p:spPr>
          <p:txBody>
            <a:bodyPr wrap="square" lIns="0" tIns="0" rIns="0" bIns="0" anchor="t">
              <a:spAutoFit/>
            </a:bodyPr>
            <a:lstStyle/>
            <a:p>
              <a:pPr algn="ctr"/>
              <a:r>
                <a:rPr lang="ko-KR" altLang="en-US" sz="700" b="1" dirty="0" smtClean="0">
                  <a:solidFill>
                    <a:srgbClr val="404040"/>
                  </a:solidFill>
                  <a:latin typeface="맑은 고딕"/>
                  <a:ea typeface="맑은 고딕"/>
                </a:rPr>
                <a:t>재사용</a:t>
              </a:r>
              <a:endParaRPr sz="700" b="1" dirty="0">
                <a:solidFill>
                  <a:srgbClr val="404040"/>
                </a:solidFill>
                <a:latin typeface="맑은 고딕"/>
                <a:ea typeface="맑은 고딕"/>
              </a:endParaRPr>
            </a:p>
          </p:txBody>
        </p:sp>
        <p:sp>
          <p:nvSpPr>
            <p:cNvPr id="8" name="직사각형 7"/>
            <p:cNvSpPr/>
            <p:nvPr/>
          </p:nvSpPr>
          <p:spPr>
            <a:xfrm>
              <a:off x="11014858" y="3121058"/>
              <a:ext cx="233387" cy="63658"/>
            </a:xfrm>
            <a:prstGeom prst="rect">
              <a:avLst/>
            </a:prstGeom>
            <a:solidFill>
              <a:schemeClr val="accent1">
                <a:lumMod val="40000"/>
                <a:lumOff val="60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000">
                <a:solidFill>
                  <a:schemeClr val="tx1"/>
                </a:solidFill>
              </a:endParaRPr>
            </a:p>
          </p:txBody>
        </p:sp>
      </p:grpSp>
    </p:spTree>
    <p:extLst>
      <p:ext uri="{BB962C8B-B14F-4D97-AF65-F5344CB8AC3E}">
        <p14:creationId xmlns:p14="http://schemas.microsoft.com/office/powerpoint/2010/main" val="404160415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1808688387"/>
              </p:ext>
            </p:extLst>
          </p:nvPr>
        </p:nvGraphicFramePr>
        <p:xfrm>
          <a:off x="234949" y="1032440"/>
          <a:ext cx="11759184" cy="5536000"/>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049652">
                  <a:extLst>
                    <a:ext uri="{9D8B030D-6E8A-4147-A177-3AD203B41FA5}">
                      <a16:colId xmlns:a16="http://schemas.microsoft.com/office/drawing/2014/main" val="5654497"/>
                    </a:ext>
                  </a:extLst>
                </a:gridCol>
                <a:gridCol w="2391028">
                  <a:extLst>
                    <a:ext uri="{9D8B030D-6E8A-4147-A177-3AD203B41FA5}">
                      <a16:colId xmlns:a16="http://schemas.microsoft.com/office/drawing/2014/main" val="4114062400"/>
                    </a:ext>
                  </a:extLst>
                </a:gridCol>
                <a:gridCol w="3038222">
                  <a:extLst>
                    <a:ext uri="{9D8B030D-6E8A-4147-A177-3AD203B41FA5}">
                      <a16:colId xmlns:a16="http://schemas.microsoft.com/office/drawing/2014/main" val="3070054508"/>
                    </a:ext>
                  </a:extLst>
                </a:gridCol>
                <a:gridCol w="2402458">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a:t>구조</a:t>
                      </a:r>
                      <a:r>
                        <a:rPr lang="en-US" altLang="ko-KR" sz="1200" b="1" baseline="0" dirty="0"/>
                        <a:t>: </a:t>
                      </a:r>
                      <a:r>
                        <a:rPr lang="ko-KR" altLang="en-US" sz="1200" b="1" baseline="0" dirty="0" err="1">
                          <a:solidFill>
                            <a:srgbClr val="7030A0"/>
                          </a:solidFill>
                        </a:rPr>
                        <a:t>요청마다</a:t>
                      </a:r>
                      <a:r>
                        <a:rPr lang="ko-KR" altLang="en-US" sz="1200" b="1" baseline="0" dirty="0">
                          <a:solidFill>
                            <a:srgbClr val="7030A0"/>
                          </a:solidFill>
                        </a:rPr>
                        <a:t> 전체 체인 실행</a:t>
                      </a:r>
                      <a:endParaRPr lang="en-US" altLang="ko-KR" sz="1050" b="1" kern="1200" baseline="0" dirty="0">
                        <a:solidFill>
                          <a:srgbClr val="7030A0"/>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a:t>
                      </a:r>
                      <a:r>
                        <a:rPr lang="en-US" altLang="ko-KR" sz="1200" b="1" baseline="0" dirty="0"/>
                        <a:t> </a:t>
                      </a:r>
                      <a:r>
                        <a:rPr lang="ko-KR" altLang="en-US" sz="1200" b="1" baseline="0" dirty="0">
                          <a:solidFill>
                            <a:schemeClr val="accent2"/>
                          </a:solidFill>
                        </a:rPr>
                        <a:t>분석 </a:t>
                      </a:r>
                      <a:r>
                        <a:rPr lang="en-US" altLang="ko-KR" sz="1200" b="1" baseline="0" dirty="0">
                          <a:solidFill>
                            <a:schemeClr val="accent2"/>
                          </a:solidFill>
                        </a:rPr>
                        <a:t>1</a:t>
                      </a:r>
                      <a:r>
                        <a:rPr lang="ko-KR" altLang="en-US" sz="1200" b="1" baseline="0" dirty="0">
                          <a:solidFill>
                            <a:schemeClr val="accent2"/>
                          </a:solidFill>
                        </a:rPr>
                        <a:t>회 </a:t>
                      </a:r>
                      <a:r>
                        <a:rPr lang="en-US" altLang="ko-KR" sz="1200" b="1" baseline="0" dirty="0">
                          <a:solidFill>
                            <a:schemeClr val="accent2"/>
                          </a:solidFill>
                        </a:rPr>
                        <a:t>+ </a:t>
                      </a:r>
                      <a:r>
                        <a:rPr lang="ko-KR" altLang="en-US" sz="1200" b="1" baseline="0" dirty="0" err="1">
                          <a:solidFill>
                            <a:schemeClr val="accent2"/>
                          </a:solidFill>
                        </a:rPr>
                        <a:t>요청마다</a:t>
                      </a:r>
                      <a:r>
                        <a:rPr lang="ko-KR" altLang="en-US" sz="1200" b="1" baseline="0" dirty="0">
                          <a:solidFill>
                            <a:schemeClr val="accent2"/>
                          </a:solidFill>
                        </a:rPr>
                        <a:t> 조회 </a:t>
                      </a:r>
                      <a:endParaRPr lang="ko-KR" altLang="en-US" sz="1200" b="1" dirty="0">
                        <a:solidFill>
                          <a:schemeClr val="accent2"/>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573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실제</a:t>
                      </a:r>
                      <a:r>
                        <a:rPr lang="en-US" altLang="ko-KR" sz="1200" strike="noStrike" baseline="0" dirty="0" smtClean="0">
                          <a:effectLst/>
                        </a:rPr>
                        <a:t> </a:t>
                      </a:r>
                      <a:r>
                        <a:rPr lang="en-US" altLang="ko-KR" sz="1200" strike="noStrike" baseline="0" dirty="0">
                          <a:effectLst/>
                        </a:rPr>
                        <a:t>Query</a:t>
                      </a:r>
                      <a:r>
                        <a:rPr lang="ko-KR" altLang="en-US" sz="1200" strike="noStrike" baseline="0" dirty="0">
                          <a:effectLst/>
                        </a:rPr>
                        <a:t>를 반영해 재계산 토큰을 선정하므로 정확도 확보 유리 </a:t>
                      </a:r>
                      <a:r>
                        <a:rPr lang="en-US" altLang="ko-KR" sz="1200" strike="noStrike" baseline="0" dirty="0">
                          <a:effectLst/>
                        </a:rPr>
                        <a:t>(Q5</a:t>
                      </a:r>
                      <a:r>
                        <a:rPr lang="en-US" altLang="ko-KR" sz="1200" strike="noStrike" baseline="0" dirty="0" smtClean="0">
                          <a:effectLst/>
                        </a:rPr>
                        <a: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선정 정책 변경 시 해당 필터 </a:t>
                      </a:r>
                      <a:r>
                        <a:rPr lang="en-US" altLang="ko-KR" sz="1200" strike="noStrike" baseline="0" dirty="0" smtClean="0">
                          <a:effectLst/>
                        </a:rPr>
                        <a:t>1</a:t>
                      </a:r>
                      <a:r>
                        <a:rPr lang="ko-KR" altLang="en-US" sz="1200" strike="noStrike" baseline="0" dirty="0" smtClean="0">
                          <a:effectLst/>
                        </a:rPr>
                        <a:t>개만 교체</a:t>
                      </a:r>
                      <a:r>
                        <a:rPr lang="en-US" altLang="ko-KR" sz="1200" strike="noStrike" baseline="0" dirty="0" smtClean="0">
                          <a:effectLst/>
                        </a:rPr>
                        <a:t>, </a:t>
                      </a:r>
                      <a:r>
                        <a:rPr lang="ko-KR" altLang="en-US" sz="1200" strike="noStrike" baseline="0" dirty="0" smtClean="0">
                          <a:effectLst/>
                        </a:rPr>
                        <a:t>사전 저장 데이터가 없어 재생성 불필요 </a:t>
                      </a:r>
                      <a:r>
                        <a:rPr lang="en-US" altLang="ko-KR" sz="1200" strike="noStrike" baseline="0" dirty="0" smtClean="0">
                          <a:effectLst/>
                        </a:rPr>
                        <a:t>(Q4)</a:t>
                      </a:r>
                      <a:endParaRPr lang="en-US" altLang="ko-KR" sz="1200" strike="noStrike" baseline="0" dirty="0">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a:t>
                      </a:r>
                      <a:r>
                        <a:rPr lang="ko-KR" altLang="en-US" sz="1200" b="0" i="0" dirty="0" smtClean="0">
                          <a:solidFill>
                            <a:srgbClr val="404040"/>
                          </a:solidFill>
                          <a:latin typeface="+mn-lt"/>
                          <a:ea typeface="맑은 고딕"/>
                        </a:rPr>
                        <a:t>절감 </a:t>
                      </a:r>
                      <a:r>
                        <a:rPr lang="en-US" altLang="ko-KR" sz="1200" b="0" i="0" dirty="0" smtClean="0">
                          <a:solidFill>
                            <a:srgbClr val="404040"/>
                          </a:solidFill>
                          <a:latin typeface="+mn-lt"/>
                          <a:ea typeface="맑은 고딕"/>
                        </a:rPr>
                        <a:t>(</a:t>
                      </a:r>
                      <a:r>
                        <a:rPr lang="en-US" altLang="ko-KR" sz="1200" b="0" i="0" dirty="0">
                          <a:solidFill>
                            <a:srgbClr val="404040"/>
                          </a:solidFill>
                          <a:latin typeface="+mn-lt"/>
                          <a:ea typeface="맑은 고딕"/>
                        </a:rPr>
                        <a:t>Q1</a:t>
                      </a:r>
                      <a:r>
                        <a:rPr lang="en-US" altLang="ko-KR" sz="1200" b="0" i="0" dirty="0" smtClean="0">
                          <a:solidFill>
                            <a:srgbClr val="404040"/>
                          </a:solidFill>
                          <a:latin typeface="+mn-lt"/>
                          <a:ea typeface="맑은 고딕"/>
                        </a:rPr>
                        <a:t>)</a:t>
                      </a:r>
                      <a:endParaRPr lang="en-US" altLang="ko-KR" sz="120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a:t>
                      </a:r>
                      <a:r>
                        <a:rPr lang="ko-KR" altLang="en-US" sz="1200" strike="noStrike" baseline="0" dirty="0" smtClean="0">
                          <a:effectLst/>
                        </a:rPr>
                        <a:t>발생 </a:t>
                      </a:r>
                      <a:r>
                        <a:rPr lang="en-US" altLang="ko-KR" sz="1200" strike="noStrike" baseline="0" dirty="0" smtClean="0">
                          <a:effectLst/>
                        </a:rPr>
                        <a:t>(</a:t>
                      </a:r>
                      <a:r>
                        <a:rPr lang="en-US" altLang="ko-KR" sz="1200" strike="noStrike" baseline="0" dirty="0">
                          <a:effectLst/>
                        </a:rPr>
                        <a:t>Q1</a:t>
                      </a:r>
                      <a:r>
                        <a:rPr lang="en-US" altLang="ko-KR" sz="1200" strike="noStrike" baseline="0" dirty="0" smtClean="0">
                          <a:effectLst/>
                        </a:rPr>
                        <a:t>)</a:t>
                      </a:r>
                      <a:endParaRPr lang="en-US" altLang="ko-KR" sz="1200" strike="noStrike" baseline="0" dirty="0">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사전 </a:t>
                      </a:r>
                      <a:r>
                        <a:rPr lang="ko-KR" altLang="en-US" sz="1200" strike="noStrike" baseline="0" dirty="0">
                          <a:effectLst/>
                        </a:rPr>
                        <a:t>선정된 재계산 </a:t>
                      </a:r>
                      <a:r>
                        <a:rPr lang="ko-KR" altLang="en-US" sz="1200" strike="noStrike" baseline="0" dirty="0" smtClean="0">
                          <a:effectLst/>
                        </a:rPr>
                        <a:t>위치가 </a:t>
                      </a:r>
                      <a:r>
                        <a:rPr lang="en-US" altLang="ko-KR" sz="1200" strike="noStrike" baseline="0" dirty="0" smtClean="0">
                          <a:effectLst/>
                        </a:rPr>
                        <a:t>Query</a:t>
                      </a:r>
                      <a:r>
                        <a:rPr lang="ko-KR" altLang="en-US" sz="1200" strike="noStrike" baseline="0" dirty="0" smtClean="0">
                          <a:effectLst/>
                        </a:rPr>
                        <a:t>와 부합하지 않는 경우 </a:t>
                      </a:r>
                      <a:r>
                        <a:rPr lang="ko-KR" altLang="en-US" sz="1200" strike="noStrike" baseline="0" dirty="0">
                          <a:effectLst/>
                        </a:rPr>
                        <a:t>정확도 저하 </a:t>
                      </a:r>
                      <a:r>
                        <a:rPr lang="en-US" altLang="ko-KR" sz="1200" strike="noStrike" baseline="0" dirty="0">
                          <a:effectLst/>
                        </a:rPr>
                        <a:t>(Q5)</a:t>
                      </a:r>
                      <a:r>
                        <a:rPr lang="ko-KR" altLang="en-US" sz="1200" strike="noStrike" baseline="0" dirty="0">
                          <a:effectLst/>
                        </a:rPr>
                        <a:t> </a:t>
                      </a:r>
                      <a:endParaRPr lang="en-US" altLang="ko-KR" sz="1200" strike="noStrike" baseline="0" dirty="0" smtClean="0">
                        <a:effectLst/>
                      </a:endParaRPr>
                    </a:p>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선정 정책 변경 시 </a:t>
                      </a:r>
                      <a:r>
                        <a:rPr lang="en-US" altLang="ko-KR" sz="1200" strike="noStrike" baseline="0" dirty="0" smtClean="0">
                          <a:effectLst/>
                        </a:rPr>
                        <a:t>SR</a:t>
                      </a:r>
                      <a:r>
                        <a:rPr lang="ko-KR" altLang="en-US" sz="1200" strike="noStrike" baseline="0" dirty="0" smtClean="0">
                          <a:effectLst/>
                        </a:rPr>
                        <a:t> 스키마</a:t>
                      </a:r>
                      <a:r>
                        <a:rPr lang="en-US" altLang="ko-KR" sz="1200" strike="noStrike" baseline="0" dirty="0" smtClean="0">
                          <a:effectLst/>
                        </a:rPr>
                        <a:t>, Validator </a:t>
                      </a:r>
                      <a:r>
                        <a:rPr lang="ko-KR" altLang="en-US" sz="1200" strike="noStrike" baseline="0" dirty="0" smtClean="0">
                          <a:effectLst/>
                        </a:rPr>
                        <a:t>동반 수정 및 사전 분석 전량 재실행 필요 </a:t>
                      </a:r>
                      <a:r>
                        <a:rPr lang="en-US" altLang="ko-KR" sz="1200" strike="noStrike" baseline="0" dirty="0" smtClean="0">
                          <a:effectLst/>
                        </a:rPr>
                        <a:t>(Q4)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smtClean="0">
                          <a:solidFill>
                            <a:schemeClr val="tx1"/>
                          </a:solidFill>
                        </a:rPr>
                        <a:t>처리량</a:t>
                      </a:r>
                      <a:endParaRPr lang="en-US" altLang="ko-KR" sz="1200" b="0" strike="noStrike" dirty="0" smtClean="0">
                        <a:solidFill>
                          <a:schemeClr val="tx1"/>
                        </a:solidFill>
                      </a:endParaRPr>
                    </a:p>
                    <a:p>
                      <a:pPr marL="0" indent="0" latinLnBrk="1">
                        <a:lnSpc>
                          <a:spcPct val="100000"/>
                        </a:lnSpc>
                        <a:buFont typeface="Wingdings" panose="05000000000000000000" pitchFamily="2" charset="2"/>
                        <a:buNone/>
                      </a:pPr>
                      <a:r>
                        <a:rPr lang="en-US" altLang="ko-KR" sz="1200" b="0" strike="noStrike" dirty="0" smtClean="0">
                          <a:solidFill>
                            <a:schemeClr val="tx1"/>
                          </a:solidFill>
                        </a:rPr>
                        <a:t>Q4.</a:t>
                      </a:r>
                      <a:r>
                        <a:rPr lang="en-US" altLang="ko-KR" sz="1200" b="0" strike="noStrike" baseline="0" dirty="0" smtClean="0">
                          <a:solidFill>
                            <a:schemeClr val="tx1"/>
                          </a:solidFill>
                        </a:rPr>
                        <a:t> Modifiability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Q5</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1.76→4.22 q/s (2.4x)</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dirty="0" smtClean="0">
                          <a:ln>
                            <a:noFill/>
                          </a:ln>
                          <a:solidFill>
                            <a:srgbClr val="404040"/>
                          </a:solidFill>
                          <a:effectLst/>
                          <a:uLnTx/>
                          <a:uFillTx/>
                          <a:latin typeface="+mn-lt"/>
                          <a:ea typeface="맑은 고딕"/>
                          <a:cs typeface="+mn-cs"/>
                        </a:rPr>
                        <a:t>1.25 m</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a:t>
                      </a: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56.25→56.10 % (-0.27%)</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smtClean="0">
                          <a:solidFill>
                            <a:schemeClr val="tx1"/>
                          </a:solidFill>
                        </a:rPr>
                        <a:t>처리량</a:t>
                      </a:r>
                      <a:endParaRPr lang="en-US" altLang="ko-KR" sz="1200" b="0" strike="noStrike" dirty="0" smtClean="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Q4. Modifiability </a:t>
                      </a:r>
                      <a:endParaRPr lang="en-US" altLang="ko-KR" sz="1000" b="0" strike="noStrike" dirty="0" smtClean="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Q5</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1.76→7.39 q/s (4.2x)</a:t>
                      </a:r>
                      <a:endParaRPr kumimoji="0" lang="en-US" altLang="ko-KR" sz="900" b="0" i="0" u="none" strike="noStrike" kern="1200" cap="none" spc="0" normalizeH="0" baseline="0" noProof="0" dirty="0" smtClean="0">
                        <a:ln>
                          <a:noFill/>
                        </a:ln>
                        <a:solidFill>
                          <a:prstClr val="white">
                            <a:lumMod val="50000"/>
                          </a:prstClr>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3.75 m</a:t>
                      </a:r>
                      <a:endParaRPr lang="en-US" altLang="ko-KR" sz="1100" b="0" dirty="0" smtClean="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a:t>
                      </a:r>
                      <a:r>
                        <a:rPr lang="en-US" altLang="ko-KR" sz="1200" b="0" dirty="0" smtClean="0">
                          <a:solidFill>
                            <a:schemeClr val="accent5"/>
                          </a:solidFill>
                          <a:latin typeface="맑은 고딕" panose="020B0503020000020004" pitchFamily="50" charset="-127"/>
                          <a:ea typeface="+mn-ea"/>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56.25→55.86 % (-0.7%)</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ko-KR" altLang="en-US" sz="1400" b="1" dirty="0" smtClean="0">
                <a:solidFill>
                  <a:schemeClr val="bg1"/>
                </a:solidFill>
              </a:rPr>
              <a:t>처리량</a:t>
            </a:r>
            <a:r>
              <a:rPr lang="en-US" altLang="ko-KR" sz="1400" b="1" dirty="0" smtClean="0">
                <a:solidFill>
                  <a:schemeClr val="bg1"/>
                </a:solidFill>
              </a:rPr>
              <a:t>, </a:t>
            </a:r>
            <a:r>
              <a:rPr lang="ko-KR" altLang="en-US" sz="1400" b="1" dirty="0" err="1" smtClean="0">
                <a:solidFill>
                  <a:schemeClr val="bg1"/>
                </a:solidFill>
              </a:rPr>
              <a:t>변경용이성</a:t>
            </a:r>
            <a:r>
              <a:rPr lang="en-US" altLang="ko-KR" sz="1400" b="1" dirty="0" smtClean="0">
                <a:solidFill>
                  <a:schemeClr val="bg1"/>
                </a:solidFill>
              </a:rPr>
              <a:t>, </a:t>
            </a:r>
            <a:r>
              <a:rPr lang="ko-KR" altLang="en-US" sz="1400" b="1" dirty="0" smtClean="0">
                <a:solidFill>
                  <a:schemeClr val="bg1"/>
                </a:solidFill>
              </a:rPr>
              <a:t>정확도를 고려하여 </a:t>
            </a:r>
            <a:r>
              <a:rPr lang="en-US" altLang="ko-KR" sz="1400" b="1" dirty="0">
                <a:solidFill>
                  <a:schemeClr val="bg1"/>
                </a:solidFill>
              </a:rPr>
              <a:t>KV </a:t>
            </a:r>
            <a:r>
              <a:rPr lang="ko-KR" altLang="en-US" sz="1400" b="1" dirty="0" err="1">
                <a:solidFill>
                  <a:schemeClr val="bg1"/>
                </a:solidFill>
              </a:rPr>
              <a:t>재사용률을</a:t>
            </a:r>
            <a:r>
              <a:rPr lang="ko-KR" altLang="en-US" sz="1400" b="1" dirty="0">
                <a:solidFill>
                  <a:schemeClr val="bg1"/>
                </a:solidFill>
              </a:rPr>
              <a:t> 높이는 구조 설계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a:t>
            </a:r>
            <a:r>
              <a:rPr lang="ko-KR" altLang="en-US" sz="1100" dirty="0" err="1"/>
              <a:t>요청마다</a:t>
            </a:r>
            <a:r>
              <a:rPr lang="ko-KR" altLang="en-US" sz="1100" dirty="0"/>
              <a:t> 입력되는 </a:t>
            </a:r>
            <a:r>
              <a:rPr lang="en-US" altLang="ko-KR" sz="1100" dirty="0"/>
              <a:t>Query</a:t>
            </a:r>
            <a:r>
              <a:rPr lang="ko-KR" altLang="en-US" sz="1100" dirty="0"/>
              <a:t>에 맞게 재사용</a:t>
            </a:r>
            <a:r>
              <a:rPr lang="en-US" altLang="ko-KR" sz="1100" dirty="0"/>
              <a:t>/</a:t>
            </a:r>
            <a:r>
              <a:rPr lang="ko-KR" altLang="en-US" sz="1100" dirty="0"/>
              <a:t>재계산 토큰 위치를 선정하는 구조</a:t>
            </a:r>
            <a:r>
              <a:rPr lang="en-US" altLang="ko-KR" sz="1100" dirty="0"/>
              <a:t>＂</a:t>
            </a:r>
          </a:p>
        </p:txBody>
      </p:sp>
      <p:sp>
        <p:nvSpPr>
          <p:cNvPr id="138" name="TextBox 137"/>
          <p:cNvSpPr txBox="1"/>
          <p:nvPr/>
        </p:nvSpPr>
        <p:spPr>
          <a:xfrm>
            <a:off x="6534149" y="1416420"/>
            <a:ext cx="5143327" cy="261610"/>
          </a:xfrm>
          <a:prstGeom prst="rect">
            <a:avLst/>
          </a:prstGeom>
          <a:noFill/>
        </p:spPr>
        <p:txBody>
          <a:bodyPr wrap="square" rtlCol="0">
            <a:spAutoFit/>
          </a:bodyPr>
          <a:lstStyle/>
          <a:p>
            <a:r>
              <a:rPr lang="en-US" altLang="ko-KR" sz="1100" dirty="0"/>
              <a:t>“</a:t>
            </a:r>
            <a:r>
              <a:rPr lang="ko-KR" altLang="en-US" sz="1100" dirty="0"/>
              <a:t>사전에 재사용</a:t>
            </a:r>
            <a:r>
              <a:rPr lang="en-US" altLang="ko-KR" sz="1100" dirty="0"/>
              <a:t>/</a:t>
            </a:r>
            <a:r>
              <a:rPr lang="ko-KR" altLang="en-US" sz="1100" dirty="0"/>
              <a:t>재계산 토큰 위치를 선정하고</a:t>
            </a:r>
            <a:r>
              <a:rPr lang="en-US" altLang="ko-KR" sz="1100" dirty="0"/>
              <a:t>, </a:t>
            </a:r>
            <a:r>
              <a:rPr lang="ko-KR" altLang="en-US" sz="1100" dirty="0"/>
              <a:t>요청은 이를 활용</a:t>
            </a:r>
            <a:r>
              <a:rPr lang="en-US" altLang="ko-KR" sz="1100" dirty="0"/>
              <a:t>＂</a:t>
            </a:r>
          </a:p>
        </p:txBody>
      </p:sp>
      <p:sp>
        <p:nvSpPr>
          <p:cNvPr id="103" name="TextBox 102"/>
          <p:cNvSpPr txBox="1"/>
          <p:nvPr/>
        </p:nvSpPr>
        <p:spPr>
          <a:xfrm>
            <a:off x="1192849" y="2077239"/>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104" name="Rectangle 19"/>
          <p:cNvSpPr/>
          <p:nvPr/>
        </p:nvSpPr>
        <p:spPr>
          <a:xfrm>
            <a:off x="1611630" y="2004178"/>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cxnSp>
        <p:nvCxnSpPr>
          <p:cNvPr id="105" name="Connector 20"/>
          <p:cNvCxnSpPr/>
          <p:nvPr/>
        </p:nvCxnSpPr>
        <p:spPr>
          <a:xfrm>
            <a:off x="2271947"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06" name="Rectangle 21"/>
          <p:cNvSpPr/>
          <p:nvPr/>
        </p:nvSpPr>
        <p:spPr>
          <a:xfrm>
            <a:off x="2445714" y="2004178"/>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cxnSp>
        <p:nvCxnSpPr>
          <p:cNvPr id="107" name="Connector 22"/>
          <p:cNvCxnSpPr/>
          <p:nvPr/>
        </p:nvCxnSpPr>
        <p:spPr>
          <a:xfrm>
            <a:off x="3106033"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3" name="Rectangle 23"/>
          <p:cNvSpPr/>
          <p:nvPr/>
        </p:nvSpPr>
        <p:spPr>
          <a:xfrm>
            <a:off x="3279801" y="2004178"/>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smtClean="0">
                <a:solidFill>
                  <a:srgbClr val="000000"/>
                </a:solidFill>
                <a:latin typeface="맑은 고딕"/>
                <a:ea typeface="맑은 고딕"/>
                <a:cs typeface="맑은 고딕"/>
              </a:rPr>
              <a:t>재계산 </a:t>
            </a:r>
            <a:r>
              <a:rPr lang="ko-KR" altLang="en-US" sz="800" b="1" dirty="0">
                <a:solidFill>
                  <a:srgbClr val="000000"/>
                </a:solidFill>
                <a:latin typeface="맑은 고딕"/>
                <a:ea typeface="맑은 고딕"/>
                <a:cs typeface="맑은 고딕"/>
              </a:rPr>
              <a:t>토큰 선정</a:t>
            </a:r>
            <a:endParaRPr sz="800" b="1" dirty="0">
              <a:solidFill>
                <a:srgbClr val="000000"/>
              </a:solidFill>
              <a:latin typeface="맑은 고딕"/>
              <a:ea typeface="맑은 고딕"/>
              <a:cs typeface="맑은 고딕"/>
            </a:endParaRPr>
          </a:p>
        </p:txBody>
      </p:sp>
      <p:cxnSp>
        <p:nvCxnSpPr>
          <p:cNvPr id="115" name="Connector 24"/>
          <p:cNvCxnSpPr/>
          <p:nvPr/>
        </p:nvCxnSpPr>
        <p:spPr>
          <a:xfrm>
            <a:off x="3940118"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7" name="Rectangle 25"/>
          <p:cNvSpPr/>
          <p:nvPr/>
        </p:nvSpPr>
        <p:spPr>
          <a:xfrm>
            <a:off x="4113885" y="2004177"/>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선택적 </a:t>
            </a:r>
            <a:endParaRPr lang="en-US" altLang="ko-KR" sz="800" b="1" dirty="0">
              <a:solidFill>
                <a:srgbClr val="000000"/>
              </a:solidFill>
              <a:latin typeface="맑은 고딕"/>
              <a:ea typeface="맑은 고딕"/>
              <a:cs typeface="맑은 고딕"/>
            </a:endParaRPr>
          </a:p>
          <a:p>
            <a:pPr algn="ctr">
              <a:spcAft>
                <a:spcPts val="200"/>
              </a:spcAft>
            </a:pPr>
            <a:r>
              <a:rPr lang="ko-KR" altLang="en-US" sz="800" b="1" dirty="0">
                <a:solidFill>
                  <a:srgbClr val="000000"/>
                </a:solidFill>
                <a:latin typeface="맑은 고딕"/>
                <a:ea typeface="맑은 고딕"/>
                <a:cs typeface="맑은 고딕"/>
              </a:rPr>
              <a:t>재계산</a:t>
            </a:r>
            <a:endParaRPr sz="800" b="1" dirty="0">
              <a:solidFill>
                <a:srgbClr val="000000"/>
              </a:solidFill>
              <a:latin typeface="맑은 고딕"/>
              <a:ea typeface="맑은 고딕"/>
              <a:cs typeface="맑은 고딕"/>
            </a:endParaRPr>
          </a:p>
        </p:txBody>
      </p:sp>
      <p:sp>
        <p:nvSpPr>
          <p:cNvPr id="118" name="TextBox 117"/>
          <p:cNvSpPr txBox="1"/>
          <p:nvPr/>
        </p:nvSpPr>
        <p:spPr>
          <a:xfrm>
            <a:off x="1192849" y="2567182"/>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120" name="Rectangle 27"/>
          <p:cNvSpPr/>
          <p:nvPr/>
        </p:nvSpPr>
        <p:spPr>
          <a:xfrm>
            <a:off x="2444860" y="2494121"/>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32" name="Connector 28"/>
          <p:cNvCxnSpPr/>
          <p:nvPr/>
        </p:nvCxnSpPr>
        <p:spPr>
          <a:xfrm>
            <a:off x="3105177"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29"/>
          <p:cNvSpPr/>
          <p:nvPr/>
        </p:nvSpPr>
        <p:spPr>
          <a:xfrm>
            <a:off x="3278944" y="2494121"/>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36" name="Connector 30"/>
          <p:cNvCxnSpPr/>
          <p:nvPr/>
        </p:nvCxnSpPr>
        <p:spPr>
          <a:xfrm>
            <a:off x="3939263"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4" name="Rectangle 31"/>
          <p:cNvSpPr/>
          <p:nvPr/>
        </p:nvSpPr>
        <p:spPr>
          <a:xfrm>
            <a:off x="4113031" y="2494121"/>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재계산 토큰 선정</a:t>
            </a:r>
            <a:endParaRPr lang="ko-KR" altLang="en-US" sz="800" b="1" dirty="0">
              <a:solidFill>
                <a:srgbClr val="000000"/>
              </a:solidFill>
              <a:ea typeface="맑은 고딕"/>
              <a:cs typeface="맑은 고딕"/>
            </a:endParaRPr>
          </a:p>
        </p:txBody>
      </p:sp>
      <p:cxnSp>
        <p:nvCxnSpPr>
          <p:cNvPr id="145" name="Connector 32"/>
          <p:cNvCxnSpPr/>
          <p:nvPr/>
        </p:nvCxnSpPr>
        <p:spPr>
          <a:xfrm>
            <a:off x="4773348"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7" name="Rectangle 33"/>
          <p:cNvSpPr/>
          <p:nvPr/>
        </p:nvSpPr>
        <p:spPr>
          <a:xfrm>
            <a:off x="4947115" y="2494121"/>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48" name="TextBox 147"/>
          <p:cNvSpPr txBox="1"/>
          <p:nvPr/>
        </p:nvSpPr>
        <p:spPr>
          <a:xfrm>
            <a:off x="1192849" y="3057126"/>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50" name="Rectangle 35"/>
          <p:cNvSpPr/>
          <p:nvPr/>
        </p:nvSpPr>
        <p:spPr>
          <a:xfrm>
            <a:off x="3272288" y="2984064"/>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53" name="Connector 36"/>
          <p:cNvCxnSpPr/>
          <p:nvPr/>
        </p:nvCxnSpPr>
        <p:spPr>
          <a:xfrm>
            <a:off x="3932605"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4" name="Rectangle 37"/>
          <p:cNvSpPr/>
          <p:nvPr/>
        </p:nvSpPr>
        <p:spPr>
          <a:xfrm>
            <a:off x="4106372" y="2984064"/>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55" name="Connector 38"/>
          <p:cNvCxnSpPr/>
          <p:nvPr/>
        </p:nvCxnSpPr>
        <p:spPr>
          <a:xfrm>
            <a:off x="4766691"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7" name="Rectangle 39"/>
          <p:cNvSpPr/>
          <p:nvPr/>
        </p:nvSpPr>
        <p:spPr>
          <a:xfrm>
            <a:off x="4940459" y="2984064"/>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재계산 토큰 선정</a:t>
            </a:r>
            <a:endParaRPr lang="ko-KR" altLang="en-US" sz="800" b="1" dirty="0">
              <a:solidFill>
                <a:srgbClr val="000000"/>
              </a:solidFill>
              <a:ea typeface="맑은 고딕"/>
              <a:cs typeface="맑은 고딕"/>
            </a:endParaRPr>
          </a:p>
        </p:txBody>
      </p:sp>
      <p:cxnSp>
        <p:nvCxnSpPr>
          <p:cNvPr id="158" name="Connector 40"/>
          <p:cNvCxnSpPr/>
          <p:nvPr/>
        </p:nvCxnSpPr>
        <p:spPr>
          <a:xfrm>
            <a:off x="5600776"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41"/>
          <p:cNvSpPr/>
          <p:nvPr/>
        </p:nvSpPr>
        <p:spPr>
          <a:xfrm>
            <a:off x="5774543" y="2984065"/>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61" name="TextBox 160"/>
          <p:cNvSpPr txBox="1"/>
          <p:nvPr/>
        </p:nvSpPr>
        <p:spPr>
          <a:xfrm>
            <a:off x="1645785" y="1718927"/>
            <a:ext cx="1503466" cy="186205"/>
          </a:xfrm>
          <a:prstGeom prst="rect">
            <a:avLst/>
          </a:prstGeom>
          <a:noFill/>
        </p:spPr>
        <p:txBody>
          <a:bodyPr wrap="square" lIns="45720" tIns="27432" rIns="45720" bIns="27432" anchor="t">
            <a:spAutoFit/>
          </a:bodyPr>
          <a:lstStyle/>
          <a:p>
            <a:pPr algn="l">
              <a:spcAft>
                <a:spcPts val="200"/>
              </a:spcAft>
            </a:pPr>
            <a:r>
              <a:rPr sz="850" b="1" dirty="0" err="1">
                <a:solidFill>
                  <a:schemeClr val="accent2">
                    <a:lumMod val="50000"/>
                  </a:schemeClr>
                </a:solidFill>
                <a:latin typeface="맑은 고딕"/>
                <a:ea typeface="맑은 고딕"/>
                <a:cs typeface="맑은 고딕"/>
              </a:rPr>
              <a:t>요청마다</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분석</a:t>
            </a:r>
            <a:r>
              <a:rPr lang="en-US" sz="850" b="1" dirty="0">
                <a:solidFill>
                  <a:schemeClr val="accent2">
                    <a:lumMod val="50000"/>
                  </a:schemeClr>
                </a:solidFill>
                <a:latin typeface="맑은 고딕"/>
                <a:ea typeface="맑은 고딕"/>
                <a:cs typeface="맑은 고딕"/>
              </a:rPr>
              <a:t> </a:t>
            </a:r>
            <a:r>
              <a:rPr sz="850" b="1" dirty="0">
                <a:solidFill>
                  <a:schemeClr val="accent2">
                    <a:lumMod val="50000"/>
                  </a:schemeClr>
                </a:solidFill>
                <a:latin typeface="맑은 고딕"/>
                <a:ea typeface="맑은 고딕"/>
                <a:cs typeface="맑은 고딕"/>
              </a:rPr>
              <a:t>3단계 </a:t>
            </a:r>
            <a:r>
              <a:rPr sz="850" b="1" dirty="0" err="1">
                <a:solidFill>
                  <a:schemeClr val="accent2">
                    <a:lumMod val="50000"/>
                  </a:schemeClr>
                </a:solidFill>
                <a:latin typeface="맑은 고딕"/>
                <a:ea typeface="맑은 고딕"/>
                <a:cs typeface="맑은 고딕"/>
              </a:rPr>
              <a:t>반복</a:t>
            </a:r>
            <a:endParaRPr sz="850" b="1" dirty="0">
              <a:solidFill>
                <a:schemeClr val="accent2">
                  <a:lumMod val="50000"/>
                </a:schemeClr>
              </a:solidFill>
              <a:latin typeface="맑은 고딕"/>
              <a:ea typeface="맑은 고딕"/>
              <a:cs typeface="맑은 고딕"/>
            </a:endParaRPr>
          </a:p>
        </p:txBody>
      </p:sp>
      <p:sp>
        <p:nvSpPr>
          <p:cNvPr id="163" name="TextBox 162"/>
          <p:cNvSpPr txBox="1"/>
          <p:nvPr/>
        </p:nvSpPr>
        <p:spPr>
          <a:xfrm>
            <a:off x="6534149" y="2047236"/>
            <a:ext cx="410082" cy="243433"/>
          </a:xfrm>
          <a:prstGeom prst="rect">
            <a:avLst/>
          </a:prstGeom>
          <a:noFill/>
        </p:spPr>
        <p:txBody>
          <a:bodyPr wrap="square" lIns="45720" tIns="27432" rIns="45720" bIns="27432" anchor="t">
            <a:spAutoFit/>
          </a:bodyPr>
          <a:lstStyle/>
          <a:p>
            <a:pPr algn="l">
              <a:spcAft>
                <a:spcPts val="200"/>
              </a:spcAft>
            </a:pPr>
            <a:r>
              <a:rPr sz="900" b="1">
                <a:solidFill>
                  <a:srgbClr val="C55A11"/>
                </a:solidFill>
                <a:latin typeface="맑은 고딕"/>
                <a:ea typeface="맑은 고딕"/>
                <a:cs typeface="맑은 고딕"/>
              </a:rPr>
              <a:t>사전</a:t>
            </a:r>
          </a:p>
        </p:txBody>
      </p:sp>
      <p:sp>
        <p:nvSpPr>
          <p:cNvPr id="164" name="Rectangle 45"/>
          <p:cNvSpPr/>
          <p:nvPr/>
        </p:nvSpPr>
        <p:spPr>
          <a:xfrm>
            <a:off x="6944231" y="2006664"/>
            <a:ext cx="671043" cy="32457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대표 쿼리 추출</a:t>
            </a:r>
            <a:endParaRPr sz="800" b="1" dirty="0">
              <a:solidFill>
                <a:srgbClr val="000000"/>
              </a:solidFill>
              <a:latin typeface="맑은 고딕"/>
              <a:ea typeface="맑은 고딕"/>
              <a:cs typeface="맑은 고딕"/>
            </a:endParaRPr>
          </a:p>
        </p:txBody>
      </p:sp>
      <p:cxnSp>
        <p:nvCxnSpPr>
          <p:cNvPr id="165" name="Connector 46"/>
          <p:cNvCxnSpPr/>
          <p:nvPr/>
        </p:nvCxnSpPr>
        <p:spPr>
          <a:xfrm>
            <a:off x="7615274"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6" name="Rectangle 47"/>
          <p:cNvSpPr/>
          <p:nvPr/>
        </p:nvSpPr>
        <p:spPr>
          <a:xfrm>
            <a:off x="7801674" y="2006664"/>
            <a:ext cx="671043" cy="32457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7" name="Connector 48"/>
          <p:cNvCxnSpPr/>
          <p:nvPr/>
        </p:nvCxnSpPr>
        <p:spPr>
          <a:xfrm>
            <a:off x="8472717"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8" name="Rectangle 49"/>
          <p:cNvSpPr/>
          <p:nvPr/>
        </p:nvSpPr>
        <p:spPr>
          <a:xfrm>
            <a:off x="8659117" y="2006664"/>
            <a:ext cx="671043" cy="324578"/>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9" name="Connector 50"/>
          <p:cNvCxnSpPr/>
          <p:nvPr/>
        </p:nvCxnSpPr>
        <p:spPr>
          <a:xfrm>
            <a:off x="9330160"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Rectangle 51"/>
          <p:cNvSpPr/>
          <p:nvPr/>
        </p:nvSpPr>
        <p:spPr>
          <a:xfrm>
            <a:off x="9516561" y="2006664"/>
            <a:ext cx="671043" cy="324578"/>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재계산 토큰 선정</a:t>
            </a:r>
            <a:endParaRPr lang="ko-KR" altLang="en-US" sz="800" b="1" dirty="0">
              <a:solidFill>
                <a:srgbClr val="000000"/>
              </a:solidFill>
              <a:ea typeface="맑은 고딕"/>
              <a:cs typeface="맑은 고딕"/>
            </a:endParaRPr>
          </a:p>
        </p:txBody>
      </p:sp>
      <p:sp>
        <p:nvSpPr>
          <p:cNvPr id="201" name="TextBox 200"/>
          <p:cNvSpPr txBox="1"/>
          <p:nvPr/>
        </p:nvSpPr>
        <p:spPr>
          <a:xfrm>
            <a:off x="9316765" y="2385506"/>
            <a:ext cx="560312"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write 1회</a:t>
            </a:r>
          </a:p>
        </p:txBody>
      </p:sp>
      <p:sp>
        <p:nvSpPr>
          <p:cNvPr id="230" name="TextBox 229"/>
          <p:cNvSpPr txBox="1"/>
          <p:nvPr/>
        </p:nvSpPr>
        <p:spPr>
          <a:xfrm>
            <a:off x="10485000" y="1731969"/>
            <a:ext cx="1473198" cy="186205"/>
          </a:xfrm>
          <a:prstGeom prst="rect">
            <a:avLst/>
          </a:prstGeom>
          <a:noFill/>
        </p:spPr>
        <p:txBody>
          <a:bodyPr wrap="square" lIns="45720" tIns="27432" rIns="45720" bIns="27432" anchor="t">
            <a:spAutoFit/>
          </a:bodyPr>
          <a:lstStyle/>
          <a:p>
            <a:pPr algn="l">
              <a:spcAft>
                <a:spcPts val="100"/>
              </a:spcAft>
            </a:pPr>
            <a:r>
              <a:rPr sz="850" b="1" dirty="0" err="1">
                <a:solidFill>
                  <a:schemeClr val="accent2">
                    <a:lumMod val="50000"/>
                  </a:schemeClr>
                </a:solidFill>
                <a:latin typeface="맑은 고딕"/>
                <a:ea typeface="맑은 고딕"/>
                <a:cs typeface="맑은 고딕"/>
              </a:rPr>
              <a:t>서빙</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경로에는</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SR만</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남음</a:t>
            </a:r>
            <a:endParaRPr sz="850" b="1" dirty="0">
              <a:solidFill>
                <a:schemeClr val="accent2">
                  <a:lumMod val="50000"/>
                </a:schemeClr>
              </a:solidFill>
              <a:latin typeface="맑은 고딕"/>
              <a:ea typeface="맑은 고딕"/>
              <a:cs typeface="맑은 고딕"/>
            </a:endParaRPr>
          </a:p>
        </p:txBody>
      </p:sp>
      <p:sp>
        <p:nvSpPr>
          <p:cNvPr id="16" name="실행 단추: 앞으로 또는 다음 15">
            <a:hlinkClick r:id="rId3" action="ppaction://hlinksldjump" highlightClick="1"/>
          </p:cNvPr>
          <p:cNvSpPr/>
          <p:nvPr/>
        </p:nvSpPr>
        <p:spPr>
          <a:xfrm>
            <a:off x="561954" y="3168086"/>
            <a:ext cx="213360" cy="18435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Rectangle 51"/>
          <p:cNvSpPr/>
          <p:nvPr/>
        </p:nvSpPr>
        <p:spPr>
          <a:xfrm>
            <a:off x="11244427" y="2005839"/>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98" name="Rectangle 51"/>
          <p:cNvSpPr/>
          <p:nvPr/>
        </p:nvSpPr>
        <p:spPr>
          <a:xfrm>
            <a:off x="11244427" y="2449551"/>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108" name="Rectangle 51"/>
          <p:cNvSpPr/>
          <p:nvPr/>
        </p:nvSpPr>
        <p:spPr>
          <a:xfrm>
            <a:off x="11244427" y="2896448"/>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96" name="Rectangle 52"/>
          <p:cNvSpPr/>
          <p:nvPr/>
        </p:nvSpPr>
        <p:spPr>
          <a:xfrm>
            <a:off x="8521409" y="2544126"/>
            <a:ext cx="1836041" cy="355375"/>
          </a:xfrm>
          <a:prstGeom prst="rect">
            <a:avLst/>
          </a:prstGeom>
          <a:solidFill>
            <a:schemeClr val="bg1"/>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800" b="1" dirty="0">
                <a:solidFill>
                  <a:srgbClr val="000000"/>
                </a:solidFill>
                <a:latin typeface="맑은 고딕"/>
                <a:ea typeface="맑은 고딕"/>
                <a:cs typeface="맑은 고딕"/>
              </a:rPr>
              <a:t>Shared </a:t>
            </a:r>
            <a:r>
              <a:rPr sz="800" b="1" dirty="0">
                <a:solidFill>
                  <a:srgbClr val="000000"/>
                </a:solidFill>
                <a:latin typeface="맑은 고딕"/>
                <a:ea typeface="맑은 고딕"/>
                <a:cs typeface="맑은 고딕"/>
              </a:rPr>
              <a:t>Repository </a:t>
            </a:r>
            <a:endParaRPr lang="en-US" sz="800" b="1" dirty="0">
              <a:solidFill>
                <a:srgbClr val="000000"/>
              </a:solidFill>
              <a:latin typeface="맑은 고딕"/>
              <a:ea typeface="맑은 고딕"/>
              <a:cs typeface="맑은 고딕"/>
            </a:endParaRPr>
          </a:p>
          <a:p>
            <a:pPr algn="ctr">
              <a:spcAft>
                <a:spcPts val="200"/>
              </a:spcAft>
            </a:pPr>
            <a:r>
              <a:rPr lang="ko-KR" altLang="en-US" sz="700" b="1" dirty="0">
                <a:solidFill>
                  <a:schemeClr val="bg1">
                    <a:lumMod val="50000"/>
                  </a:schemeClr>
                </a:solidFill>
                <a:latin typeface="맑은 고딕"/>
                <a:ea typeface="맑은 고딕"/>
                <a:cs typeface="맑은 고딕"/>
              </a:rPr>
              <a:t>재사용 </a:t>
            </a:r>
            <a:r>
              <a:rPr lang="en-US" altLang="ko-KR" sz="700" b="1" dirty="0">
                <a:solidFill>
                  <a:schemeClr val="bg1">
                    <a:lumMod val="50000"/>
                  </a:schemeClr>
                </a:solidFill>
                <a:latin typeface="맑은 고딕"/>
                <a:ea typeface="맑은 고딕"/>
                <a:cs typeface="맑은 고딕"/>
              </a:rPr>
              <a:t>KV </a:t>
            </a:r>
            <a:r>
              <a:rPr lang="ko-KR" altLang="en-US" sz="700" b="1" dirty="0">
                <a:solidFill>
                  <a:schemeClr val="bg1">
                    <a:lumMod val="50000"/>
                  </a:schemeClr>
                </a:solidFill>
                <a:latin typeface="맑은 고딕"/>
                <a:ea typeface="맑은 고딕"/>
                <a:cs typeface="맑은 고딕"/>
              </a:rPr>
              <a:t>캐시</a:t>
            </a:r>
            <a:r>
              <a:rPr lang="en-US" altLang="ko-KR" sz="700" b="1" dirty="0">
                <a:solidFill>
                  <a:schemeClr val="bg1">
                    <a:lumMod val="50000"/>
                  </a:schemeClr>
                </a:solidFill>
                <a:latin typeface="맑은 고딕"/>
                <a:ea typeface="맑은 고딕"/>
                <a:cs typeface="맑은 고딕"/>
              </a:rPr>
              <a:t>, </a:t>
            </a:r>
            <a:r>
              <a:rPr sz="700" b="1" dirty="0" err="1">
                <a:solidFill>
                  <a:schemeClr val="bg1">
                    <a:lumMod val="50000"/>
                  </a:schemeClr>
                </a:solidFill>
                <a:latin typeface="맑은 고딕"/>
                <a:ea typeface="맑은 고딕"/>
                <a:cs typeface="맑은 고딕"/>
              </a:rPr>
              <a:t>재계산</a:t>
            </a:r>
            <a:r>
              <a:rPr lang="ko-KR" altLang="en-US" sz="700" b="1" dirty="0">
                <a:solidFill>
                  <a:schemeClr val="bg1">
                    <a:lumMod val="50000"/>
                  </a:schemeClr>
                </a:solidFill>
                <a:latin typeface="맑은 고딕"/>
                <a:ea typeface="맑은 고딕"/>
                <a:cs typeface="맑은 고딕"/>
              </a:rPr>
              <a:t> 토큰 </a:t>
            </a:r>
            <a:r>
              <a:rPr sz="700" b="1" dirty="0" err="1">
                <a:solidFill>
                  <a:schemeClr val="bg1">
                    <a:lumMod val="50000"/>
                  </a:schemeClr>
                </a:solidFill>
                <a:latin typeface="맑은 고딕"/>
                <a:ea typeface="맑은 고딕"/>
                <a:cs typeface="맑은 고딕"/>
              </a:rPr>
              <a:t>위치</a:t>
            </a:r>
            <a:r>
              <a:rPr lang="en-US" sz="700" b="1" dirty="0">
                <a:solidFill>
                  <a:schemeClr val="bg1">
                    <a:lumMod val="50000"/>
                  </a:schemeClr>
                </a:solidFill>
                <a:latin typeface="맑은 고딕"/>
                <a:ea typeface="맑은 고딕"/>
                <a:cs typeface="맑은 고딕"/>
              </a:rPr>
              <a:t> </a:t>
            </a:r>
            <a:r>
              <a:rPr sz="700" b="1" dirty="0">
                <a:solidFill>
                  <a:schemeClr val="bg1">
                    <a:lumMod val="50000"/>
                  </a:schemeClr>
                </a:solidFill>
                <a:latin typeface="맑은 고딕"/>
                <a:ea typeface="맑은 고딕"/>
                <a:cs typeface="맑은 고딕"/>
              </a:rPr>
              <a:t> </a:t>
            </a:r>
          </a:p>
        </p:txBody>
      </p:sp>
      <p:cxnSp>
        <p:nvCxnSpPr>
          <p:cNvPr id="99" name="Connector 50"/>
          <p:cNvCxnSpPr/>
          <p:nvPr/>
        </p:nvCxnSpPr>
        <p:spPr>
          <a:xfrm flipH="1">
            <a:off x="9849482" y="2331242"/>
            <a:ext cx="2602" cy="222995"/>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 name="Connector 60"/>
          <p:cNvCxnSpPr/>
          <p:nvPr/>
        </p:nvCxnSpPr>
        <p:spPr>
          <a:xfrm flipV="1">
            <a:off x="10401111" y="2207098"/>
            <a:ext cx="322303" cy="397681"/>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Connector 60"/>
          <p:cNvCxnSpPr/>
          <p:nvPr/>
        </p:nvCxnSpPr>
        <p:spPr>
          <a:xfrm flipV="1">
            <a:off x="10421066" y="2684381"/>
            <a:ext cx="302348" cy="37890"/>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Connector 60"/>
          <p:cNvCxnSpPr/>
          <p:nvPr/>
        </p:nvCxnSpPr>
        <p:spPr>
          <a:xfrm>
            <a:off x="10402923" y="2795475"/>
            <a:ext cx="310995" cy="275207"/>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10354138" y="1963078"/>
            <a:ext cx="501541"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read × N</a:t>
            </a:r>
          </a:p>
        </p:txBody>
      </p:sp>
      <p:sp>
        <p:nvSpPr>
          <p:cNvPr id="128" name="Rectangle 55"/>
          <p:cNvSpPr/>
          <p:nvPr/>
        </p:nvSpPr>
        <p:spPr>
          <a:xfrm>
            <a:off x="7556409" y="2550682"/>
            <a:ext cx="662975" cy="339501"/>
          </a:xfrm>
          <a:prstGeom prst="rect">
            <a:avLst/>
          </a:prstGeom>
          <a:solidFill>
            <a:srgbClr val="F0D8FA"/>
          </a:solidFill>
          <a:ln w="15240">
            <a:solidFill>
              <a:schemeClr val="bg1">
                <a:lumMod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800" dirty="0">
                <a:solidFill>
                  <a:schemeClr val="tx1"/>
                </a:solidFill>
                <a:ea typeface="맑은 고딕"/>
                <a:cs typeface="맑은 고딕"/>
              </a:rPr>
              <a:t>Validator</a:t>
            </a:r>
            <a:endParaRPr sz="800" b="1" dirty="0">
              <a:solidFill>
                <a:schemeClr val="tx1"/>
              </a:solidFill>
              <a:latin typeface="맑은 고딕"/>
              <a:ea typeface="맑은 고딕"/>
              <a:cs typeface="맑은 고딕"/>
            </a:endParaRPr>
          </a:p>
        </p:txBody>
      </p:sp>
      <p:cxnSp>
        <p:nvCxnSpPr>
          <p:cNvPr id="129" name="Connector 46"/>
          <p:cNvCxnSpPr>
            <a:stCxn id="128" idx="3"/>
            <a:endCxn id="96" idx="1"/>
          </p:cNvCxnSpPr>
          <p:nvPr/>
        </p:nvCxnSpPr>
        <p:spPr>
          <a:xfrm>
            <a:off x="8219384" y="2720433"/>
            <a:ext cx="302025" cy="1381"/>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grpSp>
        <p:nvGrpSpPr>
          <p:cNvPr id="4" name="그룹 3"/>
          <p:cNvGrpSpPr/>
          <p:nvPr/>
        </p:nvGrpSpPr>
        <p:grpSpPr>
          <a:xfrm>
            <a:off x="1390821" y="3556351"/>
            <a:ext cx="10286655" cy="885231"/>
            <a:chOff x="1190992" y="3862952"/>
            <a:chExt cx="10286655" cy="885231"/>
          </a:xfrm>
        </p:grpSpPr>
        <p:sp>
          <p:nvSpPr>
            <p:cNvPr id="15" name="직사각형 14"/>
            <p:cNvSpPr/>
            <p:nvPr/>
          </p:nvSpPr>
          <p:spPr>
            <a:xfrm>
              <a:off x="1190992" y="3862952"/>
              <a:ext cx="10286655" cy="885231"/>
            </a:xfrm>
            <a:prstGeom prst="rect">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1" name="TextBox 300"/>
            <p:cNvSpPr txBox="1"/>
            <p:nvPr/>
          </p:nvSpPr>
          <p:spPr>
            <a:xfrm>
              <a:off x="1887027" y="3952198"/>
              <a:ext cx="3149522" cy="314445"/>
            </a:xfrm>
            <a:prstGeom prst="rect">
              <a:avLst/>
            </a:prstGeom>
            <a:solidFill>
              <a:schemeClr val="accent3">
                <a:lumMod val="20000"/>
                <a:lumOff val="80000"/>
              </a:schemeClr>
            </a:solidFill>
          </p:spPr>
          <p:txBody>
            <a:bodyPr wrap="square" lIns="45720" tIns="27432" rIns="45720" bIns="27432" anchor="ctr">
              <a:spAutoFit/>
            </a:bodyPr>
            <a:lstStyle/>
            <a:p>
              <a:pPr>
                <a:spcAft>
                  <a:spcPts val="100"/>
                </a:spcAft>
              </a:pPr>
              <a:r>
                <a:rPr lang="ko-KR" altLang="en-US" sz="800" b="1" dirty="0">
                  <a:latin typeface="맑은 고딕"/>
                  <a:ea typeface="맑은 고딕"/>
                  <a:cs typeface="맑은 고딕"/>
                </a:rPr>
                <a:t>유사도 계산</a:t>
              </a:r>
              <a:r>
                <a:rPr lang="en-US" sz="800" b="1" dirty="0">
                  <a:latin typeface="맑은 고딕"/>
                  <a:ea typeface="맑은 고딕"/>
                  <a:cs typeface="맑은 고딕"/>
                </a:rPr>
                <a:t>: Query</a:t>
              </a:r>
              <a:r>
                <a:rPr lang="ko-KR" altLang="en-US" sz="800" b="1" dirty="0">
                  <a:latin typeface="맑은 고딕"/>
                  <a:ea typeface="맑은 고딕"/>
                  <a:cs typeface="맑은 고딕"/>
                </a:rPr>
                <a:t>와 </a:t>
              </a:r>
              <a:r>
                <a:rPr lang="en-US" altLang="ko-KR" sz="800" b="1" dirty="0">
                  <a:latin typeface="맑은 고딕"/>
                  <a:ea typeface="맑은 고딕"/>
                  <a:cs typeface="맑은 고딕"/>
                </a:rPr>
                <a:t>KV </a:t>
              </a:r>
              <a:r>
                <a:rPr lang="ko-KR" altLang="en-US" sz="800" b="1" dirty="0">
                  <a:latin typeface="맑은 고딕"/>
                  <a:ea typeface="맑은 고딕"/>
                  <a:cs typeface="맑은 고딕"/>
                </a:rPr>
                <a:t>캐시 간의 </a:t>
              </a:r>
              <a:r>
                <a:rPr lang="ko-KR" altLang="en-US" sz="800" b="1" dirty="0" err="1">
                  <a:latin typeface="맑은 고딕"/>
                  <a:ea typeface="맑은 고딕"/>
                  <a:cs typeface="맑은 고딕"/>
                </a:rPr>
                <a:t>유사도를</a:t>
              </a:r>
              <a:r>
                <a:rPr lang="ko-KR" altLang="en-US" sz="800" b="1" dirty="0">
                  <a:latin typeface="맑은 고딕"/>
                  <a:ea typeface="맑은 고딕"/>
                  <a:cs typeface="맑은 고딕"/>
                </a:rPr>
                <a:t> 계산</a:t>
              </a:r>
              <a:endParaRPr lang="en-US" altLang="ko-KR" sz="800" b="1" dirty="0">
                <a:latin typeface="맑은 고딕"/>
                <a:ea typeface="맑은 고딕"/>
                <a:cs typeface="맑은 고딕"/>
              </a:endParaRPr>
            </a:p>
            <a:p>
              <a:pPr>
                <a:spcAft>
                  <a:spcPts val="100"/>
                </a:spcAft>
              </a:pPr>
              <a:r>
                <a:rPr lang="en-US" altLang="ko-KR" sz="800" b="1" dirty="0">
                  <a:latin typeface="맑은 고딕"/>
                  <a:ea typeface="맑은 고딕"/>
                  <a:cs typeface="맑은 고딕"/>
                </a:rPr>
                <a:t>(</a:t>
              </a:r>
              <a:r>
                <a:rPr lang="en-US" sz="800" b="1" dirty="0">
                  <a:latin typeface="맑은 고딕"/>
                  <a:ea typeface="맑은 고딕"/>
                  <a:cs typeface="맑은 고딕"/>
                </a:rPr>
                <a:t>Attention Manager)</a:t>
              </a:r>
              <a:endParaRPr sz="800" b="0" dirty="0">
                <a:latin typeface="맑은 고딕"/>
                <a:ea typeface="맑은 고딕"/>
                <a:cs typeface="맑은 고딕"/>
              </a:endParaRPr>
            </a:p>
          </p:txBody>
        </p:sp>
        <p:sp>
          <p:nvSpPr>
            <p:cNvPr id="302" name="TextBox 301"/>
            <p:cNvSpPr txBox="1"/>
            <p:nvPr/>
          </p:nvSpPr>
          <p:spPr>
            <a:xfrm>
              <a:off x="1887027" y="4353852"/>
              <a:ext cx="3149522" cy="314445"/>
            </a:xfrm>
            <a:prstGeom prst="rect">
              <a:avLst/>
            </a:prstGeom>
            <a:solidFill>
              <a:schemeClr val="accent1">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재사용 토큰 선정</a:t>
              </a:r>
              <a:r>
                <a:rPr lang="en-US" altLang="ko-KR" sz="800" b="1" dirty="0">
                  <a:ea typeface="맑은 고딕"/>
                  <a:cs typeface="맑은 고딕"/>
                </a:rPr>
                <a:t>: </a:t>
              </a:r>
              <a:r>
                <a:rPr lang="ko-KR" altLang="en-US" sz="800" b="1" dirty="0">
                  <a:ea typeface="맑은 고딕"/>
                  <a:cs typeface="맑은 고딕"/>
                </a:rPr>
                <a:t>유사도 점수로 재사용할 토큰 선정 </a:t>
              </a:r>
              <a:endParaRPr lang="en-US" altLang="ko-KR" sz="800" b="1" dirty="0">
                <a:ea typeface="맑은 고딕"/>
                <a:cs typeface="맑은 고딕"/>
              </a:endParaRPr>
            </a:p>
            <a:p>
              <a:pPr>
                <a:spcAft>
                  <a:spcPts val="100"/>
                </a:spcAft>
              </a:pPr>
              <a:r>
                <a:rPr lang="en-US" altLang="ko-KR" sz="800" b="1" dirty="0">
                  <a:ea typeface="맑은 고딕"/>
                  <a:cs typeface="맑은 고딕"/>
                </a:rPr>
                <a:t>(KV Sampler)</a:t>
              </a:r>
            </a:p>
          </p:txBody>
        </p:sp>
        <p:sp>
          <p:nvSpPr>
            <p:cNvPr id="303" name="TextBox 302"/>
            <p:cNvSpPr txBox="1"/>
            <p:nvPr/>
          </p:nvSpPr>
          <p:spPr>
            <a:xfrm>
              <a:off x="5093777" y="3954047"/>
              <a:ext cx="3149522" cy="314445"/>
            </a:xfrm>
            <a:prstGeom prst="rect">
              <a:avLst/>
            </a:prstGeom>
            <a:solidFill>
              <a:schemeClr val="accent6">
                <a:lumMod val="20000"/>
                <a:lumOff val="80000"/>
              </a:schemeClr>
            </a:solidFill>
          </p:spPr>
          <p:txBody>
            <a:bodyPr wrap="square" lIns="45720" tIns="27432" rIns="45720" bIns="27432" anchor="ctr">
              <a:spAutoFit/>
            </a:bodyPr>
            <a:lstStyle/>
            <a:p>
              <a:pPr lvl="0">
                <a:spcAft>
                  <a:spcPts val="100"/>
                </a:spcAft>
              </a:pPr>
              <a:r>
                <a:rPr lang="ko-KR" altLang="en-US" sz="800" b="1" dirty="0" smtClean="0">
                  <a:solidFill>
                    <a:prstClr val="black"/>
                  </a:solidFill>
                  <a:ea typeface="맑은 고딕"/>
                  <a:cs typeface="맑은 고딕"/>
                </a:rPr>
                <a:t>재계산 </a:t>
              </a:r>
              <a:r>
                <a:rPr lang="ko-KR" altLang="en-US" sz="800" b="1" dirty="0">
                  <a:solidFill>
                    <a:prstClr val="black"/>
                  </a:solidFill>
                  <a:ea typeface="맑은 고딕"/>
                  <a:cs typeface="맑은 고딕"/>
                </a:rPr>
                <a:t>토큰 선정</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재계산할 토큰 선정</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a:t>
              </a:r>
              <a:r>
                <a:rPr lang="en-US" altLang="ko-KR" sz="800" b="1" dirty="0" err="1">
                  <a:solidFill>
                    <a:prstClr val="black"/>
                  </a:solidFill>
                  <a:ea typeface="맑은 고딕"/>
                  <a:cs typeface="맑은 고딕"/>
                </a:rPr>
                <a:t>Recompute</a:t>
              </a:r>
              <a:r>
                <a:rPr lang="en-US" altLang="ko-KR" sz="800" b="1" dirty="0">
                  <a:solidFill>
                    <a:prstClr val="black"/>
                  </a:solidFill>
                  <a:ea typeface="맑은 고딕"/>
                  <a:cs typeface="맑은 고딕"/>
                </a:rPr>
                <a:t>-Token Selector)</a:t>
              </a:r>
            </a:p>
          </p:txBody>
        </p:sp>
        <p:sp>
          <p:nvSpPr>
            <p:cNvPr id="304" name="TextBox 303"/>
            <p:cNvSpPr txBox="1"/>
            <p:nvPr/>
          </p:nvSpPr>
          <p:spPr>
            <a:xfrm>
              <a:off x="5093777" y="4366396"/>
              <a:ext cx="3149522" cy="316242"/>
            </a:xfrm>
            <a:prstGeom prst="rect">
              <a:avLst/>
            </a:prstGeom>
            <a:solidFill>
              <a:schemeClr val="accent4">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선택적 재계산</a:t>
              </a:r>
              <a:r>
                <a:rPr lang="en-US" altLang="ko-KR" sz="800" b="1" dirty="0">
                  <a:ea typeface="맑은 고딕"/>
                  <a:cs typeface="맑은 고딕"/>
                </a:rPr>
                <a:t>: </a:t>
              </a:r>
              <a:r>
                <a:rPr lang="ko-KR" altLang="en-US" sz="800" b="1" dirty="0">
                  <a:ea typeface="맑은 고딕"/>
                  <a:cs typeface="맑은 고딕"/>
                </a:rPr>
                <a:t>선정한 토큰만 재계산</a:t>
              </a:r>
              <a:endParaRPr lang="en-US" altLang="ko-KR" sz="800" b="1" dirty="0">
                <a:ea typeface="맑은 고딕"/>
                <a:cs typeface="맑은 고딕"/>
              </a:endParaRPr>
            </a:p>
            <a:p>
              <a:pPr>
                <a:spcAft>
                  <a:spcPts val="100"/>
                </a:spcAft>
              </a:pPr>
              <a:r>
                <a:rPr lang="en-US" altLang="ko-KR" sz="800" b="1" dirty="0">
                  <a:ea typeface="맑은 고딕"/>
                  <a:cs typeface="맑은 고딕"/>
                </a:rPr>
                <a:t>(Selective </a:t>
              </a:r>
              <a:r>
                <a:rPr lang="en-US" altLang="ko-KR" sz="800" b="1" dirty="0" err="1">
                  <a:ea typeface="맑은 고딕"/>
                  <a:cs typeface="맑은 고딕"/>
                </a:rPr>
                <a:t>Recomputer</a:t>
              </a:r>
              <a:r>
                <a:rPr lang="en-US" altLang="ko-KR" sz="800" b="1" dirty="0">
                  <a:ea typeface="맑은 고딕"/>
                  <a:cs typeface="맑은 고딕"/>
                </a:rPr>
                <a:t>)</a:t>
              </a:r>
              <a:endParaRPr lang="en-US" altLang="ko-KR" sz="800" dirty="0">
                <a:ea typeface="맑은 고딕"/>
                <a:cs typeface="맑은 고딕"/>
              </a:endParaRPr>
            </a:p>
          </p:txBody>
        </p:sp>
        <p:sp>
          <p:nvSpPr>
            <p:cNvPr id="305" name="TextBox 304"/>
            <p:cNvSpPr txBox="1"/>
            <p:nvPr/>
          </p:nvSpPr>
          <p:spPr>
            <a:xfrm>
              <a:off x="8352247" y="3952198"/>
              <a:ext cx="2863202" cy="314445"/>
            </a:xfrm>
            <a:prstGeom prst="rect">
              <a:avLst/>
            </a:prstGeom>
            <a:solidFill>
              <a:schemeClr val="accent2">
                <a:lumMod val="20000"/>
                <a:lumOff val="80000"/>
              </a:schemeClr>
            </a:solidFill>
          </p:spPr>
          <p:txBody>
            <a:bodyPr wrap="square" lIns="45720" tIns="27432" rIns="45720" bIns="27432" anchor="ctr">
              <a:spAutoFit/>
            </a:bodyPr>
            <a:lstStyle/>
            <a:p>
              <a:pPr lvl="0">
                <a:spcAft>
                  <a:spcPts val="100"/>
                </a:spcAft>
              </a:pPr>
              <a:r>
                <a:rPr lang="ko-KR" altLang="en-US" sz="800" b="1" dirty="0">
                  <a:solidFill>
                    <a:prstClr val="black"/>
                  </a:solidFill>
                  <a:ea typeface="맑은 고딕"/>
                  <a:cs typeface="맑은 고딕"/>
                </a:rPr>
                <a:t>대표 쿼리 추출 </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워크로드 별 대표 </a:t>
              </a:r>
              <a:r>
                <a:rPr lang="en-US" altLang="ko-KR" sz="800" b="1" dirty="0">
                  <a:solidFill>
                    <a:prstClr val="black"/>
                  </a:solidFill>
                  <a:ea typeface="맑은 고딕"/>
                  <a:cs typeface="맑은 고딕"/>
                </a:rPr>
                <a:t>Query </a:t>
              </a:r>
              <a:r>
                <a:rPr lang="ko-KR" altLang="en-US" sz="800" b="1" dirty="0">
                  <a:solidFill>
                    <a:prstClr val="black"/>
                  </a:solidFill>
                  <a:ea typeface="맑은 고딕"/>
                  <a:cs typeface="맑은 고딕"/>
                </a:rPr>
                <a:t>추출 </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(Query Sampler)</a:t>
              </a:r>
            </a:p>
          </p:txBody>
        </p:sp>
        <p:sp>
          <p:nvSpPr>
            <p:cNvPr id="18" name="직사각형 17"/>
            <p:cNvSpPr/>
            <p:nvPr/>
          </p:nvSpPr>
          <p:spPr>
            <a:xfrm>
              <a:off x="1238713" y="4256303"/>
              <a:ext cx="587020" cy="230832"/>
            </a:xfrm>
            <a:prstGeom prst="rect">
              <a:avLst/>
            </a:prstGeom>
          </p:spPr>
          <p:txBody>
            <a:bodyPr wrap="none" anchor="ctr">
              <a:spAutoFit/>
            </a:bodyPr>
            <a:lstStyle/>
            <a:p>
              <a:r>
                <a:rPr lang="en-US" altLang="ko-KR" sz="900" b="1" dirty="0">
                  <a:solidFill>
                    <a:prstClr val="black"/>
                  </a:solidFill>
                </a:rPr>
                <a:t>Legend</a:t>
              </a:r>
              <a:endParaRPr lang="ko-KR" altLang="en-US" sz="2000" dirty="0"/>
            </a:p>
          </p:txBody>
        </p:sp>
        <p:sp>
          <p:nvSpPr>
            <p:cNvPr id="135" name="TextBox 134"/>
            <p:cNvSpPr txBox="1"/>
            <p:nvPr/>
          </p:nvSpPr>
          <p:spPr>
            <a:xfrm>
              <a:off x="8352247" y="4360264"/>
              <a:ext cx="2863202" cy="301621"/>
            </a:xfrm>
            <a:prstGeom prst="rect">
              <a:avLst/>
            </a:prstGeom>
            <a:solidFill>
              <a:srgbClr val="F0D8FA"/>
            </a:solidFill>
          </p:spPr>
          <p:txBody>
            <a:bodyPr wrap="square" lIns="45720" tIns="27432" rIns="45720" bIns="27432" anchor="ctr">
              <a:spAutoFit/>
            </a:bodyPr>
            <a:lstStyle/>
            <a:p>
              <a:pPr lvl="0">
                <a:spcAft>
                  <a:spcPts val="100"/>
                </a:spcAft>
              </a:pPr>
              <a:r>
                <a:rPr lang="en-US" altLang="ko-KR" sz="800" b="1" dirty="0">
                  <a:solidFill>
                    <a:prstClr val="black"/>
                  </a:solidFill>
                  <a:ea typeface="맑은 고딕"/>
                  <a:cs typeface="맑은 고딕"/>
                </a:rPr>
                <a:t>Validator: </a:t>
              </a:r>
              <a:r>
                <a:rPr lang="ko-KR" altLang="en-US" sz="800" b="1" dirty="0">
                  <a:solidFill>
                    <a:prstClr val="black"/>
                  </a:solidFill>
                  <a:ea typeface="맑은 고딕"/>
                  <a:cs typeface="맑은 고딕"/>
                </a:rPr>
                <a:t>사전에 계산한 재계산 토큰 위치를 업데이트 함으로써 </a:t>
              </a:r>
              <a:r>
                <a:rPr lang="en-US" altLang="ko-KR" sz="800" b="1" dirty="0">
                  <a:solidFill>
                    <a:prstClr val="black"/>
                  </a:solidFill>
                  <a:ea typeface="맑은 고딕"/>
                  <a:cs typeface="맑은 고딕"/>
                </a:rPr>
                <a:t>stale </a:t>
              </a:r>
              <a:r>
                <a:rPr lang="ko-KR" altLang="en-US" sz="800" b="1" dirty="0">
                  <a:solidFill>
                    <a:prstClr val="black"/>
                  </a:solidFill>
                  <a:ea typeface="맑은 고딕"/>
                  <a:cs typeface="맑은 고딕"/>
                </a:rPr>
                <a:t>정보 보완</a:t>
              </a:r>
              <a:endParaRPr lang="en-US" altLang="ko-KR" sz="800" b="1" dirty="0">
                <a:solidFill>
                  <a:prstClr val="black"/>
                </a:solidFill>
                <a:ea typeface="맑은 고딕"/>
                <a:cs typeface="맑은 고딕"/>
              </a:endParaRPr>
            </a:p>
          </p:txBody>
        </p:sp>
      </p:grpSp>
      <p:sp>
        <p:nvSpPr>
          <p:cNvPr id="82" name="모서리가 둥근 직사각형 81"/>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3"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4" name="모서리가 둥근 직사각형 37">
            <a:extLst>
              <a:ext uri="{FF2B5EF4-FFF2-40B4-BE49-F238E27FC236}">
                <a16:creationId xmlns:a16="http://schemas.microsoft.com/office/drawing/2014/main" id="{E99FD0CC-4F44-40AB-8E8E-E5E878FDD956}"/>
              </a:ext>
            </a:extLst>
          </p:cNvPr>
          <p:cNvSpPr/>
          <p:nvPr/>
        </p:nvSpPr>
        <p:spPr>
          <a:xfrm>
            <a:off x="9430793" y="808072"/>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5" name="모서리가 둥근 직사각형 37">
            <a:extLst>
              <a:ext uri="{FF2B5EF4-FFF2-40B4-BE49-F238E27FC236}">
                <a16:creationId xmlns:a16="http://schemas.microsoft.com/office/drawing/2014/main" id="{63E127C8-1374-4049-8A7A-84E9B191F365}"/>
              </a:ext>
            </a:extLst>
          </p:cNvPr>
          <p:cNvSpPr/>
          <p:nvPr/>
        </p:nvSpPr>
        <p:spPr>
          <a:xfrm>
            <a:off x="10320379" y="815469"/>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 용이성</a:t>
            </a:r>
          </a:p>
        </p:txBody>
      </p:sp>
      <p:sp>
        <p:nvSpPr>
          <p:cNvPr id="86" name="모서리가 둥근 직사각형 37">
            <a:extLst>
              <a:ext uri="{FF2B5EF4-FFF2-40B4-BE49-F238E27FC236}">
                <a16:creationId xmlns:a16="http://schemas.microsoft.com/office/drawing/2014/main" id="{8B476E63-C72E-465A-98C8-0CB6FC0C7249}"/>
              </a:ext>
            </a:extLst>
          </p:cNvPr>
          <p:cNvSpPr/>
          <p:nvPr/>
        </p:nvSpPr>
        <p:spPr>
          <a:xfrm>
            <a:off x="11209965" y="808072"/>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Q5 </a:t>
            </a:r>
            <a:r>
              <a:rPr lang="ko-KR" altLang="en-US" sz="700" dirty="0" smtClean="0">
                <a:latin typeface="맑은 고딕" panose="020B0503020000020004" pitchFamily="50" charset="-127"/>
              </a:rPr>
              <a:t>기능 정확성</a:t>
            </a:r>
            <a:endParaRPr lang="ko-KR" altLang="en-US" sz="700" dirty="0">
              <a:latin typeface="맑은 고딕" panose="020B0503020000020004" pitchFamily="50" charset="-127"/>
            </a:endParaRPr>
          </a:p>
        </p:txBody>
      </p:sp>
      <p:sp>
        <p:nvSpPr>
          <p:cNvPr id="88" name="모서리가 둥근 직사각형 87"/>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2" name="직사각형 1"/>
          <p:cNvSpPr/>
          <p:nvPr/>
        </p:nvSpPr>
        <p:spPr>
          <a:xfrm>
            <a:off x="1583025" y="1946905"/>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직사각형 88"/>
          <p:cNvSpPr/>
          <p:nvPr/>
        </p:nvSpPr>
        <p:spPr>
          <a:xfrm>
            <a:off x="7748353" y="1954240"/>
            <a:ext cx="2519397"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직사각형 89"/>
          <p:cNvSpPr/>
          <p:nvPr/>
        </p:nvSpPr>
        <p:spPr>
          <a:xfrm>
            <a:off x="2397518" y="2426770"/>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직사각형 90"/>
          <p:cNvSpPr/>
          <p:nvPr/>
        </p:nvSpPr>
        <p:spPr>
          <a:xfrm>
            <a:off x="3241867" y="2937037"/>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실행 단추: 앞으로 또는 다음으로 이동 78">
            <a:hlinkClick r:id="rId4" action="ppaction://hlinksldjump" highlightClick="1"/>
            <a:extLst>
              <a:ext uri="{FF2B5EF4-FFF2-40B4-BE49-F238E27FC236}">
                <a16:creationId xmlns:a16="http://schemas.microsoft.com/office/drawing/2014/main" id="{A9B537F6-0E71-4836-9264-18FD8A2D820D}"/>
              </a:ext>
            </a:extLst>
          </p:cNvPr>
          <p:cNvSpPr/>
          <p:nvPr/>
        </p:nvSpPr>
        <p:spPr>
          <a:xfrm>
            <a:off x="579340" y="617316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0" name="실행 단추: 앞으로 또는 다음 101">
            <a:hlinkClick r:id="rId5" action="ppaction://hlinksldjump" highlightClick="1"/>
            <a:extLst>
              <a:ext uri="{FF2B5EF4-FFF2-40B4-BE49-F238E27FC236}">
                <a16:creationId xmlns:a16="http://schemas.microsoft.com/office/drawing/2014/main" id="{2A1DD19D-8AA6-4544-B268-22B864A70D6E}"/>
              </a:ext>
            </a:extLst>
          </p:cNvPr>
          <p:cNvSpPr/>
          <p:nvPr/>
        </p:nvSpPr>
        <p:spPr>
          <a:xfrm>
            <a:off x="11686730"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실행 단추: 앞으로 또는 다음 101">
            <a:hlinkClick r:id="rId6" action="ppaction://hlinksldjump" highlightClick="1"/>
            <a:extLst>
              <a:ext uri="{FF2B5EF4-FFF2-40B4-BE49-F238E27FC236}">
                <a16:creationId xmlns:a16="http://schemas.microsoft.com/office/drawing/2014/main" id="{2A1DD19D-8AA6-4544-B268-22B864A70D6E}"/>
              </a:ext>
            </a:extLst>
          </p:cNvPr>
          <p:cNvSpPr/>
          <p:nvPr/>
        </p:nvSpPr>
        <p:spPr>
          <a:xfrm>
            <a:off x="6235098"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TextBox 91"/>
          <p:cNvSpPr txBox="1"/>
          <p:nvPr/>
        </p:nvSpPr>
        <p:spPr>
          <a:xfrm>
            <a:off x="10813929" y="2004177"/>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93" name="TextBox 92"/>
          <p:cNvSpPr txBox="1"/>
          <p:nvPr/>
        </p:nvSpPr>
        <p:spPr>
          <a:xfrm>
            <a:off x="10813929" y="2494120"/>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94" name="TextBox 93"/>
          <p:cNvSpPr txBox="1"/>
          <p:nvPr/>
        </p:nvSpPr>
        <p:spPr>
          <a:xfrm>
            <a:off x="10813929" y="2984064"/>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22" name="모서리가 둥근 직사각형 37">
            <a:extLst>
              <a:ext uri="{FF2B5EF4-FFF2-40B4-BE49-F238E27FC236}">
                <a16:creationId xmlns:a16="http://schemas.microsoft.com/office/drawing/2014/main" id="{476B6E1C-7561-417D-A669-4DEFCE610223}"/>
              </a:ext>
            </a:extLst>
          </p:cNvPr>
          <p:cNvSpPr/>
          <p:nvPr/>
        </p:nvSpPr>
        <p:spPr>
          <a:xfrm>
            <a:off x="7855986" y="801875"/>
            <a:ext cx="110413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smtClean="0">
                <a:latin typeface="맑은 고딕" panose="020B0503020000020004" pitchFamily="50" charset="-127"/>
              </a:rPr>
              <a:t>C2 </a:t>
            </a:r>
            <a:r>
              <a:rPr lang="ko-KR" altLang="en-US" sz="700" dirty="0" smtClean="0">
                <a:latin typeface="맑은 고딕" panose="020B0503020000020004" pitchFamily="50" charset="-127"/>
              </a:rPr>
              <a:t>모델 </a:t>
            </a:r>
            <a:r>
              <a:rPr lang="en-US" altLang="ko-KR" sz="700" dirty="0" smtClean="0">
                <a:latin typeface="맑은 고딕" panose="020B0503020000020004" pitchFamily="50" charset="-127"/>
              </a:rPr>
              <a:t>Context </a:t>
            </a:r>
            <a:r>
              <a:rPr lang="ko-KR" altLang="en-US" sz="700" dirty="0" smtClean="0">
                <a:latin typeface="맑은 고딕" panose="020B0503020000020004" pitchFamily="50" charset="-127"/>
              </a:rPr>
              <a:t>길이</a:t>
            </a:r>
            <a:endParaRPr lang="ko-KR" altLang="en-US" sz="700" dirty="0">
              <a:latin typeface="맑은 고딕" panose="020B0503020000020004" pitchFamily="50" charset="-127"/>
            </a:endParaRPr>
          </a:p>
        </p:txBody>
      </p:sp>
      <p:sp>
        <p:nvSpPr>
          <p:cNvPr id="123" name="모서리가 둥근 직사각형 37">
            <a:extLst>
              <a:ext uri="{FF2B5EF4-FFF2-40B4-BE49-F238E27FC236}">
                <a16:creationId xmlns:a16="http://schemas.microsoft.com/office/drawing/2014/main" id="{476B6E1C-7561-417D-A669-4DEFCE610223}"/>
              </a:ext>
            </a:extLst>
          </p:cNvPr>
          <p:cNvSpPr/>
          <p:nvPr/>
        </p:nvSpPr>
        <p:spPr>
          <a:xfrm>
            <a:off x="7872631"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spTree>
    <p:extLst>
      <p:ext uri="{BB962C8B-B14F-4D97-AF65-F5344CB8AC3E}">
        <p14:creationId xmlns:p14="http://schemas.microsoft.com/office/powerpoint/2010/main" val="244761515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950818718"/>
              </p:ext>
            </p:extLst>
          </p:nvPr>
        </p:nvGraphicFramePr>
        <p:xfrm>
          <a:off x="234949" y="1032440"/>
          <a:ext cx="11759184" cy="5371010"/>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049652">
                  <a:extLst>
                    <a:ext uri="{9D8B030D-6E8A-4147-A177-3AD203B41FA5}">
                      <a16:colId xmlns:a16="http://schemas.microsoft.com/office/drawing/2014/main" val="5654497"/>
                    </a:ext>
                  </a:extLst>
                </a:gridCol>
                <a:gridCol w="2391028">
                  <a:extLst>
                    <a:ext uri="{9D8B030D-6E8A-4147-A177-3AD203B41FA5}">
                      <a16:colId xmlns:a16="http://schemas.microsoft.com/office/drawing/2014/main" val="4114062400"/>
                    </a:ext>
                  </a:extLst>
                </a:gridCol>
                <a:gridCol w="3038222">
                  <a:extLst>
                    <a:ext uri="{9D8B030D-6E8A-4147-A177-3AD203B41FA5}">
                      <a16:colId xmlns:a16="http://schemas.microsoft.com/office/drawing/2014/main" val="3070054508"/>
                    </a:ext>
                  </a:extLst>
                </a:gridCol>
                <a:gridCol w="2402458">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smtClean="0"/>
                        <a:t>구조 </a:t>
                      </a:r>
                      <a:r>
                        <a:rPr lang="en-US" altLang="ko-KR" sz="1200" b="1" baseline="0" dirty="0" smtClean="0">
                          <a:solidFill>
                            <a:srgbClr val="0000FF"/>
                          </a:solidFill>
                        </a:rPr>
                        <a:t>+ </a:t>
                      </a:r>
                      <a:r>
                        <a:rPr lang="ko-KR" altLang="en-US" sz="1200" b="1" baseline="0" dirty="0" smtClean="0">
                          <a:solidFill>
                            <a:srgbClr val="0000FF"/>
                          </a:solidFill>
                        </a:rPr>
                        <a:t>결과 캐시 </a:t>
                      </a:r>
                      <a:r>
                        <a:rPr lang="en-US" altLang="ko-KR" sz="1200" b="1" baseline="0" dirty="0" smtClean="0">
                          <a:solidFill>
                            <a:srgbClr val="0000FF"/>
                          </a:solidFill>
                        </a:rPr>
                        <a:t>+ </a:t>
                      </a:r>
                      <a:r>
                        <a:rPr lang="ko-KR" altLang="en-US" sz="1200" b="1" baseline="0" dirty="0" smtClean="0">
                          <a:solidFill>
                            <a:srgbClr val="0000FF"/>
                          </a:solidFill>
                        </a:rPr>
                        <a:t>요청 병합</a:t>
                      </a:r>
                      <a:endParaRPr lang="en-US" altLang="ko-KR" sz="1050" b="1" kern="1200" baseline="0" dirty="0">
                        <a:solidFill>
                          <a:srgbClr val="0000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a:t>
                      </a:r>
                      <a:r>
                        <a:rPr lang="en-US" altLang="ko-KR" sz="1200" b="1" baseline="0" dirty="0"/>
                        <a:t> </a:t>
                      </a:r>
                      <a:r>
                        <a:rPr lang="ko-KR" altLang="en-US" sz="1200" b="1" baseline="0" dirty="0">
                          <a:solidFill>
                            <a:schemeClr val="accent2"/>
                          </a:solidFill>
                        </a:rPr>
                        <a:t>분석 </a:t>
                      </a:r>
                      <a:r>
                        <a:rPr lang="en-US" altLang="ko-KR" sz="1200" b="1" baseline="0" dirty="0">
                          <a:solidFill>
                            <a:schemeClr val="accent2"/>
                          </a:solidFill>
                        </a:rPr>
                        <a:t>1</a:t>
                      </a:r>
                      <a:r>
                        <a:rPr lang="ko-KR" altLang="en-US" sz="1200" b="1" baseline="0" dirty="0">
                          <a:solidFill>
                            <a:schemeClr val="accent2"/>
                          </a:solidFill>
                        </a:rPr>
                        <a:t>회 </a:t>
                      </a:r>
                      <a:r>
                        <a:rPr lang="en-US" altLang="ko-KR" sz="1200" b="1" baseline="0" dirty="0">
                          <a:solidFill>
                            <a:schemeClr val="accent2"/>
                          </a:solidFill>
                        </a:rPr>
                        <a:t>+ </a:t>
                      </a:r>
                      <a:r>
                        <a:rPr lang="ko-KR" altLang="en-US" sz="1200" b="1" baseline="0" dirty="0" err="1">
                          <a:solidFill>
                            <a:schemeClr val="accent2"/>
                          </a:solidFill>
                        </a:rPr>
                        <a:t>요청마다</a:t>
                      </a:r>
                      <a:r>
                        <a:rPr lang="ko-KR" altLang="en-US" sz="1200" b="1" baseline="0" dirty="0">
                          <a:solidFill>
                            <a:schemeClr val="accent2"/>
                          </a:solidFill>
                        </a:rPr>
                        <a:t> 조회 </a:t>
                      </a:r>
                      <a:endParaRPr lang="ko-KR" altLang="en-US" sz="1200" b="1" dirty="0">
                        <a:solidFill>
                          <a:schemeClr val="accent2"/>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290946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실제</a:t>
                      </a:r>
                      <a:r>
                        <a:rPr lang="en-US" altLang="ko-KR" sz="1200" strike="noStrike" baseline="0" dirty="0" smtClean="0">
                          <a:effectLst/>
                        </a:rPr>
                        <a:t> </a:t>
                      </a:r>
                      <a:r>
                        <a:rPr lang="en-US" altLang="ko-KR" sz="1200" strike="noStrike" baseline="0" dirty="0">
                          <a:effectLst/>
                        </a:rPr>
                        <a:t>Query</a:t>
                      </a:r>
                      <a:r>
                        <a:rPr lang="ko-KR" altLang="en-US" sz="1200" strike="noStrike" baseline="0" dirty="0">
                          <a:effectLst/>
                        </a:rPr>
                        <a:t>를 반영해 재계산 토큰을 선정하므로 정확도 확보 유리 </a:t>
                      </a:r>
                      <a:r>
                        <a:rPr lang="en-US" altLang="ko-KR" sz="1200" strike="noStrike" baseline="0" dirty="0">
                          <a:effectLst/>
                        </a:rPr>
                        <a:t>(Q5</a:t>
                      </a:r>
                      <a:r>
                        <a:rPr lang="en-US" altLang="ko-KR" sz="1200" strike="noStrike" baseline="0" dirty="0" smtClean="0">
                          <a:effectLst/>
                        </a:rPr>
                        <a: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선정 정책 변경 시 해당 필터 </a:t>
                      </a:r>
                      <a:r>
                        <a:rPr lang="en-US" altLang="ko-KR" sz="1200" strike="noStrike" baseline="0" dirty="0" smtClean="0">
                          <a:effectLst/>
                        </a:rPr>
                        <a:t>1</a:t>
                      </a:r>
                      <a:r>
                        <a:rPr lang="ko-KR" altLang="en-US" sz="1200" strike="noStrike" baseline="0" dirty="0" smtClean="0">
                          <a:effectLst/>
                        </a:rPr>
                        <a:t>개만 교체</a:t>
                      </a:r>
                      <a:r>
                        <a:rPr lang="en-US" altLang="ko-KR" sz="1200" strike="noStrike" baseline="0" dirty="0" smtClean="0">
                          <a:effectLst/>
                        </a:rPr>
                        <a:t>, </a:t>
                      </a:r>
                      <a:r>
                        <a:rPr lang="ko-KR" altLang="en-US" sz="1200" strike="noStrike" baseline="0" dirty="0" smtClean="0">
                          <a:effectLst/>
                        </a:rPr>
                        <a:t>사전 저장 데이터가 없어 재생성 불필요 </a:t>
                      </a:r>
                      <a:r>
                        <a:rPr lang="en-US" altLang="ko-KR" sz="1200" strike="noStrike" baseline="0" dirty="0" smtClean="0">
                          <a:effectLst/>
                        </a:rPr>
                        <a:t>(Q4)</a:t>
                      </a:r>
                      <a:endParaRPr lang="en-US" altLang="ko-KR" sz="1200" strike="noStrike" baseline="0" dirty="0">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a:t>
                      </a:r>
                      <a:r>
                        <a:rPr lang="ko-KR" altLang="en-US" sz="1200" b="0" i="0" dirty="0" smtClean="0">
                          <a:solidFill>
                            <a:srgbClr val="404040"/>
                          </a:solidFill>
                          <a:latin typeface="+mn-lt"/>
                          <a:ea typeface="맑은 고딕"/>
                        </a:rPr>
                        <a:t>절감 </a:t>
                      </a:r>
                      <a:r>
                        <a:rPr lang="en-US" altLang="ko-KR" sz="1200" b="0" i="0" dirty="0" smtClean="0">
                          <a:solidFill>
                            <a:srgbClr val="404040"/>
                          </a:solidFill>
                          <a:latin typeface="+mn-lt"/>
                          <a:ea typeface="맑은 고딕"/>
                        </a:rPr>
                        <a:t>(</a:t>
                      </a:r>
                      <a:r>
                        <a:rPr lang="en-US" altLang="ko-KR" sz="1200" b="0" i="0" dirty="0">
                          <a:solidFill>
                            <a:srgbClr val="404040"/>
                          </a:solidFill>
                          <a:latin typeface="+mn-lt"/>
                          <a:ea typeface="맑은 고딕"/>
                        </a:rPr>
                        <a:t>Q1</a:t>
                      </a:r>
                      <a:r>
                        <a:rPr lang="en-US" altLang="ko-KR" sz="1200" b="0" i="0" dirty="0" smtClean="0">
                          <a:solidFill>
                            <a:srgbClr val="404040"/>
                          </a:solidFill>
                          <a:latin typeface="+mn-lt"/>
                          <a:ea typeface="맑은 고딕"/>
                        </a:rPr>
                        <a:t>)</a:t>
                      </a:r>
                      <a:endParaRPr lang="en-US" altLang="ko-KR" sz="120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a:t>
                      </a:r>
                      <a:r>
                        <a:rPr lang="ko-KR" altLang="en-US" sz="1200" strike="noStrike" baseline="0" dirty="0" smtClean="0">
                          <a:effectLst/>
                        </a:rPr>
                        <a:t>발생 </a:t>
                      </a:r>
                      <a:r>
                        <a:rPr lang="en-US" altLang="ko-KR" sz="1200" strike="noStrike" baseline="0" dirty="0" smtClean="0">
                          <a:effectLst/>
                        </a:rPr>
                        <a:t>(</a:t>
                      </a:r>
                      <a:r>
                        <a:rPr lang="en-US" altLang="ko-KR" sz="1200" strike="noStrike" baseline="0" dirty="0">
                          <a:effectLst/>
                        </a:rPr>
                        <a:t>Q1</a:t>
                      </a:r>
                      <a:r>
                        <a:rPr lang="en-US" altLang="ko-KR" sz="1200" strike="noStrike" baseline="0" dirty="0" smtClean="0">
                          <a:effectLst/>
                        </a:rPr>
                        <a:t>)</a:t>
                      </a:r>
                    </a:p>
                    <a:p>
                      <a:pPr marL="0" indent="0" latinLnBrk="1">
                        <a:lnSpc>
                          <a:spcPct val="100000"/>
                        </a:lnSpc>
                        <a:buFont typeface="Wingdings" panose="05000000000000000000" pitchFamily="2" charset="2"/>
                        <a:buNone/>
                      </a:pPr>
                      <a:r>
                        <a:rPr lang="en-US" altLang="ko-KR" sz="1200" strike="noStrike" baseline="0" dirty="0" smtClean="0">
                          <a:solidFill>
                            <a:srgbClr val="0000FF"/>
                          </a:solidFill>
                          <a:effectLst/>
                          <a:latin typeface="맑은 고딕" panose="020B0503020000020004" pitchFamily="50" charset="-127"/>
                          <a:ea typeface="맑은 고딕" panose="020B0503020000020004" pitchFamily="50" charset="-127"/>
                        </a:rPr>
                        <a:t>→</a:t>
                      </a:r>
                      <a:r>
                        <a:rPr lang="en-US" altLang="ko-KR" sz="1200" strike="noStrike" baseline="0" dirty="0" smtClean="0">
                          <a:solidFill>
                            <a:srgbClr val="0000FF"/>
                          </a:solidFill>
                          <a:effectLst/>
                        </a:rPr>
                        <a:t> </a:t>
                      </a:r>
                      <a:r>
                        <a:rPr lang="ko-KR" altLang="en-US" sz="1200" strike="noStrike" baseline="0" dirty="0" smtClean="0">
                          <a:solidFill>
                            <a:srgbClr val="0000FF"/>
                          </a:solidFill>
                          <a:effectLst/>
                        </a:rPr>
                        <a:t>동일 서명 요청은 </a:t>
                      </a:r>
                      <a:r>
                        <a:rPr lang="en-US" altLang="ko-KR" sz="1200" strike="noStrike" baseline="0" dirty="0" smtClean="0">
                          <a:solidFill>
                            <a:srgbClr val="0000FF"/>
                          </a:solidFill>
                          <a:effectLst/>
                        </a:rPr>
                        <a:t>3</a:t>
                      </a:r>
                      <a:r>
                        <a:rPr lang="ko-KR" altLang="en-US" sz="1200" strike="noStrike" baseline="0" dirty="0" smtClean="0">
                          <a:solidFill>
                            <a:srgbClr val="0000FF"/>
                          </a:solidFill>
                          <a:effectLst/>
                        </a:rPr>
                        <a:t>단계를 건너뛰어</a:t>
                      </a:r>
                      <a:r>
                        <a:rPr lang="en-US" altLang="ko-KR" sz="1200" strike="noStrike" baseline="0" dirty="0" smtClean="0">
                          <a:solidFill>
                            <a:srgbClr val="0000FF"/>
                          </a:solidFill>
                          <a:effectLst/>
                        </a:rPr>
                        <a:t> </a:t>
                      </a:r>
                      <a:r>
                        <a:rPr lang="ko-KR" altLang="en-US" sz="1200" strike="noStrike" baseline="0" dirty="0" smtClean="0">
                          <a:solidFill>
                            <a:srgbClr val="0000FF"/>
                          </a:solidFill>
                          <a:effectLst/>
                        </a:rPr>
                        <a:t>중복 계산 방지 </a:t>
                      </a:r>
                      <a:endParaRPr lang="en-US" altLang="ko-KR" sz="1200" strike="noStrike" baseline="0" dirty="0" smtClean="0">
                        <a:solidFill>
                          <a:srgbClr val="0000FF"/>
                        </a:solidFill>
                        <a:effectLst/>
                      </a:endParaRPr>
                    </a:p>
                    <a:p>
                      <a:pPr marL="0" indent="0" latinLnBrk="1">
                        <a:lnSpc>
                          <a:spcPct val="100000"/>
                        </a:lnSpc>
                        <a:buFont typeface="Wingdings" panose="05000000000000000000" pitchFamily="2" charset="2"/>
                        <a:buNone/>
                      </a:pPr>
                      <a:r>
                        <a:rPr lang="en-US" altLang="ko-KR" sz="1200" strike="noStrike" baseline="0" dirty="0" smtClean="0">
                          <a:solidFill>
                            <a:srgbClr val="0000FF"/>
                          </a:solidFill>
                          <a:effectLst/>
                          <a:latin typeface="맑은 고딕" panose="020B0503020000020004" pitchFamily="50" charset="-127"/>
                          <a:ea typeface="+mn-ea"/>
                        </a:rPr>
                        <a:t>→</a:t>
                      </a:r>
                      <a:r>
                        <a:rPr lang="en-US" altLang="ko-KR" sz="1200" strike="noStrike" baseline="0" dirty="0" smtClean="0">
                          <a:solidFill>
                            <a:srgbClr val="0000FF"/>
                          </a:solidFill>
                          <a:effectLst/>
                        </a:rPr>
                        <a:t> Miss </a:t>
                      </a:r>
                      <a:r>
                        <a:rPr lang="ko-KR" altLang="en-US" sz="1200" strike="noStrike" baseline="0" dirty="0" smtClean="0">
                          <a:solidFill>
                            <a:srgbClr val="0000FF"/>
                          </a:solidFill>
                          <a:effectLst/>
                        </a:rPr>
                        <a:t>요청도 </a:t>
                      </a:r>
                      <a:r>
                        <a:rPr lang="en-US" altLang="ko-KR" sz="1200" strike="noStrike" baseline="0" dirty="0" smtClean="0">
                          <a:solidFill>
                            <a:srgbClr val="0000FF"/>
                          </a:solidFill>
                          <a:effectLst/>
                        </a:rPr>
                        <a:t>Chain Batcher</a:t>
                      </a:r>
                      <a:r>
                        <a:rPr lang="ko-KR" altLang="en-US" sz="1200" strike="noStrike" baseline="0" dirty="0" smtClean="0">
                          <a:solidFill>
                            <a:srgbClr val="0000FF"/>
                          </a:solidFill>
                          <a:effectLst/>
                        </a:rPr>
                        <a:t>로 묶어 체인 </a:t>
                      </a:r>
                      <a:r>
                        <a:rPr lang="en-US" altLang="ko-KR" sz="1200" strike="noStrike" baseline="0" dirty="0" smtClean="0">
                          <a:solidFill>
                            <a:srgbClr val="0000FF"/>
                          </a:solidFill>
                          <a:effectLst/>
                        </a:rPr>
                        <a:t>1</a:t>
                      </a:r>
                      <a:r>
                        <a:rPr lang="ko-KR" altLang="en-US" sz="1200" strike="noStrike" baseline="0" dirty="0" smtClean="0">
                          <a:solidFill>
                            <a:srgbClr val="0000FF"/>
                          </a:solidFill>
                          <a:effectLst/>
                        </a:rPr>
                        <a:t>회 처리</a:t>
                      </a:r>
                      <a:r>
                        <a:rPr lang="en-US" altLang="ko-KR" sz="1200" strike="noStrike" baseline="0" dirty="0" smtClean="0">
                          <a:solidFill>
                            <a:srgbClr val="0000FF"/>
                          </a:solidFill>
                          <a:effectLst/>
                          <a:latin typeface="맑은 고딕" panose="020B0503020000020004" pitchFamily="50" charset="-127"/>
                          <a:ea typeface="+mn-ea"/>
                        </a:rPr>
                        <a:t>→</a:t>
                      </a:r>
                      <a:r>
                        <a:rPr lang="ko-KR" altLang="en-US" sz="1200" strike="noStrike" baseline="0" dirty="0" smtClean="0">
                          <a:solidFill>
                            <a:srgbClr val="0000FF"/>
                          </a:solidFill>
                          <a:effectLst/>
                          <a:latin typeface="맑은 고딕" panose="020B0503020000020004" pitchFamily="50" charset="-127"/>
                          <a:ea typeface="+mn-ea"/>
                        </a:rPr>
                        <a:t>중복 처리 방지 </a:t>
                      </a:r>
                      <a:endParaRPr lang="en-US" altLang="ko-KR" sz="1200" strike="noStrike" baseline="0" dirty="0" smtClean="0">
                        <a:solidFill>
                          <a:srgbClr val="0000FF"/>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사전 </a:t>
                      </a:r>
                      <a:r>
                        <a:rPr lang="ko-KR" altLang="en-US" sz="1200" strike="noStrike" baseline="0" dirty="0">
                          <a:effectLst/>
                        </a:rPr>
                        <a:t>선정된 재계산 </a:t>
                      </a:r>
                      <a:r>
                        <a:rPr lang="ko-KR" altLang="en-US" sz="1200" strike="noStrike" baseline="0" dirty="0" smtClean="0">
                          <a:effectLst/>
                        </a:rPr>
                        <a:t>위치가 </a:t>
                      </a:r>
                      <a:r>
                        <a:rPr lang="en-US" altLang="ko-KR" sz="1200" strike="noStrike" baseline="0" dirty="0" smtClean="0">
                          <a:effectLst/>
                        </a:rPr>
                        <a:t>Query</a:t>
                      </a:r>
                      <a:r>
                        <a:rPr lang="ko-KR" altLang="en-US" sz="1200" strike="noStrike" baseline="0" dirty="0" smtClean="0">
                          <a:effectLst/>
                        </a:rPr>
                        <a:t>와 부합하지 않는 경우 </a:t>
                      </a:r>
                      <a:r>
                        <a:rPr lang="ko-KR" altLang="en-US" sz="1200" strike="noStrike" baseline="0" dirty="0">
                          <a:effectLst/>
                        </a:rPr>
                        <a:t>정확도 저하 </a:t>
                      </a:r>
                      <a:r>
                        <a:rPr lang="en-US" altLang="ko-KR" sz="1200" strike="noStrike" baseline="0" dirty="0">
                          <a:effectLst/>
                        </a:rPr>
                        <a:t>(Q5)</a:t>
                      </a:r>
                      <a:r>
                        <a:rPr lang="ko-KR" altLang="en-US" sz="1200" strike="noStrike" baseline="0" dirty="0">
                          <a:effectLst/>
                        </a:rPr>
                        <a:t> </a:t>
                      </a:r>
                      <a:endParaRPr lang="en-US" altLang="ko-KR" sz="1200" strike="noStrike" baseline="0" dirty="0" smtClean="0">
                        <a:effectLst/>
                      </a:endParaRPr>
                    </a:p>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smtClean="0">
                          <a:effectLst/>
                        </a:rPr>
                        <a:t>선정 정책 변경 시 </a:t>
                      </a:r>
                      <a:r>
                        <a:rPr lang="en-US" altLang="ko-KR" sz="1200" strike="noStrike" baseline="0" dirty="0" smtClean="0">
                          <a:effectLst/>
                        </a:rPr>
                        <a:t>SR</a:t>
                      </a:r>
                      <a:r>
                        <a:rPr lang="ko-KR" altLang="en-US" sz="1200" strike="noStrike" baseline="0" dirty="0" smtClean="0">
                          <a:effectLst/>
                        </a:rPr>
                        <a:t> 스키마</a:t>
                      </a:r>
                      <a:r>
                        <a:rPr lang="en-US" altLang="ko-KR" sz="1200" strike="noStrike" baseline="0" dirty="0" smtClean="0">
                          <a:effectLst/>
                        </a:rPr>
                        <a:t>, Validator </a:t>
                      </a:r>
                      <a:r>
                        <a:rPr lang="ko-KR" altLang="en-US" sz="1200" strike="noStrike" baseline="0" dirty="0" smtClean="0">
                          <a:effectLst/>
                        </a:rPr>
                        <a:t>동반 수정 및 사전 분석 전량 재실행 필요 </a:t>
                      </a:r>
                      <a:r>
                        <a:rPr lang="en-US" altLang="ko-KR" sz="1200" strike="noStrike" baseline="0" dirty="0" smtClean="0">
                          <a:effectLst/>
                        </a:rPr>
                        <a:t>(Q4)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smtClean="0">
                          <a:solidFill>
                            <a:schemeClr val="tx1"/>
                          </a:solidFill>
                        </a:rPr>
                        <a:t>처리량</a:t>
                      </a:r>
                      <a:endParaRPr lang="en-US" altLang="ko-KR" sz="1200" b="0" strike="noStrike" dirty="0" smtClean="0">
                        <a:solidFill>
                          <a:schemeClr val="tx1"/>
                        </a:solidFill>
                      </a:endParaRPr>
                    </a:p>
                    <a:p>
                      <a:pPr marL="0" indent="0" latinLnBrk="1">
                        <a:lnSpc>
                          <a:spcPct val="100000"/>
                        </a:lnSpc>
                        <a:buFont typeface="Wingdings" panose="05000000000000000000" pitchFamily="2" charset="2"/>
                        <a:buNone/>
                      </a:pPr>
                      <a:r>
                        <a:rPr lang="en-US" altLang="ko-KR" sz="1200" b="0" strike="noStrike" dirty="0" smtClean="0">
                          <a:solidFill>
                            <a:schemeClr val="tx1"/>
                          </a:solidFill>
                        </a:rPr>
                        <a:t>Q4.</a:t>
                      </a:r>
                      <a:r>
                        <a:rPr lang="en-US" altLang="ko-KR" sz="1200" b="0" strike="noStrike" baseline="0" dirty="0" smtClean="0">
                          <a:solidFill>
                            <a:schemeClr val="tx1"/>
                          </a:solidFill>
                        </a:rPr>
                        <a:t> Modifiability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Q5</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srgbClr val="0000FF"/>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chemeClr val="tx1"/>
                          </a:solidFill>
                          <a:effectLst/>
                          <a:uLnTx/>
                          <a:uFillTx/>
                          <a:latin typeface="+mn-lt"/>
                          <a:ea typeface="맑은 고딕"/>
                          <a:cs typeface="+mn-cs"/>
                        </a:rPr>
                        <a:t>4.22 q/s (2.4x) </a:t>
                      </a:r>
                      <a:r>
                        <a:rPr kumimoji="0" lang="en-US" altLang="ko-KR" sz="900" b="0" i="0" u="none" strike="noStrike" kern="1200" cap="none" spc="0" normalizeH="0" baseline="0" noProof="0" dirty="0" smtClean="0">
                          <a:ln>
                            <a:noFill/>
                          </a:ln>
                          <a:solidFill>
                            <a:srgbClr val="0000FF"/>
                          </a:solidFill>
                          <a:effectLst/>
                          <a:uLnTx/>
                          <a:uFillTx/>
                          <a:latin typeface="+mn-lt"/>
                          <a:ea typeface="맑은 고딕"/>
                          <a:cs typeface="+mn-cs"/>
                        </a:rPr>
                        <a:t>→ 5.80 q/s (3.3x)</a:t>
                      </a:r>
                      <a:endParaRPr kumimoji="0" lang="en-US" altLang="ko-KR" sz="1200" b="0" i="0" u="none" strike="noStrike" kern="1200" cap="none" spc="0" normalizeH="0" baseline="0" noProof="0" dirty="0" smtClean="0">
                        <a:ln>
                          <a:noFill/>
                        </a:ln>
                        <a:solidFill>
                          <a:srgbClr val="0000FF"/>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srgbClr val="FF0000"/>
                          </a:solidFill>
                          <a:effectLst/>
                          <a:uLnTx/>
                          <a:uFillTx/>
                          <a:latin typeface="맑은 고딕" panose="020B0503020000020004" pitchFamily="50" charset="-127"/>
                          <a:ea typeface="맑은 고딕" panose="020B0503020000020004" pitchFamily="50" charset="-127"/>
                          <a:cs typeface="+mn-cs"/>
                        </a:rPr>
                        <a:t>◐</a:t>
                      </a: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1.25 m </a:t>
                      </a:r>
                      <a:r>
                        <a:rPr kumimoji="0" lang="en-US" altLang="ko-KR" sz="900" b="0" i="0" u="none" strike="noStrike" kern="1200" cap="none" spc="0" normalizeH="0" baseline="0" noProof="0" dirty="0" smtClean="0">
                          <a:ln>
                            <a:noFill/>
                          </a:ln>
                          <a:solidFill>
                            <a:srgbClr val="0000FF"/>
                          </a:solidFill>
                          <a:effectLst/>
                          <a:uLnTx/>
                          <a:uFillTx/>
                          <a:latin typeface="+mn-lt"/>
                          <a:ea typeface="맑은 고딕"/>
                          <a:cs typeface="+mn-cs"/>
                        </a:rPr>
                        <a:t>→ </a:t>
                      </a:r>
                      <a:r>
                        <a:rPr kumimoji="0" lang="en-US" altLang="ko-KR" sz="900" b="0" i="0" u="none" strike="noStrike" kern="1200" cap="none" spc="0" normalizeH="0" baseline="0" noProof="0" dirty="0" smtClean="0">
                          <a:ln>
                            <a:noFill/>
                          </a:ln>
                          <a:solidFill>
                            <a:srgbClr val="FF0000"/>
                          </a:solidFill>
                          <a:effectLst/>
                          <a:uLnTx/>
                          <a:uFillTx/>
                          <a:latin typeface="+mn-lt"/>
                          <a:ea typeface="맑은 고딕"/>
                          <a:cs typeface="+mn-cs"/>
                        </a:rPr>
                        <a:t>2.5 m</a:t>
                      </a:r>
                      <a:endParaRPr kumimoji="0" lang="en-US" altLang="ko-KR" sz="1200" b="0" i="0" u="none" strike="noStrike" kern="1200" cap="none" spc="0" normalizeH="0" baseline="0" noProof="0" dirty="0" smtClean="0">
                        <a:ln>
                          <a:noFill/>
                        </a:ln>
                        <a:solidFill>
                          <a:srgbClr val="FF0000"/>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56.25→56.10 % (-0.27%)</a:t>
                      </a:r>
                      <a:endParaRPr lang="en-US" altLang="ko-KR" sz="1200" b="0" dirty="0">
                        <a:solidFill>
                          <a:schemeClr val="accent5"/>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smtClean="0">
                          <a:solidFill>
                            <a:schemeClr val="tx1"/>
                          </a:solidFill>
                        </a:rPr>
                        <a:t>처리량</a:t>
                      </a:r>
                      <a:endParaRPr lang="en-US" altLang="ko-KR" sz="1200" b="0" strike="noStrike" dirty="0" smtClean="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Q4. Modifiability </a:t>
                      </a:r>
                      <a:endParaRPr lang="en-US" altLang="ko-KR" sz="1000" b="0" strike="noStrike" dirty="0" smtClean="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Q5</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1.76→7.39 q/s (4.2x)</a:t>
                      </a:r>
                      <a:endParaRPr kumimoji="0" lang="en-US" altLang="ko-KR" sz="900" b="0" i="0" u="none" strike="noStrike" kern="1200" cap="none" spc="0" normalizeH="0" baseline="0" noProof="0" dirty="0" smtClean="0">
                        <a:ln>
                          <a:noFill/>
                        </a:ln>
                        <a:solidFill>
                          <a:prstClr val="white">
                            <a:lumMod val="50000"/>
                          </a:prstClr>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3.75 m</a:t>
                      </a:r>
                      <a:endParaRPr kumimoji="0" lang="en-US" altLang="ko-KR" sz="11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56.25→55.86 % (-0.7%)</a:t>
                      </a:r>
                      <a:endPar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smtClean="0">
                <a:solidFill>
                  <a:srgbClr val="0000FF"/>
                </a:solidFill>
              </a:rPr>
              <a:t>보완 </a:t>
            </a:r>
            <a:r>
              <a:rPr lang="en-US" altLang="ko-KR" dirty="0" smtClean="0">
                <a:solidFill>
                  <a:srgbClr val="0000FF"/>
                </a:solidFill>
              </a:rPr>
              <a:t>Tactic</a:t>
            </a:r>
            <a:endParaRPr lang="ko-KR" altLang="en-US" strike="sngStrike" dirty="0">
              <a:solidFill>
                <a:srgbClr val="0000FF"/>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ko-KR" altLang="en-US" sz="1400" b="1" dirty="0" smtClean="0">
                <a:solidFill>
                  <a:schemeClr val="bg1"/>
                </a:solidFill>
              </a:rPr>
              <a:t>처리량</a:t>
            </a:r>
            <a:r>
              <a:rPr lang="en-US" altLang="ko-KR" sz="1400" b="1" dirty="0" smtClean="0">
                <a:solidFill>
                  <a:schemeClr val="bg1"/>
                </a:solidFill>
              </a:rPr>
              <a:t>, </a:t>
            </a:r>
            <a:r>
              <a:rPr lang="ko-KR" altLang="en-US" sz="1400" b="1" dirty="0" err="1" smtClean="0">
                <a:solidFill>
                  <a:schemeClr val="bg1"/>
                </a:solidFill>
              </a:rPr>
              <a:t>변경용이성</a:t>
            </a:r>
            <a:r>
              <a:rPr lang="en-US" altLang="ko-KR" sz="1400" b="1" dirty="0" smtClean="0">
                <a:solidFill>
                  <a:schemeClr val="bg1"/>
                </a:solidFill>
              </a:rPr>
              <a:t>, </a:t>
            </a:r>
            <a:r>
              <a:rPr lang="ko-KR" altLang="en-US" sz="1400" b="1" dirty="0" smtClean="0">
                <a:solidFill>
                  <a:schemeClr val="bg1"/>
                </a:solidFill>
              </a:rPr>
              <a:t>정확도를 고려하여 </a:t>
            </a:r>
            <a:r>
              <a:rPr lang="en-US" altLang="ko-KR" sz="1400" b="1" dirty="0">
                <a:solidFill>
                  <a:schemeClr val="bg1"/>
                </a:solidFill>
              </a:rPr>
              <a:t>KV </a:t>
            </a:r>
            <a:r>
              <a:rPr lang="ko-KR" altLang="en-US" sz="1400" b="1" dirty="0" err="1">
                <a:solidFill>
                  <a:schemeClr val="bg1"/>
                </a:solidFill>
              </a:rPr>
              <a:t>재사용률을</a:t>
            </a:r>
            <a:r>
              <a:rPr lang="ko-KR" altLang="en-US" sz="1400" b="1" dirty="0">
                <a:solidFill>
                  <a:schemeClr val="bg1"/>
                </a:solidFill>
              </a:rPr>
              <a:t> 높이는 구조 설계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ko-KR" altLang="en-US" sz="1100" dirty="0">
                <a:solidFill>
                  <a:srgbClr val="0000FF"/>
                </a:solidFill>
                <a:ea typeface="맑은 고딕"/>
              </a:rPr>
              <a:t>“같은 계산을 두 번 하지 </a:t>
            </a:r>
            <a:r>
              <a:rPr lang="ko-KR" altLang="en-US" sz="1100" dirty="0" smtClean="0">
                <a:solidFill>
                  <a:srgbClr val="0000FF"/>
                </a:solidFill>
                <a:ea typeface="맑은 고딕"/>
              </a:rPr>
              <a:t>않는다</a:t>
            </a:r>
            <a:r>
              <a:rPr lang="en-US" altLang="ko-KR" sz="1100" dirty="0">
                <a:solidFill>
                  <a:srgbClr val="0000FF"/>
                </a:solidFill>
                <a:ea typeface="맑은 고딕"/>
              </a:rPr>
              <a:t> </a:t>
            </a:r>
            <a:r>
              <a:rPr lang="en-US" altLang="ko-KR" sz="1100" dirty="0" smtClean="0">
                <a:solidFill>
                  <a:srgbClr val="0000FF"/>
                </a:solidFill>
                <a:ea typeface="맑은 고딕"/>
              </a:rPr>
              <a:t>- </a:t>
            </a:r>
            <a:r>
              <a:rPr lang="ko-KR" altLang="en-US" sz="1100" dirty="0" smtClean="0">
                <a:solidFill>
                  <a:srgbClr val="0000FF"/>
                </a:solidFill>
                <a:ea typeface="맑은 고딕"/>
              </a:rPr>
              <a:t>선정 </a:t>
            </a:r>
            <a:r>
              <a:rPr lang="ko-KR" altLang="en-US" sz="1100" dirty="0">
                <a:solidFill>
                  <a:srgbClr val="0000FF"/>
                </a:solidFill>
                <a:ea typeface="맑은 고딕"/>
              </a:rPr>
              <a:t>결과를 </a:t>
            </a:r>
            <a:r>
              <a:rPr lang="ko-KR" altLang="en-US" sz="1100" dirty="0" smtClean="0">
                <a:solidFill>
                  <a:srgbClr val="0000FF"/>
                </a:solidFill>
                <a:ea typeface="맑은 고딕"/>
              </a:rPr>
              <a:t>캐시</a:t>
            </a:r>
            <a:r>
              <a:rPr lang="en-US" altLang="ko-KR" sz="1100" dirty="0" smtClean="0">
                <a:solidFill>
                  <a:srgbClr val="0000FF"/>
                </a:solidFill>
                <a:ea typeface="맑은 고딕"/>
              </a:rPr>
              <a:t>, </a:t>
            </a:r>
            <a:r>
              <a:rPr lang="ko-KR" altLang="en-US" sz="1100" dirty="0" smtClean="0">
                <a:solidFill>
                  <a:srgbClr val="0000FF"/>
                </a:solidFill>
                <a:ea typeface="맑은 고딕"/>
              </a:rPr>
              <a:t>병합</a:t>
            </a:r>
            <a:r>
              <a:rPr lang="ko-KR" altLang="en-US" sz="1100" dirty="0">
                <a:solidFill>
                  <a:srgbClr val="0000FF"/>
                </a:solidFill>
                <a:ea typeface="맑은 고딕"/>
              </a:rPr>
              <a:t>”</a:t>
            </a:r>
            <a:endParaRPr lang="ko-KR" altLang="en-US" sz="1100" dirty="0">
              <a:solidFill>
                <a:srgbClr val="0000FF"/>
              </a:solidFill>
              <a:ea typeface="맑은 고딕"/>
            </a:endParaRPr>
          </a:p>
        </p:txBody>
      </p:sp>
      <p:sp>
        <p:nvSpPr>
          <p:cNvPr id="138" name="TextBox 137"/>
          <p:cNvSpPr txBox="1"/>
          <p:nvPr/>
        </p:nvSpPr>
        <p:spPr>
          <a:xfrm>
            <a:off x="6534149" y="1416420"/>
            <a:ext cx="5143327" cy="261610"/>
          </a:xfrm>
          <a:prstGeom prst="rect">
            <a:avLst/>
          </a:prstGeom>
          <a:noFill/>
        </p:spPr>
        <p:txBody>
          <a:bodyPr wrap="square" rtlCol="0">
            <a:spAutoFit/>
          </a:bodyPr>
          <a:lstStyle/>
          <a:p>
            <a:r>
              <a:rPr lang="en-US" altLang="ko-KR" sz="1100" dirty="0"/>
              <a:t>“</a:t>
            </a:r>
            <a:r>
              <a:rPr lang="ko-KR" altLang="en-US" sz="1100" dirty="0"/>
              <a:t>사전에 재사용</a:t>
            </a:r>
            <a:r>
              <a:rPr lang="en-US" altLang="ko-KR" sz="1100" dirty="0"/>
              <a:t>/</a:t>
            </a:r>
            <a:r>
              <a:rPr lang="ko-KR" altLang="en-US" sz="1100" dirty="0"/>
              <a:t>재계산 토큰 위치를 선정하고</a:t>
            </a:r>
            <a:r>
              <a:rPr lang="en-US" altLang="ko-KR" sz="1100" dirty="0"/>
              <a:t>, </a:t>
            </a:r>
            <a:r>
              <a:rPr lang="ko-KR" altLang="en-US" sz="1100" dirty="0"/>
              <a:t>요청은 이를 활용</a:t>
            </a:r>
            <a:r>
              <a:rPr lang="en-US" altLang="ko-KR" sz="1100" dirty="0"/>
              <a:t>＂</a:t>
            </a:r>
          </a:p>
        </p:txBody>
      </p:sp>
      <p:sp>
        <p:nvSpPr>
          <p:cNvPr id="164" name="Rectangle 45"/>
          <p:cNvSpPr/>
          <p:nvPr/>
        </p:nvSpPr>
        <p:spPr>
          <a:xfrm>
            <a:off x="6944231" y="2006664"/>
            <a:ext cx="671043" cy="32457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대표 쿼리 추출</a:t>
            </a:r>
            <a:endParaRPr sz="800" b="1" dirty="0">
              <a:solidFill>
                <a:srgbClr val="000000"/>
              </a:solidFill>
              <a:latin typeface="맑은 고딕"/>
              <a:ea typeface="맑은 고딕"/>
              <a:cs typeface="맑은 고딕"/>
            </a:endParaRPr>
          </a:p>
        </p:txBody>
      </p:sp>
      <p:cxnSp>
        <p:nvCxnSpPr>
          <p:cNvPr id="165" name="Connector 46"/>
          <p:cNvCxnSpPr/>
          <p:nvPr/>
        </p:nvCxnSpPr>
        <p:spPr>
          <a:xfrm>
            <a:off x="7615273" y="2179485"/>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6" name="Rectangle 47"/>
          <p:cNvSpPr/>
          <p:nvPr/>
        </p:nvSpPr>
        <p:spPr>
          <a:xfrm>
            <a:off x="7801674" y="2006664"/>
            <a:ext cx="671043" cy="32457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7" name="Connector 48"/>
          <p:cNvCxnSpPr/>
          <p:nvPr/>
        </p:nvCxnSpPr>
        <p:spPr>
          <a:xfrm>
            <a:off x="8472717"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8" name="Rectangle 49"/>
          <p:cNvSpPr/>
          <p:nvPr/>
        </p:nvSpPr>
        <p:spPr>
          <a:xfrm>
            <a:off x="8659117" y="2006664"/>
            <a:ext cx="671043" cy="324578"/>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9" name="Connector 50"/>
          <p:cNvCxnSpPr/>
          <p:nvPr/>
        </p:nvCxnSpPr>
        <p:spPr>
          <a:xfrm>
            <a:off x="9330160"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Rectangle 51"/>
          <p:cNvSpPr/>
          <p:nvPr/>
        </p:nvSpPr>
        <p:spPr>
          <a:xfrm>
            <a:off x="9516561" y="2006664"/>
            <a:ext cx="671043" cy="324578"/>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재계산 토큰 선정</a:t>
            </a:r>
            <a:endParaRPr lang="ko-KR" altLang="en-US" sz="800" b="1" dirty="0">
              <a:solidFill>
                <a:srgbClr val="000000"/>
              </a:solidFill>
              <a:ea typeface="맑은 고딕"/>
              <a:cs typeface="맑은 고딕"/>
            </a:endParaRPr>
          </a:p>
        </p:txBody>
      </p:sp>
      <p:sp>
        <p:nvSpPr>
          <p:cNvPr id="201" name="TextBox 200"/>
          <p:cNvSpPr txBox="1"/>
          <p:nvPr/>
        </p:nvSpPr>
        <p:spPr>
          <a:xfrm>
            <a:off x="9316765" y="2385506"/>
            <a:ext cx="560312"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write 1회</a:t>
            </a:r>
          </a:p>
        </p:txBody>
      </p:sp>
      <p:sp>
        <p:nvSpPr>
          <p:cNvPr id="230" name="TextBox 229"/>
          <p:cNvSpPr txBox="1"/>
          <p:nvPr/>
        </p:nvSpPr>
        <p:spPr>
          <a:xfrm>
            <a:off x="10485000" y="1731969"/>
            <a:ext cx="1473198" cy="186205"/>
          </a:xfrm>
          <a:prstGeom prst="rect">
            <a:avLst/>
          </a:prstGeom>
          <a:noFill/>
        </p:spPr>
        <p:txBody>
          <a:bodyPr wrap="square" lIns="45720" tIns="27432" rIns="45720" bIns="27432" anchor="t">
            <a:spAutoFit/>
          </a:bodyPr>
          <a:lstStyle/>
          <a:p>
            <a:pPr algn="l">
              <a:spcAft>
                <a:spcPts val="100"/>
              </a:spcAft>
            </a:pPr>
            <a:r>
              <a:rPr sz="850" b="1" dirty="0" err="1">
                <a:solidFill>
                  <a:schemeClr val="accent2">
                    <a:lumMod val="50000"/>
                  </a:schemeClr>
                </a:solidFill>
                <a:latin typeface="맑은 고딕"/>
                <a:ea typeface="맑은 고딕"/>
                <a:cs typeface="맑은 고딕"/>
              </a:rPr>
              <a:t>서빙</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경로에는</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SR만</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남음</a:t>
            </a:r>
            <a:endParaRPr sz="850" b="1" dirty="0">
              <a:solidFill>
                <a:schemeClr val="accent2">
                  <a:lumMod val="50000"/>
                </a:schemeClr>
              </a:solidFill>
              <a:latin typeface="맑은 고딕"/>
              <a:ea typeface="맑은 고딕"/>
              <a:cs typeface="맑은 고딕"/>
            </a:endParaRPr>
          </a:p>
        </p:txBody>
      </p:sp>
      <p:sp>
        <p:nvSpPr>
          <p:cNvPr id="97" name="Rectangle 51"/>
          <p:cNvSpPr/>
          <p:nvPr/>
        </p:nvSpPr>
        <p:spPr>
          <a:xfrm>
            <a:off x="11244427" y="2005839"/>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98" name="Rectangle 51"/>
          <p:cNvSpPr/>
          <p:nvPr/>
        </p:nvSpPr>
        <p:spPr>
          <a:xfrm>
            <a:off x="11244427" y="2449551"/>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108" name="Rectangle 51"/>
          <p:cNvSpPr/>
          <p:nvPr/>
        </p:nvSpPr>
        <p:spPr>
          <a:xfrm>
            <a:off x="11244427" y="2896448"/>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96" name="Rectangle 52"/>
          <p:cNvSpPr/>
          <p:nvPr/>
        </p:nvSpPr>
        <p:spPr>
          <a:xfrm>
            <a:off x="8521409" y="2544126"/>
            <a:ext cx="1836041" cy="355375"/>
          </a:xfrm>
          <a:prstGeom prst="rect">
            <a:avLst/>
          </a:prstGeom>
          <a:solidFill>
            <a:schemeClr val="bg1"/>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800" b="1" dirty="0">
                <a:solidFill>
                  <a:srgbClr val="000000"/>
                </a:solidFill>
                <a:latin typeface="맑은 고딕"/>
                <a:ea typeface="맑은 고딕"/>
                <a:cs typeface="맑은 고딕"/>
              </a:rPr>
              <a:t>Shared </a:t>
            </a:r>
            <a:r>
              <a:rPr sz="800" b="1" dirty="0">
                <a:solidFill>
                  <a:srgbClr val="000000"/>
                </a:solidFill>
                <a:latin typeface="맑은 고딕"/>
                <a:ea typeface="맑은 고딕"/>
                <a:cs typeface="맑은 고딕"/>
              </a:rPr>
              <a:t>Repository </a:t>
            </a:r>
            <a:endParaRPr lang="en-US" sz="800" b="1" dirty="0">
              <a:solidFill>
                <a:srgbClr val="000000"/>
              </a:solidFill>
              <a:latin typeface="맑은 고딕"/>
              <a:ea typeface="맑은 고딕"/>
              <a:cs typeface="맑은 고딕"/>
            </a:endParaRPr>
          </a:p>
          <a:p>
            <a:pPr algn="ctr">
              <a:spcAft>
                <a:spcPts val="200"/>
              </a:spcAft>
            </a:pPr>
            <a:r>
              <a:rPr lang="ko-KR" altLang="en-US" sz="700" b="1" dirty="0">
                <a:solidFill>
                  <a:schemeClr val="bg1">
                    <a:lumMod val="50000"/>
                  </a:schemeClr>
                </a:solidFill>
                <a:latin typeface="맑은 고딕"/>
                <a:ea typeface="맑은 고딕"/>
                <a:cs typeface="맑은 고딕"/>
              </a:rPr>
              <a:t>재사용 </a:t>
            </a:r>
            <a:r>
              <a:rPr lang="en-US" altLang="ko-KR" sz="700" b="1" dirty="0">
                <a:solidFill>
                  <a:schemeClr val="bg1">
                    <a:lumMod val="50000"/>
                  </a:schemeClr>
                </a:solidFill>
                <a:latin typeface="맑은 고딕"/>
                <a:ea typeface="맑은 고딕"/>
                <a:cs typeface="맑은 고딕"/>
              </a:rPr>
              <a:t>KV </a:t>
            </a:r>
            <a:r>
              <a:rPr lang="ko-KR" altLang="en-US" sz="700" b="1" dirty="0">
                <a:solidFill>
                  <a:schemeClr val="bg1">
                    <a:lumMod val="50000"/>
                  </a:schemeClr>
                </a:solidFill>
                <a:latin typeface="맑은 고딕"/>
                <a:ea typeface="맑은 고딕"/>
                <a:cs typeface="맑은 고딕"/>
              </a:rPr>
              <a:t>캐시</a:t>
            </a:r>
            <a:r>
              <a:rPr lang="en-US" altLang="ko-KR" sz="700" b="1" dirty="0">
                <a:solidFill>
                  <a:schemeClr val="bg1">
                    <a:lumMod val="50000"/>
                  </a:schemeClr>
                </a:solidFill>
                <a:latin typeface="맑은 고딕"/>
                <a:ea typeface="맑은 고딕"/>
                <a:cs typeface="맑은 고딕"/>
              </a:rPr>
              <a:t>, </a:t>
            </a:r>
            <a:r>
              <a:rPr sz="700" b="1" dirty="0" err="1">
                <a:solidFill>
                  <a:schemeClr val="bg1">
                    <a:lumMod val="50000"/>
                  </a:schemeClr>
                </a:solidFill>
                <a:latin typeface="맑은 고딕"/>
                <a:ea typeface="맑은 고딕"/>
                <a:cs typeface="맑은 고딕"/>
              </a:rPr>
              <a:t>재계산</a:t>
            </a:r>
            <a:r>
              <a:rPr lang="ko-KR" altLang="en-US" sz="700" b="1" dirty="0">
                <a:solidFill>
                  <a:schemeClr val="bg1">
                    <a:lumMod val="50000"/>
                  </a:schemeClr>
                </a:solidFill>
                <a:latin typeface="맑은 고딕"/>
                <a:ea typeface="맑은 고딕"/>
                <a:cs typeface="맑은 고딕"/>
              </a:rPr>
              <a:t> 토큰 </a:t>
            </a:r>
            <a:r>
              <a:rPr sz="700" b="1" dirty="0" err="1">
                <a:solidFill>
                  <a:schemeClr val="bg1">
                    <a:lumMod val="50000"/>
                  </a:schemeClr>
                </a:solidFill>
                <a:latin typeface="맑은 고딕"/>
                <a:ea typeface="맑은 고딕"/>
                <a:cs typeface="맑은 고딕"/>
              </a:rPr>
              <a:t>위치</a:t>
            </a:r>
            <a:r>
              <a:rPr lang="en-US" sz="700" b="1" dirty="0">
                <a:solidFill>
                  <a:schemeClr val="bg1">
                    <a:lumMod val="50000"/>
                  </a:schemeClr>
                </a:solidFill>
                <a:latin typeface="맑은 고딕"/>
                <a:ea typeface="맑은 고딕"/>
                <a:cs typeface="맑은 고딕"/>
              </a:rPr>
              <a:t> </a:t>
            </a:r>
            <a:r>
              <a:rPr sz="700" b="1" dirty="0">
                <a:solidFill>
                  <a:schemeClr val="bg1">
                    <a:lumMod val="50000"/>
                  </a:schemeClr>
                </a:solidFill>
                <a:latin typeface="맑은 고딕"/>
                <a:ea typeface="맑은 고딕"/>
                <a:cs typeface="맑은 고딕"/>
              </a:rPr>
              <a:t> </a:t>
            </a:r>
          </a:p>
        </p:txBody>
      </p:sp>
      <p:cxnSp>
        <p:nvCxnSpPr>
          <p:cNvPr id="99" name="Connector 50"/>
          <p:cNvCxnSpPr/>
          <p:nvPr/>
        </p:nvCxnSpPr>
        <p:spPr>
          <a:xfrm flipH="1">
            <a:off x="9849482" y="2331242"/>
            <a:ext cx="2602" cy="222995"/>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 name="Connector 60"/>
          <p:cNvCxnSpPr/>
          <p:nvPr/>
        </p:nvCxnSpPr>
        <p:spPr>
          <a:xfrm flipV="1">
            <a:off x="10401111" y="2207098"/>
            <a:ext cx="322303" cy="397681"/>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Connector 60"/>
          <p:cNvCxnSpPr/>
          <p:nvPr/>
        </p:nvCxnSpPr>
        <p:spPr>
          <a:xfrm flipV="1">
            <a:off x="10421066" y="2684381"/>
            <a:ext cx="302348" cy="37890"/>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Connector 60"/>
          <p:cNvCxnSpPr/>
          <p:nvPr/>
        </p:nvCxnSpPr>
        <p:spPr>
          <a:xfrm>
            <a:off x="10402923" y="2795475"/>
            <a:ext cx="310995" cy="275207"/>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10354138" y="1963078"/>
            <a:ext cx="501541"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read × N</a:t>
            </a:r>
          </a:p>
        </p:txBody>
      </p:sp>
      <p:sp>
        <p:nvSpPr>
          <p:cNvPr id="128" name="Rectangle 55"/>
          <p:cNvSpPr/>
          <p:nvPr/>
        </p:nvSpPr>
        <p:spPr>
          <a:xfrm>
            <a:off x="7556409" y="2580393"/>
            <a:ext cx="662975" cy="339501"/>
          </a:xfrm>
          <a:prstGeom prst="rect">
            <a:avLst/>
          </a:prstGeom>
          <a:solidFill>
            <a:srgbClr val="F0D8FA"/>
          </a:solidFill>
          <a:ln w="15240">
            <a:solidFill>
              <a:schemeClr val="bg1">
                <a:lumMod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800" dirty="0">
                <a:solidFill>
                  <a:schemeClr val="tx1"/>
                </a:solidFill>
                <a:ea typeface="맑은 고딕"/>
                <a:cs typeface="맑은 고딕"/>
              </a:rPr>
              <a:t>Validator</a:t>
            </a:r>
            <a:endParaRPr sz="800" b="1" dirty="0">
              <a:solidFill>
                <a:schemeClr val="tx1"/>
              </a:solidFill>
              <a:latin typeface="맑은 고딕"/>
              <a:ea typeface="맑은 고딕"/>
              <a:cs typeface="맑은 고딕"/>
            </a:endParaRPr>
          </a:p>
        </p:txBody>
      </p:sp>
      <p:cxnSp>
        <p:nvCxnSpPr>
          <p:cNvPr id="129" name="Connector 46"/>
          <p:cNvCxnSpPr>
            <a:stCxn id="128" idx="3"/>
            <a:endCxn id="96" idx="1"/>
          </p:cNvCxnSpPr>
          <p:nvPr/>
        </p:nvCxnSpPr>
        <p:spPr>
          <a:xfrm>
            <a:off x="8219384" y="2720433"/>
            <a:ext cx="302025" cy="1381"/>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2" name="모서리가 둥근 직사각형 81"/>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3"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4" name="모서리가 둥근 직사각형 37">
            <a:extLst>
              <a:ext uri="{FF2B5EF4-FFF2-40B4-BE49-F238E27FC236}">
                <a16:creationId xmlns:a16="http://schemas.microsoft.com/office/drawing/2014/main" id="{E99FD0CC-4F44-40AB-8E8E-E5E878FDD956}"/>
              </a:ext>
            </a:extLst>
          </p:cNvPr>
          <p:cNvSpPr/>
          <p:nvPr/>
        </p:nvSpPr>
        <p:spPr>
          <a:xfrm>
            <a:off x="9430793" y="808072"/>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5" name="모서리가 둥근 직사각형 37">
            <a:extLst>
              <a:ext uri="{FF2B5EF4-FFF2-40B4-BE49-F238E27FC236}">
                <a16:creationId xmlns:a16="http://schemas.microsoft.com/office/drawing/2014/main" id="{63E127C8-1374-4049-8A7A-84E9B191F365}"/>
              </a:ext>
            </a:extLst>
          </p:cNvPr>
          <p:cNvSpPr/>
          <p:nvPr/>
        </p:nvSpPr>
        <p:spPr>
          <a:xfrm>
            <a:off x="10320379" y="815469"/>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 용이성</a:t>
            </a:r>
          </a:p>
        </p:txBody>
      </p:sp>
      <p:sp>
        <p:nvSpPr>
          <p:cNvPr id="86" name="모서리가 둥근 직사각형 37">
            <a:extLst>
              <a:ext uri="{FF2B5EF4-FFF2-40B4-BE49-F238E27FC236}">
                <a16:creationId xmlns:a16="http://schemas.microsoft.com/office/drawing/2014/main" id="{8B476E63-C72E-465A-98C8-0CB6FC0C7249}"/>
              </a:ext>
            </a:extLst>
          </p:cNvPr>
          <p:cNvSpPr/>
          <p:nvPr/>
        </p:nvSpPr>
        <p:spPr>
          <a:xfrm>
            <a:off x="11209965" y="808072"/>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Q5 </a:t>
            </a:r>
            <a:r>
              <a:rPr lang="ko-KR" altLang="en-US" sz="700" dirty="0" smtClean="0">
                <a:latin typeface="맑은 고딕" panose="020B0503020000020004" pitchFamily="50" charset="-127"/>
              </a:rPr>
              <a:t>기능 정확성</a:t>
            </a:r>
            <a:endParaRPr lang="ko-KR" altLang="en-US" sz="700" dirty="0">
              <a:latin typeface="맑은 고딕" panose="020B0503020000020004" pitchFamily="50" charset="-127"/>
            </a:endParaRPr>
          </a:p>
        </p:txBody>
      </p:sp>
      <p:sp>
        <p:nvSpPr>
          <p:cNvPr id="88" name="모서리가 둥근 직사각형 87"/>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89" name="직사각형 88"/>
          <p:cNvSpPr/>
          <p:nvPr/>
        </p:nvSpPr>
        <p:spPr>
          <a:xfrm>
            <a:off x="7748353" y="1954240"/>
            <a:ext cx="2519397"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실행 단추: 앞으로 또는 다음으로 이동 78">
            <a:hlinkClick r:id="rId3" action="ppaction://hlinksldjump" highlightClick="1"/>
            <a:extLst>
              <a:ext uri="{FF2B5EF4-FFF2-40B4-BE49-F238E27FC236}">
                <a16:creationId xmlns:a16="http://schemas.microsoft.com/office/drawing/2014/main" id="{A9B537F6-0E71-4836-9264-18FD8A2D820D}"/>
              </a:ext>
            </a:extLst>
          </p:cNvPr>
          <p:cNvSpPr/>
          <p:nvPr/>
        </p:nvSpPr>
        <p:spPr>
          <a:xfrm>
            <a:off x="579340" y="617316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0" name="실행 단추: 앞으로 또는 다음 101">
            <a:hlinkClick r:id="rId4" action="ppaction://hlinksldjump" highlightClick="1"/>
            <a:extLst>
              <a:ext uri="{FF2B5EF4-FFF2-40B4-BE49-F238E27FC236}">
                <a16:creationId xmlns:a16="http://schemas.microsoft.com/office/drawing/2014/main" id="{2A1DD19D-8AA6-4544-B268-22B864A70D6E}"/>
              </a:ext>
            </a:extLst>
          </p:cNvPr>
          <p:cNvSpPr/>
          <p:nvPr/>
        </p:nvSpPr>
        <p:spPr>
          <a:xfrm>
            <a:off x="11686730"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실행 단추: 앞으로 또는 다음 101">
            <a:hlinkClick r:id="rId5" action="ppaction://hlinksldjump" highlightClick="1"/>
            <a:extLst>
              <a:ext uri="{FF2B5EF4-FFF2-40B4-BE49-F238E27FC236}">
                <a16:creationId xmlns:a16="http://schemas.microsoft.com/office/drawing/2014/main" id="{2A1DD19D-8AA6-4544-B268-22B864A70D6E}"/>
              </a:ext>
            </a:extLst>
          </p:cNvPr>
          <p:cNvSpPr/>
          <p:nvPr/>
        </p:nvSpPr>
        <p:spPr>
          <a:xfrm>
            <a:off x="6235098"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TextBox 91"/>
          <p:cNvSpPr txBox="1"/>
          <p:nvPr/>
        </p:nvSpPr>
        <p:spPr>
          <a:xfrm>
            <a:off x="10813929" y="2004177"/>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93" name="TextBox 92"/>
          <p:cNvSpPr txBox="1"/>
          <p:nvPr/>
        </p:nvSpPr>
        <p:spPr>
          <a:xfrm>
            <a:off x="10813929" y="2494120"/>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94" name="TextBox 93"/>
          <p:cNvSpPr txBox="1"/>
          <p:nvPr/>
        </p:nvSpPr>
        <p:spPr>
          <a:xfrm>
            <a:off x="10813929" y="2984064"/>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22" name="모서리가 둥근 직사각형 37">
            <a:extLst>
              <a:ext uri="{FF2B5EF4-FFF2-40B4-BE49-F238E27FC236}">
                <a16:creationId xmlns:a16="http://schemas.microsoft.com/office/drawing/2014/main" id="{476B6E1C-7561-417D-A669-4DEFCE610223}"/>
              </a:ext>
            </a:extLst>
          </p:cNvPr>
          <p:cNvSpPr/>
          <p:nvPr/>
        </p:nvSpPr>
        <p:spPr>
          <a:xfrm>
            <a:off x="7855986" y="801875"/>
            <a:ext cx="110413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smtClean="0">
                <a:latin typeface="맑은 고딕" panose="020B0503020000020004" pitchFamily="50" charset="-127"/>
              </a:rPr>
              <a:t>C2 </a:t>
            </a:r>
            <a:r>
              <a:rPr lang="ko-KR" altLang="en-US" sz="700" dirty="0" smtClean="0">
                <a:latin typeface="맑은 고딕" panose="020B0503020000020004" pitchFamily="50" charset="-127"/>
              </a:rPr>
              <a:t>모델 </a:t>
            </a:r>
            <a:r>
              <a:rPr lang="en-US" altLang="ko-KR" sz="700" dirty="0" smtClean="0">
                <a:latin typeface="맑은 고딕" panose="020B0503020000020004" pitchFamily="50" charset="-127"/>
              </a:rPr>
              <a:t>Context </a:t>
            </a:r>
            <a:r>
              <a:rPr lang="ko-KR" altLang="en-US" sz="700" dirty="0" smtClean="0">
                <a:latin typeface="맑은 고딕" panose="020B0503020000020004" pitchFamily="50" charset="-127"/>
              </a:rPr>
              <a:t>길이</a:t>
            </a:r>
            <a:endParaRPr lang="ko-KR" altLang="en-US" sz="700" dirty="0">
              <a:latin typeface="맑은 고딕" panose="020B0503020000020004" pitchFamily="50" charset="-127"/>
            </a:endParaRPr>
          </a:p>
        </p:txBody>
      </p:sp>
      <p:sp>
        <p:nvSpPr>
          <p:cNvPr id="123" name="모서리가 둥근 직사각형 37">
            <a:extLst>
              <a:ext uri="{FF2B5EF4-FFF2-40B4-BE49-F238E27FC236}">
                <a16:creationId xmlns:a16="http://schemas.microsoft.com/office/drawing/2014/main" id="{476B6E1C-7561-417D-A669-4DEFCE610223}"/>
              </a:ext>
            </a:extLst>
          </p:cNvPr>
          <p:cNvSpPr/>
          <p:nvPr/>
        </p:nvSpPr>
        <p:spPr>
          <a:xfrm>
            <a:off x="7872631"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grpSp>
        <p:nvGrpSpPr>
          <p:cNvPr id="7" name="그룹 6"/>
          <p:cNvGrpSpPr/>
          <p:nvPr/>
        </p:nvGrpSpPr>
        <p:grpSpPr>
          <a:xfrm>
            <a:off x="1203064" y="1836150"/>
            <a:ext cx="4932676" cy="1978590"/>
            <a:chOff x="1566793" y="2179730"/>
            <a:chExt cx="4484251" cy="1978590"/>
          </a:xfrm>
        </p:grpSpPr>
        <p:sp>
          <p:nvSpPr>
            <p:cNvPr id="95" name="TextBox 94"/>
            <p:cNvSpPr txBox="1"/>
            <p:nvPr/>
          </p:nvSpPr>
          <p:spPr>
            <a:xfrm>
              <a:off x="1566793" y="2530688"/>
              <a:ext cx="262310" cy="201168"/>
            </a:xfrm>
            <a:prstGeom prst="rect">
              <a:avLst/>
            </a:prstGeom>
            <a:noFill/>
          </p:spPr>
          <p:txBody>
            <a:bodyPr wrap="square" lIns="0" tIns="0" rIns="0" bIns="0" anchor="ctr">
              <a:spAutoFit/>
            </a:bodyPr>
            <a:lstStyle/>
            <a:p>
              <a:pPr algn="l"/>
              <a:r>
                <a:rPr sz="800" b="0" i="0" dirty="0">
                  <a:solidFill>
                    <a:srgbClr val="404040"/>
                  </a:solidFill>
                  <a:latin typeface="맑은 고딕"/>
                  <a:ea typeface="맑은 고딕"/>
                </a:rPr>
                <a:t>요청1</a:t>
              </a:r>
            </a:p>
          </p:txBody>
        </p:sp>
        <p:cxnSp>
          <p:nvCxnSpPr>
            <p:cNvPr id="100" name="Connector 68"/>
            <p:cNvCxnSpPr/>
            <p:nvPr/>
          </p:nvCxnSpPr>
          <p:spPr>
            <a:xfrm>
              <a:off x="1829103" y="2631272"/>
              <a:ext cx="74946"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1566793" y="2841583"/>
              <a:ext cx="262310" cy="201168"/>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요청2</a:t>
              </a:r>
            </a:p>
          </p:txBody>
        </p:sp>
        <p:cxnSp>
          <p:nvCxnSpPr>
            <p:cNvPr id="109" name="Connector 70"/>
            <p:cNvCxnSpPr/>
            <p:nvPr/>
          </p:nvCxnSpPr>
          <p:spPr>
            <a:xfrm>
              <a:off x="1829103" y="2942168"/>
              <a:ext cx="74946"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1566793" y="3152480"/>
              <a:ext cx="262310" cy="201168"/>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요청3</a:t>
              </a:r>
            </a:p>
          </p:txBody>
        </p:sp>
        <p:cxnSp>
          <p:nvCxnSpPr>
            <p:cNvPr id="111" name="Connector 72"/>
            <p:cNvCxnSpPr/>
            <p:nvPr/>
          </p:nvCxnSpPr>
          <p:spPr>
            <a:xfrm>
              <a:off x="1829103" y="3253064"/>
              <a:ext cx="74946"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2" name="Rectangle 73"/>
            <p:cNvSpPr/>
            <p:nvPr/>
          </p:nvSpPr>
          <p:spPr>
            <a:xfrm>
              <a:off x="1904049" y="2530688"/>
              <a:ext cx="1061731" cy="841248"/>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dirty="0" smtClean="0">
                  <a:solidFill>
                    <a:srgbClr val="7B1A1A"/>
                  </a:solidFill>
                  <a:latin typeface="맑은 고딕"/>
                  <a:ea typeface="맑은 고딕"/>
                </a:rPr>
                <a:t>Filter </a:t>
              </a:r>
              <a:r>
                <a:rPr sz="900" b="1" i="0" dirty="0">
                  <a:solidFill>
                    <a:srgbClr val="7B1A1A"/>
                  </a:solidFill>
                  <a:latin typeface="맑은 고딕"/>
                  <a:ea typeface="맑은 고딕"/>
                </a:rPr>
                <a:t>Result </a:t>
              </a:r>
              <a:r>
                <a:rPr sz="900" b="1" i="0" dirty="0" smtClean="0">
                  <a:solidFill>
                    <a:srgbClr val="7B1A1A"/>
                  </a:solidFill>
                  <a:latin typeface="맑은 고딕"/>
                  <a:ea typeface="맑은 고딕"/>
                </a:rPr>
                <a:t>Cache</a:t>
              </a:r>
              <a:endParaRPr sz="900" b="1" i="0" dirty="0">
                <a:solidFill>
                  <a:srgbClr val="7B1A1A"/>
                </a:solidFill>
                <a:latin typeface="맑은 고딕"/>
                <a:ea typeface="맑은 고딕"/>
              </a:endParaRPr>
            </a:p>
          </p:txBody>
        </p:sp>
        <p:sp>
          <p:nvSpPr>
            <p:cNvPr id="119" name="Rectangle 74"/>
            <p:cNvSpPr/>
            <p:nvPr/>
          </p:nvSpPr>
          <p:spPr>
            <a:xfrm>
              <a:off x="5426497" y="2567264"/>
              <a:ext cx="624547" cy="65836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1">
                  <a:solidFill>
                    <a:srgbClr val="000000"/>
                  </a:solidFill>
                  <a:ea typeface="맑은 고딕"/>
                  <a:cs typeface="맑은 고딕"/>
                </a:rPr>
                <a:t>선택적</a:t>
              </a:r>
            </a:p>
            <a:p>
              <a:pPr algn="ctr">
                <a:spcAft>
                  <a:spcPts val="200"/>
                </a:spcAft>
              </a:pPr>
              <a:r>
                <a:rPr sz="800" b="1">
                  <a:solidFill>
                    <a:srgbClr val="000000"/>
                  </a:solidFill>
                  <a:ea typeface="맑은 고딕"/>
                  <a:cs typeface="맑은 고딕"/>
                </a:rPr>
                <a:t>재계산</a:t>
              </a:r>
            </a:p>
          </p:txBody>
        </p:sp>
        <p:cxnSp>
          <p:nvCxnSpPr>
            <p:cNvPr id="124" name="Connector 75"/>
            <p:cNvCxnSpPr/>
            <p:nvPr/>
          </p:nvCxnSpPr>
          <p:spPr>
            <a:xfrm>
              <a:off x="2965779" y="2768432"/>
              <a:ext cx="2460718" cy="0"/>
            </a:xfrm>
            <a:prstGeom prst="line">
              <a:avLst/>
            </a:prstGeom>
            <a:ln w="1651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3328016" y="2615436"/>
              <a:ext cx="1498914" cy="123111"/>
            </a:xfrm>
            <a:prstGeom prst="rect">
              <a:avLst/>
            </a:prstGeom>
            <a:noFill/>
          </p:spPr>
          <p:txBody>
            <a:bodyPr wrap="square" lIns="0" tIns="0" rIns="0" bIns="0" anchor="ctr">
              <a:spAutoFit/>
            </a:bodyPr>
            <a:lstStyle/>
            <a:p>
              <a:pPr algn="l"/>
              <a:r>
                <a:rPr sz="800" b="1" i="0" dirty="0">
                  <a:solidFill>
                    <a:srgbClr val="7B1A1A"/>
                  </a:solidFill>
                  <a:latin typeface="맑은 고딕"/>
                  <a:ea typeface="맑은 고딕"/>
                </a:rPr>
                <a:t>hit — </a:t>
              </a:r>
              <a:r>
                <a:rPr sz="800" b="1" i="0" dirty="0" err="1">
                  <a:solidFill>
                    <a:srgbClr val="7B1A1A"/>
                  </a:solidFill>
                  <a:latin typeface="맑은 고딕"/>
                  <a:ea typeface="맑은 고딕"/>
                </a:rPr>
                <a:t>체인</a:t>
              </a:r>
              <a:r>
                <a:rPr sz="800" b="1" i="0" dirty="0">
                  <a:solidFill>
                    <a:srgbClr val="7B1A1A"/>
                  </a:solidFill>
                  <a:latin typeface="맑은 고딕"/>
                  <a:ea typeface="맑은 고딕"/>
                </a:rPr>
                <a:t> </a:t>
              </a:r>
              <a:r>
                <a:rPr sz="800" b="1" i="0" dirty="0" err="1">
                  <a:solidFill>
                    <a:srgbClr val="7B1A1A"/>
                  </a:solidFill>
                  <a:latin typeface="맑은 고딕"/>
                  <a:ea typeface="맑은 고딕"/>
                </a:rPr>
                <a:t>전체</a:t>
              </a:r>
              <a:r>
                <a:rPr sz="800" b="1" i="0" dirty="0">
                  <a:solidFill>
                    <a:srgbClr val="7B1A1A"/>
                  </a:solidFill>
                  <a:latin typeface="맑은 고딕"/>
                  <a:ea typeface="맑은 고딕"/>
                </a:rPr>
                <a:t> </a:t>
              </a:r>
              <a:r>
                <a:rPr sz="800" b="1" i="0" dirty="0" err="1">
                  <a:solidFill>
                    <a:srgbClr val="7B1A1A"/>
                  </a:solidFill>
                  <a:latin typeface="맑은 고딕"/>
                  <a:ea typeface="맑은 고딕"/>
                </a:rPr>
                <a:t>생략</a:t>
              </a:r>
              <a:endParaRPr sz="800" b="1" i="0" dirty="0">
                <a:solidFill>
                  <a:srgbClr val="7B1A1A"/>
                </a:solidFill>
                <a:latin typeface="맑은 고딕"/>
                <a:ea typeface="맑은 고딕"/>
              </a:endParaRPr>
            </a:p>
          </p:txBody>
        </p:sp>
        <p:cxnSp>
          <p:nvCxnSpPr>
            <p:cNvPr id="126" name="Connector 77"/>
            <p:cNvCxnSpPr/>
            <p:nvPr/>
          </p:nvCxnSpPr>
          <p:spPr>
            <a:xfrm>
              <a:off x="2434914" y="3371936"/>
              <a:ext cx="0" cy="201168"/>
            </a:xfrm>
            <a:prstGeom prst="line">
              <a:avLst/>
            </a:prstGeom>
            <a:ln w="1270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508594" y="3415536"/>
              <a:ext cx="374728" cy="123111"/>
            </a:xfrm>
            <a:prstGeom prst="rect">
              <a:avLst/>
            </a:prstGeom>
            <a:noFill/>
          </p:spPr>
          <p:txBody>
            <a:bodyPr wrap="square" lIns="0" tIns="0" rIns="0" bIns="0" anchor="ctr">
              <a:spAutoFit/>
            </a:bodyPr>
            <a:lstStyle/>
            <a:p>
              <a:pPr algn="l"/>
              <a:r>
                <a:rPr sz="800" b="1" i="0" dirty="0">
                  <a:solidFill>
                    <a:srgbClr val="7B1A1A"/>
                  </a:solidFill>
                  <a:latin typeface="맑은 고딕"/>
                  <a:ea typeface="맑은 고딕"/>
                </a:rPr>
                <a:t>miss</a:t>
              </a:r>
            </a:p>
          </p:txBody>
        </p:sp>
        <p:sp>
          <p:nvSpPr>
            <p:cNvPr id="130" name="Rectangle 79"/>
            <p:cNvSpPr/>
            <p:nvPr/>
          </p:nvSpPr>
          <p:spPr>
            <a:xfrm>
              <a:off x="1904049" y="3573104"/>
              <a:ext cx="1061731" cy="493776"/>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dirty="0" smtClean="0">
                  <a:solidFill>
                    <a:srgbClr val="7B1A1A"/>
                  </a:solidFill>
                  <a:latin typeface="맑은 고딕"/>
                  <a:ea typeface="맑은 고딕"/>
                </a:rPr>
                <a:t>Chain </a:t>
              </a:r>
              <a:r>
                <a:rPr sz="900" b="1" i="0" dirty="0">
                  <a:solidFill>
                    <a:srgbClr val="7B1A1A"/>
                  </a:solidFill>
                  <a:latin typeface="맑은 고딕"/>
                  <a:ea typeface="맑은 고딕"/>
                </a:rPr>
                <a:t>Batcher</a:t>
              </a:r>
            </a:p>
            <a:p>
              <a:pPr algn="ctr">
                <a:lnSpc>
                  <a:spcPct val="92000"/>
                </a:lnSpc>
              </a:pPr>
              <a:r>
                <a:rPr sz="700" b="0" i="0" dirty="0" err="1" smtClean="0">
                  <a:solidFill>
                    <a:srgbClr val="7B1A1A"/>
                  </a:solidFill>
                  <a:latin typeface="맑은 고딕"/>
                  <a:ea typeface="맑은 고딕"/>
                </a:rPr>
                <a:t>동일</a:t>
              </a:r>
              <a:r>
                <a:rPr sz="700" b="0" i="0" dirty="0" smtClean="0">
                  <a:solidFill>
                    <a:srgbClr val="7B1A1A"/>
                  </a:solidFill>
                  <a:latin typeface="맑은 고딕"/>
                  <a:ea typeface="맑은 고딕"/>
                </a:rPr>
                <a:t> </a:t>
              </a:r>
              <a:r>
                <a:rPr sz="700" b="0" i="0" dirty="0">
                  <a:solidFill>
                    <a:srgbClr val="7B1A1A"/>
                  </a:solidFill>
                  <a:latin typeface="맑은 고딕"/>
                  <a:ea typeface="맑은 고딕"/>
                </a:rPr>
                <a:t>KV </a:t>
              </a:r>
              <a:r>
                <a:rPr sz="700" b="0" i="0" dirty="0" err="1">
                  <a:solidFill>
                    <a:srgbClr val="7B1A1A"/>
                  </a:solidFill>
                  <a:latin typeface="맑은 고딕"/>
                  <a:ea typeface="맑은 고딕"/>
                </a:rPr>
                <a:t>블록</a:t>
              </a:r>
              <a:r>
                <a:rPr sz="700" b="0" i="0" dirty="0">
                  <a:solidFill>
                    <a:srgbClr val="7B1A1A"/>
                  </a:solidFill>
                  <a:latin typeface="맑은 고딕"/>
                  <a:ea typeface="맑은 고딕"/>
                </a:rPr>
                <a:t> </a:t>
              </a:r>
              <a:r>
                <a:rPr sz="700" b="0" i="0" dirty="0" err="1">
                  <a:solidFill>
                    <a:srgbClr val="7B1A1A"/>
                  </a:solidFill>
                  <a:latin typeface="맑은 고딕"/>
                  <a:ea typeface="맑은 고딕"/>
                </a:rPr>
                <a:t>요청</a:t>
              </a:r>
              <a:r>
                <a:rPr sz="700" b="0" i="0" dirty="0">
                  <a:solidFill>
                    <a:srgbClr val="7B1A1A"/>
                  </a:solidFill>
                  <a:latin typeface="맑은 고딕"/>
                  <a:ea typeface="맑은 고딕"/>
                </a:rPr>
                <a:t> </a:t>
              </a:r>
              <a:r>
                <a:rPr sz="700" b="0" i="0" dirty="0" err="1">
                  <a:solidFill>
                    <a:srgbClr val="7B1A1A"/>
                  </a:solidFill>
                  <a:latin typeface="맑은 고딕"/>
                  <a:ea typeface="맑은 고딕"/>
                </a:rPr>
                <a:t>병합</a:t>
              </a:r>
              <a:endParaRPr sz="700" b="0" i="0" dirty="0">
                <a:solidFill>
                  <a:srgbClr val="7B1A1A"/>
                </a:solidFill>
                <a:latin typeface="맑은 고딕"/>
                <a:ea typeface="맑은 고딕"/>
              </a:endParaRPr>
            </a:p>
          </p:txBody>
        </p:sp>
        <p:cxnSp>
          <p:nvCxnSpPr>
            <p:cNvPr id="140" name="Connector 83"/>
            <p:cNvCxnSpPr/>
            <p:nvPr/>
          </p:nvCxnSpPr>
          <p:spPr>
            <a:xfrm>
              <a:off x="2965779" y="3819992"/>
              <a:ext cx="149891" cy="0"/>
            </a:xfrm>
            <a:prstGeom prst="line">
              <a:avLst/>
            </a:prstGeom>
            <a:ln w="1270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84"/>
            <p:cNvCxnSpPr/>
            <p:nvPr/>
          </p:nvCxnSpPr>
          <p:spPr>
            <a:xfrm>
              <a:off x="3740218" y="3819992"/>
              <a:ext cx="124909"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85"/>
            <p:cNvCxnSpPr/>
            <p:nvPr/>
          </p:nvCxnSpPr>
          <p:spPr>
            <a:xfrm>
              <a:off x="4489675" y="3819992"/>
              <a:ext cx="124909"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ectangle 86"/>
            <p:cNvSpPr/>
            <p:nvPr/>
          </p:nvSpPr>
          <p:spPr>
            <a:xfrm>
              <a:off x="3053216" y="3481664"/>
              <a:ext cx="2248371" cy="676656"/>
            </a:xfrm>
            <a:prstGeom prst="rect">
              <a:avLst/>
            </a:prstGeom>
            <a:noFill/>
            <a:ln w="1143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46" name="Rectangle 87"/>
            <p:cNvSpPr/>
            <p:nvPr/>
          </p:nvSpPr>
          <p:spPr>
            <a:xfrm>
              <a:off x="3115669" y="3413084"/>
              <a:ext cx="1133963" cy="1325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80" b="1" i="0" dirty="0" err="1">
                  <a:solidFill>
                    <a:srgbClr val="C00000"/>
                  </a:solidFill>
                  <a:latin typeface="맑은 고딕"/>
                  <a:ea typeface="맑은 고딕"/>
                </a:rPr>
                <a:t>체인</a:t>
              </a:r>
              <a:r>
                <a:rPr sz="680" b="1" i="0" dirty="0">
                  <a:solidFill>
                    <a:srgbClr val="C00000"/>
                  </a:solidFill>
                  <a:latin typeface="맑은 고딕"/>
                  <a:ea typeface="맑은 고딕"/>
                </a:rPr>
                <a:t> 1회 — </a:t>
              </a:r>
              <a:r>
                <a:rPr sz="680" b="1" i="0" dirty="0" err="1">
                  <a:solidFill>
                    <a:srgbClr val="C00000"/>
                  </a:solidFill>
                  <a:latin typeface="맑은 고딕"/>
                  <a:ea typeface="맑은 고딕"/>
                </a:rPr>
                <a:t>요청</a:t>
              </a:r>
              <a:r>
                <a:rPr sz="680" b="1" i="0" dirty="0">
                  <a:solidFill>
                    <a:srgbClr val="C00000"/>
                  </a:solidFill>
                  <a:latin typeface="맑은 고딕"/>
                  <a:ea typeface="맑은 고딕"/>
                </a:rPr>
                <a:t> </a:t>
              </a:r>
              <a:r>
                <a:rPr sz="680" b="1" i="0" dirty="0" err="1">
                  <a:solidFill>
                    <a:srgbClr val="C00000"/>
                  </a:solidFill>
                  <a:latin typeface="맑은 고딕"/>
                  <a:ea typeface="맑은 고딕"/>
                </a:rPr>
                <a:t>수와</a:t>
              </a:r>
              <a:r>
                <a:rPr sz="680" b="1" i="0" dirty="0">
                  <a:solidFill>
                    <a:srgbClr val="C00000"/>
                  </a:solidFill>
                  <a:latin typeface="맑은 고딕"/>
                  <a:ea typeface="맑은 고딕"/>
                </a:rPr>
                <a:t> </a:t>
              </a:r>
              <a:r>
                <a:rPr sz="680" b="1" i="0" dirty="0" err="1">
                  <a:solidFill>
                    <a:srgbClr val="C00000"/>
                  </a:solidFill>
                  <a:latin typeface="맑은 고딕"/>
                  <a:ea typeface="맑은 고딕"/>
                </a:rPr>
                <a:t>무관</a:t>
              </a:r>
              <a:endParaRPr sz="680" b="1" i="0" dirty="0">
                <a:solidFill>
                  <a:srgbClr val="C00000"/>
                </a:solidFill>
                <a:latin typeface="맑은 고딕"/>
                <a:ea typeface="맑은 고딕"/>
              </a:endParaRPr>
            </a:p>
          </p:txBody>
        </p:sp>
        <p:cxnSp>
          <p:nvCxnSpPr>
            <p:cNvPr id="149" name="Connector 88"/>
            <p:cNvCxnSpPr/>
            <p:nvPr/>
          </p:nvCxnSpPr>
          <p:spPr>
            <a:xfrm>
              <a:off x="5239132" y="3819992"/>
              <a:ext cx="499638" cy="0"/>
            </a:xfrm>
            <a:prstGeom prst="line">
              <a:avLst/>
            </a:prstGeom>
            <a:ln w="127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151" name="Connector 89"/>
            <p:cNvCxnSpPr/>
            <p:nvPr/>
          </p:nvCxnSpPr>
          <p:spPr>
            <a:xfrm flipV="1">
              <a:off x="5738770" y="3225632"/>
              <a:ext cx="0" cy="59436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2" name="Connector 90"/>
            <p:cNvCxnSpPr/>
            <p:nvPr/>
          </p:nvCxnSpPr>
          <p:spPr>
            <a:xfrm flipV="1">
              <a:off x="4926859" y="2366096"/>
              <a:ext cx="0" cy="1207008"/>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156" name="Connector 91"/>
            <p:cNvCxnSpPr/>
            <p:nvPr/>
          </p:nvCxnSpPr>
          <p:spPr>
            <a:xfrm flipH="1">
              <a:off x="2434914" y="2366096"/>
              <a:ext cx="2491944" cy="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159" name="Connector 92"/>
            <p:cNvCxnSpPr/>
            <p:nvPr/>
          </p:nvCxnSpPr>
          <p:spPr>
            <a:xfrm>
              <a:off x="2434914" y="2366096"/>
              <a:ext cx="0" cy="164592"/>
            </a:xfrm>
            <a:prstGeom prst="line">
              <a:avLst/>
            </a:prstGeom>
            <a:ln w="12700">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62" name="TextBox 161"/>
            <p:cNvSpPr txBox="1"/>
            <p:nvPr/>
          </p:nvSpPr>
          <p:spPr>
            <a:xfrm>
              <a:off x="3719068" y="2179730"/>
              <a:ext cx="1623823" cy="123111"/>
            </a:xfrm>
            <a:prstGeom prst="rect">
              <a:avLst/>
            </a:prstGeom>
            <a:noFill/>
          </p:spPr>
          <p:txBody>
            <a:bodyPr wrap="square" lIns="0" tIns="0" rIns="0" bIns="0" anchor="ctr">
              <a:spAutoFit/>
            </a:bodyPr>
            <a:lstStyle/>
            <a:p>
              <a:pPr algn="l"/>
              <a:r>
                <a:rPr sz="800" b="0" i="0" dirty="0">
                  <a:solidFill>
                    <a:srgbClr val="7B1A1A"/>
                  </a:solidFill>
                  <a:latin typeface="맑은 고딕"/>
                  <a:ea typeface="맑은 고딕"/>
                </a:rPr>
                <a:t>write-back </a:t>
              </a:r>
              <a:r>
                <a:rPr lang="en-US" sz="800" dirty="0">
                  <a:solidFill>
                    <a:srgbClr val="7B1A1A"/>
                  </a:solidFill>
                  <a:latin typeface="맑은 고딕"/>
                  <a:ea typeface="맑은 고딕"/>
                </a:rPr>
                <a:t>(</a:t>
              </a:r>
              <a:r>
                <a:rPr sz="800" b="0" i="0" dirty="0" err="1" smtClean="0">
                  <a:solidFill>
                    <a:srgbClr val="7B1A1A"/>
                  </a:solidFill>
                  <a:latin typeface="맑은 고딕"/>
                  <a:ea typeface="맑은 고딕"/>
                </a:rPr>
                <a:t>다음</a:t>
              </a:r>
              <a:r>
                <a:rPr sz="800" b="0" i="0" dirty="0" smtClean="0">
                  <a:solidFill>
                    <a:srgbClr val="7B1A1A"/>
                  </a:solidFill>
                  <a:latin typeface="맑은 고딕"/>
                  <a:ea typeface="맑은 고딕"/>
                </a:rPr>
                <a:t> </a:t>
              </a:r>
              <a:r>
                <a:rPr sz="800" b="0" i="0" dirty="0" err="1">
                  <a:solidFill>
                    <a:srgbClr val="7B1A1A"/>
                  </a:solidFill>
                  <a:latin typeface="맑은 고딕"/>
                  <a:ea typeface="맑은 고딕"/>
                </a:rPr>
                <a:t>동일</a:t>
              </a:r>
              <a:r>
                <a:rPr sz="800" b="0" i="0" dirty="0">
                  <a:solidFill>
                    <a:srgbClr val="7B1A1A"/>
                  </a:solidFill>
                  <a:latin typeface="맑은 고딕"/>
                  <a:ea typeface="맑은 고딕"/>
                </a:rPr>
                <a:t> </a:t>
              </a:r>
              <a:r>
                <a:rPr sz="800" b="0" i="0" dirty="0" err="1">
                  <a:solidFill>
                    <a:srgbClr val="7B1A1A"/>
                  </a:solidFill>
                  <a:latin typeface="맑은 고딕"/>
                  <a:ea typeface="맑은 고딕"/>
                </a:rPr>
                <a:t>요청은</a:t>
              </a:r>
              <a:r>
                <a:rPr sz="800" b="0" i="0" dirty="0">
                  <a:solidFill>
                    <a:srgbClr val="7B1A1A"/>
                  </a:solidFill>
                  <a:latin typeface="맑은 고딕"/>
                  <a:ea typeface="맑은 고딕"/>
                </a:rPr>
                <a:t> </a:t>
              </a:r>
              <a:r>
                <a:rPr sz="800" b="0" i="0" dirty="0" smtClean="0">
                  <a:solidFill>
                    <a:srgbClr val="7B1A1A"/>
                  </a:solidFill>
                  <a:latin typeface="맑은 고딕"/>
                  <a:ea typeface="맑은 고딕"/>
                </a:rPr>
                <a:t>hit</a:t>
              </a:r>
              <a:r>
                <a:rPr lang="en-US" sz="800" dirty="0">
                  <a:solidFill>
                    <a:srgbClr val="7B1A1A"/>
                  </a:solidFill>
                  <a:latin typeface="맑은 고딕"/>
                  <a:ea typeface="맑은 고딕"/>
                </a:rPr>
                <a:t>)</a:t>
              </a:r>
              <a:endParaRPr sz="800" b="0" i="0" dirty="0">
                <a:solidFill>
                  <a:srgbClr val="7B1A1A"/>
                </a:solidFill>
                <a:latin typeface="맑은 고딕"/>
                <a:ea typeface="맑은 고딕"/>
              </a:endParaRPr>
            </a:p>
          </p:txBody>
        </p:sp>
      </p:grpSp>
      <p:sp>
        <p:nvSpPr>
          <p:cNvPr id="181" name="Rectangle 19"/>
          <p:cNvSpPr/>
          <p:nvPr/>
        </p:nvSpPr>
        <p:spPr>
          <a:xfrm>
            <a:off x="2933514" y="3319005"/>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sp>
        <p:nvSpPr>
          <p:cNvPr id="182" name="Rectangle 21"/>
          <p:cNvSpPr/>
          <p:nvPr/>
        </p:nvSpPr>
        <p:spPr>
          <a:xfrm>
            <a:off x="3767598" y="3319005"/>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sp>
        <p:nvSpPr>
          <p:cNvPr id="183" name="Rectangle 23"/>
          <p:cNvSpPr/>
          <p:nvPr/>
        </p:nvSpPr>
        <p:spPr>
          <a:xfrm>
            <a:off x="4559724" y="3319005"/>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smtClean="0">
                <a:solidFill>
                  <a:srgbClr val="000000"/>
                </a:solidFill>
                <a:latin typeface="맑은 고딕"/>
                <a:ea typeface="맑은 고딕"/>
                <a:cs typeface="맑은 고딕"/>
              </a:rPr>
              <a:t>재계산 </a:t>
            </a:r>
            <a:r>
              <a:rPr lang="ko-KR" altLang="en-US" sz="800" b="1" dirty="0">
                <a:solidFill>
                  <a:srgbClr val="000000"/>
                </a:solidFill>
                <a:latin typeface="맑은 고딕"/>
                <a:ea typeface="맑은 고딕"/>
                <a:cs typeface="맑은 고딕"/>
              </a:rPr>
              <a:t>토큰 선정</a:t>
            </a:r>
            <a:endParaRPr sz="800" b="1" dirty="0">
              <a:solidFill>
                <a:srgbClr val="000000"/>
              </a:solidFill>
              <a:latin typeface="맑은 고딕"/>
              <a:ea typeface="맑은 고딕"/>
              <a:cs typeface="맑은 고딕"/>
            </a:endParaRPr>
          </a:p>
        </p:txBody>
      </p:sp>
      <p:sp>
        <p:nvSpPr>
          <p:cNvPr id="184" name="KV Cache Manager">
            <a:extLst>
              <a:ext uri="{FF2B5EF4-FFF2-40B4-BE49-F238E27FC236}">
                <a16:creationId xmlns:a16="http://schemas.microsoft.com/office/drawing/2014/main" id="{7193BC83-981B-478E-BB00-B0CCD220C611}"/>
              </a:ext>
            </a:extLst>
          </p:cNvPr>
          <p:cNvSpPr/>
          <p:nvPr/>
        </p:nvSpPr>
        <p:spPr>
          <a:xfrm>
            <a:off x="5721749" y="3933611"/>
            <a:ext cx="713111" cy="186465"/>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lang="en-US" altLang="ko-KR" sz="800" b="1" dirty="0" smtClean="0">
                <a:solidFill>
                  <a:srgbClr val="7B1A1A"/>
                </a:solidFill>
                <a:latin typeface="맑은 고딕"/>
                <a:ea typeface="맑은 고딕"/>
              </a:rPr>
              <a:t>QA1 </a:t>
            </a:r>
            <a:r>
              <a:rPr lang="ko-KR" altLang="en-US" sz="800" b="1" dirty="0" smtClean="0">
                <a:solidFill>
                  <a:srgbClr val="7B1A1A"/>
                </a:solidFill>
                <a:latin typeface="맑은 고딕"/>
                <a:ea typeface="맑은 고딕"/>
              </a:rPr>
              <a:t>보완</a:t>
            </a:r>
            <a:endParaRPr lang="en-US" altLang="ko-KR" sz="800" b="1" dirty="0">
              <a:solidFill>
                <a:srgbClr val="7B1A1A"/>
              </a:solidFill>
              <a:latin typeface="맑은 고딕"/>
              <a:ea typeface="맑은 고딕"/>
            </a:endParaRPr>
          </a:p>
        </p:txBody>
      </p:sp>
      <p:sp>
        <p:nvSpPr>
          <p:cNvPr id="185" name="직사각형 184">
            <a:extLst>
              <a:ext uri="{FF2B5EF4-FFF2-40B4-BE49-F238E27FC236}">
                <a16:creationId xmlns:a16="http://schemas.microsoft.com/office/drawing/2014/main" id="{C84C114C-72C6-4726-8195-A62CCA108A92}"/>
              </a:ext>
            </a:extLst>
          </p:cNvPr>
          <p:cNvSpPr/>
          <p:nvPr/>
        </p:nvSpPr>
        <p:spPr>
          <a:xfrm>
            <a:off x="5657984" y="3709261"/>
            <a:ext cx="805575" cy="469264"/>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90" name="직사각형 189">
            <a:extLst>
              <a:ext uri="{FF2B5EF4-FFF2-40B4-BE49-F238E27FC236}">
                <a16:creationId xmlns:a16="http://schemas.microsoft.com/office/drawing/2014/main" id="{6E2B7273-A609-42E8-9B1D-ED211C704AFC}"/>
              </a:ext>
            </a:extLst>
          </p:cNvPr>
          <p:cNvSpPr/>
          <p:nvPr/>
        </p:nvSpPr>
        <p:spPr>
          <a:xfrm>
            <a:off x="1122038" y="1012657"/>
            <a:ext cx="5443425" cy="541067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5415001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DP4. </a:t>
            </a:r>
            <a:r>
              <a:rPr lang="ko-KR" altLang="en-US" dirty="0"/>
              <a:t>서버</a:t>
            </a:r>
            <a:r>
              <a:rPr lang="en-US" altLang="ko-KR" dirty="0"/>
              <a:t> 간 KV </a:t>
            </a:r>
            <a:r>
              <a:rPr lang="ko-KR" altLang="en-US" dirty="0"/>
              <a:t>캐시 </a:t>
            </a:r>
            <a:r>
              <a:rPr lang="en-US" altLang="ko-KR" dirty="0" err="1"/>
              <a:t>공유</a:t>
            </a:r>
            <a:r>
              <a:rPr lang="ko-KR" altLang="en-US" dirty="0"/>
              <a:t>를 위한 일관성 관리 </a:t>
            </a:r>
            <a:r>
              <a:rPr lang="en-US" altLang="ko-KR" dirty="0" err="1"/>
              <a:t>구조</a:t>
            </a:r>
            <a:r>
              <a:rPr lang="en-US" altLang="ko-KR" dirty="0"/>
              <a:t> – </a:t>
            </a:r>
            <a:r>
              <a:rPr lang="en-US" altLang="ko-KR" dirty="0" err="1"/>
              <a:t>배경</a:t>
            </a:r>
            <a:endParaRPr lang="en-US" altLang="ko-KR" dirty="0"/>
          </a:p>
        </p:txBody>
      </p:sp>
      <p:sp>
        <p:nvSpPr>
          <p:cNvPr id="79" name="Text 22"/>
          <p:cNvSpPr/>
          <p:nvPr/>
        </p:nvSpPr>
        <p:spPr>
          <a:xfrm>
            <a:off x="359582" y="684751"/>
            <a:ext cx="11687638" cy="868680"/>
          </a:xfrm>
          <a:prstGeom prst="rect">
            <a:avLst/>
          </a:prstGeom>
          <a:noFill/>
          <a:ln/>
        </p:spPr>
        <p:txBody>
          <a:bodyPr wrap="square" lIns="0" tIns="0" rIns="0" bIns="0" rtlCol="0" anchor="t"/>
          <a:lstStyle/>
          <a:p>
            <a:pPr marL="285750" marR="0" lvl="0" indent="-285750" algn="l" defTabSz="914400" rtl="0" eaLnBrk="1" fontAlgn="auto" latinLnBrk="1" hangingPunct="1">
              <a:lnSpc>
                <a:spcPct val="150000"/>
              </a:lnSpc>
              <a:spcBef>
                <a:spcPts val="0"/>
              </a:spcBef>
              <a:spcAft>
                <a:spcPts val="0"/>
              </a:spcAft>
              <a:buClrTx/>
              <a:buSzTx/>
              <a:buFontTx/>
              <a:buChar char="-"/>
              <a:tabLst/>
              <a:defRPr/>
            </a:pP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DP2는 Prefill/Decode </a:t>
            </a:r>
            <a:r>
              <a:rPr kumimoji="0" lang="ko-KR" altLang="en-US"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실행 위치를 </a:t>
            </a:r>
            <a:r>
              <a:rPr kumimoji="0" lang="en-US" altLang="ko-KR" sz="1200" b="0" i="0" u="none" strike="noStrike" kern="1200" cap="none" spc="0" normalizeH="0" baseline="0" noProof="0" dirty="0" err="1">
                <a:ln>
                  <a:noFill/>
                </a:ln>
                <a:solidFill>
                  <a:srgbClr val="404040"/>
                </a:solidFill>
                <a:effectLst/>
                <a:uLnTx/>
                <a:uFillTx/>
                <a:latin typeface="맑은 고딕" panose="020B0503020000020004" pitchFamily="50" charset="-127"/>
                <a:ea typeface="맑은 고딕" panose="020B0503020000020004" pitchFamily="50" charset="-127"/>
                <a:cs typeface="+mn-cs"/>
              </a:rPr>
              <a:t>최적화</a:t>
            </a:r>
            <a:r>
              <a:rPr kumimoji="0" lang="ko-KR" altLang="en-US"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하나</a:t>
            </a: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a:t>
            </a:r>
            <a:r>
              <a:rPr kumimoji="0" lang="en-US" altLang="ko-KR" sz="1200" b="1" i="0" u="none" strike="noStrike" kern="1200" cap="none" spc="0" normalizeH="0" baseline="0" noProof="0" dirty="0">
                <a:ln>
                  <a:noFill/>
                </a:ln>
                <a:solidFill>
                  <a:srgbClr val="FF0000"/>
                </a:solidFill>
                <a:effectLst/>
                <a:uLnTx/>
                <a:uFillTx/>
                <a:latin typeface="맑은 고딕" panose="020B0503020000020004" pitchFamily="50" charset="-127"/>
                <a:ea typeface="맑은 고딕" panose="020B0503020000020004" pitchFamily="50" charset="-127"/>
                <a:cs typeface="+mn-cs"/>
              </a:rPr>
              <a:t> </a:t>
            </a:r>
            <a:r>
              <a:rPr kumimoji="0" lang="ko-KR" altLang="en-US" sz="1200" b="1" i="0" u="none" strike="noStrike" kern="1200" cap="none" spc="0" normalizeH="0" baseline="0" noProof="0" dirty="0">
                <a:ln>
                  <a:noFill/>
                </a:ln>
                <a:solidFill>
                  <a:srgbClr val="FF0000"/>
                </a:solidFill>
                <a:effectLst/>
                <a:uLnTx/>
                <a:uFillTx/>
                <a:latin typeface="맑은 고딕" panose="020B0503020000020004" pitchFamily="50" charset="-127"/>
                <a:ea typeface="맑은 고딕" panose="020B0503020000020004" pitchFamily="50" charset="-127"/>
                <a:cs typeface="+mn-cs"/>
              </a:rPr>
              <a:t>노드 간 </a:t>
            </a:r>
            <a:r>
              <a:rPr kumimoji="0" lang="en-US" altLang="ko-KR" sz="1200" b="1" i="0" u="none" strike="noStrike" kern="1200" cap="none" spc="0" normalizeH="0" baseline="0" noProof="0" dirty="0">
                <a:ln>
                  <a:noFill/>
                </a:ln>
                <a:solidFill>
                  <a:srgbClr val="FF0000"/>
                </a:solidFill>
                <a:effectLst/>
                <a:uLnTx/>
                <a:uFillTx/>
                <a:latin typeface="맑은 고딕" panose="020B0503020000020004" pitchFamily="50" charset="-127"/>
                <a:ea typeface="맑은 고딕" panose="020B0503020000020004" pitchFamily="50" charset="-127"/>
                <a:cs typeface="+mn-cs"/>
              </a:rPr>
              <a:t>KV </a:t>
            </a:r>
            <a:r>
              <a:rPr kumimoji="0" lang="en-US" altLang="ko-KR" sz="1200" b="1" i="0" u="none" strike="noStrike" kern="1200" cap="none" spc="0" normalizeH="0" baseline="0" noProof="0" dirty="0" err="1">
                <a:ln>
                  <a:noFill/>
                </a:ln>
                <a:solidFill>
                  <a:srgbClr val="FF0000"/>
                </a:solidFill>
                <a:effectLst/>
                <a:uLnTx/>
                <a:uFillTx/>
                <a:latin typeface="맑은 고딕" panose="020B0503020000020004" pitchFamily="50" charset="-127"/>
                <a:ea typeface="맑은 고딕" panose="020B0503020000020004" pitchFamily="50" charset="-127"/>
                <a:cs typeface="+mn-cs"/>
              </a:rPr>
              <a:t>전송</a:t>
            </a:r>
            <a:r>
              <a:rPr kumimoji="0" lang="en-US" altLang="ko-KR" sz="1200" b="1" i="0" u="none" strike="noStrike" kern="1200" cap="none" spc="0" normalizeH="0" baseline="0" noProof="0" dirty="0">
                <a:ln>
                  <a:noFill/>
                </a:ln>
                <a:solidFill>
                  <a:srgbClr val="FF0000"/>
                </a:solidFill>
                <a:effectLst/>
                <a:uLnTx/>
                <a:uFillTx/>
                <a:latin typeface="맑은 고딕" panose="020B0503020000020004" pitchFamily="50" charset="-127"/>
                <a:ea typeface="맑은 고딕" panose="020B0503020000020004" pitchFamily="50" charset="-127"/>
                <a:cs typeface="+mn-cs"/>
              </a:rPr>
              <a:t> </a:t>
            </a:r>
            <a:r>
              <a:rPr kumimoji="0" lang="en-US" altLang="ko-KR" sz="1200" b="1" i="0" u="none" strike="noStrike" kern="1200" cap="none" spc="0" normalizeH="0" baseline="0" noProof="0" dirty="0" err="1">
                <a:ln>
                  <a:noFill/>
                </a:ln>
                <a:solidFill>
                  <a:srgbClr val="FF0000"/>
                </a:solidFill>
                <a:effectLst/>
                <a:uLnTx/>
                <a:uFillTx/>
                <a:latin typeface="맑은 고딕" panose="020B0503020000020004" pitchFamily="50" charset="-127"/>
                <a:ea typeface="맑은 고딕" panose="020B0503020000020004" pitchFamily="50" charset="-127"/>
                <a:cs typeface="+mn-cs"/>
              </a:rPr>
              <a:t>비용</a:t>
            </a:r>
            <a:r>
              <a:rPr lang="ko-KR" altLang="en-US" sz="1200" b="1" dirty="0">
                <a:solidFill>
                  <a:srgbClr val="FF0000"/>
                </a:solidFill>
                <a:latin typeface="맑은 고딕" panose="020B0503020000020004" pitchFamily="50" charset="-127"/>
                <a:ea typeface="맑은 고딕" panose="020B0503020000020004" pitchFamily="50" charset="-127"/>
              </a:rPr>
              <a:t>은</a:t>
            </a:r>
            <a:r>
              <a:rPr kumimoji="0" lang="ko-KR" altLang="en-US" sz="1200" b="1" i="0" u="none" strike="noStrike" kern="1200" cap="none" spc="0" normalizeH="0" baseline="0" noProof="0" dirty="0">
                <a:ln>
                  <a:noFill/>
                </a:ln>
                <a:solidFill>
                  <a:srgbClr val="FF0000"/>
                </a:solidFill>
                <a:effectLst/>
                <a:uLnTx/>
                <a:uFillTx/>
                <a:latin typeface="맑은 고딕" panose="020B0503020000020004" pitchFamily="50" charset="-127"/>
                <a:ea typeface="맑은 고딕" panose="020B0503020000020004" pitchFamily="50" charset="-127"/>
                <a:cs typeface="+mn-cs"/>
              </a:rPr>
              <a:t> 여전히 존재</a:t>
            </a:r>
            <a:r>
              <a:rPr kumimoji="0" lang="en-US" altLang="ko-KR" sz="1200" b="1" i="0" u="none" strike="noStrike" kern="1200" cap="none" spc="0" normalizeH="0" baseline="0" noProof="0" dirty="0">
                <a:ln>
                  <a:noFill/>
                </a:ln>
                <a:solidFill>
                  <a:srgbClr val="FF0000"/>
                </a:solidFill>
                <a:effectLst/>
                <a:uLnTx/>
                <a:uFillTx/>
                <a:latin typeface="맑은 고딕" panose="020B0503020000020004" pitchFamily="50" charset="-127"/>
                <a:ea typeface="맑은 고딕" panose="020B0503020000020004" pitchFamily="50" charset="-127"/>
                <a:cs typeface="+mn-cs"/>
              </a:rPr>
              <a:t> </a:t>
            </a: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(Turn </a:t>
            </a:r>
            <a:r>
              <a:rPr kumimoji="0" lang="en-US" altLang="ko-KR" sz="1200" b="0" i="0" u="none" strike="noStrike" kern="1200" cap="none" spc="0" normalizeH="0" baseline="0" noProof="0" dirty="0" err="1">
                <a:ln>
                  <a:noFill/>
                </a:ln>
                <a:solidFill>
                  <a:srgbClr val="404040"/>
                </a:solidFill>
                <a:effectLst/>
                <a:uLnTx/>
                <a:uFillTx/>
                <a:latin typeface="맑은 고딕" panose="020B0503020000020004" pitchFamily="50" charset="-127"/>
                <a:ea typeface="맑은 고딕" panose="020B0503020000020004" pitchFamily="50" charset="-127"/>
                <a:cs typeface="+mn-cs"/>
              </a:rPr>
              <a:t>마다</a:t>
            </a: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 P↔D </a:t>
            </a:r>
            <a:r>
              <a:rPr kumimoji="0" lang="en-US" altLang="ko-KR" sz="1200" b="0" i="0" u="none" strike="noStrike" kern="1200" cap="none" spc="0" normalizeH="0" baseline="0" noProof="0" dirty="0" err="1">
                <a:ln>
                  <a:noFill/>
                </a:ln>
                <a:solidFill>
                  <a:srgbClr val="404040"/>
                </a:solidFill>
                <a:effectLst/>
                <a:uLnTx/>
                <a:uFillTx/>
                <a:latin typeface="맑은 고딕" panose="020B0503020000020004" pitchFamily="50" charset="-127"/>
                <a:ea typeface="맑은 고딕" panose="020B0503020000020004" pitchFamily="50" charset="-127"/>
                <a:cs typeface="+mn-cs"/>
              </a:rPr>
              <a:t>왕복</a:t>
            </a: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 </a:t>
            </a:r>
            <a:r>
              <a:rPr kumimoji="0" lang="en-US" altLang="ko-KR" sz="1200" b="0" i="0" u="none" strike="noStrike" kern="1200" cap="none" spc="0" normalizeH="0" baseline="0" noProof="0" dirty="0" err="1">
                <a:ln>
                  <a:noFill/>
                </a:ln>
                <a:solidFill>
                  <a:srgbClr val="404040"/>
                </a:solidFill>
                <a:effectLst/>
                <a:uLnTx/>
                <a:uFillTx/>
                <a:latin typeface="맑은 고딕" panose="020B0503020000020004" pitchFamily="50" charset="-127"/>
                <a:ea typeface="맑은 고딕" panose="020B0503020000020004" pitchFamily="50" charset="-127"/>
                <a:cs typeface="+mn-cs"/>
              </a:rPr>
              <a:t>누적</a:t>
            </a: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a:t>
            </a:r>
          </a:p>
          <a:p>
            <a:pPr marL="285750" marR="0" lvl="0" indent="-285750" algn="l" defTabSz="914400" rtl="0" eaLnBrk="1" fontAlgn="auto" latinLnBrk="1" hangingPunct="1">
              <a:lnSpc>
                <a:spcPct val="150000"/>
              </a:lnSpc>
              <a:spcBef>
                <a:spcPts val="0"/>
              </a:spcBef>
              <a:spcAft>
                <a:spcPts val="0"/>
              </a:spcAft>
              <a:buClrTx/>
              <a:buSzTx/>
              <a:buFontTx/>
              <a:buChar char="-"/>
              <a:tabLst/>
              <a:defRPr/>
            </a:pPr>
            <a:r>
              <a:rPr kumimoji="0" lang="ko-KR" altLang="en-US"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서버 간 공유 메모리 풀 구성을 통한 </a:t>
            </a:r>
            <a:r>
              <a:rPr kumimoji="0" lang="en-US" altLang="ko-KR"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KV </a:t>
            </a:r>
            <a:r>
              <a:rPr kumimoji="0" lang="ko-KR" altLang="en-US" sz="1200" b="0" i="0" u="none" strike="noStrike" kern="1200" cap="none" spc="0" normalizeH="0" baseline="0" noProof="0" dirty="0">
                <a:ln>
                  <a:noFill/>
                </a:ln>
                <a:solidFill>
                  <a:srgbClr val="404040"/>
                </a:solidFill>
                <a:effectLst/>
                <a:uLnTx/>
                <a:uFillTx/>
                <a:latin typeface="맑은 고딕" panose="020B0503020000020004" pitchFamily="50" charset="-127"/>
                <a:ea typeface="맑은 고딕" panose="020B0503020000020004" pitchFamily="50" charset="-127"/>
                <a:cs typeface="+mn-cs"/>
              </a:rPr>
              <a:t>직접 참조로 </a:t>
            </a:r>
            <a:r>
              <a:rPr kumimoji="0" lang="ko-KR" altLang="en-US" sz="1200" b="1" i="0" u="none" strike="noStrike" kern="1200" cap="none" spc="0" normalizeH="0" baseline="0" noProof="0" dirty="0">
                <a:ln>
                  <a:noFill/>
                </a:ln>
                <a:solidFill>
                  <a:srgbClr val="0066FF"/>
                </a:solidFill>
                <a:effectLst/>
                <a:uLnTx/>
                <a:uFillTx/>
                <a:latin typeface="맑은 고딕" panose="020B0503020000020004" pitchFamily="50" charset="-127"/>
                <a:ea typeface="맑은 고딕" panose="020B0503020000020004" pitchFamily="50" charset="-127"/>
                <a:cs typeface="+mn-cs"/>
              </a:rPr>
              <a:t>노드 간 전송 최소화 가능 </a:t>
            </a:r>
            <a:endParaRPr kumimoji="0" lang="en-US" altLang="ko-KR" sz="1200" b="1" i="0" u="none" strike="noStrike" kern="1200" cap="none" spc="0" normalizeH="0" baseline="0" noProof="0" dirty="0">
              <a:ln>
                <a:noFill/>
              </a:ln>
              <a:solidFill>
                <a:srgbClr val="0066FF"/>
              </a:solidFill>
              <a:effectLst/>
              <a:uLnTx/>
              <a:uFillTx/>
              <a:latin typeface="맑은 고딕" panose="020B0503020000020004" pitchFamily="50" charset="-127"/>
              <a:ea typeface="맑은 고딕" panose="020B0503020000020004" pitchFamily="50" charset="-127"/>
              <a:cs typeface="+mn-cs"/>
            </a:endParaRPr>
          </a:p>
          <a:p>
            <a:pPr marL="285750" marR="0" lvl="0" indent="-285750" algn="l" defTabSz="914400" rtl="0" eaLnBrk="1" fontAlgn="auto" latinLnBrk="1" hangingPunct="1">
              <a:lnSpc>
                <a:spcPct val="150000"/>
              </a:lnSpc>
              <a:spcBef>
                <a:spcPts val="0"/>
              </a:spcBef>
              <a:spcAft>
                <a:spcPts val="0"/>
              </a:spcAft>
              <a:buClrTx/>
              <a:buSzTx/>
              <a:buFontTx/>
              <a:buChar char="-"/>
              <a:tabLst/>
              <a:defRPr/>
            </a:pPr>
            <a:r>
              <a:rPr lang="ko-KR" altLang="en-US" sz="1200" dirty="0">
                <a:solidFill>
                  <a:srgbClr val="404040"/>
                </a:solidFill>
                <a:latin typeface="맑은 고딕" panose="020B0503020000020004" pitchFamily="50" charset="-127"/>
                <a:ea typeface="맑은 고딕" panose="020B0503020000020004" pitchFamily="50" charset="-127"/>
              </a:rPr>
              <a:t>공유 메모리 풀 도입 시 발생하는 </a:t>
            </a:r>
            <a:r>
              <a:rPr lang="ko-KR" altLang="en-US" sz="1200" b="1" dirty="0">
                <a:solidFill>
                  <a:srgbClr val="0066FF"/>
                </a:solidFill>
                <a:latin typeface="맑은 고딕" panose="020B0503020000020004" pitchFamily="50" charset="-127"/>
                <a:ea typeface="맑은 고딕" panose="020B0503020000020004" pitchFamily="50" charset="-127"/>
              </a:rPr>
              <a:t>정합성 문제</a:t>
            </a:r>
            <a:r>
              <a:rPr lang="en-US" altLang="ko-KR" sz="1200" b="1" dirty="0">
                <a:solidFill>
                  <a:srgbClr val="0066FF"/>
                </a:solidFill>
                <a:latin typeface="맑은 고딕" panose="020B0503020000020004" pitchFamily="50" charset="-127"/>
                <a:ea typeface="맑은 고딕" panose="020B0503020000020004" pitchFamily="50" charset="-127"/>
              </a:rPr>
              <a:t>(</a:t>
            </a:r>
            <a:r>
              <a:rPr lang="ko-KR" altLang="en-US" sz="1200" b="1" dirty="0">
                <a:solidFill>
                  <a:srgbClr val="0066FF"/>
                </a:solidFill>
                <a:latin typeface="맑은 고딕" panose="020B0503020000020004" pitchFamily="50" charset="-127"/>
                <a:ea typeface="맑은 고딕" panose="020B0503020000020004" pitchFamily="50" charset="-127"/>
              </a:rPr>
              <a:t>동시 쓰기</a:t>
            </a:r>
            <a:r>
              <a:rPr lang="en-US" altLang="ko-KR" sz="1200" b="1" dirty="0">
                <a:solidFill>
                  <a:srgbClr val="0066FF"/>
                </a:solidFill>
                <a:latin typeface="맑은 고딕" panose="020B0503020000020004" pitchFamily="50" charset="-127"/>
                <a:ea typeface="맑은 고딕" panose="020B0503020000020004" pitchFamily="50" charset="-127"/>
              </a:rPr>
              <a:t>, stale read </a:t>
            </a:r>
            <a:r>
              <a:rPr lang="ko-KR" altLang="en-US" sz="1200" b="1" dirty="0">
                <a:solidFill>
                  <a:srgbClr val="0066FF"/>
                </a:solidFill>
                <a:latin typeface="맑은 고딕" panose="020B0503020000020004" pitchFamily="50" charset="-127"/>
                <a:ea typeface="맑은 고딕" panose="020B0503020000020004" pitchFamily="50" charset="-127"/>
              </a:rPr>
              <a:t>등</a:t>
            </a:r>
            <a:r>
              <a:rPr lang="en-US" altLang="ko-KR" sz="1200" b="1" dirty="0">
                <a:solidFill>
                  <a:srgbClr val="0066FF"/>
                </a:solidFill>
                <a:latin typeface="맑은 고딕" panose="020B0503020000020004" pitchFamily="50" charset="-127"/>
                <a:ea typeface="맑은 고딕" panose="020B0503020000020004" pitchFamily="50" charset="-127"/>
              </a:rPr>
              <a:t>)</a:t>
            </a:r>
            <a:r>
              <a:rPr lang="ko-KR" altLang="en-US" sz="1200" b="1" dirty="0">
                <a:solidFill>
                  <a:srgbClr val="0066FF"/>
                </a:solidFill>
                <a:latin typeface="맑은 고딕" panose="020B0503020000020004" pitchFamily="50" charset="-127"/>
                <a:ea typeface="맑은 고딕" panose="020B0503020000020004" pitchFamily="50" charset="-127"/>
              </a:rPr>
              <a:t>를 보장하는 구조 필요 </a:t>
            </a:r>
            <a:endParaRPr kumimoji="0" lang="en-US" altLang="ko-KR" sz="1200" b="1" i="0" u="none" strike="noStrike" kern="1200" cap="none" spc="0" normalizeH="0" baseline="0" noProof="0" dirty="0">
              <a:ln>
                <a:noFill/>
              </a:ln>
              <a:solidFill>
                <a:srgbClr val="0066FF"/>
              </a:solidFill>
              <a:effectLst/>
              <a:uLnTx/>
              <a:uFillTx/>
              <a:latin typeface="맑은 고딕" panose="020B0503020000020004" pitchFamily="50" charset="-127"/>
              <a:ea typeface="맑은 고딕" panose="020B0503020000020004" pitchFamily="50" charset="-127"/>
            </a:endParaRPr>
          </a:p>
        </p:txBody>
      </p:sp>
      <p:sp>
        <p:nvSpPr>
          <p:cNvPr id="9089" name="Rounded Rectangle 9088"/>
          <p:cNvSpPr/>
          <p:nvPr/>
        </p:nvSpPr>
        <p:spPr>
          <a:xfrm>
            <a:off x="7117966" y="5212608"/>
            <a:ext cx="3383280" cy="452882"/>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DP2  </a:t>
            </a:r>
            <a:r>
              <a:rPr kumimoji="0" lang="en-US" sz="1050" b="1" i="0" u="none" strike="noStrike" kern="1200" cap="none" spc="0" normalizeH="0" baseline="0" noProof="0" dirty="0">
                <a:ln>
                  <a:noFill/>
                </a:ln>
                <a:solidFill>
                  <a:srgbClr val="000000"/>
                </a:solidFill>
                <a:effectLst/>
                <a:uLnTx/>
                <a:uFillTx/>
                <a:latin typeface="맑은 고딕"/>
                <a:ea typeface="맑은 고딕"/>
                <a:cs typeface="+mn-cs"/>
              </a:rPr>
              <a:t>Prefill/Decode </a:t>
            </a:r>
            <a:r>
              <a:rPr kumimoji="0" lang="ko-KR" altLang="en-US" sz="1050" b="1" i="0" u="none" strike="noStrike" kern="1200" cap="none" spc="0" normalizeH="0" baseline="0" noProof="0" dirty="0">
                <a:ln>
                  <a:noFill/>
                </a:ln>
                <a:solidFill>
                  <a:srgbClr val="000000"/>
                </a:solidFill>
                <a:effectLst/>
                <a:uLnTx/>
                <a:uFillTx/>
                <a:latin typeface="맑은 고딕"/>
                <a:ea typeface="맑은 고딕"/>
                <a:cs typeface="+mn-cs"/>
              </a:rPr>
              <a:t>실행 위치 결정</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kumimoji="0" sz="900" b="0" i="0" u="none" strike="noStrike" kern="1200" cap="none" spc="0" normalizeH="0" baseline="0" noProof="0" dirty="0" err="1">
                <a:ln>
                  <a:noFill/>
                </a:ln>
                <a:solidFill>
                  <a:srgbClr val="000000"/>
                </a:solidFill>
                <a:effectLst/>
                <a:uLnTx/>
                <a:uFillTx/>
                <a:latin typeface="맑은 고딕"/>
                <a:ea typeface="맑은 고딕"/>
                <a:cs typeface="+mn-cs"/>
              </a:rPr>
              <a:t>비용</a:t>
            </a:r>
            <a:r>
              <a:rPr kumimoji="0" sz="900" b="0" i="0" u="none" strike="noStrike" kern="1200" cap="none" spc="0" normalizeH="0" baseline="0" noProof="0" dirty="0">
                <a:ln>
                  <a:noFill/>
                </a:ln>
                <a:solidFill>
                  <a:srgbClr val="000000"/>
                </a:solidFill>
                <a:effectLst/>
                <a:uLnTx/>
                <a:uFillTx/>
                <a:latin typeface="맑은 고딕"/>
                <a:ea typeface="맑은 고딕"/>
                <a:cs typeface="+mn-cs"/>
              </a:rPr>
              <a:t> </a:t>
            </a:r>
            <a:r>
              <a:rPr kumimoji="0" sz="900" b="0" i="0" u="none" strike="noStrike" kern="1200" cap="none" spc="0" normalizeH="0" baseline="0" noProof="0" dirty="0" err="1">
                <a:ln>
                  <a:noFill/>
                </a:ln>
                <a:solidFill>
                  <a:srgbClr val="000000"/>
                </a:solidFill>
                <a:effectLst/>
                <a:uLnTx/>
                <a:uFillTx/>
                <a:latin typeface="맑은 고딕"/>
                <a:ea typeface="맑은 고딕"/>
                <a:cs typeface="+mn-cs"/>
              </a:rPr>
              <a:t>기반</a:t>
            </a:r>
            <a:r>
              <a:rPr kumimoji="0" sz="900" b="0" i="0" u="none" strike="noStrike" kern="1200" cap="none" spc="0" normalizeH="0" baseline="0" noProof="0" dirty="0">
                <a:ln>
                  <a:noFill/>
                </a:ln>
                <a:solidFill>
                  <a:srgbClr val="000000"/>
                </a:solidFill>
                <a:effectLst/>
                <a:uLnTx/>
                <a:uFillTx/>
                <a:latin typeface="맑은 고딕"/>
                <a:ea typeface="맑은 고딕"/>
                <a:cs typeface="+mn-cs"/>
              </a:rPr>
              <a:t> P/D </a:t>
            </a:r>
            <a:r>
              <a:rPr kumimoji="0" sz="900" b="0" i="0" u="none" strike="noStrike" kern="1200" cap="none" spc="0" normalizeH="0" baseline="0" noProof="0" dirty="0" err="1">
                <a:ln>
                  <a:noFill/>
                </a:ln>
                <a:solidFill>
                  <a:srgbClr val="000000"/>
                </a:solidFill>
                <a:effectLst/>
                <a:uLnTx/>
                <a:uFillTx/>
                <a:latin typeface="맑은 고딕"/>
                <a:ea typeface="맑은 고딕"/>
                <a:cs typeface="+mn-cs"/>
              </a:rPr>
              <a:t>노드</a:t>
            </a:r>
            <a:r>
              <a:rPr kumimoji="0" sz="900" b="0" i="0" u="none" strike="noStrike" kern="1200" cap="none" spc="0" normalizeH="0" baseline="0" noProof="0" dirty="0">
                <a:ln>
                  <a:noFill/>
                </a:ln>
                <a:solidFill>
                  <a:srgbClr val="000000"/>
                </a:solidFill>
                <a:effectLst/>
                <a:uLnTx/>
                <a:uFillTx/>
                <a:latin typeface="맑은 고딕"/>
                <a:ea typeface="맑은 고딕"/>
                <a:cs typeface="+mn-cs"/>
              </a:rPr>
              <a:t> </a:t>
            </a:r>
            <a:r>
              <a:rPr kumimoji="0" sz="900" b="0" i="0" u="none" strike="noStrike" kern="1200" cap="none" spc="0" normalizeH="0" baseline="0" noProof="0" dirty="0" err="1">
                <a:ln>
                  <a:noFill/>
                </a:ln>
                <a:solidFill>
                  <a:srgbClr val="000000"/>
                </a:solidFill>
                <a:effectLst/>
                <a:uLnTx/>
                <a:uFillTx/>
                <a:latin typeface="맑은 고딕"/>
                <a:ea typeface="맑은 고딕"/>
                <a:cs typeface="+mn-cs"/>
              </a:rPr>
              <a:t>선택</a:t>
            </a:r>
            <a:endParaRPr kumimoji="0" sz="900" b="0" i="0" u="none" strike="noStrike" kern="1200" cap="none" spc="0" normalizeH="0" baseline="0" noProof="0" dirty="0">
              <a:ln>
                <a:noFill/>
              </a:ln>
              <a:solidFill>
                <a:srgbClr val="000000"/>
              </a:solidFill>
              <a:effectLst/>
              <a:uLnTx/>
              <a:uFillTx/>
              <a:latin typeface="맑은 고딕"/>
              <a:ea typeface="맑은 고딕"/>
              <a:cs typeface="+mn-cs"/>
            </a:endParaRPr>
          </a:p>
        </p:txBody>
      </p:sp>
      <p:sp>
        <p:nvSpPr>
          <p:cNvPr id="9091" name="Rounded Rectangle 9090"/>
          <p:cNvSpPr/>
          <p:nvPr/>
        </p:nvSpPr>
        <p:spPr>
          <a:xfrm>
            <a:off x="1554479" y="4769270"/>
            <a:ext cx="3383280" cy="754581"/>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DP4  </a:t>
            </a:r>
            <a:r>
              <a:rPr kumimoji="0" lang="ko-KR" altLang="en-US" sz="1050" b="1" i="0" u="none" strike="noStrike" kern="1200" cap="none" spc="0" normalizeH="0" baseline="0" noProof="0" dirty="0">
                <a:ln>
                  <a:noFill/>
                </a:ln>
                <a:solidFill>
                  <a:srgbClr val="000000"/>
                </a:solidFill>
                <a:effectLst/>
                <a:uLnTx/>
                <a:uFillTx/>
                <a:latin typeface="맑은 고딕"/>
                <a:ea typeface="맑은 고딕"/>
                <a:cs typeface="+mn-cs"/>
              </a:rPr>
              <a:t>서버</a:t>
            </a:r>
            <a:r>
              <a:rPr kumimoji="0" lang="en-US" altLang="ko-KR" sz="1050" b="1" i="0" u="none" strike="noStrike" kern="1200" cap="none" spc="0" normalizeH="0" baseline="0" noProof="0" dirty="0">
                <a:ln>
                  <a:noFill/>
                </a:ln>
                <a:solidFill>
                  <a:srgbClr val="000000"/>
                </a:solidFill>
                <a:effectLst/>
                <a:uLnTx/>
                <a:uFillTx/>
                <a:latin typeface="맑은 고딕"/>
                <a:ea typeface="맑은 고딕"/>
                <a:cs typeface="+mn-cs"/>
              </a:rPr>
              <a:t>(</a:t>
            </a:r>
            <a:r>
              <a:rPr kumimoji="0" lang="ko-KR" altLang="en-US" sz="1050" b="1" i="0" u="none" strike="noStrike" kern="1200" cap="none" spc="0" normalizeH="0" baseline="0" noProof="0" dirty="0">
                <a:ln>
                  <a:noFill/>
                </a:ln>
                <a:solidFill>
                  <a:srgbClr val="000000"/>
                </a:solidFill>
                <a:effectLst/>
                <a:uLnTx/>
                <a:uFillTx/>
                <a:latin typeface="맑은 고딕"/>
                <a:ea typeface="맑은 고딕"/>
                <a:cs typeface="+mn-cs"/>
              </a:rPr>
              <a:t>노드</a:t>
            </a:r>
            <a:r>
              <a:rPr kumimoji="0" lang="en-US" altLang="ko-KR" sz="1050" b="1" i="0" u="none" strike="noStrike" kern="1200" cap="none" spc="0" normalizeH="0" baseline="0" noProof="0" dirty="0">
                <a:ln>
                  <a:noFill/>
                </a:ln>
                <a:solidFill>
                  <a:srgbClr val="000000"/>
                </a:solidFill>
                <a:effectLst/>
                <a:uLnTx/>
                <a:uFillTx/>
                <a:latin typeface="맑은 고딕"/>
                <a:ea typeface="맑은 고딕"/>
                <a:cs typeface="+mn-cs"/>
              </a:rPr>
              <a:t>) </a:t>
            </a:r>
            <a:r>
              <a:rPr kumimoji="0" lang="ko-KR" altLang="en-US" sz="1050" b="1" i="0" u="none" strike="noStrike" kern="1200" cap="none" spc="0" normalizeH="0" baseline="0" noProof="0" dirty="0">
                <a:ln>
                  <a:noFill/>
                </a:ln>
                <a:solidFill>
                  <a:srgbClr val="000000"/>
                </a:solidFill>
                <a:effectLst/>
                <a:uLnTx/>
                <a:uFillTx/>
                <a:latin typeface="맑은 고딕"/>
                <a:ea typeface="맑은 고딕"/>
                <a:cs typeface="+mn-cs"/>
              </a:rPr>
              <a:t>간 데이터 공유 구조 </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900" b="0" i="0" u="none" strike="noStrike" kern="1200" cap="none" spc="0" normalizeH="0" baseline="0" noProof="0" dirty="0">
                <a:ln>
                  <a:noFill/>
                </a:ln>
                <a:solidFill>
                  <a:srgbClr val="000000"/>
                </a:solidFill>
                <a:effectLst/>
                <a:uLnTx/>
                <a:uFillTx/>
                <a:latin typeface="맑은 고딕"/>
                <a:ea typeface="맑은 고딕"/>
                <a:cs typeface="+mn-cs"/>
              </a:rPr>
              <a:t>공유 메모리 풀을 통한 </a:t>
            </a:r>
            <a:r>
              <a:rPr kumimoji="0" lang="en-US" altLang="ko-KR" sz="900" b="0" i="0" u="none" strike="noStrike" kern="1200" cap="none" spc="0" normalizeH="0" baseline="0" noProof="0" dirty="0">
                <a:ln>
                  <a:noFill/>
                </a:ln>
                <a:solidFill>
                  <a:srgbClr val="000000"/>
                </a:solidFill>
                <a:effectLst/>
                <a:uLnTx/>
                <a:uFillTx/>
                <a:latin typeface="맑은 고딕"/>
                <a:ea typeface="맑은 고딕"/>
                <a:cs typeface="+mn-cs"/>
              </a:rPr>
              <a:t>KV </a:t>
            </a:r>
            <a:r>
              <a:rPr kumimoji="0" lang="ko-KR" altLang="en-US" sz="900" b="0" i="0" u="none" strike="noStrike" kern="1200" cap="none" spc="0" normalizeH="0" baseline="0" noProof="0" dirty="0">
                <a:ln>
                  <a:noFill/>
                </a:ln>
                <a:solidFill>
                  <a:srgbClr val="000000"/>
                </a:solidFill>
                <a:effectLst/>
                <a:uLnTx/>
                <a:uFillTx/>
                <a:latin typeface="맑은 고딕"/>
                <a:ea typeface="맑은 고딕"/>
                <a:cs typeface="+mn-cs"/>
              </a:rPr>
              <a:t>전송 비용 절감</a:t>
            </a:r>
            <a:endParaRPr kumimoji="0" sz="900" b="0" i="0" u="none" strike="noStrike" kern="1200" cap="none" spc="0" normalizeH="0" baseline="0" noProof="0" dirty="0">
              <a:ln>
                <a:noFill/>
              </a:ln>
              <a:solidFill>
                <a:srgbClr val="000000"/>
              </a:solidFill>
              <a:effectLst/>
              <a:uLnTx/>
              <a:uFillTx/>
              <a:latin typeface="맑은 고딕"/>
              <a:ea typeface="맑은 고딕"/>
              <a:cs typeface="+mn-cs"/>
            </a:endParaRPr>
          </a:p>
        </p:txBody>
      </p:sp>
      <p:cxnSp>
        <p:nvCxnSpPr>
          <p:cNvPr id="54" name="Connector 9068"/>
          <p:cNvCxnSpPr/>
          <p:nvPr/>
        </p:nvCxnSpPr>
        <p:spPr>
          <a:xfrm>
            <a:off x="5058622" y="5425977"/>
            <a:ext cx="199855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229063" y="5160526"/>
            <a:ext cx="1657670" cy="161583"/>
          </a:xfrm>
          <a:prstGeom prst="rect">
            <a:avLst/>
          </a:prstGeom>
          <a:noFill/>
        </p:spPr>
        <p:txBody>
          <a:bodyPr wrap="square" lIns="0" tIns="0" rIns="0" bIns="0" anchor="t">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50" b="1" i="0" u="none" strike="noStrike" kern="1200" cap="none" spc="0" normalizeH="0" baseline="0" noProof="0" dirty="0">
                <a:ln>
                  <a:noFill/>
                </a:ln>
                <a:solidFill>
                  <a:srgbClr val="C00000"/>
                </a:solidFill>
                <a:effectLst/>
                <a:uLnTx/>
                <a:uFillTx/>
                <a:latin typeface="맑은 고딕"/>
                <a:ea typeface="맑은 고딕"/>
                <a:cs typeface="+mn-cs"/>
              </a:rPr>
              <a:t>DP2</a:t>
            </a:r>
            <a:r>
              <a:rPr kumimoji="0" lang="ko-KR" altLang="en-US" sz="1050" b="1" i="0" u="none" strike="noStrike" kern="1200" cap="none" spc="0" normalizeH="0" baseline="0" noProof="0" dirty="0">
                <a:ln>
                  <a:noFill/>
                </a:ln>
                <a:solidFill>
                  <a:srgbClr val="C00000"/>
                </a:solidFill>
                <a:effectLst/>
                <a:uLnTx/>
                <a:uFillTx/>
                <a:latin typeface="맑은 고딕"/>
                <a:ea typeface="맑은 고딕"/>
                <a:cs typeface="+mn-cs"/>
              </a:rPr>
              <a:t>의 비용 결정을 보완 </a:t>
            </a:r>
            <a:endParaRPr kumimoji="0" sz="1050" b="1" i="0" u="none" strike="noStrike" kern="1200" cap="none" spc="0" normalizeH="0" baseline="0" noProof="0" dirty="0">
              <a:ln>
                <a:noFill/>
              </a:ln>
              <a:solidFill>
                <a:srgbClr val="C00000"/>
              </a:solidFill>
              <a:effectLst/>
              <a:uLnTx/>
              <a:uFillTx/>
              <a:latin typeface="맑은 고딕"/>
              <a:ea typeface="맑은 고딕"/>
              <a:cs typeface="+mn-cs"/>
            </a:endParaRPr>
          </a:p>
        </p:txBody>
      </p:sp>
      <p:sp>
        <p:nvSpPr>
          <p:cNvPr id="92" name="Rectangle 9061"/>
          <p:cNvSpPr/>
          <p:nvPr/>
        </p:nvSpPr>
        <p:spPr>
          <a:xfrm>
            <a:off x="411480" y="1985901"/>
            <a:ext cx="5440680" cy="2205214"/>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93" name="Rounded Rectangle 9062"/>
          <p:cNvSpPr/>
          <p:nvPr/>
        </p:nvSpPr>
        <p:spPr>
          <a:xfrm>
            <a:off x="1546859" y="1868939"/>
            <a:ext cx="329184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1050" b="1" i="0" u="none" strike="noStrike" kern="1200" cap="none" spc="0" normalizeH="0" baseline="0" noProof="0" dirty="0">
                <a:ln>
                  <a:noFill/>
                </a:ln>
                <a:solidFill>
                  <a:srgbClr val="FFFFFF"/>
                </a:solidFill>
                <a:effectLst/>
                <a:uLnTx/>
                <a:uFillTx/>
                <a:latin typeface="맑은 고딕"/>
                <a:ea typeface="맑은 고딕"/>
                <a:cs typeface="+mn-cs"/>
              </a:rPr>
              <a:t>최적의 연산 위치를 선택해도 </a:t>
            </a:r>
            <a:r>
              <a:rPr kumimoji="0" lang="en-US" altLang="ko-KR" sz="1050" b="1" i="0" u="none" strike="noStrike" kern="1200" cap="none" spc="0" normalizeH="0" baseline="0" noProof="0" dirty="0">
                <a:ln>
                  <a:noFill/>
                </a:ln>
                <a:solidFill>
                  <a:srgbClr val="FFFFFF"/>
                </a:solidFill>
                <a:effectLst/>
                <a:uLnTx/>
                <a:uFillTx/>
                <a:latin typeface="맑은 고딕"/>
                <a:ea typeface="맑은 고딕"/>
                <a:cs typeface="+mn-cs"/>
              </a:rPr>
              <a:t>KV </a:t>
            </a:r>
            <a:r>
              <a:rPr kumimoji="0" lang="ko-KR" altLang="en-US" sz="1050" b="1" i="0" u="none" strike="noStrike" kern="1200" cap="none" spc="0" normalizeH="0" baseline="0" noProof="0" dirty="0">
                <a:ln>
                  <a:noFill/>
                </a:ln>
                <a:solidFill>
                  <a:srgbClr val="FFFFFF"/>
                </a:solidFill>
                <a:effectLst/>
                <a:uLnTx/>
                <a:uFillTx/>
                <a:latin typeface="맑은 고딕"/>
                <a:ea typeface="맑은 고딕"/>
                <a:cs typeface="+mn-cs"/>
              </a:rPr>
              <a:t>전송은 누적</a:t>
            </a:r>
            <a:endParaRPr kumimoji="0" sz="1050" b="1" i="0" u="none" strike="noStrike" kern="1200" cap="none" spc="0" normalizeH="0" baseline="0" noProof="0" dirty="0">
              <a:ln>
                <a:noFill/>
              </a:ln>
              <a:solidFill>
                <a:srgbClr val="FFFFFF"/>
              </a:solidFill>
              <a:effectLst/>
              <a:uLnTx/>
              <a:uFillTx/>
              <a:latin typeface="맑은 고딕"/>
              <a:ea typeface="맑은 고딕"/>
              <a:cs typeface="+mn-cs"/>
            </a:endParaRPr>
          </a:p>
        </p:txBody>
      </p:sp>
      <p:sp>
        <p:nvSpPr>
          <p:cNvPr id="94" name="Rectangle 9063"/>
          <p:cNvSpPr/>
          <p:nvPr/>
        </p:nvSpPr>
        <p:spPr>
          <a:xfrm>
            <a:off x="6355080" y="1985901"/>
            <a:ext cx="5440680" cy="2205213"/>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95" name="Rounded Rectangle 9064"/>
          <p:cNvSpPr/>
          <p:nvPr/>
        </p:nvSpPr>
        <p:spPr>
          <a:xfrm>
            <a:off x="7468781" y="1888285"/>
            <a:ext cx="3291840"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1" i="0" u="none" strike="noStrike" kern="1200" cap="none" spc="0" normalizeH="0" baseline="0" noProof="0" dirty="0" err="1">
                <a:ln>
                  <a:noFill/>
                </a:ln>
                <a:solidFill>
                  <a:srgbClr val="FFFFFF"/>
                </a:solidFill>
                <a:effectLst/>
                <a:uLnTx/>
                <a:uFillTx/>
                <a:latin typeface="맑은 고딕"/>
                <a:ea typeface="맑은 고딕"/>
                <a:cs typeface="+mn-cs"/>
              </a:rPr>
              <a:t>서버</a:t>
            </a:r>
            <a:r>
              <a:rPr kumimoji="0" sz="1050" b="1" i="0" u="none" strike="noStrike" kern="1200" cap="none" spc="0" normalizeH="0" baseline="0" noProof="0" dirty="0">
                <a:ln>
                  <a:noFill/>
                </a:ln>
                <a:solidFill>
                  <a:srgbClr val="FFFFFF"/>
                </a:solidFill>
                <a:effectLst/>
                <a:uLnTx/>
                <a:uFillTx/>
                <a:latin typeface="맑은 고딕"/>
                <a:ea typeface="맑은 고딕"/>
                <a:cs typeface="+mn-cs"/>
              </a:rPr>
              <a:t> 간 KV </a:t>
            </a:r>
            <a:r>
              <a:rPr kumimoji="0" sz="1050" b="1" i="0" u="none" strike="noStrike" kern="1200" cap="none" spc="0" normalizeH="0" baseline="0" noProof="0" dirty="0" err="1">
                <a:ln>
                  <a:noFill/>
                </a:ln>
                <a:solidFill>
                  <a:srgbClr val="FFFFFF"/>
                </a:solidFill>
                <a:effectLst/>
                <a:uLnTx/>
                <a:uFillTx/>
                <a:latin typeface="맑은 고딕"/>
                <a:ea typeface="맑은 고딕"/>
                <a:cs typeface="+mn-cs"/>
              </a:rPr>
              <a:t>공유</a:t>
            </a:r>
            <a:r>
              <a:rPr kumimoji="0" sz="1050" b="1" i="0" u="none" strike="noStrike" kern="1200" cap="none" spc="0" normalizeH="0" baseline="0" noProof="0" dirty="0">
                <a:ln>
                  <a:noFill/>
                </a:ln>
                <a:solidFill>
                  <a:srgbClr val="FFFFFF"/>
                </a:solidFill>
                <a:effectLst/>
                <a:uLnTx/>
                <a:uFillTx/>
                <a:latin typeface="맑은 고딕"/>
                <a:ea typeface="맑은 고딕"/>
                <a:cs typeface="+mn-cs"/>
              </a:rPr>
              <a:t> </a:t>
            </a:r>
            <a:r>
              <a:rPr kumimoji="0" sz="1050" b="1" i="0" u="none" strike="noStrike" kern="1200" cap="none" spc="0" normalizeH="0" baseline="0" noProof="0" dirty="0" err="1">
                <a:ln>
                  <a:noFill/>
                </a:ln>
                <a:solidFill>
                  <a:srgbClr val="FFFFFF"/>
                </a:solidFill>
                <a:effectLst/>
                <a:uLnTx/>
                <a:uFillTx/>
                <a:latin typeface="맑은 고딕"/>
                <a:ea typeface="맑은 고딕"/>
                <a:cs typeface="+mn-cs"/>
              </a:rPr>
              <a:t>구조</a:t>
            </a:r>
            <a:r>
              <a:rPr kumimoji="0" sz="1050" b="1" i="0" u="none" strike="noStrike" kern="1200" cap="none" spc="0" normalizeH="0" baseline="0" noProof="0" dirty="0">
                <a:ln>
                  <a:noFill/>
                </a:ln>
                <a:solidFill>
                  <a:srgbClr val="FFFFFF"/>
                </a:solidFill>
                <a:effectLst/>
                <a:uLnTx/>
                <a:uFillTx/>
                <a:latin typeface="맑은 고딕"/>
                <a:ea typeface="맑은 고딕"/>
                <a:cs typeface="+mn-cs"/>
              </a:rPr>
              <a:t> </a:t>
            </a:r>
          </a:p>
        </p:txBody>
      </p:sp>
      <p:sp>
        <p:nvSpPr>
          <p:cNvPr id="96" name="Right Arrow 9065"/>
          <p:cNvSpPr/>
          <p:nvPr/>
        </p:nvSpPr>
        <p:spPr>
          <a:xfrm>
            <a:off x="5943600" y="2848737"/>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99" name="Rectangle 9066"/>
          <p:cNvSpPr/>
          <p:nvPr/>
        </p:nvSpPr>
        <p:spPr>
          <a:xfrm>
            <a:off x="672303" y="2742111"/>
            <a:ext cx="1005840" cy="7954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P </a:t>
            </a:r>
            <a:r>
              <a:rPr kumimoji="0" sz="1050" b="1" i="0" u="none" strike="noStrike" kern="1200" cap="none" spc="0" normalizeH="0" baseline="0" noProof="0" dirty="0" err="1">
                <a:ln>
                  <a:noFill/>
                </a:ln>
                <a:solidFill>
                  <a:srgbClr val="000000"/>
                </a:solidFill>
                <a:effectLst/>
                <a:uLnTx/>
                <a:uFillTx/>
                <a:latin typeface="맑은 고딕"/>
                <a:ea typeface="맑은 고딕"/>
                <a:cs typeface="+mn-cs"/>
              </a:rPr>
              <a:t>노드</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000000"/>
                </a:solidFill>
                <a:effectLst/>
                <a:uLnTx/>
                <a:uFillTx/>
                <a:latin typeface="맑은 고딕"/>
                <a:ea typeface="맑은 고딕"/>
                <a:cs typeface="+mn-cs"/>
              </a:rPr>
              <a:t>Prefill</a:t>
            </a:r>
          </a:p>
        </p:txBody>
      </p:sp>
      <p:sp>
        <p:nvSpPr>
          <p:cNvPr id="100" name="Rectangle 9067"/>
          <p:cNvSpPr/>
          <p:nvPr/>
        </p:nvSpPr>
        <p:spPr>
          <a:xfrm>
            <a:off x="4604223" y="2742111"/>
            <a:ext cx="1005840" cy="7954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D </a:t>
            </a:r>
            <a:r>
              <a:rPr kumimoji="0" sz="1050" b="1" i="0" u="none" strike="noStrike" kern="1200" cap="none" spc="0" normalizeH="0" baseline="0" noProof="0" dirty="0" err="1">
                <a:ln>
                  <a:noFill/>
                </a:ln>
                <a:solidFill>
                  <a:srgbClr val="000000"/>
                </a:solidFill>
                <a:effectLst/>
                <a:uLnTx/>
                <a:uFillTx/>
                <a:latin typeface="맑은 고딕"/>
                <a:ea typeface="맑은 고딕"/>
                <a:cs typeface="+mn-cs"/>
              </a:rPr>
              <a:t>노드</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000000"/>
                </a:solidFill>
                <a:effectLst/>
                <a:uLnTx/>
                <a:uFillTx/>
                <a:latin typeface="맑은 고딕"/>
                <a:ea typeface="맑은 고딕"/>
                <a:cs typeface="+mn-cs"/>
              </a:rPr>
              <a:t>Decode</a:t>
            </a:r>
          </a:p>
        </p:txBody>
      </p:sp>
      <p:cxnSp>
        <p:nvCxnSpPr>
          <p:cNvPr id="102" name="Connector 9068"/>
          <p:cNvCxnSpPr/>
          <p:nvPr/>
        </p:nvCxnSpPr>
        <p:spPr>
          <a:xfrm>
            <a:off x="1678143" y="3003701"/>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848553" y="2842785"/>
            <a:ext cx="2493818" cy="138499"/>
          </a:xfrm>
          <a:prstGeom prst="rect">
            <a:avLst/>
          </a:prstGeom>
          <a:noFill/>
        </p:spPr>
        <p:txBody>
          <a:bodyPr wrap="square" lIns="0" tIns="0" rIns="0" bIns="0" anchor="t">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900" b="1" i="0" u="none" strike="noStrike" kern="1200" cap="none" spc="0" normalizeH="0" baseline="0" noProof="0" dirty="0" smtClean="0">
                <a:ln>
                  <a:noFill/>
                </a:ln>
                <a:solidFill>
                  <a:srgbClr val="2F5597"/>
                </a:solidFill>
                <a:effectLst/>
                <a:uLnTx/>
                <a:uFillTx/>
                <a:latin typeface="맑은 고딕"/>
                <a:ea typeface="맑은 고딕"/>
                <a:cs typeface="+mn-cs"/>
              </a:rPr>
              <a:t>KV </a:t>
            </a:r>
            <a:r>
              <a:rPr kumimoji="0" sz="900" b="1" i="0" u="none" strike="noStrike" kern="1200" cap="none" spc="0" normalizeH="0" baseline="0" noProof="0" dirty="0" err="1">
                <a:ln>
                  <a:noFill/>
                </a:ln>
                <a:solidFill>
                  <a:srgbClr val="2F5597"/>
                </a:solidFill>
                <a:effectLst/>
                <a:uLnTx/>
                <a:uFillTx/>
                <a:latin typeface="맑은 고딕"/>
                <a:ea typeface="맑은 고딕"/>
                <a:cs typeface="+mn-cs"/>
              </a:rPr>
              <a:t>전송</a:t>
            </a:r>
            <a:r>
              <a:rPr kumimoji="0" sz="900" b="1" i="0" u="none" strike="noStrike" kern="1200" cap="none" spc="0" normalizeH="0" baseline="0" noProof="0" dirty="0">
                <a:ln>
                  <a:noFill/>
                </a:ln>
                <a:solidFill>
                  <a:srgbClr val="2F5597"/>
                </a:solidFill>
                <a:effectLst/>
                <a:uLnTx/>
                <a:uFillTx/>
                <a:latin typeface="맑은 고딕"/>
                <a:ea typeface="맑은 고딕"/>
                <a:cs typeface="+mn-cs"/>
              </a:rPr>
              <a:t> (P→D</a:t>
            </a:r>
            <a:r>
              <a:rPr kumimoji="0" sz="900" b="1" i="0" u="none" strike="noStrike" kern="1200" cap="none" spc="0" normalizeH="0" baseline="0" noProof="0" dirty="0" smtClean="0">
                <a:ln>
                  <a:noFill/>
                </a:ln>
                <a:solidFill>
                  <a:srgbClr val="2F5597"/>
                </a:solidFill>
                <a:effectLst/>
                <a:uLnTx/>
                <a:uFillTx/>
                <a:latin typeface="맑은 고딕"/>
                <a:ea typeface="맑은 고딕"/>
                <a:cs typeface="+mn-cs"/>
              </a:rPr>
              <a:t>)</a:t>
            </a:r>
            <a:r>
              <a:rPr kumimoji="0" lang="en-US" sz="900" b="1" i="0" u="none" strike="noStrike" kern="1200" cap="none" spc="0" normalizeH="0" baseline="0" noProof="0" dirty="0" smtClean="0">
                <a:ln>
                  <a:noFill/>
                </a:ln>
                <a:solidFill>
                  <a:srgbClr val="2F5597"/>
                </a:solidFill>
                <a:effectLst/>
                <a:uLnTx/>
                <a:uFillTx/>
                <a:latin typeface="맑은 고딕"/>
                <a:ea typeface="맑은 고딕"/>
                <a:cs typeface="+mn-cs"/>
              </a:rPr>
              <a:t> (</a:t>
            </a:r>
            <a:r>
              <a:rPr lang="en-US" sz="900" b="1" dirty="0" smtClean="0">
                <a:solidFill>
                  <a:srgbClr val="2F5597"/>
                </a:solidFill>
                <a:latin typeface="맑은 고딕"/>
                <a:ea typeface="맑은 고딕"/>
              </a:rPr>
              <a:t>Request)</a:t>
            </a:r>
            <a:endParaRPr kumimoji="0" sz="900" b="1" i="0" u="none" strike="noStrike" kern="1200" cap="none" spc="0" normalizeH="0" baseline="0" noProof="0" dirty="0">
              <a:ln>
                <a:noFill/>
              </a:ln>
              <a:solidFill>
                <a:srgbClr val="2F5597"/>
              </a:solidFill>
              <a:effectLst/>
              <a:uLnTx/>
              <a:uFillTx/>
              <a:latin typeface="맑은 고딕"/>
              <a:ea typeface="맑은 고딕"/>
              <a:cs typeface="+mn-cs"/>
            </a:endParaRPr>
          </a:p>
        </p:txBody>
      </p:sp>
      <p:cxnSp>
        <p:nvCxnSpPr>
          <p:cNvPr id="104" name="Connector 9070"/>
          <p:cNvCxnSpPr/>
          <p:nvPr/>
        </p:nvCxnSpPr>
        <p:spPr>
          <a:xfrm flipH="1">
            <a:off x="1678143" y="3329734"/>
            <a:ext cx="2926080" cy="0"/>
          </a:xfrm>
          <a:prstGeom prst="line">
            <a:avLst/>
          </a:prstGeom>
          <a:ln w="15875">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1723862" y="3167608"/>
            <a:ext cx="2743200" cy="138499"/>
          </a:xfrm>
          <a:prstGeom prst="rect">
            <a:avLst/>
          </a:prstGeom>
          <a:noFill/>
        </p:spPr>
        <p:txBody>
          <a:bodyPr wrap="square" lIns="0" tIns="0" rIns="0" bIns="0" anchor="t">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smtClean="0">
                <a:ln>
                  <a:noFill/>
                </a:ln>
                <a:solidFill>
                  <a:srgbClr val="C00000"/>
                </a:solidFill>
                <a:effectLst/>
                <a:uLnTx/>
                <a:uFillTx/>
                <a:latin typeface="맑은 고딕"/>
                <a:ea typeface="맑은 고딕"/>
                <a:cs typeface="+mn-cs"/>
              </a:rPr>
              <a:t>Turn</a:t>
            </a:r>
            <a:r>
              <a:rPr kumimoji="0" lang="en-US" sz="900" b="1" i="0" u="none" strike="noStrike" kern="1200" cap="none" spc="0" normalizeH="0" noProof="0" dirty="0" smtClean="0">
                <a:ln>
                  <a:noFill/>
                </a:ln>
                <a:solidFill>
                  <a:srgbClr val="C00000"/>
                </a:solidFill>
                <a:effectLst/>
                <a:uLnTx/>
                <a:uFillTx/>
                <a:latin typeface="맑은 고딕"/>
                <a:ea typeface="맑은 고딕"/>
                <a:cs typeface="+mn-cs"/>
              </a:rPr>
              <a:t> 1’s </a:t>
            </a:r>
            <a:r>
              <a:rPr kumimoji="0" sz="900" b="1" i="0" u="none" strike="noStrike" kern="1200" cap="none" spc="0" normalizeH="0" baseline="0" noProof="0" dirty="0" smtClean="0">
                <a:ln>
                  <a:noFill/>
                </a:ln>
                <a:solidFill>
                  <a:srgbClr val="C00000"/>
                </a:solidFill>
                <a:effectLst/>
                <a:uLnTx/>
                <a:uFillTx/>
                <a:latin typeface="맑은 고딕"/>
                <a:ea typeface="맑은 고딕"/>
                <a:cs typeface="+mn-cs"/>
              </a:rPr>
              <a:t>KV </a:t>
            </a:r>
            <a:r>
              <a:rPr kumimoji="0" sz="900" b="1" i="0" u="none" strike="noStrike" kern="1200" cap="none" spc="0" normalizeH="0" baseline="0" noProof="0" dirty="0" err="1">
                <a:ln>
                  <a:noFill/>
                </a:ln>
                <a:solidFill>
                  <a:srgbClr val="C00000"/>
                </a:solidFill>
                <a:effectLst/>
                <a:uLnTx/>
                <a:uFillTx/>
                <a:latin typeface="맑은 고딕"/>
                <a:ea typeface="맑은 고딕"/>
                <a:cs typeface="+mn-cs"/>
              </a:rPr>
              <a:t>전송</a:t>
            </a:r>
            <a:r>
              <a:rPr kumimoji="0" sz="900" b="1" i="0" u="none" strike="noStrike" kern="1200" cap="none" spc="0" normalizeH="0" baseline="0" noProof="0" dirty="0">
                <a:ln>
                  <a:noFill/>
                </a:ln>
                <a:solidFill>
                  <a:srgbClr val="C00000"/>
                </a:solidFill>
                <a:effectLst/>
                <a:uLnTx/>
                <a:uFillTx/>
                <a:latin typeface="맑은 고딕"/>
                <a:ea typeface="맑은 고딕"/>
                <a:cs typeface="+mn-cs"/>
              </a:rPr>
              <a:t> (D→P</a:t>
            </a:r>
            <a:r>
              <a:rPr kumimoji="0" sz="900" b="1" i="0" u="none" strike="noStrike" kern="1200" cap="none" spc="0" normalizeH="0" baseline="0" noProof="0" dirty="0" smtClean="0">
                <a:ln>
                  <a:noFill/>
                </a:ln>
                <a:solidFill>
                  <a:srgbClr val="C00000"/>
                </a:solidFill>
                <a:effectLst/>
                <a:uLnTx/>
                <a:uFillTx/>
                <a:latin typeface="맑은 고딕"/>
                <a:ea typeface="맑은 고딕"/>
                <a:cs typeface="+mn-cs"/>
              </a:rPr>
              <a:t>)</a:t>
            </a:r>
            <a:r>
              <a:rPr kumimoji="0" lang="en-US" sz="900" b="1" i="0" u="none" strike="noStrike" kern="1200" cap="none" spc="0" normalizeH="0" baseline="0" noProof="0" dirty="0" smtClean="0">
                <a:ln>
                  <a:noFill/>
                </a:ln>
                <a:solidFill>
                  <a:srgbClr val="C00000"/>
                </a:solidFill>
                <a:effectLst/>
                <a:uLnTx/>
                <a:uFillTx/>
                <a:latin typeface="맑은 고딕"/>
                <a:ea typeface="맑은 고딕"/>
                <a:cs typeface="+mn-cs"/>
              </a:rPr>
              <a:t> (Response)</a:t>
            </a:r>
            <a:endParaRPr kumimoji="0" sz="900" b="1" i="0" u="none" strike="noStrike" kern="1200" cap="none" spc="0" normalizeH="0" baseline="0" noProof="0" dirty="0">
              <a:ln>
                <a:noFill/>
              </a:ln>
              <a:solidFill>
                <a:srgbClr val="C00000"/>
              </a:solidFill>
              <a:effectLst/>
              <a:uLnTx/>
              <a:uFillTx/>
              <a:latin typeface="맑은 고딕"/>
              <a:ea typeface="맑은 고딕"/>
              <a:cs typeface="+mn-cs"/>
            </a:endParaRPr>
          </a:p>
        </p:txBody>
      </p:sp>
      <p:sp>
        <p:nvSpPr>
          <p:cNvPr id="108" name="TextBox 107"/>
          <p:cNvSpPr txBox="1"/>
          <p:nvPr/>
        </p:nvSpPr>
        <p:spPr>
          <a:xfrm>
            <a:off x="1269182" y="3717031"/>
            <a:ext cx="3837961" cy="242374"/>
          </a:xfrm>
          <a:prstGeom prst="rect">
            <a:avLst/>
          </a:prstGeom>
          <a:noFill/>
        </p:spPr>
        <p:txBody>
          <a:bodyPr wrap="square" lIns="0" tIns="0" rIns="0" bIns="0" anchor="t">
            <a:spAutoFit/>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lang="en-US" altLang="ko-KR" sz="1050" b="1" dirty="0" smtClean="0">
                <a:solidFill>
                  <a:srgbClr val="C00000"/>
                </a:solidFill>
                <a:latin typeface="맑은 고딕"/>
                <a:ea typeface="맑은 고딕"/>
              </a:rPr>
              <a:t>Turn </a:t>
            </a:r>
            <a:r>
              <a:rPr lang="ko-KR" altLang="en-US" sz="1050" b="1" dirty="0" smtClean="0">
                <a:solidFill>
                  <a:srgbClr val="C00000"/>
                </a:solidFill>
                <a:latin typeface="맑은 고딕"/>
                <a:ea typeface="맑은 고딕"/>
              </a:rPr>
              <a:t>마다 </a:t>
            </a:r>
            <a:r>
              <a:rPr lang="en-US" altLang="ko-KR" sz="1050" b="1" dirty="0" smtClean="0">
                <a:solidFill>
                  <a:srgbClr val="C00000"/>
                </a:solidFill>
                <a:latin typeface="맑은 고딕"/>
                <a:ea typeface="맑은 고딕"/>
              </a:rPr>
              <a:t>P&lt;-&gt;D </a:t>
            </a:r>
            <a:r>
              <a:rPr lang="ko-KR" altLang="en-US" sz="1050" b="1" dirty="0" smtClean="0">
                <a:solidFill>
                  <a:srgbClr val="C00000"/>
                </a:solidFill>
                <a:latin typeface="맑은 고딕"/>
                <a:ea typeface="맑은 고딕"/>
              </a:rPr>
              <a:t>노드 간 </a:t>
            </a:r>
            <a:r>
              <a:rPr lang="en-US" altLang="ko-KR" sz="1050" b="1" dirty="0" smtClean="0">
                <a:solidFill>
                  <a:srgbClr val="C00000"/>
                </a:solidFill>
                <a:latin typeface="맑은 고딕"/>
                <a:ea typeface="맑은 고딕"/>
              </a:rPr>
              <a:t>KV(</a:t>
            </a:r>
            <a:r>
              <a:rPr lang="ko-KR" altLang="en-US" sz="1050" b="1" dirty="0" smtClean="0">
                <a:solidFill>
                  <a:srgbClr val="C00000"/>
                </a:solidFill>
                <a:latin typeface="맑은 고딕"/>
                <a:ea typeface="맑은 고딕"/>
              </a:rPr>
              <a:t>메시지</a:t>
            </a:r>
            <a:r>
              <a:rPr lang="en-US" altLang="ko-KR" sz="1050" b="1" dirty="0" smtClean="0">
                <a:solidFill>
                  <a:srgbClr val="C00000"/>
                </a:solidFill>
                <a:latin typeface="맑은 고딕"/>
                <a:ea typeface="맑은 고딕"/>
              </a:rPr>
              <a:t>) </a:t>
            </a:r>
            <a:r>
              <a:rPr lang="ko-KR" altLang="en-US" sz="1050" b="1" dirty="0" smtClean="0">
                <a:solidFill>
                  <a:srgbClr val="C00000"/>
                </a:solidFill>
                <a:latin typeface="맑은 고딕"/>
                <a:ea typeface="맑은 고딕"/>
              </a:rPr>
              <a:t>송수신</a:t>
            </a:r>
            <a:endParaRPr kumimoji="0" sz="1050" b="1" i="0" u="none" strike="noStrike" kern="1200" cap="none" spc="0" normalizeH="0" baseline="0" noProof="0" dirty="0">
              <a:ln>
                <a:noFill/>
              </a:ln>
              <a:solidFill>
                <a:srgbClr val="C00000"/>
              </a:solidFill>
              <a:effectLst/>
              <a:uLnTx/>
              <a:uFillTx/>
              <a:latin typeface="맑은 고딕"/>
              <a:ea typeface="맑은 고딕"/>
              <a:cs typeface="+mn-cs"/>
            </a:endParaRPr>
          </a:p>
        </p:txBody>
      </p:sp>
      <p:sp>
        <p:nvSpPr>
          <p:cNvPr id="109" name="Rectangle 9076"/>
          <p:cNvSpPr/>
          <p:nvPr/>
        </p:nvSpPr>
        <p:spPr>
          <a:xfrm>
            <a:off x="6720840" y="2738095"/>
            <a:ext cx="822960" cy="754581"/>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P </a:t>
            </a:r>
            <a:r>
              <a:rPr kumimoji="0" sz="1050" b="1" i="0" u="none" strike="noStrike" kern="1200" cap="none" spc="0" normalizeH="0" baseline="0" noProof="0" dirty="0" err="1">
                <a:ln>
                  <a:noFill/>
                </a:ln>
                <a:solidFill>
                  <a:srgbClr val="000000"/>
                </a:solidFill>
                <a:effectLst/>
                <a:uLnTx/>
                <a:uFillTx/>
                <a:latin typeface="맑은 고딕"/>
                <a:ea typeface="맑은 고딕"/>
                <a:cs typeface="+mn-cs"/>
              </a:rPr>
              <a:t>노드</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000000"/>
                </a:solidFill>
                <a:effectLst/>
                <a:uLnTx/>
                <a:uFillTx/>
                <a:latin typeface="맑은 고딕"/>
                <a:ea typeface="맑은 고딕"/>
                <a:cs typeface="+mn-cs"/>
              </a:rPr>
              <a:t>Prefill</a:t>
            </a:r>
          </a:p>
        </p:txBody>
      </p:sp>
      <p:sp>
        <p:nvSpPr>
          <p:cNvPr id="110" name="Rectangle 9077"/>
          <p:cNvSpPr/>
          <p:nvPr/>
        </p:nvSpPr>
        <p:spPr>
          <a:xfrm>
            <a:off x="10744200" y="2772394"/>
            <a:ext cx="882100" cy="685983"/>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D </a:t>
            </a:r>
            <a:r>
              <a:rPr kumimoji="0" sz="1050" b="1" i="0" u="none" strike="noStrike" kern="1200" cap="none" spc="0" normalizeH="0" baseline="0" noProof="0" dirty="0" err="1">
                <a:ln>
                  <a:noFill/>
                </a:ln>
                <a:solidFill>
                  <a:srgbClr val="000000"/>
                </a:solidFill>
                <a:effectLst/>
                <a:uLnTx/>
                <a:uFillTx/>
                <a:latin typeface="맑은 고딕"/>
                <a:ea typeface="맑은 고딕"/>
                <a:cs typeface="+mn-cs"/>
              </a:rPr>
              <a:t>노드</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000000"/>
                </a:solidFill>
                <a:effectLst/>
                <a:uLnTx/>
                <a:uFillTx/>
                <a:latin typeface="맑은 고딕"/>
                <a:ea typeface="맑은 고딕"/>
                <a:cs typeface="+mn-cs"/>
              </a:rPr>
              <a:t>Decode</a:t>
            </a:r>
          </a:p>
        </p:txBody>
      </p:sp>
      <p:sp>
        <p:nvSpPr>
          <p:cNvPr id="111" name="Rectangle 9078"/>
          <p:cNvSpPr/>
          <p:nvPr/>
        </p:nvSpPr>
        <p:spPr>
          <a:xfrm>
            <a:off x="8312728" y="2740481"/>
            <a:ext cx="1662545"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50" b="1" i="0" u="none" strike="noStrike" kern="1200" cap="none" spc="0" normalizeH="0" baseline="0" noProof="0" dirty="0" err="1">
                <a:ln>
                  <a:noFill/>
                </a:ln>
                <a:solidFill>
                  <a:srgbClr val="000000"/>
                </a:solidFill>
                <a:effectLst/>
                <a:uLnTx/>
                <a:uFillTx/>
                <a:latin typeface="맑은 고딕"/>
                <a:ea typeface="맑은 고딕"/>
                <a:cs typeface="+mn-cs"/>
              </a:rPr>
              <a:t>공유</a:t>
            </a:r>
            <a:r>
              <a:rPr kumimoji="0" sz="1050" b="1" i="0" u="none" strike="noStrike" kern="1200" cap="none" spc="0" normalizeH="0" baseline="0" noProof="0" dirty="0">
                <a:ln>
                  <a:noFill/>
                </a:ln>
                <a:solidFill>
                  <a:srgbClr val="000000"/>
                </a:solidFill>
                <a:effectLst/>
                <a:uLnTx/>
                <a:uFillTx/>
                <a:latin typeface="맑은 고딕"/>
                <a:ea typeface="맑은 고딕"/>
                <a:cs typeface="+mn-cs"/>
              </a:rPr>
              <a:t> </a:t>
            </a:r>
            <a:r>
              <a:rPr kumimoji="0" lang="ko-KR" altLang="en-US" sz="1050" b="1" i="0" u="none" strike="noStrike" kern="1200" cap="none" spc="0" normalizeH="0" baseline="0" noProof="0" dirty="0">
                <a:ln>
                  <a:noFill/>
                </a:ln>
                <a:solidFill>
                  <a:srgbClr val="000000"/>
                </a:solidFill>
                <a:effectLst/>
                <a:uLnTx/>
                <a:uFillTx/>
                <a:latin typeface="맑은 고딕"/>
                <a:ea typeface="맑은 고딕"/>
                <a:cs typeface="+mn-cs"/>
              </a:rPr>
              <a:t>메모리 </a:t>
            </a:r>
            <a:r>
              <a:rPr kumimoji="0" sz="1050" b="1" i="0" u="none" strike="noStrike" kern="1200" cap="none" spc="0" normalizeH="0" baseline="0" noProof="0" dirty="0">
                <a:ln>
                  <a:noFill/>
                </a:ln>
                <a:solidFill>
                  <a:srgbClr val="000000"/>
                </a:solidFill>
                <a:effectLst/>
                <a:uLnTx/>
                <a:uFillTx/>
                <a:latin typeface="맑은 고딕"/>
                <a:ea typeface="맑은 고딕"/>
                <a:cs typeface="+mn-cs"/>
              </a:rPr>
              <a:t>풀</a:t>
            </a:r>
            <a:endParaRPr kumimoji="0" lang="en-US"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sz="1050" b="1" dirty="0">
                <a:solidFill>
                  <a:srgbClr val="000000"/>
                </a:solidFill>
                <a:latin typeface="맑은 고딕"/>
                <a:ea typeface="맑은 고딕"/>
              </a:rPr>
              <a:t>(CXL based) </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p:txBody>
      </p:sp>
      <p:cxnSp>
        <p:nvCxnSpPr>
          <p:cNvPr id="112" name="Connector 9079"/>
          <p:cNvCxnSpPr>
            <a:stCxn id="109" idx="3"/>
            <a:endCxn id="111" idx="1"/>
          </p:cNvCxnSpPr>
          <p:nvPr/>
        </p:nvCxnSpPr>
        <p:spPr>
          <a:xfrm flipV="1">
            <a:off x="7543800" y="3115385"/>
            <a:ext cx="768928" cy="1"/>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7543800" y="2941548"/>
            <a:ext cx="777240" cy="138499"/>
          </a:xfrm>
          <a:prstGeom prst="rect">
            <a:avLst/>
          </a:prstGeom>
          <a:noFill/>
        </p:spPr>
        <p:txBody>
          <a:bodyPr wrap="square" lIns="0" tIns="0" rIns="0" bIns="0" anchor="t">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smtClean="0">
                <a:ln>
                  <a:noFill/>
                </a:ln>
                <a:solidFill>
                  <a:srgbClr val="2F5597"/>
                </a:solidFill>
                <a:effectLst/>
                <a:uLnTx/>
                <a:uFillTx/>
                <a:latin typeface="맑은 고딕"/>
                <a:ea typeface="맑은 고딕"/>
                <a:cs typeface="+mn-cs"/>
              </a:rPr>
              <a:t>Read/write</a:t>
            </a:r>
            <a:endParaRPr kumimoji="0" sz="900" b="1" i="0" u="none" strike="noStrike" kern="1200" cap="none" spc="0" normalizeH="0" baseline="0" noProof="0" dirty="0">
              <a:ln>
                <a:noFill/>
              </a:ln>
              <a:solidFill>
                <a:srgbClr val="2F5597"/>
              </a:solidFill>
              <a:effectLst/>
              <a:uLnTx/>
              <a:uFillTx/>
              <a:latin typeface="맑은 고딕"/>
              <a:ea typeface="맑은 고딕"/>
              <a:cs typeface="+mn-cs"/>
            </a:endParaRPr>
          </a:p>
        </p:txBody>
      </p:sp>
      <p:sp>
        <p:nvSpPr>
          <p:cNvPr id="118" name="TextBox 117"/>
          <p:cNvSpPr txBox="1"/>
          <p:nvPr/>
        </p:nvSpPr>
        <p:spPr>
          <a:xfrm>
            <a:off x="6505660" y="3618276"/>
            <a:ext cx="5120640" cy="484748"/>
          </a:xfrm>
          <a:prstGeom prst="rect">
            <a:avLst/>
          </a:prstGeom>
          <a:noFill/>
        </p:spPr>
        <p:txBody>
          <a:bodyPr wrap="square" lIns="0" tIns="0" rIns="0" bIns="0" anchor="t">
            <a:spAutoFit/>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050" b="1" i="0" u="none" strike="noStrike" kern="1200" cap="none" spc="0" normalizeH="0" baseline="0" noProof="0" dirty="0">
                <a:ln>
                  <a:noFill/>
                </a:ln>
                <a:solidFill>
                  <a:srgbClr val="375623"/>
                </a:solidFill>
                <a:effectLst/>
                <a:uLnTx/>
                <a:uFillTx/>
                <a:latin typeface="맑은 고딕"/>
                <a:ea typeface="맑은 고딕"/>
                <a:cs typeface="+mn-cs"/>
              </a:rPr>
              <a:t>데이터 </a:t>
            </a:r>
            <a:r>
              <a:rPr kumimoji="0" sz="1050" b="1" i="0" u="none" strike="noStrike" kern="1200" cap="none" spc="0" normalizeH="0" baseline="0" noProof="0" dirty="0" err="1">
                <a:ln>
                  <a:noFill/>
                </a:ln>
                <a:solidFill>
                  <a:srgbClr val="375623"/>
                </a:solidFill>
                <a:effectLst/>
                <a:uLnTx/>
                <a:uFillTx/>
                <a:latin typeface="맑은 고딕"/>
                <a:ea typeface="맑은 고딕"/>
                <a:cs typeface="+mn-cs"/>
              </a:rPr>
              <a:t>위치가</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r>
              <a:rPr kumimoji="0" sz="1050" b="1" i="0" u="none" strike="noStrike" kern="1200" cap="none" spc="0" normalizeH="0" baseline="0" noProof="0" dirty="0" err="1">
                <a:ln>
                  <a:noFill/>
                </a:ln>
                <a:solidFill>
                  <a:srgbClr val="375623"/>
                </a:solidFill>
                <a:effectLst/>
                <a:uLnTx/>
                <a:uFillTx/>
                <a:latin typeface="맑은 고딕"/>
                <a:ea typeface="맑은 고딕"/>
                <a:cs typeface="+mn-cs"/>
              </a:rPr>
              <a:t>노드에</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r>
              <a:rPr kumimoji="0" sz="1050" b="1" i="0" u="none" strike="noStrike" kern="1200" cap="none" spc="0" normalizeH="0" baseline="0" noProof="0" dirty="0" err="1">
                <a:ln>
                  <a:noFill/>
                </a:ln>
                <a:solidFill>
                  <a:srgbClr val="375623"/>
                </a:solidFill>
                <a:effectLst/>
                <a:uLnTx/>
                <a:uFillTx/>
                <a:latin typeface="맑은 고딕"/>
                <a:ea typeface="맑은 고딕"/>
                <a:cs typeface="+mn-cs"/>
              </a:rPr>
              <a:t>묶이지</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r>
              <a:rPr kumimoji="0" sz="1050" b="1" i="0" u="none" strike="noStrike" kern="1200" cap="none" spc="0" normalizeH="0" baseline="0" noProof="0" dirty="0" err="1">
                <a:ln>
                  <a:noFill/>
                </a:ln>
                <a:solidFill>
                  <a:srgbClr val="375623"/>
                </a:solidFill>
                <a:effectLst/>
                <a:uLnTx/>
                <a:uFillTx/>
                <a:latin typeface="맑은 고딕"/>
                <a:ea typeface="맑은 고딕"/>
                <a:cs typeface="+mn-cs"/>
              </a:rPr>
              <a:t>않고</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r>
              <a:rPr kumimoji="0" lang="en-US" sz="1050" b="1" i="0" u="none" strike="noStrike" kern="1200" cap="none" spc="0" normalizeH="0" baseline="0" noProof="0" dirty="0" smtClean="0">
                <a:ln>
                  <a:noFill/>
                </a:ln>
                <a:solidFill>
                  <a:srgbClr val="375623"/>
                </a:solidFill>
                <a:effectLst/>
                <a:uLnTx/>
                <a:uFillTx/>
                <a:latin typeface="맑은 고딕"/>
                <a:ea typeface="맑은 고딕"/>
                <a:cs typeface="+mn-cs"/>
              </a:rPr>
              <a:t> </a:t>
            </a:r>
            <a:r>
              <a:rPr kumimoji="0" sz="1050" b="1" i="0" u="none" strike="noStrike" kern="1200" cap="none" spc="0" normalizeH="0" baseline="0" noProof="0" dirty="0" err="1" smtClean="0">
                <a:ln>
                  <a:noFill/>
                </a:ln>
                <a:solidFill>
                  <a:srgbClr val="375623"/>
                </a:solidFill>
                <a:effectLst/>
                <a:uLnTx/>
                <a:uFillTx/>
                <a:latin typeface="맑은 고딕"/>
                <a:ea typeface="맑은 고딕"/>
                <a:cs typeface="+mn-cs"/>
              </a:rPr>
              <a:t>요청</a:t>
            </a:r>
            <a:r>
              <a:rPr kumimoji="0" sz="1050" b="1" i="0" u="none" strike="noStrike" kern="1200" cap="none" spc="0" normalizeH="0" baseline="0" noProof="0" dirty="0" smtClean="0">
                <a:ln>
                  <a:noFill/>
                </a:ln>
                <a:solidFill>
                  <a:srgbClr val="375623"/>
                </a:solidFill>
                <a:effectLst/>
                <a:uLnTx/>
                <a:uFillTx/>
                <a:latin typeface="맑은 고딕"/>
                <a:ea typeface="맑은 고딕"/>
                <a:cs typeface="+mn-cs"/>
              </a:rPr>
              <a:t> </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간 </a:t>
            </a:r>
            <a:r>
              <a:rPr kumimoji="0" sz="1050" b="1" i="0" u="none" strike="noStrike" kern="1200" cap="none" spc="0" normalizeH="0" baseline="0" noProof="0" dirty="0" err="1">
                <a:ln>
                  <a:noFill/>
                </a:ln>
                <a:solidFill>
                  <a:srgbClr val="375623"/>
                </a:solidFill>
                <a:effectLst/>
                <a:uLnTx/>
                <a:uFillTx/>
                <a:latin typeface="맑은 고딕"/>
                <a:ea typeface="맑은 고딕"/>
                <a:cs typeface="+mn-cs"/>
              </a:rPr>
              <a:t>공유</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r>
              <a:rPr kumimoji="0" sz="1050" b="1" i="0" u="none" strike="noStrike" kern="1200" cap="none" spc="0" normalizeH="0" baseline="0" noProof="0" dirty="0" err="1">
                <a:ln>
                  <a:noFill/>
                </a:ln>
                <a:solidFill>
                  <a:srgbClr val="375623"/>
                </a:solidFill>
                <a:effectLst/>
                <a:uLnTx/>
                <a:uFillTx/>
                <a:latin typeface="맑은 고딕"/>
                <a:ea typeface="맑은 고딕"/>
                <a:cs typeface="+mn-cs"/>
              </a:rPr>
              <a:t>가능</a:t>
            </a: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endParaRPr kumimoji="0" lang="en-US" sz="1050" b="1" i="0" u="none" strike="noStrike" kern="1200" cap="none" spc="0" normalizeH="0" baseline="0" noProof="0" dirty="0">
              <a:ln>
                <a:noFill/>
              </a:ln>
              <a:solidFill>
                <a:srgbClr val="375623"/>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kumimoji="0" sz="1050" b="1" i="0" u="none" strike="noStrike" kern="1200" cap="none" spc="0" normalizeH="0" baseline="0" noProof="0" dirty="0">
                <a:ln>
                  <a:noFill/>
                </a:ln>
                <a:solidFill>
                  <a:srgbClr val="375623"/>
                </a:solidFill>
                <a:effectLst/>
                <a:uLnTx/>
                <a:uFillTx/>
                <a:latin typeface="맑은 고딕"/>
                <a:ea typeface="맑은 고딕"/>
                <a:cs typeface="+mn-cs"/>
              </a:rPr>
              <a:t>→ </a:t>
            </a:r>
            <a:r>
              <a:rPr kumimoji="0" lang="ko-KR" altLang="en-US" sz="1050" b="1" i="0" u="none" strike="noStrike" kern="1200" cap="none" spc="0" normalizeH="0" baseline="0" noProof="0" dirty="0">
                <a:ln>
                  <a:noFill/>
                </a:ln>
                <a:solidFill>
                  <a:srgbClr val="375623"/>
                </a:solidFill>
                <a:effectLst/>
                <a:uLnTx/>
                <a:uFillTx/>
                <a:latin typeface="맑은 고딕"/>
                <a:ea typeface="맑은 고딕"/>
                <a:cs typeface="+mn-cs"/>
              </a:rPr>
              <a:t>노드 간의 데이터 일관성</a:t>
            </a:r>
            <a:r>
              <a:rPr kumimoji="0" lang="en-US" altLang="ko-KR" sz="1050" b="1" i="0" u="none" strike="noStrike" kern="1200" cap="none" spc="0" normalizeH="0" baseline="0" noProof="0" dirty="0">
                <a:ln>
                  <a:noFill/>
                </a:ln>
                <a:solidFill>
                  <a:srgbClr val="375623"/>
                </a:solidFill>
                <a:effectLst/>
                <a:uLnTx/>
                <a:uFillTx/>
                <a:latin typeface="맑은 고딕"/>
                <a:ea typeface="맑은 고딕"/>
                <a:cs typeface="+mn-cs"/>
              </a:rPr>
              <a:t>(Coherency)</a:t>
            </a:r>
            <a:r>
              <a:rPr kumimoji="0" lang="ko-KR" altLang="en-US" sz="1050" b="1" i="0" u="none" strike="noStrike" kern="1200" cap="none" spc="0" normalizeH="0" baseline="0" noProof="0" dirty="0">
                <a:ln>
                  <a:noFill/>
                </a:ln>
                <a:solidFill>
                  <a:srgbClr val="375623"/>
                </a:solidFill>
                <a:effectLst/>
                <a:uLnTx/>
                <a:uFillTx/>
                <a:latin typeface="맑은 고딕"/>
                <a:ea typeface="맑은 고딕"/>
                <a:cs typeface="+mn-cs"/>
              </a:rPr>
              <a:t>을 보장하는 것이 관건 </a:t>
            </a:r>
            <a:endParaRPr kumimoji="0" lang="en-US" altLang="ko-KR" sz="1050" b="1" i="0" u="none" strike="noStrike" kern="1200" cap="none" spc="0" normalizeH="0" baseline="0" noProof="0" dirty="0">
              <a:ln>
                <a:noFill/>
              </a:ln>
              <a:solidFill>
                <a:srgbClr val="375623"/>
              </a:solidFill>
              <a:effectLst/>
              <a:uLnTx/>
              <a:uFillTx/>
              <a:latin typeface="맑은 고딕"/>
              <a:ea typeface="맑은 고딕"/>
              <a:cs typeface="+mn-cs"/>
            </a:endParaRPr>
          </a:p>
        </p:txBody>
      </p:sp>
      <p:sp>
        <p:nvSpPr>
          <p:cNvPr id="46" name="Rounded Rectangle 9088">
            <a:extLst>
              <a:ext uri="{FF2B5EF4-FFF2-40B4-BE49-F238E27FC236}">
                <a16:creationId xmlns:a16="http://schemas.microsoft.com/office/drawing/2014/main" id="{9D717CA0-C399-4F31-9058-41DFAFCF10CE}"/>
              </a:ext>
            </a:extLst>
          </p:cNvPr>
          <p:cNvSpPr/>
          <p:nvPr/>
        </p:nvSpPr>
        <p:spPr>
          <a:xfrm>
            <a:off x="7117966" y="4617993"/>
            <a:ext cx="3383280" cy="452882"/>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맑은 고딕"/>
                <a:ea typeface="맑은 고딕"/>
                <a:cs typeface="+mn-cs"/>
              </a:rPr>
              <a:t>DP</a:t>
            </a:r>
            <a:r>
              <a:rPr kumimoji="0" lang="en-US" sz="1050" b="1" i="0" u="none" strike="noStrike" kern="1200" cap="none" spc="0" normalizeH="0" baseline="0" noProof="0" dirty="0">
                <a:ln>
                  <a:noFill/>
                </a:ln>
                <a:solidFill>
                  <a:srgbClr val="000000"/>
                </a:solidFill>
                <a:effectLst/>
                <a:uLnTx/>
                <a:uFillTx/>
                <a:latin typeface="맑은 고딕"/>
                <a:ea typeface="맑은 고딕"/>
                <a:cs typeface="+mn-cs"/>
              </a:rPr>
              <a:t>1</a:t>
            </a:r>
            <a:r>
              <a:rPr kumimoji="0" sz="1050" b="1" i="0" u="none" strike="noStrike" kern="1200" cap="none" spc="0" normalizeH="0" baseline="0" noProof="0" dirty="0">
                <a:ln>
                  <a:noFill/>
                </a:ln>
                <a:solidFill>
                  <a:srgbClr val="000000"/>
                </a:solidFill>
                <a:effectLst/>
                <a:uLnTx/>
                <a:uFillTx/>
                <a:latin typeface="맑은 고딕"/>
                <a:ea typeface="맑은 고딕"/>
                <a:cs typeface="+mn-cs"/>
              </a:rPr>
              <a:t>  </a:t>
            </a:r>
            <a:r>
              <a:rPr kumimoji="0" lang="ko-KR" altLang="en-US" sz="1050" b="1" i="0" u="none" strike="noStrike" kern="1200" cap="none" spc="0" normalizeH="0" baseline="0" noProof="0" dirty="0">
                <a:ln>
                  <a:noFill/>
                </a:ln>
                <a:solidFill>
                  <a:srgbClr val="000000"/>
                </a:solidFill>
                <a:effectLst/>
                <a:uLnTx/>
                <a:uFillTx/>
                <a:latin typeface="맑은 고딕"/>
                <a:ea typeface="맑은 고딕"/>
                <a:cs typeface="+mn-cs"/>
              </a:rPr>
              <a:t>데이터 이동 결정</a:t>
            </a:r>
            <a:endParaRPr kumimoji="0" sz="105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맑은 고딕"/>
                <a:ea typeface="맑은 고딕"/>
                <a:cs typeface="+mn-cs"/>
              </a:rPr>
              <a:t>Ref</a:t>
            </a:r>
            <a:r>
              <a:rPr kumimoji="0" lang="ko-KR" altLang="en-US" sz="900" b="0" i="0" u="none" strike="noStrike" kern="1200" cap="none" spc="0" normalizeH="0" baseline="0" noProof="0" dirty="0">
                <a:ln>
                  <a:noFill/>
                </a:ln>
                <a:solidFill>
                  <a:srgbClr val="000000"/>
                </a:solidFill>
                <a:effectLst/>
                <a:uLnTx/>
                <a:uFillTx/>
                <a:latin typeface="맑은 고딕"/>
                <a:ea typeface="맑은 고딕"/>
                <a:cs typeface="+mn-cs"/>
              </a:rPr>
              <a:t> </a:t>
            </a:r>
            <a:r>
              <a:rPr kumimoji="0" lang="en-US" altLang="ko-KR" sz="900" b="0" i="0" u="none" strike="noStrike" kern="1200" cap="none" spc="0" normalizeH="0" baseline="0" noProof="0" dirty="0">
                <a:ln>
                  <a:noFill/>
                </a:ln>
                <a:solidFill>
                  <a:srgbClr val="000000"/>
                </a:solidFill>
                <a:effectLst/>
                <a:uLnTx/>
                <a:uFillTx/>
                <a:latin typeface="맑은 고딕"/>
                <a:ea typeface="맑은 고딕"/>
                <a:cs typeface="+mn-cs"/>
              </a:rPr>
              <a:t>count</a:t>
            </a:r>
            <a:r>
              <a:rPr kumimoji="0" lang="ko-KR" altLang="en-US" sz="900" b="0" i="0" u="none" strike="noStrike" kern="1200" cap="none" spc="0" normalizeH="0" baseline="0" noProof="0" dirty="0">
                <a:ln>
                  <a:noFill/>
                </a:ln>
                <a:solidFill>
                  <a:srgbClr val="000000"/>
                </a:solidFill>
                <a:effectLst/>
                <a:uLnTx/>
                <a:uFillTx/>
                <a:latin typeface="맑은 고딕"/>
                <a:ea typeface="맑은 고딕"/>
                <a:cs typeface="+mn-cs"/>
              </a:rPr>
              <a:t>가 많은 </a:t>
            </a:r>
            <a:r>
              <a:rPr kumimoji="0" lang="en-US" altLang="ko-KR" sz="900" b="0" i="0" u="none" strike="noStrike" kern="1200" cap="none" spc="0" normalizeH="0" baseline="0" noProof="0" dirty="0">
                <a:ln>
                  <a:noFill/>
                </a:ln>
                <a:solidFill>
                  <a:srgbClr val="000000"/>
                </a:solidFill>
                <a:effectLst/>
                <a:uLnTx/>
                <a:uFillTx/>
                <a:latin typeface="맑은 고딕"/>
                <a:ea typeface="맑은 고딕"/>
                <a:cs typeface="+mn-cs"/>
              </a:rPr>
              <a:t>KV </a:t>
            </a:r>
            <a:r>
              <a:rPr kumimoji="0" lang="ko-KR" altLang="en-US" sz="900" b="0" i="0" u="none" strike="noStrike" kern="1200" cap="none" spc="0" normalizeH="0" baseline="0" noProof="0" dirty="0">
                <a:ln>
                  <a:noFill/>
                </a:ln>
                <a:solidFill>
                  <a:srgbClr val="000000"/>
                </a:solidFill>
                <a:effectLst/>
                <a:uLnTx/>
                <a:uFillTx/>
                <a:latin typeface="맑은 고딕"/>
                <a:ea typeface="맑은 고딕"/>
                <a:cs typeface="+mn-cs"/>
              </a:rPr>
              <a:t>캐시는 공유 메모리 풀 지향</a:t>
            </a:r>
            <a:endParaRPr kumimoji="0" sz="900" b="0" i="0" u="none" strike="noStrike" kern="1200" cap="none" spc="0" normalizeH="0" baseline="0" noProof="0" dirty="0">
              <a:ln>
                <a:noFill/>
              </a:ln>
              <a:solidFill>
                <a:srgbClr val="000000"/>
              </a:solidFill>
              <a:effectLst/>
              <a:uLnTx/>
              <a:uFillTx/>
              <a:latin typeface="맑은 고딕"/>
              <a:ea typeface="맑은 고딕"/>
              <a:cs typeface="+mn-cs"/>
            </a:endParaRPr>
          </a:p>
        </p:txBody>
      </p:sp>
      <p:cxnSp>
        <p:nvCxnSpPr>
          <p:cNvPr id="47" name="Connector 9068">
            <a:extLst>
              <a:ext uri="{FF2B5EF4-FFF2-40B4-BE49-F238E27FC236}">
                <a16:creationId xmlns:a16="http://schemas.microsoft.com/office/drawing/2014/main" id="{FE92569E-C6A0-454B-8FFF-0FAEA7EB357C}"/>
              </a:ext>
            </a:extLst>
          </p:cNvPr>
          <p:cNvCxnSpPr/>
          <p:nvPr/>
        </p:nvCxnSpPr>
        <p:spPr>
          <a:xfrm>
            <a:off x="5058622" y="4847820"/>
            <a:ext cx="199855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26C8D6DB-B1C0-44DA-81D0-63B1608EB366}"/>
              </a:ext>
            </a:extLst>
          </p:cNvPr>
          <p:cNvSpPr txBox="1"/>
          <p:nvPr/>
        </p:nvSpPr>
        <p:spPr>
          <a:xfrm>
            <a:off x="5229063" y="4582369"/>
            <a:ext cx="1657670" cy="161583"/>
          </a:xfrm>
          <a:prstGeom prst="rect">
            <a:avLst/>
          </a:prstGeom>
          <a:noFill/>
        </p:spPr>
        <p:txBody>
          <a:bodyPr wrap="square" lIns="0" tIns="0" rIns="0" bIns="0" anchor="t">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C00000"/>
                </a:solidFill>
                <a:effectLst/>
                <a:uLnTx/>
                <a:uFillTx/>
                <a:latin typeface="맑은 고딕"/>
                <a:ea typeface="맑은 고딕"/>
                <a:cs typeface="+mn-cs"/>
              </a:rPr>
              <a:t>DP1</a:t>
            </a:r>
            <a:r>
              <a:rPr kumimoji="0" lang="ko-KR" altLang="en-US" sz="1050" b="1" i="0" u="none" strike="noStrike" kern="1200" cap="none" spc="0" normalizeH="0" baseline="0" noProof="0" dirty="0">
                <a:ln>
                  <a:noFill/>
                </a:ln>
                <a:solidFill>
                  <a:srgbClr val="C00000"/>
                </a:solidFill>
                <a:effectLst/>
                <a:uLnTx/>
                <a:uFillTx/>
                <a:latin typeface="맑은 고딕"/>
                <a:ea typeface="맑은 고딕"/>
                <a:cs typeface="+mn-cs"/>
              </a:rPr>
              <a:t> 데이터 이동 범위 확장</a:t>
            </a:r>
            <a:endParaRPr kumimoji="0" sz="1050" b="1" i="0" u="none" strike="noStrike" kern="1200" cap="none" spc="0" normalizeH="0" baseline="0" noProof="0" dirty="0">
              <a:ln>
                <a:noFill/>
              </a:ln>
              <a:solidFill>
                <a:srgbClr val="C00000"/>
              </a:solidFill>
              <a:effectLst/>
              <a:uLnTx/>
              <a:uFillTx/>
              <a:latin typeface="맑은 고딕"/>
              <a:ea typeface="맑은 고딕"/>
              <a:cs typeface="+mn-cs"/>
            </a:endParaRPr>
          </a:p>
        </p:txBody>
      </p:sp>
      <p:grpSp>
        <p:nvGrpSpPr>
          <p:cNvPr id="49" name="그룹 48"/>
          <p:cNvGrpSpPr/>
          <p:nvPr/>
        </p:nvGrpSpPr>
        <p:grpSpPr>
          <a:xfrm>
            <a:off x="679004" y="5934775"/>
            <a:ext cx="11512996" cy="325343"/>
            <a:chOff x="465858" y="5727372"/>
            <a:chExt cx="11512996" cy="325343"/>
          </a:xfrm>
        </p:grpSpPr>
        <p:sp>
          <p:nvSpPr>
            <p:cNvPr id="50" name="Text 22">
              <a:extLst>
                <a:ext uri="{FF2B5EF4-FFF2-40B4-BE49-F238E27FC236}">
                  <a16:creationId xmlns:a16="http://schemas.microsoft.com/office/drawing/2014/main" id="{6E4C06FB-5661-411C-992A-C3DD21D98412}"/>
                </a:ext>
              </a:extLst>
            </p:cNvPr>
            <p:cNvSpPr/>
            <p:nvPr/>
          </p:nvSpPr>
          <p:spPr>
            <a:xfrm>
              <a:off x="922542" y="5727372"/>
              <a:ext cx="11056312" cy="325343"/>
            </a:xfrm>
            <a:prstGeom prst="rect">
              <a:avLst/>
            </a:prstGeom>
            <a:noFill/>
            <a:ln/>
          </p:spPr>
          <p:txBody>
            <a:bodyPr wrap="square" lIns="0" tIns="0" rIns="0" bIns="0" rtlCol="0" anchor="t"/>
            <a:lstStyle/>
            <a:p>
              <a:pPr>
                <a:lnSpc>
                  <a:spcPct val="150000"/>
                </a:lnSpc>
              </a:pPr>
              <a:r>
                <a:rPr lang="ko-KR" altLang="en-US" sz="1600" b="1" dirty="0">
                  <a:solidFill>
                    <a:srgbClr val="0066FF"/>
                  </a:solidFill>
                  <a:sym typeface="Wingdings" panose="05000000000000000000" pitchFamily="2" charset="2"/>
                </a:rPr>
                <a:t>공유 메모리 기반 </a:t>
              </a:r>
              <a:r>
                <a:rPr lang="en-US" altLang="ko-KR" sz="1600" b="1" dirty="0">
                  <a:solidFill>
                    <a:srgbClr val="0066FF"/>
                  </a:solidFill>
                  <a:sym typeface="Wingdings" panose="05000000000000000000" pitchFamily="2" charset="2"/>
                </a:rPr>
                <a:t>KV </a:t>
              </a:r>
              <a:r>
                <a:rPr lang="ko-KR" altLang="en-US" sz="1600" b="1" dirty="0">
                  <a:solidFill>
                    <a:srgbClr val="0066FF"/>
                  </a:solidFill>
                  <a:sym typeface="Wingdings" panose="05000000000000000000" pitchFamily="2" charset="2"/>
                </a:rPr>
                <a:t>캐시의 데이터 정합성을 보장하면서 전송 및 동기화 비용을 최소화하는 </a:t>
              </a:r>
              <a:r>
                <a:rPr lang="en-US" altLang="ko-KR" sz="1600" b="1" dirty="0">
                  <a:solidFill>
                    <a:srgbClr val="0066FF"/>
                  </a:solidFill>
                  <a:sym typeface="Wingdings" panose="05000000000000000000" pitchFamily="2" charset="2"/>
                </a:rPr>
                <a:t>SW </a:t>
              </a:r>
              <a:r>
                <a:rPr lang="ko-KR" altLang="en-US" sz="1600" b="1" dirty="0">
                  <a:solidFill>
                    <a:srgbClr val="0066FF"/>
                  </a:solidFill>
                  <a:sym typeface="Wingdings" panose="05000000000000000000" pitchFamily="2" charset="2"/>
                </a:rPr>
                <a:t>구조 설계 필요</a:t>
              </a:r>
            </a:p>
          </p:txBody>
        </p:sp>
        <p:sp>
          <p:nvSpPr>
            <p:cNvPr id="51" name="오른쪽 화살표 39">
              <a:extLst>
                <a:ext uri="{FF2B5EF4-FFF2-40B4-BE49-F238E27FC236}">
                  <a16:creationId xmlns:a16="http://schemas.microsoft.com/office/drawing/2014/main" id="{54EC47CE-2C51-4E80-9454-E8A1DE43DF59}"/>
                </a:ext>
              </a:extLst>
            </p:cNvPr>
            <p:cNvSpPr/>
            <p:nvPr/>
          </p:nvSpPr>
          <p:spPr>
            <a:xfrm>
              <a:off x="465858" y="5797701"/>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 name="직사각형 3"/>
          <p:cNvSpPr/>
          <p:nvPr/>
        </p:nvSpPr>
        <p:spPr>
          <a:xfrm>
            <a:off x="2505432" y="2283724"/>
            <a:ext cx="1406154" cy="261610"/>
          </a:xfrm>
          <a:prstGeom prst="rect">
            <a:avLst/>
          </a:prstGeom>
        </p:spPr>
        <p:txBody>
          <a:bodyPr wrap="none">
            <a:spAutoFit/>
          </a:bodyPr>
          <a:lstStyle/>
          <a:p>
            <a:r>
              <a:rPr lang="en-US" altLang="ko-KR" sz="1100" b="1" dirty="0" smtClean="0"/>
              <a:t>“</a:t>
            </a:r>
            <a:r>
              <a:rPr lang="ko-KR" altLang="en-US" sz="1100" b="1" dirty="0" smtClean="0"/>
              <a:t>메시지 </a:t>
            </a:r>
            <a:r>
              <a:rPr lang="ko-KR" altLang="en-US" sz="1100" b="1" dirty="0" err="1" smtClean="0"/>
              <a:t>패싱</a:t>
            </a:r>
            <a:r>
              <a:rPr lang="ko-KR" altLang="en-US" sz="1100" b="1" dirty="0" smtClean="0"/>
              <a:t> 구조</a:t>
            </a:r>
            <a:r>
              <a:rPr lang="en-US" altLang="ko-KR" sz="1100" b="1" dirty="0" smtClean="0"/>
              <a:t>”</a:t>
            </a:r>
            <a:endParaRPr lang="en-US" altLang="ko-KR" sz="1100" b="1" dirty="0"/>
          </a:p>
        </p:txBody>
      </p:sp>
      <p:cxnSp>
        <p:nvCxnSpPr>
          <p:cNvPr id="42" name="Connector 9079"/>
          <p:cNvCxnSpPr>
            <a:stCxn id="110" idx="1"/>
            <a:endCxn id="111" idx="3"/>
          </p:cNvCxnSpPr>
          <p:nvPr/>
        </p:nvCxnSpPr>
        <p:spPr>
          <a:xfrm flipH="1" flipV="1">
            <a:off x="9975273" y="3115385"/>
            <a:ext cx="768927" cy="1"/>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978390" y="2941548"/>
            <a:ext cx="777240" cy="138499"/>
          </a:xfrm>
          <a:prstGeom prst="rect">
            <a:avLst/>
          </a:prstGeom>
          <a:noFill/>
        </p:spPr>
        <p:txBody>
          <a:bodyPr wrap="square" lIns="0" tIns="0" rIns="0" bIns="0" anchor="t">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smtClean="0">
                <a:ln>
                  <a:noFill/>
                </a:ln>
                <a:solidFill>
                  <a:srgbClr val="2F5597"/>
                </a:solidFill>
                <a:effectLst/>
                <a:uLnTx/>
                <a:uFillTx/>
                <a:latin typeface="맑은 고딕"/>
                <a:ea typeface="맑은 고딕"/>
                <a:cs typeface="+mn-cs"/>
              </a:rPr>
              <a:t>Read/write</a:t>
            </a:r>
            <a:endParaRPr kumimoji="0" sz="900" b="1" i="0" u="none" strike="noStrike" kern="1200" cap="none" spc="0" normalizeH="0" baseline="0" noProof="0" dirty="0">
              <a:ln>
                <a:noFill/>
              </a:ln>
              <a:solidFill>
                <a:srgbClr val="2F5597"/>
              </a:solidFill>
              <a:effectLst/>
              <a:uLnTx/>
              <a:uFillTx/>
              <a:latin typeface="맑은 고딕"/>
              <a:ea typeface="맑은 고딕"/>
              <a:cs typeface="+mn-cs"/>
            </a:endParaRPr>
          </a:p>
        </p:txBody>
      </p:sp>
      <p:sp>
        <p:nvSpPr>
          <p:cNvPr id="53" name="직사각형 52"/>
          <p:cNvSpPr/>
          <p:nvPr/>
        </p:nvSpPr>
        <p:spPr>
          <a:xfrm>
            <a:off x="8508249" y="2283724"/>
            <a:ext cx="1406154" cy="261610"/>
          </a:xfrm>
          <a:prstGeom prst="rect">
            <a:avLst/>
          </a:prstGeom>
        </p:spPr>
        <p:txBody>
          <a:bodyPr wrap="none">
            <a:spAutoFit/>
          </a:bodyPr>
          <a:lstStyle/>
          <a:p>
            <a:r>
              <a:rPr lang="en-US" altLang="ko-KR" sz="1100" b="1" dirty="0" smtClean="0"/>
              <a:t>“</a:t>
            </a:r>
            <a:r>
              <a:rPr lang="ko-KR" altLang="en-US" sz="1100" b="1" dirty="0" smtClean="0"/>
              <a:t>공유 메모리 구조</a:t>
            </a:r>
            <a:r>
              <a:rPr lang="en-US" altLang="ko-KR" sz="1100" b="1" dirty="0" smtClean="0"/>
              <a:t>”</a:t>
            </a:r>
            <a:endParaRPr lang="en-US" altLang="ko-KR" sz="1100" b="1" dirty="0"/>
          </a:p>
        </p:txBody>
      </p:sp>
    </p:spTree>
    <p:extLst>
      <p:ext uri="{BB962C8B-B14F-4D97-AF65-F5344CB8AC3E}">
        <p14:creationId xmlns:p14="http://schemas.microsoft.com/office/powerpoint/2010/main" val="208300871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537704197"/>
              </p:ext>
            </p:extLst>
          </p:nvPr>
        </p:nvGraphicFramePr>
        <p:xfrm>
          <a:off x="234949" y="1032440"/>
          <a:ext cx="11747501" cy="544740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337833">
                  <a:extLst>
                    <a:ext uri="{9D8B030D-6E8A-4147-A177-3AD203B41FA5}">
                      <a16:colId xmlns:a16="http://schemas.microsoft.com/office/drawing/2014/main" val="5654497"/>
                    </a:ext>
                  </a:extLst>
                </a:gridCol>
                <a:gridCol w="2098221">
                  <a:extLst>
                    <a:ext uri="{9D8B030D-6E8A-4147-A177-3AD203B41FA5}">
                      <a16:colId xmlns:a16="http://schemas.microsoft.com/office/drawing/2014/main" val="4114062400"/>
                    </a:ext>
                  </a:extLst>
                </a:gridCol>
                <a:gridCol w="3226254">
                  <a:extLst>
                    <a:ext uri="{9D8B030D-6E8A-4147-A177-3AD203B41FA5}">
                      <a16:colId xmlns:a16="http://schemas.microsoft.com/office/drawing/2014/main" val="3070054508"/>
                    </a:ext>
                  </a:extLst>
                </a:gridCol>
                <a:gridCol w="2209800">
                  <a:extLst>
                    <a:ext uri="{9D8B030D-6E8A-4147-A177-3AD203B41FA5}">
                      <a16:colId xmlns:a16="http://schemas.microsoft.com/office/drawing/2014/main" val="2026705357"/>
                    </a:ext>
                  </a:extLst>
                </a:gridCol>
              </a:tblGrid>
              <a:tr h="358421">
                <a:tc>
                  <a:txBody>
                    <a:bodyPr/>
                    <a:lstStyle/>
                    <a:p>
                      <a:pPr algn="ctr" latinLnBrk="1"/>
                      <a:r>
                        <a:rPr lang="ko-KR" altLang="en-US" sz="1200">
                          <a:solidFill>
                            <a:schemeClr val="tx1">
                              <a:lumMod val="50000"/>
                              <a:lumOff val="50000"/>
                            </a:schemeClr>
                          </a:solidFill>
                        </a:rPr>
                        <a:t>설계 안</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중앙 서버 중재 구조 </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락 </a:t>
                      </a:r>
                      <a:r>
                        <a:rPr lang="ko-KR" altLang="en-US" sz="1200" b="1" dirty="0"/>
                        <a:t>기반 직접 접근 </a:t>
                      </a:r>
                      <a:r>
                        <a:rPr lang="en-US" altLang="ko-KR" sz="1200" b="1" dirty="0" err="1"/>
                        <a:t>구조</a:t>
                      </a:r>
                      <a:endParaRPr lang="en-US" altLang="ko-KR"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51768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중앙에서 동기화를 일괄 처리하여 요청당 동기화 오버헤드가 작음 </a:t>
                      </a:r>
                      <a:r>
                        <a:rPr lang="en-US" altLang="ko-KR" sz="1200" dirty="0"/>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중앙에서 요청 순서와 동시 처리량을 제어하여 경합 관리에 유리 </a:t>
                      </a:r>
                      <a:r>
                        <a:rPr lang="en-US" altLang="ko-KR" sz="1200" dirty="0"/>
                        <a:t>(</a:t>
                      </a:r>
                      <a:r>
                        <a:rPr lang="en-US" altLang="ko-KR" sz="1200" dirty="0" smtClean="0"/>
                        <a:t>Q2)</a:t>
                      </a:r>
                      <a:endParaRPr lang="en-US" altLang="ko-KR" sz="1200" dirty="0"/>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병목은 회피 및 분산 병렬 처리에 유리</a:t>
                      </a:r>
                      <a:r>
                        <a:rPr lang="en-US" altLang="ko-KR" sz="1200" dirty="0"/>
                        <a:t>(Q1,</a:t>
                      </a:r>
                      <a:r>
                        <a:rPr lang="en-US" altLang="ko-KR" sz="1200" baseline="0" dirty="0"/>
                        <a:t> </a:t>
                      </a:r>
                      <a:r>
                        <a:rPr lang="en-US" altLang="ko-KR" sz="1200" baseline="0" dirty="0" smtClean="0"/>
                        <a:t>Q2</a:t>
                      </a:r>
                      <a:r>
                        <a:rPr lang="en-US" altLang="ko-KR" sz="1200" dirty="0" smtClean="0"/>
                        <a:t>)</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노드별</a:t>
                      </a:r>
                      <a:r>
                        <a:rPr lang="ko-KR" altLang="en-US" sz="1200" dirty="0"/>
                        <a:t> 분산 처리로 </a:t>
                      </a:r>
                      <a:r>
                        <a:rPr lang="ko-KR" altLang="en-US" sz="1200" dirty="0" err="1"/>
                        <a:t>병렬성</a:t>
                      </a:r>
                      <a:r>
                        <a:rPr lang="ko-KR" altLang="en-US" sz="1200" dirty="0"/>
                        <a:t> 확보 및 수평 확장에 유리 </a:t>
                      </a:r>
                      <a:r>
                        <a:rPr lang="en-US" altLang="ko-KR" sz="1200" dirty="0"/>
                        <a:t>(</a:t>
                      </a:r>
                      <a:r>
                        <a:rPr lang="en-US" altLang="ko-KR" sz="1200" dirty="0" smtClean="0"/>
                        <a:t>Q3)</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고부하 시 서버 집중에 따른 병목 가능 </a:t>
                      </a:r>
                      <a:r>
                        <a:rPr lang="en-US" altLang="ko-KR" sz="1200" dirty="0"/>
                        <a:t>(</a:t>
                      </a:r>
                      <a:r>
                        <a:rPr lang="en-US" altLang="ko-KR" sz="1200" baseline="0" dirty="0" smtClean="0"/>
                        <a:t>Q2) </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노드 증가 시 중앙 서버의 처리 용량이 확장 한계로 작용</a:t>
                      </a:r>
                      <a:r>
                        <a:rPr lang="en-US" altLang="ko-KR" sz="1200" dirty="0"/>
                        <a:t>(</a:t>
                      </a:r>
                      <a:r>
                        <a:rPr lang="en-US" altLang="ko-KR" sz="1200" dirty="0" smtClean="0"/>
                        <a:t>Q3)</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락</a:t>
                      </a:r>
                      <a:r>
                        <a:rPr lang="ko-KR" altLang="en-US" sz="1200" dirty="0"/>
                        <a:t> 획득 및 공유 데이터 접근에 따른 동기화 오버헤드 발생</a:t>
                      </a:r>
                      <a:r>
                        <a:rPr lang="en-US" altLang="ko-KR" sz="1200" baseline="0" dirty="0"/>
                        <a:t> (Q1)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고부하 시 </a:t>
                      </a:r>
                      <a:r>
                        <a:rPr lang="ko-KR" altLang="en-US" sz="1200" dirty="0" err="1"/>
                        <a:t>락</a:t>
                      </a:r>
                      <a:r>
                        <a:rPr lang="ko-KR" altLang="en-US" sz="1200" dirty="0"/>
                        <a:t> 경합 및 대기시간 증가로 지연 편차 확대 </a:t>
                      </a:r>
                      <a:r>
                        <a:rPr lang="en-US" altLang="ko-KR" sz="1200" dirty="0"/>
                        <a:t>(</a:t>
                      </a:r>
                      <a:r>
                        <a:rPr lang="en-US" altLang="ko-KR" sz="1200" dirty="0" smtClean="0"/>
                        <a:t>Q2)</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404823">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맑은 고딕" panose="020B0503020000020004" pitchFamily="50" charset="-127"/>
                          <a:ea typeface="+mn-ea"/>
                        </a:rPr>
                        <a:t>●●◐</a:t>
                      </a:r>
                      <a:r>
                        <a:rPr lang="en-US" altLang="ko-KR" sz="1200" b="0" dirty="0">
                          <a:solidFill>
                            <a:srgbClr val="0066FF"/>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1.76→4.93 q/s (2.8x)</a:t>
                      </a:r>
                      <a:endParaRPr lang="en-US" altLang="ko-KR" sz="1100" b="0" dirty="0">
                        <a:solidFill>
                          <a:srgbClr val="0066FF"/>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맑은 고딕" panose="020B0503020000020004" pitchFamily="50" charset="-127"/>
                          <a:ea typeface="+mn-ea"/>
                        </a:rPr>
                        <a:t>●●○</a:t>
                      </a:r>
                      <a:r>
                        <a:rPr lang="ko-KR" altLang="en-US" sz="1200" b="0" dirty="0">
                          <a:solidFill>
                            <a:srgbClr val="0066FF"/>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7.60→3.65 s (-52%)</a:t>
                      </a:r>
                      <a:endPar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a:t>
                      </a:r>
                      <a:r>
                        <a:rPr kumimoji="0" lang="en-US" altLang="ko-KR" sz="1000" b="0" i="0" u="none" strike="noStrike" kern="1200" cap="none" spc="0" normalizeH="0" baseline="0" noProof="0" dirty="0">
                          <a:ln>
                            <a:noFill/>
                          </a:ln>
                          <a:solidFill>
                            <a:prstClr val="white">
                              <a:lumMod val="50000"/>
                            </a:prstClr>
                          </a:solidFill>
                          <a:effectLst/>
                          <a:uLnTx/>
                          <a:uFillTx/>
                          <a:latin typeface="+mn-lt"/>
                          <a:ea typeface="맑은 고딕"/>
                          <a:cs typeface="+mn-cs"/>
                        </a:rPr>
                        <a:t> </a:t>
                      </a:r>
                      <a:r>
                        <a:rPr kumimoji="0" lang="en-US" altLang="ko-KR" sz="900" b="0" i="0" u="none" strike="noStrike" kern="1200" cap="none" spc="0" normalizeH="0" baseline="0" noProof="0" dirty="0" smtClean="0">
                          <a:ln>
                            <a:noFill/>
                          </a:ln>
                          <a:solidFill>
                            <a:prstClr val="white">
                              <a:lumMod val="50000"/>
                            </a:prstClr>
                          </a:solidFill>
                          <a:effectLst/>
                          <a:uLnTx/>
                          <a:uFillTx/>
                          <a:latin typeface="+mn-lt"/>
                          <a:ea typeface="맑은 고딕"/>
                          <a:cs typeface="+mn-cs"/>
                        </a:rPr>
                        <a:t>91 %</a:t>
                      </a:r>
                      <a:endParaRPr lang="en-US" altLang="ko-KR" sz="1200" b="0"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1.76→4.22 q/s (2.4x)</a:t>
                      </a:r>
                      <a:endParaRPr lang="ko-KR" altLang="en-US" sz="1100" strike="noStrike" dirty="0">
                        <a:solidFill>
                          <a:srgbClr val="0066FF"/>
                        </a:solidFill>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7.60→4.26 s (-44%)</a:t>
                      </a:r>
                      <a:endParaRPr lang="ko-KR" altLang="en-US" sz="1100" strike="noStrike" dirty="0">
                        <a:solidFill>
                          <a:srgbClr val="0066FF"/>
                        </a:solidFill>
                      </a:endParaRPr>
                    </a:p>
                    <a:p>
                      <a:pPr lvl="0"/>
                      <a:r>
                        <a:rPr lang="ko-KR" altLang="en-US"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96 %</a:t>
                      </a:r>
                      <a:endParaRPr lang="en-US" altLang="ko-KR" sz="1100" b="0" dirty="0">
                        <a:solidFill>
                          <a:srgbClr val="0066FF"/>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029256"/>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029256"/>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lang="ko-KR" altLang="en-US" sz="700" b="1" dirty="0">
                <a:solidFill>
                  <a:srgbClr val="FFFFFF"/>
                </a:solidFill>
                <a:ea typeface="맑은 고딕"/>
              </a:rPr>
              <a:t>공유 메모리 풀</a:t>
            </a:r>
          </a:p>
        </p:txBody>
      </p:sp>
      <p:sp>
        <p:nvSpPr>
          <p:cNvPr id="184" name="Rectangle 183"/>
          <p:cNvSpPr/>
          <p:nvPr/>
        </p:nvSpPr>
        <p:spPr>
          <a:xfrm>
            <a:off x="8361103" y="2349296"/>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85" name="Rectangle 184"/>
          <p:cNvSpPr/>
          <p:nvPr/>
        </p:nvSpPr>
        <p:spPr>
          <a:xfrm>
            <a:off x="8361103" y="2733344"/>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195993"/>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3" name="제목 2"/>
          <p:cNvSpPr>
            <a:spLocks noGrp="1"/>
          </p:cNvSpPr>
          <p:nvPr>
            <p:ph type="title"/>
          </p:nvPr>
        </p:nvSpPr>
        <p:spPr/>
        <p:txBody>
          <a:bodyPr/>
          <a:lstStyle/>
          <a:p>
            <a:r>
              <a:rPr lang="en-US" altLang="ko-KR" dirty="0"/>
              <a:t>DP4. </a:t>
            </a:r>
            <a:r>
              <a:rPr lang="ko-KR" altLang="en-US" dirty="0"/>
              <a:t>서버</a:t>
            </a:r>
            <a:r>
              <a:rPr lang="en-US" altLang="ko-KR" dirty="0"/>
              <a:t> 간 KV </a:t>
            </a:r>
            <a:r>
              <a:rPr lang="ko-KR" altLang="en-US" dirty="0"/>
              <a:t>캐시 </a:t>
            </a:r>
            <a:r>
              <a:rPr lang="en-US" altLang="ko-KR" dirty="0" err="1"/>
              <a:t>공유</a:t>
            </a:r>
            <a:r>
              <a:rPr lang="ko-KR" altLang="en-US" dirty="0"/>
              <a:t>를 위한 일관성 관리 </a:t>
            </a:r>
            <a:r>
              <a:rPr lang="en-US" altLang="ko-KR" dirty="0" err="1"/>
              <a:t>구조</a:t>
            </a:r>
            <a:r>
              <a:rPr lang="en-US" altLang="ko-KR" dirty="0"/>
              <a:t>  – </a:t>
            </a:r>
            <a:r>
              <a:rPr lang="ko-KR" altLang="en-US" dirty="0"/>
              <a:t>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및 시스템 확장성을 고려하여 공유 메모리 풀의 일관성 관리 최적화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a:t>
            </a:r>
            <a:r>
              <a:rPr lang="en-US" altLang="ko-KR" sz="1100" dirty="0" err="1"/>
              <a:t>모든</a:t>
            </a:r>
            <a:r>
              <a:rPr lang="en-US" altLang="ko-KR" sz="1100" dirty="0"/>
              <a:t> </a:t>
            </a:r>
            <a:r>
              <a:rPr lang="en-US" altLang="ko-KR" sz="1100" dirty="0" err="1"/>
              <a:t>갱신을</a:t>
            </a:r>
            <a:r>
              <a:rPr lang="en-US" altLang="ko-KR" sz="1100" dirty="0"/>
              <a:t> </a:t>
            </a:r>
            <a:r>
              <a:rPr lang="ko-KR" altLang="en-US" sz="1100" dirty="0"/>
              <a:t>관리</a:t>
            </a:r>
            <a:r>
              <a:rPr lang="en-US" altLang="ko-KR" sz="1100" dirty="0" err="1"/>
              <a:t>하고</a:t>
            </a:r>
            <a:r>
              <a:rPr lang="en-US" altLang="ko-KR" sz="1100" dirty="0"/>
              <a:t>, </a:t>
            </a:r>
            <a:r>
              <a:rPr lang="ko-KR" altLang="en-US" sz="1100" dirty="0"/>
              <a:t>각 </a:t>
            </a:r>
            <a:r>
              <a:rPr lang="en-US" altLang="ko-KR" sz="1100" dirty="0" err="1"/>
              <a:t>노드</a:t>
            </a:r>
            <a:r>
              <a:rPr lang="en-US" altLang="ko-KR" sz="1100" dirty="0"/>
              <a:t>(Client)</a:t>
            </a:r>
            <a:r>
              <a:rPr lang="ko-KR" altLang="en-US" sz="1100" dirty="0"/>
              <a:t>가 서버에 </a:t>
            </a:r>
            <a:r>
              <a:rPr lang="en-US" altLang="ko-KR" sz="1100" dirty="0" err="1"/>
              <a:t>요청</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a:t>
            </a:r>
            <a:r>
              <a:rPr lang="en-US" altLang="ko-KR" sz="1100" dirty="0" err="1"/>
              <a:t>노드가</a:t>
            </a:r>
            <a:r>
              <a:rPr lang="en-US" altLang="ko-KR" sz="1100" dirty="0"/>
              <a:t> </a:t>
            </a:r>
            <a:r>
              <a:rPr lang="en-US" altLang="ko-KR" sz="1100" dirty="0" err="1"/>
              <a:t>락으로</a:t>
            </a:r>
            <a:r>
              <a:rPr lang="en-US" altLang="ko-KR" sz="1100" dirty="0"/>
              <a:t> </a:t>
            </a:r>
            <a:r>
              <a:rPr lang="en-US" altLang="ko-KR" sz="1100" dirty="0" err="1"/>
              <a:t>직접</a:t>
            </a:r>
            <a:r>
              <a:rPr lang="en-US" altLang="ko-KR" sz="1100" dirty="0"/>
              <a:t> </a:t>
            </a:r>
            <a:r>
              <a:rPr lang="en-US" altLang="ko-KR" sz="1100" dirty="0" err="1"/>
              <a:t>갱신</a:t>
            </a:r>
            <a:r>
              <a:rPr lang="en-US" altLang="ko-KR" sz="1100" dirty="0"/>
              <a:t>”</a:t>
            </a:r>
          </a:p>
        </p:txBody>
      </p:sp>
      <p:sp>
        <p:nvSpPr>
          <p:cNvPr id="140" name="Rectangle 139"/>
          <p:cNvSpPr/>
          <p:nvPr/>
        </p:nvSpPr>
        <p:spPr>
          <a:xfrm>
            <a:off x="1261872" y="2120695"/>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120695"/>
            <a:ext cx="1161620" cy="183217"/>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r>
              <a:rPr lang="en-US" sz="700" b="1" i="0" dirty="0">
                <a:solidFill>
                  <a:schemeClr val="tx1"/>
                </a:solidFill>
                <a:latin typeface="맑은 고딕"/>
                <a:ea typeface="맑은 고딕"/>
              </a:rPr>
              <a:t> (Client)</a:t>
            </a:r>
            <a:endParaRPr sz="700" b="1" i="0" dirty="0">
              <a:solidFill>
                <a:schemeClr val="tx1"/>
              </a:solidFill>
              <a:latin typeface="맑은 고딕"/>
              <a:ea typeface="맑은 고딕"/>
            </a:endParaRPr>
          </a:p>
        </p:txBody>
      </p:sp>
      <p:sp>
        <p:nvSpPr>
          <p:cNvPr id="142" name="Rectangle 141"/>
          <p:cNvSpPr/>
          <p:nvPr/>
        </p:nvSpPr>
        <p:spPr>
          <a:xfrm>
            <a:off x="1371600"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120696"/>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4" y="2120696"/>
            <a:ext cx="1096691" cy="18321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r>
              <a:rPr lang="en-US" sz="700" b="1" dirty="0">
                <a:solidFill>
                  <a:schemeClr val="tx1"/>
                </a:solidFill>
                <a:latin typeface="맑은 고딕"/>
                <a:ea typeface="맑은 고딕"/>
              </a:rPr>
              <a:t> (Client)</a:t>
            </a:r>
            <a:endParaRPr sz="700" b="1" dirty="0">
              <a:solidFill>
                <a:schemeClr val="tx1"/>
              </a:solidFill>
              <a:latin typeface="맑은 고딕"/>
              <a:ea typeface="맑은 고딕"/>
            </a:endParaRPr>
          </a:p>
        </p:txBody>
      </p:sp>
      <p:sp>
        <p:nvSpPr>
          <p:cNvPr id="148" name="Rectangle 147"/>
          <p:cNvSpPr/>
          <p:nvPr/>
        </p:nvSpPr>
        <p:spPr>
          <a:xfrm>
            <a:off x="5089583"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029255"/>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029256"/>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ko-KR" altLang="en-US" sz="700" b="1" i="0" dirty="0">
                <a:solidFill>
                  <a:srgbClr val="FFFFFF"/>
                </a:solidFill>
                <a:latin typeface="맑은 고딕"/>
                <a:ea typeface="맑은 고딕"/>
              </a:rPr>
              <a:t>공유 메모리 풀</a:t>
            </a:r>
            <a:endParaRPr sz="700" b="1" i="0" dirty="0">
              <a:solidFill>
                <a:srgbClr val="FFFFFF"/>
              </a:solidFill>
              <a:latin typeface="맑은 고딕"/>
              <a:ea typeface="맑은 고딕"/>
            </a:endParaRPr>
          </a:p>
        </p:txBody>
      </p:sp>
      <p:sp>
        <p:nvSpPr>
          <p:cNvPr id="154" name="Rectangle 153"/>
          <p:cNvSpPr/>
          <p:nvPr/>
        </p:nvSpPr>
        <p:spPr>
          <a:xfrm>
            <a:off x="3124504" y="2373264"/>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56" name="Rectangle 155"/>
          <p:cNvSpPr/>
          <p:nvPr/>
        </p:nvSpPr>
        <p:spPr>
          <a:xfrm>
            <a:off x="3044952" y="3850388"/>
            <a:ext cx="1691640" cy="427805"/>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lnSpc>
                <a:spcPct val="150000"/>
              </a:lnSpc>
            </a:pPr>
            <a:r>
              <a:rPr lang="ko-KR" altLang="en-US" sz="900" b="1" dirty="0">
                <a:solidFill>
                  <a:schemeClr val="tx1"/>
                </a:solidFill>
                <a:ea typeface="맑은 고딕"/>
              </a:rPr>
              <a:t>메타데이터 </a:t>
            </a:r>
            <a:r>
              <a:rPr lang="en-US" altLang="ko-KR" sz="900" b="1" dirty="0">
                <a:solidFill>
                  <a:schemeClr val="tx1"/>
                </a:solidFill>
                <a:ea typeface="맑은 고딕"/>
              </a:rPr>
              <a:t>Server</a:t>
            </a:r>
          </a:p>
          <a:p>
            <a:pPr algn="ctr">
              <a:lnSpc>
                <a:spcPct val="150000"/>
              </a:lnSpc>
            </a:pPr>
            <a:r>
              <a:rPr lang="ko-KR" altLang="en-US" sz="700" dirty="0">
                <a:solidFill>
                  <a:schemeClr val="tx1"/>
                </a:solidFill>
                <a:ea typeface="맑은 고딕"/>
              </a:rPr>
              <a:t>해시 테이블</a:t>
            </a:r>
            <a:r>
              <a:rPr lang="en-US" altLang="ko-KR" sz="700" dirty="0">
                <a:solidFill>
                  <a:schemeClr val="tx1"/>
                </a:solidFill>
                <a:ea typeface="맑은 고딕"/>
              </a:rPr>
              <a:t> · allocator · LRU</a:t>
            </a:r>
          </a:p>
        </p:txBody>
      </p:sp>
      <p:cxnSp>
        <p:nvCxnSpPr>
          <p:cNvPr id="159" name="Connector 158"/>
          <p:cNvCxnSpPr/>
          <p:nvPr/>
        </p:nvCxnSpPr>
        <p:spPr>
          <a:xfrm>
            <a:off x="2549632" y="3344010"/>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24303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285858"/>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1885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sp>
        <p:nvSpPr>
          <p:cNvPr id="170" name="Rectangle 169"/>
          <p:cNvSpPr/>
          <p:nvPr/>
        </p:nvSpPr>
        <p:spPr>
          <a:xfrm>
            <a:off x="6675120" y="2120696"/>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120696"/>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87" name="Rectangle 186"/>
          <p:cNvSpPr/>
          <p:nvPr/>
        </p:nvSpPr>
        <p:spPr>
          <a:xfrm>
            <a:off x="8373618" y="3851498"/>
            <a:ext cx="1691640" cy="43838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cxnSp>
        <p:nvCxnSpPr>
          <p:cNvPr id="190" name="Connector 189"/>
          <p:cNvCxnSpPr/>
          <p:nvPr/>
        </p:nvCxnSpPr>
        <p:spPr>
          <a:xfrm>
            <a:off x="7986148" y="254132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4635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605795"/>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411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254552"/>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1768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286920"/>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1024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4" name="C1 slot-server link"/>
          <p:cNvCxnSpPr/>
          <p:nvPr/>
        </p:nvCxnSpPr>
        <p:spPr>
          <a:xfrm>
            <a:off x="3890772" y="3573688"/>
            <a:ext cx="0" cy="236681"/>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630728"/>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cxnSp>
        <p:nvCxnSpPr>
          <p:cNvPr id="206" name="C2 lock-manager link"/>
          <p:cNvCxnSpPr/>
          <p:nvPr/>
        </p:nvCxnSpPr>
        <p:spPr>
          <a:xfrm>
            <a:off x="9304020" y="3556764"/>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618501"/>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130" name="Rectangle 35"/>
          <p:cNvSpPr/>
          <p:nvPr/>
        </p:nvSpPr>
        <p:spPr>
          <a:xfrm>
            <a:off x="1368310"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 </a:t>
            </a:r>
            <a:r>
              <a:rPr lang="ko-KR" altLang="en-US" sz="700" dirty="0">
                <a:solidFill>
                  <a:schemeClr val="tx1"/>
                </a:solidFill>
                <a:ea typeface="맑은 고딕"/>
              </a:rPr>
              <a:t>응답 읽기</a:t>
            </a:r>
          </a:p>
        </p:txBody>
      </p:sp>
      <p:sp>
        <p:nvSpPr>
          <p:cNvPr id="132" name="Rectangle 35"/>
          <p:cNvSpPr/>
          <p:nvPr/>
        </p:nvSpPr>
        <p:spPr>
          <a:xfrm>
            <a:off x="5090865"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a:t>
            </a:r>
            <a:r>
              <a:rPr lang="en-US" altLang="ko-KR" sz="700" dirty="0">
                <a:solidFill>
                  <a:schemeClr val="tx1"/>
                </a:solidFill>
                <a:ea typeface="맑은 고딕"/>
              </a:rPr>
              <a:t> / </a:t>
            </a:r>
            <a:r>
              <a:rPr lang="ko-KR" altLang="en-US" sz="700" dirty="0">
                <a:solidFill>
                  <a:schemeClr val="tx1"/>
                </a:solidFill>
                <a:ea typeface="맑은 고딕"/>
              </a:rPr>
              <a:t>응답 읽기</a:t>
            </a:r>
          </a:p>
        </p:txBody>
      </p:sp>
      <p:sp>
        <p:nvSpPr>
          <p:cNvPr id="135" name="Rectangle 37"/>
          <p:cNvSpPr/>
          <p:nvPr/>
        </p:nvSpPr>
        <p:spPr>
          <a:xfrm>
            <a:off x="1399032" y="371974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3726096"/>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08" name="Rectangle 35"/>
          <p:cNvSpPr/>
          <p:nvPr/>
        </p:nvSpPr>
        <p:spPr>
          <a:xfrm>
            <a:off x="6784848" y="2865932"/>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2865932"/>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3" name="Rectangle 48"/>
          <p:cNvSpPr/>
          <p:nvPr/>
        </p:nvSpPr>
        <p:spPr>
          <a:xfrm>
            <a:off x="3110754" y="2891678"/>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p:txBody>
      </p:sp>
      <p:sp>
        <p:nvSpPr>
          <p:cNvPr id="214" name="Oval 159"/>
          <p:cNvSpPr/>
          <p:nvPr/>
        </p:nvSpPr>
        <p:spPr>
          <a:xfrm>
            <a:off x="3667251" y="362504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078856"/>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297788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51956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427509"/>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046260"/>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29452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62281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519568"/>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427509"/>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cxnSp>
        <p:nvCxnSpPr>
          <p:cNvPr id="229" name="Connector 189"/>
          <p:cNvCxnSpPr/>
          <p:nvPr/>
        </p:nvCxnSpPr>
        <p:spPr>
          <a:xfrm>
            <a:off x="7379970" y="3424292"/>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4239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6020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430701"/>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4084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298900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29112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86022" y="3004943"/>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281842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6020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2313776" y="4381265"/>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76762" y="4381265"/>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381265"/>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381265"/>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9" name="모서리가 둥근 직사각형 37">
            <a:extLst>
              <a:ext uri="{FF2B5EF4-FFF2-40B4-BE49-F238E27FC236}">
                <a16:creationId xmlns:a16="http://schemas.microsoft.com/office/drawing/2014/main" id="{824F5705-7E02-467A-970F-D2A9FCD95DC7}"/>
              </a:ext>
            </a:extLst>
          </p:cNvPr>
          <p:cNvSpPr/>
          <p:nvPr/>
        </p:nvSpPr>
        <p:spPr>
          <a:xfrm>
            <a:off x="9930631"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20" name="모서리가 둥근 직사각형 37">
            <a:extLst>
              <a:ext uri="{FF2B5EF4-FFF2-40B4-BE49-F238E27FC236}">
                <a16:creationId xmlns:a16="http://schemas.microsoft.com/office/drawing/2014/main" id="{E99FD0CC-4F44-40AB-8E8E-E5E878FDD956}"/>
              </a:ext>
            </a:extLst>
          </p:cNvPr>
          <p:cNvSpPr/>
          <p:nvPr/>
        </p:nvSpPr>
        <p:spPr>
          <a:xfrm>
            <a:off x="9509777"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27"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Q2 </a:t>
            </a:r>
            <a:r>
              <a:rPr lang="ko-KR" altLang="en-US" sz="700" dirty="0" smtClean="0">
                <a:latin typeface="맑은 고딕" panose="020B0503020000020004" pitchFamily="50" charset="-127"/>
              </a:rPr>
              <a:t>고부하 </a:t>
            </a:r>
            <a:r>
              <a:rPr lang="ko-KR" altLang="en-US" sz="700" dirty="0">
                <a:latin typeface="맑은 고딕" panose="020B0503020000020004" pitchFamily="50" charset="-127"/>
              </a:rPr>
              <a:t>성능 </a:t>
            </a:r>
          </a:p>
        </p:txBody>
      </p:sp>
      <p:sp>
        <p:nvSpPr>
          <p:cNvPr id="133"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Q3 </a:t>
            </a:r>
            <a:r>
              <a:rPr lang="ko-KR" altLang="en-US" sz="700" dirty="0">
                <a:latin typeface="맑은 고딕" panose="020B0503020000020004" pitchFamily="50" charset="-127"/>
              </a:rPr>
              <a:t>확장성</a:t>
            </a:r>
          </a:p>
        </p:txBody>
      </p:sp>
      <p:sp>
        <p:nvSpPr>
          <p:cNvPr id="134" name="모서리가 둥근 직사각형 37">
            <a:extLst>
              <a:ext uri="{FF2B5EF4-FFF2-40B4-BE49-F238E27FC236}">
                <a16:creationId xmlns:a16="http://schemas.microsoft.com/office/drawing/2014/main" id="{824F5705-7E02-467A-970F-D2A9FCD95DC7}"/>
              </a:ext>
            </a:extLst>
          </p:cNvPr>
          <p:cNvSpPr/>
          <p:nvPr/>
        </p:nvSpPr>
        <p:spPr>
          <a:xfrm>
            <a:off x="1099507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F4 KV </a:t>
            </a:r>
            <a:r>
              <a:rPr lang="ko-KR" altLang="en-US" sz="700" dirty="0">
                <a:latin typeface="맑은 고딕" panose="020B0503020000020004" pitchFamily="50" charset="-127"/>
              </a:rPr>
              <a:t>캐시 관리</a:t>
            </a:r>
          </a:p>
        </p:txBody>
      </p:sp>
      <p:sp>
        <p:nvSpPr>
          <p:cNvPr id="103" name="실행 단추: 앞으로 또는 다음으로 이동 102">
            <a:hlinkClick r:id="rId3" action="ppaction://hlinksldjump" highlightClick="1"/>
            <a:extLst>
              <a:ext uri="{FF2B5EF4-FFF2-40B4-BE49-F238E27FC236}">
                <a16:creationId xmlns:a16="http://schemas.microsoft.com/office/drawing/2014/main" id="{80AD2CFF-32A7-4996-8118-FF525D612309}"/>
              </a:ext>
            </a:extLst>
          </p:cNvPr>
          <p:cNvSpPr/>
          <p:nvPr/>
        </p:nvSpPr>
        <p:spPr>
          <a:xfrm>
            <a:off x="579340" y="6306430"/>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4" name="실행 단추: 앞으로 또는 다음 101">
            <a:hlinkClick r:id="rId4" action="ppaction://hlinksldjump" highlightClick="1"/>
            <a:extLst>
              <a:ext uri="{FF2B5EF4-FFF2-40B4-BE49-F238E27FC236}">
                <a16:creationId xmlns:a16="http://schemas.microsoft.com/office/drawing/2014/main" id="{CF145F10-B91D-4167-9ECA-6E45A565033E}"/>
              </a:ext>
            </a:extLst>
          </p:cNvPr>
          <p:cNvSpPr/>
          <p:nvPr/>
        </p:nvSpPr>
        <p:spPr>
          <a:xfrm>
            <a:off x="6197485"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실행 단추: 앞으로 또는 다음 101">
            <a:hlinkClick r:id="rId5" action="ppaction://hlinksldjump" highlightClick="1"/>
            <a:extLst>
              <a:ext uri="{FF2B5EF4-FFF2-40B4-BE49-F238E27FC236}">
                <a16:creationId xmlns:a16="http://schemas.microsoft.com/office/drawing/2014/main" id="{CF145F10-B91D-4167-9ECA-6E45A565033E}"/>
              </a:ext>
            </a:extLst>
          </p:cNvPr>
          <p:cNvSpPr/>
          <p:nvPr/>
        </p:nvSpPr>
        <p:spPr>
          <a:xfrm>
            <a:off x="11712438"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모서리가 둥근 직사각형 37">
            <a:extLst>
              <a:ext uri="{FF2B5EF4-FFF2-40B4-BE49-F238E27FC236}">
                <a16:creationId xmlns:a16="http://schemas.microsoft.com/office/drawing/2014/main" id="{476B6E1C-7561-417D-A669-4DEFCE610223}"/>
              </a:ext>
            </a:extLst>
          </p:cNvPr>
          <p:cNvSpPr/>
          <p:nvPr/>
        </p:nvSpPr>
        <p:spPr>
          <a:xfrm>
            <a:off x="9045967"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06" name="직사각형 105">
            <a:extLst>
              <a:ext uri="{FF2B5EF4-FFF2-40B4-BE49-F238E27FC236}">
                <a16:creationId xmlns:a16="http://schemas.microsoft.com/office/drawing/2014/main" id="{6E2B7273-A609-42E8-9B1D-ED211C704AFC}"/>
              </a:ext>
            </a:extLst>
          </p:cNvPr>
          <p:cNvSpPr/>
          <p:nvPr/>
        </p:nvSpPr>
        <p:spPr>
          <a:xfrm>
            <a:off x="1122038" y="1012657"/>
            <a:ext cx="5443425" cy="55604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94907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663E42E-B694-4608-90F2-15C48778B6F5}"/>
              </a:ext>
            </a:extLst>
          </p:cNvPr>
          <p:cNvSpPr>
            <a:spLocks noGrp="1"/>
          </p:cNvSpPr>
          <p:nvPr>
            <p:ph type="title"/>
          </p:nvPr>
        </p:nvSpPr>
        <p:spPr/>
        <p:txBody>
          <a:bodyPr/>
          <a:lstStyle/>
          <a:p>
            <a:r>
              <a:rPr lang="ko-KR" altLang="en-US" dirty="0"/>
              <a:t>전체</a:t>
            </a:r>
            <a:r>
              <a:rPr lang="en-US" altLang="ko-KR" dirty="0"/>
              <a:t> </a:t>
            </a:r>
            <a:r>
              <a:rPr lang="ko-KR" altLang="en-US" dirty="0"/>
              <a:t>설계</a:t>
            </a:r>
            <a:r>
              <a:rPr lang="en-US" altLang="ko-KR" dirty="0"/>
              <a:t> Coverage</a:t>
            </a:r>
            <a:endParaRPr lang="ko-KR" altLang="en-US" dirty="0"/>
          </a:p>
        </p:txBody>
      </p:sp>
      <p:graphicFrame>
        <p:nvGraphicFramePr>
          <p:cNvPr id="3" name="표 2">
            <a:extLst>
              <a:ext uri="{FF2B5EF4-FFF2-40B4-BE49-F238E27FC236}">
                <a16:creationId xmlns:a16="http://schemas.microsoft.com/office/drawing/2014/main" id="{98437080-30C9-47CA-95F3-E501353015FB}"/>
              </a:ext>
            </a:extLst>
          </p:cNvPr>
          <p:cNvGraphicFramePr>
            <a:graphicFrameLocks noGrp="1"/>
          </p:cNvGraphicFramePr>
          <p:nvPr>
            <p:extLst>
              <p:ext uri="{D42A27DB-BD31-4B8C-83A1-F6EECF244321}">
                <p14:modId xmlns:p14="http://schemas.microsoft.com/office/powerpoint/2010/main" val="3128854690"/>
              </p:ext>
            </p:extLst>
          </p:nvPr>
        </p:nvGraphicFramePr>
        <p:xfrm>
          <a:off x="152400" y="595085"/>
          <a:ext cx="11667424" cy="5476395"/>
        </p:xfrm>
        <a:graphic>
          <a:graphicData uri="http://schemas.openxmlformats.org/drawingml/2006/table">
            <a:tbl>
              <a:tblPr/>
              <a:tblGrid>
                <a:gridCol w="602515">
                  <a:extLst>
                    <a:ext uri="{9D8B030D-6E8A-4147-A177-3AD203B41FA5}">
                      <a16:colId xmlns:a16="http://schemas.microsoft.com/office/drawing/2014/main" val="2009359757"/>
                    </a:ext>
                  </a:extLst>
                </a:gridCol>
                <a:gridCol w="4502740">
                  <a:extLst>
                    <a:ext uri="{9D8B030D-6E8A-4147-A177-3AD203B41FA5}">
                      <a16:colId xmlns:a16="http://schemas.microsoft.com/office/drawing/2014/main" val="2830238747"/>
                    </a:ext>
                  </a:extLst>
                </a:gridCol>
                <a:gridCol w="597137">
                  <a:extLst>
                    <a:ext uri="{9D8B030D-6E8A-4147-A177-3AD203B41FA5}">
                      <a16:colId xmlns:a16="http://schemas.microsoft.com/office/drawing/2014/main" val="2103459820"/>
                    </a:ext>
                  </a:extLst>
                </a:gridCol>
                <a:gridCol w="597137">
                  <a:extLst>
                    <a:ext uri="{9D8B030D-6E8A-4147-A177-3AD203B41FA5}">
                      <a16:colId xmlns:a16="http://schemas.microsoft.com/office/drawing/2014/main" val="3390584175"/>
                    </a:ext>
                  </a:extLst>
                </a:gridCol>
                <a:gridCol w="597137">
                  <a:extLst>
                    <a:ext uri="{9D8B030D-6E8A-4147-A177-3AD203B41FA5}">
                      <a16:colId xmlns:a16="http://schemas.microsoft.com/office/drawing/2014/main" val="3524740056"/>
                    </a:ext>
                  </a:extLst>
                </a:gridCol>
                <a:gridCol w="597137">
                  <a:extLst>
                    <a:ext uri="{9D8B030D-6E8A-4147-A177-3AD203B41FA5}">
                      <a16:colId xmlns:a16="http://schemas.microsoft.com/office/drawing/2014/main" val="3655370233"/>
                    </a:ext>
                  </a:extLst>
                </a:gridCol>
                <a:gridCol w="597137">
                  <a:extLst>
                    <a:ext uri="{9D8B030D-6E8A-4147-A177-3AD203B41FA5}">
                      <a16:colId xmlns:a16="http://schemas.microsoft.com/office/drawing/2014/main" val="3346194733"/>
                    </a:ext>
                  </a:extLst>
                </a:gridCol>
                <a:gridCol w="597137">
                  <a:extLst>
                    <a:ext uri="{9D8B030D-6E8A-4147-A177-3AD203B41FA5}">
                      <a16:colId xmlns:a16="http://schemas.microsoft.com/office/drawing/2014/main" val="1885221308"/>
                    </a:ext>
                  </a:extLst>
                </a:gridCol>
                <a:gridCol w="597137">
                  <a:extLst>
                    <a:ext uri="{9D8B030D-6E8A-4147-A177-3AD203B41FA5}">
                      <a16:colId xmlns:a16="http://schemas.microsoft.com/office/drawing/2014/main" val="1952916653"/>
                    </a:ext>
                  </a:extLst>
                </a:gridCol>
                <a:gridCol w="597137">
                  <a:extLst>
                    <a:ext uri="{9D8B030D-6E8A-4147-A177-3AD203B41FA5}">
                      <a16:colId xmlns:a16="http://schemas.microsoft.com/office/drawing/2014/main" val="312200247"/>
                    </a:ext>
                  </a:extLst>
                </a:gridCol>
                <a:gridCol w="597137">
                  <a:extLst>
                    <a:ext uri="{9D8B030D-6E8A-4147-A177-3AD203B41FA5}">
                      <a16:colId xmlns:a16="http://schemas.microsoft.com/office/drawing/2014/main" val="2415440260"/>
                    </a:ext>
                  </a:extLst>
                </a:gridCol>
                <a:gridCol w="553429">
                  <a:extLst>
                    <a:ext uri="{9D8B030D-6E8A-4147-A177-3AD203B41FA5}">
                      <a16:colId xmlns:a16="http://schemas.microsoft.com/office/drawing/2014/main" val="3158068477"/>
                    </a:ext>
                  </a:extLst>
                </a:gridCol>
                <a:gridCol w="634507">
                  <a:extLst>
                    <a:ext uri="{9D8B030D-6E8A-4147-A177-3AD203B41FA5}">
                      <a16:colId xmlns:a16="http://schemas.microsoft.com/office/drawing/2014/main" val="3026773770"/>
                    </a:ext>
                  </a:extLst>
                </a:gridCol>
              </a:tblGrid>
              <a:tr h="329765">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a:noFill/>
                    </a:lnL>
                    <a:lnR>
                      <a:noFill/>
                    </a:lnR>
                    <a:lnT>
                      <a:noFill/>
                    </a:lnT>
                    <a:lnB>
                      <a:noFill/>
                    </a:lnB>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a:noFill/>
                    </a:lnL>
                    <a:lnR w="6350" cap="flat" cmpd="sng" algn="ctr">
                      <a:solidFill>
                        <a:srgbClr val="000000"/>
                      </a:solidFill>
                      <a:prstDash val="solid"/>
                      <a:round/>
                      <a:headEnd type="none" w="med" len="med"/>
                      <a:tailEnd type="none" w="med" len="med"/>
                    </a:lnR>
                    <a:lnT>
                      <a:noFill/>
                    </a:lnT>
                    <a:lnB>
                      <a:noFill/>
                    </a:lnB>
                  </a:tcPr>
                </a:tc>
                <a:tc gridSpan="4">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Functional Requirements</a:t>
                      </a:r>
                    </a:p>
                  </a:txBody>
                  <a:tcPr marL="83127" marR="83127" marT="41564" marB="4156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513D"/>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gridSpan="5">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Quality Attributes</a:t>
                      </a:r>
                    </a:p>
                  </a:txBody>
                  <a:tcPr marL="83127" marR="83127" marT="41564" marB="4156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3F50"/>
                    </a:solidFill>
                  </a:tcPr>
                </a:tc>
                <a:tc hMerge="1">
                  <a:txBody>
                    <a:bodyPr/>
                    <a:lstStyle/>
                    <a:p>
                      <a:pPr latinLnBrk="1"/>
                      <a:endParaRPr lang="ko-KR" altLang="en-US"/>
                    </a:p>
                  </a:txBody>
                  <a:tcPr>
                    <a:lnL w="6350" cap="flat" cmpd="sng" algn="ctr">
                      <a:solidFill>
                        <a:srgbClr val="000000"/>
                      </a:solidFill>
                      <a:prstDash val="solid"/>
                      <a:round/>
                      <a:headEnd type="none" w="med" len="med"/>
                      <a:tailEnd type="none" w="med" len="med"/>
                    </a:ln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algn="ctr" fontAlgn="ctr"/>
                      <a:endParaRPr 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83127" marR="83127" marT="41564" marB="4156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3F50"/>
                    </a:solidFill>
                  </a:tcPr>
                </a:tc>
                <a:tc gridSpan="2">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Constraints</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A552E"/>
                    </a:solidFill>
                  </a:tcPr>
                </a:tc>
                <a:tc hMerge="1">
                  <a:txBody>
                    <a:bodyPr/>
                    <a:lstStyle/>
                    <a:p>
                      <a:pPr algn="ctr" fontAlgn="ctr"/>
                      <a:endParaRPr 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A552E"/>
                    </a:solidFill>
                  </a:tcPr>
                </a:tc>
                <a:extLst>
                  <a:ext uri="{0D108BD9-81ED-4DB2-BD59-A6C34878D82A}">
                    <a16:rowId xmlns:a16="http://schemas.microsoft.com/office/drawing/2014/main" val="1556685471"/>
                  </a:ext>
                </a:extLst>
              </a:tr>
              <a:tr h="227564">
                <a:tc>
                  <a:txBody>
                    <a:bodyPr/>
                    <a:lstStyle/>
                    <a:p>
                      <a:pPr algn="l" fontAlgn="ctr"/>
                      <a:endParaRPr lang="ko-KR" alt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a:noFill/>
                    </a:lnL>
                    <a:lnR>
                      <a:noFill/>
                    </a:lnR>
                    <a:lnT>
                      <a:noFill/>
                    </a:lnT>
                    <a:lnB>
                      <a:noFill/>
                    </a:lnB>
                  </a:tcPr>
                </a:tc>
                <a:tc>
                  <a:txBody>
                    <a:bodyPr/>
                    <a:lstStyle/>
                    <a:p>
                      <a:pPr algn="l" fontAlgn="ctr"/>
                      <a:endParaRPr lang="ko-KR" alt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F1</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513D"/>
                    </a:solidFill>
                  </a:tcPr>
                </a:tc>
                <a:tc>
                  <a:txBody>
                    <a:bodyPr/>
                    <a:lstStyle/>
                    <a:p>
                      <a:pPr algn="ctr" fontAlgn="ctr"/>
                      <a:r>
                        <a:rPr lang="en-US" sz="1400" b="1" i="0" u="none" strike="noStrike">
                          <a:solidFill>
                            <a:srgbClr val="FFFFFF"/>
                          </a:solidFill>
                          <a:effectLst/>
                          <a:latin typeface="맑은 고딕" panose="020B0503020000020004" pitchFamily="50" charset="-127"/>
                          <a:ea typeface="맑은 고딕" panose="020B0503020000020004" pitchFamily="50" charset="-127"/>
                        </a:rPr>
                        <a:t>F2</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513D"/>
                    </a:solidFill>
                  </a:tcPr>
                </a:tc>
                <a:tc>
                  <a:txBody>
                    <a:bodyPr/>
                    <a:lstStyle/>
                    <a:p>
                      <a:pPr algn="ctr" fontAlgn="ctr"/>
                      <a:r>
                        <a:rPr lang="en-US" sz="1400" b="1" i="0" u="none" strike="noStrike">
                          <a:solidFill>
                            <a:srgbClr val="FFFFFF"/>
                          </a:solidFill>
                          <a:effectLst/>
                          <a:latin typeface="맑은 고딕" panose="020B0503020000020004" pitchFamily="50" charset="-127"/>
                          <a:ea typeface="맑은 고딕" panose="020B0503020000020004" pitchFamily="50" charset="-127"/>
                        </a:rPr>
                        <a:t>F3</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513D"/>
                    </a:solidFill>
                  </a:tcPr>
                </a:tc>
                <a:tc>
                  <a:txBody>
                    <a:bodyPr/>
                    <a:lstStyle/>
                    <a:p>
                      <a:pPr algn="ctr" fontAlgn="ctr"/>
                      <a:r>
                        <a:rPr lang="en-US" sz="1400" b="1" i="0" u="none" strike="noStrike">
                          <a:solidFill>
                            <a:srgbClr val="FFFFFF"/>
                          </a:solidFill>
                          <a:effectLst/>
                          <a:latin typeface="맑은 고딕" panose="020B0503020000020004" pitchFamily="50" charset="-127"/>
                          <a:ea typeface="맑은 고딕" panose="020B0503020000020004" pitchFamily="50" charset="-127"/>
                        </a:rPr>
                        <a:t>F4</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513D"/>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Q1</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3F50"/>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Q2</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B w="6350" cap="flat" cmpd="sng" algn="ctr">
                      <a:solidFill>
                        <a:srgbClr val="000000"/>
                      </a:solidFill>
                      <a:prstDash val="solid"/>
                      <a:round/>
                      <a:headEnd type="none" w="med" len="med"/>
                      <a:tailEnd type="none" w="med" len="med"/>
                    </a:lnB>
                    <a:solidFill>
                      <a:srgbClr val="333F50"/>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Q3</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3F50"/>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Q4</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3F50"/>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Q5</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33F50"/>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C1</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A552E"/>
                    </a:solidFill>
                  </a:tcPr>
                </a:tc>
                <a:tc>
                  <a:txBody>
                    <a:bodyPr/>
                    <a:lstStyle/>
                    <a:p>
                      <a:pPr algn="ctr" fontAlgn="ctr"/>
                      <a:r>
                        <a:rPr lang="en-US" sz="1400" b="1" i="0" u="none" strike="noStrike" dirty="0">
                          <a:solidFill>
                            <a:srgbClr val="FFFFFF"/>
                          </a:solidFill>
                          <a:effectLst/>
                          <a:latin typeface="맑은 고딕" panose="020B0503020000020004" pitchFamily="50" charset="-127"/>
                          <a:ea typeface="맑은 고딕" panose="020B0503020000020004" pitchFamily="50" charset="-127"/>
                        </a:rPr>
                        <a:t>C2</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A552E"/>
                    </a:solidFill>
                  </a:tcPr>
                </a:tc>
                <a:extLst>
                  <a:ext uri="{0D108BD9-81ED-4DB2-BD59-A6C34878D82A}">
                    <a16:rowId xmlns:a16="http://schemas.microsoft.com/office/drawing/2014/main" val="2892300718"/>
                  </a:ext>
                </a:extLst>
              </a:tr>
              <a:tr h="3182578">
                <a:tc>
                  <a:txBody>
                    <a:bodyPr/>
                    <a:lstStyle/>
                    <a:p>
                      <a:pPr algn="l" fontAlgn="ctr"/>
                      <a:endParaRPr lang="ko-KR" altLang="en-US" sz="1400" b="0" i="0" u="none" strike="noStrike">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ctr"/>
                      <a:endParaRPr lang="ko-KR" altLang="en-US" sz="16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t"/>
                      <a:r>
                        <a:rPr lang="ko-KR" altLang="en-US" sz="1400" b="0" i="0" u="none" strike="noStrike" dirty="0">
                          <a:solidFill>
                            <a:srgbClr val="000000"/>
                          </a:solidFill>
                          <a:effectLst/>
                          <a:latin typeface="맑은 고딕" panose="020B0503020000020004" pitchFamily="50" charset="-127"/>
                          <a:ea typeface="+mn-ea"/>
                        </a:rPr>
                        <a:t>추론 요청 관리</a:t>
                      </a: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ko-KR" altLang="en-US" sz="1400" b="0" i="0" u="none" strike="noStrike" dirty="0">
                          <a:solidFill>
                            <a:srgbClr val="000000"/>
                          </a:solidFill>
                          <a:effectLst/>
                          <a:latin typeface="맑은 고딕" panose="020B0503020000020004" pitchFamily="50" charset="-127"/>
                          <a:ea typeface="+mn-ea"/>
                        </a:rPr>
                        <a:t>추론 스케줄링</a:t>
                      </a: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en-US" altLang="ko-KR" sz="1400" b="0" i="0" u="none" strike="noStrike" dirty="0">
                          <a:solidFill>
                            <a:srgbClr val="000000"/>
                          </a:solidFill>
                          <a:effectLst/>
                          <a:latin typeface="맑은 고딕" panose="020B0503020000020004" pitchFamily="50" charset="-127"/>
                          <a:ea typeface="+mn-ea"/>
                        </a:rPr>
                        <a:t>LLM </a:t>
                      </a:r>
                      <a:r>
                        <a:rPr lang="ko-KR" altLang="en-US" sz="1400" b="0" i="0" u="none" strike="noStrike" dirty="0">
                          <a:solidFill>
                            <a:srgbClr val="000000"/>
                          </a:solidFill>
                          <a:effectLst/>
                          <a:latin typeface="맑은 고딕" panose="020B0503020000020004" pitchFamily="50" charset="-127"/>
                          <a:ea typeface="+mn-ea"/>
                        </a:rPr>
                        <a:t>추론 실행</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en-US" altLang="ko-KR" sz="1400" b="0" i="0" u="none" strike="noStrike" dirty="0">
                          <a:solidFill>
                            <a:srgbClr val="000000"/>
                          </a:solidFill>
                          <a:effectLst/>
                          <a:latin typeface="맑은 고딕" panose="020B0503020000020004" pitchFamily="50" charset="-127"/>
                          <a:ea typeface="+mn-ea"/>
                        </a:rPr>
                        <a:t>KV </a:t>
                      </a:r>
                      <a:r>
                        <a:rPr lang="ko-KR" altLang="en-US" sz="1400" b="0" i="0" u="none" strike="noStrike" dirty="0">
                          <a:solidFill>
                            <a:srgbClr val="000000"/>
                          </a:solidFill>
                          <a:effectLst/>
                          <a:latin typeface="맑은 고딕" panose="020B0503020000020004" pitchFamily="50" charset="-127"/>
                          <a:ea typeface="+mn-ea"/>
                        </a:rPr>
                        <a:t>캐시 관리</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ko-KR" altLang="en-US" sz="1400" b="0" i="0" u="none" strike="noStrike" dirty="0">
                          <a:solidFill>
                            <a:srgbClr val="000000"/>
                          </a:solidFill>
                          <a:effectLst/>
                          <a:latin typeface="맑은 고딕" panose="020B0503020000020004" pitchFamily="50" charset="-127"/>
                          <a:ea typeface="+mn-ea"/>
                        </a:rPr>
                        <a:t>처리량</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1400" b="0" i="0" u="none" strike="noStrike" dirty="0">
                          <a:solidFill>
                            <a:srgbClr val="000000"/>
                          </a:solidFill>
                          <a:effectLst/>
                          <a:latin typeface="맑은 고딕" panose="020B0503020000020004" pitchFamily="50" charset="-127"/>
                          <a:ea typeface="+mn-ea"/>
                        </a:rPr>
                        <a:t>고부하 지연시간</a:t>
                      </a: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1400" b="0" i="0" u="none" strike="noStrike" dirty="0">
                          <a:solidFill>
                            <a:srgbClr val="000000"/>
                          </a:solidFill>
                          <a:effectLst/>
                          <a:latin typeface="맑은 고딕" panose="020B0503020000020004" pitchFamily="50" charset="-127"/>
                          <a:ea typeface="+mn-ea"/>
                        </a:rPr>
                        <a:t>시스템 확장성</a:t>
                      </a: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1400" b="0" i="0" u="none" strike="noStrike" dirty="0">
                          <a:solidFill>
                            <a:srgbClr val="000000"/>
                          </a:solidFill>
                          <a:effectLst/>
                          <a:latin typeface="맑은 고딕" panose="020B0503020000020004" pitchFamily="50" charset="-127"/>
                          <a:ea typeface="+mn-ea"/>
                        </a:rPr>
                        <a:t>변경 용이성</a:t>
                      </a: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t" latinLnBrk="1" hangingPunct="1">
                        <a:lnSpc>
                          <a:spcPct val="100000"/>
                        </a:lnSpc>
                        <a:spcBef>
                          <a:spcPts val="0"/>
                        </a:spcBef>
                        <a:spcAft>
                          <a:spcPts val="0"/>
                        </a:spcAft>
                        <a:buClrTx/>
                        <a:buSzTx/>
                        <a:buFontTx/>
                        <a:buNone/>
                        <a:tabLst/>
                        <a:defRPr/>
                      </a:pPr>
                      <a:r>
                        <a:rPr lang="ko-KR" altLang="en-US" sz="1400" b="0" i="0" u="none" strike="noStrike" dirty="0">
                          <a:solidFill>
                            <a:srgbClr val="000000"/>
                          </a:solidFill>
                          <a:effectLst/>
                          <a:latin typeface="맑은 고딕" panose="020B0503020000020004" pitchFamily="50" charset="-127"/>
                          <a:ea typeface="+mn-ea"/>
                        </a:rPr>
                        <a:t>기능 정확성</a:t>
                      </a: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ko-KR" altLang="en-US" sz="1400" b="0" i="0" u="none" strike="noStrike" dirty="0">
                          <a:solidFill>
                            <a:srgbClr val="000000"/>
                          </a:solidFill>
                          <a:effectLst/>
                          <a:latin typeface="맑은 고딕" panose="020B0503020000020004" pitchFamily="50" charset="-127"/>
                          <a:ea typeface="+mn-ea"/>
                        </a:rPr>
                        <a:t>개발</a:t>
                      </a:r>
                      <a:r>
                        <a:rPr lang="ko-KR" altLang="en-US" sz="1400" b="0" i="0" u="none" strike="noStrike" baseline="0" dirty="0">
                          <a:solidFill>
                            <a:srgbClr val="000000"/>
                          </a:solidFill>
                          <a:effectLst/>
                          <a:latin typeface="맑은 고딕" panose="020B0503020000020004" pitchFamily="50" charset="-127"/>
                          <a:ea typeface="+mn-ea"/>
                        </a:rPr>
                        <a:t> 환경 </a:t>
                      </a:r>
                      <a:r>
                        <a:rPr lang="en-US" altLang="ko-KR" sz="1400" b="0" i="0" u="none" strike="noStrike" baseline="0" dirty="0" err="1" smtClean="0">
                          <a:solidFill>
                            <a:srgbClr val="000000"/>
                          </a:solidFill>
                          <a:effectLst/>
                          <a:latin typeface="맑은 고딕" panose="020B0503020000020004" pitchFamily="50" charset="-127"/>
                          <a:ea typeface="+mn-ea"/>
                        </a:rPr>
                        <a:t>vLLM</a:t>
                      </a:r>
                      <a:r>
                        <a:rPr lang="en-US" altLang="ko-KR" sz="1400" b="0" i="0" u="none" strike="noStrike" baseline="0" dirty="0" smtClean="0">
                          <a:solidFill>
                            <a:srgbClr val="000000"/>
                          </a:solidFill>
                          <a:effectLst/>
                          <a:latin typeface="맑은 고딕" panose="020B0503020000020004" pitchFamily="50" charset="-127"/>
                          <a:ea typeface="+mn-ea"/>
                        </a:rPr>
                        <a:t>, </a:t>
                      </a:r>
                      <a:r>
                        <a:rPr lang="en-US" altLang="ko-KR" sz="1400" b="0" i="0" u="none" strike="noStrike" baseline="0" dirty="0" err="1" smtClean="0">
                          <a:solidFill>
                            <a:srgbClr val="000000"/>
                          </a:solidFill>
                          <a:effectLst/>
                          <a:latin typeface="맑은 고딕" panose="020B0503020000020004" pitchFamily="50" charset="-127"/>
                          <a:ea typeface="+mn-ea"/>
                        </a:rPr>
                        <a:t>llm</a:t>
                      </a:r>
                      <a:r>
                        <a:rPr lang="en-US" altLang="ko-KR" sz="1400" b="0" i="0" u="none" strike="noStrike" baseline="0" dirty="0" smtClean="0">
                          <a:solidFill>
                            <a:srgbClr val="000000"/>
                          </a:solidFill>
                          <a:effectLst/>
                          <a:latin typeface="맑은 고딕" panose="020B0503020000020004" pitchFamily="50" charset="-127"/>
                          <a:ea typeface="+mn-ea"/>
                        </a:rPr>
                        <a:t>-d</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t"/>
                      <a:r>
                        <a:rPr lang="ko-KR" altLang="en-US" sz="1400" b="0" i="0" u="none" strike="noStrike" dirty="0" smtClean="0">
                          <a:solidFill>
                            <a:srgbClr val="000000"/>
                          </a:solidFill>
                          <a:effectLst/>
                          <a:latin typeface="맑은 고딕" panose="020B0503020000020004" pitchFamily="50" charset="-127"/>
                          <a:ea typeface="맑은 고딕" panose="020B0503020000020004" pitchFamily="50" charset="-127"/>
                        </a:rPr>
                        <a:t>모델 </a:t>
                      </a:r>
                      <a:r>
                        <a:rPr lang="en-US" altLang="ko-KR" sz="1400" b="0" i="0" u="none" strike="noStrike" dirty="0" smtClean="0">
                          <a:solidFill>
                            <a:srgbClr val="000000"/>
                          </a:solidFill>
                          <a:effectLst/>
                          <a:latin typeface="맑은 고딕" panose="020B0503020000020004" pitchFamily="50" charset="-127"/>
                          <a:ea typeface="맑은 고딕" panose="020B0503020000020004" pitchFamily="50" charset="-127"/>
                        </a:rPr>
                        <a:t>Context</a:t>
                      </a:r>
                      <a:r>
                        <a:rPr lang="en-US" altLang="ko-KR" sz="1400" b="0" i="0" u="none" strike="noStrike" baseline="0" dirty="0" smtClean="0">
                          <a:solidFill>
                            <a:srgbClr val="000000"/>
                          </a:solidFill>
                          <a:effectLst/>
                          <a:latin typeface="맑은 고딕" panose="020B0503020000020004" pitchFamily="50" charset="-127"/>
                          <a:ea typeface="맑은 고딕" panose="020B0503020000020004" pitchFamily="50" charset="-127"/>
                        </a:rPr>
                        <a:t> </a:t>
                      </a:r>
                      <a:r>
                        <a:rPr lang="ko-KR" altLang="en-US" sz="1400" b="0" i="0" u="none" strike="noStrike" baseline="0" dirty="0" smtClean="0">
                          <a:solidFill>
                            <a:srgbClr val="000000"/>
                          </a:solidFill>
                          <a:effectLst/>
                          <a:latin typeface="맑은 고딕" panose="020B0503020000020004" pitchFamily="50" charset="-127"/>
                          <a:ea typeface="맑은 고딕" panose="020B0503020000020004" pitchFamily="50" charset="-127"/>
                        </a:rPr>
                        <a:t>지원 길이</a:t>
                      </a:r>
                      <a:r>
                        <a:rPr lang="en-US" altLang="ko-KR" sz="1400" b="0" i="0" u="none" strike="noStrike" baseline="0" dirty="0" smtClean="0">
                          <a:solidFill>
                            <a:srgbClr val="000000"/>
                          </a:solidFill>
                          <a:effectLst/>
                          <a:latin typeface="맑은 고딕" panose="020B0503020000020004" pitchFamily="50" charset="-127"/>
                          <a:ea typeface="맑은 고딕" panose="020B0503020000020004" pitchFamily="50" charset="-127"/>
                        </a:rPr>
                        <a:t> </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vert="vert"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16983301"/>
                  </a:ext>
                </a:extLst>
              </a:tr>
              <a:tr h="360000">
                <a:tc rowSpan="4">
                  <a:txBody>
                    <a:bodyPr/>
                    <a:lstStyle/>
                    <a:p>
                      <a:pPr algn="ctr" fontAlgn="ctr"/>
                      <a:r>
                        <a:rPr lang="en-US" sz="1400" b="1" i="0" u="none" strike="noStrike" dirty="0">
                          <a:solidFill>
                            <a:srgbClr val="000000"/>
                          </a:solidFill>
                          <a:effectLst/>
                          <a:latin typeface="맑은 고딕" panose="020B0503020000020004" pitchFamily="50" charset="-127"/>
                          <a:ea typeface="맑은 고딕" panose="020B0503020000020004" pitchFamily="50" charset="-127"/>
                        </a:rPr>
                        <a:t>Design Point</a:t>
                      </a:r>
                    </a:p>
                  </a:txBody>
                  <a:tcPr marL="83127" marR="83127" marT="41564" marB="41564"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a:txBody>
                    <a:bodyPr/>
                    <a:lstStyle/>
                    <a:p>
                      <a:pPr algn="l" fontAlgn="ctr"/>
                      <a:r>
                        <a:rPr lang="en-US" altLang="ko-KR" sz="1400" b="0" i="0" u="none" strike="noStrike" dirty="0">
                          <a:solidFill>
                            <a:srgbClr val="000000"/>
                          </a:solidFill>
                          <a:effectLst/>
                          <a:latin typeface="맑은 고딕" panose="020B0503020000020004" pitchFamily="50" charset="-127"/>
                          <a:ea typeface="맑은 고딕" panose="020B0503020000020004" pitchFamily="50" charset="-127"/>
                        </a:rPr>
                        <a:t>[DP-01]</a:t>
                      </a:r>
                      <a:r>
                        <a:rPr lang="ko-KR" altLang="en-US" sz="1400" dirty="0"/>
                        <a:t> </a:t>
                      </a:r>
                      <a:r>
                        <a:rPr lang="en-US" altLang="ko-KR" sz="1400" dirty="0"/>
                        <a:t>Data Migration</a:t>
                      </a:r>
                      <a:r>
                        <a:rPr lang="ko-KR" altLang="en-US" sz="1400" dirty="0"/>
                        <a:t> 결정 </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968020021"/>
                  </a:ext>
                </a:extLst>
              </a:tr>
              <a:tr h="360000">
                <a:tc vMerge="1">
                  <a:txBody>
                    <a:bodyPr/>
                    <a:lstStyle/>
                    <a:p>
                      <a:pPr latinLnBrk="1"/>
                      <a:endParaRPr lang="ko-KR" altLang="en-US"/>
                    </a:p>
                  </a:txBody>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en-US" altLang="ko-KR" sz="1400" b="0" i="0" u="none" strike="noStrike" dirty="0">
                          <a:solidFill>
                            <a:srgbClr val="000000"/>
                          </a:solidFill>
                          <a:effectLst/>
                          <a:latin typeface="맑은 고딕" panose="020B0503020000020004" pitchFamily="50" charset="-127"/>
                          <a:ea typeface="+mn-ea"/>
                        </a:rPr>
                        <a:t>[DP-02] </a:t>
                      </a:r>
                      <a:r>
                        <a:rPr lang="ko-KR" altLang="en-US" sz="1400" dirty="0"/>
                        <a:t>연산</a:t>
                      </a:r>
                      <a:r>
                        <a:rPr lang="en-US" altLang="ko-KR" sz="1400" dirty="0"/>
                        <a:t>(Prefill/Decode) </a:t>
                      </a:r>
                      <a:r>
                        <a:rPr lang="ko-KR" altLang="en-US" sz="1400" dirty="0"/>
                        <a:t>실행 위치 결정 </a:t>
                      </a:r>
                      <a:endParaRPr lang="ko-KR" altLang="en-US" sz="1400" b="0" i="0" u="none" strike="noStrike" dirty="0">
                        <a:solidFill>
                          <a:srgbClr val="000000"/>
                        </a:solidFill>
                        <a:effectLst/>
                        <a:latin typeface="맑은 고딕" panose="020B0503020000020004" pitchFamily="50" charset="-127"/>
                        <a:ea typeface="+mn-ea"/>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3419531130"/>
                  </a:ext>
                </a:extLst>
              </a:tr>
              <a:tr h="360000">
                <a:tc vMerge="1">
                  <a:txBody>
                    <a:bodyPr/>
                    <a:lstStyle/>
                    <a:p>
                      <a:pPr latinLnBrk="1"/>
                      <a:endParaRPr lang="ko-KR" altLang="en-US"/>
                    </a:p>
                  </a:txBody>
                  <a:tcPr/>
                </a:tc>
                <a:tc>
                  <a:txBody>
                    <a:bodyPr/>
                    <a:lstStyle/>
                    <a:p>
                      <a:pPr algn="l" fontAlgn="ctr"/>
                      <a:r>
                        <a:rPr lang="en-US" altLang="ko-KR" sz="1400" b="0" i="0" u="none" strike="noStrike" dirty="0">
                          <a:solidFill>
                            <a:srgbClr val="000000"/>
                          </a:solidFill>
                          <a:effectLst/>
                          <a:latin typeface="맑은 고딕" panose="020B0503020000020004" pitchFamily="50" charset="-127"/>
                          <a:ea typeface="맑은 고딕" panose="020B0503020000020004" pitchFamily="50" charset="-127"/>
                        </a:rPr>
                        <a:t>[DP-03]</a:t>
                      </a:r>
                      <a:r>
                        <a:rPr lang="en-US" altLang="ko-KR" sz="1400" dirty="0"/>
                        <a:t> KV </a:t>
                      </a:r>
                      <a:r>
                        <a:rPr lang="ko-KR" altLang="en-US" sz="1400" dirty="0"/>
                        <a:t>캐시 재사용 구조</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3889833152"/>
                  </a:ext>
                </a:extLst>
              </a:tr>
              <a:tr h="360000">
                <a:tc vMerge="1">
                  <a:txBody>
                    <a:bodyPr/>
                    <a:lstStyle/>
                    <a:p>
                      <a:pPr latinLnBrk="1"/>
                      <a:endParaRPr lang="ko-KR" altLang="en-US"/>
                    </a:p>
                  </a:txBody>
                  <a:tcPr/>
                </a:tc>
                <a:tc>
                  <a:txBody>
                    <a:bodyPr/>
                    <a:lstStyle/>
                    <a:p>
                      <a:pPr algn="l" fontAlgn="ctr"/>
                      <a:r>
                        <a:rPr lang="en-US" altLang="ko-KR" sz="1400" b="0" i="0" u="none" strike="noStrike" dirty="0">
                          <a:solidFill>
                            <a:srgbClr val="000000"/>
                          </a:solidFill>
                          <a:effectLst/>
                          <a:latin typeface="맑은 고딕" panose="020B0503020000020004" pitchFamily="50" charset="-127"/>
                          <a:ea typeface="맑은 고딕" panose="020B0503020000020004" pitchFamily="50" charset="-127"/>
                        </a:rPr>
                        <a:t>[DP-04] </a:t>
                      </a:r>
                      <a:r>
                        <a:rPr lang="ko-KR" altLang="en-US" sz="1400" dirty="0"/>
                        <a:t>서버</a:t>
                      </a:r>
                      <a:r>
                        <a:rPr lang="en-US" altLang="ko-KR" sz="1400" dirty="0"/>
                        <a:t> 간 </a:t>
                      </a:r>
                      <a:r>
                        <a:rPr lang="ko-KR" altLang="en-US" sz="1400" dirty="0"/>
                        <a:t>데이터 </a:t>
                      </a:r>
                      <a:r>
                        <a:rPr lang="en-US" altLang="ko-KR" sz="1400" dirty="0" err="1"/>
                        <a:t>공유</a:t>
                      </a:r>
                      <a:r>
                        <a:rPr lang="en-US" altLang="ko-KR" sz="1400" dirty="0"/>
                        <a:t> </a:t>
                      </a:r>
                      <a:r>
                        <a:rPr lang="en-US" altLang="ko-KR" sz="1400" dirty="0" err="1"/>
                        <a:t>구조</a:t>
                      </a:r>
                      <a:r>
                        <a:rPr lang="en-US" altLang="ko-KR" sz="1400" dirty="0"/>
                        <a:t> </a:t>
                      </a: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ko-KR" altLang="en-US" sz="1400" b="1" i="0" u="none" strike="noStrike" dirty="0">
                          <a:solidFill>
                            <a:srgbClr val="FFFFFF"/>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tc>
                  <a:txBody>
                    <a:bodyPr/>
                    <a:lstStyle/>
                    <a:p>
                      <a:pPr algn="ctr" fontAlgn="ctr"/>
                      <a:endParaRPr lang="ko-KR" altLang="en-US" sz="1400" b="1" i="0" u="none" strike="noStrike" dirty="0">
                        <a:solidFill>
                          <a:srgbClr val="FFFFFF"/>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6425986"/>
                  </a:ext>
                </a:extLst>
              </a:tr>
              <a:tr h="278282">
                <a:tc gridSpan="2">
                  <a:txBody>
                    <a:bodyPr/>
                    <a:lstStyle/>
                    <a:p>
                      <a:pPr algn="ctr" fontAlgn="ctr"/>
                      <a:r>
                        <a:rPr lang="ko-KR" altLang="en-US" sz="1400" b="1" i="0" u="none" strike="noStrike" dirty="0">
                          <a:solidFill>
                            <a:srgbClr val="000000"/>
                          </a:solidFill>
                          <a:effectLst/>
                          <a:latin typeface="맑은 고딕" panose="020B0503020000020004" pitchFamily="50" charset="-127"/>
                          <a:ea typeface="맑은 고딕" panose="020B0503020000020004" pitchFamily="50" charset="-127"/>
                        </a:rPr>
                        <a:t>전체 </a:t>
                      </a:r>
                      <a:r>
                        <a:rPr lang="en-US" sz="1400" b="1" i="0" u="none" strike="noStrike" dirty="0">
                          <a:solidFill>
                            <a:srgbClr val="000000"/>
                          </a:solidFill>
                          <a:effectLst/>
                          <a:latin typeface="맑은 고딕" panose="020B0503020000020004" pitchFamily="50" charset="-127"/>
                          <a:ea typeface="맑은 고딕" panose="020B0503020000020004" pitchFamily="50" charset="-127"/>
                        </a:rPr>
                        <a:t>Coverage</a:t>
                      </a:r>
                    </a:p>
                  </a:txBody>
                  <a:tcPr marL="83127" marR="83127" marT="41564" marB="4156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2F2"/>
                    </a:solidFill>
                  </a:tcPr>
                </a:tc>
                <a:tc hMerge="1">
                  <a:txBody>
                    <a:bodyPr/>
                    <a:lstStyle/>
                    <a:p>
                      <a:pPr latinLnBrk="1"/>
                      <a:endParaRPr lang="ko-KR" altLang="en-US"/>
                    </a:p>
                  </a:txBody>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5">
                        <a:lumMod val="50000"/>
                      </a:schemeClr>
                    </a:solidFill>
                  </a:tcPr>
                </a:tc>
                <a:tc>
                  <a:txBody>
                    <a:bodyPr/>
                    <a:lstStyle/>
                    <a:p>
                      <a:pPr algn="l" fontAlgn="ctr"/>
                      <a:r>
                        <a:rPr lang="ko-KR" altLang="en-US" sz="1400" b="0" i="0" u="none" strike="noStrike" dirty="0">
                          <a:solidFill>
                            <a:srgbClr val="000000"/>
                          </a:solidFill>
                          <a:effectLst/>
                          <a:latin typeface="맑은 고딕" panose="020B0503020000020004" pitchFamily="50" charset="-127"/>
                          <a:ea typeface="맑은 고딕" panose="020B0503020000020004" pitchFamily="50" charset="-127"/>
                        </a:rPr>
                        <a:t>　</a:t>
                      </a: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tc>
                  <a:txBody>
                    <a:bodyPr/>
                    <a:lstStyle/>
                    <a:p>
                      <a:pPr algn="l" fontAlgn="ctr"/>
                      <a:endParaRPr lang="ko-KR" altLang="en-US" sz="14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366" marR="10366" marT="942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3603547772"/>
                  </a:ext>
                </a:extLst>
              </a:tr>
            </a:tbl>
          </a:graphicData>
        </a:graphic>
      </p:graphicFrame>
    </p:spTree>
    <p:extLst>
      <p:ext uri="{BB962C8B-B14F-4D97-AF65-F5344CB8AC3E}">
        <p14:creationId xmlns:p14="http://schemas.microsoft.com/office/powerpoint/2010/main" val="134854996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최종 구조 설계 – Module View</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14</a:t>
            </a:r>
          </a:p>
        </p:txBody>
      </p:sp>
      <p:sp>
        <p:nvSpPr>
          <p:cNvPr id="4" name="Rectangle 3"/>
          <p:cNvSpPr/>
          <p:nvPr/>
        </p:nvSpPr>
        <p:spPr>
          <a:xfrm>
            <a:off x="274320" y="1261872"/>
            <a:ext cx="9281160" cy="5230368"/>
          </a:xfrm>
          <a:prstGeom prst="rect">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097280"/>
            <a:ext cx="2377440" cy="246888"/>
          </a:xfrm>
          <a:prstGeom prst="rect">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900" b="1" i="0" dirty="0">
                <a:solidFill>
                  <a:srgbClr val="000000"/>
                </a:solidFill>
                <a:latin typeface="맑은 고딕"/>
                <a:ea typeface="맑은 고딕"/>
                <a:cs typeface="맑은 고딕"/>
              </a:rPr>
              <a:t>이기종 메모리 기반 </a:t>
            </a:r>
            <a:r>
              <a:rPr lang="ko-KR" altLang="en-US" sz="900" b="1" i="0" dirty="0" err="1">
                <a:solidFill>
                  <a:srgbClr val="000000"/>
                </a:solidFill>
                <a:latin typeface="맑은 고딕"/>
                <a:ea typeface="맑은 고딕"/>
                <a:cs typeface="맑은 고딕"/>
              </a:rPr>
              <a:t>서빙</a:t>
            </a:r>
            <a:r>
              <a:rPr lang="ko-KR" altLang="en-US" sz="900" b="1" i="0" dirty="0">
                <a:solidFill>
                  <a:srgbClr val="000000"/>
                </a:solidFill>
                <a:latin typeface="맑은 고딕"/>
                <a:ea typeface="맑은 고딕"/>
                <a:cs typeface="맑은 고딕"/>
              </a:rPr>
              <a:t> 엔진</a:t>
            </a:r>
            <a:endParaRPr sz="900" b="1" i="0" dirty="0">
              <a:solidFill>
                <a:srgbClr val="000000"/>
              </a:solidFill>
              <a:latin typeface="맑은 고딕"/>
              <a:ea typeface="맑은 고딕"/>
              <a:cs typeface="맑은 고딕"/>
            </a:endParaRPr>
          </a:p>
        </p:txBody>
      </p:sp>
      <p:sp>
        <p:nvSpPr>
          <p:cNvPr id="7" name="Rectangle 6"/>
          <p:cNvSpPr/>
          <p:nvPr/>
        </p:nvSpPr>
        <p:spPr>
          <a:xfrm>
            <a:off x="365760" y="1481328"/>
            <a:ext cx="1417320" cy="109728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389888"/>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490472"/>
            <a:ext cx="1417320" cy="219456"/>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Input</a:t>
            </a:r>
          </a:p>
        </p:txBody>
      </p:sp>
      <p:sp>
        <p:nvSpPr>
          <p:cNvPr id="10" name="Rectangle 9"/>
          <p:cNvSpPr/>
          <p:nvPr/>
        </p:nvSpPr>
        <p:spPr>
          <a:xfrm>
            <a:off x="429768" y="1755648"/>
            <a:ext cx="1280160" cy="237744"/>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Query Sampler</a:t>
            </a:r>
          </a:p>
        </p:txBody>
      </p:sp>
      <p:sp>
        <p:nvSpPr>
          <p:cNvPr id="11" name="Rectangle 10"/>
          <p:cNvSpPr/>
          <p:nvPr/>
        </p:nvSpPr>
        <p:spPr>
          <a:xfrm>
            <a:off x="429768" y="2029968"/>
            <a:ext cx="1280160" cy="237744"/>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User Query Manager</a:t>
            </a:r>
          </a:p>
        </p:txBody>
      </p:sp>
      <p:sp>
        <p:nvSpPr>
          <p:cNvPr id="12" name="Rectangle 11"/>
          <p:cNvSpPr/>
          <p:nvPr/>
        </p:nvSpPr>
        <p:spPr>
          <a:xfrm>
            <a:off x="429768" y="2304288"/>
            <a:ext cx="1280160" cy="237744"/>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Query History Manager</a:t>
            </a:r>
          </a:p>
        </p:txBody>
      </p:sp>
      <p:sp>
        <p:nvSpPr>
          <p:cNvPr id="13" name="Rectangle 12"/>
          <p:cNvSpPr/>
          <p:nvPr/>
        </p:nvSpPr>
        <p:spPr>
          <a:xfrm>
            <a:off x="1920240" y="1481328"/>
            <a:ext cx="6172200" cy="109728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920240" y="1389888"/>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920240" y="1490472"/>
            <a:ext cx="6172200" cy="219456"/>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Request Orchestrator</a:t>
            </a:r>
          </a:p>
        </p:txBody>
      </p:sp>
      <p:sp>
        <p:nvSpPr>
          <p:cNvPr id="16" name="Rectangle 15"/>
          <p:cNvSpPr/>
          <p:nvPr/>
        </p:nvSpPr>
        <p:spPr>
          <a:xfrm>
            <a:off x="1984248" y="1737360"/>
            <a:ext cx="950976" cy="347472"/>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Request Scheduler</a:t>
            </a:r>
          </a:p>
        </p:txBody>
      </p:sp>
      <p:sp>
        <p:nvSpPr>
          <p:cNvPr id="17" name="Rectangle 16"/>
          <p:cNvSpPr/>
          <p:nvPr/>
        </p:nvSpPr>
        <p:spPr>
          <a:xfrm>
            <a:off x="2999232" y="173736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Prefill/Decode</a:t>
            </a:r>
          </a:p>
          <a:p>
            <a:pPr algn="ctr">
              <a:spcAft>
                <a:spcPts val="0"/>
              </a:spcAft>
            </a:pPr>
            <a:r>
              <a:rPr sz="650" b="0" i="0">
                <a:solidFill>
                  <a:srgbClr val="000000"/>
                </a:solidFill>
                <a:latin typeface="맑은 고딕"/>
                <a:ea typeface="맑은 고딕"/>
                <a:cs typeface="맑은 고딕"/>
              </a:rPr>
              <a:t>Execution Planner</a:t>
            </a:r>
          </a:p>
        </p:txBody>
      </p:sp>
      <p:sp>
        <p:nvSpPr>
          <p:cNvPr id="18" name="Rectangle 17"/>
          <p:cNvSpPr/>
          <p:nvPr/>
        </p:nvSpPr>
        <p:spPr>
          <a:xfrm>
            <a:off x="4014216" y="173736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Cost Evaluator</a:t>
            </a:r>
          </a:p>
        </p:txBody>
      </p:sp>
      <p:sp>
        <p:nvSpPr>
          <p:cNvPr id="19" name="Rectangle 18"/>
          <p:cNvSpPr/>
          <p:nvPr/>
        </p:nvSpPr>
        <p:spPr>
          <a:xfrm>
            <a:off x="5029200" y="173736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State Monitor</a:t>
            </a:r>
          </a:p>
        </p:txBody>
      </p:sp>
      <p:sp>
        <p:nvSpPr>
          <p:cNvPr id="20" name="Rectangle 19"/>
          <p:cNvSpPr/>
          <p:nvPr/>
        </p:nvSpPr>
        <p:spPr>
          <a:xfrm>
            <a:off x="6044184" y="173736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Cache</a:t>
            </a:r>
          </a:p>
        </p:txBody>
      </p:sp>
      <p:sp>
        <p:nvSpPr>
          <p:cNvPr id="21" name="Rectangle 20"/>
          <p:cNvSpPr/>
          <p:nvPr/>
        </p:nvSpPr>
        <p:spPr>
          <a:xfrm>
            <a:off x="7059168" y="173736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Publisher</a:t>
            </a:r>
          </a:p>
        </p:txBody>
      </p:sp>
      <p:sp>
        <p:nvSpPr>
          <p:cNvPr id="22" name="Rectangle 21"/>
          <p:cNvSpPr/>
          <p:nvPr/>
        </p:nvSpPr>
        <p:spPr>
          <a:xfrm>
            <a:off x="1984248" y="2148840"/>
            <a:ext cx="950976" cy="347472"/>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Router</a:t>
            </a:r>
          </a:p>
        </p:txBody>
      </p:sp>
      <p:sp>
        <p:nvSpPr>
          <p:cNvPr id="23" name="Rectangle 22"/>
          <p:cNvSpPr/>
          <p:nvPr/>
        </p:nvSpPr>
        <p:spPr>
          <a:xfrm>
            <a:off x="2999232" y="214884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Execution Router</a:t>
            </a:r>
          </a:p>
          <a:p>
            <a:pPr algn="ctr">
              <a:spcAft>
                <a:spcPts val="0"/>
              </a:spcAft>
            </a:pPr>
            <a:r>
              <a:rPr sz="650" b="0" i="0">
                <a:solidFill>
                  <a:srgbClr val="000000"/>
                </a:solidFill>
                <a:latin typeface="맑은 고딕"/>
                <a:ea typeface="맑은 고딕"/>
                <a:cs typeface="맑은 고딕"/>
              </a:rPr>
              <a:t>(Decision)</a:t>
            </a:r>
          </a:p>
        </p:txBody>
      </p:sp>
      <p:sp>
        <p:nvSpPr>
          <p:cNvPr id="24" name="Rectangle 23"/>
          <p:cNvSpPr/>
          <p:nvPr/>
        </p:nvSpPr>
        <p:spPr>
          <a:xfrm>
            <a:off x="4014216" y="214884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Lookup</a:t>
            </a:r>
          </a:p>
          <a:p>
            <a:pPr algn="ctr">
              <a:spcAft>
                <a:spcPts val="0"/>
              </a:spcAft>
            </a:pPr>
            <a:r>
              <a:rPr sz="650" b="0" i="0">
                <a:solidFill>
                  <a:srgbClr val="000000"/>
                </a:solidFill>
                <a:latin typeface="맑은 고딕"/>
                <a:ea typeface="맑은 고딕"/>
                <a:cs typeface="맑은 고딕"/>
              </a:rPr>
              <a:t>Validator</a:t>
            </a:r>
          </a:p>
        </p:txBody>
      </p:sp>
      <p:sp>
        <p:nvSpPr>
          <p:cNvPr id="25" name="Rectangle 24"/>
          <p:cNvSpPr/>
          <p:nvPr/>
        </p:nvSpPr>
        <p:spPr>
          <a:xfrm>
            <a:off x="5029200" y="2148840"/>
            <a:ext cx="950976" cy="347472"/>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Resource State</a:t>
            </a:r>
          </a:p>
          <a:p>
            <a:pPr algn="ctr">
              <a:spcAft>
                <a:spcPts val="0"/>
              </a:spcAft>
            </a:pPr>
            <a:r>
              <a:rPr sz="650" b="0" i="0">
                <a:solidFill>
                  <a:srgbClr val="000000"/>
                </a:solidFill>
                <a:latin typeface="맑은 고딕"/>
                <a:ea typeface="맑은 고딕"/>
                <a:cs typeface="맑은 고딕"/>
              </a:rPr>
              <a:t>Monitor</a:t>
            </a:r>
          </a:p>
        </p:txBody>
      </p:sp>
      <p:sp>
        <p:nvSpPr>
          <p:cNvPr id="26" name="Rectangle 25"/>
          <p:cNvSpPr/>
          <p:nvPr/>
        </p:nvSpPr>
        <p:spPr>
          <a:xfrm>
            <a:off x="6044184" y="2148840"/>
            <a:ext cx="950976" cy="347472"/>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Admission</a:t>
            </a:r>
          </a:p>
          <a:p>
            <a:pPr algn="ctr">
              <a:spcAft>
                <a:spcPts val="0"/>
              </a:spcAft>
            </a:pPr>
            <a:r>
              <a:rPr sz="650" b="0" i="0">
                <a:solidFill>
                  <a:srgbClr val="000000"/>
                </a:solidFill>
                <a:latin typeface="맑은 고딕"/>
                <a:ea typeface="맑은 고딕"/>
                <a:cs typeface="맑은 고딕"/>
              </a:rPr>
              <a:t>Controller (DP3)</a:t>
            </a:r>
          </a:p>
        </p:txBody>
      </p:sp>
      <p:sp>
        <p:nvSpPr>
          <p:cNvPr id="27" name="Rectangle 26"/>
          <p:cNvSpPr/>
          <p:nvPr/>
        </p:nvSpPr>
        <p:spPr>
          <a:xfrm>
            <a:off x="365760" y="2788920"/>
            <a:ext cx="1417320" cy="361188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2697479"/>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 y="2798063"/>
            <a:ext cx="1417320" cy="219456"/>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KV Pool</a:t>
            </a:r>
          </a:p>
        </p:txBody>
      </p:sp>
      <p:sp>
        <p:nvSpPr>
          <p:cNvPr id="30" name="Rectangle 29"/>
          <p:cNvSpPr/>
          <p:nvPr/>
        </p:nvSpPr>
        <p:spPr>
          <a:xfrm>
            <a:off x="429768" y="3063240"/>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Offline Analyzer</a:t>
            </a:r>
          </a:p>
          <a:p>
            <a:pPr algn="ctr">
              <a:spcAft>
                <a:spcPts val="0"/>
              </a:spcAft>
            </a:pPr>
            <a:r>
              <a:rPr sz="650" b="0" i="0">
                <a:solidFill>
                  <a:srgbClr val="000000"/>
                </a:solidFill>
                <a:latin typeface="맑은 고딕"/>
                <a:ea typeface="맑은 고딕"/>
                <a:cs typeface="맑은 고딕"/>
              </a:rPr>
              <a:t>(대표 Query → 재계산 위치)</a:t>
            </a:r>
          </a:p>
        </p:txBody>
      </p:sp>
      <p:sp>
        <p:nvSpPr>
          <p:cNvPr id="31" name="Rectangle 30"/>
          <p:cNvSpPr/>
          <p:nvPr/>
        </p:nvSpPr>
        <p:spPr>
          <a:xfrm>
            <a:off x="429768" y="3538728"/>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Store</a:t>
            </a:r>
          </a:p>
          <a:p>
            <a:pPr algn="ctr">
              <a:spcAft>
                <a:spcPts val="0"/>
              </a:spcAft>
            </a:pPr>
            <a:r>
              <a:rPr sz="650" b="0" i="0">
                <a:solidFill>
                  <a:srgbClr val="000000"/>
                </a:solidFill>
                <a:latin typeface="맑은 고딕"/>
                <a:ea typeface="맑은 고딕"/>
                <a:cs typeface="맑은 고딕"/>
              </a:rPr>
              <a:t>(재계산 위치)</a:t>
            </a:r>
          </a:p>
        </p:txBody>
      </p:sp>
      <p:sp>
        <p:nvSpPr>
          <p:cNvPr id="32" name="Rectangle 31"/>
          <p:cNvSpPr/>
          <p:nvPr/>
        </p:nvSpPr>
        <p:spPr>
          <a:xfrm>
            <a:off x="429768" y="4014216"/>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Layout Manager</a:t>
            </a:r>
          </a:p>
          <a:p>
            <a:pPr algn="ctr">
              <a:spcAft>
                <a:spcPts val="0"/>
              </a:spcAft>
            </a:pPr>
            <a:r>
              <a:rPr sz="650" b="0" i="0">
                <a:solidFill>
                  <a:srgbClr val="000000"/>
                </a:solidFill>
                <a:latin typeface="맑은 고딕"/>
                <a:ea typeface="맑은 고딕"/>
                <a:cs typeface="맑은 고딕"/>
              </a:rPr>
              <a:t>(Base 공유 + Delta)</a:t>
            </a:r>
          </a:p>
        </p:txBody>
      </p:sp>
      <p:sp>
        <p:nvSpPr>
          <p:cNvPr id="33" name="Rectangle 32"/>
          <p:cNvSpPr/>
          <p:nvPr/>
        </p:nvSpPr>
        <p:spPr>
          <a:xfrm>
            <a:off x="429768" y="4489704"/>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Recompute-Token</a:t>
            </a:r>
          </a:p>
          <a:p>
            <a:pPr algn="ctr">
              <a:spcAft>
                <a:spcPts val="0"/>
              </a:spcAft>
            </a:pPr>
            <a:r>
              <a:rPr sz="650" b="0" i="0">
                <a:solidFill>
                  <a:srgbClr val="000000"/>
                </a:solidFill>
                <a:latin typeface="맑은 고딕"/>
                <a:ea typeface="맑은 고딕"/>
                <a:cs typeface="맑은 고딕"/>
              </a:rPr>
              <a:t>Selector</a:t>
            </a:r>
          </a:p>
        </p:txBody>
      </p:sp>
      <p:sp>
        <p:nvSpPr>
          <p:cNvPr id="34" name="Rectangle 33"/>
          <p:cNvSpPr/>
          <p:nvPr/>
        </p:nvSpPr>
        <p:spPr>
          <a:xfrm>
            <a:off x="429768" y="4965192"/>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Sampler /</a:t>
            </a:r>
          </a:p>
          <a:p>
            <a:pPr algn="ctr">
              <a:spcAft>
                <a:spcPts val="0"/>
              </a:spcAft>
            </a:pPr>
            <a:r>
              <a:rPr sz="650" b="0" i="0">
                <a:solidFill>
                  <a:srgbClr val="000000"/>
                </a:solidFill>
                <a:latin typeface="맑은 고딕"/>
                <a:ea typeface="맑은 고딕"/>
                <a:cs typeface="맑은 고딕"/>
              </a:rPr>
              <a:t>KV Compressor</a:t>
            </a:r>
          </a:p>
        </p:txBody>
      </p:sp>
      <p:sp>
        <p:nvSpPr>
          <p:cNvPr id="35" name="Rectangle 34"/>
          <p:cNvSpPr/>
          <p:nvPr/>
        </p:nvSpPr>
        <p:spPr>
          <a:xfrm>
            <a:off x="429768" y="5440680"/>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Blending Manager</a:t>
            </a:r>
          </a:p>
        </p:txBody>
      </p:sp>
      <p:sp>
        <p:nvSpPr>
          <p:cNvPr id="36" name="Rectangle 35"/>
          <p:cNvSpPr/>
          <p:nvPr/>
        </p:nvSpPr>
        <p:spPr>
          <a:xfrm>
            <a:off x="429768" y="5916168"/>
            <a:ext cx="1280160" cy="411480"/>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Index Manager</a:t>
            </a:r>
          </a:p>
        </p:txBody>
      </p:sp>
      <p:sp>
        <p:nvSpPr>
          <p:cNvPr id="37" name="Rectangle 36"/>
          <p:cNvSpPr/>
          <p:nvPr/>
        </p:nvSpPr>
        <p:spPr>
          <a:xfrm>
            <a:off x="1920240" y="2788920"/>
            <a:ext cx="6172200" cy="361188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1920240" y="2697479"/>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920240" y="2798063"/>
            <a:ext cx="6172200" cy="219456"/>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Inference Engine</a:t>
            </a:r>
          </a:p>
        </p:txBody>
      </p:sp>
      <p:sp>
        <p:nvSpPr>
          <p:cNvPr id="40" name="Rectangle 39"/>
          <p:cNvSpPr/>
          <p:nvPr/>
        </p:nvSpPr>
        <p:spPr>
          <a:xfrm>
            <a:off x="2011680" y="3108960"/>
            <a:ext cx="1097280" cy="320040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011680" y="301752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011680" y="3118103"/>
            <a:ext cx="1097280" cy="201168"/>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Generation</a:t>
            </a:r>
          </a:p>
        </p:txBody>
      </p:sp>
      <p:sp>
        <p:nvSpPr>
          <p:cNvPr id="43" name="Rectangle 42"/>
          <p:cNvSpPr/>
          <p:nvPr/>
        </p:nvSpPr>
        <p:spPr>
          <a:xfrm>
            <a:off x="2075688" y="3383280"/>
            <a:ext cx="969264" cy="411480"/>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Scheduler</a:t>
            </a:r>
          </a:p>
        </p:txBody>
      </p:sp>
      <p:sp>
        <p:nvSpPr>
          <p:cNvPr id="44" name="Rectangle 43"/>
          <p:cNvSpPr/>
          <p:nvPr/>
        </p:nvSpPr>
        <p:spPr>
          <a:xfrm>
            <a:off x="2075688" y="3931920"/>
            <a:ext cx="969264" cy="41148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Engine Core</a:t>
            </a:r>
          </a:p>
        </p:txBody>
      </p:sp>
      <p:sp>
        <p:nvSpPr>
          <p:cNvPr id="45" name="Rectangle 44"/>
          <p:cNvSpPr/>
          <p:nvPr/>
        </p:nvSpPr>
        <p:spPr>
          <a:xfrm>
            <a:off x="2075688" y="4480560"/>
            <a:ext cx="969264" cy="411480"/>
          </a:xfrm>
          <a:prstGeom prst="rect">
            <a:avLst/>
          </a:prstGeom>
          <a:solidFill>
            <a:srgbClr val="FFF2CC"/>
          </a:solidFill>
          <a:ln w="222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Executor</a:t>
            </a:r>
          </a:p>
        </p:txBody>
      </p:sp>
      <p:sp>
        <p:nvSpPr>
          <p:cNvPr id="46" name="Rectangle 45"/>
          <p:cNvSpPr/>
          <p:nvPr/>
        </p:nvSpPr>
        <p:spPr>
          <a:xfrm>
            <a:off x="2075688" y="5029200"/>
            <a:ext cx="969264" cy="41148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Input/Output</a:t>
            </a:r>
          </a:p>
          <a:p>
            <a:pPr algn="ctr">
              <a:spcAft>
                <a:spcPts val="0"/>
              </a:spcAft>
            </a:pPr>
            <a:r>
              <a:rPr sz="650" b="0" i="0">
                <a:solidFill>
                  <a:srgbClr val="000000"/>
                </a:solidFill>
                <a:latin typeface="맑은 고딕"/>
                <a:ea typeface="맑은 고딕"/>
                <a:cs typeface="맑은 고딕"/>
              </a:rPr>
              <a:t>Processor</a:t>
            </a:r>
          </a:p>
        </p:txBody>
      </p:sp>
      <p:sp>
        <p:nvSpPr>
          <p:cNvPr id="47" name="Rectangle 46"/>
          <p:cNvSpPr/>
          <p:nvPr/>
        </p:nvSpPr>
        <p:spPr>
          <a:xfrm>
            <a:off x="2075688" y="5577840"/>
            <a:ext cx="969264" cy="41148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Engine Core Client</a:t>
            </a:r>
          </a:p>
        </p:txBody>
      </p:sp>
      <p:sp>
        <p:nvSpPr>
          <p:cNvPr id="48" name="Rectangle 47"/>
          <p:cNvSpPr/>
          <p:nvPr/>
        </p:nvSpPr>
        <p:spPr>
          <a:xfrm>
            <a:off x="3200400" y="3108960"/>
            <a:ext cx="1097280" cy="320040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3200400" y="301752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200400" y="3118103"/>
            <a:ext cx="1097280" cy="201168"/>
          </a:xfrm>
          <a:prstGeom prst="rect">
            <a:avLst/>
          </a:prstGeom>
          <a:noFill/>
        </p:spPr>
        <p:txBody>
          <a:bodyPr wrap="square" lIns="0" tIns="18288" rIns="0" bIns="18288" anchor="ctr">
            <a:spAutoFit/>
          </a:bodyPr>
          <a:lstStyle/>
          <a:p>
            <a:pPr algn="ctr">
              <a:spcAft>
                <a:spcPts val="0"/>
              </a:spcAft>
            </a:pPr>
            <a:r>
              <a:rPr sz="700" b="1" i="0">
                <a:solidFill>
                  <a:srgbClr val="000000"/>
                </a:solidFill>
                <a:latin typeface="맑은 고딕"/>
                <a:ea typeface="맑은 고딕"/>
                <a:cs typeface="맑은 고딕"/>
              </a:rPr>
              <a:t>Compute Management</a:t>
            </a:r>
          </a:p>
        </p:txBody>
      </p:sp>
      <p:sp>
        <p:nvSpPr>
          <p:cNvPr id="51" name="Rectangle 50"/>
          <p:cNvSpPr/>
          <p:nvPr/>
        </p:nvSpPr>
        <p:spPr>
          <a:xfrm>
            <a:off x="3264408" y="3383280"/>
            <a:ext cx="969264" cy="38404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Worker</a:t>
            </a:r>
          </a:p>
        </p:txBody>
      </p:sp>
      <p:sp>
        <p:nvSpPr>
          <p:cNvPr id="52" name="Rectangle 51"/>
          <p:cNvSpPr/>
          <p:nvPr/>
        </p:nvSpPr>
        <p:spPr>
          <a:xfrm>
            <a:off x="3264408" y="3840480"/>
            <a:ext cx="969264" cy="38404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Model Runner</a:t>
            </a:r>
          </a:p>
        </p:txBody>
      </p:sp>
      <p:sp>
        <p:nvSpPr>
          <p:cNvPr id="53" name="Rectangle 52"/>
          <p:cNvSpPr/>
          <p:nvPr/>
        </p:nvSpPr>
        <p:spPr>
          <a:xfrm>
            <a:off x="3264408" y="4297680"/>
            <a:ext cx="969264" cy="38404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Model/Layers</a:t>
            </a:r>
          </a:p>
        </p:txBody>
      </p:sp>
      <p:sp>
        <p:nvSpPr>
          <p:cNvPr id="54" name="Rectangle 53"/>
          <p:cNvSpPr/>
          <p:nvPr/>
        </p:nvSpPr>
        <p:spPr>
          <a:xfrm>
            <a:off x="3264408" y="4754880"/>
            <a:ext cx="969264" cy="384048"/>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Attention Backend</a:t>
            </a:r>
          </a:p>
          <a:p>
            <a:pPr algn="ctr">
              <a:spcAft>
                <a:spcPts val="0"/>
              </a:spcAft>
            </a:pPr>
            <a:r>
              <a:rPr sz="650" b="0" i="0">
                <a:solidFill>
                  <a:srgbClr val="000000"/>
                </a:solidFill>
                <a:latin typeface="맑은 고딕"/>
                <a:ea typeface="맑은 고딕"/>
                <a:cs typeface="맑은 고딕"/>
              </a:rPr>
              <a:t>(+Attention Manager)</a:t>
            </a:r>
          </a:p>
        </p:txBody>
      </p:sp>
      <p:sp>
        <p:nvSpPr>
          <p:cNvPr id="55" name="Rectangle 54"/>
          <p:cNvSpPr/>
          <p:nvPr/>
        </p:nvSpPr>
        <p:spPr>
          <a:xfrm>
            <a:off x="3264408" y="5212080"/>
            <a:ext cx="969264" cy="384048"/>
          </a:xfrm>
          <a:prstGeom prst="rect">
            <a:avLst/>
          </a:prstGeom>
          <a:solidFill>
            <a:srgbClr val="FFF2CC"/>
          </a:solid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Selective</a:t>
            </a:r>
          </a:p>
          <a:p>
            <a:pPr algn="ctr">
              <a:spcAft>
                <a:spcPts val="0"/>
              </a:spcAft>
            </a:pPr>
            <a:r>
              <a:rPr sz="650" b="0" i="0">
                <a:solidFill>
                  <a:srgbClr val="000000"/>
                </a:solidFill>
                <a:latin typeface="맑은 고딕"/>
                <a:ea typeface="맑은 고딕"/>
                <a:cs typeface="맑은 고딕"/>
              </a:rPr>
              <a:t>Recomputer</a:t>
            </a:r>
          </a:p>
        </p:txBody>
      </p:sp>
      <p:sp>
        <p:nvSpPr>
          <p:cNvPr id="56" name="Rectangle 55"/>
          <p:cNvSpPr/>
          <p:nvPr/>
        </p:nvSpPr>
        <p:spPr>
          <a:xfrm>
            <a:off x="3264408" y="5669280"/>
            <a:ext cx="969264" cy="38404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Custom Operator</a:t>
            </a:r>
          </a:p>
        </p:txBody>
      </p:sp>
      <p:sp>
        <p:nvSpPr>
          <p:cNvPr id="57" name="Rectangle 56"/>
          <p:cNvSpPr/>
          <p:nvPr/>
        </p:nvSpPr>
        <p:spPr>
          <a:xfrm>
            <a:off x="4389120" y="3108960"/>
            <a:ext cx="2286000" cy="320040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4389120" y="301752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389120" y="3118103"/>
            <a:ext cx="2286000" cy="201168"/>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Data Management</a:t>
            </a:r>
          </a:p>
        </p:txBody>
      </p:sp>
      <p:sp>
        <p:nvSpPr>
          <p:cNvPr id="60" name="Rectangle 59"/>
          <p:cNvSpPr/>
          <p:nvPr/>
        </p:nvSpPr>
        <p:spPr>
          <a:xfrm>
            <a:off x="4453128" y="3383280"/>
            <a:ext cx="1005840"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Decision Scheduler</a:t>
            </a:r>
          </a:p>
        </p:txBody>
      </p:sp>
      <p:sp>
        <p:nvSpPr>
          <p:cNvPr id="61" name="Rectangle 60"/>
          <p:cNvSpPr/>
          <p:nvPr/>
        </p:nvSpPr>
        <p:spPr>
          <a:xfrm>
            <a:off x="4453128" y="3858768"/>
            <a:ext cx="1005840"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Trend Analyzer</a:t>
            </a:r>
          </a:p>
        </p:txBody>
      </p:sp>
      <p:sp>
        <p:nvSpPr>
          <p:cNvPr id="62" name="Rectangle 61"/>
          <p:cNvSpPr/>
          <p:nvPr/>
        </p:nvSpPr>
        <p:spPr>
          <a:xfrm>
            <a:off x="4453128" y="4334256"/>
            <a:ext cx="1005840"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Affinity Mapper</a:t>
            </a:r>
          </a:p>
        </p:txBody>
      </p:sp>
      <p:sp>
        <p:nvSpPr>
          <p:cNvPr id="63" name="Rectangle 62"/>
          <p:cNvSpPr/>
          <p:nvPr/>
        </p:nvSpPr>
        <p:spPr>
          <a:xfrm>
            <a:off x="4453128" y="4809744"/>
            <a:ext cx="1005840"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Policy Engine</a:t>
            </a:r>
          </a:p>
        </p:txBody>
      </p:sp>
      <p:sp>
        <p:nvSpPr>
          <p:cNvPr id="64" name="Rectangle 63"/>
          <p:cNvSpPr/>
          <p:nvPr/>
        </p:nvSpPr>
        <p:spPr>
          <a:xfrm>
            <a:off x="4453128" y="5285232"/>
            <a:ext cx="1005840"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a:t>
            </a:r>
          </a:p>
          <a:p>
            <a:pPr algn="ctr">
              <a:spcAft>
                <a:spcPts val="0"/>
              </a:spcAft>
            </a:pPr>
            <a:r>
              <a:rPr sz="650" b="0" i="0">
                <a:solidFill>
                  <a:srgbClr val="000000"/>
                </a:solidFill>
                <a:latin typeface="맑은 고딕"/>
                <a:ea typeface="맑은 고딕"/>
                <a:cs typeface="맑은 고딕"/>
              </a:rPr>
              <a:t>Command Queue</a:t>
            </a:r>
          </a:p>
        </p:txBody>
      </p:sp>
      <p:sp>
        <p:nvSpPr>
          <p:cNvPr id="65" name="Rectangle 64"/>
          <p:cNvSpPr/>
          <p:nvPr/>
        </p:nvSpPr>
        <p:spPr>
          <a:xfrm>
            <a:off x="4453128" y="5760720"/>
            <a:ext cx="1005840"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 Executor</a:t>
            </a:r>
          </a:p>
        </p:txBody>
      </p:sp>
      <p:sp>
        <p:nvSpPr>
          <p:cNvPr id="66" name="Rectangle 65"/>
          <p:cNvSpPr/>
          <p:nvPr/>
        </p:nvSpPr>
        <p:spPr>
          <a:xfrm>
            <a:off x="5577840" y="3383280"/>
            <a:ext cx="1033271"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Data Object</a:t>
            </a:r>
          </a:p>
          <a:p>
            <a:pPr algn="ctr">
              <a:spcAft>
                <a:spcPts val="0"/>
              </a:spcAft>
            </a:pPr>
            <a:r>
              <a:rPr sz="650" b="0" i="0">
                <a:solidFill>
                  <a:srgbClr val="000000"/>
                </a:solidFill>
                <a:latin typeface="맑은 고딕"/>
                <a:ea typeface="맑은 고딕"/>
                <a:cs typeface="맑은 고딕"/>
              </a:rPr>
              <a:t>Registry</a:t>
            </a:r>
          </a:p>
        </p:txBody>
      </p:sp>
      <p:sp>
        <p:nvSpPr>
          <p:cNvPr id="67" name="Rectangle 66"/>
          <p:cNvSpPr/>
          <p:nvPr/>
        </p:nvSpPr>
        <p:spPr>
          <a:xfrm>
            <a:off x="5577840" y="3858768"/>
            <a:ext cx="1033271"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Cache Manager</a:t>
            </a:r>
          </a:p>
        </p:txBody>
      </p:sp>
      <p:sp>
        <p:nvSpPr>
          <p:cNvPr id="68" name="Rectangle 67"/>
          <p:cNvSpPr/>
          <p:nvPr/>
        </p:nvSpPr>
        <p:spPr>
          <a:xfrm>
            <a:off x="5577840" y="4334256"/>
            <a:ext cx="1033271"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Data Eviction</a:t>
            </a:r>
          </a:p>
          <a:p>
            <a:pPr algn="ctr">
              <a:spcAft>
                <a:spcPts val="0"/>
              </a:spcAft>
            </a:pPr>
            <a:r>
              <a:rPr sz="650" b="0" i="0">
                <a:solidFill>
                  <a:srgbClr val="000000"/>
                </a:solidFill>
                <a:latin typeface="맑은 고딕"/>
                <a:ea typeface="맑은 고딕"/>
                <a:cs typeface="맑은 고딕"/>
              </a:rPr>
              <a:t>Manager</a:t>
            </a:r>
          </a:p>
        </p:txBody>
      </p:sp>
      <p:sp>
        <p:nvSpPr>
          <p:cNvPr id="69" name="Rectangle 68"/>
          <p:cNvSpPr/>
          <p:nvPr/>
        </p:nvSpPr>
        <p:spPr>
          <a:xfrm>
            <a:off x="5577840" y="4809744"/>
            <a:ext cx="1033271" cy="41148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Expert Manager</a:t>
            </a:r>
          </a:p>
        </p:txBody>
      </p:sp>
      <p:sp>
        <p:nvSpPr>
          <p:cNvPr id="70" name="Rectangle 69"/>
          <p:cNvSpPr/>
          <p:nvPr/>
        </p:nvSpPr>
        <p:spPr>
          <a:xfrm>
            <a:off x="5577840" y="5285232"/>
            <a:ext cx="1033271" cy="41148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LoRA Manager</a:t>
            </a:r>
          </a:p>
        </p:txBody>
      </p:sp>
      <p:sp>
        <p:nvSpPr>
          <p:cNvPr id="71" name="Rectangle 70"/>
          <p:cNvSpPr/>
          <p:nvPr/>
        </p:nvSpPr>
        <p:spPr>
          <a:xfrm>
            <a:off x="5577840" y="5760720"/>
            <a:ext cx="1033271" cy="411480"/>
          </a:xfrm>
          <a:prstGeom prst="rect">
            <a:avLst/>
          </a:prstGeom>
          <a:solidFill>
            <a:srgbClr val="FFF2CC"/>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Metadata Client</a:t>
            </a:r>
          </a:p>
          <a:p>
            <a:pPr algn="ctr">
              <a:spcAft>
                <a:spcPts val="0"/>
              </a:spcAft>
            </a:pPr>
            <a:r>
              <a:rPr sz="650" b="0" i="0">
                <a:solidFill>
                  <a:srgbClr val="000000"/>
                </a:solidFill>
                <a:latin typeface="맑은 고딕"/>
                <a:ea typeface="맑은 고딕"/>
                <a:cs typeface="맑은 고딕"/>
              </a:rPr>
              <a:t>(Client Library)</a:t>
            </a:r>
          </a:p>
        </p:txBody>
      </p:sp>
      <p:sp>
        <p:nvSpPr>
          <p:cNvPr id="72" name="Rectangle 71"/>
          <p:cNvSpPr/>
          <p:nvPr/>
        </p:nvSpPr>
        <p:spPr>
          <a:xfrm>
            <a:off x="6766560" y="3108960"/>
            <a:ext cx="1261872" cy="320040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6766560" y="3017520"/>
            <a:ext cx="502920" cy="9144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766560" y="3118103"/>
            <a:ext cx="1261872" cy="201168"/>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Resource Mgmt</a:t>
            </a:r>
          </a:p>
        </p:txBody>
      </p:sp>
      <p:sp>
        <p:nvSpPr>
          <p:cNvPr id="75" name="Rectangle 74"/>
          <p:cNvSpPr/>
          <p:nvPr/>
        </p:nvSpPr>
        <p:spPr>
          <a:xfrm>
            <a:off x="6821424" y="3383280"/>
            <a:ext cx="1152144"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Resource State</a:t>
            </a:r>
          </a:p>
          <a:p>
            <a:pPr algn="ctr">
              <a:spcAft>
                <a:spcPts val="0"/>
              </a:spcAft>
            </a:pPr>
            <a:r>
              <a:rPr sz="650" b="0" i="0">
                <a:solidFill>
                  <a:srgbClr val="000000"/>
                </a:solidFill>
                <a:latin typeface="맑은 고딕"/>
                <a:ea typeface="맑은 고딕"/>
                <a:cs typeface="맑은 고딕"/>
              </a:rPr>
              <a:t>Monitor</a:t>
            </a:r>
          </a:p>
        </p:txBody>
      </p:sp>
      <p:sp>
        <p:nvSpPr>
          <p:cNvPr id="76" name="Rectangle 75"/>
          <p:cNvSpPr/>
          <p:nvPr/>
        </p:nvSpPr>
        <p:spPr>
          <a:xfrm>
            <a:off x="6821424" y="3858768"/>
            <a:ext cx="1152144"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State Snapshot</a:t>
            </a:r>
          </a:p>
          <a:p>
            <a:pPr algn="ctr">
              <a:spcAft>
                <a:spcPts val="0"/>
              </a:spcAft>
            </a:pPr>
            <a:r>
              <a:rPr sz="650" b="0" i="0">
                <a:solidFill>
                  <a:srgbClr val="000000"/>
                </a:solidFill>
                <a:latin typeface="맑은 고딕"/>
                <a:ea typeface="맑은 고딕"/>
                <a:cs typeface="맑은 고딕"/>
              </a:rPr>
              <a:t>Builder</a:t>
            </a:r>
          </a:p>
        </p:txBody>
      </p:sp>
      <p:sp>
        <p:nvSpPr>
          <p:cNvPr id="77" name="Rectangle 76"/>
          <p:cNvSpPr/>
          <p:nvPr/>
        </p:nvSpPr>
        <p:spPr>
          <a:xfrm>
            <a:off x="6821424" y="4334256"/>
            <a:ext cx="1152144"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Telemetry</a:t>
            </a:r>
          </a:p>
          <a:p>
            <a:pPr algn="ctr">
              <a:spcAft>
                <a:spcPts val="0"/>
              </a:spcAft>
            </a:pPr>
            <a:r>
              <a:rPr sz="650" b="0" i="0">
                <a:solidFill>
                  <a:srgbClr val="000000"/>
                </a:solidFill>
                <a:latin typeface="맑은 고딕"/>
                <a:ea typeface="맑은 고딕"/>
                <a:cs typeface="맑은 고딕"/>
              </a:rPr>
              <a:t>Collector</a:t>
            </a:r>
          </a:p>
        </p:txBody>
      </p:sp>
      <p:sp>
        <p:nvSpPr>
          <p:cNvPr id="78" name="Rectangle 77"/>
          <p:cNvSpPr/>
          <p:nvPr/>
        </p:nvSpPr>
        <p:spPr>
          <a:xfrm>
            <a:off x="6821424" y="4809744"/>
            <a:ext cx="1152144"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Memory Registry</a:t>
            </a:r>
          </a:p>
        </p:txBody>
      </p:sp>
      <p:sp>
        <p:nvSpPr>
          <p:cNvPr id="79" name="Rectangle 78"/>
          <p:cNvSpPr/>
          <p:nvPr/>
        </p:nvSpPr>
        <p:spPr>
          <a:xfrm>
            <a:off x="6821424" y="5285232"/>
            <a:ext cx="1152144" cy="411480"/>
          </a:xfrm>
          <a:prstGeom prst="rect">
            <a:avLst/>
          </a:prstGeom>
          <a:solidFill>
            <a:srgbClr val="FFF2CC"/>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Lease Timer /</a:t>
            </a:r>
          </a:p>
          <a:p>
            <a:pPr algn="ctr">
              <a:spcAft>
                <a:spcPts val="0"/>
              </a:spcAft>
            </a:pPr>
            <a:r>
              <a:rPr sz="650" b="0" i="0">
                <a:solidFill>
                  <a:srgbClr val="000000"/>
                </a:solidFill>
                <a:latin typeface="맑은 고딕"/>
                <a:ea typeface="맑은 고딕"/>
                <a:cs typeface="맑은 고딕"/>
              </a:rPr>
              <a:t>HBM Lease Granter</a:t>
            </a:r>
          </a:p>
        </p:txBody>
      </p:sp>
      <p:sp>
        <p:nvSpPr>
          <p:cNvPr id="80" name="Rectangle 79"/>
          <p:cNvSpPr/>
          <p:nvPr/>
        </p:nvSpPr>
        <p:spPr>
          <a:xfrm>
            <a:off x="6821424" y="5760720"/>
            <a:ext cx="1152144" cy="411480"/>
          </a:xfrm>
          <a:prstGeom prst="rect">
            <a:avLst/>
          </a:prstGeom>
          <a:solidFill>
            <a:srgbClr val="FFF2CC"/>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Common Memory</a:t>
            </a:r>
          </a:p>
          <a:p>
            <a:pPr algn="ctr">
              <a:spcAft>
                <a:spcPts val="0"/>
              </a:spcAft>
            </a:pPr>
            <a:r>
              <a:rPr sz="650" b="0" i="0">
                <a:solidFill>
                  <a:srgbClr val="000000"/>
                </a:solidFill>
                <a:latin typeface="맑은 고딕"/>
                <a:ea typeface="맑은 고딕"/>
                <a:cs typeface="맑은 고딕"/>
              </a:rPr>
              <a:t>Backend I/F</a:t>
            </a:r>
          </a:p>
        </p:txBody>
      </p:sp>
      <p:sp>
        <p:nvSpPr>
          <p:cNvPr id="81" name="Rectangle 80"/>
          <p:cNvSpPr/>
          <p:nvPr/>
        </p:nvSpPr>
        <p:spPr>
          <a:xfrm>
            <a:off x="8211312" y="1481328"/>
            <a:ext cx="1234440" cy="4919472"/>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8211312" y="1389888"/>
            <a:ext cx="502920" cy="91440"/>
          </a:xfrm>
          <a:prstGeom prst="rect">
            <a:avLst/>
          </a:prstGeom>
          <a:solidFill>
            <a:srgbClr val="DEEBF7"/>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8211312" y="1490472"/>
            <a:ext cx="1234440" cy="219456"/>
          </a:xfrm>
          <a:prstGeom prst="rect">
            <a:avLst/>
          </a:prstGeom>
          <a:noFill/>
        </p:spPr>
        <p:txBody>
          <a:bodyPr wrap="square" lIns="0" tIns="18288" rIns="0" bIns="18288" anchor="ctr">
            <a:spAutoFit/>
          </a:bodyPr>
          <a:lstStyle/>
          <a:p>
            <a:pPr algn="ctr">
              <a:spcAft>
                <a:spcPts val="0"/>
              </a:spcAft>
            </a:pPr>
            <a:r>
              <a:rPr sz="800" b="1" i="0">
                <a:solidFill>
                  <a:srgbClr val="000000"/>
                </a:solidFill>
                <a:latin typeface="맑은 고딕"/>
                <a:ea typeface="맑은 고딕"/>
                <a:cs typeface="맑은 고딕"/>
              </a:rPr>
              <a:t>System</a:t>
            </a:r>
          </a:p>
        </p:txBody>
      </p:sp>
      <p:sp>
        <p:nvSpPr>
          <p:cNvPr id="84" name="Rectangle 83"/>
          <p:cNvSpPr/>
          <p:nvPr/>
        </p:nvSpPr>
        <p:spPr>
          <a:xfrm>
            <a:off x="8275320" y="1783080"/>
            <a:ext cx="1106424" cy="329184"/>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Utility</a:t>
            </a:r>
          </a:p>
        </p:txBody>
      </p:sp>
      <p:sp>
        <p:nvSpPr>
          <p:cNvPr id="85" name="Rectangle 84"/>
          <p:cNvSpPr/>
          <p:nvPr/>
        </p:nvSpPr>
        <p:spPr>
          <a:xfrm>
            <a:off x="8275320" y="2194560"/>
            <a:ext cx="1106424" cy="329184"/>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Configuration</a:t>
            </a:r>
          </a:p>
        </p:txBody>
      </p:sp>
      <p:sp>
        <p:nvSpPr>
          <p:cNvPr id="86" name="Rectangle 85"/>
          <p:cNvSpPr/>
          <p:nvPr/>
        </p:nvSpPr>
        <p:spPr>
          <a:xfrm>
            <a:off x="8275320" y="2606040"/>
            <a:ext cx="1106424" cy="457200"/>
          </a:xfrm>
          <a:prstGeom prst="rect">
            <a:avLst/>
          </a:prstGeom>
          <a:solidFill>
            <a:srgbClr val="FFFFFF"/>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Network</a:t>
            </a:r>
          </a:p>
          <a:p>
            <a:pPr algn="ctr">
              <a:spcAft>
                <a:spcPts val="0"/>
              </a:spcAft>
            </a:pPr>
            <a:r>
              <a:rPr sz="650" b="0" i="0">
                <a:solidFill>
                  <a:srgbClr val="000000"/>
                </a:solidFill>
                <a:latin typeface="맑은 고딕"/>
                <a:ea typeface="맑은 고딕"/>
                <a:cs typeface="맑은 고딕"/>
              </a:rPr>
              <a:t>(NIXL / PCIe)</a:t>
            </a:r>
          </a:p>
        </p:txBody>
      </p:sp>
      <p:sp>
        <p:nvSpPr>
          <p:cNvPr id="87" name="Rectangle 86"/>
          <p:cNvSpPr/>
          <p:nvPr/>
        </p:nvSpPr>
        <p:spPr>
          <a:xfrm>
            <a:off x="8275320" y="3200400"/>
            <a:ext cx="1106424" cy="548640"/>
          </a:xfrm>
          <a:prstGeom prst="rect">
            <a:avLst/>
          </a:prstGeom>
          <a:solidFill>
            <a:srgbClr val="FFFFFF"/>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Memory Pool</a:t>
            </a:r>
          </a:p>
          <a:p>
            <a:pPr algn="ctr">
              <a:spcAft>
                <a:spcPts val="0"/>
              </a:spcAft>
            </a:pPr>
            <a:r>
              <a:rPr sz="650" b="0" i="0">
                <a:solidFill>
                  <a:srgbClr val="000000"/>
                </a:solidFill>
                <a:latin typeface="맑은 고딕"/>
                <a:ea typeface="맑은 고딕"/>
                <a:cs typeface="맑은 고딕"/>
              </a:rPr>
              <a:t>(HBM·DRAM·CXL·SSD)</a:t>
            </a:r>
          </a:p>
        </p:txBody>
      </p:sp>
      <p:sp>
        <p:nvSpPr>
          <p:cNvPr id="88" name="Rectangle 87"/>
          <p:cNvSpPr/>
          <p:nvPr/>
        </p:nvSpPr>
        <p:spPr>
          <a:xfrm>
            <a:off x="8275320" y="3840480"/>
            <a:ext cx="1106424" cy="548640"/>
          </a:xfrm>
          <a:prstGeom prst="rect">
            <a:avLst/>
          </a:prstGeom>
          <a:solidFill>
            <a:srgbClr val="FFFFFF"/>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Shared Pool</a:t>
            </a:r>
          </a:p>
          <a:p>
            <a:pPr algn="ctr">
              <a:spcAft>
                <a:spcPts val="0"/>
              </a:spcAft>
            </a:pPr>
            <a:r>
              <a:rPr sz="650" b="0" i="0">
                <a:solidFill>
                  <a:srgbClr val="000000"/>
                </a:solidFill>
                <a:latin typeface="맑은 고딕"/>
                <a:ea typeface="맑은 고딕"/>
                <a:cs typeface="맑은 고딕"/>
              </a:rPr>
              <a:t>(CXL, non-coherent)</a:t>
            </a:r>
          </a:p>
        </p:txBody>
      </p:sp>
      <p:sp>
        <p:nvSpPr>
          <p:cNvPr id="89" name="Rectangle 88"/>
          <p:cNvSpPr/>
          <p:nvPr/>
        </p:nvSpPr>
        <p:spPr>
          <a:xfrm>
            <a:off x="8275320" y="4526280"/>
            <a:ext cx="1106424" cy="777240"/>
          </a:xfrm>
          <a:prstGeom prst="rect">
            <a:avLst/>
          </a:prstGeom>
          <a:solidFill>
            <a:srgbClr val="FFF2CC"/>
          </a:solidFill>
          <a:ln w="222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Metadata Server</a:t>
            </a:r>
          </a:p>
          <a:p>
            <a:pPr algn="ctr">
              <a:spcAft>
                <a:spcPts val="0"/>
              </a:spcAft>
            </a:pPr>
            <a:r>
              <a:rPr sz="650" b="0" i="0">
                <a:solidFill>
                  <a:srgbClr val="000000"/>
                </a:solidFill>
                <a:latin typeface="맑은 고딕"/>
                <a:ea typeface="맑은 고딕"/>
                <a:cs typeface="맑은 고딕"/>
              </a:rPr>
              <a:t>(Shard Router +</a:t>
            </a:r>
          </a:p>
          <a:p>
            <a:pPr algn="ctr">
              <a:spcAft>
                <a:spcPts val="0"/>
              </a:spcAft>
            </a:pPr>
            <a:r>
              <a:rPr sz="650" b="0" i="0">
                <a:solidFill>
                  <a:srgbClr val="000000"/>
                </a:solidFill>
                <a:latin typeface="맑은 고딕"/>
                <a:ea typeface="맑은 고딕"/>
                <a:cs typeface="맑은 고딕"/>
              </a:rPr>
              <a:t>Shard Worker 0..n)</a:t>
            </a:r>
          </a:p>
        </p:txBody>
      </p:sp>
      <p:sp>
        <p:nvSpPr>
          <p:cNvPr id="90" name="Rectangle 89"/>
          <p:cNvSpPr/>
          <p:nvPr/>
        </p:nvSpPr>
        <p:spPr>
          <a:xfrm>
            <a:off x="8275320" y="5486400"/>
            <a:ext cx="1106424" cy="329184"/>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Debug Log</a:t>
            </a:r>
          </a:p>
        </p:txBody>
      </p:sp>
      <p:cxnSp>
        <p:nvCxnSpPr>
          <p:cNvPr id="91" name="Connector 90"/>
          <p:cNvCxnSpPr/>
          <p:nvPr/>
        </p:nvCxnSpPr>
        <p:spPr>
          <a:xfrm>
            <a:off x="1097280" y="2578608"/>
            <a:ext cx="0" cy="210312"/>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783080" y="2011680"/>
            <a:ext cx="137160" cy="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937760" y="2578608"/>
            <a:ext cx="0" cy="210312"/>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4719561" y="2601468"/>
            <a:ext cx="436397" cy="146304"/>
          </a:xfrm>
          <a:prstGeom prst="rect">
            <a:avLst/>
          </a:prstGeom>
          <a:noFill/>
        </p:spPr>
        <p:txBody>
          <a:bodyPr wrap="none" lIns="0" tIns="18288" rIns="0" bIns="18288" anchor="t">
            <a:spAutoFit/>
          </a:bodyPr>
          <a:lstStyle/>
          <a:p>
            <a:pPr algn="ctr">
              <a:spcAft>
                <a:spcPts val="0"/>
              </a:spcAft>
            </a:pPr>
            <a:r>
              <a:rPr sz="550" b="0" i="0">
                <a:solidFill>
                  <a:srgbClr val="595959"/>
                </a:solidFill>
                <a:latin typeface="맑은 고딕"/>
                <a:ea typeface="맑은 고딕"/>
                <a:cs typeface="맑은 고딕"/>
              </a:rPr>
              <a:t>&lt;&lt;use&gt;&gt;</a:t>
            </a:r>
          </a:p>
        </p:txBody>
      </p:sp>
      <p:cxnSp>
        <p:nvCxnSpPr>
          <p:cNvPr id="95" name="Connector 94"/>
          <p:cNvCxnSpPr/>
          <p:nvPr/>
        </p:nvCxnSpPr>
        <p:spPr>
          <a:xfrm>
            <a:off x="8092440" y="2011680"/>
            <a:ext cx="118872" cy="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83080" y="4206240"/>
            <a:ext cx="137160" cy="0"/>
          </a:xfrm>
          <a:prstGeom prst="line">
            <a:avLst/>
          </a:prstGeom>
          <a:ln w="10160">
            <a:solidFill>
              <a:srgbClr val="595959"/>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633461" y="4123944"/>
            <a:ext cx="436397" cy="146304"/>
          </a:xfrm>
          <a:prstGeom prst="rect">
            <a:avLst/>
          </a:prstGeom>
          <a:noFill/>
        </p:spPr>
        <p:txBody>
          <a:bodyPr wrap="none" lIns="0" tIns="18288" rIns="0" bIns="18288" anchor="t">
            <a:spAutoFit/>
          </a:bodyPr>
          <a:lstStyle/>
          <a:p>
            <a:pPr algn="ctr">
              <a:spcAft>
                <a:spcPts val="0"/>
              </a:spcAft>
            </a:pPr>
            <a:r>
              <a:rPr sz="550" b="0" i="0">
                <a:solidFill>
                  <a:srgbClr val="595959"/>
                </a:solidFill>
                <a:latin typeface="맑은 고딕"/>
                <a:ea typeface="맑은 고딕"/>
                <a:cs typeface="맑은 고딕"/>
              </a:rPr>
              <a:t>&lt;&lt;use&gt;&gt;</a:t>
            </a:r>
          </a:p>
        </p:txBody>
      </p:sp>
      <p:cxnSp>
        <p:nvCxnSpPr>
          <p:cNvPr id="98" name="Connector 97"/>
          <p:cNvCxnSpPr/>
          <p:nvPr/>
        </p:nvCxnSpPr>
        <p:spPr>
          <a:xfrm>
            <a:off x="8028431" y="4754880"/>
            <a:ext cx="182881" cy="0"/>
          </a:xfrm>
          <a:prstGeom prst="line">
            <a:avLst/>
          </a:prstGeom>
          <a:ln w="10160">
            <a:solidFill>
              <a:srgbClr val="595959"/>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7901673" y="4672584"/>
            <a:ext cx="436397" cy="146304"/>
          </a:xfrm>
          <a:prstGeom prst="rect">
            <a:avLst/>
          </a:prstGeom>
          <a:noFill/>
        </p:spPr>
        <p:txBody>
          <a:bodyPr wrap="none" lIns="0" tIns="18288" rIns="0" bIns="18288" anchor="t">
            <a:spAutoFit/>
          </a:bodyPr>
          <a:lstStyle/>
          <a:p>
            <a:pPr algn="ctr">
              <a:spcAft>
                <a:spcPts val="0"/>
              </a:spcAft>
            </a:pPr>
            <a:r>
              <a:rPr sz="550" b="0" i="0">
                <a:solidFill>
                  <a:srgbClr val="595959"/>
                </a:solidFill>
                <a:latin typeface="맑은 고딕"/>
                <a:ea typeface="맑은 고딕"/>
                <a:cs typeface="맑은 고딕"/>
              </a:rPr>
              <a:t>&lt;&lt;use&gt;&gt;</a:t>
            </a:r>
          </a:p>
        </p:txBody>
      </p:sp>
      <p:sp>
        <p:nvSpPr>
          <p:cNvPr id="100" name="Rectangle 99"/>
          <p:cNvSpPr/>
          <p:nvPr/>
        </p:nvSpPr>
        <p:spPr>
          <a:xfrm>
            <a:off x="9738360" y="1188720"/>
            <a:ext cx="82296" cy="10058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9875520" y="1161288"/>
            <a:ext cx="2194560" cy="816634"/>
          </a:xfrm>
          <a:prstGeom prst="rect">
            <a:avLst/>
          </a:prstGeom>
          <a:noFill/>
        </p:spPr>
        <p:txBody>
          <a:bodyPr wrap="square" lIns="36576" tIns="18288" rIns="36576" bIns="18288" anchor="t">
            <a:spAutoFit/>
          </a:bodyPr>
          <a:lstStyle/>
          <a:p>
            <a:pPr algn="l">
              <a:spcAft>
                <a:spcPts val="0"/>
              </a:spcAft>
            </a:pPr>
            <a:r>
              <a:rPr sz="950" b="1" i="0" dirty="0">
                <a:solidFill>
                  <a:srgbClr val="000000"/>
                </a:solidFill>
                <a:latin typeface="맑은 고딕"/>
                <a:ea typeface="맑은 고딕"/>
                <a:cs typeface="맑은 고딕"/>
              </a:rPr>
              <a:t>DP1. Data Migration </a:t>
            </a:r>
            <a:r>
              <a:rPr sz="950" b="1" i="0" dirty="0" err="1">
                <a:solidFill>
                  <a:srgbClr val="000000"/>
                </a:solidFill>
                <a:latin typeface="맑은 고딕"/>
                <a:ea typeface="맑은 고딕"/>
                <a:cs typeface="맑은 고딕"/>
              </a:rPr>
              <a:t>결정</a:t>
            </a:r>
            <a:endParaRPr sz="950" b="1" i="0" dirty="0">
              <a:solidFill>
                <a:srgbClr val="000000"/>
              </a:solidFill>
              <a:latin typeface="맑은 고딕"/>
              <a:ea typeface="맑은 고딕"/>
              <a:cs typeface="맑은 고딕"/>
            </a:endParaRPr>
          </a:p>
          <a:p>
            <a:pPr algn="l">
              <a:spcAft>
                <a:spcPts val="200"/>
              </a:spcAft>
            </a:pPr>
            <a:r>
              <a:rPr sz="750" b="0" i="0" dirty="0">
                <a:solidFill>
                  <a:srgbClr val="595959"/>
                </a:solidFill>
                <a:latin typeface="맑은 고딕"/>
                <a:ea typeface="맑은 고딕"/>
                <a:cs typeface="맑은 고딕"/>
              </a:rPr>
              <a:t>2안 </a:t>
            </a:r>
            <a:r>
              <a:rPr sz="750" b="0" i="0" dirty="0" err="1">
                <a:solidFill>
                  <a:srgbClr val="595959"/>
                </a:solidFill>
                <a:latin typeface="맑은 고딕"/>
                <a:ea typeface="맑은 고딕"/>
                <a:cs typeface="맑은 고딕"/>
              </a:rPr>
              <a:t>상태·이동</a:t>
            </a:r>
            <a:r>
              <a:rPr sz="750" b="0" i="0" dirty="0">
                <a:solidFill>
                  <a:srgbClr val="595959"/>
                </a:solidFill>
                <a:latin typeface="맑은 고딕"/>
                <a:ea typeface="맑은 고딕"/>
                <a:cs typeface="맑은 고딕"/>
              </a:rPr>
              <a:t> </a:t>
            </a:r>
            <a:r>
              <a:rPr sz="750" b="0" i="0" dirty="0" err="1">
                <a:solidFill>
                  <a:srgbClr val="595959"/>
                </a:solidFill>
                <a:latin typeface="맑은 고딕"/>
                <a:ea typeface="맑은 고딕"/>
                <a:cs typeface="맑은 고딕"/>
              </a:rPr>
              <a:t>결정</a:t>
            </a:r>
            <a:r>
              <a:rPr sz="750" b="0" i="0" dirty="0">
                <a:solidFill>
                  <a:srgbClr val="595959"/>
                </a:solidFill>
                <a:latin typeface="맑은 고딕"/>
                <a:ea typeface="맑은 고딕"/>
                <a:cs typeface="맑은 고딕"/>
              </a:rPr>
              <a:t> </a:t>
            </a:r>
            <a:r>
              <a:rPr sz="750" b="0" i="0" dirty="0" err="1">
                <a:solidFill>
                  <a:srgbClr val="595959"/>
                </a:solidFill>
                <a:latin typeface="맑은 고딕"/>
                <a:ea typeface="맑은 고딕"/>
                <a:cs typeface="맑은 고딕"/>
              </a:rPr>
              <a:t>분리</a:t>
            </a:r>
            <a:r>
              <a:rPr sz="750" b="0" i="0" dirty="0">
                <a:solidFill>
                  <a:srgbClr val="595959"/>
                </a:solidFill>
                <a:latin typeface="맑은 고딕"/>
                <a:ea typeface="맑은 고딕"/>
                <a:cs typeface="맑은 고딕"/>
              </a:rPr>
              <a:t> + Lease</a:t>
            </a:r>
          </a:p>
          <a:p>
            <a:pPr algn="l">
              <a:spcAft>
                <a:spcPts val="0"/>
              </a:spcAft>
            </a:pPr>
            <a:r>
              <a:rPr sz="800" b="1" i="0" dirty="0">
                <a:solidFill>
                  <a:srgbClr val="000000"/>
                </a:solidFill>
                <a:latin typeface="맑은 고딕"/>
                <a:ea typeface="맑은 고딕"/>
                <a:cs typeface="맑은 고딕"/>
              </a:rPr>
              <a:t>Q1 Throughput</a:t>
            </a:r>
          </a:p>
          <a:p>
            <a:pPr algn="l">
              <a:spcAft>
                <a:spcPts val="0"/>
              </a:spcAft>
            </a:pPr>
            <a:r>
              <a:rPr sz="800" b="1" i="0" dirty="0">
                <a:solidFill>
                  <a:srgbClr val="000000"/>
                </a:solidFill>
                <a:latin typeface="맑은 고딕"/>
                <a:ea typeface="맑은 고딕"/>
                <a:cs typeface="맑은 고딕"/>
              </a:rPr>
              <a:t>Q2 HBM </a:t>
            </a:r>
            <a:r>
              <a:rPr lang="ko-KR" altLang="en-US" sz="800" b="1" dirty="0">
                <a:solidFill>
                  <a:srgbClr val="000000"/>
                </a:solidFill>
                <a:latin typeface="맑은 고딕"/>
                <a:ea typeface="맑은 고딕"/>
                <a:cs typeface="맑은 고딕"/>
              </a:rPr>
              <a:t>사용률</a:t>
            </a:r>
            <a:endParaRPr lang="en-US" sz="800" b="1" i="0" dirty="0">
              <a:solidFill>
                <a:srgbClr val="000000"/>
              </a:solidFill>
              <a:latin typeface="맑은 고딕"/>
              <a:ea typeface="맑은 고딕"/>
              <a:cs typeface="맑은 고딕"/>
            </a:endParaRPr>
          </a:p>
          <a:p>
            <a:pPr algn="l">
              <a:spcAft>
                <a:spcPts val="0"/>
              </a:spcAft>
            </a:pPr>
            <a:r>
              <a:rPr lang="en-US" sz="800" b="1" i="0" dirty="0">
                <a:solidFill>
                  <a:srgbClr val="000000"/>
                </a:solidFill>
                <a:latin typeface="맑은 고딕"/>
                <a:ea typeface="맑은 고딕"/>
                <a:cs typeface="맑은 고딕"/>
              </a:rPr>
              <a:t>Q3 </a:t>
            </a:r>
            <a:r>
              <a:rPr lang="ko-KR" altLang="en-US" sz="800" b="1" i="0" dirty="0">
                <a:solidFill>
                  <a:srgbClr val="000000"/>
                </a:solidFill>
                <a:latin typeface="맑은 고딕"/>
                <a:ea typeface="맑은 고딕"/>
                <a:cs typeface="맑은 고딕"/>
              </a:rPr>
              <a:t>고부하 지연시간</a:t>
            </a:r>
            <a:endParaRPr sz="800" b="1" i="0" dirty="0">
              <a:solidFill>
                <a:srgbClr val="000000"/>
              </a:solidFill>
              <a:latin typeface="맑은 고딕"/>
              <a:ea typeface="맑은 고딕"/>
              <a:cs typeface="맑은 고딕"/>
            </a:endParaRPr>
          </a:p>
          <a:p>
            <a:pPr algn="l">
              <a:spcAft>
                <a:spcPts val="0"/>
              </a:spcAft>
            </a:pPr>
            <a:r>
              <a:rPr sz="800" b="1" i="0" dirty="0">
                <a:solidFill>
                  <a:srgbClr val="000000"/>
                </a:solidFill>
                <a:latin typeface="맑은 고딕"/>
                <a:ea typeface="맑은 고딕"/>
                <a:cs typeface="맑은 고딕"/>
              </a:rPr>
              <a:t>Q5 Modifiability</a:t>
            </a:r>
          </a:p>
        </p:txBody>
      </p:sp>
      <p:sp>
        <p:nvSpPr>
          <p:cNvPr id="102" name="Rectangle 101"/>
          <p:cNvSpPr/>
          <p:nvPr/>
        </p:nvSpPr>
        <p:spPr>
          <a:xfrm>
            <a:off x="9738360" y="2377440"/>
            <a:ext cx="82296" cy="100584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9875520" y="2350008"/>
            <a:ext cx="2194560" cy="816634"/>
          </a:xfrm>
          <a:prstGeom prst="rect">
            <a:avLst/>
          </a:prstGeom>
          <a:noFill/>
        </p:spPr>
        <p:txBody>
          <a:bodyPr wrap="square" lIns="36576" tIns="18288" rIns="36576" bIns="18288" anchor="t">
            <a:spAutoFit/>
          </a:bodyPr>
          <a:lstStyle/>
          <a:p>
            <a:pPr algn="l">
              <a:spcAft>
                <a:spcPts val="0"/>
              </a:spcAft>
            </a:pPr>
            <a:r>
              <a:rPr sz="950" b="1" i="0" dirty="0">
                <a:solidFill>
                  <a:srgbClr val="000000"/>
                </a:solidFill>
                <a:latin typeface="맑은 고딕"/>
                <a:ea typeface="맑은 고딕"/>
                <a:cs typeface="맑은 고딕"/>
              </a:rPr>
              <a:t>DP2. </a:t>
            </a:r>
            <a:r>
              <a:rPr sz="950" b="1" i="0" dirty="0" err="1">
                <a:solidFill>
                  <a:srgbClr val="000000"/>
                </a:solidFill>
                <a:latin typeface="맑은 고딕"/>
                <a:ea typeface="맑은 고딕"/>
                <a:cs typeface="맑은 고딕"/>
              </a:rPr>
              <a:t>연산</a:t>
            </a:r>
            <a:r>
              <a:rPr sz="950" b="1" i="0" dirty="0">
                <a:solidFill>
                  <a:srgbClr val="000000"/>
                </a:solidFill>
                <a:latin typeface="맑은 고딕"/>
                <a:ea typeface="맑은 고딕"/>
                <a:cs typeface="맑은 고딕"/>
              </a:rPr>
              <a:t> </a:t>
            </a:r>
            <a:r>
              <a:rPr sz="950" b="1" i="0" dirty="0" err="1">
                <a:solidFill>
                  <a:srgbClr val="000000"/>
                </a:solidFill>
                <a:latin typeface="맑은 고딕"/>
                <a:ea typeface="맑은 고딕"/>
                <a:cs typeface="맑은 고딕"/>
              </a:rPr>
              <a:t>실행</a:t>
            </a:r>
            <a:r>
              <a:rPr sz="950" b="1" i="0" dirty="0">
                <a:solidFill>
                  <a:srgbClr val="000000"/>
                </a:solidFill>
                <a:latin typeface="맑은 고딕"/>
                <a:ea typeface="맑은 고딕"/>
                <a:cs typeface="맑은 고딕"/>
              </a:rPr>
              <a:t> </a:t>
            </a:r>
            <a:r>
              <a:rPr sz="950" b="1" i="0" dirty="0" err="1">
                <a:solidFill>
                  <a:srgbClr val="000000"/>
                </a:solidFill>
                <a:latin typeface="맑은 고딕"/>
                <a:ea typeface="맑은 고딕"/>
                <a:cs typeface="맑은 고딕"/>
              </a:rPr>
              <a:t>위치</a:t>
            </a:r>
            <a:r>
              <a:rPr sz="950" b="1" i="0" dirty="0">
                <a:solidFill>
                  <a:srgbClr val="000000"/>
                </a:solidFill>
                <a:latin typeface="맑은 고딕"/>
                <a:ea typeface="맑은 고딕"/>
                <a:cs typeface="맑은 고딕"/>
              </a:rPr>
              <a:t> </a:t>
            </a:r>
            <a:r>
              <a:rPr sz="950" b="1" i="0" dirty="0" err="1">
                <a:solidFill>
                  <a:srgbClr val="000000"/>
                </a:solidFill>
                <a:latin typeface="맑은 고딕"/>
                <a:ea typeface="맑은 고딕"/>
                <a:cs typeface="맑은 고딕"/>
              </a:rPr>
              <a:t>결정</a:t>
            </a:r>
            <a:endParaRPr sz="950" b="1" i="0" dirty="0">
              <a:solidFill>
                <a:srgbClr val="000000"/>
              </a:solidFill>
              <a:latin typeface="맑은 고딕"/>
              <a:ea typeface="맑은 고딕"/>
              <a:cs typeface="맑은 고딕"/>
            </a:endParaRPr>
          </a:p>
          <a:p>
            <a:pPr algn="l">
              <a:spcAft>
                <a:spcPts val="200"/>
              </a:spcAft>
            </a:pPr>
            <a:r>
              <a:rPr sz="750" b="0" i="0" dirty="0">
                <a:solidFill>
                  <a:srgbClr val="595959"/>
                </a:solidFill>
                <a:latin typeface="맑은 고딕"/>
                <a:ea typeface="맑은 고딕"/>
                <a:cs typeface="맑은 고딕"/>
              </a:rPr>
              <a:t>2안 Plan/Decision </a:t>
            </a:r>
            <a:r>
              <a:rPr sz="750" b="0" i="0" dirty="0" err="1">
                <a:solidFill>
                  <a:srgbClr val="595959"/>
                </a:solidFill>
                <a:latin typeface="맑은 고딕"/>
                <a:ea typeface="맑은 고딕"/>
                <a:cs typeface="맑은 고딕"/>
              </a:rPr>
              <a:t>분리</a:t>
            </a:r>
            <a:r>
              <a:rPr sz="750" b="0" i="0" dirty="0">
                <a:solidFill>
                  <a:srgbClr val="595959"/>
                </a:solidFill>
                <a:latin typeface="맑은 고딕"/>
                <a:ea typeface="맑은 고딕"/>
                <a:cs typeface="맑은 고딕"/>
              </a:rPr>
              <a:t> + Feedback</a:t>
            </a:r>
          </a:p>
          <a:p>
            <a:pPr algn="l">
              <a:spcAft>
                <a:spcPts val="0"/>
              </a:spcAft>
            </a:pPr>
            <a:r>
              <a:rPr sz="800" b="1" i="0" dirty="0">
                <a:solidFill>
                  <a:srgbClr val="000000"/>
                </a:solidFill>
                <a:latin typeface="맑은 고딕"/>
                <a:ea typeface="맑은 고딕"/>
                <a:cs typeface="맑은 고딕"/>
              </a:rPr>
              <a:t>Q1 Throughput</a:t>
            </a:r>
          </a:p>
          <a:p>
            <a:pPr algn="l">
              <a:spcAft>
                <a:spcPts val="0"/>
              </a:spcAft>
            </a:pPr>
            <a:r>
              <a:rPr sz="800" b="1" i="0" dirty="0">
                <a:solidFill>
                  <a:srgbClr val="000000"/>
                </a:solidFill>
                <a:latin typeface="맑은 고딕"/>
                <a:ea typeface="맑은 고딕"/>
                <a:cs typeface="맑은 고딕"/>
              </a:rPr>
              <a:t>Q2 HBM </a:t>
            </a:r>
            <a:r>
              <a:rPr lang="ko-KR" altLang="en-US" sz="800" b="1" i="0" dirty="0">
                <a:solidFill>
                  <a:srgbClr val="000000"/>
                </a:solidFill>
                <a:latin typeface="맑은 고딕"/>
                <a:ea typeface="맑은 고딕"/>
                <a:cs typeface="맑은 고딕"/>
              </a:rPr>
              <a:t>사용률</a:t>
            </a:r>
            <a:endParaRPr lang="en-US" sz="800" b="1" i="0" dirty="0">
              <a:solidFill>
                <a:srgbClr val="000000"/>
              </a:solidFill>
              <a:latin typeface="맑은 고딕"/>
              <a:ea typeface="맑은 고딕"/>
              <a:cs typeface="맑은 고딕"/>
            </a:endParaRPr>
          </a:p>
          <a:p>
            <a:r>
              <a:rPr lang="en-US" altLang="ko-KR" sz="800" b="1" i="0" dirty="0">
                <a:solidFill>
                  <a:srgbClr val="000000"/>
                </a:solidFill>
                <a:latin typeface="맑은 고딕"/>
                <a:ea typeface="맑은 고딕"/>
                <a:cs typeface="맑은 고딕"/>
              </a:rPr>
              <a:t>Q3 </a:t>
            </a:r>
            <a:r>
              <a:rPr lang="ko-KR" altLang="en-US" sz="800" b="1" i="0" dirty="0">
                <a:solidFill>
                  <a:srgbClr val="000000"/>
                </a:solidFill>
                <a:latin typeface="맑은 고딕"/>
                <a:ea typeface="맑은 고딕"/>
                <a:cs typeface="맑은 고딕"/>
              </a:rPr>
              <a:t>고부하 지연시간</a:t>
            </a:r>
            <a:endParaRPr sz="800" b="1" i="0" dirty="0">
              <a:solidFill>
                <a:srgbClr val="000000"/>
              </a:solidFill>
              <a:latin typeface="맑은 고딕"/>
              <a:ea typeface="맑은 고딕"/>
              <a:cs typeface="맑은 고딕"/>
            </a:endParaRPr>
          </a:p>
          <a:p>
            <a:pPr algn="l">
              <a:spcAft>
                <a:spcPts val="0"/>
              </a:spcAft>
            </a:pPr>
            <a:r>
              <a:rPr sz="800" b="1" i="0" dirty="0">
                <a:solidFill>
                  <a:srgbClr val="000000"/>
                </a:solidFill>
                <a:latin typeface="맑은 고딕"/>
                <a:ea typeface="맑은 고딕"/>
                <a:cs typeface="맑은 고딕"/>
              </a:rPr>
              <a:t>Q4 Scalability</a:t>
            </a:r>
          </a:p>
        </p:txBody>
      </p:sp>
      <p:sp>
        <p:nvSpPr>
          <p:cNvPr id="104" name="Rectangle 103"/>
          <p:cNvSpPr/>
          <p:nvPr/>
        </p:nvSpPr>
        <p:spPr>
          <a:xfrm>
            <a:off x="9738360" y="3566160"/>
            <a:ext cx="82296" cy="1005840"/>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9875520" y="3538728"/>
            <a:ext cx="2194560" cy="816634"/>
          </a:xfrm>
          <a:prstGeom prst="rect">
            <a:avLst/>
          </a:prstGeom>
          <a:noFill/>
        </p:spPr>
        <p:txBody>
          <a:bodyPr wrap="square" lIns="36576" tIns="18288" rIns="36576" bIns="18288" anchor="t">
            <a:spAutoFit/>
          </a:bodyPr>
          <a:lstStyle/>
          <a:p>
            <a:pPr algn="l">
              <a:spcAft>
                <a:spcPts val="0"/>
              </a:spcAft>
            </a:pPr>
            <a:r>
              <a:rPr sz="950" b="1" i="0" dirty="0">
                <a:solidFill>
                  <a:srgbClr val="000000"/>
                </a:solidFill>
                <a:latin typeface="맑은 고딕"/>
                <a:ea typeface="맑은 고딕"/>
                <a:cs typeface="맑은 고딕"/>
              </a:rPr>
              <a:t>DP3. KV </a:t>
            </a:r>
            <a:r>
              <a:rPr sz="950" b="1" i="0" dirty="0" err="1">
                <a:solidFill>
                  <a:srgbClr val="000000"/>
                </a:solidFill>
                <a:latin typeface="맑은 고딕"/>
                <a:ea typeface="맑은 고딕"/>
                <a:cs typeface="맑은 고딕"/>
              </a:rPr>
              <a:t>캐시</a:t>
            </a:r>
            <a:r>
              <a:rPr sz="950" b="1" i="0" dirty="0">
                <a:solidFill>
                  <a:srgbClr val="000000"/>
                </a:solidFill>
                <a:latin typeface="맑은 고딕"/>
                <a:ea typeface="맑은 고딕"/>
                <a:cs typeface="맑은 고딕"/>
              </a:rPr>
              <a:t> </a:t>
            </a:r>
            <a:r>
              <a:rPr sz="950" b="1" i="0" dirty="0" err="1">
                <a:solidFill>
                  <a:srgbClr val="000000"/>
                </a:solidFill>
                <a:latin typeface="맑은 고딕"/>
                <a:ea typeface="맑은 고딕"/>
                <a:cs typeface="맑은 고딕"/>
              </a:rPr>
              <a:t>재사용</a:t>
            </a:r>
            <a:endParaRPr sz="950" b="1" i="0" dirty="0">
              <a:solidFill>
                <a:srgbClr val="000000"/>
              </a:solidFill>
              <a:latin typeface="맑은 고딕"/>
              <a:ea typeface="맑은 고딕"/>
              <a:cs typeface="맑은 고딕"/>
            </a:endParaRPr>
          </a:p>
          <a:p>
            <a:pPr algn="l">
              <a:spcAft>
                <a:spcPts val="200"/>
              </a:spcAft>
            </a:pPr>
            <a:r>
              <a:rPr sz="750" b="0" i="0" dirty="0">
                <a:solidFill>
                  <a:srgbClr val="595959"/>
                </a:solidFill>
                <a:latin typeface="맑은 고딕"/>
                <a:ea typeface="맑은 고딕"/>
                <a:cs typeface="맑은 고딕"/>
              </a:rPr>
              <a:t>2안 Shared Repository + Base/Delta</a:t>
            </a:r>
          </a:p>
          <a:p>
            <a:pPr algn="l">
              <a:spcAft>
                <a:spcPts val="0"/>
              </a:spcAft>
            </a:pPr>
            <a:r>
              <a:rPr sz="800" b="1" i="0" dirty="0">
                <a:solidFill>
                  <a:srgbClr val="000000"/>
                </a:solidFill>
                <a:latin typeface="맑은 고딕"/>
                <a:ea typeface="맑은 고딕"/>
                <a:cs typeface="맑은 고딕"/>
              </a:rPr>
              <a:t>Q1 Throughput</a:t>
            </a:r>
          </a:p>
          <a:p>
            <a:pPr algn="l">
              <a:spcAft>
                <a:spcPts val="0"/>
              </a:spcAft>
            </a:pPr>
            <a:r>
              <a:rPr sz="800" b="1" i="0" dirty="0">
                <a:solidFill>
                  <a:srgbClr val="000000"/>
                </a:solidFill>
                <a:latin typeface="맑은 고딕"/>
                <a:ea typeface="맑은 고딕"/>
                <a:cs typeface="맑은 고딕"/>
              </a:rPr>
              <a:t>Q2 HBM </a:t>
            </a:r>
            <a:r>
              <a:rPr lang="ko-KR" altLang="en-US" sz="800" b="1" dirty="0">
                <a:solidFill>
                  <a:srgbClr val="000000"/>
                </a:solidFill>
                <a:latin typeface="맑은 고딕"/>
                <a:ea typeface="맑은 고딕"/>
                <a:cs typeface="맑은 고딕"/>
              </a:rPr>
              <a:t>사용률</a:t>
            </a:r>
            <a:endParaRPr lang="en-US" sz="800" b="1" i="0" dirty="0">
              <a:solidFill>
                <a:srgbClr val="000000"/>
              </a:solidFill>
              <a:latin typeface="맑은 고딕"/>
              <a:ea typeface="맑은 고딕"/>
              <a:cs typeface="맑은 고딕"/>
            </a:endParaRPr>
          </a:p>
          <a:p>
            <a:r>
              <a:rPr lang="en-US" altLang="ko-KR" sz="800" b="1" i="0" dirty="0">
                <a:solidFill>
                  <a:srgbClr val="000000"/>
                </a:solidFill>
                <a:latin typeface="맑은 고딕"/>
                <a:ea typeface="맑은 고딕"/>
                <a:cs typeface="맑은 고딕"/>
              </a:rPr>
              <a:t>Q3 </a:t>
            </a:r>
            <a:r>
              <a:rPr lang="ko-KR" altLang="en-US" sz="800" b="1" i="0" dirty="0">
                <a:solidFill>
                  <a:srgbClr val="000000"/>
                </a:solidFill>
                <a:latin typeface="맑은 고딕"/>
                <a:ea typeface="맑은 고딕"/>
                <a:cs typeface="맑은 고딕"/>
              </a:rPr>
              <a:t>고부하 지연시간</a:t>
            </a:r>
          </a:p>
          <a:p>
            <a:pPr algn="l">
              <a:spcAft>
                <a:spcPts val="0"/>
              </a:spcAft>
            </a:pPr>
            <a:r>
              <a:rPr sz="800" b="1" i="0" dirty="0" err="1">
                <a:solidFill>
                  <a:srgbClr val="000000"/>
                </a:solidFill>
                <a:latin typeface="맑은 고딕"/>
                <a:ea typeface="맑은 고딕"/>
                <a:cs typeface="맑은 고딕"/>
              </a:rPr>
              <a:t>정확도</a:t>
            </a:r>
            <a:r>
              <a:rPr sz="800" b="1" i="0" dirty="0">
                <a:solidFill>
                  <a:srgbClr val="000000"/>
                </a:solidFill>
                <a:latin typeface="맑은 고딕"/>
                <a:ea typeface="맑은 고딕"/>
                <a:cs typeface="맑은 고딕"/>
              </a:rPr>
              <a:t>(C02)</a:t>
            </a:r>
          </a:p>
        </p:txBody>
      </p:sp>
      <p:sp>
        <p:nvSpPr>
          <p:cNvPr id="106" name="Rectangle 105"/>
          <p:cNvSpPr/>
          <p:nvPr/>
        </p:nvSpPr>
        <p:spPr>
          <a:xfrm>
            <a:off x="9738360" y="4754880"/>
            <a:ext cx="82296" cy="100584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9875520" y="4727448"/>
            <a:ext cx="2194560" cy="693523"/>
          </a:xfrm>
          <a:prstGeom prst="rect">
            <a:avLst/>
          </a:prstGeom>
          <a:noFill/>
        </p:spPr>
        <p:txBody>
          <a:bodyPr wrap="square" lIns="36576" tIns="18288" rIns="36576" bIns="18288" anchor="t">
            <a:spAutoFit/>
          </a:bodyPr>
          <a:lstStyle/>
          <a:p>
            <a:r>
              <a:rPr lang="en-US" altLang="ko-KR" sz="950" b="1" dirty="0">
                <a:solidFill>
                  <a:srgbClr val="000000"/>
                </a:solidFill>
                <a:ea typeface="맑은 고딕"/>
                <a:cs typeface="맑은 고딕"/>
              </a:rPr>
              <a:t>DP4. </a:t>
            </a:r>
            <a:r>
              <a:rPr lang="ko-KR" altLang="en-US" sz="950" b="1" dirty="0">
                <a:solidFill>
                  <a:srgbClr val="000000"/>
                </a:solidFill>
                <a:ea typeface="맑은 고딕"/>
                <a:cs typeface="맑은 고딕"/>
              </a:rPr>
              <a:t>서버 간 </a:t>
            </a:r>
            <a:r>
              <a:rPr lang="en-US" altLang="ko-KR" sz="950" b="1" dirty="0">
                <a:solidFill>
                  <a:srgbClr val="000000"/>
                </a:solidFill>
                <a:ea typeface="맑은 고딕"/>
                <a:cs typeface="맑은 고딕"/>
              </a:rPr>
              <a:t>KV </a:t>
            </a:r>
            <a:r>
              <a:rPr lang="ko-KR" altLang="en-US" sz="950" b="1" dirty="0">
                <a:solidFill>
                  <a:srgbClr val="000000"/>
                </a:solidFill>
                <a:ea typeface="맑은 고딕"/>
                <a:cs typeface="맑은 고딕"/>
              </a:rPr>
              <a:t>캐시 공유</a:t>
            </a:r>
            <a:endParaRPr sz="950" b="1" i="0" dirty="0">
              <a:solidFill>
                <a:srgbClr val="000000"/>
              </a:solidFill>
              <a:latin typeface="맑은 고딕"/>
              <a:ea typeface="맑은 고딕"/>
              <a:cs typeface="맑은 고딕"/>
            </a:endParaRPr>
          </a:p>
          <a:p>
            <a:pPr algn="l">
              <a:spcAft>
                <a:spcPts val="200"/>
              </a:spcAft>
            </a:pPr>
            <a:r>
              <a:rPr sz="750" b="0" i="0" dirty="0">
                <a:solidFill>
                  <a:srgbClr val="595959"/>
                </a:solidFill>
                <a:latin typeface="맑은 고딕"/>
                <a:ea typeface="맑은 고딕"/>
                <a:cs typeface="맑은 고딕"/>
              </a:rPr>
              <a:t>1안 </a:t>
            </a:r>
            <a:r>
              <a:rPr sz="750" b="0" i="0" dirty="0" err="1">
                <a:solidFill>
                  <a:srgbClr val="595959"/>
                </a:solidFill>
                <a:latin typeface="맑은 고딕"/>
                <a:ea typeface="맑은 고딕"/>
                <a:cs typeface="맑은 고딕"/>
              </a:rPr>
              <a:t>중앙</a:t>
            </a:r>
            <a:r>
              <a:rPr sz="750" b="0" i="0" dirty="0">
                <a:solidFill>
                  <a:srgbClr val="595959"/>
                </a:solidFill>
                <a:latin typeface="맑은 고딕"/>
                <a:ea typeface="맑은 고딕"/>
                <a:cs typeface="맑은 고딕"/>
              </a:rPr>
              <a:t> Metadata Server + </a:t>
            </a:r>
            <a:r>
              <a:rPr sz="750" b="0" i="0" dirty="0" err="1">
                <a:solidFill>
                  <a:srgbClr val="595959"/>
                </a:solidFill>
                <a:latin typeface="맑은 고딕"/>
                <a:ea typeface="맑은 고딕"/>
                <a:cs typeface="맑은 고딕"/>
              </a:rPr>
              <a:t>Sharding</a:t>
            </a:r>
            <a:endParaRPr sz="750" b="0" i="0" dirty="0">
              <a:solidFill>
                <a:srgbClr val="595959"/>
              </a:solidFill>
              <a:latin typeface="맑은 고딕"/>
              <a:ea typeface="맑은 고딕"/>
              <a:cs typeface="맑은 고딕"/>
            </a:endParaRPr>
          </a:p>
          <a:p>
            <a:pPr algn="l">
              <a:spcAft>
                <a:spcPts val="0"/>
              </a:spcAft>
            </a:pPr>
            <a:r>
              <a:rPr sz="800" b="1" i="0" dirty="0">
                <a:solidFill>
                  <a:srgbClr val="000000"/>
                </a:solidFill>
                <a:latin typeface="맑은 고딕"/>
                <a:ea typeface="맑은 고딕"/>
                <a:cs typeface="맑은 고딕"/>
              </a:rPr>
              <a:t>Q1 Throughput</a:t>
            </a:r>
          </a:p>
          <a:p>
            <a:pPr algn="l">
              <a:spcAft>
                <a:spcPts val="0"/>
              </a:spcAft>
            </a:pPr>
            <a:r>
              <a:rPr sz="800" b="1" i="0" dirty="0">
                <a:solidFill>
                  <a:srgbClr val="000000"/>
                </a:solidFill>
                <a:latin typeface="맑은 고딕"/>
                <a:ea typeface="맑은 고딕"/>
                <a:cs typeface="맑은 고딕"/>
              </a:rPr>
              <a:t>Q3 </a:t>
            </a:r>
            <a:r>
              <a:rPr sz="800" b="1" i="0" dirty="0" err="1">
                <a:solidFill>
                  <a:srgbClr val="000000"/>
                </a:solidFill>
                <a:latin typeface="맑은 고딕"/>
                <a:ea typeface="맑은 고딕"/>
                <a:cs typeface="맑은 고딕"/>
              </a:rPr>
              <a:t>고부하</a:t>
            </a:r>
            <a:r>
              <a:rPr sz="800" b="1" i="0" dirty="0">
                <a:solidFill>
                  <a:srgbClr val="000000"/>
                </a:solidFill>
                <a:latin typeface="맑은 고딕"/>
                <a:ea typeface="맑은 고딕"/>
                <a:cs typeface="맑은 고딕"/>
              </a:rPr>
              <a:t> </a:t>
            </a:r>
            <a:r>
              <a:rPr sz="800" b="1" i="0" dirty="0" err="1">
                <a:solidFill>
                  <a:srgbClr val="000000"/>
                </a:solidFill>
                <a:latin typeface="맑은 고딕"/>
                <a:ea typeface="맑은 고딕"/>
                <a:cs typeface="맑은 고딕"/>
              </a:rPr>
              <a:t>지연</a:t>
            </a:r>
            <a:r>
              <a:rPr lang="ko-KR" altLang="en-US" sz="800" b="1" i="0" dirty="0">
                <a:solidFill>
                  <a:srgbClr val="000000"/>
                </a:solidFill>
                <a:latin typeface="맑은 고딕"/>
                <a:ea typeface="맑은 고딕"/>
                <a:cs typeface="맑은 고딕"/>
              </a:rPr>
              <a:t>시간</a:t>
            </a:r>
            <a:endParaRPr sz="800" b="1" i="0" dirty="0">
              <a:solidFill>
                <a:srgbClr val="000000"/>
              </a:solidFill>
              <a:latin typeface="맑은 고딕"/>
              <a:ea typeface="맑은 고딕"/>
              <a:cs typeface="맑은 고딕"/>
            </a:endParaRPr>
          </a:p>
          <a:p>
            <a:pPr algn="l">
              <a:spcAft>
                <a:spcPts val="0"/>
              </a:spcAft>
            </a:pPr>
            <a:r>
              <a:rPr sz="800" b="1" i="0" dirty="0">
                <a:solidFill>
                  <a:srgbClr val="000000"/>
                </a:solidFill>
                <a:latin typeface="맑은 고딕"/>
                <a:ea typeface="맑은 고딕"/>
                <a:cs typeface="맑은 고딕"/>
              </a:rPr>
              <a:t>Q4 Scalability</a:t>
            </a:r>
          </a:p>
        </p:txBody>
      </p:sp>
      <p:sp>
        <p:nvSpPr>
          <p:cNvPr id="108" name="Rectangle 107"/>
          <p:cNvSpPr/>
          <p:nvPr/>
        </p:nvSpPr>
        <p:spPr>
          <a:xfrm>
            <a:off x="9784080" y="5943600"/>
            <a:ext cx="320040" cy="20116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기존</a:t>
            </a:r>
          </a:p>
        </p:txBody>
      </p:sp>
      <p:sp>
        <p:nvSpPr>
          <p:cNvPr id="109" name="Rectangle 108"/>
          <p:cNvSpPr/>
          <p:nvPr/>
        </p:nvSpPr>
        <p:spPr>
          <a:xfrm>
            <a:off x="10149840" y="5943600"/>
            <a:ext cx="548640" cy="201168"/>
          </a:xfrm>
          <a:prstGeom prst="rect">
            <a:avLst/>
          </a:prstGeom>
          <a:solidFill>
            <a:srgbClr val="FFF2CC"/>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신규/수정</a:t>
            </a:r>
          </a:p>
        </p:txBody>
      </p:sp>
      <p:sp>
        <p:nvSpPr>
          <p:cNvPr id="110" name="TextBox 109"/>
          <p:cNvSpPr txBox="1"/>
          <p:nvPr/>
        </p:nvSpPr>
        <p:spPr>
          <a:xfrm>
            <a:off x="10744200" y="5925312"/>
            <a:ext cx="1280160" cy="274320"/>
          </a:xfrm>
          <a:prstGeom prst="rect">
            <a:avLst/>
          </a:prstGeom>
          <a:noFill/>
        </p:spPr>
        <p:txBody>
          <a:bodyPr wrap="square" lIns="36576" tIns="18288" rIns="36576" bIns="18288" anchor="t">
            <a:spAutoFit/>
          </a:bodyPr>
          <a:lstStyle/>
          <a:p>
            <a:pPr algn="l">
              <a:spcAft>
                <a:spcPts val="0"/>
              </a:spcAft>
            </a:pPr>
            <a:r>
              <a:rPr sz="650" b="0" i="0">
                <a:solidFill>
                  <a:srgbClr val="595959"/>
                </a:solidFill>
                <a:latin typeface="맑은 고딕"/>
                <a:ea typeface="맑은 고딕"/>
                <a:cs typeface="맑은 고딕"/>
              </a:rPr>
              <a:t>테두리 색 = 담당 DP</a:t>
            </a:r>
          </a:p>
        </p:txBody>
      </p:sp>
      <p:sp>
        <p:nvSpPr>
          <p:cNvPr id="111" name="TextBox 110"/>
          <p:cNvSpPr txBox="1"/>
          <p:nvPr/>
        </p:nvSpPr>
        <p:spPr>
          <a:xfrm>
            <a:off x="9738360" y="6199632"/>
            <a:ext cx="2286000" cy="292608"/>
          </a:xfrm>
          <a:prstGeom prst="rect">
            <a:avLst/>
          </a:prstGeom>
          <a:noFill/>
        </p:spPr>
        <p:txBody>
          <a:bodyPr wrap="square" lIns="36576" tIns="18288" rIns="36576" bIns="18288" anchor="t">
            <a:spAutoFit/>
          </a:bodyPr>
          <a:lstStyle/>
          <a:p>
            <a:pPr algn="l">
              <a:spcAft>
                <a:spcPts val="0"/>
              </a:spcAft>
            </a:pPr>
            <a:r>
              <a:rPr sz="600" b="0" i="0">
                <a:solidFill>
                  <a:srgbClr val="7F7F7F"/>
                </a:solidFill>
                <a:latin typeface="맑은 고딕"/>
                <a:ea typeface="맑은 고딕"/>
                <a:cs typeface="맑은 고딕"/>
              </a:rPr>
              <a:t>※ 4~11p 보완 설계 + doc-mk DP 문서에서 정리. 모듈 배치는 제안([C])</a:t>
            </a: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최종 구조 설계 – C&amp;C View</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15</a:t>
            </a:r>
          </a:p>
        </p:txBody>
      </p:sp>
      <p:sp>
        <p:nvSpPr>
          <p:cNvPr id="4" name="Rectangle 3"/>
          <p:cNvSpPr/>
          <p:nvPr/>
        </p:nvSpPr>
        <p:spPr>
          <a:xfrm>
            <a:off x="274320" y="1188720"/>
            <a:ext cx="1463040" cy="3657600"/>
          </a:xfrm>
          <a:prstGeom prst="rect">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1188720"/>
            <a:ext cx="1463040" cy="201168"/>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1" i="0">
                <a:solidFill>
                  <a:srgbClr val="FFFFFF"/>
                </a:solidFill>
                <a:latin typeface="맑은 고딕"/>
                <a:ea typeface="맑은 고딕"/>
                <a:cs typeface="맑은 고딕"/>
              </a:rPr>
              <a:t>«process» Client / API Server</a:t>
            </a:r>
          </a:p>
        </p:txBody>
      </p:sp>
      <p:sp>
        <p:nvSpPr>
          <p:cNvPr id="6" name="Rectangle 5"/>
          <p:cNvSpPr/>
          <p:nvPr/>
        </p:nvSpPr>
        <p:spPr>
          <a:xfrm>
            <a:off x="2011680" y="1188720"/>
            <a:ext cx="4572000" cy="365760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011680" y="1188720"/>
            <a:ext cx="4572000" cy="201168"/>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i="0">
                <a:solidFill>
                  <a:srgbClr val="FFFFFF"/>
                </a:solidFill>
                <a:latin typeface="맑은 고딕"/>
                <a:ea typeface="맑은 고딕"/>
                <a:cs typeface="맑은 고딕"/>
              </a:rPr>
              <a:t>«process» EngineCore (scheduler process)</a:t>
            </a:r>
          </a:p>
        </p:txBody>
      </p:sp>
      <p:sp>
        <p:nvSpPr>
          <p:cNvPr id="8" name="Rectangle 7"/>
          <p:cNvSpPr/>
          <p:nvPr/>
        </p:nvSpPr>
        <p:spPr>
          <a:xfrm>
            <a:off x="6858000" y="1188720"/>
            <a:ext cx="2103120" cy="3657600"/>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0" y="1188720"/>
            <a:ext cx="2103120" cy="201168"/>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i="0">
                <a:solidFill>
                  <a:srgbClr val="FFFFFF"/>
                </a:solidFill>
                <a:latin typeface="맑은 고딕"/>
                <a:ea typeface="맑은 고딕"/>
                <a:cs typeface="맑은 고딕"/>
              </a:rPr>
              <a:t>«process» Worker × N (GPU별)</a:t>
            </a:r>
          </a:p>
        </p:txBody>
      </p:sp>
      <p:sp>
        <p:nvSpPr>
          <p:cNvPr id="10" name="Rectangle 9"/>
          <p:cNvSpPr/>
          <p:nvPr/>
        </p:nvSpPr>
        <p:spPr>
          <a:xfrm>
            <a:off x="9235440" y="1188720"/>
            <a:ext cx="2743200" cy="178308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235440" y="1188720"/>
            <a:ext cx="2743200" cy="201168"/>
          </a:xfrm>
          <a:prstGeom prst="rect">
            <a:avLst/>
          </a:prstGeom>
          <a:solidFill>
            <a:srgbClr val="C55A11"/>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i="0">
                <a:solidFill>
                  <a:srgbClr val="FFFFFF"/>
                </a:solidFill>
                <a:latin typeface="맑은 고딕"/>
                <a:ea typeface="맑은 고딕"/>
                <a:cs typeface="맑은 고딕"/>
              </a:rPr>
              <a:t>«process» Offline Analyzer (DP3, batch)</a:t>
            </a:r>
          </a:p>
        </p:txBody>
      </p:sp>
      <p:sp>
        <p:nvSpPr>
          <p:cNvPr id="12" name="Rectangle 11"/>
          <p:cNvSpPr/>
          <p:nvPr/>
        </p:nvSpPr>
        <p:spPr>
          <a:xfrm>
            <a:off x="9235440" y="3108960"/>
            <a:ext cx="2743200" cy="1737360"/>
          </a:xfrm>
          <a:prstGeom prst="rect">
            <a:avLst/>
          </a:prstGeom>
          <a:solidFill>
            <a:srgbClr val="EDE2F6"/>
          </a:solidFill>
          <a:ln w="1270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35440" y="3108960"/>
            <a:ext cx="2743200" cy="201168"/>
          </a:xfrm>
          <a:prstGeom prst="rect">
            <a:avLst/>
          </a:prstGeom>
          <a:solidFill>
            <a:srgbClr val="7030A0"/>
          </a:solidFill>
          <a:ln w="1016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i="0" dirty="0">
                <a:solidFill>
                  <a:srgbClr val="FFFFFF"/>
                </a:solidFill>
                <a:latin typeface="맑은 고딕"/>
                <a:ea typeface="맑은 고딕"/>
                <a:cs typeface="맑은 고딕"/>
              </a:rPr>
              <a:t>«process» Metadata Server (DP4)</a:t>
            </a:r>
          </a:p>
        </p:txBody>
      </p:sp>
      <p:sp>
        <p:nvSpPr>
          <p:cNvPr id="14" name="Rectangle 13"/>
          <p:cNvSpPr/>
          <p:nvPr/>
        </p:nvSpPr>
        <p:spPr>
          <a:xfrm>
            <a:off x="274320" y="5120640"/>
            <a:ext cx="11704320" cy="1325880"/>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4320" y="5120640"/>
            <a:ext cx="11704320" cy="201168"/>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i="0">
                <a:solidFill>
                  <a:srgbClr val="FFFFFF"/>
                </a:solidFill>
                <a:latin typeface="맑은 고딕"/>
                <a:ea typeface="맑은 고딕"/>
                <a:cs typeface="맑은 고딕"/>
              </a:rPr>
              <a:t>Memory Backend (Common Memory Backend Interface)</a:t>
            </a:r>
          </a:p>
        </p:txBody>
      </p:sp>
      <p:sp>
        <p:nvSpPr>
          <p:cNvPr id="16" name="Rectangle 15"/>
          <p:cNvSpPr/>
          <p:nvPr/>
        </p:nvSpPr>
        <p:spPr>
          <a:xfrm>
            <a:off x="411480" y="1508760"/>
            <a:ext cx="118872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Agent / LLM Client</a:t>
            </a:r>
          </a:p>
        </p:txBody>
      </p:sp>
      <p:sp>
        <p:nvSpPr>
          <p:cNvPr id="17" name="Rectangle 16"/>
          <p:cNvSpPr/>
          <p:nvPr/>
        </p:nvSpPr>
        <p:spPr>
          <a:xfrm>
            <a:off x="1481328" y="153619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1480" y="2194560"/>
            <a:ext cx="1188720" cy="54864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Input/Output Processor</a:t>
            </a:r>
          </a:p>
          <a:p>
            <a:pPr algn="ctr">
              <a:spcAft>
                <a:spcPts val="0"/>
              </a:spcAft>
            </a:pPr>
            <a:r>
              <a:rPr sz="650" b="0" i="0">
                <a:solidFill>
                  <a:srgbClr val="000000"/>
                </a:solidFill>
                <a:latin typeface="맑은 고딕"/>
                <a:ea typeface="맑은 고딕"/>
                <a:cs typeface="맑은 고딕"/>
              </a:rPr>
              <a:t>(AsyncLLM)</a:t>
            </a:r>
          </a:p>
        </p:txBody>
      </p:sp>
      <p:sp>
        <p:nvSpPr>
          <p:cNvPr id="19" name="Rectangle 18"/>
          <p:cNvSpPr/>
          <p:nvPr/>
        </p:nvSpPr>
        <p:spPr>
          <a:xfrm>
            <a:off x="1481328" y="222199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11480" y="2971800"/>
            <a:ext cx="118872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Engine Core Client</a:t>
            </a:r>
          </a:p>
          <a:p>
            <a:pPr algn="ctr">
              <a:spcAft>
                <a:spcPts val="0"/>
              </a:spcAft>
            </a:pPr>
            <a:r>
              <a:rPr sz="650" b="0" i="0">
                <a:solidFill>
                  <a:srgbClr val="000000"/>
                </a:solidFill>
                <a:latin typeface="맑은 고딕"/>
                <a:ea typeface="맑은 고딕"/>
                <a:cs typeface="맑은 고딕"/>
              </a:rPr>
              <a:t>(ZMQ)</a:t>
            </a:r>
          </a:p>
        </p:txBody>
      </p:sp>
      <p:sp>
        <p:nvSpPr>
          <p:cNvPr id="21" name="Rectangle 20"/>
          <p:cNvSpPr/>
          <p:nvPr/>
        </p:nvSpPr>
        <p:spPr>
          <a:xfrm>
            <a:off x="1481328" y="299923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103120" y="1508760"/>
            <a:ext cx="1371600" cy="45720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Scheduler</a:t>
            </a:r>
          </a:p>
          <a:p>
            <a:pPr algn="ctr">
              <a:spcAft>
                <a:spcPts val="0"/>
              </a:spcAft>
            </a:pPr>
            <a:r>
              <a:rPr sz="650" b="0" i="0">
                <a:solidFill>
                  <a:srgbClr val="000000"/>
                </a:solidFill>
                <a:latin typeface="맑은 고딕"/>
                <a:ea typeface="맑은 고딕"/>
                <a:cs typeface="맑은 고딕"/>
              </a:rPr>
              <a:t>schedule()/update_from_output()</a:t>
            </a:r>
          </a:p>
        </p:txBody>
      </p:sp>
      <p:sp>
        <p:nvSpPr>
          <p:cNvPr id="23" name="Rectangle 22"/>
          <p:cNvSpPr/>
          <p:nvPr/>
        </p:nvSpPr>
        <p:spPr>
          <a:xfrm>
            <a:off x="3355848" y="15361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611880" y="1508760"/>
            <a:ext cx="1371600" cy="45720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Lookup Validator</a:t>
            </a:r>
          </a:p>
        </p:txBody>
      </p:sp>
      <p:sp>
        <p:nvSpPr>
          <p:cNvPr id="25" name="Rectangle 24"/>
          <p:cNvSpPr/>
          <p:nvPr/>
        </p:nvSpPr>
        <p:spPr>
          <a:xfrm>
            <a:off x="4864608" y="15361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120640" y="1508760"/>
            <a:ext cx="1371600" cy="45720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Execution Router</a:t>
            </a:r>
          </a:p>
          <a:p>
            <a:pPr algn="ctr">
              <a:spcAft>
                <a:spcPts val="0"/>
              </a:spcAft>
            </a:pPr>
            <a:r>
              <a:rPr sz="650" b="0" i="0">
                <a:solidFill>
                  <a:srgbClr val="000000"/>
                </a:solidFill>
                <a:latin typeface="맑은 고딕"/>
                <a:ea typeface="맑은 고딕"/>
                <a:cs typeface="맑은 고딕"/>
              </a:rPr>
              <a:t>(Decision)</a:t>
            </a:r>
          </a:p>
        </p:txBody>
      </p:sp>
      <p:sp>
        <p:nvSpPr>
          <p:cNvPr id="27" name="Rectangle 26"/>
          <p:cNvSpPr/>
          <p:nvPr/>
        </p:nvSpPr>
        <p:spPr>
          <a:xfrm>
            <a:off x="6373368" y="15361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103120" y="2103120"/>
            <a:ext cx="137160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Cache Manager</a:t>
            </a:r>
          </a:p>
          <a:p>
            <a:pPr algn="ctr">
              <a:spcAft>
                <a:spcPts val="0"/>
              </a:spcAft>
            </a:pPr>
            <a:r>
              <a:rPr sz="650" b="0" i="0">
                <a:solidFill>
                  <a:srgbClr val="000000"/>
                </a:solidFill>
                <a:latin typeface="맑은 고딕"/>
                <a:ea typeface="맑은 고딕"/>
                <a:cs typeface="맑은 고딕"/>
              </a:rPr>
              <a:t>+ KV Layout Manager</a:t>
            </a:r>
          </a:p>
        </p:txBody>
      </p:sp>
      <p:sp>
        <p:nvSpPr>
          <p:cNvPr id="29" name="Rectangle 28"/>
          <p:cNvSpPr/>
          <p:nvPr/>
        </p:nvSpPr>
        <p:spPr>
          <a:xfrm>
            <a:off x="3355848" y="213055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11880" y="2103120"/>
            <a:ext cx="1371600" cy="45720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Publisher</a:t>
            </a:r>
          </a:p>
          <a:p>
            <a:pPr algn="ctr">
              <a:spcAft>
                <a:spcPts val="0"/>
              </a:spcAft>
            </a:pPr>
            <a:r>
              <a:rPr sz="650" b="0" i="0">
                <a:solidFill>
                  <a:srgbClr val="000000"/>
                </a:solidFill>
                <a:latin typeface="맑은 고딕"/>
                <a:ea typeface="맑은 고딕"/>
                <a:cs typeface="맑은 고딕"/>
              </a:rPr>
              <a:t>+ Plan Cache</a:t>
            </a:r>
          </a:p>
        </p:txBody>
      </p:sp>
      <p:sp>
        <p:nvSpPr>
          <p:cNvPr id="31" name="Rectangle 30"/>
          <p:cNvSpPr/>
          <p:nvPr/>
        </p:nvSpPr>
        <p:spPr>
          <a:xfrm>
            <a:off x="4864608" y="213055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120640" y="2103120"/>
            <a:ext cx="1371600" cy="45720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Execution Planner</a:t>
            </a:r>
          </a:p>
          <a:p>
            <a:pPr algn="ctr">
              <a:spcAft>
                <a:spcPts val="0"/>
              </a:spcAft>
            </a:pPr>
            <a:r>
              <a:rPr sz="650" b="0" i="0">
                <a:solidFill>
                  <a:srgbClr val="000000"/>
                </a:solidFill>
                <a:latin typeface="맑은 고딕"/>
                <a:ea typeface="맑은 고딕"/>
                <a:cs typeface="맑은 고딕"/>
              </a:rPr>
              <a:t>(Plan, async thread)</a:t>
            </a:r>
          </a:p>
        </p:txBody>
      </p:sp>
      <p:sp>
        <p:nvSpPr>
          <p:cNvPr id="33" name="Rectangle 32"/>
          <p:cNvSpPr/>
          <p:nvPr/>
        </p:nvSpPr>
        <p:spPr>
          <a:xfrm>
            <a:off x="6373368" y="213055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103120" y="2697480"/>
            <a:ext cx="1371600" cy="457200"/>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Admission Controller</a:t>
            </a:r>
          </a:p>
          <a:p>
            <a:pPr algn="ctr">
              <a:spcAft>
                <a:spcPts val="0"/>
              </a:spcAft>
            </a:pPr>
            <a:r>
              <a:rPr sz="650" b="0" i="0">
                <a:solidFill>
                  <a:srgbClr val="000000"/>
                </a:solidFill>
                <a:latin typeface="맑은 고딕"/>
                <a:ea typeface="맑은 고딕"/>
                <a:cs typeface="맑은 고딕"/>
              </a:rPr>
              <a:t>(plan-aware, DP3)</a:t>
            </a:r>
          </a:p>
        </p:txBody>
      </p:sp>
      <p:sp>
        <p:nvSpPr>
          <p:cNvPr id="35" name="Rectangle 34"/>
          <p:cNvSpPr/>
          <p:nvPr/>
        </p:nvSpPr>
        <p:spPr>
          <a:xfrm>
            <a:off x="3355848" y="272491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611880" y="2697480"/>
            <a:ext cx="137160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Decision Scheduler</a:t>
            </a:r>
          </a:p>
          <a:p>
            <a:pPr algn="ctr">
              <a:spcAft>
                <a:spcPts val="0"/>
              </a:spcAft>
            </a:pPr>
            <a:r>
              <a:rPr sz="650" b="0" i="0">
                <a:solidFill>
                  <a:srgbClr val="000000"/>
                </a:solidFill>
                <a:latin typeface="맑은 고딕"/>
                <a:ea typeface="맑은 고딕"/>
                <a:cs typeface="맑은 고딕"/>
              </a:rPr>
              <a:t>+ Trend Analyzer</a:t>
            </a:r>
          </a:p>
        </p:txBody>
      </p:sp>
      <p:sp>
        <p:nvSpPr>
          <p:cNvPr id="37" name="Rectangle 36"/>
          <p:cNvSpPr/>
          <p:nvPr/>
        </p:nvSpPr>
        <p:spPr>
          <a:xfrm>
            <a:off x="4864608" y="272491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120640" y="2697480"/>
            <a:ext cx="1371600" cy="45720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Cost Evaluator +</a:t>
            </a:r>
          </a:p>
          <a:p>
            <a:pPr algn="ctr">
              <a:spcAft>
                <a:spcPts val="0"/>
              </a:spcAft>
            </a:pPr>
            <a:r>
              <a:rPr sz="650" b="0" i="0">
                <a:solidFill>
                  <a:srgbClr val="000000"/>
                </a:solidFill>
                <a:latin typeface="맑은 고딕"/>
                <a:ea typeface="맑은 고딕"/>
                <a:cs typeface="맑은 고딕"/>
              </a:rPr>
              <a:t>Resource/KV State Monitor</a:t>
            </a:r>
          </a:p>
        </p:txBody>
      </p:sp>
      <p:sp>
        <p:nvSpPr>
          <p:cNvPr id="39" name="Rectangle 38"/>
          <p:cNvSpPr/>
          <p:nvPr/>
        </p:nvSpPr>
        <p:spPr>
          <a:xfrm>
            <a:off x="6373368" y="272491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103120" y="3291840"/>
            <a:ext cx="137160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Affinity Mapper</a:t>
            </a:r>
          </a:p>
          <a:p>
            <a:pPr algn="ctr">
              <a:spcAft>
                <a:spcPts val="0"/>
              </a:spcAft>
            </a:pPr>
            <a:r>
              <a:rPr sz="650" b="0" i="0">
                <a:solidFill>
                  <a:srgbClr val="000000"/>
                </a:solidFill>
                <a:latin typeface="맑은 고딕"/>
                <a:ea typeface="맑은 고딕"/>
                <a:cs typeface="맑은 고딕"/>
              </a:rPr>
              <a:t>+ Policy Engine</a:t>
            </a:r>
          </a:p>
        </p:txBody>
      </p:sp>
      <p:sp>
        <p:nvSpPr>
          <p:cNvPr id="41" name="Rectangle 40"/>
          <p:cNvSpPr/>
          <p:nvPr/>
        </p:nvSpPr>
        <p:spPr>
          <a:xfrm>
            <a:off x="3355848" y="33192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611880" y="3291840"/>
            <a:ext cx="137160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State Snapshot Builder</a:t>
            </a:r>
          </a:p>
          <a:p>
            <a:pPr algn="ctr">
              <a:spcAft>
                <a:spcPts val="0"/>
              </a:spcAft>
            </a:pPr>
            <a:r>
              <a:rPr sz="650" b="0" i="0">
                <a:solidFill>
                  <a:srgbClr val="000000"/>
                </a:solidFill>
                <a:latin typeface="맑은 고딕"/>
                <a:ea typeface="맑은 고딕"/>
                <a:cs typeface="맑은 고딕"/>
              </a:rPr>
              <a:t>+ Telemetry Collector</a:t>
            </a:r>
          </a:p>
        </p:txBody>
      </p:sp>
      <p:sp>
        <p:nvSpPr>
          <p:cNvPr id="43" name="Rectangle 42"/>
          <p:cNvSpPr/>
          <p:nvPr/>
        </p:nvSpPr>
        <p:spPr>
          <a:xfrm>
            <a:off x="4864608" y="33192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120640" y="3291840"/>
            <a:ext cx="137160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Data Object Registry</a:t>
            </a:r>
          </a:p>
          <a:p>
            <a:pPr algn="ctr">
              <a:spcAft>
                <a:spcPts val="0"/>
              </a:spcAft>
            </a:pPr>
            <a:r>
              <a:rPr sz="650" b="0" i="0">
                <a:solidFill>
                  <a:srgbClr val="000000"/>
                </a:solidFill>
                <a:latin typeface="맑은 고딕"/>
                <a:ea typeface="맑은 고딕"/>
                <a:cs typeface="맑은 고딕"/>
              </a:rPr>
              <a:t>+ Lease Timer</a:t>
            </a:r>
          </a:p>
        </p:txBody>
      </p:sp>
      <p:sp>
        <p:nvSpPr>
          <p:cNvPr id="45" name="Rectangle 44"/>
          <p:cNvSpPr/>
          <p:nvPr/>
        </p:nvSpPr>
        <p:spPr>
          <a:xfrm>
            <a:off x="6373368" y="33192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103120" y="4023360"/>
            <a:ext cx="288036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DP1 Connector (KVConnectorBase_V1) — scheduler role</a:t>
            </a:r>
          </a:p>
        </p:txBody>
      </p:sp>
      <p:sp>
        <p:nvSpPr>
          <p:cNvPr id="47" name="Rectangle 46"/>
          <p:cNvSpPr/>
          <p:nvPr/>
        </p:nvSpPr>
        <p:spPr>
          <a:xfrm>
            <a:off x="4864607" y="40507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120640" y="4023360"/>
            <a:ext cx="1371600" cy="45720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 Command Queue</a:t>
            </a:r>
          </a:p>
          <a:p>
            <a:pPr algn="ctr">
              <a:spcAft>
                <a:spcPts val="0"/>
              </a:spcAft>
            </a:pPr>
            <a:r>
              <a:rPr sz="650" b="0" i="0">
                <a:solidFill>
                  <a:srgbClr val="000000"/>
                </a:solidFill>
                <a:latin typeface="맑은 고딕"/>
                <a:ea typeface="맑은 고딕"/>
                <a:cs typeface="맑은 고딕"/>
              </a:rPr>
              <a:t>(비동기 buffer)</a:t>
            </a:r>
          </a:p>
        </p:txBody>
      </p:sp>
      <p:sp>
        <p:nvSpPr>
          <p:cNvPr id="49" name="Rectangle 48"/>
          <p:cNvSpPr/>
          <p:nvPr/>
        </p:nvSpPr>
        <p:spPr>
          <a:xfrm>
            <a:off x="6373368" y="40507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6995160" y="1508760"/>
            <a:ext cx="1828800" cy="38404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Executor → Worker</a:t>
            </a:r>
          </a:p>
          <a:p>
            <a:pPr algn="ctr">
              <a:spcAft>
                <a:spcPts val="0"/>
              </a:spcAft>
            </a:pPr>
            <a:r>
              <a:rPr sz="650" b="0" i="0">
                <a:solidFill>
                  <a:srgbClr val="000000"/>
                </a:solidFill>
                <a:latin typeface="맑은 고딕"/>
                <a:ea typeface="맑은 고딕"/>
                <a:cs typeface="맑은 고딕"/>
              </a:rPr>
              <a:t>execute_model / sample_tokens</a:t>
            </a:r>
          </a:p>
        </p:txBody>
      </p:sp>
      <p:sp>
        <p:nvSpPr>
          <p:cNvPr id="51" name="Rectangle 50"/>
          <p:cNvSpPr/>
          <p:nvPr/>
        </p:nvSpPr>
        <p:spPr>
          <a:xfrm>
            <a:off x="8705088" y="153619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995160" y="2057400"/>
            <a:ext cx="1828800" cy="38404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Model Runner / Model Layers</a:t>
            </a:r>
          </a:p>
        </p:txBody>
      </p:sp>
      <p:sp>
        <p:nvSpPr>
          <p:cNvPr id="53" name="Rectangle 52"/>
          <p:cNvSpPr/>
          <p:nvPr/>
        </p:nvSpPr>
        <p:spPr>
          <a:xfrm>
            <a:off x="8705088" y="208483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6995160" y="2606040"/>
            <a:ext cx="1828800" cy="384048"/>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Attention Backend +</a:t>
            </a:r>
          </a:p>
          <a:p>
            <a:pPr algn="ctr">
              <a:spcAft>
                <a:spcPts val="0"/>
              </a:spcAft>
            </a:pPr>
            <a:r>
              <a:rPr sz="650" b="0" i="0">
                <a:solidFill>
                  <a:srgbClr val="000000"/>
                </a:solidFill>
                <a:latin typeface="맑은 고딕"/>
                <a:ea typeface="맑은 고딕"/>
                <a:cs typeface="맑은 고딕"/>
              </a:rPr>
              <a:t>Selective Recomputer</a:t>
            </a:r>
          </a:p>
        </p:txBody>
      </p:sp>
      <p:sp>
        <p:nvSpPr>
          <p:cNvPr id="55" name="Rectangle 54"/>
          <p:cNvSpPr/>
          <p:nvPr/>
        </p:nvSpPr>
        <p:spPr>
          <a:xfrm>
            <a:off x="8705088" y="26334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995160" y="3154680"/>
            <a:ext cx="1828800" cy="384048"/>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 Executor +</a:t>
            </a:r>
          </a:p>
          <a:p>
            <a:pPr algn="ctr">
              <a:spcAft>
                <a:spcPts val="0"/>
              </a:spcAft>
            </a:pPr>
            <a:r>
              <a:rPr sz="650" b="0" i="0">
                <a:solidFill>
                  <a:srgbClr val="000000"/>
                </a:solidFill>
                <a:latin typeface="맑은 고딕"/>
                <a:ea typeface="맑은 고딕"/>
                <a:cs typeface="맑은 고딕"/>
              </a:rPr>
              <a:t>Transfer Handler (DMA)</a:t>
            </a:r>
          </a:p>
        </p:txBody>
      </p:sp>
      <p:sp>
        <p:nvSpPr>
          <p:cNvPr id="57" name="Rectangle 56"/>
          <p:cNvSpPr/>
          <p:nvPr/>
        </p:nvSpPr>
        <p:spPr>
          <a:xfrm>
            <a:off x="8705088" y="318211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6995160" y="3703320"/>
            <a:ext cx="1828800" cy="384048"/>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DP1 Connector — worker role</a:t>
            </a:r>
          </a:p>
        </p:txBody>
      </p:sp>
      <p:sp>
        <p:nvSpPr>
          <p:cNvPr id="59" name="Rectangle 58"/>
          <p:cNvSpPr/>
          <p:nvPr/>
        </p:nvSpPr>
        <p:spPr>
          <a:xfrm>
            <a:off x="8705088" y="373075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6995160" y="4251960"/>
            <a:ext cx="1828800" cy="45720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Metadata Client (Client Library)</a:t>
            </a:r>
          </a:p>
          <a:p>
            <a:pPr algn="ctr">
              <a:spcAft>
                <a:spcPts val="0"/>
              </a:spcAft>
            </a:pPr>
            <a:r>
              <a:rPr sz="650" b="0" i="0">
                <a:solidFill>
                  <a:srgbClr val="000000"/>
                </a:solidFill>
                <a:latin typeface="맑은 고딕"/>
                <a:ea typeface="맑은 고딕"/>
                <a:cs typeface="맑은 고딕"/>
              </a:rPr>
              <a:t>+ Memory Backend Adapter</a:t>
            </a:r>
          </a:p>
        </p:txBody>
      </p:sp>
      <p:sp>
        <p:nvSpPr>
          <p:cNvPr id="61" name="Rectangle 60"/>
          <p:cNvSpPr/>
          <p:nvPr/>
        </p:nvSpPr>
        <p:spPr>
          <a:xfrm>
            <a:off x="8705088" y="42793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9372600" y="1481328"/>
            <a:ext cx="2468880" cy="347472"/>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Query Sampler → Attention Manager</a:t>
            </a:r>
          </a:p>
        </p:txBody>
      </p:sp>
      <p:sp>
        <p:nvSpPr>
          <p:cNvPr id="63" name="Rectangle 62"/>
          <p:cNvSpPr/>
          <p:nvPr/>
        </p:nvSpPr>
        <p:spPr>
          <a:xfrm>
            <a:off x="11722607" y="1508760"/>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9372600" y="1901952"/>
            <a:ext cx="2468880" cy="347472"/>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KV Sampler / Recompute-Token Selector</a:t>
            </a:r>
          </a:p>
        </p:txBody>
      </p:sp>
      <p:sp>
        <p:nvSpPr>
          <p:cNvPr id="65" name="Rectangle 64"/>
          <p:cNvSpPr/>
          <p:nvPr/>
        </p:nvSpPr>
        <p:spPr>
          <a:xfrm>
            <a:off x="11722607" y="1929384"/>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9372600" y="2414016"/>
            <a:ext cx="2468880" cy="384048"/>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«datastore» Plan Store (write 1회)</a:t>
            </a:r>
          </a:p>
        </p:txBody>
      </p:sp>
      <p:sp>
        <p:nvSpPr>
          <p:cNvPr id="67" name="Rectangle 66"/>
          <p:cNvSpPr/>
          <p:nvPr/>
        </p:nvSpPr>
        <p:spPr>
          <a:xfrm>
            <a:off x="11722607" y="2441448"/>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9372600" y="3429000"/>
            <a:ext cx="2468880" cy="329184"/>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Shard Router: hash(Data Object ID) → Worker</a:t>
            </a:r>
          </a:p>
        </p:txBody>
      </p:sp>
      <p:sp>
        <p:nvSpPr>
          <p:cNvPr id="69" name="Rectangle 68"/>
          <p:cNvSpPr/>
          <p:nvPr/>
        </p:nvSpPr>
        <p:spPr>
          <a:xfrm>
            <a:off x="11722607" y="34564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9372600" y="3886200"/>
            <a:ext cx="777240" cy="41148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Worker 0</a:t>
            </a:r>
          </a:p>
          <a:p>
            <a:pPr algn="ctr">
              <a:spcAft>
                <a:spcPts val="0"/>
              </a:spcAft>
            </a:pPr>
            <a:r>
              <a:rPr sz="650" b="0" i="0">
                <a:solidFill>
                  <a:srgbClr val="000000"/>
                </a:solidFill>
                <a:latin typeface="맑은 고딕"/>
                <a:ea typeface="맑은 고딕"/>
                <a:cs typeface="맑은 고딕"/>
              </a:rPr>
              <a:t>Shard S0·LRU</a:t>
            </a:r>
          </a:p>
        </p:txBody>
      </p:sp>
      <p:sp>
        <p:nvSpPr>
          <p:cNvPr id="71" name="Rectangle 70"/>
          <p:cNvSpPr/>
          <p:nvPr/>
        </p:nvSpPr>
        <p:spPr>
          <a:xfrm>
            <a:off x="10030967" y="39136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10241280" y="3886200"/>
            <a:ext cx="777240" cy="41148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Worker 1</a:t>
            </a:r>
          </a:p>
          <a:p>
            <a:pPr algn="ctr">
              <a:spcAft>
                <a:spcPts val="0"/>
              </a:spcAft>
            </a:pPr>
            <a:r>
              <a:rPr sz="650" b="0" i="0">
                <a:solidFill>
                  <a:srgbClr val="000000"/>
                </a:solidFill>
                <a:latin typeface="맑은 고딕"/>
                <a:ea typeface="맑은 고딕"/>
                <a:cs typeface="맑은 고딕"/>
              </a:rPr>
              <a:t>Shard S1·LRU</a:t>
            </a:r>
          </a:p>
        </p:txBody>
      </p:sp>
      <p:sp>
        <p:nvSpPr>
          <p:cNvPr id="73" name="Rectangle 72"/>
          <p:cNvSpPr/>
          <p:nvPr/>
        </p:nvSpPr>
        <p:spPr>
          <a:xfrm>
            <a:off x="10899647" y="39136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11109960" y="3886200"/>
            <a:ext cx="777240" cy="41148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Worker 2</a:t>
            </a:r>
          </a:p>
          <a:p>
            <a:pPr algn="ctr">
              <a:spcAft>
                <a:spcPts val="0"/>
              </a:spcAft>
            </a:pPr>
            <a:r>
              <a:rPr sz="650" b="0" i="0">
                <a:solidFill>
                  <a:srgbClr val="000000"/>
                </a:solidFill>
                <a:latin typeface="맑은 고딕"/>
                <a:ea typeface="맑은 고딕"/>
                <a:cs typeface="맑은 고딕"/>
              </a:rPr>
              <a:t>Shard S2·LRU</a:t>
            </a:r>
          </a:p>
        </p:txBody>
      </p:sp>
      <p:sp>
        <p:nvSpPr>
          <p:cNvPr id="75" name="Rectangle 74"/>
          <p:cNvSpPr/>
          <p:nvPr/>
        </p:nvSpPr>
        <p:spPr>
          <a:xfrm>
            <a:off x="11768328" y="39136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9372600" y="4389120"/>
            <a:ext cx="2468880" cy="347472"/>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Shard별 Metadata / Allocator / LRU</a:t>
            </a:r>
          </a:p>
        </p:txBody>
      </p:sp>
      <p:sp>
        <p:nvSpPr>
          <p:cNvPr id="77" name="Rectangle 76"/>
          <p:cNvSpPr/>
          <p:nvPr/>
        </p:nvSpPr>
        <p:spPr>
          <a:xfrm>
            <a:off x="11722607" y="441655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457200" y="5669280"/>
            <a:ext cx="201168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HBM</a:t>
            </a:r>
          </a:p>
          <a:p>
            <a:pPr algn="ctr">
              <a:spcAft>
                <a:spcPts val="0"/>
              </a:spcAft>
            </a:pPr>
            <a:r>
              <a:rPr sz="650" b="0" i="0">
                <a:solidFill>
                  <a:srgbClr val="000000"/>
                </a:solidFill>
                <a:latin typeface="맑은 고딕"/>
                <a:ea typeface="맑은 고딕"/>
                <a:cs typeface="맑은 고딕"/>
              </a:rPr>
              <a:t>(KV Pool)</a:t>
            </a:r>
          </a:p>
        </p:txBody>
      </p:sp>
      <p:sp>
        <p:nvSpPr>
          <p:cNvPr id="79" name="Rectangle 78"/>
          <p:cNvSpPr/>
          <p:nvPr/>
        </p:nvSpPr>
        <p:spPr>
          <a:xfrm>
            <a:off x="2350008" y="569671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2743200" y="5669280"/>
            <a:ext cx="201168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DRAM</a:t>
            </a:r>
          </a:p>
          <a:p>
            <a:pPr algn="ctr">
              <a:spcAft>
                <a:spcPts val="0"/>
              </a:spcAft>
            </a:pPr>
            <a:r>
              <a:rPr sz="650" b="0" i="0">
                <a:solidFill>
                  <a:srgbClr val="000000"/>
                </a:solidFill>
                <a:latin typeface="맑은 고딕"/>
                <a:ea typeface="맑은 고딕"/>
                <a:cs typeface="맑은 고딕"/>
              </a:rPr>
              <a:t>(CPU offload)</a:t>
            </a:r>
          </a:p>
        </p:txBody>
      </p:sp>
      <p:sp>
        <p:nvSpPr>
          <p:cNvPr id="81" name="Rectangle 80"/>
          <p:cNvSpPr/>
          <p:nvPr/>
        </p:nvSpPr>
        <p:spPr>
          <a:xfrm>
            <a:off x="4636008" y="569671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5029200" y="5669280"/>
            <a:ext cx="201168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SSD</a:t>
            </a:r>
          </a:p>
        </p:txBody>
      </p:sp>
      <p:sp>
        <p:nvSpPr>
          <p:cNvPr id="83" name="Rectangle 82"/>
          <p:cNvSpPr/>
          <p:nvPr/>
        </p:nvSpPr>
        <p:spPr>
          <a:xfrm>
            <a:off x="6922008" y="569671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7315200" y="5669280"/>
            <a:ext cx="2011680" cy="5029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dirty="0">
                <a:solidFill>
                  <a:srgbClr val="000000"/>
                </a:solidFill>
                <a:latin typeface="맑은 고딕"/>
                <a:ea typeface="맑은 고딕"/>
                <a:cs typeface="맑은 고딕"/>
              </a:rPr>
              <a:t>CXL-PNM / </a:t>
            </a:r>
            <a:r>
              <a:rPr sz="650" b="0" i="0" dirty="0" err="1">
                <a:solidFill>
                  <a:srgbClr val="000000"/>
                </a:solidFill>
                <a:latin typeface="맑은 고딕"/>
                <a:ea typeface="맑은 고딕"/>
                <a:cs typeface="맑은 고딕"/>
              </a:rPr>
              <a:t>ScHBM</a:t>
            </a:r>
            <a:r>
              <a:rPr sz="650" b="0" i="0" dirty="0">
                <a:solidFill>
                  <a:srgbClr val="000000"/>
                </a:solidFill>
                <a:latin typeface="맑은 고딕"/>
                <a:ea typeface="맑은 고딕"/>
                <a:cs typeface="맑은 고딕"/>
              </a:rPr>
              <a:t> / HBF</a:t>
            </a:r>
          </a:p>
          <a:p>
            <a:pPr algn="ctr">
              <a:spcAft>
                <a:spcPts val="0"/>
              </a:spcAft>
            </a:pPr>
            <a:r>
              <a:rPr sz="650" b="0" i="0" dirty="0">
                <a:solidFill>
                  <a:srgbClr val="000000"/>
                </a:solidFill>
                <a:latin typeface="맑은 고딕"/>
                <a:ea typeface="맑은 고딕"/>
                <a:cs typeface="맑은 고딕"/>
              </a:rPr>
              <a:t>(</a:t>
            </a:r>
            <a:r>
              <a:rPr sz="650" b="0" i="0" dirty="0" err="1">
                <a:solidFill>
                  <a:srgbClr val="000000"/>
                </a:solidFill>
                <a:latin typeface="맑은 고딕"/>
                <a:ea typeface="맑은 고딕"/>
                <a:cs typeface="맑은 고딕"/>
              </a:rPr>
              <a:t>시뮬레이션</a:t>
            </a:r>
            <a:r>
              <a:rPr sz="650" b="0" i="0" dirty="0">
                <a:solidFill>
                  <a:srgbClr val="000000"/>
                </a:solidFill>
                <a:latin typeface="맑은 고딕"/>
                <a:ea typeface="맑은 고딕"/>
                <a:cs typeface="맑은 고딕"/>
              </a:rPr>
              <a:t>)</a:t>
            </a:r>
          </a:p>
        </p:txBody>
      </p:sp>
      <p:sp>
        <p:nvSpPr>
          <p:cNvPr id="85" name="Rectangle 84"/>
          <p:cNvSpPr/>
          <p:nvPr/>
        </p:nvSpPr>
        <p:spPr>
          <a:xfrm>
            <a:off x="9208007" y="569671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9601200" y="5669280"/>
            <a:ext cx="2011680" cy="502920"/>
          </a:xfrm>
          <a:prstGeom prst="rect">
            <a:avLst/>
          </a:prstGeom>
          <a:solidFill>
            <a:srgbClr val="FFFFFF"/>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CXL 공유 풀</a:t>
            </a:r>
          </a:p>
          <a:p>
            <a:pPr algn="ctr">
              <a:spcAft>
                <a:spcPts val="0"/>
              </a:spcAft>
            </a:pPr>
            <a:r>
              <a:rPr sz="650" b="0" i="0">
                <a:solidFill>
                  <a:srgbClr val="000000"/>
                </a:solidFill>
                <a:latin typeface="맑은 고딕"/>
                <a:ea typeface="맑은 고딕"/>
                <a:cs typeface="맑은 고딕"/>
              </a:rPr>
              <a:t>(서버 간)</a:t>
            </a:r>
          </a:p>
        </p:txBody>
      </p:sp>
      <p:sp>
        <p:nvSpPr>
          <p:cNvPr id="87" name="Rectangle 86"/>
          <p:cNvSpPr/>
          <p:nvPr/>
        </p:nvSpPr>
        <p:spPr>
          <a:xfrm>
            <a:off x="11494007" y="569671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8" name="Connector 87"/>
          <p:cNvCxnSpPr/>
          <p:nvPr/>
        </p:nvCxnSpPr>
        <p:spPr>
          <a:xfrm>
            <a:off x="1005840" y="1965960"/>
            <a:ext cx="0" cy="22860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1126083" y="1984248"/>
            <a:ext cx="308152" cy="146304"/>
          </a:xfrm>
          <a:prstGeom prst="rect">
            <a:avLst/>
          </a:prstGeom>
          <a:noFill/>
        </p:spPr>
        <p:txBody>
          <a:bodyPr wrap="none" lIns="0" tIns="18288" rIns="0" bIns="18288" anchor="t">
            <a:spAutoFit/>
          </a:bodyPr>
          <a:lstStyle/>
          <a:p>
            <a:pPr algn="ctr">
              <a:spcAft>
                <a:spcPts val="0"/>
              </a:spcAft>
            </a:pPr>
            <a:r>
              <a:rPr sz="550" b="0" i="0">
                <a:solidFill>
                  <a:srgbClr val="404040"/>
                </a:solidFill>
                <a:latin typeface="맑은 고딕"/>
                <a:ea typeface="맑은 고딕"/>
                <a:cs typeface="맑은 고딕"/>
              </a:rPr>
              <a:t>HTTP</a:t>
            </a:r>
          </a:p>
        </p:txBody>
      </p:sp>
      <p:cxnSp>
        <p:nvCxnSpPr>
          <p:cNvPr id="90" name="Connector 89"/>
          <p:cNvCxnSpPr/>
          <p:nvPr/>
        </p:nvCxnSpPr>
        <p:spPr>
          <a:xfrm>
            <a:off x="1005840" y="2743200"/>
            <a:ext cx="0" cy="228600"/>
          </a:xfrm>
          <a:prstGeom prst="line">
            <a:avLst/>
          </a:prstGeom>
          <a:ln w="12700">
            <a:solidFill>
              <a:srgbClr val="7F7F7F"/>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600200" y="3200400"/>
            <a:ext cx="411480" cy="0"/>
          </a:xfrm>
          <a:prstGeom prst="line">
            <a:avLst/>
          </a:prstGeom>
          <a:ln w="12700">
            <a:solidFill>
              <a:srgbClr val="2E75B6"/>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1668665" y="2999232"/>
            <a:ext cx="265404" cy="146304"/>
          </a:xfrm>
          <a:prstGeom prst="rect">
            <a:avLst/>
          </a:prstGeom>
          <a:noFill/>
        </p:spPr>
        <p:txBody>
          <a:bodyPr wrap="none" lIns="0" tIns="18288" rIns="0" bIns="18288" anchor="t">
            <a:spAutoFit/>
          </a:bodyPr>
          <a:lstStyle/>
          <a:p>
            <a:pPr algn="ctr">
              <a:spcAft>
                <a:spcPts val="0"/>
              </a:spcAft>
            </a:pPr>
            <a:r>
              <a:rPr sz="550" b="0" i="0">
                <a:solidFill>
                  <a:srgbClr val="2E75B6"/>
                </a:solidFill>
                <a:latin typeface="맑은 고딕"/>
                <a:ea typeface="맑은 고딕"/>
                <a:cs typeface="맑은 고딕"/>
              </a:rPr>
              <a:t>ZMQ</a:t>
            </a:r>
          </a:p>
        </p:txBody>
      </p:sp>
      <p:cxnSp>
        <p:nvCxnSpPr>
          <p:cNvPr id="93" name="Connector 92"/>
          <p:cNvCxnSpPr/>
          <p:nvPr/>
        </p:nvCxnSpPr>
        <p:spPr>
          <a:xfrm>
            <a:off x="3474720" y="1737360"/>
            <a:ext cx="137160" cy="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4983480" y="1737360"/>
            <a:ext cx="137160" cy="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788920" y="1965960"/>
            <a:ext cx="0" cy="13716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2788920" y="2560320"/>
            <a:ext cx="0" cy="13716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297680" y="1965960"/>
            <a:ext cx="0" cy="137160"/>
          </a:xfrm>
          <a:prstGeom prst="line">
            <a:avLst/>
          </a:prstGeom>
          <a:ln w="12700">
            <a:solidFill>
              <a:srgbClr val="7F7F7F"/>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4983480" y="2331720"/>
            <a:ext cx="137160" cy="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806440" y="2560320"/>
            <a:ext cx="0" cy="137160"/>
          </a:xfrm>
          <a:prstGeom prst="line">
            <a:avLst/>
          </a:prstGeom>
          <a:ln w="12700">
            <a:solidFill>
              <a:srgbClr val="7F7F7F"/>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4297680" y="3154680"/>
            <a:ext cx="0" cy="13716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a:off x="3474720" y="2926080"/>
            <a:ext cx="137160" cy="0"/>
          </a:xfrm>
          <a:prstGeom prst="line">
            <a:avLst/>
          </a:prstGeom>
          <a:ln w="12700">
            <a:solidFill>
              <a:srgbClr val="595959"/>
            </a:solidFill>
            <a:prstDash val="dash"/>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a:off x="3474720" y="3520440"/>
            <a:ext cx="137160" cy="0"/>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4983480" y="3520440"/>
            <a:ext cx="137160" cy="0"/>
          </a:xfrm>
          <a:prstGeom prst="line">
            <a:avLst/>
          </a:prstGeom>
          <a:ln w="12700">
            <a:solidFill>
              <a:srgbClr val="7F7F7F"/>
            </a:solidFill>
            <a:prstDash val="dash"/>
            <a:head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788920" y="3749039"/>
            <a:ext cx="0" cy="274321"/>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2834639" y="3749039"/>
            <a:ext cx="822960" cy="146304"/>
          </a:xfrm>
          <a:prstGeom prst="rect">
            <a:avLst/>
          </a:prstGeom>
          <a:noFill/>
        </p:spPr>
        <p:txBody>
          <a:bodyPr wrap="none" lIns="0" tIns="18288" rIns="0" bIns="18288" anchor="t">
            <a:spAutoFit/>
          </a:bodyPr>
          <a:lstStyle/>
          <a:p>
            <a:pPr algn="ctr">
              <a:spcAft>
                <a:spcPts val="0"/>
              </a:spcAft>
            </a:pPr>
            <a:r>
              <a:rPr sz="550" b="0" i="0">
                <a:solidFill>
                  <a:srgbClr val="404040"/>
                </a:solidFill>
                <a:latin typeface="맑은 고딕"/>
                <a:ea typeface="맑은 고딕"/>
                <a:cs typeface="맑은 고딕"/>
              </a:rPr>
              <a:t>migration intent</a:t>
            </a:r>
          </a:p>
        </p:txBody>
      </p:sp>
      <p:cxnSp>
        <p:nvCxnSpPr>
          <p:cNvPr id="106" name="Connector 105"/>
          <p:cNvCxnSpPr/>
          <p:nvPr/>
        </p:nvCxnSpPr>
        <p:spPr>
          <a:xfrm>
            <a:off x="4983479" y="4251960"/>
            <a:ext cx="137161" cy="0"/>
          </a:xfrm>
          <a:prstGeom prst="line">
            <a:avLst/>
          </a:prstGeom>
          <a:ln w="1270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6492240" y="1700784"/>
            <a:ext cx="502920" cy="36576"/>
          </a:xfrm>
          <a:prstGeom prst="line">
            <a:avLst/>
          </a:prstGeom>
          <a:ln w="1651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6492240" y="3895344"/>
            <a:ext cx="502920" cy="356616"/>
          </a:xfrm>
          <a:prstGeom prst="line">
            <a:avLst/>
          </a:prstGeom>
          <a:ln w="13970">
            <a:solidFill>
              <a:srgbClr val="2E75B6"/>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7909560" y="1892807"/>
            <a:ext cx="0" cy="164593"/>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7909560" y="2441448"/>
            <a:ext cx="0" cy="164592"/>
          </a:xfrm>
          <a:prstGeom prst="line">
            <a:avLst/>
          </a:prstGeom>
          <a:ln w="12700">
            <a:solidFill>
              <a:srgbClr val="7F7F7F"/>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7909560" y="2990088"/>
            <a:ext cx="0" cy="164592"/>
          </a:xfrm>
          <a:prstGeom prst="line">
            <a:avLst/>
          </a:prstGeom>
          <a:ln w="12700">
            <a:solidFill>
              <a:srgbClr val="7F7F7F"/>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909560" y="3538728"/>
            <a:ext cx="0" cy="164592"/>
          </a:xfrm>
          <a:prstGeom prst="line">
            <a:avLst/>
          </a:prstGeom>
          <a:ln w="12700">
            <a:solidFill>
              <a:srgbClr val="2E75B6"/>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7909560" y="4087368"/>
            <a:ext cx="0" cy="164592"/>
          </a:xfrm>
          <a:prstGeom prst="line">
            <a:avLst/>
          </a:prstGeom>
          <a:ln w="15240">
            <a:solidFill>
              <a:srgbClr val="C55A11"/>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8823960" y="2606040"/>
            <a:ext cx="548640" cy="192024"/>
          </a:xfrm>
          <a:prstGeom prst="line">
            <a:avLst/>
          </a:prstGeom>
          <a:ln w="13970">
            <a:solidFill>
              <a:srgbClr val="7030A0"/>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8842248" y="2414016"/>
            <a:ext cx="548640" cy="146304"/>
          </a:xfrm>
          <a:prstGeom prst="rect">
            <a:avLst/>
          </a:prstGeom>
          <a:noFill/>
        </p:spPr>
        <p:txBody>
          <a:bodyPr wrap="none" lIns="0" tIns="18288" rIns="0" bIns="18288" anchor="t">
            <a:spAutoFit/>
          </a:bodyPr>
          <a:lstStyle/>
          <a:p>
            <a:pPr algn="ctr">
              <a:spcAft>
                <a:spcPts val="0"/>
              </a:spcAft>
            </a:pPr>
            <a:r>
              <a:rPr sz="550" b="0" i="0">
                <a:solidFill>
                  <a:srgbClr val="7030A0"/>
                </a:solidFill>
                <a:latin typeface="맑은 고딕"/>
                <a:ea typeface="맑은 고딕"/>
                <a:cs typeface="맑은 고딕"/>
              </a:rPr>
              <a:t>재계산 위치</a:t>
            </a:r>
          </a:p>
        </p:txBody>
      </p:sp>
      <p:cxnSp>
        <p:nvCxnSpPr>
          <p:cNvPr id="116" name="Connector 115"/>
          <p:cNvCxnSpPr/>
          <p:nvPr/>
        </p:nvCxnSpPr>
        <p:spPr>
          <a:xfrm>
            <a:off x="10607040" y="2286000"/>
            <a:ext cx="0" cy="128016"/>
          </a:xfrm>
          <a:prstGeom prst="line">
            <a:avLst/>
          </a:prstGeom>
          <a:ln w="12700">
            <a:solidFill>
              <a:srgbClr val="7030A0"/>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8823960" y="4480560"/>
            <a:ext cx="548640" cy="0"/>
          </a:xfrm>
          <a:prstGeom prst="line">
            <a:avLst/>
          </a:prstGeom>
          <a:ln w="16510">
            <a:solidFill>
              <a:srgbClr val="548235"/>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8942832" y="4297680"/>
            <a:ext cx="365760" cy="146304"/>
          </a:xfrm>
          <a:prstGeom prst="rect">
            <a:avLst/>
          </a:prstGeom>
          <a:noFill/>
        </p:spPr>
        <p:txBody>
          <a:bodyPr wrap="none" lIns="0" tIns="18288" rIns="0" bIns="18288" anchor="t">
            <a:spAutoFit/>
          </a:bodyPr>
          <a:lstStyle/>
          <a:p>
            <a:pPr algn="ctr">
              <a:spcAft>
                <a:spcPts val="0"/>
              </a:spcAft>
            </a:pPr>
            <a:r>
              <a:rPr sz="550" b="0" i="0">
                <a:solidFill>
                  <a:srgbClr val="548235"/>
                </a:solidFill>
                <a:latin typeface="맑은 고딕"/>
                <a:ea typeface="맑은 고딕"/>
                <a:cs typeface="맑은 고딕"/>
              </a:rPr>
              <a:t>RPC</a:t>
            </a:r>
          </a:p>
        </p:txBody>
      </p:sp>
      <p:cxnSp>
        <p:nvCxnSpPr>
          <p:cNvPr id="119" name="Connector 118"/>
          <p:cNvCxnSpPr/>
          <p:nvPr/>
        </p:nvCxnSpPr>
        <p:spPr>
          <a:xfrm>
            <a:off x="7909560" y="4709160"/>
            <a:ext cx="0" cy="960120"/>
          </a:xfrm>
          <a:prstGeom prst="line">
            <a:avLst/>
          </a:prstGeom>
          <a:ln w="16510">
            <a:solidFill>
              <a:srgbClr val="C55A1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8092440" y="4983480"/>
            <a:ext cx="914400" cy="146304"/>
          </a:xfrm>
          <a:prstGeom prst="rect">
            <a:avLst/>
          </a:prstGeom>
          <a:noFill/>
        </p:spPr>
        <p:txBody>
          <a:bodyPr wrap="none" lIns="0" tIns="18288" rIns="0" bIns="18288" anchor="t">
            <a:spAutoFit/>
          </a:bodyPr>
          <a:lstStyle/>
          <a:p>
            <a:pPr algn="ctr">
              <a:spcAft>
                <a:spcPts val="0"/>
              </a:spcAft>
            </a:pPr>
            <a:r>
              <a:rPr sz="550" b="0" i="0">
                <a:solidFill>
                  <a:srgbClr val="C55A11"/>
                </a:solidFill>
                <a:latin typeface="맑은 고딕"/>
                <a:ea typeface="맑은 고딕"/>
                <a:cs typeface="맑은 고딕"/>
              </a:rPr>
              <a:t>data (DMA / NIXL)</a:t>
            </a:r>
          </a:p>
        </p:txBody>
      </p:sp>
      <p:cxnSp>
        <p:nvCxnSpPr>
          <p:cNvPr id="121" name="Connector 120"/>
          <p:cNvCxnSpPr/>
          <p:nvPr/>
        </p:nvCxnSpPr>
        <p:spPr>
          <a:xfrm>
            <a:off x="10607040" y="4846320"/>
            <a:ext cx="0" cy="822960"/>
          </a:xfrm>
          <a:prstGeom prst="line">
            <a:avLst/>
          </a:prstGeom>
          <a:ln w="16510">
            <a:solidFill>
              <a:srgbClr val="548235"/>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10835640" y="4901184"/>
            <a:ext cx="822960" cy="146304"/>
          </a:xfrm>
          <a:prstGeom prst="rect">
            <a:avLst/>
          </a:prstGeom>
          <a:noFill/>
        </p:spPr>
        <p:txBody>
          <a:bodyPr wrap="none" lIns="0" tIns="18288" rIns="0" bIns="18288" anchor="t">
            <a:spAutoFit/>
          </a:bodyPr>
          <a:lstStyle/>
          <a:p>
            <a:pPr algn="ctr">
              <a:spcAft>
                <a:spcPts val="0"/>
              </a:spcAft>
            </a:pPr>
            <a:r>
              <a:rPr sz="550" b="0" i="0">
                <a:solidFill>
                  <a:srgbClr val="548235"/>
                </a:solidFill>
                <a:latin typeface="맑은 고딕"/>
                <a:ea typeface="맑은 고딕"/>
                <a:cs typeface="맑은 고딕"/>
              </a:rPr>
              <a:t>load/store (CXL)</a:t>
            </a:r>
          </a:p>
        </p:txBody>
      </p:sp>
      <p:sp>
        <p:nvSpPr>
          <p:cNvPr id="123" name="TextBox 122"/>
          <p:cNvSpPr txBox="1"/>
          <p:nvPr/>
        </p:nvSpPr>
        <p:spPr>
          <a:xfrm>
            <a:off x="274320" y="3566160"/>
            <a:ext cx="1691640" cy="1463040"/>
          </a:xfrm>
          <a:prstGeom prst="rect">
            <a:avLst/>
          </a:prstGeom>
          <a:noFill/>
        </p:spPr>
        <p:txBody>
          <a:bodyPr wrap="square" lIns="36576" tIns="18288" rIns="36576" bIns="18288" anchor="t">
            <a:spAutoFit/>
          </a:bodyPr>
          <a:lstStyle/>
          <a:p>
            <a:pPr algn="l">
              <a:spcAft>
                <a:spcPts val="0"/>
              </a:spcAft>
            </a:pPr>
            <a:r>
              <a:rPr sz="700" b="1" i="0">
                <a:solidFill>
                  <a:srgbClr val="000000"/>
                </a:solidFill>
                <a:latin typeface="맑은 고딕"/>
                <a:ea typeface="맑은 고딕"/>
                <a:cs typeface="맑은 고딕"/>
              </a:rPr>
              <a:t>Legend</a:t>
            </a:r>
          </a:p>
          <a:p>
            <a:pPr algn="l">
              <a:spcAft>
                <a:spcPts val="0"/>
              </a:spcAft>
            </a:pPr>
            <a:r>
              <a:rPr sz="650" b="0" i="0">
                <a:solidFill>
                  <a:srgbClr val="000000"/>
                </a:solidFill>
                <a:latin typeface="맑은 고딕"/>
                <a:ea typeface="맑은 고딕"/>
                <a:cs typeface="맑은 고딕"/>
              </a:rPr>
              <a:t>━▶ call / 동기</a:t>
            </a:r>
          </a:p>
          <a:p>
            <a:pPr algn="l">
              <a:spcAft>
                <a:spcPts val="0"/>
              </a:spcAft>
            </a:pPr>
            <a:r>
              <a:rPr sz="650" b="0" i="0">
                <a:solidFill>
                  <a:srgbClr val="2E75B6"/>
                </a:solidFill>
                <a:latin typeface="맑은 고딕"/>
                <a:ea typeface="맑은 고딕"/>
                <a:cs typeface="맑은 고딕"/>
              </a:rPr>
              <a:t>┅▶ event / 비동기</a:t>
            </a:r>
          </a:p>
          <a:p>
            <a:pPr algn="l">
              <a:spcAft>
                <a:spcPts val="0"/>
              </a:spcAft>
            </a:pPr>
            <a:r>
              <a:rPr sz="600" b="0" i="0">
                <a:solidFill>
                  <a:srgbClr val="595959"/>
                </a:solidFill>
                <a:latin typeface="맑은 고딕"/>
                <a:ea typeface="맑은 고딕"/>
                <a:cs typeface="맑은 고딕"/>
              </a:rPr>
              <a:t>EngineCore→Worker: collective_rpc (shm MQ)</a:t>
            </a:r>
          </a:p>
          <a:p>
            <a:pPr algn="l">
              <a:spcAft>
                <a:spcPts val="0"/>
              </a:spcAft>
            </a:pPr>
            <a:r>
              <a:rPr sz="600" b="0" i="0">
                <a:solidFill>
                  <a:srgbClr val="2E75B6"/>
                </a:solidFill>
                <a:latin typeface="맑은 고딕"/>
                <a:ea typeface="맑은 고딕"/>
                <a:cs typeface="맑은 고딕"/>
              </a:rPr>
              <a:t>scheduler↔worker: KVConnectorMetadata</a:t>
            </a:r>
          </a:p>
          <a:p>
            <a:pPr algn="l">
              <a:spcAft>
                <a:spcPts val="0"/>
              </a:spcAft>
            </a:pPr>
            <a:r>
              <a:rPr sz="650" b="0" i="0">
                <a:solidFill>
                  <a:srgbClr val="C55A11"/>
                </a:solidFill>
                <a:latin typeface="맑은 고딕"/>
                <a:ea typeface="맑은 고딕"/>
                <a:cs typeface="맑은 고딕"/>
              </a:rPr>
              <a:t>━▶ data flow</a:t>
            </a:r>
          </a:p>
          <a:p>
            <a:pPr algn="l">
              <a:spcAft>
                <a:spcPts val="0"/>
              </a:spcAft>
            </a:pPr>
            <a:r>
              <a:rPr sz="650" b="0" i="0">
                <a:solidFill>
                  <a:srgbClr val="000000"/>
                </a:solidFill>
                <a:latin typeface="맑은 고딕"/>
                <a:ea typeface="맑은 고딕"/>
                <a:cs typeface="맑은 고딕"/>
              </a:rPr>
              <a:t>노란 fill = 신규/수정</a:t>
            </a:r>
          </a:p>
          <a:p>
            <a:pPr algn="l">
              <a:spcAft>
                <a:spcPts val="0"/>
              </a:spcAft>
            </a:pPr>
            <a:r>
              <a:rPr sz="650" b="0" i="0">
                <a:solidFill>
                  <a:srgbClr val="000000"/>
                </a:solidFill>
                <a:latin typeface="맑은 고딕"/>
                <a:ea typeface="맑은 고딕"/>
                <a:cs typeface="맑은 고딕"/>
              </a:rPr>
              <a:t>테두리색 = 담당 DP</a:t>
            </a:r>
          </a:p>
        </p:txBody>
      </p:sp>
      <p:sp>
        <p:nvSpPr>
          <p:cNvPr id="124" name="실행 단추: 앞으로 또는 다음으로 이동 123">
            <a:hlinkClick r:id="rId3" action="ppaction://hlinksldjump" highlightClick="1"/>
            <a:extLst>
              <a:ext uri="{FF2B5EF4-FFF2-40B4-BE49-F238E27FC236}">
                <a16:creationId xmlns:a16="http://schemas.microsoft.com/office/drawing/2014/main" id="{D9878A3F-DEC2-42F2-A175-ED336F474BD8}"/>
              </a:ext>
            </a:extLst>
          </p:cNvPr>
          <p:cNvSpPr/>
          <p:nvPr/>
        </p:nvSpPr>
        <p:spPr>
          <a:xfrm>
            <a:off x="11620500" y="638903"/>
            <a:ext cx="266700" cy="246887"/>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C61D8CBB-276C-45A5-BFE9-89A2070AC449}"/>
              </a:ext>
            </a:extLst>
          </p:cNvPr>
          <p:cNvSpPr txBox="1"/>
          <p:nvPr/>
        </p:nvSpPr>
        <p:spPr>
          <a:xfrm>
            <a:off x="10208207" y="638902"/>
            <a:ext cx="1475084" cy="261610"/>
          </a:xfrm>
          <a:prstGeom prst="rect">
            <a:avLst/>
          </a:prstGeom>
          <a:noFill/>
        </p:spPr>
        <p:txBody>
          <a:bodyPr wrap="none" rtlCol="0">
            <a:spAutoFit/>
          </a:bodyPr>
          <a:lstStyle/>
          <a:p>
            <a:r>
              <a:rPr lang="ko-KR" altLang="en-US" sz="1050" b="1" dirty="0"/>
              <a:t>전체 </a:t>
            </a:r>
            <a:r>
              <a:rPr lang="en-US" altLang="ko-KR" sz="1050" b="1" dirty="0"/>
              <a:t>Class Diagram</a:t>
            </a:r>
            <a:endParaRPr lang="ko-KR" altLang="en-US" sz="1050" b="1" dirty="0"/>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최종 구조 설계 – Deployment View</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16</a:t>
            </a:r>
          </a:p>
        </p:txBody>
      </p:sp>
      <p:sp>
        <p:nvSpPr>
          <p:cNvPr id="4" name="Rectangle 3"/>
          <p:cNvSpPr/>
          <p:nvPr/>
        </p:nvSpPr>
        <p:spPr>
          <a:xfrm>
            <a:off x="274320" y="68580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1) 단일 노드 Deployment (GPU 8장 서버, 평가: SYS-H100 / SYS-B200)</a:t>
            </a:r>
          </a:p>
        </p:txBody>
      </p:sp>
      <p:sp>
        <p:nvSpPr>
          <p:cNvPr id="5" name="Rectangle 4"/>
          <p:cNvSpPr/>
          <p:nvPr/>
        </p:nvSpPr>
        <p:spPr>
          <a:xfrm>
            <a:off x="365760" y="1325880"/>
            <a:ext cx="5486400" cy="4937760"/>
          </a:xfrm>
          <a:prstGeom prst="rect">
            <a:avLst/>
          </a:prstGeom>
          <a:solidFill>
            <a:srgbClr val="F2F2F2"/>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852160" y="1389888"/>
            <a:ext cx="64008" cy="4937760"/>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261872"/>
            <a:ext cx="5486400" cy="64008"/>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344168"/>
            <a:ext cx="548640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«device» GPU Server (Node)</a:t>
            </a:r>
          </a:p>
        </p:txBody>
      </p:sp>
      <p:sp>
        <p:nvSpPr>
          <p:cNvPr id="9" name="Rectangle 8"/>
          <p:cNvSpPr/>
          <p:nvPr/>
        </p:nvSpPr>
        <p:spPr>
          <a:xfrm>
            <a:off x="502920" y="1691640"/>
            <a:ext cx="2240280" cy="1600200"/>
          </a:xfrm>
          <a:prstGeom prst="rect">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0" y="1755648"/>
            <a:ext cx="64008" cy="1600200"/>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1627632"/>
            <a:ext cx="2240280" cy="64008"/>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1709928"/>
            <a:ext cx="224028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«execution environment» Host CPU / DRAM</a:t>
            </a:r>
          </a:p>
        </p:txBody>
      </p:sp>
      <p:sp>
        <p:nvSpPr>
          <p:cNvPr id="13" name="Rectangle 12"/>
          <p:cNvSpPr/>
          <p:nvPr/>
        </p:nvSpPr>
        <p:spPr>
          <a:xfrm>
            <a:off x="594360" y="1965960"/>
            <a:ext cx="2057400" cy="36576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«executable» API Server</a:t>
            </a:r>
          </a:p>
          <a:p>
            <a:pPr algn="ctr">
              <a:spcAft>
                <a:spcPts val="0"/>
              </a:spcAft>
            </a:pPr>
            <a:r>
              <a:rPr sz="650" b="0" i="0">
                <a:solidFill>
                  <a:srgbClr val="000000"/>
                </a:solidFill>
                <a:latin typeface="맑은 고딕"/>
                <a:ea typeface="맑은 고딕"/>
                <a:cs typeface="맑은 고딕"/>
              </a:rPr>
              <a:t>(Input/Output Processor)</a:t>
            </a:r>
          </a:p>
        </p:txBody>
      </p:sp>
      <p:sp>
        <p:nvSpPr>
          <p:cNvPr id="14" name="Rectangle 13"/>
          <p:cNvSpPr/>
          <p:nvPr/>
        </p:nvSpPr>
        <p:spPr>
          <a:xfrm>
            <a:off x="2532888" y="199339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4360" y="2423160"/>
            <a:ext cx="2057400" cy="41148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«executable» EngineCore</a:t>
            </a:r>
          </a:p>
          <a:p>
            <a:pPr algn="ctr">
              <a:spcAft>
                <a:spcPts val="0"/>
              </a:spcAft>
            </a:pPr>
            <a:r>
              <a:rPr sz="650" b="0" i="0">
                <a:solidFill>
                  <a:srgbClr val="000000"/>
                </a:solidFill>
                <a:latin typeface="맑은 고딕"/>
                <a:ea typeface="맑은 고딕"/>
                <a:cs typeface="맑은 고딕"/>
              </a:rPr>
              <a:t>(Scheduler · Planner · DP1 Control)</a:t>
            </a:r>
          </a:p>
        </p:txBody>
      </p:sp>
      <p:sp>
        <p:nvSpPr>
          <p:cNvPr id="16" name="Rectangle 15"/>
          <p:cNvSpPr/>
          <p:nvPr/>
        </p:nvSpPr>
        <p:spPr>
          <a:xfrm>
            <a:off x="2532888" y="245059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94360" y="2880360"/>
            <a:ext cx="2057400" cy="32004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DRAM tier (CPU offload KV)</a:t>
            </a:r>
          </a:p>
        </p:txBody>
      </p:sp>
      <p:sp>
        <p:nvSpPr>
          <p:cNvPr id="18" name="Rectangle 17"/>
          <p:cNvSpPr/>
          <p:nvPr/>
        </p:nvSpPr>
        <p:spPr>
          <a:xfrm>
            <a:off x="2532888" y="290779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926080" y="1691640"/>
            <a:ext cx="2834640" cy="3154680"/>
          </a:xfrm>
          <a:prstGeom prst="rect">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760720" y="1755648"/>
            <a:ext cx="64008" cy="3154680"/>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926080" y="1627632"/>
            <a:ext cx="2834640" cy="64008"/>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926080" y="1709928"/>
            <a:ext cx="283464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«device» GPU 0..7 (HBM)</a:t>
            </a:r>
          </a:p>
        </p:txBody>
      </p:sp>
      <p:sp>
        <p:nvSpPr>
          <p:cNvPr id="23" name="Rectangle 22"/>
          <p:cNvSpPr/>
          <p:nvPr/>
        </p:nvSpPr>
        <p:spPr>
          <a:xfrm>
            <a:off x="3017520" y="1965960"/>
            <a:ext cx="2651760" cy="36576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«executable» Worker (per GPU)</a:t>
            </a:r>
          </a:p>
          <a:p>
            <a:pPr algn="ctr">
              <a:spcAft>
                <a:spcPts val="0"/>
              </a:spcAft>
            </a:pPr>
            <a:r>
              <a:rPr sz="650" b="0" i="0">
                <a:solidFill>
                  <a:srgbClr val="000000"/>
                </a:solidFill>
                <a:latin typeface="맑은 고딕"/>
                <a:ea typeface="맑은 고딕"/>
                <a:cs typeface="맑은 고딕"/>
              </a:rPr>
              <a:t>Model Runner · Attention Backend</a:t>
            </a:r>
          </a:p>
        </p:txBody>
      </p:sp>
      <p:sp>
        <p:nvSpPr>
          <p:cNvPr id="24" name="Rectangle 23"/>
          <p:cNvSpPr/>
          <p:nvPr/>
        </p:nvSpPr>
        <p:spPr>
          <a:xfrm>
            <a:off x="5550407" y="199339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017520" y="2423160"/>
            <a:ext cx="2651760" cy="365760"/>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Selective Recomputer · KV Layout (Base/Delta)</a:t>
            </a:r>
          </a:p>
        </p:txBody>
      </p:sp>
      <p:sp>
        <p:nvSpPr>
          <p:cNvPr id="26" name="Rectangle 25"/>
          <p:cNvSpPr/>
          <p:nvPr/>
        </p:nvSpPr>
        <p:spPr>
          <a:xfrm>
            <a:off x="5550407" y="245059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017520" y="2880360"/>
            <a:ext cx="2651760" cy="365760"/>
          </a:xfrm>
          <a:prstGeom prst="rect">
            <a:avLst/>
          </a:prstGeom>
          <a:solidFill>
            <a:srgbClr val="FFF2CC"/>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 Executor · Transfer Handler</a:t>
            </a:r>
          </a:p>
        </p:txBody>
      </p:sp>
      <p:sp>
        <p:nvSpPr>
          <p:cNvPr id="28" name="Rectangle 27"/>
          <p:cNvSpPr/>
          <p:nvPr/>
        </p:nvSpPr>
        <p:spPr>
          <a:xfrm>
            <a:off x="5550407" y="290779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3017520" y="3337560"/>
            <a:ext cx="2651760" cy="365760"/>
          </a:xfrm>
          <a:prstGeom prst="rect">
            <a:avLst/>
          </a:prstGeom>
          <a:solidFill>
            <a:srgbClr val="FFF2CC"/>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«store» HBM KV Pool (Base shared + Delta)</a:t>
            </a:r>
          </a:p>
        </p:txBody>
      </p:sp>
      <p:sp>
        <p:nvSpPr>
          <p:cNvPr id="30" name="Rectangle 29"/>
          <p:cNvSpPr/>
          <p:nvPr/>
        </p:nvSpPr>
        <p:spPr>
          <a:xfrm>
            <a:off x="5550407" y="3364991"/>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017520" y="3794760"/>
            <a:ext cx="2651760" cy="320040"/>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Plan Store 사본(read-only) + Plan cache</a:t>
            </a:r>
          </a:p>
        </p:txBody>
      </p:sp>
      <p:sp>
        <p:nvSpPr>
          <p:cNvPr id="32" name="Rectangle 31"/>
          <p:cNvSpPr/>
          <p:nvPr/>
        </p:nvSpPr>
        <p:spPr>
          <a:xfrm>
            <a:off x="5550407" y="382219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02920" y="3520440"/>
            <a:ext cx="2240280" cy="1280160"/>
          </a:xfrm>
          <a:prstGeom prst="rect">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743200" y="3584448"/>
            <a:ext cx="64008" cy="1280160"/>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502920" y="3456432"/>
            <a:ext cx="2240280" cy="64008"/>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02920" y="3538728"/>
            <a:ext cx="224028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«device» Storage / Next-gen Memory</a:t>
            </a:r>
          </a:p>
        </p:txBody>
      </p:sp>
      <p:sp>
        <p:nvSpPr>
          <p:cNvPr id="37" name="Rectangle 36"/>
          <p:cNvSpPr/>
          <p:nvPr/>
        </p:nvSpPr>
        <p:spPr>
          <a:xfrm>
            <a:off x="594360" y="3794760"/>
            <a:ext cx="2057400" cy="2743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NVMe SSD (실장)</a:t>
            </a:r>
          </a:p>
        </p:txBody>
      </p:sp>
      <p:sp>
        <p:nvSpPr>
          <p:cNvPr id="38" name="Rectangle 37"/>
          <p:cNvSpPr/>
          <p:nvPr/>
        </p:nvSpPr>
        <p:spPr>
          <a:xfrm>
            <a:off x="2532888" y="382219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94360" y="4114800"/>
            <a:ext cx="2057400" cy="274320"/>
          </a:xfrm>
          <a:prstGeom prst="rect">
            <a:avLst/>
          </a:prstGeom>
          <a:solidFill>
            <a:srgbClr val="FFF2CC"/>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CXL-PNM / ScHBM / HBF (시뮬레이션)</a:t>
            </a:r>
          </a:p>
        </p:txBody>
      </p:sp>
      <p:sp>
        <p:nvSpPr>
          <p:cNvPr id="40" name="Rectangle 39"/>
          <p:cNvSpPr/>
          <p:nvPr/>
        </p:nvSpPr>
        <p:spPr>
          <a:xfrm>
            <a:off x="2532888" y="41422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594360" y="4434840"/>
            <a:ext cx="2057400" cy="274320"/>
          </a:xfrm>
          <a:prstGeom prst="rect">
            <a:avLst/>
          </a:prstGeom>
          <a:solidFill>
            <a:srgbClr val="FFF2CC"/>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PIM / SSD-PIM (시뮬레이션)</a:t>
            </a:r>
          </a:p>
        </p:txBody>
      </p:sp>
      <p:sp>
        <p:nvSpPr>
          <p:cNvPr id="42" name="Rectangle 41"/>
          <p:cNvSpPr/>
          <p:nvPr/>
        </p:nvSpPr>
        <p:spPr>
          <a:xfrm>
            <a:off x="2532888" y="44622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3" name="Connector 42"/>
          <p:cNvCxnSpPr/>
          <p:nvPr/>
        </p:nvCxnSpPr>
        <p:spPr>
          <a:xfrm>
            <a:off x="2743200" y="2606040"/>
            <a:ext cx="182880" cy="0"/>
          </a:xfrm>
          <a:prstGeom prst="line">
            <a:avLst/>
          </a:prstGeom>
          <a:ln w="12700">
            <a:solidFill>
              <a:srgbClr val="7F7F7F"/>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616441" y="2395728"/>
            <a:ext cx="436397" cy="146304"/>
          </a:xfrm>
          <a:prstGeom prst="rect">
            <a:avLst/>
          </a:prstGeom>
          <a:noFill/>
        </p:spPr>
        <p:txBody>
          <a:bodyPr wrap="none" lIns="0" tIns="18288" rIns="0" bIns="18288" anchor="t">
            <a:spAutoFit/>
          </a:bodyPr>
          <a:lstStyle/>
          <a:p>
            <a:pPr algn="ctr">
              <a:spcAft>
                <a:spcPts val="0"/>
              </a:spcAft>
            </a:pPr>
            <a:r>
              <a:rPr sz="550" b="0" i="0">
                <a:solidFill>
                  <a:srgbClr val="404040"/>
                </a:solidFill>
                <a:latin typeface="맑은 고딕"/>
                <a:ea typeface="맑은 고딕"/>
                <a:cs typeface="맑은 고딕"/>
              </a:rPr>
              <a:t>shm/ZMQ</a:t>
            </a:r>
          </a:p>
        </p:txBody>
      </p:sp>
      <p:sp>
        <p:nvSpPr>
          <p:cNvPr id="45" name="Rectangle 44"/>
          <p:cNvSpPr/>
          <p:nvPr/>
        </p:nvSpPr>
        <p:spPr>
          <a:xfrm>
            <a:off x="2926080" y="4983480"/>
            <a:ext cx="2834640" cy="1143000"/>
          </a:xfrm>
          <a:prstGeom prst="rect">
            <a:avLst/>
          </a:prstGeom>
          <a:solidFill>
            <a:srgbClr val="FFFFFF"/>
          </a:solidFill>
          <a:ln w="1016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endParaRPr/>
          </a:p>
        </p:txBody>
      </p:sp>
      <p:sp>
        <p:nvSpPr>
          <p:cNvPr id="46" name="TextBox 45"/>
          <p:cNvSpPr txBox="1"/>
          <p:nvPr/>
        </p:nvSpPr>
        <p:spPr>
          <a:xfrm>
            <a:off x="3017520" y="5029200"/>
            <a:ext cx="2651760" cy="1097280"/>
          </a:xfrm>
          <a:prstGeom prst="rect">
            <a:avLst/>
          </a:prstGeom>
          <a:noFill/>
        </p:spPr>
        <p:txBody>
          <a:bodyPr wrap="square" lIns="36576" tIns="18288" rIns="36576" bIns="18288" anchor="t">
            <a:spAutoFit/>
          </a:bodyPr>
          <a:lstStyle/>
          <a:p>
            <a:pPr algn="l">
              <a:spcAft>
                <a:spcPts val="0"/>
              </a:spcAft>
            </a:pPr>
            <a:r>
              <a:rPr sz="700" b="1" i="0">
                <a:solidFill>
                  <a:srgbClr val="000000"/>
                </a:solidFill>
                <a:latin typeface="맑은 고딕"/>
                <a:ea typeface="맑은 고딕"/>
                <a:cs typeface="맑은 고딕"/>
              </a:rPr>
              <a:t>연결: GPU↔Host PCIe 64GB/s (GC-9)</a:t>
            </a:r>
          </a:p>
          <a:p>
            <a:pPr algn="l">
              <a:spcAft>
                <a:spcPts val="0"/>
              </a:spcAft>
            </a:pPr>
            <a:r>
              <a:rPr sz="650" b="0" i="0">
                <a:solidFill>
                  <a:srgbClr val="000000"/>
                </a:solidFill>
                <a:latin typeface="맑은 고딕"/>
                <a:ea typeface="맑은 고딕"/>
                <a:cs typeface="맑은 고딕"/>
              </a:rPr>
              <a:t>GPU↔DRAM↔차세대 메모리 전송은 DP1 Migration Executor가 수행</a:t>
            </a:r>
          </a:p>
          <a:p>
            <a:pPr algn="l">
              <a:spcAft>
                <a:spcPts val="0"/>
              </a:spcAft>
            </a:pPr>
            <a:r>
              <a:rPr sz="650" b="0" i="0">
                <a:solidFill>
                  <a:srgbClr val="C00000"/>
                </a:solidFill>
                <a:latin typeface="맑은 고딕"/>
                <a:ea typeface="맑은 고딕"/>
                <a:cs typeface="맑은 고딕"/>
              </a:rPr>
              <a:t>device runtime 오버헤드는 범위 밖(GC-2), 차세대 메모리 성능은 시뮬레이션(GC-1)</a:t>
            </a:r>
          </a:p>
        </p:txBody>
      </p:sp>
      <p:sp>
        <p:nvSpPr>
          <p:cNvPr id="47" name="TextBox 46"/>
          <p:cNvSpPr txBox="1"/>
          <p:nvPr/>
        </p:nvSpPr>
        <p:spPr>
          <a:xfrm>
            <a:off x="502920" y="4937760"/>
            <a:ext cx="2286000" cy="1188720"/>
          </a:xfrm>
          <a:prstGeom prst="rect">
            <a:avLst/>
          </a:prstGeom>
          <a:noFill/>
        </p:spPr>
        <p:txBody>
          <a:bodyPr wrap="square" lIns="36576" tIns="18288" rIns="36576" bIns="18288" anchor="t">
            <a:spAutoFit/>
          </a:bodyPr>
          <a:lstStyle/>
          <a:p>
            <a:pPr algn="l">
              <a:spcAft>
                <a:spcPts val="0"/>
              </a:spcAft>
            </a:pPr>
            <a:r>
              <a:rPr sz="700" b="1" i="0">
                <a:solidFill>
                  <a:srgbClr val="000000"/>
                </a:solidFill>
                <a:latin typeface="맑은 고딕"/>
                <a:ea typeface="맑은 고딕"/>
                <a:cs typeface="맑은 고딕"/>
              </a:rPr>
              <a:t>배포 단위</a:t>
            </a:r>
          </a:p>
          <a:p>
            <a:pPr algn="l">
              <a:spcAft>
                <a:spcPts val="0"/>
              </a:spcAft>
            </a:pPr>
            <a:r>
              <a:rPr sz="650" b="0" i="0">
                <a:solidFill>
                  <a:srgbClr val="000000"/>
                </a:solidFill>
                <a:latin typeface="맑은 고딕"/>
                <a:ea typeface="맑은 고딕"/>
                <a:cs typeface="맑은 고딕"/>
              </a:rPr>
              <a:t>• vLLM 프로세스: API Server / EngineCore / Worker×N</a:t>
            </a:r>
          </a:p>
          <a:p>
            <a:pPr algn="l">
              <a:spcAft>
                <a:spcPts val="0"/>
              </a:spcAft>
            </a:pPr>
            <a:r>
              <a:rPr sz="650" b="0" i="0">
                <a:solidFill>
                  <a:srgbClr val="000000"/>
                </a:solidFill>
                <a:latin typeface="맑은 고딕"/>
                <a:ea typeface="맑은 고딕"/>
                <a:cs typeface="맑은 고딕"/>
              </a:rPr>
              <a:t>• DP 모듈은 EngineCore·Worker 프로세스 내부에 plug-in (C01)</a:t>
            </a:r>
          </a:p>
          <a:p>
            <a:pPr algn="l">
              <a:spcAft>
                <a:spcPts val="0"/>
              </a:spcAft>
            </a:pPr>
            <a:r>
              <a:rPr sz="650" b="0" i="0">
                <a:solidFill>
                  <a:srgbClr val="000000"/>
                </a:solidFill>
                <a:latin typeface="맑은 고딕"/>
                <a:ea typeface="맑은 고딕"/>
                <a:cs typeface="맑은 고딕"/>
              </a:rPr>
              <a:t>• Offline Analyzer는 배치 job (서빙 외)</a:t>
            </a:r>
          </a:p>
        </p:txBody>
      </p:sp>
      <p:sp>
        <p:nvSpPr>
          <p:cNvPr id="48" name="Rectangle 47"/>
          <p:cNvSpPr/>
          <p:nvPr/>
        </p:nvSpPr>
        <p:spPr>
          <a:xfrm>
            <a:off x="6217920" y="685800"/>
            <a:ext cx="576072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2) 멀티 노드 Deployment (GPU 서버 2대 + CXL 공유 풀 + Metadata Server)</a:t>
            </a:r>
          </a:p>
        </p:txBody>
      </p:sp>
      <p:sp>
        <p:nvSpPr>
          <p:cNvPr id="49" name="Rectangle 48"/>
          <p:cNvSpPr/>
          <p:nvPr/>
        </p:nvSpPr>
        <p:spPr>
          <a:xfrm>
            <a:off x="6355080" y="1325880"/>
            <a:ext cx="2606040" cy="2286000"/>
          </a:xfrm>
          <a:prstGeom prst="rect">
            <a:avLst/>
          </a:prstGeom>
          <a:solidFill>
            <a:srgbClr val="F2F2F2"/>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8961120" y="1389888"/>
            <a:ext cx="64008" cy="2286000"/>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6355080" y="1261872"/>
            <a:ext cx="2606040" cy="64008"/>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355080" y="1344168"/>
            <a:ext cx="260604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«device» GPU Server A (P 노드)</a:t>
            </a:r>
          </a:p>
        </p:txBody>
      </p:sp>
      <p:sp>
        <p:nvSpPr>
          <p:cNvPr id="53" name="Rectangle 52"/>
          <p:cNvSpPr/>
          <p:nvPr/>
        </p:nvSpPr>
        <p:spPr>
          <a:xfrm>
            <a:off x="6446520" y="1691640"/>
            <a:ext cx="2423160" cy="36576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«executable» EngineCore + Worker×8</a:t>
            </a:r>
          </a:p>
          <a:p>
            <a:pPr algn="ctr">
              <a:spcAft>
                <a:spcPts val="0"/>
              </a:spcAft>
            </a:pPr>
            <a:r>
              <a:rPr sz="650" b="0" i="0">
                <a:solidFill>
                  <a:srgbClr val="000000"/>
                </a:solidFill>
                <a:latin typeface="맑은 고딕"/>
                <a:ea typeface="맑은 고딕"/>
                <a:cs typeface="맑은 고딕"/>
              </a:rPr>
              <a:t>(DP1~DP3 모듈)</a:t>
            </a:r>
          </a:p>
        </p:txBody>
      </p:sp>
      <p:sp>
        <p:nvSpPr>
          <p:cNvPr id="54" name="Rectangle 53"/>
          <p:cNvSpPr/>
          <p:nvPr/>
        </p:nvSpPr>
        <p:spPr>
          <a:xfrm>
            <a:off x="8750807" y="17190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6446520" y="2148840"/>
            <a:ext cx="2423160" cy="32004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 Executor + Metadata Client</a:t>
            </a:r>
          </a:p>
        </p:txBody>
      </p:sp>
      <p:sp>
        <p:nvSpPr>
          <p:cNvPr id="56" name="Rectangle 55"/>
          <p:cNvSpPr/>
          <p:nvPr/>
        </p:nvSpPr>
        <p:spPr>
          <a:xfrm>
            <a:off x="8750807" y="21762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6446520" y="2560320"/>
            <a:ext cx="2423160" cy="32004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HBM / DRAM / SSD (노드 로컬)</a:t>
            </a:r>
          </a:p>
        </p:txBody>
      </p:sp>
      <p:sp>
        <p:nvSpPr>
          <p:cNvPr id="58" name="Rectangle 57"/>
          <p:cNvSpPr/>
          <p:nvPr/>
        </p:nvSpPr>
        <p:spPr>
          <a:xfrm>
            <a:off x="8750807" y="258775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446520" y="2971800"/>
            <a:ext cx="2423160" cy="320040"/>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«artifact» Plan Store 사본</a:t>
            </a:r>
          </a:p>
        </p:txBody>
      </p:sp>
      <p:sp>
        <p:nvSpPr>
          <p:cNvPr id="60" name="Rectangle 59"/>
          <p:cNvSpPr/>
          <p:nvPr/>
        </p:nvSpPr>
        <p:spPr>
          <a:xfrm>
            <a:off x="8750807" y="29992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9372600" y="1325880"/>
            <a:ext cx="2606040" cy="2286000"/>
          </a:xfrm>
          <a:prstGeom prst="rect">
            <a:avLst/>
          </a:prstGeom>
          <a:solidFill>
            <a:srgbClr val="F2F2F2"/>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1978640" y="1389888"/>
            <a:ext cx="64008" cy="2286000"/>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9372600" y="1261872"/>
            <a:ext cx="2606040" cy="64008"/>
          </a:xfrm>
          <a:prstGeom prst="rect">
            <a:avLst/>
          </a:prstGeom>
          <a:solidFill>
            <a:srgbClr val="D9D9D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372600" y="1344168"/>
            <a:ext cx="260604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«device» GPU Server B (D 노드)</a:t>
            </a:r>
          </a:p>
        </p:txBody>
      </p:sp>
      <p:sp>
        <p:nvSpPr>
          <p:cNvPr id="65" name="Rectangle 64"/>
          <p:cNvSpPr/>
          <p:nvPr/>
        </p:nvSpPr>
        <p:spPr>
          <a:xfrm>
            <a:off x="9464040" y="1691640"/>
            <a:ext cx="2423160" cy="365760"/>
          </a:xfrm>
          <a:prstGeom prst="rect">
            <a:avLst/>
          </a:prstGeom>
          <a:solidFill>
            <a:srgbClr val="FFF2CC"/>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«executable» EngineCore + Worker×8</a:t>
            </a:r>
          </a:p>
          <a:p>
            <a:pPr algn="ctr">
              <a:spcAft>
                <a:spcPts val="0"/>
              </a:spcAft>
            </a:pPr>
            <a:r>
              <a:rPr sz="650" b="0" i="0">
                <a:solidFill>
                  <a:srgbClr val="000000"/>
                </a:solidFill>
                <a:latin typeface="맑은 고딕"/>
                <a:ea typeface="맑은 고딕"/>
                <a:cs typeface="맑은 고딕"/>
              </a:rPr>
              <a:t>(DP1~DP3 모듈)</a:t>
            </a:r>
          </a:p>
        </p:txBody>
      </p:sp>
      <p:sp>
        <p:nvSpPr>
          <p:cNvPr id="66" name="Rectangle 65"/>
          <p:cNvSpPr/>
          <p:nvPr/>
        </p:nvSpPr>
        <p:spPr>
          <a:xfrm>
            <a:off x="11768328" y="17190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464040" y="2148840"/>
            <a:ext cx="2423160" cy="32004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Migration Executor + Metadata Client</a:t>
            </a:r>
          </a:p>
        </p:txBody>
      </p:sp>
      <p:sp>
        <p:nvSpPr>
          <p:cNvPr id="68" name="Rectangle 67"/>
          <p:cNvSpPr/>
          <p:nvPr/>
        </p:nvSpPr>
        <p:spPr>
          <a:xfrm>
            <a:off x="11768328" y="21762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9464040" y="2560320"/>
            <a:ext cx="2423160" cy="32004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HBM / DRAM / SSD (노드 로컬)</a:t>
            </a:r>
          </a:p>
        </p:txBody>
      </p:sp>
      <p:sp>
        <p:nvSpPr>
          <p:cNvPr id="70" name="Rectangle 69"/>
          <p:cNvSpPr/>
          <p:nvPr/>
        </p:nvSpPr>
        <p:spPr>
          <a:xfrm>
            <a:off x="11768328" y="2587751"/>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9464040" y="2971800"/>
            <a:ext cx="2423160" cy="320040"/>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«artifact» Plan Store 사본</a:t>
            </a:r>
          </a:p>
        </p:txBody>
      </p:sp>
      <p:sp>
        <p:nvSpPr>
          <p:cNvPr id="72" name="Rectangle 71"/>
          <p:cNvSpPr/>
          <p:nvPr/>
        </p:nvSpPr>
        <p:spPr>
          <a:xfrm>
            <a:off x="11768328" y="29992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6355080" y="4572000"/>
            <a:ext cx="2606040" cy="1691640"/>
          </a:xfrm>
          <a:prstGeom prst="rect">
            <a:avLst/>
          </a:prstGeom>
          <a:solidFill>
            <a:srgbClr val="E2F0D9"/>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8961120" y="4636008"/>
            <a:ext cx="64008" cy="1691640"/>
          </a:xfrm>
          <a:prstGeom prst="rect">
            <a:avLst/>
          </a:prstGeom>
          <a:solidFill>
            <a:srgbClr val="D9D9D9"/>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6355080" y="4507992"/>
            <a:ext cx="2606040" cy="64008"/>
          </a:xfrm>
          <a:prstGeom prst="rect">
            <a:avLst/>
          </a:prstGeom>
          <a:solidFill>
            <a:srgbClr val="D9D9D9"/>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355080" y="4590288"/>
            <a:ext cx="2606040" cy="201168"/>
          </a:xfrm>
          <a:prstGeom prst="rect">
            <a:avLst/>
          </a:prstGeom>
          <a:noFill/>
        </p:spPr>
        <p:txBody>
          <a:bodyPr wrap="square" lIns="0" tIns="18288" rIns="0" bIns="18288" anchor="t">
            <a:spAutoFit/>
          </a:bodyPr>
          <a:lstStyle/>
          <a:p>
            <a:pPr algn="ctr">
              <a:spcAft>
                <a:spcPts val="0"/>
              </a:spcAft>
            </a:pPr>
            <a:r>
              <a:rPr sz="750" b="1" i="0">
                <a:solidFill>
                  <a:srgbClr val="000000"/>
                </a:solidFill>
                <a:latin typeface="맑은 고딕"/>
                <a:ea typeface="맑은 고딕"/>
                <a:cs typeface="맑은 고딕"/>
              </a:rPr>
              <a:t>«device» CXL Shared Memory Pool</a:t>
            </a:r>
          </a:p>
        </p:txBody>
      </p:sp>
      <p:sp>
        <p:nvSpPr>
          <p:cNvPr id="77" name="Rectangle 76"/>
          <p:cNvSpPr/>
          <p:nvPr/>
        </p:nvSpPr>
        <p:spPr>
          <a:xfrm>
            <a:off x="6446520" y="4892040"/>
            <a:ext cx="2423160" cy="320040"/>
          </a:xfrm>
          <a:prstGeom prst="rect">
            <a:avLst/>
          </a:prstGeom>
          <a:solidFill>
            <a:srgbClr val="FFFFFF"/>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공유 KV 데이터 (non-coherent)</a:t>
            </a:r>
          </a:p>
        </p:txBody>
      </p:sp>
      <p:sp>
        <p:nvSpPr>
          <p:cNvPr id="78" name="Rectangle 77"/>
          <p:cNvSpPr/>
          <p:nvPr/>
        </p:nvSpPr>
        <p:spPr>
          <a:xfrm>
            <a:off x="8750807" y="491947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6446520" y="5303520"/>
            <a:ext cx="2423160" cy="32004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요청 / 응답 슬롯 (RPC, 캐시 우회)</a:t>
            </a:r>
          </a:p>
        </p:txBody>
      </p:sp>
      <p:sp>
        <p:nvSpPr>
          <p:cNvPr id="80" name="Rectangle 79"/>
          <p:cNvSpPr/>
          <p:nvPr/>
        </p:nvSpPr>
        <p:spPr>
          <a:xfrm>
            <a:off x="8750807" y="533095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6446520" y="5715000"/>
            <a:ext cx="2423160" cy="36576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 캐시 우회 write / polling</a:t>
            </a:r>
          </a:p>
        </p:txBody>
      </p:sp>
      <p:sp>
        <p:nvSpPr>
          <p:cNvPr id="82" name="Rectangle 81"/>
          <p:cNvSpPr/>
          <p:nvPr/>
        </p:nvSpPr>
        <p:spPr>
          <a:xfrm>
            <a:off x="8750807" y="5742432"/>
            <a:ext cx="91440" cy="7315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9372600" y="4572000"/>
            <a:ext cx="2606040" cy="1691640"/>
          </a:xfrm>
          <a:prstGeom prst="rect">
            <a:avLst/>
          </a:prstGeom>
          <a:solidFill>
            <a:srgbClr val="EDE2F6"/>
          </a:solidFill>
          <a:ln w="1587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11978640" y="4636008"/>
            <a:ext cx="64008" cy="1691640"/>
          </a:xfrm>
          <a:prstGeom prst="rect">
            <a:avLst/>
          </a:prstGeom>
          <a:solidFill>
            <a:srgbClr val="D9D9D9"/>
          </a:solidFill>
          <a:ln w="95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9372600" y="4507992"/>
            <a:ext cx="2606040" cy="64008"/>
          </a:xfrm>
          <a:prstGeom prst="rect">
            <a:avLst/>
          </a:prstGeom>
          <a:solidFill>
            <a:srgbClr val="D9D9D9"/>
          </a:solidFill>
          <a:ln w="95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372600" y="4590288"/>
            <a:ext cx="2606040" cy="201168"/>
          </a:xfrm>
          <a:prstGeom prst="rect">
            <a:avLst/>
          </a:prstGeom>
          <a:noFill/>
        </p:spPr>
        <p:txBody>
          <a:bodyPr wrap="square" lIns="0" tIns="18288" rIns="0" bIns="18288" anchor="t">
            <a:spAutoFit/>
          </a:bodyPr>
          <a:lstStyle/>
          <a:p>
            <a:pPr algn="ctr">
              <a:spcAft>
                <a:spcPts val="0"/>
              </a:spcAft>
            </a:pPr>
            <a:r>
              <a:rPr sz="750" b="1" i="0" dirty="0">
                <a:solidFill>
                  <a:srgbClr val="000000"/>
                </a:solidFill>
                <a:latin typeface="맑은 고딕"/>
                <a:ea typeface="맑은 고딕"/>
                <a:cs typeface="맑은 고딕"/>
              </a:rPr>
              <a:t>«server» Metadata Server (DP4)</a:t>
            </a:r>
          </a:p>
        </p:txBody>
      </p:sp>
      <p:sp>
        <p:nvSpPr>
          <p:cNvPr id="87" name="Rectangle 86"/>
          <p:cNvSpPr/>
          <p:nvPr/>
        </p:nvSpPr>
        <p:spPr>
          <a:xfrm>
            <a:off x="9464040" y="4892040"/>
            <a:ext cx="2423160" cy="32004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Shard Router (hash → Worker)</a:t>
            </a:r>
          </a:p>
        </p:txBody>
      </p:sp>
      <p:sp>
        <p:nvSpPr>
          <p:cNvPr id="88" name="Rectangle 87"/>
          <p:cNvSpPr/>
          <p:nvPr/>
        </p:nvSpPr>
        <p:spPr>
          <a:xfrm>
            <a:off x="11768328" y="491947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9464040" y="5303520"/>
            <a:ext cx="2423160" cy="320040"/>
          </a:xfrm>
          <a:prstGeom prst="rect">
            <a:avLst/>
          </a:prstGeom>
          <a:solidFill>
            <a:srgbClr val="FFF2CC"/>
          </a:solidFill>
          <a:ln w="190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Shard Worker 0..n (Metadata·Allocator·LRU)</a:t>
            </a:r>
          </a:p>
        </p:txBody>
      </p:sp>
      <p:sp>
        <p:nvSpPr>
          <p:cNvPr id="90" name="Rectangle 89"/>
          <p:cNvSpPr/>
          <p:nvPr/>
        </p:nvSpPr>
        <p:spPr>
          <a:xfrm>
            <a:off x="11768328" y="533095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9464040" y="5715000"/>
            <a:ext cx="2423160" cy="365760"/>
          </a:xfrm>
          <a:prstGeom prst="rect">
            <a:avLst/>
          </a:prstGeom>
          <a:solidFill>
            <a:srgbClr val="FFF2CC"/>
          </a:solidFill>
          <a:ln w="19050">
            <a:solidFill>
              <a:srgbClr val="7030A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650" b="0" i="0">
                <a:solidFill>
                  <a:srgbClr val="000000"/>
                </a:solidFill>
                <a:latin typeface="맑은 고딕"/>
                <a:ea typeface="맑은 고딕"/>
                <a:cs typeface="맑은 고딕"/>
              </a:rPr>
              <a:t>Offline Analyzer (batch, 별도 job)</a:t>
            </a:r>
          </a:p>
        </p:txBody>
      </p:sp>
      <p:sp>
        <p:nvSpPr>
          <p:cNvPr id="92" name="Rectangle 91"/>
          <p:cNvSpPr/>
          <p:nvPr/>
        </p:nvSpPr>
        <p:spPr>
          <a:xfrm>
            <a:off x="11768328" y="5742432"/>
            <a:ext cx="91440" cy="73152"/>
          </a:xfrm>
          <a:prstGeom prst="rect">
            <a:avLst/>
          </a:prstGeom>
          <a:solidFill>
            <a:srgbClr val="FFF2CC"/>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a:off x="8961120" y="2331720"/>
            <a:ext cx="411480" cy="0"/>
          </a:xfrm>
          <a:prstGeom prst="line">
            <a:avLst/>
          </a:prstGeom>
          <a:ln w="15240">
            <a:solidFill>
              <a:srgbClr val="C55A1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8988552" y="2057400"/>
            <a:ext cx="365760" cy="146304"/>
          </a:xfrm>
          <a:prstGeom prst="rect">
            <a:avLst/>
          </a:prstGeom>
          <a:noFill/>
        </p:spPr>
        <p:txBody>
          <a:bodyPr wrap="none" lIns="0" tIns="18288" rIns="0" bIns="18288" anchor="t">
            <a:spAutoFit/>
          </a:bodyPr>
          <a:lstStyle/>
          <a:p>
            <a:pPr algn="ctr">
              <a:spcAft>
                <a:spcPts val="0"/>
              </a:spcAft>
            </a:pPr>
            <a:r>
              <a:rPr sz="550" b="0" i="0">
                <a:solidFill>
                  <a:srgbClr val="C55A11"/>
                </a:solidFill>
                <a:latin typeface="맑은 고딕"/>
                <a:ea typeface="맑은 고딕"/>
                <a:cs typeface="맑은 고딕"/>
              </a:rPr>
              <a:t>PCIe</a:t>
            </a:r>
          </a:p>
          <a:p>
            <a:pPr algn="ctr">
              <a:spcAft>
                <a:spcPts val="0"/>
              </a:spcAft>
            </a:pPr>
            <a:r>
              <a:rPr sz="550" b="0" i="0">
                <a:solidFill>
                  <a:srgbClr val="C55A11"/>
                </a:solidFill>
                <a:latin typeface="맑은 고딕"/>
                <a:ea typeface="맑은 고딕"/>
                <a:cs typeface="맑은 고딕"/>
              </a:rPr>
              <a:t>64GB/s</a:t>
            </a:r>
          </a:p>
        </p:txBody>
      </p:sp>
      <p:cxnSp>
        <p:nvCxnSpPr>
          <p:cNvPr id="95" name="Connector 94"/>
          <p:cNvCxnSpPr/>
          <p:nvPr/>
        </p:nvCxnSpPr>
        <p:spPr>
          <a:xfrm>
            <a:off x="7680960" y="3611880"/>
            <a:ext cx="0" cy="960120"/>
          </a:xfrm>
          <a:prstGeom prst="line">
            <a:avLst/>
          </a:prstGeom>
          <a:ln w="15240">
            <a:solidFill>
              <a:srgbClr val="548235"/>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680960" y="4023360"/>
            <a:ext cx="822960" cy="146304"/>
          </a:xfrm>
          <a:prstGeom prst="rect">
            <a:avLst/>
          </a:prstGeom>
          <a:noFill/>
        </p:spPr>
        <p:txBody>
          <a:bodyPr wrap="none" lIns="0" tIns="18288" rIns="0" bIns="18288" anchor="t">
            <a:spAutoFit/>
          </a:bodyPr>
          <a:lstStyle/>
          <a:p>
            <a:pPr algn="ctr">
              <a:spcAft>
                <a:spcPts val="0"/>
              </a:spcAft>
            </a:pPr>
            <a:r>
              <a:rPr sz="550" b="0" i="0">
                <a:solidFill>
                  <a:srgbClr val="548235"/>
                </a:solidFill>
                <a:latin typeface="맑은 고딕"/>
                <a:ea typeface="맑은 고딕"/>
                <a:cs typeface="맑은 고딕"/>
              </a:rPr>
              <a:t>load/store (CXL)</a:t>
            </a:r>
          </a:p>
        </p:txBody>
      </p:sp>
      <p:cxnSp>
        <p:nvCxnSpPr>
          <p:cNvPr id="97" name="Connector 96"/>
          <p:cNvCxnSpPr/>
          <p:nvPr/>
        </p:nvCxnSpPr>
        <p:spPr>
          <a:xfrm>
            <a:off x="10698480" y="3611880"/>
            <a:ext cx="0" cy="960120"/>
          </a:xfrm>
          <a:prstGeom prst="line">
            <a:avLst/>
          </a:prstGeom>
          <a:ln w="15240">
            <a:solidFill>
              <a:srgbClr val="548235"/>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0744200" y="4023360"/>
            <a:ext cx="822960" cy="146304"/>
          </a:xfrm>
          <a:prstGeom prst="rect">
            <a:avLst/>
          </a:prstGeom>
          <a:noFill/>
        </p:spPr>
        <p:txBody>
          <a:bodyPr wrap="none" lIns="0" tIns="18288" rIns="0" bIns="18288" anchor="t">
            <a:spAutoFit/>
          </a:bodyPr>
          <a:lstStyle/>
          <a:p>
            <a:pPr algn="ctr">
              <a:spcAft>
                <a:spcPts val="0"/>
              </a:spcAft>
            </a:pPr>
            <a:r>
              <a:rPr sz="550" b="0" i="0">
                <a:solidFill>
                  <a:srgbClr val="548235"/>
                </a:solidFill>
                <a:latin typeface="맑은 고딕"/>
                <a:ea typeface="맑은 고딕"/>
                <a:cs typeface="맑은 고딕"/>
              </a:rPr>
              <a:t>RPC (메타데이터)</a:t>
            </a:r>
          </a:p>
        </p:txBody>
      </p:sp>
      <p:cxnSp>
        <p:nvCxnSpPr>
          <p:cNvPr id="99" name="Connector 98"/>
          <p:cNvCxnSpPr/>
          <p:nvPr/>
        </p:nvCxnSpPr>
        <p:spPr>
          <a:xfrm>
            <a:off x="8961120" y="5394960"/>
            <a:ext cx="411480" cy="0"/>
          </a:xfrm>
          <a:prstGeom prst="line">
            <a:avLst/>
          </a:prstGeom>
          <a:ln w="12700">
            <a:solidFill>
              <a:srgbClr val="548235"/>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321040" y="3611880"/>
            <a:ext cx="1920240" cy="960120"/>
          </a:xfrm>
          <a:prstGeom prst="line">
            <a:avLst/>
          </a:prstGeom>
          <a:ln w="12700">
            <a:solidFill>
              <a:srgbClr val="548235"/>
            </a:solidFill>
            <a:prstDash val="dash"/>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6355080" y="3703320"/>
            <a:ext cx="1280160" cy="457200"/>
          </a:xfrm>
          <a:prstGeom prst="rect">
            <a:avLst/>
          </a:prstGeom>
          <a:noFill/>
        </p:spPr>
        <p:txBody>
          <a:bodyPr wrap="square" lIns="36576" tIns="18288" rIns="36576" bIns="18288" anchor="t">
            <a:spAutoFit/>
          </a:bodyPr>
          <a:lstStyle/>
          <a:p>
            <a:pPr algn="l">
              <a:spcAft>
                <a:spcPts val="0"/>
              </a:spcAft>
            </a:pPr>
            <a:r>
              <a:rPr sz="600" b="0" i="0">
                <a:solidFill>
                  <a:srgbClr val="595959"/>
                </a:solidFill>
                <a:latin typeface="맑은 고딕"/>
                <a:ea typeface="맑은 고딕"/>
                <a:cs typeface="맑은 고딕"/>
              </a:rPr>
              <a:t>GC-9: 서버 간 PCIe 64GB/s</a:t>
            </a:r>
          </a:p>
          <a:p>
            <a:pPr algn="l">
              <a:spcAft>
                <a:spcPts val="0"/>
              </a:spcAft>
            </a:pPr>
            <a:r>
              <a:rPr sz="600" b="0" i="0">
                <a:solidFill>
                  <a:srgbClr val="595959"/>
                </a:solidFill>
                <a:latin typeface="맑은 고딕"/>
                <a:ea typeface="맑은 고딕"/>
                <a:cs typeface="맑은 고딕"/>
              </a:rPr>
              <a:t>(RDMA/NIC 종류 미확인)</a:t>
            </a: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주요 품질 속성 검증</a:t>
            </a:r>
          </a:p>
        </p:txBody>
      </p:sp>
      <p:sp>
        <p:nvSpPr>
          <p:cNvPr id="4" name="Rectangle 3"/>
          <p:cNvSpPr/>
          <p:nvPr/>
        </p:nvSpPr>
        <p:spPr>
          <a:xfrm>
            <a:off x="7863840" y="73152"/>
            <a:ext cx="4206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hevron 4"/>
          <p:cNvSpPr/>
          <p:nvPr/>
        </p:nvSpPr>
        <p:spPr>
          <a:xfrm>
            <a:off x="7991856"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과제 소개</a:t>
            </a:r>
          </a:p>
        </p:txBody>
      </p:sp>
      <p:sp>
        <p:nvSpPr>
          <p:cNvPr id="6" name="Chevron 5"/>
          <p:cNvSpPr/>
          <p:nvPr/>
        </p:nvSpPr>
        <p:spPr>
          <a:xfrm>
            <a:off x="8787384"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요구사항</a:t>
            </a:r>
          </a:p>
        </p:txBody>
      </p:sp>
      <p:sp>
        <p:nvSpPr>
          <p:cNvPr id="7" name="Chevron 6"/>
          <p:cNvSpPr/>
          <p:nvPr/>
        </p:nvSpPr>
        <p:spPr>
          <a:xfrm>
            <a:off x="9582912"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설계</a:t>
            </a:r>
          </a:p>
        </p:txBody>
      </p:sp>
      <p:sp>
        <p:nvSpPr>
          <p:cNvPr id="8" name="Chevron 7"/>
          <p:cNvSpPr/>
          <p:nvPr/>
        </p:nvSpPr>
        <p:spPr>
          <a:xfrm>
            <a:off x="10378440" y="137160"/>
            <a:ext cx="868680" cy="356616"/>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구현/검증</a:t>
            </a:r>
          </a:p>
        </p:txBody>
      </p:sp>
      <p:sp>
        <p:nvSpPr>
          <p:cNvPr id="9" name="Chevron 8"/>
          <p:cNvSpPr/>
          <p:nvPr/>
        </p:nvSpPr>
        <p:spPr>
          <a:xfrm>
            <a:off x="11173968"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결론</a:t>
            </a:r>
          </a:p>
        </p:txBody>
      </p:sp>
      <p:graphicFrame>
        <p:nvGraphicFramePr>
          <p:cNvPr id="10" name="Table 9"/>
          <p:cNvGraphicFramePr>
            <a:graphicFrameLocks noGrp="1"/>
          </p:cNvGraphicFramePr>
          <p:nvPr>
            <p:extLst>
              <p:ext uri="{D42A27DB-BD31-4B8C-83A1-F6EECF244321}">
                <p14:modId xmlns:p14="http://schemas.microsoft.com/office/powerpoint/2010/main" val="4093434699"/>
              </p:ext>
            </p:extLst>
          </p:nvPr>
        </p:nvGraphicFramePr>
        <p:xfrm>
          <a:off x="274320" y="731520"/>
          <a:ext cx="11704320" cy="2788920"/>
        </p:xfrm>
        <a:graphic>
          <a:graphicData uri="http://schemas.openxmlformats.org/drawingml/2006/table">
            <a:tbl>
              <a:tblPr>
                <a:tableStyleId>{2D5ABB26-0587-4C30-8999-92F81FD0307C}</a:tableStyleId>
              </a:tblPr>
              <a:tblGrid>
                <a:gridCol w="640080">
                  <a:extLst>
                    <a:ext uri="{9D8B030D-6E8A-4147-A177-3AD203B41FA5}">
                      <a16:colId xmlns:a16="http://schemas.microsoft.com/office/drawing/2014/main" val="20000"/>
                    </a:ext>
                  </a:extLst>
                </a:gridCol>
                <a:gridCol w="1436914">
                  <a:extLst>
                    <a:ext uri="{9D8B030D-6E8A-4147-A177-3AD203B41FA5}">
                      <a16:colId xmlns:a16="http://schemas.microsoft.com/office/drawing/2014/main" val="20001"/>
                    </a:ext>
                  </a:extLst>
                </a:gridCol>
                <a:gridCol w="4598126">
                  <a:extLst>
                    <a:ext uri="{9D8B030D-6E8A-4147-A177-3AD203B41FA5}">
                      <a16:colId xmlns:a16="http://schemas.microsoft.com/office/drawing/2014/main" val="20002"/>
                    </a:ext>
                  </a:extLst>
                </a:gridCol>
                <a:gridCol w="3722914">
                  <a:extLst>
                    <a:ext uri="{9D8B030D-6E8A-4147-A177-3AD203B41FA5}">
                      <a16:colId xmlns:a16="http://schemas.microsoft.com/office/drawing/2014/main" val="20003"/>
                    </a:ext>
                  </a:extLst>
                </a:gridCol>
                <a:gridCol w="1306286">
                  <a:extLst>
                    <a:ext uri="{9D8B030D-6E8A-4147-A177-3AD203B41FA5}">
                      <a16:colId xmlns:a16="http://schemas.microsoft.com/office/drawing/2014/main" val="20004"/>
                    </a:ext>
                  </a:extLst>
                </a:gridCol>
              </a:tblGrid>
              <a:tr h="274320">
                <a:tc>
                  <a:txBody>
                    <a:bodyPr/>
                    <a:lstStyle/>
                    <a:p>
                      <a:pPr algn="ctr"/>
                      <a:r>
                        <a:rPr sz="1000" b="1" i="0" dirty="0" err="1">
                          <a:solidFill>
                            <a:srgbClr val="FFFFFF"/>
                          </a:solidFill>
                          <a:latin typeface="맑은 고딕"/>
                          <a:ea typeface="맑은 고딕"/>
                          <a:cs typeface="맑은 고딕"/>
                        </a:rPr>
                        <a:t>항목</a:t>
                      </a:r>
                      <a:endParaRPr sz="1000" b="1" i="0" dirty="0">
                        <a:solidFill>
                          <a:srgbClr val="FFFF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00" b="1" i="0">
                          <a:solidFill>
                            <a:srgbClr val="FFFFFF"/>
                          </a:solidFill>
                          <a:latin typeface="맑은 고딕"/>
                          <a:ea typeface="맑은 고딕"/>
                          <a:cs typeface="맑은 고딕"/>
                        </a:rPr>
                        <a:t>속성</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00" b="1" i="0">
                          <a:solidFill>
                            <a:srgbClr val="FFFFFF"/>
                          </a:solidFill>
                          <a:latin typeface="맑은 고딕"/>
                          <a:ea typeface="맑은 고딕"/>
                          <a:cs typeface="맑은 고딕"/>
                        </a:rPr>
                        <a:t>내용</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00" b="1" i="0">
                          <a:solidFill>
                            <a:srgbClr val="FFFFFF"/>
                          </a:solidFill>
                          <a:latin typeface="맑은 고딕"/>
                          <a:ea typeface="맑은 고딕"/>
                          <a:cs typeface="맑은 고딕"/>
                        </a:rPr>
                        <a:t>Response Measure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00" b="1" i="0" dirty="0" err="1">
                          <a:solidFill>
                            <a:srgbClr val="FFFFFF"/>
                          </a:solidFill>
                          <a:latin typeface="맑은 고딕"/>
                          <a:ea typeface="맑은 고딕"/>
                          <a:cs typeface="맑은 고딕"/>
                        </a:rPr>
                        <a:t>결과</a:t>
                      </a:r>
                      <a:r>
                        <a:rPr sz="1000" b="1" i="0" dirty="0">
                          <a:solidFill>
                            <a:srgbClr val="FFFFFF"/>
                          </a:solidFill>
                          <a:latin typeface="맑은 고딕"/>
                          <a:ea typeface="맑은 고딕"/>
                          <a:cs typeface="맑은 고딕"/>
                        </a:rPr>
                        <a:t> </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502920">
                <a:tc>
                  <a:txBody>
                    <a:bodyPr/>
                    <a:lstStyle/>
                    <a:p>
                      <a:pPr algn="ctr"/>
                      <a:r>
                        <a:rPr sz="1000" b="0" i="0" dirty="0">
                          <a:solidFill>
                            <a:srgbClr val="000000"/>
                          </a:solidFill>
                          <a:latin typeface="맑은 고딕"/>
                          <a:ea typeface="맑은 고딕"/>
                          <a:cs typeface="맑은 고딕"/>
                        </a:rPr>
                        <a:t>QA-01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Performance </a:t>
                      </a:r>
                      <a:endParaRPr lang="en-US" sz="1000" b="0" i="0" dirty="0">
                        <a:solidFill>
                          <a:srgbClr val="000000"/>
                        </a:solidFill>
                        <a:latin typeface="맑은 고딕"/>
                        <a:ea typeface="맑은 고딕"/>
                        <a:cs typeface="맑은 고딕"/>
                      </a:endParaRPr>
                    </a:p>
                    <a:p>
                      <a:pPr algn="l"/>
                      <a:r>
                        <a:rPr sz="1000" b="0" i="0" dirty="0">
                          <a:solidFill>
                            <a:srgbClr val="000000"/>
                          </a:solidFill>
                          <a:latin typeface="맑은 고딕"/>
                          <a:ea typeface="맑은 고딕"/>
                          <a:cs typeface="맑은 고딕"/>
                        </a:rPr>
                        <a:t>(Throughput)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err="1">
                          <a:solidFill>
                            <a:srgbClr val="000000"/>
                          </a:solidFill>
                          <a:latin typeface="맑은 고딕"/>
                          <a:ea typeface="맑은 고딕"/>
                          <a:cs typeface="맑은 고딕"/>
                        </a:rPr>
                        <a:t>다수</a:t>
                      </a:r>
                      <a:r>
                        <a:rPr sz="1000" b="0" i="0" dirty="0">
                          <a:solidFill>
                            <a:srgbClr val="000000"/>
                          </a:solidFill>
                          <a:latin typeface="맑은 고딕"/>
                          <a:ea typeface="맑은 고딕"/>
                          <a:cs typeface="맑은 고딕"/>
                        </a:rPr>
                        <a:t> agent </a:t>
                      </a:r>
                      <a:r>
                        <a:rPr sz="1000" b="0" i="0" dirty="0" err="1">
                          <a:solidFill>
                            <a:srgbClr val="000000"/>
                          </a:solidFill>
                          <a:latin typeface="맑은 고딕"/>
                          <a:ea typeface="맑은 고딕"/>
                          <a:cs typeface="맑은 고딕"/>
                        </a:rPr>
                        <a:t>세션이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동시에</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요청할</a:t>
                      </a:r>
                      <a:r>
                        <a:rPr sz="1000" b="0" i="0" dirty="0">
                          <a:solidFill>
                            <a:srgbClr val="000000"/>
                          </a:solidFill>
                          <a:latin typeface="맑은 고딕"/>
                          <a:ea typeface="맑은 고딕"/>
                          <a:cs typeface="맑은 고딕"/>
                        </a:rPr>
                        <a:t> 때 </a:t>
                      </a:r>
                      <a:r>
                        <a:rPr sz="1000" b="0" i="0" dirty="0" err="1">
                          <a:solidFill>
                            <a:srgbClr val="000000"/>
                          </a:solidFill>
                          <a:latin typeface="맑은 고딕"/>
                          <a:ea typeface="맑은 고딕"/>
                          <a:cs typeface="맑은 고딕"/>
                        </a:rPr>
                        <a:t>SLO를</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만족하는</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최대</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처리량이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Baseline보다</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커야</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한다</a:t>
                      </a:r>
                      <a:endParaRPr sz="100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[SLO </a:t>
                      </a:r>
                      <a:r>
                        <a:rPr sz="1000" b="0" i="0" dirty="0" err="1">
                          <a:solidFill>
                            <a:srgbClr val="000000"/>
                          </a:solidFill>
                          <a:latin typeface="맑은 고딕"/>
                          <a:ea typeface="맑은 고딕"/>
                          <a:cs typeface="맑은 고딕"/>
                        </a:rPr>
                        <a:t>만족</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최대</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처리량</a:t>
                      </a:r>
                      <a:r>
                        <a:rPr sz="1000" b="0" i="0" dirty="0">
                          <a:solidFill>
                            <a:srgbClr val="000000"/>
                          </a:solidFill>
                          <a:latin typeface="맑은 고딕"/>
                          <a:ea typeface="맑은 고딕"/>
                          <a:cs typeface="맑은 고딕"/>
                        </a:rPr>
                        <a:t> ≥ Baseline </a:t>
                      </a:r>
                      <a:r>
                        <a:rPr sz="1000" b="0" i="0" dirty="0" err="1">
                          <a:solidFill>
                            <a:srgbClr val="000000"/>
                          </a:solidFill>
                          <a:latin typeface="맑은 고딕"/>
                          <a:ea typeface="맑은 고딕"/>
                          <a:cs typeface="맑은 고딕"/>
                        </a:rPr>
                        <a:t>대비</a:t>
                      </a:r>
                      <a:r>
                        <a:rPr sz="1000" b="0" i="0" dirty="0">
                          <a:solidFill>
                            <a:srgbClr val="000000"/>
                          </a:solidFill>
                          <a:latin typeface="맑은 고딕"/>
                          <a:ea typeface="맑은 고딕"/>
                          <a:cs typeface="맑은 고딕"/>
                        </a:rPr>
                        <a:t> 2x]</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lang="ko-KR" altLang="en-US" sz="1000" b="1" i="0" dirty="0">
                          <a:solidFill>
                            <a:srgbClr val="0066FF"/>
                          </a:solidFill>
                          <a:latin typeface="맑은 고딕"/>
                          <a:ea typeface="맑은 고딕"/>
                          <a:cs typeface="맑은 고딕"/>
                        </a:rPr>
                        <a:t>달성 </a:t>
                      </a:r>
                      <a:endParaRPr sz="1000" b="1" i="0" dirty="0">
                        <a:solidFill>
                          <a:srgbClr val="0066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noFill/>
                  </a:tcPr>
                </a:tc>
                <a:extLst>
                  <a:ext uri="{0D108BD9-81ED-4DB2-BD59-A6C34878D82A}">
                    <a16:rowId xmlns:a16="http://schemas.microsoft.com/office/drawing/2014/main" val="10001"/>
                  </a:ext>
                </a:extLst>
              </a:tr>
              <a:tr h="502920">
                <a:tc>
                  <a:txBody>
                    <a:bodyPr/>
                    <a:lstStyle/>
                    <a:p>
                      <a:pPr algn="ctr"/>
                      <a:r>
                        <a:rPr sz="1000" b="0" i="0">
                          <a:solidFill>
                            <a:srgbClr val="000000"/>
                          </a:solidFill>
                          <a:latin typeface="맑은 고딕"/>
                          <a:ea typeface="맑은 고딕"/>
                          <a:cs typeface="맑은 고딕"/>
                        </a:rPr>
                        <a:t>QA-02</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Resource Efficiency (HBM)</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err="1">
                          <a:solidFill>
                            <a:srgbClr val="000000"/>
                          </a:solidFill>
                          <a:latin typeface="맑은 고딕"/>
                          <a:ea typeface="맑은 고딕"/>
                          <a:cs typeface="맑은 고딕"/>
                        </a:rPr>
                        <a:t>동일한</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성능</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조건에서</a:t>
                      </a:r>
                      <a:r>
                        <a:rPr sz="1000" b="0" i="0" dirty="0">
                          <a:solidFill>
                            <a:srgbClr val="000000"/>
                          </a:solidFill>
                          <a:latin typeface="맑은 고딕"/>
                          <a:ea typeface="맑은 고딕"/>
                          <a:cs typeface="맑은 고딕"/>
                        </a:rPr>
                        <a:t> HBM </a:t>
                      </a:r>
                      <a:r>
                        <a:rPr sz="1000" b="0" i="0" dirty="0" err="1">
                          <a:solidFill>
                            <a:srgbClr val="000000"/>
                          </a:solidFill>
                          <a:latin typeface="맑은 고딕"/>
                          <a:ea typeface="맑은 고딕"/>
                          <a:cs typeface="맑은 고딕"/>
                        </a:rPr>
                        <a:t>점유율이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Baseline보다</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낮아야</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한다</a:t>
                      </a:r>
                      <a:endParaRPr sz="100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[HBM </a:t>
                      </a:r>
                      <a:r>
                        <a:rPr sz="1000" b="0" i="0" dirty="0" err="1">
                          <a:solidFill>
                            <a:srgbClr val="000000"/>
                          </a:solidFill>
                          <a:latin typeface="맑은 고딕"/>
                          <a:ea typeface="맑은 고딕"/>
                          <a:cs typeface="맑은 고딕"/>
                        </a:rPr>
                        <a:t>점유율</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감소율</a:t>
                      </a:r>
                      <a:r>
                        <a:rPr sz="1000" b="0" i="0" dirty="0">
                          <a:solidFill>
                            <a:srgbClr val="000000"/>
                          </a:solidFill>
                          <a:latin typeface="맑은 고딕"/>
                          <a:ea typeface="맑은 고딕"/>
                          <a:cs typeface="맑은 고딕"/>
                        </a:rPr>
                        <a:t> ≥ 20%]</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lang="ko-KR" altLang="en-US" sz="1000" b="1" i="0" dirty="0">
                          <a:solidFill>
                            <a:srgbClr val="0066FF"/>
                          </a:solidFill>
                          <a:latin typeface="맑은 고딕"/>
                          <a:ea typeface="맑은 고딕"/>
                          <a:cs typeface="맑은 고딕"/>
                        </a:rPr>
                        <a:t>달성</a:t>
                      </a:r>
                      <a:endParaRPr sz="1000" b="1" i="0" dirty="0">
                        <a:solidFill>
                          <a:srgbClr val="0066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noFill/>
                  </a:tcPr>
                </a:tc>
                <a:extLst>
                  <a:ext uri="{0D108BD9-81ED-4DB2-BD59-A6C34878D82A}">
                    <a16:rowId xmlns:a16="http://schemas.microsoft.com/office/drawing/2014/main" val="10002"/>
                  </a:ext>
                </a:extLst>
              </a:tr>
              <a:tr h="502920">
                <a:tc>
                  <a:txBody>
                    <a:bodyPr/>
                    <a:lstStyle/>
                    <a:p>
                      <a:pPr algn="ctr"/>
                      <a:r>
                        <a:rPr sz="1000" b="0" i="0">
                          <a:solidFill>
                            <a:srgbClr val="000000"/>
                          </a:solidFill>
                          <a:latin typeface="맑은 고딕"/>
                          <a:ea typeface="맑은 고딕"/>
                          <a:cs typeface="맑은 고딕"/>
                        </a:rPr>
                        <a:t>QA-03</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Performance </a:t>
                      </a:r>
                      <a:endParaRPr lang="en-US" sz="1000" b="0" i="0" dirty="0">
                        <a:solidFill>
                          <a:srgbClr val="000000"/>
                        </a:solidFill>
                        <a:latin typeface="맑은 고딕"/>
                        <a:ea typeface="맑은 고딕"/>
                        <a:cs typeface="맑은 고딕"/>
                      </a:endParaRPr>
                    </a:p>
                    <a:p>
                      <a:pPr algn="l"/>
                      <a:r>
                        <a:rPr sz="1000" b="0" i="0" dirty="0">
                          <a:solidFill>
                            <a:srgbClr val="000000"/>
                          </a:solidFill>
                          <a:latin typeface="맑은 고딕"/>
                          <a:ea typeface="맑은 고딕"/>
                          <a:cs typeface="맑은 고딕"/>
                        </a:rPr>
                        <a:t>(Tail Latency)</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err="1">
                          <a:solidFill>
                            <a:srgbClr val="000000"/>
                          </a:solidFill>
                          <a:latin typeface="맑은 고딕"/>
                          <a:ea typeface="맑은 고딕"/>
                          <a:cs typeface="맑은 고딕"/>
                        </a:rPr>
                        <a:t>고부하</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환경에서</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최악</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응답</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지연</a:t>
                      </a:r>
                      <a:r>
                        <a:rPr sz="1000" b="0" i="0" dirty="0">
                          <a:solidFill>
                            <a:srgbClr val="000000"/>
                          </a:solidFill>
                          <a:latin typeface="맑은 고딕"/>
                          <a:ea typeface="맑은 고딕"/>
                          <a:cs typeface="맑은 고딕"/>
                        </a:rPr>
                        <a:t>(P99)을 Baseline </a:t>
                      </a:r>
                      <a:r>
                        <a:rPr sz="1000" b="0" i="0" dirty="0" err="1">
                          <a:solidFill>
                            <a:srgbClr val="000000"/>
                          </a:solidFill>
                          <a:latin typeface="맑은 고딕"/>
                          <a:ea typeface="맑은 고딕"/>
                          <a:cs typeface="맑은 고딕"/>
                        </a:rPr>
                        <a:t>대비</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개선해야</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한다</a:t>
                      </a:r>
                      <a:endParaRPr sz="100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[TTFT·TPOT(P99) </a:t>
                      </a:r>
                      <a:r>
                        <a:rPr sz="1000" b="0" i="0" dirty="0" err="1">
                          <a:solidFill>
                            <a:srgbClr val="000000"/>
                          </a:solidFill>
                          <a:latin typeface="맑은 고딕"/>
                          <a:ea typeface="맑은 고딕"/>
                          <a:cs typeface="맑은 고딕"/>
                        </a:rPr>
                        <a:t>감소율</a:t>
                      </a:r>
                      <a:r>
                        <a:rPr sz="1000" b="0" i="0" dirty="0">
                          <a:solidFill>
                            <a:srgbClr val="000000"/>
                          </a:solidFill>
                          <a:latin typeface="맑은 고딕"/>
                          <a:ea typeface="맑은 고딕"/>
                          <a:cs typeface="맑은 고딕"/>
                        </a:rPr>
                        <a:t> ≥ 30%, SLO TTFT ≤ 2s, TPOT ≤ 50ms]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lang="ko-KR" altLang="en-US" sz="1000" b="1" i="0" dirty="0">
                          <a:solidFill>
                            <a:srgbClr val="0066FF"/>
                          </a:solidFill>
                          <a:latin typeface="맑은 고딕"/>
                          <a:ea typeface="맑은 고딕"/>
                          <a:cs typeface="맑은 고딕"/>
                        </a:rPr>
                        <a:t>달성</a:t>
                      </a:r>
                      <a:endParaRPr sz="1000" b="1" i="0" dirty="0">
                        <a:solidFill>
                          <a:srgbClr val="0066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noFill/>
                  </a:tcPr>
                </a:tc>
                <a:extLst>
                  <a:ext uri="{0D108BD9-81ED-4DB2-BD59-A6C34878D82A}">
                    <a16:rowId xmlns:a16="http://schemas.microsoft.com/office/drawing/2014/main" val="10003"/>
                  </a:ext>
                </a:extLst>
              </a:tr>
              <a:tr h="502920">
                <a:tc>
                  <a:txBody>
                    <a:bodyPr/>
                    <a:lstStyle/>
                    <a:p>
                      <a:pPr algn="ctr"/>
                      <a:r>
                        <a:rPr sz="1000" b="0" i="0">
                          <a:solidFill>
                            <a:srgbClr val="000000"/>
                          </a:solidFill>
                          <a:latin typeface="맑은 고딕"/>
                          <a:ea typeface="맑은 고딕"/>
                          <a:cs typeface="맑은 고딕"/>
                        </a:rPr>
                        <a:t>QA-04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Scalability</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err="1">
                          <a:solidFill>
                            <a:srgbClr val="000000"/>
                          </a:solidFill>
                          <a:latin typeface="맑은 고딕"/>
                          <a:ea typeface="맑은 고딕"/>
                          <a:cs typeface="맑은 고딕"/>
                        </a:rPr>
                        <a:t>늘어난</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자원에</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비례해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성능이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증가해야</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한다</a:t>
                      </a:r>
                      <a:endParaRPr sz="100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[Scaling Efficiency &gt; 80%]</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lang="ko-KR" altLang="en-US" sz="1000" b="1" i="0" dirty="0">
                          <a:solidFill>
                            <a:srgbClr val="0066FF"/>
                          </a:solidFill>
                          <a:latin typeface="맑은 고딕"/>
                          <a:ea typeface="맑은 고딕"/>
                          <a:cs typeface="맑은 고딕"/>
                        </a:rPr>
                        <a:t>달성</a:t>
                      </a:r>
                      <a:endParaRPr sz="1000" b="1" i="0" dirty="0">
                        <a:solidFill>
                          <a:srgbClr val="0066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noFill/>
                  </a:tcPr>
                </a:tc>
                <a:extLst>
                  <a:ext uri="{0D108BD9-81ED-4DB2-BD59-A6C34878D82A}">
                    <a16:rowId xmlns:a16="http://schemas.microsoft.com/office/drawing/2014/main" val="10004"/>
                  </a:ext>
                </a:extLst>
              </a:tr>
              <a:tr h="502920">
                <a:tc>
                  <a:txBody>
                    <a:bodyPr/>
                    <a:lstStyle/>
                    <a:p>
                      <a:pPr algn="ctr"/>
                      <a:r>
                        <a:rPr sz="1000" b="0" i="0">
                          <a:solidFill>
                            <a:srgbClr val="000000"/>
                          </a:solidFill>
                          <a:latin typeface="맑은 고딕"/>
                          <a:ea typeface="맑은 고딕"/>
                          <a:cs typeface="맑은 고딕"/>
                        </a:rPr>
                        <a:t>QA-05</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Modifiability</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새 </a:t>
                      </a:r>
                      <a:r>
                        <a:rPr sz="1000" b="0" i="0" dirty="0" err="1">
                          <a:solidFill>
                            <a:srgbClr val="000000"/>
                          </a:solidFill>
                          <a:latin typeface="맑은 고딕"/>
                          <a:ea typeface="맑은 고딕"/>
                          <a:cs typeface="맑은 고딕"/>
                        </a:rPr>
                        <a:t>메모리</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tier·이동</a:t>
                      </a:r>
                      <a:r>
                        <a:rPr sz="1000" b="0" i="0" dirty="0">
                          <a:solidFill>
                            <a:srgbClr val="000000"/>
                          </a:solidFill>
                          <a:latin typeface="맑은 고딕"/>
                          <a:ea typeface="맑은 고딕"/>
                          <a:cs typeface="맑은 고딕"/>
                        </a:rPr>
                        <a:t>/</a:t>
                      </a:r>
                      <a:r>
                        <a:rPr sz="1000" b="0" i="0" dirty="0" err="1">
                          <a:solidFill>
                            <a:srgbClr val="000000"/>
                          </a:solidFill>
                          <a:latin typeface="맑은 고딕"/>
                          <a:ea typeface="맑은 고딕"/>
                          <a:cs typeface="맑은 고딕"/>
                        </a:rPr>
                        <a:t>배치</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정책·데이터</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객체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유형을</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서빙</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경로</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수정</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없이</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추가할</a:t>
                      </a:r>
                      <a:r>
                        <a:rPr sz="1000" b="0" i="0" dirty="0">
                          <a:solidFill>
                            <a:srgbClr val="000000"/>
                          </a:solidFill>
                          <a:latin typeface="맑은 고딕"/>
                          <a:ea typeface="맑은 고딕"/>
                          <a:cs typeface="맑은 고딕"/>
                        </a:rPr>
                        <a:t> 수 </a:t>
                      </a:r>
                      <a:r>
                        <a:rPr sz="1000" b="0" i="0" dirty="0" err="1">
                          <a:solidFill>
                            <a:srgbClr val="000000"/>
                          </a:solidFill>
                          <a:latin typeface="맑은 고딕"/>
                          <a:ea typeface="맑은 고딕"/>
                          <a:cs typeface="맑은 고딕"/>
                        </a:rPr>
                        <a:t>있어야</a:t>
                      </a:r>
                      <a:r>
                        <a:rPr sz="1000" b="0" i="0" dirty="0">
                          <a:solidFill>
                            <a:srgbClr val="000000"/>
                          </a:solidFill>
                          <a:latin typeface="맑은 고딕"/>
                          <a:ea typeface="맑은 고딕"/>
                          <a:cs typeface="맑은 고딕"/>
                        </a:rPr>
                        <a:t> </a:t>
                      </a:r>
                      <a:r>
                        <a:rPr sz="1000" b="0" i="0" dirty="0" err="1">
                          <a:solidFill>
                            <a:srgbClr val="000000"/>
                          </a:solidFill>
                          <a:latin typeface="맑은 고딕"/>
                          <a:ea typeface="맑은 고딕"/>
                          <a:cs typeface="맑은 고딕"/>
                        </a:rPr>
                        <a:t>한다</a:t>
                      </a:r>
                      <a:endParaRPr sz="100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1000" b="0" i="0" dirty="0">
                          <a:solidFill>
                            <a:srgbClr val="000000"/>
                          </a:solidFill>
                          <a:latin typeface="맑은 고딕"/>
                          <a:ea typeface="맑은 고딕"/>
                          <a:cs typeface="맑은 고딕"/>
                        </a:rPr>
                        <a:t>[</a:t>
                      </a:r>
                      <a:r>
                        <a:rPr sz="1000" b="0" i="0" dirty="0" err="1">
                          <a:solidFill>
                            <a:srgbClr val="000000"/>
                          </a:solidFill>
                          <a:latin typeface="맑은 고딕"/>
                          <a:ea typeface="맑은 고딕"/>
                          <a:cs typeface="맑은 고딕"/>
                        </a:rPr>
                        <a:t>변경</a:t>
                      </a:r>
                      <a:r>
                        <a:rPr sz="1000" b="0" i="0" dirty="0">
                          <a:solidFill>
                            <a:srgbClr val="000000"/>
                          </a:solidFill>
                          <a:latin typeface="맑은 고딕"/>
                          <a:ea typeface="맑은 고딕"/>
                          <a:cs typeface="맑은 고딕"/>
                        </a:rPr>
                        <a:t> module ≤ 5]</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lang="ko-KR" altLang="en-US" sz="1000" b="1" i="0" dirty="0">
                          <a:solidFill>
                            <a:srgbClr val="0066FF"/>
                          </a:solidFill>
                          <a:latin typeface="맑은 고딕"/>
                          <a:ea typeface="맑은 고딕"/>
                          <a:cs typeface="맑은 고딕"/>
                        </a:rPr>
                        <a:t>달성</a:t>
                      </a:r>
                      <a:endParaRPr sz="1000" b="1" i="0" dirty="0">
                        <a:solidFill>
                          <a:srgbClr val="0066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noFill/>
                  </a:tcPr>
                </a:tc>
                <a:extLst>
                  <a:ext uri="{0D108BD9-81ED-4DB2-BD59-A6C34878D82A}">
                    <a16:rowId xmlns:a16="http://schemas.microsoft.com/office/drawing/2014/main" val="10005"/>
                  </a:ext>
                </a:extLst>
              </a:tr>
            </a:tbl>
          </a:graphicData>
        </a:graphic>
      </p:graphicFrame>
      <p:sp>
        <p:nvSpPr>
          <p:cNvPr id="11" name="Rectangle 10"/>
          <p:cNvSpPr/>
          <p:nvPr/>
        </p:nvSpPr>
        <p:spPr>
          <a:xfrm>
            <a:off x="274320" y="5318760"/>
            <a:ext cx="2240280" cy="4846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en-US" sz="1050" b="1" dirty="0">
                <a:solidFill>
                  <a:srgbClr val="000000"/>
                </a:solidFill>
                <a:latin typeface="맑은 고딕"/>
                <a:ea typeface="맑은 고딕"/>
                <a:cs typeface="맑은 고딕"/>
              </a:rPr>
              <a:t>SLO</a:t>
            </a:r>
            <a:r>
              <a:rPr lang="ko-KR" altLang="en-US" sz="1050" b="1" dirty="0">
                <a:solidFill>
                  <a:srgbClr val="000000"/>
                </a:solidFill>
                <a:latin typeface="맑은 고딕"/>
                <a:ea typeface="맑은 고딕"/>
                <a:cs typeface="맑은 고딕"/>
              </a:rPr>
              <a:t>를 만족하는 </a:t>
            </a:r>
            <a:endParaRPr lang="en-US" altLang="ko-KR" sz="1050" b="1" dirty="0">
              <a:solidFill>
                <a:srgbClr val="000000"/>
              </a:solidFill>
              <a:latin typeface="맑은 고딕"/>
              <a:ea typeface="맑은 고딕"/>
              <a:cs typeface="맑은 고딕"/>
            </a:endParaRPr>
          </a:p>
          <a:p>
            <a:pPr algn="ctr">
              <a:spcAft>
                <a:spcPts val="0"/>
              </a:spcAft>
            </a:pPr>
            <a:r>
              <a:rPr sz="1050" b="1" i="0" dirty="0" err="1">
                <a:solidFill>
                  <a:srgbClr val="000000"/>
                </a:solidFill>
                <a:latin typeface="맑은 고딕"/>
                <a:ea typeface="맑은 고딕"/>
                <a:cs typeface="맑은 고딕"/>
              </a:rPr>
              <a:t>처리량</a:t>
            </a:r>
            <a:r>
              <a:rPr sz="1050" b="1" i="0" dirty="0">
                <a:solidFill>
                  <a:srgbClr val="000000"/>
                </a:solidFill>
                <a:latin typeface="맑은 고딕"/>
                <a:ea typeface="맑은 고딕"/>
                <a:cs typeface="맑은 고딕"/>
              </a:rPr>
              <a:t> </a:t>
            </a:r>
            <a:r>
              <a:rPr lang="ko-KR" altLang="en-US" sz="1050" b="1" i="0" dirty="0" err="1">
                <a:solidFill>
                  <a:srgbClr val="000000"/>
                </a:solidFill>
                <a:latin typeface="맑은 고딕"/>
                <a:ea typeface="맑은 고딕"/>
                <a:cs typeface="맑은 고딕"/>
              </a:rPr>
              <a:t>개선율</a:t>
            </a:r>
            <a:r>
              <a:rPr lang="ko-KR" altLang="en-US" sz="1050" b="1" i="0" dirty="0">
                <a:solidFill>
                  <a:srgbClr val="000000"/>
                </a:solidFill>
                <a:latin typeface="맑은 고딕"/>
                <a:ea typeface="맑은 고딕"/>
                <a:cs typeface="맑은 고딕"/>
              </a:rPr>
              <a:t> </a:t>
            </a:r>
            <a:r>
              <a:rPr lang="en-US" altLang="ko-KR" sz="1050" b="1" dirty="0">
                <a:solidFill>
                  <a:srgbClr val="000000"/>
                </a:solidFill>
                <a:latin typeface="맑은 고딕"/>
                <a:ea typeface="맑은 고딕"/>
                <a:cs typeface="맑은 고딕"/>
              </a:rPr>
              <a:t>2.34  </a:t>
            </a:r>
            <a:endParaRPr lang="en-US" altLang="ko-KR" sz="1050" b="1" i="0" dirty="0">
              <a:solidFill>
                <a:srgbClr val="000000"/>
              </a:solidFill>
              <a:latin typeface="맑은 고딕"/>
              <a:ea typeface="맑은 고딕"/>
              <a:cs typeface="맑은 고딕"/>
            </a:endParaRPr>
          </a:p>
        </p:txBody>
      </p:sp>
      <p:sp>
        <p:nvSpPr>
          <p:cNvPr id="12" name="Rectangle 11"/>
          <p:cNvSpPr/>
          <p:nvPr/>
        </p:nvSpPr>
        <p:spPr>
          <a:xfrm>
            <a:off x="1005840" y="5903836"/>
            <a:ext cx="777240" cy="219456"/>
          </a:xfrm>
          <a:prstGeom prst="rect">
            <a:avLst/>
          </a:prstGeom>
          <a:solidFill>
            <a:srgbClr val="833C0B"/>
          </a:solidFill>
          <a:ln w="10160">
            <a:solidFill>
              <a:srgbClr val="833C0B"/>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800" b="1" i="0" dirty="0">
                <a:solidFill>
                  <a:srgbClr val="FFFFFF"/>
                </a:solidFill>
                <a:latin typeface="맑은 고딕"/>
                <a:ea typeface="맑은 고딕"/>
                <a:cs typeface="맑은 고딕"/>
              </a:rPr>
              <a:t>QA-01</a:t>
            </a:r>
          </a:p>
        </p:txBody>
      </p:sp>
      <p:sp>
        <p:nvSpPr>
          <p:cNvPr id="13" name="Rectangle 12"/>
          <p:cNvSpPr/>
          <p:nvPr/>
        </p:nvSpPr>
        <p:spPr>
          <a:xfrm>
            <a:off x="2633472" y="3886200"/>
            <a:ext cx="2240280" cy="11887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050" b="1" i="0" dirty="0">
                <a:solidFill>
                  <a:srgbClr val="000000"/>
                </a:solidFill>
                <a:latin typeface="맑은 고딕"/>
                <a:ea typeface="맑은 고딕"/>
                <a:cs typeface="맑은 고딕"/>
              </a:rPr>
              <a:t>HBM </a:t>
            </a:r>
            <a:r>
              <a:rPr sz="1050" b="1" i="0" dirty="0" err="1">
                <a:solidFill>
                  <a:srgbClr val="000000"/>
                </a:solidFill>
                <a:latin typeface="맑은 고딕"/>
                <a:ea typeface="맑은 고딕"/>
                <a:cs typeface="맑은 고딕"/>
              </a:rPr>
              <a:t>감소</a:t>
            </a:r>
            <a:r>
              <a:rPr sz="1050" b="1" i="0" dirty="0">
                <a:solidFill>
                  <a:srgbClr val="000000"/>
                </a:solidFill>
                <a:latin typeface="맑은 고딕"/>
                <a:ea typeface="맑은 고딕"/>
                <a:cs typeface="맑은 고딕"/>
              </a:rPr>
              <a:t> </a:t>
            </a:r>
            <a:endParaRPr lang="en-US" sz="1050" b="1" i="0" dirty="0">
              <a:solidFill>
                <a:srgbClr val="000000"/>
              </a:solidFill>
              <a:latin typeface="맑은 고딕"/>
              <a:ea typeface="맑은 고딕"/>
              <a:cs typeface="맑은 고딕"/>
            </a:endParaRPr>
          </a:p>
          <a:p>
            <a:pPr algn="ctr">
              <a:spcAft>
                <a:spcPts val="0"/>
              </a:spcAft>
            </a:pPr>
            <a:endParaRPr sz="1050" b="1" i="0" dirty="0">
              <a:solidFill>
                <a:srgbClr val="000000"/>
              </a:solidFill>
              <a:latin typeface="맑은 고딕"/>
              <a:ea typeface="맑은 고딕"/>
              <a:cs typeface="맑은 고딕"/>
            </a:endParaRPr>
          </a:p>
          <a:p>
            <a:pPr algn="ctr">
              <a:spcAft>
                <a:spcPts val="0"/>
              </a:spcAft>
            </a:pPr>
            <a:r>
              <a:rPr sz="800" b="0" i="0" dirty="0">
                <a:solidFill>
                  <a:srgbClr val="000000"/>
                </a:solidFill>
                <a:latin typeface="맑은 고딕"/>
                <a:ea typeface="맑은 고딕"/>
                <a:cs typeface="맑은 고딕"/>
              </a:rPr>
              <a:t>DP3 −25% </a:t>
            </a:r>
            <a:r>
              <a:rPr sz="800" b="0" i="0" dirty="0" err="1">
                <a:solidFill>
                  <a:srgbClr val="000000"/>
                </a:solidFill>
                <a:latin typeface="맑은 고딕"/>
                <a:ea typeface="맑은 고딕"/>
                <a:cs typeface="맑은 고딕"/>
              </a:rPr>
              <a:t>달성</a:t>
            </a:r>
            <a:endParaRPr sz="800" b="0" i="0" dirty="0">
              <a:solidFill>
                <a:srgbClr val="000000"/>
              </a:solidFill>
              <a:latin typeface="맑은 고딕"/>
              <a:ea typeface="맑은 고딕"/>
              <a:cs typeface="맑은 고딕"/>
            </a:endParaRPr>
          </a:p>
          <a:p>
            <a:pPr algn="ctr">
              <a:spcAft>
                <a:spcPts val="0"/>
              </a:spcAft>
            </a:pPr>
            <a:r>
              <a:rPr sz="800" b="0" i="0" dirty="0">
                <a:solidFill>
                  <a:srgbClr val="000000"/>
                </a:solidFill>
                <a:latin typeface="맑은 고딕"/>
                <a:ea typeface="맑은 고딕"/>
                <a:cs typeface="맑은 고딕"/>
              </a:rPr>
              <a:t>DP1 −5% · DP2 −8% </a:t>
            </a:r>
            <a:r>
              <a:rPr sz="800" b="0" i="0" dirty="0" err="1">
                <a:solidFill>
                  <a:srgbClr val="000000"/>
                </a:solidFill>
                <a:latin typeface="맑은 고딕"/>
                <a:ea typeface="맑은 고딕"/>
                <a:cs typeface="맑은 고딕"/>
              </a:rPr>
              <a:t>미달</a:t>
            </a:r>
            <a:endParaRPr sz="800" b="0" i="0" dirty="0">
              <a:solidFill>
                <a:srgbClr val="000000"/>
              </a:solidFill>
              <a:latin typeface="맑은 고딕"/>
              <a:ea typeface="맑은 고딕"/>
              <a:cs typeface="맑은 고딕"/>
            </a:endParaRPr>
          </a:p>
          <a:p>
            <a:pPr algn="ctr">
              <a:spcAft>
                <a:spcPts val="0"/>
              </a:spcAft>
            </a:pPr>
            <a:r>
              <a:rPr sz="800" b="0" i="0" dirty="0">
                <a:solidFill>
                  <a:srgbClr val="000000"/>
                </a:solidFill>
                <a:latin typeface="맑은 고딕"/>
                <a:ea typeface="맑은 고딕"/>
                <a:cs typeface="맑은 고딕"/>
              </a:rPr>
              <a:t>&lt; 20% </a:t>
            </a:r>
          </a:p>
        </p:txBody>
      </p:sp>
      <p:sp>
        <p:nvSpPr>
          <p:cNvPr id="14" name="Rectangle 13"/>
          <p:cNvSpPr/>
          <p:nvPr/>
        </p:nvSpPr>
        <p:spPr>
          <a:xfrm>
            <a:off x="3364991" y="5102352"/>
            <a:ext cx="777240" cy="219456"/>
          </a:xfrm>
          <a:prstGeom prst="rect">
            <a:avLst/>
          </a:prstGeom>
          <a:solidFill>
            <a:srgbClr val="833C0B"/>
          </a:solidFill>
          <a:ln w="10160">
            <a:solidFill>
              <a:srgbClr val="833C0B"/>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800" b="1" i="0">
                <a:solidFill>
                  <a:srgbClr val="FFFFFF"/>
                </a:solidFill>
                <a:latin typeface="맑은 고딕"/>
                <a:ea typeface="맑은 고딕"/>
                <a:cs typeface="맑은 고딕"/>
              </a:rPr>
              <a:t>QA-02</a:t>
            </a:r>
          </a:p>
        </p:txBody>
      </p:sp>
      <p:sp>
        <p:nvSpPr>
          <p:cNvPr id="15" name="Rectangle 14"/>
          <p:cNvSpPr/>
          <p:nvPr/>
        </p:nvSpPr>
        <p:spPr>
          <a:xfrm>
            <a:off x="4992624" y="3886200"/>
            <a:ext cx="2240280" cy="11887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050" b="1" i="0" dirty="0">
                <a:solidFill>
                  <a:srgbClr val="000000"/>
                </a:solidFill>
                <a:latin typeface="맑은 고딕"/>
                <a:ea typeface="맑은 고딕"/>
                <a:cs typeface="맑은 고딕"/>
              </a:rPr>
              <a:t>P99 </a:t>
            </a:r>
            <a:r>
              <a:rPr sz="1050" b="1" i="0" dirty="0" err="1">
                <a:solidFill>
                  <a:srgbClr val="000000"/>
                </a:solidFill>
                <a:latin typeface="맑은 고딕"/>
                <a:ea typeface="맑은 고딕"/>
                <a:cs typeface="맑은 고딕"/>
              </a:rPr>
              <a:t>개선</a:t>
            </a:r>
            <a:r>
              <a:rPr sz="1050" b="1" i="0" dirty="0">
                <a:solidFill>
                  <a:srgbClr val="000000"/>
                </a:solidFill>
                <a:latin typeface="맑은 고딕"/>
                <a:ea typeface="맑은 고딕"/>
                <a:cs typeface="맑은 고딕"/>
              </a:rPr>
              <a:t> </a:t>
            </a:r>
          </a:p>
          <a:p>
            <a:pPr algn="ctr">
              <a:spcAft>
                <a:spcPts val="0"/>
              </a:spcAft>
            </a:pPr>
            <a:r>
              <a:rPr sz="800" b="0" i="0" dirty="0">
                <a:solidFill>
                  <a:srgbClr val="000000"/>
                </a:solidFill>
                <a:latin typeface="맑은 고딕"/>
                <a:ea typeface="맑은 고딕"/>
                <a:cs typeface="맑은 고딕"/>
              </a:rPr>
              <a:t>DP1 2.14 · DP2 2.35</a:t>
            </a:r>
          </a:p>
          <a:p>
            <a:pPr algn="ctr">
              <a:spcAft>
                <a:spcPts val="0"/>
              </a:spcAft>
            </a:pPr>
            <a:r>
              <a:rPr sz="800" b="0" i="0" dirty="0">
                <a:solidFill>
                  <a:srgbClr val="000000"/>
                </a:solidFill>
                <a:latin typeface="맑은 고딕"/>
                <a:ea typeface="맑은 고딕"/>
                <a:cs typeface="맑은 고딕"/>
              </a:rPr>
              <a:t>DP3 2.76 · DP4 3.36</a:t>
            </a:r>
          </a:p>
          <a:p>
            <a:pPr algn="ctr">
              <a:spcAft>
                <a:spcPts val="0"/>
              </a:spcAft>
            </a:pPr>
            <a:r>
              <a:rPr sz="800" b="0" i="0" dirty="0">
                <a:solidFill>
                  <a:srgbClr val="000000"/>
                </a:solidFill>
                <a:latin typeface="맑은 고딕"/>
                <a:ea typeface="맑은 고딕"/>
                <a:cs typeface="맑은 고딕"/>
              </a:rPr>
              <a:t>≥ 1.43 (B1 2.10)</a:t>
            </a:r>
          </a:p>
        </p:txBody>
      </p:sp>
      <p:sp>
        <p:nvSpPr>
          <p:cNvPr id="16" name="Rectangle 15"/>
          <p:cNvSpPr/>
          <p:nvPr/>
        </p:nvSpPr>
        <p:spPr>
          <a:xfrm>
            <a:off x="5724144" y="5102352"/>
            <a:ext cx="777240" cy="219456"/>
          </a:xfrm>
          <a:prstGeom prst="rect">
            <a:avLst/>
          </a:prstGeom>
          <a:solidFill>
            <a:srgbClr val="833C0B"/>
          </a:solidFill>
          <a:ln w="10160">
            <a:solidFill>
              <a:srgbClr val="833C0B"/>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17" name="Rectangle 16"/>
          <p:cNvSpPr/>
          <p:nvPr/>
        </p:nvSpPr>
        <p:spPr>
          <a:xfrm>
            <a:off x="7351776" y="3886200"/>
            <a:ext cx="2240280" cy="11887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050" b="1" i="0" dirty="0">
                <a:solidFill>
                  <a:srgbClr val="000000"/>
                </a:solidFill>
                <a:latin typeface="맑은 고딕"/>
                <a:ea typeface="맑은 고딕"/>
                <a:cs typeface="맑은 고딕"/>
              </a:rPr>
              <a:t>SE(N=16) </a:t>
            </a:r>
            <a:endParaRPr lang="en-US" sz="1050" b="1" i="0" dirty="0">
              <a:solidFill>
                <a:srgbClr val="000000"/>
              </a:solidFill>
              <a:latin typeface="맑은 고딕"/>
              <a:ea typeface="맑은 고딕"/>
              <a:cs typeface="맑은 고딕"/>
            </a:endParaRPr>
          </a:p>
          <a:p>
            <a:pPr algn="ctr">
              <a:spcAft>
                <a:spcPts val="0"/>
              </a:spcAft>
            </a:pPr>
            <a:endParaRPr sz="800" b="0" i="0" dirty="0">
              <a:solidFill>
                <a:srgbClr val="000000"/>
              </a:solidFill>
              <a:latin typeface="맑은 고딕"/>
              <a:ea typeface="맑은 고딕"/>
              <a:cs typeface="맑은 고딕"/>
            </a:endParaRPr>
          </a:p>
          <a:p>
            <a:pPr algn="ctr">
              <a:spcAft>
                <a:spcPts val="0"/>
              </a:spcAft>
            </a:pPr>
            <a:r>
              <a:rPr sz="800" b="0" i="0" dirty="0">
                <a:solidFill>
                  <a:srgbClr val="000000"/>
                </a:solidFill>
                <a:latin typeface="맑은 고딕"/>
                <a:ea typeface="맑은 고딕"/>
                <a:cs typeface="맑은 고딕"/>
              </a:rPr>
              <a:t>DP2 97% · DP4 99%</a:t>
            </a:r>
          </a:p>
          <a:p>
            <a:pPr algn="ctr">
              <a:spcAft>
                <a:spcPts val="0"/>
              </a:spcAft>
            </a:pPr>
            <a:r>
              <a:rPr sz="800" b="0" i="0" dirty="0">
                <a:solidFill>
                  <a:srgbClr val="000000"/>
                </a:solidFill>
                <a:latin typeface="맑은 고딕"/>
                <a:ea typeface="맑은 고딕"/>
                <a:cs typeface="맑은 고딕"/>
              </a:rPr>
              <a:t>&gt; 80%</a:t>
            </a:r>
          </a:p>
        </p:txBody>
      </p:sp>
      <p:sp>
        <p:nvSpPr>
          <p:cNvPr id="18" name="Rectangle 17"/>
          <p:cNvSpPr/>
          <p:nvPr/>
        </p:nvSpPr>
        <p:spPr>
          <a:xfrm>
            <a:off x="8083296" y="5102352"/>
            <a:ext cx="777240" cy="219456"/>
          </a:xfrm>
          <a:prstGeom prst="rect">
            <a:avLst/>
          </a:prstGeom>
          <a:solidFill>
            <a:srgbClr val="833C0B"/>
          </a:solidFill>
          <a:ln w="10160">
            <a:solidFill>
              <a:srgbClr val="833C0B"/>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800" b="1" i="0">
                <a:solidFill>
                  <a:srgbClr val="FFFFFF"/>
                </a:solidFill>
                <a:latin typeface="맑은 고딕"/>
                <a:ea typeface="맑은 고딕"/>
                <a:cs typeface="맑은 고딕"/>
              </a:rPr>
              <a:t>QA-04</a:t>
            </a:r>
          </a:p>
        </p:txBody>
      </p:sp>
      <p:sp>
        <p:nvSpPr>
          <p:cNvPr id="19" name="Rectangle 18"/>
          <p:cNvSpPr/>
          <p:nvPr/>
        </p:nvSpPr>
        <p:spPr>
          <a:xfrm>
            <a:off x="9710928" y="3886200"/>
            <a:ext cx="2240280" cy="11887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050" b="1" i="0" dirty="0" err="1">
                <a:solidFill>
                  <a:srgbClr val="000000"/>
                </a:solidFill>
                <a:latin typeface="맑은 고딕"/>
                <a:ea typeface="맑은 고딕"/>
                <a:cs typeface="맑은 고딕"/>
              </a:rPr>
              <a:t>변경</a:t>
            </a:r>
            <a:r>
              <a:rPr sz="1050" b="1" i="0" dirty="0">
                <a:solidFill>
                  <a:srgbClr val="000000"/>
                </a:solidFill>
                <a:latin typeface="맑은 고딕"/>
                <a:ea typeface="맑은 고딕"/>
                <a:cs typeface="맑은 고딕"/>
              </a:rPr>
              <a:t> module · M/M</a:t>
            </a:r>
            <a:endParaRPr lang="en-US" sz="1050" b="1" i="0" dirty="0">
              <a:solidFill>
                <a:srgbClr val="000000"/>
              </a:solidFill>
              <a:latin typeface="맑은 고딕"/>
              <a:ea typeface="맑은 고딕"/>
              <a:cs typeface="맑은 고딕"/>
            </a:endParaRPr>
          </a:p>
          <a:p>
            <a:pPr algn="ctr">
              <a:spcAft>
                <a:spcPts val="0"/>
              </a:spcAft>
            </a:pPr>
            <a:endParaRPr sz="1050" b="1" i="0" dirty="0">
              <a:solidFill>
                <a:srgbClr val="000000"/>
              </a:solidFill>
              <a:latin typeface="맑은 고딕"/>
              <a:ea typeface="맑은 고딕"/>
              <a:cs typeface="맑은 고딕"/>
            </a:endParaRPr>
          </a:p>
          <a:p>
            <a:pPr algn="ctr">
              <a:spcAft>
                <a:spcPts val="0"/>
              </a:spcAft>
            </a:pPr>
            <a:r>
              <a:rPr sz="800" b="0" i="0" dirty="0">
                <a:solidFill>
                  <a:srgbClr val="000000"/>
                </a:solidFill>
                <a:latin typeface="맑은 고딕"/>
                <a:ea typeface="맑은 고딕"/>
                <a:cs typeface="맑은 고딕"/>
              </a:rPr>
              <a:t>DP1 2.5개 · 0.51 MM</a:t>
            </a:r>
          </a:p>
          <a:p>
            <a:pPr algn="ctr">
              <a:spcAft>
                <a:spcPts val="0"/>
              </a:spcAft>
            </a:pPr>
            <a:r>
              <a:rPr sz="800" b="0" i="0" dirty="0">
                <a:solidFill>
                  <a:srgbClr val="000000"/>
                </a:solidFill>
                <a:latin typeface="맑은 고딕"/>
                <a:ea typeface="맑은 고딕"/>
                <a:cs typeface="맑은 고딕"/>
              </a:rPr>
              <a:t>≤ 5 · 1.0</a:t>
            </a:r>
          </a:p>
        </p:txBody>
      </p:sp>
      <p:sp>
        <p:nvSpPr>
          <p:cNvPr id="20" name="Rectangle 19"/>
          <p:cNvSpPr/>
          <p:nvPr/>
        </p:nvSpPr>
        <p:spPr>
          <a:xfrm>
            <a:off x="10442448" y="5102352"/>
            <a:ext cx="777240" cy="219456"/>
          </a:xfrm>
          <a:prstGeom prst="rect">
            <a:avLst/>
          </a:prstGeom>
          <a:solidFill>
            <a:srgbClr val="833C0B"/>
          </a:solidFill>
          <a:ln w="10160">
            <a:solidFill>
              <a:srgbClr val="833C0B"/>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800" b="1" i="0">
                <a:solidFill>
                  <a:srgbClr val="FFFFFF"/>
                </a:solidFill>
                <a:latin typeface="맑은 고딕"/>
                <a:ea typeface="맑은 고딕"/>
                <a:cs typeface="맑은 고딕"/>
              </a:rPr>
              <a:t>QA-05</a:t>
            </a:r>
          </a:p>
        </p:txBody>
      </p:sp>
      <p:pic>
        <p:nvPicPr>
          <p:cNvPr id="21" name="그림 20"/>
          <p:cNvPicPr>
            <a:picLocks noChangeAspect="1"/>
          </p:cNvPicPr>
          <p:nvPr/>
        </p:nvPicPr>
        <p:blipFill rotWithShape="1">
          <a:blip r:embed="rId3"/>
          <a:srcRect t="38673" r="8155"/>
          <a:stretch/>
        </p:blipFill>
        <p:spPr>
          <a:xfrm>
            <a:off x="2728666" y="3899985"/>
            <a:ext cx="2049890" cy="1661091"/>
          </a:xfrm>
          <a:prstGeom prst="rect">
            <a:avLst/>
          </a:prstGeom>
        </p:spPr>
      </p:pic>
      <p:pic>
        <p:nvPicPr>
          <p:cNvPr id="22" name="그림 21"/>
          <p:cNvPicPr>
            <a:picLocks noChangeAspect="1"/>
          </p:cNvPicPr>
          <p:nvPr/>
        </p:nvPicPr>
        <p:blipFill rotWithShape="1">
          <a:blip r:embed="rId4"/>
          <a:srcRect l="283" t="79416" r="7510" b="516"/>
          <a:stretch/>
        </p:blipFill>
        <p:spPr>
          <a:xfrm>
            <a:off x="329685" y="3886200"/>
            <a:ext cx="2193636" cy="692727"/>
          </a:xfrm>
          <a:prstGeom prst="rect">
            <a:avLst/>
          </a:prstGeom>
        </p:spPr>
      </p:pic>
      <p:sp>
        <p:nvSpPr>
          <p:cNvPr id="23" name="TextBox 22"/>
          <p:cNvSpPr txBox="1"/>
          <p:nvPr/>
        </p:nvSpPr>
        <p:spPr>
          <a:xfrm>
            <a:off x="5638800" y="2971800"/>
            <a:ext cx="65" cy="276999"/>
          </a:xfrm>
          <a:prstGeom prst="rect">
            <a:avLst/>
          </a:prstGeom>
          <a:noFill/>
        </p:spPr>
        <p:txBody>
          <a:bodyPr wrap="none" lIns="0" tIns="0" rIns="0" bIns="0" rtlCol="0">
            <a:spAutoFit/>
          </a:bodyPr>
          <a:lstStyle/>
          <a:p>
            <a:endParaRPr lang="ko-KR" altLang="en-US" dirty="0"/>
          </a:p>
        </p:txBody>
      </p:sp>
      <p:sp>
        <p:nvSpPr>
          <p:cNvPr id="24" name="실행 단추: 앞으로 또는 다음 23">
            <a:hlinkClick r:id="" action="ppaction://hlinkshowjump?jump=nextslide" highlightClick="1"/>
          </p:cNvPr>
          <p:cNvSpPr/>
          <p:nvPr/>
        </p:nvSpPr>
        <p:spPr>
          <a:xfrm>
            <a:off x="11681460" y="1158240"/>
            <a:ext cx="182880" cy="22098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14333308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성과 및 계획</a:t>
            </a:r>
          </a:p>
        </p:txBody>
      </p:sp>
      <p:sp>
        <p:nvSpPr>
          <p:cNvPr id="5" name="모서리가 둥근 직사각형 4"/>
          <p:cNvSpPr/>
          <p:nvPr/>
        </p:nvSpPr>
        <p:spPr>
          <a:xfrm>
            <a:off x="6142841" y="877895"/>
            <a:ext cx="5830571" cy="5492838"/>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모서리가 둥근 직사각형 5"/>
          <p:cNvSpPr/>
          <p:nvPr/>
        </p:nvSpPr>
        <p:spPr>
          <a:xfrm>
            <a:off x="234948" y="877895"/>
            <a:ext cx="5830571" cy="5492839"/>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p:cNvSpPr/>
          <p:nvPr/>
        </p:nvSpPr>
        <p:spPr>
          <a:xfrm>
            <a:off x="803967" y="677569"/>
            <a:ext cx="4716897"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성과</a:t>
            </a:r>
            <a:endParaRPr lang="en-US" altLang="ko-KR" sz="1400" b="1" dirty="0"/>
          </a:p>
        </p:txBody>
      </p:sp>
      <p:sp>
        <p:nvSpPr>
          <p:cNvPr id="8" name="직사각형 7"/>
          <p:cNvSpPr/>
          <p:nvPr/>
        </p:nvSpPr>
        <p:spPr>
          <a:xfrm>
            <a:off x="6943438" y="677569"/>
            <a:ext cx="4288088"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향후 계획</a:t>
            </a:r>
          </a:p>
        </p:txBody>
      </p:sp>
      <p:sp>
        <p:nvSpPr>
          <p:cNvPr id="14" name="Text 72">
            <a:extLst>
              <a:ext uri="{FF2B5EF4-FFF2-40B4-BE49-F238E27FC236}">
                <a16:creationId xmlns:a16="http://schemas.microsoft.com/office/drawing/2014/main" id="{6A49CD4B-9085-4E60-A50E-F364EF7FACD3}"/>
              </a:ext>
            </a:extLst>
          </p:cNvPr>
          <p:cNvSpPr/>
          <p:nvPr/>
        </p:nvSpPr>
        <p:spPr>
          <a:xfrm>
            <a:off x="355600" y="6367859"/>
            <a:ext cx="11825224" cy="406400"/>
          </a:xfrm>
          <a:prstGeom prst="rect">
            <a:avLst/>
          </a:prstGeom>
          <a:noFill/>
          <a:ln/>
        </p:spPr>
        <p:txBody>
          <a:bodyPr wrap="square" lIns="0" tIns="0" rIns="0" bIns="0" rtlCol="0" anchor="t">
            <a:normAutofit/>
          </a:bodyPr>
          <a:lstStyle/>
          <a:p>
            <a:pPr marL="0" indent="0" algn="l">
              <a:lnSpc>
                <a:spcPts val="1500"/>
              </a:lnSpc>
              <a:buNone/>
            </a:pPr>
            <a:endParaRPr lang="en-US" sz="800" dirty="0"/>
          </a:p>
        </p:txBody>
      </p:sp>
      <p:sp>
        <p:nvSpPr>
          <p:cNvPr id="78" name="TextBox 77"/>
          <p:cNvSpPr txBox="1"/>
          <p:nvPr/>
        </p:nvSpPr>
        <p:spPr>
          <a:xfrm>
            <a:off x="302260" y="1133557"/>
            <a:ext cx="5771860" cy="1373453"/>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이기종 메모리를 활용하여 </a:t>
            </a:r>
            <a:r>
              <a:rPr lang="en-US" altLang="ko-KR" sz="1200" b="1" dirty="0"/>
              <a:t>LLM </a:t>
            </a:r>
            <a:r>
              <a:rPr lang="ko-KR" altLang="en-US" sz="1200" b="1" dirty="0"/>
              <a:t>추론 성능을 향상시키는 </a:t>
            </a:r>
            <a:r>
              <a:rPr lang="ko-KR" altLang="en-US" sz="1200" b="1" dirty="0" err="1"/>
              <a:t>서빙</a:t>
            </a:r>
            <a:r>
              <a:rPr lang="ko-KR" altLang="en-US" sz="1200" b="1" dirty="0"/>
              <a:t> 엔진</a:t>
            </a:r>
            <a:r>
              <a:rPr lang="en-US" altLang="ko-KR" sz="1200" b="1" dirty="0"/>
              <a:t>(AI </a:t>
            </a:r>
            <a:r>
              <a:rPr lang="ko-KR" altLang="en-US" sz="1200" b="1" dirty="0"/>
              <a:t>추론 런타임</a:t>
            </a:r>
            <a:r>
              <a:rPr lang="en-US" altLang="ko-KR" sz="1200" b="1" dirty="0"/>
              <a:t>) </a:t>
            </a:r>
            <a:r>
              <a:rPr lang="ko-KR" altLang="en-US" sz="1200" b="1" dirty="0"/>
              <a:t>설계 및 구현 </a:t>
            </a:r>
            <a:endParaRPr lang="en-US" altLang="ko-KR" sz="1200" b="1" dirty="0"/>
          </a:p>
          <a:p>
            <a:pPr marL="171450" indent="-171450" algn="l">
              <a:lnSpc>
                <a:spcPct val="150000"/>
              </a:lnSpc>
              <a:buFontTx/>
              <a:buChar char="-"/>
            </a:pPr>
            <a:r>
              <a:rPr lang="ko-KR" altLang="en-US" sz="1050" dirty="0" smtClean="0"/>
              <a:t>처리량 </a:t>
            </a:r>
            <a:r>
              <a:rPr lang="en-US" altLang="ko-KR" sz="1050" dirty="0"/>
              <a:t>2.7</a:t>
            </a:r>
            <a:r>
              <a:rPr lang="ko-KR" altLang="en-US" sz="1050" dirty="0"/>
              <a:t>배 이상 가속</a:t>
            </a:r>
            <a:r>
              <a:rPr lang="en-US" altLang="ko-KR" sz="1050" dirty="0"/>
              <a:t>, </a:t>
            </a:r>
            <a:r>
              <a:rPr lang="ko-KR" altLang="en-US" sz="1050" dirty="0"/>
              <a:t>처리 문맥 </a:t>
            </a:r>
            <a:r>
              <a:rPr lang="en-US" altLang="ko-KR" sz="1050" dirty="0"/>
              <a:t>512K -&gt; 10M </a:t>
            </a:r>
            <a:r>
              <a:rPr lang="ko-KR" altLang="en-US" sz="1050" dirty="0"/>
              <a:t>확대 </a:t>
            </a:r>
            <a:endParaRPr lang="en-US" altLang="ko-KR" sz="1050" dirty="0"/>
          </a:p>
          <a:p>
            <a:pPr marL="171450" indent="-171450" algn="l">
              <a:lnSpc>
                <a:spcPct val="150000"/>
              </a:lnSpc>
              <a:buFontTx/>
              <a:buChar char="-"/>
            </a:pPr>
            <a:r>
              <a:rPr lang="en-US" altLang="ko-KR" sz="1050" dirty="0"/>
              <a:t>CXL-PNM </a:t>
            </a:r>
            <a:r>
              <a:rPr lang="ko-KR" altLang="en-US" sz="1050" dirty="0"/>
              <a:t>활용 연산 </a:t>
            </a:r>
            <a:r>
              <a:rPr lang="en-US" altLang="ko-KR" sz="1050" dirty="0"/>
              <a:t>offloading</a:t>
            </a:r>
            <a:r>
              <a:rPr lang="ko-KR" altLang="en-US" sz="1050" dirty="0"/>
              <a:t>으로 </a:t>
            </a:r>
            <a:r>
              <a:rPr lang="ko-KR" altLang="en-US" sz="1050" dirty="0" err="1"/>
              <a:t>장문맥</a:t>
            </a:r>
            <a:r>
              <a:rPr lang="ko-KR" altLang="en-US" sz="1050" dirty="0"/>
              <a:t> 토큰 생성 </a:t>
            </a:r>
            <a:r>
              <a:rPr lang="en-US" altLang="ko-KR" sz="1050" dirty="0" smtClean="0"/>
              <a:t>latency 3.4x </a:t>
            </a:r>
            <a:r>
              <a:rPr lang="ko-KR" altLang="en-US" sz="1050" dirty="0" smtClean="0"/>
              <a:t>절감</a:t>
            </a:r>
            <a:endParaRPr lang="en-US" altLang="ko-KR" sz="1050" dirty="0"/>
          </a:p>
          <a:p>
            <a:pPr marL="171450" indent="-171450" algn="l">
              <a:lnSpc>
                <a:spcPct val="150000"/>
              </a:lnSpc>
              <a:buFontTx/>
              <a:buChar char="-"/>
            </a:pPr>
            <a:r>
              <a:rPr lang="en-US" altLang="ko-KR" sz="1050" dirty="0"/>
              <a:t>PIM-SSD </a:t>
            </a:r>
            <a:r>
              <a:rPr lang="ko-KR" altLang="en-US" sz="1050" dirty="0"/>
              <a:t>활용 연산 </a:t>
            </a:r>
            <a:r>
              <a:rPr lang="en-US" altLang="ko-KR" sz="1050" dirty="0"/>
              <a:t>offloading</a:t>
            </a:r>
            <a:r>
              <a:rPr lang="ko-KR" altLang="en-US" sz="1050" dirty="0"/>
              <a:t>으로 문서 검색 속도 </a:t>
            </a:r>
            <a:r>
              <a:rPr lang="en-US" altLang="ko-KR" sz="1050" dirty="0"/>
              <a:t>2~3.6x </a:t>
            </a:r>
            <a:r>
              <a:rPr lang="ko-KR" altLang="en-US" sz="1050" dirty="0"/>
              <a:t>가속</a:t>
            </a:r>
            <a:endParaRPr lang="en-US" altLang="ko-KR" sz="1050" dirty="0"/>
          </a:p>
        </p:txBody>
      </p:sp>
      <p:sp>
        <p:nvSpPr>
          <p:cNvPr id="79" name="TextBox 78"/>
          <p:cNvSpPr txBox="1"/>
          <p:nvPr/>
        </p:nvSpPr>
        <p:spPr>
          <a:xfrm>
            <a:off x="6286500" y="1137384"/>
            <a:ext cx="5664052" cy="2585323"/>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b="1" dirty="0"/>
              <a:t>■ </a:t>
            </a:r>
            <a:r>
              <a:rPr lang="en-US" altLang="ko-KR" sz="1200" b="1" dirty="0" err="1"/>
              <a:t>vLLM</a:t>
            </a:r>
            <a:r>
              <a:rPr lang="en-US" altLang="ko-KR" sz="1200" b="1" dirty="0"/>
              <a:t> </a:t>
            </a:r>
            <a:r>
              <a:rPr lang="ko-KR" altLang="en-US" sz="1200" b="1" dirty="0"/>
              <a:t>기반 </a:t>
            </a:r>
            <a:r>
              <a:rPr lang="en-US" altLang="ko-KR" sz="1200" b="1" dirty="0"/>
              <a:t>Runtime </a:t>
            </a:r>
            <a:r>
              <a:rPr lang="ko-KR" altLang="en-US" sz="1200" b="1" dirty="0"/>
              <a:t>통합 구현 및 시스템 수준 성능 검증</a:t>
            </a:r>
            <a:endParaRPr lang="en-US" altLang="ko-KR" sz="1200" b="1" dirty="0"/>
          </a:p>
          <a:p>
            <a:pPr marL="171450" indent="-171450" algn="l">
              <a:lnSpc>
                <a:spcPct val="150000"/>
              </a:lnSpc>
              <a:buFontTx/>
              <a:buChar char="-"/>
            </a:pPr>
            <a:r>
              <a:rPr lang="ko-KR" altLang="en-US" sz="1050" dirty="0"/>
              <a:t>핵심 설계 요소를 </a:t>
            </a:r>
            <a:r>
              <a:rPr lang="en-US" altLang="ko-KR" sz="1050" dirty="0" err="1"/>
              <a:t>vLLM</a:t>
            </a:r>
            <a:r>
              <a:rPr lang="ko-KR" altLang="en-US" sz="1050" dirty="0"/>
              <a:t>에 </a:t>
            </a:r>
            <a:r>
              <a:rPr lang="en-US" altLang="ko-KR" sz="1050" dirty="0"/>
              <a:t>Integrate, </a:t>
            </a:r>
            <a:r>
              <a:rPr lang="ko-KR" altLang="en-US" sz="1050" dirty="0"/>
              <a:t>기능 간 연계 및 통합 동작 검증</a:t>
            </a:r>
            <a:r>
              <a:rPr lang="en-US" altLang="ko-KR" sz="1050" dirty="0"/>
              <a:t>(Integration Test)</a:t>
            </a:r>
          </a:p>
          <a:p>
            <a:pPr marL="171450" indent="-171450" algn="l">
              <a:lnSpc>
                <a:spcPct val="150000"/>
              </a:lnSpc>
              <a:buFontTx/>
              <a:buChar char="-"/>
            </a:pPr>
            <a:r>
              <a:rPr lang="en-US" altLang="ko-KR" sz="1050" dirty="0"/>
              <a:t>Agentic AI </a:t>
            </a:r>
            <a:r>
              <a:rPr lang="ko-KR" altLang="en-US" sz="1050" dirty="0"/>
              <a:t>워크로드 기반 처리량</a:t>
            </a:r>
            <a:r>
              <a:rPr lang="en-US" altLang="ko-KR" sz="1050" dirty="0"/>
              <a:t>, </a:t>
            </a:r>
            <a:r>
              <a:rPr lang="ko-KR" altLang="en-US" sz="1050" dirty="0"/>
              <a:t>응답 지연</a:t>
            </a:r>
            <a:r>
              <a:rPr lang="en-US" altLang="ko-KR" sz="1050" dirty="0"/>
              <a:t>, </a:t>
            </a:r>
            <a:r>
              <a:rPr lang="ko-KR" altLang="en-US" sz="1050" dirty="0"/>
              <a:t>메모리 활용률 및 확장성 평가</a:t>
            </a:r>
            <a:endParaRPr lang="en-US" altLang="ko-KR" sz="1050" dirty="0"/>
          </a:p>
          <a:p>
            <a:pPr marL="171450" indent="-171450" algn="l">
              <a:lnSpc>
                <a:spcPct val="150000"/>
              </a:lnSpc>
              <a:buFontTx/>
              <a:buChar char="-"/>
            </a:pPr>
            <a:r>
              <a:rPr lang="ko-KR" altLang="en-US" sz="1050" dirty="0"/>
              <a:t>통합 검증 결과를 기반으로 아키텍처 개선 사항 및 추가 기술 개발 과제 도출</a:t>
            </a:r>
            <a:endParaRPr lang="en-US" altLang="ko-KR" sz="1050" dirty="0"/>
          </a:p>
          <a:p>
            <a:pPr algn="l">
              <a:lnSpc>
                <a:spcPct val="150000"/>
              </a:lnSpc>
            </a:pPr>
            <a:endParaRPr lang="en-US" altLang="ko-KR" sz="1050" dirty="0"/>
          </a:p>
          <a:p>
            <a:pPr algn="l">
              <a:lnSpc>
                <a:spcPct val="150000"/>
              </a:lnSpc>
            </a:pPr>
            <a:r>
              <a:rPr lang="ko-KR" altLang="en-US" sz="1200" dirty="0"/>
              <a:t>■ </a:t>
            </a:r>
            <a:r>
              <a:rPr lang="ko-KR" altLang="en-US" sz="1200" b="1" dirty="0"/>
              <a:t>공동 개발 추진 기여</a:t>
            </a:r>
            <a:r>
              <a:rPr lang="en-US" altLang="ko-KR" sz="1200" b="1" dirty="0"/>
              <a:t>: </a:t>
            </a:r>
            <a:r>
              <a:rPr lang="ko-KR" altLang="en-US" sz="1200" b="1" dirty="0"/>
              <a:t>당사 메모리 솔루션 연계 및 기술 활용 확대</a:t>
            </a:r>
            <a:endParaRPr lang="en-US" altLang="ko-KR" sz="1200" b="1" dirty="0"/>
          </a:p>
          <a:p>
            <a:pPr marL="171450" indent="-171450" algn="l">
              <a:lnSpc>
                <a:spcPct val="150000"/>
              </a:lnSpc>
              <a:buFontTx/>
              <a:buChar char="-"/>
            </a:pPr>
            <a:r>
              <a:rPr lang="en-US" altLang="ko-KR" sz="1050" dirty="0"/>
              <a:t>HBM, DRAM, CXL Memory, PIM </a:t>
            </a:r>
            <a:r>
              <a:rPr lang="ko-KR" altLang="en-US" sz="1050" dirty="0"/>
              <a:t>등 </a:t>
            </a:r>
            <a:r>
              <a:rPr lang="ko-KR" altLang="en-US" sz="1050" dirty="0" err="1"/>
              <a:t>메모리별</a:t>
            </a:r>
            <a:r>
              <a:rPr lang="ko-KR" altLang="en-US" sz="1050" dirty="0"/>
              <a:t> 특성을 고려한 시스템 최적화 방향 도출</a:t>
            </a:r>
            <a:endParaRPr lang="en-US" altLang="ko-KR" sz="1050" dirty="0"/>
          </a:p>
          <a:p>
            <a:pPr marL="171450" indent="-171450" algn="l">
              <a:lnSpc>
                <a:spcPct val="150000"/>
              </a:lnSpc>
              <a:buFontTx/>
              <a:buChar char="-"/>
            </a:pPr>
            <a:r>
              <a:rPr lang="ko-KR" altLang="en-US" sz="1050" dirty="0"/>
              <a:t>시스템 수준의 성능 분석을 통한 차세대 메모리 요구사항 발굴 및 제품 경쟁력 강화 방안 제시</a:t>
            </a:r>
            <a:endParaRPr lang="en-US" altLang="ko-KR" sz="1050" dirty="0"/>
          </a:p>
          <a:p>
            <a:pPr marL="171450" indent="-171450" algn="l">
              <a:lnSpc>
                <a:spcPct val="150000"/>
              </a:lnSpc>
              <a:buFontTx/>
              <a:buChar char="-"/>
            </a:pPr>
            <a:r>
              <a:rPr lang="ko-KR" altLang="en-US" sz="1050" dirty="0"/>
              <a:t>시스템 최적화 방향을 제시하고</a:t>
            </a:r>
            <a:r>
              <a:rPr lang="en-US" altLang="ko-KR" sz="1050" dirty="0"/>
              <a:t>, </a:t>
            </a:r>
            <a:r>
              <a:rPr lang="ko-KR" altLang="en-US" sz="1050" dirty="0"/>
              <a:t>이를 기반으로 공동 개발 추진에 기여</a:t>
            </a:r>
            <a:endParaRPr lang="en-US" altLang="ko-KR" sz="1050" dirty="0"/>
          </a:p>
        </p:txBody>
      </p:sp>
      <p:sp>
        <p:nvSpPr>
          <p:cNvPr id="80" name="TextBox 79"/>
          <p:cNvSpPr txBox="1"/>
          <p:nvPr/>
        </p:nvSpPr>
        <p:spPr>
          <a:xfrm>
            <a:off x="287020" y="2728214"/>
            <a:ext cx="5771860" cy="854080"/>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연구 산출물 </a:t>
            </a:r>
            <a:endParaRPr lang="en-US" altLang="ko-KR" sz="1200" b="1" dirty="0"/>
          </a:p>
          <a:p>
            <a:pPr marL="171450" indent="-171450" algn="l">
              <a:lnSpc>
                <a:spcPct val="150000"/>
              </a:lnSpc>
              <a:buFontTx/>
              <a:buChar char="-"/>
            </a:pPr>
            <a:r>
              <a:rPr lang="ko-KR" altLang="en-US" sz="1050" dirty="0"/>
              <a:t>논문</a:t>
            </a:r>
            <a:r>
              <a:rPr lang="en-US" altLang="ko-KR" sz="1050" dirty="0"/>
              <a:t>: </a:t>
            </a:r>
            <a:r>
              <a:rPr lang="en-US" altLang="ko-KR" sz="1050" dirty="0" err="1"/>
              <a:t>CompBlend</a:t>
            </a:r>
            <a:r>
              <a:rPr lang="en-US" altLang="ko-KR" sz="1050" dirty="0"/>
              <a:t> (</a:t>
            </a:r>
            <a:r>
              <a:rPr lang="en-US" altLang="ko-KR" sz="1050" dirty="0" err="1"/>
              <a:t>EuroSys</a:t>
            </a:r>
            <a:r>
              <a:rPr lang="en-US" altLang="ko-KR" sz="1050" dirty="0"/>
              <a:t> ‘27, </a:t>
            </a:r>
            <a:r>
              <a:rPr lang="ko-KR" altLang="en-US" sz="1050" dirty="0" err="1"/>
              <a:t>교신저자</a:t>
            </a:r>
            <a:r>
              <a:rPr lang="en-US" altLang="ko-KR" sz="1050" dirty="0"/>
              <a:t>), </a:t>
            </a:r>
            <a:r>
              <a:rPr lang="en-US" altLang="ko-KR" sz="1050" dirty="0" err="1"/>
              <a:t>BlendPrune</a:t>
            </a:r>
            <a:r>
              <a:rPr lang="en-US" altLang="ko-KR" sz="1050" dirty="0"/>
              <a:t> (</a:t>
            </a:r>
            <a:r>
              <a:rPr lang="en-US" altLang="ko-KR" sz="1050" dirty="0" err="1"/>
              <a:t>MLSys</a:t>
            </a:r>
            <a:r>
              <a:rPr lang="en-US" altLang="ko-KR" sz="1050" dirty="0"/>
              <a:t> ‘27, </a:t>
            </a:r>
            <a:r>
              <a:rPr lang="ko-KR" altLang="en-US" sz="1050" dirty="0" err="1"/>
              <a:t>교신저자</a:t>
            </a:r>
            <a:r>
              <a:rPr lang="en-US" altLang="ko-KR" sz="1050" dirty="0" smtClean="0"/>
              <a:t>) </a:t>
            </a:r>
            <a:r>
              <a:rPr lang="ko-KR" altLang="en-US" sz="1050" dirty="0" smtClean="0"/>
              <a:t>제출</a:t>
            </a:r>
            <a:endParaRPr lang="en-US" altLang="ko-KR" sz="1050" dirty="0" smtClean="0"/>
          </a:p>
          <a:p>
            <a:pPr marL="171450" indent="-171450" algn="l">
              <a:lnSpc>
                <a:spcPct val="150000"/>
              </a:lnSpc>
              <a:buFontTx/>
              <a:buChar char="-"/>
            </a:pPr>
            <a:r>
              <a:rPr lang="ko-KR" altLang="en-US" sz="1050" dirty="0" smtClean="0"/>
              <a:t>특허</a:t>
            </a:r>
            <a:r>
              <a:rPr lang="en-US" altLang="ko-KR" sz="1050" dirty="0"/>
              <a:t>: </a:t>
            </a:r>
            <a:r>
              <a:rPr lang="en-US" altLang="ko-KR" sz="1050" dirty="0" smtClean="0"/>
              <a:t>A</a:t>
            </a:r>
            <a:r>
              <a:rPr lang="ko-KR" altLang="en-US" sz="1050" dirty="0" smtClean="0"/>
              <a:t>급 </a:t>
            </a:r>
            <a:r>
              <a:rPr lang="en-US" altLang="ko-KR" sz="1050" dirty="0" smtClean="0"/>
              <a:t>5</a:t>
            </a:r>
            <a:r>
              <a:rPr lang="ko-KR" altLang="en-US" sz="1050" dirty="0"/>
              <a:t>건 출원 </a:t>
            </a:r>
            <a:endParaRPr lang="en-US" altLang="ko-KR" sz="1050" dirty="0"/>
          </a:p>
        </p:txBody>
      </p:sp>
      <p:sp>
        <p:nvSpPr>
          <p:cNvPr id="12" name="TextBox 11"/>
          <p:cNvSpPr txBox="1"/>
          <p:nvPr/>
        </p:nvSpPr>
        <p:spPr>
          <a:xfrm>
            <a:off x="302260" y="3922096"/>
            <a:ext cx="5771860" cy="2308324"/>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공동 개발 및 연구 협업</a:t>
            </a:r>
            <a:endParaRPr lang="en-US" altLang="ko-KR" sz="1200" b="1" dirty="0"/>
          </a:p>
          <a:p>
            <a:pPr marL="171450" indent="-171450" algn="l">
              <a:lnSpc>
                <a:spcPct val="150000"/>
              </a:lnSpc>
              <a:buFontTx/>
              <a:buChar char="-"/>
            </a:pPr>
            <a:r>
              <a:rPr lang="ko-KR" altLang="en-US" sz="1050" b="1" dirty="0"/>
              <a:t>메모리 사업부 </a:t>
            </a:r>
            <a:r>
              <a:rPr lang="en-US" altLang="ko-KR" sz="1050" b="1" dirty="0"/>
              <a:t>S/W </a:t>
            </a:r>
            <a:r>
              <a:rPr lang="ko-KR" altLang="en-US" sz="1050" b="1" dirty="0" err="1"/>
              <a:t>개발팀와</a:t>
            </a:r>
            <a:r>
              <a:rPr lang="ko-KR" altLang="en-US" sz="1050" b="1" dirty="0"/>
              <a:t> 공동개발 착수 </a:t>
            </a:r>
            <a:r>
              <a:rPr lang="en-US" altLang="ko-KR" sz="1050" dirty="0"/>
              <a:t>(‘26.10~’27.12)</a:t>
            </a:r>
            <a:endParaRPr lang="en-US" altLang="ko-KR" sz="1050" b="1" dirty="0"/>
          </a:p>
          <a:p>
            <a:pPr algn="l">
              <a:lnSpc>
                <a:spcPct val="150000"/>
              </a:lnSpc>
            </a:pPr>
            <a:r>
              <a:rPr lang="ko-KR" altLang="en-US" sz="1050" dirty="0"/>
              <a:t>    </a:t>
            </a:r>
            <a:r>
              <a:rPr lang="en-US" altLang="ko-KR" sz="1050" dirty="0"/>
              <a:t>- PIM-SSD </a:t>
            </a:r>
            <a:r>
              <a:rPr lang="ko-KR" altLang="en-US" sz="1050" dirty="0"/>
              <a:t>활용하여 문서 검색 속도 </a:t>
            </a:r>
            <a:r>
              <a:rPr lang="en-US" altLang="ko-KR" sz="1050" dirty="0"/>
              <a:t>2~3.6x </a:t>
            </a:r>
            <a:r>
              <a:rPr lang="ko-KR" altLang="en-US" sz="1050" dirty="0"/>
              <a:t>가속 </a:t>
            </a:r>
            <a:r>
              <a:rPr lang="ko-KR" altLang="en-US" sz="1050" dirty="0">
                <a:latin typeface="맑은 고딕" panose="020B0503020000020004" pitchFamily="50" charset="-127"/>
                <a:ea typeface="맑은 고딕" panose="020B0503020000020004" pitchFamily="50" charset="-127"/>
              </a:rPr>
              <a:t>→</a:t>
            </a:r>
            <a:r>
              <a:rPr lang="ko-KR" altLang="en-US" sz="1050" dirty="0"/>
              <a:t> </a:t>
            </a:r>
            <a:r>
              <a:rPr lang="en-US" altLang="ko-KR" sz="1050" dirty="0">
                <a:latin typeface="맑은 고딕" panose="020B0503020000020004" pitchFamily="50" charset="-127"/>
                <a:ea typeface="맑은 고딕" panose="020B0503020000020004" pitchFamily="50" charset="-127"/>
              </a:rPr>
              <a:t>A</a:t>
            </a:r>
            <a:r>
              <a:rPr lang="en-US" altLang="ko-KR" sz="1050" dirty="0"/>
              <a:t>I </a:t>
            </a:r>
            <a:r>
              <a:rPr lang="ko-KR" altLang="en-US" sz="1050" dirty="0"/>
              <a:t>반도체 협의회 보고 </a:t>
            </a:r>
            <a:endParaRPr lang="en-US" altLang="ko-KR" sz="1050" dirty="0"/>
          </a:p>
          <a:p>
            <a:pPr algn="l">
              <a:lnSpc>
                <a:spcPct val="150000"/>
              </a:lnSpc>
            </a:pPr>
            <a:r>
              <a:rPr lang="en-US" altLang="ko-KR" sz="1050" dirty="0"/>
              <a:t>    - </a:t>
            </a:r>
            <a:r>
              <a:rPr lang="ko-KR" altLang="en-US" sz="1050" dirty="0"/>
              <a:t>목표</a:t>
            </a:r>
            <a:r>
              <a:rPr lang="en-US" altLang="ko-KR" sz="1050" dirty="0"/>
              <a:t>: PIM-SSD </a:t>
            </a:r>
            <a:r>
              <a:rPr lang="ko-KR" altLang="en-US" sz="1050" dirty="0"/>
              <a:t>활용 </a:t>
            </a:r>
            <a:r>
              <a:rPr lang="en-US" altLang="ko-KR" sz="1050" dirty="0"/>
              <a:t>AI </a:t>
            </a:r>
            <a:r>
              <a:rPr lang="ko-KR" altLang="en-US" sz="1050" dirty="0"/>
              <a:t>주요 응용 가속 알고리즘 도출 및 차세대 </a:t>
            </a:r>
            <a:r>
              <a:rPr lang="en-US" altLang="ko-KR" sz="1050" dirty="0"/>
              <a:t>SSD </a:t>
            </a:r>
            <a:r>
              <a:rPr lang="ko-KR" altLang="en-US" sz="1050" dirty="0"/>
              <a:t>기능과 구조 제안</a:t>
            </a:r>
            <a:endParaRPr lang="en-US" altLang="ko-KR" sz="1050" dirty="0"/>
          </a:p>
          <a:p>
            <a:pPr marL="171450" indent="-171450" algn="l">
              <a:lnSpc>
                <a:spcPct val="150000"/>
              </a:lnSpc>
              <a:buFontTx/>
              <a:buChar char="-"/>
            </a:pPr>
            <a:r>
              <a:rPr lang="ko-KR" altLang="en-US" sz="1050" b="1" dirty="0"/>
              <a:t>메모리 사업부 </a:t>
            </a:r>
            <a:r>
              <a:rPr lang="en-US" altLang="ko-KR" sz="1050" b="1" dirty="0"/>
              <a:t>Flash </a:t>
            </a:r>
            <a:r>
              <a:rPr lang="ko-KR" altLang="en-US" sz="1050" b="1" dirty="0" err="1"/>
              <a:t>설계팀과</a:t>
            </a:r>
            <a:r>
              <a:rPr lang="ko-KR" altLang="en-US" sz="1050" b="1" dirty="0"/>
              <a:t> 공동개발 착수 </a:t>
            </a:r>
            <a:r>
              <a:rPr lang="en-US" altLang="ko-KR" sz="1050" dirty="0"/>
              <a:t>('26.10</a:t>
            </a:r>
            <a:r>
              <a:rPr lang="ko-KR" altLang="en-US" sz="1050" dirty="0"/>
              <a:t> </a:t>
            </a:r>
            <a:r>
              <a:rPr lang="en-US" altLang="ko-KR" sz="1050" dirty="0"/>
              <a:t>~ '27.03)</a:t>
            </a:r>
          </a:p>
          <a:p>
            <a:pPr algn="l">
              <a:lnSpc>
                <a:spcPct val="150000"/>
              </a:lnSpc>
            </a:pPr>
            <a:r>
              <a:rPr lang="en-US" altLang="ko-KR" sz="1050" dirty="0"/>
              <a:t>    - Tiered Memory Architecture </a:t>
            </a:r>
            <a:r>
              <a:rPr lang="ko-KR" altLang="en-US" sz="1050" dirty="0"/>
              <a:t>→ </a:t>
            </a:r>
            <a:r>
              <a:rPr lang="ko-KR" altLang="en-US" sz="1050" dirty="0" err="1"/>
              <a:t>부문장</a:t>
            </a:r>
            <a:r>
              <a:rPr lang="ko-KR" altLang="en-US" sz="1050" dirty="0"/>
              <a:t> 보고 </a:t>
            </a:r>
            <a:endParaRPr lang="en-US" altLang="ko-KR" sz="1050" dirty="0"/>
          </a:p>
          <a:p>
            <a:pPr algn="l">
              <a:lnSpc>
                <a:spcPct val="150000"/>
              </a:lnSpc>
            </a:pPr>
            <a:r>
              <a:rPr lang="en-US" altLang="ko-KR" sz="1050" dirty="0"/>
              <a:t>    - </a:t>
            </a:r>
            <a:r>
              <a:rPr lang="ko-KR" altLang="en-US" sz="1050" dirty="0"/>
              <a:t>목표</a:t>
            </a:r>
            <a:r>
              <a:rPr lang="en-US" altLang="ko-KR" sz="1050" dirty="0"/>
              <a:t>: UBF </a:t>
            </a:r>
            <a:r>
              <a:rPr lang="ko-KR" altLang="en-US" sz="1050" dirty="0"/>
              <a:t>개발 당위성 확보 및 개발 착수</a:t>
            </a:r>
            <a:endParaRPr lang="en-US" altLang="ko-KR" sz="1050" dirty="0"/>
          </a:p>
          <a:p>
            <a:pPr marL="171450" indent="-171450" algn="l">
              <a:lnSpc>
                <a:spcPct val="150000"/>
              </a:lnSpc>
              <a:buFontTx/>
              <a:buChar char="-"/>
            </a:pPr>
            <a:r>
              <a:rPr lang="ko-KR" altLang="en-US" sz="1050" b="1" dirty="0"/>
              <a:t>해외 연구소</a:t>
            </a:r>
            <a:r>
              <a:rPr lang="en-US" altLang="ko-KR" sz="1050" b="1" dirty="0"/>
              <a:t>(Google Research, ARM Research) </a:t>
            </a:r>
            <a:r>
              <a:rPr lang="ko-KR" altLang="en-US" sz="1050" b="1" dirty="0"/>
              <a:t>공동 연구 협약 </a:t>
            </a:r>
            <a:endParaRPr lang="en-US" altLang="ko-KR" sz="1050" b="1" dirty="0"/>
          </a:p>
          <a:p>
            <a:pPr algn="l">
              <a:lnSpc>
                <a:spcPct val="150000"/>
              </a:lnSpc>
            </a:pPr>
            <a:r>
              <a:rPr lang="en-US" altLang="ko-KR" sz="1050" dirty="0"/>
              <a:t>    - </a:t>
            </a:r>
            <a:r>
              <a:rPr lang="ko-KR" altLang="en-US" dirty="0"/>
              <a:t>차세대 메모리 시스템 아키텍처 활용 시나리오 및 </a:t>
            </a:r>
            <a:r>
              <a:rPr lang="en-US" altLang="ko-KR" dirty="0"/>
              <a:t>Profile </a:t>
            </a:r>
            <a:r>
              <a:rPr lang="ko-KR" altLang="en-US" dirty="0"/>
              <a:t>결과 공유 </a:t>
            </a:r>
            <a:endParaRPr lang="en-US" altLang="ko-KR" dirty="0"/>
          </a:p>
        </p:txBody>
      </p:sp>
      <p:sp>
        <p:nvSpPr>
          <p:cNvPr id="4" name="실행 단추: 앞으로 또는 다음 3">
            <a:hlinkClick r:id="rId2" action="ppaction://hlinksldjump" highlightClick="1"/>
          </p:cNvPr>
          <p:cNvSpPr/>
          <p:nvPr/>
        </p:nvSpPr>
        <p:spPr>
          <a:xfrm>
            <a:off x="4380232" y="5015522"/>
            <a:ext cx="137160" cy="1524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실행 단추: 앞으로 또는 다음 15">
            <a:hlinkClick r:id="rId3" action="ppaction://hlinksldjump" highlightClick="1"/>
          </p:cNvPr>
          <p:cNvSpPr/>
          <p:nvPr/>
        </p:nvSpPr>
        <p:spPr>
          <a:xfrm>
            <a:off x="4305300" y="4318934"/>
            <a:ext cx="137160" cy="1524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실행 단추: 앞으로 또는 다음 16">
            <a:hlinkClick r:id="rId4" action="ppaction://hlinksldjump" highlightClick="1"/>
          </p:cNvPr>
          <p:cNvSpPr/>
          <p:nvPr/>
        </p:nvSpPr>
        <p:spPr>
          <a:xfrm>
            <a:off x="4442460" y="5712820"/>
            <a:ext cx="137160" cy="1524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실행 단추: 앞으로 또는 다음 17">
            <a:hlinkClick r:id="rId5" action="ppaction://hlinksldjump" highlightClick="1"/>
          </p:cNvPr>
          <p:cNvSpPr/>
          <p:nvPr/>
        </p:nvSpPr>
        <p:spPr>
          <a:xfrm>
            <a:off x="5568544" y="3109673"/>
            <a:ext cx="137160" cy="1524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실행 단추: 앞으로 또는 다음 18">
            <a:hlinkClick r:id="rId6" action="ppaction://hlinksldjump" highlightClick="1"/>
          </p:cNvPr>
          <p:cNvSpPr/>
          <p:nvPr/>
        </p:nvSpPr>
        <p:spPr>
          <a:xfrm>
            <a:off x="1744980" y="3336688"/>
            <a:ext cx="137160" cy="1524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실행 단추: 앞으로 또는 다음 19">
            <a:hlinkClick r:id="rId7" action="ppaction://hlinksldjump" highlightClick="1"/>
          </p:cNvPr>
          <p:cNvSpPr/>
          <p:nvPr/>
        </p:nvSpPr>
        <p:spPr>
          <a:xfrm>
            <a:off x="5801128" y="3109673"/>
            <a:ext cx="137160" cy="1524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5040017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Architect </a:t>
            </a:r>
            <a:r>
              <a:rPr lang="ko-KR" altLang="en-US" dirty="0"/>
              <a:t>양성 과정 소회</a:t>
            </a:r>
          </a:p>
        </p:txBody>
      </p:sp>
      <p:sp>
        <p:nvSpPr>
          <p:cNvPr id="129" name="Text 22"/>
          <p:cNvSpPr/>
          <p:nvPr/>
        </p:nvSpPr>
        <p:spPr>
          <a:xfrm>
            <a:off x="359582" y="741090"/>
            <a:ext cx="11687638" cy="1980845"/>
          </a:xfrm>
          <a:prstGeom prst="rect">
            <a:avLst/>
          </a:prstGeom>
          <a:noFill/>
          <a:ln/>
        </p:spPr>
        <p:txBody>
          <a:bodyPr wrap="square" lIns="0" tIns="0" rIns="0" bIns="0" rtlCol="0" anchor="t"/>
          <a:lstStyle/>
          <a:p>
            <a:pPr>
              <a:lnSpc>
                <a:spcPct val="150000"/>
              </a:lnSpc>
            </a:pPr>
            <a:r>
              <a:rPr lang="ko-KR" altLang="en-US" sz="1400" dirty="0"/>
              <a:t>■ </a:t>
            </a:r>
            <a:r>
              <a:rPr lang="ko-KR" altLang="en-US" sz="1400" b="1" dirty="0"/>
              <a:t>과제를 바라보는 시선</a:t>
            </a:r>
            <a:r>
              <a:rPr lang="en-US" altLang="ko-KR" sz="1400" b="1" dirty="0"/>
              <a:t>, </a:t>
            </a:r>
            <a:r>
              <a:rPr lang="ko-KR" altLang="en-US" sz="1400" b="1" dirty="0"/>
              <a:t>접근의 변화 </a:t>
            </a:r>
            <a:endParaRPr lang="en-US" altLang="ko-KR" sz="1400" b="1" dirty="0"/>
          </a:p>
          <a:p>
            <a:pPr marL="171450" indent="-171450">
              <a:lnSpc>
                <a:spcPct val="150000"/>
              </a:lnSpc>
              <a:buFontTx/>
              <a:buChar char="-"/>
            </a:pPr>
            <a:r>
              <a:rPr lang="ko-KR" altLang="en-US" sz="1200" dirty="0">
                <a:latin typeface="맑은 고딕" panose="020B0503020000020004" pitchFamily="50" charset="-127"/>
              </a:rPr>
              <a:t>과제 목표</a:t>
            </a:r>
            <a:r>
              <a:rPr lang="en-US" altLang="ko-KR" sz="1200" dirty="0">
                <a:latin typeface="맑은 고딕" panose="020B0503020000020004" pitchFamily="50" charset="-127"/>
              </a:rPr>
              <a:t>, </a:t>
            </a:r>
            <a:r>
              <a:rPr lang="ko-KR" altLang="en-US" sz="1200" dirty="0">
                <a:latin typeface="맑은 고딕" panose="020B0503020000020004" pitchFamily="50" charset="-127"/>
              </a:rPr>
              <a:t>필요성에 대한 질문을 스스로에게 끊임없이 질문 </a:t>
            </a:r>
            <a:r>
              <a:rPr lang="en-US" altLang="ko-KR" sz="1200" dirty="0">
                <a:latin typeface="맑은 고딕" panose="020B0503020000020004" pitchFamily="50" charset="-127"/>
              </a:rPr>
              <a:t>-&gt; </a:t>
            </a:r>
            <a:r>
              <a:rPr lang="ko-KR" altLang="en-US" sz="1200" dirty="0">
                <a:latin typeface="맑은 고딕" panose="020B0503020000020004" pitchFamily="50" charset="-127"/>
              </a:rPr>
              <a:t>연구 방향과 과제 </a:t>
            </a:r>
            <a:r>
              <a:rPr lang="en-US" altLang="ko-KR" sz="1200" dirty="0">
                <a:latin typeface="맑은 고딕" panose="020B0503020000020004" pitchFamily="50" charset="-127"/>
              </a:rPr>
              <a:t>Impact </a:t>
            </a:r>
            <a:r>
              <a:rPr lang="ko-KR" altLang="en-US" sz="1200" dirty="0">
                <a:latin typeface="맑은 고딕" panose="020B0503020000020004" pitchFamily="50" charset="-127"/>
              </a:rPr>
              <a:t>개선 </a:t>
            </a:r>
            <a:endParaRPr lang="en-US" altLang="ko-KR" sz="1200" dirty="0">
              <a:latin typeface="맑은 고딕" panose="020B0503020000020004" pitchFamily="50" charset="-127"/>
            </a:endParaRPr>
          </a:p>
          <a:p>
            <a:pPr>
              <a:lnSpc>
                <a:spcPct val="150000"/>
              </a:lnSpc>
            </a:pPr>
            <a:r>
              <a:rPr lang="en-US" altLang="ko-KR" sz="1200" dirty="0">
                <a:latin typeface="맑은 고딕" panose="020B0503020000020004" pitchFamily="50" charset="-127"/>
              </a:rPr>
              <a:t>    - </a:t>
            </a:r>
            <a:r>
              <a:rPr lang="ko-KR" altLang="en-US" sz="1200" dirty="0">
                <a:latin typeface="맑은 고딕" panose="020B0503020000020004" pitchFamily="50" charset="-127"/>
              </a:rPr>
              <a:t>연구소는 사업화 과제와 달리 요구사항 및 목표를 스스로 탐색하고 발굴해야 하는 경우가 많아 이러한 습관이 </a:t>
            </a:r>
            <a:r>
              <a:rPr lang="ko-KR" altLang="en-US" sz="1200" b="1" dirty="0">
                <a:solidFill>
                  <a:srgbClr val="0066FF"/>
                </a:solidFill>
                <a:latin typeface="맑은 고딕" panose="020B0503020000020004" pitchFamily="50" charset="-127"/>
              </a:rPr>
              <a:t>굉장히 큰 훈련이 되었음 </a:t>
            </a:r>
            <a:r>
              <a:rPr lang="en-US" altLang="ko-KR" sz="1200" b="1" dirty="0">
                <a:solidFill>
                  <a:srgbClr val="0066FF"/>
                </a:solidFill>
                <a:latin typeface="맑은 고딕" panose="020B0503020000020004" pitchFamily="50" charset="-127"/>
              </a:rPr>
              <a:t>(</a:t>
            </a:r>
            <a:r>
              <a:rPr lang="ko-KR" altLang="en-US" sz="1200" b="1" dirty="0" err="1">
                <a:solidFill>
                  <a:srgbClr val="0066FF"/>
                </a:solidFill>
                <a:latin typeface="맑은 고딕" panose="020B0503020000020004" pitchFamily="50" charset="-127"/>
              </a:rPr>
              <a:t>과제원들에게도</a:t>
            </a:r>
            <a:r>
              <a:rPr lang="ko-KR" altLang="en-US" sz="1200" b="1" dirty="0">
                <a:solidFill>
                  <a:srgbClr val="0066FF"/>
                </a:solidFill>
                <a:latin typeface="맑은 고딕" panose="020B0503020000020004" pitchFamily="50" charset="-127"/>
              </a:rPr>
              <a:t> </a:t>
            </a:r>
            <a:r>
              <a:rPr lang="en-US" altLang="ko-KR" sz="1200" b="1" dirty="0">
                <a:solidFill>
                  <a:srgbClr val="0066FF"/>
                </a:solidFill>
                <a:latin typeface="맑은 고딕" panose="020B0503020000020004" pitchFamily="50" charset="-127"/>
              </a:rPr>
              <a:t>Training)</a:t>
            </a:r>
            <a:endParaRPr lang="en-US" altLang="ko-KR" sz="1200" dirty="0">
              <a:latin typeface="맑은 고딕" panose="020B0503020000020004" pitchFamily="50" charset="-127"/>
            </a:endParaRPr>
          </a:p>
          <a:p>
            <a:pPr marL="171450" indent="-171450">
              <a:lnSpc>
                <a:spcPct val="150000"/>
              </a:lnSpc>
              <a:buFontTx/>
              <a:buChar char="-"/>
            </a:pPr>
            <a:r>
              <a:rPr lang="en-US" altLang="ko-KR" sz="1200" b="1" dirty="0">
                <a:solidFill>
                  <a:srgbClr val="0066FF"/>
                </a:solidFill>
                <a:latin typeface="맑은 고딕" panose="020B0503020000020004" pitchFamily="50" charset="-127"/>
              </a:rPr>
              <a:t>Architecture Driver driven </a:t>
            </a:r>
            <a:r>
              <a:rPr lang="ko-KR" altLang="en-US" sz="1200" b="1" dirty="0">
                <a:solidFill>
                  <a:srgbClr val="0066FF"/>
                </a:solidFill>
                <a:latin typeface="맑은 고딕" panose="020B0503020000020004" pitchFamily="50" charset="-127"/>
              </a:rPr>
              <a:t>접근 습관</a:t>
            </a:r>
            <a:endParaRPr lang="en-US" altLang="ko-KR" sz="1200" b="1" dirty="0">
              <a:solidFill>
                <a:srgbClr val="0066FF"/>
              </a:solidFill>
              <a:latin typeface="맑은 고딕" panose="020B0503020000020004" pitchFamily="50" charset="-127"/>
            </a:endParaRPr>
          </a:p>
          <a:p>
            <a:pPr>
              <a:lnSpc>
                <a:spcPct val="150000"/>
              </a:lnSpc>
            </a:pPr>
            <a:r>
              <a:rPr lang="en-US" altLang="ko-KR" sz="1200" dirty="0">
                <a:latin typeface="맑은 고딕" panose="020B0503020000020004" pitchFamily="50" charset="-127"/>
              </a:rPr>
              <a:t>    - </a:t>
            </a:r>
            <a:r>
              <a:rPr lang="ko-KR" altLang="en-US" sz="1200" dirty="0">
                <a:latin typeface="맑은 고딕" panose="020B0503020000020004" pitchFamily="50" charset="-127"/>
              </a:rPr>
              <a:t>해당 연구</a:t>
            </a:r>
            <a:r>
              <a:rPr lang="en-US" altLang="ko-KR" sz="1200" dirty="0">
                <a:latin typeface="맑은 고딕" panose="020B0503020000020004" pitchFamily="50" charset="-127"/>
              </a:rPr>
              <a:t>/Task</a:t>
            </a:r>
            <a:r>
              <a:rPr lang="ko-KR" altLang="en-US" sz="1200" dirty="0">
                <a:latin typeface="맑은 고딕" panose="020B0503020000020004" pitchFamily="50" charset="-127"/>
              </a:rPr>
              <a:t>를 왜 해야 하는지</a:t>
            </a:r>
            <a:r>
              <a:rPr lang="en-US" altLang="ko-KR" sz="1200" dirty="0">
                <a:latin typeface="맑은 고딕" panose="020B0503020000020004" pitchFamily="50" charset="-127"/>
              </a:rPr>
              <a:t>? -&gt; </a:t>
            </a:r>
            <a:r>
              <a:rPr lang="ko-KR" altLang="en-US" sz="1200" dirty="0">
                <a:latin typeface="맑은 고딕" panose="020B0503020000020004" pitchFamily="50" charset="-127"/>
              </a:rPr>
              <a:t>무엇을 개선하기 위해서</a:t>
            </a:r>
            <a:r>
              <a:rPr lang="en-US" altLang="ko-KR" sz="1200" dirty="0">
                <a:latin typeface="맑은 고딕" panose="020B0503020000020004" pitchFamily="50" charset="-127"/>
              </a:rPr>
              <a:t>? -&gt; </a:t>
            </a:r>
            <a:r>
              <a:rPr lang="ko-KR" altLang="en-US" sz="1200" dirty="0">
                <a:latin typeface="맑은 고딕" panose="020B0503020000020004" pitchFamily="50" charset="-127"/>
              </a:rPr>
              <a:t>그게 정말 필요한지</a:t>
            </a:r>
            <a:r>
              <a:rPr lang="en-US" altLang="ko-KR" sz="1200" dirty="0">
                <a:latin typeface="맑은 고딕" panose="020B0503020000020004" pitchFamily="50" charset="-127"/>
              </a:rPr>
              <a:t>? (Architecture Driver</a:t>
            </a:r>
            <a:r>
              <a:rPr lang="ko-KR" altLang="en-US" sz="1200" dirty="0">
                <a:latin typeface="맑은 고딕" panose="020B0503020000020004" pitchFamily="50" charset="-127"/>
              </a:rPr>
              <a:t>가 맞는지</a:t>
            </a:r>
            <a:r>
              <a:rPr lang="en-US" altLang="ko-KR" sz="1200" dirty="0">
                <a:latin typeface="맑은 고딕" panose="020B0503020000020004" pitchFamily="50" charset="-127"/>
              </a:rPr>
              <a:t>? </a:t>
            </a:r>
            <a:r>
              <a:rPr lang="ko-KR" altLang="en-US" sz="1200" dirty="0">
                <a:latin typeface="맑은 고딕" panose="020B0503020000020004" pitchFamily="50" charset="-127"/>
              </a:rPr>
              <a:t>요구사항 </a:t>
            </a:r>
            <a:r>
              <a:rPr lang="en-US" altLang="ko-KR" sz="1200" dirty="0">
                <a:latin typeface="맑은 고딕" panose="020B0503020000020004" pitchFamily="50" charset="-127"/>
              </a:rPr>
              <a:t>Align, </a:t>
            </a:r>
            <a:r>
              <a:rPr lang="ko-KR" altLang="en-US" sz="1200" dirty="0">
                <a:latin typeface="맑은 고딕" panose="020B0503020000020004" pitchFamily="50" charset="-127"/>
              </a:rPr>
              <a:t>우선순위 확인</a:t>
            </a:r>
            <a:r>
              <a:rPr lang="en-US" altLang="ko-KR" sz="1200" dirty="0">
                <a:latin typeface="맑은 고딕" panose="020B0503020000020004" pitchFamily="50" charset="-127"/>
              </a:rPr>
              <a:t>)</a:t>
            </a:r>
          </a:p>
          <a:p>
            <a:pPr>
              <a:lnSpc>
                <a:spcPct val="150000"/>
              </a:lnSpc>
            </a:pPr>
            <a:r>
              <a:rPr lang="en-US" altLang="ko-KR" sz="1200" dirty="0">
                <a:latin typeface="맑은 고딕" panose="020B0503020000020004" pitchFamily="50" charset="-127"/>
              </a:rPr>
              <a:t>       -&gt; </a:t>
            </a:r>
            <a:r>
              <a:rPr lang="ko-KR" altLang="en-US" sz="1200" dirty="0">
                <a:latin typeface="맑은 고딕" panose="020B0503020000020004" pitchFamily="50" charset="-127"/>
              </a:rPr>
              <a:t>어떻게 측정할 것인지</a:t>
            </a:r>
            <a:r>
              <a:rPr lang="en-US" altLang="ko-KR" sz="1200" dirty="0">
                <a:latin typeface="맑은 고딕" panose="020B0503020000020004" pitchFamily="50" charset="-127"/>
              </a:rPr>
              <a:t>? -&gt; </a:t>
            </a:r>
            <a:r>
              <a:rPr lang="ko-KR" altLang="en-US" sz="1200" dirty="0">
                <a:latin typeface="맑은 고딕" panose="020B0503020000020004" pitchFamily="50" charset="-127"/>
              </a:rPr>
              <a:t>목표와 </a:t>
            </a:r>
            <a:r>
              <a:rPr lang="en-US" altLang="ko-KR" sz="1200" dirty="0">
                <a:latin typeface="맑은 고딕" panose="020B0503020000020004" pitchFamily="50" charset="-127"/>
              </a:rPr>
              <a:t>Baseline</a:t>
            </a:r>
            <a:r>
              <a:rPr lang="ko-KR" altLang="en-US" sz="1200" dirty="0">
                <a:latin typeface="맑은 고딕" panose="020B0503020000020004" pitchFamily="50" charset="-127"/>
              </a:rPr>
              <a:t>의 근거는 무엇인지</a:t>
            </a:r>
            <a:r>
              <a:rPr lang="en-US" altLang="ko-KR" sz="1200" dirty="0">
                <a:latin typeface="맑은 고딕" panose="020B0503020000020004" pitchFamily="50" charset="-127"/>
              </a:rPr>
              <a:t>? </a:t>
            </a:r>
          </a:p>
        </p:txBody>
      </p:sp>
      <p:sp>
        <p:nvSpPr>
          <p:cNvPr id="130" name="직사각형 129"/>
          <p:cNvSpPr/>
          <p:nvPr/>
        </p:nvSpPr>
        <p:spPr>
          <a:xfrm>
            <a:off x="359582" y="2887035"/>
            <a:ext cx="11610168" cy="1384995"/>
          </a:xfrm>
          <a:prstGeom prst="rect">
            <a:avLst/>
          </a:prstGeom>
          <a:noFill/>
          <a:ln/>
        </p:spPr>
        <p:txBody>
          <a:bodyPr wrap="square" lIns="0" tIns="0" rIns="0" bIns="0" rtlCol="0" anchor="t"/>
          <a:lstStyle/>
          <a:p>
            <a:pPr>
              <a:lnSpc>
                <a:spcPct val="150000"/>
              </a:lnSpc>
            </a:pPr>
            <a:r>
              <a:rPr lang="ko-KR" altLang="en-US" sz="1400" dirty="0"/>
              <a:t>■ </a:t>
            </a:r>
            <a:r>
              <a:rPr lang="en-US" altLang="ko-KR" sz="1400" b="1" dirty="0"/>
              <a:t>Architect</a:t>
            </a:r>
            <a:r>
              <a:rPr lang="ko-KR" altLang="en-US" sz="1400" b="1" dirty="0"/>
              <a:t>의 역할</a:t>
            </a:r>
            <a:r>
              <a:rPr lang="en-US" altLang="ko-KR" sz="1400" b="1" dirty="0"/>
              <a:t>: </a:t>
            </a:r>
            <a:r>
              <a:rPr lang="ko-KR" altLang="en-US" sz="1400" b="1" dirty="0">
                <a:solidFill>
                  <a:srgbClr val="0066FF"/>
                </a:solidFill>
              </a:rPr>
              <a:t>내가 가지고 있는 문제</a:t>
            </a:r>
            <a:r>
              <a:rPr lang="en-US" altLang="ko-KR" sz="1400" b="1" dirty="0">
                <a:solidFill>
                  <a:srgbClr val="0066FF"/>
                </a:solidFill>
              </a:rPr>
              <a:t>(</a:t>
            </a:r>
            <a:r>
              <a:rPr lang="ko-KR" altLang="en-US" sz="1400" b="1" dirty="0">
                <a:solidFill>
                  <a:srgbClr val="0066FF"/>
                </a:solidFill>
              </a:rPr>
              <a:t>과제</a:t>
            </a:r>
            <a:r>
              <a:rPr lang="en-US" altLang="ko-KR" sz="1400" b="1" dirty="0">
                <a:solidFill>
                  <a:srgbClr val="0066FF"/>
                </a:solidFill>
              </a:rPr>
              <a:t>)</a:t>
            </a:r>
            <a:r>
              <a:rPr lang="ko-KR" altLang="en-US" sz="1400" b="1" dirty="0">
                <a:solidFill>
                  <a:srgbClr val="0066FF"/>
                </a:solidFill>
              </a:rPr>
              <a:t>를 </a:t>
            </a:r>
            <a:r>
              <a:rPr lang="en-US" altLang="ko-KR" sz="1400" b="1" dirty="0">
                <a:solidFill>
                  <a:srgbClr val="0066FF"/>
                </a:solidFill>
              </a:rPr>
              <a:t>Architecture Driver </a:t>
            </a:r>
            <a:r>
              <a:rPr lang="ko-KR" altLang="en-US" sz="1400" b="1" dirty="0">
                <a:solidFill>
                  <a:srgbClr val="0066FF"/>
                </a:solidFill>
              </a:rPr>
              <a:t>기반으로 계획하고 설득하고 증명</a:t>
            </a:r>
            <a:r>
              <a:rPr lang="en-US" altLang="ko-KR" sz="1400" b="1" dirty="0">
                <a:solidFill>
                  <a:srgbClr val="0066FF"/>
                </a:solidFill>
              </a:rPr>
              <a:t>(</a:t>
            </a:r>
            <a:r>
              <a:rPr lang="ko-KR" altLang="en-US" sz="1400" b="1" dirty="0">
                <a:solidFill>
                  <a:srgbClr val="0066FF"/>
                </a:solidFill>
              </a:rPr>
              <a:t>결과</a:t>
            </a:r>
            <a:r>
              <a:rPr lang="en-US" altLang="ko-KR" sz="1400" b="1" dirty="0" smtClean="0">
                <a:solidFill>
                  <a:srgbClr val="0066FF"/>
                </a:solidFill>
              </a:rPr>
              <a:t>)</a:t>
            </a:r>
          </a:p>
          <a:p>
            <a:pPr marL="171450" indent="-171450">
              <a:lnSpc>
                <a:spcPct val="150000"/>
              </a:lnSpc>
              <a:buFontTx/>
              <a:buChar char="-"/>
            </a:pPr>
            <a:r>
              <a:rPr lang="ko-KR" altLang="en-US" sz="1200" dirty="0" smtClean="0"/>
              <a:t>비즈니스 분석과 수집된 요구사항을 통해 </a:t>
            </a:r>
            <a:r>
              <a:rPr lang="ko-KR" altLang="en-US" sz="1200" b="1" dirty="0" smtClean="0"/>
              <a:t>명확한 과제 목표를 설정하고 이를 요구사항에 반영 </a:t>
            </a:r>
            <a:endParaRPr lang="en-US" altLang="ko-KR" sz="1200" b="1" dirty="0" smtClean="0"/>
          </a:p>
          <a:p>
            <a:pPr marL="171450" indent="-171450">
              <a:lnSpc>
                <a:spcPct val="150000"/>
              </a:lnSpc>
              <a:buFontTx/>
              <a:buChar char="-"/>
            </a:pPr>
            <a:r>
              <a:rPr lang="en-US" altLang="ko-KR" sz="1200" dirty="0" smtClean="0"/>
              <a:t>S/W </a:t>
            </a:r>
            <a:r>
              <a:rPr lang="ko-KR" altLang="en-US" sz="1200" dirty="0"/>
              <a:t>분만 아니라 </a:t>
            </a:r>
            <a:r>
              <a:rPr lang="en-US" altLang="ko-KR" sz="1200" b="1" dirty="0"/>
              <a:t>H/W </a:t>
            </a:r>
            <a:r>
              <a:rPr lang="ko-KR" altLang="en-US" sz="1200" b="1" dirty="0"/>
              <a:t>구성부터 요구사항 분석 반영</a:t>
            </a:r>
            <a:r>
              <a:rPr lang="ko-KR" altLang="en-US" sz="1200" dirty="0"/>
              <a:t> 필요 </a:t>
            </a:r>
            <a:r>
              <a:rPr lang="en-US" altLang="ko-KR" sz="1200" dirty="0"/>
              <a:t>-&gt; </a:t>
            </a:r>
            <a:r>
              <a:rPr lang="ko-KR" altLang="en-US" sz="1200" dirty="0"/>
              <a:t>시스템 개발팀과 공동 작업으로 시스템 아키텍처 결정 </a:t>
            </a:r>
            <a:endParaRPr lang="en-US" altLang="ko-KR" sz="1200" dirty="0"/>
          </a:p>
          <a:p>
            <a:pPr marL="171450" indent="-171450">
              <a:lnSpc>
                <a:spcPct val="150000"/>
              </a:lnSpc>
              <a:buFontTx/>
              <a:buChar char="-"/>
            </a:pPr>
            <a:r>
              <a:rPr lang="en-US" altLang="ko-KR" sz="1200" dirty="0"/>
              <a:t>Stakeholder</a:t>
            </a:r>
            <a:r>
              <a:rPr lang="ko-KR" altLang="en-US" sz="1200" dirty="0"/>
              <a:t>들간 요구사항 상충 및 이해도 상이 </a:t>
            </a:r>
            <a:r>
              <a:rPr lang="en-US" altLang="ko-KR" sz="1200" dirty="0"/>
              <a:t>-&gt; </a:t>
            </a:r>
            <a:r>
              <a:rPr lang="ko-KR" altLang="en-US" sz="1200" b="1" dirty="0"/>
              <a:t>정량적</a:t>
            </a:r>
            <a:r>
              <a:rPr lang="en-US" altLang="ko-KR" sz="1200" b="1" dirty="0"/>
              <a:t>, </a:t>
            </a:r>
            <a:r>
              <a:rPr lang="ko-KR" altLang="en-US" sz="1200" b="1" dirty="0"/>
              <a:t>객관적 근거를 바탕으로 지속적인 설득과 소통</a:t>
            </a:r>
            <a:r>
              <a:rPr lang="en-US" altLang="ko-KR" sz="1200" b="1" dirty="0"/>
              <a:t>(Communication </a:t>
            </a:r>
            <a:r>
              <a:rPr lang="ko-KR" altLang="en-US" sz="1200" b="1" dirty="0"/>
              <a:t>중요</a:t>
            </a:r>
            <a:r>
              <a:rPr lang="en-US" altLang="ko-KR" sz="1200" b="1" dirty="0"/>
              <a:t>)</a:t>
            </a:r>
          </a:p>
          <a:p>
            <a:pPr marL="171450" indent="-171450">
              <a:lnSpc>
                <a:spcPct val="150000"/>
              </a:lnSpc>
              <a:buFontTx/>
              <a:buChar char="-"/>
            </a:pPr>
            <a:r>
              <a:rPr lang="ko-KR" altLang="en-US" sz="1200" b="1" dirty="0"/>
              <a:t>도출된 </a:t>
            </a:r>
            <a:r>
              <a:rPr lang="en-US" altLang="ko-KR" sz="1200" b="1" dirty="0"/>
              <a:t>Architecture Driver</a:t>
            </a:r>
            <a:r>
              <a:rPr lang="ko-KR" altLang="en-US" sz="1200" b="1" dirty="0"/>
              <a:t>를 기반</a:t>
            </a:r>
            <a:r>
              <a:rPr lang="ko-KR" altLang="en-US" sz="1200" dirty="0"/>
              <a:t>으로 설계 대안을 비교</a:t>
            </a:r>
            <a:r>
              <a:rPr lang="en-US" altLang="ko-KR" sz="1200" dirty="0"/>
              <a:t>, </a:t>
            </a:r>
            <a:r>
              <a:rPr lang="ko-KR" altLang="en-US" sz="1200" dirty="0"/>
              <a:t>평가하고 최적 아키텍처 결정</a:t>
            </a:r>
            <a:endParaRPr lang="en-US" altLang="ko-KR" sz="1200" dirty="0"/>
          </a:p>
        </p:txBody>
      </p:sp>
      <p:sp>
        <p:nvSpPr>
          <p:cNvPr id="131" name="직사각형 130"/>
          <p:cNvSpPr/>
          <p:nvPr/>
        </p:nvSpPr>
        <p:spPr>
          <a:xfrm>
            <a:off x="359582" y="4827695"/>
            <a:ext cx="12045950" cy="1384995"/>
          </a:xfrm>
          <a:prstGeom prst="rect">
            <a:avLst/>
          </a:prstGeom>
          <a:noFill/>
          <a:ln/>
        </p:spPr>
        <p:txBody>
          <a:bodyPr wrap="square" lIns="0" tIns="0" rIns="0" bIns="0" rtlCol="0" anchor="t"/>
          <a:lstStyle/>
          <a:p>
            <a:pPr>
              <a:lnSpc>
                <a:spcPct val="150000"/>
              </a:lnSpc>
            </a:pPr>
            <a:r>
              <a:rPr lang="ko-KR" altLang="en-US" sz="1400" dirty="0"/>
              <a:t>■ </a:t>
            </a:r>
            <a:r>
              <a:rPr lang="en-US" altLang="ko-KR" sz="1400" dirty="0"/>
              <a:t>AI Coding </a:t>
            </a:r>
            <a:r>
              <a:rPr lang="ko-KR" altLang="en-US" sz="1400" dirty="0"/>
              <a:t>확산에 따라 코드 구현보다 설계 방향 설정과 아키텍처 품질 검증의 중요성 증대</a:t>
            </a:r>
            <a:endParaRPr lang="en-US" altLang="ko-KR" sz="1400" dirty="0"/>
          </a:p>
          <a:p>
            <a:pPr marL="285750" indent="-285750">
              <a:lnSpc>
                <a:spcPct val="150000"/>
              </a:lnSpc>
              <a:buFontTx/>
              <a:buChar char="-"/>
            </a:pPr>
            <a:r>
              <a:rPr lang="en-US" altLang="ko-KR" sz="1200" dirty="0"/>
              <a:t>AI</a:t>
            </a:r>
            <a:r>
              <a:rPr lang="ko-KR" altLang="en-US" sz="1200" dirty="0"/>
              <a:t>가 생성한 코드의 기능 구현 </a:t>
            </a:r>
            <a:r>
              <a:rPr lang="ko-KR" altLang="en-US" sz="1200" dirty="0" err="1"/>
              <a:t>여부뿐</a:t>
            </a:r>
            <a:r>
              <a:rPr lang="ko-KR" altLang="en-US" sz="1200" dirty="0"/>
              <a:t> 아니라 아키텍처 원칙</a:t>
            </a:r>
            <a:r>
              <a:rPr lang="en-US" altLang="ko-KR" sz="1200" dirty="0"/>
              <a:t>, </a:t>
            </a:r>
            <a:r>
              <a:rPr lang="ko-KR" altLang="en-US" sz="1200" dirty="0"/>
              <a:t>설계 의도 및 품질속성 충족 여부 검증</a:t>
            </a:r>
            <a:endParaRPr lang="en-US" altLang="ko-KR" sz="1200" dirty="0"/>
          </a:p>
          <a:p>
            <a:pPr marL="285750" indent="-285750">
              <a:lnSpc>
                <a:spcPct val="150000"/>
              </a:lnSpc>
              <a:buFontTx/>
              <a:buChar char="-"/>
            </a:pPr>
            <a:r>
              <a:rPr lang="en-US" altLang="ko-KR" sz="1200" dirty="0"/>
              <a:t>AI Coding</a:t>
            </a:r>
            <a:r>
              <a:rPr lang="ko-KR" altLang="en-US" sz="1200" dirty="0"/>
              <a:t>으로 구현 속도가 빨라지는 만큼 모듈  정합성</a:t>
            </a:r>
            <a:r>
              <a:rPr lang="en-US" altLang="ko-KR" sz="1200" dirty="0"/>
              <a:t>, </a:t>
            </a:r>
            <a:r>
              <a:rPr lang="ko-KR" altLang="en-US" sz="1200" dirty="0"/>
              <a:t>시스템 통합 및 기술 부채를 관리하는 역할 강화</a:t>
            </a:r>
          </a:p>
        </p:txBody>
      </p:sp>
      <p:sp>
        <p:nvSpPr>
          <p:cNvPr id="10" name="직사각형 9"/>
          <p:cNvSpPr/>
          <p:nvPr/>
        </p:nvSpPr>
        <p:spPr>
          <a:xfrm>
            <a:off x="359582" y="5780159"/>
            <a:ext cx="11610168" cy="575446"/>
          </a:xfrm>
          <a:prstGeom prst="rect">
            <a:avLst/>
          </a:prstGeom>
          <a:noFill/>
          <a:ln/>
        </p:spPr>
        <p:txBody>
          <a:bodyPr wrap="square" lIns="0" tIns="0" rIns="0" bIns="0" rtlCol="0" anchor="t"/>
          <a:lstStyle/>
          <a:p>
            <a:pPr marL="285750" indent="-285750">
              <a:lnSpc>
                <a:spcPct val="150000"/>
              </a:lnSpc>
              <a:buFont typeface="Wingdings" panose="05000000000000000000" pitchFamily="2" charset="2"/>
              <a:buChar char="à"/>
            </a:pPr>
            <a:r>
              <a:rPr lang="en-US" altLang="ko-KR" sz="1400" dirty="0"/>
              <a:t>AI Coding</a:t>
            </a:r>
            <a:r>
              <a:rPr lang="ko-KR" altLang="en-US" sz="1400" dirty="0"/>
              <a:t>은 구현 생산성을 높이는 수단이며</a:t>
            </a:r>
            <a:r>
              <a:rPr lang="en-US" altLang="ko-KR" sz="1400" dirty="0"/>
              <a:t>, </a:t>
            </a:r>
          </a:p>
          <a:p>
            <a:pPr marL="285750" indent="-285750">
              <a:lnSpc>
                <a:spcPct val="150000"/>
              </a:lnSpc>
              <a:buFont typeface="Wingdings" panose="05000000000000000000" pitchFamily="2" charset="2"/>
              <a:buChar char="à"/>
            </a:pPr>
            <a:r>
              <a:rPr lang="en-US" altLang="ko-KR" sz="1400" b="1" dirty="0">
                <a:solidFill>
                  <a:srgbClr val="0066FF"/>
                </a:solidFill>
              </a:rPr>
              <a:t>Architect</a:t>
            </a:r>
            <a:r>
              <a:rPr lang="ko-KR" altLang="en-US" sz="1400" dirty="0"/>
              <a:t>는 </a:t>
            </a:r>
            <a:r>
              <a:rPr lang="ko-KR" altLang="en-US" sz="1400" b="1" dirty="0">
                <a:solidFill>
                  <a:srgbClr val="0066FF"/>
                </a:solidFill>
              </a:rPr>
              <a:t>무엇을 왜 구현해야 하는지 결정</a:t>
            </a:r>
            <a:r>
              <a:rPr lang="ko-KR" altLang="en-US" sz="1400" dirty="0"/>
              <a:t>하고</a:t>
            </a:r>
            <a:r>
              <a:rPr lang="en-US" altLang="ko-KR" sz="1400" dirty="0"/>
              <a:t>, AI</a:t>
            </a:r>
            <a:r>
              <a:rPr lang="ko-KR" altLang="en-US" sz="1400" dirty="0"/>
              <a:t>가 구현한 결과가 </a:t>
            </a:r>
            <a:r>
              <a:rPr lang="ko-KR" altLang="en-US" sz="1400" b="1" dirty="0">
                <a:solidFill>
                  <a:srgbClr val="0066FF"/>
                </a:solidFill>
              </a:rPr>
              <a:t>시스템 전체의 설계 의도와 품질 속성을 만족하는지 책임</a:t>
            </a:r>
            <a:r>
              <a:rPr lang="ko-KR" altLang="en-US" sz="1400" dirty="0"/>
              <a:t>지는 역할</a:t>
            </a:r>
            <a:endParaRPr lang="en-US" altLang="ko-KR" sz="1400" dirty="0"/>
          </a:p>
        </p:txBody>
      </p:sp>
    </p:spTree>
    <p:extLst>
      <p:ext uri="{BB962C8B-B14F-4D97-AF65-F5344CB8AC3E}">
        <p14:creationId xmlns:p14="http://schemas.microsoft.com/office/powerpoint/2010/main" val="274929938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a:solidFill>
            <a:schemeClr val="bg1"/>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8800" b="1" dirty="0"/>
              <a:t>Appendix</a:t>
            </a:r>
            <a:endParaRPr lang="ko-KR" altLang="en-US" sz="8800" b="1" dirty="0"/>
          </a:p>
        </p:txBody>
      </p:sp>
    </p:spTree>
    <p:extLst>
      <p:ext uri="{BB962C8B-B14F-4D97-AF65-F5344CB8AC3E}">
        <p14:creationId xmlns:p14="http://schemas.microsoft.com/office/powerpoint/2010/main" val="117465447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5"/>
            <a:ext cx="5844033" cy="5094001"/>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50940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고객과 시장의 변화</a:t>
            </a:r>
          </a:p>
        </p:txBody>
      </p:sp>
      <p:sp>
        <p:nvSpPr>
          <p:cNvPr id="75" name="직사각형 74"/>
          <p:cNvSpPr/>
          <p:nvPr/>
        </p:nvSpPr>
        <p:spPr>
          <a:xfrm>
            <a:off x="1089957"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KV </a:t>
            </a:r>
            <a:r>
              <a:rPr lang="ko-KR" altLang="en-US" sz="1400" b="1" dirty="0">
                <a:latin typeface="+mj-ea"/>
                <a:ea typeface="+mj-ea"/>
              </a:rPr>
              <a:t>캐시 폭증과 </a:t>
            </a:r>
            <a:r>
              <a:rPr lang="en-US" altLang="ko-KR" sz="1400" b="1" dirty="0">
                <a:latin typeface="+mj-ea"/>
                <a:ea typeface="+mj-ea"/>
              </a:rPr>
              <a:t>HBM </a:t>
            </a:r>
            <a:r>
              <a:rPr lang="ko-KR" altLang="en-US" sz="1400" b="1" dirty="0">
                <a:latin typeface="+mj-ea"/>
                <a:ea typeface="+mj-ea"/>
              </a:rPr>
              <a:t>병목</a:t>
            </a:r>
          </a:p>
        </p:txBody>
      </p:sp>
      <p:sp>
        <p:nvSpPr>
          <p:cNvPr id="55" name="Text 46">
            <a:extLst>
              <a:ext uri="{FF2B5EF4-FFF2-40B4-BE49-F238E27FC236}">
                <a16:creationId xmlns:a16="http://schemas.microsoft.com/office/drawing/2014/main" id="{C8A28DF0-ABCC-48F5-9ED9-DE4811816B18}"/>
              </a:ext>
            </a:extLst>
          </p:cNvPr>
          <p:cNvSpPr/>
          <p:nvPr/>
        </p:nvSpPr>
        <p:spPr>
          <a:xfrm>
            <a:off x="6328664" y="162215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ko-KR" altLang="en-US" sz="1200" b="1" dirty="0">
                <a:solidFill>
                  <a:srgbClr val="222222"/>
                </a:solidFill>
                <a:latin typeface="+mj-ea"/>
                <a:ea typeface="+mj-ea"/>
                <a:cs typeface="Noto Sans KR" pitchFamily="34" charset="-120"/>
              </a:rPr>
              <a:t>수요 급증 → 시장 규모 확대 </a:t>
            </a:r>
            <a:r>
              <a:rPr lang="en-US" altLang="ko-KR" sz="1200" b="1" dirty="0">
                <a:solidFill>
                  <a:srgbClr val="222222"/>
                </a:solidFill>
                <a:latin typeface="+mj-ea"/>
                <a:ea typeface="+mj-ea"/>
                <a:cs typeface="Noto Sans KR" pitchFamily="34" charset="-120"/>
              </a:rPr>
              <a:t>· </a:t>
            </a:r>
            <a:r>
              <a:rPr lang="ko-KR" altLang="en-US" sz="1200" b="1" dirty="0">
                <a:solidFill>
                  <a:srgbClr val="222222"/>
                </a:solidFill>
                <a:latin typeface="+mj-ea"/>
                <a:ea typeface="+mj-ea"/>
                <a:cs typeface="Noto Sans KR" pitchFamily="34" charset="-120"/>
              </a:rPr>
              <a:t>공급 부족 → 가격 급등</a:t>
            </a:r>
          </a:p>
        </p:txBody>
      </p:sp>
      <p:sp>
        <p:nvSpPr>
          <p:cNvPr id="85" name="Text 72">
            <a:extLst>
              <a:ext uri="{FF2B5EF4-FFF2-40B4-BE49-F238E27FC236}">
                <a16:creationId xmlns:a16="http://schemas.microsoft.com/office/drawing/2014/main" id="{D907F967-3823-4F1E-8786-56273222550E}"/>
              </a:ext>
            </a:extLst>
          </p:cNvPr>
          <p:cNvSpPr/>
          <p:nvPr/>
        </p:nvSpPr>
        <p:spPr>
          <a:xfrm>
            <a:off x="6426432" y="3315595"/>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대규모 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3985208"/>
            <a:ext cx="5389372" cy="256480"/>
          </a:xfrm>
          <a:prstGeom prst="rect">
            <a:avLst/>
          </a:prstGeom>
          <a:noFill/>
          <a:ln/>
        </p:spPr>
        <p:txBody>
          <a:bodyPr wrap="square" lIns="0" tIns="0" rIns="0" bIns="0" rtlCol="0" anchor="t">
            <a:noAutofit/>
          </a:bodyPr>
          <a:lstStyle/>
          <a:p>
            <a:pPr>
              <a:lnSpc>
                <a:spcPts val="1820"/>
              </a:lnSpc>
            </a:pPr>
            <a:r>
              <a:rPr lang="ko-KR" altLang="en-US" sz="1200" dirty="0">
                <a:latin typeface="+mj-ea"/>
              </a:rPr>
              <a:t>■ </a:t>
            </a:r>
            <a:r>
              <a:rPr lang="ko-KR" altLang="en-US" sz="1200" b="1" dirty="0">
                <a:solidFill>
                  <a:srgbClr val="222222"/>
                </a:solidFill>
                <a:latin typeface="+mj-ea"/>
                <a:ea typeface="+mj-ea"/>
              </a:rPr>
              <a:t>비싸고 부족한 </a:t>
            </a:r>
            <a:r>
              <a:rPr lang="en-US" altLang="ko-KR" sz="1200" b="1" dirty="0">
                <a:solidFill>
                  <a:srgbClr val="222222"/>
                </a:solidFill>
                <a:latin typeface="+mj-ea"/>
                <a:ea typeface="+mj-ea"/>
              </a:rPr>
              <a:t>HBM → </a:t>
            </a:r>
            <a:r>
              <a:rPr lang="ko-KR" altLang="en-US" sz="1200" b="1" dirty="0">
                <a:solidFill>
                  <a:srgbClr val="222222"/>
                </a:solidFill>
                <a:latin typeface="+mj-ea"/>
                <a:ea typeface="+mj-ea"/>
              </a:rPr>
              <a:t>고객 수요가 용도별로 분화</a:t>
            </a:r>
            <a:r>
              <a:rPr lang="en-US" altLang="ko-KR" sz="1200" b="1" dirty="0">
                <a:solidFill>
                  <a:srgbClr val="222222"/>
                </a:solidFill>
                <a:latin typeface="+mj-ea"/>
                <a:ea typeface="+mj-ea"/>
              </a:rPr>
              <a:t>, </a:t>
            </a:r>
            <a:r>
              <a:rPr lang="ko-KR" altLang="en-US" sz="1200" b="1" dirty="0">
                <a:solidFill>
                  <a:srgbClr val="222222"/>
                </a:solidFill>
                <a:latin typeface="+mj-ea"/>
                <a:ea typeface="+mj-ea"/>
              </a:rPr>
              <a:t>신규 시장 성장</a:t>
            </a:r>
          </a:p>
          <a:p>
            <a:pPr>
              <a:lnSpc>
                <a:spcPts val="1820"/>
              </a:lnSpc>
            </a:pPr>
            <a:endParaRPr lang="en-US" sz="1200" b="1" dirty="0">
              <a:latin typeface="+mj-ea"/>
              <a:ea typeface="+mj-ea"/>
            </a:endParaRPr>
          </a:p>
        </p:txBody>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2316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메모리 병목이 심화되고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8"/>
                <a:stretch>
                  <a:fillRect l="-843" t="-8824" b="-8824"/>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Group"/>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9"/>
                <a:stretch>
                  <a:fillRect t="-8824" b="-588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193</a:t>
            </a:r>
            <a:endParaRPr lang="en-US" sz="10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309</a:t>
            </a:r>
            <a:endParaRPr lang="en-US" sz="10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357</a:t>
            </a:r>
            <a:endParaRPr lang="en-US" sz="10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≈401</a:t>
            </a:r>
            <a:endParaRPr lang="en-US" sz="10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4Q25</a:t>
            </a:r>
            <a:endParaRPr lang="en-US" sz="10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1Q26</a:t>
            </a:r>
            <a:endParaRPr lang="en-US" sz="10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2Q26</a:t>
            </a:r>
            <a:endParaRPr lang="en-US" sz="10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3Q26</a:t>
            </a:r>
            <a:endParaRPr lang="en-US" sz="10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4Q26E</a:t>
            </a:r>
            <a:endParaRPr lang="en-US" sz="10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a:lnSpc>
                <a:spcPts val="1440"/>
              </a:lnSpc>
            </a:pPr>
            <a:r>
              <a:rPr lang="en-US" sz="1000" b="1" dirty="0" err="1">
                <a:solidFill>
                  <a:srgbClr val="7A3608"/>
                </a:solidFill>
                <a:latin typeface="+mj-ea"/>
                <a:ea typeface="+mj-ea"/>
                <a:cs typeface="Noto Sans KR" pitchFamily="34" charset="-120"/>
              </a:rPr>
              <a:t>가격</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계속</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상승</a:t>
            </a:r>
            <a:r>
              <a:rPr lang="en-US" sz="1000" b="1" dirty="0">
                <a:solidFill>
                  <a:srgbClr val="7A3608"/>
                </a:solidFill>
                <a:latin typeface="+mj-ea"/>
                <a:ea typeface="+mj-ea"/>
                <a:cs typeface="Noto Sans KR" pitchFamily="34" charset="-120"/>
              </a:rPr>
              <a:t> (</a:t>
            </a:r>
            <a:r>
              <a:rPr lang="en-US" altLang="ko-KR" sz="1000" b="1" dirty="0" err="1">
                <a:solidFill>
                  <a:srgbClr val="7A3608"/>
                </a:solidFill>
                <a:latin typeface="+mj-ea"/>
                <a:cs typeface="Noto Sans KR" pitchFamily="34" charset="-120"/>
              </a:rPr>
              <a:t>증가율</a:t>
            </a:r>
            <a:r>
              <a:rPr lang="en-US" altLang="ko-KR" sz="1000" b="1" dirty="0">
                <a:solidFill>
                  <a:srgbClr val="7A3608"/>
                </a:solidFill>
                <a:latin typeface="+mj-ea"/>
                <a:cs typeface="Noto Sans KR" pitchFamily="34" charset="-120"/>
              </a:rPr>
              <a:t> </a:t>
            </a:r>
            <a:r>
              <a:rPr lang="en-US" altLang="ko-KR" sz="1000" b="1" dirty="0" err="1">
                <a:solidFill>
                  <a:srgbClr val="7A3608"/>
                </a:solidFill>
                <a:latin typeface="+mj-ea"/>
                <a:cs typeface="Noto Sans KR" pitchFamily="34" charset="-120"/>
              </a:rPr>
              <a:t>둔화</a:t>
            </a:r>
            <a:r>
              <a:rPr lang="en-US" altLang="ko-KR" sz="1000" b="1" dirty="0">
                <a:solidFill>
                  <a:srgbClr val="7A3608"/>
                </a:solidFill>
                <a:latin typeface="+mj-ea"/>
                <a:cs typeface="Noto Sans KR" pitchFamily="34" charset="-120"/>
              </a:rPr>
              <a:t>)</a:t>
            </a:r>
            <a:endParaRPr lang="en-US" sz="1000" dirty="0">
              <a:latin typeface="+mj-ea"/>
              <a:ea typeface="+mj-ea"/>
            </a:endParaRPr>
          </a:p>
        </p:txBody>
      </p:sp>
      <p:sp>
        <p:nvSpPr>
          <p:cNvPr id="167" name="TextBox 166">
            <a:extLst>
              <a:ext uri="{FF2B5EF4-FFF2-40B4-BE49-F238E27FC236}">
                <a16:creationId xmlns:a16="http://schemas.microsoft.com/office/drawing/2014/main" id="{6D44623D-F088-4C5E-92CF-0FEF7D09EFD3}"/>
              </a:ext>
            </a:extLst>
          </p:cNvPr>
          <p:cNvSpPr txBox="1"/>
          <p:nvPr/>
        </p:nvSpPr>
        <p:spPr>
          <a:xfrm>
            <a:off x="294321" y="147178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여러 턴에 걸쳐 </a:t>
            </a:r>
            <a:r>
              <a:rPr lang="en-US" altLang="ko-KR" sz="1200" b="1" dirty="0"/>
              <a:t>Context</a:t>
            </a:r>
            <a:r>
              <a:rPr lang="ko-KR" altLang="en-US" sz="1200" b="1" dirty="0"/>
              <a:t>가 누적되어 </a:t>
            </a:r>
            <a:r>
              <a:rPr lang="en-US" altLang="ko-KR" sz="1200" b="1" dirty="0"/>
              <a:t>KV </a:t>
            </a:r>
            <a:r>
              <a:rPr lang="ko-KR" altLang="en-US" sz="1200" b="1" dirty="0"/>
              <a:t>캐시 크기 폭증</a:t>
            </a:r>
            <a:endParaRPr lang="en-US" altLang="ko-KR" sz="1200" b="1" dirty="0"/>
          </a:p>
        </p:txBody>
      </p:sp>
      <p:sp>
        <p:nvSpPr>
          <p:cNvPr id="200" name="TextBox 199">
            <a:extLst>
              <a:ext uri="{FF2B5EF4-FFF2-40B4-BE49-F238E27FC236}">
                <a16:creationId xmlns:a16="http://schemas.microsoft.com/office/drawing/2014/main" id="{CE105C95-5508-4E86-8637-1A88AEFA109B}"/>
              </a:ext>
            </a:extLst>
          </p:cNvPr>
          <p:cNvSpPr txBox="1"/>
          <p:nvPr/>
        </p:nvSpPr>
        <p:spPr>
          <a:xfrm>
            <a:off x="294321" y="439527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 </a:t>
            </a:r>
            <a:r>
              <a:rPr lang="ko-KR" altLang="en-US" sz="1200" b="1" dirty="0"/>
              <a:t>검색</a:t>
            </a:r>
            <a:r>
              <a:rPr lang="en-US" altLang="ko-KR" sz="1200" b="1" dirty="0"/>
              <a:t>, </a:t>
            </a:r>
            <a:r>
              <a:rPr lang="ko-KR" altLang="en-US" sz="1200" b="1" dirty="0"/>
              <a:t>도구 실행 반복 중 유휴 </a:t>
            </a:r>
            <a:r>
              <a:rPr lang="en-US" altLang="ko-KR" sz="1200" b="1" dirty="0"/>
              <a:t>KV </a:t>
            </a:r>
            <a:r>
              <a:rPr lang="ko-KR" altLang="en-US" sz="1200" b="1" dirty="0"/>
              <a:t>캐시의 불필요한 </a:t>
            </a:r>
            <a:r>
              <a:rPr lang="en-US" altLang="ko-KR" sz="1200" b="1" dirty="0"/>
              <a:t>HBM </a:t>
            </a:r>
            <a:r>
              <a:rPr lang="ko-KR" altLang="en-US" sz="1200" b="1" dirty="0"/>
              <a:t>점유 증가 </a:t>
            </a:r>
          </a:p>
        </p:txBody>
      </p:sp>
      <mc:AlternateContent xmlns:mc="http://schemas.openxmlformats.org/markup-compatibility/2006" xmlns:a14="http://schemas.microsoft.com/office/drawing/2010/main">
        <mc:Choice Requires="a14">
          <p:sp>
            <p:nvSpPr>
              <p:cNvPr id="265" name="Text 85">
                <a:extLst>
                  <a:ext uri="{FF2B5EF4-FFF2-40B4-BE49-F238E27FC236}">
                    <a16:creationId xmlns:a16="http://schemas.microsoft.com/office/drawing/2014/main" id="{9BFB2DD1-19C2-4FEC-B909-725DFC6CF086}"/>
                  </a:ext>
                </a:extLst>
              </p:cNvPr>
              <p:cNvSpPr/>
              <p:nvPr/>
            </p:nvSpPr>
            <p:spPr>
              <a:xfrm>
                <a:off x="8147050" y="5840195"/>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SSD</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oMath>
                  </m:oMathPara>
                </a14:m>
                <a:endParaRPr lang="en-US" sz="1050" dirty="0">
                  <a:latin typeface="+mj-ea"/>
                  <a:ea typeface="+mj-ea"/>
                </a:endParaRPr>
              </a:p>
            </p:txBody>
          </p:sp>
        </mc:Choice>
        <mc:Fallback xmlns="">
          <p:sp>
            <p:nvSpPr>
              <p:cNvPr id="265" name="Text 85">
                <a:extLst>
                  <a:ext uri="{FF2B5EF4-FFF2-40B4-BE49-F238E27FC236}">
                    <a16:creationId xmlns:a16="http://schemas.microsoft.com/office/drawing/2014/main" id="{9BFB2DD1-19C2-4FEC-B909-725DFC6CF086}"/>
                  </a:ext>
                </a:extLst>
              </p:cNvPr>
              <p:cNvSpPr>
                <a:spLocks noRot="1" noChangeAspect="1" noMove="1" noResize="1" noEditPoints="1" noAdjustHandles="1" noChangeArrowheads="1" noChangeShapeType="1" noTextEdit="1"/>
              </p:cNvSpPr>
              <p:nvPr/>
            </p:nvSpPr>
            <p:spPr>
              <a:xfrm>
                <a:off x="8147050" y="5840195"/>
                <a:ext cx="3505708" cy="223441"/>
              </a:xfrm>
              <a:prstGeom prst="rect">
                <a:avLst/>
              </a:prstGeom>
              <a:blipFill>
                <a:blip r:embed="rId10"/>
                <a:stretch>
                  <a:fillRect l="-1389" b="-2703"/>
                </a:stretch>
              </a:blipFill>
              <a:ln/>
            </p:spPr>
            <p:txBody>
              <a:bodyPr/>
              <a:lstStyle/>
              <a:p>
                <a:r>
                  <a:rPr lang="ko-KR" altLang="en-US">
                    <a:noFill/>
                  </a:rPr>
                  <a:t> </a:t>
                </a:r>
              </a:p>
            </p:txBody>
          </p:sp>
        </mc:Fallback>
      </mc:AlternateContent>
      <p:sp>
        <p:nvSpPr>
          <p:cNvPr id="266" name="Segment panel">
            <a:extLst>
              <a:ext uri="{FF2B5EF4-FFF2-40B4-BE49-F238E27FC236}">
                <a16:creationId xmlns:a16="http://schemas.microsoft.com/office/drawing/2014/main" id="{038DC8BC-20A2-4373-847C-169B00DCDD65}"/>
              </a:ext>
            </a:extLst>
          </p:cNvPr>
          <p:cNvSpPr/>
          <p:nvPr/>
        </p:nvSpPr>
        <p:spPr>
          <a:xfrm>
            <a:off x="6409944" y="4433264"/>
            <a:ext cx="5230368" cy="1847088"/>
          </a:xfrm>
          <a:prstGeom prst="roundRect">
            <a:avLst>
              <a:gd name="adj" fmla="val 4000"/>
            </a:avLst>
          </a:prstGeom>
          <a:solidFill>
            <a:srgbClr val="F4F7FB"/>
          </a:solidFill>
          <a:ln>
            <a:noFill/>
          </a:ln>
        </p:spPr>
        <p:txBody>
          <a:bodyPr rtlCol="0" anchor="ctr"/>
          <a:lstStyle/>
          <a:p>
            <a:pPr algn="ctr"/>
            <a:endParaRPr/>
          </a:p>
        </p:txBody>
      </p:sp>
      <p:sp>
        <p:nvSpPr>
          <p:cNvPr id="267" name="TextBox 266">
            <a:extLst>
              <a:ext uri="{FF2B5EF4-FFF2-40B4-BE49-F238E27FC236}">
                <a16:creationId xmlns:a16="http://schemas.microsoft.com/office/drawing/2014/main" id="{A939EC7F-1698-4935-950B-2AFF0F3A995F}"/>
              </a:ext>
            </a:extLst>
          </p:cNvPr>
          <p:cNvSpPr txBox="1"/>
          <p:nvPr/>
        </p:nvSpPr>
        <p:spPr>
          <a:xfrm>
            <a:off x="6510528" y="4440884"/>
            <a:ext cx="1188720" cy="146304"/>
          </a:xfrm>
          <a:prstGeom prst="rect">
            <a:avLst/>
          </a:prstGeom>
          <a:noFill/>
        </p:spPr>
        <p:txBody>
          <a:bodyPr wrap="square" lIns="0" tIns="0" rIns="0" bIns="0" anchor="t">
            <a:noAutofit/>
          </a:bodyPr>
          <a:lstStyle/>
          <a:p>
            <a:pPr algn="ctr"/>
            <a:r>
              <a:rPr sz="850" b="1" dirty="0" err="1">
                <a:solidFill>
                  <a:srgbClr val="555555"/>
                </a:solidFill>
                <a:latin typeface="+mj-ea"/>
                <a:ea typeface="+mj-ea"/>
              </a:rPr>
              <a:t>세그먼트</a:t>
            </a:r>
            <a:endParaRPr sz="850" b="1" dirty="0">
              <a:solidFill>
                <a:srgbClr val="555555"/>
              </a:solidFill>
              <a:latin typeface="+mj-ea"/>
              <a:ea typeface="+mj-ea"/>
            </a:endParaRPr>
          </a:p>
        </p:txBody>
      </p:sp>
      <p:sp>
        <p:nvSpPr>
          <p:cNvPr id="268" name="TextBox 267">
            <a:extLst>
              <a:ext uri="{FF2B5EF4-FFF2-40B4-BE49-F238E27FC236}">
                <a16:creationId xmlns:a16="http://schemas.microsoft.com/office/drawing/2014/main" id="{E66FB391-0AD5-40B4-BA2A-F18186B11F53}"/>
              </a:ext>
            </a:extLst>
          </p:cNvPr>
          <p:cNvSpPr txBox="1"/>
          <p:nvPr/>
        </p:nvSpPr>
        <p:spPr>
          <a:xfrm>
            <a:off x="7818120" y="4440884"/>
            <a:ext cx="1371600" cy="146304"/>
          </a:xfrm>
          <a:prstGeom prst="rect">
            <a:avLst/>
          </a:prstGeom>
          <a:noFill/>
        </p:spPr>
        <p:txBody>
          <a:bodyPr wrap="square" lIns="0" tIns="0" rIns="0" bIns="0" anchor="t">
            <a:noAutofit/>
          </a:bodyPr>
          <a:lstStyle/>
          <a:p>
            <a:pPr algn="ctr"/>
            <a:r>
              <a:rPr sz="850" b="1">
                <a:solidFill>
                  <a:srgbClr val="555555"/>
                </a:solidFill>
                <a:latin typeface="+mj-ea"/>
                <a:ea typeface="+mj-ea"/>
              </a:rPr>
              <a:t>특징</a:t>
            </a:r>
          </a:p>
        </p:txBody>
      </p:sp>
      <p:sp>
        <p:nvSpPr>
          <p:cNvPr id="269" name="TextBox 268">
            <a:extLst>
              <a:ext uri="{FF2B5EF4-FFF2-40B4-BE49-F238E27FC236}">
                <a16:creationId xmlns:a16="http://schemas.microsoft.com/office/drawing/2014/main" id="{4235C67F-0F3F-405B-A837-0D63984024E1}"/>
              </a:ext>
            </a:extLst>
          </p:cNvPr>
          <p:cNvSpPr txBox="1"/>
          <p:nvPr/>
        </p:nvSpPr>
        <p:spPr>
          <a:xfrm>
            <a:off x="9281160" y="4440884"/>
            <a:ext cx="1225296" cy="146304"/>
          </a:xfrm>
          <a:prstGeom prst="rect">
            <a:avLst/>
          </a:prstGeom>
          <a:noFill/>
        </p:spPr>
        <p:txBody>
          <a:bodyPr wrap="square" lIns="0" tIns="0" rIns="0" bIns="0" anchor="t">
            <a:noAutofit/>
          </a:bodyPr>
          <a:lstStyle/>
          <a:p>
            <a:pPr algn="ctr"/>
            <a:r>
              <a:rPr sz="850" b="1">
                <a:solidFill>
                  <a:srgbClr val="555555"/>
                </a:solidFill>
                <a:latin typeface="+mj-ea"/>
                <a:ea typeface="+mj-ea"/>
              </a:rPr>
              <a:t>시장 규모</a:t>
            </a:r>
          </a:p>
        </p:txBody>
      </p:sp>
      <p:sp>
        <p:nvSpPr>
          <p:cNvPr id="270" name="TextBox 269">
            <a:extLst>
              <a:ext uri="{FF2B5EF4-FFF2-40B4-BE49-F238E27FC236}">
                <a16:creationId xmlns:a16="http://schemas.microsoft.com/office/drawing/2014/main" id="{B141CC1D-646E-41EE-B53D-68DB97FA9794}"/>
              </a:ext>
            </a:extLst>
          </p:cNvPr>
          <p:cNvSpPr txBox="1"/>
          <p:nvPr/>
        </p:nvSpPr>
        <p:spPr>
          <a:xfrm>
            <a:off x="10515600" y="4440884"/>
            <a:ext cx="1097280" cy="146304"/>
          </a:xfrm>
          <a:prstGeom prst="rect">
            <a:avLst/>
          </a:prstGeom>
          <a:noFill/>
        </p:spPr>
        <p:txBody>
          <a:bodyPr wrap="square" lIns="0" tIns="0" rIns="0" bIns="0" anchor="t">
            <a:noAutofit/>
          </a:bodyPr>
          <a:lstStyle/>
          <a:p>
            <a:pPr algn="ctr"/>
            <a:r>
              <a:rPr sz="850" b="1">
                <a:solidFill>
                  <a:srgbClr val="555555"/>
                </a:solidFill>
                <a:latin typeface="+mj-ea"/>
                <a:ea typeface="+mj-ea"/>
              </a:rPr>
              <a:t>규모 ($B) · 성장</a:t>
            </a:r>
          </a:p>
        </p:txBody>
      </p:sp>
      <p:sp>
        <p:nvSpPr>
          <p:cNvPr id="271" name="Segment chip">
            <a:extLst>
              <a:ext uri="{FF2B5EF4-FFF2-40B4-BE49-F238E27FC236}">
                <a16:creationId xmlns:a16="http://schemas.microsoft.com/office/drawing/2014/main" id="{C0A3FA2E-28E5-47B9-B33C-7F54E18CAAA2}"/>
              </a:ext>
            </a:extLst>
          </p:cNvPr>
          <p:cNvSpPr/>
          <p:nvPr/>
        </p:nvSpPr>
        <p:spPr>
          <a:xfrm>
            <a:off x="6492240" y="4671008"/>
            <a:ext cx="1261872" cy="246888"/>
          </a:xfrm>
          <a:prstGeom prst="roundRect">
            <a:avLst>
              <a:gd name="adj" fmla="val 19000"/>
            </a:avLst>
          </a:prstGeom>
          <a:solidFill>
            <a:srgbClr val="F0F1F3"/>
          </a:solidFill>
          <a:ln w="12700">
            <a:solidFill>
              <a:srgbClr val="7F7F7F"/>
            </a:solidFill>
          </a:ln>
        </p:spPr>
        <p:txBody>
          <a:bodyPr wrap="square" lIns="54864" tIns="18288" rIns="45720" bIns="18288" rtlCol="0" anchor="ctr"/>
          <a:lstStyle/>
          <a:p>
            <a:pPr algn="l"/>
            <a:r>
              <a:rPr sz="950" b="1">
                <a:solidFill>
                  <a:srgbClr val="222222"/>
                </a:solidFill>
                <a:latin typeface="+mj-ea"/>
                <a:ea typeface="+mj-ea"/>
              </a:rPr>
              <a:t>HBM (기준)</a:t>
            </a:r>
          </a:p>
        </p:txBody>
      </p:sp>
      <p:sp>
        <p:nvSpPr>
          <p:cNvPr id="272" name="TextBox 271">
            <a:extLst>
              <a:ext uri="{FF2B5EF4-FFF2-40B4-BE49-F238E27FC236}">
                <a16:creationId xmlns:a16="http://schemas.microsoft.com/office/drawing/2014/main" id="{F1E76BD8-C30C-4BC8-B4E5-7B412F623F17}"/>
              </a:ext>
            </a:extLst>
          </p:cNvPr>
          <p:cNvSpPr txBox="1"/>
          <p:nvPr/>
        </p:nvSpPr>
        <p:spPr>
          <a:xfrm>
            <a:off x="7818120" y="4671008"/>
            <a:ext cx="1417320" cy="246888"/>
          </a:xfrm>
          <a:prstGeom prst="rect">
            <a:avLst/>
          </a:prstGeom>
          <a:noFill/>
        </p:spPr>
        <p:txBody>
          <a:bodyPr wrap="square" lIns="0" tIns="0" rIns="0" bIns="0" anchor="ctr">
            <a:noAutofit/>
          </a:bodyPr>
          <a:lstStyle/>
          <a:p>
            <a:pPr algn="l">
              <a:lnSpc>
                <a:spcPct val="95000"/>
              </a:lnSpc>
            </a:pPr>
            <a:r>
              <a:rPr sz="850" b="0">
                <a:solidFill>
                  <a:srgbClr val="222222"/>
                </a:solidFill>
                <a:latin typeface="+mj-ea"/>
                <a:ea typeface="+mj-ea"/>
              </a:rPr>
              <a:t>GPU 온패키지 고대역폭, 공급 부족 지속</a:t>
            </a:r>
          </a:p>
        </p:txBody>
      </p:sp>
      <p:sp>
        <p:nvSpPr>
          <p:cNvPr id="273" name="seg bar now">
            <a:extLst>
              <a:ext uri="{FF2B5EF4-FFF2-40B4-BE49-F238E27FC236}">
                <a16:creationId xmlns:a16="http://schemas.microsoft.com/office/drawing/2014/main" id="{B1DA3349-DF92-4EB4-A946-8238767E8D3D}"/>
              </a:ext>
            </a:extLst>
          </p:cNvPr>
          <p:cNvSpPr/>
          <p:nvPr/>
        </p:nvSpPr>
        <p:spPr>
          <a:xfrm>
            <a:off x="9281160" y="4698440"/>
            <a:ext cx="400050" cy="91440"/>
          </a:xfrm>
          <a:prstGeom prst="rect">
            <a:avLst/>
          </a:prstGeom>
          <a:solidFill>
            <a:srgbClr val="9DB9DE"/>
          </a:solidFill>
          <a:ln>
            <a:noFill/>
          </a:ln>
        </p:spPr>
        <p:txBody>
          <a:bodyPr rtlCol="0" anchor="ctr"/>
          <a:lstStyle/>
          <a:p>
            <a:pPr algn="ctr"/>
            <a:endParaRPr/>
          </a:p>
        </p:txBody>
      </p:sp>
      <p:sp>
        <p:nvSpPr>
          <p:cNvPr id="274" name="seg bar future">
            <a:extLst>
              <a:ext uri="{FF2B5EF4-FFF2-40B4-BE49-F238E27FC236}">
                <a16:creationId xmlns:a16="http://schemas.microsoft.com/office/drawing/2014/main" id="{A659B3C4-273C-4500-B4E8-0B336B0EAF53}"/>
              </a:ext>
            </a:extLst>
          </p:cNvPr>
          <p:cNvSpPr/>
          <p:nvPr/>
        </p:nvSpPr>
        <p:spPr>
          <a:xfrm>
            <a:off x="9281160" y="4799023"/>
            <a:ext cx="1143000" cy="91440"/>
          </a:xfrm>
          <a:prstGeom prst="rect">
            <a:avLst/>
          </a:prstGeom>
          <a:solidFill>
            <a:srgbClr val="1C3F6E"/>
          </a:solidFill>
          <a:ln>
            <a:noFill/>
          </a:ln>
        </p:spPr>
        <p:txBody>
          <a:bodyPr rtlCol="0" anchor="ctr"/>
          <a:lstStyle/>
          <a:p>
            <a:pPr algn="ctr"/>
            <a:endParaRPr/>
          </a:p>
        </p:txBody>
      </p:sp>
      <p:sp>
        <p:nvSpPr>
          <p:cNvPr id="275" name="TextBox 274">
            <a:extLst>
              <a:ext uri="{FF2B5EF4-FFF2-40B4-BE49-F238E27FC236}">
                <a16:creationId xmlns:a16="http://schemas.microsoft.com/office/drawing/2014/main" id="{7514A97E-8378-4D87-A18A-3E4B28425394}"/>
              </a:ext>
            </a:extLst>
          </p:cNvPr>
          <p:cNvSpPr txBox="1"/>
          <p:nvPr/>
        </p:nvSpPr>
        <p:spPr>
          <a:xfrm>
            <a:off x="10515600" y="4661864"/>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$35B → ≈$100B</a:t>
            </a:r>
          </a:p>
          <a:p>
            <a:pPr algn="l">
              <a:lnSpc>
                <a:spcPct val="95000"/>
              </a:lnSpc>
            </a:pPr>
            <a:r>
              <a:rPr sz="750" b="0">
                <a:solidFill>
                  <a:srgbClr val="555555"/>
                </a:solidFill>
                <a:latin typeface="+mj-ea"/>
                <a:ea typeface="+mj-ea"/>
              </a:rPr>
              <a:t>’25→’28E · CAGR ≈42%</a:t>
            </a:r>
          </a:p>
        </p:txBody>
      </p:sp>
      <p:sp>
        <p:nvSpPr>
          <p:cNvPr id="276" name="Segment chip">
            <a:extLst>
              <a:ext uri="{FF2B5EF4-FFF2-40B4-BE49-F238E27FC236}">
                <a16:creationId xmlns:a16="http://schemas.microsoft.com/office/drawing/2014/main" id="{0567273D-9BEC-4EFB-A786-9FBE92143C7F}"/>
              </a:ext>
            </a:extLst>
          </p:cNvPr>
          <p:cNvSpPr/>
          <p:nvPr/>
        </p:nvSpPr>
        <p:spPr>
          <a:xfrm>
            <a:off x="6492240" y="4981903"/>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cHBM</a:t>
            </a:r>
          </a:p>
        </p:txBody>
      </p:sp>
      <p:sp>
        <p:nvSpPr>
          <p:cNvPr id="277" name="TextBox 276">
            <a:extLst>
              <a:ext uri="{FF2B5EF4-FFF2-40B4-BE49-F238E27FC236}">
                <a16:creationId xmlns:a16="http://schemas.microsoft.com/office/drawing/2014/main" id="{0B98DD65-41FF-4DCD-94CD-076143051650}"/>
              </a:ext>
            </a:extLst>
          </p:cNvPr>
          <p:cNvSpPr txBox="1"/>
          <p:nvPr/>
        </p:nvSpPr>
        <p:spPr>
          <a:xfrm>
            <a:off x="7818120" y="4981903"/>
            <a:ext cx="1417320" cy="246888"/>
          </a:xfrm>
          <a:prstGeom prst="rect">
            <a:avLst/>
          </a:prstGeom>
          <a:noFill/>
        </p:spPr>
        <p:txBody>
          <a:bodyPr wrap="square" lIns="0" tIns="0" rIns="0" bIns="0" anchor="ctr">
            <a:noAutofit/>
          </a:bodyPr>
          <a:lstStyle/>
          <a:p>
            <a:pPr algn="l">
              <a:lnSpc>
                <a:spcPct val="95000"/>
              </a:lnSpc>
            </a:pPr>
            <a:r>
              <a:rPr sz="850" b="0" dirty="0">
                <a:solidFill>
                  <a:srgbClr val="222222"/>
                </a:solidFill>
                <a:latin typeface="+mj-ea"/>
                <a:ea typeface="+mj-ea"/>
              </a:rPr>
              <a:t>Base </a:t>
            </a:r>
            <a:r>
              <a:rPr sz="850" b="0" dirty="0" err="1">
                <a:solidFill>
                  <a:srgbClr val="222222"/>
                </a:solidFill>
                <a:latin typeface="+mj-ea"/>
                <a:ea typeface="+mj-ea"/>
              </a:rPr>
              <a:t>die에</a:t>
            </a:r>
            <a:r>
              <a:rPr sz="850" b="0" dirty="0">
                <a:solidFill>
                  <a:srgbClr val="222222"/>
                </a:solidFill>
                <a:latin typeface="+mj-ea"/>
                <a:ea typeface="+mj-ea"/>
              </a:rPr>
              <a:t> </a:t>
            </a:r>
            <a:r>
              <a:rPr sz="850" b="0" dirty="0" err="1">
                <a:solidFill>
                  <a:srgbClr val="222222"/>
                </a:solidFill>
                <a:latin typeface="+mj-ea"/>
                <a:ea typeface="+mj-ea"/>
              </a:rPr>
              <a:t>고객</a:t>
            </a:r>
            <a:r>
              <a:rPr sz="850" b="0" dirty="0">
                <a:solidFill>
                  <a:srgbClr val="222222"/>
                </a:solidFill>
                <a:latin typeface="+mj-ea"/>
                <a:ea typeface="+mj-ea"/>
              </a:rPr>
              <a:t> </a:t>
            </a:r>
            <a:r>
              <a:rPr sz="850" b="0" dirty="0" err="1">
                <a:solidFill>
                  <a:srgbClr val="222222"/>
                </a:solidFill>
                <a:latin typeface="+mj-ea"/>
                <a:ea typeface="+mj-ea"/>
              </a:rPr>
              <a:t>특화</a:t>
            </a:r>
            <a:r>
              <a:rPr sz="850" b="0" dirty="0">
                <a:solidFill>
                  <a:srgbClr val="222222"/>
                </a:solidFill>
                <a:latin typeface="+mj-ea"/>
                <a:ea typeface="+mj-ea"/>
              </a:rPr>
              <a:t> </a:t>
            </a:r>
            <a:r>
              <a:rPr sz="850" b="0" dirty="0" err="1">
                <a:solidFill>
                  <a:srgbClr val="222222"/>
                </a:solidFill>
                <a:latin typeface="+mj-ea"/>
                <a:ea typeface="+mj-ea"/>
              </a:rPr>
              <a:t>로직</a:t>
            </a:r>
            <a:endParaRPr sz="850" b="0" dirty="0">
              <a:solidFill>
                <a:srgbClr val="222222"/>
              </a:solidFill>
              <a:latin typeface="+mj-ea"/>
              <a:ea typeface="+mj-ea"/>
            </a:endParaRPr>
          </a:p>
        </p:txBody>
      </p:sp>
      <p:sp>
        <p:nvSpPr>
          <p:cNvPr id="278" name="seg bar now">
            <a:extLst>
              <a:ext uri="{FF2B5EF4-FFF2-40B4-BE49-F238E27FC236}">
                <a16:creationId xmlns:a16="http://schemas.microsoft.com/office/drawing/2014/main" id="{DCDB4FEA-DA94-4502-B811-0FB024E6FE36}"/>
              </a:ext>
            </a:extLst>
          </p:cNvPr>
          <p:cNvSpPr/>
          <p:nvPr/>
        </p:nvSpPr>
        <p:spPr>
          <a:xfrm>
            <a:off x="9281160" y="5009336"/>
            <a:ext cx="70866" cy="91440"/>
          </a:xfrm>
          <a:prstGeom prst="rect">
            <a:avLst/>
          </a:prstGeom>
          <a:solidFill>
            <a:srgbClr val="9DB9DE"/>
          </a:solidFill>
          <a:ln>
            <a:noFill/>
          </a:ln>
        </p:spPr>
        <p:txBody>
          <a:bodyPr rtlCol="0" anchor="ctr"/>
          <a:lstStyle/>
          <a:p>
            <a:pPr algn="ctr"/>
            <a:endParaRPr/>
          </a:p>
        </p:txBody>
      </p:sp>
      <p:sp>
        <p:nvSpPr>
          <p:cNvPr id="279" name="seg bar future">
            <a:extLst>
              <a:ext uri="{FF2B5EF4-FFF2-40B4-BE49-F238E27FC236}">
                <a16:creationId xmlns:a16="http://schemas.microsoft.com/office/drawing/2014/main" id="{D0171506-A0EA-4CAA-B51E-C1D45883A563}"/>
              </a:ext>
            </a:extLst>
          </p:cNvPr>
          <p:cNvSpPr/>
          <p:nvPr/>
        </p:nvSpPr>
        <p:spPr>
          <a:xfrm>
            <a:off x="9281160" y="5109919"/>
            <a:ext cx="290322" cy="91440"/>
          </a:xfrm>
          <a:prstGeom prst="rect">
            <a:avLst/>
          </a:prstGeom>
          <a:solidFill>
            <a:srgbClr val="2F6DB5"/>
          </a:solidFill>
          <a:ln>
            <a:noFill/>
          </a:ln>
        </p:spPr>
        <p:txBody>
          <a:bodyPr rtlCol="0" anchor="ctr"/>
          <a:lstStyle/>
          <a:p>
            <a:pPr algn="ctr"/>
            <a:endParaRPr/>
          </a:p>
        </p:txBody>
      </p:sp>
      <p:sp>
        <p:nvSpPr>
          <p:cNvPr id="280" name="TextBox 279">
            <a:extLst>
              <a:ext uri="{FF2B5EF4-FFF2-40B4-BE49-F238E27FC236}">
                <a16:creationId xmlns:a16="http://schemas.microsoft.com/office/drawing/2014/main" id="{FBE87DDD-FA04-44AA-B39C-078B141C3C3A}"/>
              </a:ext>
            </a:extLst>
          </p:cNvPr>
          <p:cNvSpPr txBox="1"/>
          <p:nvPr/>
        </p:nvSpPr>
        <p:spPr>
          <a:xfrm>
            <a:off x="10515600" y="4972760"/>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$6.2B → $25.4B</a:t>
            </a:r>
          </a:p>
          <a:p>
            <a:pPr algn="l">
              <a:lnSpc>
                <a:spcPct val="95000"/>
              </a:lnSpc>
            </a:pPr>
            <a:r>
              <a:rPr sz="750" b="0">
                <a:solidFill>
                  <a:srgbClr val="555555"/>
                </a:solidFill>
                <a:latin typeface="+mj-ea"/>
                <a:ea typeface="+mj-ea"/>
              </a:rPr>
              <a:t>’25→’31E · CAGR ≈27%</a:t>
            </a:r>
          </a:p>
        </p:txBody>
      </p:sp>
      <p:sp>
        <p:nvSpPr>
          <p:cNvPr id="281" name="Segment chip">
            <a:extLst>
              <a:ext uri="{FF2B5EF4-FFF2-40B4-BE49-F238E27FC236}">
                <a16:creationId xmlns:a16="http://schemas.microsoft.com/office/drawing/2014/main" id="{C76930F2-7808-4EDD-B03D-9A9B905987CD}"/>
              </a:ext>
            </a:extLst>
          </p:cNvPr>
          <p:cNvSpPr/>
          <p:nvPr/>
        </p:nvSpPr>
        <p:spPr>
          <a:xfrm>
            <a:off x="6492240" y="5292799"/>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CXL 메모리 풀</a:t>
            </a:r>
          </a:p>
        </p:txBody>
      </p:sp>
      <p:sp>
        <p:nvSpPr>
          <p:cNvPr id="282" name="TextBox 281">
            <a:extLst>
              <a:ext uri="{FF2B5EF4-FFF2-40B4-BE49-F238E27FC236}">
                <a16:creationId xmlns:a16="http://schemas.microsoft.com/office/drawing/2014/main" id="{1750F99D-F96D-4EF5-85D4-F50EC98E0095}"/>
              </a:ext>
            </a:extLst>
          </p:cNvPr>
          <p:cNvSpPr txBox="1"/>
          <p:nvPr/>
        </p:nvSpPr>
        <p:spPr>
          <a:xfrm>
            <a:off x="7818120" y="5292799"/>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a:t>
            </a:r>
            <a:r>
              <a:rPr sz="850" b="0" dirty="0">
                <a:solidFill>
                  <a:srgbClr val="222222"/>
                </a:solidFill>
                <a:latin typeface="+mj-ea"/>
                <a:ea typeface="+mj-ea"/>
              </a:rPr>
              <a:t> </a:t>
            </a:r>
            <a:r>
              <a:rPr sz="850" b="0" dirty="0" err="1">
                <a:solidFill>
                  <a:srgbClr val="222222"/>
                </a:solidFill>
                <a:latin typeface="+mj-ea"/>
                <a:ea typeface="+mj-ea"/>
              </a:rPr>
              <a:t>단위</a:t>
            </a:r>
            <a:r>
              <a:rPr sz="850" b="0" dirty="0">
                <a:solidFill>
                  <a:srgbClr val="222222"/>
                </a:solidFill>
                <a:latin typeface="+mj-ea"/>
                <a:ea typeface="+mj-ea"/>
              </a:rPr>
              <a:t> </a:t>
            </a:r>
            <a:r>
              <a:rPr sz="850" b="0" dirty="0" err="1">
                <a:solidFill>
                  <a:srgbClr val="222222"/>
                </a:solidFill>
                <a:latin typeface="+mj-ea"/>
                <a:ea typeface="+mj-ea"/>
              </a:rPr>
              <a:t>용량</a:t>
            </a:r>
            <a:r>
              <a:rPr sz="850" b="0" dirty="0">
                <a:solidFill>
                  <a:srgbClr val="222222"/>
                </a:solidFill>
                <a:latin typeface="+mj-ea"/>
                <a:ea typeface="+mj-ea"/>
              </a:rPr>
              <a:t> </a:t>
            </a:r>
            <a:r>
              <a:rPr sz="850" b="0" dirty="0" err="1">
                <a:solidFill>
                  <a:srgbClr val="222222"/>
                </a:solidFill>
                <a:latin typeface="+mj-ea"/>
                <a:ea typeface="+mj-ea"/>
              </a:rPr>
              <a:t>확장</a:t>
            </a:r>
            <a:r>
              <a:rPr sz="850" b="0" dirty="0">
                <a:solidFill>
                  <a:srgbClr val="222222"/>
                </a:solidFill>
                <a:latin typeface="+mj-ea"/>
                <a:ea typeface="+mj-ea"/>
              </a:rPr>
              <a:t>, KV </a:t>
            </a:r>
            <a:r>
              <a:rPr sz="850" b="0" dirty="0" err="1">
                <a:solidFill>
                  <a:srgbClr val="222222"/>
                </a:solidFill>
                <a:latin typeface="+mj-ea"/>
                <a:ea typeface="+mj-ea"/>
              </a:rPr>
              <a:t>공유</a:t>
            </a:r>
            <a:endParaRPr sz="850" b="0" dirty="0">
              <a:solidFill>
                <a:srgbClr val="222222"/>
              </a:solidFill>
              <a:latin typeface="+mj-ea"/>
              <a:ea typeface="+mj-ea"/>
            </a:endParaRPr>
          </a:p>
        </p:txBody>
      </p:sp>
      <p:sp>
        <p:nvSpPr>
          <p:cNvPr id="283" name="seg bar now">
            <a:extLst>
              <a:ext uri="{FF2B5EF4-FFF2-40B4-BE49-F238E27FC236}">
                <a16:creationId xmlns:a16="http://schemas.microsoft.com/office/drawing/2014/main" id="{DC6707B1-0338-4262-A877-1EFEE6D31C03}"/>
              </a:ext>
            </a:extLst>
          </p:cNvPr>
          <p:cNvSpPr/>
          <p:nvPr/>
        </p:nvSpPr>
        <p:spPr>
          <a:xfrm>
            <a:off x="9281160" y="5320231"/>
            <a:ext cx="28232" cy="91440"/>
          </a:xfrm>
          <a:prstGeom prst="rect">
            <a:avLst/>
          </a:prstGeom>
          <a:solidFill>
            <a:srgbClr val="9DB9DE"/>
          </a:solidFill>
          <a:ln>
            <a:noFill/>
          </a:ln>
        </p:spPr>
        <p:txBody>
          <a:bodyPr rtlCol="0" anchor="ctr"/>
          <a:lstStyle/>
          <a:p>
            <a:pPr algn="ctr"/>
            <a:endParaRPr/>
          </a:p>
        </p:txBody>
      </p:sp>
      <p:sp>
        <p:nvSpPr>
          <p:cNvPr id="284" name="seg bar future">
            <a:extLst>
              <a:ext uri="{FF2B5EF4-FFF2-40B4-BE49-F238E27FC236}">
                <a16:creationId xmlns:a16="http://schemas.microsoft.com/office/drawing/2014/main" id="{1B21EF73-EC8F-4D14-A62A-305D9DC09481}"/>
              </a:ext>
            </a:extLst>
          </p:cNvPr>
          <p:cNvSpPr/>
          <p:nvPr/>
        </p:nvSpPr>
        <p:spPr>
          <a:xfrm>
            <a:off x="9281160" y="5420815"/>
            <a:ext cx="146989" cy="91440"/>
          </a:xfrm>
          <a:prstGeom prst="rect">
            <a:avLst/>
          </a:prstGeom>
          <a:solidFill>
            <a:srgbClr val="2F6DB5"/>
          </a:solidFill>
          <a:ln>
            <a:noFill/>
          </a:ln>
        </p:spPr>
        <p:txBody>
          <a:bodyPr rtlCol="0" anchor="ctr"/>
          <a:lstStyle/>
          <a:p>
            <a:pPr algn="ctr"/>
            <a:endParaRPr/>
          </a:p>
        </p:txBody>
      </p:sp>
      <p:sp>
        <p:nvSpPr>
          <p:cNvPr id="285" name="TextBox 284">
            <a:extLst>
              <a:ext uri="{FF2B5EF4-FFF2-40B4-BE49-F238E27FC236}">
                <a16:creationId xmlns:a16="http://schemas.microsoft.com/office/drawing/2014/main" id="{186178A9-B695-43FE-87D0-52147BBD0F07}"/>
              </a:ext>
            </a:extLst>
          </p:cNvPr>
          <p:cNvSpPr txBox="1"/>
          <p:nvPr/>
        </p:nvSpPr>
        <p:spPr>
          <a:xfrm>
            <a:off x="10515600" y="5283655"/>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$2.5B → $12.9B</a:t>
            </a:r>
          </a:p>
          <a:p>
            <a:pPr algn="l">
              <a:lnSpc>
                <a:spcPct val="95000"/>
              </a:lnSpc>
            </a:pPr>
            <a:r>
              <a:rPr sz="750" b="0">
                <a:solidFill>
                  <a:srgbClr val="555555"/>
                </a:solidFill>
                <a:latin typeface="+mj-ea"/>
                <a:ea typeface="+mj-ea"/>
              </a:rPr>
              <a:t>’26→’31E · CAGR ≈39%</a:t>
            </a:r>
          </a:p>
        </p:txBody>
      </p:sp>
      <p:sp>
        <p:nvSpPr>
          <p:cNvPr id="286" name="Segment chip">
            <a:extLst>
              <a:ext uri="{FF2B5EF4-FFF2-40B4-BE49-F238E27FC236}">
                <a16:creationId xmlns:a16="http://schemas.microsoft.com/office/drawing/2014/main" id="{229E2F15-9E9F-4E27-8118-53783761E5BD}"/>
              </a:ext>
            </a:extLst>
          </p:cNvPr>
          <p:cNvSpPr/>
          <p:nvPr/>
        </p:nvSpPr>
        <p:spPr>
          <a:xfrm>
            <a:off x="6492240" y="5603695"/>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SOCAMM2</a:t>
            </a:r>
            <a:r>
              <a:rPr lang="en-US" sz="950" b="1" dirty="0">
                <a:solidFill>
                  <a:srgbClr val="222222"/>
                </a:solidFill>
                <a:latin typeface="+mj-ea"/>
                <a:ea typeface="+mj-ea"/>
              </a:rPr>
              <a:t>, </a:t>
            </a:r>
            <a:r>
              <a:rPr sz="950" b="1" dirty="0">
                <a:solidFill>
                  <a:srgbClr val="222222"/>
                </a:solidFill>
                <a:latin typeface="+mj-ea"/>
                <a:ea typeface="+mj-ea"/>
              </a:rPr>
              <a:t>LPDDR</a:t>
            </a:r>
          </a:p>
        </p:txBody>
      </p:sp>
      <p:sp>
        <p:nvSpPr>
          <p:cNvPr id="287" name="TextBox 286">
            <a:extLst>
              <a:ext uri="{FF2B5EF4-FFF2-40B4-BE49-F238E27FC236}">
                <a16:creationId xmlns:a16="http://schemas.microsoft.com/office/drawing/2014/main" id="{0ED8C0BA-92F5-4A5F-B05E-50828EF11512}"/>
              </a:ext>
            </a:extLst>
          </p:cNvPr>
          <p:cNvSpPr txBox="1"/>
          <p:nvPr/>
        </p:nvSpPr>
        <p:spPr>
          <a:xfrm>
            <a:off x="7818120" y="5603695"/>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서버용</a:t>
            </a:r>
            <a:r>
              <a:rPr sz="850" b="0" dirty="0">
                <a:solidFill>
                  <a:srgbClr val="222222"/>
                </a:solidFill>
                <a:latin typeface="+mj-ea"/>
                <a:ea typeface="+mj-ea"/>
              </a:rPr>
              <a:t> </a:t>
            </a:r>
            <a:r>
              <a:rPr sz="850" b="0" dirty="0" err="1">
                <a:solidFill>
                  <a:srgbClr val="222222"/>
                </a:solidFill>
                <a:latin typeface="+mj-ea"/>
                <a:ea typeface="+mj-ea"/>
              </a:rPr>
              <a:t>저전력</a:t>
            </a:r>
            <a:endParaRPr sz="850" b="0" dirty="0">
              <a:solidFill>
                <a:srgbClr val="222222"/>
              </a:solidFill>
              <a:latin typeface="+mj-ea"/>
              <a:ea typeface="+mj-ea"/>
            </a:endParaRPr>
          </a:p>
        </p:txBody>
      </p:sp>
      <p:sp>
        <p:nvSpPr>
          <p:cNvPr id="288" name="TextBox 287">
            <a:extLst>
              <a:ext uri="{FF2B5EF4-FFF2-40B4-BE49-F238E27FC236}">
                <a16:creationId xmlns:a16="http://schemas.microsoft.com/office/drawing/2014/main" id="{7AF18399-56D7-42EB-A6B5-8BF90C0B2037}"/>
              </a:ext>
            </a:extLst>
          </p:cNvPr>
          <p:cNvSpPr txBox="1"/>
          <p:nvPr/>
        </p:nvSpPr>
        <p:spPr>
          <a:xfrm>
            <a:off x="10515600" y="5594551"/>
            <a:ext cx="1115568" cy="265176"/>
          </a:xfrm>
          <a:prstGeom prst="rect">
            <a:avLst/>
          </a:prstGeom>
          <a:noFill/>
        </p:spPr>
        <p:txBody>
          <a:bodyPr wrap="square" lIns="0" tIns="0" rIns="0" bIns="0" anchor="ctr">
            <a:noAutofit/>
          </a:bodyPr>
          <a:lstStyle/>
          <a:p>
            <a:pPr algn="l">
              <a:lnSpc>
                <a:spcPct val="95000"/>
              </a:lnSpc>
            </a:pPr>
            <a:r>
              <a:rPr sz="900" b="1" dirty="0" err="1">
                <a:solidFill>
                  <a:srgbClr val="555555"/>
                </a:solidFill>
                <a:latin typeface="+mj-ea"/>
                <a:ea typeface="+mj-ea"/>
              </a:rPr>
              <a:t>공개</a:t>
            </a:r>
            <a:r>
              <a:rPr sz="900" b="1" dirty="0">
                <a:solidFill>
                  <a:srgbClr val="555555"/>
                </a:solidFill>
                <a:latin typeface="+mj-ea"/>
                <a:ea typeface="+mj-ea"/>
              </a:rPr>
              <a:t> </a:t>
            </a:r>
            <a:r>
              <a:rPr sz="900" b="1" dirty="0" err="1">
                <a:solidFill>
                  <a:srgbClr val="555555"/>
                </a:solidFill>
                <a:latin typeface="+mj-ea"/>
                <a:ea typeface="+mj-ea"/>
              </a:rPr>
              <a:t>추정치</a:t>
            </a:r>
            <a:r>
              <a:rPr sz="900" b="1" dirty="0">
                <a:solidFill>
                  <a:srgbClr val="555555"/>
                </a:solidFill>
                <a:latin typeface="+mj-ea"/>
                <a:ea typeface="+mj-ea"/>
              </a:rPr>
              <a:t> </a:t>
            </a:r>
            <a:r>
              <a:rPr sz="900" b="1" dirty="0" err="1">
                <a:solidFill>
                  <a:srgbClr val="555555"/>
                </a:solidFill>
                <a:latin typeface="+mj-ea"/>
                <a:ea typeface="+mj-ea"/>
              </a:rPr>
              <a:t>부재</a:t>
            </a:r>
            <a:endParaRPr sz="900" b="1" dirty="0">
              <a:solidFill>
                <a:srgbClr val="555555"/>
              </a:solidFill>
              <a:latin typeface="+mj-ea"/>
              <a:ea typeface="+mj-ea"/>
            </a:endParaRPr>
          </a:p>
          <a:p>
            <a:pPr algn="l">
              <a:lnSpc>
                <a:spcPct val="95000"/>
              </a:lnSpc>
            </a:pPr>
            <a:r>
              <a:rPr sz="750" b="0" dirty="0" err="1">
                <a:solidFill>
                  <a:srgbClr val="555555"/>
                </a:solidFill>
                <a:latin typeface="+mj-ea"/>
                <a:ea typeface="+mj-ea"/>
              </a:rPr>
              <a:t>초기</a:t>
            </a:r>
            <a:r>
              <a:rPr sz="750" b="0" dirty="0">
                <a:solidFill>
                  <a:srgbClr val="555555"/>
                </a:solidFill>
                <a:latin typeface="+mj-ea"/>
                <a:ea typeface="+mj-ea"/>
              </a:rPr>
              <a:t> </a:t>
            </a:r>
            <a:r>
              <a:rPr sz="750" b="0" dirty="0" err="1">
                <a:solidFill>
                  <a:srgbClr val="555555"/>
                </a:solidFill>
                <a:latin typeface="+mj-ea"/>
                <a:ea typeface="+mj-ea"/>
              </a:rPr>
              <a:t>시장</a:t>
            </a:r>
            <a:endParaRPr sz="750" b="0" dirty="0">
              <a:solidFill>
                <a:srgbClr val="555555"/>
              </a:solidFill>
              <a:latin typeface="+mj-ea"/>
              <a:ea typeface="+mj-ea"/>
            </a:endParaRPr>
          </a:p>
        </p:txBody>
      </p:sp>
      <p:sp>
        <p:nvSpPr>
          <p:cNvPr id="289" name="TextBox 288">
            <a:extLst>
              <a:ext uri="{FF2B5EF4-FFF2-40B4-BE49-F238E27FC236}">
                <a16:creationId xmlns:a16="http://schemas.microsoft.com/office/drawing/2014/main" id="{D1DFF20F-D994-4612-A468-25132F6A7713}"/>
              </a:ext>
            </a:extLst>
          </p:cNvPr>
          <p:cNvSpPr txBox="1"/>
          <p:nvPr/>
        </p:nvSpPr>
        <p:spPr>
          <a:xfrm>
            <a:off x="9281160" y="5603695"/>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0" name="Segment chip">
            <a:extLst>
              <a:ext uri="{FF2B5EF4-FFF2-40B4-BE49-F238E27FC236}">
                <a16:creationId xmlns:a16="http://schemas.microsoft.com/office/drawing/2014/main" id="{8D340E3D-0023-495B-A71C-3D2B423C4BFF}"/>
              </a:ext>
            </a:extLst>
          </p:cNvPr>
          <p:cNvSpPr/>
          <p:nvPr/>
        </p:nvSpPr>
        <p:spPr>
          <a:xfrm>
            <a:off x="6492240" y="5914592"/>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HBF</a:t>
            </a:r>
          </a:p>
        </p:txBody>
      </p:sp>
      <p:sp>
        <p:nvSpPr>
          <p:cNvPr id="291" name="TextBox 290">
            <a:extLst>
              <a:ext uri="{FF2B5EF4-FFF2-40B4-BE49-F238E27FC236}">
                <a16:creationId xmlns:a16="http://schemas.microsoft.com/office/drawing/2014/main" id="{B7C44A1C-DA37-4FAD-AC39-BDE1B9730229}"/>
              </a:ext>
            </a:extLst>
          </p:cNvPr>
          <p:cNvSpPr txBox="1"/>
          <p:nvPr/>
        </p:nvSpPr>
        <p:spPr>
          <a:xfrm>
            <a:off x="7818120" y="5914592"/>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HBM급</a:t>
            </a:r>
            <a:r>
              <a:rPr sz="850" b="0" dirty="0">
                <a:solidFill>
                  <a:srgbClr val="222222"/>
                </a:solidFill>
                <a:latin typeface="+mj-ea"/>
                <a:ea typeface="+mj-ea"/>
              </a:rPr>
              <a:t> </a:t>
            </a:r>
            <a:r>
              <a:rPr lang="ko-KR" altLang="en-US" sz="850" dirty="0">
                <a:solidFill>
                  <a:srgbClr val="222222"/>
                </a:solidFill>
                <a:latin typeface="+mj-ea"/>
                <a:ea typeface="+mj-ea"/>
              </a:rPr>
              <a:t>읽기</a:t>
            </a:r>
            <a:r>
              <a:rPr sz="850" b="0" dirty="0">
                <a:solidFill>
                  <a:srgbClr val="222222"/>
                </a:solidFill>
                <a:latin typeface="+mj-ea"/>
                <a:ea typeface="+mj-ea"/>
              </a:rPr>
              <a:t> BW</a:t>
            </a:r>
            <a:r>
              <a:rPr lang="en-US" sz="850" b="0" dirty="0">
                <a:solidFill>
                  <a:srgbClr val="222222"/>
                </a:solidFill>
                <a:latin typeface="+mj-ea"/>
                <a:ea typeface="+mj-ea"/>
              </a:rPr>
              <a:t> + </a:t>
            </a:r>
            <a:r>
              <a:rPr lang="ko-KR" altLang="en-US" sz="850" b="0" dirty="0">
                <a:solidFill>
                  <a:srgbClr val="222222"/>
                </a:solidFill>
                <a:latin typeface="+mj-ea"/>
                <a:ea typeface="+mj-ea"/>
              </a:rPr>
              <a:t>대</a:t>
            </a:r>
            <a:r>
              <a:rPr sz="850" b="0" dirty="0" err="1">
                <a:solidFill>
                  <a:srgbClr val="222222"/>
                </a:solidFill>
                <a:latin typeface="+mj-ea"/>
                <a:ea typeface="+mj-ea"/>
              </a:rPr>
              <a:t>용량</a:t>
            </a:r>
            <a:r>
              <a:rPr sz="850" b="0" dirty="0">
                <a:solidFill>
                  <a:srgbClr val="222222"/>
                </a:solidFill>
                <a:latin typeface="+mj-ea"/>
                <a:ea typeface="+mj-ea"/>
              </a:rPr>
              <a:t> </a:t>
            </a:r>
          </a:p>
        </p:txBody>
      </p:sp>
      <p:sp>
        <p:nvSpPr>
          <p:cNvPr id="292" name="TextBox 291">
            <a:extLst>
              <a:ext uri="{FF2B5EF4-FFF2-40B4-BE49-F238E27FC236}">
                <a16:creationId xmlns:a16="http://schemas.microsoft.com/office/drawing/2014/main" id="{B50A0650-1D9B-4BE5-9F2A-6FCFC51C43E5}"/>
              </a:ext>
            </a:extLst>
          </p:cNvPr>
          <p:cNvSpPr txBox="1"/>
          <p:nvPr/>
        </p:nvSpPr>
        <p:spPr>
          <a:xfrm>
            <a:off x="10515600" y="5905448"/>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93" name="TextBox 292">
            <a:extLst>
              <a:ext uri="{FF2B5EF4-FFF2-40B4-BE49-F238E27FC236}">
                <a16:creationId xmlns:a16="http://schemas.microsoft.com/office/drawing/2014/main" id="{EF822EB5-4849-4978-829A-149CBDB0DDEA}"/>
              </a:ext>
            </a:extLst>
          </p:cNvPr>
          <p:cNvSpPr txBox="1"/>
          <p:nvPr/>
        </p:nvSpPr>
        <p:spPr>
          <a:xfrm>
            <a:off x="9281160" y="5914592"/>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4" name="Text 99">
            <a:extLst>
              <a:ext uri="{FF2B5EF4-FFF2-40B4-BE49-F238E27FC236}">
                <a16:creationId xmlns:a16="http://schemas.microsoft.com/office/drawing/2014/main" id="{6BC63208-ADEC-4F19-B11C-A90016756407}"/>
              </a:ext>
            </a:extLst>
          </p:cNvPr>
          <p:cNvSpPr/>
          <p:nvPr/>
        </p:nvSpPr>
        <p:spPr>
          <a:xfrm>
            <a:off x="6130551" y="6528274"/>
            <a:ext cx="5862667" cy="454947"/>
          </a:xfrm>
          <a:prstGeom prst="rect">
            <a:avLst/>
          </a:prstGeom>
          <a:noFill/>
          <a:ln/>
        </p:spPr>
        <p:txBody>
          <a:bodyPr wrap="square" lIns="0" tIns="0" rIns="0" bIns="0" rtlCol="0" anchor="t">
            <a:noAutofit/>
          </a:bodyPr>
          <a:lstStyle/>
          <a:p>
            <a:pPr marL="0" indent="0" algn="l">
              <a:lnSpc>
                <a:spcPct val="125000"/>
              </a:lnSpc>
              <a:buNone/>
            </a:pPr>
            <a:r>
              <a:rPr lang="en-US" sz="600" dirty="0">
                <a:solidFill>
                  <a:srgbClr val="555555"/>
                </a:solidFill>
                <a:latin typeface="Noto Sans KR" pitchFamily="34" charset="0"/>
                <a:ea typeface="Noto Sans KR" pitchFamily="34" charset="-122"/>
                <a:cs typeface="Noto Sans KR" pitchFamily="34" charset="-120"/>
              </a:rPr>
              <a:t> [4] Micron(HBM TAM $16B ’24 · $35B ’25 · ≈$100B ’28E) [5] TrendForce(범용 DRAM 계약가 QoQ 전망: 1Q26 +90~95%, 2Q26 +58~63%, 3Q26E +13~18%, 4Q26E +10~15%; 누적 ≈4.0×는 구간 중앙값 곱) [6] SK hynix CES’26·Samsung OCP’26, Mordor Intelligence(CXL), Mobility Foresights(cHBM) [7] arXiv:2610.08378·2609.25782 [8] DRAMeXchange·TrendForce(DDR4 8Gb). 시장규모는 기관별 정의·범위가 달라 직접 비교 불가</a:t>
            </a:r>
            <a:endParaRPr lang="en-US" sz="600" dirty="0"/>
          </a:p>
        </p:txBody>
      </p:sp>
      <p:grpSp>
        <p:nvGrpSpPr>
          <p:cNvPr id="11" name="그룹 10"/>
          <p:cNvGrpSpPr/>
          <p:nvPr/>
        </p:nvGrpSpPr>
        <p:grpSpPr>
          <a:xfrm>
            <a:off x="280574" y="2002496"/>
            <a:ext cx="2869351" cy="2065737"/>
            <a:chOff x="331767" y="1927046"/>
            <a:chExt cx="2909257" cy="2096528"/>
          </a:xfrm>
        </p:grpSpPr>
        <p:grpSp>
          <p:nvGrpSpPr>
            <p:cNvPr id="132" name="그룹 131"/>
            <p:cNvGrpSpPr/>
            <p:nvPr/>
          </p:nvGrpSpPr>
          <p:grpSpPr>
            <a:xfrm>
              <a:off x="331767" y="1927046"/>
              <a:ext cx="2909257" cy="2096528"/>
              <a:chOff x="410179" y="1078992"/>
              <a:chExt cx="5669316" cy="4494093"/>
            </a:xfrm>
          </p:grpSpPr>
          <p:sp>
            <p:nvSpPr>
              <p:cNvPr id="133" name="L-region-over-B300"/>
              <p:cNvSpPr/>
              <p:nvPr/>
            </p:nvSpPr>
            <p:spPr>
              <a:xfrm>
                <a:off x="1234440" y="1188720"/>
                <a:ext cx="4572000" cy="1049731"/>
              </a:xfrm>
              <a:prstGeom prst="rect">
                <a:avLst/>
              </a:prstGeom>
              <a:solidFill>
                <a:srgbClr val="F6D9D6">
                  <a:alpha val="70000"/>
                </a:srgbClr>
              </a:solidFill>
              <a:ln/>
            </p:spPr>
          </p:sp>
          <p:sp>
            <p:nvSpPr>
              <p:cNvPr id="164" name="L-tick-y-0"/>
              <p:cNvSpPr txBox="1"/>
              <p:nvPr/>
            </p:nvSpPr>
            <p:spPr>
              <a:xfrm>
                <a:off x="731520" y="482803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0</a:t>
                </a:r>
                <a:endParaRPr lang="en-US" sz="600" dirty="0"/>
              </a:p>
            </p:txBody>
          </p:sp>
          <p:sp>
            <p:nvSpPr>
              <p:cNvPr id="165" name="L-grid-y-50"/>
              <p:cNvSpPr/>
              <p:nvPr/>
            </p:nvSpPr>
            <p:spPr>
              <a:xfrm>
                <a:off x="1234440" y="4469130"/>
                <a:ext cx="4572000" cy="0"/>
              </a:xfrm>
              <a:prstGeom prst="line">
                <a:avLst/>
              </a:prstGeom>
              <a:noFill/>
              <a:ln w="9525">
                <a:solidFill>
                  <a:srgbClr val="E3E3E3"/>
                </a:solidFill>
                <a:prstDash val="solid"/>
              </a:ln>
            </p:spPr>
          </p:sp>
          <p:sp>
            <p:nvSpPr>
              <p:cNvPr id="166" name="L-tick-y-50"/>
              <p:cNvSpPr txBox="1"/>
              <p:nvPr/>
            </p:nvSpPr>
            <p:spPr>
              <a:xfrm>
                <a:off x="731520" y="435940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50</a:t>
                </a:r>
                <a:endParaRPr lang="en-US" sz="600" dirty="0"/>
              </a:p>
            </p:txBody>
          </p:sp>
          <p:sp>
            <p:nvSpPr>
              <p:cNvPr id="168" name="L-grid-y-100"/>
              <p:cNvSpPr/>
              <p:nvPr/>
            </p:nvSpPr>
            <p:spPr>
              <a:xfrm>
                <a:off x="1234440" y="4000500"/>
                <a:ext cx="4572000" cy="0"/>
              </a:xfrm>
              <a:prstGeom prst="line">
                <a:avLst/>
              </a:prstGeom>
              <a:noFill/>
              <a:ln w="9525">
                <a:solidFill>
                  <a:srgbClr val="E3E3E3"/>
                </a:solidFill>
                <a:prstDash val="solid"/>
              </a:ln>
            </p:spPr>
          </p:sp>
          <p:sp>
            <p:nvSpPr>
              <p:cNvPr id="169" name="L-tick-y-100"/>
              <p:cNvSpPr txBox="1"/>
              <p:nvPr/>
            </p:nvSpPr>
            <p:spPr>
              <a:xfrm>
                <a:off x="731520" y="389077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100</a:t>
                </a:r>
                <a:endParaRPr lang="en-US" sz="600" dirty="0"/>
              </a:p>
            </p:txBody>
          </p:sp>
          <p:sp>
            <p:nvSpPr>
              <p:cNvPr id="170" name="L-grid-y-150"/>
              <p:cNvSpPr/>
              <p:nvPr/>
            </p:nvSpPr>
            <p:spPr>
              <a:xfrm>
                <a:off x="1234440" y="3531870"/>
                <a:ext cx="4572000" cy="0"/>
              </a:xfrm>
              <a:prstGeom prst="line">
                <a:avLst/>
              </a:prstGeom>
              <a:noFill/>
              <a:ln w="9525">
                <a:solidFill>
                  <a:srgbClr val="E3E3E3"/>
                </a:solidFill>
                <a:prstDash val="solid"/>
              </a:ln>
            </p:spPr>
          </p:sp>
          <p:sp>
            <p:nvSpPr>
              <p:cNvPr id="171" name="L-tick-y-150"/>
              <p:cNvSpPr txBox="1"/>
              <p:nvPr/>
            </p:nvSpPr>
            <p:spPr>
              <a:xfrm>
                <a:off x="731520" y="342214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150</a:t>
                </a:r>
                <a:endParaRPr lang="en-US" sz="600" dirty="0"/>
              </a:p>
            </p:txBody>
          </p:sp>
          <p:sp>
            <p:nvSpPr>
              <p:cNvPr id="172" name="L-grid-y-200"/>
              <p:cNvSpPr/>
              <p:nvPr/>
            </p:nvSpPr>
            <p:spPr>
              <a:xfrm>
                <a:off x="1234440" y="3063240"/>
                <a:ext cx="4572000" cy="0"/>
              </a:xfrm>
              <a:prstGeom prst="line">
                <a:avLst/>
              </a:prstGeom>
              <a:noFill/>
              <a:ln w="9525">
                <a:solidFill>
                  <a:srgbClr val="E3E3E3"/>
                </a:solidFill>
                <a:prstDash val="solid"/>
              </a:ln>
            </p:spPr>
          </p:sp>
          <p:sp>
            <p:nvSpPr>
              <p:cNvPr id="173" name="L-tick-y-200"/>
              <p:cNvSpPr txBox="1"/>
              <p:nvPr/>
            </p:nvSpPr>
            <p:spPr>
              <a:xfrm>
                <a:off x="731520" y="295351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200</a:t>
                </a:r>
                <a:endParaRPr lang="en-US" sz="600" dirty="0"/>
              </a:p>
            </p:txBody>
          </p:sp>
          <p:sp>
            <p:nvSpPr>
              <p:cNvPr id="174" name="L-grid-y-250"/>
              <p:cNvSpPr/>
              <p:nvPr/>
            </p:nvSpPr>
            <p:spPr>
              <a:xfrm>
                <a:off x="1234440" y="2594610"/>
                <a:ext cx="4572000" cy="0"/>
              </a:xfrm>
              <a:prstGeom prst="line">
                <a:avLst/>
              </a:prstGeom>
              <a:noFill/>
              <a:ln w="9525">
                <a:solidFill>
                  <a:srgbClr val="E3E3E3"/>
                </a:solidFill>
                <a:prstDash val="solid"/>
              </a:ln>
            </p:spPr>
          </p:sp>
          <p:sp>
            <p:nvSpPr>
              <p:cNvPr id="175" name="L-tick-y-250"/>
              <p:cNvSpPr txBox="1"/>
              <p:nvPr/>
            </p:nvSpPr>
            <p:spPr>
              <a:xfrm>
                <a:off x="731520" y="248488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250</a:t>
                </a:r>
                <a:endParaRPr lang="en-US" sz="600" dirty="0"/>
              </a:p>
            </p:txBody>
          </p:sp>
          <p:sp>
            <p:nvSpPr>
              <p:cNvPr id="176" name="L-grid-y-300"/>
              <p:cNvSpPr/>
              <p:nvPr/>
            </p:nvSpPr>
            <p:spPr>
              <a:xfrm>
                <a:off x="1234440" y="2125980"/>
                <a:ext cx="4572000" cy="0"/>
              </a:xfrm>
              <a:prstGeom prst="line">
                <a:avLst/>
              </a:prstGeom>
              <a:noFill/>
              <a:ln w="9525">
                <a:solidFill>
                  <a:srgbClr val="E3E3E3"/>
                </a:solidFill>
                <a:prstDash val="solid"/>
              </a:ln>
            </p:spPr>
          </p:sp>
          <p:sp>
            <p:nvSpPr>
              <p:cNvPr id="177" name="L-tick-y-300"/>
              <p:cNvSpPr txBox="1"/>
              <p:nvPr/>
            </p:nvSpPr>
            <p:spPr>
              <a:xfrm>
                <a:off x="731520" y="201625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300</a:t>
                </a:r>
                <a:endParaRPr lang="en-US" sz="600" dirty="0"/>
              </a:p>
            </p:txBody>
          </p:sp>
          <p:sp>
            <p:nvSpPr>
              <p:cNvPr id="178" name="L-grid-y-350"/>
              <p:cNvSpPr/>
              <p:nvPr/>
            </p:nvSpPr>
            <p:spPr>
              <a:xfrm>
                <a:off x="1234440" y="1657350"/>
                <a:ext cx="4572000" cy="0"/>
              </a:xfrm>
              <a:prstGeom prst="line">
                <a:avLst/>
              </a:prstGeom>
              <a:noFill/>
              <a:ln w="9525">
                <a:solidFill>
                  <a:srgbClr val="E3E3E3"/>
                </a:solidFill>
                <a:prstDash val="solid"/>
              </a:ln>
            </p:spPr>
          </p:sp>
          <p:sp>
            <p:nvSpPr>
              <p:cNvPr id="179" name="L-tick-y-350"/>
              <p:cNvSpPr txBox="1"/>
              <p:nvPr/>
            </p:nvSpPr>
            <p:spPr>
              <a:xfrm>
                <a:off x="731520" y="154762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350</a:t>
                </a:r>
                <a:endParaRPr lang="en-US" sz="600" dirty="0"/>
              </a:p>
            </p:txBody>
          </p:sp>
          <p:sp>
            <p:nvSpPr>
              <p:cNvPr id="180" name="L-tick-y-400"/>
              <p:cNvSpPr txBox="1"/>
              <p:nvPr/>
            </p:nvSpPr>
            <p:spPr>
              <a:xfrm>
                <a:off x="731520" y="1078992"/>
                <a:ext cx="429768" cy="219456"/>
              </a:xfrm>
              <a:prstGeom prst="rect">
                <a:avLst/>
              </a:prstGeom>
              <a:noFill/>
              <a:ln/>
            </p:spPr>
            <p:txBody>
              <a:bodyPr wrap="square" lIns="0" tIns="0" rIns="0" bIns="0" rtlCol="0" anchor="ctr"/>
              <a:lstStyle/>
              <a:p>
                <a:pPr marL="0" indent="0" algn="r">
                  <a:buNone/>
                </a:pPr>
                <a:r>
                  <a:rPr lang="en-US" sz="600" dirty="0">
                    <a:solidFill>
                      <a:srgbClr val="333333"/>
                    </a:solidFill>
                    <a:latin typeface="Malgun Gothic" pitchFamily="34" charset="0"/>
                    <a:ea typeface="Malgun Gothic" pitchFamily="34" charset="-122"/>
                    <a:cs typeface="Malgun Gothic" pitchFamily="34" charset="-120"/>
                  </a:rPr>
                  <a:t>400</a:t>
                </a:r>
                <a:endParaRPr lang="en-US" sz="600" dirty="0"/>
              </a:p>
            </p:txBody>
          </p:sp>
          <p:sp>
            <p:nvSpPr>
              <p:cNvPr id="181" name="L-tick-x-10K"/>
              <p:cNvSpPr txBox="1"/>
              <p:nvPr/>
            </p:nvSpPr>
            <p:spPr>
              <a:xfrm>
                <a:off x="868680" y="4983480"/>
                <a:ext cx="731520" cy="219456"/>
              </a:xfrm>
              <a:prstGeom prst="rect">
                <a:avLst/>
              </a:prstGeom>
              <a:noFill/>
              <a:ln/>
            </p:spPr>
            <p:txBody>
              <a:bodyPr wrap="square" lIns="0" tIns="0" rIns="0" bIns="0" rtlCol="0" anchor="ctr"/>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10K</a:t>
                </a:r>
                <a:endParaRPr lang="en-US" sz="600" dirty="0"/>
              </a:p>
            </p:txBody>
          </p:sp>
          <p:sp>
            <p:nvSpPr>
              <p:cNvPr id="182" name="L-grid-x-100K"/>
              <p:cNvSpPr/>
              <p:nvPr/>
            </p:nvSpPr>
            <p:spPr>
              <a:xfrm>
                <a:off x="3474087" y="1188720"/>
                <a:ext cx="0" cy="3749040"/>
              </a:xfrm>
              <a:prstGeom prst="line">
                <a:avLst/>
              </a:prstGeom>
              <a:noFill/>
              <a:ln w="9525">
                <a:solidFill>
                  <a:srgbClr val="E3E3E3"/>
                </a:solidFill>
                <a:prstDash val="solid"/>
              </a:ln>
            </p:spPr>
          </p:sp>
          <p:sp>
            <p:nvSpPr>
              <p:cNvPr id="183" name="L-tick-x-100K"/>
              <p:cNvSpPr txBox="1"/>
              <p:nvPr/>
            </p:nvSpPr>
            <p:spPr>
              <a:xfrm>
                <a:off x="3108327" y="4983480"/>
                <a:ext cx="731520" cy="219456"/>
              </a:xfrm>
              <a:prstGeom prst="rect">
                <a:avLst/>
              </a:prstGeom>
              <a:noFill/>
              <a:ln/>
            </p:spPr>
            <p:txBody>
              <a:bodyPr wrap="square" lIns="0" tIns="0" rIns="0" bIns="0" rtlCol="0" anchor="ctr"/>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100K</a:t>
                </a:r>
                <a:endParaRPr lang="en-US" sz="600" dirty="0"/>
              </a:p>
            </p:txBody>
          </p:sp>
          <p:sp>
            <p:nvSpPr>
              <p:cNvPr id="184" name="L-grid-x-1M"/>
              <p:cNvSpPr/>
              <p:nvPr/>
            </p:nvSpPr>
            <p:spPr>
              <a:xfrm>
                <a:off x="5713735" y="1188720"/>
                <a:ext cx="0" cy="3749040"/>
              </a:xfrm>
              <a:prstGeom prst="line">
                <a:avLst/>
              </a:prstGeom>
              <a:noFill/>
              <a:ln w="9525">
                <a:solidFill>
                  <a:srgbClr val="E3E3E3"/>
                </a:solidFill>
                <a:prstDash val="solid"/>
              </a:ln>
            </p:spPr>
          </p:sp>
          <p:sp>
            <p:nvSpPr>
              <p:cNvPr id="201" name="L-tick-x-1M"/>
              <p:cNvSpPr txBox="1"/>
              <p:nvPr/>
            </p:nvSpPr>
            <p:spPr>
              <a:xfrm>
                <a:off x="5347975" y="4983480"/>
                <a:ext cx="731520" cy="219456"/>
              </a:xfrm>
              <a:prstGeom prst="rect">
                <a:avLst/>
              </a:prstGeom>
              <a:noFill/>
              <a:ln/>
            </p:spPr>
            <p:txBody>
              <a:bodyPr wrap="square" lIns="0" tIns="0" rIns="0" bIns="0" rtlCol="0" anchor="ctr"/>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1M</a:t>
                </a:r>
                <a:endParaRPr lang="en-US" sz="600" dirty="0"/>
              </a:p>
            </p:txBody>
          </p:sp>
          <p:sp>
            <p:nvSpPr>
              <p:cNvPr id="204" name="L-axis-title-x"/>
              <p:cNvSpPr txBox="1"/>
              <p:nvPr/>
            </p:nvSpPr>
            <p:spPr>
              <a:xfrm>
                <a:off x="1234439" y="5335342"/>
                <a:ext cx="4572000" cy="237743"/>
              </a:xfrm>
              <a:prstGeom prst="rect">
                <a:avLst/>
              </a:prstGeom>
              <a:noFill/>
              <a:ln/>
            </p:spPr>
            <p:txBody>
              <a:bodyPr wrap="square" lIns="0" tIns="0" rIns="0" bIns="0" rtlCol="0" anchor="ctr"/>
              <a:lstStyle/>
              <a:p>
                <a:pPr marL="0" indent="0" algn="ctr">
                  <a:buNone/>
                </a:pPr>
                <a:r>
                  <a:rPr lang="en-US" sz="800" b="1" dirty="0" err="1">
                    <a:solidFill>
                      <a:srgbClr val="333333"/>
                    </a:solidFill>
                    <a:latin typeface="Malgun Gothic" pitchFamily="34" charset="0"/>
                    <a:ea typeface="Malgun Gothic" pitchFamily="34" charset="-122"/>
                    <a:cs typeface="Malgun Gothic" pitchFamily="34" charset="-120"/>
                  </a:rPr>
                  <a:t>누적</a:t>
                </a:r>
                <a:r>
                  <a:rPr lang="en-US" sz="800" b="1" dirty="0">
                    <a:solidFill>
                      <a:srgbClr val="333333"/>
                    </a:solidFill>
                    <a:latin typeface="Malgun Gothic" pitchFamily="34" charset="0"/>
                    <a:ea typeface="Malgun Gothic" pitchFamily="34" charset="-122"/>
                    <a:cs typeface="Malgun Gothic" pitchFamily="34" charset="-120"/>
                  </a:rPr>
                  <a:t> Context </a:t>
                </a:r>
                <a:r>
                  <a:rPr lang="en-US" sz="800" b="1" dirty="0" err="1">
                    <a:solidFill>
                      <a:srgbClr val="333333"/>
                    </a:solidFill>
                    <a:latin typeface="Malgun Gothic" pitchFamily="34" charset="0"/>
                    <a:ea typeface="Malgun Gothic" pitchFamily="34" charset="-122"/>
                    <a:cs typeface="Malgun Gothic" pitchFamily="34" charset="-120"/>
                  </a:rPr>
                  <a:t>길이</a:t>
                </a:r>
                <a:r>
                  <a:rPr lang="en-US" sz="800" b="1" dirty="0">
                    <a:solidFill>
                      <a:srgbClr val="333333"/>
                    </a:solidFill>
                    <a:latin typeface="Malgun Gothic" pitchFamily="34" charset="0"/>
                    <a:ea typeface="Malgun Gothic" pitchFamily="34" charset="-122"/>
                    <a:cs typeface="Malgun Gothic" pitchFamily="34" charset="-120"/>
                  </a:rPr>
                  <a:t> (log)</a:t>
                </a:r>
                <a:endParaRPr lang="en-US" sz="800" b="1" dirty="0"/>
              </a:p>
            </p:txBody>
          </p:sp>
          <p:sp>
            <p:nvSpPr>
              <p:cNvPr id="205" name="L-axis-title-y"/>
              <p:cNvSpPr txBox="1"/>
              <p:nvPr/>
            </p:nvSpPr>
            <p:spPr>
              <a:xfrm rot="16200000">
                <a:off x="-536521" y="2645198"/>
                <a:ext cx="2358153" cy="464753"/>
              </a:xfrm>
              <a:prstGeom prst="rect">
                <a:avLst/>
              </a:prstGeom>
              <a:noFill/>
              <a:ln/>
            </p:spPr>
            <p:txBody>
              <a:bodyPr wrap="square" lIns="0" tIns="0" rIns="0" bIns="0" rtlCol="0" anchor="ctr"/>
              <a:lstStyle/>
              <a:p>
                <a:pPr marL="0" indent="0" algn="ctr">
                  <a:buNone/>
                </a:pPr>
                <a:r>
                  <a:rPr lang="en-US" sz="800" b="1" dirty="0">
                    <a:solidFill>
                      <a:srgbClr val="333333"/>
                    </a:solidFill>
                    <a:latin typeface="Malgun Gothic" pitchFamily="34" charset="0"/>
                    <a:ea typeface="Malgun Gothic" pitchFamily="34" charset="-122"/>
                    <a:cs typeface="Malgun Gothic" pitchFamily="34" charset="-120"/>
                  </a:rPr>
                  <a:t>KV cache 크기 (GB)</a:t>
                </a:r>
                <a:endParaRPr lang="en-US" sz="800" b="1" dirty="0"/>
              </a:p>
            </p:txBody>
          </p:sp>
          <p:sp>
            <p:nvSpPr>
              <p:cNvPr id="206" name="L-hbm-line-H100"/>
              <p:cNvSpPr/>
              <p:nvPr/>
            </p:nvSpPr>
            <p:spPr>
              <a:xfrm>
                <a:off x="1234440" y="4187952"/>
                <a:ext cx="4572000" cy="0"/>
              </a:xfrm>
              <a:prstGeom prst="line">
                <a:avLst/>
              </a:prstGeom>
              <a:noFill/>
              <a:ln w="15875">
                <a:solidFill>
                  <a:srgbClr val="C0392B">
                    <a:alpha val="55000"/>
                  </a:srgbClr>
                </a:solidFill>
                <a:prstDash val="dash"/>
              </a:ln>
            </p:spPr>
          </p:sp>
          <p:sp>
            <p:nvSpPr>
              <p:cNvPr id="207" name="L-hbm-line-B200"/>
              <p:cNvSpPr/>
              <p:nvPr/>
            </p:nvSpPr>
            <p:spPr>
              <a:xfrm>
                <a:off x="1234440" y="3138221"/>
                <a:ext cx="4572000" cy="0"/>
              </a:xfrm>
              <a:prstGeom prst="line">
                <a:avLst/>
              </a:prstGeom>
              <a:noFill/>
              <a:ln w="15875">
                <a:solidFill>
                  <a:srgbClr val="C0392B">
                    <a:alpha val="75000"/>
                  </a:srgbClr>
                </a:solidFill>
                <a:prstDash val="dash"/>
              </a:ln>
            </p:spPr>
          </p:sp>
          <p:sp>
            <p:nvSpPr>
              <p:cNvPr id="208" name="L-hbm-line-B300"/>
              <p:cNvSpPr/>
              <p:nvPr/>
            </p:nvSpPr>
            <p:spPr>
              <a:xfrm>
                <a:off x="1234440" y="2238451"/>
                <a:ext cx="4572000" cy="0"/>
              </a:xfrm>
              <a:prstGeom prst="line">
                <a:avLst/>
              </a:prstGeom>
              <a:noFill/>
              <a:ln w="15875">
                <a:solidFill>
                  <a:srgbClr val="C0392B">
                    <a:alpha val="95000"/>
                  </a:srgbClr>
                </a:solidFill>
                <a:prstDash val="dash"/>
              </a:ln>
            </p:spPr>
          </p:sp>
          <p:sp>
            <p:nvSpPr>
              <p:cNvPr id="209" name="L-kv-curve"/>
              <p:cNvSpPr/>
              <p:nvPr/>
            </p:nvSpPr>
            <p:spPr>
              <a:xfrm>
                <a:off x="1234440" y="1844802"/>
                <a:ext cx="4479295" cy="3062028"/>
              </a:xfrm>
              <a:custGeom>
                <a:avLst/>
                <a:gdLst/>
                <a:ahLst/>
                <a:cxnLst/>
                <a:rect l="l" t="t" r="r" b="b"/>
                <a:pathLst>
                  <a:path w="4479295" h="3062028">
                    <a:moveTo>
                      <a:pt x="0" y="3062028"/>
                    </a:moveTo>
                    <a:lnTo>
                      <a:pt x="74655" y="3059561"/>
                    </a:lnTo>
                    <a:lnTo>
                      <a:pt x="149310" y="3056897"/>
                    </a:lnTo>
                    <a:lnTo>
                      <a:pt x="223965" y="3054020"/>
                    </a:lnTo>
                    <a:lnTo>
                      <a:pt x="298620" y="3050914"/>
                    </a:lnTo>
                    <a:lnTo>
                      <a:pt x="373275" y="3047560"/>
                    </a:lnTo>
                    <a:lnTo>
                      <a:pt x="447929" y="3043938"/>
                    </a:lnTo>
                    <a:lnTo>
                      <a:pt x="522584" y="3040027"/>
                    </a:lnTo>
                    <a:lnTo>
                      <a:pt x="597239" y="3035805"/>
                    </a:lnTo>
                    <a:lnTo>
                      <a:pt x="671894" y="3031245"/>
                    </a:lnTo>
                    <a:lnTo>
                      <a:pt x="746549" y="3026322"/>
                    </a:lnTo>
                    <a:lnTo>
                      <a:pt x="821204" y="3021006"/>
                    </a:lnTo>
                    <a:lnTo>
                      <a:pt x="895859" y="3015266"/>
                    </a:lnTo>
                    <a:lnTo>
                      <a:pt x="970514" y="3009069"/>
                    </a:lnTo>
                    <a:lnTo>
                      <a:pt x="1045169" y="3002376"/>
                    </a:lnTo>
                    <a:lnTo>
                      <a:pt x="1119824" y="2995150"/>
                    </a:lnTo>
                    <a:lnTo>
                      <a:pt x="1194479" y="2987347"/>
                    </a:lnTo>
                    <a:lnTo>
                      <a:pt x="1269134" y="2978922"/>
                    </a:lnTo>
                    <a:lnTo>
                      <a:pt x="1343788" y="2969825"/>
                    </a:lnTo>
                    <a:lnTo>
                      <a:pt x="1418443" y="2960002"/>
                    </a:lnTo>
                    <a:lnTo>
                      <a:pt x="1493098" y="2949396"/>
                    </a:lnTo>
                    <a:lnTo>
                      <a:pt x="1567753" y="2937943"/>
                    </a:lnTo>
                    <a:lnTo>
                      <a:pt x="1642408" y="2925577"/>
                    </a:lnTo>
                    <a:lnTo>
                      <a:pt x="1717063" y="2912224"/>
                    </a:lnTo>
                    <a:lnTo>
                      <a:pt x="1791718" y="2897806"/>
                    </a:lnTo>
                    <a:lnTo>
                      <a:pt x="1866373" y="2882237"/>
                    </a:lnTo>
                    <a:lnTo>
                      <a:pt x="1941028" y="2865427"/>
                    </a:lnTo>
                    <a:lnTo>
                      <a:pt x="2015683" y="2847276"/>
                    </a:lnTo>
                    <a:lnTo>
                      <a:pt x="2090338" y="2827676"/>
                    </a:lnTo>
                    <a:lnTo>
                      <a:pt x="2164993" y="2806513"/>
                    </a:lnTo>
                    <a:lnTo>
                      <a:pt x="2239647" y="2783662"/>
                    </a:lnTo>
                    <a:lnTo>
                      <a:pt x="2314302" y="2758988"/>
                    </a:lnTo>
                    <a:lnTo>
                      <a:pt x="2388957" y="2732346"/>
                    </a:lnTo>
                    <a:lnTo>
                      <a:pt x="2463612" y="2703578"/>
                    </a:lnTo>
                    <a:lnTo>
                      <a:pt x="2538267" y="2672515"/>
                    </a:lnTo>
                    <a:lnTo>
                      <a:pt x="2612922" y="2638974"/>
                    </a:lnTo>
                    <a:lnTo>
                      <a:pt x="2687577" y="2602757"/>
                    </a:lnTo>
                    <a:lnTo>
                      <a:pt x="2762232" y="2563651"/>
                    </a:lnTo>
                    <a:lnTo>
                      <a:pt x="2836887" y="2521426"/>
                    </a:lnTo>
                    <a:lnTo>
                      <a:pt x="2911542" y="2475832"/>
                    </a:lnTo>
                    <a:lnTo>
                      <a:pt x="2986197" y="2426600"/>
                    </a:lnTo>
                    <a:lnTo>
                      <a:pt x="3060852" y="2373442"/>
                    </a:lnTo>
                    <a:lnTo>
                      <a:pt x="3135506" y="2316042"/>
                    </a:lnTo>
                    <a:lnTo>
                      <a:pt x="3210161" y="2254063"/>
                    </a:lnTo>
                    <a:lnTo>
                      <a:pt x="3284816" y="2187141"/>
                    </a:lnTo>
                    <a:lnTo>
                      <a:pt x="3359471" y="2114879"/>
                    </a:lnTo>
                    <a:lnTo>
                      <a:pt x="3434126" y="2036852"/>
                    </a:lnTo>
                    <a:lnTo>
                      <a:pt x="3508781" y="1952601"/>
                    </a:lnTo>
                    <a:lnTo>
                      <a:pt x="3583436" y="1861629"/>
                    </a:lnTo>
                    <a:lnTo>
                      <a:pt x="3658091" y="1763400"/>
                    </a:lnTo>
                    <a:lnTo>
                      <a:pt x="3732746" y="1657334"/>
                    </a:lnTo>
                    <a:lnTo>
                      <a:pt x="3807401" y="1542807"/>
                    </a:lnTo>
                    <a:lnTo>
                      <a:pt x="3882056" y="1419143"/>
                    </a:lnTo>
                    <a:lnTo>
                      <a:pt x="3956711" y="1285615"/>
                    </a:lnTo>
                    <a:lnTo>
                      <a:pt x="4031365" y="1141433"/>
                    </a:lnTo>
                    <a:lnTo>
                      <a:pt x="4106020" y="985750"/>
                    </a:lnTo>
                    <a:lnTo>
                      <a:pt x="4180675" y="817647"/>
                    </a:lnTo>
                    <a:lnTo>
                      <a:pt x="4255330" y="636134"/>
                    </a:lnTo>
                    <a:lnTo>
                      <a:pt x="4329985" y="440141"/>
                    </a:lnTo>
                    <a:lnTo>
                      <a:pt x="4404640" y="228512"/>
                    </a:lnTo>
                    <a:lnTo>
                      <a:pt x="4479295" y="0"/>
                    </a:lnTo>
                  </a:path>
                </a:pathLst>
              </a:custGeom>
              <a:ln w="38100">
                <a:solidFill>
                  <a:srgbClr val="1F3B73"/>
                </a:solidFill>
                <a:prstDash val="solid"/>
              </a:ln>
            </p:spPr>
          </p:sp>
          <p:sp>
            <p:nvSpPr>
              <p:cNvPr id="241" name="L-label-chat"/>
              <p:cNvSpPr txBox="1"/>
              <p:nvPr/>
            </p:nvSpPr>
            <p:spPr>
              <a:xfrm>
                <a:off x="1443386" y="4513346"/>
                <a:ext cx="670504" cy="219789"/>
              </a:xfrm>
              <a:prstGeom prst="rect">
                <a:avLst/>
              </a:prstGeom>
              <a:noFill/>
              <a:ln/>
            </p:spPr>
            <p:txBody>
              <a:bodyPr wrap="square" lIns="0" tIns="0" rIns="0" bIns="0" rtlCol="0" anchor="ctr"/>
              <a:lstStyle/>
              <a:p>
                <a:pPr marL="0" indent="0" algn="l">
                  <a:buNone/>
                </a:pPr>
                <a:r>
                  <a:rPr lang="en-US" sz="700" b="1" dirty="0">
                    <a:solidFill>
                      <a:srgbClr val="2F6DB5"/>
                    </a:solidFill>
                    <a:latin typeface="Malgun Gothic" pitchFamily="34" charset="0"/>
                    <a:ea typeface="Malgun Gothic" pitchFamily="34" charset="-122"/>
                    <a:cs typeface="Malgun Gothic" pitchFamily="34" charset="-120"/>
                  </a:rPr>
                  <a:t>채팅 1×</a:t>
                </a:r>
                <a:endParaRPr lang="en-US" sz="700" dirty="0"/>
              </a:p>
            </p:txBody>
          </p:sp>
          <p:sp>
            <p:nvSpPr>
              <p:cNvPr id="242" name="L-label-agent"/>
              <p:cNvSpPr txBox="1"/>
              <p:nvPr/>
            </p:nvSpPr>
            <p:spPr>
              <a:xfrm>
                <a:off x="2369925" y="4396742"/>
                <a:ext cx="1053532" cy="177924"/>
              </a:xfrm>
              <a:prstGeom prst="rect">
                <a:avLst/>
              </a:prstGeom>
              <a:noFill/>
              <a:ln/>
            </p:spPr>
            <p:txBody>
              <a:bodyPr wrap="square" lIns="0" tIns="0" rIns="0" bIns="0" rtlCol="0" anchor="ctr"/>
              <a:lstStyle/>
              <a:p>
                <a:pPr marL="0" indent="0" algn="r">
                  <a:buNone/>
                </a:pPr>
                <a:r>
                  <a:rPr lang="en-US" sz="700" b="1" dirty="0" err="1">
                    <a:solidFill>
                      <a:srgbClr val="2F6DB5"/>
                    </a:solidFill>
                    <a:latin typeface="Malgun Gothic" pitchFamily="34" charset="0"/>
                    <a:ea typeface="Malgun Gothic" pitchFamily="34" charset="-122"/>
                    <a:cs typeface="Malgun Gothic" pitchFamily="34" charset="-120"/>
                  </a:rPr>
                  <a:t>에이전트</a:t>
                </a:r>
                <a:r>
                  <a:rPr lang="en-US" sz="700" b="1" dirty="0">
                    <a:solidFill>
                      <a:srgbClr val="2F6DB5"/>
                    </a:solidFill>
                    <a:latin typeface="Malgun Gothic" pitchFamily="34" charset="0"/>
                    <a:ea typeface="Malgun Gothic" pitchFamily="34" charset="-122"/>
                    <a:cs typeface="Malgun Gothic" pitchFamily="34" charset="-120"/>
                  </a:rPr>
                  <a:t> 4×</a:t>
                </a:r>
                <a:endParaRPr lang="en-US" sz="700" dirty="0"/>
              </a:p>
            </p:txBody>
          </p:sp>
          <p:sp>
            <p:nvSpPr>
              <p:cNvPr id="243" name="L-label-multi"/>
              <p:cNvSpPr txBox="1"/>
              <p:nvPr/>
            </p:nvSpPr>
            <p:spPr>
              <a:xfrm>
                <a:off x="2747795" y="3785149"/>
                <a:ext cx="1737360" cy="228600"/>
              </a:xfrm>
              <a:prstGeom prst="rect">
                <a:avLst/>
              </a:prstGeom>
              <a:noFill/>
              <a:ln/>
            </p:spPr>
            <p:txBody>
              <a:bodyPr wrap="square" lIns="0" tIns="0" rIns="0" bIns="0" rtlCol="0" anchor="ctr"/>
              <a:lstStyle/>
              <a:p>
                <a:pPr marL="0" indent="0" algn="r">
                  <a:buNone/>
                </a:pPr>
                <a:r>
                  <a:rPr lang="en-US" sz="700" b="1" dirty="0" err="1">
                    <a:solidFill>
                      <a:srgbClr val="2F6DB5"/>
                    </a:solidFill>
                    <a:latin typeface="Malgun Gothic" pitchFamily="34" charset="0"/>
                    <a:ea typeface="Malgun Gothic" pitchFamily="34" charset="-122"/>
                    <a:cs typeface="Malgun Gothic" pitchFamily="34" charset="-120"/>
                  </a:rPr>
                  <a:t>멀티</a:t>
                </a:r>
                <a:r>
                  <a:rPr lang="en-US" sz="700" b="1" dirty="0">
                    <a:solidFill>
                      <a:srgbClr val="2F6DB5"/>
                    </a:solidFill>
                    <a:latin typeface="Malgun Gothic" pitchFamily="34" charset="0"/>
                    <a:ea typeface="Malgun Gothic" pitchFamily="34" charset="-122"/>
                    <a:cs typeface="Malgun Gothic" pitchFamily="34" charset="-120"/>
                  </a:rPr>
                  <a:t> </a:t>
                </a:r>
                <a:r>
                  <a:rPr lang="en-US" sz="700" b="1" dirty="0" err="1">
                    <a:solidFill>
                      <a:srgbClr val="2F6DB5"/>
                    </a:solidFill>
                    <a:latin typeface="Malgun Gothic" pitchFamily="34" charset="0"/>
                    <a:ea typeface="Malgun Gothic" pitchFamily="34" charset="-122"/>
                    <a:cs typeface="Malgun Gothic" pitchFamily="34" charset="-120"/>
                  </a:rPr>
                  <a:t>에이전트</a:t>
                </a:r>
                <a:r>
                  <a:rPr lang="en-US" sz="700" b="1" dirty="0">
                    <a:solidFill>
                      <a:srgbClr val="2F6DB5"/>
                    </a:solidFill>
                    <a:latin typeface="Malgun Gothic" pitchFamily="34" charset="0"/>
                    <a:ea typeface="Malgun Gothic" pitchFamily="34" charset="-122"/>
                    <a:cs typeface="Malgun Gothic" pitchFamily="34" charset="-120"/>
                  </a:rPr>
                  <a:t> 15×</a:t>
                </a:r>
                <a:endParaRPr lang="en-US" sz="700" dirty="0"/>
              </a:p>
            </p:txBody>
          </p:sp>
          <p:sp>
            <p:nvSpPr>
              <p:cNvPr id="249" name="L-pt-chat"/>
              <p:cNvSpPr/>
              <p:nvPr/>
            </p:nvSpPr>
            <p:spPr>
              <a:xfrm>
                <a:off x="1794742" y="4814986"/>
                <a:ext cx="128016" cy="128016"/>
              </a:xfrm>
              <a:prstGeom prst="ellipse">
                <a:avLst/>
              </a:prstGeom>
              <a:solidFill>
                <a:srgbClr val="2F6DB5"/>
              </a:solidFill>
              <a:ln w="9525">
                <a:solidFill>
                  <a:srgbClr val="FFFFFF"/>
                </a:solidFill>
                <a:prstDash val="solid"/>
              </a:ln>
            </p:spPr>
          </p:sp>
          <p:sp>
            <p:nvSpPr>
              <p:cNvPr id="251" name="L-pt-agent"/>
              <p:cNvSpPr/>
              <p:nvPr/>
            </p:nvSpPr>
            <p:spPr>
              <a:xfrm>
                <a:off x="3130261" y="4641780"/>
                <a:ext cx="128016" cy="128016"/>
              </a:xfrm>
              <a:prstGeom prst="ellipse">
                <a:avLst/>
              </a:prstGeom>
              <a:solidFill>
                <a:srgbClr val="2F6DB5"/>
              </a:solidFill>
              <a:ln w="9525">
                <a:solidFill>
                  <a:srgbClr val="FFFFFF"/>
                </a:solidFill>
                <a:prstDash val="solid"/>
              </a:ln>
            </p:spPr>
          </p:sp>
          <p:sp>
            <p:nvSpPr>
              <p:cNvPr id="252" name="L-pt-multi"/>
              <p:cNvSpPr/>
              <p:nvPr/>
            </p:nvSpPr>
            <p:spPr>
              <a:xfrm>
                <a:off x="4415023" y="4004631"/>
                <a:ext cx="128016" cy="128016"/>
              </a:xfrm>
              <a:prstGeom prst="ellipse">
                <a:avLst/>
              </a:prstGeom>
              <a:solidFill>
                <a:srgbClr val="2F6DB5"/>
              </a:solidFill>
              <a:ln w="9525">
                <a:solidFill>
                  <a:srgbClr val="FFFFFF"/>
                </a:solidFill>
                <a:prstDash val="solid"/>
              </a:ln>
            </p:spPr>
          </p:sp>
          <p:sp>
            <p:nvSpPr>
              <p:cNvPr id="256" name="L-hbm-label-H100"/>
              <p:cNvSpPr txBox="1"/>
              <p:nvPr/>
            </p:nvSpPr>
            <p:spPr>
              <a:xfrm>
                <a:off x="1289304" y="3909374"/>
                <a:ext cx="1377288" cy="242407"/>
              </a:xfrm>
              <a:prstGeom prst="rect">
                <a:avLst/>
              </a:prstGeom>
            </p:spPr>
            <p:txBody>
              <a:bodyPr wrap="square" lIns="0" tIns="0" rIns="0" bIns="0" rtlCol="0" anchor="ctr"/>
              <a:lstStyle/>
              <a:p>
                <a:r>
                  <a:rPr lang="en-US" sz="600" dirty="0">
                    <a:solidFill>
                      <a:srgbClr val="C0392B"/>
                    </a:solidFill>
                    <a:latin typeface="Malgun Gothic" pitchFamily="34" charset="0"/>
                    <a:ea typeface="Malgun Gothic" pitchFamily="34" charset="-122"/>
                    <a:cs typeface="Malgun Gothic" pitchFamily="34" charset="-120"/>
                  </a:rPr>
                  <a:t>H100(HBM3) 80 GB</a:t>
                </a:r>
              </a:p>
            </p:txBody>
          </p:sp>
          <p:sp>
            <p:nvSpPr>
              <p:cNvPr id="257" name="L-hbm-label-B200"/>
              <p:cNvSpPr txBox="1"/>
              <p:nvPr/>
            </p:nvSpPr>
            <p:spPr>
              <a:xfrm>
                <a:off x="1267813" y="2826688"/>
                <a:ext cx="1669879" cy="200382"/>
              </a:xfrm>
              <a:prstGeom prst="rect">
                <a:avLst/>
              </a:prstGeom>
            </p:spPr>
            <p:txBody>
              <a:bodyPr wrap="square" lIns="0" tIns="0" rIns="0" bIns="0" rtlCol="0" anchor="ctr"/>
              <a:lstStyle/>
              <a:p>
                <a:r>
                  <a:rPr lang="en-US" sz="600" dirty="0">
                    <a:solidFill>
                      <a:srgbClr val="C0392B"/>
                    </a:solidFill>
                    <a:latin typeface="Malgun Gothic" pitchFamily="34" charset="0"/>
                    <a:ea typeface="Malgun Gothic" pitchFamily="34" charset="-122"/>
                    <a:cs typeface="Malgun Gothic" pitchFamily="34" charset="-120"/>
                  </a:rPr>
                  <a:t>B200(HBM3E) 192 GB</a:t>
                </a:r>
              </a:p>
            </p:txBody>
          </p:sp>
          <p:sp>
            <p:nvSpPr>
              <p:cNvPr id="258" name="L-hbm-label-B300"/>
              <p:cNvSpPr txBox="1"/>
              <p:nvPr/>
            </p:nvSpPr>
            <p:spPr>
              <a:xfrm>
                <a:off x="1267811" y="1926915"/>
                <a:ext cx="1700462" cy="258421"/>
              </a:xfrm>
              <a:prstGeom prst="rect">
                <a:avLst/>
              </a:prstGeom>
            </p:spPr>
            <p:txBody>
              <a:bodyPr wrap="square" lIns="0" tIns="0" rIns="0" bIns="0" rtlCol="0" anchor="ctr"/>
              <a:lstStyle/>
              <a:p>
                <a:r>
                  <a:rPr lang="en-US" sz="600" dirty="0">
                    <a:solidFill>
                      <a:srgbClr val="C0392B"/>
                    </a:solidFill>
                    <a:latin typeface="Malgun Gothic" pitchFamily="34" charset="0"/>
                    <a:ea typeface="Malgun Gothic" pitchFamily="34" charset="-122"/>
                    <a:cs typeface="Malgun Gothic" pitchFamily="34" charset="-120"/>
                  </a:rPr>
                  <a:t>B300(HBM3E) 288 GB</a:t>
                </a:r>
              </a:p>
            </p:txBody>
          </p:sp>
          <p:sp>
            <p:nvSpPr>
              <p:cNvPr id="259" name="L-pt-1M"/>
              <p:cNvSpPr/>
              <p:nvPr/>
            </p:nvSpPr>
            <p:spPr>
              <a:xfrm>
                <a:off x="5567431" y="1698498"/>
                <a:ext cx="292608" cy="292608"/>
              </a:xfrm>
              <a:prstGeom prst="star5">
                <a:avLst/>
              </a:prstGeom>
              <a:solidFill>
                <a:srgbClr val="FF0000"/>
              </a:solidFill>
              <a:ln w="6350">
                <a:solidFill>
                  <a:srgbClr val="D35400"/>
                </a:solidFill>
                <a:prstDash val="solid"/>
              </a:ln>
            </p:spPr>
          </p:sp>
          <p:sp>
            <p:nvSpPr>
              <p:cNvPr id="261" name="L-label-multi"/>
              <p:cNvSpPr txBox="1"/>
              <p:nvPr/>
            </p:nvSpPr>
            <p:spPr>
              <a:xfrm>
                <a:off x="4525014" y="3985642"/>
                <a:ext cx="671159" cy="208215"/>
              </a:xfrm>
              <a:prstGeom prst="rect">
                <a:avLst/>
              </a:prstGeom>
              <a:noFill/>
              <a:ln/>
            </p:spPr>
            <p:txBody>
              <a:bodyPr wrap="square" lIns="0" tIns="0" rIns="0" bIns="0" rtlCol="0" anchor="ctr"/>
              <a:lstStyle/>
              <a:p>
                <a:pPr marL="0" indent="0" algn="r">
                  <a:buNone/>
                </a:pPr>
                <a:r>
                  <a:rPr lang="en-US" sz="700" b="1" dirty="0">
                    <a:solidFill>
                      <a:srgbClr val="2F6DB5"/>
                    </a:solidFill>
                    <a:latin typeface="Malgun Gothic" pitchFamily="34" charset="0"/>
                    <a:ea typeface="Malgun Gothic" pitchFamily="34" charset="-122"/>
                    <a:cs typeface="Malgun Gothic" pitchFamily="34" charset="-120"/>
                  </a:rPr>
                  <a:t>93 GB</a:t>
                </a:r>
                <a:endParaRPr lang="en-US" sz="700" dirty="0"/>
              </a:p>
            </p:txBody>
          </p:sp>
          <p:sp>
            <p:nvSpPr>
              <p:cNvPr id="262" name="L-label-agent"/>
              <p:cNvSpPr txBox="1"/>
              <p:nvPr/>
            </p:nvSpPr>
            <p:spPr>
              <a:xfrm>
                <a:off x="3255053" y="4694988"/>
                <a:ext cx="682279" cy="215146"/>
              </a:xfrm>
              <a:prstGeom prst="rect">
                <a:avLst/>
              </a:prstGeom>
              <a:noFill/>
              <a:ln/>
            </p:spPr>
            <p:txBody>
              <a:bodyPr wrap="square" lIns="0" tIns="0" rIns="0" bIns="0" rtlCol="0" anchor="ctr"/>
              <a:lstStyle/>
              <a:p>
                <a:pPr marL="0" indent="0" algn="r">
                  <a:buNone/>
                </a:pPr>
                <a:r>
                  <a:rPr lang="en-US" sz="700" b="1" dirty="0">
                    <a:solidFill>
                      <a:srgbClr val="2F6DB5"/>
                    </a:solidFill>
                    <a:latin typeface="Malgun Gothic" pitchFamily="34" charset="0"/>
                    <a:ea typeface="Malgun Gothic" pitchFamily="34" charset="-122"/>
                    <a:cs typeface="Malgun Gothic" pitchFamily="34" charset="-120"/>
                  </a:rPr>
                  <a:t>25 GB</a:t>
                </a:r>
                <a:endParaRPr lang="en-US" sz="700" dirty="0"/>
              </a:p>
            </p:txBody>
          </p:sp>
          <p:sp>
            <p:nvSpPr>
              <p:cNvPr id="263" name="L-label-chat"/>
              <p:cNvSpPr txBox="1"/>
              <p:nvPr/>
            </p:nvSpPr>
            <p:spPr>
              <a:xfrm>
                <a:off x="1782280" y="5019611"/>
                <a:ext cx="663320" cy="238513"/>
              </a:xfrm>
              <a:prstGeom prst="rect">
                <a:avLst/>
              </a:prstGeom>
              <a:noFill/>
              <a:ln/>
            </p:spPr>
            <p:txBody>
              <a:bodyPr wrap="square" lIns="0" tIns="0" rIns="0" bIns="0" rtlCol="0" anchor="ctr"/>
              <a:lstStyle/>
              <a:p>
                <a:pPr marL="0" indent="0" algn="l">
                  <a:buNone/>
                </a:pPr>
                <a:r>
                  <a:rPr lang="en-US" sz="700" b="1" dirty="0">
                    <a:solidFill>
                      <a:srgbClr val="2F6DB5"/>
                    </a:solidFill>
                    <a:latin typeface="Malgun Gothic" pitchFamily="34" charset="0"/>
                    <a:ea typeface="Malgun Gothic" pitchFamily="34" charset="-122"/>
                    <a:cs typeface="Malgun Gothic" pitchFamily="34" charset="-120"/>
                  </a:rPr>
                  <a:t>6.3 GB</a:t>
                </a:r>
                <a:endParaRPr lang="en-US" sz="700" dirty="0"/>
              </a:p>
            </p:txBody>
          </p:sp>
          <p:sp>
            <p:nvSpPr>
              <p:cNvPr id="264" name="L-label-1M"/>
              <p:cNvSpPr txBox="1"/>
              <p:nvPr/>
            </p:nvSpPr>
            <p:spPr>
              <a:xfrm>
                <a:off x="5025418" y="1611251"/>
                <a:ext cx="624943" cy="171892"/>
              </a:xfrm>
              <a:prstGeom prst="rect">
                <a:avLst/>
              </a:prstGeom>
              <a:noFill/>
              <a:ln/>
            </p:spPr>
            <p:txBody>
              <a:bodyPr wrap="square" lIns="0" tIns="0" rIns="0" bIns="0" rtlCol="0" anchor="ctr"/>
              <a:lstStyle/>
              <a:p>
                <a:r>
                  <a:rPr lang="en-US" sz="700" b="1" dirty="0">
                    <a:solidFill>
                      <a:srgbClr val="C0392B"/>
                    </a:solidFill>
                    <a:latin typeface="Malgun Gothic" pitchFamily="34" charset="0"/>
                    <a:ea typeface="Malgun Gothic" pitchFamily="34" charset="-122"/>
                    <a:cs typeface="Malgun Gothic" pitchFamily="34" charset="-120"/>
                  </a:rPr>
                  <a:t>330 GB</a:t>
                </a:r>
              </a:p>
            </p:txBody>
          </p:sp>
        </p:grpSp>
        <p:sp>
          <p:nvSpPr>
            <p:cNvPr id="10" name="직사각형 9"/>
            <p:cNvSpPr/>
            <p:nvPr/>
          </p:nvSpPr>
          <p:spPr>
            <a:xfrm>
              <a:off x="754743" y="1974978"/>
              <a:ext cx="2344789" cy="1757781"/>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361" name="그룹 360"/>
          <p:cNvGrpSpPr/>
          <p:nvPr/>
        </p:nvGrpSpPr>
        <p:grpSpPr>
          <a:xfrm>
            <a:off x="3175416" y="2058834"/>
            <a:ext cx="2853441" cy="2016938"/>
            <a:chOff x="6464209" y="1188720"/>
            <a:chExt cx="5078905" cy="4251960"/>
          </a:xfrm>
        </p:grpSpPr>
        <p:sp>
          <p:nvSpPr>
            <p:cNvPr id="362" name="R-region-over-B300"/>
            <p:cNvSpPr/>
            <p:nvPr/>
          </p:nvSpPr>
          <p:spPr>
            <a:xfrm>
              <a:off x="7360920" y="1188720"/>
              <a:ext cx="3566160" cy="3201952"/>
            </a:xfrm>
            <a:prstGeom prst="rect">
              <a:avLst/>
            </a:prstGeom>
            <a:solidFill>
              <a:srgbClr val="F6D9D6">
                <a:alpha val="70000"/>
              </a:srgbClr>
            </a:solidFill>
            <a:ln/>
          </p:spPr>
        </p:sp>
        <p:sp>
          <p:nvSpPr>
            <p:cNvPr id="363" name="R-grid-100 GB"/>
            <p:cNvSpPr/>
            <p:nvPr/>
          </p:nvSpPr>
          <p:spPr>
            <a:xfrm>
              <a:off x="7360920" y="4683823"/>
              <a:ext cx="3566160" cy="0"/>
            </a:xfrm>
            <a:prstGeom prst="line">
              <a:avLst/>
            </a:prstGeom>
            <a:noFill/>
            <a:ln w="9525">
              <a:solidFill>
                <a:srgbClr val="E3E3E3"/>
              </a:solidFill>
              <a:prstDash val="solid"/>
            </a:ln>
          </p:spPr>
        </p:sp>
        <p:sp>
          <p:nvSpPr>
            <p:cNvPr id="364" name="R-tick-100 GB"/>
            <p:cNvSpPr txBox="1"/>
            <p:nvPr/>
          </p:nvSpPr>
          <p:spPr>
            <a:xfrm>
              <a:off x="6675120" y="4574095"/>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100 GB</a:t>
              </a:r>
              <a:endParaRPr lang="en-US" sz="700" dirty="0"/>
            </a:p>
          </p:txBody>
        </p:sp>
        <p:sp>
          <p:nvSpPr>
            <p:cNvPr id="365" name="R-grid-1 TB"/>
            <p:cNvSpPr/>
            <p:nvPr/>
          </p:nvSpPr>
          <p:spPr>
            <a:xfrm>
              <a:off x="7360920" y="4045696"/>
              <a:ext cx="3566160" cy="0"/>
            </a:xfrm>
            <a:prstGeom prst="line">
              <a:avLst/>
            </a:prstGeom>
            <a:noFill/>
            <a:ln w="9525">
              <a:solidFill>
                <a:srgbClr val="E3E3E3"/>
              </a:solidFill>
              <a:prstDash val="solid"/>
            </a:ln>
          </p:spPr>
        </p:sp>
        <p:sp>
          <p:nvSpPr>
            <p:cNvPr id="366" name="R-tick-1 TB"/>
            <p:cNvSpPr txBox="1"/>
            <p:nvPr/>
          </p:nvSpPr>
          <p:spPr>
            <a:xfrm>
              <a:off x="6675120" y="3935968"/>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 TB</a:t>
              </a:r>
              <a:endParaRPr lang="en-US" sz="700" dirty="0"/>
            </a:p>
          </p:txBody>
        </p:sp>
        <p:sp>
          <p:nvSpPr>
            <p:cNvPr id="367" name="R-grid-10 TB"/>
            <p:cNvSpPr/>
            <p:nvPr/>
          </p:nvSpPr>
          <p:spPr>
            <a:xfrm>
              <a:off x="7360920" y="3407568"/>
              <a:ext cx="3566160" cy="0"/>
            </a:xfrm>
            <a:prstGeom prst="line">
              <a:avLst/>
            </a:prstGeom>
            <a:noFill/>
            <a:ln w="9525">
              <a:solidFill>
                <a:srgbClr val="E3E3E3"/>
              </a:solidFill>
              <a:prstDash val="solid"/>
            </a:ln>
          </p:spPr>
        </p:sp>
        <p:sp>
          <p:nvSpPr>
            <p:cNvPr id="368" name="R-tick-10 TB"/>
            <p:cNvSpPr txBox="1"/>
            <p:nvPr/>
          </p:nvSpPr>
          <p:spPr>
            <a:xfrm>
              <a:off x="6675120" y="3297840"/>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 TB</a:t>
              </a:r>
              <a:endParaRPr lang="en-US" sz="700" dirty="0"/>
            </a:p>
          </p:txBody>
        </p:sp>
        <p:sp>
          <p:nvSpPr>
            <p:cNvPr id="369" name="R-grid-100 TB"/>
            <p:cNvSpPr/>
            <p:nvPr/>
          </p:nvSpPr>
          <p:spPr>
            <a:xfrm>
              <a:off x="7360920" y="2769440"/>
              <a:ext cx="3566160" cy="0"/>
            </a:xfrm>
            <a:prstGeom prst="line">
              <a:avLst/>
            </a:prstGeom>
            <a:noFill/>
            <a:ln w="9525">
              <a:solidFill>
                <a:srgbClr val="E3E3E3"/>
              </a:solidFill>
              <a:prstDash val="solid"/>
            </a:ln>
          </p:spPr>
        </p:sp>
        <p:sp>
          <p:nvSpPr>
            <p:cNvPr id="370" name="R-tick-100 TB"/>
            <p:cNvSpPr txBox="1"/>
            <p:nvPr/>
          </p:nvSpPr>
          <p:spPr>
            <a:xfrm>
              <a:off x="6675120" y="2659712"/>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100 TB</a:t>
              </a:r>
              <a:endParaRPr lang="en-US" sz="700" dirty="0"/>
            </a:p>
          </p:txBody>
        </p:sp>
        <p:sp>
          <p:nvSpPr>
            <p:cNvPr id="371" name="R-grid-1 PB"/>
            <p:cNvSpPr/>
            <p:nvPr/>
          </p:nvSpPr>
          <p:spPr>
            <a:xfrm>
              <a:off x="7360920" y="2131312"/>
              <a:ext cx="3566160" cy="0"/>
            </a:xfrm>
            <a:prstGeom prst="line">
              <a:avLst/>
            </a:prstGeom>
            <a:noFill/>
            <a:ln w="9525">
              <a:solidFill>
                <a:srgbClr val="E3E3E3"/>
              </a:solidFill>
              <a:prstDash val="solid"/>
            </a:ln>
          </p:spPr>
        </p:sp>
        <p:sp>
          <p:nvSpPr>
            <p:cNvPr id="372" name="R-tick-1 PB"/>
            <p:cNvSpPr txBox="1"/>
            <p:nvPr/>
          </p:nvSpPr>
          <p:spPr>
            <a:xfrm>
              <a:off x="6675120" y="2021584"/>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 PB</a:t>
              </a:r>
              <a:endParaRPr lang="en-US" sz="700" dirty="0"/>
            </a:p>
          </p:txBody>
        </p:sp>
        <p:sp>
          <p:nvSpPr>
            <p:cNvPr id="373" name="R-grid-10 PB"/>
            <p:cNvSpPr/>
            <p:nvPr/>
          </p:nvSpPr>
          <p:spPr>
            <a:xfrm>
              <a:off x="7360920" y="1493184"/>
              <a:ext cx="3566160" cy="0"/>
            </a:xfrm>
            <a:prstGeom prst="line">
              <a:avLst/>
            </a:prstGeom>
            <a:noFill/>
            <a:ln w="9525">
              <a:solidFill>
                <a:srgbClr val="E3E3E3"/>
              </a:solidFill>
              <a:prstDash val="solid"/>
            </a:ln>
          </p:spPr>
        </p:sp>
        <p:sp>
          <p:nvSpPr>
            <p:cNvPr id="374" name="R-tick-10 PB"/>
            <p:cNvSpPr txBox="1"/>
            <p:nvPr/>
          </p:nvSpPr>
          <p:spPr>
            <a:xfrm>
              <a:off x="6675120" y="1383456"/>
              <a:ext cx="621792" cy="219456"/>
            </a:xfrm>
            <a:prstGeom prst="rect">
              <a:avLst/>
            </a:prstGeom>
            <a:noFill/>
            <a:ln/>
          </p:spPr>
          <p:txBody>
            <a:bodyPr wrap="square" lIns="0" tIns="0" rIns="0" bIns="0" rtlCol="0" anchor="ctr"/>
            <a:lstStyle/>
            <a:p>
              <a:pPr marL="0" indent="0" algn="r">
                <a:buNone/>
              </a:pPr>
              <a:r>
                <a:rPr lang="en-US" sz="700" dirty="0">
                  <a:solidFill>
                    <a:srgbClr val="333333"/>
                  </a:solidFill>
                  <a:latin typeface="Malgun Gothic" pitchFamily="34" charset="0"/>
                  <a:ea typeface="Malgun Gothic" pitchFamily="34" charset="-122"/>
                  <a:cs typeface="Malgun Gothic" pitchFamily="34" charset="-120"/>
                </a:rPr>
                <a:t>10 PB</a:t>
              </a:r>
              <a:endParaRPr lang="en-US" sz="700" dirty="0"/>
            </a:p>
          </p:txBody>
        </p:sp>
        <p:sp>
          <p:nvSpPr>
            <p:cNvPr id="375" name="R-axis-title-y"/>
            <p:cNvSpPr txBox="1"/>
            <p:nvPr/>
          </p:nvSpPr>
          <p:spPr>
            <a:xfrm rot="16200000">
              <a:off x="5200707" y="2712369"/>
              <a:ext cx="2940954" cy="413950"/>
            </a:xfrm>
            <a:prstGeom prst="rect">
              <a:avLst/>
            </a:prstGeom>
            <a:noFill/>
            <a:ln/>
          </p:spPr>
          <p:txBody>
            <a:bodyPr wrap="square" lIns="0" tIns="0" rIns="0" bIns="0" rtlCol="0" anchor="ctr"/>
            <a:lstStyle/>
            <a:p>
              <a:pPr marL="0" indent="0" algn="ctr">
                <a:buNone/>
              </a:pPr>
              <a:r>
                <a:rPr lang="en-US" sz="800" b="1" dirty="0">
                  <a:solidFill>
                    <a:srgbClr val="333333"/>
                  </a:solidFill>
                  <a:latin typeface="Malgun Gothic" pitchFamily="34" charset="0"/>
                  <a:ea typeface="Malgun Gothic" pitchFamily="34" charset="-122"/>
                  <a:cs typeface="Malgun Gothic" pitchFamily="34" charset="-120"/>
                </a:rPr>
                <a:t>총 KV cache 크기 (log)</a:t>
              </a:r>
              <a:endParaRPr lang="en-US" sz="800" b="1" dirty="0"/>
            </a:p>
          </p:txBody>
        </p:sp>
        <p:sp>
          <p:nvSpPr>
            <p:cNvPr id="376" name="R-bar-1"/>
            <p:cNvSpPr/>
            <p:nvPr/>
          </p:nvSpPr>
          <p:spPr>
            <a:xfrm>
              <a:off x="7530313" y="4175065"/>
              <a:ext cx="552755" cy="762695"/>
            </a:xfrm>
            <a:prstGeom prst="rect">
              <a:avLst/>
            </a:prstGeom>
            <a:solidFill>
              <a:srgbClr val="2F6DB5"/>
            </a:solidFill>
            <a:ln/>
          </p:spPr>
        </p:sp>
        <p:sp>
          <p:nvSpPr>
            <p:cNvPr id="377" name="R-bar-label-1"/>
            <p:cNvSpPr txBox="1"/>
            <p:nvPr/>
          </p:nvSpPr>
          <p:spPr>
            <a:xfrm>
              <a:off x="7303770" y="3772729"/>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630 GB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(2×)</a:t>
              </a:r>
              <a:endParaRPr lang="en-US" sz="700" dirty="0"/>
            </a:p>
          </p:txBody>
        </p:sp>
        <p:sp>
          <p:nvSpPr>
            <p:cNvPr id="378" name="R-xlabel-1"/>
            <p:cNvSpPr txBox="1"/>
            <p:nvPr/>
          </p:nvSpPr>
          <p:spPr>
            <a:xfrm>
              <a:off x="737920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채팅</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×100세션</a:t>
              </a:r>
              <a:endParaRPr lang="en-US" sz="600" dirty="0"/>
            </a:p>
          </p:txBody>
        </p:sp>
        <p:sp>
          <p:nvSpPr>
            <p:cNvPr id="379" name="R-bar-2"/>
            <p:cNvSpPr/>
            <p:nvPr/>
          </p:nvSpPr>
          <p:spPr>
            <a:xfrm>
              <a:off x="8421853" y="3794544"/>
              <a:ext cx="552755" cy="1143216"/>
            </a:xfrm>
            <a:prstGeom prst="rect">
              <a:avLst/>
            </a:prstGeom>
            <a:solidFill>
              <a:srgbClr val="2F6DB5"/>
            </a:solidFill>
            <a:ln/>
          </p:spPr>
        </p:sp>
        <p:sp>
          <p:nvSpPr>
            <p:cNvPr id="380" name="R-bar-label-2"/>
            <p:cNvSpPr txBox="1"/>
            <p:nvPr/>
          </p:nvSpPr>
          <p:spPr>
            <a:xfrm>
              <a:off x="8195310" y="3392208"/>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2.5 TB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(9×)</a:t>
              </a:r>
              <a:endParaRPr lang="en-US" sz="700" dirty="0"/>
            </a:p>
          </p:txBody>
        </p:sp>
        <p:sp>
          <p:nvSpPr>
            <p:cNvPr id="381" name="R-xlabel-2"/>
            <p:cNvSpPr txBox="1"/>
            <p:nvPr/>
          </p:nvSpPr>
          <p:spPr>
            <a:xfrm>
              <a:off x="827074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에이전트</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×100세션</a:t>
              </a:r>
              <a:endParaRPr lang="en-US" sz="600" dirty="0"/>
            </a:p>
          </p:txBody>
        </p:sp>
        <p:sp>
          <p:nvSpPr>
            <p:cNvPr id="382" name="R-bar-3"/>
            <p:cNvSpPr/>
            <p:nvPr/>
          </p:nvSpPr>
          <p:spPr>
            <a:xfrm>
              <a:off x="9313393" y="3428485"/>
              <a:ext cx="552755" cy="1509275"/>
            </a:xfrm>
            <a:prstGeom prst="rect">
              <a:avLst/>
            </a:prstGeom>
            <a:solidFill>
              <a:srgbClr val="2F6DB5"/>
            </a:solidFill>
            <a:ln/>
          </p:spPr>
        </p:sp>
        <p:sp>
          <p:nvSpPr>
            <p:cNvPr id="383" name="R-bar-label-3"/>
            <p:cNvSpPr txBox="1"/>
            <p:nvPr/>
          </p:nvSpPr>
          <p:spPr>
            <a:xfrm>
              <a:off x="9086850" y="3026149"/>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9.3 TB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(32×)</a:t>
              </a:r>
              <a:endParaRPr lang="en-US" sz="700" dirty="0"/>
            </a:p>
          </p:txBody>
        </p:sp>
        <p:sp>
          <p:nvSpPr>
            <p:cNvPr id="384" name="R-xlabel-3"/>
            <p:cNvSpPr txBox="1"/>
            <p:nvPr/>
          </p:nvSpPr>
          <p:spPr>
            <a:xfrm>
              <a:off x="916228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멀티에이전트</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×100세션</a:t>
              </a:r>
              <a:endParaRPr lang="en-US" sz="600" dirty="0"/>
            </a:p>
          </p:txBody>
        </p:sp>
        <p:sp>
          <p:nvSpPr>
            <p:cNvPr id="385" name="R-bar-4"/>
            <p:cNvSpPr/>
            <p:nvPr/>
          </p:nvSpPr>
          <p:spPr>
            <a:xfrm>
              <a:off x="10204933" y="1800434"/>
              <a:ext cx="552755" cy="3137326"/>
            </a:xfrm>
            <a:prstGeom prst="rect">
              <a:avLst/>
            </a:prstGeom>
            <a:solidFill>
              <a:srgbClr val="D35400"/>
            </a:solidFill>
            <a:ln/>
          </p:spPr>
        </p:sp>
        <p:sp>
          <p:nvSpPr>
            <p:cNvPr id="386" name="R-bar-label-4"/>
            <p:cNvSpPr txBox="1"/>
            <p:nvPr/>
          </p:nvSpPr>
          <p:spPr>
            <a:xfrm>
              <a:off x="9978390" y="1398098"/>
              <a:ext cx="1005840" cy="365760"/>
            </a:xfrm>
            <a:prstGeom prst="rect">
              <a:avLst/>
            </a:prstGeom>
            <a:noFill/>
            <a:ln/>
          </p:spPr>
          <p:txBody>
            <a:bodyPr wrap="square" lIns="0" tIns="0" rIns="0" bIns="0" rtlCol="0" anchor="b"/>
            <a:lstStyle/>
            <a:p>
              <a:pPr marL="0" indent="0" algn="ctr">
                <a:buNone/>
              </a:pPr>
              <a:r>
                <a:rPr lang="en-US" sz="700" b="1" dirty="0">
                  <a:solidFill>
                    <a:srgbClr val="333333"/>
                  </a:solidFill>
                  <a:latin typeface="Malgun Gothic" pitchFamily="34" charset="0"/>
                  <a:ea typeface="Malgun Gothic" pitchFamily="34" charset="-122"/>
                  <a:cs typeface="Malgun Gothic" pitchFamily="34" charset="-120"/>
                </a:rPr>
                <a:t>3.3 PB</a:t>
              </a:r>
              <a:endParaRPr lang="en-US" sz="700" dirty="0"/>
            </a:p>
            <a:p>
              <a:pPr marL="0" indent="0" algn="ctr">
                <a:buNone/>
              </a:pPr>
              <a:r>
                <a:rPr lang="en-US" sz="700" dirty="0">
                  <a:solidFill>
                    <a:srgbClr val="333333"/>
                  </a:solidFill>
                  <a:latin typeface="Malgun Gothic" pitchFamily="34" charset="0"/>
                  <a:ea typeface="Malgun Gothic" pitchFamily="34" charset="-122"/>
                  <a:cs typeface="Malgun Gothic" pitchFamily="34" charset="-120"/>
                </a:rPr>
                <a:t>(11,500×)</a:t>
              </a:r>
              <a:endParaRPr lang="en-US" sz="700" dirty="0"/>
            </a:p>
          </p:txBody>
        </p:sp>
        <p:sp>
          <p:nvSpPr>
            <p:cNvPr id="387" name="R-xlabel-4"/>
            <p:cNvSpPr txBox="1"/>
            <p:nvPr/>
          </p:nvSpPr>
          <p:spPr>
            <a:xfrm>
              <a:off x="10053828" y="4983480"/>
              <a:ext cx="854964" cy="457200"/>
            </a:xfrm>
            <a:prstGeom prst="rect">
              <a:avLst/>
            </a:prstGeom>
            <a:noFill/>
            <a:ln/>
          </p:spPr>
          <p:txBody>
            <a:bodyPr wrap="square" lIns="0" tIns="0" rIns="0" bIns="0" rtlCol="0" anchor="t"/>
            <a:lstStyle/>
            <a:p>
              <a:pPr marL="0" indent="0" algn="ctr">
                <a:buNone/>
              </a:pPr>
              <a:r>
                <a:rPr lang="en-US" sz="600" dirty="0">
                  <a:solidFill>
                    <a:srgbClr val="333333"/>
                  </a:solidFill>
                  <a:latin typeface="Malgun Gothic" pitchFamily="34" charset="0"/>
                  <a:ea typeface="Malgun Gothic" pitchFamily="34" charset="-122"/>
                  <a:cs typeface="Malgun Gothic" pitchFamily="34" charset="-120"/>
                </a:rPr>
                <a:t>ASTRA </a:t>
              </a:r>
              <a:endParaRPr lang="en-US" sz="600" dirty="0"/>
            </a:p>
            <a:p>
              <a:pPr marL="0" indent="0" algn="ctr">
                <a:buNone/>
              </a:pPr>
              <a:r>
                <a:rPr lang="en-US" sz="600" dirty="0">
                  <a:solidFill>
                    <a:srgbClr val="333333"/>
                  </a:solidFill>
                  <a:latin typeface="Malgun Gothic" pitchFamily="34" charset="0"/>
                  <a:ea typeface="Malgun Gothic" pitchFamily="34" charset="-122"/>
                  <a:cs typeface="Malgun Gothic" pitchFamily="34" charset="-120"/>
                </a:rPr>
                <a:t>1M x 10,000 agents</a:t>
              </a:r>
              <a:endParaRPr lang="en-US" sz="600" dirty="0"/>
            </a:p>
          </p:txBody>
        </p:sp>
        <p:sp>
          <p:nvSpPr>
            <p:cNvPr id="388" name="R-plot-frame"/>
            <p:cNvSpPr/>
            <p:nvPr/>
          </p:nvSpPr>
          <p:spPr>
            <a:xfrm>
              <a:off x="7360920" y="1188720"/>
              <a:ext cx="3566160" cy="3749040"/>
            </a:xfrm>
            <a:prstGeom prst="rect">
              <a:avLst/>
            </a:prstGeom>
            <a:ln w="6350">
              <a:solidFill>
                <a:srgbClr val="222222"/>
              </a:solidFill>
              <a:prstDash val="solid"/>
            </a:ln>
          </p:spPr>
        </p:sp>
        <p:sp>
          <p:nvSpPr>
            <p:cNvPr id="389" name="R-hbm-line-H100"/>
            <p:cNvSpPr/>
            <p:nvPr/>
          </p:nvSpPr>
          <p:spPr>
            <a:xfrm>
              <a:off x="7360920" y="4745664"/>
              <a:ext cx="3566160" cy="0"/>
            </a:xfrm>
            <a:prstGeom prst="line">
              <a:avLst/>
            </a:prstGeom>
            <a:noFill/>
            <a:ln w="15875">
              <a:solidFill>
                <a:srgbClr val="C0392B">
                  <a:alpha val="55000"/>
                </a:srgbClr>
              </a:solidFill>
              <a:prstDash val="dash"/>
            </a:ln>
          </p:spPr>
        </p:sp>
        <p:sp>
          <p:nvSpPr>
            <p:cNvPr id="390" name="R-hbm-label-H100"/>
            <p:cNvSpPr txBox="1"/>
            <p:nvPr/>
          </p:nvSpPr>
          <p:spPr>
            <a:xfrm>
              <a:off x="11000232" y="4635937"/>
              <a:ext cx="530659" cy="409099"/>
            </a:xfrm>
            <a:prstGeom prst="rect">
              <a:avLst/>
            </a:prstGeom>
            <a:noFill/>
            <a:ln/>
          </p:spPr>
          <p:txBody>
            <a:bodyPr wrap="square" lIns="0" tIns="0" rIns="0" bIns="0" rtlCol="0" anchor="ctr"/>
            <a:lstStyle/>
            <a:p>
              <a:pPr marL="0" indent="0">
                <a:buNone/>
              </a:pPr>
              <a:r>
                <a:rPr lang="en-US" sz="600" dirty="0">
                  <a:solidFill>
                    <a:srgbClr val="C0392B"/>
                  </a:solidFill>
                  <a:latin typeface="Malgun Gothic" pitchFamily="34" charset="0"/>
                  <a:ea typeface="Malgun Gothic" pitchFamily="34" charset="-122"/>
                  <a:cs typeface="Malgun Gothic" pitchFamily="34" charset="-120"/>
                </a:rPr>
                <a:t>HBM3</a:t>
              </a:r>
            </a:p>
            <a:p>
              <a:pPr marL="0" indent="0">
                <a:buNone/>
              </a:pPr>
              <a:r>
                <a:rPr lang="en-US" sz="600" dirty="0">
                  <a:solidFill>
                    <a:srgbClr val="C0392B"/>
                  </a:solidFill>
                  <a:latin typeface="Malgun Gothic" pitchFamily="34" charset="0"/>
                  <a:ea typeface="Malgun Gothic" pitchFamily="34" charset="-122"/>
                  <a:cs typeface="Malgun Gothic" pitchFamily="34" charset="-120"/>
                </a:rPr>
                <a:t>80 GB</a:t>
              </a:r>
              <a:endParaRPr lang="en-US" sz="600" dirty="0"/>
            </a:p>
          </p:txBody>
        </p:sp>
        <p:sp>
          <p:nvSpPr>
            <p:cNvPr id="392" name="R-hbm-line-B300"/>
            <p:cNvSpPr/>
            <p:nvPr/>
          </p:nvSpPr>
          <p:spPr>
            <a:xfrm>
              <a:off x="7360920" y="4390672"/>
              <a:ext cx="3566160" cy="0"/>
            </a:xfrm>
            <a:prstGeom prst="line">
              <a:avLst/>
            </a:prstGeom>
            <a:noFill/>
            <a:ln w="15875">
              <a:solidFill>
                <a:srgbClr val="C0392B">
                  <a:alpha val="95000"/>
                </a:srgbClr>
              </a:solidFill>
              <a:prstDash val="dash"/>
            </a:ln>
          </p:spPr>
        </p:sp>
        <p:sp>
          <p:nvSpPr>
            <p:cNvPr id="393" name="R-hbm-label-B300"/>
            <p:cNvSpPr txBox="1"/>
            <p:nvPr/>
          </p:nvSpPr>
          <p:spPr>
            <a:xfrm>
              <a:off x="11000232" y="4107221"/>
              <a:ext cx="542882" cy="427142"/>
            </a:xfrm>
            <a:prstGeom prst="rect">
              <a:avLst/>
            </a:prstGeom>
            <a:noFill/>
            <a:ln/>
          </p:spPr>
          <p:txBody>
            <a:bodyPr wrap="square" lIns="0" tIns="0" rIns="0" bIns="0" rtlCol="0" anchor="ctr"/>
            <a:lstStyle/>
            <a:p>
              <a:pPr marL="0" indent="0">
                <a:buNone/>
              </a:pPr>
              <a:r>
                <a:rPr lang="en-US" sz="600" dirty="0">
                  <a:solidFill>
                    <a:srgbClr val="C0392B"/>
                  </a:solidFill>
                  <a:latin typeface="Malgun Gothic" pitchFamily="34" charset="0"/>
                  <a:ea typeface="Malgun Gothic" pitchFamily="34" charset="-122"/>
                  <a:cs typeface="Malgun Gothic" pitchFamily="34" charset="-120"/>
                </a:rPr>
                <a:t>HBM3E</a:t>
              </a:r>
            </a:p>
            <a:p>
              <a:pPr marL="0" indent="0">
                <a:buNone/>
              </a:pPr>
              <a:r>
                <a:rPr lang="en-US" sz="600" dirty="0">
                  <a:solidFill>
                    <a:srgbClr val="C0392B"/>
                  </a:solidFill>
                  <a:latin typeface="Malgun Gothic" pitchFamily="34" charset="0"/>
                  <a:ea typeface="Malgun Gothic" pitchFamily="34" charset="-122"/>
                  <a:cs typeface="Malgun Gothic" pitchFamily="34" charset="-120"/>
                </a:rPr>
                <a:t>288 GB</a:t>
              </a:r>
              <a:endParaRPr lang="en-US" sz="600" dirty="0"/>
            </a:p>
          </p:txBody>
        </p:sp>
        <p:sp>
          <p:nvSpPr>
            <p:cNvPr id="394" name="R-subtitle"/>
            <p:cNvSpPr txBox="1"/>
            <p:nvPr/>
          </p:nvSpPr>
          <p:spPr>
            <a:xfrm>
              <a:off x="7423554" y="1241000"/>
              <a:ext cx="2781378" cy="209647"/>
            </a:xfrm>
            <a:prstGeom prst="rect">
              <a:avLst/>
            </a:prstGeom>
            <a:noFill/>
            <a:ln/>
          </p:spPr>
          <p:txBody>
            <a:bodyPr wrap="square" lIns="0" tIns="0" rIns="0" bIns="0" rtlCol="0" anchor="ctr"/>
            <a:lstStyle/>
            <a:p>
              <a:pPr marL="0" indent="0">
                <a:buNone/>
              </a:pPr>
              <a:r>
                <a:rPr lang="en-US" sz="600" dirty="0">
                  <a:solidFill>
                    <a:srgbClr val="666666"/>
                  </a:solidFill>
                  <a:latin typeface="Malgun Gothic" pitchFamily="34" charset="0"/>
                  <a:ea typeface="Malgun Gothic" pitchFamily="34" charset="-122"/>
                  <a:cs typeface="Malgun Gothic" pitchFamily="34" charset="-120"/>
                </a:rPr>
                <a:t>괄호: B300</a:t>
              </a:r>
              <a:r>
                <a:rPr lang="ko-KR" altLang="en-US" sz="600" dirty="0">
                  <a:solidFill>
                    <a:srgbClr val="666666"/>
                  </a:solidFill>
                  <a:latin typeface="Malgun Gothic" pitchFamily="34" charset="0"/>
                  <a:ea typeface="Malgun Gothic" pitchFamily="34" charset="-122"/>
                  <a:cs typeface="Malgun Gothic" pitchFamily="34" charset="-120"/>
                </a:rPr>
                <a:t> </a:t>
              </a:r>
              <a:r>
                <a:rPr lang="en-US" altLang="ko-KR" sz="600" dirty="0">
                  <a:solidFill>
                    <a:srgbClr val="666666"/>
                  </a:solidFill>
                  <a:latin typeface="Malgun Gothic" pitchFamily="34" charset="0"/>
                  <a:ea typeface="Malgun Gothic" pitchFamily="34" charset="-122"/>
                  <a:cs typeface="Malgun Gothic" pitchFamily="34" charset="-120"/>
                </a:rPr>
                <a:t>1</a:t>
              </a:r>
              <a:r>
                <a:rPr lang="ko-KR" altLang="en-US" sz="600" dirty="0">
                  <a:solidFill>
                    <a:srgbClr val="666666"/>
                  </a:solidFill>
                  <a:latin typeface="Malgun Gothic" pitchFamily="34" charset="0"/>
                  <a:ea typeface="Malgun Gothic" pitchFamily="34" charset="-122"/>
                  <a:cs typeface="Malgun Gothic" pitchFamily="34" charset="-120"/>
                </a:rPr>
                <a:t>개 </a:t>
              </a:r>
              <a:r>
                <a:rPr lang="en-US" sz="600" dirty="0">
                  <a:solidFill>
                    <a:srgbClr val="666666"/>
                  </a:solidFill>
                  <a:latin typeface="Malgun Gothic" pitchFamily="34" charset="0"/>
                  <a:ea typeface="Malgun Gothic" pitchFamily="34" charset="-122"/>
                  <a:cs typeface="Malgun Gothic" pitchFamily="34" charset="-120"/>
                </a:rPr>
                <a:t>HBM3E(288GB) </a:t>
              </a:r>
              <a:r>
                <a:rPr lang="en-US" sz="600" dirty="0" err="1">
                  <a:solidFill>
                    <a:srgbClr val="666666"/>
                  </a:solidFill>
                  <a:latin typeface="Malgun Gothic" pitchFamily="34" charset="0"/>
                  <a:ea typeface="Malgun Gothic" pitchFamily="34" charset="-122"/>
                  <a:cs typeface="Malgun Gothic" pitchFamily="34" charset="-120"/>
                </a:rPr>
                <a:t>배수</a:t>
              </a:r>
              <a:endParaRPr lang="en-US" sz="600" dirty="0"/>
            </a:p>
          </p:txBody>
        </p:sp>
      </p:grpSp>
      <p:sp>
        <p:nvSpPr>
          <p:cNvPr id="395" name="L-title"/>
          <p:cNvSpPr txBox="1"/>
          <p:nvPr/>
        </p:nvSpPr>
        <p:spPr>
          <a:xfrm>
            <a:off x="1492059" y="1844614"/>
            <a:ext cx="699236" cy="192847"/>
          </a:xfrm>
          <a:prstGeom prst="rect">
            <a:avLst/>
          </a:prstGeom>
          <a:noFill/>
          <a:ln/>
        </p:spPr>
        <p:txBody>
          <a:bodyPr wrap="square" lIns="0" tIns="0" rIns="0" bIns="0" rtlCol="0" anchor="ctr"/>
          <a:lstStyle/>
          <a:p>
            <a:pPr marL="0" indent="0">
              <a:buNone/>
            </a:pPr>
            <a:r>
              <a:rPr lang="en-US" sz="900" b="1" dirty="0">
                <a:solidFill>
                  <a:srgbClr val="333333"/>
                </a:solidFill>
                <a:latin typeface="Malgun Gothic" pitchFamily="34" charset="0"/>
                <a:ea typeface="Malgun Gothic" pitchFamily="34" charset="-122"/>
                <a:cs typeface="Malgun Gothic" pitchFamily="34" charset="-120"/>
              </a:rPr>
              <a:t>① </a:t>
            </a:r>
            <a:r>
              <a:rPr lang="en-US" sz="900" b="1" dirty="0" err="1">
                <a:solidFill>
                  <a:srgbClr val="333333"/>
                </a:solidFill>
                <a:latin typeface="Malgun Gothic" pitchFamily="34" charset="0"/>
                <a:ea typeface="Malgun Gothic" pitchFamily="34" charset="-122"/>
                <a:cs typeface="Malgun Gothic" pitchFamily="34" charset="-120"/>
              </a:rPr>
              <a:t>단일</a:t>
            </a:r>
            <a:r>
              <a:rPr lang="en-US" sz="900" b="1" dirty="0">
                <a:solidFill>
                  <a:srgbClr val="333333"/>
                </a:solidFill>
                <a:latin typeface="Malgun Gothic" pitchFamily="34" charset="0"/>
                <a:ea typeface="Malgun Gothic" pitchFamily="34" charset="-122"/>
                <a:cs typeface="Malgun Gothic" pitchFamily="34" charset="-120"/>
              </a:rPr>
              <a:t> </a:t>
            </a:r>
            <a:r>
              <a:rPr lang="en-US" sz="900" b="1" dirty="0" err="1">
                <a:solidFill>
                  <a:srgbClr val="333333"/>
                </a:solidFill>
                <a:latin typeface="Malgun Gothic" pitchFamily="34" charset="0"/>
                <a:ea typeface="Malgun Gothic" pitchFamily="34" charset="-122"/>
                <a:cs typeface="Malgun Gothic" pitchFamily="34" charset="-120"/>
              </a:rPr>
              <a:t>세션</a:t>
            </a:r>
            <a:endParaRPr lang="en-US" sz="900" dirty="0"/>
          </a:p>
        </p:txBody>
      </p:sp>
      <p:sp>
        <p:nvSpPr>
          <p:cNvPr id="396" name="R-title"/>
          <p:cNvSpPr txBox="1"/>
          <p:nvPr/>
        </p:nvSpPr>
        <p:spPr>
          <a:xfrm>
            <a:off x="4028648" y="1854000"/>
            <a:ext cx="1326558" cy="182189"/>
          </a:xfrm>
          <a:prstGeom prst="rect">
            <a:avLst/>
          </a:prstGeom>
          <a:noFill/>
          <a:ln/>
        </p:spPr>
        <p:txBody>
          <a:bodyPr wrap="square" lIns="0" tIns="0" rIns="0" bIns="0" rtlCol="0" anchor="ctr"/>
          <a:lstStyle/>
          <a:p>
            <a:pPr marL="0" indent="0" algn="ctr">
              <a:buNone/>
            </a:pPr>
            <a:r>
              <a:rPr lang="en-US" sz="900" b="1" dirty="0">
                <a:solidFill>
                  <a:srgbClr val="333333"/>
                </a:solidFill>
                <a:latin typeface="Malgun Gothic" pitchFamily="34" charset="0"/>
                <a:ea typeface="Malgun Gothic" pitchFamily="34" charset="-122"/>
                <a:cs typeface="Malgun Gothic" pitchFamily="34" charset="-120"/>
              </a:rPr>
              <a:t>② </a:t>
            </a:r>
            <a:r>
              <a:rPr lang="ko-KR" altLang="en-US" sz="900" b="1" dirty="0">
                <a:solidFill>
                  <a:srgbClr val="333333"/>
                </a:solidFill>
                <a:latin typeface="Malgun Gothic" pitchFamily="34" charset="0"/>
                <a:ea typeface="Malgun Gothic" pitchFamily="34" charset="-122"/>
                <a:cs typeface="Malgun Gothic" pitchFamily="34" charset="-120"/>
              </a:rPr>
              <a:t>동시 </a:t>
            </a:r>
            <a:r>
              <a:rPr lang="en-US" sz="900" b="1" dirty="0" err="1">
                <a:solidFill>
                  <a:srgbClr val="333333"/>
                </a:solidFill>
                <a:latin typeface="Malgun Gothic" pitchFamily="34" charset="0"/>
                <a:ea typeface="Malgun Gothic" pitchFamily="34" charset="-122"/>
                <a:cs typeface="Malgun Gothic" pitchFamily="34" charset="-120"/>
              </a:rPr>
              <a:t>세션</a:t>
            </a:r>
            <a:r>
              <a:rPr lang="en-US" sz="900" b="1" dirty="0">
                <a:solidFill>
                  <a:srgbClr val="333333"/>
                </a:solidFill>
                <a:latin typeface="Malgun Gothic" pitchFamily="34" charset="0"/>
                <a:ea typeface="Malgun Gothic" pitchFamily="34" charset="-122"/>
                <a:cs typeface="Malgun Gothic" pitchFamily="34" charset="-120"/>
              </a:rPr>
              <a:t> </a:t>
            </a:r>
            <a:r>
              <a:rPr lang="ko-KR" altLang="en-US" sz="900" b="1" dirty="0">
                <a:solidFill>
                  <a:srgbClr val="333333"/>
                </a:solidFill>
                <a:latin typeface="Malgun Gothic" pitchFamily="34" charset="0"/>
                <a:ea typeface="Malgun Gothic" pitchFamily="34" charset="-122"/>
                <a:cs typeface="Malgun Gothic" pitchFamily="34" charset="-120"/>
              </a:rPr>
              <a:t>고려</a:t>
            </a:r>
            <a:endParaRPr lang="en-US" sz="900" dirty="0"/>
          </a:p>
        </p:txBody>
      </p:sp>
      <p:sp>
        <p:nvSpPr>
          <p:cNvPr id="398" name="R-subtitle"/>
          <p:cNvSpPr txBox="1"/>
          <p:nvPr/>
        </p:nvSpPr>
        <p:spPr>
          <a:xfrm>
            <a:off x="736839" y="2064727"/>
            <a:ext cx="750227" cy="116257"/>
          </a:xfrm>
          <a:prstGeom prst="rect">
            <a:avLst/>
          </a:prstGeom>
          <a:noFill/>
          <a:ln/>
        </p:spPr>
        <p:txBody>
          <a:bodyPr wrap="square" lIns="0" tIns="0" rIns="0" bIns="0" rtlCol="0" anchor="ctr"/>
          <a:lstStyle/>
          <a:p>
            <a:pPr marL="0" indent="0">
              <a:buNone/>
            </a:pPr>
            <a:r>
              <a:rPr lang="en-US" sz="600" dirty="0">
                <a:solidFill>
                  <a:srgbClr val="666666"/>
                </a:solidFill>
                <a:latin typeface="Malgun Gothic" pitchFamily="34" charset="0"/>
                <a:ea typeface="Malgun Gothic" pitchFamily="34" charset="-122"/>
              </a:rPr>
              <a:t>Llama-3-70B </a:t>
            </a:r>
            <a:r>
              <a:rPr lang="ko-KR" altLang="en-US" sz="600" dirty="0">
                <a:solidFill>
                  <a:srgbClr val="666666"/>
                </a:solidFill>
                <a:latin typeface="Malgun Gothic" pitchFamily="34" charset="0"/>
                <a:ea typeface="Malgun Gothic" pitchFamily="34" charset="-122"/>
              </a:rPr>
              <a:t>기준</a:t>
            </a:r>
            <a:endParaRPr lang="en-US" sz="600" dirty="0"/>
          </a:p>
        </p:txBody>
      </p:sp>
      <p:sp>
        <p:nvSpPr>
          <p:cNvPr id="399" name="footnote"/>
          <p:cNvSpPr txBox="1"/>
          <p:nvPr/>
        </p:nvSpPr>
        <p:spPr>
          <a:xfrm>
            <a:off x="292704" y="6568411"/>
            <a:ext cx="5644270" cy="285783"/>
          </a:xfrm>
          <a:prstGeom prst="rect">
            <a:avLst/>
          </a:prstGeom>
          <a:noFill/>
          <a:ln/>
        </p:spPr>
        <p:txBody>
          <a:bodyPr wrap="square" lIns="0" tIns="0" rIns="0" bIns="0" rtlCol="0" anchor="t"/>
          <a:lstStyle/>
          <a:p>
            <a:pPr marL="0" indent="0">
              <a:buNone/>
            </a:pPr>
            <a:r>
              <a:rPr lang="en-US" sz="600" dirty="0">
                <a:solidFill>
                  <a:srgbClr val="666666"/>
                </a:solidFill>
                <a:latin typeface="Malgun Gothic" pitchFamily="34" charset="0"/>
                <a:ea typeface="Malgun Gothic" pitchFamily="34" charset="-122"/>
                <a:cs typeface="Malgun Gothic" pitchFamily="34" charset="-120"/>
              </a:rPr>
              <a:t>KV cache 0.33MB/token (Llama-3.1-70B, BF16). 문맥 길이: 에이전트 ≈75K </a:t>
            </a:r>
          </a:p>
          <a:p>
            <a:r>
              <a:rPr lang="en-US" sz="600" dirty="0">
                <a:solidFill>
                  <a:srgbClr val="666666"/>
                </a:solidFill>
                <a:latin typeface="Malgun Gothic" pitchFamily="34" charset="0"/>
                <a:ea typeface="Malgun Gothic" pitchFamily="34" charset="-122"/>
                <a:cs typeface="Malgun Gothic" pitchFamily="34" charset="-120"/>
              </a:rPr>
              <a:t>[1] (SWE-bench Pro 평균 누적 문맥 69–80K), </a:t>
            </a:r>
            <a:r>
              <a:rPr lang="en-US" sz="600" dirty="0" err="1">
                <a:solidFill>
                  <a:srgbClr val="666666"/>
                </a:solidFill>
                <a:latin typeface="Malgun Gothic" pitchFamily="34" charset="0"/>
                <a:ea typeface="Malgun Gothic" pitchFamily="34" charset="-122"/>
                <a:cs typeface="Malgun Gothic" pitchFamily="34" charset="-120"/>
              </a:rPr>
              <a:t>채팅·멀티에이전트는</a:t>
            </a:r>
            <a:r>
              <a:rPr lang="en-US" sz="600" dirty="0">
                <a:solidFill>
                  <a:srgbClr val="666666"/>
                </a:solidFill>
                <a:latin typeface="Malgun Gothic" pitchFamily="34" charset="0"/>
                <a:ea typeface="Malgun Gothic" pitchFamily="34" charset="-122"/>
                <a:cs typeface="Malgun Gothic" pitchFamily="34" charset="-120"/>
              </a:rPr>
              <a:t> [2] </a:t>
            </a:r>
            <a:r>
              <a:rPr lang="ko-KR" altLang="en-US" sz="600" dirty="0">
                <a:solidFill>
                  <a:srgbClr val="666666"/>
                </a:solidFill>
                <a:latin typeface="Malgun Gothic" pitchFamily="34" charset="0"/>
                <a:ea typeface="Malgun Gothic" pitchFamily="34" charset="-122"/>
                <a:cs typeface="Malgun Gothic" pitchFamily="34" charset="-120"/>
              </a:rPr>
              <a:t>에이전트 토</a:t>
            </a:r>
            <a:r>
              <a:rPr lang="en-US" sz="600" dirty="0">
                <a:solidFill>
                  <a:srgbClr val="666666"/>
                </a:solidFill>
                <a:latin typeface="Malgun Gothic" pitchFamily="34" charset="0"/>
                <a:ea typeface="Malgun Gothic" pitchFamily="34" charset="-122"/>
                <a:cs typeface="Malgun Gothic" pitchFamily="34" charset="-120"/>
              </a:rPr>
              <a:t>큰 사용량 배수(≈4×/≈15×) </a:t>
            </a:r>
            <a:r>
              <a:rPr lang="en-US" altLang="ko-KR" sz="600" dirty="0">
                <a:solidFill>
                  <a:srgbClr val="666666"/>
                </a:solidFill>
                <a:latin typeface="Malgun Gothic" pitchFamily="34" charset="0"/>
                <a:ea typeface="Malgun Gothic" pitchFamily="34" charset="-122"/>
                <a:cs typeface="Malgun Gothic" pitchFamily="34" charset="-120"/>
              </a:rPr>
              <a:t>Anthropic Eng. Blog  [3] </a:t>
            </a:r>
            <a:r>
              <a:rPr lang="en-US" altLang="ko-KR" sz="600" dirty="0" err="1">
                <a:solidFill>
                  <a:srgbClr val="666666"/>
                </a:solidFill>
                <a:latin typeface="Malgun Gothic" pitchFamily="34" charset="0"/>
                <a:ea typeface="Malgun Gothic" pitchFamily="34" charset="-122"/>
                <a:cs typeface="Malgun Gothic" pitchFamily="34" charset="-120"/>
              </a:rPr>
              <a:t>OpenAI</a:t>
            </a:r>
            <a:r>
              <a:rPr lang="en-US" altLang="ko-KR" sz="600" dirty="0">
                <a:solidFill>
                  <a:srgbClr val="666666"/>
                </a:solidFill>
                <a:latin typeface="Malgun Gothic" pitchFamily="34" charset="0"/>
                <a:ea typeface="Malgun Gothic" pitchFamily="34" charset="-122"/>
                <a:cs typeface="Malgun Gothic" pitchFamily="34" charset="-120"/>
              </a:rPr>
              <a:t> ASTRA</a:t>
            </a:r>
            <a:endParaRPr lang="en-US" sz="600" dirty="0">
              <a:solidFill>
                <a:srgbClr val="666666"/>
              </a:solidFill>
              <a:latin typeface="Malgun Gothic" pitchFamily="34" charset="0"/>
              <a:ea typeface="Malgun Gothic" pitchFamily="34" charset="-122"/>
              <a:cs typeface="Malgun Gothic" pitchFamily="34" charset="-120"/>
            </a:endParaRPr>
          </a:p>
          <a:p>
            <a:r>
              <a:rPr lang="en-US" altLang="ko-KR" sz="600" dirty="0">
                <a:solidFill>
                  <a:srgbClr val="555555"/>
                </a:solidFill>
                <a:latin typeface="Noto Sans KR" pitchFamily="34" charset="0"/>
                <a:ea typeface="Noto Sans KR" pitchFamily="34" charset="-122"/>
                <a:cs typeface="Noto Sans KR" pitchFamily="34" charset="-120"/>
              </a:rPr>
              <a:t>[9] </a:t>
            </a:r>
            <a:r>
              <a:rPr lang="en-US" altLang="ko-KR" sz="600" dirty="0">
                <a:solidFill>
                  <a:srgbClr val="777777"/>
                </a:solidFill>
                <a:latin typeface="Arial"/>
              </a:rPr>
              <a:t>Conceptual illustration based on Continuum (Li et al., 2025), arXiv:2511.02230</a:t>
            </a:r>
            <a:endParaRPr lang="en-US" sz="600" dirty="0"/>
          </a:p>
        </p:txBody>
      </p:sp>
      <p:grpSp>
        <p:nvGrpSpPr>
          <p:cNvPr id="25" name="그룹 24"/>
          <p:cNvGrpSpPr/>
          <p:nvPr/>
        </p:nvGrpSpPr>
        <p:grpSpPr>
          <a:xfrm>
            <a:off x="400490" y="4858921"/>
            <a:ext cx="5498869" cy="1340256"/>
            <a:chOff x="503120" y="4611174"/>
            <a:chExt cx="5237018" cy="1206743"/>
          </a:xfrm>
        </p:grpSpPr>
        <p:sp>
          <p:nvSpPr>
            <p:cNvPr id="400" name="Rectangle 3"/>
            <p:cNvSpPr/>
            <p:nvPr/>
          </p:nvSpPr>
          <p:spPr>
            <a:xfrm>
              <a:off x="503120" y="4611174"/>
              <a:ext cx="5237018" cy="1206743"/>
            </a:xfrm>
            <a:prstGeom prst="rect">
              <a:avLst/>
            </a:prstGeom>
            <a:solidFill>
              <a:srgbClr val="FCFCFC"/>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1" name="Rectangle 4"/>
            <p:cNvSpPr/>
            <p:nvPr/>
          </p:nvSpPr>
          <p:spPr>
            <a:xfrm>
              <a:off x="4270857" y="4656516"/>
              <a:ext cx="8313" cy="9618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2" name="Rectangle 5"/>
            <p:cNvSpPr/>
            <p:nvPr/>
          </p:nvSpPr>
          <p:spPr>
            <a:xfrm>
              <a:off x="1251265" y="4682966"/>
              <a:ext cx="91440" cy="83127"/>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3" name="TextBox 402"/>
            <p:cNvSpPr txBox="1"/>
            <p:nvPr/>
          </p:nvSpPr>
          <p:spPr>
            <a:xfrm>
              <a:off x="1384268" y="4669106"/>
              <a:ext cx="1288473" cy="110847"/>
            </a:xfrm>
            <a:prstGeom prst="rect">
              <a:avLst/>
            </a:prstGeom>
            <a:noFill/>
          </p:spPr>
          <p:txBody>
            <a:bodyPr wrap="square" lIns="0" tIns="0" rIns="0" bIns="0" anchor="ctr">
              <a:spAutoFit/>
            </a:bodyPr>
            <a:lstStyle/>
            <a:p>
              <a:pPr algn="l"/>
              <a:r>
                <a:rPr sz="800" b="0" i="0" dirty="0">
                  <a:latin typeface="맑은 고딕"/>
                  <a:ea typeface="맑은 고딕"/>
                </a:rPr>
                <a:t>GPU </a:t>
              </a:r>
              <a:r>
                <a:rPr sz="800" b="0" i="0" dirty="0" err="1">
                  <a:latin typeface="맑은 고딕"/>
                  <a:ea typeface="맑은 고딕"/>
                </a:rPr>
                <a:t>연산</a:t>
              </a:r>
              <a:r>
                <a:rPr sz="800" b="0" i="0" dirty="0">
                  <a:latin typeface="맑은 고딕"/>
                  <a:ea typeface="맑은 고딕"/>
                </a:rPr>
                <a:t> 중</a:t>
              </a:r>
              <a:r>
                <a:rPr lang="en-US" sz="800" b="0" i="0" dirty="0">
                  <a:latin typeface="맑은 고딕"/>
                  <a:ea typeface="맑은 고딕"/>
                </a:rPr>
                <a:t> -</a:t>
              </a:r>
              <a:r>
                <a:rPr sz="800" b="0" i="0" dirty="0">
                  <a:latin typeface="맑은 고딕"/>
                  <a:ea typeface="맑은 고딕"/>
                </a:rPr>
                <a:t> KV </a:t>
              </a:r>
              <a:r>
                <a:rPr sz="800" b="0" i="0" dirty="0" err="1">
                  <a:latin typeface="맑은 고딕"/>
                  <a:ea typeface="맑은 고딕"/>
                </a:rPr>
                <a:t>사용</a:t>
              </a:r>
              <a:endParaRPr sz="800" b="0" i="0" dirty="0">
                <a:latin typeface="맑은 고딕"/>
                <a:ea typeface="맑은 고딕"/>
              </a:endParaRPr>
            </a:p>
          </p:txBody>
        </p:sp>
        <p:sp>
          <p:nvSpPr>
            <p:cNvPr id="404" name="Rectangle 7"/>
            <p:cNvSpPr/>
            <p:nvPr/>
          </p:nvSpPr>
          <p:spPr>
            <a:xfrm>
              <a:off x="2705993" y="4682966"/>
              <a:ext cx="91440" cy="83127"/>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sp>
          <p:nvSpPr>
            <p:cNvPr id="405" name="TextBox 404"/>
            <p:cNvSpPr txBox="1"/>
            <p:nvPr/>
          </p:nvSpPr>
          <p:spPr>
            <a:xfrm>
              <a:off x="2838996" y="4669106"/>
              <a:ext cx="1288473" cy="110847"/>
            </a:xfrm>
            <a:prstGeom prst="rect">
              <a:avLst/>
            </a:prstGeom>
            <a:noFill/>
          </p:spPr>
          <p:txBody>
            <a:bodyPr wrap="square" lIns="0" tIns="0" rIns="0" bIns="0" anchor="ctr">
              <a:spAutoFit/>
            </a:bodyPr>
            <a:lstStyle/>
            <a:p>
              <a:pPr algn="l"/>
              <a:r>
                <a:rPr sz="800" b="0" i="0" dirty="0">
                  <a:latin typeface="맑은 고딕"/>
                  <a:ea typeface="맑은 고딕"/>
                </a:rPr>
                <a:t>GPU </a:t>
              </a:r>
              <a:r>
                <a:rPr sz="800" b="0" i="0" dirty="0" err="1">
                  <a:latin typeface="맑은 고딕"/>
                  <a:ea typeface="맑은 고딕"/>
                </a:rPr>
                <a:t>유휴</a:t>
              </a:r>
              <a:r>
                <a:rPr sz="800" b="0" i="0" dirty="0">
                  <a:latin typeface="맑은 고딕"/>
                  <a:ea typeface="맑은 고딕"/>
                </a:rPr>
                <a:t> </a:t>
              </a:r>
              <a:r>
                <a:rPr lang="en-US" sz="800" b="0" i="0" dirty="0">
                  <a:latin typeface="맑은 고딕"/>
                  <a:ea typeface="맑은 고딕"/>
                </a:rPr>
                <a:t>-</a:t>
              </a:r>
              <a:r>
                <a:rPr sz="800" b="0" i="0" dirty="0">
                  <a:latin typeface="맑은 고딕"/>
                  <a:ea typeface="맑은 고딕"/>
                </a:rPr>
                <a:t> KV </a:t>
              </a:r>
              <a:r>
                <a:rPr sz="800" b="0" i="0" dirty="0" err="1">
                  <a:latin typeface="맑은 고딕"/>
                  <a:ea typeface="맑은 고딕"/>
                </a:rPr>
                <a:t>점유만</a:t>
              </a:r>
              <a:endParaRPr sz="800" b="0" i="0" dirty="0">
                <a:latin typeface="맑은 고딕"/>
                <a:ea typeface="맑은 고딕"/>
              </a:endParaRPr>
            </a:p>
          </p:txBody>
        </p:sp>
        <p:sp>
          <p:nvSpPr>
            <p:cNvPr id="406" name="TextBox 405"/>
            <p:cNvSpPr txBox="1"/>
            <p:nvPr/>
          </p:nvSpPr>
          <p:spPr>
            <a:xfrm>
              <a:off x="707273" y="4849966"/>
              <a:ext cx="557485" cy="232778"/>
            </a:xfrm>
            <a:prstGeom prst="rect">
              <a:avLst/>
            </a:prstGeom>
            <a:noFill/>
          </p:spPr>
          <p:txBody>
            <a:bodyPr wrap="square" lIns="0" tIns="0" rIns="0" bIns="0" anchor="ctr">
              <a:spAutoFit/>
            </a:bodyPr>
            <a:lstStyle/>
            <a:p>
              <a:pPr algn="ctr">
                <a:lnSpc>
                  <a:spcPct val="105000"/>
                </a:lnSpc>
              </a:pPr>
              <a:r>
                <a:rPr sz="800" b="1" i="0" dirty="0">
                  <a:solidFill>
                    <a:srgbClr val="404040"/>
                  </a:solidFill>
                  <a:latin typeface="맑은 고딕"/>
                  <a:ea typeface="맑은 고딕"/>
                </a:rPr>
                <a:t>Agent A</a:t>
              </a:r>
              <a:r>
                <a:rPr lang="en-US" sz="800" b="1" i="0" dirty="0">
                  <a:solidFill>
                    <a:srgbClr val="404040"/>
                  </a:solidFill>
                  <a:latin typeface="맑은 고딕"/>
                  <a:ea typeface="맑은 고딕"/>
                </a:rPr>
                <a:t> </a:t>
              </a:r>
              <a:endParaRPr sz="800" b="1" i="0" dirty="0">
                <a:solidFill>
                  <a:srgbClr val="404040"/>
                </a:solidFill>
                <a:latin typeface="맑은 고딕"/>
                <a:ea typeface="맑은 고딕"/>
              </a:endParaRPr>
            </a:p>
            <a:p>
              <a:pPr algn="ctr">
                <a:lnSpc>
                  <a:spcPct val="105000"/>
                </a:lnSpc>
              </a:pPr>
              <a:r>
                <a:rPr sz="800" b="1" i="0" dirty="0" err="1">
                  <a:solidFill>
                    <a:srgbClr val="404040"/>
                  </a:solidFill>
                  <a:latin typeface="맑은 고딕"/>
                  <a:ea typeface="맑은 고딕"/>
                </a:rPr>
                <a:t>실행</a:t>
              </a:r>
              <a:r>
                <a:rPr sz="800" b="1" i="0" dirty="0">
                  <a:solidFill>
                    <a:srgbClr val="404040"/>
                  </a:solidFill>
                  <a:latin typeface="맑은 고딕"/>
                  <a:ea typeface="맑은 고딕"/>
                </a:rPr>
                <a:t> </a:t>
              </a:r>
              <a:r>
                <a:rPr sz="800" b="1" i="0" dirty="0" err="1">
                  <a:solidFill>
                    <a:srgbClr val="404040"/>
                  </a:solidFill>
                  <a:latin typeface="맑은 고딕"/>
                  <a:ea typeface="맑은 고딕"/>
                </a:rPr>
                <a:t>단계</a:t>
              </a:r>
              <a:endParaRPr sz="800" b="1" i="0" dirty="0">
                <a:solidFill>
                  <a:srgbClr val="404040"/>
                </a:solidFill>
                <a:latin typeface="맑은 고딕"/>
                <a:ea typeface="맑은 고딕"/>
              </a:endParaRPr>
            </a:p>
          </p:txBody>
        </p:sp>
        <p:sp>
          <p:nvSpPr>
            <p:cNvPr id="407" name="Rectangle 10"/>
            <p:cNvSpPr/>
            <p:nvPr/>
          </p:nvSpPr>
          <p:spPr>
            <a:xfrm>
              <a:off x="1251265" y="4852999"/>
              <a:ext cx="415271" cy="226711"/>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추론</a:t>
              </a:r>
            </a:p>
          </p:txBody>
        </p:sp>
        <p:sp>
          <p:nvSpPr>
            <p:cNvPr id="408" name="Rectangle 11"/>
            <p:cNvSpPr/>
            <p:nvPr/>
          </p:nvSpPr>
          <p:spPr>
            <a:xfrm>
              <a:off x="1666536" y="4852999"/>
              <a:ext cx="390844"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도구</a:t>
              </a:r>
            </a:p>
          </p:txBody>
        </p:sp>
        <p:sp>
          <p:nvSpPr>
            <p:cNvPr id="409" name="Rectangle 12"/>
            <p:cNvSpPr/>
            <p:nvPr/>
          </p:nvSpPr>
          <p:spPr>
            <a:xfrm>
              <a:off x="2057381" y="4852999"/>
              <a:ext cx="512983"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대기</a:t>
              </a:r>
            </a:p>
          </p:txBody>
        </p:sp>
        <p:sp>
          <p:nvSpPr>
            <p:cNvPr id="410" name="Rectangle 13"/>
            <p:cNvSpPr/>
            <p:nvPr/>
          </p:nvSpPr>
          <p:spPr>
            <a:xfrm>
              <a:off x="2570364" y="4852999"/>
              <a:ext cx="341988" cy="226711"/>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추론</a:t>
              </a:r>
            </a:p>
          </p:txBody>
        </p:sp>
        <p:sp>
          <p:nvSpPr>
            <p:cNvPr id="411" name="Rectangle 14"/>
            <p:cNvSpPr/>
            <p:nvPr/>
          </p:nvSpPr>
          <p:spPr>
            <a:xfrm>
              <a:off x="2912352" y="4852999"/>
              <a:ext cx="317560"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도구</a:t>
              </a:r>
            </a:p>
          </p:txBody>
        </p:sp>
        <p:sp>
          <p:nvSpPr>
            <p:cNvPr id="412" name="Rectangle 15"/>
            <p:cNvSpPr/>
            <p:nvPr/>
          </p:nvSpPr>
          <p:spPr>
            <a:xfrm>
              <a:off x="3229913" y="4852999"/>
              <a:ext cx="366415" cy="226711"/>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808080"/>
                  </a:solidFill>
                  <a:latin typeface="맑은 고딕"/>
                  <a:ea typeface="맑은 고딕"/>
                </a:rPr>
                <a:t>대기</a:t>
              </a:r>
            </a:p>
          </p:txBody>
        </p:sp>
        <p:sp>
          <p:nvSpPr>
            <p:cNvPr id="413" name="Rectangle 16"/>
            <p:cNvSpPr/>
            <p:nvPr/>
          </p:nvSpPr>
          <p:spPr>
            <a:xfrm>
              <a:off x="3596329" y="4852999"/>
              <a:ext cx="439699" cy="226711"/>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추론</a:t>
              </a:r>
            </a:p>
          </p:txBody>
        </p:sp>
        <p:sp>
          <p:nvSpPr>
            <p:cNvPr id="414" name="TextBox 413"/>
            <p:cNvSpPr txBox="1"/>
            <p:nvPr/>
          </p:nvSpPr>
          <p:spPr>
            <a:xfrm>
              <a:off x="707272" y="5210442"/>
              <a:ext cx="557485" cy="116389"/>
            </a:xfrm>
            <a:prstGeom prst="rect">
              <a:avLst/>
            </a:prstGeom>
            <a:noFill/>
          </p:spPr>
          <p:txBody>
            <a:bodyPr wrap="square" lIns="0" tIns="0" rIns="0" bIns="0" anchor="ctr">
              <a:spAutoFit/>
            </a:bodyPr>
            <a:lstStyle/>
            <a:p>
              <a:pPr algn="ctr">
                <a:lnSpc>
                  <a:spcPct val="105000"/>
                </a:lnSpc>
              </a:pPr>
              <a:r>
                <a:rPr sz="800" b="1" i="0" dirty="0">
                  <a:solidFill>
                    <a:srgbClr val="7B1A1A"/>
                  </a:solidFill>
                  <a:latin typeface="맑은 고딕"/>
                  <a:ea typeface="맑은 고딕"/>
                </a:rPr>
                <a:t>KV </a:t>
              </a:r>
              <a:r>
                <a:rPr sz="800" b="1" i="0" dirty="0" err="1">
                  <a:solidFill>
                    <a:srgbClr val="7B1A1A"/>
                  </a:solidFill>
                  <a:latin typeface="맑은 고딕"/>
                  <a:ea typeface="맑은 고딕"/>
                </a:rPr>
                <a:t>캐시</a:t>
              </a:r>
              <a:endParaRPr lang="en-US" sz="800" b="1" i="0" dirty="0">
                <a:solidFill>
                  <a:srgbClr val="7B1A1A"/>
                </a:solidFill>
                <a:latin typeface="맑은 고딕"/>
                <a:ea typeface="맑은 고딕"/>
              </a:endParaRPr>
            </a:p>
          </p:txBody>
        </p:sp>
        <p:sp>
          <p:nvSpPr>
            <p:cNvPr id="415" name="Rectangle 18"/>
            <p:cNvSpPr/>
            <p:nvPr/>
          </p:nvSpPr>
          <p:spPr>
            <a:xfrm>
              <a:off x="1251265" y="5155280"/>
              <a:ext cx="415271" cy="226711"/>
            </a:xfrm>
            <a:prstGeom prst="rect">
              <a:avLst/>
            </a:prstGeom>
            <a:solidFill>
              <a:srgbClr val="DAE8F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사용</a:t>
              </a:r>
            </a:p>
          </p:txBody>
        </p:sp>
        <p:sp>
          <p:nvSpPr>
            <p:cNvPr id="416" name="Rectangle 19"/>
            <p:cNvSpPr/>
            <p:nvPr/>
          </p:nvSpPr>
          <p:spPr>
            <a:xfrm>
              <a:off x="1666536" y="5155280"/>
              <a:ext cx="903826" cy="226711"/>
            </a:xfrm>
            <a:prstGeom prst="rect">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7B1A1A"/>
                  </a:solidFill>
                  <a:latin typeface="맑은 고딕"/>
                  <a:ea typeface="맑은 고딕"/>
                </a:rPr>
                <a:t>유휴</a:t>
              </a:r>
            </a:p>
          </p:txBody>
        </p:sp>
        <p:sp>
          <p:nvSpPr>
            <p:cNvPr id="417" name="Rectangle 20"/>
            <p:cNvSpPr/>
            <p:nvPr/>
          </p:nvSpPr>
          <p:spPr>
            <a:xfrm>
              <a:off x="2570364" y="5155280"/>
              <a:ext cx="341988" cy="226711"/>
            </a:xfrm>
            <a:prstGeom prst="rect">
              <a:avLst/>
            </a:prstGeom>
            <a:solidFill>
              <a:srgbClr val="DAE8F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사용</a:t>
              </a:r>
            </a:p>
          </p:txBody>
        </p:sp>
        <p:sp>
          <p:nvSpPr>
            <p:cNvPr id="418" name="Rectangle 21"/>
            <p:cNvSpPr/>
            <p:nvPr/>
          </p:nvSpPr>
          <p:spPr>
            <a:xfrm>
              <a:off x="2912352" y="5155280"/>
              <a:ext cx="683976" cy="226711"/>
            </a:xfrm>
            <a:prstGeom prst="rect">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7B1A1A"/>
                  </a:solidFill>
                  <a:latin typeface="맑은 고딕"/>
                  <a:ea typeface="맑은 고딕"/>
                </a:rPr>
                <a:t>유휴</a:t>
              </a:r>
            </a:p>
          </p:txBody>
        </p:sp>
        <p:sp>
          <p:nvSpPr>
            <p:cNvPr id="419" name="Rectangle 22"/>
            <p:cNvSpPr/>
            <p:nvPr/>
          </p:nvSpPr>
          <p:spPr>
            <a:xfrm>
              <a:off x="3596329" y="5155280"/>
              <a:ext cx="439699" cy="226711"/>
            </a:xfrm>
            <a:prstGeom prst="rect">
              <a:avLst/>
            </a:prstGeom>
            <a:solidFill>
              <a:srgbClr val="DAE8F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사용</a:t>
              </a:r>
            </a:p>
          </p:txBody>
        </p:sp>
        <p:sp>
          <p:nvSpPr>
            <p:cNvPr id="420" name="Rectangle 23"/>
            <p:cNvSpPr/>
            <p:nvPr/>
          </p:nvSpPr>
          <p:spPr>
            <a:xfrm>
              <a:off x="1251265" y="5155280"/>
              <a:ext cx="2784764" cy="226711"/>
            </a:xfrm>
            <a:prstGeom prst="rect">
              <a:avLst/>
            </a:prstGeom>
            <a:no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000"/>
            </a:p>
          </p:txBody>
        </p:sp>
        <p:cxnSp>
          <p:nvCxnSpPr>
            <p:cNvPr id="421" name="Connector 24"/>
            <p:cNvCxnSpPr/>
            <p:nvPr/>
          </p:nvCxnSpPr>
          <p:spPr>
            <a:xfrm>
              <a:off x="1666536"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cxnSp>
          <p:nvCxnSpPr>
            <p:cNvPr id="422" name="Connector 25"/>
            <p:cNvCxnSpPr/>
            <p:nvPr/>
          </p:nvCxnSpPr>
          <p:spPr>
            <a:xfrm>
              <a:off x="2570364"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cxnSp>
          <p:nvCxnSpPr>
            <p:cNvPr id="423" name="Connector 26"/>
            <p:cNvCxnSpPr/>
            <p:nvPr/>
          </p:nvCxnSpPr>
          <p:spPr>
            <a:xfrm>
              <a:off x="2912352"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cxnSp>
          <p:nvCxnSpPr>
            <p:cNvPr id="424" name="Connector 27"/>
            <p:cNvCxnSpPr/>
            <p:nvPr/>
          </p:nvCxnSpPr>
          <p:spPr>
            <a:xfrm>
              <a:off x="3596329" y="5079710"/>
              <a:ext cx="0" cy="75570"/>
            </a:xfrm>
            <a:prstGeom prst="line">
              <a:avLst/>
            </a:prstGeom>
            <a:ln w="9525">
              <a:solidFill>
                <a:srgbClr val="BFBFBF"/>
              </a:solidFill>
              <a:prstDash val="sysDash"/>
            </a:ln>
          </p:spPr>
          <p:style>
            <a:lnRef idx="2">
              <a:schemeClr val="accent1"/>
            </a:lnRef>
            <a:fillRef idx="0">
              <a:schemeClr val="accent1"/>
            </a:fillRef>
            <a:effectRef idx="1">
              <a:schemeClr val="accent1"/>
            </a:effectRef>
            <a:fontRef idx="minor">
              <a:schemeClr val="tx1"/>
            </a:fontRef>
          </p:style>
        </p:cxnSp>
        <p:sp>
          <p:nvSpPr>
            <p:cNvPr id="425" name="TextBox 424"/>
            <p:cNvSpPr txBox="1"/>
            <p:nvPr/>
          </p:nvSpPr>
          <p:spPr>
            <a:xfrm>
              <a:off x="2052884" y="5622092"/>
              <a:ext cx="1229921" cy="138558"/>
            </a:xfrm>
            <a:prstGeom prst="rect">
              <a:avLst/>
            </a:prstGeom>
            <a:noFill/>
          </p:spPr>
          <p:txBody>
            <a:bodyPr wrap="square" lIns="0" tIns="0" rIns="0" bIns="0" anchor="t">
              <a:spAutoFit/>
            </a:bodyPr>
            <a:lstStyle/>
            <a:p>
              <a:pPr algn="l">
                <a:lnSpc>
                  <a:spcPct val="125000"/>
                </a:lnSpc>
              </a:pPr>
              <a:r>
                <a:rPr lang="ko-KR" altLang="en-US" sz="800" b="1" i="0" dirty="0">
                  <a:solidFill>
                    <a:srgbClr val="0066FF"/>
                  </a:solidFill>
                  <a:latin typeface="맑은 고딕" panose="020B0503020000020004" pitchFamily="50" charset="-127"/>
                  <a:ea typeface="맑은 고딕" panose="020B0503020000020004" pitchFamily="50" charset="-127"/>
                </a:rPr>
                <a:t>→ </a:t>
              </a:r>
              <a:r>
                <a:rPr sz="800" b="1" i="0" dirty="0">
                  <a:solidFill>
                    <a:srgbClr val="0066FF"/>
                  </a:solidFill>
                  <a:latin typeface="맑은 고딕"/>
                  <a:ea typeface="맑은 고딕"/>
                </a:rPr>
                <a:t>GPU </a:t>
              </a:r>
              <a:r>
                <a:rPr sz="800" b="1" i="0" dirty="0" err="1">
                  <a:solidFill>
                    <a:srgbClr val="0066FF"/>
                  </a:solidFill>
                  <a:latin typeface="맑은 고딕"/>
                  <a:ea typeface="맑은 고딕"/>
                </a:rPr>
                <a:t>연산</a:t>
              </a:r>
              <a:r>
                <a:rPr sz="800" b="1" i="0" dirty="0">
                  <a:solidFill>
                    <a:srgbClr val="0066FF"/>
                  </a:solidFill>
                  <a:latin typeface="맑은 고딕"/>
                  <a:ea typeface="맑은 고딕"/>
                </a:rPr>
                <a:t> 4.9초 (43%)</a:t>
              </a:r>
            </a:p>
          </p:txBody>
        </p:sp>
        <p:sp>
          <p:nvSpPr>
            <p:cNvPr id="426" name="TextBox 425"/>
            <p:cNvSpPr txBox="1"/>
            <p:nvPr/>
          </p:nvSpPr>
          <p:spPr>
            <a:xfrm>
              <a:off x="4452633" y="4675756"/>
              <a:ext cx="1124185" cy="124702"/>
            </a:xfrm>
            <a:prstGeom prst="rect">
              <a:avLst/>
            </a:prstGeom>
            <a:noFill/>
          </p:spPr>
          <p:txBody>
            <a:bodyPr wrap="square" lIns="0" tIns="0" rIns="0" bIns="0" anchor="ctr">
              <a:spAutoFit/>
            </a:bodyPr>
            <a:lstStyle/>
            <a:p>
              <a:pPr algn="ctr"/>
              <a:r>
                <a:rPr sz="900" b="1" i="0" dirty="0">
                  <a:solidFill>
                    <a:srgbClr val="404040"/>
                  </a:solidFill>
                  <a:latin typeface="맑은 고딕"/>
                  <a:ea typeface="맑은 고딕"/>
                </a:rPr>
                <a:t>HBM </a:t>
              </a:r>
              <a:r>
                <a:rPr sz="900" b="1" i="0" dirty="0" err="1">
                  <a:solidFill>
                    <a:srgbClr val="404040"/>
                  </a:solidFill>
                  <a:latin typeface="맑은 고딕"/>
                  <a:ea typeface="맑은 고딕"/>
                </a:rPr>
                <a:t>상주</a:t>
              </a:r>
              <a:r>
                <a:rPr sz="900" b="1" i="0" dirty="0">
                  <a:solidFill>
                    <a:srgbClr val="404040"/>
                  </a:solidFill>
                  <a:latin typeface="맑은 고딕"/>
                  <a:ea typeface="맑은 고딕"/>
                </a:rPr>
                <a:t> KV </a:t>
              </a:r>
              <a:r>
                <a:rPr sz="900" b="1" i="0" dirty="0" err="1">
                  <a:solidFill>
                    <a:srgbClr val="404040"/>
                  </a:solidFill>
                  <a:latin typeface="맑은 고딕"/>
                  <a:ea typeface="맑은 고딕"/>
                </a:rPr>
                <a:t>캐시</a:t>
              </a:r>
              <a:endParaRPr sz="900" b="1" i="0" dirty="0">
                <a:solidFill>
                  <a:srgbClr val="404040"/>
                </a:solidFill>
                <a:latin typeface="맑은 고딕"/>
                <a:ea typeface="맑은 고딕"/>
              </a:endParaRPr>
            </a:p>
          </p:txBody>
        </p:sp>
        <p:sp>
          <p:nvSpPr>
            <p:cNvPr id="427" name="Rectangle 30"/>
            <p:cNvSpPr/>
            <p:nvPr/>
          </p:nvSpPr>
          <p:spPr>
            <a:xfrm>
              <a:off x="4725985" y="4870956"/>
              <a:ext cx="581891" cy="302281"/>
            </a:xfrm>
            <a:prstGeom prst="rect">
              <a:avLst/>
            </a:prstGeom>
            <a:solidFill>
              <a:srgbClr val="FDECEC"/>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7B1A1A"/>
                  </a:solidFill>
                  <a:latin typeface="맑은 고딕"/>
                  <a:ea typeface="맑은 고딕"/>
                </a:rPr>
                <a:t>유휴 57%</a:t>
              </a:r>
            </a:p>
          </p:txBody>
        </p:sp>
        <p:sp>
          <p:nvSpPr>
            <p:cNvPr id="428" name="Rectangle 31"/>
            <p:cNvSpPr/>
            <p:nvPr/>
          </p:nvSpPr>
          <p:spPr>
            <a:xfrm>
              <a:off x="4725985" y="5173237"/>
              <a:ext cx="581891" cy="226711"/>
            </a:xfrm>
            <a:prstGeom prst="rect">
              <a:avLst/>
            </a:prstGeom>
            <a:solidFill>
              <a:srgbClr val="DAE8F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1F4E79"/>
                  </a:solidFill>
                  <a:latin typeface="맑은 고딕"/>
                  <a:ea typeface="맑은 고딕"/>
                </a:rPr>
                <a:t>사용 43%</a:t>
              </a:r>
            </a:p>
          </p:txBody>
        </p:sp>
        <p:cxnSp>
          <p:nvCxnSpPr>
            <p:cNvPr id="20" name="직선 연결선 19"/>
            <p:cNvCxnSpPr/>
            <p:nvPr/>
          </p:nvCxnSpPr>
          <p:spPr>
            <a:xfrm>
              <a:off x="1251265" y="5509101"/>
              <a:ext cx="2784763" cy="0"/>
            </a:xfrm>
            <a:prstGeom prst="line">
              <a:avLst/>
            </a:prstGeom>
            <a:ln>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38" name="TextBox 437"/>
            <p:cNvSpPr txBox="1"/>
            <p:nvPr/>
          </p:nvSpPr>
          <p:spPr>
            <a:xfrm>
              <a:off x="2029606" y="5452120"/>
              <a:ext cx="1156867" cy="138558"/>
            </a:xfrm>
            <a:prstGeom prst="rect">
              <a:avLst/>
            </a:prstGeom>
            <a:solidFill>
              <a:schemeClr val="bg1"/>
            </a:solidFill>
          </p:spPr>
          <p:txBody>
            <a:bodyPr wrap="square" lIns="0" tIns="0" rIns="0" bIns="0" anchor="t">
              <a:spAutoFit/>
            </a:bodyPr>
            <a:lstStyle/>
            <a:p>
              <a:pPr algn="ctr">
                <a:lnSpc>
                  <a:spcPct val="125000"/>
                </a:lnSpc>
              </a:pPr>
              <a:r>
                <a:rPr sz="800" b="1" i="0" dirty="0">
                  <a:solidFill>
                    <a:srgbClr val="404040"/>
                  </a:solidFill>
                  <a:latin typeface="맑은 고딕"/>
                  <a:ea typeface="맑은 고딕"/>
                </a:rPr>
                <a:t>HBM </a:t>
              </a:r>
              <a:r>
                <a:rPr sz="800" b="1" i="0" dirty="0" err="1">
                  <a:solidFill>
                    <a:srgbClr val="404040"/>
                  </a:solidFill>
                  <a:latin typeface="맑은 고딕"/>
                  <a:ea typeface="맑은 고딕"/>
                </a:rPr>
                <a:t>점유</a:t>
              </a:r>
              <a:r>
                <a:rPr sz="800" b="1" i="0" dirty="0">
                  <a:solidFill>
                    <a:srgbClr val="404040"/>
                  </a:solidFill>
                  <a:latin typeface="맑은 고딕"/>
                  <a:ea typeface="맑은 고딕"/>
                </a:rPr>
                <a:t> 11.4초 (100%)</a:t>
              </a:r>
            </a:p>
          </p:txBody>
        </p:sp>
      </p:grpSp>
    </p:spTree>
    <p:extLst>
      <p:ext uri="{BB962C8B-B14F-4D97-AF65-F5344CB8AC3E}">
        <p14:creationId xmlns:p14="http://schemas.microsoft.com/office/powerpoint/2010/main" val="110771788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필요성</a:t>
            </a:r>
          </a:p>
        </p:txBody>
      </p:sp>
      <p:sp>
        <p:nvSpPr>
          <p:cNvPr id="55" name="모서리가 둥근 직사각형 54"/>
          <p:cNvSpPr/>
          <p:nvPr/>
        </p:nvSpPr>
        <p:spPr>
          <a:xfrm>
            <a:off x="6172198" y="899161"/>
            <a:ext cx="5830571" cy="4625758"/>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모서리가 둥근 직사각형 55"/>
          <p:cNvSpPr/>
          <p:nvPr/>
        </p:nvSpPr>
        <p:spPr>
          <a:xfrm>
            <a:off x="234948" y="899160"/>
            <a:ext cx="5830571" cy="5492839"/>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803967" y="730916"/>
            <a:ext cx="4716897"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미래 시장 수요 대응을 위한 연구 필요 </a:t>
            </a:r>
            <a:endParaRPr lang="en-US" altLang="ko-KR" sz="1400" b="1" dirty="0"/>
          </a:p>
        </p:txBody>
      </p:sp>
      <p:sp>
        <p:nvSpPr>
          <p:cNvPr id="59" name="직사각형 58"/>
          <p:cNvSpPr/>
          <p:nvPr/>
        </p:nvSpPr>
        <p:spPr>
          <a:xfrm>
            <a:off x="6943438" y="730916"/>
            <a:ext cx="4288088"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기존 </a:t>
            </a:r>
            <a:r>
              <a:rPr lang="en-US" altLang="ko-KR" sz="1400" b="1" dirty="0"/>
              <a:t>AI SW </a:t>
            </a:r>
            <a:r>
              <a:rPr lang="ko-KR" altLang="en-US" sz="1400" b="1" dirty="0"/>
              <a:t>역할의 한계</a:t>
            </a:r>
          </a:p>
        </p:txBody>
      </p:sp>
      <p:sp>
        <p:nvSpPr>
          <p:cNvPr id="4" name="실행 단추: 앞으로 또는 다음 3">
            <a:hlinkClick r:id="rId3" action="ppaction://hlinksldjump" highlightClick="1"/>
          </p:cNvPr>
          <p:cNvSpPr/>
          <p:nvPr/>
        </p:nvSpPr>
        <p:spPr>
          <a:xfrm>
            <a:off x="7557747" y="205641"/>
            <a:ext cx="220978" cy="22859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p:cNvSpPr txBox="1"/>
          <p:nvPr/>
        </p:nvSpPr>
        <p:spPr>
          <a:xfrm>
            <a:off x="6382851" y="205641"/>
            <a:ext cx="1174896" cy="215444"/>
          </a:xfrm>
          <a:prstGeom prst="rect">
            <a:avLst/>
          </a:prstGeom>
          <a:noFill/>
        </p:spPr>
        <p:txBody>
          <a:bodyPr wrap="square" rtlCol="0">
            <a:spAutoFit/>
          </a:bodyPr>
          <a:lstStyle/>
          <a:p>
            <a:r>
              <a:rPr lang="en-US" altLang="ko-KR" sz="800" b="1" dirty="0">
                <a:solidFill>
                  <a:schemeClr val="tx1">
                    <a:lumMod val="50000"/>
                    <a:lumOff val="50000"/>
                  </a:schemeClr>
                </a:solidFill>
              </a:rPr>
              <a:t>System </a:t>
            </a:r>
            <a:r>
              <a:rPr lang="ko-KR" altLang="en-US" sz="800" b="1" dirty="0">
                <a:solidFill>
                  <a:schemeClr val="tx1">
                    <a:lumMod val="50000"/>
                    <a:lumOff val="50000"/>
                  </a:schemeClr>
                </a:solidFill>
              </a:rPr>
              <a:t>연구 필요성</a:t>
            </a:r>
          </a:p>
        </p:txBody>
      </p:sp>
      <p:sp>
        <p:nvSpPr>
          <p:cNvPr id="111" name="TextBox 110"/>
          <p:cNvSpPr txBox="1"/>
          <p:nvPr/>
        </p:nvSpPr>
        <p:spPr>
          <a:xfrm>
            <a:off x="264303" y="1147570"/>
            <a:ext cx="5771860" cy="333617"/>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latin typeface="+mj-ea"/>
                <a:ea typeface="+mj-ea"/>
              </a:rPr>
              <a:t>■ </a:t>
            </a:r>
            <a:r>
              <a:rPr lang="ko-KR" altLang="en-US" sz="1200" b="1" dirty="0">
                <a:latin typeface="+mj-ea"/>
                <a:ea typeface="+mj-ea"/>
              </a:rPr>
              <a:t>향후 어떤 메모리</a:t>
            </a:r>
            <a:r>
              <a:rPr lang="en-US" altLang="ko-KR" sz="1200" b="1" dirty="0">
                <a:latin typeface="+mj-ea"/>
                <a:ea typeface="+mj-ea"/>
              </a:rPr>
              <a:t> </a:t>
            </a:r>
            <a:r>
              <a:rPr lang="ko-KR" altLang="en-US" sz="1200" b="1" dirty="0">
                <a:latin typeface="+mj-ea"/>
                <a:ea typeface="+mj-ea"/>
              </a:rPr>
              <a:t>제품의 수요가 증가할지 불확실 </a:t>
            </a:r>
            <a:r>
              <a:rPr lang="en-US" altLang="ko-KR" sz="1200" b="1" dirty="0">
                <a:latin typeface="+mj-ea"/>
                <a:ea typeface="+mj-ea"/>
              </a:rPr>
              <a:t>→ </a:t>
            </a:r>
            <a:r>
              <a:rPr lang="ko-KR" altLang="en-US" sz="1200" b="1" dirty="0">
                <a:latin typeface="+mj-ea"/>
                <a:ea typeface="+mj-ea"/>
              </a:rPr>
              <a:t>선제적 솔루션 준비 필요</a:t>
            </a:r>
            <a:endParaRPr lang="en-US" altLang="ko-KR" sz="1200" b="1" dirty="0">
              <a:solidFill>
                <a:srgbClr val="222222"/>
              </a:solidFill>
              <a:latin typeface="+mj-ea"/>
              <a:ea typeface="+mj-ea"/>
            </a:endParaRPr>
          </a:p>
        </p:txBody>
      </p:sp>
      <p:sp>
        <p:nvSpPr>
          <p:cNvPr id="112" name="TextBox 111"/>
          <p:cNvSpPr txBox="1"/>
          <p:nvPr/>
        </p:nvSpPr>
        <p:spPr>
          <a:xfrm>
            <a:off x="293659" y="3983212"/>
            <a:ext cx="5771860" cy="610616"/>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b="1" dirty="0"/>
              <a:t>■ 연구소의 역할</a:t>
            </a:r>
            <a:r>
              <a:rPr lang="en-US" altLang="ko-KR" sz="1200" b="1" dirty="0"/>
              <a:t>: </a:t>
            </a:r>
            <a:r>
              <a:rPr lang="ko-KR" altLang="en-US" sz="1200" b="1" dirty="0"/>
              <a:t>시스템 관점에서 시장</a:t>
            </a:r>
            <a:r>
              <a:rPr lang="en-US" altLang="ko-KR" sz="1200" b="1" dirty="0"/>
              <a:t>, </a:t>
            </a:r>
            <a:r>
              <a:rPr lang="ko-KR" altLang="en-US" sz="1200" b="1" dirty="0"/>
              <a:t>고객이 필요로 하는 것을 선제 파악하고 당사 차세대 </a:t>
            </a:r>
            <a:r>
              <a:rPr lang="en-US" altLang="ko-KR" sz="1200" b="1" dirty="0"/>
              <a:t>Device </a:t>
            </a:r>
            <a:r>
              <a:rPr lang="ko-KR" altLang="en-US" sz="1200" b="1" dirty="0"/>
              <a:t>개발 방향을 제시 </a:t>
            </a:r>
            <a:endParaRPr lang="en-US" altLang="ko-KR" sz="1200" b="1" strike="sngStrike" dirty="0"/>
          </a:p>
        </p:txBody>
      </p:sp>
      <p:sp>
        <p:nvSpPr>
          <p:cNvPr id="118" name="TextBox 117"/>
          <p:cNvSpPr txBox="1"/>
          <p:nvPr/>
        </p:nvSpPr>
        <p:spPr>
          <a:xfrm>
            <a:off x="6201552" y="3315560"/>
            <a:ext cx="5771860" cy="369332"/>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이기종 메모리를 고려하는 </a:t>
            </a:r>
            <a:r>
              <a:rPr lang="en-US" altLang="ko-KR" sz="1200" b="1" dirty="0"/>
              <a:t>AI </a:t>
            </a:r>
            <a:r>
              <a:rPr lang="ko-KR" altLang="en-US" sz="1200" b="1" dirty="0"/>
              <a:t>추론 런타임</a:t>
            </a:r>
            <a:r>
              <a:rPr lang="en-US" altLang="ko-KR" sz="1200" b="1" dirty="0"/>
              <a:t>(</a:t>
            </a:r>
            <a:r>
              <a:rPr lang="ko-KR" altLang="en-US" sz="1200" b="1" dirty="0" err="1"/>
              <a:t>서빙</a:t>
            </a:r>
            <a:r>
              <a:rPr lang="ko-KR" altLang="en-US" sz="1200" b="1" dirty="0"/>
              <a:t> 엔진</a:t>
            </a:r>
            <a:r>
              <a:rPr lang="en-US" altLang="ko-KR" sz="1200" b="1" dirty="0"/>
              <a:t>) </a:t>
            </a:r>
            <a:r>
              <a:rPr lang="ko-KR" altLang="en-US" sz="1200" b="1" dirty="0"/>
              <a:t>부재</a:t>
            </a:r>
            <a:endParaRPr lang="en-US" altLang="ko-KR" sz="1200" b="1" dirty="0"/>
          </a:p>
        </p:txBody>
      </p:sp>
      <p:sp>
        <p:nvSpPr>
          <p:cNvPr id="8" name="TextBox 7">
            <a:extLst>
              <a:ext uri="{FF2B5EF4-FFF2-40B4-BE49-F238E27FC236}">
                <a16:creationId xmlns:a16="http://schemas.microsoft.com/office/drawing/2014/main" id="{3E426D35-55AF-4F94-AC6D-261857A848AB}"/>
              </a:ext>
            </a:extLst>
          </p:cNvPr>
          <p:cNvSpPr txBox="1"/>
          <p:nvPr/>
        </p:nvSpPr>
        <p:spPr>
          <a:xfrm>
            <a:off x="6311736" y="5829014"/>
            <a:ext cx="5660287" cy="675634"/>
          </a:xfrm>
          <a:prstGeom prst="rect">
            <a:avLst/>
          </a:prstGeom>
          <a:noFill/>
        </p:spPr>
        <p:txBody>
          <a:bodyPr wrap="square" rtlCol="0">
            <a:spAutoFit/>
          </a:bodyPr>
          <a:lstStyle/>
          <a:p>
            <a:pPr algn="ctr">
              <a:lnSpc>
                <a:spcPct val="125000"/>
              </a:lnSpc>
            </a:pPr>
            <a:r>
              <a:rPr lang="ko-KR" altLang="en-US" sz="1600" b="1" dirty="0">
                <a:solidFill>
                  <a:srgbClr val="0000FF"/>
                </a:solidFill>
              </a:rPr>
              <a:t>이기종 메모리를 활용하여 </a:t>
            </a:r>
            <a:endParaRPr lang="en-US" altLang="ko-KR" sz="1600" b="1" dirty="0">
              <a:solidFill>
                <a:srgbClr val="0000FF"/>
              </a:solidFill>
            </a:endParaRPr>
          </a:p>
          <a:p>
            <a:pPr algn="ctr">
              <a:lnSpc>
                <a:spcPct val="125000"/>
              </a:lnSpc>
            </a:pPr>
            <a:r>
              <a:rPr lang="en-US" altLang="ko-KR" sz="1600" b="1" dirty="0">
                <a:solidFill>
                  <a:srgbClr val="0000FF"/>
                </a:solidFill>
              </a:rPr>
              <a:t>LLM </a:t>
            </a:r>
            <a:r>
              <a:rPr lang="ko-KR" altLang="en-US" sz="1600" b="1" dirty="0">
                <a:solidFill>
                  <a:srgbClr val="0000FF"/>
                </a:solidFill>
              </a:rPr>
              <a:t>추론 처리량을 향상시키는 </a:t>
            </a:r>
            <a:r>
              <a:rPr lang="en-US" altLang="ko-KR" sz="1600" b="1" dirty="0">
                <a:solidFill>
                  <a:srgbClr val="0000FF"/>
                </a:solidFill>
              </a:rPr>
              <a:t>SW </a:t>
            </a:r>
            <a:r>
              <a:rPr lang="ko-KR" altLang="en-US" sz="1600" b="1" dirty="0">
                <a:solidFill>
                  <a:srgbClr val="0000FF"/>
                </a:solidFill>
              </a:rPr>
              <a:t>연구 개발 필요 </a:t>
            </a:r>
          </a:p>
        </p:txBody>
      </p:sp>
      <p:sp>
        <p:nvSpPr>
          <p:cNvPr id="2" name="화살표: 아래쪽 1">
            <a:extLst>
              <a:ext uri="{FF2B5EF4-FFF2-40B4-BE49-F238E27FC236}">
                <a16:creationId xmlns:a16="http://schemas.microsoft.com/office/drawing/2014/main" id="{B625C597-E67B-4695-9BC8-B8F2F6B8E5EB}"/>
              </a:ext>
            </a:extLst>
          </p:cNvPr>
          <p:cNvSpPr/>
          <p:nvPr/>
        </p:nvSpPr>
        <p:spPr>
          <a:xfrm>
            <a:off x="8857640" y="5605896"/>
            <a:ext cx="651672" cy="20133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 72">
            <a:extLst>
              <a:ext uri="{FF2B5EF4-FFF2-40B4-BE49-F238E27FC236}">
                <a16:creationId xmlns:a16="http://schemas.microsoft.com/office/drawing/2014/main" id="{6A49CD4B-9085-4E60-A50E-F364EF7FACD3}"/>
              </a:ext>
            </a:extLst>
          </p:cNvPr>
          <p:cNvSpPr/>
          <p:nvPr/>
        </p:nvSpPr>
        <p:spPr>
          <a:xfrm>
            <a:off x="355600" y="6529437"/>
            <a:ext cx="11825224" cy="406400"/>
          </a:xfrm>
          <a:prstGeom prst="rect">
            <a:avLst/>
          </a:prstGeom>
          <a:noFill/>
          <a:ln/>
        </p:spPr>
        <p:txBody>
          <a:bodyPr wrap="square" lIns="0" tIns="0" rIns="0" bIns="0" rtlCol="0" anchor="t">
            <a:normAutofit/>
          </a:bodyPr>
          <a:lstStyle/>
          <a:p>
            <a:pPr marL="0" indent="0" algn="l">
              <a:lnSpc>
                <a:spcPts val="1500"/>
              </a:lnSpc>
              <a:buNone/>
            </a:pPr>
            <a:endParaRPr lang="en-US" sz="800" dirty="0"/>
          </a:p>
        </p:txBody>
      </p:sp>
      <p:sp>
        <p:nvSpPr>
          <p:cNvPr id="47" name="Rectangle 64">
            <a:extLst>
              <a:ext uri="{FF2B5EF4-FFF2-40B4-BE49-F238E27FC236}">
                <a16:creationId xmlns:a16="http://schemas.microsoft.com/office/drawing/2014/main" id="{8DCA8C13-6BCB-483C-8687-92D69655611B}"/>
              </a:ext>
            </a:extLst>
          </p:cNvPr>
          <p:cNvSpPr/>
          <p:nvPr/>
        </p:nvSpPr>
        <p:spPr>
          <a:xfrm>
            <a:off x="6411954" y="3745796"/>
            <a:ext cx="5212080" cy="27432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dirty="0">
                <a:solidFill>
                  <a:srgbClr val="000000"/>
                </a:solidFill>
                <a:latin typeface="맑은 고딕"/>
                <a:ea typeface="맑은 고딕"/>
                <a:cs typeface="맑은 고딕"/>
              </a:rPr>
              <a:t>AI </a:t>
            </a:r>
            <a:r>
              <a:rPr sz="1000" b="1" dirty="0" err="1">
                <a:solidFill>
                  <a:srgbClr val="000000"/>
                </a:solidFill>
                <a:latin typeface="맑은 고딕"/>
                <a:ea typeface="맑은 고딕"/>
                <a:cs typeface="맑은 고딕"/>
              </a:rPr>
              <a:t>워크로드</a:t>
            </a:r>
            <a:r>
              <a:rPr lang="en-US" sz="1000" b="1" dirty="0">
                <a:solidFill>
                  <a:srgbClr val="000000"/>
                </a:solidFill>
                <a:latin typeface="맑은 고딕"/>
                <a:ea typeface="맑은 고딕"/>
                <a:cs typeface="맑은 고딕"/>
              </a:rPr>
              <a:t> (</a:t>
            </a:r>
            <a:r>
              <a:rPr lang="ko-KR" altLang="en-US" sz="1000" b="1" dirty="0">
                <a:solidFill>
                  <a:srgbClr val="000000"/>
                </a:solidFill>
                <a:latin typeface="맑은 고딕"/>
                <a:ea typeface="맑은 고딕"/>
                <a:cs typeface="맑은 고딕"/>
              </a:rPr>
              <a:t>자원 수요 동적 변동</a:t>
            </a:r>
            <a:r>
              <a:rPr lang="en-US" altLang="ko-KR" sz="1000" b="1" dirty="0">
                <a:solidFill>
                  <a:srgbClr val="000000"/>
                </a:solidFill>
                <a:latin typeface="맑은 고딕"/>
                <a:ea typeface="맑은 고딕"/>
                <a:cs typeface="맑은 고딕"/>
              </a:rPr>
              <a:t>)</a:t>
            </a:r>
            <a:endParaRPr sz="1000" b="1" dirty="0">
              <a:solidFill>
                <a:srgbClr val="000000"/>
              </a:solidFill>
              <a:latin typeface="맑은 고딕"/>
              <a:ea typeface="맑은 고딕"/>
              <a:cs typeface="맑은 고딕"/>
            </a:endParaRPr>
          </a:p>
        </p:txBody>
      </p:sp>
      <p:cxnSp>
        <p:nvCxnSpPr>
          <p:cNvPr id="48" name="Connector 65">
            <a:extLst>
              <a:ext uri="{FF2B5EF4-FFF2-40B4-BE49-F238E27FC236}">
                <a16:creationId xmlns:a16="http://schemas.microsoft.com/office/drawing/2014/main" id="{A686614B-E1CA-4E7B-A5A4-A47937F3C5BB}"/>
              </a:ext>
            </a:extLst>
          </p:cNvPr>
          <p:cNvCxnSpPr>
            <a:stCxn id="47" idx="2"/>
          </p:cNvCxnSpPr>
          <p:nvPr/>
        </p:nvCxnSpPr>
        <p:spPr>
          <a:xfrm>
            <a:off x="9017994" y="4020116"/>
            <a:ext cx="0" cy="179026"/>
          </a:xfrm>
          <a:prstGeom prst="line">
            <a:avLst/>
          </a:prstGeom>
          <a:ln w="19050">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9" name="Rectangle 66">
            <a:extLst>
              <a:ext uri="{FF2B5EF4-FFF2-40B4-BE49-F238E27FC236}">
                <a16:creationId xmlns:a16="http://schemas.microsoft.com/office/drawing/2014/main" id="{45CE6021-533E-4D48-BA43-BBA13E9CF3CA}"/>
              </a:ext>
            </a:extLst>
          </p:cNvPr>
          <p:cNvSpPr/>
          <p:nvPr/>
        </p:nvSpPr>
        <p:spPr>
          <a:xfrm>
            <a:off x="6411954" y="4173637"/>
            <a:ext cx="5212080" cy="493776"/>
          </a:xfrm>
          <a:prstGeom prst="rect">
            <a:avLst/>
          </a:prstGeom>
          <a:solidFill>
            <a:srgbClr val="FFFFFF"/>
          </a:solidFill>
          <a:ln w="19050">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dirty="0" err="1">
                <a:solidFill>
                  <a:srgbClr val="FF0000"/>
                </a:solidFill>
                <a:latin typeface="맑은 고딕"/>
                <a:ea typeface="맑은 고딕"/>
                <a:cs typeface="맑은 고딕"/>
              </a:rPr>
              <a:t>이기종</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메모리</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인지형</a:t>
            </a:r>
            <a:r>
              <a:rPr sz="1100" b="1" dirty="0">
                <a:solidFill>
                  <a:srgbClr val="FF0000"/>
                </a:solidFill>
                <a:latin typeface="맑은 고딕"/>
                <a:ea typeface="맑은 고딕"/>
                <a:cs typeface="맑은 고딕"/>
              </a:rPr>
              <a:t> </a:t>
            </a:r>
            <a:r>
              <a:rPr lang="ko-KR" altLang="en-US" sz="1100" b="1" dirty="0">
                <a:solidFill>
                  <a:srgbClr val="FF0000"/>
                </a:solidFill>
                <a:latin typeface="맑은 고딕"/>
                <a:ea typeface="맑은 고딕"/>
                <a:cs typeface="맑은 고딕"/>
              </a:rPr>
              <a:t>런타임</a:t>
            </a:r>
            <a:r>
              <a:rPr lang="en-US" altLang="ko-KR" sz="1100" b="1" dirty="0">
                <a:solidFill>
                  <a:srgbClr val="FF0000"/>
                </a:solidFill>
                <a:latin typeface="맑은 고딕"/>
                <a:ea typeface="맑은 고딕"/>
                <a:cs typeface="맑은 고딕"/>
              </a:rPr>
              <a:t>(</a:t>
            </a:r>
            <a:r>
              <a:rPr lang="ko-KR" altLang="en-US" sz="1100" b="1" dirty="0" err="1">
                <a:solidFill>
                  <a:srgbClr val="FF0000"/>
                </a:solidFill>
                <a:latin typeface="맑은 고딕"/>
                <a:ea typeface="맑은 고딕"/>
                <a:cs typeface="맑은 고딕"/>
              </a:rPr>
              <a:t>서빙</a:t>
            </a:r>
            <a:r>
              <a:rPr lang="ko-KR" altLang="en-US" sz="1100" b="1" dirty="0">
                <a:solidFill>
                  <a:srgbClr val="FF0000"/>
                </a:solidFill>
                <a:latin typeface="맑은 고딕"/>
                <a:ea typeface="맑은 고딕"/>
                <a:cs typeface="맑은 고딕"/>
              </a:rPr>
              <a:t> 엔진</a:t>
            </a:r>
            <a:r>
              <a:rPr lang="en-US" altLang="ko-KR" sz="1100" b="1" dirty="0">
                <a:solidFill>
                  <a:srgbClr val="FF0000"/>
                </a:solidFill>
                <a:latin typeface="맑은 고딕"/>
                <a:ea typeface="맑은 고딕"/>
                <a:cs typeface="맑은 고딕"/>
              </a:rPr>
              <a:t>)</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부재</a:t>
            </a:r>
            <a:r>
              <a:rPr sz="1100" b="1" dirty="0">
                <a:solidFill>
                  <a:srgbClr val="FF0000"/>
                </a:solidFill>
                <a:latin typeface="맑은 고딕"/>
                <a:ea typeface="맑은 고딕"/>
                <a:cs typeface="맑은 고딕"/>
              </a:rPr>
              <a:t> </a:t>
            </a:r>
            <a:endParaRPr lang="en-US" sz="1100" b="1" dirty="0">
              <a:solidFill>
                <a:srgbClr val="FF0000"/>
              </a:solidFill>
              <a:latin typeface="맑은 고딕"/>
              <a:ea typeface="맑은 고딕"/>
              <a:cs typeface="맑은 고딕"/>
            </a:endParaRPr>
          </a:p>
          <a:p>
            <a:pPr algn="ctr">
              <a:spcAft>
                <a:spcPts val="200"/>
              </a:spcAft>
            </a:pPr>
            <a:r>
              <a:rPr sz="850" b="0" dirty="0" err="1">
                <a:solidFill>
                  <a:srgbClr val="595959"/>
                </a:solidFill>
                <a:latin typeface="맑은 고딕"/>
                <a:ea typeface="맑은 고딕"/>
                <a:cs typeface="맑은 고딕"/>
              </a:rPr>
              <a:t>메모리</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특성</a:t>
            </a:r>
            <a:r>
              <a:rPr sz="850" b="0" dirty="0">
                <a:solidFill>
                  <a:srgbClr val="595959"/>
                </a:solidFill>
                <a:latin typeface="맑은 고딕"/>
                <a:ea typeface="맑은 고딕"/>
                <a:cs typeface="맑은 고딕"/>
              </a:rPr>
              <a:t>(</a:t>
            </a:r>
            <a:r>
              <a:rPr sz="850" b="0" dirty="0" err="1">
                <a:solidFill>
                  <a:srgbClr val="595959"/>
                </a:solidFill>
                <a:latin typeface="맑은 고딕"/>
                <a:ea typeface="맑은 고딕"/>
                <a:cs typeface="맑은 고딕"/>
              </a:rPr>
              <a:t>대역폭</a:t>
            </a:r>
            <a:r>
              <a:rPr lang="en-US" sz="850" dirty="0">
                <a:solidFill>
                  <a:srgbClr val="595959"/>
                </a:solidFill>
                <a:latin typeface="맑은 고딕"/>
                <a:ea typeface="맑은 고딕"/>
                <a:cs typeface="맑은 고딕"/>
              </a:rPr>
              <a:t>, </a:t>
            </a:r>
            <a:r>
              <a:rPr lang="ko-KR" altLang="en-US" sz="850" dirty="0">
                <a:solidFill>
                  <a:srgbClr val="595959"/>
                </a:solidFill>
                <a:latin typeface="맑은 고딕"/>
                <a:ea typeface="맑은 고딕"/>
                <a:cs typeface="맑은 고딕"/>
              </a:rPr>
              <a:t>용</a:t>
            </a:r>
            <a:r>
              <a:rPr sz="850" b="0" dirty="0">
                <a:solidFill>
                  <a:srgbClr val="595959"/>
                </a:solidFill>
                <a:latin typeface="맑은 고딕"/>
                <a:ea typeface="맑은 고딕"/>
                <a:cs typeface="맑은 고딕"/>
              </a:rPr>
              <a:t>량</a:t>
            </a:r>
            <a:r>
              <a:rPr lang="en-US" sz="85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연산</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가능</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여부</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인식</a:t>
            </a:r>
            <a:r>
              <a:rPr sz="850" b="0" dirty="0">
                <a:solidFill>
                  <a:srgbClr val="595959"/>
                </a:solidFill>
                <a:latin typeface="맑은 고딕"/>
                <a:ea typeface="맑은 고딕"/>
                <a:cs typeface="맑은 고딕"/>
              </a:rPr>
              <a:t> → </a:t>
            </a:r>
            <a:r>
              <a:rPr sz="850" b="0" dirty="0" err="1">
                <a:solidFill>
                  <a:srgbClr val="595959"/>
                </a:solidFill>
                <a:latin typeface="맑은 고딕"/>
                <a:ea typeface="맑은 고딕"/>
                <a:cs typeface="맑은 고딕"/>
              </a:rPr>
              <a:t>배치·스케줄링</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결정</a:t>
            </a:r>
            <a:endParaRPr sz="850" b="0" dirty="0">
              <a:solidFill>
                <a:srgbClr val="595959"/>
              </a:solidFill>
              <a:latin typeface="맑은 고딕"/>
              <a:ea typeface="맑은 고딕"/>
              <a:cs typeface="맑은 고딕"/>
            </a:endParaRPr>
          </a:p>
        </p:txBody>
      </p:sp>
      <p:cxnSp>
        <p:nvCxnSpPr>
          <p:cNvPr id="50" name="Connector 67">
            <a:extLst>
              <a:ext uri="{FF2B5EF4-FFF2-40B4-BE49-F238E27FC236}">
                <a16:creationId xmlns:a16="http://schemas.microsoft.com/office/drawing/2014/main" id="{5D282C66-6D3B-4CCE-96C5-463FFBD46600}"/>
              </a:ext>
            </a:extLst>
          </p:cNvPr>
          <p:cNvCxnSpPr>
            <a:stCxn id="49" idx="2"/>
          </p:cNvCxnSpPr>
          <p:nvPr/>
        </p:nvCxnSpPr>
        <p:spPr>
          <a:xfrm>
            <a:off x="9017994" y="4667413"/>
            <a:ext cx="0" cy="231455"/>
          </a:xfrm>
          <a:prstGeom prst="line">
            <a:avLst/>
          </a:prstGeom>
          <a:ln w="19050">
            <a:solidFill>
              <a:srgbClr val="FF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51" name="Rectangle 68">
            <a:extLst>
              <a:ext uri="{FF2B5EF4-FFF2-40B4-BE49-F238E27FC236}">
                <a16:creationId xmlns:a16="http://schemas.microsoft.com/office/drawing/2014/main" id="{D14A622C-56E0-4758-A09A-6DC13A6A0844}"/>
              </a:ext>
            </a:extLst>
          </p:cNvPr>
          <p:cNvSpPr/>
          <p:nvPr/>
        </p:nvSpPr>
        <p:spPr>
          <a:xfrm>
            <a:off x="6338802" y="4898868"/>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HBM</a:t>
            </a:r>
          </a:p>
        </p:txBody>
      </p:sp>
      <p:sp>
        <p:nvSpPr>
          <p:cNvPr id="52" name="Rectangle 69">
            <a:extLst>
              <a:ext uri="{FF2B5EF4-FFF2-40B4-BE49-F238E27FC236}">
                <a16:creationId xmlns:a16="http://schemas.microsoft.com/office/drawing/2014/main" id="{3ED850D0-4EB0-4CA5-AF32-D0F7BB94F778}"/>
              </a:ext>
            </a:extLst>
          </p:cNvPr>
          <p:cNvSpPr/>
          <p:nvPr/>
        </p:nvSpPr>
        <p:spPr>
          <a:xfrm>
            <a:off x="7225770" y="4898868"/>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DRAM</a:t>
            </a:r>
          </a:p>
        </p:txBody>
      </p:sp>
      <p:sp>
        <p:nvSpPr>
          <p:cNvPr id="53" name="Rectangle 70">
            <a:extLst>
              <a:ext uri="{FF2B5EF4-FFF2-40B4-BE49-F238E27FC236}">
                <a16:creationId xmlns:a16="http://schemas.microsoft.com/office/drawing/2014/main" id="{EA7EC8A1-A9C0-490E-B42F-7E9101EF6AAD}"/>
              </a:ext>
            </a:extLst>
          </p:cNvPr>
          <p:cNvSpPr/>
          <p:nvPr/>
        </p:nvSpPr>
        <p:spPr>
          <a:xfrm>
            <a:off x="8112738" y="4898868"/>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SSD</a:t>
            </a:r>
          </a:p>
        </p:txBody>
      </p:sp>
      <p:sp>
        <p:nvSpPr>
          <p:cNvPr id="54" name="Rectangle 71">
            <a:extLst>
              <a:ext uri="{FF2B5EF4-FFF2-40B4-BE49-F238E27FC236}">
                <a16:creationId xmlns:a16="http://schemas.microsoft.com/office/drawing/2014/main" id="{80B38AE7-A1A7-42C7-AA04-9B472F02A2D2}"/>
              </a:ext>
            </a:extLst>
          </p:cNvPr>
          <p:cNvSpPr/>
          <p:nvPr/>
        </p:nvSpPr>
        <p:spPr>
          <a:xfrm>
            <a:off x="8999706" y="4898868"/>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dirty="0">
                <a:solidFill>
                  <a:srgbClr val="000000"/>
                </a:solidFill>
                <a:latin typeface="맑은 고딕"/>
                <a:ea typeface="맑은 고딕"/>
                <a:cs typeface="맑은 고딕"/>
              </a:rPr>
              <a:t>CXL-Memory</a:t>
            </a:r>
          </a:p>
        </p:txBody>
      </p:sp>
      <p:sp>
        <p:nvSpPr>
          <p:cNvPr id="57" name="Rectangle 72">
            <a:extLst>
              <a:ext uri="{FF2B5EF4-FFF2-40B4-BE49-F238E27FC236}">
                <a16:creationId xmlns:a16="http://schemas.microsoft.com/office/drawing/2014/main" id="{D39180E6-1BC0-4BF6-A0C5-972782D939A5}"/>
              </a:ext>
            </a:extLst>
          </p:cNvPr>
          <p:cNvSpPr/>
          <p:nvPr/>
        </p:nvSpPr>
        <p:spPr>
          <a:xfrm>
            <a:off x="9886674" y="4898868"/>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CXL-PNM</a:t>
            </a:r>
          </a:p>
        </p:txBody>
      </p:sp>
      <p:sp>
        <p:nvSpPr>
          <p:cNvPr id="60" name="Rectangle 73">
            <a:extLst>
              <a:ext uri="{FF2B5EF4-FFF2-40B4-BE49-F238E27FC236}">
                <a16:creationId xmlns:a16="http://schemas.microsoft.com/office/drawing/2014/main" id="{3AF4BA0F-B071-4D25-85D2-27FD11833D3B}"/>
              </a:ext>
            </a:extLst>
          </p:cNvPr>
          <p:cNvSpPr/>
          <p:nvPr/>
        </p:nvSpPr>
        <p:spPr>
          <a:xfrm>
            <a:off x="10773642" y="4898868"/>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dirty="0">
                <a:solidFill>
                  <a:srgbClr val="000000"/>
                </a:solidFill>
                <a:latin typeface="맑은 고딕"/>
                <a:ea typeface="맑은 고딕"/>
                <a:cs typeface="맑은 고딕"/>
              </a:rPr>
              <a:t>HBF · PIM</a:t>
            </a:r>
          </a:p>
        </p:txBody>
      </p:sp>
      <p:sp>
        <p:nvSpPr>
          <p:cNvPr id="61" name="TextBox 60">
            <a:extLst>
              <a:ext uri="{FF2B5EF4-FFF2-40B4-BE49-F238E27FC236}">
                <a16:creationId xmlns:a16="http://schemas.microsoft.com/office/drawing/2014/main" id="{D163E465-429E-4E53-81C1-5082B8CADCE8}"/>
              </a:ext>
            </a:extLst>
          </p:cNvPr>
          <p:cNvSpPr txBox="1"/>
          <p:nvPr/>
        </p:nvSpPr>
        <p:spPr>
          <a:xfrm>
            <a:off x="6338802" y="5218357"/>
            <a:ext cx="2651760" cy="164592"/>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기존 메모리 계층</a:t>
            </a:r>
          </a:p>
        </p:txBody>
      </p:sp>
      <p:sp>
        <p:nvSpPr>
          <p:cNvPr id="62" name="TextBox 61">
            <a:extLst>
              <a:ext uri="{FF2B5EF4-FFF2-40B4-BE49-F238E27FC236}">
                <a16:creationId xmlns:a16="http://schemas.microsoft.com/office/drawing/2014/main" id="{6F400612-4371-4D0B-A293-563CC829736A}"/>
              </a:ext>
            </a:extLst>
          </p:cNvPr>
          <p:cNvSpPr txBox="1"/>
          <p:nvPr/>
        </p:nvSpPr>
        <p:spPr>
          <a:xfrm>
            <a:off x="8972274" y="5218357"/>
            <a:ext cx="2743200" cy="164592"/>
          </a:xfrm>
          <a:prstGeom prst="rect">
            <a:avLst/>
          </a:prstGeom>
          <a:noFill/>
        </p:spPr>
        <p:txBody>
          <a:bodyPr wrap="square" lIns="45720" tIns="27432" rIns="45720" bIns="27432" anchor="t">
            <a:spAutoFit/>
          </a:bodyPr>
          <a:lstStyle/>
          <a:p>
            <a:pPr algn="r">
              <a:spcAft>
                <a:spcPts val="200"/>
              </a:spcAft>
            </a:pPr>
            <a:r>
              <a:rPr sz="700" b="0">
                <a:solidFill>
                  <a:srgbClr val="C55A11"/>
                </a:solidFill>
                <a:latin typeface="맑은 고딕"/>
                <a:ea typeface="맑은 고딕"/>
                <a:cs typeface="맑은 고딕"/>
              </a:rPr>
              <a:t>신규 메모리: 특성 미인식 → 활용 불가</a:t>
            </a:r>
          </a:p>
        </p:txBody>
      </p:sp>
      <p:sp>
        <p:nvSpPr>
          <p:cNvPr id="124" name="TextBox 123">
            <a:extLst>
              <a:ext uri="{FF2B5EF4-FFF2-40B4-BE49-F238E27FC236}">
                <a16:creationId xmlns:a16="http://schemas.microsoft.com/office/drawing/2014/main" id="{60EF1153-DBBA-46A9-AD3F-8F8A70E4B661}"/>
              </a:ext>
            </a:extLst>
          </p:cNvPr>
          <p:cNvSpPr txBox="1"/>
          <p:nvPr/>
        </p:nvSpPr>
        <p:spPr>
          <a:xfrm>
            <a:off x="6336792" y="1173575"/>
            <a:ext cx="5486400" cy="240066"/>
          </a:xfrm>
          <a:prstGeom prst="rect">
            <a:avLst/>
          </a:prstGeom>
          <a:noFill/>
        </p:spPr>
        <p:txBody>
          <a:bodyPr wrap="square" lIns="45720" tIns="27432" rIns="45720" bIns="27432" anchor="ctr">
            <a:spAutoFit/>
          </a:bodyPr>
          <a:lstStyle/>
          <a:p>
            <a:pPr algn="l">
              <a:spcAft>
                <a:spcPts val="200"/>
              </a:spcAft>
            </a:pP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Agent의</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자원</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수요가</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동적으로</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변하는</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상황에서</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런타임</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역할이</a:t>
            </a:r>
            <a:r>
              <a:rPr sz="1200" b="1" dirty="0">
                <a:solidFill>
                  <a:srgbClr val="000000"/>
                </a:solidFill>
                <a:latin typeface="맑은 고딕"/>
                <a:ea typeface="맑은 고딕"/>
                <a:cs typeface="맑은 고딕"/>
              </a:rPr>
              <a:t> </a:t>
            </a:r>
            <a:r>
              <a:rPr sz="1200" b="1" dirty="0" err="1">
                <a:solidFill>
                  <a:srgbClr val="000000"/>
                </a:solidFill>
                <a:latin typeface="맑은 고딕"/>
                <a:ea typeface="맑은 고딕"/>
                <a:cs typeface="맑은 고딕"/>
              </a:rPr>
              <a:t>결정적</a:t>
            </a:r>
            <a:endParaRPr sz="1200" b="1" dirty="0">
              <a:solidFill>
                <a:srgbClr val="000000"/>
              </a:solidFill>
              <a:latin typeface="맑은 고딕"/>
              <a:ea typeface="맑은 고딕"/>
              <a:cs typeface="맑은 고딕"/>
            </a:endParaRPr>
          </a:p>
        </p:txBody>
      </p:sp>
      <p:sp>
        <p:nvSpPr>
          <p:cNvPr id="155" name="Customers">
            <a:extLst>
              <a:ext uri="{FF2B5EF4-FFF2-40B4-BE49-F238E27FC236}">
                <a16:creationId xmlns:a16="http://schemas.microsoft.com/office/drawing/2014/main" id="{AE067F2F-D83F-4552-8F5C-DBF285D81799}"/>
              </a:ext>
            </a:extLst>
          </p:cNvPr>
          <p:cNvSpPr/>
          <p:nvPr/>
        </p:nvSpPr>
        <p:spPr>
          <a:xfrm>
            <a:off x="347472" y="4660106"/>
            <a:ext cx="1664208" cy="960120"/>
          </a:xfrm>
          <a:prstGeom prst="roundRect">
            <a:avLst>
              <a:gd name="adj" fmla="val 8000"/>
            </a:avLst>
          </a:prstGeom>
          <a:solidFill>
            <a:srgbClr val="F0F1F3"/>
          </a:solidFill>
          <a:ln w="12700">
            <a:solidFill>
              <a:srgbClr val="7F7F7F"/>
            </a:solidFill>
          </a:ln>
        </p:spPr>
        <p:txBody>
          <a:bodyPr wrap="square" lIns="45720" tIns="18288" rIns="45720" bIns="18288" rtlCol="0" anchor="ctr"/>
          <a:lstStyle/>
          <a:p>
            <a:pPr algn="ctr">
              <a:lnSpc>
                <a:spcPct val="150000"/>
              </a:lnSpc>
            </a:pPr>
            <a:r>
              <a:rPr sz="1100" b="1" dirty="0" err="1">
                <a:solidFill>
                  <a:srgbClr val="222222"/>
                </a:solidFill>
                <a:latin typeface="+mj-ea"/>
                <a:ea typeface="+mj-ea"/>
              </a:rPr>
              <a:t>시장</a:t>
            </a:r>
            <a:r>
              <a:rPr sz="1100" b="1" dirty="0">
                <a:solidFill>
                  <a:srgbClr val="222222"/>
                </a:solidFill>
                <a:latin typeface="+mj-ea"/>
                <a:ea typeface="+mj-ea"/>
              </a:rPr>
              <a:t> · </a:t>
            </a:r>
            <a:r>
              <a:rPr sz="1100" b="1" dirty="0" err="1">
                <a:solidFill>
                  <a:srgbClr val="222222"/>
                </a:solidFill>
                <a:latin typeface="+mj-ea"/>
                <a:ea typeface="+mj-ea"/>
              </a:rPr>
              <a:t>고객</a:t>
            </a:r>
            <a:endParaRPr sz="1100" b="1" dirty="0">
              <a:solidFill>
                <a:srgbClr val="222222"/>
              </a:solidFill>
              <a:latin typeface="+mj-ea"/>
              <a:ea typeface="+mj-ea"/>
            </a:endParaRPr>
          </a:p>
          <a:p>
            <a:pPr algn="ctr">
              <a:lnSpc>
                <a:spcPct val="125000"/>
              </a:lnSpc>
            </a:pPr>
            <a:r>
              <a:rPr sz="900" b="0" dirty="0">
                <a:solidFill>
                  <a:srgbClr val="555555"/>
                </a:solidFill>
                <a:latin typeface="+mj-ea"/>
                <a:ea typeface="+mj-ea"/>
              </a:rPr>
              <a:t>Meta</a:t>
            </a:r>
            <a:r>
              <a:rPr lang="en-US" sz="900" b="0" dirty="0">
                <a:solidFill>
                  <a:srgbClr val="555555"/>
                </a:solidFill>
                <a:latin typeface="+mj-ea"/>
                <a:ea typeface="+mj-ea"/>
              </a:rPr>
              <a:t>, </a:t>
            </a:r>
            <a:r>
              <a:rPr sz="900" b="0" dirty="0">
                <a:solidFill>
                  <a:srgbClr val="555555"/>
                </a:solidFill>
                <a:latin typeface="+mj-ea"/>
                <a:ea typeface="+mj-ea"/>
              </a:rPr>
              <a:t>Google Research</a:t>
            </a:r>
            <a:r>
              <a:rPr lang="en-US" sz="900" b="0" dirty="0">
                <a:solidFill>
                  <a:srgbClr val="555555"/>
                </a:solidFill>
                <a:latin typeface="+mj-ea"/>
                <a:ea typeface="+mj-ea"/>
              </a:rPr>
              <a:t>, </a:t>
            </a:r>
          </a:p>
          <a:p>
            <a:pPr algn="ctr">
              <a:lnSpc>
                <a:spcPct val="125000"/>
              </a:lnSpc>
            </a:pPr>
            <a:r>
              <a:rPr lang="en-US" sz="900" b="0" dirty="0">
                <a:solidFill>
                  <a:srgbClr val="555555"/>
                </a:solidFill>
                <a:latin typeface="+mj-ea"/>
                <a:ea typeface="+mj-ea"/>
              </a:rPr>
              <a:t>ARM </a:t>
            </a:r>
            <a:r>
              <a:rPr sz="900" b="0" dirty="0">
                <a:solidFill>
                  <a:srgbClr val="555555"/>
                </a:solidFill>
                <a:latin typeface="+mj-ea"/>
                <a:ea typeface="+mj-ea"/>
              </a:rPr>
              <a:t>Research 와 </a:t>
            </a:r>
            <a:endParaRPr lang="en-US" sz="900" b="0" dirty="0">
              <a:solidFill>
                <a:srgbClr val="555555"/>
              </a:solidFill>
              <a:latin typeface="+mj-ea"/>
              <a:ea typeface="+mj-ea"/>
            </a:endParaRPr>
          </a:p>
          <a:p>
            <a:pPr algn="ctr">
              <a:lnSpc>
                <a:spcPct val="125000"/>
              </a:lnSpc>
            </a:pPr>
            <a:r>
              <a:rPr sz="900" b="0" dirty="0" err="1">
                <a:solidFill>
                  <a:srgbClr val="555555"/>
                </a:solidFill>
                <a:latin typeface="+mj-ea"/>
                <a:ea typeface="+mj-ea"/>
              </a:rPr>
              <a:t>연구</a:t>
            </a:r>
            <a:r>
              <a:rPr sz="900" b="0" dirty="0">
                <a:solidFill>
                  <a:srgbClr val="555555"/>
                </a:solidFill>
                <a:latin typeface="+mj-ea"/>
                <a:ea typeface="+mj-ea"/>
              </a:rPr>
              <a:t> </a:t>
            </a:r>
            <a:r>
              <a:rPr sz="900" b="0" dirty="0" err="1">
                <a:solidFill>
                  <a:srgbClr val="555555"/>
                </a:solidFill>
                <a:latin typeface="+mj-ea"/>
                <a:ea typeface="+mj-ea"/>
              </a:rPr>
              <a:t>협업</a:t>
            </a:r>
            <a:r>
              <a:rPr sz="900" b="0" dirty="0">
                <a:solidFill>
                  <a:srgbClr val="555555"/>
                </a:solidFill>
                <a:latin typeface="+mj-ea"/>
                <a:ea typeface="+mj-ea"/>
              </a:rPr>
              <a:t> </a:t>
            </a:r>
            <a:r>
              <a:rPr sz="900" b="0" dirty="0" err="1">
                <a:solidFill>
                  <a:srgbClr val="555555"/>
                </a:solidFill>
                <a:latin typeface="+mj-ea"/>
                <a:ea typeface="+mj-ea"/>
              </a:rPr>
              <a:t>진행</a:t>
            </a:r>
            <a:r>
              <a:rPr sz="900" b="0" dirty="0">
                <a:solidFill>
                  <a:srgbClr val="555555"/>
                </a:solidFill>
                <a:latin typeface="+mj-ea"/>
                <a:ea typeface="+mj-ea"/>
              </a:rPr>
              <a:t> 중</a:t>
            </a:r>
          </a:p>
        </p:txBody>
      </p:sp>
      <p:sp>
        <p:nvSpPr>
          <p:cNvPr id="156" name="Research lab">
            <a:extLst>
              <a:ext uri="{FF2B5EF4-FFF2-40B4-BE49-F238E27FC236}">
                <a16:creationId xmlns:a16="http://schemas.microsoft.com/office/drawing/2014/main" id="{5489BF64-474A-4FD6-9F1A-5E5B29635537}"/>
              </a:ext>
            </a:extLst>
          </p:cNvPr>
          <p:cNvSpPr/>
          <p:nvPr/>
        </p:nvSpPr>
        <p:spPr>
          <a:xfrm>
            <a:off x="2304288" y="4660106"/>
            <a:ext cx="1664208" cy="960120"/>
          </a:xfrm>
          <a:prstGeom prst="roundRect">
            <a:avLst>
              <a:gd name="adj" fmla="val 8000"/>
            </a:avLst>
          </a:prstGeom>
          <a:solidFill>
            <a:srgbClr val="EAF1FA"/>
          </a:solidFill>
          <a:ln w="22225">
            <a:solidFill>
              <a:srgbClr val="2F6DB5"/>
            </a:solidFill>
          </a:ln>
        </p:spPr>
        <p:txBody>
          <a:bodyPr wrap="square" lIns="45720" tIns="18288" rIns="45720" bIns="18288" rtlCol="0" anchor="ctr"/>
          <a:lstStyle/>
          <a:p>
            <a:pPr algn="ctr">
              <a:lnSpc>
                <a:spcPct val="150000"/>
              </a:lnSpc>
            </a:pPr>
            <a:r>
              <a:rPr sz="1100" b="1" dirty="0" err="1">
                <a:solidFill>
                  <a:srgbClr val="1C3F6E"/>
                </a:solidFill>
                <a:latin typeface="+mj-ea"/>
                <a:ea typeface="+mj-ea"/>
              </a:rPr>
              <a:t>연구소</a:t>
            </a:r>
            <a:endParaRPr sz="1100" b="1" dirty="0">
              <a:solidFill>
                <a:srgbClr val="1C3F6E"/>
              </a:solidFill>
              <a:latin typeface="+mj-ea"/>
              <a:ea typeface="+mj-ea"/>
            </a:endParaRPr>
          </a:p>
          <a:p>
            <a:pPr algn="ctr">
              <a:lnSpc>
                <a:spcPct val="125000"/>
              </a:lnSpc>
            </a:pPr>
            <a:r>
              <a:rPr sz="900" b="0" dirty="0" err="1">
                <a:solidFill>
                  <a:srgbClr val="222222"/>
                </a:solidFill>
                <a:latin typeface="+mj-ea"/>
                <a:ea typeface="+mj-ea"/>
              </a:rPr>
              <a:t>고객</a:t>
            </a:r>
            <a:r>
              <a:rPr sz="900" b="0" dirty="0">
                <a:solidFill>
                  <a:srgbClr val="222222"/>
                </a:solidFill>
                <a:latin typeface="+mj-ea"/>
                <a:ea typeface="+mj-ea"/>
              </a:rPr>
              <a:t> </a:t>
            </a:r>
            <a:r>
              <a:rPr sz="900" b="0" dirty="0" err="1">
                <a:solidFill>
                  <a:srgbClr val="222222"/>
                </a:solidFill>
                <a:latin typeface="+mj-ea"/>
                <a:ea typeface="+mj-ea"/>
              </a:rPr>
              <a:t>workloa</a:t>
            </a:r>
            <a:r>
              <a:rPr lang="en-US" sz="900" dirty="0" err="1">
                <a:solidFill>
                  <a:srgbClr val="222222"/>
                </a:solidFill>
                <a:latin typeface="+mj-ea"/>
                <a:ea typeface="+mj-ea"/>
              </a:rPr>
              <a:t>d,</a:t>
            </a:r>
            <a:r>
              <a:rPr sz="900" b="0" dirty="0" err="1">
                <a:solidFill>
                  <a:srgbClr val="222222"/>
                </a:solidFill>
                <a:latin typeface="+mj-ea"/>
                <a:ea typeface="+mj-ea"/>
              </a:rPr>
              <a:t>요구</a:t>
            </a:r>
            <a:r>
              <a:rPr sz="900" b="0" dirty="0">
                <a:solidFill>
                  <a:srgbClr val="222222"/>
                </a:solidFill>
                <a:latin typeface="+mj-ea"/>
                <a:ea typeface="+mj-ea"/>
              </a:rPr>
              <a:t> </a:t>
            </a:r>
            <a:r>
              <a:rPr sz="900" b="0" dirty="0" err="1">
                <a:solidFill>
                  <a:srgbClr val="222222"/>
                </a:solidFill>
                <a:latin typeface="+mj-ea"/>
                <a:ea typeface="+mj-ea"/>
              </a:rPr>
              <a:t>선제</a:t>
            </a:r>
            <a:r>
              <a:rPr sz="900" b="0" dirty="0">
                <a:solidFill>
                  <a:srgbClr val="222222"/>
                </a:solidFill>
                <a:latin typeface="+mj-ea"/>
                <a:ea typeface="+mj-ea"/>
              </a:rPr>
              <a:t> </a:t>
            </a:r>
            <a:r>
              <a:rPr sz="900" b="0" dirty="0" err="1">
                <a:solidFill>
                  <a:srgbClr val="222222"/>
                </a:solidFill>
                <a:latin typeface="+mj-ea"/>
                <a:ea typeface="+mj-ea"/>
              </a:rPr>
              <a:t>파악</a:t>
            </a:r>
            <a:r>
              <a:rPr sz="900" b="0" dirty="0">
                <a:solidFill>
                  <a:srgbClr val="222222"/>
                </a:solidFill>
                <a:latin typeface="+mj-ea"/>
                <a:ea typeface="+mj-ea"/>
              </a:rPr>
              <a:t> → </a:t>
            </a:r>
            <a:r>
              <a:rPr sz="900" b="0" dirty="0" err="1">
                <a:solidFill>
                  <a:srgbClr val="222222"/>
                </a:solidFill>
                <a:latin typeface="+mj-ea"/>
                <a:ea typeface="+mj-ea"/>
              </a:rPr>
              <a:t>이기종</a:t>
            </a:r>
            <a:r>
              <a:rPr sz="900" b="0" dirty="0">
                <a:solidFill>
                  <a:srgbClr val="222222"/>
                </a:solidFill>
                <a:latin typeface="+mj-ea"/>
                <a:ea typeface="+mj-ea"/>
              </a:rPr>
              <a:t> </a:t>
            </a:r>
            <a:r>
              <a:rPr sz="900" b="0" dirty="0" err="1">
                <a:solidFill>
                  <a:srgbClr val="222222"/>
                </a:solidFill>
                <a:latin typeface="+mj-ea"/>
                <a:ea typeface="+mj-ea"/>
              </a:rPr>
              <a:t>메모리</a:t>
            </a:r>
            <a:r>
              <a:rPr sz="900" b="0" dirty="0">
                <a:solidFill>
                  <a:srgbClr val="222222"/>
                </a:solidFill>
                <a:latin typeface="+mj-ea"/>
                <a:ea typeface="+mj-ea"/>
              </a:rPr>
              <a:t> </a:t>
            </a:r>
            <a:endParaRPr lang="en-US" sz="900" b="0" dirty="0">
              <a:solidFill>
                <a:srgbClr val="222222"/>
              </a:solidFill>
              <a:latin typeface="+mj-ea"/>
              <a:ea typeface="+mj-ea"/>
            </a:endParaRPr>
          </a:p>
          <a:p>
            <a:pPr algn="ctr">
              <a:lnSpc>
                <a:spcPct val="125000"/>
              </a:lnSpc>
            </a:pPr>
            <a:r>
              <a:rPr sz="900" b="0" dirty="0" err="1">
                <a:solidFill>
                  <a:srgbClr val="222222"/>
                </a:solidFill>
                <a:latin typeface="+mj-ea"/>
                <a:ea typeface="+mj-ea"/>
              </a:rPr>
              <a:t>인지형</a:t>
            </a:r>
            <a:r>
              <a:rPr sz="900" b="0" dirty="0">
                <a:solidFill>
                  <a:srgbClr val="222222"/>
                </a:solidFill>
                <a:latin typeface="+mj-ea"/>
                <a:ea typeface="+mj-ea"/>
              </a:rPr>
              <a:t> </a:t>
            </a:r>
            <a:r>
              <a:rPr lang="en-US" sz="900" dirty="0">
                <a:solidFill>
                  <a:srgbClr val="222222"/>
                </a:solidFill>
                <a:latin typeface="+mj-ea"/>
                <a:ea typeface="+mj-ea"/>
              </a:rPr>
              <a:t>AI </a:t>
            </a:r>
            <a:r>
              <a:rPr lang="ko-KR" altLang="en-US" sz="900" dirty="0">
                <a:solidFill>
                  <a:srgbClr val="222222"/>
                </a:solidFill>
                <a:latin typeface="+mj-ea"/>
                <a:ea typeface="+mj-ea"/>
              </a:rPr>
              <a:t>런타임 </a:t>
            </a:r>
            <a:r>
              <a:rPr sz="900" b="0" dirty="0" err="1">
                <a:solidFill>
                  <a:srgbClr val="222222"/>
                </a:solidFill>
                <a:latin typeface="+mj-ea"/>
                <a:ea typeface="+mj-ea"/>
              </a:rPr>
              <a:t>연구</a:t>
            </a:r>
            <a:endParaRPr sz="900" b="0" dirty="0">
              <a:solidFill>
                <a:srgbClr val="222222"/>
              </a:solidFill>
              <a:latin typeface="+mj-ea"/>
              <a:ea typeface="+mj-ea"/>
            </a:endParaRPr>
          </a:p>
        </p:txBody>
      </p:sp>
      <p:sp>
        <p:nvSpPr>
          <p:cNvPr id="157" name="Business unit">
            <a:extLst>
              <a:ext uri="{FF2B5EF4-FFF2-40B4-BE49-F238E27FC236}">
                <a16:creationId xmlns:a16="http://schemas.microsoft.com/office/drawing/2014/main" id="{6657B398-553F-4050-BB27-324EA9F4960A}"/>
              </a:ext>
            </a:extLst>
          </p:cNvPr>
          <p:cNvSpPr/>
          <p:nvPr/>
        </p:nvSpPr>
        <p:spPr>
          <a:xfrm>
            <a:off x="4261104" y="4660106"/>
            <a:ext cx="1664208" cy="960120"/>
          </a:xfrm>
          <a:prstGeom prst="roundRect">
            <a:avLst>
              <a:gd name="adj" fmla="val 8000"/>
            </a:avLst>
          </a:prstGeom>
          <a:solidFill>
            <a:srgbClr val="F0F1F3"/>
          </a:solidFill>
          <a:ln w="12700">
            <a:solidFill>
              <a:srgbClr val="7F7F7F"/>
            </a:solidFill>
          </a:ln>
        </p:spPr>
        <p:txBody>
          <a:bodyPr wrap="square" lIns="45720" tIns="18288" rIns="45720" bIns="18288" rtlCol="0" anchor="ctr"/>
          <a:lstStyle/>
          <a:p>
            <a:pPr algn="ctr">
              <a:lnSpc>
                <a:spcPct val="150000"/>
              </a:lnSpc>
            </a:pPr>
            <a:r>
              <a:rPr sz="1100" b="1" dirty="0" err="1">
                <a:solidFill>
                  <a:srgbClr val="222222"/>
                </a:solidFill>
                <a:latin typeface="+mj-ea"/>
                <a:ea typeface="+mj-ea"/>
              </a:rPr>
              <a:t>사업부</a:t>
            </a:r>
            <a:endParaRPr sz="1100" b="1" dirty="0">
              <a:solidFill>
                <a:srgbClr val="222222"/>
              </a:solidFill>
              <a:latin typeface="+mj-ea"/>
              <a:ea typeface="+mj-ea"/>
            </a:endParaRPr>
          </a:p>
          <a:p>
            <a:pPr algn="ctr">
              <a:lnSpc>
                <a:spcPct val="125000"/>
              </a:lnSpc>
            </a:pPr>
            <a:r>
              <a:rPr sz="900" b="0" dirty="0" err="1">
                <a:solidFill>
                  <a:srgbClr val="555555"/>
                </a:solidFill>
                <a:latin typeface="+mj-ea"/>
                <a:ea typeface="+mj-ea"/>
              </a:rPr>
              <a:t>연구</a:t>
            </a:r>
            <a:r>
              <a:rPr sz="900" b="0" dirty="0">
                <a:solidFill>
                  <a:srgbClr val="555555"/>
                </a:solidFill>
                <a:latin typeface="+mj-ea"/>
                <a:ea typeface="+mj-ea"/>
              </a:rPr>
              <a:t> </a:t>
            </a:r>
            <a:r>
              <a:rPr sz="900" b="0" dirty="0" err="1">
                <a:solidFill>
                  <a:srgbClr val="555555"/>
                </a:solidFill>
                <a:latin typeface="+mj-ea"/>
                <a:ea typeface="+mj-ea"/>
              </a:rPr>
              <a:t>결과</a:t>
            </a:r>
            <a:r>
              <a:rPr lang="en-US" sz="900" b="0" dirty="0">
                <a:solidFill>
                  <a:srgbClr val="555555"/>
                </a:solidFill>
                <a:latin typeface="+mj-ea"/>
                <a:ea typeface="+mj-ea"/>
              </a:rPr>
              <a:t> </a:t>
            </a:r>
            <a:r>
              <a:rPr sz="900" b="0" dirty="0" err="1">
                <a:solidFill>
                  <a:srgbClr val="555555"/>
                </a:solidFill>
                <a:latin typeface="+mj-ea"/>
                <a:ea typeface="+mj-ea"/>
              </a:rPr>
              <a:t>반영</a:t>
            </a:r>
            <a:endParaRPr lang="en-US" sz="900" b="0" dirty="0">
              <a:solidFill>
                <a:srgbClr val="555555"/>
              </a:solidFill>
              <a:latin typeface="+mj-ea"/>
              <a:ea typeface="+mj-ea"/>
            </a:endParaRPr>
          </a:p>
          <a:p>
            <a:pPr algn="ctr">
              <a:lnSpc>
                <a:spcPct val="125000"/>
              </a:lnSpc>
            </a:pPr>
            <a:r>
              <a:rPr lang="ko-KR" altLang="en-US" sz="900" dirty="0">
                <a:solidFill>
                  <a:srgbClr val="222222"/>
                </a:solidFill>
                <a:latin typeface="+mj-ea"/>
              </a:rPr>
              <a:t>→ </a:t>
            </a:r>
            <a:r>
              <a:rPr lang="ko-KR" altLang="en-US" sz="900" dirty="0">
                <a:solidFill>
                  <a:srgbClr val="555555"/>
                </a:solidFill>
                <a:latin typeface="+mj-ea"/>
              </a:rPr>
              <a:t>차세대 </a:t>
            </a:r>
            <a:r>
              <a:rPr lang="en-US" altLang="ko-KR" sz="900" dirty="0">
                <a:solidFill>
                  <a:srgbClr val="555555"/>
                </a:solidFill>
                <a:latin typeface="+mj-ea"/>
              </a:rPr>
              <a:t>Device </a:t>
            </a:r>
            <a:r>
              <a:rPr lang="ko-KR" altLang="en-US" sz="900" dirty="0">
                <a:solidFill>
                  <a:srgbClr val="555555"/>
                </a:solidFill>
                <a:latin typeface="+mj-ea"/>
              </a:rPr>
              <a:t>개발</a:t>
            </a:r>
          </a:p>
        </p:txBody>
      </p:sp>
      <p:sp>
        <p:nvSpPr>
          <p:cNvPr id="158" name="flow arrow">
            <a:extLst>
              <a:ext uri="{FF2B5EF4-FFF2-40B4-BE49-F238E27FC236}">
                <a16:creationId xmlns:a16="http://schemas.microsoft.com/office/drawing/2014/main" id="{E339278A-C89C-4EAA-99F3-FFCBF3F8F261}"/>
              </a:ext>
            </a:extLst>
          </p:cNvPr>
          <p:cNvSpPr/>
          <p:nvPr/>
        </p:nvSpPr>
        <p:spPr>
          <a:xfrm>
            <a:off x="2039112" y="5030438"/>
            <a:ext cx="237744" cy="219456"/>
          </a:xfrm>
          <a:prstGeom prst="rightArrow">
            <a:avLst/>
          </a:prstGeom>
          <a:solidFill>
            <a:srgbClr val="7F7F7F"/>
          </a:solidFill>
          <a:ln>
            <a:noFill/>
          </a:ln>
        </p:spPr>
        <p:txBody>
          <a:bodyPr rtlCol="0" anchor="ctr"/>
          <a:lstStyle/>
          <a:p>
            <a:pPr algn="ctr"/>
            <a:endParaRPr/>
          </a:p>
        </p:txBody>
      </p:sp>
      <p:sp>
        <p:nvSpPr>
          <p:cNvPr id="159" name="flow arrow">
            <a:extLst>
              <a:ext uri="{FF2B5EF4-FFF2-40B4-BE49-F238E27FC236}">
                <a16:creationId xmlns:a16="http://schemas.microsoft.com/office/drawing/2014/main" id="{343CF676-4ACD-4B05-9FF3-AC348B04D1DC}"/>
              </a:ext>
            </a:extLst>
          </p:cNvPr>
          <p:cNvSpPr/>
          <p:nvPr/>
        </p:nvSpPr>
        <p:spPr>
          <a:xfrm>
            <a:off x="3995928" y="5030438"/>
            <a:ext cx="237744" cy="219456"/>
          </a:xfrm>
          <a:prstGeom prst="rightArrow">
            <a:avLst/>
          </a:prstGeom>
          <a:solidFill>
            <a:srgbClr val="7F7F7F"/>
          </a:solidFill>
          <a:ln>
            <a:noFill/>
          </a:ln>
        </p:spPr>
        <p:txBody>
          <a:bodyPr rtlCol="0" anchor="ctr"/>
          <a:lstStyle/>
          <a:p>
            <a:pPr algn="ctr"/>
            <a:endParaRPr/>
          </a:p>
        </p:txBody>
      </p:sp>
      <p:sp>
        <p:nvSpPr>
          <p:cNvPr id="160" name="Conclusion">
            <a:extLst>
              <a:ext uri="{FF2B5EF4-FFF2-40B4-BE49-F238E27FC236}">
                <a16:creationId xmlns:a16="http://schemas.microsoft.com/office/drawing/2014/main" id="{7F19F002-64D8-4D83-90E3-06335248ECD7}"/>
              </a:ext>
            </a:extLst>
          </p:cNvPr>
          <p:cNvSpPr/>
          <p:nvPr/>
        </p:nvSpPr>
        <p:spPr>
          <a:xfrm>
            <a:off x="347472" y="5829014"/>
            <a:ext cx="5577840" cy="310896"/>
          </a:xfrm>
          <a:prstGeom prst="roundRect">
            <a:avLst>
              <a:gd name="adj" fmla="val 20000"/>
            </a:avLst>
          </a:prstGeom>
          <a:solidFill>
            <a:srgbClr val="FDF1E7"/>
          </a:solidFill>
          <a:ln>
            <a:noFill/>
          </a:ln>
        </p:spPr>
        <p:txBody>
          <a:bodyPr wrap="square" lIns="45720" tIns="18288" rIns="45720" bIns="18288" rtlCol="0" anchor="ctr"/>
          <a:lstStyle/>
          <a:p>
            <a:pPr algn="ctr"/>
            <a:r>
              <a:rPr sz="1050" b="1" dirty="0">
                <a:solidFill>
                  <a:srgbClr val="222222"/>
                </a:solidFill>
                <a:latin typeface="+mj-ea"/>
                <a:ea typeface="+mj-ea"/>
              </a:rPr>
              <a:t>→ </a:t>
            </a:r>
            <a:r>
              <a:rPr sz="1050" b="1" dirty="0" err="1">
                <a:solidFill>
                  <a:srgbClr val="222222"/>
                </a:solidFill>
                <a:latin typeface="+mj-ea"/>
                <a:ea typeface="+mj-ea"/>
              </a:rPr>
              <a:t>시장·고객</a:t>
            </a:r>
            <a:r>
              <a:rPr sz="1050" b="1" dirty="0">
                <a:solidFill>
                  <a:srgbClr val="222222"/>
                </a:solidFill>
                <a:latin typeface="+mj-ea"/>
                <a:ea typeface="+mj-ea"/>
              </a:rPr>
              <a:t> </a:t>
            </a:r>
            <a:r>
              <a:rPr sz="1050" b="1" dirty="0" err="1">
                <a:solidFill>
                  <a:srgbClr val="222222"/>
                </a:solidFill>
                <a:latin typeface="+mj-ea"/>
                <a:ea typeface="+mj-ea"/>
              </a:rPr>
              <a:t>요구를</a:t>
            </a:r>
            <a:r>
              <a:rPr sz="1050" b="1" dirty="0">
                <a:solidFill>
                  <a:srgbClr val="222222"/>
                </a:solidFill>
                <a:latin typeface="+mj-ea"/>
                <a:ea typeface="+mj-ea"/>
              </a:rPr>
              <a:t> </a:t>
            </a:r>
            <a:r>
              <a:rPr sz="1050" b="1" dirty="0" err="1">
                <a:solidFill>
                  <a:srgbClr val="222222"/>
                </a:solidFill>
                <a:latin typeface="+mj-ea"/>
                <a:ea typeface="+mj-ea"/>
              </a:rPr>
              <a:t>선제</a:t>
            </a:r>
            <a:r>
              <a:rPr sz="1050" b="1" dirty="0">
                <a:solidFill>
                  <a:srgbClr val="222222"/>
                </a:solidFill>
                <a:latin typeface="+mj-ea"/>
                <a:ea typeface="+mj-ea"/>
              </a:rPr>
              <a:t> </a:t>
            </a:r>
            <a:r>
              <a:rPr sz="1050" b="1" dirty="0" err="1">
                <a:solidFill>
                  <a:srgbClr val="222222"/>
                </a:solidFill>
                <a:latin typeface="+mj-ea"/>
                <a:ea typeface="+mj-ea"/>
              </a:rPr>
              <a:t>반영하기</a:t>
            </a:r>
            <a:r>
              <a:rPr sz="1050" b="1" dirty="0">
                <a:solidFill>
                  <a:srgbClr val="222222"/>
                </a:solidFill>
                <a:latin typeface="+mj-ea"/>
                <a:ea typeface="+mj-ea"/>
              </a:rPr>
              <a:t> </a:t>
            </a:r>
            <a:r>
              <a:rPr sz="1050" b="1" dirty="0" err="1">
                <a:solidFill>
                  <a:srgbClr val="222222"/>
                </a:solidFill>
                <a:latin typeface="+mj-ea"/>
                <a:ea typeface="+mj-ea"/>
              </a:rPr>
              <a:t>위한</a:t>
            </a:r>
            <a:r>
              <a:rPr sz="1050" b="1" dirty="0">
                <a:solidFill>
                  <a:srgbClr val="222222"/>
                </a:solidFill>
                <a:latin typeface="+mj-ea"/>
                <a:ea typeface="+mj-ea"/>
              </a:rPr>
              <a:t>  </a:t>
            </a:r>
            <a:r>
              <a:rPr sz="1050" b="1" dirty="0" err="1">
                <a:solidFill>
                  <a:srgbClr val="C55A11"/>
                </a:solidFill>
                <a:latin typeface="+mj-ea"/>
                <a:ea typeface="+mj-ea"/>
              </a:rPr>
              <a:t>이기종</a:t>
            </a:r>
            <a:r>
              <a:rPr sz="1050" b="1" dirty="0">
                <a:solidFill>
                  <a:srgbClr val="C55A11"/>
                </a:solidFill>
                <a:latin typeface="+mj-ea"/>
                <a:ea typeface="+mj-ea"/>
              </a:rPr>
              <a:t> </a:t>
            </a:r>
            <a:r>
              <a:rPr sz="1050" b="1" dirty="0" err="1">
                <a:solidFill>
                  <a:srgbClr val="C55A11"/>
                </a:solidFill>
                <a:latin typeface="+mj-ea"/>
                <a:ea typeface="+mj-ea"/>
              </a:rPr>
              <a:t>메모리</a:t>
            </a:r>
            <a:r>
              <a:rPr sz="1050" b="1" dirty="0">
                <a:solidFill>
                  <a:srgbClr val="C55A11"/>
                </a:solidFill>
                <a:latin typeface="+mj-ea"/>
                <a:ea typeface="+mj-ea"/>
              </a:rPr>
              <a:t> </a:t>
            </a:r>
            <a:r>
              <a:rPr sz="1050" b="1" dirty="0" err="1">
                <a:solidFill>
                  <a:srgbClr val="C55A11"/>
                </a:solidFill>
                <a:latin typeface="+mj-ea"/>
                <a:ea typeface="+mj-ea"/>
              </a:rPr>
              <a:t>시스템</a:t>
            </a:r>
            <a:r>
              <a:rPr sz="1050" b="1" dirty="0">
                <a:solidFill>
                  <a:srgbClr val="C55A11"/>
                </a:solidFill>
                <a:latin typeface="+mj-ea"/>
                <a:ea typeface="+mj-ea"/>
              </a:rPr>
              <a:t> </a:t>
            </a:r>
            <a:r>
              <a:rPr sz="1050" b="1" dirty="0" err="1">
                <a:solidFill>
                  <a:srgbClr val="C55A11"/>
                </a:solidFill>
                <a:latin typeface="+mj-ea"/>
                <a:ea typeface="+mj-ea"/>
              </a:rPr>
              <a:t>연구</a:t>
            </a:r>
            <a:r>
              <a:rPr sz="1050" b="1" dirty="0" err="1">
                <a:solidFill>
                  <a:srgbClr val="222222"/>
                </a:solidFill>
                <a:latin typeface="+mj-ea"/>
                <a:ea typeface="+mj-ea"/>
              </a:rPr>
              <a:t>가</a:t>
            </a:r>
            <a:r>
              <a:rPr sz="1050" b="1" dirty="0">
                <a:solidFill>
                  <a:srgbClr val="222222"/>
                </a:solidFill>
                <a:latin typeface="+mj-ea"/>
                <a:ea typeface="+mj-ea"/>
              </a:rPr>
              <a:t> </a:t>
            </a:r>
            <a:r>
              <a:rPr sz="1050" b="1" dirty="0" err="1">
                <a:solidFill>
                  <a:srgbClr val="222222"/>
                </a:solidFill>
                <a:latin typeface="+mj-ea"/>
                <a:ea typeface="+mj-ea"/>
              </a:rPr>
              <a:t>필요</a:t>
            </a:r>
            <a:endParaRPr sz="1050" b="1" dirty="0">
              <a:solidFill>
                <a:srgbClr val="222222"/>
              </a:solidFill>
              <a:latin typeface="+mj-ea"/>
              <a:ea typeface="+mj-ea"/>
            </a:endParaRPr>
          </a:p>
        </p:txBody>
      </p:sp>
      <p:sp>
        <p:nvSpPr>
          <p:cNvPr id="161" name="Case box">
            <a:extLst>
              <a:ext uri="{FF2B5EF4-FFF2-40B4-BE49-F238E27FC236}">
                <a16:creationId xmlns:a16="http://schemas.microsoft.com/office/drawing/2014/main" id="{5DD0417E-7882-4D24-A2ED-3AFE9B562693}"/>
              </a:ext>
            </a:extLst>
          </p:cNvPr>
          <p:cNvSpPr/>
          <p:nvPr/>
        </p:nvSpPr>
        <p:spPr>
          <a:xfrm>
            <a:off x="347472" y="1556386"/>
            <a:ext cx="5577840" cy="2119568"/>
          </a:xfrm>
          <a:prstGeom prst="roundRect">
            <a:avLst>
              <a:gd name="adj" fmla="val 4000"/>
            </a:avLst>
          </a:prstGeom>
          <a:solidFill>
            <a:srgbClr val="F4F7FB"/>
          </a:solidFill>
          <a:ln>
            <a:noFill/>
          </a:ln>
        </p:spPr>
        <p:txBody>
          <a:bodyPr rtlCol="0" anchor="ctr"/>
          <a:lstStyle/>
          <a:p>
            <a:pPr algn="ctr"/>
            <a:endParaRPr/>
          </a:p>
        </p:txBody>
      </p:sp>
      <p:sp>
        <p:nvSpPr>
          <p:cNvPr id="162" name="TextBox 161">
            <a:extLst>
              <a:ext uri="{FF2B5EF4-FFF2-40B4-BE49-F238E27FC236}">
                <a16:creationId xmlns:a16="http://schemas.microsoft.com/office/drawing/2014/main" id="{7AFD0E6F-DD21-4A01-8EC4-C2D0D40E7DED}"/>
              </a:ext>
            </a:extLst>
          </p:cNvPr>
          <p:cNvSpPr txBox="1"/>
          <p:nvPr/>
        </p:nvSpPr>
        <p:spPr>
          <a:xfrm>
            <a:off x="475488" y="1629537"/>
            <a:ext cx="4572000" cy="182880"/>
          </a:xfrm>
          <a:prstGeom prst="rect">
            <a:avLst/>
          </a:prstGeom>
          <a:noFill/>
        </p:spPr>
        <p:txBody>
          <a:bodyPr wrap="square" lIns="0" tIns="0" rIns="0" bIns="0" anchor="t">
            <a:noAutofit/>
          </a:bodyPr>
          <a:lstStyle/>
          <a:p>
            <a:pPr algn="l"/>
            <a:r>
              <a:rPr sz="1050" b="1" dirty="0" err="1">
                <a:solidFill>
                  <a:srgbClr val="C55A11"/>
                </a:solidFill>
                <a:latin typeface="+mj-ea"/>
                <a:ea typeface="+mj-ea"/>
              </a:rPr>
              <a:t>참고</a:t>
            </a:r>
            <a:r>
              <a:rPr sz="1050" b="1" dirty="0">
                <a:solidFill>
                  <a:srgbClr val="C55A11"/>
                </a:solidFill>
                <a:latin typeface="+mj-ea"/>
                <a:ea typeface="+mj-ea"/>
              </a:rPr>
              <a:t> </a:t>
            </a:r>
            <a:r>
              <a:rPr sz="1050" b="1" dirty="0" err="1">
                <a:solidFill>
                  <a:srgbClr val="C55A11"/>
                </a:solidFill>
                <a:latin typeface="+mj-ea"/>
                <a:ea typeface="+mj-ea"/>
              </a:rPr>
              <a:t>사례</a:t>
            </a:r>
            <a:r>
              <a:rPr sz="1050" b="1" dirty="0">
                <a:solidFill>
                  <a:srgbClr val="222222"/>
                </a:solidFill>
                <a:latin typeface="+mj-ea"/>
                <a:ea typeface="+mj-ea"/>
              </a:rPr>
              <a:t>  </a:t>
            </a:r>
            <a:r>
              <a:rPr sz="1050" b="1" dirty="0" err="1">
                <a:solidFill>
                  <a:srgbClr val="222222"/>
                </a:solidFill>
                <a:latin typeface="+mj-ea"/>
                <a:ea typeface="+mj-ea"/>
              </a:rPr>
              <a:t>시장</a:t>
            </a:r>
            <a:r>
              <a:rPr sz="1050" b="1" dirty="0">
                <a:solidFill>
                  <a:srgbClr val="222222"/>
                </a:solidFill>
                <a:latin typeface="+mj-ea"/>
                <a:ea typeface="+mj-ea"/>
              </a:rPr>
              <a:t> </a:t>
            </a:r>
            <a:r>
              <a:rPr sz="1050" b="1" dirty="0" err="1">
                <a:solidFill>
                  <a:srgbClr val="222222"/>
                </a:solidFill>
                <a:latin typeface="+mj-ea"/>
                <a:ea typeface="+mj-ea"/>
              </a:rPr>
              <a:t>전환기</a:t>
            </a:r>
            <a:r>
              <a:rPr sz="1050" b="1" dirty="0">
                <a:solidFill>
                  <a:srgbClr val="222222"/>
                </a:solidFill>
                <a:latin typeface="+mj-ea"/>
                <a:ea typeface="+mj-ea"/>
              </a:rPr>
              <a:t>, </a:t>
            </a:r>
            <a:r>
              <a:rPr sz="1050" b="1" dirty="0" err="1">
                <a:solidFill>
                  <a:srgbClr val="222222"/>
                </a:solidFill>
                <a:latin typeface="+mj-ea"/>
                <a:ea typeface="+mj-ea"/>
              </a:rPr>
              <a:t>수요</a:t>
            </a:r>
            <a:r>
              <a:rPr sz="1050" b="1" dirty="0">
                <a:solidFill>
                  <a:srgbClr val="222222"/>
                </a:solidFill>
                <a:latin typeface="+mj-ea"/>
                <a:ea typeface="+mj-ea"/>
              </a:rPr>
              <a:t> </a:t>
            </a:r>
            <a:r>
              <a:rPr sz="1050" b="1" dirty="0" err="1">
                <a:solidFill>
                  <a:srgbClr val="222222"/>
                </a:solidFill>
                <a:latin typeface="+mj-ea"/>
                <a:ea typeface="+mj-ea"/>
              </a:rPr>
              <a:t>변곡점</a:t>
            </a:r>
            <a:r>
              <a:rPr sz="1050" b="1" dirty="0">
                <a:solidFill>
                  <a:srgbClr val="222222"/>
                </a:solidFill>
                <a:latin typeface="+mj-ea"/>
                <a:ea typeface="+mj-ea"/>
              </a:rPr>
              <a:t> </a:t>
            </a:r>
            <a:r>
              <a:rPr sz="1050" b="1" dirty="0" err="1">
                <a:solidFill>
                  <a:srgbClr val="222222"/>
                </a:solidFill>
                <a:latin typeface="+mj-ea"/>
                <a:ea typeface="+mj-ea"/>
              </a:rPr>
              <a:t>대응에</a:t>
            </a:r>
            <a:r>
              <a:rPr sz="1050" b="1" dirty="0">
                <a:solidFill>
                  <a:srgbClr val="222222"/>
                </a:solidFill>
                <a:latin typeface="+mj-ea"/>
                <a:ea typeface="+mj-ea"/>
              </a:rPr>
              <a:t> </a:t>
            </a:r>
            <a:r>
              <a:rPr sz="1050" b="1" dirty="0" err="1">
                <a:solidFill>
                  <a:srgbClr val="222222"/>
                </a:solidFill>
                <a:latin typeface="+mj-ea"/>
                <a:ea typeface="+mj-ea"/>
              </a:rPr>
              <a:t>걸린</a:t>
            </a:r>
            <a:r>
              <a:rPr sz="1050" b="1" dirty="0">
                <a:solidFill>
                  <a:srgbClr val="222222"/>
                </a:solidFill>
                <a:latin typeface="+mj-ea"/>
                <a:ea typeface="+mj-ea"/>
              </a:rPr>
              <a:t> </a:t>
            </a:r>
            <a:r>
              <a:rPr sz="1050" b="1" dirty="0" err="1">
                <a:solidFill>
                  <a:srgbClr val="222222"/>
                </a:solidFill>
                <a:latin typeface="+mj-ea"/>
                <a:ea typeface="+mj-ea"/>
              </a:rPr>
              <a:t>시간</a:t>
            </a:r>
            <a:r>
              <a:rPr sz="1050" b="1" dirty="0">
                <a:solidFill>
                  <a:srgbClr val="222222"/>
                </a:solidFill>
                <a:latin typeface="+mj-ea"/>
                <a:ea typeface="+mj-ea"/>
              </a:rPr>
              <a:t> (HBM)</a:t>
            </a:r>
          </a:p>
        </p:txBody>
      </p:sp>
      <p:sp>
        <p:nvSpPr>
          <p:cNvPr id="163" name="TextBox 162">
            <a:extLst>
              <a:ext uri="{FF2B5EF4-FFF2-40B4-BE49-F238E27FC236}">
                <a16:creationId xmlns:a16="http://schemas.microsoft.com/office/drawing/2014/main" id="{9091D874-470E-42D1-B9E2-EC24C784E2D6}"/>
              </a:ext>
            </a:extLst>
          </p:cNvPr>
          <p:cNvSpPr txBox="1"/>
          <p:nvPr/>
        </p:nvSpPr>
        <p:spPr>
          <a:xfrm>
            <a:off x="4828032" y="1647825"/>
            <a:ext cx="1005840" cy="146304"/>
          </a:xfrm>
          <a:prstGeom prst="rect">
            <a:avLst/>
          </a:prstGeom>
          <a:noFill/>
        </p:spPr>
        <p:txBody>
          <a:bodyPr wrap="square" lIns="0" tIns="0" rIns="0" bIns="0" anchor="t">
            <a:noAutofit/>
          </a:bodyPr>
          <a:lstStyle/>
          <a:p>
            <a:pPr algn="r"/>
            <a:r>
              <a:rPr sz="800" b="0" dirty="0" err="1">
                <a:solidFill>
                  <a:srgbClr val="555555"/>
                </a:solidFill>
                <a:latin typeface="+mj-ea"/>
                <a:ea typeface="+mj-ea"/>
              </a:rPr>
              <a:t>공개</a:t>
            </a:r>
            <a:r>
              <a:rPr sz="800" b="0" dirty="0">
                <a:solidFill>
                  <a:srgbClr val="555555"/>
                </a:solidFill>
                <a:latin typeface="+mj-ea"/>
                <a:ea typeface="+mj-ea"/>
              </a:rPr>
              <a:t> </a:t>
            </a:r>
            <a:r>
              <a:rPr sz="800" b="0" dirty="0" err="1">
                <a:solidFill>
                  <a:srgbClr val="555555"/>
                </a:solidFill>
                <a:latin typeface="+mj-ea"/>
                <a:ea typeface="+mj-ea"/>
              </a:rPr>
              <a:t>보도</a:t>
            </a:r>
            <a:r>
              <a:rPr sz="800" b="0" dirty="0">
                <a:solidFill>
                  <a:srgbClr val="555555"/>
                </a:solidFill>
                <a:latin typeface="+mj-ea"/>
                <a:ea typeface="+mj-ea"/>
              </a:rPr>
              <a:t> </a:t>
            </a:r>
            <a:r>
              <a:rPr sz="800" b="0" dirty="0" err="1">
                <a:solidFill>
                  <a:srgbClr val="555555"/>
                </a:solidFill>
                <a:latin typeface="+mj-ea"/>
                <a:ea typeface="+mj-ea"/>
              </a:rPr>
              <a:t>기준</a:t>
            </a:r>
            <a:endParaRPr sz="800" b="0" dirty="0">
              <a:solidFill>
                <a:srgbClr val="555555"/>
              </a:solidFill>
              <a:latin typeface="+mj-ea"/>
              <a:ea typeface="+mj-ea"/>
            </a:endParaRPr>
          </a:p>
        </p:txBody>
      </p:sp>
      <p:cxnSp>
        <p:nvCxnSpPr>
          <p:cNvPr id="164" name="Connector 151">
            <a:extLst>
              <a:ext uri="{FF2B5EF4-FFF2-40B4-BE49-F238E27FC236}">
                <a16:creationId xmlns:a16="http://schemas.microsoft.com/office/drawing/2014/main" id="{7DC344EC-6985-4B6C-8B7C-E4009CF78636}"/>
              </a:ext>
            </a:extLst>
          </p:cNvPr>
          <p:cNvCxnSpPr/>
          <p:nvPr/>
        </p:nvCxnSpPr>
        <p:spPr>
          <a:xfrm>
            <a:off x="621792" y="2214753"/>
            <a:ext cx="5029200" cy="0"/>
          </a:xfrm>
          <a:prstGeom prst="line">
            <a:avLst/>
          </a:prstGeom>
          <a:ln w="19050">
            <a:solidFill>
              <a:srgbClr val="A6A6A6"/>
            </a:solidFill>
          </a:ln>
        </p:spPr>
      </p:cxnSp>
      <p:sp>
        <p:nvSpPr>
          <p:cNvPr id="165" name="TextBox 164">
            <a:extLst>
              <a:ext uri="{FF2B5EF4-FFF2-40B4-BE49-F238E27FC236}">
                <a16:creationId xmlns:a16="http://schemas.microsoft.com/office/drawing/2014/main" id="{DF021E09-C593-4851-9F01-170106E4745E}"/>
              </a:ext>
            </a:extLst>
          </p:cNvPr>
          <p:cNvSpPr txBox="1"/>
          <p:nvPr/>
        </p:nvSpPr>
        <p:spPr>
          <a:xfrm>
            <a:off x="475488" y="1867280"/>
            <a:ext cx="1335024" cy="182880"/>
          </a:xfrm>
          <a:prstGeom prst="rect">
            <a:avLst/>
          </a:prstGeom>
          <a:noFill/>
        </p:spPr>
        <p:txBody>
          <a:bodyPr wrap="square" lIns="0" tIns="0" rIns="0" bIns="0" anchor="t">
            <a:noAutofit/>
          </a:bodyPr>
          <a:lstStyle/>
          <a:p>
            <a:pPr algn="ctr"/>
            <a:r>
              <a:rPr sz="1100" b="1">
                <a:solidFill>
                  <a:srgbClr val="2F6DB5"/>
                </a:solidFill>
                <a:latin typeface="+mj-ea"/>
                <a:ea typeface="+mj-ea"/>
              </a:rPr>
              <a:t>2016</a:t>
            </a:r>
          </a:p>
        </p:txBody>
      </p:sp>
      <p:sp>
        <p:nvSpPr>
          <p:cNvPr id="166" name="timeline dot">
            <a:extLst>
              <a:ext uri="{FF2B5EF4-FFF2-40B4-BE49-F238E27FC236}">
                <a16:creationId xmlns:a16="http://schemas.microsoft.com/office/drawing/2014/main" id="{7840A52F-DEB3-49C4-8004-31BEDA573DC9}"/>
              </a:ext>
            </a:extLst>
          </p:cNvPr>
          <p:cNvSpPr/>
          <p:nvPr/>
        </p:nvSpPr>
        <p:spPr>
          <a:xfrm>
            <a:off x="1078992" y="2150745"/>
            <a:ext cx="128016" cy="128016"/>
          </a:xfrm>
          <a:prstGeom prst="ellipse">
            <a:avLst/>
          </a:prstGeom>
          <a:solidFill>
            <a:srgbClr val="2F6DB5"/>
          </a:solidFill>
          <a:ln>
            <a:noFill/>
          </a:ln>
        </p:spPr>
        <p:txBody>
          <a:bodyPr rtlCol="0" anchor="ctr"/>
          <a:lstStyle/>
          <a:p>
            <a:pPr algn="ctr"/>
            <a:endParaRPr/>
          </a:p>
        </p:txBody>
      </p:sp>
      <p:sp>
        <p:nvSpPr>
          <p:cNvPr id="167" name="TextBox 166">
            <a:extLst>
              <a:ext uri="{FF2B5EF4-FFF2-40B4-BE49-F238E27FC236}">
                <a16:creationId xmlns:a16="http://schemas.microsoft.com/office/drawing/2014/main" id="{EFA66737-7E92-4F82-9606-6E9533AFD7A6}"/>
              </a:ext>
            </a:extLst>
          </p:cNvPr>
          <p:cNvSpPr txBox="1"/>
          <p:nvPr/>
        </p:nvSpPr>
        <p:spPr>
          <a:xfrm>
            <a:off x="475488" y="2342769"/>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HBM2 양산 개시</a:t>
            </a:r>
          </a:p>
        </p:txBody>
      </p:sp>
      <p:sp>
        <p:nvSpPr>
          <p:cNvPr id="168" name="TextBox 167">
            <a:extLst>
              <a:ext uri="{FF2B5EF4-FFF2-40B4-BE49-F238E27FC236}">
                <a16:creationId xmlns:a16="http://schemas.microsoft.com/office/drawing/2014/main" id="{3F861876-17C7-4D01-8E96-098E908FF03E}"/>
              </a:ext>
            </a:extLst>
          </p:cNvPr>
          <p:cNvSpPr txBox="1"/>
          <p:nvPr/>
        </p:nvSpPr>
        <p:spPr>
          <a:xfrm>
            <a:off x="512064" y="2534793"/>
            <a:ext cx="1261872" cy="676656"/>
          </a:xfrm>
          <a:prstGeom prst="rect">
            <a:avLst/>
          </a:prstGeom>
          <a:noFill/>
        </p:spPr>
        <p:txBody>
          <a:bodyPr wrap="square" lIns="0" tIns="0" rIns="0" bIns="0" anchor="t">
            <a:noAutofit/>
          </a:bodyPr>
          <a:lstStyle/>
          <a:p>
            <a:pPr algn="l">
              <a:lnSpc>
                <a:spcPct val="125000"/>
              </a:lnSpc>
            </a:pPr>
            <a:r>
              <a:rPr sz="800" b="0" dirty="0">
                <a:solidFill>
                  <a:srgbClr val="555555"/>
                </a:solidFill>
                <a:latin typeface="+mj-ea"/>
                <a:ea typeface="+mj-ea"/>
              </a:rPr>
              <a:t>GPU·HPC </a:t>
            </a:r>
            <a:r>
              <a:rPr sz="800" b="0" dirty="0" err="1">
                <a:solidFill>
                  <a:srgbClr val="555555"/>
                </a:solidFill>
                <a:latin typeface="+mj-ea"/>
                <a:ea typeface="+mj-ea"/>
              </a:rPr>
              <a:t>중심의</a:t>
            </a:r>
            <a:r>
              <a:rPr sz="800" b="0" dirty="0">
                <a:solidFill>
                  <a:srgbClr val="555555"/>
                </a:solidFill>
                <a:latin typeface="+mj-ea"/>
                <a:ea typeface="+mj-ea"/>
              </a:rPr>
              <a:t> </a:t>
            </a:r>
            <a:r>
              <a:rPr sz="800" b="0" dirty="0" err="1">
                <a:solidFill>
                  <a:srgbClr val="555555"/>
                </a:solidFill>
                <a:latin typeface="+mj-ea"/>
                <a:ea typeface="+mj-ea"/>
              </a:rPr>
              <a:t>소규모</a:t>
            </a:r>
            <a:r>
              <a:rPr sz="800" b="0" dirty="0">
                <a:solidFill>
                  <a:srgbClr val="555555"/>
                </a:solidFill>
                <a:latin typeface="+mj-ea"/>
                <a:ea typeface="+mj-ea"/>
              </a:rPr>
              <a:t> </a:t>
            </a:r>
            <a:r>
              <a:rPr sz="800" b="0" dirty="0" err="1">
                <a:solidFill>
                  <a:srgbClr val="555555"/>
                </a:solidFill>
                <a:latin typeface="+mj-ea"/>
                <a:ea typeface="+mj-ea"/>
              </a:rPr>
              <a:t>틈새</a:t>
            </a:r>
            <a:r>
              <a:rPr sz="800" b="0" dirty="0">
                <a:solidFill>
                  <a:srgbClr val="555555"/>
                </a:solidFill>
                <a:latin typeface="+mj-ea"/>
                <a:ea typeface="+mj-ea"/>
              </a:rPr>
              <a:t> </a:t>
            </a:r>
            <a:r>
              <a:rPr sz="800" b="0" dirty="0" err="1">
                <a:solidFill>
                  <a:srgbClr val="555555"/>
                </a:solidFill>
                <a:latin typeface="+mj-ea"/>
                <a:ea typeface="+mj-ea"/>
              </a:rPr>
              <a:t>시장</a:t>
            </a:r>
            <a:endParaRPr sz="800" b="0" dirty="0">
              <a:solidFill>
                <a:srgbClr val="555555"/>
              </a:solidFill>
              <a:latin typeface="+mj-ea"/>
              <a:ea typeface="+mj-ea"/>
            </a:endParaRPr>
          </a:p>
        </p:txBody>
      </p:sp>
      <p:sp>
        <p:nvSpPr>
          <p:cNvPr id="169" name="TextBox 168">
            <a:extLst>
              <a:ext uri="{FF2B5EF4-FFF2-40B4-BE49-F238E27FC236}">
                <a16:creationId xmlns:a16="http://schemas.microsoft.com/office/drawing/2014/main" id="{D8F47929-67E8-420C-8BD4-8BDFB0E1F56B}"/>
              </a:ext>
            </a:extLst>
          </p:cNvPr>
          <p:cNvSpPr txBox="1"/>
          <p:nvPr/>
        </p:nvSpPr>
        <p:spPr>
          <a:xfrm>
            <a:off x="1847088" y="1867280"/>
            <a:ext cx="1335024" cy="182880"/>
          </a:xfrm>
          <a:prstGeom prst="rect">
            <a:avLst/>
          </a:prstGeom>
          <a:noFill/>
        </p:spPr>
        <p:txBody>
          <a:bodyPr wrap="square" lIns="0" tIns="0" rIns="0" bIns="0" anchor="t">
            <a:noAutofit/>
          </a:bodyPr>
          <a:lstStyle/>
          <a:p>
            <a:pPr algn="ctr"/>
            <a:r>
              <a:rPr sz="1100" b="1">
                <a:solidFill>
                  <a:srgbClr val="2F6DB5"/>
                </a:solidFill>
                <a:latin typeface="+mj-ea"/>
                <a:ea typeface="+mj-ea"/>
              </a:rPr>
              <a:t>~2022</a:t>
            </a:r>
          </a:p>
        </p:txBody>
      </p:sp>
      <p:sp>
        <p:nvSpPr>
          <p:cNvPr id="170" name="timeline dot">
            <a:extLst>
              <a:ext uri="{FF2B5EF4-FFF2-40B4-BE49-F238E27FC236}">
                <a16:creationId xmlns:a16="http://schemas.microsoft.com/office/drawing/2014/main" id="{54B0998F-E545-420E-B989-1DCCEAEED8F5}"/>
              </a:ext>
            </a:extLst>
          </p:cNvPr>
          <p:cNvSpPr/>
          <p:nvPr/>
        </p:nvSpPr>
        <p:spPr>
          <a:xfrm>
            <a:off x="2450592" y="2150745"/>
            <a:ext cx="128016" cy="128016"/>
          </a:xfrm>
          <a:prstGeom prst="ellipse">
            <a:avLst/>
          </a:prstGeom>
          <a:solidFill>
            <a:srgbClr val="2F6DB5"/>
          </a:solidFill>
          <a:ln>
            <a:noFill/>
          </a:ln>
        </p:spPr>
        <p:txBody>
          <a:bodyPr rtlCol="0" anchor="ctr"/>
          <a:lstStyle/>
          <a:p>
            <a:pPr algn="ctr"/>
            <a:endParaRPr/>
          </a:p>
        </p:txBody>
      </p:sp>
      <p:sp>
        <p:nvSpPr>
          <p:cNvPr id="171" name="TextBox 170">
            <a:extLst>
              <a:ext uri="{FF2B5EF4-FFF2-40B4-BE49-F238E27FC236}">
                <a16:creationId xmlns:a16="http://schemas.microsoft.com/office/drawing/2014/main" id="{8C1F3E0E-2841-4121-B2B1-BDA761D96C54}"/>
              </a:ext>
            </a:extLst>
          </p:cNvPr>
          <p:cNvSpPr txBox="1"/>
          <p:nvPr/>
        </p:nvSpPr>
        <p:spPr>
          <a:xfrm>
            <a:off x="1847088" y="2342769"/>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범용 DRAM 집중</a:t>
            </a:r>
          </a:p>
        </p:txBody>
      </p:sp>
      <p:sp>
        <p:nvSpPr>
          <p:cNvPr id="172" name="TextBox 171">
            <a:extLst>
              <a:ext uri="{FF2B5EF4-FFF2-40B4-BE49-F238E27FC236}">
                <a16:creationId xmlns:a16="http://schemas.microsoft.com/office/drawing/2014/main" id="{B7D2F3F8-D830-4EB2-BD84-A4D895B79108}"/>
              </a:ext>
            </a:extLst>
          </p:cNvPr>
          <p:cNvSpPr txBox="1"/>
          <p:nvPr/>
        </p:nvSpPr>
        <p:spPr>
          <a:xfrm>
            <a:off x="1883664" y="2534793"/>
            <a:ext cx="1261872" cy="676656"/>
          </a:xfrm>
          <a:prstGeom prst="rect">
            <a:avLst/>
          </a:prstGeom>
          <a:noFill/>
        </p:spPr>
        <p:txBody>
          <a:bodyPr wrap="square" lIns="0" tIns="0" rIns="0" bIns="0" anchor="t">
            <a:noAutofit/>
          </a:bodyPr>
          <a:lstStyle/>
          <a:p>
            <a:pPr algn="l">
              <a:lnSpc>
                <a:spcPct val="125000"/>
              </a:lnSpc>
            </a:pPr>
            <a:r>
              <a:rPr sz="800" b="0" dirty="0" err="1">
                <a:solidFill>
                  <a:srgbClr val="555555"/>
                </a:solidFill>
                <a:latin typeface="+mj-ea"/>
                <a:ea typeface="+mj-ea"/>
              </a:rPr>
              <a:t>수요가</a:t>
            </a:r>
            <a:r>
              <a:rPr sz="800" b="0" dirty="0">
                <a:solidFill>
                  <a:srgbClr val="555555"/>
                </a:solidFill>
                <a:latin typeface="+mj-ea"/>
                <a:ea typeface="+mj-ea"/>
              </a:rPr>
              <a:t> </a:t>
            </a:r>
            <a:r>
              <a:rPr sz="800" b="0" dirty="0" err="1">
                <a:solidFill>
                  <a:srgbClr val="555555"/>
                </a:solidFill>
                <a:latin typeface="+mj-ea"/>
                <a:ea typeface="+mj-ea"/>
              </a:rPr>
              <a:t>제한적이던</a:t>
            </a:r>
            <a:r>
              <a:rPr sz="800" b="0" dirty="0">
                <a:solidFill>
                  <a:srgbClr val="555555"/>
                </a:solidFill>
                <a:latin typeface="+mj-ea"/>
                <a:ea typeface="+mj-ea"/>
              </a:rPr>
              <a:t> HBM </a:t>
            </a:r>
            <a:endParaRPr lang="en-US" sz="800" b="0" dirty="0">
              <a:solidFill>
                <a:srgbClr val="555555"/>
              </a:solidFill>
              <a:latin typeface="+mj-ea"/>
              <a:ea typeface="+mj-ea"/>
            </a:endParaRPr>
          </a:p>
          <a:p>
            <a:pPr algn="l">
              <a:lnSpc>
                <a:spcPct val="125000"/>
              </a:lnSpc>
            </a:pPr>
            <a:r>
              <a:rPr sz="800" b="0" dirty="0" err="1">
                <a:solidFill>
                  <a:srgbClr val="555555"/>
                </a:solidFill>
                <a:latin typeface="+mj-ea"/>
                <a:ea typeface="+mj-ea"/>
              </a:rPr>
              <a:t>대신</a:t>
            </a:r>
            <a:r>
              <a:rPr sz="800" b="0" dirty="0">
                <a:solidFill>
                  <a:srgbClr val="555555"/>
                </a:solidFill>
                <a:latin typeface="+mj-ea"/>
                <a:ea typeface="+mj-ea"/>
              </a:rPr>
              <a:t> </a:t>
            </a:r>
            <a:r>
              <a:rPr sz="800" b="0" dirty="0" err="1">
                <a:solidFill>
                  <a:srgbClr val="555555"/>
                </a:solidFill>
                <a:latin typeface="+mj-ea"/>
                <a:ea typeface="+mj-ea"/>
              </a:rPr>
              <a:t>범용</a:t>
            </a:r>
            <a:r>
              <a:rPr sz="800" b="0" dirty="0">
                <a:solidFill>
                  <a:srgbClr val="555555"/>
                </a:solidFill>
                <a:latin typeface="+mj-ea"/>
                <a:ea typeface="+mj-ea"/>
              </a:rPr>
              <a:t> DRAM</a:t>
            </a:r>
            <a:r>
              <a:rPr lang="en-US" sz="800" b="0" dirty="0">
                <a:solidFill>
                  <a:srgbClr val="555555"/>
                </a:solidFill>
                <a:latin typeface="+mj-ea"/>
                <a:ea typeface="+mj-ea"/>
              </a:rPr>
              <a:t> </a:t>
            </a:r>
            <a:r>
              <a:rPr sz="800" b="0" dirty="0" err="1">
                <a:solidFill>
                  <a:srgbClr val="555555"/>
                </a:solidFill>
                <a:latin typeface="+mj-ea"/>
                <a:ea typeface="+mj-ea"/>
              </a:rPr>
              <a:t>경쟁력에</a:t>
            </a:r>
            <a:r>
              <a:rPr sz="800" b="0" dirty="0">
                <a:solidFill>
                  <a:srgbClr val="555555"/>
                </a:solidFill>
                <a:latin typeface="+mj-ea"/>
                <a:ea typeface="+mj-ea"/>
              </a:rPr>
              <a:t> </a:t>
            </a:r>
            <a:r>
              <a:rPr sz="800" b="0" dirty="0" err="1">
                <a:solidFill>
                  <a:srgbClr val="555555"/>
                </a:solidFill>
                <a:latin typeface="+mj-ea"/>
                <a:ea typeface="+mj-ea"/>
              </a:rPr>
              <a:t>집중</a:t>
            </a:r>
            <a:endParaRPr sz="800" b="0" dirty="0">
              <a:solidFill>
                <a:srgbClr val="555555"/>
              </a:solidFill>
              <a:latin typeface="+mj-ea"/>
              <a:ea typeface="+mj-ea"/>
            </a:endParaRPr>
          </a:p>
        </p:txBody>
      </p:sp>
      <p:sp>
        <p:nvSpPr>
          <p:cNvPr id="173" name="TextBox 172">
            <a:extLst>
              <a:ext uri="{FF2B5EF4-FFF2-40B4-BE49-F238E27FC236}">
                <a16:creationId xmlns:a16="http://schemas.microsoft.com/office/drawing/2014/main" id="{ECAD46D3-A777-478C-A253-6C892443C6C0}"/>
              </a:ext>
            </a:extLst>
          </p:cNvPr>
          <p:cNvSpPr txBox="1"/>
          <p:nvPr/>
        </p:nvSpPr>
        <p:spPr>
          <a:xfrm>
            <a:off x="3218688" y="1867280"/>
            <a:ext cx="1335024" cy="182880"/>
          </a:xfrm>
          <a:prstGeom prst="rect">
            <a:avLst/>
          </a:prstGeom>
          <a:noFill/>
        </p:spPr>
        <p:txBody>
          <a:bodyPr wrap="square" lIns="0" tIns="0" rIns="0" bIns="0" anchor="t">
            <a:noAutofit/>
          </a:bodyPr>
          <a:lstStyle/>
          <a:p>
            <a:pPr algn="ctr"/>
            <a:r>
              <a:rPr sz="1100" b="1" dirty="0">
                <a:solidFill>
                  <a:srgbClr val="C55A11"/>
                </a:solidFill>
                <a:latin typeface="+mj-ea"/>
                <a:ea typeface="+mj-ea"/>
              </a:rPr>
              <a:t>2023~</a:t>
            </a:r>
          </a:p>
        </p:txBody>
      </p:sp>
      <p:sp>
        <p:nvSpPr>
          <p:cNvPr id="174" name="timeline dot">
            <a:extLst>
              <a:ext uri="{FF2B5EF4-FFF2-40B4-BE49-F238E27FC236}">
                <a16:creationId xmlns:a16="http://schemas.microsoft.com/office/drawing/2014/main" id="{458473B9-1CD8-4037-8C52-A9EBF83644BB}"/>
              </a:ext>
            </a:extLst>
          </p:cNvPr>
          <p:cNvSpPr/>
          <p:nvPr/>
        </p:nvSpPr>
        <p:spPr>
          <a:xfrm>
            <a:off x="3822191" y="2150745"/>
            <a:ext cx="128016" cy="128016"/>
          </a:xfrm>
          <a:prstGeom prst="ellipse">
            <a:avLst/>
          </a:prstGeom>
          <a:solidFill>
            <a:srgbClr val="C55A11"/>
          </a:solidFill>
          <a:ln>
            <a:noFill/>
          </a:ln>
        </p:spPr>
        <p:txBody>
          <a:bodyPr rtlCol="0" anchor="ctr"/>
          <a:lstStyle/>
          <a:p>
            <a:pPr algn="ctr"/>
            <a:endParaRPr/>
          </a:p>
        </p:txBody>
      </p:sp>
      <p:sp>
        <p:nvSpPr>
          <p:cNvPr id="175" name="TextBox 174">
            <a:extLst>
              <a:ext uri="{FF2B5EF4-FFF2-40B4-BE49-F238E27FC236}">
                <a16:creationId xmlns:a16="http://schemas.microsoft.com/office/drawing/2014/main" id="{59F8BD59-5AA7-4A58-AA3F-225BF2C95A75}"/>
              </a:ext>
            </a:extLst>
          </p:cNvPr>
          <p:cNvSpPr txBox="1"/>
          <p:nvPr/>
        </p:nvSpPr>
        <p:spPr>
          <a:xfrm>
            <a:off x="3218688" y="2342769"/>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AI 급부상</a:t>
            </a:r>
          </a:p>
        </p:txBody>
      </p:sp>
      <p:sp>
        <p:nvSpPr>
          <p:cNvPr id="176" name="TextBox 175">
            <a:extLst>
              <a:ext uri="{FF2B5EF4-FFF2-40B4-BE49-F238E27FC236}">
                <a16:creationId xmlns:a16="http://schemas.microsoft.com/office/drawing/2014/main" id="{42F8EB34-2138-4974-998F-49A2B82B25C5}"/>
              </a:ext>
            </a:extLst>
          </p:cNvPr>
          <p:cNvSpPr txBox="1"/>
          <p:nvPr/>
        </p:nvSpPr>
        <p:spPr>
          <a:xfrm>
            <a:off x="3255264" y="2534793"/>
            <a:ext cx="1261872" cy="387512"/>
          </a:xfrm>
          <a:prstGeom prst="rect">
            <a:avLst/>
          </a:prstGeom>
          <a:noFill/>
        </p:spPr>
        <p:txBody>
          <a:bodyPr wrap="square" lIns="0" tIns="0" rIns="0" bIns="0" anchor="t">
            <a:noAutofit/>
          </a:bodyPr>
          <a:lstStyle/>
          <a:p>
            <a:pPr algn="l">
              <a:lnSpc>
                <a:spcPct val="125000"/>
              </a:lnSpc>
            </a:pPr>
            <a:r>
              <a:rPr sz="800" b="0" dirty="0">
                <a:solidFill>
                  <a:srgbClr val="555555"/>
                </a:solidFill>
                <a:latin typeface="+mj-ea"/>
                <a:ea typeface="+mj-ea"/>
              </a:rPr>
              <a:t>HBM </a:t>
            </a:r>
            <a:r>
              <a:rPr sz="800" b="0" dirty="0" err="1">
                <a:solidFill>
                  <a:srgbClr val="555555"/>
                </a:solidFill>
                <a:latin typeface="+mj-ea"/>
                <a:ea typeface="+mj-ea"/>
              </a:rPr>
              <a:t>수요</a:t>
            </a:r>
            <a:r>
              <a:rPr sz="800" b="0" dirty="0">
                <a:solidFill>
                  <a:srgbClr val="555555"/>
                </a:solidFill>
                <a:latin typeface="+mj-ea"/>
                <a:ea typeface="+mj-ea"/>
              </a:rPr>
              <a:t> </a:t>
            </a:r>
            <a:r>
              <a:rPr sz="800" b="0" dirty="0" err="1">
                <a:solidFill>
                  <a:srgbClr val="555555"/>
                </a:solidFill>
                <a:latin typeface="+mj-ea"/>
                <a:ea typeface="+mj-ea"/>
              </a:rPr>
              <a:t>급증</a:t>
            </a:r>
            <a:r>
              <a:rPr sz="800" b="0" dirty="0">
                <a:solidFill>
                  <a:srgbClr val="555555"/>
                </a:solidFill>
                <a:latin typeface="+mj-ea"/>
                <a:ea typeface="+mj-ea"/>
              </a:rPr>
              <a:t>: 2024 $16B → 2025 $35B (2.2×)</a:t>
            </a:r>
          </a:p>
        </p:txBody>
      </p:sp>
      <p:sp>
        <p:nvSpPr>
          <p:cNvPr id="177" name="TextBox 176">
            <a:extLst>
              <a:ext uri="{FF2B5EF4-FFF2-40B4-BE49-F238E27FC236}">
                <a16:creationId xmlns:a16="http://schemas.microsoft.com/office/drawing/2014/main" id="{0F217585-5CD9-48CA-A5CA-6E494D70C461}"/>
              </a:ext>
            </a:extLst>
          </p:cNvPr>
          <p:cNvSpPr txBox="1"/>
          <p:nvPr/>
        </p:nvSpPr>
        <p:spPr>
          <a:xfrm>
            <a:off x="4590288" y="1867280"/>
            <a:ext cx="1335024" cy="182880"/>
          </a:xfrm>
          <a:prstGeom prst="rect">
            <a:avLst/>
          </a:prstGeom>
          <a:noFill/>
        </p:spPr>
        <p:txBody>
          <a:bodyPr wrap="square" lIns="0" tIns="0" rIns="0" bIns="0" anchor="t">
            <a:noAutofit/>
          </a:bodyPr>
          <a:lstStyle/>
          <a:p>
            <a:pPr algn="ctr"/>
            <a:r>
              <a:rPr sz="1100" b="1">
                <a:solidFill>
                  <a:srgbClr val="C55A11"/>
                </a:solidFill>
                <a:latin typeface="+mj-ea"/>
                <a:ea typeface="+mj-ea"/>
              </a:rPr>
              <a:t>2024~25</a:t>
            </a:r>
          </a:p>
        </p:txBody>
      </p:sp>
      <p:sp>
        <p:nvSpPr>
          <p:cNvPr id="178" name="timeline dot">
            <a:extLst>
              <a:ext uri="{FF2B5EF4-FFF2-40B4-BE49-F238E27FC236}">
                <a16:creationId xmlns:a16="http://schemas.microsoft.com/office/drawing/2014/main" id="{E5115058-AAF8-4FF8-8281-537800902D29}"/>
              </a:ext>
            </a:extLst>
          </p:cNvPr>
          <p:cNvSpPr/>
          <p:nvPr/>
        </p:nvSpPr>
        <p:spPr>
          <a:xfrm>
            <a:off x="5193792" y="2150745"/>
            <a:ext cx="128016" cy="128016"/>
          </a:xfrm>
          <a:prstGeom prst="ellipse">
            <a:avLst/>
          </a:prstGeom>
          <a:solidFill>
            <a:srgbClr val="C55A11"/>
          </a:solidFill>
          <a:ln>
            <a:noFill/>
          </a:ln>
        </p:spPr>
        <p:txBody>
          <a:bodyPr rtlCol="0" anchor="ctr"/>
          <a:lstStyle/>
          <a:p>
            <a:pPr algn="ctr"/>
            <a:endParaRPr/>
          </a:p>
        </p:txBody>
      </p:sp>
      <p:sp>
        <p:nvSpPr>
          <p:cNvPr id="179" name="TextBox 178">
            <a:extLst>
              <a:ext uri="{FF2B5EF4-FFF2-40B4-BE49-F238E27FC236}">
                <a16:creationId xmlns:a16="http://schemas.microsoft.com/office/drawing/2014/main" id="{048B1904-DC95-407E-84C8-C13F5413C035}"/>
              </a:ext>
            </a:extLst>
          </p:cNvPr>
          <p:cNvSpPr txBox="1"/>
          <p:nvPr/>
        </p:nvSpPr>
        <p:spPr>
          <a:xfrm>
            <a:off x="4590288" y="2342769"/>
            <a:ext cx="1335024" cy="182880"/>
          </a:xfrm>
          <a:prstGeom prst="rect">
            <a:avLst/>
          </a:prstGeom>
          <a:noFill/>
        </p:spPr>
        <p:txBody>
          <a:bodyPr wrap="square" lIns="0" tIns="0" rIns="0" bIns="0" anchor="t">
            <a:noAutofit/>
          </a:bodyPr>
          <a:lstStyle/>
          <a:p>
            <a:pPr algn="ctr"/>
            <a:r>
              <a:rPr sz="1000" b="1">
                <a:solidFill>
                  <a:srgbClr val="222222"/>
                </a:solidFill>
                <a:latin typeface="+mj-ea"/>
                <a:ea typeface="+mj-ea"/>
              </a:rPr>
              <a:t>대응에 시간 소요</a:t>
            </a:r>
          </a:p>
        </p:txBody>
      </p:sp>
      <p:sp>
        <p:nvSpPr>
          <p:cNvPr id="180" name="TextBox 179">
            <a:extLst>
              <a:ext uri="{FF2B5EF4-FFF2-40B4-BE49-F238E27FC236}">
                <a16:creationId xmlns:a16="http://schemas.microsoft.com/office/drawing/2014/main" id="{7F57237E-F5BA-4C1F-B6F4-CE33ED518896}"/>
              </a:ext>
            </a:extLst>
          </p:cNvPr>
          <p:cNvSpPr txBox="1"/>
          <p:nvPr/>
        </p:nvSpPr>
        <p:spPr>
          <a:xfrm>
            <a:off x="4626864" y="2534793"/>
            <a:ext cx="1261872" cy="676656"/>
          </a:xfrm>
          <a:prstGeom prst="rect">
            <a:avLst/>
          </a:prstGeom>
          <a:noFill/>
        </p:spPr>
        <p:txBody>
          <a:bodyPr wrap="square" lIns="0" tIns="0" rIns="0" bIns="0" anchor="t">
            <a:noAutofit/>
          </a:bodyPr>
          <a:lstStyle/>
          <a:p>
            <a:pPr algn="l">
              <a:lnSpc>
                <a:spcPct val="125000"/>
              </a:lnSpc>
            </a:pPr>
            <a:r>
              <a:rPr sz="800" b="0" dirty="0">
                <a:solidFill>
                  <a:srgbClr val="555555"/>
                </a:solidFill>
                <a:latin typeface="+mj-ea"/>
                <a:ea typeface="+mj-ea"/>
              </a:rPr>
              <a:t>HBM3E 12단 </a:t>
            </a:r>
            <a:r>
              <a:rPr sz="800" b="0" dirty="0" err="1">
                <a:solidFill>
                  <a:srgbClr val="555555"/>
                </a:solidFill>
                <a:latin typeface="+mj-ea"/>
                <a:ea typeface="+mj-ea"/>
              </a:rPr>
              <a:t>고객</a:t>
            </a:r>
            <a:r>
              <a:rPr sz="800" b="0" dirty="0">
                <a:solidFill>
                  <a:srgbClr val="555555"/>
                </a:solidFill>
                <a:latin typeface="+mj-ea"/>
                <a:ea typeface="+mj-ea"/>
              </a:rPr>
              <a:t> </a:t>
            </a:r>
            <a:r>
              <a:rPr sz="800" b="0" dirty="0" err="1">
                <a:solidFill>
                  <a:srgbClr val="555555"/>
                </a:solidFill>
                <a:latin typeface="+mj-ea"/>
                <a:ea typeface="+mj-ea"/>
              </a:rPr>
              <a:t>인증에</a:t>
            </a:r>
            <a:r>
              <a:rPr sz="800" b="0" dirty="0">
                <a:solidFill>
                  <a:srgbClr val="555555"/>
                </a:solidFill>
                <a:latin typeface="+mj-ea"/>
                <a:ea typeface="+mj-ea"/>
              </a:rPr>
              <a:t> </a:t>
            </a:r>
            <a:r>
              <a:rPr sz="800" b="0" dirty="0" err="1">
                <a:solidFill>
                  <a:srgbClr val="555555"/>
                </a:solidFill>
                <a:latin typeface="+mj-ea"/>
                <a:ea typeface="+mj-ea"/>
              </a:rPr>
              <a:t>시간</a:t>
            </a:r>
            <a:r>
              <a:rPr sz="800" b="0" dirty="0">
                <a:solidFill>
                  <a:srgbClr val="555555"/>
                </a:solidFill>
                <a:latin typeface="+mj-ea"/>
                <a:ea typeface="+mj-ea"/>
              </a:rPr>
              <a:t> </a:t>
            </a:r>
            <a:r>
              <a:rPr sz="800" b="0" dirty="0" err="1">
                <a:solidFill>
                  <a:srgbClr val="555555"/>
                </a:solidFill>
                <a:latin typeface="+mj-ea"/>
                <a:ea typeface="+mj-ea"/>
              </a:rPr>
              <a:t>소요</a:t>
            </a:r>
            <a:r>
              <a:rPr sz="800" b="0" dirty="0">
                <a:solidFill>
                  <a:srgbClr val="555555"/>
                </a:solidFill>
                <a:latin typeface="+mj-ea"/>
                <a:ea typeface="+mj-ea"/>
              </a:rPr>
              <a:t> (</a:t>
            </a:r>
            <a:r>
              <a:rPr sz="800" b="0" dirty="0" err="1">
                <a:solidFill>
                  <a:srgbClr val="555555"/>
                </a:solidFill>
                <a:latin typeface="+mj-ea"/>
                <a:ea typeface="+mj-ea"/>
              </a:rPr>
              <a:t>공개</a:t>
            </a:r>
            <a:r>
              <a:rPr sz="800" b="0" dirty="0">
                <a:solidFill>
                  <a:srgbClr val="555555"/>
                </a:solidFill>
                <a:latin typeface="+mj-ea"/>
                <a:ea typeface="+mj-ea"/>
              </a:rPr>
              <a:t> </a:t>
            </a:r>
            <a:r>
              <a:rPr sz="800" b="0" dirty="0" err="1">
                <a:solidFill>
                  <a:srgbClr val="555555"/>
                </a:solidFill>
                <a:latin typeface="+mj-ea"/>
                <a:ea typeface="+mj-ea"/>
              </a:rPr>
              <a:t>보도</a:t>
            </a:r>
            <a:r>
              <a:rPr sz="800" b="0" dirty="0">
                <a:solidFill>
                  <a:srgbClr val="555555"/>
                </a:solidFill>
                <a:latin typeface="+mj-ea"/>
                <a:ea typeface="+mj-ea"/>
              </a:rPr>
              <a:t>) </a:t>
            </a:r>
            <a:endParaRPr lang="en-US" sz="800" b="0" dirty="0">
              <a:solidFill>
                <a:srgbClr val="555555"/>
              </a:solidFill>
              <a:latin typeface="+mj-ea"/>
              <a:ea typeface="+mj-ea"/>
            </a:endParaRPr>
          </a:p>
          <a:p>
            <a:pPr algn="l">
              <a:lnSpc>
                <a:spcPct val="125000"/>
              </a:lnSpc>
            </a:pPr>
            <a:r>
              <a:rPr sz="800" b="0" dirty="0">
                <a:solidFill>
                  <a:srgbClr val="555555"/>
                </a:solidFill>
                <a:latin typeface="+mj-ea"/>
                <a:ea typeface="+mj-ea"/>
              </a:rPr>
              <a:t>→ HBM4 </a:t>
            </a:r>
            <a:r>
              <a:rPr sz="800" b="0" dirty="0" err="1">
                <a:solidFill>
                  <a:srgbClr val="555555"/>
                </a:solidFill>
                <a:latin typeface="+mj-ea"/>
                <a:ea typeface="+mj-ea"/>
              </a:rPr>
              <a:t>인증</a:t>
            </a:r>
            <a:r>
              <a:rPr sz="800" b="0" dirty="0">
                <a:solidFill>
                  <a:srgbClr val="555555"/>
                </a:solidFill>
                <a:latin typeface="+mj-ea"/>
                <a:ea typeface="+mj-ea"/>
              </a:rPr>
              <a:t> </a:t>
            </a:r>
            <a:r>
              <a:rPr sz="800" b="0" dirty="0" err="1">
                <a:solidFill>
                  <a:srgbClr val="555555"/>
                </a:solidFill>
                <a:latin typeface="+mj-ea"/>
                <a:ea typeface="+mj-ea"/>
              </a:rPr>
              <a:t>진행</a:t>
            </a:r>
            <a:endParaRPr sz="800" b="0" dirty="0">
              <a:solidFill>
                <a:srgbClr val="555555"/>
              </a:solidFill>
              <a:latin typeface="+mj-ea"/>
              <a:ea typeface="+mj-ea"/>
            </a:endParaRPr>
          </a:p>
        </p:txBody>
      </p:sp>
      <p:sp>
        <p:nvSpPr>
          <p:cNvPr id="181" name="Insight">
            <a:extLst>
              <a:ext uri="{FF2B5EF4-FFF2-40B4-BE49-F238E27FC236}">
                <a16:creationId xmlns:a16="http://schemas.microsoft.com/office/drawing/2014/main" id="{08845506-1E78-4859-A2FB-365EDAB0145F}"/>
              </a:ext>
            </a:extLst>
          </p:cNvPr>
          <p:cNvSpPr/>
          <p:nvPr/>
        </p:nvSpPr>
        <p:spPr>
          <a:xfrm>
            <a:off x="475488" y="3140903"/>
            <a:ext cx="5321807" cy="457200"/>
          </a:xfrm>
          <a:prstGeom prst="roundRect">
            <a:avLst>
              <a:gd name="adj" fmla="val 12000"/>
            </a:avLst>
          </a:prstGeom>
          <a:solidFill>
            <a:srgbClr val="FDF1E7"/>
          </a:solidFill>
          <a:ln>
            <a:noFill/>
          </a:ln>
        </p:spPr>
        <p:txBody>
          <a:bodyPr wrap="square" tIns="18288" bIns="18288" rtlCol="0" anchor="ctr"/>
          <a:lstStyle/>
          <a:p>
            <a:pPr algn="l">
              <a:lnSpc>
                <a:spcPct val="105000"/>
              </a:lnSpc>
            </a:pPr>
            <a:r>
              <a:rPr sz="1000" b="1" dirty="0" err="1">
                <a:solidFill>
                  <a:srgbClr val="C55A11"/>
                </a:solidFill>
                <a:latin typeface="+mj-ea"/>
                <a:ea typeface="+mj-ea"/>
              </a:rPr>
              <a:t>시사점</a:t>
            </a:r>
            <a:r>
              <a:rPr sz="1000" b="1" dirty="0">
                <a:solidFill>
                  <a:srgbClr val="C55A11"/>
                </a:solidFill>
                <a:latin typeface="+mj-ea"/>
                <a:ea typeface="+mj-ea"/>
              </a:rPr>
              <a:t>  </a:t>
            </a:r>
            <a:r>
              <a:rPr sz="1000" b="1" dirty="0" err="1">
                <a:solidFill>
                  <a:srgbClr val="222222"/>
                </a:solidFill>
                <a:latin typeface="+mj-ea"/>
                <a:ea typeface="+mj-ea"/>
              </a:rPr>
              <a:t>수요</a:t>
            </a:r>
            <a:r>
              <a:rPr sz="1000" b="1" dirty="0">
                <a:solidFill>
                  <a:srgbClr val="222222"/>
                </a:solidFill>
                <a:latin typeface="+mj-ea"/>
                <a:ea typeface="+mj-ea"/>
              </a:rPr>
              <a:t> </a:t>
            </a:r>
            <a:r>
              <a:rPr sz="1000" b="1" dirty="0" err="1">
                <a:solidFill>
                  <a:srgbClr val="222222"/>
                </a:solidFill>
                <a:latin typeface="+mj-ea"/>
                <a:ea typeface="+mj-ea"/>
              </a:rPr>
              <a:t>변곡점은</a:t>
            </a:r>
            <a:r>
              <a:rPr sz="1000" b="1" dirty="0">
                <a:solidFill>
                  <a:srgbClr val="222222"/>
                </a:solidFill>
                <a:latin typeface="+mj-ea"/>
                <a:ea typeface="+mj-ea"/>
              </a:rPr>
              <a:t> </a:t>
            </a:r>
            <a:r>
              <a:rPr sz="1000" b="1" dirty="0" err="1">
                <a:solidFill>
                  <a:srgbClr val="222222"/>
                </a:solidFill>
                <a:latin typeface="+mj-ea"/>
                <a:ea typeface="+mj-ea"/>
              </a:rPr>
              <a:t>예측보다</a:t>
            </a:r>
            <a:r>
              <a:rPr sz="1000" b="1" dirty="0">
                <a:solidFill>
                  <a:srgbClr val="222222"/>
                </a:solidFill>
                <a:latin typeface="+mj-ea"/>
                <a:ea typeface="+mj-ea"/>
              </a:rPr>
              <a:t> </a:t>
            </a:r>
            <a:r>
              <a:rPr sz="1000" b="1" dirty="0" err="1">
                <a:solidFill>
                  <a:srgbClr val="222222"/>
                </a:solidFill>
                <a:latin typeface="+mj-ea"/>
                <a:ea typeface="+mj-ea"/>
              </a:rPr>
              <a:t>빠르고</a:t>
            </a:r>
            <a:r>
              <a:rPr sz="1000" b="1" dirty="0">
                <a:solidFill>
                  <a:srgbClr val="222222"/>
                </a:solidFill>
                <a:latin typeface="+mj-ea"/>
                <a:ea typeface="+mj-ea"/>
              </a:rPr>
              <a:t>, </a:t>
            </a:r>
            <a:r>
              <a:rPr sz="1000" b="1" dirty="0" err="1">
                <a:solidFill>
                  <a:srgbClr val="222222"/>
                </a:solidFill>
                <a:latin typeface="+mj-ea"/>
                <a:ea typeface="+mj-ea"/>
              </a:rPr>
              <a:t>개발</a:t>
            </a:r>
            <a:r>
              <a:rPr lang="en-US" sz="1000" b="1" dirty="0">
                <a:solidFill>
                  <a:srgbClr val="222222"/>
                </a:solidFill>
                <a:latin typeface="+mj-ea"/>
                <a:ea typeface="+mj-ea"/>
              </a:rPr>
              <a:t>/</a:t>
            </a:r>
            <a:r>
              <a:rPr sz="1000" b="1" dirty="0" err="1">
                <a:solidFill>
                  <a:srgbClr val="222222"/>
                </a:solidFill>
                <a:latin typeface="+mj-ea"/>
                <a:ea typeface="+mj-ea"/>
              </a:rPr>
              <a:t>인증</a:t>
            </a:r>
            <a:r>
              <a:rPr lang="en-US" sz="1000" b="1" dirty="0">
                <a:solidFill>
                  <a:srgbClr val="222222"/>
                </a:solidFill>
                <a:latin typeface="+mj-ea"/>
                <a:ea typeface="+mj-ea"/>
              </a:rPr>
              <a:t>/</a:t>
            </a:r>
            <a:r>
              <a:rPr sz="1000" b="1" dirty="0" err="1">
                <a:solidFill>
                  <a:srgbClr val="222222"/>
                </a:solidFill>
                <a:latin typeface="+mj-ea"/>
                <a:ea typeface="+mj-ea"/>
              </a:rPr>
              <a:t>양산</a:t>
            </a:r>
            <a:r>
              <a:rPr sz="1000" b="1" dirty="0">
                <a:solidFill>
                  <a:srgbClr val="222222"/>
                </a:solidFill>
                <a:latin typeface="+mj-ea"/>
                <a:ea typeface="+mj-ea"/>
              </a:rPr>
              <a:t> </a:t>
            </a:r>
            <a:r>
              <a:rPr sz="1000" b="1" dirty="0" err="1">
                <a:solidFill>
                  <a:srgbClr val="222222"/>
                </a:solidFill>
                <a:latin typeface="+mj-ea"/>
                <a:ea typeface="+mj-ea"/>
              </a:rPr>
              <a:t>리드타임이</a:t>
            </a:r>
            <a:r>
              <a:rPr sz="1000" b="1" dirty="0">
                <a:solidFill>
                  <a:srgbClr val="222222"/>
                </a:solidFill>
                <a:latin typeface="+mj-ea"/>
                <a:ea typeface="+mj-ea"/>
              </a:rPr>
              <a:t> </a:t>
            </a:r>
            <a:r>
              <a:rPr sz="1000" b="1" dirty="0" err="1">
                <a:solidFill>
                  <a:srgbClr val="222222"/>
                </a:solidFill>
                <a:latin typeface="+mj-ea"/>
                <a:ea typeface="+mj-ea"/>
              </a:rPr>
              <a:t>대응</a:t>
            </a:r>
            <a:r>
              <a:rPr sz="1000" b="1" dirty="0">
                <a:solidFill>
                  <a:srgbClr val="222222"/>
                </a:solidFill>
                <a:latin typeface="+mj-ea"/>
                <a:ea typeface="+mj-ea"/>
              </a:rPr>
              <a:t> </a:t>
            </a:r>
            <a:r>
              <a:rPr sz="1000" b="1" dirty="0" err="1">
                <a:solidFill>
                  <a:srgbClr val="222222"/>
                </a:solidFill>
                <a:latin typeface="+mj-ea"/>
                <a:ea typeface="+mj-ea"/>
              </a:rPr>
              <a:t>속도를</a:t>
            </a:r>
            <a:r>
              <a:rPr sz="1000" b="1" dirty="0">
                <a:solidFill>
                  <a:srgbClr val="222222"/>
                </a:solidFill>
                <a:latin typeface="+mj-ea"/>
                <a:ea typeface="+mj-ea"/>
              </a:rPr>
              <a:t> </a:t>
            </a:r>
            <a:r>
              <a:rPr sz="1000" b="1" dirty="0" err="1">
                <a:solidFill>
                  <a:srgbClr val="222222"/>
                </a:solidFill>
                <a:latin typeface="+mj-ea"/>
                <a:ea typeface="+mj-ea"/>
              </a:rPr>
              <a:t>좌우</a:t>
            </a:r>
            <a:r>
              <a:rPr sz="1000" b="1" dirty="0">
                <a:solidFill>
                  <a:srgbClr val="222222"/>
                </a:solidFill>
                <a:latin typeface="+mj-ea"/>
                <a:ea typeface="+mj-ea"/>
              </a:rPr>
              <a:t> </a:t>
            </a:r>
            <a:endParaRPr lang="en-US" sz="1000" b="1" dirty="0">
              <a:solidFill>
                <a:srgbClr val="222222"/>
              </a:solidFill>
              <a:latin typeface="+mj-ea"/>
              <a:ea typeface="+mj-ea"/>
            </a:endParaRPr>
          </a:p>
          <a:p>
            <a:pPr algn="l">
              <a:lnSpc>
                <a:spcPct val="105000"/>
              </a:lnSpc>
            </a:pPr>
            <a:r>
              <a:rPr sz="1000" b="1" dirty="0">
                <a:solidFill>
                  <a:srgbClr val="0066FF"/>
                </a:solidFill>
                <a:latin typeface="+mj-ea"/>
                <a:ea typeface="+mj-ea"/>
              </a:rPr>
              <a:t>→ </a:t>
            </a:r>
            <a:r>
              <a:rPr sz="1000" b="1" dirty="0" err="1">
                <a:solidFill>
                  <a:srgbClr val="0066FF"/>
                </a:solidFill>
                <a:latin typeface="+mj-ea"/>
                <a:ea typeface="+mj-ea"/>
              </a:rPr>
              <a:t>다음</a:t>
            </a:r>
            <a:r>
              <a:rPr sz="1000" b="1" dirty="0">
                <a:solidFill>
                  <a:srgbClr val="0066FF"/>
                </a:solidFill>
                <a:latin typeface="+mj-ea"/>
                <a:ea typeface="+mj-ea"/>
              </a:rPr>
              <a:t> </a:t>
            </a:r>
            <a:r>
              <a:rPr sz="1000" b="1" dirty="0" err="1">
                <a:solidFill>
                  <a:srgbClr val="0066FF"/>
                </a:solidFill>
                <a:latin typeface="+mj-ea"/>
                <a:ea typeface="+mj-ea"/>
              </a:rPr>
              <a:t>수요</a:t>
            </a:r>
            <a:r>
              <a:rPr sz="1000" b="1" dirty="0">
                <a:solidFill>
                  <a:srgbClr val="0066FF"/>
                </a:solidFill>
                <a:latin typeface="+mj-ea"/>
                <a:ea typeface="+mj-ea"/>
              </a:rPr>
              <a:t> </a:t>
            </a:r>
            <a:r>
              <a:rPr sz="1000" b="1" dirty="0" err="1">
                <a:solidFill>
                  <a:srgbClr val="0066FF"/>
                </a:solidFill>
                <a:latin typeface="+mj-ea"/>
                <a:ea typeface="+mj-ea"/>
              </a:rPr>
              <a:t>후보를</a:t>
            </a:r>
            <a:r>
              <a:rPr sz="1000" b="1" dirty="0">
                <a:solidFill>
                  <a:srgbClr val="0066FF"/>
                </a:solidFill>
                <a:latin typeface="+mj-ea"/>
                <a:ea typeface="+mj-ea"/>
              </a:rPr>
              <a:t> </a:t>
            </a:r>
            <a:r>
              <a:rPr sz="1000" b="1" dirty="0" err="1">
                <a:solidFill>
                  <a:srgbClr val="0066FF"/>
                </a:solidFill>
                <a:latin typeface="+mj-ea"/>
                <a:ea typeface="+mj-ea"/>
              </a:rPr>
              <a:t>미리</a:t>
            </a:r>
            <a:r>
              <a:rPr sz="1000" b="1" dirty="0">
                <a:solidFill>
                  <a:srgbClr val="0066FF"/>
                </a:solidFill>
                <a:latin typeface="+mj-ea"/>
                <a:ea typeface="+mj-ea"/>
              </a:rPr>
              <a:t> </a:t>
            </a:r>
            <a:r>
              <a:rPr sz="1000" b="1" dirty="0" err="1">
                <a:solidFill>
                  <a:srgbClr val="0066FF"/>
                </a:solidFill>
                <a:latin typeface="+mj-ea"/>
                <a:ea typeface="+mj-ea"/>
              </a:rPr>
              <a:t>연구해</a:t>
            </a:r>
            <a:r>
              <a:rPr sz="1000" b="1" dirty="0">
                <a:solidFill>
                  <a:srgbClr val="0066FF"/>
                </a:solidFill>
                <a:latin typeface="+mj-ea"/>
                <a:ea typeface="+mj-ea"/>
              </a:rPr>
              <a:t> 둘 </a:t>
            </a:r>
            <a:r>
              <a:rPr sz="1000" b="1" dirty="0" err="1">
                <a:solidFill>
                  <a:srgbClr val="0066FF"/>
                </a:solidFill>
                <a:latin typeface="+mj-ea"/>
                <a:ea typeface="+mj-ea"/>
              </a:rPr>
              <a:t>필요</a:t>
            </a:r>
            <a:endParaRPr sz="1000" b="1" dirty="0">
              <a:solidFill>
                <a:srgbClr val="0066FF"/>
              </a:solidFill>
              <a:latin typeface="+mj-ea"/>
              <a:ea typeface="+mj-ea"/>
            </a:endParaRPr>
          </a:p>
        </p:txBody>
      </p:sp>
      <p:sp>
        <p:nvSpPr>
          <p:cNvPr id="182" name="TextBox 181">
            <a:extLst>
              <a:ext uri="{FF2B5EF4-FFF2-40B4-BE49-F238E27FC236}">
                <a16:creationId xmlns:a16="http://schemas.microsoft.com/office/drawing/2014/main" id="{59C04A12-23FA-420E-A103-80FB627BE3AA}"/>
              </a:ext>
            </a:extLst>
          </p:cNvPr>
          <p:cNvSpPr txBox="1"/>
          <p:nvPr/>
        </p:nvSpPr>
        <p:spPr>
          <a:xfrm>
            <a:off x="355600" y="6662601"/>
            <a:ext cx="5321807" cy="128016"/>
          </a:xfrm>
          <a:prstGeom prst="rect">
            <a:avLst/>
          </a:prstGeom>
          <a:noFill/>
        </p:spPr>
        <p:txBody>
          <a:bodyPr wrap="square" lIns="0" tIns="0" rIns="0" bIns="0" anchor="t">
            <a:noAutofit/>
          </a:bodyPr>
          <a:lstStyle/>
          <a:p>
            <a:pPr algn="l"/>
            <a:r>
              <a:rPr sz="650" b="0" dirty="0" err="1">
                <a:solidFill>
                  <a:srgbClr val="555555"/>
                </a:solidFill>
                <a:latin typeface="+mj-ea"/>
                <a:ea typeface="+mj-ea"/>
              </a:rPr>
              <a:t>출처</a:t>
            </a:r>
            <a:r>
              <a:rPr sz="650" b="0" dirty="0">
                <a:solidFill>
                  <a:srgbClr val="555555"/>
                </a:solidFill>
                <a:latin typeface="+mj-ea"/>
                <a:ea typeface="+mj-ea"/>
              </a:rPr>
              <a:t>: Micron(HBM TAM), </a:t>
            </a:r>
            <a:r>
              <a:rPr sz="650" b="0" dirty="0" err="1">
                <a:solidFill>
                  <a:srgbClr val="555555"/>
                </a:solidFill>
                <a:latin typeface="+mj-ea"/>
                <a:ea typeface="+mj-ea"/>
              </a:rPr>
              <a:t>공개</a:t>
            </a:r>
            <a:r>
              <a:rPr sz="650" b="0" dirty="0">
                <a:solidFill>
                  <a:srgbClr val="555555"/>
                </a:solidFill>
                <a:latin typeface="+mj-ea"/>
                <a:ea typeface="+mj-ea"/>
              </a:rPr>
              <a:t> </a:t>
            </a:r>
            <a:r>
              <a:rPr sz="650" b="0" dirty="0" err="1">
                <a:solidFill>
                  <a:srgbClr val="555555"/>
                </a:solidFill>
                <a:latin typeface="+mj-ea"/>
                <a:ea typeface="+mj-ea"/>
              </a:rPr>
              <a:t>보도</a:t>
            </a:r>
            <a:r>
              <a:rPr sz="650" b="0" dirty="0">
                <a:solidFill>
                  <a:srgbClr val="555555"/>
                </a:solidFill>
                <a:latin typeface="+mj-ea"/>
                <a:ea typeface="+mj-ea"/>
              </a:rPr>
              <a:t>(</a:t>
            </a:r>
            <a:r>
              <a:rPr sz="650" b="0" dirty="0" err="1">
                <a:solidFill>
                  <a:srgbClr val="555555"/>
                </a:solidFill>
                <a:latin typeface="+mj-ea"/>
                <a:ea typeface="+mj-ea"/>
              </a:rPr>
              <a:t>삼성</a:t>
            </a:r>
            <a:r>
              <a:rPr sz="650" b="0" dirty="0">
                <a:solidFill>
                  <a:srgbClr val="555555"/>
                </a:solidFill>
                <a:latin typeface="+mj-ea"/>
                <a:ea typeface="+mj-ea"/>
              </a:rPr>
              <a:t> HBM2 </a:t>
            </a:r>
            <a:r>
              <a:rPr sz="650" b="0" dirty="0" err="1">
                <a:solidFill>
                  <a:srgbClr val="555555"/>
                </a:solidFill>
                <a:latin typeface="+mj-ea"/>
                <a:ea typeface="+mj-ea"/>
              </a:rPr>
              <a:t>양산</a:t>
            </a:r>
            <a:r>
              <a:rPr sz="650" b="0" dirty="0">
                <a:solidFill>
                  <a:srgbClr val="555555"/>
                </a:solidFill>
                <a:latin typeface="+mj-ea"/>
                <a:ea typeface="+mj-ea"/>
              </a:rPr>
              <a:t> 2016.1; HBM3E/HBM4 </a:t>
            </a:r>
            <a:r>
              <a:rPr sz="650" b="0" dirty="0" err="1">
                <a:solidFill>
                  <a:srgbClr val="555555"/>
                </a:solidFill>
                <a:latin typeface="+mj-ea"/>
                <a:ea typeface="+mj-ea"/>
              </a:rPr>
              <a:t>인증</a:t>
            </a:r>
            <a:r>
              <a:rPr sz="650" b="0" dirty="0">
                <a:solidFill>
                  <a:srgbClr val="555555"/>
                </a:solidFill>
                <a:latin typeface="+mj-ea"/>
                <a:ea typeface="+mj-ea"/>
              </a:rPr>
              <a:t> </a:t>
            </a:r>
            <a:r>
              <a:rPr sz="650" b="0" dirty="0" err="1">
                <a:solidFill>
                  <a:srgbClr val="555555"/>
                </a:solidFill>
                <a:latin typeface="+mj-ea"/>
                <a:ea typeface="+mj-ea"/>
              </a:rPr>
              <a:t>관련</a:t>
            </a:r>
            <a:r>
              <a:rPr sz="650" b="0" dirty="0">
                <a:solidFill>
                  <a:srgbClr val="555555"/>
                </a:solidFill>
                <a:latin typeface="+mj-ea"/>
                <a:ea typeface="+mj-ea"/>
              </a:rPr>
              <a:t> Bloomberg 2026.1, Korea Times 2025.1 등)</a:t>
            </a:r>
          </a:p>
        </p:txBody>
      </p:sp>
      <p:sp>
        <p:nvSpPr>
          <p:cNvPr id="205" name="TextBox 204">
            <a:extLst>
              <a:ext uri="{FF2B5EF4-FFF2-40B4-BE49-F238E27FC236}">
                <a16:creationId xmlns:a16="http://schemas.microsoft.com/office/drawing/2014/main" id="{A64E17D7-8BDD-4C61-8412-8BA7FCCB797A}"/>
              </a:ext>
            </a:extLst>
          </p:cNvPr>
          <p:cNvSpPr txBox="1"/>
          <p:nvPr/>
        </p:nvSpPr>
        <p:spPr>
          <a:xfrm>
            <a:off x="6397752" y="1593554"/>
            <a:ext cx="2743200" cy="201594"/>
          </a:xfrm>
          <a:prstGeom prst="rect">
            <a:avLst/>
          </a:prstGeom>
          <a:noFill/>
        </p:spPr>
        <p:txBody>
          <a:bodyPr wrap="square" lIns="45720" tIns="27432" rIns="45720" bIns="27432" anchor="t">
            <a:spAutoFit/>
          </a:bodyPr>
          <a:lstStyle/>
          <a:p>
            <a:pPr algn="l">
              <a:spcAft>
                <a:spcPts val="200"/>
              </a:spcAft>
            </a:pPr>
            <a:r>
              <a:rPr sz="950" b="1" dirty="0">
                <a:solidFill>
                  <a:srgbClr val="404040"/>
                </a:solidFill>
                <a:latin typeface="맑은 고딕"/>
                <a:ea typeface="맑은 고딕"/>
                <a:cs typeface="맑은 고딕"/>
              </a:rPr>
              <a:t>① KV Offloading </a:t>
            </a:r>
            <a:r>
              <a:rPr sz="950" b="1" dirty="0" err="1">
                <a:solidFill>
                  <a:srgbClr val="404040"/>
                </a:solidFill>
                <a:latin typeface="맑은 고딕"/>
                <a:ea typeface="맑은 고딕"/>
                <a:cs typeface="맑은 고딕"/>
              </a:rPr>
              <a:t>유무</a:t>
            </a:r>
            <a:r>
              <a:rPr sz="950" b="1" dirty="0">
                <a:solidFill>
                  <a:srgbClr val="404040"/>
                </a:solidFill>
                <a:latin typeface="맑은 고딕"/>
                <a:ea typeface="맑은 고딕"/>
                <a:cs typeface="맑은 고딕"/>
              </a:rPr>
              <a:t>: </a:t>
            </a:r>
            <a:r>
              <a:rPr sz="950" b="1" dirty="0" err="1">
                <a:solidFill>
                  <a:srgbClr val="404040"/>
                </a:solidFill>
                <a:latin typeface="맑은 고딕"/>
                <a:ea typeface="맑은 고딕"/>
                <a:cs typeface="맑은 고딕"/>
              </a:rPr>
              <a:t>처리량</a:t>
            </a:r>
            <a:r>
              <a:rPr sz="950" b="1" dirty="0">
                <a:solidFill>
                  <a:srgbClr val="404040"/>
                </a:solidFill>
                <a:latin typeface="맑은 고딕"/>
                <a:ea typeface="맑은 고딕"/>
                <a:cs typeface="맑은 고딕"/>
              </a:rPr>
              <a:t> (</a:t>
            </a:r>
            <a:r>
              <a:rPr sz="950" b="1" dirty="0" err="1">
                <a:solidFill>
                  <a:srgbClr val="404040"/>
                </a:solidFill>
                <a:latin typeface="맑은 고딕"/>
                <a:ea typeface="맑은 고딕"/>
                <a:cs typeface="맑은 고딕"/>
              </a:rPr>
              <a:t>tok</a:t>
            </a:r>
            <a:r>
              <a:rPr sz="950" b="1" dirty="0">
                <a:solidFill>
                  <a:srgbClr val="404040"/>
                </a:solidFill>
                <a:latin typeface="맑은 고딕"/>
                <a:ea typeface="맑은 고딕"/>
                <a:cs typeface="맑은 고딕"/>
              </a:rPr>
              <a:t>/s)</a:t>
            </a:r>
          </a:p>
        </p:txBody>
      </p:sp>
      <p:sp>
        <p:nvSpPr>
          <p:cNvPr id="206" name="Rectangle 31">
            <a:extLst>
              <a:ext uri="{FF2B5EF4-FFF2-40B4-BE49-F238E27FC236}">
                <a16:creationId xmlns:a16="http://schemas.microsoft.com/office/drawing/2014/main" id="{B0E2EFC8-B917-4BA0-88A5-FE713A7CD70D}"/>
              </a:ext>
            </a:extLst>
          </p:cNvPr>
          <p:cNvSpPr/>
          <p:nvPr/>
        </p:nvSpPr>
        <p:spPr>
          <a:xfrm>
            <a:off x="6672072" y="2672546"/>
            <a:ext cx="640080"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Rectangle 32">
            <a:extLst>
              <a:ext uri="{FF2B5EF4-FFF2-40B4-BE49-F238E27FC236}">
                <a16:creationId xmlns:a16="http://schemas.microsoft.com/office/drawing/2014/main" id="{752DF412-A467-4E1F-B309-9767B807853D}"/>
              </a:ext>
            </a:extLst>
          </p:cNvPr>
          <p:cNvSpPr/>
          <p:nvPr/>
        </p:nvSpPr>
        <p:spPr>
          <a:xfrm>
            <a:off x="7769351" y="2087330"/>
            <a:ext cx="640080" cy="65836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Rectangle 33">
            <a:extLst>
              <a:ext uri="{FF2B5EF4-FFF2-40B4-BE49-F238E27FC236}">
                <a16:creationId xmlns:a16="http://schemas.microsoft.com/office/drawing/2014/main" id="{23C5192F-98D1-429C-92DD-754045C20AE3}"/>
              </a:ext>
            </a:extLst>
          </p:cNvPr>
          <p:cNvSpPr/>
          <p:nvPr/>
        </p:nvSpPr>
        <p:spPr>
          <a:xfrm>
            <a:off x="6489192" y="2745698"/>
            <a:ext cx="2286000" cy="914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TextBox 208">
            <a:extLst>
              <a:ext uri="{FF2B5EF4-FFF2-40B4-BE49-F238E27FC236}">
                <a16:creationId xmlns:a16="http://schemas.microsoft.com/office/drawing/2014/main" id="{7131D982-9861-4FE8-A13B-13745661F2FE}"/>
              </a:ext>
            </a:extLst>
          </p:cNvPr>
          <p:cNvSpPr txBox="1"/>
          <p:nvPr/>
        </p:nvSpPr>
        <p:spPr>
          <a:xfrm>
            <a:off x="6489192" y="2471377"/>
            <a:ext cx="1005840" cy="182880"/>
          </a:xfrm>
          <a:prstGeom prst="rect">
            <a:avLst/>
          </a:prstGeom>
          <a:noFill/>
        </p:spPr>
        <p:txBody>
          <a:bodyPr wrap="square" lIns="45720" tIns="27432" rIns="45720" bIns="27432" anchor="t">
            <a:spAutoFit/>
          </a:bodyPr>
          <a:lstStyle/>
          <a:p>
            <a:pPr algn="ctr">
              <a:spcAft>
                <a:spcPts val="200"/>
              </a:spcAft>
            </a:pPr>
            <a:r>
              <a:rPr sz="900" b="1">
                <a:solidFill>
                  <a:srgbClr val="000000"/>
                </a:solidFill>
                <a:latin typeface="맑은 고딕"/>
                <a:ea typeface="맑은 고딕"/>
                <a:cs typeface="맑은 고딕"/>
              </a:rPr>
              <a:t>1,850</a:t>
            </a:r>
          </a:p>
        </p:txBody>
      </p:sp>
      <p:sp>
        <p:nvSpPr>
          <p:cNvPr id="210" name="TextBox 209">
            <a:extLst>
              <a:ext uri="{FF2B5EF4-FFF2-40B4-BE49-F238E27FC236}">
                <a16:creationId xmlns:a16="http://schemas.microsoft.com/office/drawing/2014/main" id="{12337B45-DB1F-493C-82CB-D3467E2F4C40}"/>
              </a:ext>
            </a:extLst>
          </p:cNvPr>
          <p:cNvSpPr txBox="1"/>
          <p:nvPr/>
        </p:nvSpPr>
        <p:spPr>
          <a:xfrm>
            <a:off x="7586472" y="1886162"/>
            <a:ext cx="1005840" cy="182880"/>
          </a:xfrm>
          <a:prstGeom prst="rect">
            <a:avLst/>
          </a:prstGeom>
          <a:noFill/>
        </p:spPr>
        <p:txBody>
          <a:bodyPr wrap="square" lIns="45720" tIns="27432" rIns="45720" bIns="27432" anchor="t">
            <a:spAutoFit/>
          </a:bodyPr>
          <a:lstStyle/>
          <a:p>
            <a:pPr algn="ctr">
              <a:spcAft>
                <a:spcPts val="200"/>
              </a:spcAft>
            </a:pPr>
            <a:r>
              <a:rPr sz="900" b="1">
                <a:solidFill>
                  <a:srgbClr val="000000"/>
                </a:solidFill>
                <a:latin typeface="맑은 고딕"/>
                <a:ea typeface="맑은 고딕"/>
                <a:cs typeface="맑은 고딕"/>
              </a:rPr>
              <a:t>16,650</a:t>
            </a:r>
          </a:p>
        </p:txBody>
      </p:sp>
      <p:sp>
        <p:nvSpPr>
          <p:cNvPr id="212" name="TextBox 211">
            <a:extLst>
              <a:ext uri="{FF2B5EF4-FFF2-40B4-BE49-F238E27FC236}">
                <a16:creationId xmlns:a16="http://schemas.microsoft.com/office/drawing/2014/main" id="{3BC95C49-4E19-434B-89BB-747C4DC89DDD}"/>
              </a:ext>
            </a:extLst>
          </p:cNvPr>
          <p:cNvSpPr txBox="1"/>
          <p:nvPr/>
        </p:nvSpPr>
        <p:spPr>
          <a:xfrm>
            <a:off x="6489192" y="2763986"/>
            <a:ext cx="1188720" cy="310896"/>
          </a:xfrm>
          <a:prstGeom prst="rect">
            <a:avLst/>
          </a:prstGeom>
          <a:noFill/>
        </p:spPr>
        <p:txBody>
          <a:bodyPr wrap="square" lIns="45720" tIns="27432" rIns="45720" bIns="27432" anchor="t">
            <a:spAutoFit/>
          </a:bodyPr>
          <a:lstStyle/>
          <a:p>
            <a:pPr algn="ctr">
              <a:spcAft>
                <a:spcPts val="200"/>
              </a:spcAft>
            </a:pPr>
            <a:r>
              <a:rPr sz="750" b="0">
                <a:solidFill>
                  <a:srgbClr val="404040"/>
                </a:solidFill>
                <a:latin typeface="맑은 고딕"/>
                <a:ea typeface="맑은 고딕"/>
                <a:cs typeface="맑은 고딕"/>
              </a:rPr>
              <a:t>Baseline
(offloading 없음)</a:t>
            </a:r>
          </a:p>
        </p:txBody>
      </p:sp>
      <p:sp>
        <p:nvSpPr>
          <p:cNvPr id="213" name="TextBox 212">
            <a:extLst>
              <a:ext uri="{FF2B5EF4-FFF2-40B4-BE49-F238E27FC236}">
                <a16:creationId xmlns:a16="http://schemas.microsoft.com/office/drawing/2014/main" id="{DEFE0375-942D-4E73-B8B1-E0D416F90618}"/>
              </a:ext>
            </a:extLst>
          </p:cNvPr>
          <p:cNvSpPr txBox="1"/>
          <p:nvPr/>
        </p:nvSpPr>
        <p:spPr>
          <a:xfrm>
            <a:off x="7586472" y="2763986"/>
            <a:ext cx="1188720" cy="310896"/>
          </a:xfrm>
          <a:prstGeom prst="rect">
            <a:avLst/>
          </a:prstGeom>
          <a:noFill/>
        </p:spPr>
        <p:txBody>
          <a:bodyPr wrap="square" lIns="45720" tIns="27432" rIns="45720" bIns="27432" anchor="t">
            <a:spAutoFit/>
          </a:bodyPr>
          <a:lstStyle/>
          <a:p>
            <a:pPr algn="ctr">
              <a:spcAft>
                <a:spcPts val="200"/>
              </a:spcAft>
            </a:pPr>
            <a:r>
              <a:rPr sz="750" b="1">
                <a:solidFill>
                  <a:srgbClr val="404040"/>
                </a:solidFill>
                <a:latin typeface="맑은 고딕"/>
                <a:ea typeface="맑은 고딕"/>
                <a:cs typeface="맑은 고딕"/>
              </a:rPr>
              <a:t>CPU DRAM Offloading</a:t>
            </a:r>
          </a:p>
        </p:txBody>
      </p:sp>
      <p:sp>
        <p:nvSpPr>
          <p:cNvPr id="214" name="TextBox 213">
            <a:extLst>
              <a:ext uri="{FF2B5EF4-FFF2-40B4-BE49-F238E27FC236}">
                <a16:creationId xmlns:a16="http://schemas.microsoft.com/office/drawing/2014/main" id="{4FCDC9F5-D66A-4E36-8843-200B176A9619}"/>
              </a:ext>
            </a:extLst>
          </p:cNvPr>
          <p:cNvSpPr txBox="1"/>
          <p:nvPr/>
        </p:nvSpPr>
        <p:spPr>
          <a:xfrm>
            <a:off x="6232394" y="6554591"/>
            <a:ext cx="5479760" cy="270843"/>
          </a:xfrm>
          <a:prstGeom prst="rect">
            <a:avLst/>
          </a:prstGeom>
          <a:noFill/>
        </p:spPr>
        <p:txBody>
          <a:bodyPr wrap="square" lIns="45720" tIns="27432" rIns="45720" bIns="27432" anchor="t">
            <a:spAutoFit/>
          </a:bodyPr>
          <a:lstStyle/>
          <a:p>
            <a:r>
              <a:rPr lang="ko-KR" altLang="en-US" sz="700" dirty="0">
                <a:solidFill>
                  <a:srgbClr val="595959"/>
                </a:solidFill>
                <a:ea typeface="맑은 고딕"/>
                <a:cs typeface="맑은 고딕"/>
              </a:rPr>
              <a:t>① </a:t>
            </a:r>
            <a:r>
              <a:rPr sz="700" b="0" dirty="0">
                <a:solidFill>
                  <a:srgbClr val="595959"/>
                </a:solidFill>
                <a:latin typeface="맑은 고딕"/>
                <a:ea typeface="맑은 고딕"/>
                <a:cs typeface="맑은 고딕"/>
              </a:rPr>
              <a:t>H100 80GB, Llama-3.1-8B-Instruct, CPU DRAM 128GB offload, </a:t>
            </a:r>
            <a:r>
              <a:rPr sz="700" b="0" dirty="0" err="1">
                <a:solidFill>
                  <a:srgbClr val="595959"/>
                </a:solidFill>
                <a:latin typeface="맑은 고딕"/>
                <a:ea typeface="맑은 고딕"/>
                <a:cs typeface="맑은 고딕"/>
              </a:rPr>
              <a:t>vLLM</a:t>
            </a:r>
            <a:r>
              <a:rPr sz="700" b="0" dirty="0">
                <a:solidFill>
                  <a:srgbClr val="595959"/>
                </a:solidFill>
                <a:latin typeface="맑은 고딕"/>
                <a:ea typeface="맑은 고딕"/>
                <a:cs typeface="맑은 고딕"/>
              </a:rPr>
              <a:t> native connector (</a:t>
            </a:r>
            <a:r>
              <a:rPr sz="700" b="0" dirty="0" err="1">
                <a:solidFill>
                  <a:srgbClr val="595959"/>
                </a:solidFill>
                <a:latin typeface="맑은 고딕"/>
                <a:ea typeface="맑은 고딕"/>
                <a:cs typeface="맑은 고딕"/>
              </a:rPr>
              <a:t>동시성</a:t>
            </a:r>
            <a:r>
              <a:rPr sz="700" b="0" dirty="0">
                <a:solidFill>
                  <a:srgbClr val="595959"/>
                </a:solidFill>
                <a:latin typeface="맑은 고딕"/>
                <a:ea typeface="맑은 고딕"/>
                <a:cs typeface="맑은 고딕"/>
              </a:rPr>
              <a:t> </a:t>
            </a:r>
            <a:r>
              <a:rPr sz="700" b="0" dirty="0" err="1">
                <a:solidFill>
                  <a:srgbClr val="595959"/>
                </a:solidFill>
                <a:latin typeface="맑은 고딕"/>
                <a:ea typeface="맑은 고딕"/>
                <a:cs typeface="맑은 고딕"/>
              </a:rPr>
              <a:t>높은</a:t>
            </a:r>
            <a:r>
              <a:rPr sz="700" b="0" dirty="0">
                <a:solidFill>
                  <a:srgbClr val="595959"/>
                </a:solidFill>
                <a:latin typeface="맑은 고딕"/>
                <a:ea typeface="맑은 고딕"/>
                <a:cs typeface="맑은 고딕"/>
              </a:rPr>
              <a:t> </a:t>
            </a:r>
            <a:r>
              <a:rPr sz="700" b="0" dirty="0" err="1">
                <a:solidFill>
                  <a:srgbClr val="595959"/>
                </a:solidFill>
                <a:latin typeface="맑은 고딕"/>
                <a:ea typeface="맑은 고딕"/>
                <a:cs typeface="맑은 고딕"/>
              </a:rPr>
              <a:t>부하</a:t>
            </a:r>
            <a:r>
              <a:rPr sz="700" b="0" dirty="0">
                <a:solidFill>
                  <a:srgbClr val="595959"/>
                </a:solidFill>
                <a:latin typeface="맑은 고딕"/>
                <a:ea typeface="맑은 고딕"/>
                <a:cs typeface="맑은 고딕"/>
              </a:rPr>
              <a:t>)</a:t>
            </a:r>
            <a:endParaRPr lang="en-US" sz="700" b="0" dirty="0">
              <a:solidFill>
                <a:srgbClr val="595959"/>
              </a:solidFill>
              <a:latin typeface="맑은 고딕"/>
              <a:ea typeface="맑은 고딕"/>
              <a:cs typeface="맑은 고딕"/>
            </a:endParaRPr>
          </a:p>
          <a:p>
            <a:r>
              <a:rPr lang="en-US" altLang="ko-KR" sz="700" dirty="0">
                <a:solidFill>
                  <a:srgbClr val="595959"/>
                </a:solidFill>
                <a:ea typeface="맑은 고딕"/>
                <a:cs typeface="맑은 고딕"/>
              </a:rPr>
              <a:t>② H100 2</a:t>
            </a:r>
            <a:r>
              <a:rPr lang="ko-KR" altLang="en-US" sz="700" dirty="0">
                <a:solidFill>
                  <a:srgbClr val="595959"/>
                </a:solidFill>
                <a:ea typeface="맑은 고딕"/>
                <a:cs typeface="맑은 고딕"/>
              </a:rPr>
              <a:t>노드</a:t>
            </a:r>
            <a:r>
              <a:rPr lang="en-US" altLang="ko-KR" sz="700" dirty="0">
                <a:solidFill>
                  <a:srgbClr val="595959"/>
                </a:solidFill>
                <a:ea typeface="맑은 고딕"/>
                <a:cs typeface="맑은 고딕"/>
              </a:rPr>
              <a:t>, GLM-4.5-fp8, mini-SWE-agent, </a:t>
            </a:r>
            <a:r>
              <a:rPr lang="ko-KR" altLang="en-US" sz="700" dirty="0">
                <a:solidFill>
                  <a:srgbClr val="595959"/>
                </a:solidFill>
                <a:ea typeface="맑은 고딕"/>
                <a:cs typeface="맑은 고딕"/>
              </a:rPr>
              <a:t>동시 </a:t>
            </a:r>
            <a:r>
              <a:rPr lang="en-US" altLang="ko-KR" sz="700" dirty="0">
                <a:solidFill>
                  <a:srgbClr val="595959"/>
                </a:solidFill>
                <a:ea typeface="맑은 고딕"/>
                <a:cs typeface="맑은 고딕"/>
              </a:rPr>
              <a:t>144 programs (</a:t>
            </a:r>
            <a:r>
              <a:rPr lang="ko-KR" altLang="en-US" sz="700" dirty="0">
                <a:solidFill>
                  <a:srgbClr val="595959"/>
                </a:solidFill>
                <a:ea typeface="맑은 고딕"/>
                <a:cs typeface="맑은 고딕"/>
              </a:rPr>
              <a:t>벤치마크 전반 </a:t>
            </a:r>
            <a:r>
              <a:rPr lang="en-US" altLang="ko-KR" sz="700" dirty="0">
                <a:solidFill>
                  <a:srgbClr val="595959"/>
                </a:solidFill>
                <a:ea typeface="맑은 고딕"/>
                <a:cs typeface="맑은 고딕"/>
              </a:rPr>
              <a:t>1.48–3.58×)</a:t>
            </a:r>
          </a:p>
        </p:txBody>
      </p:sp>
      <p:sp>
        <p:nvSpPr>
          <p:cNvPr id="215" name="TextBox 214">
            <a:extLst>
              <a:ext uri="{FF2B5EF4-FFF2-40B4-BE49-F238E27FC236}">
                <a16:creationId xmlns:a16="http://schemas.microsoft.com/office/drawing/2014/main" id="{4BBDCBC5-3274-4C9D-9351-E98C025F173E}"/>
              </a:ext>
            </a:extLst>
          </p:cNvPr>
          <p:cNvSpPr txBox="1"/>
          <p:nvPr/>
        </p:nvSpPr>
        <p:spPr>
          <a:xfrm>
            <a:off x="9121140" y="1593554"/>
            <a:ext cx="2743200" cy="201594"/>
          </a:xfrm>
          <a:prstGeom prst="rect">
            <a:avLst/>
          </a:prstGeom>
          <a:noFill/>
        </p:spPr>
        <p:txBody>
          <a:bodyPr wrap="square" lIns="45720" tIns="27432" rIns="45720" bIns="27432" anchor="t">
            <a:spAutoFit/>
          </a:bodyPr>
          <a:lstStyle/>
          <a:p>
            <a:pPr algn="l">
              <a:spcAft>
                <a:spcPts val="200"/>
              </a:spcAft>
            </a:pPr>
            <a:r>
              <a:rPr sz="950" b="1" dirty="0">
                <a:solidFill>
                  <a:srgbClr val="404040"/>
                </a:solidFill>
                <a:latin typeface="맑은 고딕"/>
                <a:ea typeface="맑은 고딕"/>
                <a:cs typeface="맑은 고딕"/>
              </a:rPr>
              <a:t>② </a:t>
            </a:r>
            <a:r>
              <a:rPr sz="950" b="1" dirty="0" err="1">
                <a:solidFill>
                  <a:srgbClr val="404040"/>
                </a:solidFill>
                <a:latin typeface="맑은 고딕"/>
                <a:ea typeface="맑은 고딕"/>
                <a:cs typeface="맑은 고딕"/>
              </a:rPr>
              <a:t>스케줄링</a:t>
            </a:r>
            <a:r>
              <a:rPr sz="950" b="1" dirty="0">
                <a:solidFill>
                  <a:srgbClr val="404040"/>
                </a:solidFill>
                <a:latin typeface="맑은 고딕"/>
                <a:ea typeface="맑은 고딕"/>
                <a:cs typeface="맑은 고딕"/>
              </a:rPr>
              <a:t> </a:t>
            </a:r>
            <a:r>
              <a:rPr sz="950" b="1" dirty="0" err="1">
                <a:solidFill>
                  <a:srgbClr val="404040"/>
                </a:solidFill>
                <a:latin typeface="맑은 고딕"/>
                <a:ea typeface="맑은 고딕"/>
                <a:cs typeface="맑은 고딕"/>
              </a:rPr>
              <a:t>유무</a:t>
            </a:r>
            <a:r>
              <a:rPr sz="950" b="1" dirty="0">
                <a:solidFill>
                  <a:srgbClr val="404040"/>
                </a:solidFill>
                <a:latin typeface="맑은 고딕"/>
                <a:ea typeface="맑은 고딕"/>
                <a:cs typeface="맑은 고딕"/>
              </a:rPr>
              <a:t>: </a:t>
            </a:r>
            <a:r>
              <a:rPr sz="950" b="1" dirty="0" err="1">
                <a:solidFill>
                  <a:srgbClr val="404040"/>
                </a:solidFill>
                <a:latin typeface="맑은 고딕"/>
                <a:ea typeface="맑은 고딕"/>
                <a:cs typeface="맑은 고딕"/>
              </a:rPr>
              <a:t>처리량</a:t>
            </a:r>
            <a:r>
              <a:rPr sz="950" b="1" dirty="0">
                <a:solidFill>
                  <a:srgbClr val="404040"/>
                </a:solidFill>
                <a:latin typeface="맑은 고딕"/>
                <a:ea typeface="맑은 고딕"/>
                <a:cs typeface="맑은 고딕"/>
              </a:rPr>
              <a:t> (steps/min)</a:t>
            </a:r>
          </a:p>
        </p:txBody>
      </p:sp>
      <p:sp>
        <p:nvSpPr>
          <p:cNvPr id="216" name="Rectangle 41">
            <a:extLst>
              <a:ext uri="{FF2B5EF4-FFF2-40B4-BE49-F238E27FC236}">
                <a16:creationId xmlns:a16="http://schemas.microsoft.com/office/drawing/2014/main" id="{D0008F20-5B4A-4E97-89FA-0CEC288F5D99}"/>
              </a:ext>
            </a:extLst>
          </p:cNvPr>
          <p:cNvSpPr/>
          <p:nvPr/>
        </p:nvSpPr>
        <p:spPr>
          <a:xfrm>
            <a:off x="9395460" y="2378305"/>
            <a:ext cx="640080" cy="3673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Rectangle 42">
            <a:extLst>
              <a:ext uri="{FF2B5EF4-FFF2-40B4-BE49-F238E27FC236}">
                <a16:creationId xmlns:a16="http://schemas.microsoft.com/office/drawing/2014/main" id="{EEB62AA9-15B8-4FFF-802C-65076326380E}"/>
              </a:ext>
            </a:extLst>
          </p:cNvPr>
          <p:cNvSpPr/>
          <p:nvPr/>
        </p:nvSpPr>
        <p:spPr>
          <a:xfrm>
            <a:off x="10492740" y="2087330"/>
            <a:ext cx="640080" cy="65836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Rectangle 43">
            <a:extLst>
              <a:ext uri="{FF2B5EF4-FFF2-40B4-BE49-F238E27FC236}">
                <a16:creationId xmlns:a16="http://schemas.microsoft.com/office/drawing/2014/main" id="{F14639DB-F376-4842-9A6F-389D6F3A47F1}"/>
              </a:ext>
            </a:extLst>
          </p:cNvPr>
          <p:cNvSpPr/>
          <p:nvPr/>
        </p:nvSpPr>
        <p:spPr>
          <a:xfrm>
            <a:off x="9212580" y="2745698"/>
            <a:ext cx="2286000" cy="914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Box 218">
            <a:extLst>
              <a:ext uri="{FF2B5EF4-FFF2-40B4-BE49-F238E27FC236}">
                <a16:creationId xmlns:a16="http://schemas.microsoft.com/office/drawing/2014/main" id="{6381F0CB-9155-43F8-B43D-CFAE9A9084CE}"/>
              </a:ext>
            </a:extLst>
          </p:cNvPr>
          <p:cNvSpPr txBox="1"/>
          <p:nvPr/>
        </p:nvSpPr>
        <p:spPr>
          <a:xfrm>
            <a:off x="9212580" y="2177137"/>
            <a:ext cx="1005840" cy="182880"/>
          </a:xfrm>
          <a:prstGeom prst="rect">
            <a:avLst/>
          </a:prstGeom>
          <a:noFill/>
        </p:spPr>
        <p:txBody>
          <a:bodyPr wrap="square" lIns="45720" tIns="27432" rIns="45720" bIns="27432" anchor="t">
            <a:spAutoFit/>
          </a:bodyPr>
          <a:lstStyle/>
          <a:p>
            <a:pPr algn="ctr">
              <a:spcAft>
                <a:spcPts val="200"/>
              </a:spcAft>
            </a:pPr>
            <a:r>
              <a:rPr sz="900" b="1">
                <a:solidFill>
                  <a:srgbClr val="000000"/>
                </a:solidFill>
                <a:latin typeface="맑은 고딕"/>
                <a:ea typeface="맑은 고딕"/>
                <a:cs typeface="맑은 고딕"/>
              </a:rPr>
              <a:t>375</a:t>
            </a:r>
          </a:p>
        </p:txBody>
      </p:sp>
      <p:sp>
        <p:nvSpPr>
          <p:cNvPr id="220" name="TextBox 219">
            <a:extLst>
              <a:ext uri="{FF2B5EF4-FFF2-40B4-BE49-F238E27FC236}">
                <a16:creationId xmlns:a16="http://schemas.microsoft.com/office/drawing/2014/main" id="{FC99675F-3487-4CE6-8F60-F13D3A35F994}"/>
              </a:ext>
            </a:extLst>
          </p:cNvPr>
          <p:cNvSpPr txBox="1"/>
          <p:nvPr/>
        </p:nvSpPr>
        <p:spPr>
          <a:xfrm>
            <a:off x="10309860" y="1886162"/>
            <a:ext cx="1005840" cy="182880"/>
          </a:xfrm>
          <a:prstGeom prst="rect">
            <a:avLst/>
          </a:prstGeom>
          <a:noFill/>
        </p:spPr>
        <p:txBody>
          <a:bodyPr wrap="square" lIns="45720" tIns="27432" rIns="45720" bIns="27432" anchor="t">
            <a:spAutoFit/>
          </a:bodyPr>
          <a:lstStyle/>
          <a:p>
            <a:pPr algn="ctr">
              <a:spcAft>
                <a:spcPts val="200"/>
              </a:spcAft>
            </a:pPr>
            <a:r>
              <a:rPr sz="900" b="1">
                <a:solidFill>
                  <a:srgbClr val="000000"/>
                </a:solidFill>
                <a:latin typeface="맑은 고딕"/>
                <a:ea typeface="맑은 고딕"/>
                <a:cs typeface="맑은 고딕"/>
              </a:rPr>
              <a:t>672</a:t>
            </a:r>
          </a:p>
        </p:txBody>
      </p:sp>
      <p:sp>
        <p:nvSpPr>
          <p:cNvPr id="222" name="TextBox 221">
            <a:extLst>
              <a:ext uri="{FF2B5EF4-FFF2-40B4-BE49-F238E27FC236}">
                <a16:creationId xmlns:a16="http://schemas.microsoft.com/office/drawing/2014/main" id="{F9F35526-4891-4E0F-9E17-4DA302616D33}"/>
              </a:ext>
            </a:extLst>
          </p:cNvPr>
          <p:cNvSpPr txBox="1"/>
          <p:nvPr/>
        </p:nvSpPr>
        <p:spPr>
          <a:xfrm>
            <a:off x="9212580" y="2763986"/>
            <a:ext cx="1188720" cy="310896"/>
          </a:xfrm>
          <a:prstGeom prst="rect">
            <a:avLst/>
          </a:prstGeom>
          <a:noFill/>
        </p:spPr>
        <p:txBody>
          <a:bodyPr wrap="square" lIns="45720" tIns="27432" rIns="45720" bIns="27432" anchor="t">
            <a:spAutoFit/>
          </a:bodyPr>
          <a:lstStyle/>
          <a:p>
            <a:pPr algn="ctr">
              <a:spcAft>
                <a:spcPts val="200"/>
              </a:spcAft>
            </a:pPr>
            <a:r>
              <a:rPr sz="750" b="0">
                <a:solidFill>
                  <a:srgbClr val="404040"/>
                </a:solidFill>
                <a:latin typeface="맑은 고딕"/>
                <a:ea typeface="맑은 고딕"/>
                <a:cs typeface="맑은 고딕"/>
              </a:rPr>
              <a:t>Baseline
(vLLM 요청 단위)</a:t>
            </a:r>
          </a:p>
        </p:txBody>
      </p:sp>
      <p:sp>
        <p:nvSpPr>
          <p:cNvPr id="223" name="TextBox 222">
            <a:extLst>
              <a:ext uri="{FF2B5EF4-FFF2-40B4-BE49-F238E27FC236}">
                <a16:creationId xmlns:a16="http://schemas.microsoft.com/office/drawing/2014/main" id="{35ECBD35-84F6-4E33-81E0-D11380516924}"/>
              </a:ext>
            </a:extLst>
          </p:cNvPr>
          <p:cNvSpPr txBox="1"/>
          <p:nvPr/>
        </p:nvSpPr>
        <p:spPr>
          <a:xfrm>
            <a:off x="10309860" y="2763986"/>
            <a:ext cx="1188720" cy="310896"/>
          </a:xfrm>
          <a:prstGeom prst="rect">
            <a:avLst/>
          </a:prstGeom>
          <a:noFill/>
        </p:spPr>
        <p:txBody>
          <a:bodyPr wrap="square" lIns="45720" tIns="27432" rIns="45720" bIns="27432" anchor="t">
            <a:spAutoFit/>
          </a:bodyPr>
          <a:lstStyle/>
          <a:p>
            <a:pPr algn="ctr">
              <a:spcAft>
                <a:spcPts val="200"/>
              </a:spcAft>
            </a:pPr>
            <a:r>
              <a:rPr sz="750" b="1" dirty="0" err="1">
                <a:solidFill>
                  <a:srgbClr val="404040"/>
                </a:solidFill>
                <a:latin typeface="맑은 고딕"/>
                <a:ea typeface="맑은 고딕"/>
                <a:cs typeface="맑은 고딕"/>
              </a:rPr>
              <a:t>ThunderAgent</a:t>
            </a:r>
            <a:r>
              <a:rPr sz="750" b="1" dirty="0">
                <a:solidFill>
                  <a:srgbClr val="404040"/>
                </a:solidFill>
                <a:latin typeface="맑은 고딕"/>
                <a:ea typeface="맑은 고딕"/>
                <a:cs typeface="맑은 고딕"/>
              </a:rPr>
              <a:t>
(</a:t>
            </a:r>
            <a:r>
              <a:rPr sz="750" b="1" dirty="0" err="1">
                <a:solidFill>
                  <a:srgbClr val="404040"/>
                </a:solidFill>
                <a:latin typeface="맑은 고딕"/>
                <a:ea typeface="맑은 고딕"/>
                <a:cs typeface="맑은 고딕"/>
              </a:rPr>
              <a:t>프로그램</a:t>
            </a:r>
            <a:r>
              <a:rPr sz="750" b="1" dirty="0">
                <a:solidFill>
                  <a:srgbClr val="404040"/>
                </a:solidFill>
                <a:latin typeface="맑은 고딕"/>
                <a:ea typeface="맑은 고딕"/>
                <a:cs typeface="맑은 고딕"/>
              </a:rPr>
              <a:t> </a:t>
            </a:r>
            <a:r>
              <a:rPr sz="750" b="1" dirty="0" err="1">
                <a:solidFill>
                  <a:srgbClr val="404040"/>
                </a:solidFill>
                <a:latin typeface="맑은 고딕"/>
                <a:ea typeface="맑은 고딕"/>
                <a:cs typeface="맑은 고딕"/>
              </a:rPr>
              <a:t>인지</a:t>
            </a:r>
            <a:r>
              <a:rPr sz="750" b="1" dirty="0">
                <a:solidFill>
                  <a:srgbClr val="404040"/>
                </a:solidFill>
                <a:latin typeface="맑은 고딕"/>
                <a:ea typeface="맑은 고딕"/>
                <a:cs typeface="맑은 고딕"/>
              </a:rPr>
              <a:t>)</a:t>
            </a:r>
          </a:p>
        </p:txBody>
      </p:sp>
      <p:sp>
        <p:nvSpPr>
          <p:cNvPr id="5" name="TextBox 4"/>
          <p:cNvSpPr txBox="1"/>
          <p:nvPr/>
        </p:nvSpPr>
        <p:spPr>
          <a:xfrm>
            <a:off x="8495875" y="2186571"/>
            <a:ext cx="434734" cy="246221"/>
          </a:xfrm>
          <a:prstGeom prst="rect">
            <a:avLst/>
          </a:prstGeom>
          <a:noFill/>
        </p:spPr>
        <p:txBody>
          <a:bodyPr wrap="none" rtlCol="0">
            <a:spAutoFit/>
          </a:bodyPr>
          <a:lstStyle/>
          <a:p>
            <a:r>
              <a:rPr lang="en-US" altLang="ko-KR" sz="1000" b="1" dirty="0"/>
              <a:t>9.0x</a:t>
            </a:r>
            <a:endParaRPr lang="ko-KR" altLang="en-US" sz="1000" b="1" dirty="0"/>
          </a:p>
        </p:txBody>
      </p:sp>
      <p:sp>
        <p:nvSpPr>
          <p:cNvPr id="80" name="TextBox 79"/>
          <p:cNvSpPr txBox="1"/>
          <p:nvPr/>
        </p:nvSpPr>
        <p:spPr>
          <a:xfrm>
            <a:off x="11239499" y="2160332"/>
            <a:ext cx="508473" cy="246221"/>
          </a:xfrm>
          <a:prstGeom prst="rect">
            <a:avLst/>
          </a:prstGeom>
          <a:noFill/>
        </p:spPr>
        <p:txBody>
          <a:bodyPr wrap="none" rtlCol="0">
            <a:spAutoFit/>
          </a:bodyPr>
          <a:lstStyle/>
          <a:p>
            <a:r>
              <a:rPr lang="en-US" altLang="ko-KR" sz="1000" b="1" dirty="0"/>
              <a:t>1.79x</a:t>
            </a:r>
            <a:endParaRPr lang="ko-KR" altLang="en-US" sz="1000" b="1" dirty="0"/>
          </a:p>
        </p:txBody>
      </p:sp>
    </p:spTree>
    <p:extLst>
      <p:ext uri="{BB962C8B-B14F-4D97-AF65-F5344CB8AC3E}">
        <p14:creationId xmlns:p14="http://schemas.microsoft.com/office/powerpoint/2010/main" val="66849776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02B03521-E0C7-493A-819F-DD13CF462C9F}"/>
              </a:ext>
            </a:extLst>
          </p:cNvPr>
          <p:cNvPicPr>
            <a:picLocks noChangeAspect="1"/>
          </p:cNvPicPr>
          <p:nvPr/>
        </p:nvPicPr>
        <p:blipFill rotWithShape="1">
          <a:blip r:embed="rId3"/>
          <a:srcRect l="9831" t="8467" r="11222" b="23484"/>
          <a:stretch/>
        </p:blipFill>
        <p:spPr>
          <a:xfrm>
            <a:off x="183545" y="1095192"/>
            <a:ext cx="5769486" cy="5133517"/>
          </a:xfrm>
          <a:prstGeom prst="rect">
            <a:avLst/>
          </a:prstGeom>
        </p:spPr>
      </p:pic>
      <p:sp>
        <p:nvSpPr>
          <p:cNvPr id="88" name="TextBox 87">
            <a:extLst>
              <a:ext uri="{FF2B5EF4-FFF2-40B4-BE49-F238E27FC236}">
                <a16:creationId xmlns:a16="http://schemas.microsoft.com/office/drawing/2014/main" id="{D27EF54B-7724-4A08-87B2-44720271893E}"/>
              </a:ext>
            </a:extLst>
          </p:cNvPr>
          <p:cNvSpPr txBox="1"/>
          <p:nvPr/>
        </p:nvSpPr>
        <p:spPr>
          <a:xfrm>
            <a:off x="2346145" y="737379"/>
            <a:ext cx="1580903" cy="246221"/>
          </a:xfrm>
          <a:prstGeom prst="rect">
            <a:avLst/>
          </a:prstGeom>
          <a:noFill/>
        </p:spPr>
        <p:txBody>
          <a:bodyPr wrap="square" lIns="0" tIns="0" rIns="0" bIns="0" anchor="t">
            <a:spAutoFit/>
          </a:bodyPr>
          <a:lstStyle/>
          <a:p>
            <a:pPr algn="ctr"/>
            <a:r>
              <a:rPr lang="ko-KR" altLang="en-US" sz="1600" b="1" dirty="0">
                <a:latin typeface="맑은 고딕"/>
                <a:ea typeface="맑은 고딕"/>
              </a:rPr>
              <a:t>응용 관점</a:t>
            </a:r>
            <a:endParaRPr sz="1600" b="1" i="0" dirty="0">
              <a:latin typeface="맑은 고딕"/>
              <a:ea typeface="맑은 고딕"/>
            </a:endParaRPr>
          </a:p>
        </p:txBody>
      </p:sp>
      <p:sp>
        <p:nvSpPr>
          <p:cNvPr id="89" name="TextBox 88">
            <a:extLst>
              <a:ext uri="{FF2B5EF4-FFF2-40B4-BE49-F238E27FC236}">
                <a16:creationId xmlns:a16="http://schemas.microsoft.com/office/drawing/2014/main" id="{C444E80C-05AA-4933-A75E-230AC6802797}"/>
              </a:ext>
            </a:extLst>
          </p:cNvPr>
          <p:cNvSpPr txBox="1"/>
          <p:nvPr/>
        </p:nvSpPr>
        <p:spPr>
          <a:xfrm>
            <a:off x="8351498" y="795654"/>
            <a:ext cx="1580903" cy="246221"/>
          </a:xfrm>
          <a:prstGeom prst="rect">
            <a:avLst/>
          </a:prstGeom>
          <a:noFill/>
        </p:spPr>
        <p:txBody>
          <a:bodyPr wrap="square" lIns="0" tIns="0" rIns="0" bIns="0" anchor="t">
            <a:spAutoFit/>
          </a:bodyPr>
          <a:lstStyle/>
          <a:p>
            <a:pPr algn="ctr"/>
            <a:r>
              <a:rPr lang="ko-KR" altLang="en-US" sz="1600" b="1" dirty="0">
                <a:latin typeface="맑은 고딕"/>
                <a:ea typeface="맑은 고딕"/>
              </a:rPr>
              <a:t>시스템 관점</a:t>
            </a:r>
            <a:endParaRPr sz="1600" b="1" i="0" dirty="0">
              <a:latin typeface="맑은 고딕"/>
              <a:ea typeface="맑은 고딕"/>
            </a:endParaRPr>
          </a:p>
        </p:txBody>
      </p:sp>
      <p:sp>
        <p:nvSpPr>
          <p:cNvPr id="49" name="모서리가 둥근 직사각형 3">
            <a:extLst>
              <a:ext uri="{FF2B5EF4-FFF2-40B4-BE49-F238E27FC236}">
                <a16:creationId xmlns:a16="http://schemas.microsoft.com/office/drawing/2014/main" id="{A2B547FC-54B2-410A-940D-9BE18BBA09E1}"/>
              </a:ext>
            </a:extLst>
          </p:cNvPr>
          <p:cNvSpPr/>
          <p:nvPr/>
        </p:nvSpPr>
        <p:spPr>
          <a:xfrm>
            <a:off x="6591685" y="1207976"/>
            <a:ext cx="5195814" cy="2588189"/>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TextBox 49">
            <a:extLst>
              <a:ext uri="{FF2B5EF4-FFF2-40B4-BE49-F238E27FC236}">
                <a16:creationId xmlns:a16="http://schemas.microsoft.com/office/drawing/2014/main" id="{9E7638E3-D699-4E00-A1D4-D193421B8897}"/>
              </a:ext>
            </a:extLst>
          </p:cNvPr>
          <p:cNvSpPr txBox="1"/>
          <p:nvPr/>
        </p:nvSpPr>
        <p:spPr>
          <a:xfrm>
            <a:off x="8459050" y="1300376"/>
            <a:ext cx="1580903" cy="215444"/>
          </a:xfrm>
          <a:prstGeom prst="rect">
            <a:avLst/>
          </a:prstGeom>
          <a:noFill/>
        </p:spPr>
        <p:txBody>
          <a:bodyPr wrap="square" lIns="0" tIns="0" rIns="0" bIns="0" anchor="t">
            <a:spAutoFit/>
          </a:bodyPr>
          <a:lstStyle/>
          <a:p>
            <a:pPr algn="ctr"/>
            <a:r>
              <a:rPr sz="1400" b="1" i="0" dirty="0">
                <a:latin typeface="맑은 고딕"/>
                <a:ea typeface="맑은 고딕"/>
              </a:rPr>
              <a:t>Legacy </a:t>
            </a:r>
            <a:r>
              <a:rPr sz="1400" b="1" i="0" dirty="0" err="1">
                <a:latin typeface="맑은 고딕"/>
                <a:ea typeface="맑은 고딕"/>
              </a:rPr>
              <a:t>시스템</a:t>
            </a:r>
            <a:endParaRPr sz="1400" b="1" i="0" dirty="0">
              <a:latin typeface="맑은 고딕"/>
              <a:ea typeface="맑은 고딕"/>
            </a:endParaRPr>
          </a:p>
        </p:txBody>
      </p:sp>
      <p:grpSp>
        <p:nvGrpSpPr>
          <p:cNvPr id="189" name="그룹 188">
            <a:extLst>
              <a:ext uri="{FF2B5EF4-FFF2-40B4-BE49-F238E27FC236}">
                <a16:creationId xmlns:a16="http://schemas.microsoft.com/office/drawing/2014/main" id="{5BAAE414-3069-4D77-9488-1B60AB9A6902}"/>
              </a:ext>
            </a:extLst>
          </p:cNvPr>
          <p:cNvGrpSpPr/>
          <p:nvPr/>
        </p:nvGrpSpPr>
        <p:grpSpPr>
          <a:xfrm>
            <a:off x="6799569" y="1607620"/>
            <a:ext cx="4895760" cy="2037710"/>
            <a:chOff x="6799569" y="1541253"/>
            <a:chExt cx="4747332" cy="2049551"/>
          </a:xfrm>
        </p:grpSpPr>
        <p:sp>
          <p:nvSpPr>
            <p:cNvPr id="48" name="모서리가 둥근 직사각형 203">
              <a:extLst>
                <a:ext uri="{FF2B5EF4-FFF2-40B4-BE49-F238E27FC236}">
                  <a16:creationId xmlns:a16="http://schemas.microsoft.com/office/drawing/2014/main" id="{8818C517-9AE2-4CD8-88D3-3A3C6FAB2807}"/>
                </a:ext>
              </a:extLst>
            </p:cNvPr>
            <p:cNvSpPr/>
            <p:nvPr/>
          </p:nvSpPr>
          <p:spPr>
            <a:xfrm>
              <a:off x="6799569" y="1541253"/>
              <a:ext cx="4747332" cy="2049551"/>
            </a:xfrm>
            <a:prstGeom prst="roundRect">
              <a:avLst>
                <a:gd name="adj" fmla="val 8399"/>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algn="ctr"/>
              <a:endParaRPr lang="ko-KR" altLang="en-US" sz="1400" b="1" dirty="0">
                <a:solidFill>
                  <a:schemeClr val="tx1"/>
                </a:solidFill>
              </a:endParaRPr>
            </a:p>
          </p:txBody>
        </p:sp>
        <p:sp>
          <p:nvSpPr>
            <p:cNvPr id="52" name="직사각형 51">
              <a:extLst>
                <a:ext uri="{FF2B5EF4-FFF2-40B4-BE49-F238E27FC236}">
                  <a16:creationId xmlns:a16="http://schemas.microsoft.com/office/drawing/2014/main" id="{ABBD2CB5-64B7-49F8-9E54-A83D4EE66C31}"/>
                </a:ext>
              </a:extLst>
            </p:cNvPr>
            <p:cNvSpPr/>
            <p:nvPr/>
          </p:nvSpPr>
          <p:spPr>
            <a:xfrm>
              <a:off x="8452828" y="2838494"/>
              <a:ext cx="1217638" cy="251044"/>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CPU</a:t>
              </a:r>
              <a:endParaRPr lang="ko-KR" altLang="en-US" sz="1400" dirty="0">
                <a:solidFill>
                  <a:schemeClr val="bg1">
                    <a:lumMod val="50000"/>
                  </a:schemeClr>
                </a:solidFill>
              </a:endParaRPr>
            </a:p>
          </p:txBody>
        </p:sp>
        <p:sp>
          <p:nvSpPr>
            <p:cNvPr id="53" name="직사각형 52">
              <a:extLst>
                <a:ext uri="{FF2B5EF4-FFF2-40B4-BE49-F238E27FC236}">
                  <a16:creationId xmlns:a16="http://schemas.microsoft.com/office/drawing/2014/main" id="{07847AC2-3723-4524-BD4E-7B5AF0C306B4}"/>
                </a:ext>
              </a:extLst>
            </p:cNvPr>
            <p:cNvSpPr/>
            <p:nvPr/>
          </p:nvSpPr>
          <p:spPr>
            <a:xfrm>
              <a:off x="10028798" y="2838494"/>
              <a:ext cx="1217638" cy="2510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DRAM</a:t>
              </a:r>
              <a:endParaRPr lang="ko-KR" altLang="en-US" sz="1400" dirty="0"/>
            </a:p>
          </p:txBody>
        </p:sp>
        <p:sp>
          <p:nvSpPr>
            <p:cNvPr id="55" name="직사각형 54">
              <a:extLst>
                <a:ext uri="{FF2B5EF4-FFF2-40B4-BE49-F238E27FC236}">
                  <a16:creationId xmlns:a16="http://schemas.microsoft.com/office/drawing/2014/main" id="{683FF236-3F6C-46AA-9AA4-295054B8ABA3}"/>
                </a:ext>
              </a:extLst>
            </p:cNvPr>
            <p:cNvSpPr/>
            <p:nvPr/>
          </p:nvSpPr>
          <p:spPr>
            <a:xfrm>
              <a:off x="7052940" y="2443302"/>
              <a:ext cx="1217638" cy="243746"/>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GPU</a:t>
              </a:r>
              <a:endParaRPr lang="ko-KR" altLang="en-US" sz="1400" dirty="0">
                <a:solidFill>
                  <a:schemeClr val="bg1">
                    <a:lumMod val="50000"/>
                  </a:schemeClr>
                </a:solidFill>
              </a:endParaRPr>
            </a:p>
          </p:txBody>
        </p:sp>
        <p:sp>
          <p:nvSpPr>
            <p:cNvPr id="56" name="직사각형 55">
              <a:extLst>
                <a:ext uri="{FF2B5EF4-FFF2-40B4-BE49-F238E27FC236}">
                  <a16:creationId xmlns:a16="http://schemas.microsoft.com/office/drawing/2014/main" id="{F3444C6F-B8A8-42CF-99BE-DFAE35F03139}"/>
                </a:ext>
              </a:extLst>
            </p:cNvPr>
            <p:cNvSpPr/>
            <p:nvPr/>
          </p:nvSpPr>
          <p:spPr>
            <a:xfrm>
              <a:off x="7052940" y="1996548"/>
              <a:ext cx="1217638" cy="274815"/>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HBM</a:t>
              </a:r>
              <a:endParaRPr lang="ko-KR" altLang="en-US" sz="1400" dirty="0"/>
            </a:p>
          </p:txBody>
        </p:sp>
        <p:sp>
          <p:nvSpPr>
            <p:cNvPr id="57" name="직사각형 56">
              <a:extLst>
                <a:ext uri="{FF2B5EF4-FFF2-40B4-BE49-F238E27FC236}">
                  <a16:creationId xmlns:a16="http://schemas.microsoft.com/office/drawing/2014/main" id="{9C0EFC8A-5121-4F5A-AD9A-897FBAA8BF46}"/>
                </a:ext>
              </a:extLst>
            </p:cNvPr>
            <p:cNvSpPr/>
            <p:nvPr/>
          </p:nvSpPr>
          <p:spPr>
            <a:xfrm>
              <a:off x="8452828" y="3215238"/>
              <a:ext cx="1217638" cy="2510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SSD</a:t>
              </a:r>
              <a:endParaRPr lang="ko-KR" altLang="en-US" sz="1400" dirty="0"/>
            </a:p>
          </p:txBody>
        </p:sp>
        <p:cxnSp>
          <p:nvCxnSpPr>
            <p:cNvPr id="58" name="직선 연결선 57">
              <a:extLst>
                <a:ext uri="{FF2B5EF4-FFF2-40B4-BE49-F238E27FC236}">
                  <a16:creationId xmlns:a16="http://schemas.microsoft.com/office/drawing/2014/main" id="{E85A42BD-C6C4-4A77-9F92-1EB368FDF509}"/>
                </a:ext>
              </a:extLst>
            </p:cNvPr>
            <p:cNvCxnSpPr>
              <a:cxnSpLocks/>
              <a:stCxn id="55" idx="2"/>
              <a:endCxn id="52" idx="0"/>
            </p:cNvCxnSpPr>
            <p:nvPr/>
          </p:nvCxnSpPr>
          <p:spPr>
            <a:xfrm>
              <a:off x="7661760" y="2687048"/>
              <a:ext cx="1399888" cy="151446"/>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a:extLst>
                <a:ext uri="{FF2B5EF4-FFF2-40B4-BE49-F238E27FC236}">
                  <a16:creationId xmlns:a16="http://schemas.microsoft.com/office/drawing/2014/main" id="{715106E1-061D-4C38-B0F9-1F9CDC279A84}"/>
                </a:ext>
              </a:extLst>
            </p:cNvPr>
            <p:cNvCxnSpPr>
              <a:cxnSpLocks/>
              <a:stCxn id="53" idx="1"/>
              <a:endCxn id="52" idx="3"/>
            </p:cNvCxnSpPr>
            <p:nvPr/>
          </p:nvCxnSpPr>
          <p:spPr>
            <a:xfrm flipH="1">
              <a:off x="9670466" y="2964017"/>
              <a:ext cx="358332" cy="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a:extLst>
                <a:ext uri="{FF2B5EF4-FFF2-40B4-BE49-F238E27FC236}">
                  <a16:creationId xmlns:a16="http://schemas.microsoft.com/office/drawing/2014/main" id="{53AACF7E-D6DC-4356-8AC2-ECF5A65FD4B6}"/>
                </a:ext>
              </a:extLst>
            </p:cNvPr>
            <p:cNvCxnSpPr>
              <a:cxnSpLocks/>
              <a:stCxn id="57" idx="0"/>
              <a:endCxn id="52" idx="2"/>
            </p:cNvCxnSpPr>
            <p:nvPr/>
          </p:nvCxnSpPr>
          <p:spPr>
            <a:xfrm flipV="1">
              <a:off x="9061647" y="3089539"/>
              <a:ext cx="0" cy="125699"/>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03AB575E-2609-4FF5-9CF5-FA0B51625D04}"/>
                </a:ext>
              </a:extLst>
            </p:cNvPr>
            <p:cNvCxnSpPr>
              <a:cxnSpLocks/>
              <a:stCxn id="56" idx="2"/>
              <a:endCxn id="55" idx="0"/>
            </p:cNvCxnSpPr>
            <p:nvPr/>
          </p:nvCxnSpPr>
          <p:spPr>
            <a:xfrm>
              <a:off x="7661760" y="2271363"/>
              <a:ext cx="0" cy="171938"/>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65" name="순서도: 자기 디스크 64">
              <a:extLst>
                <a:ext uri="{FF2B5EF4-FFF2-40B4-BE49-F238E27FC236}">
                  <a16:creationId xmlns:a16="http://schemas.microsoft.com/office/drawing/2014/main" id="{064AC430-7BB8-4B2D-8221-28B577B51FF6}"/>
                </a:ext>
              </a:extLst>
            </p:cNvPr>
            <p:cNvSpPr/>
            <p:nvPr/>
          </p:nvSpPr>
          <p:spPr>
            <a:xfrm>
              <a:off x="8032671" y="2271363"/>
              <a:ext cx="599025" cy="176862"/>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6" name="순서도: 자기 디스크 65">
              <a:extLst>
                <a:ext uri="{FF2B5EF4-FFF2-40B4-BE49-F238E27FC236}">
                  <a16:creationId xmlns:a16="http://schemas.microsoft.com/office/drawing/2014/main" id="{382E24FE-EB61-4000-ABE1-9D240FC79B85}"/>
                </a:ext>
              </a:extLst>
            </p:cNvPr>
            <p:cNvSpPr/>
            <p:nvPr/>
          </p:nvSpPr>
          <p:spPr>
            <a:xfrm>
              <a:off x="8032671" y="2113111"/>
              <a:ext cx="599025" cy="176862"/>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7" name="순서도: 자기 디스크 66">
              <a:extLst>
                <a:ext uri="{FF2B5EF4-FFF2-40B4-BE49-F238E27FC236}">
                  <a16:creationId xmlns:a16="http://schemas.microsoft.com/office/drawing/2014/main" id="{38E7ADE2-A791-407A-A1AF-4C170A138FBE}"/>
                </a:ext>
              </a:extLst>
            </p:cNvPr>
            <p:cNvSpPr/>
            <p:nvPr/>
          </p:nvSpPr>
          <p:spPr>
            <a:xfrm>
              <a:off x="8032671" y="1796600"/>
              <a:ext cx="599025" cy="176862"/>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8" name="TextBox 67">
              <a:extLst>
                <a:ext uri="{FF2B5EF4-FFF2-40B4-BE49-F238E27FC236}">
                  <a16:creationId xmlns:a16="http://schemas.microsoft.com/office/drawing/2014/main" id="{93FB15D5-6527-4DF6-9FDA-07AF73F9A0D7}"/>
                </a:ext>
              </a:extLst>
            </p:cNvPr>
            <p:cNvSpPr txBox="1"/>
            <p:nvPr/>
          </p:nvSpPr>
          <p:spPr>
            <a:xfrm rot="16200000">
              <a:off x="8249592" y="1950605"/>
              <a:ext cx="165185" cy="192496"/>
            </a:xfrm>
            <a:prstGeom prst="rect">
              <a:avLst/>
            </a:prstGeom>
            <a:noFill/>
            <a:ln w="9525">
              <a:noFill/>
            </a:ln>
          </p:spPr>
          <p:txBody>
            <a:bodyPr wrap="square" lIns="0" tIns="0" rIns="0" bIns="0" anchor="t">
              <a:spAutoFit/>
            </a:bodyPr>
            <a:lstStyle/>
            <a:p>
              <a:pPr algn="l"/>
              <a:r>
                <a:rPr lang="en-US" sz="1200" b="1" i="0" dirty="0">
                  <a:latin typeface="맑은 고딕"/>
                  <a:ea typeface="맑은 고딕"/>
                </a:rPr>
                <a:t>…</a:t>
              </a:r>
              <a:endParaRPr sz="1200" b="1" i="0" dirty="0">
                <a:latin typeface="맑은 고딕"/>
                <a:ea typeface="맑은 고딕"/>
              </a:endParaRPr>
            </a:p>
          </p:txBody>
        </p:sp>
        <p:sp>
          <p:nvSpPr>
            <p:cNvPr id="72" name="TextBox 71">
              <a:extLst>
                <a:ext uri="{FF2B5EF4-FFF2-40B4-BE49-F238E27FC236}">
                  <a16:creationId xmlns:a16="http://schemas.microsoft.com/office/drawing/2014/main" id="{982B91E0-C0A6-4A51-990F-CD75D078CD26}"/>
                </a:ext>
              </a:extLst>
            </p:cNvPr>
            <p:cNvSpPr txBox="1"/>
            <p:nvPr/>
          </p:nvSpPr>
          <p:spPr>
            <a:xfrm>
              <a:off x="7484768" y="2875646"/>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73" name="TextBox 72">
              <a:extLst>
                <a:ext uri="{FF2B5EF4-FFF2-40B4-BE49-F238E27FC236}">
                  <a16:creationId xmlns:a16="http://schemas.microsoft.com/office/drawing/2014/main" id="{E2BB39FA-2603-4437-B4FF-B5439EC5C1DF}"/>
                </a:ext>
              </a:extLst>
            </p:cNvPr>
            <p:cNvSpPr txBox="1"/>
            <p:nvPr/>
          </p:nvSpPr>
          <p:spPr>
            <a:xfrm rot="16200000">
              <a:off x="7533442" y="3336433"/>
              <a:ext cx="258321" cy="224579"/>
            </a:xfrm>
            <a:prstGeom prst="rect">
              <a:avLst/>
            </a:prstGeom>
            <a:noFill/>
            <a:ln w="9525">
              <a:noFill/>
            </a:ln>
          </p:spPr>
          <p:txBody>
            <a:bodyPr wrap="square" lIns="0" tIns="0" rIns="0" bIns="0" anchor="t">
              <a:spAutoFit/>
            </a:bodyPr>
            <a:lstStyle/>
            <a:p>
              <a:pPr algn="l"/>
              <a:r>
                <a:rPr lang="en-US" sz="1400" b="1" i="0" dirty="0">
                  <a:latin typeface="맑은 고딕"/>
                  <a:ea typeface="맑은 고딕"/>
                </a:rPr>
                <a:t>…</a:t>
              </a:r>
              <a:endParaRPr sz="1400" b="1" i="0" dirty="0">
                <a:latin typeface="맑은 고딕"/>
                <a:ea typeface="맑은 고딕"/>
              </a:endParaRPr>
            </a:p>
          </p:txBody>
        </p:sp>
        <p:sp>
          <p:nvSpPr>
            <p:cNvPr id="74" name="TextBox 73">
              <a:extLst>
                <a:ext uri="{FF2B5EF4-FFF2-40B4-BE49-F238E27FC236}">
                  <a16:creationId xmlns:a16="http://schemas.microsoft.com/office/drawing/2014/main" id="{49F89BB0-E1B8-4821-947A-774A5DECE2FA}"/>
                </a:ext>
              </a:extLst>
            </p:cNvPr>
            <p:cNvSpPr txBox="1"/>
            <p:nvPr/>
          </p:nvSpPr>
          <p:spPr>
            <a:xfrm>
              <a:off x="9250309" y="2504560"/>
              <a:ext cx="1055751" cy="255391"/>
            </a:xfrm>
            <a:prstGeom prst="rect">
              <a:avLst/>
            </a:prstGeom>
            <a:noFill/>
            <a:ln w="9525">
              <a:noFill/>
            </a:ln>
          </p:spPr>
          <p:txBody>
            <a:bodyPr wrap="none" rtlCol="0">
              <a:spAutoFit/>
            </a:bodyPr>
            <a:lstStyle/>
            <a:p>
              <a:r>
                <a:rPr lang="ko-KR" altLang="en-US" sz="1050" dirty="0">
                  <a:solidFill>
                    <a:srgbClr val="FF0000"/>
                  </a:solidFill>
                </a:rPr>
                <a:t>필요 시 재생성</a:t>
              </a:r>
            </a:p>
          </p:txBody>
        </p:sp>
        <p:cxnSp>
          <p:nvCxnSpPr>
            <p:cNvPr id="76" name="꺾인 연결선 190">
              <a:extLst>
                <a:ext uri="{FF2B5EF4-FFF2-40B4-BE49-F238E27FC236}">
                  <a16:creationId xmlns:a16="http://schemas.microsoft.com/office/drawing/2014/main" id="{A9475D4E-A4B7-4768-8481-89EBE0C931C6}"/>
                </a:ext>
              </a:extLst>
            </p:cNvPr>
            <p:cNvCxnSpPr>
              <a:stCxn id="67" idx="4"/>
              <a:endCxn id="2050" idx="0"/>
            </p:cNvCxnSpPr>
            <p:nvPr/>
          </p:nvCxnSpPr>
          <p:spPr>
            <a:xfrm>
              <a:off x="8631697" y="1885031"/>
              <a:ext cx="618613" cy="155293"/>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24E4EFAD-67F2-41C6-ACC8-40AD76E19052}"/>
                </a:ext>
              </a:extLst>
            </p:cNvPr>
            <p:cNvSpPr txBox="1"/>
            <p:nvPr/>
          </p:nvSpPr>
          <p:spPr>
            <a:xfrm>
              <a:off x="9305516" y="1822363"/>
              <a:ext cx="1041714" cy="255391"/>
            </a:xfrm>
            <a:prstGeom prst="rect">
              <a:avLst/>
            </a:prstGeom>
            <a:noFill/>
            <a:ln w="9525">
              <a:noFill/>
            </a:ln>
          </p:spPr>
          <p:txBody>
            <a:bodyPr wrap="square" rtlCol="0">
              <a:spAutoFit/>
            </a:bodyPr>
            <a:lstStyle/>
            <a:p>
              <a:r>
                <a:rPr lang="ko-KR" altLang="en-US" sz="1050" dirty="0">
                  <a:solidFill>
                    <a:srgbClr val="FF0000"/>
                  </a:solidFill>
                </a:rPr>
                <a:t>버림</a:t>
              </a:r>
              <a:r>
                <a:rPr lang="en-US" altLang="ko-KR" sz="1050" dirty="0">
                  <a:solidFill>
                    <a:srgbClr val="FF0000"/>
                  </a:solidFill>
                </a:rPr>
                <a:t>(Eviction)</a:t>
              </a:r>
              <a:endParaRPr lang="ko-KR" altLang="en-US" sz="1050" dirty="0">
                <a:solidFill>
                  <a:srgbClr val="FF0000"/>
                </a:solidFill>
              </a:endParaRPr>
            </a:p>
          </p:txBody>
        </p:sp>
        <p:cxnSp>
          <p:nvCxnSpPr>
            <p:cNvPr id="78" name="꺾인 연결선 192">
              <a:extLst>
                <a:ext uri="{FF2B5EF4-FFF2-40B4-BE49-F238E27FC236}">
                  <a16:creationId xmlns:a16="http://schemas.microsoft.com/office/drawing/2014/main" id="{7ADE1CED-BB2A-40DA-AD8C-ABC9447B4EB5}"/>
                </a:ext>
              </a:extLst>
            </p:cNvPr>
            <p:cNvCxnSpPr>
              <a:stCxn id="2050" idx="2"/>
              <a:endCxn id="102" idx="4"/>
            </p:cNvCxnSpPr>
            <p:nvPr/>
          </p:nvCxnSpPr>
          <p:spPr>
            <a:xfrm rot="5400000">
              <a:off x="8686651" y="2119185"/>
              <a:ext cx="261851" cy="865466"/>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FD796661-0D4E-4B26-9C34-90DCD5C12137}"/>
                </a:ext>
              </a:extLst>
            </p:cNvPr>
            <p:cNvSpPr txBox="1"/>
            <p:nvPr/>
          </p:nvSpPr>
          <p:spPr>
            <a:xfrm>
              <a:off x="7239025" y="1744761"/>
              <a:ext cx="870751" cy="261610"/>
            </a:xfrm>
            <a:prstGeom prst="rect">
              <a:avLst/>
            </a:prstGeom>
            <a:noFill/>
            <a:ln w="9525">
              <a:noFill/>
            </a:ln>
          </p:spPr>
          <p:txBody>
            <a:bodyPr wrap="none" rtlCol="0">
              <a:spAutoFit/>
            </a:bodyPr>
            <a:lstStyle/>
            <a:p>
              <a:r>
                <a:rPr lang="en-US" altLang="ko-KR" sz="1050" dirty="0">
                  <a:solidFill>
                    <a:srgbClr val="FF0000"/>
                  </a:solidFill>
                </a:rPr>
                <a:t>HBM </a:t>
              </a:r>
              <a:r>
                <a:rPr lang="ko-KR" altLang="en-US" sz="1050" dirty="0">
                  <a:solidFill>
                    <a:srgbClr val="FF0000"/>
                  </a:solidFill>
                </a:rPr>
                <a:t>초과</a:t>
              </a:r>
              <a:r>
                <a:rPr lang="en-US" altLang="ko-KR" sz="1050" dirty="0">
                  <a:solidFill>
                    <a:srgbClr val="FF0000"/>
                  </a:solidFill>
                </a:rPr>
                <a:t>!</a:t>
              </a:r>
              <a:endParaRPr lang="ko-KR" altLang="en-US" sz="1050" dirty="0">
                <a:solidFill>
                  <a:srgbClr val="FF0000"/>
                </a:solidFill>
              </a:endParaRPr>
            </a:p>
          </p:txBody>
        </p:sp>
        <p:cxnSp>
          <p:nvCxnSpPr>
            <p:cNvPr id="80" name="직선 화살표 연결선 79">
              <a:extLst>
                <a:ext uri="{FF2B5EF4-FFF2-40B4-BE49-F238E27FC236}">
                  <a16:creationId xmlns:a16="http://schemas.microsoft.com/office/drawing/2014/main" id="{CA1F8DB9-E832-4DA7-940A-65844652822B}"/>
                </a:ext>
              </a:extLst>
            </p:cNvPr>
            <p:cNvCxnSpPr>
              <a:cxnSpLocks/>
              <a:stCxn id="72" idx="3"/>
              <a:endCxn id="52" idx="1"/>
            </p:cNvCxnSpPr>
            <p:nvPr/>
          </p:nvCxnSpPr>
          <p:spPr>
            <a:xfrm flipV="1">
              <a:off x="8007571" y="2964016"/>
              <a:ext cx="445257" cy="3963"/>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직사각형 82">
              <a:extLst>
                <a:ext uri="{FF2B5EF4-FFF2-40B4-BE49-F238E27FC236}">
                  <a16:creationId xmlns:a16="http://schemas.microsoft.com/office/drawing/2014/main" id="{7EA78B81-4641-4C46-BE14-08DC0172FB86}"/>
                </a:ext>
              </a:extLst>
            </p:cNvPr>
            <p:cNvSpPr/>
            <p:nvPr/>
          </p:nvSpPr>
          <p:spPr>
            <a:xfrm>
              <a:off x="10470992" y="3319561"/>
              <a:ext cx="952854" cy="205526"/>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dirty="0"/>
                <a:t>기존 메모리</a:t>
              </a:r>
            </a:p>
          </p:txBody>
        </p:sp>
        <p:grpSp>
          <p:nvGrpSpPr>
            <p:cNvPr id="98" name="그룹 97">
              <a:extLst>
                <a:ext uri="{FF2B5EF4-FFF2-40B4-BE49-F238E27FC236}">
                  <a16:creationId xmlns:a16="http://schemas.microsoft.com/office/drawing/2014/main" id="{AE2F854E-8D61-4A48-874C-83EBA0A2E01E}"/>
                </a:ext>
              </a:extLst>
            </p:cNvPr>
            <p:cNvGrpSpPr/>
            <p:nvPr/>
          </p:nvGrpSpPr>
          <p:grpSpPr>
            <a:xfrm>
              <a:off x="6828071" y="2589453"/>
              <a:ext cx="767863" cy="280799"/>
              <a:chOff x="6828071" y="2814271"/>
              <a:chExt cx="767863" cy="280799"/>
            </a:xfrm>
          </p:grpSpPr>
          <p:sp>
            <p:nvSpPr>
              <p:cNvPr id="85" name="타원 84">
                <a:extLst>
                  <a:ext uri="{FF2B5EF4-FFF2-40B4-BE49-F238E27FC236}">
                    <a16:creationId xmlns:a16="http://schemas.microsoft.com/office/drawing/2014/main" id="{0F776354-06A9-4A15-A11A-589919D6F46D}"/>
                  </a:ext>
                </a:extLst>
              </p:cNvPr>
              <p:cNvSpPr/>
              <p:nvPr/>
            </p:nvSpPr>
            <p:spPr>
              <a:xfrm>
                <a:off x="6828071" y="2814271"/>
                <a:ext cx="767863" cy="280799"/>
              </a:xfrm>
              <a:prstGeom prst="ellipse">
                <a:avLst/>
              </a:prstGeom>
              <a:ln w="9525"/>
            </p:spPr>
            <p:style>
              <a:lnRef idx="1">
                <a:schemeClr val="accent4"/>
              </a:lnRef>
              <a:fillRef idx="2">
                <a:schemeClr val="accent4"/>
              </a:fillRef>
              <a:effectRef idx="1">
                <a:schemeClr val="accent4"/>
              </a:effectRef>
              <a:fontRef idx="minor">
                <a:schemeClr val="dk1"/>
              </a:fontRef>
            </p:style>
            <p:txBody>
              <a:bodyPr rtlCol="0" anchor="ctr"/>
              <a:lstStyle/>
              <a:p>
                <a:pPr algn="ctr"/>
                <a:endParaRPr lang="ko-KR" altLang="en-US" sz="1400" dirty="0"/>
              </a:p>
            </p:txBody>
          </p:sp>
          <p:sp>
            <p:nvSpPr>
              <p:cNvPr id="96" name="TextBox 95">
                <a:extLst>
                  <a:ext uri="{FF2B5EF4-FFF2-40B4-BE49-F238E27FC236}">
                    <a16:creationId xmlns:a16="http://schemas.microsoft.com/office/drawing/2014/main" id="{BA3F02D0-41F5-45CC-8BAE-949595FA2D41}"/>
                  </a:ext>
                </a:extLst>
              </p:cNvPr>
              <p:cNvSpPr txBox="1"/>
              <p:nvPr/>
            </p:nvSpPr>
            <p:spPr>
              <a:xfrm>
                <a:off x="6875822" y="2874065"/>
                <a:ext cx="672364" cy="161583"/>
              </a:xfrm>
              <a:prstGeom prst="rect">
                <a:avLst/>
              </a:prstGeom>
              <a:noFill/>
              <a:ln w="9525">
                <a:noFill/>
              </a:ln>
            </p:spPr>
            <p:txBody>
              <a:bodyPr wrap="square" lIns="0" tIns="0" rIns="0" bIns="0" anchor="t">
                <a:spAutoFit/>
              </a:bodyPr>
              <a:lstStyle/>
              <a:p>
                <a:pPr algn="ctr"/>
                <a:r>
                  <a:rPr lang="en-US" sz="1050" i="0" dirty="0">
                    <a:latin typeface="맑은 고딕"/>
                    <a:ea typeface="맑은 고딕"/>
                  </a:rPr>
                  <a:t>LLM </a:t>
                </a:r>
                <a:r>
                  <a:rPr lang="ko-KR" altLang="en-US" sz="1050" i="0" dirty="0">
                    <a:latin typeface="맑은 고딕"/>
                    <a:ea typeface="맑은 고딕"/>
                  </a:rPr>
                  <a:t>연산</a:t>
                </a:r>
                <a:endParaRPr sz="1050" i="0" dirty="0">
                  <a:latin typeface="맑은 고딕"/>
                  <a:ea typeface="맑은 고딕"/>
                </a:endParaRPr>
              </a:p>
            </p:txBody>
          </p:sp>
        </p:grpSp>
        <p:sp>
          <p:nvSpPr>
            <p:cNvPr id="105" name="TextBox 104">
              <a:extLst>
                <a:ext uri="{FF2B5EF4-FFF2-40B4-BE49-F238E27FC236}">
                  <a16:creationId xmlns:a16="http://schemas.microsoft.com/office/drawing/2014/main" id="{2566557A-48CB-433C-8652-34BA1A5386B1}"/>
                </a:ext>
              </a:extLst>
            </p:cNvPr>
            <p:cNvSpPr txBox="1"/>
            <p:nvPr/>
          </p:nvSpPr>
          <p:spPr>
            <a:xfrm>
              <a:off x="7484768" y="3018037"/>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106" name="TextBox 105">
              <a:extLst>
                <a:ext uri="{FF2B5EF4-FFF2-40B4-BE49-F238E27FC236}">
                  <a16:creationId xmlns:a16="http://schemas.microsoft.com/office/drawing/2014/main" id="{12A7282B-FBA6-4075-BBFB-39F23061A41E}"/>
                </a:ext>
              </a:extLst>
            </p:cNvPr>
            <p:cNvSpPr txBox="1"/>
            <p:nvPr/>
          </p:nvSpPr>
          <p:spPr>
            <a:xfrm>
              <a:off x="7484768" y="3160140"/>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102" name="순서도: 자기 디스크 101">
              <a:extLst>
                <a:ext uri="{FF2B5EF4-FFF2-40B4-BE49-F238E27FC236}">
                  <a16:creationId xmlns:a16="http://schemas.microsoft.com/office/drawing/2014/main" id="{38E7ADE2-A791-407A-A1AF-4C170A138FBE}"/>
                </a:ext>
              </a:extLst>
            </p:cNvPr>
            <p:cNvSpPr/>
            <p:nvPr/>
          </p:nvSpPr>
          <p:spPr>
            <a:xfrm>
              <a:off x="7785818" y="2594411"/>
              <a:ext cx="599025" cy="176862"/>
            </a:xfrm>
            <a:prstGeom prst="flowChartMagneticDisk">
              <a:avLst/>
            </a:prstGeom>
            <a:ln w="9525">
              <a:solidFill>
                <a:srgbClr val="FF0000"/>
              </a:solidFill>
              <a:prstDash val="dash"/>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grpSp>
      <p:sp>
        <p:nvSpPr>
          <p:cNvPr id="107" name="모서리가 둥근 직사각형 4">
            <a:extLst>
              <a:ext uri="{FF2B5EF4-FFF2-40B4-BE49-F238E27FC236}">
                <a16:creationId xmlns:a16="http://schemas.microsoft.com/office/drawing/2014/main" id="{70EDF604-1501-4C98-896B-6FC54FAFFCCB}"/>
              </a:ext>
            </a:extLst>
          </p:cNvPr>
          <p:cNvSpPr/>
          <p:nvPr/>
        </p:nvSpPr>
        <p:spPr>
          <a:xfrm>
            <a:off x="6688539" y="4040050"/>
            <a:ext cx="5105454" cy="243704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9" name="그룹 108">
            <a:extLst>
              <a:ext uri="{FF2B5EF4-FFF2-40B4-BE49-F238E27FC236}">
                <a16:creationId xmlns:a16="http://schemas.microsoft.com/office/drawing/2014/main" id="{D737E662-28FB-418C-A317-9AEA467464BD}"/>
              </a:ext>
            </a:extLst>
          </p:cNvPr>
          <p:cNvGrpSpPr/>
          <p:nvPr/>
        </p:nvGrpSpPr>
        <p:grpSpPr>
          <a:xfrm>
            <a:off x="6878537" y="4393271"/>
            <a:ext cx="4689889" cy="1909558"/>
            <a:chOff x="6527245" y="1328977"/>
            <a:chExt cx="4672800" cy="3611820"/>
          </a:xfrm>
        </p:grpSpPr>
        <p:sp>
          <p:nvSpPr>
            <p:cNvPr id="112" name="모서리가 둥근 직사각형 171">
              <a:extLst>
                <a:ext uri="{FF2B5EF4-FFF2-40B4-BE49-F238E27FC236}">
                  <a16:creationId xmlns:a16="http://schemas.microsoft.com/office/drawing/2014/main" id="{F07888B5-2705-43D5-854B-D04177C659EB}"/>
                </a:ext>
              </a:extLst>
            </p:cNvPr>
            <p:cNvSpPr/>
            <p:nvPr/>
          </p:nvSpPr>
          <p:spPr>
            <a:xfrm>
              <a:off x="6527245" y="1328977"/>
              <a:ext cx="4672800" cy="3611820"/>
            </a:xfrm>
            <a:prstGeom prst="roundRect">
              <a:avLst>
                <a:gd name="adj" fmla="val 8399"/>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algn="ctr"/>
              <a:endParaRPr lang="ko-KR" altLang="en-US" sz="1400" b="1" dirty="0">
                <a:solidFill>
                  <a:schemeClr val="tx1"/>
                </a:solidFill>
              </a:endParaRPr>
            </a:p>
          </p:txBody>
        </p:sp>
        <p:grpSp>
          <p:nvGrpSpPr>
            <p:cNvPr id="113" name="그룹 112">
              <a:extLst>
                <a:ext uri="{FF2B5EF4-FFF2-40B4-BE49-F238E27FC236}">
                  <a16:creationId xmlns:a16="http://schemas.microsoft.com/office/drawing/2014/main" id="{B8C54165-3579-4226-9211-58E6217C6E3D}"/>
                </a:ext>
              </a:extLst>
            </p:cNvPr>
            <p:cNvGrpSpPr/>
            <p:nvPr/>
          </p:nvGrpSpPr>
          <p:grpSpPr>
            <a:xfrm>
              <a:off x="6704421" y="1674793"/>
              <a:ext cx="4313335" cy="3036666"/>
              <a:chOff x="6555627" y="1466479"/>
              <a:chExt cx="5410772" cy="3634982"/>
            </a:xfrm>
          </p:grpSpPr>
          <p:sp>
            <p:nvSpPr>
              <p:cNvPr id="118" name="직사각형 117">
                <a:extLst>
                  <a:ext uri="{FF2B5EF4-FFF2-40B4-BE49-F238E27FC236}">
                    <a16:creationId xmlns:a16="http://schemas.microsoft.com/office/drawing/2014/main" id="{EEEA16A5-8ED8-450C-80D2-606356AAD238}"/>
                  </a:ext>
                </a:extLst>
              </p:cNvPr>
              <p:cNvSpPr/>
              <p:nvPr/>
            </p:nvSpPr>
            <p:spPr>
              <a:xfrm>
                <a:off x="8484908" y="3426754"/>
                <a:ext cx="1458119" cy="537077"/>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CPU</a:t>
                </a:r>
                <a:endParaRPr lang="ko-KR" altLang="en-US" sz="1400" dirty="0">
                  <a:solidFill>
                    <a:schemeClr val="bg1">
                      <a:lumMod val="50000"/>
                    </a:schemeClr>
                  </a:solidFill>
                </a:endParaRPr>
              </a:p>
            </p:txBody>
          </p:sp>
          <p:sp>
            <p:nvSpPr>
              <p:cNvPr id="119" name="직사각형 118">
                <a:extLst>
                  <a:ext uri="{FF2B5EF4-FFF2-40B4-BE49-F238E27FC236}">
                    <a16:creationId xmlns:a16="http://schemas.microsoft.com/office/drawing/2014/main" id="{8241C0BB-0599-405A-8B5C-985F0F3D7758}"/>
                  </a:ext>
                </a:extLst>
              </p:cNvPr>
              <p:cNvSpPr/>
              <p:nvPr/>
            </p:nvSpPr>
            <p:spPr>
              <a:xfrm>
                <a:off x="10372129" y="4049014"/>
                <a:ext cx="1458119" cy="537077"/>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DRAM</a:t>
                </a:r>
                <a:endParaRPr lang="ko-KR" altLang="en-US" sz="1400" dirty="0"/>
              </a:p>
            </p:txBody>
          </p:sp>
          <p:sp>
            <p:nvSpPr>
              <p:cNvPr id="121" name="직사각형 120">
                <a:extLst>
                  <a:ext uri="{FF2B5EF4-FFF2-40B4-BE49-F238E27FC236}">
                    <a16:creationId xmlns:a16="http://schemas.microsoft.com/office/drawing/2014/main" id="{4B2D9DF7-C1E0-4A76-B675-51BE68513751}"/>
                  </a:ext>
                </a:extLst>
              </p:cNvPr>
              <p:cNvSpPr/>
              <p:nvPr/>
            </p:nvSpPr>
            <p:spPr>
              <a:xfrm>
                <a:off x="6555627" y="2581290"/>
                <a:ext cx="1458119" cy="521464"/>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GPU</a:t>
                </a:r>
                <a:endParaRPr lang="ko-KR" altLang="en-US" sz="1400" dirty="0">
                  <a:solidFill>
                    <a:schemeClr val="bg1">
                      <a:lumMod val="50000"/>
                    </a:schemeClr>
                  </a:solidFill>
                </a:endParaRPr>
              </a:p>
            </p:txBody>
          </p:sp>
          <p:sp>
            <p:nvSpPr>
              <p:cNvPr id="122" name="직사각형 121">
                <a:extLst>
                  <a:ext uri="{FF2B5EF4-FFF2-40B4-BE49-F238E27FC236}">
                    <a16:creationId xmlns:a16="http://schemas.microsoft.com/office/drawing/2014/main" id="{806C1995-24C3-4E3F-AA3F-F693AECF04C4}"/>
                  </a:ext>
                </a:extLst>
              </p:cNvPr>
              <p:cNvSpPr/>
              <p:nvPr/>
            </p:nvSpPr>
            <p:spPr>
              <a:xfrm>
                <a:off x="6555627" y="1625518"/>
                <a:ext cx="1458119" cy="587932"/>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HBM</a:t>
                </a:r>
                <a:endParaRPr lang="ko-KR" altLang="en-US" sz="1400" dirty="0"/>
              </a:p>
            </p:txBody>
          </p:sp>
          <p:sp>
            <p:nvSpPr>
              <p:cNvPr id="123" name="직사각형 122">
                <a:extLst>
                  <a:ext uri="{FF2B5EF4-FFF2-40B4-BE49-F238E27FC236}">
                    <a16:creationId xmlns:a16="http://schemas.microsoft.com/office/drawing/2014/main" id="{A4D46675-458D-4917-985D-90E02B0D2E90}"/>
                  </a:ext>
                </a:extLst>
              </p:cNvPr>
              <p:cNvSpPr/>
              <p:nvPr/>
            </p:nvSpPr>
            <p:spPr>
              <a:xfrm>
                <a:off x="8484907" y="4481817"/>
                <a:ext cx="1458119" cy="6196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SSD</a:t>
                </a:r>
                <a:endParaRPr lang="ko-KR" altLang="en-US" sz="1400" dirty="0"/>
              </a:p>
            </p:txBody>
          </p:sp>
          <p:cxnSp>
            <p:nvCxnSpPr>
              <p:cNvPr id="124" name="직선 연결선 123">
                <a:extLst>
                  <a:ext uri="{FF2B5EF4-FFF2-40B4-BE49-F238E27FC236}">
                    <a16:creationId xmlns:a16="http://schemas.microsoft.com/office/drawing/2014/main" id="{04ACA248-6940-41E0-8FFB-836AE8822380}"/>
                  </a:ext>
                </a:extLst>
              </p:cNvPr>
              <p:cNvCxnSpPr>
                <a:cxnSpLocks/>
                <a:stCxn id="121" idx="2"/>
                <a:endCxn id="118" idx="0"/>
              </p:cNvCxnSpPr>
              <p:nvPr/>
            </p:nvCxnSpPr>
            <p:spPr>
              <a:xfrm>
                <a:off x="7284687" y="3102754"/>
                <a:ext cx="1929281" cy="32400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6" name="직선 연결선 125">
                <a:extLst>
                  <a:ext uri="{FF2B5EF4-FFF2-40B4-BE49-F238E27FC236}">
                    <a16:creationId xmlns:a16="http://schemas.microsoft.com/office/drawing/2014/main" id="{EE1084B8-5B54-406D-BAE1-4AA62178A814}"/>
                  </a:ext>
                </a:extLst>
              </p:cNvPr>
              <p:cNvCxnSpPr>
                <a:cxnSpLocks/>
                <a:stCxn id="119" idx="1"/>
                <a:endCxn id="118" idx="3"/>
              </p:cNvCxnSpPr>
              <p:nvPr/>
            </p:nvCxnSpPr>
            <p:spPr>
              <a:xfrm rot="10800000">
                <a:off x="9943027" y="3695294"/>
                <a:ext cx="429101" cy="622260"/>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7" name="직선 연결선 126">
                <a:extLst>
                  <a:ext uri="{FF2B5EF4-FFF2-40B4-BE49-F238E27FC236}">
                    <a16:creationId xmlns:a16="http://schemas.microsoft.com/office/drawing/2014/main" id="{3F1EBD50-2E7A-432B-963E-2D5CA65372A0}"/>
                  </a:ext>
                </a:extLst>
              </p:cNvPr>
              <p:cNvCxnSpPr>
                <a:cxnSpLocks/>
                <a:stCxn id="123" idx="0"/>
                <a:endCxn id="118" idx="2"/>
              </p:cNvCxnSpPr>
              <p:nvPr/>
            </p:nvCxnSpPr>
            <p:spPr>
              <a:xfrm flipV="1">
                <a:off x="9213967" y="3963831"/>
                <a:ext cx="0" cy="517986"/>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73474FC0-C014-4109-ACF6-2DA3C2327C5A}"/>
                  </a:ext>
                </a:extLst>
              </p:cNvPr>
              <p:cNvCxnSpPr>
                <a:cxnSpLocks/>
                <a:stCxn id="122" idx="2"/>
                <a:endCxn id="121" idx="0"/>
              </p:cNvCxnSpPr>
              <p:nvPr/>
            </p:nvCxnSpPr>
            <p:spPr>
              <a:xfrm>
                <a:off x="7284687" y="2213450"/>
                <a:ext cx="0" cy="36784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1" name="직사각형 130">
                <a:extLst>
                  <a:ext uri="{FF2B5EF4-FFF2-40B4-BE49-F238E27FC236}">
                    <a16:creationId xmlns:a16="http://schemas.microsoft.com/office/drawing/2014/main" id="{1919D1D7-5895-411E-AAF3-CC9E1D4E711B}"/>
                  </a:ext>
                </a:extLst>
              </p:cNvPr>
              <p:cNvSpPr/>
              <p:nvPr/>
            </p:nvSpPr>
            <p:spPr>
              <a:xfrm>
                <a:off x="10346429" y="1842250"/>
                <a:ext cx="1619970" cy="837469"/>
              </a:xfrm>
              <a:prstGeom prst="rect">
                <a:avLst/>
              </a:prstGeom>
              <a:solidFill>
                <a:schemeClr val="accent2">
                  <a:lumMod val="20000"/>
                  <a:lumOff val="80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000" b="1" dirty="0"/>
                  <a:t>Remote-Memory</a:t>
                </a:r>
              </a:p>
              <a:p>
                <a:pPr algn="ctr"/>
                <a:r>
                  <a:rPr lang="en-US" altLang="ko-KR" sz="1000" b="1" dirty="0"/>
                  <a:t>(CXL)</a:t>
                </a:r>
                <a:endParaRPr lang="ko-KR" altLang="en-US" sz="1000" b="1" dirty="0"/>
              </a:p>
            </p:txBody>
          </p:sp>
          <p:cxnSp>
            <p:nvCxnSpPr>
              <p:cNvPr id="132" name="직선 연결선 131">
                <a:extLst>
                  <a:ext uri="{FF2B5EF4-FFF2-40B4-BE49-F238E27FC236}">
                    <a16:creationId xmlns:a16="http://schemas.microsoft.com/office/drawing/2014/main" id="{ACDF9D96-2AFB-4B5C-A9D6-965CDC4339B1}"/>
                  </a:ext>
                </a:extLst>
              </p:cNvPr>
              <p:cNvCxnSpPr>
                <a:cxnSpLocks/>
                <a:stCxn id="118" idx="3"/>
                <a:endCxn id="134" idx="2"/>
              </p:cNvCxnSpPr>
              <p:nvPr/>
            </p:nvCxnSpPr>
            <p:spPr>
              <a:xfrm flipV="1">
                <a:off x="9943027" y="3088475"/>
                <a:ext cx="1215312" cy="606819"/>
              </a:xfrm>
              <a:prstGeom prst="bentConnector2">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4" name="직사각형 133">
                <a:extLst>
                  <a:ext uri="{FF2B5EF4-FFF2-40B4-BE49-F238E27FC236}">
                    <a16:creationId xmlns:a16="http://schemas.microsoft.com/office/drawing/2014/main" id="{A2C9A650-9513-46CA-8A5F-A9612325D8B1}"/>
                  </a:ext>
                </a:extLst>
              </p:cNvPr>
              <p:cNvSpPr/>
              <p:nvPr/>
            </p:nvSpPr>
            <p:spPr>
              <a:xfrm>
                <a:off x="10350280" y="2669372"/>
                <a:ext cx="1616118" cy="419104"/>
              </a:xfrm>
              <a:prstGeom prst="rect">
                <a:avLst/>
              </a:prstGeom>
              <a:solidFill>
                <a:schemeClr val="accent4">
                  <a:lumMod val="20000"/>
                  <a:lumOff val="80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b="1" dirty="0" err="1"/>
                  <a:t>연산기</a:t>
                </a:r>
                <a:endParaRPr lang="ko-KR" altLang="en-US" sz="900" b="1" dirty="0"/>
              </a:p>
            </p:txBody>
          </p:sp>
          <p:sp>
            <p:nvSpPr>
              <p:cNvPr id="135" name="순서도: 자기 디스크 134">
                <a:extLst>
                  <a:ext uri="{FF2B5EF4-FFF2-40B4-BE49-F238E27FC236}">
                    <a16:creationId xmlns:a16="http://schemas.microsoft.com/office/drawing/2014/main" id="{F2F30F79-1D91-4E53-832F-1C376E3A0344}"/>
                  </a:ext>
                </a:extLst>
              </p:cNvPr>
              <p:cNvSpPr/>
              <p:nvPr/>
            </p:nvSpPr>
            <p:spPr>
              <a:xfrm>
                <a:off x="7767577" y="2123483"/>
                <a:ext cx="717333" cy="378373"/>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136" name="순서도: 자기 디스크 135">
                <a:extLst>
                  <a:ext uri="{FF2B5EF4-FFF2-40B4-BE49-F238E27FC236}">
                    <a16:creationId xmlns:a16="http://schemas.microsoft.com/office/drawing/2014/main" id="{7C559D35-DA13-4021-B230-EAEA93E19E92}"/>
                  </a:ext>
                </a:extLst>
              </p:cNvPr>
              <p:cNvSpPr/>
              <p:nvPr/>
            </p:nvSpPr>
            <p:spPr>
              <a:xfrm>
                <a:off x="7767578" y="1784924"/>
                <a:ext cx="717333" cy="378373"/>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137" name="순서도: 자기 디스크 136">
                <a:extLst>
                  <a:ext uri="{FF2B5EF4-FFF2-40B4-BE49-F238E27FC236}">
                    <a16:creationId xmlns:a16="http://schemas.microsoft.com/office/drawing/2014/main" id="{A846D55E-7256-4E28-B609-BE944420F8C3}"/>
                  </a:ext>
                </a:extLst>
              </p:cNvPr>
              <p:cNvSpPr/>
              <p:nvPr/>
            </p:nvSpPr>
            <p:spPr>
              <a:xfrm>
                <a:off x="9815588" y="1818633"/>
                <a:ext cx="717331" cy="378372"/>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138" name="TextBox 137">
                <a:extLst>
                  <a:ext uri="{FF2B5EF4-FFF2-40B4-BE49-F238E27FC236}">
                    <a16:creationId xmlns:a16="http://schemas.microsoft.com/office/drawing/2014/main" id="{22253695-7E64-44E4-A06F-44DD77301019}"/>
                  </a:ext>
                </a:extLst>
              </p:cNvPr>
              <p:cNvSpPr txBox="1"/>
              <p:nvPr/>
            </p:nvSpPr>
            <p:spPr>
              <a:xfrm rot="16200000">
                <a:off x="7949545" y="1514267"/>
                <a:ext cx="353391" cy="257816"/>
              </a:xfrm>
              <a:prstGeom prst="rect">
                <a:avLst/>
              </a:prstGeom>
              <a:noFill/>
              <a:ln w="9525">
                <a:noFill/>
              </a:ln>
            </p:spPr>
            <p:txBody>
              <a:bodyPr wrap="square" lIns="0" tIns="0" rIns="0" bIns="0" anchor="t">
                <a:spAutoFit/>
              </a:bodyPr>
              <a:lstStyle/>
              <a:p>
                <a:pPr algn="l"/>
                <a:r>
                  <a:rPr lang="en-US" sz="1200" b="1" i="0" dirty="0">
                    <a:latin typeface="맑은 고딕"/>
                    <a:ea typeface="맑은 고딕"/>
                  </a:rPr>
                  <a:t>…</a:t>
                </a:r>
                <a:endParaRPr sz="1200" b="1" i="0" dirty="0">
                  <a:latin typeface="맑은 고딕"/>
                  <a:ea typeface="맑은 고딕"/>
                </a:endParaRPr>
              </a:p>
            </p:txBody>
          </p:sp>
        </p:grpSp>
      </p:grpSp>
      <p:sp>
        <p:nvSpPr>
          <p:cNvPr id="147" name="직사각형 146">
            <a:extLst>
              <a:ext uri="{FF2B5EF4-FFF2-40B4-BE49-F238E27FC236}">
                <a16:creationId xmlns:a16="http://schemas.microsoft.com/office/drawing/2014/main" id="{3753DB65-56A8-43CB-81C8-6B27D2A7625B}"/>
              </a:ext>
            </a:extLst>
          </p:cNvPr>
          <p:cNvSpPr/>
          <p:nvPr/>
        </p:nvSpPr>
        <p:spPr>
          <a:xfrm>
            <a:off x="10607245" y="6033665"/>
            <a:ext cx="800542" cy="188327"/>
          </a:xfrm>
          <a:prstGeom prst="rect">
            <a:avLst/>
          </a:prstGeom>
          <a:solidFill>
            <a:schemeClr val="accent2">
              <a:lumMod val="20000"/>
              <a:lumOff val="80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dirty="0"/>
              <a:t>신규 메모리</a:t>
            </a:r>
          </a:p>
        </p:txBody>
      </p:sp>
      <p:sp>
        <p:nvSpPr>
          <p:cNvPr id="188" name="TextBox 187">
            <a:extLst>
              <a:ext uri="{FF2B5EF4-FFF2-40B4-BE49-F238E27FC236}">
                <a16:creationId xmlns:a16="http://schemas.microsoft.com/office/drawing/2014/main" id="{F3AE3B2A-367A-4057-9B02-DA108B3279FE}"/>
              </a:ext>
            </a:extLst>
          </p:cNvPr>
          <p:cNvSpPr txBox="1"/>
          <p:nvPr/>
        </p:nvSpPr>
        <p:spPr>
          <a:xfrm>
            <a:off x="8417396" y="4105407"/>
            <a:ext cx="1580903" cy="215444"/>
          </a:xfrm>
          <a:prstGeom prst="rect">
            <a:avLst/>
          </a:prstGeom>
          <a:noFill/>
          <a:ln w="9525">
            <a:noFill/>
          </a:ln>
        </p:spPr>
        <p:txBody>
          <a:bodyPr wrap="square" lIns="0" tIns="0" rIns="0" bIns="0" anchor="t">
            <a:spAutoFit/>
          </a:bodyPr>
          <a:lstStyle/>
          <a:p>
            <a:pPr algn="ctr"/>
            <a:r>
              <a:rPr lang="en-US" sz="1400" b="1" i="0" dirty="0">
                <a:solidFill>
                  <a:srgbClr val="0000FF"/>
                </a:solidFill>
                <a:latin typeface="맑은 고딕"/>
                <a:ea typeface="맑은 고딕"/>
              </a:rPr>
              <a:t>Target</a:t>
            </a:r>
            <a:r>
              <a:rPr sz="1400" b="1" i="0" dirty="0">
                <a:solidFill>
                  <a:srgbClr val="0000FF"/>
                </a:solidFill>
                <a:latin typeface="맑은 고딕"/>
                <a:ea typeface="맑은 고딕"/>
              </a:rPr>
              <a:t> </a:t>
            </a:r>
            <a:r>
              <a:rPr sz="1400" b="1" i="0" dirty="0" err="1">
                <a:solidFill>
                  <a:srgbClr val="0000FF"/>
                </a:solidFill>
                <a:latin typeface="맑은 고딕"/>
                <a:ea typeface="맑은 고딕"/>
              </a:rPr>
              <a:t>시스템</a:t>
            </a:r>
            <a:endParaRPr sz="1400" b="1" i="0" dirty="0">
              <a:solidFill>
                <a:srgbClr val="0000FF"/>
              </a:solidFill>
              <a:latin typeface="맑은 고딕"/>
              <a:ea typeface="맑은 고딕"/>
            </a:endParaRPr>
          </a:p>
        </p:txBody>
      </p:sp>
      <p:pic>
        <p:nvPicPr>
          <p:cNvPr id="2050" name="Picture 2" descr="휴지통으로 보내기 - 무료 ui개 아이콘"/>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37699" y="2103808"/>
            <a:ext cx="378468" cy="378468"/>
          </a:xfrm>
          <a:prstGeom prst="rect">
            <a:avLst/>
          </a:prstGeom>
          <a:noFill/>
          <a:extLst>
            <a:ext uri="{909E8E84-426E-40DD-AFC4-6F175D3DCCD1}">
              <a14:hiddenFill xmlns:a14="http://schemas.microsoft.com/office/drawing/2010/main">
                <a:solidFill>
                  <a:srgbClr val="FFFFFF"/>
                </a:solidFill>
              </a14:hiddenFill>
            </a:ext>
          </a:extLst>
        </p:spPr>
      </p:pic>
      <p:sp>
        <p:nvSpPr>
          <p:cNvPr id="108" name="순서도: 자기 디스크 107">
            <a:extLst>
              <a:ext uri="{FF2B5EF4-FFF2-40B4-BE49-F238E27FC236}">
                <a16:creationId xmlns:a16="http://schemas.microsoft.com/office/drawing/2014/main" id="{38E7ADE2-A791-407A-A1AF-4C170A138FBE}"/>
              </a:ext>
            </a:extLst>
          </p:cNvPr>
          <p:cNvSpPr/>
          <p:nvPr/>
        </p:nvSpPr>
        <p:spPr>
          <a:xfrm>
            <a:off x="8032532" y="4410413"/>
            <a:ext cx="617754" cy="175840"/>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cxnSp>
        <p:nvCxnSpPr>
          <p:cNvPr id="133" name="꺾인 연결선 190">
            <a:extLst>
              <a:ext uri="{FF2B5EF4-FFF2-40B4-BE49-F238E27FC236}">
                <a16:creationId xmlns:a16="http://schemas.microsoft.com/office/drawing/2014/main" id="{A9475D4E-A4B7-4768-8481-89EBE0C931C6}"/>
              </a:ext>
            </a:extLst>
          </p:cNvPr>
          <p:cNvCxnSpPr>
            <a:stCxn id="108" idx="4"/>
            <a:endCxn id="137" idx="2"/>
          </p:cNvCxnSpPr>
          <p:nvPr/>
        </p:nvCxnSpPr>
        <p:spPr>
          <a:xfrm>
            <a:off x="8650286" y="4498333"/>
            <a:ext cx="1014340" cy="316866"/>
          </a:xfrm>
          <a:prstGeom prst="bentConnector3">
            <a:avLst>
              <a:gd name="adj1" fmla="val 50000"/>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0" name="TextBox 139">
            <a:extLst>
              <a:ext uri="{FF2B5EF4-FFF2-40B4-BE49-F238E27FC236}">
                <a16:creationId xmlns:a16="http://schemas.microsoft.com/office/drawing/2014/main" id="{FD796661-0D4E-4B26-9C34-90DCD5C12137}"/>
              </a:ext>
            </a:extLst>
          </p:cNvPr>
          <p:cNvSpPr txBox="1"/>
          <p:nvPr/>
        </p:nvSpPr>
        <p:spPr>
          <a:xfrm>
            <a:off x="7190687" y="4424198"/>
            <a:ext cx="897976" cy="260099"/>
          </a:xfrm>
          <a:prstGeom prst="rect">
            <a:avLst/>
          </a:prstGeom>
          <a:noFill/>
          <a:ln w="9525">
            <a:noFill/>
          </a:ln>
        </p:spPr>
        <p:txBody>
          <a:bodyPr wrap="none" rtlCol="0">
            <a:spAutoFit/>
          </a:bodyPr>
          <a:lstStyle/>
          <a:p>
            <a:r>
              <a:rPr lang="en-US" altLang="ko-KR" sz="1050" dirty="0">
                <a:solidFill>
                  <a:srgbClr val="FF0000"/>
                </a:solidFill>
              </a:rPr>
              <a:t>HBM </a:t>
            </a:r>
            <a:r>
              <a:rPr lang="ko-KR" altLang="en-US" sz="1050" dirty="0">
                <a:solidFill>
                  <a:srgbClr val="FF0000"/>
                </a:solidFill>
              </a:rPr>
              <a:t>초과</a:t>
            </a:r>
            <a:r>
              <a:rPr lang="en-US" altLang="ko-KR" sz="1050" dirty="0">
                <a:solidFill>
                  <a:srgbClr val="FF0000"/>
                </a:solidFill>
              </a:rPr>
              <a:t>!</a:t>
            </a:r>
            <a:endParaRPr lang="ko-KR" altLang="en-US" sz="1050" dirty="0">
              <a:solidFill>
                <a:srgbClr val="FF0000"/>
              </a:solidFill>
            </a:endParaRPr>
          </a:p>
        </p:txBody>
      </p:sp>
      <p:sp>
        <p:nvSpPr>
          <p:cNvPr id="148" name="TextBox 147">
            <a:extLst>
              <a:ext uri="{FF2B5EF4-FFF2-40B4-BE49-F238E27FC236}">
                <a16:creationId xmlns:a16="http://schemas.microsoft.com/office/drawing/2014/main" id="{24E4EFAD-67F2-41C6-ACC8-40AD76E19052}"/>
              </a:ext>
            </a:extLst>
          </p:cNvPr>
          <p:cNvSpPr txBox="1"/>
          <p:nvPr/>
        </p:nvSpPr>
        <p:spPr>
          <a:xfrm>
            <a:off x="9186785" y="4435742"/>
            <a:ext cx="1074284" cy="253916"/>
          </a:xfrm>
          <a:prstGeom prst="rect">
            <a:avLst/>
          </a:prstGeom>
          <a:noFill/>
          <a:ln w="9525">
            <a:noFill/>
          </a:ln>
        </p:spPr>
        <p:txBody>
          <a:bodyPr wrap="square" rtlCol="0">
            <a:spAutoFit/>
          </a:bodyPr>
          <a:lstStyle/>
          <a:p>
            <a:r>
              <a:rPr lang="ko-KR" altLang="en-US" sz="1050" dirty="0">
                <a:solidFill>
                  <a:srgbClr val="FF0000"/>
                </a:solidFill>
              </a:rPr>
              <a:t>내림</a:t>
            </a:r>
            <a:r>
              <a:rPr lang="en-US" altLang="ko-KR" sz="1050" dirty="0">
                <a:solidFill>
                  <a:srgbClr val="FF0000"/>
                </a:solidFill>
              </a:rPr>
              <a:t>(Offload)</a:t>
            </a:r>
            <a:endParaRPr lang="ko-KR" altLang="en-US" sz="1050" dirty="0">
              <a:solidFill>
                <a:srgbClr val="FF0000"/>
              </a:solidFill>
            </a:endParaRPr>
          </a:p>
        </p:txBody>
      </p:sp>
      <p:grpSp>
        <p:nvGrpSpPr>
          <p:cNvPr id="160" name="그룹 159">
            <a:extLst>
              <a:ext uri="{FF2B5EF4-FFF2-40B4-BE49-F238E27FC236}">
                <a16:creationId xmlns:a16="http://schemas.microsoft.com/office/drawing/2014/main" id="{0E05A654-2585-402E-ADBC-A8F361B96B44}"/>
              </a:ext>
            </a:extLst>
          </p:cNvPr>
          <p:cNvGrpSpPr/>
          <p:nvPr/>
        </p:nvGrpSpPr>
        <p:grpSpPr>
          <a:xfrm>
            <a:off x="9630919" y="5171845"/>
            <a:ext cx="799187" cy="253916"/>
            <a:chOff x="7528998" y="5693173"/>
            <a:chExt cx="1397936" cy="555996"/>
          </a:xfrm>
        </p:grpSpPr>
        <p:sp>
          <p:nvSpPr>
            <p:cNvPr id="150" name="타원 149">
              <a:extLst>
                <a:ext uri="{FF2B5EF4-FFF2-40B4-BE49-F238E27FC236}">
                  <a16:creationId xmlns:a16="http://schemas.microsoft.com/office/drawing/2014/main" id="{C4B2C42B-9308-4695-B60A-6055E300875A}"/>
                </a:ext>
              </a:extLst>
            </p:cNvPr>
            <p:cNvSpPr/>
            <p:nvPr/>
          </p:nvSpPr>
          <p:spPr>
            <a:xfrm>
              <a:off x="7687331" y="5742708"/>
              <a:ext cx="1081275" cy="412160"/>
            </a:xfrm>
            <a:prstGeom prst="ellipse">
              <a:avLst/>
            </a:prstGeom>
            <a:solidFill>
              <a:schemeClr val="accent6">
                <a:lumMod val="60000"/>
                <a:lumOff val="40000"/>
              </a:schemeClr>
            </a:solidFill>
            <a:ln w="9525">
              <a:solidFill>
                <a:schemeClr val="accent6"/>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ko-KR" altLang="en-US" sz="1400" dirty="0"/>
            </a:p>
          </p:txBody>
        </p:sp>
        <p:sp>
          <p:nvSpPr>
            <p:cNvPr id="158" name="TextBox 157">
              <a:extLst>
                <a:ext uri="{FF2B5EF4-FFF2-40B4-BE49-F238E27FC236}">
                  <a16:creationId xmlns:a16="http://schemas.microsoft.com/office/drawing/2014/main" id="{8C265C57-9A68-4772-9C20-5706D883BE9B}"/>
                </a:ext>
              </a:extLst>
            </p:cNvPr>
            <p:cNvSpPr txBox="1"/>
            <p:nvPr/>
          </p:nvSpPr>
          <p:spPr>
            <a:xfrm>
              <a:off x="7528998" y="5693173"/>
              <a:ext cx="1397936" cy="555996"/>
            </a:xfrm>
            <a:prstGeom prst="rect">
              <a:avLst/>
            </a:prstGeom>
            <a:noFill/>
            <a:ln w="9525">
              <a:noFill/>
            </a:ln>
          </p:spPr>
          <p:txBody>
            <a:bodyPr wrap="square" rtlCol="0">
              <a:spAutoFit/>
            </a:bodyPr>
            <a:lstStyle/>
            <a:p>
              <a:pPr algn="ctr"/>
              <a:r>
                <a:rPr lang="ko-KR" altLang="en-US" sz="1050" dirty="0"/>
                <a:t>연산</a:t>
              </a:r>
            </a:p>
          </p:txBody>
        </p:sp>
      </p:grpSp>
      <p:cxnSp>
        <p:nvCxnSpPr>
          <p:cNvPr id="149" name="꺾인 연결선 192">
            <a:extLst>
              <a:ext uri="{FF2B5EF4-FFF2-40B4-BE49-F238E27FC236}">
                <a16:creationId xmlns:a16="http://schemas.microsoft.com/office/drawing/2014/main" id="{7ADE1CED-BB2A-40DA-AD8C-ABC9447B4EB5}"/>
              </a:ext>
            </a:extLst>
          </p:cNvPr>
          <p:cNvCxnSpPr>
            <a:stCxn id="137" idx="3"/>
            <a:endCxn id="158" idx="0"/>
          </p:cNvCxnSpPr>
          <p:nvPr/>
        </p:nvCxnSpPr>
        <p:spPr>
          <a:xfrm rot="16200000" flipH="1">
            <a:off x="9854508" y="4995840"/>
            <a:ext cx="273088" cy="78922"/>
          </a:xfrm>
          <a:prstGeom prst="bentConnector3">
            <a:avLst>
              <a:gd name="adj1" fmla="val 50000"/>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p:txBody>
          <a:bodyPr/>
          <a:lstStyle/>
          <a:p>
            <a:r>
              <a:rPr lang="ko-KR" altLang="en-US" dirty="0"/>
              <a:t>문제 정의 </a:t>
            </a:r>
            <a:r>
              <a:rPr lang="en-US" altLang="ko-KR" dirty="0"/>
              <a:t>(Problem Definition)</a:t>
            </a:r>
            <a:endParaRPr lang="ko-KR" altLang="en-US" dirty="0"/>
          </a:p>
        </p:txBody>
      </p:sp>
    </p:spTree>
    <p:extLst>
      <p:ext uri="{BB962C8B-B14F-4D97-AF65-F5344CB8AC3E}">
        <p14:creationId xmlns:p14="http://schemas.microsoft.com/office/powerpoint/2010/main" val="274094891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메모리 수요 급증과 고객 요구 변화</a:t>
            </a:r>
          </a:p>
        </p:txBody>
      </p:sp>
      <p:sp>
        <p:nvSpPr>
          <p:cNvPr id="75" name="직사각형 74"/>
          <p:cNvSpPr/>
          <p:nvPr/>
        </p:nvSpPr>
        <p:spPr>
          <a:xfrm>
            <a:off x="1089957"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Agentic AI</a:t>
            </a:r>
            <a:r>
              <a:rPr lang="ko-KR" altLang="en-US" sz="1400" b="1" dirty="0">
                <a:latin typeface="+mj-ea"/>
                <a:ea typeface="+mj-ea"/>
              </a:rPr>
              <a:t> 확산과 워크로드 변화</a:t>
            </a:r>
          </a:p>
        </p:txBody>
      </p:sp>
      <p:sp>
        <p:nvSpPr>
          <p:cNvPr id="55" name="Text 46">
            <a:extLst>
              <a:ext uri="{FF2B5EF4-FFF2-40B4-BE49-F238E27FC236}">
                <a16:creationId xmlns:a16="http://schemas.microsoft.com/office/drawing/2014/main" id="{C8A28DF0-ABCC-48F5-9ED9-DE4811816B18}"/>
              </a:ext>
            </a:extLst>
          </p:cNvPr>
          <p:cNvSpPr/>
          <p:nvPr/>
        </p:nvSpPr>
        <p:spPr>
          <a:xfrm>
            <a:off x="6328664" y="162215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ko-KR" altLang="en-US" sz="1200" b="1" dirty="0">
                <a:solidFill>
                  <a:srgbClr val="222222"/>
                </a:solidFill>
                <a:latin typeface="+mj-ea"/>
                <a:ea typeface="+mj-ea"/>
                <a:cs typeface="Noto Sans KR" pitchFamily="34" charset="-120"/>
              </a:rPr>
              <a:t>수요 급증 → 시장 규모 확대 </a:t>
            </a:r>
            <a:r>
              <a:rPr lang="en-US" altLang="ko-KR" sz="1200" b="1" dirty="0">
                <a:solidFill>
                  <a:srgbClr val="222222"/>
                </a:solidFill>
                <a:latin typeface="+mj-ea"/>
                <a:ea typeface="+mj-ea"/>
                <a:cs typeface="Noto Sans KR" pitchFamily="34" charset="-120"/>
              </a:rPr>
              <a:t>· </a:t>
            </a:r>
            <a:r>
              <a:rPr lang="ko-KR" altLang="en-US" sz="1200" b="1" dirty="0">
                <a:solidFill>
                  <a:srgbClr val="222222"/>
                </a:solidFill>
                <a:latin typeface="+mj-ea"/>
                <a:ea typeface="+mj-ea"/>
                <a:cs typeface="Noto Sans KR" pitchFamily="34" charset="-120"/>
              </a:rPr>
              <a:t>공급 부족 → 가격 급등</a:t>
            </a:r>
          </a:p>
        </p:txBody>
      </p:sp>
      <p:sp>
        <p:nvSpPr>
          <p:cNvPr id="85" name="Text 72">
            <a:extLst>
              <a:ext uri="{FF2B5EF4-FFF2-40B4-BE49-F238E27FC236}">
                <a16:creationId xmlns:a16="http://schemas.microsoft.com/office/drawing/2014/main" id="{D907F967-3823-4F1E-8786-56273222550E}"/>
              </a:ext>
            </a:extLst>
          </p:cNvPr>
          <p:cNvSpPr/>
          <p:nvPr/>
        </p:nvSpPr>
        <p:spPr>
          <a:xfrm>
            <a:off x="6426432" y="3315595"/>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대규모 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3931894"/>
            <a:ext cx="5389372" cy="256480"/>
          </a:xfrm>
          <a:prstGeom prst="rect">
            <a:avLst/>
          </a:prstGeom>
          <a:noFill/>
          <a:ln/>
        </p:spPr>
        <p:txBody>
          <a:bodyPr wrap="square" lIns="0" tIns="0" rIns="0" bIns="0" rtlCol="0" anchor="t">
            <a:noAutofit/>
          </a:bodyPr>
          <a:lstStyle/>
          <a:p>
            <a:pPr>
              <a:lnSpc>
                <a:spcPts val="1820"/>
              </a:lnSpc>
            </a:pPr>
            <a:r>
              <a:rPr lang="ko-KR" altLang="en-US" sz="1200" dirty="0">
                <a:latin typeface="+mj-ea"/>
              </a:rPr>
              <a:t>■ </a:t>
            </a:r>
            <a:r>
              <a:rPr lang="ko-KR" altLang="en-US" sz="1200" b="1" dirty="0">
                <a:solidFill>
                  <a:srgbClr val="222222"/>
                </a:solidFill>
                <a:latin typeface="+mj-ea"/>
                <a:ea typeface="+mj-ea"/>
              </a:rPr>
              <a:t>비싸고 부족한 </a:t>
            </a:r>
            <a:r>
              <a:rPr lang="en-US" altLang="ko-KR" sz="1200" b="1" dirty="0">
                <a:solidFill>
                  <a:srgbClr val="222222"/>
                </a:solidFill>
                <a:latin typeface="+mj-ea"/>
                <a:ea typeface="+mj-ea"/>
              </a:rPr>
              <a:t>HBM → </a:t>
            </a:r>
            <a:r>
              <a:rPr lang="ko-KR" altLang="en-US" sz="1200" b="1" dirty="0">
                <a:solidFill>
                  <a:srgbClr val="222222"/>
                </a:solidFill>
                <a:latin typeface="+mj-ea"/>
                <a:ea typeface="+mj-ea"/>
              </a:rPr>
              <a:t>고객 수요가 용도별로 분화</a:t>
            </a:r>
            <a:r>
              <a:rPr lang="en-US" altLang="ko-KR" sz="1200" b="1" dirty="0">
                <a:solidFill>
                  <a:srgbClr val="222222"/>
                </a:solidFill>
                <a:latin typeface="+mj-ea"/>
                <a:ea typeface="+mj-ea"/>
              </a:rPr>
              <a:t>, </a:t>
            </a:r>
            <a:r>
              <a:rPr lang="ko-KR" altLang="en-US" sz="1200" b="1" dirty="0">
                <a:solidFill>
                  <a:srgbClr val="222222"/>
                </a:solidFill>
                <a:latin typeface="+mj-ea"/>
                <a:ea typeface="+mj-ea"/>
              </a:rPr>
              <a:t>신규 시장 성장</a:t>
            </a:r>
          </a:p>
          <a:p>
            <a:pPr>
              <a:lnSpc>
                <a:spcPts val="1820"/>
              </a:lnSpc>
            </a:pPr>
            <a:endParaRPr lang="en-US" sz="1200" b="1" dirty="0">
              <a:latin typeface="+mj-ea"/>
              <a:ea typeface="+mj-ea"/>
            </a:endParaRPr>
          </a:p>
        </p:txBody>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2316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메모리 병목이 심화되고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8"/>
                <a:stretch>
                  <a:fillRect l="-843" t="-8824" b="-8824"/>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Group"/>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9"/>
                <a:stretch>
                  <a:fillRect t="-8824" b="-588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193</a:t>
            </a:r>
            <a:endParaRPr lang="en-US" sz="10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309</a:t>
            </a:r>
            <a:endParaRPr lang="en-US" sz="10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357</a:t>
            </a:r>
            <a:endParaRPr lang="en-US" sz="10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≈401</a:t>
            </a:r>
            <a:endParaRPr lang="en-US" sz="10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4Q25</a:t>
            </a:r>
            <a:endParaRPr lang="en-US" sz="10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1Q26</a:t>
            </a:r>
            <a:endParaRPr lang="en-US" sz="10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2Q26</a:t>
            </a:r>
            <a:endParaRPr lang="en-US" sz="10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3Q26</a:t>
            </a:r>
            <a:endParaRPr lang="en-US" sz="10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4Q26E</a:t>
            </a:r>
            <a:endParaRPr lang="en-US" sz="10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a:lnSpc>
                <a:spcPts val="1440"/>
              </a:lnSpc>
            </a:pPr>
            <a:r>
              <a:rPr lang="en-US" sz="1000" b="1" dirty="0" err="1">
                <a:solidFill>
                  <a:srgbClr val="7A3608"/>
                </a:solidFill>
                <a:latin typeface="+mj-ea"/>
                <a:ea typeface="+mj-ea"/>
                <a:cs typeface="Noto Sans KR" pitchFamily="34" charset="-120"/>
              </a:rPr>
              <a:t>가격</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계속</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상승</a:t>
            </a:r>
            <a:r>
              <a:rPr lang="en-US" sz="1000" b="1" dirty="0">
                <a:solidFill>
                  <a:srgbClr val="7A3608"/>
                </a:solidFill>
                <a:latin typeface="+mj-ea"/>
                <a:ea typeface="+mj-ea"/>
                <a:cs typeface="Noto Sans KR" pitchFamily="34" charset="-120"/>
              </a:rPr>
              <a:t> (</a:t>
            </a:r>
            <a:r>
              <a:rPr lang="en-US" altLang="ko-KR" sz="1000" b="1" dirty="0" err="1">
                <a:solidFill>
                  <a:srgbClr val="7A3608"/>
                </a:solidFill>
                <a:latin typeface="+mj-ea"/>
                <a:cs typeface="Noto Sans KR" pitchFamily="34" charset="-120"/>
              </a:rPr>
              <a:t>증가율</a:t>
            </a:r>
            <a:r>
              <a:rPr lang="en-US" altLang="ko-KR" sz="1000" b="1" dirty="0">
                <a:solidFill>
                  <a:srgbClr val="7A3608"/>
                </a:solidFill>
                <a:latin typeface="+mj-ea"/>
                <a:cs typeface="Noto Sans KR" pitchFamily="34" charset="-120"/>
              </a:rPr>
              <a:t> </a:t>
            </a:r>
            <a:r>
              <a:rPr lang="en-US" altLang="ko-KR" sz="1000" b="1" dirty="0" err="1">
                <a:solidFill>
                  <a:srgbClr val="7A3608"/>
                </a:solidFill>
                <a:latin typeface="+mj-ea"/>
                <a:cs typeface="Noto Sans KR" pitchFamily="34" charset="-120"/>
              </a:rPr>
              <a:t>둔화</a:t>
            </a:r>
            <a:r>
              <a:rPr lang="en-US" altLang="ko-KR" sz="1000" b="1" dirty="0">
                <a:solidFill>
                  <a:srgbClr val="7A3608"/>
                </a:solidFill>
                <a:latin typeface="+mj-ea"/>
                <a:cs typeface="Noto Sans KR" pitchFamily="34" charset="-120"/>
              </a:rPr>
              <a:t>)</a:t>
            </a:r>
            <a:endParaRPr lang="en-US" sz="1000" dirty="0">
              <a:latin typeface="+mj-ea"/>
              <a:ea typeface="+mj-ea"/>
            </a:endParaRPr>
          </a:p>
        </p:txBody>
      </p:sp>
      <p:sp>
        <p:nvSpPr>
          <p:cNvPr id="167" name="TextBox 166">
            <a:extLst>
              <a:ext uri="{FF2B5EF4-FFF2-40B4-BE49-F238E27FC236}">
                <a16:creationId xmlns:a16="http://schemas.microsoft.com/office/drawing/2014/main" id="{6D44623D-F088-4C5E-92CF-0FEF7D09EFD3}"/>
              </a:ext>
            </a:extLst>
          </p:cNvPr>
          <p:cNvSpPr txBox="1"/>
          <p:nvPr/>
        </p:nvSpPr>
        <p:spPr>
          <a:xfrm>
            <a:off x="294321" y="1471784"/>
            <a:ext cx="5780312" cy="369332"/>
          </a:xfrm>
          <a:prstGeom prst="rect">
            <a:avLst/>
          </a:prstGeom>
          <a:noFill/>
        </p:spPr>
        <p:txBody>
          <a:bodyPr wrap="square" rtlCol="0">
            <a:spAutoFit/>
          </a:bodyPr>
          <a:lstStyle/>
          <a:p>
            <a:pPr>
              <a:lnSpc>
                <a:spcPct val="150000"/>
              </a:lnSpc>
            </a:pPr>
            <a:r>
              <a:rPr lang="ko-KR" altLang="en-US" sz="1200" dirty="0">
                <a:latin typeface="+mj-ea"/>
              </a:rPr>
              <a:t>■ </a:t>
            </a:r>
            <a:r>
              <a:rPr lang="en-US" altLang="ko-KR" sz="1200" b="1" dirty="0"/>
              <a:t>Context</a:t>
            </a:r>
            <a:r>
              <a:rPr lang="ko-KR" altLang="en-US" sz="1200" b="1" dirty="0"/>
              <a:t>와 </a:t>
            </a:r>
            <a:r>
              <a:rPr lang="en-US" altLang="ko-KR" sz="1200" b="1" dirty="0"/>
              <a:t>Agent </a:t>
            </a:r>
            <a:r>
              <a:rPr lang="ko-KR" altLang="en-US" sz="1200" b="1" dirty="0"/>
              <a:t>세션이 길어지면서 병목이 연산</a:t>
            </a:r>
            <a:r>
              <a:rPr lang="en-US" altLang="ko-KR" sz="1200" b="1" dirty="0"/>
              <a:t>(B/W)</a:t>
            </a:r>
            <a:r>
              <a:rPr lang="ko-KR" altLang="en-US" sz="1200" b="1" dirty="0"/>
              <a:t>에서 용량으로 이동</a:t>
            </a:r>
            <a:endParaRPr lang="en-US" altLang="ko-KR" sz="1200" b="1" dirty="0"/>
          </a:p>
        </p:txBody>
      </p:sp>
      <p:sp>
        <p:nvSpPr>
          <p:cNvPr id="200" name="TextBox 199">
            <a:extLst>
              <a:ext uri="{FF2B5EF4-FFF2-40B4-BE49-F238E27FC236}">
                <a16:creationId xmlns:a16="http://schemas.microsoft.com/office/drawing/2014/main" id="{CE105C95-5508-4E86-8637-1A88AEFA109B}"/>
              </a:ext>
            </a:extLst>
          </p:cNvPr>
          <p:cNvSpPr txBox="1"/>
          <p:nvPr/>
        </p:nvSpPr>
        <p:spPr>
          <a:xfrm>
            <a:off x="294321" y="4174066"/>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 </a:t>
            </a:r>
            <a:r>
              <a:rPr lang="ko-KR" altLang="en-US" sz="1200" b="1" dirty="0"/>
              <a:t>검색</a:t>
            </a:r>
            <a:r>
              <a:rPr lang="en-US" altLang="ko-KR" sz="1200" b="1" dirty="0"/>
              <a:t>, </a:t>
            </a:r>
            <a:r>
              <a:rPr lang="ko-KR" altLang="en-US" sz="1200" b="1" dirty="0"/>
              <a:t>도구 실행의 반복과 연산 자원 경합에 따른 대기 지연 증가</a:t>
            </a:r>
          </a:p>
        </p:txBody>
      </p:sp>
      <p:sp>
        <p:nvSpPr>
          <p:cNvPr id="202" name="Text 99">
            <a:extLst>
              <a:ext uri="{FF2B5EF4-FFF2-40B4-BE49-F238E27FC236}">
                <a16:creationId xmlns:a16="http://schemas.microsoft.com/office/drawing/2014/main" id="{D3AB1718-7726-425A-9E69-7509BE0FD34A}"/>
              </a:ext>
            </a:extLst>
          </p:cNvPr>
          <p:cNvSpPr/>
          <p:nvPr/>
        </p:nvSpPr>
        <p:spPr>
          <a:xfrm>
            <a:off x="332200" y="6235476"/>
            <a:ext cx="5724489" cy="454947"/>
          </a:xfrm>
          <a:prstGeom prst="rect">
            <a:avLst/>
          </a:prstGeom>
          <a:noFill/>
          <a:ln/>
        </p:spPr>
        <p:txBody>
          <a:bodyPr wrap="square" lIns="0" tIns="0" rIns="0" bIns="0" rtlCol="0" anchor="t">
            <a:noAutofit/>
          </a:bodyPr>
          <a:lstStyle/>
          <a:p>
            <a:pPr>
              <a:lnSpc>
                <a:spcPct val="125000"/>
              </a:lnSpc>
            </a:pPr>
            <a:r>
              <a:rPr lang="en-US" sz="600" dirty="0" err="1">
                <a:solidFill>
                  <a:srgbClr val="555555"/>
                </a:solidFill>
                <a:latin typeface="Noto Sans KR" pitchFamily="34" charset="0"/>
                <a:ea typeface="Noto Sans KR" pitchFamily="34" charset="-122"/>
                <a:cs typeface="Noto Sans KR" pitchFamily="34" charset="-120"/>
              </a:rPr>
              <a:t>출처</a:t>
            </a:r>
            <a:r>
              <a:rPr lang="en-US" sz="600" dirty="0">
                <a:solidFill>
                  <a:srgbClr val="555555"/>
                </a:solidFill>
                <a:latin typeface="Noto Sans KR" pitchFamily="34" charset="0"/>
                <a:ea typeface="Noto Sans KR" pitchFamily="34" charset="-122"/>
                <a:cs typeface="Noto Sans KR" pitchFamily="34" charset="-120"/>
              </a:rPr>
              <a:t>: [1] arXiv:2605.26297 [2] arXiv:2608.15127 [3] Anthropic Eng. Blog [10] </a:t>
            </a:r>
            <a:r>
              <a:rPr lang="en-US" altLang="ko-KR" sz="600" dirty="0">
                <a:solidFill>
                  <a:srgbClr val="777777"/>
                </a:solidFill>
                <a:latin typeface="Arial"/>
              </a:rPr>
              <a:t>Conceptual illustration based on Continuum (Li et al., 2025), arXiv:2511.02230</a:t>
            </a:r>
            <a:endParaRPr lang="en-US" sz="600" dirty="0">
              <a:solidFill>
                <a:srgbClr val="555555"/>
              </a:solidFill>
              <a:latin typeface="Noto Sans KR" pitchFamily="34" charset="0"/>
              <a:ea typeface="Noto Sans KR" pitchFamily="34" charset="-122"/>
              <a:cs typeface="Noto Sans KR" pitchFamily="34" charset="-120"/>
            </a:endParaRPr>
          </a:p>
          <a:p>
            <a:pPr marL="0" indent="0" algn="l">
              <a:lnSpc>
                <a:spcPct val="125000"/>
              </a:lnSpc>
              <a:buNone/>
            </a:pPr>
            <a:r>
              <a:rPr lang="en-US" altLang="ko-KR" sz="600" dirty="0"/>
              <a:t>KV cache 0.33MB/token(Llama-3.1-70B, BF16). </a:t>
            </a:r>
            <a:r>
              <a:rPr lang="ko-KR" altLang="en-US" sz="600" dirty="0"/>
              <a:t>문맥 길이</a:t>
            </a:r>
            <a:r>
              <a:rPr lang="en-US" altLang="ko-KR" sz="600" dirty="0"/>
              <a:t>: </a:t>
            </a:r>
            <a:r>
              <a:rPr lang="ko-KR" altLang="en-US" sz="600" dirty="0"/>
              <a:t>에이전트 ≈</a:t>
            </a:r>
            <a:r>
              <a:rPr lang="en-US" altLang="ko-KR" sz="600" dirty="0"/>
              <a:t>75K [1], </a:t>
            </a:r>
            <a:r>
              <a:rPr lang="ko-KR" altLang="en-US" sz="600" dirty="0"/>
              <a:t>채팅</a:t>
            </a:r>
            <a:r>
              <a:rPr lang="en-US" altLang="ko-KR" sz="600" dirty="0"/>
              <a:t>·</a:t>
            </a:r>
            <a:r>
              <a:rPr lang="ko-KR" altLang="en-US" sz="600" dirty="0"/>
              <a:t>멀티는 </a:t>
            </a:r>
            <a:r>
              <a:rPr lang="en-US" altLang="ko-KR" sz="600" dirty="0"/>
              <a:t>[3]</a:t>
            </a:r>
            <a:r>
              <a:rPr lang="ko-KR" altLang="en-US" sz="600" dirty="0"/>
              <a:t>의 토큰 배수</a:t>
            </a:r>
            <a:r>
              <a:rPr lang="en-US" altLang="ko-KR" sz="600" dirty="0"/>
              <a:t>(≈4×/≈15×)</a:t>
            </a:r>
            <a:r>
              <a:rPr lang="ko-KR" altLang="en-US" sz="600" dirty="0"/>
              <a:t>를 적용한 가정</a:t>
            </a:r>
            <a:r>
              <a:rPr lang="en-US" altLang="ko-KR" sz="600" dirty="0"/>
              <a:t>. </a:t>
            </a:r>
            <a:r>
              <a:rPr lang="ko-KR" altLang="en-US" sz="600" dirty="0"/>
              <a:t>동시 수용 </a:t>
            </a:r>
            <a:r>
              <a:rPr lang="ko-KR" altLang="en-US" sz="500" dirty="0"/>
              <a:t>세션</a:t>
            </a:r>
            <a:r>
              <a:rPr lang="ko-KR" altLang="en-US" sz="600" dirty="0"/>
              <a:t> </a:t>
            </a:r>
            <a:r>
              <a:rPr lang="en-US" altLang="ko-KR" sz="600" dirty="0"/>
              <a:t>= (640GB−</a:t>
            </a:r>
            <a:r>
              <a:rPr lang="ko-KR" altLang="en-US" sz="600" dirty="0"/>
              <a:t>가중치 </a:t>
            </a:r>
            <a:r>
              <a:rPr lang="en-US" altLang="ko-KR" sz="600" dirty="0"/>
              <a:t>140GB)÷K</a:t>
            </a:r>
          </a:p>
        </p:txBody>
      </p:sp>
      <p:grpSp>
        <p:nvGrpSpPr>
          <p:cNvPr id="13" name="그룹 12"/>
          <p:cNvGrpSpPr/>
          <p:nvPr/>
        </p:nvGrpSpPr>
        <p:grpSpPr>
          <a:xfrm>
            <a:off x="384627" y="4555909"/>
            <a:ext cx="5618254" cy="1505890"/>
            <a:chOff x="447647" y="4446663"/>
            <a:chExt cx="5618254" cy="1505890"/>
          </a:xfrm>
        </p:grpSpPr>
        <p:sp>
          <p:nvSpPr>
            <p:cNvPr id="210" name="TextBox 209"/>
            <p:cNvSpPr txBox="1"/>
            <p:nvPr/>
          </p:nvSpPr>
          <p:spPr>
            <a:xfrm>
              <a:off x="447647" y="4691035"/>
              <a:ext cx="627095" cy="230832"/>
            </a:xfrm>
            <a:prstGeom prst="rect">
              <a:avLst/>
            </a:prstGeom>
            <a:noFill/>
          </p:spPr>
          <p:txBody>
            <a:bodyPr wrap="none" anchor="ctr">
              <a:spAutoFit/>
            </a:bodyPr>
            <a:lstStyle/>
            <a:p>
              <a:pPr defTabSz="457200" latinLnBrk="0"/>
              <a:r>
                <a:rPr sz="900" b="1" dirty="0">
                  <a:solidFill>
                    <a:srgbClr val="111111"/>
                  </a:solidFill>
                  <a:latin typeface="Arial"/>
                </a:rPr>
                <a:t>Agent A</a:t>
              </a:r>
            </a:p>
          </p:txBody>
        </p:sp>
        <p:sp>
          <p:nvSpPr>
            <p:cNvPr id="211" name="TextBox 210"/>
            <p:cNvSpPr txBox="1"/>
            <p:nvPr/>
          </p:nvSpPr>
          <p:spPr>
            <a:xfrm>
              <a:off x="447647" y="5368239"/>
              <a:ext cx="1217000" cy="230832"/>
            </a:xfrm>
            <a:prstGeom prst="rect">
              <a:avLst/>
            </a:prstGeom>
            <a:noFill/>
          </p:spPr>
          <p:txBody>
            <a:bodyPr wrap="none" anchor="ctr">
              <a:spAutoFit/>
            </a:bodyPr>
            <a:lstStyle/>
            <a:p>
              <a:pPr defTabSz="457200" latinLnBrk="0"/>
              <a:r>
                <a:rPr sz="900" b="1" dirty="0">
                  <a:solidFill>
                    <a:srgbClr val="111111"/>
                  </a:solidFill>
                  <a:latin typeface="Arial"/>
                </a:rPr>
                <a:t>GPU: other </a:t>
              </a:r>
              <a:r>
                <a:rPr lang="en-US" sz="900" b="1" dirty="0">
                  <a:solidFill>
                    <a:srgbClr val="111111"/>
                  </a:solidFill>
                  <a:latin typeface="Arial"/>
                </a:rPr>
                <a:t>Agents</a:t>
              </a:r>
              <a:endParaRPr sz="900" b="1" dirty="0">
                <a:solidFill>
                  <a:srgbClr val="111111"/>
                </a:solidFill>
                <a:latin typeface="Arial"/>
              </a:endParaRPr>
            </a:p>
          </p:txBody>
        </p:sp>
        <p:sp>
          <p:nvSpPr>
            <p:cNvPr id="212" name="Rectangle 4"/>
            <p:cNvSpPr/>
            <p:nvPr/>
          </p:nvSpPr>
          <p:spPr>
            <a:xfrm>
              <a:off x="1136704" y="4705625"/>
              <a:ext cx="598999"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3" name="Rectangle 5"/>
            <p:cNvSpPr/>
            <p:nvPr/>
          </p:nvSpPr>
          <p:spPr>
            <a:xfrm>
              <a:off x="1741472" y="4705625"/>
              <a:ext cx="598999"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Tool / Search</a:t>
              </a:r>
            </a:p>
          </p:txBody>
        </p:sp>
        <p:sp>
          <p:nvSpPr>
            <p:cNvPr id="214" name="Rectangle 6"/>
            <p:cNvSpPr/>
            <p:nvPr/>
          </p:nvSpPr>
          <p:spPr>
            <a:xfrm>
              <a:off x="2346239" y="4705625"/>
              <a:ext cx="705722"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5" name="Rectangle 7"/>
            <p:cNvSpPr/>
            <p:nvPr/>
          </p:nvSpPr>
          <p:spPr>
            <a:xfrm>
              <a:off x="3057731" y="4705625"/>
              <a:ext cx="492275"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6" name="Rectangle 8"/>
            <p:cNvSpPr/>
            <p:nvPr/>
          </p:nvSpPr>
          <p:spPr>
            <a:xfrm>
              <a:off x="3555775" y="4705625"/>
              <a:ext cx="456701"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Tool / </a:t>
              </a:r>
              <a:endParaRPr kumimoji="0" lang="en-US" sz="700" b="1" i="0" u="none" strike="noStrike" kern="0" cap="none" spc="0" normalizeH="0" baseline="0" noProof="0" dirty="0">
                <a:ln>
                  <a:noFill/>
                </a:ln>
                <a:solidFill>
                  <a:srgbClr val="FFFFFF"/>
                </a:solidFill>
                <a:effectLst/>
                <a:uLnTx/>
                <a:uFillTx/>
                <a:latin typeface="Arial"/>
                <a:ea typeface="+mn-ea"/>
                <a:cs typeface="+mn-cs"/>
              </a:endParaRPr>
            </a:p>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Search</a:t>
              </a:r>
            </a:p>
          </p:txBody>
        </p:sp>
        <p:sp>
          <p:nvSpPr>
            <p:cNvPr id="217" name="Rectangle 9"/>
            <p:cNvSpPr/>
            <p:nvPr/>
          </p:nvSpPr>
          <p:spPr>
            <a:xfrm>
              <a:off x="4018245" y="4705625"/>
              <a:ext cx="527849"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8" name="Rectangle 10"/>
            <p:cNvSpPr/>
            <p:nvPr/>
          </p:nvSpPr>
          <p:spPr>
            <a:xfrm>
              <a:off x="4551863" y="4705625"/>
              <a:ext cx="634574"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9" name="Rectangle 11"/>
            <p:cNvSpPr/>
            <p:nvPr/>
          </p:nvSpPr>
          <p:spPr>
            <a:xfrm>
              <a:off x="1741472" y="5375072"/>
              <a:ext cx="1309849"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sp>
          <p:nvSpPr>
            <p:cNvPr id="220" name="Rectangle 12"/>
            <p:cNvSpPr/>
            <p:nvPr/>
          </p:nvSpPr>
          <p:spPr>
            <a:xfrm>
              <a:off x="3555775" y="5375072"/>
              <a:ext cx="989678"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cxnSp>
          <p:nvCxnSpPr>
            <p:cNvPr id="221" name="Connector 13"/>
            <p:cNvCxnSpPr/>
            <p:nvPr/>
          </p:nvCxnSpPr>
          <p:spPr>
            <a:xfrm>
              <a:off x="1098245" y="5674140"/>
              <a:ext cx="4179211" cy="0"/>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cxnSp>
          <p:nvCxnSpPr>
            <p:cNvPr id="222" name="Connector 14"/>
            <p:cNvCxnSpPr/>
            <p:nvPr/>
          </p:nvCxnSpPr>
          <p:spPr>
            <a:xfrm>
              <a:off x="1136704"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3" name="TextBox 222"/>
            <p:cNvSpPr txBox="1"/>
            <p:nvPr/>
          </p:nvSpPr>
          <p:spPr>
            <a:xfrm>
              <a:off x="990671" y="5665183"/>
              <a:ext cx="292068" cy="184666"/>
            </a:xfrm>
            <a:prstGeom prst="rect">
              <a:avLst/>
            </a:prstGeom>
            <a:noFill/>
          </p:spPr>
          <p:txBody>
            <a:bodyPr wrap="none" anchor="ctr">
              <a:spAutoFit/>
            </a:bodyPr>
            <a:lstStyle/>
            <a:p>
              <a:pPr algn="ctr" defTabSz="457200" latinLnBrk="0"/>
              <a:r>
                <a:rPr sz="600">
                  <a:solidFill>
                    <a:srgbClr val="222222"/>
                  </a:solidFill>
                  <a:latin typeface="Arial"/>
                </a:rPr>
                <a:t>0.0</a:t>
              </a:r>
            </a:p>
          </p:txBody>
        </p:sp>
        <p:cxnSp>
          <p:nvCxnSpPr>
            <p:cNvPr id="224" name="Connector 16"/>
            <p:cNvCxnSpPr/>
            <p:nvPr/>
          </p:nvCxnSpPr>
          <p:spPr>
            <a:xfrm>
              <a:off x="1848196"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5" name="TextBox 224"/>
            <p:cNvSpPr txBox="1"/>
            <p:nvPr/>
          </p:nvSpPr>
          <p:spPr>
            <a:xfrm>
              <a:off x="1702162" y="5665183"/>
              <a:ext cx="292068" cy="184666"/>
            </a:xfrm>
            <a:prstGeom prst="rect">
              <a:avLst/>
            </a:prstGeom>
            <a:noFill/>
          </p:spPr>
          <p:txBody>
            <a:bodyPr wrap="none" anchor="ctr">
              <a:spAutoFit/>
            </a:bodyPr>
            <a:lstStyle/>
            <a:p>
              <a:pPr algn="ctr" defTabSz="457200" latinLnBrk="0"/>
              <a:r>
                <a:rPr sz="600">
                  <a:solidFill>
                    <a:srgbClr val="222222"/>
                  </a:solidFill>
                  <a:latin typeface="Arial"/>
                </a:rPr>
                <a:t>2.0</a:t>
              </a:r>
            </a:p>
          </p:txBody>
        </p:sp>
        <p:cxnSp>
          <p:nvCxnSpPr>
            <p:cNvPr id="226" name="Connector 18"/>
            <p:cNvCxnSpPr/>
            <p:nvPr/>
          </p:nvCxnSpPr>
          <p:spPr>
            <a:xfrm>
              <a:off x="2559687"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7" name="TextBox 226"/>
            <p:cNvSpPr txBox="1"/>
            <p:nvPr/>
          </p:nvSpPr>
          <p:spPr>
            <a:xfrm>
              <a:off x="241365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4.0</a:t>
              </a:r>
            </a:p>
          </p:txBody>
        </p:sp>
        <p:cxnSp>
          <p:nvCxnSpPr>
            <p:cNvPr id="228" name="Connector 20"/>
            <p:cNvCxnSpPr/>
            <p:nvPr/>
          </p:nvCxnSpPr>
          <p:spPr>
            <a:xfrm>
              <a:off x="3271178"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9" name="TextBox 228"/>
            <p:cNvSpPr txBox="1"/>
            <p:nvPr/>
          </p:nvSpPr>
          <p:spPr>
            <a:xfrm>
              <a:off x="312514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6.0</a:t>
              </a:r>
            </a:p>
          </p:txBody>
        </p:sp>
        <p:cxnSp>
          <p:nvCxnSpPr>
            <p:cNvPr id="230" name="Connector 22"/>
            <p:cNvCxnSpPr/>
            <p:nvPr/>
          </p:nvCxnSpPr>
          <p:spPr>
            <a:xfrm>
              <a:off x="3982670"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1" name="TextBox 230"/>
            <p:cNvSpPr txBox="1"/>
            <p:nvPr/>
          </p:nvSpPr>
          <p:spPr>
            <a:xfrm>
              <a:off x="3836637" y="5665183"/>
              <a:ext cx="292068" cy="184666"/>
            </a:xfrm>
            <a:prstGeom prst="rect">
              <a:avLst/>
            </a:prstGeom>
            <a:noFill/>
          </p:spPr>
          <p:txBody>
            <a:bodyPr wrap="none" anchor="ctr">
              <a:spAutoFit/>
            </a:bodyPr>
            <a:lstStyle/>
            <a:p>
              <a:pPr algn="ctr" defTabSz="457200" latinLnBrk="0"/>
              <a:r>
                <a:rPr sz="600">
                  <a:solidFill>
                    <a:srgbClr val="222222"/>
                  </a:solidFill>
                  <a:latin typeface="Arial"/>
                </a:rPr>
                <a:t>8.0</a:t>
              </a:r>
            </a:p>
          </p:txBody>
        </p:sp>
        <p:cxnSp>
          <p:nvCxnSpPr>
            <p:cNvPr id="232" name="Connector 24"/>
            <p:cNvCxnSpPr/>
            <p:nvPr/>
          </p:nvCxnSpPr>
          <p:spPr>
            <a:xfrm>
              <a:off x="4694162"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3" name="TextBox 232"/>
            <p:cNvSpPr txBox="1"/>
            <p:nvPr/>
          </p:nvSpPr>
          <p:spPr>
            <a:xfrm>
              <a:off x="4526486"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10.0</a:t>
              </a:r>
            </a:p>
          </p:txBody>
        </p:sp>
        <p:cxnSp>
          <p:nvCxnSpPr>
            <p:cNvPr id="234" name="Connector 26"/>
            <p:cNvCxnSpPr/>
            <p:nvPr/>
          </p:nvCxnSpPr>
          <p:spPr>
            <a:xfrm>
              <a:off x="5192205"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5" name="TextBox 234"/>
            <p:cNvSpPr txBox="1"/>
            <p:nvPr/>
          </p:nvSpPr>
          <p:spPr>
            <a:xfrm>
              <a:off x="5024530"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11.4</a:t>
              </a:r>
            </a:p>
          </p:txBody>
        </p:sp>
        <p:sp>
          <p:nvSpPr>
            <p:cNvPr id="236" name="TextBox 235"/>
            <p:cNvSpPr txBox="1"/>
            <p:nvPr/>
          </p:nvSpPr>
          <p:spPr>
            <a:xfrm>
              <a:off x="2873470" y="5752498"/>
              <a:ext cx="702436" cy="200055"/>
            </a:xfrm>
            <a:prstGeom prst="rect">
              <a:avLst/>
            </a:prstGeom>
            <a:noFill/>
          </p:spPr>
          <p:txBody>
            <a:bodyPr wrap="none" anchor="ctr">
              <a:spAutoFit/>
            </a:bodyPr>
            <a:lstStyle/>
            <a:p>
              <a:pPr algn="ctr" defTabSz="457200" latinLnBrk="0"/>
              <a:r>
                <a:rPr sz="700" dirty="0">
                  <a:solidFill>
                    <a:srgbClr val="222222"/>
                  </a:solidFill>
                  <a:latin typeface="Arial"/>
                </a:rPr>
                <a:t>Elapsed time</a:t>
              </a:r>
            </a:p>
          </p:txBody>
        </p:sp>
        <p:sp>
          <p:nvSpPr>
            <p:cNvPr id="237" name="TextBox 236"/>
            <p:cNvSpPr txBox="1"/>
            <p:nvPr/>
          </p:nvSpPr>
          <p:spPr>
            <a:xfrm>
              <a:off x="2352009" y="4446663"/>
              <a:ext cx="1329210" cy="215444"/>
            </a:xfrm>
            <a:prstGeom prst="rect">
              <a:avLst/>
            </a:prstGeom>
            <a:noFill/>
          </p:spPr>
          <p:txBody>
            <a:bodyPr wrap="none" anchor="ctr">
              <a:spAutoFit/>
            </a:bodyPr>
            <a:lstStyle/>
            <a:p>
              <a:pPr defTabSz="457200" latinLnBrk="0"/>
              <a:r>
                <a:rPr lang="en-US" sz="800" dirty="0">
                  <a:solidFill>
                    <a:srgbClr val="B35B06"/>
                  </a:solidFill>
                  <a:latin typeface="Arial"/>
                </a:rPr>
                <a:t>Waits until GPU is ready</a:t>
              </a:r>
              <a:endParaRPr sz="800" dirty="0">
                <a:solidFill>
                  <a:srgbClr val="B35B06"/>
                </a:solidFill>
                <a:latin typeface="Arial"/>
              </a:endParaRPr>
            </a:p>
          </p:txBody>
        </p:sp>
        <p:cxnSp>
          <p:nvCxnSpPr>
            <p:cNvPr id="238" name="Connector 30"/>
            <p:cNvCxnSpPr/>
            <p:nvPr/>
          </p:nvCxnSpPr>
          <p:spPr>
            <a:xfrm>
              <a:off x="2346239" y="4488460"/>
              <a:ext cx="0" cy="434330"/>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sp>
          <p:nvSpPr>
            <p:cNvPr id="239" name="TextBox 238"/>
            <p:cNvSpPr txBox="1"/>
            <p:nvPr/>
          </p:nvSpPr>
          <p:spPr>
            <a:xfrm>
              <a:off x="4021129" y="4458235"/>
              <a:ext cx="434734" cy="200055"/>
            </a:xfrm>
            <a:prstGeom prst="rect">
              <a:avLst/>
            </a:prstGeom>
            <a:noFill/>
          </p:spPr>
          <p:txBody>
            <a:bodyPr wrap="none" anchor="ctr">
              <a:spAutoFit/>
            </a:bodyPr>
            <a:lstStyle/>
            <a:p>
              <a:pPr defTabSz="457200" latinLnBrk="0"/>
              <a:r>
                <a:rPr lang="en-US" sz="700" dirty="0">
                  <a:solidFill>
                    <a:srgbClr val="B35B06"/>
                  </a:solidFill>
                  <a:latin typeface="Arial"/>
                </a:rPr>
                <a:t>Waits </a:t>
              </a:r>
              <a:endParaRPr sz="700" dirty="0">
                <a:solidFill>
                  <a:srgbClr val="B35B06"/>
                </a:solidFill>
                <a:latin typeface="Arial"/>
              </a:endParaRPr>
            </a:p>
          </p:txBody>
        </p:sp>
        <p:cxnSp>
          <p:nvCxnSpPr>
            <p:cNvPr id="240" name="Connector 32"/>
            <p:cNvCxnSpPr/>
            <p:nvPr/>
          </p:nvCxnSpPr>
          <p:spPr>
            <a:xfrm>
              <a:off x="4006707" y="4490693"/>
              <a:ext cx="0" cy="419524"/>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4" name="Connector 30"/>
            <p:cNvCxnSpPr/>
            <p:nvPr/>
          </p:nvCxnSpPr>
          <p:spPr>
            <a:xfrm>
              <a:off x="3057730"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5" name="Connector 30"/>
            <p:cNvCxnSpPr/>
            <p:nvPr/>
          </p:nvCxnSpPr>
          <p:spPr>
            <a:xfrm>
              <a:off x="4551863"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6" name="직선 화살표 연결선 245"/>
            <p:cNvCxnSpPr/>
            <p:nvPr/>
          </p:nvCxnSpPr>
          <p:spPr>
            <a:xfrm>
              <a:off x="2352009" y="4670724"/>
              <a:ext cx="705721"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cxnSp>
          <p:nvCxnSpPr>
            <p:cNvPr id="247" name="직선 화살표 연결선 246"/>
            <p:cNvCxnSpPr/>
            <p:nvPr/>
          </p:nvCxnSpPr>
          <p:spPr>
            <a:xfrm>
              <a:off x="4006707" y="4670724"/>
              <a:ext cx="545157"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sp>
          <p:nvSpPr>
            <p:cNvPr id="248" name="TextBox 247"/>
            <p:cNvSpPr txBox="1"/>
            <p:nvPr/>
          </p:nvSpPr>
          <p:spPr>
            <a:xfrm>
              <a:off x="4573185" y="5081478"/>
              <a:ext cx="1492716" cy="215444"/>
            </a:xfrm>
            <a:prstGeom prst="rect">
              <a:avLst/>
            </a:prstGeom>
            <a:noFill/>
          </p:spPr>
          <p:txBody>
            <a:bodyPr wrap="none" anchor="ctr">
              <a:spAutoFit/>
            </a:bodyPr>
            <a:lstStyle/>
            <a:p>
              <a:pPr defTabSz="457200" latinLnBrk="0"/>
              <a:r>
                <a:rPr lang="ko-KR" altLang="en-US" sz="800" b="1" dirty="0">
                  <a:solidFill>
                    <a:srgbClr val="FF0000"/>
                  </a:solidFill>
                  <a:latin typeface="Arial"/>
                </a:rPr>
                <a:t>최대 </a:t>
              </a:r>
              <a:r>
                <a:rPr lang="en-US" altLang="ko-KR" sz="800" b="1" dirty="0">
                  <a:solidFill>
                    <a:srgbClr val="FF0000"/>
                  </a:solidFill>
                  <a:latin typeface="Arial"/>
                </a:rPr>
                <a:t>3.66x </a:t>
              </a:r>
              <a:r>
                <a:rPr lang="ko-KR" altLang="en-US" sz="800" b="1" dirty="0">
                  <a:solidFill>
                    <a:srgbClr val="FF0000"/>
                  </a:solidFill>
                  <a:latin typeface="Arial"/>
                </a:rPr>
                <a:t>지연 시간 증가</a:t>
              </a:r>
              <a:r>
                <a:rPr lang="en-US" altLang="ko-KR" sz="500" b="1" dirty="0">
                  <a:solidFill>
                    <a:srgbClr val="FF0000"/>
                  </a:solidFill>
                  <a:latin typeface="Arial"/>
                </a:rPr>
                <a:t>[10]</a:t>
              </a:r>
              <a:endParaRPr sz="900" b="1" dirty="0">
                <a:solidFill>
                  <a:srgbClr val="FF0000"/>
                </a:solidFill>
                <a:latin typeface="Arial"/>
              </a:endParaRPr>
            </a:p>
          </p:txBody>
        </p:sp>
        <p:cxnSp>
          <p:nvCxnSpPr>
            <p:cNvPr id="9" name="직선 화살표 연결선 8"/>
            <p:cNvCxnSpPr/>
            <p:nvPr/>
          </p:nvCxnSpPr>
          <p:spPr>
            <a:xfrm flipV="1">
              <a:off x="1735703"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TextBox 249"/>
            <p:cNvSpPr txBox="1"/>
            <p:nvPr/>
          </p:nvSpPr>
          <p:spPr>
            <a:xfrm>
              <a:off x="1523415" y="5088224"/>
              <a:ext cx="1003801" cy="196272"/>
            </a:xfrm>
            <a:prstGeom prst="rect">
              <a:avLst/>
            </a:prstGeom>
            <a:noFill/>
          </p:spPr>
          <p:txBody>
            <a:bodyPr wrap="none" anchor="ctr">
              <a:spAutoFit/>
            </a:bodyPr>
            <a:lstStyle/>
            <a:p>
              <a:pPr defTabSz="457200" latinLnBrk="0">
                <a:lnSpc>
                  <a:spcPct val="125000"/>
                </a:lnSpc>
              </a:pPr>
              <a:r>
                <a:rPr lang="en-US"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a:t>
              </a:r>
              <a:r>
                <a:rPr lang="en-US" sz="600" b="1" dirty="0">
                  <a:solidFill>
                    <a:srgbClr val="B35B06"/>
                  </a:solidFill>
                  <a:latin typeface="Arial"/>
                </a:rPr>
                <a:t>CPU </a:t>
              </a:r>
              <a:r>
                <a:rPr lang="ko-KR" altLang="en-US" sz="600" b="1" dirty="0">
                  <a:solidFill>
                    <a:srgbClr val="B35B06"/>
                  </a:solidFill>
                  <a:latin typeface="Arial"/>
                </a:rPr>
                <a:t>진입</a:t>
              </a:r>
              <a:endParaRPr lang="en-US" altLang="ko-KR" sz="600" b="1" dirty="0">
                <a:solidFill>
                  <a:srgbClr val="B35B06"/>
                </a:solidFill>
                <a:latin typeface="Arial"/>
              </a:endParaRPr>
            </a:p>
          </p:txBody>
        </p:sp>
        <p:cxnSp>
          <p:nvCxnSpPr>
            <p:cNvPr id="253" name="직선 화살표 연결선 252"/>
            <p:cNvCxnSpPr/>
            <p:nvPr/>
          </p:nvCxnSpPr>
          <p:spPr>
            <a:xfrm flipV="1">
              <a:off x="3558989"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4" name="TextBox 253"/>
            <p:cNvSpPr txBox="1"/>
            <p:nvPr/>
          </p:nvSpPr>
          <p:spPr>
            <a:xfrm>
              <a:off x="3346701" y="5088224"/>
              <a:ext cx="1003801" cy="196272"/>
            </a:xfrm>
            <a:prstGeom prst="rect">
              <a:avLst/>
            </a:prstGeom>
            <a:noFill/>
          </p:spPr>
          <p:txBody>
            <a:bodyPr wrap="none" anchor="ctr">
              <a:spAutoFit/>
            </a:bodyPr>
            <a:lstStyle/>
            <a:p>
              <a:pPr defTabSz="457200" latinLnBrk="0">
                <a:lnSpc>
                  <a:spcPct val="125000"/>
                </a:lnSpc>
              </a:pPr>
              <a:r>
                <a:rPr lang="en-US" altLang="ko-KR"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CPU </a:t>
              </a:r>
              <a:r>
                <a:rPr lang="ko-KR" altLang="en-US" sz="600" b="1" dirty="0">
                  <a:solidFill>
                    <a:srgbClr val="B35B06"/>
                  </a:solidFill>
                  <a:latin typeface="Arial"/>
                </a:rPr>
                <a:t>진입</a:t>
              </a:r>
              <a:endParaRPr lang="en-US" altLang="ko-KR" sz="600" b="1" dirty="0">
                <a:solidFill>
                  <a:srgbClr val="B35B06"/>
                </a:solidFill>
                <a:latin typeface="Arial"/>
              </a:endParaRPr>
            </a:p>
          </p:txBody>
        </p:sp>
      </p:grpSp>
      <mc:AlternateContent xmlns:mc="http://schemas.openxmlformats.org/markup-compatibility/2006" xmlns:a14="http://schemas.microsoft.com/office/drawing/2010/main">
        <mc:Choice Requires="a14">
          <p:sp>
            <p:nvSpPr>
              <p:cNvPr id="265" name="Text 85">
                <a:extLst>
                  <a:ext uri="{FF2B5EF4-FFF2-40B4-BE49-F238E27FC236}">
                    <a16:creationId xmlns:a16="http://schemas.microsoft.com/office/drawing/2014/main" id="{9BFB2DD1-19C2-4FEC-B909-725DFC6CF086}"/>
                  </a:ext>
                </a:extLst>
              </p:cNvPr>
              <p:cNvSpPr/>
              <p:nvPr/>
            </p:nvSpPr>
            <p:spPr>
              <a:xfrm>
                <a:off x="8147050" y="5686323"/>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SSD</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oMath>
                  </m:oMathPara>
                </a14:m>
                <a:endParaRPr lang="en-US" sz="1050" dirty="0">
                  <a:latin typeface="+mj-ea"/>
                  <a:ea typeface="+mj-ea"/>
                </a:endParaRPr>
              </a:p>
            </p:txBody>
          </p:sp>
        </mc:Choice>
        <mc:Fallback xmlns="">
          <p:sp>
            <p:nvSpPr>
              <p:cNvPr id="265" name="Text 85">
                <a:extLst>
                  <a:ext uri="{FF2B5EF4-FFF2-40B4-BE49-F238E27FC236}">
                    <a16:creationId xmlns:a16="http://schemas.microsoft.com/office/drawing/2014/main" id="{9BFB2DD1-19C2-4FEC-B909-725DFC6CF086}"/>
                  </a:ext>
                </a:extLst>
              </p:cNvPr>
              <p:cNvSpPr>
                <a:spLocks noRot="1" noChangeAspect="1" noMove="1" noResize="1" noEditPoints="1" noAdjustHandles="1" noChangeArrowheads="1" noChangeShapeType="1" noTextEdit="1"/>
              </p:cNvSpPr>
              <p:nvPr/>
            </p:nvSpPr>
            <p:spPr>
              <a:xfrm>
                <a:off x="8147050" y="5686323"/>
                <a:ext cx="3505708" cy="223441"/>
              </a:xfrm>
              <a:prstGeom prst="rect">
                <a:avLst/>
              </a:prstGeom>
              <a:blipFill>
                <a:blip r:embed="rId12"/>
                <a:stretch>
                  <a:fillRect l="-1389" b="-5556"/>
                </a:stretch>
              </a:blipFill>
              <a:ln/>
            </p:spPr>
            <p:txBody>
              <a:bodyPr/>
              <a:lstStyle/>
              <a:p>
                <a:r>
                  <a:rPr lang="ko-KR" altLang="en-US">
                    <a:noFill/>
                  </a:rPr>
                  <a:t> </a:t>
                </a:r>
              </a:p>
            </p:txBody>
          </p:sp>
        </mc:Fallback>
      </mc:AlternateContent>
      <p:sp>
        <p:nvSpPr>
          <p:cNvPr id="266" name="Segment panel">
            <a:extLst>
              <a:ext uri="{FF2B5EF4-FFF2-40B4-BE49-F238E27FC236}">
                <a16:creationId xmlns:a16="http://schemas.microsoft.com/office/drawing/2014/main" id="{038DC8BC-20A2-4373-847C-169B00DCDD65}"/>
              </a:ext>
            </a:extLst>
          </p:cNvPr>
          <p:cNvSpPr/>
          <p:nvPr/>
        </p:nvSpPr>
        <p:spPr>
          <a:xfrm>
            <a:off x="6409944" y="4279392"/>
            <a:ext cx="5230368" cy="1847088"/>
          </a:xfrm>
          <a:prstGeom prst="roundRect">
            <a:avLst>
              <a:gd name="adj" fmla="val 4000"/>
            </a:avLst>
          </a:prstGeom>
          <a:solidFill>
            <a:srgbClr val="F4F7FB"/>
          </a:solidFill>
          <a:ln>
            <a:noFill/>
          </a:ln>
        </p:spPr>
        <p:txBody>
          <a:bodyPr rtlCol="0" anchor="ctr"/>
          <a:lstStyle/>
          <a:p>
            <a:pPr algn="ctr"/>
            <a:endParaRPr/>
          </a:p>
        </p:txBody>
      </p:sp>
      <p:sp>
        <p:nvSpPr>
          <p:cNvPr id="267" name="TextBox 266">
            <a:extLst>
              <a:ext uri="{FF2B5EF4-FFF2-40B4-BE49-F238E27FC236}">
                <a16:creationId xmlns:a16="http://schemas.microsoft.com/office/drawing/2014/main" id="{A939EC7F-1698-4935-950B-2AFF0F3A995F}"/>
              </a:ext>
            </a:extLst>
          </p:cNvPr>
          <p:cNvSpPr txBox="1"/>
          <p:nvPr/>
        </p:nvSpPr>
        <p:spPr>
          <a:xfrm>
            <a:off x="6510528" y="4287012"/>
            <a:ext cx="1188720" cy="146304"/>
          </a:xfrm>
          <a:prstGeom prst="rect">
            <a:avLst/>
          </a:prstGeom>
          <a:noFill/>
        </p:spPr>
        <p:txBody>
          <a:bodyPr wrap="square" lIns="0" tIns="0" rIns="0" bIns="0" anchor="t">
            <a:noAutofit/>
          </a:bodyPr>
          <a:lstStyle/>
          <a:p>
            <a:pPr algn="ctr"/>
            <a:r>
              <a:rPr sz="850" b="1" dirty="0" err="1">
                <a:solidFill>
                  <a:srgbClr val="555555"/>
                </a:solidFill>
                <a:latin typeface="+mj-ea"/>
                <a:ea typeface="+mj-ea"/>
              </a:rPr>
              <a:t>세그먼트</a:t>
            </a:r>
            <a:endParaRPr sz="850" b="1" dirty="0">
              <a:solidFill>
                <a:srgbClr val="555555"/>
              </a:solidFill>
              <a:latin typeface="+mj-ea"/>
              <a:ea typeface="+mj-ea"/>
            </a:endParaRPr>
          </a:p>
        </p:txBody>
      </p:sp>
      <p:sp>
        <p:nvSpPr>
          <p:cNvPr id="268" name="TextBox 267">
            <a:extLst>
              <a:ext uri="{FF2B5EF4-FFF2-40B4-BE49-F238E27FC236}">
                <a16:creationId xmlns:a16="http://schemas.microsoft.com/office/drawing/2014/main" id="{E66FB391-0AD5-40B4-BA2A-F18186B11F53}"/>
              </a:ext>
            </a:extLst>
          </p:cNvPr>
          <p:cNvSpPr txBox="1"/>
          <p:nvPr/>
        </p:nvSpPr>
        <p:spPr>
          <a:xfrm>
            <a:off x="7818120" y="4287012"/>
            <a:ext cx="1371600" cy="146304"/>
          </a:xfrm>
          <a:prstGeom prst="rect">
            <a:avLst/>
          </a:prstGeom>
          <a:noFill/>
        </p:spPr>
        <p:txBody>
          <a:bodyPr wrap="square" lIns="0" tIns="0" rIns="0" bIns="0" anchor="t">
            <a:noAutofit/>
          </a:bodyPr>
          <a:lstStyle/>
          <a:p>
            <a:pPr algn="ctr"/>
            <a:r>
              <a:rPr sz="850" b="1">
                <a:solidFill>
                  <a:srgbClr val="555555"/>
                </a:solidFill>
                <a:latin typeface="+mj-ea"/>
                <a:ea typeface="+mj-ea"/>
              </a:rPr>
              <a:t>특징</a:t>
            </a:r>
          </a:p>
        </p:txBody>
      </p:sp>
      <p:sp>
        <p:nvSpPr>
          <p:cNvPr id="269" name="TextBox 268">
            <a:extLst>
              <a:ext uri="{FF2B5EF4-FFF2-40B4-BE49-F238E27FC236}">
                <a16:creationId xmlns:a16="http://schemas.microsoft.com/office/drawing/2014/main" id="{4235C67F-0F3F-405B-A837-0D63984024E1}"/>
              </a:ext>
            </a:extLst>
          </p:cNvPr>
          <p:cNvSpPr txBox="1"/>
          <p:nvPr/>
        </p:nvSpPr>
        <p:spPr>
          <a:xfrm>
            <a:off x="9281160" y="4287012"/>
            <a:ext cx="1225296" cy="146304"/>
          </a:xfrm>
          <a:prstGeom prst="rect">
            <a:avLst/>
          </a:prstGeom>
          <a:noFill/>
        </p:spPr>
        <p:txBody>
          <a:bodyPr wrap="square" lIns="0" tIns="0" rIns="0" bIns="0" anchor="t">
            <a:noAutofit/>
          </a:bodyPr>
          <a:lstStyle/>
          <a:p>
            <a:pPr algn="ctr"/>
            <a:r>
              <a:rPr sz="850" b="1">
                <a:solidFill>
                  <a:srgbClr val="555555"/>
                </a:solidFill>
                <a:latin typeface="+mj-ea"/>
                <a:ea typeface="+mj-ea"/>
              </a:rPr>
              <a:t>시장 규모</a:t>
            </a:r>
          </a:p>
        </p:txBody>
      </p:sp>
      <p:sp>
        <p:nvSpPr>
          <p:cNvPr id="270" name="TextBox 269">
            <a:extLst>
              <a:ext uri="{FF2B5EF4-FFF2-40B4-BE49-F238E27FC236}">
                <a16:creationId xmlns:a16="http://schemas.microsoft.com/office/drawing/2014/main" id="{B141CC1D-646E-41EE-B53D-68DB97FA9794}"/>
              </a:ext>
            </a:extLst>
          </p:cNvPr>
          <p:cNvSpPr txBox="1"/>
          <p:nvPr/>
        </p:nvSpPr>
        <p:spPr>
          <a:xfrm>
            <a:off x="10515600" y="4287012"/>
            <a:ext cx="1097280" cy="146304"/>
          </a:xfrm>
          <a:prstGeom prst="rect">
            <a:avLst/>
          </a:prstGeom>
          <a:noFill/>
        </p:spPr>
        <p:txBody>
          <a:bodyPr wrap="square" lIns="0" tIns="0" rIns="0" bIns="0" anchor="t">
            <a:noAutofit/>
          </a:bodyPr>
          <a:lstStyle/>
          <a:p>
            <a:pPr algn="ctr"/>
            <a:r>
              <a:rPr sz="850" b="1">
                <a:solidFill>
                  <a:srgbClr val="555555"/>
                </a:solidFill>
                <a:latin typeface="+mj-ea"/>
                <a:ea typeface="+mj-ea"/>
              </a:rPr>
              <a:t>규모 ($B) · 성장</a:t>
            </a:r>
          </a:p>
        </p:txBody>
      </p:sp>
      <p:sp>
        <p:nvSpPr>
          <p:cNvPr id="271" name="Segment chip">
            <a:extLst>
              <a:ext uri="{FF2B5EF4-FFF2-40B4-BE49-F238E27FC236}">
                <a16:creationId xmlns:a16="http://schemas.microsoft.com/office/drawing/2014/main" id="{C0A3FA2E-28E5-47B9-B33C-7F54E18CAAA2}"/>
              </a:ext>
            </a:extLst>
          </p:cNvPr>
          <p:cNvSpPr/>
          <p:nvPr/>
        </p:nvSpPr>
        <p:spPr>
          <a:xfrm>
            <a:off x="6492240" y="4517136"/>
            <a:ext cx="1261872" cy="246888"/>
          </a:xfrm>
          <a:prstGeom prst="roundRect">
            <a:avLst>
              <a:gd name="adj" fmla="val 19000"/>
            </a:avLst>
          </a:prstGeom>
          <a:solidFill>
            <a:srgbClr val="F0F1F3"/>
          </a:solidFill>
          <a:ln w="12700">
            <a:solidFill>
              <a:srgbClr val="7F7F7F"/>
            </a:solidFill>
          </a:ln>
        </p:spPr>
        <p:txBody>
          <a:bodyPr wrap="square" lIns="54864" tIns="18288" rIns="45720" bIns="18288" rtlCol="0" anchor="ctr"/>
          <a:lstStyle/>
          <a:p>
            <a:pPr algn="l"/>
            <a:r>
              <a:rPr sz="950" b="1">
                <a:solidFill>
                  <a:srgbClr val="222222"/>
                </a:solidFill>
                <a:latin typeface="+mj-ea"/>
                <a:ea typeface="+mj-ea"/>
              </a:rPr>
              <a:t>HBM (기준)</a:t>
            </a:r>
          </a:p>
        </p:txBody>
      </p:sp>
      <p:sp>
        <p:nvSpPr>
          <p:cNvPr id="272" name="TextBox 271">
            <a:extLst>
              <a:ext uri="{FF2B5EF4-FFF2-40B4-BE49-F238E27FC236}">
                <a16:creationId xmlns:a16="http://schemas.microsoft.com/office/drawing/2014/main" id="{F1E76BD8-C30C-4BC8-B4E5-7B412F623F17}"/>
              </a:ext>
            </a:extLst>
          </p:cNvPr>
          <p:cNvSpPr txBox="1"/>
          <p:nvPr/>
        </p:nvSpPr>
        <p:spPr>
          <a:xfrm>
            <a:off x="7818120" y="4517136"/>
            <a:ext cx="1417320" cy="246888"/>
          </a:xfrm>
          <a:prstGeom prst="rect">
            <a:avLst/>
          </a:prstGeom>
          <a:noFill/>
        </p:spPr>
        <p:txBody>
          <a:bodyPr wrap="square" lIns="0" tIns="0" rIns="0" bIns="0" anchor="ctr">
            <a:noAutofit/>
          </a:bodyPr>
          <a:lstStyle/>
          <a:p>
            <a:pPr algn="l">
              <a:lnSpc>
                <a:spcPct val="95000"/>
              </a:lnSpc>
            </a:pPr>
            <a:r>
              <a:rPr sz="850" b="0">
                <a:solidFill>
                  <a:srgbClr val="222222"/>
                </a:solidFill>
                <a:latin typeface="+mj-ea"/>
                <a:ea typeface="+mj-ea"/>
              </a:rPr>
              <a:t>GPU 온패키지 고대역폭, 공급 부족 지속</a:t>
            </a:r>
          </a:p>
        </p:txBody>
      </p:sp>
      <p:sp>
        <p:nvSpPr>
          <p:cNvPr id="273" name="seg bar now">
            <a:extLst>
              <a:ext uri="{FF2B5EF4-FFF2-40B4-BE49-F238E27FC236}">
                <a16:creationId xmlns:a16="http://schemas.microsoft.com/office/drawing/2014/main" id="{B1DA3349-DF92-4EB4-A946-8238767E8D3D}"/>
              </a:ext>
            </a:extLst>
          </p:cNvPr>
          <p:cNvSpPr/>
          <p:nvPr/>
        </p:nvSpPr>
        <p:spPr>
          <a:xfrm>
            <a:off x="9281160" y="4544568"/>
            <a:ext cx="400050" cy="91440"/>
          </a:xfrm>
          <a:prstGeom prst="rect">
            <a:avLst/>
          </a:prstGeom>
          <a:solidFill>
            <a:srgbClr val="9DB9DE"/>
          </a:solidFill>
          <a:ln>
            <a:noFill/>
          </a:ln>
        </p:spPr>
        <p:txBody>
          <a:bodyPr rtlCol="0" anchor="ctr"/>
          <a:lstStyle/>
          <a:p>
            <a:pPr algn="ctr"/>
            <a:endParaRPr/>
          </a:p>
        </p:txBody>
      </p:sp>
      <p:sp>
        <p:nvSpPr>
          <p:cNvPr id="274" name="seg bar future">
            <a:extLst>
              <a:ext uri="{FF2B5EF4-FFF2-40B4-BE49-F238E27FC236}">
                <a16:creationId xmlns:a16="http://schemas.microsoft.com/office/drawing/2014/main" id="{A659B3C4-273C-4500-B4E8-0B336B0EAF53}"/>
              </a:ext>
            </a:extLst>
          </p:cNvPr>
          <p:cNvSpPr/>
          <p:nvPr/>
        </p:nvSpPr>
        <p:spPr>
          <a:xfrm>
            <a:off x="9281160" y="4645151"/>
            <a:ext cx="1143000" cy="91440"/>
          </a:xfrm>
          <a:prstGeom prst="rect">
            <a:avLst/>
          </a:prstGeom>
          <a:solidFill>
            <a:srgbClr val="1C3F6E"/>
          </a:solidFill>
          <a:ln>
            <a:noFill/>
          </a:ln>
        </p:spPr>
        <p:txBody>
          <a:bodyPr rtlCol="0" anchor="ctr"/>
          <a:lstStyle/>
          <a:p>
            <a:pPr algn="ctr"/>
            <a:endParaRPr/>
          </a:p>
        </p:txBody>
      </p:sp>
      <p:sp>
        <p:nvSpPr>
          <p:cNvPr id="275" name="TextBox 274">
            <a:extLst>
              <a:ext uri="{FF2B5EF4-FFF2-40B4-BE49-F238E27FC236}">
                <a16:creationId xmlns:a16="http://schemas.microsoft.com/office/drawing/2014/main" id="{7514A97E-8378-4D87-A18A-3E4B28425394}"/>
              </a:ext>
            </a:extLst>
          </p:cNvPr>
          <p:cNvSpPr txBox="1"/>
          <p:nvPr/>
        </p:nvSpPr>
        <p:spPr>
          <a:xfrm>
            <a:off x="10515600" y="4507992"/>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$35B → ≈$100B</a:t>
            </a:r>
          </a:p>
          <a:p>
            <a:pPr algn="l">
              <a:lnSpc>
                <a:spcPct val="95000"/>
              </a:lnSpc>
            </a:pPr>
            <a:r>
              <a:rPr sz="750" b="0">
                <a:solidFill>
                  <a:srgbClr val="555555"/>
                </a:solidFill>
                <a:latin typeface="+mj-ea"/>
                <a:ea typeface="+mj-ea"/>
              </a:rPr>
              <a:t>’25→’28E · CAGR ≈42%</a:t>
            </a:r>
          </a:p>
        </p:txBody>
      </p:sp>
      <p:sp>
        <p:nvSpPr>
          <p:cNvPr id="276" name="Segment chip">
            <a:extLst>
              <a:ext uri="{FF2B5EF4-FFF2-40B4-BE49-F238E27FC236}">
                <a16:creationId xmlns:a16="http://schemas.microsoft.com/office/drawing/2014/main" id="{0567273D-9BEC-4EFB-A786-9FBE92143C7F}"/>
              </a:ext>
            </a:extLst>
          </p:cNvPr>
          <p:cNvSpPr/>
          <p:nvPr/>
        </p:nvSpPr>
        <p:spPr>
          <a:xfrm>
            <a:off x="6492240" y="4828031"/>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cHBM</a:t>
            </a:r>
          </a:p>
        </p:txBody>
      </p:sp>
      <p:sp>
        <p:nvSpPr>
          <p:cNvPr id="277" name="TextBox 276">
            <a:extLst>
              <a:ext uri="{FF2B5EF4-FFF2-40B4-BE49-F238E27FC236}">
                <a16:creationId xmlns:a16="http://schemas.microsoft.com/office/drawing/2014/main" id="{0B98DD65-41FF-4DCD-94CD-076143051650}"/>
              </a:ext>
            </a:extLst>
          </p:cNvPr>
          <p:cNvSpPr txBox="1"/>
          <p:nvPr/>
        </p:nvSpPr>
        <p:spPr>
          <a:xfrm>
            <a:off x="7818120" y="4828031"/>
            <a:ext cx="1417320" cy="246888"/>
          </a:xfrm>
          <a:prstGeom prst="rect">
            <a:avLst/>
          </a:prstGeom>
          <a:noFill/>
        </p:spPr>
        <p:txBody>
          <a:bodyPr wrap="square" lIns="0" tIns="0" rIns="0" bIns="0" anchor="ctr">
            <a:noAutofit/>
          </a:bodyPr>
          <a:lstStyle/>
          <a:p>
            <a:pPr algn="l">
              <a:lnSpc>
                <a:spcPct val="95000"/>
              </a:lnSpc>
            </a:pPr>
            <a:r>
              <a:rPr sz="850" b="0" dirty="0">
                <a:solidFill>
                  <a:srgbClr val="222222"/>
                </a:solidFill>
                <a:latin typeface="+mj-ea"/>
                <a:ea typeface="+mj-ea"/>
              </a:rPr>
              <a:t>Base </a:t>
            </a:r>
            <a:r>
              <a:rPr sz="850" b="0" dirty="0" err="1">
                <a:solidFill>
                  <a:srgbClr val="222222"/>
                </a:solidFill>
                <a:latin typeface="+mj-ea"/>
                <a:ea typeface="+mj-ea"/>
              </a:rPr>
              <a:t>die에</a:t>
            </a:r>
            <a:r>
              <a:rPr sz="850" b="0" dirty="0">
                <a:solidFill>
                  <a:srgbClr val="222222"/>
                </a:solidFill>
                <a:latin typeface="+mj-ea"/>
                <a:ea typeface="+mj-ea"/>
              </a:rPr>
              <a:t> </a:t>
            </a:r>
            <a:r>
              <a:rPr sz="850" b="0" dirty="0" err="1">
                <a:solidFill>
                  <a:srgbClr val="222222"/>
                </a:solidFill>
                <a:latin typeface="+mj-ea"/>
                <a:ea typeface="+mj-ea"/>
              </a:rPr>
              <a:t>고객</a:t>
            </a:r>
            <a:r>
              <a:rPr sz="850" b="0" dirty="0">
                <a:solidFill>
                  <a:srgbClr val="222222"/>
                </a:solidFill>
                <a:latin typeface="+mj-ea"/>
                <a:ea typeface="+mj-ea"/>
              </a:rPr>
              <a:t> </a:t>
            </a:r>
            <a:r>
              <a:rPr sz="850" b="0" dirty="0" err="1">
                <a:solidFill>
                  <a:srgbClr val="222222"/>
                </a:solidFill>
                <a:latin typeface="+mj-ea"/>
                <a:ea typeface="+mj-ea"/>
              </a:rPr>
              <a:t>특화</a:t>
            </a:r>
            <a:r>
              <a:rPr sz="850" b="0" dirty="0">
                <a:solidFill>
                  <a:srgbClr val="222222"/>
                </a:solidFill>
                <a:latin typeface="+mj-ea"/>
                <a:ea typeface="+mj-ea"/>
              </a:rPr>
              <a:t> </a:t>
            </a:r>
            <a:r>
              <a:rPr sz="850" b="0" dirty="0" err="1">
                <a:solidFill>
                  <a:srgbClr val="222222"/>
                </a:solidFill>
                <a:latin typeface="+mj-ea"/>
                <a:ea typeface="+mj-ea"/>
              </a:rPr>
              <a:t>로직</a:t>
            </a:r>
            <a:endParaRPr sz="850" b="0" dirty="0">
              <a:solidFill>
                <a:srgbClr val="222222"/>
              </a:solidFill>
              <a:latin typeface="+mj-ea"/>
              <a:ea typeface="+mj-ea"/>
            </a:endParaRPr>
          </a:p>
        </p:txBody>
      </p:sp>
      <p:sp>
        <p:nvSpPr>
          <p:cNvPr id="278" name="seg bar now">
            <a:extLst>
              <a:ext uri="{FF2B5EF4-FFF2-40B4-BE49-F238E27FC236}">
                <a16:creationId xmlns:a16="http://schemas.microsoft.com/office/drawing/2014/main" id="{DCDB4FEA-DA94-4502-B811-0FB024E6FE36}"/>
              </a:ext>
            </a:extLst>
          </p:cNvPr>
          <p:cNvSpPr/>
          <p:nvPr/>
        </p:nvSpPr>
        <p:spPr>
          <a:xfrm>
            <a:off x="9281160" y="4855464"/>
            <a:ext cx="70866" cy="91440"/>
          </a:xfrm>
          <a:prstGeom prst="rect">
            <a:avLst/>
          </a:prstGeom>
          <a:solidFill>
            <a:srgbClr val="9DB9DE"/>
          </a:solidFill>
          <a:ln>
            <a:noFill/>
          </a:ln>
        </p:spPr>
        <p:txBody>
          <a:bodyPr rtlCol="0" anchor="ctr"/>
          <a:lstStyle/>
          <a:p>
            <a:pPr algn="ctr"/>
            <a:endParaRPr/>
          </a:p>
        </p:txBody>
      </p:sp>
      <p:sp>
        <p:nvSpPr>
          <p:cNvPr id="279" name="seg bar future">
            <a:extLst>
              <a:ext uri="{FF2B5EF4-FFF2-40B4-BE49-F238E27FC236}">
                <a16:creationId xmlns:a16="http://schemas.microsoft.com/office/drawing/2014/main" id="{D0171506-A0EA-4CAA-B51E-C1D45883A563}"/>
              </a:ext>
            </a:extLst>
          </p:cNvPr>
          <p:cNvSpPr/>
          <p:nvPr/>
        </p:nvSpPr>
        <p:spPr>
          <a:xfrm>
            <a:off x="9281160" y="4956047"/>
            <a:ext cx="290322" cy="91440"/>
          </a:xfrm>
          <a:prstGeom prst="rect">
            <a:avLst/>
          </a:prstGeom>
          <a:solidFill>
            <a:srgbClr val="2F6DB5"/>
          </a:solidFill>
          <a:ln>
            <a:noFill/>
          </a:ln>
        </p:spPr>
        <p:txBody>
          <a:bodyPr rtlCol="0" anchor="ctr"/>
          <a:lstStyle/>
          <a:p>
            <a:pPr algn="ctr"/>
            <a:endParaRPr/>
          </a:p>
        </p:txBody>
      </p:sp>
      <p:sp>
        <p:nvSpPr>
          <p:cNvPr id="280" name="TextBox 279">
            <a:extLst>
              <a:ext uri="{FF2B5EF4-FFF2-40B4-BE49-F238E27FC236}">
                <a16:creationId xmlns:a16="http://schemas.microsoft.com/office/drawing/2014/main" id="{FBE87DDD-FA04-44AA-B39C-078B141C3C3A}"/>
              </a:ext>
            </a:extLst>
          </p:cNvPr>
          <p:cNvSpPr txBox="1"/>
          <p:nvPr/>
        </p:nvSpPr>
        <p:spPr>
          <a:xfrm>
            <a:off x="10515600" y="4818888"/>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$6.2B → $25.4B</a:t>
            </a:r>
          </a:p>
          <a:p>
            <a:pPr algn="l">
              <a:lnSpc>
                <a:spcPct val="95000"/>
              </a:lnSpc>
            </a:pPr>
            <a:r>
              <a:rPr sz="750" b="0">
                <a:solidFill>
                  <a:srgbClr val="555555"/>
                </a:solidFill>
                <a:latin typeface="+mj-ea"/>
                <a:ea typeface="+mj-ea"/>
              </a:rPr>
              <a:t>’25→’31E · CAGR ≈27%</a:t>
            </a:r>
          </a:p>
        </p:txBody>
      </p:sp>
      <p:sp>
        <p:nvSpPr>
          <p:cNvPr id="281" name="Segment chip">
            <a:extLst>
              <a:ext uri="{FF2B5EF4-FFF2-40B4-BE49-F238E27FC236}">
                <a16:creationId xmlns:a16="http://schemas.microsoft.com/office/drawing/2014/main" id="{C76930F2-7808-4EDD-B03D-9A9B905987CD}"/>
              </a:ext>
            </a:extLst>
          </p:cNvPr>
          <p:cNvSpPr/>
          <p:nvPr/>
        </p:nvSpPr>
        <p:spPr>
          <a:xfrm>
            <a:off x="6492240" y="5138927"/>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CXL 메모리 풀</a:t>
            </a:r>
          </a:p>
        </p:txBody>
      </p:sp>
      <p:sp>
        <p:nvSpPr>
          <p:cNvPr id="282" name="TextBox 281">
            <a:extLst>
              <a:ext uri="{FF2B5EF4-FFF2-40B4-BE49-F238E27FC236}">
                <a16:creationId xmlns:a16="http://schemas.microsoft.com/office/drawing/2014/main" id="{1750F99D-F96D-4EF5-85D4-F50EC98E0095}"/>
              </a:ext>
            </a:extLst>
          </p:cNvPr>
          <p:cNvSpPr txBox="1"/>
          <p:nvPr/>
        </p:nvSpPr>
        <p:spPr>
          <a:xfrm>
            <a:off x="7818120" y="5138927"/>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a:t>
            </a:r>
            <a:r>
              <a:rPr sz="850" b="0" dirty="0">
                <a:solidFill>
                  <a:srgbClr val="222222"/>
                </a:solidFill>
                <a:latin typeface="+mj-ea"/>
                <a:ea typeface="+mj-ea"/>
              </a:rPr>
              <a:t> </a:t>
            </a:r>
            <a:r>
              <a:rPr sz="850" b="0" dirty="0" err="1">
                <a:solidFill>
                  <a:srgbClr val="222222"/>
                </a:solidFill>
                <a:latin typeface="+mj-ea"/>
                <a:ea typeface="+mj-ea"/>
              </a:rPr>
              <a:t>단위</a:t>
            </a:r>
            <a:r>
              <a:rPr sz="850" b="0" dirty="0">
                <a:solidFill>
                  <a:srgbClr val="222222"/>
                </a:solidFill>
                <a:latin typeface="+mj-ea"/>
                <a:ea typeface="+mj-ea"/>
              </a:rPr>
              <a:t> </a:t>
            </a:r>
            <a:r>
              <a:rPr sz="850" b="0" dirty="0" err="1">
                <a:solidFill>
                  <a:srgbClr val="222222"/>
                </a:solidFill>
                <a:latin typeface="+mj-ea"/>
                <a:ea typeface="+mj-ea"/>
              </a:rPr>
              <a:t>용량</a:t>
            </a:r>
            <a:r>
              <a:rPr sz="850" b="0" dirty="0">
                <a:solidFill>
                  <a:srgbClr val="222222"/>
                </a:solidFill>
                <a:latin typeface="+mj-ea"/>
                <a:ea typeface="+mj-ea"/>
              </a:rPr>
              <a:t> </a:t>
            </a:r>
            <a:r>
              <a:rPr sz="850" b="0" dirty="0" err="1">
                <a:solidFill>
                  <a:srgbClr val="222222"/>
                </a:solidFill>
                <a:latin typeface="+mj-ea"/>
                <a:ea typeface="+mj-ea"/>
              </a:rPr>
              <a:t>확장</a:t>
            </a:r>
            <a:r>
              <a:rPr sz="850" b="0" dirty="0">
                <a:solidFill>
                  <a:srgbClr val="222222"/>
                </a:solidFill>
                <a:latin typeface="+mj-ea"/>
                <a:ea typeface="+mj-ea"/>
              </a:rPr>
              <a:t>, KV </a:t>
            </a:r>
            <a:r>
              <a:rPr sz="850" b="0" dirty="0" err="1">
                <a:solidFill>
                  <a:srgbClr val="222222"/>
                </a:solidFill>
                <a:latin typeface="+mj-ea"/>
                <a:ea typeface="+mj-ea"/>
              </a:rPr>
              <a:t>공유</a:t>
            </a:r>
            <a:endParaRPr sz="850" b="0" dirty="0">
              <a:solidFill>
                <a:srgbClr val="222222"/>
              </a:solidFill>
              <a:latin typeface="+mj-ea"/>
              <a:ea typeface="+mj-ea"/>
            </a:endParaRPr>
          </a:p>
        </p:txBody>
      </p:sp>
      <p:sp>
        <p:nvSpPr>
          <p:cNvPr id="283" name="seg bar now">
            <a:extLst>
              <a:ext uri="{FF2B5EF4-FFF2-40B4-BE49-F238E27FC236}">
                <a16:creationId xmlns:a16="http://schemas.microsoft.com/office/drawing/2014/main" id="{DC6707B1-0338-4262-A877-1EFEE6D31C03}"/>
              </a:ext>
            </a:extLst>
          </p:cNvPr>
          <p:cNvSpPr/>
          <p:nvPr/>
        </p:nvSpPr>
        <p:spPr>
          <a:xfrm>
            <a:off x="9281160" y="5166359"/>
            <a:ext cx="28232" cy="91440"/>
          </a:xfrm>
          <a:prstGeom prst="rect">
            <a:avLst/>
          </a:prstGeom>
          <a:solidFill>
            <a:srgbClr val="9DB9DE"/>
          </a:solidFill>
          <a:ln>
            <a:noFill/>
          </a:ln>
        </p:spPr>
        <p:txBody>
          <a:bodyPr rtlCol="0" anchor="ctr"/>
          <a:lstStyle/>
          <a:p>
            <a:pPr algn="ctr"/>
            <a:endParaRPr/>
          </a:p>
        </p:txBody>
      </p:sp>
      <p:sp>
        <p:nvSpPr>
          <p:cNvPr id="284" name="seg bar future">
            <a:extLst>
              <a:ext uri="{FF2B5EF4-FFF2-40B4-BE49-F238E27FC236}">
                <a16:creationId xmlns:a16="http://schemas.microsoft.com/office/drawing/2014/main" id="{1B21EF73-EC8F-4D14-A62A-305D9DC09481}"/>
              </a:ext>
            </a:extLst>
          </p:cNvPr>
          <p:cNvSpPr/>
          <p:nvPr/>
        </p:nvSpPr>
        <p:spPr>
          <a:xfrm>
            <a:off x="9281160" y="5266943"/>
            <a:ext cx="146989" cy="91440"/>
          </a:xfrm>
          <a:prstGeom prst="rect">
            <a:avLst/>
          </a:prstGeom>
          <a:solidFill>
            <a:srgbClr val="2F6DB5"/>
          </a:solidFill>
          <a:ln>
            <a:noFill/>
          </a:ln>
        </p:spPr>
        <p:txBody>
          <a:bodyPr rtlCol="0" anchor="ctr"/>
          <a:lstStyle/>
          <a:p>
            <a:pPr algn="ctr"/>
            <a:endParaRPr/>
          </a:p>
        </p:txBody>
      </p:sp>
      <p:sp>
        <p:nvSpPr>
          <p:cNvPr id="285" name="TextBox 284">
            <a:extLst>
              <a:ext uri="{FF2B5EF4-FFF2-40B4-BE49-F238E27FC236}">
                <a16:creationId xmlns:a16="http://schemas.microsoft.com/office/drawing/2014/main" id="{186178A9-B695-43FE-87D0-52147BBD0F07}"/>
              </a:ext>
            </a:extLst>
          </p:cNvPr>
          <p:cNvSpPr txBox="1"/>
          <p:nvPr/>
        </p:nvSpPr>
        <p:spPr>
          <a:xfrm>
            <a:off x="10515600" y="5129783"/>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$2.5B → $12.9B</a:t>
            </a:r>
          </a:p>
          <a:p>
            <a:pPr algn="l">
              <a:lnSpc>
                <a:spcPct val="95000"/>
              </a:lnSpc>
            </a:pPr>
            <a:r>
              <a:rPr sz="750" b="0">
                <a:solidFill>
                  <a:srgbClr val="555555"/>
                </a:solidFill>
                <a:latin typeface="+mj-ea"/>
                <a:ea typeface="+mj-ea"/>
              </a:rPr>
              <a:t>’26→’31E · CAGR ≈39%</a:t>
            </a:r>
          </a:p>
        </p:txBody>
      </p:sp>
      <p:sp>
        <p:nvSpPr>
          <p:cNvPr id="286" name="Segment chip">
            <a:extLst>
              <a:ext uri="{FF2B5EF4-FFF2-40B4-BE49-F238E27FC236}">
                <a16:creationId xmlns:a16="http://schemas.microsoft.com/office/drawing/2014/main" id="{229E2F15-9E9F-4E27-8118-53783761E5BD}"/>
              </a:ext>
            </a:extLst>
          </p:cNvPr>
          <p:cNvSpPr/>
          <p:nvPr/>
        </p:nvSpPr>
        <p:spPr>
          <a:xfrm>
            <a:off x="6492240" y="5449823"/>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SOCAMM2·LPDDR</a:t>
            </a:r>
          </a:p>
        </p:txBody>
      </p:sp>
      <p:sp>
        <p:nvSpPr>
          <p:cNvPr id="287" name="TextBox 286">
            <a:extLst>
              <a:ext uri="{FF2B5EF4-FFF2-40B4-BE49-F238E27FC236}">
                <a16:creationId xmlns:a16="http://schemas.microsoft.com/office/drawing/2014/main" id="{0ED8C0BA-92F5-4A5F-B05E-50828EF11512}"/>
              </a:ext>
            </a:extLst>
          </p:cNvPr>
          <p:cNvSpPr txBox="1"/>
          <p:nvPr/>
        </p:nvSpPr>
        <p:spPr>
          <a:xfrm>
            <a:off x="7818120" y="5449823"/>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서버용</a:t>
            </a:r>
            <a:r>
              <a:rPr sz="850" b="0" dirty="0">
                <a:solidFill>
                  <a:srgbClr val="222222"/>
                </a:solidFill>
                <a:latin typeface="+mj-ea"/>
                <a:ea typeface="+mj-ea"/>
              </a:rPr>
              <a:t> </a:t>
            </a:r>
            <a:r>
              <a:rPr sz="850" b="0" dirty="0" err="1">
                <a:solidFill>
                  <a:srgbClr val="222222"/>
                </a:solidFill>
                <a:latin typeface="+mj-ea"/>
                <a:ea typeface="+mj-ea"/>
              </a:rPr>
              <a:t>저전력·대용량</a:t>
            </a:r>
            <a:r>
              <a:rPr sz="850" b="0" dirty="0">
                <a:solidFill>
                  <a:srgbClr val="222222"/>
                </a:solidFill>
                <a:latin typeface="+mj-ea"/>
                <a:ea typeface="+mj-ea"/>
              </a:rPr>
              <a:t> </a:t>
            </a:r>
          </a:p>
        </p:txBody>
      </p:sp>
      <p:sp>
        <p:nvSpPr>
          <p:cNvPr id="288" name="TextBox 287">
            <a:extLst>
              <a:ext uri="{FF2B5EF4-FFF2-40B4-BE49-F238E27FC236}">
                <a16:creationId xmlns:a16="http://schemas.microsoft.com/office/drawing/2014/main" id="{7AF18399-56D7-42EB-A6B5-8BF90C0B2037}"/>
              </a:ext>
            </a:extLst>
          </p:cNvPr>
          <p:cNvSpPr txBox="1"/>
          <p:nvPr/>
        </p:nvSpPr>
        <p:spPr>
          <a:xfrm>
            <a:off x="10515600" y="5440679"/>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89" name="TextBox 288">
            <a:extLst>
              <a:ext uri="{FF2B5EF4-FFF2-40B4-BE49-F238E27FC236}">
                <a16:creationId xmlns:a16="http://schemas.microsoft.com/office/drawing/2014/main" id="{D1DFF20F-D994-4612-A468-25132F6A7713}"/>
              </a:ext>
            </a:extLst>
          </p:cNvPr>
          <p:cNvSpPr txBox="1"/>
          <p:nvPr/>
        </p:nvSpPr>
        <p:spPr>
          <a:xfrm>
            <a:off x="9281160" y="5449823"/>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0" name="Segment chip">
            <a:extLst>
              <a:ext uri="{FF2B5EF4-FFF2-40B4-BE49-F238E27FC236}">
                <a16:creationId xmlns:a16="http://schemas.microsoft.com/office/drawing/2014/main" id="{8D340E3D-0023-495B-A71C-3D2B423C4BFF}"/>
              </a:ext>
            </a:extLst>
          </p:cNvPr>
          <p:cNvSpPr/>
          <p:nvPr/>
        </p:nvSpPr>
        <p:spPr>
          <a:xfrm>
            <a:off x="6492240" y="5760720"/>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HBF · KV </a:t>
            </a:r>
            <a:r>
              <a:rPr sz="950" b="1" dirty="0" err="1">
                <a:solidFill>
                  <a:srgbClr val="222222"/>
                </a:solidFill>
                <a:latin typeface="+mj-ea"/>
                <a:ea typeface="+mj-ea"/>
              </a:rPr>
              <a:t>전용</a:t>
            </a:r>
            <a:r>
              <a:rPr sz="950" b="1" dirty="0">
                <a:solidFill>
                  <a:srgbClr val="222222"/>
                </a:solidFill>
                <a:latin typeface="+mj-ea"/>
                <a:ea typeface="+mj-ea"/>
              </a:rPr>
              <a:t> </a:t>
            </a:r>
            <a:r>
              <a:rPr sz="950" b="1" dirty="0" err="1">
                <a:solidFill>
                  <a:srgbClr val="222222"/>
                </a:solidFill>
                <a:latin typeface="+mj-ea"/>
                <a:ea typeface="+mj-ea"/>
              </a:rPr>
              <a:t>계층</a:t>
            </a:r>
            <a:endParaRPr sz="950" b="1" dirty="0">
              <a:solidFill>
                <a:srgbClr val="222222"/>
              </a:solidFill>
              <a:latin typeface="+mj-ea"/>
              <a:ea typeface="+mj-ea"/>
            </a:endParaRPr>
          </a:p>
        </p:txBody>
      </p:sp>
      <p:sp>
        <p:nvSpPr>
          <p:cNvPr id="291" name="TextBox 290">
            <a:extLst>
              <a:ext uri="{FF2B5EF4-FFF2-40B4-BE49-F238E27FC236}">
                <a16:creationId xmlns:a16="http://schemas.microsoft.com/office/drawing/2014/main" id="{B7C44A1C-DA37-4FAD-AC39-BDE1B9730229}"/>
              </a:ext>
            </a:extLst>
          </p:cNvPr>
          <p:cNvSpPr txBox="1"/>
          <p:nvPr/>
        </p:nvSpPr>
        <p:spPr>
          <a:xfrm>
            <a:off x="7818120" y="5760720"/>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HBM급</a:t>
            </a:r>
            <a:r>
              <a:rPr sz="850" b="0" dirty="0">
                <a:solidFill>
                  <a:srgbClr val="222222"/>
                </a:solidFill>
                <a:latin typeface="+mj-ea"/>
                <a:ea typeface="+mj-ea"/>
              </a:rPr>
              <a:t> </a:t>
            </a:r>
            <a:r>
              <a:rPr sz="850" b="0" dirty="0" err="1">
                <a:solidFill>
                  <a:srgbClr val="222222"/>
                </a:solidFill>
                <a:latin typeface="+mj-ea"/>
                <a:ea typeface="+mj-ea"/>
              </a:rPr>
              <a:t>읽기</a:t>
            </a:r>
            <a:r>
              <a:rPr sz="850" b="0" dirty="0">
                <a:solidFill>
                  <a:srgbClr val="222222"/>
                </a:solidFill>
                <a:latin typeface="+mj-ea"/>
                <a:ea typeface="+mj-ea"/>
              </a:rPr>
              <a:t> </a:t>
            </a:r>
            <a:r>
              <a:rPr sz="850" b="0" dirty="0" err="1">
                <a:solidFill>
                  <a:srgbClr val="222222"/>
                </a:solidFill>
                <a:latin typeface="+mj-ea"/>
                <a:ea typeface="+mj-ea"/>
              </a:rPr>
              <a:t>BW·용량</a:t>
            </a:r>
            <a:r>
              <a:rPr sz="850" b="0" dirty="0">
                <a:solidFill>
                  <a:srgbClr val="222222"/>
                </a:solidFill>
                <a:latin typeface="+mj-ea"/>
                <a:ea typeface="+mj-ea"/>
              </a:rPr>
              <a:t> ≈10×, SSD(CMX) </a:t>
            </a:r>
          </a:p>
        </p:txBody>
      </p:sp>
      <p:sp>
        <p:nvSpPr>
          <p:cNvPr id="292" name="TextBox 291">
            <a:extLst>
              <a:ext uri="{FF2B5EF4-FFF2-40B4-BE49-F238E27FC236}">
                <a16:creationId xmlns:a16="http://schemas.microsoft.com/office/drawing/2014/main" id="{B50A0650-1D9B-4BE5-9F2A-6FCFC51C43E5}"/>
              </a:ext>
            </a:extLst>
          </p:cNvPr>
          <p:cNvSpPr txBox="1"/>
          <p:nvPr/>
        </p:nvSpPr>
        <p:spPr>
          <a:xfrm>
            <a:off x="10515600" y="5751576"/>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93" name="TextBox 292">
            <a:extLst>
              <a:ext uri="{FF2B5EF4-FFF2-40B4-BE49-F238E27FC236}">
                <a16:creationId xmlns:a16="http://schemas.microsoft.com/office/drawing/2014/main" id="{EF822EB5-4849-4978-829A-149CBDB0DDEA}"/>
              </a:ext>
            </a:extLst>
          </p:cNvPr>
          <p:cNvSpPr txBox="1"/>
          <p:nvPr/>
        </p:nvSpPr>
        <p:spPr>
          <a:xfrm>
            <a:off x="9281160" y="5760720"/>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4" name="Text 99">
            <a:extLst>
              <a:ext uri="{FF2B5EF4-FFF2-40B4-BE49-F238E27FC236}">
                <a16:creationId xmlns:a16="http://schemas.microsoft.com/office/drawing/2014/main" id="{6BC63208-ADEC-4F19-B11C-A90016756407}"/>
              </a:ext>
            </a:extLst>
          </p:cNvPr>
          <p:cNvSpPr/>
          <p:nvPr/>
        </p:nvSpPr>
        <p:spPr>
          <a:xfrm>
            <a:off x="6130551" y="6235476"/>
            <a:ext cx="5862667" cy="454947"/>
          </a:xfrm>
          <a:prstGeom prst="rect">
            <a:avLst/>
          </a:prstGeom>
          <a:noFill/>
          <a:ln/>
        </p:spPr>
        <p:txBody>
          <a:bodyPr wrap="square" lIns="0" tIns="0" rIns="0" bIns="0" rtlCol="0" anchor="t">
            <a:noAutofit/>
          </a:bodyPr>
          <a:lstStyle/>
          <a:p>
            <a:pPr marL="0" indent="0" algn="l">
              <a:lnSpc>
                <a:spcPct val="125000"/>
              </a:lnSpc>
              <a:buNone/>
            </a:pPr>
            <a:r>
              <a:rPr lang="en-US" sz="600" dirty="0">
                <a:solidFill>
                  <a:srgbClr val="555555"/>
                </a:solidFill>
                <a:latin typeface="Noto Sans KR" pitchFamily="34" charset="0"/>
                <a:ea typeface="Noto Sans KR" pitchFamily="34" charset="-122"/>
                <a:cs typeface="Noto Sans KR" pitchFamily="34" charset="-120"/>
              </a:rPr>
              <a:t> [4] Micron(HBM TAM $16B ’24 · $35B ’25 · ≈$100B ’28E) [5] TrendForce(범용 DRAM 계약가 QoQ 전망: 1Q26 +90~95%, 2Q26 +58~63%, 3Q26E +13~18%, 4Q26E +10~15%; 누적 ≈4.0×는 구간 중앙값 곱) [6] SK hynix CES’26·Samsung OCP’26, Mordor Intelligence(CXL), Mobility Foresights(cHBM) [7] arXiv:2610.08378·2609.25782 [8] DRAMeXchange·TrendForce(DDR4 8Gb). 시장규모는 기관별 정의·범위가 달라 직접 비교 불가</a:t>
            </a:r>
            <a:endParaRPr lang="en-US" sz="600" dirty="0"/>
          </a:p>
        </p:txBody>
      </p:sp>
      <p:sp>
        <p:nvSpPr>
          <p:cNvPr id="354" name="모서리가 둥근 직사각형 116">
            <a:extLst>
              <a:ext uri="{FF2B5EF4-FFF2-40B4-BE49-F238E27FC236}">
                <a16:creationId xmlns:a16="http://schemas.microsoft.com/office/drawing/2014/main" id="{D9D1E32B-3E06-4207-A46B-A6558444A1BC}"/>
              </a:ext>
            </a:extLst>
          </p:cNvPr>
          <p:cNvSpPr/>
          <p:nvPr/>
        </p:nvSpPr>
        <p:spPr>
          <a:xfrm>
            <a:off x="386990" y="2184969"/>
            <a:ext cx="4960113" cy="1693012"/>
          </a:xfrm>
          <a:prstGeom prst="roundRect">
            <a:avLst>
              <a:gd name="adj" fmla="val 5842"/>
            </a:avLst>
          </a:prstGeom>
          <a:solidFill>
            <a:schemeClr val="bg1"/>
          </a:solidFill>
        </p:spPr>
        <p:style>
          <a:lnRef idx="0">
            <a:schemeClr val="accent5"/>
          </a:lnRef>
          <a:fillRef idx="3">
            <a:schemeClr val="accent5"/>
          </a:fillRef>
          <a:effectRef idx="3">
            <a:schemeClr val="accent5"/>
          </a:effectRef>
          <a:fontRef idx="minor">
            <a:schemeClr val="lt1"/>
          </a:fontRef>
        </p:style>
        <p:txBody>
          <a:bodyPr rtlCol="0" anchor="ctr"/>
          <a:lstStyle/>
          <a:p>
            <a:pPr marL="0" marR="0" lvl="0" indent="0" algn="ctr" defTabSz="1219170" rtl="0" eaLnBrk="1" fontAlgn="auto" latinLnBrk="1" hangingPunct="1">
              <a:lnSpc>
                <a:spcPct val="100000"/>
              </a:lnSpc>
              <a:spcBef>
                <a:spcPts val="0"/>
              </a:spcBef>
              <a:spcAft>
                <a:spcPts val="0"/>
              </a:spcAft>
              <a:buClrTx/>
              <a:buSzTx/>
              <a:buFontTx/>
              <a:buNone/>
              <a:tabLst/>
              <a:defRPr/>
            </a:pPr>
            <a:endParaRPr kumimoji="0" lang="ko-KR" altLang="en-US" sz="16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355" name="자유형 354"/>
          <p:cNvSpPr/>
          <p:nvPr/>
        </p:nvSpPr>
        <p:spPr>
          <a:xfrm rot="205096">
            <a:off x="972995" y="2676841"/>
            <a:ext cx="3979339" cy="692193"/>
          </a:xfrm>
          <a:custGeom>
            <a:avLst/>
            <a:gdLst>
              <a:gd name="connsiteX0" fmla="*/ 0 w 7688062"/>
              <a:gd name="connsiteY0" fmla="*/ 1510998 h 1510998"/>
              <a:gd name="connsiteX1" fmla="*/ 4403324 w 7688062"/>
              <a:gd name="connsiteY1" fmla="*/ 241491 h 1510998"/>
              <a:gd name="connsiteX2" fmla="*/ 7688062 w 7688062"/>
              <a:gd name="connsiteY2" fmla="*/ 1794 h 1510998"/>
            </a:gdLst>
            <a:ahLst/>
            <a:cxnLst>
              <a:cxn ang="0">
                <a:pos x="connsiteX0" y="connsiteY0"/>
              </a:cxn>
              <a:cxn ang="0">
                <a:pos x="connsiteX1" y="connsiteY1"/>
              </a:cxn>
              <a:cxn ang="0">
                <a:pos x="connsiteX2" y="connsiteY2"/>
              </a:cxn>
            </a:cxnLst>
            <a:rect l="l" t="t" r="r" b="b"/>
            <a:pathLst>
              <a:path w="7688062" h="1510998">
                <a:moveTo>
                  <a:pt x="0" y="1510998"/>
                </a:moveTo>
                <a:cubicBezTo>
                  <a:pt x="1560990" y="1002011"/>
                  <a:pt x="3121980" y="493025"/>
                  <a:pt x="4403324" y="241491"/>
                </a:cubicBezTo>
                <a:cubicBezTo>
                  <a:pt x="5684668" y="-10043"/>
                  <a:pt x="6686365" y="-4125"/>
                  <a:pt x="7688062" y="1794"/>
                </a:cubicBezTo>
              </a:path>
            </a:pathLst>
          </a:custGeom>
          <a:noFill/>
          <a:ln w="635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56" name="직사각형 355"/>
          <p:cNvSpPr/>
          <p:nvPr/>
        </p:nvSpPr>
        <p:spPr>
          <a:xfrm>
            <a:off x="3498060" y="3741519"/>
            <a:ext cx="1813978" cy="169277"/>
          </a:xfrm>
          <a:prstGeom prst="rect">
            <a:avLst/>
          </a:prstGeom>
        </p:spPr>
        <p:txBody>
          <a:bodyPr wrap="square">
            <a:spAutoFit/>
          </a:bodyPr>
          <a:lstStyle/>
          <a:p>
            <a:r>
              <a:rPr lang="en-US" altLang="ko-KR" sz="500" dirty="0"/>
              <a:t>DRAM </a:t>
            </a:r>
            <a:r>
              <a:rPr lang="ko-KR" altLang="en-US" sz="500" dirty="0"/>
              <a:t>및 </a:t>
            </a:r>
            <a:r>
              <a:rPr lang="en-US" altLang="ko-KR" sz="500" dirty="0"/>
              <a:t>NAND </a:t>
            </a:r>
            <a:r>
              <a:rPr lang="ko-KR" altLang="en-US" sz="500" dirty="0"/>
              <a:t>데이터 </a:t>
            </a:r>
            <a:r>
              <a:rPr lang="en-US" altLang="ko-KR" sz="500" dirty="0"/>
              <a:t>- Gartner Forecast </a:t>
            </a:r>
            <a:r>
              <a:rPr lang="ko-KR" altLang="en-US" sz="500" dirty="0"/>
              <a:t>문서 참고</a:t>
            </a:r>
          </a:p>
        </p:txBody>
      </p:sp>
      <p:cxnSp>
        <p:nvCxnSpPr>
          <p:cNvPr id="357" name="직선 연결선 356"/>
          <p:cNvCxnSpPr/>
          <p:nvPr/>
        </p:nvCxnSpPr>
        <p:spPr>
          <a:xfrm>
            <a:off x="715159" y="3088228"/>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직선 연결선 357"/>
          <p:cNvCxnSpPr/>
          <p:nvPr/>
        </p:nvCxnSpPr>
        <p:spPr>
          <a:xfrm>
            <a:off x="715159" y="3263493"/>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직선 연결선 358"/>
          <p:cNvCxnSpPr/>
          <p:nvPr/>
        </p:nvCxnSpPr>
        <p:spPr>
          <a:xfrm flipV="1">
            <a:off x="715159" y="3436301"/>
            <a:ext cx="4267092" cy="2456"/>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직선 연결선 359"/>
          <p:cNvCxnSpPr/>
          <p:nvPr/>
        </p:nvCxnSpPr>
        <p:spPr>
          <a:xfrm>
            <a:off x="715159" y="3614023"/>
            <a:ext cx="4267092" cy="0"/>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직선 연결선 360"/>
          <p:cNvCxnSpPr/>
          <p:nvPr/>
        </p:nvCxnSpPr>
        <p:spPr>
          <a:xfrm>
            <a:off x="744617" y="2471136"/>
            <a:ext cx="0" cy="1142887"/>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직선 연결선 361"/>
          <p:cNvCxnSpPr/>
          <p:nvPr/>
        </p:nvCxnSpPr>
        <p:spPr>
          <a:xfrm>
            <a:off x="1275315"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직선 연결선 362"/>
          <p:cNvCxnSpPr/>
          <p:nvPr/>
        </p:nvCxnSpPr>
        <p:spPr>
          <a:xfrm>
            <a:off x="1806042"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직선 연결선 363"/>
          <p:cNvCxnSpPr/>
          <p:nvPr/>
        </p:nvCxnSpPr>
        <p:spPr>
          <a:xfrm>
            <a:off x="2338255"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직선 연결선 364"/>
          <p:cNvCxnSpPr/>
          <p:nvPr/>
        </p:nvCxnSpPr>
        <p:spPr>
          <a:xfrm>
            <a:off x="2864813"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직선 연결선 365"/>
          <p:cNvCxnSpPr/>
          <p:nvPr/>
        </p:nvCxnSpPr>
        <p:spPr>
          <a:xfrm>
            <a:off x="3395977"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직선 연결선 366"/>
          <p:cNvCxnSpPr/>
          <p:nvPr/>
        </p:nvCxnSpPr>
        <p:spPr>
          <a:xfrm>
            <a:off x="3926051"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직선 연결선 367"/>
          <p:cNvCxnSpPr/>
          <p:nvPr/>
        </p:nvCxnSpPr>
        <p:spPr>
          <a:xfrm>
            <a:off x="4454110"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9" name="TextBox 368"/>
          <p:cNvSpPr txBox="1"/>
          <p:nvPr/>
        </p:nvSpPr>
        <p:spPr>
          <a:xfrm>
            <a:off x="877544" y="3602658"/>
            <a:ext cx="377302" cy="203878"/>
          </a:xfrm>
          <a:prstGeom prst="rect">
            <a:avLst/>
          </a:prstGeom>
          <a:noFill/>
        </p:spPr>
        <p:txBody>
          <a:bodyPr wrap="none" rtlCol="0">
            <a:spAutoFit/>
          </a:bodyPr>
          <a:lstStyle/>
          <a:p>
            <a:r>
              <a:rPr lang="en-US" altLang="ko-KR" sz="600" b="1" dirty="0"/>
              <a:t>2023</a:t>
            </a:r>
            <a:endParaRPr lang="ko-KR" altLang="en-US" sz="600" b="1" dirty="0"/>
          </a:p>
        </p:txBody>
      </p:sp>
      <p:sp>
        <p:nvSpPr>
          <p:cNvPr id="370" name="TextBox 369"/>
          <p:cNvSpPr txBox="1"/>
          <p:nvPr/>
        </p:nvSpPr>
        <p:spPr>
          <a:xfrm>
            <a:off x="1408257" y="3602658"/>
            <a:ext cx="377302" cy="203878"/>
          </a:xfrm>
          <a:prstGeom prst="rect">
            <a:avLst/>
          </a:prstGeom>
          <a:noFill/>
        </p:spPr>
        <p:txBody>
          <a:bodyPr wrap="none" rtlCol="0">
            <a:spAutoFit/>
          </a:bodyPr>
          <a:lstStyle/>
          <a:p>
            <a:r>
              <a:rPr lang="en-US" altLang="ko-KR" sz="600" b="1" dirty="0"/>
              <a:t>2024</a:t>
            </a:r>
            <a:endParaRPr lang="ko-KR" altLang="en-US" sz="600" b="1" dirty="0"/>
          </a:p>
        </p:txBody>
      </p:sp>
      <p:sp>
        <p:nvSpPr>
          <p:cNvPr id="371" name="TextBox 370"/>
          <p:cNvSpPr txBox="1"/>
          <p:nvPr/>
        </p:nvSpPr>
        <p:spPr>
          <a:xfrm>
            <a:off x="1939726" y="3602658"/>
            <a:ext cx="377302" cy="203878"/>
          </a:xfrm>
          <a:prstGeom prst="rect">
            <a:avLst/>
          </a:prstGeom>
          <a:noFill/>
        </p:spPr>
        <p:txBody>
          <a:bodyPr wrap="none" rtlCol="0">
            <a:spAutoFit/>
          </a:bodyPr>
          <a:lstStyle/>
          <a:p>
            <a:r>
              <a:rPr lang="en-US" altLang="ko-KR" sz="600" b="1" dirty="0"/>
              <a:t>2025</a:t>
            </a:r>
            <a:endParaRPr lang="ko-KR" altLang="en-US" sz="600" b="1" dirty="0"/>
          </a:p>
        </p:txBody>
      </p:sp>
      <p:sp>
        <p:nvSpPr>
          <p:cNvPr id="372" name="TextBox 371"/>
          <p:cNvSpPr txBox="1"/>
          <p:nvPr/>
        </p:nvSpPr>
        <p:spPr>
          <a:xfrm>
            <a:off x="2469112" y="3602658"/>
            <a:ext cx="377302" cy="203878"/>
          </a:xfrm>
          <a:prstGeom prst="rect">
            <a:avLst/>
          </a:prstGeom>
          <a:noFill/>
        </p:spPr>
        <p:txBody>
          <a:bodyPr wrap="none" rtlCol="0">
            <a:spAutoFit/>
          </a:bodyPr>
          <a:lstStyle/>
          <a:p>
            <a:r>
              <a:rPr lang="en-US" altLang="ko-KR" sz="600" b="1" dirty="0"/>
              <a:t>2026</a:t>
            </a:r>
            <a:endParaRPr lang="ko-KR" altLang="en-US" sz="600" b="1" dirty="0"/>
          </a:p>
        </p:txBody>
      </p:sp>
      <p:sp>
        <p:nvSpPr>
          <p:cNvPr id="373" name="TextBox 372"/>
          <p:cNvSpPr txBox="1"/>
          <p:nvPr/>
        </p:nvSpPr>
        <p:spPr>
          <a:xfrm>
            <a:off x="2997973" y="3602658"/>
            <a:ext cx="377302" cy="203878"/>
          </a:xfrm>
          <a:prstGeom prst="rect">
            <a:avLst/>
          </a:prstGeom>
          <a:noFill/>
        </p:spPr>
        <p:txBody>
          <a:bodyPr wrap="none" rtlCol="0">
            <a:spAutoFit/>
          </a:bodyPr>
          <a:lstStyle/>
          <a:p>
            <a:r>
              <a:rPr lang="en-US" altLang="ko-KR" sz="600" b="1" dirty="0"/>
              <a:t>2027</a:t>
            </a:r>
            <a:endParaRPr lang="ko-KR" altLang="en-US" sz="600" b="1" dirty="0"/>
          </a:p>
        </p:txBody>
      </p:sp>
      <p:sp>
        <p:nvSpPr>
          <p:cNvPr id="374" name="TextBox 373"/>
          <p:cNvSpPr txBox="1"/>
          <p:nvPr/>
        </p:nvSpPr>
        <p:spPr>
          <a:xfrm>
            <a:off x="3528847" y="3602658"/>
            <a:ext cx="377302" cy="203878"/>
          </a:xfrm>
          <a:prstGeom prst="rect">
            <a:avLst/>
          </a:prstGeom>
          <a:noFill/>
        </p:spPr>
        <p:txBody>
          <a:bodyPr wrap="none" rtlCol="0">
            <a:spAutoFit/>
          </a:bodyPr>
          <a:lstStyle/>
          <a:p>
            <a:r>
              <a:rPr lang="en-US" altLang="ko-KR" sz="600" b="1" dirty="0"/>
              <a:t>2028</a:t>
            </a:r>
            <a:endParaRPr lang="ko-KR" altLang="en-US" sz="600" b="1" dirty="0"/>
          </a:p>
        </p:txBody>
      </p:sp>
      <p:sp>
        <p:nvSpPr>
          <p:cNvPr id="375" name="TextBox 374"/>
          <p:cNvSpPr txBox="1"/>
          <p:nvPr/>
        </p:nvSpPr>
        <p:spPr>
          <a:xfrm>
            <a:off x="4057658" y="3602658"/>
            <a:ext cx="377302" cy="203878"/>
          </a:xfrm>
          <a:prstGeom prst="rect">
            <a:avLst/>
          </a:prstGeom>
          <a:noFill/>
        </p:spPr>
        <p:txBody>
          <a:bodyPr wrap="none" rtlCol="0">
            <a:spAutoFit/>
          </a:bodyPr>
          <a:lstStyle/>
          <a:p>
            <a:r>
              <a:rPr lang="en-US" altLang="ko-KR" sz="600" b="1" dirty="0"/>
              <a:t>2029</a:t>
            </a:r>
            <a:endParaRPr lang="ko-KR" altLang="en-US" sz="600" b="1" dirty="0"/>
          </a:p>
        </p:txBody>
      </p:sp>
      <p:sp>
        <p:nvSpPr>
          <p:cNvPr id="376" name="TextBox 375"/>
          <p:cNvSpPr txBox="1"/>
          <p:nvPr/>
        </p:nvSpPr>
        <p:spPr>
          <a:xfrm>
            <a:off x="4587168" y="3602658"/>
            <a:ext cx="377302" cy="203878"/>
          </a:xfrm>
          <a:prstGeom prst="rect">
            <a:avLst/>
          </a:prstGeom>
          <a:noFill/>
        </p:spPr>
        <p:txBody>
          <a:bodyPr wrap="none" rtlCol="0">
            <a:spAutoFit/>
          </a:bodyPr>
          <a:lstStyle/>
          <a:p>
            <a:r>
              <a:rPr lang="en-US" altLang="ko-KR" sz="600" b="1" dirty="0"/>
              <a:t>2030</a:t>
            </a:r>
            <a:endParaRPr lang="ko-KR" altLang="en-US" sz="600" b="1" dirty="0"/>
          </a:p>
        </p:txBody>
      </p:sp>
      <p:sp>
        <p:nvSpPr>
          <p:cNvPr id="377" name="TextBox 376"/>
          <p:cNvSpPr txBox="1"/>
          <p:nvPr/>
        </p:nvSpPr>
        <p:spPr>
          <a:xfrm flipV="1">
            <a:off x="354494" y="2792336"/>
            <a:ext cx="276999" cy="555600"/>
          </a:xfrm>
          <a:prstGeom prst="rect">
            <a:avLst/>
          </a:prstGeom>
          <a:noFill/>
        </p:spPr>
        <p:txBody>
          <a:bodyPr vert="eaVert" wrap="none" rtlCol="0">
            <a:spAutoFit/>
          </a:bodyPr>
          <a:lstStyle/>
          <a:p>
            <a:r>
              <a:rPr lang="en-US" altLang="ko-KR" sz="600" dirty="0" err="1">
                <a:solidFill>
                  <a:schemeClr val="accent1">
                    <a:lumMod val="75000"/>
                  </a:schemeClr>
                </a:solidFill>
              </a:rPr>
              <a:t>Exabytes</a:t>
            </a:r>
            <a:r>
              <a:rPr lang="en-US" altLang="ko-KR" sz="600" dirty="0">
                <a:solidFill>
                  <a:schemeClr val="accent1">
                    <a:lumMod val="75000"/>
                  </a:schemeClr>
                </a:solidFill>
              </a:rPr>
              <a:t> (EB)</a:t>
            </a:r>
            <a:endParaRPr lang="ko-KR" altLang="en-US" sz="600" dirty="0">
              <a:solidFill>
                <a:schemeClr val="accent1">
                  <a:lumMod val="75000"/>
                </a:schemeClr>
              </a:solidFill>
            </a:endParaRPr>
          </a:p>
        </p:txBody>
      </p:sp>
      <p:sp>
        <p:nvSpPr>
          <p:cNvPr id="378" name="TextBox 377"/>
          <p:cNvSpPr txBox="1"/>
          <p:nvPr/>
        </p:nvSpPr>
        <p:spPr>
          <a:xfrm>
            <a:off x="431432" y="2504990"/>
            <a:ext cx="320839" cy="203878"/>
          </a:xfrm>
          <a:prstGeom prst="rect">
            <a:avLst/>
          </a:prstGeom>
          <a:noFill/>
        </p:spPr>
        <p:txBody>
          <a:bodyPr wrap="none" rtlCol="0">
            <a:spAutoFit/>
          </a:bodyPr>
          <a:lstStyle/>
          <a:p>
            <a:pPr algn="r"/>
            <a:r>
              <a:rPr lang="en-US" altLang="ko-KR" sz="600" dirty="0">
                <a:solidFill>
                  <a:schemeClr val="accent1">
                    <a:lumMod val="75000"/>
                  </a:schemeClr>
                </a:solidFill>
              </a:rPr>
              <a:t>120</a:t>
            </a:r>
            <a:endParaRPr lang="ko-KR" altLang="en-US" sz="600" dirty="0">
              <a:solidFill>
                <a:schemeClr val="accent1">
                  <a:lumMod val="75000"/>
                </a:schemeClr>
              </a:solidFill>
            </a:endParaRPr>
          </a:p>
        </p:txBody>
      </p:sp>
      <p:sp>
        <p:nvSpPr>
          <p:cNvPr id="379" name="TextBox 378"/>
          <p:cNvSpPr txBox="1"/>
          <p:nvPr/>
        </p:nvSpPr>
        <p:spPr>
          <a:xfrm>
            <a:off x="431432" y="2686591"/>
            <a:ext cx="320839" cy="203878"/>
          </a:xfrm>
          <a:prstGeom prst="rect">
            <a:avLst/>
          </a:prstGeom>
          <a:noFill/>
        </p:spPr>
        <p:txBody>
          <a:bodyPr wrap="none" rtlCol="0">
            <a:spAutoFit/>
          </a:bodyPr>
          <a:lstStyle/>
          <a:p>
            <a:pPr algn="r"/>
            <a:r>
              <a:rPr lang="en-US" altLang="ko-KR" sz="600" dirty="0">
                <a:solidFill>
                  <a:schemeClr val="accent1">
                    <a:lumMod val="75000"/>
                  </a:schemeClr>
                </a:solidFill>
              </a:rPr>
              <a:t>100</a:t>
            </a:r>
            <a:endParaRPr lang="ko-KR" altLang="en-US" sz="600" dirty="0">
              <a:solidFill>
                <a:schemeClr val="accent1">
                  <a:lumMod val="75000"/>
                </a:schemeClr>
              </a:solidFill>
            </a:endParaRPr>
          </a:p>
        </p:txBody>
      </p:sp>
      <p:sp>
        <p:nvSpPr>
          <p:cNvPr id="380" name="TextBox 379"/>
          <p:cNvSpPr txBox="1"/>
          <p:nvPr/>
        </p:nvSpPr>
        <p:spPr>
          <a:xfrm>
            <a:off x="474609" y="2860090"/>
            <a:ext cx="277662" cy="203878"/>
          </a:xfrm>
          <a:prstGeom prst="rect">
            <a:avLst/>
          </a:prstGeom>
          <a:noFill/>
        </p:spPr>
        <p:txBody>
          <a:bodyPr wrap="none" rtlCol="0">
            <a:spAutoFit/>
          </a:bodyPr>
          <a:lstStyle/>
          <a:p>
            <a:pPr algn="r"/>
            <a:r>
              <a:rPr lang="en-US" altLang="ko-KR" sz="600" dirty="0">
                <a:solidFill>
                  <a:schemeClr val="accent1">
                    <a:lumMod val="75000"/>
                  </a:schemeClr>
                </a:solidFill>
              </a:rPr>
              <a:t>80</a:t>
            </a:r>
            <a:endParaRPr lang="ko-KR" altLang="en-US" sz="600" dirty="0">
              <a:solidFill>
                <a:schemeClr val="accent1">
                  <a:lumMod val="75000"/>
                </a:schemeClr>
              </a:solidFill>
            </a:endParaRPr>
          </a:p>
        </p:txBody>
      </p:sp>
      <p:sp>
        <p:nvSpPr>
          <p:cNvPr id="381" name="TextBox 380"/>
          <p:cNvSpPr txBox="1"/>
          <p:nvPr/>
        </p:nvSpPr>
        <p:spPr>
          <a:xfrm>
            <a:off x="474608" y="3033590"/>
            <a:ext cx="277662" cy="203878"/>
          </a:xfrm>
          <a:prstGeom prst="rect">
            <a:avLst/>
          </a:prstGeom>
          <a:noFill/>
        </p:spPr>
        <p:txBody>
          <a:bodyPr wrap="none" rtlCol="0">
            <a:spAutoFit/>
          </a:bodyPr>
          <a:lstStyle/>
          <a:p>
            <a:pPr algn="r"/>
            <a:r>
              <a:rPr lang="en-US" altLang="ko-KR" sz="600" dirty="0">
                <a:solidFill>
                  <a:schemeClr val="accent1">
                    <a:lumMod val="75000"/>
                  </a:schemeClr>
                </a:solidFill>
              </a:rPr>
              <a:t>60</a:t>
            </a:r>
            <a:endParaRPr lang="ko-KR" altLang="en-US" sz="600" dirty="0">
              <a:solidFill>
                <a:schemeClr val="accent1">
                  <a:lumMod val="75000"/>
                </a:schemeClr>
              </a:solidFill>
            </a:endParaRPr>
          </a:p>
        </p:txBody>
      </p:sp>
      <p:sp>
        <p:nvSpPr>
          <p:cNvPr id="382" name="TextBox 381"/>
          <p:cNvSpPr txBox="1"/>
          <p:nvPr/>
        </p:nvSpPr>
        <p:spPr>
          <a:xfrm>
            <a:off x="474609" y="3210621"/>
            <a:ext cx="277662" cy="203878"/>
          </a:xfrm>
          <a:prstGeom prst="rect">
            <a:avLst/>
          </a:prstGeom>
          <a:noFill/>
        </p:spPr>
        <p:txBody>
          <a:bodyPr wrap="none" rtlCol="0">
            <a:spAutoFit/>
          </a:bodyPr>
          <a:lstStyle/>
          <a:p>
            <a:pPr algn="r"/>
            <a:r>
              <a:rPr lang="en-US" altLang="ko-KR" sz="600" dirty="0">
                <a:solidFill>
                  <a:schemeClr val="accent1">
                    <a:lumMod val="75000"/>
                  </a:schemeClr>
                </a:solidFill>
              </a:rPr>
              <a:t>40</a:t>
            </a:r>
            <a:endParaRPr lang="ko-KR" altLang="en-US" sz="600" dirty="0">
              <a:solidFill>
                <a:schemeClr val="accent1">
                  <a:lumMod val="75000"/>
                </a:schemeClr>
              </a:solidFill>
            </a:endParaRPr>
          </a:p>
        </p:txBody>
      </p:sp>
      <p:sp>
        <p:nvSpPr>
          <p:cNvPr id="383" name="TextBox 382"/>
          <p:cNvSpPr txBox="1"/>
          <p:nvPr/>
        </p:nvSpPr>
        <p:spPr>
          <a:xfrm>
            <a:off x="474609" y="3387674"/>
            <a:ext cx="277662" cy="203878"/>
          </a:xfrm>
          <a:prstGeom prst="rect">
            <a:avLst/>
          </a:prstGeom>
          <a:noFill/>
        </p:spPr>
        <p:txBody>
          <a:bodyPr wrap="none" rtlCol="0">
            <a:spAutoFit/>
          </a:bodyPr>
          <a:lstStyle/>
          <a:p>
            <a:pPr algn="r"/>
            <a:r>
              <a:rPr lang="en-US" altLang="ko-KR" sz="600" dirty="0">
                <a:solidFill>
                  <a:schemeClr val="accent1">
                    <a:lumMod val="75000"/>
                  </a:schemeClr>
                </a:solidFill>
              </a:rPr>
              <a:t>20</a:t>
            </a:r>
            <a:endParaRPr lang="ko-KR" altLang="en-US" sz="600" dirty="0">
              <a:solidFill>
                <a:schemeClr val="accent1">
                  <a:lumMod val="75000"/>
                </a:schemeClr>
              </a:solidFill>
            </a:endParaRPr>
          </a:p>
        </p:txBody>
      </p:sp>
      <p:sp>
        <p:nvSpPr>
          <p:cNvPr id="384" name="직사각형 383"/>
          <p:cNvSpPr/>
          <p:nvPr/>
        </p:nvSpPr>
        <p:spPr>
          <a:xfrm>
            <a:off x="817985" y="3366179"/>
            <a:ext cx="189662" cy="24784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85" name="직사각형 384"/>
          <p:cNvSpPr/>
          <p:nvPr/>
        </p:nvSpPr>
        <p:spPr>
          <a:xfrm>
            <a:off x="1012286" y="3217471"/>
            <a:ext cx="189662" cy="396553"/>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86" name="직사각형 385"/>
          <p:cNvSpPr/>
          <p:nvPr/>
        </p:nvSpPr>
        <p:spPr>
          <a:xfrm>
            <a:off x="1348683" y="3346543"/>
            <a:ext cx="189662" cy="2674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87" name="직사각형 386"/>
          <p:cNvSpPr/>
          <p:nvPr/>
        </p:nvSpPr>
        <p:spPr>
          <a:xfrm>
            <a:off x="1543013" y="3192732"/>
            <a:ext cx="189662" cy="42129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88" name="직사각형 387"/>
          <p:cNvSpPr/>
          <p:nvPr/>
        </p:nvSpPr>
        <p:spPr>
          <a:xfrm>
            <a:off x="1879410" y="3275637"/>
            <a:ext cx="189662" cy="338385"/>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89" name="직사각형 388"/>
          <p:cNvSpPr/>
          <p:nvPr/>
        </p:nvSpPr>
        <p:spPr>
          <a:xfrm>
            <a:off x="2075225" y="3137220"/>
            <a:ext cx="189662" cy="476802"/>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0" name="직사각형 389"/>
          <p:cNvSpPr/>
          <p:nvPr/>
        </p:nvSpPr>
        <p:spPr>
          <a:xfrm>
            <a:off x="2411623" y="3230549"/>
            <a:ext cx="189662" cy="38347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1" name="직사각형 390"/>
          <p:cNvSpPr/>
          <p:nvPr/>
        </p:nvSpPr>
        <p:spPr>
          <a:xfrm>
            <a:off x="2601784" y="3058242"/>
            <a:ext cx="189662" cy="55578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2" name="직사각형 391"/>
          <p:cNvSpPr/>
          <p:nvPr/>
        </p:nvSpPr>
        <p:spPr>
          <a:xfrm>
            <a:off x="2938181" y="3175955"/>
            <a:ext cx="189662" cy="438067"/>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3" name="직사각형 392"/>
          <p:cNvSpPr/>
          <p:nvPr/>
        </p:nvSpPr>
        <p:spPr>
          <a:xfrm>
            <a:off x="3132948" y="3016013"/>
            <a:ext cx="189662" cy="59801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4" name="직사각형 393"/>
          <p:cNvSpPr/>
          <p:nvPr/>
        </p:nvSpPr>
        <p:spPr>
          <a:xfrm>
            <a:off x="3469600" y="3115645"/>
            <a:ext cx="189662" cy="49837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5" name="직사각형 394"/>
          <p:cNvSpPr/>
          <p:nvPr/>
        </p:nvSpPr>
        <p:spPr>
          <a:xfrm>
            <a:off x="3663276" y="2987763"/>
            <a:ext cx="189662" cy="62626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6" name="직사각형 395"/>
          <p:cNvSpPr/>
          <p:nvPr/>
        </p:nvSpPr>
        <p:spPr>
          <a:xfrm>
            <a:off x="3999418" y="3075097"/>
            <a:ext cx="189662" cy="538926"/>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7" name="직사각형 396"/>
          <p:cNvSpPr/>
          <p:nvPr/>
        </p:nvSpPr>
        <p:spPr>
          <a:xfrm>
            <a:off x="4191080" y="2892811"/>
            <a:ext cx="189662" cy="72121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8" name="직사각형 397"/>
          <p:cNvSpPr/>
          <p:nvPr/>
        </p:nvSpPr>
        <p:spPr>
          <a:xfrm>
            <a:off x="4527477" y="3037143"/>
            <a:ext cx="189662" cy="5768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9" name="직사각형 398"/>
          <p:cNvSpPr/>
          <p:nvPr/>
        </p:nvSpPr>
        <p:spPr>
          <a:xfrm>
            <a:off x="4722042" y="2864665"/>
            <a:ext cx="189663" cy="749358"/>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cxnSp>
        <p:nvCxnSpPr>
          <p:cNvPr id="400" name="직선 화살표 연결선 399"/>
          <p:cNvCxnSpPr/>
          <p:nvPr/>
        </p:nvCxnSpPr>
        <p:spPr>
          <a:xfrm flipH="1">
            <a:off x="744191" y="3408658"/>
            <a:ext cx="132202"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01" name="직선 연결선 400"/>
          <p:cNvCxnSpPr/>
          <p:nvPr/>
        </p:nvCxnSpPr>
        <p:spPr>
          <a:xfrm>
            <a:off x="4985071"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02" name="TextBox 401"/>
          <p:cNvSpPr txBox="1"/>
          <p:nvPr/>
        </p:nvSpPr>
        <p:spPr>
          <a:xfrm>
            <a:off x="4959147" y="2861873"/>
            <a:ext cx="295930" cy="203878"/>
          </a:xfrm>
          <a:prstGeom prst="rect">
            <a:avLst/>
          </a:prstGeom>
          <a:noFill/>
        </p:spPr>
        <p:txBody>
          <a:bodyPr wrap="none" rtlCol="0">
            <a:spAutoFit/>
          </a:bodyPr>
          <a:lstStyle/>
          <a:p>
            <a:r>
              <a:rPr lang="en-US" altLang="ko-KR" sz="600" dirty="0">
                <a:solidFill>
                  <a:schemeClr val="accent6">
                    <a:lumMod val="75000"/>
                  </a:schemeClr>
                </a:solidFill>
              </a:rPr>
              <a:t>1.6</a:t>
            </a:r>
            <a:endParaRPr lang="ko-KR" altLang="en-US" sz="600" dirty="0">
              <a:solidFill>
                <a:schemeClr val="accent6">
                  <a:lumMod val="75000"/>
                </a:schemeClr>
              </a:solidFill>
            </a:endParaRPr>
          </a:p>
        </p:txBody>
      </p:sp>
      <p:sp>
        <p:nvSpPr>
          <p:cNvPr id="403" name="TextBox 402"/>
          <p:cNvSpPr txBox="1"/>
          <p:nvPr/>
        </p:nvSpPr>
        <p:spPr>
          <a:xfrm>
            <a:off x="4959147" y="3031475"/>
            <a:ext cx="295930" cy="203878"/>
          </a:xfrm>
          <a:prstGeom prst="rect">
            <a:avLst/>
          </a:prstGeom>
          <a:noFill/>
        </p:spPr>
        <p:txBody>
          <a:bodyPr wrap="none" rtlCol="0">
            <a:spAutoFit/>
          </a:bodyPr>
          <a:lstStyle/>
          <a:p>
            <a:r>
              <a:rPr lang="en-US" altLang="ko-KR" sz="600" dirty="0">
                <a:solidFill>
                  <a:schemeClr val="accent6">
                    <a:lumMod val="75000"/>
                  </a:schemeClr>
                </a:solidFill>
              </a:rPr>
              <a:t>1.2</a:t>
            </a:r>
            <a:endParaRPr lang="ko-KR" altLang="en-US" sz="600" dirty="0">
              <a:solidFill>
                <a:schemeClr val="accent6">
                  <a:lumMod val="75000"/>
                </a:schemeClr>
              </a:solidFill>
            </a:endParaRPr>
          </a:p>
        </p:txBody>
      </p:sp>
      <p:sp>
        <p:nvSpPr>
          <p:cNvPr id="404" name="TextBox 403"/>
          <p:cNvSpPr txBox="1"/>
          <p:nvPr/>
        </p:nvSpPr>
        <p:spPr>
          <a:xfrm>
            <a:off x="4959147" y="3209715"/>
            <a:ext cx="295930" cy="203878"/>
          </a:xfrm>
          <a:prstGeom prst="rect">
            <a:avLst/>
          </a:prstGeom>
          <a:noFill/>
        </p:spPr>
        <p:txBody>
          <a:bodyPr wrap="none" rtlCol="0">
            <a:spAutoFit/>
          </a:bodyPr>
          <a:lstStyle/>
          <a:p>
            <a:r>
              <a:rPr lang="en-US" altLang="ko-KR" sz="600" dirty="0">
                <a:solidFill>
                  <a:schemeClr val="accent6">
                    <a:lumMod val="75000"/>
                  </a:schemeClr>
                </a:solidFill>
              </a:rPr>
              <a:t>0.8</a:t>
            </a:r>
            <a:endParaRPr lang="ko-KR" altLang="en-US" sz="600" dirty="0">
              <a:solidFill>
                <a:schemeClr val="accent6">
                  <a:lumMod val="75000"/>
                </a:schemeClr>
              </a:solidFill>
            </a:endParaRPr>
          </a:p>
        </p:txBody>
      </p:sp>
      <p:sp>
        <p:nvSpPr>
          <p:cNvPr id="405" name="TextBox 404"/>
          <p:cNvSpPr txBox="1"/>
          <p:nvPr/>
        </p:nvSpPr>
        <p:spPr>
          <a:xfrm>
            <a:off x="4959147" y="3383428"/>
            <a:ext cx="295930" cy="203878"/>
          </a:xfrm>
          <a:prstGeom prst="rect">
            <a:avLst/>
          </a:prstGeom>
          <a:noFill/>
        </p:spPr>
        <p:txBody>
          <a:bodyPr wrap="none" rtlCol="0">
            <a:spAutoFit/>
          </a:bodyPr>
          <a:lstStyle/>
          <a:p>
            <a:r>
              <a:rPr lang="en-US" altLang="ko-KR" sz="600" dirty="0">
                <a:solidFill>
                  <a:schemeClr val="accent6">
                    <a:lumMod val="75000"/>
                  </a:schemeClr>
                </a:solidFill>
              </a:rPr>
              <a:t>0.4</a:t>
            </a:r>
            <a:endParaRPr lang="ko-KR" altLang="en-US" sz="600" dirty="0">
              <a:solidFill>
                <a:schemeClr val="accent6">
                  <a:lumMod val="75000"/>
                </a:schemeClr>
              </a:solidFill>
            </a:endParaRPr>
          </a:p>
        </p:txBody>
      </p:sp>
      <p:sp>
        <p:nvSpPr>
          <p:cNvPr id="406" name="TextBox 405"/>
          <p:cNvSpPr txBox="1"/>
          <p:nvPr/>
        </p:nvSpPr>
        <p:spPr>
          <a:xfrm>
            <a:off x="5111050" y="2762030"/>
            <a:ext cx="276999" cy="626133"/>
          </a:xfrm>
          <a:prstGeom prst="rect">
            <a:avLst/>
          </a:prstGeom>
          <a:noFill/>
        </p:spPr>
        <p:txBody>
          <a:bodyPr vert="eaVert" wrap="none" rtlCol="0">
            <a:spAutoFit/>
          </a:bodyPr>
          <a:lstStyle/>
          <a:p>
            <a:r>
              <a:rPr lang="en-US" altLang="ko-KR" sz="600" dirty="0">
                <a:solidFill>
                  <a:schemeClr val="accent6">
                    <a:lumMod val="75000"/>
                  </a:schemeClr>
                </a:solidFill>
              </a:rPr>
              <a:t>Zettabytes (ZB)</a:t>
            </a:r>
            <a:endParaRPr lang="ko-KR" altLang="en-US" sz="600" dirty="0">
              <a:solidFill>
                <a:schemeClr val="accent6">
                  <a:lumMod val="75000"/>
                </a:schemeClr>
              </a:solidFill>
            </a:endParaRPr>
          </a:p>
        </p:txBody>
      </p:sp>
      <p:cxnSp>
        <p:nvCxnSpPr>
          <p:cNvPr id="407" name="직선 연결선 406"/>
          <p:cNvCxnSpPr/>
          <p:nvPr/>
        </p:nvCxnSpPr>
        <p:spPr>
          <a:xfrm>
            <a:off x="715159" y="2562435"/>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직선 연결선 407"/>
          <p:cNvCxnSpPr/>
          <p:nvPr/>
        </p:nvCxnSpPr>
        <p:spPr>
          <a:xfrm>
            <a:off x="715159" y="2737699"/>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직선 연결선 408"/>
          <p:cNvCxnSpPr/>
          <p:nvPr/>
        </p:nvCxnSpPr>
        <p:spPr>
          <a:xfrm>
            <a:off x="715159" y="2912964"/>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0" name="타원 409"/>
          <p:cNvSpPr/>
          <p:nvPr/>
        </p:nvSpPr>
        <p:spPr>
          <a:xfrm flipH="1">
            <a:off x="991333" y="2873536"/>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1" name="타원 410"/>
          <p:cNvSpPr/>
          <p:nvPr/>
        </p:nvSpPr>
        <p:spPr>
          <a:xfrm flipH="1">
            <a:off x="1522045" y="2869125"/>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2" name="타원 411"/>
          <p:cNvSpPr/>
          <p:nvPr/>
        </p:nvSpPr>
        <p:spPr>
          <a:xfrm flipH="1">
            <a:off x="2582651" y="2748411"/>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3" name="타원 412"/>
          <p:cNvSpPr/>
          <p:nvPr/>
        </p:nvSpPr>
        <p:spPr>
          <a:xfrm flipH="1">
            <a:off x="3111762" y="2683733"/>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4" name="타원 413"/>
          <p:cNvSpPr/>
          <p:nvPr/>
        </p:nvSpPr>
        <p:spPr>
          <a:xfrm flipH="1">
            <a:off x="3642635" y="2615030"/>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5" name="타원 414"/>
          <p:cNvSpPr/>
          <p:nvPr/>
        </p:nvSpPr>
        <p:spPr>
          <a:xfrm flipH="1">
            <a:off x="4171446" y="2519151"/>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6" name="타원 415"/>
          <p:cNvSpPr/>
          <p:nvPr/>
        </p:nvSpPr>
        <p:spPr>
          <a:xfrm flipH="1">
            <a:off x="4700957" y="2460179"/>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cxnSp>
        <p:nvCxnSpPr>
          <p:cNvPr id="417" name="직선 연결선 416"/>
          <p:cNvCxnSpPr/>
          <p:nvPr/>
        </p:nvCxnSpPr>
        <p:spPr>
          <a:xfrm flipV="1">
            <a:off x="1028600" y="2888400"/>
            <a:ext cx="493445" cy="441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직선 연결선 417"/>
          <p:cNvCxnSpPr/>
          <p:nvPr/>
        </p:nvCxnSpPr>
        <p:spPr>
          <a:xfrm flipV="1">
            <a:off x="1559312" y="2845241"/>
            <a:ext cx="494203" cy="43159"/>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직선 연결선 418"/>
          <p:cNvCxnSpPr/>
          <p:nvPr/>
        </p:nvCxnSpPr>
        <p:spPr>
          <a:xfrm flipV="1">
            <a:off x="3149029" y="2634306"/>
            <a:ext cx="493606" cy="68703"/>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직선 연결선 419"/>
          <p:cNvCxnSpPr/>
          <p:nvPr/>
        </p:nvCxnSpPr>
        <p:spPr>
          <a:xfrm flipV="1">
            <a:off x="2619918" y="2703008"/>
            <a:ext cx="491843" cy="64678"/>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직선 연결선 420"/>
          <p:cNvCxnSpPr/>
          <p:nvPr/>
        </p:nvCxnSpPr>
        <p:spPr>
          <a:xfrm flipV="1">
            <a:off x="2090782" y="2767686"/>
            <a:ext cx="491869" cy="77555"/>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직선 연결선 421"/>
          <p:cNvCxnSpPr/>
          <p:nvPr/>
        </p:nvCxnSpPr>
        <p:spPr>
          <a:xfrm flipV="1">
            <a:off x="4208714" y="2479454"/>
            <a:ext cx="492244" cy="5897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직선 연결선 422"/>
          <p:cNvCxnSpPr/>
          <p:nvPr/>
        </p:nvCxnSpPr>
        <p:spPr>
          <a:xfrm flipV="1">
            <a:off x="3679903" y="2538426"/>
            <a:ext cx="491544" cy="95880"/>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4" name="TextBox 423"/>
          <p:cNvSpPr txBox="1"/>
          <p:nvPr/>
        </p:nvSpPr>
        <p:spPr>
          <a:xfrm>
            <a:off x="846714" y="2701267"/>
            <a:ext cx="574921" cy="237858"/>
          </a:xfrm>
          <a:prstGeom prst="rect">
            <a:avLst/>
          </a:prstGeom>
          <a:noFill/>
        </p:spPr>
        <p:txBody>
          <a:bodyPr wrap="none" rtlCol="0">
            <a:spAutoFit/>
          </a:bodyPr>
          <a:lstStyle/>
          <a:p>
            <a:r>
              <a:rPr lang="en-US" altLang="ko-KR" sz="800" b="1" dirty="0">
                <a:solidFill>
                  <a:srgbClr val="7030A0"/>
                </a:solidFill>
              </a:rPr>
              <a:t>0.51 ZB</a:t>
            </a:r>
            <a:endParaRPr lang="ko-KR" altLang="en-US" sz="800" b="1" dirty="0">
              <a:solidFill>
                <a:srgbClr val="7030A0"/>
              </a:solidFill>
            </a:endParaRPr>
          </a:p>
        </p:txBody>
      </p:sp>
      <p:sp>
        <p:nvSpPr>
          <p:cNvPr id="425" name="TextBox 424"/>
          <p:cNvSpPr txBox="1"/>
          <p:nvPr/>
        </p:nvSpPr>
        <p:spPr>
          <a:xfrm>
            <a:off x="1364687" y="2695873"/>
            <a:ext cx="574921" cy="237858"/>
          </a:xfrm>
          <a:prstGeom prst="rect">
            <a:avLst/>
          </a:prstGeom>
          <a:noFill/>
        </p:spPr>
        <p:txBody>
          <a:bodyPr wrap="none" rtlCol="0">
            <a:spAutoFit/>
          </a:bodyPr>
          <a:lstStyle/>
          <a:p>
            <a:r>
              <a:rPr lang="en-US" altLang="ko-KR" sz="800" b="1" dirty="0">
                <a:solidFill>
                  <a:srgbClr val="7030A0"/>
                </a:solidFill>
              </a:rPr>
              <a:t>1.28 ZB</a:t>
            </a:r>
            <a:endParaRPr lang="ko-KR" altLang="en-US" sz="800" b="1" dirty="0">
              <a:solidFill>
                <a:srgbClr val="7030A0"/>
              </a:solidFill>
            </a:endParaRPr>
          </a:p>
        </p:txBody>
      </p:sp>
      <p:sp>
        <p:nvSpPr>
          <p:cNvPr id="426" name="TextBox 425"/>
          <p:cNvSpPr txBox="1"/>
          <p:nvPr/>
        </p:nvSpPr>
        <p:spPr>
          <a:xfrm>
            <a:off x="1922294" y="2642586"/>
            <a:ext cx="513477" cy="237858"/>
          </a:xfrm>
          <a:prstGeom prst="rect">
            <a:avLst/>
          </a:prstGeom>
          <a:noFill/>
        </p:spPr>
        <p:txBody>
          <a:bodyPr wrap="none" rtlCol="0">
            <a:spAutoFit/>
          </a:bodyPr>
          <a:lstStyle/>
          <a:p>
            <a:r>
              <a:rPr lang="en-US" altLang="ko-KR" sz="800" b="1" dirty="0">
                <a:solidFill>
                  <a:srgbClr val="7030A0"/>
                </a:solidFill>
              </a:rPr>
              <a:t>3.2 ZB</a:t>
            </a:r>
            <a:endParaRPr lang="ko-KR" altLang="en-US" sz="800" b="1" dirty="0">
              <a:solidFill>
                <a:srgbClr val="7030A0"/>
              </a:solidFill>
            </a:endParaRPr>
          </a:p>
        </p:txBody>
      </p:sp>
      <p:sp>
        <p:nvSpPr>
          <p:cNvPr id="427" name="TextBox 426"/>
          <p:cNvSpPr txBox="1"/>
          <p:nvPr/>
        </p:nvSpPr>
        <p:spPr>
          <a:xfrm>
            <a:off x="2989309" y="2501741"/>
            <a:ext cx="485246" cy="237858"/>
          </a:xfrm>
          <a:prstGeom prst="rect">
            <a:avLst/>
          </a:prstGeom>
          <a:noFill/>
        </p:spPr>
        <p:txBody>
          <a:bodyPr wrap="none" rtlCol="0">
            <a:spAutoFit/>
          </a:bodyPr>
          <a:lstStyle/>
          <a:p>
            <a:r>
              <a:rPr lang="en-US" altLang="ko-KR" sz="800" b="1" dirty="0">
                <a:solidFill>
                  <a:srgbClr val="7030A0"/>
                </a:solidFill>
              </a:rPr>
              <a:t>20 ZB</a:t>
            </a:r>
            <a:endParaRPr lang="ko-KR" altLang="en-US" sz="800" b="1" dirty="0">
              <a:solidFill>
                <a:srgbClr val="7030A0"/>
              </a:solidFill>
            </a:endParaRPr>
          </a:p>
        </p:txBody>
      </p:sp>
      <p:sp>
        <p:nvSpPr>
          <p:cNvPr id="428" name="TextBox 427"/>
          <p:cNvSpPr txBox="1"/>
          <p:nvPr/>
        </p:nvSpPr>
        <p:spPr>
          <a:xfrm>
            <a:off x="3516543" y="2428787"/>
            <a:ext cx="485246" cy="237858"/>
          </a:xfrm>
          <a:prstGeom prst="rect">
            <a:avLst/>
          </a:prstGeom>
          <a:noFill/>
        </p:spPr>
        <p:txBody>
          <a:bodyPr wrap="none" rtlCol="0">
            <a:spAutoFit/>
          </a:bodyPr>
          <a:lstStyle/>
          <a:p>
            <a:r>
              <a:rPr lang="en-US" altLang="ko-KR" sz="800" b="1" dirty="0">
                <a:solidFill>
                  <a:srgbClr val="7030A0"/>
                </a:solidFill>
              </a:rPr>
              <a:t>50 ZB</a:t>
            </a:r>
            <a:endParaRPr lang="ko-KR" altLang="en-US" sz="800" b="1" dirty="0">
              <a:solidFill>
                <a:srgbClr val="7030A0"/>
              </a:solidFill>
            </a:endParaRPr>
          </a:p>
        </p:txBody>
      </p:sp>
      <p:sp>
        <p:nvSpPr>
          <p:cNvPr id="429" name="TextBox 428"/>
          <p:cNvSpPr txBox="1"/>
          <p:nvPr/>
        </p:nvSpPr>
        <p:spPr>
          <a:xfrm>
            <a:off x="4014635" y="2350325"/>
            <a:ext cx="546690" cy="237858"/>
          </a:xfrm>
          <a:prstGeom prst="rect">
            <a:avLst/>
          </a:prstGeom>
          <a:noFill/>
        </p:spPr>
        <p:txBody>
          <a:bodyPr wrap="none" rtlCol="0">
            <a:spAutoFit/>
          </a:bodyPr>
          <a:lstStyle/>
          <a:p>
            <a:r>
              <a:rPr lang="en-US" altLang="ko-KR" sz="800" b="1" dirty="0">
                <a:solidFill>
                  <a:srgbClr val="7030A0"/>
                </a:solidFill>
              </a:rPr>
              <a:t>125 ZB</a:t>
            </a:r>
            <a:endParaRPr lang="ko-KR" altLang="en-US" sz="800" b="1" dirty="0">
              <a:solidFill>
                <a:srgbClr val="7030A0"/>
              </a:solidFill>
            </a:endParaRPr>
          </a:p>
        </p:txBody>
      </p:sp>
      <p:sp>
        <p:nvSpPr>
          <p:cNvPr id="430" name="TextBox 429"/>
          <p:cNvSpPr txBox="1"/>
          <p:nvPr/>
        </p:nvSpPr>
        <p:spPr>
          <a:xfrm>
            <a:off x="4520328" y="2277889"/>
            <a:ext cx="636366" cy="237858"/>
          </a:xfrm>
          <a:prstGeom prst="rect">
            <a:avLst/>
          </a:prstGeom>
          <a:noFill/>
        </p:spPr>
        <p:txBody>
          <a:bodyPr wrap="none" rtlCol="0">
            <a:spAutoFit/>
          </a:bodyPr>
          <a:lstStyle/>
          <a:p>
            <a:r>
              <a:rPr lang="en-US" altLang="ko-KR" sz="800" b="1" dirty="0">
                <a:solidFill>
                  <a:srgbClr val="7030A0"/>
                </a:solidFill>
              </a:rPr>
              <a:t>312.5 ZB</a:t>
            </a:r>
            <a:endParaRPr lang="ko-KR" altLang="en-US" sz="800" b="1" dirty="0">
              <a:solidFill>
                <a:srgbClr val="7030A0"/>
              </a:solidFill>
            </a:endParaRPr>
          </a:p>
        </p:txBody>
      </p:sp>
      <p:sp>
        <p:nvSpPr>
          <p:cNvPr id="431" name="TextBox 430"/>
          <p:cNvSpPr txBox="1"/>
          <p:nvPr/>
        </p:nvSpPr>
        <p:spPr>
          <a:xfrm>
            <a:off x="2481836" y="2567940"/>
            <a:ext cx="423800" cy="237858"/>
          </a:xfrm>
          <a:prstGeom prst="rect">
            <a:avLst/>
          </a:prstGeom>
          <a:noFill/>
        </p:spPr>
        <p:txBody>
          <a:bodyPr wrap="none" rtlCol="0">
            <a:spAutoFit/>
          </a:bodyPr>
          <a:lstStyle/>
          <a:p>
            <a:r>
              <a:rPr lang="en-US" altLang="ko-KR" sz="800" b="1" dirty="0">
                <a:solidFill>
                  <a:srgbClr val="7030A0"/>
                </a:solidFill>
              </a:rPr>
              <a:t>8 ZB</a:t>
            </a:r>
            <a:endParaRPr lang="ko-KR" altLang="en-US" sz="800" b="1" dirty="0">
              <a:solidFill>
                <a:srgbClr val="7030A0"/>
              </a:solidFill>
            </a:endParaRPr>
          </a:p>
        </p:txBody>
      </p:sp>
      <p:cxnSp>
        <p:nvCxnSpPr>
          <p:cNvPr id="432" name="직선 화살표 연결선 431"/>
          <p:cNvCxnSpPr/>
          <p:nvPr/>
        </p:nvCxnSpPr>
        <p:spPr>
          <a:xfrm>
            <a:off x="4861306" y="2879773"/>
            <a:ext cx="132202" cy="0"/>
          </a:xfrm>
          <a:prstGeom prst="straightConnector1">
            <a:avLst/>
          </a:prstGeom>
          <a:ln w="19050">
            <a:tailEnd type="triangle"/>
          </a:ln>
        </p:spPr>
        <p:style>
          <a:lnRef idx="1">
            <a:schemeClr val="accent6"/>
          </a:lnRef>
          <a:fillRef idx="0">
            <a:schemeClr val="accent6"/>
          </a:fillRef>
          <a:effectRef idx="0">
            <a:schemeClr val="accent6"/>
          </a:effectRef>
          <a:fontRef idx="minor">
            <a:schemeClr val="tx1"/>
          </a:fontRef>
        </p:style>
      </p:cxnSp>
      <p:sp>
        <p:nvSpPr>
          <p:cNvPr id="433" name="TextBox 432"/>
          <p:cNvSpPr txBox="1"/>
          <p:nvPr/>
        </p:nvSpPr>
        <p:spPr>
          <a:xfrm>
            <a:off x="4959147" y="2504990"/>
            <a:ext cx="295930" cy="203878"/>
          </a:xfrm>
          <a:prstGeom prst="rect">
            <a:avLst/>
          </a:prstGeom>
          <a:noFill/>
        </p:spPr>
        <p:txBody>
          <a:bodyPr wrap="none" rtlCol="0">
            <a:spAutoFit/>
          </a:bodyPr>
          <a:lstStyle/>
          <a:p>
            <a:r>
              <a:rPr lang="en-US" altLang="ko-KR" sz="600" dirty="0">
                <a:solidFill>
                  <a:schemeClr val="accent6">
                    <a:lumMod val="75000"/>
                  </a:schemeClr>
                </a:solidFill>
              </a:rPr>
              <a:t>2.4</a:t>
            </a:r>
            <a:endParaRPr lang="ko-KR" altLang="en-US" sz="600" dirty="0">
              <a:solidFill>
                <a:schemeClr val="accent6">
                  <a:lumMod val="75000"/>
                </a:schemeClr>
              </a:solidFill>
            </a:endParaRPr>
          </a:p>
        </p:txBody>
      </p:sp>
      <p:sp>
        <p:nvSpPr>
          <p:cNvPr id="434" name="TextBox 433"/>
          <p:cNvSpPr txBox="1"/>
          <p:nvPr/>
        </p:nvSpPr>
        <p:spPr>
          <a:xfrm>
            <a:off x="4959147" y="2683040"/>
            <a:ext cx="295930" cy="203878"/>
          </a:xfrm>
          <a:prstGeom prst="rect">
            <a:avLst/>
          </a:prstGeom>
          <a:noFill/>
        </p:spPr>
        <p:txBody>
          <a:bodyPr wrap="none" rtlCol="0">
            <a:spAutoFit/>
          </a:bodyPr>
          <a:lstStyle/>
          <a:p>
            <a:r>
              <a:rPr lang="en-US" altLang="ko-KR" sz="600" dirty="0">
                <a:solidFill>
                  <a:schemeClr val="accent6">
                    <a:lumMod val="75000"/>
                  </a:schemeClr>
                </a:solidFill>
              </a:rPr>
              <a:t>2.0</a:t>
            </a:r>
            <a:endParaRPr lang="ko-KR" altLang="en-US" sz="600" dirty="0">
              <a:solidFill>
                <a:schemeClr val="accent6">
                  <a:lumMod val="75000"/>
                </a:schemeClr>
              </a:solidFill>
            </a:endParaRPr>
          </a:p>
        </p:txBody>
      </p:sp>
      <p:grpSp>
        <p:nvGrpSpPr>
          <p:cNvPr id="435" name="그룹 434"/>
          <p:cNvGrpSpPr/>
          <p:nvPr/>
        </p:nvGrpSpPr>
        <p:grpSpPr>
          <a:xfrm>
            <a:off x="832865" y="2163155"/>
            <a:ext cx="2119250" cy="301902"/>
            <a:chOff x="1945564" y="2880508"/>
            <a:chExt cx="4094381" cy="659026"/>
          </a:xfrm>
        </p:grpSpPr>
        <p:sp>
          <p:nvSpPr>
            <p:cNvPr id="436" name="직사각형 435"/>
            <p:cNvSpPr/>
            <p:nvPr/>
          </p:nvSpPr>
          <p:spPr>
            <a:xfrm>
              <a:off x="1945564" y="3027859"/>
              <a:ext cx="108000" cy="10800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37" name="직사각형 436"/>
            <p:cNvSpPr/>
            <p:nvPr/>
          </p:nvSpPr>
          <p:spPr>
            <a:xfrm>
              <a:off x="1945564" y="3221475"/>
              <a:ext cx="108000" cy="10800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38" name="TextBox 437"/>
            <p:cNvSpPr txBox="1"/>
            <p:nvPr/>
          </p:nvSpPr>
          <p:spPr>
            <a:xfrm>
              <a:off x="2008785" y="2905210"/>
              <a:ext cx="1821653" cy="403110"/>
            </a:xfrm>
            <a:prstGeom prst="rect">
              <a:avLst/>
            </a:prstGeom>
            <a:noFill/>
          </p:spPr>
          <p:txBody>
            <a:bodyPr wrap="none" rtlCol="0">
              <a:spAutoFit/>
            </a:bodyPr>
            <a:lstStyle/>
            <a:p>
              <a:r>
                <a:rPr lang="en-US" altLang="ko-KR" sz="600" dirty="0"/>
                <a:t>DRAM Total Supplied</a:t>
              </a:r>
              <a:endParaRPr lang="ko-KR" altLang="en-US" sz="600" dirty="0"/>
            </a:p>
          </p:txBody>
        </p:sp>
        <p:sp>
          <p:nvSpPr>
            <p:cNvPr id="439" name="TextBox 438"/>
            <p:cNvSpPr txBox="1"/>
            <p:nvPr/>
          </p:nvSpPr>
          <p:spPr>
            <a:xfrm>
              <a:off x="2008785" y="3103514"/>
              <a:ext cx="1824748" cy="403110"/>
            </a:xfrm>
            <a:prstGeom prst="rect">
              <a:avLst/>
            </a:prstGeom>
            <a:noFill/>
          </p:spPr>
          <p:txBody>
            <a:bodyPr wrap="none" rtlCol="0">
              <a:spAutoFit/>
            </a:bodyPr>
            <a:lstStyle/>
            <a:p>
              <a:r>
                <a:rPr lang="en-US" altLang="ko-KR" sz="600" dirty="0"/>
                <a:t>NAND Total Supplied</a:t>
              </a:r>
              <a:endParaRPr lang="ko-KR" altLang="en-US" sz="600" dirty="0"/>
            </a:p>
          </p:txBody>
        </p:sp>
        <p:sp>
          <p:nvSpPr>
            <p:cNvPr id="440" name="타원 439"/>
            <p:cNvSpPr/>
            <p:nvPr/>
          </p:nvSpPr>
          <p:spPr>
            <a:xfrm flipH="1">
              <a:off x="3847065" y="3008608"/>
              <a:ext cx="111930" cy="152481"/>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441" name="TextBox 440"/>
            <p:cNvSpPr txBox="1"/>
            <p:nvPr/>
          </p:nvSpPr>
          <p:spPr>
            <a:xfrm>
              <a:off x="3900330" y="2880508"/>
              <a:ext cx="2127985" cy="403110"/>
            </a:xfrm>
            <a:prstGeom prst="rect">
              <a:avLst/>
            </a:prstGeom>
            <a:noFill/>
          </p:spPr>
          <p:txBody>
            <a:bodyPr wrap="square" rtlCol="0">
              <a:spAutoFit/>
            </a:bodyPr>
            <a:lstStyle/>
            <a:p>
              <a:r>
                <a:rPr lang="en-US" altLang="ko-KR" sz="600" dirty="0" err="1"/>
                <a:t>KVcache</a:t>
              </a:r>
              <a:r>
                <a:rPr lang="en-US" altLang="ko-KR" sz="600" dirty="0"/>
                <a:t> Demand (x2.5/Y)</a:t>
              </a:r>
              <a:endParaRPr lang="ko-KR" altLang="en-US" sz="600" dirty="0"/>
            </a:p>
          </p:txBody>
        </p:sp>
        <p:sp>
          <p:nvSpPr>
            <p:cNvPr id="442" name="직사각형 441"/>
            <p:cNvSpPr/>
            <p:nvPr/>
          </p:nvSpPr>
          <p:spPr>
            <a:xfrm>
              <a:off x="3829221" y="3216441"/>
              <a:ext cx="192510" cy="209031"/>
            </a:xfrm>
            <a:prstGeom prst="rect">
              <a:avLst/>
            </a:prstGeom>
            <a:solidFill>
              <a:schemeClr val="bg1">
                <a:lumMod val="9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43" name="TextBox 442"/>
            <p:cNvSpPr txBox="1"/>
            <p:nvPr/>
          </p:nvSpPr>
          <p:spPr>
            <a:xfrm>
              <a:off x="3883817" y="3102831"/>
              <a:ext cx="2156128" cy="436703"/>
            </a:xfrm>
            <a:prstGeom prst="rect">
              <a:avLst/>
            </a:prstGeom>
            <a:noFill/>
          </p:spPr>
          <p:txBody>
            <a:bodyPr wrap="none" rtlCol="0">
              <a:spAutoFit/>
            </a:bodyPr>
            <a:lstStyle/>
            <a:p>
              <a:r>
                <a:rPr lang="en-US" altLang="ko-KR" sz="700" dirty="0"/>
                <a:t>model</a:t>
              </a:r>
              <a:r>
                <a:rPr lang="ko-KR" altLang="en-US" sz="700" dirty="0"/>
                <a:t> </a:t>
              </a:r>
              <a:r>
                <a:rPr lang="en-US" altLang="ko-KR" sz="700" dirty="0"/>
                <a:t>size (saturation)</a:t>
              </a:r>
              <a:endParaRPr lang="ko-KR" altLang="en-US" sz="700" dirty="0"/>
            </a:p>
          </p:txBody>
        </p:sp>
      </p:grpSp>
      <p:sp>
        <p:nvSpPr>
          <p:cNvPr id="444" name="타원 443"/>
          <p:cNvSpPr/>
          <p:nvPr/>
        </p:nvSpPr>
        <p:spPr>
          <a:xfrm flipH="1">
            <a:off x="2052956" y="2824084"/>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45" name="TextBox 444"/>
          <p:cNvSpPr txBox="1"/>
          <p:nvPr/>
        </p:nvSpPr>
        <p:spPr>
          <a:xfrm>
            <a:off x="4693648" y="2689431"/>
            <a:ext cx="388928" cy="186888"/>
          </a:xfrm>
          <a:prstGeom prst="rect">
            <a:avLst/>
          </a:prstGeom>
          <a:noFill/>
        </p:spPr>
        <p:txBody>
          <a:bodyPr wrap="none" rtlCol="0">
            <a:spAutoFit/>
          </a:bodyPr>
          <a:lstStyle/>
          <a:p>
            <a:r>
              <a:rPr lang="en-US" altLang="ko-KR" sz="500" b="1" dirty="0">
                <a:solidFill>
                  <a:schemeClr val="accent6">
                    <a:lumMod val="75000"/>
                  </a:schemeClr>
                </a:solidFill>
              </a:rPr>
              <a:t>1.7 ZB</a:t>
            </a:r>
            <a:endParaRPr lang="ko-KR" altLang="en-US" sz="500" b="1" dirty="0">
              <a:solidFill>
                <a:schemeClr val="accent6">
                  <a:lumMod val="75000"/>
                </a:schemeClr>
              </a:solidFill>
            </a:endParaRPr>
          </a:p>
        </p:txBody>
      </p:sp>
      <p:sp>
        <p:nvSpPr>
          <p:cNvPr id="446" name="TextBox 445"/>
          <p:cNvSpPr txBox="1"/>
          <p:nvPr/>
        </p:nvSpPr>
        <p:spPr>
          <a:xfrm>
            <a:off x="4506907" y="2938415"/>
            <a:ext cx="368999" cy="186888"/>
          </a:xfrm>
          <a:prstGeom prst="rect">
            <a:avLst/>
          </a:prstGeom>
          <a:noFill/>
        </p:spPr>
        <p:txBody>
          <a:bodyPr wrap="none" rtlCol="0">
            <a:spAutoFit/>
          </a:bodyPr>
          <a:lstStyle/>
          <a:p>
            <a:r>
              <a:rPr lang="en-US" altLang="ko-KR" sz="500" b="1" dirty="0">
                <a:solidFill>
                  <a:schemeClr val="accent1">
                    <a:lumMod val="75000"/>
                  </a:schemeClr>
                </a:solidFill>
              </a:rPr>
              <a:t>66 EB</a:t>
            </a:r>
            <a:endParaRPr lang="ko-KR" altLang="en-US" sz="500" b="1" dirty="0">
              <a:solidFill>
                <a:schemeClr val="accent1">
                  <a:lumMod val="75000"/>
                </a:schemeClr>
              </a:solidFill>
            </a:endParaRPr>
          </a:p>
        </p:txBody>
      </p:sp>
      <p:sp>
        <p:nvSpPr>
          <p:cNvPr id="447" name="직사각형 446"/>
          <p:cNvSpPr/>
          <p:nvPr/>
        </p:nvSpPr>
        <p:spPr>
          <a:xfrm>
            <a:off x="5667002" y="2505491"/>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ZB</a:t>
            </a:r>
          </a:p>
          <a:p>
            <a:pPr algn="ctr"/>
            <a:r>
              <a:rPr lang="en-US" altLang="ko-KR" sz="400" dirty="0"/>
              <a:t>(10</a:t>
            </a:r>
            <a:r>
              <a:rPr lang="en-US" altLang="ko-KR" sz="400" baseline="30000" dirty="0"/>
              <a:t>21</a:t>
            </a:r>
            <a:r>
              <a:rPr lang="en-US" altLang="ko-KR" sz="400" dirty="0"/>
              <a:t>)</a:t>
            </a:r>
            <a:endParaRPr lang="ko-KR" altLang="en-US" sz="400" dirty="0"/>
          </a:p>
        </p:txBody>
      </p:sp>
      <p:sp>
        <p:nvSpPr>
          <p:cNvPr id="448" name="직사각형 447"/>
          <p:cNvSpPr/>
          <p:nvPr/>
        </p:nvSpPr>
        <p:spPr>
          <a:xfrm>
            <a:off x="5667002" y="2783159"/>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EB</a:t>
            </a:r>
            <a:br>
              <a:rPr lang="en-US" altLang="ko-KR" sz="900" dirty="0"/>
            </a:br>
            <a:r>
              <a:rPr lang="en-US" altLang="ko-KR" sz="400" dirty="0"/>
              <a:t>(10</a:t>
            </a:r>
            <a:r>
              <a:rPr lang="en-US" altLang="ko-KR" sz="400" baseline="30000" dirty="0"/>
              <a:t>18</a:t>
            </a:r>
            <a:r>
              <a:rPr lang="en-US" altLang="ko-KR" sz="400" dirty="0"/>
              <a:t>)</a:t>
            </a:r>
            <a:endParaRPr lang="ko-KR" altLang="en-US" sz="400" dirty="0"/>
          </a:p>
        </p:txBody>
      </p:sp>
      <p:sp>
        <p:nvSpPr>
          <p:cNvPr id="449" name="직사각형 448"/>
          <p:cNvSpPr/>
          <p:nvPr/>
        </p:nvSpPr>
        <p:spPr>
          <a:xfrm>
            <a:off x="5667002" y="3060243"/>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PB</a:t>
            </a:r>
          </a:p>
          <a:p>
            <a:pPr algn="ctr"/>
            <a:r>
              <a:rPr lang="en-US" altLang="ko-KR" sz="400" dirty="0"/>
              <a:t>(10</a:t>
            </a:r>
            <a:r>
              <a:rPr lang="en-US" altLang="ko-KR" sz="400" baseline="30000" dirty="0"/>
              <a:t>15</a:t>
            </a:r>
            <a:r>
              <a:rPr lang="en-US" altLang="ko-KR" sz="400" dirty="0"/>
              <a:t>)</a:t>
            </a:r>
            <a:endParaRPr lang="ko-KR" altLang="en-US" sz="400" dirty="0"/>
          </a:p>
        </p:txBody>
      </p:sp>
      <p:sp>
        <p:nvSpPr>
          <p:cNvPr id="450" name="직사각형 449"/>
          <p:cNvSpPr/>
          <p:nvPr/>
        </p:nvSpPr>
        <p:spPr>
          <a:xfrm>
            <a:off x="5667002" y="3337404"/>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TB</a:t>
            </a:r>
          </a:p>
          <a:p>
            <a:pPr algn="ctr"/>
            <a:r>
              <a:rPr lang="en-US" altLang="ko-KR" sz="300" dirty="0"/>
              <a:t>(10</a:t>
            </a:r>
            <a:r>
              <a:rPr lang="en-US" altLang="ko-KR" sz="300" baseline="30000" dirty="0"/>
              <a:t>12</a:t>
            </a:r>
            <a:r>
              <a:rPr lang="en-US" altLang="ko-KR" sz="300" dirty="0"/>
              <a:t>)</a:t>
            </a:r>
            <a:endParaRPr lang="ko-KR" altLang="en-US" sz="300" dirty="0"/>
          </a:p>
        </p:txBody>
      </p:sp>
      <p:cxnSp>
        <p:nvCxnSpPr>
          <p:cNvPr id="451" name="구부러진 연결선 450"/>
          <p:cNvCxnSpPr>
            <a:stCxn id="450" idx="1"/>
            <a:endCxn id="449" idx="1"/>
          </p:cNvCxnSpPr>
          <p:nvPr/>
        </p:nvCxnSpPr>
        <p:spPr>
          <a:xfrm rot="10800000">
            <a:off x="5667002" y="3198075"/>
            <a:ext cx="12700" cy="277161"/>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52" name="구부러진 연결선 451"/>
          <p:cNvCxnSpPr>
            <a:stCxn id="449" idx="1"/>
            <a:endCxn id="448" idx="1"/>
          </p:cNvCxnSpPr>
          <p:nvPr/>
        </p:nvCxnSpPr>
        <p:spPr>
          <a:xfrm rot="10800000">
            <a:off x="5667002" y="2920990"/>
            <a:ext cx="12700" cy="277084"/>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53" name="구부러진 연결선 452"/>
          <p:cNvCxnSpPr>
            <a:stCxn id="448" idx="1"/>
            <a:endCxn id="447" idx="1"/>
          </p:cNvCxnSpPr>
          <p:nvPr/>
        </p:nvCxnSpPr>
        <p:spPr>
          <a:xfrm rot="10800000">
            <a:off x="5667002" y="2643322"/>
            <a:ext cx="12700" cy="277668"/>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sp>
        <p:nvSpPr>
          <p:cNvPr id="454" name="TextBox 453"/>
          <p:cNvSpPr txBox="1"/>
          <p:nvPr/>
        </p:nvSpPr>
        <p:spPr>
          <a:xfrm>
            <a:off x="5390581" y="2763222"/>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55" name="TextBox 454"/>
          <p:cNvSpPr txBox="1"/>
          <p:nvPr/>
        </p:nvSpPr>
        <p:spPr>
          <a:xfrm>
            <a:off x="5397049" y="3040578"/>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56" name="TextBox 455"/>
          <p:cNvSpPr txBox="1"/>
          <p:nvPr/>
        </p:nvSpPr>
        <p:spPr>
          <a:xfrm>
            <a:off x="5397551" y="3331274"/>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57" name="직사각형 456"/>
          <p:cNvSpPr/>
          <p:nvPr/>
        </p:nvSpPr>
        <p:spPr>
          <a:xfrm>
            <a:off x="384627" y="1913836"/>
            <a:ext cx="5552401" cy="230832"/>
          </a:xfrm>
          <a:prstGeom prst="rect">
            <a:avLst/>
          </a:prstGeom>
        </p:spPr>
        <p:txBody>
          <a:bodyPr wrap="square">
            <a:spAutoFit/>
          </a:bodyPr>
          <a:lstStyle/>
          <a:p>
            <a:r>
              <a:rPr lang="en-US" altLang="ko-KR" sz="900" b="1" dirty="0" err="1">
                <a:solidFill>
                  <a:prstClr val="black"/>
                </a:solidFill>
              </a:rPr>
              <a:t>KVcache</a:t>
            </a:r>
            <a:r>
              <a:rPr lang="en-US" altLang="ko-KR" sz="900" b="1" dirty="0">
                <a:solidFill>
                  <a:prstClr val="black"/>
                </a:solidFill>
              </a:rPr>
              <a:t> size(‘30</a:t>
            </a:r>
            <a:r>
              <a:rPr lang="ko-KR" altLang="en-US" sz="900" b="1" dirty="0">
                <a:solidFill>
                  <a:prstClr val="black"/>
                </a:solidFill>
              </a:rPr>
              <a:t>년</a:t>
            </a:r>
            <a:r>
              <a:rPr lang="en-US" altLang="ko-KR" sz="900" b="1" dirty="0">
                <a:solidFill>
                  <a:prstClr val="black"/>
                </a:solidFill>
              </a:rPr>
              <a:t>,312 ZB),</a:t>
            </a:r>
            <a:r>
              <a:rPr lang="ko-KR" altLang="en-US" sz="900" b="1" dirty="0">
                <a:solidFill>
                  <a:prstClr val="black"/>
                </a:solidFill>
              </a:rPr>
              <a:t> 총 </a:t>
            </a:r>
            <a:r>
              <a:rPr lang="en-US" altLang="ko-KR" sz="900" b="1" dirty="0">
                <a:solidFill>
                  <a:prstClr val="black"/>
                </a:solidFill>
              </a:rPr>
              <a:t>NAND </a:t>
            </a:r>
            <a:r>
              <a:rPr lang="ko-KR" altLang="en-US" sz="900" b="1" dirty="0">
                <a:solidFill>
                  <a:prstClr val="black"/>
                </a:solidFill>
              </a:rPr>
              <a:t>예상 공급</a:t>
            </a:r>
            <a:r>
              <a:rPr lang="en-US" altLang="ko-KR" sz="900" b="1" dirty="0">
                <a:solidFill>
                  <a:prstClr val="black"/>
                </a:solidFill>
              </a:rPr>
              <a:t>(1.76 ZB) </a:t>
            </a:r>
            <a:r>
              <a:rPr lang="ko-KR" altLang="en-US" sz="900" b="1" dirty="0">
                <a:solidFill>
                  <a:prstClr val="black"/>
                </a:solidFill>
              </a:rPr>
              <a:t>대비</a:t>
            </a:r>
            <a:r>
              <a:rPr lang="en-US" altLang="ko-KR" sz="900" b="1" dirty="0">
                <a:solidFill>
                  <a:prstClr val="black"/>
                </a:solidFill>
              </a:rPr>
              <a:t> 177</a:t>
            </a:r>
            <a:r>
              <a:rPr lang="ko-KR" altLang="en-US" sz="900" b="1" dirty="0">
                <a:solidFill>
                  <a:prstClr val="black"/>
                </a:solidFill>
              </a:rPr>
              <a:t>배 필요</a:t>
            </a:r>
            <a:endParaRPr lang="en-US" altLang="ko-KR" sz="300" b="1" dirty="0">
              <a:solidFill>
                <a:prstClr val="black"/>
              </a:solidFill>
            </a:endParaRPr>
          </a:p>
        </p:txBody>
      </p:sp>
      <p:sp>
        <p:nvSpPr>
          <p:cNvPr id="458" name="TextBox 457"/>
          <p:cNvSpPr txBox="1"/>
          <p:nvPr/>
        </p:nvSpPr>
        <p:spPr>
          <a:xfrm>
            <a:off x="4488843" y="1972124"/>
            <a:ext cx="906017" cy="200055"/>
          </a:xfrm>
          <a:prstGeom prst="rect">
            <a:avLst/>
          </a:prstGeom>
          <a:noFill/>
        </p:spPr>
        <p:txBody>
          <a:bodyPr wrap="none" rtlCol="0">
            <a:spAutoFit/>
          </a:bodyPr>
          <a:lstStyle/>
          <a:p>
            <a:r>
              <a:rPr lang="en-US" altLang="ko-KR" sz="700" dirty="0"/>
              <a:t>*Llama3 70B</a:t>
            </a:r>
            <a:r>
              <a:rPr lang="ko-KR" altLang="en-US" sz="700" dirty="0"/>
              <a:t> 기준</a:t>
            </a:r>
          </a:p>
        </p:txBody>
      </p:sp>
    </p:spTree>
    <p:extLst>
      <p:ext uri="{BB962C8B-B14F-4D97-AF65-F5344CB8AC3E}">
        <p14:creationId xmlns:p14="http://schemas.microsoft.com/office/powerpoint/2010/main" val="213092528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메모리 수요 급증과 고객 요구 변화</a:t>
            </a:r>
          </a:p>
        </p:txBody>
      </p:sp>
      <p:sp>
        <p:nvSpPr>
          <p:cNvPr id="75" name="직사각형 74"/>
          <p:cNvSpPr/>
          <p:nvPr/>
        </p:nvSpPr>
        <p:spPr>
          <a:xfrm>
            <a:off x="1089957"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Agentic AI</a:t>
            </a:r>
            <a:r>
              <a:rPr lang="ko-KR" altLang="en-US" sz="1400" b="1" dirty="0">
                <a:latin typeface="+mj-ea"/>
                <a:ea typeface="+mj-ea"/>
              </a:rPr>
              <a:t> 확산과 워크로드 변화</a:t>
            </a:r>
          </a:p>
        </p:txBody>
      </p:sp>
      <p:sp>
        <p:nvSpPr>
          <p:cNvPr id="55" name="Text 46">
            <a:extLst>
              <a:ext uri="{FF2B5EF4-FFF2-40B4-BE49-F238E27FC236}">
                <a16:creationId xmlns:a16="http://schemas.microsoft.com/office/drawing/2014/main" id="{C8A28DF0-ABCC-48F5-9ED9-DE4811816B18}"/>
              </a:ext>
            </a:extLst>
          </p:cNvPr>
          <p:cNvSpPr/>
          <p:nvPr/>
        </p:nvSpPr>
        <p:spPr>
          <a:xfrm>
            <a:off x="6328664" y="162215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ko-KR" altLang="en-US" sz="1200" b="1" dirty="0">
                <a:solidFill>
                  <a:srgbClr val="222222"/>
                </a:solidFill>
                <a:latin typeface="+mj-ea"/>
                <a:ea typeface="+mj-ea"/>
                <a:cs typeface="Noto Sans KR" pitchFamily="34" charset="-120"/>
              </a:rPr>
              <a:t>수요 급증 → 시장 규모 확대 </a:t>
            </a:r>
            <a:r>
              <a:rPr lang="en-US" altLang="ko-KR" sz="1200" b="1" dirty="0">
                <a:solidFill>
                  <a:srgbClr val="222222"/>
                </a:solidFill>
                <a:latin typeface="+mj-ea"/>
                <a:ea typeface="+mj-ea"/>
                <a:cs typeface="Noto Sans KR" pitchFamily="34" charset="-120"/>
              </a:rPr>
              <a:t>· </a:t>
            </a:r>
            <a:r>
              <a:rPr lang="ko-KR" altLang="en-US" sz="1200" b="1" dirty="0">
                <a:solidFill>
                  <a:srgbClr val="222222"/>
                </a:solidFill>
                <a:latin typeface="+mj-ea"/>
                <a:ea typeface="+mj-ea"/>
                <a:cs typeface="Noto Sans KR" pitchFamily="34" charset="-120"/>
              </a:rPr>
              <a:t>공급 부족 → 가격 급등</a:t>
            </a:r>
          </a:p>
        </p:txBody>
      </p:sp>
      <p:sp>
        <p:nvSpPr>
          <p:cNvPr id="85" name="Text 72">
            <a:extLst>
              <a:ext uri="{FF2B5EF4-FFF2-40B4-BE49-F238E27FC236}">
                <a16:creationId xmlns:a16="http://schemas.microsoft.com/office/drawing/2014/main" id="{D907F967-3823-4F1E-8786-56273222550E}"/>
              </a:ext>
            </a:extLst>
          </p:cNvPr>
          <p:cNvSpPr/>
          <p:nvPr/>
        </p:nvSpPr>
        <p:spPr>
          <a:xfrm>
            <a:off x="6426432" y="3315595"/>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대규모 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3931894"/>
            <a:ext cx="5389372" cy="256480"/>
          </a:xfrm>
          <a:prstGeom prst="rect">
            <a:avLst/>
          </a:prstGeom>
          <a:noFill/>
          <a:ln/>
        </p:spPr>
        <p:txBody>
          <a:bodyPr wrap="square" lIns="0" tIns="0" rIns="0" bIns="0" rtlCol="0" anchor="t">
            <a:noAutofit/>
          </a:bodyPr>
          <a:lstStyle/>
          <a:p>
            <a:pPr>
              <a:lnSpc>
                <a:spcPts val="1820"/>
              </a:lnSpc>
            </a:pPr>
            <a:r>
              <a:rPr lang="ko-KR" altLang="en-US" sz="1200" dirty="0">
                <a:latin typeface="+mj-ea"/>
              </a:rPr>
              <a:t>■ </a:t>
            </a:r>
            <a:r>
              <a:rPr lang="ko-KR" altLang="en-US" sz="1200" b="1" dirty="0">
                <a:solidFill>
                  <a:srgbClr val="222222"/>
                </a:solidFill>
                <a:latin typeface="+mj-ea"/>
                <a:ea typeface="+mj-ea"/>
              </a:rPr>
              <a:t>비싸고 부족한 </a:t>
            </a:r>
            <a:r>
              <a:rPr lang="en-US" altLang="ko-KR" sz="1200" b="1" dirty="0">
                <a:solidFill>
                  <a:srgbClr val="222222"/>
                </a:solidFill>
                <a:latin typeface="+mj-ea"/>
                <a:ea typeface="+mj-ea"/>
              </a:rPr>
              <a:t>HBM → </a:t>
            </a:r>
            <a:r>
              <a:rPr lang="ko-KR" altLang="en-US" sz="1200" b="1" dirty="0">
                <a:solidFill>
                  <a:srgbClr val="222222"/>
                </a:solidFill>
                <a:latin typeface="+mj-ea"/>
                <a:ea typeface="+mj-ea"/>
              </a:rPr>
              <a:t>고객 수요가 용도별로 분화</a:t>
            </a:r>
            <a:r>
              <a:rPr lang="en-US" altLang="ko-KR" sz="1200" b="1" dirty="0">
                <a:solidFill>
                  <a:srgbClr val="222222"/>
                </a:solidFill>
                <a:latin typeface="+mj-ea"/>
                <a:ea typeface="+mj-ea"/>
              </a:rPr>
              <a:t>, </a:t>
            </a:r>
            <a:r>
              <a:rPr lang="ko-KR" altLang="en-US" sz="1200" b="1" dirty="0">
                <a:solidFill>
                  <a:srgbClr val="222222"/>
                </a:solidFill>
                <a:latin typeface="+mj-ea"/>
                <a:ea typeface="+mj-ea"/>
              </a:rPr>
              <a:t>신규 시장 성장</a:t>
            </a:r>
          </a:p>
          <a:p>
            <a:pPr>
              <a:lnSpc>
                <a:spcPts val="1820"/>
              </a:lnSpc>
            </a:pPr>
            <a:endParaRPr lang="en-US" sz="1200" b="1" dirty="0">
              <a:latin typeface="+mj-ea"/>
              <a:ea typeface="+mj-ea"/>
            </a:endParaRPr>
          </a:p>
        </p:txBody>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2316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메모리 병목이 심화되고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8"/>
                <a:stretch>
                  <a:fillRect l="-843" t="-8824" b="-8824"/>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Group"/>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9"/>
                <a:stretch>
                  <a:fillRect t="-8824" b="-588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193</a:t>
            </a:r>
            <a:endParaRPr lang="en-US" sz="10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309</a:t>
            </a:r>
            <a:endParaRPr lang="en-US" sz="10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357</a:t>
            </a:r>
            <a:endParaRPr lang="en-US" sz="10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≈401</a:t>
            </a:r>
            <a:endParaRPr lang="en-US" sz="10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4Q25</a:t>
            </a:r>
            <a:endParaRPr lang="en-US" sz="10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1Q26</a:t>
            </a:r>
            <a:endParaRPr lang="en-US" sz="10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2Q26</a:t>
            </a:r>
            <a:endParaRPr lang="en-US" sz="10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3Q26</a:t>
            </a:r>
            <a:endParaRPr lang="en-US" sz="10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4Q26E</a:t>
            </a:r>
            <a:endParaRPr lang="en-US" sz="10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a:lnSpc>
                <a:spcPts val="1440"/>
              </a:lnSpc>
            </a:pPr>
            <a:r>
              <a:rPr lang="en-US" sz="1000" b="1" dirty="0" err="1">
                <a:solidFill>
                  <a:srgbClr val="7A3608"/>
                </a:solidFill>
                <a:latin typeface="+mj-ea"/>
                <a:ea typeface="+mj-ea"/>
                <a:cs typeface="Noto Sans KR" pitchFamily="34" charset="-120"/>
              </a:rPr>
              <a:t>가격</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계속</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상승</a:t>
            </a:r>
            <a:r>
              <a:rPr lang="en-US" sz="1000" b="1" dirty="0">
                <a:solidFill>
                  <a:srgbClr val="7A3608"/>
                </a:solidFill>
                <a:latin typeface="+mj-ea"/>
                <a:ea typeface="+mj-ea"/>
                <a:cs typeface="Noto Sans KR" pitchFamily="34" charset="-120"/>
              </a:rPr>
              <a:t> (</a:t>
            </a:r>
            <a:r>
              <a:rPr lang="en-US" altLang="ko-KR" sz="1000" b="1" dirty="0" err="1">
                <a:solidFill>
                  <a:srgbClr val="7A3608"/>
                </a:solidFill>
                <a:latin typeface="+mj-ea"/>
                <a:cs typeface="Noto Sans KR" pitchFamily="34" charset="-120"/>
              </a:rPr>
              <a:t>증가율</a:t>
            </a:r>
            <a:r>
              <a:rPr lang="en-US" altLang="ko-KR" sz="1000" b="1" dirty="0">
                <a:solidFill>
                  <a:srgbClr val="7A3608"/>
                </a:solidFill>
                <a:latin typeface="+mj-ea"/>
                <a:cs typeface="Noto Sans KR" pitchFamily="34" charset="-120"/>
              </a:rPr>
              <a:t> </a:t>
            </a:r>
            <a:r>
              <a:rPr lang="en-US" altLang="ko-KR" sz="1000" b="1" dirty="0" err="1">
                <a:solidFill>
                  <a:srgbClr val="7A3608"/>
                </a:solidFill>
                <a:latin typeface="+mj-ea"/>
                <a:cs typeface="Noto Sans KR" pitchFamily="34" charset="-120"/>
              </a:rPr>
              <a:t>둔화</a:t>
            </a:r>
            <a:r>
              <a:rPr lang="en-US" altLang="ko-KR" sz="1000" b="1" dirty="0">
                <a:solidFill>
                  <a:srgbClr val="7A3608"/>
                </a:solidFill>
                <a:latin typeface="+mj-ea"/>
                <a:cs typeface="Noto Sans KR" pitchFamily="34" charset="-120"/>
              </a:rPr>
              <a:t>)</a:t>
            </a:r>
            <a:endParaRPr lang="en-US" sz="1000" dirty="0">
              <a:latin typeface="+mj-ea"/>
              <a:ea typeface="+mj-ea"/>
            </a:endParaRPr>
          </a:p>
        </p:txBody>
      </p:sp>
      <p:sp>
        <p:nvSpPr>
          <p:cNvPr id="102" name="TextBox 101">
            <a:extLst>
              <a:ext uri="{FF2B5EF4-FFF2-40B4-BE49-F238E27FC236}">
                <a16:creationId xmlns:a16="http://schemas.microsoft.com/office/drawing/2014/main" id="{52C243B0-F61C-4DDC-8C1D-CAA93936C10F}"/>
              </a:ext>
            </a:extLst>
          </p:cNvPr>
          <p:cNvSpPr txBox="1"/>
          <p:nvPr/>
        </p:nvSpPr>
        <p:spPr>
          <a:xfrm>
            <a:off x="4587011" y="2660875"/>
            <a:ext cx="1319658" cy="184666"/>
          </a:xfrm>
          <a:prstGeom prst="rect">
            <a:avLst/>
          </a:prstGeom>
          <a:noFill/>
        </p:spPr>
        <p:txBody>
          <a:bodyPr wrap="square">
            <a:spAutoFit/>
          </a:bodyPr>
          <a:lstStyle/>
          <a:p>
            <a:r>
              <a:rPr lang="ko-KR" altLang="en-US" sz="600" dirty="0">
                <a:solidFill>
                  <a:schemeClr val="bg1">
                    <a:lumMod val="50000"/>
                  </a:schemeClr>
                </a:solidFill>
              </a:rPr>
              <a:t>실제 </a:t>
            </a:r>
            <a:r>
              <a:rPr lang="en-US" altLang="ko-KR" sz="600" dirty="0">
                <a:solidFill>
                  <a:schemeClr val="bg1">
                    <a:lumMod val="50000"/>
                  </a:schemeClr>
                </a:solidFill>
              </a:rPr>
              <a:t>Context </a:t>
            </a:r>
            <a:r>
              <a:rPr lang="ko-KR" altLang="en-US" sz="600" dirty="0">
                <a:solidFill>
                  <a:schemeClr val="bg1">
                    <a:lumMod val="50000"/>
                  </a:schemeClr>
                </a:solidFill>
              </a:rPr>
              <a:t>누적 길이</a:t>
            </a:r>
          </a:p>
        </p:txBody>
      </p:sp>
      <p:sp>
        <p:nvSpPr>
          <p:cNvPr id="167" name="TextBox 166">
            <a:extLst>
              <a:ext uri="{FF2B5EF4-FFF2-40B4-BE49-F238E27FC236}">
                <a16:creationId xmlns:a16="http://schemas.microsoft.com/office/drawing/2014/main" id="{6D44623D-F088-4C5E-92CF-0FEF7D09EFD3}"/>
              </a:ext>
            </a:extLst>
          </p:cNvPr>
          <p:cNvSpPr txBox="1"/>
          <p:nvPr/>
        </p:nvSpPr>
        <p:spPr>
          <a:xfrm>
            <a:off x="294321" y="147178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여러 턴에 걸쳐 </a:t>
            </a:r>
            <a:r>
              <a:rPr lang="en-US" altLang="ko-KR" sz="1200" b="1" dirty="0"/>
              <a:t>Context</a:t>
            </a:r>
            <a:r>
              <a:rPr lang="ko-KR" altLang="en-US" sz="1200" b="1" dirty="0"/>
              <a:t>가 누적되어 데이터 크기 증가</a:t>
            </a:r>
            <a:endParaRPr lang="en-US" altLang="ko-KR" sz="1200" b="1" dirty="0"/>
          </a:p>
        </p:txBody>
      </p:sp>
      <p:grpSp>
        <p:nvGrpSpPr>
          <p:cNvPr id="185" name="그룹 184">
            <a:extLst>
              <a:ext uri="{FF2B5EF4-FFF2-40B4-BE49-F238E27FC236}">
                <a16:creationId xmlns:a16="http://schemas.microsoft.com/office/drawing/2014/main" id="{1F771957-8FF3-4E94-8822-8EA7D628409E}"/>
              </a:ext>
            </a:extLst>
          </p:cNvPr>
          <p:cNvGrpSpPr/>
          <p:nvPr/>
        </p:nvGrpSpPr>
        <p:grpSpPr>
          <a:xfrm>
            <a:off x="332200" y="1936075"/>
            <a:ext cx="5528599" cy="2048658"/>
            <a:chOff x="332200" y="2268462"/>
            <a:chExt cx="5528599" cy="2048658"/>
          </a:xfrm>
        </p:grpSpPr>
        <p:grpSp>
          <p:nvGrpSpPr>
            <p:cNvPr id="186" name="Figure A (graph image + editable text)">
              <a:extLst>
                <a:ext uri="{FF2B5EF4-FFF2-40B4-BE49-F238E27FC236}">
                  <a16:creationId xmlns:a16="http://schemas.microsoft.com/office/drawing/2014/main" id="{D5940657-C807-48F3-BCA3-A0142D576418}"/>
                </a:ext>
              </a:extLst>
            </p:cNvPr>
            <p:cNvGrpSpPr/>
            <p:nvPr/>
          </p:nvGrpSpPr>
          <p:grpSpPr>
            <a:xfrm>
              <a:off x="332200" y="2268462"/>
              <a:ext cx="5528599" cy="2048658"/>
              <a:chOff x="709672" y="941803"/>
              <a:chExt cx="4850000" cy="2020171"/>
            </a:xfrm>
          </p:grpSpPr>
          <p:pic>
            <p:nvPicPr>
              <p:cNvPr id="188" name="Graph A" descr="누적 문맥에 따른 Llama-3.1-70B KV cache 증가와 HBM 용량 비교 그래프">
                <a:extLst>
                  <a:ext uri="{FF2B5EF4-FFF2-40B4-BE49-F238E27FC236}">
                    <a16:creationId xmlns:a16="http://schemas.microsoft.com/office/drawing/2014/main" id="{9E28E7FE-D0FA-4575-A29B-76BA11589D63}"/>
                  </a:ext>
                </a:extLst>
              </p:cNvPr>
              <p:cNvPicPr>
                <a:picLocks noChangeAspect="1"/>
              </p:cNvPicPr>
              <p:nvPr/>
            </p:nvPicPr>
            <p:blipFill>
              <a:blip r:embed="rId10"/>
              <a:stretch>
                <a:fillRect/>
              </a:stretch>
            </p:blipFill>
            <p:spPr>
              <a:xfrm>
                <a:off x="709672" y="1100000"/>
                <a:ext cx="4850000" cy="1861974"/>
              </a:xfrm>
              <a:prstGeom prst="rect">
                <a:avLst/>
              </a:prstGeom>
            </p:spPr>
          </p:pic>
          <p:sp>
            <p:nvSpPr>
              <p:cNvPr id="189" name="Text A">
                <a:extLst>
                  <a:ext uri="{FF2B5EF4-FFF2-40B4-BE49-F238E27FC236}">
                    <a16:creationId xmlns:a16="http://schemas.microsoft.com/office/drawing/2014/main" id="{EF1ADE28-9406-433B-90FC-6BC4B59B3086}"/>
                  </a:ext>
                </a:extLst>
              </p:cNvPr>
              <p:cNvSpPr txBox="1"/>
              <p:nvPr/>
            </p:nvSpPr>
            <p:spPr>
              <a:xfrm>
                <a:off x="1165187" y="941803"/>
                <a:ext cx="4047237" cy="146952"/>
              </a:xfrm>
              <a:prstGeom prst="rect">
                <a:avLst/>
              </a:prstGeom>
              <a:solidFill>
                <a:schemeClr val="accent2">
                  <a:lumMod val="20000"/>
                  <a:lumOff val="80000"/>
                </a:schemeClr>
              </a:solidFill>
            </p:spPr>
            <p:txBody>
              <a:bodyPr wrap="none" lIns="0" tIns="0" rIns="0" bIns="0" rtlCol="0" anchor="t">
                <a:noAutofit/>
              </a:bodyPr>
              <a:lstStyle/>
              <a:p>
                <a:pPr algn="ctr">
                  <a:lnSpc>
                    <a:spcPct val="100000"/>
                  </a:lnSpc>
                  <a:spcBef>
                    <a:spcPts val="0"/>
                  </a:spcBef>
                </a:pPr>
                <a:r>
                  <a:rPr lang="ko-KR" altLang="en-US" sz="1000" b="1" dirty="0">
                    <a:solidFill>
                      <a:srgbClr val="1F2933"/>
                    </a:solidFill>
                  </a:rPr>
                  <a:t>문맥 누적 → 데이터</a:t>
                </a:r>
                <a:r>
                  <a:rPr lang="en-US" altLang="ko-KR" sz="1000" b="1" dirty="0">
                    <a:solidFill>
                      <a:srgbClr val="1F2933"/>
                    </a:solidFill>
                  </a:rPr>
                  <a:t>(</a:t>
                </a:r>
                <a:r>
                  <a:rPr lang="ko-KR" altLang="en-US" sz="1000" b="1" dirty="0">
                    <a:solidFill>
                      <a:srgbClr val="1F2933"/>
                    </a:solidFill>
                  </a:rPr>
                  <a:t>KV 캐시</a:t>
                </a:r>
                <a:r>
                  <a:rPr lang="en-US" altLang="ko-KR" sz="1000" b="1" dirty="0">
                    <a:solidFill>
                      <a:srgbClr val="1F2933"/>
                    </a:solidFill>
                  </a:rPr>
                  <a:t>)</a:t>
                </a:r>
                <a:r>
                  <a:rPr lang="ko-KR" altLang="en-US" sz="1000" b="1" dirty="0">
                    <a:solidFill>
                      <a:srgbClr val="1F2933"/>
                    </a:solidFill>
                  </a:rPr>
                  <a:t>증가 → HBM 용량 초과 (Llama-3.1-70B, BF16)</a:t>
                </a:r>
              </a:p>
            </p:txBody>
          </p:sp>
          <p:sp>
            <p:nvSpPr>
              <p:cNvPr id="190" name="Text A">
                <a:extLst>
                  <a:ext uri="{FF2B5EF4-FFF2-40B4-BE49-F238E27FC236}">
                    <a16:creationId xmlns:a16="http://schemas.microsoft.com/office/drawing/2014/main" id="{F7B98B0B-4623-4215-B486-C141CB0F4F10}"/>
                  </a:ext>
                </a:extLst>
              </p:cNvPr>
              <p:cNvSpPr txBox="1"/>
              <p:nvPr/>
            </p:nvSpPr>
            <p:spPr>
              <a:xfrm>
                <a:off x="1294863" y="1267700"/>
                <a:ext cx="3191956" cy="99060"/>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5F6B7A"/>
                    </a:solidFill>
                  </a:rPr>
                  <a:t>[1] 실측 앵커 (SWE-bench Pro 평균 누적 문맥 69–80K)</a:t>
                </a:r>
              </a:p>
            </p:txBody>
          </p:sp>
          <p:sp>
            <p:nvSpPr>
              <p:cNvPr id="191" name="Text A">
                <a:extLst>
                  <a:ext uri="{FF2B5EF4-FFF2-40B4-BE49-F238E27FC236}">
                    <a16:creationId xmlns:a16="http://schemas.microsoft.com/office/drawing/2014/main" id="{9FD7AB91-3161-4313-9460-7727929DB319}"/>
                  </a:ext>
                </a:extLst>
              </p:cNvPr>
              <p:cNvSpPr txBox="1"/>
              <p:nvPr/>
            </p:nvSpPr>
            <p:spPr>
              <a:xfrm>
                <a:off x="3839562" y="1267701"/>
                <a:ext cx="1306641" cy="79148"/>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5F6B7A"/>
                    </a:solidFill>
                  </a:rPr>
                  <a:t>가정: [3] 토큰 사용량 배수 적용</a:t>
                </a:r>
              </a:p>
            </p:txBody>
          </p:sp>
          <p:sp>
            <p:nvSpPr>
              <p:cNvPr id="192" name="Text A">
                <a:extLst>
                  <a:ext uri="{FF2B5EF4-FFF2-40B4-BE49-F238E27FC236}">
                    <a16:creationId xmlns:a16="http://schemas.microsoft.com/office/drawing/2014/main" id="{8C83B945-C9E9-43B7-BA8D-FB67F8B5CCE1}"/>
                  </a:ext>
                </a:extLst>
              </p:cNvPr>
              <p:cNvSpPr txBox="1"/>
              <p:nvPr/>
            </p:nvSpPr>
            <p:spPr>
              <a:xfrm>
                <a:off x="1232798" y="1434268"/>
                <a:ext cx="3191956" cy="107315"/>
              </a:xfrm>
              <a:prstGeom prst="rect">
                <a:avLst/>
              </a:prstGeom>
              <a:noFill/>
            </p:spPr>
            <p:txBody>
              <a:bodyPr wrap="none" lIns="0" tIns="0" rIns="0" bIns="0" rtlCol="0" anchor="t">
                <a:noAutofit/>
              </a:bodyPr>
              <a:lstStyle/>
              <a:p>
                <a:pPr algn="l">
                  <a:lnSpc>
                    <a:spcPct val="100000"/>
                  </a:lnSpc>
                  <a:spcBef>
                    <a:spcPts val="0"/>
                  </a:spcBef>
                </a:pPr>
                <a:r>
                  <a:rPr lang="ko-KR" altLang="en-US" sz="700" dirty="0">
                    <a:solidFill>
                      <a:srgbClr val="B42318"/>
                    </a:solidFill>
                  </a:rPr>
                  <a:t>B200 · MI300X HBM 192 GB</a:t>
                </a:r>
              </a:p>
            </p:txBody>
          </p:sp>
          <p:sp>
            <p:nvSpPr>
              <p:cNvPr id="193" name="Text A">
                <a:extLst>
                  <a:ext uri="{FF2B5EF4-FFF2-40B4-BE49-F238E27FC236}">
                    <a16:creationId xmlns:a16="http://schemas.microsoft.com/office/drawing/2014/main" id="{314D1D6E-3BC1-4A5E-805F-5CAC91148F6E}"/>
                  </a:ext>
                </a:extLst>
              </p:cNvPr>
              <p:cNvSpPr txBox="1"/>
              <p:nvPr/>
            </p:nvSpPr>
            <p:spPr>
              <a:xfrm>
                <a:off x="2247130" y="1984851"/>
                <a:ext cx="3191956" cy="107315"/>
              </a:xfrm>
              <a:prstGeom prst="rect">
                <a:avLst/>
              </a:prstGeom>
              <a:noFill/>
            </p:spPr>
            <p:txBody>
              <a:bodyPr wrap="none" lIns="0" tIns="0" rIns="0" bIns="0" rtlCol="0" anchor="b">
                <a:noAutofit/>
              </a:bodyPr>
              <a:lstStyle/>
              <a:p>
                <a:pPr algn="r">
                  <a:lnSpc>
                    <a:spcPct val="100000"/>
                  </a:lnSpc>
                  <a:spcBef>
                    <a:spcPts val="0"/>
                  </a:spcBef>
                </a:pPr>
                <a:r>
                  <a:rPr lang="ko-KR" altLang="en-US" sz="700" dirty="0">
                    <a:solidFill>
                      <a:srgbClr val="B42318"/>
                    </a:solidFill>
                  </a:rPr>
                  <a:t>H100 HBM 80 GB</a:t>
                </a:r>
              </a:p>
            </p:txBody>
          </p:sp>
          <p:sp>
            <p:nvSpPr>
              <p:cNvPr id="194" name="Text A">
                <a:extLst>
                  <a:ext uri="{FF2B5EF4-FFF2-40B4-BE49-F238E27FC236}">
                    <a16:creationId xmlns:a16="http://schemas.microsoft.com/office/drawing/2014/main" id="{114C35BF-E9B5-4AD2-98A3-EF7078F3C469}"/>
                  </a:ext>
                </a:extLst>
              </p:cNvPr>
              <p:cNvSpPr txBox="1"/>
              <p:nvPr/>
            </p:nvSpPr>
            <p:spPr>
              <a:xfrm>
                <a:off x="3000011" y="2197678"/>
                <a:ext cx="2251530" cy="214630"/>
              </a:xfrm>
              <a:prstGeom prst="rect">
                <a:avLst/>
              </a:prstGeom>
              <a:noFill/>
            </p:spPr>
            <p:txBody>
              <a:bodyPr wrap="none" lIns="0" tIns="0" rIns="0" bIns="0" rtlCol="0" anchor="t">
                <a:noAutofit/>
              </a:bodyPr>
              <a:lstStyle/>
              <a:p>
                <a:pPr algn="l">
                  <a:lnSpc>
                    <a:spcPct val="100000"/>
                  </a:lnSpc>
                  <a:spcBef>
                    <a:spcPts val="0"/>
                  </a:spcBef>
                </a:pPr>
                <a:r>
                  <a:rPr lang="ko-KR" altLang="en-US" sz="700" dirty="0">
                    <a:solidFill>
                      <a:srgbClr val="B42318"/>
                    </a:solidFill>
                  </a:rPr>
                  <a:t>244K 토큰에서</a:t>
                </a:r>
              </a:p>
              <a:p>
                <a:pPr algn="l">
                  <a:lnSpc>
                    <a:spcPct val="100000"/>
                  </a:lnSpc>
                  <a:spcBef>
                    <a:spcPts val="0"/>
                  </a:spcBef>
                </a:pPr>
                <a:r>
                  <a:rPr lang="ko-KR" altLang="en-US" sz="700" dirty="0">
                    <a:solidFill>
                      <a:srgbClr val="B42318"/>
                    </a:solidFill>
                  </a:rPr>
                  <a:t>H100 80 GB 초과</a:t>
                </a:r>
              </a:p>
            </p:txBody>
          </p:sp>
          <p:sp>
            <p:nvSpPr>
              <p:cNvPr id="195" name="Text A">
                <a:extLst>
                  <a:ext uri="{FF2B5EF4-FFF2-40B4-BE49-F238E27FC236}">
                    <a16:creationId xmlns:a16="http://schemas.microsoft.com/office/drawing/2014/main" id="{44FEDBB6-E12E-413F-B37E-EA7BF6CE3D4E}"/>
                  </a:ext>
                </a:extLst>
              </p:cNvPr>
              <p:cNvSpPr txBox="1"/>
              <p:nvPr/>
            </p:nvSpPr>
            <p:spPr>
              <a:xfrm>
                <a:off x="1225704" y="2144419"/>
                <a:ext cx="3191956"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채팅  1×</a:t>
                </a:r>
              </a:p>
              <a:p>
                <a:pPr algn="l">
                  <a:lnSpc>
                    <a:spcPct val="100000"/>
                  </a:lnSpc>
                  <a:spcBef>
                    <a:spcPts val="0"/>
                  </a:spcBef>
                </a:pPr>
                <a:r>
                  <a:rPr lang="ko-KR" altLang="en-US" sz="700" dirty="0">
                    <a:solidFill>
                      <a:srgbClr val="1F2933"/>
                    </a:solidFill>
                  </a:rPr>
                  <a:t>≈19K · ≈6 GB</a:t>
                </a:r>
              </a:p>
            </p:txBody>
          </p:sp>
          <p:sp>
            <p:nvSpPr>
              <p:cNvPr id="196" name="Text A">
                <a:extLst>
                  <a:ext uri="{FF2B5EF4-FFF2-40B4-BE49-F238E27FC236}">
                    <a16:creationId xmlns:a16="http://schemas.microsoft.com/office/drawing/2014/main" id="{6E53047B-F5DC-4550-96C6-E9D1996E0484}"/>
                  </a:ext>
                </a:extLst>
              </p:cNvPr>
              <p:cNvSpPr txBox="1"/>
              <p:nvPr/>
            </p:nvSpPr>
            <p:spPr>
              <a:xfrm>
                <a:off x="1991774" y="2361649"/>
                <a:ext cx="3191956"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에이전트  ≈4×</a:t>
                </a:r>
              </a:p>
              <a:p>
                <a:pPr algn="l">
                  <a:lnSpc>
                    <a:spcPct val="100000"/>
                  </a:lnSpc>
                  <a:spcBef>
                    <a:spcPts val="0"/>
                  </a:spcBef>
                </a:pPr>
                <a:r>
                  <a:rPr lang="ko-KR" altLang="en-US" sz="700" dirty="0">
                    <a:solidFill>
                      <a:srgbClr val="1F2933"/>
                    </a:solidFill>
                  </a:rPr>
                  <a:t>69–80K · ≈25 GB</a:t>
                </a:r>
              </a:p>
            </p:txBody>
          </p:sp>
          <p:sp>
            <p:nvSpPr>
              <p:cNvPr id="197" name="Text A">
                <a:extLst>
                  <a:ext uri="{FF2B5EF4-FFF2-40B4-BE49-F238E27FC236}">
                    <a16:creationId xmlns:a16="http://schemas.microsoft.com/office/drawing/2014/main" id="{136ADBF4-7821-4FC1-9903-E1CCC242A77A}"/>
                  </a:ext>
                </a:extLst>
              </p:cNvPr>
              <p:cNvSpPr txBox="1"/>
              <p:nvPr/>
            </p:nvSpPr>
            <p:spPr>
              <a:xfrm>
                <a:off x="2901895" y="1699659"/>
                <a:ext cx="1515765"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멀티에이전트  ≈15×</a:t>
                </a:r>
              </a:p>
              <a:p>
                <a:pPr algn="l">
                  <a:lnSpc>
                    <a:spcPct val="100000"/>
                  </a:lnSpc>
                  <a:spcBef>
                    <a:spcPts val="0"/>
                  </a:spcBef>
                </a:pPr>
                <a:r>
                  <a:rPr lang="ko-KR" altLang="en-US" sz="700" dirty="0">
                    <a:solidFill>
                      <a:srgbClr val="1F2933"/>
                    </a:solidFill>
                  </a:rPr>
                  <a:t>≈281K · ≈92 GB</a:t>
                </a:r>
              </a:p>
            </p:txBody>
          </p:sp>
          <p:sp>
            <p:nvSpPr>
              <p:cNvPr id="198" name="Text A">
                <a:extLst>
                  <a:ext uri="{FF2B5EF4-FFF2-40B4-BE49-F238E27FC236}">
                    <a16:creationId xmlns:a16="http://schemas.microsoft.com/office/drawing/2014/main" id="{CA4322CE-73E3-447B-8CA0-88EBDBDD997B}"/>
                  </a:ext>
                </a:extLst>
              </p:cNvPr>
              <p:cNvSpPr txBox="1"/>
              <p:nvPr/>
            </p:nvSpPr>
            <p:spPr>
              <a:xfrm>
                <a:off x="1729324" y="2757585"/>
                <a:ext cx="3191956" cy="107315"/>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5F6B7A"/>
                    </a:solidFill>
                  </a:rPr>
                  <a:t>누적 문맥 길이 (</a:t>
                </a:r>
                <a:r>
                  <a:rPr lang="ko-KR" altLang="en-US" sz="800" dirty="0" err="1">
                    <a:solidFill>
                      <a:srgbClr val="5F6B7A"/>
                    </a:solidFill>
                  </a:rPr>
                  <a:t>tokens</a:t>
                </a:r>
                <a:r>
                  <a:rPr lang="ko-KR" altLang="en-US" sz="800" dirty="0">
                    <a:solidFill>
                      <a:srgbClr val="5F6B7A"/>
                    </a:solidFill>
                  </a:rPr>
                  <a:t>)</a:t>
                </a:r>
              </a:p>
            </p:txBody>
          </p:sp>
          <p:sp>
            <p:nvSpPr>
              <p:cNvPr id="199" name="Text A">
                <a:extLst>
                  <a:ext uri="{FF2B5EF4-FFF2-40B4-BE49-F238E27FC236}">
                    <a16:creationId xmlns:a16="http://schemas.microsoft.com/office/drawing/2014/main" id="{64361004-759F-4AB7-9D13-7EB2A5CDE584}"/>
                  </a:ext>
                </a:extLst>
              </p:cNvPr>
              <p:cNvSpPr txBox="1"/>
              <p:nvPr/>
            </p:nvSpPr>
            <p:spPr>
              <a:xfrm rot="16200000">
                <a:off x="239745" y="1915722"/>
                <a:ext cx="1241316" cy="141864"/>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5F6B7A"/>
                    </a:solidFill>
                  </a:rPr>
                  <a:t>KV cache (GB)</a:t>
                </a:r>
              </a:p>
            </p:txBody>
          </p:sp>
          <p:sp>
            <p:nvSpPr>
              <p:cNvPr id="255" name="Text A">
                <a:extLst>
                  <a:ext uri="{FF2B5EF4-FFF2-40B4-BE49-F238E27FC236}">
                    <a16:creationId xmlns:a16="http://schemas.microsoft.com/office/drawing/2014/main" id="{314D1D6E-3BC1-4A5E-805F-5CAC91148F6E}"/>
                  </a:ext>
                </a:extLst>
              </p:cNvPr>
              <p:cNvSpPr txBox="1"/>
              <p:nvPr/>
            </p:nvSpPr>
            <p:spPr>
              <a:xfrm>
                <a:off x="2613955" y="1507986"/>
                <a:ext cx="2106068" cy="164389"/>
              </a:xfrm>
              <a:prstGeom prst="rect">
                <a:avLst/>
              </a:prstGeom>
              <a:solidFill>
                <a:schemeClr val="accent4">
                  <a:lumMod val="20000"/>
                  <a:lumOff val="80000"/>
                </a:schemeClr>
              </a:solidFill>
            </p:spPr>
            <p:txBody>
              <a:bodyPr wrap="none" lIns="0" tIns="0" rIns="0" bIns="0" rtlCol="0" anchor="b">
                <a:noAutofit/>
              </a:bodyPr>
              <a:lstStyle/>
              <a:p>
                <a:pPr algn="r">
                  <a:lnSpc>
                    <a:spcPct val="100000"/>
                  </a:lnSpc>
                  <a:spcBef>
                    <a:spcPts val="0"/>
                  </a:spcBef>
                </a:pPr>
                <a:r>
                  <a:rPr lang="en-US" altLang="ko-KR" sz="700" dirty="0">
                    <a:solidFill>
                      <a:srgbClr val="B42318"/>
                    </a:solidFill>
                  </a:rPr>
                  <a:t>*</a:t>
                </a:r>
                <a:r>
                  <a:rPr lang="ko-KR" altLang="en-US" sz="700" dirty="0">
                    <a:solidFill>
                      <a:srgbClr val="B42318"/>
                    </a:solidFill>
                  </a:rPr>
                  <a:t> 밀레니엄 문제를 푼 </a:t>
                </a:r>
                <a:r>
                  <a:rPr lang="en-US" altLang="ko-KR" sz="700" dirty="0">
                    <a:solidFill>
                      <a:srgbClr val="B42318"/>
                    </a:solidFill>
                  </a:rPr>
                  <a:t>Agent </a:t>
                </a:r>
                <a:r>
                  <a:rPr lang="ko-KR" altLang="en-US" sz="700" dirty="0">
                    <a:solidFill>
                      <a:srgbClr val="B42318"/>
                    </a:solidFill>
                  </a:rPr>
                  <a:t>수는 </a:t>
                </a:r>
                <a:r>
                  <a:rPr lang="en-US" altLang="ko-KR" sz="700" dirty="0">
                    <a:solidFill>
                      <a:srgbClr val="B42318"/>
                    </a:solidFill>
                  </a:rPr>
                  <a:t>10</a:t>
                </a:r>
                <a:r>
                  <a:rPr lang="ko-KR" altLang="en-US" sz="700" dirty="0">
                    <a:solidFill>
                      <a:srgbClr val="B42318"/>
                    </a:solidFill>
                  </a:rPr>
                  <a:t>만개</a:t>
                </a:r>
                <a:r>
                  <a:rPr lang="en-US" altLang="ko-KR" sz="700" dirty="0">
                    <a:solidFill>
                      <a:srgbClr val="B42318"/>
                    </a:solidFill>
                  </a:rPr>
                  <a:t>, 1</a:t>
                </a:r>
                <a:r>
                  <a:rPr lang="ko-KR" altLang="en-US" sz="700" dirty="0">
                    <a:solidFill>
                      <a:srgbClr val="B42318"/>
                    </a:solidFill>
                  </a:rPr>
                  <a:t>그룹당 </a:t>
                </a:r>
                <a:r>
                  <a:rPr lang="en-US" altLang="ko-KR" sz="700" dirty="0">
                    <a:solidFill>
                      <a:srgbClr val="B42318"/>
                    </a:solidFill>
                  </a:rPr>
                  <a:t>100</a:t>
                </a:r>
                <a:r>
                  <a:rPr lang="ko-KR" altLang="en-US" sz="700" dirty="0">
                    <a:solidFill>
                      <a:srgbClr val="B42318"/>
                    </a:solidFill>
                  </a:rPr>
                  <a:t>개</a:t>
                </a:r>
              </a:p>
            </p:txBody>
          </p:sp>
        </p:grpSp>
        <p:sp>
          <p:nvSpPr>
            <p:cNvPr id="187" name="실행 단추: 앞으로 또는 다음으로 이동 186">
              <a:hlinkClick r:id="rId11" action="ppaction://hlinksldjump" highlightClick="1"/>
              <a:extLst>
                <a:ext uri="{FF2B5EF4-FFF2-40B4-BE49-F238E27FC236}">
                  <a16:creationId xmlns:a16="http://schemas.microsoft.com/office/drawing/2014/main" id="{98539F28-01D1-4C51-810A-DAD5913CD3D3}"/>
                </a:ext>
              </a:extLst>
            </p:cNvPr>
            <p:cNvSpPr/>
            <p:nvPr/>
          </p:nvSpPr>
          <p:spPr>
            <a:xfrm>
              <a:off x="5585737" y="2295555"/>
              <a:ext cx="185396" cy="18014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200" name="TextBox 199">
            <a:extLst>
              <a:ext uri="{FF2B5EF4-FFF2-40B4-BE49-F238E27FC236}">
                <a16:creationId xmlns:a16="http://schemas.microsoft.com/office/drawing/2014/main" id="{CE105C95-5508-4E86-8637-1A88AEFA109B}"/>
              </a:ext>
            </a:extLst>
          </p:cNvPr>
          <p:cNvSpPr txBox="1"/>
          <p:nvPr/>
        </p:nvSpPr>
        <p:spPr>
          <a:xfrm>
            <a:off x="294321" y="408549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 </a:t>
            </a:r>
            <a:r>
              <a:rPr lang="ko-KR" altLang="en-US" sz="1200" b="1" dirty="0"/>
              <a:t>검색</a:t>
            </a:r>
            <a:r>
              <a:rPr lang="en-US" altLang="ko-KR" sz="1200" b="1" dirty="0"/>
              <a:t>, </a:t>
            </a:r>
            <a:r>
              <a:rPr lang="ko-KR" altLang="en-US" sz="1200" b="1" dirty="0"/>
              <a:t>도구 실행의 반복과 연산 자원 경합에 따른 대기 지연 증가</a:t>
            </a:r>
          </a:p>
        </p:txBody>
      </p:sp>
      <p:sp>
        <p:nvSpPr>
          <p:cNvPr id="202" name="Text 99">
            <a:extLst>
              <a:ext uri="{FF2B5EF4-FFF2-40B4-BE49-F238E27FC236}">
                <a16:creationId xmlns:a16="http://schemas.microsoft.com/office/drawing/2014/main" id="{D3AB1718-7726-425A-9E69-7509BE0FD34A}"/>
              </a:ext>
            </a:extLst>
          </p:cNvPr>
          <p:cNvSpPr/>
          <p:nvPr/>
        </p:nvSpPr>
        <p:spPr>
          <a:xfrm>
            <a:off x="332200" y="6235476"/>
            <a:ext cx="5724489" cy="454947"/>
          </a:xfrm>
          <a:prstGeom prst="rect">
            <a:avLst/>
          </a:prstGeom>
          <a:noFill/>
          <a:ln/>
        </p:spPr>
        <p:txBody>
          <a:bodyPr wrap="square" lIns="0" tIns="0" rIns="0" bIns="0" rtlCol="0" anchor="t">
            <a:noAutofit/>
          </a:bodyPr>
          <a:lstStyle/>
          <a:p>
            <a:pPr>
              <a:lnSpc>
                <a:spcPct val="125000"/>
              </a:lnSpc>
            </a:pPr>
            <a:r>
              <a:rPr lang="en-US" sz="600" dirty="0" err="1">
                <a:solidFill>
                  <a:srgbClr val="555555"/>
                </a:solidFill>
                <a:latin typeface="Noto Sans KR" pitchFamily="34" charset="0"/>
                <a:ea typeface="Noto Sans KR" pitchFamily="34" charset="-122"/>
                <a:cs typeface="Noto Sans KR" pitchFamily="34" charset="-120"/>
              </a:rPr>
              <a:t>출처</a:t>
            </a:r>
            <a:r>
              <a:rPr lang="en-US" sz="600" dirty="0">
                <a:solidFill>
                  <a:srgbClr val="555555"/>
                </a:solidFill>
                <a:latin typeface="Noto Sans KR" pitchFamily="34" charset="0"/>
                <a:ea typeface="Noto Sans KR" pitchFamily="34" charset="-122"/>
                <a:cs typeface="Noto Sans KR" pitchFamily="34" charset="-120"/>
              </a:rPr>
              <a:t>: [1] arXiv:2605.26297 [2] arXiv:2608.15127 [3] Anthropic Eng. Blog [10] </a:t>
            </a:r>
            <a:r>
              <a:rPr lang="en-US" altLang="ko-KR" sz="600" dirty="0">
                <a:solidFill>
                  <a:srgbClr val="777777"/>
                </a:solidFill>
                <a:latin typeface="Arial"/>
              </a:rPr>
              <a:t>Conceptual illustration based on Continuum (Li et al., 2025), arXiv:2511.02230</a:t>
            </a:r>
            <a:endParaRPr lang="en-US" sz="600" dirty="0">
              <a:solidFill>
                <a:srgbClr val="555555"/>
              </a:solidFill>
              <a:latin typeface="Noto Sans KR" pitchFamily="34" charset="0"/>
              <a:ea typeface="Noto Sans KR" pitchFamily="34" charset="-122"/>
              <a:cs typeface="Noto Sans KR" pitchFamily="34" charset="-120"/>
            </a:endParaRPr>
          </a:p>
          <a:p>
            <a:pPr marL="0" indent="0" algn="l">
              <a:lnSpc>
                <a:spcPct val="125000"/>
              </a:lnSpc>
              <a:buNone/>
            </a:pPr>
            <a:r>
              <a:rPr lang="en-US" altLang="ko-KR" sz="600" dirty="0"/>
              <a:t>KV cache 0.33MB/token(Llama-3.1-70B, BF16). </a:t>
            </a:r>
            <a:r>
              <a:rPr lang="ko-KR" altLang="en-US" sz="600" dirty="0"/>
              <a:t>문맥 길이</a:t>
            </a:r>
            <a:r>
              <a:rPr lang="en-US" altLang="ko-KR" sz="600" dirty="0"/>
              <a:t>: </a:t>
            </a:r>
            <a:r>
              <a:rPr lang="ko-KR" altLang="en-US" sz="600" dirty="0"/>
              <a:t>에이전트 ≈</a:t>
            </a:r>
            <a:r>
              <a:rPr lang="en-US" altLang="ko-KR" sz="600" dirty="0"/>
              <a:t>75K [1], </a:t>
            </a:r>
            <a:r>
              <a:rPr lang="ko-KR" altLang="en-US" sz="600" dirty="0"/>
              <a:t>채팅</a:t>
            </a:r>
            <a:r>
              <a:rPr lang="en-US" altLang="ko-KR" sz="600" dirty="0"/>
              <a:t>·</a:t>
            </a:r>
            <a:r>
              <a:rPr lang="ko-KR" altLang="en-US" sz="600" dirty="0"/>
              <a:t>멀티는 </a:t>
            </a:r>
            <a:r>
              <a:rPr lang="en-US" altLang="ko-KR" sz="600" dirty="0"/>
              <a:t>[3]</a:t>
            </a:r>
            <a:r>
              <a:rPr lang="ko-KR" altLang="en-US" sz="600" dirty="0"/>
              <a:t>의 토큰 배수</a:t>
            </a:r>
            <a:r>
              <a:rPr lang="en-US" altLang="ko-KR" sz="600" dirty="0"/>
              <a:t>(≈4×/≈15×)</a:t>
            </a:r>
            <a:r>
              <a:rPr lang="ko-KR" altLang="en-US" sz="600" dirty="0"/>
              <a:t>를 적용한 가정</a:t>
            </a:r>
            <a:r>
              <a:rPr lang="en-US" altLang="ko-KR" sz="600" dirty="0"/>
              <a:t>. </a:t>
            </a:r>
            <a:r>
              <a:rPr lang="ko-KR" altLang="en-US" sz="600" dirty="0"/>
              <a:t>동시 수용 </a:t>
            </a:r>
            <a:r>
              <a:rPr lang="ko-KR" altLang="en-US" sz="500" dirty="0"/>
              <a:t>세션</a:t>
            </a:r>
            <a:r>
              <a:rPr lang="ko-KR" altLang="en-US" sz="600" dirty="0"/>
              <a:t> </a:t>
            </a:r>
            <a:r>
              <a:rPr lang="en-US" altLang="ko-KR" sz="600" dirty="0"/>
              <a:t>= (640GB−</a:t>
            </a:r>
            <a:r>
              <a:rPr lang="ko-KR" altLang="en-US" sz="600" dirty="0"/>
              <a:t>가중치 </a:t>
            </a:r>
            <a:r>
              <a:rPr lang="en-US" altLang="ko-KR" sz="600" dirty="0"/>
              <a:t>140GB)÷K</a:t>
            </a:r>
          </a:p>
        </p:txBody>
      </p:sp>
      <p:grpSp>
        <p:nvGrpSpPr>
          <p:cNvPr id="13" name="그룹 12"/>
          <p:cNvGrpSpPr/>
          <p:nvPr/>
        </p:nvGrpSpPr>
        <p:grpSpPr>
          <a:xfrm>
            <a:off x="447647" y="4446663"/>
            <a:ext cx="5618254" cy="1505890"/>
            <a:chOff x="447647" y="4446663"/>
            <a:chExt cx="5618254" cy="1505890"/>
          </a:xfrm>
        </p:grpSpPr>
        <p:sp>
          <p:nvSpPr>
            <p:cNvPr id="210" name="TextBox 209"/>
            <p:cNvSpPr txBox="1"/>
            <p:nvPr/>
          </p:nvSpPr>
          <p:spPr>
            <a:xfrm>
              <a:off x="447647" y="4691035"/>
              <a:ext cx="627095" cy="230832"/>
            </a:xfrm>
            <a:prstGeom prst="rect">
              <a:avLst/>
            </a:prstGeom>
            <a:noFill/>
          </p:spPr>
          <p:txBody>
            <a:bodyPr wrap="none" anchor="ctr">
              <a:spAutoFit/>
            </a:bodyPr>
            <a:lstStyle/>
            <a:p>
              <a:pPr defTabSz="457200" latinLnBrk="0"/>
              <a:r>
                <a:rPr sz="900" b="1" dirty="0">
                  <a:solidFill>
                    <a:srgbClr val="111111"/>
                  </a:solidFill>
                  <a:latin typeface="Arial"/>
                </a:rPr>
                <a:t>Agent A</a:t>
              </a:r>
            </a:p>
          </p:txBody>
        </p:sp>
        <p:sp>
          <p:nvSpPr>
            <p:cNvPr id="211" name="TextBox 210"/>
            <p:cNvSpPr txBox="1"/>
            <p:nvPr/>
          </p:nvSpPr>
          <p:spPr>
            <a:xfrm>
              <a:off x="447647" y="5368239"/>
              <a:ext cx="1217000" cy="230832"/>
            </a:xfrm>
            <a:prstGeom prst="rect">
              <a:avLst/>
            </a:prstGeom>
            <a:noFill/>
          </p:spPr>
          <p:txBody>
            <a:bodyPr wrap="none" anchor="ctr">
              <a:spAutoFit/>
            </a:bodyPr>
            <a:lstStyle/>
            <a:p>
              <a:pPr defTabSz="457200" latinLnBrk="0"/>
              <a:r>
                <a:rPr sz="900" b="1" dirty="0">
                  <a:solidFill>
                    <a:srgbClr val="111111"/>
                  </a:solidFill>
                  <a:latin typeface="Arial"/>
                </a:rPr>
                <a:t>GPU: other </a:t>
              </a:r>
              <a:r>
                <a:rPr lang="en-US" sz="900" b="1" dirty="0">
                  <a:solidFill>
                    <a:srgbClr val="111111"/>
                  </a:solidFill>
                  <a:latin typeface="Arial"/>
                </a:rPr>
                <a:t>Agents</a:t>
              </a:r>
              <a:endParaRPr sz="900" b="1" dirty="0">
                <a:solidFill>
                  <a:srgbClr val="111111"/>
                </a:solidFill>
                <a:latin typeface="Arial"/>
              </a:endParaRPr>
            </a:p>
          </p:txBody>
        </p:sp>
        <p:sp>
          <p:nvSpPr>
            <p:cNvPr id="212" name="Rectangle 4"/>
            <p:cNvSpPr/>
            <p:nvPr/>
          </p:nvSpPr>
          <p:spPr>
            <a:xfrm>
              <a:off x="1136704" y="4705625"/>
              <a:ext cx="598999"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3" name="Rectangle 5"/>
            <p:cNvSpPr/>
            <p:nvPr/>
          </p:nvSpPr>
          <p:spPr>
            <a:xfrm>
              <a:off x="1741472" y="4705625"/>
              <a:ext cx="598999"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Tool / Search</a:t>
              </a:r>
            </a:p>
          </p:txBody>
        </p:sp>
        <p:sp>
          <p:nvSpPr>
            <p:cNvPr id="214" name="Rectangle 6"/>
            <p:cNvSpPr/>
            <p:nvPr/>
          </p:nvSpPr>
          <p:spPr>
            <a:xfrm>
              <a:off x="2346239" y="4705625"/>
              <a:ext cx="705722"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5" name="Rectangle 7"/>
            <p:cNvSpPr/>
            <p:nvPr/>
          </p:nvSpPr>
          <p:spPr>
            <a:xfrm>
              <a:off x="3057731" y="4705625"/>
              <a:ext cx="492275"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6" name="Rectangle 8"/>
            <p:cNvSpPr/>
            <p:nvPr/>
          </p:nvSpPr>
          <p:spPr>
            <a:xfrm>
              <a:off x="3555775" y="4705625"/>
              <a:ext cx="456701"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Tool / </a:t>
              </a:r>
              <a:endParaRPr kumimoji="0" lang="en-US" sz="700" b="1" i="0" u="none" strike="noStrike" kern="0" cap="none" spc="0" normalizeH="0" baseline="0" noProof="0" dirty="0">
                <a:ln>
                  <a:noFill/>
                </a:ln>
                <a:solidFill>
                  <a:srgbClr val="FFFFFF"/>
                </a:solidFill>
                <a:effectLst/>
                <a:uLnTx/>
                <a:uFillTx/>
                <a:latin typeface="Arial"/>
                <a:ea typeface="+mn-ea"/>
                <a:cs typeface="+mn-cs"/>
              </a:endParaRPr>
            </a:p>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Search</a:t>
              </a:r>
            </a:p>
          </p:txBody>
        </p:sp>
        <p:sp>
          <p:nvSpPr>
            <p:cNvPr id="217" name="Rectangle 9"/>
            <p:cNvSpPr/>
            <p:nvPr/>
          </p:nvSpPr>
          <p:spPr>
            <a:xfrm>
              <a:off x="4018245" y="4705625"/>
              <a:ext cx="527849"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8" name="Rectangle 10"/>
            <p:cNvSpPr/>
            <p:nvPr/>
          </p:nvSpPr>
          <p:spPr>
            <a:xfrm>
              <a:off x="4551863" y="4705625"/>
              <a:ext cx="634574"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9" name="Rectangle 11"/>
            <p:cNvSpPr/>
            <p:nvPr/>
          </p:nvSpPr>
          <p:spPr>
            <a:xfrm>
              <a:off x="1741472" y="5375072"/>
              <a:ext cx="1309849"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sp>
          <p:nvSpPr>
            <p:cNvPr id="220" name="Rectangle 12"/>
            <p:cNvSpPr/>
            <p:nvPr/>
          </p:nvSpPr>
          <p:spPr>
            <a:xfrm>
              <a:off x="3555775" y="5375072"/>
              <a:ext cx="989678"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cxnSp>
          <p:nvCxnSpPr>
            <p:cNvPr id="221" name="Connector 13"/>
            <p:cNvCxnSpPr/>
            <p:nvPr/>
          </p:nvCxnSpPr>
          <p:spPr>
            <a:xfrm>
              <a:off x="1098245" y="5674140"/>
              <a:ext cx="4179211" cy="0"/>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cxnSp>
          <p:nvCxnSpPr>
            <p:cNvPr id="222" name="Connector 14"/>
            <p:cNvCxnSpPr/>
            <p:nvPr/>
          </p:nvCxnSpPr>
          <p:spPr>
            <a:xfrm>
              <a:off x="1136704"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3" name="TextBox 222"/>
            <p:cNvSpPr txBox="1"/>
            <p:nvPr/>
          </p:nvSpPr>
          <p:spPr>
            <a:xfrm>
              <a:off x="990671" y="5665183"/>
              <a:ext cx="292068" cy="184666"/>
            </a:xfrm>
            <a:prstGeom prst="rect">
              <a:avLst/>
            </a:prstGeom>
            <a:noFill/>
          </p:spPr>
          <p:txBody>
            <a:bodyPr wrap="none" anchor="ctr">
              <a:spAutoFit/>
            </a:bodyPr>
            <a:lstStyle/>
            <a:p>
              <a:pPr algn="ctr" defTabSz="457200" latinLnBrk="0"/>
              <a:r>
                <a:rPr sz="600">
                  <a:solidFill>
                    <a:srgbClr val="222222"/>
                  </a:solidFill>
                  <a:latin typeface="Arial"/>
                </a:rPr>
                <a:t>0.0</a:t>
              </a:r>
            </a:p>
          </p:txBody>
        </p:sp>
        <p:cxnSp>
          <p:nvCxnSpPr>
            <p:cNvPr id="224" name="Connector 16"/>
            <p:cNvCxnSpPr/>
            <p:nvPr/>
          </p:nvCxnSpPr>
          <p:spPr>
            <a:xfrm>
              <a:off x="1848196"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5" name="TextBox 224"/>
            <p:cNvSpPr txBox="1"/>
            <p:nvPr/>
          </p:nvSpPr>
          <p:spPr>
            <a:xfrm>
              <a:off x="1702162" y="5665183"/>
              <a:ext cx="292068" cy="184666"/>
            </a:xfrm>
            <a:prstGeom prst="rect">
              <a:avLst/>
            </a:prstGeom>
            <a:noFill/>
          </p:spPr>
          <p:txBody>
            <a:bodyPr wrap="none" anchor="ctr">
              <a:spAutoFit/>
            </a:bodyPr>
            <a:lstStyle/>
            <a:p>
              <a:pPr algn="ctr" defTabSz="457200" latinLnBrk="0"/>
              <a:r>
                <a:rPr sz="600">
                  <a:solidFill>
                    <a:srgbClr val="222222"/>
                  </a:solidFill>
                  <a:latin typeface="Arial"/>
                </a:rPr>
                <a:t>2.0</a:t>
              </a:r>
            </a:p>
          </p:txBody>
        </p:sp>
        <p:cxnSp>
          <p:nvCxnSpPr>
            <p:cNvPr id="226" name="Connector 18"/>
            <p:cNvCxnSpPr/>
            <p:nvPr/>
          </p:nvCxnSpPr>
          <p:spPr>
            <a:xfrm>
              <a:off x="2559687"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7" name="TextBox 226"/>
            <p:cNvSpPr txBox="1"/>
            <p:nvPr/>
          </p:nvSpPr>
          <p:spPr>
            <a:xfrm>
              <a:off x="241365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4.0</a:t>
              </a:r>
            </a:p>
          </p:txBody>
        </p:sp>
        <p:cxnSp>
          <p:nvCxnSpPr>
            <p:cNvPr id="228" name="Connector 20"/>
            <p:cNvCxnSpPr/>
            <p:nvPr/>
          </p:nvCxnSpPr>
          <p:spPr>
            <a:xfrm>
              <a:off x="3271178"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9" name="TextBox 228"/>
            <p:cNvSpPr txBox="1"/>
            <p:nvPr/>
          </p:nvSpPr>
          <p:spPr>
            <a:xfrm>
              <a:off x="312514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6.0</a:t>
              </a:r>
            </a:p>
          </p:txBody>
        </p:sp>
        <p:cxnSp>
          <p:nvCxnSpPr>
            <p:cNvPr id="230" name="Connector 22"/>
            <p:cNvCxnSpPr/>
            <p:nvPr/>
          </p:nvCxnSpPr>
          <p:spPr>
            <a:xfrm>
              <a:off x="3982670"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1" name="TextBox 230"/>
            <p:cNvSpPr txBox="1"/>
            <p:nvPr/>
          </p:nvSpPr>
          <p:spPr>
            <a:xfrm>
              <a:off x="3836637" y="5665183"/>
              <a:ext cx="292068" cy="184666"/>
            </a:xfrm>
            <a:prstGeom prst="rect">
              <a:avLst/>
            </a:prstGeom>
            <a:noFill/>
          </p:spPr>
          <p:txBody>
            <a:bodyPr wrap="none" anchor="ctr">
              <a:spAutoFit/>
            </a:bodyPr>
            <a:lstStyle/>
            <a:p>
              <a:pPr algn="ctr" defTabSz="457200" latinLnBrk="0"/>
              <a:r>
                <a:rPr sz="600">
                  <a:solidFill>
                    <a:srgbClr val="222222"/>
                  </a:solidFill>
                  <a:latin typeface="Arial"/>
                </a:rPr>
                <a:t>8.0</a:t>
              </a:r>
            </a:p>
          </p:txBody>
        </p:sp>
        <p:cxnSp>
          <p:nvCxnSpPr>
            <p:cNvPr id="232" name="Connector 24"/>
            <p:cNvCxnSpPr/>
            <p:nvPr/>
          </p:nvCxnSpPr>
          <p:spPr>
            <a:xfrm>
              <a:off x="4694162"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3" name="TextBox 232"/>
            <p:cNvSpPr txBox="1"/>
            <p:nvPr/>
          </p:nvSpPr>
          <p:spPr>
            <a:xfrm>
              <a:off x="4526486"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10.0</a:t>
              </a:r>
            </a:p>
          </p:txBody>
        </p:sp>
        <p:cxnSp>
          <p:nvCxnSpPr>
            <p:cNvPr id="234" name="Connector 26"/>
            <p:cNvCxnSpPr/>
            <p:nvPr/>
          </p:nvCxnSpPr>
          <p:spPr>
            <a:xfrm>
              <a:off x="5192205"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5" name="TextBox 234"/>
            <p:cNvSpPr txBox="1"/>
            <p:nvPr/>
          </p:nvSpPr>
          <p:spPr>
            <a:xfrm>
              <a:off x="5024530"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11.4</a:t>
              </a:r>
            </a:p>
          </p:txBody>
        </p:sp>
        <p:sp>
          <p:nvSpPr>
            <p:cNvPr id="236" name="TextBox 235"/>
            <p:cNvSpPr txBox="1"/>
            <p:nvPr/>
          </p:nvSpPr>
          <p:spPr>
            <a:xfrm>
              <a:off x="2873470" y="5752498"/>
              <a:ext cx="702436" cy="200055"/>
            </a:xfrm>
            <a:prstGeom prst="rect">
              <a:avLst/>
            </a:prstGeom>
            <a:noFill/>
          </p:spPr>
          <p:txBody>
            <a:bodyPr wrap="none" anchor="ctr">
              <a:spAutoFit/>
            </a:bodyPr>
            <a:lstStyle/>
            <a:p>
              <a:pPr algn="ctr" defTabSz="457200" latinLnBrk="0"/>
              <a:r>
                <a:rPr sz="700" dirty="0">
                  <a:solidFill>
                    <a:srgbClr val="222222"/>
                  </a:solidFill>
                  <a:latin typeface="Arial"/>
                </a:rPr>
                <a:t>Elapsed time</a:t>
              </a:r>
            </a:p>
          </p:txBody>
        </p:sp>
        <p:sp>
          <p:nvSpPr>
            <p:cNvPr id="237" name="TextBox 236"/>
            <p:cNvSpPr txBox="1"/>
            <p:nvPr/>
          </p:nvSpPr>
          <p:spPr>
            <a:xfrm>
              <a:off x="2352009" y="4446663"/>
              <a:ext cx="1329210" cy="215444"/>
            </a:xfrm>
            <a:prstGeom prst="rect">
              <a:avLst/>
            </a:prstGeom>
            <a:noFill/>
          </p:spPr>
          <p:txBody>
            <a:bodyPr wrap="none" anchor="ctr">
              <a:spAutoFit/>
            </a:bodyPr>
            <a:lstStyle/>
            <a:p>
              <a:pPr defTabSz="457200" latinLnBrk="0"/>
              <a:r>
                <a:rPr lang="en-US" sz="800" dirty="0">
                  <a:solidFill>
                    <a:srgbClr val="B35B06"/>
                  </a:solidFill>
                  <a:latin typeface="Arial"/>
                </a:rPr>
                <a:t>Waits until GPU is ready</a:t>
              </a:r>
              <a:endParaRPr sz="800" dirty="0">
                <a:solidFill>
                  <a:srgbClr val="B35B06"/>
                </a:solidFill>
                <a:latin typeface="Arial"/>
              </a:endParaRPr>
            </a:p>
          </p:txBody>
        </p:sp>
        <p:cxnSp>
          <p:nvCxnSpPr>
            <p:cNvPr id="238" name="Connector 30"/>
            <p:cNvCxnSpPr/>
            <p:nvPr/>
          </p:nvCxnSpPr>
          <p:spPr>
            <a:xfrm>
              <a:off x="2346239" y="4488460"/>
              <a:ext cx="0" cy="434330"/>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sp>
          <p:nvSpPr>
            <p:cNvPr id="239" name="TextBox 238"/>
            <p:cNvSpPr txBox="1"/>
            <p:nvPr/>
          </p:nvSpPr>
          <p:spPr>
            <a:xfrm>
              <a:off x="4021129" y="4458235"/>
              <a:ext cx="434734" cy="200055"/>
            </a:xfrm>
            <a:prstGeom prst="rect">
              <a:avLst/>
            </a:prstGeom>
            <a:noFill/>
          </p:spPr>
          <p:txBody>
            <a:bodyPr wrap="none" anchor="ctr">
              <a:spAutoFit/>
            </a:bodyPr>
            <a:lstStyle/>
            <a:p>
              <a:pPr defTabSz="457200" latinLnBrk="0"/>
              <a:r>
                <a:rPr lang="en-US" sz="700" dirty="0">
                  <a:solidFill>
                    <a:srgbClr val="B35B06"/>
                  </a:solidFill>
                  <a:latin typeface="Arial"/>
                </a:rPr>
                <a:t>Waits </a:t>
              </a:r>
              <a:endParaRPr sz="700" dirty="0">
                <a:solidFill>
                  <a:srgbClr val="B35B06"/>
                </a:solidFill>
                <a:latin typeface="Arial"/>
              </a:endParaRPr>
            </a:p>
          </p:txBody>
        </p:sp>
        <p:cxnSp>
          <p:nvCxnSpPr>
            <p:cNvPr id="240" name="Connector 32"/>
            <p:cNvCxnSpPr/>
            <p:nvPr/>
          </p:nvCxnSpPr>
          <p:spPr>
            <a:xfrm>
              <a:off x="4006707" y="4490693"/>
              <a:ext cx="0" cy="419524"/>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4" name="Connector 30"/>
            <p:cNvCxnSpPr/>
            <p:nvPr/>
          </p:nvCxnSpPr>
          <p:spPr>
            <a:xfrm>
              <a:off x="3057730"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5" name="Connector 30"/>
            <p:cNvCxnSpPr/>
            <p:nvPr/>
          </p:nvCxnSpPr>
          <p:spPr>
            <a:xfrm>
              <a:off x="4551863"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6" name="직선 화살표 연결선 245"/>
            <p:cNvCxnSpPr/>
            <p:nvPr/>
          </p:nvCxnSpPr>
          <p:spPr>
            <a:xfrm>
              <a:off x="2352009" y="4670724"/>
              <a:ext cx="705721"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cxnSp>
          <p:nvCxnSpPr>
            <p:cNvPr id="247" name="직선 화살표 연결선 246"/>
            <p:cNvCxnSpPr/>
            <p:nvPr/>
          </p:nvCxnSpPr>
          <p:spPr>
            <a:xfrm>
              <a:off x="4006707" y="4670724"/>
              <a:ext cx="545157"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sp>
          <p:nvSpPr>
            <p:cNvPr id="248" name="TextBox 247"/>
            <p:cNvSpPr txBox="1"/>
            <p:nvPr/>
          </p:nvSpPr>
          <p:spPr>
            <a:xfrm>
              <a:off x="4573185" y="5081478"/>
              <a:ext cx="1492716" cy="215444"/>
            </a:xfrm>
            <a:prstGeom prst="rect">
              <a:avLst/>
            </a:prstGeom>
            <a:noFill/>
          </p:spPr>
          <p:txBody>
            <a:bodyPr wrap="none" anchor="ctr">
              <a:spAutoFit/>
            </a:bodyPr>
            <a:lstStyle/>
            <a:p>
              <a:pPr defTabSz="457200" latinLnBrk="0"/>
              <a:r>
                <a:rPr lang="ko-KR" altLang="en-US" sz="800" b="1" dirty="0">
                  <a:solidFill>
                    <a:srgbClr val="FF0000"/>
                  </a:solidFill>
                  <a:latin typeface="Arial"/>
                </a:rPr>
                <a:t>최대 </a:t>
              </a:r>
              <a:r>
                <a:rPr lang="en-US" altLang="ko-KR" sz="800" b="1" dirty="0">
                  <a:solidFill>
                    <a:srgbClr val="FF0000"/>
                  </a:solidFill>
                  <a:latin typeface="Arial"/>
                </a:rPr>
                <a:t>3.66x </a:t>
              </a:r>
              <a:r>
                <a:rPr lang="ko-KR" altLang="en-US" sz="800" b="1" dirty="0">
                  <a:solidFill>
                    <a:srgbClr val="FF0000"/>
                  </a:solidFill>
                  <a:latin typeface="Arial"/>
                </a:rPr>
                <a:t>지연 시간 증가</a:t>
              </a:r>
              <a:r>
                <a:rPr lang="en-US" altLang="ko-KR" sz="500" b="1" dirty="0">
                  <a:solidFill>
                    <a:srgbClr val="FF0000"/>
                  </a:solidFill>
                  <a:latin typeface="Arial"/>
                </a:rPr>
                <a:t>[10]</a:t>
              </a:r>
              <a:endParaRPr sz="900" b="1" dirty="0">
                <a:solidFill>
                  <a:srgbClr val="FF0000"/>
                </a:solidFill>
                <a:latin typeface="Arial"/>
              </a:endParaRPr>
            </a:p>
          </p:txBody>
        </p:sp>
        <p:cxnSp>
          <p:nvCxnSpPr>
            <p:cNvPr id="9" name="직선 화살표 연결선 8"/>
            <p:cNvCxnSpPr/>
            <p:nvPr/>
          </p:nvCxnSpPr>
          <p:spPr>
            <a:xfrm flipV="1">
              <a:off x="1735703"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TextBox 249"/>
            <p:cNvSpPr txBox="1"/>
            <p:nvPr/>
          </p:nvSpPr>
          <p:spPr>
            <a:xfrm>
              <a:off x="1523415" y="5088224"/>
              <a:ext cx="1003801" cy="196272"/>
            </a:xfrm>
            <a:prstGeom prst="rect">
              <a:avLst/>
            </a:prstGeom>
            <a:noFill/>
          </p:spPr>
          <p:txBody>
            <a:bodyPr wrap="none" anchor="ctr">
              <a:spAutoFit/>
            </a:bodyPr>
            <a:lstStyle/>
            <a:p>
              <a:pPr defTabSz="457200" latinLnBrk="0">
                <a:lnSpc>
                  <a:spcPct val="125000"/>
                </a:lnSpc>
              </a:pPr>
              <a:r>
                <a:rPr lang="en-US"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a:t>
              </a:r>
              <a:r>
                <a:rPr lang="en-US" sz="600" b="1" dirty="0">
                  <a:solidFill>
                    <a:srgbClr val="B35B06"/>
                  </a:solidFill>
                  <a:latin typeface="Arial"/>
                </a:rPr>
                <a:t>CPU </a:t>
              </a:r>
              <a:r>
                <a:rPr lang="ko-KR" altLang="en-US" sz="600" b="1" dirty="0">
                  <a:solidFill>
                    <a:srgbClr val="B35B06"/>
                  </a:solidFill>
                  <a:latin typeface="Arial"/>
                </a:rPr>
                <a:t>진입</a:t>
              </a:r>
              <a:endParaRPr lang="en-US" altLang="ko-KR" sz="600" b="1" dirty="0">
                <a:solidFill>
                  <a:srgbClr val="B35B06"/>
                </a:solidFill>
                <a:latin typeface="Arial"/>
              </a:endParaRPr>
            </a:p>
          </p:txBody>
        </p:sp>
        <p:cxnSp>
          <p:nvCxnSpPr>
            <p:cNvPr id="253" name="직선 화살표 연결선 252"/>
            <p:cNvCxnSpPr/>
            <p:nvPr/>
          </p:nvCxnSpPr>
          <p:spPr>
            <a:xfrm flipV="1">
              <a:off x="3558989"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4" name="TextBox 253"/>
            <p:cNvSpPr txBox="1"/>
            <p:nvPr/>
          </p:nvSpPr>
          <p:spPr>
            <a:xfrm>
              <a:off x="3346701" y="5088224"/>
              <a:ext cx="1003801" cy="196272"/>
            </a:xfrm>
            <a:prstGeom prst="rect">
              <a:avLst/>
            </a:prstGeom>
            <a:noFill/>
          </p:spPr>
          <p:txBody>
            <a:bodyPr wrap="none" anchor="ctr">
              <a:spAutoFit/>
            </a:bodyPr>
            <a:lstStyle/>
            <a:p>
              <a:pPr defTabSz="457200" latinLnBrk="0">
                <a:lnSpc>
                  <a:spcPct val="125000"/>
                </a:lnSpc>
              </a:pPr>
              <a:r>
                <a:rPr lang="en-US" altLang="ko-KR"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CPU </a:t>
              </a:r>
              <a:r>
                <a:rPr lang="ko-KR" altLang="en-US" sz="600" b="1" dirty="0">
                  <a:solidFill>
                    <a:srgbClr val="B35B06"/>
                  </a:solidFill>
                  <a:latin typeface="Arial"/>
                </a:rPr>
                <a:t>진입</a:t>
              </a:r>
              <a:endParaRPr lang="en-US" altLang="ko-KR" sz="600" b="1" dirty="0">
                <a:solidFill>
                  <a:srgbClr val="B35B06"/>
                </a:solidFill>
                <a:latin typeface="Arial"/>
              </a:endParaRPr>
            </a:p>
          </p:txBody>
        </p:sp>
      </p:grpSp>
      <mc:AlternateContent xmlns:mc="http://schemas.openxmlformats.org/markup-compatibility/2006" xmlns:a14="http://schemas.microsoft.com/office/drawing/2010/main">
        <mc:Choice Requires="a14">
          <p:sp>
            <p:nvSpPr>
              <p:cNvPr id="265" name="Text 85">
                <a:extLst>
                  <a:ext uri="{FF2B5EF4-FFF2-40B4-BE49-F238E27FC236}">
                    <a16:creationId xmlns:a16="http://schemas.microsoft.com/office/drawing/2014/main" id="{9BFB2DD1-19C2-4FEC-B909-725DFC6CF086}"/>
                  </a:ext>
                </a:extLst>
              </p:cNvPr>
              <p:cNvSpPr/>
              <p:nvPr/>
            </p:nvSpPr>
            <p:spPr>
              <a:xfrm>
                <a:off x="8147050" y="5686323"/>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SSD</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oMath>
                  </m:oMathPara>
                </a14:m>
                <a:endParaRPr lang="en-US" sz="1050" dirty="0">
                  <a:latin typeface="+mj-ea"/>
                  <a:ea typeface="+mj-ea"/>
                </a:endParaRPr>
              </a:p>
            </p:txBody>
          </p:sp>
        </mc:Choice>
        <mc:Fallback xmlns="">
          <p:sp>
            <p:nvSpPr>
              <p:cNvPr id="265" name="Text 85">
                <a:extLst>
                  <a:ext uri="{FF2B5EF4-FFF2-40B4-BE49-F238E27FC236}">
                    <a16:creationId xmlns:a16="http://schemas.microsoft.com/office/drawing/2014/main" id="{9BFB2DD1-19C2-4FEC-B909-725DFC6CF086}"/>
                  </a:ext>
                </a:extLst>
              </p:cNvPr>
              <p:cNvSpPr>
                <a:spLocks noRot="1" noChangeAspect="1" noMove="1" noResize="1" noEditPoints="1" noAdjustHandles="1" noChangeArrowheads="1" noChangeShapeType="1" noTextEdit="1"/>
              </p:cNvSpPr>
              <p:nvPr/>
            </p:nvSpPr>
            <p:spPr>
              <a:xfrm>
                <a:off x="8147050" y="5686323"/>
                <a:ext cx="3505708" cy="223441"/>
              </a:xfrm>
              <a:prstGeom prst="rect">
                <a:avLst/>
              </a:prstGeom>
              <a:blipFill>
                <a:blip r:embed="rId12"/>
                <a:stretch>
                  <a:fillRect l="-1389" b="-5556"/>
                </a:stretch>
              </a:blipFill>
              <a:ln/>
            </p:spPr>
            <p:txBody>
              <a:bodyPr/>
              <a:lstStyle/>
              <a:p>
                <a:r>
                  <a:rPr lang="ko-KR" altLang="en-US">
                    <a:noFill/>
                  </a:rPr>
                  <a:t> </a:t>
                </a:r>
              </a:p>
            </p:txBody>
          </p:sp>
        </mc:Fallback>
      </mc:AlternateContent>
      <p:sp>
        <p:nvSpPr>
          <p:cNvPr id="266" name="Segment panel">
            <a:extLst>
              <a:ext uri="{FF2B5EF4-FFF2-40B4-BE49-F238E27FC236}">
                <a16:creationId xmlns:a16="http://schemas.microsoft.com/office/drawing/2014/main" id="{038DC8BC-20A2-4373-847C-169B00DCDD65}"/>
              </a:ext>
            </a:extLst>
          </p:cNvPr>
          <p:cNvSpPr/>
          <p:nvPr/>
        </p:nvSpPr>
        <p:spPr>
          <a:xfrm>
            <a:off x="6409944" y="4279392"/>
            <a:ext cx="5230368" cy="1847088"/>
          </a:xfrm>
          <a:prstGeom prst="roundRect">
            <a:avLst>
              <a:gd name="adj" fmla="val 4000"/>
            </a:avLst>
          </a:prstGeom>
          <a:solidFill>
            <a:srgbClr val="F4F7FB"/>
          </a:solidFill>
          <a:ln>
            <a:noFill/>
          </a:ln>
        </p:spPr>
        <p:txBody>
          <a:bodyPr rtlCol="0" anchor="ctr"/>
          <a:lstStyle/>
          <a:p>
            <a:pPr algn="ctr"/>
            <a:endParaRPr/>
          </a:p>
        </p:txBody>
      </p:sp>
      <p:sp>
        <p:nvSpPr>
          <p:cNvPr id="267" name="TextBox 266">
            <a:extLst>
              <a:ext uri="{FF2B5EF4-FFF2-40B4-BE49-F238E27FC236}">
                <a16:creationId xmlns:a16="http://schemas.microsoft.com/office/drawing/2014/main" id="{A939EC7F-1698-4935-950B-2AFF0F3A995F}"/>
              </a:ext>
            </a:extLst>
          </p:cNvPr>
          <p:cNvSpPr txBox="1"/>
          <p:nvPr/>
        </p:nvSpPr>
        <p:spPr>
          <a:xfrm>
            <a:off x="6510528" y="4287012"/>
            <a:ext cx="1188720" cy="146304"/>
          </a:xfrm>
          <a:prstGeom prst="rect">
            <a:avLst/>
          </a:prstGeom>
          <a:noFill/>
        </p:spPr>
        <p:txBody>
          <a:bodyPr wrap="square" lIns="0" tIns="0" rIns="0" bIns="0" anchor="t">
            <a:noAutofit/>
          </a:bodyPr>
          <a:lstStyle/>
          <a:p>
            <a:pPr algn="ctr"/>
            <a:r>
              <a:rPr sz="850" b="1" dirty="0" err="1">
                <a:solidFill>
                  <a:srgbClr val="555555"/>
                </a:solidFill>
                <a:latin typeface="+mj-ea"/>
                <a:ea typeface="+mj-ea"/>
              </a:rPr>
              <a:t>세그먼트</a:t>
            </a:r>
            <a:endParaRPr sz="850" b="1" dirty="0">
              <a:solidFill>
                <a:srgbClr val="555555"/>
              </a:solidFill>
              <a:latin typeface="+mj-ea"/>
              <a:ea typeface="+mj-ea"/>
            </a:endParaRPr>
          </a:p>
        </p:txBody>
      </p:sp>
      <p:sp>
        <p:nvSpPr>
          <p:cNvPr id="268" name="TextBox 267">
            <a:extLst>
              <a:ext uri="{FF2B5EF4-FFF2-40B4-BE49-F238E27FC236}">
                <a16:creationId xmlns:a16="http://schemas.microsoft.com/office/drawing/2014/main" id="{E66FB391-0AD5-40B4-BA2A-F18186B11F53}"/>
              </a:ext>
            </a:extLst>
          </p:cNvPr>
          <p:cNvSpPr txBox="1"/>
          <p:nvPr/>
        </p:nvSpPr>
        <p:spPr>
          <a:xfrm>
            <a:off x="7818120" y="4287012"/>
            <a:ext cx="1371600" cy="146304"/>
          </a:xfrm>
          <a:prstGeom prst="rect">
            <a:avLst/>
          </a:prstGeom>
          <a:noFill/>
        </p:spPr>
        <p:txBody>
          <a:bodyPr wrap="square" lIns="0" tIns="0" rIns="0" bIns="0" anchor="t">
            <a:noAutofit/>
          </a:bodyPr>
          <a:lstStyle/>
          <a:p>
            <a:pPr algn="ctr"/>
            <a:r>
              <a:rPr sz="850" b="1">
                <a:solidFill>
                  <a:srgbClr val="555555"/>
                </a:solidFill>
                <a:latin typeface="+mj-ea"/>
                <a:ea typeface="+mj-ea"/>
              </a:rPr>
              <a:t>특징</a:t>
            </a:r>
          </a:p>
        </p:txBody>
      </p:sp>
      <p:sp>
        <p:nvSpPr>
          <p:cNvPr id="269" name="TextBox 268">
            <a:extLst>
              <a:ext uri="{FF2B5EF4-FFF2-40B4-BE49-F238E27FC236}">
                <a16:creationId xmlns:a16="http://schemas.microsoft.com/office/drawing/2014/main" id="{4235C67F-0F3F-405B-A837-0D63984024E1}"/>
              </a:ext>
            </a:extLst>
          </p:cNvPr>
          <p:cNvSpPr txBox="1"/>
          <p:nvPr/>
        </p:nvSpPr>
        <p:spPr>
          <a:xfrm>
            <a:off x="9281160" y="4287012"/>
            <a:ext cx="1225296" cy="146304"/>
          </a:xfrm>
          <a:prstGeom prst="rect">
            <a:avLst/>
          </a:prstGeom>
          <a:noFill/>
        </p:spPr>
        <p:txBody>
          <a:bodyPr wrap="square" lIns="0" tIns="0" rIns="0" bIns="0" anchor="t">
            <a:noAutofit/>
          </a:bodyPr>
          <a:lstStyle/>
          <a:p>
            <a:pPr algn="ctr"/>
            <a:r>
              <a:rPr sz="850" b="1">
                <a:solidFill>
                  <a:srgbClr val="555555"/>
                </a:solidFill>
                <a:latin typeface="+mj-ea"/>
                <a:ea typeface="+mj-ea"/>
              </a:rPr>
              <a:t>시장 규모</a:t>
            </a:r>
          </a:p>
        </p:txBody>
      </p:sp>
      <p:sp>
        <p:nvSpPr>
          <p:cNvPr id="270" name="TextBox 269">
            <a:extLst>
              <a:ext uri="{FF2B5EF4-FFF2-40B4-BE49-F238E27FC236}">
                <a16:creationId xmlns:a16="http://schemas.microsoft.com/office/drawing/2014/main" id="{B141CC1D-646E-41EE-B53D-68DB97FA9794}"/>
              </a:ext>
            </a:extLst>
          </p:cNvPr>
          <p:cNvSpPr txBox="1"/>
          <p:nvPr/>
        </p:nvSpPr>
        <p:spPr>
          <a:xfrm>
            <a:off x="10515600" y="4287012"/>
            <a:ext cx="1097280" cy="146304"/>
          </a:xfrm>
          <a:prstGeom prst="rect">
            <a:avLst/>
          </a:prstGeom>
          <a:noFill/>
        </p:spPr>
        <p:txBody>
          <a:bodyPr wrap="square" lIns="0" tIns="0" rIns="0" bIns="0" anchor="t">
            <a:noAutofit/>
          </a:bodyPr>
          <a:lstStyle/>
          <a:p>
            <a:pPr algn="ctr"/>
            <a:r>
              <a:rPr sz="850" b="1">
                <a:solidFill>
                  <a:srgbClr val="555555"/>
                </a:solidFill>
                <a:latin typeface="+mj-ea"/>
                <a:ea typeface="+mj-ea"/>
              </a:rPr>
              <a:t>규모 ($B) · 성장</a:t>
            </a:r>
          </a:p>
        </p:txBody>
      </p:sp>
      <p:sp>
        <p:nvSpPr>
          <p:cNvPr id="271" name="Segment chip">
            <a:extLst>
              <a:ext uri="{FF2B5EF4-FFF2-40B4-BE49-F238E27FC236}">
                <a16:creationId xmlns:a16="http://schemas.microsoft.com/office/drawing/2014/main" id="{C0A3FA2E-28E5-47B9-B33C-7F54E18CAAA2}"/>
              </a:ext>
            </a:extLst>
          </p:cNvPr>
          <p:cNvSpPr/>
          <p:nvPr/>
        </p:nvSpPr>
        <p:spPr>
          <a:xfrm>
            <a:off x="6492240" y="4517136"/>
            <a:ext cx="1261872" cy="246888"/>
          </a:xfrm>
          <a:prstGeom prst="roundRect">
            <a:avLst>
              <a:gd name="adj" fmla="val 19000"/>
            </a:avLst>
          </a:prstGeom>
          <a:solidFill>
            <a:srgbClr val="F0F1F3"/>
          </a:solidFill>
          <a:ln w="12700">
            <a:solidFill>
              <a:srgbClr val="7F7F7F"/>
            </a:solidFill>
          </a:ln>
        </p:spPr>
        <p:txBody>
          <a:bodyPr wrap="square" lIns="54864" tIns="18288" rIns="45720" bIns="18288" rtlCol="0" anchor="ctr"/>
          <a:lstStyle/>
          <a:p>
            <a:pPr algn="l"/>
            <a:r>
              <a:rPr sz="950" b="1">
                <a:solidFill>
                  <a:srgbClr val="222222"/>
                </a:solidFill>
                <a:latin typeface="+mj-ea"/>
                <a:ea typeface="+mj-ea"/>
              </a:rPr>
              <a:t>HBM (기준)</a:t>
            </a:r>
          </a:p>
        </p:txBody>
      </p:sp>
      <p:sp>
        <p:nvSpPr>
          <p:cNvPr id="272" name="TextBox 271">
            <a:extLst>
              <a:ext uri="{FF2B5EF4-FFF2-40B4-BE49-F238E27FC236}">
                <a16:creationId xmlns:a16="http://schemas.microsoft.com/office/drawing/2014/main" id="{F1E76BD8-C30C-4BC8-B4E5-7B412F623F17}"/>
              </a:ext>
            </a:extLst>
          </p:cNvPr>
          <p:cNvSpPr txBox="1"/>
          <p:nvPr/>
        </p:nvSpPr>
        <p:spPr>
          <a:xfrm>
            <a:off x="7818120" y="4517136"/>
            <a:ext cx="1417320" cy="246888"/>
          </a:xfrm>
          <a:prstGeom prst="rect">
            <a:avLst/>
          </a:prstGeom>
          <a:noFill/>
        </p:spPr>
        <p:txBody>
          <a:bodyPr wrap="square" lIns="0" tIns="0" rIns="0" bIns="0" anchor="ctr">
            <a:noAutofit/>
          </a:bodyPr>
          <a:lstStyle/>
          <a:p>
            <a:pPr algn="l">
              <a:lnSpc>
                <a:spcPct val="95000"/>
              </a:lnSpc>
            </a:pPr>
            <a:r>
              <a:rPr sz="850" b="0">
                <a:solidFill>
                  <a:srgbClr val="222222"/>
                </a:solidFill>
                <a:latin typeface="+mj-ea"/>
                <a:ea typeface="+mj-ea"/>
              </a:rPr>
              <a:t>GPU 온패키지 고대역폭, 공급 부족 지속</a:t>
            </a:r>
          </a:p>
        </p:txBody>
      </p:sp>
      <p:sp>
        <p:nvSpPr>
          <p:cNvPr id="273" name="seg bar now">
            <a:extLst>
              <a:ext uri="{FF2B5EF4-FFF2-40B4-BE49-F238E27FC236}">
                <a16:creationId xmlns:a16="http://schemas.microsoft.com/office/drawing/2014/main" id="{B1DA3349-DF92-4EB4-A946-8238767E8D3D}"/>
              </a:ext>
            </a:extLst>
          </p:cNvPr>
          <p:cNvSpPr/>
          <p:nvPr/>
        </p:nvSpPr>
        <p:spPr>
          <a:xfrm>
            <a:off x="9281160" y="4544568"/>
            <a:ext cx="400050" cy="91440"/>
          </a:xfrm>
          <a:prstGeom prst="rect">
            <a:avLst/>
          </a:prstGeom>
          <a:solidFill>
            <a:srgbClr val="9DB9DE"/>
          </a:solidFill>
          <a:ln>
            <a:noFill/>
          </a:ln>
        </p:spPr>
        <p:txBody>
          <a:bodyPr rtlCol="0" anchor="ctr"/>
          <a:lstStyle/>
          <a:p>
            <a:pPr algn="ctr"/>
            <a:endParaRPr/>
          </a:p>
        </p:txBody>
      </p:sp>
      <p:sp>
        <p:nvSpPr>
          <p:cNvPr id="274" name="seg bar future">
            <a:extLst>
              <a:ext uri="{FF2B5EF4-FFF2-40B4-BE49-F238E27FC236}">
                <a16:creationId xmlns:a16="http://schemas.microsoft.com/office/drawing/2014/main" id="{A659B3C4-273C-4500-B4E8-0B336B0EAF53}"/>
              </a:ext>
            </a:extLst>
          </p:cNvPr>
          <p:cNvSpPr/>
          <p:nvPr/>
        </p:nvSpPr>
        <p:spPr>
          <a:xfrm>
            <a:off x="9281160" y="4645151"/>
            <a:ext cx="1143000" cy="91440"/>
          </a:xfrm>
          <a:prstGeom prst="rect">
            <a:avLst/>
          </a:prstGeom>
          <a:solidFill>
            <a:srgbClr val="1C3F6E"/>
          </a:solidFill>
          <a:ln>
            <a:noFill/>
          </a:ln>
        </p:spPr>
        <p:txBody>
          <a:bodyPr rtlCol="0" anchor="ctr"/>
          <a:lstStyle/>
          <a:p>
            <a:pPr algn="ctr"/>
            <a:endParaRPr/>
          </a:p>
        </p:txBody>
      </p:sp>
      <p:sp>
        <p:nvSpPr>
          <p:cNvPr id="275" name="TextBox 274">
            <a:extLst>
              <a:ext uri="{FF2B5EF4-FFF2-40B4-BE49-F238E27FC236}">
                <a16:creationId xmlns:a16="http://schemas.microsoft.com/office/drawing/2014/main" id="{7514A97E-8378-4D87-A18A-3E4B28425394}"/>
              </a:ext>
            </a:extLst>
          </p:cNvPr>
          <p:cNvSpPr txBox="1"/>
          <p:nvPr/>
        </p:nvSpPr>
        <p:spPr>
          <a:xfrm>
            <a:off x="10515600" y="4507992"/>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$35B → ≈$100B</a:t>
            </a:r>
          </a:p>
          <a:p>
            <a:pPr algn="l">
              <a:lnSpc>
                <a:spcPct val="95000"/>
              </a:lnSpc>
            </a:pPr>
            <a:r>
              <a:rPr sz="750" b="0">
                <a:solidFill>
                  <a:srgbClr val="555555"/>
                </a:solidFill>
                <a:latin typeface="+mj-ea"/>
                <a:ea typeface="+mj-ea"/>
              </a:rPr>
              <a:t>’25→’28E · CAGR ≈42%</a:t>
            </a:r>
          </a:p>
        </p:txBody>
      </p:sp>
      <p:sp>
        <p:nvSpPr>
          <p:cNvPr id="276" name="Segment chip">
            <a:extLst>
              <a:ext uri="{FF2B5EF4-FFF2-40B4-BE49-F238E27FC236}">
                <a16:creationId xmlns:a16="http://schemas.microsoft.com/office/drawing/2014/main" id="{0567273D-9BEC-4EFB-A786-9FBE92143C7F}"/>
              </a:ext>
            </a:extLst>
          </p:cNvPr>
          <p:cNvSpPr/>
          <p:nvPr/>
        </p:nvSpPr>
        <p:spPr>
          <a:xfrm>
            <a:off x="6492240" y="4828031"/>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cHBM</a:t>
            </a:r>
          </a:p>
        </p:txBody>
      </p:sp>
      <p:sp>
        <p:nvSpPr>
          <p:cNvPr id="277" name="TextBox 276">
            <a:extLst>
              <a:ext uri="{FF2B5EF4-FFF2-40B4-BE49-F238E27FC236}">
                <a16:creationId xmlns:a16="http://schemas.microsoft.com/office/drawing/2014/main" id="{0B98DD65-41FF-4DCD-94CD-076143051650}"/>
              </a:ext>
            </a:extLst>
          </p:cNvPr>
          <p:cNvSpPr txBox="1"/>
          <p:nvPr/>
        </p:nvSpPr>
        <p:spPr>
          <a:xfrm>
            <a:off x="7818120" y="4828031"/>
            <a:ext cx="1417320" cy="246888"/>
          </a:xfrm>
          <a:prstGeom prst="rect">
            <a:avLst/>
          </a:prstGeom>
          <a:noFill/>
        </p:spPr>
        <p:txBody>
          <a:bodyPr wrap="square" lIns="0" tIns="0" rIns="0" bIns="0" anchor="ctr">
            <a:noAutofit/>
          </a:bodyPr>
          <a:lstStyle/>
          <a:p>
            <a:pPr algn="l">
              <a:lnSpc>
                <a:spcPct val="95000"/>
              </a:lnSpc>
            </a:pPr>
            <a:r>
              <a:rPr sz="850" b="0" dirty="0">
                <a:solidFill>
                  <a:srgbClr val="222222"/>
                </a:solidFill>
                <a:latin typeface="+mj-ea"/>
                <a:ea typeface="+mj-ea"/>
              </a:rPr>
              <a:t>Base </a:t>
            </a:r>
            <a:r>
              <a:rPr sz="850" b="0" dirty="0" err="1">
                <a:solidFill>
                  <a:srgbClr val="222222"/>
                </a:solidFill>
                <a:latin typeface="+mj-ea"/>
                <a:ea typeface="+mj-ea"/>
              </a:rPr>
              <a:t>die에</a:t>
            </a:r>
            <a:r>
              <a:rPr sz="850" b="0" dirty="0">
                <a:solidFill>
                  <a:srgbClr val="222222"/>
                </a:solidFill>
                <a:latin typeface="+mj-ea"/>
                <a:ea typeface="+mj-ea"/>
              </a:rPr>
              <a:t> </a:t>
            </a:r>
            <a:r>
              <a:rPr sz="850" b="0" dirty="0" err="1">
                <a:solidFill>
                  <a:srgbClr val="222222"/>
                </a:solidFill>
                <a:latin typeface="+mj-ea"/>
                <a:ea typeface="+mj-ea"/>
              </a:rPr>
              <a:t>고객</a:t>
            </a:r>
            <a:r>
              <a:rPr sz="850" b="0" dirty="0">
                <a:solidFill>
                  <a:srgbClr val="222222"/>
                </a:solidFill>
                <a:latin typeface="+mj-ea"/>
                <a:ea typeface="+mj-ea"/>
              </a:rPr>
              <a:t> </a:t>
            </a:r>
            <a:r>
              <a:rPr sz="850" b="0" dirty="0" err="1">
                <a:solidFill>
                  <a:srgbClr val="222222"/>
                </a:solidFill>
                <a:latin typeface="+mj-ea"/>
                <a:ea typeface="+mj-ea"/>
              </a:rPr>
              <a:t>특화</a:t>
            </a:r>
            <a:r>
              <a:rPr sz="850" b="0" dirty="0">
                <a:solidFill>
                  <a:srgbClr val="222222"/>
                </a:solidFill>
                <a:latin typeface="+mj-ea"/>
                <a:ea typeface="+mj-ea"/>
              </a:rPr>
              <a:t> </a:t>
            </a:r>
            <a:r>
              <a:rPr sz="850" b="0" dirty="0" err="1">
                <a:solidFill>
                  <a:srgbClr val="222222"/>
                </a:solidFill>
                <a:latin typeface="+mj-ea"/>
                <a:ea typeface="+mj-ea"/>
              </a:rPr>
              <a:t>로직</a:t>
            </a:r>
            <a:endParaRPr sz="850" b="0" dirty="0">
              <a:solidFill>
                <a:srgbClr val="222222"/>
              </a:solidFill>
              <a:latin typeface="+mj-ea"/>
              <a:ea typeface="+mj-ea"/>
            </a:endParaRPr>
          </a:p>
        </p:txBody>
      </p:sp>
      <p:sp>
        <p:nvSpPr>
          <p:cNvPr id="278" name="seg bar now">
            <a:extLst>
              <a:ext uri="{FF2B5EF4-FFF2-40B4-BE49-F238E27FC236}">
                <a16:creationId xmlns:a16="http://schemas.microsoft.com/office/drawing/2014/main" id="{DCDB4FEA-DA94-4502-B811-0FB024E6FE36}"/>
              </a:ext>
            </a:extLst>
          </p:cNvPr>
          <p:cNvSpPr/>
          <p:nvPr/>
        </p:nvSpPr>
        <p:spPr>
          <a:xfrm>
            <a:off x="9281160" y="4855464"/>
            <a:ext cx="70866" cy="91440"/>
          </a:xfrm>
          <a:prstGeom prst="rect">
            <a:avLst/>
          </a:prstGeom>
          <a:solidFill>
            <a:srgbClr val="9DB9DE"/>
          </a:solidFill>
          <a:ln>
            <a:noFill/>
          </a:ln>
        </p:spPr>
        <p:txBody>
          <a:bodyPr rtlCol="0" anchor="ctr"/>
          <a:lstStyle/>
          <a:p>
            <a:pPr algn="ctr"/>
            <a:endParaRPr/>
          </a:p>
        </p:txBody>
      </p:sp>
      <p:sp>
        <p:nvSpPr>
          <p:cNvPr id="279" name="seg bar future">
            <a:extLst>
              <a:ext uri="{FF2B5EF4-FFF2-40B4-BE49-F238E27FC236}">
                <a16:creationId xmlns:a16="http://schemas.microsoft.com/office/drawing/2014/main" id="{D0171506-A0EA-4CAA-B51E-C1D45883A563}"/>
              </a:ext>
            </a:extLst>
          </p:cNvPr>
          <p:cNvSpPr/>
          <p:nvPr/>
        </p:nvSpPr>
        <p:spPr>
          <a:xfrm>
            <a:off x="9281160" y="4956047"/>
            <a:ext cx="290322" cy="91440"/>
          </a:xfrm>
          <a:prstGeom prst="rect">
            <a:avLst/>
          </a:prstGeom>
          <a:solidFill>
            <a:srgbClr val="2F6DB5"/>
          </a:solidFill>
          <a:ln>
            <a:noFill/>
          </a:ln>
        </p:spPr>
        <p:txBody>
          <a:bodyPr rtlCol="0" anchor="ctr"/>
          <a:lstStyle/>
          <a:p>
            <a:pPr algn="ctr"/>
            <a:endParaRPr/>
          </a:p>
        </p:txBody>
      </p:sp>
      <p:sp>
        <p:nvSpPr>
          <p:cNvPr id="280" name="TextBox 279">
            <a:extLst>
              <a:ext uri="{FF2B5EF4-FFF2-40B4-BE49-F238E27FC236}">
                <a16:creationId xmlns:a16="http://schemas.microsoft.com/office/drawing/2014/main" id="{FBE87DDD-FA04-44AA-B39C-078B141C3C3A}"/>
              </a:ext>
            </a:extLst>
          </p:cNvPr>
          <p:cNvSpPr txBox="1"/>
          <p:nvPr/>
        </p:nvSpPr>
        <p:spPr>
          <a:xfrm>
            <a:off x="10515600" y="4818888"/>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$6.2B → $25.4B</a:t>
            </a:r>
          </a:p>
          <a:p>
            <a:pPr algn="l">
              <a:lnSpc>
                <a:spcPct val="95000"/>
              </a:lnSpc>
            </a:pPr>
            <a:r>
              <a:rPr sz="750" b="0">
                <a:solidFill>
                  <a:srgbClr val="555555"/>
                </a:solidFill>
                <a:latin typeface="+mj-ea"/>
                <a:ea typeface="+mj-ea"/>
              </a:rPr>
              <a:t>’25→’31E · CAGR ≈27%</a:t>
            </a:r>
          </a:p>
        </p:txBody>
      </p:sp>
      <p:sp>
        <p:nvSpPr>
          <p:cNvPr id="281" name="Segment chip">
            <a:extLst>
              <a:ext uri="{FF2B5EF4-FFF2-40B4-BE49-F238E27FC236}">
                <a16:creationId xmlns:a16="http://schemas.microsoft.com/office/drawing/2014/main" id="{C76930F2-7808-4EDD-B03D-9A9B905987CD}"/>
              </a:ext>
            </a:extLst>
          </p:cNvPr>
          <p:cNvSpPr/>
          <p:nvPr/>
        </p:nvSpPr>
        <p:spPr>
          <a:xfrm>
            <a:off x="6492240" y="5138927"/>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CXL 메모리 풀</a:t>
            </a:r>
          </a:p>
        </p:txBody>
      </p:sp>
      <p:sp>
        <p:nvSpPr>
          <p:cNvPr id="282" name="TextBox 281">
            <a:extLst>
              <a:ext uri="{FF2B5EF4-FFF2-40B4-BE49-F238E27FC236}">
                <a16:creationId xmlns:a16="http://schemas.microsoft.com/office/drawing/2014/main" id="{1750F99D-F96D-4EF5-85D4-F50EC98E0095}"/>
              </a:ext>
            </a:extLst>
          </p:cNvPr>
          <p:cNvSpPr txBox="1"/>
          <p:nvPr/>
        </p:nvSpPr>
        <p:spPr>
          <a:xfrm>
            <a:off x="7818120" y="5138927"/>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a:t>
            </a:r>
            <a:r>
              <a:rPr sz="850" b="0" dirty="0">
                <a:solidFill>
                  <a:srgbClr val="222222"/>
                </a:solidFill>
                <a:latin typeface="+mj-ea"/>
                <a:ea typeface="+mj-ea"/>
              </a:rPr>
              <a:t> </a:t>
            </a:r>
            <a:r>
              <a:rPr sz="850" b="0" dirty="0" err="1">
                <a:solidFill>
                  <a:srgbClr val="222222"/>
                </a:solidFill>
                <a:latin typeface="+mj-ea"/>
                <a:ea typeface="+mj-ea"/>
              </a:rPr>
              <a:t>단위</a:t>
            </a:r>
            <a:r>
              <a:rPr sz="850" b="0" dirty="0">
                <a:solidFill>
                  <a:srgbClr val="222222"/>
                </a:solidFill>
                <a:latin typeface="+mj-ea"/>
                <a:ea typeface="+mj-ea"/>
              </a:rPr>
              <a:t> </a:t>
            </a:r>
            <a:r>
              <a:rPr sz="850" b="0" dirty="0" err="1">
                <a:solidFill>
                  <a:srgbClr val="222222"/>
                </a:solidFill>
                <a:latin typeface="+mj-ea"/>
                <a:ea typeface="+mj-ea"/>
              </a:rPr>
              <a:t>용량</a:t>
            </a:r>
            <a:r>
              <a:rPr sz="850" b="0" dirty="0">
                <a:solidFill>
                  <a:srgbClr val="222222"/>
                </a:solidFill>
                <a:latin typeface="+mj-ea"/>
                <a:ea typeface="+mj-ea"/>
              </a:rPr>
              <a:t> </a:t>
            </a:r>
            <a:r>
              <a:rPr sz="850" b="0" dirty="0" err="1">
                <a:solidFill>
                  <a:srgbClr val="222222"/>
                </a:solidFill>
                <a:latin typeface="+mj-ea"/>
                <a:ea typeface="+mj-ea"/>
              </a:rPr>
              <a:t>확장</a:t>
            </a:r>
            <a:r>
              <a:rPr sz="850" b="0" dirty="0">
                <a:solidFill>
                  <a:srgbClr val="222222"/>
                </a:solidFill>
                <a:latin typeface="+mj-ea"/>
                <a:ea typeface="+mj-ea"/>
              </a:rPr>
              <a:t>, KV </a:t>
            </a:r>
            <a:r>
              <a:rPr sz="850" b="0" dirty="0" err="1">
                <a:solidFill>
                  <a:srgbClr val="222222"/>
                </a:solidFill>
                <a:latin typeface="+mj-ea"/>
                <a:ea typeface="+mj-ea"/>
              </a:rPr>
              <a:t>공유</a:t>
            </a:r>
            <a:endParaRPr sz="850" b="0" dirty="0">
              <a:solidFill>
                <a:srgbClr val="222222"/>
              </a:solidFill>
              <a:latin typeface="+mj-ea"/>
              <a:ea typeface="+mj-ea"/>
            </a:endParaRPr>
          </a:p>
        </p:txBody>
      </p:sp>
      <p:sp>
        <p:nvSpPr>
          <p:cNvPr id="283" name="seg bar now">
            <a:extLst>
              <a:ext uri="{FF2B5EF4-FFF2-40B4-BE49-F238E27FC236}">
                <a16:creationId xmlns:a16="http://schemas.microsoft.com/office/drawing/2014/main" id="{DC6707B1-0338-4262-A877-1EFEE6D31C03}"/>
              </a:ext>
            </a:extLst>
          </p:cNvPr>
          <p:cNvSpPr/>
          <p:nvPr/>
        </p:nvSpPr>
        <p:spPr>
          <a:xfrm>
            <a:off x="9281160" y="5166359"/>
            <a:ext cx="28232" cy="91440"/>
          </a:xfrm>
          <a:prstGeom prst="rect">
            <a:avLst/>
          </a:prstGeom>
          <a:solidFill>
            <a:srgbClr val="9DB9DE"/>
          </a:solidFill>
          <a:ln>
            <a:noFill/>
          </a:ln>
        </p:spPr>
        <p:txBody>
          <a:bodyPr rtlCol="0" anchor="ctr"/>
          <a:lstStyle/>
          <a:p>
            <a:pPr algn="ctr"/>
            <a:endParaRPr/>
          </a:p>
        </p:txBody>
      </p:sp>
      <p:sp>
        <p:nvSpPr>
          <p:cNvPr id="284" name="seg bar future">
            <a:extLst>
              <a:ext uri="{FF2B5EF4-FFF2-40B4-BE49-F238E27FC236}">
                <a16:creationId xmlns:a16="http://schemas.microsoft.com/office/drawing/2014/main" id="{1B21EF73-EC8F-4D14-A62A-305D9DC09481}"/>
              </a:ext>
            </a:extLst>
          </p:cNvPr>
          <p:cNvSpPr/>
          <p:nvPr/>
        </p:nvSpPr>
        <p:spPr>
          <a:xfrm>
            <a:off x="9281160" y="5266943"/>
            <a:ext cx="146989" cy="91440"/>
          </a:xfrm>
          <a:prstGeom prst="rect">
            <a:avLst/>
          </a:prstGeom>
          <a:solidFill>
            <a:srgbClr val="2F6DB5"/>
          </a:solidFill>
          <a:ln>
            <a:noFill/>
          </a:ln>
        </p:spPr>
        <p:txBody>
          <a:bodyPr rtlCol="0" anchor="ctr"/>
          <a:lstStyle/>
          <a:p>
            <a:pPr algn="ctr"/>
            <a:endParaRPr/>
          </a:p>
        </p:txBody>
      </p:sp>
      <p:sp>
        <p:nvSpPr>
          <p:cNvPr id="285" name="TextBox 284">
            <a:extLst>
              <a:ext uri="{FF2B5EF4-FFF2-40B4-BE49-F238E27FC236}">
                <a16:creationId xmlns:a16="http://schemas.microsoft.com/office/drawing/2014/main" id="{186178A9-B695-43FE-87D0-52147BBD0F07}"/>
              </a:ext>
            </a:extLst>
          </p:cNvPr>
          <p:cNvSpPr txBox="1"/>
          <p:nvPr/>
        </p:nvSpPr>
        <p:spPr>
          <a:xfrm>
            <a:off x="10515600" y="5129783"/>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$2.5B → $12.9B</a:t>
            </a:r>
          </a:p>
          <a:p>
            <a:pPr algn="l">
              <a:lnSpc>
                <a:spcPct val="95000"/>
              </a:lnSpc>
            </a:pPr>
            <a:r>
              <a:rPr sz="750" b="0">
                <a:solidFill>
                  <a:srgbClr val="555555"/>
                </a:solidFill>
                <a:latin typeface="+mj-ea"/>
                <a:ea typeface="+mj-ea"/>
              </a:rPr>
              <a:t>’26→’31E · CAGR ≈39%</a:t>
            </a:r>
          </a:p>
        </p:txBody>
      </p:sp>
      <p:sp>
        <p:nvSpPr>
          <p:cNvPr id="286" name="Segment chip">
            <a:extLst>
              <a:ext uri="{FF2B5EF4-FFF2-40B4-BE49-F238E27FC236}">
                <a16:creationId xmlns:a16="http://schemas.microsoft.com/office/drawing/2014/main" id="{229E2F15-9E9F-4E27-8118-53783761E5BD}"/>
              </a:ext>
            </a:extLst>
          </p:cNvPr>
          <p:cNvSpPr/>
          <p:nvPr/>
        </p:nvSpPr>
        <p:spPr>
          <a:xfrm>
            <a:off x="6492240" y="5449823"/>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SOCAMM2·LPDDR</a:t>
            </a:r>
          </a:p>
        </p:txBody>
      </p:sp>
      <p:sp>
        <p:nvSpPr>
          <p:cNvPr id="287" name="TextBox 286">
            <a:extLst>
              <a:ext uri="{FF2B5EF4-FFF2-40B4-BE49-F238E27FC236}">
                <a16:creationId xmlns:a16="http://schemas.microsoft.com/office/drawing/2014/main" id="{0ED8C0BA-92F5-4A5F-B05E-50828EF11512}"/>
              </a:ext>
            </a:extLst>
          </p:cNvPr>
          <p:cNvSpPr txBox="1"/>
          <p:nvPr/>
        </p:nvSpPr>
        <p:spPr>
          <a:xfrm>
            <a:off x="7818120" y="5449823"/>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서버용</a:t>
            </a:r>
            <a:r>
              <a:rPr sz="850" b="0" dirty="0">
                <a:solidFill>
                  <a:srgbClr val="222222"/>
                </a:solidFill>
                <a:latin typeface="+mj-ea"/>
                <a:ea typeface="+mj-ea"/>
              </a:rPr>
              <a:t> </a:t>
            </a:r>
            <a:r>
              <a:rPr sz="850" b="0" dirty="0" err="1">
                <a:solidFill>
                  <a:srgbClr val="222222"/>
                </a:solidFill>
                <a:latin typeface="+mj-ea"/>
                <a:ea typeface="+mj-ea"/>
              </a:rPr>
              <a:t>저전력·대용량</a:t>
            </a:r>
            <a:r>
              <a:rPr sz="850" b="0" dirty="0">
                <a:solidFill>
                  <a:srgbClr val="222222"/>
                </a:solidFill>
                <a:latin typeface="+mj-ea"/>
                <a:ea typeface="+mj-ea"/>
              </a:rPr>
              <a:t> </a:t>
            </a:r>
          </a:p>
        </p:txBody>
      </p:sp>
      <p:sp>
        <p:nvSpPr>
          <p:cNvPr id="288" name="TextBox 287">
            <a:extLst>
              <a:ext uri="{FF2B5EF4-FFF2-40B4-BE49-F238E27FC236}">
                <a16:creationId xmlns:a16="http://schemas.microsoft.com/office/drawing/2014/main" id="{7AF18399-56D7-42EB-A6B5-8BF90C0B2037}"/>
              </a:ext>
            </a:extLst>
          </p:cNvPr>
          <p:cNvSpPr txBox="1"/>
          <p:nvPr/>
        </p:nvSpPr>
        <p:spPr>
          <a:xfrm>
            <a:off x="10515600" y="5440679"/>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89" name="TextBox 288">
            <a:extLst>
              <a:ext uri="{FF2B5EF4-FFF2-40B4-BE49-F238E27FC236}">
                <a16:creationId xmlns:a16="http://schemas.microsoft.com/office/drawing/2014/main" id="{D1DFF20F-D994-4612-A468-25132F6A7713}"/>
              </a:ext>
            </a:extLst>
          </p:cNvPr>
          <p:cNvSpPr txBox="1"/>
          <p:nvPr/>
        </p:nvSpPr>
        <p:spPr>
          <a:xfrm>
            <a:off x="9281160" y="5449823"/>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0" name="Segment chip">
            <a:extLst>
              <a:ext uri="{FF2B5EF4-FFF2-40B4-BE49-F238E27FC236}">
                <a16:creationId xmlns:a16="http://schemas.microsoft.com/office/drawing/2014/main" id="{8D340E3D-0023-495B-A71C-3D2B423C4BFF}"/>
              </a:ext>
            </a:extLst>
          </p:cNvPr>
          <p:cNvSpPr/>
          <p:nvPr/>
        </p:nvSpPr>
        <p:spPr>
          <a:xfrm>
            <a:off x="6492240" y="5760720"/>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HBF · KV </a:t>
            </a:r>
            <a:r>
              <a:rPr sz="950" b="1" dirty="0" err="1">
                <a:solidFill>
                  <a:srgbClr val="222222"/>
                </a:solidFill>
                <a:latin typeface="+mj-ea"/>
                <a:ea typeface="+mj-ea"/>
              </a:rPr>
              <a:t>전용</a:t>
            </a:r>
            <a:r>
              <a:rPr sz="950" b="1" dirty="0">
                <a:solidFill>
                  <a:srgbClr val="222222"/>
                </a:solidFill>
                <a:latin typeface="+mj-ea"/>
                <a:ea typeface="+mj-ea"/>
              </a:rPr>
              <a:t> </a:t>
            </a:r>
            <a:r>
              <a:rPr sz="950" b="1" dirty="0" err="1">
                <a:solidFill>
                  <a:srgbClr val="222222"/>
                </a:solidFill>
                <a:latin typeface="+mj-ea"/>
                <a:ea typeface="+mj-ea"/>
              </a:rPr>
              <a:t>계층</a:t>
            </a:r>
            <a:endParaRPr sz="950" b="1" dirty="0">
              <a:solidFill>
                <a:srgbClr val="222222"/>
              </a:solidFill>
              <a:latin typeface="+mj-ea"/>
              <a:ea typeface="+mj-ea"/>
            </a:endParaRPr>
          </a:p>
        </p:txBody>
      </p:sp>
      <p:sp>
        <p:nvSpPr>
          <p:cNvPr id="291" name="TextBox 290">
            <a:extLst>
              <a:ext uri="{FF2B5EF4-FFF2-40B4-BE49-F238E27FC236}">
                <a16:creationId xmlns:a16="http://schemas.microsoft.com/office/drawing/2014/main" id="{B7C44A1C-DA37-4FAD-AC39-BDE1B9730229}"/>
              </a:ext>
            </a:extLst>
          </p:cNvPr>
          <p:cNvSpPr txBox="1"/>
          <p:nvPr/>
        </p:nvSpPr>
        <p:spPr>
          <a:xfrm>
            <a:off x="7818120" y="5760720"/>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HBM급</a:t>
            </a:r>
            <a:r>
              <a:rPr sz="850" b="0" dirty="0">
                <a:solidFill>
                  <a:srgbClr val="222222"/>
                </a:solidFill>
                <a:latin typeface="+mj-ea"/>
                <a:ea typeface="+mj-ea"/>
              </a:rPr>
              <a:t> </a:t>
            </a:r>
            <a:r>
              <a:rPr sz="850" b="0" dirty="0" err="1">
                <a:solidFill>
                  <a:srgbClr val="222222"/>
                </a:solidFill>
                <a:latin typeface="+mj-ea"/>
                <a:ea typeface="+mj-ea"/>
              </a:rPr>
              <a:t>읽기</a:t>
            </a:r>
            <a:r>
              <a:rPr sz="850" b="0" dirty="0">
                <a:solidFill>
                  <a:srgbClr val="222222"/>
                </a:solidFill>
                <a:latin typeface="+mj-ea"/>
                <a:ea typeface="+mj-ea"/>
              </a:rPr>
              <a:t> </a:t>
            </a:r>
            <a:r>
              <a:rPr sz="850" b="0" dirty="0" err="1">
                <a:solidFill>
                  <a:srgbClr val="222222"/>
                </a:solidFill>
                <a:latin typeface="+mj-ea"/>
                <a:ea typeface="+mj-ea"/>
              </a:rPr>
              <a:t>BW·용량</a:t>
            </a:r>
            <a:r>
              <a:rPr sz="850" b="0" dirty="0">
                <a:solidFill>
                  <a:srgbClr val="222222"/>
                </a:solidFill>
                <a:latin typeface="+mj-ea"/>
                <a:ea typeface="+mj-ea"/>
              </a:rPr>
              <a:t> ≈10×, SSD(CMX) </a:t>
            </a:r>
          </a:p>
        </p:txBody>
      </p:sp>
      <p:sp>
        <p:nvSpPr>
          <p:cNvPr id="292" name="TextBox 291">
            <a:extLst>
              <a:ext uri="{FF2B5EF4-FFF2-40B4-BE49-F238E27FC236}">
                <a16:creationId xmlns:a16="http://schemas.microsoft.com/office/drawing/2014/main" id="{B50A0650-1D9B-4BE5-9F2A-6FCFC51C43E5}"/>
              </a:ext>
            </a:extLst>
          </p:cNvPr>
          <p:cNvSpPr txBox="1"/>
          <p:nvPr/>
        </p:nvSpPr>
        <p:spPr>
          <a:xfrm>
            <a:off x="10515600" y="5751576"/>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93" name="TextBox 292">
            <a:extLst>
              <a:ext uri="{FF2B5EF4-FFF2-40B4-BE49-F238E27FC236}">
                <a16:creationId xmlns:a16="http://schemas.microsoft.com/office/drawing/2014/main" id="{EF822EB5-4849-4978-829A-149CBDB0DDEA}"/>
              </a:ext>
            </a:extLst>
          </p:cNvPr>
          <p:cNvSpPr txBox="1"/>
          <p:nvPr/>
        </p:nvSpPr>
        <p:spPr>
          <a:xfrm>
            <a:off x="9281160" y="5760720"/>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4" name="Text 99">
            <a:extLst>
              <a:ext uri="{FF2B5EF4-FFF2-40B4-BE49-F238E27FC236}">
                <a16:creationId xmlns:a16="http://schemas.microsoft.com/office/drawing/2014/main" id="{6BC63208-ADEC-4F19-B11C-A90016756407}"/>
              </a:ext>
            </a:extLst>
          </p:cNvPr>
          <p:cNvSpPr/>
          <p:nvPr/>
        </p:nvSpPr>
        <p:spPr>
          <a:xfrm>
            <a:off x="6130551" y="6235476"/>
            <a:ext cx="5862667" cy="454947"/>
          </a:xfrm>
          <a:prstGeom prst="rect">
            <a:avLst/>
          </a:prstGeom>
          <a:noFill/>
          <a:ln/>
        </p:spPr>
        <p:txBody>
          <a:bodyPr wrap="square" lIns="0" tIns="0" rIns="0" bIns="0" rtlCol="0" anchor="t">
            <a:noAutofit/>
          </a:bodyPr>
          <a:lstStyle/>
          <a:p>
            <a:pPr marL="0" indent="0" algn="l">
              <a:lnSpc>
                <a:spcPct val="125000"/>
              </a:lnSpc>
              <a:buNone/>
            </a:pPr>
            <a:r>
              <a:rPr lang="en-US" sz="600" dirty="0">
                <a:solidFill>
                  <a:srgbClr val="555555"/>
                </a:solidFill>
                <a:latin typeface="Noto Sans KR" pitchFamily="34" charset="0"/>
                <a:ea typeface="Noto Sans KR" pitchFamily="34" charset="-122"/>
                <a:cs typeface="Noto Sans KR" pitchFamily="34" charset="-120"/>
              </a:rPr>
              <a:t> [4] Micron(HBM TAM $16B ’24 · $35B ’25 · ≈$100B ’28E) [5] TrendForce(범용 DRAM 계약가 QoQ 전망: 1Q26 +90~95%, 2Q26 +58~63%, 3Q26E +13~18%, 4Q26E +10~15%; 누적 ≈4.0×는 구간 중앙값 곱) [6] SK hynix CES’26·Samsung OCP’26, Mordor Intelligence(CXL), Mobility Foresights(cHBM) [7] arXiv:2610.08378·2609.25782 [8] DRAMeXchange·TrendForce(DDR4 8Gb). 시장규모는 기관별 정의·범위가 달라 직접 비교 불가</a:t>
            </a:r>
            <a:endParaRPr lang="en-US" sz="600" dirty="0"/>
          </a:p>
        </p:txBody>
      </p:sp>
    </p:spTree>
    <p:extLst>
      <p:ext uri="{BB962C8B-B14F-4D97-AF65-F5344CB8AC3E}">
        <p14:creationId xmlns:p14="http://schemas.microsoft.com/office/powerpoint/2010/main" val="274221056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02B03521-E0C7-493A-819F-DD13CF462C9F}"/>
              </a:ext>
            </a:extLst>
          </p:cNvPr>
          <p:cNvPicPr>
            <a:picLocks noChangeAspect="1"/>
          </p:cNvPicPr>
          <p:nvPr/>
        </p:nvPicPr>
        <p:blipFill rotWithShape="1">
          <a:blip r:embed="rId3"/>
          <a:srcRect l="9831" t="8467" r="11222" b="23484"/>
          <a:stretch/>
        </p:blipFill>
        <p:spPr>
          <a:xfrm>
            <a:off x="183545" y="1095192"/>
            <a:ext cx="5769486" cy="5133517"/>
          </a:xfrm>
          <a:prstGeom prst="rect">
            <a:avLst/>
          </a:prstGeom>
        </p:spPr>
      </p:pic>
      <p:sp>
        <p:nvSpPr>
          <p:cNvPr id="88" name="TextBox 87">
            <a:extLst>
              <a:ext uri="{FF2B5EF4-FFF2-40B4-BE49-F238E27FC236}">
                <a16:creationId xmlns:a16="http://schemas.microsoft.com/office/drawing/2014/main" id="{D27EF54B-7724-4A08-87B2-44720271893E}"/>
              </a:ext>
            </a:extLst>
          </p:cNvPr>
          <p:cNvSpPr txBox="1"/>
          <p:nvPr/>
        </p:nvSpPr>
        <p:spPr>
          <a:xfrm>
            <a:off x="2346145" y="737379"/>
            <a:ext cx="1580903" cy="246221"/>
          </a:xfrm>
          <a:prstGeom prst="rect">
            <a:avLst/>
          </a:prstGeom>
          <a:noFill/>
        </p:spPr>
        <p:txBody>
          <a:bodyPr wrap="square" lIns="0" tIns="0" rIns="0" bIns="0" anchor="t">
            <a:spAutoFit/>
          </a:bodyPr>
          <a:lstStyle/>
          <a:p>
            <a:pPr algn="ctr"/>
            <a:r>
              <a:rPr lang="ko-KR" altLang="en-US" sz="1600" b="1" dirty="0">
                <a:latin typeface="맑은 고딕"/>
                <a:ea typeface="맑은 고딕"/>
              </a:rPr>
              <a:t>응용 관점</a:t>
            </a:r>
            <a:endParaRPr sz="1600" b="1" i="0" dirty="0">
              <a:latin typeface="맑은 고딕"/>
              <a:ea typeface="맑은 고딕"/>
            </a:endParaRPr>
          </a:p>
        </p:txBody>
      </p:sp>
      <p:sp>
        <p:nvSpPr>
          <p:cNvPr id="89" name="TextBox 88">
            <a:extLst>
              <a:ext uri="{FF2B5EF4-FFF2-40B4-BE49-F238E27FC236}">
                <a16:creationId xmlns:a16="http://schemas.microsoft.com/office/drawing/2014/main" id="{C444E80C-05AA-4933-A75E-230AC6802797}"/>
              </a:ext>
            </a:extLst>
          </p:cNvPr>
          <p:cNvSpPr txBox="1"/>
          <p:nvPr/>
        </p:nvSpPr>
        <p:spPr>
          <a:xfrm>
            <a:off x="8351498" y="795654"/>
            <a:ext cx="1580903" cy="246221"/>
          </a:xfrm>
          <a:prstGeom prst="rect">
            <a:avLst/>
          </a:prstGeom>
          <a:noFill/>
        </p:spPr>
        <p:txBody>
          <a:bodyPr wrap="square" lIns="0" tIns="0" rIns="0" bIns="0" anchor="t">
            <a:spAutoFit/>
          </a:bodyPr>
          <a:lstStyle/>
          <a:p>
            <a:pPr algn="ctr"/>
            <a:r>
              <a:rPr lang="ko-KR" altLang="en-US" sz="1600" b="1" dirty="0">
                <a:latin typeface="맑은 고딕"/>
                <a:ea typeface="맑은 고딕"/>
              </a:rPr>
              <a:t>시스템 관점</a:t>
            </a:r>
            <a:endParaRPr sz="1600" b="1" i="0" dirty="0">
              <a:latin typeface="맑은 고딕"/>
              <a:ea typeface="맑은 고딕"/>
            </a:endParaRPr>
          </a:p>
        </p:txBody>
      </p:sp>
      <p:sp>
        <p:nvSpPr>
          <p:cNvPr id="49" name="모서리가 둥근 직사각형 3">
            <a:extLst>
              <a:ext uri="{FF2B5EF4-FFF2-40B4-BE49-F238E27FC236}">
                <a16:creationId xmlns:a16="http://schemas.microsoft.com/office/drawing/2014/main" id="{A2B547FC-54B2-410A-940D-9BE18BBA09E1}"/>
              </a:ext>
            </a:extLst>
          </p:cNvPr>
          <p:cNvSpPr/>
          <p:nvPr/>
        </p:nvSpPr>
        <p:spPr>
          <a:xfrm>
            <a:off x="6591685" y="1207976"/>
            <a:ext cx="5195814" cy="2588189"/>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TextBox 49">
            <a:extLst>
              <a:ext uri="{FF2B5EF4-FFF2-40B4-BE49-F238E27FC236}">
                <a16:creationId xmlns:a16="http://schemas.microsoft.com/office/drawing/2014/main" id="{9E7638E3-D699-4E00-A1D4-D193421B8897}"/>
              </a:ext>
            </a:extLst>
          </p:cNvPr>
          <p:cNvSpPr txBox="1"/>
          <p:nvPr/>
        </p:nvSpPr>
        <p:spPr>
          <a:xfrm>
            <a:off x="8459050" y="1300376"/>
            <a:ext cx="1580903" cy="215444"/>
          </a:xfrm>
          <a:prstGeom prst="rect">
            <a:avLst/>
          </a:prstGeom>
          <a:noFill/>
        </p:spPr>
        <p:txBody>
          <a:bodyPr wrap="square" lIns="0" tIns="0" rIns="0" bIns="0" anchor="t">
            <a:spAutoFit/>
          </a:bodyPr>
          <a:lstStyle/>
          <a:p>
            <a:pPr algn="ctr"/>
            <a:r>
              <a:rPr sz="1400" b="1" i="0" dirty="0">
                <a:latin typeface="맑은 고딕"/>
                <a:ea typeface="맑은 고딕"/>
              </a:rPr>
              <a:t>Legacy </a:t>
            </a:r>
            <a:r>
              <a:rPr sz="1400" b="1" i="0" dirty="0" err="1">
                <a:latin typeface="맑은 고딕"/>
                <a:ea typeface="맑은 고딕"/>
              </a:rPr>
              <a:t>시스템</a:t>
            </a:r>
            <a:endParaRPr sz="1400" b="1" i="0" dirty="0">
              <a:latin typeface="맑은 고딕"/>
              <a:ea typeface="맑은 고딕"/>
            </a:endParaRPr>
          </a:p>
        </p:txBody>
      </p:sp>
      <p:grpSp>
        <p:nvGrpSpPr>
          <p:cNvPr id="189" name="그룹 188">
            <a:extLst>
              <a:ext uri="{FF2B5EF4-FFF2-40B4-BE49-F238E27FC236}">
                <a16:creationId xmlns:a16="http://schemas.microsoft.com/office/drawing/2014/main" id="{5BAAE414-3069-4D77-9488-1B60AB9A6902}"/>
              </a:ext>
            </a:extLst>
          </p:cNvPr>
          <p:cNvGrpSpPr/>
          <p:nvPr/>
        </p:nvGrpSpPr>
        <p:grpSpPr>
          <a:xfrm>
            <a:off x="6799569" y="1607620"/>
            <a:ext cx="4895760" cy="2037710"/>
            <a:chOff x="6799569" y="1541253"/>
            <a:chExt cx="4747332" cy="2049551"/>
          </a:xfrm>
        </p:grpSpPr>
        <p:sp>
          <p:nvSpPr>
            <p:cNvPr id="48" name="모서리가 둥근 직사각형 203">
              <a:extLst>
                <a:ext uri="{FF2B5EF4-FFF2-40B4-BE49-F238E27FC236}">
                  <a16:creationId xmlns:a16="http://schemas.microsoft.com/office/drawing/2014/main" id="{8818C517-9AE2-4CD8-88D3-3A3C6FAB2807}"/>
                </a:ext>
              </a:extLst>
            </p:cNvPr>
            <p:cNvSpPr/>
            <p:nvPr/>
          </p:nvSpPr>
          <p:spPr>
            <a:xfrm>
              <a:off x="6799569" y="1541253"/>
              <a:ext cx="4747332" cy="2049551"/>
            </a:xfrm>
            <a:prstGeom prst="roundRect">
              <a:avLst>
                <a:gd name="adj" fmla="val 8399"/>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algn="ctr"/>
              <a:endParaRPr lang="ko-KR" altLang="en-US" sz="1400" b="1" dirty="0">
                <a:solidFill>
                  <a:schemeClr val="tx1"/>
                </a:solidFill>
              </a:endParaRPr>
            </a:p>
          </p:txBody>
        </p:sp>
        <p:sp>
          <p:nvSpPr>
            <p:cNvPr id="52" name="직사각형 51">
              <a:extLst>
                <a:ext uri="{FF2B5EF4-FFF2-40B4-BE49-F238E27FC236}">
                  <a16:creationId xmlns:a16="http://schemas.microsoft.com/office/drawing/2014/main" id="{ABBD2CB5-64B7-49F8-9E54-A83D4EE66C31}"/>
                </a:ext>
              </a:extLst>
            </p:cNvPr>
            <p:cNvSpPr/>
            <p:nvPr/>
          </p:nvSpPr>
          <p:spPr>
            <a:xfrm>
              <a:off x="8452828" y="2838494"/>
              <a:ext cx="1217638" cy="251044"/>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CPU</a:t>
              </a:r>
              <a:endParaRPr lang="ko-KR" altLang="en-US" sz="1400" dirty="0">
                <a:solidFill>
                  <a:schemeClr val="bg1">
                    <a:lumMod val="50000"/>
                  </a:schemeClr>
                </a:solidFill>
              </a:endParaRPr>
            </a:p>
          </p:txBody>
        </p:sp>
        <p:sp>
          <p:nvSpPr>
            <p:cNvPr id="53" name="직사각형 52">
              <a:extLst>
                <a:ext uri="{FF2B5EF4-FFF2-40B4-BE49-F238E27FC236}">
                  <a16:creationId xmlns:a16="http://schemas.microsoft.com/office/drawing/2014/main" id="{07847AC2-3723-4524-BD4E-7B5AF0C306B4}"/>
                </a:ext>
              </a:extLst>
            </p:cNvPr>
            <p:cNvSpPr/>
            <p:nvPr/>
          </p:nvSpPr>
          <p:spPr>
            <a:xfrm>
              <a:off x="10028798" y="2838494"/>
              <a:ext cx="1217638" cy="2510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DRAM</a:t>
              </a:r>
              <a:endParaRPr lang="ko-KR" altLang="en-US" sz="1400" dirty="0"/>
            </a:p>
          </p:txBody>
        </p:sp>
        <p:sp>
          <p:nvSpPr>
            <p:cNvPr id="55" name="직사각형 54">
              <a:extLst>
                <a:ext uri="{FF2B5EF4-FFF2-40B4-BE49-F238E27FC236}">
                  <a16:creationId xmlns:a16="http://schemas.microsoft.com/office/drawing/2014/main" id="{683FF236-3F6C-46AA-9AA4-295054B8ABA3}"/>
                </a:ext>
              </a:extLst>
            </p:cNvPr>
            <p:cNvSpPr/>
            <p:nvPr/>
          </p:nvSpPr>
          <p:spPr>
            <a:xfrm>
              <a:off x="7052940" y="2443302"/>
              <a:ext cx="1217638" cy="243746"/>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GPU</a:t>
              </a:r>
              <a:endParaRPr lang="ko-KR" altLang="en-US" sz="1400" dirty="0">
                <a:solidFill>
                  <a:schemeClr val="bg1">
                    <a:lumMod val="50000"/>
                  </a:schemeClr>
                </a:solidFill>
              </a:endParaRPr>
            </a:p>
          </p:txBody>
        </p:sp>
        <p:sp>
          <p:nvSpPr>
            <p:cNvPr id="56" name="직사각형 55">
              <a:extLst>
                <a:ext uri="{FF2B5EF4-FFF2-40B4-BE49-F238E27FC236}">
                  <a16:creationId xmlns:a16="http://schemas.microsoft.com/office/drawing/2014/main" id="{F3444C6F-B8A8-42CF-99BE-DFAE35F03139}"/>
                </a:ext>
              </a:extLst>
            </p:cNvPr>
            <p:cNvSpPr/>
            <p:nvPr/>
          </p:nvSpPr>
          <p:spPr>
            <a:xfrm>
              <a:off x="7052940" y="1996548"/>
              <a:ext cx="1217638" cy="274815"/>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HBM</a:t>
              </a:r>
              <a:endParaRPr lang="ko-KR" altLang="en-US" sz="1400" dirty="0"/>
            </a:p>
          </p:txBody>
        </p:sp>
        <p:sp>
          <p:nvSpPr>
            <p:cNvPr id="57" name="직사각형 56">
              <a:extLst>
                <a:ext uri="{FF2B5EF4-FFF2-40B4-BE49-F238E27FC236}">
                  <a16:creationId xmlns:a16="http://schemas.microsoft.com/office/drawing/2014/main" id="{9C0EFC8A-5121-4F5A-AD9A-897FBAA8BF46}"/>
                </a:ext>
              </a:extLst>
            </p:cNvPr>
            <p:cNvSpPr/>
            <p:nvPr/>
          </p:nvSpPr>
          <p:spPr>
            <a:xfrm>
              <a:off x="8452828" y="3215238"/>
              <a:ext cx="1217638" cy="2510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SSD</a:t>
              </a:r>
              <a:endParaRPr lang="ko-KR" altLang="en-US" sz="1400" dirty="0"/>
            </a:p>
          </p:txBody>
        </p:sp>
        <p:cxnSp>
          <p:nvCxnSpPr>
            <p:cNvPr id="58" name="직선 연결선 57">
              <a:extLst>
                <a:ext uri="{FF2B5EF4-FFF2-40B4-BE49-F238E27FC236}">
                  <a16:creationId xmlns:a16="http://schemas.microsoft.com/office/drawing/2014/main" id="{E85A42BD-C6C4-4A77-9F92-1EB368FDF509}"/>
                </a:ext>
              </a:extLst>
            </p:cNvPr>
            <p:cNvCxnSpPr>
              <a:cxnSpLocks/>
              <a:stCxn id="55" idx="2"/>
              <a:endCxn id="52" idx="0"/>
            </p:cNvCxnSpPr>
            <p:nvPr/>
          </p:nvCxnSpPr>
          <p:spPr>
            <a:xfrm>
              <a:off x="7661760" y="2687048"/>
              <a:ext cx="1399888" cy="151446"/>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a:extLst>
                <a:ext uri="{FF2B5EF4-FFF2-40B4-BE49-F238E27FC236}">
                  <a16:creationId xmlns:a16="http://schemas.microsoft.com/office/drawing/2014/main" id="{715106E1-061D-4C38-B0F9-1F9CDC279A84}"/>
                </a:ext>
              </a:extLst>
            </p:cNvPr>
            <p:cNvCxnSpPr>
              <a:cxnSpLocks/>
              <a:stCxn id="53" idx="1"/>
              <a:endCxn id="52" idx="3"/>
            </p:cNvCxnSpPr>
            <p:nvPr/>
          </p:nvCxnSpPr>
          <p:spPr>
            <a:xfrm flipH="1">
              <a:off x="9670466" y="2964017"/>
              <a:ext cx="358332" cy="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a:extLst>
                <a:ext uri="{FF2B5EF4-FFF2-40B4-BE49-F238E27FC236}">
                  <a16:creationId xmlns:a16="http://schemas.microsoft.com/office/drawing/2014/main" id="{53AACF7E-D6DC-4356-8AC2-ECF5A65FD4B6}"/>
                </a:ext>
              </a:extLst>
            </p:cNvPr>
            <p:cNvCxnSpPr>
              <a:cxnSpLocks/>
              <a:stCxn id="57" idx="0"/>
              <a:endCxn id="52" idx="2"/>
            </p:cNvCxnSpPr>
            <p:nvPr/>
          </p:nvCxnSpPr>
          <p:spPr>
            <a:xfrm flipV="1">
              <a:off x="9061647" y="3089539"/>
              <a:ext cx="0" cy="125699"/>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03AB575E-2609-4FF5-9CF5-FA0B51625D04}"/>
                </a:ext>
              </a:extLst>
            </p:cNvPr>
            <p:cNvCxnSpPr>
              <a:cxnSpLocks/>
              <a:stCxn id="56" idx="2"/>
              <a:endCxn id="55" idx="0"/>
            </p:cNvCxnSpPr>
            <p:nvPr/>
          </p:nvCxnSpPr>
          <p:spPr>
            <a:xfrm>
              <a:off x="7661760" y="2271363"/>
              <a:ext cx="0" cy="171938"/>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65" name="순서도: 자기 디스크 64">
              <a:extLst>
                <a:ext uri="{FF2B5EF4-FFF2-40B4-BE49-F238E27FC236}">
                  <a16:creationId xmlns:a16="http://schemas.microsoft.com/office/drawing/2014/main" id="{064AC430-7BB8-4B2D-8221-28B577B51FF6}"/>
                </a:ext>
              </a:extLst>
            </p:cNvPr>
            <p:cNvSpPr/>
            <p:nvPr/>
          </p:nvSpPr>
          <p:spPr>
            <a:xfrm>
              <a:off x="8032671" y="2271363"/>
              <a:ext cx="599025" cy="176862"/>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6" name="순서도: 자기 디스크 65">
              <a:extLst>
                <a:ext uri="{FF2B5EF4-FFF2-40B4-BE49-F238E27FC236}">
                  <a16:creationId xmlns:a16="http://schemas.microsoft.com/office/drawing/2014/main" id="{382E24FE-EB61-4000-ABE1-9D240FC79B85}"/>
                </a:ext>
              </a:extLst>
            </p:cNvPr>
            <p:cNvSpPr/>
            <p:nvPr/>
          </p:nvSpPr>
          <p:spPr>
            <a:xfrm>
              <a:off x="8032671" y="2113111"/>
              <a:ext cx="599025" cy="176862"/>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7" name="순서도: 자기 디스크 66">
              <a:extLst>
                <a:ext uri="{FF2B5EF4-FFF2-40B4-BE49-F238E27FC236}">
                  <a16:creationId xmlns:a16="http://schemas.microsoft.com/office/drawing/2014/main" id="{38E7ADE2-A791-407A-A1AF-4C170A138FBE}"/>
                </a:ext>
              </a:extLst>
            </p:cNvPr>
            <p:cNvSpPr/>
            <p:nvPr/>
          </p:nvSpPr>
          <p:spPr>
            <a:xfrm>
              <a:off x="8032671" y="1796600"/>
              <a:ext cx="599025" cy="176862"/>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8" name="TextBox 67">
              <a:extLst>
                <a:ext uri="{FF2B5EF4-FFF2-40B4-BE49-F238E27FC236}">
                  <a16:creationId xmlns:a16="http://schemas.microsoft.com/office/drawing/2014/main" id="{93FB15D5-6527-4DF6-9FDA-07AF73F9A0D7}"/>
                </a:ext>
              </a:extLst>
            </p:cNvPr>
            <p:cNvSpPr txBox="1"/>
            <p:nvPr/>
          </p:nvSpPr>
          <p:spPr>
            <a:xfrm rot="16200000">
              <a:off x="8249592" y="1950605"/>
              <a:ext cx="165185" cy="192496"/>
            </a:xfrm>
            <a:prstGeom prst="rect">
              <a:avLst/>
            </a:prstGeom>
            <a:noFill/>
            <a:ln w="9525">
              <a:noFill/>
            </a:ln>
          </p:spPr>
          <p:txBody>
            <a:bodyPr wrap="square" lIns="0" tIns="0" rIns="0" bIns="0" anchor="t">
              <a:spAutoFit/>
            </a:bodyPr>
            <a:lstStyle/>
            <a:p>
              <a:pPr algn="l"/>
              <a:r>
                <a:rPr lang="en-US" sz="1200" b="1" i="0" dirty="0">
                  <a:latin typeface="맑은 고딕"/>
                  <a:ea typeface="맑은 고딕"/>
                </a:rPr>
                <a:t>…</a:t>
              </a:r>
              <a:endParaRPr sz="1200" b="1" i="0" dirty="0">
                <a:latin typeface="맑은 고딕"/>
                <a:ea typeface="맑은 고딕"/>
              </a:endParaRPr>
            </a:p>
          </p:txBody>
        </p:sp>
        <p:sp>
          <p:nvSpPr>
            <p:cNvPr id="72" name="TextBox 71">
              <a:extLst>
                <a:ext uri="{FF2B5EF4-FFF2-40B4-BE49-F238E27FC236}">
                  <a16:creationId xmlns:a16="http://schemas.microsoft.com/office/drawing/2014/main" id="{982B91E0-C0A6-4A51-990F-CD75D078CD26}"/>
                </a:ext>
              </a:extLst>
            </p:cNvPr>
            <p:cNvSpPr txBox="1"/>
            <p:nvPr/>
          </p:nvSpPr>
          <p:spPr>
            <a:xfrm>
              <a:off x="7484768" y="2875646"/>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73" name="TextBox 72">
              <a:extLst>
                <a:ext uri="{FF2B5EF4-FFF2-40B4-BE49-F238E27FC236}">
                  <a16:creationId xmlns:a16="http://schemas.microsoft.com/office/drawing/2014/main" id="{E2BB39FA-2603-4437-B4FF-B5439EC5C1DF}"/>
                </a:ext>
              </a:extLst>
            </p:cNvPr>
            <p:cNvSpPr txBox="1"/>
            <p:nvPr/>
          </p:nvSpPr>
          <p:spPr>
            <a:xfrm rot="16200000">
              <a:off x="7533442" y="3336433"/>
              <a:ext cx="258321" cy="224579"/>
            </a:xfrm>
            <a:prstGeom prst="rect">
              <a:avLst/>
            </a:prstGeom>
            <a:noFill/>
            <a:ln w="9525">
              <a:noFill/>
            </a:ln>
          </p:spPr>
          <p:txBody>
            <a:bodyPr wrap="square" lIns="0" tIns="0" rIns="0" bIns="0" anchor="t">
              <a:spAutoFit/>
            </a:bodyPr>
            <a:lstStyle/>
            <a:p>
              <a:pPr algn="l"/>
              <a:r>
                <a:rPr lang="en-US" sz="1400" b="1" i="0" dirty="0">
                  <a:latin typeface="맑은 고딕"/>
                  <a:ea typeface="맑은 고딕"/>
                </a:rPr>
                <a:t>…</a:t>
              </a:r>
              <a:endParaRPr sz="1400" b="1" i="0" dirty="0">
                <a:latin typeface="맑은 고딕"/>
                <a:ea typeface="맑은 고딕"/>
              </a:endParaRPr>
            </a:p>
          </p:txBody>
        </p:sp>
        <p:sp>
          <p:nvSpPr>
            <p:cNvPr id="74" name="TextBox 73">
              <a:extLst>
                <a:ext uri="{FF2B5EF4-FFF2-40B4-BE49-F238E27FC236}">
                  <a16:creationId xmlns:a16="http://schemas.microsoft.com/office/drawing/2014/main" id="{49F89BB0-E1B8-4821-947A-774A5DECE2FA}"/>
                </a:ext>
              </a:extLst>
            </p:cNvPr>
            <p:cNvSpPr txBox="1"/>
            <p:nvPr/>
          </p:nvSpPr>
          <p:spPr>
            <a:xfrm>
              <a:off x="9250309" y="2504560"/>
              <a:ext cx="1055751" cy="255391"/>
            </a:xfrm>
            <a:prstGeom prst="rect">
              <a:avLst/>
            </a:prstGeom>
            <a:noFill/>
            <a:ln w="9525">
              <a:noFill/>
            </a:ln>
          </p:spPr>
          <p:txBody>
            <a:bodyPr wrap="none" rtlCol="0">
              <a:spAutoFit/>
            </a:bodyPr>
            <a:lstStyle/>
            <a:p>
              <a:r>
                <a:rPr lang="ko-KR" altLang="en-US" sz="1050" dirty="0">
                  <a:solidFill>
                    <a:srgbClr val="FF0000"/>
                  </a:solidFill>
                </a:rPr>
                <a:t>필요 시 재생성</a:t>
              </a:r>
            </a:p>
          </p:txBody>
        </p:sp>
        <p:cxnSp>
          <p:nvCxnSpPr>
            <p:cNvPr id="76" name="꺾인 연결선 190">
              <a:extLst>
                <a:ext uri="{FF2B5EF4-FFF2-40B4-BE49-F238E27FC236}">
                  <a16:creationId xmlns:a16="http://schemas.microsoft.com/office/drawing/2014/main" id="{A9475D4E-A4B7-4768-8481-89EBE0C931C6}"/>
                </a:ext>
              </a:extLst>
            </p:cNvPr>
            <p:cNvCxnSpPr>
              <a:stCxn id="67" idx="4"/>
              <a:endCxn id="2050" idx="0"/>
            </p:cNvCxnSpPr>
            <p:nvPr/>
          </p:nvCxnSpPr>
          <p:spPr>
            <a:xfrm>
              <a:off x="8631697" y="1885031"/>
              <a:ext cx="618613" cy="155293"/>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24E4EFAD-67F2-41C6-ACC8-40AD76E19052}"/>
                </a:ext>
              </a:extLst>
            </p:cNvPr>
            <p:cNvSpPr txBox="1"/>
            <p:nvPr/>
          </p:nvSpPr>
          <p:spPr>
            <a:xfrm>
              <a:off x="9305516" y="1822363"/>
              <a:ext cx="1041714" cy="255391"/>
            </a:xfrm>
            <a:prstGeom prst="rect">
              <a:avLst/>
            </a:prstGeom>
            <a:noFill/>
            <a:ln w="9525">
              <a:noFill/>
            </a:ln>
          </p:spPr>
          <p:txBody>
            <a:bodyPr wrap="square" rtlCol="0">
              <a:spAutoFit/>
            </a:bodyPr>
            <a:lstStyle/>
            <a:p>
              <a:r>
                <a:rPr lang="ko-KR" altLang="en-US" sz="1050" dirty="0">
                  <a:solidFill>
                    <a:srgbClr val="FF0000"/>
                  </a:solidFill>
                </a:rPr>
                <a:t>버림</a:t>
              </a:r>
              <a:r>
                <a:rPr lang="en-US" altLang="ko-KR" sz="1050" dirty="0">
                  <a:solidFill>
                    <a:srgbClr val="FF0000"/>
                  </a:solidFill>
                </a:rPr>
                <a:t>(Eviction)</a:t>
              </a:r>
              <a:endParaRPr lang="ko-KR" altLang="en-US" sz="1050" dirty="0">
                <a:solidFill>
                  <a:srgbClr val="FF0000"/>
                </a:solidFill>
              </a:endParaRPr>
            </a:p>
          </p:txBody>
        </p:sp>
        <p:cxnSp>
          <p:nvCxnSpPr>
            <p:cNvPr id="78" name="꺾인 연결선 192">
              <a:extLst>
                <a:ext uri="{FF2B5EF4-FFF2-40B4-BE49-F238E27FC236}">
                  <a16:creationId xmlns:a16="http://schemas.microsoft.com/office/drawing/2014/main" id="{7ADE1CED-BB2A-40DA-AD8C-ABC9447B4EB5}"/>
                </a:ext>
              </a:extLst>
            </p:cNvPr>
            <p:cNvCxnSpPr>
              <a:stCxn id="2050" idx="2"/>
              <a:endCxn id="102" idx="4"/>
            </p:cNvCxnSpPr>
            <p:nvPr/>
          </p:nvCxnSpPr>
          <p:spPr>
            <a:xfrm rot="5400000">
              <a:off x="8686651" y="2119185"/>
              <a:ext cx="261851" cy="865466"/>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FD796661-0D4E-4B26-9C34-90DCD5C12137}"/>
                </a:ext>
              </a:extLst>
            </p:cNvPr>
            <p:cNvSpPr txBox="1"/>
            <p:nvPr/>
          </p:nvSpPr>
          <p:spPr>
            <a:xfrm>
              <a:off x="7239025" y="1744761"/>
              <a:ext cx="870751" cy="261610"/>
            </a:xfrm>
            <a:prstGeom prst="rect">
              <a:avLst/>
            </a:prstGeom>
            <a:noFill/>
            <a:ln w="9525">
              <a:noFill/>
            </a:ln>
          </p:spPr>
          <p:txBody>
            <a:bodyPr wrap="none" rtlCol="0">
              <a:spAutoFit/>
            </a:bodyPr>
            <a:lstStyle/>
            <a:p>
              <a:r>
                <a:rPr lang="en-US" altLang="ko-KR" sz="1050" dirty="0">
                  <a:solidFill>
                    <a:srgbClr val="FF0000"/>
                  </a:solidFill>
                </a:rPr>
                <a:t>HBM </a:t>
              </a:r>
              <a:r>
                <a:rPr lang="ko-KR" altLang="en-US" sz="1050" dirty="0">
                  <a:solidFill>
                    <a:srgbClr val="FF0000"/>
                  </a:solidFill>
                </a:rPr>
                <a:t>초과</a:t>
              </a:r>
              <a:r>
                <a:rPr lang="en-US" altLang="ko-KR" sz="1050" dirty="0">
                  <a:solidFill>
                    <a:srgbClr val="FF0000"/>
                  </a:solidFill>
                </a:rPr>
                <a:t>!</a:t>
              </a:r>
              <a:endParaRPr lang="ko-KR" altLang="en-US" sz="1050" dirty="0">
                <a:solidFill>
                  <a:srgbClr val="FF0000"/>
                </a:solidFill>
              </a:endParaRPr>
            </a:p>
          </p:txBody>
        </p:sp>
        <p:cxnSp>
          <p:nvCxnSpPr>
            <p:cNvPr id="80" name="직선 화살표 연결선 79">
              <a:extLst>
                <a:ext uri="{FF2B5EF4-FFF2-40B4-BE49-F238E27FC236}">
                  <a16:creationId xmlns:a16="http://schemas.microsoft.com/office/drawing/2014/main" id="{CA1F8DB9-E832-4DA7-940A-65844652822B}"/>
                </a:ext>
              </a:extLst>
            </p:cNvPr>
            <p:cNvCxnSpPr>
              <a:cxnSpLocks/>
              <a:stCxn id="72" idx="3"/>
              <a:endCxn id="52" idx="1"/>
            </p:cNvCxnSpPr>
            <p:nvPr/>
          </p:nvCxnSpPr>
          <p:spPr>
            <a:xfrm flipV="1">
              <a:off x="8007571" y="2964016"/>
              <a:ext cx="445257" cy="3963"/>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직사각형 82">
              <a:extLst>
                <a:ext uri="{FF2B5EF4-FFF2-40B4-BE49-F238E27FC236}">
                  <a16:creationId xmlns:a16="http://schemas.microsoft.com/office/drawing/2014/main" id="{7EA78B81-4641-4C46-BE14-08DC0172FB86}"/>
                </a:ext>
              </a:extLst>
            </p:cNvPr>
            <p:cNvSpPr/>
            <p:nvPr/>
          </p:nvSpPr>
          <p:spPr>
            <a:xfrm>
              <a:off x="10470992" y="3319561"/>
              <a:ext cx="952854" cy="205526"/>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dirty="0"/>
                <a:t>기존 메모리</a:t>
              </a:r>
            </a:p>
          </p:txBody>
        </p:sp>
        <p:grpSp>
          <p:nvGrpSpPr>
            <p:cNvPr id="98" name="그룹 97">
              <a:extLst>
                <a:ext uri="{FF2B5EF4-FFF2-40B4-BE49-F238E27FC236}">
                  <a16:creationId xmlns:a16="http://schemas.microsoft.com/office/drawing/2014/main" id="{AE2F854E-8D61-4A48-874C-83EBA0A2E01E}"/>
                </a:ext>
              </a:extLst>
            </p:cNvPr>
            <p:cNvGrpSpPr/>
            <p:nvPr/>
          </p:nvGrpSpPr>
          <p:grpSpPr>
            <a:xfrm>
              <a:off x="6828071" y="2589453"/>
              <a:ext cx="767863" cy="280799"/>
              <a:chOff x="6828071" y="2814271"/>
              <a:chExt cx="767863" cy="280799"/>
            </a:xfrm>
          </p:grpSpPr>
          <p:sp>
            <p:nvSpPr>
              <p:cNvPr id="85" name="타원 84">
                <a:extLst>
                  <a:ext uri="{FF2B5EF4-FFF2-40B4-BE49-F238E27FC236}">
                    <a16:creationId xmlns:a16="http://schemas.microsoft.com/office/drawing/2014/main" id="{0F776354-06A9-4A15-A11A-589919D6F46D}"/>
                  </a:ext>
                </a:extLst>
              </p:cNvPr>
              <p:cNvSpPr/>
              <p:nvPr/>
            </p:nvSpPr>
            <p:spPr>
              <a:xfrm>
                <a:off x="6828071" y="2814271"/>
                <a:ext cx="767863" cy="280799"/>
              </a:xfrm>
              <a:prstGeom prst="ellipse">
                <a:avLst/>
              </a:prstGeom>
              <a:ln w="9525"/>
            </p:spPr>
            <p:style>
              <a:lnRef idx="1">
                <a:schemeClr val="accent4"/>
              </a:lnRef>
              <a:fillRef idx="2">
                <a:schemeClr val="accent4"/>
              </a:fillRef>
              <a:effectRef idx="1">
                <a:schemeClr val="accent4"/>
              </a:effectRef>
              <a:fontRef idx="minor">
                <a:schemeClr val="dk1"/>
              </a:fontRef>
            </p:style>
            <p:txBody>
              <a:bodyPr rtlCol="0" anchor="ctr"/>
              <a:lstStyle/>
              <a:p>
                <a:pPr algn="ctr"/>
                <a:endParaRPr lang="ko-KR" altLang="en-US" sz="1400" dirty="0"/>
              </a:p>
            </p:txBody>
          </p:sp>
          <p:sp>
            <p:nvSpPr>
              <p:cNvPr id="96" name="TextBox 95">
                <a:extLst>
                  <a:ext uri="{FF2B5EF4-FFF2-40B4-BE49-F238E27FC236}">
                    <a16:creationId xmlns:a16="http://schemas.microsoft.com/office/drawing/2014/main" id="{BA3F02D0-41F5-45CC-8BAE-949595FA2D41}"/>
                  </a:ext>
                </a:extLst>
              </p:cNvPr>
              <p:cNvSpPr txBox="1"/>
              <p:nvPr/>
            </p:nvSpPr>
            <p:spPr>
              <a:xfrm>
                <a:off x="6875822" y="2874065"/>
                <a:ext cx="672364" cy="161583"/>
              </a:xfrm>
              <a:prstGeom prst="rect">
                <a:avLst/>
              </a:prstGeom>
              <a:noFill/>
              <a:ln w="9525">
                <a:noFill/>
              </a:ln>
            </p:spPr>
            <p:txBody>
              <a:bodyPr wrap="square" lIns="0" tIns="0" rIns="0" bIns="0" anchor="t">
                <a:spAutoFit/>
              </a:bodyPr>
              <a:lstStyle/>
              <a:p>
                <a:pPr algn="ctr"/>
                <a:r>
                  <a:rPr lang="en-US" sz="1050" i="0" dirty="0">
                    <a:latin typeface="맑은 고딕"/>
                    <a:ea typeface="맑은 고딕"/>
                  </a:rPr>
                  <a:t>LLM </a:t>
                </a:r>
                <a:r>
                  <a:rPr lang="ko-KR" altLang="en-US" sz="1050" i="0" dirty="0">
                    <a:latin typeface="맑은 고딕"/>
                    <a:ea typeface="맑은 고딕"/>
                  </a:rPr>
                  <a:t>연산</a:t>
                </a:r>
                <a:endParaRPr sz="1050" i="0" dirty="0">
                  <a:latin typeface="맑은 고딕"/>
                  <a:ea typeface="맑은 고딕"/>
                </a:endParaRPr>
              </a:p>
            </p:txBody>
          </p:sp>
        </p:grpSp>
        <p:sp>
          <p:nvSpPr>
            <p:cNvPr id="105" name="TextBox 104">
              <a:extLst>
                <a:ext uri="{FF2B5EF4-FFF2-40B4-BE49-F238E27FC236}">
                  <a16:creationId xmlns:a16="http://schemas.microsoft.com/office/drawing/2014/main" id="{2566557A-48CB-433C-8652-34BA1A5386B1}"/>
                </a:ext>
              </a:extLst>
            </p:cNvPr>
            <p:cNvSpPr txBox="1"/>
            <p:nvPr/>
          </p:nvSpPr>
          <p:spPr>
            <a:xfrm>
              <a:off x="7484768" y="3018037"/>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106" name="TextBox 105">
              <a:extLst>
                <a:ext uri="{FF2B5EF4-FFF2-40B4-BE49-F238E27FC236}">
                  <a16:creationId xmlns:a16="http://schemas.microsoft.com/office/drawing/2014/main" id="{12A7282B-FBA6-4075-BBFB-39F23061A41E}"/>
                </a:ext>
              </a:extLst>
            </p:cNvPr>
            <p:cNvSpPr txBox="1"/>
            <p:nvPr/>
          </p:nvSpPr>
          <p:spPr>
            <a:xfrm>
              <a:off x="7484768" y="3160140"/>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102" name="순서도: 자기 디스크 101">
              <a:extLst>
                <a:ext uri="{FF2B5EF4-FFF2-40B4-BE49-F238E27FC236}">
                  <a16:creationId xmlns:a16="http://schemas.microsoft.com/office/drawing/2014/main" id="{38E7ADE2-A791-407A-A1AF-4C170A138FBE}"/>
                </a:ext>
              </a:extLst>
            </p:cNvPr>
            <p:cNvSpPr/>
            <p:nvPr/>
          </p:nvSpPr>
          <p:spPr>
            <a:xfrm>
              <a:off x="7785818" y="2594411"/>
              <a:ext cx="599025" cy="176862"/>
            </a:xfrm>
            <a:prstGeom prst="flowChartMagneticDisk">
              <a:avLst/>
            </a:prstGeom>
            <a:ln w="9525">
              <a:solidFill>
                <a:srgbClr val="FF0000"/>
              </a:solidFill>
              <a:prstDash val="dash"/>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grpSp>
      <p:sp>
        <p:nvSpPr>
          <p:cNvPr id="107" name="모서리가 둥근 직사각형 4">
            <a:extLst>
              <a:ext uri="{FF2B5EF4-FFF2-40B4-BE49-F238E27FC236}">
                <a16:creationId xmlns:a16="http://schemas.microsoft.com/office/drawing/2014/main" id="{70EDF604-1501-4C98-896B-6FC54FAFFCCB}"/>
              </a:ext>
            </a:extLst>
          </p:cNvPr>
          <p:cNvSpPr/>
          <p:nvPr/>
        </p:nvSpPr>
        <p:spPr>
          <a:xfrm>
            <a:off x="6688539" y="4040050"/>
            <a:ext cx="5105454" cy="243704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9" name="그룹 108">
            <a:extLst>
              <a:ext uri="{FF2B5EF4-FFF2-40B4-BE49-F238E27FC236}">
                <a16:creationId xmlns:a16="http://schemas.microsoft.com/office/drawing/2014/main" id="{D737E662-28FB-418C-A317-9AEA467464BD}"/>
              </a:ext>
            </a:extLst>
          </p:cNvPr>
          <p:cNvGrpSpPr/>
          <p:nvPr/>
        </p:nvGrpSpPr>
        <p:grpSpPr>
          <a:xfrm>
            <a:off x="6878537" y="4393271"/>
            <a:ext cx="4689889" cy="1909558"/>
            <a:chOff x="6527245" y="1328977"/>
            <a:chExt cx="4672800" cy="3611820"/>
          </a:xfrm>
        </p:grpSpPr>
        <p:sp>
          <p:nvSpPr>
            <p:cNvPr id="112" name="모서리가 둥근 직사각형 171">
              <a:extLst>
                <a:ext uri="{FF2B5EF4-FFF2-40B4-BE49-F238E27FC236}">
                  <a16:creationId xmlns:a16="http://schemas.microsoft.com/office/drawing/2014/main" id="{F07888B5-2705-43D5-854B-D04177C659EB}"/>
                </a:ext>
              </a:extLst>
            </p:cNvPr>
            <p:cNvSpPr/>
            <p:nvPr/>
          </p:nvSpPr>
          <p:spPr>
            <a:xfrm>
              <a:off x="6527245" y="1328977"/>
              <a:ext cx="4672800" cy="3611820"/>
            </a:xfrm>
            <a:prstGeom prst="roundRect">
              <a:avLst>
                <a:gd name="adj" fmla="val 8399"/>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algn="ctr"/>
              <a:endParaRPr lang="ko-KR" altLang="en-US" sz="1400" b="1" dirty="0">
                <a:solidFill>
                  <a:schemeClr val="tx1"/>
                </a:solidFill>
              </a:endParaRPr>
            </a:p>
          </p:txBody>
        </p:sp>
        <p:grpSp>
          <p:nvGrpSpPr>
            <p:cNvPr id="113" name="그룹 112">
              <a:extLst>
                <a:ext uri="{FF2B5EF4-FFF2-40B4-BE49-F238E27FC236}">
                  <a16:creationId xmlns:a16="http://schemas.microsoft.com/office/drawing/2014/main" id="{B8C54165-3579-4226-9211-58E6217C6E3D}"/>
                </a:ext>
              </a:extLst>
            </p:cNvPr>
            <p:cNvGrpSpPr/>
            <p:nvPr/>
          </p:nvGrpSpPr>
          <p:grpSpPr>
            <a:xfrm>
              <a:off x="6704421" y="1674793"/>
              <a:ext cx="4313335" cy="3036666"/>
              <a:chOff x="6555627" y="1466479"/>
              <a:chExt cx="5410772" cy="3634982"/>
            </a:xfrm>
          </p:grpSpPr>
          <p:sp>
            <p:nvSpPr>
              <p:cNvPr id="118" name="직사각형 117">
                <a:extLst>
                  <a:ext uri="{FF2B5EF4-FFF2-40B4-BE49-F238E27FC236}">
                    <a16:creationId xmlns:a16="http://schemas.microsoft.com/office/drawing/2014/main" id="{EEEA16A5-8ED8-450C-80D2-606356AAD238}"/>
                  </a:ext>
                </a:extLst>
              </p:cNvPr>
              <p:cNvSpPr/>
              <p:nvPr/>
            </p:nvSpPr>
            <p:spPr>
              <a:xfrm>
                <a:off x="8484908" y="3426754"/>
                <a:ext cx="1458119" cy="537077"/>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CPU</a:t>
                </a:r>
                <a:endParaRPr lang="ko-KR" altLang="en-US" sz="1400" dirty="0">
                  <a:solidFill>
                    <a:schemeClr val="bg1">
                      <a:lumMod val="50000"/>
                    </a:schemeClr>
                  </a:solidFill>
                </a:endParaRPr>
              </a:p>
            </p:txBody>
          </p:sp>
          <p:sp>
            <p:nvSpPr>
              <p:cNvPr id="119" name="직사각형 118">
                <a:extLst>
                  <a:ext uri="{FF2B5EF4-FFF2-40B4-BE49-F238E27FC236}">
                    <a16:creationId xmlns:a16="http://schemas.microsoft.com/office/drawing/2014/main" id="{8241C0BB-0599-405A-8B5C-985F0F3D7758}"/>
                  </a:ext>
                </a:extLst>
              </p:cNvPr>
              <p:cNvSpPr/>
              <p:nvPr/>
            </p:nvSpPr>
            <p:spPr>
              <a:xfrm>
                <a:off x="10372129" y="4049014"/>
                <a:ext cx="1458119" cy="537077"/>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DRAM</a:t>
                </a:r>
                <a:endParaRPr lang="ko-KR" altLang="en-US" sz="1400" dirty="0"/>
              </a:p>
            </p:txBody>
          </p:sp>
          <p:sp>
            <p:nvSpPr>
              <p:cNvPr id="121" name="직사각형 120">
                <a:extLst>
                  <a:ext uri="{FF2B5EF4-FFF2-40B4-BE49-F238E27FC236}">
                    <a16:creationId xmlns:a16="http://schemas.microsoft.com/office/drawing/2014/main" id="{4B2D9DF7-C1E0-4A76-B675-51BE68513751}"/>
                  </a:ext>
                </a:extLst>
              </p:cNvPr>
              <p:cNvSpPr/>
              <p:nvPr/>
            </p:nvSpPr>
            <p:spPr>
              <a:xfrm>
                <a:off x="6555627" y="2581290"/>
                <a:ext cx="1458119" cy="521464"/>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GPU</a:t>
                </a:r>
                <a:endParaRPr lang="ko-KR" altLang="en-US" sz="1400" dirty="0">
                  <a:solidFill>
                    <a:schemeClr val="bg1">
                      <a:lumMod val="50000"/>
                    </a:schemeClr>
                  </a:solidFill>
                </a:endParaRPr>
              </a:p>
            </p:txBody>
          </p:sp>
          <p:sp>
            <p:nvSpPr>
              <p:cNvPr id="122" name="직사각형 121">
                <a:extLst>
                  <a:ext uri="{FF2B5EF4-FFF2-40B4-BE49-F238E27FC236}">
                    <a16:creationId xmlns:a16="http://schemas.microsoft.com/office/drawing/2014/main" id="{806C1995-24C3-4E3F-AA3F-F693AECF04C4}"/>
                  </a:ext>
                </a:extLst>
              </p:cNvPr>
              <p:cNvSpPr/>
              <p:nvPr/>
            </p:nvSpPr>
            <p:spPr>
              <a:xfrm>
                <a:off x="6555627" y="1625518"/>
                <a:ext cx="1458119" cy="587932"/>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HBM</a:t>
                </a:r>
                <a:endParaRPr lang="ko-KR" altLang="en-US" sz="1400" dirty="0"/>
              </a:p>
            </p:txBody>
          </p:sp>
          <p:sp>
            <p:nvSpPr>
              <p:cNvPr id="123" name="직사각형 122">
                <a:extLst>
                  <a:ext uri="{FF2B5EF4-FFF2-40B4-BE49-F238E27FC236}">
                    <a16:creationId xmlns:a16="http://schemas.microsoft.com/office/drawing/2014/main" id="{A4D46675-458D-4917-985D-90E02B0D2E90}"/>
                  </a:ext>
                </a:extLst>
              </p:cNvPr>
              <p:cNvSpPr/>
              <p:nvPr/>
            </p:nvSpPr>
            <p:spPr>
              <a:xfrm>
                <a:off x="8484907" y="4481817"/>
                <a:ext cx="1458119" cy="6196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SSD</a:t>
                </a:r>
                <a:endParaRPr lang="ko-KR" altLang="en-US" sz="1400" dirty="0"/>
              </a:p>
            </p:txBody>
          </p:sp>
          <p:cxnSp>
            <p:nvCxnSpPr>
              <p:cNvPr id="124" name="직선 연결선 123">
                <a:extLst>
                  <a:ext uri="{FF2B5EF4-FFF2-40B4-BE49-F238E27FC236}">
                    <a16:creationId xmlns:a16="http://schemas.microsoft.com/office/drawing/2014/main" id="{04ACA248-6940-41E0-8FFB-836AE8822380}"/>
                  </a:ext>
                </a:extLst>
              </p:cNvPr>
              <p:cNvCxnSpPr>
                <a:cxnSpLocks/>
                <a:stCxn id="121" idx="2"/>
                <a:endCxn id="118" idx="0"/>
              </p:cNvCxnSpPr>
              <p:nvPr/>
            </p:nvCxnSpPr>
            <p:spPr>
              <a:xfrm>
                <a:off x="7284687" y="3102754"/>
                <a:ext cx="1929281" cy="32400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6" name="직선 연결선 125">
                <a:extLst>
                  <a:ext uri="{FF2B5EF4-FFF2-40B4-BE49-F238E27FC236}">
                    <a16:creationId xmlns:a16="http://schemas.microsoft.com/office/drawing/2014/main" id="{EE1084B8-5B54-406D-BAE1-4AA62178A814}"/>
                  </a:ext>
                </a:extLst>
              </p:cNvPr>
              <p:cNvCxnSpPr>
                <a:cxnSpLocks/>
                <a:stCxn id="119" idx="1"/>
                <a:endCxn id="118" idx="3"/>
              </p:cNvCxnSpPr>
              <p:nvPr/>
            </p:nvCxnSpPr>
            <p:spPr>
              <a:xfrm rot="10800000">
                <a:off x="9943027" y="3695294"/>
                <a:ext cx="429101" cy="622260"/>
              </a:xfrm>
              <a:prstGeom prst="bentConnector3">
                <a:avLst>
                  <a:gd name="adj1" fmla="val 50000"/>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7" name="직선 연결선 126">
                <a:extLst>
                  <a:ext uri="{FF2B5EF4-FFF2-40B4-BE49-F238E27FC236}">
                    <a16:creationId xmlns:a16="http://schemas.microsoft.com/office/drawing/2014/main" id="{3F1EBD50-2E7A-432B-963E-2D5CA65372A0}"/>
                  </a:ext>
                </a:extLst>
              </p:cNvPr>
              <p:cNvCxnSpPr>
                <a:cxnSpLocks/>
                <a:stCxn id="123" idx="0"/>
                <a:endCxn id="118" idx="2"/>
              </p:cNvCxnSpPr>
              <p:nvPr/>
            </p:nvCxnSpPr>
            <p:spPr>
              <a:xfrm flipV="1">
                <a:off x="9213967" y="3963831"/>
                <a:ext cx="0" cy="517986"/>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73474FC0-C014-4109-ACF6-2DA3C2327C5A}"/>
                  </a:ext>
                </a:extLst>
              </p:cNvPr>
              <p:cNvCxnSpPr>
                <a:cxnSpLocks/>
                <a:stCxn id="122" idx="2"/>
                <a:endCxn id="121" idx="0"/>
              </p:cNvCxnSpPr>
              <p:nvPr/>
            </p:nvCxnSpPr>
            <p:spPr>
              <a:xfrm>
                <a:off x="7284687" y="2213450"/>
                <a:ext cx="0" cy="36784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1" name="직사각형 130">
                <a:extLst>
                  <a:ext uri="{FF2B5EF4-FFF2-40B4-BE49-F238E27FC236}">
                    <a16:creationId xmlns:a16="http://schemas.microsoft.com/office/drawing/2014/main" id="{1919D1D7-5895-411E-AAF3-CC9E1D4E711B}"/>
                  </a:ext>
                </a:extLst>
              </p:cNvPr>
              <p:cNvSpPr/>
              <p:nvPr/>
            </p:nvSpPr>
            <p:spPr>
              <a:xfrm>
                <a:off x="10346429" y="1842250"/>
                <a:ext cx="1619970" cy="837469"/>
              </a:xfrm>
              <a:prstGeom prst="rect">
                <a:avLst/>
              </a:prstGeom>
              <a:solidFill>
                <a:schemeClr val="accent2">
                  <a:lumMod val="20000"/>
                  <a:lumOff val="80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000" b="1" dirty="0"/>
                  <a:t>Remote-Memory</a:t>
                </a:r>
              </a:p>
              <a:p>
                <a:pPr algn="ctr"/>
                <a:r>
                  <a:rPr lang="en-US" altLang="ko-KR" sz="1000" b="1" dirty="0"/>
                  <a:t>(CXL)</a:t>
                </a:r>
                <a:endParaRPr lang="ko-KR" altLang="en-US" sz="1000" b="1" dirty="0"/>
              </a:p>
            </p:txBody>
          </p:sp>
          <p:cxnSp>
            <p:nvCxnSpPr>
              <p:cNvPr id="132" name="직선 연결선 131">
                <a:extLst>
                  <a:ext uri="{FF2B5EF4-FFF2-40B4-BE49-F238E27FC236}">
                    <a16:creationId xmlns:a16="http://schemas.microsoft.com/office/drawing/2014/main" id="{ACDF9D96-2AFB-4B5C-A9D6-965CDC4339B1}"/>
                  </a:ext>
                </a:extLst>
              </p:cNvPr>
              <p:cNvCxnSpPr>
                <a:cxnSpLocks/>
                <a:stCxn id="118" idx="3"/>
                <a:endCxn id="134" idx="2"/>
              </p:cNvCxnSpPr>
              <p:nvPr/>
            </p:nvCxnSpPr>
            <p:spPr>
              <a:xfrm flipV="1">
                <a:off x="9943027" y="3088475"/>
                <a:ext cx="1215312" cy="606819"/>
              </a:xfrm>
              <a:prstGeom prst="bentConnector2">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34" name="직사각형 133">
                <a:extLst>
                  <a:ext uri="{FF2B5EF4-FFF2-40B4-BE49-F238E27FC236}">
                    <a16:creationId xmlns:a16="http://schemas.microsoft.com/office/drawing/2014/main" id="{A2C9A650-9513-46CA-8A5F-A9612325D8B1}"/>
                  </a:ext>
                </a:extLst>
              </p:cNvPr>
              <p:cNvSpPr/>
              <p:nvPr/>
            </p:nvSpPr>
            <p:spPr>
              <a:xfrm>
                <a:off x="10350280" y="2669372"/>
                <a:ext cx="1616118" cy="419104"/>
              </a:xfrm>
              <a:prstGeom prst="rect">
                <a:avLst/>
              </a:prstGeom>
              <a:solidFill>
                <a:schemeClr val="accent4">
                  <a:lumMod val="20000"/>
                  <a:lumOff val="80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b="1" dirty="0" err="1"/>
                  <a:t>연산기</a:t>
                </a:r>
                <a:endParaRPr lang="ko-KR" altLang="en-US" sz="900" b="1" dirty="0"/>
              </a:p>
            </p:txBody>
          </p:sp>
          <p:sp>
            <p:nvSpPr>
              <p:cNvPr id="135" name="순서도: 자기 디스크 134">
                <a:extLst>
                  <a:ext uri="{FF2B5EF4-FFF2-40B4-BE49-F238E27FC236}">
                    <a16:creationId xmlns:a16="http://schemas.microsoft.com/office/drawing/2014/main" id="{F2F30F79-1D91-4E53-832F-1C376E3A0344}"/>
                  </a:ext>
                </a:extLst>
              </p:cNvPr>
              <p:cNvSpPr/>
              <p:nvPr/>
            </p:nvSpPr>
            <p:spPr>
              <a:xfrm>
                <a:off x="7767577" y="2123483"/>
                <a:ext cx="717333" cy="378373"/>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136" name="순서도: 자기 디스크 135">
                <a:extLst>
                  <a:ext uri="{FF2B5EF4-FFF2-40B4-BE49-F238E27FC236}">
                    <a16:creationId xmlns:a16="http://schemas.microsoft.com/office/drawing/2014/main" id="{7C559D35-DA13-4021-B230-EAEA93E19E92}"/>
                  </a:ext>
                </a:extLst>
              </p:cNvPr>
              <p:cNvSpPr/>
              <p:nvPr/>
            </p:nvSpPr>
            <p:spPr>
              <a:xfrm>
                <a:off x="7767578" y="1784924"/>
                <a:ext cx="717333" cy="378373"/>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137" name="순서도: 자기 디스크 136">
                <a:extLst>
                  <a:ext uri="{FF2B5EF4-FFF2-40B4-BE49-F238E27FC236}">
                    <a16:creationId xmlns:a16="http://schemas.microsoft.com/office/drawing/2014/main" id="{A846D55E-7256-4E28-B609-BE944420F8C3}"/>
                  </a:ext>
                </a:extLst>
              </p:cNvPr>
              <p:cNvSpPr/>
              <p:nvPr/>
            </p:nvSpPr>
            <p:spPr>
              <a:xfrm>
                <a:off x="9815588" y="1818633"/>
                <a:ext cx="717331" cy="378372"/>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138" name="TextBox 137">
                <a:extLst>
                  <a:ext uri="{FF2B5EF4-FFF2-40B4-BE49-F238E27FC236}">
                    <a16:creationId xmlns:a16="http://schemas.microsoft.com/office/drawing/2014/main" id="{22253695-7E64-44E4-A06F-44DD77301019}"/>
                  </a:ext>
                </a:extLst>
              </p:cNvPr>
              <p:cNvSpPr txBox="1"/>
              <p:nvPr/>
            </p:nvSpPr>
            <p:spPr>
              <a:xfrm rot="16200000">
                <a:off x="7949545" y="1514267"/>
                <a:ext cx="353391" cy="257816"/>
              </a:xfrm>
              <a:prstGeom prst="rect">
                <a:avLst/>
              </a:prstGeom>
              <a:noFill/>
              <a:ln w="9525">
                <a:noFill/>
              </a:ln>
            </p:spPr>
            <p:txBody>
              <a:bodyPr wrap="square" lIns="0" tIns="0" rIns="0" bIns="0" anchor="t">
                <a:spAutoFit/>
              </a:bodyPr>
              <a:lstStyle/>
              <a:p>
                <a:pPr algn="l"/>
                <a:r>
                  <a:rPr lang="en-US" sz="1200" b="1" i="0" dirty="0">
                    <a:latin typeface="맑은 고딕"/>
                    <a:ea typeface="맑은 고딕"/>
                  </a:rPr>
                  <a:t>…</a:t>
                </a:r>
                <a:endParaRPr sz="1200" b="1" i="0" dirty="0">
                  <a:latin typeface="맑은 고딕"/>
                  <a:ea typeface="맑은 고딕"/>
                </a:endParaRPr>
              </a:p>
            </p:txBody>
          </p:sp>
        </p:grpSp>
      </p:grpSp>
      <p:sp>
        <p:nvSpPr>
          <p:cNvPr id="147" name="직사각형 146">
            <a:extLst>
              <a:ext uri="{FF2B5EF4-FFF2-40B4-BE49-F238E27FC236}">
                <a16:creationId xmlns:a16="http://schemas.microsoft.com/office/drawing/2014/main" id="{3753DB65-56A8-43CB-81C8-6B27D2A7625B}"/>
              </a:ext>
            </a:extLst>
          </p:cNvPr>
          <p:cNvSpPr/>
          <p:nvPr/>
        </p:nvSpPr>
        <p:spPr>
          <a:xfrm>
            <a:off x="10607245" y="6033665"/>
            <a:ext cx="800542" cy="188327"/>
          </a:xfrm>
          <a:prstGeom prst="rect">
            <a:avLst/>
          </a:prstGeom>
          <a:solidFill>
            <a:schemeClr val="accent2">
              <a:lumMod val="20000"/>
              <a:lumOff val="80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dirty="0"/>
              <a:t>신규 메모리</a:t>
            </a:r>
          </a:p>
        </p:txBody>
      </p:sp>
      <p:sp>
        <p:nvSpPr>
          <p:cNvPr id="188" name="TextBox 187">
            <a:extLst>
              <a:ext uri="{FF2B5EF4-FFF2-40B4-BE49-F238E27FC236}">
                <a16:creationId xmlns:a16="http://schemas.microsoft.com/office/drawing/2014/main" id="{F3AE3B2A-367A-4057-9B02-DA108B3279FE}"/>
              </a:ext>
            </a:extLst>
          </p:cNvPr>
          <p:cNvSpPr txBox="1"/>
          <p:nvPr/>
        </p:nvSpPr>
        <p:spPr>
          <a:xfrm>
            <a:off x="8417396" y="4105407"/>
            <a:ext cx="1580903" cy="215444"/>
          </a:xfrm>
          <a:prstGeom prst="rect">
            <a:avLst/>
          </a:prstGeom>
          <a:noFill/>
          <a:ln w="9525">
            <a:noFill/>
          </a:ln>
        </p:spPr>
        <p:txBody>
          <a:bodyPr wrap="square" lIns="0" tIns="0" rIns="0" bIns="0" anchor="t">
            <a:spAutoFit/>
          </a:bodyPr>
          <a:lstStyle/>
          <a:p>
            <a:pPr algn="ctr"/>
            <a:r>
              <a:rPr lang="en-US" sz="1400" b="1" i="0" dirty="0">
                <a:solidFill>
                  <a:srgbClr val="0000FF"/>
                </a:solidFill>
                <a:latin typeface="맑은 고딕"/>
                <a:ea typeface="맑은 고딕"/>
              </a:rPr>
              <a:t>Target</a:t>
            </a:r>
            <a:r>
              <a:rPr sz="1400" b="1" i="0" dirty="0">
                <a:solidFill>
                  <a:srgbClr val="0000FF"/>
                </a:solidFill>
                <a:latin typeface="맑은 고딕"/>
                <a:ea typeface="맑은 고딕"/>
              </a:rPr>
              <a:t> </a:t>
            </a:r>
            <a:r>
              <a:rPr sz="1400" b="1" i="0" dirty="0" err="1">
                <a:solidFill>
                  <a:srgbClr val="0000FF"/>
                </a:solidFill>
                <a:latin typeface="맑은 고딕"/>
                <a:ea typeface="맑은 고딕"/>
              </a:rPr>
              <a:t>시스템</a:t>
            </a:r>
            <a:endParaRPr sz="1400" b="1" i="0" dirty="0">
              <a:solidFill>
                <a:srgbClr val="0000FF"/>
              </a:solidFill>
              <a:latin typeface="맑은 고딕"/>
              <a:ea typeface="맑은 고딕"/>
            </a:endParaRPr>
          </a:p>
        </p:txBody>
      </p:sp>
      <p:pic>
        <p:nvPicPr>
          <p:cNvPr id="2050" name="Picture 2" descr="휴지통으로 보내기 - 무료 ui개 아이콘"/>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37699" y="2103808"/>
            <a:ext cx="378468" cy="378468"/>
          </a:xfrm>
          <a:prstGeom prst="rect">
            <a:avLst/>
          </a:prstGeom>
          <a:noFill/>
          <a:extLst>
            <a:ext uri="{909E8E84-426E-40DD-AFC4-6F175D3DCCD1}">
              <a14:hiddenFill xmlns:a14="http://schemas.microsoft.com/office/drawing/2010/main">
                <a:solidFill>
                  <a:srgbClr val="FFFFFF"/>
                </a:solidFill>
              </a14:hiddenFill>
            </a:ext>
          </a:extLst>
        </p:spPr>
      </p:pic>
      <p:sp>
        <p:nvSpPr>
          <p:cNvPr id="108" name="순서도: 자기 디스크 107">
            <a:extLst>
              <a:ext uri="{FF2B5EF4-FFF2-40B4-BE49-F238E27FC236}">
                <a16:creationId xmlns:a16="http://schemas.microsoft.com/office/drawing/2014/main" id="{38E7ADE2-A791-407A-A1AF-4C170A138FBE}"/>
              </a:ext>
            </a:extLst>
          </p:cNvPr>
          <p:cNvSpPr/>
          <p:nvPr/>
        </p:nvSpPr>
        <p:spPr>
          <a:xfrm>
            <a:off x="8032532" y="4410413"/>
            <a:ext cx="617754" cy="175840"/>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cxnSp>
        <p:nvCxnSpPr>
          <p:cNvPr id="133" name="꺾인 연결선 190">
            <a:extLst>
              <a:ext uri="{FF2B5EF4-FFF2-40B4-BE49-F238E27FC236}">
                <a16:creationId xmlns:a16="http://schemas.microsoft.com/office/drawing/2014/main" id="{A9475D4E-A4B7-4768-8481-89EBE0C931C6}"/>
              </a:ext>
            </a:extLst>
          </p:cNvPr>
          <p:cNvCxnSpPr>
            <a:stCxn id="108" idx="4"/>
            <a:endCxn id="137" idx="2"/>
          </p:cNvCxnSpPr>
          <p:nvPr/>
        </p:nvCxnSpPr>
        <p:spPr>
          <a:xfrm>
            <a:off x="8650286" y="4498333"/>
            <a:ext cx="1014340" cy="316866"/>
          </a:xfrm>
          <a:prstGeom prst="bentConnector3">
            <a:avLst>
              <a:gd name="adj1" fmla="val 50000"/>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0" name="TextBox 139">
            <a:extLst>
              <a:ext uri="{FF2B5EF4-FFF2-40B4-BE49-F238E27FC236}">
                <a16:creationId xmlns:a16="http://schemas.microsoft.com/office/drawing/2014/main" id="{FD796661-0D4E-4B26-9C34-90DCD5C12137}"/>
              </a:ext>
            </a:extLst>
          </p:cNvPr>
          <p:cNvSpPr txBox="1"/>
          <p:nvPr/>
        </p:nvSpPr>
        <p:spPr>
          <a:xfrm>
            <a:off x="7190687" y="4424198"/>
            <a:ext cx="897976" cy="260099"/>
          </a:xfrm>
          <a:prstGeom prst="rect">
            <a:avLst/>
          </a:prstGeom>
          <a:noFill/>
          <a:ln w="9525">
            <a:noFill/>
          </a:ln>
        </p:spPr>
        <p:txBody>
          <a:bodyPr wrap="none" rtlCol="0">
            <a:spAutoFit/>
          </a:bodyPr>
          <a:lstStyle/>
          <a:p>
            <a:r>
              <a:rPr lang="en-US" altLang="ko-KR" sz="1050" dirty="0">
                <a:solidFill>
                  <a:srgbClr val="FF0000"/>
                </a:solidFill>
              </a:rPr>
              <a:t>HBM </a:t>
            </a:r>
            <a:r>
              <a:rPr lang="ko-KR" altLang="en-US" sz="1050" dirty="0">
                <a:solidFill>
                  <a:srgbClr val="FF0000"/>
                </a:solidFill>
              </a:rPr>
              <a:t>초과</a:t>
            </a:r>
            <a:r>
              <a:rPr lang="en-US" altLang="ko-KR" sz="1050" dirty="0">
                <a:solidFill>
                  <a:srgbClr val="FF0000"/>
                </a:solidFill>
              </a:rPr>
              <a:t>!</a:t>
            </a:r>
            <a:endParaRPr lang="ko-KR" altLang="en-US" sz="1050" dirty="0">
              <a:solidFill>
                <a:srgbClr val="FF0000"/>
              </a:solidFill>
            </a:endParaRPr>
          </a:p>
        </p:txBody>
      </p:sp>
      <p:sp>
        <p:nvSpPr>
          <p:cNvPr id="148" name="TextBox 147">
            <a:extLst>
              <a:ext uri="{FF2B5EF4-FFF2-40B4-BE49-F238E27FC236}">
                <a16:creationId xmlns:a16="http://schemas.microsoft.com/office/drawing/2014/main" id="{24E4EFAD-67F2-41C6-ACC8-40AD76E19052}"/>
              </a:ext>
            </a:extLst>
          </p:cNvPr>
          <p:cNvSpPr txBox="1"/>
          <p:nvPr/>
        </p:nvSpPr>
        <p:spPr>
          <a:xfrm>
            <a:off x="9186785" y="4435742"/>
            <a:ext cx="1074284" cy="253916"/>
          </a:xfrm>
          <a:prstGeom prst="rect">
            <a:avLst/>
          </a:prstGeom>
          <a:noFill/>
          <a:ln w="9525">
            <a:noFill/>
          </a:ln>
        </p:spPr>
        <p:txBody>
          <a:bodyPr wrap="square" rtlCol="0">
            <a:spAutoFit/>
          </a:bodyPr>
          <a:lstStyle/>
          <a:p>
            <a:r>
              <a:rPr lang="ko-KR" altLang="en-US" sz="1050" dirty="0">
                <a:solidFill>
                  <a:srgbClr val="FF0000"/>
                </a:solidFill>
              </a:rPr>
              <a:t>내림</a:t>
            </a:r>
            <a:r>
              <a:rPr lang="en-US" altLang="ko-KR" sz="1050" dirty="0">
                <a:solidFill>
                  <a:srgbClr val="FF0000"/>
                </a:solidFill>
              </a:rPr>
              <a:t>(Offload)</a:t>
            </a:r>
            <a:endParaRPr lang="ko-KR" altLang="en-US" sz="1050" dirty="0">
              <a:solidFill>
                <a:srgbClr val="FF0000"/>
              </a:solidFill>
            </a:endParaRPr>
          </a:p>
        </p:txBody>
      </p:sp>
      <p:grpSp>
        <p:nvGrpSpPr>
          <p:cNvPr id="160" name="그룹 159">
            <a:extLst>
              <a:ext uri="{FF2B5EF4-FFF2-40B4-BE49-F238E27FC236}">
                <a16:creationId xmlns:a16="http://schemas.microsoft.com/office/drawing/2014/main" id="{0E05A654-2585-402E-ADBC-A8F361B96B44}"/>
              </a:ext>
            </a:extLst>
          </p:cNvPr>
          <p:cNvGrpSpPr/>
          <p:nvPr/>
        </p:nvGrpSpPr>
        <p:grpSpPr>
          <a:xfrm>
            <a:off x="9630919" y="5171845"/>
            <a:ext cx="799187" cy="253916"/>
            <a:chOff x="7528998" y="5693173"/>
            <a:chExt cx="1397936" cy="555996"/>
          </a:xfrm>
        </p:grpSpPr>
        <p:sp>
          <p:nvSpPr>
            <p:cNvPr id="150" name="타원 149">
              <a:extLst>
                <a:ext uri="{FF2B5EF4-FFF2-40B4-BE49-F238E27FC236}">
                  <a16:creationId xmlns:a16="http://schemas.microsoft.com/office/drawing/2014/main" id="{C4B2C42B-9308-4695-B60A-6055E300875A}"/>
                </a:ext>
              </a:extLst>
            </p:cNvPr>
            <p:cNvSpPr/>
            <p:nvPr/>
          </p:nvSpPr>
          <p:spPr>
            <a:xfrm>
              <a:off x="7687331" y="5742708"/>
              <a:ext cx="1081275" cy="412160"/>
            </a:xfrm>
            <a:prstGeom prst="ellipse">
              <a:avLst/>
            </a:prstGeom>
            <a:solidFill>
              <a:schemeClr val="accent6">
                <a:lumMod val="60000"/>
                <a:lumOff val="40000"/>
              </a:schemeClr>
            </a:solidFill>
            <a:ln w="9525">
              <a:solidFill>
                <a:schemeClr val="accent6"/>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ko-KR" altLang="en-US" sz="1400" dirty="0"/>
            </a:p>
          </p:txBody>
        </p:sp>
        <p:sp>
          <p:nvSpPr>
            <p:cNvPr id="158" name="TextBox 157">
              <a:extLst>
                <a:ext uri="{FF2B5EF4-FFF2-40B4-BE49-F238E27FC236}">
                  <a16:creationId xmlns:a16="http://schemas.microsoft.com/office/drawing/2014/main" id="{8C265C57-9A68-4772-9C20-5706D883BE9B}"/>
                </a:ext>
              </a:extLst>
            </p:cNvPr>
            <p:cNvSpPr txBox="1"/>
            <p:nvPr/>
          </p:nvSpPr>
          <p:spPr>
            <a:xfrm>
              <a:off x="7528998" y="5693173"/>
              <a:ext cx="1397936" cy="555996"/>
            </a:xfrm>
            <a:prstGeom prst="rect">
              <a:avLst/>
            </a:prstGeom>
            <a:noFill/>
            <a:ln w="9525">
              <a:noFill/>
            </a:ln>
          </p:spPr>
          <p:txBody>
            <a:bodyPr wrap="square" rtlCol="0">
              <a:spAutoFit/>
            </a:bodyPr>
            <a:lstStyle/>
            <a:p>
              <a:pPr algn="ctr"/>
              <a:r>
                <a:rPr lang="ko-KR" altLang="en-US" sz="1050" dirty="0"/>
                <a:t>연산</a:t>
              </a:r>
            </a:p>
          </p:txBody>
        </p:sp>
      </p:grpSp>
      <p:cxnSp>
        <p:nvCxnSpPr>
          <p:cNvPr id="149" name="꺾인 연결선 192">
            <a:extLst>
              <a:ext uri="{FF2B5EF4-FFF2-40B4-BE49-F238E27FC236}">
                <a16:creationId xmlns:a16="http://schemas.microsoft.com/office/drawing/2014/main" id="{7ADE1CED-BB2A-40DA-AD8C-ABC9447B4EB5}"/>
              </a:ext>
            </a:extLst>
          </p:cNvPr>
          <p:cNvCxnSpPr>
            <a:stCxn id="137" idx="3"/>
            <a:endCxn id="158" idx="0"/>
          </p:cNvCxnSpPr>
          <p:nvPr/>
        </p:nvCxnSpPr>
        <p:spPr>
          <a:xfrm rot="16200000" flipH="1">
            <a:off x="9854508" y="4995840"/>
            <a:ext cx="273088" cy="78922"/>
          </a:xfrm>
          <a:prstGeom prst="bentConnector3">
            <a:avLst>
              <a:gd name="adj1" fmla="val 50000"/>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p:txBody>
          <a:bodyPr/>
          <a:lstStyle/>
          <a:p>
            <a:r>
              <a:rPr lang="ko-KR" altLang="en-US" dirty="0"/>
              <a:t>문제 정의 </a:t>
            </a:r>
            <a:r>
              <a:rPr lang="en-US" altLang="ko-KR" dirty="0"/>
              <a:t>(Problem Definition)</a:t>
            </a:r>
            <a:endParaRPr lang="ko-KR" altLang="en-US" dirty="0"/>
          </a:p>
        </p:txBody>
      </p:sp>
    </p:spTree>
    <p:extLst>
      <p:ext uri="{BB962C8B-B14F-4D97-AF65-F5344CB8AC3E}">
        <p14:creationId xmlns:p14="http://schemas.microsoft.com/office/powerpoint/2010/main" val="3328827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02B03521-E0C7-493A-819F-DD13CF462C9F}"/>
              </a:ext>
            </a:extLst>
          </p:cNvPr>
          <p:cNvPicPr>
            <a:picLocks noChangeAspect="1"/>
          </p:cNvPicPr>
          <p:nvPr/>
        </p:nvPicPr>
        <p:blipFill rotWithShape="1">
          <a:blip r:embed="rId3"/>
          <a:srcRect l="9831" t="8467" r="11222" b="23484"/>
          <a:stretch/>
        </p:blipFill>
        <p:spPr>
          <a:xfrm>
            <a:off x="183545" y="1095192"/>
            <a:ext cx="5769486" cy="5133517"/>
          </a:xfrm>
          <a:prstGeom prst="rect">
            <a:avLst/>
          </a:prstGeom>
        </p:spPr>
      </p:pic>
      <p:sp>
        <p:nvSpPr>
          <p:cNvPr id="88" name="TextBox 87">
            <a:extLst>
              <a:ext uri="{FF2B5EF4-FFF2-40B4-BE49-F238E27FC236}">
                <a16:creationId xmlns:a16="http://schemas.microsoft.com/office/drawing/2014/main" id="{D27EF54B-7724-4A08-87B2-44720271893E}"/>
              </a:ext>
            </a:extLst>
          </p:cNvPr>
          <p:cNvSpPr txBox="1"/>
          <p:nvPr/>
        </p:nvSpPr>
        <p:spPr>
          <a:xfrm>
            <a:off x="2346145" y="737379"/>
            <a:ext cx="1580903" cy="246221"/>
          </a:xfrm>
          <a:prstGeom prst="rect">
            <a:avLst/>
          </a:prstGeom>
          <a:noFill/>
        </p:spPr>
        <p:txBody>
          <a:bodyPr wrap="square" lIns="0" tIns="0" rIns="0" bIns="0" anchor="t">
            <a:spAutoFit/>
          </a:bodyPr>
          <a:lstStyle/>
          <a:p>
            <a:pPr algn="ctr"/>
            <a:r>
              <a:rPr lang="ko-KR" altLang="en-US" sz="1600" b="1" dirty="0">
                <a:latin typeface="맑은 고딕"/>
                <a:ea typeface="맑은 고딕"/>
              </a:rPr>
              <a:t>응용 관점</a:t>
            </a:r>
            <a:endParaRPr sz="1600" b="1" i="0" dirty="0">
              <a:latin typeface="맑은 고딕"/>
              <a:ea typeface="맑은 고딕"/>
            </a:endParaRPr>
          </a:p>
        </p:txBody>
      </p:sp>
      <p:sp>
        <p:nvSpPr>
          <p:cNvPr id="89" name="TextBox 88">
            <a:extLst>
              <a:ext uri="{FF2B5EF4-FFF2-40B4-BE49-F238E27FC236}">
                <a16:creationId xmlns:a16="http://schemas.microsoft.com/office/drawing/2014/main" id="{C444E80C-05AA-4933-A75E-230AC6802797}"/>
              </a:ext>
            </a:extLst>
          </p:cNvPr>
          <p:cNvSpPr txBox="1"/>
          <p:nvPr/>
        </p:nvSpPr>
        <p:spPr>
          <a:xfrm>
            <a:off x="8351498" y="795654"/>
            <a:ext cx="1580903" cy="246221"/>
          </a:xfrm>
          <a:prstGeom prst="rect">
            <a:avLst/>
          </a:prstGeom>
          <a:noFill/>
        </p:spPr>
        <p:txBody>
          <a:bodyPr wrap="square" lIns="0" tIns="0" rIns="0" bIns="0" anchor="t">
            <a:spAutoFit/>
          </a:bodyPr>
          <a:lstStyle/>
          <a:p>
            <a:pPr algn="ctr"/>
            <a:r>
              <a:rPr lang="ko-KR" altLang="en-US" sz="1600" b="1" dirty="0">
                <a:latin typeface="맑은 고딕"/>
                <a:ea typeface="맑은 고딕"/>
              </a:rPr>
              <a:t>시스템 관점</a:t>
            </a:r>
            <a:endParaRPr sz="1600" b="1" i="0" dirty="0">
              <a:latin typeface="맑은 고딕"/>
              <a:ea typeface="맑은 고딕"/>
            </a:endParaRPr>
          </a:p>
        </p:txBody>
      </p:sp>
      <p:sp>
        <p:nvSpPr>
          <p:cNvPr id="49" name="모서리가 둥근 직사각형 3">
            <a:extLst>
              <a:ext uri="{FF2B5EF4-FFF2-40B4-BE49-F238E27FC236}">
                <a16:creationId xmlns:a16="http://schemas.microsoft.com/office/drawing/2014/main" id="{A2B547FC-54B2-410A-940D-9BE18BBA09E1}"/>
              </a:ext>
            </a:extLst>
          </p:cNvPr>
          <p:cNvSpPr/>
          <p:nvPr/>
        </p:nvSpPr>
        <p:spPr>
          <a:xfrm>
            <a:off x="6591685" y="1207976"/>
            <a:ext cx="5195814" cy="4900724"/>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9" name="그룹 188">
            <a:extLst>
              <a:ext uri="{FF2B5EF4-FFF2-40B4-BE49-F238E27FC236}">
                <a16:creationId xmlns:a16="http://schemas.microsoft.com/office/drawing/2014/main" id="{5BAAE414-3069-4D77-9488-1B60AB9A6902}"/>
              </a:ext>
            </a:extLst>
          </p:cNvPr>
          <p:cNvGrpSpPr/>
          <p:nvPr/>
        </p:nvGrpSpPr>
        <p:grpSpPr>
          <a:xfrm>
            <a:off x="6799569" y="1403351"/>
            <a:ext cx="4895760" cy="4265865"/>
            <a:chOff x="6799569" y="1324809"/>
            <a:chExt cx="4747332" cy="2265996"/>
          </a:xfrm>
        </p:grpSpPr>
        <p:sp>
          <p:nvSpPr>
            <p:cNvPr id="48" name="모서리가 둥근 직사각형 203">
              <a:extLst>
                <a:ext uri="{FF2B5EF4-FFF2-40B4-BE49-F238E27FC236}">
                  <a16:creationId xmlns:a16="http://schemas.microsoft.com/office/drawing/2014/main" id="{8818C517-9AE2-4CD8-88D3-3A3C6FAB2807}"/>
                </a:ext>
              </a:extLst>
            </p:cNvPr>
            <p:cNvSpPr/>
            <p:nvPr/>
          </p:nvSpPr>
          <p:spPr>
            <a:xfrm>
              <a:off x="6799569" y="1324809"/>
              <a:ext cx="4747332" cy="2265996"/>
            </a:xfrm>
            <a:prstGeom prst="roundRect">
              <a:avLst>
                <a:gd name="adj" fmla="val 8399"/>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algn="ctr"/>
              <a:endParaRPr lang="ko-KR" altLang="en-US" sz="1400" b="1" dirty="0">
                <a:solidFill>
                  <a:schemeClr val="tx1"/>
                </a:solidFill>
              </a:endParaRPr>
            </a:p>
          </p:txBody>
        </p:sp>
        <p:sp>
          <p:nvSpPr>
            <p:cNvPr id="52" name="직사각형 51">
              <a:extLst>
                <a:ext uri="{FF2B5EF4-FFF2-40B4-BE49-F238E27FC236}">
                  <a16:creationId xmlns:a16="http://schemas.microsoft.com/office/drawing/2014/main" id="{ABBD2CB5-64B7-49F8-9E54-A83D4EE66C31}"/>
                </a:ext>
              </a:extLst>
            </p:cNvPr>
            <p:cNvSpPr/>
            <p:nvPr/>
          </p:nvSpPr>
          <p:spPr>
            <a:xfrm>
              <a:off x="8452828" y="2838494"/>
              <a:ext cx="1217638" cy="251044"/>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CPU</a:t>
              </a:r>
              <a:endParaRPr lang="ko-KR" altLang="en-US" sz="1400" dirty="0">
                <a:solidFill>
                  <a:schemeClr val="bg1">
                    <a:lumMod val="50000"/>
                  </a:schemeClr>
                </a:solidFill>
              </a:endParaRPr>
            </a:p>
          </p:txBody>
        </p:sp>
        <p:sp>
          <p:nvSpPr>
            <p:cNvPr id="53" name="직사각형 52">
              <a:extLst>
                <a:ext uri="{FF2B5EF4-FFF2-40B4-BE49-F238E27FC236}">
                  <a16:creationId xmlns:a16="http://schemas.microsoft.com/office/drawing/2014/main" id="{07847AC2-3723-4524-BD4E-7B5AF0C306B4}"/>
                </a:ext>
              </a:extLst>
            </p:cNvPr>
            <p:cNvSpPr/>
            <p:nvPr/>
          </p:nvSpPr>
          <p:spPr>
            <a:xfrm>
              <a:off x="10028798" y="2838494"/>
              <a:ext cx="1217638" cy="2510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DRAM</a:t>
              </a:r>
              <a:endParaRPr lang="ko-KR" altLang="en-US" sz="1400" dirty="0"/>
            </a:p>
          </p:txBody>
        </p:sp>
        <p:sp>
          <p:nvSpPr>
            <p:cNvPr id="55" name="직사각형 54">
              <a:extLst>
                <a:ext uri="{FF2B5EF4-FFF2-40B4-BE49-F238E27FC236}">
                  <a16:creationId xmlns:a16="http://schemas.microsoft.com/office/drawing/2014/main" id="{683FF236-3F6C-46AA-9AA4-295054B8ABA3}"/>
                </a:ext>
              </a:extLst>
            </p:cNvPr>
            <p:cNvSpPr/>
            <p:nvPr/>
          </p:nvSpPr>
          <p:spPr>
            <a:xfrm>
              <a:off x="7052940" y="2443302"/>
              <a:ext cx="1217638" cy="243746"/>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solidFill>
                    <a:schemeClr val="bg1">
                      <a:lumMod val="50000"/>
                    </a:schemeClr>
                  </a:solidFill>
                </a:rPr>
                <a:t>GPU</a:t>
              </a:r>
              <a:endParaRPr lang="ko-KR" altLang="en-US" sz="1400" dirty="0">
                <a:solidFill>
                  <a:schemeClr val="bg1">
                    <a:lumMod val="50000"/>
                  </a:schemeClr>
                </a:solidFill>
              </a:endParaRPr>
            </a:p>
          </p:txBody>
        </p:sp>
        <p:sp>
          <p:nvSpPr>
            <p:cNvPr id="56" name="직사각형 55">
              <a:extLst>
                <a:ext uri="{FF2B5EF4-FFF2-40B4-BE49-F238E27FC236}">
                  <a16:creationId xmlns:a16="http://schemas.microsoft.com/office/drawing/2014/main" id="{F3444C6F-B8A8-42CF-99BE-DFAE35F03139}"/>
                </a:ext>
              </a:extLst>
            </p:cNvPr>
            <p:cNvSpPr/>
            <p:nvPr/>
          </p:nvSpPr>
          <p:spPr>
            <a:xfrm>
              <a:off x="7052940" y="1996548"/>
              <a:ext cx="1217638" cy="274815"/>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HBM</a:t>
              </a:r>
              <a:endParaRPr lang="ko-KR" altLang="en-US" sz="1400" dirty="0"/>
            </a:p>
          </p:txBody>
        </p:sp>
        <p:sp>
          <p:nvSpPr>
            <p:cNvPr id="57" name="직사각형 56">
              <a:extLst>
                <a:ext uri="{FF2B5EF4-FFF2-40B4-BE49-F238E27FC236}">
                  <a16:creationId xmlns:a16="http://schemas.microsoft.com/office/drawing/2014/main" id="{9C0EFC8A-5121-4F5A-AD9A-897FBAA8BF46}"/>
                </a:ext>
              </a:extLst>
            </p:cNvPr>
            <p:cNvSpPr/>
            <p:nvPr/>
          </p:nvSpPr>
          <p:spPr>
            <a:xfrm>
              <a:off x="8452828" y="3215238"/>
              <a:ext cx="1217638" cy="251044"/>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ko-KR" sz="1400" dirty="0"/>
                <a:t>SSD</a:t>
              </a:r>
              <a:endParaRPr lang="ko-KR" altLang="en-US" sz="1400" dirty="0"/>
            </a:p>
          </p:txBody>
        </p:sp>
        <p:cxnSp>
          <p:nvCxnSpPr>
            <p:cNvPr id="58" name="직선 연결선 57">
              <a:extLst>
                <a:ext uri="{FF2B5EF4-FFF2-40B4-BE49-F238E27FC236}">
                  <a16:creationId xmlns:a16="http://schemas.microsoft.com/office/drawing/2014/main" id="{E85A42BD-C6C4-4A77-9F92-1EB368FDF509}"/>
                </a:ext>
              </a:extLst>
            </p:cNvPr>
            <p:cNvCxnSpPr>
              <a:cxnSpLocks/>
              <a:stCxn id="55" idx="2"/>
              <a:endCxn id="52" idx="0"/>
            </p:cNvCxnSpPr>
            <p:nvPr/>
          </p:nvCxnSpPr>
          <p:spPr>
            <a:xfrm>
              <a:off x="7661760" y="2687048"/>
              <a:ext cx="1399888" cy="151446"/>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a:extLst>
                <a:ext uri="{FF2B5EF4-FFF2-40B4-BE49-F238E27FC236}">
                  <a16:creationId xmlns:a16="http://schemas.microsoft.com/office/drawing/2014/main" id="{715106E1-061D-4C38-B0F9-1F9CDC279A84}"/>
                </a:ext>
              </a:extLst>
            </p:cNvPr>
            <p:cNvCxnSpPr>
              <a:cxnSpLocks/>
              <a:stCxn id="53" idx="1"/>
              <a:endCxn id="52" idx="3"/>
            </p:cNvCxnSpPr>
            <p:nvPr/>
          </p:nvCxnSpPr>
          <p:spPr>
            <a:xfrm flipH="1">
              <a:off x="9670466" y="2964017"/>
              <a:ext cx="358332" cy="0"/>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a:extLst>
                <a:ext uri="{FF2B5EF4-FFF2-40B4-BE49-F238E27FC236}">
                  <a16:creationId xmlns:a16="http://schemas.microsoft.com/office/drawing/2014/main" id="{53AACF7E-D6DC-4356-8AC2-ECF5A65FD4B6}"/>
                </a:ext>
              </a:extLst>
            </p:cNvPr>
            <p:cNvCxnSpPr>
              <a:cxnSpLocks/>
              <a:stCxn id="57" idx="0"/>
              <a:endCxn id="52" idx="2"/>
            </p:cNvCxnSpPr>
            <p:nvPr/>
          </p:nvCxnSpPr>
          <p:spPr>
            <a:xfrm flipV="1">
              <a:off x="9061647" y="3089539"/>
              <a:ext cx="0" cy="125699"/>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03AB575E-2609-4FF5-9CF5-FA0B51625D04}"/>
                </a:ext>
              </a:extLst>
            </p:cNvPr>
            <p:cNvCxnSpPr>
              <a:cxnSpLocks/>
              <a:stCxn id="56" idx="2"/>
              <a:endCxn id="55" idx="0"/>
            </p:cNvCxnSpPr>
            <p:nvPr/>
          </p:nvCxnSpPr>
          <p:spPr>
            <a:xfrm>
              <a:off x="7661760" y="2271363"/>
              <a:ext cx="0" cy="171938"/>
            </a:xfrm>
            <a:prstGeom prst="line">
              <a:avLst/>
            </a:prstGeom>
            <a:ln w="952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65" name="순서도: 자기 디스크 64">
              <a:extLst>
                <a:ext uri="{FF2B5EF4-FFF2-40B4-BE49-F238E27FC236}">
                  <a16:creationId xmlns:a16="http://schemas.microsoft.com/office/drawing/2014/main" id="{064AC430-7BB8-4B2D-8221-28B577B51FF6}"/>
                </a:ext>
              </a:extLst>
            </p:cNvPr>
            <p:cNvSpPr/>
            <p:nvPr/>
          </p:nvSpPr>
          <p:spPr>
            <a:xfrm>
              <a:off x="8032671" y="2271363"/>
              <a:ext cx="599025" cy="176862"/>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6" name="순서도: 자기 디스크 65">
              <a:extLst>
                <a:ext uri="{FF2B5EF4-FFF2-40B4-BE49-F238E27FC236}">
                  <a16:creationId xmlns:a16="http://schemas.microsoft.com/office/drawing/2014/main" id="{382E24FE-EB61-4000-ABE1-9D240FC79B85}"/>
                </a:ext>
              </a:extLst>
            </p:cNvPr>
            <p:cNvSpPr/>
            <p:nvPr/>
          </p:nvSpPr>
          <p:spPr>
            <a:xfrm>
              <a:off x="8032671" y="2113111"/>
              <a:ext cx="599025" cy="176862"/>
            </a:xfrm>
            <a:prstGeom prst="flowChartMagneticDisk">
              <a:avLst/>
            </a:prstGeom>
            <a:ln w="9525"/>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7" name="순서도: 자기 디스크 66">
              <a:extLst>
                <a:ext uri="{FF2B5EF4-FFF2-40B4-BE49-F238E27FC236}">
                  <a16:creationId xmlns:a16="http://schemas.microsoft.com/office/drawing/2014/main" id="{38E7ADE2-A791-407A-A1AF-4C170A138FBE}"/>
                </a:ext>
              </a:extLst>
            </p:cNvPr>
            <p:cNvSpPr/>
            <p:nvPr/>
          </p:nvSpPr>
          <p:spPr>
            <a:xfrm>
              <a:off x="8032671" y="1704777"/>
              <a:ext cx="599025" cy="176862"/>
            </a:xfrm>
            <a:prstGeom prst="flowChartMagneticDisk">
              <a:avLst/>
            </a:prstGeom>
            <a:ln w="9525">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sp>
          <p:nvSpPr>
            <p:cNvPr id="68" name="TextBox 67">
              <a:extLst>
                <a:ext uri="{FF2B5EF4-FFF2-40B4-BE49-F238E27FC236}">
                  <a16:creationId xmlns:a16="http://schemas.microsoft.com/office/drawing/2014/main" id="{93FB15D5-6527-4DF6-9FDA-07AF73F9A0D7}"/>
                </a:ext>
              </a:extLst>
            </p:cNvPr>
            <p:cNvSpPr txBox="1"/>
            <p:nvPr/>
          </p:nvSpPr>
          <p:spPr>
            <a:xfrm rot="16200000">
              <a:off x="8249592" y="1867049"/>
              <a:ext cx="165185" cy="192496"/>
            </a:xfrm>
            <a:prstGeom prst="rect">
              <a:avLst/>
            </a:prstGeom>
            <a:noFill/>
            <a:ln w="9525">
              <a:noFill/>
            </a:ln>
          </p:spPr>
          <p:txBody>
            <a:bodyPr wrap="square" lIns="0" tIns="0" rIns="0" bIns="0" anchor="t">
              <a:spAutoFit/>
            </a:bodyPr>
            <a:lstStyle/>
            <a:p>
              <a:pPr algn="l"/>
              <a:r>
                <a:rPr lang="en-US" sz="1200" b="1" i="0" dirty="0">
                  <a:latin typeface="맑은 고딕"/>
                  <a:ea typeface="맑은 고딕"/>
                </a:rPr>
                <a:t>…</a:t>
              </a:r>
              <a:endParaRPr sz="1200" b="1" i="0" dirty="0">
                <a:latin typeface="맑은 고딕"/>
                <a:ea typeface="맑은 고딕"/>
              </a:endParaRPr>
            </a:p>
          </p:txBody>
        </p:sp>
        <p:sp>
          <p:nvSpPr>
            <p:cNvPr id="72" name="TextBox 71">
              <a:extLst>
                <a:ext uri="{FF2B5EF4-FFF2-40B4-BE49-F238E27FC236}">
                  <a16:creationId xmlns:a16="http://schemas.microsoft.com/office/drawing/2014/main" id="{982B91E0-C0A6-4A51-990F-CD75D078CD26}"/>
                </a:ext>
              </a:extLst>
            </p:cNvPr>
            <p:cNvSpPr txBox="1"/>
            <p:nvPr/>
          </p:nvSpPr>
          <p:spPr>
            <a:xfrm>
              <a:off x="7484768" y="2875646"/>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73" name="TextBox 72">
              <a:extLst>
                <a:ext uri="{FF2B5EF4-FFF2-40B4-BE49-F238E27FC236}">
                  <a16:creationId xmlns:a16="http://schemas.microsoft.com/office/drawing/2014/main" id="{E2BB39FA-2603-4437-B4FF-B5439EC5C1DF}"/>
                </a:ext>
              </a:extLst>
            </p:cNvPr>
            <p:cNvSpPr txBox="1"/>
            <p:nvPr/>
          </p:nvSpPr>
          <p:spPr>
            <a:xfrm rot="16200000">
              <a:off x="7533443" y="3173898"/>
              <a:ext cx="258321" cy="224579"/>
            </a:xfrm>
            <a:prstGeom prst="rect">
              <a:avLst/>
            </a:prstGeom>
            <a:noFill/>
            <a:ln w="9525">
              <a:noFill/>
            </a:ln>
          </p:spPr>
          <p:txBody>
            <a:bodyPr wrap="square" lIns="0" tIns="0" rIns="0" bIns="0" anchor="t">
              <a:spAutoFit/>
            </a:bodyPr>
            <a:lstStyle/>
            <a:p>
              <a:pPr algn="l"/>
              <a:r>
                <a:rPr lang="en-US" sz="1400" b="1" i="0" dirty="0">
                  <a:latin typeface="맑은 고딕"/>
                  <a:ea typeface="맑은 고딕"/>
                </a:rPr>
                <a:t>…</a:t>
              </a:r>
              <a:endParaRPr sz="1400" b="1" i="0" dirty="0">
                <a:latin typeface="맑은 고딕"/>
                <a:ea typeface="맑은 고딕"/>
              </a:endParaRPr>
            </a:p>
          </p:txBody>
        </p:sp>
        <p:sp>
          <p:nvSpPr>
            <p:cNvPr id="74" name="TextBox 73">
              <a:extLst>
                <a:ext uri="{FF2B5EF4-FFF2-40B4-BE49-F238E27FC236}">
                  <a16:creationId xmlns:a16="http://schemas.microsoft.com/office/drawing/2014/main" id="{49F89BB0-E1B8-4821-947A-774A5DECE2FA}"/>
                </a:ext>
              </a:extLst>
            </p:cNvPr>
            <p:cNvSpPr txBox="1"/>
            <p:nvPr/>
          </p:nvSpPr>
          <p:spPr>
            <a:xfrm>
              <a:off x="9240505" y="2379908"/>
              <a:ext cx="1063914" cy="134878"/>
            </a:xfrm>
            <a:prstGeom prst="rect">
              <a:avLst/>
            </a:prstGeom>
            <a:noFill/>
            <a:ln w="9525">
              <a:noFill/>
            </a:ln>
          </p:spPr>
          <p:txBody>
            <a:bodyPr wrap="square" rtlCol="0">
              <a:spAutoFit/>
            </a:bodyPr>
            <a:lstStyle/>
            <a:p>
              <a:r>
                <a:rPr lang="ko-KR" altLang="en-US" sz="1050" dirty="0">
                  <a:solidFill>
                    <a:srgbClr val="FF0000"/>
                  </a:solidFill>
                </a:rPr>
                <a:t>필요 시 재생성</a:t>
              </a:r>
            </a:p>
          </p:txBody>
        </p:sp>
        <p:cxnSp>
          <p:nvCxnSpPr>
            <p:cNvPr id="76" name="꺾인 연결선 190">
              <a:extLst>
                <a:ext uri="{FF2B5EF4-FFF2-40B4-BE49-F238E27FC236}">
                  <a16:creationId xmlns:a16="http://schemas.microsoft.com/office/drawing/2014/main" id="{A9475D4E-A4B7-4768-8481-89EBE0C931C6}"/>
                </a:ext>
              </a:extLst>
            </p:cNvPr>
            <p:cNvCxnSpPr>
              <a:stCxn id="67" idx="4"/>
              <a:endCxn id="2050" idx="0"/>
            </p:cNvCxnSpPr>
            <p:nvPr/>
          </p:nvCxnSpPr>
          <p:spPr>
            <a:xfrm>
              <a:off x="8631697" y="1793208"/>
              <a:ext cx="614381" cy="122224"/>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24E4EFAD-67F2-41C6-ACC8-40AD76E19052}"/>
                </a:ext>
              </a:extLst>
            </p:cNvPr>
            <p:cNvSpPr txBox="1"/>
            <p:nvPr/>
          </p:nvSpPr>
          <p:spPr>
            <a:xfrm>
              <a:off x="9320645" y="1784418"/>
              <a:ext cx="1165476" cy="134878"/>
            </a:xfrm>
            <a:prstGeom prst="rect">
              <a:avLst/>
            </a:prstGeom>
            <a:noFill/>
            <a:ln w="9525">
              <a:noFill/>
            </a:ln>
          </p:spPr>
          <p:txBody>
            <a:bodyPr wrap="square" rtlCol="0">
              <a:spAutoFit/>
            </a:bodyPr>
            <a:lstStyle/>
            <a:p>
              <a:r>
                <a:rPr lang="ko-KR" altLang="en-US" sz="1050" dirty="0">
                  <a:solidFill>
                    <a:srgbClr val="FF0000"/>
                  </a:solidFill>
                </a:rPr>
                <a:t>버림</a:t>
              </a:r>
              <a:r>
                <a:rPr lang="en-US" altLang="ko-KR" sz="1050" dirty="0">
                  <a:solidFill>
                    <a:srgbClr val="FF0000"/>
                  </a:solidFill>
                </a:rPr>
                <a:t>(Eviction)</a:t>
              </a:r>
              <a:endParaRPr lang="ko-KR" altLang="en-US" sz="1050" dirty="0">
                <a:solidFill>
                  <a:srgbClr val="FF0000"/>
                </a:solidFill>
              </a:endParaRPr>
            </a:p>
          </p:txBody>
        </p:sp>
        <p:cxnSp>
          <p:nvCxnSpPr>
            <p:cNvPr id="78" name="꺾인 연결선 192">
              <a:extLst>
                <a:ext uri="{FF2B5EF4-FFF2-40B4-BE49-F238E27FC236}">
                  <a16:creationId xmlns:a16="http://schemas.microsoft.com/office/drawing/2014/main" id="{7ADE1CED-BB2A-40DA-AD8C-ABC9447B4EB5}"/>
                </a:ext>
              </a:extLst>
            </p:cNvPr>
            <p:cNvCxnSpPr>
              <a:stCxn id="2050" idx="2"/>
              <a:endCxn id="102" idx="4"/>
            </p:cNvCxnSpPr>
            <p:nvPr/>
          </p:nvCxnSpPr>
          <p:spPr>
            <a:xfrm rot="5400000">
              <a:off x="8560465" y="1997229"/>
              <a:ext cx="509993" cy="861234"/>
            </a:xfrm>
            <a:prstGeom prst="bentConnector2">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FD796661-0D4E-4B26-9C34-90DCD5C12137}"/>
                </a:ext>
              </a:extLst>
            </p:cNvPr>
            <p:cNvSpPr txBox="1"/>
            <p:nvPr/>
          </p:nvSpPr>
          <p:spPr>
            <a:xfrm>
              <a:off x="7239025" y="1744761"/>
              <a:ext cx="870751" cy="261610"/>
            </a:xfrm>
            <a:prstGeom prst="rect">
              <a:avLst/>
            </a:prstGeom>
            <a:noFill/>
            <a:ln w="9525">
              <a:noFill/>
            </a:ln>
          </p:spPr>
          <p:txBody>
            <a:bodyPr wrap="none" rtlCol="0">
              <a:spAutoFit/>
            </a:bodyPr>
            <a:lstStyle/>
            <a:p>
              <a:r>
                <a:rPr lang="en-US" altLang="ko-KR" sz="1050" dirty="0">
                  <a:solidFill>
                    <a:srgbClr val="FF0000"/>
                  </a:solidFill>
                </a:rPr>
                <a:t>HBM </a:t>
              </a:r>
              <a:r>
                <a:rPr lang="ko-KR" altLang="en-US" sz="1050" dirty="0">
                  <a:solidFill>
                    <a:srgbClr val="FF0000"/>
                  </a:solidFill>
                </a:rPr>
                <a:t>초과</a:t>
              </a:r>
              <a:r>
                <a:rPr lang="en-US" altLang="ko-KR" sz="1050" dirty="0">
                  <a:solidFill>
                    <a:srgbClr val="FF0000"/>
                  </a:solidFill>
                </a:rPr>
                <a:t>!</a:t>
              </a:r>
              <a:endParaRPr lang="ko-KR" altLang="en-US" sz="1050" dirty="0">
                <a:solidFill>
                  <a:srgbClr val="FF0000"/>
                </a:solidFill>
              </a:endParaRPr>
            </a:p>
          </p:txBody>
        </p:sp>
        <p:cxnSp>
          <p:nvCxnSpPr>
            <p:cNvPr id="80" name="직선 화살표 연결선 79">
              <a:extLst>
                <a:ext uri="{FF2B5EF4-FFF2-40B4-BE49-F238E27FC236}">
                  <a16:creationId xmlns:a16="http://schemas.microsoft.com/office/drawing/2014/main" id="{CA1F8DB9-E832-4DA7-940A-65844652822B}"/>
                </a:ext>
              </a:extLst>
            </p:cNvPr>
            <p:cNvCxnSpPr>
              <a:cxnSpLocks/>
              <a:stCxn id="72" idx="3"/>
              <a:endCxn id="52" idx="1"/>
            </p:cNvCxnSpPr>
            <p:nvPr/>
          </p:nvCxnSpPr>
          <p:spPr>
            <a:xfrm flipV="1">
              <a:off x="8007571" y="2964016"/>
              <a:ext cx="445257" cy="3963"/>
            </a:xfrm>
            <a:prstGeom prst="straightConnector1">
              <a:avLst/>
            </a:prstGeom>
            <a:ln w="95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직사각형 82">
              <a:extLst>
                <a:ext uri="{FF2B5EF4-FFF2-40B4-BE49-F238E27FC236}">
                  <a16:creationId xmlns:a16="http://schemas.microsoft.com/office/drawing/2014/main" id="{7EA78B81-4641-4C46-BE14-08DC0172FB86}"/>
                </a:ext>
              </a:extLst>
            </p:cNvPr>
            <p:cNvSpPr/>
            <p:nvPr/>
          </p:nvSpPr>
          <p:spPr>
            <a:xfrm>
              <a:off x="10470992" y="3379010"/>
              <a:ext cx="952854" cy="146077"/>
            </a:xfrm>
            <a:prstGeom prst="rect">
              <a:avLst/>
            </a:prstGeom>
            <a:solidFill>
              <a:schemeClr val="bg1">
                <a:lumMod val="85000"/>
              </a:schemeClr>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sz="900" dirty="0"/>
                <a:t>기존 메모리</a:t>
              </a:r>
            </a:p>
          </p:txBody>
        </p:sp>
        <p:grpSp>
          <p:nvGrpSpPr>
            <p:cNvPr id="98" name="그룹 97">
              <a:extLst>
                <a:ext uri="{FF2B5EF4-FFF2-40B4-BE49-F238E27FC236}">
                  <a16:creationId xmlns:a16="http://schemas.microsoft.com/office/drawing/2014/main" id="{AE2F854E-8D61-4A48-874C-83EBA0A2E01E}"/>
                </a:ext>
              </a:extLst>
            </p:cNvPr>
            <p:cNvGrpSpPr/>
            <p:nvPr/>
          </p:nvGrpSpPr>
          <p:grpSpPr>
            <a:xfrm>
              <a:off x="6828071" y="2589453"/>
              <a:ext cx="767863" cy="210377"/>
              <a:chOff x="6828071" y="2814271"/>
              <a:chExt cx="767863" cy="210377"/>
            </a:xfrm>
          </p:grpSpPr>
          <p:sp>
            <p:nvSpPr>
              <p:cNvPr id="85" name="타원 84">
                <a:extLst>
                  <a:ext uri="{FF2B5EF4-FFF2-40B4-BE49-F238E27FC236}">
                    <a16:creationId xmlns:a16="http://schemas.microsoft.com/office/drawing/2014/main" id="{0F776354-06A9-4A15-A11A-589919D6F46D}"/>
                  </a:ext>
                </a:extLst>
              </p:cNvPr>
              <p:cNvSpPr/>
              <p:nvPr/>
            </p:nvSpPr>
            <p:spPr>
              <a:xfrm>
                <a:off x="6828071" y="2814271"/>
                <a:ext cx="767863" cy="185827"/>
              </a:xfrm>
              <a:prstGeom prst="ellipse">
                <a:avLst/>
              </a:prstGeom>
              <a:ln w="9525"/>
            </p:spPr>
            <p:style>
              <a:lnRef idx="1">
                <a:schemeClr val="accent4"/>
              </a:lnRef>
              <a:fillRef idx="2">
                <a:schemeClr val="accent4"/>
              </a:fillRef>
              <a:effectRef idx="1">
                <a:schemeClr val="accent4"/>
              </a:effectRef>
              <a:fontRef idx="minor">
                <a:schemeClr val="dk1"/>
              </a:fontRef>
            </p:style>
            <p:txBody>
              <a:bodyPr rtlCol="0" anchor="ctr"/>
              <a:lstStyle/>
              <a:p>
                <a:pPr algn="ctr"/>
                <a:endParaRPr lang="ko-KR" altLang="en-US" sz="1400" dirty="0"/>
              </a:p>
            </p:txBody>
          </p:sp>
          <p:sp>
            <p:nvSpPr>
              <p:cNvPr id="96" name="TextBox 95">
                <a:extLst>
                  <a:ext uri="{FF2B5EF4-FFF2-40B4-BE49-F238E27FC236}">
                    <a16:creationId xmlns:a16="http://schemas.microsoft.com/office/drawing/2014/main" id="{BA3F02D0-41F5-45CC-8BAE-949595FA2D41}"/>
                  </a:ext>
                </a:extLst>
              </p:cNvPr>
              <p:cNvSpPr txBox="1"/>
              <p:nvPr/>
            </p:nvSpPr>
            <p:spPr>
              <a:xfrm>
                <a:off x="6885141" y="2863065"/>
                <a:ext cx="672364" cy="161583"/>
              </a:xfrm>
              <a:prstGeom prst="rect">
                <a:avLst/>
              </a:prstGeom>
              <a:noFill/>
              <a:ln w="9525">
                <a:noFill/>
              </a:ln>
            </p:spPr>
            <p:txBody>
              <a:bodyPr wrap="square" lIns="0" tIns="0" rIns="0" bIns="0" anchor="t">
                <a:spAutoFit/>
              </a:bodyPr>
              <a:lstStyle/>
              <a:p>
                <a:pPr algn="ctr"/>
                <a:r>
                  <a:rPr lang="en-US" sz="1050" i="0" dirty="0">
                    <a:latin typeface="맑은 고딕"/>
                    <a:ea typeface="맑은 고딕"/>
                  </a:rPr>
                  <a:t>LLM </a:t>
                </a:r>
                <a:r>
                  <a:rPr lang="ko-KR" altLang="en-US" sz="1050" i="0" dirty="0">
                    <a:latin typeface="맑은 고딕"/>
                    <a:ea typeface="맑은 고딕"/>
                  </a:rPr>
                  <a:t>연산</a:t>
                </a:r>
                <a:endParaRPr sz="1050" i="0" dirty="0">
                  <a:latin typeface="맑은 고딕"/>
                  <a:ea typeface="맑은 고딕"/>
                </a:endParaRPr>
              </a:p>
            </p:txBody>
          </p:sp>
        </p:grpSp>
        <p:sp>
          <p:nvSpPr>
            <p:cNvPr id="105" name="TextBox 104">
              <a:extLst>
                <a:ext uri="{FF2B5EF4-FFF2-40B4-BE49-F238E27FC236}">
                  <a16:creationId xmlns:a16="http://schemas.microsoft.com/office/drawing/2014/main" id="{2566557A-48CB-433C-8652-34BA1A5386B1}"/>
                </a:ext>
              </a:extLst>
            </p:cNvPr>
            <p:cNvSpPr txBox="1"/>
            <p:nvPr/>
          </p:nvSpPr>
          <p:spPr>
            <a:xfrm>
              <a:off x="7484768" y="3018037"/>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106" name="TextBox 105">
              <a:extLst>
                <a:ext uri="{FF2B5EF4-FFF2-40B4-BE49-F238E27FC236}">
                  <a16:creationId xmlns:a16="http://schemas.microsoft.com/office/drawing/2014/main" id="{12A7282B-FBA6-4075-BBFB-39F23061A41E}"/>
                </a:ext>
              </a:extLst>
            </p:cNvPr>
            <p:cNvSpPr txBox="1"/>
            <p:nvPr/>
          </p:nvSpPr>
          <p:spPr>
            <a:xfrm>
              <a:off x="7484768" y="3160140"/>
              <a:ext cx="522803" cy="184666"/>
            </a:xfrm>
            <a:prstGeom prst="rect">
              <a:avLst/>
            </a:prstGeom>
            <a:noFill/>
            <a:ln w="9525">
              <a:noFill/>
            </a:ln>
          </p:spPr>
          <p:txBody>
            <a:bodyPr wrap="square" lIns="0" tIns="0" rIns="0" bIns="0" anchor="t">
              <a:spAutoFit/>
            </a:bodyPr>
            <a:lstStyle/>
            <a:p>
              <a:pPr algn="l"/>
              <a:r>
                <a:rPr lang="en-US" sz="1200" i="0" dirty="0">
                  <a:latin typeface="맑은 고딕"/>
                  <a:ea typeface="맑은 고딕"/>
                </a:rPr>
                <a:t>Input </a:t>
              </a:r>
              <a:endParaRPr sz="1200" i="0" dirty="0">
                <a:latin typeface="맑은 고딕"/>
                <a:ea typeface="맑은 고딕"/>
              </a:endParaRPr>
            </a:p>
          </p:txBody>
        </p:sp>
        <p:sp>
          <p:nvSpPr>
            <p:cNvPr id="102" name="순서도: 자기 디스크 101">
              <a:extLst>
                <a:ext uri="{FF2B5EF4-FFF2-40B4-BE49-F238E27FC236}">
                  <a16:creationId xmlns:a16="http://schemas.microsoft.com/office/drawing/2014/main" id="{38E7ADE2-A791-407A-A1AF-4C170A138FBE}"/>
                </a:ext>
              </a:extLst>
            </p:cNvPr>
            <p:cNvSpPr/>
            <p:nvPr/>
          </p:nvSpPr>
          <p:spPr>
            <a:xfrm>
              <a:off x="7785818" y="2594411"/>
              <a:ext cx="599025" cy="176862"/>
            </a:xfrm>
            <a:prstGeom prst="flowChartMagneticDisk">
              <a:avLst/>
            </a:prstGeom>
            <a:ln w="9525">
              <a:solidFill>
                <a:srgbClr val="FF0000"/>
              </a:solidFill>
              <a:prstDash val="dash"/>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1400" dirty="0"/>
                <a:t>KV</a:t>
              </a:r>
              <a:endParaRPr lang="ko-KR" altLang="en-US" sz="1400" dirty="0"/>
            </a:p>
          </p:txBody>
        </p:sp>
      </p:grpSp>
      <p:pic>
        <p:nvPicPr>
          <p:cNvPr id="2050" name="Picture 2" descr="휴지통으로 보내기 - 무료 ui개 아이콘"/>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37699" y="2515233"/>
            <a:ext cx="369740" cy="484601"/>
          </a:xfrm>
          <a:prstGeom prst="rect">
            <a:avLst/>
          </a:prstGeom>
          <a:noFill/>
          <a:extLst>
            <a:ext uri="{909E8E84-426E-40DD-AFC4-6F175D3DCCD1}">
              <a14:hiddenFill xmlns:a14="http://schemas.microsoft.com/office/drawing/2010/main">
                <a:solidFill>
                  <a:srgbClr val="FFFFFF"/>
                </a:solidFill>
              </a14:hiddenFill>
            </a:ext>
          </a:extLst>
        </p:spPr>
      </p:pic>
      <p:sp>
        <p:nvSpPr>
          <p:cNvPr id="4" name="제목 3"/>
          <p:cNvSpPr>
            <a:spLocks noGrp="1"/>
          </p:cNvSpPr>
          <p:nvPr>
            <p:ph type="title"/>
          </p:nvPr>
        </p:nvSpPr>
        <p:spPr/>
        <p:txBody>
          <a:bodyPr/>
          <a:lstStyle/>
          <a:p>
            <a:r>
              <a:rPr lang="ko-KR" altLang="en-US" dirty="0"/>
              <a:t>문제 정의 </a:t>
            </a:r>
            <a:r>
              <a:rPr lang="en-US" altLang="ko-KR" dirty="0"/>
              <a:t>(Problem Definition)</a:t>
            </a:r>
            <a:endParaRPr lang="ko-KR" altLang="en-US" dirty="0"/>
          </a:p>
        </p:txBody>
      </p:sp>
      <p:sp>
        <p:nvSpPr>
          <p:cNvPr id="50" name="TextBox 49">
            <a:extLst>
              <a:ext uri="{FF2B5EF4-FFF2-40B4-BE49-F238E27FC236}">
                <a16:creationId xmlns:a16="http://schemas.microsoft.com/office/drawing/2014/main" id="{9E7638E3-D699-4E00-A1D4-D193421B8897}"/>
              </a:ext>
            </a:extLst>
          </p:cNvPr>
          <p:cNvSpPr txBox="1"/>
          <p:nvPr/>
        </p:nvSpPr>
        <p:spPr>
          <a:xfrm>
            <a:off x="8548858" y="1535522"/>
            <a:ext cx="1580903" cy="215444"/>
          </a:xfrm>
          <a:prstGeom prst="rect">
            <a:avLst/>
          </a:prstGeom>
          <a:noFill/>
        </p:spPr>
        <p:txBody>
          <a:bodyPr wrap="square" lIns="0" tIns="0" rIns="0" bIns="0" anchor="t">
            <a:spAutoFit/>
          </a:bodyPr>
          <a:lstStyle/>
          <a:p>
            <a:pPr algn="ctr"/>
            <a:r>
              <a:rPr sz="1400" b="1" i="0" dirty="0">
                <a:latin typeface="맑은 고딕"/>
                <a:ea typeface="맑은 고딕"/>
              </a:rPr>
              <a:t>Legacy </a:t>
            </a:r>
            <a:r>
              <a:rPr sz="1400" b="1" i="0" dirty="0" err="1">
                <a:latin typeface="맑은 고딕"/>
                <a:ea typeface="맑은 고딕"/>
              </a:rPr>
              <a:t>시스템</a:t>
            </a:r>
            <a:endParaRPr sz="1400" b="1" i="0" dirty="0">
              <a:latin typeface="맑은 고딕"/>
              <a:ea typeface="맑은 고딕"/>
            </a:endParaRPr>
          </a:p>
        </p:txBody>
      </p:sp>
    </p:spTree>
    <p:extLst>
      <p:ext uri="{BB962C8B-B14F-4D97-AF65-F5344CB8AC3E}">
        <p14:creationId xmlns:p14="http://schemas.microsoft.com/office/powerpoint/2010/main" val="103267749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6"/>
            <a:ext cx="5844033" cy="5145914"/>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5145914"/>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111613"/>
            <a:ext cx="4302132"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메모리 수요 급증과 고객 요구 변화</a:t>
            </a:r>
          </a:p>
        </p:txBody>
      </p:sp>
      <p:sp>
        <p:nvSpPr>
          <p:cNvPr id="75" name="직사각형 74"/>
          <p:cNvSpPr/>
          <p:nvPr/>
        </p:nvSpPr>
        <p:spPr>
          <a:xfrm>
            <a:off x="1089957" y="1111613"/>
            <a:ext cx="4302132"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Agentic AI</a:t>
            </a:r>
            <a:r>
              <a:rPr lang="ko-KR" altLang="en-US" sz="1400" b="1" dirty="0">
                <a:latin typeface="+mj-ea"/>
                <a:ea typeface="+mj-ea"/>
              </a:rPr>
              <a:t> 확산과 워크로드 변화</a:t>
            </a:r>
          </a:p>
        </p:txBody>
      </p:sp>
      <p:sp>
        <p:nvSpPr>
          <p:cNvPr id="55" name="Text 46">
            <a:extLst>
              <a:ext uri="{FF2B5EF4-FFF2-40B4-BE49-F238E27FC236}">
                <a16:creationId xmlns:a16="http://schemas.microsoft.com/office/drawing/2014/main" id="{C8A28DF0-ABCC-48F5-9ED9-DE4811816B18}"/>
              </a:ext>
            </a:extLst>
          </p:cNvPr>
          <p:cNvSpPr/>
          <p:nvPr/>
        </p:nvSpPr>
        <p:spPr>
          <a:xfrm>
            <a:off x="6328664" y="162215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en-US" sz="1200" b="1" dirty="0" err="1">
                <a:solidFill>
                  <a:srgbClr val="222222"/>
                </a:solidFill>
                <a:latin typeface="+mj-ea"/>
                <a:ea typeface="+mj-ea"/>
                <a:cs typeface="Noto Sans KR" pitchFamily="34" charset="-120"/>
              </a:rPr>
              <a:t>수요</a:t>
            </a:r>
            <a:r>
              <a:rPr lang="en-US" sz="1200" b="1" dirty="0">
                <a:solidFill>
                  <a:srgbClr val="222222"/>
                </a:solidFill>
                <a:latin typeface="+mj-ea"/>
                <a:ea typeface="+mj-ea"/>
                <a:cs typeface="Noto Sans KR" pitchFamily="34" charset="-120"/>
              </a:rPr>
              <a:t> 급증 → 시장 규모·가격 상승</a:t>
            </a:r>
            <a:endParaRPr lang="en-US" sz="1200" b="1" dirty="0">
              <a:latin typeface="+mj-ea"/>
              <a:ea typeface="+mj-ea"/>
            </a:endParaRPr>
          </a:p>
        </p:txBody>
      </p:sp>
      <p:sp>
        <p:nvSpPr>
          <p:cNvPr id="85" name="Text 72">
            <a:extLst>
              <a:ext uri="{FF2B5EF4-FFF2-40B4-BE49-F238E27FC236}">
                <a16:creationId xmlns:a16="http://schemas.microsoft.com/office/drawing/2014/main" id="{D907F967-3823-4F1E-8786-56273222550E}"/>
              </a:ext>
            </a:extLst>
          </p:cNvPr>
          <p:cNvSpPr/>
          <p:nvPr/>
        </p:nvSpPr>
        <p:spPr>
          <a:xfrm>
            <a:off x="6407150" y="3301906"/>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대규모 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402442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en-US" sz="1200" b="1" dirty="0" err="1">
                <a:solidFill>
                  <a:srgbClr val="222222"/>
                </a:solidFill>
                <a:latin typeface="+mj-ea"/>
                <a:ea typeface="+mj-ea"/>
                <a:cs typeface="Noto Sans KR" pitchFamily="34" charset="-120"/>
              </a:rPr>
              <a:t>고객이</a:t>
            </a:r>
            <a:r>
              <a:rPr lang="en-US" sz="1200" b="1" dirty="0">
                <a:solidFill>
                  <a:srgbClr val="222222"/>
                </a:solidFill>
                <a:latin typeface="+mj-ea"/>
                <a:ea typeface="+mj-ea"/>
                <a:cs typeface="Noto Sans KR" pitchFamily="34" charset="-120"/>
              </a:rPr>
              <a:t> 용도별로 다른 메모리를 요구</a:t>
            </a:r>
            <a:endParaRPr lang="en-US" sz="1200" b="1" dirty="0">
              <a:latin typeface="+mj-ea"/>
              <a:ea typeface="+mj-ea"/>
            </a:endParaRPr>
          </a:p>
        </p:txBody>
      </p:sp>
      <p:sp>
        <p:nvSpPr>
          <p:cNvPr id="88" name="Shape 75">
            <a:extLst>
              <a:ext uri="{FF2B5EF4-FFF2-40B4-BE49-F238E27FC236}">
                <a16:creationId xmlns:a16="http://schemas.microsoft.com/office/drawing/2014/main" id="{77C67412-091C-43CD-9077-F2619A58DD96}"/>
              </a:ext>
            </a:extLst>
          </p:cNvPr>
          <p:cNvSpPr/>
          <p:nvPr/>
        </p:nvSpPr>
        <p:spPr>
          <a:xfrm>
            <a:off x="6407150" y="4357013"/>
            <a:ext cx="5232400" cy="1447403"/>
          </a:xfrm>
          <a:prstGeom prst="roundRect">
            <a:avLst>
              <a:gd name="adj" fmla="val 6142"/>
            </a:avLst>
          </a:prstGeom>
          <a:solidFill>
            <a:srgbClr val="F4F7FB"/>
          </a:solidFill>
          <a:ln/>
        </p:spPr>
      </p:sp>
      <p:sp>
        <p:nvSpPr>
          <p:cNvPr id="89" name="Text 76">
            <a:extLst>
              <a:ext uri="{FF2B5EF4-FFF2-40B4-BE49-F238E27FC236}">
                <a16:creationId xmlns:a16="http://schemas.microsoft.com/office/drawing/2014/main" id="{4FB01726-B58B-4757-A1D3-60F1FA346A6D}"/>
              </a:ext>
            </a:extLst>
          </p:cNvPr>
          <p:cNvSpPr/>
          <p:nvPr/>
        </p:nvSpPr>
        <p:spPr>
          <a:xfrm>
            <a:off x="6502400" y="4414163"/>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00" b="1" dirty="0" err="1">
                <a:solidFill>
                  <a:srgbClr val="222222"/>
                </a:solidFill>
                <a:latin typeface="+mj-ea"/>
                <a:ea typeface="+mj-ea"/>
                <a:cs typeface="Noto Sans KR" pitchFamily="34" charset="-120"/>
              </a:rPr>
              <a:t>cHBM</a:t>
            </a:r>
            <a:r>
              <a:rPr lang="en-US" sz="1000" b="1" dirty="0">
                <a:solidFill>
                  <a:srgbClr val="222222"/>
                </a:solidFill>
                <a:latin typeface="+mj-ea"/>
                <a:ea typeface="+mj-ea"/>
                <a:cs typeface="Noto Sans KR" pitchFamily="34" charset="-120"/>
              </a:rPr>
              <a:t>(Custom HBM)</a:t>
            </a:r>
            <a:endParaRPr lang="en-US" sz="1000" dirty="0">
              <a:latin typeface="+mj-ea"/>
              <a:ea typeface="+mj-ea"/>
            </a:endParaRPr>
          </a:p>
        </p:txBody>
      </p:sp>
      <mc:AlternateContent xmlns:mc="http://schemas.openxmlformats.org/markup-compatibility/2006" xmlns:a14="http://schemas.microsoft.com/office/drawing/2010/main">
        <mc:Choice Requires="a14">
          <p:sp>
            <p:nvSpPr>
              <p:cNvPr id="90" name="Text 77">
                <a:extLst>
                  <a:ext uri="{FF2B5EF4-FFF2-40B4-BE49-F238E27FC236}">
                    <a16:creationId xmlns:a16="http://schemas.microsoft.com/office/drawing/2014/main" id="{28FF1791-DF29-457E-B507-081E035A94F3}"/>
                  </a:ext>
                </a:extLst>
              </p:cNvPr>
              <p:cNvSpPr/>
              <p:nvPr/>
            </p:nvSpPr>
            <p:spPr>
              <a:xfrm>
                <a:off x="8147050" y="4433213"/>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sSup>
                        <m:sSupPr>
                          <m:ctrlPr>
                            <a:rPr lang="en-US" altLang="ko-KR" sz="1000" i="1" smtClean="0">
                              <a:solidFill>
                                <a:srgbClr val="222222"/>
                              </a:solidFill>
                              <a:latin typeface="Cambria Math" panose="02040503050406030204" pitchFamily="18" charset="0"/>
                              <a:ea typeface="+mj-ea"/>
                            </a:rPr>
                          </m:ctrlPr>
                        </m:sSupPr>
                        <m:e>
                          <m:r>
                            <m:rPr>
                              <m:nor/>
                            </m:rPr>
                            <a:rPr lang="en-US" altLang="ko-KR" sz="1000" dirty="0">
                              <a:solidFill>
                                <a:srgbClr val="222222"/>
                              </a:solidFill>
                              <a:latin typeface="+mj-ea"/>
                              <a:cs typeface="Noto Sans KR" pitchFamily="34" charset="-120"/>
                            </a:rPr>
                            <m:t>가속기별</m:t>
                          </m:r>
                          <m:r>
                            <m:rPr>
                              <m:nor/>
                            </m:rPr>
                            <a:rPr lang="en-US" altLang="ko-KR" sz="1000" dirty="0">
                              <a:solidFill>
                                <a:srgbClr val="222222"/>
                              </a:solidFill>
                              <a:latin typeface="+mj-ea"/>
                              <a:cs typeface="Noto Sans KR" pitchFamily="34" charset="-120"/>
                            </a:rPr>
                            <m:t> </m:t>
                          </m:r>
                          <m:r>
                            <m:rPr>
                              <m:nor/>
                            </m:rPr>
                            <a:rPr lang="en-US" altLang="ko-KR" sz="1000" dirty="0">
                              <a:solidFill>
                                <a:srgbClr val="222222"/>
                              </a:solidFill>
                              <a:latin typeface="+mj-ea"/>
                              <a:cs typeface="Noto Sans KR" pitchFamily="34" charset="-120"/>
                            </a:rPr>
                            <m:t>최적화</m:t>
                          </m:r>
                        </m:e>
                        <m:sup>
                          <m:r>
                            <m:rPr>
                              <m:nor/>
                            </m:rPr>
                            <a:rPr lang="en-US" altLang="ko-KR" sz="1000" dirty="0">
                              <a:solidFill>
                                <a:srgbClr val="222222"/>
                              </a:solidFill>
                              <a:latin typeface="Cambria Math" panose="02040503050406030204" pitchFamily="18" charset="0"/>
                              <a:ea typeface="Cambria Math" panose="02040503050406030204" pitchFamily="18" charset="0"/>
                              <a:cs typeface="Noto Sans KR" pitchFamily="34" charset="-120"/>
                            </a:rPr>
                            <m:t>[6]</m:t>
                          </m:r>
                        </m:sup>
                      </m:sSup>
                    </m:oMath>
                  </m:oMathPara>
                </a14:m>
                <a:endParaRPr lang="en-US" sz="1050" dirty="0">
                  <a:latin typeface="+mj-ea"/>
                  <a:ea typeface="+mj-ea"/>
                </a:endParaRPr>
              </a:p>
            </p:txBody>
          </p:sp>
        </mc:Choice>
        <mc:Fallback xmlns="">
          <p:sp>
            <p:nvSpPr>
              <p:cNvPr id="90" name="Text 77">
                <a:extLst>
                  <a:ext uri="{FF2B5EF4-FFF2-40B4-BE49-F238E27FC236}">
                    <a16:creationId xmlns:a16="http://schemas.microsoft.com/office/drawing/2014/main" id="{28FF1791-DF29-457E-B507-081E035A94F3}"/>
                  </a:ext>
                </a:extLst>
              </p:cNvPr>
              <p:cNvSpPr>
                <a:spLocks noRot="1" noChangeAspect="1" noMove="1" noResize="1" noEditPoints="1" noAdjustHandles="1" noChangeArrowheads="1" noChangeShapeType="1" noTextEdit="1"/>
              </p:cNvSpPr>
              <p:nvPr/>
            </p:nvSpPr>
            <p:spPr>
              <a:xfrm>
                <a:off x="8147050" y="4433213"/>
                <a:ext cx="3505708" cy="223441"/>
              </a:xfrm>
              <a:prstGeom prst="rect">
                <a:avLst/>
              </a:prstGeom>
              <a:blipFill>
                <a:blip r:embed="rId3"/>
                <a:stretch>
                  <a:fillRect l="-1736" t="-8108" b="-2703"/>
                </a:stretch>
              </a:blipFill>
              <a:ln/>
            </p:spPr>
            <p:txBody>
              <a:bodyPr/>
              <a:lstStyle/>
              <a:p>
                <a:r>
                  <a:rPr lang="ko-KR" altLang="en-US">
                    <a:noFill/>
                  </a:rPr>
                  <a:t> </a:t>
                </a:r>
              </a:p>
            </p:txBody>
          </p:sp>
        </mc:Fallback>
      </mc:AlternateContent>
      <p:sp>
        <p:nvSpPr>
          <p:cNvPr id="91" name="Text 78">
            <a:extLst>
              <a:ext uri="{FF2B5EF4-FFF2-40B4-BE49-F238E27FC236}">
                <a16:creationId xmlns:a16="http://schemas.microsoft.com/office/drawing/2014/main" id="{D33EC04A-7834-4B6D-B95F-F1C9D1C05C05}"/>
              </a:ext>
            </a:extLst>
          </p:cNvPr>
          <p:cNvSpPr/>
          <p:nvPr/>
        </p:nvSpPr>
        <p:spPr>
          <a:xfrm>
            <a:off x="6502400" y="4688403"/>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HBF</a:t>
            </a:r>
            <a:endParaRPr lang="en-US" sz="1050" dirty="0">
              <a:latin typeface="+mj-ea"/>
              <a:ea typeface="+mj-ea"/>
            </a:endParaRPr>
          </a:p>
        </p:txBody>
      </p:sp>
      <mc:AlternateContent xmlns:mc="http://schemas.openxmlformats.org/markup-compatibility/2006" xmlns:a14="http://schemas.microsoft.com/office/drawing/2010/main">
        <mc:Choice Requires="a14">
          <p:sp>
            <p:nvSpPr>
              <p:cNvPr id="92" name="Text 79">
                <a:extLst>
                  <a:ext uri="{FF2B5EF4-FFF2-40B4-BE49-F238E27FC236}">
                    <a16:creationId xmlns:a16="http://schemas.microsoft.com/office/drawing/2014/main" id="{675313DF-148E-4AB0-8939-560DC9805112}"/>
                  </a:ext>
                </a:extLst>
              </p:cNvPr>
              <p:cNvSpPr/>
              <p:nvPr/>
            </p:nvSpPr>
            <p:spPr>
              <a:xfrm>
                <a:off x="8147050" y="4707453"/>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dirty="0">
                              <a:solidFill>
                                <a:srgbClr val="222222"/>
                              </a:solidFill>
                              <a:latin typeface="+mj-ea"/>
                              <a:cs typeface="Noto Sans KR" pitchFamily="34" charset="-120"/>
                            </a:rPr>
                            <m:t>HBM</m:t>
                          </m:r>
                          <m:r>
                            <m:rPr>
                              <m:nor/>
                            </m:rPr>
                            <a:rPr lang="en-US" altLang="ko-KR" sz="1050" dirty="0">
                              <a:solidFill>
                                <a:srgbClr val="222222"/>
                              </a:solidFill>
                              <a:latin typeface="+mj-ea"/>
                              <a:cs typeface="Noto Sans KR" pitchFamily="34" charset="-120"/>
                            </a:rPr>
                            <m:t>급</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읽기</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대역폭</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용량</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약</m:t>
                          </m:r>
                          <m:r>
                            <m:rPr>
                              <m:nor/>
                            </m:rPr>
                            <a:rPr lang="en-US" altLang="ko-KR" sz="1050" dirty="0">
                              <a:solidFill>
                                <a:srgbClr val="222222"/>
                              </a:solidFill>
                              <a:latin typeface="+mj-ea"/>
                              <a:cs typeface="Noto Sans KR" pitchFamily="34" charset="-120"/>
                            </a:rPr>
                            <m:t> 10</m:t>
                          </m:r>
                          <m:r>
                            <m:rPr>
                              <m:nor/>
                            </m:rPr>
                            <a:rPr lang="en-US" altLang="ko-KR" sz="1050" dirty="0">
                              <a:solidFill>
                                <a:srgbClr val="222222"/>
                              </a:solidFill>
                              <a:latin typeface="+mj-ea"/>
                              <a:cs typeface="Noto Sans KR" pitchFamily="34" charset="-120"/>
                            </a:rPr>
                            <m:t>배</m:t>
                          </m:r>
                          <m:r>
                            <m:rPr>
                              <m:nor/>
                            </m:rPr>
                            <a:rPr lang="en-US" altLang="ko-KR" sz="1050" dirty="0">
                              <a:solidFill>
                                <a:srgbClr val="222222"/>
                              </a:solidFill>
                              <a:latin typeface="+mj-ea"/>
                              <a:cs typeface="Noto Sans KR" pitchFamily="34" charset="-120"/>
                            </a:rPr>
                            <m:t> </m:t>
                          </m:r>
                        </m:e>
                        <m:sup>
                          <m:r>
                            <a:rPr lang="en-US" altLang="ko-KR" sz="1050" b="0" i="1" smtClean="0">
                              <a:solidFill>
                                <a:srgbClr val="222222"/>
                              </a:solidFill>
                              <a:latin typeface="Cambria Math" panose="02040503050406030204" pitchFamily="18" charset="0"/>
                              <a:ea typeface="+mj-ea"/>
                            </a:rPr>
                            <m:t>[7]</m:t>
                          </m:r>
                        </m:sup>
                      </m:sSup>
                    </m:oMath>
                  </m:oMathPara>
                </a14:m>
                <a:endParaRPr lang="en-US" sz="1050" dirty="0">
                  <a:latin typeface="+mj-ea"/>
                  <a:ea typeface="+mj-ea"/>
                </a:endParaRPr>
              </a:p>
            </p:txBody>
          </p:sp>
        </mc:Choice>
        <mc:Fallback xmlns="">
          <p:sp>
            <p:nvSpPr>
              <p:cNvPr id="92" name="Text 79">
                <a:extLst>
                  <a:ext uri="{FF2B5EF4-FFF2-40B4-BE49-F238E27FC236}">
                    <a16:creationId xmlns:a16="http://schemas.microsoft.com/office/drawing/2014/main" id="{675313DF-148E-4AB0-8939-560DC9805112}"/>
                  </a:ext>
                </a:extLst>
              </p:cNvPr>
              <p:cNvSpPr>
                <a:spLocks noRot="1" noChangeAspect="1" noMove="1" noResize="1" noEditPoints="1" noAdjustHandles="1" noChangeArrowheads="1" noChangeShapeType="1" noTextEdit="1"/>
              </p:cNvSpPr>
              <p:nvPr/>
            </p:nvSpPr>
            <p:spPr>
              <a:xfrm>
                <a:off x="8147050" y="4707453"/>
                <a:ext cx="3505708" cy="223441"/>
              </a:xfrm>
              <a:prstGeom prst="rect">
                <a:avLst/>
              </a:prstGeom>
              <a:blipFill>
                <a:blip r:embed="rId4"/>
                <a:stretch>
                  <a:fillRect l="-1389" b="-2703"/>
                </a:stretch>
              </a:blipFill>
              <a:ln/>
            </p:spPr>
            <p:txBody>
              <a:bodyPr/>
              <a:lstStyle/>
              <a:p>
                <a:r>
                  <a:rPr lang="ko-KR" altLang="en-US">
                    <a:noFill/>
                  </a:rPr>
                  <a:t> </a:t>
                </a:r>
              </a:p>
            </p:txBody>
          </p:sp>
        </mc:Fallback>
      </mc:AlternateContent>
      <p:sp>
        <p:nvSpPr>
          <p:cNvPr id="93" name="Text 80">
            <a:extLst>
              <a:ext uri="{FF2B5EF4-FFF2-40B4-BE49-F238E27FC236}">
                <a16:creationId xmlns:a16="http://schemas.microsoft.com/office/drawing/2014/main" id="{0C1AD13C-864B-4D96-A98A-5C0817A8689E}"/>
              </a:ext>
            </a:extLst>
          </p:cNvPr>
          <p:cNvSpPr/>
          <p:nvPr/>
        </p:nvSpPr>
        <p:spPr>
          <a:xfrm>
            <a:off x="6502400" y="4962644"/>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CXL 메모리 풀</a:t>
            </a:r>
            <a:endParaRPr lang="en-US" sz="1050" dirty="0">
              <a:latin typeface="+mj-ea"/>
              <a:ea typeface="+mj-ea"/>
            </a:endParaRPr>
          </a:p>
        </p:txBody>
      </p:sp>
      <mc:AlternateContent xmlns:mc="http://schemas.openxmlformats.org/markup-compatibility/2006" xmlns:a14="http://schemas.microsoft.com/office/drawing/2010/main">
        <mc:Choice Requires="a14">
          <p:sp>
            <p:nvSpPr>
              <p:cNvPr id="94" name="Text 81">
                <a:extLst>
                  <a:ext uri="{FF2B5EF4-FFF2-40B4-BE49-F238E27FC236}">
                    <a16:creationId xmlns:a16="http://schemas.microsoft.com/office/drawing/2014/main" id="{22D6CEDB-D07C-4A19-9BB6-5EBF9827010F}"/>
                  </a:ext>
                </a:extLst>
              </p:cNvPr>
              <p:cNvSpPr/>
              <p:nvPr/>
            </p:nvSpPr>
            <p:spPr>
              <a:xfrm>
                <a:off x="8147050" y="4981694"/>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dirty="0">
                              <a:solidFill>
                                <a:srgbClr val="222222"/>
                              </a:solidFill>
                              <a:latin typeface="+mj-ea"/>
                              <a:cs typeface="Noto Sans KR" pitchFamily="34" charset="-120"/>
                            </a:rPr>
                            <m:t>서버</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단위</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용량</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확장</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KV</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e>
                        <m:sup>
                          <m:r>
                            <a:rPr lang="en-US" altLang="ko-KR" sz="1050" b="0" i="1" smtClean="0">
                              <a:solidFill>
                                <a:srgbClr val="222222"/>
                              </a:solidFill>
                              <a:latin typeface="Cambria Math" panose="02040503050406030204" pitchFamily="18" charset="0"/>
                              <a:ea typeface="+mj-ea"/>
                            </a:rPr>
                            <m:t>[8]</m:t>
                          </m:r>
                        </m:sup>
                      </m:sSup>
                    </m:oMath>
                  </m:oMathPara>
                </a14:m>
                <a:endParaRPr lang="en-US" sz="1050" dirty="0">
                  <a:latin typeface="+mj-ea"/>
                  <a:ea typeface="+mj-ea"/>
                </a:endParaRPr>
              </a:p>
            </p:txBody>
          </p:sp>
        </mc:Choice>
        <mc:Fallback xmlns="">
          <p:sp>
            <p:nvSpPr>
              <p:cNvPr id="94" name="Text 81">
                <a:extLst>
                  <a:ext uri="{FF2B5EF4-FFF2-40B4-BE49-F238E27FC236}">
                    <a16:creationId xmlns:a16="http://schemas.microsoft.com/office/drawing/2014/main" id="{22D6CEDB-D07C-4A19-9BB6-5EBF9827010F}"/>
                  </a:ext>
                </a:extLst>
              </p:cNvPr>
              <p:cNvSpPr>
                <a:spLocks noRot="1" noChangeAspect="1" noMove="1" noResize="1" noEditPoints="1" noAdjustHandles="1" noChangeArrowheads="1" noChangeShapeType="1" noTextEdit="1"/>
              </p:cNvSpPr>
              <p:nvPr/>
            </p:nvSpPr>
            <p:spPr>
              <a:xfrm>
                <a:off x="8147050" y="4981694"/>
                <a:ext cx="3505708" cy="223441"/>
              </a:xfrm>
              <a:prstGeom prst="rect">
                <a:avLst/>
              </a:prstGeom>
              <a:blipFill>
                <a:blip r:embed="rId5"/>
                <a:stretch>
                  <a:fillRect l="-1910" b="-2703"/>
                </a:stretch>
              </a:blipFill>
              <a:ln/>
            </p:spPr>
            <p:txBody>
              <a:bodyPr/>
              <a:lstStyle/>
              <a:p>
                <a:r>
                  <a:rPr lang="ko-KR" altLang="en-US">
                    <a:noFill/>
                  </a:rPr>
                  <a:t> </a:t>
                </a:r>
              </a:p>
            </p:txBody>
          </p:sp>
        </mc:Fallback>
      </mc:AlternateContent>
      <p:sp>
        <p:nvSpPr>
          <p:cNvPr id="95" name="Text 82">
            <a:extLst>
              <a:ext uri="{FF2B5EF4-FFF2-40B4-BE49-F238E27FC236}">
                <a16:creationId xmlns:a16="http://schemas.microsoft.com/office/drawing/2014/main" id="{13940E19-D16E-46CC-B6D3-CCFFF181605C}"/>
              </a:ext>
            </a:extLst>
          </p:cNvPr>
          <p:cNvSpPr/>
          <p:nvPr/>
        </p:nvSpPr>
        <p:spPr>
          <a:xfrm>
            <a:off x="6502400" y="5236885"/>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SOCAMM2·LPDDR</a:t>
            </a:r>
            <a:endParaRPr lang="en-US" sz="1050" dirty="0">
              <a:latin typeface="+mj-ea"/>
              <a:ea typeface="+mj-ea"/>
            </a:endParaRPr>
          </a:p>
        </p:txBody>
      </p:sp>
      <mc:AlternateContent xmlns:mc="http://schemas.openxmlformats.org/markup-compatibility/2006" xmlns:a14="http://schemas.microsoft.com/office/drawing/2010/main">
        <mc:Choice Requires="a14">
          <p:sp>
            <p:nvSpPr>
              <p:cNvPr id="96" name="Text 83">
                <a:extLst>
                  <a:ext uri="{FF2B5EF4-FFF2-40B4-BE49-F238E27FC236}">
                    <a16:creationId xmlns:a16="http://schemas.microsoft.com/office/drawing/2014/main" id="{6CE3C4F7-E9CC-4AF2-8638-743B38943BFE}"/>
                  </a:ext>
                </a:extLst>
              </p:cNvPr>
              <p:cNvSpPr/>
              <p:nvPr/>
            </p:nvSpPr>
            <p:spPr>
              <a:xfrm>
                <a:off x="8147050" y="5255935"/>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dirty="0">
                              <a:solidFill>
                                <a:srgbClr val="222222"/>
                              </a:solidFill>
                              <a:latin typeface="+mj-ea"/>
                              <a:cs typeface="Noto Sans KR" pitchFamily="34" charset="-120"/>
                            </a:rPr>
                            <m:t>서버용</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저전력</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대용량</m:t>
                          </m:r>
                        </m:e>
                        <m:sup>
                          <m:r>
                            <m:rPr>
                              <m:nor/>
                            </m:rPr>
                            <a:rPr lang="en-US" altLang="ko-KR" sz="1050" dirty="0">
                              <a:solidFill>
                                <a:srgbClr val="222222"/>
                              </a:solidFill>
                              <a:latin typeface="+mj-ea"/>
                              <a:cs typeface="Noto Sans KR" pitchFamily="34" charset="-120"/>
                            </a:rPr>
                            <m:t>[6]</m:t>
                          </m:r>
                        </m:sup>
                      </m:sSup>
                    </m:oMath>
                  </m:oMathPara>
                </a14:m>
                <a:endParaRPr lang="en-US" sz="1050" dirty="0">
                  <a:latin typeface="+mj-ea"/>
                  <a:ea typeface="+mj-ea"/>
                </a:endParaRPr>
              </a:p>
            </p:txBody>
          </p:sp>
        </mc:Choice>
        <mc:Fallback xmlns="">
          <p:sp>
            <p:nvSpPr>
              <p:cNvPr id="96" name="Text 83">
                <a:extLst>
                  <a:ext uri="{FF2B5EF4-FFF2-40B4-BE49-F238E27FC236}">
                    <a16:creationId xmlns:a16="http://schemas.microsoft.com/office/drawing/2014/main" id="{6CE3C4F7-E9CC-4AF2-8638-743B38943BFE}"/>
                  </a:ext>
                </a:extLst>
              </p:cNvPr>
              <p:cNvSpPr>
                <a:spLocks noRot="1" noChangeAspect="1" noMove="1" noResize="1" noEditPoints="1" noAdjustHandles="1" noChangeArrowheads="1" noChangeShapeType="1" noTextEdit="1"/>
              </p:cNvSpPr>
              <p:nvPr/>
            </p:nvSpPr>
            <p:spPr>
              <a:xfrm>
                <a:off x="8147050" y="5255935"/>
                <a:ext cx="3505708" cy="223441"/>
              </a:xfrm>
              <a:prstGeom prst="rect">
                <a:avLst/>
              </a:prstGeom>
              <a:blipFill>
                <a:blip r:embed="rId6"/>
                <a:stretch>
                  <a:fillRect l="-1910" t="-10811" b="-2703"/>
                </a:stretch>
              </a:blipFill>
              <a:ln/>
            </p:spPr>
            <p:txBody>
              <a:bodyPr/>
              <a:lstStyle/>
              <a:p>
                <a:r>
                  <a:rPr lang="ko-KR" altLang="en-US">
                    <a:noFill/>
                  </a:rPr>
                  <a:t> </a:t>
                </a:r>
              </a:p>
            </p:txBody>
          </p:sp>
        </mc:Fallback>
      </mc:AlternateContent>
      <p:sp>
        <p:nvSpPr>
          <p:cNvPr id="97" name="Text 84">
            <a:extLst>
              <a:ext uri="{FF2B5EF4-FFF2-40B4-BE49-F238E27FC236}">
                <a16:creationId xmlns:a16="http://schemas.microsoft.com/office/drawing/2014/main" id="{AFD5F8AB-70D5-4AB0-B25C-B18AD70216F7}"/>
              </a:ext>
            </a:extLst>
          </p:cNvPr>
          <p:cNvSpPr/>
          <p:nvPr/>
        </p:nvSpPr>
        <p:spPr>
          <a:xfrm>
            <a:off x="6502400" y="5511125"/>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KV 전용 계층</a:t>
            </a:r>
            <a:endParaRPr lang="en-US" sz="1050" dirty="0">
              <a:latin typeface="+mj-ea"/>
              <a:ea typeface="+mj-ea"/>
            </a:endParaRPr>
          </a:p>
        </p:txBody>
      </p:sp>
      <mc:AlternateContent xmlns:mc="http://schemas.openxmlformats.org/markup-compatibility/2006" xmlns:a14="http://schemas.microsoft.com/office/drawing/2010/main">
        <mc:Choice Requires="a14">
          <p:sp>
            <p:nvSpPr>
              <p:cNvPr id="98" name="Text 85">
                <a:extLst>
                  <a:ext uri="{FF2B5EF4-FFF2-40B4-BE49-F238E27FC236}">
                    <a16:creationId xmlns:a16="http://schemas.microsoft.com/office/drawing/2014/main" id="{121C3D1A-2F75-4BD1-AE06-7A92B7CBBC26}"/>
                  </a:ext>
                </a:extLst>
              </p:cNvPr>
              <p:cNvSpPr/>
              <p:nvPr/>
            </p:nvSpPr>
            <p:spPr>
              <a:xfrm>
                <a:off x="8147050" y="5530175"/>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dirty="0">
                              <a:solidFill>
                                <a:srgbClr val="222222"/>
                              </a:solidFill>
                              <a:latin typeface="+mj-ea"/>
                              <a:cs typeface="Noto Sans KR" pitchFamily="34" charset="-120"/>
                            </a:rPr>
                            <m:t>SSD</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e>
                        <m:sup>
                          <m:r>
                            <m:rPr>
                              <m:nor/>
                            </m:rPr>
                            <a:rPr lang="en-US" altLang="ko-KR" sz="1050" dirty="0">
                              <a:solidFill>
                                <a:srgbClr val="222222"/>
                              </a:solidFill>
                              <a:latin typeface="+mj-ea"/>
                              <a:cs typeface="Noto Sans KR" pitchFamily="34" charset="-120"/>
                            </a:rPr>
                            <m:t>[9]</m:t>
                          </m:r>
                        </m:sup>
                      </m:sSup>
                    </m:oMath>
                  </m:oMathPara>
                </a14:m>
                <a:endParaRPr lang="en-US" sz="1050" dirty="0">
                  <a:latin typeface="+mj-ea"/>
                  <a:ea typeface="+mj-ea"/>
                </a:endParaRPr>
              </a:p>
            </p:txBody>
          </p:sp>
        </mc:Choice>
        <mc:Fallback xmlns="">
          <p:sp>
            <p:nvSpPr>
              <p:cNvPr id="98" name="Text 85">
                <a:extLst>
                  <a:ext uri="{FF2B5EF4-FFF2-40B4-BE49-F238E27FC236}">
                    <a16:creationId xmlns:a16="http://schemas.microsoft.com/office/drawing/2014/main" id="{121C3D1A-2F75-4BD1-AE06-7A92B7CBBC26}"/>
                  </a:ext>
                </a:extLst>
              </p:cNvPr>
              <p:cNvSpPr>
                <a:spLocks noRot="1" noChangeAspect="1" noMove="1" noResize="1" noEditPoints="1" noAdjustHandles="1" noChangeArrowheads="1" noChangeShapeType="1" noTextEdit="1"/>
              </p:cNvSpPr>
              <p:nvPr/>
            </p:nvSpPr>
            <p:spPr>
              <a:xfrm>
                <a:off x="8147050" y="5530175"/>
                <a:ext cx="3505708" cy="223441"/>
              </a:xfrm>
              <a:prstGeom prst="rect">
                <a:avLst/>
              </a:prstGeom>
              <a:blipFill>
                <a:blip r:embed="rId7"/>
                <a:stretch>
                  <a:fillRect l="-1389" t="-10811" b="-2703"/>
                </a:stretch>
              </a:blipFill>
              <a:ln/>
            </p:spPr>
            <p:txBody>
              <a:bodyPr/>
              <a:lstStyle/>
              <a:p>
                <a:r>
                  <a:rPr lang="ko-KR" altLang="en-US">
                    <a:noFill/>
                  </a:rPr>
                  <a:t> </a:t>
                </a:r>
              </a:p>
            </p:txBody>
          </p:sp>
        </mc:Fallback>
      </mc:AlternateContent>
      <p:sp>
        <p:nvSpPr>
          <p:cNvPr id="99" name="Text 86">
            <a:extLst>
              <a:ext uri="{FF2B5EF4-FFF2-40B4-BE49-F238E27FC236}">
                <a16:creationId xmlns:a16="http://schemas.microsoft.com/office/drawing/2014/main" id="{714AE158-7453-4BD6-9340-3B89E988BC32}"/>
              </a:ext>
            </a:extLst>
          </p:cNvPr>
          <p:cNvSpPr/>
          <p:nvPr/>
        </p:nvSpPr>
        <p:spPr>
          <a:xfrm>
            <a:off x="6407150" y="5842516"/>
            <a:ext cx="5232400" cy="274241"/>
          </a:xfrm>
          <a:prstGeom prst="roundRect">
            <a:avLst>
              <a:gd name="adj" fmla="val 23155"/>
            </a:avLst>
          </a:prstGeom>
          <a:solidFill>
            <a:srgbClr val="EAF1FA"/>
          </a:solidFill>
          <a:ln/>
        </p:spPr>
        <p:txBody>
          <a:bodyPr wrap="square" lIns="133801" tIns="19501" rIns="0" bIns="0" rtlCol="0" anchor="t">
            <a:normAutofit/>
          </a:bodyPr>
          <a:lstStyle/>
          <a:p>
            <a:pPr marL="0" indent="0" algn="l">
              <a:lnSpc>
                <a:spcPts val="1560"/>
              </a:lnSpc>
              <a:buNone/>
            </a:pPr>
            <a:r>
              <a:rPr lang="en-US" sz="1100" b="1" dirty="0">
                <a:solidFill>
                  <a:srgbClr val="1C3F6E"/>
                </a:solidFill>
                <a:latin typeface="+mj-ea"/>
                <a:ea typeface="+mj-ea"/>
                <a:cs typeface="Noto Sans KR" pitchFamily="34" charset="-120"/>
              </a:rPr>
              <a:t>HBM 단일 → 용도별 분화: 당사 포트폴리오 다변화의 배경</a:t>
            </a:r>
            <a:endParaRPr lang="en-US" sz="1100" dirty="0">
              <a:latin typeface="+mj-ea"/>
              <a:ea typeface="+mj-ea"/>
            </a:endParaRPr>
          </a:p>
        </p:txBody>
      </p:sp>
      <p:sp>
        <p:nvSpPr>
          <p:cNvPr id="100" name="Shape 87">
            <a:extLst>
              <a:ext uri="{FF2B5EF4-FFF2-40B4-BE49-F238E27FC236}">
                <a16:creationId xmlns:a16="http://schemas.microsoft.com/office/drawing/2014/main" id="{D0B5557A-B9F9-489F-9989-4CB9114C6952}"/>
              </a:ext>
            </a:extLst>
          </p:cNvPr>
          <p:cNvSpPr/>
          <p:nvPr/>
        </p:nvSpPr>
        <p:spPr>
          <a:xfrm>
            <a:off x="6407150" y="5842516"/>
            <a:ext cx="5232400" cy="274241"/>
          </a:xfrm>
          <a:custGeom>
            <a:avLst/>
            <a:gdLst/>
            <a:ahLst/>
            <a:cxnLst/>
            <a:rect l="l" t="t" r="r" b="b"/>
            <a:pathLst>
              <a:path w="5232400" h="274241">
                <a:moveTo>
                  <a:pt x="63500" y="274241"/>
                </a:moveTo>
                <a:lnTo>
                  <a:pt x="63500" y="274241"/>
                </a:lnTo>
                <a:arcTo wR="63500" hR="63500" stAng="5400000" swAng="5400000"/>
                <a:lnTo>
                  <a:pt x="0" y="63500"/>
                </a:lnTo>
                <a:arcTo wR="63500" hR="63500" stAng="10800000" swAng="5400000"/>
                <a:lnTo>
                  <a:pt x="63500" y="0"/>
                </a:lnTo>
                <a:arcTo wR="12700" hR="63500" stAng="16200000" swAng="-5400000"/>
                <a:lnTo>
                  <a:pt x="50800" y="210741"/>
                </a:lnTo>
                <a:arcTo wR="12700" hR="63500" stAng="10800000" swAng="-5400000"/>
                <a:close/>
              </a:path>
            </a:pathLst>
          </a:custGeom>
          <a:solidFill>
            <a:srgbClr val="2F6DB5"/>
          </a:solidFill>
          <a:ln/>
        </p:spPr>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2316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메모리 병목이 심화되고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8"/>
                <a:stretch>
                  <a:fillRect l="-843" t="-8824" b="-8824"/>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Group"/>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9"/>
                <a:stretch>
                  <a:fillRect t="-8824" b="-588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193</a:t>
            </a:r>
            <a:endParaRPr lang="en-US" sz="10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309</a:t>
            </a:r>
            <a:endParaRPr lang="en-US" sz="10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357</a:t>
            </a:r>
            <a:endParaRPr lang="en-US" sz="10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≈401</a:t>
            </a:r>
            <a:endParaRPr lang="en-US" sz="10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4Q25</a:t>
            </a:r>
            <a:endParaRPr lang="en-US" sz="10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1Q26</a:t>
            </a:r>
            <a:endParaRPr lang="en-US" sz="10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2Q26</a:t>
            </a:r>
            <a:endParaRPr lang="en-US" sz="10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3Q26</a:t>
            </a:r>
            <a:endParaRPr lang="en-US" sz="10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4Q26E</a:t>
            </a:r>
            <a:endParaRPr lang="en-US" sz="10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7A3608"/>
                </a:solidFill>
                <a:latin typeface="+mj-ea"/>
                <a:ea typeface="+mj-ea"/>
                <a:cs typeface="Noto Sans KR" pitchFamily="34" charset="-120"/>
              </a:rPr>
              <a:t>증가율은 둔화, 가격은 계속 상승</a:t>
            </a:r>
            <a:endParaRPr lang="en-US" sz="1000" dirty="0">
              <a:latin typeface="+mj-ea"/>
              <a:ea typeface="+mj-ea"/>
            </a:endParaRPr>
          </a:p>
        </p:txBody>
      </p:sp>
      <p:sp>
        <p:nvSpPr>
          <p:cNvPr id="102" name="TextBox 101">
            <a:extLst>
              <a:ext uri="{FF2B5EF4-FFF2-40B4-BE49-F238E27FC236}">
                <a16:creationId xmlns:a16="http://schemas.microsoft.com/office/drawing/2014/main" id="{52C243B0-F61C-4DDC-8C1D-CAA93936C10F}"/>
              </a:ext>
            </a:extLst>
          </p:cNvPr>
          <p:cNvSpPr txBox="1"/>
          <p:nvPr/>
        </p:nvSpPr>
        <p:spPr>
          <a:xfrm>
            <a:off x="4587011" y="2660875"/>
            <a:ext cx="1319658" cy="184666"/>
          </a:xfrm>
          <a:prstGeom prst="rect">
            <a:avLst/>
          </a:prstGeom>
          <a:noFill/>
        </p:spPr>
        <p:txBody>
          <a:bodyPr wrap="square">
            <a:spAutoFit/>
          </a:bodyPr>
          <a:lstStyle/>
          <a:p>
            <a:r>
              <a:rPr lang="ko-KR" altLang="en-US" sz="600" dirty="0">
                <a:solidFill>
                  <a:schemeClr val="bg1">
                    <a:lumMod val="50000"/>
                  </a:schemeClr>
                </a:solidFill>
              </a:rPr>
              <a:t>실제 </a:t>
            </a:r>
            <a:r>
              <a:rPr lang="en-US" altLang="ko-KR" sz="600" dirty="0">
                <a:solidFill>
                  <a:schemeClr val="bg1">
                    <a:lumMod val="50000"/>
                  </a:schemeClr>
                </a:solidFill>
              </a:rPr>
              <a:t>Context </a:t>
            </a:r>
            <a:r>
              <a:rPr lang="ko-KR" altLang="en-US" sz="600" dirty="0">
                <a:solidFill>
                  <a:schemeClr val="bg1">
                    <a:lumMod val="50000"/>
                  </a:schemeClr>
                </a:solidFill>
              </a:rPr>
              <a:t>누적 길이</a:t>
            </a:r>
          </a:p>
        </p:txBody>
      </p:sp>
      <p:sp>
        <p:nvSpPr>
          <p:cNvPr id="167" name="TextBox 166">
            <a:extLst>
              <a:ext uri="{FF2B5EF4-FFF2-40B4-BE49-F238E27FC236}">
                <a16:creationId xmlns:a16="http://schemas.microsoft.com/office/drawing/2014/main" id="{6D44623D-F088-4C5E-92CF-0FEF7D09EFD3}"/>
              </a:ext>
            </a:extLst>
          </p:cNvPr>
          <p:cNvSpPr txBox="1"/>
          <p:nvPr/>
        </p:nvSpPr>
        <p:spPr>
          <a:xfrm>
            <a:off x="294321" y="147178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여러 턴에 걸쳐 </a:t>
            </a:r>
            <a:r>
              <a:rPr lang="en-US" altLang="ko-KR" sz="1200" b="1" dirty="0"/>
              <a:t>Context</a:t>
            </a:r>
            <a:r>
              <a:rPr lang="ko-KR" altLang="en-US" sz="1200" b="1" dirty="0"/>
              <a:t>가 누적되어 데이터 크기 및 </a:t>
            </a:r>
            <a:r>
              <a:rPr lang="en-US" altLang="ko-KR" sz="1200" b="1" dirty="0"/>
              <a:t>Lifetime </a:t>
            </a:r>
            <a:r>
              <a:rPr lang="ko-KR" altLang="en-US" sz="1200" b="1" dirty="0"/>
              <a:t>증가</a:t>
            </a:r>
            <a:endParaRPr lang="en-US" altLang="ko-KR" sz="1200" b="1" dirty="0"/>
          </a:p>
        </p:txBody>
      </p:sp>
      <p:grpSp>
        <p:nvGrpSpPr>
          <p:cNvPr id="168" name="Figure B (graph image + editable text)">
            <a:extLst>
              <a:ext uri="{FF2B5EF4-FFF2-40B4-BE49-F238E27FC236}">
                <a16:creationId xmlns:a16="http://schemas.microsoft.com/office/drawing/2014/main" id="{13104938-26AD-42A4-A38B-D00FDE9FAD18}"/>
              </a:ext>
            </a:extLst>
          </p:cNvPr>
          <p:cNvGrpSpPr/>
          <p:nvPr/>
        </p:nvGrpSpPr>
        <p:grpSpPr>
          <a:xfrm>
            <a:off x="395174" y="4533787"/>
            <a:ext cx="5588935" cy="1827218"/>
            <a:chOff x="709672" y="2956389"/>
            <a:chExt cx="5067766" cy="1825493"/>
          </a:xfrm>
        </p:grpSpPr>
        <p:pic>
          <p:nvPicPr>
            <p:cNvPr id="169" name="Graph B" descr="세션 수명 중 실행 시간 비율과 실행 구간 내 단계별 처리 시간 격차 그래프">
              <a:extLst>
                <a:ext uri="{FF2B5EF4-FFF2-40B4-BE49-F238E27FC236}">
                  <a16:creationId xmlns:a16="http://schemas.microsoft.com/office/drawing/2014/main" id="{0D9BBB85-6982-4E73-8210-230A77DC590F}"/>
                </a:ext>
              </a:extLst>
            </p:cNvPr>
            <p:cNvPicPr>
              <a:picLocks noChangeAspect="1"/>
            </p:cNvPicPr>
            <p:nvPr/>
          </p:nvPicPr>
          <p:blipFill>
            <a:blip r:embed="rId10"/>
            <a:stretch>
              <a:fillRect/>
            </a:stretch>
          </p:blipFill>
          <p:spPr>
            <a:xfrm>
              <a:off x="709672" y="2981974"/>
              <a:ext cx="4850000" cy="1799908"/>
            </a:xfrm>
            <a:prstGeom prst="rect">
              <a:avLst/>
            </a:prstGeom>
          </p:spPr>
        </p:pic>
        <p:sp>
          <p:nvSpPr>
            <p:cNvPr id="170" name="Text B">
              <a:extLst>
                <a:ext uri="{FF2B5EF4-FFF2-40B4-BE49-F238E27FC236}">
                  <a16:creationId xmlns:a16="http://schemas.microsoft.com/office/drawing/2014/main" id="{873F58B0-00F2-41E6-ACF0-B50DAB399C81}"/>
                </a:ext>
              </a:extLst>
            </p:cNvPr>
            <p:cNvSpPr txBox="1"/>
            <p:nvPr/>
          </p:nvSpPr>
          <p:spPr>
            <a:xfrm>
              <a:off x="983592" y="4236131"/>
              <a:ext cx="574102" cy="107315"/>
            </a:xfrm>
            <a:prstGeom prst="rect">
              <a:avLst/>
            </a:prstGeom>
            <a:noFill/>
          </p:spPr>
          <p:txBody>
            <a:bodyPr wrap="none" lIns="0" tIns="0" rIns="0" bIns="0" rtlCol="0" anchor="ctr">
              <a:noAutofit/>
            </a:bodyPr>
            <a:lstStyle/>
            <a:p>
              <a:pPr algn="r">
                <a:lnSpc>
                  <a:spcPct val="100000"/>
                </a:lnSpc>
                <a:spcBef>
                  <a:spcPts val="0"/>
                </a:spcBef>
              </a:pPr>
              <a:r>
                <a:rPr lang="ko-KR" altLang="en-US" sz="700" dirty="0">
                  <a:solidFill>
                    <a:srgbClr val="1F2933"/>
                  </a:solidFill>
                </a:rPr>
                <a:t>검색계획(W2)</a:t>
              </a:r>
            </a:p>
          </p:txBody>
        </p:sp>
        <p:sp>
          <p:nvSpPr>
            <p:cNvPr id="171" name="Text B">
              <a:extLst>
                <a:ext uri="{FF2B5EF4-FFF2-40B4-BE49-F238E27FC236}">
                  <a16:creationId xmlns:a16="http://schemas.microsoft.com/office/drawing/2014/main" id="{4B027726-583F-454A-801E-78BE692F9F16}"/>
                </a:ext>
              </a:extLst>
            </p:cNvPr>
            <p:cNvSpPr txBox="1"/>
            <p:nvPr/>
          </p:nvSpPr>
          <p:spPr>
            <a:xfrm>
              <a:off x="1799953" y="4232004"/>
              <a:ext cx="3191956" cy="115570"/>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1F2933"/>
                  </a:solidFill>
                </a:rPr>
                <a:t>1×</a:t>
              </a:r>
            </a:p>
          </p:txBody>
        </p:sp>
        <p:sp>
          <p:nvSpPr>
            <p:cNvPr id="172" name="Text B">
              <a:extLst>
                <a:ext uri="{FF2B5EF4-FFF2-40B4-BE49-F238E27FC236}">
                  <a16:creationId xmlns:a16="http://schemas.microsoft.com/office/drawing/2014/main" id="{DD6AF70D-E6DE-40AD-A245-6550D3D20C7E}"/>
                </a:ext>
              </a:extLst>
            </p:cNvPr>
            <p:cNvSpPr txBox="1"/>
            <p:nvPr/>
          </p:nvSpPr>
          <p:spPr>
            <a:xfrm>
              <a:off x="931857" y="4493261"/>
              <a:ext cx="631513" cy="107315"/>
            </a:xfrm>
            <a:prstGeom prst="rect">
              <a:avLst/>
            </a:prstGeom>
            <a:noFill/>
          </p:spPr>
          <p:txBody>
            <a:bodyPr wrap="none" lIns="0" tIns="0" rIns="0" bIns="0" rtlCol="0" anchor="ctr">
              <a:noAutofit/>
            </a:bodyPr>
            <a:lstStyle/>
            <a:p>
              <a:pPr algn="r">
                <a:lnSpc>
                  <a:spcPct val="100000"/>
                </a:lnSpc>
                <a:spcBef>
                  <a:spcPts val="0"/>
                </a:spcBef>
              </a:pPr>
              <a:r>
                <a:rPr lang="ko-KR" altLang="en-US" sz="700" dirty="0">
                  <a:solidFill>
                    <a:srgbClr val="1F2933"/>
                  </a:solidFill>
                </a:rPr>
                <a:t>본문작성(W4)</a:t>
              </a:r>
            </a:p>
          </p:txBody>
        </p:sp>
        <p:sp>
          <p:nvSpPr>
            <p:cNvPr id="173" name="Text B">
              <a:extLst>
                <a:ext uri="{FF2B5EF4-FFF2-40B4-BE49-F238E27FC236}">
                  <a16:creationId xmlns:a16="http://schemas.microsoft.com/office/drawing/2014/main" id="{A34BC436-853A-4296-B7C7-E59B56C755FD}"/>
                </a:ext>
              </a:extLst>
            </p:cNvPr>
            <p:cNvSpPr txBox="1"/>
            <p:nvPr/>
          </p:nvSpPr>
          <p:spPr>
            <a:xfrm>
              <a:off x="2585482" y="4489134"/>
              <a:ext cx="3191956" cy="115570"/>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1F2933"/>
                  </a:solidFill>
                </a:rPr>
                <a:t>6.43×</a:t>
              </a:r>
            </a:p>
          </p:txBody>
        </p:sp>
        <p:sp>
          <p:nvSpPr>
            <p:cNvPr id="174" name="Text B">
              <a:extLst>
                <a:ext uri="{FF2B5EF4-FFF2-40B4-BE49-F238E27FC236}">
                  <a16:creationId xmlns:a16="http://schemas.microsoft.com/office/drawing/2014/main" id="{37DF9607-AE8F-4D22-8090-01FB38F6728A}"/>
                </a:ext>
              </a:extLst>
            </p:cNvPr>
            <p:cNvSpPr txBox="1"/>
            <p:nvPr/>
          </p:nvSpPr>
          <p:spPr>
            <a:xfrm>
              <a:off x="842670" y="4000710"/>
              <a:ext cx="3191956" cy="107315"/>
            </a:xfrm>
            <a:prstGeom prst="rect">
              <a:avLst/>
            </a:prstGeom>
            <a:noFill/>
          </p:spPr>
          <p:txBody>
            <a:bodyPr wrap="none" lIns="0" tIns="0" rIns="0" bIns="0" rtlCol="0" anchor="b">
              <a:noAutofit/>
            </a:bodyPr>
            <a:lstStyle/>
            <a:p>
              <a:pPr algn="l">
                <a:lnSpc>
                  <a:spcPct val="100000"/>
                </a:lnSpc>
                <a:spcBef>
                  <a:spcPts val="0"/>
                </a:spcBef>
              </a:pPr>
              <a:r>
                <a:rPr lang="ko-KR" altLang="en-US" sz="700" dirty="0">
                  <a:solidFill>
                    <a:srgbClr val="5F6B7A"/>
                  </a:solidFill>
                </a:rPr>
                <a:t>LLM 단계 · 같은 LLM</a:t>
              </a:r>
            </a:p>
          </p:txBody>
        </p:sp>
        <p:sp>
          <p:nvSpPr>
            <p:cNvPr id="175" name="Text B">
              <a:extLst>
                <a:ext uri="{FF2B5EF4-FFF2-40B4-BE49-F238E27FC236}">
                  <a16:creationId xmlns:a16="http://schemas.microsoft.com/office/drawing/2014/main" id="{6B370966-5545-4883-A10A-6FDAA105C1FF}"/>
                </a:ext>
              </a:extLst>
            </p:cNvPr>
            <p:cNvSpPr txBox="1"/>
            <p:nvPr/>
          </p:nvSpPr>
          <p:spPr>
            <a:xfrm>
              <a:off x="3145107" y="4236131"/>
              <a:ext cx="840542" cy="107315"/>
            </a:xfrm>
            <a:prstGeom prst="rect">
              <a:avLst/>
            </a:prstGeom>
            <a:noFill/>
          </p:spPr>
          <p:txBody>
            <a:bodyPr wrap="none" lIns="0" tIns="0" rIns="0" bIns="0" rtlCol="0" anchor="ctr">
              <a:noAutofit/>
            </a:bodyPr>
            <a:lstStyle/>
            <a:p>
              <a:pPr algn="r">
                <a:lnSpc>
                  <a:spcPct val="100000"/>
                </a:lnSpc>
                <a:spcBef>
                  <a:spcPts val="0"/>
                </a:spcBef>
              </a:pPr>
              <a:r>
                <a:rPr lang="ko-KR" altLang="en-US" sz="700" dirty="0">
                  <a:solidFill>
                    <a:srgbClr val="1F2933"/>
                  </a:solidFill>
                </a:rPr>
                <a:t>질의 임베딩</a:t>
              </a:r>
            </a:p>
          </p:txBody>
        </p:sp>
        <p:sp>
          <p:nvSpPr>
            <p:cNvPr id="176" name="Text B">
              <a:extLst>
                <a:ext uri="{FF2B5EF4-FFF2-40B4-BE49-F238E27FC236}">
                  <a16:creationId xmlns:a16="http://schemas.microsoft.com/office/drawing/2014/main" id="{4E526046-8477-41F7-A9CD-BF7C28AF247C}"/>
                </a:ext>
              </a:extLst>
            </p:cNvPr>
            <p:cNvSpPr txBox="1"/>
            <p:nvPr/>
          </p:nvSpPr>
          <p:spPr>
            <a:xfrm>
              <a:off x="4097072" y="4232004"/>
              <a:ext cx="431331" cy="115570"/>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1F2933"/>
                  </a:solidFill>
                </a:rPr>
                <a:t>1×</a:t>
              </a:r>
            </a:p>
          </p:txBody>
        </p:sp>
        <p:sp>
          <p:nvSpPr>
            <p:cNvPr id="177" name="Text B">
              <a:extLst>
                <a:ext uri="{FF2B5EF4-FFF2-40B4-BE49-F238E27FC236}">
                  <a16:creationId xmlns:a16="http://schemas.microsoft.com/office/drawing/2014/main" id="{7DEE34D3-5C78-457C-AF62-FFD3EA1FA9E5}"/>
                </a:ext>
              </a:extLst>
            </p:cNvPr>
            <p:cNvSpPr txBox="1"/>
            <p:nvPr/>
          </p:nvSpPr>
          <p:spPr>
            <a:xfrm>
              <a:off x="2328371" y="4493261"/>
              <a:ext cx="1637977" cy="107315"/>
            </a:xfrm>
            <a:prstGeom prst="rect">
              <a:avLst/>
            </a:prstGeom>
            <a:noFill/>
          </p:spPr>
          <p:txBody>
            <a:bodyPr wrap="none" lIns="0" tIns="0" rIns="0" bIns="0" rtlCol="0" anchor="ctr">
              <a:noAutofit/>
            </a:bodyPr>
            <a:lstStyle/>
            <a:p>
              <a:pPr algn="r">
                <a:lnSpc>
                  <a:spcPct val="100000"/>
                </a:lnSpc>
                <a:spcBef>
                  <a:spcPts val="0"/>
                </a:spcBef>
              </a:pPr>
              <a:r>
                <a:rPr lang="ko-KR" altLang="en-US" sz="700" dirty="0">
                  <a:solidFill>
                    <a:srgbClr val="1F2933"/>
                  </a:solidFill>
                </a:rPr>
                <a:t>문서 임베딩</a:t>
              </a:r>
            </a:p>
          </p:txBody>
        </p:sp>
        <p:sp>
          <p:nvSpPr>
            <p:cNvPr id="178" name="Text B">
              <a:extLst>
                <a:ext uri="{FF2B5EF4-FFF2-40B4-BE49-F238E27FC236}">
                  <a16:creationId xmlns:a16="http://schemas.microsoft.com/office/drawing/2014/main" id="{91134BAD-852C-40BD-BBF5-342DFEB69731}"/>
                </a:ext>
              </a:extLst>
            </p:cNvPr>
            <p:cNvSpPr txBox="1"/>
            <p:nvPr/>
          </p:nvSpPr>
          <p:spPr>
            <a:xfrm>
              <a:off x="5136192" y="4489134"/>
              <a:ext cx="431331" cy="115570"/>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1F2933"/>
                  </a:solidFill>
                </a:rPr>
                <a:t>32×</a:t>
              </a:r>
            </a:p>
          </p:txBody>
        </p:sp>
        <p:sp>
          <p:nvSpPr>
            <p:cNvPr id="179" name="Text B">
              <a:extLst>
                <a:ext uri="{FF2B5EF4-FFF2-40B4-BE49-F238E27FC236}">
                  <a16:creationId xmlns:a16="http://schemas.microsoft.com/office/drawing/2014/main" id="{EE053298-1EBE-4A2A-90B0-55A917E1509B}"/>
                </a:ext>
              </a:extLst>
            </p:cNvPr>
            <p:cNvSpPr txBox="1"/>
            <p:nvPr/>
          </p:nvSpPr>
          <p:spPr>
            <a:xfrm>
              <a:off x="3069416" y="4000710"/>
              <a:ext cx="1118761" cy="107315"/>
            </a:xfrm>
            <a:prstGeom prst="rect">
              <a:avLst/>
            </a:prstGeom>
            <a:noFill/>
          </p:spPr>
          <p:txBody>
            <a:bodyPr wrap="none" lIns="0" tIns="0" rIns="0" bIns="0" rtlCol="0" anchor="b">
              <a:noAutofit/>
            </a:bodyPr>
            <a:lstStyle/>
            <a:p>
              <a:pPr algn="l">
                <a:lnSpc>
                  <a:spcPct val="100000"/>
                </a:lnSpc>
                <a:spcBef>
                  <a:spcPts val="0"/>
                </a:spcBef>
              </a:pPr>
              <a:r>
                <a:rPr lang="ko-KR" altLang="en-US" sz="700" dirty="0">
                  <a:solidFill>
                    <a:srgbClr val="5F6B7A"/>
                  </a:solidFill>
                </a:rPr>
                <a:t>임베딩 · 같은 임베딩 모델</a:t>
              </a:r>
            </a:p>
          </p:txBody>
        </p:sp>
        <mc:AlternateContent xmlns:mc="http://schemas.openxmlformats.org/markup-compatibility/2006" xmlns:a14="http://schemas.microsoft.com/office/drawing/2010/main">
          <mc:Choice Requires="a14">
            <p:sp>
              <p:nvSpPr>
                <p:cNvPr id="180" name="Text B">
                  <a:extLst>
                    <a:ext uri="{FF2B5EF4-FFF2-40B4-BE49-F238E27FC236}">
                      <a16:creationId xmlns:a16="http://schemas.microsoft.com/office/drawing/2014/main" id="{A110FF04-E8D4-4EF3-BA0E-B1EE10FD5522}"/>
                    </a:ext>
                  </a:extLst>
                </p:cNvPr>
                <p:cNvSpPr txBox="1"/>
                <p:nvPr/>
              </p:nvSpPr>
              <p:spPr>
                <a:xfrm>
                  <a:off x="1371015" y="2956389"/>
                  <a:ext cx="3545436" cy="146764"/>
                </a:xfrm>
                <a:prstGeom prst="rect">
                  <a:avLst/>
                </a:prstGeom>
                <a:solidFill>
                  <a:schemeClr val="accent2">
                    <a:lumMod val="20000"/>
                    <a:lumOff val="80000"/>
                  </a:schemeClr>
                </a:solidFill>
              </p:spPr>
              <p:txBody>
                <a:bodyPr wrap="none" lIns="0" tIns="0" rIns="0" bIns="0" rtlCol="0" anchor="t">
                  <a:noAutofit/>
                </a:bodyPr>
                <a:lstStyle/>
                <a:p>
                  <a:pPr algn="ctr">
                    <a:lnSpc>
                      <a:spcPct val="100000"/>
                    </a:lnSpc>
                    <a:spcBef>
                      <a:spcPts val="0"/>
                    </a:spcBef>
                  </a:pPr>
                  <a:r>
                    <a:rPr lang="ko-KR" altLang="en-US" sz="1000" b="1" dirty="0">
                      <a:solidFill>
                        <a:srgbClr val="1F2933"/>
                      </a:solidFill>
                    </a:rPr>
                    <a:t>세션 수명 중 실행 비율 → </a:t>
                  </a:r>
                  <a14:m>
                    <m:oMath xmlns:m="http://schemas.openxmlformats.org/officeDocument/2006/math">
                      <m:sSup>
                        <m:sSupPr>
                          <m:ctrlPr>
                            <a:rPr lang="en-US" altLang="ko-KR" sz="1000" b="1" i="1" smtClean="0">
                              <a:solidFill>
                                <a:srgbClr val="1F2933"/>
                              </a:solidFill>
                              <a:latin typeface="Cambria Math" panose="02040503050406030204" pitchFamily="18" charset="0"/>
                            </a:rPr>
                          </m:ctrlPr>
                        </m:sSupPr>
                        <m:e>
                          <m:r>
                            <m:rPr>
                              <m:nor/>
                            </m:rPr>
                            <a:rPr lang="ko-KR" altLang="en-US" sz="1000" b="1" dirty="0">
                              <a:solidFill>
                                <a:srgbClr val="1F2933"/>
                              </a:solidFill>
                            </a:rPr>
                            <m:t>실행 구간 내 단계별 처리 시간 격차 </m:t>
                          </m:r>
                        </m:e>
                        <m:sup>
                          <m:r>
                            <a:rPr lang="en-US" altLang="ko-KR" sz="1000" b="1" i="1" smtClean="0">
                              <a:solidFill>
                                <a:srgbClr val="1F2933"/>
                              </a:solidFill>
                              <a:latin typeface="Cambria Math" panose="02040503050406030204" pitchFamily="18" charset="0"/>
                            </a:rPr>
                            <m:t>[</m:t>
                          </m:r>
                          <m:r>
                            <a:rPr lang="en-US" altLang="ko-KR" sz="1000" b="1" i="1" smtClean="0">
                              <a:solidFill>
                                <a:srgbClr val="1F2933"/>
                              </a:solidFill>
                              <a:latin typeface="Cambria Math" panose="02040503050406030204" pitchFamily="18" charset="0"/>
                            </a:rPr>
                            <m:t>𝟐</m:t>
                          </m:r>
                          <m:r>
                            <a:rPr lang="en-US" altLang="ko-KR" sz="1000" b="1" i="1" smtClean="0">
                              <a:solidFill>
                                <a:srgbClr val="1F2933"/>
                              </a:solidFill>
                              <a:latin typeface="Cambria Math" panose="02040503050406030204" pitchFamily="18" charset="0"/>
                            </a:rPr>
                            <m:t>]</m:t>
                          </m:r>
                        </m:sup>
                      </m:sSup>
                    </m:oMath>
                  </a14:m>
                  <a:r>
                    <a:rPr lang="ko-KR" altLang="en-US" sz="1000" b="1" dirty="0">
                      <a:solidFill>
                        <a:srgbClr val="1F2933"/>
                      </a:solidFill>
                    </a:rPr>
                    <a:t> </a:t>
                  </a:r>
                </a:p>
              </p:txBody>
            </p:sp>
          </mc:Choice>
          <mc:Fallback xmlns="">
            <p:sp>
              <p:nvSpPr>
                <p:cNvPr id="180" name="Text B">
                  <a:extLst>
                    <a:ext uri="{FF2B5EF4-FFF2-40B4-BE49-F238E27FC236}">
                      <a16:creationId xmlns:a16="http://schemas.microsoft.com/office/drawing/2014/main" id="{A110FF04-E8D4-4EF3-BA0E-B1EE10FD5522}"/>
                    </a:ext>
                  </a:extLst>
                </p:cNvPr>
                <p:cNvSpPr txBox="1">
                  <a:spLocks noRot="1" noChangeAspect="1" noMove="1" noResize="1" noEditPoints="1" noAdjustHandles="1" noChangeArrowheads="1" noChangeShapeType="1" noTextEdit="1"/>
                </p:cNvSpPr>
                <p:nvPr/>
              </p:nvSpPr>
              <p:spPr>
                <a:xfrm>
                  <a:off x="1371015" y="2956389"/>
                  <a:ext cx="3545436" cy="146764"/>
                </a:xfrm>
                <a:prstGeom prst="rect">
                  <a:avLst/>
                </a:prstGeom>
                <a:blipFill>
                  <a:blip r:embed="rId11"/>
                  <a:stretch>
                    <a:fillRect l="-623" t="-29167" b="-58333"/>
                  </a:stretch>
                </a:blipFill>
              </p:spPr>
              <p:txBody>
                <a:bodyPr/>
                <a:lstStyle/>
                <a:p>
                  <a:r>
                    <a:rPr lang="ko-KR" altLang="en-US">
                      <a:noFill/>
                    </a:rPr>
                    <a:t> </a:t>
                  </a:r>
                </a:p>
              </p:txBody>
            </p:sp>
          </mc:Fallback>
        </mc:AlternateContent>
        <p:sp>
          <p:nvSpPr>
            <p:cNvPr id="181" name="Text B">
              <a:extLst>
                <a:ext uri="{FF2B5EF4-FFF2-40B4-BE49-F238E27FC236}">
                  <a16:creationId xmlns:a16="http://schemas.microsoft.com/office/drawing/2014/main" id="{7E0D9DD0-4368-43C3-BF53-A57CAB7C78A6}"/>
                </a:ext>
              </a:extLst>
            </p:cNvPr>
            <p:cNvSpPr txBox="1"/>
            <p:nvPr/>
          </p:nvSpPr>
          <p:spPr>
            <a:xfrm>
              <a:off x="2296783" y="3148910"/>
              <a:ext cx="3191956" cy="99060"/>
            </a:xfrm>
            <a:prstGeom prst="rect">
              <a:avLst/>
            </a:prstGeom>
            <a:noFill/>
          </p:spPr>
          <p:txBody>
            <a:bodyPr wrap="none" lIns="0" tIns="0" rIns="0" bIns="0" rtlCol="0" anchor="b">
              <a:noAutofit/>
            </a:bodyPr>
            <a:lstStyle/>
            <a:p>
              <a:pPr algn="r">
                <a:lnSpc>
                  <a:spcPct val="100000"/>
                </a:lnSpc>
                <a:spcBef>
                  <a:spcPts val="0"/>
                </a:spcBef>
              </a:pPr>
              <a:r>
                <a:rPr lang="ko-KR" altLang="en-US" sz="600" dirty="0">
                  <a:solidFill>
                    <a:srgbClr val="5F6B7A"/>
                  </a:solidFill>
                </a:rPr>
                <a:t>코딩 에이전트 운영 세션 35,037개 · 세션 수명 대비 실행 시간 비율의 중앙값</a:t>
              </a:r>
            </a:p>
          </p:txBody>
        </p:sp>
        <p:sp>
          <p:nvSpPr>
            <p:cNvPr id="182" name="Text B">
              <a:extLst>
                <a:ext uri="{FF2B5EF4-FFF2-40B4-BE49-F238E27FC236}">
                  <a16:creationId xmlns:a16="http://schemas.microsoft.com/office/drawing/2014/main" id="{DE6464A1-8CF3-4E6B-BECD-1A57019B0D87}"/>
                </a:ext>
              </a:extLst>
            </p:cNvPr>
            <p:cNvSpPr txBox="1"/>
            <p:nvPr/>
          </p:nvSpPr>
          <p:spPr>
            <a:xfrm>
              <a:off x="904087" y="3340916"/>
              <a:ext cx="694664" cy="115570"/>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FFFFFF"/>
                  </a:solidFill>
                </a:rPr>
                <a:t>실행 20%</a:t>
              </a:r>
            </a:p>
          </p:txBody>
        </p:sp>
        <p:sp>
          <p:nvSpPr>
            <p:cNvPr id="183" name="Text B">
              <a:extLst>
                <a:ext uri="{FF2B5EF4-FFF2-40B4-BE49-F238E27FC236}">
                  <a16:creationId xmlns:a16="http://schemas.microsoft.com/office/drawing/2014/main" id="{E1414910-B8FA-437E-9A9F-7296D8F2E109}"/>
                </a:ext>
              </a:extLst>
            </p:cNvPr>
            <p:cNvSpPr txBox="1"/>
            <p:nvPr/>
          </p:nvSpPr>
          <p:spPr>
            <a:xfrm>
              <a:off x="2009507" y="3340916"/>
              <a:ext cx="3191956" cy="115570"/>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1F2933"/>
                  </a:solidFill>
                </a:rPr>
                <a:t>실행 외 시간 80% </a:t>
              </a:r>
              <a:r>
                <a:rPr lang="en-US" altLang="ko-KR" sz="800" dirty="0">
                  <a:solidFill>
                    <a:srgbClr val="1F2933"/>
                  </a:solidFill>
                </a:rPr>
                <a:t>(</a:t>
              </a:r>
              <a:r>
                <a:rPr lang="ko-KR" altLang="en-US" sz="800" dirty="0">
                  <a:solidFill>
                    <a:srgbClr val="1F2933"/>
                  </a:solidFill>
                </a:rPr>
                <a:t>대기 간격 주로 1–10분</a:t>
              </a:r>
              <a:r>
                <a:rPr lang="en-US" altLang="ko-KR" sz="800" dirty="0">
                  <a:solidFill>
                    <a:srgbClr val="1F2933"/>
                  </a:solidFill>
                </a:rPr>
                <a:t>)</a:t>
              </a:r>
              <a:endParaRPr lang="ko-KR" altLang="en-US" sz="800" dirty="0">
                <a:solidFill>
                  <a:srgbClr val="1F2933"/>
                </a:solidFill>
              </a:endParaRPr>
            </a:p>
          </p:txBody>
        </p:sp>
        <p:sp>
          <p:nvSpPr>
            <p:cNvPr id="184" name="Text B">
              <a:extLst>
                <a:ext uri="{FF2B5EF4-FFF2-40B4-BE49-F238E27FC236}">
                  <a16:creationId xmlns:a16="http://schemas.microsoft.com/office/drawing/2014/main" id="{CD522023-92EA-4EA0-9BB6-42B4DD620510}"/>
                </a:ext>
              </a:extLst>
            </p:cNvPr>
            <p:cNvSpPr txBox="1"/>
            <p:nvPr/>
          </p:nvSpPr>
          <p:spPr>
            <a:xfrm>
              <a:off x="859060" y="3722863"/>
              <a:ext cx="3191956" cy="107315"/>
            </a:xfrm>
            <a:prstGeom prst="rect">
              <a:avLst/>
            </a:prstGeom>
            <a:noFill/>
          </p:spPr>
          <p:txBody>
            <a:bodyPr wrap="none" lIns="0" tIns="0" rIns="0" bIns="0" rtlCol="0" anchor="t">
              <a:noAutofit/>
            </a:bodyPr>
            <a:lstStyle/>
            <a:p>
              <a:pPr algn="l">
                <a:lnSpc>
                  <a:spcPct val="100000"/>
                </a:lnSpc>
                <a:spcBef>
                  <a:spcPts val="0"/>
                </a:spcBef>
              </a:pPr>
              <a:r>
                <a:rPr lang="ko-KR" altLang="en-US" sz="800" dirty="0">
                  <a:solidFill>
                    <a:srgbClr val="1F2933"/>
                  </a:solidFill>
                </a:rPr>
                <a:t>같은 모델·컴포넌트 안에서도 단계별 격차 (DeepResearch, 각 패널 기준 = 1×)</a:t>
              </a:r>
            </a:p>
          </p:txBody>
        </p:sp>
      </p:grpSp>
      <p:grpSp>
        <p:nvGrpSpPr>
          <p:cNvPr id="185" name="그룹 184">
            <a:extLst>
              <a:ext uri="{FF2B5EF4-FFF2-40B4-BE49-F238E27FC236}">
                <a16:creationId xmlns:a16="http://schemas.microsoft.com/office/drawing/2014/main" id="{1F771957-8FF3-4E94-8822-8EA7D628409E}"/>
              </a:ext>
            </a:extLst>
          </p:cNvPr>
          <p:cNvGrpSpPr/>
          <p:nvPr/>
        </p:nvGrpSpPr>
        <p:grpSpPr>
          <a:xfrm>
            <a:off x="332200" y="1951259"/>
            <a:ext cx="5528599" cy="2033474"/>
            <a:chOff x="332200" y="2283646"/>
            <a:chExt cx="5528599" cy="2033474"/>
          </a:xfrm>
        </p:grpSpPr>
        <p:grpSp>
          <p:nvGrpSpPr>
            <p:cNvPr id="186" name="Figure A (graph image + editable text)">
              <a:extLst>
                <a:ext uri="{FF2B5EF4-FFF2-40B4-BE49-F238E27FC236}">
                  <a16:creationId xmlns:a16="http://schemas.microsoft.com/office/drawing/2014/main" id="{D5940657-C807-48F3-BCA3-A0142D576418}"/>
                </a:ext>
              </a:extLst>
            </p:cNvPr>
            <p:cNvGrpSpPr/>
            <p:nvPr/>
          </p:nvGrpSpPr>
          <p:grpSpPr>
            <a:xfrm>
              <a:off x="332200" y="2283646"/>
              <a:ext cx="5528599" cy="2033474"/>
              <a:chOff x="709672" y="956776"/>
              <a:chExt cx="4850000" cy="2005198"/>
            </a:xfrm>
          </p:grpSpPr>
          <p:pic>
            <p:nvPicPr>
              <p:cNvPr id="188" name="Graph A" descr="누적 문맥에 따른 Llama-3.1-70B KV cache 증가와 HBM 용량 비교 그래프">
                <a:extLst>
                  <a:ext uri="{FF2B5EF4-FFF2-40B4-BE49-F238E27FC236}">
                    <a16:creationId xmlns:a16="http://schemas.microsoft.com/office/drawing/2014/main" id="{9E28E7FE-D0FA-4575-A29B-76BA11589D63}"/>
                  </a:ext>
                </a:extLst>
              </p:cNvPr>
              <p:cNvPicPr>
                <a:picLocks noChangeAspect="1"/>
              </p:cNvPicPr>
              <p:nvPr/>
            </p:nvPicPr>
            <p:blipFill>
              <a:blip r:embed="rId12"/>
              <a:stretch>
                <a:fillRect/>
              </a:stretch>
            </p:blipFill>
            <p:spPr>
              <a:xfrm>
                <a:off x="709672" y="1100000"/>
                <a:ext cx="4850000" cy="1861974"/>
              </a:xfrm>
              <a:prstGeom prst="rect">
                <a:avLst/>
              </a:prstGeom>
            </p:spPr>
          </p:pic>
          <p:sp>
            <p:nvSpPr>
              <p:cNvPr id="189" name="Text A">
                <a:extLst>
                  <a:ext uri="{FF2B5EF4-FFF2-40B4-BE49-F238E27FC236}">
                    <a16:creationId xmlns:a16="http://schemas.microsoft.com/office/drawing/2014/main" id="{EF1ADE28-9406-433B-90FC-6BC4B59B3086}"/>
                  </a:ext>
                </a:extLst>
              </p:cNvPr>
              <p:cNvSpPr txBox="1"/>
              <p:nvPr/>
            </p:nvSpPr>
            <p:spPr>
              <a:xfrm>
                <a:off x="1290946" y="956776"/>
                <a:ext cx="3679840" cy="158266"/>
              </a:xfrm>
              <a:prstGeom prst="rect">
                <a:avLst/>
              </a:prstGeom>
              <a:solidFill>
                <a:schemeClr val="accent2">
                  <a:lumMod val="20000"/>
                  <a:lumOff val="80000"/>
                </a:schemeClr>
              </a:solidFill>
            </p:spPr>
            <p:txBody>
              <a:bodyPr wrap="none" lIns="0" tIns="0" rIns="0" bIns="0" rtlCol="0" anchor="t">
                <a:noAutofit/>
              </a:bodyPr>
              <a:lstStyle/>
              <a:p>
                <a:pPr algn="ctr">
                  <a:lnSpc>
                    <a:spcPct val="100000"/>
                  </a:lnSpc>
                  <a:spcBef>
                    <a:spcPts val="0"/>
                  </a:spcBef>
                </a:pPr>
                <a:r>
                  <a:rPr lang="ko-KR" altLang="en-US" sz="1000" b="1" dirty="0">
                    <a:solidFill>
                      <a:srgbClr val="1F2933"/>
                    </a:solidFill>
                  </a:rPr>
                  <a:t>문맥 누적 → 데이터</a:t>
                </a:r>
                <a:r>
                  <a:rPr lang="en-US" altLang="ko-KR" sz="1000" b="1" dirty="0">
                    <a:solidFill>
                      <a:srgbClr val="1F2933"/>
                    </a:solidFill>
                  </a:rPr>
                  <a:t>(</a:t>
                </a:r>
                <a:r>
                  <a:rPr lang="ko-KR" altLang="en-US" sz="1000" b="1" dirty="0">
                    <a:solidFill>
                      <a:srgbClr val="1F2933"/>
                    </a:solidFill>
                  </a:rPr>
                  <a:t>KV 캐시</a:t>
                </a:r>
                <a:r>
                  <a:rPr lang="en-US" altLang="ko-KR" sz="1000" b="1" dirty="0">
                    <a:solidFill>
                      <a:srgbClr val="1F2933"/>
                    </a:solidFill>
                  </a:rPr>
                  <a:t>)</a:t>
                </a:r>
                <a:r>
                  <a:rPr lang="ko-KR" altLang="en-US" sz="1000" b="1" dirty="0">
                    <a:solidFill>
                      <a:srgbClr val="1F2933"/>
                    </a:solidFill>
                  </a:rPr>
                  <a:t>증가 → HBM 초과 (Llama-3.1-70B, BF16)</a:t>
                </a:r>
              </a:p>
            </p:txBody>
          </p:sp>
          <p:sp>
            <p:nvSpPr>
              <p:cNvPr id="190" name="Text A">
                <a:extLst>
                  <a:ext uri="{FF2B5EF4-FFF2-40B4-BE49-F238E27FC236}">
                    <a16:creationId xmlns:a16="http://schemas.microsoft.com/office/drawing/2014/main" id="{F7B98B0B-4623-4215-B486-C141CB0F4F10}"/>
                  </a:ext>
                </a:extLst>
              </p:cNvPr>
              <p:cNvSpPr txBox="1"/>
              <p:nvPr/>
            </p:nvSpPr>
            <p:spPr>
              <a:xfrm>
                <a:off x="1294863" y="1267700"/>
                <a:ext cx="3191956" cy="99060"/>
              </a:xfrm>
              <a:prstGeom prst="rect">
                <a:avLst/>
              </a:prstGeom>
              <a:noFill/>
            </p:spPr>
            <p:txBody>
              <a:bodyPr wrap="none" lIns="0" tIns="0" rIns="0" bIns="0" rtlCol="0" anchor="ctr">
                <a:noAutofit/>
              </a:bodyPr>
              <a:lstStyle/>
              <a:p>
                <a:pPr algn="l">
                  <a:lnSpc>
                    <a:spcPct val="100000"/>
                  </a:lnSpc>
                  <a:spcBef>
                    <a:spcPts val="0"/>
                  </a:spcBef>
                </a:pPr>
                <a:r>
                  <a:rPr lang="ko-KR" altLang="en-US" sz="700" dirty="0">
                    <a:solidFill>
                      <a:srgbClr val="5F6B7A"/>
                    </a:solidFill>
                  </a:rPr>
                  <a:t>[1] 실측 앵커 (SWE-bench Pro 평균 누적 문맥 69–80K)</a:t>
                </a:r>
              </a:p>
            </p:txBody>
          </p:sp>
          <p:sp>
            <p:nvSpPr>
              <p:cNvPr id="191" name="Text A">
                <a:extLst>
                  <a:ext uri="{FF2B5EF4-FFF2-40B4-BE49-F238E27FC236}">
                    <a16:creationId xmlns:a16="http://schemas.microsoft.com/office/drawing/2014/main" id="{9FD7AB91-3161-4313-9460-7727929DB319}"/>
                  </a:ext>
                </a:extLst>
              </p:cNvPr>
              <p:cNvSpPr txBox="1"/>
              <p:nvPr/>
            </p:nvSpPr>
            <p:spPr>
              <a:xfrm>
                <a:off x="3839562" y="1267701"/>
                <a:ext cx="1306641" cy="79148"/>
              </a:xfrm>
              <a:prstGeom prst="rect">
                <a:avLst/>
              </a:prstGeom>
              <a:noFill/>
            </p:spPr>
            <p:txBody>
              <a:bodyPr wrap="none" lIns="0" tIns="0" rIns="0" bIns="0" rtlCol="0" anchor="ctr">
                <a:noAutofit/>
              </a:bodyPr>
              <a:lstStyle/>
              <a:p>
                <a:pPr algn="l">
                  <a:lnSpc>
                    <a:spcPct val="100000"/>
                  </a:lnSpc>
                  <a:spcBef>
                    <a:spcPts val="0"/>
                  </a:spcBef>
                </a:pPr>
                <a:r>
                  <a:rPr lang="ko-KR" altLang="en-US" sz="700" dirty="0">
                    <a:solidFill>
                      <a:srgbClr val="5F6B7A"/>
                    </a:solidFill>
                  </a:rPr>
                  <a:t>가정: [3] 토큰 사용량 배수 적용</a:t>
                </a:r>
              </a:p>
            </p:txBody>
          </p:sp>
          <p:sp>
            <p:nvSpPr>
              <p:cNvPr id="192" name="Text A">
                <a:extLst>
                  <a:ext uri="{FF2B5EF4-FFF2-40B4-BE49-F238E27FC236}">
                    <a16:creationId xmlns:a16="http://schemas.microsoft.com/office/drawing/2014/main" id="{8C83B945-C9E9-43B7-BA8D-FB67F8B5CCE1}"/>
                  </a:ext>
                </a:extLst>
              </p:cNvPr>
              <p:cNvSpPr txBox="1"/>
              <p:nvPr/>
            </p:nvSpPr>
            <p:spPr>
              <a:xfrm>
                <a:off x="1232798" y="1434268"/>
                <a:ext cx="3191956" cy="107315"/>
              </a:xfrm>
              <a:prstGeom prst="rect">
                <a:avLst/>
              </a:prstGeom>
              <a:noFill/>
            </p:spPr>
            <p:txBody>
              <a:bodyPr wrap="none" lIns="0" tIns="0" rIns="0" bIns="0" rtlCol="0" anchor="t">
                <a:noAutofit/>
              </a:bodyPr>
              <a:lstStyle/>
              <a:p>
                <a:pPr algn="l">
                  <a:lnSpc>
                    <a:spcPct val="100000"/>
                  </a:lnSpc>
                  <a:spcBef>
                    <a:spcPts val="0"/>
                  </a:spcBef>
                </a:pPr>
                <a:r>
                  <a:rPr lang="ko-KR" altLang="en-US" sz="700" dirty="0">
                    <a:solidFill>
                      <a:srgbClr val="B42318"/>
                    </a:solidFill>
                  </a:rPr>
                  <a:t>B200 · MI300X HBM 192 GB</a:t>
                </a:r>
              </a:p>
            </p:txBody>
          </p:sp>
          <p:sp>
            <p:nvSpPr>
              <p:cNvPr id="193" name="Text A">
                <a:extLst>
                  <a:ext uri="{FF2B5EF4-FFF2-40B4-BE49-F238E27FC236}">
                    <a16:creationId xmlns:a16="http://schemas.microsoft.com/office/drawing/2014/main" id="{314D1D6E-3BC1-4A5E-805F-5CAC91148F6E}"/>
                  </a:ext>
                </a:extLst>
              </p:cNvPr>
              <p:cNvSpPr txBox="1"/>
              <p:nvPr/>
            </p:nvSpPr>
            <p:spPr>
              <a:xfrm>
                <a:off x="2247130" y="1984851"/>
                <a:ext cx="3191956" cy="107315"/>
              </a:xfrm>
              <a:prstGeom prst="rect">
                <a:avLst/>
              </a:prstGeom>
              <a:noFill/>
            </p:spPr>
            <p:txBody>
              <a:bodyPr wrap="none" lIns="0" tIns="0" rIns="0" bIns="0" rtlCol="0" anchor="b">
                <a:noAutofit/>
              </a:bodyPr>
              <a:lstStyle/>
              <a:p>
                <a:pPr algn="r">
                  <a:lnSpc>
                    <a:spcPct val="100000"/>
                  </a:lnSpc>
                  <a:spcBef>
                    <a:spcPts val="0"/>
                  </a:spcBef>
                </a:pPr>
                <a:r>
                  <a:rPr lang="ko-KR" altLang="en-US" sz="700" dirty="0">
                    <a:solidFill>
                      <a:srgbClr val="B42318"/>
                    </a:solidFill>
                  </a:rPr>
                  <a:t>H100 HBM 80 GB</a:t>
                </a:r>
              </a:p>
            </p:txBody>
          </p:sp>
          <p:sp>
            <p:nvSpPr>
              <p:cNvPr id="194" name="Text A">
                <a:extLst>
                  <a:ext uri="{FF2B5EF4-FFF2-40B4-BE49-F238E27FC236}">
                    <a16:creationId xmlns:a16="http://schemas.microsoft.com/office/drawing/2014/main" id="{114C35BF-E9B5-4AD2-98A3-EF7078F3C469}"/>
                  </a:ext>
                </a:extLst>
              </p:cNvPr>
              <p:cNvSpPr txBox="1"/>
              <p:nvPr/>
            </p:nvSpPr>
            <p:spPr>
              <a:xfrm>
                <a:off x="3000011" y="2197678"/>
                <a:ext cx="2251530" cy="214630"/>
              </a:xfrm>
              <a:prstGeom prst="rect">
                <a:avLst/>
              </a:prstGeom>
              <a:noFill/>
            </p:spPr>
            <p:txBody>
              <a:bodyPr wrap="none" lIns="0" tIns="0" rIns="0" bIns="0" rtlCol="0" anchor="t">
                <a:noAutofit/>
              </a:bodyPr>
              <a:lstStyle/>
              <a:p>
                <a:pPr algn="l">
                  <a:lnSpc>
                    <a:spcPct val="100000"/>
                  </a:lnSpc>
                  <a:spcBef>
                    <a:spcPts val="0"/>
                  </a:spcBef>
                </a:pPr>
                <a:r>
                  <a:rPr lang="ko-KR" altLang="en-US" sz="700" dirty="0">
                    <a:solidFill>
                      <a:srgbClr val="B42318"/>
                    </a:solidFill>
                  </a:rPr>
                  <a:t>244K 토큰에서</a:t>
                </a:r>
              </a:p>
              <a:p>
                <a:pPr algn="l">
                  <a:lnSpc>
                    <a:spcPct val="100000"/>
                  </a:lnSpc>
                  <a:spcBef>
                    <a:spcPts val="0"/>
                  </a:spcBef>
                </a:pPr>
                <a:r>
                  <a:rPr lang="ko-KR" altLang="en-US" sz="700" dirty="0">
                    <a:solidFill>
                      <a:srgbClr val="B42318"/>
                    </a:solidFill>
                  </a:rPr>
                  <a:t>H100 80 GB 초과</a:t>
                </a:r>
              </a:p>
            </p:txBody>
          </p:sp>
          <p:sp>
            <p:nvSpPr>
              <p:cNvPr id="195" name="Text A">
                <a:extLst>
                  <a:ext uri="{FF2B5EF4-FFF2-40B4-BE49-F238E27FC236}">
                    <a16:creationId xmlns:a16="http://schemas.microsoft.com/office/drawing/2014/main" id="{44FEDBB6-E12E-413F-B37E-EA7BF6CE3D4E}"/>
                  </a:ext>
                </a:extLst>
              </p:cNvPr>
              <p:cNvSpPr txBox="1"/>
              <p:nvPr/>
            </p:nvSpPr>
            <p:spPr>
              <a:xfrm>
                <a:off x="1225704" y="2144419"/>
                <a:ext cx="3191956"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채팅  1×</a:t>
                </a:r>
              </a:p>
              <a:p>
                <a:pPr algn="l">
                  <a:lnSpc>
                    <a:spcPct val="100000"/>
                  </a:lnSpc>
                  <a:spcBef>
                    <a:spcPts val="0"/>
                  </a:spcBef>
                </a:pPr>
                <a:r>
                  <a:rPr lang="ko-KR" altLang="en-US" sz="700" dirty="0">
                    <a:solidFill>
                      <a:srgbClr val="1F2933"/>
                    </a:solidFill>
                  </a:rPr>
                  <a:t>≈19K · ≈6 GB</a:t>
                </a:r>
              </a:p>
            </p:txBody>
          </p:sp>
          <p:sp>
            <p:nvSpPr>
              <p:cNvPr id="196" name="Text A">
                <a:extLst>
                  <a:ext uri="{FF2B5EF4-FFF2-40B4-BE49-F238E27FC236}">
                    <a16:creationId xmlns:a16="http://schemas.microsoft.com/office/drawing/2014/main" id="{6E53047B-F5DC-4550-96C6-E9D1996E0484}"/>
                  </a:ext>
                </a:extLst>
              </p:cNvPr>
              <p:cNvSpPr txBox="1"/>
              <p:nvPr/>
            </p:nvSpPr>
            <p:spPr>
              <a:xfrm>
                <a:off x="1991774" y="2361649"/>
                <a:ext cx="3191956"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에이전트  ≈4×</a:t>
                </a:r>
              </a:p>
              <a:p>
                <a:pPr algn="l">
                  <a:lnSpc>
                    <a:spcPct val="100000"/>
                  </a:lnSpc>
                  <a:spcBef>
                    <a:spcPts val="0"/>
                  </a:spcBef>
                </a:pPr>
                <a:r>
                  <a:rPr lang="ko-KR" altLang="en-US" sz="700" dirty="0">
                    <a:solidFill>
                      <a:srgbClr val="1F2933"/>
                    </a:solidFill>
                  </a:rPr>
                  <a:t>69–80K · ≈25 GB</a:t>
                </a:r>
              </a:p>
            </p:txBody>
          </p:sp>
          <p:sp>
            <p:nvSpPr>
              <p:cNvPr id="197" name="Text A">
                <a:extLst>
                  <a:ext uri="{FF2B5EF4-FFF2-40B4-BE49-F238E27FC236}">
                    <a16:creationId xmlns:a16="http://schemas.microsoft.com/office/drawing/2014/main" id="{136ADBF4-7821-4FC1-9903-E1CCC242A77A}"/>
                  </a:ext>
                </a:extLst>
              </p:cNvPr>
              <p:cNvSpPr txBox="1"/>
              <p:nvPr/>
            </p:nvSpPr>
            <p:spPr>
              <a:xfrm>
                <a:off x="2901895" y="1699659"/>
                <a:ext cx="1515765"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멀티에이전트  ≈15×</a:t>
                </a:r>
              </a:p>
              <a:p>
                <a:pPr algn="l">
                  <a:lnSpc>
                    <a:spcPct val="100000"/>
                  </a:lnSpc>
                  <a:spcBef>
                    <a:spcPts val="0"/>
                  </a:spcBef>
                </a:pPr>
                <a:r>
                  <a:rPr lang="ko-KR" altLang="en-US" sz="700" dirty="0">
                    <a:solidFill>
                      <a:srgbClr val="1F2933"/>
                    </a:solidFill>
                  </a:rPr>
                  <a:t>≈281K · ≈92 GB</a:t>
                </a:r>
              </a:p>
            </p:txBody>
          </p:sp>
          <p:sp>
            <p:nvSpPr>
              <p:cNvPr id="198" name="Text A">
                <a:extLst>
                  <a:ext uri="{FF2B5EF4-FFF2-40B4-BE49-F238E27FC236}">
                    <a16:creationId xmlns:a16="http://schemas.microsoft.com/office/drawing/2014/main" id="{CA4322CE-73E3-447B-8CA0-88EBDBDD997B}"/>
                  </a:ext>
                </a:extLst>
              </p:cNvPr>
              <p:cNvSpPr txBox="1"/>
              <p:nvPr/>
            </p:nvSpPr>
            <p:spPr>
              <a:xfrm>
                <a:off x="1729324" y="2757585"/>
                <a:ext cx="3191956" cy="107315"/>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5F6B7A"/>
                    </a:solidFill>
                  </a:rPr>
                  <a:t>누적 문맥 길이 (</a:t>
                </a:r>
                <a:r>
                  <a:rPr lang="ko-KR" altLang="en-US" sz="800" dirty="0" err="1">
                    <a:solidFill>
                      <a:srgbClr val="5F6B7A"/>
                    </a:solidFill>
                  </a:rPr>
                  <a:t>tokens</a:t>
                </a:r>
                <a:r>
                  <a:rPr lang="ko-KR" altLang="en-US" sz="800" dirty="0">
                    <a:solidFill>
                      <a:srgbClr val="5F6B7A"/>
                    </a:solidFill>
                  </a:rPr>
                  <a:t>)</a:t>
                </a:r>
              </a:p>
            </p:txBody>
          </p:sp>
          <p:sp>
            <p:nvSpPr>
              <p:cNvPr id="199" name="Text A">
                <a:extLst>
                  <a:ext uri="{FF2B5EF4-FFF2-40B4-BE49-F238E27FC236}">
                    <a16:creationId xmlns:a16="http://schemas.microsoft.com/office/drawing/2014/main" id="{64361004-759F-4AB7-9D13-7EB2A5CDE584}"/>
                  </a:ext>
                </a:extLst>
              </p:cNvPr>
              <p:cNvSpPr txBox="1"/>
              <p:nvPr/>
            </p:nvSpPr>
            <p:spPr>
              <a:xfrm rot="16200000">
                <a:off x="239745" y="1915722"/>
                <a:ext cx="1241316" cy="141864"/>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5F6B7A"/>
                    </a:solidFill>
                  </a:rPr>
                  <a:t>KV cache (GB)</a:t>
                </a:r>
              </a:p>
            </p:txBody>
          </p:sp>
        </p:grpSp>
        <p:sp>
          <p:nvSpPr>
            <p:cNvPr id="187" name="실행 단추: 앞으로 또는 다음으로 이동 186">
              <a:hlinkClick r:id="rId13" action="ppaction://hlinksldjump" highlightClick="1"/>
              <a:extLst>
                <a:ext uri="{FF2B5EF4-FFF2-40B4-BE49-F238E27FC236}">
                  <a16:creationId xmlns:a16="http://schemas.microsoft.com/office/drawing/2014/main" id="{98539F28-01D1-4C51-810A-DAD5913CD3D3}"/>
                </a:ext>
              </a:extLst>
            </p:cNvPr>
            <p:cNvSpPr/>
            <p:nvPr/>
          </p:nvSpPr>
          <p:spPr>
            <a:xfrm>
              <a:off x="5530405" y="2363763"/>
              <a:ext cx="185396" cy="18014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200" name="TextBox 199">
            <a:extLst>
              <a:ext uri="{FF2B5EF4-FFF2-40B4-BE49-F238E27FC236}">
                <a16:creationId xmlns:a16="http://schemas.microsoft.com/office/drawing/2014/main" id="{CE105C95-5508-4E86-8637-1A88AEFA109B}"/>
              </a:ext>
            </a:extLst>
          </p:cNvPr>
          <p:cNvSpPr txBox="1"/>
          <p:nvPr/>
        </p:nvSpPr>
        <p:spPr>
          <a:xfrm>
            <a:off x="294321" y="4085494"/>
            <a:ext cx="5497737" cy="333617"/>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a:t>
            </a:r>
            <a:r>
              <a:rPr lang="ko-KR" altLang="en-US" sz="1200" b="1" dirty="0"/>
              <a:t>검색</a:t>
            </a:r>
            <a:r>
              <a:rPr lang="en-US" altLang="ko-KR" sz="1200" b="1" dirty="0"/>
              <a:t>·</a:t>
            </a:r>
            <a:r>
              <a:rPr lang="ko-KR" altLang="en-US" sz="1200" b="1" dirty="0"/>
              <a:t>도구 실행이 교차하며 단계별 연산</a:t>
            </a:r>
            <a:r>
              <a:rPr lang="en-US" altLang="ko-KR" sz="1200" b="1" dirty="0"/>
              <a:t>·</a:t>
            </a:r>
            <a:r>
              <a:rPr lang="ko-KR" altLang="en-US" sz="1200" b="1" dirty="0"/>
              <a:t>메모리 요구 증가</a:t>
            </a:r>
            <a:endParaRPr lang="en-US" altLang="ko-KR" sz="1200" b="1" dirty="0"/>
          </a:p>
        </p:txBody>
      </p:sp>
      <p:sp>
        <p:nvSpPr>
          <p:cNvPr id="201" name="Text 98">
            <a:extLst>
              <a:ext uri="{FF2B5EF4-FFF2-40B4-BE49-F238E27FC236}">
                <a16:creationId xmlns:a16="http://schemas.microsoft.com/office/drawing/2014/main" id="{69858E17-5D8B-4634-8AF1-7140D429BF1E}"/>
              </a:ext>
            </a:extLst>
          </p:cNvPr>
          <p:cNvSpPr/>
          <p:nvPr/>
        </p:nvSpPr>
        <p:spPr>
          <a:xfrm>
            <a:off x="355600" y="6508388"/>
            <a:ext cx="11825224" cy="205267"/>
          </a:xfrm>
          <a:prstGeom prst="rect">
            <a:avLst/>
          </a:prstGeom>
          <a:noFill/>
          <a:ln/>
        </p:spPr>
        <p:txBody>
          <a:bodyPr wrap="square" lIns="0" tIns="0" rIns="0" bIns="0" rtlCol="0" anchor="t">
            <a:normAutofit/>
          </a:bodyPr>
          <a:lstStyle/>
          <a:p>
            <a:pPr marL="0" indent="0" algn="l">
              <a:lnSpc>
                <a:spcPts val="1500"/>
              </a:lnSpc>
              <a:buNone/>
            </a:pPr>
            <a:r>
              <a:rPr lang="en-US" sz="800" dirty="0">
                <a:solidFill>
                  <a:srgbClr val="555555"/>
                </a:solidFill>
                <a:latin typeface="Noto Sans KR" pitchFamily="34" charset="0"/>
                <a:ea typeface="Noto Sans KR" pitchFamily="34" charset="-122"/>
                <a:cs typeface="Noto Sans KR" pitchFamily="34" charset="-120"/>
              </a:rPr>
              <a:t>※ KV cache 0.33MB/token(Llama-3.1-70B, BF16). 문맥 길이: 에이전트 ≈75K [1], 채팅·멀티는 [3]의 토큰 배수(≈4×/≈15×)를 적용한 가정. 동시 수용 세션 = (640GB−가중치 140GB)÷KV, 이론 상한. DRAM 지수 = TrendForce 범용 DRAM QoQ 전망 중간값 </a:t>
            </a:r>
            <a:r>
              <a:rPr lang="en-US" sz="800" dirty="0" err="1">
                <a:solidFill>
                  <a:srgbClr val="555555"/>
                </a:solidFill>
                <a:latin typeface="Noto Sans KR" pitchFamily="34" charset="0"/>
                <a:ea typeface="Noto Sans KR" pitchFamily="34" charset="-122"/>
                <a:cs typeface="Noto Sans KR" pitchFamily="34" charset="-120"/>
              </a:rPr>
              <a:t>복리</a:t>
            </a:r>
            <a:r>
              <a:rPr lang="en-US" sz="800" dirty="0">
                <a:solidFill>
                  <a:srgbClr val="555555"/>
                </a:solidFill>
                <a:latin typeface="Noto Sans KR" pitchFamily="34" charset="0"/>
                <a:ea typeface="Noto Sans KR" pitchFamily="34" charset="-122"/>
                <a:cs typeface="Noto Sans KR" pitchFamily="34" charset="-120"/>
              </a:rPr>
              <a:t> </a:t>
            </a:r>
            <a:r>
              <a:rPr lang="en-US" sz="800" dirty="0" err="1">
                <a:solidFill>
                  <a:srgbClr val="555555"/>
                </a:solidFill>
                <a:latin typeface="Noto Sans KR" pitchFamily="34" charset="0"/>
                <a:ea typeface="Noto Sans KR" pitchFamily="34" charset="-122"/>
                <a:cs typeface="Noto Sans KR" pitchFamily="34" charset="-120"/>
              </a:rPr>
              <a:t>산출</a:t>
            </a:r>
            <a:endParaRPr lang="en-US" sz="800" dirty="0"/>
          </a:p>
        </p:txBody>
      </p:sp>
      <p:sp>
        <p:nvSpPr>
          <p:cNvPr id="202" name="Text 99">
            <a:extLst>
              <a:ext uri="{FF2B5EF4-FFF2-40B4-BE49-F238E27FC236}">
                <a16:creationId xmlns:a16="http://schemas.microsoft.com/office/drawing/2014/main" id="{D3AB1718-7726-425A-9E69-7509BE0FD34A}"/>
              </a:ext>
            </a:extLst>
          </p:cNvPr>
          <p:cNvSpPr/>
          <p:nvPr/>
        </p:nvSpPr>
        <p:spPr>
          <a:xfrm>
            <a:off x="355600" y="6676457"/>
            <a:ext cx="11825224" cy="205267"/>
          </a:xfrm>
          <a:prstGeom prst="rect">
            <a:avLst/>
          </a:prstGeom>
          <a:noFill/>
          <a:ln/>
        </p:spPr>
        <p:txBody>
          <a:bodyPr wrap="square" lIns="0" tIns="0" rIns="0" bIns="0" rtlCol="0" anchor="t">
            <a:normAutofit/>
          </a:bodyPr>
          <a:lstStyle/>
          <a:p>
            <a:pPr marL="0" indent="0" algn="l">
              <a:lnSpc>
                <a:spcPts val="1500"/>
              </a:lnSpc>
              <a:buNone/>
            </a:pPr>
            <a:r>
              <a:rPr lang="en-US" sz="800" dirty="0">
                <a:solidFill>
                  <a:srgbClr val="555555"/>
                </a:solidFill>
                <a:latin typeface="Noto Sans KR" pitchFamily="34" charset="0"/>
                <a:ea typeface="Noto Sans KR" pitchFamily="34" charset="-122"/>
                <a:cs typeface="Noto Sans KR" pitchFamily="34" charset="-120"/>
              </a:rPr>
              <a:t>출처: [1] arXiv:2605.26297 [2] arXiv:2608.15127 [3] Anthropic Eng. Blog [4] Micron TAM(Meticulous) [5] TrendForce Press Center [6] SK hynix CES’26·Samsung OCP’26 [7] arXiv:2610.08378·2609.25782 [8] TrendForce News [9] TrendForce RP260612EF</a:t>
            </a:r>
            <a:endParaRPr lang="en-US" sz="800" dirty="0"/>
          </a:p>
        </p:txBody>
      </p:sp>
    </p:spTree>
    <p:extLst>
      <p:ext uri="{BB962C8B-B14F-4D97-AF65-F5344CB8AC3E}">
        <p14:creationId xmlns:p14="http://schemas.microsoft.com/office/powerpoint/2010/main" val="335515659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C91D0B3-7CAA-4508-9D18-E6DAACE4AED3}"/>
              </a:ext>
            </a:extLst>
          </p:cNvPr>
          <p:cNvSpPr>
            <a:spLocks noGrp="1"/>
          </p:cNvSpPr>
          <p:nvPr>
            <p:ph type="title"/>
          </p:nvPr>
        </p:nvSpPr>
        <p:spPr/>
        <p:txBody>
          <a:bodyPr/>
          <a:lstStyle/>
          <a:p>
            <a:r>
              <a:rPr lang="ko-KR" altLang="en-US" dirty="0"/>
              <a:t>실제 </a:t>
            </a:r>
            <a:r>
              <a:rPr lang="en-US" altLang="ko-KR" dirty="0"/>
              <a:t>Context </a:t>
            </a:r>
            <a:r>
              <a:rPr lang="ko-KR" altLang="en-US" dirty="0"/>
              <a:t>누적 길이</a:t>
            </a:r>
          </a:p>
        </p:txBody>
      </p:sp>
      <p:pic>
        <p:nvPicPr>
          <p:cNvPr id="5" name="그림 4">
            <a:extLst>
              <a:ext uri="{FF2B5EF4-FFF2-40B4-BE49-F238E27FC236}">
                <a16:creationId xmlns:a16="http://schemas.microsoft.com/office/drawing/2014/main" id="{3F9B5466-D89B-4D09-8657-63C20AA8CD17}"/>
              </a:ext>
            </a:extLst>
          </p:cNvPr>
          <p:cNvPicPr>
            <a:picLocks noChangeAspect="1"/>
          </p:cNvPicPr>
          <p:nvPr/>
        </p:nvPicPr>
        <p:blipFill>
          <a:blip r:embed="rId3"/>
          <a:stretch>
            <a:fillRect/>
          </a:stretch>
        </p:blipFill>
        <p:spPr>
          <a:xfrm>
            <a:off x="303225" y="812799"/>
            <a:ext cx="9155573" cy="4842934"/>
          </a:xfrm>
          <a:prstGeom prst="rect">
            <a:avLst/>
          </a:prstGeom>
        </p:spPr>
      </p:pic>
      <p:sp>
        <p:nvSpPr>
          <p:cNvPr id="6" name="직사각형 5">
            <a:extLst>
              <a:ext uri="{FF2B5EF4-FFF2-40B4-BE49-F238E27FC236}">
                <a16:creationId xmlns:a16="http://schemas.microsoft.com/office/drawing/2014/main" id="{07F7D085-D4A0-4DD0-B7E9-717CD2FCE2D5}"/>
              </a:ext>
            </a:extLst>
          </p:cNvPr>
          <p:cNvSpPr/>
          <p:nvPr/>
        </p:nvSpPr>
        <p:spPr>
          <a:xfrm>
            <a:off x="2921000" y="1862667"/>
            <a:ext cx="5080000" cy="1041400"/>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a:extLst>
              <a:ext uri="{FF2B5EF4-FFF2-40B4-BE49-F238E27FC236}">
                <a16:creationId xmlns:a16="http://schemas.microsoft.com/office/drawing/2014/main" id="{6D9C1157-1B0C-4880-9D1F-5DBC85F893F5}"/>
              </a:ext>
            </a:extLst>
          </p:cNvPr>
          <p:cNvSpPr txBox="1"/>
          <p:nvPr/>
        </p:nvSpPr>
        <p:spPr>
          <a:xfrm>
            <a:off x="4881011" y="1739837"/>
            <a:ext cx="1733167" cy="276999"/>
          </a:xfrm>
          <a:prstGeom prst="rect">
            <a:avLst/>
          </a:prstGeom>
          <a:noFill/>
        </p:spPr>
        <p:txBody>
          <a:bodyPr wrap="none" rtlCol="0">
            <a:spAutoFit/>
          </a:bodyPr>
          <a:lstStyle/>
          <a:p>
            <a:r>
              <a:rPr lang="ko-KR" altLang="en-US" sz="1200" b="1" dirty="0">
                <a:solidFill>
                  <a:srgbClr val="FF0000"/>
                </a:solidFill>
                <a:highlight>
                  <a:srgbClr val="FFFF00"/>
                </a:highlight>
              </a:rPr>
              <a:t>세션 누적 토큰 사용량</a:t>
            </a:r>
          </a:p>
        </p:txBody>
      </p:sp>
      <p:grpSp>
        <p:nvGrpSpPr>
          <p:cNvPr id="10" name="그룹 9">
            <a:extLst>
              <a:ext uri="{FF2B5EF4-FFF2-40B4-BE49-F238E27FC236}">
                <a16:creationId xmlns:a16="http://schemas.microsoft.com/office/drawing/2014/main" id="{1836C05F-6498-4E00-AF3C-2DF3EDB3F644}"/>
              </a:ext>
            </a:extLst>
          </p:cNvPr>
          <p:cNvGrpSpPr/>
          <p:nvPr/>
        </p:nvGrpSpPr>
        <p:grpSpPr>
          <a:xfrm>
            <a:off x="4496943" y="2864934"/>
            <a:ext cx="7451099" cy="3549827"/>
            <a:chOff x="4496943" y="2864934"/>
            <a:chExt cx="7451099" cy="3549827"/>
          </a:xfrm>
        </p:grpSpPr>
        <p:pic>
          <p:nvPicPr>
            <p:cNvPr id="3" name="그림 2">
              <a:extLst>
                <a:ext uri="{FF2B5EF4-FFF2-40B4-BE49-F238E27FC236}">
                  <a16:creationId xmlns:a16="http://schemas.microsoft.com/office/drawing/2014/main" id="{7B359596-3D75-4F5A-9753-0FD4179C4C2E}"/>
                </a:ext>
              </a:extLst>
            </p:cNvPr>
            <p:cNvPicPr>
              <a:picLocks noChangeAspect="1"/>
            </p:cNvPicPr>
            <p:nvPr/>
          </p:nvPicPr>
          <p:blipFill>
            <a:blip r:embed="rId4"/>
            <a:stretch>
              <a:fillRect/>
            </a:stretch>
          </p:blipFill>
          <p:spPr>
            <a:xfrm>
              <a:off x="4496943" y="3102000"/>
              <a:ext cx="7451099" cy="3312761"/>
            </a:xfrm>
            <a:prstGeom prst="rect">
              <a:avLst/>
            </a:prstGeom>
            <a:ln>
              <a:solidFill>
                <a:srgbClr val="FF0000"/>
              </a:solidFill>
            </a:ln>
          </p:spPr>
        </p:pic>
        <p:sp>
          <p:nvSpPr>
            <p:cNvPr id="8" name="TextBox 7">
              <a:extLst>
                <a:ext uri="{FF2B5EF4-FFF2-40B4-BE49-F238E27FC236}">
                  <a16:creationId xmlns:a16="http://schemas.microsoft.com/office/drawing/2014/main" id="{592AD7F9-62DC-424B-853B-A7055389CD95}"/>
                </a:ext>
              </a:extLst>
            </p:cNvPr>
            <p:cNvSpPr txBox="1"/>
            <p:nvPr/>
          </p:nvSpPr>
          <p:spPr>
            <a:xfrm>
              <a:off x="9021246" y="3818467"/>
              <a:ext cx="1173013" cy="276999"/>
            </a:xfrm>
            <a:prstGeom prst="rect">
              <a:avLst/>
            </a:prstGeom>
            <a:noFill/>
          </p:spPr>
          <p:txBody>
            <a:bodyPr wrap="none" rtlCol="0">
              <a:spAutoFit/>
            </a:bodyPr>
            <a:lstStyle/>
            <a:p>
              <a:r>
                <a:rPr lang="en-US" altLang="ko-KR" sz="1200" b="1" dirty="0">
                  <a:solidFill>
                    <a:srgbClr val="FF0000"/>
                  </a:solidFill>
                  <a:highlight>
                    <a:srgbClr val="FFFF00"/>
                  </a:highlight>
                </a:rPr>
                <a:t>Context</a:t>
              </a:r>
              <a:r>
                <a:rPr lang="ko-KR" altLang="en-US" sz="1200" b="1" dirty="0">
                  <a:solidFill>
                    <a:srgbClr val="FF0000"/>
                  </a:solidFill>
                  <a:highlight>
                    <a:srgbClr val="FFFF00"/>
                  </a:highlight>
                </a:rPr>
                <a:t> 길이 </a:t>
              </a:r>
            </a:p>
          </p:txBody>
        </p:sp>
        <p:sp>
          <p:nvSpPr>
            <p:cNvPr id="9" name="직사각형 8">
              <a:extLst>
                <a:ext uri="{FF2B5EF4-FFF2-40B4-BE49-F238E27FC236}">
                  <a16:creationId xmlns:a16="http://schemas.microsoft.com/office/drawing/2014/main" id="{E915B989-7EEA-46A9-AB38-9553C7B4FA6D}"/>
                </a:ext>
              </a:extLst>
            </p:cNvPr>
            <p:cNvSpPr/>
            <p:nvPr/>
          </p:nvSpPr>
          <p:spPr>
            <a:xfrm>
              <a:off x="7890933" y="3818467"/>
              <a:ext cx="3759200" cy="778933"/>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89431D79-AB16-47F4-B7B2-724A2A998816}"/>
                </a:ext>
              </a:extLst>
            </p:cNvPr>
            <p:cNvSpPr txBox="1"/>
            <p:nvPr/>
          </p:nvSpPr>
          <p:spPr>
            <a:xfrm>
              <a:off x="9607752" y="2864934"/>
              <a:ext cx="1353256" cy="369332"/>
            </a:xfrm>
            <a:prstGeom prst="rect">
              <a:avLst/>
            </a:prstGeom>
            <a:noFill/>
          </p:spPr>
          <p:txBody>
            <a:bodyPr wrap="none" rtlCol="0">
              <a:spAutoFit/>
            </a:bodyPr>
            <a:lstStyle/>
            <a:p>
              <a:r>
                <a:rPr lang="ko-KR" altLang="en-US" b="1" dirty="0">
                  <a:solidFill>
                    <a:srgbClr val="FF0000"/>
                  </a:solidFill>
                  <a:highlight>
                    <a:srgbClr val="FFFF00"/>
                  </a:highlight>
                </a:rPr>
                <a:t>한 세션</a:t>
              </a:r>
              <a:r>
                <a:rPr lang="en-US" altLang="ko-KR" b="1" dirty="0">
                  <a:solidFill>
                    <a:srgbClr val="FF0000"/>
                  </a:solidFill>
                  <a:highlight>
                    <a:srgbClr val="FFFF00"/>
                  </a:highlight>
                </a:rPr>
                <a:t> </a:t>
              </a:r>
              <a:r>
                <a:rPr lang="ko-KR" altLang="en-US" b="1" dirty="0">
                  <a:solidFill>
                    <a:srgbClr val="FF0000"/>
                  </a:solidFill>
                  <a:highlight>
                    <a:srgbClr val="FFFF00"/>
                  </a:highlight>
                </a:rPr>
                <a:t>내 </a:t>
              </a:r>
            </a:p>
          </p:txBody>
        </p:sp>
        <p:sp>
          <p:nvSpPr>
            <p:cNvPr id="13" name="TextBox 12">
              <a:extLst>
                <a:ext uri="{FF2B5EF4-FFF2-40B4-BE49-F238E27FC236}">
                  <a16:creationId xmlns:a16="http://schemas.microsoft.com/office/drawing/2014/main" id="{B7CCBB18-020C-4E3E-B51C-ABC638D24D4E}"/>
                </a:ext>
              </a:extLst>
            </p:cNvPr>
            <p:cNvSpPr txBox="1"/>
            <p:nvPr/>
          </p:nvSpPr>
          <p:spPr>
            <a:xfrm>
              <a:off x="8716446" y="4458900"/>
              <a:ext cx="2413738" cy="276999"/>
            </a:xfrm>
            <a:prstGeom prst="rect">
              <a:avLst/>
            </a:prstGeom>
            <a:noFill/>
          </p:spPr>
          <p:txBody>
            <a:bodyPr wrap="none" rtlCol="0">
              <a:spAutoFit/>
            </a:bodyPr>
            <a:lstStyle/>
            <a:p>
              <a:r>
                <a:rPr lang="ko-KR" altLang="en-US" sz="1200" b="1" dirty="0">
                  <a:solidFill>
                    <a:srgbClr val="FF0000"/>
                  </a:solidFill>
                  <a:highlight>
                    <a:srgbClr val="FFFF00"/>
                  </a:highlight>
                </a:rPr>
                <a:t>일정 길이 초과 시 </a:t>
              </a:r>
              <a:r>
                <a:rPr lang="en-US" altLang="ko-KR" sz="1200" b="1" dirty="0">
                  <a:solidFill>
                    <a:srgbClr val="FF0000"/>
                  </a:solidFill>
                  <a:highlight>
                    <a:srgbClr val="FFFF00"/>
                  </a:highlight>
                </a:rPr>
                <a:t>Context </a:t>
              </a:r>
              <a:r>
                <a:rPr lang="ko-KR" altLang="en-US" sz="1200" b="1" dirty="0">
                  <a:solidFill>
                    <a:srgbClr val="FF0000"/>
                  </a:solidFill>
                  <a:highlight>
                    <a:srgbClr val="FFFF00"/>
                  </a:highlight>
                </a:rPr>
                <a:t>압축</a:t>
              </a:r>
            </a:p>
          </p:txBody>
        </p:sp>
      </p:grpSp>
      <p:sp>
        <p:nvSpPr>
          <p:cNvPr id="4" name="실행 단추: 뒤로 또는 이전 3">
            <a:hlinkClick r:id="rId5" action="ppaction://hlinksldjump" highlightClick="1"/>
          </p:cNvPr>
          <p:cNvSpPr/>
          <p:nvPr/>
        </p:nvSpPr>
        <p:spPr>
          <a:xfrm>
            <a:off x="7496908" y="228600"/>
            <a:ext cx="293077" cy="27390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16123607"/>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System </a:t>
            </a:r>
            <a:r>
              <a:rPr lang="ko-KR" altLang="en-US" dirty="0"/>
              <a:t>연구를 왜 해야 하는가</a:t>
            </a:r>
            <a:r>
              <a:rPr lang="en-US" altLang="ko-KR" dirty="0"/>
              <a:t>? </a:t>
            </a:r>
            <a:endParaRPr lang="ko-KR" altLang="en-US" dirty="0"/>
          </a:p>
        </p:txBody>
      </p:sp>
      <p:sp>
        <p:nvSpPr>
          <p:cNvPr id="3" name="실행 단추: 뒤로 또는 이전 2">
            <a:hlinkClick r:id="rId3" action="ppaction://hlinksldjump" highlightClick="1"/>
          </p:cNvPr>
          <p:cNvSpPr/>
          <p:nvPr/>
        </p:nvSpPr>
        <p:spPr>
          <a:xfrm>
            <a:off x="7544973" y="205750"/>
            <a:ext cx="228600" cy="22838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TextBox 3"/>
          <p:cNvSpPr txBox="1"/>
          <p:nvPr/>
        </p:nvSpPr>
        <p:spPr>
          <a:xfrm>
            <a:off x="325385" y="2587908"/>
            <a:ext cx="11493235" cy="3970318"/>
          </a:xfrm>
          <a:prstGeom prst="rect">
            <a:avLst/>
          </a:prstGeom>
          <a:noFill/>
        </p:spPr>
        <p:txBody>
          <a:bodyPr wrap="square" rtlCol="0">
            <a:spAutoFit/>
          </a:bodyPr>
          <a:lstStyle/>
          <a:p>
            <a:pPr>
              <a:lnSpc>
                <a:spcPct val="150000"/>
              </a:lnSpc>
            </a:pPr>
            <a:r>
              <a:rPr lang="ko-KR" altLang="en-US" sz="1200" b="1" dirty="0">
                <a:solidFill>
                  <a:srgbClr val="0066FF"/>
                </a:solidFill>
              </a:rPr>
              <a:t>실제 인터뷰 내용</a:t>
            </a:r>
            <a:endParaRPr lang="en-US" altLang="ko-KR" sz="1200" b="1" dirty="0">
              <a:solidFill>
                <a:srgbClr val="0066FF"/>
              </a:solidFill>
            </a:endParaRPr>
          </a:p>
          <a:p>
            <a:pPr>
              <a:lnSpc>
                <a:spcPct val="150000"/>
              </a:lnSpc>
            </a:pPr>
            <a:r>
              <a:rPr lang="en-US" altLang="ko-KR" sz="1200" b="1" dirty="0"/>
              <a:t>Q1. </a:t>
            </a:r>
            <a:r>
              <a:rPr lang="ko-KR" altLang="en-US" sz="1200" b="1" dirty="0"/>
              <a:t>왜 </a:t>
            </a:r>
            <a:r>
              <a:rPr lang="en-US" altLang="ko-KR" sz="1200" b="1" dirty="0"/>
              <a:t>System </a:t>
            </a:r>
            <a:r>
              <a:rPr lang="ko-KR" altLang="en-US" sz="1200" b="1" dirty="0"/>
              <a:t>연구를 해야 하는가</a:t>
            </a:r>
            <a:r>
              <a:rPr lang="en-US" altLang="ko-KR" sz="1200" b="1" dirty="0"/>
              <a:t>? </a:t>
            </a:r>
          </a:p>
          <a:p>
            <a:pPr marL="285750" indent="-285750">
              <a:lnSpc>
                <a:spcPct val="150000"/>
              </a:lnSpc>
              <a:buFont typeface="Wingdings" panose="05000000000000000000" pitchFamily="2" charset="2"/>
              <a:buChar char="ü"/>
            </a:pPr>
            <a:r>
              <a:rPr lang="ko-KR" altLang="en-US" sz="1200" dirty="0"/>
              <a:t>시스템 수준의 연구를 통해 차세대 핵심 부품을 발굴할 수 있다</a:t>
            </a:r>
            <a:r>
              <a:rPr lang="en-US" altLang="ko-KR" sz="1200" dirty="0"/>
              <a:t>. (</a:t>
            </a:r>
            <a:r>
              <a:rPr lang="ko-KR" altLang="en-US" sz="1200" dirty="0"/>
              <a:t>사업부 제안</a:t>
            </a:r>
            <a:r>
              <a:rPr lang="en-US" altLang="ko-KR" sz="1200" dirty="0"/>
              <a:t>) </a:t>
            </a:r>
          </a:p>
          <a:p>
            <a:pPr marL="742950" lvl="1" indent="-285750">
              <a:lnSpc>
                <a:spcPct val="150000"/>
              </a:lnSpc>
              <a:buFont typeface="Wingdings" panose="05000000000000000000" pitchFamily="2" charset="2"/>
              <a:buChar char="ü"/>
            </a:pPr>
            <a:r>
              <a:rPr lang="ko-KR" altLang="en-US" sz="1200" dirty="0"/>
              <a:t>차세대 부품 개발 방향이 맞는지에 대한 이정표 역할 </a:t>
            </a:r>
            <a:endParaRPr lang="en-US" altLang="ko-KR" sz="1200" dirty="0"/>
          </a:p>
          <a:p>
            <a:pPr marL="285750" indent="-285750">
              <a:lnSpc>
                <a:spcPct val="150000"/>
              </a:lnSpc>
              <a:buFont typeface="Wingdings" panose="05000000000000000000" pitchFamily="2" charset="2"/>
              <a:buChar char="ü"/>
            </a:pPr>
            <a:r>
              <a:rPr lang="ko-KR" altLang="en-US" sz="1200" dirty="0"/>
              <a:t>부품의 레퍼런스 시스템 관점의 연구가 필요하다</a:t>
            </a:r>
            <a:r>
              <a:rPr lang="en-US" altLang="ko-KR" sz="1200" dirty="0"/>
              <a:t>. </a:t>
            </a:r>
            <a:r>
              <a:rPr lang="ko-KR" altLang="en-US" sz="1200" dirty="0"/>
              <a:t>고객들에게 시스템 관점에서 시연을 했을 때 실제로 호응이 좋았고</a:t>
            </a:r>
            <a:r>
              <a:rPr lang="en-US" altLang="ko-KR" sz="1200" dirty="0"/>
              <a:t>, </a:t>
            </a:r>
            <a:r>
              <a:rPr lang="ko-KR" altLang="en-US" sz="1200" dirty="0"/>
              <a:t>시스템으로부터 차세대 제품에 대한 요구사항을 도출할 수 있다</a:t>
            </a:r>
            <a:r>
              <a:rPr lang="en-US" altLang="ko-KR" sz="1200" dirty="0"/>
              <a:t>. </a:t>
            </a:r>
            <a:r>
              <a:rPr lang="ko-KR" altLang="en-US" sz="1200" dirty="0"/>
              <a:t>고객과의 관계 때문에 메모리사업부의 </a:t>
            </a:r>
            <a:r>
              <a:rPr lang="en-US" altLang="ko-KR" sz="1200" dirty="0"/>
              <a:t>3rd party</a:t>
            </a:r>
            <a:r>
              <a:rPr lang="ko-KR" altLang="en-US" sz="1200" dirty="0"/>
              <a:t>인 </a:t>
            </a:r>
            <a:r>
              <a:rPr lang="en-US" altLang="ko-KR" sz="1200" dirty="0"/>
              <a:t>SAIT</a:t>
            </a:r>
            <a:r>
              <a:rPr lang="ko-KR" altLang="en-US" sz="1200" dirty="0"/>
              <a:t>에서 그 역할이 필요 </a:t>
            </a:r>
          </a:p>
          <a:p>
            <a:pPr marL="742950" lvl="1" indent="-285750">
              <a:lnSpc>
                <a:spcPct val="150000"/>
              </a:lnSpc>
              <a:buFont typeface="Wingdings" panose="05000000000000000000" pitchFamily="2" charset="2"/>
              <a:buChar char="ü"/>
            </a:pPr>
            <a:r>
              <a:rPr lang="ko-KR" altLang="en-US" sz="1200" dirty="0"/>
              <a:t>메모리 </a:t>
            </a:r>
            <a:r>
              <a:rPr lang="en-US" altLang="ko-KR" sz="1200" dirty="0"/>
              <a:t>DRAM </a:t>
            </a:r>
            <a:r>
              <a:rPr lang="ko-KR" altLang="en-US" sz="1200" dirty="0" err="1"/>
              <a:t>설계팀</a:t>
            </a:r>
            <a:r>
              <a:rPr lang="ko-KR" altLang="en-US" sz="1200" dirty="0"/>
              <a:t> </a:t>
            </a:r>
            <a:r>
              <a:rPr lang="ko-KR" altLang="en-US" sz="1200" dirty="0" err="1"/>
              <a:t>손교민</a:t>
            </a:r>
            <a:r>
              <a:rPr lang="ko-KR" altLang="en-US" sz="1200" dirty="0"/>
              <a:t> 마스터 인터뷰 </a:t>
            </a:r>
            <a:r>
              <a:rPr lang="en-US" altLang="ko-KR" sz="1200" dirty="0"/>
              <a:t>(25</a:t>
            </a:r>
            <a:r>
              <a:rPr lang="ko-KR" altLang="en-US" sz="1200" dirty="0"/>
              <a:t>년 </a:t>
            </a:r>
            <a:r>
              <a:rPr lang="en-US" altLang="ko-KR" sz="1200" dirty="0"/>
              <a:t>6</a:t>
            </a:r>
            <a:r>
              <a:rPr lang="ko-KR" altLang="en-US" sz="1200" dirty="0"/>
              <a:t>월 </a:t>
            </a:r>
            <a:r>
              <a:rPr lang="en-US" altLang="ko-KR" sz="1200" dirty="0"/>
              <a:t>18</a:t>
            </a:r>
            <a:r>
              <a:rPr lang="ko-KR" altLang="en-US" sz="1200" dirty="0"/>
              <a:t>일</a:t>
            </a:r>
            <a:r>
              <a:rPr lang="en-US" altLang="ko-KR" sz="1200" dirty="0"/>
              <a:t>)</a:t>
            </a:r>
          </a:p>
          <a:p>
            <a:pPr marL="742950" lvl="1" indent="-285750">
              <a:lnSpc>
                <a:spcPct val="150000"/>
              </a:lnSpc>
              <a:buFont typeface="Wingdings" panose="05000000000000000000" pitchFamily="2" charset="2"/>
              <a:buChar char="ü"/>
            </a:pPr>
            <a:r>
              <a:rPr lang="ko-KR" altLang="en-US" sz="1200" dirty="0"/>
              <a:t>메모리 </a:t>
            </a:r>
            <a:r>
              <a:rPr lang="ko-KR" altLang="en-US" sz="1200" dirty="0" err="1"/>
              <a:t>상품기획팀</a:t>
            </a:r>
            <a:r>
              <a:rPr lang="ko-KR" altLang="en-US" sz="1200" dirty="0"/>
              <a:t> </a:t>
            </a:r>
            <a:r>
              <a:rPr lang="ko-KR" altLang="en-US" sz="1200" dirty="0" err="1"/>
              <a:t>황두희</a:t>
            </a:r>
            <a:r>
              <a:rPr lang="ko-KR" altLang="en-US" sz="1200" dirty="0"/>
              <a:t> </a:t>
            </a:r>
            <a:r>
              <a:rPr lang="en-US" altLang="ko-KR" sz="1200" dirty="0"/>
              <a:t>PL, </a:t>
            </a:r>
            <a:r>
              <a:rPr lang="en-US" altLang="ko-KR" sz="1200" dirty="0" err="1"/>
              <a:t>Nand</a:t>
            </a:r>
            <a:r>
              <a:rPr lang="en-US" altLang="ko-KR" sz="1200" dirty="0"/>
              <a:t> </a:t>
            </a:r>
            <a:r>
              <a:rPr lang="ko-KR" altLang="en-US" sz="1200" dirty="0" err="1"/>
              <a:t>기획그룹</a:t>
            </a:r>
            <a:r>
              <a:rPr lang="ko-KR" altLang="en-US" sz="1200" dirty="0"/>
              <a:t> </a:t>
            </a:r>
            <a:r>
              <a:rPr lang="ko-KR" altLang="en-US" sz="1200" dirty="0" err="1"/>
              <a:t>선창우</a:t>
            </a:r>
            <a:r>
              <a:rPr lang="ko-KR" altLang="en-US" sz="1200" dirty="0"/>
              <a:t> </a:t>
            </a:r>
            <a:r>
              <a:rPr lang="en-US" altLang="ko-KR" sz="1200" dirty="0"/>
              <a:t>PL </a:t>
            </a:r>
            <a:r>
              <a:rPr lang="ko-KR" altLang="en-US" sz="1200" dirty="0"/>
              <a:t>인터뷰 </a:t>
            </a:r>
            <a:r>
              <a:rPr lang="en-US" altLang="ko-KR" sz="1200" dirty="0"/>
              <a:t>(25</a:t>
            </a:r>
            <a:r>
              <a:rPr lang="ko-KR" altLang="en-US" sz="1200" dirty="0"/>
              <a:t>년 </a:t>
            </a:r>
            <a:r>
              <a:rPr lang="en-US" altLang="ko-KR" sz="1200" dirty="0"/>
              <a:t>6</a:t>
            </a:r>
            <a:r>
              <a:rPr lang="ko-KR" altLang="en-US" sz="1200" dirty="0"/>
              <a:t>월 </a:t>
            </a:r>
            <a:r>
              <a:rPr lang="en-US" altLang="ko-KR" sz="1200" dirty="0"/>
              <a:t>19</a:t>
            </a:r>
            <a:r>
              <a:rPr lang="ko-KR" altLang="en-US" sz="1200" dirty="0"/>
              <a:t>일</a:t>
            </a:r>
            <a:r>
              <a:rPr lang="en-US" altLang="ko-KR" sz="1200" dirty="0"/>
              <a:t>) </a:t>
            </a:r>
          </a:p>
          <a:p>
            <a:pPr marL="285750" indent="-285750">
              <a:lnSpc>
                <a:spcPct val="150000"/>
              </a:lnSpc>
              <a:buFont typeface="Wingdings" panose="05000000000000000000" pitchFamily="2" charset="2"/>
              <a:buChar char="ü"/>
            </a:pPr>
            <a:r>
              <a:rPr lang="ko-KR" altLang="en-US" sz="1200" dirty="0"/>
              <a:t>사내에 우리가 구축한 시스템을 활용</a:t>
            </a:r>
            <a:endParaRPr lang="en-US" altLang="ko-KR" sz="1200" dirty="0"/>
          </a:p>
          <a:p>
            <a:pPr marL="285750" indent="-285750">
              <a:lnSpc>
                <a:spcPct val="150000"/>
              </a:lnSpc>
              <a:buFont typeface="Wingdings" panose="05000000000000000000" pitchFamily="2" charset="2"/>
              <a:buChar char="ü"/>
            </a:pPr>
            <a:endParaRPr lang="en-US" altLang="ko-KR" sz="1200" dirty="0"/>
          </a:p>
          <a:p>
            <a:pPr>
              <a:lnSpc>
                <a:spcPct val="150000"/>
              </a:lnSpc>
            </a:pPr>
            <a:r>
              <a:rPr lang="en-US" altLang="ko-KR" sz="1200" b="1" dirty="0"/>
              <a:t>Q2. </a:t>
            </a:r>
            <a:r>
              <a:rPr lang="ko-KR" altLang="en-US" sz="1200" b="1" dirty="0"/>
              <a:t>고객이 하면 되는 것 아닌가</a:t>
            </a:r>
            <a:r>
              <a:rPr lang="en-US" altLang="ko-KR" sz="1200" b="1" dirty="0"/>
              <a:t>? </a:t>
            </a:r>
          </a:p>
          <a:p>
            <a:pPr marL="285750" indent="-285750">
              <a:lnSpc>
                <a:spcPct val="150000"/>
              </a:lnSpc>
              <a:buFont typeface="Wingdings" panose="05000000000000000000" pitchFamily="2" charset="2"/>
              <a:buChar char="ü"/>
            </a:pPr>
            <a:r>
              <a:rPr lang="ko-KR" altLang="en-US" sz="1200" dirty="0"/>
              <a:t>고객이 다 알지 못한다</a:t>
            </a:r>
            <a:r>
              <a:rPr lang="en-US" altLang="ko-KR" sz="1200" dirty="0"/>
              <a:t>. (</a:t>
            </a:r>
            <a:r>
              <a:rPr lang="ko-KR" altLang="en-US" sz="1200" dirty="0"/>
              <a:t>차세대 요구사항</a:t>
            </a:r>
            <a:r>
              <a:rPr lang="en-US" altLang="ko-KR" sz="1200" dirty="0"/>
              <a:t>) (by </a:t>
            </a:r>
            <a:r>
              <a:rPr lang="ko-KR" altLang="en-US" sz="1200" dirty="0"/>
              <a:t>상준님 </a:t>
            </a:r>
            <a:r>
              <a:rPr lang="en-US" altLang="ko-KR" sz="1200" dirty="0"/>
              <a:t>AI System Platform </a:t>
            </a:r>
            <a:r>
              <a:rPr lang="ko-KR" altLang="en-US" sz="1200" dirty="0"/>
              <a:t>원장님 인터뷰 </a:t>
            </a:r>
            <a:r>
              <a:rPr lang="en-US" altLang="ko-KR" sz="1200" dirty="0"/>
              <a:t>23:00)</a:t>
            </a:r>
          </a:p>
          <a:p>
            <a:pPr marL="742950" lvl="1" indent="-285750">
              <a:lnSpc>
                <a:spcPct val="150000"/>
              </a:lnSpc>
              <a:buFont typeface="Wingdings" panose="05000000000000000000" pitchFamily="2" charset="2"/>
              <a:buChar char="ü"/>
            </a:pPr>
            <a:r>
              <a:rPr lang="ko-KR" altLang="en-US" sz="1200" dirty="0"/>
              <a:t>실제 예</a:t>
            </a:r>
            <a:r>
              <a:rPr lang="en-US" altLang="ko-KR" sz="1200" dirty="0"/>
              <a:t>) Meta</a:t>
            </a:r>
            <a:r>
              <a:rPr lang="ko-KR" altLang="en-US" sz="1200" dirty="0"/>
              <a:t>의 </a:t>
            </a:r>
            <a:r>
              <a:rPr lang="en-US" altLang="ko-KR" sz="1200" dirty="0"/>
              <a:t>Custom HBM </a:t>
            </a:r>
            <a:r>
              <a:rPr lang="ko-KR" altLang="en-US" sz="1200" dirty="0"/>
              <a:t>비즈니스 </a:t>
            </a:r>
            <a:r>
              <a:rPr lang="en-US" altLang="ko-KR" sz="1200" dirty="0"/>
              <a:t>-&gt; </a:t>
            </a:r>
            <a:r>
              <a:rPr lang="ko-KR" altLang="en-US" sz="1200" dirty="0"/>
              <a:t>계속해서 말 바뀜 </a:t>
            </a:r>
            <a:r>
              <a:rPr lang="en-US" altLang="ko-KR" sz="1200" dirty="0"/>
              <a:t>-&gt; why? “</a:t>
            </a:r>
            <a:r>
              <a:rPr lang="ko-KR" altLang="en-US" sz="1200" dirty="0"/>
              <a:t>우리도 몰랐다</a:t>
            </a:r>
            <a:r>
              <a:rPr lang="en-US" altLang="ko-KR" sz="1200" dirty="0"/>
              <a:t>＂</a:t>
            </a:r>
          </a:p>
          <a:p>
            <a:pPr marL="285750" indent="-285750">
              <a:lnSpc>
                <a:spcPct val="150000"/>
              </a:lnSpc>
              <a:buFont typeface="Wingdings" panose="05000000000000000000" pitchFamily="2" charset="2"/>
              <a:buChar char="ü"/>
            </a:pPr>
            <a:r>
              <a:rPr lang="ko-KR" altLang="en-US" sz="1200" dirty="0"/>
              <a:t>고객은 자기네들 </a:t>
            </a:r>
            <a:r>
              <a:rPr lang="en-US" altLang="ko-KR" sz="1200" dirty="0" err="1"/>
              <a:t>lagacy</a:t>
            </a:r>
            <a:r>
              <a:rPr lang="en-US" altLang="ko-KR" sz="1200" dirty="0"/>
              <a:t> system</a:t>
            </a:r>
            <a:r>
              <a:rPr lang="ko-KR" altLang="en-US" sz="1200" dirty="0"/>
              <a:t>과의 호환성을 중요하게 여기기 때문에 그런 </a:t>
            </a:r>
            <a:r>
              <a:rPr lang="en-US" altLang="ko-KR" sz="1200" dirty="0"/>
              <a:t>reference system </a:t>
            </a:r>
            <a:r>
              <a:rPr lang="ko-KR" altLang="en-US" sz="1200" dirty="0"/>
              <a:t>관점에서의 요구사항을 찾기 어렵다</a:t>
            </a:r>
            <a:r>
              <a:rPr lang="en-US" altLang="ko-KR" sz="1200" dirty="0"/>
              <a:t>. </a:t>
            </a:r>
            <a:endParaRPr lang="ko-KR" altLang="en-US" sz="1200" dirty="0"/>
          </a:p>
        </p:txBody>
      </p:sp>
      <p:grpSp>
        <p:nvGrpSpPr>
          <p:cNvPr id="5" name="그룹 4">
            <a:extLst>
              <a:ext uri="{FF2B5EF4-FFF2-40B4-BE49-F238E27FC236}">
                <a16:creationId xmlns:a16="http://schemas.microsoft.com/office/drawing/2014/main" id="{9A9526DA-9D5D-4936-B181-9E2A7E630FAF}"/>
              </a:ext>
            </a:extLst>
          </p:cNvPr>
          <p:cNvGrpSpPr/>
          <p:nvPr/>
        </p:nvGrpSpPr>
        <p:grpSpPr>
          <a:xfrm>
            <a:off x="234948" y="874090"/>
            <a:ext cx="5521918" cy="1342231"/>
            <a:chOff x="357613" y="1969450"/>
            <a:chExt cx="5521918" cy="1342231"/>
          </a:xfrm>
        </p:grpSpPr>
        <p:sp>
          <p:nvSpPr>
            <p:cNvPr id="6" name="TextBox 5">
              <a:extLst>
                <a:ext uri="{FF2B5EF4-FFF2-40B4-BE49-F238E27FC236}">
                  <a16:creationId xmlns:a16="http://schemas.microsoft.com/office/drawing/2014/main" id="{86715D0E-52BA-4601-ABA6-2FD73FD909D0}"/>
                </a:ext>
              </a:extLst>
            </p:cNvPr>
            <p:cNvSpPr txBox="1"/>
            <p:nvPr/>
          </p:nvSpPr>
          <p:spPr>
            <a:xfrm>
              <a:off x="357613" y="2086560"/>
              <a:ext cx="831454" cy="307777"/>
            </a:xfrm>
            <a:prstGeom prst="rect">
              <a:avLst/>
            </a:prstGeom>
            <a:noFill/>
          </p:spPr>
          <p:txBody>
            <a:bodyPr wrap="square" rtlCol="0">
              <a:spAutoFit/>
            </a:bodyPr>
            <a:lstStyle/>
            <a:p>
              <a:pPr algn="ctr"/>
              <a:r>
                <a:rPr lang="ko-KR" altLang="en-US" sz="1400" b="1" dirty="0"/>
                <a:t>사용자 </a:t>
              </a:r>
            </a:p>
          </p:txBody>
        </p:sp>
        <p:sp>
          <p:nvSpPr>
            <p:cNvPr id="7" name="TextBox 6">
              <a:extLst>
                <a:ext uri="{FF2B5EF4-FFF2-40B4-BE49-F238E27FC236}">
                  <a16:creationId xmlns:a16="http://schemas.microsoft.com/office/drawing/2014/main" id="{77E612BA-6BF3-4BBA-82BA-F4AD9C215CFF}"/>
                </a:ext>
              </a:extLst>
            </p:cNvPr>
            <p:cNvSpPr txBox="1"/>
            <p:nvPr/>
          </p:nvSpPr>
          <p:spPr>
            <a:xfrm>
              <a:off x="1797137" y="2086560"/>
              <a:ext cx="821927" cy="307777"/>
            </a:xfrm>
            <a:prstGeom prst="rect">
              <a:avLst/>
            </a:prstGeom>
            <a:noFill/>
          </p:spPr>
          <p:txBody>
            <a:bodyPr wrap="square" rtlCol="0">
              <a:spAutoFit/>
            </a:bodyPr>
            <a:lstStyle/>
            <a:p>
              <a:pPr algn="ctr"/>
              <a:r>
                <a:rPr lang="ko-KR" altLang="en-US" sz="1400" b="1" dirty="0"/>
                <a:t>고객사</a:t>
              </a:r>
            </a:p>
          </p:txBody>
        </p:sp>
        <p:sp>
          <p:nvSpPr>
            <p:cNvPr id="8" name="TextBox 7">
              <a:extLst>
                <a:ext uri="{FF2B5EF4-FFF2-40B4-BE49-F238E27FC236}">
                  <a16:creationId xmlns:a16="http://schemas.microsoft.com/office/drawing/2014/main" id="{54838E49-8046-4429-8A4E-CA3333703E07}"/>
                </a:ext>
              </a:extLst>
            </p:cNvPr>
            <p:cNvSpPr txBox="1"/>
            <p:nvPr/>
          </p:nvSpPr>
          <p:spPr>
            <a:xfrm>
              <a:off x="3025514" y="1969450"/>
              <a:ext cx="907625" cy="523220"/>
            </a:xfrm>
            <a:prstGeom prst="rect">
              <a:avLst/>
            </a:prstGeom>
            <a:noFill/>
          </p:spPr>
          <p:txBody>
            <a:bodyPr wrap="square" rtlCol="0">
              <a:spAutoFit/>
            </a:bodyPr>
            <a:lstStyle/>
            <a:p>
              <a:pPr algn="ctr"/>
              <a:r>
                <a:rPr lang="en-US" altLang="ko-KR" sz="1400" b="1" dirty="0"/>
                <a:t>Device</a:t>
              </a:r>
              <a:r>
                <a:rPr lang="ko-KR" altLang="en-US" sz="1400" b="1" dirty="0"/>
                <a:t> </a:t>
              </a:r>
              <a:endParaRPr lang="en-US" altLang="ko-KR" sz="1400" b="1" dirty="0"/>
            </a:p>
            <a:p>
              <a:pPr algn="ctr"/>
              <a:r>
                <a:rPr lang="ko-KR" altLang="en-US" sz="1400" b="1" dirty="0"/>
                <a:t>제조사 </a:t>
              </a:r>
            </a:p>
          </p:txBody>
        </p:sp>
        <p:sp>
          <p:nvSpPr>
            <p:cNvPr id="9" name="TextBox 8">
              <a:extLst>
                <a:ext uri="{FF2B5EF4-FFF2-40B4-BE49-F238E27FC236}">
                  <a16:creationId xmlns:a16="http://schemas.microsoft.com/office/drawing/2014/main" id="{D8524EAF-43FF-4CA6-BE52-C679E33A6DED}"/>
                </a:ext>
              </a:extLst>
            </p:cNvPr>
            <p:cNvSpPr txBox="1"/>
            <p:nvPr/>
          </p:nvSpPr>
          <p:spPr>
            <a:xfrm>
              <a:off x="4550676" y="1969450"/>
              <a:ext cx="1328855" cy="523220"/>
            </a:xfrm>
            <a:prstGeom prst="rect">
              <a:avLst/>
            </a:prstGeom>
            <a:noFill/>
          </p:spPr>
          <p:txBody>
            <a:bodyPr wrap="square" rtlCol="0">
              <a:spAutoFit/>
            </a:bodyPr>
            <a:lstStyle/>
            <a:p>
              <a:pPr algn="ctr"/>
              <a:r>
                <a:rPr lang="ko-KR" altLang="en-US" sz="1400" b="1" dirty="0"/>
                <a:t>차세대 </a:t>
              </a:r>
              <a:endParaRPr lang="en-US" altLang="ko-KR" sz="1400" b="1" dirty="0"/>
            </a:p>
            <a:p>
              <a:pPr algn="ctr"/>
              <a:r>
                <a:rPr lang="en-US" altLang="ko-KR" sz="1400" b="1" dirty="0"/>
                <a:t>Device </a:t>
              </a:r>
              <a:r>
                <a:rPr lang="ko-KR" altLang="en-US" sz="1400" b="1" dirty="0"/>
                <a:t>개발</a:t>
              </a:r>
            </a:p>
          </p:txBody>
        </p:sp>
        <p:cxnSp>
          <p:nvCxnSpPr>
            <p:cNvPr id="10" name="직선 화살표 연결선 9">
              <a:extLst>
                <a:ext uri="{FF2B5EF4-FFF2-40B4-BE49-F238E27FC236}">
                  <a16:creationId xmlns:a16="http://schemas.microsoft.com/office/drawing/2014/main" id="{90FA0C66-5ABC-4808-83C1-DD08D207450F}"/>
                </a:ext>
              </a:extLst>
            </p:cNvPr>
            <p:cNvCxnSpPr>
              <a:cxnSpLocks/>
              <a:stCxn id="6" idx="2"/>
            </p:cNvCxnSpPr>
            <p:nvPr/>
          </p:nvCxnSpPr>
          <p:spPr>
            <a:xfrm>
              <a:off x="773340" y="2394337"/>
              <a:ext cx="804178" cy="5081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사각형: 둥근 모서리 6">
              <a:extLst>
                <a:ext uri="{FF2B5EF4-FFF2-40B4-BE49-F238E27FC236}">
                  <a16:creationId xmlns:a16="http://schemas.microsoft.com/office/drawing/2014/main" id="{0D41160C-BFDC-4421-9C8C-ABD6032AAA57}"/>
                </a:ext>
              </a:extLst>
            </p:cNvPr>
            <p:cNvSpPr/>
            <p:nvPr/>
          </p:nvSpPr>
          <p:spPr>
            <a:xfrm>
              <a:off x="1094330" y="2979596"/>
              <a:ext cx="966377" cy="332085"/>
            </a:xfrm>
            <a:prstGeom prst="can">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ko-KR" sz="1400" b="1" dirty="0"/>
                <a:t>System</a:t>
              </a:r>
              <a:endParaRPr lang="ko-KR" altLang="en-US" sz="1400" b="1" dirty="0"/>
            </a:p>
          </p:txBody>
        </p:sp>
        <p:cxnSp>
          <p:nvCxnSpPr>
            <p:cNvPr id="12" name="직선 화살표 연결선 11">
              <a:extLst>
                <a:ext uri="{FF2B5EF4-FFF2-40B4-BE49-F238E27FC236}">
                  <a16:creationId xmlns:a16="http://schemas.microsoft.com/office/drawing/2014/main" id="{03932C8C-EA74-485E-A4F6-1F985F2D591B}"/>
                </a:ext>
              </a:extLst>
            </p:cNvPr>
            <p:cNvCxnSpPr>
              <a:cxnSpLocks/>
              <a:stCxn id="7" idx="2"/>
            </p:cNvCxnSpPr>
            <p:nvPr/>
          </p:nvCxnSpPr>
          <p:spPr>
            <a:xfrm flipH="1">
              <a:off x="1577519" y="2394337"/>
              <a:ext cx="630582" cy="5081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CA52B805-A6E5-444C-8A99-1A5CF4A3DEEB}"/>
                </a:ext>
              </a:extLst>
            </p:cNvPr>
            <p:cNvSpPr txBox="1"/>
            <p:nvPr/>
          </p:nvSpPr>
          <p:spPr>
            <a:xfrm>
              <a:off x="713902" y="2621536"/>
              <a:ext cx="694049" cy="261610"/>
            </a:xfrm>
            <a:prstGeom prst="rect">
              <a:avLst/>
            </a:prstGeom>
            <a:noFill/>
          </p:spPr>
          <p:txBody>
            <a:bodyPr wrap="square" rtlCol="0">
              <a:spAutoFit/>
            </a:bodyPr>
            <a:lstStyle/>
            <a:p>
              <a:r>
                <a:rPr lang="ko-KR" altLang="en-US" sz="1050" dirty="0">
                  <a:solidFill>
                    <a:schemeClr val="bg1">
                      <a:lumMod val="50000"/>
                    </a:schemeClr>
                  </a:solidFill>
                </a:rPr>
                <a:t>사용</a:t>
              </a:r>
            </a:p>
          </p:txBody>
        </p:sp>
        <p:sp>
          <p:nvSpPr>
            <p:cNvPr id="14" name="TextBox 13">
              <a:extLst>
                <a:ext uri="{FF2B5EF4-FFF2-40B4-BE49-F238E27FC236}">
                  <a16:creationId xmlns:a16="http://schemas.microsoft.com/office/drawing/2014/main" id="{CF255984-8195-4F95-9A39-54A9626B5AAD}"/>
                </a:ext>
              </a:extLst>
            </p:cNvPr>
            <p:cNvSpPr txBox="1"/>
            <p:nvPr/>
          </p:nvSpPr>
          <p:spPr>
            <a:xfrm>
              <a:off x="1842449" y="2621536"/>
              <a:ext cx="694049" cy="261610"/>
            </a:xfrm>
            <a:prstGeom prst="rect">
              <a:avLst/>
            </a:prstGeom>
            <a:noFill/>
          </p:spPr>
          <p:txBody>
            <a:bodyPr wrap="square" rtlCol="0">
              <a:spAutoFit/>
            </a:bodyPr>
            <a:lstStyle/>
            <a:p>
              <a:r>
                <a:rPr lang="ko-KR" altLang="en-US" sz="1050" dirty="0">
                  <a:solidFill>
                    <a:schemeClr val="bg1">
                      <a:lumMod val="50000"/>
                    </a:schemeClr>
                  </a:solidFill>
                </a:rPr>
                <a:t>제공</a:t>
              </a:r>
            </a:p>
          </p:txBody>
        </p:sp>
        <p:cxnSp>
          <p:nvCxnSpPr>
            <p:cNvPr id="15" name="직선 화살표 연결선 14">
              <a:extLst>
                <a:ext uri="{FF2B5EF4-FFF2-40B4-BE49-F238E27FC236}">
                  <a16:creationId xmlns:a16="http://schemas.microsoft.com/office/drawing/2014/main" id="{91BAE979-56DE-4205-B778-D70E077ED7DE}"/>
                </a:ext>
              </a:extLst>
            </p:cNvPr>
            <p:cNvCxnSpPr>
              <a:cxnSpLocks/>
              <a:stCxn id="6" idx="3"/>
              <a:endCxn id="7" idx="1"/>
            </p:cNvCxnSpPr>
            <p:nvPr/>
          </p:nvCxnSpPr>
          <p:spPr>
            <a:xfrm>
              <a:off x="1189067" y="2240449"/>
              <a:ext cx="60807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6" name="TextBox 15">
              <a:extLst>
                <a:ext uri="{FF2B5EF4-FFF2-40B4-BE49-F238E27FC236}">
                  <a16:creationId xmlns:a16="http://schemas.microsoft.com/office/drawing/2014/main" id="{5B88D107-D475-484C-AFCF-D096933E917B}"/>
                </a:ext>
              </a:extLst>
            </p:cNvPr>
            <p:cNvSpPr txBox="1"/>
            <p:nvPr/>
          </p:nvSpPr>
          <p:spPr>
            <a:xfrm>
              <a:off x="1142696" y="1976408"/>
              <a:ext cx="812362" cy="261610"/>
            </a:xfrm>
            <a:prstGeom prst="rect">
              <a:avLst/>
            </a:prstGeom>
            <a:noFill/>
          </p:spPr>
          <p:txBody>
            <a:bodyPr wrap="square" rtlCol="0">
              <a:spAutoFit/>
            </a:bodyPr>
            <a:lstStyle/>
            <a:p>
              <a:r>
                <a:rPr lang="ko-KR" altLang="en-US" sz="1050" dirty="0">
                  <a:solidFill>
                    <a:schemeClr val="bg1">
                      <a:lumMod val="50000"/>
                    </a:schemeClr>
                  </a:solidFill>
                </a:rPr>
                <a:t>요구사항</a:t>
              </a:r>
            </a:p>
          </p:txBody>
        </p:sp>
        <p:cxnSp>
          <p:nvCxnSpPr>
            <p:cNvPr id="17" name="직선 화살표 연결선 16">
              <a:extLst>
                <a:ext uri="{FF2B5EF4-FFF2-40B4-BE49-F238E27FC236}">
                  <a16:creationId xmlns:a16="http://schemas.microsoft.com/office/drawing/2014/main" id="{F2290BCB-23D7-492D-B4BD-95543C1A29DB}"/>
                </a:ext>
              </a:extLst>
            </p:cNvPr>
            <p:cNvCxnSpPr>
              <a:cxnSpLocks/>
              <a:stCxn id="7" idx="3"/>
              <a:endCxn id="8" idx="1"/>
            </p:cNvCxnSpPr>
            <p:nvPr/>
          </p:nvCxnSpPr>
          <p:spPr>
            <a:xfrm flipV="1">
              <a:off x="2619064" y="2231060"/>
              <a:ext cx="406450" cy="938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직선 화살표 연결선 17">
              <a:extLst>
                <a:ext uri="{FF2B5EF4-FFF2-40B4-BE49-F238E27FC236}">
                  <a16:creationId xmlns:a16="http://schemas.microsoft.com/office/drawing/2014/main" id="{36E364C4-2390-41B7-8A7D-8270FAB7541B}"/>
                </a:ext>
              </a:extLst>
            </p:cNvPr>
            <p:cNvCxnSpPr>
              <a:cxnSpLocks/>
              <a:stCxn id="8" idx="3"/>
              <a:endCxn id="9" idx="1"/>
            </p:cNvCxnSpPr>
            <p:nvPr/>
          </p:nvCxnSpPr>
          <p:spPr>
            <a:xfrm>
              <a:off x="3933139" y="2231060"/>
              <a:ext cx="61753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4697CA45-C310-4291-9C07-C466396C1928}"/>
                </a:ext>
              </a:extLst>
            </p:cNvPr>
            <p:cNvSpPr txBox="1"/>
            <p:nvPr/>
          </p:nvSpPr>
          <p:spPr>
            <a:xfrm>
              <a:off x="2419451" y="1976408"/>
              <a:ext cx="812362" cy="261610"/>
            </a:xfrm>
            <a:prstGeom prst="rect">
              <a:avLst/>
            </a:prstGeom>
            <a:noFill/>
          </p:spPr>
          <p:txBody>
            <a:bodyPr wrap="square" rtlCol="0">
              <a:spAutoFit/>
            </a:bodyPr>
            <a:lstStyle/>
            <a:p>
              <a:r>
                <a:rPr lang="ko-KR" altLang="en-US" sz="1050" dirty="0">
                  <a:solidFill>
                    <a:schemeClr val="bg1">
                      <a:lumMod val="50000"/>
                    </a:schemeClr>
                  </a:solidFill>
                </a:rPr>
                <a:t>요구사항</a:t>
              </a:r>
            </a:p>
          </p:txBody>
        </p:sp>
        <p:grpSp>
          <p:nvGrpSpPr>
            <p:cNvPr id="20" name="그룹 19">
              <a:extLst>
                <a:ext uri="{FF2B5EF4-FFF2-40B4-BE49-F238E27FC236}">
                  <a16:creationId xmlns:a16="http://schemas.microsoft.com/office/drawing/2014/main" id="{2DD832C9-7517-4055-A83E-0B8227802FA4}"/>
                </a:ext>
              </a:extLst>
            </p:cNvPr>
            <p:cNvGrpSpPr/>
            <p:nvPr/>
          </p:nvGrpSpPr>
          <p:grpSpPr>
            <a:xfrm>
              <a:off x="1370697" y="2394970"/>
              <a:ext cx="304381" cy="319796"/>
              <a:chOff x="3367688" y="3265398"/>
              <a:chExt cx="304381" cy="386954"/>
            </a:xfrm>
          </p:grpSpPr>
          <p:sp>
            <p:nvSpPr>
              <p:cNvPr id="24" name="화살표: 원형 90">
                <a:extLst>
                  <a:ext uri="{FF2B5EF4-FFF2-40B4-BE49-F238E27FC236}">
                    <a16:creationId xmlns:a16="http://schemas.microsoft.com/office/drawing/2014/main" id="{CE6795B7-276B-45F5-9744-4CEA0D06559A}"/>
                  </a:ext>
                </a:extLst>
              </p:cNvPr>
              <p:cNvSpPr/>
              <p:nvPr/>
            </p:nvSpPr>
            <p:spPr>
              <a:xfrm rot="10800000">
                <a:off x="3367689" y="3302718"/>
                <a:ext cx="304380" cy="349634"/>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solidFill>
                    <a:schemeClr val="tx1"/>
                  </a:solidFill>
                </a:endParaRPr>
              </a:p>
            </p:txBody>
          </p:sp>
          <p:sp>
            <p:nvSpPr>
              <p:cNvPr id="25" name="화살표: 원형 95">
                <a:extLst>
                  <a:ext uri="{FF2B5EF4-FFF2-40B4-BE49-F238E27FC236}">
                    <a16:creationId xmlns:a16="http://schemas.microsoft.com/office/drawing/2014/main" id="{3F3D4C02-EFD6-42DE-8B2E-492B4D0375A8}"/>
                  </a:ext>
                </a:extLst>
              </p:cNvPr>
              <p:cNvSpPr/>
              <p:nvPr/>
            </p:nvSpPr>
            <p:spPr>
              <a:xfrm>
                <a:off x="3367688" y="3265398"/>
                <a:ext cx="304380" cy="349634"/>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solidFill>
                    <a:schemeClr val="tx1"/>
                  </a:solidFill>
                </a:endParaRPr>
              </a:p>
            </p:txBody>
          </p:sp>
        </p:grpSp>
        <p:cxnSp>
          <p:nvCxnSpPr>
            <p:cNvPr id="21" name="직선 화살표 연결선 20">
              <a:extLst>
                <a:ext uri="{FF2B5EF4-FFF2-40B4-BE49-F238E27FC236}">
                  <a16:creationId xmlns:a16="http://schemas.microsoft.com/office/drawing/2014/main" id="{79DBF8BB-DFD9-4C28-81E1-647DEA327A38}"/>
                </a:ext>
              </a:extLst>
            </p:cNvPr>
            <p:cNvCxnSpPr>
              <a:cxnSpLocks/>
              <a:endCxn id="8" idx="2"/>
            </p:cNvCxnSpPr>
            <p:nvPr/>
          </p:nvCxnSpPr>
          <p:spPr>
            <a:xfrm flipV="1">
              <a:off x="2162176" y="2492670"/>
              <a:ext cx="1317151" cy="652969"/>
            </a:xfrm>
            <a:prstGeom prst="straightConnector1">
              <a:avLst/>
            </a:prstGeom>
            <a:ln w="12700">
              <a:solidFill>
                <a:schemeClr val="accent2">
                  <a:lumMod val="75000"/>
                </a:schemeClr>
              </a:solidFill>
              <a:prstDash val="dash"/>
              <a:tailEnd type="triangle"/>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37E134C2-E2E3-47CC-8AB9-6AFE5A4786C4}"/>
                </a:ext>
              </a:extLst>
            </p:cNvPr>
            <p:cNvCxnSpPr>
              <a:cxnSpLocks/>
            </p:cNvCxnSpPr>
            <p:nvPr/>
          </p:nvCxnSpPr>
          <p:spPr>
            <a:xfrm>
              <a:off x="3933139" y="2441317"/>
              <a:ext cx="617537" cy="0"/>
            </a:xfrm>
            <a:prstGeom prst="straightConnector1">
              <a:avLst/>
            </a:prstGeom>
            <a:ln w="12700">
              <a:solidFill>
                <a:schemeClr val="accent2">
                  <a:lumMod val="75000"/>
                </a:schemeClr>
              </a:solidFill>
              <a:prstDash val="dash"/>
              <a:tailEnd type="triangle"/>
            </a:ln>
          </p:spPr>
          <p:style>
            <a:lnRef idx="1">
              <a:schemeClr val="dk1"/>
            </a:lnRef>
            <a:fillRef idx="0">
              <a:schemeClr val="dk1"/>
            </a:fillRef>
            <a:effectRef idx="0">
              <a:schemeClr val="dk1"/>
            </a:effectRef>
            <a:fontRef idx="minor">
              <a:schemeClr val="tx1"/>
            </a:fontRef>
          </p:style>
        </p:cxnSp>
        <p:cxnSp>
          <p:nvCxnSpPr>
            <p:cNvPr id="23" name="직선 화살표 연결선 22">
              <a:extLst>
                <a:ext uri="{FF2B5EF4-FFF2-40B4-BE49-F238E27FC236}">
                  <a16:creationId xmlns:a16="http://schemas.microsoft.com/office/drawing/2014/main" id="{7AA64DDF-6B63-42A4-8FAB-57FD3C2D1BD8}"/>
                </a:ext>
              </a:extLst>
            </p:cNvPr>
            <p:cNvCxnSpPr>
              <a:cxnSpLocks/>
            </p:cNvCxnSpPr>
            <p:nvPr/>
          </p:nvCxnSpPr>
          <p:spPr>
            <a:xfrm>
              <a:off x="3933139" y="2365184"/>
              <a:ext cx="617537" cy="0"/>
            </a:xfrm>
            <a:prstGeom prst="straightConnector1">
              <a:avLst/>
            </a:prstGeom>
            <a:ln w="12700">
              <a:solidFill>
                <a:schemeClr val="accent2">
                  <a:lumMod val="75000"/>
                </a:schemeClr>
              </a:solidFill>
              <a:prstDash val="dash"/>
              <a:tailEnd type="triangle"/>
            </a:ln>
          </p:spPr>
          <p:style>
            <a:lnRef idx="1">
              <a:schemeClr val="dk1"/>
            </a:lnRef>
            <a:fillRef idx="0">
              <a:schemeClr val="dk1"/>
            </a:fillRef>
            <a:effectRef idx="0">
              <a:schemeClr val="dk1"/>
            </a:effectRef>
            <a:fontRef idx="minor">
              <a:schemeClr val="tx1"/>
            </a:fontRef>
          </p:style>
        </p:cxnSp>
      </p:grpSp>
      <p:sp>
        <p:nvSpPr>
          <p:cNvPr id="30" name="TextBox 29"/>
          <p:cNvSpPr txBox="1"/>
          <p:nvPr/>
        </p:nvSpPr>
        <p:spPr>
          <a:xfrm>
            <a:off x="6278724" y="949619"/>
            <a:ext cx="5180810" cy="333617"/>
          </a:xfrm>
          <a:prstGeom prst="rect">
            <a:avLst/>
          </a:prstGeom>
          <a:noFill/>
        </p:spPr>
        <p:txBody>
          <a:bodyPr wrap="square" rtlCol="0">
            <a:spAutoFit/>
          </a:bodyPr>
          <a:lstStyle/>
          <a:p>
            <a:pPr>
              <a:lnSpc>
                <a:spcPct val="150000"/>
              </a:lnSpc>
            </a:pPr>
            <a:r>
              <a:rPr lang="ko-KR" altLang="en-US" sz="1200" b="1" dirty="0">
                <a:solidFill>
                  <a:srgbClr val="0066FF"/>
                </a:solidFill>
              </a:rPr>
              <a:t>시스템 관점 연구는 차세대 </a:t>
            </a:r>
            <a:r>
              <a:rPr lang="en-US" altLang="ko-KR" sz="1200" b="1" dirty="0">
                <a:solidFill>
                  <a:srgbClr val="0066FF"/>
                </a:solidFill>
              </a:rPr>
              <a:t>Device</a:t>
            </a:r>
            <a:r>
              <a:rPr lang="ko-KR" altLang="en-US" sz="1200" b="1" dirty="0">
                <a:solidFill>
                  <a:srgbClr val="0066FF"/>
                </a:solidFill>
              </a:rPr>
              <a:t> 개발 방향 제시 역할 </a:t>
            </a:r>
            <a:endParaRPr lang="ko-KR" altLang="en-US" sz="1200" dirty="0"/>
          </a:p>
        </p:txBody>
      </p:sp>
    </p:spTree>
    <p:extLst>
      <p:ext uri="{BB962C8B-B14F-4D97-AF65-F5344CB8AC3E}">
        <p14:creationId xmlns:p14="http://schemas.microsoft.com/office/powerpoint/2010/main" val="1697801007"/>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사각형: 둥근 모서리 99">
            <a:extLst>
              <a:ext uri="{FF2B5EF4-FFF2-40B4-BE49-F238E27FC236}">
                <a16:creationId xmlns:a16="http://schemas.microsoft.com/office/drawing/2014/main" id="{A34181D7-974C-4EE4-A483-8FE7E2E8000E}"/>
              </a:ext>
            </a:extLst>
          </p:cNvPr>
          <p:cNvSpPr/>
          <p:nvPr/>
        </p:nvSpPr>
        <p:spPr>
          <a:xfrm>
            <a:off x="6060725" y="2438400"/>
            <a:ext cx="5788374" cy="4000500"/>
          </a:xfrm>
          <a:prstGeom prst="roundRect">
            <a:avLst>
              <a:gd name="adj" fmla="val 2665"/>
            </a:avLst>
          </a:prstGeom>
          <a:gradFill flip="none" rotWithShape="1">
            <a:gsLst>
              <a:gs pos="0">
                <a:srgbClr val="465B6E">
                  <a:alpha val="69000"/>
                </a:srgbClr>
              </a:gs>
              <a:gs pos="57000">
                <a:schemeClr val="tx2">
                  <a:lumMod val="75000"/>
                  <a:alpha val="0"/>
                </a:schemeClr>
              </a:gs>
            </a:gsLst>
            <a:lin ang="3600000" scaled="0"/>
            <a:tileRect/>
          </a:gradFill>
          <a:ln w="6350">
            <a:gradFill flip="none" rotWithShape="1">
              <a:gsLst>
                <a:gs pos="0">
                  <a:srgbClr val="9AC7F0">
                    <a:alpha val="44706"/>
                  </a:srgbClr>
                </a:gs>
                <a:gs pos="100000">
                  <a:srgbClr val="4898E3">
                    <a:alpha val="0"/>
                  </a:srgbClr>
                </a:gs>
              </a:gsLst>
              <a:lin ang="54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1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dirty="0">
              <a:ln>
                <a:noFill/>
              </a:ln>
              <a:solidFill>
                <a:prstClr val="white"/>
              </a:solidFill>
              <a:effectLst/>
              <a:uLnTx/>
              <a:uFillTx/>
              <a:latin typeface="Samsung Sharp Sans Bold" pitchFamily="2" charset="0"/>
              <a:ea typeface="맑은 고딕" panose="020B0503020000020004" pitchFamily="50" charset="-127"/>
              <a:cs typeface="Samsung Sharp Sans Bold" pitchFamily="2" charset="0"/>
            </a:endParaRPr>
          </a:p>
        </p:txBody>
      </p:sp>
      <p:sp>
        <p:nvSpPr>
          <p:cNvPr id="667" name="직사각형 666">
            <a:extLst>
              <a:ext uri="{FF2B5EF4-FFF2-40B4-BE49-F238E27FC236}">
                <a16:creationId xmlns:a16="http://schemas.microsoft.com/office/drawing/2014/main" id="{0D49FCC2-9870-4D56-9D29-7DC62B9B29E9}"/>
              </a:ext>
            </a:extLst>
          </p:cNvPr>
          <p:cNvSpPr/>
          <p:nvPr/>
        </p:nvSpPr>
        <p:spPr>
          <a:xfrm>
            <a:off x="10308208" y="4851976"/>
            <a:ext cx="1118934" cy="840507"/>
          </a:xfrm>
          <a:prstGeom prst="rect">
            <a:avLst/>
          </a:prstGeom>
          <a:solidFill>
            <a:schemeClr val="bg1">
              <a:lumMod val="50000"/>
            </a:schemeClr>
          </a:solidFill>
          <a:ln>
            <a:noFill/>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32" name="Text Placeholder 3"/>
          <p:cNvSpPr>
            <a:spLocks noGrp="1"/>
          </p:cNvSpPr>
          <p:nvPr>
            <p:ph type="body" idx="4294967295"/>
          </p:nvPr>
        </p:nvSpPr>
        <p:spPr>
          <a:xfrm>
            <a:off x="296230" y="241573"/>
            <a:ext cx="11552870" cy="658906"/>
          </a:xfrm>
          <a:prstGeom prst="rect">
            <a:avLst/>
          </a:prstGeom>
          <a:noFill/>
          <a:ln w="9525">
            <a:noFill/>
            <a:miter lim="800000"/>
            <a:headEnd/>
            <a:tailEnd/>
          </a:ln>
        </p:spPr>
        <p:txBody>
          <a:bodyPr wrap="square" lIns="103892" tIns="51947" rIns="103892" bIns="51947">
            <a:spAutoFit/>
            <a:scene3d>
              <a:camera prst="orthographicFront"/>
              <a:lightRig rig="threePt" dir="t"/>
            </a:scene3d>
            <a:sp3d contourW="2540">
              <a:contourClr>
                <a:srgbClr val="00B0F0"/>
              </a:contourClr>
            </a:sp3d>
          </a:bodyPr>
          <a:lstStyle/>
          <a:p>
            <a:pPr marL="0" indent="0" defTabSz="914310" latinLnBrk="1">
              <a:buNone/>
            </a:pPr>
            <a:r>
              <a:rPr lang="en-US" altLang="ko-KR" sz="3600" dirty="0">
                <a:gradFill>
                  <a:gsLst>
                    <a:gs pos="100000">
                      <a:srgbClr val="14CEC0"/>
                    </a:gs>
                    <a:gs pos="0">
                      <a:srgbClr val="4898E3"/>
                    </a:gs>
                  </a:gsLst>
                  <a:lin ang="0" scaled="1"/>
                </a:gradFill>
                <a:latin typeface="Samsung Sharp Sans Bold" pitchFamily="2" charset="0"/>
                <a:ea typeface="Samsung Sharp Sans Bold" pitchFamily="2" charset="0"/>
                <a:cs typeface="Samsung Sharp Sans Bold" pitchFamily="2" charset="0"/>
              </a:rPr>
              <a:t>Future advanced memory hierarchy </a:t>
            </a:r>
            <a:endParaRPr lang="en-US" altLang="ja-JP" sz="3600" dirty="0">
              <a:gradFill>
                <a:gsLst>
                  <a:gs pos="100000">
                    <a:srgbClr val="14CEC0"/>
                  </a:gs>
                  <a:gs pos="0">
                    <a:srgbClr val="4898E3"/>
                  </a:gs>
                </a:gsLst>
                <a:lin ang="0" scaled="1"/>
              </a:gradFill>
              <a:latin typeface="Samsung Sharp Sans Bold" pitchFamily="2" charset="0"/>
              <a:ea typeface="Samsung Sharp Sans Bold" pitchFamily="2" charset="0"/>
              <a:cs typeface="Samsung Sharp Sans Bold" pitchFamily="2" charset="0"/>
            </a:endParaRPr>
          </a:p>
        </p:txBody>
      </p:sp>
      <p:cxnSp>
        <p:nvCxnSpPr>
          <p:cNvPr id="11" name="직선 연결선 10">
            <a:extLst>
              <a:ext uri="{FF2B5EF4-FFF2-40B4-BE49-F238E27FC236}">
                <a16:creationId xmlns:a16="http://schemas.microsoft.com/office/drawing/2014/main" id="{E78C25FD-2FD7-4801-A6F1-7CDC27D1CDF1}"/>
              </a:ext>
            </a:extLst>
          </p:cNvPr>
          <p:cNvCxnSpPr/>
          <p:nvPr/>
        </p:nvCxnSpPr>
        <p:spPr>
          <a:xfrm flipH="1">
            <a:off x="296231" y="1018418"/>
            <a:ext cx="11552869" cy="0"/>
          </a:xfrm>
          <a:prstGeom prst="line">
            <a:avLst/>
          </a:prstGeom>
          <a:ln w="28575">
            <a:gradFill flip="none" rotWithShape="1">
              <a:gsLst>
                <a:gs pos="0">
                  <a:srgbClr val="004AEE"/>
                </a:gs>
                <a:gs pos="89524">
                  <a:srgbClr val="0DD5FF"/>
                </a:gs>
                <a:gs pos="61000">
                  <a:srgbClr val="0DD5FF"/>
                </a:gs>
              </a:gsLst>
              <a:lin ang="10800000" scaled="1"/>
              <a:tileRect/>
            </a:gra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6" name="Text Placeholder 4">
            <a:extLst>
              <a:ext uri="{FF2B5EF4-FFF2-40B4-BE49-F238E27FC236}">
                <a16:creationId xmlns:a16="http://schemas.microsoft.com/office/drawing/2014/main" id="{A6CF569C-872B-B84A-A657-4AEF2224EB13}"/>
              </a:ext>
            </a:extLst>
          </p:cNvPr>
          <p:cNvSpPr txBox="1">
            <a:spLocks/>
          </p:cNvSpPr>
          <p:nvPr/>
        </p:nvSpPr>
        <p:spPr>
          <a:xfrm>
            <a:off x="281477" y="1136358"/>
            <a:ext cx="11567623" cy="805349"/>
          </a:xfrm>
          <a:prstGeom prst="rect">
            <a:avLst/>
          </a:prstGeom>
          <a:noFill/>
          <a:ln w="9525">
            <a:noFill/>
            <a:miter lim="800000"/>
            <a:headEnd/>
            <a:tailEnd/>
          </a:ln>
        </p:spPr>
        <p:txBody>
          <a:bodyPr wrap="square" rtlCol="0">
            <a:spAutoFit/>
          </a:bodyPr>
          <a:lstStyle>
            <a:defPPr>
              <a:defRPr lang="ko-KR"/>
            </a:defPPr>
            <a:lvl1pPr defTabSz="1038622">
              <a:spcAft>
                <a:spcPts val="400"/>
              </a:spcAft>
              <a:buClr>
                <a:srgbClr val="0000FF"/>
              </a:buClr>
              <a:buSzPct val="110000"/>
              <a:defRPr sz="1067" b="1">
                <a:ln>
                  <a:solidFill>
                    <a:sysClr val="windowText" lastClr="000000">
                      <a:alpha val="0"/>
                    </a:sysClr>
                  </a:solidFill>
                </a:ln>
                <a:solidFill>
                  <a:schemeClr val="bg1"/>
                </a:solidFill>
                <a:latin typeface="SamsungOne 700C" panose="020B0806030303020204" pitchFamily="34" charset="0"/>
                <a:ea typeface="SamsungOne 700C" panose="020B0806030303020204" pitchFamily="34" charset="0"/>
                <a:cs typeface="Arial Unicode MS" panose="020B0604020202020204" pitchFamily="50" charset="-127"/>
              </a:defRPr>
            </a:lvl1pPr>
          </a:lstStyle>
          <a:p>
            <a:pPr marL="342900" marR="0" lvl="0" indent="-342900" algn="l" defTabSz="1038622" rtl="0" eaLnBrk="1" fontAlgn="auto" latinLnBrk="1" hangingPunct="1">
              <a:lnSpc>
                <a:spcPct val="100000"/>
              </a:lnSpc>
              <a:spcBef>
                <a:spcPts val="0"/>
              </a:spcBef>
              <a:spcAft>
                <a:spcPts val="1000"/>
              </a:spcAft>
              <a:buClr>
                <a:srgbClr val="FFFFFF"/>
              </a:buClr>
              <a:buSzPct val="110000"/>
              <a:buFont typeface="Arial" panose="020B0604020202020204" pitchFamily="34" charset="0"/>
              <a:buChar char="•"/>
              <a:tabLst/>
              <a:defRPr/>
            </a:pPr>
            <a:r>
              <a:rPr kumimoji="0" lang="en-US" altLang="ko-KR" sz="2000" b="1" i="0" u="none" strike="noStrike" kern="1200" cap="none" spc="0" normalizeH="0" baseline="0" noProof="0" dirty="0">
                <a:ln>
                  <a:solidFill>
                    <a:sysClr val="windowText" lastClr="000000">
                      <a:alpha val="0"/>
                    </a:sysClr>
                  </a:solidFill>
                </a:ln>
                <a:solidFill>
                  <a:srgbClr val="FFFFFF"/>
                </a:solidFill>
                <a:effectLst/>
                <a:uLnTx/>
                <a:uFillTx/>
                <a:latin typeface="SamsungOneKorean 600C" panose="020B0706030303020204" pitchFamily="50" charset="-127"/>
                <a:ea typeface="SamsungOneKorean 600C" panose="020B0706030303020204" pitchFamily="50" charset="-127"/>
              </a:rPr>
              <a:t>It is proposed various high-performance memory solutions for Agentic AI</a:t>
            </a:r>
          </a:p>
          <a:p>
            <a:pPr marL="800100" marR="0" lvl="1" indent="-342900" algn="l" defTabSz="914400" rtl="0" eaLnBrk="1" fontAlgn="auto" latinLnBrk="1" hangingPunct="1">
              <a:lnSpc>
                <a:spcPct val="100000"/>
              </a:lnSpc>
              <a:spcBef>
                <a:spcPts val="0"/>
              </a:spcBef>
              <a:spcAft>
                <a:spcPts val="1000"/>
              </a:spcAft>
              <a:buClr>
                <a:srgbClr val="FFFFFF"/>
              </a:buClr>
              <a:buSzTx/>
              <a:buFont typeface="Arial" panose="020B0604020202020204" pitchFamily="34" charset="0"/>
              <a:buChar char="•"/>
              <a:tabLst/>
              <a:defRPr/>
            </a:pPr>
            <a:r>
              <a:rPr kumimoji="0" lang="en-US" altLang="ko-KR" sz="1800" b="0" i="0" u="none" strike="noStrike" kern="1200" cap="none" spc="0" normalizeH="0" baseline="0" noProof="0" dirty="0">
                <a:ln>
                  <a:noFill/>
                </a:ln>
                <a:solidFill>
                  <a:srgbClr val="FFFFFF"/>
                </a:solidFill>
                <a:effectLst/>
                <a:uLnTx/>
                <a:uFillTx/>
                <a:latin typeface="SamsungOneKorean 600C" panose="020B0706030303020204" pitchFamily="50" charset="-127"/>
                <a:ea typeface="SamsungOneKorean 600C" panose="020B0706030303020204" pitchFamily="50" charset="-127"/>
                <a:cs typeface="+mn-cs"/>
              </a:rPr>
              <a:t>Various custom HBM as ScHBM and </a:t>
            </a:r>
            <a:r>
              <a:rPr kumimoji="0" lang="en-US" altLang="ko-KR" sz="1800" b="0" i="0" u="none" strike="noStrike" kern="1200" cap="none" spc="0" normalizeH="0" baseline="0" noProof="0" dirty="0" err="1">
                <a:ln>
                  <a:noFill/>
                </a:ln>
                <a:solidFill>
                  <a:srgbClr val="FFFFFF"/>
                </a:solidFill>
                <a:effectLst/>
                <a:uLnTx/>
                <a:uFillTx/>
                <a:latin typeface="SamsungOneKorean 600C" panose="020B0706030303020204" pitchFamily="50" charset="-127"/>
                <a:ea typeface="SamsungOneKorean 600C" panose="020B0706030303020204" pitchFamily="50" charset="-127"/>
                <a:cs typeface="+mn-cs"/>
              </a:rPr>
              <a:t>zHBM</a:t>
            </a:r>
            <a:r>
              <a:rPr kumimoji="0" lang="en-US" altLang="ko-KR" sz="1800" b="0" i="0" u="none" strike="noStrike" kern="1200" cap="none" spc="0" normalizeH="0" baseline="0" noProof="0" dirty="0">
                <a:ln>
                  <a:noFill/>
                </a:ln>
                <a:solidFill>
                  <a:srgbClr val="FFFFFF"/>
                </a:solidFill>
                <a:effectLst/>
                <a:uLnTx/>
                <a:uFillTx/>
                <a:latin typeface="SamsungOneKorean 600C" panose="020B0706030303020204" pitchFamily="50" charset="-127"/>
                <a:ea typeface="SamsungOneKorean 600C" panose="020B0706030303020204" pitchFamily="50" charset="-127"/>
                <a:cs typeface="+mn-cs"/>
              </a:rPr>
              <a:t>, various dimension NAND as </a:t>
            </a:r>
            <a:r>
              <a:rPr kumimoji="0" lang="en-US" altLang="ko-KR" sz="1800" b="0" i="0" u="none" strike="noStrike" kern="1200" cap="none" spc="0" normalizeH="0" baseline="0" noProof="0" dirty="0" err="1">
                <a:ln>
                  <a:noFill/>
                </a:ln>
                <a:solidFill>
                  <a:srgbClr val="FFFFFF"/>
                </a:solidFill>
                <a:effectLst/>
                <a:uLnTx/>
                <a:uFillTx/>
                <a:latin typeface="SamsungOneKorean 600C" panose="020B0706030303020204" pitchFamily="50" charset="-127"/>
                <a:ea typeface="SamsungOneKorean 600C" panose="020B0706030303020204" pitchFamily="50" charset="-127"/>
                <a:cs typeface="+mn-cs"/>
              </a:rPr>
              <a:t>zNAND</a:t>
            </a:r>
            <a:r>
              <a:rPr kumimoji="0" lang="en-US" altLang="ko-KR" sz="1800" b="0" i="0" u="none" strike="noStrike" kern="1200" cap="none" spc="0" normalizeH="0" baseline="0" noProof="0" dirty="0">
                <a:ln>
                  <a:noFill/>
                </a:ln>
                <a:solidFill>
                  <a:srgbClr val="FFFFFF"/>
                </a:solidFill>
                <a:effectLst/>
                <a:uLnTx/>
                <a:uFillTx/>
                <a:latin typeface="SamsungOneKorean 600C" panose="020B0706030303020204" pitchFamily="50" charset="-127"/>
                <a:ea typeface="SamsungOneKorean 600C" panose="020B0706030303020204" pitchFamily="50" charset="-127"/>
                <a:cs typeface="+mn-cs"/>
              </a:rPr>
              <a:t> and HBF  </a:t>
            </a:r>
          </a:p>
        </p:txBody>
      </p:sp>
      <p:pic>
        <p:nvPicPr>
          <p:cNvPr id="74" name="그림 73">
            <a:extLst>
              <a:ext uri="{FF2B5EF4-FFF2-40B4-BE49-F238E27FC236}">
                <a16:creationId xmlns:a16="http://schemas.microsoft.com/office/drawing/2014/main" id="{994BD804-44C5-FB49-BCC0-BB713CDD1FF6}"/>
              </a:ext>
            </a:extLst>
          </p:cNvPr>
          <p:cNvPicPr>
            <a:picLocks noChangeAspect="1"/>
          </p:cNvPicPr>
          <p:nvPr/>
        </p:nvPicPr>
        <p:blipFill rotWithShape="1">
          <a:blip r:embed="rId3" cstate="print">
            <a:alphaModFix/>
            <a:extLst>
              <a:ext uri="{28A0092B-C50C-407E-A947-70E740481C1C}">
                <a14:useLocalDpi xmlns:a14="http://schemas.microsoft.com/office/drawing/2010/main" val="0"/>
              </a:ext>
            </a:extLst>
          </a:blip>
          <a:srcRect l="16603" t="31177" r="19045" b="15154"/>
          <a:stretch/>
        </p:blipFill>
        <p:spPr>
          <a:xfrm>
            <a:off x="168752" y="2500238"/>
            <a:ext cx="5560559" cy="4015046"/>
          </a:xfrm>
          <a:prstGeom prst="rect">
            <a:avLst/>
          </a:prstGeom>
        </p:spPr>
      </p:pic>
      <p:sp>
        <p:nvSpPr>
          <p:cNvPr id="75" name="TextBox 74"/>
          <p:cNvSpPr txBox="1"/>
          <p:nvPr/>
        </p:nvSpPr>
        <p:spPr>
          <a:xfrm>
            <a:off x="720841" y="5646913"/>
            <a:ext cx="1288937" cy="400110"/>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  : In package memory</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 Storage Class Memory</a:t>
            </a:r>
          </a:p>
        </p:txBody>
      </p:sp>
      <p:sp>
        <p:nvSpPr>
          <p:cNvPr id="76" name="TextBox 75">
            <a:extLst>
              <a:ext uri="{FF2B5EF4-FFF2-40B4-BE49-F238E27FC236}">
                <a16:creationId xmlns:a16="http://schemas.microsoft.com/office/drawing/2014/main" id="{17A61728-791A-BE42-AEEA-32E85605CC29}"/>
              </a:ext>
            </a:extLst>
          </p:cNvPr>
          <p:cNvSpPr txBox="1"/>
          <p:nvPr/>
        </p:nvSpPr>
        <p:spPr>
          <a:xfrm>
            <a:off x="1321814" y="2848057"/>
            <a:ext cx="373408"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CPU</a:t>
            </a:r>
            <a:endParaRPr kumimoji="0" lang="ko-KR" altLang="en-US"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77" name="TextBox 76">
            <a:extLst>
              <a:ext uri="{FF2B5EF4-FFF2-40B4-BE49-F238E27FC236}">
                <a16:creationId xmlns:a16="http://schemas.microsoft.com/office/drawing/2014/main" id="{750B3C1F-D6A9-B547-A816-125FA49B1D63}"/>
              </a:ext>
            </a:extLst>
          </p:cNvPr>
          <p:cNvSpPr txBox="1"/>
          <p:nvPr/>
        </p:nvSpPr>
        <p:spPr>
          <a:xfrm>
            <a:off x="1238698" y="3178482"/>
            <a:ext cx="473357"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Cache</a:t>
            </a:r>
            <a:endParaRPr kumimoji="0" lang="ko-KR" altLang="en-US"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78" name="직사각형 77">
            <a:extLst>
              <a:ext uri="{FF2B5EF4-FFF2-40B4-BE49-F238E27FC236}">
                <a16:creationId xmlns:a16="http://schemas.microsoft.com/office/drawing/2014/main" id="{4187E286-2E0B-1249-ACCD-43690B4B6485}"/>
              </a:ext>
            </a:extLst>
          </p:cNvPr>
          <p:cNvSpPr/>
          <p:nvPr/>
        </p:nvSpPr>
        <p:spPr>
          <a:xfrm>
            <a:off x="1257780" y="3584429"/>
            <a:ext cx="418719" cy="276999"/>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IPM*</a:t>
            </a:r>
            <a:endParaRPr kumimoji="0" lang="ko-KR" altLang="en-US"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79" name="직사각형 78">
            <a:extLst>
              <a:ext uri="{FF2B5EF4-FFF2-40B4-BE49-F238E27FC236}">
                <a16:creationId xmlns:a16="http://schemas.microsoft.com/office/drawing/2014/main" id="{1735F842-7F7D-AE42-8B51-6A7EAD2D3C4F}"/>
              </a:ext>
            </a:extLst>
          </p:cNvPr>
          <p:cNvSpPr/>
          <p:nvPr/>
        </p:nvSpPr>
        <p:spPr>
          <a:xfrm>
            <a:off x="994969" y="3985189"/>
            <a:ext cx="875817" cy="276999"/>
          </a:xfrm>
          <a:prstGeom prst="rect">
            <a:avLst/>
          </a:prstGeom>
        </p:spPr>
        <p:txBody>
          <a:bodyPr wrap="non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Near</a:t>
            </a:r>
            <a:r>
              <a:rPr kumimoji="0" lang="ko-KR" altLang="en-US"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 </a:t>
            </a:r>
            <a:r>
              <a:rPr kumimoji="0" lang="en-US" altLang="ko-KR"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memory</a:t>
            </a:r>
            <a:endParaRPr kumimoji="0" lang="ko-KR" altLang="en-US"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80" name="직사각형 79">
            <a:extLst>
              <a:ext uri="{FF2B5EF4-FFF2-40B4-BE49-F238E27FC236}">
                <a16:creationId xmlns:a16="http://schemas.microsoft.com/office/drawing/2014/main" id="{D6B88728-886B-C44C-81F0-09D812E62BD2}"/>
              </a:ext>
            </a:extLst>
          </p:cNvPr>
          <p:cNvSpPr/>
          <p:nvPr/>
        </p:nvSpPr>
        <p:spPr>
          <a:xfrm>
            <a:off x="975921" y="4391991"/>
            <a:ext cx="878482" cy="276999"/>
          </a:xfrm>
          <a:prstGeom prst="rect">
            <a:avLst/>
          </a:prstGeom>
        </p:spPr>
        <p:txBody>
          <a:bodyPr wrap="non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Main Memory</a:t>
            </a:r>
            <a:endParaRPr kumimoji="0" lang="ko-KR" altLang="en-US"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81" name="직사각형 80">
            <a:extLst>
              <a:ext uri="{FF2B5EF4-FFF2-40B4-BE49-F238E27FC236}">
                <a16:creationId xmlns:a16="http://schemas.microsoft.com/office/drawing/2014/main" id="{31172D98-E074-1A4E-8B6D-1BBEDE19B107}"/>
              </a:ext>
            </a:extLst>
          </p:cNvPr>
          <p:cNvSpPr/>
          <p:nvPr/>
        </p:nvSpPr>
        <p:spPr>
          <a:xfrm>
            <a:off x="674964" y="4817988"/>
            <a:ext cx="1363353" cy="461665"/>
          </a:xfrm>
          <a:prstGeom prst="rect">
            <a:avLst/>
          </a:prstGeom>
        </p:spPr>
        <p:txBody>
          <a:bodyPr wrap="non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High Capacity Memory</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SCM**</a:t>
            </a:r>
            <a:endParaRPr kumimoji="0" lang="ko-KR" altLang="en-US"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82" name="직사각형 81">
            <a:extLst>
              <a:ext uri="{FF2B5EF4-FFF2-40B4-BE49-F238E27FC236}">
                <a16:creationId xmlns:a16="http://schemas.microsoft.com/office/drawing/2014/main" id="{4003FA81-6367-1A4B-9FA1-EE278D052FF9}"/>
              </a:ext>
            </a:extLst>
          </p:cNvPr>
          <p:cNvSpPr/>
          <p:nvPr/>
        </p:nvSpPr>
        <p:spPr>
          <a:xfrm>
            <a:off x="1059326" y="5230419"/>
            <a:ext cx="566642" cy="276999"/>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Storage</a:t>
            </a:r>
            <a:endParaRPr kumimoji="0" lang="ko-KR" altLang="en-US" sz="1200" b="1" i="0" u="none" strike="noStrike" kern="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83" name="TextBox 82">
            <a:extLst>
              <a:ext uri="{FF2B5EF4-FFF2-40B4-BE49-F238E27FC236}">
                <a16:creationId xmlns:a16="http://schemas.microsoft.com/office/drawing/2014/main" id="{987DEFE5-E808-4F43-9A0A-CFF684213AF6}"/>
              </a:ext>
            </a:extLst>
          </p:cNvPr>
          <p:cNvSpPr txBox="1"/>
          <p:nvPr/>
        </p:nvSpPr>
        <p:spPr>
          <a:xfrm>
            <a:off x="2034790" y="3013724"/>
            <a:ext cx="2078364"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Memory</a:t>
            </a:r>
            <a:r>
              <a:rPr kumimoji="0" lang="ko-KR" altLang="en-US"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 </a:t>
            </a:r>
            <a:r>
              <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Requirement</a:t>
            </a:r>
          </a:p>
        </p:txBody>
      </p:sp>
      <p:sp>
        <p:nvSpPr>
          <p:cNvPr id="84" name="TextBox 83">
            <a:extLst>
              <a:ext uri="{FF2B5EF4-FFF2-40B4-BE49-F238E27FC236}">
                <a16:creationId xmlns:a16="http://schemas.microsoft.com/office/drawing/2014/main" id="{4F090F53-B743-774C-872A-611A45E32736}"/>
              </a:ext>
            </a:extLst>
          </p:cNvPr>
          <p:cNvSpPr txBox="1"/>
          <p:nvPr/>
        </p:nvSpPr>
        <p:spPr>
          <a:xfrm>
            <a:off x="3870437" y="3062169"/>
            <a:ext cx="1923143"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00C3B2"/>
                </a:solidFill>
                <a:effectLst/>
                <a:uLnTx/>
                <a:uFillTx/>
                <a:latin typeface="SAMSUNGONE-600C" panose="020B0503030303020204" pitchFamily="34" charset="-127"/>
                <a:ea typeface="SAMSUNGONE-600C" panose="020B0503030303020204" pitchFamily="34" charset="-127"/>
                <a:cs typeface="+mn-cs"/>
              </a:rPr>
              <a:t>Advanced Memory</a:t>
            </a:r>
          </a:p>
        </p:txBody>
      </p:sp>
      <p:sp>
        <p:nvSpPr>
          <p:cNvPr id="85" name="직사각형 84">
            <a:extLst>
              <a:ext uri="{FF2B5EF4-FFF2-40B4-BE49-F238E27FC236}">
                <a16:creationId xmlns:a16="http://schemas.microsoft.com/office/drawing/2014/main" id="{365F4D04-F792-1646-B8B5-0BA17F875706}"/>
              </a:ext>
            </a:extLst>
          </p:cNvPr>
          <p:cNvSpPr/>
          <p:nvPr/>
        </p:nvSpPr>
        <p:spPr>
          <a:xfrm>
            <a:off x="1854403" y="3592123"/>
            <a:ext cx="2162842" cy="261610"/>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Ultra BW, small density, F/F</a:t>
            </a:r>
            <a:endParaRPr kumimoji="0" lang="ko-KR" altLang="en-US"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sp>
        <p:nvSpPr>
          <p:cNvPr id="86" name="직사각형 85">
            <a:extLst>
              <a:ext uri="{FF2B5EF4-FFF2-40B4-BE49-F238E27FC236}">
                <a16:creationId xmlns:a16="http://schemas.microsoft.com/office/drawing/2014/main" id="{11CC212E-DA67-4146-B2C8-13FCBDC2113F}"/>
              </a:ext>
            </a:extLst>
          </p:cNvPr>
          <p:cNvSpPr/>
          <p:nvPr/>
        </p:nvSpPr>
        <p:spPr>
          <a:xfrm>
            <a:off x="2356314" y="3927373"/>
            <a:ext cx="1784766" cy="430887"/>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High B/W, High Capacity, thermal</a:t>
            </a:r>
            <a:endParaRPr kumimoji="0" lang="ko-KR" altLang="en-US"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sp>
        <p:nvSpPr>
          <p:cNvPr id="87" name="직사각형 86">
            <a:extLst>
              <a:ext uri="{FF2B5EF4-FFF2-40B4-BE49-F238E27FC236}">
                <a16:creationId xmlns:a16="http://schemas.microsoft.com/office/drawing/2014/main" id="{B1729DBB-5B76-5E4F-8C7B-21A66F8D3F50}"/>
              </a:ext>
            </a:extLst>
          </p:cNvPr>
          <p:cNvSpPr/>
          <p:nvPr/>
        </p:nvSpPr>
        <p:spPr>
          <a:xfrm>
            <a:off x="2237129" y="4399685"/>
            <a:ext cx="2077696" cy="261610"/>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Commodity, Scalability, RAS</a:t>
            </a:r>
            <a:endParaRPr kumimoji="0" lang="ko-KR" altLang="en-US"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sp>
        <p:nvSpPr>
          <p:cNvPr id="88" name="직사각형 87">
            <a:extLst>
              <a:ext uri="{FF2B5EF4-FFF2-40B4-BE49-F238E27FC236}">
                <a16:creationId xmlns:a16="http://schemas.microsoft.com/office/drawing/2014/main" id="{0992CF7F-858D-1841-8080-99BC54A62686}"/>
              </a:ext>
            </a:extLst>
          </p:cNvPr>
          <p:cNvSpPr/>
          <p:nvPr/>
        </p:nvSpPr>
        <p:spPr>
          <a:xfrm>
            <a:off x="2116323" y="4738871"/>
            <a:ext cx="2022726" cy="430887"/>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Ultra</a:t>
            </a:r>
            <a:r>
              <a:rPr kumimoji="0" lang="ko-KR" altLang="en-US"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 </a:t>
            </a:r>
            <a:r>
              <a:rPr kumimoji="0" lang="en-US" altLang="ko-KR"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capacity, interface, </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Coherency, Buffered solution </a:t>
            </a:r>
            <a:endParaRPr kumimoji="0" lang="ko-KR" altLang="en-US" sz="1100" b="0"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sp>
        <p:nvSpPr>
          <p:cNvPr id="89" name="직사각형 88">
            <a:extLst>
              <a:ext uri="{FF2B5EF4-FFF2-40B4-BE49-F238E27FC236}">
                <a16:creationId xmlns:a16="http://schemas.microsoft.com/office/drawing/2014/main" id="{4845215C-8343-0A49-B485-6EEE92C4EAFE}"/>
              </a:ext>
            </a:extLst>
          </p:cNvPr>
          <p:cNvSpPr/>
          <p:nvPr/>
        </p:nvSpPr>
        <p:spPr>
          <a:xfrm>
            <a:off x="3942218" y="3487137"/>
            <a:ext cx="1682168" cy="451406"/>
          </a:xfrm>
          <a:prstGeom prst="rect">
            <a:avLst/>
          </a:prstGeom>
        </p:spPr>
        <p:txBody>
          <a:bodyPr wrap="square">
            <a:spAutoFit/>
          </a:bodyP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ko-KR" sz="1200" b="1" i="0" u="none" strike="noStrike" kern="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HBM</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ko-KR" sz="1200" b="1" i="0" u="none" strike="noStrike" kern="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rPr>
              <a:t>/</a:t>
            </a:r>
            <a:r>
              <a:rPr kumimoji="0" lang="en-US" altLang="ko-KR" sz="1200" b="1" i="0" u="none" strike="noStrike" kern="0" cap="none" spc="0" normalizeH="0" baseline="0" noProof="0" dirty="0" err="1">
                <a:ln>
                  <a:noFill/>
                </a:ln>
                <a:solidFill>
                  <a:srgbClr val="000000"/>
                </a:solidFill>
                <a:effectLst/>
                <a:uLnTx/>
                <a:uFillTx/>
                <a:latin typeface="SAMSUNGONE-600C" panose="020B0503030303020204" pitchFamily="34" charset="-127"/>
                <a:ea typeface="SAMSUNGONE-600C" panose="020B0503030303020204" pitchFamily="34" charset="-127"/>
                <a:cs typeface="+mn-cs"/>
              </a:rPr>
              <a:t>zHBM</a:t>
            </a:r>
            <a:r>
              <a:rPr kumimoji="0" lang="en-US" altLang="ko-KR" sz="1200" b="1" i="0" u="none" strike="noStrike" kern="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rPr>
              <a:t>/</a:t>
            </a:r>
            <a:r>
              <a:rPr kumimoji="0" lang="en-US" altLang="ko-KR" sz="1200" b="1" i="0" u="none" strike="noStrike" kern="0" cap="none" spc="0" normalizeH="0" baseline="0" noProof="0" dirty="0" err="1">
                <a:ln>
                  <a:noFill/>
                </a:ln>
                <a:solidFill>
                  <a:srgbClr val="000000"/>
                </a:solidFill>
                <a:effectLst/>
                <a:uLnTx/>
                <a:uFillTx/>
                <a:latin typeface="SAMSUNGONE-600C" panose="020B0503030303020204" pitchFamily="34" charset="-127"/>
                <a:ea typeface="SAMSUNGONE-600C" panose="020B0503030303020204" pitchFamily="34" charset="-127"/>
                <a:cs typeface="+mn-cs"/>
              </a:rPr>
              <a:t>cHBM</a:t>
            </a:r>
            <a:endParaRPr kumimoji="0" lang="ko-KR" altLang="en-US" sz="1200" b="1" i="0" u="none" strike="noStrike" kern="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endParaRPr>
          </a:p>
        </p:txBody>
      </p:sp>
      <p:sp>
        <p:nvSpPr>
          <p:cNvPr id="90" name="직사각형 89">
            <a:extLst>
              <a:ext uri="{FF2B5EF4-FFF2-40B4-BE49-F238E27FC236}">
                <a16:creationId xmlns:a16="http://schemas.microsoft.com/office/drawing/2014/main" id="{B75C9689-AABB-FE4B-8C9D-08E566500A7C}"/>
              </a:ext>
            </a:extLst>
          </p:cNvPr>
          <p:cNvSpPr/>
          <p:nvPr/>
        </p:nvSpPr>
        <p:spPr>
          <a:xfrm>
            <a:off x="3779118" y="3893228"/>
            <a:ext cx="1982328" cy="461665"/>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err="1">
                <a:ln>
                  <a:noFill/>
                </a:ln>
                <a:solidFill>
                  <a:srgbClr val="000000"/>
                </a:solidFill>
                <a:effectLst/>
                <a:uLnTx/>
                <a:uFillTx/>
                <a:latin typeface="SAMSUNGONE-600C" panose="020B0503030303020204" pitchFamily="34" charset="-127"/>
                <a:ea typeface="SAMSUNGONE-600C" panose="020B0503030303020204" pitchFamily="34" charset="-127"/>
                <a:cs typeface="+mn-cs"/>
              </a:rPr>
              <a:t>ScHBM</a:t>
            </a:r>
            <a:r>
              <a:rPr kumimoji="0" lang="en-US" altLang="ko-KR" sz="1200" b="1" i="0" u="none" strike="noStrike" kern="120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rPr>
              <a:t>/LP-PIM</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rPr>
              <a:t>/HBF</a:t>
            </a:r>
            <a:endParaRPr kumimoji="0" lang="ko-KR" altLang="en-US" sz="1200" b="1" i="0" u="none" strike="noStrike" kern="120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endParaRPr>
          </a:p>
        </p:txBody>
      </p:sp>
      <p:sp>
        <p:nvSpPr>
          <p:cNvPr id="91" name="직사각형 90">
            <a:extLst>
              <a:ext uri="{FF2B5EF4-FFF2-40B4-BE49-F238E27FC236}">
                <a16:creationId xmlns:a16="http://schemas.microsoft.com/office/drawing/2014/main" id="{CFA17231-7405-7D41-B9E0-9BED51915669}"/>
              </a:ext>
            </a:extLst>
          </p:cNvPr>
          <p:cNvSpPr/>
          <p:nvPr/>
        </p:nvSpPr>
        <p:spPr>
          <a:xfrm>
            <a:off x="4057789" y="4316048"/>
            <a:ext cx="1399548" cy="276999"/>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rPr>
              <a:t>DDR6 / LP6 / GDDR7</a:t>
            </a:r>
            <a:endParaRPr kumimoji="0" lang="ko-KR" altLang="en-US" sz="1200" b="1" i="0" u="none" strike="noStrike" kern="1200" cap="none" spc="0" normalizeH="0" baseline="0" noProof="0" dirty="0">
              <a:ln>
                <a:noFill/>
              </a:ln>
              <a:solidFill>
                <a:prstClr val="white"/>
              </a:solidFill>
              <a:effectLst/>
              <a:uLnTx/>
              <a:uFillTx/>
              <a:latin typeface="SAMSUNGONE-600C" panose="020B0503030303020204" pitchFamily="34" charset="-127"/>
              <a:ea typeface="SAMSUNGONE-600C" panose="020B0503030303020204" pitchFamily="34" charset="-127"/>
              <a:cs typeface="+mn-cs"/>
            </a:endParaRPr>
          </a:p>
        </p:txBody>
      </p:sp>
      <p:sp>
        <p:nvSpPr>
          <p:cNvPr id="92" name="직사각형 91">
            <a:extLst>
              <a:ext uri="{FF2B5EF4-FFF2-40B4-BE49-F238E27FC236}">
                <a16:creationId xmlns:a16="http://schemas.microsoft.com/office/drawing/2014/main" id="{3321F776-D962-7F4E-BD84-DF20010A5A86}"/>
              </a:ext>
            </a:extLst>
          </p:cNvPr>
          <p:cNvSpPr/>
          <p:nvPr/>
        </p:nvSpPr>
        <p:spPr>
          <a:xfrm>
            <a:off x="3901543" y="4815815"/>
            <a:ext cx="1595207" cy="461665"/>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err="1">
                <a:ln>
                  <a:noFill/>
                </a:ln>
                <a:solidFill>
                  <a:srgbClr val="000000"/>
                </a:solidFill>
                <a:effectLst/>
                <a:uLnTx/>
                <a:uFillTx/>
                <a:latin typeface="SAMSUNGONE-600C" panose="020B0503030303020204" pitchFamily="34" charset="-127"/>
                <a:ea typeface="SAMSUNGONE-600C" panose="020B0503030303020204" pitchFamily="34" charset="-127"/>
                <a:cs typeface="+mn-cs"/>
              </a:rPr>
              <a:t>zNAND</a:t>
            </a:r>
            <a:r>
              <a:rPr kumimoji="0" lang="en-US" altLang="ko-KR" sz="1200" b="1" i="0" u="none" strike="noStrike" kern="120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rPr>
              <a:t>/CXL/PIM-SSD</a:t>
            </a:r>
            <a:endParaRPr kumimoji="0" lang="ko-KR" altLang="en-US" sz="1200" b="1" i="0" u="none" strike="noStrike" kern="1200" cap="none" spc="0" normalizeH="0" baseline="0" noProof="0" dirty="0">
              <a:ln>
                <a:noFill/>
              </a:ln>
              <a:solidFill>
                <a:srgbClr val="000000"/>
              </a:solidFill>
              <a:effectLst/>
              <a:uLnTx/>
              <a:uFillTx/>
              <a:latin typeface="SAMSUNGONE-600C" panose="020B0503030303020204" pitchFamily="34" charset="-127"/>
              <a:ea typeface="SAMSUNGONE-600C" panose="020B0503030303020204" pitchFamily="34" charset="-127"/>
              <a:cs typeface="+mn-cs"/>
            </a:endParaRPr>
          </a:p>
        </p:txBody>
      </p:sp>
      <p:grpSp>
        <p:nvGrpSpPr>
          <p:cNvPr id="182" name="그룹 181">
            <a:extLst>
              <a:ext uri="{FF2B5EF4-FFF2-40B4-BE49-F238E27FC236}">
                <a16:creationId xmlns:a16="http://schemas.microsoft.com/office/drawing/2014/main" id="{5E704791-3805-4DA1-A7CD-18B4E005AD41}"/>
              </a:ext>
            </a:extLst>
          </p:cNvPr>
          <p:cNvGrpSpPr/>
          <p:nvPr/>
        </p:nvGrpSpPr>
        <p:grpSpPr>
          <a:xfrm>
            <a:off x="10069200" y="2557011"/>
            <a:ext cx="1470284" cy="968524"/>
            <a:chOff x="7936474" y="2626787"/>
            <a:chExt cx="1611726" cy="1161406"/>
          </a:xfrm>
        </p:grpSpPr>
        <p:sp>
          <p:nvSpPr>
            <p:cNvPr id="183" name="Oval 630">
              <a:extLst>
                <a:ext uri="{FF2B5EF4-FFF2-40B4-BE49-F238E27FC236}">
                  <a16:creationId xmlns:a16="http://schemas.microsoft.com/office/drawing/2014/main" id="{9DBD9BD7-2722-4584-B0EB-B76EF4F1DC76}"/>
                </a:ext>
              </a:extLst>
            </p:cNvPr>
            <p:cNvSpPr>
              <a:spLocks noChangeArrowheads="1"/>
            </p:cNvSpPr>
            <p:nvPr/>
          </p:nvSpPr>
          <p:spPr bwMode="auto">
            <a:xfrm>
              <a:off x="7949538"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4" name="Oval 630">
              <a:extLst>
                <a:ext uri="{FF2B5EF4-FFF2-40B4-BE49-F238E27FC236}">
                  <a16:creationId xmlns:a16="http://schemas.microsoft.com/office/drawing/2014/main" id="{6AB09B96-C06F-4CEC-95EB-4B28B03E7FF4}"/>
                </a:ext>
              </a:extLst>
            </p:cNvPr>
            <p:cNvSpPr>
              <a:spLocks noChangeArrowheads="1"/>
            </p:cNvSpPr>
            <p:nvPr/>
          </p:nvSpPr>
          <p:spPr bwMode="auto">
            <a:xfrm>
              <a:off x="8128824"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5" name="Oval 630">
              <a:extLst>
                <a:ext uri="{FF2B5EF4-FFF2-40B4-BE49-F238E27FC236}">
                  <a16:creationId xmlns:a16="http://schemas.microsoft.com/office/drawing/2014/main" id="{B6C1488A-4232-4DFC-B744-CBA913D1AC07}"/>
                </a:ext>
              </a:extLst>
            </p:cNvPr>
            <p:cNvSpPr>
              <a:spLocks noChangeArrowheads="1"/>
            </p:cNvSpPr>
            <p:nvPr/>
          </p:nvSpPr>
          <p:spPr bwMode="auto">
            <a:xfrm>
              <a:off x="8308110"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6" name="Oval 630">
              <a:extLst>
                <a:ext uri="{FF2B5EF4-FFF2-40B4-BE49-F238E27FC236}">
                  <a16:creationId xmlns:a16="http://schemas.microsoft.com/office/drawing/2014/main" id="{06033F8A-5174-4CB8-B750-BF88AF16843E}"/>
                </a:ext>
              </a:extLst>
            </p:cNvPr>
            <p:cNvSpPr>
              <a:spLocks noChangeArrowheads="1"/>
            </p:cNvSpPr>
            <p:nvPr/>
          </p:nvSpPr>
          <p:spPr bwMode="auto">
            <a:xfrm>
              <a:off x="8487396"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7" name="Oval 630">
              <a:extLst>
                <a:ext uri="{FF2B5EF4-FFF2-40B4-BE49-F238E27FC236}">
                  <a16:creationId xmlns:a16="http://schemas.microsoft.com/office/drawing/2014/main" id="{A870AD09-3BA2-497D-BA32-62507B8A938C}"/>
                </a:ext>
              </a:extLst>
            </p:cNvPr>
            <p:cNvSpPr>
              <a:spLocks noChangeArrowheads="1"/>
            </p:cNvSpPr>
            <p:nvPr/>
          </p:nvSpPr>
          <p:spPr bwMode="auto">
            <a:xfrm>
              <a:off x="8666682"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8" name="Oval 630">
              <a:extLst>
                <a:ext uri="{FF2B5EF4-FFF2-40B4-BE49-F238E27FC236}">
                  <a16:creationId xmlns:a16="http://schemas.microsoft.com/office/drawing/2014/main" id="{D0BAD0FE-D278-4580-9A3A-957D646F66B9}"/>
                </a:ext>
              </a:extLst>
            </p:cNvPr>
            <p:cNvSpPr>
              <a:spLocks noChangeArrowheads="1"/>
            </p:cNvSpPr>
            <p:nvPr/>
          </p:nvSpPr>
          <p:spPr bwMode="auto">
            <a:xfrm>
              <a:off x="8845968"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9" name="Oval 630">
              <a:extLst>
                <a:ext uri="{FF2B5EF4-FFF2-40B4-BE49-F238E27FC236}">
                  <a16:creationId xmlns:a16="http://schemas.microsoft.com/office/drawing/2014/main" id="{FFD661AC-83C4-4E26-AC54-B717BA6AA39D}"/>
                </a:ext>
              </a:extLst>
            </p:cNvPr>
            <p:cNvSpPr>
              <a:spLocks noChangeArrowheads="1"/>
            </p:cNvSpPr>
            <p:nvPr/>
          </p:nvSpPr>
          <p:spPr bwMode="auto">
            <a:xfrm>
              <a:off x="9025254"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0" name="Oval 630">
              <a:extLst>
                <a:ext uri="{FF2B5EF4-FFF2-40B4-BE49-F238E27FC236}">
                  <a16:creationId xmlns:a16="http://schemas.microsoft.com/office/drawing/2014/main" id="{E22C144B-C3FC-435D-AE22-B3088AA88907}"/>
                </a:ext>
              </a:extLst>
            </p:cNvPr>
            <p:cNvSpPr>
              <a:spLocks noChangeArrowheads="1"/>
            </p:cNvSpPr>
            <p:nvPr/>
          </p:nvSpPr>
          <p:spPr bwMode="auto">
            <a:xfrm>
              <a:off x="9204540"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1" name="Oval 630">
              <a:extLst>
                <a:ext uri="{FF2B5EF4-FFF2-40B4-BE49-F238E27FC236}">
                  <a16:creationId xmlns:a16="http://schemas.microsoft.com/office/drawing/2014/main" id="{4E2C62C2-0389-4436-989A-6F76DA8188CB}"/>
                </a:ext>
              </a:extLst>
            </p:cNvPr>
            <p:cNvSpPr>
              <a:spLocks noChangeArrowheads="1"/>
            </p:cNvSpPr>
            <p:nvPr/>
          </p:nvSpPr>
          <p:spPr bwMode="auto">
            <a:xfrm>
              <a:off x="9383828"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0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2" name="직사각형 191">
              <a:extLst>
                <a:ext uri="{FF2B5EF4-FFF2-40B4-BE49-F238E27FC236}">
                  <a16:creationId xmlns:a16="http://schemas.microsoft.com/office/drawing/2014/main" id="{73758BC3-C11D-4C12-863C-B01B87E89D9F}"/>
                </a:ext>
              </a:extLst>
            </p:cNvPr>
            <p:cNvSpPr/>
            <p:nvPr/>
          </p:nvSpPr>
          <p:spPr>
            <a:xfrm>
              <a:off x="7936474" y="3581685"/>
              <a:ext cx="1611726" cy="137687"/>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Substrate</a:t>
              </a:r>
              <a:endParaRPr kumimoji="0" lang="ko-KR" altLang="en-US"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193" name="Oval 630">
              <a:extLst>
                <a:ext uri="{FF2B5EF4-FFF2-40B4-BE49-F238E27FC236}">
                  <a16:creationId xmlns:a16="http://schemas.microsoft.com/office/drawing/2014/main" id="{59E17042-BCA2-4B43-A131-7FDDEA7F4F40}"/>
                </a:ext>
              </a:extLst>
            </p:cNvPr>
            <p:cNvSpPr>
              <a:spLocks noChangeArrowheads="1"/>
            </p:cNvSpPr>
            <p:nvPr/>
          </p:nvSpPr>
          <p:spPr bwMode="auto">
            <a:xfrm>
              <a:off x="8252413"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4" name="Oval 630">
              <a:extLst>
                <a:ext uri="{FF2B5EF4-FFF2-40B4-BE49-F238E27FC236}">
                  <a16:creationId xmlns:a16="http://schemas.microsoft.com/office/drawing/2014/main" id="{C7F58551-AB18-42CF-B699-F7FCBD156A04}"/>
                </a:ext>
              </a:extLst>
            </p:cNvPr>
            <p:cNvSpPr>
              <a:spLocks noChangeArrowheads="1"/>
            </p:cNvSpPr>
            <p:nvPr/>
          </p:nvSpPr>
          <p:spPr bwMode="auto">
            <a:xfrm>
              <a:off x="8366692"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5" name="Oval 630">
              <a:extLst>
                <a:ext uri="{FF2B5EF4-FFF2-40B4-BE49-F238E27FC236}">
                  <a16:creationId xmlns:a16="http://schemas.microsoft.com/office/drawing/2014/main" id="{6A9BB759-4AC2-4E28-8D40-39ECCEB2F2A3}"/>
                </a:ext>
              </a:extLst>
            </p:cNvPr>
            <p:cNvSpPr>
              <a:spLocks noChangeArrowheads="1"/>
            </p:cNvSpPr>
            <p:nvPr/>
          </p:nvSpPr>
          <p:spPr bwMode="auto">
            <a:xfrm>
              <a:off x="8480971"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6" name="Oval 630">
              <a:extLst>
                <a:ext uri="{FF2B5EF4-FFF2-40B4-BE49-F238E27FC236}">
                  <a16:creationId xmlns:a16="http://schemas.microsoft.com/office/drawing/2014/main" id="{0350CFCE-62DF-4B57-B1D7-3145395609BE}"/>
                </a:ext>
              </a:extLst>
            </p:cNvPr>
            <p:cNvSpPr>
              <a:spLocks noChangeArrowheads="1"/>
            </p:cNvSpPr>
            <p:nvPr/>
          </p:nvSpPr>
          <p:spPr bwMode="auto">
            <a:xfrm>
              <a:off x="8595250"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7" name="Oval 630">
              <a:extLst>
                <a:ext uri="{FF2B5EF4-FFF2-40B4-BE49-F238E27FC236}">
                  <a16:creationId xmlns:a16="http://schemas.microsoft.com/office/drawing/2014/main" id="{3D6141A7-A421-4366-B67B-99C818352D58}"/>
                </a:ext>
              </a:extLst>
            </p:cNvPr>
            <p:cNvSpPr>
              <a:spLocks noChangeArrowheads="1"/>
            </p:cNvSpPr>
            <p:nvPr/>
          </p:nvSpPr>
          <p:spPr bwMode="auto">
            <a:xfrm>
              <a:off x="8709529"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8" name="Oval 630">
              <a:extLst>
                <a:ext uri="{FF2B5EF4-FFF2-40B4-BE49-F238E27FC236}">
                  <a16:creationId xmlns:a16="http://schemas.microsoft.com/office/drawing/2014/main" id="{3DD23B6E-2B24-471D-AA1C-D2EA77C81DE9}"/>
                </a:ext>
              </a:extLst>
            </p:cNvPr>
            <p:cNvSpPr>
              <a:spLocks noChangeArrowheads="1"/>
            </p:cNvSpPr>
            <p:nvPr/>
          </p:nvSpPr>
          <p:spPr bwMode="auto">
            <a:xfrm>
              <a:off x="8823808"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9" name="Oval 630">
              <a:extLst>
                <a:ext uri="{FF2B5EF4-FFF2-40B4-BE49-F238E27FC236}">
                  <a16:creationId xmlns:a16="http://schemas.microsoft.com/office/drawing/2014/main" id="{EAB1C766-2D7C-4E3B-A42D-04720F113217}"/>
                </a:ext>
              </a:extLst>
            </p:cNvPr>
            <p:cNvSpPr>
              <a:spLocks noChangeArrowheads="1"/>
            </p:cNvSpPr>
            <p:nvPr/>
          </p:nvSpPr>
          <p:spPr bwMode="auto">
            <a:xfrm>
              <a:off x="8938087"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0" name="Oval 630">
              <a:extLst>
                <a:ext uri="{FF2B5EF4-FFF2-40B4-BE49-F238E27FC236}">
                  <a16:creationId xmlns:a16="http://schemas.microsoft.com/office/drawing/2014/main" id="{2FC8096E-1165-427E-9EA4-45DBF66830CC}"/>
                </a:ext>
              </a:extLst>
            </p:cNvPr>
            <p:cNvSpPr>
              <a:spLocks noChangeArrowheads="1"/>
            </p:cNvSpPr>
            <p:nvPr/>
          </p:nvSpPr>
          <p:spPr bwMode="auto">
            <a:xfrm>
              <a:off x="9052366"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1" name="Oval 630">
              <a:extLst>
                <a:ext uri="{FF2B5EF4-FFF2-40B4-BE49-F238E27FC236}">
                  <a16:creationId xmlns:a16="http://schemas.microsoft.com/office/drawing/2014/main" id="{B7AA9F50-A496-4643-A352-35B504F07C18}"/>
                </a:ext>
              </a:extLst>
            </p:cNvPr>
            <p:cNvSpPr>
              <a:spLocks noChangeArrowheads="1"/>
            </p:cNvSpPr>
            <p:nvPr/>
          </p:nvSpPr>
          <p:spPr bwMode="auto">
            <a:xfrm>
              <a:off x="9166645"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grpSp>
          <p:nvGrpSpPr>
            <p:cNvPr id="202" name="그룹 201">
              <a:extLst>
                <a:ext uri="{FF2B5EF4-FFF2-40B4-BE49-F238E27FC236}">
                  <a16:creationId xmlns:a16="http://schemas.microsoft.com/office/drawing/2014/main" id="{53EFFF02-1348-4663-B9D9-097183EA2150}"/>
                </a:ext>
              </a:extLst>
            </p:cNvPr>
            <p:cNvGrpSpPr/>
            <p:nvPr/>
          </p:nvGrpSpPr>
          <p:grpSpPr>
            <a:xfrm>
              <a:off x="8182993" y="2653028"/>
              <a:ext cx="1114332" cy="878928"/>
              <a:chOff x="4063287" y="2959800"/>
              <a:chExt cx="835749" cy="934922"/>
            </a:xfrm>
          </p:grpSpPr>
          <p:sp>
            <p:nvSpPr>
              <p:cNvPr id="211" name="직사각형 210">
                <a:extLst>
                  <a:ext uri="{FF2B5EF4-FFF2-40B4-BE49-F238E27FC236}">
                    <a16:creationId xmlns:a16="http://schemas.microsoft.com/office/drawing/2014/main" id="{073EB39F-67FB-4E10-A50A-6CF27D8B7F9F}"/>
                  </a:ext>
                </a:extLst>
              </p:cNvPr>
              <p:cNvSpPr/>
              <p:nvPr/>
            </p:nvSpPr>
            <p:spPr>
              <a:xfrm>
                <a:off x="4068561" y="3454662"/>
                <a:ext cx="830475" cy="154742"/>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12" name="직사각형 211">
                <a:extLst>
                  <a:ext uri="{FF2B5EF4-FFF2-40B4-BE49-F238E27FC236}">
                    <a16:creationId xmlns:a16="http://schemas.microsoft.com/office/drawing/2014/main" id="{8EE8FA74-A85B-4B1E-94DC-C764CCB03A98}"/>
                  </a:ext>
                </a:extLst>
              </p:cNvPr>
              <p:cNvSpPr/>
              <p:nvPr/>
            </p:nvSpPr>
            <p:spPr>
              <a:xfrm>
                <a:off x="4068561" y="3302597"/>
                <a:ext cx="830475" cy="154742"/>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13" name="직사각형 212">
                <a:extLst>
                  <a:ext uri="{FF2B5EF4-FFF2-40B4-BE49-F238E27FC236}">
                    <a16:creationId xmlns:a16="http://schemas.microsoft.com/office/drawing/2014/main" id="{67B33600-5FBB-479D-9BB0-5B4D9B89AEC4}"/>
                  </a:ext>
                </a:extLst>
              </p:cNvPr>
              <p:cNvSpPr/>
              <p:nvPr/>
            </p:nvSpPr>
            <p:spPr>
              <a:xfrm>
                <a:off x="4068561" y="3146137"/>
                <a:ext cx="830475" cy="154742"/>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14" name="직사각형 213">
                <a:extLst>
                  <a:ext uri="{FF2B5EF4-FFF2-40B4-BE49-F238E27FC236}">
                    <a16:creationId xmlns:a16="http://schemas.microsoft.com/office/drawing/2014/main" id="{287A4232-DAA7-4D9F-9206-A59E91429A17}"/>
                  </a:ext>
                </a:extLst>
              </p:cNvPr>
              <p:cNvSpPr/>
              <p:nvPr/>
            </p:nvSpPr>
            <p:spPr>
              <a:xfrm>
                <a:off x="4068561" y="2959800"/>
                <a:ext cx="830475" cy="189017"/>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15" name="직사각형 214">
                <a:extLst>
                  <a:ext uri="{FF2B5EF4-FFF2-40B4-BE49-F238E27FC236}">
                    <a16:creationId xmlns:a16="http://schemas.microsoft.com/office/drawing/2014/main" id="{1732B3A6-DDF0-4A2C-A9F9-1A9CDABC0458}"/>
                  </a:ext>
                </a:extLst>
              </p:cNvPr>
              <p:cNvSpPr/>
              <p:nvPr/>
            </p:nvSpPr>
            <p:spPr>
              <a:xfrm>
                <a:off x="4103305" y="3767421"/>
                <a:ext cx="761199" cy="127301"/>
              </a:xfrm>
              <a:prstGeom prst="rect">
                <a:avLst/>
              </a:prstGeom>
              <a:solidFill>
                <a:srgbClr val="00B050"/>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216" name="직선 연결선 215">
                <a:extLst>
                  <a:ext uri="{FF2B5EF4-FFF2-40B4-BE49-F238E27FC236}">
                    <a16:creationId xmlns:a16="http://schemas.microsoft.com/office/drawing/2014/main" id="{3C61EBA9-E83D-492E-BEE5-A942C9361DE0}"/>
                  </a:ext>
                </a:extLst>
              </p:cNvPr>
              <p:cNvCxnSpPr/>
              <p:nvPr/>
            </p:nvCxnSpPr>
            <p:spPr>
              <a:xfrm>
                <a:off x="4063287" y="3736536"/>
                <a:ext cx="835749" cy="0"/>
              </a:xfrm>
              <a:prstGeom prst="line">
                <a:avLst/>
              </a:prstGeom>
              <a:solidFill>
                <a:srgbClr val="4472C4"/>
              </a:solidFill>
              <a:ln w="19050" cap="flat" cmpd="sng" algn="ctr">
                <a:solidFill>
                  <a:srgbClr val="FFC000"/>
                </a:solidFill>
                <a:prstDash val="solid"/>
                <a:miter lim="800000"/>
              </a:ln>
              <a:effectLst/>
            </p:spPr>
          </p:cxnSp>
          <p:cxnSp>
            <p:nvCxnSpPr>
              <p:cNvPr id="217" name="직선 연결선 216">
                <a:extLst>
                  <a:ext uri="{FF2B5EF4-FFF2-40B4-BE49-F238E27FC236}">
                    <a16:creationId xmlns:a16="http://schemas.microsoft.com/office/drawing/2014/main" id="{B6C12909-AC7E-480A-8716-C2938B9A1D58}"/>
                  </a:ext>
                </a:extLst>
              </p:cNvPr>
              <p:cNvCxnSpPr>
                <a:cxnSpLocks/>
              </p:cNvCxnSpPr>
              <p:nvPr/>
            </p:nvCxnSpPr>
            <p:spPr>
              <a:xfrm>
                <a:off x="4828026" y="3147743"/>
                <a:ext cx="0" cy="153174"/>
              </a:xfrm>
              <a:prstGeom prst="line">
                <a:avLst/>
              </a:prstGeom>
              <a:solidFill>
                <a:srgbClr val="4472C4"/>
              </a:solidFill>
              <a:ln w="28575" cap="flat" cmpd="sng" algn="ctr">
                <a:solidFill>
                  <a:srgbClr val="FFFF00"/>
                </a:solidFill>
                <a:prstDash val="solid"/>
              </a:ln>
              <a:effectLst/>
            </p:spPr>
          </p:cxnSp>
          <p:cxnSp>
            <p:nvCxnSpPr>
              <p:cNvPr id="218" name="직선 연결선 217">
                <a:extLst>
                  <a:ext uri="{FF2B5EF4-FFF2-40B4-BE49-F238E27FC236}">
                    <a16:creationId xmlns:a16="http://schemas.microsoft.com/office/drawing/2014/main" id="{344E9FE2-CA14-4B17-8C0A-3AEFB8D63992}"/>
                  </a:ext>
                </a:extLst>
              </p:cNvPr>
              <p:cNvCxnSpPr>
                <a:cxnSpLocks/>
              </p:cNvCxnSpPr>
              <p:nvPr/>
            </p:nvCxnSpPr>
            <p:spPr>
              <a:xfrm>
                <a:off x="4752320" y="3147743"/>
                <a:ext cx="0" cy="153174"/>
              </a:xfrm>
              <a:prstGeom prst="line">
                <a:avLst/>
              </a:prstGeom>
              <a:solidFill>
                <a:srgbClr val="4472C4"/>
              </a:solidFill>
              <a:ln w="28575" cap="flat" cmpd="sng" algn="ctr">
                <a:solidFill>
                  <a:srgbClr val="FFFF00"/>
                </a:solidFill>
                <a:prstDash val="solid"/>
              </a:ln>
              <a:effectLst/>
            </p:spPr>
          </p:cxnSp>
          <p:cxnSp>
            <p:nvCxnSpPr>
              <p:cNvPr id="219" name="직선 연결선 218">
                <a:extLst>
                  <a:ext uri="{FF2B5EF4-FFF2-40B4-BE49-F238E27FC236}">
                    <a16:creationId xmlns:a16="http://schemas.microsoft.com/office/drawing/2014/main" id="{0C269B68-156B-4EA6-911C-7742FE3B3EE0}"/>
                  </a:ext>
                </a:extLst>
              </p:cNvPr>
              <p:cNvCxnSpPr>
                <a:cxnSpLocks/>
              </p:cNvCxnSpPr>
              <p:nvPr/>
            </p:nvCxnSpPr>
            <p:spPr>
              <a:xfrm>
                <a:off x="4222370" y="3147743"/>
                <a:ext cx="0" cy="153174"/>
              </a:xfrm>
              <a:prstGeom prst="line">
                <a:avLst/>
              </a:prstGeom>
              <a:solidFill>
                <a:srgbClr val="4472C4"/>
              </a:solidFill>
              <a:ln w="28575" cap="flat" cmpd="sng" algn="ctr">
                <a:solidFill>
                  <a:srgbClr val="FFFF00"/>
                </a:solidFill>
                <a:prstDash val="solid"/>
              </a:ln>
              <a:effectLst/>
            </p:spPr>
          </p:cxnSp>
          <p:cxnSp>
            <p:nvCxnSpPr>
              <p:cNvPr id="220" name="직선 연결선 219">
                <a:extLst>
                  <a:ext uri="{FF2B5EF4-FFF2-40B4-BE49-F238E27FC236}">
                    <a16:creationId xmlns:a16="http://schemas.microsoft.com/office/drawing/2014/main" id="{D092F32F-4253-454C-9CB0-94D8825ACA0F}"/>
                  </a:ext>
                </a:extLst>
              </p:cNvPr>
              <p:cNvCxnSpPr>
                <a:cxnSpLocks/>
              </p:cNvCxnSpPr>
              <p:nvPr/>
            </p:nvCxnSpPr>
            <p:spPr>
              <a:xfrm>
                <a:off x="4146662" y="3147743"/>
                <a:ext cx="0" cy="153174"/>
              </a:xfrm>
              <a:prstGeom prst="line">
                <a:avLst/>
              </a:prstGeom>
              <a:solidFill>
                <a:srgbClr val="4472C4"/>
              </a:solidFill>
              <a:ln w="28575" cap="flat" cmpd="sng" algn="ctr">
                <a:solidFill>
                  <a:srgbClr val="FFFF00"/>
                </a:solidFill>
                <a:prstDash val="solid"/>
              </a:ln>
              <a:effectLst/>
            </p:spPr>
          </p:cxnSp>
          <p:sp>
            <p:nvSpPr>
              <p:cNvPr id="221" name="직사각형 220">
                <a:extLst>
                  <a:ext uri="{FF2B5EF4-FFF2-40B4-BE49-F238E27FC236}">
                    <a16:creationId xmlns:a16="http://schemas.microsoft.com/office/drawing/2014/main" id="{65C64BB0-353E-478D-B4C8-7E62E8EACFD2}"/>
                  </a:ext>
                </a:extLst>
              </p:cNvPr>
              <p:cNvSpPr/>
              <p:nvPr/>
            </p:nvSpPr>
            <p:spPr>
              <a:xfrm>
                <a:off x="4068561" y="3607216"/>
                <a:ext cx="830475" cy="154742"/>
              </a:xfrm>
              <a:prstGeom prst="rect">
                <a:avLst/>
              </a:prstGeom>
              <a:solidFill>
                <a:srgbClr val="FFC000">
                  <a:lumMod val="40000"/>
                  <a:lumOff val="60000"/>
                </a:srgbClr>
              </a:solidFill>
              <a:ln w="12700" cap="flat" cmpd="sng" algn="ctr">
                <a:solidFill>
                  <a:sysClr val="windowText" lastClr="000000"/>
                </a:solidFill>
                <a:prstDash val="sysDash"/>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222" name="직선 연결선 221">
                <a:extLst>
                  <a:ext uri="{FF2B5EF4-FFF2-40B4-BE49-F238E27FC236}">
                    <a16:creationId xmlns:a16="http://schemas.microsoft.com/office/drawing/2014/main" id="{49A3557C-C8AD-48EC-B9FE-2ACABC1B851F}"/>
                  </a:ext>
                </a:extLst>
              </p:cNvPr>
              <p:cNvCxnSpPr>
                <a:cxnSpLocks/>
              </p:cNvCxnSpPr>
              <p:nvPr/>
            </p:nvCxnSpPr>
            <p:spPr>
              <a:xfrm>
                <a:off x="4373784" y="3147743"/>
                <a:ext cx="0" cy="153174"/>
              </a:xfrm>
              <a:prstGeom prst="line">
                <a:avLst/>
              </a:prstGeom>
              <a:solidFill>
                <a:srgbClr val="4472C4"/>
              </a:solidFill>
              <a:ln w="28575" cap="flat" cmpd="sng" algn="ctr">
                <a:solidFill>
                  <a:srgbClr val="FFFF00"/>
                </a:solidFill>
                <a:prstDash val="solid"/>
              </a:ln>
              <a:effectLst/>
            </p:spPr>
          </p:cxnSp>
          <p:cxnSp>
            <p:nvCxnSpPr>
              <p:cNvPr id="223" name="직선 연결선 222">
                <a:extLst>
                  <a:ext uri="{FF2B5EF4-FFF2-40B4-BE49-F238E27FC236}">
                    <a16:creationId xmlns:a16="http://schemas.microsoft.com/office/drawing/2014/main" id="{F7B5CA2E-5A9B-405C-BAFB-4969E8370050}"/>
                  </a:ext>
                </a:extLst>
              </p:cNvPr>
              <p:cNvCxnSpPr>
                <a:cxnSpLocks/>
              </p:cNvCxnSpPr>
              <p:nvPr/>
            </p:nvCxnSpPr>
            <p:spPr>
              <a:xfrm>
                <a:off x="4298077" y="3147743"/>
                <a:ext cx="0" cy="153174"/>
              </a:xfrm>
              <a:prstGeom prst="line">
                <a:avLst/>
              </a:prstGeom>
              <a:solidFill>
                <a:srgbClr val="4472C4"/>
              </a:solidFill>
              <a:ln w="28575" cap="flat" cmpd="sng" algn="ctr">
                <a:solidFill>
                  <a:srgbClr val="FFFF00"/>
                </a:solidFill>
                <a:prstDash val="solid"/>
              </a:ln>
              <a:effectLst/>
            </p:spPr>
          </p:cxnSp>
          <p:cxnSp>
            <p:nvCxnSpPr>
              <p:cNvPr id="224" name="직선 연결선 223">
                <a:extLst>
                  <a:ext uri="{FF2B5EF4-FFF2-40B4-BE49-F238E27FC236}">
                    <a16:creationId xmlns:a16="http://schemas.microsoft.com/office/drawing/2014/main" id="{5223CEF7-8DF9-447D-BA20-BAD104F15E2C}"/>
                  </a:ext>
                </a:extLst>
              </p:cNvPr>
              <p:cNvCxnSpPr>
                <a:cxnSpLocks/>
              </p:cNvCxnSpPr>
              <p:nvPr/>
            </p:nvCxnSpPr>
            <p:spPr>
              <a:xfrm>
                <a:off x="4525199" y="3147743"/>
                <a:ext cx="0" cy="153174"/>
              </a:xfrm>
              <a:prstGeom prst="line">
                <a:avLst/>
              </a:prstGeom>
              <a:solidFill>
                <a:srgbClr val="4472C4"/>
              </a:solidFill>
              <a:ln w="28575" cap="flat" cmpd="sng" algn="ctr">
                <a:solidFill>
                  <a:srgbClr val="FFFF00"/>
                </a:solidFill>
                <a:prstDash val="solid"/>
              </a:ln>
              <a:effectLst/>
            </p:spPr>
          </p:cxnSp>
          <p:cxnSp>
            <p:nvCxnSpPr>
              <p:cNvPr id="225" name="직선 연결선 224">
                <a:extLst>
                  <a:ext uri="{FF2B5EF4-FFF2-40B4-BE49-F238E27FC236}">
                    <a16:creationId xmlns:a16="http://schemas.microsoft.com/office/drawing/2014/main" id="{7225BE27-071C-424A-AA26-398D782E7711}"/>
                  </a:ext>
                </a:extLst>
              </p:cNvPr>
              <p:cNvCxnSpPr>
                <a:cxnSpLocks/>
              </p:cNvCxnSpPr>
              <p:nvPr/>
            </p:nvCxnSpPr>
            <p:spPr>
              <a:xfrm>
                <a:off x="4449491" y="3147743"/>
                <a:ext cx="0" cy="153174"/>
              </a:xfrm>
              <a:prstGeom prst="line">
                <a:avLst/>
              </a:prstGeom>
              <a:solidFill>
                <a:srgbClr val="4472C4"/>
              </a:solidFill>
              <a:ln w="28575" cap="flat" cmpd="sng" algn="ctr">
                <a:solidFill>
                  <a:srgbClr val="FFFF00"/>
                </a:solidFill>
                <a:prstDash val="solid"/>
              </a:ln>
              <a:effectLst/>
            </p:spPr>
          </p:cxnSp>
          <p:cxnSp>
            <p:nvCxnSpPr>
              <p:cNvPr id="226" name="직선 연결선 225">
                <a:extLst>
                  <a:ext uri="{FF2B5EF4-FFF2-40B4-BE49-F238E27FC236}">
                    <a16:creationId xmlns:a16="http://schemas.microsoft.com/office/drawing/2014/main" id="{40D8C72B-61D3-460C-9E06-364D57FC6C35}"/>
                  </a:ext>
                </a:extLst>
              </p:cNvPr>
              <p:cNvCxnSpPr>
                <a:cxnSpLocks/>
              </p:cNvCxnSpPr>
              <p:nvPr/>
            </p:nvCxnSpPr>
            <p:spPr>
              <a:xfrm>
                <a:off x="4676613" y="3147743"/>
                <a:ext cx="0" cy="153174"/>
              </a:xfrm>
              <a:prstGeom prst="line">
                <a:avLst/>
              </a:prstGeom>
              <a:solidFill>
                <a:srgbClr val="4472C4"/>
              </a:solidFill>
              <a:ln w="28575" cap="flat" cmpd="sng" algn="ctr">
                <a:solidFill>
                  <a:srgbClr val="FFFF00"/>
                </a:solidFill>
                <a:prstDash val="solid"/>
              </a:ln>
              <a:effectLst/>
            </p:spPr>
          </p:cxnSp>
          <p:cxnSp>
            <p:nvCxnSpPr>
              <p:cNvPr id="227" name="직선 연결선 226">
                <a:extLst>
                  <a:ext uri="{FF2B5EF4-FFF2-40B4-BE49-F238E27FC236}">
                    <a16:creationId xmlns:a16="http://schemas.microsoft.com/office/drawing/2014/main" id="{28E1F744-1DE3-4FD5-A591-D9F0E064EA55}"/>
                  </a:ext>
                </a:extLst>
              </p:cNvPr>
              <p:cNvCxnSpPr>
                <a:cxnSpLocks/>
              </p:cNvCxnSpPr>
              <p:nvPr/>
            </p:nvCxnSpPr>
            <p:spPr>
              <a:xfrm>
                <a:off x="4600906" y="3147743"/>
                <a:ext cx="0" cy="153174"/>
              </a:xfrm>
              <a:prstGeom prst="line">
                <a:avLst/>
              </a:prstGeom>
              <a:solidFill>
                <a:srgbClr val="4472C4"/>
              </a:solidFill>
              <a:ln w="28575" cap="flat" cmpd="sng" algn="ctr">
                <a:solidFill>
                  <a:srgbClr val="FFFF00"/>
                </a:solidFill>
                <a:prstDash val="solid"/>
              </a:ln>
              <a:effectLst/>
            </p:spPr>
          </p:cxnSp>
          <p:cxnSp>
            <p:nvCxnSpPr>
              <p:cNvPr id="228" name="직선 연결선 227">
                <a:extLst>
                  <a:ext uri="{FF2B5EF4-FFF2-40B4-BE49-F238E27FC236}">
                    <a16:creationId xmlns:a16="http://schemas.microsoft.com/office/drawing/2014/main" id="{6F98E671-1CF6-4D88-ADE1-84FB4AA4C023}"/>
                  </a:ext>
                </a:extLst>
              </p:cNvPr>
              <p:cNvCxnSpPr>
                <a:cxnSpLocks/>
              </p:cNvCxnSpPr>
              <p:nvPr/>
            </p:nvCxnSpPr>
            <p:spPr>
              <a:xfrm>
                <a:off x="4828026" y="3305166"/>
                <a:ext cx="0" cy="153174"/>
              </a:xfrm>
              <a:prstGeom prst="line">
                <a:avLst/>
              </a:prstGeom>
              <a:solidFill>
                <a:srgbClr val="4472C4"/>
              </a:solidFill>
              <a:ln w="28575" cap="flat" cmpd="sng" algn="ctr">
                <a:solidFill>
                  <a:srgbClr val="FFFF00"/>
                </a:solidFill>
                <a:prstDash val="solid"/>
              </a:ln>
              <a:effectLst/>
            </p:spPr>
          </p:cxnSp>
          <p:cxnSp>
            <p:nvCxnSpPr>
              <p:cNvPr id="229" name="직선 연결선 228">
                <a:extLst>
                  <a:ext uri="{FF2B5EF4-FFF2-40B4-BE49-F238E27FC236}">
                    <a16:creationId xmlns:a16="http://schemas.microsoft.com/office/drawing/2014/main" id="{67A9561F-8CB5-4A9A-A3EA-103AF5509253}"/>
                  </a:ext>
                </a:extLst>
              </p:cNvPr>
              <p:cNvCxnSpPr>
                <a:cxnSpLocks/>
              </p:cNvCxnSpPr>
              <p:nvPr/>
            </p:nvCxnSpPr>
            <p:spPr>
              <a:xfrm>
                <a:off x="4752320" y="3305166"/>
                <a:ext cx="0" cy="153174"/>
              </a:xfrm>
              <a:prstGeom prst="line">
                <a:avLst/>
              </a:prstGeom>
              <a:solidFill>
                <a:srgbClr val="4472C4"/>
              </a:solidFill>
              <a:ln w="28575" cap="flat" cmpd="sng" algn="ctr">
                <a:solidFill>
                  <a:srgbClr val="FFFF00"/>
                </a:solidFill>
                <a:prstDash val="solid"/>
              </a:ln>
              <a:effectLst/>
            </p:spPr>
          </p:cxnSp>
          <p:cxnSp>
            <p:nvCxnSpPr>
              <p:cNvPr id="230" name="직선 연결선 229">
                <a:extLst>
                  <a:ext uri="{FF2B5EF4-FFF2-40B4-BE49-F238E27FC236}">
                    <a16:creationId xmlns:a16="http://schemas.microsoft.com/office/drawing/2014/main" id="{7A223B4A-56BE-4A6B-A5A8-D9082E3813CF}"/>
                  </a:ext>
                </a:extLst>
              </p:cNvPr>
              <p:cNvCxnSpPr>
                <a:cxnSpLocks/>
              </p:cNvCxnSpPr>
              <p:nvPr/>
            </p:nvCxnSpPr>
            <p:spPr>
              <a:xfrm>
                <a:off x="4222370" y="3305166"/>
                <a:ext cx="0" cy="153174"/>
              </a:xfrm>
              <a:prstGeom prst="line">
                <a:avLst/>
              </a:prstGeom>
              <a:solidFill>
                <a:srgbClr val="4472C4"/>
              </a:solidFill>
              <a:ln w="28575" cap="flat" cmpd="sng" algn="ctr">
                <a:solidFill>
                  <a:srgbClr val="FFFF00"/>
                </a:solidFill>
                <a:prstDash val="solid"/>
              </a:ln>
              <a:effectLst/>
            </p:spPr>
          </p:cxnSp>
          <p:cxnSp>
            <p:nvCxnSpPr>
              <p:cNvPr id="231" name="직선 연결선 230">
                <a:extLst>
                  <a:ext uri="{FF2B5EF4-FFF2-40B4-BE49-F238E27FC236}">
                    <a16:creationId xmlns:a16="http://schemas.microsoft.com/office/drawing/2014/main" id="{69C56320-1475-4BE2-927E-FD1BDE8E56B3}"/>
                  </a:ext>
                </a:extLst>
              </p:cNvPr>
              <p:cNvCxnSpPr>
                <a:cxnSpLocks/>
              </p:cNvCxnSpPr>
              <p:nvPr/>
            </p:nvCxnSpPr>
            <p:spPr>
              <a:xfrm>
                <a:off x="4146662" y="3305166"/>
                <a:ext cx="0" cy="153174"/>
              </a:xfrm>
              <a:prstGeom prst="line">
                <a:avLst/>
              </a:prstGeom>
              <a:solidFill>
                <a:srgbClr val="4472C4"/>
              </a:solidFill>
              <a:ln w="28575" cap="flat" cmpd="sng" algn="ctr">
                <a:solidFill>
                  <a:srgbClr val="FFFF00"/>
                </a:solidFill>
                <a:prstDash val="solid"/>
              </a:ln>
              <a:effectLst/>
            </p:spPr>
          </p:cxnSp>
          <p:cxnSp>
            <p:nvCxnSpPr>
              <p:cNvPr id="232" name="직선 연결선 231">
                <a:extLst>
                  <a:ext uri="{FF2B5EF4-FFF2-40B4-BE49-F238E27FC236}">
                    <a16:creationId xmlns:a16="http://schemas.microsoft.com/office/drawing/2014/main" id="{326F2E0A-BE53-41EB-B4B2-F845B6B5D4F5}"/>
                  </a:ext>
                </a:extLst>
              </p:cNvPr>
              <p:cNvCxnSpPr>
                <a:cxnSpLocks/>
              </p:cNvCxnSpPr>
              <p:nvPr/>
            </p:nvCxnSpPr>
            <p:spPr>
              <a:xfrm>
                <a:off x="4373784" y="3305166"/>
                <a:ext cx="0" cy="153174"/>
              </a:xfrm>
              <a:prstGeom prst="line">
                <a:avLst/>
              </a:prstGeom>
              <a:solidFill>
                <a:srgbClr val="4472C4"/>
              </a:solidFill>
              <a:ln w="28575" cap="flat" cmpd="sng" algn="ctr">
                <a:solidFill>
                  <a:srgbClr val="FFFF00"/>
                </a:solidFill>
                <a:prstDash val="solid"/>
              </a:ln>
              <a:effectLst/>
            </p:spPr>
          </p:cxnSp>
          <p:cxnSp>
            <p:nvCxnSpPr>
              <p:cNvPr id="233" name="직선 연결선 232">
                <a:extLst>
                  <a:ext uri="{FF2B5EF4-FFF2-40B4-BE49-F238E27FC236}">
                    <a16:creationId xmlns:a16="http://schemas.microsoft.com/office/drawing/2014/main" id="{A29937F2-D9B7-4BE5-812D-80BC354125C8}"/>
                  </a:ext>
                </a:extLst>
              </p:cNvPr>
              <p:cNvCxnSpPr>
                <a:cxnSpLocks/>
              </p:cNvCxnSpPr>
              <p:nvPr/>
            </p:nvCxnSpPr>
            <p:spPr>
              <a:xfrm>
                <a:off x="4298077" y="3305166"/>
                <a:ext cx="0" cy="153174"/>
              </a:xfrm>
              <a:prstGeom prst="line">
                <a:avLst/>
              </a:prstGeom>
              <a:solidFill>
                <a:srgbClr val="4472C4"/>
              </a:solidFill>
              <a:ln w="28575" cap="flat" cmpd="sng" algn="ctr">
                <a:solidFill>
                  <a:srgbClr val="FFFF00"/>
                </a:solidFill>
                <a:prstDash val="solid"/>
              </a:ln>
              <a:effectLst/>
            </p:spPr>
          </p:cxnSp>
          <p:cxnSp>
            <p:nvCxnSpPr>
              <p:cNvPr id="234" name="직선 연결선 233">
                <a:extLst>
                  <a:ext uri="{FF2B5EF4-FFF2-40B4-BE49-F238E27FC236}">
                    <a16:creationId xmlns:a16="http://schemas.microsoft.com/office/drawing/2014/main" id="{244BEB09-9989-4FF6-A9A0-E94F85C27B95}"/>
                  </a:ext>
                </a:extLst>
              </p:cNvPr>
              <p:cNvCxnSpPr>
                <a:cxnSpLocks/>
              </p:cNvCxnSpPr>
              <p:nvPr/>
            </p:nvCxnSpPr>
            <p:spPr>
              <a:xfrm>
                <a:off x="4525199" y="3305166"/>
                <a:ext cx="0" cy="153174"/>
              </a:xfrm>
              <a:prstGeom prst="line">
                <a:avLst/>
              </a:prstGeom>
              <a:solidFill>
                <a:srgbClr val="4472C4"/>
              </a:solidFill>
              <a:ln w="28575" cap="flat" cmpd="sng" algn="ctr">
                <a:solidFill>
                  <a:srgbClr val="FFFF00"/>
                </a:solidFill>
                <a:prstDash val="solid"/>
              </a:ln>
              <a:effectLst/>
            </p:spPr>
          </p:cxnSp>
          <p:cxnSp>
            <p:nvCxnSpPr>
              <p:cNvPr id="235" name="직선 연결선 234">
                <a:extLst>
                  <a:ext uri="{FF2B5EF4-FFF2-40B4-BE49-F238E27FC236}">
                    <a16:creationId xmlns:a16="http://schemas.microsoft.com/office/drawing/2014/main" id="{431C67F5-AAAA-480F-956A-F1FD418259EC}"/>
                  </a:ext>
                </a:extLst>
              </p:cNvPr>
              <p:cNvCxnSpPr>
                <a:cxnSpLocks/>
              </p:cNvCxnSpPr>
              <p:nvPr/>
            </p:nvCxnSpPr>
            <p:spPr>
              <a:xfrm>
                <a:off x="4449491" y="3305166"/>
                <a:ext cx="0" cy="153174"/>
              </a:xfrm>
              <a:prstGeom prst="line">
                <a:avLst/>
              </a:prstGeom>
              <a:solidFill>
                <a:srgbClr val="4472C4"/>
              </a:solidFill>
              <a:ln w="28575" cap="flat" cmpd="sng" algn="ctr">
                <a:solidFill>
                  <a:srgbClr val="FFFF00"/>
                </a:solidFill>
                <a:prstDash val="solid"/>
              </a:ln>
              <a:effectLst/>
            </p:spPr>
          </p:cxnSp>
          <p:cxnSp>
            <p:nvCxnSpPr>
              <p:cNvPr id="236" name="직선 연결선 235">
                <a:extLst>
                  <a:ext uri="{FF2B5EF4-FFF2-40B4-BE49-F238E27FC236}">
                    <a16:creationId xmlns:a16="http://schemas.microsoft.com/office/drawing/2014/main" id="{4C3C147F-1F12-4BAE-91BE-73A86DF2D120}"/>
                  </a:ext>
                </a:extLst>
              </p:cNvPr>
              <p:cNvCxnSpPr>
                <a:cxnSpLocks/>
              </p:cNvCxnSpPr>
              <p:nvPr/>
            </p:nvCxnSpPr>
            <p:spPr>
              <a:xfrm>
                <a:off x="4676613" y="3305166"/>
                <a:ext cx="0" cy="153174"/>
              </a:xfrm>
              <a:prstGeom prst="line">
                <a:avLst/>
              </a:prstGeom>
              <a:solidFill>
                <a:srgbClr val="4472C4"/>
              </a:solidFill>
              <a:ln w="28575" cap="flat" cmpd="sng" algn="ctr">
                <a:solidFill>
                  <a:srgbClr val="FFFF00"/>
                </a:solidFill>
                <a:prstDash val="solid"/>
              </a:ln>
              <a:effectLst/>
            </p:spPr>
          </p:cxnSp>
          <p:cxnSp>
            <p:nvCxnSpPr>
              <p:cNvPr id="237" name="직선 연결선 236">
                <a:extLst>
                  <a:ext uri="{FF2B5EF4-FFF2-40B4-BE49-F238E27FC236}">
                    <a16:creationId xmlns:a16="http://schemas.microsoft.com/office/drawing/2014/main" id="{33CAC228-5940-4207-8F7D-56382C4F73C4}"/>
                  </a:ext>
                </a:extLst>
              </p:cNvPr>
              <p:cNvCxnSpPr>
                <a:cxnSpLocks/>
              </p:cNvCxnSpPr>
              <p:nvPr/>
            </p:nvCxnSpPr>
            <p:spPr>
              <a:xfrm>
                <a:off x="4600906" y="3305166"/>
                <a:ext cx="0" cy="153174"/>
              </a:xfrm>
              <a:prstGeom prst="line">
                <a:avLst/>
              </a:prstGeom>
              <a:solidFill>
                <a:srgbClr val="4472C4"/>
              </a:solidFill>
              <a:ln w="28575" cap="flat" cmpd="sng" algn="ctr">
                <a:solidFill>
                  <a:srgbClr val="FFFF00"/>
                </a:solidFill>
                <a:prstDash val="solid"/>
              </a:ln>
              <a:effectLst/>
            </p:spPr>
          </p:cxnSp>
          <p:cxnSp>
            <p:nvCxnSpPr>
              <p:cNvPr id="238" name="직선 연결선 237">
                <a:extLst>
                  <a:ext uri="{FF2B5EF4-FFF2-40B4-BE49-F238E27FC236}">
                    <a16:creationId xmlns:a16="http://schemas.microsoft.com/office/drawing/2014/main" id="{C076AC68-B91B-48DF-80DD-679FF227F52E}"/>
                  </a:ext>
                </a:extLst>
              </p:cNvPr>
              <p:cNvCxnSpPr>
                <a:cxnSpLocks/>
              </p:cNvCxnSpPr>
              <p:nvPr/>
            </p:nvCxnSpPr>
            <p:spPr>
              <a:xfrm>
                <a:off x="4828026" y="3448014"/>
                <a:ext cx="0" cy="153174"/>
              </a:xfrm>
              <a:prstGeom prst="line">
                <a:avLst/>
              </a:prstGeom>
              <a:solidFill>
                <a:srgbClr val="4472C4"/>
              </a:solidFill>
              <a:ln w="28575" cap="flat" cmpd="sng" algn="ctr">
                <a:solidFill>
                  <a:srgbClr val="FFFF00"/>
                </a:solidFill>
                <a:prstDash val="solid"/>
              </a:ln>
              <a:effectLst/>
            </p:spPr>
          </p:cxnSp>
          <p:cxnSp>
            <p:nvCxnSpPr>
              <p:cNvPr id="239" name="직선 연결선 238">
                <a:extLst>
                  <a:ext uri="{FF2B5EF4-FFF2-40B4-BE49-F238E27FC236}">
                    <a16:creationId xmlns:a16="http://schemas.microsoft.com/office/drawing/2014/main" id="{0D8DA0C6-564B-4FF6-9E66-E4A19E1DD56A}"/>
                  </a:ext>
                </a:extLst>
              </p:cNvPr>
              <p:cNvCxnSpPr>
                <a:cxnSpLocks/>
              </p:cNvCxnSpPr>
              <p:nvPr/>
            </p:nvCxnSpPr>
            <p:spPr>
              <a:xfrm>
                <a:off x="4752320" y="3448014"/>
                <a:ext cx="0" cy="153174"/>
              </a:xfrm>
              <a:prstGeom prst="line">
                <a:avLst/>
              </a:prstGeom>
              <a:solidFill>
                <a:srgbClr val="4472C4"/>
              </a:solidFill>
              <a:ln w="28575" cap="flat" cmpd="sng" algn="ctr">
                <a:solidFill>
                  <a:srgbClr val="FFFF00"/>
                </a:solidFill>
                <a:prstDash val="solid"/>
              </a:ln>
              <a:effectLst/>
            </p:spPr>
          </p:cxnSp>
          <p:cxnSp>
            <p:nvCxnSpPr>
              <p:cNvPr id="240" name="직선 연결선 239">
                <a:extLst>
                  <a:ext uri="{FF2B5EF4-FFF2-40B4-BE49-F238E27FC236}">
                    <a16:creationId xmlns:a16="http://schemas.microsoft.com/office/drawing/2014/main" id="{71D918D9-B867-446C-B625-8517CC80CC00}"/>
                  </a:ext>
                </a:extLst>
              </p:cNvPr>
              <p:cNvCxnSpPr>
                <a:cxnSpLocks/>
              </p:cNvCxnSpPr>
              <p:nvPr/>
            </p:nvCxnSpPr>
            <p:spPr>
              <a:xfrm>
                <a:off x="4222370" y="3448014"/>
                <a:ext cx="0" cy="153174"/>
              </a:xfrm>
              <a:prstGeom prst="line">
                <a:avLst/>
              </a:prstGeom>
              <a:solidFill>
                <a:srgbClr val="4472C4"/>
              </a:solidFill>
              <a:ln w="28575" cap="flat" cmpd="sng" algn="ctr">
                <a:solidFill>
                  <a:srgbClr val="FFFF00"/>
                </a:solidFill>
                <a:prstDash val="solid"/>
              </a:ln>
              <a:effectLst/>
            </p:spPr>
          </p:cxnSp>
          <p:cxnSp>
            <p:nvCxnSpPr>
              <p:cNvPr id="241" name="직선 연결선 240">
                <a:extLst>
                  <a:ext uri="{FF2B5EF4-FFF2-40B4-BE49-F238E27FC236}">
                    <a16:creationId xmlns:a16="http://schemas.microsoft.com/office/drawing/2014/main" id="{6D3D5523-B012-4C2E-85D8-EA50580D77A9}"/>
                  </a:ext>
                </a:extLst>
              </p:cNvPr>
              <p:cNvCxnSpPr>
                <a:cxnSpLocks/>
              </p:cNvCxnSpPr>
              <p:nvPr/>
            </p:nvCxnSpPr>
            <p:spPr>
              <a:xfrm>
                <a:off x="4146662" y="3448014"/>
                <a:ext cx="0" cy="153174"/>
              </a:xfrm>
              <a:prstGeom prst="line">
                <a:avLst/>
              </a:prstGeom>
              <a:solidFill>
                <a:srgbClr val="4472C4"/>
              </a:solidFill>
              <a:ln w="28575" cap="flat" cmpd="sng" algn="ctr">
                <a:solidFill>
                  <a:srgbClr val="FFFF00"/>
                </a:solidFill>
                <a:prstDash val="solid"/>
              </a:ln>
              <a:effectLst/>
            </p:spPr>
          </p:cxnSp>
          <p:cxnSp>
            <p:nvCxnSpPr>
              <p:cNvPr id="242" name="직선 연결선 241">
                <a:extLst>
                  <a:ext uri="{FF2B5EF4-FFF2-40B4-BE49-F238E27FC236}">
                    <a16:creationId xmlns:a16="http://schemas.microsoft.com/office/drawing/2014/main" id="{DE800339-696E-4B07-9120-4A7A62DF1A0D}"/>
                  </a:ext>
                </a:extLst>
              </p:cNvPr>
              <p:cNvCxnSpPr>
                <a:cxnSpLocks/>
              </p:cNvCxnSpPr>
              <p:nvPr/>
            </p:nvCxnSpPr>
            <p:spPr>
              <a:xfrm>
                <a:off x="4373784" y="3448014"/>
                <a:ext cx="0" cy="153174"/>
              </a:xfrm>
              <a:prstGeom prst="line">
                <a:avLst/>
              </a:prstGeom>
              <a:solidFill>
                <a:srgbClr val="4472C4"/>
              </a:solidFill>
              <a:ln w="28575" cap="flat" cmpd="sng" algn="ctr">
                <a:solidFill>
                  <a:srgbClr val="FFFF00"/>
                </a:solidFill>
                <a:prstDash val="solid"/>
              </a:ln>
              <a:effectLst/>
            </p:spPr>
          </p:cxnSp>
          <p:cxnSp>
            <p:nvCxnSpPr>
              <p:cNvPr id="243" name="직선 연결선 242">
                <a:extLst>
                  <a:ext uri="{FF2B5EF4-FFF2-40B4-BE49-F238E27FC236}">
                    <a16:creationId xmlns:a16="http://schemas.microsoft.com/office/drawing/2014/main" id="{2FF3D587-AD1C-4A1F-AA5A-286218353FA5}"/>
                  </a:ext>
                </a:extLst>
              </p:cNvPr>
              <p:cNvCxnSpPr>
                <a:cxnSpLocks/>
              </p:cNvCxnSpPr>
              <p:nvPr/>
            </p:nvCxnSpPr>
            <p:spPr>
              <a:xfrm>
                <a:off x="4298077" y="3448014"/>
                <a:ext cx="0" cy="153174"/>
              </a:xfrm>
              <a:prstGeom prst="line">
                <a:avLst/>
              </a:prstGeom>
              <a:solidFill>
                <a:srgbClr val="4472C4"/>
              </a:solidFill>
              <a:ln w="28575" cap="flat" cmpd="sng" algn="ctr">
                <a:solidFill>
                  <a:srgbClr val="FFFF00"/>
                </a:solidFill>
                <a:prstDash val="solid"/>
              </a:ln>
              <a:effectLst/>
            </p:spPr>
          </p:cxnSp>
          <p:cxnSp>
            <p:nvCxnSpPr>
              <p:cNvPr id="244" name="직선 연결선 243">
                <a:extLst>
                  <a:ext uri="{FF2B5EF4-FFF2-40B4-BE49-F238E27FC236}">
                    <a16:creationId xmlns:a16="http://schemas.microsoft.com/office/drawing/2014/main" id="{C4258EA5-20F7-4DA6-9A64-8FF8F2FC73B2}"/>
                  </a:ext>
                </a:extLst>
              </p:cNvPr>
              <p:cNvCxnSpPr>
                <a:cxnSpLocks/>
              </p:cNvCxnSpPr>
              <p:nvPr/>
            </p:nvCxnSpPr>
            <p:spPr>
              <a:xfrm>
                <a:off x="4525199" y="3448014"/>
                <a:ext cx="0" cy="153174"/>
              </a:xfrm>
              <a:prstGeom prst="line">
                <a:avLst/>
              </a:prstGeom>
              <a:solidFill>
                <a:srgbClr val="4472C4"/>
              </a:solidFill>
              <a:ln w="28575" cap="flat" cmpd="sng" algn="ctr">
                <a:solidFill>
                  <a:srgbClr val="FFFF00"/>
                </a:solidFill>
                <a:prstDash val="solid"/>
              </a:ln>
              <a:effectLst/>
            </p:spPr>
          </p:cxnSp>
          <p:cxnSp>
            <p:nvCxnSpPr>
              <p:cNvPr id="245" name="직선 연결선 244">
                <a:extLst>
                  <a:ext uri="{FF2B5EF4-FFF2-40B4-BE49-F238E27FC236}">
                    <a16:creationId xmlns:a16="http://schemas.microsoft.com/office/drawing/2014/main" id="{F513B9FC-7D1F-44C5-B532-D57057C21C10}"/>
                  </a:ext>
                </a:extLst>
              </p:cNvPr>
              <p:cNvCxnSpPr>
                <a:cxnSpLocks/>
              </p:cNvCxnSpPr>
              <p:nvPr/>
            </p:nvCxnSpPr>
            <p:spPr>
              <a:xfrm>
                <a:off x="4449491" y="3448014"/>
                <a:ext cx="0" cy="153174"/>
              </a:xfrm>
              <a:prstGeom prst="line">
                <a:avLst/>
              </a:prstGeom>
              <a:solidFill>
                <a:srgbClr val="4472C4"/>
              </a:solidFill>
              <a:ln w="28575" cap="flat" cmpd="sng" algn="ctr">
                <a:solidFill>
                  <a:srgbClr val="FFFF00"/>
                </a:solidFill>
                <a:prstDash val="solid"/>
              </a:ln>
              <a:effectLst/>
            </p:spPr>
          </p:cxnSp>
          <p:cxnSp>
            <p:nvCxnSpPr>
              <p:cNvPr id="246" name="직선 연결선 245">
                <a:extLst>
                  <a:ext uri="{FF2B5EF4-FFF2-40B4-BE49-F238E27FC236}">
                    <a16:creationId xmlns:a16="http://schemas.microsoft.com/office/drawing/2014/main" id="{65249F9A-75C5-4C2F-87B6-039D9AEAAE43}"/>
                  </a:ext>
                </a:extLst>
              </p:cNvPr>
              <p:cNvCxnSpPr>
                <a:cxnSpLocks/>
              </p:cNvCxnSpPr>
              <p:nvPr/>
            </p:nvCxnSpPr>
            <p:spPr>
              <a:xfrm>
                <a:off x="4676613" y="3448014"/>
                <a:ext cx="0" cy="153174"/>
              </a:xfrm>
              <a:prstGeom prst="line">
                <a:avLst/>
              </a:prstGeom>
              <a:solidFill>
                <a:srgbClr val="4472C4"/>
              </a:solidFill>
              <a:ln w="28575" cap="flat" cmpd="sng" algn="ctr">
                <a:solidFill>
                  <a:srgbClr val="FFFF00"/>
                </a:solidFill>
                <a:prstDash val="solid"/>
              </a:ln>
              <a:effectLst/>
            </p:spPr>
          </p:cxnSp>
          <p:cxnSp>
            <p:nvCxnSpPr>
              <p:cNvPr id="247" name="직선 연결선 246">
                <a:extLst>
                  <a:ext uri="{FF2B5EF4-FFF2-40B4-BE49-F238E27FC236}">
                    <a16:creationId xmlns:a16="http://schemas.microsoft.com/office/drawing/2014/main" id="{63B71271-C967-49D2-BBD5-977912D87C86}"/>
                  </a:ext>
                </a:extLst>
              </p:cNvPr>
              <p:cNvCxnSpPr>
                <a:cxnSpLocks/>
              </p:cNvCxnSpPr>
              <p:nvPr/>
            </p:nvCxnSpPr>
            <p:spPr>
              <a:xfrm>
                <a:off x="4600906" y="3448014"/>
                <a:ext cx="0" cy="153174"/>
              </a:xfrm>
              <a:prstGeom prst="line">
                <a:avLst/>
              </a:prstGeom>
              <a:solidFill>
                <a:srgbClr val="4472C4"/>
              </a:solidFill>
              <a:ln w="28575" cap="flat" cmpd="sng" algn="ctr">
                <a:solidFill>
                  <a:srgbClr val="FFFF00"/>
                </a:solidFill>
                <a:prstDash val="solid"/>
              </a:ln>
              <a:effectLst/>
            </p:spPr>
          </p:cxnSp>
          <p:cxnSp>
            <p:nvCxnSpPr>
              <p:cNvPr id="248" name="직선 연결선 247">
                <a:extLst>
                  <a:ext uri="{FF2B5EF4-FFF2-40B4-BE49-F238E27FC236}">
                    <a16:creationId xmlns:a16="http://schemas.microsoft.com/office/drawing/2014/main" id="{A9A4BCE0-0040-47C3-95B0-340DFBDF55AF}"/>
                  </a:ext>
                </a:extLst>
              </p:cNvPr>
              <p:cNvCxnSpPr>
                <a:cxnSpLocks/>
              </p:cNvCxnSpPr>
              <p:nvPr/>
            </p:nvCxnSpPr>
            <p:spPr>
              <a:xfrm>
                <a:off x="4828026" y="3607229"/>
                <a:ext cx="0" cy="153174"/>
              </a:xfrm>
              <a:prstGeom prst="line">
                <a:avLst/>
              </a:prstGeom>
              <a:solidFill>
                <a:srgbClr val="4472C4"/>
              </a:solidFill>
              <a:ln w="28575" cap="flat" cmpd="sng" algn="ctr">
                <a:solidFill>
                  <a:srgbClr val="FFFF00"/>
                </a:solidFill>
                <a:prstDash val="solid"/>
              </a:ln>
              <a:effectLst/>
            </p:spPr>
          </p:cxnSp>
          <p:cxnSp>
            <p:nvCxnSpPr>
              <p:cNvPr id="249" name="직선 연결선 248">
                <a:extLst>
                  <a:ext uri="{FF2B5EF4-FFF2-40B4-BE49-F238E27FC236}">
                    <a16:creationId xmlns:a16="http://schemas.microsoft.com/office/drawing/2014/main" id="{AC62239C-9068-4400-93A9-4494549C551F}"/>
                  </a:ext>
                </a:extLst>
              </p:cNvPr>
              <p:cNvCxnSpPr>
                <a:cxnSpLocks/>
              </p:cNvCxnSpPr>
              <p:nvPr/>
            </p:nvCxnSpPr>
            <p:spPr>
              <a:xfrm>
                <a:off x="4752320" y="3607229"/>
                <a:ext cx="0" cy="153174"/>
              </a:xfrm>
              <a:prstGeom prst="line">
                <a:avLst/>
              </a:prstGeom>
              <a:solidFill>
                <a:srgbClr val="4472C4"/>
              </a:solidFill>
              <a:ln w="28575" cap="flat" cmpd="sng" algn="ctr">
                <a:solidFill>
                  <a:srgbClr val="FFFF00"/>
                </a:solidFill>
                <a:prstDash val="solid"/>
              </a:ln>
              <a:effectLst/>
            </p:spPr>
          </p:cxnSp>
          <p:cxnSp>
            <p:nvCxnSpPr>
              <p:cNvPr id="250" name="직선 연결선 249">
                <a:extLst>
                  <a:ext uri="{FF2B5EF4-FFF2-40B4-BE49-F238E27FC236}">
                    <a16:creationId xmlns:a16="http://schemas.microsoft.com/office/drawing/2014/main" id="{EA15D219-8C87-4401-9922-2E46860C0FE2}"/>
                  </a:ext>
                </a:extLst>
              </p:cNvPr>
              <p:cNvCxnSpPr>
                <a:cxnSpLocks/>
              </p:cNvCxnSpPr>
              <p:nvPr/>
            </p:nvCxnSpPr>
            <p:spPr>
              <a:xfrm>
                <a:off x="4222370" y="3607229"/>
                <a:ext cx="0" cy="153174"/>
              </a:xfrm>
              <a:prstGeom prst="line">
                <a:avLst/>
              </a:prstGeom>
              <a:solidFill>
                <a:srgbClr val="4472C4"/>
              </a:solidFill>
              <a:ln w="28575" cap="flat" cmpd="sng" algn="ctr">
                <a:solidFill>
                  <a:srgbClr val="FFFF00"/>
                </a:solidFill>
                <a:prstDash val="solid"/>
              </a:ln>
              <a:effectLst/>
            </p:spPr>
          </p:cxnSp>
          <p:cxnSp>
            <p:nvCxnSpPr>
              <p:cNvPr id="251" name="직선 연결선 250">
                <a:extLst>
                  <a:ext uri="{FF2B5EF4-FFF2-40B4-BE49-F238E27FC236}">
                    <a16:creationId xmlns:a16="http://schemas.microsoft.com/office/drawing/2014/main" id="{6EAF8DD1-5406-4D67-AC86-0A2BC18E86F5}"/>
                  </a:ext>
                </a:extLst>
              </p:cNvPr>
              <p:cNvCxnSpPr>
                <a:cxnSpLocks/>
              </p:cNvCxnSpPr>
              <p:nvPr/>
            </p:nvCxnSpPr>
            <p:spPr>
              <a:xfrm>
                <a:off x="4146662" y="3607229"/>
                <a:ext cx="0" cy="153174"/>
              </a:xfrm>
              <a:prstGeom prst="line">
                <a:avLst/>
              </a:prstGeom>
              <a:solidFill>
                <a:srgbClr val="4472C4"/>
              </a:solidFill>
              <a:ln w="28575" cap="flat" cmpd="sng" algn="ctr">
                <a:solidFill>
                  <a:srgbClr val="FFFF00"/>
                </a:solidFill>
                <a:prstDash val="solid"/>
              </a:ln>
              <a:effectLst/>
            </p:spPr>
          </p:cxnSp>
          <p:cxnSp>
            <p:nvCxnSpPr>
              <p:cNvPr id="252" name="직선 연결선 251">
                <a:extLst>
                  <a:ext uri="{FF2B5EF4-FFF2-40B4-BE49-F238E27FC236}">
                    <a16:creationId xmlns:a16="http://schemas.microsoft.com/office/drawing/2014/main" id="{DCCA5F0B-3E56-46C8-A5C5-C6B1D3FAD7D1}"/>
                  </a:ext>
                </a:extLst>
              </p:cNvPr>
              <p:cNvCxnSpPr>
                <a:cxnSpLocks/>
              </p:cNvCxnSpPr>
              <p:nvPr/>
            </p:nvCxnSpPr>
            <p:spPr>
              <a:xfrm>
                <a:off x="4373784" y="3607229"/>
                <a:ext cx="0" cy="153174"/>
              </a:xfrm>
              <a:prstGeom prst="line">
                <a:avLst/>
              </a:prstGeom>
              <a:solidFill>
                <a:srgbClr val="4472C4"/>
              </a:solidFill>
              <a:ln w="28575" cap="flat" cmpd="sng" algn="ctr">
                <a:solidFill>
                  <a:srgbClr val="FFFF00"/>
                </a:solidFill>
                <a:prstDash val="solid"/>
              </a:ln>
              <a:effectLst/>
            </p:spPr>
          </p:cxnSp>
          <p:cxnSp>
            <p:nvCxnSpPr>
              <p:cNvPr id="253" name="직선 연결선 252">
                <a:extLst>
                  <a:ext uri="{FF2B5EF4-FFF2-40B4-BE49-F238E27FC236}">
                    <a16:creationId xmlns:a16="http://schemas.microsoft.com/office/drawing/2014/main" id="{F677BB14-E6E5-4E19-9FCE-C62066361242}"/>
                  </a:ext>
                </a:extLst>
              </p:cNvPr>
              <p:cNvCxnSpPr>
                <a:cxnSpLocks/>
              </p:cNvCxnSpPr>
              <p:nvPr/>
            </p:nvCxnSpPr>
            <p:spPr>
              <a:xfrm>
                <a:off x="4298077" y="3607229"/>
                <a:ext cx="0" cy="153174"/>
              </a:xfrm>
              <a:prstGeom prst="line">
                <a:avLst/>
              </a:prstGeom>
              <a:solidFill>
                <a:srgbClr val="4472C4"/>
              </a:solidFill>
              <a:ln w="28575" cap="flat" cmpd="sng" algn="ctr">
                <a:solidFill>
                  <a:srgbClr val="FFFF00"/>
                </a:solidFill>
                <a:prstDash val="solid"/>
              </a:ln>
              <a:effectLst/>
            </p:spPr>
          </p:cxnSp>
          <p:cxnSp>
            <p:nvCxnSpPr>
              <p:cNvPr id="254" name="직선 연결선 253">
                <a:extLst>
                  <a:ext uri="{FF2B5EF4-FFF2-40B4-BE49-F238E27FC236}">
                    <a16:creationId xmlns:a16="http://schemas.microsoft.com/office/drawing/2014/main" id="{227B1922-DDD8-4D19-BF55-4BB4FD6FDA2D}"/>
                  </a:ext>
                </a:extLst>
              </p:cNvPr>
              <p:cNvCxnSpPr>
                <a:cxnSpLocks/>
              </p:cNvCxnSpPr>
              <p:nvPr/>
            </p:nvCxnSpPr>
            <p:spPr>
              <a:xfrm>
                <a:off x="4525199" y="3607229"/>
                <a:ext cx="0" cy="153174"/>
              </a:xfrm>
              <a:prstGeom prst="line">
                <a:avLst/>
              </a:prstGeom>
              <a:solidFill>
                <a:srgbClr val="4472C4"/>
              </a:solidFill>
              <a:ln w="28575" cap="flat" cmpd="sng" algn="ctr">
                <a:solidFill>
                  <a:srgbClr val="FFFF00"/>
                </a:solidFill>
                <a:prstDash val="solid"/>
              </a:ln>
              <a:effectLst/>
            </p:spPr>
          </p:cxnSp>
          <p:cxnSp>
            <p:nvCxnSpPr>
              <p:cNvPr id="255" name="직선 연결선 254">
                <a:extLst>
                  <a:ext uri="{FF2B5EF4-FFF2-40B4-BE49-F238E27FC236}">
                    <a16:creationId xmlns:a16="http://schemas.microsoft.com/office/drawing/2014/main" id="{C09A8F95-A3C0-4C96-B05E-5F3F3BA7D566}"/>
                  </a:ext>
                </a:extLst>
              </p:cNvPr>
              <p:cNvCxnSpPr>
                <a:cxnSpLocks/>
              </p:cNvCxnSpPr>
              <p:nvPr/>
            </p:nvCxnSpPr>
            <p:spPr>
              <a:xfrm>
                <a:off x="4449491" y="3607229"/>
                <a:ext cx="0" cy="153174"/>
              </a:xfrm>
              <a:prstGeom prst="line">
                <a:avLst/>
              </a:prstGeom>
              <a:solidFill>
                <a:srgbClr val="4472C4"/>
              </a:solidFill>
              <a:ln w="28575" cap="flat" cmpd="sng" algn="ctr">
                <a:solidFill>
                  <a:srgbClr val="FFFF00"/>
                </a:solidFill>
                <a:prstDash val="solid"/>
              </a:ln>
              <a:effectLst/>
            </p:spPr>
          </p:cxnSp>
          <p:cxnSp>
            <p:nvCxnSpPr>
              <p:cNvPr id="256" name="직선 연결선 255">
                <a:extLst>
                  <a:ext uri="{FF2B5EF4-FFF2-40B4-BE49-F238E27FC236}">
                    <a16:creationId xmlns:a16="http://schemas.microsoft.com/office/drawing/2014/main" id="{B8810FF0-A1D5-4286-9103-7C888D4B6EB5}"/>
                  </a:ext>
                </a:extLst>
              </p:cNvPr>
              <p:cNvCxnSpPr>
                <a:cxnSpLocks/>
              </p:cNvCxnSpPr>
              <p:nvPr/>
            </p:nvCxnSpPr>
            <p:spPr>
              <a:xfrm>
                <a:off x="4676613" y="3607229"/>
                <a:ext cx="0" cy="153174"/>
              </a:xfrm>
              <a:prstGeom prst="line">
                <a:avLst/>
              </a:prstGeom>
              <a:solidFill>
                <a:srgbClr val="4472C4"/>
              </a:solidFill>
              <a:ln w="28575" cap="flat" cmpd="sng" algn="ctr">
                <a:solidFill>
                  <a:srgbClr val="FFFF00"/>
                </a:solidFill>
                <a:prstDash val="solid"/>
              </a:ln>
              <a:effectLst/>
            </p:spPr>
          </p:cxnSp>
          <p:cxnSp>
            <p:nvCxnSpPr>
              <p:cNvPr id="257" name="직선 연결선 256">
                <a:extLst>
                  <a:ext uri="{FF2B5EF4-FFF2-40B4-BE49-F238E27FC236}">
                    <a16:creationId xmlns:a16="http://schemas.microsoft.com/office/drawing/2014/main" id="{68CF80FF-2998-4AEF-9301-1933B2D80981}"/>
                  </a:ext>
                </a:extLst>
              </p:cNvPr>
              <p:cNvCxnSpPr>
                <a:cxnSpLocks/>
              </p:cNvCxnSpPr>
              <p:nvPr/>
            </p:nvCxnSpPr>
            <p:spPr>
              <a:xfrm>
                <a:off x="4600906" y="3607229"/>
                <a:ext cx="0" cy="153174"/>
              </a:xfrm>
              <a:prstGeom prst="line">
                <a:avLst/>
              </a:prstGeom>
              <a:solidFill>
                <a:srgbClr val="4472C4"/>
              </a:solidFill>
              <a:ln w="28575" cap="flat" cmpd="sng" algn="ctr">
                <a:solidFill>
                  <a:srgbClr val="FFFF00"/>
                </a:solidFill>
                <a:prstDash val="solid"/>
              </a:ln>
              <a:effectLst/>
            </p:spPr>
          </p:cxnSp>
          <p:cxnSp>
            <p:nvCxnSpPr>
              <p:cNvPr id="258" name="직선 연결선 257">
                <a:extLst>
                  <a:ext uri="{FF2B5EF4-FFF2-40B4-BE49-F238E27FC236}">
                    <a16:creationId xmlns:a16="http://schemas.microsoft.com/office/drawing/2014/main" id="{02F7C207-BB35-4D04-94E5-905BC0799EE9}"/>
                  </a:ext>
                </a:extLst>
              </p:cNvPr>
              <p:cNvCxnSpPr>
                <a:cxnSpLocks/>
              </p:cNvCxnSpPr>
              <p:nvPr/>
            </p:nvCxnSpPr>
            <p:spPr>
              <a:xfrm>
                <a:off x="4828027" y="3767422"/>
                <a:ext cx="0" cy="122539"/>
              </a:xfrm>
              <a:prstGeom prst="line">
                <a:avLst/>
              </a:prstGeom>
              <a:solidFill>
                <a:srgbClr val="4472C4"/>
              </a:solidFill>
              <a:ln w="28575" cap="flat" cmpd="sng" algn="ctr">
                <a:solidFill>
                  <a:srgbClr val="FFFF00"/>
                </a:solidFill>
                <a:prstDash val="solid"/>
              </a:ln>
              <a:effectLst/>
            </p:spPr>
          </p:cxnSp>
          <p:cxnSp>
            <p:nvCxnSpPr>
              <p:cNvPr id="259" name="직선 연결선 258">
                <a:extLst>
                  <a:ext uri="{FF2B5EF4-FFF2-40B4-BE49-F238E27FC236}">
                    <a16:creationId xmlns:a16="http://schemas.microsoft.com/office/drawing/2014/main" id="{1B5A2FF4-3A53-462E-B6E5-E83FAF456405}"/>
                  </a:ext>
                </a:extLst>
              </p:cNvPr>
              <p:cNvCxnSpPr>
                <a:cxnSpLocks/>
              </p:cNvCxnSpPr>
              <p:nvPr/>
            </p:nvCxnSpPr>
            <p:spPr>
              <a:xfrm>
                <a:off x="4752320" y="3767422"/>
                <a:ext cx="0" cy="122539"/>
              </a:xfrm>
              <a:prstGeom prst="line">
                <a:avLst/>
              </a:prstGeom>
              <a:solidFill>
                <a:srgbClr val="4472C4"/>
              </a:solidFill>
              <a:ln w="28575" cap="flat" cmpd="sng" algn="ctr">
                <a:solidFill>
                  <a:srgbClr val="FFFF00"/>
                </a:solidFill>
                <a:prstDash val="solid"/>
              </a:ln>
              <a:effectLst/>
            </p:spPr>
          </p:cxnSp>
          <p:cxnSp>
            <p:nvCxnSpPr>
              <p:cNvPr id="260" name="직선 연결선 259">
                <a:extLst>
                  <a:ext uri="{FF2B5EF4-FFF2-40B4-BE49-F238E27FC236}">
                    <a16:creationId xmlns:a16="http://schemas.microsoft.com/office/drawing/2014/main" id="{AF729332-ABBC-4503-A0AB-D753CDE3629C}"/>
                  </a:ext>
                </a:extLst>
              </p:cNvPr>
              <p:cNvCxnSpPr>
                <a:cxnSpLocks/>
              </p:cNvCxnSpPr>
              <p:nvPr/>
            </p:nvCxnSpPr>
            <p:spPr>
              <a:xfrm>
                <a:off x="4222370" y="3767422"/>
                <a:ext cx="0" cy="122539"/>
              </a:xfrm>
              <a:prstGeom prst="line">
                <a:avLst/>
              </a:prstGeom>
              <a:solidFill>
                <a:srgbClr val="4472C4"/>
              </a:solidFill>
              <a:ln w="28575" cap="flat" cmpd="sng" algn="ctr">
                <a:solidFill>
                  <a:srgbClr val="FFFF00"/>
                </a:solidFill>
                <a:prstDash val="solid"/>
              </a:ln>
              <a:effectLst/>
            </p:spPr>
          </p:cxnSp>
          <p:cxnSp>
            <p:nvCxnSpPr>
              <p:cNvPr id="261" name="직선 연결선 260">
                <a:extLst>
                  <a:ext uri="{FF2B5EF4-FFF2-40B4-BE49-F238E27FC236}">
                    <a16:creationId xmlns:a16="http://schemas.microsoft.com/office/drawing/2014/main" id="{F81D9B91-F7BF-4042-99C8-DEE523BB7C98}"/>
                  </a:ext>
                </a:extLst>
              </p:cNvPr>
              <p:cNvCxnSpPr>
                <a:cxnSpLocks/>
              </p:cNvCxnSpPr>
              <p:nvPr/>
            </p:nvCxnSpPr>
            <p:spPr>
              <a:xfrm>
                <a:off x="4146662" y="3767422"/>
                <a:ext cx="0" cy="122539"/>
              </a:xfrm>
              <a:prstGeom prst="line">
                <a:avLst/>
              </a:prstGeom>
              <a:solidFill>
                <a:srgbClr val="4472C4"/>
              </a:solidFill>
              <a:ln w="28575" cap="flat" cmpd="sng" algn="ctr">
                <a:solidFill>
                  <a:srgbClr val="FFFF00"/>
                </a:solidFill>
                <a:prstDash val="solid"/>
              </a:ln>
              <a:effectLst/>
            </p:spPr>
          </p:cxnSp>
          <p:cxnSp>
            <p:nvCxnSpPr>
              <p:cNvPr id="262" name="직선 연결선 261">
                <a:extLst>
                  <a:ext uri="{FF2B5EF4-FFF2-40B4-BE49-F238E27FC236}">
                    <a16:creationId xmlns:a16="http://schemas.microsoft.com/office/drawing/2014/main" id="{82BCCC68-006B-4591-ACE2-652CA055FA1F}"/>
                  </a:ext>
                </a:extLst>
              </p:cNvPr>
              <p:cNvCxnSpPr>
                <a:cxnSpLocks/>
              </p:cNvCxnSpPr>
              <p:nvPr/>
            </p:nvCxnSpPr>
            <p:spPr>
              <a:xfrm>
                <a:off x="4373785" y="3767422"/>
                <a:ext cx="0" cy="122539"/>
              </a:xfrm>
              <a:prstGeom prst="line">
                <a:avLst/>
              </a:prstGeom>
              <a:solidFill>
                <a:srgbClr val="4472C4"/>
              </a:solidFill>
              <a:ln w="28575" cap="flat" cmpd="sng" algn="ctr">
                <a:solidFill>
                  <a:srgbClr val="FFFF00"/>
                </a:solidFill>
                <a:prstDash val="solid"/>
              </a:ln>
              <a:effectLst/>
            </p:spPr>
          </p:cxnSp>
          <p:cxnSp>
            <p:nvCxnSpPr>
              <p:cNvPr id="263" name="직선 연결선 262">
                <a:extLst>
                  <a:ext uri="{FF2B5EF4-FFF2-40B4-BE49-F238E27FC236}">
                    <a16:creationId xmlns:a16="http://schemas.microsoft.com/office/drawing/2014/main" id="{6AC89C60-6F41-4FAE-AE2F-C8880EE53CC1}"/>
                  </a:ext>
                </a:extLst>
              </p:cNvPr>
              <p:cNvCxnSpPr>
                <a:cxnSpLocks/>
              </p:cNvCxnSpPr>
              <p:nvPr/>
            </p:nvCxnSpPr>
            <p:spPr>
              <a:xfrm>
                <a:off x="4298077" y="3767422"/>
                <a:ext cx="0" cy="122539"/>
              </a:xfrm>
              <a:prstGeom prst="line">
                <a:avLst/>
              </a:prstGeom>
              <a:solidFill>
                <a:srgbClr val="4472C4"/>
              </a:solidFill>
              <a:ln w="28575" cap="flat" cmpd="sng" algn="ctr">
                <a:solidFill>
                  <a:srgbClr val="FFFF00"/>
                </a:solidFill>
                <a:prstDash val="solid"/>
              </a:ln>
              <a:effectLst/>
            </p:spPr>
          </p:cxnSp>
          <p:cxnSp>
            <p:nvCxnSpPr>
              <p:cNvPr id="264" name="직선 연결선 263">
                <a:extLst>
                  <a:ext uri="{FF2B5EF4-FFF2-40B4-BE49-F238E27FC236}">
                    <a16:creationId xmlns:a16="http://schemas.microsoft.com/office/drawing/2014/main" id="{3B3D4302-AA9D-496F-8ED3-53F8A1ADB68C}"/>
                  </a:ext>
                </a:extLst>
              </p:cNvPr>
              <p:cNvCxnSpPr>
                <a:cxnSpLocks/>
              </p:cNvCxnSpPr>
              <p:nvPr/>
            </p:nvCxnSpPr>
            <p:spPr>
              <a:xfrm>
                <a:off x="4525199" y="3767422"/>
                <a:ext cx="0" cy="122539"/>
              </a:xfrm>
              <a:prstGeom prst="line">
                <a:avLst/>
              </a:prstGeom>
              <a:solidFill>
                <a:srgbClr val="4472C4"/>
              </a:solidFill>
              <a:ln w="28575" cap="flat" cmpd="sng" algn="ctr">
                <a:solidFill>
                  <a:srgbClr val="FFFF00"/>
                </a:solidFill>
                <a:prstDash val="solid"/>
              </a:ln>
              <a:effectLst/>
            </p:spPr>
          </p:cxnSp>
          <p:cxnSp>
            <p:nvCxnSpPr>
              <p:cNvPr id="265" name="직선 연결선 264">
                <a:extLst>
                  <a:ext uri="{FF2B5EF4-FFF2-40B4-BE49-F238E27FC236}">
                    <a16:creationId xmlns:a16="http://schemas.microsoft.com/office/drawing/2014/main" id="{ECFA3CC6-A802-4372-8BCC-F0470A620EE1}"/>
                  </a:ext>
                </a:extLst>
              </p:cNvPr>
              <p:cNvCxnSpPr>
                <a:cxnSpLocks/>
              </p:cNvCxnSpPr>
              <p:nvPr/>
            </p:nvCxnSpPr>
            <p:spPr>
              <a:xfrm>
                <a:off x="4449491" y="3767422"/>
                <a:ext cx="0" cy="122539"/>
              </a:xfrm>
              <a:prstGeom prst="line">
                <a:avLst/>
              </a:prstGeom>
              <a:solidFill>
                <a:srgbClr val="4472C4"/>
              </a:solidFill>
              <a:ln w="28575" cap="flat" cmpd="sng" algn="ctr">
                <a:solidFill>
                  <a:srgbClr val="FFFF00"/>
                </a:solidFill>
                <a:prstDash val="solid"/>
              </a:ln>
              <a:effectLst/>
            </p:spPr>
          </p:cxnSp>
          <p:cxnSp>
            <p:nvCxnSpPr>
              <p:cNvPr id="266" name="직선 연결선 265">
                <a:extLst>
                  <a:ext uri="{FF2B5EF4-FFF2-40B4-BE49-F238E27FC236}">
                    <a16:creationId xmlns:a16="http://schemas.microsoft.com/office/drawing/2014/main" id="{7D5BBE6E-9F31-4224-A5BD-10DFEA0ECB22}"/>
                  </a:ext>
                </a:extLst>
              </p:cNvPr>
              <p:cNvCxnSpPr>
                <a:cxnSpLocks/>
              </p:cNvCxnSpPr>
              <p:nvPr/>
            </p:nvCxnSpPr>
            <p:spPr>
              <a:xfrm>
                <a:off x="4676614" y="3767422"/>
                <a:ext cx="0" cy="122539"/>
              </a:xfrm>
              <a:prstGeom prst="line">
                <a:avLst/>
              </a:prstGeom>
              <a:solidFill>
                <a:srgbClr val="4472C4"/>
              </a:solidFill>
              <a:ln w="28575" cap="flat" cmpd="sng" algn="ctr">
                <a:solidFill>
                  <a:srgbClr val="FFFF00"/>
                </a:solidFill>
                <a:prstDash val="solid"/>
              </a:ln>
              <a:effectLst/>
            </p:spPr>
          </p:cxnSp>
          <p:cxnSp>
            <p:nvCxnSpPr>
              <p:cNvPr id="267" name="직선 연결선 266">
                <a:extLst>
                  <a:ext uri="{FF2B5EF4-FFF2-40B4-BE49-F238E27FC236}">
                    <a16:creationId xmlns:a16="http://schemas.microsoft.com/office/drawing/2014/main" id="{9E0A3AC0-C1B1-4514-84A9-6B0D127FBB65}"/>
                  </a:ext>
                </a:extLst>
              </p:cNvPr>
              <p:cNvCxnSpPr>
                <a:cxnSpLocks/>
              </p:cNvCxnSpPr>
              <p:nvPr/>
            </p:nvCxnSpPr>
            <p:spPr>
              <a:xfrm>
                <a:off x="4600906" y="3767422"/>
                <a:ext cx="0" cy="122539"/>
              </a:xfrm>
              <a:prstGeom prst="line">
                <a:avLst/>
              </a:prstGeom>
              <a:solidFill>
                <a:srgbClr val="4472C4"/>
              </a:solidFill>
              <a:ln w="28575" cap="flat" cmpd="sng" algn="ctr">
                <a:solidFill>
                  <a:srgbClr val="FFFF00"/>
                </a:solidFill>
                <a:prstDash val="solid"/>
              </a:ln>
              <a:effectLst/>
            </p:spPr>
          </p:cxnSp>
        </p:grpSp>
        <p:sp>
          <p:nvSpPr>
            <p:cNvPr id="204" name="TextBox 203">
              <a:extLst>
                <a:ext uri="{FF2B5EF4-FFF2-40B4-BE49-F238E27FC236}">
                  <a16:creationId xmlns:a16="http://schemas.microsoft.com/office/drawing/2014/main" id="{01D72E98-7D44-4CEB-B057-D06806A217DE}"/>
                </a:ext>
              </a:extLst>
            </p:cNvPr>
            <p:cNvSpPr txBox="1"/>
            <p:nvPr/>
          </p:nvSpPr>
          <p:spPr>
            <a:xfrm>
              <a:off x="8526187" y="2626787"/>
              <a:ext cx="413296" cy="22144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205" name="TextBox 204">
              <a:extLst>
                <a:ext uri="{FF2B5EF4-FFF2-40B4-BE49-F238E27FC236}">
                  <a16:creationId xmlns:a16="http://schemas.microsoft.com/office/drawing/2014/main" id="{82648F13-263B-4A15-8805-9F9CD4586C02}"/>
                </a:ext>
              </a:extLst>
            </p:cNvPr>
            <p:cNvSpPr txBox="1"/>
            <p:nvPr/>
          </p:nvSpPr>
          <p:spPr>
            <a:xfrm>
              <a:off x="8526188" y="2787488"/>
              <a:ext cx="413296" cy="22144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206" name="TextBox 205">
              <a:extLst>
                <a:ext uri="{FF2B5EF4-FFF2-40B4-BE49-F238E27FC236}">
                  <a16:creationId xmlns:a16="http://schemas.microsoft.com/office/drawing/2014/main" id="{F2F027E5-AECF-4C74-91A1-726E1B76A36E}"/>
                </a:ext>
              </a:extLst>
            </p:cNvPr>
            <p:cNvSpPr txBox="1"/>
            <p:nvPr/>
          </p:nvSpPr>
          <p:spPr>
            <a:xfrm>
              <a:off x="8419452" y="3219431"/>
              <a:ext cx="583746" cy="22144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Interlayer</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207" name="TextBox 206">
              <a:extLst>
                <a:ext uri="{FF2B5EF4-FFF2-40B4-BE49-F238E27FC236}">
                  <a16:creationId xmlns:a16="http://schemas.microsoft.com/office/drawing/2014/main" id="{1DA45082-2DEB-456C-AF29-76E8A26169DB}"/>
                </a:ext>
              </a:extLst>
            </p:cNvPr>
            <p:cNvSpPr txBox="1"/>
            <p:nvPr/>
          </p:nvSpPr>
          <p:spPr>
            <a:xfrm>
              <a:off x="8559394" y="3361968"/>
              <a:ext cx="378152" cy="22144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GPU</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208" name="TextBox 207">
              <a:extLst>
                <a:ext uri="{FF2B5EF4-FFF2-40B4-BE49-F238E27FC236}">
                  <a16:creationId xmlns:a16="http://schemas.microsoft.com/office/drawing/2014/main" id="{01346F8D-E03F-485B-9391-85BF44B9139F}"/>
                </a:ext>
              </a:extLst>
            </p:cNvPr>
            <p:cNvSpPr txBox="1"/>
            <p:nvPr/>
          </p:nvSpPr>
          <p:spPr>
            <a:xfrm>
              <a:off x="8526188" y="2932379"/>
              <a:ext cx="413296" cy="22144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209" name="TextBox 208">
              <a:extLst>
                <a:ext uri="{FF2B5EF4-FFF2-40B4-BE49-F238E27FC236}">
                  <a16:creationId xmlns:a16="http://schemas.microsoft.com/office/drawing/2014/main" id="{25B01067-131F-4E42-A01D-8277773A6945}"/>
                </a:ext>
              </a:extLst>
            </p:cNvPr>
            <p:cNvSpPr txBox="1"/>
            <p:nvPr/>
          </p:nvSpPr>
          <p:spPr>
            <a:xfrm>
              <a:off x="8526188" y="3075323"/>
              <a:ext cx="413296" cy="22144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grpSp>
      <p:sp>
        <p:nvSpPr>
          <p:cNvPr id="268" name="TextBox 267">
            <a:extLst>
              <a:ext uri="{FF2B5EF4-FFF2-40B4-BE49-F238E27FC236}">
                <a16:creationId xmlns:a16="http://schemas.microsoft.com/office/drawing/2014/main" id="{987DEFE5-E808-4F43-9A0A-CFF684213AF6}"/>
              </a:ext>
            </a:extLst>
          </p:cNvPr>
          <p:cNvSpPr txBox="1"/>
          <p:nvPr/>
        </p:nvSpPr>
        <p:spPr>
          <a:xfrm>
            <a:off x="6703457" y="3608487"/>
            <a:ext cx="1019011"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err="1">
                <a:ln>
                  <a:noFill/>
                </a:ln>
                <a:solidFill>
                  <a:srgbClr val="FFFFFF"/>
                </a:solidFill>
                <a:effectLst/>
                <a:uLnTx/>
                <a:uFillTx/>
                <a:latin typeface="SAMSUNGONE-600C" panose="020B0503030303020204" pitchFamily="34" charset="-127"/>
                <a:ea typeface="SAMSUNGONE-600C" panose="020B0503030303020204" pitchFamily="34" charset="-127"/>
                <a:cs typeface="+mn-cs"/>
              </a:rPr>
              <a:t>cHBM</a:t>
            </a:r>
            <a:endPar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sp>
        <p:nvSpPr>
          <p:cNvPr id="270" name="TextBox 269">
            <a:extLst>
              <a:ext uri="{FF2B5EF4-FFF2-40B4-BE49-F238E27FC236}">
                <a16:creationId xmlns:a16="http://schemas.microsoft.com/office/drawing/2014/main" id="{987DEFE5-E808-4F43-9A0A-CFF684213AF6}"/>
              </a:ext>
            </a:extLst>
          </p:cNvPr>
          <p:cNvSpPr txBox="1"/>
          <p:nvPr/>
        </p:nvSpPr>
        <p:spPr>
          <a:xfrm>
            <a:off x="10370527" y="3608487"/>
            <a:ext cx="1019011"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err="1">
                <a:ln>
                  <a:noFill/>
                </a:ln>
                <a:solidFill>
                  <a:srgbClr val="FFFFFF"/>
                </a:solidFill>
                <a:effectLst/>
                <a:uLnTx/>
                <a:uFillTx/>
                <a:latin typeface="SAMSUNGONE-600C" panose="020B0503030303020204" pitchFamily="34" charset="-127"/>
                <a:ea typeface="SAMSUNGONE-600C" panose="020B0503030303020204" pitchFamily="34" charset="-127"/>
                <a:cs typeface="+mn-cs"/>
              </a:rPr>
              <a:t>zHBM</a:t>
            </a:r>
            <a:endPar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grpSp>
        <p:nvGrpSpPr>
          <p:cNvPr id="271" name="그룹 270">
            <a:extLst>
              <a:ext uri="{FF2B5EF4-FFF2-40B4-BE49-F238E27FC236}">
                <a16:creationId xmlns:a16="http://schemas.microsoft.com/office/drawing/2014/main" id="{BABA9646-C2E1-46BE-BCE2-06B7052E8A7F}"/>
              </a:ext>
            </a:extLst>
          </p:cNvPr>
          <p:cNvGrpSpPr/>
          <p:nvPr/>
        </p:nvGrpSpPr>
        <p:grpSpPr>
          <a:xfrm>
            <a:off x="6375824" y="2629390"/>
            <a:ext cx="1483505" cy="896147"/>
            <a:chOff x="9517429" y="4011509"/>
            <a:chExt cx="1611726" cy="887512"/>
          </a:xfrm>
        </p:grpSpPr>
        <p:grpSp>
          <p:nvGrpSpPr>
            <p:cNvPr id="272" name="그룹 271">
              <a:extLst>
                <a:ext uri="{FF2B5EF4-FFF2-40B4-BE49-F238E27FC236}">
                  <a16:creationId xmlns:a16="http://schemas.microsoft.com/office/drawing/2014/main" id="{922AF680-4216-49FB-977C-AC93862EEEBD}"/>
                </a:ext>
              </a:extLst>
            </p:cNvPr>
            <p:cNvGrpSpPr/>
            <p:nvPr/>
          </p:nvGrpSpPr>
          <p:grpSpPr>
            <a:xfrm>
              <a:off x="9517429" y="4515960"/>
              <a:ext cx="1611726" cy="383061"/>
              <a:chOff x="8376838" y="4973135"/>
              <a:chExt cx="1611726" cy="383061"/>
            </a:xfrm>
          </p:grpSpPr>
          <p:sp>
            <p:nvSpPr>
              <p:cNvPr id="367" name="Oval 630">
                <a:extLst>
                  <a:ext uri="{FF2B5EF4-FFF2-40B4-BE49-F238E27FC236}">
                    <a16:creationId xmlns:a16="http://schemas.microsoft.com/office/drawing/2014/main" id="{D141000B-7565-403A-BCE4-A2246F8E5386}"/>
                  </a:ext>
                </a:extLst>
              </p:cNvPr>
              <p:cNvSpPr>
                <a:spLocks noChangeArrowheads="1"/>
              </p:cNvSpPr>
              <p:nvPr/>
            </p:nvSpPr>
            <p:spPr bwMode="auto">
              <a:xfrm>
                <a:off x="8430170"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68" name="Oval 630">
                <a:extLst>
                  <a:ext uri="{FF2B5EF4-FFF2-40B4-BE49-F238E27FC236}">
                    <a16:creationId xmlns:a16="http://schemas.microsoft.com/office/drawing/2014/main" id="{8BB260A3-2D79-4189-896E-B0B0C8F9E845}"/>
                  </a:ext>
                </a:extLst>
              </p:cNvPr>
              <p:cNvSpPr>
                <a:spLocks noChangeArrowheads="1"/>
              </p:cNvSpPr>
              <p:nvPr/>
            </p:nvSpPr>
            <p:spPr bwMode="auto">
              <a:xfrm>
                <a:off x="854969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69" name="Oval 630">
                <a:extLst>
                  <a:ext uri="{FF2B5EF4-FFF2-40B4-BE49-F238E27FC236}">
                    <a16:creationId xmlns:a16="http://schemas.microsoft.com/office/drawing/2014/main" id="{FE95721B-E3DB-41C3-B5D8-A0FC99569B8F}"/>
                  </a:ext>
                </a:extLst>
              </p:cNvPr>
              <p:cNvSpPr>
                <a:spLocks noChangeArrowheads="1"/>
              </p:cNvSpPr>
              <p:nvPr/>
            </p:nvSpPr>
            <p:spPr bwMode="auto">
              <a:xfrm>
                <a:off x="8669215"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0" name="Oval 630">
                <a:extLst>
                  <a:ext uri="{FF2B5EF4-FFF2-40B4-BE49-F238E27FC236}">
                    <a16:creationId xmlns:a16="http://schemas.microsoft.com/office/drawing/2014/main" id="{4C1387EF-33AA-486B-81E5-66DC7A938155}"/>
                  </a:ext>
                </a:extLst>
              </p:cNvPr>
              <p:cNvSpPr>
                <a:spLocks noChangeArrowheads="1"/>
              </p:cNvSpPr>
              <p:nvPr/>
            </p:nvSpPr>
            <p:spPr bwMode="auto">
              <a:xfrm>
                <a:off x="878771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1" name="Oval 630">
                <a:extLst>
                  <a:ext uri="{FF2B5EF4-FFF2-40B4-BE49-F238E27FC236}">
                    <a16:creationId xmlns:a16="http://schemas.microsoft.com/office/drawing/2014/main" id="{31154D99-33B2-4BB8-B156-0A708CB922DD}"/>
                  </a:ext>
                </a:extLst>
              </p:cNvPr>
              <p:cNvSpPr>
                <a:spLocks noChangeArrowheads="1"/>
              </p:cNvSpPr>
              <p:nvPr/>
            </p:nvSpPr>
            <p:spPr bwMode="auto">
              <a:xfrm>
                <a:off x="890837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2" name="Oval 630">
                <a:extLst>
                  <a:ext uri="{FF2B5EF4-FFF2-40B4-BE49-F238E27FC236}">
                    <a16:creationId xmlns:a16="http://schemas.microsoft.com/office/drawing/2014/main" id="{F608C7F4-1934-40A0-806D-F8580D06CDAD}"/>
                  </a:ext>
                </a:extLst>
              </p:cNvPr>
              <p:cNvSpPr>
                <a:spLocks noChangeArrowheads="1"/>
              </p:cNvSpPr>
              <p:nvPr/>
            </p:nvSpPr>
            <p:spPr bwMode="auto">
              <a:xfrm>
                <a:off x="902790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3" name="Oval 630">
                <a:extLst>
                  <a:ext uri="{FF2B5EF4-FFF2-40B4-BE49-F238E27FC236}">
                    <a16:creationId xmlns:a16="http://schemas.microsoft.com/office/drawing/2014/main" id="{7F290A92-902E-4AD6-85BD-077FCBA792E2}"/>
                  </a:ext>
                </a:extLst>
              </p:cNvPr>
              <p:cNvSpPr>
                <a:spLocks noChangeArrowheads="1"/>
              </p:cNvSpPr>
              <p:nvPr/>
            </p:nvSpPr>
            <p:spPr bwMode="auto">
              <a:xfrm>
                <a:off x="914742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4" name="Oval 630">
                <a:extLst>
                  <a:ext uri="{FF2B5EF4-FFF2-40B4-BE49-F238E27FC236}">
                    <a16:creationId xmlns:a16="http://schemas.microsoft.com/office/drawing/2014/main" id="{31755BF1-622E-4EF0-99CD-7F4F6D47B564}"/>
                  </a:ext>
                </a:extLst>
              </p:cNvPr>
              <p:cNvSpPr>
                <a:spLocks noChangeArrowheads="1"/>
              </p:cNvSpPr>
              <p:nvPr/>
            </p:nvSpPr>
            <p:spPr bwMode="auto">
              <a:xfrm>
                <a:off x="926592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5" name="Oval 630">
                <a:extLst>
                  <a:ext uri="{FF2B5EF4-FFF2-40B4-BE49-F238E27FC236}">
                    <a16:creationId xmlns:a16="http://schemas.microsoft.com/office/drawing/2014/main" id="{01E36251-2410-4027-AC91-2ED57F08C9A4}"/>
                  </a:ext>
                </a:extLst>
              </p:cNvPr>
              <p:cNvSpPr>
                <a:spLocks noChangeArrowheads="1"/>
              </p:cNvSpPr>
              <p:nvPr/>
            </p:nvSpPr>
            <p:spPr bwMode="auto">
              <a:xfrm>
                <a:off x="9382200"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6" name="Oval 630">
                <a:extLst>
                  <a:ext uri="{FF2B5EF4-FFF2-40B4-BE49-F238E27FC236}">
                    <a16:creationId xmlns:a16="http://schemas.microsoft.com/office/drawing/2014/main" id="{C448ADE8-B5BE-4D0B-A053-662E21C1E9BE}"/>
                  </a:ext>
                </a:extLst>
              </p:cNvPr>
              <p:cNvSpPr>
                <a:spLocks noChangeArrowheads="1"/>
              </p:cNvSpPr>
              <p:nvPr/>
            </p:nvSpPr>
            <p:spPr bwMode="auto">
              <a:xfrm>
                <a:off x="950172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7" name="Oval 630">
                <a:extLst>
                  <a:ext uri="{FF2B5EF4-FFF2-40B4-BE49-F238E27FC236}">
                    <a16:creationId xmlns:a16="http://schemas.microsoft.com/office/drawing/2014/main" id="{FD0EF462-C825-4686-A4DA-8C8B58AE8AD8}"/>
                  </a:ext>
                </a:extLst>
              </p:cNvPr>
              <p:cNvSpPr>
                <a:spLocks noChangeArrowheads="1"/>
              </p:cNvSpPr>
              <p:nvPr/>
            </p:nvSpPr>
            <p:spPr bwMode="auto">
              <a:xfrm>
                <a:off x="962124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8" name="Oval 630">
                <a:extLst>
                  <a:ext uri="{FF2B5EF4-FFF2-40B4-BE49-F238E27FC236}">
                    <a16:creationId xmlns:a16="http://schemas.microsoft.com/office/drawing/2014/main" id="{4F012C95-4CEC-4A82-8386-D7DCD78086BA}"/>
                  </a:ext>
                </a:extLst>
              </p:cNvPr>
              <p:cNvSpPr>
                <a:spLocks noChangeArrowheads="1"/>
              </p:cNvSpPr>
              <p:nvPr/>
            </p:nvSpPr>
            <p:spPr bwMode="auto">
              <a:xfrm>
                <a:off x="973974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79" name="Oval 630">
                <a:extLst>
                  <a:ext uri="{FF2B5EF4-FFF2-40B4-BE49-F238E27FC236}">
                    <a16:creationId xmlns:a16="http://schemas.microsoft.com/office/drawing/2014/main" id="{44960D97-CF69-4307-BFC0-2D32BD0A5563}"/>
                  </a:ext>
                </a:extLst>
              </p:cNvPr>
              <p:cNvSpPr>
                <a:spLocks noChangeArrowheads="1"/>
              </p:cNvSpPr>
              <p:nvPr/>
            </p:nvSpPr>
            <p:spPr bwMode="auto">
              <a:xfrm>
                <a:off x="985622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0" name="직사각형 379">
                <a:extLst>
                  <a:ext uri="{FF2B5EF4-FFF2-40B4-BE49-F238E27FC236}">
                    <a16:creationId xmlns:a16="http://schemas.microsoft.com/office/drawing/2014/main" id="{E0AE8799-DE32-4860-BAF9-CEBB50D996E5}"/>
                  </a:ext>
                </a:extLst>
              </p:cNvPr>
              <p:cNvSpPr/>
              <p:nvPr/>
            </p:nvSpPr>
            <p:spPr>
              <a:xfrm>
                <a:off x="8408319" y="4973135"/>
                <a:ext cx="1537689" cy="103876"/>
              </a:xfrm>
              <a:prstGeom prst="rect">
                <a:avLst/>
              </a:prstGeom>
              <a:solidFill>
                <a:srgbClr val="8093DC">
                  <a:lumMod val="20000"/>
                  <a:lumOff val="80000"/>
                </a:srgbClr>
              </a:solidFill>
              <a:ln w="6350" cap="flat" cmpd="sng" algn="ctr">
                <a:solidFill>
                  <a:srgbClr val="FFFFFF">
                    <a:lumMod val="50000"/>
                  </a:srgbClr>
                </a:solidFill>
                <a:prstDash val="solid"/>
                <a:miter lim="800000"/>
              </a:ln>
              <a:effectLst/>
            </p:spPr>
            <p:txBody>
              <a:bodyPr lIns="72000" tIns="36000" rIns="72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rPr>
                  <a:t>Interposer</a:t>
                </a:r>
                <a:endParaRPr kumimoji="0" lang="ko-KR" altLang="en-US"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381" name="Oval 630">
                <a:extLst>
                  <a:ext uri="{FF2B5EF4-FFF2-40B4-BE49-F238E27FC236}">
                    <a16:creationId xmlns:a16="http://schemas.microsoft.com/office/drawing/2014/main" id="{976CCCB9-8623-42A1-973D-86900DE7D7F2}"/>
                  </a:ext>
                </a:extLst>
              </p:cNvPr>
              <p:cNvSpPr>
                <a:spLocks noChangeArrowheads="1"/>
              </p:cNvSpPr>
              <p:nvPr/>
            </p:nvSpPr>
            <p:spPr bwMode="auto">
              <a:xfrm>
                <a:off x="838990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2" name="Oval 630">
                <a:extLst>
                  <a:ext uri="{FF2B5EF4-FFF2-40B4-BE49-F238E27FC236}">
                    <a16:creationId xmlns:a16="http://schemas.microsoft.com/office/drawing/2014/main" id="{123F2906-E13A-4DB9-877E-6E1C1D8F798D}"/>
                  </a:ext>
                </a:extLst>
              </p:cNvPr>
              <p:cNvSpPr>
                <a:spLocks noChangeArrowheads="1"/>
              </p:cNvSpPr>
              <p:nvPr/>
            </p:nvSpPr>
            <p:spPr bwMode="auto">
              <a:xfrm>
                <a:off x="856918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3" name="Oval 630">
                <a:extLst>
                  <a:ext uri="{FF2B5EF4-FFF2-40B4-BE49-F238E27FC236}">
                    <a16:creationId xmlns:a16="http://schemas.microsoft.com/office/drawing/2014/main" id="{7EC3BC25-73CB-432C-AE62-C964578F0378}"/>
                  </a:ext>
                </a:extLst>
              </p:cNvPr>
              <p:cNvSpPr>
                <a:spLocks noChangeArrowheads="1"/>
              </p:cNvSpPr>
              <p:nvPr/>
            </p:nvSpPr>
            <p:spPr bwMode="auto">
              <a:xfrm>
                <a:off x="874847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4" name="Oval 630">
                <a:extLst>
                  <a:ext uri="{FF2B5EF4-FFF2-40B4-BE49-F238E27FC236}">
                    <a16:creationId xmlns:a16="http://schemas.microsoft.com/office/drawing/2014/main" id="{F1373D0F-8302-49AE-80D6-CCEA956E83F2}"/>
                  </a:ext>
                </a:extLst>
              </p:cNvPr>
              <p:cNvSpPr>
                <a:spLocks noChangeArrowheads="1"/>
              </p:cNvSpPr>
              <p:nvPr/>
            </p:nvSpPr>
            <p:spPr bwMode="auto">
              <a:xfrm>
                <a:off x="8927760"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5" name="Oval 630">
                <a:extLst>
                  <a:ext uri="{FF2B5EF4-FFF2-40B4-BE49-F238E27FC236}">
                    <a16:creationId xmlns:a16="http://schemas.microsoft.com/office/drawing/2014/main" id="{09A7010C-C1CD-479C-9FCE-B8EF7CCDE8DA}"/>
                  </a:ext>
                </a:extLst>
              </p:cNvPr>
              <p:cNvSpPr>
                <a:spLocks noChangeArrowheads="1"/>
              </p:cNvSpPr>
              <p:nvPr/>
            </p:nvSpPr>
            <p:spPr bwMode="auto">
              <a:xfrm>
                <a:off x="9107046"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6" name="Oval 630">
                <a:extLst>
                  <a:ext uri="{FF2B5EF4-FFF2-40B4-BE49-F238E27FC236}">
                    <a16:creationId xmlns:a16="http://schemas.microsoft.com/office/drawing/2014/main" id="{560C3C89-BC2D-43B7-A2EC-B4926847C03E}"/>
                  </a:ext>
                </a:extLst>
              </p:cNvPr>
              <p:cNvSpPr>
                <a:spLocks noChangeArrowheads="1"/>
              </p:cNvSpPr>
              <p:nvPr/>
            </p:nvSpPr>
            <p:spPr bwMode="auto">
              <a:xfrm>
                <a:off x="928633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7" name="Oval 630">
                <a:extLst>
                  <a:ext uri="{FF2B5EF4-FFF2-40B4-BE49-F238E27FC236}">
                    <a16:creationId xmlns:a16="http://schemas.microsoft.com/office/drawing/2014/main" id="{EB0F3EBC-420D-4552-ADE4-82A9522D7428}"/>
                  </a:ext>
                </a:extLst>
              </p:cNvPr>
              <p:cNvSpPr>
                <a:spLocks noChangeArrowheads="1"/>
              </p:cNvSpPr>
              <p:nvPr/>
            </p:nvSpPr>
            <p:spPr bwMode="auto">
              <a:xfrm>
                <a:off x="946561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8" name="Oval 630">
                <a:extLst>
                  <a:ext uri="{FF2B5EF4-FFF2-40B4-BE49-F238E27FC236}">
                    <a16:creationId xmlns:a16="http://schemas.microsoft.com/office/drawing/2014/main" id="{9FAFB9CB-7E5D-4A52-9165-F572BA0892D1}"/>
                  </a:ext>
                </a:extLst>
              </p:cNvPr>
              <p:cNvSpPr>
                <a:spLocks noChangeArrowheads="1"/>
              </p:cNvSpPr>
              <p:nvPr/>
            </p:nvSpPr>
            <p:spPr bwMode="auto">
              <a:xfrm>
                <a:off x="964490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89" name="Oval 630">
                <a:extLst>
                  <a:ext uri="{FF2B5EF4-FFF2-40B4-BE49-F238E27FC236}">
                    <a16:creationId xmlns:a16="http://schemas.microsoft.com/office/drawing/2014/main" id="{A53EA15D-B620-4FA3-8206-6AA661EF9829}"/>
                  </a:ext>
                </a:extLst>
              </p:cNvPr>
              <p:cNvSpPr>
                <a:spLocks noChangeArrowheads="1"/>
              </p:cNvSpPr>
              <p:nvPr/>
            </p:nvSpPr>
            <p:spPr bwMode="auto">
              <a:xfrm>
                <a:off x="982419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90" name="직사각형 389">
                <a:extLst>
                  <a:ext uri="{FF2B5EF4-FFF2-40B4-BE49-F238E27FC236}">
                    <a16:creationId xmlns:a16="http://schemas.microsoft.com/office/drawing/2014/main" id="{98534486-3FF2-4798-A4CE-E0BB3B67295D}"/>
                  </a:ext>
                </a:extLst>
              </p:cNvPr>
              <p:cNvSpPr/>
              <p:nvPr/>
            </p:nvSpPr>
            <p:spPr>
              <a:xfrm>
                <a:off x="8376838" y="5115476"/>
                <a:ext cx="1611726" cy="160498"/>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Substrate</a:t>
                </a:r>
                <a:endParaRPr kumimoji="0" lang="ko-KR" altLang="en-US"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grpSp>
        <p:grpSp>
          <p:nvGrpSpPr>
            <p:cNvPr id="273" name="그룹 272">
              <a:extLst>
                <a:ext uri="{FF2B5EF4-FFF2-40B4-BE49-F238E27FC236}">
                  <a16:creationId xmlns:a16="http://schemas.microsoft.com/office/drawing/2014/main" id="{997F557C-6A28-43EB-B591-C196F67723CF}"/>
                </a:ext>
              </a:extLst>
            </p:cNvPr>
            <p:cNvGrpSpPr/>
            <p:nvPr/>
          </p:nvGrpSpPr>
          <p:grpSpPr>
            <a:xfrm>
              <a:off x="9545287" y="4011509"/>
              <a:ext cx="496937" cy="504451"/>
              <a:chOff x="9498152" y="4011509"/>
              <a:chExt cx="496937" cy="504451"/>
            </a:xfrm>
          </p:grpSpPr>
          <p:sp>
            <p:nvSpPr>
              <p:cNvPr id="365" name="직사각형 364">
                <a:extLst>
                  <a:ext uri="{FF2B5EF4-FFF2-40B4-BE49-F238E27FC236}">
                    <a16:creationId xmlns:a16="http://schemas.microsoft.com/office/drawing/2014/main" id="{B78563AE-BE1D-4797-B24F-E4D3B892B245}"/>
                  </a:ext>
                </a:extLst>
              </p:cNvPr>
              <p:cNvSpPr/>
              <p:nvPr/>
            </p:nvSpPr>
            <p:spPr>
              <a:xfrm rot="10800000">
                <a:off x="9571002" y="4052205"/>
                <a:ext cx="351239" cy="459309"/>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366" name="TextBox 365">
                <a:extLst>
                  <a:ext uri="{FF2B5EF4-FFF2-40B4-BE49-F238E27FC236}">
                    <a16:creationId xmlns:a16="http://schemas.microsoft.com/office/drawing/2014/main" id="{69B939B3-8DEC-48E8-A054-CF9A87F4E686}"/>
                  </a:ext>
                </a:extLst>
              </p:cNvPr>
              <p:cNvSpPr txBox="1"/>
              <p:nvPr/>
            </p:nvSpPr>
            <p:spPr>
              <a:xfrm>
                <a:off x="9498152" y="4011509"/>
                <a:ext cx="496937" cy="504451"/>
              </a:xfrm>
              <a:prstGeom prst="rect">
                <a:avLst/>
              </a:prstGeom>
              <a:solidFill>
                <a:srgbClr val="00B050"/>
              </a:solidFill>
            </p:spPr>
            <p:txBody>
              <a:bodyPr wrap="none" lIns="72000" tIns="36000" rIns="72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GPU</a:t>
                </a:r>
              </a:p>
            </p:txBody>
          </p:sp>
        </p:grpSp>
        <p:grpSp>
          <p:nvGrpSpPr>
            <p:cNvPr id="274" name="그룹 273">
              <a:extLst>
                <a:ext uri="{FF2B5EF4-FFF2-40B4-BE49-F238E27FC236}">
                  <a16:creationId xmlns:a16="http://schemas.microsoft.com/office/drawing/2014/main" id="{EC6AB9A5-0A84-4440-985F-EC0C82B9C179}"/>
                </a:ext>
              </a:extLst>
            </p:cNvPr>
            <p:cNvGrpSpPr/>
            <p:nvPr/>
          </p:nvGrpSpPr>
          <p:grpSpPr>
            <a:xfrm>
              <a:off x="10045405" y="4072554"/>
              <a:ext cx="925278" cy="435279"/>
              <a:chOff x="9137059" y="2047229"/>
              <a:chExt cx="1316315" cy="1011341"/>
            </a:xfrm>
          </p:grpSpPr>
          <p:sp>
            <p:nvSpPr>
              <p:cNvPr id="275" name="직사각형 274">
                <a:extLst>
                  <a:ext uri="{FF2B5EF4-FFF2-40B4-BE49-F238E27FC236}">
                    <a16:creationId xmlns:a16="http://schemas.microsoft.com/office/drawing/2014/main" id="{951391F7-27CF-4149-A576-943F398DF436}"/>
                  </a:ext>
                </a:extLst>
              </p:cNvPr>
              <p:cNvSpPr/>
              <p:nvPr/>
            </p:nvSpPr>
            <p:spPr>
              <a:xfrm>
                <a:off x="9243425" y="267113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76" name="직사각형 275">
                <a:extLst>
                  <a:ext uri="{FF2B5EF4-FFF2-40B4-BE49-F238E27FC236}">
                    <a16:creationId xmlns:a16="http://schemas.microsoft.com/office/drawing/2014/main" id="{3663FCE1-C90C-4D51-92A2-E368C0A07FA7}"/>
                  </a:ext>
                </a:extLst>
              </p:cNvPr>
              <p:cNvSpPr/>
              <p:nvPr/>
            </p:nvSpPr>
            <p:spPr>
              <a:xfrm>
                <a:off x="9243425" y="247941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77" name="직사각형 276">
                <a:extLst>
                  <a:ext uri="{FF2B5EF4-FFF2-40B4-BE49-F238E27FC236}">
                    <a16:creationId xmlns:a16="http://schemas.microsoft.com/office/drawing/2014/main" id="{94A03D57-DB05-4E71-A92F-BC2948E696EA}"/>
                  </a:ext>
                </a:extLst>
              </p:cNvPr>
              <p:cNvSpPr/>
              <p:nvPr/>
            </p:nvSpPr>
            <p:spPr>
              <a:xfrm>
                <a:off x="9243424" y="2282158"/>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278" name="직사각형 277">
                <a:extLst>
                  <a:ext uri="{FF2B5EF4-FFF2-40B4-BE49-F238E27FC236}">
                    <a16:creationId xmlns:a16="http://schemas.microsoft.com/office/drawing/2014/main" id="{547CB63D-17B5-4B75-B8F9-01FC8ACE4B48}"/>
                  </a:ext>
                </a:extLst>
              </p:cNvPr>
              <p:cNvSpPr/>
              <p:nvPr/>
            </p:nvSpPr>
            <p:spPr>
              <a:xfrm>
                <a:off x="9243425" y="2047229"/>
                <a:ext cx="1107300" cy="238308"/>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279" name="직선 연결선 278">
                <a:extLst>
                  <a:ext uri="{FF2B5EF4-FFF2-40B4-BE49-F238E27FC236}">
                    <a16:creationId xmlns:a16="http://schemas.microsoft.com/office/drawing/2014/main" id="{BB051AF0-F184-46C3-9C8C-0FC7D1D6C234}"/>
                  </a:ext>
                </a:extLst>
              </p:cNvPr>
              <p:cNvCxnSpPr/>
              <p:nvPr/>
            </p:nvCxnSpPr>
            <p:spPr>
              <a:xfrm>
                <a:off x="9236393" y="3026519"/>
                <a:ext cx="1114332" cy="0"/>
              </a:xfrm>
              <a:prstGeom prst="line">
                <a:avLst/>
              </a:prstGeom>
              <a:solidFill>
                <a:srgbClr val="4472C4"/>
              </a:solidFill>
              <a:ln w="19050" cap="flat" cmpd="sng" algn="ctr">
                <a:solidFill>
                  <a:srgbClr val="FFC000"/>
                </a:solidFill>
                <a:prstDash val="solid"/>
                <a:miter lim="800000"/>
              </a:ln>
              <a:effectLst/>
            </p:spPr>
          </p:cxnSp>
          <p:cxnSp>
            <p:nvCxnSpPr>
              <p:cNvPr id="280" name="직선 연결선 279">
                <a:extLst>
                  <a:ext uri="{FF2B5EF4-FFF2-40B4-BE49-F238E27FC236}">
                    <a16:creationId xmlns:a16="http://schemas.microsoft.com/office/drawing/2014/main" id="{03A9C166-4273-4DAC-B8AD-F81A05BAAA50}"/>
                  </a:ext>
                </a:extLst>
              </p:cNvPr>
              <p:cNvCxnSpPr/>
              <p:nvPr/>
            </p:nvCxnSpPr>
            <p:spPr>
              <a:xfrm>
                <a:off x="10256045" y="2686299"/>
                <a:ext cx="0" cy="156980"/>
              </a:xfrm>
              <a:prstGeom prst="line">
                <a:avLst/>
              </a:prstGeom>
              <a:solidFill>
                <a:srgbClr val="4472C4"/>
              </a:solidFill>
              <a:ln w="28575" cap="flat" cmpd="sng" algn="ctr">
                <a:solidFill>
                  <a:srgbClr val="FFFF00"/>
                </a:solidFill>
                <a:prstDash val="solid"/>
              </a:ln>
              <a:effectLst/>
            </p:spPr>
          </p:cxnSp>
          <p:cxnSp>
            <p:nvCxnSpPr>
              <p:cNvPr id="281" name="직선 연결선 280">
                <a:extLst>
                  <a:ext uri="{FF2B5EF4-FFF2-40B4-BE49-F238E27FC236}">
                    <a16:creationId xmlns:a16="http://schemas.microsoft.com/office/drawing/2014/main" id="{9AE7B2A2-7B6E-45EC-BD3D-7321874DFBDD}"/>
                  </a:ext>
                </a:extLst>
              </p:cNvPr>
              <p:cNvCxnSpPr/>
              <p:nvPr/>
            </p:nvCxnSpPr>
            <p:spPr>
              <a:xfrm>
                <a:off x="10160360" y="2686299"/>
                <a:ext cx="0" cy="156980"/>
              </a:xfrm>
              <a:prstGeom prst="line">
                <a:avLst/>
              </a:prstGeom>
              <a:solidFill>
                <a:srgbClr val="4472C4"/>
              </a:solidFill>
              <a:ln w="28575" cap="flat" cmpd="sng" algn="ctr">
                <a:solidFill>
                  <a:srgbClr val="FFFF00"/>
                </a:solidFill>
                <a:prstDash val="solid"/>
              </a:ln>
              <a:effectLst/>
            </p:spPr>
          </p:cxnSp>
          <p:cxnSp>
            <p:nvCxnSpPr>
              <p:cNvPr id="282" name="직선 연결선 281">
                <a:extLst>
                  <a:ext uri="{FF2B5EF4-FFF2-40B4-BE49-F238E27FC236}">
                    <a16:creationId xmlns:a16="http://schemas.microsoft.com/office/drawing/2014/main" id="{A0FC17DF-5DBE-400F-A69E-D836CBDE3B07}"/>
                  </a:ext>
                </a:extLst>
              </p:cNvPr>
              <p:cNvCxnSpPr/>
              <p:nvPr/>
            </p:nvCxnSpPr>
            <p:spPr>
              <a:xfrm>
                <a:off x="9443245" y="2686299"/>
                <a:ext cx="0" cy="156980"/>
              </a:xfrm>
              <a:prstGeom prst="line">
                <a:avLst/>
              </a:prstGeom>
              <a:solidFill>
                <a:srgbClr val="4472C4"/>
              </a:solidFill>
              <a:ln w="28575" cap="flat" cmpd="sng" algn="ctr">
                <a:solidFill>
                  <a:srgbClr val="FFFF00"/>
                </a:solidFill>
                <a:prstDash val="solid"/>
              </a:ln>
              <a:effectLst/>
            </p:spPr>
          </p:cxnSp>
          <p:cxnSp>
            <p:nvCxnSpPr>
              <p:cNvPr id="283" name="직선 연결선 282">
                <a:extLst>
                  <a:ext uri="{FF2B5EF4-FFF2-40B4-BE49-F238E27FC236}">
                    <a16:creationId xmlns:a16="http://schemas.microsoft.com/office/drawing/2014/main" id="{971245C7-F40B-4564-917C-2F4B1E62A38D}"/>
                  </a:ext>
                </a:extLst>
              </p:cNvPr>
              <p:cNvCxnSpPr/>
              <p:nvPr/>
            </p:nvCxnSpPr>
            <p:spPr>
              <a:xfrm>
                <a:off x="9347560" y="2686299"/>
                <a:ext cx="0" cy="156980"/>
              </a:xfrm>
              <a:prstGeom prst="line">
                <a:avLst/>
              </a:prstGeom>
              <a:solidFill>
                <a:srgbClr val="4472C4"/>
              </a:solidFill>
              <a:ln w="28575" cap="flat" cmpd="sng" algn="ctr">
                <a:solidFill>
                  <a:srgbClr val="FFFF00"/>
                </a:solidFill>
                <a:prstDash val="solid"/>
              </a:ln>
              <a:effectLst/>
            </p:spPr>
          </p:cxnSp>
          <p:cxnSp>
            <p:nvCxnSpPr>
              <p:cNvPr id="284" name="직선 연결선 283">
                <a:extLst>
                  <a:ext uri="{FF2B5EF4-FFF2-40B4-BE49-F238E27FC236}">
                    <a16:creationId xmlns:a16="http://schemas.microsoft.com/office/drawing/2014/main" id="{98708845-6E44-484D-8DA3-33AD4E90D01F}"/>
                  </a:ext>
                </a:extLst>
              </p:cNvPr>
              <p:cNvCxnSpPr/>
              <p:nvPr/>
            </p:nvCxnSpPr>
            <p:spPr>
              <a:xfrm>
                <a:off x="10256045" y="2495097"/>
                <a:ext cx="0" cy="156980"/>
              </a:xfrm>
              <a:prstGeom prst="line">
                <a:avLst/>
              </a:prstGeom>
              <a:solidFill>
                <a:srgbClr val="4472C4"/>
              </a:solidFill>
              <a:ln w="28575" cap="flat" cmpd="sng" algn="ctr">
                <a:solidFill>
                  <a:srgbClr val="FFFF00"/>
                </a:solidFill>
                <a:prstDash val="solid"/>
              </a:ln>
              <a:effectLst/>
            </p:spPr>
          </p:cxnSp>
          <p:cxnSp>
            <p:nvCxnSpPr>
              <p:cNvPr id="285" name="직선 연결선 284">
                <a:extLst>
                  <a:ext uri="{FF2B5EF4-FFF2-40B4-BE49-F238E27FC236}">
                    <a16:creationId xmlns:a16="http://schemas.microsoft.com/office/drawing/2014/main" id="{82785CB7-94EE-4AD6-8042-98CAC6D36F53}"/>
                  </a:ext>
                </a:extLst>
              </p:cNvPr>
              <p:cNvCxnSpPr/>
              <p:nvPr/>
            </p:nvCxnSpPr>
            <p:spPr>
              <a:xfrm>
                <a:off x="10160360" y="2495097"/>
                <a:ext cx="0" cy="156980"/>
              </a:xfrm>
              <a:prstGeom prst="line">
                <a:avLst/>
              </a:prstGeom>
              <a:solidFill>
                <a:srgbClr val="4472C4"/>
              </a:solidFill>
              <a:ln w="28575" cap="flat" cmpd="sng" algn="ctr">
                <a:solidFill>
                  <a:srgbClr val="FFFF00"/>
                </a:solidFill>
                <a:prstDash val="solid"/>
              </a:ln>
              <a:effectLst/>
            </p:spPr>
          </p:cxnSp>
          <p:cxnSp>
            <p:nvCxnSpPr>
              <p:cNvPr id="286" name="직선 연결선 285">
                <a:extLst>
                  <a:ext uri="{FF2B5EF4-FFF2-40B4-BE49-F238E27FC236}">
                    <a16:creationId xmlns:a16="http://schemas.microsoft.com/office/drawing/2014/main" id="{D7019317-1808-471C-A15B-BF85F9694498}"/>
                  </a:ext>
                </a:extLst>
              </p:cNvPr>
              <p:cNvCxnSpPr/>
              <p:nvPr/>
            </p:nvCxnSpPr>
            <p:spPr>
              <a:xfrm>
                <a:off x="9443245" y="2495097"/>
                <a:ext cx="0" cy="156980"/>
              </a:xfrm>
              <a:prstGeom prst="line">
                <a:avLst/>
              </a:prstGeom>
              <a:solidFill>
                <a:srgbClr val="4472C4"/>
              </a:solidFill>
              <a:ln w="28575" cap="flat" cmpd="sng" algn="ctr">
                <a:solidFill>
                  <a:srgbClr val="FFFF00"/>
                </a:solidFill>
                <a:prstDash val="solid"/>
              </a:ln>
              <a:effectLst/>
            </p:spPr>
          </p:cxnSp>
          <p:cxnSp>
            <p:nvCxnSpPr>
              <p:cNvPr id="287" name="직선 연결선 286">
                <a:extLst>
                  <a:ext uri="{FF2B5EF4-FFF2-40B4-BE49-F238E27FC236}">
                    <a16:creationId xmlns:a16="http://schemas.microsoft.com/office/drawing/2014/main" id="{CEB25033-5C31-46FC-8D15-415C87C9450C}"/>
                  </a:ext>
                </a:extLst>
              </p:cNvPr>
              <p:cNvCxnSpPr/>
              <p:nvPr/>
            </p:nvCxnSpPr>
            <p:spPr>
              <a:xfrm>
                <a:off x="9347560" y="2495097"/>
                <a:ext cx="0" cy="156980"/>
              </a:xfrm>
              <a:prstGeom prst="line">
                <a:avLst/>
              </a:prstGeom>
              <a:solidFill>
                <a:srgbClr val="4472C4"/>
              </a:solidFill>
              <a:ln w="28575" cap="flat" cmpd="sng" algn="ctr">
                <a:solidFill>
                  <a:srgbClr val="FFFF00"/>
                </a:solidFill>
                <a:prstDash val="solid"/>
              </a:ln>
              <a:effectLst/>
            </p:spPr>
          </p:cxnSp>
          <p:cxnSp>
            <p:nvCxnSpPr>
              <p:cNvPr id="288" name="직선 연결선 287">
                <a:extLst>
                  <a:ext uri="{FF2B5EF4-FFF2-40B4-BE49-F238E27FC236}">
                    <a16:creationId xmlns:a16="http://schemas.microsoft.com/office/drawing/2014/main" id="{34F6EC33-C7D8-472C-A451-82F1C968455B}"/>
                  </a:ext>
                </a:extLst>
              </p:cNvPr>
              <p:cNvCxnSpPr/>
              <p:nvPr/>
            </p:nvCxnSpPr>
            <p:spPr>
              <a:xfrm>
                <a:off x="10256045" y="2288230"/>
                <a:ext cx="0" cy="156980"/>
              </a:xfrm>
              <a:prstGeom prst="line">
                <a:avLst/>
              </a:prstGeom>
              <a:solidFill>
                <a:srgbClr val="4472C4"/>
              </a:solidFill>
              <a:ln w="28575" cap="flat" cmpd="sng" algn="ctr">
                <a:solidFill>
                  <a:srgbClr val="FFFF00"/>
                </a:solidFill>
                <a:prstDash val="solid"/>
              </a:ln>
              <a:effectLst/>
            </p:spPr>
          </p:cxnSp>
          <p:cxnSp>
            <p:nvCxnSpPr>
              <p:cNvPr id="294" name="직선 연결선 293">
                <a:extLst>
                  <a:ext uri="{FF2B5EF4-FFF2-40B4-BE49-F238E27FC236}">
                    <a16:creationId xmlns:a16="http://schemas.microsoft.com/office/drawing/2014/main" id="{3F871DD9-A40C-400E-A147-2FE2B1CBC8AA}"/>
                  </a:ext>
                </a:extLst>
              </p:cNvPr>
              <p:cNvCxnSpPr/>
              <p:nvPr/>
            </p:nvCxnSpPr>
            <p:spPr>
              <a:xfrm>
                <a:off x="10160360" y="2288230"/>
                <a:ext cx="0" cy="156980"/>
              </a:xfrm>
              <a:prstGeom prst="line">
                <a:avLst/>
              </a:prstGeom>
              <a:solidFill>
                <a:srgbClr val="4472C4"/>
              </a:solidFill>
              <a:ln w="28575" cap="flat" cmpd="sng" algn="ctr">
                <a:solidFill>
                  <a:srgbClr val="FFFF00"/>
                </a:solidFill>
                <a:prstDash val="solid"/>
              </a:ln>
              <a:effectLst/>
            </p:spPr>
          </p:cxnSp>
          <p:cxnSp>
            <p:nvCxnSpPr>
              <p:cNvPr id="312" name="직선 연결선 311">
                <a:extLst>
                  <a:ext uri="{FF2B5EF4-FFF2-40B4-BE49-F238E27FC236}">
                    <a16:creationId xmlns:a16="http://schemas.microsoft.com/office/drawing/2014/main" id="{6DF1783E-500E-4806-8D40-9081418B7161}"/>
                  </a:ext>
                </a:extLst>
              </p:cNvPr>
              <p:cNvCxnSpPr/>
              <p:nvPr/>
            </p:nvCxnSpPr>
            <p:spPr>
              <a:xfrm>
                <a:off x="9443245" y="2288230"/>
                <a:ext cx="0" cy="156980"/>
              </a:xfrm>
              <a:prstGeom prst="line">
                <a:avLst/>
              </a:prstGeom>
              <a:solidFill>
                <a:srgbClr val="4472C4"/>
              </a:solidFill>
              <a:ln w="28575" cap="flat" cmpd="sng" algn="ctr">
                <a:solidFill>
                  <a:srgbClr val="FFFF00"/>
                </a:solidFill>
                <a:prstDash val="solid"/>
              </a:ln>
              <a:effectLst/>
            </p:spPr>
          </p:cxnSp>
          <p:cxnSp>
            <p:nvCxnSpPr>
              <p:cNvPr id="332" name="직선 연결선 331">
                <a:extLst>
                  <a:ext uri="{FF2B5EF4-FFF2-40B4-BE49-F238E27FC236}">
                    <a16:creationId xmlns:a16="http://schemas.microsoft.com/office/drawing/2014/main" id="{644F426A-C4A1-4CE7-81B3-C7F9F5301C0F}"/>
                  </a:ext>
                </a:extLst>
              </p:cNvPr>
              <p:cNvCxnSpPr/>
              <p:nvPr/>
            </p:nvCxnSpPr>
            <p:spPr>
              <a:xfrm>
                <a:off x="9347560" y="2288230"/>
                <a:ext cx="0" cy="156980"/>
              </a:xfrm>
              <a:prstGeom prst="line">
                <a:avLst/>
              </a:prstGeom>
              <a:solidFill>
                <a:srgbClr val="4472C4"/>
              </a:solidFill>
              <a:ln w="28575" cap="flat" cmpd="sng" algn="ctr">
                <a:solidFill>
                  <a:srgbClr val="FFFF00"/>
                </a:solidFill>
                <a:prstDash val="solid"/>
              </a:ln>
              <a:effectLst/>
            </p:spPr>
          </p:cxnSp>
          <p:sp>
            <p:nvSpPr>
              <p:cNvPr id="333" name="직사각형 332">
                <a:extLst>
                  <a:ext uri="{FF2B5EF4-FFF2-40B4-BE49-F238E27FC236}">
                    <a16:creationId xmlns:a16="http://schemas.microsoft.com/office/drawing/2014/main" id="{684ADD1A-5C58-4B17-8D47-E97243ABBEAD}"/>
                  </a:ext>
                </a:extLst>
              </p:cNvPr>
              <p:cNvSpPr/>
              <p:nvPr/>
            </p:nvSpPr>
            <p:spPr>
              <a:xfrm>
                <a:off x="9137059" y="2863475"/>
                <a:ext cx="1316315" cy="195095"/>
              </a:xfrm>
              <a:prstGeom prst="rect">
                <a:avLst/>
              </a:prstGeom>
              <a:solidFill>
                <a:srgbClr val="FFC000">
                  <a:lumMod val="40000"/>
                  <a:lumOff val="60000"/>
                </a:srgb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B-die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337" name="직선 연결선 336">
                <a:extLst>
                  <a:ext uri="{FF2B5EF4-FFF2-40B4-BE49-F238E27FC236}">
                    <a16:creationId xmlns:a16="http://schemas.microsoft.com/office/drawing/2014/main" id="{A664F2CC-21FF-4F28-8D4D-D87CFDABB79E}"/>
                  </a:ext>
                </a:extLst>
              </p:cNvPr>
              <p:cNvCxnSpPr/>
              <p:nvPr/>
            </p:nvCxnSpPr>
            <p:spPr>
              <a:xfrm>
                <a:off x="10256045" y="2878635"/>
                <a:ext cx="0" cy="156980"/>
              </a:xfrm>
              <a:prstGeom prst="line">
                <a:avLst/>
              </a:prstGeom>
              <a:solidFill>
                <a:srgbClr val="4472C4"/>
              </a:solidFill>
              <a:ln w="28575" cap="flat" cmpd="sng" algn="ctr">
                <a:solidFill>
                  <a:srgbClr val="FFFF00"/>
                </a:solidFill>
                <a:prstDash val="solid"/>
              </a:ln>
              <a:effectLst/>
            </p:spPr>
          </p:cxnSp>
          <p:cxnSp>
            <p:nvCxnSpPr>
              <p:cNvPr id="338" name="직선 연결선 337">
                <a:extLst>
                  <a:ext uri="{FF2B5EF4-FFF2-40B4-BE49-F238E27FC236}">
                    <a16:creationId xmlns:a16="http://schemas.microsoft.com/office/drawing/2014/main" id="{6109CF0D-4B75-4AA2-9A0D-6E489EF9A4C2}"/>
                  </a:ext>
                </a:extLst>
              </p:cNvPr>
              <p:cNvCxnSpPr/>
              <p:nvPr/>
            </p:nvCxnSpPr>
            <p:spPr>
              <a:xfrm>
                <a:off x="10160360" y="2878635"/>
                <a:ext cx="0" cy="156980"/>
              </a:xfrm>
              <a:prstGeom prst="line">
                <a:avLst/>
              </a:prstGeom>
              <a:solidFill>
                <a:srgbClr val="4472C4"/>
              </a:solidFill>
              <a:ln w="28575" cap="flat" cmpd="sng" algn="ctr">
                <a:solidFill>
                  <a:srgbClr val="FFFF00"/>
                </a:solidFill>
                <a:prstDash val="solid"/>
              </a:ln>
              <a:effectLst/>
            </p:spPr>
          </p:cxnSp>
          <p:cxnSp>
            <p:nvCxnSpPr>
              <p:cNvPr id="363" name="직선 연결선 362">
                <a:extLst>
                  <a:ext uri="{FF2B5EF4-FFF2-40B4-BE49-F238E27FC236}">
                    <a16:creationId xmlns:a16="http://schemas.microsoft.com/office/drawing/2014/main" id="{33FF3CE3-6EC6-4AF9-86EF-DEFED3FC856E}"/>
                  </a:ext>
                </a:extLst>
              </p:cNvPr>
              <p:cNvCxnSpPr/>
              <p:nvPr/>
            </p:nvCxnSpPr>
            <p:spPr>
              <a:xfrm>
                <a:off x="9443245" y="2878635"/>
                <a:ext cx="0" cy="156980"/>
              </a:xfrm>
              <a:prstGeom prst="line">
                <a:avLst/>
              </a:prstGeom>
              <a:solidFill>
                <a:srgbClr val="4472C4"/>
              </a:solidFill>
              <a:ln w="28575" cap="flat" cmpd="sng" algn="ctr">
                <a:solidFill>
                  <a:srgbClr val="FFFF00"/>
                </a:solidFill>
                <a:prstDash val="solid"/>
              </a:ln>
              <a:effectLst/>
            </p:spPr>
          </p:cxnSp>
          <p:cxnSp>
            <p:nvCxnSpPr>
              <p:cNvPr id="364" name="직선 연결선 363">
                <a:extLst>
                  <a:ext uri="{FF2B5EF4-FFF2-40B4-BE49-F238E27FC236}">
                    <a16:creationId xmlns:a16="http://schemas.microsoft.com/office/drawing/2014/main" id="{88098DAD-E01A-4408-BD15-C139A8EDADCE}"/>
                  </a:ext>
                </a:extLst>
              </p:cNvPr>
              <p:cNvCxnSpPr/>
              <p:nvPr/>
            </p:nvCxnSpPr>
            <p:spPr>
              <a:xfrm>
                <a:off x="9347560" y="2878635"/>
                <a:ext cx="0" cy="156980"/>
              </a:xfrm>
              <a:prstGeom prst="line">
                <a:avLst/>
              </a:prstGeom>
              <a:solidFill>
                <a:srgbClr val="4472C4"/>
              </a:solidFill>
              <a:ln w="28575" cap="flat" cmpd="sng" algn="ctr">
                <a:solidFill>
                  <a:srgbClr val="FFFF00"/>
                </a:solidFill>
                <a:prstDash val="solid"/>
              </a:ln>
              <a:effectLst/>
            </p:spPr>
          </p:cxnSp>
        </p:grpSp>
      </p:grpSp>
      <p:sp>
        <p:nvSpPr>
          <p:cNvPr id="3" name="직사각형 2"/>
          <p:cNvSpPr/>
          <p:nvPr/>
        </p:nvSpPr>
        <p:spPr>
          <a:xfrm>
            <a:off x="6858869" y="2549773"/>
            <a:ext cx="1093092" cy="575283"/>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4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393" name="직사각형 392"/>
          <p:cNvSpPr/>
          <p:nvPr/>
        </p:nvSpPr>
        <p:spPr>
          <a:xfrm>
            <a:off x="10233139" y="2531973"/>
            <a:ext cx="1156398" cy="681006"/>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400" b="0" i="0" u="none" strike="noStrike" kern="1200" cap="none" spc="0" normalizeH="0" baseline="0" noProof="0">
              <a:ln>
                <a:noFill/>
              </a:ln>
              <a:solidFill>
                <a:srgbClr val="FFFFFF"/>
              </a:solidFill>
              <a:effectLst/>
              <a:uLnTx/>
              <a:uFillTx/>
              <a:latin typeface="Samsung Sharp Sans Medium"/>
              <a:ea typeface="+mn-ea"/>
              <a:cs typeface="+mn-cs"/>
            </a:endParaRPr>
          </a:p>
        </p:txBody>
      </p:sp>
      <p:grpSp>
        <p:nvGrpSpPr>
          <p:cNvPr id="6" name="그룹 5"/>
          <p:cNvGrpSpPr/>
          <p:nvPr/>
        </p:nvGrpSpPr>
        <p:grpSpPr>
          <a:xfrm>
            <a:off x="8314724" y="2607694"/>
            <a:ext cx="1405027" cy="1308570"/>
            <a:chOff x="8314724" y="2607694"/>
            <a:chExt cx="1405027" cy="1308570"/>
          </a:xfrm>
        </p:grpSpPr>
        <p:grpSp>
          <p:nvGrpSpPr>
            <p:cNvPr id="130" name="그룹 129">
              <a:extLst>
                <a:ext uri="{FF2B5EF4-FFF2-40B4-BE49-F238E27FC236}">
                  <a16:creationId xmlns:a16="http://schemas.microsoft.com/office/drawing/2014/main" id="{922AF680-4216-49FB-977C-AC93862EEEBD}"/>
                </a:ext>
              </a:extLst>
            </p:cNvPr>
            <p:cNvGrpSpPr/>
            <p:nvPr/>
          </p:nvGrpSpPr>
          <p:grpSpPr>
            <a:xfrm>
              <a:off x="8363120" y="3138749"/>
              <a:ext cx="1322795" cy="386788"/>
              <a:chOff x="8551438" y="4973135"/>
              <a:chExt cx="1437126" cy="383061"/>
            </a:xfrm>
          </p:grpSpPr>
          <p:sp>
            <p:nvSpPr>
              <p:cNvPr id="159" name="Oval 630">
                <a:extLst>
                  <a:ext uri="{FF2B5EF4-FFF2-40B4-BE49-F238E27FC236}">
                    <a16:creationId xmlns:a16="http://schemas.microsoft.com/office/drawing/2014/main" id="{FE95721B-E3DB-41C3-B5D8-A0FC99569B8F}"/>
                  </a:ext>
                </a:extLst>
              </p:cNvPr>
              <p:cNvSpPr>
                <a:spLocks noChangeArrowheads="1"/>
              </p:cNvSpPr>
              <p:nvPr/>
            </p:nvSpPr>
            <p:spPr bwMode="auto">
              <a:xfrm>
                <a:off x="8669215"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0" name="Oval 630">
                <a:extLst>
                  <a:ext uri="{FF2B5EF4-FFF2-40B4-BE49-F238E27FC236}">
                    <a16:creationId xmlns:a16="http://schemas.microsoft.com/office/drawing/2014/main" id="{4C1387EF-33AA-486B-81E5-66DC7A938155}"/>
                  </a:ext>
                </a:extLst>
              </p:cNvPr>
              <p:cNvSpPr>
                <a:spLocks noChangeArrowheads="1"/>
              </p:cNvSpPr>
              <p:nvPr/>
            </p:nvSpPr>
            <p:spPr bwMode="auto">
              <a:xfrm>
                <a:off x="878771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1" name="Oval 630">
                <a:extLst>
                  <a:ext uri="{FF2B5EF4-FFF2-40B4-BE49-F238E27FC236}">
                    <a16:creationId xmlns:a16="http://schemas.microsoft.com/office/drawing/2014/main" id="{31154D99-33B2-4BB8-B156-0A708CB922DD}"/>
                  </a:ext>
                </a:extLst>
              </p:cNvPr>
              <p:cNvSpPr>
                <a:spLocks noChangeArrowheads="1"/>
              </p:cNvSpPr>
              <p:nvPr/>
            </p:nvSpPr>
            <p:spPr bwMode="auto">
              <a:xfrm>
                <a:off x="890837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2" name="Oval 630">
                <a:extLst>
                  <a:ext uri="{FF2B5EF4-FFF2-40B4-BE49-F238E27FC236}">
                    <a16:creationId xmlns:a16="http://schemas.microsoft.com/office/drawing/2014/main" id="{F608C7F4-1934-40A0-806D-F8580D06CDAD}"/>
                  </a:ext>
                </a:extLst>
              </p:cNvPr>
              <p:cNvSpPr>
                <a:spLocks noChangeArrowheads="1"/>
              </p:cNvSpPr>
              <p:nvPr/>
            </p:nvSpPr>
            <p:spPr bwMode="auto">
              <a:xfrm>
                <a:off x="902790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3" name="Oval 630">
                <a:extLst>
                  <a:ext uri="{FF2B5EF4-FFF2-40B4-BE49-F238E27FC236}">
                    <a16:creationId xmlns:a16="http://schemas.microsoft.com/office/drawing/2014/main" id="{7F290A92-902E-4AD6-85BD-077FCBA792E2}"/>
                  </a:ext>
                </a:extLst>
              </p:cNvPr>
              <p:cNvSpPr>
                <a:spLocks noChangeArrowheads="1"/>
              </p:cNvSpPr>
              <p:nvPr/>
            </p:nvSpPr>
            <p:spPr bwMode="auto">
              <a:xfrm>
                <a:off x="914742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4" name="Oval 630">
                <a:extLst>
                  <a:ext uri="{FF2B5EF4-FFF2-40B4-BE49-F238E27FC236}">
                    <a16:creationId xmlns:a16="http://schemas.microsoft.com/office/drawing/2014/main" id="{31755BF1-622E-4EF0-99CD-7F4F6D47B564}"/>
                  </a:ext>
                </a:extLst>
              </p:cNvPr>
              <p:cNvSpPr>
                <a:spLocks noChangeArrowheads="1"/>
              </p:cNvSpPr>
              <p:nvPr/>
            </p:nvSpPr>
            <p:spPr bwMode="auto">
              <a:xfrm>
                <a:off x="926592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5" name="Oval 630">
                <a:extLst>
                  <a:ext uri="{FF2B5EF4-FFF2-40B4-BE49-F238E27FC236}">
                    <a16:creationId xmlns:a16="http://schemas.microsoft.com/office/drawing/2014/main" id="{01E36251-2410-4027-AC91-2ED57F08C9A4}"/>
                  </a:ext>
                </a:extLst>
              </p:cNvPr>
              <p:cNvSpPr>
                <a:spLocks noChangeArrowheads="1"/>
              </p:cNvSpPr>
              <p:nvPr/>
            </p:nvSpPr>
            <p:spPr bwMode="auto">
              <a:xfrm>
                <a:off x="9382200"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6" name="Oval 630">
                <a:extLst>
                  <a:ext uri="{FF2B5EF4-FFF2-40B4-BE49-F238E27FC236}">
                    <a16:creationId xmlns:a16="http://schemas.microsoft.com/office/drawing/2014/main" id="{C448ADE8-B5BE-4D0B-A053-662E21C1E9BE}"/>
                  </a:ext>
                </a:extLst>
              </p:cNvPr>
              <p:cNvSpPr>
                <a:spLocks noChangeArrowheads="1"/>
              </p:cNvSpPr>
              <p:nvPr/>
            </p:nvSpPr>
            <p:spPr bwMode="auto">
              <a:xfrm>
                <a:off x="950172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7" name="Oval 630">
                <a:extLst>
                  <a:ext uri="{FF2B5EF4-FFF2-40B4-BE49-F238E27FC236}">
                    <a16:creationId xmlns:a16="http://schemas.microsoft.com/office/drawing/2014/main" id="{FD0EF462-C825-4686-A4DA-8C8B58AE8AD8}"/>
                  </a:ext>
                </a:extLst>
              </p:cNvPr>
              <p:cNvSpPr>
                <a:spLocks noChangeArrowheads="1"/>
              </p:cNvSpPr>
              <p:nvPr/>
            </p:nvSpPr>
            <p:spPr bwMode="auto">
              <a:xfrm>
                <a:off x="962124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8" name="Oval 630">
                <a:extLst>
                  <a:ext uri="{FF2B5EF4-FFF2-40B4-BE49-F238E27FC236}">
                    <a16:creationId xmlns:a16="http://schemas.microsoft.com/office/drawing/2014/main" id="{4F012C95-4CEC-4A82-8386-D7DCD78086BA}"/>
                  </a:ext>
                </a:extLst>
              </p:cNvPr>
              <p:cNvSpPr>
                <a:spLocks noChangeArrowheads="1"/>
              </p:cNvSpPr>
              <p:nvPr/>
            </p:nvSpPr>
            <p:spPr bwMode="auto">
              <a:xfrm>
                <a:off x="973974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9" name="Oval 630">
                <a:extLst>
                  <a:ext uri="{FF2B5EF4-FFF2-40B4-BE49-F238E27FC236}">
                    <a16:creationId xmlns:a16="http://schemas.microsoft.com/office/drawing/2014/main" id="{44960D97-CF69-4307-BFC0-2D32BD0A5563}"/>
                  </a:ext>
                </a:extLst>
              </p:cNvPr>
              <p:cNvSpPr>
                <a:spLocks noChangeArrowheads="1"/>
              </p:cNvSpPr>
              <p:nvPr/>
            </p:nvSpPr>
            <p:spPr bwMode="auto">
              <a:xfrm>
                <a:off x="985622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0" name="직사각형 169">
                <a:extLst>
                  <a:ext uri="{FF2B5EF4-FFF2-40B4-BE49-F238E27FC236}">
                    <a16:creationId xmlns:a16="http://schemas.microsoft.com/office/drawing/2014/main" id="{E0AE8799-DE32-4860-BAF9-CEBB50D996E5}"/>
                  </a:ext>
                </a:extLst>
              </p:cNvPr>
              <p:cNvSpPr/>
              <p:nvPr/>
            </p:nvSpPr>
            <p:spPr>
              <a:xfrm>
                <a:off x="8618446" y="4973135"/>
                <a:ext cx="1327561" cy="103876"/>
              </a:xfrm>
              <a:prstGeom prst="rect">
                <a:avLst/>
              </a:prstGeom>
              <a:solidFill>
                <a:srgbClr val="8093DC">
                  <a:lumMod val="20000"/>
                  <a:lumOff val="80000"/>
                </a:srgbClr>
              </a:solidFill>
              <a:ln w="6350" cap="flat" cmpd="sng" algn="ctr">
                <a:solidFill>
                  <a:srgbClr val="FFFFFF">
                    <a:lumMod val="50000"/>
                  </a:srgbClr>
                </a:solidFill>
                <a:prstDash val="solid"/>
                <a:miter lim="800000"/>
              </a:ln>
              <a:effectLst/>
            </p:spPr>
            <p:txBody>
              <a:bodyPr lIns="72000" tIns="36000" rIns="72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rPr>
                  <a:t>Interposer</a:t>
                </a:r>
                <a:endParaRPr kumimoji="0" lang="ko-KR" altLang="en-US"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172" name="Oval 630">
                <a:extLst>
                  <a:ext uri="{FF2B5EF4-FFF2-40B4-BE49-F238E27FC236}">
                    <a16:creationId xmlns:a16="http://schemas.microsoft.com/office/drawing/2014/main" id="{123F2906-E13A-4DB9-877E-6E1C1D8F798D}"/>
                  </a:ext>
                </a:extLst>
              </p:cNvPr>
              <p:cNvSpPr>
                <a:spLocks noChangeArrowheads="1"/>
              </p:cNvSpPr>
              <p:nvPr/>
            </p:nvSpPr>
            <p:spPr bwMode="auto">
              <a:xfrm>
                <a:off x="856918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3" name="Oval 630">
                <a:extLst>
                  <a:ext uri="{FF2B5EF4-FFF2-40B4-BE49-F238E27FC236}">
                    <a16:creationId xmlns:a16="http://schemas.microsoft.com/office/drawing/2014/main" id="{7EC3BC25-73CB-432C-AE62-C964578F0378}"/>
                  </a:ext>
                </a:extLst>
              </p:cNvPr>
              <p:cNvSpPr>
                <a:spLocks noChangeArrowheads="1"/>
              </p:cNvSpPr>
              <p:nvPr/>
            </p:nvSpPr>
            <p:spPr bwMode="auto">
              <a:xfrm>
                <a:off x="874847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4" name="Oval 630">
                <a:extLst>
                  <a:ext uri="{FF2B5EF4-FFF2-40B4-BE49-F238E27FC236}">
                    <a16:creationId xmlns:a16="http://schemas.microsoft.com/office/drawing/2014/main" id="{F1373D0F-8302-49AE-80D6-CCEA956E83F2}"/>
                  </a:ext>
                </a:extLst>
              </p:cNvPr>
              <p:cNvSpPr>
                <a:spLocks noChangeArrowheads="1"/>
              </p:cNvSpPr>
              <p:nvPr/>
            </p:nvSpPr>
            <p:spPr bwMode="auto">
              <a:xfrm>
                <a:off x="8927760"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5" name="Oval 630">
                <a:extLst>
                  <a:ext uri="{FF2B5EF4-FFF2-40B4-BE49-F238E27FC236}">
                    <a16:creationId xmlns:a16="http://schemas.microsoft.com/office/drawing/2014/main" id="{09A7010C-C1CD-479C-9FCE-B8EF7CCDE8DA}"/>
                  </a:ext>
                </a:extLst>
              </p:cNvPr>
              <p:cNvSpPr>
                <a:spLocks noChangeArrowheads="1"/>
              </p:cNvSpPr>
              <p:nvPr/>
            </p:nvSpPr>
            <p:spPr bwMode="auto">
              <a:xfrm>
                <a:off x="9107046"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6" name="Oval 630">
                <a:extLst>
                  <a:ext uri="{FF2B5EF4-FFF2-40B4-BE49-F238E27FC236}">
                    <a16:creationId xmlns:a16="http://schemas.microsoft.com/office/drawing/2014/main" id="{560C3C89-BC2D-43B7-A2EC-B4926847C03E}"/>
                  </a:ext>
                </a:extLst>
              </p:cNvPr>
              <p:cNvSpPr>
                <a:spLocks noChangeArrowheads="1"/>
              </p:cNvSpPr>
              <p:nvPr/>
            </p:nvSpPr>
            <p:spPr bwMode="auto">
              <a:xfrm>
                <a:off x="928633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7" name="Oval 630">
                <a:extLst>
                  <a:ext uri="{FF2B5EF4-FFF2-40B4-BE49-F238E27FC236}">
                    <a16:creationId xmlns:a16="http://schemas.microsoft.com/office/drawing/2014/main" id="{EB0F3EBC-420D-4552-ADE4-82A9522D7428}"/>
                  </a:ext>
                </a:extLst>
              </p:cNvPr>
              <p:cNvSpPr>
                <a:spLocks noChangeArrowheads="1"/>
              </p:cNvSpPr>
              <p:nvPr/>
            </p:nvSpPr>
            <p:spPr bwMode="auto">
              <a:xfrm>
                <a:off x="946561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8" name="Oval 630">
                <a:extLst>
                  <a:ext uri="{FF2B5EF4-FFF2-40B4-BE49-F238E27FC236}">
                    <a16:creationId xmlns:a16="http://schemas.microsoft.com/office/drawing/2014/main" id="{9FAFB9CB-7E5D-4A52-9165-F572BA0892D1}"/>
                  </a:ext>
                </a:extLst>
              </p:cNvPr>
              <p:cNvSpPr>
                <a:spLocks noChangeArrowheads="1"/>
              </p:cNvSpPr>
              <p:nvPr/>
            </p:nvSpPr>
            <p:spPr bwMode="auto">
              <a:xfrm>
                <a:off x="964490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9" name="Oval 630">
                <a:extLst>
                  <a:ext uri="{FF2B5EF4-FFF2-40B4-BE49-F238E27FC236}">
                    <a16:creationId xmlns:a16="http://schemas.microsoft.com/office/drawing/2014/main" id="{A53EA15D-B620-4FA3-8206-6AA661EF9829}"/>
                  </a:ext>
                </a:extLst>
              </p:cNvPr>
              <p:cNvSpPr>
                <a:spLocks noChangeArrowheads="1"/>
              </p:cNvSpPr>
              <p:nvPr/>
            </p:nvSpPr>
            <p:spPr bwMode="auto">
              <a:xfrm>
                <a:off x="982419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0" name="직사각형 179">
                <a:extLst>
                  <a:ext uri="{FF2B5EF4-FFF2-40B4-BE49-F238E27FC236}">
                    <a16:creationId xmlns:a16="http://schemas.microsoft.com/office/drawing/2014/main" id="{98534486-3FF2-4798-A4CE-E0BB3B67295D}"/>
                  </a:ext>
                </a:extLst>
              </p:cNvPr>
              <p:cNvSpPr/>
              <p:nvPr/>
            </p:nvSpPr>
            <p:spPr>
              <a:xfrm>
                <a:off x="8551438" y="5115476"/>
                <a:ext cx="1437126" cy="160498"/>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Substrate</a:t>
                </a:r>
                <a:endParaRPr kumimoji="0" lang="ko-KR" altLang="en-US"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grpSp>
        <p:grpSp>
          <p:nvGrpSpPr>
            <p:cNvPr id="131" name="그룹 130">
              <a:extLst>
                <a:ext uri="{FF2B5EF4-FFF2-40B4-BE49-F238E27FC236}">
                  <a16:creationId xmlns:a16="http://schemas.microsoft.com/office/drawing/2014/main" id="{997F557C-6A28-43EB-B591-C196F67723CF}"/>
                </a:ext>
              </a:extLst>
            </p:cNvPr>
            <p:cNvGrpSpPr/>
            <p:nvPr/>
          </p:nvGrpSpPr>
          <p:grpSpPr>
            <a:xfrm>
              <a:off x="8431134" y="2629390"/>
              <a:ext cx="222243" cy="509359"/>
              <a:chOff x="9718786" y="4011509"/>
              <a:chExt cx="241452" cy="504451"/>
            </a:xfrm>
          </p:grpSpPr>
          <p:sp>
            <p:nvSpPr>
              <p:cNvPr id="155" name="직사각형 154">
                <a:extLst>
                  <a:ext uri="{FF2B5EF4-FFF2-40B4-BE49-F238E27FC236}">
                    <a16:creationId xmlns:a16="http://schemas.microsoft.com/office/drawing/2014/main" id="{B78563AE-BE1D-4797-B24F-E4D3B892B245}"/>
                  </a:ext>
                </a:extLst>
              </p:cNvPr>
              <p:cNvSpPr/>
              <p:nvPr/>
            </p:nvSpPr>
            <p:spPr>
              <a:xfrm rot="10800000">
                <a:off x="9746543" y="4052205"/>
                <a:ext cx="175698" cy="459309"/>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156" name="TextBox 155">
                <a:extLst>
                  <a:ext uri="{FF2B5EF4-FFF2-40B4-BE49-F238E27FC236}">
                    <a16:creationId xmlns:a16="http://schemas.microsoft.com/office/drawing/2014/main" id="{69B939B3-8DEC-48E8-A054-CF9A87F4E686}"/>
                  </a:ext>
                </a:extLst>
              </p:cNvPr>
              <p:cNvSpPr txBox="1"/>
              <p:nvPr/>
            </p:nvSpPr>
            <p:spPr>
              <a:xfrm>
                <a:off x="9718786" y="4011509"/>
                <a:ext cx="241452" cy="504451"/>
              </a:xfrm>
              <a:prstGeom prst="rect">
                <a:avLst/>
              </a:prstGeom>
              <a:noFill/>
            </p:spPr>
            <p:txBody>
              <a:bodyPr wrap="none" lIns="72000" tIns="36000" rIns="72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I/O</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die</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grpSp>
        <p:grpSp>
          <p:nvGrpSpPr>
            <p:cNvPr id="132" name="그룹 131">
              <a:extLst>
                <a:ext uri="{FF2B5EF4-FFF2-40B4-BE49-F238E27FC236}">
                  <a16:creationId xmlns:a16="http://schemas.microsoft.com/office/drawing/2014/main" id="{EC6AB9A5-0A84-4440-985F-EC0C82B9C179}"/>
                </a:ext>
              </a:extLst>
            </p:cNvPr>
            <p:cNvGrpSpPr/>
            <p:nvPr/>
          </p:nvGrpSpPr>
          <p:grpSpPr>
            <a:xfrm>
              <a:off x="8688383" y="2691029"/>
              <a:ext cx="851667" cy="439514"/>
              <a:chOff x="9137059" y="2047229"/>
              <a:chExt cx="1316315" cy="1011341"/>
            </a:xfrm>
          </p:grpSpPr>
          <p:sp>
            <p:nvSpPr>
              <p:cNvPr id="133" name="직사각형 132">
                <a:extLst>
                  <a:ext uri="{FF2B5EF4-FFF2-40B4-BE49-F238E27FC236}">
                    <a16:creationId xmlns:a16="http://schemas.microsoft.com/office/drawing/2014/main" id="{951391F7-27CF-4149-A576-943F398DF436}"/>
                  </a:ext>
                </a:extLst>
              </p:cNvPr>
              <p:cNvSpPr/>
              <p:nvPr/>
            </p:nvSpPr>
            <p:spPr>
              <a:xfrm>
                <a:off x="9243425" y="267113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134" name="직사각형 133">
                <a:extLst>
                  <a:ext uri="{FF2B5EF4-FFF2-40B4-BE49-F238E27FC236}">
                    <a16:creationId xmlns:a16="http://schemas.microsoft.com/office/drawing/2014/main" id="{3663FCE1-C90C-4D51-92A2-E368C0A07FA7}"/>
                  </a:ext>
                </a:extLst>
              </p:cNvPr>
              <p:cNvSpPr/>
              <p:nvPr/>
            </p:nvSpPr>
            <p:spPr>
              <a:xfrm>
                <a:off x="9243425" y="247941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135" name="직사각형 134">
                <a:extLst>
                  <a:ext uri="{FF2B5EF4-FFF2-40B4-BE49-F238E27FC236}">
                    <a16:creationId xmlns:a16="http://schemas.microsoft.com/office/drawing/2014/main" id="{94A03D57-DB05-4E71-A92F-BC2948E696EA}"/>
                  </a:ext>
                </a:extLst>
              </p:cNvPr>
              <p:cNvSpPr/>
              <p:nvPr/>
            </p:nvSpPr>
            <p:spPr>
              <a:xfrm>
                <a:off x="9243424" y="2282158"/>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136" name="직사각형 135">
                <a:extLst>
                  <a:ext uri="{FF2B5EF4-FFF2-40B4-BE49-F238E27FC236}">
                    <a16:creationId xmlns:a16="http://schemas.microsoft.com/office/drawing/2014/main" id="{547CB63D-17B5-4B75-B8F9-01FC8ACE4B48}"/>
                  </a:ext>
                </a:extLst>
              </p:cNvPr>
              <p:cNvSpPr/>
              <p:nvPr/>
            </p:nvSpPr>
            <p:spPr>
              <a:xfrm>
                <a:off x="9243425" y="2047229"/>
                <a:ext cx="1107300" cy="238308"/>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137" name="직선 연결선 136">
                <a:extLst>
                  <a:ext uri="{FF2B5EF4-FFF2-40B4-BE49-F238E27FC236}">
                    <a16:creationId xmlns:a16="http://schemas.microsoft.com/office/drawing/2014/main" id="{BB051AF0-F184-46C3-9C8C-0FC7D1D6C234}"/>
                  </a:ext>
                </a:extLst>
              </p:cNvPr>
              <p:cNvCxnSpPr/>
              <p:nvPr/>
            </p:nvCxnSpPr>
            <p:spPr>
              <a:xfrm>
                <a:off x="9236393" y="3026519"/>
                <a:ext cx="1114332" cy="0"/>
              </a:xfrm>
              <a:prstGeom prst="line">
                <a:avLst/>
              </a:prstGeom>
              <a:solidFill>
                <a:srgbClr val="4472C4"/>
              </a:solidFill>
              <a:ln w="19050" cap="flat" cmpd="sng" algn="ctr">
                <a:solidFill>
                  <a:srgbClr val="FFC000"/>
                </a:solidFill>
                <a:prstDash val="solid"/>
                <a:miter lim="800000"/>
              </a:ln>
              <a:effectLst/>
            </p:spPr>
          </p:cxnSp>
          <p:cxnSp>
            <p:nvCxnSpPr>
              <p:cNvPr id="138" name="직선 연결선 137">
                <a:extLst>
                  <a:ext uri="{FF2B5EF4-FFF2-40B4-BE49-F238E27FC236}">
                    <a16:creationId xmlns:a16="http://schemas.microsoft.com/office/drawing/2014/main" id="{03A9C166-4273-4DAC-B8AD-F81A05BAAA50}"/>
                  </a:ext>
                </a:extLst>
              </p:cNvPr>
              <p:cNvCxnSpPr/>
              <p:nvPr/>
            </p:nvCxnSpPr>
            <p:spPr>
              <a:xfrm>
                <a:off x="10256045" y="2686299"/>
                <a:ext cx="0" cy="156980"/>
              </a:xfrm>
              <a:prstGeom prst="line">
                <a:avLst/>
              </a:prstGeom>
              <a:solidFill>
                <a:srgbClr val="4472C4"/>
              </a:solidFill>
              <a:ln w="28575" cap="flat" cmpd="sng" algn="ctr">
                <a:solidFill>
                  <a:srgbClr val="FFFF00"/>
                </a:solidFill>
                <a:prstDash val="solid"/>
              </a:ln>
              <a:effectLst/>
            </p:spPr>
          </p:cxnSp>
          <p:cxnSp>
            <p:nvCxnSpPr>
              <p:cNvPr id="139" name="직선 연결선 138">
                <a:extLst>
                  <a:ext uri="{FF2B5EF4-FFF2-40B4-BE49-F238E27FC236}">
                    <a16:creationId xmlns:a16="http://schemas.microsoft.com/office/drawing/2014/main" id="{9AE7B2A2-7B6E-45EC-BD3D-7321874DFBDD}"/>
                  </a:ext>
                </a:extLst>
              </p:cNvPr>
              <p:cNvCxnSpPr/>
              <p:nvPr/>
            </p:nvCxnSpPr>
            <p:spPr>
              <a:xfrm>
                <a:off x="10160360" y="2686299"/>
                <a:ext cx="0" cy="156980"/>
              </a:xfrm>
              <a:prstGeom prst="line">
                <a:avLst/>
              </a:prstGeom>
              <a:solidFill>
                <a:srgbClr val="4472C4"/>
              </a:solidFill>
              <a:ln w="28575" cap="flat" cmpd="sng" algn="ctr">
                <a:solidFill>
                  <a:srgbClr val="FFFF00"/>
                </a:solidFill>
                <a:prstDash val="solid"/>
              </a:ln>
              <a:effectLst/>
            </p:spPr>
          </p:cxnSp>
          <p:cxnSp>
            <p:nvCxnSpPr>
              <p:cNvPr id="140" name="직선 연결선 139">
                <a:extLst>
                  <a:ext uri="{FF2B5EF4-FFF2-40B4-BE49-F238E27FC236}">
                    <a16:creationId xmlns:a16="http://schemas.microsoft.com/office/drawing/2014/main" id="{A0FC17DF-5DBE-400F-A69E-D836CBDE3B07}"/>
                  </a:ext>
                </a:extLst>
              </p:cNvPr>
              <p:cNvCxnSpPr/>
              <p:nvPr/>
            </p:nvCxnSpPr>
            <p:spPr>
              <a:xfrm>
                <a:off x="9443245" y="2686299"/>
                <a:ext cx="0" cy="156980"/>
              </a:xfrm>
              <a:prstGeom prst="line">
                <a:avLst/>
              </a:prstGeom>
              <a:solidFill>
                <a:srgbClr val="4472C4"/>
              </a:solidFill>
              <a:ln w="28575" cap="flat" cmpd="sng" algn="ctr">
                <a:solidFill>
                  <a:srgbClr val="FFFF00"/>
                </a:solidFill>
                <a:prstDash val="solid"/>
              </a:ln>
              <a:effectLst/>
            </p:spPr>
          </p:cxnSp>
          <p:cxnSp>
            <p:nvCxnSpPr>
              <p:cNvPr id="141" name="직선 연결선 140">
                <a:extLst>
                  <a:ext uri="{FF2B5EF4-FFF2-40B4-BE49-F238E27FC236}">
                    <a16:creationId xmlns:a16="http://schemas.microsoft.com/office/drawing/2014/main" id="{971245C7-F40B-4564-917C-2F4B1E62A38D}"/>
                  </a:ext>
                </a:extLst>
              </p:cNvPr>
              <p:cNvCxnSpPr/>
              <p:nvPr/>
            </p:nvCxnSpPr>
            <p:spPr>
              <a:xfrm>
                <a:off x="9347560" y="2686299"/>
                <a:ext cx="0" cy="156980"/>
              </a:xfrm>
              <a:prstGeom prst="line">
                <a:avLst/>
              </a:prstGeom>
              <a:solidFill>
                <a:srgbClr val="4472C4"/>
              </a:solidFill>
              <a:ln w="28575" cap="flat" cmpd="sng" algn="ctr">
                <a:solidFill>
                  <a:srgbClr val="FFFF00"/>
                </a:solidFill>
                <a:prstDash val="solid"/>
              </a:ln>
              <a:effectLst/>
            </p:spPr>
          </p:cxnSp>
          <p:cxnSp>
            <p:nvCxnSpPr>
              <p:cNvPr id="142" name="직선 연결선 141">
                <a:extLst>
                  <a:ext uri="{FF2B5EF4-FFF2-40B4-BE49-F238E27FC236}">
                    <a16:creationId xmlns:a16="http://schemas.microsoft.com/office/drawing/2014/main" id="{98708845-6E44-484D-8DA3-33AD4E90D01F}"/>
                  </a:ext>
                </a:extLst>
              </p:cNvPr>
              <p:cNvCxnSpPr/>
              <p:nvPr/>
            </p:nvCxnSpPr>
            <p:spPr>
              <a:xfrm>
                <a:off x="10256045" y="2495097"/>
                <a:ext cx="0" cy="156980"/>
              </a:xfrm>
              <a:prstGeom prst="line">
                <a:avLst/>
              </a:prstGeom>
              <a:solidFill>
                <a:srgbClr val="4472C4"/>
              </a:solidFill>
              <a:ln w="28575" cap="flat" cmpd="sng" algn="ctr">
                <a:solidFill>
                  <a:srgbClr val="FFFF00"/>
                </a:solidFill>
                <a:prstDash val="solid"/>
              </a:ln>
              <a:effectLst/>
            </p:spPr>
          </p:cxnSp>
          <p:cxnSp>
            <p:nvCxnSpPr>
              <p:cNvPr id="143" name="직선 연결선 142">
                <a:extLst>
                  <a:ext uri="{FF2B5EF4-FFF2-40B4-BE49-F238E27FC236}">
                    <a16:creationId xmlns:a16="http://schemas.microsoft.com/office/drawing/2014/main" id="{82785CB7-94EE-4AD6-8042-98CAC6D36F53}"/>
                  </a:ext>
                </a:extLst>
              </p:cNvPr>
              <p:cNvCxnSpPr/>
              <p:nvPr/>
            </p:nvCxnSpPr>
            <p:spPr>
              <a:xfrm>
                <a:off x="10160360" y="2495097"/>
                <a:ext cx="0" cy="156980"/>
              </a:xfrm>
              <a:prstGeom prst="line">
                <a:avLst/>
              </a:prstGeom>
              <a:solidFill>
                <a:srgbClr val="4472C4"/>
              </a:solidFill>
              <a:ln w="28575" cap="flat" cmpd="sng" algn="ctr">
                <a:solidFill>
                  <a:srgbClr val="FFFF00"/>
                </a:solidFill>
                <a:prstDash val="solid"/>
              </a:ln>
              <a:effectLst/>
            </p:spPr>
          </p:cxnSp>
          <p:cxnSp>
            <p:nvCxnSpPr>
              <p:cNvPr id="144" name="직선 연결선 143">
                <a:extLst>
                  <a:ext uri="{FF2B5EF4-FFF2-40B4-BE49-F238E27FC236}">
                    <a16:creationId xmlns:a16="http://schemas.microsoft.com/office/drawing/2014/main" id="{D7019317-1808-471C-A15B-BF85F9694498}"/>
                  </a:ext>
                </a:extLst>
              </p:cNvPr>
              <p:cNvCxnSpPr/>
              <p:nvPr/>
            </p:nvCxnSpPr>
            <p:spPr>
              <a:xfrm>
                <a:off x="9443245" y="2495097"/>
                <a:ext cx="0" cy="156980"/>
              </a:xfrm>
              <a:prstGeom prst="line">
                <a:avLst/>
              </a:prstGeom>
              <a:solidFill>
                <a:srgbClr val="4472C4"/>
              </a:solidFill>
              <a:ln w="28575" cap="flat" cmpd="sng" algn="ctr">
                <a:solidFill>
                  <a:srgbClr val="FFFF00"/>
                </a:solidFill>
                <a:prstDash val="solid"/>
              </a:ln>
              <a:effectLst/>
            </p:spPr>
          </p:cxnSp>
          <p:cxnSp>
            <p:nvCxnSpPr>
              <p:cNvPr id="145" name="직선 연결선 144">
                <a:extLst>
                  <a:ext uri="{FF2B5EF4-FFF2-40B4-BE49-F238E27FC236}">
                    <a16:creationId xmlns:a16="http://schemas.microsoft.com/office/drawing/2014/main" id="{CEB25033-5C31-46FC-8D15-415C87C9450C}"/>
                  </a:ext>
                </a:extLst>
              </p:cNvPr>
              <p:cNvCxnSpPr/>
              <p:nvPr/>
            </p:nvCxnSpPr>
            <p:spPr>
              <a:xfrm>
                <a:off x="9347560" y="2495097"/>
                <a:ext cx="0" cy="156980"/>
              </a:xfrm>
              <a:prstGeom prst="line">
                <a:avLst/>
              </a:prstGeom>
              <a:solidFill>
                <a:srgbClr val="4472C4"/>
              </a:solidFill>
              <a:ln w="28575" cap="flat" cmpd="sng" algn="ctr">
                <a:solidFill>
                  <a:srgbClr val="FFFF00"/>
                </a:solidFill>
                <a:prstDash val="solid"/>
              </a:ln>
              <a:effectLst/>
            </p:spPr>
          </p:cxnSp>
          <p:cxnSp>
            <p:nvCxnSpPr>
              <p:cNvPr id="146" name="직선 연결선 145">
                <a:extLst>
                  <a:ext uri="{FF2B5EF4-FFF2-40B4-BE49-F238E27FC236}">
                    <a16:creationId xmlns:a16="http://schemas.microsoft.com/office/drawing/2014/main" id="{34F6EC33-C7D8-472C-A451-82F1C968455B}"/>
                  </a:ext>
                </a:extLst>
              </p:cNvPr>
              <p:cNvCxnSpPr/>
              <p:nvPr/>
            </p:nvCxnSpPr>
            <p:spPr>
              <a:xfrm>
                <a:off x="10256045" y="2288230"/>
                <a:ext cx="0" cy="156980"/>
              </a:xfrm>
              <a:prstGeom prst="line">
                <a:avLst/>
              </a:prstGeom>
              <a:solidFill>
                <a:srgbClr val="4472C4"/>
              </a:solidFill>
              <a:ln w="28575" cap="flat" cmpd="sng" algn="ctr">
                <a:solidFill>
                  <a:srgbClr val="FFFF00"/>
                </a:solidFill>
                <a:prstDash val="solid"/>
              </a:ln>
              <a:effectLst/>
            </p:spPr>
          </p:cxnSp>
          <p:cxnSp>
            <p:nvCxnSpPr>
              <p:cNvPr id="147" name="직선 연결선 146">
                <a:extLst>
                  <a:ext uri="{FF2B5EF4-FFF2-40B4-BE49-F238E27FC236}">
                    <a16:creationId xmlns:a16="http://schemas.microsoft.com/office/drawing/2014/main" id="{3F871DD9-A40C-400E-A147-2FE2B1CBC8AA}"/>
                  </a:ext>
                </a:extLst>
              </p:cNvPr>
              <p:cNvCxnSpPr/>
              <p:nvPr/>
            </p:nvCxnSpPr>
            <p:spPr>
              <a:xfrm>
                <a:off x="10160360" y="2288230"/>
                <a:ext cx="0" cy="156980"/>
              </a:xfrm>
              <a:prstGeom prst="line">
                <a:avLst/>
              </a:prstGeom>
              <a:solidFill>
                <a:srgbClr val="4472C4"/>
              </a:solidFill>
              <a:ln w="28575" cap="flat" cmpd="sng" algn="ctr">
                <a:solidFill>
                  <a:srgbClr val="FFFF00"/>
                </a:solidFill>
                <a:prstDash val="solid"/>
              </a:ln>
              <a:effectLst/>
            </p:spPr>
          </p:cxnSp>
          <p:cxnSp>
            <p:nvCxnSpPr>
              <p:cNvPr id="148" name="직선 연결선 147">
                <a:extLst>
                  <a:ext uri="{FF2B5EF4-FFF2-40B4-BE49-F238E27FC236}">
                    <a16:creationId xmlns:a16="http://schemas.microsoft.com/office/drawing/2014/main" id="{6DF1783E-500E-4806-8D40-9081418B7161}"/>
                  </a:ext>
                </a:extLst>
              </p:cNvPr>
              <p:cNvCxnSpPr/>
              <p:nvPr/>
            </p:nvCxnSpPr>
            <p:spPr>
              <a:xfrm>
                <a:off x="9443245" y="2288230"/>
                <a:ext cx="0" cy="156980"/>
              </a:xfrm>
              <a:prstGeom prst="line">
                <a:avLst/>
              </a:prstGeom>
              <a:solidFill>
                <a:srgbClr val="4472C4"/>
              </a:solidFill>
              <a:ln w="28575" cap="flat" cmpd="sng" algn="ctr">
                <a:solidFill>
                  <a:srgbClr val="FFFF00"/>
                </a:solidFill>
                <a:prstDash val="solid"/>
              </a:ln>
              <a:effectLst/>
            </p:spPr>
          </p:cxnSp>
          <p:cxnSp>
            <p:nvCxnSpPr>
              <p:cNvPr id="149" name="직선 연결선 148">
                <a:extLst>
                  <a:ext uri="{FF2B5EF4-FFF2-40B4-BE49-F238E27FC236}">
                    <a16:creationId xmlns:a16="http://schemas.microsoft.com/office/drawing/2014/main" id="{644F426A-C4A1-4CE7-81B3-C7F9F5301C0F}"/>
                  </a:ext>
                </a:extLst>
              </p:cNvPr>
              <p:cNvCxnSpPr/>
              <p:nvPr/>
            </p:nvCxnSpPr>
            <p:spPr>
              <a:xfrm>
                <a:off x="9347560" y="2288230"/>
                <a:ext cx="0" cy="156980"/>
              </a:xfrm>
              <a:prstGeom prst="line">
                <a:avLst/>
              </a:prstGeom>
              <a:solidFill>
                <a:srgbClr val="4472C4"/>
              </a:solidFill>
              <a:ln w="28575" cap="flat" cmpd="sng" algn="ctr">
                <a:solidFill>
                  <a:srgbClr val="FFFF00"/>
                </a:solidFill>
                <a:prstDash val="solid"/>
              </a:ln>
              <a:effectLst/>
            </p:spPr>
          </p:cxnSp>
          <p:sp>
            <p:nvSpPr>
              <p:cNvPr id="150" name="직사각형 149">
                <a:extLst>
                  <a:ext uri="{FF2B5EF4-FFF2-40B4-BE49-F238E27FC236}">
                    <a16:creationId xmlns:a16="http://schemas.microsoft.com/office/drawing/2014/main" id="{684ADD1A-5C58-4B17-8D47-E97243ABBEAD}"/>
                  </a:ext>
                </a:extLst>
              </p:cNvPr>
              <p:cNvSpPr/>
              <p:nvPr/>
            </p:nvSpPr>
            <p:spPr>
              <a:xfrm>
                <a:off x="9137059" y="2863475"/>
                <a:ext cx="1316315" cy="195095"/>
              </a:xfrm>
              <a:prstGeom prst="rect">
                <a:avLst/>
              </a:prstGeom>
              <a:solidFill>
                <a:srgbClr val="FFC000">
                  <a:lumMod val="40000"/>
                  <a:lumOff val="60000"/>
                </a:srgb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B-die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151" name="직선 연결선 150">
                <a:extLst>
                  <a:ext uri="{FF2B5EF4-FFF2-40B4-BE49-F238E27FC236}">
                    <a16:creationId xmlns:a16="http://schemas.microsoft.com/office/drawing/2014/main" id="{A664F2CC-21FF-4F28-8D4D-D87CFDABB79E}"/>
                  </a:ext>
                </a:extLst>
              </p:cNvPr>
              <p:cNvCxnSpPr/>
              <p:nvPr/>
            </p:nvCxnSpPr>
            <p:spPr>
              <a:xfrm>
                <a:off x="10256045" y="2878635"/>
                <a:ext cx="0" cy="156980"/>
              </a:xfrm>
              <a:prstGeom prst="line">
                <a:avLst/>
              </a:prstGeom>
              <a:solidFill>
                <a:srgbClr val="4472C4"/>
              </a:solidFill>
              <a:ln w="28575" cap="flat" cmpd="sng" algn="ctr">
                <a:solidFill>
                  <a:srgbClr val="FFFF00"/>
                </a:solidFill>
                <a:prstDash val="solid"/>
              </a:ln>
              <a:effectLst/>
            </p:spPr>
          </p:cxnSp>
          <p:cxnSp>
            <p:nvCxnSpPr>
              <p:cNvPr id="152" name="직선 연결선 151">
                <a:extLst>
                  <a:ext uri="{FF2B5EF4-FFF2-40B4-BE49-F238E27FC236}">
                    <a16:creationId xmlns:a16="http://schemas.microsoft.com/office/drawing/2014/main" id="{6109CF0D-4B75-4AA2-9A0D-6E489EF9A4C2}"/>
                  </a:ext>
                </a:extLst>
              </p:cNvPr>
              <p:cNvCxnSpPr/>
              <p:nvPr/>
            </p:nvCxnSpPr>
            <p:spPr>
              <a:xfrm>
                <a:off x="10160360" y="2878635"/>
                <a:ext cx="0" cy="156980"/>
              </a:xfrm>
              <a:prstGeom prst="line">
                <a:avLst/>
              </a:prstGeom>
              <a:solidFill>
                <a:srgbClr val="4472C4"/>
              </a:solidFill>
              <a:ln w="28575" cap="flat" cmpd="sng" algn="ctr">
                <a:solidFill>
                  <a:srgbClr val="FFFF00"/>
                </a:solidFill>
                <a:prstDash val="solid"/>
              </a:ln>
              <a:effectLst/>
            </p:spPr>
          </p:cxnSp>
          <p:cxnSp>
            <p:nvCxnSpPr>
              <p:cNvPr id="153" name="직선 연결선 152">
                <a:extLst>
                  <a:ext uri="{FF2B5EF4-FFF2-40B4-BE49-F238E27FC236}">
                    <a16:creationId xmlns:a16="http://schemas.microsoft.com/office/drawing/2014/main" id="{33FF3CE3-6EC6-4AF9-86EF-DEFED3FC856E}"/>
                  </a:ext>
                </a:extLst>
              </p:cNvPr>
              <p:cNvCxnSpPr/>
              <p:nvPr/>
            </p:nvCxnSpPr>
            <p:spPr>
              <a:xfrm>
                <a:off x="9443245" y="2878635"/>
                <a:ext cx="0" cy="156980"/>
              </a:xfrm>
              <a:prstGeom prst="line">
                <a:avLst/>
              </a:prstGeom>
              <a:solidFill>
                <a:srgbClr val="4472C4"/>
              </a:solidFill>
              <a:ln w="28575" cap="flat" cmpd="sng" algn="ctr">
                <a:solidFill>
                  <a:srgbClr val="FFFF00"/>
                </a:solidFill>
                <a:prstDash val="solid"/>
              </a:ln>
              <a:effectLst/>
            </p:spPr>
          </p:cxnSp>
          <p:cxnSp>
            <p:nvCxnSpPr>
              <p:cNvPr id="154" name="직선 연결선 153">
                <a:extLst>
                  <a:ext uri="{FF2B5EF4-FFF2-40B4-BE49-F238E27FC236}">
                    <a16:creationId xmlns:a16="http://schemas.microsoft.com/office/drawing/2014/main" id="{88098DAD-E01A-4408-BD15-C139A8EDADCE}"/>
                  </a:ext>
                </a:extLst>
              </p:cNvPr>
              <p:cNvCxnSpPr/>
              <p:nvPr/>
            </p:nvCxnSpPr>
            <p:spPr>
              <a:xfrm>
                <a:off x="9347560" y="2878635"/>
                <a:ext cx="0" cy="156980"/>
              </a:xfrm>
              <a:prstGeom prst="line">
                <a:avLst/>
              </a:prstGeom>
              <a:solidFill>
                <a:srgbClr val="4472C4"/>
              </a:solidFill>
              <a:ln w="28575" cap="flat" cmpd="sng" algn="ctr">
                <a:solidFill>
                  <a:srgbClr val="FFFF00"/>
                </a:solidFill>
                <a:prstDash val="solid"/>
              </a:ln>
              <a:effectLst/>
            </p:spPr>
          </p:cxnSp>
        </p:grpSp>
        <p:sp>
          <p:nvSpPr>
            <p:cNvPr id="269" name="TextBox 268">
              <a:extLst>
                <a:ext uri="{FF2B5EF4-FFF2-40B4-BE49-F238E27FC236}">
                  <a16:creationId xmlns:a16="http://schemas.microsoft.com/office/drawing/2014/main" id="{987DEFE5-E808-4F43-9A0A-CFF684213AF6}"/>
                </a:ext>
              </a:extLst>
            </p:cNvPr>
            <p:cNvSpPr txBox="1"/>
            <p:nvPr/>
          </p:nvSpPr>
          <p:spPr>
            <a:xfrm>
              <a:off x="8503663" y="3608487"/>
              <a:ext cx="1019011"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ScHBM</a:t>
              </a:r>
            </a:p>
          </p:txBody>
        </p:sp>
        <p:sp>
          <p:nvSpPr>
            <p:cNvPr id="391" name="직사각형 390"/>
            <p:cNvSpPr/>
            <p:nvPr/>
          </p:nvSpPr>
          <p:spPr>
            <a:xfrm>
              <a:off x="8314724" y="2607694"/>
              <a:ext cx="1405027" cy="1000793"/>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289" name="TextBox 288">
              <a:extLst>
                <a:ext uri="{FF2B5EF4-FFF2-40B4-BE49-F238E27FC236}">
                  <a16:creationId xmlns:a16="http://schemas.microsoft.com/office/drawing/2014/main" id="{C5046B09-E766-4339-A7CD-F9283B87504B}"/>
                </a:ext>
              </a:extLst>
            </p:cNvPr>
            <p:cNvSpPr txBox="1"/>
            <p:nvPr/>
          </p:nvSpPr>
          <p:spPr>
            <a:xfrm>
              <a:off x="8797743" y="3044993"/>
              <a:ext cx="131100" cy="80063"/>
            </a:xfrm>
            <a:prstGeom prst="rect">
              <a:avLst/>
            </a:prstGeom>
            <a:solidFill>
              <a:srgbClr val="00B050"/>
            </a:solidFill>
          </p:spPr>
          <p:txBody>
            <a:bodyPr wrap="none" lIns="72000" tIns="36000" rIns="72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PE</a:t>
              </a:r>
            </a:p>
          </p:txBody>
        </p:sp>
        <p:sp>
          <p:nvSpPr>
            <p:cNvPr id="290" name="TextBox 289">
              <a:extLst>
                <a:ext uri="{FF2B5EF4-FFF2-40B4-BE49-F238E27FC236}">
                  <a16:creationId xmlns:a16="http://schemas.microsoft.com/office/drawing/2014/main" id="{426DA31F-A4E7-4DA7-BF08-B7E96263BBD7}"/>
                </a:ext>
              </a:extLst>
            </p:cNvPr>
            <p:cNvSpPr txBox="1"/>
            <p:nvPr/>
          </p:nvSpPr>
          <p:spPr>
            <a:xfrm>
              <a:off x="9320215" y="3044993"/>
              <a:ext cx="131100" cy="80063"/>
            </a:xfrm>
            <a:prstGeom prst="rect">
              <a:avLst/>
            </a:prstGeom>
            <a:solidFill>
              <a:srgbClr val="00B050"/>
            </a:solidFill>
          </p:spPr>
          <p:txBody>
            <a:bodyPr wrap="none" lIns="72000" tIns="36000" rIns="72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PE</a:t>
              </a:r>
            </a:p>
          </p:txBody>
        </p:sp>
      </p:grpSp>
      <p:sp>
        <p:nvSpPr>
          <p:cNvPr id="414" name="TextBox 413">
            <a:extLst>
              <a:ext uri="{FF2B5EF4-FFF2-40B4-BE49-F238E27FC236}">
                <a16:creationId xmlns:a16="http://schemas.microsoft.com/office/drawing/2014/main" id="{54923186-6E67-4951-B1E9-2C81E8F0134A}"/>
              </a:ext>
            </a:extLst>
          </p:cNvPr>
          <p:cNvSpPr txBox="1"/>
          <p:nvPr/>
        </p:nvSpPr>
        <p:spPr>
          <a:xfrm>
            <a:off x="6690382" y="5827948"/>
            <a:ext cx="1019011"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err="1">
                <a:ln>
                  <a:noFill/>
                </a:ln>
                <a:solidFill>
                  <a:srgbClr val="FFFFFF"/>
                </a:solidFill>
                <a:effectLst/>
                <a:uLnTx/>
                <a:uFillTx/>
                <a:latin typeface="SAMSUNGONE-600C" panose="020B0503030303020204" pitchFamily="34" charset="-127"/>
                <a:ea typeface="SAMSUNGONE-600C" panose="020B0503030303020204" pitchFamily="34" charset="-127"/>
                <a:cs typeface="+mn-cs"/>
              </a:rPr>
              <a:t>zNAND</a:t>
            </a:r>
            <a:endPar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endParaRPr>
          </a:p>
        </p:txBody>
      </p:sp>
      <p:grpSp>
        <p:nvGrpSpPr>
          <p:cNvPr id="5" name="그룹 4">
            <a:extLst>
              <a:ext uri="{FF2B5EF4-FFF2-40B4-BE49-F238E27FC236}">
                <a16:creationId xmlns:a16="http://schemas.microsoft.com/office/drawing/2014/main" id="{D348F6A0-E51A-4548-8483-26CF7A02ED0F}"/>
              </a:ext>
            </a:extLst>
          </p:cNvPr>
          <p:cNvGrpSpPr/>
          <p:nvPr/>
        </p:nvGrpSpPr>
        <p:grpSpPr>
          <a:xfrm>
            <a:off x="6389055" y="4866499"/>
            <a:ext cx="1470284" cy="878497"/>
            <a:chOff x="6252184" y="4715518"/>
            <a:chExt cx="1470284" cy="878497"/>
          </a:xfrm>
        </p:grpSpPr>
        <p:sp>
          <p:nvSpPr>
            <p:cNvPr id="295" name="Oval 630">
              <a:extLst>
                <a:ext uri="{FF2B5EF4-FFF2-40B4-BE49-F238E27FC236}">
                  <a16:creationId xmlns:a16="http://schemas.microsoft.com/office/drawing/2014/main" id="{1F9D99EA-DF6B-46E2-8025-E9F69711E620}"/>
                </a:ext>
              </a:extLst>
            </p:cNvPr>
            <p:cNvSpPr>
              <a:spLocks noChangeArrowheads="1"/>
            </p:cNvSpPr>
            <p:nvPr/>
          </p:nvSpPr>
          <p:spPr bwMode="auto">
            <a:xfrm>
              <a:off x="6264102"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96" name="Oval 630">
              <a:extLst>
                <a:ext uri="{FF2B5EF4-FFF2-40B4-BE49-F238E27FC236}">
                  <a16:creationId xmlns:a16="http://schemas.microsoft.com/office/drawing/2014/main" id="{23454B8C-DDD2-40E5-99F8-B17D49029985}"/>
                </a:ext>
              </a:extLst>
            </p:cNvPr>
            <p:cNvSpPr>
              <a:spLocks noChangeArrowheads="1"/>
            </p:cNvSpPr>
            <p:nvPr/>
          </p:nvSpPr>
          <p:spPr bwMode="auto">
            <a:xfrm>
              <a:off x="6427654"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97" name="Oval 630">
              <a:extLst>
                <a:ext uri="{FF2B5EF4-FFF2-40B4-BE49-F238E27FC236}">
                  <a16:creationId xmlns:a16="http://schemas.microsoft.com/office/drawing/2014/main" id="{F6FF6669-CFE1-4E9D-B52A-35377B81D67C}"/>
                </a:ext>
              </a:extLst>
            </p:cNvPr>
            <p:cNvSpPr>
              <a:spLocks noChangeArrowheads="1"/>
            </p:cNvSpPr>
            <p:nvPr/>
          </p:nvSpPr>
          <p:spPr bwMode="auto">
            <a:xfrm>
              <a:off x="6591206"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98" name="Oval 630">
              <a:extLst>
                <a:ext uri="{FF2B5EF4-FFF2-40B4-BE49-F238E27FC236}">
                  <a16:creationId xmlns:a16="http://schemas.microsoft.com/office/drawing/2014/main" id="{3843654E-07B9-4865-85B0-5A70BD9F0382}"/>
                </a:ext>
              </a:extLst>
            </p:cNvPr>
            <p:cNvSpPr>
              <a:spLocks noChangeArrowheads="1"/>
            </p:cNvSpPr>
            <p:nvPr/>
          </p:nvSpPr>
          <p:spPr bwMode="auto">
            <a:xfrm>
              <a:off x="6754758"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99" name="Oval 630">
              <a:extLst>
                <a:ext uri="{FF2B5EF4-FFF2-40B4-BE49-F238E27FC236}">
                  <a16:creationId xmlns:a16="http://schemas.microsoft.com/office/drawing/2014/main" id="{AA58BE2F-024A-475A-9712-9648D2DCCF3E}"/>
                </a:ext>
              </a:extLst>
            </p:cNvPr>
            <p:cNvSpPr>
              <a:spLocks noChangeArrowheads="1"/>
            </p:cNvSpPr>
            <p:nvPr/>
          </p:nvSpPr>
          <p:spPr bwMode="auto">
            <a:xfrm>
              <a:off x="6918310"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00" name="Oval 630">
              <a:extLst>
                <a:ext uri="{FF2B5EF4-FFF2-40B4-BE49-F238E27FC236}">
                  <a16:creationId xmlns:a16="http://schemas.microsoft.com/office/drawing/2014/main" id="{E6C955E4-7A47-49D5-AC0B-9B1F7B4D0FAB}"/>
                </a:ext>
              </a:extLst>
            </p:cNvPr>
            <p:cNvSpPr>
              <a:spLocks noChangeArrowheads="1"/>
            </p:cNvSpPr>
            <p:nvPr/>
          </p:nvSpPr>
          <p:spPr bwMode="auto">
            <a:xfrm>
              <a:off x="7081863"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01" name="Oval 630">
              <a:extLst>
                <a:ext uri="{FF2B5EF4-FFF2-40B4-BE49-F238E27FC236}">
                  <a16:creationId xmlns:a16="http://schemas.microsoft.com/office/drawing/2014/main" id="{97FDAC83-663E-4441-BD64-1C108F410EE7}"/>
                </a:ext>
              </a:extLst>
            </p:cNvPr>
            <p:cNvSpPr>
              <a:spLocks noChangeArrowheads="1"/>
            </p:cNvSpPr>
            <p:nvPr/>
          </p:nvSpPr>
          <p:spPr bwMode="auto">
            <a:xfrm>
              <a:off x="7245415"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02" name="Oval 630">
              <a:extLst>
                <a:ext uri="{FF2B5EF4-FFF2-40B4-BE49-F238E27FC236}">
                  <a16:creationId xmlns:a16="http://schemas.microsoft.com/office/drawing/2014/main" id="{DDB9C7AC-9DE6-4DE1-B842-C1942ADEA163}"/>
                </a:ext>
              </a:extLst>
            </p:cNvPr>
            <p:cNvSpPr>
              <a:spLocks noChangeArrowheads="1"/>
            </p:cNvSpPr>
            <p:nvPr/>
          </p:nvSpPr>
          <p:spPr bwMode="auto">
            <a:xfrm>
              <a:off x="7408967"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03" name="Oval 630">
              <a:extLst>
                <a:ext uri="{FF2B5EF4-FFF2-40B4-BE49-F238E27FC236}">
                  <a16:creationId xmlns:a16="http://schemas.microsoft.com/office/drawing/2014/main" id="{37ADD1B1-3A45-447A-AC6C-BBA061CEBAC9}"/>
                </a:ext>
              </a:extLst>
            </p:cNvPr>
            <p:cNvSpPr>
              <a:spLocks noChangeArrowheads="1"/>
            </p:cNvSpPr>
            <p:nvPr/>
          </p:nvSpPr>
          <p:spPr bwMode="auto">
            <a:xfrm>
              <a:off x="7572521"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0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04" name="직사각형 303">
              <a:extLst>
                <a:ext uri="{FF2B5EF4-FFF2-40B4-BE49-F238E27FC236}">
                  <a16:creationId xmlns:a16="http://schemas.microsoft.com/office/drawing/2014/main" id="{037C7F7E-72D6-4C6C-97E4-E189A4D7A0FF}"/>
                </a:ext>
              </a:extLst>
            </p:cNvPr>
            <p:cNvSpPr/>
            <p:nvPr/>
          </p:nvSpPr>
          <p:spPr>
            <a:xfrm>
              <a:off x="6252184" y="5421803"/>
              <a:ext cx="1470284" cy="114820"/>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Substrate</a:t>
              </a:r>
              <a:endParaRPr kumimoji="0" lang="ko-KR" altLang="en-US"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322" name="직사각형 321">
              <a:extLst>
                <a:ext uri="{FF2B5EF4-FFF2-40B4-BE49-F238E27FC236}">
                  <a16:creationId xmlns:a16="http://schemas.microsoft.com/office/drawing/2014/main" id="{6365CF91-04C9-4304-93DE-58F030BB1A3A}"/>
                </a:ext>
              </a:extLst>
            </p:cNvPr>
            <p:cNvSpPr/>
            <p:nvPr/>
          </p:nvSpPr>
          <p:spPr>
            <a:xfrm>
              <a:off x="6540988" y="5291501"/>
              <a:ext cx="729479"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323" name="직사각형 322">
              <a:extLst>
                <a:ext uri="{FF2B5EF4-FFF2-40B4-BE49-F238E27FC236}">
                  <a16:creationId xmlns:a16="http://schemas.microsoft.com/office/drawing/2014/main" id="{6576617C-91C5-4FA0-8FBE-DCD975C5F934}"/>
                </a:ext>
              </a:extLst>
            </p:cNvPr>
            <p:cNvSpPr/>
            <p:nvPr/>
          </p:nvSpPr>
          <p:spPr>
            <a:xfrm>
              <a:off x="6695162" y="5172286"/>
              <a:ext cx="729479"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324" name="직사각형 323">
              <a:extLst>
                <a:ext uri="{FF2B5EF4-FFF2-40B4-BE49-F238E27FC236}">
                  <a16:creationId xmlns:a16="http://schemas.microsoft.com/office/drawing/2014/main" id="{D500964C-B175-42E1-9BB6-D8FF5524AF33}"/>
                </a:ext>
              </a:extLst>
            </p:cNvPr>
            <p:cNvSpPr/>
            <p:nvPr/>
          </p:nvSpPr>
          <p:spPr>
            <a:xfrm>
              <a:off x="6540988" y="5049624"/>
              <a:ext cx="729479"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325" name="직사각형 324">
              <a:extLst>
                <a:ext uri="{FF2B5EF4-FFF2-40B4-BE49-F238E27FC236}">
                  <a16:creationId xmlns:a16="http://schemas.microsoft.com/office/drawing/2014/main" id="{75DA0A08-71ED-481B-B6CA-214BE7165483}"/>
                </a:ext>
              </a:extLst>
            </p:cNvPr>
            <p:cNvSpPr/>
            <p:nvPr/>
          </p:nvSpPr>
          <p:spPr>
            <a:xfrm>
              <a:off x="6695162" y="4903540"/>
              <a:ext cx="729479" cy="148185"/>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317" name="TextBox 316">
              <a:extLst>
                <a:ext uri="{FF2B5EF4-FFF2-40B4-BE49-F238E27FC236}">
                  <a16:creationId xmlns:a16="http://schemas.microsoft.com/office/drawing/2014/main" id="{E6A24638-58EF-4B30-8880-86E04D6144D6}"/>
                </a:ext>
              </a:extLst>
            </p:cNvPr>
            <p:cNvSpPr txBox="1"/>
            <p:nvPr/>
          </p:nvSpPr>
          <p:spPr>
            <a:xfrm>
              <a:off x="6797875" y="4883995"/>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grpSp>
          <p:nvGrpSpPr>
            <p:cNvPr id="4" name="그룹 3">
              <a:extLst>
                <a:ext uri="{FF2B5EF4-FFF2-40B4-BE49-F238E27FC236}">
                  <a16:creationId xmlns:a16="http://schemas.microsoft.com/office/drawing/2014/main" id="{A8D9A11A-67DA-4CE6-9490-A6645C341BD1}"/>
                </a:ext>
              </a:extLst>
            </p:cNvPr>
            <p:cNvGrpSpPr/>
            <p:nvPr/>
          </p:nvGrpSpPr>
          <p:grpSpPr>
            <a:xfrm>
              <a:off x="7343702" y="4715518"/>
              <a:ext cx="315283" cy="713732"/>
              <a:chOff x="7343702" y="4715518"/>
              <a:chExt cx="315283" cy="713732"/>
            </a:xfrm>
          </p:grpSpPr>
          <p:sp>
            <p:nvSpPr>
              <p:cNvPr id="2" name="자유형: 도형 1">
                <a:extLst>
                  <a:ext uri="{FF2B5EF4-FFF2-40B4-BE49-F238E27FC236}">
                    <a16:creationId xmlns:a16="http://schemas.microsoft.com/office/drawing/2014/main" id="{FC5F1EFD-FA7D-4BA4-95B0-9C1B2C9679C2}"/>
                  </a:ext>
                </a:extLst>
              </p:cNvPr>
              <p:cNvSpPr/>
              <p:nvPr/>
            </p:nvSpPr>
            <p:spPr>
              <a:xfrm>
                <a:off x="7353300" y="5085686"/>
                <a:ext cx="209550" cy="343564"/>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416" name="자유형: 도형 415">
                <a:extLst>
                  <a:ext uri="{FF2B5EF4-FFF2-40B4-BE49-F238E27FC236}">
                    <a16:creationId xmlns:a16="http://schemas.microsoft.com/office/drawing/2014/main" id="{EDD53161-0ACD-4562-B3AF-0D8E6769B502}"/>
                  </a:ext>
                </a:extLst>
              </p:cNvPr>
              <p:cNvSpPr/>
              <p:nvPr/>
            </p:nvSpPr>
            <p:spPr>
              <a:xfrm>
                <a:off x="7343702" y="4715518"/>
                <a:ext cx="315283" cy="713731"/>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FFFFFF"/>
                  </a:solidFill>
                  <a:effectLst/>
                  <a:uLnTx/>
                  <a:uFillTx/>
                  <a:latin typeface="Samsung Sharp Sans Medium"/>
                  <a:ea typeface="+mn-ea"/>
                  <a:cs typeface="+mn-cs"/>
                </a:endParaRPr>
              </a:p>
            </p:txBody>
          </p:sp>
        </p:grpSp>
        <p:sp>
          <p:nvSpPr>
            <p:cNvPr id="418" name="자유형: 도형 417">
              <a:extLst>
                <a:ext uri="{FF2B5EF4-FFF2-40B4-BE49-F238E27FC236}">
                  <a16:creationId xmlns:a16="http://schemas.microsoft.com/office/drawing/2014/main" id="{3C16AB1E-BFC2-4E2A-B807-96B08E95189C}"/>
                </a:ext>
              </a:extLst>
            </p:cNvPr>
            <p:cNvSpPr/>
            <p:nvPr/>
          </p:nvSpPr>
          <p:spPr>
            <a:xfrm flipH="1">
              <a:off x="6414209" y="5240415"/>
              <a:ext cx="209550" cy="188834"/>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419" name="자유형: 도형 418">
              <a:extLst>
                <a:ext uri="{FF2B5EF4-FFF2-40B4-BE49-F238E27FC236}">
                  <a16:creationId xmlns:a16="http://schemas.microsoft.com/office/drawing/2014/main" id="{CB006BF3-2E61-45F5-828B-10103F731226}"/>
                </a:ext>
              </a:extLst>
            </p:cNvPr>
            <p:cNvSpPr/>
            <p:nvPr/>
          </p:nvSpPr>
          <p:spPr>
            <a:xfrm flipH="1">
              <a:off x="6318074" y="4915150"/>
              <a:ext cx="315283" cy="514098"/>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420" name="TextBox 419">
              <a:extLst>
                <a:ext uri="{FF2B5EF4-FFF2-40B4-BE49-F238E27FC236}">
                  <a16:creationId xmlns:a16="http://schemas.microsoft.com/office/drawing/2014/main" id="{593768A7-DDEB-4B97-A89D-67735CCCA73A}"/>
                </a:ext>
              </a:extLst>
            </p:cNvPr>
            <p:cNvSpPr txBox="1"/>
            <p:nvPr/>
          </p:nvSpPr>
          <p:spPr>
            <a:xfrm>
              <a:off x="6797875" y="5027414"/>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sp>
          <p:nvSpPr>
            <p:cNvPr id="421" name="TextBox 420">
              <a:extLst>
                <a:ext uri="{FF2B5EF4-FFF2-40B4-BE49-F238E27FC236}">
                  <a16:creationId xmlns:a16="http://schemas.microsoft.com/office/drawing/2014/main" id="{09A8625B-064B-42AB-9C83-1BFA46E1C0F7}"/>
                </a:ext>
              </a:extLst>
            </p:cNvPr>
            <p:cNvSpPr txBox="1"/>
            <p:nvPr/>
          </p:nvSpPr>
          <p:spPr>
            <a:xfrm>
              <a:off x="6797875" y="5156127"/>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sp>
          <p:nvSpPr>
            <p:cNvPr id="422" name="TextBox 421">
              <a:extLst>
                <a:ext uri="{FF2B5EF4-FFF2-40B4-BE49-F238E27FC236}">
                  <a16:creationId xmlns:a16="http://schemas.microsoft.com/office/drawing/2014/main" id="{BE922CFD-CA13-4DE4-8D53-34153C9C132F}"/>
                </a:ext>
              </a:extLst>
            </p:cNvPr>
            <p:cNvSpPr txBox="1"/>
            <p:nvPr/>
          </p:nvSpPr>
          <p:spPr>
            <a:xfrm>
              <a:off x="6797875" y="5265831"/>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grpSp>
      <p:sp>
        <p:nvSpPr>
          <p:cNvPr id="508" name="TextBox 507">
            <a:extLst>
              <a:ext uri="{FF2B5EF4-FFF2-40B4-BE49-F238E27FC236}">
                <a16:creationId xmlns:a16="http://schemas.microsoft.com/office/drawing/2014/main" id="{9D57B60F-9860-4974-8BB9-7F1C718AD8D0}"/>
              </a:ext>
            </a:extLst>
          </p:cNvPr>
          <p:cNvSpPr txBox="1"/>
          <p:nvPr/>
        </p:nvSpPr>
        <p:spPr>
          <a:xfrm>
            <a:off x="8376739" y="5859102"/>
            <a:ext cx="1409993"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HBF</a:t>
            </a:r>
          </a:p>
        </p:txBody>
      </p:sp>
      <p:sp>
        <p:nvSpPr>
          <p:cNvPr id="568" name="Oval 630">
            <a:extLst>
              <a:ext uri="{FF2B5EF4-FFF2-40B4-BE49-F238E27FC236}">
                <a16:creationId xmlns:a16="http://schemas.microsoft.com/office/drawing/2014/main" id="{11966E42-1533-4A67-A402-6DE01A04A0E2}"/>
              </a:ext>
            </a:extLst>
          </p:cNvPr>
          <p:cNvSpPr>
            <a:spLocks noChangeArrowheads="1"/>
          </p:cNvSpPr>
          <p:nvPr/>
        </p:nvSpPr>
        <p:spPr bwMode="auto">
          <a:xfrm>
            <a:off x="8312586"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69" name="Oval 630">
            <a:extLst>
              <a:ext uri="{FF2B5EF4-FFF2-40B4-BE49-F238E27FC236}">
                <a16:creationId xmlns:a16="http://schemas.microsoft.com/office/drawing/2014/main" id="{10BB75F7-7067-4E2B-A583-B1F163610EE9}"/>
              </a:ext>
            </a:extLst>
          </p:cNvPr>
          <p:cNvSpPr>
            <a:spLocks noChangeArrowheads="1"/>
          </p:cNvSpPr>
          <p:nvPr/>
        </p:nvSpPr>
        <p:spPr bwMode="auto">
          <a:xfrm>
            <a:off x="8476138"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0" name="Oval 630">
            <a:extLst>
              <a:ext uri="{FF2B5EF4-FFF2-40B4-BE49-F238E27FC236}">
                <a16:creationId xmlns:a16="http://schemas.microsoft.com/office/drawing/2014/main" id="{8DE348E6-8E15-4FD6-8D89-2E1046AECF85}"/>
              </a:ext>
            </a:extLst>
          </p:cNvPr>
          <p:cNvSpPr>
            <a:spLocks noChangeArrowheads="1"/>
          </p:cNvSpPr>
          <p:nvPr/>
        </p:nvSpPr>
        <p:spPr bwMode="auto">
          <a:xfrm>
            <a:off x="8639690"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1" name="Oval 630">
            <a:extLst>
              <a:ext uri="{FF2B5EF4-FFF2-40B4-BE49-F238E27FC236}">
                <a16:creationId xmlns:a16="http://schemas.microsoft.com/office/drawing/2014/main" id="{C47A50A9-01B3-454D-87A2-BFAB598BCB70}"/>
              </a:ext>
            </a:extLst>
          </p:cNvPr>
          <p:cNvSpPr>
            <a:spLocks noChangeArrowheads="1"/>
          </p:cNvSpPr>
          <p:nvPr/>
        </p:nvSpPr>
        <p:spPr bwMode="auto">
          <a:xfrm>
            <a:off x="8803242"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2" name="Oval 630">
            <a:extLst>
              <a:ext uri="{FF2B5EF4-FFF2-40B4-BE49-F238E27FC236}">
                <a16:creationId xmlns:a16="http://schemas.microsoft.com/office/drawing/2014/main" id="{E2FCD20F-3405-4DFA-897F-96ACB34BFBEA}"/>
              </a:ext>
            </a:extLst>
          </p:cNvPr>
          <p:cNvSpPr>
            <a:spLocks noChangeArrowheads="1"/>
          </p:cNvSpPr>
          <p:nvPr/>
        </p:nvSpPr>
        <p:spPr bwMode="auto">
          <a:xfrm>
            <a:off x="8966794"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3" name="Oval 630">
            <a:extLst>
              <a:ext uri="{FF2B5EF4-FFF2-40B4-BE49-F238E27FC236}">
                <a16:creationId xmlns:a16="http://schemas.microsoft.com/office/drawing/2014/main" id="{EAA0E420-6250-449B-BC84-3760F8158ED7}"/>
              </a:ext>
            </a:extLst>
          </p:cNvPr>
          <p:cNvSpPr>
            <a:spLocks noChangeArrowheads="1"/>
          </p:cNvSpPr>
          <p:nvPr/>
        </p:nvSpPr>
        <p:spPr bwMode="auto">
          <a:xfrm>
            <a:off x="9130347"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4" name="Oval 630">
            <a:extLst>
              <a:ext uri="{FF2B5EF4-FFF2-40B4-BE49-F238E27FC236}">
                <a16:creationId xmlns:a16="http://schemas.microsoft.com/office/drawing/2014/main" id="{AB28B787-43BF-4322-8A28-BDF8799195DB}"/>
              </a:ext>
            </a:extLst>
          </p:cNvPr>
          <p:cNvSpPr>
            <a:spLocks noChangeArrowheads="1"/>
          </p:cNvSpPr>
          <p:nvPr/>
        </p:nvSpPr>
        <p:spPr bwMode="auto">
          <a:xfrm>
            <a:off x="9293899"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5" name="Oval 630">
            <a:extLst>
              <a:ext uri="{FF2B5EF4-FFF2-40B4-BE49-F238E27FC236}">
                <a16:creationId xmlns:a16="http://schemas.microsoft.com/office/drawing/2014/main" id="{1C026224-85A1-43B0-AEE3-8095FAE00AF9}"/>
              </a:ext>
            </a:extLst>
          </p:cNvPr>
          <p:cNvSpPr>
            <a:spLocks noChangeArrowheads="1"/>
          </p:cNvSpPr>
          <p:nvPr/>
        </p:nvSpPr>
        <p:spPr bwMode="auto">
          <a:xfrm>
            <a:off x="9457451"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6" name="Oval 630">
            <a:extLst>
              <a:ext uri="{FF2B5EF4-FFF2-40B4-BE49-F238E27FC236}">
                <a16:creationId xmlns:a16="http://schemas.microsoft.com/office/drawing/2014/main" id="{30337726-A25A-4C7B-9E79-FF9FFFCAC552}"/>
              </a:ext>
            </a:extLst>
          </p:cNvPr>
          <p:cNvSpPr>
            <a:spLocks noChangeArrowheads="1"/>
          </p:cNvSpPr>
          <p:nvPr/>
        </p:nvSpPr>
        <p:spPr bwMode="auto">
          <a:xfrm>
            <a:off x="9621005" y="5630789"/>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10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7" name="직사각형 576">
            <a:extLst>
              <a:ext uri="{FF2B5EF4-FFF2-40B4-BE49-F238E27FC236}">
                <a16:creationId xmlns:a16="http://schemas.microsoft.com/office/drawing/2014/main" id="{DD903027-021F-47E8-A933-CE55D59163B4}"/>
              </a:ext>
            </a:extLst>
          </p:cNvPr>
          <p:cNvSpPr/>
          <p:nvPr/>
        </p:nvSpPr>
        <p:spPr>
          <a:xfrm>
            <a:off x="8300668" y="5548717"/>
            <a:ext cx="1470284" cy="114820"/>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rPr>
              <a:t>Substrate</a:t>
            </a:r>
            <a:endParaRPr kumimoji="0" lang="ko-KR" altLang="en-US"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578" name="Oval 630">
            <a:extLst>
              <a:ext uri="{FF2B5EF4-FFF2-40B4-BE49-F238E27FC236}">
                <a16:creationId xmlns:a16="http://schemas.microsoft.com/office/drawing/2014/main" id="{3007FDA8-AC85-439E-BDD0-E1E58DD79271}"/>
              </a:ext>
            </a:extLst>
          </p:cNvPr>
          <p:cNvSpPr>
            <a:spLocks noChangeArrowheads="1"/>
          </p:cNvSpPr>
          <p:nvPr/>
        </p:nvSpPr>
        <p:spPr bwMode="auto">
          <a:xfrm>
            <a:off x="858888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9" name="Oval 630">
            <a:extLst>
              <a:ext uri="{FF2B5EF4-FFF2-40B4-BE49-F238E27FC236}">
                <a16:creationId xmlns:a16="http://schemas.microsoft.com/office/drawing/2014/main" id="{D2D71757-9036-4671-AA85-119014FA2E65}"/>
              </a:ext>
            </a:extLst>
          </p:cNvPr>
          <p:cNvSpPr>
            <a:spLocks noChangeArrowheads="1"/>
          </p:cNvSpPr>
          <p:nvPr/>
        </p:nvSpPr>
        <p:spPr bwMode="auto">
          <a:xfrm>
            <a:off x="869313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0" name="Oval 630">
            <a:extLst>
              <a:ext uri="{FF2B5EF4-FFF2-40B4-BE49-F238E27FC236}">
                <a16:creationId xmlns:a16="http://schemas.microsoft.com/office/drawing/2014/main" id="{0106AEAA-9B6F-43A8-BCF9-43B2DC35C1C0}"/>
              </a:ext>
            </a:extLst>
          </p:cNvPr>
          <p:cNvSpPr>
            <a:spLocks noChangeArrowheads="1"/>
          </p:cNvSpPr>
          <p:nvPr/>
        </p:nvSpPr>
        <p:spPr bwMode="auto">
          <a:xfrm>
            <a:off x="879738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1" name="Oval 630">
            <a:extLst>
              <a:ext uri="{FF2B5EF4-FFF2-40B4-BE49-F238E27FC236}">
                <a16:creationId xmlns:a16="http://schemas.microsoft.com/office/drawing/2014/main" id="{9C658006-C1B9-424E-B898-8C57C56DB61C}"/>
              </a:ext>
            </a:extLst>
          </p:cNvPr>
          <p:cNvSpPr>
            <a:spLocks noChangeArrowheads="1"/>
          </p:cNvSpPr>
          <p:nvPr/>
        </p:nvSpPr>
        <p:spPr bwMode="auto">
          <a:xfrm>
            <a:off x="890163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2" name="Oval 630">
            <a:extLst>
              <a:ext uri="{FF2B5EF4-FFF2-40B4-BE49-F238E27FC236}">
                <a16:creationId xmlns:a16="http://schemas.microsoft.com/office/drawing/2014/main" id="{F4282C0D-D2C0-4454-B4BF-E50ADD70168F}"/>
              </a:ext>
            </a:extLst>
          </p:cNvPr>
          <p:cNvSpPr>
            <a:spLocks noChangeArrowheads="1"/>
          </p:cNvSpPr>
          <p:nvPr/>
        </p:nvSpPr>
        <p:spPr bwMode="auto">
          <a:xfrm>
            <a:off x="900588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3" name="Oval 630">
            <a:extLst>
              <a:ext uri="{FF2B5EF4-FFF2-40B4-BE49-F238E27FC236}">
                <a16:creationId xmlns:a16="http://schemas.microsoft.com/office/drawing/2014/main" id="{499B4ADF-87DF-4684-A08D-6A7B6D3543CE}"/>
              </a:ext>
            </a:extLst>
          </p:cNvPr>
          <p:cNvSpPr>
            <a:spLocks noChangeArrowheads="1"/>
          </p:cNvSpPr>
          <p:nvPr/>
        </p:nvSpPr>
        <p:spPr bwMode="auto">
          <a:xfrm>
            <a:off x="911013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4" name="Oval 630">
            <a:extLst>
              <a:ext uri="{FF2B5EF4-FFF2-40B4-BE49-F238E27FC236}">
                <a16:creationId xmlns:a16="http://schemas.microsoft.com/office/drawing/2014/main" id="{D44BAB4D-4C1C-4D17-870D-3467683215D0}"/>
              </a:ext>
            </a:extLst>
          </p:cNvPr>
          <p:cNvSpPr>
            <a:spLocks noChangeArrowheads="1"/>
          </p:cNvSpPr>
          <p:nvPr/>
        </p:nvSpPr>
        <p:spPr bwMode="auto">
          <a:xfrm>
            <a:off x="921438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5" name="Oval 630">
            <a:extLst>
              <a:ext uri="{FF2B5EF4-FFF2-40B4-BE49-F238E27FC236}">
                <a16:creationId xmlns:a16="http://schemas.microsoft.com/office/drawing/2014/main" id="{3FF2EDD0-7C52-40F8-A2E2-D89D5B602A30}"/>
              </a:ext>
            </a:extLst>
          </p:cNvPr>
          <p:cNvSpPr>
            <a:spLocks noChangeArrowheads="1"/>
          </p:cNvSpPr>
          <p:nvPr/>
        </p:nvSpPr>
        <p:spPr bwMode="auto">
          <a:xfrm>
            <a:off x="9318631"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6" name="Oval 630">
            <a:extLst>
              <a:ext uri="{FF2B5EF4-FFF2-40B4-BE49-F238E27FC236}">
                <a16:creationId xmlns:a16="http://schemas.microsoft.com/office/drawing/2014/main" id="{7CDE7E67-9214-4DBE-B723-BF5F6F0336B6}"/>
              </a:ext>
            </a:extLst>
          </p:cNvPr>
          <p:cNvSpPr>
            <a:spLocks noChangeArrowheads="1"/>
          </p:cNvSpPr>
          <p:nvPr/>
        </p:nvSpPr>
        <p:spPr bwMode="auto">
          <a:xfrm>
            <a:off x="9422882" y="5497374"/>
            <a:ext cx="65681" cy="51509"/>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algn="l" defTabSz="1038951"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94" name="직사각형 593">
            <a:extLst>
              <a:ext uri="{FF2B5EF4-FFF2-40B4-BE49-F238E27FC236}">
                <a16:creationId xmlns:a16="http://schemas.microsoft.com/office/drawing/2014/main" id="{493735AA-D8BB-433E-BC75-65A9DCB8AFFE}"/>
              </a:ext>
            </a:extLst>
          </p:cNvPr>
          <p:cNvSpPr/>
          <p:nvPr/>
        </p:nvSpPr>
        <p:spPr>
          <a:xfrm>
            <a:off x="8540459" y="5166271"/>
            <a:ext cx="1010125"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595" name="직사각형 594">
            <a:extLst>
              <a:ext uri="{FF2B5EF4-FFF2-40B4-BE49-F238E27FC236}">
                <a16:creationId xmlns:a16="http://schemas.microsoft.com/office/drawing/2014/main" id="{23F8B2BC-D4B6-4361-BA5A-A0AAEBC823AC}"/>
              </a:ext>
            </a:extLst>
          </p:cNvPr>
          <p:cNvSpPr/>
          <p:nvPr/>
        </p:nvSpPr>
        <p:spPr>
          <a:xfrm>
            <a:off x="8540459" y="5047056"/>
            <a:ext cx="1010125"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596" name="직사각형 595">
            <a:extLst>
              <a:ext uri="{FF2B5EF4-FFF2-40B4-BE49-F238E27FC236}">
                <a16:creationId xmlns:a16="http://schemas.microsoft.com/office/drawing/2014/main" id="{1665103E-F9A3-4814-B630-E621396C869E}"/>
              </a:ext>
            </a:extLst>
          </p:cNvPr>
          <p:cNvSpPr/>
          <p:nvPr/>
        </p:nvSpPr>
        <p:spPr>
          <a:xfrm>
            <a:off x="8540459" y="4924394"/>
            <a:ext cx="1010125"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597" name="직사각형 596">
            <a:extLst>
              <a:ext uri="{FF2B5EF4-FFF2-40B4-BE49-F238E27FC236}">
                <a16:creationId xmlns:a16="http://schemas.microsoft.com/office/drawing/2014/main" id="{C21CCED9-FCBE-43D5-A32E-5E1E98A6579B}"/>
              </a:ext>
            </a:extLst>
          </p:cNvPr>
          <p:cNvSpPr/>
          <p:nvPr/>
        </p:nvSpPr>
        <p:spPr>
          <a:xfrm>
            <a:off x="8540459" y="4778310"/>
            <a:ext cx="1010125" cy="148185"/>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600" name="직선 연결선 599">
            <a:extLst>
              <a:ext uri="{FF2B5EF4-FFF2-40B4-BE49-F238E27FC236}">
                <a16:creationId xmlns:a16="http://schemas.microsoft.com/office/drawing/2014/main" id="{B231275E-CCB1-4779-9096-AF1369AA8655}"/>
              </a:ext>
            </a:extLst>
          </p:cNvPr>
          <p:cNvCxnSpPr>
            <a:cxnSpLocks/>
          </p:cNvCxnSpPr>
          <p:nvPr/>
        </p:nvCxnSpPr>
        <p:spPr>
          <a:xfrm>
            <a:off x="9464213" y="4925653"/>
            <a:ext cx="0" cy="120085"/>
          </a:xfrm>
          <a:prstGeom prst="line">
            <a:avLst/>
          </a:prstGeom>
          <a:solidFill>
            <a:srgbClr val="4472C4"/>
          </a:solidFill>
          <a:ln w="28575" cap="flat" cmpd="sng" algn="ctr">
            <a:solidFill>
              <a:srgbClr val="FFFF00"/>
            </a:solidFill>
            <a:prstDash val="solid"/>
          </a:ln>
          <a:effectLst/>
        </p:spPr>
      </p:cxnSp>
      <p:cxnSp>
        <p:nvCxnSpPr>
          <p:cNvPr id="601" name="직선 연결선 600">
            <a:extLst>
              <a:ext uri="{FF2B5EF4-FFF2-40B4-BE49-F238E27FC236}">
                <a16:creationId xmlns:a16="http://schemas.microsoft.com/office/drawing/2014/main" id="{120B02D2-2FE5-441A-9FF1-71149C5E8FB6}"/>
              </a:ext>
            </a:extLst>
          </p:cNvPr>
          <p:cNvCxnSpPr>
            <a:cxnSpLocks/>
          </p:cNvCxnSpPr>
          <p:nvPr/>
        </p:nvCxnSpPr>
        <p:spPr>
          <a:xfrm>
            <a:off x="9372130" y="4925653"/>
            <a:ext cx="0" cy="120085"/>
          </a:xfrm>
          <a:prstGeom prst="line">
            <a:avLst/>
          </a:prstGeom>
          <a:solidFill>
            <a:srgbClr val="4472C4"/>
          </a:solidFill>
          <a:ln w="28575" cap="flat" cmpd="sng" algn="ctr">
            <a:solidFill>
              <a:srgbClr val="FFFF00"/>
            </a:solidFill>
            <a:prstDash val="solid"/>
          </a:ln>
          <a:effectLst/>
        </p:spPr>
      </p:cxnSp>
      <p:cxnSp>
        <p:nvCxnSpPr>
          <p:cNvPr id="602" name="직선 연결선 601">
            <a:extLst>
              <a:ext uri="{FF2B5EF4-FFF2-40B4-BE49-F238E27FC236}">
                <a16:creationId xmlns:a16="http://schemas.microsoft.com/office/drawing/2014/main" id="{9C307935-1CE1-416F-8480-FBF5582D06EE}"/>
              </a:ext>
            </a:extLst>
          </p:cNvPr>
          <p:cNvCxnSpPr>
            <a:cxnSpLocks/>
          </p:cNvCxnSpPr>
          <p:nvPr/>
        </p:nvCxnSpPr>
        <p:spPr>
          <a:xfrm>
            <a:off x="8727540" y="4925653"/>
            <a:ext cx="0" cy="120085"/>
          </a:xfrm>
          <a:prstGeom prst="line">
            <a:avLst/>
          </a:prstGeom>
          <a:solidFill>
            <a:srgbClr val="4472C4"/>
          </a:solidFill>
          <a:ln w="28575" cap="flat" cmpd="sng" algn="ctr">
            <a:solidFill>
              <a:srgbClr val="FFFF00"/>
            </a:solidFill>
            <a:prstDash val="solid"/>
          </a:ln>
          <a:effectLst/>
        </p:spPr>
      </p:cxnSp>
      <p:cxnSp>
        <p:nvCxnSpPr>
          <p:cNvPr id="603" name="직선 연결선 602">
            <a:extLst>
              <a:ext uri="{FF2B5EF4-FFF2-40B4-BE49-F238E27FC236}">
                <a16:creationId xmlns:a16="http://schemas.microsoft.com/office/drawing/2014/main" id="{7A01B0A8-07D9-481A-8140-792081C35D93}"/>
              </a:ext>
            </a:extLst>
          </p:cNvPr>
          <p:cNvCxnSpPr>
            <a:cxnSpLocks/>
          </p:cNvCxnSpPr>
          <p:nvPr/>
        </p:nvCxnSpPr>
        <p:spPr>
          <a:xfrm>
            <a:off x="8635455" y="4925653"/>
            <a:ext cx="0" cy="120085"/>
          </a:xfrm>
          <a:prstGeom prst="line">
            <a:avLst/>
          </a:prstGeom>
          <a:solidFill>
            <a:srgbClr val="4472C4"/>
          </a:solidFill>
          <a:ln w="28575" cap="flat" cmpd="sng" algn="ctr">
            <a:solidFill>
              <a:srgbClr val="FFFF00"/>
            </a:solidFill>
            <a:prstDash val="solid"/>
          </a:ln>
          <a:effectLst/>
        </p:spPr>
      </p:cxnSp>
      <p:sp>
        <p:nvSpPr>
          <p:cNvPr id="604" name="직사각형 603">
            <a:extLst>
              <a:ext uri="{FF2B5EF4-FFF2-40B4-BE49-F238E27FC236}">
                <a16:creationId xmlns:a16="http://schemas.microsoft.com/office/drawing/2014/main" id="{10693973-1284-4C43-BF54-C19D25993511}"/>
              </a:ext>
            </a:extLst>
          </p:cNvPr>
          <p:cNvSpPr/>
          <p:nvPr/>
        </p:nvSpPr>
        <p:spPr>
          <a:xfrm>
            <a:off x="8540459" y="5285870"/>
            <a:ext cx="1010125" cy="121314"/>
          </a:xfrm>
          <a:prstGeom prst="rect">
            <a:avLst/>
          </a:prstGeom>
          <a:solidFill>
            <a:srgbClr val="FFC000">
              <a:lumMod val="40000"/>
              <a:lumOff val="60000"/>
            </a:srgbClr>
          </a:solidFill>
          <a:ln w="12700" cap="flat" cmpd="sng" algn="ctr">
            <a:solidFill>
              <a:sysClr val="windowText" lastClr="000000"/>
            </a:solidFill>
            <a:prstDash val="sysDash"/>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cxnSp>
        <p:nvCxnSpPr>
          <p:cNvPr id="605" name="직선 연결선 604">
            <a:extLst>
              <a:ext uri="{FF2B5EF4-FFF2-40B4-BE49-F238E27FC236}">
                <a16:creationId xmlns:a16="http://schemas.microsoft.com/office/drawing/2014/main" id="{86BECF9D-2AB3-4287-9B08-E2C21963E4CD}"/>
              </a:ext>
            </a:extLst>
          </p:cNvPr>
          <p:cNvCxnSpPr>
            <a:cxnSpLocks/>
          </p:cNvCxnSpPr>
          <p:nvPr/>
        </p:nvCxnSpPr>
        <p:spPr>
          <a:xfrm>
            <a:off x="8911708" y="4925653"/>
            <a:ext cx="0" cy="120085"/>
          </a:xfrm>
          <a:prstGeom prst="line">
            <a:avLst/>
          </a:prstGeom>
          <a:solidFill>
            <a:srgbClr val="4472C4"/>
          </a:solidFill>
          <a:ln w="28575" cap="flat" cmpd="sng" algn="ctr">
            <a:solidFill>
              <a:srgbClr val="FFFF00"/>
            </a:solidFill>
            <a:prstDash val="solid"/>
          </a:ln>
          <a:effectLst/>
        </p:spPr>
      </p:cxnSp>
      <p:cxnSp>
        <p:nvCxnSpPr>
          <p:cNvPr id="606" name="직선 연결선 605">
            <a:extLst>
              <a:ext uri="{FF2B5EF4-FFF2-40B4-BE49-F238E27FC236}">
                <a16:creationId xmlns:a16="http://schemas.microsoft.com/office/drawing/2014/main" id="{5E3C525A-93F1-460B-9860-BD8B6D8021D9}"/>
              </a:ext>
            </a:extLst>
          </p:cNvPr>
          <p:cNvCxnSpPr>
            <a:cxnSpLocks/>
          </p:cNvCxnSpPr>
          <p:nvPr/>
        </p:nvCxnSpPr>
        <p:spPr>
          <a:xfrm>
            <a:off x="8819624" y="4925653"/>
            <a:ext cx="0" cy="120085"/>
          </a:xfrm>
          <a:prstGeom prst="line">
            <a:avLst/>
          </a:prstGeom>
          <a:solidFill>
            <a:srgbClr val="4472C4"/>
          </a:solidFill>
          <a:ln w="28575" cap="flat" cmpd="sng" algn="ctr">
            <a:solidFill>
              <a:srgbClr val="FFFF00"/>
            </a:solidFill>
            <a:prstDash val="solid"/>
          </a:ln>
          <a:effectLst/>
        </p:spPr>
      </p:cxnSp>
      <p:cxnSp>
        <p:nvCxnSpPr>
          <p:cNvPr id="607" name="직선 연결선 606">
            <a:extLst>
              <a:ext uri="{FF2B5EF4-FFF2-40B4-BE49-F238E27FC236}">
                <a16:creationId xmlns:a16="http://schemas.microsoft.com/office/drawing/2014/main" id="{D7672301-0262-4311-8FFC-33BDE0CF1989}"/>
              </a:ext>
            </a:extLst>
          </p:cNvPr>
          <p:cNvCxnSpPr>
            <a:cxnSpLocks/>
          </p:cNvCxnSpPr>
          <p:nvPr/>
        </p:nvCxnSpPr>
        <p:spPr>
          <a:xfrm>
            <a:off x="9095878" y="4925653"/>
            <a:ext cx="0" cy="120085"/>
          </a:xfrm>
          <a:prstGeom prst="line">
            <a:avLst/>
          </a:prstGeom>
          <a:solidFill>
            <a:srgbClr val="4472C4"/>
          </a:solidFill>
          <a:ln w="28575" cap="flat" cmpd="sng" algn="ctr">
            <a:solidFill>
              <a:srgbClr val="FFFF00"/>
            </a:solidFill>
            <a:prstDash val="solid"/>
          </a:ln>
          <a:effectLst/>
        </p:spPr>
      </p:cxnSp>
      <p:cxnSp>
        <p:nvCxnSpPr>
          <p:cNvPr id="608" name="직선 연결선 607">
            <a:extLst>
              <a:ext uri="{FF2B5EF4-FFF2-40B4-BE49-F238E27FC236}">
                <a16:creationId xmlns:a16="http://schemas.microsoft.com/office/drawing/2014/main" id="{80C1AD68-86B4-4438-8F61-2A620496FD11}"/>
              </a:ext>
            </a:extLst>
          </p:cNvPr>
          <p:cNvCxnSpPr>
            <a:cxnSpLocks/>
          </p:cNvCxnSpPr>
          <p:nvPr/>
        </p:nvCxnSpPr>
        <p:spPr>
          <a:xfrm>
            <a:off x="9003792" y="4925653"/>
            <a:ext cx="0" cy="120085"/>
          </a:xfrm>
          <a:prstGeom prst="line">
            <a:avLst/>
          </a:prstGeom>
          <a:solidFill>
            <a:srgbClr val="4472C4"/>
          </a:solidFill>
          <a:ln w="28575" cap="flat" cmpd="sng" algn="ctr">
            <a:solidFill>
              <a:srgbClr val="FFFF00"/>
            </a:solidFill>
            <a:prstDash val="solid"/>
          </a:ln>
          <a:effectLst/>
        </p:spPr>
      </p:cxnSp>
      <p:cxnSp>
        <p:nvCxnSpPr>
          <p:cNvPr id="609" name="직선 연결선 608">
            <a:extLst>
              <a:ext uri="{FF2B5EF4-FFF2-40B4-BE49-F238E27FC236}">
                <a16:creationId xmlns:a16="http://schemas.microsoft.com/office/drawing/2014/main" id="{E6EAF2DF-B6B8-4CC7-8D4A-4F7682EB6845}"/>
              </a:ext>
            </a:extLst>
          </p:cNvPr>
          <p:cNvCxnSpPr>
            <a:cxnSpLocks/>
          </p:cNvCxnSpPr>
          <p:nvPr/>
        </p:nvCxnSpPr>
        <p:spPr>
          <a:xfrm>
            <a:off x="9280046" y="4925653"/>
            <a:ext cx="0" cy="120085"/>
          </a:xfrm>
          <a:prstGeom prst="line">
            <a:avLst/>
          </a:prstGeom>
          <a:solidFill>
            <a:srgbClr val="4472C4"/>
          </a:solidFill>
          <a:ln w="28575" cap="flat" cmpd="sng" algn="ctr">
            <a:solidFill>
              <a:srgbClr val="FFFF00"/>
            </a:solidFill>
            <a:prstDash val="solid"/>
          </a:ln>
          <a:effectLst/>
        </p:spPr>
      </p:cxnSp>
      <p:cxnSp>
        <p:nvCxnSpPr>
          <p:cNvPr id="610" name="직선 연결선 609">
            <a:extLst>
              <a:ext uri="{FF2B5EF4-FFF2-40B4-BE49-F238E27FC236}">
                <a16:creationId xmlns:a16="http://schemas.microsoft.com/office/drawing/2014/main" id="{DF45F873-3D6D-4C00-8BA8-391AC8DC7E80}"/>
              </a:ext>
            </a:extLst>
          </p:cNvPr>
          <p:cNvCxnSpPr>
            <a:cxnSpLocks/>
          </p:cNvCxnSpPr>
          <p:nvPr/>
        </p:nvCxnSpPr>
        <p:spPr>
          <a:xfrm>
            <a:off x="9187962" y="4925653"/>
            <a:ext cx="0" cy="120085"/>
          </a:xfrm>
          <a:prstGeom prst="line">
            <a:avLst/>
          </a:prstGeom>
          <a:solidFill>
            <a:srgbClr val="4472C4"/>
          </a:solidFill>
          <a:ln w="28575" cap="flat" cmpd="sng" algn="ctr">
            <a:solidFill>
              <a:srgbClr val="FFFF00"/>
            </a:solidFill>
            <a:prstDash val="solid"/>
          </a:ln>
          <a:effectLst/>
        </p:spPr>
      </p:cxnSp>
      <p:cxnSp>
        <p:nvCxnSpPr>
          <p:cNvPr id="611" name="직선 연결선 610">
            <a:extLst>
              <a:ext uri="{FF2B5EF4-FFF2-40B4-BE49-F238E27FC236}">
                <a16:creationId xmlns:a16="http://schemas.microsoft.com/office/drawing/2014/main" id="{3A1F415A-F24A-4189-AA45-EF4768FCBE1A}"/>
              </a:ext>
            </a:extLst>
          </p:cNvPr>
          <p:cNvCxnSpPr>
            <a:cxnSpLocks/>
          </p:cNvCxnSpPr>
          <p:nvPr/>
        </p:nvCxnSpPr>
        <p:spPr>
          <a:xfrm>
            <a:off x="9464213" y="5049070"/>
            <a:ext cx="0" cy="120085"/>
          </a:xfrm>
          <a:prstGeom prst="line">
            <a:avLst/>
          </a:prstGeom>
          <a:solidFill>
            <a:srgbClr val="4472C4"/>
          </a:solidFill>
          <a:ln w="28575" cap="flat" cmpd="sng" algn="ctr">
            <a:solidFill>
              <a:srgbClr val="FFFF00"/>
            </a:solidFill>
            <a:prstDash val="solid"/>
          </a:ln>
          <a:effectLst/>
        </p:spPr>
      </p:cxnSp>
      <p:cxnSp>
        <p:nvCxnSpPr>
          <p:cNvPr id="612" name="직선 연결선 611">
            <a:extLst>
              <a:ext uri="{FF2B5EF4-FFF2-40B4-BE49-F238E27FC236}">
                <a16:creationId xmlns:a16="http://schemas.microsoft.com/office/drawing/2014/main" id="{C3A0779E-57BE-410F-9331-36E2BC53E492}"/>
              </a:ext>
            </a:extLst>
          </p:cNvPr>
          <p:cNvCxnSpPr>
            <a:cxnSpLocks/>
          </p:cNvCxnSpPr>
          <p:nvPr/>
        </p:nvCxnSpPr>
        <p:spPr>
          <a:xfrm>
            <a:off x="9372130" y="5049070"/>
            <a:ext cx="0" cy="120085"/>
          </a:xfrm>
          <a:prstGeom prst="line">
            <a:avLst/>
          </a:prstGeom>
          <a:solidFill>
            <a:srgbClr val="4472C4"/>
          </a:solidFill>
          <a:ln w="28575" cap="flat" cmpd="sng" algn="ctr">
            <a:solidFill>
              <a:srgbClr val="FFFF00"/>
            </a:solidFill>
            <a:prstDash val="solid"/>
          </a:ln>
          <a:effectLst/>
        </p:spPr>
      </p:cxnSp>
      <p:cxnSp>
        <p:nvCxnSpPr>
          <p:cNvPr id="613" name="직선 연결선 612">
            <a:extLst>
              <a:ext uri="{FF2B5EF4-FFF2-40B4-BE49-F238E27FC236}">
                <a16:creationId xmlns:a16="http://schemas.microsoft.com/office/drawing/2014/main" id="{96E4395B-0147-404A-95BE-D91068F473D8}"/>
              </a:ext>
            </a:extLst>
          </p:cNvPr>
          <p:cNvCxnSpPr>
            <a:cxnSpLocks/>
          </p:cNvCxnSpPr>
          <p:nvPr/>
        </p:nvCxnSpPr>
        <p:spPr>
          <a:xfrm>
            <a:off x="8727540" y="5049070"/>
            <a:ext cx="0" cy="120085"/>
          </a:xfrm>
          <a:prstGeom prst="line">
            <a:avLst/>
          </a:prstGeom>
          <a:solidFill>
            <a:srgbClr val="4472C4"/>
          </a:solidFill>
          <a:ln w="28575" cap="flat" cmpd="sng" algn="ctr">
            <a:solidFill>
              <a:srgbClr val="FFFF00"/>
            </a:solidFill>
            <a:prstDash val="solid"/>
          </a:ln>
          <a:effectLst/>
        </p:spPr>
      </p:cxnSp>
      <p:cxnSp>
        <p:nvCxnSpPr>
          <p:cNvPr id="614" name="직선 연결선 613">
            <a:extLst>
              <a:ext uri="{FF2B5EF4-FFF2-40B4-BE49-F238E27FC236}">
                <a16:creationId xmlns:a16="http://schemas.microsoft.com/office/drawing/2014/main" id="{E9A67081-24BD-4A35-87EA-ACA43B3E1C96}"/>
              </a:ext>
            </a:extLst>
          </p:cNvPr>
          <p:cNvCxnSpPr>
            <a:cxnSpLocks/>
          </p:cNvCxnSpPr>
          <p:nvPr/>
        </p:nvCxnSpPr>
        <p:spPr>
          <a:xfrm>
            <a:off x="8635455" y="5049070"/>
            <a:ext cx="0" cy="120085"/>
          </a:xfrm>
          <a:prstGeom prst="line">
            <a:avLst/>
          </a:prstGeom>
          <a:solidFill>
            <a:srgbClr val="4472C4"/>
          </a:solidFill>
          <a:ln w="28575" cap="flat" cmpd="sng" algn="ctr">
            <a:solidFill>
              <a:srgbClr val="FFFF00"/>
            </a:solidFill>
            <a:prstDash val="solid"/>
          </a:ln>
          <a:effectLst/>
        </p:spPr>
      </p:cxnSp>
      <p:cxnSp>
        <p:nvCxnSpPr>
          <p:cNvPr id="615" name="직선 연결선 614">
            <a:extLst>
              <a:ext uri="{FF2B5EF4-FFF2-40B4-BE49-F238E27FC236}">
                <a16:creationId xmlns:a16="http://schemas.microsoft.com/office/drawing/2014/main" id="{239DD058-CE52-4BF3-AF92-8D78814EFDCB}"/>
              </a:ext>
            </a:extLst>
          </p:cNvPr>
          <p:cNvCxnSpPr>
            <a:cxnSpLocks/>
          </p:cNvCxnSpPr>
          <p:nvPr/>
        </p:nvCxnSpPr>
        <p:spPr>
          <a:xfrm>
            <a:off x="8911708" y="5049070"/>
            <a:ext cx="0" cy="120085"/>
          </a:xfrm>
          <a:prstGeom prst="line">
            <a:avLst/>
          </a:prstGeom>
          <a:solidFill>
            <a:srgbClr val="4472C4"/>
          </a:solidFill>
          <a:ln w="28575" cap="flat" cmpd="sng" algn="ctr">
            <a:solidFill>
              <a:srgbClr val="FFFF00"/>
            </a:solidFill>
            <a:prstDash val="solid"/>
          </a:ln>
          <a:effectLst/>
        </p:spPr>
      </p:cxnSp>
      <p:cxnSp>
        <p:nvCxnSpPr>
          <p:cNvPr id="616" name="직선 연결선 615">
            <a:extLst>
              <a:ext uri="{FF2B5EF4-FFF2-40B4-BE49-F238E27FC236}">
                <a16:creationId xmlns:a16="http://schemas.microsoft.com/office/drawing/2014/main" id="{CE91B523-5E07-475F-B1EA-45A95E0810C3}"/>
              </a:ext>
            </a:extLst>
          </p:cNvPr>
          <p:cNvCxnSpPr>
            <a:cxnSpLocks/>
          </p:cNvCxnSpPr>
          <p:nvPr/>
        </p:nvCxnSpPr>
        <p:spPr>
          <a:xfrm>
            <a:off x="8819624" y="5049070"/>
            <a:ext cx="0" cy="120085"/>
          </a:xfrm>
          <a:prstGeom prst="line">
            <a:avLst/>
          </a:prstGeom>
          <a:solidFill>
            <a:srgbClr val="4472C4"/>
          </a:solidFill>
          <a:ln w="28575" cap="flat" cmpd="sng" algn="ctr">
            <a:solidFill>
              <a:srgbClr val="FFFF00"/>
            </a:solidFill>
            <a:prstDash val="solid"/>
          </a:ln>
          <a:effectLst/>
        </p:spPr>
      </p:cxnSp>
      <p:cxnSp>
        <p:nvCxnSpPr>
          <p:cNvPr id="617" name="직선 연결선 616">
            <a:extLst>
              <a:ext uri="{FF2B5EF4-FFF2-40B4-BE49-F238E27FC236}">
                <a16:creationId xmlns:a16="http://schemas.microsoft.com/office/drawing/2014/main" id="{0EEB7563-5545-4215-827C-C12CBA4FC680}"/>
              </a:ext>
            </a:extLst>
          </p:cNvPr>
          <p:cNvCxnSpPr>
            <a:cxnSpLocks/>
          </p:cNvCxnSpPr>
          <p:nvPr/>
        </p:nvCxnSpPr>
        <p:spPr>
          <a:xfrm>
            <a:off x="9095878" y="5049070"/>
            <a:ext cx="0" cy="120085"/>
          </a:xfrm>
          <a:prstGeom prst="line">
            <a:avLst/>
          </a:prstGeom>
          <a:solidFill>
            <a:srgbClr val="4472C4"/>
          </a:solidFill>
          <a:ln w="28575" cap="flat" cmpd="sng" algn="ctr">
            <a:solidFill>
              <a:srgbClr val="FFFF00"/>
            </a:solidFill>
            <a:prstDash val="solid"/>
          </a:ln>
          <a:effectLst/>
        </p:spPr>
      </p:cxnSp>
      <p:cxnSp>
        <p:nvCxnSpPr>
          <p:cNvPr id="618" name="직선 연결선 617">
            <a:extLst>
              <a:ext uri="{FF2B5EF4-FFF2-40B4-BE49-F238E27FC236}">
                <a16:creationId xmlns:a16="http://schemas.microsoft.com/office/drawing/2014/main" id="{4FA99D2C-F515-49EB-B5F1-874E7B0973BE}"/>
              </a:ext>
            </a:extLst>
          </p:cNvPr>
          <p:cNvCxnSpPr>
            <a:cxnSpLocks/>
          </p:cNvCxnSpPr>
          <p:nvPr/>
        </p:nvCxnSpPr>
        <p:spPr>
          <a:xfrm>
            <a:off x="9003792" y="5049070"/>
            <a:ext cx="0" cy="120085"/>
          </a:xfrm>
          <a:prstGeom prst="line">
            <a:avLst/>
          </a:prstGeom>
          <a:solidFill>
            <a:srgbClr val="4472C4"/>
          </a:solidFill>
          <a:ln w="28575" cap="flat" cmpd="sng" algn="ctr">
            <a:solidFill>
              <a:srgbClr val="FFFF00"/>
            </a:solidFill>
            <a:prstDash val="solid"/>
          </a:ln>
          <a:effectLst/>
        </p:spPr>
      </p:cxnSp>
      <p:cxnSp>
        <p:nvCxnSpPr>
          <p:cNvPr id="619" name="직선 연결선 618">
            <a:extLst>
              <a:ext uri="{FF2B5EF4-FFF2-40B4-BE49-F238E27FC236}">
                <a16:creationId xmlns:a16="http://schemas.microsoft.com/office/drawing/2014/main" id="{AB32E38C-D7F5-4C2B-AE9E-F9793E016E71}"/>
              </a:ext>
            </a:extLst>
          </p:cNvPr>
          <p:cNvCxnSpPr>
            <a:cxnSpLocks/>
          </p:cNvCxnSpPr>
          <p:nvPr/>
        </p:nvCxnSpPr>
        <p:spPr>
          <a:xfrm>
            <a:off x="9280046" y="5049070"/>
            <a:ext cx="0" cy="120085"/>
          </a:xfrm>
          <a:prstGeom prst="line">
            <a:avLst/>
          </a:prstGeom>
          <a:solidFill>
            <a:srgbClr val="4472C4"/>
          </a:solidFill>
          <a:ln w="28575" cap="flat" cmpd="sng" algn="ctr">
            <a:solidFill>
              <a:srgbClr val="FFFF00"/>
            </a:solidFill>
            <a:prstDash val="solid"/>
          </a:ln>
          <a:effectLst/>
        </p:spPr>
      </p:cxnSp>
      <p:cxnSp>
        <p:nvCxnSpPr>
          <p:cNvPr id="620" name="직선 연결선 619">
            <a:extLst>
              <a:ext uri="{FF2B5EF4-FFF2-40B4-BE49-F238E27FC236}">
                <a16:creationId xmlns:a16="http://schemas.microsoft.com/office/drawing/2014/main" id="{020D07EC-44FB-4E2D-BF74-5235F4E3B246}"/>
              </a:ext>
            </a:extLst>
          </p:cNvPr>
          <p:cNvCxnSpPr>
            <a:cxnSpLocks/>
          </p:cNvCxnSpPr>
          <p:nvPr/>
        </p:nvCxnSpPr>
        <p:spPr>
          <a:xfrm>
            <a:off x="9187962" y="5049070"/>
            <a:ext cx="0" cy="120085"/>
          </a:xfrm>
          <a:prstGeom prst="line">
            <a:avLst/>
          </a:prstGeom>
          <a:solidFill>
            <a:srgbClr val="4472C4"/>
          </a:solidFill>
          <a:ln w="28575" cap="flat" cmpd="sng" algn="ctr">
            <a:solidFill>
              <a:srgbClr val="FFFF00"/>
            </a:solidFill>
            <a:prstDash val="solid"/>
          </a:ln>
          <a:effectLst/>
        </p:spPr>
      </p:cxnSp>
      <p:cxnSp>
        <p:nvCxnSpPr>
          <p:cNvPr id="621" name="직선 연결선 620">
            <a:extLst>
              <a:ext uri="{FF2B5EF4-FFF2-40B4-BE49-F238E27FC236}">
                <a16:creationId xmlns:a16="http://schemas.microsoft.com/office/drawing/2014/main" id="{322A015D-0E4D-467A-AE5D-05CABAF1BF5E}"/>
              </a:ext>
            </a:extLst>
          </p:cNvPr>
          <p:cNvCxnSpPr>
            <a:cxnSpLocks/>
          </p:cNvCxnSpPr>
          <p:nvPr/>
        </p:nvCxnSpPr>
        <p:spPr>
          <a:xfrm>
            <a:off x="9464213" y="5161059"/>
            <a:ext cx="0" cy="120085"/>
          </a:xfrm>
          <a:prstGeom prst="line">
            <a:avLst/>
          </a:prstGeom>
          <a:solidFill>
            <a:srgbClr val="4472C4"/>
          </a:solidFill>
          <a:ln w="28575" cap="flat" cmpd="sng" algn="ctr">
            <a:solidFill>
              <a:srgbClr val="FFFF00"/>
            </a:solidFill>
            <a:prstDash val="solid"/>
          </a:ln>
          <a:effectLst/>
        </p:spPr>
      </p:cxnSp>
      <p:cxnSp>
        <p:nvCxnSpPr>
          <p:cNvPr id="622" name="직선 연결선 621">
            <a:extLst>
              <a:ext uri="{FF2B5EF4-FFF2-40B4-BE49-F238E27FC236}">
                <a16:creationId xmlns:a16="http://schemas.microsoft.com/office/drawing/2014/main" id="{D94DAEAC-BE41-4452-BBC7-5FCACA5273D8}"/>
              </a:ext>
            </a:extLst>
          </p:cNvPr>
          <p:cNvCxnSpPr>
            <a:cxnSpLocks/>
          </p:cNvCxnSpPr>
          <p:nvPr/>
        </p:nvCxnSpPr>
        <p:spPr>
          <a:xfrm>
            <a:off x="9372130" y="5161059"/>
            <a:ext cx="0" cy="120085"/>
          </a:xfrm>
          <a:prstGeom prst="line">
            <a:avLst/>
          </a:prstGeom>
          <a:solidFill>
            <a:srgbClr val="4472C4"/>
          </a:solidFill>
          <a:ln w="28575" cap="flat" cmpd="sng" algn="ctr">
            <a:solidFill>
              <a:srgbClr val="FFFF00"/>
            </a:solidFill>
            <a:prstDash val="solid"/>
          </a:ln>
          <a:effectLst/>
        </p:spPr>
      </p:cxnSp>
      <p:cxnSp>
        <p:nvCxnSpPr>
          <p:cNvPr id="623" name="직선 연결선 622">
            <a:extLst>
              <a:ext uri="{FF2B5EF4-FFF2-40B4-BE49-F238E27FC236}">
                <a16:creationId xmlns:a16="http://schemas.microsoft.com/office/drawing/2014/main" id="{D9B117F2-8D54-430D-AA12-ADBFC6B94E6C}"/>
              </a:ext>
            </a:extLst>
          </p:cNvPr>
          <p:cNvCxnSpPr>
            <a:cxnSpLocks/>
          </p:cNvCxnSpPr>
          <p:nvPr/>
        </p:nvCxnSpPr>
        <p:spPr>
          <a:xfrm>
            <a:off x="8727540" y="5161059"/>
            <a:ext cx="0" cy="120085"/>
          </a:xfrm>
          <a:prstGeom prst="line">
            <a:avLst/>
          </a:prstGeom>
          <a:solidFill>
            <a:srgbClr val="4472C4"/>
          </a:solidFill>
          <a:ln w="28575" cap="flat" cmpd="sng" algn="ctr">
            <a:solidFill>
              <a:srgbClr val="FFFF00"/>
            </a:solidFill>
            <a:prstDash val="solid"/>
          </a:ln>
          <a:effectLst/>
        </p:spPr>
      </p:cxnSp>
      <p:cxnSp>
        <p:nvCxnSpPr>
          <p:cNvPr id="624" name="직선 연결선 623">
            <a:extLst>
              <a:ext uri="{FF2B5EF4-FFF2-40B4-BE49-F238E27FC236}">
                <a16:creationId xmlns:a16="http://schemas.microsoft.com/office/drawing/2014/main" id="{9673E1E1-5706-41EF-8941-6C380109B477}"/>
              </a:ext>
            </a:extLst>
          </p:cNvPr>
          <p:cNvCxnSpPr>
            <a:cxnSpLocks/>
          </p:cNvCxnSpPr>
          <p:nvPr/>
        </p:nvCxnSpPr>
        <p:spPr>
          <a:xfrm>
            <a:off x="8635455" y="5161059"/>
            <a:ext cx="0" cy="120085"/>
          </a:xfrm>
          <a:prstGeom prst="line">
            <a:avLst/>
          </a:prstGeom>
          <a:solidFill>
            <a:srgbClr val="4472C4"/>
          </a:solidFill>
          <a:ln w="28575" cap="flat" cmpd="sng" algn="ctr">
            <a:solidFill>
              <a:srgbClr val="FFFF00"/>
            </a:solidFill>
            <a:prstDash val="solid"/>
          </a:ln>
          <a:effectLst/>
        </p:spPr>
      </p:cxnSp>
      <p:cxnSp>
        <p:nvCxnSpPr>
          <p:cNvPr id="625" name="직선 연결선 624">
            <a:extLst>
              <a:ext uri="{FF2B5EF4-FFF2-40B4-BE49-F238E27FC236}">
                <a16:creationId xmlns:a16="http://schemas.microsoft.com/office/drawing/2014/main" id="{02AE3DD9-F708-4673-BF9E-1C18F11D419F}"/>
              </a:ext>
            </a:extLst>
          </p:cNvPr>
          <p:cNvCxnSpPr>
            <a:cxnSpLocks/>
          </p:cNvCxnSpPr>
          <p:nvPr/>
        </p:nvCxnSpPr>
        <p:spPr>
          <a:xfrm>
            <a:off x="8911708" y="5161059"/>
            <a:ext cx="0" cy="120085"/>
          </a:xfrm>
          <a:prstGeom prst="line">
            <a:avLst/>
          </a:prstGeom>
          <a:solidFill>
            <a:srgbClr val="4472C4"/>
          </a:solidFill>
          <a:ln w="28575" cap="flat" cmpd="sng" algn="ctr">
            <a:solidFill>
              <a:srgbClr val="FFFF00"/>
            </a:solidFill>
            <a:prstDash val="solid"/>
          </a:ln>
          <a:effectLst/>
        </p:spPr>
      </p:cxnSp>
      <p:cxnSp>
        <p:nvCxnSpPr>
          <p:cNvPr id="626" name="직선 연결선 625">
            <a:extLst>
              <a:ext uri="{FF2B5EF4-FFF2-40B4-BE49-F238E27FC236}">
                <a16:creationId xmlns:a16="http://schemas.microsoft.com/office/drawing/2014/main" id="{7D34E766-B993-4D52-A48C-AAAB3FEC4D9B}"/>
              </a:ext>
            </a:extLst>
          </p:cNvPr>
          <p:cNvCxnSpPr>
            <a:cxnSpLocks/>
          </p:cNvCxnSpPr>
          <p:nvPr/>
        </p:nvCxnSpPr>
        <p:spPr>
          <a:xfrm>
            <a:off x="8819624" y="5161059"/>
            <a:ext cx="0" cy="120085"/>
          </a:xfrm>
          <a:prstGeom prst="line">
            <a:avLst/>
          </a:prstGeom>
          <a:solidFill>
            <a:srgbClr val="4472C4"/>
          </a:solidFill>
          <a:ln w="28575" cap="flat" cmpd="sng" algn="ctr">
            <a:solidFill>
              <a:srgbClr val="FFFF00"/>
            </a:solidFill>
            <a:prstDash val="solid"/>
          </a:ln>
          <a:effectLst/>
        </p:spPr>
      </p:cxnSp>
      <p:cxnSp>
        <p:nvCxnSpPr>
          <p:cNvPr id="627" name="직선 연결선 626">
            <a:extLst>
              <a:ext uri="{FF2B5EF4-FFF2-40B4-BE49-F238E27FC236}">
                <a16:creationId xmlns:a16="http://schemas.microsoft.com/office/drawing/2014/main" id="{54A7BF9F-1BED-456E-91BB-063707E688CF}"/>
              </a:ext>
            </a:extLst>
          </p:cNvPr>
          <p:cNvCxnSpPr>
            <a:cxnSpLocks/>
          </p:cNvCxnSpPr>
          <p:nvPr/>
        </p:nvCxnSpPr>
        <p:spPr>
          <a:xfrm>
            <a:off x="9095878" y="5161059"/>
            <a:ext cx="0" cy="120085"/>
          </a:xfrm>
          <a:prstGeom prst="line">
            <a:avLst/>
          </a:prstGeom>
          <a:solidFill>
            <a:srgbClr val="4472C4"/>
          </a:solidFill>
          <a:ln w="28575" cap="flat" cmpd="sng" algn="ctr">
            <a:solidFill>
              <a:srgbClr val="FFFF00"/>
            </a:solidFill>
            <a:prstDash val="solid"/>
          </a:ln>
          <a:effectLst/>
        </p:spPr>
      </p:cxnSp>
      <p:cxnSp>
        <p:nvCxnSpPr>
          <p:cNvPr id="628" name="직선 연결선 627">
            <a:extLst>
              <a:ext uri="{FF2B5EF4-FFF2-40B4-BE49-F238E27FC236}">
                <a16:creationId xmlns:a16="http://schemas.microsoft.com/office/drawing/2014/main" id="{9E2365D5-B87D-43DA-9C97-EF18A2F3AA91}"/>
              </a:ext>
            </a:extLst>
          </p:cNvPr>
          <p:cNvCxnSpPr>
            <a:cxnSpLocks/>
          </p:cNvCxnSpPr>
          <p:nvPr/>
        </p:nvCxnSpPr>
        <p:spPr>
          <a:xfrm>
            <a:off x="9003792" y="5161059"/>
            <a:ext cx="0" cy="120085"/>
          </a:xfrm>
          <a:prstGeom prst="line">
            <a:avLst/>
          </a:prstGeom>
          <a:solidFill>
            <a:srgbClr val="4472C4"/>
          </a:solidFill>
          <a:ln w="28575" cap="flat" cmpd="sng" algn="ctr">
            <a:solidFill>
              <a:srgbClr val="FFFF00"/>
            </a:solidFill>
            <a:prstDash val="solid"/>
          </a:ln>
          <a:effectLst/>
        </p:spPr>
      </p:cxnSp>
      <p:cxnSp>
        <p:nvCxnSpPr>
          <p:cNvPr id="629" name="직선 연결선 628">
            <a:extLst>
              <a:ext uri="{FF2B5EF4-FFF2-40B4-BE49-F238E27FC236}">
                <a16:creationId xmlns:a16="http://schemas.microsoft.com/office/drawing/2014/main" id="{68094E2C-54B3-44A6-AD1E-87C3525F9F8D}"/>
              </a:ext>
            </a:extLst>
          </p:cNvPr>
          <p:cNvCxnSpPr>
            <a:cxnSpLocks/>
          </p:cNvCxnSpPr>
          <p:nvPr/>
        </p:nvCxnSpPr>
        <p:spPr>
          <a:xfrm>
            <a:off x="9280046" y="5161059"/>
            <a:ext cx="0" cy="120085"/>
          </a:xfrm>
          <a:prstGeom prst="line">
            <a:avLst/>
          </a:prstGeom>
          <a:solidFill>
            <a:srgbClr val="4472C4"/>
          </a:solidFill>
          <a:ln w="28575" cap="flat" cmpd="sng" algn="ctr">
            <a:solidFill>
              <a:srgbClr val="FFFF00"/>
            </a:solidFill>
            <a:prstDash val="solid"/>
          </a:ln>
          <a:effectLst/>
        </p:spPr>
      </p:cxnSp>
      <p:cxnSp>
        <p:nvCxnSpPr>
          <p:cNvPr id="630" name="직선 연결선 629">
            <a:extLst>
              <a:ext uri="{FF2B5EF4-FFF2-40B4-BE49-F238E27FC236}">
                <a16:creationId xmlns:a16="http://schemas.microsoft.com/office/drawing/2014/main" id="{2422E519-F8E3-45AC-9DF9-BD73805A48FC}"/>
              </a:ext>
            </a:extLst>
          </p:cNvPr>
          <p:cNvCxnSpPr>
            <a:cxnSpLocks/>
          </p:cNvCxnSpPr>
          <p:nvPr/>
        </p:nvCxnSpPr>
        <p:spPr>
          <a:xfrm>
            <a:off x="9187962" y="5161059"/>
            <a:ext cx="0" cy="120085"/>
          </a:xfrm>
          <a:prstGeom prst="line">
            <a:avLst/>
          </a:prstGeom>
          <a:solidFill>
            <a:srgbClr val="4472C4"/>
          </a:solidFill>
          <a:ln w="28575" cap="flat" cmpd="sng" algn="ctr">
            <a:solidFill>
              <a:srgbClr val="FFFF00"/>
            </a:solidFill>
            <a:prstDash val="solid"/>
          </a:ln>
          <a:effectLst/>
        </p:spPr>
      </p:cxnSp>
      <p:sp>
        <p:nvSpPr>
          <p:cNvPr id="588" name="TextBox 587">
            <a:extLst>
              <a:ext uri="{FF2B5EF4-FFF2-40B4-BE49-F238E27FC236}">
                <a16:creationId xmlns:a16="http://schemas.microsoft.com/office/drawing/2014/main" id="{CC29EF59-BBB3-4D1C-8B31-46F121415210}"/>
              </a:ext>
            </a:extLst>
          </p:cNvPr>
          <p:cNvSpPr txBox="1"/>
          <p:nvPr/>
        </p:nvSpPr>
        <p:spPr>
          <a:xfrm>
            <a:off x="8847120" y="4756427"/>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589" name="TextBox 588">
            <a:extLst>
              <a:ext uri="{FF2B5EF4-FFF2-40B4-BE49-F238E27FC236}">
                <a16:creationId xmlns:a16="http://schemas.microsoft.com/office/drawing/2014/main" id="{FDA1ADEA-821B-42D1-8C81-51B9E494ECF9}"/>
              </a:ext>
            </a:extLst>
          </p:cNvPr>
          <p:cNvSpPr txBox="1"/>
          <p:nvPr/>
        </p:nvSpPr>
        <p:spPr>
          <a:xfrm>
            <a:off x="8847121" y="4890439"/>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592" name="TextBox 591">
            <a:extLst>
              <a:ext uri="{FF2B5EF4-FFF2-40B4-BE49-F238E27FC236}">
                <a16:creationId xmlns:a16="http://schemas.microsoft.com/office/drawing/2014/main" id="{A32ABBD9-11A0-4B0F-8613-2E57D014663E}"/>
              </a:ext>
            </a:extLst>
          </p:cNvPr>
          <p:cNvSpPr txBox="1"/>
          <p:nvPr/>
        </p:nvSpPr>
        <p:spPr>
          <a:xfrm>
            <a:off x="8847121" y="5011267"/>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593" name="TextBox 592">
            <a:extLst>
              <a:ext uri="{FF2B5EF4-FFF2-40B4-BE49-F238E27FC236}">
                <a16:creationId xmlns:a16="http://schemas.microsoft.com/office/drawing/2014/main" id="{F6E572EC-1760-4028-AAC6-AAAEBB5A0DEC}"/>
              </a:ext>
            </a:extLst>
          </p:cNvPr>
          <p:cNvSpPr txBox="1"/>
          <p:nvPr/>
        </p:nvSpPr>
        <p:spPr>
          <a:xfrm>
            <a:off x="8847121" y="5130472"/>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652" name="직사각형 651">
            <a:extLst>
              <a:ext uri="{FF2B5EF4-FFF2-40B4-BE49-F238E27FC236}">
                <a16:creationId xmlns:a16="http://schemas.microsoft.com/office/drawing/2014/main" id="{5B49D6FF-234B-4C22-9726-7A03703D67D5}"/>
              </a:ext>
            </a:extLst>
          </p:cNvPr>
          <p:cNvSpPr/>
          <p:nvPr/>
        </p:nvSpPr>
        <p:spPr>
          <a:xfrm>
            <a:off x="10004028" y="3292539"/>
            <a:ext cx="1551236" cy="301349"/>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4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653" name="직사각형 652">
            <a:extLst>
              <a:ext uri="{FF2B5EF4-FFF2-40B4-BE49-F238E27FC236}">
                <a16:creationId xmlns:a16="http://schemas.microsoft.com/office/drawing/2014/main" id="{1CF473EA-6B0C-45AC-B4B6-D2A8B21197FF}"/>
              </a:ext>
            </a:extLst>
          </p:cNvPr>
          <p:cNvSpPr/>
          <p:nvPr/>
        </p:nvSpPr>
        <p:spPr>
          <a:xfrm>
            <a:off x="10395566" y="4921981"/>
            <a:ext cx="429506" cy="383472"/>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654" name="TextBox 653">
            <a:extLst>
              <a:ext uri="{FF2B5EF4-FFF2-40B4-BE49-F238E27FC236}">
                <a16:creationId xmlns:a16="http://schemas.microsoft.com/office/drawing/2014/main" id="{1BA35BA1-48EF-47BF-B350-6F864EC66C2A}"/>
              </a:ext>
            </a:extLst>
          </p:cNvPr>
          <p:cNvSpPr txBox="1"/>
          <p:nvPr/>
        </p:nvSpPr>
        <p:spPr>
          <a:xfrm>
            <a:off x="10400805" y="5011788"/>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sp>
        <p:nvSpPr>
          <p:cNvPr id="655" name="직사각형 654">
            <a:extLst>
              <a:ext uri="{FF2B5EF4-FFF2-40B4-BE49-F238E27FC236}">
                <a16:creationId xmlns:a16="http://schemas.microsoft.com/office/drawing/2014/main" id="{1B17578D-D1F7-4801-8E0E-2EA43BF7FE9F}"/>
              </a:ext>
            </a:extLst>
          </p:cNvPr>
          <p:cNvSpPr/>
          <p:nvPr/>
        </p:nvSpPr>
        <p:spPr>
          <a:xfrm>
            <a:off x="10911594" y="4921981"/>
            <a:ext cx="429506" cy="383472"/>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656" name="TextBox 655">
            <a:extLst>
              <a:ext uri="{FF2B5EF4-FFF2-40B4-BE49-F238E27FC236}">
                <a16:creationId xmlns:a16="http://schemas.microsoft.com/office/drawing/2014/main" id="{48C76AB0-A39C-4231-8DC5-68F7BB131642}"/>
              </a:ext>
            </a:extLst>
          </p:cNvPr>
          <p:cNvSpPr txBox="1"/>
          <p:nvPr/>
        </p:nvSpPr>
        <p:spPr>
          <a:xfrm>
            <a:off x="10911593" y="5011788"/>
            <a:ext cx="41870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NAND</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sp>
        <p:nvSpPr>
          <p:cNvPr id="657" name="직사각형 656">
            <a:extLst>
              <a:ext uri="{FF2B5EF4-FFF2-40B4-BE49-F238E27FC236}">
                <a16:creationId xmlns:a16="http://schemas.microsoft.com/office/drawing/2014/main" id="{90B112EB-F6C5-4D6E-9A74-47C012B4C049}"/>
              </a:ext>
            </a:extLst>
          </p:cNvPr>
          <p:cNvSpPr/>
          <p:nvPr/>
        </p:nvSpPr>
        <p:spPr>
          <a:xfrm>
            <a:off x="10401265" y="5369216"/>
            <a:ext cx="955121" cy="121314"/>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cs typeface="+mn-cs"/>
            </a:endParaRPr>
          </a:p>
        </p:txBody>
      </p:sp>
      <p:sp>
        <p:nvSpPr>
          <p:cNvPr id="658" name="TextBox 657">
            <a:extLst>
              <a:ext uri="{FF2B5EF4-FFF2-40B4-BE49-F238E27FC236}">
                <a16:creationId xmlns:a16="http://schemas.microsoft.com/office/drawing/2014/main" id="{14DAA374-1C00-4DE8-84BD-E0587069122F}"/>
              </a:ext>
            </a:extLst>
          </p:cNvPr>
          <p:cNvSpPr txBox="1"/>
          <p:nvPr/>
        </p:nvSpPr>
        <p:spPr>
          <a:xfrm>
            <a:off x="10663099" y="5338372"/>
            <a:ext cx="450764"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LP-PIM</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sp>
        <p:nvSpPr>
          <p:cNvPr id="659" name="TextBox 658">
            <a:extLst>
              <a:ext uri="{FF2B5EF4-FFF2-40B4-BE49-F238E27FC236}">
                <a16:creationId xmlns:a16="http://schemas.microsoft.com/office/drawing/2014/main" id="{B6668A43-7CC3-46E1-9600-815D89733501}"/>
              </a:ext>
            </a:extLst>
          </p:cNvPr>
          <p:cNvSpPr txBox="1"/>
          <p:nvPr/>
        </p:nvSpPr>
        <p:spPr>
          <a:xfrm>
            <a:off x="10545342" y="5390644"/>
            <a:ext cx="131100" cy="80063"/>
          </a:xfrm>
          <a:prstGeom prst="rect">
            <a:avLst/>
          </a:prstGeom>
          <a:solidFill>
            <a:srgbClr val="00B050"/>
          </a:solidFill>
        </p:spPr>
        <p:txBody>
          <a:bodyPr wrap="none" lIns="72000" tIns="36000" rIns="72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PE</a:t>
            </a:r>
          </a:p>
        </p:txBody>
      </p:sp>
      <p:sp>
        <p:nvSpPr>
          <p:cNvPr id="660" name="TextBox 659">
            <a:extLst>
              <a:ext uri="{FF2B5EF4-FFF2-40B4-BE49-F238E27FC236}">
                <a16:creationId xmlns:a16="http://schemas.microsoft.com/office/drawing/2014/main" id="{5A7104AC-A4F2-418C-BEB4-2EDE51CC357C}"/>
              </a:ext>
            </a:extLst>
          </p:cNvPr>
          <p:cNvSpPr txBox="1"/>
          <p:nvPr/>
        </p:nvSpPr>
        <p:spPr>
          <a:xfrm>
            <a:off x="11106819" y="5390644"/>
            <a:ext cx="131100" cy="80063"/>
          </a:xfrm>
          <a:prstGeom prst="rect">
            <a:avLst/>
          </a:prstGeom>
          <a:solidFill>
            <a:srgbClr val="00B050"/>
          </a:solidFill>
        </p:spPr>
        <p:txBody>
          <a:bodyPr wrap="none" lIns="72000" tIns="36000" rIns="72000" bIns="36000" rtlCol="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PE</a:t>
            </a:r>
          </a:p>
        </p:txBody>
      </p:sp>
      <p:sp>
        <p:nvSpPr>
          <p:cNvPr id="664" name="직사각형 663">
            <a:extLst>
              <a:ext uri="{FF2B5EF4-FFF2-40B4-BE49-F238E27FC236}">
                <a16:creationId xmlns:a16="http://schemas.microsoft.com/office/drawing/2014/main" id="{661E6129-F880-4124-B19F-118243E14AEE}"/>
              </a:ext>
            </a:extLst>
          </p:cNvPr>
          <p:cNvSpPr/>
          <p:nvPr/>
        </p:nvSpPr>
        <p:spPr>
          <a:xfrm rot="10800000">
            <a:off x="10417277" y="5523358"/>
            <a:ext cx="939107" cy="111120"/>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666" name="TextBox 665">
            <a:extLst>
              <a:ext uri="{FF2B5EF4-FFF2-40B4-BE49-F238E27FC236}">
                <a16:creationId xmlns:a16="http://schemas.microsoft.com/office/drawing/2014/main" id="{4F38036D-FDA5-4614-A59C-6A43E7F9A218}"/>
              </a:ext>
            </a:extLst>
          </p:cNvPr>
          <p:cNvSpPr txBox="1"/>
          <p:nvPr/>
        </p:nvSpPr>
        <p:spPr>
          <a:xfrm>
            <a:off x="10555719" y="5490530"/>
            <a:ext cx="726481"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srgbClr val="000000"/>
                </a:solidFill>
                <a:effectLst/>
                <a:uLnTx/>
                <a:uFillTx/>
                <a:latin typeface="맑은 고딕"/>
                <a:ea typeface="맑은 고딕"/>
                <a:cs typeface="+mn-cs"/>
              </a:rPr>
              <a:t>SSD-Controller</a:t>
            </a:r>
            <a:endParaRPr kumimoji="0" lang="ko-KR" altLang="en-US" sz="600" b="1" i="0" u="none" strike="noStrike" kern="0" cap="none" spc="0" normalizeH="0" baseline="0" noProof="0" dirty="0">
              <a:ln>
                <a:noFill/>
              </a:ln>
              <a:solidFill>
                <a:srgbClr val="000000"/>
              </a:solidFill>
              <a:effectLst/>
              <a:uLnTx/>
              <a:uFillTx/>
              <a:latin typeface="맑은 고딕"/>
              <a:ea typeface="맑은 고딕"/>
              <a:cs typeface="+mn-cs"/>
            </a:endParaRPr>
          </a:p>
        </p:txBody>
      </p:sp>
      <p:sp>
        <p:nvSpPr>
          <p:cNvPr id="668" name="TextBox 667">
            <a:extLst>
              <a:ext uri="{FF2B5EF4-FFF2-40B4-BE49-F238E27FC236}">
                <a16:creationId xmlns:a16="http://schemas.microsoft.com/office/drawing/2014/main" id="{0B47601B-6E3A-4AA6-B258-656B4F3F0D9D}"/>
              </a:ext>
            </a:extLst>
          </p:cNvPr>
          <p:cNvSpPr txBox="1"/>
          <p:nvPr/>
        </p:nvSpPr>
        <p:spPr>
          <a:xfrm>
            <a:off x="10219680" y="5859102"/>
            <a:ext cx="1409993" cy="30777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SSD-PIM</a:t>
            </a:r>
          </a:p>
        </p:txBody>
      </p:sp>
      <p:sp>
        <p:nvSpPr>
          <p:cNvPr id="669" name="TextBox 668">
            <a:extLst>
              <a:ext uri="{FF2B5EF4-FFF2-40B4-BE49-F238E27FC236}">
                <a16:creationId xmlns:a16="http://schemas.microsoft.com/office/drawing/2014/main" id="{2AC06CC5-227C-4D0F-BFA5-88CD0510D2BB}"/>
              </a:ext>
            </a:extLst>
          </p:cNvPr>
          <p:cNvSpPr txBox="1"/>
          <p:nvPr/>
        </p:nvSpPr>
        <p:spPr>
          <a:xfrm>
            <a:off x="10913398" y="4652785"/>
            <a:ext cx="713167" cy="215444"/>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FFFFFF"/>
                </a:solidFill>
                <a:effectLst/>
                <a:uLnTx/>
                <a:uFillTx/>
                <a:latin typeface="SAMSUNGONE-600C" panose="020B0503030303020204" pitchFamily="34" charset="-127"/>
                <a:ea typeface="SAMSUNGONE-600C" panose="020B0503030303020204" pitchFamily="34" charset="-127"/>
                <a:cs typeface="+mn-cs"/>
              </a:rPr>
              <a:t>Top-view</a:t>
            </a:r>
          </a:p>
        </p:txBody>
      </p:sp>
      <p:sp>
        <p:nvSpPr>
          <p:cNvPr id="670" name="직사각형 669">
            <a:extLst>
              <a:ext uri="{FF2B5EF4-FFF2-40B4-BE49-F238E27FC236}">
                <a16:creationId xmlns:a16="http://schemas.microsoft.com/office/drawing/2014/main" id="{912293B4-9458-4E80-AFC7-EBE440AFC88E}"/>
              </a:ext>
            </a:extLst>
          </p:cNvPr>
          <p:cNvSpPr/>
          <p:nvPr/>
        </p:nvSpPr>
        <p:spPr>
          <a:xfrm>
            <a:off x="6327594" y="3115151"/>
            <a:ext cx="1624367" cy="478738"/>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400" b="0" i="0" u="none" strike="noStrike" kern="1200" cap="none" spc="0" normalizeH="0" baseline="0" noProof="0">
              <a:ln>
                <a:noFill/>
              </a:ln>
              <a:solidFill>
                <a:srgbClr val="FFFFFF"/>
              </a:solidFill>
              <a:effectLst/>
              <a:uLnTx/>
              <a:uFillTx/>
              <a:latin typeface="Samsung Sharp Sans Medium"/>
              <a:ea typeface="+mn-ea"/>
              <a:cs typeface="+mn-cs"/>
            </a:endParaRPr>
          </a:p>
        </p:txBody>
      </p:sp>
      <p:sp>
        <p:nvSpPr>
          <p:cNvPr id="712" name="직사각형 711">
            <a:extLst>
              <a:ext uri="{FF2B5EF4-FFF2-40B4-BE49-F238E27FC236}">
                <a16:creationId xmlns:a16="http://schemas.microsoft.com/office/drawing/2014/main" id="{89093E65-9A9F-4AE7-8C91-A6B41A64CE85}"/>
              </a:ext>
            </a:extLst>
          </p:cNvPr>
          <p:cNvSpPr/>
          <p:nvPr/>
        </p:nvSpPr>
        <p:spPr>
          <a:xfrm rot="10800000">
            <a:off x="8538253" y="5411910"/>
            <a:ext cx="1008863" cy="94113"/>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713" name="TextBox 712">
            <a:extLst>
              <a:ext uri="{FF2B5EF4-FFF2-40B4-BE49-F238E27FC236}">
                <a16:creationId xmlns:a16="http://schemas.microsoft.com/office/drawing/2014/main" id="{00C58DDB-5E09-49EC-97EA-84C22D09B05A}"/>
              </a:ext>
            </a:extLst>
          </p:cNvPr>
          <p:cNvSpPr txBox="1"/>
          <p:nvPr/>
        </p:nvSpPr>
        <p:spPr>
          <a:xfrm>
            <a:off x="8786938" y="5371466"/>
            <a:ext cx="516488"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Logic 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cxnSp>
        <p:nvCxnSpPr>
          <p:cNvPr id="714" name="직선 연결선 713">
            <a:extLst>
              <a:ext uri="{FF2B5EF4-FFF2-40B4-BE49-F238E27FC236}">
                <a16:creationId xmlns:a16="http://schemas.microsoft.com/office/drawing/2014/main" id="{495852CB-34B9-41BF-BD85-A9BB00E4F7F6}"/>
              </a:ext>
            </a:extLst>
          </p:cNvPr>
          <p:cNvCxnSpPr>
            <a:cxnSpLocks/>
          </p:cNvCxnSpPr>
          <p:nvPr/>
        </p:nvCxnSpPr>
        <p:spPr>
          <a:xfrm>
            <a:off x="9464213" y="5287099"/>
            <a:ext cx="0" cy="120085"/>
          </a:xfrm>
          <a:prstGeom prst="line">
            <a:avLst/>
          </a:prstGeom>
          <a:solidFill>
            <a:srgbClr val="4472C4"/>
          </a:solidFill>
          <a:ln w="28575" cap="flat" cmpd="sng" algn="ctr">
            <a:solidFill>
              <a:srgbClr val="FFFF00"/>
            </a:solidFill>
            <a:prstDash val="solid"/>
          </a:ln>
          <a:effectLst/>
        </p:spPr>
      </p:cxnSp>
      <p:cxnSp>
        <p:nvCxnSpPr>
          <p:cNvPr id="715" name="직선 연결선 714">
            <a:extLst>
              <a:ext uri="{FF2B5EF4-FFF2-40B4-BE49-F238E27FC236}">
                <a16:creationId xmlns:a16="http://schemas.microsoft.com/office/drawing/2014/main" id="{F386D091-7F88-4C86-93C1-025A0B3FE940}"/>
              </a:ext>
            </a:extLst>
          </p:cNvPr>
          <p:cNvCxnSpPr>
            <a:cxnSpLocks/>
          </p:cNvCxnSpPr>
          <p:nvPr/>
        </p:nvCxnSpPr>
        <p:spPr>
          <a:xfrm>
            <a:off x="9372130" y="5287099"/>
            <a:ext cx="0" cy="120085"/>
          </a:xfrm>
          <a:prstGeom prst="line">
            <a:avLst/>
          </a:prstGeom>
          <a:solidFill>
            <a:srgbClr val="4472C4"/>
          </a:solidFill>
          <a:ln w="28575" cap="flat" cmpd="sng" algn="ctr">
            <a:solidFill>
              <a:srgbClr val="FFFF00"/>
            </a:solidFill>
            <a:prstDash val="solid"/>
          </a:ln>
          <a:effectLst/>
        </p:spPr>
      </p:cxnSp>
      <p:cxnSp>
        <p:nvCxnSpPr>
          <p:cNvPr id="716" name="직선 연결선 715">
            <a:extLst>
              <a:ext uri="{FF2B5EF4-FFF2-40B4-BE49-F238E27FC236}">
                <a16:creationId xmlns:a16="http://schemas.microsoft.com/office/drawing/2014/main" id="{74DA7E81-AAE6-47B0-A8AB-FEB16B8E549A}"/>
              </a:ext>
            </a:extLst>
          </p:cNvPr>
          <p:cNvCxnSpPr>
            <a:cxnSpLocks/>
          </p:cNvCxnSpPr>
          <p:nvPr/>
        </p:nvCxnSpPr>
        <p:spPr>
          <a:xfrm>
            <a:off x="8727540" y="5287099"/>
            <a:ext cx="0" cy="120085"/>
          </a:xfrm>
          <a:prstGeom prst="line">
            <a:avLst/>
          </a:prstGeom>
          <a:solidFill>
            <a:srgbClr val="4472C4"/>
          </a:solidFill>
          <a:ln w="28575" cap="flat" cmpd="sng" algn="ctr">
            <a:solidFill>
              <a:srgbClr val="FFFF00"/>
            </a:solidFill>
            <a:prstDash val="solid"/>
          </a:ln>
          <a:effectLst/>
        </p:spPr>
      </p:cxnSp>
      <p:cxnSp>
        <p:nvCxnSpPr>
          <p:cNvPr id="717" name="직선 연결선 716">
            <a:extLst>
              <a:ext uri="{FF2B5EF4-FFF2-40B4-BE49-F238E27FC236}">
                <a16:creationId xmlns:a16="http://schemas.microsoft.com/office/drawing/2014/main" id="{0B7F598A-A8F7-45D1-9486-693319078F5C}"/>
              </a:ext>
            </a:extLst>
          </p:cNvPr>
          <p:cNvCxnSpPr>
            <a:cxnSpLocks/>
          </p:cNvCxnSpPr>
          <p:nvPr/>
        </p:nvCxnSpPr>
        <p:spPr>
          <a:xfrm>
            <a:off x="8635455" y="5287099"/>
            <a:ext cx="0" cy="120085"/>
          </a:xfrm>
          <a:prstGeom prst="line">
            <a:avLst/>
          </a:prstGeom>
          <a:solidFill>
            <a:srgbClr val="4472C4"/>
          </a:solidFill>
          <a:ln w="28575" cap="flat" cmpd="sng" algn="ctr">
            <a:solidFill>
              <a:srgbClr val="FFFF00"/>
            </a:solidFill>
            <a:prstDash val="solid"/>
          </a:ln>
          <a:effectLst/>
        </p:spPr>
      </p:cxnSp>
      <p:cxnSp>
        <p:nvCxnSpPr>
          <p:cNvPr id="718" name="직선 연결선 717">
            <a:extLst>
              <a:ext uri="{FF2B5EF4-FFF2-40B4-BE49-F238E27FC236}">
                <a16:creationId xmlns:a16="http://schemas.microsoft.com/office/drawing/2014/main" id="{B0941106-6646-4767-9167-8CE7C013F466}"/>
              </a:ext>
            </a:extLst>
          </p:cNvPr>
          <p:cNvCxnSpPr>
            <a:cxnSpLocks/>
          </p:cNvCxnSpPr>
          <p:nvPr/>
        </p:nvCxnSpPr>
        <p:spPr>
          <a:xfrm>
            <a:off x="8819624" y="5287099"/>
            <a:ext cx="0" cy="120085"/>
          </a:xfrm>
          <a:prstGeom prst="line">
            <a:avLst/>
          </a:prstGeom>
          <a:solidFill>
            <a:srgbClr val="4472C4"/>
          </a:solidFill>
          <a:ln w="28575" cap="flat" cmpd="sng" algn="ctr">
            <a:solidFill>
              <a:srgbClr val="FFFF00"/>
            </a:solidFill>
            <a:prstDash val="solid"/>
          </a:ln>
          <a:effectLst/>
        </p:spPr>
      </p:cxnSp>
      <p:cxnSp>
        <p:nvCxnSpPr>
          <p:cNvPr id="719" name="직선 연결선 718">
            <a:extLst>
              <a:ext uri="{FF2B5EF4-FFF2-40B4-BE49-F238E27FC236}">
                <a16:creationId xmlns:a16="http://schemas.microsoft.com/office/drawing/2014/main" id="{2A95C29B-77B2-4859-94AE-58BDE1F50744}"/>
              </a:ext>
            </a:extLst>
          </p:cNvPr>
          <p:cNvCxnSpPr>
            <a:cxnSpLocks/>
          </p:cNvCxnSpPr>
          <p:nvPr/>
        </p:nvCxnSpPr>
        <p:spPr>
          <a:xfrm>
            <a:off x="9280046" y="5287099"/>
            <a:ext cx="0" cy="120085"/>
          </a:xfrm>
          <a:prstGeom prst="line">
            <a:avLst/>
          </a:prstGeom>
          <a:solidFill>
            <a:srgbClr val="4472C4"/>
          </a:solidFill>
          <a:ln w="28575" cap="flat" cmpd="sng" algn="ctr">
            <a:solidFill>
              <a:srgbClr val="FFFF00"/>
            </a:solidFill>
            <a:prstDash val="solid"/>
          </a:ln>
          <a:effectLst/>
        </p:spPr>
      </p:cxnSp>
      <p:cxnSp>
        <p:nvCxnSpPr>
          <p:cNvPr id="720" name="직선 연결선 719">
            <a:extLst>
              <a:ext uri="{FF2B5EF4-FFF2-40B4-BE49-F238E27FC236}">
                <a16:creationId xmlns:a16="http://schemas.microsoft.com/office/drawing/2014/main" id="{502F5F1A-0614-4680-BE9E-4AFD5A49E583}"/>
              </a:ext>
            </a:extLst>
          </p:cNvPr>
          <p:cNvCxnSpPr>
            <a:cxnSpLocks/>
          </p:cNvCxnSpPr>
          <p:nvPr/>
        </p:nvCxnSpPr>
        <p:spPr>
          <a:xfrm>
            <a:off x="9464213" y="5385939"/>
            <a:ext cx="0" cy="120085"/>
          </a:xfrm>
          <a:prstGeom prst="line">
            <a:avLst/>
          </a:prstGeom>
          <a:solidFill>
            <a:srgbClr val="4472C4"/>
          </a:solidFill>
          <a:ln w="28575" cap="flat" cmpd="sng" algn="ctr">
            <a:solidFill>
              <a:srgbClr val="FFFF00"/>
            </a:solidFill>
            <a:prstDash val="solid"/>
          </a:ln>
          <a:effectLst/>
        </p:spPr>
      </p:cxnSp>
      <p:cxnSp>
        <p:nvCxnSpPr>
          <p:cNvPr id="721" name="직선 연결선 720">
            <a:extLst>
              <a:ext uri="{FF2B5EF4-FFF2-40B4-BE49-F238E27FC236}">
                <a16:creationId xmlns:a16="http://schemas.microsoft.com/office/drawing/2014/main" id="{A52B72DE-2C6D-4803-88BE-2B728DBB8D42}"/>
              </a:ext>
            </a:extLst>
          </p:cNvPr>
          <p:cNvCxnSpPr>
            <a:cxnSpLocks/>
          </p:cNvCxnSpPr>
          <p:nvPr/>
        </p:nvCxnSpPr>
        <p:spPr>
          <a:xfrm>
            <a:off x="9372130" y="5385939"/>
            <a:ext cx="0" cy="120085"/>
          </a:xfrm>
          <a:prstGeom prst="line">
            <a:avLst/>
          </a:prstGeom>
          <a:solidFill>
            <a:srgbClr val="4472C4"/>
          </a:solidFill>
          <a:ln w="28575" cap="flat" cmpd="sng" algn="ctr">
            <a:solidFill>
              <a:srgbClr val="FFFF00"/>
            </a:solidFill>
            <a:prstDash val="solid"/>
          </a:ln>
          <a:effectLst/>
        </p:spPr>
      </p:cxnSp>
      <p:cxnSp>
        <p:nvCxnSpPr>
          <p:cNvPr id="722" name="직선 연결선 721">
            <a:extLst>
              <a:ext uri="{FF2B5EF4-FFF2-40B4-BE49-F238E27FC236}">
                <a16:creationId xmlns:a16="http://schemas.microsoft.com/office/drawing/2014/main" id="{C932BD42-B633-4ECB-A7A0-43A3F11C5B4D}"/>
              </a:ext>
            </a:extLst>
          </p:cNvPr>
          <p:cNvCxnSpPr>
            <a:cxnSpLocks/>
          </p:cNvCxnSpPr>
          <p:nvPr/>
        </p:nvCxnSpPr>
        <p:spPr>
          <a:xfrm>
            <a:off x="8727540" y="5385939"/>
            <a:ext cx="0" cy="120085"/>
          </a:xfrm>
          <a:prstGeom prst="line">
            <a:avLst/>
          </a:prstGeom>
          <a:solidFill>
            <a:srgbClr val="4472C4"/>
          </a:solidFill>
          <a:ln w="28575" cap="flat" cmpd="sng" algn="ctr">
            <a:solidFill>
              <a:srgbClr val="FFFF00"/>
            </a:solidFill>
            <a:prstDash val="solid"/>
          </a:ln>
          <a:effectLst/>
        </p:spPr>
      </p:cxnSp>
      <p:cxnSp>
        <p:nvCxnSpPr>
          <p:cNvPr id="723" name="직선 연결선 722">
            <a:extLst>
              <a:ext uri="{FF2B5EF4-FFF2-40B4-BE49-F238E27FC236}">
                <a16:creationId xmlns:a16="http://schemas.microsoft.com/office/drawing/2014/main" id="{2DE76635-BF17-4259-83B2-A21D0659395A}"/>
              </a:ext>
            </a:extLst>
          </p:cNvPr>
          <p:cNvCxnSpPr>
            <a:cxnSpLocks/>
          </p:cNvCxnSpPr>
          <p:nvPr/>
        </p:nvCxnSpPr>
        <p:spPr>
          <a:xfrm>
            <a:off x="8635455" y="5385939"/>
            <a:ext cx="0" cy="120085"/>
          </a:xfrm>
          <a:prstGeom prst="line">
            <a:avLst/>
          </a:prstGeom>
          <a:solidFill>
            <a:srgbClr val="4472C4"/>
          </a:solidFill>
          <a:ln w="28575" cap="flat" cmpd="sng" algn="ctr">
            <a:solidFill>
              <a:srgbClr val="FFFF00"/>
            </a:solidFill>
            <a:prstDash val="solid"/>
          </a:ln>
          <a:effectLst/>
        </p:spPr>
      </p:cxnSp>
      <p:cxnSp>
        <p:nvCxnSpPr>
          <p:cNvPr id="724" name="직선 연결선 723">
            <a:extLst>
              <a:ext uri="{FF2B5EF4-FFF2-40B4-BE49-F238E27FC236}">
                <a16:creationId xmlns:a16="http://schemas.microsoft.com/office/drawing/2014/main" id="{E3A58BAB-8647-4010-A127-FB744D7B7EE0}"/>
              </a:ext>
            </a:extLst>
          </p:cNvPr>
          <p:cNvCxnSpPr>
            <a:cxnSpLocks/>
          </p:cNvCxnSpPr>
          <p:nvPr/>
        </p:nvCxnSpPr>
        <p:spPr>
          <a:xfrm>
            <a:off x="8819624" y="5385939"/>
            <a:ext cx="0" cy="120085"/>
          </a:xfrm>
          <a:prstGeom prst="line">
            <a:avLst/>
          </a:prstGeom>
          <a:solidFill>
            <a:srgbClr val="4472C4"/>
          </a:solidFill>
          <a:ln w="28575" cap="flat" cmpd="sng" algn="ctr">
            <a:solidFill>
              <a:srgbClr val="FFFF00"/>
            </a:solidFill>
            <a:prstDash val="solid"/>
          </a:ln>
          <a:effectLst/>
        </p:spPr>
      </p:cxnSp>
      <p:cxnSp>
        <p:nvCxnSpPr>
          <p:cNvPr id="725" name="직선 연결선 724">
            <a:extLst>
              <a:ext uri="{FF2B5EF4-FFF2-40B4-BE49-F238E27FC236}">
                <a16:creationId xmlns:a16="http://schemas.microsoft.com/office/drawing/2014/main" id="{DFE60879-F670-42FD-837F-D61FAF577E44}"/>
              </a:ext>
            </a:extLst>
          </p:cNvPr>
          <p:cNvCxnSpPr>
            <a:cxnSpLocks/>
          </p:cNvCxnSpPr>
          <p:nvPr/>
        </p:nvCxnSpPr>
        <p:spPr>
          <a:xfrm>
            <a:off x="9280046" y="5385939"/>
            <a:ext cx="0" cy="120085"/>
          </a:xfrm>
          <a:prstGeom prst="line">
            <a:avLst/>
          </a:prstGeom>
          <a:solidFill>
            <a:srgbClr val="4472C4"/>
          </a:solidFill>
          <a:ln w="28575" cap="flat" cmpd="sng" algn="ctr">
            <a:solidFill>
              <a:srgbClr val="FFFF00"/>
            </a:solidFill>
            <a:prstDash val="solid"/>
          </a:ln>
          <a:effectLst/>
        </p:spPr>
      </p:cxnSp>
      <p:cxnSp>
        <p:nvCxnSpPr>
          <p:cNvPr id="726" name="직선 연결선 725">
            <a:extLst>
              <a:ext uri="{FF2B5EF4-FFF2-40B4-BE49-F238E27FC236}">
                <a16:creationId xmlns:a16="http://schemas.microsoft.com/office/drawing/2014/main" id="{6DDA4DAA-D8AB-4316-A6EC-43C3AB83CABA}"/>
              </a:ext>
            </a:extLst>
          </p:cNvPr>
          <p:cNvCxnSpPr>
            <a:cxnSpLocks/>
          </p:cNvCxnSpPr>
          <p:nvPr/>
        </p:nvCxnSpPr>
        <p:spPr>
          <a:xfrm>
            <a:off x="9002428" y="5287099"/>
            <a:ext cx="0" cy="120085"/>
          </a:xfrm>
          <a:prstGeom prst="line">
            <a:avLst/>
          </a:prstGeom>
          <a:solidFill>
            <a:srgbClr val="4472C4"/>
          </a:solidFill>
          <a:ln w="28575" cap="flat" cmpd="sng" algn="ctr">
            <a:solidFill>
              <a:srgbClr val="FFFF00"/>
            </a:solidFill>
            <a:prstDash val="solid"/>
          </a:ln>
          <a:effectLst/>
        </p:spPr>
      </p:cxnSp>
      <p:cxnSp>
        <p:nvCxnSpPr>
          <p:cNvPr id="727" name="직선 연결선 726">
            <a:extLst>
              <a:ext uri="{FF2B5EF4-FFF2-40B4-BE49-F238E27FC236}">
                <a16:creationId xmlns:a16="http://schemas.microsoft.com/office/drawing/2014/main" id="{8A62FF43-75BB-45B9-83E1-A84A1869C878}"/>
              </a:ext>
            </a:extLst>
          </p:cNvPr>
          <p:cNvCxnSpPr>
            <a:cxnSpLocks/>
          </p:cNvCxnSpPr>
          <p:nvPr/>
        </p:nvCxnSpPr>
        <p:spPr>
          <a:xfrm>
            <a:off x="8910343" y="5287099"/>
            <a:ext cx="0" cy="120085"/>
          </a:xfrm>
          <a:prstGeom prst="line">
            <a:avLst/>
          </a:prstGeom>
          <a:solidFill>
            <a:srgbClr val="4472C4"/>
          </a:solidFill>
          <a:ln w="28575" cap="flat" cmpd="sng" algn="ctr">
            <a:solidFill>
              <a:srgbClr val="FFFF00"/>
            </a:solidFill>
            <a:prstDash val="solid"/>
          </a:ln>
          <a:effectLst/>
        </p:spPr>
      </p:cxnSp>
      <p:cxnSp>
        <p:nvCxnSpPr>
          <p:cNvPr id="728" name="직선 연결선 727">
            <a:extLst>
              <a:ext uri="{FF2B5EF4-FFF2-40B4-BE49-F238E27FC236}">
                <a16:creationId xmlns:a16="http://schemas.microsoft.com/office/drawing/2014/main" id="{BD6C4E75-A0F0-40D0-95CC-1C84850AEEF8}"/>
              </a:ext>
            </a:extLst>
          </p:cNvPr>
          <p:cNvCxnSpPr>
            <a:cxnSpLocks/>
          </p:cNvCxnSpPr>
          <p:nvPr/>
        </p:nvCxnSpPr>
        <p:spPr>
          <a:xfrm>
            <a:off x="9094512" y="5287099"/>
            <a:ext cx="0" cy="120085"/>
          </a:xfrm>
          <a:prstGeom prst="line">
            <a:avLst/>
          </a:prstGeom>
          <a:solidFill>
            <a:srgbClr val="4472C4"/>
          </a:solidFill>
          <a:ln w="28575" cap="flat" cmpd="sng" algn="ctr">
            <a:solidFill>
              <a:srgbClr val="FFFF00"/>
            </a:solidFill>
            <a:prstDash val="solid"/>
          </a:ln>
          <a:effectLst/>
        </p:spPr>
      </p:cxnSp>
      <p:cxnSp>
        <p:nvCxnSpPr>
          <p:cNvPr id="729" name="직선 연결선 728">
            <a:extLst>
              <a:ext uri="{FF2B5EF4-FFF2-40B4-BE49-F238E27FC236}">
                <a16:creationId xmlns:a16="http://schemas.microsoft.com/office/drawing/2014/main" id="{12E47143-E3DF-46CC-878D-7B890402E578}"/>
              </a:ext>
            </a:extLst>
          </p:cNvPr>
          <p:cNvCxnSpPr>
            <a:cxnSpLocks/>
          </p:cNvCxnSpPr>
          <p:nvPr/>
        </p:nvCxnSpPr>
        <p:spPr>
          <a:xfrm>
            <a:off x="9187818" y="5287099"/>
            <a:ext cx="0" cy="120085"/>
          </a:xfrm>
          <a:prstGeom prst="line">
            <a:avLst/>
          </a:prstGeom>
          <a:solidFill>
            <a:srgbClr val="4472C4"/>
          </a:solidFill>
          <a:ln w="28575" cap="flat" cmpd="sng" algn="ctr">
            <a:solidFill>
              <a:srgbClr val="FFFF00"/>
            </a:solidFill>
            <a:prstDash val="solid"/>
          </a:ln>
          <a:effectLst/>
        </p:spPr>
      </p:cxnSp>
      <p:sp>
        <p:nvSpPr>
          <p:cNvPr id="590" name="TextBox 589">
            <a:extLst>
              <a:ext uri="{FF2B5EF4-FFF2-40B4-BE49-F238E27FC236}">
                <a16:creationId xmlns:a16="http://schemas.microsoft.com/office/drawing/2014/main" id="{D3151EAC-0A46-4418-8B4C-9467F2B4FD59}"/>
              </a:ext>
            </a:extLst>
          </p:cNvPr>
          <p:cNvSpPr txBox="1"/>
          <p:nvPr/>
        </p:nvSpPr>
        <p:spPr>
          <a:xfrm>
            <a:off x="8792029" y="5243027"/>
            <a:ext cx="532518"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cs typeface="+mn-cs"/>
              </a:rPr>
              <a:t>Interlayer</a:t>
            </a:r>
            <a:endParaRPr kumimoji="0" lang="ko-KR" altLang="en-US" sz="600" b="1" i="0" u="none" strike="noStrike" kern="0" cap="none" spc="0" normalizeH="0" baseline="0" noProof="0" dirty="0">
              <a:ln>
                <a:noFill/>
              </a:ln>
              <a:solidFill>
                <a:prstClr val="black"/>
              </a:solidFill>
              <a:effectLst/>
              <a:uLnTx/>
              <a:uFillTx/>
              <a:latin typeface="맑은 고딕"/>
              <a:ea typeface="맑은 고딕"/>
              <a:cs typeface="+mn-cs"/>
            </a:endParaRPr>
          </a:p>
        </p:txBody>
      </p:sp>
      <p:sp>
        <p:nvSpPr>
          <p:cNvPr id="339" name="TextBox 338"/>
          <p:cNvSpPr txBox="1"/>
          <p:nvPr/>
        </p:nvSpPr>
        <p:spPr>
          <a:xfrm>
            <a:off x="8551940" y="3839680"/>
            <a:ext cx="922047" cy="400110"/>
          </a:xfrm>
          <a:prstGeom prst="rect">
            <a:avLst/>
          </a:prstGeom>
          <a:noFill/>
        </p:spPr>
        <p:txBody>
          <a:bodyPr wrap="non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+ 4x4/2x2/1x1</a:t>
            </a:r>
            <a:b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b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PE, IO-die</a:t>
            </a:r>
          </a:p>
        </p:txBody>
      </p:sp>
      <p:sp>
        <p:nvSpPr>
          <p:cNvPr id="340" name="TextBox 339"/>
          <p:cNvSpPr txBox="1"/>
          <p:nvPr/>
        </p:nvSpPr>
        <p:spPr>
          <a:xfrm>
            <a:off x="6510506" y="3831369"/>
            <a:ext cx="1356462" cy="246221"/>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D2D, Mem. Controller</a:t>
            </a:r>
          </a:p>
        </p:txBody>
      </p:sp>
      <p:sp>
        <p:nvSpPr>
          <p:cNvPr id="341" name="TextBox 340"/>
          <p:cNvSpPr txBox="1"/>
          <p:nvPr/>
        </p:nvSpPr>
        <p:spPr>
          <a:xfrm>
            <a:off x="10236500" y="3830398"/>
            <a:ext cx="1284326" cy="400110"/>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3D-IC, Ultra High BW</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F/F, low capacity</a:t>
            </a:r>
          </a:p>
        </p:txBody>
      </p:sp>
      <p:sp>
        <p:nvSpPr>
          <p:cNvPr id="342" name="TextBox 341"/>
          <p:cNvSpPr txBox="1"/>
          <p:nvPr/>
        </p:nvSpPr>
        <p:spPr>
          <a:xfrm>
            <a:off x="6468520" y="6135725"/>
            <a:ext cx="1503938" cy="246221"/>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Low latency, </a:t>
            </a:r>
            <a:r>
              <a:rPr kumimoji="0" lang="en-US" altLang="ko-KR" sz="1000" b="1" i="0" u="none" strike="noStrike" kern="1200" cap="none" spc="0" normalizeH="0" baseline="0" noProof="0" dirty="0" err="1">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tR</a:t>
            </a: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=1~10us</a:t>
            </a:r>
          </a:p>
        </p:txBody>
      </p:sp>
      <p:sp>
        <p:nvSpPr>
          <p:cNvPr id="343" name="TextBox 342"/>
          <p:cNvSpPr txBox="1"/>
          <p:nvPr/>
        </p:nvSpPr>
        <p:spPr>
          <a:xfrm>
            <a:off x="8314232" y="6135725"/>
            <a:ext cx="1604927" cy="246221"/>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High Capacity, </a:t>
            </a:r>
            <a:r>
              <a:rPr kumimoji="0" lang="en-US" altLang="ko-KR" sz="1000" b="1" i="0" u="none" strike="noStrike" kern="1200" cap="none" spc="0" normalizeH="0" baseline="0" noProof="0" dirty="0" err="1">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tR</a:t>
            </a: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=1~10us</a:t>
            </a:r>
          </a:p>
        </p:txBody>
      </p:sp>
      <p:sp>
        <p:nvSpPr>
          <p:cNvPr id="344" name="TextBox 343"/>
          <p:cNvSpPr txBox="1"/>
          <p:nvPr/>
        </p:nvSpPr>
        <p:spPr>
          <a:xfrm>
            <a:off x="10072174" y="6135725"/>
            <a:ext cx="1604928" cy="246221"/>
          </a:xfrm>
          <a:prstGeom prst="rect">
            <a:avLst/>
          </a:prstGeom>
          <a:noFill/>
        </p:spPr>
        <p:txBody>
          <a:bodyPr wrap="non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Vector DB </a:t>
            </a:r>
            <a:r>
              <a:rPr kumimoji="0" lang="en-US" altLang="ko-KR" sz="1000" b="1" i="0" u="none" strike="noStrike" kern="1200" cap="none" spc="0" normalizeH="0" baseline="0" noProof="0" dirty="0" err="1">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accel</a:t>
            </a: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 </a:t>
            </a:r>
            <a:r>
              <a:rPr kumimoji="0" lang="en-US" altLang="ko-KR" sz="1000" b="1" i="0" u="none" strike="noStrike" kern="1200" cap="none" spc="0" normalizeH="0" baseline="0" noProof="0" dirty="0" err="1">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tR</a:t>
            </a:r>
            <a:r>
              <a:rPr kumimoji="0" lang="en-US" altLang="ko-KR" sz="1000" b="1" i="0" u="none" strike="noStrike" kern="1200" cap="none" spc="0" normalizeH="0" baseline="0" noProof="0" dirty="0">
                <a:ln>
                  <a:noFill/>
                </a:ln>
                <a:solidFill>
                  <a:srgbClr val="FFFFFF">
                    <a:lumMod val="50000"/>
                  </a:srgbClr>
                </a:solidFill>
                <a:effectLst/>
                <a:uLnTx/>
                <a:uFillTx/>
                <a:latin typeface="SAMSUNGONE-600C" panose="020B0503030303020204" pitchFamily="34" charset="-127"/>
                <a:ea typeface="SAMSUNGONE-600C" panose="020B0503030303020204" pitchFamily="34" charset="-127"/>
                <a:cs typeface="+mn-cs"/>
              </a:rPr>
              <a:t>=30us</a:t>
            </a:r>
          </a:p>
        </p:txBody>
      </p:sp>
      <p:sp>
        <p:nvSpPr>
          <p:cNvPr id="346" name="실행 단추: 뒤로 또는 이전 345">
            <a:hlinkClick r:id="rId4" action="ppaction://hlinksldjump" highlightClick="1"/>
          </p:cNvPr>
          <p:cNvSpPr/>
          <p:nvPr/>
        </p:nvSpPr>
        <p:spPr>
          <a:xfrm>
            <a:off x="10278951" y="361705"/>
            <a:ext cx="328210" cy="320040"/>
          </a:xfrm>
          <a:prstGeom prst="actionButtonBackPrevious">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97670070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Samsung Future Memory for AI</a:t>
            </a:r>
            <a:endParaRPr lang="ko-KR" altLang="en-US" dirty="0"/>
          </a:p>
        </p:txBody>
      </p:sp>
      <p:sp>
        <p:nvSpPr>
          <p:cNvPr id="3" name="내용 개체 틀 2"/>
          <p:cNvSpPr>
            <a:spLocks noGrp="1"/>
          </p:cNvSpPr>
          <p:nvPr>
            <p:ph idx="10"/>
          </p:nvPr>
        </p:nvSpPr>
        <p:spPr/>
        <p:txBody>
          <a:bodyPr/>
          <a:lstStyle/>
          <a:p>
            <a:r>
              <a:rPr lang="en-US" altLang="ko-KR" dirty="0"/>
              <a:t>Samsung is expanding its portfolio of memory products for AI</a:t>
            </a:r>
          </a:p>
          <a:p>
            <a:pPr lvl="1"/>
            <a:r>
              <a:rPr lang="en-US" altLang="ko-KR" dirty="0"/>
              <a:t>DRAM (</a:t>
            </a:r>
            <a:r>
              <a:rPr lang="en-US" altLang="ko-KR" dirty="0" err="1"/>
              <a:t>cHBM</a:t>
            </a:r>
            <a:r>
              <a:rPr lang="en-US" altLang="ko-KR" dirty="0"/>
              <a:t>, ScHBM, zHBM)</a:t>
            </a:r>
          </a:p>
          <a:p>
            <a:pPr lvl="1"/>
            <a:r>
              <a:rPr lang="en-US" altLang="ko-KR" dirty="0"/>
              <a:t>NAND (</a:t>
            </a:r>
            <a:r>
              <a:rPr lang="en-US" altLang="ko-KR" dirty="0" err="1"/>
              <a:t>zNAND</a:t>
            </a:r>
            <a:r>
              <a:rPr lang="en-US" altLang="ko-KR" dirty="0"/>
              <a:t>, HBF, SSD-PIM)</a:t>
            </a:r>
            <a:endParaRPr lang="ko-KR" altLang="en-US" dirty="0"/>
          </a:p>
        </p:txBody>
      </p:sp>
      <p:graphicFrame>
        <p:nvGraphicFramePr>
          <p:cNvPr id="5" name="표 4"/>
          <p:cNvGraphicFramePr>
            <a:graphicFrameLocks noGrp="1"/>
          </p:cNvGraphicFramePr>
          <p:nvPr/>
        </p:nvGraphicFramePr>
        <p:xfrm>
          <a:off x="5270558" y="2673349"/>
          <a:ext cx="6369945" cy="3474593"/>
        </p:xfrm>
        <a:graphic>
          <a:graphicData uri="http://schemas.openxmlformats.org/drawingml/2006/table">
            <a:tbl>
              <a:tblPr>
                <a:tableStyleId>{5940675A-B579-460E-94D1-54222C63F5DA}</a:tableStyleId>
              </a:tblPr>
              <a:tblGrid>
                <a:gridCol w="1273989">
                  <a:extLst>
                    <a:ext uri="{9D8B030D-6E8A-4147-A177-3AD203B41FA5}">
                      <a16:colId xmlns:a16="http://schemas.microsoft.com/office/drawing/2014/main" val="1674815726"/>
                    </a:ext>
                  </a:extLst>
                </a:gridCol>
                <a:gridCol w="1273989">
                  <a:extLst>
                    <a:ext uri="{9D8B030D-6E8A-4147-A177-3AD203B41FA5}">
                      <a16:colId xmlns:a16="http://schemas.microsoft.com/office/drawing/2014/main" val="1173558489"/>
                    </a:ext>
                  </a:extLst>
                </a:gridCol>
                <a:gridCol w="1273989">
                  <a:extLst>
                    <a:ext uri="{9D8B030D-6E8A-4147-A177-3AD203B41FA5}">
                      <a16:colId xmlns:a16="http://schemas.microsoft.com/office/drawing/2014/main" val="181807868"/>
                    </a:ext>
                  </a:extLst>
                </a:gridCol>
                <a:gridCol w="1273989">
                  <a:extLst>
                    <a:ext uri="{9D8B030D-6E8A-4147-A177-3AD203B41FA5}">
                      <a16:colId xmlns:a16="http://schemas.microsoft.com/office/drawing/2014/main" val="1398234861"/>
                    </a:ext>
                  </a:extLst>
                </a:gridCol>
                <a:gridCol w="1273989">
                  <a:extLst>
                    <a:ext uri="{9D8B030D-6E8A-4147-A177-3AD203B41FA5}">
                      <a16:colId xmlns:a16="http://schemas.microsoft.com/office/drawing/2014/main" val="2143319620"/>
                    </a:ext>
                  </a:extLst>
                </a:gridCol>
              </a:tblGrid>
              <a:tr h="1099781">
                <a:tc>
                  <a:txBody>
                    <a:bodyPr/>
                    <a:lstStyle/>
                    <a:p>
                      <a:pPr algn="ctr"/>
                      <a:r>
                        <a:rPr lang="en-US" altLang="ko-KR" sz="1600" b="1" dirty="0">
                          <a:solidFill>
                            <a:schemeClr val="bg1"/>
                          </a:solidFill>
                        </a:rPr>
                        <a:t>Category</a:t>
                      </a:r>
                      <a:endParaRPr lang="ko-KR" altLang="en-US" sz="1600" b="1"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ko-KR" sz="1600" b="1" dirty="0">
                          <a:solidFill>
                            <a:schemeClr val="bg1"/>
                          </a:solidFill>
                        </a:rPr>
                        <a:t>Name</a:t>
                      </a:r>
                      <a:endParaRPr lang="ko-KR" altLang="en-US" sz="1600" b="1"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600" b="1" dirty="0">
                          <a:solidFill>
                            <a:schemeClr val="bg1"/>
                          </a:solidFill>
                        </a:rPr>
                        <a:t>High Bandwidth</a:t>
                      </a:r>
                      <a:endParaRPr lang="ko-KR" altLang="en-US" sz="1600" b="1"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ko-KR" sz="1600" b="1" dirty="0">
                          <a:solidFill>
                            <a:schemeClr val="bg1"/>
                          </a:solidFill>
                        </a:rPr>
                        <a:t>High</a:t>
                      </a:r>
                    </a:p>
                    <a:p>
                      <a:pPr algn="ctr"/>
                      <a:r>
                        <a:rPr lang="en-US" altLang="ko-KR" sz="1600" b="1" dirty="0">
                          <a:solidFill>
                            <a:schemeClr val="bg1"/>
                          </a:solidFill>
                        </a:rPr>
                        <a:t>Capacity</a:t>
                      </a:r>
                      <a:endParaRPr lang="ko-KR" altLang="en-US" sz="1600" b="1"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600" b="1" dirty="0">
                          <a:solidFill>
                            <a:schemeClr val="bg1"/>
                          </a:solidFill>
                        </a:rPr>
                        <a:t>Computing (PE) in Logic H/W</a:t>
                      </a:r>
                      <a:endParaRPr lang="en-US" altLang="ko-KR" sz="1600" b="1"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48989183"/>
                  </a:ext>
                </a:extLst>
              </a:tr>
              <a:tr h="395802">
                <a:tc>
                  <a:txBody>
                    <a:bodyPr/>
                    <a:lstStyle/>
                    <a:p>
                      <a:pPr algn="ctr"/>
                      <a:r>
                        <a:rPr lang="en-US" sz="1400" b="1" dirty="0">
                          <a:solidFill>
                            <a:schemeClr val="bg1"/>
                          </a:solidFill>
                        </a:rPr>
                        <a:t>DRAM</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b="1" dirty="0" err="1">
                          <a:solidFill>
                            <a:srgbClr val="70AD47"/>
                          </a:solidFill>
                        </a:rPr>
                        <a:t>cHBM</a:t>
                      </a:r>
                      <a:endParaRPr lang="en-US" sz="1400" b="1" dirty="0">
                        <a:solidFill>
                          <a:srgbClr val="70AD47"/>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31965372"/>
                  </a:ext>
                </a:extLst>
              </a:tr>
              <a:tr h="395802">
                <a:tc>
                  <a:txBody>
                    <a:bodyPr/>
                    <a:lstStyle/>
                    <a:p>
                      <a:pPr algn="ctr"/>
                      <a:r>
                        <a:rPr lang="en-US" sz="1400" b="1" dirty="0">
                          <a:solidFill>
                            <a:schemeClr val="bg1"/>
                          </a:solidFill>
                        </a:rPr>
                        <a:t>DRAM</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b="1" dirty="0">
                          <a:solidFill>
                            <a:srgbClr val="70AD47"/>
                          </a:solidFill>
                        </a:rPr>
                        <a:t>ScHBM</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lvl="0" indent="0" algn="ctr" defTabSz="609555" rtl="0" eaLnBrk="1" fontAlgn="auto" latinLnBrk="0" hangingPunct="1">
                        <a:lnSpc>
                          <a:spcPct val="100000"/>
                        </a:lnSpc>
                        <a:spcBef>
                          <a:spcPts val="0"/>
                        </a:spcBef>
                        <a:spcAft>
                          <a:spcPts val="0"/>
                        </a:spcAft>
                        <a:buClrTx/>
                        <a:buSzTx/>
                        <a:buFontTx/>
                        <a:buNone/>
                        <a:tabLst/>
                        <a:defRPr/>
                      </a:pPr>
                      <a:r>
                        <a:rPr lang="en-US" altLang="ko-KR"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819877070"/>
                  </a:ext>
                </a:extLst>
              </a:tr>
              <a:tr h="395802">
                <a:tc>
                  <a:txBody>
                    <a:bodyPr/>
                    <a:lstStyle/>
                    <a:p>
                      <a:pPr marL="0" marR="0" lvl="0" indent="0" algn="ctr" defTabSz="609586" rtl="0" eaLnBrk="1" fontAlgn="auto" latinLnBrk="0" hangingPunct="1">
                        <a:lnSpc>
                          <a:spcPct val="100000"/>
                        </a:lnSpc>
                        <a:spcBef>
                          <a:spcPts val="0"/>
                        </a:spcBef>
                        <a:spcAft>
                          <a:spcPts val="0"/>
                        </a:spcAft>
                        <a:buClrTx/>
                        <a:buSzTx/>
                        <a:buFontTx/>
                        <a:buNone/>
                        <a:tabLst/>
                        <a:defRPr/>
                      </a:pPr>
                      <a:r>
                        <a:rPr lang="en-US" altLang="ko-KR" sz="1400" b="1" dirty="0">
                          <a:solidFill>
                            <a:schemeClr val="bg1"/>
                          </a:solidFill>
                        </a:rPr>
                        <a:t>DRAM</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b="1" dirty="0">
                          <a:solidFill>
                            <a:srgbClr val="70AD47"/>
                          </a:solidFill>
                        </a:rPr>
                        <a:t>zHBM</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ko-KR" sz="1400" dirty="0">
                          <a:solidFill>
                            <a:schemeClr val="bg1"/>
                          </a:solidFill>
                        </a:rPr>
                        <a:t>O (Higher)</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788297735"/>
                  </a:ext>
                </a:extLst>
              </a:tr>
              <a:tr h="395802">
                <a:tc>
                  <a:txBody>
                    <a:bodyPr/>
                    <a:lstStyle/>
                    <a:p>
                      <a:pPr algn="ctr"/>
                      <a:r>
                        <a:rPr lang="en-US" sz="1400" b="1" dirty="0">
                          <a:solidFill>
                            <a:schemeClr val="bg1"/>
                          </a:solidFill>
                        </a:rPr>
                        <a:t>NAND</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b="1" dirty="0" err="1">
                          <a:solidFill>
                            <a:srgbClr val="70AD47"/>
                          </a:solidFill>
                        </a:rPr>
                        <a:t>zNAND</a:t>
                      </a:r>
                      <a:endParaRPr lang="en-US" sz="1400" b="1" dirty="0">
                        <a:solidFill>
                          <a:srgbClr val="70AD47"/>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lvl="0" indent="0" algn="ctr" defTabSz="609555" rtl="0" eaLnBrk="1" fontAlgn="auto" latinLnBrk="0" hangingPunct="1">
                        <a:lnSpc>
                          <a:spcPct val="100000"/>
                        </a:lnSpc>
                        <a:spcBef>
                          <a:spcPts val="0"/>
                        </a:spcBef>
                        <a:spcAft>
                          <a:spcPts val="0"/>
                        </a:spcAft>
                        <a:buClrTx/>
                        <a:buSzTx/>
                        <a:buFontTx/>
                        <a:buNone/>
                        <a:tabLst/>
                        <a:defRPr/>
                      </a:pPr>
                      <a:r>
                        <a:rPr lang="en-US" altLang="ko-KR"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900250579"/>
                  </a:ext>
                </a:extLst>
              </a:tr>
              <a:tr h="395802">
                <a:tc>
                  <a:txBody>
                    <a:bodyPr/>
                    <a:lstStyle/>
                    <a:p>
                      <a:pPr algn="ctr"/>
                      <a:r>
                        <a:rPr lang="en-US" sz="1400" b="1" dirty="0">
                          <a:solidFill>
                            <a:schemeClr val="bg1"/>
                          </a:solidFill>
                        </a:rPr>
                        <a:t>NAND</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b="1" dirty="0">
                          <a:solidFill>
                            <a:srgbClr val="70AD47"/>
                          </a:solidFill>
                        </a:rPr>
                        <a:t>HBF</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lvl="0" indent="0" algn="ctr" defTabSz="609555" rtl="0" eaLnBrk="1" fontAlgn="auto" latinLnBrk="0" hangingPunct="1">
                        <a:lnSpc>
                          <a:spcPct val="100000"/>
                        </a:lnSpc>
                        <a:spcBef>
                          <a:spcPts val="0"/>
                        </a:spcBef>
                        <a:spcAft>
                          <a:spcPts val="0"/>
                        </a:spcAft>
                        <a:buClrTx/>
                        <a:buSzTx/>
                        <a:buFontTx/>
                        <a:buNone/>
                        <a:tabLst/>
                        <a:defRPr/>
                      </a:pPr>
                      <a:r>
                        <a:rPr lang="en-US" altLang="ko-KR"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lvl="0" indent="0" algn="ctr" defTabSz="609555" rtl="0" eaLnBrk="1" fontAlgn="auto" latinLnBrk="0" hangingPunct="1">
                        <a:lnSpc>
                          <a:spcPct val="100000"/>
                        </a:lnSpc>
                        <a:spcBef>
                          <a:spcPts val="0"/>
                        </a:spcBef>
                        <a:spcAft>
                          <a:spcPts val="0"/>
                        </a:spcAft>
                        <a:buClrTx/>
                        <a:buSzTx/>
                        <a:buFontTx/>
                        <a:buNone/>
                        <a:tabLst/>
                        <a:defRPr/>
                      </a:pPr>
                      <a:r>
                        <a:rPr lang="en-US" altLang="ko-KR"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89869404"/>
                  </a:ext>
                </a:extLst>
              </a:tr>
              <a:tr h="395802">
                <a:tc>
                  <a:txBody>
                    <a:bodyPr/>
                    <a:lstStyle/>
                    <a:p>
                      <a:pPr algn="ctr"/>
                      <a:r>
                        <a:rPr lang="en-US" sz="1400" b="1" dirty="0">
                          <a:solidFill>
                            <a:schemeClr val="bg1"/>
                          </a:solidFill>
                        </a:rPr>
                        <a:t>NAND</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sz="1400" b="1" dirty="0">
                          <a:solidFill>
                            <a:srgbClr val="70AD47"/>
                          </a:solidFill>
                        </a:rPr>
                        <a:t>SSD-PIM</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en-US" sz="1400" dirty="0">
                        <a:solidFill>
                          <a:schemeClr val="bg1"/>
                        </a:solidFill>
                      </a:endParaRP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lvl="0" indent="0" algn="ctr" defTabSz="609555" rtl="0" eaLnBrk="1" fontAlgn="auto" latinLnBrk="0" hangingPunct="1">
                        <a:lnSpc>
                          <a:spcPct val="100000"/>
                        </a:lnSpc>
                        <a:spcBef>
                          <a:spcPts val="0"/>
                        </a:spcBef>
                        <a:spcAft>
                          <a:spcPts val="0"/>
                        </a:spcAft>
                        <a:buClrTx/>
                        <a:buSzTx/>
                        <a:buFontTx/>
                        <a:buNone/>
                        <a:tabLst/>
                        <a:defRPr/>
                      </a:pPr>
                      <a:r>
                        <a:rPr lang="en-US" altLang="ko-KR"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marL="0" marR="0" lvl="0" indent="0" algn="ctr" defTabSz="609555" rtl="0" eaLnBrk="1" fontAlgn="auto" latinLnBrk="0" hangingPunct="1">
                        <a:lnSpc>
                          <a:spcPct val="100000"/>
                        </a:lnSpc>
                        <a:spcBef>
                          <a:spcPts val="0"/>
                        </a:spcBef>
                        <a:spcAft>
                          <a:spcPts val="0"/>
                        </a:spcAft>
                        <a:buClrTx/>
                        <a:buSzTx/>
                        <a:buFontTx/>
                        <a:buNone/>
                        <a:tabLst/>
                        <a:defRPr/>
                      </a:pPr>
                      <a:r>
                        <a:rPr lang="en-US" altLang="ko-KR" sz="1400" dirty="0">
                          <a:solidFill>
                            <a:schemeClr val="bg1"/>
                          </a:solidFill>
                        </a:rPr>
                        <a:t>O</a:t>
                      </a:r>
                    </a:p>
                  </a:txBody>
                  <a:tcPr marL="61286" marR="61286" marT="30643" marB="30643"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44670244"/>
                  </a:ext>
                </a:extLst>
              </a:tr>
            </a:tbl>
          </a:graphicData>
        </a:graphic>
      </p:graphicFrame>
      <p:grpSp>
        <p:nvGrpSpPr>
          <p:cNvPr id="4" name="그룹 3"/>
          <p:cNvGrpSpPr/>
          <p:nvPr/>
        </p:nvGrpSpPr>
        <p:grpSpPr>
          <a:xfrm>
            <a:off x="525701" y="2754093"/>
            <a:ext cx="1402441" cy="1319083"/>
            <a:chOff x="525701" y="2754093"/>
            <a:chExt cx="1402441" cy="1319083"/>
          </a:xfrm>
        </p:grpSpPr>
        <p:sp>
          <p:nvSpPr>
            <p:cNvPr id="139" name="TextBox 138">
              <a:extLst>
                <a:ext uri="{FF2B5EF4-FFF2-40B4-BE49-F238E27FC236}">
                  <a16:creationId xmlns:a16="http://schemas.microsoft.com/office/drawing/2014/main" id="{987DEFE5-E808-4F43-9A0A-CFF684213AF6}"/>
                </a:ext>
              </a:extLst>
            </p:cNvPr>
            <p:cNvSpPr txBox="1"/>
            <p:nvPr/>
          </p:nvSpPr>
          <p:spPr>
            <a:xfrm>
              <a:off x="850212" y="3668162"/>
              <a:ext cx="879790" cy="265728"/>
            </a:xfrm>
            <a:prstGeom prst="rect">
              <a:avLst/>
            </a:prstGeom>
            <a:noFill/>
          </p:spPr>
          <p:txBody>
            <a:bodyPr wrap="square" rtlCol="0">
              <a:spAutoFit/>
            </a:bodyPr>
            <a:lstStyle/>
            <a:p>
              <a:pPr algn="ctr" defTabSz="914400"/>
              <a:r>
                <a:rPr lang="en-US" altLang="ko-KR" sz="1400" b="1" dirty="0" err="1">
                  <a:solidFill>
                    <a:schemeClr val="bg1"/>
                  </a:solidFill>
                  <a:latin typeface="SAMSUNGONE-600C" panose="020B0503030303020204" pitchFamily="34" charset="-127"/>
                  <a:ea typeface="SAMSUNGONE-600C" panose="020B0503030303020204" pitchFamily="34" charset="-127"/>
                </a:rPr>
                <a:t>cHBM</a:t>
              </a:r>
              <a:endParaRPr lang="en-US" altLang="ko-KR" sz="1400" b="1" dirty="0">
                <a:solidFill>
                  <a:schemeClr val="bg1"/>
                </a:solidFill>
                <a:latin typeface="SAMSUNGONE-600C" panose="020B0503030303020204" pitchFamily="34" charset="-127"/>
                <a:ea typeface="SAMSUNGONE-600C" panose="020B0503030303020204" pitchFamily="34" charset="-127"/>
              </a:endParaRPr>
            </a:p>
          </p:txBody>
        </p:sp>
        <p:grpSp>
          <p:nvGrpSpPr>
            <p:cNvPr id="142" name="그룹 141">
              <a:extLst>
                <a:ext uri="{FF2B5EF4-FFF2-40B4-BE49-F238E27FC236}">
                  <a16:creationId xmlns:a16="http://schemas.microsoft.com/office/drawing/2014/main" id="{BABA9646-C2E1-46BE-BCE2-06B7052E8A7F}"/>
                </a:ext>
              </a:extLst>
            </p:cNvPr>
            <p:cNvGrpSpPr/>
            <p:nvPr/>
          </p:nvGrpSpPr>
          <p:grpSpPr>
            <a:xfrm>
              <a:off x="567342" y="2822833"/>
              <a:ext cx="1280824" cy="773713"/>
              <a:chOff x="9517429" y="4011509"/>
              <a:chExt cx="1611726" cy="887512"/>
            </a:xfrm>
          </p:grpSpPr>
          <p:grpSp>
            <p:nvGrpSpPr>
              <p:cNvPr id="143" name="그룹 142">
                <a:extLst>
                  <a:ext uri="{FF2B5EF4-FFF2-40B4-BE49-F238E27FC236}">
                    <a16:creationId xmlns:a16="http://schemas.microsoft.com/office/drawing/2014/main" id="{922AF680-4216-49FB-977C-AC93862EEEBD}"/>
                  </a:ext>
                </a:extLst>
              </p:cNvPr>
              <p:cNvGrpSpPr/>
              <p:nvPr/>
            </p:nvGrpSpPr>
            <p:grpSpPr>
              <a:xfrm>
                <a:off x="9517429" y="4515960"/>
                <a:ext cx="1611726" cy="383061"/>
                <a:chOff x="8376838" y="4973135"/>
                <a:chExt cx="1611726" cy="383061"/>
              </a:xfrm>
            </p:grpSpPr>
            <p:sp>
              <p:nvSpPr>
                <p:cNvPr id="170" name="Oval 630">
                  <a:extLst>
                    <a:ext uri="{FF2B5EF4-FFF2-40B4-BE49-F238E27FC236}">
                      <a16:creationId xmlns:a16="http://schemas.microsoft.com/office/drawing/2014/main" id="{D141000B-7565-403A-BCE4-A2246F8E5386}"/>
                    </a:ext>
                  </a:extLst>
                </p:cNvPr>
                <p:cNvSpPr>
                  <a:spLocks noChangeArrowheads="1"/>
                </p:cNvSpPr>
                <p:nvPr/>
              </p:nvSpPr>
              <p:spPr bwMode="auto">
                <a:xfrm>
                  <a:off x="8430170"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1" name="Oval 630">
                  <a:extLst>
                    <a:ext uri="{FF2B5EF4-FFF2-40B4-BE49-F238E27FC236}">
                      <a16:creationId xmlns:a16="http://schemas.microsoft.com/office/drawing/2014/main" id="{8BB260A3-2D79-4189-896E-B0B0C8F9E845}"/>
                    </a:ext>
                  </a:extLst>
                </p:cNvPr>
                <p:cNvSpPr>
                  <a:spLocks noChangeArrowheads="1"/>
                </p:cNvSpPr>
                <p:nvPr/>
              </p:nvSpPr>
              <p:spPr bwMode="auto">
                <a:xfrm>
                  <a:off x="854969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2" name="Oval 630">
                  <a:extLst>
                    <a:ext uri="{FF2B5EF4-FFF2-40B4-BE49-F238E27FC236}">
                      <a16:creationId xmlns:a16="http://schemas.microsoft.com/office/drawing/2014/main" id="{FE95721B-E3DB-41C3-B5D8-A0FC99569B8F}"/>
                    </a:ext>
                  </a:extLst>
                </p:cNvPr>
                <p:cNvSpPr>
                  <a:spLocks noChangeArrowheads="1"/>
                </p:cNvSpPr>
                <p:nvPr/>
              </p:nvSpPr>
              <p:spPr bwMode="auto">
                <a:xfrm>
                  <a:off x="8669215"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3" name="Oval 630">
                  <a:extLst>
                    <a:ext uri="{FF2B5EF4-FFF2-40B4-BE49-F238E27FC236}">
                      <a16:creationId xmlns:a16="http://schemas.microsoft.com/office/drawing/2014/main" id="{4C1387EF-33AA-486B-81E5-66DC7A938155}"/>
                    </a:ext>
                  </a:extLst>
                </p:cNvPr>
                <p:cNvSpPr>
                  <a:spLocks noChangeArrowheads="1"/>
                </p:cNvSpPr>
                <p:nvPr/>
              </p:nvSpPr>
              <p:spPr bwMode="auto">
                <a:xfrm>
                  <a:off x="878771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4" name="Oval 630">
                  <a:extLst>
                    <a:ext uri="{FF2B5EF4-FFF2-40B4-BE49-F238E27FC236}">
                      <a16:creationId xmlns:a16="http://schemas.microsoft.com/office/drawing/2014/main" id="{31154D99-33B2-4BB8-B156-0A708CB922DD}"/>
                    </a:ext>
                  </a:extLst>
                </p:cNvPr>
                <p:cNvSpPr>
                  <a:spLocks noChangeArrowheads="1"/>
                </p:cNvSpPr>
                <p:nvPr/>
              </p:nvSpPr>
              <p:spPr bwMode="auto">
                <a:xfrm>
                  <a:off x="890837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5" name="Oval 630">
                  <a:extLst>
                    <a:ext uri="{FF2B5EF4-FFF2-40B4-BE49-F238E27FC236}">
                      <a16:creationId xmlns:a16="http://schemas.microsoft.com/office/drawing/2014/main" id="{F608C7F4-1934-40A0-806D-F8580D06CDAD}"/>
                    </a:ext>
                  </a:extLst>
                </p:cNvPr>
                <p:cNvSpPr>
                  <a:spLocks noChangeArrowheads="1"/>
                </p:cNvSpPr>
                <p:nvPr/>
              </p:nvSpPr>
              <p:spPr bwMode="auto">
                <a:xfrm>
                  <a:off x="902790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6" name="Oval 630">
                  <a:extLst>
                    <a:ext uri="{FF2B5EF4-FFF2-40B4-BE49-F238E27FC236}">
                      <a16:creationId xmlns:a16="http://schemas.microsoft.com/office/drawing/2014/main" id="{7F290A92-902E-4AD6-85BD-077FCBA792E2}"/>
                    </a:ext>
                  </a:extLst>
                </p:cNvPr>
                <p:cNvSpPr>
                  <a:spLocks noChangeArrowheads="1"/>
                </p:cNvSpPr>
                <p:nvPr/>
              </p:nvSpPr>
              <p:spPr bwMode="auto">
                <a:xfrm>
                  <a:off x="914742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7" name="Oval 630">
                  <a:extLst>
                    <a:ext uri="{FF2B5EF4-FFF2-40B4-BE49-F238E27FC236}">
                      <a16:creationId xmlns:a16="http://schemas.microsoft.com/office/drawing/2014/main" id="{31755BF1-622E-4EF0-99CD-7F4F6D47B564}"/>
                    </a:ext>
                  </a:extLst>
                </p:cNvPr>
                <p:cNvSpPr>
                  <a:spLocks noChangeArrowheads="1"/>
                </p:cNvSpPr>
                <p:nvPr/>
              </p:nvSpPr>
              <p:spPr bwMode="auto">
                <a:xfrm>
                  <a:off x="926592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8" name="Oval 630">
                  <a:extLst>
                    <a:ext uri="{FF2B5EF4-FFF2-40B4-BE49-F238E27FC236}">
                      <a16:creationId xmlns:a16="http://schemas.microsoft.com/office/drawing/2014/main" id="{01E36251-2410-4027-AC91-2ED57F08C9A4}"/>
                    </a:ext>
                  </a:extLst>
                </p:cNvPr>
                <p:cNvSpPr>
                  <a:spLocks noChangeArrowheads="1"/>
                </p:cNvSpPr>
                <p:nvPr/>
              </p:nvSpPr>
              <p:spPr bwMode="auto">
                <a:xfrm>
                  <a:off x="9382200"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9" name="Oval 630">
                  <a:extLst>
                    <a:ext uri="{FF2B5EF4-FFF2-40B4-BE49-F238E27FC236}">
                      <a16:creationId xmlns:a16="http://schemas.microsoft.com/office/drawing/2014/main" id="{C448ADE8-B5BE-4D0B-A053-662E21C1E9BE}"/>
                    </a:ext>
                  </a:extLst>
                </p:cNvPr>
                <p:cNvSpPr>
                  <a:spLocks noChangeArrowheads="1"/>
                </p:cNvSpPr>
                <p:nvPr/>
              </p:nvSpPr>
              <p:spPr bwMode="auto">
                <a:xfrm>
                  <a:off x="950172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0" name="Oval 630">
                  <a:extLst>
                    <a:ext uri="{FF2B5EF4-FFF2-40B4-BE49-F238E27FC236}">
                      <a16:creationId xmlns:a16="http://schemas.microsoft.com/office/drawing/2014/main" id="{FD0EF462-C825-4686-A4DA-8C8B58AE8AD8}"/>
                    </a:ext>
                  </a:extLst>
                </p:cNvPr>
                <p:cNvSpPr>
                  <a:spLocks noChangeArrowheads="1"/>
                </p:cNvSpPr>
                <p:nvPr/>
              </p:nvSpPr>
              <p:spPr bwMode="auto">
                <a:xfrm>
                  <a:off x="962124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1" name="Oval 630">
                  <a:extLst>
                    <a:ext uri="{FF2B5EF4-FFF2-40B4-BE49-F238E27FC236}">
                      <a16:creationId xmlns:a16="http://schemas.microsoft.com/office/drawing/2014/main" id="{4F012C95-4CEC-4A82-8386-D7DCD78086BA}"/>
                    </a:ext>
                  </a:extLst>
                </p:cNvPr>
                <p:cNvSpPr>
                  <a:spLocks noChangeArrowheads="1"/>
                </p:cNvSpPr>
                <p:nvPr/>
              </p:nvSpPr>
              <p:spPr bwMode="auto">
                <a:xfrm>
                  <a:off x="973974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2" name="Oval 630">
                  <a:extLst>
                    <a:ext uri="{FF2B5EF4-FFF2-40B4-BE49-F238E27FC236}">
                      <a16:creationId xmlns:a16="http://schemas.microsoft.com/office/drawing/2014/main" id="{44960D97-CF69-4307-BFC0-2D32BD0A5563}"/>
                    </a:ext>
                  </a:extLst>
                </p:cNvPr>
                <p:cNvSpPr>
                  <a:spLocks noChangeArrowheads="1"/>
                </p:cNvSpPr>
                <p:nvPr/>
              </p:nvSpPr>
              <p:spPr bwMode="auto">
                <a:xfrm>
                  <a:off x="985622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3" name="직사각형 182">
                  <a:extLst>
                    <a:ext uri="{FF2B5EF4-FFF2-40B4-BE49-F238E27FC236}">
                      <a16:creationId xmlns:a16="http://schemas.microsoft.com/office/drawing/2014/main" id="{E0AE8799-DE32-4860-BAF9-CEBB50D996E5}"/>
                    </a:ext>
                  </a:extLst>
                </p:cNvPr>
                <p:cNvSpPr/>
                <p:nvPr/>
              </p:nvSpPr>
              <p:spPr>
                <a:xfrm>
                  <a:off x="8408319" y="4973135"/>
                  <a:ext cx="1537689" cy="103876"/>
                </a:xfrm>
                <a:prstGeom prst="rect">
                  <a:avLst/>
                </a:prstGeom>
                <a:solidFill>
                  <a:srgbClr val="8093DC">
                    <a:lumMod val="20000"/>
                    <a:lumOff val="80000"/>
                  </a:srgbClr>
                </a:solidFill>
                <a:ln w="6350" cap="flat" cmpd="sng" algn="ctr">
                  <a:solidFill>
                    <a:srgbClr val="FFFFFF">
                      <a:lumMod val="50000"/>
                    </a:srgbClr>
                  </a:solidFill>
                  <a:prstDash val="solid"/>
                  <a:miter lim="800000"/>
                </a:ln>
                <a:effectLst/>
              </p:spPr>
              <p:txBody>
                <a:bodyPr lIns="72000" tIns="36000" rIns="72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rPr>
                    <a:t>Interposer</a:t>
                  </a:r>
                  <a:endParaRPr kumimoji="0" lang="ko-KR" altLang="en-US"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184" name="Oval 630">
                  <a:extLst>
                    <a:ext uri="{FF2B5EF4-FFF2-40B4-BE49-F238E27FC236}">
                      <a16:creationId xmlns:a16="http://schemas.microsoft.com/office/drawing/2014/main" id="{976CCCB9-8623-42A1-973D-86900DE7D7F2}"/>
                    </a:ext>
                  </a:extLst>
                </p:cNvPr>
                <p:cNvSpPr>
                  <a:spLocks noChangeArrowheads="1"/>
                </p:cNvSpPr>
                <p:nvPr/>
              </p:nvSpPr>
              <p:spPr bwMode="auto">
                <a:xfrm>
                  <a:off x="838990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5" name="Oval 630">
                  <a:extLst>
                    <a:ext uri="{FF2B5EF4-FFF2-40B4-BE49-F238E27FC236}">
                      <a16:creationId xmlns:a16="http://schemas.microsoft.com/office/drawing/2014/main" id="{123F2906-E13A-4DB9-877E-6E1C1D8F798D}"/>
                    </a:ext>
                  </a:extLst>
                </p:cNvPr>
                <p:cNvSpPr>
                  <a:spLocks noChangeArrowheads="1"/>
                </p:cNvSpPr>
                <p:nvPr/>
              </p:nvSpPr>
              <p:spPr bwMode="auto">
                <a:xfrm>
                  <a:off x="856918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6" name="Oval 630">
                  <a:extLst>
                    <a:ext uri="{FF2B5EF4-FFF2-40B4-BE49-F238E27FC236}">
                      <a16:creationId xmlns:a16="http://schemas.microsoft.com/office/drawing/2014/main" id="{7EC3BC25-73CB-432C-AE62-C964578F0378}"/>
                    </a:ext>
                  </a:extLst>
                </p:cNvPr>
                <p:cNvSpPr>
                  <a:spLocks noChangeArrowheads="1"/>
                </p:cNvSpPr>
                <p:nvPr/>
              </p:nvSpPr>
              <p:spPr bwMode="auto">
                <a:xfrm>
                  <a:off x="874847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7" name="Oval 630">
                  <a:extLst>
                    <a:ext uri="{FF2B5EF4-FFF2-40B4-BE49-F238E27FC236}">
                      <a16:creationId xmlns:a16="http://schemas.microsoft.com/office/drawing/2014/main" id="{F1373D0F-8302-49AE-80D6-CCEA956E83F2}"/>
                    </a:ext>
                  </a:extLst>
                </p:cNvPr>
                <p:cNvSpPr>
                  <a:spLocks noChangeArrowheads="1"/>
                </p:cNvSpPr>
                <p:nvPr/>
              </p:nvSpPr>
              <p:spPr bwMode="auto">
                <a:xfrm>
                  <a:off x="8927760"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8" name="Oval 630">
                  <a:extLst>
                    <a:ext uri="{FF2B5EF4-FFF2-40B4-BE49-F238E27FC236}">
                      <a16:creationId xmlns:a16="http://schemas.microsoft.com/office/drawing/2014/main" id="{09A7010C-C1CD-479C-9FCE-B8EF7CCDE8DA}"/>
                    </a:ext>
                  </a:extLst>
                </p:cNvPr>
                <p:cNvSpPr>
                  <a:spLocks noChangeArrowheads="1"/>
                </p:cNvSpPr>
                <p:nvPr/>
              </p:nvSpPr>
              <p:spPr bwMode="auto">
                <a:xfrm>
                  <a:off x="9107046"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9" name="Oval 630">
                  <a:extLst>
                    <a:ext uri="{FF2B5EF4-FFF2-40B4-BE49-F238E27FC236}">
                      <a16:creationId xmlns:a16="http://schemas.microsoft.com/office/drawing/2014/main" id="{560C3C89-BC2D-43B7-A2EC-B4926847C03E}"/>
                    </a:ext>
                  </a:extLst>
                </p:cNvPr>
                <p:cNvSpPr>
                  <a:spLocks noChangeArrowheads="1"/>
                </p:cNvSpPr>
                <p:nvPr/>
              </p:nvSpPr>
              <p:spPr bwMode="auto">
                <a:xfrm>
                  <a:off x="928633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0" name="Oval 630">
                  <a:extLst>
                    <a:ext uri="{FF2B5EF4-FFF2-40B4-BE49-F238E27FC236}">
                      <a16:creationId xmlns:a16="http://schemas.microsoft.com/office/drawing/2014/main" id="{EB0F3EBC-420D-4552-ADE4-82A9522D7428}"/>
                    </a:ext>
                  </a:extLst>
                </p:cNvPr>
                <p:cNvSpPr>
                  <a:spLocks noChangeArrowheads="1"/>
                </p:cNvSpPr>
                <p:nvPr/>
              </p:nvSpPr>
              <p:spPr bwMode="auto">
                <a:xfrm>
                  <a:off x="946561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1" name="Oval 630">
                  <a:extLst>
                    <a:ext uri="{FF2B5EF4-FFF2-40B4-BE49-F238E27FC236}">
                      <a16:creationId xmlns:a16="http://schemas.microsoft.com/office/drawing/2014/main" id="{9FAFB9CB-7E5D-4A52-9165-F572BA0892D1}"/>
                    </a:ext>
                  </a:extLst>
                </p:cNvPr>
                <p:cNvSpPr>
                  <a:spLocks noChangeArrowheads="1"/>
                </p:cNvSpPr>
                <p:nvPr/>
              </p:nvSpPr>
              <p:spPr bwMode="auto">
                <a:xfrm>
                  <a:off x="964490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2" name="Oval 630">
                  <a:extLst>
                    <a:ext uri="{FF2B5EF4-FFF2-40B4-BE49-F238E27FC236}">
                      <a16:creationId xmlns:a16="http://schemas.microsoft.com/office/drawing/2014/main" id="{A53EA15D-B620-4FA3-8206-6AA661EF9829}"/>
                    </a:ext>
                  </a:extLst>
                </p:cNvPr>
                <p:cNvSpPr>
                  <a:spLocks noChangeArrowheads="1"/>
                </p:cNvSpPr>
                <p:nvPr/>
              </p:nvSpPr>
              <p:spPr bwMode="auto">
                <a:xfrm>
                  <a:off x="982419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3" name="직사각형 192">
                  <a:extLst>
                    <a:ext uri="{FF2B5EF4-FFF2-40B4-BE49-F238E27FC236}">
                      <a16:creationId xmlns:a16="http://schemas.microsoft.com/office/drawing/2014/main" id="{98534486-3FF2-4798-A4CE-E0BB3B67295D}"/>
                    </a:ext>
                  </a:extLst>
                </p:cNvPr>
                <p:cNvSpPr/>
                <p:nvPr/>
              </p:nvSpPr>
              <p:spPr>
                <a:xfrm>
                  <a:off x="8376838" y="5115476"/>
                  <a:ext cx="1611726" cy="160498"/>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Substrate</a:t>
                  </a:r>
                  <a:endParaRPr kumimoji="0" lang="ko-KR" altLang="en-US"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grpSp>
          <p:grpSp>
            <p:nvGrpSpPr>
              <p:cNvPr id="144" name="그룹 143">
                <a:extLst>
                  <a:ext uri="{FF2B5EF4-FFF2-40B4-BE49-F238E27FC236}">
                    <a16:creationId xmlns:a16="http://schemas.microsoft.com/office/drawing/2014/main" id="{997F557C-6A28-43EB-B591-C196F67723CF}"/>
                  </a:ext>
                </a:extLst>
              </p:cNvPr>
              <p:cNvGrpSpPr/>
              <p:nvPr/>
            </p:nvGrpSpPr>
            <p:grpSpPr>
              <a:xfrm>
                <a:off x="9545287" y="4011509"/>
                <a:ext cx="496937" cy="504451"/>
                <a:chOff x="9498152" y="4011509"/>
                <a:chExt cx="496937" cy="504451"/>
              </a:xfrm>
            </p:grpSpPr>
            <p:sp>
              <p:nvSpPr>
                <p:cNvPr id="168" name="직사각형 167">
                  <a:extLst>
                    <a:ext uri="{FF2B5EF4-FFF2-40B4-BE49-F238E27FC236}">
                      <a16:creationId xmlns:a16="http://schemas.microsoft.com/office/drawing/2014/main" id="{B78563AE-BE1D-4797-B24F-E4D3B892B245}"/>
                    </a:ext>
                  </a:extLst>
                </p:cNvPr>
                <p:cNvSpPr/>
                <p:nvPr/>
              </p:nvSpPr>
              <p:spPr>
                <a:xfrm rot="10800000">
                  <a:off x="9571002" y="4052205"/>
                  <a:ext cx="351239" cy="459309"/>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169" name="TextBox 168">
                  <a:extLst>
                    <a:ext uri="{FF2B5EF4-FFF2-40B4-BE49-F238E27FC236}">
                      <a16:creationId xmlns:a16="http://schemas.microsoft.com/office/drawing/2014/main" id="{69B939B3-8DEC-48E8-A054-CF9A87F4E686}"/>
                    </a:ext>
                  </a:extLst>
                </p:cNvPr>
                <p:cNvSpPr txBox="1"/>
                <p:nvPr/>
              </p:nvSpPr>
              <p:spPr>
                <a:xfrm>
                  <a:off x="9498152" y="4011509"/>
                  <a:ext cx="496937" cy="504451"/>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GPU</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grpSp>
          <p:grpSp>
            <p:nvGrpSpPr>
              <p:cNvPr id="145" name="그룹 144">
                <a:extLst>
                  <a:ext uri="{FF2B5EF4-FFF2-40B4-BE49-F238E27FC236}">
                    <a16:creationId xmlns:a16="http://schemas.microsoft.com/office/drawing/2014/main" id="{EC6AB9A5-0A84-4440-985F-EC0C82B9C179}"/>
                  </a:ext>
                </a:extLst>
              </p:cNvPr>
              <p:cNvGrpSpPr/>
              <p:nvPr/>
            </p:nvGrpSpPr>
            <p:grpSpPr>
              <a:xfrm>
                <a:off x="10045405" y="4072554"/>
                <a:ext cx="925278" cy="435279"/>
                <a:chOff x="9137059" y="2047229"/>
                <a:chExt cx="1316315" cy="1011341"/>
              </a:xfrm>
            </p:grpSpPr>
            <p:sp>
              <p:nvSpPr>
                <p:cNvPr id="146" name="직사각형 145">
                  <a:extLst>
                    <a:ext uri="{FF2B5EF4-FFF2-40B4-BE49-F238E27FC236}">
                      <a16:creationId xmlns:a16="http://schemas.microsoft.com/office/drawing/2014/main" id="{951391F7-27CF-4149-A576-943F398DF436}"/>
                    </a:ext>
                  </a:extLst>
                </p:cNvPr>
                <p:cNvSpPr/>
                <p:nvPr/>
              </p:nvSpPr>
              <p:spPr>
                <a:xfrm>
                  <a:off x="9243425" y="267113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147" name="직사각형 146">
                  <a:extLst>
                    <a:ext uri="{FF2B5EF4-FFF2-40B4-BE49-F238E27FC236}">
                      <a16:creationId xmlns:a16="http://schemas.microsoft.com/office/drawing/2014/main" id="{3663FCE1-C90C-4D51-92A2-E368C0A07FA7}"/>
                    </a:ext>
                  </a:extLst>
                </p:cNvPr>
                <p:cNvSpPr/>
                <p:nvPr/>
              </p:nvSpPr>
              <p:spPr>
                <a:xfrm>
                  <a:off x="9243425" y="247941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148" name="직사각형 147">
                  <a:extLst>
                    <a:ext uri="{FF2B5EF4-FFF2-40B4-BE49-F238E27FC236}">
                      <a16:creationId xmlns:a16="http://schemas.microsoft.com/office/drawing/2014/main" id="{94A03D57-DB05-4E71-A92F-BC2948E696EA}"/>
                    </a:ext>
                  </a:extLst>
                </p:cNvPr>
                <p:cNvSpPr/>
                <p:nvPr/>
              </p:nvSpPr>
              <p:spPr>
                <a:xfrm>
                  <a:off x="9243424" y="2282158"/>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149" name="직사각형 148">
                  <a:extLst>
                    <a:ext uri="{FF2B5EF4-FFF2-40B4-BE49-F238E27FC236}">
                      <a16:creationId xmlns:a16="http://schemas.microsoft.com/office/drawing/2014/main" id="{547CB63D-17B5-4B75-B8F9-01FC8ACE4B48}"/>
                    </a:ext>
                  </a:extLst>
                </p:cNvPr>
                <p:cNvSpPr/>
                <p:nvPr/>
              </p:nvSpPr>
              <p:spPr>
                <a:xfrm>
                  <a:off x="9243425" y="2047229"/>
                  <a:ext cx="1107300" cy="238308"/>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150" name="직선 연결선 149">
                  <a:extLst>
                    <a:ext uri="{FF2B5EF4-FFF2-40B4-BE49-F238E27FC236}">
                      <a16:creationId xmlns:a16="http://schemas.microsoft.com/office/drawing/2014/main" id="{BB051AF0-F184-46C3-9C8C-0FC7D1D6C234}"/>
                    </a:ext>
                  </a:extLst>
                </p:cNvPr>
                <p:cNvCxnSpPr/>
                <p:nvPr/>
              </p:nvCxnSpPr>
              <p:spPr>
                <a:xfrm>
                  <a:off x="9236393" y="3026519"/>
                  <a:ext cx="1114332" cy="0"/>
                </a:xfrm>
                <a:prstGeom prst="line">
                  <a:avLst/>
                </a:prstGeom>
                <a:solidFill>
                  <a:srgbClr val="4472C4"/>
                </a:solidFill>
                <a:ln w="19050" cap="flat" cmpd="sng" algn="ctr">
                  <a:solidFill>
                    <a:srgbClr val="FFC000"/>
                  </a:solidFill>
                  <a:prstDash val="solid"/>
                  <a:miter lim="800000"/>
                </a:ln>
                <a:effectLst/>
              </p:spPr>
            </p:cxnSp>
            <p:cxnSp>
              <p:nvCxnSpPr>
                <p:cNvPr id="151" name="직선 연결선 150">
                  <a:extLst>
                    <a:ext uri="{FF2B5EF4-FFF2-40B4-BE49-F238E27FC236}">
                      <a16:creationId xmlns:a16="http://schemas.microsoft.com/office/drawing/2014/main" id="{03A9C166-4273-4DAC-B8AD-F81A05BAAA50}"/>
                    </a:ext>
                  </a:extLst>
                </p:cNvPr>
                <p:cNvCxnSpPr/>
                <p:nvPr/>
              </p:nvCxnSpPr>
              <p:spPr>
                <a:xfrm>
                  <a:off x="10256045" y="2686299"/>
                  <a:ext cx="0" cy="156980"/>
                </a:xfrm>
                <a:prstGeom prst="line">
                  <a:avLst/>
                </a:prstGeom>
                <a:solidFill>
                  <a:srgbClr val="4472C4"/>
                </a:solidFill>
                <a:ln w="28575" cap="flat" cmpd="sng" algn="ctr">
                  <a:solidFill>
                    <a:srgbClr val="FFFF00"/>
                  </a:solidFill>
                  <a:prstDash val="solid"/>
                </a:ln>
                <a:effectLst/>
              </p:spPr>
            </p:cxnSp>
            <p:cxnSp>
              <p:nvCxnSpPr>
                <p:cNvPr id="152" name="직선 연결선 151">
                  <a:extLst>
                    <a:ext uri="{FF2B5EF4-FFF2-40B4-BE49-F238E27FC236}">
                      <a16:creationId xmlns:a16="http://schemas.microsoft.com/office/drawing/2014/main" id="{9AE7B2A2-7B6E-45EC-BD3D-7321874DFBDD}"/>
                    </a:ext>
                  </a:extLst>
                </p:cNvPr>
                <p:cNvCxnSpPr/>
                <p:nvPr/>
              </p:nvCxnSpPr>
              <p:spPr>
                <a:xfrm>
                  <a:off x="10160360" y="2686299"/>
                  <a:ext cx="0" cy="156980"/>
                </a:xfrm>
                <a:prstGeom prst="line">
                  <a:avLst/>
                </a:prstGeom>
                <a:solidFill>
                  <a:srgbClr val="4472C4"/>
                </a:solidFill>
                <a:ln w="28575" cap="flat" cmpd="sng" algn="ctr">
                  <a:solidFill>
                    <a:srgbClr val="FFFF00"/>
                  </a:solidFill>
                  <a:prstDash val="solid"/>
                </a:ln>
                <a:effectLst/>
              </p:spPr>
            </p:cxnSp>
            <p:cxnSp>
              <p:nvCxnSpPr>
                <p:cNvPr id="153" name="직선 연결선 152">
                  <a:extLst>
                    <a:ext uri="{FF2B5EF4-FFF2-40B4-BE49-F238E27FC236}">
                      <a16:creationId xmlns:a16="http://schemas.microsoft.com/office/drawing/2014/main" id="{A0FC17DF-5DBE-400F-A69E-D836CBDE3B07}"/>
                    </a:ext>
                  </a:extLst>
                </p:cNvPr>
                <p:cNvCxnSpPr/>
                <p:nvPr/>
              </p:nvCxnSpPr>
              <p:spPr>
                <a:xfrm>
                  <a:off x="9443245" y="2686299"/>
                  <a:ext cx="0" cy="156980"/>
                </a:xfrm>
                <a:prstGeom prst="line">
                  <a:avLst/>
                </a:prstGeom>
                <a:solidFill>
                  <a:srgbClr val="4472C4"/>
                </a:solidFill>
                <a:ln w="28575" cap="flat" cmpd="sng" algn="ctr">
                  <a:solidFill>
                    <a:srgbClr val="FFFF00"/>
                  </a:solidFill>
                  <a:prstDash val="solid"/>
                </a:ln>
                <a:effectLst/>
              </p:spPr>
            </p:cxnSp>
            <p:cxnSp>
              <p:nvCxnSpPr>
                <p:cNvPr id="154" name="직선 연결선 153">
                  <a:extLst>
                    <a:ext uri="{FF2B5EF4-FFF2-40B4-BE49-F238E27FC236}">
                      <a16:creationId xmlns:a16="http://schemas.microsoft.com/office/drawing/2014/main" id="{971245C7-F40B-4564-917C-2F4B1E62A38D}"/>
                    </a:ext>
                  </a:extLst>
                </p:cNvPr>
                <p:cNvCxnSpPr/>
                <p:nvPr/>
              </p:nvCxnSpPr>
              <p:spPr>
                <a:xfrm>
                  <a:off x="9347560" y="2686299"/>
                  <a:ext cx="0" cy="156980"/>
                </a:xfrm>
                <a:prstGeom prst="line">
                  <a:avLst/>
                </a:prstGeom>
                <a:solidFill>
                  <a:srgbClr val="4472C4"/>
                </a:solidFill>
                <a:ln w="28575" cap="flat" cmpd="sng" algn="ctr">
                  <a:solidFill>
                    <a:srgbClr val="FFFF00"/>
                  </a:solidFill>
                  <a:prstDash val="solid"/>
                </a:ln>
                <a:effectLst/>
              </p:spPr>
            </p:cxnSp>
            <p:cxnSp>
              <p:nvCxnSpPr>
                <p:cNvPr id="155" name="직선 연결선 154">
                  <a:extLst>
                    <a:ext uri="{FF2B5EF4-FFF2-40B4-BE49-F238E27FC236}">
                      <a16:creationId xmlns:a16="http://schemas.microsoft.com/office/drawing/2014/main" id="{98708845-6E44-484D-8DA3-33AD4E90D01F}"/>
                    </a:ext>
                  </a:extLst>
                </p:cNvPr>
                <p:cNvCxnSpPr/>
                <p:nvPr/>
              </p:nvCxnSpPr>
              <p:spPr>
                <a:xfrm>
                  <a:off x="10256045" y="2495097"/>
                  <a:ext cx="0" cy="156980"/>
                </a:xfrm>
                <a:prstGeom prst="line">
                  <a:avLst/>
                </a:prstGeom>
                <a:solidFill>
                  <a:srgbClr val="4472C4"/>
                </a:solidFill>
                <a:ln w="28575" cap="flat" cmpd="sng" algn="ctr">
                  <a:solidFill>
                    <a:srgbClr val="FFFF00"/>
                  </a:solidFill>
                  <a:prstDash val="solid"/>
                </a:ln>
                <a:effectLst/>
              </p:spPr>
            </p:cxnSp>
            <p:cxnSp>
              <p:nvCxnSpPr>
                <p:cNvPr id="156" name="직선 연결선 155">
                  <a:extLst>
                    <a:ext uri="{FF2B5EF4-FFF2-40B4-BE49-F238E27FC236}">
                      <a16:creationId xmlns:a16="http://schemas.microsoft.com/office/drawing/2014/main" id="{82785CB7-94EE-4AD6-8042-98CAC6D36F53}"/>
                    </a:ext>
                  </a:extLst>
                </p:cNvPr>
                <p:cNvCxnSpPr/>
                <p:nvPr/>
              </p:nvCxnSpPr>
              <p:spPr>
                <a:xfrm>
                  <a:off x="10160360" y="2495097"/>
                  <a:ext cx="0" cy="156980"/>
                </a:xfrm>
                <a:prstGeom prst="line">
                  <a:avLst/>
                </a:prstGeom>
                <a:solidFill>
                  <a:srgbClr val="4472C4"/>
                </a:solidFill>
                <a:ln w="28575" cap="flat" cmpd="sng" algn="ctr">
                  <a:solidFill>
                    <a:srgbClr val="FFFF00"/>
                  </a:solidFill>
                  <a:prstDash val="solid"/>
                </a:ln>
                <a:effectLst/>
              </p:spPr>
            </p:cxnSp>
            <p:cxnSp>
              <p:nvCxnSpPr>
                <p:cNvPr id="157" name="직선 연결선 156">
                  <a:extLst>
                    <a:ext uri="{FF2B5EF4-FFF2-40B4-BE49-F238E27FC236}">
                      <a16:creationId xmlns:a16="http://schemas.microsoft.com/office/drawing/2014/main" id="{D7019317-1808-471C-A15B-BF85F9694498}"/>
                    </a:ext>
                  </a:extLst>
                </p:cNvPr>
                <p:cNvCxnSpPr/>
                <p:nvPr/>
              </p:nvCxnSpPr>
              <p:spPr>
                <a:xfrm>
                  <a:off x="9443245" y="2495097"/>
                  <a:ext cx="0" cy="156980"/>
                </a:xfrm>
                <a:prstGeom prst="line">
                  <a:avLst/>
                </a:prstGeom>
                <a:solidFill>
                  <a:srgbClr val="4472C4"/>
                </a:solidFill>
                <a:ln w="28575" cap="flat" cmpd="sng" algn="ctr">
                  <a:solidFill>
                    <a:srgbClr val="FFFF00"/>
                  </a:solidFill>
                  <a:prstDash val="solid"/>
                </a:ln>
                <a:effectLst/>
              </p:spPr>
            </p:cxnSp>
            <p:cxnSp>
              <p:nvCxnSpPr>
                <p:cNvPr id="158" name="직선 연결선 157">
                  <a:extLst>
                    <a:ext uri="{FF2B5EF4-FFF2-40B4-BE49-F238E27FC236}">
                      <a16:creationId xmlns:a16="http://schemas.microsoft.com/office/drawing/2014/main" id="{CEB25033-5C31-46FC-8D15-415C87C9450C}"/>
                    </a:ext>
                  </a:extLst>
                </p:cNvPr>
                <p:cNvCxnSpPr/>
                <p:nvPr/>
              </p:nvCxnSpPr>
              <p:spPr>
                <a:xfrm>
                  <a:off x="9347560" y="2495097"/>
                  <a:ext cx="0" cy="156980"/>
                </a:xfrm>
                <a:prstGeom prst="line">
                  <a:avLst/>
                </a:prstGeom>
                <a:solidFill>
                  <a:srgbClr val="4472C4"/>
                </a:solidFill>
                <a:ln w="28575" cap="flat" cmpd="sng" algn="ctr">
                  <a:solidFill>
                    <a:srgbClr val="FFFF00"/>
                  </a:solidFill>
                  <a:prstDash val="solid"/>
                </a:ln>
                <a:effectLst/>
              </p:spPr>
            </p:cxnSp>
            <p:cxnSp>
              <p:nvCxnSpPr>
                <p:cNvPr id="159" name="직선 연결선 158">
                  <a:extLst>
                    <a:ext uri="{FF2B5EF4-FFF2-40B4-BE49-F238E27FC236}">
                      <a16:creationId xmlns:a16="http://schemas.microsoft.com/office/drawing/2014/main" id="{34F6EC33-C7D8-472C-A451-82F1C968455B}"/>
                    </a:ext>
                  </a:extLst>
                </p:cNvPr>
                <p:cNvCxnSpPr/>
                <p:nvPr/>
              </p:nvCxnSpPr>
              <p:spPr>
                <a:xfrm>
                  <a:off x="10256045" y="2288230"/>
                  <a:ext cx="0" cy="156980"/>
                </a:xfrm>
                <a:prstGeom prst="line">
                  <a:avLst/>
                </a:prstGeom>
                <a:solidFill>
                  <a:srgbClr val="4472C4"/>
                </a:solidFill>
                <a:ln w="28575" cap="flat" cmpd="sng" algn="ctr">
                  <a:solidFill>
                    <a:srgbClr val="FFFF00"/>
                  </a:solidFill>
                  <a:prstDash val="solid"/>
                </a:ln>
                <a:effectLst/>
              </p:spPr>
            </p:cxnSp>
            <p:cxnSp>
              <p:nvCxnSpPr>
                <p:cNvPr id="160" name="직선 연결선 159">
                  <a:extLst>
                    <a:ext uri="{FF2B5EF4-FFF2-40B4-BE49-F238E27FC236}">
                      <a16:creationId xmlns:a16="http://schemas.microsoft.com/office/drawing/2014/main" id="{3F871DD9-A40C-400E-A147-2FE2B1CBC8AA}"/>
                    </a:ext>
                  </a:extLst>
                </p:cNvPr>
                <p:cNvCxnSpPr/>
                <p:nvPr/>
              </p:nvCxnSpPr>
              <p:spPr>
                <a:xfrm>
                  <a:off x="10160360" y="2288230"/>
                  <a:ext cx="0" cy="156980"/>
                </a:xfrm>
                <a:prstGeom prst="line">
                  <a:avLst/>
                </a:prstGeom>
                <a:solidFill>
                  <a:srgbClr val="4472C4"/>
                </a:solidFill>
                <a:ln w="28575" cap="flat" cmpd="sng" algn="ctr">
                  <a:solidFill>
                    <a:srgbClr val="FFFF00"/>
                  </a:solidFill>
                  <a:prstDash val="solid"/>
                </a:ln>
                <a:effectLst/>
              </p:spPr>
            </p:cxnSp>
            <p:cxnSp>
              <p:nvCxnSpPr>
                <p:cNvPr id="161" name="직선 연결선 160">
                  <a:extLst>
                    <a:ext uri="{FF2B5EF4-FFF2-40B4-BE49-F238E27FC236}">
                      <a16:creationId xmlns:a16="http://schemas.microsoft.com/office/drawing/2014/main" id="{6DF1783E-500E-4806-8D40-9081418B7161}"/>
                    </a:ext>
                  </a:extLst>
                </p:cNvPr>
                <p:cNvCxnSpPr/>
                <p:nvPr/>
              </p:nvCxnSpPr>
              <p:spPr>
                <a:xfrm>
                  <a:off x="9443245" y="2288230"/>
                  <a:ext cx="0" cy="156980"/>
                </a:xfrm>
                <a:prstGeom prst="line">
                  <a:avLst/>
                </a:prstGeom>
                <a:solidFill>
                  <a:srgbClr val="4472C4"/>
                </a:solidFill>
                <a:ln w="28575" cap="flat" cmpd="sng" algn="ctr">
                  <a:solidFill>
                    <a:srgbClr val="FFFF00"/>
                  </a:solidFill>
                  <a:prstDash val="solid"/>
                </a:ln>
                <a:effectLst/>
              </p:spPr>
            </p:cxnSp>
            <p:cxnSp>
              <p:nvCxnSpPr>
                <p:cNvPr id="162" name="직선 연결선 161">
                  <a:extLst>
                    <a:ext uri="{FF2B5EF4-FFF2-40B4-BE49-F238E27FC236}">
                      <a16:creationId xmlns:a16="http://schemas.microsoft.com/office/drawing/2014/main" id="{644F426A-C4A1-4CE7-81B3-C7F9F5301C0F}"/>
                    </a:ext>
                  </a:extLst>
                </p:cNvPr>
                <p:cNvCxnSpPr/>
                <p:nvPr/>
              </p:nvCxnSpPr>
              <p:spPr>
                <a:xfrm>
                  <a:off x="9347560" y="2288230"/>
                  <a:ext cx="0" cy="156980"/>
                </a:xfrm>
                <a:prstGeom prst="line">
                  <a:avLst/>
                </a:prstGeom>
                <a:solidFill>
                  <a:srgbClr val="4472C4"/>
                </a:solidFill>
                <a:ln w="28575" cap="flat" cmpd="sng" algn="ctr">
                  <a:solidFill>
                    <a:srgbClr val="FFFF00"/>
                  </a:solidFill>
                  <a:prstDash val="solid"/>
                </a:ln>
                <a:effectLst/>
              </p:spPr>
            </p:cxnSp>
            <p:sp>
              <p:nvSpPr>
                <p:cNvPr id="163" name="직사각형 162">
                  <a:extLst>
                    <a:ext uri="{FF2B5EF4-FFF2-40B4-BE49-F238E27FC236}">
                      <a16:creationId xmlns:a16="http://schemas.microsoft.com/office/drawing/2014/main" id="{684ADD1A-5C58-4B17-8D47-E97243ABBEAD}"/>
                    </a:ext>
                  </a:extLst>
                </p:cNvPr>
                <p:cNvSpPr/>
                <p:nvPr/>
              </p:nvSpPr>
              <p:spPr>
                <a:xfrm>
                  <a:off x="9137059" y="2863475"/>
                  <a:ext cx="1316315" cy="195095"/>
                </a:xfrm>
                <a:prstGeom prst="rect">
                  <a:avLst/>
                </a:prstGeom>
                <a:solidFill>
                  <a:srgbClr val="FFC000">
                    <a:lumMod val="40000"/>
                    <a:lumOff val="60000"/>
                  </a:srgb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B-die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164" name="직선 연결선 163">
                  <a:extLst>
                    <a:ext uri="{FF2B5EF4-FFF2-40B4-BE49-F238E27FC236}">
                      <a16:creationId xmlns:a16="http://schemas.microsoft.com/office/drawing/2014/main" id="{A664F2CC-21FF-4F28-8D4D-D87CFDABB79E}"/>
                    </a:ext>
                  </a:extLst>
                </p:cNvPr>
                <p:cNvCxnSpPr/>
                <p:nvPr/>
              </p:nvCxnSpPr>
              <p:spPr>
                <a:xfrm>
                  <a:off x="10256045" y="2878635"/>
                  <a:ext cx="0" cy="156980"/>
                </a:xfrm>
                <a:prstGeom prst="line">
                  <a:avLst/>
                </a:prstGeom>
                <a:solidFill>
                  <a:srgbClr val="4472C4"/>
                </a:solidFill>
                <a:ln w="28575" cap="flat" cmpd="sng" algn="ctr">
                  <a:solidFill>
                    <a:srgbClr val="FFFF00"/>
                  </a:solidFill>
                  <a:prstDash val="solid"/>
                </a:ln>
                <a:effectLst/>
              </p:spPr>
            </p:cxnSp>
            <p:cxnSp>
              <p:nvCxnSpPr>
                <p:cNvPr id="165" name="직선 연결선 164">
                  <a:extLst>
                    <a:ext uri="{FF2B5EF4-FFF2-40B4-BE49-F238E27FC236}">
                      <a16:creationId xmlns:a16="http://schemas.microsoft.com/office/drawing/2014/main" id="{6109CF0D-4B75-4AA2-9A0D-6E489EF9A4C2}"/>
                    </a:ext>
                  </a:extLst>
                </p:cNvPr>
                <p:cNvCxnSpPr/>
                <p:nvPr/>
              </p:nvCxnSpPr>
              <p:spPr>
                <a:xfrm>
                  <a:off x="10160360" y="2878635"/>
                  <a:ext cx="0" cy="156980"/>
                </a:xfrm>
                <a:prstGeom prst="line">
                  <a:avLst/>
                </a:prstGeom>
                <a:solidFill>
                  <a:srgbClr val="4472C4"/>
                </a:solidFill>
                <a:ln w="28575" cap="flat" cmpd="sng" algn="ctr">
                  <a:solidFill>
                    <a:srgbClr val="FFFF00"/>
                  </a:solidFill>
                  <a:prstDash val="solid"/>
                </a:ln>
                <a:effectLst/>
              </p:spPr>
            </p:cxnSp>
            <p:cxnSp>
              <p:nvCxnSpPr>
                <p:cNvPr id="166" name="직선 연결선 165">
                  <a:extLst>
                    <a:ext uri="{FF2B5EF4-FFF2-40B4-BE49-F238E27FC236}">
                      <a16:creationId xmlns:a16="http://schemas.microsoft.com/office/drawing/2014/main" id="{33FF3CE3-6EC6-4AF9-86EF-DEFED3FC856E}"/>
                    </a:ext>
                  </a:extLst>
                </p:cNvPr>
                <p:cNvCxnSpPr/>
                <p:nvPr/>
              </p:nvCxnSpPr>
              <p:spPr>
                <a:xfrm>
                  <a:off x="9443245" y="2878635"/>
                  <a:ext cx="0" cy="156980"/>
                </a:xfrm>
                <a:prstGeom prst="line">
                  <a:avLst/>
                </a:prstGeom>
                <a:solidFill>
                  <a:srgbClr val="4472C4"/>
                </a:solidFill>
                <a:ln w="28575" cap="flat" cmpd="sng" algn="ctr">
                  <a:solidFill>
                    <a:srgbClr val="FFFF00"/>
                  </a:solidFill>
                  <a:prstDash val="solid"/>
                </a:ln>
                <a:effectLst/>
              </p:spPr>
            </p:cxnSp>
            <p:cxnSp>
              <p:nvCxnSpPr>
                <p:cNvPr id="167" name="직선 연결선 166">
                  <a:extLst>
                    <a:ext uri="{FF2B5EF4-FFF2-40B4-BE49-F238E27FC236}">
                      <a16:creationId xmlns:a16="http://schemas.microsoft.com/office/drawing/2014/main" id="{88098DAD-E01A-4408-BD15-C139A8EDADCE}"/>
                    </a:ext>
                  </a:extLst>
                </p:cNvPr>
                <p:cNvCxnSpPr/>
                <p:nvPr/>
              </p:nvCxnSpPr>
              <p:spPr>
                <a:xfrm>
                  <a:off x="9347560" y="2878635"/>
                  <a:ext cx="0" cy="156980"/>
                </a:xfrm>
                <a:prstGeom prst="line">
                  <a:avLst/>
                </a:prstGeom>
                <a:solidFill>
                  <a:srgbClr val="4472C4"/>
                </a:solidFill>
                <a:ln w="28575" cap="flat" cmpd="sng" algn="ctr">
                  <a:solidFill>
                    <a:srgbClr val="FFFF00"/>
                  </a:solidFill>
                  <a:prstDash val="solid"/>
                </a:ln>
                <a:effectLst/>
              </p:spPr>
            </p:cxnSp>
          </p:grpSp>
        </p:grpSp>
        <p:sp>
          <p:nvSpPr>
            <p:cNvPr id="194" name="직사각형 193"/>
            <p:cNvSpPr/>
            <p:nvPr/>
          </p:nvSpPr>
          <p:spPr>
            <a:xfrm>
              <a:off x="984392" y="2754093"/>
              <a:ext cx="943750" cy="496686"/>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400"/>
            </a:p>
          </p:txBody>
        </p:sp>
        <p:sp>
          <p:nvSpPr>
            <p:cNvPr id="296" name="직사각형 295">
              <a:extLst>
                <a:ext uri="{FF2B5EF4-FFF2-40B4-BE49-F238E27FC236}">
                  <a16:creationId xmlns:a16="http://schemas.microsoft.com/office/drawing/2014/main" id="{912293B4-9458-4E80-AFC7-EBE440AFC88E}"/>
                </a:ext>
              </a:extLst>
            </p:cNvPr>
            <p:cNvSpPr/>
            <p:nvPr/>
          </p:nvSpPr>
          <p:spPr>
            <a:xfrm>
              <a:off x="525701" y="3242227"/>
              <a:ext cx="1402441" cy="413331"/>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400"/>
            </a:p>
          </p:txBody>
        </p:sp>
        <p:sp>
          <p:nvSpPr>
            <p:cNvPr id="317" name="TextBox 316"/>
            <p:cNvSpPr txBox="1"/>
            <p:nvPr/>
          </p:nvSpPr>
          <p:spPr>
            <a:xfrm>
              <a:off x="814175" y="3860594"/>
              <a:ext cx="1042426" cy="212582"/>
            </a:xfrm>
            <a:prstGeom prst="rect">
              <a:avLst/>
            </a:prstGeom>
            <a:noFill/>
          </p:spPr>
          <p:txBody>
            <a:bodyPr wrap="none" rtlCol="0">
              <a:spAutoFit/>
            </a:bodyPr>
            <a:lstStyle/>
            <a:p>
              <a:pP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Custom HBM, 2.5D</a:t>
              </a:r>
            </a:p>
          </p:txBody>
        </p:sp>
      </p:grpSp>
      <p:grpSp>
        <p:nvGrpSpPr>
          <p:cNvPr id="7" name="그룹 6"/>
          <p:cNvGrpSpPr/>
          <p:nvPr/>
        </p:nvGrpSpPr>
        <p:grpSpPr>
          <a:xfrm>
            <a:off x="3699849" y="2738725"/>
            <a:ext cx="1355241" cy="1466476"/>
            <a:chOff x="3699849" y="2738725"/>
            <a:chExt cx="1355241" cy="1466476"/>
          </a:xfrm>
        </p:grpSpPr>
        <p:grpSp>
          <p:nvGrpSpPr>
            <p:cNvPr id="55" name="그룹 54">
              <a:extLst>
                <a:ext uri="{FF2B5EF4-FFF2-40B4-BE49-F238E27FC236}">
                  <a16:creationId xmlns:a16="http://schemas.microsoft.com/office/drawing/2014/main" id="{5E704791-3805-4DA1-A7CD-18B4E005AD41}"/>
                </a:ext>
              </a:extLst>
            </p:cNvPr>
            <p:cNvGrpSpPr/>
            <p:nvPr/>
          </p:nvGrpSpPr>
          <p:grpSpPr>
            <a:xfrm>
              <a:off x="3756117" y="2760342"/>
              <a:ext cx="1269409" cy="836201"/>
              <a:chOff x="7936474" y="2626787"/>
              <a:chExt cx="1611726" cy="1161406"/>
            </a:xfrm>
          </p:grpSpPr>
          <p:sp>
            <p:nvSpPr>
              <p:cNvPr id="56" name="Oval 630">
                <a:extLst>
                  <a:ext uri="{FF2B5EF4-FFF2-40B4-BE49-F238E27FC236}">
                    <a16:creationId xmlns:a16="http://schemas.microsoft.com/office/drawing/2014/main" id="{9DBD9BD7-2722-4584-B0EB-B76EF4F1DC76}"/>
                  </a:ext>
                </a:extLst>
              </p:cNvPr>
              <p:cNvSpPr>
                <a:spLocks noChangeArrowheads="1"/>
              </p:cNvSpPr>
              <p:nvPr/>
            </p:nvSpPr>
            <p:spPr bwMode="auto">
              <a:xfrm>
                <a:off x="7949538"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7" name="Oval 630">
                <a:extLst>
                  <a:ext uri="{FF2B5EF4-FFF2-40B4-BE49-F238E27FC236}">
                    <a16:creationId xmlns:a16="http://schemas.microsoft.com/office/drawing/2014/main" id="{6AB09B96-C06F-4CEC-95EB-4B28B03E7FF4}"/>
                  </a:ext>
                </a:extLst>
              </p:cNvPr>
              <p:cNvSpPr>
                <a:spLocks noChangeArrowheads="1"/>
              </p:cNvSpPr>
              <p:nvPr/>
            </p:nvSpPr>
            <p:spPr bwMode="auto">
              <a:xfrm>
                <a:off x="8128824"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8" name="Oval 630">
                <a:extLst>
                  <a:ext uri="{FF2B5EF4-FFF2-40B4-BE49-F238E27FC236}">
                    <a16:creationId xmlns:a16="http://schemas.microsoft.com/office/drawing/2014/main" id="{B6C1488A-4232-4DFC-B744-CBA913D1AC07}"/>
                  </a:ext>
                </a:extLst>
              </p:cNvPr>
              <p:cNvSpPr>
                <a:spLocks noChangeArrowheads="1"/>
              </p:cNvSpPr>
              <p:nvPr/>
            </p:nvSpPr>
            <p:spPr bwMode="auto">
              <a:xfrm>
                <a:off x="8308110"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9" name="Oval 630">
                <a:extLst>
                  <a:ext uri="{FF2B5EF4-FFF2-40B4-BE49-F238E27FC236}">
                    <a16:creationId xmlns:a16="http://schemas.microsoft.com/office/drawing/2014/main" id="{06033F8A-5174-4CB8-B750-BF88AF16843E}"/>
                  </a:ext>
                </a:extLst>
              </p:cNvPr>
              <p:cNvSpPr>
                <a:spLocks noChangeArrowheads="1"/>
              </p:cNvSpPr>
              <p:nvPr/>
            </p:nvSpPr>
            <p:spPr bwMode="auto">
              <a:xfrm>
                <a:off x="8487396"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0" name="Oval 630">
                <a:extLst>
                  <a:ext uri="{FF2B5EF4-FFF2-40B4-BE49-F238E27FC236}">
                    <a16:creationId xmlns:a16="http://schemas.microsoft.com/office/drawing/2014/main" id="{A870AD09-3BA2-497D-BA32-62507B8A938C}"/>
                  </a:ext>
                </a:extLst>
              </p:cNvPr>
              <p:cNvSpPr>
                <a:spLocks noChangeArrowheads="1"/>
              </p:cNvSpPr>
              <p:nvPr/>
            </p:nvSpPr>
            <p:spPr bwMode="auto">
              <a:xfrm>
                <a:off x="8666682"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1" name="Oval 630">
                <a:extLst>
                  <a:ext uri="{FF2B5EF4-FFF2-40B4-BE49-F238E27FC236}">
                    <a16:creationId xmlns:a16="http://schemas.microsoft.com/office/drawing/2014/main" id="{D0BAD0FE-D278-4580-9A3A-957D646F66B9}"/>
                  </a:ext>
                </a:extLst>
              </p:cNvPr>
              <p:cNvSpPr>
                <a:spLocks noChangeArrowheads="1"/>
              </p:cNvSpPr>
              <p:nvPr/>
            </p:nvSpPr>
            <p:spPr bwMode="auto">
              <a:xfrm>
                <a:off x="8845968"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2" name="Oval 630">
                <a:extLst>
                  <a:ext uri="{FF2B5EF4-FFF2-40B4-BE49-F238E27FC236}">
                    <a16:creationId xmlns:a16="http://schemas.microsoft.com/office/drawing/2014/main" id="{FFD661AC-83C4-4E26-AC54-B717BA6AA39D}"/>
                  </a:ext>
                </a:extLst>
              </p:cNvPr>
              <p:cNvSpPr>
                <a:spLocks noChangeArrowheads="1"/>
              </p:cNvSpPr>
              <p:nvPr/>
            </p:nvSpPr>
            <p:spPr bwMode="auto">
              <a:xfrm>
                <a:off x="9025254"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3" name="Oval 630">
                <a:extLst>
                  <a:ext uri="{FF2B5EF4-FFF2-40B4-BE49-F238E27FC236}">
                    <a16:creationId xmlns:a16="http://schemas.microsoft.com/office/drawing/2014/main" id="{E22C144B-C3FC-435D-AE22-B3088AA88907}"/>
                  </a:ext>
                </a:extLst>
              </p:cNvPr>
              <p:cNvSpPr>
                <a:spLocks noChangeArrowheads="1"/>
              </p:cNvSpPr>
              <p:nvPr/>
            </p:nvSpPr>
            <p:spPr bwMode="auto">
              <a:xfrm>
                <a:off x="9204540"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4" name="Oval 630">
                <a:extLst>
                  <a:ext uri="{FF2B5EF4-FFF2-40B4-BE49-F238E27FC236}">
                    <a16:creationId xmlns:a16="http://schemas.microsoft.com/office/drawing/2014/main" id="{4E2C62C2-0389-4436-989A-6F76DA8188CB}"/>
                  </a:ext>
                </a:extLst>
              </p:cNvPr>
              <p:cNvSpPr>
                <a:spLocks noChangeArrowheads="1"/>
              </p:cNvSpPr>
              <p:nvPr/>
            </p:nvSpPr>
            <p:spPr bwMode="auto">
              <a:xfrm>
                <a:off x="9383828" y="3680101"/>
                <a:ext cx="126000" cy="10809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0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5" name="직사각형 64">
                <a:extLst>
                  <a:ext uri="{FF2B5EF4-FFF2-40B4-BE49-F238E27FC236}">
                    <a16:creationId xmlns:a16="http://schemas.microsoft.com/office/drawing/2014/main" id="{73758BC3-C11D-4C12-863C-B01B87E89D9F}"/>
                  </a:ext>
                </a:extLst>
              </p:cNvPr>
              <p:cNvSpPr/>
              <p:nvPr/>
            </p:nvSpPr>
            <p:spPr>
              <a:xfrm>
                <a:off x="7936474" y="3581685"/>
                <a:ext cx="1611726" cy="137687"/>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Substrate</a:t>
                </a:r>
                <a:endParaRPr kumimoji="0" lang="ko-KR" altLang="en-US"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66" name="Oval 630">
                <a:extLst>
                  <a:ext uri="{FF2B5EF4-FFF2-40B4-BE49-F238E27FC236}">
                    <a16:creationId xmlns:a16="http://schemas.microsoft.com/office/drawing/2014/main" id="{59E17042-BCA2-4B43-A131-7FDDEA7F4F40}"/>
                  </a:ext>
                </a:extLst>
              </p:cNvPr>
              <p:cNvSpPr>
                <a:spLocks noChangeArrowheads="1"/>
              </p:cNvSpPr>
              <p:nvPr/>
            </p:nvSpPr>
            <p:spPr bwMode="auto">
              <a:xfrm>
                <a:off x="8252413"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7" name="Oval 630">
                <a:extLst>
                  <a:ext uri="{FF2B5EF4-FFF2-40B4-BE49-F238E27FC236}">
                    <a16:creationId xmlns:a16="http://schemas.microsoft.com/office/drawing/2014/main" id="{C7F58551-AB18-42CF-B699-F7FCBD156A04}"/>
                  </a:ext>
                </a:extLst>
              </p:cNvPr>
              <p:cNvSpPr>
                <a:spLocks noChangeArrowheads="1"/>
              </p:cNvSpPr>
              <p:nvPr/>
            </p:nvSpPr>
            <p:spPr bwMode="auto">
              <a:xfrm>
                <a:off x="8366692"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8" name="Oval 630">
                <a:extLst>
                  <a:ext uri="{FF2B5EF4-FFF2-40B4-BE49-F238E27FC236}">
                    <a16:creationId xmlns:a16="http://schemas.microsoft.com/office/drawing/2014/main" id="{6A9BB759-4AC2-4E28-8D40-39ECCEB2F2A3}"/>
                  </a:ext>
                </a:extLst>
              </p:cNvPr>
              <p:cNvSpPr>
                <a:spLocks noChangeArrowheads="1"/>
              </p:cNvSpPr>
              <p:nvPr/>
            </p:nvSpPr>
            <p:spPr bwMode="auto">
              <a:xfrm>
                <a:off x="8480971"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69" name="Oval 630">
                <a:extLst>
                  <a:ext uri="{FF2B5EF4-FFF2-40B4-BE49-F238E27FC236}">
                    <a16:creationId xmlns:a16="http://schemas.microsoft.com/office/drawing/2014/main" id="{0350CFCE-62DF-4B57-B1D7-3145395609BE}"/>
                  </a:ext>
                </a:extLst>
              </p:cNvPr>
              <p:cNvSpPr>
                <a:spLocks noChangeArrowheads="1"/>
              </p:cNvSpPr>
              <p:nvPr/>
            </p:nvSpPr>
            <p:spPr bwMode="auto">
              <a:xfrm>
                <a:off x="8595250"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70" name="Oval 630">
                <a:extLst>
                  <a:ext uri="{FF2B5EF4-FFF2-40B4-BE49-F238E27FC236}">
                    <a16:creationId xmlns:a16="http://schemas.microsoft.com/office/drawing/2014/main" id="{3D6141A7-A421-4366-B67B-99C818352D58}"/>
                  </a:ext>
                </a:extLst>
              </p:cNvPr>
              <p:cNvSpPr>
                <a:spLocks noChangeArrowheads="1"/>
              </p:cNvSpPr>
              <p:nvPr/>
            </p:nvSpPr>
            <p:spPr bwMode="auto">
              <a:xfrm>
                <a:off x="8709529"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71" name="Oval 630">
                <a:extLst>
                  <a:ext uri="{FF2B5EF4-FFF2-40B4-BE49-F238E27FC236}">
                    <a16:creationId xmlns:a16="http://schemas.microsoft.com/office/drawing/2014/main" id="{3DD23B6E-2B24-471D-AA1C-D2EA77C81DE9}"/>
                  </a:ext>
                </a:extLst>
              </p:cNvPr>
              <p:cNvSpPr>
                <a:spLocks noChangeArrowheads="1"/>
              </p:cNvSpPr>
              <p:nvPr/>
            </p:nvSpPr>
            <p:spPr bwMode="auto">
              <a:xfrm>
                <a:off x="8823808"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72" name="Oval 630">
                <a:extLst>
                  <a:ext uri="{FF2B5EF4-FFF2-40B4-BE49-F238E27FC236}">
                    <a16:creationId xmlns:a16="http://schemas.microsoft.com/office/drawing/2014/main" id="{EAB1C766-2D7C-4E3B-A42D-04720F113217}"/>
                  </a:ext>
                </a:extLst>
              </p:cNvPr>
              <p:cNvSpPr>
                <a:spLocks noChangeArrowheads="1"/>
              </p:cNvSpPr>
              <p:nvPr/>
            </p:nvSpPr>
            <p:spPr bwMode="auto">
              <a:xfrm>
                <a:off x="8938087"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73" name="Oval 630">
                <a:extLst>
                  <a:ext uri="{FF2B5EF4-FFF2-40B4-BE49-F238E27FC236}">
                    <a16:creationId xmlns:a16="http://schemas.microsoft.com/office/drawing/2014/main" id="{2FC8096E-1165-427E-9EA4-45DBF66830CC}"/>
                  </a:ext>
                </a:extLst>
              </p:cNvPr>
              <p:cNvSpPr>
                <a:spLocks noChangeArrowheads="1"/>
              </p:cNvSpPr>
              <p:nvPr/>
            </p:nvSpPr>
            <p:spPr bwMode="auto">
              <a:xfrm>
                <a:off x="9052366"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74" name="Oval 630">
                <a:extLst>
                  <a:ext uri="{FF2B5EF4-FFF2-40B4-BE49-F238E27FC236}">
                    <a16:creationId xmlns:a16="http://schemas.microsoft.com/office/drawing/2014/main" id="{B7AA9F50-A496-4643-A352-35B504F07C18}"/>
                  </a:ext>
                </a:extLst>
              </p:cNvPr>
              <p:cNvSpPr>
                <a:spLocks noChangeArrowheads="1"/>
              </p:cNvSpPr>
              <p:nvPr/>
            </p:nvSpPr>
            <p:spPr bwMode="auto">
              <a:xfrm>
                <a:off x="9166645" y="3520117"/>
                <a:ext cx="72000" cy="61767"/>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grpSp>
            <p:nvGrpSpPr>
              <p:cNvPr id="75" name="그룹 74">
                <a:extLst>
                  <a:ext uri="{FF2B5EF4-FFF2-40B4-BE49-F238E27FC236}">
                    <a16:creationId xmlns:a16="http://schemas.microsoft.com/office/drawing/2014/main" id="{53EFFF02-1348-4663-B9D9-097183EA2150}"/>
                  </a:ext>
                </a:extLst>
              </p:cNvPr>
              <p:cNvGrpSpPr/>
              <p:nvPr/>
            </p:nvGrpSpPr>
            <p:grpSpPr>
              <a:xfrm>
                <a:off x="8182993" y="2653028"/>
                <a:ext cx="1114332" cy="878928"/>
                <a:chOff x="4063287" y="2959800"/>
                <a:chExt cx="835749" cy="934922"/>
              </a:xfrm>
            </p:grpSpPr>
            <p:sp>
              <p:nvSpPr>
                <p:cNvPr id="82" name="직사각형 81">
                  <a:extLst>
                    <a:ext uri="{FF2B5EF4-FFF2-40B4-BE49-F238E27FC236}">
                      <a16:creationId xmlns:a16="http://schemas.microsoft.com/office/drawing/2014/main" id="{073EB39F-67FB-4E10-A50A-6CF27D8B7F9F}"/>
                    </a:ext>
                  </a:extLst>
                </p:cNvPr>
                <p:cNvSpPr/>
                <p:nvPr/>
              </p:nvSpPr>
              <p:spPr>
                <a:xfrm>
                  <a:off x="4068561" y="3454662"/>
                  <a:ext cx="830475" cy="154742"/>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83" name="직사각형 82">
                  <a:extLst>
                    <a:ext uri="{FF2B5EF4-FFF2-40B4-BE49-F238E27FC236}">
                      <a16:creationId xmlns:a16="http://schemas.microsoft.com/office/drawing/2014/main" id="{8EE8FA74-A85B-4B1E-94DC-C764CCB03A98}"/>
                    </a:ext>
                  </a:extLst>
                </p:cNvPr>
                <p:cNvSpPr/>
                <p:nvPr/>
              </p:nvSpPr>
              <p:spPr>
                <a:xfrm>
                  <a:off x="4068561" y="3302597"/>
                  <a:ext cx="830475" cy="154742"/>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84" name="직사각형 83">
                  <a:extLst>
                    <a:ext uri="{FF2B5EF4-FFF2-40B4-BE49-F238E27FC236}">
                      <a16:creationId xmlns:a16="http://schemas.microsoft.com/office/drawing/2014/main" id="{67B33600-5FBB-479D-9BB0-5B4D9B89AEC4}"/>
                    </a:ext>
                  </a:extLst>
                </p:cNvPr>
                <p:cNvSpPr/>
                <p:nvPr/>
              </p:nvSpPr>
              <p:spPr>
                <a:xfrm>
                  <a:off x="4068561" y="3146137"/>
                  <a:ext cx="830475" cy="154742"/>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85" name="직사각형 84">
                  <a:extLst>
                    <a:ext uri="{FF2B5EF4-FFF2-40B4-BE49-F238E27FC236}">
                      <a16:creationId xmlns:a16="http://schemas.microsoft.com/office/drawing/2014/main" id="{287A4232-DAA7-4D9F-9206-A59E91429A17}"/>
                    </a:ext>
                  </a:extLst>
                </p:cNvPr>
                <p:cNvSpPr/>
                <p:nvPr/>
              </p:nvSpPr>
              <p:spPr>
                <a:xfrm>
                  <a:off x="4068561" y="2959800"/>
                  <a:ext cx="830475" cy="189017"/>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86" name="직사각형 85">
                  <a:extLst>
                    <a:ext uri="{FF2B5EF4-FFF2-40B4-BE49-F238E27FC236}">
                      <a16:creationId xmlns:a16="http://schemas.microsoft.com/office/drawing/2014/main" id="{1732B3A6-DDF0-4A2C-A9F9-1A9CDABC0458}"/>
                    </a:ext>
                  </a:extLst>
                </p:cNvPr>
                <p:cNvSpPr/>
                <p:nvPr/>
              </p:nvSpPr>
              <p:spPr>
                <a:xfrm>
                  <a:off x="4103305" y="3767421"/>
                  <a:ext cx="761199" cy="127301"/>
                </a:xfrm>
                <a:prstGeom prst="rect">
                  <a:avLst/>
                </a:prstGeom>
                <a:solidFill>
                  <a:srgbClr val="00B050"/>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87" name="직선 연결선 86">
                  <a:extLst>
                    <a:ext uri="{FF2B5EF4-FFF2-40B4-BE49-F238E27FC236}">
                      <a16:creationId xmlns:a16="http://schemas.microsoft.com/office/drawing/2014/main" id="{3C61EBA9-E83D-492E-BEE5-A942C9361DE0}"/>
                    </a:ext>
                  </a:extLst>
                </p:cNvPr>
                <p:cNvCxnSpPr/>
                <p:nvPr/>
              </p:nvCxnSpPr>
              <p:spPr>
                <a:xfrm>
                  <a:off x="4063287" y="3736536"/>
                  <a:ext cx="835749" cy="0"/>
                </a:xfrm>
                <a:prstGeom prst="line">
                  <a:avLst/>
                </a:prstGeom>
                <a:solidFill>
                  <a:srgbClr val="4472C4"/>
                </a:solidFill>
                <a:ln w="19050" cap="flat" cmpd="sng" algn="ctr">
                  <a:solidFill>
                    <a:srgbClr val="FFC000"/>
                  </a:solidFill>
                  <a:prstDash val="solid"/>
                  <a:miter lim="800000"/>
                </a:ln>
                <a:effectLst/>
              </p:spPr>
            </p:cxnSp>
            <p:cxnSp>
              <p:nvCxnSpPr>
                <p:cNvPr id="88" name="직선 연결선 87">
                  <a:extLst>
                    <a:ext uri="{FF2B5EF4-FFF2-40B4-BE49-F238E27FC236}">
                      <a16:creationId xmlns:a16="http://schemas.microsoft.com/office/drawing/2014/main" id="{B6C12909-AC7E-480A-8716-C2938B9A1D58}"/>
                    </a:ext>
                  </a:extLst>
                </p:cNvPr>
                <p:cNvCxnSpPr>
                  <a:cxnSpLocks/>
                </p:cNvCxnSpPr>
                <p:nvPr/>
              </p:nvCxnSpPr>
              <p:spPr>
                <a:xfrm>
                  <a:off x="4828026" y="3147743"/>
                  <a:ext cx="0" cy="153174"/>
                </a:xfrm>
                <a:prstGeom prst="line">
                  <a:avLst/>
                </a:prstGeom>
                <a:solidFill>
                  <a:srgbClr val="4472C4"/>
                </a:solidFill>
                <a:ln w="28575" cap="flat" cmpd="sng" algn="ctr">
                  <a:solidFill>
                    <a:srgbClr val="FFFF00"/>
                  </a:solidFill>
                  <a:prstDash val="solid"/>
                </a:ln>
                <a:effectLst/>
              </p:spPr>
            </p:cxnSp>
            <p:cxnSp>
              <p:nvCxnSpPr>
                <p:cNvPr id="89" name="직선 연결선 88">
                  <a:extLst>
                    <a:ext uri="{FF2B5EF4-FFF2-40B4-BE49-F238E27FC236}">
                      <a16:creationId xmlns:a16="http://schemas.microsoft.com/office/drawing/2014/main" id="{344E9FE2-CA14-4B17-8C0A-3AEFB8D63992}"/>
                    </a:ext>
                  </a:extLst>
                </p:cNvPr>
                <p:cNvCxnSpPr>
                  <a:cxnSpLocks/>
                </p:cNvCxnSpPr>
                <p:nvPr/>
              </p:nvCxnSpPr>
              <p:spPr>
                <a:xfrm>
                  <a:off x="4752320" y="3147743"/>
                  <a:ext cx="0" cy="153174"/>
                </a:xfrm>
                <a:prstGeom prst="line">
                  <a:avLst/>
                </a:prstGeom>
                <a:solidFill>
                  <a:srgbClr val="4472C4"/>
                </a:solidFill>
                <a:ln w="28575" cap="flat" cmpd="sng" algn="ctr">
                  <a:solidFill>
                    <a:srgbClr val="FFFF00"/>
                  </a:solidFill>
                  <a:prstDash val="solid"/>
                </a:ln>
                <a:effectLst/>
              </p:spPr>
            </p:cxnSp>
            <p:cxnSp>
              <p:nvCxnSpPr>
                <p:cNvPr id="90" name="직선 연결선 89">
                  <a:extLst>
                    <a:ext uri="{FF2B5EF4-FFF2-40B4-BE49-F238E27FC236}">
                      <a16:creationId xmlns:a16="http://schemas.microsoft.com/office/drawing/2014/main" id="{0C269B68-156B-4EA6-911C-7742FE3B3EE0}"/>
                    </a:ext>
                  </a:extLst>
                </p:cNvPr>
                <p:cNvCxnSpPr>
                  <a:cxnSpLocks/>
                </p:cNvCxnSpPr>
                <p:nvPr/>
              </p:nvCxnSpPr>
              <p:spPr>
                <a:xfrm>
                  <a:off x="4222370" y="3147743"/>
                  <a:ext cx="0" cy="153174"/>
                </a:xfrm>
                <a:prstGeom prst="line">
                  <a:avLst/>
                </a:prstGeom>
                <a:solidFill>
                  <a:srgbClr val="4472C4"/>
                </a:solidFill>
                <a:ln w="28575" cap="flat" cmpd="sng" algn="ctr">
                  <a:solidFill>
                    <a:srgbClr val="FFFF00"/>
                  </a:solidFill>
                  <a:prstDash val="solid"/>
                </a:ln>
                <a:effectLst/>
              </p:spPr>
            </p:cxnSp>
            <p:cxnSp>
              <p:nvCxnSpPr>
                <p:cNvPr id="91" name="직선 연결선 90">
                  <a:extLst>
                    <a:ext uri="{FF2B5EF4-FFF2-40B4-BE49-F238E27FC236}">
                      <a16:creationId xmlns:a16="http://schemas.microsoft.com/office/drawing/2014/main" id="{D092F32F-4253-454C-9CB0-94D8825ACA0F}"/>
                    </a:ext>
                  </a:extLst>
                </p:cNvPr>
                <p:cNvCxnSpPr>
                  <a:cxnSpLocks/>
                </p:cNvCxnSpPr>
                <p:nvPr/>
              </p:nvCxnSpPr>
              <p:spPr>
                <a:xfrm>
                  <a:off x="4146662" y="3147743"/>
                  <a:ext cx="0" cy="153174"/>
                </a:xfrm>
                <a:prstGeom prst="line">
                  <a:avLst/>
                </a:prstGeom>
                <a:solidFill>
                  <a:srgbClr val="4472C4"/>
                </a:solidFill>
                <a:ln w="28575" cap="flat" cmpd="sng" algn="ctr">
                  <a:solidFill>
                    <a:srgbClr val="FFFF00"/>
                  </a:solidFill>
                  <a:prstDash val="solid"/>
                </a:ln>
                <a:effectLst/>
              </p:spPr>
            </p:cxnSp>
            <p:sp>
              <p:nvSpPr>
                <p:cNvPr id="92" name="직사각형 91">
                  <a:extLst>
                    <a:ext uri="{FF2B5EF4-FFF2-40B4-BE49-F238E27FC236}">
                      <a16:creationId xmlns:a16="http://schemas.microsoft.com/office/drawing/2014/main" id="{65C64BB0-353E-478D-B4C8-7E62E8EACFD2}"/>
                    </a:ext>
                  </a:extLst>
                </p:cNvPr>
                <p:cNvSpPr/>
                <p:nvPr/>
              </p:nvSpPr>
              <p:spPr>
                <a:xfrm>
                  <a:off x="4068561" y="3607216"/>
                  <a:ext cx="830475" cy="154742"/>
                </a:xfrm>
                <a:prstGeom prst="rect">
                  <a:avLst/>
                </a:prstGeom>
                <a:solidFill>
                  <a:srgbClr val="FFC000">
                    <a:lumMod val="40000"/>
                    <a:lumOff val="60000"/>
                  </a:srgbClr>
                </a:solidFill>
                <a:ln w="12700" cap="flat" cmpd="sng" algn="ctr">
                  <a:solidFill>
                    <a:sysClr val="windowText" lastClr="000000"/>
                  </a:solidFill>
                  <a:prstDash val="sysDash"/>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93" name="직선 연결선 92">
                  <a:extLst>
                    <a:ext uri="{FF2B5EF4-FFF2-40B4-BE49-F238E27FC236}">
                      <a16:creationId xmlns:a16="http://schemas.microsoft.com/office/drawing/2014/main" id="{49A3557C-C8AD-48EC-B9FE-2ACABC1B851F}"/>
                    </a:ext>
                  </a:extLst>
                </p:cNvPr>
                <p:cNvCxnSpPr>
                  <a:cxnSpLocks/>
                </p:cNvCxnSpPr>
                <p:nvPr/>
              </p:nvCxnSpPr>
              <p:spPr>
                <a:xfrm>
                  <a:off x="4373784" y="3147743"/>
                  <a:ext cx="0" cy="153174"/>
                </a:xfrm>
                <a:prstGeom prst="line">
                  <a:avLst/>
                </a:prstGeom>
                <a:solidFill>
                  <a:srgbClr val="4472C4"/>
                </a:solidFill>
                <a:ln w="28575" cap="flat" cmpd="sng" algn="ctr">
                  <a:solidFill>
                    <a:srgbClr val="FFFF00"/>
                  </a:solidFill>
                  <a:prstDash val="solid"/>
                </a:ln>
                <a:effectLst/>
              </p:spPr>
            </p:cxnSp>
            <p:cxnSp>
              <p:nvCxnSpPr>
                <p:cNvPr id="94" name="직선 연결선 93">
                  <a:extLst>
                    <a:ext uri="{FF2B5EF4-FFF2-40B4-BE49-F238E27FC236}">
                      <a16:creationId xmlns:a16="http://schemas.microsoft.com/office/drawing/2014/main" id="{F7B5CA2E-5A9B-405C-BAFB-4969E8370050}"/>
                    </a:ext>
                  </a:extLst>
                </p:cNvPr>
                <p:cNvCxnSpPr>
                  <a:cxnSpLocks/>
                </p:cNvCxnSpPr>
                <p:nvPr/>
              </p:nvCxnSpPr>
              <p:spPr>
                <a:xfrm>
                  <a:off x="4298077" y="3147743"/>
                  <a:ext cx="0" cy="153174"/>
                </a:xfrm>
                <a:prstGeom prst="line">
                  <a:avLst/>
                </a:prstGeom>
                <a:solidFill>
                  <a:srgbClr val="4472C4"/>
                </a:solidFill>
                <a:ln w="28575" cap="flat" cmpd="sng" algn="ctr">
                  <a:solidFill>
                    <a:srgbClr val="FFFF00"/>
                  </a:solidFill>
                  <a:prstDash val="solid"/>
                </a:ln>
                <a:effectLst/>
              </p:spPr>
            </p:cxnSp>
            <p:cxnSp>
              <p:nvCxnSpPr>
                <p:cNvPr id="95" name="직선 연결선 94">
                  <a:extLst>
                    <a:ext uri="{FF2B5EF4-FFF2-40B4-BE49-F238E27FC236}">
                      <a16:creationId xmlns:a16="http://schemas.microsoft.com/office/drawing/2014/main" id="{5223CEF7-8DF9-447D-BA20-BAD104F15E2C}"/>
                    </a:ext>
                  </a:extLst>
                </p:cNvPr>
                <p:cNvCxnSpPr>
                  <a:cxnSpLocks/>
                </p:cNvCxnSpPr>
                <p:nvPr/>
              </p:nvCxnSpPr>
              <p:spPr>
                <a:xfrm>
                  <a:off x="4525199" y="3147743"/>
                  <a:ext cx="0" cy="153174"/>
                </a:xfrm>
                <a:prstGeom prst="line">
                  <a:avLst/>
                </a:prstGeom>
                <a:solidFill>
                  <a:srgbClr val="4472C4"/>
                </a:solidFill>
                <a:ln w="28575" cap="flat" cmpd="sng" algn="ctr">
                  <a:solidFill>
                    <a:srgbClr val="FFFF00"/>
                  </a:solidFill>
                  <a:prstDash val="solid"/>
                </a:ln>
                <a:effectLst/>
              </p:spPr>
            </p:cxnSp>
            <p:cxnSp>
              <p:nvCxnSpPr>
                <p:cNvPr id="96" name="직선 연결선 95">
                  <a:extLst>
                    <a:ext uri="{FF2B5EF4-FFF2-40B4-BE49-F238E27FC236}">
                      <a16:creationId xmlns:a16="http://schemas.microsoft.com/office/drawing/2014/main" id="{7225BE27-071C-424A-AA26-398D782E7711}"/>
                    </a:ext>
                  </a:extLst>
                </p:cNvPr>
                <p:cNvCxnSpPr>
                  <a:cxnSpLocks/>
                </p:cNvCxnSpPr>
                <p:nvPr/>
              </p:nvCxnSpPr>
              <p:spPr>
                <a:xfrm>
                  <a:off x="4449491" y="3147743"/>
                  <a:ext cx="0" cy="153174"/>
                </a:xfrm>
                <a:prstGeom prst="line">
                  <a:avLst/>
                </a:prstGeom>
                <a:solidFill>
                  <a:srgbClr val="4472C4"/>
                </a:solidFill>
                <a:ln w="28575" cap="flat" cmpd="sng" algn="ctr">
                  <a:solidFill>
                    <a:srgbClr val="FFFF00"/>
                  </a:solidFill>
                  <a:prstDash val="solid"/>
                </a:ln>
                <a:effectLst/>
              </p:spPr>
            </p:cxnSp>
            <p:cxnSp>
              <p:nvCxnSpPr>
                <p:cNvPr id="97" name="직선 연결선 96">
                  <a:extLst>
                    <a:ext uri="{FF2B5EF4-FFF2-40B4-BE49-F238E27FC236}">
                      <a16:creationId xmlns:a16="http://schemas.microsoft.com/office/drawing/2014/main" id="{40D8C72B-61D3-460C-9E06-364D57FC6C35}"/>
                    </a:ext>
                  </a:extLst>
                </p:cNvPr>
                <p:cNvCxnSpPr>
                  <a:cxnSpLocks/>
                </p:cNvCxnSpPr>
                <p:nvPr/>
              </p:nvCxnSpPr>
              <p:spPr>
                <a:xfrm>
                  <a:off x="4676613" y="3147743"/>
                  <a:ext cx="0" cy="153174"/>
                </a:xfrm>
                <a:prstGeom prst="line">
                  <a:avLst/>
                </a:prstGeom>
                <a:solidFill>
                  <a:srgbClr val="4472C4"/>
                </a:solidFill>
                <a:ln w="28575" cap="flat" cmpd="sng" algn="ctr">
                  <a:solidFill>
                    <a:srgbClr val="FFFF00"/>
                  </a:solidFill>
                  <a:prstDash val="solid"/>
                </a:ln>
                <a:effectLst/>
              </p:spPr>
            </p:cxnSp>
            <p:cxnSp>
              <p:nvCxnSpPr>
                <p:cNvPr id="98" name="직선 연결선 97">
                  <a:extLst>
                    <a:ext uri="{FF2B5EF4-FFF2-40B4-BE49-F238E27FC236}">
                      <a16:creationId xmlns:a16="http://schemas.microsoft.com/office/drawing/2014/main" id="{28E1F744-1DE3-4FD5-A591-D9F0E064EA55}"/>
                    </a:ext>
                  </a:extLst>
                </p:cNvPr>
                <p:cNvCxnSpPr>
                  <a:cxnSpLocks/>
                </p:cNvCxnSpPr>
                <p:nvPr/>
              </p:nvCxnSpPr>
              <p:spPr>
                <a:xfrm>
                  <a:off x="4600906" y="3147743"/>
                  <a:ext cx="0" cy="153174"/>
                </a:xfrm>
                <a:prstGeom prst="line">
                  <a:avLst/>
                </a:prstGeom>
                <a:solidFill>
                  <a:srgbClr val="4472C4"/>
                </a:solidFill>
                <a:ln w="28575" cap="flat" cmpd="sng" algn="ctr">
                  <a:solidFill>
                    <a:srgbClr val="FFFF00"/>
                  </a:solidFill>
                  <a:prstDash val="solid"/>
                </a:ln>
                <a:effectLst/>
              </p:spPr>
            </p:cxnSp>
            <p:cxnSp>
              <p:nvCxnSpPr>
                <p:cNvPr id="99" name="직선 연결선 98">
                  <a:extLst>
                    <a:ext uri="{FF2B5EF4-FFF2-40B4-BE49-F238E27FC236}">
                      <a16:creationId xmlns:a16="http://schemas.microsoft.com/office/drawing/2014/main" id="{6F98E671-1CF6-4D88-ADE1-84FB4AA4C023}"/>
                    </a:ext>
                  </a:extLst>
                </p:cNvPr>
                <p:cNvCxnSpPr>
                  <a:cxnSpLocks/>
                </p:cNvCxnSpPr>
                <p:nvPr/>
              </p:nvCxnSpPr>
              <p:spPr>
                <a:xfrm>
                  <a:off x="4828026" y="3305166"/>
                  <a:ext cx="0" cy="153174"/>
                </a:xfrm>
                <a:prstGeom prst="line">
                  <a:avLst/>
                </a:prstGeom>
                <a:solidFill>
                  <a:srgbClr val="4472C4"/>
                </a:solidFill>
                <a:ln w="28575" cap="flat" cmpd="sng" algn="ctr">
                  <a:solidFill>
                    <a:srgbClr val="FFFF00"/>
                  </a:solidFill>
                  <a:prstDash val="solid"/>
                </a:ln>
                <a:effectLst/>
              </p:spPr>
            </p:cxnSp>
            <p:cxnSp>
              <p:nvCxnSpPr>
                <p:cNvPr id="100" name="직선 연결선 99">
                  <a:extLst>
                    <a:ext uri="{FF2B5EF4-FFF2-40B4-BE49-F238E27FC236}">
                      <a16:creationId xmlns:a16="http://schemas.microsoft.com/office/drawing/2014/main" id="{67A9561F-8CB5-4A9A-A3EA-103AF5509253}"/>
                    </a:ext>
                  </a:extLst>
                </p:cNvPr>
                <p:cNvCxnSpPr>
                  <a:cxnSpLocks/>
                </p:cNvCxnSpPr>
                <p:nvPr/>
              </p:nvCxnSpPr>
              <p:spPr>
                <a:xfrm>
                  <a:off x="4752320" y="3305166"/>
                  <a:ext cx="0" cy="153174"/>
                </a:xfrm>
                <a:prstGeom prst="line">
                  <a:avLst/>
                </a:prstGeom>
                <a:solidFill>
                  <a:srgbClr val="4472C4"/>
                </a:solidFill>
                <a:ln w="28575" cap="flat" cmpd="sng" algn="ctr">
                  <a:solidFill>
                    <a:srgbClr val="FFFF00"/>
                  </a:solidFill>
                  <a:prstDash val="solid"/>
                </a:ln>
                <a:effectLst/>
              </p:spPr>
            </p:cxnSp>
            <p:cxnSp>
              <p:nvCxnSpPr>
                <p:cNvPr id="101" name="직선 연결선 100">
                  <a:extLst>
                    <a:ext uri="{FF2B5EF4-FFF2-40B4-BE49-F238E27FC236}">
                      <a16:creationId xmlns:a16="http://schemas.microsoft.com/office/drawing/2014/main" id="{7A223B4A-56BE-4A6B-A5A8-D9082E3813CF}"/>
                    </a:ext>
                  </a:extLst>
                </p:cNvPr>
                <p:cNvCxnSpPr>
                  <a:cxnSpLocks/>
                </p:cNvCxnSpPr>
                <p:nvPr/>
              </p:nvCxnSpPr>
              <p:spPr>
                <a:xfrm>
                  <a:off x="4222370" y="3305166"/>
                  <a:ext cx="0" cy="153174"/>
                </a:xfrm>
                <a:prstGeom prst="line">
                  <a:avLst/>
                </a:prstGeom>
                <a:solidFill>
                  <a:srgbClr val="4472C4"/>
                </a:solidFill>
                <a:ln w="28575" cap="flat" cmpd="sng" algn="ctr">
                  <a:solidFill>
                    <a:srgbClr val="FFFF00"/>
                  </a:solidFill>
                  <a:prstDash val="solid"/>
                </a:ln>
                <a:effectLst/>
              </p:spPr>
            </p:cxnSp>
            <p:cxnSp>
              <p:nvCxnSpPr>
                <p:cNvPr id="102" name="직선 연결선 101">
                  <a:extLst>
                    <a:ext uri="{FF2B5EF4-FFF2-40B4-BE49-F238E27FC236}">
                      <a16:creationId xmlns:a16="http://schemas.microsoft.com/office/drawing/2014/main" id="{69C56320-1475-4BE2-927E-FD1BDE8E56B3}"/>
                    </a:ext>
                  </a:extLst>
                </p:cNvPr>
                <p:cNvCxnSpPr>
                  <a:cxnSpLocks/>
                </p:cNvCxnSpPr>
                <p:nvPr/>
              </p:nvCxnSpPr>
              <p:spPr>
                <a:xfrm>
                  <a:off x="4146662" y="3305166"/>
                  <a:ext cx="0" cy="153174"/>
                </a:xfrm>
                <a:prstGeom prst="line">
                  <a:avLst/>
                </a:prstGeom>
                <a:solidFill>
                  <a:srgbClr val="4472C4"/>
                </a:solidFill>
                <a:ln w="28575" cap="flat" cmpd="sng" algn="ctr">
                  <a:solidFill>
                    <a:srgbClr val="FFFF00"/>
                  </a:solidFill>
                  <a:prstDash val="solid"/>
                </a:ln>
                <a:effectLst/>
              </p:spPr>
            </p:cxnSp>
            <p:cxnSp>
              <p:nvCxnSpPr>
                <p:cNvPr id="103" name="직선 연결선 102">
                  <a:extLst>
                    <a:ext uri="{FF2B5EF4-FFF2-40B4-BE49-F238E27FC236}">
                      <a16:creationId xmlns:a16="http://schemas.microsoft.com/office/drawing/2014/main" id="{326F2E0A-BE53-41EB-B4B2-F845B6B5D4F5}"/>
                    </a:ext>
                  </a:extLst>
                </p:cNvPr>
                <p:cNvCxnSpPr>
                  <a:cxnSpLocks/>
                </p:cNvCxnSpPr>
                <p:nvPr/>
              </p:nvCxnSpPr>
              <p:spPr>
                <a:xfrm>
                  <a:off x="4373784" y="3305166"/>
                  <a:ext cx="0" cy="153174"/>
                </a:xfrm>
                <a:prstGeom prst="line">
                  <a:avLst/>
                </a:prstGeom>
                <a:solidFill>
                  <a:srgbClr val="4472C4"/>
                </a:solidFill>
                <a:ln w="28575" cap="flat" cmpd="sng" algn="ctr">
                  <a:solidFill>
                    <a:srgbClr val="FFFF00"/>
                  </a:solidFill>
                  <a:prstDash val="solid"/>
                </a:ln>
                <a:effectLst/>
              </p:spPr>
            </p:cxnSp>
            <p:cxnSp>
              <p:nvCxnSpPr>
                <p:cNvPr id="104" name="직선 연결선 103">
                  <a:extLst>
                    <a:ext uri="{FF2B5EF4-FFF2-40B4-BE49-F238E27FC236}">
                      <a16:creationId xmlns:a16="http://schemas.microsoft.com/office/drawing/2014/main" id="{A29937F2-D9B7-4BE5-812D-80BC354125C8}"/>
                    </a:ext>
                  </a:extLst>
                </p:cNvPr>
                <p:cNvCxnSpPr>
                  <a:cxnSpLocks/>
                </p:cNvCxnSpPr>
                <p:nvPr/>
              </p:nvCxnSpPr>
              <p:spPr>
                <a:xfrm>
                  <a:off x="4298077" y="3305166"/>
                  <a:ext cx="0" cy="153174"/>
                </a:xfrm>
                <a:prstGeom prst="line">
                  <a:avLst/>
                </a:prstGeom>
                <a:solidFill>
                  <a:srgbClr val="4472C4"/>
                </a:solidFill>
                <a:ln w="28575" cap="flat" cmpd="sng" algn="ctr">
                  <a:solidFill>
                    <a:srgbClr val="FFFF00"/>
                  </a:solidFill>
                  <a:prstDash val="solid"/>
                </a:ln>
                <a:effectLst/>
              </p:spPr>
            </p:cxnSp>
            <p:cxnSp>
              <p:nvCxnSpPr>
                <p:cNvPr id="105" name="직선 연결선 104">
                  <a:extLst>
                    <a:ext uri="{FF2B5EF4-FFF2-40B4-BE49-F238E27FC236}">
                      <a16:creationId xmlns:a16="http://schemas.microsoft.com/office/drawing/2014/main" id="{244BEB09-9989-4FF6-A9A0-E94F85C27B95}"/>
                    </a:ext>
                  </a:extLst>
                </p:cNvPr>
                <p:cNvCxnSpPr>
                  <a:cxnSpLocks/>
                </p:cNvCxnSpPr>
                <p:nvPr/>
              </p:nvCxnSpPr>
              <p:spPr>
                <a:xfrm>
                  <a:off x="4525199" y="3305166"/>
                  <a:ext cx="0" cy="153174"/>
                </a:xfrm>
                <a:prstGeom prst="line">
                  <a:avLst/>
                </a:prstGeom>
                <a:solidFill>
                  <a:srgbClr val="4472C4"/>
                </a:solidFill>
                <a:ln w="28575" cap="flat" cmpd="sng" algn="ctr">
                  <a:solidFill>
                    <a:srgbClr val="FFFF00"/>
                  </a:solidFill>
                  <a:prstDash val="solid"/>
                </a:ln>
                <a:effectLst/>
              </p:spPr>
            </p:cxnSp>
            <p:cxnSp>
              <p:nvCxnSpPr>
                <p:cNvPr id="106" name="직선 연결선 105">
                  <a:extLst>
                    <a:ext uri="{FF2B5EF4-FFF2-40B4-BE49-F238E27FC236}">
                      <a16:creationId xmlns:a16="http://schemas.microsoft.com/office/drawing/2014/main" id="{431C67F5-AAAA-480F-956A-F1FD418259EC}"/>
                    </a:ext>
                  </a:extLst>
                </p:cNvPr>
                <p:cNvCxnSpPr>
                  <a:cxnSpLocks/>
                </p:cNvCxnSpPr>
                <p:nvPr/>
              </p:nvCxnSpPr>
              <p:spPr>
                <a:xfrm>
                  <a:off x="4449491" y="3305166"/>
                  <a:ext cx="0" cy="153174"/>
                </a:xfrm>
                <a:prstGeom prst="line">
                  <a:avLst/>
                </a:prstGeom>
                <a:solidFill>
                  <a:srgbClr val="4472C4"/>
                </a:solidFill>
                <a:ln w="28575" cap="flat" cmpd="sng" algn="ctr">
                  <a:solidFill>
                    <a:srgbClr val="FFFF00"/>
                  </a:solidFill>
                  <a:prstDash val="solid"/>
                </a:ln>
                <a:effectLst/>
              </p:spPr>
            </p:cxnSp>
            <p:cxnSp>
              <p:nvCxnSpPr>
                <p:cNvPr id="107" name="직선 연결선 106">
                  <a:extLst>
                    <a:ext uri="{FF2B5EF4-FFF2-40B4-BE49-F238E27FC236}">
                      <a16:creationId xmlns:a16="http://schemas.microsoft.com/office/drawing/2014/main" id="{4C3C147F-1F12-4BAE-91BE-73A86DF2D120}"/>
                    </a:ext>
                  </a:extLst>
                </p:cNvPr>
                <p:cNvCxnSpPr>
                  <a:cxnSpLocks/>
                </p:cNvCxnSpPr>
                <p:nvPr/>
              </p:nvCxnSpPr>
              <p:spPr>
                <a:xfrm>
                  <a:off x="4676613" y="3305166"/>
                  <a:ext cx="0" cy="153174"/>
                </a:xfrm>
                <a:prstGeom prst="line">
                  <a:avLst/>
                </a:prstGeom>
                <a:solidFill>
                  <a:srgbClr val="4472C4"/>
                </a:solidFill>
                <a:ln w="28575" cap="flat" cmpd="sng" algn="ctr">
                  <a:solidFill>
                    <a:srgbClr val="FFFF00"/>
                  </a:solidFill>
                  <a:prstDash val="solid"/>
                </a:ln>
                <a:effectLst/>
              </p:spPr>
            </p:cxnSp>
            <p:cxnSp>
              <p:nvCxnSpPr>
                <p:cNvPr id="108" name="직선 연결선 107">
                  <a:extLst>
                    <a:ext uri="{FF2B5EF4-FFF2-40B4-BE49-F238E27FC236}">
                      <a16:creationId xmlns:a16="http://schemas.microsoft.com/office/drawing/2014/main" id="{33CAC228-5940-4207-8F7D-56382C4F73C4}"/>
                    </a:ext>
                  </a:extLst>
                </p:cNvPr>
                <p:cNvCxnSpPr>
                  <a:cxnSpLocks/>
                </p:cNvCxnSpPr>
                <p:nvPr/>
              </p:nvCxnSpPr>
              <p:spPr>
                <a:xfrm>
                  <a:off x="4600906" y="3305166"/>
                  <a:ext cx="0" cy="153174"/>
                </a:xfrm>
                <a:prstGeom prst="line">
                  <a:avLst/>
                </a:prstGeom>
                <a:solidFill>
                  <a:srgbClr val="4472C4"/>
                </a:solidFill>
                <a:ln w="28575" cap="flat" cmpd="sng" algn="ctr">
                  <a:solidFill>
                    <a:srgbClr val="FFFF00"/>
                  </a:solidFill>
                  <a:prstDash val="solid"/>
                </a:ln>
                <a:effectLst/>
              </p:spPr>
            </p:cxnSp>
            <p:cxnSp>
              <p:nvCxnSpPr>
                <p:cNvPr id="109" name="직선 연결선 108">
                  <a:extLst>
                    <a:ext uri="{FF2B5EF4-FFF2-40B4-BE49-F238E27FC236}">
                      <a16:creationId xmlns:a16="http://schemas.microsoft.com/office/drawing/2014/main" id="{C076AC68-B91B-48DF-80DD-679FF227F52E}"/>
                    </a:ext>
                  </a:extLst>
                </p:cNvPr>
                <p:cNvCxnSpPr>
                  <a:cxnSpLocks/>
                </p:cNvCxnSpPr>
                <p:nvPr/>
              </p:nvCxnSpPr>
              <p:spPr>
                <a:xfrm>
                  <a:off x="4828026" y="3448014"/>
                  <a:ext cx="0" cy="153174"/>
                </a:xfrm>
                <a:prstGeom prst="line">
                  <a:avLst/>
                </a:prstGeom>
                <a:solidFill>
                  <a:srgbClr val="4472C4"/>
                </a:solidFill>
                <a:ln w="28575" cap="flat" cmpd="sng" algn="ctr">
                  <a:solidFill>
                    <a:srgbClr val="FFFF00"/>
                  </a:solidFill>
                  <a:prstDash val="solid"/>
                </a:ln>
                <a:effectLst/>
              </p:spPr>
            </p:cxnSp>
            <p:cxnSp>
              <p:nvCxnSpPr>
                <p:cNvPr id="110" name="직선 연결선 109">
                  <a:extLst>
                    <a:ext uri="{FF2B5EF4-FFF2-40B4-BE49-F238E27FC236}">
                      <a16:creationId xmlns:a16="http://schemas.microsoft.com/office/drawing/2014/main" id="{0D8DA0C6-564B-4FF6-9E66-E4A19E1DD56A}"/>
                    </a:ext>
                  </a:extLst>
                </p:cNvPr>
                <p:cNvCxnSpPr>
                  <a:cxnSpLocks/>
                </p:cNvCxnSpPr>
                <p:nvPr/>
              </p:nvCxnSpPr>
              <p:spPr>
                <a:xfrm>
                  <a:off x="4752320" y="3448014"/>
                  <a:ext cx="0" cy="153174"/>
                </a:xfrm>
                <a:prstGeom prst="line">
                  <a:avLst/>
                </a:prstGeom>
                <a:solidFill>
                  <a:srgbClr val="4472C4"/>
                </a:solidFill>
                <a:ln w="28575" cap="flat" cmpd="sng" algn="ctr">
                  <a:solidFill>
                    <a:srgbClr val="FFFF00"/>
                  </a:solidFill>
                  <a:prstDash val="solid"/>
                </a:ln>
                <a:effectLst/>
              </p:spPr>
            </p:cxnSp>
            <p:cxnSp>
              <p:nvCxnSpPr>
                <p:cNvPr id="111" name="직선 연결선 110">
                  <a:extLst>
                    <a:ext uri="{FF2B5EF4-FFF2-40B4-BE49-F238E27FC236}">
                      <a16:creationId xmlns:a16="http://schemas.microsoft.com/office/drawing/2014/main" id="{71D918D9-B867-446C-B625-8517CC80CC00}"/>
                    </a:ext>
                  </a:extLst>
                </p:cNvPr>
                <p:cNvCxnSpPr>
                  <a:cxnSpLocks/>
                </p:cNvCxnSpPr>
                <p:nvPr/>
              </p:nvCxnSpPr>
              <p:spPr>
                <a:xfrm>
                  <a:off x="4222370" y="3448014"/>
                  <a:ext cx="0" cy="153174"/>
                </a:xfrm>
                <a:prstGeom prst="line">
                  <a:avLst/>
                </a:prstGeom>
                <a:solidFill>
                  <a:srgbClr val="4472C4"/>
                </a:solidFill>
                <a:ln w="28575" cap="flat" cmpd="sng" algn="ctr">
                  <a:solidFill>
                    <a:srgbClr val="FFFF00"/>
                  </a:solidFill>
                  <a:prstDash val="solid"/>
                </a:ln>
                <a:effectLst/>
              </p:spPr>
            </p:cxnSp>
            <p:cxnSp>
              <p:nvCxnSpPr>
                <p:cNvPr id="112" name="직선 연결선 111">
                  <a:extLst>
                    <a:ext uri="{FF2B5EF4-FFF2-40B4-BE49-F238E27FC236}">
                      <a16:creationId xmlns:a16="http://schemas.microsoft.com/office/drawing/2014/main" id="{6D3D5523-B012-4C2E-85D8-EA50580D77A9}"/>
                    </a:ext>
                  </a:extLst>
                </p:cNvPr>
                <p:cNvCxnSpPr>
                  <a:cxnSpLocks/>
                </p:cNvCxnSpPr>
                <p:nvPr/>
              </p:nvCxnSpPr>
              <p:spPr>
                <a:xfrm>
                  <a:off x="4146662" y="3448014"/>
                  <a:ext cx="0" cy="153174"/>
                </a:xfrm>
                <a:prstGeom prst="line">
                  <a:avLst/>
                </a:prstGeom>
                <a:solidFill>
                  <a:srgbClr val="4472C4"/>
                </a:solidFill>
                <a:ln w="28575" cap="flat" cmpd="sng" algn="ctr">
                  <a:solidFill>
                    <a:srgbClr val="FFFF00"/>
                  </a:solidFill>
                  <a:prstDash val="solid"/>
                </a:ln>
                <a:effectLst/>
              </p:spPr>
            </p:cxnSp>
            <p:cxnSp>
              <p:nvCxnSpPr>
                <p:cNvPr id="113" name="직선 연결선 112">
                  <a:extLst>
                    <a:ext uri="{FF2B5EF4-FFF2-40B4-BE49-F238E27FC236}">
                      <a16:creationId xmlns:a16="http://schemas.microsoft.com/office/drawing/2014/main" id="{DE800339-696E-4B07-9120-4A7A62DF1A0D}"/>
                    </a:ext>
                  </a:extLst>
                </p:cNvPr>
                <p:cNvCxnSpPr>
                  <a:cxnSpLocks/>
                </p:cNvCxnSpPr>
                <p:nvPr/>
              </p:nvCxnSpPr>
              <p:spPr>
                <a:xfrm>
                  <a:off x="4373784" y="3448014"/>
                  <a:ext cx="0" cy="153174"/>
                </a:xfrm>
                <a:prstGeom prst="line">
                  <a:avLst/>
                </a:prstGeom>
                <a:solidFill>
                  <a:srgbClr val="4472C4"/>
                </a:solidFill>
                <a:ln w="28575" cap="flat" cmpd="sng" algn="ctr">
                  <a:solidFill>
                    <a:srgbClr val="FFFF00"/>
                  </a:solidFill>
                  <a:prstDash val="solid"/>
                </a:ln>
                <a:effectLst/>
              </p:spPr>
            </p:cxnSp>
            <p:cxnSp>
              <p:nvCxnSpPr>
                <p:cNvPr id="114" name="직선 연결선 113">
                  <a:extLst>
                    <a:ext uri="{FF2B5EF4-FFF2-40B4-BE49-F238E27FC236}">
                      <a16:creationId xmlns:a16="http://schemas.microsoft.com/office/drawing/2014/main" id="{2FF3D587-AD1C-4A1F-AA5A-286218353FA5}"/>
                    </a:ext>
                  </a:extLst>
                </p:cNvPr>
                <p:cNvCxnSpPr>
                  <a:cxnSpLocks/>
                </p:cNvCxnSpPr>
                <p:nvPr/>
              </p:nvCxnSpPr>
              <p:spPr>
                <a:xfrm>
                  <a:off x="4298077" y="3448014"/>
                  <a:ext cx="0" cy="153174"/>
                </a:xfrm>
                <a:prstGeom prst="line">
                  <a:avLst/>
                </a:prstGeom>
                <a:solidFill>
                  <a:srgbClr val="4472C4"/>
                </a:solidFill>
                <a:ln w="28575" cap="flat" cmpd="sng" algn="ctr">
                  <a:solidFill>
                    <a:srgbClr val="FFFF00"/>
                  </a:solidFill>
                  <a:prstDash val="solid"/>
                </a:ln>
                <a:effectLst/>
              </p:spPr>
            </p:cxnSp>
            <p:cxnSp>
              <p:nvCxnSpPr>
                <p:cNvPr id="115" name="직선 연결선 114">
                  <a:extLst>
                    <a:ext uri="{FF2B5EF4-FFF2-40B4-BE49-F238E27FC236}">
                      <a16:creationId xmlns:a16="http://schemas.microsoft.com/office/drawing/2014/main" id="{C4258EA5-20F7-4DA6-9A64-8FF8F2FC73B2}"/>
                    </a:ext>
                  </a:extLst>
                </p:cNvPr>
                <p:cNvCxnSpPr>
                  <a:cxnSpLocks/>
                </p:cNvCxnSpPr>
                <p:nvPr/>
              </p:nvCxnSpPr>
              <p:spPr>
                <a:xfrm>
                  <a:off x="4525199" y="3448014"/>
                  <a:ext cx="0" cy="153174"/>
                </a:xfrm>
                <a:prstGeom prst="line">
                  <a:avLst/>
                </a:prstGeom>
                <a:solidFill>
                  <a:srgbClr val="4472C4"/>
                </a:solidFill>
                <a:ln w="28575" cap="flat" cmpd="sng" algn="ctr">
                  <a:solidFill>
                    <a:srgbClr val="FFFF00"/>
                  </a:solidFill>
                  <a:prstDash val="solid"/>
                </a:ln>
                <a:effectLst/>
              </p:spPr>
            </p:cxnSp>
            <p:cxnSp>
              <p:nvCxnSpPr>
                <p:cNvPr id="116" name="직선 연결선 115">
                  <a:extLst>
                    <a:ext uri="{FF2B5EF4-FFF2-40B4-BE49-F238E27FC236}">
                      <a16:creationId xmlns:a16="http://schemas.microsoft.com/office/drawing/2014/main" id="{F513B9FC-7D1F-44C5-B532-D57057C21C10}"/>
                    </a:ext>
                  </a:extLst>
                </p:cNvPr>
                <p:cNvCxnSpPr>
                  <a:cxnSpLocks/>
                </p:cNvCxnSpPr>
                <p:nvPr/>
              </p:nvCxnSpPr>
              <p:spPr>
                <a:xfrm>
                  <a:off x="4449491" y="3448014"/>
                  <a:ext cx="0" cy="153174"/>
                </a:xfrm>
                <a:prstGeom prst="line">
                  <a:avLst/>
                </a:prstGeom>
                <a:solidFill>
                  <a:srgbClr val="4472C4"/>
                </a:solidFill>
                <a:ln w="28575" cap="flat" cmpd="sng" algn="ctr">
                  <a:solidFill>
                    <a:srgbClr val="FFFF00"/>
                  </a:solidFill>
                  <a:prstDash val="solid"/>
                </a:ln>
                <a:effectLst/>
              </p:spPr>
            </p:cxnSp>
            <p:cxnSp>
              <p:nvCxnSpPr>
                <p:cNvPr id="117" name="직선 연결선 116">
                  <a:extLst>
                    <a:ext uri="{FF2B5EF4-FFF2-40B4-BE49-F238E27FC236}">
                      <a16:creationId xmlns:a16="http://schemas.microsoft.com/office/drawing/2014/main" id="{65249F9A-75C5-4C2F-87B6-039D9AEAAE43}"/>
                    </a:ext>
                  </a:extLst>
                </p:cNvPr>
                <p:cNvCxnSpPr>
                  <a:cxnSpLocks/>
                </p:cNvCxnSpPr>
                <p:nvPr/>
              </p:nvCxnSpPr>
              <p:spPr>
                <a:xfrm>
                  <a:off x="4676613" y="3448014"/>
                  <a:ext cx="0" cy="153174"/>
                </a:xfrm>
                <a:prstGeom prst="line">
                  <a:avLst/>
                </a:prstGeom>
                <a:solidFill>
                  <a:srgbClr val="4472C4"/>
                </a:solidFill>
                <a:ln w="28575" cap="flat" cmpd="sng" algn="ctr">
                  <a:solidFill>
                    <a:srgbClr val="FFFF00"/>
                  </a:solidFill>
                  <a:prstDash val="solid"/>
                </a:ln>
                <a:effectLst/>
              </p:spPr>
            </p:cxnSp>
            <p:cxnSp>
              <p:nvCxnSpPr>
                <p:cNvPr id="118" name="직선 연결선 117">
                  <a:extLst>
                    <a:ext uri="{FF2B5EF4-FFF2-40B4-BE49-F238E27FC236}">
                      <a16:creationId xmlns:a16="http://schemas.microsoft.com/office/drawing/2014/main" id="{63B71271-C967-49D2-BBD5-977912D87C86}"/>
                    </a:ext>
                  </a:extLst>
                </p:cNvPr>
                <p:cNvCxnSpPr>
                  <a:cxnSpLocks/>
                </p:cNvCxnSpPr>
                <p:nvPr/>
              </p:nvCxnSpPr>
              <p:spPr>
                <a:xfrm>
                  <a:off x="4600906" y="3448014"/>
                  <a:ext cx="0" cy="153174"/>
                </a:xfrm>
                <a:prstGeom prst="line">
                  <a:avLst/>
                </a:prstGeom>
                <a:solidFill>
                  <a:srgbClr val="4472C4"/>
                </a:solidFill>
                <a:ln w="28575" cap="flat" cmpd="sng" algn="ctr">
                  <a:solidFill>
                    <a:srgbClr val="FFFF00"/>
                  </a:solidFill>
                  <a:prstDash val="solid"/>
                </a:ln>
                <a:effectLst/>
              </p:spPr>
            </p:cxnSp>
            <p:cxnSp>
              <p:nvCxnSpPr>
                <p:cNvPr id="119" name="직선 연결선 118">
                  <a:extLst>
                    <a:ext uri="{FF2B5EF4-FFF2-40B4-BE49-F238E27FC236}">
                      <a16:creationId xmlns:a16="http://schemas.microsoft.com/office/drawing/2014/main" id="{A9A4BCE0-0040-47C3-95B0-340DFBDF55AF}"/>
                    </a:ext>
                  </a:extLst>
                </p:cNvPr>
                <p:cNvCxnSpPr>
                  <a:cxnSpLocks/>
                </p:cNvCxnSpPr>
                <p:nvPr/>
              </p:nvCxnSpPr>
              <p:spPr>
                <a:xfrm>
                  <a:off x="4828026" y="3607229"/>
                  <a:ext cx="0" cy="153174"/>
                </a:xfrm>
                <a:prstGeom prst="line">
                  <a:avLst/>
                </a:prstGeom>
                <a:solidFill>
                  <a:srgbClr val="4472C4"/>
                </a:solidFill>
                <a:ln w="28575" cap="flat" cmpd="sng" algn="ctr">
                  <a:solidFill>
                    <a:srgbClr val="FFFF00"/>
                  </a:solidFill>
                  <a:prstDash val="solid"/>
                </a:ln>
                <a:effectLst/>
              </p:spPr>
            </p:cxnSp>
            <p:cxnSp>
              <p:nvCxnSpPr>
                <p:cNvPr id="120" name="직선 연결선 119">
                  <a:extLst>
                    <a:ext uri="{FF2B5EF4-FFF2-40B4-BE49-F238E27FC236}">
                      <a16:creationId xmlns:a16="http://schemas.microsoft.com/office/drawing/2014/main" id="{AC62239C-9068-4400-93A9-4494549C551F}"/>
                    </a:ext>
                  </a:extLst>
                </p:cNvPr>
                <p:cNvCxnSpPr>
                  <a:cxnSpLocks/>
                </p:cNvCxnSpPr>
                <p:nvPr/>
              </p:nvCxnSpPr>
              <p:spPr>
                <a:xfrm>
                  <a:off x="4752320" y="3607229"/>
                  <a:ext cx="0" cy="153174"/>
                </a:xfrm>
                <a:prstGeom prst="line">
                  <a:avLst/>
                </a:prstGeom>
                <a:solidFill>
                  <a:srgbClr val="4472C4"/>
                </a:solidFill>
                <a:ln w="28575" cap="flat" cmpd="sng" algn="ctr">
                  <a:solidFill>
                    <a:srgbClr val="FFFF00"/>
                  </a:solidFill>
                  <a:prstDash val="solid"/>
                </a:ln>
                <a:effectLst/>
              </p:spPr>
            </p:cxnSp>
            <p:cxnSp>
              <p:nvCxnSpPr>
                <p:cNvPr id="121" name="직선 연결선 120">
                  <a:extLst>
                    <a:ext uri="{FF2B5EF4-FFF2-40B4-BE49-F238E27FC236}">
                      <a16:creationId xmlns:a16="http://schemas.microsoft.com/office/drawing/2014/main" id="{EA15D219-8C87-4401-9922-2E46860C0FE2}"/>
                    </a:ext>
                  </a:extLst>
                </p:cNvPr>
                <p:cNvCxnSpPr>
                  <a:cxnSpLocks/>
                </p:cNvCxnSpPr>
                <p:nvPr/>
              </p:nvCxnSpPr>
              <p:spPr>
                <a:xfrm>
                  <a:off x="4222370" y="3607229"/>
                  <a:ext cx="0" cy="153174"/>
                </a:xfrm>
                <a:prstGeom prst="line">
                  <a:avLst/>
                </a:prstGeom>
                <a:solidFill>
                  <a:srgbClr val="4472C4"/>
                </a:solidFill>
                <a:ln w="28575" cap="flat" cmpd="sng" algn="ctr">
                  <a:solidFill>
                    <a:srgbClr val="FFFF00"/>
                  </a:solidFill>
                  <a:prstDash val="solid"/>
                </a:ln>
                <a:effectLst/>
              </p:spPr>
            </p:cxnSp>
            <p:cxnSp>
              <p:nvCxnSpPr>
                <p:cNvPr id="122" name="직선 연결선 121">
                  <a:extLst>
                    <a:ext uri="{FF2B5EF4-FFF2-40B4-BE49-F238E27FC236}">
                      <a16:creationId xmlns:a16="http://schemas.microsoft.com/office/drawing/2014/main" id="{6EAF8DD1-5406-4D67-AC86-0A2BC18E86F5}"/>
                    </a:ext>
                  </a:extLst>
                </p:cNvPr>
                <p:cNvCxnSpPr>
                  <a:cxnSpLocks/>
                </p:cNvCxnSpPr>
                <p:nvPr/>
              </p:nvCxnSpPr>
              <p:spPr>
                <a:xfrm>
                  <a:off x="4146662" y="3607229"/>
                  <a:ext cx="0" cy="153174"/>
                </a:xfrm>
                <a:prstGeom prst="line">
                  <a:avLst/>
                </a:prstGeom>
                <a:solidFill>
                  <a:srgbClr val="4472C4"/>
                </a:solidFill>
                <a:ln w="28575" cap="flat" cmpd="sng" algn="ctr">
                  <a:solidFill>
                    <a:srgbClr val="FFFF00"/>
                  </a:solidFill>
                  <a:prstDash val="solid"/>
                </a:ln>
                <a:effectLst/>
              </p:spPr>
            </p:cxnSp>
            <p:cxnSp>
              <p:nvCxnSpPr>
                <p:cNvPr id="123" name="직선 연결선 122">
                  <a:extLst>
                    <a:ext uri="{FF2B5EF4-FFF2-40B4-BE49-F238E27FC236}">
                      <a16:creationId xmlns:a16="http://schemas.microsoft.com/office/drawing/2014/main" id="{DCCA5F0B-3E56-46C8-A5C5-C6B1D3FAD7D1}"/>
                    </a:ext>
                  </a:extLst>
                </p:cNvPr>
                <p:cNvCxnSpPr>
                  <a:cxnSpLocks/>
                </p:cNvCxnSpPr>
                <p:nvPr/>
              </p:nvCxnSpPr>
              <p:spPr>
                <a:xfrm>
                  <a:off x="4373784" y="3607229"/>
                  <a:ext cx="0" cy="153174"/>
                </a:xfrm>
                <a:prstGeom prst="line">
                  <a:avLst/>
                </a:prstGeom>
                <a:solidFill>
                  <a:srgbClr val="4472C4"/>
                </a:solidFill>
                <a:ln w="28575" cap="flat" cmpd="sng" algn="ctr">
                  <a:solidFill>
                    <a:srgbClr val="FFFF00"/>
                  </a:solidFill>
                  <a:prstDash val="solid"/>
                </a:ln>
                <a:effectLst/>
              </p:spPr>
            </p:cxnSp>
            <p:cxnSp>
              <p:nvCxnSpPr>
                <p:cNvPr id="124" name="직선 연결선 123">
                  <a:extLst>
                    <a:ext uri="{FF2B5EF4-FFF2-40B4-BE49-F238E27FC236}">
                      <a16:creationId xmlns:a16="http://schemas.microsoft.com/office/drawing/2014/main" id="{F677BB14-E6E5-4E19-9FCE-C62066361242}"/>
                    </a:ext>
                  </a:extLst>
                </p:cNvPr>
                <p:cNvCxnSpPr>
                  <a:cxnSpLocks/>
                </p:cNvCxnSpPr>
                <p:nvPr/>
              </p:nvCxnSpPr>
              <p:spPr>
                <a:xfrm>
                  <a:off x="4298077" y="3607229"/>
                  <a:ext cx="0" cy="153174"/>
                </a:xfrm>
                <a:prstGeom prst="line">
                  <a:avLst/>
                </a:prstGeom>
                <a:solidFill>
                  <a:srgbClr val="4472C4"/>
                </a:solidFill>
                <a:ln w="28575" cap="flat" cmpd="sng" algn="ctr">
                  <a:solidFill>
                    <a:srgbClr val="FFFF00"/>
                  </a:solidFill>
                  <a:prstDash val="solid"/>
                </a:ln>
                <a:effectLst/>
              </p:spPr>
            </p:cxnSp>
            <p:cxnSp>
              <p:nvCxnSpPr>
                <p:cNvPr id="125" name="직선 연결선 124">
                  <a:extLst>
                    <a:ext uri="{FF2B5EF4-FFF2-40B4-BE49-F238E27FC236}">
                      <a16:creationId xmlns:a16="http://schemas.microsoft.com/office/drawing/2014/main" id="{227B1922-DDD8-4D19-BF55-4BB4FD6FDA2D}"/>
                    </a:ext>
                  </a:extLst>
                </p:cNvPr>
                <p:cNvCxnSpPr>
                  <a:cxnSpLocks/>
                </p:cNvCxnSpPr>
                <p:nvPr/>
              </p:nvCxnSpPr>
              <p:spPr>
                <a:xfrm>
                  <a:off x="4525199" y="3607229"/>
                  <a:ext cx="0" cy="153174"/>
                </a:xfrm>
                <a:prstGeom prst="line">
                  <a:avLst/>
                </a:prstGeom>
                <a:solidFill>
                  <a:srgbClr val="4472C4"/>
                </a:solidFill>
                <a:ln w="28575" cap="flat" cmpd="sng" algn="ctr">
                  <a:solidFill>
                    <a:srgbClr val="FFFF00"/>
                  </a:solidFill>
                  <a:prstDash val="solid"/>
                </a:ln>
                <a:effectLst/>
              </p:spPr>
            </p:cxnSp>
            <p:cxnSp>
              <p:nvCxnSpPr>
                <p:cNvPr id="126" name="직선 연결선 125">
                  <a:extLst>
                    <a:ext uri="{FF2B5EF4-FFF2-40B4-BE49-F238E27FC236}">
                      <a16:creationId xmlns:a16="http://schemas.microsoft.com/office/drawing/2014/main" id="{C09A8F95-A3C0-4C96-B05E-5F3F3BA7D566}"/>
                    </a:ext>
                  </a:extLst>
                </p:cNvPr>
                <p:cNvCxnSpPr>
                  <a:cxnSpLocks/>
                </p:cNvCxnSpPr>
                <p:nvPr/>
              </p:nvCxnSpPr>
              <p:spPr>
                <a:xfrm>
                  <a:off x="4449491" y="3607229"/>
                  <a:ext cx="0" cy="153174"/>
                </a:xfrm>
                <a:prstGeom prst="line">
                  <a:avLst/>
                </a:prstGeom>
                <a:solidFill>
                  <a:srgbClr val="4472C4"/>
                </a:solidFill>
                <a:ln w="28575" cap="flat" cmpd="sng" algn="ctr">
                  <a:solidFill>
                    <a:srgbClr val="FFFF00"/>
                  </a:solidFill>
                  <a:prstDash val="solid"/>
                </a:ln>
                <a:effectLst/>
              </p:spPr>
            </p:cxnSp>
            <p:cxnSp>
              <p:nvCxnSpPr>
                <p:cNvPr id="127" name="직선 연결선 126">
                  <a:extLst>
                    <a:ext uri="{FF2B5EF4-FFF2-40B4-BE49-F238E27FC236}">
                      <a16:creationId xmlns:a16="http://schemas.microsoft.com/office/drawing/2014/main" id="{B8810FF0-A1D5-4286-9103-7C888D4B6EB5}"/>
                    </a:ext>
                  </a:extLst>
                </p:cNvPr>
                <p:cNvCxnSpPr>
                  <a:cxnSpLocks/>
                </p:cNvCxnSpPr>
                <p:nvPr/>
              </p:nvCxnSpPr>
              <p:spPr>
                <a:xfrm>
                  <a:off x="4676613" y="3607229"/>
                  <a:ext cx="0" cy="153174"/>
                </a:xfrm>
                <a:prstGeom prst="line">
                  <a:avLst/>
                </a:prstGeom>
                <a:solidFill>
                  <a:srgbClr val="4472C4"/>
                </a:solidFill>
                <a:ln w="28575" cap="flat" cmpd="sng" algn="ctr">
                  <a:solidFill>
                    <a:srgbClr val="FFFF00"/>
                  </a:solidFill>
                  <a:prstDash val="solid"/>
                </a:ln>
                <a:effectLst/>
              </p:spPr>
            </p:cxnSp>
            <p:cxnSp>
              <p:nvCxnSpPr>
                <p:cNvPr id="128" name="직선 연결선 127">
                  <a:extLst>
                    <a:ext uri="{FF2B5EF4-FFF2-40B4-BE49-F238E27FC236}">
                      <a16:creationId xmlns:a16="http://schemas.microsoft.com/office/drawing/2014/main" id="{68CF80FF-2998-4AEF-9301-1933B2D80981}"/>
                    </a:ext>
                  </a:extLst>
                </p:cNvPr>
                <p:cNvCxnSpPr>
                  <a:cxnSpLocks/>
                </p:cNvCxnSpPr>
                <p:nvPr/>
              </p:nvCxnSpPr>
              <p:spPr>
                <a:xfrm>
                  <a:off x="4600906" y="3607229"/>
                  <a:ext cx="0" cy="153174"/>
                </a:xfrm>
                <a:prstGeom prst="line">
                  <a:avLst/>
                </a:prstGeom>
                <a:solidFill>
                  <a:srgbClr val="4472C4"/>
                </a:solidFill>
                <a:ln w="28575" cap="flat" cmpd="sng" algn="ctr">
                  <a:solidFill>
                    <a:srgbClr val="FFFF00"/>
                  </a:solidFill>
                  <a:prstDash val="solid"/>
                </a:ln>
                <a:effectLst/>
              </p:spPr>
            </p:cxnSp>
            <p:cxnSp>
              <p:nvCxnSpPr>
                <p:cNvPr id="129" name="직선 연결선 128">
                  <a:extLst>
                    <a:ext uri="{FF2B5EF4-FFF2-40B4-BE49-F238E27FC236}">
                      <a16:creationId xmlns:a16="http://schemas.microsoft.com/office/drawing/2014/main" id="{02F7C207-BB35-4D04-94E5-905BC0799EE9}"/>
                    </a:ext>
                  </a:extLst>
                </p:cNvPr>
                <p:cNvCxnSpPr>
                  <a:cxnSpLocks/>
                </p:cNvCxnSpPr>
                <p:nvPr/>
              </p:nvCxnSpPr>
              <p:spPr>
                <a:xfrm>
                  <a:off x="4828027" y="3767422"/>
                  <a:ext cx="0" cy="122539"/>
                </a:xfrm>
                <a:prstGeom prst="line">
                  <a:avLst/>
                </a:prstGeom>
                <a:solidFill>
                  <a:srgbClr val="4472C4"/>
                </a:solidFill>
                <a:ln w="28575" cap="flat" cmpd="sng" algn="ctr">
                  <a:solidFill>
                    <a:srgbClr val="FFFF00"/>
                  </a:solidFill>
                  <a:prstDash val="solid"/>
                </a:ln>
                <a:effectLst/>
              </p:spPr>
            </p:cxnSp>
            <p:cxnSp>
              <p:nvCxnSpPr>
                <p:cNvPr id="130" name="직선 연결선 129">
                  <a:extLst>
                    <a:ext uri="{FF2B5EF4-FFF2-40B4-BE49-F238E27FC236}">
                      <a16:creationId xmlns:a16="http://schemas.microsoft.com/office/drawing/2014/main" id="{1B5A2FF4-3A53-462E-B6E5-E83FAF456405}"/>
                    </a:ext>
                  </a:extLst>
                </p:cNvPr>
                <p:cNvCxnSpPr>
                  <a:cxnSpLocks/>
                </p:cNvCxnSpPr>
                <p:nvPr/>
              </p:nvCxnSpPr>
              <p:spPr>
                <a:xfrm>
                  <a:off x="4752320" y="3767422"/>
                  <a:ext cx="0" cy="122539"/>
                </a:xfrm>
                <a:prstGeom prst="line">
                  <a:avLst/>
                </a:prstGeom>
                <a:solidFill>
                  <a:srgbClr val="4472C4"/>
                </a:solidFill>
                <a:ln w="28575" cap="flat" cmpd="sng" algn="ctr">
                  <a:solidFill>
                    <a:srgbClr val="FFFF00"/>
                  </a:solidFill>
                  <a:prstDash val="solid"/>
                </a:ln>
                <a:effectLst/>
              </p:spPr>
            </p:cxnSp>
            <p:cxnSp>
              <p:nvCxnSpPr>
                <p:cNvPr id="131" name="직선 연결선 130">
                  <a:extLst>
                    <a:ext uri="{FF2B5EF4-FFF2-40B4-BE49-F238E27FC236}">
                      <a16:creationId xmlns:a16="http://schemas.microsoft.com/office/drawing/2014/main" id="{AF729332-ABBC-4503-A0AB-D753CDE3629C}"/>
                    </a:ext>
                  </a:extLst>
                </p:cNvPr>
                <p:cNvCxnSpPr>
                  <a:cxnSpLocks/>
                </p:cNvCxnSpPr>
                <p:nvPr/>
              </p:nvCxnSpPr>
              <p:spPr>
                <a:xfrm>
                  <a:off x="4222370" y="3767422"/>
                  <a:ext cx="0" cy="122539"/>
                </a:xfrm>
                <a:prstGeom prst="line">
                  <a:avLst/>
                </a:prstGeom>
                <a:solidFill>
                  <a:srgbClr val="4472C4"/>
                </a:solidFill>
                <a:ln w="28575" cap="flat" cmpd="sng" algn="ctr">
                  <a:solidFill>
                    <a:srgbClr val="FFFF00"/>
                  </a:solidFill>
                  <a:prstDash val="solid"/>
                </a:ln>
                <a:effectLst/>
              </p:spPr>
            </p:cxnSp>
            <p:cxnSp>
              <p:nvCxnSpPr>
                <p:cNvPr id="132" name="직선 연결선 131">
                  <a:extLst>
                    <a:ext uri="{FF2B5EF4-FFF2-40B4-BE49-F238E27FC236}">
                      <a16:creationId xmlns:a16="http://schemas.microsoft.com/office/drawing/2014/main" id="{F81D9B91-F7BF-4042-99C8-DEE523BB7C98}"/>
                    </a:ext>
                  </a:extLst>
                </p:cNvPr>
                <p:cNvCxnSpPr>
                  <a:cxnSpLocks/>
                </p:cNvCxnSpPr>
                <p:nvPr/>
              </p:nvCxnSpPr>
              <p:spPr>
                <a:xfrm>
                  <a:off x="4146662" y="3767422"/>
                  <a:ext cx="0" cy="122539"/>
                </a:xfrm>
                <a:prstGeom prst="line">
                  <a:avLst/>
                </a:prstGeom>
                <a:solidFill>
                  <a:srgbClr val="4472C4"/>
                </a:solidFill>
                <a:ln w="28575" cap="flat" cmpd="sng" algn="ctr">
                  <a:solidFill>
                    <a:srgbClr val="FFFF00"/>
                  </a:solidFill>
                  <a:prstDash val="solid"/>
                </a:ln>
                <a:effectLst/>
              </p:spPr>
            </p:cxnSp>
            <p:cxnSp>
              <p:nvCxnSpPr>
                <p:cNvPr id="133" name="직선 연결선 132">
                  <a:extLst>
                    <a:ext uri="{FF2B5EF4-FFF2-40B4-BE49-F238E27FC236}">
                      <a16:creationId xmlns:a16="http://schemas.microsoft.com/office/drawing/2014/main" id="{82BCCC68-006B-4591-ACE2-652CA055FA1F}"/>
                    </a:ext>
                  </a:extLst>
                </p:cNvPr>
                <p:cNvCxnSpPr>
                  <a:cxnSpLocks/>
                </p:cNvCxnSpPr>
                <p:nvPr/>
              </p:nvCxnSpPr>
              <p:spPr>
                <a:xfrm>
                  <a:off x="4373785" y="3767422"/>
                  <a:ext cx="0" cy="122539"/>
                </a:xfrm>
                <a:prstGeom prst="line">
                  <a:avLst/>
                </a:prstGeom>
                <a:solidFill>
                  <a:srgbClr val="4472C4"/>
                </a:solidFill>
                <a:ln w="28575" cap="flat" cmpd="sng" algn="ctr">
                  <a:solidFill>
                    <a:srgbClr val="FFFF00"/>
                  </a:solidFill>
                  <a:prstDash val="solid"/>
                </a:ln>
                <a:effectLst/>
              </p:spPr>
            </p:cxnSp>
            <p:cxnSp>
              <p:nvCxnSpPr>
                <p:cNvPr id="134" name="직선 연결선 133">
                  <a:extLst>
                    <a:ext uri="{FF2B5EF4-FFF2-40B4-BE49-F238E27FC236}">
                      <a16:creationId xmlns:a16="http://schemas.microsoft.com/office/drawing/2014/main" id="{6AC89C60-6F41-4FAE-AE2F-C8880EE53CC1}"/>
                    </a:ext>
                  </a:extLst>
                </p:cNvPr>
                <p:cNvCxnSpPr>
                  <a:cxnSpLocks/>
                </p:cNvCxnSpPr>
                <p:nvPr/>
              </p:nvCxnSpPr>
              <p:spPr>
                <a:xfrm>
                  <a:off x="4298077" y="3767422"/>
                  <a:ext cx="0" cy="122539"/>
                </a:xfrm>
                <a:prstGeom prst="line">
                  <a:avLst/>
                </a:prstGeom>
                <a:solidFill>
                  <a:srgbClr val="4472C4"/>
                </a:solidFill>
                <a:ln w="28575" cap="flat" cmpd="sng" algn="ctr">
                  <a:solidFill>
                    <a:srgbClr val="FFFF00"/>
                  </a:solidFill>
                  <a:prstDash val="solid"/>
                </a:ln>
                <a:effectLst/>
              </p:spPr>
            </p:cxnSp>
            <p:cxnSp>
              <p:nvCxnSpPr>
                <p:cNvPr id="135" name="직선 연결선 134">
                  <a:extLst>
                    <a:ext uri="{FF2B5EF4-FFF2-40B4-BE49-F238E27FC236}">
                      <a16:creationId xmlns:a16="http://schemas.microsoft.com/office/drawing/2014/main" id="{3B3D4302-AA9D-496F-8ED3-53F8A1ADB68C}"/>
                    </a:ext>
                  </a:extLst>
                </p:cNvPr>
                <p:cNvCxnSpPr>
                  <a:cxnSpLocks/>
                </p:cNvCxnSpPr>
                <p:nvPr/>
              </p:nvCxnSpPr>
              <p:spPr>
                <a:xfrm>
                  <a:off x="4525199" y="3767422"/>
                  <a:ext cx="0" cy="122539"/>
                </a:xfrm>
                <a:prstGeom prst="line">
                  <a:avLst/>
                </a:prstGeom>
                <a:solidFill>
                  <a:srgbClr val="4472C4"/>
                </a:solidFill>
                <a:ln w="28575" cap="flat" cmpd="sng" algn="ctr">
                  <a:solidFill>
                    <a:srgbClr val="FFFF00"/>
                  </a:solidFill>
                  <a:prstDash val="solid"/>
                </a:ln>
                <a:effectLst/>
              </p:spPr>
            </p:cxnSp>
            <p:cxnSp>
              <p:nvCxnSpPr>
                <p:cNvPr id="136" name="직선 연결선 135">
                  <a:extLst>
                    <a:ext uri="{FF2B5EF4-FFF2-40B4-BE49-F238E27FC236}">
                      <a16:creationId xmlns:a16="http://schemas.microsoft.com/office/drawing/2014/main" id="{ECFA3CC6-A802-4372-8BCC-F0470A620EE1}"/>
                    </a:ext>
                  </a:extLst>
                </p:cNvPr>
                <p:cNvCxnSpPr>
                  <a:cxnSpLocks/>
                </p:cNvCxnSpPr>
                <p:nvPr/>
              </p:nvCxnSpPr>
              <p:spPr>
                <a:xfrm>
                  <a:off x="4449491" y="3767422"/>
                  <a:ext cx="0" cy="122539"/>
                </a:xfrm>
                <a:prstGeom prst="line">
                  <a:avLst/>
                </a:prstGeom>
                <a:solidFill>
                  <a:srgbClr val="4472C4"/>
                </a:solidFill>
                <a:ln w="28575" cap="flat" cmpd="sng" algn="ctr">
                  <a:solidFill>
                    <a:srgbClr val="FFFF00"/>
                  </a:solidFill>
                  <a:prstDash val="solid"/>
                </a:ln>
                <a:effectLst/>
              </p:spPr>
            </p:cxnSp>
            <p:cxnSp>
              <p:nvCxnSpPr>
                <p:cNvPr id="137" name="직선 연결선 136">
                  <a:extLst>
                    <a:ext uri="{FF2B5EF4-FFF2-40B4-BE49-F238E27FC236}">
                      <a16:creationId xmlns:a16="http://schemas.microsoft.com/office/drawing/2014/main" id="{7D5BBE6E-9F31-4224-A5BD-10DFEA0ECB22}"/>
                    </a:ext>
                  </a:extLst>
                </p:cNvPr>
                <p:cNvCxnSpPr>
                  <a:cxnSpLocks/>
                </p:cNvCxnSpPr>
                <p:nvPr/>
              </p:nvCxnSpPr>
              <p:spPr>
                <a:xfrm>
                  <a:off x="4676614" y="3767422"/>
                  <a:ext cx="0" cy="122539"/>
                </a:xfrm>
                <a:prstGeom prst="line">
                  <a:avLst/>
                </a:prstGeom>
                <a:solidFill>
                  <a:srgbClr val="4472C4"/>
                </a:solidFill>
                <a:ln w="28575" cap="flat" cmpd="sng" algn="ctr">
                  <a:solidFill>
                    <a:srgbClr val="FFFF00"/>
                  </a:solidFill>
                  <a:prstDash val="solid"/>
                </a:ln>
                <a:effectLst/>
              </p:spPr>
            </p:cxnSp>
            <p:cxnSp>
              <p:nvCxnSpPr>
                <p:cNvPr id="138" name="직선 연결선 137">
                  <a:extLst>
                    <a:ext uri="{FF2B5EF4-FFF2-40B4-BE49-F238E27FC236}">
                      <a16:creationId xmlns:a16="http://schemas.microsoft.com/office/drawing/2014/main" id="{9E0A3AC0-C1B1-4514-84A9-6B0D127FBB65}"/>
                    </a:ext>
                  </a:extLst>
                </p:cNvPr>
                <p:cNvCxnSpPr>
                  <a:cxnSpLocks/>
                </p:cNvCxnSpPr>
                <p:nvPr/>
              </p:nvCxnSpPr>
              <p:spPr>
                <a:xfrm>
                  <a:off x="4600906" y="3767422"/>
                  <a:ext cx="0" cy="122539"/>
                </a:xfrm>
                <a:prstGeom prst="line">
                  <a:avLst/>
                </a:prstGeom>
                <a:solidFill>
                  <a:srgbClr val="4472C4"/>
                </a:solidFill>
                <a:ln w="28575" cap="flat" cmpd="sng" algn="ctr">
                  <a:solidFill>
                    <a:srgbClr val="FFFF00"/>
                  </a:solidFill>
                  <a:prstDash val="solid"/>
                </a:ln>
                <a:effectLst/>
              </p:spPr>
            </p:cxnSp>
          </p:grpSp>
          <p:sp>
            <p:nvSpPr>
              <p:cNvPr id="76" name="TextBox 75">
                <a:extLst>
                  <a:ext uri="{FF2B5EF4-FFF2-40B4-BE49-F238E27FC236}">
                    <a16:creationId xmlns:a16="http://schemas.microsoft.com/office/drawing/2014/main" id="{01D72E98-7D44-4CEB-B057-D06806A217DE}"/>
                  </a:ext>
                </a:extLst>
              </p:cNvPr>
              <p:cNvSpPr txBox="1"/>
              <p:nvPr/>
            </p:nvSpPr>
            <p:spPr>
              <a:xfrm>
                <a:off x="8526187" y="2626787"/>
                <a:ext cx="413296" cy="22144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77" name="TextBox 76">
                <a:extLst>
                  <a:ext uri="{FF2B5EF4-FFF2-40B4-BE49-F238E27FC236}">
                    <a16:creationId xmlns:a16="http://schemas.microsoft.com/office/drawing/2014/main" id="{82648F13-263B-4A15-8805-9F9CD4586C02}"/>
                  </a:ext>
                </a:extLst>
              </p:cNvPr>
              <p:cNvSpPr txBox="1"/>
              <p:nvPr/>
            </p:nvSpPr>
            <p:spPr>
              <a:xfrm>
                <a:off x="8526188" y="2787488"/>
                <a:ext cx="413296" cy="22144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78" name="TextBox 77">
                <a:extLst>
                  <a:ext uri="{FF2B5EF4-FFF2-40B4-BE49-F238E27FC236}">
                    <a16:creationId xmlns:a16="http://schemas.microsoft.com/office/drawing/2014/main" id="{F2F027E5-AECF-4C74-91A1-726E1B76A36E}"/>
                  </a:ext>
                </a:extLst>
              </p:cNvPr>
              <p:cNvSpPr txBox="1"/>
              <p:nvPr/>
            </p:nvSpPr>
            <p:spPr>
              <a:xfrm>
                <a:off x="8419452" y="3219431"/>
                <a:ext cx="583746" cy="22144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Interlayer</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79" name="TextBox 78">
                <a:extLst>
                  <a:ext uri="{FF2B5EF4-FFF2-40B4-BE49-F238E27FC236}">
                    <a16:creationId xmlns:a16="http://schemas.microsoft.com/office/drawing/2014/main" id="{1DA45082-2DEB-456C-AF29-76E8A26169DB}"/>
                  </a:ext>
                </a:extLst>
              </p:cNvPr>
              <p:cNvSpPr txBox="1"/>
              <p:nvPr/>
            </p:nvSpPr>
            <p:spPr>
              <a:xfrm>
                <a:off x="8559394" y="3361968"/>
                <a:ext cx="378152" cy="221442"/>
              </a:xfrm>
              <a:prstGeom prst="rect">
                <a:avLst/>
              </a:prstGeom>
              <a:noFill/>
            </p:spPr>
            <p:txBody>
              <a:bodyPr wrap="non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GPU</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80" name="TextBox 79">
                <a:extLst>
                  <a:ext uri="{FF2B5EF4-FFF2-40B4-BE49-F238E27FC236}">
                    <a16:creationId xmlns:a16="http://schemas.microsoft.com/office/drawing/2014/main" id="{01346F8D-E03F-485B-9391-85BF44B9139F}"/>
                  </a:ext>
                </a:extLst>
              </p:cNvPr>
              <p:cNvSpPr txBox="1"/>
              <p:nvPr/>
            </p:nvSpPr>
            <p:spPr>
              <a:xfrm>
                <a:off x="8526188" y="2932379"/>
                <a:ext cx="413296" cy="22144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81" name="TextBox 80">
                <a:extLst>
                  <a:ext uri="{FF2B5EF4-FFF2-40B4-BE49-F238E27FC236}">
                    <a16:creationId xmlns:a16="http://schemas.microsoft.com/office/drawing/2014/main" id="{25B01067-131F-4E42-A01D-8277773A6945}"/>
                  </a:ext>
                </a:extLst>
              </p:cNvPr>
              <p:cNvSpPr txBox="1"/>
              <p:nvPr/>
            </p:nvSpPr>
            <p:spPr>
              <a:xfrm>
                <a:off x="8526188" y="3075323"/>
                <a:ext cx="413296" cy="22144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C-die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grpSp>
        <p:sp>
          <p:nvSpPr>
            <p:cNvPr id="141" name="TextBox 140">
              <a:extLst>
                <a:ext uri="{FF2B5EF4-FFF2-40B4-BE49-F238E27FC236}">
                  <a16:creationId xmlns:a16="http://schemas.microsoft.com/office/drawing/2014/main" id="{987DEFE5-E808-4F43-9A0A-CFF684213AF6}"/>
                </a:ext>
              </a:extLst>
            </p:cNvPr>
            <p:cNvSpPr txBox="1"/>
            <p:nvPr/>
          </p:nvSpPr>
          <p:spPr>
            <a:xfrm>
              <a:off x="3830465" y="3668162"/>
              <a:ext cx="1200817" cy="307777"/>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zHBM</a:t>
              </a:r>
            </a:p>
          </p:txBody>
        </p:sp>
        <p:sp>
          <p:nvSpPr>
            <p:cNvPr id="196" name="직사각형 195"/>
            <p:cNvSpPr/>
            <p:nvPr/>
          </p:nvSpPr>
          <p:spPr>
            <a:xfrm>
              <a:off x="3897658" y="2738725"/>
              <a:ext cx="998407" cy="587965"/>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400"/>
            </a:p>
          </p:txBody>
        </p:sp>
        <p:sp>
          <p:nvSpPr>
            <p:cNvPr id="283" name="직사각형 282">
              <a:extLst>
                <a:ext uri="{FF2B5EF4-FFF2-40B4-BE49-F238E27FC236}">
                  <a16:creationId xmlns:a16="http://schemas.microsoft.com/office/drawing/2014/main" id="{5B49D6FF-234B-4C22-9726-7A03703D67D5}"/>
                </a:ext>
              </a:extLst>
            </p:cNvPr>
            <p:cNvSpPr/>
            <p:nvPr/>
          </p:nvSpPr>
          <p:spPr>
            <a:xfrm>
              <a:off x="3699849" y="3395380"/>
              <a:ext cx="1339301" cy="260178"/>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400"/>
            </a:p>
          </p:txBody>
        </p:sp>
        <p:sp>
          <p:nvSpPr>
            <p:cNvPr id="318" name="TextBox 317"/>
            <p:cNvSpPr txBox="1"/>
            <p:nvPr/>
          </p:nvSpPr>
          <p:spPr>
            <a:xfrm>
              <a:off x="3900560" y="3859755"/>
              <a:ext cx="1154530" cy="345446"/>
            </a:xfrm>
            <a:prstGeom prst="rect">
              <a:avLst/>
            </a:prstGeom>
            <a:noFill/>
          </p:spPr>
          <p:txBody>
            <a:bodyPr wrap="none" rtlCol="0">
              <a:spAutoFit/>
            </a:bodyPr>
            <a:lstStyle/>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3D-IC, Ultra High BW</a:t>
              </a:r>
            </a:p>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low capacity</a:t>
              </a:r>
            </a:p>
          </p:txBody>
        </p:sp>
      </p:grpSp>
      <p:grpSp>
        <p:nvGrpSpPr>
          <p:cNvPr id="8" name="그룹 7"/>
          <p:cNvGrpSpPr/>
          <p:nvPr/>
        </p:nvGrpSpPr>
        <p:grpSpPr>
          <a:xfrm>
            <a:off x="578765" y="4754301"/>
            <a:ext cx="1269409" cy="1441266"/>
            <a:chOff x="578765" y="4754301"/>
            <a:chExt cx="1269409" cy="1441266"/>
          </a:xfrm>
        </p:grpSpPr>
        <p:sp>
          <p:nvSpPr>
            <p:cNvPr id="199" name="TextBox 198">
              <a:extLst>
                <a:ext uri="{FF2B5EF4-FFF2-40B4-BE49-F238E27FC236}">
                  <a16:creationId xmlns:a16="http://schemas.microsoft.com/office/drawing/2014/main" id="{54923186-6E67-4951-B1E9-2C81E8F0134A}"/>
                </a:ext>
              </a:extLst>
            </p:cNvPr>
            <p:cNvSpPr txBox="1"/>
            <p:nvPr/>
          </p:nvSpPr>
          <p:spPr>
            <a:xfrm>
              <a:off x="838924" y="5584394"/>
              <a:ext cx="879790" cy="265728"/>
            </a:xfrm>
            <a:prstGeom prst="rect">
              <a:avLst/>
            </a:prstGeom>
            <a:noFill/>
          </p:spPr>
          <p:txBody>
            <a:bodyPr wrap="square" rtlCol="0">
              <a:spAutoFit/>
            </a:bodyPr>
            <a:lstStyle/>
            <a:p>
              <a:pPr algn="ctr" defTabSz="914400"/>
              <a:r>
                <a:rPr lang="en-US" altLang="ko-KR" sz="1400" b="1" dirty="0" err="1">
                  <a:solidFill>
                    <a:schemeClr val="bg1"/>
                  </a:solidFill>
                  <a:latin typeface="SAMSUNGONE-600C" panose="020B0503030303020204" pitchFamily="34" charset="-127"/>
                  <a:ea typeface="SAMSUNGONE-600C" panose="020B0503030303020204" pitchFamily="34" charset="-127"/>
                </a:rPr>
                <a:t>zNAND</a:t>
              </a:r>
              <a:endParaRPr lang="en-US" altLang="ko-KR" sz="1400" b="1" dirty="0">
                <a:solidFill>
                  <a:schemeClr val="bg1"/>
                </a:solidFill>
                <a:latin typeface="SAMSUNGONE-600C" panose="020B0503030303020204" pitchFamily="34" charset="-127"/>
                <a:ea typeface="SAMSUNGONE-600C" panose="020B0503030303020204" pitchFamily="34" charset="-127"/>
              </a:endParaRPr>
            </a:p>
          </p:txBody>
        </p:sp>
        <p:grpSp>
          <p:nvGrpSpPr>
            <p:cNvPr id="200" name="그룹 199">
              <a:extLst>
                <a:ext uri="{FF2B5EF4-FFF2-40B4-BE49-F238E27FC236}">
                  <a16:creationId xmlns:a16="http://schemas.microsoft.com/office/drawing/2014/main" id="{D348F6A0-E51A-4548-8483-26CF7A02ED0F}"/>
                </a:ext>
              </a:extLst>
            </p:cNvPr>
            <p:cNvGrpSpPr/>
            <p:nvPr/>
          </p:nvGrpSpPr>
          <p:grpSpPr>
            <a:xfrm>
              <a:off x="578765" y="4754301"/>
              <a:ext cx="1269409" cy="758474"/>
              <a:chOff x="6252184" y="4715518"/>
              <a:chExt cx="1470284" cy="878497"/>
            </a:xfrm>
          </p:grpSpPr>
          <p:sp>
            <p:nvSpPr>
              <p:cNvPr id="201" name="Oval 630">
                <a:extLst>
                  <a:ext uri="{FF2B5EF4-FFF2-40B4-BE49-F238E27FC236}">
                    <a16:creationId xmlns:a16="http://schemas.microsoft.com/office/drawing/2014/main" id="{1F9D99EA-DF6B-46E2-8025-E9F69711E620}"/>
                  </a:ext>
                </a:extLst>
              </p:cNvPr>
              <p:cNvSpPr>
                <a:spLocks noChangeArrowheads="1"/>
              </p:cNvSpPr>
              <p:nvPr/>
            </p:nvSpPr>
            <p:spPr bwMode="auto">
              <a:xfrm>
                <a:off x="6264102"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2" name="Oval 630">
                <a:extLst>
                  <a:ext uri="{FF2B5EF4-FFF2-40B4-BE49-F238E27FC236}">
                    <a16:creationId xmlns:a16="http://schemas.microsoft.com/office/drawing/2014/main" id="{23454B8C-DDD2-40E5-99F8-B17D49029985}"/>
                  </a:ext>
                </a:extLst>
              </p:cNvPr>
              <p:cNvSpPr>
                <a:spLocks noChangeArrowheads="1"/>
              </p:cNvSpPr>
              <p:nvPr/>
            </p:nvSpPr>
            <p:spPr bwMode="auto">
              <a:xfrm>
                <a:off x="6427654"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3" name="Oval 630">
                <a:extLst>
                  <a:ext uri="{FF2B5EF4-FFF2-40B4-BE49-F238E27FC236}">
                    <a16:creationId xmlns:a16="http://schemas.microsoft.com/office/drawing/2014/main" id="{F6FF6669-CFE1-4E9D-B52A-35377B81D67C}"/>
                  </a:ext>
                </a:extLst>
              </p:cNvPr>
              <p:cNvSpPr>
                <a:spLocks noChangeArrowheads="1"/>
              </p:cNvSpPr>
              <p:nvPr/>
            </p:nvSpPr>
            <p:spPr bwMode="auto">
              <a:xfrm>
                <a:off x="6591206"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4" name="Oval 630">
                <a:extLst>
                  <a:ext uri="{FF2B5EF4-FFF2-40B4-BE49-F238E27FC236}">
                    <a16:creationId xmlns:a16="http://schemas.microsoft.com/office/drawing/2014/main" id="{3843654E-07B9-4865-85B0-5A70BD9F0382}"/>
                  </a:ext>
                </a:extLst>
              </p:cNvPr>
              <p:cNvSpPr>
                <a:spLocks noChangeArrowheads="1"/>
              </p:cNvSpPr>
              <p:nvPr/>
            </p:nvSpPr>
            <p:spPr bwMode="auto">
              <a:xfrm>
                <a:off x="6754758"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5" name="Oval 630">
                <a:extLst>
                  <a:ext uri="{FF2B5EF4-FFF2-40B4-BE49-F238E27FC236}">
                    <a16:creationId xmlns:a16="http://schemas.microsoft.com/office/drawing/2014/main" id="{AA58BE2F-024A-475A-9712-9648D2DCCF3E}"/>
                  </a:ext>
                </a:extLst>
              </p:cNvPr>
              <p:cNvSpPr>
                <a:spLocks noChangeArrowheads="1"/>
              </p:cNvSpPr>
              <p:nvPr/>
            </p:nvSpPr>
            <p:spPr bwMode="auto">
              <a:xfrm>
                <a:off x="6918310"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6" name="Oval 630">
                <a:extLst>
                  <a:ext uri="{FF2B5EF4-FFF2-40B4-BE49-F238E27FC236}">
                    <a16:creationId xmlns:a16="http://schemas.microsoft.com/office/drawing/2014/main" id="{E6C955E4-7A47-49D5-AC0B-9B1F7B4D0FAB}"/>
                  </a:ext>
                </a:extLst>
              </p:cNvPr>
              <p:cNvSpPr>
                <a:spLocks noChangeArrowheads="1"/>
              </p:cNvSpPr>
              <p:nvPr/>
            </p:nvSpPr>
            <p:spPr bwMode="auto">
              <a:xfrm>
                <a:off x="7081863"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7" name="Oval 630">
                <a:extLst>
                  <a:ext uri="{FF2B5EF4-FFF2-40B4-BE49-F238E27FC236}">
                    <a16:creationId xmlns:a16="http://schemas.microsoft.com/office/drawing/2014/main" id="{97FDAC83-663E-4441-BD64-1C108F410EE7}"/>
                  </a:ext>
                </a:extLst>
              </p:cNvPr>
              <p:cNvSpPr>
                <a:spLocks noChangeArrowheads="1"/>
              </p:cNvSpPr>
              <p:nvPr/>
            </p:nvSpPr>
            <p:spPr bwMode="auto">
              <a:xfrm>
                <a:off x="7245415"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8" name="Oval 630">
                <a:extLst>
                  <a:ext uri="{FF2B5EF4-FFF2-40B4-BE49-F238E27FC236}">
                    <a16:creationId xmlns:a16="http://schemas.microsoft.com/office/drawing/2014/main" id="{DDB9C7AC-9DE6-4DE1-B842-C1942ADEA163}"/>
                  </a:ext>
                </a:extLst>
              </p:cNvPr>
              <p:cNvSpPr>
                <a:spLocks noChangeArrowheads="1"/>
              </p:cNvSpPr>
              <p:nvPr/>
            </p:nvSpPr>
            <p:spPr bwMode="auto">
              <a:xfrm>
                <a:off x="7408967"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9" name="Oval 630">
                <a:extLst>
                  <a:ext uri="{FF2B5EF4-FFF2-40B4-BE49-F238E27FC236}">
                    <a16:creationId xmlns:a16="http://schemas.microsoft.com/office/drawing/2014/main" id="{37ADD1B1-3A45-447A-AC6C-BBA061CEBAC9}"/>
                  </a:ext>
                </a:extLst>
              </p:cNvPr>
              <p:cNvSpPr>
                <a:spLocks noChangeArrowheads="1"/>
              </p:cNvSpPr>
              <p:nvPr/>
            </p:nvSpPr>
            <p:spPr bwMode="auto">
              <a:xfrm>
                <a:off x="7572521" y="5503875"/>
                <a:ext cx="114942" cy="9014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0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10" name="직사각형 209">
                <a:extLst>
                  <a:ext uri="{FF2B5EF4-FFF2-40B4-BE49-F238E27FC236}">
                    <a16:creationId xmlns:a16="http://schemas.microsoft.com/office/drawing/2014/main" id="{037C7F7E-72D6-4C6C-97E4-E189A4D7A0FF}"/>
                  </a:ext>
                </a:extLst>
              </p:cNvPr>
              <p:cNvSpPr/>
              <p:nvPr/>
            </p:nvSpPr>
            <p:spPr>
              <a:xfrm>
                <a:off x="6252184" y="5421803"/>
                <a:ext cx="1470284" cy="114820"/>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Substrate</a:t>
                </a:r>
                <a:endParaRPr kumimoji="0" lang="ko-KR" altLang="en-US"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11" name="직사각형 210">
                <a:extLst>
                  <a:ext uri="{FF2B5EF4-FFF2-40B4-BE49-F238E27FC236}">
                    <a16:creationId xmlns:a16="http://schemas.microsoft.com/office/drawing/2014/main" id="{6365CF91-04C9-4304-93DE-58F030BB1A3A}"/>
                  </a:ext>
                </a:extLst>
              </p:cNvPr>
              <p:cNvSpPr/>
              <p:nvPr/>
            </p:nvSpPr>
            <p:spPr>
              <a:xfrm>
                <a:off x="6540988" y="5291501"/>
                <a:ext cx="729479"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12" name="직사각형 211">
                <a:extLst>
                  <a:ext uri="{FF2B5EF4-FFF2-40B4-BE49-F238E27FC236}">
                    <a16:creationId xmlns:a16="http://schemas.microsoft.com/office/drawing/2014/main" id="{6576617C-91C5-4FA0-8FBE-DCD975C5F934}"/>
                  </a:ext>
                </a:extLst>
              </p:cNvPr>
              <p:cNvSpPr/>
              <p:nvPr/>
            </p:nvSpPr>
            <p:spPr>
              <a:xfrm>
                <a:off x="6695162" y="5172286"/>
                <a:ext cx="729479"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13" name="직사각형 212">
                <a:extLst>
                  <a:ext uri="{FF2B5EF4-FFF2-40B4-BE49-F238E27FC236}">
                    <a16:creationId xmlns:a16="http://schemas.microsoft.com/office/drawing/2014/main" id="{D500964C-B175-42E1-9BB6-D8FF5524AF33}"/>
                  </a:ext>
                </a:extLst>
              </p:cNvPr>
              <p:cNvSpPr/>
              <p:nvPr/>
            </p:nvSpPr>
            <p:spPr>
              <a:xfrm>
                <a:off x="6540988" y="5049624"/>
                <a:ext cx="729479" cy="121314"/>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14" name="직사각형 213">
                <a:extLst>
                  <a:ext uri="{FF2B5EF4-FFF2-40B4-BE49-F238E27FC236}">
                    <a16:creationId xmlns:a16="http://schemas.microsoft.com/office/drawing/2014/main" id="{75DA0A08-71ED-481B-B6CA-214BE7165483}"/>
                  </a:ext>
                </a:extLst>
              </p:cNvPr>
              <p:cNvSpPr/>
              <p:nvPr/>
            </p:nvSpPr>
            <p:spPr>
              <a:xfrm>
                <a:off x="6695162" y="4903540"/>
                <a:ext cx="729479" cy="148185"/>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15" name="TextBox 214">
                <a:extLst>
                  <a:ext uri="{FF2B5EF4-FFF2-40B4-BE49-F238E27FC236}">
                    <a16:creationId xmlns:a16="http://schemas.microsoft.com/office/drawing/2014/main" id="{E6A24638-58EF-4B30-8880-86E04D6144D6}"/>
                  </a:ext>
                </a:extLst>
              </p:cNvPr>
              <p:cNvSpPr txBox="1"/>
              <p:nvPr/>
            </p:nvSpPr>
            <p:spPr>
              <a:xfrm>
                <a:off x="6797875" y="4883995"/>
                <a:ext cx="418704" cy="18466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NAND</a:t>
                </a:r>
                <a:endParaRPr kumimoji="0" lang="ko-KR" altLang="en-US" sz="600" b="1" i="0" u="none" strike="noStrike" kern="0" cap="none" spc="0" normalizeH="0" baseline="0" noProof="0" dirty="0">
                  <a:ln>
                    <a:noFill/>
                  </a:ln>
                  <a:effectLst/>
                  <a:uLnTx/>
                  <a:uFillTx/>
                  <a:latin typeface="맑은 고딕"/>
                  <a:ea typeface="맑은 고딕"/>
                </a:endParaRPr>
              </a:p>
            </p:txBody>
          </p:sp>
          <p:grpSp>
            <p:nvGrpSpPr>
              <p:cNvPr id="216" name="그룹 215">
                <a:extLst>
                  <a:ext uri="{FF2B5EF4-FFF2-40B4-BE49-F238E27FC236}">
                    <a16:creationId xmlns:a16="http://schemas.microsoft.com/office/drawing/2014/main" id="{A8D9A11A-67DA-4CE6-9490-A6645C341BD1}"/>
                  </a:ext>
                </a:extLst>
              </p:cNvPr>
              <p:cNvGrpSpPr/>
              <p:nvPr/>
            </p:nvGrpSpPr>
            <p:grpSpPr>
              <a:xfrm>
                <a:off x="7343702" y="4715518"/>
                <a:ext cx="315283" cy="713732"/>
                <a:chOff x="7343702" y="4715518"/>
                <a:chExt cx="315283" cy="713732"/>
              </a:xfrm>
            </p:grpSpPr>
            <p:sp>
              <p:nvSpPr>
                <p:cNvPr id="222" name="자유형: 도형 1">
                  <a:extLst>
                    <a:ext uri="{FF2B5EF4-FFF2-40B4-BE49-F238E27FC236}">
                      <a16:creationId xmlns:a16="http://schemas.microsoft.com/office/drawing/2014/main" id="{FC5F1EFD-FA7D-4BA4-95B0-9C1B2C9679C2}"/>
                    </a:ext>
                  </a:extLst>
                </p:cNvPr>
                <p:cNvSpPr/>
                <p:nvPr/>
              </p:nvSpPr>
              <p:spPr>
                <a:xfrm>
                  <a:off x="7353300" y="5085686"/>
                  <a:ext cx="209550" cy="343564"/>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
              <p:nvSpPr>
                <p:cNvPr id="223" name="자유형: 도형 415">
                  <a:extLst>
                    <a:ext uri="{FF2B5EF4-FFF2-40B4-BE49-F238E27FC236}">
                      <a16:creationId xmlns:a16="http://schemas.microsoft.com/office/drawing/2014/main" id="{EDD53161-0ACD-4562-B3AF-0D8E6769B502}"/>
                    </a:ext>
                  </a:extLst>
                </p:cNvPr>
                <p:cNvSpPr/>
                <p:nvPr/>
              </p:nvSpPr>
              <p:spPr>
                <a:xfrm>
                  <a:off x="7343702" y="4715518"/>
                  <a:ext cx="315283" cy="713731"/>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grpSp>
          <p:sp>
            <p:nvSpPr>
              <p:cNvPr id="217" name="자유형: 도형 417">
                <a:extLst>
                  <a:ext uri="{FF2B5EF4-FFF2-40B4-BE49-F238E27FC236}">
                    <a16:creationId xmlns:a16="http://schemas.microsoft.com/office/drawing/2014/main" id="{3C16AB1E-BFC2-4E2A-B807-96B08E95189C}"/>
                  </a:ext>
                </a:extLst>
              </p:cNvPr>
              <p:cNvSpPr/>
              <p:nvPr/>
            </p:nvSpPr>
            <p:spPr>
              <a:xfrm flipH="1">
                <a:off x="6414209" y="5240415"/>
                <a:ext cx="209550" cy="188834"/>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
            <p:nvSpPr>
              <p:cNvPr id="218" name="자유형: 도형 418">
                <a:extLst>
                  <a:ext uri="{FF2B5EF4-FFF2-40B4-BE49-F238E27FC236}">
                    <a16:creationId xmlns:a16="http://schemas.microsoft.com/office/drawing/2014/main" id="{CB006BF3-2E61-45F5-828B-10103F731226}"/>
                  </a:ext>
                </a:extLst>
              </p:cNvPr>
              <p:cNvSpPr/>
              <p:nvPr/>
            </p:nvSpPr>
            <p:spPr>
              <a:xfrm flipH="1">
                <a:off x="6318074" y="4915150"/>
                <a:ext cx="315283" cy="514098"/>
              </a:xfrm>
              <a:custGeom>
                <a:avLst/>
                <a:gdLst>
                  <a:gd name="connsiteX0" fmla="*/ 0 w 209550"/>
                  <a:gd name="connsiteY0" fmla="*/ 95914 h 343564"/>
                  <a:gd name="connsiteX1" fmla="*/ 111125 w 209550"/>
                  <a:gd name="connsiteY1" fmla="*/ 13364 h 343564"/>
                  <a:gd name="connsiteX2" fmla="*/ 209550 w 209550"/>
                  <a:gd name="connsiteY2" fmla="*/ 343564 h 343564"/>
                </a:gdLst>
                <a:ahLst/>
                <a:cxnLst>
                  <a:cxn ang="0">
                    <a:pos x="connsiteX0" y="connsiteY0"/>
                  </a:cxn>
                  <a:cxn ang="0">
                    <a:pos x="connsiteX1" y="connsiteY1"/>
                  </a:cxn>
                  <a:cxn ang="0">
                    <a:pos x="connsiteX2" y="connsiteY2"/>
                  </a:cxn>
                </a:cxnLst>
                <a:rect l="l" t="t" r="r" b="b"/>
                <a:pathLst>
                  <a:path w="209550" h="343564">
                    <a:moveTo>
                      <a:pt x="0" y="95914"/>
                    </a:moveTo>
                    <a:cubicBezTo>
                      <a:pt x="38100" y="34001"/>
                      <a:pt x="76200" y="-27911"/>
                      <a:pt x="111125" y="13364"/>
                    </a:cubicBezTo>
                    <a:cubicBezTo>
                      <a:pt x="146050" y="54639"/>
                      <a:pt x="177800" y="199101"/>
                      <a:pt x="209550" y="343564"/>
                    </a:cubicBezTo>
                  </a:path>
                </a:pathLst>
              </a:cu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
            <p:nvSpPr>
              <p:cNvPr id="219" name="TextBox 218">
                <a:extLst>
                  <a:ext uri="{FF2B5EF4-FFF2-40B4-BE49-F238E27FC236}">
                    <a16:creationId xmlns:a16="http://schemas.microsoft.com/office/drawing/2014/main" id="{593768A7-DDEB-4B97-A89D-67735CCCA73A}"/>
                  </a:ext>
                </a:extLst>
              </p:cNvPr>
              <p:cNvSpPr txBox="1"/>
              <p:nvPr/>
            </p:nvSpPr>
            <p:spPr>
              <a:xfrm>
                <a:off x="6797875" y="5027414"/>
                <a:ext cx="418704" cy="18466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NAND</a:t>
                </a:r>
                <a:endParaRPr kumimoji="0" lang="ko-KR" altLang="en-US" sz="600" b="1" i="0" u="none" strike="noStrike" kern="0" cap="none" spc="0" normalizeH="0" baseline="0" noProof="0" dirty="0">
                  <a:ln>
                    <a:noFill/>
                  </a:ln>
                  <a:effectLst/>
                  <a:uLnTx/>
                  <a:uFillTx/>
                  <a:latin typeface="맑은 고딕"/>
                  <a:ea typeface="맑은 고딕"/>
                </a:endParaRPr>
              </a:p>
            </p:txBody>
          </p:sp>
          <p:sp>
            <p:nvSpPr>
              <p:cNvPr id="220" name="TextBox 219">
                <a:extLst>
                  <a:ext uri="{FF2B5EF4-FFF2-40B4-BE49-F238E27FC236}">
                    <a16:creationId xmlns:a16="http://schemas.microsoft.com/office/drawing/2014/main" id="{09A8625B-064B-42AB-9C83-1BFA46E1C0F7}"/>
                  </a:ext>
                </a:extLst>
              </p:cNvPr>
              <p:cNvSpPr txBox="1"/>
              <p:nvPr/>
            </p:nvSpPr>
            <p:spPr>
              <a:xfrm>
                <a:off x="6797875" y="5156127"/>
                <a:ext cx="418704" cy="18466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NAND</a:t>
                </a:r>
                <a:endParaRPr kumimoji="0" lang="ko-KR" altLang="en-US" sz="600" b="1" i="0" u="none" strike="noStrike" kern="0" cap="none" spc="0" normalizeH="0" baseline="0" noProof="0" dirty="0">
                  <a:ln>
                    <a:noFill/>
                  </a:ln>
                  <a:effectLst/>
                  <a:uLnTx/>
                  <a:uFillTx/>
                  <a:latin typeface="맑은 고딕"/>
                  <a:ea typeface="맑은 고딕"/>
                </a:endParaRPr>
              </a:p>
            </p:txBody>
          </p:sp>
          <p:sp>
            <p:nvSpPr>
              <p:cNvPr id="221" name="TextBox 220">
                <a:extLst>
                  <a:ext uri="{FF2B5EF4-FFF2-40B4-BE49-F238E27FC236}">
                    <a16:creationId xmlns:a16="http://schemas.microsoft.com/office/drawing/2014/main" id="{BE922CFD-CA13-4DE4-8D53-34153C9C132F}"/>
                  </a:ext>
                </a:extLst>
              </p:cNvPr>
              <p:cNvSpPr txBox="1"/>
              <p:nvPr/>
            </p:nvSpPr>
            <p:spPr>
              <a:xfrm>
                <a:off x="6797875" y="5265831"/>
                <a:ext cx="418704" cy="18466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NAND</a:t>
                </a:r>
                <a:endParaRPr kumimoji="0" lang="ko-KR" altLang="en-US" sz="600" b="1" i="0" u="none" strike="noStrike" kern="0" cap="none" spc="0" normalizeH="0" baseline="0" noProof="0" dirty="0">
                  <a:ln>
                    <a:noFill/>
                  </a:ln>
                  <a:effectLst/>
                  <a:uLnTx/>
                  <a:uFillTx/>
                  <a:latin typeface="맑은 고딕"/>
                  <a:ea typeface="맑은 고딕"/>
                </a:endParaRPr>
              </a:p>
            </p:txBody>
          </p:sp>
        </p:grpSp>
        <p:sp>
          <p:nvSpPr>
            <p:cNvPr id="319" name="TextBox 318"/>
            <p:cNvSpPr txBox="1"/>
            <p:nvPr/>
          </p:nvSpPr>
          <p:spPr>
            <a:xfrm>
              <a:off x="647373" y="5850121"/>
              <a:ext cx="1002290" cy="345446"/>
            </a:xfrm>
            <a:prstGeom prst="rect">
              <a:avLst/>
            </a:prstGeom>
            <a:noFill/>
          </p:spPr>
          <p:txBody>
            <a:bodyPr wrap="none" rtlCol="0">
              <a:spAutoFit/>
            </a:bodyPr>
            <a:lstStyle/>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Low latency </a:t>
              </a:r>
              <a:r>
                <a:rPr lang="en-US" altLang="ko-KR" sz="1000" b="1" dirty="0" err="1">
                  <a:solidFill>
                    <a:schemeClr val="bg1">
                      <a:lumMod val="50000"/>
                    </a:schemeClr>
                  </a:solidFill>
                  <a:latin typeface="SAMSUNGONE-600C" panose="020B0503030303020204" pitchFamily="34" charset="-127"/>
                  <a:ea typeface="SAMSUNGONE-600C" panose="020B0503030303020204" pitchFamily="34" charset="-127"/>
                </a:rPr>
                <a:t>Nand</a:t>
              </a:r>
              <a:endParaRPr lang="en-US" altLang="ko-KR" sz="1000" b="1" dirty="0">
                <a:solidFill>
                  <a:schemeClr val="bg1">
                    <a:lumMod val="50000"/>
                  </a:schemeClr>
                </a:solidFill>
                <a:latin typeface="SAMSUNGONE-600C" panose="020B0503030303020204" pitchFamily="34" charset="-127"/>
                <a:ea typeface="SAMSUNGONE-600C" panose="020B0503030303020204" pitchFamily="34" charset="-127"/>
              </a:endParaRPr>
            </a:p>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a:t>
              </a:r>
              <a:r>
                <a:rPr lang="en-US" altLang="ko-KR" sz="1000" b="1" dirty="0" err="1">
                  <a:solidFill>
                    <a:schemeClr val="bg1">
                      <a:lumMod val="50000"/>
                    </a:schemeClr>
                  </a:solidFill>
                  <a:latin typeface="SAMSUNGONE-600C" panose="020B0503030303020204" pitchFamily="34" charset="-127"/>
                  <a:ea typeface="SAMSUNGONE-600C" panose="020B0503030303020204" pitchFamily="34" charset="-127"/>
                </a:rPr>
                <a:t>tR</a:t>
              </a:r>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=1us)</a:t>
              </a:r>
            </a:p>
          </p:txBody>
        </p:sp>
      </p:grpSp>
      <p:grpSp>
        <p:nvGrpSpPr>
          <p:cNvPr id="324" name="그룹 323"/>
          <p:cNvGrpSpPr/>
          <p:nvPr/>
        </p:nvGrpSpPr>
        <p:grpSpPr>
          <a:xfrm>
            <a:off x="2042315" y="4659267"/>
            <a:ext cx="1692903" cy="1536300"/>
            <a:chOff x="2042315" y="4659267"/>
            <a:chExt cx="1692903" cy="1536300"/>
          </a:xfrm>
        </p:grpSpPr>
        <p:sp>
          <p:nvSpPr>
            <p:cNvPr id="224" name="TextBox 223">
              <a:extLst>
                <a:ext uri="{FF2B5EF4-FFF2-40B4-BE49-F238E27FC236}">
                  <a16:creationId xmlns:a16="http://schemas.microsoft.com/office/drawing/2014/main" id="{9D57B60F-9860-4974-8BB9-7F1C718AD8D0}"/>
                </a:ext>
              </a:extLst>
            </p:cNvPr>
            <p:cNvSpPr txBox="1"/>
            <p:nvPr/>
          </p:nvSpPr>
          <p:spPr>
            <a:xfrm>
              <a:off x="2294885" y="5611291"/>
              <a:ext cx="1217355" cy="265728"/>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HBF</a:t>
              </a:r>
            </a:p>
          </p:txBody>
        </p:sp>
        <p:sp>
          <p:nvSpPr>
            <p:cNvPr id="225" name="Oval 630">
              <a:extLst>
                <a:ext uri="{FF2B5EF4-FFF2-40B4-BE49-F238E27FC236}">
                  <a16:creationId xmlns:a16="http://schemas.microsoft.com/office/drawing/2014/main" id="{11966E42-1533-4A67-A402-6DE01A04A0E2}"/>
                </a:ext>
              </a:extLst>
            </p:cNvPr>
            <p:cNvSpPr>
              <a:spLocks noChangeArrowheads="1"/>
            </p:cNvSpPr>
            <p:nvPr/>
          </p:nvSpPr>
          <p:spPr bwMode="auto">
            <a:xfrm>
              <a:off x="2239497"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26" name="Oval 630">
              <a:extLst>
                <a:ext uri="{FF2B5EF4-FFF2-40B4-BE49-F238E27FC236}">
                  <a16:creationId xmlns:a16="http://schemas.microsoft.com/office/drawing/2014/main" id="{10BB75F7-7067-4E2B-A583-B1F163610EE9}"/>
                </a:ext>
              </a:extLst>
            </p:cNvPr>
            <p:cNvSpPr>
              <a:spLocks noChangeArrowheads="1"/>
            </p:cNvSpPr>
            <p:nvPr/>
          </p:nvSpPr>
          <p:spPr bwMode="auto">
            <a:xfrm>
              <a:off x="2380704"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27" name="Oval 630">
              <a:extLst>
                <a:ext uri="{FF2B5EF4-FFF2-40B4-BE49-F238E27FC236}">
                  <a16:creationId xmlns:a16="http://schemas.microsoft.com/office/drawing/2014/main" id="{8DE348E6-8E15-4FD6-8D89-2E1046AECF85}"/>
                </a:ext>
              </a:extLst>
            </p:cNvPr>
            <p:cNvSpPr>
              <a:spLocks noChangeArrowheads="1"/>
            </p:cNvSpPr>
            <p:nvPr/>
          </p:nvSpPr>
          <p:spPr bwMode="auto">
            <a:xfrm>
              <a:off x="2521911"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28" name="Oval 630">
              <a:extLst>
                <a:ext uri="{FF2B5EF4-FFF2-40B4-BE49-F238E27FC236}">
                  <a16:creationId xmlns:a16="http://schemas.microsoft.com/office/drawing/2014/main" id="{C47A50A9-01B3-454D-87A2-BFAB598BCB70}"/>
                </a:ext>
              </a:extLst>
            </p:cNvPr>
            <p:cNvSpPr>
              <a:spLocks noChangeArrowheads="1"/>
            </p:cNvSpPr>
            <p:nvPr/>
          </p:nvSpPr>
          <p:spPr bwMode="auto">
            <a:xfrm>
              <a:off x="2663118"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29" name="Oval 630">
              <a:extLst>
                <a:ext uri="{FF2B5EF4-FFF2-40B4-BE49-F238E27FC236}">
                  <a16:creationId xmlns:a16="http://schemas.microsoft.com/office/drawing/2014/main" id="{E2FCD20F-3405-4DFA-897F-96ACB34BFBEA}"/>
                </a:ext>
              </a:extLst>
            </p:cNvPr>
            <p:cNvSpPr>
              <a:spLocks noChangeArrowheads="1"/>
            </p:cNvSpPr>
            <p:nvPr/>
          </p:nvSpPr>
          <p:spPr bwMode="auto">
            <a:xfrm>
              <a:off x="2804325"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0" name="Oval 630">
              <a:extLst>
                <a:ext uri="{FF2B5EF4-FFF2-40B4-BE49-F238E27FC236}">
                  <a16:creationId xmlns:a16="http://schemas.microsoft.com/office/drawing/2014/main" id="{EAA0E420-6250-449B-BC84-3760F8158ED7}"/>
                </a:ext>
              </a:extLst>
            </p:cNvPr>
            <p:cNvSpPr>
              <a:spLocks noChangeArrowheads="1"/>
            </p:cNvSpPr>
            <p:nvPr/>
          </p:nvSpPr>
          <p:spPr bwMode="auto">
            <a:xfrm>
              <a:off x="2945533"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1" name="Oval 630">
              <a:extLst>
                <a:ext uri="{FF2B5EF4-FFF2-40B4-BE49-F238E27FC236}">
                  <a16:creationId xmlns:a16="http://schemas.microsoft.com/office/drawing/2014/main" id="{AB28B787-43BF-4322-8A28-BDF8799195DB}"/>
                </a:ext>
              </a:extLst>
            </p:cNvPr>
            <p:cNvSpPr>
              <a:spLocks noChangeArrowheads="1"/>
            </p:cNvSpPr>
            <p:nvPr/>
          </p:nvSpPr>
          <p:spPr bwMode="auto">
            <a:xfrm>
              <a:off x="3086740"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2" name="Oval 630">
              <a:extLst>
                <a:ext uri="{FF2B5EF4-FFF2-40B4-BE49-F238E27FC236}">
                  <a16:creationId xmlns:a16="http://schemas.microsoft.com/office/drawing/2014/main" id="{1C026224-85A1-43B0-AEE3-8095FAE00AF9}"/>
                </a:ext>
              </a:extLst>
            </p:cNvPr>
            <p:cNvSpPr>
              <a:spLocks noChangeArrowheads="1"/>
            </p:cNvSpPr>
            <p:nvPr/>
          </p:nvSpPr>
          <p:spPr bwMode="auto">
            <a:xfrm>
              <a:off x="3227947"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3" name="Oval 630">
              <a:extLst>
                <a:ext uri="{FF2B5EF4-FFF2-40B4-BE49-F238E27FC236}">
                  <a16:creationId xmlns:a16="http://schemas.microsoft.com/office/drawing/2014/main" id="{30337726-A25A-4C7B-9E79-FF9FFFCAC552}"/>
                </a:ext>
              </a:extLst>
            </p:cNvPr>
            <p:cNvSpPr>
              <a:spLocks noChangeArrowheads="1"/>
            </p:cNvSpPr>
            <p:nvPr/>
          </p:nvSpPr>
          <p:spPr bwMode="auto">
            <a:xfrm>
              <a:off x="3369156" y="5414171"/>
              <a:ext cx="99238" cy="77825"/>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0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4" name="직사각형 233">
              <a:extLst>
                <a:ext uri="{FF2B5EF4-FFF2-40B4-BE49-F238E27FC236}">
                  <a16:creationId xmlns:a16="http://schemas.microsoft.com/office/drawing/2014/main" id="{DD903027-021F-47E8-A933-CE55D59163B4}"/>
                </a:ext>
              </a:extLst>
            </p:cNvPr>
            <p:cNvSpPr/>
            <p:nvPr/>
          </p:nvSpPr>
          <p:spPr>
            <a:xfrm>
              <a:off x="2229207" y="5343312"/>
              <a:ext cx="1269409" cy="99133"/>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Substrate</a:t>
              </a:r>
              <a:endParaRPr kumimoji="0" lang="ko-KR" altLang="en-US" sz="10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35" name="Oval 630">
              <a:extLst>
                <a:ext uri="{FF2B5EF4-FFF2-40B4-BE49-F238E27FC236}">
                  <a16:creationId xmlns:a16="http://schemas.microsoft.com/office/drawing/2014/main" id="{3007FDA8-AC85-439E-BDD0-E1E58DD79271}"/>
                </a:ext>
              </a:extLst>
            </p:cNvPr>
            <p:cNvSpPr>
              <a:spLocks noChangeArrowheads="1"/>
            </p:cNvSpPr>
            <p:nvPr/>
          </p:nvSpPr>
          <p:spPr bwMode="auto">
            <a:xfrm>
              <a:off x="2478044"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6" name="Oval 630">
              <a:extLst>
                <a:ext uri="{FF2B5EF4-FFF2-40B4-BE49-F238E27FC236}">
                  <a16:creationId xmlns:a16="http://schemas.microsoft.com/office/drawing/2014/main" id="{D2D71757-9036-4671-AA85-119014FA2E65}"/>
                </a:ext>
              </a:extLst>
            </p:cNvPr>
            <p:cNvSpPr>
              <a:spLocks noChangeArrowheads="1"/>
            </p:cNvSpPr>
            <p:nvPr/>
          </p:nvSpPr>
          <p:spPr bwMode="auto">
            <a:xfrm>
              <a:off x="2568051"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7" name="Oval 630">
              <a:extLst>
                <a:ext uri="{FF2B5EF4-FFF2-40B4-BE49-F238E27FC236}">
                  <a16:creationId xmlns:a16="http://schemas.microsoft.com/office/drawing/2014/main" id="{0106AEAA-9B6F-43A8-BCF9-43B2DC35C1C0}"/>
                </a:ext>
              </a:extLst>
            </p:cNvPr>
            <p:cNvSpPr>
              <a:spLocks noChangeArrowheads="1"/>
            </p:cNvSpPr>
            <p:nvPr/>
          </p:nvSpPr>
          <p:spPr bwMode="auto">
            <a:xfrm>
              <a:off x="2658058"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8" name="Oval 630">
              <a:extLst>
                <a:ext uri="{FF2B5EF4-FFF2-40B4-BE49-F238E27FC236}">
                  <a16:creationId xmlns:a16="http://schemas.microsoft.com/office/drawing/2014/main" id="{9C658006-C1B9-424E-B898-8C57C56DB61C}"/>
                </a:ext>
              </a:extLst>
            </p:cNvPr>
            <p:cNvSpPr>
              <a:spLocks noChangeArrowheads="1"/>
            </p:cNvSpPr>
            <p:nvPr/>
          </p:nvSpPr>
          <p:spPr bwMode="auto">
            <a:xfrm>
              <a:off x="2748065"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39" name="Oval 630">
              <a:extLst>
                <a:ext uri="{FF2B5EF4-FFF2-40B4-BE49-F238E27FC236}">
                  <a16:creationId xmlns:a16="http://schemas.microsoft.com/office/drawing/2014/main" id="{F4282C0D-D2C0-4454-B4BF-E50ADD70168F}"/>
                </a:ext>
              </a:extLst>
            </p:cNvPr>
            <p:cNvSpPr>
              <a:spLocks noChangeArrowheads="1"/>
            </p:cNvSpPr>
            <p:nvPr/>
          </p:nvSpPr>
          <p:spPr bwMode="auto">
            <a:xfrm>
              <a:off x="2838072"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40" name="Oval 630">
              <a:extLst>
                <a:ext uri="{FF2B5EF4-FFF2-40B4-BE49-F238E27FC236}">
                  <a16:creationId xmlns:a16="http://schemas.microsoft.com/office/drawing/2014/main" id="{499B4ADF-87DF-4684-A08D-6A7B6D3543CE}"/>
                </a:ext>
              </a:extLst>
            </p:cNvPr>
            <p:cNvSpPr>
              <a:spLocks noChangeArrowheads="1"/>
            </p:cNvSpPr>
            <p:nvPr/>
          </p:nvSpPr>
          <p:spPr bwMode="auto">
            <a:xfrm>
              <a:off x="2928079"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41" name="Oval 630">
              <a:extLst>
                <a:ext uri="{FF2B5EF4-FFF2-40B4-BE49-F238E27FC236}">
                  <a16:creationId xmlns:a16="http://schemas.microsoft.com/office/drawing/2014/main" id="{D44BAB4D-4C1C-4D17-870D-3467683215D0}"/>
                </a:ext>
              </a:extLst>
            </p:cNvPr>
            <p:cNvSpPr>
              <a:spLocks noChangeArrowheads="1"/>
            </p:cNvSpPr>
            <p:nvPr/>
          </p:nvSpPr>
          <p:spPr bwMode="auto">
            <a:xfrm>
              <a:off x="3018086"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42" name="Oval 630">
              <a:extLst>
                <a:ext uri="{FF2B5EF4-FFF2-40B4-BE49-F238E27FC236}">
                  <a16:creationId xmlns:a16="http://schemas.microsoft.com/office/drawing/2014/main" id="{3FF2EDD0-7C52-40F8-A2E2-D89D5B602A30}"/>
                </a:ext>
              </a:extLst>
            </p:cNvPr>
            <p:cNvSpPr>
              <a:spLocks noChangeArrowheads="1"/>
            </p:cNvSpPr>
            <p:nvPr/>
          </p:nvSpPr>
          <p:spPr bwMode="auto">
            <a:xfrm>
              <a:off x="3108093"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43" name="Oval 630">
              <a:extLst>
                <a:ext uri="{FF2B5EF4-FFF2-40B4-BE49-F238E27FC236}">
                  <a16:creationId xmlns:a16="http://schemas.microsoft.com/office/drawing/2014/main" id="{7CDE7E67-9214-4DBE-B723-BF5F6F0336B6}"/>
                </a:ext>
              </a:extLst>
            </p:cNvPr>
            <p:cNvSpPr>
              <a:spLocks noChangeArrowheads="1"/>
            </p:cNvSpPr>
            <p:nvPr/>
          </p:nvSpPr>
          <p:spPr bwMode="auto">
            <a:xfrm>
              <a:off x="3198101" y="5298984"/>
              <a:ext cx="56707" cy="4447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44" name="직사각형 243">
              <a:extLst>
                <a:ext uri="{FF2B5EF4-FFF2-40B4-BE49-F238E27FC236}">
                  <a16:creationId xmlns:a16="http://schemas.microsoft.com/office/drawing/2014/main" id="{493735AA-D8BB-433E-BC75-65A9DCB8AFFE}"/>
                </a:ext>
              </a:extLst>
            </p:cNvPr>
            <p:cNvSpPr/>
            <p:nvPr/>
          </p:nvSpPr>
          <p:spPr>
            <a:xfrm>
              <a:off x="2436237" y="5013117"/>
              <a:ext cx="872118" cy="104740"/>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45" name="직사각형 244">
              <a:extLst>
                <a:ext uri="{FF2B5EF4-FFF2-40B4-BE49-F238E27FC236}">
                  <a16:creationId xmlns:a16="http://schemas.microsoft.com/office/drawing/2014/main" id="{23F8B2BC-D4B6-4361-BA5A-A0AAEBC823AC}"/>
                </a:ext>
              </a:extLst>
            </p:cNvPr>
            <p:cNvSpPr/>
            <p:nvPr/>
          </p:nvSpPr>
          <p:spPr>
            <a:xfrm>
              <a:off x="2436237" y="4910190"/>
              <a:ext cx="872118" cy="104740"/>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46" name="직사각형 245">
              <a:extLst>
                <a:ext uri="{FF2B5EF4-FFF2-40B4-BE49-F238E27FC236}">
                  <a16:creationId xmlns:a16="http://schemas.microsoft.com/office/drawing/2014/main" id="{1665103E-F9A3-4814-B630-E621396C869E}"/>
                </a:ext>
              </a:extLst>
            </p:cNvPr>
            <p:cNvSpPr/>
            <p:nvPr/>
          </p:nvSpPr>
          <p:spPr>
            <a:xfrm>
              <a:off x="2436237" y="4804286"/>
              <a:ext cx="872118" cy="104740"/>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47" name="직사각형 246">
              <a:extLst>
                <a:ext uri="{FF2B5EF4-FFF2-40B4-BE49-F238E27FC236}">
                  <a16:creationId xmlns:a16="http://schemas.microsoft.com/office/drawing/2014/main" id="{C21CCED9-FCBE-43D5-A32E-5E1E98A6579B}"/>
                </a:ext>
              </a:extLst>
            </p:cNvPr>
            <p:cNvSpPr/>
            <p:nvPr/>
          </p:nvSpPr>
          <p:spPr>
            <a:xfrm>
              <a:off x="2436237" y="4678160"/>
              <a:ext cx="872118" cy="127940"/>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248" name="직선 연결선 247">
              <a:extLst>
                <a:ext uri="{FF2B5EF4-FFF2-40B4-BE49-F238E27FC236}">
                  <a16:creationId xmlns:a16="http://schemas.microsoft.com/office/drawing/2014/main" id="{B231275E-CCB1-4779-9096-AF1369AA8655}"/>
                </a:ext>
              </a:extLst>
            </p:cNvPr>
            <p:cNvCxnSpPr>
              <a:cxnSpLocks/>
            </p:cNvCxnSpPr>
            <p:nvPr/>
          </p:nvCxnSpPr>
          <p:spPr>
            <a:xfrm>
              <a:off x="3233785" y="4805373"/>
              <a:ext cx="0" cy="103679"/>
            </a:xfrm>
            <a:prstGeom prst="line">
              <a:avLst/>
            </a:prstGeom>
            <a:solidFill>
              <a:srgbClr val="4472C4"/>
            </a:solidFill>
            <a:ln w="28575" cap="flat" cmpd="sng" algn="ctr">
              <a:solidFill>
                <a:srgbClr val="FFFF00"/>
              </a:solidFill>
              <a:prstDash val="solid"/>
            </a:ln>
            <a:effectLst/>
          </p:spPr>
        </p:cxnSp>
        <p:cxnSp>
          <p:nvCxnSpPr>
            <p:cNvPr id="249" name="직선 연결선 248">
              <a:extLst>
                <a:ext uri="{FF2B5EF4-FFF2-40B4-BE49-F238E27FC236}">
                  <a16:creationId xmlns:a16="http://schemas.microsoft.com/office/drawing/2014/main" id="{120B02D2-2FE5-441A-9FF1-71149C5E8FB6}"/>
                </a:ext>
              </a:extLst>
            </p:cNvPr>
            <p:cNvCxnSpPr>
              <a:cxnSpLocks/>
            </p:cNvCxnSpPr>
            <p:nvPr/>
          </p:nvCxnSpPr>
          <p:spPr>
            <a:xfrm>
              <a:off x="3154283" y="4805373"/>
              <a:ext cx="0" cy="103679"/>
            </a:xfrm>
            <a:prstGeom prst="line">
              <a:avLst/>
            </a:prstGeom>
            <a:solidFill>
              <a:srgbClr val="4472C4"/>
            </a:solidFill>
            <a:ln w="28575" cap="flat" cmpd="sng" algn="ctr">
              <a:solidFill>
                <a:srgbClr val="FFFF00"/>
              </a:solidFill>
              <a:prstDash val="solid"/>
            </a:ln>
            <a:effectLst/>
          </p:spPr>
        </p:cxnSp>
        <p:cxnSp>
          <p:nvCxnSpPr>
            <p:cNvPr id="250" name="직선 연결선 249">
              <a:extLst>
                <a:ext uri="{FF2B5EF4-FFF2-40B4-BE49-F238E27FC236}">
                  <a16:creationId xmlns:a16="http://schemas.microsoft.com/office/drawing/2014/main" id="{9C307935-1CE1-416F-8480-FBF5582D06EE}"/>
                </a:ext>
              </a:extLst>
            </p:cNvPr>
            <p:cNvCxnSpPr>
              <a:cxnSpLocks/>
            </p:cNvCxnSpPr>
            <p:nvPr/>
          </p:nvCxnSpPr>
          <p:spPr>
            <a:xfrm>
              <a:off x="2597759" y="4805373"/>
              <a:ext cx="0" cy="103679"/>
            </a:xfrm>
            <a:prstGeom prst="line">
              <a:avLst/>
            </a:prstGeom>
            <a:solidFill>
              <a:srgbClr val="4472C4"/>
            </a:solidFill>
            <a:ln w="28575" cap="flat" cmpd="sng" algn="ctr">
              <a:solidFill>
                <a:srgbClr val="FFFF00"/>
              </a:solidFill>
              <a:prstDash val="solid"/>
            </a:ln>
            <a:effectLst/>
          </p:spPr>
        </p:cxnSp>
        <p:cxnSp>
          <p:nvCxnSpPr>
            <p:cNvPr id="251" name="직선 연결선 250">
              <a:extLst>
                <a:ext uri="{FF2B5EF4-FFF2-40B4-BE49-F238E27FC236}">
                  <a16:creationId xmlns:a16="http://schemas.microsoft.com/office/drawing/2014/main" id="{7A01B0A8-07D9-481A-8140-792081C35D93}"/>
                </a:ext>
              </a:extLst>
            </p:cNvPr>
            <p:cNvCxnSpPr>
              <a:cxnSpLocks/>
            </p:cNvCxnSpPr>
            <p:nvPr/>
          </p:nvCxnSpPr>
          <p:spPr>
            <a:xfrm>
              <a:off x="2518255" y="4805373"/>
              <a:ext cx="0" cy="103679"/>
            </a:xfrm>
            <a:prstGeom prst="line">
              <a:avLst/>
            </a:prstGeom>
            <a:solidFill>
              <a:srgbClr val="4472C4"/>
            </a:solidFill>
            <a:ln w="28575" cap="flat" cmpd="sng" algn="ctr">
              <a:solidFill>
                <a:srgbClr val="FFFF00"/>
              </a:solidFill>
              <a:prstDash val="solid"/>
            </a:ln>
            <a:effectLst/>
          </p:spPr>
        </p:cxnSp>
        <p:sp>
          <p:nvSpPr>
            <p:cNvPr id="252" name="직사각형 251">
              <a:extLst>
                <a:ext uri="{FF2B5EF4-FFF2-40B4-BE49-F238E27FC236}">
                  <a16:creationId xmlns:a16="http://schemas.microsoft.com/office/drawing/2014/main" id="{10693973-1284-4C43-BF54-C19D25993511}"/>
                </a:ext>
              </a:extLst>
            </p:cNvPr>
            <p:cNvSpPr/>
            <p:nvPr/>
          </p:nvSpPr>
          <p:spPr>
            <a:xfrm>
              <a:off x="2436237" y="5116376"/>
              <a:ext cx="872118" cy="104740"/>
            </a:xfrm>
            <a:prstGeom prst="rect">
              <a:avLst/>
            </a:prstGeom>
            <a:solidFill>
              <a:srgbClr val="FFC000">
                <a:lumMod val="40000"/>
                <a:lumOff val="60000"/>
              </a:srgbClr>
            </a:solidFill>
            <a:ln w="12700" cap="flat" cmpd="sng" algn="ctr">
              <a:solidFill>
                <a:sysClr val="windowText" lastClr="000000"/>
              </a:solidFill>
              <a:prstDash val="sysDash"/>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253" name="직선 연결선 252">
              <a:extLst>
                <a:ext uri="{FF2B5EF4-FFF2-40B4-BE49-F238E27FC236}">
                  <a16:creationId xmlns:a16="http://schemas.microsoft.com/office/drawing/2014/main" id="{86BECF9D-2AB3-4287-9B08-E2C21963E4CD}"/>
                </a:ext>
              </a:extLst>
            </p:cNvPr>
            <p:cNvCxnSpPr>
              <a:cxnSpLocks/>
            </p:cNvCxnSpPr>
            <p:nvPr/>
          </p:nvCxnSpPr>
          <p:spPr>
            <a:xfrm>
              <a:off x="2756765" y="4805373"/>
              <a:ext cx="0" cy="103679"/>
            </a:xfrm>
            <a:prstGeom prst="line">
              <a:avLst/>
            </a:prstGeom>
            <a:solidFill>
              <a:srgbClr val="4472C4"/>
            </a:solidFill>
            <a:ln w="28575" cap="flat" cmpd="sng" algn="ctr">
              <a:solidFill>
                <a:srgbClr val="FFFF00"/>
              </a:solidFill>
              <a:prstDash val="solid"/>
            </a:ln>
            <a:effectLst/>
          </p:spPr>
        </p:cxnSp>
        <p:cxnSp>
          <p:nvCxnSpPr>
            <p:cNvPr id="254" name="직선 연결선 253">
              <a:extLst>
                <a:ext uri="{FF2B5EF4-FFF2-40B4-BE49-F238E27FC236}">
                  <a16:creationId xmlns:a16="http://schemas.microsoft.com/office/drawing/2014/main" id="{5E3C525A-93F1-460B-9860-BD8B6D8021D9}"/>
                </a:ext>
              </a:extLst>
            </p:cNvPr>
            <p:cNvCxnSpPr>
              <a:cxnSpLocks/>
            </p:cNvCxnSpPr>
            <p:nvPr/>
          </p:nvCxnSpPr>
          <p:spPr>
            <a:xfrm>
              <a:off x="2677262" y="4805373"/>
              <a:ext cx="0" cy="103679"/>
            </a:xfrm>
            <a:prstGeom prst="line">
              <a:avLst/>
            </a:prstGeom>
            <a:solidFill>
              <a:srgbClr val="4472C4"/>
            </a:solidFill>
            <a:ln w="28575" cap="flat" cmpd="sng" algn="ctr">
              <a:solidFill>
                <a:srgbClr val="FFFF00"/>
              </a:solidFill>
              <a:prstDash val="solid"/>
            </a:ln>
            <a:effectLst/>
          </p:spPr>
        </p:cxnSp>
        <p:cxnSp>
          <p:nvCxnSpPr>
            <p:cNvPr id="255" name="직선 연결선 254">
              <a:extLst>
                <a:ext uri="{FF2B5EF4-FFF2-40B4-BE49-F238E27FC236}">
                  <a16:creationId xmlns:a16="http://schemas.microsoft.com/office/drawing/2014/main" id="{D7672301-0262-4311-8FFC-33BDE0CF1989}"/>
                </a:ext>
              </a:extLst>
            </p:cNvPr>
            <p:cNvCxnSpPr>
              <a:cxnSpLocks/>
            </p:cNvCxnSpPr>
            <p:nvPr/>
          </p:nvCxnSpPr>
          <p:spPr>
            <a:xfrm>
              <a:off x="2915773" y="4805373"/>
              <a:ext cx="0" cy="103679"/>
            </a:xfrm>
            <a:prstGeom prst="line">
              <a:avLst/>
            </a:prstGeom>
            <a:solidFill>
              <a:srgbClr val="4472C4"/>
            </a:solidFill>
            <a:ln w="28575" cap="flat" cmpd="sng" algn="ctr">
              <a:solidFill>
                <a:srgbClr val="FFFF00"/>
              </a:solidFill>
              <a:prstDash val="solid"/>
            </a:ln>
            <a:effectLst/>
          </p:spPr>
        </p:cxnSp>
        <p:cxnSp>
          <p:nvCxnSpPr>
            <p:cNvPr id="256" name="직선 연결선 255">
              <a:extLst>
                <a:ext uri="{FF2B5EF4-FFF2-40B4-BE49-F238E27FC236}">
                  <a16:creationId xmlns:a16="http://schemas.microsoft.com/office/drawing/2014/main" id="{80C1AD68-86B4-4438-8F61-2A620496FD11}"/>
                </a:ext>
              </a:extLst>
            </p:cNvPr>
            <p:cNvCxnSpPr>
              <a:cxnSpLocks/>
            </p:cNvCxnSpPr>
            <p:nvPr/>
          </p:nvCxnSpPr>
          <p:spPr>
            <a:xfrm>
              <a:off x="2836268" y="4805373"/>
              <a:ext cx="0" cy="103679"/>
            </a:xfrm>
            <a:prstGeom prst="line">
              <a:avLst/>
            </a:prstGeom>
            <a:solidFill>
              <a:srgbClr val="4472C4"/>
            </a:solidFill>
            <a:ln w="28575" cap="flat" cmpd="sng" algn="ctr">
              <a:solidFill>
                <a:srgbClr val="FFFF00"/>
              </a:solidFill>
              <a:prstDash val="solid"/>
            </a:ln>
            <a:effectLst/>
          </p:spPr>
        </p:cxnSp>
        <p:cxnSp>
          <p:nvCxnSpPr>
            <p:cNvPr id="257" name="직선 연결선 256">
              <a:extLst>
                <a:ext uri="{FF2B5EF4-FFF2-40B4-BE49-F238E27FC236}">
                  <a16:creationId xmlns:a16="http://schemas.microsoft.com/office/drawing/2014/main" id="{E6EAF2DF-B6B8-4CC7-8D4A-4F7682EB6845}"/>
                </a:ext>
              </a:extLst>
            </p:cNvPr>
            <p:cNvCxnSpPr>
              <a:cxnSpLocks/>
            </p:cNvCxnSpPr>
            <p:nvPr/>
          </p:nvCxnSpPr>
          <p:spPr>
            <a:xfrm>
              <a:off x="3074780" y="4805373"/>
              <a:ext cx="0" cy="103679"/>
            </a:xfrm>
            <a:prstGeom prst="line">
              <a:avLst/>
            </a:prstGeom>
            <a:solidFill>
              <a:srgbClr val="4472C4"/>
            </a:solidFill>
            <a:ln w="28575" cap="flat" cmpd="sng" algn="ctr">
              <a:solidFill>
                <a:srgbClr val="FFFF00"/>
              </a:solidFill>
              <a:prstDash val="solid"/>
            </a:ln>
            <a:effectLst/>
          </p:spPr>
        </p:cxnSp>
        <p:cxnSp>
          <p:nvCxnSpPr>
            <p:cNvPr id="258" name="직선 연결선 257">
              <a:extLst>
                <a:ext uri="{FF2B5EF4-FFF2-40B4-BE49-F238E27FC236}">
                  <a16:creationId xmlns:a16="http://schemas.microsoft.com/office/drawing/2014/main" id="{DF45F873-3D6D-4C00-8BA8-391AC8DC7E80}"/>
                </a:ext>
              </a:extLst>
            </p:cNvPr>
            <p:cNvCxnSpPr>
              <a:cxnSpLocks/>
            </p:cNvCxnSpPr>
            <p:nvPr/>
          </p:nvCxnSpPr>
          <p:spPr>
            <a:xfrm>
              <a:off x="2995276" y="4805373"/>
              <a:ext cx="0" cy="103679"/>
            </a:xfrm>
            <a:prstGeom prst="line">
              <a:avLst/>
            </a:prstGeom>
            <a:solidFill>
              <a:srgbClr val="4472C4"/>
            </a:solidFill>
            <a:ln w="28575" cap="flat" cmpd="sng" algn="ctr">
              <a:solidFill>
                <a:srgbClr val="FFFF00"/>
              </a:solidFill>
              <a:prstDash val="solid"/>
            </a:ln>
            <a:effectLst/>
          </p:spPr>
        </p:cxnSp>
        <p:cxnSp>
          <p:nvCxnSpPr>
            <p:cNvPr id="259" name="직선 연결선 258">
              <a:extLst>
                <a:ext uri="{FF2B5EF4-FFF2-40B4-BE49-F238E27FC236}">
                  <a16:creationId xmlns:a16="http://schemas.microsoft.com/office/drawing/2014/main" id="{3A1F415A-F24A-4189-AA45-EF4768FCBE1A}"/>
                </a:ext>
              </a:extLst>
            </p:cNvPr>
            <p:cNvCxnSpPr>
              <a:cxnSpLocks/>
            </p:cNvCxnSpPr>
            <p:nvPr/>
          </p:nvCxnSpPr>
          <p:spPr>
            <a:xfrm>
              <a:off x="3233785" y="4911928"/>
              <a:ext cx="0" cy="103679"/>
            </a:xfrm>
            <a:prstGeom prst="line">
              <a:avLst/>
            </a:prstGeom>
            <a:solidFill>
              <a:srgbClr val="4472C4"/>
            </a:solidFill>
            <a:ln w="28575" cap="flat" cmpd="sng" algn="ctr">
              <a:solidFill>
                <a:srgbClr val="FFFF00"/>
              </a:solidFill>
              <a:prstDash val="solid"/>
            </a:ln>
            <a:effectLst/>
          </p:spPr>
        </p:cxnSp>
        <p:cxnSp>
          <p:nvCxnSpPr>
            <p:cNvPr id="260" name="직선 연결선 259">
              <a:extLst>
                <a:ext uri="{FF2B5EF4-FFF2-40B4-BE49-F238E27FC236}">
                  <a16:creationId xmlns:a16="http://schemas.microsoft.com/office/drawing/2014/main" id="{C3A0779E-57BE-410F-9331-36E2BC53E492}"/>
                </a:ext>
              </a:extLst>
            </p:cNvPr>
            <p:cNvCxnSpPr>
              <a:cxnSpLocks/>
            </p:cNvCxnSpPr>
            <p:nvPr/>
          </p:nvCxnSpPr>
          <p:spPr>
            <a:xfrm>
              <a:off x="3154283" y="4911928"/>
              <a:ext cx="0" cy="103679"/>
            </a:xfrm>
            <a:prstGeom prst="line">
              <a:avLst/>
            </a:prstGeom>
            <a:solidFill>
              <a:srgbClr val="4472C4"/>
            </a:solidFill>
            <a:ln w="28575" cap="flat" cmpd="sng" algn="ctr">
              <a:solidFill>
                <a:srgbClr val="FFFF00"/>
              </a:solidFill>
              <a:prstDash val="solid"/>
            </a:ln>
            <a:effectLst/>
          </p:spPr>
        </p:cxnSp>
        <p:cxnSp>
          <p:nvCxnSpPr>
            <p:cNvPr id="261" name="직선 연결선 260">
              <a:extLst>
                <a:ext uri="{FF2B5EF4-FFF2-40B4-BE49-F238E27FC236}">
                  <a16:creationId xmlns:a16="http://schemas.microsoft.com/office/drawing/2014/main" id="{96E4395B-0147-404A-95BE-D91068F473D8}"/>
                </a:ext>
              </a:extLst>
            </p:cNvPr>
            <p:cNvCxnSpPr>
              <a:cxnSpLocks/>
            </p:cNvCxnSpPr>
            <p:nvPr/>
          </p:nvCxnSpPr>
          <p:spPr>
            <a:xfrm>
              <a:off x="2597759" y="4911928"/>
              <a:ext cx="0" cy="103679"/>
            </a:xfrm>
            <a:prstGeom prst="line">
              <a:avLst/>
            </a:prstGeom>
            <a:solidFill>
              <a:srgbClr val="4472C4"/>
            </a:solidFill>
            <a:ln w="28575" cap="flat" cmpd="sng" algn="ctr">
              <a:solidFill>
                <a:srgbClr val="FFFF00"/>
              </a:solidFill>
              <a:prstDash val="solid"/>
            </a:ln>
            <a:effectLst/>
          </p:spPr>
        </p:cxnSp>
        <p:cxnSp>
          <p:nvCxnSpPr>
            <p:cNvPr id="262" name="직선 연결선 261">
              <a:extLst>
                <a:ext uri="{FF2B5EF4-FFF2-40B4-BE49-F238E27FC236}">
                  <a16:creationId xmlns:a16="http://schemas.microsoft.com/office/drawing/2014/main" id="{E9A67081-24BD-4A35-87EA-ACA43B3E1C96}"/>
                </a:ext>
              </a:extLst>
            </p:cNvPr>
            <p:cNvCxnSpPr>
              <a:cxnSpLocks/>
            </p:cNvCxnSpPr>
            <p:nvPr/>
          </p:nvCxnSpPr>
          <p:spPr>
            <a:xfrm>
              <a:off x="2518255" y="4911928"/>
              <a:ext cx="0" cy="103679"/>
            </a:xfrm>
            <a:prstGeom prst="line">
              <a:avLst/>
            </a:prstGeom>
            <a:solidFill>
              <a:srgbClr val="4472C4"/>
            </a:solidFill>
            <a:ln w="28575" cap="flat" cmpd="sng" algn="ctr">
              <a:solidFill>
                <a:srgbClr val="FFFF00"/>
              </a:solidFill>
              <a:prstDash val="solid"/>
            </a:ln>
            <a:effectLst/>
          </p:spPr>
        </p:cxnSp>
        <p:cxnSp>
          <p:nvCxnSpPr>
            <p:cNvPr id="263" name="직선 연결선 262">
              <a:extLst>
                <a:ext uri="{FF2B5EF4-FFF2-40B4-BE49-F238E27FC236}">
                  <a16:creationId xmlns:a16="http://schemas.microsoft.com/office/drawing/2014/main" id="{239DD058-CE52-4BF3-AF92-8D78814EFDCB}"/>
                </a:ext>
              </a:extLst>
            </p:cNvPr>
            <p:cNvCxnSpPr>
              <a:cxnSpLocks/>
            </p:cNvCxnSpPr>
            <p:nvPr/>
          </p:nvCxnSpPr>
          <p:spPr>
            <a:xfrm>
              <a:off x="2756765" y="4911928"/>
              <a:ext cx="0" cy="103679"/>
            </a:xfrm>
            <a:prstGeom prst="line">
              <a:avLst/>
            </a:prstGeom>
            <a:solidFill>
              <a:srgbClr val="4472C4"/>
            </a:solidFill>
            <a:ln w="28575" cap="flat" cmpd="sng" algn="ctr">
              <a:solidFill>
                <a:srgbClr val="FFFF00"/>
              </a:solidFill>
              <a:prstDash val="solid"/>
            </a:ln>
            <a:effectLst/>
          </p:spPr>
        </p:cxnSp>
        <p:cxnSp>
          <p:nvCxnSpPr>
            <p:cNvPr id="264" name="직선 연결선 263">
              <a:extLst>
                <a:ext uri="{FF2B5EF4-FFF2-40B4-BE49-F238E27FC236}">
                  <a16:creationId xmlns:a16="http://schemas.microsoft.com/office/drawing/2014/main" id="{CE91B523-5E07-475F-B1EA-45A95E0810C3}"/>
                </a:ext>
              </a:extLst>
            </p:cNvPr>
            <p:cNvCxnSpPr>
              <a:cxnSpLocks/>
            </p:cNvCxnSpPr>
            <p:nvPr/>
          </p:nvCxnSpPr>
          <p:spPr>
            <a:xfrm>
              <a:off x="2677262" y="4911928"/>
              <a:ext cx="0" cy="103679"/>
            </a:xfrm>
            <a:prstGeom prst="line">
              <a:avLst/>
            </a:prstGeom>
            <a:solidFill>
              <a:srgbClr val="4472C4"/>
            </a:solidFill>
            <a:ln w="28575" cap="flat" cmpd="sng" algn="ctr">
              <a:solidFill>
                <a:srgbClr val="FFFF00"/>
              </a:solidFill>
              <a:prstDash val="solid"/>
            </a:ln>
            <a:effectLst/>
          </p:spPr>
        </p:cxnSp>
        <p:cxnSp>
          <p:nvCxnSpPr>
            <p:cNvPr id="265" name="직선 연결선 264">
              <a:extLst>
                <a:ext uri="{FF2B5EF4-FFF2-40B4-BE49-F238E27FC236}">
                  <a16:creationId xmlns:a16="http://schemas.microsoft.com/office/drawing/2014/main" id="{0EEB7563-5545-4215-827C-C12CBA4FC680}"/>
                </a:ext>
              </a:extLst>
            </p:cNvPr>
            <p:cNvCxnSpPr>
              <a:cxnSpLocks/>
            </p:cNvCxnSpPr>
            <p:nvPr/>
          </p:nvCxnSpPr>
          <p:spPr>
            <a:xfrm>
              <a:off x="2915773" y="4911928"/>
              <a:ext cx="0" cy="103679"/>
            </a:xfrm>
            <a:prstGeom prst="line">
              <a:avLst/>
            </a:prstGeom>
            <a:solidFill>
              <a:srgbClr val="4472C4"/>
            </a:solidFill>
            <a:ln w="28575" cap="flat" cmpd="sng" algn="ctr">
              <a:solidFill>
                <a:srgbClr val="FFFF00"/>
              </a:solidFill>
              <a:prstDash val="solid"/>
            </a:ln>
            <a:effectLst/>
          </p:spPr>
        </p:cxnSp>
        <p:cxnSp>
          <p:nvCxnSpPr>
            <p:cNvPr id="266" name="직선 연결선 265">
              <a:extLst>
                <a:ext uri="{FF2B5EF4-FFF2-40B4-BE49-F238E27FC236}">
                  <a16:creationId xmlns:a16="http://schemas.microsoft.com/office/drawing/2014/main" id="{4FA99D2C-F515-49EB-B5F1-874E7B0973BE}"/>
                </a:ext>
              </a:extLst>
            </p:cNvPr>
            <p:cNvCxnSpPr>
              <a:cxnSpLocks/>
            </p:cNvCxnSpPr>
            <p:nvPr/>
          </p:nvCxnSpPr>
          <p:spPr>
            <a:xfrm>
              <a:off x="2836268" y="4911928"/>
              <a:ext cx="0" cy="103679"/>
            </a:xfrm>
            <a:prstGeom prst="line">
              <a:avLst/>
            </a:prstGeom>
            <a:solidFill>
              <a:srgbClr val="4472C4"/>
            </a:solidFill>
            <a:ln w="28575" cap="flat" cmpd="sng" algn="ctr">
              <a:solidFill>
                <a:srgbClr val="FFFF00"/>
              </a:solidFill>
              <a:prstDash val="solid"/>
            </a:ln>
            <a:effectLst/>
          </p:spPr>
        </p:cxnSp>
        <p:cxnSp>
          <p:nvCxnSpPr>
            <p:cNvPr id="267" name="직선 연결선 266">
              <a:extLst>
                <a:ext uri="{FF2B5EF4-FFF2-40B4-BE49-F238E27FC236}">
                  <a16:creationId xmlns:a16="http://schemas.microsoft.com/office/drawing/2014/main" id="{AB32E38C-D7F5-4C2B-AE9E-F9793E016E71}"/>
                </a:ext>
              </a:extLst>
            </p:cNvPr>
            <p:cNvCxnSpPr>
              <a:cxnSpLocks/>
            </p:cNvCxnSpPr>
            <p:nvPr/>
          </p:nvCxnSpPr>
          <p:spPr>
            <a:xfrm>
              <a:off x="3074780" y="4911928"/>
              <a:ext cx="0" cy="103679"/>
            </a:xfrm>
            <a:prstGeom prst="line">
              <a:avLst/>
            </a:prstGeom>
            <a:solidFill>
              <a:srgbClr val="4472C4"/>
            </a:solidFill>
            <a:ln w="28575" cap="flat" cmpd="sng" algn="ctr">
              <a:solidFill>
                <a:srgbClr val="FFFF00"/>
              </a:solidFill>
              <a:prstDash val="solid"/>
            </a:ln>
            <a:effectLst/>
          </p:spPr>
        </p:cxnSp>
        <p:cxnSp>
          <p:nvCxnSpPr>
            <p:cNvPr id="268" name="직선 연결선 267">
              <a:extLst>
                <a:ext uri="{FF2B5EF4-FFF2-40B4-BE49-F238E27FC236}">
                  <a16:creationId xmlns:a16="http://schemas.microsoft.com/office/drawing/2014/main" id="{020D07EC-44FB-4E2D-BF74-5235F4E3B246}"/>
                </a:ext>
              </a:extLst>
            </p:cNvPr>
            <p:cNvCxnSpPr>
              <a:cxnSpLocks/>
            </p:cNvCxnSpPr>
            <p:nvPr/>
          </p:nvCxnSpPr>
          <p:spPr>
            <a:xfrm>
              <a:off x="2995276" y="4911928"/>
              <a:ext cx="0" cy="103679"/>
            </a:xfrm>
            <a:prstGeom prst="line">
              <a:avLst/>
            </a:prstGeom>
            <a:solidFill>
              <a:srgbClr val="4472C4"/>
            </a:solidFill>
            <a:ln w="28575" cap="flat" cmpd="sng" algn="ctr">
              <a:solidFill>
                <a:srgbClr val="FFFF00"/>
              </a:solidFill>
              <a:prstDash val="solid"/>
            </a:ln>
            <a:effectLst/>
          </p:spPr>
        </p:cxnSp>
        <p:cxnSp>
          <p:nvCxnSpPr>
            <p:cNvPr id="269" name="직선 연결선 268">
              <a:extLst>
                <a:ext uri="{FF2B5EF4-FFF2-40B4-BE49-F238E27FC236}">
                  <a16:creationId xmlns:a16="http://schemas.microsoft.com/office/drawing/2014/main" id="{322A015D-0E4D-467A-AE5D-05CABAF1BF5E}"/>
                </a:ext>
              </a:extLst>
            </p:cNvPr>
            <p:cNvCxnSpPr>
              <a:cxnSpLocks/>
            </p:cNvCxnSpPr>
            <p:nvPr/>
          </p:nvCxnSpPr>
          <p:spPr>
            <a:xfrm>
              <a:off x="3233785" y="5008617"/>
              <a:ext cx="0" cy="103679"/>
            </a:xfrm>
            <a:prstGeom prst="line">
              <a:avLst/>
            </a:prstGeom>
            <a:solidFill>
              <a:srgbClr val="4472C4"/>
            </a:solidFill>
            <a:ln w="28575" cap="flat" cmpd="sng" algn="ctr">
              <a:solidFill>
                <a:srgbClr val="FFFF00"/>
              </a:solidFill>
              <a:prstDash val="solid"/>
            </a:ln>
            <a:effectLst/>
          </p:spPr>
        </p:cxnSp>
        <p:cxnSp>
          <p:nvCxnSpPr>
            <p:cNvPr id="270" name="직선 연결선 269">
              <a:extLst>
                <a:ext uri="{FF2B5EF4-FFF2-40B4-BE49-F238E27FC236}">
                  <a16:creationId xmlns:a16="http://schemas.microsoft.com/office/drawing/2014/main" id="{D94DAEAC-BE41-4452-BBC7-5FCACA5273D8}"/>
                </a:ext>
              </a:extLst>
            </p:cNvPr>
            <p:cNvCxnSpPr>
              <a:cxnSpLocks/>
            </p:cNvCxnSpPr>
            <p:nvPr/>
          </p:nvCxnSpPr>
          <p:spPr>
            <a:xfrm>
              <a:off x="3154283" y="5008617"/>
              <a:ext cx="0" cy="103679"/>
            </a:xfrm>
            <a:prstGeom prst="line">
              <a:avLst/>
            </a:prstGeom>
            <a:solidFill>
              <a:srgbClr val="4472C4"/>
            </a:solidFill>
            <a:ln w="28575" cap="flat" cmpd="sng" algn="ctr">
              <a:solidFill>
                <a:srgbClr val="FFFF00"/>
              </a:solidFill>
              <a:prstDash val="solid"/>
            </a:ln>
            <a:effectLst/>
          </p:spPr>
        </p:cxnSp>
        <p:cxnSp>
          <p:nvCxnSpPr>
            <p:cNvPr id="271" name="직선 연결선 270">
              <a:extLst>
                <a:ext uri="{FF2B5EF4-FFF2-40B4-BE49-F238E27FC236}">
                  <a16:creationId xmlns:a16="http://schemas.microsoft.com/office/drawing/2014/main" id="{D9B117F2-8D54-430D-AA12-ADBFC6B94E6C}"/>
                </a:ext>
              </a:extLst>
            </p:cNvPr>
            <p:cNvCxnSpPr>
              <a:cxnSpLocks/>
            </p:cNvCxnSpPr>
            <p:nvPr/>
          </p:nvCxnSpPr>
          <p:spPr>
            <a:xfrm>
              <a:off x="2597759" y="5008617"/>
              <a:ext cx="0" cy="103679"/>
            </a:xfrm>
            <a:prstGeom prst="line">
              <a:avLst/>
            </a:prstGeom>
            <a:solidFill>
              <a:srgbClr val="4472C4"/>
            </a:solidFill>
            <a:ln w="28575" cap="flat" cmpd="sng" algn="ctr">
              <a:solidFill>
                <a:srgbClr val="FFFF00"/>
              </a:solidFill>
              <a:prstDash val="solid"/>
            </a:ln>
            <a:effectLst/>
          </p:spPr>
        </p:cxnSp>
        <p:cxnSp>
          <p:nvCxnSpPr>
            <p:cNvPr id="272" name="직선 연결선 271">
              <a:extLst>
                <a:ext uri="{FF2B5EF4-FFF2-40B4-BE49-F238E27FC236}">
                  <a16:creationId xmlns:a16="http://schemas.microsoft.com/office/drawing/2014/main" id="{9673E1E1-5706-41EF-8941-6C380109B477}"/>
                </a:ext>
              </a:extLst>
            </p:cNvPr>
            <p:cNvCxnSpPr>
              <a:cxnSpLocks/>
            </p:cNvCxnSpPr>
            <p:nvPr/>
          </p:nvCxnSpPr>
          <p:spPr>
            <a:xfrm>
              <a:off x="2518255" y="5008617"/>
              <a:ext cx="0" cy="103679"/>
            </a:xfrm>
            <a:prstGeom prst="line">
              <a:avLst/>
            </a:prstGeom>
            <a:solidFill>
              <a:srgbClr val="4472C4"/>
            </a:solidFill>
            <a:ln w="28575" cap="flat" cmpd="sng" algn="ctr">
              <a:solidFill>
                <a:srgbClr val="FFFF00"/>
              </a:solidFill>
              <a:prstDash val="solid"/>
            </a:ln>
            <a:effectLst/>
          </p:spPr>
        </p:cxnSp>
        <p:cxnSp>
          <p:nvCxnSpPr>
            <p:cNvPr id="273" name="직선 연결선 272">
              <a:extLst>
                <a:ext uri="{FF2B5EF4-FFF2-40B4-BE49-F238E27FC236}">
                  <a16:creationId xmlns:a16="http://schemas.microsoft.com/office/drawing/2014/main" id="{02AE3DD9-F708-4673-BF9E-1C18F11D419F}"/>
                </a:ext>
              </a:extLst>
            </p:cNvPr>
            <p:cNvCxnSpPr>
              <a:cxnSpLocks/>
            </p:cNvCxnSpPr>
            <p:nvPr/>
          </p:nvCxnSpPr>
          <p:spPr>
            <a:xfrm>
              <a:off x="2756765" y="5008617"/>
              <a:ext cx="0" cy="103679"/>
            </a:xfrm>
            <a:prstGeom prst="line">
              <a:avLst/>
            </a:prstGeom>
            <a:solidFill>
              <a:srgbClr val="4472C4"/>
            </a:solidFill>
            <a:ln w="28575" cap="flat" cmpd="sng" algn="ctr">
              <a:solidFill>
                <a:srgbClr val="FFFF00"/>
              </a:solidFill>
              <a:prstDash val="solid"/>
            </a:ln>
            <a:effectLst/>
          </p:spPr>
        </p:cxnSp>
        <p:cxnSp>
          <p:nvCxnSpPr>
            <p:cNvPr id="274" name="직선 연결선 273">
              <a:extLst>
                <a:ext uri="{FF2B5EF4-FFF2-40B4-BE49-F238E27FC236}">
                  <a16:creationId xmlns:a16="http://schemas.microsoft.com/office/drawing/2014/main" id="{7D34E766-B993-4D52-A48C-AAAB3FEC4D9B}"/>
                </a:ext>
              </a:extLst>
            </p:cNvPr>
            <p:cNvCxnSpPr>
              <a:cxnSpLocks/>
            </p:cNvCxnSpPr>
            <p:nvPr/>
          </p:nvCxnSpPr>
          <p:spPr>
            <a:xfrm>
              <a:off x="2677262" y="5008617"/>
              <a:ext cx="0" cy="103679"/>
            </a:xfrm>
            <a:prstGeom prst="line">
              <a:avLst/>
            </a:prstGeom>
            <a:solidFill>
              <a:srgbClr val="4472C4"/>
            </a:solidFill>
            <a:ln w="28575" cap="flat" cmpd="sng" algn="ctr">
              <a:solidFill>
                <a:srgbClr val="FFFF00"/>
              </a:solidFill>
              <a:prstDash val="solid"/>
            </a:ln>
            <a:effectLst/>
          </p:spPr>
        </p:cxnSp>
        <p:cxnSp>
          <p:nvCxnSpPr>
            <p:cNvPr id="275" name="직선 연결선 274">
              <a:extLst>
                <a:ext uri="{FF2B5EF4-FFF2-40B4-BE49-F238E27FC236}">
                  <a16:creationId xmlns:a16="http://schemas.microsoft.com/office/drawing/2014/main" id="{54A7BF9F-1BED-456E-91BB-063707E688CF}"/>
                </a:ext>
              </a:extLst>
            </p:cNvPr>
            <p:cNvCxnSpPr>
              <a:cxnSpLocks/>
            </p:cNvCxnSpPr>
            <p:nvPr/>
          </p:nvCxnSpPr>
          <p:spPr>
            <a:xfrm>
              <a:off x="2915773" y="5008617"/>
              <a:ext cx="0" cy="103679"/>
            </a:xfrm>
            <a:prstGeom prst="line">
              <a:avLst/>
            </a:prstGeom>
            <a:solidFill>
              <a:srgbClr val="4472C4"/>
            </a:solidFill>
            <a:ln w="28575" cap="flat" cmpd="sng" algn="ctr">
              <a:solidFill>
                <a:srgbClr val="FFFF00"/>
              </a:solidFill>
              <a:prstDash val="solid"/>
            </a:ln>
            <a:effectLst/>
          </p:spPr>
        </p:cxnSp>
        <p:cxnSp>
          <p:nvCxnSpPr>
            <p:cNvPr id="276" name="직선 연결선 275">
              <a:extLst>
                <a:ext uri="{FF2B5EF4-FFF2-40B4-BE49-F238E27FC236}">
                  <a16:creationId xmlns:a16="http://schemas.microsoft.com/office/drawing/2014/main" id="{9E2365D5-B87D-43DA-9C97-EF18A2F3AA91}"/>
                </a:ext>
              </a:extLst>
            </p:cNvPr>
            <p:cNvCxnSpPr>
              <a:cxnSpLocks/>
            </p:cNvCxnSpPr>
            <p:nvPr/>
          </p:nvCxnSpPr>
          <p:spPr>
            <a:xfrm>
              <a:off x="2836268" y="5008617"/>
              <a:ext cx="0" cy="103679"/>
            </a:xfrm>
            <a:prstGeom prst="line">
              <a:avLst/>
            </a:prstGeom>
            <a:solidFill>
              <a:srgbClr val="4472C4"/>
            </a:solidFill>
            <a:ln w="28575" cap="flat" cmpd="sng" algn="ctr">
              <a:solidFill>
                <a:srgbClr val="FFFF00"/>
              </a:solidFill>
              <a:prstDash val="solid"/>
            </a:ln>
            <a:effectLst/>
          </p:spPr>
        </p:cxnSp>
        <p:cxnSp>
          <p:nvCxnSpPr>
            <p:cNvPr id="277" name="직선 연결선 276">
              <a:extLst>
                <a:ext uri="{FF2B5EF4-FFF2-40B4-BE49-F238E27FC236}">
                  <a16:creationId xmlns:a16="http://schemas.microsoft.com/office/drawing/2014/main" id="{68094E2C-54B3-44A6-AD1E-87C3525F9F8D}"/>
                </a:ext>
              </a:extLst>
            </p:cNvPr>
            <p:cNvCxnSpPr>
              <a:cxnSpLocks/>
            </p:cNvCxnSpPr>
            <p:nvPr/>
          </p:nvCxnSpPr>
          <p:spPr>
            <a:xfrm>
              <a:off x="3074780" y="5008617"/>
              <a:ext cx="0" cy="103679"/>
            </a:xfrm>
            <a:prstGeom prst="line">
              <a:avLst/>
            </a:prstGeom>
            <a:solidFill>
              <a:srgbClr val="4472C4"/>
            </a:solidFill>
            <a:ln w="28575" cap="flat" cmpd="sng" algn="ctr">
              <a:solidFill>
                <a:srgbClr val="FFFF00"/>
              </a:solidFill>
              <a:prstDash val="solid"/>
            </a:ln>
            <a:effectLst/>
          </p:spPr>
        </p:cxnSp>
        <p:cxnSp>
          <p:nvCxnSpPr>
            <p:cNvPr id="278" name="직선 연결선 277">
              <a:extLst>
                <a:ext uri="{FF2B5EF4-FFF2-40B4-BE49-F238E27FC236}">
                  <a16:creationId xmlns:a16="http://schemas.microsoft.com/office/drawing/2014/main" id="{2422E519-F8E3-45AC-9DF9-BD73805A48FC}"/>
                </a:ext>
              </a:extLst>
            </p:cNvPr>
            <p:cNvCxnSpPr>
              <a:cxnSpLocks/>
            </p:cNvCxnSpPr>
            <p:nvPr/>
          </p:nvCxnSpPr>
          <p:spPr>
            <a:xfrm>
              <a:off x="2995276" y="5008617"/>
              <a:ext cx="0" cy="103679"/>
            </a:xfrm>
            <a:prstGeom prst="line">
              <a:avLst/>
            </a:prstGeom>
            <a:solidFill>
              <a:srgbClr val="4472C4"/>
            </a:solidFill>
            <a:ln w="28575" cap="flat" cmpd="sng" algn="ctr">
              <a:solidFill>
                <a:srgbClr val="FFFF00"/>
              </a:solidFill>
              <a:prstDash val="solid"/>
            </a:ln>
            <a:effectLst/>
          </p:spPr>
        </p:cxnSp>
        <p:sp>
          <p:nvSpPr>
            <p:cNvPr id="279" name="TextBox 278">
              <a:extLst>
                <a:ext uri="{FF2B5EF4-FFF2-40B4-BE49-F238E27FC236}">
                  <a16:creationId xmlns:a16="http://schemas.microsoft.com/office/drawing/2014/main" id="{CC29EF59-BBB3-4D1C-8B31-46F121415210}"/>
                </a:ext>
              </a:extLst>
            </p:cNvPr>
            <p:cNvSpPr txBox="1"/>
            <p:nvPr/>
          </p:nvSpPr>
          <p:spPr>
            <a:xfrm>
              <a:off x="2701001" y="4659267"/>
              <a:ext cx="36149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ko-KR" sz="600" b="1" kern="0" dirty="0">
                  <a:solidFill>
                    <a:prstClr val="black"/>
                  </a:solidFill>
                  <a:latin typeface="맑은 고딕"/>
                  <a:ea typeface="맑은 고딕"/>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280" name="TextBox 279">
              <a:extLst>
                <a:ext uri="{FF2B5EF4-FFF2-40B4-BE49-F238E27FC236}">
                  <a16:creationId xmlns:a16="http://schemas.microsoft.com/office/drawing/2014/main" id="{FDA1ADEA-821B-42D1-8C81-51B9E494ECF9}"/>
                </a:ext>
              </a:extLst>
            </p:cNvPr>
            <p:cNvSpPr txBox="1"/>
            <p:nvPr/>
          </p:nvSpPr>
          <p:spPr>
            <a:xfrm>
              <a:off x="2701002" y="4774970"/>
              <a:ext cx="36149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ko-KR" sz="600" b="1" kern="0" dirty="0">
                  <a:solidFill>
                    <a:prstClr val="black"/>
                  </a:solidFill>
                  <a:latin typeface="맑은 고딕"/>
                  <a:ea typeface="맑은 고딕"/>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281" name="TextBox 280">
              <a:extLst>
                <a:ext uri="{FF2B5EF4-FFF2-40B4-BE49-F238E27FC236}">
                  <a16:creationId xmlns:a16="http://schemas.microsoft.com/office/drawing/2014/main" id="{A32ABBD9-11A0-4B0F-8613-2E57D014663E}"/>
                </a:ext>
              </a:extLst>
            </p:cNvPr>
            <p:cNvSpPr txBox="1"/>
            <p:nvPr/>
          </p:nvSpPr>
          <p:spPr>
            <a:xfrm>
              <a:off x="2701002" y="4879290"/>
              <a:ext cx="36149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ko-KR" sz="600" b="1" kern="0" dirty="0">
                  <a:solidFill>
                    <a:prstClr val="black"/>
                  </a:solidFill>
                  <a:latin typeface="맑은 고딕"/>
                  <a:ea typeface="맑은 고딕"/>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282" name="TextBox 281">
              <a:extLst>
                <a:ext uri="{FF2B5EF4-FFF2-40B4-BE49-F238E27FC236}">
                  <a16:creationId xmlns:a16="http://schemas.microsoft.com/office/drawing/2014/main" id="{F6E572EC-1760-4028-AAC6-AAAEBB5A0DEC}"/>
                </a:ext>
              </a:extLst>
            </p:cNvPr>
            <p:cNvSpPr txBox="1"/>
            <p:nvPr/>
          </p:nvSpPr>
          <p:spPr>
            <a:xfrm>
              <a:off x="2701002" y="4982209"/>
              <a:ext cx="36149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ko-KR" sz="600" b="1" kern="0" dirty="0">
                  <a:solidFill>
                    <a:prstClr val="black"/>
                  </a:solidFill>
                  <a:latin typeface="맑은 고딕"/>
                  <a:ea typeface="맑은 고딕"/>
                </a:rPr>
                <a:t>NAND</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297" name="직사각형 296">
              <a:extLst>
                <a:ext uri="{FF2B5EF4-FFF2-40B4-BE49-F238E27FC236}">
                  <a16:creationId xmlns:a16="http://schemas.microsoft.com/office/drawing/2014/main" id="{89093E65-9A9F-4AE7-8C91-A6B41A64CE85}"/>
                </a:ext>
              </a:extLst>
            </p:cNvPr>
            <p:cNvSpPr/>
            <p:nvPr/>
          </p:nvSpPr>
          <p:spPr>
            <a:xfrm rot="10800000">
              <a:off x="2434333" y="5225196"/>
              <a:ext cx="871029" cy="81255"/>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298" name="TextBox 297">
              <a:extLst>
                <a:ext uri="{FF2B5EF4-FFF2-40B4-BE49-F238E27FC236}">
                  <a16:creationId xmlns:a16="http://schemas.microsoft.com/office/drawing/2014/main" id="{00C58DDB-5E09-49EC-97EA-84C22D09B05A}"/>
                </a:ext>
              </a:extLst>
            </p:cNvPr>
            <p:cNvSpPr txBox="1"/>
            <p:nvPr/>
          </p:nvSpPr>
          <p:spPr>
            <a:xfrm>
              <a:off x="2649042" y="5190278"/>
              <a:ext cx="445924"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Logic die</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cxnSp>
          <p:nvCxnSpPr>
            <p:cNvPr id="299" name="직선 연결선 298">
              <a:extLst>
                <a:ext uri="{FF2B5EF4-FFF2-40B4-BE49-F238E27FC236}">
                  <a16:creationId xmlns:a16="http://schemas.microsoft.com/office/drawing/2014/main" id="{495852CB-34B9-41BF-BD85-A9BB00E4F7F6}"/>
                </a:ext>
              </a:extLst>
            </p:cNvPr>
            <p:cNvCxnSpPr>
              <a:cxnSpLocks/>
            </p:cNvCxnSpPr>
            <p:nvPr/>
          </p:nvCxnSpPr>
          <p:spPr>
            <a:xfrm>
              <a:off x="3233785" y="5117437"/>
              <a:ext cx="0" cy="103679"/>
            </a:xfrm>
            <a:prstGeom prst="line">
              <a:avLst/>
            </a:prstGeom>
            <a:solidFill>
              <a:srgbClr val="4472C4"/>
            </a:solidFill>
            <a:ln w="28575" cap="flat" cmpd="sng" algn="ctr">
              <a:solidFill>
                <a:srgbClr val="FFFF00"/>
              </a:solidFill>
              <a:prstDash val="solid"/>
            </a:ln>
            <a:effectLst/>
          </p:spPr>
        </p:cxnSp>
        <p:cxnSp>
          <p:nvCxnSpPr>
            <p:cNvPr id="300" name="직선 연결선 299">
              <a:extLst>
                <a:ext uri="{FF2B5EF4-FFF2-40B4-BE49-F238E27FC236}">
                  <a16:creationId xmlns:a16="http://schemas.microsoft.com/office/drawing/2014/main" id="{F386D091-7F88-4C86-93C1-025A0B3FE940}"/>
                </a:ext>
              </a:extLst>
            </p:cNvPr>
            <p:cNvCxnSpPr>
              <a:cxnSpLocks/>
            </p:cNvCxnSpPr>
            <p:nvPr/>
          </p:nvCxnSpPr>
          <p:spPr>
            <a:xfrm>
              <a:off x="3154283" y="5117437"/>
              <a:ext cx="0" cy="103679"/>
            </a:xfrm>
            <a:prstGeom prst="line">
              <a:avLst/>
            </a:prstGeom>
            <a:solidFill>
              <a:srgbClr val="4472C4"/>
            </a:solidFill>
            <a:ln w="28575" cap="flat" cmpd="sng" algn="ctr">
              <a:solidFill>
                <a:srgbClr val="FFFF00"/>
              </a:solidFill>
              <a:prstDash val="solid"/>
            </a:ln>
            <a:effectLst/>
          </p:spPr>
        </p:cxnSp>
        <p:cxnSp>
          <p:nvCxnSpPr>
            <p:cNvPr id="301" name="직선 연결선 300">
              <a:extLst>
                <a:ext uri="{FF2B5EF4-FFF2-40B4-BE49-F238E27FC236}">
                  <a16:creationId xmlns:a16="http://schemas.microsoft.com/office/drawing/2014/main" id="{74DA7E81-AAE6-47B0-A8AB-FEB16B8E549A}"/>
                </a:ext>
              </a:extLst>
            </p:cNvPr>
            <p:cNvCxnSpPr>
              <a:cxnSpLocks/>
            </p:cNvCxnSpPr>
            <p:nvPr/>
          </p:nvCxnSpPr>
          <p:spPr>
            <a:xfrm>
              <a:off x="2597759" y="5117437"/>
              <a:ext cx="0" cy="103679"/>
            </a:xfrm>
            <a:prstGeom prst="line">
              <a:avLst/>
            </a:prstGeom>
            <a:solidFill>
              <a:srgbClr val="4472C4"/>
            </a:solidFill>
            <a:ln w="28575" cap="flat" cmpd="sng" algn="ctr">
              <a:solidFill>
                <a:srgbClr val="FFFF00"/>
              </a:solidFill>
              <a:prstDash val="solid"/>
            </a:ln>
            <a:effectLst/>
          </p:spPr>
        </p:cxnSp>
        <p:cxnSp>
          <p:nvCxnSpPr>
            <p:cNvPr id="302" name="직선 연결선 301">
              <a:extLst>
                <a:ext uri="{FF2B5EF4-FFF2-40B4-BE49-F238E27FC236}">
                  <a16:creationId xmlns:a16="http://schemas.microsoft.com/office/drawing/2014/main" id="{0B7F598A-A8F7-45D1-9486-693319078F5C}"/>
                </a:ext>
              </a:extLst>
            </p:cNvPr>
            <p:cNvCxnSpPr>
              <a:cxnSpLocks/>
            </p:cNvCxnSpPr>
            <p:nvPr/>
          </p:nvCxnSpPr>
          <p:spPr>
            <a:xfrm>
              <a:off x="2518255" y="5117437"/>
              <a:ext cx="0" cy="103679"/>
            </a:xfrm>
            <a:prstGeom prst="line">
              <a:avLst/>
            </a:prstGeom>
            <a:solidFill>
              <a:srgbClr val="4472C4"/>
            </a:solidFill>
            <a:ln w="28575" cap="flat" cmpd="sng" algn="ctr">
              <a:solidFill>
                <a:srgbClr val="FFFF00"/>
              </a:solidFill>
              <a:prstDash val="solid"/>
            </a:ln>
            <a:effectLst/>
          </p:spPr>
        </p:cxnSp>
        <p:cxnSp>
          <p:nvCxnSpPr>
            <p:cNvPr id="303" name="직선 연결선 302">
              <a:extLst>
                <a:ext uri="{FF2B5EF4-FFF2-40B4-BE49-F238E27FC236}">
                  <a16:creationId xmlns:a16="http://schemas.microsoft.com/office/drawing/2014/main" id="{B0941106-6646-4767-9167-8CE7C013F466}"/>
                </a:ext>
              </a:extLst>
            </p:cNvPr>
            <p:cNvCxnSpPr>
              <a:cxnSpLocks/>
            </p:cNvCxnSpPr>
            <p:nvPr/>
          </p:nvCxnSpPr>
          <p:spPr>
            <a:xfrm>
              <a:off x="2677262" y="5117437"/>
              <a:ext cx="0" cy="103679"/>
            </a:xfrm>
            <a:prstGeom prst="line">
              <a:avLst/>
            </a:prstGeom>
            <a:solidFill>
              <a:srgbClr val="4472C4"/>
            </a:solidFill>
            <a:ln w="28575" cap="flat" cmpd="sng" algn="ctr">
              <a:solidFill>
                <a:srgbClr val="FFFF00"/>
              </a:solidFill>
              <a:prstDash val="solid"/>
            </a:ln>
            <a:effectLst/>
          </p:spPr>
        </p:cxnSp>
        <p:cxnSp>
          <p:nvCxnSpPr>
            <p:cNvPr id="304" name="직선 연결선 303">
              <a:extLst>
                <a:ext uri="{FF2B5EF4-FFF2-40B4-BE49-F238E27FC236}">
                  <a16:creationId xmlns:a16="http://schemas.microsoft.com/office/drawing/2014/main" id="{2A95C29B-77B2-4859-94AE-58BDE1F50744}"/>
                </a:ext>
              </a:extLst>
            </p:cNvPr>
            <p:cNvCxnSpPr>
              <a:cxnSpLocks/>
            </p:cNvCxnSpPr>
            <p:nvPr/>
          </p:nvCxnSpPr>
          <p:spPr>
            <a:xfrm>
              <a:off x="3074780" y="5117437"/>
              <a:ext cx="0" cy="103679"/>
            </a:xfrm>
            <a:prstGeom prst="line">
              <a:avLst/>
            </a:prstGeom>
            <a:solidFill>
              <a:srgbClr val="4472C4"/>
            </a:solidFill>
            <a:ln w="28575" cap="flat" cmpd="sng" algn="ctr">
              <a:solidFill>
                <a:srgbClr val="FFFF00"/>
              </a:solidFill>
              <a:prstDash val="solid"/>
            </a:ln>
            <a:effectLst/>
          </p:spPr>
        </p:cxnSp>
        <p:cxnSp>
          <p:nvCxnSpPr>
            <p:cNvPr id="305" name="직선 연결선 304">
              <a:extLst>
                <a:ext uri="{FF2B5EF4-FFF2-40B4-BE49-F238E27FC236}">
                  <a16:creationId xmlns:a16="http://schemas.microsoft.com/office/drawing/2014/main" id="{502F5F1A-0614-4680-BE9E-4AFD5A49E583}"/>
                </a:ext>
              </a:extLst>
            </p:cNvPr>
            <p:cNvCxnSpPr>
              <a:cxnSpLocks/>
            </p:cNvCxnSpPr>
            <p:nvPr/>
          </p:nvCxnSpPr>
          <p:spPr>
            <a:xfrm>
              <a:off x="3233785" y="5202773"/>
              <a:ext cx="0" cy="103679"/>
            </a:xfrm>
            <a:prstGeom prst="line">
              <a:avLst/>
            </a:prstGeom>
            <a:solidFill>
              <a:srgbClr val="4472C4"/>
            </a:solidFill>
            <a:ln w="28575" cap="flat" cmpd="sng" algn="ctr">
              <a:solidFill>
                <a:srgbClr val="FFFF00"/>
              </a:solidFill>
              <a:prstDash val="solid"/>
            </a:ln>
            <a:effectLst/>
          </p:spPr>
        </p:cxnSp>
        <p:cxnSp>
          <p:nvCxnSpPr>
            <p:cNvPr id="306" name="직선 연결선 305">
              <a:extLst>
                <a:ext uri="{FF2B5EF4-FFF2-40B4-BE49-F238E27FC236}">
                  <a16:creationId xmlns:a16="http://schemas.microsoft.com/office/drawing/2014/main" id="{A52B72DE-2C6D-4803-88BE-2B728DBB8D42}"/>
                </a:ext>
              </a:extLst>
            </p:cNvPr>
            <p:cNvCxnSpPr>
              <a:cxnSpLocks/>
            </p:cNvCxnSpPr>
            <p:nvPr/>
          </p:nvCxnSpPr>
          <p:spPr>
            <a:xfrm>
              <a:off x="3154283" y="5202773"/>
              <a:ext cx="0" cy="103679"/>
            </a:xfrm>
            <a:prstGeom prst="line">
              <a:avLst/>
            </a:prstGeom>
            <a:solidFill>
              <a:srgbClr val="4472C4"/>
            </a:solidFill>
            <a:ln w="28575" cap="flat" cmpd="sng" algn="ctr">
              <a:solidFill>
                <a:srgbClr val="FFFF00"/>
              </a:solidFill>
              <a:prstDash val="solid"/>
            </a:ln>
            <a:effectLst/>
          </p:spPr>
        </p:cxnSp>
        <p:cxnSp>
          <p:nvCxnSpPr>
            <p:cNvPr id="307" name="직선 연결선 306">
              <a:extLst>
                <a:ext uri="{FF2B5EF4-FFF2-40B4-BE49-F238E27FC236}">
                  <a16:creationId xmlns:a16="http://schemas.microsoft.com/office/drawing/2014/main" id="{C932BD42-B633-4ECB-A7A0-43A3F11C5B4D}"/>
                </a:ext>
              </a:extLst>
            </p:cNvPr>
            <p:cNvCxnSpPr>
              <a:cxnSpLocks/>
            </p:cNvCxnSpPr>
            <p:nvPr/>
          </p:nvCxnSpPr>
          <p:spPr>
            <a:xfrm>
              <a:off x="2597759" y="5202773"/>
              <a:ext cx="0" cy="103679"/>
            </a:xfrm>
            <a:prstGeom prst="line">
              <a:avLst/>
            </a:prstGeom>
            <a:solidFill>
              <a:srgbClr val="4472C4"/>
            </a:solidFill>
            <a:ln w="28575" cap="flat" cmpd="sng" algn="ctr">
              <a:solidFill>
                <a:srgbClr val="FFFF00"/>
              </a:solidFill>
              <a:prstDash val="solid"/>
            </a:ln>
            <a:effectLst/>
          </p:spPr>
        </p:cxnSp>
        <p:cxnSp>
          <p:nvCxnSpPr>
            <p:cNvPr id="308" name="직선 연결선 307">
              <a:extLst>
                <a:ext uri="{FF2B5EF4-FFF2-40B4-BE49-F238E27FC236}">
                  <a16:creationId xmlns:a16="http://schemas.microsoft.com/office/drawing/2014/main" id="{2DE76635-BF17-4259-83B2-A21D0659395A}"/>
                </a:ext>
              </a:extLst>
            </p:cNvPr>
            <p:cNvCxnSpPr>
              <a:cxnSpLocks/>
            </p:cNvCxnSpPr>
            <p:nvPr/>
          </p:nvCxnSpPr>
          <p:spPr>
            <a:xfrm>
              <a:off x="2518255" y="5202773"/>
              <a:ext cx="0" cy="103679"/>
            </a:xfrm>
            <a:prstGeom prst="line">
              <a:avLst/>
            </a:prstGeom>
            <a:solidFill>
              <a:srgbClr val="4472C4"/>
            </a:solidFill>
            <a:ln w="28575" cap="flat" cmpd="sng" algn="ctr">
              <a:solidFill>
                <a:srgbClr val="FFFF00"/>
              </a:solidFill>
              <a:prstDash val="solid"/>
            </a:ln>
            <a:effectLst/>
          </p:spPr>
        </p:cxnSp>
        <p:cxnSp>
          <p:nvCxnSpPr>
            <p:cNvPr id="309" name="직선 연결선 308">
              <a:extLst>
                <a:ext uri="{FF2B5EF4-FFF2-40B4-BE49-F238E27FC236}">
                  <a16:creationId xmlns:a16="http://schemas.microsoft.com/office/drawing/2014/main" id="{E3A58BAB-8647-4010-A127-FB744D7B7EE0}"/>
                </a:ext>
              </a:extLst>
            </p:cNvPr>
            <p:cNvCxnSpPr>
              <a:cxnSpLocks/>
            </p:cNvCxnSpPr>
            <p:nvPr/>
          </p:nvCxnSpPr>
          <p:spPr>
            <a:xfrm>
              <a:off x="2677262" y="5202773"/>
              <a:ext cx="0" cy="103679"/>
            </a:xfrm>
            <a:prstGeom prst="line">
              <a:avLst/>
            </a:prstGeom>
            <a:solidFill>
              <a:srgbClr val="4472C4"/>
            </a:solidFill>
            <a:ln w="28575" cap="flat" cmpd="sng" algn="ctr">
              <a:solidFill>
                <a:srgbClr val="FFFF00"/>
              </a:solidFill>
              <a:prstDash val="solid"/>
            </a:ln>
            <a:effectLst/>
          </p:spPr>
        </p:cxnSp>
        <p:cxnSp>
          <p:nvCxnSpPr>
            <p:cNvPr id="310" name="직선 연결선 309">
              <a:extLst>
                <a:ext uri="{FF2B5EF4-FFF2-40B4-BE49-F238E27FC236}">
                  <a16:creationId xmlns:a16="http://schemas.microsoft.com/office/drawing/2014/main" id="{DFE60879-F670-42FD-837F-D61FAF577E44}"/>
                </a:ext>
              </a:extLst>
            </p:cNvPr>
            <p:cNvCxnSpPr>
              <a:cxnSpLocks/>
            </p:cNvCxnSpPr>
            <p:nvPr/>
          </p:nvCxnSpPr>
          <p:spPr>
            <a:xfrm>
              <a:off x="3074780" y="5202773"/>
              <a:ext cx="0" cy="103679"/>
            </a:xfrm>
            <a:prstGeom prst="line">
              <a:avLst/>
            </a:prstGeom>
            <a:solidFill>
              <a:srgbClr val="4472C4"/>
            </a:solidFill>
            <a:ln w="28575" cap="flat" cmpd="sng" algn="ctr">
              <a:solidFill>
                <a:srgbClr val="FFFF00"/>
              </a:solidFill>
              <a:prstDash val="solid"/>
            </a:ln>
            <a:effectLst/>
          </p:spPr>
        </p:cxnSp>
        <p:cxnSp>
          <p:nvCxnSpPr>
            <p:cNvPr id="311" name="직선 연결선 310">
              <a:extLst>
                <a:ext uri="{FF2B5EF4-FFF2-40B4-BE49-F238E27FC236}">
                  <a16:creationId xmlns:a16="http://schemas.microsoft.com/office/drawing/2014/main" id="{6DDA4DAA-D8AB-4316-A6EC-43C3AB83CABA}"/>
                </a:ext>
              </a:extLst>
            </p:cNvPr>
            <p:cNvCxnSpPr>
              <a:cxnSpLocks/>
            </p:cNvCxnSpPr>
            <p:nvPr/>
          </p:nvCxnSpPr>
          <p:spPr>
            <a:xfrm>
              <a:off x="2835091" y="5117437"/>
              <a:ext cx="0" cy="103679"/>
            </a:xfrm>
            <a:prstGeom prst="line">
              <a:avLst/>
            </a:prstGeom>
            <a:solidFill>
              <a:srgbClr val="4472C4"/>
            </a:solidFill>
            <a:ln w="28575" cap="flat" cmpd="sng" algn="ctr">
              <a:solidFill>
                <a:srgbClr val="FFFF00"/>
              </a:solidFill>
              <a:prstDash val="solid"/>
            </a:ln>
            <a:effectLst/>
          </p:spPr>
        </p:cxnSp>
        <p:cxnSp>
          <p:nvCxnSpPr>
            <p:cNvPr id="312" name="직선 연결선 311">
              <a:extLst>
                <a:ext uri="{FF2B5EF4-FFF2-40B4-BE49-F238E27FC236}">
                  <a16:creationId xmlns:a16="http://schemas.microsoft.com/office/drawing/2014/main" id="{8A62FF43-75BB-45B9-83E1-A84A1869C878}"/>
                </a:ext>
              </a:extLst>
            </p:cNvPr>
            <p:cNvCxnSpPr>
              <a:cxnSpLocks/>
            </p:cNvCxnSpPr>
            <p:nvPr/>
          </p:nvCxnSpPr>
          <p:spPr>
            <a:xfrm>
              <a:off x="2755587" y="5117437"/>
              <a:ext cx="0" cy="103679"/>
            </a:xfrm>
            <a:prstGeom prst="line">
              <a:avLst/>
            </a:prstGeom>
            <a:solidFill>
              <a:srgbClr val="4472C4"/>
            </a:solidFill>
            <a:ln w="28575" cap="flat" cmpd="sng" algn="ctr">
              <a:solidFill>
                <a:srgbClr val="FFFF00"/>
              </a:solidFill>
              <a:prstDash val="solid"/>
            </a:ln>
            <a:effectLst/>
          </p:spPr>
        </p:cxnSp>
        <p:cxnSp>
          <p:nvCxnSpPr>
            <p:cNvPr id="313" name="직선 연결선 312">
              <a:extLst>
                <a:ext uri="{FF2B5EF4-FFF2-40B4-BE49-F238E27FC236}">
                  <a16:creationId xmlns:a16="http://schemas.microsoft.com/office/drawing/2014/main" id="{BD6C4E75-A0F0-40D0-95CC-1C84850AEEF8}"/>
                </a:ext>
              </a:extLst>
            </p:cNvPr>
            <p:cNvCxnSpPr>
              <a:cxnSpLocks/>
            </p:cNvCxnSpPr>
            <p:nvPr/>
          </p:nvCxnSpPr>
          <p:spPr>
            <a:xfrm>
              <a:off x="2914594" y="5117437"/>
              <a:ext cx="0" cy="103679"/>
            </a:xfrm>
            <a:prstGeom prst="line">
              <a:avLst/>
            </a:prstGeom>
            <a:solidFill>
              <a:srgbClr val="4472C4"/>
            </a:solidFill>
            <a:ln w="28575" cap="flat" cmpd="sng" algn="ctr">
              <a:solidFill>
                <a:srgbClr val="FFFF00"/>
              </a:solidFill>
              <a:prstDash val="solid"/>
            </a:ln>
            <a:effectLst/>
          </p:spPr>
        </p:cxnSp>
        <p:cxnSp>
          <p:nvCxnSpPr>
            <p:cNvPr id="314" name="직선 연결선 313">
              <a:extLst>
                <a:ext uri="{FF2B5EF4-FFF2-40B4-BE49-F238E27FC236}">
                  <a16:creationId xmlns:a16="http://schemas.microsoft.com/office/drawing/2014/main" id="{12E47143-E3DF-46CC-878D-7B890402E578}"/>
                </a:ext>
              </a:extLst>
            </p:cNvPr>
            <p:cNvCxnSpPr>
              <a:cxnSpLocks/>
            </p:cNvCxnSpPr>
            <p:nvPr/>
          </p:nvCxnSpPr>
          <p:spPr>
            <a:xfrm>
              <a:off x="2995152" y="5117437"/>
              <a:ext cx="0" cy="103679"/>
            </a:xfrm>
            <a:prstGeom prst="line">
              <a:avLst/>
            </a:prstGeom>
            <a:solidFill>
              <a:srgbClr val="4472C4"/>
            </a:solidFill>
            <a:ln w="28575" cap="flat" cmpd="sng" algn="ctr">
              <a:solidFill>
                <a:srgbClr val="FFFF00"/>
              </a:solidFill>
              <a:prstDash val="solid"/>
            </a:ln>
            <a:effectLst/>
          </p:spPr>
        </p:cxnSp>
        <p:sp>
          <p:nvSpPr>
            <p:cNvPr id="315" name="TextBox 314">
              <a:extLst>
                <a:ext uri="{FF2B5EF4-FFF2-40B4-BE49-F238E27FC236}">
                  <a16:creationId xmlns:a16="http://schemas.microsoft.com/office/drawing/2014/main" id="{D3151EAC-0A46-4418-8B4C-9467F2B4FD59}"/>
                </a:ext>
              </a:extLst>
            </p:cNvPr>
            <p:cNvSpPr txBox="1"/>
            <p:nvPr/>
          </p:nvSpPr>
          <p:spPr>
            <a:xfrm>
              <a:off x="2653437" y="5079386"/>
              <a:ext cx="459764"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solidFill>
                    <a:prstClr val="black"/>
                  </a:solidFill>
                  <a:effectLst/>
                  <a:uLnTx/>
                  <a:uFillTx/>
                  <a:latin typeface="맑은 고딕"/>
                  <a:ea typeface="맑은 고딕"/>
                </a:rPr>
                <a:t>Interlayer</a:t>
              </a:r>
              <a:endParaRPr kumimoji="0" lang="ko-KR" altLang="en-US" sz="600" b="1" i="0" u="none" strike="noStrike" kern="0" cap="none" spc="0" normalizeH="0" baseline="0" noProof="0" dirty="0">
                <a:ln>
                  <a:noFill/>
                </a:ln>
                <a:solidFill>
                  <a:prstClr val="black"/>
                </a:solidFill>
                <a:effectLst/>
                <a:uLnTx/>
                <a:uFillTx/>
                <a:latin typeface="맑은 고딕"/>
                <a:ea typeface="맑은 고딕"/>
              </a:endParaRPr>
            </a:p>
          </p:txBody>
        </p:sp>
        <p:sp>
          <p:nvSpPr>
            <p:cNvPr id="320" name="TextBox 319"/>
            <p:cNvSpPr txBox="1"/>
            <p:nvPr/>
          </p:nvSpPr>
          <p:spPr>
            <a:xfrm>
              <a:off x="2042315" y="5850121"/>
              <a:ext cx="1692903" cy="345446"/>
            </a:xfrm>
            <a:prstGeom prst="rect">
              <a:avLst/>
            </a:prstGeom>
            <a:noFill/>
          </p:spPr>
          <p:txBody>
            <a:bodyPr wrap="none" rtlCol="0">
              <a:spAutoFit/>
            </a:bodyPr>
            <a:lstStyle/>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High B/W Flash</a:t>
              </a:r>
            </a:p>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High Capacity, Low Latency </a:t>
              </a:r>
              <a:r>
                <a:rPr lang="en-US" altLang="ko-KR" sz="1000" b="1" dirty="0" err="1">
                  <a:solidFill>
                    <a:schemeClr val="bg1">
                      <a:lumMod val="50000"/>
                    </a:schemeClr>
                  </a:solidFill>
                  <a:latin typeface="SAMSUNGONE-600C" panose="020B0503030303020204" pitchFamily="34" charset="-127"/>
                  <a:ea typeface="SAMSUNGONE-600C" panose="020B0503030303020204" pitchFamily="34" charset="-127"/>
                </a:rPr>
                <a:t>Nand</a:t>
              </a:r>
              <a:endParaRPr lang="en-US" altLang="ko-KR" sz="1000" b="1" dirty="0">
                <a:solidFill>
                  <a:schemeClr val="bg1">
                    <a:lumMod val="50000"/>
                  </a:schemeClr>
                </a:solidFill>
                <a:latin typeface="SAMSUNGONE-600C" panose="020B0503030303020204" pitchFamily="34" charset="-127"/>
                <a:ea typeface="SAMSUNGONE-600C" panose="020B0503030303020204" pitchFamily="34" charset="-127"/>
              </a:endParaRPr>
            </a:p>
          </p:txBody>
        </p:sp>
      </p:grpSp>
      <p:grpSp>
        <p:nvGrpSpPr>
          <p:cNvPr id="325" name="그룹 324"/>
          <p:cNvGrpSpPr/>
          <p:nvPr/>
        </p:nvGrpSpPr>
        <p:grpSpPr>
          <a:xfrm>
            <a:off x="3858335" y="4569785"/>
            <a:ext cx="1245058" cy="1625782"/>
            <a:chOff x="3858335" y="4569785"/>
            <a:chExt cx="1245058" cy="1625782"/>
          </a:xfrm>
        </p:grpSpPr>
        <p:sp>
          <p:nvSpPr>
            <p:cNvPr id="9" name="직사각형 8">
              <a:extLst>
                <a:ext uri="{FF2B5EF4-FFF2-40B4-BE49-F238E27FC236}">
                  <a16:creationId xmlns:a16="http://schemas.microsoft.com/office/drawing/2014/main" id="{0D49FCC2-9870-4D56-9D29-7DC62B9B29E9}"/>
                </a:ext>
              </a:extLst>
            </p:cNvPr>
            <p:cNvSpPr/>
            <p:nvPr/>
          </p:nvSpPr>
          <p:spPr>
            <a:xfrm>
              <a:off x="3962471" y="4741762"/>
              <a:ext cx="966062" cy="725674"/>
            </a:xfrm>
            <a:prstGeom prst="rect">
              <a:avLst/>
            </a:prstGeom>
            <a:solidFill>
              <a:schemeClr val="bg1">
                <a:lumMod val="50000"/>
              </a:schemeClr>
            </a:solidFill>
            <a:ln>
              <a:no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
          <p:nvSpPr>
            <p:cNvPr id="284" name="직사각형 283">
              <a:extLst>
                <a:ext uri="{FF2B5EF4-FFF2-40B4-BE49-F238E27FC236}">
                  <a16:creationId xmlns:a16="http://schemas.microsoft.com/office/drawing/2014/main" id="{1CF473EA-6B0C-45AC-B4B6-D2A8B21197FF}"/>
                </a:ext>
              </a:extLst>
            </p:cNvPr>
            <p:cNvSpPr/>
            <p:nvPr/>
          </p:nvSpPr>
          <p:spPr>
            <a:xfrm>
              <a:off x="4037894" y="4802203"/>
              <a:ext cx="370826" cy="331081"/>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85" name="TextBox 284">
              <a:extLst>
                <a:ext uri="{FF2B5EF4-FFF2-40B4-BE49-F238E27FC236}">
                  <a16:creationId xmlns:a16="http://schemas.microsoft.com/office/drawing/2014/main" id="{1BA35BA1-48EF-47BF-B350-6F864EC66C2A}"/>
                </a:ext>
              </a:extLst>
            </p:cNvPr>
            <p:cNvSpPr txBox="1"/>
            <p:nvPr/>
          </p:nvSpPr>
          <p:spPr>
            <a:xfrm>
              <a:off x="4042417" y="4879740"/>
              <a:ext cx="36149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NAND</a:t>
              </a:r>
              <a:endParaRPr kumimoji="0" lang="ko-KR" altLang="en-US" sz="600" b="1" i="0" u="none" strike="noStrike" kern="0" cap="none" spc="0" normalizeH="0" baseline="0" noProof="0" dirty="0">
                <a:ln>
                  <a:noFill/>
                </a:ln>
                <a:effectLst/>
                <a:uLnTx/>
                <a:uFillTx/>
                <a:latin typeface="맑은 고딕"/>
                <a:ea typeface="맑은 고딕"/>
              </a:endParaRPr>
            </a:p>
          </p:txBody>
        </p:sp>
        <p:sp>
          <p:nvSpPr>
            <p:cNvPr id="286" name="직사각형 285">
              <a:extLst>
                <a:ext uri="{FF2B5EF4-FFF2-40B4-BE49-F238E27FC236}">
                  <a16:creationId xmlns:a16="http://schemas.microsoft.com/office/drawing/2014/main" id="{1B17578D-D1F7-4801-8E0E-2EA43BF7FE9F}"/>
                </a:ext>
              </a:extLst>
            </p:cNvPr>
            <p:cNvSpPr/>
            <p:nvPr/>
          </p:nvSpPr>
          <p:spPr>
            <a:xfrm>
              <a:off x="4483420" y="4802203"/>
              <a:ext cx="370826" cy="331081"/>
            </a:xfrm>
            <a:prstGeom prst="rect">
              <a:avLst/>
            </a:prstGeom>
            <a:solidFill>
              <a:schemeClr val="bg2">
                <a:lumMod val="20000"/>
                <a:lumOff val="80000"/>
              </a:scheme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87" name="TextBox 286">
              <a:extLst>
                <a:ext uri="{FF2B5EF4-FFF2-40B4-BE49-F238E27FC236}">
                  <a16:creationId xmlns:a16="http://schemas.microsoft.com/office/drawing/2014/main" id="{48C76AB0-A39C-4231-8DC5-68F7BB131642}"/>
                </a:ext>
              </a:extLst>
            </p:cNvPr>
            <p:cNvSpPr txBox="1"/>
            <p:nvPr/>
          </p:nvSpPr>
          <p:spPr>
            <a:xfrm>
              <a:off x="4483419" y="4879740"/>
              <a:ext cx="36149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NAND</a:t>
              </a:r>
              <a:endParaRPr kumimoji="0" lang="ko-KR" altLang="en-US" sz="600" b="1" i="0" u="none" strike="noStrike" kern="0" cap="none" spc="0" normalizeH="0" baseline="0" noProof="0" dirty="0">
                <a:ln>
                  <a:noFill/>
                </a:ln>
                <a:effectLst/>
                <a:uLnTx/>
                <a:uFillTx/>
                <a:latin typeface="맑은 고딕"/>
                <a:ea typeface="맑은 고딕"/>
              </a:endParaRPr>
            </a:p>
          </p:txBody>
        </p:sp>
        <p:sp>
          <p:nvSpPr>
            <p:cNvPr id="288" name="직사각형 287">
              <a:extLst>
                <a:ext uri="{FF2B5EF4-FFF2-40B4-BE49-F238E27FC236}">
                  <a16:creationId xmlns:a16="http://schemas.microsoft.com/office/drawing/2014/main" id="{90B112EB-F6C5-4D6E-9A74-47C012B4C049}"/>
                </a:ext>
              </a:extLst>
            </p:cNvPr>
            <p:cNvSpPr/>
            <p:nvPr/>
          </p:nvSpPr>
          <p:spPr>
            <a:xfrm>
              <a:off x="4042814" y="5188335"/>
              <a:ext cx="824629" cy="104740"/>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289" name="TextBox 288">
              <a:extLst>
                <a:ext uri="{FF2B5EF4-FFF2-40B4-BE49-F238E27FC236}">
                  <a16:creationId xmlns:a16="http://schemas.microsoft.com/office/drawing/2014/main" id="{14DAA374-1C00-4DE8-84BD-E0587069122F}"/>
                </a:ext>
              </a:extLst>
            </p:cNvPr>
            <p:cNvSpPr txBox="1"/>
            <p:nvPr/>
          </p:nvSpPr>
          <p:spPr>
            <a:xfrm>
              <a:off x="4268875" y="5161705"/>
              <a:ext cx="389179"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LP-PIM</a:t>
              </a:r>
              <a:endParaRPr kumimoji="0" lang="ko-KR" altLang="en-US" sz="600" b="1" i="0" u="none" strike="noStrike" kern="0" cap="none" spc="0" normalizeH="0" baseline="0" noProof="0" dirty="0">
                <a:ln>
                  <a:noFill/>
                </a:ln>
                <a:effectLst/>
                <a:uLnTx/>
                <a:uFillTx/>
                <a:latin typeface="맑은 고딕"/>
                <a:ea typeface="맑은 고딕"/>
              </a:endParaRPr>
            </a:p>
          </p:txBody>
        </p:sp>
        <p:sp>
          <p:nvSpPr>
            <p:cNvPr id="290" name="TextBox 289">
              <a:extLst>
                <a:ext uri="{FF2B5EF4-FFF2-40B4-BE49-F238E27FC236}">
                  <a16:creationId xmlns:a16="http://schemas.microsoft.com/office/drawing/2014/main" id="{B6668A43-7CC3-46E1-9600-815D89733501}"/>
                </a:ext>
              </a:extLst>
            </p:cNvPr>
            <p:cNvSpPr txBox="1"/>
            <p:nvPr/>
          </p:nvSpPr>
          <p:spPr>
            <a:xfrm>
              <a:off x="4167207" y="5206836"/>
              <a:ext cx="113189" cy="69125"/>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291" name="TextBox 290">
              <a:extLst>
                <a:ext uri="{FF2B5EF4-FFF2-40B4-BE49-F238E27FC236}">
                  <a16:creationId xmlns:a16="http://schemas.microsoft.com/office/drawing/2014/main" id="{5A7104AC-A4F2-418C-BEB4-2EDE51CC357C}"/>
                </a:ext>
              </a:extLst>
            </p:cNvPr>
            <p:cNvSpPr txBox="1"/>
            <p:nvPr/>
          </p:nvSpPr>
          <p:spPr>
            <a:xfrm>
              <a:off x="4651973" y="5206836"/>
              <a:ext cx="113189" cy="69125"/>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292" name="직사각형 291">
              <a:extLst>
                <a:ext uri="{FF2B5EF4-FFF2-40B4-BE49-F238E27FC236}">
                  <a16:creationId xmlns:a16="http://schemas.microsoft.com/office/drawing/2014/main" id="{661E6129-F880-4124-B19F-118243E14AEE}"/>
                </a:ext>
              </a:extLst>
            </p:cNvPr>
            <p:cNvSpPr/>
            <p:nvPr/>
          </p:nvSpPr>
          <p:spPr>
            <a:xfrm rot="10800000">
              <a:off x="4056638" y="5321418"/>
              <a:ext cx="810803" cy="95938"/>
            </a:xfrm>
            <a:prstGeom prst="rect">
              <a:avLst/>
            </a:prstGeom>
            <a:solidFill>
              <a:srgbClr val="FFC000"/>
            </a:solidFill>
            <a:ln w="6350" cap="flat" cmpd="sng" algn="ctr">
              <a:solidFill>
                <a:srgbClr val="000000"/>
              </a:solidFill>
              <a:prstDash val="solid"/>
              <a:miter lim="800000"/>
            </a:ln>
            <a:effectLst/>
          </p:spPr>
          <p:txBody>
            <a:bodyPr lIns="72000" tIns="36000" rIns="72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900" b="1"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293" name="TextBox 292">
              <a:extLst>
                <a:ext uri="{FF2B5EF4-FFF2-40B4-BE49-F238E27FC236}">
                  <a16:creationId xmlns:a16="http://schemas.microsoft.com/office/drawing/2014/main" id="{4F38036D-FDA5-4614-A59C-6A43E7F9A218}"/>
                </a:ext>
              </a:extLst>
            </p:cNvPr>
            <p:cNvSpPr txBox="1"/>
            <p:nvPr/>
          </p:nvSpPr>
          <p:spPr>
            <a:xfrm>
              <a:off x="4176166" y="5293075"/>
              <a:ext cx="627227" cy="15943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600" b="1" i="0" u="none" strike="noStrike" kern="0" cap="none" spc="0" normalizeH="0" baseline="0" noProof="0" dirty="0">
                  <a:ln>
                    <a:noFill/>
                  </a:ln>
                  <a:effectLst/>
                  <a:uLnTx/>
                  <a:uFillTx/>
                  <a:latin typeface="맑은 고딕"/>
                  <a:ea typeface="맑은 고딕"/>
                </a:rPr>
                <a:t>SSD-Controller</a:t>
              </a:r>
              <a:endParaRPr kumimoji="0" lang="ko-KR" altLang="en-US" sz="600" b="1" i="0" u="none" strike="noStrike" kern="0" cap="none" spc="0" normalizeH="0" baseline="0" noProof="0" dirty="0">
                <a:ln>
                  <a:noFill/>
                </a:ln>
                <a:effectLst/>
                <a:uLnTx/>
                <a:uFillTx/>
                <a:latin typeface="맑은 고딕"/>
                <a:ea typeface="맑은 고딕"/>
              </a:endParaRPr>
            </a:p>
          </p:txBody>
        </p:sp>
        <p:sp>
          <p:nvSpPr>
            <p:cNvPr id="294" name="TextBox 293">
              <a:extLst>
                <a:ext uri="{FF2B5EF4-FFF2-40B4-BE49-F238E27FC236}">
                  <a16:creationId xmlns:a16="http://schemas.microsoft.com/office/drawing/2014/main" id="{0B47601B-6E3A-4AA6-B258-656B4F3F0D9D}"/>
                </a:ext>
              </a:extLst>
            </p:cNvPr>
            <p:cNvSpPr txBox="1"/>
            <p:nvPr/>
          </p:nvSpPr>
          <p:spPr>
            <a:xfrm>
              <a:off x="3886038" y="5611291"/>
              <a:ext cx="1217355" cy="265728"/>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SSD-PIM</a:t>
              </a:r>
            </a:p>
          </p:txBody>
        </p:sp>
        <p:sp>
          <p:nvSpPr>
            <p:cNvPr id="295" name="TextBox 294">
              <a:extLst>
                <a:ext uri="{FF2B5EF4-FFF2-40B4-BE49-F238E27FC236}">
                  <a16:creationId xmlns:a16="http://schemas.microsoft.com/office/drawing/2014/main" id="{2AC06CC5-227C-4D0F-BFA5-88CD0510D2BB}"/>
                </a:ext>
              </a:extLst>
            </p:cNvPr>
            <p:cNvSpPr txBox="1"/>
            <p:nvPr/>
          </p:nvSpPr>
          <p:spPr>
            <a:xfrm>
              <a:off x="4484978" y="4569785"/>
              <a:ext cx="615732" cy="186009"/>
            </a:xfrm>
            <a:prstGeom prst="rect">
              <a:avLst/>
            </a:prstGeom>
            <a:noFill/>
          </p:spPr>
          <p:txBody>
            <a:bodyPr wrap="square" rtlCol="0">
              <a:spAutoFit/>
            </a:bodyPr>
            <a:lstStyle/>
            <a:p>
              <a:pPr algn="ctr" defTabSz="914400"/>
              <a:r>
                <a:rPr lang="en-US" altLang="ko-KR" sz="800" b="1" dirty="0">
                  <a:solidFill>
                    <a:schemeClr val="bg1"/>
                  </a:solidFill>
                  <a:latin typeface="SAMSUNGONE-600C" panose="020B0503030303020204" pitchFamily="34" charset="-127"/>
                  <a:ea typeface="SAMSUNGONE-600C" panose="020B0503030303020204" pitchFamily="34" charset="-127"/>
                </a:rPr>
                <a:t>Top-view</a:t>
              </a:r>
            </a:p>
          </p:txBody>
        </p:sp>
        <p:sp>
          <p:nvSpPr>
            <p:cNvPr id="321" name="TextBox 320"/>
            <p:cNvSpPr txBox="1"/>
            <p:nvPr/>
          </p:nvSpPr>
          <p:spPr>
            <a:xfrm>
              <a:off x="3858335" y="5850121"/>
              <a:ext cx="1186362" cy="345446"/>
            </a:xfrm>
            <a:prstGeom prst="rect">
              <a:avLst/>
            </a:prstGeom>
            <a:noFill/>
          </p:spPr>
          <p:txBody>
            <a:bodyPr wrap="none" rtlCol="0">
              <a:spAutoFit/>
            </a:bodyPr>
            <a:lstStyle/>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In-Storage Computing</a:t>
              </a:r>
            </a:p>
            <a:p>
              <a:pPr algn="ctr" defTabSz="914400"/>
              <a:r>
                <a:rPr lang="en-US" altLang="ko-KR" sz="1000" b="1" dirty="0" err="1">
                  <a:solidFill>
                    <a:schemeClr val="bg1">
                      <a:lumMod val="50000"/>
                    </a:schemeClr>
                  </a:solidFill>
                  <a:latin typeface="SAMSUNGONE-600C" panose="020B0503030303020204" pitchFamily="34" charset="-127"/>
                  <a:ea typeface="SAMSUNGONE-600C" panose="020B0503030303020204" pitchFamily="34" charset="-127"/>
                </a:rPr>
                <a:t>tR</a:t>
              </a:r>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=30us</a:t>
              </a:r>
            </a:p>
          </p:txBody>
        </p:sp>
      </p:grpSp>
      <p:grpSp>
        <p:nvGrpSpPr>
          <p:cNvPr id="6" name="그룹 5"/>
          <p:cNvGrpSpPr/>
          <p:nvPr/>
        </p:nvGrpSpPr>
        <p:grpSpPr>
          <a:xfrm>
            <a:off x="2207460" y="2804101"/>
            <a:ext cx="1419032" cy="1409114"/>
            <a:chOff x="2207460" y="2804101"/>
            <a:chExt cx="1419032" cy="1409114"/>
          </a:xfrm>
        </p:grpSpPr>
        <p:grpSp>
          <p:nvGrpSpPr>
            <p:cNvPr id="10" name="그룹 9">
              <a:extLst>
                <a:ext uri="{FF2B5EF4-FFF2-40B4-BE49-F238E27FC236}">
                  <a16:creationId xmlns:a16="http://schemas.microsoft.com/office/drawing/2014/main" id="{922AF680-4216-49FB-977C-AC93862EEEBD}"/>
                </a:ext>
              </a:extLst>
            </p:cNvPr>
            <p:cNvGrpSpPr/>
            <p:nvPr/>
          </p:nvGrpSpPr>
          <p:grpSpPr>
            <a:xfrm>
              <a:off x="2283127" y="3262601"/>
              <a:ext cx="1142071" cy="333944"/>
              <a:chOff x="8551438" y="4973135"/>
              <a:chExt cx="1437126" cy="383061"/>
            </a:xfrm>
          </p:grpSpPr>
          <p:sp>
            <p:nvSpPr>
              <p:cNvPr id="11" name="Oval 630">
                <a:extLst>
                  <a:ext uri="{FF2B5EF4-FFF2-40B4-BE49-F238E27FC236}">
                    <a16:creationId xmlns:a16="http://schemas.microsoft.com/office/drawing/2014/main" id="{FE95721B-E3DB-41C3-B5D8-A0FC99569B8F}"/>
                  </a:ext>
                </a:extLst>
              </p:cNvPr>
              <p:cNvSpPr>
                <a:spLocks noChangeArrowheads="1"/>
              </p:cNvSpPr>
              <p:nvPr/>
            </p:nvSpPr>
            <p:spPr bwMode="auto">
              <a:xfrm>
                <a:off x="8669215"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2" name="Oval 630">
                <a:extLst>
                  <a:ext uri="{FF2B5EF4-FFF2-40B4-BE49-F238E27FC236}">
                    <a16:creationId xmlns:a16="http://schemas.microsoft.com/office/drawing/2014/main" id="{4C1387EF-33AA-486B-81E5-66DC7A938155}"/>
                  </a:ext>
                </a:extLst>
              </p:cNvPr>
              <p:cNvSpPr>
                <a:spLocks noChangeArrowheads="1"/>
              </p:cNvSpPr>
              <p:nvPr/>
            </p:nvSpPr>
            <p:spPr bwMode="auto">
              <a:xfrm>
                <a:off x="878771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3" name="Oval 630">
                <a:extLst>
                  <a:ext uri="{FF2B5EF4-FFF2-40B4-BE49-F238E27FC236}">
                    <a16:creationId xmlns:a16="http://schemas.microsoft.com/office/drawing/2014/main" id="{31154D99-33B2-4BB8-B156-0A708CB922DD}"/>
                  </a:ext>
                </a:extLst>
              </p:cNvPr>
              <p:cNvSpPr>
                <a:spLocks noChangeArrowheads="1"/>
              </p:cNvSpPr>
              <p:nvPr/>
            </p:nvSpPr>
            <p:spPr bwMode="auto">
              <a:xfrm>
                <a:off x="890837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4" name="Oval 630">
                <a:extLst>
                  <a:ext uri="{FF2B5EF4-FFF2-40B4-BE49-F238E27FC236}">
                    <a16:creationId xmlns:a16="http://schemas.microsoft.com/office/drawing/2014/main" id="{F608C7F4-1934-40A0-806D-F8580D06CDAD}"/>
                  </a:ext>
                </a:extLst>
              </p:cNvPr>
              <p:cNvSpPr>
                <a:spLocks noChangeArrowheads="1"/>
              </p:cNvSpPr>
              <p:nvPr/>
            </p:nvSpPr>
            <p:spPr bwMode="auto">
              <a:xfrm>
                <a:off x="902790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5" name="Oval 630">
                <a:extLst>
                  <a:ext uri="{FF2B5EF4-FFF2-40B4-BE49-F238E27FC236}">
                    <a16:creationId xmlns:a16="http://schemas.microsoft.com/office/drawing/2014/main" id="{7F290A92-902E-4AD6-85BD-077FCBA792E2}"/>
                  </a:ext>
                </a:extLst>
              </p:cNvPr>
              <p:cNvSpPr>
                <a:spLocks noChangeArrowheads="1"/>
              </p:cNvSpPr>
              <p:nvPr/>
            </p:nvSpPr>
            <p:spPr bwMode="auto">
              <a:xfrm>
                <a:off x="914742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6" name="Oval 630">
                <a:extLst>
                  <a:ext uri="{FF2B5EF4-FFF2-40B4-BE49-F238E27FC236}">
                    <a16:creationId xmlns:a16="http://schemas.microsoft.com/office/drawing/2014/main" id="{31755BF1-622E-4EF0-99CD-7F4F6D47B564}"/>
                  </a:ext>
                </a:extLst>
              </p:cNvPr>
              <p:cNvSpPr>
                <a:spLocks noChangeArrowheads="1"/>
              </p:cNvSpPr>
              <p:nvPr/>
            </p:nvSpPr>
            <p:spPr bwMode="auto">
              <a:xfrm>
                <a:off x="9265922"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7" name="Oval 630">
                <a:extLst>
                  <a:ext uri="{FF2B5EF4-FFF2-40B4-BE49-F238E27FC236}">
                    <a16:creationId xmlns:a16="http://schemas.microsoft.com/office/drawing/2014/main" id="{01E36251-2410-4027-AC91-2ED57F08C9A4}"/>
                  </a:ext>
                </a:extLst>
              </p:cNvPr>
              <p:cNvSpPr>
                <a:spLocks noChangeArrowheads="1"/>
              </p:cNvSpPr>
              <p:nvPr/>
            </p:nvSpPr>
            <p:spPr bwMode="auto">
              <a:xfrm>
                <a:off x="9382200"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8" name="Oval 630">
                <a:extLst>
                  <a:ext uri="{FF2B5EF4-FFF2-40B4-BE49-F238E27FC236}">
                    <a16:creationId xmlns:a16="http://schemas.microsoft.com/office/drawing/2014/main" id="{C448ADE8-B5BE-4D0B-A053-662E21C1E9BE}"/>
                  </a:ext>
                </a:extLst>
              </p:cNvPr>
              <p:cNvSpPr>
                <a:spLocks noChangeArrowheads="1"/>
              </p:cNvSpPr>
              <p:nvPr/>
            </p:nvSpPr>
            <p:spPr bwMode="auto">
              <a:xfrm>
                <a:off x="950172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19" name="Oval 630">
                <a:extLst>
                  <a:ext uri="{FF2B5EF4-FFF2-40B4-BE49-F238E27FC236}">
                    <a16:creationId xmlns:a16="http://schemas.microsoft.com/office/drawing/2014/main" id="{FD0EF462-C825-4686-A4DA-8C8B58AE8AD8}"/>
                  </a:ext>
                </a:extLst>
              </p:cNvPr>
              <p:cNvSpPr>
                <a:spLocks noChangeArrowheads="1"/>
              </p:cNvSpPr>
              <p:nvPr/>
            </p:nvSpPr>
            <p:spPr bwMode="auto">
              <a:xfrm>
                <a:off x="9621244"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0" name="Oval 630">
                <a:extLst>
                  <a:ext uri="{FF2B5EF4-FFF2-40B4-BE49-F238E27FC236}">
                    <a16:creationId xmlns:a16="http://schemas.microsoft.com/office/drawing/2014/main" id="{4F012C95-4CEC-4A82-8386-D7DCD78086BA}"/>
                  </a:ext>
                </a:extLst>
              </p:cNvPr>
              <p:cNvSpPr>
                <a:spLocks noChangeArrowheads="1"/>
              </p:cNvSpPr>
              <p:nvPr/>
            </p:nvSpPr>
            <p:spPr bwMode="auto">
              <a:xfrm>
                <a:off x="9739743"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1" name="Oval 630">
                <a:extLst>
                  <a:ext uri="{FF2B5EF4-FFF2-40B4-BE49-F238E27FC236}">
                    <a16:creationId xmlns:a16="http://schemas.microsoft.com/office/drawing/2014/main" id="{44960D97-CF69-4307-BFC0-2D32BD0A5563}"/>
                  </a:ext>
                </a:extLst>
              </p:cNvPr>
              <p:cNvSpPr>
                <a:spLocks noChangeArrowheads="1"/>
              </p:cNvSpPr>
              <p:nvPr/>
            </p:nvSpPr>
            <p:spPr bwMode="auto">
              <a:xfrm>
                <a:off x="9856229" y="5046703"/>
                <a:ext cx="69824" cy="72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2" name="직사각형 21">
                <a:extLst>
                  <a:ext uri="{FF2B5EF4-FFF2-40B4-BE49-F238E27FC236}">
                    <a16:creationId xmlns:a16="http://schemas.microsoft.com/office/drawing/2014/main" id="{E0AE8799-DE32-4860-BAF9-CEBB50D996E5}"/>
                  </a:ext>
                </a:extLst>
              </p:cNvPr>
              <p:cNvSpPr/>
              <p:nvPr/>
            </p:nvSpPr>
            <p:spPr>
              <a:xfrm>
                <a:off x="8618446" y="4973135"/>
                <a:ext cx="1327561" cy="103876"/>
              </a:xfrm>
              <a:prstGeom prst="rect">
                <a:avLst/>
              </a:prstGeom>
              <a:solidFill>
                <a:srgbClr val="8093DC">
                  <a:lumMod val="20000"/>
                  <a:lumOff val="80000"/>
                </a:srgbClr>
              </a:solidFill>
              <a:ln w="6350" cap="flat" cmpd="sng" algn="ctr">
                <a:solidFill>
                  <a:srgbClr val="FFFFFF">
                    <a:lumMod val="50000"/>
                  </a:srgbClr>
                </a:solidFill>
                <a:prstDash val="solid"/>
                <a:miter lim="800000"/>
              </a:ln>
              <a:effectLst/>
            </p:spPr>
            <p:txBody>
              <a:bodyPr lIns="72000" tIns="36000" rIns="72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rPr>
                  <a:t>Interposer</a:t>
                </a:r>
                <a:endParaRPr kumimoji="0" lang="ko-KR" altLang="en-US"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sp>
            <p:nvSpPr>
              <p:cNvPr id="23" name="Oval 630">
                <a:extLst>
                  <a:ext uri="{FF2B5EF4-FFF2-40B4-BE49-F238E27FC236}">
                    <a16:creationId xmlns:a16="http://schemas.microsoft.com/office/drawing/2014/main" id="{123F2906-E13A-4DB9-877E-6E1C1D8F798D}"/>
                  </a:ext>
                </a:extLst>
              </p:cNvPr>
              <p:cNvSpPr>
                <a:spLocks noChangeArrowheads="1"/>
              </p:cNvSpPr>
              <p:nvPr/>
            </p:nvSpPr>
            <p:spPr bwMode="auto">
              <a:xfrm>
                <a:off x="856918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4" name="Oval 630">
                <a:extLst>
                  <a:ext uri="{FF2B5EF4-FFF2-40B4-BE49-F238E27FC236}">
                    <a16:creationId xmlns:a16="http://schemas.microsoft.com/office/drawing/2014/main" id="{7EC3BC25-73CB-432C-AE62-C964578F0378}"/>
                  </a:ext>
                </a:extLst>
              </p:cNvPr>
              <p:cNvSpPr>
                <a:spLocks noChangeArrowheads="1"/>
              </p:cNvSpPr>
              <p:nvPr/>
            </p:nvSpPr>
            <p:spPr bwMode="auto">
              <a:xfrm>
                <a:off x="874847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5" name="Oval 630">
                <a:extLst>
                  <a:ext uri="{FF2B5EF4-FFF2-40B4-BE49-F238E27FC236}">
                    <a16:creationId xmlns:a16="http://schemas.microsoft.com/office/drawing/2014/main" id="{F1373D0F-8302-49AE-80D6-CCEA956E83F2}"/>
                  </a:ext>
                </a:extLst>
              </p:cNvPr>
              <p:cNvSpPr>
                <a:spLocks noChangeArrowheads="1"/>
              </p:cNvSpPr>
              <p:nvPr/>
            </p:nvSpPr>
            <p:spPr bwMode="auto">
              <a:xfrm>
                <a:off x="8927760"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6" name="Oval 630">
                <a:extLst>
                  <a:ext uri="{FF2B5EF4-FFF2-40B4-BE49-F238E27FC236}">
                    <a16:creationId xmlns:a16="http://schemas.microsoft.com/office/drawing/2014/main" id="{09A7010C-C1CD-479C-9FCE-B8EF7CCDE8DA}"/>
                  </a:ext>
                </a:extLst>
              </p:cNvPr>
              <p:cNvSpPr>
                <a:spLocks noChangeArrowheads="1"/>
              </p:cNvSpPr>
              <p:nvPr/>
            </p:nvSpPr>
            <p:spPr bwMode="auto">
              <a:xfrm>
                <a:off x="9107046"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7" name="Oval 630">
                <a:extLst>
                  <a:ext uri="{FF2B5EF4-FFF2-40B4-BE49-F238E27FC236}">
                    <a16:creationId xmlns:a16="http://schemas.microsoft.com/office/drawing/2014/main" id="{560C3C89-BC2D-43B7-A2EC-B4926847C03E}"/>
                  </a:ext>
                </a:extLst>
              </p:cNvPr>
              <p:cNvSpPr>
                <a:spLocks noChangeArrowheads="1"/>
              </p:cNvSpPr>
              <p:nvPr/>
            </p:nvSpPr>
            <p:spPr bwMode="auto">
              <a:xfrm>
                <a:off x="928633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8" name="Oval 630">
                <a:extLst>
                  <a:ext uri="{FF2B5EF4-FFF2-40B4-BE49-F238E27FC236}">
                    <a16:creationId xmlns:a16="http://schemas.microsoft.com/office/drawing/2014/main" id="{EB0F3EBC-420D-4552-ADE4-82A9522D7428}"/>
                  </a:ext>
                </a:extLst>
              </p:cNvPr>
              <p:cNvSpPr>
                <a:spLocks noChangeArrowheads="1"/>
              </p:cNvSpPr>
              <p:nvPr/>
            </p:nvSpPr>
            <p:spPr bwMode="auto">
              <a:xfrm>
                <a:off x="9465618"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29" name="Oval 630">
                <a:extLst>
                  <a:ext uri="{FF2B5EF4-FFF2-40B4-BE49-F238E27FC236}">
                    <a16:creationId xmlns:a16="http://schemas.microsoft.com/office/drawing/2014/main" id="{9FAFB9CB-7E5D-4A52-9165-F572BA0892D1}"/>
                  </a:ext>
                </a:extLst>
              </p:cNvPr>
              <p:cNvSpPr>
                <a:spLocks noChangeArrowheads="1"/>
              </p:cNvSpPr>
              <p:nvPr/>
            </p:nvSpPr>
            <p:spPr bwMode="auto">
              <a:xfrm>
                <a:off x="9644904"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0" name="Oval 630">
                <a:extLst>
                  <a:ext uri="{FF2B5EF4-FFF2-40B4-BE49-F238E27FC236}">
                    <a16:creationId xmlns:a16="http://schemas.microsoft.com/office/drawing/2014/main" id="{A53EA15D-B620-4FA3-8206-6AA661EF9829}"/>
                  </a:ext>
                </a:extLst>
              </p:cNvPr>
              <p:cNvSpPr>
                <a:spLocks noChangeArrowheads="1"/>
              </p:cNvSpPr>
              <p:nvPr/>
            </p:nvSpPr>
            <p:spPr bwMode="auto">
              <a:xfrm>
                <a:off x="9824192" y="5230196"/>
                <a:ext cx="126000" cy="126000"/>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31" name="직사각형 30">
                <a:extLst>
                  <a:ext uri="{FF2B5EF4-FFF2-40B4-BE49-F238E27FC236}">
                    <a16:creationId xmlns:a16="http://schemas.microsoft.com/office/drawing/2014/main" id="{98534486-3FF2-4798-A4CE-E0BB3B67295D}"/>
                  </a:ext>
                </a:extLst>
              </p:cNvPr>
              <p:cNvSpPr/>
              <p:nvPr/>
            </p:nvSpPr>
            <p:spPr>
              <a:xfrm>
                <a:off x="8551438" y="5115476"/>
                <a:ext cx="1437126" cy="160498"/>
              </a:xfrm>
              <a:prstGeom prst="rect">
                <a:avLst/>
              </a:prstGeom>
              <a:solidFill>
                <a:srgbClr val="C1E698"/>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Substrate</a:t>
                </a:r>
                <a:endParaRPr kumimoji="0" lang="ko-KR" altLang="en-US" sz="9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grpSp>
        <p:grpSp>
          <p:nvGrpSpPr>
            <p:cNvPr id="32" name="그룹 31">
              <a:extLst>
                <a:ext uri="{FF2B5EF4-FFF2-40B4-BE49-F238E27FC236}">
                  <a16:creationId xmlns:a16="http://schemas.microsoft.com/office/drawing/2014/main" id="{EC6AB9A5-0A84-4440-985F-EC0C82B9C179}"/>
                </a:ext>
              </a:extLst>
            </p:cNvPr>
            <p:cNvGrpSpPr/>
            <p:nvPr/>
          </p:nvGrpSpPr>
          <p:grpSpPr>
            <a:xfrm>
              <a:off x="2563951" y="2876050"/>
              <a:ext cx="735310" cy="379466"/>
              <a:chOff x="9137059" y="2047229"/>
              <a:chExt cx="1316315" cy="1011341"/>
            </a:xfrm>
          </p:grpSpPr>
          <p:sp>
            <p:nvSpPr>
              <p:cNvPr id="33" name="직사각형 32">
                <a:extLst>
                  <a:ext uri="{FF2B5EF4-FFF2-40B4-BE49-F238E27FC236}">
                    <a16:creationId xmlns:a16="http://schemas.microsoft.com/office/drawing/2014/main" id="{951391F7-27CF-4149-A576-943F398DF436}"/>
                  </a:ext>
                </a:extLst>
              </p:cNvPr>
              <p:cNvSpPr/>
              <p:nvPr/>
            </p:nvSpPr>
            <p:spPr>
              <a:xfrm>
                <a:off x="9243425" y="267113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34" name="직사각형 33">
                <a:extLst>
                  <a:ext uri="{FF2B5EF4-FFF2-40B4-BE49-F238E27FC236}">
                    <a16:creationId xmlns:a16="http://schemas.microsoft.com/office/drawing/2014/main" id="{3663FCE1-C90C-4D51-92A2-E368C0A07FA7}"/>
                  </a:ext>
                </a:extLst>
              </p:cNvPr>
              <p:cNvSpPr/>
              <p:nvPr/>
            </p:nvSpPr>
            <p:spPr>
              <a:xfrm>
                <a:off x="9243425" y="247941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35" name="직사각형 34">
                <a:extLst>
                  <a:ext uri="{FF2B5EF4-FFF2-40B4-BE49-F238E27FC236}">
                    <a16:creationId xmlns:a16="http://schemas.microsoft.com/office/drawing/2014/main" id="{94A03D57-DB05-4E71-A92F-BC2948E696EA}"/>
                  </a:ext>
                </a:extLst>
              </p:cNvPr>
              <p:cNvSpPr/>
              <p:nvPr/>
            </p:nvSpPr>
            <p:spPr>
              <a:xfrm>
                <a:off x="9243424" y="2282158"/>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36" name="직사각형 35">
                <a:extLst>
                  <a:ext uri="{FF2B5EF4-FFF2-40B4-BE49-F238E27FC236}">
                    <a16:creationId xmlns:a16="http://schemas.microsoft.com/office/drawing/2014/main" id="{547CB63D-17B5-4B75-B8F9-01FC8ACE4B48}"/>
                  </a:ext>
                </a:extLst>
              </p:cNvPr>
              <p:cNvSpPr/>
              <p:nvPr/>
            </p:nvSpPr>
            <p:spPr>
              <a:xfrm>
                <a:off x="9243425" y="2047229"/>
                <a:ext cx="1107300" cy="238308"/>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37" name="직선 연결선 36">
                <a:extLst>
                  <a:ext uri="{FF2B5EF4-FFF2-40B4-BE49-F238E27FC236}">
                    <a16:creationId xmlns:a16="http://schemas.microsoft.com/office/drawing/2014/main" id="{BB051AF0-F184-46C3-9C8C-0FC7D1D6C234}"/>
                  </a:ext>
                </a:extLst>
              </p:cNvPr>
              <p:cNvCxnSpPr/>
              <p:nvPr/>
            </p:nvCxnSpPr>
            <p:spPr>
              <a:xfrm>
                <a:off x="9236393" y="3026519"/>
                <a:ext cx="1114332" cy="0"/>
              </a:xfrm>
              <a:prstGeom prst="line">
                <a:avLst/>
              </a:prstGeom>
              <a:solidFill>
                <a:srgbClr val="4472C4"/>
              </a:solidFill>
              <a:ln w="19050" cap="flat" cmpd="sng" algn="ctr">
                <a:solidFill>
                  <a:srgbClr val="FFC000"/>
                </a:solidFill>
                <a:prstDash val="solid"/>
                <a:miter lim="800000"/>
              </a:ln>
              <a:effectLst/>
            </p:spPr>
          </p:cxnSp>
          <p:cxnSp>
            <p:nvCxnSpPr>
              <p:cNvPr id="38" name="직선 연결선 37">
                <a:extLst>
                  <a:ext uri="{FF2B5EF4-FFF2-40B4-BE49-F238E27FC236}">
                    <a16:creationId xmlns:a16="http://schemas.microsoft.com/office/drawing/2014/main" id="{03A9C166-4273-4DAC-B8AD-F81A05BAAA50}"/>
                  </a:ext>
                </a:extLst>
              </p:cNvPr>
              <p:cNvCxnSpPr/>
              <p:nvPr/>
            </p:nvCxnSpPr>
            <p:spPr>
              <a:xfrm>
                <a:off x="10256045" y="2686299"/>
                <a:ext cx="0" cy="156980"/>
              </a:xfrm>
              <a:prstGeom prst="line">
                <a:avLst/>
              </a:prstGeom>
              <a:solidFill>
                <a:srgbClr val="4472C4"/>
              </a:solidFill>
              <a:ln w="28575" cap="flat" cmpd="sng" algn="ctr">
                <a:solidFill>
                  <a:srgbClr val="FFFF00"/>
                </a:solidFill>
                <a:prstDash val="solid"/>
              </a:ln>
              <a:effectLst/>
            </p:spPr>
          </p:cxnSp>
          <p:cxnSp>
            <p:nvCxnSpPr>
              <p:cNvPr id="39" name="직선 연결선 38">
                <a:extLst>
                  <a:ext uri="{FF2B5EF4-FFF2-40B4-BE49-F238E27FC236}">
                    <a16:creationId xmlns:a16="http://schemas.microsoft.com/office/drawing/2014/main" id="{9AE7B2A2-7B6E-45EC-BD3D-7321874DFBDD}"/>
                  </a:ext>
                </a:extLst>
              </p:cNvPr>
              <p:cNvCxnSpPr/>
              <p:nvPr/>
            </p:nvCxnSpPr>
            <p:spPr>
              <a:xfrm>
                <a:off x="10160360" y="2686299"/>
                <a:ext cx="0" cy="156980"/>
              </a:xfrm>
              <a:prstGeom prst="line">
                <a:avLst/>
              </a:prstGeom>
              <a:solidFill>
                <a:srgbClr val="4472C4"/>
              </a:solidFill>
              <a:ln w="28575" cap="flat" cmpd="sng" algn="ctr">
                <a:solidFill>
                  <a:srgbClr val="FFFF00"/>
                </a:solidFill>
                <a:prstDash val="solid"/>
              </a:ln>
              <a:effectLst/>
            </p:spPr>
          </p:cxnSp>
          <p:cxnSp>
            <p:nvCxnSpPr>
              <p:cNvPr id="40" name="직선 연결선 39">
                <a:extLst>
                  <a:ext uri="{FF2B5EF4-FFF2-40B4-BE49-F238E27FC236}">
                    <a16:creationId xmlns:a16="http://schemas.microsoft.com/office/drawing/2014/main" id="{A0FC17DF-5DBE-400F-A69E-D836CBDE3B07}"/>
                  </a:ext>
                </a:extLst>
              </p:cNvPr>
              <p:cNvCxnSpPr/>
              <p:nvPr/>
            </p:nvCxnSpPr>
            <p:spPr>
              <a:xfrm>
                <a:off x="9443245" y="2686299"/>
                <a:ext cx="0" cy="156980"/>
              </a:xfrm>
              <a:prstGeom prst="line">
                <a:avLst/>
              </a:prstGeom>
              <a:solidFill>
                <a:srgbClr val="4472C4"/>
              </a:solidFill>
              <a:ln w="28575" cap="flat" cmpd="sng" algn="ctr">
                <a:solidFill>
                  <a:srgbClr val="FFFF00"/>
                </a:solidFill>
                <a:prstDash val="solid"/>
              </a:ln>
              <a:effectLst/>
            </p:spPr>
          </p:cxnSp>
          <p:cxnSp>
            <p:nvCxnSpPr>
              <p:cNvPr id="41" name="직선 연결선 40">
                <a:extLst>
                  <a:ext uri="{FF2B5EF4-FFF2-40B4-BE49-F238E27FC236}">
                    <a16:creationId xmlns:a16="http://schemas.microsoft.com/office/drawing/2014/main" id="{971245C7-F40B-4564-917C-2F4B1E62A38D}"/>
                  </a:ext>
                </a:extLst>
              </p:cNvPr>
              <p:cNvCxnSpPr/>
              <p:nvPr/>
            </p:nvCxnSpPr>
            <p:spPr>
              <a:xfrm>
                <a:off x="9347560" y="2686299"/>
                <a:ext cx="0" cy="156980"/>
              </a:xfrm>
              <a:prstGeom prst="line">
                <a:avLst/>
              </a:prstGeom>
              <a:solidFill>
                <a:srgbClr val="4472C4"/>
              </a:solidFill>
              <a:ln w="28575" cap="flat" cmpd="sng" algn="ctr">
                <a:solidFill>
                  <a:srgbClr val="FFFF00"/>
                </a:solidFill>
                <a:prstDash val="solid"/>
              </a:ln>
              <a:effectLst/>
            </p:spPr>
          </p:cxnSp>
          <p:cxnSp>
            <p:nvCxnSpPr>
              <p:cNvPr id="42" name="직선 연결선 41">
                <a:extLst>
                  <a:ext uri="{FF2B5EF4-FFF2-40B4-BE49-F238E27FC236}">
                    <a16:creationId xmlns:a16="http://schemas.microsoft.com/office/drawing/2014/main" id="{98708845-6E44-484D-8DA3-33AD4E90D01F}"/>
                  </a:ext>
                </a:extLst>
              </p:cNvPr>
              <p:cNvCxnSpPr/>
              <p:nvPr/>
            </p:nvCxnSpPr>
            <p:spPr>
              <a:xfrm>
                <a:off x="10256045" y="2495097"/>
                <a:ext cx="0" cy="156980"/>
              </a:xfrm>
              <a:prstGeom prst="line">
                <a:avLst/>
              </a:prstGeom>
              <a:solidFill>
                <a:srgbClr val="4472C4"/>
              </a:solidFill>
              <a:ln w="28575" cap="flat" cmpd="sng" algn="ctr">
                <a:solidFill>
                  <a:srgbClr val="FFFF00"/>
                </a:solidFill>
                <a:prstDash val="solid"/>
              </a:ln>
              <a:effectLst/>
            </p:spPr>
          </p:cxnSp>
          <p:cxnSp>
            <p:nvCxnSpPr>
              <p:cNvPr id="43" name="직선 연결선 42">
                <a:extLst>
                  <a:ext uri="{FF2B5EF4-FFF2-40B4-BE49-F238E27FC236}">
                    <a16:creationId xmlns:a16="http://schemas.microsoft.com/office/drawing/2014/main" id="{82785CB7-94EE-4AD6-8042-98CAC6D36F53}"/>
                  </a:ext>
                </a:extLst>
              </p:cNvPr>
              <p:cNvCxnSpPr/>
              <p:nvPr/>
            </p:nvCxnSpPr>
            <p:spPr>
              <a:xfrm>
                <a:off x="10160360" y="2495097"/>
                <a:ext cx="0" cy="156980"/>
              </a:xfrm>
              <a:prstGeom prst="line">
                <a:avLst/>
              </a:prstGeom>
              <a:solidFill>
                <a:srgbClr val="4472C4"/>
              </a:solidFill>
              <a:ln w="28575" cap="flat" cmpd="sng" algn="ctr">
                <a:solidFill>
                  <a:srgbClr val="FFFF00"/>
                </a:solidFill>
                <a:prstDash val="solid"/>
              </a:ln>
              <a:effectLst/>
            </p:spPr>
          </p:cxnSp>
          <p:cxnSp>
            <p:nvCxnSpPr>
              <p:cNvPr id="44" name="직선 연결선 43">
                <a:extLst>
                  <a:ext uri="{FF2B5EF4-FFF2-40B4-BE49-F238E27FC236}">
                    <a16:creationId xmlns:a16="http://schemas.microsoft.com/office/drawing/2014/main" id="{D7019317-1808-471C-A15B-BF85F9694498}"/>
                  </a:ext>
                </a:extLst>
              </p:cNvPr>
              <p:cNvCxnSpPr/>
              <p:nvPr/>
            </p:nvCxnSpPr>
            <p:spPr>
              <a:xfrm>
                <a:off x="9443245" y="2495097"/>
                <a:ext cx="0" cy="156980"/>
              </a:xfrm>
              <a:prstGeom prst="line">
                <a:avLst/>
              </a:prstGeom>
              <a:solidFill>
                <a:srgbClr val="4472C4"/>
              </a:solidFill>
              <a:ln w="28575" cap="flat" cmpd="sng" algn="ctr">
                <a:solidFill>
                  <a:srgbClr val="FFFF00"/>
                </a:solidFill>
                <a:prstDash val="solid"/>
              </a:ln>
              <a:effectLst/>
            </p:spPr>
          </p:cxnSp>
          <p:cxnSp>
            <p:nvCxnSpPr>
              <p:cNvPr id="45" name="직선 연결선 44">
                <a:extLst>
                  <a:ext uri="{FF2B5EF4-FFF2-40B4-BE49-F238E27FC236}">
                    <a16:creationId xmlns:a16="http://schemas.microsoft.com/office/drawing/2014/main" id="{CEB25033-5C31-46FC-8D15-415C87C9450C}"/>
                  </a:ext>
                </a:extLst>
              </p:cNvPr>
              <p:cNvCxnSpPr/>
              <p:nvPr/>
            </p:nvCxnSpPr>
            <p:spPr>
              <a:xfrm>
                <a:off x="9347560" y="2495097"/>
                <a:ext cx="0" cy="156980"/>
              </a:xfrm>
              <a:prstGeom prst="line">
                <a:avLst/>
              </a:prstGeom>
              <a:solidFill>
                <a:srgbClr val="4472C4"/>
              </a:solidFill>
              <a:ln w="28575" cap="flat" cmpd="sng" algn="ctr">
                <a:solidFill>
                  <a:srgbClr val="FFFF00"/>
                </a:solidFill>
                <a:prstDash val="solid"/>
              </a:ln>
              <a:effectLst/>
            </p:spPr>
          </p:cxnSp>
          <p:cxnSp>
            <p:nvCxnSpPr>
              <p:cNvPr id="46" name="직선 연결선 45">
                <a:extLst>
                  <a:ext uri="{FF2B5EF4-FFF2-40B4-BE49-F238E27FC236}">
                    <a16:creationId xmlns:a16="http://schemas.microsoft.com/office/drawing/2014/main" id="{34F6EC33-C7D8-472C-A451-82F1C968455B}"/>
                  </a:ext>
                </a:extLst>
              </p:cNvPr>
              <p:cNvCxnSpPr/>
              <p:nvPr/>
            </p:nvCxnSpPr>
            <p:spPr>
              <a:xfrm>
                <a:off x="10256045" y="2288230"/>
                <a:ext cx="0" cy="156980"/>
              </a:xfrm>
              <a:prstGeom prst="line">
                <a:avLst/>
              </a:prstGeom>
              <a:solidFill>
                <a:srgbClr val="4472C4"/>
              </a:solidFill>
              <a:ln w="28575" cap="flat" cmpd="sng" algn="ctr">
                <a:solidFill>
                  <a:srgbClr val="FFFF00"/>
                </a:solidFill>
                <a:prstDash val="solid"/>
              </a:ln>
              <a:effectLst/>
            </p:spPr>
          </p:cxnSp>
          <p:cxnSp>
            <p:nvCxnSpPr>
              <p:cNvPr id="47" name="직선 연결선 46">
                <a:extLst>
                  <a:ext uri="{FF2B5EF4-FFF2-40B4-BE49-F238E27FC236}">
                    <a16:creationId xmlns:a16="http://schemas.microsoft.com/office/drawing/2014/main" id="{3F871DD9-A40C-400E-A147-2FE2B1CBC8AA}"/>
                  </a:ext>
                </a:extLst>
              </p:cNvPr>
              <p:cNvCxnSpPr/>
              <p:nvPr/>
            </p:nvCxnSpPr>
            <p:spPr>
              <a:xfrm>
                <a:off x="10160360" y="2288230"/>
                <a:ext cx="0" cy="156980"/>
              </a:xfrm>
              <a:prstGeom prst="line">
                <a:avLst/>
              </a:prstGeom>
              <a:solidFill>
                <a:srgbClr val="4472C4"/>
              </a:solidFill>
              <a:ln w="28575" cap="flat" cmpd="sng" algn="ctr">
                <a:solidFill>
                  <a:srgbClr val="FFFF00"/>
                </a:solidFill>
                <a:prstDash val="solid"/>
              </a:ln>
              <a:effectLst/>
            </p:spPr>
          </p:cxnSp>
          <p:cxnSp>
            <p:nvCxnSpPr>
              <p:cNvPr id="48" name="직선 연결선 47">
                <a:extLst>
                  <a:ext uri="{FF2B5EF4-FFF2-40B4-BE49-F238E27FC236}">
                    <a16:creationId xmlns:a16="http://schemas.microsoft.com/office/drawing/2014/main" id="{6DF1783E-500E-4806-8D40-9081418B7161}"/>
                  </a:ext>
                </a:extLst>
              </p:cNvPr>
              <p:cNvCxnSpPr/>
              <p:nvPr/>
            </p:nvCxnSpPr>
            <p:spPr>
              <a:xfrm>
                <a:off x="9443245" y="2288230"/>
                <a:ext cx="0" cy="156980"/>
              </a:xfrm>
              <a:prstGeom prst="line">
                <a:avLst/>
              </a:prstGeom>
              <a:solidFill>
                <a:srgbClr val="4472C4"/>
              </a:solidFill>
              <a:ln w="28575" cap="flat" cmpd="sng" algn="ctr">
                <a:solidFill>
                  <a:srgbClr val="FFFF00"/>
                </a:solidFill>
                <a:prstDash val="solid"/>
              </a:ln>
              <a:effectLst/>
            </p:spPr>
          </p:cxnSp>
          <p:cxnSp>
            <p:nvCxnSpPr>
              <p:cNvPr id="49" name="직선 연결선 48">
                <a:extLst>
                  <a:ext uri="{FF2B5EF4-FFF2-40B4-BE49-F238E27FC236}">
                    <a16:creationId xmlns:a16="http://schemas.microsoft.com/office/drawing/2014/main" id="{644F426A-C4A1-4CE7-81B3-C7F9F5301C0F}"/>
                  </a:ext>
                </a:extLst>
              </p:cNvPr>
              <p:cNvCxnSpPr/>
              <p:nvPr/>
            </p:nvCxnSpPr>
            <p:spPr>
              <a:xfrm>
                <a:off x="9347560" y="2288230"/>
                <a:ext cx="0" cy="156980"/>
              </a:xfrm>
              <a:prstGeom prst="line">
                <a:avLst/>
              </a:prstGeom>
              <a:solidFill>
                <a:srgbClr val="4472C4"/>
              </a:solidFill>
              <a:ln w="28575" cap="flat" cmpd="sng" algn="ctr">
                <a:solidFill>
                  <a:srgbClr val="FFFF00"/>
                </a:solidFill>
                <a:prstDash val="solid"/>
              </a:ln>
              <a:effectLst/>
            </p:spPr>
          </p:cxnSp>
          <p:sp>
            <p:nvSpPr>
              <p:cNvPr id="50" name="직사각형 49">
                <a:extLst>
                  <a:ext uri="{FF2B5EF4-FFF2-40B4-BE49-F238E27FC236}">
                    <a16:creationId xmlns:a16="http://schemas.microsoft.com/office/drawing/2014/main" id="{684ADD1A-5C58-4B17-8D47-E97243ABBEAD}"/>
                  </a:ext>
                </a:extLst>
              </p:cNvPr>
              <p:cNvSpPr/>
              <p:nvPr/>
            </p:nvSpPr>
            <p:spPr>
              <a:xfrm>
                <a:off x="9137059" y="2863475"/>
                <a:ext cx="1316315" cy="195095"/>
              </a:xfrm>
              <a:prstGeom prst="rect">
                <a:avLst/>
              </a:prstGeom>
              <a:solidFill>
                <a:srgbClr val="FFC000">
                  <a:lumMod val="40000"/>
                  <a:lumOff val="60000"/>
                </a:srgb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B-die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51" name="직선 연결선 50">
                <a:extLst>
                  <a:ext uri="{FF2B5EF4-FFF2-40B4-BE49-F238E27FC236}">
                    <a16:creationId xmlns:a16="http://schemas.microsoft.com/office/drawing/2014/main" id="{A664F2CC-21FF-4F28-8D4D-D87CFDABB79E}"/>
                  </a:ext>
                </a:extLst>
              </p:cNvPr>
              <p:cNvCxnSpPr/>
              <p:nvPr/>
            </p:nvCxnSpPr>
            <p:spPr>
              <a:xfrm>
                <a:off x="10256045" y="2878635"/>
                <a:ext cx="0" cy="156980"/>
              </a:xfrm>
              <a:prstGeom prst="line">
                <a:avLst/>
              </a:prstGeom>
              <a:solidFill>
                <a:srgbClr val="4472C4"/>
              </a:solidFill>
              <a:ln w="28575" cap="flat" cmpd="sng" algn="ctr">
                <a:solidFill>
                  <a:srgbClr val="FFFF00"/>
                </a:solidFill>
                <a:prstDash val="solid"/>
              </a:ln>
              <a:effectLst/>
            </p:spPr>
          </p:cxnSp>
          <p:cxnSp>
            <p:nvCxnSpPr>
              <p:cNvPr id="52" name="직선 연결선 51">
                <a:extLst>
                  <a:ext uri="{FF2B5EF4-FFF2-40B4-BE49-F238E27FC236}">
                    <a16:creationId xmlns:a16="http://schemas.microsoft.com/office/drawing/2014/main" id="{6109CF0D-4B75-4AA2-9A0D-6E489EF9A4C2}"/>
                  </a:ext>
                </a:extLst>
              </p:cNvPr>
              <p:cNvCxnSpPr/>
              <p:nvPr/>
            </p:nvCxnSpPr>
            <p:spPr>
              <a:xfrm>
                <a:off x="10160360" y="2878635"/>
                <a:ext cx="0" cy="156980"/>
              </a:xfrm>
              <a:prstGeom prst="line">
                <a:avLst/>
              </a:prstGeom>
              <a:solidFill>
                <a:srgbClr val="4472C4"/>
              </a:solidFill>
              <a:ln w="28575" cap="flat" cmpd="sng" algn="ctr">
                <a:solidFill>
                  <a:srgbClr val="FFFF00"/>
                </a:solidFill>
                <a:prstDash val="solid"/>
              </a:ln>
              <a:effectLst/>
            </p:spPr>
          </p:cxnSp>
          <p:cxnSp>
            <p:nvCxnSpPr>
              <p:cNvPr id="53" name="직선 연결선 52">
                <a:extLst>
                  <a:ext uri="{FF2B5EF4-FFF2-40B4-BE49-F238E27FC236}">
                    <a16:creationId xmlns:a16="http://schemas.microsoft.com/office/drawing/2014/main" id="{33FF3CE3-6EC6-4AF9-86EF-DEFED3FC856E}"/>
                  </a:ext>
                </a:extLst>
              </p:cNvPr>
              <p:cNvCxnSpPr/>
              <p:nvPr/>
            </p:nvCxnSpPr>
            <p:spPr>
              <a:xfrm>
                <a:off x="9443245" y="2878635"/>
                <a:ext cx="0" cy="156980"/>
              </a:xfrm>
              <a:prstGeom prst="line">
                <a:avLst/>
              </a:prstGeom>
              <a:solidFill>
                <a:srgbClr val="4472C4"/>
              </a:solidFill>
              <a:ln w="28575" cap="flat" cmpd="sng" algn="ctr">
                <a:solidFill>
                  <a:srgbClr val="FFFF00"/>
                </a:solidFill>
                <a:prstDash val="solid"/>
              </a:ln>
              <a:effectLst/>
            </p:spPr>
          </p:cxnSp>
          <p:cxnSp>
            <p:nvCxnSpPr>
              <p:cNvPr id="54" name="직선 연결선 53">
                <a:extLst>
                  <a:ext uri="{FF2B5EF4-FFF2-40B4-BE49-F238E27FC236}">
                    <a16:creationId xmlns:a16="http://schemas.microsoft.com/office/drawing/2014/main" id="{88098DAD-E01A-4408-BD15-C139A8EDADCE}"/>
                  </a:ext>
                </a:extLst>
              </p:cNvPr>
              <p:cNvCxnSpPr/>
              <p:nvPr/>
            </p:nvCxnSpPr>
            <p:spPr>
              <a:xfrm>
                <a:off x="9347560" y="2878635"/>
                <a:ext cx="0" cy="156980"/>
              </a:xfrm>
              <a:prstGeom prst="line">
                <a:avLst/>
              </a:prstGeom>
              <a:solidFill>
                <a:srgbClr val="4472C4"/>
              </a:solidFill>
              <a:ln w="28575" cap="flat" cmpd="sng" algn="ctr">
                <a:solidFill>
                  <a:srgbClr val="FFFF00"/>
                </a:solidFill>
                <a:prstDash val="solid"/>
              </a:ln>
              <a:effectLst/>
            </p:spPr>
          </p:cxnSp>
        </p:grpSp>
        <p:sp>
          <p:nvSpPr>
            <p:cNvPr id="140" name="TextBox 139">
              <a:extLst>
                <a:ext uri="{FF2B5EF4-FFF2-40B4-BE49-F238E27FC236}">
                  <a16:creationId xmlns:a16="http://schemas.microsoft.com/office/drawing/2014/main" id="{987DEFE5-E808-4F43-9A0A-CFF684213AF6}"/>
                </a:ext>
              </a:extLst>
            </p:cNvPr>
            <p:cNvSpPr txBox="1"/>
            <p:nvPr/>
          </p:nvSpPr>
          <p:spPr>
            <a:xfrm>
              <a:off x="2207460" y="3668162"/>
              <a:ext cx="1419032" cy="307777"/>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ScHBM</a:t>
              </a:r>
            </a:p>
          </p:txBody>
        </p:sp>
        <p:sp>
          <p:nvSpPr>
            <p:cNvPr id="195" name="직사각형 194"/>
            <p:cNvSpPr/>
            <p:nvPr/>
          </p:nvSpPr>
          <p:spPr>
            <a:xfrm>
              <a:off x="2241343" y="2804101"/>
              <a:ext cx="1213068" cy="864062"/>
            </a:xfrm>
            <a:prstGeom prst="rect">
              <a:avLst/>
            </a:prstGeom>
            <a:noFill/>
            <a:ln>
              <a:solidFill>
                <a:srgbClr val="FFFF0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
          <p:nvSpPr>
            <p:cNvPr id="197" name="TextBox 196">
              <a:extLst>
                <a:ext uri="{FF2B5EF4-FFF2-40B4-BE49-F238E27FC236}">
                  <a16:creationId xmlns:a16="http://schemas.microsoft.com/office/drawing/2014/main" id="{C5046B09-E766-4339-A7CD-F9283B87504B}"/>
                </a:ext>
              </a:extLst>
            </p:cNvPr>
            <p:cNvSpPr txBox="1"/>
            <p:nvPr/>
          </p:nvSpPr>
          <p:spPr>
            <a:xfrm>
              <a:off x="2658370" y="3181655"/>
              <a:ext cx="113189" cy="69125"/>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198" name="TextBox 197">
              <a:extLst>
                <a:ext uri="{FF2B5EF4-FFF2-40B4-BE49-F238E27FC236}">
                  <a16:creationId xmlns:a16="http://schemas.microsoft.com/office/drawing/2014/main" id="{426DA31F-A4E7-4DA7-BF08-B7E96263BBD7}"/>
                </a:ext>
              </a:extLst>
            </p:cNvPr>
            <p:cNvSpPr txBox="1"/>
            <p:nvPr/>
          </p:nvSpPr>
          <p:spPr>
            <a:xfrm>
              <a:off x="3109461" y="3181655"/>
              <a:ext cx="113189" cy="69125"/>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316" name="TextBox 315"/>
            <p:cNvSpPr txBox="1"/>
            <p:nvPr/>
          </p:nvSpPr>
          <p:spPr>
            <a:xfrm>
              <a:off x="2261391" y="3867769"/>
              <a:ext cx="1165602" cy="345446"/>
            </a:xfrm>
            <a:prstGeom prst="rect">
              <a:avLst/>
            </a:prstGeom>
            <a:noFill/>
          </p:spPr>
          <p:txBody>
            <a:bodyPr wrap="none" rtlCol="0">
              <a:spAutoFit/>
            </a:bodyPr>
            <a:lstStyle/>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PE(processing). RMW</a:t>
              </a:r>
            </a:p>
            <a:p>
              <a:pPr algn="ctr" defTabSz="914400"/>
              <a:r>
                <a:rPr lang="en-US" altLang="ko-KR" sz="1000" b="1" dirty="0">
                  <a:solidFill>
                    <a:schemeClr val="bg1">
                      <a:lumMod val="50000"/>
                    </a:schemeClr>
                  </a:solidFill>
                  <a:latin typeface="SAMSUNGONE-600C" panose="020B0503030303020204" pitchFamily="34" charset="-127"/>
                  <a:ea typeface="SAMSUNGONE-600C" panose="020B0503030303020204" pitchFamily="34" charset="-127"/>
                </a:rPr>
                <a:t>(Read-Modify-Write)</a:t>
              </a:r>
            </a:p>
          </p:txBody>
        </p:sp>
        <p:sp>
          <p:nvSpPr>
            <p:cNvPr id="322" name="TextBox 321">
              <a:extLst>
                <a:ext uri="{FF2B5EF4-FFF2-40B4-BE49-F238E27FC236}">
                  <a16:creationId xmlns:a16="http://schemas.microsoft.com/office/drawing/2014/main" id="{69B939B3-8DEC-48E8-A054-CF9A87F4E686}"/>
                </a:ext>
              </a:extLst>
            </p:cNvPr>
            <p:cNvSpPr txBox="1"/>
            <p:nvPr/>
          </p:nvSpPr>
          <p:spPr>
            <a:xfrm>
              <a:off x="2384014" y="2876045"/>
              <a:ext cx="193889" cy="393171"/>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GPU</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grpSp>
      <p:sp>
        <p:nvSpPr>
          <p:cNvPr id="327" name="실행 단추: 뒤로 또는 이전 326">
            <a:hlinkClick r:id="rId3" action="ppaction://hlinksldjump" highlightClick="1"/>
          </p:cNvPr>
          <p:cNvSpPr/>
          <p:nvPr/>
        </p:nvSpPr>
        <p:spPr>
          <a:xfrm>
            <a:off x="10278951" y="361705"/>
            <a:ext cx="328210" cy="320040"/>
          </a:xfrm>
          <a:prstGeom prst="actionButtonBackPrevious">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380493606"/>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ScHBM (Samsung Custom HBM)</a:t>
            </a:r>
            <a:endParaRPr lang="ko-KR" altLang="en-US" dirty="0"/>
          </a:p>
        </p:txBody>
      </p:sp>
      <p:sp>
        <p:nvSpPr>
          <p:cNvPr id="3" name="내용 개체 틀 2"/>
          <p:cNvSpPr>
            <a:spLocks noGrp="1"/>
          </p:cNvSpPr>
          <p:nvPr>
            <p:ph idx="10"/>
          </p:nvPr>
        </p:nvSpPr>
        <p:spPr>
          <a:xfrm>
            <a:off x="475010" y="1079500"/>
            <a:ext cx="6017905" cy="5400500"/>
          </a:xfrm>
        </p:spPr>
        <p:txBody>
          <a:bodyPr>
            <a:noAutofit/>
          </a:bodyPr>
          <a:lstStyle/>
          <a:p>
            <a:r>
              <a:rPr lang="en-US" altLang="ko-KR" sz="2000" dirty="0">
                <a:solidFill>
                  <a:srgbClr val="70AD47"/>
                </a:solidFill>
              </a:rPr>
              <a:t>ScHBM</a:t>
            </a:r>
          </a:p>
          <a:p>
            <a:pPr lvl="1"/>
            <a:r>
              <a:rPr lang="en-US" altLang="ko-KR" sz="1600" dirty="0">
                <a:solidFill>
                  <a:schemeClr val="bg1"/>
                </a:solidFill>
              </a:rPr>
              <a:t>Next-generation memory device under development at Samsung Electronics</a:t>
            </a:r>
          </a:p>
          <a:p>
            <a:pPr lvl="1"/>
            <a:r>
              <a:rPr lang="en-US" altLang="ko-KR" sz="1600" dirty="0">
                <a:solidFill>
                  <a:srgbClr val="70AD47"/>
                </a:solidFill>
              </a:rPr>
              <a:t>Memory-Centric AI architecture</a:t>
            </a:r>
            <a:r>
              <a:rPr lang="en-US" altLang="ko-KR" sz="1600" dirty="0">
                <a:solidFill>
                  <a:schemeClr val="bg1"/>
                </a:solidFill>
              </a:rPr>
              <a:t> integrating </a:t>
            </a:r>
            <a:r>
              <a:rPr lang="en-US" altLang="ko-KR" sz="1600" dirty="0">
                <a:solidFill>
                  <a:srgbClr val="70AD47"/>
                </a:solidFill>
              </a:rPr>
              <a:t>compute functions directly</a:t>
            </a:r>
            <a:r>
              <a:rPr lang="en-US" altLang="ko-KR" sz="1600" dirty="0">
                <a:solidFill>
                  <a:schemeClr val="bg1"/>
                </a:solidFill>
              </a:rPr>
              <a:t> within the memory to overcome conventional HBM limitations</a:t>
            </a:r>
          </a:p>
          <a:p>
            <a:pPr lvl="1"/>
            <a:r>
              <a:rPr lang="en-US" altLang="ko-KR" sz="1600" dirty="0">
                <a:solidFill>
                  <a:schemeClr val="bg1"/>
                </a:solidFill>
              </a:rPr>
              <a:t>Core objective: dramatically improving performance and Throughput/Watt in LLM inference, especially the </a:t>
            </a:r>
            <a:r>
              <a:rPr lang="en-US" altLang="ko-KR" sz="1600" dirty="0">
                <a:solidFill>
                  <a:srgbClr val="70AD47"/>
                </a:solidFill>
              </a:rPr>
              <a:t>memory-bound Decode phase</a:t>
            </a:r>
          </a:p>
          <a:p>
            <a:pPr lvl="1"/>
            <a:endParaRPr lang="en-US" altLang="ko-KR" sz="1600" dirty="0">
              <a:solidFill>
                <a:srgbClr val="70AD47"/>
              </a:solidFill>
            </a:endParaRPr>
          </a:p>
          <a:p>
            <a:pPr lvl="1"/>
            <a:endParaRPr lang="en-US" altLang="ko-KR" sz="1600" dirty="0">
              <a:solidFill>
                <a:srgbClr val="70AD47"/>
              </a:solidFill>
            </a:endParaRPr>
          </a:p>
          <a:p>
            <a:r>
              <a:rPr lang="en-US" altLang="ko-KR" sz="2000" dirty="0">
                <a:solidFill>
                  <a:srgbClr val="70AD47"/>
                </a:solidFill>
              </a:rPr>
              <a:t>Chiplet</a:t>
            </a:r>
            <a:r>
              <a:rPr lang="en-US" altLang="ko-KR" sz="2000" dirty="0"/>
              <a:t>-based SOC: SiP (System in Package)</a:t>
            </a:r>
          </a:p>
          <a:p>
            <a:pPr lvl="1"/>
            <a:r>
              <a:rPr lang="en-US" altLang="ko-KR" sz="1800" dirty="0">
                <a:solidFill>
                  <a:srgbClr val="70AD47"/>
                </a:solidFill>
              </a:rPr>
              <a:t>Memory Chiplet</a:t>
            </a:r>
            <a:endParaRPr lang="en-US" altLang="ko-KR" sz="1800" dirty="0"/>
          </a:p>
          <a:p>
            <a:pPr lvl="2"/>
            <a:r>
              <a:rPr lang="en-US" altLang="ko-KR" sz="1600" dirty="0"/>
              <a:t>HBM w/ Base-die for computing</a:t>
            </a:r>
            <a:endParaRPr lang="en-US" altLang="ko-KR" sz="1800" dirty="0">
              <a:solidFill>
                <a:srgbClr val="70AD47"/>
              </a:solidFill>
            </a:endParaRPr>
          </a:p>
          <a:p>
            <a:pPr lvl="1"/>
            <a:r>
              <a:rPr lang="en-US" altLang="ko-KR" sz="1800" dirty="0">
                <a:solidFill>
                  <a:srgbClr val="70AD47"/>
                </a:solidFill>
              </a:rPr>
              <a:t>IO Chiplet</a:t>
            </a:r>
            <a:endParaRPr lang="en-US" altLang="ko-KR" sz="1800" dirty="0"/>
          </a:p>
          <a:p>
            <a:pPr lvl="2"/>
            <a:r>
              <a:rPr lang="en-US" altLang="ko-KR" sz="1600" dirty="0"/>
              <a:t>High-speed connectivity among </a:t>
            </a:r>
            <a:r>
              <a:rPr lang="en-US" altLang="ko-KR" sz="1600" dirty="0" err="1"/>
              <a:t>SiPs</a:t>
            </a:r>
            <a:endParaRPr lang="en-US" altLang="ko-KR" sz="1600" dirty="0"/>
          </a:p>
          <a:p>
            <a:pPr lvl="2"/>
            <a:r>
              <a:rPr lang="en-US" altLang="ko-KR" sz="1600" dirty="0"/>
              <a:t>w/ Communication IPs: UALink, PCIe</a:t>
            </a:r>
          </a:p>
          <a:p>
            <a:endParaRPr lang="en-US" altLang="ko-KR" sz="2000" dirty="0"/>
          </a:p>
        </p:txBody>
      </p:sp>
      <p:pic>
        <p:nvPicPr>
          <p:cNvPr id="4" name="그림 3"/>
          <p:cNvPicPr>
            <a:picLocks noChangeAspect="1"/>
          </p:cNvPicPr>
          <p:nvPr/>
        </p:nvPicPr>
        <p:blipFill>
          <a:blip r:embed="rId3"/>
          <a:stretch>
            <a:fillRect/>
          </a:stretch>
        </p:blipFill>
        <p:spPr>
          <a:xfrm>
            <a:off x="9972229" y="3373930"/>
            <a:ext cx="1843643" cy="1734120"/>
          </a:xfrm>
          <a:prstGeom prst="rect">
            <a:avLst/>
          </a:prstGeom>
        </p:spPr>
      </p:pic>
      <p:grpSp>
        <p:nvGrpSpPr>
          <p:cNvPr id="111" name="그룹 110"/>
          <p:cNvGrpSpPr/>
          <p:nvPr/>
        </p:nvGrpSpPr>
        <p:grpSpPr>
          <a:xfrm>
            <a:off x="6749477" y="1079500"/>
            <a:ext cx="3020470" cy="3272070"/>
            <a:chOff x="6743127" y="875894"/>
            <a:chExt cx="3020470" cy="3272070"/>
          </a:xfrm>
        </p:grpSpPr>
        <p:sp>
          <p:nvSpPr>
            <p:cNvPr id="6" name="직사각형 5"/>
            <p:cNvSpPr/>
            <p:nvPr/>
          </p:nvSpPr>
          <p:spPr>
            <a:xfrm>
              <a:off x="7205930" y="1723291"/>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7" name="직사각형 6"/>
            <p:cNvSpPr/>
            <p:nvPr/>
          </p:nvSpPr>
          <p:spPr>
            <a:xfrm>
              <a:off x="7205930"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8" name="직사각형 7"/>
            <p:cNvSpPr/>
            <p:nvPr/>
          </p:nvSpPr>
          <p:spPr>
            <a:xfrm>
              <a:off x="7752236" y="1723290"/>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9" name="직사각형 8"/>
            <p:cNvSpPr/>
            <p:nvPr/>
          </p:nvSpPr>
          <p:spPr>
            <a:xfrm>
              <a:off x="7754137"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0" name="직사각형 9"/>
            <p:cNvSpPr/>
            <p:nvPr/>
          </p:nvSpPr>
          <p:spPr>
            <a:xfrm>
              <a:off x="8301756" y="1723291"/>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1" name="직사각형 10"/>
            <p:cNvSpPr/>
            <p:nvPr/>
          </p:nvSpPr>
          <p:spPr>
            <a:xfrm>
              <a:off x="8301756"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2" name="직사각형 11"/>
            <p:cNvSpPr/>
            <p:nvPr/>
          </p:nvSpPr>
          <p:spPr>
            <a:xfrm>
              <a:off x="8848062" y="1723290"/>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3" name="직사각형 12"/>
            <p:cNvSpPr/>
            <p:nvPr/>
          </p:nvSpPr>
          <p:spPr>
            <a:xfrm>
              <a:off x="8849963"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 name="직사각형 13"/>
            <p:cNvSpPr/>
            <p:nvPr/>
          </p:nvSpPr>
          <p:spPr>
            <a:xfrm>
              <a:off x="7204029" y="2736076"/>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5" name="직사각형 14"/>
            <p:cNvSpPr/>
            <p:nvPr/>
          </p:nvSpPr>
          <p:spPr>
            <a:xfrm>
              <a:off x="7204029"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6" name="직사각형 15"/>
            <p:cNvSpPr/>
            <p:nvPr/>
          </p:nvSpPr>
          <p:spPr>
            <a:xfrm>
              <a:off x="7750335" y="2736075"/>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7" name="직사각형 16"/>
            <p:cNvSpPr/>
            <p:nvPr/>
          </p:nvSpPr>
          <p:spPr>
            <a:xfrm>
              <a:off x="7752236"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8" name="직사각형 17"/>
            <p:cNvSpPr/>
            <p:nvPr/>
          </p:nvSpPr>
          <p:spPr>
            <a:xfrm>
              <a:off x="8299855" y="2736076"/>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9" name="직사각형 18"/>
            <p:cNvSpPr/>
            <p:nvPr/>
          </p:nvSpPr>
          <p:spPr>
            <a:xfrm>
              <a:off x="8299855"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20" name="직사각형 19"/>
            <p:cNvSpPr/>
            <p:nvPr/>
          </p:nvSpPr>
          <p:spPr>
            <a:xfrm>
              <a:off x="8846162" y="2736075"/>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21" name="직사각형 20"/>
            <p:cNvSpPr/>
            <p:nvPr/>
          </p:nvSpPr>
          <p:spPr>
            <a:xfrm>
              <a:off x="8848062"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22" name="직사각형 21"/>
            <p:cNvSpPr/>
            <p:nvPr/>
          </p:nvSpPr>
          <p:spPr>
            <a:xfrm>
              <a:off x="7750335" y="1349374"/>
              <a:ext cx="1008904"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23" name="직사각형 22"/>
            <p:cNvSpPr/>
            <p:nvPr/>
          </p:nvSpPr>
          <p:spPr>
            <a:xfrm>
              <a:off x="7750335" y="3762539"/>
              <a:ext cx="1008904"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24" name="직사각형 23"/>
            <p:cNvSpPr/>
            <p:nvPr/>
          </p:nvSpPr>
          <p:spPr>
            <a:xfrm rot="16200000">
              <a:off x="6504512" y="2549117"/>
              <a:ext cx="950188"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25" name="직사각형 24"/>
            <p:cNvSpPr/>
            <p:nvPr/>
          </p:nvSpPr>
          <p:spPr>
            <a:xfrm rot="16200000">
              <a:off x="9060805" y="2549118"/>
              <a:ext cx="950188"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26" name="직사각형 25"/>
            <p:cNvSpPr/>
            <p:nvPr/>
          </p:nvSpPr>
          <p:spPr>
            <a:xfrm>
              <a:off x="6743127" y="1282047"/>
              <a:ext cx="3020470" cy="286591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100" dirty="0"/>
            </a:p>
          </p:txBody>
        </p:sp>
        <p:sp>
          <p:nvSpPr>
            <p:cNvPr id="27" name="TextBox 26">
              <a:extLst>
                <a:ext uri="{FF2B5EF4-FFF2-40B4-BE49-F238E27FC236}">
                  <a16:creationId xmlns:a16="http://schemas.microsoft.com/office/drawing/2014/main" id="{987DEFE5-E808-4F43-9A0A-CFF684213AF6}"/>
                </a:ext>
              </a:extLst>
            </p:cNvPr>
            <p:cNvSpPr txBox="1"/>
            <p:nvPr/>
          </p:nvSpPr>
          <p:spPr>
            <a:xfrm>
              <a:off x="6902450" y="875894"/>
              <a:ext cx="2660650" cy="400110"/>
            </a:xfrm>
            <a:prstGeom prst="rect">
              <a:avLst/>
            </a:prstGeom>
            <a:noFill/>
          </p:spPr>
          <p:txBody>
            <a:bodyPr wrap="square" rtlCol="0">
              <a:spAutoFit/>
            </a:bodyPr>
            <a:lstStyle/>
            <a:p>
              <a:pPr algn="ctr" defTabSz="914400"/>
              <a:r>
                <a:rPr lang="en-US" altLang="ko-KR" sz="2000" b="1" dirty="0">
                  <a:solidFill>
                    <a:schemeClr val="bg1"/>
                  </a:solidFill>
                  <a:latin typeface="SAMSUNGONE-600C" panose="020B0503030303020204" pitchFamily="34" charset="-127"/>
                  <a:ea typeface="SAMSUNGONE-600C" panose="020B0503030303020204" pitchFamily="34" charset="-127"/>
                </a:rPr>
                <a:t>ScHBM SiP (4x4)</a:t>
              </a:r>
            </a:p>
          </p:txBody>
        </p:sp>
      </p:grpSp>
      <p:cxnSp>
        <p:nvCxnSpPr>
          <p:cNvPr id="28" name="직선 연결선 27">
            <a:extLst>
              <a:ext uri="{FF2B5EF4-FFF2-40B4-BE49-F238E27FC236}">
                <a16:creationId xmlns:a16="http://schemas.microsoft.com/office/drawing/2014/main" id="{62478ED5-EDBA-4074-9D2F-CE5790ED807D}"/>
              </a:ext>
            </a:extLst>
          </p:cNvPr>
          <p:cNvCxnSpPr/>
          <p:nvPr/>
        </p:nvCxnSpPr>
        <p:spPr>
          <a:xfrm flipH="1">
            <a:off x="9311896" y="1618716"/>
            <a:ext cx="738611" cy="308180"/>
          </a:xfrm>
          <a:prstGeom prst="line">
            <a:avLst/>
          </a:prstGeom>
          <a:ln w="1270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9" name="직선 연결선 28">
            <a:extLst>
              <a:ext uri="{FF2B5EF4-FFF2-40B4-BE49-F238E27FC236}">
                <a16:creationId xmlns:a16="http://schemas.microsoft.com/office/drawing/2014/main" id="{62478ED5-EDBA-4074-9D2F-CE5790ED807D}"/>
              </a:ext>
            </a:extLst>
          </p:cNvPr>
          <p:cNvCxnSpPr/>
          <p:nvPr/>
        </p:nvCxnSpPr>
        <p:spPr>
          <a:xfrm flipH="1" flipV="1">
            <a:off x="9311896" y="2363386"/>
            <a:ext cx="737608" cy="240751"/>
          </a:xfrm>
          <a:prstGeom prst="line">
            <a:avLst/>
          </a:prstGeom>
          <a:ln w="1270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987DEFE5-E808-4F43-9A0A-CFF684213AF6}"/>
              </a:ext>
            </a:extLst>
          </p:cNvPr>
          <p:cNvSpPr txBox="1"/>
          <p:nvPr/>
        </p:nvSpPr>
        <p:spPr>
          <a:xfrm>
            <a:off x="10452046" y="5057250"/>
            <a:ext cx="929523" cy="307777"/>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B-Die</a:t>
            </a:r>
          </a:p>
        </p:txBody>
      </p:sp>
      <p:grpSp>
        <p:nvGrpSpPr>
          <p:cNvPr id="31" name="그룹 30"/>
          <p:cNvGrpSpPr/>
          <p:nvPr/>
        </p:nvGrpSpPr>
        <p:grpSpPr>
          <a:xfrm>
            <a:off x="7364357" y="4738209"/>
            <a:ext cx="1836109" cy="1562493"/>
            <a:chOff x="4630995" y="4063388"/>
            <a:chExt cx="1906324" cy="1673375"/>
          </a:xfrm>
        </p:grpSpPr>
        <p:sp>
          <p:nvSpPr>
            <p:cNvPr id="32" name="직사각형 31"/>
            <p:cNvSpPr/>
            <p:nvPr/>
          </p:nvSpPr>
          <p:spPr>
            <a:xfrm>
              <a:off x="4630995" y="4063388"/>
              <a:ext cx="1906324" cy="133452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100" dirty="0"/>
            </a:p>
          </p:txBody>
        </p:sp>
        <p:sp>
          <p:nvSpPr>
            <p:cNvPr id="33" name="TextBox 32">
              <a:extLst>
                <a:ext uri="{FF2B5EF4-FFF2-40B4-BE49-F238E27FC236}">
                  <a16:creationId xmlns:a16="http://schemas.microsoft.com/office/drawing/2014/main" id="{987DEFE5-E808-4F43-9A0A-CFF684213AF6}"/>
                </a:ext>
              </a:extLst>
            </p:cNvPr>
            <p:cNvSpPr txBox="1"/>
            <p:nvPr/>
          </p:nvSpPr>
          <p:spPr>
            <a:xfrm>
              <a:off x="4962220" y="5428986"/>
              <a:ext cx="1340292" cy="307777"/>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IO-Chiplet</a:t>
              </a:r>
            </a:p>
          </p:txBody>
        </p:sp>
        <p:sp>
          <p:nvSpPr>
            <p:cNvPr id="34" name="직사각형 33"/>
            <p:cNvSpPr/>
            <p:nvPr/>
          </p:nvSpPr>
          <p:spPr>
            <a:xfrm>
              <a:off x="5232970" y="4615360"/>
              <a:ext cx="1238622" cy="348928"/>
            </a:xfrm>
            <a:prstGeom prst="rect">
              <a:avLst/>
            </a:prstGeom>
            <a:solidFill>
              <a:srgbClr val="4472C4"/>
            </a:solidFill>
            <a:ln w="12700" cap="flat" cmpd="sng" algn="ctr">
              <a:solidFill>
                <a:schemeClr val="bg1"/>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200" b="0" i="0" u="none" strike="noStrike" kern="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rPr>
                <a:t>NoC Interconnector</a:t>
              </a:r>
              <a:endParaRPr kumimoji="0" lang="ko-KR" altLang="en-US" sz="1100" b="0" i="0" u="none" strike="noStrike" kern="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35" name="직사각형 34"/>
            <p:cNvSpPr/>
            <p:nvPr/>
          </p:nvSpPr>
          <p:spPr>
            <a:xfrm>
              <a:off x="5343082" y="5093047"/>
              <a:ext cx="529422" cy="216704"/>
            </a:xfrm>
            <a:prstGeom prst="rect">
              <a:avLst/>
            </a:prstGeom>
            <a:gradFill rotWithShape="1">
              <a:gsLst>
                <a:gs pos="0">
                  <a:srgbClr val="4472C4">
                    <a:lumMod val="110000"/>
                    <a:satMod val="105000"/>
                    <a:tint val="67000"/>
                  </a:srgbClr>
                </a:gs>
                <a:gs pos="50000">
                  <a:srgbClr val="4472C4">
                    <a:lumMod val="105000"/>
                    <a:satMod val="103000"/>
                    <a:tint val="73000"/>
                  </a:srgbClr>
                </a:gs>
                <a:gs pos="100000">
                  <a:srgbClr val="4472C4">
                    <a:lumMod val="105000"/>
                    <a:satMod val="109000"/>
                    <a:tint val="81000"/>
                  </a:srgbClr>
                </a:gs>
              </a:gsLst>
              <a:lin ang="5400000" scaled="0"/>
            </a:gradFill>
            <a:ln w="6350" cap="flat" cmpd="sng" algn="ctr">
              <a:solidFill>
                <a:schemeClr val="bg1"/>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200" b="0" i="0" u="none" strike="noStrike" kern="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UCIe</a:t>
              </a:r>
              <a:endParaRPr kumimoji="0" lang="ko-KR" altLang="en-US" sz="1200" b="0" i="0" u="none" strike="noStrike" kern="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36" name="직사각형 35"/>
            <p:cNvSpPr/>
            <p:nvPr/>
          </p:nvSpPr>
          <p:spPr>
            <a:xfrm>
              <a:off x="4824601" y="4221548"/>
              <a:ext cx="669716" cy="216704"/>
            </a:xfrm>
            <a:prstGeom prst="rect">
              <a:avLst/>
            </a:prstGeom>
            <a:gradFill rotWithShape="1">
              <a:gsLst>
                <a:gs pos="0">
                  <a:srgbClr val="4472C4">
                    <a:lumMod val="110000"/>
                    <a:satMod val="105000"/>
                    <a:tint val="67000"/>
                  </a:srgbClr>
                </a:gs>
                <a:gs pos="50000">
                  <a:srgbClr val="4472C4">
                    <a:lumMod val="105000"/>
                    <a:satMod val="103000"/>
                    <a:tint val="73000"/>
                  </a:srgbClr>
                </a:gs>
                <a:gs pos="100000">
                  <a:srgbClr val="4472C4">
                    <a:lumMod val="105000"/>
                    <a:satMod val="109000"/>
                    <a:tint val="81000"/>
                  </a:srgbClr>
                </a:gs>
              </a:gsLst>
              <a:lin ang="5400000" scaled="0"/>
            </a:gradFill>
            <a:ln w="6350" cap="flat" cmpd="sng" algn="ctr">
              <a:solidFill>
                <a:schemeClr val="bg1"/>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200" b="0" i="0" u="none" strike="noStrike" kern="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UALink</a:t>
              </a:r>
              <a:endParaRPr kumimoji="0" lang="ko-KR" altLang="en-US" sz="1200" b="0" i="0" u="none" strike="noStrike" kern="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37" name="직사각형 36"/>
            <p:cNvSpPr/>
            <p:nvPr/>
          </p:nvSpPr>
          <p:spPr>
            <a:xfrm>
              <a:off x="5659378" y="4225307"/>
              <a:ext cx="669716" cy="216704"/>
            </a:xfrm>
            <a:prstGeom prst="rect">
              <a:avLst/>
            </a:prstGeom>
            <a:gradFill rotWithShape="1">
              <a:gsLst>
                <a:gs pos="0">
                  <a:srgbClr val="4472C4">
                    <a:lumMod val="110000"/>
                    <a:satMod val="105000"/>
                    <a:tint val="67000"/>
                  </a:srgbClr>
                </a:gs>
                <a:gs pos="50000">
                  <a:srgbClr val="4472C4">
                    <a:lumMod val="105000"/>
                    <a:satMod val="103000"/>
                    <a:tint val="73000"/>
                  </a:srgbClr>
                </a:gs>
                <a:gs pos="100000">
                  <a:srgbClr val="4472C4">
                    <a:lumMod val="105000"/>
                    <a:satMod val="109000"/>
                    <a:tint val="81000"/>
                  </a:srgbClr>
                </a:gs>
              </a:gsLst>
              <a:lin ang="5400000" scaled="0"/>
            </a:gradFill>
            <a:ln w="6350" cap="flat" cmpd="sng" algn="ctr">
              <a:solidFill>
                <a:schemeClr val="bg1"/>
              </a:solidFill>
              <a:prstDash val="solid"/>
              <a:miter lim="800000"/>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200" b="0" i="0" u="none" strike="noStrike" kern="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PCIe</a:t>
              </a:r>
              <a:endParaRPr kumimoji="0" lang="ko-KR" altLang="en-US" sz="1200" b="0" i="0" u="none" strike="noStrike" kern="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38" name="직사각형 37"/>
            <p:cNvSpPr/>
            <p:nvPr/>
          </p:nvSpPr>
          <p:spPr>
            <a:xfrm>
              <a:off x="4694395" y="4615360"/>
              <a:ext cx="538575" cy="348928"/>
            </a:xfrm>
            <a:prstGeom prst="rect">
              <a:avLst/>
            </a:prstGeom>
            <a:solidFill>
              <a:srgbClr val="4472C4"/>
            </a:solidFill>
            <a:ln w="12700" cap="flat" cmpd="sng" algn="ctr">
              <a:solidFill>
                <a:schemeClr val="bg1"/>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1200" kern="0" dirty="0" err="1">
                  <a:solidFill>
                    <a:prstClr val="white"/>
                  </a:solidFill>
                  <a:latin typeface="맑은 고딕" panose="020F0502020204030204"/>
                  <a:ea typeface="맑은 고딕" panose="020B0503020000020004" pitchFamily="50" charset="-127"/>
                </a:rPr>
                <a:t>uCtrl</a:t>
              </a:r>
              <a:endParaRPr kumimoji="0" lang="ko-KR" altLang="en-US" sz="1100" b="0" i="0" u="none" strike="noStrike" kern="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cxnSp>
          <p:nvCxnSpPr>
            <p:cNvPr id="39" name="직선 연결선 38"/>
            <p:cNvCxnSpPr/>
            <p:nvPr/>
          </p:nvCxnSpPr>
          <p:spPr>
            <a:xfrm>
              <a:off x="5343082" y="4438252"/>
              <a:ext cx="0" cy="177108"/>
            </a:xfrm>
            <a:prstGeom prst="line">
              <a:avLst/>
            </a:prstGeom>
            <a:noFill/>
            <a:ln w="38100" cap="flat" cmpd="sng" algn="ctr">
              <a:solidFill>
                <a:schemeClr val="bg1"/>
              </a:solidFill>
              <a:prstDash val="solid"/>
              <a:miter lim="800000"/>
            </a:ln>
            <a:effectLst/>
          </p:spPr>
        </p:cxnSp>
        <p:cxnSp>
          <p:nvCxnSpPr>
            <p:cNvPr id="40" name="직선 연결선 39"/>
            <p:cNvCxnSpPr/>
            <p:nvPr/>
          </p:nvCxnSpPr>
          <p:spPr>
            <a:xfrm>
              <a:off x="5838382" y="4438252"/>
              <a:ext cx="0" cy="177108"/>
            </a:xfrm>
            <a:prstGeom prst="line">
              <a:avLst/>
            </a:prstGeom>
            <a:noFill/>
            <a:ln w="38100" cap="flat" cmpd="sng" algn="ctr">
              <a:solidFill>
                <a:schemeClr val="bg1"/>
              </a:solidFill>
              <a:prstDash val="solid"/>
              <a:miter lim="800000"/>
            </a:ln>
            <a:effectLst/>
          </p:spPr>
        </p:cxnSp>
        <p:cxnSp>
          <p:nvCxnSpPr>
            <p:cNvPr id="41" name="직선 연결선 40"/>
            <p:cNvCxnSpPr>
              <a:endCxn id="35" idx="0"/>
            </p:cNvCxnSpPr>
            <p:nvPr/>
          </p:nvCxnSpPr>
          <p:spPr>
            <a:xfrm>
              <a:off x="5606845" y="4964288"/>
              <a:ext cx="948" cy="128759"/>
            </a:xfrm>
            <a:prstGeom prst="line">
              <a:avLst/>
            </a:prstGeom>
            <a:noFill/>
            <a:ln w="38100" cap="flat" cmpd="sng" algn="ctr">
              <a:solidFill>
                <a:schemeClr val="bg1"/>
              </a:solidFill>
              <a:prstDash val="solid"/>
              <a:miter lim="800000"/>
            </a:ln>
            <a:effectLst/>
          </p:spPr>
        </p:cxnSp>
      </p:grpSp>
      <p:cxnSp>
        <p:nvCxnSpPr>
          <p:cNvPr id="42" name="직선 연결선 41">
            <a:extLst>
              <a:ext uri="{FF2B5EF4-FFF2-40B4-BE49-F238E27FC236}">
                <a16:creationId xmlns:a16="http://schemas.microsoft.com/office/drawing/2014/main" id="{62478ED5-EDBA-4074-9D2F-CE5790ED807D}"/>
              </a:ext>
            </a:extLst>
          </p:cNvPr>
          <p:cNvCxnSpPr/>
          <p:nvPr/>
        </p:nvCxnSpPr>
        <p:spPr>
          <a:xfrm flipV="1">
            <a:off x="7364357" y="4268678"/>
            <a:ext cx="392328" cy="435411"/>
          </a:xfrm>
          <a:prstGeom prst="line">
            <a:avLst/>
          </a:prstGeom>
          <a:ln w="1270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3" name="직선 연결선 42">
            <a:extLst>
              <a:ext uri="{FF2B5EF4-FFF2-40B4-BE49-F238E27FC236}">
                <a16:creationId xmlns:a16="http://schemas.microsoft.com/office/drawing/2014/main" id="{62478ED5-EDBA-4074-9D2F-CE5790ED807D}"/>
              </a:ext>
            </a:extLst>
          </p:cNvPr>
          <p:cNvCxnSpPr/>
          <p:nvPr/>
        </p:nvCxnSpPr>
        <p:spPr>
          <a:xfrm flipH="1" flipV="1">
            <a:off x="8765589" y="4268678"/>
            <a:ext cx="445618" cy="440513"/>
          </a:xfrm>
          <a:prstGeom prst="line">
            <a:avLst/>
          </a:prstGeom>
          <a:ln w="1270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94" name="TextBox 93">
            <a:extLst>
              <a:ext uri="{FF2B5EF4-FFF2-40B4-BE49-F238E27FC236}">
                <a16:creationId xmlns:a16="http://schemas.microsoft.com/office/drawing/2014/main" id="{987DEFE5-E808-4F43-9A0A-CFF684213AF6}"/>
              </a:ext>
            </a:extLst>
          </p:cNvPr>
          <p:cNvSpPr txBox="1"/>
          <p:nvPr/>
        </p:nvSpPr>
        <p:spPr>
          <a:xfrm>
            <a:off x="10233000" y="2557799"/>
            <a:ext cx="1257411" cy="523220"/>
          </a:xfrm>
          <a:prstGeom prst="rect">
            <a:avLst/>
          </a:prstGeom>
          <a:noFill/>
        </p:spPr>
        <p:txBody>
          <a:bodyPr wrap="square" rtlCol="0">
            <a:spAutoFit/>
          </a:bodyPr>
          <a:lstStyle/>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Mem-Chiplet</a:t>
            </a:r>
          </a:p>
          <a:p>
            <a:pPr algn="ctr" defTabSz="914400"/>
            <a:r>
              <a:rPr lang="en-US" altLang="ko-KR" sz="1400" b="1" dirty="0">
                <a:solidFill>
                  <a:schemeClr val="bg1"/>
                </a:solidFill>
                <a:latin typeface="SAMSUNGONE-600C" panose="020B0503030303020204" pitchFamily="34" charset="-127"/>
                <a:ea typeface="SAMSUNGONE-600C" panose="020B0503030303020204" pitchFamily="34" charset="-127"/>
              </a:rPr>
              <a:t>(ScHBM)</a:t>
            </a:r>
          </a:p>
        </p:txBody>
      </p:sp>
      <p:grpSp>
        <p:nvGrpSpPr>
          <p:cNvPr id="112" name="그룹 111"/>
          <p:cNvGrpSpPr/>
          <p:nvPr/>
        </p:nvGrpSpPr>
        <p:grpSpPr>
          <a:xfrm>
            <a:off x="10027354" y="1731812"/>
            <a:ext cx="1693776" cy="816484"/>
            <a:chOff x="10021004" y="1286334"/>
            <a:chExt cx="1693776" cy="816484"/>
          </a:xfrm>
        </p:grpSpPr>
        <p:sp>
          <p:nvSpPr>
            <p:cNvPr id="45" name="Oval 630">
              <a:extLst>
                <a:ext uri="{FF2B5EF4-FFF2-40B4-BE49-F238E27FC236}">
                  <a16:creationId xmlns:a16="http://schemas.microsoft.com/office/drawing/2014/main" id="{FE95721B-E3DB-41C3-B5D8-A0FC99569B8F}"/>
                </a:ext>
              </a:extLst>
            </p:cNvPr>
            <p:cNvSpPr>
              <a:spLocks noChangeArrowheads="1"/>
            </p:cNvSpPr>
            <p:nvPr/>
          </p:nvSpPr>
          <p:spPr bwMode="auto">
            <a:xfrm>
              <a:off x="10101297"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46" name="Oval 630">
              <a:extLst>
                <a:ext uri="{FF2B5EF4-FFF2-40B4-BE49-F238E27FC236}">
                  <a16:creationId xmlns:a16="http://schemas.microsoft.com/office/drawing/2014/main" id="{4C1387EF-33AA-486B-81E5-66DC7A938155}"/>
                </a:ext>
              </a:extLst>
            </p:cNvPr>
            <p:cNvSpPr>
              <a:spLocks noChangeArrowheads="1"/>
            </p:cNvSpPr>
            <p:nvPr/>
          </p:nvSpPr>
          <p:spPr bwMode="auto">
            <a:xfrm>
              <a:off x="10251043"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47" name="Oval 630">
              <a:extLst>
                <a:ext uri="{FF2B5EF4-FFF2-40B4-BE49-F238E27FC236}">
                  <a16:creationId xmlns:a16="http://schemas.microsoft.com/office/drawing/2014/main" id="{31154D99-33B2-4BB8-B156-0A708CB922DD}"/>
                </a:ext>
              </a:extLst>
            </p:cNvPr>
            <p:cNvSpPr>
              <a:spLocks noChangeArrowheads="1"/>
            </p:cNvSpPr>
            <p:nvPr/>
          </p:nvSpPr>
          <p:spPr bwMode="auto">
            <a:xfrm>
              <a:off x="10403529"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48" name="Oval 630">
              <a:extLst>
                <a:ext uri="{FF2B5EF4-FFF2-40B4-BE49-F238E27FC236}">
                  <a16:creationId xmlns:a16="http://schemas.microsoft.com/office/drawing/2014/main" id="{F608C7F4-1934-40A0-806D-F8580D06CDAD}"/>
                </a:ext>
              </a:extLst>
            </p:cNvPr>
            <p:cNvSpPr>
              <a:spLocks noChangeArrowheads="1"/>
            </p:cNvSpPr>
            <p:nvPr/>
          </p:nvSpPr>
          <p:spPr bwMode="auto">
            <a:xfrm>
              <a:off x="10554570"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49" name="Oval 630">
              <a:extLst>
                <a:ext uri="{FF2B5EF4-FFF2-40B4-BE49-F238E27FC236}">
                  <a16:creationId xmlns:a16="http://schemas.microsoft.com/office/drawing/2014/main" id="{7F290A92-902E-4AD6-85BD-077FCBA792E2}"/>
                </a:ext>
              </a:extLst>
            </p:cNvPr>
            <p:cNvSpPr>
              <a:spLocks noChangeArrowheads="1"/>
            </p:cNvSpPr>
            <p:nvPr/>
          </p:nvSpPr>
          <p:spPr bwMode="auto">
            <a:xfrm>
              <a:off x="10705610"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0" name="Oval 630">
              <a:extLst>
                <a:ext uri="{FF2B5EF4-FFF2-40B4-BE49-F238E27FC236}">
                  <a16:creationId xmlns:a16="http://schemas.microsoft.com/office/drawing/2014/main" id="{31755BF1-622E-4EF0-99CD-7F4F6D47B564}"/>
                </a:ext>
              </a:extLst>
            </p:cNvPr>
            <p:cNvSpPr>
              <a:spLocks noChangeArrowheads="1"/>
            </p:cNvSpPr>
            <p:nvPr/>
          </p:nvSpPr>
          <p:spPr bwMode="auto">
            <a:xfrm>
              <a:off x="10855356"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1" name="Oval 630">
              <a:extLst>
                <a:ext uri="{FF2B5EF4-FFF2-40B4-BE49-F238E27FC236}">
                  <a16:creationId xmlns:a16="http://schemas.microsoft.com/office/drawing/2014/main" id="{01E36251-2410-4027-AC91-2ED57F08C9A4}"/>
                </a:ext>
              </a:extLst>
            </p:cNvPr>
            <p:cNvSpPr>
              <a:spLocks noChangeArrowheads="1"/>
            </p:cNvSpPr>
            <p:nvPr/>
          </p:nvSpPr>
          <p:spPr bwMode="auto">
            <a:xfrm>
              <a:off x="11002296"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2" name="Oval 630">
              <a:extLst>
                <a:ext uri="{FF2B5EF4-FFF2-40B4-BE49-F238E27FC236}">
                  <a16:creationId xmlns:a16="http://schemas.microsoft.com/office/drawing/2014/main" id="{C448ADE8-B5BE-4D0B-A053-662E21C1E9BE}"/>
                </a:ext>
              </a:extLst>
            </p:cNvPr>
            <p:cNvSpPr>
              <a:spLocks noChangeArrowheads="1"/>
            </p:cNvSpPr>
            <p:nvPr/>
          </p:nvSpPr>
          <p:spPr bwMode="auto">
            <a:xfrm>
              <a:off x="11153338"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3" name="Oval 630">
              <a:extLst>
                <a:ext uri="{FF2B5EF4-FFF2-40B4-BE49-F238E27FC236}">
                  <a16:creationId xmlns:a16="http://schemas.microsoft.com/office/drawing/2014/main" id="{FD0EF462-C825-4686-A4DA-8C8B58AE8AD8}"/>
                </a:ext>
              </a:extLst>
            </p:cNvPr>
            <p:cNvSpPr>
              <a:spLocks noChangeArrowheads="1"/>
            </p:cNvSpPr>
            <p:nvPr/>
          </p:nvSpPr>
          <p:spPr bwMode="auto">
            <a:xfrm>
              <a:off x="11304376"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4" name="Oval 630">
              <a:extLst>
                <a:ext uri="{FF2B5EF4-FFF2-40B4-BE49-F238E27FC236}">
                  <a16:creationId xmlns:a16="http://schemas.microsoft.com/office/drawing/2014/main" id="{4F012C95-4CEC-4A82-8386-D7DCD78086BA}"/>
                </a:ext>
              </a:extLst>
            </p:cNvPr>
            <p:cNvSpPr>
              <a:spLocks noChangeArrowheads="1"/>
            </p:cNvSpPr>
            <p:nvPr/>
          </p:nvSpPr>
          <p:spPr bwMode="auto">
            <a:xfrm>
              <a:off x="11454124"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5" name="Oval 630">
              <a:extLst>
                <a:ext uri="{FF2B5EF4-FFF2-40B4-BE49-F238E27FC236}">
                  <a16:creationId xmlns:a16="http://schemas.microsoft.com/office/drawing/2014/main" id="{44960D97-CF69-4307-BFC0-2D32BD0A5563}"/>
                </a:ext>
              </a:extLst>
            </p:cNvPr>
            <p:cNvSpPr>
              <a:spLocks noChangeArrowheads="1"/>
            </p:cNvSpPr>
            <p:nvPr/>
          </p:nvSpPr>
          <p:spPr bwMode="auto">
            <a:xfrm>
              <a:off x="11601327" y="2003006"/>
              <a:ext cx="88237" cy="99812"/>
            </a:xfrm>
            <a:prstGeom prst="ellipse">
              <a:avLst/>
            </a:prstGeom>
            <a:gradFill rotWithShape="1">
              <a:gsLst>
                <a:gs pos="0">
                  <a:srgbClr val="525252"/>
                </a:gs>
                <a:gs pos="50000">
                  <a:srgbClr val="B2B2B2"/>
                </a:gs>
                <a:gs pos="100000">
                  <a:srgbClr val="525252"/>
                </a:gs>
              </a:gsLst>
              <a:lin ang="0" scaled="1"/>
            </a:gradFill>
            <a:ln w="3175">
              <a:solidFill>
                <a:sysClr val="windowText" lastClr="000000"/>
              </a:solidFill>
              <a:round/>
              <a:headEnd/>
              <a:tailEnd/>
            </a:ln>
          </p:spPr>
          <p:txBody>
            <a:bodyPr rot="10800000" wrap="none" anchor="ctr"/>
            <a:lstStyle/>
            <a:p>
              <a:pPr marL="0" marR="0" lvl="0" indent="0" defTabSz="1038951"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a:ln>
                  <a:noFill/>
                </a:ln>
                <a:solidFill>
                  <a:prstClr val="black"/>
                </a:solidFill>
                <a:effectLst/>
                <a:uLnTx/>
                <a:uFillTx/>
                <a:latin typeface="맑은 고딕"/>
                <a:ea typeface="맑은 고딕"/>
                <a:cs typeface="Arial" charset="0"/>
              </a:endParaRPr>
            </a:p>
          </p:txBody>
        </p:sp>
        <p:sp>
          <p:nvSpPr>
            <p:cNvPr id="56" name="직사각형 55">
              <a:extLst>
                <a:ext uri="{FF2B5EF4-FFF2-40B4-BE49-F238E27FC236}">
                  <a16:creationId xmlns:a16="http://schemas.microsoft.com/office/drawing/2014/main" id="{E0AE8799-DE32-4860-BAF9-CEBB50D996E5}"/>
                </a:ext>
              </a:extLst>
            </p:cNvPr>
            <p:cNvSpPr/>
            <p:nvPr/>
          </p:nvSpPr>
          <p:spPr>
            <a:xfrm>
              <a:off x="10037140" y="1901020"/>
              <a:ext cx="1677640" cy="144001"/>
            </a:xfrm>
            <a:prstGeom prst="rect">
              <a:avLst/>
            </a:prstGeom>
            <a:solidFill>
              <a:srgbClr val="8093DC">
                <a:lumMod val="20000"/>
                <a:lumOff val="80000"/>
              </a:srgbClr>
            </a:solidFill>
            <a:ln w="6350" cap="flat" cmpd="sng" algn="ctr">
              <a:solidFill>
                <a:srgbClr val="FFFFFF">
                  <a:lumMod val="50000"/>
                </a:srgbClr>
              </a:solidFill>
              <a:prstDash val="solid"/>
              <a:miter lim="800000"/>
            </a:ln>
            <a:effectLst/>
          </p:spPr>
          <p:txBody>
            <a:bodyPr lIns="72000" tIns="36000" rIns="72000" b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rPr>
                <a:t>Interposer</a:t>
              </a:r>
              <a:endParaRPr kumimoji="0" lang="ko-KR" altLang="en-US" sz="800" b="0" i="0" u="none" strike="noStrike" kern="0" cap="none" spc="0" normalizeH="0" baseline="0" noProof="0" dirty="0">
                <a:ln>
                  <a:noFill/>
                </a:ln>
                <a:solidFill>
                  <a:srgbClr val="000000"/>
                </a:solidFill>
                <a:effectLst/>
                <a:uLnTx/>
                <a:uFillTx/>
                <a:latin typeface="맑은 고딕"/>
                <a:ea typeface="맑은 고딕"/>
                <a:cs typeface="Arial" panose="020B0604020202020204" pitchFamily="34" charset="0"/>
              </a:endParaRPr>
            </a:p>
          </p:txBody>
        </p:sp>
        <p:grpSp>
          <p:nvGrpSpPr>
            <p:cNvPr id="66" name="그룹 65">
              <a:extLst>
                <a:ext uri="{FF2B5EF4-FFF2-40B4-BE49-F238E27FC236}">
                  <a16:creationId xmlns:a16="http://schemas.microsoft.com/office/drawing/2014/main" id="{EC6AB9A5-0A84-4440-985F-EC0C82B9C179}"/>
                </a:ext>
              </a:extLst>
            </p:cNvPr>
            <p:cNvGrpSpPr/>
            <p:nvPr/>
          </p:nvGrpSpPr>
          <p:grpSpPr>
            <a:xfrm>
              <a:off x="10037140" y="1286334"/>
              <a:ext cx="1652424" cy="603419"/>
              <a:chOff x="9137059" y="2047229"/>
              <a:chExt cx="1316315" cy="1011341"/>
            </a:xfrm>
          </p:grpSpPr>
          <p:sp>
            <p:nvSpPr>
              <p:cNvPr id="67" name="직사각형 66">
                <a:extLst>
                  <a:ext uri="{FF2B5EF4-FFF2-40B4-BE49-F238E27FC236}">
                    <a16:creationId xmlns:a16="http://schemas.microsoft.com/office/drawing/2014/main" id="{951391F7-27CF-4149-A576-943F398DF436}"/>
                  </a:ext>
                </a:extLst>
              </p:cNvPr>
              <p:cNvSpPr/>
              <p:nvPr/>
            </p:nvSpPr>
            <p:spPr>
              <a:xfrm>
                <a:off x="9243425" y="267113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68" name="직사각형 67">
                <a:extLst>
                  <a:ext uri="{FF2B5EF4-FFF2-40B4-BE49-F238E27FC236}">
                    <a16:creationId xmlns:a16="http://schemas.microsoft.com/office/drawing/2014/main" id="{3663FCE1-C90C-4D51-92A2-E368C0A07FA7}"/>
                  </a:ext>
                </a:extLst>
              </p:cNvPr>
              <p:cNvSpPr/>
              <p:nvPr/>
            </p:nvSpPr>
            <p:spPr>
              <a:xfrm>
                <a:off x="9243425" y="2479419"/>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69" name="직사각형 68">
                <a:extLst>
                  <a:ext uri="{FF2B5EF4-FFF2-40B4-BE49-F238E27FC236}">
                    <a16:creationId xmlns:a16="http://schemas.microsoft.com/office/drawing/2014/main" id="{94A03D57-DB05-4E71-A92F-BC2948E696EA}"/>
                  </a:ext>
                </a:extLst>
              </p:cNvPr>
              <p:cNvSpPr/>
              <p:nvPr/>
            </p:nvSpPr>
            <p:spPr>
              <a:xfrm>
                <a:off x="9243424" y="2282158"/>
                <a:ext cx="1107300" cy="19509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sp>
            <p:nvSpPr>
              <p:cNvPr id="70" name="직사각형 69">
                <a:extLst>
                  <a:ext uri="{FF2B5EF4-FFF2-40B4-BE49-F238E27FC236}">
                    <a16:creationId xmlns:a16="http://schemas.microsoft.com/office/drawing/2014/main" id="{547CB63D-17B5-4B75-B8F9-01FC8ACE4B48}"/>
                  </a:ext>
                </a:extLst>
              </p:cNvPr>
              <p:cNvSpPr/>
              <p:nvPr/>
            </p:nvSpPr>
            <p:spPr>
              <a:xfrm>
                <a:off x="9243425" y="2047229"/>
                <a:ext cx="1107300" cy="238308"/>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C-die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71" name="직선 연결선 70">
                <a:extLst>
                  <a:ext uri="{FF2B5EF4-FFF2-40B4-BE49-F238E27FC236}">
                    <a16:creationId xmlns:a16="http://schemas.microsoft.com/office/drawing/2014/main" id="{BB051AF0-F184-46C3-9C8C-0FC7D1D6C234}"/>
                  </a:ext>
                </a:extLst>
              </p:cNvPr>
              <p:cNvCxnSpPr/>
              <p:nvPr/>
            </p:nvCxnSpPr>
            <p:spPr>
              <a:xfrm>
                <a:off x="9236393" y="3026519"/>
                <a:ext cx="1114332" cy="0"/>
              </a:xfrm>
              <a:prstGeom prst="line">
                <a:avLst/>
              </a:prstGeom>
              <a:solidFill>
                <a:srgbClr val="4472C4"/>
              </a:solidFill>
              <a:ln w="19050" cap="flat" cmpd="sng" algn="ctr">
                <a:solidFill>
                  <a:srgbClr val="FFC000"/>
                </a:solidFill>
                <a:prstDash val="solid"/>
                <a:miter lim="800000"/>
              </a:ln>
              <a:effectLst/>
            </p:spPr>
          </p:cxnSp>
          <p:cxnSp>
            <p:nvCxnSpPr>
              <p:cNvPr id="72" name="직선 연결선 71">
                <a:extLst>
                  <a:ext uri="{FF2B5EF4-FFF2-40B4-BE49-F238E27FC236}">
                    <a16:creationId xmlns:a16="http://schemas.microsoft.com/office/drawing/2014/main" id="{03A9C166-4273-4DAC-B8AD-F81A05BAAA50}"/>
                  </a:ext>
                </a:extLst>
              </p:cNvPr>
              <p:cNvCxnSpPr/>
              <p:nvPr/>
            </p:nvCxnSpPr>
            <p:spPr>
              <a:xfrm>
                <a:off x="10256045" y="2686299"/>
                <a:ext cx="0" cy="156980"/>
              </a:xfrm>
              <a:prstGeom prst="line">
                <a:avLst/>
              </a:prstGeom>
              <a:solidFill>
                <a:srgbClr val="4472C4"/>
              </a:solidFill>
              <a:ln w="28575" cap="flat" cmpd="sng" algn="ctr">
                <a:solidFill>
                  <a:srgbClr val="FFFF00"/>
                </a:solidFill>
                <a:prstDash val="solid"/>
              </a:ln>
              <a:effectLst/>
            </p:spPr>
          </p:cxnSp>
          <p:cxnSp>
            <p:nvCxnSpPr>
              <p:cNvPr id="73" name="직선 연결선 72">
                <a:extLst>
                  <a:ext uri="{FF2B5EF4-FFF2-40B4-BE49-F238E27FC236}">
                    <a16:creationId xmlns:a16="http://schemas.microsoft.com/office/drawing/2014/main" id="{9AE7B2A2-7B6E-45EC-BD3D-7321874DFBDD}"/>
                  </a:ext>
                </a:extLst>
              </p:cNvPr>
              <p:cNvCxnSpPr/>
              <p:nvPr/>
            </p:nvCxnSpPr>
            <p:spPr>
              <a:xfrm>
                <a:off x="10160360" y="2686299"/>
                <a:ext cx="0" cy="156980"/>
              </a:xfrm>
              <a:prstGeom prst="line">
                <a:avLst/>
              </a:prstGeom>
              <a:solidFill>
                <a:srgbClr val="4472C4"/>
              </a:solidFill>
              <a:ln w="28575" cap="flat" cmpd="sng" algn="ctr">
                <a:solidFill>
                  <a:srgbClr val="FFFF00"/>
                </a:solidFill>
                <a:prstDash val="solid"/>
              </a:ln>
              <a:effectLst/>
            </p:spPr>
          </p:cxnSp>
          <p:cxnSp>
            <p:nvCxnSpPr>
              <p:cNvPr id="74" name="직선 연결선 73">
                <a:extLst>
                  <a:ext uri="{FF2B5EF4-FFF2-40B4-BE49-F238E27FC236}">
                    <a16:creationId xmlns:a16="http://schemas.microsoft.com/office/drawing/2014/main" id="{A0FC17DF-5DBE-400F-A69E-D836CBDE3B07}"/>
                  </a:ext>
                </a:extLst>
              </p:cNvPr>
              <p:cNvCxnSpPr/>
              <p:nvPr/>
            </p:nvCxnSpPr>
            <p:spPr>
              <a:xfrm>
                <a:off x="9443245" y="2686299"/>
                <a:ext cx="0" cy="156980"/>
              </a:xfrm>
              <a:prstGeom prst="line">
                <a:avLst/>
              </a:prstGeom>
              <a:solidFill>
                <a:srgbClr val="4472C4"/>
              </a:solidFill>
              <a:ln w="28575" cap="flat" cmpd="sng" algn="ctr">
                <a:solidFill>
                  <a:srgbClr val="FFFF00"/>
                </a:solidFill>
                <a:prstDash val="solid"/>
              </a:ln>
              <a:effectLst/>
            </p:spPr>
          </p:cxnSp>
          <p:cxnSp>
            <p:nvCxnSpPr>
              <p:cNvPr id="75" name="직선 연결선 74">
                <a:extLst>
                  <a:ext uri="{FF2B5EF4-FFF2-40B4-BE49-F238E27FC236}">
                    <a16:creationId xmlns:a16="http://schemas.microsoft.com/office/drawing/2014/main" id="{971245C7-F40B-4564-917C-2F4B1E62A38D}"/>
                  </a:ext>
                </a:extLst>
              </p:cNvPr>
              <p:cNvCxnSpPr/>
              <p:nvPr/>
            </p:nvCxnSpPr>
            <p:spPr>
              <a:xfrm>
                <a:off x="9347560" y="2686299"/>
                <a:ext cx="0" cy="156980"/>
              </a:xfrm>
              <a:prstGeom prst="line">
                <a:avLst/>
              </a:prstGeom>
              <a:solidFill>
                <a:srgbClr val="4472C4"/>
              </a:solidFill>
              <a:ln w="28575" cap="flat" cmpd="sng" algn="ctr">
                <a:solidFill>
                  <a:srgbClr val="FFFF00"/>
                </a:solidFill>
                <a:prstDash val="solid"/>
              </a:ln>
              <a:effectLst/>
            </p:spPr>
          </p:cxnSp>
          <p:cxnSp>
            <p:nvCxnSpPr>
              <p:cNvPr id="76" name="직선 연결선 75">
                <a:extLst>
                  <a:ext uri="{FF2B5EF4-FFF2-40B4-BE49-F238E27FC236}">
                    <a16:creationId xmlns:a16="http://schemas.microsoft.com/office/drawing/2014/main" id="{98708845-6E44-484D-8DA3-33AD4E90D01F}"/>
                  </a:ext>
                </a:extLst>
              </p:cNvPr>
              <p:cNvCxnSpPr/>
              <p:nvPr/>
            </p:nvCxnSpPr>
            <p:spPr>
              <a:xfrm>
                <a:off x="10256045" y="2495097"/>
                <a:ext cx="0" cy="156980"/>
              </a:xfrm>
              <a:prstGeom prst="line">
                <a:avLst/>
              </a:prstGeom>
              <a:solidFill>
                <a:srgbClr val="4472C4"/>
              </a:solidFill>
              <a:ln w="28575" cap="flat" cmpd="sng" algn="ctr">
                <a:solidFill>
                  <a:srgbClr val="FFFF00"/>
                </a:solidFill>
                <a:prstDash val="solid"/>
              </a:ln>
              <a:effectLst/>
            </p:spPr>
          </p:cxnSp>
          <p:cxnSp>
            <p:nvCxnSpPr>
              <p:cNvPr id="77" name="직선 연결선 76">
                <a:extLst>
                  <a:ext uri="{FF2B5EF4-FFF2-40B4-BE49-F238E27FC236}">
                    <a16:creationId xmlns:a16="http://schemas.microsoft.com/office/drawing/2014/main" id="{82785CB7-94EE-4AD6-8042-98CAC6D36F53}"/>
                  </a:ext>
                </a:extLst>
              </p:cNvPr>
              <p:cNvCxnSpPr/>
              <p:nvPr/>
            </p:nvCxnSpPr>
            <p:spPr>
              <a:xfrm>
                <a:off x="10160360" y="2495097"/>
                <a:ext cx="0" cy="156980"/>
              </a:xfrm>
              <a:prstGeom prst="line">
                <a:avLst/>
              </a:prstGeom>
              <a:solidFill>
                <a:srgbClr val="4472C4"/>
              </a:solidFill>
              <a:ln w="28575" cap="flat" cmpd="sng" algn="ctr">
                <a:solidFill>
                  <a:srgbClr val="FFFF00"/>
                </a:solidFill>
                <a:prstDash val="solid"/>
              </a:ln>
              <a:effectLst/>
            </p:spPr>
          </p:cxnSp>
          <p:cxnSp>
            <p:nvCxnSpPr>
              <p:cNvPr id="78" name="직선 연결선 77">
                <a:extLst>
                  <a:ext uri="{FF2B5EF4-FFF2-40B4-BE49-F238E27FC236}">
                    <a16:creationId xmlns:a16="http://schemas.microsoft.com/office/drawing/2014/main" id="{D7019317-1808-471C-A15B-BF85F9694498}"/>
                  </a:ext>
                </a:extLst>
              </p:cNvPr>
              <p:cNvCxnSpPr/>
              <p:nvPr/>
            </p:nvCxnSpPr>
            <p:spPr>
              <a:xfrm>
                <a:off x="9443245" y="2495097"/>
                <a:ext cx="0" cy="156980"/>
              </a:xfrm>
              <a:prstGeom prst="line">
                <a:avLst/>
              </a:prstGeom>
              <a:solidFill>
                <a:srgbClr val="4472C4"/>
              </a:solidFill>
              <a:ln w="28575" cap="flat" cmpd="sng" algn="ctr">
                <a:solidFill>
                  <a:srgbClr val="FFFF00"/>
                </a:solidFill>
                <a:prstDash val="solid"/>
              </a:ln>
              <a:effectLst/>
            </p:spPr>
          </p:cxnSp>
          <p:cxnSp>
            <p:nvCxnSpPr>
              <p:cNvPr id="79" name="직선 연결선 78">
                <a:extLst>
                  <a:ext uri="{FF2B5EF4-FFF2-40B4-BE49-F238E27FC236}">
                    <a16:creationId xmlns:a16="http://schemas.microsoft.com/office/drawing/2014/main" id="{CEB25033-5C31-46FC-8D15-415C87C9450C}"/>
                  </a:ext>
                </a:extLst>
              </p:cNvPr>
              <p:cNvCxnSpPr/>
              <p:nvPr/>
            </p:nvCxnSpPr>
            <p:spPr>
              <a:xfrm>
                <a:off x="9347560" y="2495097"/>
                <a:ext cx="0" cy="156980"/>
              </a:xfrm>
              <a:prstGeom prst="line">
                <a:avLst/>
              </a:prstGeom>
              <a:solidFill>
                <a:srgbClr val="4472C4"/>
              </a:solidFill>
              <a:ln w="28575" cap="flat" cmpd="sng" algn="ctr">
                <a:solidFill>
                  <a:srgbClr val="FFFF00"/>
                </a:solidFill>
                <a:prstDash val="solid"/>
              </a:ln>
              <a:effectLst/>
            </p:spPr>
          </p:cxnSp>
          <p:cxnSp>
            <p:nvCxnSpPr>
              <p:cNvPr id="80" name="직선 연결선 79">
                <a:extLst>
                  <a:ext uri="{FF2B5EF4-FFF2-40B4-BE49-F238E27FC236}">
                    <a16:creationId xmlns:a16="http://schemas.microsoft.com/office/drawing/2014/main" id="{34F6EC33-C7D8-472C-A451-82F1C968455B}"/>
                  </a:ext>
                </a:extLst>
              </p:cNvPr>
              <p:cNvCxnSpPr/>
              <p:nvPr/>
            </p:nvCxnSpPr>
            <p:spPr>
              <a:xfrm>
                <a:off x="10256045" y="2288230"/>
                <a:ext cx="0" cy="156980"/>
              </a:xfrm>
              <a:prstGeom prst="line">
                <a:avLst/>
              </a:prstGeom>
              <a:solidFill>
                <a:srgbClr val="4472C4"/>
              </a:solidFill>
              <a:ln w="28575" cap="flat" cmpd="sng" algn="ctr">
                <a:solidFill>
                  <a:srgbClr val="FFFF00"/>
                </a:solidFill>
                <a:prstDash val="solid"/>
              </a:ln>
              <a:effectLst/>
            </p:spPr>
          </p:cxnSp>
          <p:cxnSp>
            <p:nvCxnSpPr>
              <p:cNvPr id="81" name="직선 연결선 80">
                <a:extLst>
                  <a:ext uri="{FF2B5EF4-FFF2-40B4-BE49-F238E27FC236}">
                    <a16:creationId xmlns:a16="http://schemas.microsoft.com/office/drawing/2014/main" id="{3F871DD9-A40C-400E-A147-2FE2B1CBC8AA}"/>
                  </a:ext>
                </a:extLst>
              </p:cNvPr>
              <p:cNvCxnSpPr/>
              <p:nvPr/>
            </p:nvCxnSpPr>
            <p:spPr>
              <a:xfrm>
                <a:off x="10160360" y="2288230"/>
                <a:ext cx="0" cy="156980"/>
              </a:xfrm>
              <a:prstGeom prst="line">
                <a:avLst/>
              </a:prstGeom>
              <a:solidFill>
                <a:srgbClr val="4472C4"/>
              </a:solidFill>
              <a:ln w="28575" cap="flat" cmpd="sng" algn="ctr">
                <a:solidFill>
                  <a:srgbClr val="FFFF00"/>
                </a:solidFill>
                <a:prstDash val="solid"/>
              </a:ln>
              <a:effectLst/>
            </p:spPr>
          </p:cxnSp>
          <p:cxnSp>
            <p:nvCxnSpPr>
              <p:cNvPr id="82" name="직선 연결선 81">
                <a:extLst>
                  <a:ext uri="{FF2B5EF4-FFF2-40B4-BE49-F238E27FC236}">
                    <a16:creationId xmlns:a16="http://schemas.microsoft.com/office/drawing/2014/main" id="{6DF1783E-500E-4806-8D40-9081418B7161}"/>
                  </a:ext>
                </a:extLst>
              </p:cNvPr>
              <p:cNvCxnSpPr/>
              <p:nvPr/>
            </p:nvCxnSpPr>
            <p:spPr>
              <a:xfrm>
                <a:off x="9443245" y="2288230"/>
                <a:ext cx="0" cy="156980"/>
              </a:xfrm>
              <a:prstGeom prst="line">
                <a:avLst/>
              </a:prstGeom>
              <a:solidFill>
                <a:srgbClr val="4472C4"/>
              </a:solidFill>
              <a:ln w="28575" cap="flat" cmpd="sng" algn="ctr">
                <a:solidFill>
                  <a:srgbClr val="FFFF00"/>
                </a:solidFill>
                <a:prstDash val="solid"/>
              </a:ln>
              <a:effectLst/>
            </p:spPr>
          </p:cxnSp>
          <p:cxnSp>
            <p:nvCxnSpPr>
              <p:cNvPr id="83" name="직선 연결선 82">
                <a:extLst>
                  <a:ext uri="{FF2B5EF4-FFF2-40B4-BE49-F238E27FC236}">
                    <a16:creationId xmlns:a16="http://schemas.microsoft.com/office/drawing/2014/main" id="{644F426A-C4A1-4CE7-81B3-C7F9F5301C0F}"/>
                  </a:ext>
                </a:extLst>
              </p:cNvPr>
              <p:cNvCxnSpPr/>
              <p:nvPr/>
            </p:nvCxnSpPr>
            <p:spPr>
              <a:xfrm>
                <a:off x="9347560" y="2288230"/>
                <a:ext cx="0" cy="156980"/>
              </a:xfrm>
              <a:prstGeom prst="line">
                <a:avLst/>
              </a:prstGeom>
              <a:solidFill>
                <a:srgbClr val="4472C4"/>
              </a:solidFill>
              <a:ln w="28575" cap="flat" cmpd="sng" algn="ctr">
                <a:solidFill>
                  <a:srgbClr val="FFFF00"/>
                </a:solidFill>
                <a:prstDash val="solid"/>
              </a:ln>
              <a:effectLst/>
            </p:spPr>
          </p:cxnSp>
          <p:sp>
            <p:nvSpPr>
              <p:cNvPr id="84" name="직사각형 83">
                <a:extLst>
                  <a:ext uri="{FF2B5EF4-FFF2-40B4-BE49-F238E27FC236}">
                    <a16:creationId xmlns:a16="http://schemas.microsoft.com/office/drawing/2014/main" id="{684ADD1A-5C58-4B17-8D47-E97243ABBEAD}"/>
                  </a:ext>
                </a:extLst>
              </p:cNvPr>
              <p:cNvSpPr/>
              <p:nvPr/>
            </p:nvSpPr>
            <p:spPr>
              <a:xfrm>
                <a:off x="9137059" y="2863475"/>
                <a:ext cx="1316315" cy="195095"/>
              </a:xfrm>
              <a:prstGeom prst="rect">
                <a:avLst/>
              </a:prstGeom>
              <a:solidFill>
                <a:srgbClr val="FFC000">
                  <a:lumMod val="40000"/>
                  <a:lumOff val="60000"/>
                </a:srgbClr>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rPr>
                  <a:t>B-die</a:t>
                </a:r>
                <a:endParaRPr kumimoji="0" lang="ko-KR" altLang="en-US" sz="700" b="0" i="0" u="none" strike="noStrike" kern="0" cap="none" spc="0" normalizeH="0" baseline="0" noProof="0" dirty="0">
                  <a:ln>
                    <a:noFill/>
                  </a:ln>
                  <a:solidFill>
                    <a:srgbClr val="000000"/>
                  </a:solidFill>
                  <a:effectLst/>
                  <a:uLnTx/>
                  <a:uFillTx/>
                  <a:latin typeface="Calibri" panose="020F0502020204030204"/>
                  <a:ea typeface="맑은 고딕" panose="020B0503020000020004" pitchFamily="50" charset="-127"/>
                </a:endParaRPr>
              </a:p>
            </p:txBody>
          </p:sp>
          <p:cxnSp>
            <p:nvCxnSpPr>
              <p:cNvPr id="85" name="직선 연결선 84">
                <a:extLst>
                  <a:ext uri="{FF2B5EF4-FFF2-40B4-BE49-F238E27FC236}">
                    <a16:creationId xmlns:a16="http://schemas.microsoft.com/office/drawing/2014/main" id="{A664F2CC-21FF-4F28-8D4D-D87CFDABB79E}"/>
                  </a:ext>
                </a:extLst>
              </p:cNvPr>
              <p:cNvCxnSpPr/>
              <p:nvPr/>
            </p:nvCxnSpPr>
            <p:spPr>
              <a:xfrm>
                <a:off x="10256045" y="2878635"/>
                <a:ext cx="0" cy="156980"/>
              </a:xfrm>
              <a:prstGeom prst="line">
                <a:avLst/>
              </a:prstGeom>
              <a:solidFill>
                <a:srgbClr val="4472C4"/>
              </a:solidFill>
              <a:ln w="28575" cap="flat" cmpd="sng" algn="ctr">
                <a:solidFill>
                  <a:srgbClr val="FFFF00"/>
                </a:solidFill>
                <a:prstDash val="solid"/>
              </a:ln>
              <a:effectLst/>
            </p:spPr>
          </p:cxnSp>
          <p:cxnSp>
            <p:nvCxnSpPr>
              <p:cNvPr id="86" name="직선 연결선 85">
                <a:extLst>
                  <a:ext uri="{FF2B5EF4-FFF2-40B4-BE49-F238E27FC236}">
                    <a16:creationId xmlns:a16="http://schemas.microsoft.com/office/drawing/2014/main" id="{6109CF0D-4B75-4AA2-9A0D-6E489EF9A4C2}"/>
                  </a:ext>
                </a:extLst>
              </p:cNvPr>
              <p:cNvCxnSpPr/>
              <p:nvPr/>
            </p:nvCxnSpPr>
            <p:spPr>
              <a:xfrm>
                <a:off x="10160360" y="2878635"/>
                <a:ext cx="0" cy="156980"/>
              </a:xfrm>
              <a:prstGeom prst="line">
                <a:avLst/>
              </a:prstGeom>
              <a:solidFill>
                <a:srgbClr val="4472C4"/>
              </a:solidFill>
              <a:ln w="28575" cap="flat" cmpd="sng" algn="ctr">
                <a:solidFill>
                  <a:srgbClr val="FFFF00"/>
                </a:solidFill>
                <a:prstDash val="solid"/>
              </a:ln>
              <a:effectLst/>
            </p:spPr>
          </p:cxnSp>
          <p:cxnSp>
            <p:nvCxnSpPr>
              <p:cNvPr id="87" name="직선 연결선 86">
                <a:extLst>
                  <a:ext uri="{FF2B5EF4-FFF2-40B4-BE49-F238E27FC236}">
                    <a16:creationId xmlns:a16="http://schemas.microsoft.com/office/drawing/2014/main" id="{33FF3CE3-6EC6-4AF9-86EF-DEFED3FC856E}"/>
                  </a:ext>
                </a:extLst>
              </p:cNvPr>
              <p:cNvCxnSpPr/>
              <p:nvPr/>
            </p:nvCxnSpPr>
            <p:spPr>
              <a:xfrm>
                <a:off x="9443245" y="2878635"/>
                <a:ext cx="0" cy="156980"/>
              </a:xfrm>
              <a:prstGeom prst="line">
                <a:avLst/>
              </a:prstGeom>
              <a:solidFill>
                <a:srgbClr val="4472C4"/>
              </a:solidFill>
              <a:ln w="28575" cap="flat" cmpd="sng" algn="ctr">
                <a:solidFill>
                  <a:srgbClr val="FFFF00"/>
                </a:solidFill>
                <a:prstDash val="solid"/>
              </a:ln>
              <a:effectLst/>
            </p:spPr>
          </p:cxnSp>
          <p:cxnSp>
            <p:nvCxnSpPr>
              <p:cNvPr id="88" name="직선 연결선 87">
                <a:extLst>
                  <a:ext uri="{FF2B5EF4-FFF2-40B4-BE49-F238E27FC236}">
                    <a16:creationId xmlns:a16="http://schemas.microsoft.com/office/drawing/2014/main" id="{88098DAD-E01A-4408-BD15-C139A8EDADCE}"/>
                  </a:ext>
                </a:extLst>
              </p:cNvPr>
              <p:cNvCxnSpPr/>
              <p:nvPr/>
            </p:nvCxnSpPr>
            <p:spPr>
              <a:xfrm>
                <a:off x="9347560" y="2878635"/>
                <a:ext cx="0" cy="156980"/>
              </a:xfrm>
              <a:prstGeom prst="line">
                <a:avLst/>
              </a:prstGeom>
              <a:solidFill>
                <a:srgbClr val="4472C4"/>
              </a:solidFill>
              <a:ln w="28575" cap="flat" cmpd="sng" algn="ctr">
                <a:solidFill>
                  <a:srgbClr val="FFFF00"/>
                </a:solidFill>
                <a:prstDash val="solid"/>
              </a:ln>
              <a:effectLst/>
            </p:spPr>
          </p:cxnSp>
        </p:grpSp>
        <p:sp>
          <p:nvSpPr>
            <p:cNvPr id="90" name="TextBox 89">
              <a:extLst>
                <a:ext uri="{FF2B5EF4-FFF2-40B4-BE49-F238E27FC236}">
                  <a16:creationId xmlns:a16="http://schemas.microsoft.com/office/drawing/2014/main" id="{C5046B09-E766-4339-A7CD-F9283B87504B}"/>
                </a:ext>
              </a:extLst>
            </p:cNvPr>
            <p:cNvSpPr txBox="1"/>
            <p:nvPr/>
          </p:nvSpPr>
          <p:spPr>
            <a:xfrm>
              <a:off x="10105480" y="1778555"/>
              <a:ext cx="254363" cy="109920"/>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91" name="TextBox 90">
              <a:extLst>
                <a:ext uri="{FF2B5EF4-FFF2-40B4-BE49-F238E27FC236}">
                  <a16:creationId xmlns:a16="http://schemas.microsoft.com/office/drawing/2014/main" id="{426DA31F-A4E7-4DA7-BF08-B7E96263BBD7}"/>
                </a:ext>
              </a:extLst>
            </p:cNvPr>
            <p:cNvSpPr txBox="1"/>
            <p:nvPr/>
          </p:nvSpPr>
          <p:spPr>
            <a:xfrm>
              <a:off x="11376806" y="1778555"/>
              <a:ext cx="254363" cy="109920"/>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95" name="TextBox 94">
              <a:extLst>
                <a:ext uri="{FF2B5EF4-FFF2-40B4-BE49-F238E27FC236}">
                  <a16:creationId xmlns:a16="http://schemas.microsoft.com/office/drawing/2014/main" id="{C5046B09-E766-4339-A7CD-F9283B87504B}"/>
                </a:ext>
              </a:extLst>
            </p:cNvPr>
            <p:cNvSpPr txBox="1"/>
            <p:nvPr/>
          </p:nvSpPr>
          <p:spPr>
            <a:xfrm>
              <a:off x="10432116" y="1778555"/>
              <a:ext cx="254363" cy="109920"/>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96" name="TextBox 95">
              <a:extLst>
                <a:ext uri="{FF2B5EF4-FFF2-40B4-BE49-F238E27FC236}">
                  <a16:creationId xmlns:a16="http://schemas.microsoft.com/office/drawing/2014/main" id="{426DA31F-A4E7-4DA7-BF08-B7E96263BBD7}"/>
                </a:ext>
              </a:extLst>
            </p:cNvPr>
            <p:cNvSpPr txBox="1"/>
            <p:nvPr/>
          </p:nvSpPr>
          <p:spPr>
            <a:xfrm>
              <a:off x="11052230" y="1778555"/>
              <a:ext cx="254363" cy="109920"/>
            </a:xfrm>
            <a:prstGeom prst="rect">
              <a:avLst/>
            </a:prstGeom>
            <a:solidFill>
              <a:srgbClr val="00B050"/>
            </a:solidFill>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600" b="1" kern="0" noProof="0" dirty="0">
                  <a:solidFill>
                    <a:srgbClr val="000000"/>
                  </a:solidFill>
                  <a:latin typeface="맑은 고딕"/>
                  <a:ea typeface="맑은 고딕"/>
                </a:rPr>
                <a:t>PE</a:t>
              </a:r>
              <a:endParaRPr kumimoji="0" lang="en-US" altLang="ko-KR" sz="600" b="1" i="0" u="none" strike="noStrike" kern="0" cap="none" spc="0" normalizeH="0" baseline="0" noProof="0" dirty="0">
                <a:ln>
                  <a:noFill/>
                </a:ln>
                <a:solidFill>
                  <a:srgbClr val="000000"/>
                </a:solidFill>
                <a:effectLst/>
                <a:uLnTx/>
                <a:uFillTx/>
                <a:latin typeface="맑은 고딕"/>
                <a:ea typeface="맑은 고딕"/>
              </a:endParaRPr>
            </a:p>
          </p:txBody>
        </p:sp>
        <p:sp>
          <p:nvSpPr>
            <p:cNvPr id="105" name="직사각형 104"/>
            <p:cNvSpPr/>
            <p:nvPr/>
          </p:nvSpPr>
          <p:spPr>
            <a:xfrm>
              <a:off x="10021004" y="1748510"/>
              <a:ext cx="1668560" cy="159675"/>
            </a:xfrm>
            <a:prstGeom prst="rect">
              <a:avLst/>
            </a:prstGeom>
            <a:noFill/>
            <a:ln w="3175">
              <a:solidFill>
                <a:schemeClr val="accent4">
                  <a:lumMod val="50000"/>
                </a:schemeClr>
              </a:solidFill>
            </a:ln>
            <a:effectLst>
              <a:glow rad="63500">
                <a:schemeClr val="accent4">
                  <a:satMod val="175000"/>
                  <a:alpha val="40000"/>
                </a:schemeClr>
              </a:glow>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grpSp>
      <p:cxnSp>
        <p:nvCxnSpPr>
          <p:cNvPr id="107" name="구부러진 연결선 106"/>
          <p:cNvCxnSpPr>
            <a:stCxn id="105" idx="3"/>
            <a:endCxn id="4" idx="3"/>
          </p:cNvCxnSpPr>
          <p:nvPr/>
        </p:nvCxnSpPr>
        <p:spPr>
          <a:xfrm>
            <a:off x="11695914" y="2273826"/>
            <a:ext cx="119958" cy="1967164"/>
          </a:xfrm>
          <a:prstGeom prst="curvedConnector3">
            <a:avLst>
              <a:gd name="adj1" fmla="val 290567"/>
            </a:avLst>
          </a:prstGeom>
          <a:ln w="12700">
            <a:solidFill>
              <a:schemeClr val="bg1">
                <a:lumMod val="50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89" name="실행 단추: 뒤로 또는 이전 88">
            <a:hlinkClick r:id="rId4" action="ppaction://hlinksldjump" highlightClick="1"/>
          </p:cNvPr>
          <p:cNvSpPr/>
          <p:nvPr/>
        </p:nvSpPr>
        <p:spPr>
          <a:xfrm>
            <a:off x="10278951" y="361705"/>
            <a:ext cx="328210" cy="320040"/>
          </a:xfrm>
          <a:prstGeom prst="actionButtonBackPrevious">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865012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Companion Mode VS. Standalone Mode</a:t>
            </a:r>
            <a:endParaRPr lang="ko-KR" altLang="en-US" dirty="0"/>
          </a:p>
        </p:txBody>
      </p:sp>
      <p:sp>
        <p:nvSpPr>
          <p:cNvPr id="3" name="내용 개체 틀 2"/>
          <p:cNvSpPr>
            <a:spLocks noGrp="1"/>
          </p:cNvSpPr>
          <p:nvPr>
            <p:ph idx="10"/>
          </p:nvPr>
        </p:nvSpPr>
        <p:spPr/>
        <p:txBody>
          <a:bodyPr>
            <a:normAutofit/>
          </a:bodyPr>
          <a:lstStyle/>
          <a:p>
            <a:r>
              <a:rPr lang="en-US" altLang="ko-KR" sz="2000" dirty="0"/>
              <a:t>Companion Mode</a:t>
            </a:r>
          </a:p>
          <a:p>
            <a:pPr lvl="1"/>
            <a:r>
              <a:rPr lang="en-US" altLang="ko-KR" sz="1600" dirty="0"/>
              <a:t>ScHBM Chiplet assists the main compute hardware (GPU, TPU, etc.)</a:t>
            </a:r>
          </a:p>
          <a:p>
            <a:r>
              <a:rPr lang="en-US" altLang="ko-KR" sz="2000" dirty="0"/>
              <a:t>Standalone Mode</a:t>
            </a:r>
          </a:p>
          <a:p>
            <a:pPr lvl="1"/>
            <a:r>
              <a:rPr lang="en-US" altLang="ko-KR" sz="1600" dirty="0"/>
              <a:t>Standalone Mode builds a fully independent LLM inference system using </a:t>
            </a:r>
            <a:r>
              <a:rPr lang="en-US" altLang="ko-KR" sz="1600" dirty="0" err="1"/>
              <a:t>cHBM</a:t>
            </a:r>
            <a:r>
              <a:rPr lang="en-US" altLang="ko-KR" sz="1600" dirty="0"/>
              <a:t> Chiplets alone—without any main compute hardware—targeting a scalable architecture with high performance/Watt.</a:t>
            </a:r>
            <a:endParaRPr lang="ko-KR" altLang="en-US" sz="1600" dirty="0"/>
          </a:p>
        </p:txBody>
      </p:sp>
      <p:grpSp>
        <p:nvGrpSpPr>
          <p:cNvPr id="192" name="그룹 191"/>
          <p:cNvGrpSpPr/>
          <p:nvPr/>
        </p:nvGrpSpPr>
        <p:grpSpPr>
          <a:xfrm>
            <a:off x="2458847" y="3804677"/>
            <a:ext cx="1860007" cy="1783026"/>
            <a:chOff x="5054385" y="173245"/>
            <a:chExt cx="1423893" cy="1364962"/>
          </a:xfrm>
        </p:grpSpPr>
        <p:sp>
          <p:nvSpPr>
            <p:cNvPr id="69" name="TextBox 68">
              <a:extLst>
                <a:ext uri="{FF2B5EF4-FFF2-40B4-BE49-F238E27FC236}">
                  <a16:creationId xmlns:a16="http://schemas.microsoft.com/office/drawing/2014/main" id="{69B939B3-8DEC-48E8-A054-CF9A87F4E686}"/>
                </a:ext>
              </a:extLst>
            </p:cNvPr>
            <p:cNvSpPr txBox="1"/>
            <p:nvPr/>
          </p:nvSpPr>
          <p:spPr>
            <a:xfrm>
              <a:off x="5462329" y="229360"/>
              <a:ext cx="608086" cy="615094"/>
            </a:xfrm>
            <a:prstGeom prst="rect">
              <a:avLst/>
            </a:prstGeom>
            <a:solidFill>
              <a:srgbClr val="00B050"/>
            </a:solidFill>
            <a:ln>
              <a:solidFill>
                <a:srgbClr val="008000"/>
              </a:solidFill>
            </a:ln>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800" b="1" kern="0" noProof="0" dirty="0" err="1">
                  <a:solidFill>
                    <a:srgbClr val="000000"/>
                  </a:solidFill>
                  <a:latin typeface="맑은 고딕"/>
                  <a:ea typeface="맑은 고딕"/>
                </a:rPr>
                <a:t>xPU</a:t>
              </a:r>
              <a:endParaRPr lang="en-US" altLang="ko-KR" sz="800" b="1" kern="0" noProof="0" dirty="0">
                <a:solidFill>
                  <a:srgbClr val="000000"/>
                </a:solidFill>
                <a:latin typeface="맑은 고딕"/>
                <a:ea typeface="맑은 고딕"/>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800" b="1" kern="0" dirty="0">
                  <a:solidFill>
                    <a:srgbClr val="000000"/>
                  </a:solidFill>
                  <a:latin typeface="맑은 고딕"/>
                  <a:ea typeface="맑은 고딕"/>
                </a:rPr>
                <a:t>(GPU, TPU, NPU)</a:t>
              </a:r>
              <a:endParaRPr lang="en-US" altLang="ko-KR" sz="800" b="1" kern="0" noProof="0" dirty="0">
                <a:solidFill>
                  <a:srgbClr val="000000"/>
                </a:solidFill>
                <a:latin typeface="맑은 고딕"/>
                <a:ea typeface="맑은 고딕"/>
              </a:endParaRPr>
            </a:p>
          </p:txBody>
        </p:sp>
        <p:sp>
          <p:nvSpPr>
            <p:cNvPr id="70" name="TextBox 69">
              <a:extLst>
                <a:ext uri="{FF2B5EF4-FFF2-40B4-BE49-F238E27FC236}">
                  <a16:creationId xmlns:a16="http://schemas.microsoft.com/office/drawing/2014/main" id="{69B939B3-8DEC-48E8-A054-CF9A87F4E686}"/>
                </a:ext>
              </a:extLst>
            </p:cNvPr>
            <p:cNvSpPr txBox="1"/>
            <p:nvPr/>
          </p:nvSpPr>
          <p:spPr>
            <a:xfrm>
              <a:off x="5462329" y="862445"/>
              <a:ext cx="608086" cy="615094"/>
            </a:xfrm>
            <a:prstGeom prst="rect">
              <a:avLst/>
            </a:prstGeom>
            <a:solidFill>
              <a:srgbClr val="00B050"/>
            </a:solidFill>
            <a:ln>
              <a:solidFill>
                <a:srgbClr val="008000"/>
              </a:solidFill>
            </a:ln>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800" b="1" kern="0" noProof="0" dirty="0" err="1">
                  <a:solidFill>
                    <a:srgbClr val="000000"/>
                  </a:solidFill>
                  <a:latin typeface="맑은 고딕"/>
                  <a:ea typeface="맑은 고딕"/>
                </a:rPr>
                <a:t>xPU</a:t>
              </a:r>
              <a:endParaRPr kumimoji="0" lang="en-US" altLang="ko-KR" sz="800" b="1" i="0" u="none" strike="noStrike" kern="0" cap="none" spc="0" normalizeH="0" baseline="0" noProof="0" dirty="0">
                <a:ln>
                  <a:noFill/>
                </a:ln>
                <a:solidFill>
                  <a:srgbClr val="000000"/>
                </a:solidFill>
                <a:effectLst/>
                <a:uLnTx/>
                <a:uFillTx/>
                <a:latin typeface="맑은 고딕"/>
                <a:ea typeface="맑은 고딕"/>
              </a:endParaRPr>
            </a:p>
          </p:txBody>
        </p:sp>
        <p:sp>
          <p:nvSpPr>
            <p:cNvPr id="71" name="직사각형 70">
              <a:extLst>
                <a:ext uri="{FF2B5EF4-FFF2-40B4-BE49-F238E27FC236}">
                  <a16:creationId xmlns:a16="http://schemas.microsoft.com/office/drawing/2014/main" id="{547CB63D-17B5-4B75-B8F9-01FC8ACE4B48}"/>
                </a:ext>
              </a:extLst>
            </p:cNvPr>
            <p:cNvSpPr/>
            <p:nvPr/>
          </p:nvSpPr>
          <p:spPr>
            <a:xfrm>
              <a:off x="6092850" y="22513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2" name="직사각형 71">
              <a:extLst>
                <a:ext uri="{FF2B5EF4-FFF2-40B4-BE49-F238E27FC236}">
                  <a16:creationId xmlns:a16="http://schemas.microsoft.com/office/drawing/2014/main" id="{547CB63D-17B5-4B75-B8F9-01FC8ACE4B48}"/>
                </a:ext>
              </a:extLst>
            </p:cNvPr>
            <p:cNvSpPr/>
            <p:nvPr/>
          </p:nvSpPr>
          <p:spPr>
            <a:xfrm>
              <a:off x="6092850" y="53797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3" name="직사각형 72">
              <a:extLst>
                <a:ext uri="{FF2B5EF4-FFF2-40B4-BE49-F238E27FC236}">
                  <a16:creationId xmlns:a16="http://schemas.microsoft.com/office/drawing/2014/main" id="{547CB63D-17B5-4B75-B8F9-01FC8ACE4B48}"/>
                </a:ext>
              </a:extLst>
            </p:cNvPr>
            <p:cNvSpPr/>
            <p:nvPr/>
          </p:nvSpPr>
          <p:spPr>
            <a:xfrm>
              <a:off x="6092850" y="86139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4" name="직사각형 73">
              <a:extLst>
                <a:ext uri="{FF2B5EF4-FFF2-40B4-BE49-F238E27FC236}">
                  <a16:creationId xmlns:a16="http://schemas.microsoft.com/office/drawing/2014/main" id="{547CB63D-17B5-4B75-B8F9-01FC8ACE4B48}"/>
                </a:ext>
              </a:extLst>
            </p:cNvPr>
            <p:cNvSpPr/>
            <p:nvPr/>
          </p:nvSpPr>
          <p:spPr>
            <a:xfrm>
              <a:off x="6092850" y="117423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5" name="직사각형 74">
              <a:extLst>
                <a:ext uri="{FF2B5EF4-FFF2-40B4-BE49-F238E27FC236}">
                  <a16:creationId xmlns:a16="http://schemas.microsoft.com/office/drawing/2014/main" id="{547CB63D-17B5-4B75-B8F9-01FC8ACE4B48}"/>
                </a:ext>
              </a:extLst>
            </p:cNvPr>
            <p:cNvSpPr/>
            <p:nvPr/>
          </p:nvSpPr>
          <p:spPr>
            <a:xfrm>
              <a:off x="5109694" y="22513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6" name="직사각형 75">
              <a:extLst>
                <a:ext uri="{FF2B5EF4-FFF2-40B4-BE49-F238E27FC236}">
                  <a16:creationId xmlns:a16="http://schemas.microsoft.com/office/drawing/2014/main" id="{547CB63D-17B5-4B75-B8F9-01FC8ACE4B48}"/>
                </a:ext>
              </a:extLst>
            </p:cNvPr>
            <p:cNvSpPr/>
            <p:nvPr/>
          </p:nvSpPr>
          <p:spPr>
            <a:xfrm>
              <a:off x="5109694" y="53797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7" name="직사각형 76">
              <a:extLst>
                <a:ext uri="{FF2B5EF4-FFF2-40B4-BE49-F238E27FC236}">
                  <a16:creationId xmlns:a16="http://schemas.microsoft.com/office/drawing/2014/main" id="{547CB63D-17B5-4B75-B8F9-01FC8ACE4B48}"/>
                </a:ext>
              </a:extLst>
            </p:cNvPr>
            <p:cNvSpPr/>
            <p:nvPr/>
          </p:nvSpPr>
          <p:spPr>
            <a:xfrm>
              <a:off x="5109694" y="86139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8" name="직사각형 77">
              <a:extLst>
                <a:ext uri="{FF2B5EF4-FFF2-40B4-BE49-F238E27FC236}">
                  <a16:creationId xmlns:a16="http://schemas.microsoft.com/office/drawing/2014/main" id="{547CB63D-17B5-4B75-B8F9-01FC8ACE4B48}"/>
                </a:ext>
              </a:extLst>
            </p:cNvPr>
            <p:cNvSpPr/>
            <p:nvPr/>
          </p:nvSpPr>
          <p:spPr>
            <a:xfrm>
              <a:off x="5109694" y="117423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79" name="직사각형 78"/>
            <p:cNvSpPr/>
            <p:nvPr/>
          </p:nvSpPr>
          <p:spPr>
            <a:xfrm>
              <a:off x="5054385" y="173245"/>
              <a:ext cx="1423893" cy="1364962"/>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400" dirty="0"/>
            </a:p>
          </p:txBody>
        </p:sp>
      </p:grpSp>
      <p:grpSp>
        <p:nvGrpSpPr>
          <p:cNvPr id="83" name="그룹 82"/>
          <p:cNvGrpSpPr/>
          <p:nvPr/>
        </p:nvGrpSpPr>
        <p:grpSpPr>
          <a:xfrm>
            <a:off x="5099656" y="3022902"/>
            <a:ext cx="4042746" cy="3243094"/>
            <a:chOff x="1382910" y="2645676"/>
            <a:chExt cx="5138211" cy="4121877"/>
          </a:xfrm>
        </p:grpSpPr>
        <p:sp>
          <p:nvSpPr>
            <p:cNvPr id="84" name="직사각형 83"/>
            <p:cNvSpPr/>
            <p:nvPr/>
          </p:nvSpPr>
          <p:spPr>
            <a:xfrm>
              <a:off x="2798315" y="3014735"/>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85" name="직사각형 84"/>
            <p:cNvSpPr/>
            <p:nvPr/>
          </p:nvSpPr>
          <p:spPr>
            <a:xfrm>
              <a:off x="3693255" y="3014735"/>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86" name="직사각형 85"/>
            <p:cNvSpPr/>
            <p:nvPr/>
          </p:nvSpPr>
          <p:spPr>
            <a:xfrm>
              <a:off x="3693255" y="3779217"/>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87" name="직사각형 86"/>
            <p:cNvSpPr/>
            <p:nvPr/>
          </p:nvSpPr>
          <p:spPr>
            <a:xfrm>
              <a:off x="2795101" y="3776427"/>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88" name="직사각형 87"/>
            <p:cNvSpPr/>
            <p:nvPr/>
          </p:nvSpPr>
          <p:spPr>
            <a:xfrm>
              <a:off x="4584982" y="3014735"/>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89" name="직사각형 88"/>
            <p:cNvSpPr/>
            <p:nvPr/>
          </p:nvSpPr>
          <p:spPr>
            <a:xfrm>
              <a:off x="5488836" y="3014735"/>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0" name="직사각형 89"/>
            <p:cNvSpPr/>
            <p:nvPr/>
          </p:nvSpPr>
          <p:spPr>
            <a:xfrm>
              <a:off x="5488836" y="3783980"/>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1" name="직사각형 90"/>
            <p:cNvSpPr/>
            <p:nvPr/>
          </p:nvSpPr>
          <p:spPr>
            <a:xfrm>
              <a:off x="4581768" y="3781190"/>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2" name="직사각형 91"/>
            <p:cNvSpPr/>
            <p:nvPr/>
          </p:nvSpPr>
          <p:spPr>
            <a:xfrm>
              <a:off x="2798315" y="4564621"/>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3" name="직사각형 92"/>
            <p:cNvSpPr/>
            <p:nvPr/>
          </p:nvSpPr>
          <p:spPr>
            <a:xfrm>
              <a:off x="3693255" y="4564621"/>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4" name="직사각형 93"/>
            <p:cNvSpPr/>
            <p:nvPr/>
          </p:nvSpPr>
          <p:spPr>
            <a:xfrm>
              <a:off x="3693255" y="5329103"/>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5" name="직사각형 94"/>
            <p:cNvSpPr/>
            <p:nvPr/>
          </p:nvSpPr>
          <p:spPr>
            <a:xfrm>
              <a:off x="2795101" y="5326313"/>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6" name="직사각형 95"/>
            <p:cNvSpPr/>
            <p:nvPr/>
          </p:nvSpPr>
          <p:spPr>
            <a:xfrm>
              <a:off x="4584982" y="4564621"/>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7" name="직사각형 96"/>
            <p:cNvSpPr/>
            <p:nvPr/>
          </p:nvSpPr>
          <p:spPr>
            <a:xfrm>
              <a:off x="5488836" y="4564621"/>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8" name="직사각형 97"/>
            <p:cNvSpPr/>
            <p:nvPr/>
          </p:nvSpPr>
          <p:spPr>
            <a:xfrm>
              <a:off x="5488836" y="5333866"/>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99" name="직사각형 98"/>
            <p:cNvSpPr/>
            <p:nvPr/>
          </p:nvSpPr>
          <p:spPr>
            <a:xfrm>
              <a:off x="4581768" y="5331076"/>
              <a:ext cx="613973" cy="58255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1100" dirty="0"/>
                <a:t>ScHBM</a:t>
              </a:r>
              <a:endParaRPr lang="ko-KR" altLang="en-US" sz="1100" dirty="0"/>
            </a:p>
          </p:txBody>
        </p:sp>
        <p:sp>
          <p:nvSpPr>
            <p:cNvPr id="100" name="직사각형 99"/>
            <p:cNvSpPr/>
            <p:nvPr/>
          </p:nvSpPr>
          <p:spPr>
            <a:xfrm>
              <a:off x="1546457" y="3944619"/>
              <a:ext cx="881245" cy="457200"/>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200" dirty="0"/>
                <a:t>Host CPU</a:t>
              </a:r>
              <a:endParaRPr lang="ko-KR" altLang="en-US" sz="1200" dirty="0"/>
            </a:p>
          </p:txBody>
        </p:sp>
        <p:cxnSp>
          <p:nvCxnSpPr>
            <p:cNvPr id="101" name="직선 연결선 100"/>
            <p:cNvCxnSpPr>
              <a:stCxn id="85" idx="2"/>
              <a:endCxn id="86" idx="0"/>
            </p:cNvCxnSpPr>
            <p:nvPr/>
          </p:nvCxnSpPr>
          <p:spPr>
            <a:xfrm>
              <a:off x="4000242" y="3597292"/>
              <a:ext cx="0" cy="181925"/>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2" name="직선 연결선 101"/>
            <p:cNvCxnSpPr>
              <a:stCxn id="84" idx="2"/>
              <a:endCxn id="87" idx="0"/>
            </p:cNvCxnSpPr>
            <p:nvPr/>
          </p:nvCxnSpPr>
          <p:spPr>
            <a:xfrm flipH="1">
              <a:off x="3102088" y="3597292"/>
              <a:ext cx="3214" cy="179135"/>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3" name="직선 연결선 102"/>
            <p:cNvCxnSpPr>
              <a:stCxn id="88" idx="2"/>
              <a:endCxn id="91" idx="0"/>
            </p:cNvCxnSpPr>
            <p:nvPr/>
          </p:nvCxnSpPr>
          <p:spPr>
            <a:xfrm flipH="1">
              <a:off x="4888755" y="3597292"/>
              <a:ext cx="3214" cy="183898"/>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4" name="직선 연결선 103"/>
            <p:cNvCxnSpPr>
              <a:stCxn id="89" idx="2"/>
              <a:endCxn id="90" idx="0"/>
            </p:cNvCxnSpPr>
            <p:nvPr/>
          </p:nvCxnSpPr>
          <p:spPr>
            <a:xfrm>
              <a:off x="5795823" y="3597292"/>
              <a:ext cx="0" cy="186688"/>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5" name="직선 연결선 104"/>
            <p:cNvCxnSpPr>
              <a:stCxn id="87" idx="2"/>
              <a:endCxn id="92" idx="0"/>
            </p:cNvCxnSpPr>
            <p:nvPr/>
          </p:nvCxnSpPr>
          <p:spPr>
            <a:xfrm>
              <a:off x="3102088" y="4358984"/>
              <a:ext cx="3214" cy="205637"/>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6" name="직선 연결선 105"/>
            <p:cNvCxnSpPr>
              <a:stCxn id="86" idx="2"/>
              <a:endCxn id="93" idx="0"/>
            </p:cNvCxnSpPr>
            <p:nvPr/>
          </p:nvCxnSpPr>
          <p:spPr>
            <a:xfrm>
              <a:off x="4000242" y="4361774"/>
              <a:ext cx="0" cy="202847"/>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7" name="직선 연결선 106"/>
            <p:cNvCxnSpPr>
              <a:stCxn id="91" idx="2"/>
              <a:endCxn id="96" idx="0"/>
            </p:cNvCxnSpPr>
            <p:nvPr/>
          </p:nvCxnSpPr>
          <p:spPr>
            <a:xfrm>
              <a:off x="4888755" y="4363747"/>
              <a:ext cx="3214" cy="200874"/>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8" name="직선 연결선 107"/>
            <p:cNvCxnSpPr>
              <a:stCxn id="90" idx="2"/>
              <a:endCxn id="97" idx="0"/>
            </p:cNvCxnSpPr>
            <p:nvPr/>
          </p:nvCxnSpPr>
          <p:spPr>
            <a:xfrm>
              <a:off x="5795823" y="4366537"/>
              <a:ext cx="0" cy="198084"/>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9" name="직선 연결선 108"/>
            <p:cNvCxnSpPr>
              <a:stCxn id="92" idx="2"/>
              <a:endCxn id="95" idx="0"/>
            </p:cNvCxnSpPr>
            <p:nvPr/>
          </p:nvCxnSpPr>
          <p:spPr>
            <a:xfrm flipH="1">
              <a:off x="3102088" y="5147178"/>
              <a:ext cx="3214" cy="179135"/>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0" name="직선 연결선 109"/>
            <p:cNvCxnSpPr>
              <a:stCxn id="93" idx="2"/>
              <a:endCxn id="94" idx="0"/>
            </p:cNvCxnSpPr>
            <p:nvPr/>
          </p:nvCxnSpPr>
          <p:spPr>
            <a:xfrm>
              <a:off x="4000242" y="5147178"/>
              <a:ext cx="0" cy="181925"/>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1" name="직선 연결선 110"/>
            <p:cNvCxnSpPr>
              <a:stCxn id="96" idx="2"/>
              <a:endCxn id="99" idx="0"/>
            </p:cNvCxnSpPr>
            <p:nvPr/>
          </p:nvCxnSpPr>
          <p:spPr>
            <a:xfrm flipH="1">
              <a:off x="4888755" y="5147178"/>
              <a:ext cx="3214" cy="183898"/>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2" name="직선 연결선 111"/>
            <p:cNvCxnSpPr>
              <a:stCxn id="97" idx="2"/>
              <a:endCxn id="98" idx="0"/>
            </p:cNvCxnSpPr>
            <p:nvPr/>
          </p:nvCxnSpPr>
          <p:spPr>
            <a:xfrm>
              <a:off x="5795823" y="5147178"/>
              <a:ext cx="0" cy="186688"/>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3" name="직선 연결선 112"/>
            <p:cNvCxnSpPr>
              <a:stCxn id="84" idx="3"/>
              <a:endCxn id="85" idx="1"/>
            </p:cNvCxnSpPr>
            <p:nvPr/>
          </p:nvCxnSpPr>
          <p:spPr>
            <a:xfrm>
              <a:off x="3412288" y="3306014"/>
              <a:ext cx="280967"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4" name="직선 연결선 113"/>
            <p:cNvCxnSpPr>
              <a:stCxn id="85" idx="3"/>
              <a:endCxn id="88" idx="1"/>
            </p:cNvCxnSpPr>
            <p:nvPr/>
          </p:nvCxnSpPr>
          <p:spPr>
            <a:xfrm>
              <a:off x="4307228" y="3306014"/>
              <a:ext cx="277754"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5" name="직선 연결선 114"/>
            <p:cNvCxnSpPr>
              <a:stCxn id="88" idx="3"/>
              <a:endCxn id="89" idx="1"/>
            </p:cNvCxnSpPr>
            <p:nvPr/>
          </p:nvCxnSpPr>
          <p:spPr>
            <a:xfrm>
              <a:off x="5198955" y="3306014"/>
              <a:ext cx="289881"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6" name="직선 연결선 115"/>
            <p:cNvCxnSpPr>
              <a:stCxn id="87" idx="3"/>
              <a:endCxn id="86" idx="1"/>
            </p:cNvCxnSpPr>
            <p:nvPr/>
          </p:nvCxnSpPr>
          <p:spPr>
            <a:xfrm>
              <a:off x="3409074" y="4067706"/>
              <a:ext cx="284181" cy="279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7" name="직선 연결선 116"/>
            <p:cNvCxnSpPr>
              <a:stCxn id="86" idx="3"/>
              <a:endCxn id="91" idx="1"/>
            </p:cNvCxnSpPr>
            <p:nvPr/>
          </p:nvCxnSpPr>
          <p:spPr>
            <a:xfrm>
              <a:off x="4307228" y="4070496"/>
              <a:ext cx="274540" cy="1973"/>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8" name="직선 연결선 117"/>
            <p:cNvCxnSpPr>
              <a:stCxn id="91" idx="3"/>
              <a:endCxn id="90" idx="1"/>
            </p:cNvCxnSpPr>
            <p:nvPr/>
          </p:nvCxnSpPr>
          <p:spPr>
            <a:xfrm>
              <a:off x="5195741" y="4072469"/>
              <a:ext cx="293095" cy="279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19" name="직선 연결선 118"/>
            <p:cNvCxnSpPr>
              <a:stCxn id="92" idx="3"/>
              <a:endCxn id="93" idx="1"/>
            </p:cNvCxnSpPr>
            <p:nvPr/>
          </p:nvCxnSpPr>
          <p:spPr>
            <a:xfrm>
              <a:off x="3412288" y="4855900"/>
              <a:ext cx="280967"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0" name="직선 연결선 119"/>
            <p:cNvCxnSpPr>
              <a:stCxn id="93" idx="3"/>
              <a:endCxn id="96" idx="1"/>
            </p:cNvCxnSpPr>
            <p:nvPr/>
          </p:nvCxnSpPr>
          <p:spPr>
            <a:xfrm>
              <a:off x="4307228" y="4855900"/>
              <a:ext cx="277754"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1" name="직선 연결선 120"/>
            <p:cNvCxnSpPr>
              <a:stCxn id="96" idx="3"/>
              <a:endCxn id="97" idx="1"/>
            </p:cNvCxnSpPr>
            <p:nvPr/>
          </p:nvCxnSpPr>
          <p:spPr>
            <a:xfrm>
              <a:off x="5198955" y="4855900"/>
              <a:ext cx="289881"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2" name="직선 연결선 121"/>
            <p:cNvCxnSpPr>
              <a:stCxn id="95" idx="3"/>
              <a:endCxn id="94" idx="1"/>
            </p:cNvCxnSpPr>
            <p:nvPr/>
          </p:nvCxnSpPr>
          <p:spPr>
            <a:xfrm>
              <a:off x="3409074" y="5617592"/>
              <a:ext cx="284181" cy="279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3" name="직선 연결선 122"/>
            <p:cNvCxnSpPr>
              <a:stCxn id="94" idx="3"/>
              <a:endCxn id="99" idx="1"/>
            </p:cNvCxnSpPr>
            <p:nvPr/>
          </p:nvCxnSpPr>
          <p:spPr>
            <a:xfrm>
              <a:off x="4307228" y="5620382"/>
              <a:ext cx="274540" cy="1973"/>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4" name="직선 연결선 123"/>
            <p:cNvCxnSpPr>
              <a:stCxn id="99" idx="3"/>
              <a:endCxn id="98" idx="1"/>
            </p:cNvCxnSpPr>
            <p:nvPr/>
          </p:nvCxnSpPr>
          <p:spPr>
            <a:xfrm>
              <a:off x="5195741" y="5622355"/>
              <a:ext cx="293095" cy="279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125" name="직사각형 124"/>
            <p:cNvSpPr/>
            <p:nvPr/>
          </p:nvSpPr>
          <p:spPr>
            <a:xfrm>
              <a:off x="1546457" y="4591490"/>
              <a:ext cx="881245" cy="457200"/>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200" dirty="0"/>
                <a:t>Host DRAM</a:t>
              </a:r>
              <a:endParaRPr lang="ko-KR" altLang="en-US" sz="1200" dirty="0"/>
            </a:p>
          </p:txBody>
        </p:sp>
        <p:sp>
          <p:nvSpPr>
            <p:cNvPr id="126" name="직사각형 125"/>
            <p:cNvSpPr/>
            <p:nvPr/>
          </p:nvSpPr>
          <p:spPr>
            <a:xfrm>
              <a:off x="1382910" y="2645676"/>
              <a:ext cx="5138211" cy="3627120"/>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cxnSp>
          <p:nvCxnSpPr>
            <p:cNvPr id="127" name="구부러진 연결선 126"/>
            <p:cNvCxnSpPr>
              <a:stCxn id="95" idx="2"/>
              <a:endCxn id="84" idx="0"/>
            </p:cNvCxnSpPr>
            <p:nvPr/>
          </p:nvCxnSpPr>
          <p:spPr>
            <a:xfrm rot="5400000" flipH="1" flipV="1">
              <a:off x="1656627" y="4460196"/>
              <a:ext cx="2894135" cy="3214"/>
            </a:xfrm>
            <a:prstGeom prst="curvedConnector5">
              <a:avLst>
                <a:gd name="adj1" fmla="val -7899"/>
                <a:gd name="adj2" fmla="val 16764157"/>
                <a:gd name="adj3" fmla="val 107899"/>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8" name="구부러진 연결선 127"/>
            <p:cNvCxnSpPr>
              <a:stCxn id="94" idx="2"/>
              <a:endCxn id="85" idx="0"/>
            </p:cNvCxnSpPr>
            <p:nvPr/>
          </p:nvCxnSpPr>
          <p:spPr>
            <a:xfrm rot="5400000" flipH="1">
              <a:off x="2551779" y="4463198"/>
              <a:ext cx="2896925" cy="12700"/>
            </a:xfrm>
            <a:prstGeom prst="curvedConnector5">
              <a:avLst>
                <a:gd name="adj1" fmla="val -7891"/>
                <a:gd name="adj2" fmla="val -4002803"/>
                <a:gd name="adj3" fmla="val 107891"/>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9" name="구부러진 연결선 128"/>
            <p:cNvCxnSpPr>
              <a:stCxn id="99" idx="2"/>
              <a:endCxn id="88" idx="0"/>
            </p:cNvCxnSpPr>
            <p:nvPr/>
          </p:nvCxnSpPr>
          <p:spPr>
            <a:xfrm rot="5400000" flipH="1" flipV="1">
              <a:off x="3440913" y="4462577"/>
              <a:ext cx="2898898" cy="3214"/>
            </a:xfrm>
            <a:prstGeom prst="curvedConnector5">
              <a:avLst>
                <a:gd name="adj1" fmla="val -7886"/>
                <a:gd name="adj2" fmla="val 16764157"/>
                <a:gd name="adj3" fmla="val 107886"/>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30" name="구부러진 연결선 129"/>
            <p:cNvCxnSpPr>
              <a:stCxn id="98" idx="2"/>
              <a:endCxn id="89" idx="0"/>
            </p:cNvCxnSpPr>
            <p:nvPr/>
          </p:nvCxnSpPr>
          <p:spPr>
            <a:xfrm rot="5400000" flipH="1">
              <a:off x="4344979" y="4465579"/>
              <a:ext cx="2901688" cy="12700"/>
            </a:xfrm>
            <a:prstGeom prst="curvedConnector5">
              <a:avLst>
                <a:gd name="adj1" fmla="val -7878"/>
                <a:gd name="adj2" fmla="val -4122787"/>
                <a:gd name="adj3" fmla="val 107878"/>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31" name="구부러진 연결선 130"/>
            <p:cNvCxnSpPr>
              <a:stCxn id="84" idx="1"/>
              <a:endCxn id="89" idx="3"/>
            </p:cNvCxnSpPr>
            <p:nvPr/>
          </p:nvCxnSpPr>
          <p:spPr>
            <a:xfrm rot="10800000" flipH="1">
              <a:off x="2798315" y="3306014"/>
              <a:ext cx="3304494" cy="12700"/>
            </a:xfrm>
            <a:prstGeom prst="curvedConnector5">
              <a:avLst>
                <a:gd name="adj1" fmla="val -6918"/>
                <a:gd name="adj2" fmla="val -3286472"/>
                <a:gd name="adj3" fmla="val 106918"/>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32" name="구부러진 연결선 131"/>
            <p:cNvCxnSpPr>
              <a:stCxn id="87" idx="1"/>
              <a:endCxn id="90" idx="3"/>
            </p:cNvCxnSpPr>
            <p:nvPr/>
          </p:nvCxnSpPr>
          <p:spPr>
            <a:xfrm rot="10800000" flipH="1" flipV="1">
              <a:off x="2795101" y="4067705"/>
              <a:ext cx="3307708" cy="7553"/>
            </a:xfrm>
            <a:prstGeom prst="curvedConnector5">
              <a:avLst>
                <a:gd name="adj1" fmla="val -6911"/>
                <a:gd name="adj2" fmla="val 5772422"/>
                <a:gd name="adj3" fmla="val 106911"/>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33" name="구부러진 연결선 132"/>
            <p:cNvCxnSpPr>
              <a:stCxn id="92" idx="1"/>
              <a:endCxn id="97" idx="3"/>
            </p:cNvCxnSpPr>
            <p:nvPr/>
          </p:nvCxnSpPr>
          <p:spPr>
            <a:xfrm rot="10800000" flipH="1">
              <a:off x="2798315" y="4855900"/>
              <a:ext cx="3304494" cy="12700"/>
            </a:xfrm>
            <a:prstGeom prst="curvedConnector5">
              <a:avLst>
                <a:gd name="adj1" fmla="val -6918"/>
                <a:gd name="adj2" fmla="val -3226472"/>
                <a:gd name="adj3" fmla="val 106918"/>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34" name="구부러진 연결선 133"/>
            <p:cNvCxnSpPr>
              <a:stCxn id="95" idx="1"/>
              <a:endCxn id="98" idx="3"/>
            </p:cNvCxnSpPr>
            <p:nvPr/>
          </p:nvCxnSpPr>
          <p:spPr>
            <a:xfrm rot="10800000" flipH="1" flipV="1">
              <a:off x="2795101" y="5617591"/>
              <a:ext cx="3307708" cy="7553"/>
            </a:xfrm>
            <a:prstGeom prst="curvedConnector5">
              <a:avLst>
                <a:gd name="adj1" fmla="val -6911"/>
                <a:gd name="adj2" fmla="val 5974196"/>
                <a:gd name="adj3" fmla="val 106911"/>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135" name="직사각형 134"/>
            <p:cNvSpPr/>
            <p:nvPr/>
          </p:nvSpPr>
          <p:spPr>
            <a:xfrm>
              <a:off x="2275103" y="6259025"/>
              <a:ext cx="3528642" cy="508528"/>
            </a:xfrm>
            <a:prstGeom prst="rect">
              <a:avLst/>
            </a:prstGeom>
          </p:spPr>
          <p:txBody>
            <a:bodyPr wrap="none">
              <a:spAutoFit/>
            </a:bodyPr>
            <a:lstStyle/>
            <a:p>
              <a:pPr algn="ctr"/>
              <a:r>
                <a:rPr lang="en-US" altLang="ko-KR" sz="2000" b="1" dirty="0">
                  <a:solidFill>
                    <a:schemeClr val="bg1"/>
                  </a:solidFill>
                  <a:latin typeface="SAMSUNGONE-600C" panose="020B0503030303020204" pitchFamily="34" charset="-127"/>
                  <a:ea typeface="SAMSUNGONE-600C" panose="020B0503030303020204" pitchFamily="34" charset="-127"/>
                </a:rPr>
                <a:t>ScHBM Standalone Tray</a:t>
              </a:r>
            </a:p>
          </p:txBody>
        </p:sp>
      </p:grpSp>
      <p:sp>
        <p:nvSpPr>
          <p:cNvPr id="153" name="직사각형 152"/>
          <p:cNvSpPr/>
          <p:nvPr/>
        </p:nvSpPr>
        <p:spPr>
          <a:xfrm>
            <a:off x="1576197" y="3299787"/>
            <a:ext cx="710030" cy="368372"/>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200" dirty="0"/>
              <a:t>Host CPU</a:t>
            </a:r>
            <a:endParaRPr lang="ko-KR" altLang="en-US" sz="1200" dirty="0"/>
          </a:p>
        </p:txBody>
      </p:sp>
      <p:sp>
        <p:nvSpPr>
          <p:cNvPr id="178" name="직사각형 177"/>
          <p:cNvSpPr/>
          <p:nvPr/>
        </p:nvSpPr>
        <p:spPr>
          <a:xfrm>
            <a:off x="2458847" y="3293355"/>
            <a:ext cx="710030" cy="368372"/>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200" dirty="0"/>
              <a:t>Host DRAM</a:t>
            </a:r>
            <a:endParaRPr lang="ko-KR" altLang="en-US" sz="1200" dirty="0"/>
          </a:p>
        </p:txBody>
      </p:sp>
      <p:sp>
        <p:nvSpPr>
          <p:cNvPr id="179" name="직사각형 178"/>
          <p:cNvSpPr/>
          <p:nvPr/>
        </p:nvSpPr>
        <p:spPr>
          <a:xfrm>
            <a:off x="317757" y="3022902"/>
            <a:ext cx="4139918" cy="2825048"/>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
        <p:nvSpPr>
          <p:cNvPr id="188" name="직사각형 187"/>
          <p:cNvSpPr/>
          <p:nvPr/>
        </p:nvSpPr>
        <p:spPr>
          <a:xfrm>
            <a:off x="1072701" y="5836855"/>
            <a:ext cx="2770887" cy="400110"/>
          </a:xfrm>
          <a:prstGeom prst="rect">
            <a:avLst/>
          </a:prstGeom>
        </p:spPr>
        <p:txBody>
          <a:bodyPr wrap="none">
            <a:spAutoFit/>
          </a:bodyPr>
          <a:lstStyle/>
          <a:p>
            <a:pPr algn="ctr"/>
            <a:r>
              <a:rPr lang="en-US" altLang="ko-KR" sz="2000" b="1" dirty="0">
                <a:solidFill>
                  <a:schemeClr val="bg1"/>
                </a:solidFill>
                <a:latin typeface="SAMSUNGONE-600C" panose="020B0503030303020204" pitchFamily="34" charset="-127"/>
                <a:ea typeface="SAMSUNGONE-600C" panose="020B0503030303020204" pitchFamily="34" charset="-127"/>
              </a:rPr>
              <a:t>ScHBM Companion Tray</a:t>
            </a:r>
          </a:p>
        </p:txBody>
      </p:sp>
      <p:cxnSp>
        <p:nvCxnSpPr>
          <p:cNvPr id="190" name="직선 연결선 189"/>
          <p:cNvCxnSpPr/>
          <p:nvPr/>
        </p:nvCxnSpPr>
        <p:spPr>
          <a:xfrm>
            <a:off x="4794114" y="2790864"/>
            <a:ext cx="0" cy="3500204"/>
          </a:xfrm>
          <a:prstGeom prst="line">
            <a:avLst/>
          </a:prstGeom>
          <a:ln w="19050" cap="flat" cmpd="sng" algn="ctr">
            <a:solidFill>
              <a:schemeClr val="bg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93" name="그룹 192"/>
          <p:cNvGrpSpPr/>
          <p:nvPr/>
        </p:nvGrpSpPr>
        <p:grpSpPr>
          <a:xfrm>
            <a:off x="425469" y="3811109"/>
            <a:ext cx="1860007" cy="1783026"/>
            <a:chOff x="5054385" y="173245"/>
            <a:chExt cx="1423893" cy="1364962"/>
          </a:xfrm>
        </p:grpSpPr>
        <p:sp>
          <p:nvSpPr>
            <p:cNvPr id="194" name="TextBox 193">
              <a:extLst>
                <a:ext uri="{FF2B5EF4-FFF2-40B4-BE49-F238E27FC236}">
                  <a16:creationId xmlns:a16="http://schemas.microsoft.com/office/drawing/2014/main" id="{69B939B3-8DEC-48E8-A054-CF9A87F4E686}"/>
                </a:ext>
              </a:extLst>
            </p:cNvPr>
            <p:cNvSpPr txBox="1"/>
            <p:nvPr/>
          </p:nvSpPr>
          <p:spPr>
            <a:xfrm>
              <a:off x="5462329" y="229360"/>
              <a:ext cx="608086" cy="615094"/>
            </a:xfrm>
            <a:prstGeom prst="rect">
              <a:avLst/>
            </a:prstGeom>
            <a:solidFill>
              <a:srgbClr val="00B050"/>
            </a:solidFill>
            <a:ln>
              <a:solidFill>
                <a:srgbClr val="008000"/>
              </a:solidFill>
            </a:ln>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800" b="1" kern="0" noProof="0" dirty="0" err="1">
                  <a:solidFill>
                    <a:srgbClr val="000000"/>
                  </a:solidFill>
                  <a:latin typeface="맑은 고딕"/>
                  <a:ea typeface="맑은 고딕"/>
                </a:rPr>
                <a:t>xPU</a:t>
              </a:r>
              <a:endParaRPr lang="en-US" altLang="ko-KR" sz="800" b="1" kern="0" noProof="0" dirty="0">
                <a:solidFill>
                  <a:srgbClr val="000000"/>
                </a:solidFill>
                <a:latin typeface="맑은 고딕"/>
                <a:ea typeface="맑은 고딕"/>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800" b="1" kern="0" dirty="0">
                  <a:solidFill>
                    <a:srgbClr val="000000"/>
                  </a:solidFill>
                  <a:latin typeface="맑은 고딕"/>
                  <a:ea typeface="맑은 고딕"/>
                </a:rPr>
                <a:t>(GPU, TPU, NPU)</a:t>
              </a:r>
              <a:endParaRPr lang="en-US" altLang="ko-KR" sz="800" b="1" kern="0" noProof="0" dirty="0">
                <a:solidFill>
                  <a:srgbClr val="000000"/>
                </a:solidFill>
                <a:latin typeface="맑은 고딕"/>
                <a:ea typeface="맑은 고딕"/>
              </a:endParaRPr>
            </a:p>
          </p:txBody>
        </p:sp>
        <p:sp>
          <p:nvSpPr>
            <p:cNvPr id="195" name="TextBox 194">
              <a:extLst>
                <a:ext uri="{FF2B5EF4-FFF2-40B4-BE49-F238E27FC236}">
                  <a16:creationId xmlns:a16="http://schemas.microsoft.com/office/drawing/2014/main" id="{69B939B3-8DEC-48E8-A054-CF9A87F4E686}"/>
                </a:ext>
              </a:extLst>
            </p:cNvPr>
            <p:cNvSpPr txBox="1"/>
            <p:nvPr/>
          </p:nvSpPr>
          <p:spPr>
            <a:xfrm>
              <a:off x="5462329" y="862445"/>
              <a:ext cx="608086" cy="615094"/>
            </a:xfrm>
            <a:prstGeom prst="rect">
              <a:avLst/>
            </a:prstGeom>
            <a:solidFill>
              <a:srgbClr val="00B050"/>
            </a:solidFill>
            <a:ln>
              <a:solidFill>
                <a:srgbClr val="008000"/>
              </a:solidFill>
            </a:ln>
          </p:spPr>
          <p:txBody>
            <a:bodyPr wrap="none" lIns="72000" tIns="36000" rIns="72000" bIns="36000" rtlCol="0" anchor="ctr" anchorCtr="0">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ko-KR" sz="800" b="1" kern="0" noProof="0" dirty="0" err="1">
                  <a:solidFill>
                    <a:srgbClr val="000000"/>
                  </a:solidFill>
                  <a:latin typeface="맑은 고딕"/>
                  <a:ea typeface="맑은 고딕"/>
                </a:rPr>
                <a:t>xPU</a:t>
              </a:r>
              <a:endParaRPr kumimoji="0" lang="en-US" altLang="ko-KR" sz="800" b="1" i="0" u="none" strike="noStrike" kern="0" cap="none" spc="0" normalizeH="0" baseline="0" noProof="0" dirty="0">
                <a:ln>
                  <a:noFill/>
                </a:ln>
                <a:solidFill>
                  <a:srgbClr val="000000"/>
                </a:solidFill>
                <a:effectLst/>
                <a:uLnTx/>
                <a:uFillTx/>
                <a:latin typeface="맑은 고딕"/>
                <a:ea typeface="맑은 고딕"/>
              </a:endParaRPr>
            </a:p>
          </p:txBody>
        </p:sp>
        <p:sp>
          <p:nvSpPr>
            <p:cNvPr id="196" name="직사각형 195">
              <a:extLst>
                <a:ext uri="{FF2B5EF4-FFF2-40B4-BE49-F238E27FC236}">
                  <a16:creationId xmlns:a16="http://schemas.microsoft.com/office/drawing/2014/main" id="{547CB63D-17B5-4B75-B8F9-01FC8ACE4B48}"/>
                </a:ext>
              </a:extLst>
            </p:cNvPr>
            <p:cNvSpPr/>
            <p:nvPr/>
          </p:nvSpPr>
          <p:spPr>
            <a:xfrm>
              <a:off x="6092850" y="22513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197" name="직사각형 196">
              <a:extLst>
                <a:ext uri="{FF2B5EF4-FFF2-40B4-BE49-F238E27FC236}">
                  <a16:creationId xmlns:a16="http://schemas.microsoft.com/office/drawing/2014/main" id="{547CB63D-17B5-4B75-B8F9-01FC8ACE4B48}"/>
                </a:ext>
              </a:extLst>
            </p:cNvPr>
            <p:cNvSpPr/>
            <p:nvPr/>
          </p:nvSpPr>
          <p:spPr>
            <a:xfrm>
              <a:off x="6092850" y="53797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198" name="직사각형 197">
              <a:extLst>
                <a:ext uri="{FF2B5EF4-FFF2-40B4-BE49-F238E27FC236}">
                  <a16:creationId xmlns:a16="http://schemas.microsoft.com/office/drawing/2014/main" id="{547CB63D-17B5-4B75-B8F9-01FC8ACE4B48}"/>
                </a:ext>
              </a:extLst>
            </p:cNvPr>
            <p:cNvSpPr/>
            <p:nvPr/>
          </p:nvSpPr>
          <p:spPr>
            <a:xfrm>
              <a:off x="6092850" y="86139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199" name="직사각형 198">
              <a:extLst>
                <a:ext uri="{FF2B5EF4-FFF2-40B4-BE49-F238E27FC236}">
                  <a16:creationId xmlns:a16="http://schemas.microsoft.com/office/drawing/2014/main" id="{547CB63D-17B5-4B75-B8F9-01FC8ACE4B48}"/>
                </a:ext>
              </a:extLst>
            </p:cNvPr>
            <p:cNvSpPr/>
            <p:nvPr/>
          </p:nvSpPr>
          <p:spPr>
            <a:xfrm>
              <a:off x="6092850" y="117423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200" name="직사각형 199">
              <a:extLst>
                <a:ext uri="{FF2B5EF4-FFF2-40B4-BE49-F238E27FC236}">
                  <a16:creationId xmlns:a16="http://schemas.microsoft.com/office/drawing/2014/main" id="{547CB63D-17B5-4B75-B8F9-01FC8ACE4B48}"/>
                </a:ext>
              </a:extLst>
            </p:cNvPr>
            <p:cNvSpPr/>
            <p:nvPr/>
          </p:nvSpPr>
          <p:spPr>
            <a:xfrm>
              <a:off x="5109694" y="22513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201" name="직사각형 200">
              <a:extLst>
                <a:ext uri="{FF2B5EF4-FFF2-40B4-BE49-F238E27FC236}">
                  <a16:creationId xmlns:a16="http://schemas.microsoft.com/office/drawing/2014/main" id="{547CB63D-17B5-4B75-B8F9-01FC8ACE4B48}"/>
                </a:ext>
              </a:extLst>
            </p:cNvPr>
            <p:cNvSpPr/>
            <p:nvPr/>
          </p:nvSpPr>
          <p:spPr>
            <a:xfrm>
              <a:off x="5109694" y="53797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202" name="직사각형 201">
              <a:extLst>
                <a:ext uri="{FF2B5EF4-FFF2-40B4-BE49-F238E27FC236}">
                  <a16:creationId xmlns:a16="http://schemas.microsoft.com/office/drawing/2014/main" id="{547CB63D-17B5-4B75-B8F9-01FC8ACE4B48}"/>
                </a:ext>
              </a:extLst>
            </p:cNvPr>
            <p:cNvSpPr/>
            <p:nvPr/>
          </p:nvSpPr>
          <p:spPr>
            <a:xfrm>
              <a:off x="5109694" y="861393"/>
              <a:ext cx="330200" cy="306475"/>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203" name="직사각형 202">
              <a:extLst>
                <a:ext uri="{FF2B5EF4-FFF2-40B4-BE49-F238E27FC236}">
                  <a16:creationId xmlns:a16="http://schemas.microsoft.com/office/drawing/2014/main" id="{547CB63D-17B5-4B75-B8F9-01FC8ACE4B48}"/>
                </a:ext>
              </a:extLst>
            </p:cNvPr>
            <p:cNvSpPr/>
            <p:nvPr/>
          </p:nvSpPr>
          <p:spPr>
            <a:xfrm>
              <a:off x="5109694" y="1174238"/>
              <a:ext cx="330200" cy="306476"/>
            </a:xfrm>
            <a:prstGeom prst="rect">
              <a:avLst/>
            </a:prstGeom>
            <a:solidFill>
              <a:srgbClr val="7BAFDD"/>
            </a:solidFill>
            <a:ln w="12700" cap="flat" cmpd="sng" algn="ctr">
              <a:solidFill>
                <a:sysClr val="windowText" lastClr="000000"/>
              </a:solidFill>
              <a:prstDash val="solid"/>
              <a:miter lim="800000"/>
              <a:headEnd type="none" w="med" len="med"/>
              <a:tailEnd type="triangle" w="med" len="med"/>
            </a:ln>
            <a:effectLst/>
          </p:spPr>
          <p:txBody>
            <a:bodyPr wrap="none" rtlCol="0" anchor="ctr"/>
            <a:lstStyle/>
            <a:p>
              <a:pPr algn="ctr"/>
              <a:r>
                <a:rPr lang="en-US" altLang="ko-KR" sz="900" dirty="0"/>
                <a:t>Mem</a:t>
              </a:r>
            </a:p>
            <a:p>
              <a:pPr algn="ctr"/>
              <a:r>
                <a:rPr lang="en-US" altLang="ko-KR" sz="900" dirty="0"/>
                <a:t>Chiplet</a:t>
              </a:r>
              <a:endParaRPr lang="ko-KR" altLang="en-US" sz="900" dirty="0"/>
            </a:p>
          </p:txBody>
        </p:sp>
        <p:sp>
          <p:nvSpPr>
            <p:cNvPr id="204" name="직사각형 203"/>
            <p:cNvSpPr/>
            <p:nvPr/>
          </p:nvSpPr>
          <p:spPr>
            <a:xfrm>
              <a:off x="5054385" y="173245"/>
              <a:ext cx="1423893" cy="1364962"/>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400" dirty="0"/>
            </a:p>
          </p:txBody>
        </p:sp>
      </p:grpSp>
      <p:grpSp>
        <p:nvGrpSpPr>
          <p:cNvPr id="137" name="그룹 136"/>
          <p:cNvGrpSpPr/>
          <p:nvPr/>
        </p:nvGrpSpPr>
        <p:grpSpPr>
          <a:xfrm>
            <a:off x="9419446" y="2917979"/>
            <a:ext cx="2531362" cy="2771168"/>
            <a:chOff x="6743127" y="1282047"/>
            <a:chExt cx="3020470" cy="3306611"/>
          </a:xfrm>
        </p:grpSpPr>
        <p:sp>
          <p:nvSpPr>
            <p:cNvPr id="138" name="직사각형 137"/>
            <p:cNvSpPr/>
            <p:nvPr/>
          </p:nvSpPr>
          <p:spPr>
            <a:xfrm>
              <a:off x="7205930" y="1723291"/>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39" name="직사각형 138"/>
            <p:cNvSpPr/>
            <p:nvPr/>
          </p:nvSpPr>
          <p:spPr>
            <a:xfrm>
              <a:off x="7205930"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0" name="직사각형 139"/>
            <p:cNvSpPr/>
            <p:nvPr/>
          </p:nvSpPr>
          <p:spPr>
            <a:xfrm>
              <a:off x="7752236" y="1723290"/>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1" name="직사각형 140"/>
            <p:cNvSpPr/>
            <p:nvPr/>
          </p:nvSpPr>
          <p:spPr>
            <a:xfrm>
              <a:off x="7754137"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2" name="직사각형 141"/>
            <p:cNvSpPr/>
            <p:nvPr/>
          </p:nvSpPr>
          <p:spPr>
            <a:xfrm>
              <a:off x="8301756" y="1723291"/>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3" name="직사각형 142"/>
            <p:cNvSpPr/>
            <p:nvPr/>
          </p:nvSpPr>
          <p:spPr>
            <a:xfrm>
              <a:off x="8301756"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4" name="직사각형 143"/>
            <p:cNvSpPr/>
            <p:nvPr/>
          </p:nvSpPr>
          <p:spPr>
            <a:xfrm>
              <a:off x="8848062" y="1723290"/>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5" name="직사각형 144"/>
            <p:cNvSpPr/>
            <p:nvPr/>
          </p:nvSpPr>
          <p:spPr>
            <a:xfrm>
              <a:off x="8849963" y="2227509"/>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6" name="직사각형 145"/>
            <p:cNvSpPr/>
            <p:nvPr/>
          </p:nvSpPr>
          <p:spPr>
            <a:xfrm>
              <a:off x="7204029" y="2736076"/>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7" name="직사각형 146"/>
            <p:cNvSpPr/>
            <p:nvPr/>
          </p:nvSpPr>
          <p:spPr>
            <a:xfrm>
              <a:off x="7204029"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8" name="직사각형 147"/>
            <p:cNvSpPr/>
            <p:nvPr/>
          </p:nvSpPr>
          <p:spPr>
            <a:xfrm>
              <a:off x="7750335" y="2736075"/>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49" name="직사각형 148"/>
            <p:cNvSpPr/>
            <p:nvPr/>
          </p:nvSpPr>
          <p:spPr>
            <a:xfrm>
              <a:off x="7752236"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50" name="직사각형 149"/>
            <p:cNvSpPr/>
            <p:nvPr/>
          </p:nvSpPr>
          <p:spPr>
            <a:xfrm>
              <a:off x="8299855" y="2736076"/>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51" name="직사각형 150"/>
            <p:cNvSpPr/>
            <p:nvPr/>
          </p:nvSpPr>
          <p:spPr>
            <a:xfrm>
              <a:off x="8299855"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52" name="직사각형 151"/>
            <p:cNvSpPr/>
            <p:nvPr/>
          </p:nvSpPr>
          <p:spPr>
            <a:xfrm>
              <a:off x="8846162" y="2736075"/>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54" name="직사각형 153"/>
            <p:cNvSpPr/>
            <p:nvPr/>
          </p:nvSpPr>
          <p:spPr>
            <a:xfrm>
              <a:off x="8848062" y="3240294"/>
              <a:ext cx="459384" cy="441622"/>
            </a:xfrm>
            <a:prstGeom prst="rect">
              <a:avLst/>
            </a:prstGeom>
            <a:solidFill>
              <a:srgbClr val="7BAFDD"/>
            </a:solidFill>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US" altLang="ko-KR" sz="900" dirty="0">
                  <a:solidFill>
                    <a:schemeClr val="tx1"/>
                  </a:solidFill>
                </a:rPr>
                <a:t>Mem</a:t>
              </a:r>
            </a:p>
            <a:p>
              <a:pPr algn="ctr"/>
              <a:r>
                <a:rPr lang="en-US" altLang="ko-KR" sz="900" dirty="0">
                  <a:solidFill>
                    <a:schemeClr val="tx1"/>
                  </a:solidFill>
                </a:rPr>
                <a:t>Chiplet</a:t>
              </a:r>
              <a:endParaRPr lang="ko-KR" altLang="en-US" sz="900" dirty="0">
                <a:solidFill>
                  <a:schemeClr val="tx1"/>
                </a:solidFill>
              </a:endParaRPr>
            </a:p>
          </p:txBody>
        </p:sp>
        <p:sp>
          <p:nvSpPr>
            <p:cNvPr id="155" name="직사각형 154"/>
            <p:cNvSpPr/>
            <p:nvPr/>
          </p:nvSpPr>
          <p:spPr>
            <a:xfrm>
              <a:off x="7750335" y="1349374"/>
              <a:ext cx="1008904"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156" name="직사각형 155"/>
            <p:cNvSpPr/>
            <p:nvPr/>
          </p:nvSpPr>
          <p:spPr>
            <a:xfrm>
              <a:off x="7750335" y="3762539"/>
              <a:ext cx="1008904"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157" name="직사각형 156"/>
            <p:cNvSpPr/>
            <p:nvPr/>
          </p:nvSpPr>
          <p:spPr>
            <a:xfrm rot="16200000">
              <a:off x="6504512" y="2549117"/>
              <a:ext cx="950188"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158" name="직사각형 157"/>
            <p:cNvSpPr/>
            <p:nvPr/>
          </p:nvSpPr>
          <p:spPr>
            <a:xfrm rot="16200000">
              <a:off x="9060805" y="2549118"/>
              <a:ext cx="950188" cy="306971"/>
            </a:xfrm>
            <a:prstGeom prst="rect">
              <a:avLst/>
            </a:prstGeom>
            <a:solidFill>
              <a:schemeClr val="tx1">
                <a:lumMod val="75000"/>
                <a:lumOff val="2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ko-KR" sz="1100" dirty="0"/>
                <a:t>IO-Chiplet</a:t>
              </a:r>
              <a:endParaRPr lang="ko-KR" altLang="en-US" sz="1100" dirty="0"/>
            </a:p>
          </p:txBody>
        </p:sp>
        <p:sp>
          <p:nvSpPr>
            <p:cNvPr id="159" name="직사각형 158"/>
            <p:cNvSpPr/>
            <p:nvPr/>
          </p:nvSpPr>
          <p:spPr>
            <a:xfrm>
              <a:off x="6743127" y="1282047"/>
              <a:ext cx="3020470" cy="2865917"/>
            </a:xfrm>
            <a:prstGeom prst="rect">
              <a:avLst/>
            </a:prstGeom>
            <a:no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sz="1100" dirty="0"/>
            </a:p>
          </p:txBody>
        </p:sp>
        <p:sp>
          <p:nvSpPr>
            <p:cNvPr id="160" name="TextBox 159">
              <a:extLst>
                <a:ext uri="{FF2B5EF4-FFF2-40B4-BE49-F238E27FC236}">
                  <a16:creationId xmlns:a16="http://schemas.microsoft.com/office/drawing/2014/main" id="{987DEFE5-E808-4F43-9A0A-CFF684213AF6}"/>
                </a:ext>
              </a:extLst>
            </p:cNvPr>
            <p:cNvSpPr txBox="1"/>
            <p:nvPr/>
          </p:nvSpPr>
          <p:spPr>
            <a:xfrm>
              <a:off x="6743127" y="4147964"/>
              <a:ext cx="3020469" cy="440694"/>
            </a:xfrm>
            <a:prstGeom prst="rect">
              <a:avLst/>
            </a:prstGeom>
            <a:noFill/>
          </p:spPr>
          <p:txBody>
            <a:bodyPr wrap="square" rtlCol="0">
              <a:spAutoFit/>
            </a:bodyPr>
            <a:lstStyle/>
            <a:p>
              <a:pPr algn="ctr" defTabSz="914400"/>
              <a:r>
                <a:rPr lang="en-US" altLang="ko-KR" b="1" dirty="0">
                  <a:solidFill>
                    <a:schemeClr val="bg1"/>
                  </a:solidFill>
                  <a:latin typeface="SAMSUNGONE-600C" panose="020B0503030303020204" pitchFamily="34" charset="-127"/>
                  <a:ea typeface="SAMSUNGONE-600C" panose="020B0503030303020204" pitchFamily="34" charset="-127"/>
                </a:rPr>
                <a:t>ScHBM SiP (4x4)</a:t>
              </a:r>
            </a:p>
          </p:txBody>
        </p:sp>
      </p:grpSp>
      <p:cxnSp>
        <p:nvCxnSpPr>
          <p:cNvPr id="161" name="직선 연결선 160">
            <a:extLst>
              <a:ext uri="{FF2B5EF4-FFF2-40B4-BE49-F238E27FC236}">
                <a16:creationId xmlns:a16="http://schemas.microsoft.com/office/drawing/2014/main" id="{62478ED5-EDBA-4074-9D2F-CE5790ED807D}"/>
              </a:ext>
            </a:extLst>
          </p:cNvPr>
          <p:cNvCxnSpPr/>
          <p:nvPr/>
        </p:nvCxnSpPr>
        <p:spPr>
          <a:xfrm flipH="1">
            <a:off x="8813274" y="2917979"/>
            <a:ext cx="606172" cy="994598"/>
          </a:xfrm>
          <a:prstGeom prst="line">
            <a:avLst/>
          </a:prstGeom>
          <a:ln w="1270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63" name="직선 연결선 162">
            <a:extLst>
              <a:ext uri="{FF2B5EF4-FFF2-40B4-BE49-F238E27FC236}">
                <a16:creationId xmlns:a16="http://schemas.microsoft.com/office/drawing/2014/main" id="{62478ED5-EDBA-4074-9D2F-CE5790ED807D}"/>
              </a:ext>
            </a:extLst>
          </p:cNvPr>
          <p:cNvCxnSpPr/>
          <p:nvPr/>
        </p:nvCxnSpPr>
        <p:spPr>
          <a:xfrm flipH="1" flipV="1">
            <a:off x="8813274" y="4404636"/>
            <a:ext cx="606172" cy="915179"/>
          </a:xfrm>
          <a:prstGeom prst="line">
            <a:avLst/>
          </a:prstGeom>
          <a:ln w="1270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136" name="실행 단추: 뒤로 또는 이전 135">
            <a:hlinkClick r:id="rId3" action="ppaction://hlinksldjump" highlightClick="1"/>
          </p:cNvPr>
          <p:cNvSpPr/>
          <p:nvPr/>
        </p:nvSpPr>
        <p:spPr>
          <a:xfrm>
            <a:off x="10278951" y="361705"/>
            <a:ext cx="328210" cy="320040"/>
          </a:xfrm>
          <a:prstGeom prst="actionButtonBackPrevious">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96102694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개요</a:t>
            </a:r>
          </a:p>
        </p:txBody>
      </p:sp>
      <p:sp>
        <p:nvSpPr>
          <p:cNvPr id="5" name="TextBox 4"/>
          <p:cNvSpPr txBox="1"/>
          <p:nvPr/>
        </p:nvSpPr>
        <p:spPr>
          <a:xfrm>
            <a:off x="320673" y="542996"/>
            <a:ext cx="5618107" cy="5493812"/>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600" dirty="0"/>
              <a:t>■ </a:t>
            </a:r>
            <a:r>
              <a:rPr lang="ko-KR" altLang="en-US" sz="1600" dirty="0" err="1"/>
              <a:t>과제명</a:t>
            </a:r>
            <a:endParaRPr lang="en-US" altLang="ko-KR" sz="1800" dirty="0"/>
          </a:p>
          <a:p>
            <a:pPr marL="742950" lvl="1" indent="-285750">
              <a:lnSpc>
                <a:spcPct val="150000"/>
              </a:lnSpc>
              <a:buFont typeface="Wingdings" panose="05000000000000000000" pitchFamily="2" charset="2"/>
              <a:buChar char="§"/>
            </a:pPr>
            <a:r>
              <a:rPr lang="ko-KR" altLang="en-US" sz="1400" dirty="0"/>
              <a:t>이기종 메모리 기반 </a:t>
            </a:r>
            <a:r>
              <a:rPr lang="ko-KR" altLang="en-US" sz="1400" dirty="0" err="1"/>
              <a:t>서빙</a:t>
            </a:r>
            <a:r>
              <a:rPr lang="ko-KR" altLang="en-US" sz="1400" dirty="0"/>
              <a:t> 엔진</a:t>
            </a:r>
            <a:r>
              <a:rPr lang="en-US" altLang="ko-KR" sz="1400" dirty="0"/>
              <a:t>(AI </a:t>
            </a:r>
            <a:r>
              <a:rPr lang="ko-KR" altLang="en-US" sz="1400" dirty="0"/>
              <a:t>추론 런타임</a:t>
            </a:r>
            <a:r>
              <a:rPr lang="en-US" altLang="ko-KR" sz="1400" dirty="0"/>
              <a:t>)</a:t>
            </a:r>
            <a:r>
              <a:rPr lang="ko-KR" altLang="en-US" sz="1400" dirty="0"/>
              <a:t> 개발</a:t>
            </a:r>
            <a:endParaRPr lang="en-US" altLang="ko-KR" sz="1400" dirty="0"/>
          </a:p>
          <a:p>
            <a:pPr algn="l">
              <a:lnSpc>
                <a:spcPct val="150000"/>
              </a:lnSpc>
            </a:pPr>
            <a:r>
              <a:rPr lang="ko-KR" altLang="en-US" sz="1600" dirty="0"/>
              <a:t>■ 과제 개요</a:t>
            </a:r>
            <a:endParaRPr lang="en-US" altLang="ko-KR" sz="1600" dirty="0"/>
          </a:p>
          <a:p>
            <a:pPr marL="742950" lvl="1" indent="-285750">
              <a:lnSpc>
                <a:spcPct val="150000"/>
              </a:lnSpc>
              <a:buFont typeface="Wingdings" panose="05000000000000000000" pitchFamily="2" charset="2"/>
              <a:buChar char="§"/>
            </a:pPr>
            <a:r>
              <a:rPr lang="ko-KR" altLang="en-US" sz="1400" dirty="0">
                <a:solidFill>
                  <a:prstClr val="black"/>
                </a:solidFill>
              </a:rPr>
              <a:t>서로 다른 특성을 가진 메모리가 혼재된 시스템에서 </a:t>
            </a:r>
            <a:r>
              <a:rPr lang="en-US" altLang="ko-KR" sz="1400" dirty="0">
                <a:solidFill>
                  <a:prstClr val="black"/>
                </a:solidFill>
              </a:rPr>
              <a:t>AI </a:t>
            </a:r>
            <a:r>
              <a:rPr lang="ko-KR" altLang="en-US" sz="1400" dirty="0">
                <a:solidFill>
                  <a:prstClr val="black"/>
                </a:solidFill>
              </a:rPr>
              <a:t>워크로드를 최적화하는 런타임 설계</a:t>
            </a:r>
            <a:endParaRPr lang="en-US" altLang="ko-KR" sz="1400" dirty="0">
              <a:solidFill>
                <a:prstClr val="black"/>
              </a:solidFill>
            </a:endParaRPr>
          </a:p>
          <a:p>
            <a:pPr marL="742950" lvl="1" indent="-285750">
              <a:lnSpc>
                <a:spcPct val="150000"/>
              </a:lnSpc>
              <a:buFont typeface="Wingdings" panose="05000000000000000000" pitchFamily="2" charset="2"/>
              <a:buChar char="§"/>
            </a:pPr>
            <a:r>
              <a:rPr lang="en-US" altLang="ko-KR" sz="1400" dirty="0">
                <a:solidFill>
                  <a:prstClr val="black"/>
                </a:solidFill>
              </a:rPr>
              <a:t>LM </a:t>
            </a:r>
            <a:r>
              <a:rPr lang="ko-KR" altLang="en-US" sz="1400" dirty="0">
                <a:solidFill>
                  <a:prstClr val="black"/>
                </a:solidFill>
              </a:rPr>
              <a:t>추론 성능 개선을 통해 당사의 다양한 메모리 제품 가치 재고 </a:t>
            </a:r>
            <a:endParaRPr lang="en-US" altLang="ko-KR" sz="1600" dirty="0"/>
          </a:p>
          <a:p>
            <a:pPr algn="l">
              <a:lnSpc>
                <a:spcPct val="150000"/>
              </a:lnSpc>
            </a:pPr>
            <a:r>
              <a:rPr lang="ko-KR" altLang="en-US" sz="1600" dirty="0"/>
              <a:t>■ 참여 인력</a:t>
            </a:r>
            <a:endParaRPr lang="en-US" altLang="ko-KR" sz="2000" dirty="0"/>
          </a:p>
          <a:p>
            <a:pPr marL="742950" lvl="1" indent="-285750">
              <a:lnSpc>
                <a:spcPct val="150000"/>
              </a:lnSpc>
              <a:buFont typeface="Wingdings" panose="05000000000000000000" pitchFamily="2" charset="2"/>
              <a:buChar char="§"/>
            </a:pPr>
            <a:r>
              <a:rPr lang="ko-KR" altLang="en-US" sz="1400" dirty="0"/>
              <a:t>전체</a:t>
            </a:r>
            <a:r>
              <a:rPr lang="en-US" altLang="ko-KR" sz="1400" dirty="0"/>
              <a:t>: </a:t>
            </a:r>
            <a:r>
              <a:rPr lang="ko-KR" altLang="en-US" sz="1400" dirty="0"/>
              <a:t>국내 </a:t>
            </a:r>
            <a:r>
              <a:rPr lang="en-US" altLang="ko-KR" sz="1400" dirty="0"/>
              <a:t>22</a:t>
            </a:r>
            <a:r>
              <a:rPr lang="ko-KR" altLang="en-US" sz="1400" dirty="0"/>
              <a:t>명</a:t>
            </a:r>
            <a:r>
              <a:rPr lang="en-US" altLang="ko-KR" sz="1400" dirty="0"/>
              <a:t>, SRCX 4</a:t>
            </a:r>
            <a:r>
              <a:rPr lang="ko-KR" altLang="en-US" sz="1400" dirty="0"/>
              <a:t>명</a:t>
            </a:r>
            <a:endParaRPr lang="en-US" altLang="ko-KR" sz="1400" dirty="0"/>
          </a:p>
          <a:p>
            <a:pPr marL="742950" lvl="1" indent="-285750">
              <a:lnSpc>
                <a:spcPct val="150000"/>
              </a:lnSpc>
              <a:buFont typeface="Wingdings" panose="05000000000000000000" pitchFamily="2" charset="2"/>
              <a:buChar char="§"/>
            </a:pPr>
            <a:r>
              <a:rPr lang="ko-KR" altLang="en-US" sz="1400" dirty="0"/>
              <a:t>리딩</a:t>
            </a:r>
            <a:r>
              <a:rPr lang="en-US" altLang="ko-KR" sz="1400" dirty="0"/>
              <a:t>: </a:t>
            </a:r>
            <a:r>
              <a:rPr lang="ko-KR" altLang="en-US" sz="1400" dirty="0"/>
              <a:t>국내 </a:t>
            </a:r>
            <a:r>
              <a:rPr lang="en-US" altLang="ko-KR" sz="1400" dirty="0"/>
              <a:t>7</a:t>
            </a:r>
            <a:r>
              <a:rPr lang="ko-KR" altLang="en-US" sz="1400" dirty="0"/>
              <a:t>명</a:t>
            </a:r>
            <a:r>
              <a:rPr lang="en-US" altLang="ko-KR" sz="1400" dirty="0"/>
              <a:t>, SRCX 4</a:t>
            </a:r>
            <a:r>
              <a:rPr lang="ko-KR" altLang="en-US" sz="1400" dirty="0"/>
              <a:t>명</a:t>
            </a:r>
            <a:endParaRPr lang="en-US" altLang="ko-KR" sz="1400" dirty="0"/>
          </a:p>
          <a:p>
            <a:pPr algn="l">
              <a:lnSpc>
                <a:spcPct val="150000"/>
              </a:lnSpc>
            </a:pPr>
            <a:r>
              <a:rPr lang="ko-KR" altLang="en-US" sz="1600" dirty="0"/>
              <a:t>■ </a:t>
            </a:r>
            <a:r>
              <a:rPr lang="en-US" altLang="ko-KR" sz="1600" dirty="0"/>
              <a:t>Target </a:t>
            </a:r>
            <a:r>
              <a:rPr lang="ko-KR" altLang="en-US" sz="1600" dirty="0"/>
              <a:t>시스템 </a:t>
            </a:r>
            <a:r>
              <a:rPr lang="en-US" altLang="ko-KR" sz="1600" dirty="0"/>
              <a:t>/ </a:t>
            </a:r>
            <a:r>
              <a:rPr lang="ko-KR" altLang="en-US" sz="1600" dirty="0"/>
              <a:t>장치</a:t>
            </a:r>
            <a:endParaRPr lang="en-US" altLang="ko-KR" sz="1600" dirty="0"/>
          </a:p>
          <a:p>
            <a:pPr marL="742950" lvl="1" indent="-285750">
              <a:lnSpc>
                <a:spcPct val="150000"/>
              </a:lnSpc>
              <a:buFont typeface="Wingdings" panose="05000000000000000000" pitchFamily="2" charset="2"/>
              <a:buChar char="§"/>
            </a:pPr>
            <a:r>
              <a:rPr lang="ko-KR" altLang="en-US" sz="1400" dirty="0" err="1">
                <a:solidFill>
                  <a:prstClr val="black"/>
                </a:solidFill>
              </a:rPr>
              <a:t>현세대</a:t>
            </a:r>
            <a:r>
              <a:rPr lang="ko-KR" altLang="en-US" sz="1400" dirty="0">
                <a:solidFill>
                  <a:prstClr val="black"/>
                </a:solidFill>
              </a:rPr>
              <a:t> 메모리</a:t>
            </a:r>
            <a:r>
              <a:rPr lang="en-US" altLang="ko-KR" sz="1400" dirty="0">
                <a:solidFill>
                  <a:prstClr val="black"/>
                </a:solidFill>
              </a:rPr>
              <a:t>: HBM, DRAM, SSD, </a:t>
            </a:r>
          </a:p>
          <a:p>
            <a:pPr marL="742950" lvl="1" indent="-285750">
              <a:lnSpc>
                <a:spcPct val="150000"/>
              </a:lnSpc>
              <a:buFont typeface="Wingdings" panose="05000000000000000000" pitchFamily="2" charset="2"/>
              <a:buChar char="§"/>
            </a:pPr>
            <a:r>
              <a:rPr lang="ko-KR" altLang="en-US" sz="1400" dirty="0">
                <a:solidFill>
                  <a:prstClr val="black"/>
                </a:solidFill>
              </a:rPr>
              <a:t>차세대 메모리</a:t>
            </a:r>
            <a:r>
              <a:rPr lang="en-US" altLang="ko-KR" sz="1400" dirty="0">
                <a:solidFill>
                  <a:prstClr val="black"/>
                </a:solidFill>
              </a:rPr>
              <a:t>: CXL-PNM*. SSD-PIM**, </a:t>
            </a:r>
            <a:r>
              <a:rPr lang="en-US" altLang="ko-KR" sz="1400" dirty="0" err="1">
                <a:solidFill>
                  <a:prstClr val="black"/>
                </a:solidFill>
              </a:rPr>
              <a:t>ScHBM</a:t>
            </a:r>
            <a:r>
              <a:rPr lang="en-US" altLang="ko-KR" sz="1400" dirty="0">
                <a:solidFill>
                  <a:prstClr val="black"/>
                </a:solidFill>
              </a:rPr>
              <a:t>***, HBF</a:t>
            </a:r>
            <a:endParaRPr lang="en-US" altLang="ko-KR" sz="1600" dirty="0"/>
          </a:p>
          <a:p>
            <a:pPr algn="l">
              <a:lnSpc>
                <a:spcPct val="150000"/>
              </a:lnSpc>
            </a:pPr>
            <a:r>
              <a:rPr lang="ko-KR" altLang="en-US" sz="1600" dirty="0"/>
              <a:t>■ 일정</a:t>
            </a:r>
            <a:endParaRPr lang="en-US" altLang="ko-KR" sz="2000" dirty="0"/>
          </a:p>
          <a:p>
            <a:pPr marL="742950" lvl="1" indent="-285750">
              <a:lnSpc>
                <a:spcPct val="150000"/>
              </a:lnSpc>
              <a:buFont typeface="Wingdings" panose="05000000000000000000" pitchFamily="2" charset="2"/>
              <a:buChar char="§"/>
            </a:pPr>
            <a:r>
              <a:rPr lang="en-US" altLang="ko-KR" sz="1400" dirty="0">
                <a:solidFill>
                  <a:schemeClr val="tx1">
                    <a:lumMod val="75000"/>
                    <a:lumOff val="25000"/>
                  </a:schemeClr>
                </a:solidFill>
                <a:latin typeface="맑은 고딕" panose="020B0503020000020004" pitchFamily="50" charset="-127"/>
              </a:rPr>
              <a:t>26</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 26</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12</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a:t>
            </a:r>
            <a:r>
              <a:rPr lang="ko-KR" altLang="en-US" sz="1400" dirty="0">
                <a:solidFill>
                  <a:schemeClr val="tx1">
                    <a:lumMod val="75000"/>
                    <a:lumOff val="25000"/>
                  </a:schemeClr>
                </a:solidFill>
                <a:latin typeface="맑은 고딕" panose="020B0503020000020004" pitchFamily="50" charset="-127"/>
              </a:rPr>
              <a:t>총 </a:t>
            </a:r>
            <a:r>
              <a:rPr lang="en-US" altLang="ko-KR" sz="1400" dirty="0">
                <a:solidFill>
                  <a:schemeClr val="tx1">
                    <a:lumMod val="75000"/>
                    <a:lumOff val="25000"/>
                  </a:schemeClr>
                </a:solidFill>
                <a:latin typeface="맑은 고딕" panose="020B0503020000020004" pitchFamily="50" charset="-127"/>
              </a:rPr>
              <a:t>12</a:t>
            </a:r>
            <a:r>
              <a:rPr lang="ko-KR" altLang="en-US" sz="1400" dirty="0">
                <a:solidFill>
                  <a:schemeClr val="tx1">
                    <a:lumMod val="75000"/>
                    <a:lumOff val="25000"/>
                  </a:schemeClr>
                </a:solidFill>
                <a:latin typeface="맑은 고딕" panose="020B0503020000020004" pitchFamily="50" charset="-127"/>
              </a:rPr>
              <a:t>개월</a:t>
            </a:r>
            <a:r>
              <a:rPr lang="en-US" altLang="ko-KR" sz="1400" dirty="0">
                <a:solidFill>
                  <a:schemeClr val="tx1">
                    <a:lumMod val="75000"/>
                    <a:lumOff val="25000"/>
                  </a:schemeClr>
                </a:solidFill>
                <a:latin typeface="맑은 고딕" panose="020B0503020000020004" pitchFamily="50" charset="-127"/>
              </a:rPr>
              <a:t>)</a:t>
            </a:r>
            <a:endParaRPr lang="en-US" altLang="ko-KR" sz="1400" dirty="0"/>
          </a:p>
          <a:p>
            <a:pPr marL="742950" lvl="1" indent="-285750">
              <a:lnSpc>
                <a:spcPct val="150000"/>
              </a:lnSpc>
              <a:buFont typeface="Wingdings" panose="05000000000000000000" pitchFamily="2" charset="2"/>
              <a:buChar char="§"/>
            </a:pPr>
            <a:r>
              <a:rPr lang="ko-KR" altLang="en-US" sz="1400" dirty="0">
                <a:solidFill>
                  <a:schemeClr val="tx1">
                    <a:lumMod val="75000"/>
                    <a:lumOff val="25000"/>
                  </a:schemeClr>
                </a:solidFill>
                <a:latin typeface="맑은 고딕" panose="020B0503020000020004" pitchFamily="50" charset="-127"/>
              </a:rPr>
              <a:t>연구과제 일정 </a:t>
            </a:r>
            <a:r>
              <a:rPr lang="en-US" altLang="ko-KR" sz="1400" dirty="0">
                <a:solidFill>
                  <a:schemeClr val="tx1">
                    <a:lumMod val="75000"/>
                    <a:lumOff val="25000"/>
                  </a:schemeClr>
                </a:solidFill>
                <a:latin typeface="맑은 고딕" panose="020B0503020000020004" pitchFamily="50" charset="-127"/>
              </a:rPr>
              <a:t>26</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 28</a:t>
            </a:r>
            <a:r>
              <a:rPr lang="ko-KR" altLang="en-US" sz="1400" dirty="0">
                <a:solidFill>
                  <a:schemeClr val="tx1">
                    <a:lumMod val="75000"/>
                    <a:lumOff val="25000"/>
                  </a:schemeClr>
                </a:solidFill>
                <a:latin typeface="맑은 고딕" panose="020B0503020000020004" pitchFamily="50" charset="-127"/>
              </a:rPr>
              <a:t>년 </a:t>
            </a:r>
            <a:r>
              <a:rPr lang="en-US" altLang="ko-KR" sz="1400" dirty="0">
                <a:solidFill>
                  <a:schemeClr val="tx1">
                    <a:lumMod val="75000"/>
                    <a:lumOff val="25000"/>
                  </a:schemeClr>
                </a:solidFill>
                <a:latin typeface="맑은 고딕" panose="020B0503020000020004" pitchFamily="50" charset="-127"/>
              </a:rPr>
              <a:t>12</a:t>
            </a:r>
            <a:r>
              <a:rPr lang="ko-KR" altLang="en-US" sz="1400" dirty="0">
                <a:solidFill>
                  <a:schemeClr val="tx1">
                    <a:lumMod val="75000"/>
                    <a:lumOff val="25000"/>
                  </a:schemeClr>
                </a:solidFill>
                <a:latin typeface="맑은 고딕" panose="020B0503020000020004" pitchFamily="50" charset="-127"/>
              </a:rPr>
              <a:t>월 </a:t>
            </a:r>
            <a:r>
              <a:rPr lang="en-US" altLang="ko-KR" sz="1400" dirty="0">
                <a:solidFill>
                  <a:schemeClr val="tx1">
                    <a:lumMod val="75000"/>
                    <a:lumOff val="25000"/>
                  </a:schemeClr>
                </a:solidFill>
                <a:latin typeface="맑은 고딕" panose="020B0503020000020004" pitchFamily="50" charset="-127"/>
              </a:rPr>
              <a:t>(</a:t>
            </a:r>
            <a:r>
              <a:rPr lang="ko-KR" altLang="en-US" sz="1400" dirty="0">
                <a:solidFill>
                  <a:schemeClr val="tx1">
                    <a:lumMod val="75000"/>
                    <a:lumOff val="25000"/>
                  </a:schemeClr>
                </a:solidFill>
                <a:latin typeface="맑은 고딕" panose="020B0503020000020004" pitchFamily="50" charset="-127"/>
              </a:rPr>
              <a:t>총 </a:t>
            </a:r>
            <a:r>
              <a:rPr lang="en-US" altLang="ko-KR" sz="1400" dirty="0">
                <a:solidFill>
                  <a:schemeClr val="tx1">
                    <a:lumMod val="75000"/>
                    <a:lumOff val="25000"/>
                  </a:schemeClr>
                </a:solidFill>
                <a:latin typeface="맑은 고딕" panose="020B0503020000020004" pitchFamily="50" charset="-127"/>
              </a:rPr>
              <a:t>36</a:t>
            </a:r>
            <a:r>
              <a:rPr lang="ko-KR" altLang="en-US" sz="1400" dirty="0">
                <a:solidFill>
                  <a:schemeClr val="tx1">
                    <a:lumMod val="75000"/>
                    <a:lumOff val="25000"/>
                  </a:schemeClr>
                </a:solidFill>
                <a:latin typeface="맑은 고딕" panose="020B0503020000020004" pitchFamily="50" charset="-127"/>
              </a:rPr>
              <a:t>개월</a:t>
            </a:r>
            <a:r>
              <a:rPr lang="en-US" altLang="ko-KR" sz="1400" dirty="0">
                <a:solidFill>
                  <a:schemeClr val="tx1">
                    <a:lumMod val="75000"/>
                    <a:lumOff val="25000"/>
                  </a:schemeClr>
                </a:solidFill>
                <a:latin typeface="맑은 고딕" panose="020B0503020000020004" pitchFamily="50" charset="-127"/>
              </a:rPr>
              <a:t>)</a:t>
            </a:r>
          </a:p>
        </p:txBody>
      </p:sp>
      <p:sp>
        <p:nvSpPr>
          <p:cNvPr id="91" name="모서리가 둥근 직사각형 90"/>
          <p:cNvSpPr/>
          <p:nvPr/>
        </p:nvSpPr>
        <p:spPr>
          <a:xfrm>
            <a:off x="6916474" y="1227599"/>
            <a:ext cx="4909383" cy="304580"/>
          </a:xfrm>
          <a:prstGeom prst="roundRect">
            <a:avLst>
              <a:gd name="adj" fmla="val 1090"/>
            </a:avLst>
          </a:prstGeom>
          <a:solidFill>
            <a:sysClr val="window" lastClr="FFFFFF">
              <a:lumMod val="95000"/>
            </a:sysClr>
          </a:solidFill>
          <a:ln w="12700" cap="flat" cmpd="sng" algn="ctr">
            <a:solidFill>
              <a:sysClr val="windowText" lastClr="000000"/>
            </a:solidFill>
            <a:prstDash val="solid"/>
            <a:miter lim="800000"/>
          </a:ln>
          <a:effectLst/>
        </p:spPr>
        <p:txBody>
          <a:bodyPr lIns="68580" tIns="34290" rIns="68580" bIns="34290" rtlCol="0" anchor="ctr"/>
          <a:lstStyle/>
          <a:p>
            <a:pPr algn="ctr" latinLnBrk="0"/>
            <a:r>
              <a:rPr lang="en-US" altLang="ko-KR" sz="1050" b="1" kern="0" dirty="0">
                <a:solidFill>
                  <a:prstClr val="black"/>
                </a:solidFill>
                <a:latin typeface="Calibri" panose="020F0502020204030204"/>
              </a:rPr>
              <a:t>Application</a:t>
            </a:r>
            <a:endParaRPr lang="ko-KR" altLang="en-US" sz="1050" b="1" kern="0" dirty="0">
              <a:solidFill>
                <a:prstClr val="black"/>
              </a:solidFill>
              <a:latin typeface="Calibri" panose="020F0502020204030204"/>
            </a:endParaRPr>
          </a:p>
        </p:txBody>
      </p:sp>
      <p:sp>
        <p:nvSpPr>
          <p:cNvPr id="92" name="모서리가 둥근 직사각형 91"/>
          <p:cNvSpPr/>
          <p:nvPr/>
        </p:nvSpPr>
        <p:spPr>
          <a:xfrm>
            <a:off x="6916474" y="1615194"/>
            <a:ext cx="4909383" cy="304580"/>
          </a:xfrm>
          <a:prstGeom prst="roundRect">
            <a:avLst>
              <a:gd name="adj" fmla="val 1090"/>
            </a:avLst>
          </a:prstGeom>
          <a:solidFill>
            <a:sysClr val="window" lastClr="FFFFFF">
              <a:lumMod val="95000"/>
            </a:sysClr>
          </a:solidFill>
          <a:ln w="12700" cap="flat" cmpd="sng" algn="ctr">
            <a:solidFill>
              <a:sysClr val="windowText" lastClr="000000"/>
            </a:solidFill>
            <a:prstDash val="solid"/>
            <a:miter lim="800000"/>
          </a:ln>
          <a:effectLst/>
        </p:spPr>
        <p:txBody>
          <a:bodyPr lIns="68580" tIns="34290" rIns="68580" bIns="34290" rtlCol="0" anchor="ctr"/>
          <a:lstStyle/>
          <a:p>
            <a:pPr algn="ctr" latinLnBrk="0"/>
            <a:r>
              <a:rPr lang="en-US" altLang="ko-KR" sz="1050" b="1" kern="0" dirty="0">
                <a:solidFill>
                  <a:prstClr val="black"/>
                </a:solidFill>
                <a:latin typeface="Calibri" panose="020F0502020204030204"/>
              </a:rPr>
              <a:t>Framework</a:t>
            </a:r>
            <a:endParaRPr lang="ko-KR" altLang="en-US" sz="1050" b="1" kern="0" dirty="0">
              <a:solidFill>
                <a:prstClr val="black"/>
              </a:solidFill>
              <a:latin typeface="Calibri" panose="020F0502020204030204"/>
            </a:endParaRPr>
          </a:p>
        </p:txBody>
      </p:sp>
      <p:sp>
        <p:nvSpPr>
          <p:cNvPr id="96" name="직사각형 95"/>
          <p:cNvSpPr/>
          <p:nvPr/>
        </p:nvSpPr>
        <p:spPr>
          <a:xfrm>
            <a:off x="6909468" y="2562458"/>
            <a:ext cx="94573" cy="9828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직사각형 200"/>
          <p:cNvSpPr/>
          <p:nvPr/>
        </p:nvSpPr>
        <p:spPr>
          <a:xfrm>
            <a:off x="10530432" y="921723"/>
            <a:ext cx="481921" cy="174195"/>
          </a:xfrm>
          <a:prstGeom prst="rect">
            <a:avLst/>
          </a:prstGeom>
          <a:solidFill>
            <a:srgbClr val="C00000">
              <a:alpha val="30000"/>
            </a:srgbClr>
          </a:solidFill>
          <a:ln w="38100">
            <a:solidFill>
              <a:srgbClr val="C0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p:cNvSpPr txBox="1"/>
          <p:nvPr/>
        </p:nvSpPr>
        <p:spPr>
          <a:xfrm>
            <a:off x="11012305" y="859178"/>
            <a:ext cx="987619" cy="285406"/>
          </a:xfrm>
          <a:prstGeom prst="rect">
            <a:avLst/>
          </a:prstGeom>
          <a:noFill/>
        </p:spPr>
        <p:txBody>
          <a:bodyPr wrap="square" rtlCol="0">
            <a:spAutoFit/>
          </a:bodyPr>
          <a:lstStyle>
            <a:defPPr>
              <a:defRPr lang="ko-KR"/>
            </a:defPPr>
            <a:lvl1pPr algn="ctr">
              <a:defRPr sz="1000">
                <a:latin typeface="+mn-ea"/>
              </a:defRPr>
            </a:lvl1pPr>
          </a:lstStyle>
          <a:p>
            <a:pPr algn="l"/>
            <a:r>
              <a:rPr lang="en-US" altLang="ko-KR" dirty="0"/>
              <a:t>: </a:t>
            </a:r>
            <a:r>
              <a:rPr lang="ko-KR" altLang="en-US" dirty="0"/>
              <a:t>과제 범위</a:t>
            </a:r>
          </a:p>
        </p:txBody>
      </p:sp>
      <p:sp>
        <p:nvSpPr>
          <p:cNvPr id="226" name="모서리가 둥근 직사각형 225"/>
          <p:cNvSpPr/>
          <p:nvPr/>
        </p:nvSpPr>
        <p:spPr>
          <a:xfrm>
            <a:off x="6926351" y="4774814"/>
            <a:ext cx="4909383" cy="304580"/>
          </a:xfrm>
          <a:prstGeom prst="roundRect">
            <a:avLst>
              <a:gd name="adj" fmla="val 1090"/>
            </a:avLst>
          </a:prstGeom>
          <a:solidFill>
            <a:sysClr val="window" lastClr="FFFFFF">
              <a:lumMod val="95000"/>
            </a:sysClr>
          </a:solidFill>
          <a:ln w="12700" cap="flat" cmpd="sng" algn="ctr">
            <a:solidFill>
              <a:sysClr val="windowText" lastClr="000000"/>
            </a:solidFill>
            <a:prstDash val="solid"/>
            <a:miter lim="800000"/>
          </a:ln>
          <a:effectLst/>
        </p:spPr>
        <p:txBody>
          <a:bodyPr lIns="68580" tIns="34290" rIns="68580" bIns="34290" rtlCol="0" anchor="ctr"/>
          <a:lstStyle/>
          <a:p>
            <a:pPr algn="ctr" latinLnBrk="0"/>
            <a:r>
              <a:rPr lang="en-US" altLang="ko-KR" sz="1050" b="1" kern="0" dirty="0">
                <a:solidFill>
                  <a:prstClr val="black"/>
                </a:solidFill>
                <a:latin typeface="Calibri" panose="020F0502020204030204"/>
              </a:rPr>
              <a:t>Compiler / Library </a:t>
            </a:r>
            <a:endParaRPr lang="ko-KR" altLang="en-US" sz="1050" b="1" kern="0" dirty="0">
              <a:solidFill>
                <a:prstClr val="black"/>
              </a:solidFill>
              <a:latin typeface="Calibri" panose="020F0502020204030204"/>
            </a:endParaRPr>
          </a:p>
        </p:txBody>
      </p:sp>
      <p:sp>
        <p:nvSpPr>
          <p:cNvPr id="227" name="모서리가 둥근 직사각형 226"/>
          <p:cNvSpPr/>
          <p:nvPr/>
        </p:nvSpPr>
        <p:spPr>
          <a:xfrm>
            <a:off x="6926351" y="5194582"/>
            <a:ext cx="4909383" cy="304580"/>
          </a:xfrm>
          <a:prstGeom prst="roundRect">
            <a:avLst>
              <a:gd name="adj" fmla="val 1090"/>
            </a:avLst>
          </a:prstGeom>
          <a:solidFill>
            <a:sysClr val="window" lastClr="FFFFFF">
              <a:lumMod val="95000"/>
            </a:sysClr>
          </a:solidFill>
          <a:ln w="12700" cap="flat" cmpd="sng" algn="ctr">
            <a:solidFill>
              <a:sysClr val="windowText" lastClr="000000"/>
            </a:solidFill>
            <a:prstDash val="solid"/>
            <a:miter lim="800000"/>
          </a:ln>
          <a:effectLst/>
        </p:spPr>
        <p:txBody>
          <a:bodyPr lIns="68580" tIns="34290" rIns="68580" bIns="34290" rtlCol="0" anchor="ctr"/>
          <a:lstStyle/>
          <a:p>
            <a:pPr algn="ctr" latinLnBrk="0"/>
            <a:r>
              <a:rPr lang="en-US" altLang="ko-KR" sz="1050" b="1" kern="0" dirty="0">
                <a:solidFill>
                  <a:prstClr val="black"/>
                </a:solidFill>
                <a:latin typeface="Calibri" panose="020F0502020204030204"/>
              </a:rPr>
              <a:t>Device Runtime/Driver/OS</a:t>
            </a:r>
            <a:endParaRPr lang="ko-KR" altLang="en-US" sz="1050" b="1" kern="0" dirty="0">
              <a:solidFill>
                <a:prstClr val="black"/>
              </a:solidFill>
              <a:latin typeface="Calibri" panose="020F0502020204030204"/>
            </a:endParaRPr>
          </a:p>
        </p:txBody>
      </p:sp>
      <p:sp>
        <p:nvSpPr>
          <p:cNvPr id="231" name="모서리가 둥근 직사각형 230"/>
          <p:cNvSpPr/>
          <p:nvPr/>
        </p:nvSpPr>
        <p:spPr>
          <a:xfrm>
            <a:off x="6926351" y="5614350"/>
            <a:ext cx="4909383" cy="304580"/>
          </a:xfrm>
          <a:prstGeom prst="roundRect">
            <a:avLst>
              <a:gd name="adj" fmla="val 1090"/>
            </a:avLst>
          </a:prstGeom>
          <a:solidFill>
            <a:sysClr val="window" lastClr="FFFFFF">
              <a:lumMod val="95000"/>
            </a:sysClr>
          </a:solidFill>
          <a:ln w="12700" cap="flat" cmpd="sng" algn="ctr">
            <a:solidFill>
              <a:sysClr val="windowText" lastClr="000000"/>
            </a:solidFill>
            <a:prstDash val="solid"/>
            <a:miter lim="800000"/>
          </a:ln>
          <a:effectLst/>
        </p:spPr>
        <p:txBody>
          <a:bodyPr lIns="68580" tIns="34290" rIns="68580" bIns="34290" rtlCol="0" anchor="ctr"/>
          <a:lstStyle/>
          <a:p>
            <a:pPr algn="ctr" latinLnBrk="0"/>
            <a:r>
              <a:rPr lang="en-US" altLang="ko-KR" sz="1050" b="1" kern="0" dirty="0">
                <a:solidFill>
                  <a:prstClr val="black"/>
                </a:solidFill>
                <a:latin typeface="Calibri" panose="020F0502020204030204"/>
              </a:rPr>
              <a:t>Hardware (New Type Memory)</a:t>
            </a:r>
            <a:endParaRPr lang="ko-KR" altLang="en-US" sz="1050" b="1" kern="0" dirty="0">
              <a:solidFill>
                <a:prstClr val="black"/>
              </a:solidFill>
              <a:latin typeface="Calibri" panose="020F0502020204030204"/>
            </a:endParaRPr>
          </a:p>
        </p:txBody>
      </p:sp>
      <p:sp>
        <p:nvSpPr>
          <p:cNvPr id="232" name="TextBox 231"/>
          <p:cNvSpPr txBox="1"/>
          <p:nvPr/>
        </p:nvSpPr>
        <p:spPr>
          <a:xfrm>
            <a:off x="223924" y="6306461"/>
            <a:ext cx="3336170" cy="215444"/>
          </a:xfrm>
          <a:prstGeom prst="rect">
            <a:avLst/>
          </a:prstGeom>
          <a:noFill/>
        </p:spPr>
        <p:txBody>
          <a:bodyPr wrap="none" rtlCol="0">
            <a:spAutoFit/>
          </a:bodyPr>
          <a:lstStyle/>
          <a:p>
            <a:r>
              <a:rPr lang="en-US" altLang="ko-KR" sz="800" dirty="0">
                <a:solidFill>
                  <a:schemeClr val="tx1">
                    <a:lumMod val="75000"/>
                    <a:lumOff val="25000"/>
                  </a:schemeClr>
                </a:solidFill>
              </a:rPr>
              <a:t>***</a:t>
            </a:r>
            <a:r>
              <a:rPr lang="en-US" altLang="ko-KR" sz="800" dirty="0" err="1">
                <a:solidFill>
                  <a:schemeClr val="tx1">
                    <a:lumMod val="75000"/>
                    <a:lumOff val="25000"/>
                  </a:schemeClr>
                </a:solidFill>
              </a:rPr>
              <a:t>ScHBM</a:t>
            </a:r>
            <a:r>
              <a:rPr lang="en-US" altLang="ko-KR" sz="800" dirty="0">
                <a:solidFill>
                  <a:schemeClr val="tx1">
                    <a:lumMod val="75000"/>
                    <a:lumOff val="25000"/>
                  </a:schemeClr>
                </a:solidFill>
              </a:rPr>
              <a:t>: Samsung Custom HBM (Base Die</a:t>
            </a:r>
            <a:r>
              <a:rPr lang="ko-KR" altLang="en-US" sz="800" dirty="0">
                <a:solidFill>
                  <a:schemeClr val="tx1">
                    <a:lumMod val="75000"/>
                    <a:lumOff val="25000"/>
                  </a:schemeClr>
                </a:solidFill>
              </a:rPr>
              <a:t>에 </a:t>
            </a:r>
            <a:r>
              <a:rPr lang="en-US" altLang="ko-KR" sz="800" dirty="0">
                <a:solidFill>
                  <a:schemeClr val="tx1">
                    <a:lumMod val="75000"/>
                    <a:lumOff val="25000"/>
                  </a:schemeClr>
                </a:solidFill>
              </a:rPr>
              <a:t>Processing Element)</a:t>
            </a:r>
            <a:endParaRPr lang="ko-KR" altLang="en-US" sz="800" dirty="0">
              <a:solidFill>
                <a:schemeClr val="tx1">
                  <a:lumMod val="75000"/>
                  <a:lumOff val="25000"/>
                </a:schemeClr>
              </a:solidFill>
            </a:endParaRPr>
          </a:p>
        </p:txBody>
      </p:sp>
      <p:sp>
        <p:nvSpPr>
          <p:cNvPr id="19" name="TextBox 18">
            <a:extLst>
              <a:ext uri="{FF2B5EF4-FFF2-40B4-BE49-F238E27FC236}">
                <a16:creationId xmlns:a16="http://schemas.microsoft.com/office/drawing/2014/main" id="{EDF70A8A-9B7B-449F-A5DD-3D6FB7C549AF}"/>
              </a:ext>
            </a:extLst>
          </p:cNvPr>
          <p:cNvSpPr txBox="1"/>
          <p:nvPr/>
        </p:nvSpPr>
        <p:spPr>
          <a:xfrm>
            <a:off x="223924" y="6070903"/>
            <a:ext cx="1737976" cy="215444"/>
          </a:xfrm>
          <a:prstGeom prst="rect">
            <a:avLst/>
          </a:prstGeom>
          <a:noFill/>
        </p:spPr>
        <p:txBody>
          <a:bodyPr wrap="none" rtlCol="0">
            <a:spAutoFit/>
          </a:bodyPr>
          <a:lstStyle/>
          <a:p>
            <a:r>
              <a:rPr lang="en-US" altLang="ko-KR" sz="800" dirty="0">
                <a:solidFill>
                  <a:schemeClr val="tx1">
                    <a:lumMod val="75000"/>
                    <a:lumOff val="25000"/>
                  </a:schemeClr>
                </a:solidFill>
              </a:rPr>
              <a:t>*PNM: Processing Near Memory </a:t>
            </a:r>
          </a:p>
        </p:txBody>
      </p:sp>
      <p:sp>
        <p:nvSpPr>
          <p:cNvPr id="20" name="TextBox 19">
            <a:extLst>
              <a:ext uri="{FF2B5EF4-FFF2-40B4-BE49-F238E27FC236}">
                <a16:creationId xmlns:a16="http://schemas.microsoft.com/office/drawing/2014/main" id="{B567E618-E632-4153-BD3F-663FACD83C6A}"/>
              </a:ext>
            </a:extLst>
          </p:cNvPr>
          <p:cNvSpPr txBox="1"/>
          <p:nvPr/>
        </p:nvSpPr>
        <p:spPr>
          <a:xfrm>
            <a:off x="223924" y="6188682"/>
            <a:ext cx="1593706" cy="215444"/>
          </a:xfrm>
          <a:prstGeom prst="rect">
            <a:avLst/>
          </a:prstGeom>
          <a:noFill/>
        </p:spPr>
        <p:txBody>
          <a:bodyPr wrap="none" rtlCol="0">
            <a:spAutoFit/>
          </a:bodyPr>
          <a:lstStyle/>
          <a:p>
            <a:r>
              <a:rPr lang="en-US" altLang="ko-KR" sz="800" dirty="0">
                <a:solidFill>
                  <a:schemeClr val="tx1">
                    <a:lumMod val="75000"/>
                    <a:lumOff val="25000"/>
                  </a:schemeClr>
                </a:solidFill>
              </a:rPr>
              <a:t>**PIM: Processing In Memory </a:t>
            </a:r>
            <a:endParaRPr lang="ko-KR" altLang="en-US" sz="800" dirty="0">
              <a:solidFill>
                <a:schemeClr val="tx1">
                  <a:lumMod val="75000"/>
                  <a:lumOff val="25000"/>
                </a:schemeClr>
              </a:solidFill>
            </a:endParaRPr>
          </a:p>
        </p:txBody>
      </p:sp>
      <p:pic>
        <p:nvPicPr>
          <p:cNvPr id="6" name="그림 5"/>
          <p:cNvPicPr>
            <a:picLocks noChangeAspect="1"/>
          </p:cNvPicPr>
          <p:nvPr/>
        </p:nvPicPr>
        <p:blipFill>
          <a:blip r:embed="rId3"/>
          <a:stretch>
            <a:fillRect/>
          </a:stretch>
        </p:blipFill>
        <p:spPr>
          <a:xfrm>
            <a:off x="7153885" y="2051281"/>
            <a:ext cx="4454313" cy="2592025"/>
          </a:xfrm>
          <a:prstGeom prst="rect">
            <a:avLst/>
          </a:prstGeom>
        </p:spPr>
      </p:pic>
      <p:sp>
        <p:nvSpPr>
          <p:cNvPr id="138" name="직사각형 137"/>
          <p:cNvSpPr/>
          <p:nvPr/>
        </p:nvSpPr>
        <p:spPr>
          <a:xfrm>
            <a:off x="6934110" y="2002789"/>
            <a:ext cx="4893863" cy="2666231"/>
          </a:xfrm>
          <a:prstGeom prst="rect">
            <a:avLst/>
          </a:prstGeom>
          <a:solidFill>
            <a:srgbClr val="C00000">
              <a:alpha val="16078"/>
            </a:srgbClr>
          </a:solidFill>
          <a:ln w="57150">
            <a:solidFill>
              <a:srgbClr val="C0000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353562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4" name="직선 화살표 연결선 185">
            <a:extLst>
              <a:ext uri="{FF2B5EF4-FFF2-40B4-BE49-F238E27FC236}">
                <a16:creationId xmlns:a16="http://schemas.microsoft.com/office/drawing/2014/main" id="{C77B044C-CFD5-4C99-9B08-C9CDFDD38AC5}"/>
              </a:ext>
            </a:extLst>
          </p:cNvPr>
          <p:cNvCxnSpPr>
            <a:cxnSpLocks/>
          </p:cNvCxnSpPr>
          <p:nvPr/>
        </p:nvCxnSpPr>
        <p:spPr>
          <a:xfrm flipV="1">
            <a:off x="7034559" y="3128628"/>
            <a:ext cx="0" cy="1122023"/>
          </a:xfrm>
          <a:prstGeom prst="straightConnector1">
            <a:avLst/>
          </a:prstGeom>
          <a:noFill/>
          <a:ln w="6350">
            <a:solidFill>
              <a:srgbClr val="888C91"/>
            </a:solidFill>
            <a:prstDash val="solid"/>
            <a:headEnd type="triangle" w="med" len="med"/>
            <a:tailEnd type="none" w="med" len="med"/>
          </a:ln>
        </p:spPr>
      </p:cxnSp>
      <p:sp>
        <p:nvSpPr>
          <p:cNvPr id="3" name="제목 2"/>
          <p:cNvSpPr>
            <a:spLocks noGrp="1"/>
          </p:cNvSpPr>
          <p:nvPr>
            <p:ph type="title"/>
          </p:nvPr>
        </p:nvSpPr>
        <p:spPr/>
        <p:txBody>
          <a:bodyPr/>
          <a:lstStyle/>
          <a:p>
            <a:r>
              <a:rPr lang="ko-KR" altLang="en-US" dirty="0"/>
              <a:t>과제 범위</a:t>
            </a:r>
          </a:p>
        </p:txBody>
      </p:sp>
      <p:sp>
        <p:nvSpPr>
          <p:cNvPr id="370" name="직사각형 369"/>
          <p:cNvSpPr/>
          <p:nvPr/>
        </p:nvSpPr>
        <p:spPr>
          <a:xfrm>
            <a:off x="4435174" y="1141656"/>
            <a:ext cx="1865308" cy="37462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lvl="0" algn="ctr">
              <a:defRPr/>
            </a:pPr>
            <a:r>
              <a:rPr lang="en-US" altLang="ko-KR" sz="1200" b="1">
                <a:solidFill>
                  <a:schemeClr val="tx1"/>
                </a:solidFill>
                <a:latin typeface="Calibri" panose="020F0502020204030204"/>
                <a:ea typeface="맑은 고딕" panose="020B0503020000020004" pitchFamily="50" charset="-127"/>
              </a:rPr>
              <a:t>Application</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a:solidFill>
                  <a:schemeClr val="bg1">
                    <a:lumMod val="50000"/>
                  </a:schemeClr>
                </a:solidFill>
                <a:latin typeface="Calibri" panose="020F0502020204030204"/>
                <a:ea typeface="맑은 고딕" panose="020B0503020000020004" pitchFamily="50" charset="-127"/>
              </a:rPr>
              <a:t>Agent </a:t>
            </a:r>
            <a:r>
              <a:rPr lang="ko-KR" altLang="en-US" sz="800" b="1">
                <a:solidFill>
                  <a:schemeClr val="bg1">
                    <a:lumMod val="50000"/>
                  </a:schemeClr>
                </a:solidFill>
                <a:latin typeface="Calibri" panose="020F0502020204030204"/>
                <a:ea typeface="맑은 고딕" panose="020B0503020000020004" pitchFamily="50" charset="-127"/>
              </a:rPr>
              <a:t>봇</a:t>
            </a:r>
            <a:r>
              <a:rPr lang="en-US" altLang="ko-KR" sz="800" b="1">
                <a:solidFill>
                  <a:schemeClr val="bg1">
                    <a:lumMod val="50000"/>
                  </a:schemeClr>
                </a:solidFill>
                <a:latin typeface="Calibri" panose="020F0502020204030204"/>
                <a:ea typeface="맑은 고딕" panose="020B0503020000020004" pitchFamily="50" charset="-127"/>
              </a:rPr>
              <a:t>, </a:t>
            </a:r>
            <a:r>
              <a:rPr lang="ko-KR" altLang="en-US" sz="800" b="1">
                <a:solidFill>
                  <a:schemeClr val="bg1">
                    <a:lumMod val="50000"/>
                  </a:schemeClr>
                </a:solidFill>
                <a:latin typeface="Calibri" panose="020F0502020204030204"/>
                <a:ea typeface="맑은 고딕" panose="020B0503020000020004" pitchFamily="50" charset="-127"/>
              </a:rPr>
              <a:t>챗봇</a:t>
            </a:r>
            <a:endParaRPr lang="ko-KR" altLang="en-US" sz="800" b="1" dirty="0">
              <a:solidFill>
                <a:schemeClr val="bg1">
                  <a:lumMod val="50000"/>
                </a:schemeClr>
              </a:solidFill>
              <a:latin typeface="Calibri" panose="020F0502020204030204"/>
              <a:ea typeface="맑은 고딕" panose="020B0503020000020004" pitchFamily="50" charset="-127"/>
            </a:endParaRPr>
          </a:p>
        </p:txBody>
      </p:sp>
      <p:sp>
        <p:nvSpPr>
          <p:cNvPr id="77" name="직사각형 76"/>
          <p:cNvSpPr/>
          <p:nvPr/>
        </p:nvSpPr>
        <p:spPr>
          <a:xfrm>
            <a:off x="4002329" y="1713974"/>
            <a:ext cx="2730999" cy="60333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ltLang="ko-KR" sz="1200" b="1">
                <a:solidFill>
                  <a:schemeClr val="tx1"/>
                </a:solidFill>
                <a:latin typeface="Calibri" panose="020F0502020204030204"/>
                <a:ea typeface="맑은 고딕" panose="020B0503020000020004" pitchFamily="50" charset="-127"/>
              </a:rPr>
              <a:t>Agent Framework</a:t>
            </a:r>
            <a:endParaRPr lang="en-US" altLang="ko-KR" sz="1200" b="1" noProof="0" dirty="0">
              <a:solidFill>
                <a:schemeClr val="tx1"/>
              </a:solidFill>
              <a:latin typeface="Calibri" panose="020F0502020204030204"/>
              <a:ea typeface="맑은 고딕" panose="020B0503020000020004" pitchFamily="50" charset="-127"/>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dirty="0">
                <a:solidFill>
                  <a:schemeClr val="bg1">
                    <a:lumMod val="50000"/>
                  </a:schemeClr>
                </a:solidFill>
                <a:latin typeface="Calibri" panose="020F0502020204030204"/>
                <a:ea typeface="맑은 고딕" panose="020B0503020000020004" pitchFamily="50" charset="-127"/>
              </a:rPr>
              <a:t>Reasoning loop </a:t>
            </a:r>
            <a:r>
              <a:rPr lang="ko-KR" altLang="en-US" sz="800" b="1" dirty="0">
                <a:solidFill>
                  <a:schemeClr val="bg1">
                    <a:lumMod val="50000"/>
                  </a:schemeClr>
                </a:solidFill>
                <a:latin typeface="Calibri" panose="020F0502020204030204"/>
                <a:ea typeface="맑은 고딕" panose="020B0503020000020004" pitchFamily="50" charset="-127"/>
              </a:rPr>
              <a:t>진행 중 </a:t>
            </a:r>
            <a:endParaRPr lang="en-US" altLang="ko-KR" sz="800" b="1" dirty="0">
              <a:solidFill>
                <a:schemeClr val="bg1">
                  <a:lumMod val="50000"/>
                </a:schemeClr>
              </a:solidFill>
              <a:latin typeface="Calibri" panose="020F0502020204030204"/>
              <a:ea typeface="맑은 고딕" panose="020B0503020000020004" pitchFamily="50" charset="-127"/>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dirty="0">
                <a:solidFill>
                  <a:schemeClr val="bg1">
                    <a:lumMod val="50000"/>
                  </a:schemeClr>
                </a:solidFill>
                <a:latin typeface="Calibri" panose="020F0502020204030204"/>
                <a:ea typeface="맑은 고딕" panose="020B0503020000020004" pitchFamily="50" charset="-127"/>
              </a:rPr>
              <a:t>“LLM </a:t>
            </a:r>
            <a:r>
              <a:rPr lang="ko-KR" altLang="en-US" sz="800" b="1" dirty="0">
                <a:solidFill>
                  <a:schemeClr val="bg1">
                    <a:lumMod val="50000"/>
                  </a:schemeClr>
                </a:solidFill>
                <a:latin typeface="Calibri" panose="020F0502020204030204"/>
                <a:ea typeface="맑은 고딕" panose="020B0503020000020004" pitchFamily="50" charset="-127"/>
              </a:rPr>
              <a:t>호출 필요</a:t>
            </a:r>
            <a:r>
              <a:rPr lang="en-US" altLang="ko-KR" sz="800" b="1" dirty="0">
                <a:solidFill>
                  <a:schemeClr val="bg1">
                    <a:lumMod val="50000"/>
                  </a:schemeClr>
                </a:solidFill>
                <a:latin typeface="Calibri" panose="020F0502020204030204"/>
                <a:ea typeface="맑은 고딕" panose="020B0503020000020004" pitchFamily="50" charset="-127"/>
              </a:rPr>
              <a:t> / “</a:t>
            </a:r>
            <a:r>
              <a:rPr lang="ko-KR" altLang="en-US" sz="800" b="1" dirty="0">
                <a:solidFill>
                  <a:schemeClr val="bg1">
                    <a:lumMod val="50000"/>
                  </a:schemeClr>
                </a:solidFill>
                <a:latin typeface="Calibri" panose="020F0502020204030204"/>
                <a:ea typeface="맑은 고딕" panose="020B0503020000020004" pitchFamily="50" charset="-127"/>
              </a:rPr>
              <a:t>문서 검색 필요</a:t>
            </a:r>
            <a:r>
              <a:rPr lang="en-US" altLang="ko-KR" sz="800" b="1" dirty="0">
                <a:solidFill>
                  <a:schemeClr val="bg1">
                    <a:lumMod val="50000"/>
                  </a:schemeClr>
                </a:solidFill>
                <a:latin typeface="Calibri" panose="020F0502020204030204"/>
                <a:ea typeface="맑은 고딕" panose="020B0503020000020004" pitchFamily="50" charset="-127"/>
              </a:rPr>
              <a:t>” /  </a:t>
            </a:r>
            <a:r>
              <a:rPr lang="ko-KR" altLang="en-US" sz="800" b="1" dirty="0">
                <a:solidFill>
                  <a:schemeClr val="bg1">
                    <a:lumMod val="50000"/>
                  </a:schemeClr>
                </a:solidFill>
                <a:latin typeface="Calibri" panose="020F0502020204030204"/>
                <a:ea typeface="맑은 고딕" panose="020B0503020000020004" pitchFamily="50" charset="-127"/>
              </a:rPr>
              <a:t>도구 호출 필요</a:t>
            </a:r>
            <a:r>
              <a:rPr lang="en-US" altLang="ko-KR" sz="800" b="1" dirty="0">
                <a:solidFill>
                  <a:schemeClr val="bg1">
                    <a:lumMod val="50000"/>
                  </a:schemeClr>
                </a:solidFill>
                <a:latin typeface="Calibri" panose="020F0502020204030204"/>
                <a:ea typeface="맑은 고딕" panose="020B0503020000020004" pitchFamily="50" charset="-127"/>
              </a:rPr>
              <a:t>” </a:t>
            </a:r>
            <a:r>
              <a:rPr lang="ko-KR" altLang="en-US" sz="800" b="1" dirty="0">
                <a:solidFill>
                  <a:schemeClr val="bg1">
                    <a:lumMod val="50000"/>
                  </a:schemeClr>
                </a:solidFill>
                <a:latin typeface="Calibri" panose="020F0502020204030204"/>
                <a:ea typeface="맑은 고딕" panose="020B0503020000020004" pitchFamily="50" charset="-127"/>
              </a:rPr>
              <a:t>판단</a:t>
            </a:r>
            <a:endParaRPr kumimoji="0" lang="ko-KR" altLang="en-US" sz="800" b="1" i="0" u="none" strike="noStrike" kern="1200" cap="none" spc="0" normalizeH="0" baseline="0" noProof="0" dirty="0">
              <a:ln>
                <a:noFill/>
              </a:ln>
              <a:solidFill>
                <a:schemeClr val="bg1">
                  <a:lumMod val="50000"/>
                </a:schemeClr>
              </a:solidFill>
              <a:effectLst/>
              <a:uLnTx/>
              <a:uFillTx/>
              <a:latin typeface="Calibri" panose="020F0502020204030204"/>
              <a:ea typeface="맑은 고딕" panose="020B0503020000020004" pitchFamily="50" charset="-127"/>
            </a:endParaRPr>
          </a:p>
        </p:txBody>
      </p:sp>
      <p:sp>
        <p:nvSpPr>
          <p:cNvPr id="78" name="직사각형 77"/>
          <p:cNvSpPr/>
          <p:nvPr/>
        </p:nvSpPr>
        <p:spPr>
          <a:xfrm>
            <a:off x="3492704" y="2623962"/>
            <a:ext cx="1865308" cy="498623"/>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chemeClr val="tx1"/>
                </a:solidFill>
                <a:latin typeface="Calibri" panose="020F0502020204030204"/>
                <a:ea typeface="맑은 고딕" panose="020B0503020000020004" pitchFamily="50" charset="-127"/>
              </a:rPr>
              <a:t>Inference Orchestrator </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800" b="1" i="0" u="none" strike="noStrike" kern="1200" cap="none" spc="0" normalizeH="0" baseline="0" noProof="0" dirty="0">
                <a:ln>
                  <a:noFill/>
                </a:ln>
                <a:solidFill>
                  <a:schemeClr val="bg1">
                    <a:lumMod val="50000"/>
                  </a:schemeClr>
                </a:solidFill>
                <a:effectLst/>
                <a:uLnTx/>
                <a:uFillTx/>
                <a:latin typeface="Calibri" panose="020F0502020204030204"/>
                <a:ea typeface="맑은 고딕" panose="020B0503020000020004" pitchFamily="50" charset="-127"/>
              </a:rPr>
              <a:t>요청 라우팅</a:t>
            </a:r>
            <a:r>
              <a:rPr lang="en-US" altLang="ko-KR" sz="800" b="1" noProof="0" dirty="0">
                <a:solidFill>
                  <a:schemeClr val="bg1">
                    <a:lumMod val="50000"/>
                  </a:schemeClr>
                </a:solidFill>
                <a:latin typeface="Calibri" panose="020F0502020204030204"/>
                <a:ea typeface="맑은 고딕" panose="020B0503020000020004" pitchFamily="50" charset="-127"/>
              </a:rPr>
              <a:t>/</a:t>
            </a:r>
            <a:r>
              <a:rPr kumimoji="0" lang="ko-KR" altLang="en-US" sz="800" b="1" i="0" u="none" strike="noStrike" kern="1200" cap="none" spc="0" normalizeH="0" baseline="0" noProof="0" dirty="0">
                <a:ln>
                  <a:noFill/>
                </a:ln>
                <a:solidFill>
                  <a:schemeClr val="bg1">
                    <a:lumMod val="50000"/>
                  </a:schemeClr>
                </a:solidFill>
                <a:effectLst/>
                <a:uLnTx/>
                <a:uFillTx/>
                <a:latin typeface="Calibri" panose="020F0502020204030204"/>
                <a:ea typeface="맑은 고딕" panose="020B0503020000020004" pitchFamily="50" charset="-127"/>
              </a:rPr>
              <a:t>스케줄링</a:t>
            </a:r>
            <a:endParaRPr kumimoji="0" lang="en-US" altLang="ko-KR" sz="800" b="1" i="0" u="none" strike="noStrike" kern="1200" cap="none" spc="0" normalizeH="0" baseline="0" noProof="0" dirty="0">
              <a:ln>
                <a:noFill/>
              </a:ln>
              <a:solidFill>
                <a:schemeClr val="bg1">
                  <a:lumMod val="50000"/>
                </a:schemeClr>
              </a:solidFill>
              <a:effectLst/>
              <a:uLnTx/>
              <a:uFillTx/>
              <a:latin typeface="Calibri" panose="020F0502020204030204"/>
              <a:ea typeface="맑은 고딕" panose="020B0503020000020004" pitchFamily="50" charset="-127"/>
            </a:endParaRPr>
          </a:p>
        </p:txBody>
      </p:sp>
      <p:sp>
        <p:nvSpPr>
          <p:cNvPr id="79" name="직사각형 78"/>
          <p:cNvSpPr/>
          <p:nvPr/>
        </p:nvSpPr>
        <p:spPr>
          <a:xfrm>
            <a:off x="5850247" y="2623962"/>
            <a:ext cx="1865308" cy="49862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lvl="0" algn="ctr">
              <a:defRPr/>
            </a:pPr>
            <a:r>
              <a:rPr lang="en-US" altLang="ko-KR" sz="1200" b="1">
                <a:solidFill>
                  <a:schemeClr val="tx1"/>
                </a:solidFill>
                <a:latin typeface="Calibri" panose="020F0502020204030204"/>
              </a:rPr>
              <a:t>Compute Library</a:t>
            </a:r>
          </a:p>
          <a:p>
            <a:pPr algn="ctr">
              <a:defRPr/>
            </a:pPr>
            <a:r>
              <a:rPr lang="ko-KR" altLang="en-US" sz="800" b="1">
                <a:solidFill>
                  <a:schemeClr val="bg1">
                    <a:lumMod val="50000"/>
                  </a:schemeClr>
                </a:solidFill>
                <a:latin typeface="Calibri" panose="020F0502020204030204"/>
              </a:rPr>
              <a:t>연산 함수 </a:t>
            </a:r>
          </a:p>
        </p:txBody>
      </p:sp>
      <p:sp>
        <p:nvSpPr>
          <p:cNvPr id="81" name="직사각형 80"/>
          <p:cNvSpPr/>
          <p:nvPr/>
        </p:nvSpPr>
        <p:spPr>
          <a:xfrm>
            <a:off x="3492704" y="3318470"/>
            <a:ext cx="1865308" cy="498623"/>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chemeClr val="tx1"/>
                </a:solidFill>
                <a:latin typeface="Calibri" panose="020F0502020204030204"/>
                <a:ea typeface="맑은 고딕" panose="020B0503020000020004" pitchFamily="50" charset="-127"/>
              </a:rPr>
              <a:t>Inference Engine</a:t>
            </a:r>
          </a:p>
          <a:p>
            <a:pPr lvl="0" algn="ctr">
              <a:defRPr/>
            </a:pPr>
            <a:r>
              <a:rPr lang="en-US" altLang="ko-KR" sz="800" b="1" dirty="0">
                <a:solidFill>
                  <a:schemeClr val="bg1">
                    <a:lumMod val="50000"/>
                  </a:schemeClr>
                </a:solidFill>
                <a:latin typeface="Calibri" panose="020F0502020204030204"/>
              </a:rPr>
              <a:t>LLM </a:t>
            </a:r>
            <a:r>
              <a:rPr lang="ko-KR" altLang="en-US" sz="800" b="1" dirty="0">
                <a:solidFill>
                  <a:schemeClr val="bg1">
                    <a:lumMod val="50000"/>
                  </a:schemeClr>
                </a:solidFill>
                <a:latin typeface="Calibri" panose="020F0502020204030204"/>
              </a:rPr>
              <a:t>출력 </a:t>
            </a:r>
            <a:r>
              <a:rPr lang="en-US" altLang="ko-KR" sz="800" b="1" dirty="0">
                <a:solidFill>
                  <a:schemeClr val="bg1">
                    <a:lumMod val="50000"/>
                  </a:schemeClr>
                </a:solidFill>
                <a:latin typeface="Calibri" panose="020F0502020204030204"/>
              </a:rPr>
              <a:t>(</a:t>
            </a:r>
            <a:r>
              <a:rPr lang="ko-KR" altLang="en-US" sz="800" b="1" dirty="0">
                <a:solidFill>
                  <a:schemeClr val="bg1">
                    <a:lumMod val="50000"/>
                  </a:schemeClr>
                </a:solidFill>
                <a:latin typeface="Calibri" panose="020F0502020204030204"/>
              </a:rPr>
              <a:t>토큰 생성</a:t>
            </a:r>
            <a:r>
              <a:rPr lang="en-US" altLang="ko-KR" sz="800" b="1" dirty="0">
                <a:solidFill>
                  <a:schemeClr val="bg1">
                    <a:lumMod val="50000"/>
                  </a:schemeClr>
                </a:solidFill>
                <a:latin typeface="Calibri" panose="020F0502020204030204"/>
              </a:rPr>
              <a:t>)</a:t>
            </a:r>
            <a:endParaRPr lang="ko-KR" altLang="en-US" sz="800" b="1" dirty="0">
              <a:solidFill>
                <a:schemeClr val="bg1">
                  <a:lumMod val="50000"/>
                </a:schemeClr>
              </a:solidFill>
              <a:latin typeface="Calibri" panose="020F0502020204030204"/>
            </a:endParaRPr>
          </a:p>
        </p:txBody>
      </p:sp>
      <p:sp>
        <p:nvSpPr>
          <p:cNvPr id="83" name="직사각형 82"/>
          <p:cNvSpPr/>
          <p:nvPr/>
        </p:nvSpPr>
        <p:spPr>
          <a:xfrm>
            <a:off x="3492703" y="4250651"/>
            <a:ext cx="4222851" cy="45329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a:solidFill>
                  <a:schemeClr val="tx1"/>
                </a:solidFill>
                <a:latin typeface="Calibri" panose="020F0502020204030204"/>
                <a:ea typeface="맑은 고딕" panose="020B0503020000020004" pitchFamily="50" charset="-127"/>
              </a:rPr>
              <a:t>Device Runtime/Driver</a:t>
            </a:r>
            <a:endParaRPr lang="en-US" altLang="ko-KR" sz="1200" b="1" dirty="0">
              <a:solidFill>
                <a:schemeClr val="tx1"/>
              </a:solidFill>
              <a:latin typeface="Calibri" panose="020F0502020204030204"/>
              <a:ea typeface="맑은 고딕" panose="020B0503020000020004" pitchFamily="50" charset="-127"/>
            </a:endParaRPr>
          </a:p>
          <a:p>
            <a:pPr lvl="0" algn="ctr">
              <a:defRPr/>
            </a:pPr>
            <a:r>
              <a:rPr lang="ko-KR" altLang="en-US" sz="800" b="1">
                <a:solidFill>
                  <a:prstClr val="white">
                    <a:lumMod val="50000"/>
                  </a:prstClr>
                </a:solidFill>
                <a:latin typeface="Calibri" panose="020F0502020204030204"/>
              </a:rPr>
              <a:t>실제 </a:t>
            </a:r>
            <a:r>
              <a:rPr lang="en-US" altLang="ko-KR" sz="800" b="1">
                <a:solidFill>
                  <a:prstClr val="white">
                    <a:lumMod val="50000"/>
                  </a:prstClr>
                </a:solidFill>
                <a:latin typeface="Calibri" panose="020F0502020204030204"/>
              </a:rPr>
              <a:t>HW </a:t>
            </a:r>
            <a:r>
              <a:rPr lang="ko-KR" altLang="en-US" sz="800" b="1">
                <a:solidFill>
                  <a:prstClr val="white">
                    <a:lumMod val="50000"/>
                  </a:prstClr>
                </a:solidFill>
                <a:latin typeface="Calibri" panose="020F0502020204030204"/>
              </a:rPr>
              <a:t>제어 함수 제공</a:t>
            </a:r>
          </a:p>
        </p:txBody>
      </p:sp>
      <p:sp>
        <p:nvSpPr>
          <p:cNvPr id="85" name="직사각형 84"/>
          <p:cNvSpPr/>
          <p:nvPr/>
        </p:nvSpPr>
        <p:spPr>
          <a:xfrm>
            <a:off x="3429534" y="5022253"/>
            <a:ext cx="606276"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GPU </a:t>
            </a:r>
            <a:endParaRPr lang="ko-KR" altLang="en-US" sz="900" b="1" dirty="0">
              <a:solidFill>
                <a:prstClr val="black"/>
              </a:solidFill>
              <a:latin typeface="Calibri" panose="020F0502020204030204"/>
            </a:endParaRPr>
          </a:p>
        </p:txBody>
      </p:sp>
      <p:cxnSp>
        <p:nvCxnSpPr>
          <p:cNvPr id="86" name="직선 화살표 연결선 185">
            <a:extLst>
              <a:ext uri="{FF2B5EF4-FFF2-40B4-BE49-F238E27FC236}">
                <a16:creationId xmlns:a16="http://schemas.microsoft.com/office/drawing/2014/main" id="{C77B044C-CFD5-4C99-9B08-C9CDFDD38AC5}"/>
              </a:ext>
            </a:extLst>
          </p:cNvPr>
          <p:cNvCxnSpPr>
            <a:cxnSpLocks/>
            <a:stCxn id="77" idx="0"/>
            <a:endCxn id="370" idx="2"/>
          </p:cNvCxnSpPr>
          <p:nvPr/>
        </p:nvCxnSpPr>
        <p:spPr>
          <a:xfrm flipV="1">
            <a:off x="5367829" y="1483770"/>
            <a:ext cx="1" cy="230204"/>
          </a:xfrm>
          <a:prstGeom prst="straightConnector1">
            <a:avLst/>
          </a:prstGeom>
          <a:noFill/>
          <a:ln w="6350">
            <a:solidFill>
              <a:srgbClr val="888C91"/>
            </a:solidFill>
            <a:prstDash val="solid"/>
            <a:headEnd type="triangle" w="med" len="med"/>
            <a:tailEnd type="none" w="med" len="med"/>
          </a:ln>
        </p:spPr>
      </p:cxnSp>
      <p:cxnSp>
        <p:nvCxnSpPr>
          <p:cNvPr id="91" name="직선 화살표 연결선 185">
            <a:extLst>
              <a:ext uri="{FF2B5EF4-FFF2-40B4-BE49-F238E27FC236}">
                <a16:creationId xmlns:a16="http://schemas.microsoft.com/office/drawing/2014/main" id="{C77B044C-CFD5-4C99-9B08-C9CDFDD38AC5}"/>
              </a:ext>
            </a:extLst>
          </p:cNvPr>
          <p:cNvCxnSpPr>
            <a:cxnSpLocks/>
            <a:stCxn id="81" idx="0"/>
            <a:endCxn id="78" idx="2"/>
          </p:cNvCxnSpPr>
          <p:nvPr/>
        </p:nvCxnSpPr>
        <p:spPr>
          <a:xfrm flipV="1">
            <a:off x="4425358" y="3122585"/>
            <a:ext cx="0" cy="195885"/>
          </a:xfrm>
          <a:prstGeom prst="straightConnector1">
            <a:avLst/>
          </a:prstGeom>
          <a:noFill/>
          <a:ln w="6350">
            <a:solidFill>
              <a:srgbClr val="888C91"/>
            </a:solidFill>
            <a:prstDash val="solid"/>
            <a:headEnd type="triangle" w="med" len="med"/>
            <a:tailEnd type="none" w="med" len="med"/>
          </a:ln>
        </p:spPr>
      </p:cxnSp>
      <p:cxnSp>
        <p:nvCxnSpPr>
          <p:cNvPr id="96" name="직선 화살표 연결선 185">
            <a:extLst>
              <a:ext uri="{FF2B5EF4-FFF2-40B4-BE49-F238E27FC236}">
                <a16:creationId xmlns:a16="http://schemas.microsoft.com/office/drawing/2014/main" id="{C77B044C-CFD5-4C99-9B08-C9CDFDD38AC5}"/>
              </a:ext>
            </a:extLst>
          </p:cNvPr>
          <p:cNvCxnSpPr>
            <a:cxnSpLocks/>
            <a:endCxn id="81" idx="2"/>
          </p:cNvCxnSpPr>
          <p:nvPr/>
        </p:nvCxnSpPr>
        <p:spPr>
          <a:xfrm flipV="1">
            <a:off x="4425358" y="3817093"/>
            <a:ext cx="0" cy="425073"/>
          </a:xfrm>
          <a:prstGeom prst="straightConnector1">
            <a:avLst/>
          </a:prstGeom>
          <a:noFill/>
          <a:ln w="6350">
            <a:solidFill>
              <a:srgbClr val="888C91"/>
            </a:solidFill>
            <a:prstDash val="solid"/>
            <a:headEnd type="triangle" w="med" len="med"/>
            <a:tailEnd type="none" w="med" len="med"/>
          </a:ln>
        </p:spPr>
      </p:cxnSp>
      <p:cxnSp>
        <p:nvCxnSpPr>
          <p:cNvPr id="107" name="직선 화살표 연결선 185">
            <a:extLst>
              <a:ext uri="{FF2B5EF4-FFF2-40B4-BE49-F238E27FC236}">
                <a16:creationId xmlns:a16="http://schemas.microsoft.com/office/drawing/2014/main" id="{C77B044C-CFD5-4C99-9B08-C9CDFDD38AC5}"/>
              </a:ext>
            </a:extLst>
          </p:cNvPr>
          <p:cNvCxnSpPr>
            <a:cxnSpLocks/>
            <a:stCxn id="140" idx="0"/>
            <a:endCxn id="83" idx="2"/>
          </p:cNvCxnSpPr>
          <p:nvPr/>
        </p:nvCxnSpPr>
        <p:spPr>
          <a:xfrm rot="5400000" flipH="1" flipV="1">
            <a:off x="5218293" y="4636418"/>
            <a:ext cx="318308" cy="453363"/>
          </a:xfrm>
          <a:prstGeom prst="bentConnector3">
            <a:avLst>
              <a:gd name="adj1" fmla="val 50000"/>
            </a:avLst>
          </a:prstGeom>
          <a:noFill/>
          <a:ln w="6350">
            <a:solidFill>
              <a:srgbClr val="888C91"/>
            </a:solidFill>
            <a:prstDash val="solid"/>
            <a:headEnd type="triangle" w="med" len="med"/>
            <a:tailEnd type="none" w="med" len="med"/>
          </a:ln>
        </p:spPr>
      </p:cxnSp>
      <p:cxnSp>
        <p:nvCxnSpPr>
          <p:cNvPr id="123" name="직선 화살표 연결선 185">
            <a:extLst>
              <a:ext uri="{FF2B5EF4-FFF2-40B4-BE49-F238E27FC236}">
                <a16:creationId xmlns:a16="http://schemas.microsoft.com/office/drawing/2014/main" id="{C77B044C-CFD5-4C99-9B08-C9CDFDD38AC5}"/>
              </a:ext>
            </a:extLst>
          </p:cNvPr>
          <p:cNvCxnSpPr>
            <a:cxnSpLocks/>
            <a:stCxn id="78" idx="0"/>
            <a:endCxn id="77" idx="2"/>
          </p:cNvCxnSpPr>
          <p:nvPr/>
        </p:nvCxnSpPr>
        <p:spPr>
          <a:xfrm rot="5400000" flipH="1" flipV="1">
            <a:off x="4743266" y="1999400"/>
            <a:ext cx="306654" cy="942470"/>
          </a:xfrm>
          <a:prstGeom prst="bentConnector3">
            <a:avLst>
              <a:gd name="adj1" fmla="val 50000"/>
            </a:avLst>
          </a:prstGeom>
          <a:noFill/>
          <a:ln w="6350">
            <a:solidFill>
              <a:srgbClr val="888C91"/>
            </a:solidFill>
            <a:prstDash val="solid"/>
            <a:headEnd type="triangle" w="med" len="med"/>
            <a:tailEnd type="none" w="med" len="med"/>
          </a:ln>
        </p:spPr>
      </p:cxnSp>
      <p:sp>
        <p:nvSpPr>
          <p:cNvPr id="138" name="직사각형 137"/>
          <p:cNvSpPr/>
          <p:nvPr/>
        </p:nvSpPr>
        <p:spPr>
          <a:xfrm>
            <a:off x="7034560" y="1685133"/>
            <a:ext cx="815308" cy="663667"/>
          </a:xfrm>
          <a:prstGeom prst="rect">
            <a:avLst/>
          </a:prstGeom>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Tool </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1">
                <a:solidFill>
                  <a:schemeClr val="bg1">
                    <a:lumMod val="50000"/>
                  </a:schemeClr>
                </a:solidFill>
                <a:latin typeface="Calibri" panose="020F0502020204030204"/>
                <a:ea typeface="맑은 고딕" panose="020B0503020000020004" pitchFamily="50" charset="-127"/>
              </a:rPr>
              <a:t>Web fetch, </a:t>
            </a:r>
            <a:r>
              <a:rPr lang="ko-KR" altLang="en-US" sz="800" b="1">
                <a:solidFill>
                  <a:schemeClr val="bg1">
                    <a:lumMod val="50000"/>
                  </a:schemeClr>
                </a:solidFill>
                <a:latin typeface="Calibri" panose="020F0502020204030204"/>
                <a:ea typeface="맑은 고딕" panose="020B0503020000020004" pitchFamily="50" charset="-127"/>
              </a:rPr>
              <a:t>스크립트 실행</a:t>
            </a:r>
            <a:r>
              <a:rPr lang="en-US" altLang="ko-KR" sz="800" b="1">
                <a:solidFill>
                  <a:schemeClr val="bg1">
                    <a:lumMod val="50000"/>
                  </a:schemeClr>
                </a:solidFill>
                <a:latin typeface="Calibri" panose="020F0502020204030204"/>
                <a:ea typeface="맑은 고딕" panose="020B0503020000020004" pitchFamily="50" charset="-127"/>
              </a:rPr>
              <a:t>, </a:t>
            </a:r>
            <a:r>
              <a:rPr lang="ko-KR" altLang="en-US" sz="800" b="1">
                <a:solidFill>
                  <a:schemeClr val="bg1">
                    <a:lumMod val="50000"/>
                  </a:schemeClr>
                </a:solidFill>
                <a:latin typeface="Calibri" panose="020F0502020204030204"/>
                <a:ea typeface="맑은 고딕" panose="020B0503020000020004" pitchFamily="50" charset="-127"/>
              </a:rPr>
              <a:t>계산기</a:t>
            </a:r>
            <a:r>
              <a:rPr lang="en-US" altLang="ko-KR" sz="800" b="1">
                <a:solidFill>
                  <a:schemeClr val="bg1">
                    <a:lumMod val="50000"/>
                  </a:schemeClr>
                </a:solidFill>
                <a:latin typeface="Calibri" panose="020F0502020204030204"/>
                <a:ea typeface="맑은 고딕" panose="020B0503020000020004" pitchFamily="50" charset="-127"/>
              </a:rPr>
              <a:t>, </a:t>
            </a:r>
            <a:r>
              <a:rPr lang="en-US" altLang="ko-KR" sz="800" b="1" dirty="0">
                <a:solidFill>
                  <a:schemeClr val="bg1">
                    <a:lumMod val="50000"/>
                  </a:schemeClr>
                </a:solidFill>
                <a:latin typeface="Calibri" panose="020F0502020204030204"/>
                <a:ea typeface="맑은 고딕" panose="020B0503020000020004" pitchFamily="50" charset="-127"/>
              </a:rPr>
              <a:t>… </a:t>
            </a:r>
            <a:r>
              <a:rPr lang="ko-KR" altLang="en-US" sz="800" b="1" dirty="0">
                <a:solidFill>
                  <a:schemeClr val="bg1">
                    <a:lumMod val="50000"/>
                  </a:schemeClr>
                </a:solidFill>
                <a:latin typeface="Calibri" panose="020F0502020204030204"/>
                <a:ea typeface="맑은 고딕" panose="020B0503020000020004" pitchFamily="50" charset="-127"/>
              </a:rPr>
              <a:t> </a:t>
            </a:r>
          </a:p>
        </p:txBody>
      </p:sp>
      <p:cxnSp>
        <p:nvCxnSpPr>
          <p:cNvPr id="139" name="직선 화살표 연결선 185">
            <a:extLst>
              <a:ext uri="{FF2B5EF4-FFF2-40B4-BE49-F238E27FC236}">
                <a16:creationId xmlns:a16="http://schemas.microsoft.com/office/drawing/2014/main" id="{C77B044C-CFD5-4C99-9B08-C9CDFDD38AC5}"/>
              </a:ext>
            </a:extLst>
          </p:cNvPr>
          <p:cNvCxnSpPr>
            <a:cxnSpLocks/>
            <a:stCxn id="138" idx="1"/>
            <a:endCxn id="77" idx="3"/>
          </p:cNvCxnSpPr>
          <p:nvPr/>
        </p:nvCxnSpPr>
        <p:spPr>
          <a:xfrm flipH="1" flipV="1">
            <a:off x="6733328" y="2015641"/>
            <a:ext cx="301231" cy="1326"/>
          </a:xfrm>
          <a:prstGeom prst="straightConnector1">
            <a:avLst/>
          </a:prstGeom>
          <a:noFill/>
          <a:ln w="6350">
            <a:solidFill>
              <a:srgbClr val="888C91"/>
            </a:solidFill>
            <a:prstDash val="solid"/>
            <a:headEnd type="triangle" w="med" len="med"/>
            <a:tailEnd type="none" w="med" len="med"/>
          </a:ln>
        </p:spPr>
      </p:cxnSp>
      <p:pic>
        <p:nvPicPr>
          <p:cNvPr id="143" name="Picture 20" descr="Welcome to vLLM — vLLM">
            <a:extLst>
              <a:ext uri="{FF2B5EF4-FFF2-40B4-BE49-F238E27FC236}">
                <a16:creationId xmlns:a16="http://schemas.microsoft.com/office/drawing/2014/main" id="{9884D772-A696-C6F1-82A5-9A35E51C03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7965" y="3579313"/>
            <a:ext cx="575821" cy="183699"/>
          </a:xfrm>
          <a:prstGeom prst="rect">
            <a:avLst/>
          </a:prstGeom>
          <a:noFill/>
          <a:extLst>
            <a:ext uri="{909E8E84-426E-40DD-AFC4-6F175D3DCCD1}">
              <a14:hiddenFill xmlns:a14="http://schemas.microsoft.com/office/drawing/2010/main">
                <a:solidFill>
                  <a:srgbClr val="FFFFFF"/>
                </a:solidFill>
              </a14:hiddenFill>
            </a:ext>
          </a:extLst>
        </p:spPr>
      </p:pic>
      <p:pic>
        <p:nvPicPr>
          <p:cNvPr id="144" name="Picture 4" descr="Prism"/>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23287" y="3045167"/>
            <a:ext cx="541224" cy="182129"/>
          </a:xfrm>
          <a:prstGeom prst="rect">
            <a:avLst/>
          </a:prstGeom>
          <a:noFill/>
          <a:extLst>
            <a:ext uri="{909E8E84-426E-40DD-AFC4-6F175D3DCCD1}">
              <a14:hiddenFill xmlns:a14="http://schemas.microsoft.com/office/drawing/2010/main">
                <a:solidFill>
                  <a:srgbClr val="FFFFFF"/>
                </a:solidFill>
              </a14:hiddenFill>
            </a:ext>
          </a:extLst>
        </p:spPr>
      </p:pic>
      <p:pic>
        <p:nvPicPr>
          <p:cNvPr id="147" name="Picture 2" descr="OpenCode, 오픈소스 AI 코딩 에이전트의 가능성과 현실 - 박재홍의 실리콘밸리"/>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27618" y="1767903"/>
            <a:ext cx="484796" cy="300385"/>
          </a:xfrm>
          <a:prstGeom prst="rect">
            <a:avLst/>
          </a:prstGeom>
          <a:noFill/>
          <a:extLst>
            <a:ext uri="{909E8E84-426E-40DD-AFC4-6F175D3DCCD1}">
              <a14:hiddenFill xmlns:a14="http://schemas.microsoft.com/office/drawing/2010/main">
                <a:solidFill>
                  <a:srgbClr val="FFFFFF"/>
                </a:solidFill>
              </a14:hiddenFill>
            </a:ext>
          </a:extLst>
        </p:spPr>
      </p:pic>
      <p:sp>
        <p:nvSpPr>
          <p:cNvPr id="148" name="직사각형 147"/>
          <p:cNvSpPr/>
          <p:nvPr/>
        </p:nvSpPr>
        <p:spPr>
          <a:xfrm>
            <a:off x="3378450" y="2552220"/>
            <a:ext cx="2026092" cy="1297005"/>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직사각형 118"/>
          <p:cNvSpPr/>
          <p:nvPr/>
        </p:nvSpPr>
        <p:spPr>
          <a:xfrm>
            <a:off x="5850247" y="3322867"/>
            <a:ext cx="1865308" cy="498623"/>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lvl="0" algn="ctr">
              <a:defRPr/>
            </a:pPr>
            <a:r>
              <a:rPr lang="en-US" altLang="ko-KR" sz="1200" b="1">
                <a:solidFill>
                  <a:schemeClr val="tx1"/>
                </a:solidFill>
                <a:latin typeface="Calibri" panose="020F0502020204030204"/>
              </a:rPr>
              <a:t>Network Library</a:t>
            </a:r>
          </a:p>
          <a:p>
            <a:pPr algn="ctr">
              <a:defRPr/>
            </a:pPr>
            <a:r>
              <a:rPr lang="ko-KR" altLang="en-US" sz="800" b="1">
                <a:solidFill>
                  <a:schemeClr val="bg1">
                    <a:lumMod val="50000"/>
                  </a:schemeClr>
                </a:solidFill>
                <a:latin typeface="Calibri" panose="020F0502020204030204"/>
              </a:rPr>
              <a:t>연산 함수 제공 </a:t>
            </a:r>
          </a:p>
        </p:txBody>
      </p:sp>
      <p:sp>
        <p:nvSpPr>
          <p:cNvPr id="194" name="모서리가 둥근 직사각형 193"/>
          <p:cNvSpPr/>
          <p:nvPr/>
        </p:nvSpPr>
        <p:spPr>
          <a:xfrm>
            <a:off x="3066450" y="925284"/>
            <a:ext cx="4824792" cy="5499063"/>
          </a:xfrm>
          <a:prstGeom prst="roundRect">
            <a:avLst>
              <a:gd name="adj" fmla="val 2369"/>
            </a:avLst>
          </a:prstGeom>
          <a:noFill/>
          <a:ln w="19050">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양쪽 모서리가 잘린 사각형 194"/>
          <p:cNvSpPr/>
          <p:nvPr/>
        </p:nvSpPr>
        <p:spPr>
          <a:xfrm>
            <a:off x="3059952" y="717570"/>
            <a:ext cx="4830981" cy="328694"/>
          </a:xfrm>
          <a:prstGeom prst="snip2SameRect">
            <a:avLst/>
          </a:prstGeom>
          <a:solidFill>
            <a:srgbClr val="333F50"/>
          </a:solidFill>
          <a:ln>
            <a:noFill/>
          </a:ln>
        </p:spPr>
        <p:style>
          <a:lnRef idx="2">
            <a:schemeClr val="accent1">
              <a:shade val="50000"/>
            </a:schemeClr>
          </a:lnRef>
          <a:fillRef idx="1">
            <a:schemeClr val="accent1"/>
          </a:fillRef>
          <a:effectRef idx="0">
            <a:schemeClr val="accent1"/>
          </a:effectRef>
          <a:fontRef idx="minor">
            <a:schemeClr val="lt1"/>
          </a:fontRef>
        </p:style>
        <p:txBody>
          <a:bodyPr lIns="91434" tIns="45718" rIns="91434" bIns="45718" rtlCol="0" anchor="ctr"/>
          <a:lstStyle/>
          <a:p>
            <a:pPr algn="ctr"/>
            <a:r>
              <a:rPr lang="ko-KR" altLang="en-US" sz="1400" b="1" dirty="0">
                <a:latin typeface="+mn-ea"/>
              </a:rPr>
              <a:t>시나리오</a:t>
            </a:r>
          </a:p>
        </p:txBody>
      </p:sp>
      <p:sp>
        <p:nvSpPr>
          <p:cNvPr id="198" name="모서리가 둥근 직사각형 197"/>
          <p:cNvSpPr/>
          <p:nvPr/>
        </p:nvSpPr>
        <p:spPr>
          <a:xfrm>
            <a:off x="9256433" y="923476"/>
            <a:ext cx="1716975" cy="5526039"/>
          </a:xfrm>
          <a:prstGeom prst="roundRect">
            <a:avLst>
              <a:gd name="adj" fmla="val 2369"/>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양쪽 모서리가 잘린 사각형 198"/>
          <p:cNvSpPr/>
          <p:nvPr/>
        </p:nvSpPr>
        <p:spPr>
          <a:xfrm>
            <a:off x="9256433" y="717570"/>
            <a:ext cx="1716976" cy="318961"/>
          </a:xfrm>
          <a:prstGeom prst="snip2SameRect">
            <a:avLst/>
          </a:prstGeom>
          <a:solidFill>
            <a:srgbClr val="33513D"/>
          </a:solidFill>
          <a:ln>
            <a:noFill/>
          </a:ln>
        </p:spPr>
        <p:style>
          <a:lnRef idx="2">
            <a:schemeClr val="accent1">
              <a:shade val="50000"/>
            </a:schemeClr>
          </a:lnRef>
          <a:fillRef idx="1">
            <a:schemeClr val="accent1"/>
          </a:fillRef>
          <a:effectRef idx="0">
            <a:schemeClr val="accent1"/>
          </a:effectRef>
          <a:fontRef idx="minor">
            <a:schemeClr val="lt1"/>
          </a:fontRef>
        </p:style>
        <p:txBody>
          <a:bodyPr lIns="91434" tIns="45718" rIns="91434" bIns="45718" rtlCol="0" anchor="ctr"/>
          <a:lstStyle/>
          <a:p>
            <a:pPr algn="ctr"/>
            <a:r>
              <a:rPr lang="en-US" altLang="ko-KR" sz="1400" b="1" dirty="0">
                <a:latin typeface="+mn-ea"/>
              </a:rPr>
              <a:t>Target Memory</a:t>
            </a:r>
            <a:endParaRPr lang="ko-KR" altLang="en-US" sz="1400" b="1" dirty="0">
              <a:latin typeface="+mn-ea"/>
            </a:endParaRPr>
          </a:p>
        </p:txBody>
      </p:sp>
      <p:grpSp>
        <p:nvGrpSpPr>
          <p:cNvPr id="105" name="그룹 104"/>
          <p:cNvGrpSpPr/>
          <p:nvPr/>
        </p:nvGrpSpPr>
        <p:grpSpPr>
          <a:xfrm>
            <a:off x="9453066" y="4729113"/>
            <a:ext cx="1286424" cy="1316778"/>
            <a:chOff x="10380055" y="2623962"/>
            <a:chExt cx="1286424" cy="1316778"/>
          </a:xfrm>
        </p:grpSpPr>
        <p:pic>
          <p:nvPicPr>
            <p:cNvPr id="100" name="그림 99"/>
            <p:cNvPicPr>
              <a:picLocks noChangeAspect="1"/>
            </p:cNvPicPr>
            <p:nvPr/>
          </p:nvPicPr>
          <p:blipFill rotWithShape="1">
            <a:blip r:embed="rId6"/>
            <a:srcRect l="8565" t="2372" r="9981" b="34301"/>
            <a:stretch/>
          </p:blipFill>
          <p:spPr>
            <a:xfrm>
              <a:off x="10380055" y="2623962"/>
              <a:ext cx="1286424" cy="1094829"/>
            </a:xfrm>
            <a:prstGeom prst="rect">
              <a:avLst/>
            </a:prstGeom>
            <a:solidFill>
              <a:schemeClr val="tx1"/>
            </a:solidFill>
          </p:spPr>
        </p:pic>
        <p:sp>
          <p:nvSpPr>
            <p:cNvPr id="325" name="TextBox 324"/>
            <p:cNvSpPr txBox="1"/>
            <p:nvPr/>
          </p:nvSpPr>
          <p:spPr>
            <a:xfrm>
              <a:off x="10681719" y="3679130"/>
              <a:ext cx="774571" cy="261610"/>
            </a:xfrm>
            <a:prstGeom prst="rect">
              <a:avLst/>
            </a:prstGeom>
            <a:noFill/>
          </p:spPr>
          <p:txBody>
            <a:bodyPr wrap="none" rtlCol="0">
              <a:spAutoFit/>
            </a:bodyPr>
            <a:lstStyle/>
            <a:p>
              <a:r>
                <a:rPr lang="en-US" altLang="ko-KR" sz="1100" b="1" dirty="0"/>
                <a:t>SSD-PIM</a:t>
              </a:r>
              <a:endParaRPr lang="ko-KR" altLang="en-US" sz="1100" b="1" dirty="0"/>
            </a:p>
          </p:txBody>
        </p:sp>
      </p:grpSp>
      <p:sp>
        <p:nvSpPr>
          <p:cNvPr id="73" name="실행 단추: 앞으로 또는 다음 72">
            <a:hlinkClick r:id="rId7" action="ppaction://hlinksldjump" highlightClick="1"/>
          </p:cNvPr>
          <p:cNvSpPr/>
          <p:nvPr/>
        </p:nvSpPr>
        <p:spPr>
          <a:xfrm>
            <a:off x="10669133" y="6244538"/>
            <a:ext cx="278562" cy="15049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 name="그룹 9"/>
          <p:cNvGrpSpPr/>
          <p:nvPr/>
        </p:nvGrpSpPr>
        <p:grpSpPr>
          <a:xfrm>
            <a:off x="9386074" y="3250271"/>
            <a:ext cx="1470028" cy="1276029"/>
            <a:chOff x="10219614" y="3398879"/>
            <a:chExt cx="1617031" cy="1403632"/>
          </a:xfrm>
        </p:grpSpPr>
        <p:pic>
          <p:nvPicPr>
            <p:cNvPr id="111" name="그림 110"/>
            <p:cNvPicPr>
              <a:picLocks noChangeAspect="1"/>
            </p:cNvPicPr>
            <p:nvPr/>
          </p:nvPicPr>
          <p:blipFill rotWithShape="1">
            <a:blip r:embed="rId8" cstate="print">
              <a:extLst>
                <a:ext uri="{28A0092B-C50C-407E-A947-70E740481C1C}">
                  <a14:useLocalDpi xmlns:a14="http://schemas.microsoft.com/office/drawing/2010/main" val="0"/>
                </a:ext>
              </a:extLst>
            </a:blip>
            <a:srcRect l="2149" t="2553" r="9045" b="45911"/>
            <a:stretch/>
          </p:blipFill>
          <p:spPr>
            <a:xfrm>
              <a:off x="10219614" y="3398879"/>
              <a:ext cx="1617031" cy="1149321"/>
            </a:xfrm>
            <a:prstGeom prst="rect">
              <a:avLst/>
            </a:prstGeom>
          </p:spPr>
        </p:pic>
        <p:sp>
          <p:nvSpPr>
            <p:cNvPr id="328" name="TextBox 327"/>
            <p:cNvSpPr txBox="1"/>
            <p:nvPr/>
          </p:nvSpPr>
          <p:spPr>
            <a:xfrm>
              <a:off x="10633718" y="4540901"/>
              <a:ext cx="830676" cy="261610"/>
            </a:xfrm>
            <a:prstGeom prst="rect">
              <a:avLst/>
            </a:prstGeom>
            <a:noFill/>
          </p:spPr>
          <p:txBody>
            <a:bodyPr wrap="none" rtlCol="0">
              <a:spAutoFit/>
            </a:bodyPr>
            <a:lstStyle/>
            <a:p>
              <a:pPr algn="ctr"/>
              <a:r>
                <a:rPr lang="en-US" altLang="ko-KR" sz="1100" b="1" dirty="0"/>
                <a:t>CXL-PNM</a:t>
              </a:r>
              <a:endParaRPr lang="ko-KR" altLang="en-US" sz="1100" b="1" dirty="0"/>
            </a:p>
          </p:txBody>
        </p:sp>
      </p:grpSp>
      <p:pic>
        <p:nvPicPr>
          <p:cNvPr id="117" name="Picture 10" descr="Learning PyTorch: The Basic Program Structure | by Dagang Wei | Medium">
            <a:extLst>
              <a:ext uri="{FF2B5EF4-FFF2-40B4-BE49-F238E27FC236}">
                <a16:creationId xmlns:a16="http://schemas.microsoft.com/office/drawing/2014/main" id="{B7B9C22F-82A6-003F-3AC0-C06AD410E2DE}"/>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r="66105"/>
          <a:stretch/>
        </p:blipFill>
        <p:spPr bwMode="auto">
          <a:xfrm>
            <a:off x="5926757" y="2780820"/>
            <a:ext cx="276305" cy="357423"/>
          </a:xfrm>
          <a:prstGeom prst="rect">
            <a:avLst/>
          </a:prstGeom>
          <a:noFill/>
        </p:spPr>
      </p:pic>
      <p:pic>
        <p:nvPicPr>
          <p:cNvPr id="2" name="그림 1"/>
          <p:cNvPicPr>
            <a:picLocks noChangeAspect="1"/>
          </p:cNvPicPr>
          <p:nvPr/>
        </p:nvPicPr>
        <p:blipFill rotWithShape="1">
          <a:blip r:embed="rId10"/>
          <a:srcRect r="22427" b="34194"/>
          <a:stretch/>
        </p:blipFill>
        <p:spPr>
          <a:xfrm>
            <a:off x="5905707" y="2657416"/>
            <a:ext cx="275589" cy="172166"/>
          </a:xfrm>
          <a:prstGeom prst="rect">
            <a:avLst/>
          </a:prstGeom>
        </p:spPr>
      </p:pic>
      <p:cxnSp>
        <p:nvCxnSpPr>
          <p:cNvPr id="118" name="직선 화살표 연결선 185">
            <a:extLst>
              <a:ext uri="{FF2B5EF4-FFF2-40B4-BE49-F238E27FC236}">
                <a16:creationId xmlns:a16="http://schemas.microsoft.com/office/drawing/2014/main" id="{C77B044C-CFD5-4C99-9B08-C9CDFDD38AC5}"/>
              </a:ext>
            </a:extLst>
          </p:cNvPr>
          <p:cNvCxnSpPr>
            <a:cxnSpLocks/>
            <a:stCxn id="79" idx="1"/>
            <a:endCxn id="81" idx="3"/>
          </p:cNvCxnSpPr>
          <p:nvPr/>
        </p:nvCxnSpPr>
        <p:spPr>
          <a:xfrm rot="10800000" flipV="1">
            <a:off x="5358014" y="2873274"/>
            <a:ext cx="492235" cy="694508"/>
          </a:xfrm>
          <a:prstGeom prst="bentConnector3">
            <a:avLst>
              <a:gd name="adj1" fmla="val 50000"/>
            </a:avLst>
          </a:prstGeom>
          <a:noFill/>
          <a:ln w="6350">
            <a:solidFill>
              <a:srgbClr val="888C91"/>
            </a:solidFill>
            <a:prstDash val="solid"/>
            <a:headEnd type="triangle" w="med" len="med"/>
            <a:tailEnd type="none" w="med" len="med"/>
          </a:ln>
        </p:spPr>
      </p:cxnSp>
      <p:cxnSp>
        <p:nvCxnSpPr>
          <p:cNvPr id="122" name="직선 화살표 연결선 185">
            <a:extLst>
              <a:ext uri="{FF2B5EF4-FFF2-40B4-BE49-F238E27FC236}">
                <a16:creationId xmlns:a16="http://schemas.microsoft.com/office/drawing/2014/main" id="{C77B044C-CFD5-4C99-9B08-C9CDFDD38AC5}"/>
              </a:ext>
            </a:extLst>
          </p:cNvPr>
          <p:cNvCxnSpPr>
            <a:cxnSpLocks/>
          </p:cNvCxnSpPr>
          <p:nvPr/>
        </p:nvCxnSpPr>
        <p:spPr>
          <a:xfrm flipV="1">
            <a:off x="6401234" y="3825578"/>
            <a:ext cx="0" cy="425073"/>
          </a:xfrm>
          <a:prstGeom prst="straightConnector1">
            <a:avLst/>
          </a:prstGeom>
          <a:noFill/>
          <a:ln w="6350">
            <a:solidFill>
              <a:srgbClr val="888C91"/>
            </a:solidFill>
            <a:prstDash val="solid"/>
            <a:headEnd type="triangle" w="med" len="med"/>
            <a:tailEnd type="none" w="med" len="med"/>
          </a:ln>
        </p:spPr>
      </p:cxnSp>
      <p:sp>
        <p:nvSpPr>
          <p:cNvPr id="125" name="직사각형 124"/>
          <p:cNvSpPr/>
          <p:nvPr/>
        </p:nvSpPr>
        <p:spPr>
          <a:xfrm>
            <a:off x="1137508" y="5401346"/>
            <a:ext cx="1607439" cy="267872"/>
          </a:xfrm>
          <a:prstGeom prst="rect">
            <a:avLst/>
          </a:prstGeom>
          <a:solidFill>
            <a:schemeClr val="accent1">
              <a:lumMod val="20000"/>
              <a:lumOff val="80000"/>
            </a:schemeClr>
          </a:solidFill>
          <a:ln w="9525"/>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000" b="1" dirty="0">
                <a:solidFill>
                  <a:schemeClr val="tx1"/>
                </a:solidFill>
                <a:latin typeface="Calibri" panose="020F0502020204030204"/>
              </a:rPr>
              <a:t>오픈소스 </a:t>
            </a:r>
            <a:r>
              <a:rPr lang="en-US" altLang="ko-KR" sz="1000" b="1" dirty="0">
                <a:solidFill>
                  <a:schemeClr val="tx1"/>
                </a:solidFill>
                <a:latin typeface="Calibri" panose="020F0502020204030204"/>
              </a:rPr>
              <a:t>FW (</a:t>
            </a:r>
            <a:r>
              <a:rPr lang="en-US" altLang="ko-KR" sz="1000" b="1" dirty="0" err="1">
                <a:solidFill>
                  <a:schemeClr val="tx1"/>
                </a:solidFill>
                <a:latin typeface="Calibri" panose="020F0502020204030204"/>
              </a:rPr>
              <a:t>vLLM</a:t>
            </a:r>
            <a:r>
              <a:rPr lang="en-US" altLang="ko-KR" sz="1000" b="1" dirty="0">
                <a:solidFill>
                  <a:schemeClr val="tx1"/>
                </a:solidFill>
                <a:latin typeface="Calibri" panose="020F0502020204030204"/>
              </a:rPr>
              <a:t>)  </a:t>
            </a:r>
            <a:r>
              <a:rPr lang="ko-KR" altLang="en-US" sz="1000" b="1" dirty="0">
                <a:solidFill>
                  <a:schemeClr val="tx1"/>
                </a:solidFill>
                <a:latin typeface="Calibri" panose="020F0502020204030204"/>
              </a:rPr>
              <a:t>확장 </a:t>
            </a:r>
          </a:p>
        </p:txBody>
      </p:sp>
      <p:sp>
        <p:nvSpPr>
          <p:cNvPr id="127" name="직사각형 126"/>
          <p:cNvSpPr/>
          <p:nvPr/>
        </p:nvSpPr>
        <p:spPr>
          <a:xfrm>
            <a:off x="1138278" y="5750290"/>
            <a:ext cx="1591963" cy="267872"/>
          </a:xfrm>
          <a:prstGeom prst="rect">
            <a:avLst/>
          </a:prstGeom>
          <a:solidFill>
            <a:schemeClr val="accent2">
              <a:lumMod val="20000"/>
              <a:lumOff val="80000"/>
            </a:schemeClr>
          </a:solidFill>
          <a:ln w="9525"/>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1000" b="1" dirty="0">
                <a:solidFill>
                  <a:prstClr val="black"/>
                </a:solidFill>
                <a:latin typeface="Calibri" panose="020F0502020204030204"/>
              </a:rPr>
              <a:t>자체 구현</a:t>
            </a:r>
          </a:p>
        </p:txBody>
      </p:sp>
      <p:sp>
        <p:nvSpPr>
          <p:cNvPr id="128" name="실행 단추: 앞으로 또는 다음 127">
            <a:hlinkClick r:id="rId11" action="ppaction://hlinksldjump" highlightClick="1"/>
          </p:cNvPr>
          <p:cNvSpPr/>
          <p:nvPr/>
        </p:nvSpPr>
        <p:spPr>
          <a:xfrm>
            <a:off x="5039692" y="3919715"/>
            <a:ext cx="278562" cy="15049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TextBox 6"/>
          <p:cNvSpPr txBox="1"/>
          <p:nvPr/>
        </p:nvSpPr>
        <p:spPr>
          <a:xfrm>
            <a:off x="4588885" y="3837252"/>
            <a:ext cx="447558" cy="261610"/>
          </a:xfrm>
          <a:prstGeom prst="rect">
            <a:avLst/>
          </a:prstGeom>
          <a:noFill/>
        </p:spPr>
        <p:txBody>
          <a:bodyPr wrap="none" rtlCol="0">
            <a:spAutoFit/>
          </a:bodyPr>
          <a:lstStyle/>
          <a:p>
            <a:r>
              <a:rPr lang="en-US" altLang="ko-KR" sz="1050" dirty="0" err="1"/>
              <a:t>vllm</a:t>
            </a:r>
            <a:endParaRPr lang="ko-KR" altLang="en-US" sz="1050" dirty="0"/>
          </a:p>
        </p:txBody>
      </p:sp>
      <p:pic>
        <p:nvPicPr>
          <p:cNvPr id="8" name="그림 7"/>
          <p:cNvPicPr>
            <a:picLocks noChangeAspect="1"/>
          </p:cNvPicPr>
          <p:nvPr/>
        </p:nvPicPr>
        <p:blipFill rotWithShape="1">
          <a:blip r:embed="rId12"/>
          <a:srcRect l="6481" t="25682" r="5591" b="13151"/>
          <a:stretch/>
        </p:blipFill>
        <p:spPr>
          <a:xfrm>
            <a:off x="9364828" y="1085480"/>
            <a:ext cx="1462899" cy="720000"/>
          </a:xfrm>
          <a:prstGeom prst="rect">
            <a:avLst/>
          </a:prstGeom>
        </p:spPr>
      </p:pic>
      <p:pic>
        <p:nvPicPr>
          <p:cNvPr id="9" name="그림 8"/>
          <p:cNvPicPr>
            <a:picLocks noChangeAspect="1"/>
          </p:cNvPicPr>
          <p:nvPr/>
        </p:nvPicPr>
        <p:blipFill rotWithShape="1">
          <a:blip r:embed="rId13"/>
          <a:srcRect l="6282" t="29226" r="3865" b="20950"/>
          <a:stretch/>
        </p:blipFill>
        <p:spPr>
          <a:xfrm>
            <a:off x="9347672" y="2120196"/>
            <a:ext cx="1595238" cy="825605"/>
          </a:xfrm>
          <a:prstGeom prst="rect">
            <a:avLst/>
          </a:prstGeom>
        </p:spPr>
      </p:pic>
      <p:sp>
        <p:nvSpPr>
          <p:cNvPr id="129" name="TextBox 128"/>
          <p:cNvSpPr txBox="1"/>
          <p:nvPr/>
        </p:nvSpPr>
        <p:spPr>
          <a:xfrm>
            <a:off x="9882169" y="1846995"/>
            <a:ext cx="519694" cy="261610"/>
          </a:xfrm>
          <a:prstGeom prst="rect">
            <a:avLst/>
          </a:prstGeom>
          <a:noFill/>
        </p:spPr>
        <p:txBody>
          <a:bodyPr wrap="none" rtlCol="0">
            <a:spAutoFit/>
          </a:bodyPr>
          <a:lstStyle/>
          <a:p>
            <a:pPr algn="ctr"/>
            <a:r>
              <a:rPr lang="en-US" altLang="ko-KR" sz="1100" b="1" dirty="0"/>
              <a:t>HBM</a:t>
            </a:r>
            <a:endParaRPr lang="ko-KR" altLang="en-US" sz="1100" b="1" dirty="0"/>
          </a:p>
        </p:txBody>
      </p:sp>
      <p:sp>
        <p:nvSpPr>
          <p:cNvPr id="130" name="TextBox 129"/>
          <p:cNvSpPr txBox="1"/>
          <p:nvPr/>
        </p:nvSpPr>
        <p:spPr>
          <a:xfrm>
            <a:off x="9832476" y="2879321"/>
            <a:ext cx="619080" cy="261610"/>
          </a:xfrm>
          <a:prstGeom prst="rect">
            <a:avLst/>
          </a:prstGeom>
          <a:noFill/>
        </p:spPr>
        <p:txBody>
          <a:bodyPr wrap="none" rtlCol="0">
            <a:spAutoFit/>
          </a:bodyPr>
          <a:lstStyle/>
          <a:p>
            <a:pPr algn="ctr"/>
            <a:r>
              <a:rPr lang="en-US" altLang="ko-KR" sz="1100" b="1" dirty="0"/>
              <a:t>DRAM</a:t>
            </a:r>
            <a:endParaRPr lang="ko-KR" altLang="en-US" sz="1100" b="1" dirty="0"/>
          </a:p>
        </p:txBody>
      </p:sp>
      <p:sp>
        <p:nvSpPr>
          <p:cNvPr id="135" name="TextBox 134"/>
          <p:cNvSpPr txBox="1"/>
          <p:nvPr/>
        </p:nvSpPr>
        <p:spPr>
          <a:xfrm>
            <a:off x="9409357" y="6188978"/>
            <a:ext cx="1231427" cy="261610"/>
          </a:xfrm>
          <a:prstGeom prst="rect">
            <a:avLst/>
          </a:prstGeom>
          <a:noFill/>
        </p:spPr>
        <p:txBody>
          <a:bodyPr wrap="none" rtlCol="0">
            <a:spAutoFit/>
          </a:bodyPr>
          <a:lstStyle/>
          <a:p>
            <a:pPr algn="ctr"/>
            <a:r>
              <a:rPr lang="en-US" altLang="ko-KR" sz="1100" b="1"/>
              <a:t>+ </a:t>
            </a:r>
            <a:r>
              <a:rPr lang="ko-KR" altLang="en-US" sz="1100" b="1" dirty="0"/>
              <a:t>차세대 메모리</a:t>
            </a:r>
          </a:p>
        </p:txBody>
      </p:sp>
      <p:sp>
        <p:nvSpPr>
          <p:cNvPr id="126" name="직사각형 125"/>
          <p:cNvSpPr/>
          <p:nvPr/>
        </p:nvSpPr>
        <p:spPr>
          <a:xfrm>
            <a:off x="3429534" y="5466703"/>
            <a:ext cx="606276"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HBM</a:t>
            </a:r>
            <a:endParaRPr lang="ko-KR" altLang="en-US" sz="900" b="1" dirty="0">
              <a:solidFill>
                <a:prstClr val="black"/>
              </a:solidFill>
              <a:latin typeface="Calibri" panose="020F0502020204030204"/>
            </a:endParaRPr>
          </a:p>
        </p:txBody>
      </p:sp>
      <p:sp>
        <p:nvSpPr>
          <p:cNvPr id="137" name="직사각형 136"/>
          <p:cNvSpPr/>
          <p:nvPr/>
        </p:nvSpPr>
        <p:spPr>
          <a:xfrm>
            <a:off x="4172695" y="5466703"/>
            <a:ext cx="606276"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DRAM</a:t>
            </a:r>
            <a:endParaRPr lang="ko-KR" altLang="en-US" sz="900" b="1" dirty="0">
              <a:solidFill>
                <a:prstClr val="black"/>
              </a:solidFill>
              <a:latin typeface="Calibri" panose="020F0502020204030204"/>
            </a:endParaRPr>
          </a:p>
        </p:txBody>
      </p:sp>
      <p:sp>
        <p:nvSpPr>
          <p:cNvPr id="140" name="직사각형 139"/>
          <p:cNvSpPr/>
          <p:nvPr/>
        </p:nvSpPr>
        <p:spPr>
          <a:xfrm>
            <a:off x="4847628" y="5022253"/>
            <a:ext cx="606276"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CPU </a:t>
            </a:r>
            <a:endParaRPr lang="ko-KR" altLang="en-US" sz="900" b="1" dirty="0">
              <a:solidFill>
                <a:prstClr val="black"/>
              </a:solidFill>
              <a:latin typeface="Calibri" panose="020F0502020204030204"/>
            </a:endParaRPr>
          </a:p>
        </p:txBody>
      </p:sp>
      <p:sp>
        <p:nvSpPr>
          <p:cNvPr id="141" name="직사각형 140"/>
          <p:cNvSpPr/>
          <p:nvPr/>
        </p:nvSpPr>
        <p:spPr>
          <a:xfrm>
            <a:off x="4868923" y="5465017"/>
            <a:ext cx="733594"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CXL-Memory</a:t>
            </a:r>
            <a:endParaRPr lang="ko-KR" altLang="en-US" sz="900" b="1" dirty="0">
              <a:solidFill>
                <a:prstClr val="black"/>
              </a:solidFill>
              <a:latin typeface="Calibri" panose="020F0502020204030204"/>
            </a:endParaRPr>
          </a:p>
        </p:txBody>
      </p:sp>
      <p:cxnSp>
        <p:nvCxnSpPr>
          <p:cNvPr id="12" name="직선 연결선 11"/>
          <p:cNvCxnSpPr>
            <a:stCxn id="85" idx="2"/>
            <a:endCxn id="126" idx="0"/>
          </p:cNvCxnSpPr>
          <p:nvPr/>
        </p:nvCxnSpPr>
        <p:spPr>
          <a:xfrm>
            <a:off x="3732672" y="5337675"/>
            <a:ext cx="0" cy="12902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140" idx="2"/>
            <a:endCxn id="137" idx="0"/>
          </p:cNvCxnSpPr>
          <p:nvPr/>
        </p:nvCxnSpPr>
        <p:spPr>
          <a:xfrm flipH="1">
            <a:off x="4475833" y="5337675"/>
            <a:ext cx="674933" cy="12902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6" name="직선 연결선 145"/>
          <p:cNvCxnSpPr>
            <a:stCxn id="140" idx="2"/>
            <a:endCxn id="141" idx="0"/>
          </p:cNvCxnSpPr>
          <p:nvPr/>
        </p:nvCxnSpPr>
        <p:spPr>
          <a:xfrm>
            <a:off x="5150766" y="5337675"/>
            <a:ext cx="84954"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9" name="직사각형 148"/>
          <p:cNvSpPr/>
          <p:nvPr/>
        </p:nvSpPr>
        <p:spPr>
          <a:xfrm>
            <a:off x="6260343" y="5465017"/>
            <a:ext cx="606276" cy="3154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SSD</a:t>
            </a:r>
            <a:endParaRPr lang="ko-KR" altLang="en-US" sz="900" b="1" dirty="0">
              <a:solidFill>
                <a:prstClr val="black"/>
              </a:solidFill>
              <a:latin typeface="Calibri" panose="020F0502020204030204"/>
            </a:endParaRPr>
          </a:p>
        </p:txBody>
      </p:sp>
      <p:cxnSp>
        <p:nvCxnSpPr>
          <p:cNvPr id="150" name="직선 연결선 149"/>
          <p:cNvCxnSpPr>
            <a:stCxn id="140" idx="2"/>
            <a:endCxn id="149" idx="0"/>
          </p:cNvCxnSpPr>
          <p:nvPr/>
        </p:nvCxnSpPr>
        <p:spPr>
          <a:xfrm>
            <a:off x="5150766" y="5337675"/>
            <a:ext cx="1412715"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1" name="직선 화살표 연결선 185">
            <a:extLst>
              <a:ext uri="{FF2B5EF4-FFF2-40B4-BE49-F238E27FC236}">
                <a16:creationId xmlns:a16="http://schemas.microsoft.com/office/drawing/2014/main" id="{C77B044C-CFD5-4C99-9B08-C9CDFDD38AC5}"/>
              </a:ext>
            </a:extLst>
          </p:cNvPr>
          <p:cNvCxnSpPr>
            <a:cxnSpLocks/>
            <a:stCxn id="85" idx="0"/>
            <a:endCxn id="83" idx="2"/>
          </p:cNvCxnSpPr>
          <p:nvPr/>
        </p:nvCxnSpPr>
        <p:spPr>
          <a:xfrm rot="5400000" flipH="1" flipV="1">
            <a:off x="4509246" y="3927371"/>
            <a:ext cx="318308" cy="1871457"/>
          </a:xfrm>
          <a:prstGeom prst="bentConnector3">
            <a:avLst>
              <a:gd name="adj1" fmla="val 50000"/>
            </a:avLst>
          </a:prstGeom>
          <a:noFill/>
          <a:ln w="6350">
            <a:solidFill>
              <a:srgbClr val="888C91"/>
            </a:solidFill>
            <a:prstDash val="solid"/>
            <a:headEnd type="triangle" w="med" len="med"/>
            <a:tailEnd type="none" w="med" len="med"/>
          </a:ln>
        </p:spPr>
      </p:cxnSp>
      <p:sp>
        <p:nvSpPr>
          <p:cNvPr id="152" name="직사각형 151"/>
          <p:cNvSpPr/>
          <p:nvPr/>
        </p:nvSpPr>
        <p:spPr>
          <a:xfrm>
            <a:off x="4832245" y="5907781"/>
            <a:ext cx="806953"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CXL-PNM</a:t>
            </a:r>
            <a:endParaRPr lang="ko-KR" altLang="en-US" sz="900" b="1" dirty="0">
              <a:solidFill>
                <a:prstClr val="black"/>
              </a:solidFill>
              <a:latin typeface="Calibri" panose="020F0502020204030204"/>
            </a:endParaRPr>
          </a:p>
        </p:txBody>
      </p:sp>
      <p:sp>
        <p:nvSpPr>
          <p:cNvPr id="165" name="직사각형 164"/>
          <p:cNvSpPr/>
          <p:nvPr/>
        </p:nvSpPr>
        <p:spPr>
          <a:xfrm>
            <a:off x="7049384" y="5022253"/>
            <a:ext cx="783389"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err="1">
                <a:solidFill>
                  <a:prstClr val="black"/>
                </a:solidFill>
                <a:latin typeface="Calibri" panose="020F0502020204030204"/>
              </a:rPr>
              <a:t>ScHBM</a:t>
            </a:r>
            <a:endParaRPr lang="ko-KR" altLang="en-US" sz="900" b="1" dirty="0">
              <a:solidFill>
                <a:prstClr val="black"/>
              </a:solidFill>
              <a:latin typeface="Calibri" panose="020F0502020204030204"/>
            </a:endParaRPr>
          </a:p>
        </p:txBody>
      </p:sp>
      <p:cxnSp>
        <p:nvCxnSpPr>
          <p:cNvPr id="167" name="직선 화살표 연결선 185">
            <a:extLst>
              <a:ext uri="{FF2B5EF4-FFF2-40B4-BE49-F238E27FC236}">
                <a16:creationId xmlns:a16="http://schemas.microsoft.com/office/drawing/2014/main" id="{C77B044C-CFD5-4C99-9B08-C9CDFDD38AC5}"/>
              </a:ext>
            </a:extLst>
          </p:cNvPr>
          <p:cNvCxnSpPr>
            <a:cxnSpLocks/>
            <a:stCxn id="165" idx="0"/>
            <a:endCxn id="83" idx="2"/>
          </p:cNvCxnSpPr>
          <p:nvPr/>
        </p:nvCxnSpPr>
        <p:spPr>
          <a:xfrm rot="16200000" flipV="1">
            <a:off x="6363450" y="3944624"/>
            <a:ext cx="318308" cy="1836950"/>
          </a:xfrm>
          <a:prstGeom prst="bentConnector3">
            <a:avLst>
              <a:gd name="adj1" fmla="val 50000"/>
            </a:avLst>
          </a:prstGeom>
          <a:noFill/>
          <a:ln w="6350">
            <a:solidFill>
              <a:srgbClr val="888C91"/>
            </a:solidFill>
            <a:prstDash val="solid"/>
            <a:headEnd type="triangle" w="med" len="med"/>
            <a:tailEnd type="none" w="med" len="med"/>
          </a:ln>
        </p:spPr>
      </p:cxnSp>
      <p:sp>
        <p:nvSpPr>
          <p:cNvPr id="171" name="직사각형 170"/>
          <p:cNvSpPr/>
          <p:nvPr/>
        </p:nvSpPr>
        <p:spPr>
          <a:xfrm>
            <a:off x="1138278" y="6099234"/>
            <a:ext cx="1591963" cy="267872"/>
          </a:xfrm>
          <a:prstGeom prst="rect">
            <a:avLst/>
          </a:prstGeom>
          <a:solidFill>
            <a:schemeClr val="accent4">
              <a:lumMod val="20000"/>
              <a:lumOff val="80000"/>
            </a:schemeClr>
          </a:solidFill>
          <a:ln w="9525"/>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1000" b="1" dirty="0">
                <a:solidFill>
                  <a:prstClr val="black"/>
                </a:solidFill>
                <a:latin typeface="Calibri" panose="020F0502020204030204"/>
              </a:rPr>
              <a:t>신규 메모리</a:t>
            </a:r>
          </a:p>
        </p:txBody>
      </p:sp>
      <p:sp>
        <p:nvSpPr>
          <p:cNvPr id="174" name="직사각형 173"/>
          <p:cNvSpPr/>
          <p:nvPr/>
        </p:nvSpPr>
        <p:spPr>
          <a:xfrm>
            <a:off x="6260343" y="5884226"/>
            <a:ext cx="606276"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PIM</a:t>
            </a:r>
            <a:endParaRPr lang="ko-KR" altLang="en-US" sz="900" b="1" dirty="0">
              <a:solidFill>
                <a:prstClr val="black"/>
              </a:solidFill>
              <a:latin typeface="Calibri" panose="020F0502020204030204"/>
            </a:endParaRPr>
          </a:p>
        </p:txBody>
      </p:sp>
      <p:cxnSp>
        <p:nvCxnSpPr>
          <p:cNvPr id="175" name="직선 연결선 174"/>
          <p:cNvCxnSpPr>
            <a:stCxn id="149" idx="2"/>
            <a:endCxn id="174" idx="0"/>
          </p:cNvCxnSpPr>
          <p:nvPr/>
        </p:nvCxnSpPr>
        <p:spPr>
          <a:xfrm>
            <a:off x="6563481" y="5780439"/>
            <a:ext cx="0" cy="103787"/>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87" name="직사각형 186"/>
          <p:cNvSpPr/>
          <p:nvPr/>
        </p:nvSpPr>
        <p:spPr>
          <a:xfrm>
            <a:off x="5644398" y="5465017"/>
            <a:ext cx="558664" cy="315422"/>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marR="0" indent="0" algn="ctr" fontAlgn="auto">
              <a:lnSpc>
                <a:spcPct val="100000"/>
              </a:lnSpc>
              <a:spcBef>
                <a:spcPts val="0"/>
              </a:spcBef>
              <a:spcAft>
                <a:spcPts val="0"/>
              </a:spcAft>
              <a:buClrTx/>
              <a:buSzTx/>
              <a:buFontTx/>
              <a:buNone/>
              <a:tabLst/>
              <a:defRPr/>
            </a:pPr>
            <a:r>
              <a:rPr lang="en-US" altLang="ko-KR" sz="1200" b="1" dirty="0">
                <a:solidFill>
                  <a:prstClr val="black"/>
                </a:solidFill>
                <a:latin typeface="Calibri" panose="020F0502020204030204"/>
              </a:rPr>
              <a:t>HBF</a:t>
            </a:r>
            <a:endParaRPr lang="ko-KR" altLang="en-US" sz="900" b="1" dirty="0">
              <a:solidFill>
                <a:prstClr val="black"/>
              </a:solidFill>
              <a:latin typeface="Calibri" panose="020F0502020204030204"/>
            </a:endParaRPr>
          </a:p>
        </p:txBody>
      </p:sp>
      <p:cxnSp>
        <p:nvCxnSpPr>
          <p:cNvPr id="188" name="직선 연결선 187"/>
          <p:cNvCxnSpPr>
            <a:stCxn id="140" idx="2"/>
            <a:endCxn id="187" idx="0"/>
          </p:cNvCxnSpPr>
          <p:nvPr/>
        </p:nvCxnSpPr>
        <p:spPr>
          <a:xfrm>
            <a:off x="5150766" y="5337675"/>
            <a:ext cx="772964"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6" name="직선 연결선 195"/>
          <p:cNvCxnSpPr>
            <a:stCxn id="141" idx="2"/>
            <a:endCxn id="152" idx="0"/>
          </p:cNvCxnSpPr>
          <p:nvPr/>
        </p:nvCxnSpPr>
        <p:spPr>
          <a:xfrm>
            <a:off x="5235720" y="5780439"/>
            <a:ext cx="2" cy="12734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932440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800" b="1" dirty="0">
                <a:solidFill>
                  <a:prstClr val="black"/>
                </a:solidFill>
                <a:latin typeface="맑은 고딕" panose="020F0502020204030204"/>
                <a:ea typeface="맑은 고딕" panose="020B0503020000020004" pitchFamily="50" charset="-127"/>
              </a:rPr>
              <a:t>요구사항</a:t>
            </a:r>
            <a:r>
              <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Appendix</a:t>
            </a:r>
            <a:endPar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9908649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grpSp>
        <p:nvGrpSpPr>
          <p:cNvPr id="4" name="그룹 3">
            <a:extLst>
              <a:ext uri="{FF2B5EF4-FFF2-40B4-BE49-F238E27FC236}">
                <a16:creationId xmlns:a16="http://schemas.microsoft.com/office/drawing/2014/main" id="{32F40870-CCB7-43E7-9D6F-FB25125A86C7}"/>
              </a:ext>
            </a:extLst>
          </p:cNvPr>
          <p:cNvGrpSpPr/>
          <p:nvPr/>
        </p:nvGrpSpPr>
        <p:grpSpPr>
          <a:xfrm>
            <a:off x="1119610" y="823615"/>
            <a:ext cx="4884333" cy="4193794"/>
            <a:chOff x="2171700" y="804672"/>
            <a:chExt cx="2381250" cy="2262378"/>
          </a:xfrm>
        </p:grpSpPr>
        <p:sp>
          <p:nvSpPr>
            <p:cNvPr id="121" name="Rectangle 5"/>
            <p:cNvSpPr/>
            <p:nvPr/>
          </p:nvSpPr>
          <p:spPr>
            <a:xfrm>
              <a:off x="2171700" y="804672"/>
              <a:ext cx="2381250"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600" b="1" dirty="0" smtClean="0">
                  <a:solidFill>
                    <a:srgbClr val="FFFFFF"/>
                  </a:solidFill>
                  <a:latin typeface="맑은 고딕"/>
                  <a:ea typeface="맑은 고딕"/>
                </a:rPr>
                <a:t>Baseline: GPU(HBM) </a:t>
              </a:r>
              <a:r>
                <a:rPr sz="1600" b="1" i="0" dirty="0" smtClean="0">
                  <a:solidFill>
                    <a:srgbClr val="FFFFFF"/>
                  </a:solidFill>
                  <a:latin typeface="맑은 고딕"/>
                  <a:ea typeface="맑은 고딕"/>
                </a:rPr>
                <a:t>× 8</a:t>
              </a:r>
              <a:r>
                <a:rPr lang="en-US" sz="1600" b="1" i="0" dirty="0" smtClean="0">
                  <a:solidFill>
                    <a:srgbClr val="FFFFFF"/>
                  </a:solidFill>
                  <a:latin typeface="맑은 고딕"/>
                  <a:ea typeface="맑은 고딕"/>
                </a:rPr>
                <a:t> </a:t>
              </a:r>
              <a:endParaRPr sz="1600" b="1" i="0" dirty="0">
                <a:solidFill>
                  <a:srgbClr val="FFFFFF"/>
                </a:solidFill>
                <a:latin typeface="맑은 고딕"/>
                <a:ea typeface="맑은 고딕"/>
              </a:endParaRPr>
            </a:p>
          </p:txBody>
        </p:sp>
        <p:sp>
          <p:nvSpPr>
            <p:cNvPr id="242" name="Rectangle 12"/>
            <p:cNvSpPr/>
            <p:nvPr/>
          </p:nvSpPr>
          <p:spPr>
            <a:xfrm>
              <a:off x="217170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4000"/>
            </a:p>
          </p:txBody>
        </p:sp>
        <p:sp>
          <p:nvSpPr>
            <p:cNvPr id="243" name="Rectangle 13"/>
            <p:cNvSpPr/>
            <p:nvPr/>
          </p:nvSpPr>
          <p:spPr>
            <a:xfrm>
              <a:off x="224790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GPU0</a:t>
              </a:r>
            </a:p>
          </p:txBody>
        </p:sp>
        <p:sp>
          <p:nvSpPr>
            <p:cNvPr id="244" name="Rectangle 14"/>
            <p:cNvSpPr/>
            <p:nvPr/>
          </p:nvSpPr>
          <p:spPr>
            <a:xfrm>
              <a:off x="224790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45" name="Rectangle 15"/>
            <p:cNvSpPr/>
            <p:nvPr/>
          </p:nvSpPr>
          <p:spPr>
            <a:xfrm>
              <a:off x="280511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GPU1</a:t>
              </a:r>
            </a:p>
          </p:txBody>
        </p:sp>
        <p:sp>
          <p:nvSpPr>
            <p:cNvPr id="246" name="Rectangle 16"/>
            <p:cNvSpPr/>
            <p:nvPr/>
          </p:nvSpPr>
          <p:spPr>
            <a:xfrm>
              <a:off x="280511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47" name="Rectangle 17"/>
            <p:cNvSpPr/>
            <p:nvPr/>
          </p:nvSpPr>
          <p:spPr>
            <a:xfrm>
              <a:off x="336232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GPU2</a:t>
              </a:r>
            </a:p>
          </p:txBody>
        </p:sp>
        <p:sp>
          <p:nvSpPr>
            <p:cNvPr id="248" name="Rectangle 18"/>
            <p:cNvSpPr/>
            <p:nvPr/>
          </p:nvSpPr>
          <p:spPr>
            <a:xfrm>
              <a:off x="336232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49" name="Rectangle 19"/>
            <p:cNvSpPr/>
            <p:nvPr/>
          </p:nvSpPr>
          <p:spPr>
            <a:xfrm>
              <a:off x="391953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GPU3</a:t>
              </a:r>
            </a:p>
          </p:txBody>
        </p:sp>
        <p:sp>
          <p:nvSpPr>
            <p:cNvPr id="250" name="Rectangle 20"/>
            <p:cNvSpPr/>
            <p:nvPr/>
          </p:nvSpPr>
          <p:spPr>
            <a:xfrm>
              <a:off x="391953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51" name="Rectangle 21"/>
            <p:cNvSpPr/>
            <p:nvPr/>
          </p:nvSpPr>
          <p:spPr>
            <a:xfrm>
              <a:off x="224790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200" b="0" i="0" dirty="0">
                  <a:solidFill>
                    <a:srgbClr val="262626"/>
                  </a:solidFill>
                  <a:latin typeface="맑은 고딕"/>
                  <a:ea typeface="맑은 고딕"/>
                </a:rPr>
                <a:t>CPU0</a:t>
              </a:r>
            </a:p>
            <a:p>
              <a:pPr algn="ctr">
                <a:lnSpc>
                  <a:spcPct val="115000"/>
                </a:lnSpc>
              </a:pPr>
              <a:r>
                <a:rPr sz="1200" b="0" i="0" dirty="0" smtClean="0">
                  <a:solidFill>
                    <a:srgbClr val="262626"/>
                  </a:solidFill>
                  <a:latin typeface="맑은 고딕"/>
                  <a:ea typeface="맑은 고딕"/>
                </a:rPr>
                <a:t>DDR </a:t>
              </a:r>
              <a:r>
                <a:rPr sz="1200" b="0" i="0" dirty="0">
                  <a:solidFill>
                    <a:srgbClr val="262626"/>
                  </a:solidFill>
                  <a:latin typeface="맑은 고딕"/>
                  <a:ea typeface="맑은 고딕"/>
                </a:rPr>
                <a:t>512GB</a:t>
              </a:r>
            </a:p>
          </p:txBody>
        </p:sp>
        <p:sp>
          <p:nvSpPr>
            <p:cNvPr id="252" name="Rectangle 22"/>
            <p:cNvSpPr/>
            <p:nvPr/>
          </p:nvSpPr>
          <p:spPr>
            <a:xfrm>
              <a:off x="336232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200" b="0" i="0" dirty="0">
                  <a:solidFill>
                    <a:srgbClr val="262626"/>
                  </a:solidFill>
                  <a:latin typeface="맑은 고딕"/>
                  <a:ea typeface="맑은 고딕"/>
                </a:rPr>
                <a:t>CPU1</a:t>
              </a:r>
            </a:p>
            <a:p>
              <a:pPr algn="ctr">
                <a:lnSpc>
                  <a:spcPct val="115000"/>
                </a:lnSpc>
              </a:pPr>
              <a:r>
                <a:rPr sz="1200" b="0" i="0" dirty="0" smtClean="0">
                  <a:solidFill>
                    <a:srgbClr val="262626"/>
                  </a:solidFill>
                  <a:latin typeface="맑은 고딕"/>
                  <a:ea typeface="맑은 고딕"/>
                </a:rPr>
                <a:t>DDR </a:t>
              </a:r>
              <a:r>
                <a:rPr sz="1200" b="0" i="0" dirty="0">
                  <a:solidFill>
                    <a:srgbClr val="262626"/>
                  </a:solidFill>
                  <a:latin typeface="맑은 고딕"/>
                  <a:ea typeface="맑은 고딕"/>
                </a:rPr>
                <a:t>512GB</a:t>
              </a:r>
            </a:p>
          </p:txBody>
        </p:sp>
        <p:sp>
          <p:nvSpPr>
            <p:cNvPr id="253" name="Rectangle 23"/>
            <p:cNvSpPr/>
            <p:nvPr/>
          </p:nvSpPr>
          <p:spPr>
            <a:xfrm>
              <a:off x="2247900"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GPU4</a:t>
              </a:r>
            </a:p>
          </p:txBody>
        </p:sp>
        <p:sp>
          <p:nvSpPr>
            <p:cNvPr id="254" name="Rectangle 24"/>
            <p:cNvSpPr/>
            <p:nvPr/>
          </p:nvSpPr>
          <p:spPr>
            <a:xfrm>
              <a:off x="2247900"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55" name="Rectangle 25"/>
            <p:cNvSpPr/>
            <p:nvPr/>
          </p:nvSpPr>
          <p:spPr>
            <a:xfrm>
              <a:off x="2805112"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GPU5</a:t>
              </a:r>
            </a:p>
          </p:txBody>
        </p:sp>
        <p:sp>
          <p:nvSpPr>
            <p:cNvPr id="256" name="Rectangle 26"/>
            <p:cNvSpPr/>
            <p:nvPr/>
          </p:nvSpPr>
          <p:spPr>
            <a:xfrm>
              <a:off x="2805112"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57" name="Rectangle 27"/>
            <p:cNvSpPr/>
            <p:nvPr/>
          </p:nvSpPr>
          <p:spPr>
            <a:xfrm>
              <a:off x="3362325"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GPU6</a:t>
              </a:r>
            </a:p>
          </p:txBody>
        </p:sp>
        <p:sp>
          <p:nvSpPr>
            <p:cNvPr id="258" name="Rectangle 28"/>
            <p:cNvSpPr/>
            <p:nvPr/>
          </p:nvSpPr>
          <p:spPr>
            <a:xfrm>
              <a:off x="3362325"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59" name="Rectangle 29"/>
            <p:cNvSpPr/>
            <p:nvPr/>
          </p:nvSpPr>
          <p:spPr>
            <a:xfrm>
              <a:off x="3919538"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GPU7</a:t>
              </a:r>
            </a:p>
          </p:txBody>
        </p:sp>
        <p:sp>
          <p:nvSpPr>
            <p:cNvPr id="260" name="Rectangle 30"/>
            <p:cNvSpPr/>
            <p:nvPr/>
          </p:nvSpPr>
          <p:spPr>
            <a:xfrm>
              <a:off x="3919538"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61" name="Rectangle 31"/>
            <p:cNvSpPr/>
            <p:nvPr/>
          </p:nvSpPr>
          <p:spPr>
            <a:xfrm>
              <a:off x="2247900" y="2762250"/>
              <a:ext cx="2195512"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262626"/>
                  </a:solidFill>
                  <a:latin typeface="맑은 고딕"/>
                  <a:ea typeface="맑은 고딕"/>
                </a:rPr>
                <a:t>NVMe SSD  16TB</a:t>
              </a:r>
            </a:p>
          </p:txBody>
        </p:sp>
      </p:grpSp>
      <p:grpSp>
        <p:nvGrpSpPr>
          <p:cNvPr id="3" name="그룹 2">
            <a:extLst>
              <a:ext uri="{FF2B5EF4-FFF2-40B4-BE49-F238E27FC236}">
                <a16:creationId xmlns:a16="http://schemas.microsoft.com/office/drawing/2014/main" id="{05563784-9F41-40CA-9362-43CA993F78E6}"/>
              </a:ext>
            </a:extLst>
          </p:cNvPr>
          <p:cNvGrpSpPr/>
          <p:nvPr/>
        </p:nvGrpSpPr>
        <p:grpSpPr>
          <a:xfrm>
            <a:off x="6376592" y="850117"/>
            <a:ext cx="4884333" cy="4167291"/>
            <a:chOff x="4629150" y="804672"/>
            <a:chExt cx="2381250" cy="2262378"/>
          </a:xfrm>
        </p:grpSpPr>
        <p:sp>
          <p:nvSpPr>
            <p:cNvPr id="236" name="Rectangle 6"/>
            <p:cNvSpPr/>
            <p:nvPr/>
          </p:nvSpPr>
          <p:spPr>
            <a:xfrm>
              <a:off x="4629150" y="804672"/>
              <a:ext cx="2381250"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600" b="1" i="0" dirty="0">
                  <a:solidFill>
                    <a:srgbClr val="FFFFFF"/>
                  </a:solidFill>
                  <a:latin typeface="맑은 고딕"/>
                  <a:ea typeface="맑은 고딕"/>
                </a:rPr>
                <a:t>Target </a:t>
              </a:r>
              <a:r>
                <a:rPr lang="en-US" sz="1600" b="1" i="0" dirty="0" smtClean="0">
                  <a:solidFill>
                    <a:srgbClr val="FFFFFF"/>
                  </a:solidFill>
                  <a:latin typeface="맑은 고딕"/>
                  <a:ea typeface="맑은 고딕"/>
                </a:rPr>
                <a:t>:</a:t>
              </a:r>
              <a:r>
                <a:rPr sz="1600" b="1" i="0" dirty="0" smtClean="0">
                  <a:solidFill>
                    <a:srgbClr val="FFFFFF"/>
                  </a:solidFill>
                  <a:latin typeface="맑은 고딕"/>
                  <a:ea typeface="맑은 고딕"/>
                </a:rPr>
                <a:t>  </a:t>
              </a:r>
              <a:r>
                <a:rPr sz="1600" b="1" i="0" dirty="0">
                  <a:solidFill>
                    <a:srgbClr val="FFFFFF"/>
                  </a:solidFill>
                  <a:latin typeface="맑은 고딕"/>
                  <a:ea typeface="맑은 고딕"/>
                </a:rPr>
                <a:t>H100 × 4  +  CXL-PNM × 4</a:t>
              </a:r>
            </a:p>
          </p:txBody>
        </p:sp>
        <p:sp>
          <p:nvSpPr>
            <p:cNvPr id="262" name="Rectangle 32"/>
            <p:cNvSpPr/>
            <p:nvPr/>
          </p:nvSpPr>
          <p:spPr>
            <a:xfrm>
              <a:off x="462915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4000"/>
            </a:p>
          </p:txBody>
        </p:sp>
        <p:sp>
          <p:nvSpPr>
            <p:cNvPr id="263" name="Rectangle 33"/>
            <p:cNvSpPr/>
            <p:nvPr/>
          </p:nvSpPr>
          <p:spPr>
            <a:xfrm>
              <a:off x="470535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GPU0</a:t>
              </a:r>
            </a:p>
          </p:txBody>
        </p:sp>
        <p:sp>
          <p:nvSpPr>
            <p:cNvPr id="264" name="Rectangle 34"/>
            <p:cNvSpPr/>
            <p:nvPr/>
          </p:nvSpPr>
          <p:spPr>
            <a:xfrm>
              <a:off x="470535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65" name="Rectangle 35"/>
            <p:cNvSpPr/>
            <p:nvPr/>
          </p:nvSpPr>
          <p:spPr>
            <a:xfrm>
              <a:off x="526256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GPU1</a:t>
              </a:r>
            </a:p>
          </p:txBody>
        </p:sp>
        <p:sp>
          <p:nvSpPr>
            <p:cNvPr id="266" name="Rectangle 36"/>
            <p:cNvSpPr/>
            <p:nvPr/>
          </p:nvSpPr>
          <p:spPr>
            <a:xfrm>
              <a:off x="526256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67" name="Rectangle 37"/>
            <p:cNvSpPr/>
            <p:nvPr/>
          </p:nvSpPr>
          <p:spPr>
            <a:xfrm>
              <a:off x="581977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GPU2</a:t>
              </a:r>
            </a:p>
          </p:txBody>
        </p:sp>
        <p:sp>
          <p:nvSpPr>
            <p:cNvPr id="268" name="Rectangle 38"/>
            <p:cNvSpPr/>
            <p:nvPr/>
          </p:nvSpPr>
          <p:spPr>
            <a:xfrm>
              <a:off x="581977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69" name="Rectangle 39"/>
            <p:cNvSpPr/>
            <p:nvPr/>
          </p:nvSpPr>
          <p:spPr>
            <a:xfrm>
              <a:off x="637698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GPU3</a:t>
              </a:r>
            </a:p>
          </p:txBody>
        </p:sp>
        <p:sp>
          <p:nvSpPr>
            <p:cNvPr id="270" name="Rectangle 40"/>
            <p:cNvSpPr/>
            <p:nvPr/>
          </p:nvSpPr>
          <p:spPr>
            <a:xfrm>
              <a:off x="637698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1F6FB5"/>
                  </a:solidFill>
                  <a:latin typeface="맑은 고딕"/>
                  <a:ea typeface="맑은 고딕"/>
                </a:rPr>
                <a:t>HBM 80GB</a:t>
              </a:r>
            </a:p>
          </p:txBody>
        </p:sp>
        <p:sp>
          <p:nvSpPr>
            <p:cNvPr id="271" name="Rectangle 41"/>
            <p:cNvSpPr/>
            <p:nvPr/>
          </p:nvSpPr>
          <p:spPr>
            <a:xfrm>
              <a:off x="470535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200" b="0" i="0" dirty="0">
                  <a:solidFill>
                    <a:srgbClr val="262626"/>
                  </a:solidFill>
                  <a:latin typeface="맑은 고딕"/>
                  <a:ea typeface="맑은 고딕"/>
                </a:rPr>
                <a:t>CPU0</a:t>
              </a:r>
            </a:p>
            <a:p>
              <a:pPr algn="ctr">
                <a:lnSpc>
                  <a:spcPct val="115000"/>
                </a:lnSpc>
              </a:pPr>
              <a:r>
                <a:rPr sz="1200" b="0" i="0" dirty="0" smtClean="0">
                  <a:solidFill>
                    <a:srgbClr val="262626"/>
                  </a:solidFill>
                  <a:latin typeface="맑은 고딕"/>
                  <a:ea typeface="맑은 고딕"/>
                </a:rPr>
                <a:t>DDR </a:t>
              </a:r>
              <a:r>
                <a:rPr sz="1200" b="0" i="0" dirty="0">
                  <a:solidFill>
                    <a:srgbClr val="262626"/>
                  </a:solidFill>
                  <a:latin typeface="맑은 고딕"/>
                  <a:ea typeface="맑은 고딕"/>
                </a:rPr>
                <a:t>512GB</a:t>
              </a:r>
            </a:p>
          </p:txBody>
        </p:sp>
        <p:sp>
          <p:nvSpPr>
            <p:cNvPr id="272" name="Rectangle 42"/>
            <p:cNvSpPr/>
            <p:nvPr/>
          </p:nvSpPr>
          <p:spPr>
            <a:xfrm>
              <a:off x="581977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200" b="0" i="0" dirty="0">
                  <a:solidFill>
                    <a:srgbClr val="262626"/>
                  </a:solidFill>
                  <a:latin typeface="맑은 고딕"/>
                  <a:ea typeface="맑은 고딕"/>
                </a:rPr>
                <a:t>CPU1</a:t>
              </a:r>
            </a:p>
            <a:p>
              <a:pPr algn="ctr">
                <a:lnSpc>
                  <a:spcPct val="115000"/>
                </a:lnSpc>
              </a:pPr>
              <a:r>
                <a:rPr sz="1200" b="0" i="0" dirty="0" smtClean="0">
                  <a:solidFill>
                    <a:srgbClr val="262626"/>
                  </a:solidFill>
                  <a:latin typeface="맑은 고딕"/>
                  <a:ea typeface="맑은 고딕"/>
                </a:rPr>
                <a:t>DDR </a:t>
              </a:r>
              <a:r>
                <a:rPr sz="1200" b="0" i="0" dirty="0">
                  <a:solidFill>
                    <a:srgbClr val="262626"/>
                  </a:solidFill>
                  <a:latin typeface="맑은 고딕"/>
                  <a:ea typeface="맑은 고딕"/>
                </a:rPr>
                <a:t>512GB</a:t>
              </a:r>
            </a:p>
          </p:txBody>
        </p:sp>
        <p:sp>
          <p:nvSpPr>
            <p:cNvPr id="273" name="Rectangle 43"/>
            <p:cNvSpPr/>
            <p:nvPr/>
          </p:nvSpPr>
          <p:spPr>
            <a:xfrm>
              <a:off x="4705350"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PNM0</a:t>
              </a:r>
            </a:p>
          </p:txBody>
        </p:sp>
        <p:sp>
          <p:nvSpPr>
            <p:cNvPr id="274" name="Rectangle 44"/>
            <p:cNvSpPr/>
            <p:nvPr/>
          </p:nvSpPr>
          <p:spPr>
            <a:xfrm>
              <a:off x="4705350"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7F5F00"/>
                  </a:solidFill>
                  <a:latin typeface="맑은 고딕"/>
                  <a:ea typeface="맑은 고딕"/>
                </a:rPr>
                <a:t>DDR 128GB</a:t>
              </a:r>
            </a:p>
          </p:txBody>
        </p:sp>
        <p:sp>
          <p:nvSpPr>
            <p:cNvPr id="275" name="Rectangle 45"/>
            <p:cNvSpPr/>
            <p:nvPr/>
          </p:nvSpPr>
          <p:spPr>
            <a:xfrm>
              <a:off x="5262562"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PNM1</a:t>
              </a:r>
            </a:p>
          </p:txBody>
        </p:sp>
        <p:sp>
          <p:nvSpPr>
            <p:cNvPr id="276" name="Rectangle 46"/>
            <p:cNvSpPr/>
            <p:nvPr/>
          </p:nvSpPr>
          <p:spPr>
            <a:xfrm>
              <a:off x="5262562"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7F5F00"/>
                  </a:solidFill>
                  <a:latin typeface="맑은 고딕"/>
                  <a:ea typeface="맑은 고딕"/>
                </a:rPr>
                <a:t>DDR 128GB</a:t>
              </a:r>
            </a:p>
          </p:txBody>
        </p:sp>
        <p:sp>
          <p:nvSpPr>
            <p:cNvPr id="277" name="Rectangle 47"/>
            <p:cNvSpPr/>
            <p:nvPr/>
          </p:nvSpPr>
          <p:spPr>
            <a:xfrm>
              <a:off x="5819775"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PNM2</a:t>
              </a:r>
            </a:p>
          </p:txBody>
        </p:sp>
        <p:sp>
          <p:nvSpPr>
            <p:cNvPr id="278" name="Rectangle 48"/>
            <p:cNvSpPr/>
            <p:nvPr/>
          </p:nvSpPr>
          <p:spPr>
            <a:xfrm>
              <a:off x="5819775"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7F5F00"/>
                  </a:solidFill>
                  <a:latin typeface="맑은 고딕"/>
                  <a:ea typeface="맑은 고딕"/>
                </a:rPr>
                <a:t>DDR 128GB</a:t>
              </a:r>
            </a:p>
          </p:txBody>
        </p:sp>
        <p:sp>
          <p:nvSpPr>
            <p:cNvPr id="279" name="Rectangle 49"/>
            <p:cNvSpPr/>
            <p:nvPr/>
          </p:nvSpPr>
          <p:spPr>
            <a:xfrm>
              <a:off x="6376988"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FFFFFF"/>
                  </a:solidFill>
                  <a:latin typeface="맑은 고딕"/>
                  <a:ea typeface="맑은 고딕"/>
                </a:rPr>
                <a:t>PNM3</a:t>
              </a:r>
            </a:p>
          </p:txBody>
        </p:sp>
        <p:sp>
          <p:nvSpPr>
            <p:cNvPr id="280" name="Rectangle 50"/>
            <p:cNvSpPr/>
            <p:nvPr/>
          </p:nvSpPr>
          <p:spPr>
            <a:xfrm>
              <a:off x="6376988"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a:solidFill>
                    <a:srgbClr val="7F5F00"/>
                  </a:solidFill>
                  <a:latin typeface="맑은 고딕"/>
                  <a:ea typeface="맑은 고딕"/>
                </a:rPr>
                <a:t>DDR 128GB</a:t>
              </a:r>
            </a:p>
          </p:txBody>
        </p:sp>
        <p:sp>
          <p:nvSpPr>
            <p:cNvPr id="281" name="Rectangle 51"/>
            <p:cNvSpPr/>
            <p:nvPr/>
          </p:nvSpPr>
          <p:spPr>
            <a:xfrm>
              <a:off x="4705350" y="2762250"/>
              <a:ext cx="2195513"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200" b="1" i="0" dirty="0" err="1">
                  <a:solidFill>
                    <a:srgbClr val="262626"/>
                  </a:solidFill>
                  <a:latin typeface="맑은 고딕"/>
                  <a:ea typeface="맑은 고딕"/>
                </a:rPr>
                <a:t>NVMe</a:t>
              </a:r>
              <a:r>
                <a:rPr sz="1200" b="1" i="0" dirty="0">
                  <a:solidFill>
                    <a:srgbClr val="262626"/>
                  </a:solidFill>
                  <a:latin typeface="맑은 고딕"/>
                  <a:ea typeface="맑은 고딕"/>
                </a:rPr>
                <a:t> SSD </a:t>
              </a:r>
              <a:r>
                <a:rPr sz="1200" b="1" i="0" dirty="0" smtClean="0">
                  <a:solidFill>
                    <a:srgbClr val="262626"/>
                  </a:solidFill>
                  <a:latin typeface="맑은 고딕"/>
                  <a:ea typeface="맑은 고딕"/>
                </a:rPr>
                <a:t>16TB</a:t>
              </a:r>
              <a:r>
                <a:rPr lang="en-US" sz="1200" b="1" i="0" dirty="0" smtClean="0">
                  <a:solidFill>
                    <a:srgbClr val="262626"/>
                  </a:solidFill>
                  <a:latin typeface="맑은 고딕"/>
                  <a:ea typeface="맑은 고딕"/>
                </a:rPr>
                <a:t> </a:t>
              </a:r>
              <a:r>
                <a:rPr lang="en-US" sz="1200" b="1" i="0" dirty="0">
                  <a:solidFill>
                    <a:srgbClr val="262626"/>
                  </a:solidFill>
                  <a:latin typeface="맑은 고딕"/>
                  <a:ea typeface="맑은 고딕"/>
                </a:rPr>
                <a:t>+ PIM</a:t>
              </a:r>
              <a:endParaRPr sz="1200" b="1" i="0" dirty="0">
                <a:solidFill>
                  <a:srgbClr val="262626"/>
                </a:solidFill>
                <a:latin typeface="맑은 고딕"/>
                <a:ea typeface="맑은 고딕"/>
              </a:endParaRPr>
            </a:p>
          </p:txBody>
        </p:sp>
      </p:grpSp>
      <p:graphicFrame>
        <p:nvGraphicFramePr>
          <p:cNvPr id="5" name="표 4">
            <a:extLst>
              <a:ext uri="{FF2B5EF4-FFF2-40B4-BE49-F238E27FC236}">
                <a16:creationId xmlns:a16="http://schemas.microsoft.com/office/drawing/2014/main" id="{97D5ABC2-A18B-4111-8DC6-092B22D6832A}"/>
              </a:ext>
            </a:extLst>
          </p:cNvPr>
          <p:cNvGraphicFramePr>
            <a:graphicFrameLocks noGrp="1"/>
          </p:cNvGraphicFramePr>
          <p:nvPr>
            <p:extLst>
              <p:ext uri="{D42A27DB-BD31-4B8C-83A1-F6EECF244321}">
                <p14:modId xmlns:p14="http://schemas.microsoft.com/office/powerpoint/2010/main" val="4201812543"/>
              </p:ext>
            </p:extLst>
          </p:nvPr>
        </p:nvGraphicFramePr>
        <p:xfrm>
          <a:off x="1471126" y="5232421"/>
          <a:ext cx="5255853" cy="1865330"/>
        </p:xfrm>
        <a:graphic>
          <a:graphicData uri="http://schemas.openxmlformats.org/drawingml/2006/table">
            <a:tbl>
              <a:tblPr>
                <a:tableStyleId>{5C22544A-7EE6-4342-B048-85BDC9FD1C3A}</a:tableStyleId>
              </a:tblPr>
              <a:tblGrid>
                <a:gridCol w="1979847">
                  <a:extLst>
                    <a:ext uri="{9D8B030D-6E8A-4147-A177-3AD203B41FA5}">
                      <a16:colId xmlns:a16="http://schemas.microsoft.com/office/drawing/2014/main" val="1741230996"/>
                    </a:ext>
                  </a:extLst>
                </a:gridCol>
                <a:gridCol w="1638003">
                  <a:extLst>
                    <a:ext uri="{9D8B030D-6E8A-4147-A177-3AD203B41FA5}">
                      <a16:colId xmlns:a16="http://schemas.microsoft.com/office/drawing/2014/main" val="1818396836"/>
                    </a:ext>
                  </a:extLst>
                </a:gridCol>
                <a:gridCol w="1638003">
                  <a:extLst>
                    <a:ext uri="{9D8B030D-6E8A-4147-A177-3AD203B41FA5}">
                      <a16:colId xmlns:a16="http://schemas.microsoft.com/office/drawing/2014/main" val="164882480"/>
                    </a:ext>
                  </a:extLst>
                </a:gridCol>
              </a:tblGrid>
              <a:tr h="186533">
                <a:tc>
                  <a:txBody>
                    <a:bodyPr/>
                    <a:lstStyle/>
                    <a:p>
                      <a:pPr algn="l" fontAlgn="ctr"/>
                      <a:r>
                        <a:rPr lang="ko-KR" altLang="en-US" sz="1100" u="none" strike="noStrike">
                          <a:effectLst/>
                        </a:rPr>
                        <a:t>계층</a:t>
                      </a:r>
                      <a:endParaRPr lang="ko-KR" alt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ko-KR" altLang="en-US" sz="1100" u="none" strike="noStrike">
                          <a:effectLst/>
                        </a:rPr>
                        <a:t>기준안</a:t>
                      </a:r>
                      <a:endParaRPr lang="ko-KR" alt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ko-KR" altLang="en-US" sz="1100" u="none" strike="noStrike" dirty="0" err="1">
                          <a:effectLst/>
                        </a:rPr>
                        <a:t>제안안</a:t>
                      </a:r>
                      <a:endParaRPr lang="ko-KR" altLang="en-US" sz="11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477759017"/>
                  </a:ext>
                </a:extLst>
              </a:tr>
              <a:tr h="186533">
                <a:tc>
                  <a:txBody>
                    <a:bodyPr/>
                    <a:lstStyle/>
                    <a:p>
                      <a:pPr algn="l" fontAlgn="ctr"/>
                      <a:r>
                        <a:rPr lang="en-US" sz="1100" u="none" strike="noStrike">
                          <a:effectLst/>
                        </a:rPr>
                        <a:t>HBM</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640 GB · 26.8 TB/s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dirty="0">
                          <a:effectLst/>
                        </a:rPr>
                        <a:t>320 GB · 13.4 TB/s</a:t>
                      </a:r>
                      <a:endParaRPr lang="en-US" sz="11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07623903"/>
                  </a:ext>
                </a:extLst>
              </a:tr>
              <a:tr h="186533">
                <a:tc>
                  <a:txBody>
                    <a:bodyPr/>
                    <a:lstStyle/>
                    <a:p>
                      <a:pPr algn="l" fontAlgn="ctr"/>
                      <a:r>
                        <a:rPr lang="en-US" sz="1100" u="none" strike="noStrike">
                          <a:effectLst/>
                        </a:rPr>
                        <a:t>CXL-PNM (DDR)</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altLang="ko-KR" sz="1100" u="none" strike="noStrike">
                          <a:effectLst/>
                        </a:rPr>
                        <a:t>—</a:t>
                      </a:r>
                      <a:endParaRPr lang="en-US" altLang="ko-KR"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512 GB · 800 GB/s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769833107"/>
                  </a:ext>
                </a:extLst>
              </a:tr>
              <a:tr h="186533">
                <a:tc>
                  <a:txBody>
                    <a:bodyPr/>
                    <a:lstStyle/>
                    <a:p>
                      <a:pPr algn="l" fontAlgn="ctr"/>
                      <a:r>
                        <a:rPr lang="en-US" sz="1100" u="none" strike="noStrike">
                          <a:effectLst/>
                        </a:rPr>
                        <a:t>CPU DDR</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1,024 GB · 350 GB/s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1,024 GB · 350 GB/s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123792687"/>
                  </a:ext>
                </a:extLst>
              </a:tr>
              <a:tr h="186533">
                <a:tc>
                  <a:txBody>
                    <a:bodyPr/>
                    <a:lstStyle/>
                    <a:p>
                      <a:pPr algn="l" fontAlgn="ctr"/>
                      <a:r>
                        <a:rPr lang="en-US" sz="1100" u="none" strike="noStrike">
                          <a:effectLst/>
                        </a:rPr>
                        <a:t>NVMe SSD</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16,000 GB · 28 GB/s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16,000 GB · 28 GB/s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136330313"/>
                  </a:ext>
                </a:extLst>
              </a:tr>
              <a:tr h="186533">
                <a:tc>
                  <a:txBody>
                    <a:bodyPr/>
                    <a:lstStyle/>
                    <a:p>
                      <a:pPr algn="l" fontAlgn="ctr"/>
                      <a:r>
                        <a:rPr lang="en-US" sz="1100" u="none" strike="noStrike">
                          <a:effectLst/>
                        </a:rPr>
                        <a:t>PIM-SSD</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altLang="ko-KR" sz="1100" u="none" strike="noStrike">
                          <a:effectLst/>
                        </a:rPr>
                        <a:t>—</a:t>
                      </a:r>
                      <a:endParaRPr lang="en-US" altLang="ko-KR"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16,000 GB · 28 GB/s</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3395153850"/>
                  </a:ext>
                </a:extLst>
              </a:tr>
              <a:tr h="186533">
                <a:tc>
                  <a:txBody>
                    <a:bodyPr/>
                    <a:lstStyle/>
                    <a:p>
                      <a:pPr algn="l" fontAlgn="ctr"/>
                      <a:r>
                        <a:rPr lang="ko-KR" altLang="en-US" sz="1100" u="none" strike="noStrike">
                          <a:effectLst/>
                        </a:rPr>
                        <a:t>가속기측 고대역 용량</a:t>
                      </a:r>
                      <a:endParaRPr lang="ko-KR" alt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640 GB (1.00×)</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832 GB (1.30×)</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528791167"/>
                  </a:ext>
                </a:extLst>
              </a:tr>
              <a:tr h="186533">
                <a:tc>
                  <a:txBody>
                    <a:bodyPr/>
                    <a:lstStyle/>
                    <a:p>
                      <a:pPr algn="l" fontAlgn="ctr"/>
                      <a:r>
                        <a:rPr lang="ko-KR" altLang="en-US" sz="1100" u="none" strike="noStrike">
                          <a:effectLst/>
                        </a:rPr>
                        <a:t>가속기측 고대역 대역폭</a:t>
                      </a:r>
                      <a:endParaRPr lang="ko-KR" alt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26.8 TB/s (1.00×)</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14.2 TB/s (0.53×)</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858513826"/>
                  </a:ext>
                </a:extLst>
              </a:tr>
              <a:tr h="186533">
                <a:tc>
                  <a:txBody>
                    <a:bodyPr/>
                    <a:lstStyle/>
                    <a:p>
                      <a:pPr algn="l" fontAlgn="ctr"/>
                      <a:r>
                        <a:rPr lang="ko-KR" altLang="en-US" sz="1100" u="none" strike="noStrike">
                          <a:effectLst/>
                        </a:rPr>
                        <a:t>총 메모리 용량</a:t>
                      </a:r>
                      <a:endParaRPr lang="ko-KR" alt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17,664 GB (1.00×)</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a:effectLst/>
                        </a:rPr>
                        <a:t>33,856 GB (1.92×)</a:t>
                      </a:r>
                      <a:endParaRPr lang="en-US"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343188178"/>
                  </a:ext>
                </a:extLst>
              </a:tr>
              <a:tr h="186533">
                <a:tc>
                  <a:txBody>
                    <a:bodyPr/>
                    <a:lstStyle/>
                    <a:p>
                      <a:pPr algn="l" fontAlgn="ctr"/>
                      <a:r>
                        <a:rPr lang="ko-KR" altLang="en-US" sz="1100" u="none" strike="noStrike">
                          <a:effectLst/>
                        </a:rPr>
                        <a:t>메모리</a:t>
                      </a:r>
                      <a:r>
                        <a:rPr lang="en-US" altLang="ko-KR" sz="1100" u="none" strike="noStrike">
                          <a:effectLst/>
                        </a:rPr>
                        <a:t>·SSD </a:t>
                      </a:r>
                      <a:r>
                        <a:rPr lang="ko-KR" altLang="en-US" sz="1100" u="none" strike="noStrike">
                          <a:effectLst/>
                        </a:rPr>
                        <a:t>비용 </a:t>
                      </a:r>
                      <a:r>
                        <a:rPr lang="en-US" altLang="ko-KR" sz="1100" u="none" strike="noStrike">
                          <a:effectLst/>
                        </a:rPr>
                        <a:t>(4</a:t>
                      </a:r>
                      <a:r>
                        <a:rPr lang="ko-KR" altLang="en-US" sz="1100" u="none" strike="noStrike">
                          <a:effectLst/>
                        </a:rPr>
                        <a:t>노드</a:t>
                      </a:r>
                      <a:r>
                        <a:rPr lang="en-US" altLang="ko-KR" sz="1100" u="none" strike="noStrike">
                          <a:effectLst/>
                        </a:rPr>
                        <a:t>)</a:t>
                      </a:r>
                      <a:endParaRPr lang="en-US" altLang="ko-KR" sz="1100" b="0" i="0" u="none" strike="noStrike">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dirty="0">
                          <a:effectLst/>
                        </a:rPr>
                        <a:t>$172K (1.00×)</a:t>
                      </a:r>
                      <a:endParaRPr lang="en-US" sz="11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tc>
                  <a:txBody>
                    <a:bodyPr/>
                    <a:lstStyle/>
                    <a:p>
                      <a:pPr algn="l" fontAlgn="ctr"/>
                      <a:r>
                        <a:rPr lang="en-US" sz="1100" u="none" strike="noStrike" dirty="0">
                          <a:effectLst/>
                        </a:rPr>
                        <a:t>$273K (1.58×)</a:t>
                      </a:r>
                      <a:endParaRPr lang="en-US" sz="11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9525" marR="9525" marT="9525" marB="0" anchor="ctr"/>
                </a:tc>
                <a:extLst>
                  <a:ext uri="{0D108BD9-81ED-4DB2-BD59-A6C34878D82A}">
                    <a16:rowId xmlns:a16="http://schemas.microsoft.com/office/drawing/2014/main" val="2865358768"/>
                  </a:ext>
                </a:extLst>
              </a:tr>
            </a:tbl>
          </a:graphicData>
        </a:graphic>
      </p:graphicFrame>
      <p:sp>
        <p:nvSpPr>
          <p:cNvPr id="111" name="TextBox 110">
            <a:extLst>
              <a:ext uri="{FF2B5EF4-FFF2-40B4-BE49-F238E27FC236}">
                <a16:creationId xmlns:a16="http://schemas.microsoft.com/office/drawing/2014/main" id="{F4C607D9-9621-4B90-8469-95D97230EC36}"/>
              </a:ext>
            </a:extLst>
          </p:cNvPr>
          <p:cNvSpPr txBox="1"/>
          <p:nvPr/>
        </p:nvSpPr>
        <p:spPr>
          <a:xfrm>
            <a:off x="7871443" y="5526213"/>
            <a:ext cx="2686050" cy="133350"/>
          </a:xfrm>
          <a:prstGeom prst="rect">
            <a:avLst/>
          </a:prstGeom>
          <a:noFill/>
        </p:spPr>
        <p:txBody>
          <a:bodyPr wrap="square" lIns="0" tIns="0" rIns="0" bIns="0" anchor="ctr">
            <a:spAutoFit/>
          </a:bodyPr>
          <a:lstStyle/>
          <a:p>
            <a:pPr algn="l"/>
            <a:r>
              <a:rPr sz="850" b="1" i="0">
                <a:solidFill>
                  <a:srgbClr val="808080"/>
                </a:solidFill>
                <a:latin typeface="맑은 고딕"/>
                <a:ea typeface="맑은 고딕"/>
              </a:rPr>
              <a:t>계층별  용량  ·  대역폭  (1노드 기준)</a:t>
            </a:r>
          </a:p>
        </p:txBody>
      </p:sp>
      <p:sp>
        <p:nvSpPr>
          <p:cNvPr id="112" name="TextBox 111">
            <a:extLst>
              <a:ext uri="{FF2B5EF4-FFF2-40B4-BE49-F238E27FC236}">
                <a16:creationId xmlns:a16="http://schemas.microsoft.com/office/drawing/2014/main" id="{0395DC68-DD90-48F8-9824-49562FD73D13}"/>
              </a:ext>
            </a:extLst>
          </p:cNvPr>
          <p:cNvSpPr txBox="1"/>
          <p:nvPr/>
        </p:nvSpPr>
        <p:spPr>
          <a:xfrm>
            <a:off x="7871443" y="5688138"/>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113" name="TextBox 112">
            <a:extLst>
              <a:ext uri="{FF2B5EF4-FFF2-40B4-BE49-F238E27FC236}">
                <a16:creationId xmlns:a16="http://schemas.microsoft.com/office/drawing/2014/main" id="{59655A87-15A6-4490-B79A-DDB92B75B2C2}"/>
              </a:ext>
            </a:extLst>
          </p:cNvPr>
          <p:cNvSpPr txBox="1"/>
          <p:nvPr/>
        </p:nvSpPr>
        <p:spPr>
          <a:xfrm>
            <a:off x="9681193" y="568813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26.8 TB/s</a:t>
            </a:r>
          </a:p>
        </p:txBody>
      </p:sp>
      <p:sp>
        <p:nvSpPr>
          <p:cNvPr id="114" name="TextBox 113">
            <a:extLst>
              <a:ext uri="{FF2B5EF4-FFF2-40B4-BE49-F238E27FC236}">
                <a16:creationId xmlns:a16="http://schemas.microsoft.com/office/drawing/2014/main" id="{2B9B5A1D-218A-40D1-8DA6-8261769A247F}"/>
              </a:ext>
            </a:extLst>
          </p:cNvPr>
          <p:cNvSpPr txBox="1"/>
          <p:nvPr/>
        </p:nvSpPr>
        <p:spPr>
          <a:xfrm>
            <a:off x="11598238" y="568813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320 GB  ·  13.4 TB/s</a:t>
            </a:r>
          </a:p>
        </p:txBody>
      </p:sp>
      <p:sp>
        <p:nvSpPr>
          <p:cNvPr id="115" name="TextBox 114">
            <a:extLst>
              <a:ext uri="{FF2B5EF4-FFF2-40B4-BE49-F238E27FC236}">
                <a16:creationId xmlns:a16="http://schemas.microsoft.com/office/drawing/2014/main" id="{8F2C5180-8EEB-4BCC-8A87-D06A6C93EE1C}"/>
              </a:ext>
            </a:extLst>
          </p:cNvPr>
          <p:cNvSpPr txBox="1"/>
          <p:nvPr/>
        </p:nvSpPr>
        <p:spPr>
          <a:xfrm>
            <a:off x="7871443" y="5897688"/>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CXL-PNM (DDR)</a:t>
            </a:r>
          </a:p>
        </p:txBody>
      </p:sp>
      <p:sp>
        <p:nvSpPr>
          <p:cNvPr id="116" name="TextBox 115">
            <a:extLst>
              <a:ext uri="{FF2B5EF4-FFF2-40B4-BE49-F238E27FC236}">
                <a16:creationId xmlns:a16="http://schemas.microsoft.com/office/drawing/2014/main" id="{63B1E831-9AF2-41F3-9DE4-7454F9025A7E}"/>
              </a:ext>
            </a:extLst>
          </p:cNvPr>
          <p:cNvSpPr txBox="1"/>
          <p:nvPr/>
        </p:nvSpPr>
        <p:spPr>
          <a:xfrm>
            <a:off x="9681193" y="589768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117" name="TextBox 116">
            <a:extLst>
              <a:ext uri="{FF2B5EF4-FFF2-40B4-BE49-F238E27FC236}">
                <a16:creationId xmlns:a16="http://schemas.microsoft.com/office/drawing/2014/main" id="{DFAE75B5-F6AF-4478-99A2-5ECC5A8BDC03}"/>
              </a:ext>
            </a:extLst>
          </p:cNvPr>
          <p:cNvSpPr txBox="1"/>
          <p:nvPr/>
        </p:nvSpPr>
        <p:spPr>
          <a:xfrm>
            <a:off x="11598238" y="589768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512 GB  ·  800 GB/s</a:t>
            </a:r>
          </a:p>
        </p:txBody>
      </p:sp>
      <p:sp>
        <p:nvSpPr>
          <p:cNvPr id="118" name="TextBox 117">
            <a:extLst>
              <a:ext uri="{FF2B5EF4-FFF2-40B4-BE49-F238E27FC236}">
                <a16:creationId xmlns:a16="http://schemas.microsoft.com/office/drawing/2014/main" id="{504EBE3F-848B-42D0-B276-3EB070ADC5C8}"/>
              </a:ext>
            </a:extLst>
          </p:cNvPr>
          <p:cNvSpPr txBox="1"/>
          <p:nvPr/>
        </p:nvSpPr>
        <p:spPr>
          <a:xfrm>
            <a:off x="7871443" y="6107238"/>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CPU DDR</a:t>
            </a:r>
          </a:p>
        </p:txBody>
      </p:sp>
      <p:sp>
        <p:nvSpPr>
          <p:cNvPr id="122" name="TextBox 121">
            <a:extLst>
              <a:ext uri="{FF2B5EF4-FFF2-40B4-BE49-F238E27FC236}">
                <a16:creationId xmlns:a16="http://schemas.microsoft.com/office/drawing/2014/main" id="{EB7ED394-D226-41C8-9BA0-399541B9DCE9}"/>
              </a:ext>
            </a:extLst>
          </p:cNvPr>
          <p:cNvSpPr txBox="1"/>
          <p:nvPr/>
        </p:nvSpPr>
        <p:spPr>
          <a:xfrm>
            <a:off x="9681193" y="610723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123" name="TextBox 122">
            <a:extLst>
              <a:ext uri="{FF2B5EF4-FFF2-40B4-BE49-F238E27FC236}">
                <a16:creationId xmlns:a16="http://schemas.microsoft.com/office/drawing/2014/main" id="{132DBE9C-AEFE-4562-818B-8AFCF2F64B76}"/>
              </a:ext>
            </a:extLst>
          </p:cNvPr>
          <p:cNvSpPr txBox="1"/>
          <p:nvPr/>
        </p:nvSpPr>
        <p:spPr>
          <a:xfrm>
            <a:off x="11598238" y="6107238"/>
            <a:ext cx="2381250" cy="209550"/>
          </a:xfrm>
          <a:prstGeom prst="rect">
            <a:avLst/>
          </a:prstGeom>
          <a:noFill/>
        </p:spPr>
        <p:txBody>
          <a:bodyPr wrap="square" lIns="0" tIns="0" rIns="0" bIns="0" anchor="ctr">
            <a:spAutoFit/>
          </a:bodyPr>
          <a:lstStyle/>
          <a:p>
            <a:pPr algn="ctr"/>
            <a:r>
              <a:rPr sz="900" b="0" i="0" dirty="0">
                <a:solidFill>
                  <a:srgbClr val="404040"/>
                </a:solidFill>
                <a:latin typeface="맑은 고딕"/>
                <a:ea typeface="맑은 고딕"/>
              </a:rPr>
              <a:t>1,024 GB  ·  350 GB/s</a:t>
            </a:r>
          </a:p>
        </p:txBody>
      </p:sp>
      <p:sp>
        <p:nvSpPr>
          <p:cNvPr id="124" name="TextBox 123">
            <a:extLst>
              <a:ext uri="{FF2B5EF4-FFF2-40B4-BE49-F238E27FC236}">
                <a16:creationId xmlns:a16="http://schemas.microsoft.com/office/drawing/2014/main" id="{75DC2D3E-D9BC-451C-BD45-FDCE27460DE5}"/>
              </a:ext>
            </a:extLst>
          </p:cNvPr>
          <p:cNvSpPr txBox="1"/>
          <p:nvPr/>
        </p:nvSpPr>
        <p:spPr>
          <a:xfrm>
            <a:off x="7871443" y="6316788"/>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NVMe SSD</a:t>
            </a:r>
          </a:p>
        </p:txBody>
      </p:sp>
      <p:sp>
        <p:nvSpPr>
          <p:cNvPr id="125" name="TextBox 124">
            <a:extLst>
              <a:ext uri="{FF2B5EF4-FFF2-40B4-BE49-F238E27FC236}">
                <a16:creationId xmlns:a16="http://schemas.microsoft.com/office/drawing/2014/main" id="{D658832E-BEFB-42E0-AAC7-482C70061065}"/>
              </a:ext>
            </a:extLst>
          </p:cNvPr>
          <p:cNvSpPr txBox="1"/>
          <p:nvPr/>
        </p:nvSpPr>
        <p:spPr>
          <a:xfrm>
            <a:off x="9681193" y="631678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126" name="TextBox 125">
            <a:extLst>
              <a:ext uri="{FF2B5EF4-FFF2-40B4-BE49-F238E27FC236}">
                <a16:creationId xmlns:a16="http://schemas.microsoft.com/office/drawing/2014/main" id="{09693357-3B6D-421D-B17B-19A48C5C1745}"/>
              </a:ext>
            </a:extLst>
          </p:cNvPr>
          <p:cNvSpPr txBox="1"/>
          <p:nvPr/>
        </p:nvSpPr>
        <p:spPr>
          <a:xfrm>
            <a:off x="11598238" y="631678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127" name="TextBox 126">
            <a:extLst>
              <a:ext uri="{FF2B5EF4-FFF2-40B4-BE49-F238E27FC236}">
                <a16:creationId xmlns:a16="http://schemas.microsoft.com/office/drawing/2014/main" id="{4D52CF54-B815-4859-B04C-074C53360907}"/>
              </a:ext>
            </a:extLst>
          </p:cNvPr>
          <p:cNvSpPr txBox="1"/>
          <p:nvPr/>
        </p:nvSpPr>
        <p:spPr>
          <a:xfrm>
            <a:off x="7871443" y="6526338"/>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PIM-SSD</a:t>
            </a:r>
          </a:p>
        </p:txBody>
      </p:sp>
      <p:sp>
        <p:nvSpPr>
          <p:cNvPr id="128" name="TextBox 127">
            <a:extLst>
              <a:ext uri="{FF2B5EF4-FFF2-40B4-BE49-F238E27FC236}">
                <a16:creationId xmlns:a16="http://schemas.microsoft.com/office/drawing/2014/main" id="{4ED0A588-EE81-4E2F-8F07-6B813DC28872}"/>
              </a:ext>
            </a:extLst>
          </p:cNvPr>
          <p:cNvSpPr txBox="1"/>
          <p:nvPr/>
        </p:nvSpPr>
        <p:spPr>
          <a:xfrm>
            <a:off x="9681193" y="652633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129" name="TextBox 128">
            <a:extLst>
              <a:ext uri="{FF2B5EF4-FFF2-40B4-BE49-F238E27FC236}">
                <a16:creationId xmlns:a16="http://schemas.microsoft.com/office/drawing/2014/main" id="{17E74574-713F-4AEA-B098-1C3482AD4927}"/>
              </a:ext>
            </a:extLst>
          </p:cNvPr>
          <p:cNvSpPr txBox="1"/>
          <p:nvPr/>
        </p:nvSpPr>
        <p:spPr>
          <a:xfrm>
            <a:off x="11598238" y="6526338"/>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130" name="TextBox 129">
            <a:extLst>
              <a:ext uri="{FF2B5EF4-FFF2-40B4-BE49-F238E27FC236}">
                <a16:creationId xmlns:a16="http://schemas.microsoft.com/office/drawing/2014/main" id="{96E44F81-A9DD-4AD5-A181-FD9103D1F263}"/>
              </a:ext>
            </a:extLst>
          </p:cNvPr>
          <p:cNvSpPr txBox="1"/>
          <p:nvPr/>
        </p:nvSpPr>
        <p:spPr>
          <a:xfrm>
            <a:off x="7947643" y="6773988"/>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가속기측</a:t>
            </a:r>
            <a:r>
              <a:rPr sz="950" b="1" i="0" dirty="0">
                <a:solidFill>
                  <a:srgbClr val="262626"/>
                </a:solidFill>
                <a:latin typeface="맑은 고딕"/>
                <a:ea typeface="맑은 고딕"/>
              </a:rPr>
              <a:t> </a:t>
            </a:r>
            <a:r>
              <a:rPr sz="950" b="1" i="0" dirty="0" err="1">
                <a:solidFill>
                  <a:srgbClr val="262626"/>
                </a:solidFill>
                <a:latin typeface="맑은 고딕"/>
                <a:ea typeface="맑은 고딕"/>
              </a:rPr>
              <a:t>고대역</a:t>
            </a:r>
            <a:r>
              <a:rPr sz="950" b="1" i="0" dirty="0">
                <a:solidFill>
                  <a:srgbClr val="262626"/>
                </a:solidFill>
                <a:latin typeface="맑은 고딕"/>
                <a:ea typeface="맑은 고딕"/>
              </a:rPr>
              <a:t> </a:t>
            </a:r>
            <a:r>
              <a:rPr sz="950" b="1" i="0" dirty="0" err="1">
                <a:solidFill>
                  <a:srgbClr val="262626"/>
                </a:solidFill>
                <a:latin typeface="맑은 고딕"/>
                <a:ea typeface="맑은 고딕"/>
              </a:rPr>
              <a:t>용량</a:t>
            </a:r>
            <a:endParaRPr sz="950" b="1" i="0" dirty="0">
              <a:solidFill>
                <a:srgbClr val="262626"/>
              </a:solidFill>
              <a:latin typeface="맑은 고딕"/>
              <a:ea typeface="맑은 고딕"/>
            </a:endParaRPr>
          </a:p>
        </p:txBody>
      </p:sp>
      <p:sp>
        <p:nvSpPr>
          <p:cNvPr id="131" name="TextBox 130">
            <a:extLst>
              <a:ext uri="{FF2B5EF4-FFF2-40B4-BE49-F238E27FC236}">
                <a16:creationId xmlns:a16="http://schemas.microsoft.com/office/drawing/2014/main" id="{93C73AAA-B773-4072-917C-64BDD45FBAFF}"/>
              </a:ext>
            </a:extLst>
          </p:cNvPr>
          <p:cNvSpPr txBox="1"/>
          <p:nvPr/>
        </p:nvSpPr>
        <p:spPr>
          <a:xfrm>
            <a:off x="9681193" y="677398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640 GB  (1.00×)</a:t>
            </a:r>
          </a:p>
        </p:txBody>
      </p:sp>
      <p:sp>
        <p:nvSpPr>
          <p:cNvPr id="132" name="TextBox 131">
            <a:extLst>
              <a:ext uri="{FF2B5EF4-FFF2-40B4-BE49-F238E27FC236}">
                <a16:creationId xmlns:a16="http://schemas.microsoft.com/office/drawing/2014/main" id="{910B9F8B-D412-4280-B1FC-6B4BBC71FCEA}"/>
              </a:ext>
            </a:extLst>
          </p:cNvPr>
          <p:cNvSpPr txBox="1"/>
          <p:nvPr/>
        </p:nvSpPr>
        <p:spPr>
          <a:xfrm>
            <a:off x="11598238" y="677398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832 GB  (1.30×)</a:t>
            </a:r>
          </a:p>
        </p:txBody>
      </p:sp>
      <p:sp>
        <p:nvSpPr>
          <p:cNvPr id="133" name="TextBox 132">
            <a:extLst>
              <a:ext uri="{FF2B5EF4-FFF2-40B4-BE49-F238E27FC236}">
                <a16:creationId xmlns:a16="http://schemas.microsoft.com/office/drawing/2014/main" id="{68924AAB-C1A6-4002-AD81-0AAA298B95E5}"/>
              </a:ext>
            </a:extLst>
          </p:cNvPr>
          <p:cNvSpPr txBox="1"/>
          <p:nvPr/>
        </p:nvSpPr>
        <p:spPr>
          <a:xfrm>
            <a:off x="7947643" y="6983538"/>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가속기측</a:t>
            </a:r>
            <a:r>
              <a:rPr sz="950" b="1" i="0" dirty="0">
                <a:solidFill>
                  <a:srgbClr val="262626"/>
                </a:solidFill>
                <a:latin typeface="맑은 고딕"/>
                <a:ea typeface="맑은 고딕"/>
              </a:rPr>
              <a:t> </a:t>
            </a:r>
            <a:r>
              <a:rPr sz="950" b="1" i="0" dirty="0" err="1">
                <a:solidFill>
                  <a:srgbClr val="262626"/>
                </a:solidFill>
                <a:latin typeface="맑은 고딕"/>
                <a:ea typeface="맑은 고딕"/>
              </a:rPr>
              <a:t>고대역</a:t>
            </a:r>
            <a:r>
              <a:rPr sz="950" b="1" i="0" dirty="0">
                <a:solidFill>
                  <a:srgbClr val="262626"/>
                </a:solidFill>
                <a:latin typeface="맑은 고딕"/>
                <a:ea typeface="맑은 고딕"/>
              </a:rPr>
              <a:t> </a:t>
            </a:r>
            <a:r>
              <a:rPr sz="950" b="1" i="0" dirty="0" err="1">
                <a:solidFill>
                  <a:srgbClr val="262626"/>
                </a:solidFill>
                <a:latin typeface="맑은 고딕"/>
                <a:ea typeface="맑은 고딕"/>
              </a:rPr>
              <a:t>대역폭</a:t>
            </a:r>
            <a:endParaRPr sz="950" b="1" i="0" dirty="0">
              <a:solidFill>
                <a:srgbClr val="262626"/>
              </a:solidFill>
              <a:latin typeface="맑은 고딕"/>
              <a:ea typeface="맑은 고딕"/>
            </a:endParaRPr>
          </a:p>
        </p:txBody>
      </p:sp>
      <p:sp>
        <p:nvSpPr>
          <p:cNvPr id="134" name="TextBox 133">
            <a:extLst>
              <a:ext uri="{FF2B5EF4-FFF2-40B4-BE49-F238E27FC236}">
                <a16:creationId xmlns:a16="http://schemas.microsoft.com/office/drawing/2014/main" id="{EBAA53C8-E675-471A-B0E6-4017F6F0EBEA}"/>
              </a:ext>
            </a:extLst>
          </p:cNvPr>
          <p:cNvSpPr txBox="1"/>
          <p:nvPr/>
        </p:nvSpPr>
        <p:spPr>
          <a:xfrm>
            <a:off x="9681193" y="698353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26.8 TB/s  (1.00×)</a:t>
            </a:r>
          </a:p>
        </p:txBody>
      </p:sp>
      <p:sp>
        <p:nvSpPr>
          <p:cNvPr id="135" name="TextBox 134">
            <a:extLst>
              <a:ext uri="{FF2B5EF4-FFF2-40B4-BE49-F238E27FC236}">
                <a16:creationId xmlns:a16="http://schemas.microsoft.com/office/drawing/2014/main" id="{F47C0447-6B0D-46A1-A410-B1EF15967AAF}"/>
              </a:ext>
            </a:extLst>
          </p:cNvPr>
          <p:cNvSpPr txBox="1"/>
          <p:nvPr/>
        </p:nvSpPr>
        <p:spPr>
          <a:xfrm>
            <a:off x="11598238" y="698353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14.2 TB/s  (0.53×)</a:t>
            </a:r>
          </a:p>
        </p:txBody>
      </p:sp>
      <p:sp>
        <p:nvSpPr>
          <p:cNvPr id="136" name="TextBox 135">
            <a:extLst>
              <a:ext uri="{FF2B5EF4-FFF2-40B4-BE49-F238E27FC236}">
                <a16:creationId xmlns:a16="http://schemas.microsoft.com/office/drawing/2014/main" id="{E2D00A63-4EA0-40BF-849C-48EB10C48172}"/>
              </a:ext>
            </a:extLst>
          </p:cNvPr>
          <p:cNvSpPr txBox="1"/>
          <p:nvPr/>
        </p:nvSpPr>
        <p:spPr>
          <a:xfrm>
            <a:off x="7947643" y="7193088"/>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총 메모리 용량</a:t>
            </a:r>
          </a:p>
        </p:txBody>
      </p:sp>
      <p:sp>
        <p:nvSpPr>
          <p:cNvPr id="137" name="TextBox 136">
            <a:extLst>
              <a:ext uri="{FF2B5EF4-FFF2-40B4-BE49-F238E27FC236}">
                <a16:creationId xmlns:a16="http://schemas.microsoft.com/office/drawing/2014/main" id="{2E9CA7E3-705D-4B5A-B09F-21901D0E6676}"/>
              </a:ext>
            </a:extLst>
          </p:cNvPr>
          <p:cNvSpPr txBox="1"/>
          <p:nvPr/>
        </p:nvSpPr>
        <p:spPr>
          <a:xfrm>
            <a:off x="9681193" y="719308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17,664 GB  (1.00×)</a:t>
            </a:r>
          </a:p>
        </p:txBody>
      </p:sp>
      <p:sp>
        <p:nvSpPr>
          <p:cNvPr id="138" name="TextBox 137">
            <a:extLst>
              <a:ext uri="{FF2B5EF4-FFF2-40B4-BE49-F238E27FC236}">
                <a16:creationId xmlns:a16="http://schemas.microsoft.com/office/drawing/2014/main" id="{894F3CA2-467A-4A0C-8FF5-1AA369F7FD3D}"/>
              </a:ext>
            </a:extLst>
          </p:cNvPr>
          <p:cNvSpPr txBox="1"/>
          <p:nvPr/>
        </p:nvSpPr>
        <p:spPr>
          <a:xfrm>
            <a:off x="11598238" y="7193088"/>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33,856 GB  (1.92×)</a:t>
            </a:r>
          </a:p>
        </p:txBody>
      </p:sp>
      <p:sp>
        <p:nvSpPr>
          <p:cNvPr id="139" name="TextBox 138">
            <a:extLst>
              <a:ext uri="{FF2B5EF4-FFF2-40B4-BE49-F238E27FC236}">
                <a16:creationId xmlns:a16="http://schemas.microsoft.com/office/drawing/2014/main" id="{F8B65699-19C4-49FF-AE81-E2A39D3CBF7E}"/>
              </a:ext>
            </a:extLst>
          </p:cNvPr>
          <p:cNvSpPr txBox="1"/>
          <p:nvPr/>
        </p:nvSpPr>
        <p:spPr>
          <a:xfrm>
            <a:off x="7947643" y="7821738"/>
            <a:ext cx="1657350" cy="209550"/>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총 비용 (4노드)</a:t>
            </a:r>
          </a:p>
        </p:txBody>
      </p:sp>
      <p:sp>
        <p:nvSpPr>
          <p:cNvPr id="140" name="TextBox 139">
            <a:extLst>
              <a:ext uri="{FF2B5EF4-FFF2-40B4-BE49-F238E27FC236}">
                <a16:creationId xmlns:a16="http://schemas.microsoft.com/office/drawing/2014/main" id="{94BCCDFA-5784-449C-BED2-08A5DE2E1BAA}"/>
              </a:ext>
            </a:extLst>
          </p:cNvPr>
          <p:cNvSpPr txBox="1"/>
          <p:nvPr/>
        </p:nvSpPr>
        <p:spPr>
          <a:xfrm>
            <a:off x="9681193" y="7821738"/>
            <a:ext cx="2381250"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$1,132K  (1.00×)</a:t>
            </a:r>
          </a:p>
        </p:txBody>
      </p:sp>
      <p:sp>
        <p:nvSpPr>
          <p:cNvPr id="141" name="TextBox 140">
            <a:extLst>
              <a:ext uri="{FF2B5EF4-FFF2-40B4-BE49-F238E27FC236}">
                <a16:creationId xmlns:a16="http://schemas.microsoft.com/office/drawing/2014/main" id="{99D5042F-4A8D-465E-BDDC-9593C86050A7}"/>
              </a:ext>
            </a:extLst>
          </p:cNvPr>
          <p:cNvSpPr txBox="1"/>
          <p:nvPr/>
        </p:nvSpPr>
        <p:spPr>
          <a:xfrm>
            <a:off x="11598238" y="7821738"/>
            <a:ext cx="2381250"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$777K  (0.69×)</a:t>
            </a:r>
          </a:p>
        </p:txBody>
      </p:sp>
      <p:sp>
        <p:nvSpPr>
          <p:cNvPr id="142" name="TextBox NL1">
            <a:extLst>
              <a:ext uri="{FF2B5EF4-FFF2-40B4-BE49-F238E27FC236}">
                <a16:creationId xmlns:a16="http://schemas.microsoft.com/office/drawing/2014/main" id="{99D78BB8-4A18-4FE9-A118-E55DC99A5A0E}"/>
              </a:ext>
            </a:extLst>
          </p:cNvPr>
          <p:cNvSpPr txBox="1"/>
          <p:nvPr/>
        </p:nvSpPr>
        <p:spPr>
          <a:xfrm>
            <a:off x="7947643" y="7402638"/>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메모리·SSD 비용 (4노드)</a:t>
            </a:r>
          </a:p>
        </p:txBody>
      </p:sp>
      <p:sp>
        <p:nvSpPr>
          <p:cNvPr id="143" name="TextBox NB1">
            <a:extLst>
              <a:ext uri="{FF2B5EF4-FFF2-40B4-BE49-F238E27FC236}">
                <a16:creationId xmlns:a16="http://schemas.microsoft.com/office/drawing/2014/main" id="{26CBD681-4A79-4F6F-9DB7-924828F474BE}"/>
              </a:ext>
            </a:extLst>
          </p:cNvPr>
          <p:cNvSpPr txBox="1"/>
          <p:nvPr/>
        </p:nvSpPr>
        <p:spPr>
          <a:xfrm>
            <a:off x="9681193" y="740263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$172K  (1.00×)</a:t>
            </a:r>
          </a:p>
        </p:txBody>
      </p:sp>
      <p:sp>
        <p:nvSpPr>
          <p:cNvPr id="144" name="TextBox NT1">
            <a:extLst>
              <a:ext uri="{FF2B5EF4-FFF2-40B4-BE49-F238E27FC236}">
                <a16:creationId xmlns:a16="http://schemas.microsoft.com/office/drawing/2014/main" id="{20F63654-B2B6-41CA-BEA8-EF879BF223D1}"/>
              </a:ext>
            </a:extLst>
          </p:cNvPr>
          <p:cNvSpPr txBox="1"/>
          <p:nvPr/>
        </p:nvSpPr>
        <p:spPr>
          <a:xfrm>
            <a:off x="11598238" y="7402638"/>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$273K  (1.58×)</a:t>
            </a:r>
          </a:p>
        </p:txBody>
      </p:sp>
      <p:sp>
        <p:nvSpPr>
          <p:cNvPr id="145" name="TextBox NL2">
            <a:extLst>
              <a:ext uri="{FF2B5EF4-FFF2-40B4-BE49-F238E27FC236}">
                <a16:creationId xmlns:a16="http://schemas.microsoft.com/office/drawing/2014/main" id="{7B0653B4-37CB-461D-9984-726A723459B8}"/>
              </a:ext>
            </a:extLst>
          </p:cNvPr>
          <p:cNvSpPr txBox="1"/>
          <p:nvPr/>
        </p:nvSpPr>
        <p:spPr>
          <a:xfrm>
            <a:off x="7947643" y="7612188"/>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카드 비용 (4노드)</a:t>
            </a:r>
          </a:p>
        </p:txBody>
      </p:sp>
      <p:sp>
        <p:nvSpPr>
          <p:cNvPr id="146" name="TextBox NB2">
            <a:extLst>
              <a:ext uri="{FF2B5EF4-FFF2-40B4-BE49-F238E27FC236}">
                <a16:creationId xmlns:a16="http://schemas.microsoft.com/office/drawing/2014/main" id="{014965DF-A1BE-4974-9EF4-B56108F19418}"/>
              </a:ext>
            </a:extLst>
          </p:cNvPr>
          <p:cNvSpPr txBox="1"/>
          <p:nvPr/>
        </p:nvSpPr>
        <p:spPr>
          <a:xfrm>
            <a:off x="9681193" y="761218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$960K  (1.00×)</a:t>
            </a:r>
          </a:p>
        </p:txBody>
      </p:sp>
      <p:sp>
        <p:nvSpPr>
          <p:cNvPr id="147" name="TextBox NT2">
            <a:extLst>
              <a:ext uri="{FF2B5EF4-FFF2-40B4-BE49-F238E27FC236}">
                <a16:creationId xmlns:a16="http://schemas.microsoft.com/office/drawing/2014/main" id="{347CFE73-AC48-4023-ADD7-A6EF9BE5BD91}"/>
              </a:ext>
            </a:extLst>
          </p:cNvPr>
          <p:cNvSpPr txBox="1"/>
          <p:nvPr/>
        </p:nvSpPr>
        <p:spPr>
          <a:xfrm>
            <a:off x="11598238" y="7612188"/>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$504K  (0.53×)</a:t>
            </a:r>
          </a:p>
        </p:txBody>
      </p:sp>
    </p:spTree>
    <p:extLst>
      <p:ext uri="{BB962C8B-B14F-4D97-AF65-F5344CB8AC3E}">
        <p14:creationId xmlns:p14="http://schemas.microsoft.com/office/powerpoint/2010/main" val="477978369"/>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sp>
        <p:nvSpPr>
          <p:cNvPr id="119" name="Rectangle 3"/>
          <p:cNvSpPr/>
          <p:nvPr/>
        </p:nvSpPr>
        <p:spPr>
          <a:xfrm>
            <a:off x="365760" y="694944"/>
            <a:ext cx="11521440" cy="18288"/>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1" name="Rectangle 5"/>
          <p:cNvSpPr/>
          <p:nvPr/>
        </p:nvSpPr>
        <p:spPr>
          <a:xfrm>
            <a:off x="2468880" y="804672"/>
            <a:ext cx="3054096"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Baseline  —  GPU × 8</a:t>
            </a:r>
          </a:p>
        </p:txBody>
      </p:sp>
      <p:sp>
        <p:nvSpPr>
          <p:cNvPr id="236" name="Rectangle 6"/>
          <p:cNvSpPr/>
          <p:nvPr/>
        </p:nvSpPr>
        <p:spPr>
          <a:xfrm>
            <a:off x="5650992" y="804672"/>
            <a:ext cx="3054096"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Target 1  —  GPU × 4  +  CXL-PNM × 4</a:t>
            </a:r>
          </a:p>
        </p:txBody>
      </p:sp>
      <p:sp>
        <p:nvSpPr>
          <p:cNvPr id="237" name="Rectangle 7"/>
          <p:cNvSpPr/>
          <p:nvPr/>
        </p:nvSpPr>
        <p:spPr>
          <a:xfrm>
            <a:off x="8833104" y="804672"/>
            <a:ext cx="3054096"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Target 2  —  Target 1 + HBM 절반을 HBF로</a:t>
            </a:r>
          </a:p>
        </p:txBody>
      </p:sp>
      <p:sp>
        <p:nvSpPr>
          <p:cNvPr id="242" name="Rectangle 12"/>
          <p:cNvSpPr/>
          <p:nvPr/>
        </p:nvSpPr>
        <p:spPr>
          <a:xfrm>
            <a:off x="2468880" y="1133856"/>
            <a:ext cx="3054096" cy="224942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3" name="Rectangle 13"/>
          <p:cNvSpPr/>
          <p:nvPr/>
        </p:nvSpPr>
        <p:spPr>
          <a:xfrm>
            <a:off x="2560320"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44" name="Rectangle 14"/>
          <p:cNvSpPr/>
          <p:nvPr/>
        </p:nvSpPr>
        <p:spPr>
          <a:xfrm>
            <a:off x="2560320"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5" name="Rectangle 15"/>
          <p:cNvSpPr/>
          <p:nvPr/>
        </p:nvSpPr>
        <p:spPr>
          <a:xfrm>
            <a:off x="3284982"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46" name="Rectangle 16"/>
          <p:cNvSpPr/>
          <p:nvPr/>
        </p:nvSpPr>
        <p:spPr>
          <a:xfrm>
            <a:off x="3284982"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7" name="Rectangle 17"/>
          <p:cNvSpPr/>
          <p:nvPr/>
        </p:nvSpPr>
        <p:spPr>
          <a:xfrm>
            <a:off x="4009644"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48" name="Rectangle 18"/>
          <p:cNvSpPr/>
          <p:nvPr/>
        </p:nvSpPr>
        <p:spPr>
          <a:xfrm>
            <a:off x="4009644"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9" name="Rectangle 19"/>
          <p:cNvSpPr/>
          <p:nvPr/>
        </p:nvSpPr>
        <p:spPr>
          <a:xfrm>
            <a:off x="4734306"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50" name="Rectangle 20"/>
          <p:cNvSpPr/>
          <p:nvPr/>
        </p:nvSpPr>
        <p:spPr>
          <a:xfrm>
            <a:off x="4734306"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1" name="Rectangle 21"/>
          <p:cNvSpPr/>
          <p:nvPr/>
        </p:nvSpPr>
        <p:spPr>
          <a:xfrm>
            <a:off x="2560320"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 cores · DDR 512GB</a:t>
            </a:r>
          </a:p>
        </p:txBody>
      </p:sp>
      <p:sp>
        <p:nvSpPr>
          <p:cNvPr id="252" name="Rectangle 22"/>
          <p:cNvSpPr/>
          <p:nvPr/>
        </p:nvSpPr>
        <p:spPr>
          <a:xfrm>
            <a:off x="4009644"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 cores · DDR 512GB</a:t>
            </a:r>
          </a:p>
        </p:txBody>
      </p:sp>
      <p:sp>
        <p:nvSpPr>
          <p:cNvPr id="253" name="Rectangle 23"/>
          <p:cNvSpPr/>
          <p:nvPr/>
        </p:nvSpPr>
        <p:spPr>
          <a:xfrm>
            <a:off x="2560320"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254" name="Rectangle 24"/>
          <p:cNvSpPr/>
          <p:nvPr/>
        </p:nvSpPr>
        <p:spPr>
          <a:xfrm>
            <a:off x="2560320"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5" name="Rectangle 25"/>
          <p:cNvSpPr/>
          <p:nvPr/>
        </p:nvSpPr>
        <p:spPr>
          <a:xfrm>
            <a:off x="3284982"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256" name="Rectangle 26"/>
          <p:cNvSpPr/>
          <p:nvPr/>
        </p:nvSpPr>
        <p:spPr>
          <a:xfrm>
            <a:off x="3284982"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7" name="Rectangle 27"/>
          <p:cNvSpPr/>
          <p:nvPr/>
        </p:nvSpPr>
        <p:spPr>
          <a:xfrm>
            <a:off x="4009644"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GPU6</a:t>
            </a:r>
          </a:p>
        </p:txBody>
      </p:sp>
      <p:sp>
        <p:nvSpPr>
          <p:cNvPr id="258" name="Rectangle 28"/>
          <p:cNvSpPr/>
          <p:nvPr/>
        </p:nvSpPr>
        <p:spPr>
          <a:xfrm>
            <a:off x="4009644"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9" name="Rectangle 29"/>
          <p:cNvSpPr/>
          <p:nvPr/>
        </p:nvSpPr>
        <p:spPr>
          <a:xfrm>
            <a:off x="4734306"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GPU7</a:t>
            </a:r>
          </a:p>
        </p:txBody>
      </p:sp>
      <p:sp>
        <p:nvSpPr>
          <p:cNvPr id="260" name="Rectangle 30"/>
          <p:cNvSpPr/>
          <p:nvPr/>
        </p:nvSpPr>
        <p:spPr>
          <a:xfrm>
            <a:off x="4734306"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1" name="Rectangle 31"/>
          <p:cNvSpPr/>
          <p:nvPr/>
        </p:nvSpPr>
        <p:spPr>
          <a:xfrm>
            <a:off x="2560320" y="3035808"/>
            <a:ext cx="2871215"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62" name="Rectangle 32"/>
          <p:cNvSpPr/>
          <p:nvPr/>
        </p:nvSpPr>
        <p:spPr>
          <a:xfrm>
            <a:off x="5650992" y="1133856"/>
            <a:ext cx="3054096" cy="224942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3" name="Rectangle 33"/>
          <p:cNvSpPr/>
          <p:nvPr/>
        </p:nvSpPr>
        <p:spPr>
          <a:xfrm>
            <a:off x="5742431"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64" name="Rectangle 34"/>
          <p:cNvSpPr/>
          <p:nvPr/>
        </p:nvSpPr>
        <p:spPr>
          <a:xfrm>
            <a:off x="5742431"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5" name="Rectangle 35"/>
          <p:cNvSpPr/>
          <p:nvPr/>
        </p:nvSpPr>
        <p:spPr>
          <a:xfrm>
            <a:off x="6467094"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66" name="Rectangle 36"/>
          <p:cNvSpPr/>
          <p:nvPr/>
        </p:nvSpPr>
        <p:spPr>
          <a:xfrm>
            <a:off x="6467094"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7" name="Rectangle 37"/>
          <p:cNvSpPr/>
          <p:nvPr/>
        </p:nvSpPr>
        <p:spPr>
          <a:xfrm>
            <a:off x="7191755"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68" name="Rectangle 38"/>
          <p:cNvSpPr/>
          <p:nvPr/>
        </p:nvSpPr>
        <p:spPr>
          <a:xfrm>
            <a:off x="7191755"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9" name="Rectangle 39"/>
          <p:cNvSpPr/>
          <p:nvPr/>
        </p:nvSpPr>
        <p:spPr>
          <a:xfrm>
            <a:off x="7916417"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70" name="Rectangle 40"/>
          <p:cNvSpPr/>
          <p:nvPr/>
        </p:nvSpPr>
        <p:spPr>
          <a:xfrm>
            <a:off x="7916417"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71" name="Rectangle 41"/>
          <p:cNvSpPr/>
          <p:nvPr/>
        </p:nvSpPr>
        <p:spPr>
          <a:xfrm>
            <a:off x="5742431"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 cores · DDR 512GB</a:t>
            </a:r>
          </a:p>
        </p:txBody>
      </p:sp>
      <p:sp>
        <p:nvSpPr>
          <p:cNvPr id="272" name="Rectangle 42"/>
          <p:cNvSpPr/>
          <p:nvPr/>
        </p:nvSpPr>
        <p:spPr>
          <a:xfrm>
            <a:off x="7191755"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 cores · DDR 512GB</a:t>
            </a:r>
          </a:p>
        </p:txBody>
      </p:sp>
      <p:sp>
        <p:nvSpPr>
          <p:cNvPr id="273" name="Rectangle 43"/>
          <p:cNvSpPr/>
          <p:nvPr/>
        </p:nvSpPr>
        <p:spPr>
          <a:xfrm>
            <a:off x="5742431"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CXL-PNM0</a:t>
            </a:r>
          </a:p>
        </p:txBody>
      </p:sp>
      <p:sp>
        <p:nvSpPr>
          <p:cNvPr id="274" name="Rectangle 44"/>
          <p:cNvSpPr/>
          <p:nvPr/>
        </p:nvSpPr>
        <p:spPr>
          <a:xfrm>
            <a:off x="5742431"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5" name="Rectangle 45"/>
          <p:cNvSpPr/>
          <p:nvPr/>
        </p:nvSpPr>
        <p:spPr>
          <a:xfrm>
            <a:off x="6467094"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CXL-PNM1</a:t>
            </a:r>
          </a:p>
        </p:txBody>
      </p:sp>
      <p:sp>
        <p:nvSpPr>
          <p:cNvPr id="276" name="Rectangle 46"/>
          <p:cNvSpPr/>
          <p:nvPr/>
        </p:nvSpPr>
        <p:spPr>
          <a:xfrm>
            <a:off x="6467094"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7" name="Rectangle 47"/>
          <p:cNvSpPr/>
          <p:nvPr/>
        </p:nvSpPr>
        <p:spPr>
          <a:xfrm>
            <a:off x="7191755"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CXL-PNM2</a:t>
            </a:r>
          </a:p>
        </p:txBody>
      </p:sp>
      <p:sp>
        <p:nvSpPr>
          <p:cNvPr id="278" name="Rectangle 48"/>
          <p:cNvSpPr/>
          <p:nvPr/>
        </p:nvSpPr>
        <p:spPr>
          <a:xfrm>
            <a:off x="7191755"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9" name="Rectangle 49"/>
          <p:cNvSpPr/>
          <p:nvPr/>
        </p:nvSpPr>
        <p:spPr>
          <a:xfrm>
            <a:off x="7916417"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CXL-PNM3</a:t>
            </a:r>
          </a:p>
        </p:txBody>
      </p:sp>
      <p:sp>
        <p:nvSpPr>
          <p:cNvPr id="280" name="Rectangle 50"/>
          <p:cNvSpPr/>
          <p:nvPr/>
        </p:nvSpPr>
        <p:spPr>
          <a:xfrm>
            <a:off x="7916417"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81" name="Rectangle 51"/>
          <p:cNvSpPr/>
          <p:nvPr/>
        </p:nvSpPr>
        <p:spPr>
          <a:xfrm>
            <a:off x="5742431" y="3035808"/>
            <a:ext cx="1421892"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82" name="Rectangle 52"/>
          <p:cNvSpPr/>
          <p:nvPr/>
        </p:nvSpPr>
        <p:spPr>
          <a:xfrm>
            <a:off x="7191755" y="3035808"/>
            <a:ext cx="1421892" cy="274320"/>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375623"/>
                </a:solidFill>
                <a:latin typeface="맑은 고딕"/>
                <a:ea typeface="맑은 고딕"/>
              </a:rPr>
              <a:t>PIM-SSD  16TB</a:t>
            </a:r>
          </a:p>
        </p:txBody>
      </p:sp>
      <p:sp>
        <p:nvSpPr>
          <p:cNvPr id="283" name="Rectangle 53"/>
          <p:cNvSpPr/>
          <p:nvPr/>
        </p:nvSpPr>
        <p:spPr>
          <a:xfrm>
            <a:off x="8833104" y="1133856"/>
            <a:ext cx="3054096" cy="224942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84" name="Rectangle 54"/>
          <p:cNvSpPr/>
          <p:nvPr/>
        </p:nvSpPr>
        <p:spPr>
          <a:xfrm>
            <a:off x="8924544"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85" name="Rectangle 55"/>
          <p:cNvSpPr/>
          <p:nvPr/>
        </p:nvSpPr>
        <p:spPr>
          <a:xfrm>
            <a:off x="8924544"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86" name="Rectangle 56"/>
          <p:cNvSpPr/>
          <p:nvPr/>
        </p:nvSpPr>
        <p:spPr>
          <a:xfrm>
            <a:off x="8924544"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87" name="Rectangle 57"/>
          <p:cNvSpPr/>
          <p:nvPr/>
        </p:nvSpPr>
        <p:spPr>
          <a:xfrm>
            <a:off x="9649206"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88" name="Rectangle 58"/>
          <p:cNvSpPr/>
          <p:nvPr/>
        </p:nvSpPr>
        <p:spPr>
          <a:xfrm>
            <a:off x="9649206"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89" name="Rectangle 59"/>
          <p:cNvSpPr/>
          <p:nvPr/>
        </p:nvSpPr>
        <p:spPr>
          <a:xfrm>
            <a:off x="9649206"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90" name="Rectangle 60"/>
          <p:cNvSpPr/>
          <p:nvPr/>
        </p:nvSpPr>
        <p:spPr>
          <a:xfrm>
            <a:off x="10373867"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91" name="Rectangle 61"/>
          <p:cNvSpPr/>
          <p:nvPr/>
        </p:nvSpPr>
        <p:spPr>
          <a:xfrm>
            <a:off x="10373867"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92" name="Rectangle 62"/>
          <p:cNvSpPr/>
          <p:nvPr/>
        </p:nvSpPr>
        <p:spPr>
          <a:xfrm>
            <a:off x="10373867"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93" name="Rectangle 63"/>
          <p:cNvSpPr/>
          <p:nvPr/>
        </p:nvSpPr>
        <p:spPr>
          <a:xfrm>
            <a:off x="11098530"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94" name="Rectangle 64"/>
          <p:cNvSpPr/>
          <p:nvPr/>
        </p:nvSpPr>
        <p:spPr>
          <a:xfrm>
            <a:off x="11098530"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95" name="Rectangle 65"/>
          <p:cNvSpPr/>
          <p:nvPr/>
        </p:nvSpPr>
        <p:spPr>
          <a:xfrm>
            <a:off x="11098530"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96" name="Rectangle 66"/>
          <p:cNvSpPr/>
          <p:nvPr/>
        </p:nvSpPr>
        <p:spPr>
          <a:xfrm>
            <a:off x="8924544"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 cores · DDR 512GB</a:t>
            </a:r>
          </a:p>
        </p:txBody>
      </p:sp>
      <p:sp>
        <p:nvSpPr>
          <p:cNvPr id="297" name="Rectangle 67"/>
          <p:cNvSpPr/>
          <p:nvPr/>
        </p:nvSpPr>
        <p:spPr>
          <a:xfrm>
            <a:off x="10373867"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 cores · DDR 512GB</a:t>
            </a:r>
          </a:p>
        </p:txBody>
      </p:sp>
      <p:sp>
        <p:nvSpPr>
          <p:cNvPr id="298" name="Rectangle 68"/>
          <p:cNvSpPr/>
          <p:nvPr/>
        </p:nvSpPr>
        <p:spPr>
          <a:xfrm>
            <a:off x="8924544"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CXL-PNM0</a:t>
            </a:r>
          </a:p>
        </p:txBody>
      </p:sp>
      <p:sp>
        <p:nvSpPr>
          <p:cNvPr id="299" name="Rectangle 69"/>
          <p:cNvSpPr/>
          <p:nvPr/>
        </p:nvSpPr>
        <p:spPr>
          <a:xfrm>
            <a:off x="8924544"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0" name="Rectangle 70"/>
          <p:cNvSpPr/>
          <p:nvPr/>
        </p:nvSpPr>
        <p:spPr>
          <a:xfrm>
            <a:off x="9649206"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CXL-PNM1</a:t>
            </a:r>
          </a:p>
        </p:txBody>
      </p:sp>
      <p:sp>
        <p:nvSpPr>
          <p:cNvPr id="301" name="Rectangle 71"/>
          <p:cNvSpPr/>
          <p:nvPr/>
        </p:nvSpPr>
        <p:spPr>
          <a:xfrm>
            <a:off x="9649206"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2" name="Rectangle 72"/>
          <p:cNvSpPr/>
          <p:nvPr/>
        </p:nvSpPr>
        <p:spPr>
          <a:xfrm>
            <a:off x="10373867"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CXL-PNM2</a:t>
            </a:r>
          </a:p>
        </p:txBody>
      </p:sp>
      <p:sp>
        <p:nvSpPr>
          <p:cNvPr id="303" name="Rectangle 73"/>
          <p:cNvSpPr/>
          <p:nvPr/>
        </p:nvSpPr>
        <p:spPr>
          <a:xfrm>
            <a:off x="10373867"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4" name="Rectangle 74"/>
          <p:cNvSpPr/>
          <p:nvPr/>
        </p:nvSpPr>
        <p:spPr>
          <a:xfrm>
            <a:off x="11098530"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CXL-PNM3</a:t>
            </a:r>
          </a:p>
        </p:txBody>
      </p:sp>
      <p:sp>
        <p:nvSpPr>
          <p:cNvPr id="305" name="Rectangle 75"/>
          <p:cNvSpPr/>
          <p:nvPr/>
        </p:nvSpPr>
        <p:spPr>
          <a:xfrm>
            <a:off x="11098530"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6" name="Rectangle 76"/>
          <p:cNvSpPr/>
          <p:nvPr/>
        </p:nvSpPr>
        <p:spPr>
          <a:xfrm>
            <a:off x="8924544" y="3035808"/>
            <a:ext cx="1421892"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307" name="Rectangle 77"/>
          <p:cNvSpPr/>
          <p:nvPr/>
        </p:nvSpPr>
        <p:spPr>
          <a:xfrm>
            <a:off x="10373867" y="3035808"/>
            <a:ext cx="1421892" cy="274320"/>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375623"/>
                </a:solidFill>
                <a:latin typeface="맑은 고딕"/>
                <a:ea typeface="맑은 고딕"/>
              </a:rPr>
              <a:t>PIM-SSD  16TB</a:t>
            </a:r>
          </a:p>
        </p:txBody>
      </p:sp>
      <p:sp>
        <p:nvSpPr>
          <p:cNvPr id="308" name="Rectangle 78"/>
          <p:cNvSpPr/>
          <p:nvPr/>
        </p:nvSpPr>
        <p:spPr>
          <a:xfrm>
            <a:off x="365760" y="3493008"/>
            <a:ext cx="1152144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9" name="TextBox 308"/>
          <p:cNvSpPr txBox="1"/>
          <p:nvPr/>
        </p:nvSpPr>
        <p:spPr>
          <a:xfrm>
            <a:off x="365760" y="3401568"/>
            <a:ext cx="2011680" cy="164592"/>
          </a:xfrm>
          <a:prstGeom prst="rect">
            <a:avLst/>
          </a:prstGeom>
          <a:noFill/>
        </p:spPr>
        <p:txBody>
          <a:bodyPr wrap="square" lIns="0" tIns="0" rIns="0" bIns="0" anchor="ctr">
            <a:spAutoFit/>
          </a:bodyPr>
          <a:lstStyle/>
          <a:p>
            <a:pPr algn="l"/>
            <a:r>
              <a:rPr sz="850" b="1" i="0">
                <a:solidFill>
                  <a:srgbClr val="808080"/>
                </a:solidFill>
                <a:latin typeface="맑은 고딕"/>
                <a:ea typeface="맑은 고딕"/>
              </a:rPr>
              <a:t>계층별  용량  ·  대역폭</a:t>
            </a:r>
          </a:p>
        </p:txBody>
      </p:sp>
      <p:sp>
        <p:nvSpPr>
          <p:cNvPr id="310" name="TextBox 309"/>
          <p:cNvSpPr txBox="1"/>
          <p:nvPr/>
        </p:nvSpPr>
        <p:spPr>
          <a:xfrm>
            <a:off x="365760" y="3584448"/>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311" name="TextBox 310"/>
          <p:cNvSpPr txBox="1"/>
          <p:nvPr/>
        </p:nvSpPr>
        <p:spPr>
          <a:xfrm>
            <a:off x="2468880" y="358444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16.0 TB/s</a:t>
            </a:r>
          </a:p>
        </p:txBody>
      </p:sp>
      <p:sp>
        <p:nvSpPr>
          <p:cNvPr id="312" name="TextBox 311"/>
          <p:cNvSpPr txBox="1"/>
          <p:nvPr/>
        </p:nvSpPr>
        <p:spPr>
          <a:xfrm>
            <a:off x="5650992" y="358444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320 GB  ·  8.0 TB/s</a:t>
            </a:r>
          </a:p>
        </p:txBody>
      </p:sp>
      <p:sp>
        <p:nvSpPr>
          <p:cNvPr id="313" name="TextBox 312"/>
          <p:cNvSpPr txBox="1"/>
          <p:nvPr/>
        </p:nvSpPr>
        <p:spPr>
          <a:xfrm>
            <a:off x="8833104" y="358444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 GB  ·  4.0 TB/s</a:t>
            </a:r>
          </a:p>
        </p:txBody>
      </p:sp>
      <p:sp>
        <p:nvSpPr>
          <p:cNvPr id="314" name="TextBox 313"/>
          <p:cNvSpPr txBox="1"/>
          <p:nvPr/>
        </p:nvSpPr>
        <p:spPr>
          <a:xfrm>
            <a:off x="365760" y="3794760"/>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HBF</a:t>
            </a:r>
          </a:p>
        </p:txBody>
      </p:sp>
      <p:sp>
        <p:nvSpPr>
          <p:cNvPr id="315" name="TextBox 314"/>
          <p:cNvSpPr txBox="1"/>
          <p:nvPr/>
        </p:nvSpPr>
        <p:spPr>
          <a:xfrm>
            <a:off x="2468880" y="3794760"/>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16" name="TextBox 315"/>
          <p:cNvSpPr txBox="1"/>
          <p:nvPr/>
        </p:nvSpPr>
        <p:spPr>
          <a:xfrm>
            <a:off x="5650992" y="3794760"/>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17" name="TextBox 316"/>
          <p:cNvSpPr txBox="1"/>
          <p:nvPr/>
        </p:nvSpPr>
        <p:spPr>
          <a:xfrm>
            <a:off x="8833104" y="3794760"/>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1,280 GB  ·  4.0 TB/s</a:t>
            </a:r>
          </a:p>
        </p:txBody>
      </p:sp>
      <p:sp>
        <p:nvSpPr>
          <p:cNvPr id="318" name="TextBox 317"/>
          <p:cNvSpPr txBox="1"/>
          <p:nvPr/>
        </p:nvSpPr>
        <p:spPr>
          <a:xfrm>
            <a:off x="365760" y="4005072"/>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CXL-PNM (DDR)</a:t>
            </a:r>
          </a:p>
        </p:txBody>
      </p:sp>
      <p:sp>
        <p:nvSpPr>
          <p:cNvPr id="319" name="TextBox 318"/>
          <p:cNvSpPr txBox="1"/>
          <p:nvPr/>
        </p:nvSpPr>
        <p:spPr>
          <a:xfrm>
            <a:off x="2468880" y="4005072"/>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20" name="TextBox 319"/>
          <p:cNvSpPr txBox="1"/>
          <p:nvPr/>
        </p:nvSpPr>
        <p:spPr>
          <a:xfrm>
            <a:off x="5650992" y="4005072"/>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512 GB  ·  800 GB/s</a:t>
            </a:r>
          </a:p>
        </p:txBody>
      </p:sp>
      <p:sp>
        <p:nvSpPr>
          <p:cNvPr id="321" name="TextBox 320"/>
          <p:cNvSpPr txBox="1"/>
          <p:nvPr/>
        </p:nvSpPr>
        <p:spPr>
          <a:xfrm>
            <a:off x="8833104" y="4005072"/>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512 GB  ·  800 GB/s</a:t>
            </a:r>
          </a:p>
        </p:txBody>
      </p:sp>
      <p:sp>
        <p:nvSpPr>
          <p:cNvPr id="322" name="TextBox 321"/>
          <p:cNvSpPr txBox="1"/>
          <p:nvPr/>
        </p:nvSpPr>
        <p:spPr>
          <a:xfrm>
            <a:off x="365760" y="4215384"/>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CPU DDR</a:t>
            </a:r>
          </a:p>
        </p:txBody>
      </p:sp>
      <p:sp>
        <p:nvSpPr>
          <p:cNvPr id="323" name="TextBox 322"/>
          <p:cNvSpPr txBox="1"/>
          <p:nvPr/>
        </p:nvSpPr>
        <p:spPr>
          <a:xfrm>
            <a:off x="2468880" y="4215384"/>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4" name="TextBox 323"/>
          <p:cNvSpPr txBox="1"/>
          <p:nvPr/>
        </p:nvSpPr>
        <p:spPr>
          <a:xfrm>
            <a:off x="5650992" y="4215384"/>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5" name="TextBox 324"/>
          <p:cNvSpPr txBox="1"/>
          <p:nvPr/>
        </p:nvSpPr>
        <p:spPr>
          <a:xfrm>
            <a:off x="8833104" y="4215384"/>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6" name="TextBox 325"/>
          <p:cNvSpPr txBox="1"/>
          <p:nvPr/>
        </p:nvSpPr>
        <p:spPr>
          <a:xfrm>
            <a:off x="365760" y="4425696"/>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NVMe SSD</a:t>
            </a:r>
          </a:p>
        </p:txBody>
      </p:sp>
      <p:sp>
        <p:nvSpPr>
          <p:cNvPr id="327" name="TextBox 326"/>
          <p:cNvSpPr txBox="1"/>
          <p:nvPr/>
        </p:nvSpPr>
        <p:spPr>
          <a:xfrm>
            <a:off x="2468880" y="4425696"/>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8" name="TextBox 327"/>
          <p:cNvSpPr txBox="1"/>
          <p:nvPr/>
        </p:nvSpPr>
        <p:spPr>
          <a:xfrm>
            <a:off x="5650992" y="4425696"/>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9" name="TextBox 328"/>
          <p:cNvSpPr txBox="1"/>
          <p:nvPr/>
        </p:nvSpPr>
        <p:spPr>
          <a:xfrm>
            <a:off x="8833104" y="4425696"/>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0" name="TextBox 329"/>
          <p:cNvSpPr txBox="1"/>
          <p:nvPr/>
        </p:nvSpPr>
        <p:spPr>
          <a:xfrm>
            <a:off x="365760" y="4636008"/>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PIM-SSD</a:t>
            </a:r>
          </a:p>
        </p:txBody>
      </p:sp>
      <p:sp>
        <p:nvSpPr>
          <p:cNvPr id="331" name="TextBox 330"/>
          <p:cNvSpPr txBox="1"/>
          <p:nvPr/>
        </p:nvSpPr>
        <p:spPr>
          <a:xfrm>
            <a:off x="2468880" y="463600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32" name="TextBox 331"/>
          <p:cNvSpPr txBox="1"/>
          <p:nvPr/>
        </p:nvSpPr>
        <p:spPr>
          <a:xfrm>
            <a:off x="5650992" y="463600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3" name="TextBox 332"/>
          <p:cNvSpPr txBox="1"/>
          <p:nvPr/>
        </p:nvSpPr>
        <p:spPr>
          <a:xfrm>
            <a:off x="8833104" y="463600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4" name="Rectangle 104"/>
          <p:cNvSpPr/>
          <p:nvPr/>
        </p:nvSpPr>
        <p:spPr>
          <a:xfrm>
            <a:off x="365760" y="4882896"/>
            <a:ext cx="11521440" cy="2103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5" name="TextBox 334"/>
          <p:cNvSpPr txBox="1"/>
          <p:nvPr/>
        </p:nvSpPr>
        <p:spPr>
          <a:xfrm>
            <a:off x="438912" y="4882896"/>
            <a:ext cx="2011680" cy="210312"/>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용량</a:t>
            </a:r>
          </a:p>
        </p:txBody>
      </p:sp>
      <p:sp>
        <p:nvSpPr>
          <p:cNvPr id="336" name="TextBox 335"/>
          <p:cNvSpPr txBox="1"/>
          <p:nvPr/>
        </p:nvSpPr>
        <p:spPr>
          <a:xfrm>
            <a:off x="2468880" y="4882896"/>
            <a:ext cx="3054096" cy="210312"/>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640 GB  (1.00×)</a:t>
            </a:r>
          </a:p>
        </p:txBody>
      </p:sp>
      <p:sp>
        <p:nvSpPr>
          <p:cNvPr id="337" name="TextBox 336"/>
          <p:cNvSpPr txBox="1"/>
          <p:nvPr/>
        </p:nvSpPr>
        <p:spPr>
          <a:xfrm>
            <a:off x="5650992" y="4882896"/>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832 GB  (1.30×)</a:t>
            </a:r>
          </a:p>
        </p:txBody>
      </p:sp>
      <p:sp>
        <p:nvSpPr>
          <p:cNvPr id="338" name="TextBox 337"/>
          <p:cNvSpPr txBox="1"/>
          <p:nvPr/>
        </p:nvSpPr>
        <p:spPr>
          <a:xfrm>
            <a:off x="8833104" y="4882896"/>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1,952 GB  (3.05×)</a:t>
            </a:r>
          </a:p>
        </p:txBody>
      </p:sp>
      <p:sp>
        <p:nvSpPr>
          <p:cNvPr id="339" name="Rectangle 109"/>
          <p:cNvSpPr/>
          <p:nvPr/>
        </p:nvSpPr>
        <p:spPr>
          <a:xfrm>
            <a:off x="365760" y="5093208"/>
            <a:ext cx="11521440" cy="2103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0" name="TextBox 339"/>
          <p:cNvSpPr txBox="1"/>
          <p:nvPr/>
        </p:nvSpPr>
        <p:spPr>
          <a:xfrm>
            <a:off x="438912" y="5093208"/>
            <a:ext cx="2011680" cy="210312"/>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대역폭</a:t>
            </a:r>
          </a:p>
        </p:txBody>
      </p:sp>
      <p:sp>
        <p:nvSpPr>
          <p:cNvPr id="341" name="TextBox 340"/>
          <p:cNvSpPr txBox="1"/>
          <p:nvPr/>
        </p:nvSpPr>
        <p:spPr>
          <a:xfrm>
            <a:off x="2468880" y="5093208"/>
            <a:ext cx="3054096" cy="210312"/>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16.0 TB/s  (1.00×)</a:t>
            </a:r>
          </a:p>
        </p:txBody>
      </p:sp>
      <p:sp>
        <p:nvSpPr>
          <p:cNvPr id="342" name="TextBox 341"/>
          <p:cNvSpPr txBox="1"/>
          <p:nvPr/>
        </p:nvSpPr>
        <p:spPr>
          <a:xfrm>
            <a:off x="5650992" y="5093208"/>
            <a:ext cx="3054096" cy="210312"/>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8.8 TB/s  (0.55×)</a:t>
            </a:r>
          </a:p>
        </p:txBody>
      </p:sp>
      <p:sp>
        <p:nvSpPr>
          <p:cNvPr id="343" name="TextBox 342"/>
          <p:cNvSpPr txBox="1"/>
          <p:nvPr/>
        </p:nvSpPr>
        <p:spPr>
          <a:xfrm>
            <a:off x="8833104" y="5093208"/>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8.8 TB/s  (0.55×)</a:t>
            </a:r>
          </a:p>
        </p:txBody>
      </p:sp>
      <p:sp>
        <p:nvSpPr>
          <p:cNvPr id="344" name="Rectangle 114"/>
          <p:cNvSpPr/>
          <p:nvPr/>
        </p:nvSpPr>
        <p:spPr>
          <a:xfrm>
            <a:off x="365760" y="5303520"/>
            <a:ext cx="11521440" cy="2103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5" name="TextBox 344"/>
          <p:cNvSpPr txBox="1"/>
          <p:nvPr/>
        </p:nvSpPr>
        <p:spPr>
          <a:xfrm>
            <a:off x="438912" y="5303520"/>
            <a:ext cx="2011680" cy="210312"/>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총 메모리 용량</a:t>
            </a:r>
          </a:p>
        </p:txBody>
      </p:sp>
      <p:sp>
        <p:nvSpPr>
          <p:cNvPr id="346" name="TextBox 345"/>
          <p:cNvSpPr txBox="1"/>
          <p:nvPr/>
        </p:nvSpPr>
        <p:spPr>
          <a:xfrm>
            <a:off x="2468880" y="5303520"/>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17,664 GB  (1.00×)</a:t>
            </a:r>
          </a:p>
        </p:txBody>
      </p:sp>
      <p:sp>
        <p:nvSpPr>
          <p:cNvPr id="347" name="TextBox 346"/>
          <p:cNvSpPr txBox="1"/>
          <p:nvPr/>
        </p:nvSpPr>
        <p:spPr>
          <a:xfrm>
            <a:off x="5650992" y="5303520"/>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33,856 GB  (1.92×)</a:t>
            </a:r>
          </a:p>
        </p:txBody>
      </p:sp>
      <p:sp>
        <p:nvSpPr>
          <p:cNvPr id="348" name="TextBox 347"/>
          <p:cNvSpPr txBox="1"/>
          <p:nvPr/>
        </p:nvSpPr>
        <p:spPr>
          <a:xfrm>
            <a:off x="8833104" y="5303520"/>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34,976 GB  (1.98×)</a:t>
            </a:r>
          </a:p>
        </p:txBody>
      </p:sp>
      <p:sp>
        <p:nvSpPr>
          <p:cNvPr id="349" name="Rectangle 119"/>
          <p:cNvSpPr/>
          <p:nvPr/>
        </p:nvSpPr>
        <p:spPr>
          <a:xfrm>
            <a:off x="365760" y="5513832"/>
            <a:ext cx="11521440" cy="21031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0" name="TextBox 349"/>
          <p:cNvSpPr txBox="1"/>
          <p:nvPr/>
        </p:nvSpPr>
        <p:spPr>
          <a:xfrm>
            <a:off x="438912" y="5513832"/>
            <a:ext cx="2011680" cy="210312"/>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메모리 비용 (추정)</a:t>
            </a:r>
          </a:p>
        </p:txBody>
      </p:sp>
      <p:sp>
        <p:nvSpPr>
          <p:cNvPr id="351" name="TextBox 350"/>
          <p:cNvSpPr txBox="1"/>
          <p:nvPr/>
        </p:nvSpPr>
        <p:spPr>
          <a:xfrm>
            <a:off x="2468880" y="5513832"/>
            <a:ext cx="3054096" cy="210312"/>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$14.7K  (1.00×)</a:t>
            </a:r>
          </a:p>
        </p:txBody>
      </p:sp>
      <p:sp>
        <p:nvSpPr>
          <p:cNvPr id="352" name="TextBox 351"/>
          <p:cNvSpPr txBox="1"/>
          <p:nvPr/>
        </p:nvSpPr>
        <p:spPr>
          <a:xfrm>
            <a:off x="5650992" y="5513832"/>
            <a:ext cx="3054096" cy="210312"/>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$14.6K  (1.00×)</a:t>
            </a:r>
          </a:p>
        </p:txBody>
      </p:sp>
      <p:sp>
        <p:nvSpPr>
          <p:cNvPr id="353" name="TextBox 352"/>
          <p:cNvSpPr txBox="1"/>
          <p:nvPr/>
        </p:nvSpPr>
        <p:spPr>
          <a:xfrm>
            <a:off x="8833104" y="5513832"/>
            <a:ext cx="3054096" cy="210312"/>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$14.6K  (1.00×)</a:t>
            </a:r>
          </a:p>
        </p:txBody>
      </p:sp>
      <p:sp>
        <p:nvSpPr>
          <p:cNvPr id="354" name="Rectangle 124"/>
          <p:cNvSpPr/>
          <p:nvPr/>
        </p:nvSpPr>
        <p:spPr>
          <a:xfrm>
            <a:off x="365760" y="5797296"/>
            <a:ext cx="11521440" cy="420624"/>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25000"/>
              </a:lnSpc>
            </a:pPr>
            <a:r>
              <a:rPr sz="900" b="0" i="0">
                <a:solidFill>
                  <a:srgbClr val="7F5F00"/>
                </a:solidFill>
                <a:latin typeface="맑은 고딕"/>
                <a:ea typeface="맑은 고딕"/>
              </a:rPr>
              <a:t>집계 대역폭 0.55×는 슬롯당 대역폭이 낮아진 게 아니라 GPU가 4대 줄어든 몫이다 — 슬롯당 HBM 2.0 TB/s는 세 구성 모두 같고, decode attention이 묶이는 것은 슬롯당 대역폭이다</a:t>
            </a:r>
          </a:p>
          <a:p>
            <a:pPr algn="l">
              <a:lnSpc>
                <a:spcPct val="125000"/>
              </a:lnSpc>
            </a:pPr>
            <a:r>
              <a:rPr sz="900" b="0" i="0">
                <a:solidFill>
                  <a:srgbClr val="7F5F00"/>
                </a:solidFill>
                <a:latin typeface="맑은 고딕"/>
                <a:ea typeface="맑은 고딕"/>
              </a:rPr>
              <a:t>매체 지연 : HBM ~100 ns · CXL-PNM ~300 ns · HBF ~10 μs급(NAND) · NVMe ~100 μs → HBF는 read-dominant 계층(weight · cold KV)이고, KV 상주 계층은 HBM · CXL-PNM이 맡는다</a:t>
            </a:r>
          </a:p>
        </p:txBody>
      </p:sp>
      <p:sp>
        <p:nvSpPr>
          <p:cNvPr id="355" name="TextBox 354"/>
          <p:cNvSpPr txBox="1"/>
          <p:nvPr/>
        </p:nvSpPr>
        <p:spPr>
          <a:xfrm>
            <a:off x="365760" y="6291072"/>
            <a:ext cx="11521440" cy="420624"/>
          </a:xfrm>
          <a:prstGeom prst="rect">
            <a:avLst/>
          </a:prstGeom>
          <a:noFill/>
        </p:spPr>
        <p:txBody>
          <a:bodyPr wrap="square" lIns="0" tIns="0" rIns="0" bIns="0" anchor="t">
            <a:spAutoFit/>
          </a:bodyPr>
          <a:lstStyle/>
          <a:p>
            <a:pPr algn="l">
              <a:lnSpc>
                <a:spcPct val="130000"/>
              </a:lnSpc>
            </a:pPr>
            <a:r>
              <a:rPr sz="800" b="0" i="0" dirty="0">
                <a:solidFill>
                  <a:srgbClr val="808080"/>
                </a:solidFill>
                <a:latin typeface="맑은 고딕"/>
                <a:ea typeface="맑은 고딕"/>
              </a:rPr>
              <a:t>※ GPU = A100급(108 SM · HBM 2.0 TB/s) · CPU DDR 175 GB/s × 2소켓 · CXL-PNM(</a:t>
            </a:r>
            <a:r>
              <a:rPr sz="800" b="0" i="0" dirty="0" err="1">
                <a:solidFill>
                  <a:srgbClr val="808080"/>
                </a:solidFill>
                <a:latin typeface="맑은 고딕"/>
                <a:ea typeface="맑은 고딕"/>
              </a:rPr>
              <a:t>Structera</a:t>
            </a:r>
            <a:r>
              <a:rPr sz="800" b="0" i="0" dirty="0">
                <a:solidFill>
                  <a:srgbClr val="808080"/>
                </a:solidFill>
                <a:latin typeface="맑은 고딕"/>
                <a:ea typeface="맑은 고딕"/>
              </a:rPr>
              <a:t>-A) 200 GB/s × 4카드. Target 2는 HBM </a:t>
            </a:r>
            <a:r>
              <a:rPr sz="800" b="0" i="0" dirty="0" err="1">
                <a:solidFill>
                  <a:srgbClr val="808080"/>
                </a:solidFill>
                <a:latin typeface="맑은 고딕"/>
                <a:ea typeface="맑은 고딕"/>
              </a:rPr>
              <a:t>스택</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절반을</a:t>
            </a:r>
            <a:r>
              <a:rPr sz="800" b="0" i="0" dirty="0">
                <a:solidFill>
                  <a:srgbClr val="808080"/>
                </a:solidFill>
                <a:latin typeface="맑은 고딕"/>
                <a:ea typeface="맑은 고딕"/>
              </a:rPr>
              <a:t> </a:t>
            </a:r>
            <a:r>
              <a:rPr sz="800" b="0" i="0" dirty="0" err="1">
                <a:solidFill>
                  <a:srgbClr val="808080"/>
                </a:solidFill>
                <a:latin typeface="맑은 고딕"/>
                <a:ea typeface="맑은 고딕"/>
              </a:rPr>
              <a:t>HBF로</a:t>
            </a:r>
            <a:r>
              <a:rPr sz="800" b="0" i="0" dirty="0">
                <a:solidFill>
                  <a:srgbClr val="808080"/>
                </a:solidFill>
                <a:latin typeface="맑은 고딕"/>
                <a:ea typeface="맑은 고딕"/>
              </a:rPr>
              <a:t> </a:t>
            </a:r>
            <a:r>
              <a:rPr sz="800" b="0" i="0" dirty="0" err="1">
                <a:solidFill>
                  <a:srgbClr val="808080"/>
                </a:solidFill>
                <a:latin typeface="맑은 고딕"/>
                <a:ea typeface="맑은 고딕"/>
              </a:rPr>
              <a:t>교체</a:t>
            </a:r>
            <a:r>
              <a:rPr sz="800" b="0" i="0" dirty="0">
                <a:solidFill>
                  <a:srgbClr val="808080"/>
                </a:solidFill>
                <a:latin typeface="맑은 고딕"/>
                <a:ea typeface="맑은 고딕"/>
              </a:rPr>
              <a:t> — </a:t>
            </a:r>
            <a:r>
              <a:rPr sz="800" b="0" i="0" dirty="0" err="1">
                <a:solidFill>
                  <a:srgbClr val="808080"/>
                </a:solidFill>
                <a:latin typeface="맑은 고딕"/>
                <a:ea typeface="맑은 고딕"/>
              </a:rPr>
              <a:t>동일</a:t>
            </a:r>
            <a:r>
              <a:rPr sz="800" b="0" i="0" dirty="0">
                <a:solidFill>
                  <a:srgbClr val="808080"/>
                </a:solidFill>
                <a:latin typeface="맑은 고딕"/>
                <a:ea typeface="맑은 고딕"/>
              </a:rPr>
              <a:t> </a:t>
            </a:r>
            <a:r>
              <a:rPr sz="800" b="0" i="0" dirty="0" err="1">
                <a:solidFill>
                  <a:srgbClr val="808080"/>
                </a:solidFill>
                <a:latin typeface="맑은 고딕"/>
                <a:ea typeface="맑은 고딕"/>
              </a:rPr>
              <a:t>스택</a:t>
            </a:r>
            <a:r>
              <a:rPr sz="800" b="0" i="0" dirty="0">
                <a:solidFill>
                  <a:srgbClr val="808080"/>
                </a:solidFill>
                <a:latin typeface="맑은 고딕"/>
                <a:ea typeface="맑은 고딕"/>
              </a:rPr>
              <a:t> </a:t>
            </a:r>
            <a:r>
              <a:rPr sz="800" b="0" i="0" dirty="0" err="1">
                <a:solidFill>
                  <a:srgbClr val="808080"/>
                </a:solidFill>
                <a:latin typeface="맑은 고딕"/>
                <a:ea typeface="맑은 고딕"/>
              </a:rPr>
              <a:t>비용에</a:t>
            </a:r>
            <a:r>
              <a:rPr sz="800" b="0" i="0" dirty="0">
                <a:solidFill>
                  <a:srgbClr val="808080"/>
                </a:solidFill>
                <a:latin typeface="맑은 고딕"/>
                <a:ea typeface="맑은 고딕"/>
              </a:rPr>
              <a:t> 8× </a:t>
            </a:r>
            <a:r>
              <a:rPr sz="800" b="0" i="0" dirty="0" err="1">
                <a:solidFill>
                  <a:srgbClr val="808080"/>
                </a:solidFill>
                <a:latin typeface="맑은 고딕"/>
                <a:ea typeface="맑은 고딕"/>
              </a:rPr>
              <a:t>용량</a:t>
            </a:r>
            <a:r>
              <a:rPr sz="800" b="0" i="0" dirty="0">
                <a:solidFill>
                  <a:srgbClr val="808080"/>
                </a:solidFill>
                <a:latin typeface="맑은 고딕"/>
                <a:ea typeface="맑은 고딕"/>
              </a:rPr>
              <a:t>, </a:t>
            </a:r>
            <a:r>
              <a:rPr sz="800" b="0" i="0" dirty="0" err="1">
                <a:solidFill>
                  <a:srgbClr val="808080"/>
                </a:solidFill>
                <a:latin typeface="맑은 고딕"/>
                <a:ea typeface="맑은 고딕"/>
              </a:rPr>
              <a:t>스택당</a:t>
            </a:r>
            <a:r>
              <a:rPr sz="800" b="0" i="0" dirty="0">
                <a:solidFill>
                  <a:srgbClr val="808080"/>
                </a:solidFill>
                <a:latin typeface="맑은 고딕"/>
                <a:ea typeface="맑은 고딕"/>
              </a:rPr>
              <a:t> </a:t>
            </a:r>
            <a:r>
              <a:rPr sz="800" b="0" i="0" dirty="0" err="1">
                <a:solidFill>
                  <a:srgbClr val="808080"/>
                </a:solidFill>
                <a:latin typeface="맑은 고딕"/>
                <a:ea typeface="맑은 고딕"/>
              </a:rPr>
              <a:t>HBM급</a:t>
            </a:r>
            <a:r>
              <a:rPr sz="800" b="0" i="0" dirty="0">
                <a:solidFill>
                  <a:srgbClr val="808080"/>
                </a:solidFill>
                <a:latin typeface="맑은 고딕"/>
                <a:ea typeface="맑은 고딕"/>
              </a:rPr>
              <a:t> </a:t>
            </a:r>
            <a:r>
              <a:rPr sz="800" b="0" i="0" dirty="0" err="1">
                <a:solidFill>
                  <a:srgbClr val="808080"/>
                </a:solidFill>
                <a:latin typeface="맑은 고딕"/>
                <a:ea typeface="맑은 고딕"/>
              </a:rPr>
              <a:t>대역폭</a:t>
            </a:r>
            <a:r>
              <a:rPr sz="800" b="0" i="0" dirty="0">
                <a:solidFill>
                  <a:srgbClr val="808080"/>
                </a:solidFill>
                <a:latin typeface="맑은 고딕"/>
                <a:ea typeface="맑은 고딕"/>
              </a:rPr>
              <a:t>(SanDisk HBF </a:t>
            </a:r>
            <a:r>
              <a:rPr sz="800" b="0" i="0" dirty="0" err="1">
                <a:solidFill>
                  <a:srgbClr val="808080"/>
                </a:solidFill>
                <a:latin typeface="맑은 고딕"/>
                <a:ea typeface="맑은 고딕"/>
              </a:rPr>
              <a:t>공개</a:t>
            </a:r>
            <a:r>
              <a:rPr sz="800" b="0" i="0" dirty="0">
                <a:solidFill>
                  <a:srgbClr val="808080"/>
                </a:solidFill>
                <a:latin typeface="맑은 고딕"/>
                <a:ea typeface="맑은 고딕"/>
              </a:rPr>
              <a:t> </a:t>
            </a:r>
            <a:r>
              <a:rPr sz="800" b="0" i="0" dirty="0" err="1">
                <a:solidFill>
                  <a:srgbClr val="808080"/>
                </a:solidFill>
                <a:latin typeface="맑은 고딕"/>
                <a:ea typeface="맑은 고딕"/>
              </a:rPr>
              <a:t>주장</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전제</a:t>
            </a:r>
            <a:r>
              <a:rPr sz="800" b="0" i="0" dirty="0">
                <a:solidFill>
                  <a:srgbClr val="808080"/>
                </a:solidFill>
                <a:latin typeface="맑은 고딕"/>
                <a:ea typeface="맑은 고딕"/>
              </a:rPr>
              <a:t>.</a:t>
            </a:r>
          </a:p>
          <a:p>
            <a:pPr algn="l">
              <a:lnSpc>
                <a:spcPct val="130000"/>
              </a:lnSpc>
            </a:pPr>
            <a:r>
              <a:rPr sz="800" b="0" i="0" dirty="0">
                <a:solidFill>
                  <a:srgbClr val="808080"/>
                </a:solidFill>
                <a:latin typeface="맑은 고딕"/>
                <a:ea typeface="맑은 고딕"/>
              </a:rPr>
              <a:t>※ </a:t>
            </a:r>
            <a:r>
              <a:rPr sz="800" b="0" i="0" dirty="0" err="1">
                <a:solidFill>
                  <a:srgbClr val="808080"/>
                </a:solidFill>
                <a:latin typeface="맑은 고딕"/>
                <a:ea typeface="맑은 고딕"/>
              </a:rPr>
              <a:t>단가</a:t>
            </a:r>
            <a:r>
              <a:rPr sz="800" b="0" i="0" dirty="0">
                <a:solidFill>
                  <a:srgbClr val="808080"/>
                </a:solidFill>
                <a:latin typeface="맑은 고딕"/>
                <a:ea typeface="맑은 고딕"/>
              </a:rPr>
              <a:t> </a:t>
            </a:r>
            <a:r>
              <a:rPr sz="800" b="0" i="0" dirty="0" err="1">
                <a:solidFill>
                  <a:srgbClr val="808080"/>
                </a:solidFill>
                <a:latin typeface="맑은 고딕"/>
                <a:ea typeface="맑은 고딕"/>
              </a:rPr>
              <a:t>가정</a:t>
            </a:r>
            <a:r>
              <a:rPr sz="800" b="0" i="0" dirty="0">
                <a:solidFill>
                  <a:srgbClr val="808080"/>
                </a:solidFill>
                <a:latin typeface="맑은 고딕"/>
                <a:ea typeface="맑은 고딕"/>
              </a:rPr>
              <a:t> HBM $14 / HBF $1.75 / DDR5 $4 / </a:t>
            </a:r>
            <a:r>
              <a:rPr sz="800" b="0" i="0" dirty="0" err="1">
                <a:solidFill>
                  <a:srgbClr val="808080"/>
                </a:solidFill>
                <a:latin typeface="맑은 고딕"/>
                <a:ea typeface="맑은 고딕"/>
              </a:rPr>
              <a:t>NVMe</a:t>
            </a:r>
            <a:r>
              <a:rPr sz="800" b="0" i="0" dirty="0">
                <a:solidFill>
                  <a:srgbClr val="808080"/>
                </a:solidFill>
                <a:latin typeface="맑은 고딕"/>
                <a:ea typeface="맑은 고딕"/>
              </a:rPr>
              <a:t> $0.10 / PIM-SSD $0.15 per GB. </a:t>
            </a:r>
            <a:r>
              <a:rPr sz="800" b="0" i="0" dirty="0" err="1">
                <a:solidFill>
                  <a:srgbClr val="808080"/>
                </a:solidFill>
                <a:latin typeface="맑은 고딕"/>
                <a:ea typeface="맑은 고딕"/>
              </a:rPr>
              <a:t>메모리</a:t>
            </a:r>
            <a:r>
              <a:rPr sz="800" b="0" i="0" dirty="0">
                <a:solidFill>
                  <a:srgbClr val="808080"/>
                </a:solidFill>
                <a:latin typeface="맑은 고딕"/>
                <a:ea typeface="맑은 고딕"/>
              </a:rPr>
              <a:t> </a:t>
            </a:r>
            <a:r>
              <a:rPr sz="800" b="0" i="0" dirty="0" err="1">
                <a:solidFill>
                  <a:srgbClr val="808080"/>
                </a:solidFill>
                <a:latin typeface="맑은 고딕"/>
                <a:ea typeface="맑은 고딕"/>
              </a:rPr>
              <a:t>매체</a:t>
            </a:r>
            <a:r>
              <a:rPr sz="800" b="0" i="0" dirty="0">
                <a:solidFill>
                  <a:srgbClr val="808080"/>
                </a:solidFill>
                <a:latin typeface="맑은 고딕"/>
                <a:ea typeface="맑은 고딕"/>
              </a:rPr>
              <a:t> </a:t>
            </a:r>
            <a:r>
              <a:rPr sz="800" b="0" i="0" dirty="0" err="1">
                <a:solidFill>
                  <a:srgbClr val="808080"/>
                </a:solidFill>
                <a:latin typeface="맑은 고딕"/>
                <a:ea typeface="맑은 고딕"/>
              </a:rPr>
              <a:t>비용만</a:t>
            </a:r>
            <a:r>
              <a:rPr sz="800" b="0" i="0" dirty="0">
                <a:solidFill>
                  <a:srgbClr val="808080"/>
                </a:solidFill>
                <a:latin typeface="맑은 고딕"/>
                <a:ea typeface="맑은 고딕"/>
              </a:rPr>
              <a:t> </a:t>
            </a:r>
            <a:r>
              <a:rPr sz="800" b="0" i="0" dirty="0" err="1">
                <a:solidFill>
                  <a:srgbClr val="808080"/>
                </a:solidFill>
                <a:latin typeface="맑은 고딕"/>
                <a:ea typeface="맑은 고딕"/>
              </a:rPr>
              <a:t>비교했으므로</a:t>
            </a:r>
            <a:r>
              <a:rPr sz="800" b="0" i="0" dirty="0">
                <a:solidFill>
                  <a:srgbClr val="808080"/>
                </a:solidFill>
                <a:latin typeface="맑은 고딕"/>
                <a:ea typeface="맑은 고딕"/>
              </a:rPr>
              <a:t> </a:t>
            </a:r>
            <a:r>
              <a:rPr sz="800" b="0" i="0" dirty="0" err="1">
                <a:solidFill>
                  <a:srgbClr val="808080"/>
                </a:solidFill>
                <a:latin typeface="맑은 고딕"/>
                <a:ea typeface="맑은 고딕"/>
              </a:rPr>
              <a:t>가속기</a:t>
            </a:r>
            <a:r>
              <a:rPr sz="800" b="0" i="0" dirty="0">
                <a:solidFill>
                  <a:srgbClr val="808080"/>
                </a:solidFill>
                <a:latin typeface="맑은 고딕"/>
                <a:ea typeface="맑은 고딕"/>
              </a:rPr>
              <a:t> </a:t>
            </a:r>
            <a:r>
              <a:rPr sz="800" b="0" i="0" dirty="0" err="1">
                <a:solidFill>
                  <a:srgbClr val="808080"/>
                </a:solidFill>
                <a:latin typeface="맑은 고딕"/>
                <a:ea typeface="맑은 고딕"/>
              </a:rPr>
              <a:t>카드</a:t>
            </a:r>
            <a:r>
              <a:rPr sz="800" b="0" i="0" dirty="0">
                <a:solidFill>
                  <a:srgbClr val="808080"/>
                </a:solidFill>
                <a:latin typeface="맑은 고딕"/>
                <a:ea typeface="맑은 고딕"/>
              </a:rPr>
              <a:t>(GPU · PNM) </a:t>
            </a:r>
            <a:r>
              <a:rPr sz="800" b="0" i="0" dirty="0" err="1">
                <a:solidFill>
                  <a:srgbClr val="808080"/>
                </a:solidFill>
                <a:latin typeface="맑은 고딕"/>
                <a:ea typeface="맑은 고딕"/>
              </a:rPr>
              <a:t>비용은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제외</a:t>
            </a:r>
            <a:r>
              <a:rPr sz="800" b="0" i="0" dirty="0">
                <a:solidFill>
                  <a:srgbClr val="808080"/>
                </a:solidFill>
                <a:latin typeface="맑은 고딕"/>
                <a:ea typeface="맑은 고딕"/>
              </a:rPr>
              <a:t> — GPU 8대 → 4대 </a:t>
            </a:r>
            <a:r>
              <a:rPr sz="800" b="0" i="0" dirty="0" err="1">
                <a:solidFill>
                  <a:srgbClr val="808080"/>
                </a:solidFill>
                <a:latin typeface="맑은 고딕"/>
                <a:ea typeface="맑은 고딕"/>
              </a:rPr>
              <a:t>감소분은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여기에</a:t>
            </a:r>
            <a:r>
              <a:rPr sz="800" b="0" i="0" dirty="0">
                <a:solidFill>
                  <a:srgbClr val="808080"/>
                </a:solidFill>
                <a:latin typeface="맑은 고딕"/>
                <a:ea typeface="맑은 고딕"/>
              </a:rPr>
              <a:t> </a:t>
            </a:r>
            <a:r>
              <a:rPr sz="800" b="0" i="0" dirty="0" err="1">
                <a:solidFill>
                  <a:srgbClr val="808080"/>
                </a:solidFill>
                <a:latin typeface="맑은 고딕"/>
                <a:ea typeface="맑은 고딕"/>
              </a:rPr>
              <a:t>없는</a:t>
            </a:r>
            <a:r>
              <a:rPr sz="800" b="0" i="0" dirty="0">
                <a:solidFill>
                  <a:srgbClr val="808080"/>
                </a:solidFill>
                <a:latin typeface="맑은 고딕"/>
                <a:ea typeface="맑은 고딕"/>
              </a:rPr>
              <a:t> </a:t>
            </a:r>
            <a:r>
              <a:rPr sz="800" b="0" i="0" dirty="0" err="1">
                <a:solidFill>
                  <a:srgbClr val="808080"/>
                </a:solidFill>
                <a:latin typeface="맑은 고딕"/>
                <a:ea typeface="맑은 고딕"/>
              </a:rPr>
              <a:t>추가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절감이다</a:t>
            </a:r>
            <a:r>
              <a:rPr sz="800" b="0" i="0" dirty="0">
                <a:solidFill>
                  <a:srgbClr val="808080"/>
                </a:solidFill>
                <a:latin typeface="맑은 고딕"/>
                <a:ea typeface="맑은 고딕"/>
              </a:rPr>
              <a:t>.</a:t>
            </a:r>
          </a:p>
        </p:txBody>
      </p:sp>
    </p:spTree>
    <p:extLst>
      <p:ext uri="{BB962C8B-B14F-4D97-AF65-F5344CB8AC3E}">
        <p14:creationId xmlns:p14="http://schemas.microsoft.com/office/powerpoint/2010/main" val="4223400021"/>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grpSp>
        <p:nvGrpSpPr>
          <p:cNvPr id="4" name="그룹 3"/>
          <p:cNvGrpSpPr/>
          <p:nvPr/>
        </p:nvGrpSpPr>
        <p:grpSpPr>
          <a:xfrm>
            <a:off x="3851568" y="925161"/>
            <a:ext cx="3353430" cy="2820538"/>
            <a:chOff x="2171700" y="933839"/>
            <a:chExt cx="2381250" cy="2133211"/>
          </a:xfrm>
        </p:grpSpPr>
        <p:sp>
          <p:nvSpPr>
            <p:cNvPr id="121" name="Rectangle 5"/>
            <p:cNvSpPr/>
            <p:nvPr/>
          </p:nvSpPr>
          <p:spPr>
            <a:xfrm>
              <a:off x="2171700" y="933839"/>
              <a:ext cx="2381250" cy="18168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dirty="0" smtClean="0">
                  <a:solidFill>
                    <a:srgbClr val="FFFFFF"/>
                  </a:solidFill>
                  <a:latin typeface="맑은 고딕"/>
                  <a:ea typeface="맑은 고딕"/>
                </a:rPr>
                <a:t> H100</a:t>
              </a:r>
              <a:r>
                <a:rPr lang="en-US" sz="1100" b="1" i="0" dirty="0" smtClean="0">
                  <a:solidFill>
                    <a:srgbClr val="FFFFFF"/>
                  </a:solidFill>
                  <a:latin typeface="맑은 고딕"/>
                  <a:ea typeface="맑은 고딕"/>
                </a:rPr>
                <a:t>(HBM)</a:t>
              </a:r>
              <a:r>
                <a:rPr sz="1100" b="1" i="0" dirty="0" smtClean="0">
                  <a:solidFill>
                    <a:srgbClr val="FFFFFF"/>
                  </a:solidFill>
                  <a:latin typeface="맑은 고딕"/>
                  <a:ea typeface="맑은 고딕"/>
                </a:rPr>
                <a:t>×8</a:t>
              </a:r>
              <a:endParaRPr sz="1100" b="1" i="0" dirty="0">
                <a:solidFill>
                  <a:srgbClr val="FFFFFF"/>
                </a:solidFill>
                <a:latin typeface="맑은 고딕"/>
                <a:ea typeface="맑은 고딕"/>
              </a:endParaRPr>
            </a:p>
          </p:txBody>
        </p:sp>
        <p:sp>
          <p:nvSpPr>
            <p:cNvPr id="242" name="Rectangle 12"/>
            <p:cNvSpPr/>
            <p:nvPr/>
          </p:nvSpPr>
          <p:spPr>
            <a:xfrm>
              <a:off x="217170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800"/>
            </a:p>
          </p:txBody>
        </p:sp>
        <p:sp>
          <p:nvSpPr>
            <p:cNvPr id="243" name="Rectangle 13"/>
            <p:cNvSpPr/>
            <p:nvPr/>
          </p:nvSpPr>
          <p:spPr>
            <a:xfrm>
              <a:off x="224790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GPU0</a:t>
              </a:r>
            </a:p>
          </p:txBody>
        </p:sp>
        <p:sp>
          <p:nvSpPr>
            <p:cNvPr id="244" name="Rectangle 14"/>
            <p:cNvSpPr/>
            <p:nvPr/>
          </p:nvSpPr>
          <p:spPr>
            <a:xfrm>
              <a:off x="224790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45" name="Rectangle 15"/>
            <p:cNvSpPr/>
            <p:nvPr/>
          </p:nvSpPr>
          <p:spPr>
            <a:xfrm>
              <a:off x="280511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GPU1</a:t>
              </a:r>
            </a:p>
          </p:txBody>
        </p:sp>
        <p:sp>
          <p:nvSpPr>
            <p:cNvPr id="246" name="Rectangle 16"/>
            <p:cNvSpPr/>
            <p:nvPr/>
          </p:nvSpPr>
          <p:spPr>
            <a:xfrm>
              <a:off x="280511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47" name="Rectangle 17"/>
            <p:cNvSpPr/>
            <p:nvPr/>
          </p:nvSpPr>
          <p:spPr>
            <a:xfrm>
              <a:off x="336232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GPU2</a:t>
              </a:r>
            </a:p>
          </p:txBody>
        </p:sp>
        <p:sp>
          <p:nvSpPr>
            <p:cNvPr id="248" name="Rectangle 18"/>
            <p:cNvSpPr/>
            <p:nvPr/>
          </p:nvSpPr>
          <p:spPr>
            <a:xfrm>
              <a:off x="336232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49" name="Rectangle 19"/>
            <p:cNvSpPr/>
            <p:nvPr/>
          </p:nvSpPr>
          <p:spPr>
            <a:xfrm>
              <a:off x="391953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GPU3</a:t>
              </a:r>
            </a:p>
          </p:txBody>
        </p:sp>
        <p:sp>
          <p:nvSpPr>
            <p:cNvPr id="250" name="Rectangle 20"/>
            <p:cNvSpPr/>
            <p:nvPr/>
          </p:nvSpPr>
          <p:spPr>
            <a:xfrm>
              <a:off x="391953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51" name="Rectangle 21"/>
            <p:cNvSpPr/>
            <p:nvPr/>
          </p:nvSpPr>
          <p:spPr>
            <a:xfrm>
              <a:off x="224790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000" b="0" i="0">
                  <a:solidFill>
                    <a:srgbClr val="262626"/>
                  </a:solidFill>
                  <a:latin typeface="맑은 고딕"/>
                  <a:ea typeface="맑은 고딕"/>
                </a:rPr>
                <a:t>CPU0</a:t>
              </a:r>
            </a:p>
            <a:p>
              <a:pPr algn="ctr">
                <a:lnSpc>
                  <a:spcPct val="115000"/>
                </a:lnSpc>
              </a:pPr>
              <a:r>
                <a:rPr sz="1000" b="0" i="0">
                  <a:solidFill>
                    <a:srgbClr val="262626"/>
                  </a:solidFill>
                  <a:latin typeface="맑은 고딕"/>
                  <a:ea typeface="맑은 고딕"/>
                </a:rPr>
                <a:t>56C · DDR 512GB</a:t>
              </a:r>
            </a:p>
          </p:txBody>
        </p:sp>
        <p:sp>
          <p:nvSpPr>
            <p:cNvPr id="252" name="Rectangle 22"/>
            <p:cNvSpPr/>
            <p:nvPr/>
          </p:nvSpPr>
          <p:spPr>
            <a:xfrm>
              <a:off x="336232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000" b="0" i="0">
                  <a:solidFill>
                    <a:srgbClr val="262626"/>
                  </a:solidFill>
                  <a:latin typeface="맑은 고딕"/>
                  <a:ea typeface="맑은 고딕"/>
                </a:rPr>
                <a:t>CPU1</a:t>
              </a:r>
            </a:p>
            <a:p>
              <a:pPr algn="ctr">
                <a:lnSpc>
                  <a:spcPct val="115000"/>
                </a:lnSpc>
              </a:pPr>
              <a:r>
                <a:rPr sz="1000" b="0" i="0">
                  <a:solidFill>
                    <a:srgbClr val="262626"/>
                  </a:solidFill>
                  <a:latin typeface="맑은 고딕"/>
                  <a:ea typeface="맑은 고딕"/>
                </a:rPr>
                <a:t>56C · DDR 512GB</a:t>
              </a:r>
            </a:p>
          </p:txBody>
        </p:sp>
        <p:sp>
          <p:nvSpPr>
            <p:cNvPr id="253" name="Rectangle 23"/>
            <p:cNvSpPr/>
            <p:nvPr/>
          </p:nvSpPr>
          <p:spPr>
            <a:xfrm>
              <a:off x="2247900"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GPU4</a:t>
              </a:r>
            </a:p>
          </p:txBody>
        </p:sp>
        <p:sp>
          <p:nvSpPr>
            <p:cNvPr id="254" name="Rectangle 24"/>
            <p:cNvSpPr/>
            <p:nvPr/>
          </p:nvSpPr>
          <p:spPr>
            <a:xfrm>
              <a:off x="2247900"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55" name="Rectangle 25"/>
            <p:cNvSpPr/>
            <p:nvPr/>
          </p:nvSpPr>
          <p:spPr>
            <a:xfrm>
              <a:off x="2805112"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GPU5</a:t>
              </a:r>
            </a:p>
          </p:txBody>
        </p:sp>
        <p:sp>
          <p:nvSpPr>
            <p:cNvPr id="256" name="Rectangle 26"/>
            <p:cNvSpPr/>
            <p:nvPr/>
          </p:nvSpPr>
          <p:spPr>
            <a:xfrm>
              <a:off x="2805112"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57" name="Rectangle 27"/>
            <p:cNvSpPr/>
            <p:nvPr/>
          </p:nvSpPr>
          <p:spPr>
            <a:xfrm>
              <a:off x="3362325"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GPU6</a:t>
              </a:r>
            </a:p>
          </p:txBody>
        </p:sp>
        <p:sp>
          <p:nvSpPr>
            <p:cNvPr id="258" name="Rectangle 28"/>
            <p:cNvSpPr/>
            <p:nvPr/>
          </p:nvSpPr>
          <p:spPr>
            <a:xfrm>
              <a:off x="3362325"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59" name="Rectangle 29"/>
            <p:cNvSpPr/>
            <p:nvPr/>
          </p:nvSpPr>
          <p:spPr>
            <a:xfrm>
              <a:off x="3919538"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GPU7</a:t>
              </a:r>
            </a:p>
          </p:txBody>
        </p:sp>
        <p:sp>
          <p:nvSpPr>
            <p:cNvPr id="260" name="Rectangle 30"/>
            <p:cNvSpPr/>
            <p:nvPr/>
          </p:nvSpPr>
          <p:spPr>
            <a:xfrm>
              <a:off x="3919538"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61" name="Rectangle 31"/>
            <p:cNvSpPr/>
            <p:nvPr/>
          </p:nvSpPr>
          <p:spPr>
            <a:xfrm>
              <a:off x="2247900" y="2762250"/>
              <a:ext cx="2195512"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262626"/>
                  </a:solidFill>
                  <a:latin typeface="맑은 고딕"/>
                  <a:ea typeface="맑은 고딕"/>
                </a:rPr>
                <a:t>NVMe SSD  16TB</a:t>
              </a:r>
            </a:p>
          </p:txBody>
        </p:sp>
      </p:grpSp>
      <p:grpSp>
        <p:nvGrpSpPr>
          <p:cNvPr id="3" name="그룹 2"/>
          <p:cNvGrpSpPr/>
          <p:nvPr/>
        </p:nvGrpSpPr>
        <p:grpSpPr>
          <a:xfrm>
            <a:off x="8217714" y="957661"/>
            <a:ext cx="3498274" cy="2778441"/>
            <a:chOff x="4629150" y="965677"/>
            <a:chExt cx="2381251" cy="2101373"/>
          </a:xfrm>
        </p:grpSpPr>
        <p:sp>
          <p:nvSpPr>
            <p:cNvPr id="236" name="Rectangle 6"/>
            <p:cNvSpPr/>
            <p:nvPr/>
          </p:nvSpPr>
          <p:spPr>
            <a:xfrm>
              <a:off x="4629151" y="965677"/>
              <a:ext cx="2381250" cy="16516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dirty="0" smtClean="0">
                  <a:solidFill>
                    <a:srgbClr val="FFFFFF"/>
                  </a:solidFill>
                  <a:latin typeface="맑은 고딕"/>
                  <a:ea typeface="맑은 고딕"/>
                </a:rPr>
                <a:t>H100</a:t>
              </a:r>
              <a:r>
                <a:rPr lang="en-US" sz="1100" b="1" dirty="0" smtClean="0">
                  <a:solidFill>
                    <a:srgbClr val="FFFFFF"/>
                  </a:solidFill>
                  <a:latin typeface="맑은 고딕"/>
                  <a:ea typeface="맑은 고딕"/>
                </a:rPr>
                <a:t>(HBM)</a:t>
              </a:r>
              <a:r>
                <a:rPr sz="1100" b="1" i="0" dirty="0" smtClean="0">
                  <a:solidFill>
                    <a:srgbClr val="FFFFFF"/>
                  </a:solidFill>
                  <a:latin typeface="맑은 고딕"/>
                  <a:ea typeface="맑은 고딕"/>
                </a:rPr>
                <a:t>×6  </a:t>
              </a:r>
              <a:r>
                <a:rPr sz="1100" b="1" i="0" dirty="0">
                  <a:solidFill>
                    <a:srgbClr val="FFFFFF"/>
                  </a:solidFill>
                  <a:latin typeface="맑은 고딕"/>
                  <a:ea typeface="맑은 고딕"/>
                </a:rPr>
                <a:t>+  </a:t>
              </a:r>
              <a:r>
                <a:rPr sz="1100" b="1" i="0" dirty="0" smtClean="0">
                  <a:solidFill>
                    <a:srgbClr val="FFFFFF"/>
                  </a:solidFill>
                  <a:latin typeface="맑은 고딕"/>
                  <a:ea typeface="맑은 고딕"/>
                </a:rPr>
                <a:t>CXL-PNM×2</a:t>
              </a:r>
              <a:r>
                <a:rPr lang="en-US" sz="1100" b="1" i="0" dirty="0" smtClean="0">
                  <a:solidFill>
                    <a:srgbClr val="FFFFFF"/>
                  </a:solidFill>
                  <a:latin typeface="맑은 고딕"/>
                  <a:ea typeface="맑은 고딕"/>
                </a:rPr>
                <a:t> + </a:t>
              </a:r>
              <a:r>
                <a:rPr lang="en-US" sz="1100" b="1" dirty="0" smtClean="0">
                  <a:solidFill>
                    <a:srgbClr val="FFFFFF"/>
                  </a:solidFill>
                  <a:latin typeface="맑은 고딕"/>
                  <a:ea typeface="맑은 고딕"/>
                </a:rPr>
                <a:t>HBF + PIM-SSD</a:t>
              </a:r>
              <a:endParaRPr sz="1100" b="1" i="0" dirty="0">
                <a:solidFill>
                  <a:srgbClr val="FFFFFF"/>
                </a:solidFill>
                <a:latin typeface="맑은 고딕"/>
                <a:ea typeface="맑은 고딕"/>
              </a:endParaRPr>
            </a:p>
          </p:txBody>
        </p:sp>
        <p:sp>
          <p:nvSpPr>
            <p:cNvPr id="262" name="Rectangle 32"/>
            <p:cNvSpPr/>
            <p:nvPr/>
          </p:nvSpPr>
          <p:spPr>
            <a:xfrm>
              <a:off x="462915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800"/>
            </a:p>
          </p:txBody>
        </p:sp>
        <p:sp>
          <p:nvSpPr>
            <p:cNvPr id="263" name="Rectangle 33"/>
            <p:cNvSpPr/>
            <p:nvPr/>
          </p:nvSpPr>
          <p:spPr>
            <a:xfrm>
              <a:off x="470535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GPU0</a:t>
              </a:r>
            </a:p>
          </p:txBody>
        </p:sp>
        <p:sp>
          <p:nvSpPr>
            <p:cNvPr id="264" name="Rectangle 34"/>
            <p:cNvSpPr/>
            <p:nvPr/>
          </p:nvSpPr>
          <p:spPr>
            <a:xfrm>
              <a:off x="470535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65" name="Rectangle 35"/>
            <p:cNvSpPr/>
            <p:nvPr/>
          </p:nvSpPr>
          <p:spPr>
            <a:xfrm>
              <a:off x="526256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GPU1</a:t>
              </a:r>
            </a:p>
          </p:txBody>
        </p:sp>
        <p:sp>
          <p:nvSpPr>
            <p:cNvPr id="266" name="Rectangle 36"/>
            <p:cNvSpPr/>
            <p:nvPr/>
          </p:nvSpPr>
          <p:spPr>
            <a:xfrm>
              <a:off x="526256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67" name="Rectangle 37"/>
            <p:cNvSpPr/>
            <p:nvPr/>
          </p:nvSpPr>
          <p:spPr>
            <a:xfrm>
              <a:off x="581977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GPU2</a:t>
              </a:r>
            </a:p>
          </p:txBody>
        </p:sp>
        <p:sp>
          <p:nvSpPr>
            <p:cNvPr id="268" name="Rectangle 38"/>
            <p:cNvSpPr/>
            <p:nvPr/>
          </p:nvSpPr>
          <p:spPr>
            <a:xfrm>
              <a:off x="581977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69" name="Rectangle 39"/>
            <p:cNvSpPr/>
            <p:nvPr/>
          </p:nvSpPr>
          <p:spPr>
            <a:xfrm>
              <a:off x="637698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GPU3</a:t>
              </a:r>
            </a:p>
          </p:txBody>
        </p:sp>
        <p:sp>
          <p:nvSpPr>
            <p:cNvPr id="270" name="Rectangle 40"/>
            <p:cNvSpPr/>
            <p:nvPr/>
          </p:nvSpPr>
          <p:spPr>
            <a:xfrm>
              <a:off x="637698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1F6FB5"/>
                  </a:solidFill>
                  <a:latin typeface="맑은 고딕"/>
                  <a:ea typeface="맑은 고딕"/>
                </a:rPr>
                <a:t>HBM 80GB</a:t>
              </a:r>
            </a:p>
          </p:txBody>
        </p:sp>
        <p:sp>
          <p:nvSpPr>
            <p:cNvPr id="271" name="Rectangle 41"/>
            <p:cNvSpPr/>
            <p:nvPr/>
          </p:nvSpPr>
          <p:spPr>
            <a:xfrm>
              <a:off x="470535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000" b="0" i="0">
                  <a:solidFill>
                    <a:srgbClr val="262626"/>
                  </a:solidFill>
                  <a:latin typeface="맑은 고딕"/>
                  <a:ea typeface="맑은 고딕"/>
                </a:rPr>
                <a:t>CPU0</a:t>
              </a:r>
            </a:p>
            <a:p>
              <a:pPr algn="ctr">
                <a:lnSpc>
                  <a:spcPct val="115000"/>
                </a:lnSpc>
              </a:pPr>
              <a:r>
                <a:rPr sz="1000" b="0" i="0">
                  <a:solidFill>
                    <a:srgbClr val="262626"/>
                  </a:solidFill>
                  <a:latin typeface="맑은 고딕"/>
                  <a:ea typeface="맑은 고딕"/>
                </a:rPr>
                <a:t>56C · DDR 512GB</a:t>
              </a:r>
            </a:p>
          </p:txBody>
        </p:sp>
        <p:sp>
          <p:nvSpPr>
            <p:cNvPr id="272" name="Rectangle 42"/>
            <p:cNvSpPr/>
            <p:nvPr/>
          </p:nvSpPr>
          <p:spPr>
            <a:xfrm>
              <a:off x="581977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1000" b="0" i="0">
                  <a:solidFill>
                    <a:srgbClr val="262626"/>
                  </a:solidFill>
                  <a:latin typeface="맑은 고딕"/>
                  <a:ea typeface="맑은 고딕"/>
                </a:rPr>
                <a:t>CPU1</a:t>
              </a:r>
            </a:p>
            <a:p>
              <a:pPr algn="ctr">
                <a:lnSpc>
                  <a:spcPct val="115000"/>
                </a:lnSpc>
              </a:pPr>
              <a:r>
                <a:rPr sz="1000" b="0" i="0">
                  <a:solidFill>
                    <a:srgbClr val="262626"/>
                  </a:solidFill>
                  <a:latin typeface="맑은 고딕"/>
                  <a:ea typeface="맑은 고딕"/>
                </a:rPr>
                <a:t>56C · DDR 512GB</a:t>
              </a:r>
            </a:p>
          </p:txBody>
        </p:sp>
        <p:sp>
          <p:nvSpPr>
            <p:cNvPr id="273" name="Rectangle 43"/>
            <p:cNvSpPr/>
            <p:nvPr/>
          </p:nvSpPr>
          <p:spPr>
            <a:xfrm>
              <a:off x="5819775"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PNM0</a:t>
              </a:r>
            </a:p>
          </p:txBody>
        </p:sp>
        <p:sp>
          <p:nvSpPr>
            <p:cNvPr id="274" name="Rectangle 44"/>
            <p:cNvSpPr/>
            <p:nvPr/>
          </p:nvSpPr>
          <p:spPr>
            <a:xfrm>
              <a:off x="5819775"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7F5F00"/>
                  </a:solidFill>
                  <a:latin typeface="맑은 고딕"/>
                  <a:ea typeface="맑은 고딕"/>
                </a:rPr>
                <a:t>DDR 128GB</a:t>
              </a:r>
            </a:p>
          </p:txBody>
        </p:sp>
        <p:sp>
          <p:nvSpPr>
            <p:cNvPr id="275" name="Rectangle 45"/>
            <p:cNvSpPr/>
            <p:nvPr/>
          </p:nvSpPr>
          <p:spPr>
            <a:xfrm>
              <a:off x="6376988"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PNM1</a:t>
              </a:r>
            </a:p>
          </p:txBody>
        </p:sp>
        <p:sp>
          <p:nvSpPr>
            <p:cNvPr id="276" name="Rectangle 46"/>
            <p:cNvSpPr/>
            <p:nvPr/>
          </p:nvSpPr>
          <p:spPr>
            <a:xfrm>
              <a:off x="6376988"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7F5F00"/>
                  </a:solidFill>
                  <a:latin typeface="맑은 고딕"/>
                  <a:ea typeface="맑은 고딕"/>
                </a:rPr>
                <a:t>DDR 128GB</a:t>
              </a:r>
            </a:p>
          </p:txBody>
        </p:sp>
        <p:sp>
          <p:nvSpPr>
            <p:cNvPr id="281" name="Rectangle 51"/>
            <p:cNvSpPr/>
            <p:nvPr/>
          </p:nvSpPr>
          <p:spPr>
            <a:xfrm>
              <a:off x="4705350" y="2762250"/>
              <a:ext cx="2195513"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262626"/>
                  </a:solidFill>
                  <a:latin typeface="맑은 고딕"/>
                  <a:ea typeface="맑은 고딕"/>
                </a:rPr>
                <a:t>NVMe SSD  16TB</a:t>
              </a:r>
            </a:p>
          </p:txBody>
        </p:sp>
        <p:sp>
          <p:nvSpPr>
            <p:cNvPr id="282" name="Rectangle 52"/>
            <p:cNvSpPr/>
            <p:nvPr/>
          </p:nvSpPr>
          <p:spPr>
            <a:xfrm>
              <a:off x="6429611" y="2809858"/>
              <a:ext cx="418628" cy="152434"/>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smtClean="0">
                  <a:solidFill>
                    <a:srgbClr val="375623"/>
                  </a:solidFill>
                  <a:latin typeface="맑은 고딕"/>
                  <a:ea typeface="맑은 고딕"/>
                </a:rPr>
                <a:t>PIM</a:t>
              </a:r>
              <a:endParaRPr sz="1000" b="1" i="0" dirty="0">
                <a:solidFill>
                  <a:srgbClr val="375623"/>
                </a:solidFill>
                <a:latin typeface="맑은 고딕"/>
                <a:ea typeface="맑은 고딕"/>
              </a:endParaRPr>
            </a:p>
          </p:txBody>
        </p:sp>
        <p:sp>
          <p:nvSpPr>
            <p:cNvPr id="356" name="GPU label H4"/>
            <p:cNvSpPr/>
            <p:nvPr/>
          </p:nvSpPr>
          <p:spPr>
            <a:xfrm>
              <a:off x="4705350"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GPU4</a:t>
              </a:r>
            </a:p>
          </p:txBody>
        </p:sp>
        <p:sp>
          <p:nvSpPr>
            <p:cNvPr id="357" name="GPU label H5"/>
            <p:cNvSpPr/>
            <p:nvPr/>
          </p:nvSpPr>
          <p:spPr>
            <a:xfrm>
              <a:off x="5262562"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GPU5</a:t>
              </a:r>
            </a:p>
          </p:txBody>
        </p:sp>
        <p:sp>
          <p:nvSpPr>
            <p:cNvPr id="358" name="HBM half 4"/>
            <p:cNvSpPr/>
            <p:nvPr/>
          </p:nvSpPr>
          <p:spPr>
            <a:xfrm>
              <a:off x="4705350" y="2409825"/>
              <a:ext cx="523875" cy="1524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1F6FB5"/>
                  </a:solidFill>
                  <a:latin typeface="맑은 고딕"/>
                  <a:ea typeface="맑은 고딕"/>
                </a:rPr>
                <a:t>HBM 40GB</a:t>
              </a:r>
            </a:p>
          </p:txBody>
        </p:sp>
        <p:sp>
          <p:nvSpPr>
            <p:cNvPr id="359" name="HBM half 5"/>
            <p:cNvSpPr/>
            <p:nvPr/>
          </p:nvSpPr>
          <p:spPr>
            <a:xfrm>
              <a:off x="5262562" y="2409825"/>
              <a:ext cx="523875" cy="1524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1F6FB5"/>
                  </a:solidFill>
                  <a:latin typeface="맑은 고딕"/>
                  <a:ea typeface="맑은 고딕"/>
                </a:rPr>
                <a:t>HBM 40GB</a:t>
              </a:r>
            </a:p>
          </p:txBody>
        </p:sp>
        <p:sp>
          <p:nvSpPr>
            <p:cNvPr id="360" name="HBF box 4"/>
            <p:cNvSpPr/>
            <p:nvPr/>
          </p:nvSpPr>
          <p:spPr>
            <a:xfrm>
              <a:off x="4705350" y="2562225"/>
              <a:ext cx="523875" cy="152400"/>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4A2E73"/>
                  </a:solidFill>
                  <a:latin typeface="맑은 고딕"/>
                  <a:ea typeface="맑은 고딕"/>
                </a:rPr>
                <a:t>HBF 320GB</a:t>
              </a:r>
            </a:p>
          </p:txBody>
        </p:sp>
        <p:sp>
          <p:nvSpPr>
            <p:cNvPr id="361" name="HBF box 5"/>
            <p:cNvSpPr/>
            <p:nvPr/>
          </p:nvSpPr>
          <p:spPr>
            <a:xfrm>
              <a:off x="5262562" y="2562225"/>
              <a:ext cx="523875" cy="152400"/>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4A2E73"/>
                  </a:solidFill>
                  <a:latin typeface="맑은 고딕"/>
                  <a:ea typeface="맑은 고딕"/>
                </a:rPr>
                <a:t>HBF 320GB</a:t>
              </a:r>
            </a:p>
          </p:txBody>
        </p:sp>
      </p:grpSp>
      <p:grpSp>
        <p:nvGrpSpPr>
          <p:cNvPr id="6" name="그룹 5"/>
          <p:cNvGrpSpPr/>
          <p:nvPr/>
        </p:nvGrpSpPr>
        <p:grpSpPr>
          <a:xfrm>
            <a:off x="234948" y="3914522"/>
            <a:ext cx="11620500" cy="2970665"/>
            <a:chOff x="488681" y="2070246"/>
            <a:chExt cx="11155680" cy="4641821"/>
          </a:xfrm>
        </p:grpSpPr>
        <p:sp>
          <p:nvSpPr>
            <p:cNvPr id="117" name="TextBox 116"/>
            <p:cNvSpPr txBox="1"/>
            <p:nvPr/>
          </p:nvSpPr>
          <p:spPr>
            <a:xfrm>
              <a:off x="6187248" y="2070246"/>
              <a:ext cx="795859" cy="338554"/>
            </a:xfrm>
            <a:prstGeom prst="rect">
              <a:avLst/>
            </a:prstGeom>
            <a:noFill/>
          </p:spPr>
          <p:txBody>
            <a:bodyPr wrap="none" rtlCol="0">
              <a:spAutoFit/>
            </a:bodyPr>
            <a:lstStyle/>
            <a:p>
              <a:r>
                <a:rPr lang="en-US" altLang="ko-KR" sz="1600" b="1" dirty="0" smtClean="0"/>
                <a:t>Target</a:t>
              </a:r>
              <a:endParaRPr lang="ko-KR" altLang="en-US" sz="1600" b="1" dirty="0"/>
            </a:p>
          </p:txBody>
        </p:sp>
        <p:sp>
          <p:nvSpPr>
            <p:cNvPr id="159" name="Rectangle 3"/>
            <p:cNvSpPr/>
            <p:nvPr/>
          </p:nvSpPr>
          <p:spPr>
            <a:xfrm>
              <a:off x="488681" y="2125212"/>
              <a:ext cx="3017520" cy="34747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1050" b="1" i="0">
                  <a:solidFill>
                    <a:srgbClr val="FFFFFF"/>
                  </a:solidFill>
                  <a:latin typeface="맑은 고딕"/>
                  <a:ea typeface="맑은 고딕"/>
                </a:rPr>
                <a:t>항목</a:t>
              </a:r>
            </a:p>
          </p:txBody>
        </p:sp>
        <p:sp>
          <p:nvSpPr>
            <p:cNvPr id="160" name="Rectangle 4"/>
            <p:cNvSpPr/>
            <p:nvPr/>
          </p:nvSpPr>
          <p:spPr>
            <a:xfrm>
              <a:off x="3506200" y="2125212"/>
              <a:ext cx="4069080" cy="34747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dirty="0">
                  <a:solidFill>
                    <a:srgbClr val="FFFFFF"/>
                  </a:solidFill>
                  <a:latin typeface="맑은 고딕"/>
                  <a:ea typeface="맑은 고딕"/>
                </a:rPr>
                <a:t>Baseline  —  GPU × 8</a:t>
              </a:r>
            </a:p>
          </p:txBody>
        </p:sp>
        <p:sp>
          <p:nvSpPr>
            <p:cNvPr id="161" name="Rectangle 5"/>
            <p:cNvSpPr/>
            <p:nvPr/>
          </p:nvSpPr>
          <p:spPr>
            <a:xfrm>
              <a:off x="7575281" y="2125212"/>
              <a:ext cx="4069080" cy="34747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FFFFFF"/>
                  </a:solidFill>
                  <a:latin typeface="맑은 고딕"/>
                  <a:ea typeface="맑은 고딕"/>
                </a:rPr>
                <a:t>Target  —  GPU × 4  +  CXL-PNM × 4</a:t>
              </a:r>
            </a:p>
          </p:txBody>
        </p:sp>
        <p:sp>
          <p:nvSpPr>
            <p:cNvPr id="162" name="Rectangle 6"/>
            <p:cNvSpPr/>
            <p:nvPr/>
          </p:nvSpPr>
          <p:spPr>
            <a:xfrm>
              <a:off x="488681" y="2472684"/>
              <a:ext cx="11155680" cy="237744"/>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00" b="1" i="0" dirty="0" err="1" smtClean="0">
                  <a:solidFill>
                    <a:srgbClr val="404040"/>
                  </a:solidFill>
                  <a:latin typeface="맑은 고딕"/>
                  <a:ea typeface="맑은 고딕"/>
                </a:rPr>
                <a:t>계층별</a:t>
              </a:r>
              <a:r>
                <a:rPr sz="900" b="1" i="0" dirty="0" smtClean="0">
                  <a:solidFill>
                    <a:srgbClr val="404040"/>
                  </a:solidFill>
                  <a:latin typeface="맑은 고딕"/>
                  <a:ea typeface="맑은 고딕"/>
                </a:rPr>
                <a:t>  </a:t>
              </a:r>
              <a:r>
                <a:rPr sz="900" b="1" i="0" dirty="0" err="1" smtClean="0">
                  <a:solidFill>
                    <a:srgbClr val="404040"/>
                  </a:solidFill>
                  <a:latin typeface="맑은 고딕"/>
                  <a:ea typeface="맑은 고딕"/>
                </a:rPr>
                <a:t>용량</a:t>
              </a:r>
              <a:r>
                <a:rPr sz="900" b="1" i="0" dirty="0" smtClean="0">
                  <a:solidFill>
                    <a:srgbClr val="404040"/>
                  </a:solidFill>
                  <a:latin typeface="맑은 고딕"/>
                  <a:ea typeface="맑은 고딕"/>
                </a:rPr>
                <a:t>  ·  </a:t>
              </a:r>
              <a:r>
                <a:rPr sz="900" b="1" i="0" dirty="0" err="1" smtClean="0">
                  <a:solidFill>
                    <a:srgbClr val="404040"/>
                  </a:solidFill>
                  <a:latin typeface="맑은 고딕"/>
                  <a:ea typeface="맑은 고딕"/>
                </a:rPr>
                <a:t>대역폭</a:t>
              </a:r>
              <a:endParaRPr sz="900" b="1" i="0" dirty="0">
                <a:solidFill>
                  <a:srgbClr val="404040"/>
                </a:solidFill>
                <a:latin typeface="맑은 고딕"/>
                <a:ea typeface="맑은 고딕"/>
              </a:endParaRPr>
            </a:p>
          </p:txBody>
        </p:sp>
        <p:sp>
          <p:nvSpPr>
            <p:cNvPr id="163" name="Rectangle 7"/>
            <p:cNvSpPr/>
            <p:nvPr/>
          </p:nvSpPr>
          <p:spPr>
            <a:xfrm>
              <a:off x="488681" y="2710428"/>
              <a:ext cx="301752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0" i="0">
                  <a:solidFill>
                    <a:srgbClr val="808080"/>
                  </a:solidFill>
                  <a:latin typeface="맑은 고딕"/>
                  <a:ea typeface="맑은 고딕"/>
                </a:rPr>
                <a:t>HBM</a:t>
              </a:r>
            </a:p>
          </p:txBody>
        </p:sp>
        <p:sp>
          <p:nvSpPr>
            <p:cNvPr id="164" name="Rectangle 8"/>
            <p:cNvSpPr/>
            <p:nvPr/>
          </p:nvSpPr>
          <p:spPr>
            <a:xfrm>
              <a:off x="3506200" y="2710428"/>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640 GB  ·  26.8 TB/s</a:t>
              </a:r>
            </a:p>
          </p:txBody>
        </p:sp>
        <p:sp>
          <p:nvSpPr>
            <p:cNvPr id="165" name="Rectangle 9"/>
            <p:cNvSpPr/>
            <p:nvPr/>
          </p:nvSpPr>
          <p:spPr>
            <a:xfrm>
              <a:off x="7575281" y="2710428"/>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400 GB  ·  16.75 TB/s</a:t>
              </a:r>
            </a:p>
          </p:txBody>
        </p:sp>
        <p:sp>
          <p:nvSpPr>
            <p:cNvPr id="166" name="Rectangle 10"/>
            <p:cNvSpPr/>
            <p:nvPr/>
          </p:nvSpPr>
          <p:spPr>
            <a:xfrm>
              <a:off x="488681" y="3016752"/>
              <a:ext cx="301752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0" i="0">
                  <a:solidFill>
                    <a:srgbClr val="808080"/>
                  </a:solidFill>
                  <a:latin typeface="맑은 고딕"/>
                  <a:ea typeface="맑은 고딕"/>
                </a:rPr>
                <a:t>HBF</a:t>
              </a:r>
            </a:p>
          </p:txBody>
        </p:sp>
        <p:sp>
          <p:nvSpPr>
            <p:cNvPr id="167" name="Rectangle 11"/>
            <p:cNvSpPr/>
            <p:nvPr/>
          </p:nvSpPr>
          <p:spPr>
            <a:xfrm>
              <a:off x="3506200" y="3016752"/>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a:t>
              </a:r>
            </a:p>
          </p:txBody>
        </p:sp>
        <p:sp>
          <p:nvSpPr>
            <p:cNvPr id="168" name="Rectangle 12"/>
            <p:cNvSpPr/>
            <p:nvPr/>
          </p:nvSpPr>
          <p:spPr>
            <a:xfrm>
              <a:off x="7575281" y="3016752"/>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640 GB  ·  3.35 TB/s</a:t>
              </a:r>
            </a:p>
          </p:txBody>
        </p:sp>
        <p:sp>
          <p:nvSpPr>
            <p:cNvPr id="169" name="Rectangle 13"/>
            <p:cNvSpPr/>
            <p:nvPr/>
          </p:nvSpPr>
          <p:spPr>
            <a:xfrm>
              <a:off x="488681" y="3323076"/>
              <a:ext cx="301752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0" i="0">
                  <a:solidFill>
                    <a:srgbClr val="808080"/>
                  </a:solidFill>
                  <a:latin typeface="맑은 고딕"/>
                  <a:ea typeface="맑은 고딕"/>
                </a:rPr>
                <a:t>CXL-PNM (DDR)</a:t>
              </a:r>
            </a:p>
          </p:txBody>
        </p:sp>
        <p:sp>
          <p:nvSpPr>
            <p:cNvPr id="170" name="Rectangle 14"/>
            <p:cNvSpPr/>
            <p:nvPr/>
          </p:nvSpPr>
          <p:spPr>
            <a:xfrm>
              <a:off x="3506200" y="3323076"/>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a:t>
              </a:r>
            </a:p>
          </p:txBody>
        </p:sp>
        <p:sp>
          <p:nvSpPr>
            <p:cNvPr id="171" name="Rectangle 15"/>
            <p:cNvSpPr/>
            <p:nvPr/>
          </p:nvSpPr>
          <p:spPr>
            <a:xfrm>
              <a:off x="7575281" y="3323076"/>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256 GB  ·  400 GB/s</a:t>
              </a:r>
            </a:p>
          </p:txBody>
        </p:sp>
        <p:sp>
          <p:nvSpPr>
            <p:cNvPr id="172" name="Rectangle 16"/>
            <p:cNvSpPr/>
            <p:nvPr/>
          </p:nvSpPr>
          <p:spPr>
            <a:xfrm>
              <a:off x="488681" y="3629400"/>
              <a:ext cx="301752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0" i="0">
                  <a:solidFill>
                    <a:srgbClr val="808080"/>
                  </a:solidFill>
                  <a:latin typeface="맑은 고딕"/>
                  <a:ea typeface="맑은 고딕"/>
                </a:rPr>
                <a:t>CPU DDR</a:t>
              </a:r>
            </a:p>
          </p:txBody>
        </p:sp>
        <p:sp>
          <p:nvSpPr>
            <p:cNvPr id="173" name="Rectangle 17"/>
            <p:cNvSpPr/>
            <p:nvPr/>
          </p:nvSpPr>
          <p:spPr>
            <a:xfrm>
              <a:off x="3506200" y="3629400"/>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1,024 GB  ·  350 GB/s</a:t>
              </a:r>
            </a:p>
          </p:txBody>
        </p:sp>
        <p:sp>
          <p:nvSpPr>
            <p:cNvPr id="174" name="Rectangle 18"/>
            <p:cNvSpPr/>
            <p:nvPr/>
          </p:nvSpPr>
          <p:spPr>
            <a:xfrm>
              <a:off x="7575281" y="3629400"/>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1,024 GB  ·  350 GB/s</a:t>
              </a:r>
            </a:p>
          </p:txBody>
        </p:sp>
        <p:sp>
          <p:nvSpPr>
            <p:cNvPr id="175" name="Rectangle 19"/>
            <p:cNvSpPr/>
            <p:nvPr/>
          </p:nvSpPr>
          <p:spPr>
            <a:xfrm>
              <a:off x="488681" y="3935724"/>
              <a:ext cx="301752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0" i="0">
                  <a:solidFill>
                    <a:srgbClr val="808080"/>
                  </a:solidFill>
                  <a:latin typeface="맑은 고딕"/>
                  <a:ea typeface="맑은 고딕"/>
                </a:rPr>
                <a:t>NVMe SSD</a:t>
              </a:r>
            </a:p>
          </p:txBody>
        </p:sp>
        <p:sp>
          <p:nvSpPr>
            <p:cNvPr id="176" name="Rectangle 20"/>
            <p:cNvSpPr/>
            <p:nvPr/>
          </p:nvSpPr>
          <p:spPr>
            <a:xfrm>
              <a:off x="3506200" y="3935724"/>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16,000 GB  ·  28 GB/s</a:t>
              </a:r>
            </a:p>
          </p:txBody>
        </p:sp>
        <p:sp>
          <p:nvSpPr>
            <p:cNvPr id="177" name="Rectangle 21"/>
            <p:cNvSpPr/>
            <p:nvPr/>
          </p:nvSpPr>
          <p:spPr>
            <a:xfrm>
              <a:off x="7575281" y="3935724"/>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16,000 GB  ·  28 GB/s</a:t>
              </a:r>
            </a:p>
          </p:txBody>
        </p:sp>
        <p:sp>
          <p:nvSpPr>
            <p:cNvPr id="178" name="Rectangle 22"/>
            <p:cNvSpPr/>
            <p:nvPr/>
          </p:nvSpPr>
          <p:spPr>
            <a:xfrm>
              <a:off x="488681" y="4242048"/>
              <a:ext cx="301752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0" i="0">
                  <a:solidFill>
                    <a:srgbClr val="808080"/>
                  </a:solidFill>
                  <a:latin typeface="맑은 고딕"/>
                  <a:ea typeface="맑은 고딕"/>
                </a:rPr>
                <a:t>PIM-SSD</a:t>
              </a:r>
            </a:p>
          </p:txBody>
        </p:sp>
        <p:sp>
          <p:nvSpPr>
            <p:cNvPr id="179" name="Rectangle 23"/>
            <p:cNvSpPr/>
            <p:nvPr/>
          </p:nvSpPr>
          <p:spPr>
            <a:xfrm>
              <a:off x="3506200" y="4242048"/>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a:t>
              </a:r>
            </a:p>
          </p:txBody>
        </p:sp>
        <p:sp>
          <p:nvSpPr>
            <p:cNvPr id="180" name="Rectangle 24"/>
            <p:cNvSpPr/>
            <p:nvPr/>
          </p:nvSpPr>
          <p:spPr>
            <a:xfrm>
              <a:off x="7575281" y="4242048"/>
              <a:ext cx="4069080" cy="3063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0" i="0">
                  <a:solidFill>
                    <a:srgbClr val="404040"/>
                  </a:solidFill>
                  <a:latin typeface="맑은 고딕"/>
                  <a:ea typeface="맑은 고딕"/>
                </a:rPr>
                <a:t>16,000 GB  ·  28 GB/s</a:t>
              </a:r>
            </a:p>
          </p:txBody>
        </p:sp>
        <p:sp>
          <p:nvSpPr>
            <p:cNvPr id="181" name="Rectangle 25"/>
            <p:cNvSpPr/>
            <p:nvPr/>
          </p:nvSpPr>
          <p:spPr>
            <a:xfrm>
              <a:off x="488681" y="4548372"/>
              <a:ext cx="11155680" cy="237744"/>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00" b="1" i="0">
                  <a:solidFill>
                    <a:srgbClr val="404040"/>
                  </a:solidFill>
                  <a:latin typeface="맑은 고딕"/>
                  <a:ea typeface="맑은 고딕"/>
                </a:rPr>
                <a:t>종합</a:t>
              </a:r>
            </a:p>
          </p:txBody>
        </p:sp>
        <p:sp>
          <p:nvSpPr>
            <p:cNvPr id="182" name="Rectangle 26"/>
            <p:cNvSpPr/>
            <p:nvPr/>
          </p:nvSpPr>
          <p:spPr>
            <a:xfrm>
              <a:off x="488681" y="4786116"/>
              <a:ext cx="301752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1" i="0">
                  <a:solidFill>
                    <a:srgbClr val="262626"/>
                  </a:solidFill>
                  <a:latin typeface="맑은 고딕"/>
                  <a:ea typeface="맑은 고딕"/>
                </a:rPr>
                <a:t>가속기측 고대역 용량</a:t>
              </a:r>
            </a:p>
          </p:txBody>
        </p:sp>
        <p:sp>
          <p:nvSpPr>
            <p:cNvPr id="183" name="Rectangle 27"/>
            <p:cNvSpPr/>
            <p:nvPr/>
          </p:nvSpPr>
          <p:spPr>
            <a:xfrm>
              <a:off x="3506200" y="4786116"/>
              <a:ext cx="406908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262626"/>
                  </a:solidFill>
                  <a:latin typeface="맑은 고딕"/>
                  <a:ea typeface="맑은 고딕"/>
                </a:rPr>
                <a:t>640 GB  (1.00×)</a:t>
              </a:r>
            </a:p>
          </p:txBody>
        </p:sp>
        <p:sp>
          <p:nvSpPr>
            <p:cNvPr id="184" name="Rectangle 28"/>
            <p:cNvSpPr/>
            <p:nvPr/>
          </p:nvSpPr>
          <p:spPr>
            <a:xfrm>
              <a:off x="7575281" y="4786116"/>
              <a:ext cx="406908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262626"/>
                  </a:solidFill>
                  <a:latin typeface="맑은 고딕"/>
                  <a:ea typeface="맑은 고딕"/>
                </a:rPr>
                <a:t>1,296 GB  (2.03×)</a:t>
              </a:r>
            </a:p>
          </p:txBody>
        </p:sp>
        <p:sp>
          <p:nvSpPr>
            <p:cNvPr id="185" name="Rectangle 29"/>
            <p:cNvSpPr/>
            <p:nvPr/>
          </p:nvSpPr>
          <p:spPr>
            <a:xfrm>
              <a:off x="488681" y="5092440"/>
              <a:ext cx="301752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1" i="0">
                  <a:solidFill>
                    <a:srgbClr val="262626"/>
                  </a:solidFill>
                  <a:latin typeface="맑은 고딕"/>
                  <a:ea typeface="맑은 고딕"/>
                </a:rPr>
                <a:t>가속기측 고대역 대역폭</a:t>
              </a:r>
            </a:p>
          </p:txBody>
        </p:sp>
        <p:sp>
          <p:nvSpPr>
            <p:cNvPr id="186" name="Rectangle 30"/>
            <p:cNvSpPr/>
            <p:nvPr/>
          </p:nvSpPr>
          <p:spPr>
            <a:xfrm>
              <a:off x="3506200" y="5092440"/>
              <a:ext cx="406908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262626"/>
                  </a:solidFill>
                  <a:latin typeface="맑은 고딕"/>
                  <a:ea typeface="맑은 고딕"/>
                </a:rPr>
                <a:t>26.8 TB/s  (1.00×)</a:t>
              </a:r>
            </a:p>
          </p:txBody>
        </p:sp>
        <p:sp>
          <p:nvSpPr>
            <p:cNvPr id="187" name="Rectangle 31"/>
            <p:cNvSpPr/>
            <p:nvPr/>
          </p:nvSpPr>
          <p:spPr>
            <a:xfrm>
              <a:off x="7575281" y="5092440"/>
              <a:ext cx="406908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262626"/>
                  </a:solidFill>
                  <a:latin typeface="맑은 고딕"/>
                  <a:ea typeface="맑은 고딕"/>
                </a:rPr>
                <a:t>20.5 TB/s  (0.76×)</a:t>
              </a:r>
            </a:p>
          </p:txBody>
        </p:sp>
        <p:sp>
          <p:nvSpPr>
            <p:cNvPr id="188" name="Rectangle 32"/>
            <p:cNvSpPr/>
            <p:nvPr/>
          </p:nvSpPr>
          <p:spPr>
            <a:xfrm>
              <a:off x="488681" y="5398764"/>
              <a:ext cx="301752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1" i="0">
                  <a:solidFill>
                    <a:srgbClr val="262626"/>
                  </a:solidFill>
                  <a:latin typeface="맑은 고딕"/>
                  <a:ea typeface="맑은 고딕"/>
                </a:rPr>
                <a:t>총 메모리 용량</a:t>
              </a:r>
            </a:p>
          </p:txBody>
        </p:sp>
        <p:sp>
          <p:nvSpPr>
            <p:cNvPr id="189" name="Rectangle 33"/>
            <p:cNvSpPr/>
            <p:nvPr/>
          </p:nvSpPr>
          <p:spPr>
            <a:xfrm>
              <a:off x="3506200" y="5398764"/>
              <a:ext cx="406908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262626"/>
                  </a:solidFill>
                  <a:latin typeface="맑은 고딕"/>
                  <a:ea typeface="맑은 고딕"/>
                </a:rPr>
                <a:t>17,664 GB  (1.00×)</a:t>
              </a:r>
            </a:p>
          </p:txBody>
        </p:sp>
        <p:sp>
          <p:nvSpPr>
            <p:cNvPr id="190" name="Rectangle 34"/>
            <p:cNvSpPr/>
            <p:nvPr/>
          </p:nvSpPr>
          <p:spPr>
            <a:xfrm>
              <a:off x="7575281" y="5398764"/>
              <a:ext cx="4069080" cy="30632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262626"/>
                  </a:solidFill>
                  <a:latin typeface="맑은 고딕"/>
                  <a:ea typeface="맑은 고딕"/>
                </a:rPr>
                <a:t>34,320 GB  (1.94×)</a:t>
              </a:r>
            </a:p>
          </p:txBody>
        </p:sp>
        <p:sp>
          <p:nvSpPr>
            <p:cNvPr id="191" name="Rectangle 35"/>
            <p:cNvSpPr/>
            <p:nvPr/>
          </p:nvSpPr>
          <p:spPr>
            <a:xfrm>
              <a:off x="488681" y="5705088"/>
              <a:ext cx="3017520" cy="306324"/>
            </a:xfrm>
            <a:prstGeom prst="rect">
              <a:avLst/>
            </a:prstGeom>
            <a:solidFill>
              <a:srgbClr val="1F4E7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1" i="0">
                  <a:solidFill>
                    <a:srgbClr val="FFFFFF"/>
                  </a:solidFill>
                  <a:latin typeface="맑은 고딕"/>
                  <a:ea typeface="맑은 고딕"/>
                </a:rPr>
                <a:t>메모리 · SSD 비용</a:t>
              </a:r>
            </a:p>
          </p:txBody>
        </p:sp>
        <p:sp>
          <p:nvSpPr>
            <p:cNvPr id="192" name="Rectangle 36"/>
            <p:cNvSpPr/>
            <p:nvPr/>
          </p:nvSpPr>
          <p:spPr>
            <a:xfrm>
              <a:off x="3506200" y="5705088"/>
              <a:ext cx="4069080" cy="306324"/>
            </a:xfrm>
            <a:prstGeom prst="rect">
              <a:avLst/>
            </a:prstGeom>
            <a:solidFill>
              <a:srgbClr val="1F4E7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$172K  (1.00×)</a:t>
              </a:r>
            </a:p>
          </p:txBody>
        </p:sp>
        <p:sp>
          <p:nvSpPr>
            <p:cNvPr id="193" name="Rectangle 37"/>
            <p:cNvSpPr/>
            <p:nvPr/>
          </p:nvSpPr>
          <p:spPr>
            <a:xfrm>
              <a:off x="7575281" y="5705088"/>
              <a:ext cx="4069080" cy="306324"/>
            </a:xfrm>
            <a:prstGeom prst="rect">
              <a:avLst/>
            </a:prstGeom>
            <a:solidFill>
              <a:srgbClr val="1F4E7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$237K  (1.38×)</a:t>
              </a:r>
            </a:p>
          </p:txBody>
        </p:sp>
        <p:sp>
          <p:nvSpPr>
            <p:cNvPr id="194" name="Rectangle 38"/>
            <p:cNvSpPr/>
            <p:nvPr/>
          </p:nvSpPr>
          <p:spPr>
            <a:xfrm>
              <a:off x="488681" y="6011412"/>
              <a:ext cx="3017520" cy="306324"/>
            </a:xfrm>
            <a:prstGeom prst="rect">
              <a:avLst/>
            </a:prstGeom>
            <a:solidFill>
              <a:srgbClr val="1F4E7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950" b="1" i="0">
                  <a:solidFill>
                    <a:srgbClr val="FFFFFF"/>
                  </a:solidFill>
                  <a:latin typeface="맑은 고딕"/>
                  <a:ea typeface="맑은 고딕"/>
                </a:rPr>
                <a:t>가속기 카드 비용</a:t>
              </a:r>
            </a:p>
          </p:txBody>
        </p:sp>
        <p:sp>
          <p:nvSpPr>
            <p:cNvPr id="195" name="Rectangle 39"/>
            <p:cNvSpPr/>
            <p:nvPr/>
          </p:nvSpPr>
          <p:spPr>
            <a:xfrm>
              <a:off x="3506200" y="6011412"/>
              <a:ext cx="4069080" cy="306324"/>
            </a:xfrm>
            <a:prstGeom prst="rect">
              <a:avLst/>
            </a:prstGeom>
            <a:solidFill>
              <a:srgbClr val="1F4E7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$960K  (1.00×)</a:t>
              </a:r>
            </a:p>
          </p:txBody>
        </p:sp>
        <p:sp>
          <p:nvSpPr>
            <p:cNvPr id="196" name="Rectangle 40"/>
            <p:cNvSpPr/>
            <p:nvPr/>
          </p:nvSpPr>
          <p:spPr>
            <a:xfrm>
              <a:off x="7575281" y="6011412"/>
              <a:ext cx="4069080" cy="306324"/>
            </a:xfrm>
            <a:prstGeom prst="rect">
              <a:avLst/>
            </a:prstGeom>
            <a:solidFill>
              <a:srgbClr val="1F4E7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$732K  (0.76×)</a:t>
              </a:r>
            </a:p>
          </p:txBody>
        </p:sp>
        <p:sp>
          <p:nvSpPr>
            <p:cNvPr id="197" name="TextBox 196"/>
            <p:cNvSpPr txBox="1"/>
            <p:nvPr/>
          </p:nvSpPr>
          <p:spPr>
            <a:xfrm>
              <a:off x="488681" y="6482328"/>
              <a:ext cx="11155680" cy="229739"/>
            </a:xfrm>
            <a:prstGeom prst="rect">
              <a:avLst/>
            </a:prstGeom>
            <a:noFill/>
          </p:spPr>
          <p:txBody>
            <a:bodyPr wrap="square" lIns="0" tIns="0" rIns="0" bIns="0" anchor="t">
              <a:spAutoFit/>
            </a:bodyPr>
            <a:lstStyle/>
            <a:p>
              <a:pPr algn="l">
                <a:lnSpc>
                  <a:spcPct val="135000"/>
                </a:lnSpc>
              </a:pPr>
              <a:endParaRPr sz="800" b="0" i="0" dirty="0">
                <a:solidFill>
                  <a:srgbClr val="808080"/>
                </a:solidFill>
                <a:latin typeface="맑은 고딕"/>
                <a:ea typeface="맑은 고딕"/>
              </a:endParaRPr>
            </a:p>
          </p:txBody>
        </p:sp>
      </p:grpSp>
    </p:spTree>
    <p:extLst>
      <p:ext uri="{BB962C8B-B14F-4D97-AF65-F5344CB8AC3E}">
        <p14:creationId xmlns:p14="http://schemas.microsoft.com/office/powerpoint/2010/main" val="2022247773"/>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sp>
        <p:nvSpPr>
          <p:cNvPr id="119" name="Rectangle 3"/>
          <p:cNvSpPr/>
          <p:nvPr/>
        </p:nvSpPr>
        <p:spPr>
          <a:xfrm>
            <a:off x="365760" y="694944"/>
            <a:ext cx="11521440" cy="18288"/>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1" name="Rectangle 5"/>
          <p:cNvSpPr/>
          <p:nvPr/>
        </p:nvSpPr>
        <p:spPr>
          <a:xfrm>
            <a:off x="2468880" y="804672"/>
            <a:ext cx="3054096"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Baseline  —  GPU × 8</a:t>
            </a:r>
          </a:p>
        </p:txBody>
      </p:sp>
      <p:sp>
        <p:nvSpPr>
          <p:cNvPr id="236" name="Rectangle 6"/>
          <p:cNvSpPr/>
          <p:nvPr/>
        </p:nvSpPr>
        <p:spPr>
          <a:xfrm>
            <a:off x="5650992" y="804672"/>
            <a:ext cx="3054096"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Target 1  —  GPU × 4  +  CXL-PNM × 4</a:t>
            </a:r>
          </a:p>
        </p:txBody>
      </p:sp>
      <p:sp>
        <p:nvSpPr>
          <p:cNvPr id="237" name="Rectangle 7"/>
          <p:cNvSpPr/>
          <p:nvPr/>
        </p:nvSpPr>
        <p:spPr>
          <a:xfrm>
            <a:off x="8833104" y="804672"/>
            <a:ext cx="3054096"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Target 2  —  Target 1 + HBM 절반을 HBF로</a:t>
            </a:r>
          </a:p>
        </p:txBody>
      </p:sp>
      <p:sp>
        <p:nvSpPr>
          <p:cNvPr id="242" name="Rectangle 12"/>
          <p:cNvSpPr/>
          <p:nvPr/>
        </p:nvSpPr>
        <p:spPr>
          <a:xfrm>
            <a:off x="2468880" y="1133856"/>
            <a:ext cx="3054096" cy="224942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3" name="Rectangle 13"/>
          <p:cNvSpPr/>
          <p:nvPr/>
        </p:nvSpPr>
        <p:spPr>
          <a:xfrm>
            <a:off x="2560320"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44" name="Rectangle 14"/>
          <p:cNvSpPr/>
          <p:nvPr/>
        </p:nvSpPr>
        <p:spPr>
          <a:xfrm>
            <a:off x="2560320"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5" name="Rectangle 15"/>
          <p:cNvSpPr/>
          <p:nvPr/>
        </p:nvSpPr>
        <p:spPr>
          <a:xfrm>
            <a:off x="3284982"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46" name="Rectangle 16"/>
          <p:cNvSpPr/>
          <p:nvPr/>
        </p:nvSpPr>
        <p:spPr>
          <a:xfrm>
            <a:off x="3284982"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7" name="Rectangle 17"/>
          <p:cNvSpPr/>
          <p:nvPr/>
        </p:nvSpPr>
        <p:spPr>
          <a:xfrm>
            <a:off x="4009644"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48" name="Rectangle 18"/>
          <p:cNvSpPr/>
          <p:nvPr/>
        </p:nvSpPr>
        <p:spPr>
          <a:xfrm>
            <a:off x="4009644"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9" name="Rectangle 19"/>
          <p:cNvSpPr/>
          <p:nvPr/>
        </p:nvSpPr>
        <p:spPr>
          <a:xfrm>
            <a:off x="4734306"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50" name="Rectangle 20"/>
          <p:cNvSpPr/>
          <p:nvPr/>
        </p:nvSpPr>
        <p:spPr>
          <a:xfrm>
            <a:off x="4734306"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1" name="Rectangle 21"/>
          <p:cNvSpPr/>
          <p:nvPr/>
        </p:nvSpPr>
        <p:spPr>
          <a:xfrm>
            <a:off x="2560320"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dirty="0">
                <a:solidFill>
                  <a:srgbClr val="262626"/>
                </a:solidFill>
                <a:latin typeface="맑은 고딕"/>
                <a:ea typeface="맑은 고딕"/>
              </a:rPr>
              <a:t>CPU0</a:t>
            </a:r>
          </a:p>
          <a:p>
            <a:pPr algn="ctr">
              <a:lnSpc>
                <a:spcPct val="115000"/>
              </a:lnSpc>
            </a:pPr>
            <a:r>
              <a:rPr sz="750" b="0" i="0" dirty="0">
                <a:solidFill>
                  <a:srgbClr val="262626"/>
                </a:solidFill>
                <a:latin typeface="맑은 고딕"/>
                <a:ea typeface="맑은 고딕"/>
              </a:rPr>
              <a:t>56 cores · DDR 512GB</a:t>
            </a:r>
          </a:p>
        </p:txBody>
      </p:sp>
      <p:sp>
        <p:nvSpPr>
          <p:cNvPr id="252" name="Rectangle 22"/>
          <p:cNvSpPr/>
          <p:nvPr/>
        </p:nvSpPr>
        <p:spPr>
          <a:xfrm>
            <a:off x="4009644"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 cores · DDR 512GB</a:t>
            </a:r>
          </a:p>
        </p:txBody>
      </p:sp>
      <p:sp>
        <p:nvSpPr>
          <p:cNvPr id="253" name="Rectangle 23"/>
          <p:cNvSpPr/>
          <p:nvPr/>
        </p:nvSpPr>
        <p:spPr>
          <a:xfrm>
            <a:off x="2560320"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254" name="Rectangle 24"/>
          <p:cNvSpPr/>
          <p:nvPr/>
        </p:nvSpPr>
        <p:spPr>
          <a:xfrm>
            <a:off x="2560320"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5" name="Rectangle 25"/>
          <p:cNvSpPr/>
          <p:nvPr/>
        </p:nvSpPr>
        <p:spPr>
          <a:xfrm>
            <a:off x="3284982"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256" name="Rectangle 26"/>
          <p:cNvSpPr/>
          <p:nvPr/>
        </p:nvSpPr>
        <p:spPr>
          <a:xfrm>
            <a:off x="3284982"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7" name="Rectangle 27"/>
          <p:cNvSpPr/>
          <p:nvPr/>
        </p:nvSpPr>
        <p:spPr>
          <a:xfrm>
            <a:off x="4009644"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GPU6</a:t>
            </a:r>
          </a:p>
        </p:txBody>
      </p:sp>
      <p:sp>
        <p:nvSpPr>
          <p:cNvPr id="258" name="Rectangle 28"/>
          <p:cNvSpPr/>
          <p:nvPr/>
        </p:nvSpPr>
        <p:spPr>
          <a:xfrm>
            <a:off x="4009644"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9" name="Rectangle 29"/>
          <p:cNvSpPr/>
          <p:nvPr/>
        </p:nvSpPr>
        <p:spPr>
          <a:xfrm>
            <a:off x="4734306" y="2377440"/>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GPU7</a:t>
            </a:r>
          </a:p>
        </p:txBody>
      </p:sp>
      <p:sp>
        <p:nvSpPr>
          <p:cNvPr id="260" name="Rectangle 30"/>
          <p:cNvSpPr/>
          <p:nvPr/>
        </p:nvSpPr>
        <p:spPr>
          <a:xfrm>
            <a:off x="4734306" y="2615184"/>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1" name="Rectangle 31"/>
          <p:cNvSpPr/>
          <p:nvPr/>
        </p:nvSpPr>
        <p:spPr>
          <a:xfrm>
            <a:off x="2560320" y="3035808"/>
            <a:ext cx="2871215"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62" name="Rectangle 32"/>
          <p:cNvSpPr/>
          <p:nvPr/>
        </p:nvSpPr>
        <p:spPr>
          <a:xfrm>
            <a:off x="5650992" y="1133856"/>
            <a:ext cx="3054096" cy="224942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3" name="Rectangle 33"/>
          <p:cNvSpPr/>
          <p:nvPr/>
        </p:nvSpPr>
        <p:spPr>
          <a:xfrm>
            <a:off x="5742431"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64" name="Rectangle 34"/>
          <p:cNvSpPr/>
          <p:nvPr/>
        </p:nvSpPr>
        <p:spPr>
          <a:xfrm>
            <a:off x="5742431"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5" name="Rectangle 35"/>
          <p:cNvSpPr/>
          <p:nvPr/>
        </p:nvSpPr>
        <p:spPr>
          <a:xfrm>
            <a:off x="6467094"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66" name="Rectangle 36"/>
          <p:cNvSpPr/>
          <p:nvPr/>
        </p:nvSpPr>
        <p:spPr>
          <a:xfrm>
            <a:off x="6467094"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7" name="Rectangle 37"/>
          <p:cNvSpPr/>
          <p:nvPr/>
        </p:nvSpPr>
        <p:spPr>
          <a:xfrm>
            <a:off x="7191755"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68" name="Rectangle 38"/>
          <p:cNvSpPr/>
          <p:nvPr/>
        </p:nvSpPr>
        <p:spPr>
          <a:xfrm>
            <a:off x="7191755"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9" name="Rectangle 39"/>
          <p:cNvSpPr/>
          <p:nvPr/>
        </p:nvSpPr>
        <p:spPr>
          <a:xfrm>
            <a:off x="7916417"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70" name="Rectangle 40"/>
          <p:cNvSpPr/>
          <p:nvPr/>
        </p:nvSpPr>
        <p:spPr>
          <a:xfrm>
            <a:off x="7916417" y="1444752"/>
            <a:ext cx="697230"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71" name="Rectangle 41"/>
          <p:cNvSpPr/>
          <p:nvPr/>
        </p:nvSpPr>
        <p:spPr>
          <a:xfrm>
            <a:off x="5742431"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 cores · DDR 512GB</a:t>
            </a:r>
          </a:p>
        </p:txBody>
      </p:sp>
      <p:sp>
        <p:nvSpPr>
          <p:cNvPr id="272" name="Rectangle 42"/>
          <p:cNvSpPr/>
          <p:nvPr/>
        </p:nvSpPr>
        <p:spPr>
          <a:xfrm>
            <a:off x="7191755"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 cores · DDR 512GB</a:t>
            </a:r>
          </a:p>
        </p:txBody>
      </p:sp>
      <p:sp>
        <p:nvSpPr>
          <p:cNvPr id="273" name="Rectangle 43"/>
          <p:cNvSpPr/>
          <p:nvPr/>
        </p:nvSpPr>
        <p:spPr>
          <a:xfrm>
            <a:off x="5742431"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CXL-PNM0</a:t>
            </a:r>
          </a:p>
        </p:txBody>
      </p:sp>
      <p:sp>
        <p:nvSpPr>
          <p:cNvPr id="274" name="Rectangle 44"/>
          <p:cNvSpPr/>
          <p:nvPr/>
        </p:nvSpPr>
        <p:spPr>
          <a:xfrm>
            <a:off x="5742431"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5" name="Rectangle 45"/>
          <p:cNvSpPr/>
          <p:nvPr/>
        </p:nvSpPr>
        <p:spPr>
          <a:xfrm>
            <a:off x="6467094"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CXL-PNM1</a:t>
            </a:r>
          </a:p>
        </p:txBody>
      </p:sp>
      <p:sp>
        <p:nvSpPr>
          <p:cNvPr id="276" name="Rectangle 46"/>
          <p:cNvSpPr/>
          <p:nvPr/>
        </p:nvSpPr>
        <p:spPr>
          <a:xfrm>
            <a:off x="6467094"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7" name="Rectangle 47"/>
          <p:cNvSpPr/>
          <p:nvPr/>
        </p:nvSpPr>
        <p:spPr>
          <a:xfrm>
            <a:off x="7191755"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CXL-PNM2</a:t>
            </a:r>
          </a:p>
        </p:txBody>
      </p:sp>
      <p:sp>
        <p:nvSpPr>
          <p:cNvPr id="278" name="Rectangle 48"/>
          <p:cNvSpPr/>
          <p:nvPr/>
        </p:nvSpPr>
        <p:spPr>
          <a:xfrm>
            <a:off x="7191755"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9" name="Rectangle 49"/>
          <p:cNvSpPr/>
          <p:nvPr/>
        </p:nvSpPr>
        <p:spPr>
          <a:xfrm>
            <a:off x="7916417"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CXL-PNM3</a:t>
            </a:r>
          </a:p>
        </p:txBody>
      </p:sp>
      <p:sp>
        <p:nvSpPr>
          <p:cNvPr id="280" name="Rectangle 50"/>
          <p:cNvSpPr/>
          <p:nvPr/>
        </p:nvSpPr>
        <p:spPr>
          <a:xfrm>
            <a:off x="7916417"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81" name="Rectangle 51"/>
          <p:cNvSpPr/>
          <p:nvPr/>
        </p:nvSpPr>
        <p:spPr>
          <a:xfrm>
            <a:off x="5742431" y="3035808"/>
            <a:ext cx="1421892"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82" name="Rectangle 52"/>
          <p:cNvSpPr/>
          <p:nvPr/>
        </p:nvSpPr>
        <p:spPr>
          <a:xfrm>
            <a:off x="7191755" y="3035808"/>
            <a:ext cx="1421892" cy="274320"/>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375623"/>
                </a:solidFill>
                <a:latin typeface="맑은 고딕"/>
                <a:ea typeface="맑은 고딕"/>
              </a:rPr>
              <a:t>PIM-SSD  16TB</a:t>
            </a:r>
          </a:p>
        </p:txBody>
      </p:sp>
      <p:sp>
        <p:nvSpPr>
          <p:cNvPr id="283" name="Rectangle 53"/>
          <p:cNvSpPr/>
          <p:nvPr/>
        </p:nvSpPr>
        <p:spPr>
          <a:xfrm>
            <a:off x="8833104" y="1133856"/>
            <a:ext cx="3054096" cy="224942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84" name="Rectangle 54"/>
          <p:cNvSpPr/>
          <p:nvPr/>
        </p:nvSpPr>
        <p:spPr>
          <a:xfrm>
            <a:off x="8924544"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85" name="Rectangle 55"/>
          <p:cNvSpPr/>
          <p:nvPr/>
        </p:nvSpPr>
        <p:spPr>
          <a:xfrm>
            <a:off x="8924544"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86" name="Rectangle 56"/>
          <p:cNvSpPr/>
          <p:nvPr/>
        </p:nvSpPr>
        <p:spPr>
          <a:xfrm>
            <a:off x="8924544"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87" name="Rectangle 57"/>
          <p:cNvSpPr/>
          <p:nvPr/>
        </p:nvSpPr>
        <p:spPr>
          <a:xfrm>
            <a:off x="9649206"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88" name="Rectangle 58"/>
          <p:cNvSpPr/>
          <p:nvPr/>
        </p:nvSpPr>
        <p:spPr>
          <a:xfrm>
            <a:off x="9649206"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89" name="Rectangle 59"/>
          <p:cNvSpPr/>
          <p:nvPr/>
        </p:nvSpPr>
        <p:spPr>
          <a:xfrm>
            <a:off x="9649206"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90" name="Rectangle 60"/>
          <p:cNvSpPr/>
          <p:nvPr/>
        </p:nvSpPr>
        <p:spPr>
          <a:xfrm>
            <a:off x="10373867"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91" name="Rectangle 61"/>
          <p:cNvSpPr/>
          <p:nvPr/>
        </p:nvSpPr>
        <p:spPr>
          <a:xfrm>
            <a:off x="10373867"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92" name="Rectangle 62"/>
          <p:cNvSpPr/>
          <p:nvPr/>
        </p:nvSpPr>
        <p:spPr>
          <a:xfrm>
            <a:off x="10373867"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93" name="Rectangle 63"/>
          <p:cNvSpPr/>
          <p:nvPr/>
        </p:nvSpPr>
        <p:spPr>
          <a:xfrm>
            <a:off x="11098530" y="1207008"/>
            <a:ext cx="697230" cy="23774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94" name="Rectangle 64"/>
          <p:cNvSpPr/>
          <p:nvPr/>
        </p:nvSpPr>
        <p:spPr>
          <a:xfrm>
            <a:off x="11098530" y="1444752"/>
            <a:ext cx="697230" cy="192024"/>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40GB</a:t>
            </a:r>
          </a:p>
        </p:txBody>
      </p:sp>
      <p:sp>
        <p:nvSpPr>
          <p:cNvPr id="295" name="Rectangle 65"/>
          <p:cNvSpPr/>
          <p:nvPr/>
        </p:nvSpPr>
        <p:spPr>
          <a:xfrm>
            <a:off x="11098530" y="1636776"/>
            <a:ext cx="697230" cy="192024"/>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4A2E73"/>
                </a:solidFill>
                <a:latin typeface="맑은 고딕"/>
                <a:ea typeface="맑은 고딕"/>
              </a:rPr>
              <a:t>HBF 320GB</a:t>
            </a:r>
          </a:p>
        </p:txBody>
      </p:sp>
      <p:sp>
        <p:nvSpPr>
          <p:cNvPr id="296" name="Rectangle 66"/>
          <p:cNvSpPr/>
          <p:nvPr/>
        </p:nvSpPr>
        <p:spPr>
          <a:xfrm>
            <a:off x="8924544"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 cores · DDR 512GB</a:t>
            </a:r>
          </a:p>
        </p:txBody>
      </p:sp>
      <p:sp>
        <p:nvSpPr>
          <p:cNvPr id="297" name="Rectangle 67"/>
          <p:cNvSpPr/>
          <p:nvPr/>
        </p:nvSpPr>
        <p:spPr>
          <a:xfrm>
            <a:off x="10373867" y="1865376"/>
            <a:ext cx="1421892" cy="475488"/>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 cores · DDR 512GB</a:t>
            </a:r>
          </a:p>
        </p:txBody>
      </p:sp>
      <p:sp>
        <p:nvSpPr>
          <p:cNvPr id="298" name="Rectangle 68"/>
          <p:cNvSpPr/>
          <p:nvPr/>
        </p:nvSpPr>
        <p:spPr>
          <a:xfrm>
            <a:off x="8924544"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CXL-PNM0</a:t>
            </a:r>
          </a:p>
        </p:txBody>
      </p:sp>
      <p:sp>
        <p:nvSpPr>
          <p:cNvPr id="299" name="Rectangle 69"/>
          <p:cNvSpPr/>
          <p:nvPr/>
        </p:nvSpPr>
        <p:spPr>
          <a:xfrm>
            <a:off x="8924544"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0" name="Rectangle 70"/>
          <p:cNvSpPr/>
          <p:nvPr/>
        </p:nvSpPr>
        <p:spPr>
          <a:xfrm>
            <a:off x="9649206"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CXL-PNM1</a:t>
            </a:r>
          </a:p>
        </p:txBody>
      </p:sp>
      <p:sp>
        <p:nvSpPr>
          <p:cNvPr id="301" name="Rectangle 71"/>
          <p:cNvSpPr/>
          <p:nvPr/>
        </p:nvSpPr>
        <p:spPr>
          <a:xfrm>
            <a:off x="9649206"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2" name="Rectangle 72"/>
          <p:cNvSpPr/>
          <p:nvPr/>
        </p:nvSpPr>
        <p:spPr>
          <a:xfrm>
            <a:off x="10373867"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CXL-PNM2</a:t>
            </a:r>
          </a:p>
        </p:txBody>
      </p:sp>
      <p:sp>
        <p:nvSpPr>
          <p:cNvPr id="303" name="Rectangle 73"/>
          <p:cNvSpPr/>
          <p:nvPr/>
        </p:nvSpPr>
        <p:spPr>
          <a:xfrm>
            <a:off x="10373867"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4" name="Rectangle 74"/>
          <p:cNvSpPr/>
          <p:nvPr/>
        </p:nvSpPr>
        <p:spPr>
          <a:xfrm>
            <a:off x="11098530" y="2377440"/>
            <a:ext cx="697230" cy="237744"/>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CXL-PNM3</a:t>
            </a:r>
          </a:p>
        </p:txBody>
      </p:sp>
      <p:sp>
        <p:nvSpPr>
          <p:cNvPr id="305" name="Rectangle 75"/>
          <p:cNvSpPr/>
          <p:nvPr/>
        </p:nvSpPr>
        <p:spPr>
          <a:xfrm>
            <a:off x="11098530" y="2615184"/>
            <a:ext cx="697230" cy="38404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306" name="Rectangle 76"/>
          <p:cNvSpPr/>
          <p:nvPr/>
        </p:nvSpPr>
        <p:spPr>
          <a:xfrm>
            <a:off x="8924544" y="3035808"/>
            <a:ext cx="1421892"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307" name="Rectangle 77"/>
          <p:cNvSpPr/>
          <p:nvPr/>
        </p:nvSpPr>
        <p:spPr>
          <a:xfrm>
            <a:off x="10373867" y="3035808"/>
            <a:ext cx="1421892" cy="274320"/>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375623"/>
                </a:solidFill>
                <a:latin typeface="맑은 고딕"/>
                <a:ea typeface="맑은 고딕"/>
              </a:rPr>
              <a:t>PIM-SSD  16TB</a:t>
            </a:r>
          </a:p>
        </p:txBody>
      </p:sp>
      <p:sp>
        <p:nvSpPr>
          <p:cNvPr id="308" name="Rectangle 78"/>
          <p:cNvSpPr/>
          <p:nvPr/>
        </p:nvSpPr>
        <p:spPr>
          <a:xfrm>
            <a:off x="365760" y="3493008"/>
            <a:ext cx="1152144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9" name="TextBox 308"/>
          <p:cNvSpPr txBox="1"/>
          <p:nvPr/>
        </p:nvSpPr>
        <p:spPr>
          <a:xfrm>
            <a:off x="365760" y="3401568"/>
            <a:ext cx="2011680" cy="164592"/>
          </a:xfrm>
          <a:prstGeom prst="rect">
            <a:avLst/>
          </a:prstGeom>
          <a:noFill/>
        </p:spPr>
        <p:txBody>
          <a:bodyPr wrap="square" lIns="0" tIns="0" rIns="0" bIns="0" anchor="ctr">
            <a:spAutoFit/>
          </a:bodyPr>
          <a:lstStyle/>
          <a:p>
            <a:pPr algn="l"/>
            <a:r>
              <a:rPr sz="850" b="1" i="0">
                <a:solidFill>
                  <a:srgbClr val="808080"/>
                </a:solidFill>
                <a:latin typeface="맑은 고딕"/>
                <a:ea typeface="맑은 고딕"/>
              </a:rPr>
              <a:t>계층별  용량  ·  대역폭</a:t>
            </a:r>
          </a:p>
        </p:txBody>
      </p:sp>
      <p:sp>
        <p:nvSpPr>
          <p:cNvPr id="310" name="TextBox 309"/>
          <p:cNvSpPr txBox="1"/>
          <p:nvPr/>
        </p:nvSpPr>
        <p:spPr>
          <a:xfrm>
            <a:off x="365760" y="3584448"/>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311" name="TextBox 310"/>
          <p:cNvSpPr txBox="1"/>
          <p:nvPr/>
        </p:nvSpPr>
        <p:spPr>
          <a:xfrm>
            <a:off x="2468880" y="358444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16.0 TB/s</a:t>
            </a:r>
          </a:p>
        </p:txBody>
      </p:sp>
      <p:sp>
        <p:nvSpPr>
          <p:cNvPr id="312" name="TextBox 311"/>
          <p:cNvSpPr txBox="1"/>
          <p:nvPr/>
        </p:nvSpPr>
        <p:spPr>
          <a:xfrm>
            <a:off x="5650992" y="358444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320 GB  ·  8.0 TB/s</a:t>
            </a:r>
          </a:p>
        </p:txBody>
      </p:sp>
      <p:sp>
        <p:nvSpPr>
          <p:cNvPr id="313" name="TextBox 312"/>
          <p:cNvSpPr txBox="1"/>
          <p:nvPr/>
        </p:nvSpPr>
        <p:spPr>
          <a:xfrm>
            <a:off x="8833104" y="358444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 GB  ·  4.0 TB/s</a:t>
            </a:r>
          </a:p>
        </p:txBody>
      </p:sp>
      <p:sp>
        <p:nvSpPr>
          <p:cNvPr id="314" name="TextBox 313"/>
          <p:cNvSpPr txBox="1"/>
          <p:nvPr/>
        </p:nvSpPr>
        <p:spPr>
          <a:xfrm>
            <a:off x="365760" y="3794760"/>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HBF</a:t>
            </a:r>
          </a:p>
        </p:txBody>
      </p:sp>
      <p:sp>
        <p:nvSpPr>
          <p:cNvPr id="315" name="TextBox 314"/>
          <p:cNvSpPr txBox="1"/>
          <p:nvPr/>
        </p:nvSpPr>
        <p:spPr>
          <a:xfrm>
            <a:off x="2468880" y="3794760"/>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16" name="TextBox 315"/>
          <p:cNvSpPr txBox="1"/>
          <p:nvPr/>
        </p:nvSpPr>
        <p:spPr>
          <a:xfrm>
            <a:off x="5650992" y="3794760"/>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17" name="TextBox 316"/>
          <p:cNvSpPr txBox="1"/>
          <p:nvPr/>
        </p:nvSpPr>
        <p:spPr>
          <a:xfrm>
            <a:off x="8833104" y="3794760"/>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1,280 GB  ·  4.0 TB/s</a:t>
            </a:r>
          </a:p>
        </p:txBody>
      </p:sp>
      <p:sp>
        <p:nvSpPr>
          <p:cNvPr id="318" name="TextBox 317"/>
          <p:cNvSpPr txBox="1"/>
          <p:nvPr/>
        </p:nvSpPr>
        <p:spPr>
          <a:xfrm>
            <a:off x="365760" y="4005072"/>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CXL-PNM (DDR)</a:t>
            </a:r>
          </a:p>
        </p:txBody>
      </p:sp>
      <p:sp>
        <p:nvSpPr>
          <p:cNvPr id="319" name="TextBox 318"/>
          <p:cNvSpPr txBox="1"/>
          <p:nvPr/>
        </p:nvSpPr>
        <p:spPr>
          <a:xfrm>
            <a:off x="2468880" y="4005072"/>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20" name="TextBox 319"/>
          <p:cNvSpPr txBox="1"/>
          <p:nvPr/>
        </p:nvSpPr>
        <p:spPr>
          <a:xfrm>
            <a:off x="5650992" y="4005072"/>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512 GB  ·  800 GB/s</a:t>
            </a:r>
          </a:p>
        </p:txBody>
      </p:sp>
      <p:sp>
        <p:nvSpPr>
          <p:cNvPr id="321" name="TextBox 320"/>
          <p:cNvSpPr txBox="1"/>
          <p:nvPr/>
        </p:nvSpPr>
        <p:spPr>
          <a:xfrm>
            <a:off x="8833104" y="4005072"/>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512 GB  ·  800 GB/s</a:t>
            </a:r>
          </a:p>
        </p:txBody>
      </p:sp>
      <p:sp>
        <p:nvSpPr>
          <p:cNvPr id="322" name="TextBox 321"/>
          <p:cNvSpPr txBox="1"/>
          <p:nvPr/>
        </p:nvSpPr>
        <p:spPr>
          <a:xfrm>
            <a:off x="365760" y="4215384"/>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CPU DDR</a:t>
            </a:r>
          </a:p>
        </p:txBody>
      </p:sp>
      <p:sp>
        <p:nvSpPr>
          <p:cNvPr id="323" name="TextBox 322"/>
          <p:cNvSpPr txBox="1"/>
          <p:nvPr/>
        </p:nvSpPr>
        <p:spPr>
          <a:xfrm>
            <a:off x="2468880" y="4215384"/>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4" name="TextBox 323"/>
          <p:cNvSpPr txBox="1"/>
          <p:nvPr/>
        </p:nvSpPr>
        <p:spPr>
          <a:xfrm>
            <a:off x="5650992" y="4215384"/>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5" name="TextBox 324"/>
          <p:cNvSpPr txBox="1"/>
          <p:nvPr/>
        </p:nvSpPr>
        <p:spPr>
          <a:xfrm>
            <a:off x="8833104" y="4215384"/>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6" name="TextBox 325"/>
          <p:cNvSpPr txBox="1"/>
          <p:nvPr/>
        </p:nvSpPr>
        <p:spPr>
          <a:xfrm>
            <a:off x="365760" y="4425696"/>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NVMe SSD</a:t>
            </a:r>
          </a:p>
        </p:txBody>
      </p:sp>
      <p:sp>
        <p:nvSpPr>
          <p:cNvPr id="327" name="TextBox 326"/>
          <p:cNvSpPr txBox="1"/>
          <p:nvPr/>
        </p:nvSpPr>
        <p:spPr>
          <a:xfrm>
            <a:off x="2468880" y="4425696"/>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8" name="TextBox 327"/>
          <p:cNvSpPr txBox="1"/>
          <p:nvPr/>
        </p:nvSpPr>
        <p:spPr>
          <a:xfrm>
            <a:off x="5650992" y="4425696"/>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9" name="TextBox 328"/>
          <p:cNvSpPr txBox="1"/>
          <p:nvPr/>
        </p:nvSpPr>
        <p:spPr>
          <a:xfrm>
            <a:off x="8833104" y="4425696"/>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0" name="TextBox 329"/>
          <p:cNvSpPr txBox="1"/>
          <p:nvPr/>
        </p:nvSpPr>
        <p:spPr>
          <a:xfrm>
            <a:off x="365760" y="4636008"/>
            <a:ext cx="2011680" cy="210312"/>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PIM-SSD</a:t>
            </a:r>
          </a:p>
        </p:txBody>
      </p:sp>
      <p:sp>
        <p:nvSpPr>
          <p:cNvPr id="331" name="TextBox 330"/>
          <p:cNvSpPr txBox="1"/>
          <p:nvPr/>
        </p:nvSpPr>
        <p:spPr>
          <a:xfrm>
            <a:off x="2468880" y="463600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32" name="TextBox 331"/>
          <p:cNvSpPr txBox="1"/>
          <p:nvPr/>
        </p:nvSpPr>
        <p:spPr>
          <a:xfrm>
            <a:off x="5650992" y="463600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3" name="TextBox 332"/>
          <p:cNvSpPr txBox="1"/>
          <p:nvPr/>
        </p:nvSpPr>
        <p:spPr>
          <a:xfrm>
            <a:off x="8833104" y="4636008"/>
            <a:ext cx="3054096" cy="210312"/>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4" name="Rectangle 104"/>
          <p:cNvSpPr/>
          <p:nvPr/>
        </p:nvSpPr>
        <p:spPr>
          <a:xfrm>
            <a:off x="365760" y="4882896"/>
            <a:ext cx="11521440" cy="2103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5" name="TextBox 334"/>
          <p:cNvSpPr txBox="1"/>
          <p:nvPr/>
        </p:nvSpPr>
        <p:spPr>
          <a:xfrm>
            <a:off x="438912" y="4882896"/>
            <a:ext cx="2011680" cy="210312"/>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용량</a:t>
            </a:r>
          </a:p>
        </p:txBody>
      </p:sp>
      <p:sp>
        <p:nvSpPr>
          <p:cNvPr id="336" name="TextBox 335"/>
          <p:cNvSpPr txBox="1"/>
          <p:nvPr/>
        </p:nvSpPr>
        <p:spPr>
          <a:xfrm>
            <a:off x="2468880" y="4882896"/>
            <a:ext cx="3054096" cy="210312"/>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640 GB  (1.00×)</a:t>
            </a:r>
          </a:p>
        </p:txBody>
      </p:sp>
      <p:sp>
        <p:nvSpPr>
          <p:cNvPr id="337" name="TextBox 336"/>
          <p:cNvSpPr txBox="1"/>
          <p:nvPr/>
        </p:nvSpPr>
        <p:spPr>
          <a:xfrm>
            <a:off x="5650992" y="4882896"/>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832 GB  (1.30×)</a:t>
            </a:r>
          </a:p>
        </p:txBody>
      </p:sp>
      <p:sp>
        <p:nvSpPr>
          <p:cNvPr id="338" name="TextBox 337"/>
          <p:cNvSpPr txBox="1"/>
          <p:nvPr/>
        </p:nvSpPr>
        <p:spPr>
          <a:xfrm>
            <a:off x="8833104" y="4882896"/>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1,952 GB  (3.05×)</a:t>
            </a:r>
          </a:p>
        </p:txBody>
      </p:sp>
      <p:sp>
        <p:nvSpPr>
          <p:cNvPr id="339" name="Rectangle 109"/>
          <p:cNvSpPr/>
          <p:nvPr/>
        </p:nvSpPr>
        <p:spPr>
          <a:xfrm>
            <a:off x="365760" y="5093208"/>
            <a:ext cx="11521440" cy="2103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0" name="TextBox 339"/>
          <p:cNvSpPr txBox="1"/>
          <p:nvPr/>
        </p:nvSpPr>
        <p:spPr>
          <a:xfrm>
            <a:off x="438912" y="5093208"/>
            <a:ext cx="2011680" cy="210312"/>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대역폭</a:t>
            </a:r>
          </a:p>
        </p:txBody>
      </p:sp>
      <p:sp>
        <p:nvSpPr>
          <p:cNvPr id="341" name="TextBox 340"/>
          <p:cNvSpPr txBox="1"/>
          <p:nvPr/>
        </p:nvSpPr>
        <p:spPr>
          <a:xfrm>
            <a:off x="2468880" y="5093208"/>
            <a:ext cx="3054096" cy="210312"/>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16.0 TB/s  (1.00×)</a:t>
            </a:r>
          </a:p>
        </p:txBody>
      </p:sp>
      <p:sp>
        <p:nvSpPr>
          <p:cNvPr id="342" name="TextBox 341"/>
          <p:cNvSpPr txBox="1"/>
          <p:nvPr/>
        </p:nvSpPr>
        <p:spPr>
          <a:xfrm>
            <a:off x="5650992" y="5093208"/>
            <a:ext cx="3054096" cy="210312"/>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8.8 TB/s  (0.55×)</a:t>
            </a:r>
          </a:p>
        </p:txBody>
      </p:sp>
      <p:sp>
        <p:nvSpPr>
          <p:cNvPr id="343" name="TextBox 342"/>
          <p:cNvSpPr txBox="1"/>
          <p:nvPr/>
        </p:nvSpPr>
        <p:spPr>
          <a:xfrm>
            <a:off x="8833104" y="5093208"/>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8.8 TB/s  (0.55×)</a:t>
            </a:r>
          </a:p>
        </p:txBody>
      </p:sp>
      <p:sp>
        <p:nvSpPr>
          <p:cNvPr id="344" name="Rectangle 114"/>
          <p:cNvSpPr/>
          <p:nvPr/>
        </p:nvSpPr>
        <p:spPr>
          <a:xfrm>
            <a:off x="365760" y="5303520"/>
            <a:ext cx="11521440" cy="2103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5" name="TextBox 344"/>
          <p:cNvSpPr txBox="1"/>
          <p:nvPr/>
        </p:nvSpPr>
        <p:spPr>
          <a:xfrm>
            <a:off x="438912" y="5303520"/>
            <a:ext cx="2011680" cy="210312"/>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총 메모리 용량</a:t>
            </a:r>
          </a:p>
        </p:txBody>
      </p:sp>
      <p:sp>
        <p:nvSpPr>
          <p:cNvPr id="346" name="TextBox 345"/>
          <p:cNvSpPr txBox="1"/>
          <p:nvPr/>
        </p:nvSpPr>
        <p:spPr>
          <a:xfrm>
            <a:off x="2468880" y="5303520"/>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17,664 GB  (1.00×)</a:t>
            </a:r>
          </a:p>
        </p:txBody>
      </p:sp>
      <p:sp>
        <p:nvSpPr>
          <p:cNvPr id="347" name="TextBox 346"/>
          <p:cNvSpPr txBox="1"/>
          <p:nvPr/>
        </p:nvSpPr>
        <p:spPr>
          <a:xfrm>
            <a:off x="5650992" y="5303520"/>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33,856 GB  (1.92×)</a:t>
            </a:r>
          </a:p>
        </p:txBody>
      </p:sp>
      <p:sp>
        <p:nvSpPr>
          <p:cNvPr id="348" name="TextBox 347"/>
          <p:cNvSpPr txBox="1"/>
          <p:nvPr/>
        </p:nvSpPr>
        <p:spPr>
          <a:xfrm>
            <a:off x="8833104" y="5303520"/>
            <a:ext cx="3054096" cy="210312"/>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34,976 GB  (1.98×)</a:t>
            </a:r>
          </a:p>
        </p:txBody>
      </p:sp>
      <p:sp>
        <p:nvSpPr>
          <p:cNvPr id="349" name="Rectangle 119"/>
          <p:cNvSpPr/>
          <p:nvPr/>
        </p:nvSpPr>
        <p:spPr>
          <a:xfrm>
            <a:off x="365760" y="5513832"/>
            <a:ext cx="11521440" cy="21031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0" name="TextBox 349"/>
          <p:cNvSpPr txBox="1"/>
          <p:nvPr/>
        </p:nvSpPr>
        <p:spPr>
          <a:xfrm>
            <a:off x="438912" y="5513832"/>
            <a:ext cx="2011680" cy="210312"/>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메모리 비용 (추정)</a:t>
            </a:r>
          </a:p>
        </p:txBody>
      </p:sp>
      <p:sp>
        <p:nvSpPr>
          <p:cNvPr id="351" name="TextBox 350"/>
          <p:cNvSpPr txBox="1"/>
          <p:nvPr/>
        </p:nvSpPr>
        <p:spPr>
          <a:xfrm>
            <a:off x="2468880" y="5513832"/>
            <a:ext cx="3054096" cy="210312"/>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$14.7K  (1.00×)</a:t>
            </a:r>
          </a:p>
        </p:txBody>
      </p:sp>
      <p:sp>
        <p:nvSpPr>
          <p:cNvPr id="352" name="TextBox 351"/>
          <p:cNvSpPr txBox="1"/>
          <p:nvPr/>
        </p:nvSpPr>
        <p:spPr>
          <a:xfrm>
            <a:off x="5650992" y="5513832"/>
            <a:ext cx="3054096" cy="210312"/>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$14.6K  (1.00×)</a:t>
            </a:r>
          </a:p>
        </p:txBody>
      </p:sp>
      <p:sp>
        <p:nvSpPr>
          <p:cNvPr id="353" name="TextBox 352"/>
          <p:cNvSpPr txBox="1"/>
          <p:nvPr/>
        </p:nvSpPr>
        <p:spPr>
          <a:xfrm>
            <a:off x="8833104" y="5513832"/>
            <a:ext cx="3054096" cy="210312"/>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$14.6K  (1.00×)</a:t>
            </a:r>
          </a:p>
        </p:txBody>
      </p:sp>
      <p:sp>
        <p:nvSpPr>
          <p:cNvPr id="354" name="Rectangle 124"/>
          <p:cNvSpPr/>
          <p:nvPr/>
        </p:nvSpPr>
        <p:spPr>
          <a:xfrm>
            <a:off x="365760" y="5797296"/>
            <a:ext cx="11521440" cy="420624"/>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25000"/>
              </a:lnSpc>
            </a:pPr>
            <a:r>
              <a:rPr sz="900" b="0" i="0">
                <a:solidFill>
                  <a:srgbClr val="7F5F00"/>
                </a:solidFill>
                <a:latin typeface="맑은 고딕"/>
                <a:ea typeface="맑은 고딕"/>
              </a:rPr>
              <a:t>집계 대역폭 0.55×는 슬롯당 대역폭이 낮아진 게 아니라 GPU가 4대 줄어든 몫이다 — 슬롯당 HBM 2.0 TB/s는 세 구성 모두 같고, decode attention이 묶이는 것은 슬롯당 대역폭이다</a:t>
            </a:r>
          </a:p>
          <a:p>
            <a:pPr algn="l">
              <a:lnSpc>
                <a:spcPct val="125000"/>
              </a:lnSpc>
            </a:pPr>
            <a:r>
              <a:rPr sz="900" b="0" i="0">
                <a:solidFill>
                  <a:srgbClr val="7F5F00"/>
                </a:solidFill>
                <a:latin typeface="맑은 고딕"/>
                <a:ea typeface="맑은 고딕"/>
              </a:rPr>
              <a:t>매체 지연 : HBM ~100 ns · CXL-PNM ~300 ns · HBF ~10 μs급(NAND) · NVMe ~100 μs → HBF는 read-dominant 계층(weight · cold KV)이고, KV 상주 계층은 HBM · CXL-PNM이 맡는다</a:t>
            </a:r>
          </a:p>
        </p:txBody>
      </p:sp>
      <p:sp>
        <p:nvSpPr>
          <p:cNvPr id="355" name="TextBox 354"/>
          <p:cNvSpPr txBox="1"/>
          <p:nvPr/>
        </p:nvSpPr>
        <p:spPr>
          <a:xfrm>
            <a:off x="365760" y="6291072"/>
            <a:ext cx="11521440" cy="420624"/>
          </a:xfrm>
          <a:prstGeom prst="rect">
            <a:avLst/>
          </a:prstGeom>
          <a:noFill/>
        </p:spPr>
        <p:txBody>
          <a:bodyPr wrap="square" lIns="0" tIns="0" rIns="0" bIns="0" anchor="t">
            <a:spAutoFit/>
          </a:bodyPr>
          <a:lstStyle/>
          <a:p>
            <a:pPr algn="l">
              <a:lnSpc>
                <a:spcPct val="130000"/>
              </a:lnSpc>
            </a:pPr>
            <a:r>
              <a:rPr sz="800" b="0" i="0" dirty="0">
                <a:solidFill>
                  <a:srgbClr val="808080"/>
                </a:solidFill>
                <a:latin typeface="맑은 고딕"/>
                <a:ea typeface="맑은 고딕"/>
              </a:rPr>
              <a:t>※ GPU = A100급(108 SM · HBM 2.0 TB/s) · CPU DDR 175 GB/s × 2소켓 · CXL-PNM(</a:t>
            </a:r>
            <a:r>
              <a:rPr sz="800" b="0" i="0" dirty="0" err="1">
                <a:solidFill>
                  <a:srgbClr val="808080"/>
                </a:solidFill>
                <a:latin typeface="맑은 고딕"/>
                <a:ea typeface="맑은 고딕"/>
              </a:rPr>
              <a:t>Structera</a:t>
            </a:r>
            <a:r>
              <a:rPr sz="800" b="0" i="0" dirty="0">
                <a:solidFill>
                  <a:srgbClr val="808080"/>
                </a:solidFill>
                <a:latin typeface="맑은 고딕"/>
                <a:ea typeface="맑은 고딕"/>
              </a:rPr>
              <a:t>-A) 200 GB/s × 4카드. Target 2는 HBM </a:t>
            </a:r>
            <a:r>
              <a:rPr sz="800" b="0" i="0" dirty="0" err="1">
                <a:solidFill>
                  <a:srgbClr val="808080"/>
                </a:solidFill>
                <a:latin typeface="맑은 고딕"/>
                <a:ea typeface="맑은 고딕"/>
              </a:rPr>
              <a:t>스택</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절반을</a:t>
            </a:r>
            <a:r>
              <a:rPr sz="800" b="0" i="0" dirty="0">
                <a:solidFill>
                  <a:srgbClr val="808080"/>
                </a:solidFill>
                <a:latin typeface="맑은 고딕"/>
                <a:ea typeface="맑은 고딕"/>
              </a:rPr>
              <a:t> </a:t>
            </a:r>
            <a:r>
              <a:rPr sz="800" b="0" i="0" dirty="0" err="1">
                <a:solidFill>
                  <a:srgbClr val="808080"/>
                </a:solidFill>
                <a:latin typeface="맑은 고딕"/>
                <a:ea typeface="맑은 고딕"/>
              </a:rPr>
              <a:t>HBF로</a:t>
            </a:r>
            <a:r>
              <a:rPr sz="800" b="0" i="0" dirty="0">
                <a:solidFill>
                  <a:srgbClr val="808080"/>
                </a:solidFill>
                <a:latin typeface="맑은 고딕"/>
                <a:ea typeface="맑은 고딕"/>
              </a:rPr>
              <a:t> </a:t>
            </a:r>
            <a:r>
              <a:rPr sz="800" b="0" i="0" dirty="0" err="1">
                <a:solidFill>
                  <a:srgbClr val="808080"/>
                </a:solidFill>
                <a:latin typeface="맑은 고딕"/>
                <a:ea typeface="맑은 고딕"/>
              </a:rPr>
              <a:t>교체</a:t>
            </a:r>
            <a:r>
              <a:rPr sz="800" b="0" i="0" dirty="0">
                <a:solidFill>
                  <a:srgbClr val="808080"/>
                </a:solidFill>
                <a:latin typeface="맑은 고딕"/>
                <a:ea typeface="맑은 고딕"/>
              </a:rPr>
              <a:t> — </a:t>
            </a:r>
            <a:r>
              <a:rPr sz="800" b="0" i="0" dirty="0" err="1">
                <a:solidFill>
                  <a:srgbClr val="808080"/>
                </a:solidFill>
                <a:latin typeface="맑은 고딕"/>
                <a:ea typeface="맑은 고딕"/>
              </a:rPr>
              <a:t>동일</a:t>
            </a:r>
            <a:r>
              <a:rPr sz="800" b="0" i="0" dirty="0">
                <a:solidFill>
                  <a:srgbClr val="808080"/>
                </a:solidFill>
                <a:latin typeface="맑은 고딕"/>
                <a:ea typeface="맑은 고딕"/>
              </a:rPr>
              <a:t> </a:t>
            </a:r>
            <a:r>
              <a:rPr sz="800" b="0" i="0" dirty="0" err="1">
                <a:solidFill>
                  <a:srgbClr val="808080"/>
                </a:solidFill>
                <a:latin typeface="맑은 고딕"/>
                <a:ea typeface="맑은 고딕"/>
              </a:rPr>
              <a:t>스택</a:t>
            </a:r>
            <a:r>
              <a:rPr sz="800" b="0" i="0" dirty="0">
                <a:solidFill>
                  <a:srgbClr val="808080"/>
                </a:solidFill>
                <a:latin typeface="맑은 고딕"/>
                <a:ea typeface="맑은 고딕"/>
              </a:rPr>
              <a:t> </a:t>
            </a:r>
            <a:r>
              <a:rPr sz="800" b="0" i="0" dirty="0" err="1">
                <a:solidFill>
                  <a:srgbClr val="808080"/>
                </a:solidFill>
                <a:latin typeface="맑은 고딕"/>
                <a:ea typeface="맑은 고딕"/>
              </a:rPr>
              <a:t>비용에</a:t>
            </a:r>
            <a:r>
              <a:rPr sz="800" b="0" i="0" dirty="0">
                <a:solidFill>
                  <a:srgbClr val="808080"/>
                </a:solidFill>
                <a:latin typeface="맑은 고딕"/>
                <a:ea typeface="맑은 고딕"/>
              </a:rPr>
              <a:t> 8× </a:t>
            </a:r>
            <a:r>
              <a:rPr sz="800" b="0" i="0" dirty="0" err="1">
                <a:solidFill>
                  <a:srgbClr val="808080"/>
                </a:solidFill>
                <a:latin typeface="맑은 고딕"/>
                <a:ea typeface="맑은 고딕"/>
              </a:rPr>
              <a:t>용량</a:t>
            </a:r>
            <a:r>
              <a:rPr sz="800" b="0" i="0" dirty="0">
                <a:solidFill>
                  <a:srgbClr val="808080"/>
                </a:solidFill>
                <a:latin typeface="맑은 고딕"/>
                <a:ea typeface="맑은 고딕"/>
              </a:rPr>
              <a:t>, </a:t>
            </a:r>
            <a:r>
              <a:rPr sz="800" b="0" i="0" dirty="0" err="1">
                <a:solidFill>
                  <a:srgbClr val="808080"/>
                </a:solidFill>
                <a:latin typeface="맑은 고딕"/>
                <a:ea typeface="맑은 고딕"/>
              </a:rPr>
              <a:t>스택당</a:t>
            </a:r>
            <a:r>
              <a:rPr sz="800" b="0" i="0" dirty="0">
                <a:solidFill>
                  <a:srgbClr val="808080"/>
                </a:solidFill>
                <a:latin typeface="맑은 고딕"/>
                <a:ea typeface="맑은 고딕"/>
              </a:rPr>
              <a:t> </a:t>
            </a:r>
            <a:r>
              <a:rPr sz="800" b="0" i="0" dirty="0" err="1">
                <a:solidFill>
                  <a:srgbClr val="808080"/>
                </a:solidFill>
                <a:latin typeface="맑은 고딕"/>
                <a:ea typeface="맑은 고딕"/>
              </a:rPr>
              <a:t>HBM급</a:t>
            </a:r>
            <a:r>
              <a:rPr sz="800" b="0" i="0" dirty="0">
                <a:solidFill>
                  <a:srgbClr val="808080"/>
                </a:solidFill>
                <a:latin typeface="맑은 고딕"/>
                <a:ea typeface="맑은 고딕"/>
              </a:rPr>
              <a:t> </a:t>
            </a:r>
            <a:r>
              <a:rPr sz="800" b="0" i="0" dirty="0" err="1">
                <a:solidFill>
                  <a:srgbClr val="808080"/>
                </a:solidFill>
                <a:latin typeface="맑은 고딕"/>
                <a:ea typeface="맑은 고딕"/>
              </a:rPr>
              <a:t>대역폭</a:t>
            </a:r>
            <a:r>
              <a:rPr sz="800" b="0" i="0" dirty="0">
                <a:solidFill>
                  <a:srgbClr val="808080"/>
                </a:solidFill>
                <a:latin typeface="맑은 고딕"/>
                <a:ea typeface="맑은 고딕"/>
              </a:rPr>
              <a:t>(SanDisk HBF </a:t>
            </a:r>
            <a:r>
              <a:rPr sz="800" b="0" i="0" dirty="0" err="1">
                <a:solidFill>
                  <a:srgbClr val="808080"/>
                </a:solidFill>
                <a:latin typeface="맑은 고딕"/>
                <a:ea typeface="맑은 고딕"/>
              </a:rPr>
              <a:t>공개</a:t>
            </a:r>
            <a:r>
              <a:rPr sz="800" b="0" i="0" dirty="0">
                <a:solidFill>
                  <a:srgbClr val="808080"/>
                </a:solidFill>
                <a:latin typeface="맑은 고딕"/>
                <a:ea typeface="맑은 고딕"/>
              </a:rPr>
              <a:t> </a:t>
            </a:r>
            <a:r>
              <a:rPr sz="800" b="0" i="0" dirty="0" err="1">
                <a:solidFill>
                  <a:srgbClr val="808080"/>
                </a:solidFill>
                <a:latin typeface="맑은 고딕"/>
                <a:ea typeface="맑은 고딕"/>
              </a:rPr>
              <a:t>주장</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전제</a:t>
            </a:r>
            <a:r>
              <a:rPr sz="800" b="0" i="0" dirty="0">
                <a:solidFill>
                  <a:srgbClr val="808080"/>
                </a:solidFill>
                <a:latin typeface="맑은 고딕"/>
                <a:ea typeface="맑은 고딕"/>
              </a:rPr>
              <a:t>.</a:t>
            </a:r>
          </a:p>
          <a:p>
            <a:pPr algn="l">
              <a:lnSpc>
                <a:spcPct val="130000"/>
              </a:lnSpc>
            </a:pPr>
            <a:r>
              <a:rPr sz="800" b="0" i="0" dirty="0">
                <a:solidFill>
                  <a:srgbClr val="808080"/>
                </a:solidFill>
                <a:latin typeface="맑은 고딕"/>
                <a:ea typeface="맑은 고딕"/>
              </a:rPr>
              <a:t>※ </a:t>
            </a:r>
            <a:r>
              <a:rPr sz="800" b="0" i="0" dirty="0" err="1">
                <a:solidFill>
                  <a:srgbClr val="808080"/>
                </a:solidFill>
                <a:latin typeface="맑은 고딕"/>
                <a:ea typeface="맑은 고딕"/>
              </a:rPr>
              <a:t>단가</a:t>
            </a:r>
            <a:r>
              <a:rPr sz="800" b="0" i="0" dirty="0">
                <a:solidFill>
                  <a:srgbClr val="808080"/>
                </a:solidFill>
                <a:latin typeface="맑은 고딕"/>
                <a:ea typeface="맑은 고딕"/>
              </a:rPr>
              <a:t> </a:t>
            </a:r>
            <a:r>
              <a:rPr sz="800" b="0" i="0" dirty="0" err="1">
                <a:solidFill>
                  <a:srgbClr val="808080"/>
                </a:solidFill>
                <a:latin typeface="맑은 고딕"/>
                <a:ea typeface="맑은 고딕"/>
              </a:rPr>
              <a:t>가정</a:t>
            </a:r>
            <a:r>
              <a:rPr sz="800" b="0" i="0" dirty="0">
                <a:solidFill>
                  <a:srgbClr val="808080"/>
                </a:solidFill>
                <a:latin typeface="맑은 고딕"/>
                <a:ea typeface="맑은 고딕"/>
              </a:rPr>
              <a:t> HBM $14 / HBF $1.75 / DDR5 $4 / </a:t>
            </a:r>
            <a:r>
              <a:rPr sz="800" b="0" i="0" dirty="0" err="1">
                <a:solidFill>
                  <a:srgbClr val="808080"/>
                </a:solidFill>
                <a:latin typeface="맑은 고딕"/>
                <a:ea typeface="맑은 고딕"/>
              </a:rPr>
              <a:t>NVMe</a:t>
            </a:r>
            <a:r>
              <a:rPr sz="800" b="0" i="0" dirty="0">
                <a:solidFill>
                  <a:srgbClr val="808080"/>
                </a:solidFill>
                <a:latin typeface="맑은 고딕"/>
                <a:ea typeface="맑은 고딕"/>
              </a:rPr>
              <a:t> $0.10 / PIM-SSD $0.15 per GB. </a:t>
            </a:r>
            <a:r>
              <a:rPr sz="800" b="0" i="0" dirty="0" err="1">
                <a:solidFill>
                  <a:srgbClr val="808080"/>
                </a:solidFill>
                <a:latin typeface="맑은 고딕"/>
                <a:ea typeface="맑은 고딕"/>
              </a:rPr>
              <a:t>메모리</a:t>
            </a:r>
            <a:r>
              <a:rPr sz="800" b="0" i="0" dirty="0">
                <a:solidFill>
                  <a:srgbClr val="808080"/>
                </a:solidFill>
                <a:latin typeface="맑은 고딕"/>
                <a:ea typeface="맑은 고딕"/>
              </a:rPr>
              <a:t> </a:t>
            </a:r>
            <a:r>
              <a:rPr sz="800" b="0" i="0" dirty="0" err="1">
                <a:solidFill>
                  <a:srgbClr val="808080"/>
                </a:solidFill>
                <a:latin typeface="맑은 고딕"/>
                <a:ea typeface="맑은 고딕"/>
              </a:rPr>
              <a:t>매체</a:t>
            </a:r>
            <a:r>
              <a:rPr sz="800" b="0" i="0" dirty="0">
                <a:solidFill>
                  <a:srgbClr val="808080"/>
                </a:solidFill>
                <a:latin typeface="맑은 고딕"/>
                <a:ea typeface="맑은 고딕"/>
              </a:rPr>
              <a:t> </a:t>
            </a:r>
            <a:r>
              <a:rPr sz="800" b="0" i="0" dirty="0" err="1">
                <a:solidFill>
                  <a:srgbClr val="808080"/>
                </a:solidFill>
                <a:latin typeface="맑은 고딕"/>
                <a:ea typeface="맑은 고딕"/>
              </a:rPr>
              <a:t>비용만</a:t>
            </a:r>
            <a:r>
              <a:rPr sz="800" b="0" i="0" dirty="0">
                <a:solidFill>
                  <a:srgbClr val="808080"/>
                </a:solidFill>
                <a:latin typeface="맑은 고딕"/>
                <a:ea typeface="맑은 고딕"/>
              </a:rPr>
              <a:t> </a:t>
            </a:r>
            <a:r>
              <a:rPr sz="800" b="0" i="0" dirty="0" err="1">
                <a:solidFill>
                  <a:srgbClr val="808080"/>
                </a:solidFill>
                <a:latin typeface="맑은 고딕"/>
                <a:ea typeface="맑은 고딕"/>
              </a:rPr>
              <a:t>비교했으므로</a:t>
            </a:r>
            <a:r>
              <a:rPr sz="800" b="0" i="0" dirty="0">
                <a:solidFill>
                  <a:srgbClr val="808080"/>
                </a:solidFill>
                <a:latin typeface="맑은 고딕"/>
                <a:ea typeface="맑은 고딕"/>
              </a:rPr>
              <a:t> </a:t>
            </a:r>
            <a:r>
              <a:rPr sz="800" b="0" i="0" dirty="0" err="1">
                <a:solidFill>
                  <a:srgbClr val="808080"/>
                </a:solidFill>
                <a:latin typeface="맑은 고딕"/>
                <a:ea typeface="맑은 고딕"/>
              </a:rPr>
              <a:t>가속기</a:t>
            </a:r>
            <a:r>
              <a:rPr sz="800" b="0" i="0" dirty="0">
                <a:solidFill>
                  <a:srgbClr val="808080"/>
                </a:solidFill>
                <a:latin typeface="맑은 고딕"/>
                <a:ea typeface="맑은 고딕"/>
              </a:rPr>
              <a:t> </a:t>
            </a:r>
            <a:r>
              <a:rPr sz="800" b="0" i="0" dirty="0" err="1">
                <a:solidFill>
                  <a:srgbClr val="808080"/>
                </a:solidFill>
                <a:latin typeface="맑은 고딕"/>
                <a:ea typeface="맑은 고딕"/>
              </a:rPr>
              <a:t>카드</a:t>
            </a:r>
            <a:r>
              <a:rPr sz="800" b="0" i="0" dirty="0">
                <a:solidFill>
                  <a:srgbClr val="808080"/>
                </a:solidFill>
                <a:latin typeface="맑은 고딕"/>
                <a:ea typeface="맑은 고딕"/>
              </a:rPr>
              <a:t>(GPU · PNM) </a:t>
            </a:r>
            <a:r>
              <a:rPr sz="800" b="0" i="0" dirty="0" err="1">
                <a:solidFill>
                  <a:srgbClr val="808080"/>
                </a:solidFill>
                <a:latin typeface="맑은 고딕"/>
                <a:ea typeface="맑은 고딕"/>
              </a:rPr>
              <a:t>비용은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제외</a:t>
            </a:r>
            <a:r>
              <a:rPr sz="800" b="0" i="0" dirty="0">
                <a:solidFill>
                  <a:srgbClr val="808080"/>
                </a:solidFill>
                <a:latin typeface="맑은 고딕"/>
                <a:ea typeface="맑은 고딕"/>
              </a:rPr>
              <a:t> — GPU 8대 → 4대 </a:t>
            </a:r>
            <a:r>
              <a:rPr sz="800" b="0" i="0" dirty="0" err="1">
                <a:solidFill>
                  <a:srgbClr val="808080"/>
                </a:solidFill>
                <a:latin typeface="맑은 고딕"/>
                <a:ea typeface="맑은 고딕"/>
              </a:rPr>
              <a:t>감소분은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여기에</a:t>
            </a:r>
            <a:r>
              <a:rPr sz="800" b="0" i="0" dirty="0">
                <a:solidFill>
                  <a:srgbClr val="808080"/>
                </a:solidFill>
                <a:latin typeface="맑은 고딕"/>
                <a:ea typeface="맑은 고딕"/>
              </a:rPr>
              <a:t> </a:t>
            </a:r>
            <a:r>
              <a:rPr sz="800" b="0" i="0" dirty="0" err="1">
                <a:solidFill>
                  <a:srgbClr val="808080"/>
                </a:solidFill>
                <a:latin typeface="맑은 고딕"/>
                <a:ea typeface="맑은 고딕"/>
              </a:rPr>
              <a:t>없는</a:t>
            </a:r>
            <a:r>
              <a:rPr sz="800" b="0" i="0" dirty="0">
                <a:solidFill>
                  <a:srgbClr val="808080"/>
                </a:solidFill>
                <a:latin typeface="맑은 고딕"/>
                <a:ea typeface="맑은 고딕"/>
              </a:rPr>
              <a:t> </a:t>
            </a:r>
            <a:r>
              <a:rPr sz="800" b="0" i="0" dirty="0" err="1">
                <a:solidFill>
                  <a:srgbClr val="808080"/>
                </a:solidFill>
                <a:latin typeface="맑은 고딕"/>
                <a:ea typeface="맑은 고딕"/>
              </a:rPr>
              <a:t>추가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절감이다</a:t>
            </a:r>
            <a:r>
              <a:rPr sz="800" b="0" i="0" dirty="0">
                <a:solidFill>
                  <a:srgbClr val="808080"/>
                </a:solidFill>
                <a:latin typeface="맑은 고딕"/>
                <a:ea typeface="맑은 고딕"/>
              </a:rPr>
              <a:t>.</a:t>
            </a:r>
          </a:p>
        </p:txBody>
      </p:sp>
    </p:spTree>
    <p:extLst>
      <p:ext uri="{BB962C8B-B14F-4D97-AF65-F5344CB8AC3E}">
        <p14:creationId xmlns:p14="http://schemas.microsoft.com/office/powerpoint/2010/main" val="2457047163"/>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sp>
        <p:nvSpPr>
          <p:cNvPr id="119" name="Rectangle 3"/>
          <p:cNvSpPr/>
          <p:nvPr/>
        </p:nvSpPr>
        <p:spPr>
          <a:xfrm>
            <a:off x="365760" y="694944"/>
            <a:ext cx="11521440" cy="18288"/>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0" name="TextBox 119"/>
          <p:cNvSpPr txBox="1"/>
          <p:nvPr/>
        </p:nvSpPr>
        <p:spPr>
          <a:xfrm>
            <a:off x="361950" y="804672"/>
            <a:ext cx="1733550" cy="292608"/>
          </a:xfrm>
          <a:prstGeom prst="rect">
            <a:avLst/>
          </a:prstGeom>
          <a:noFill/>
        </p:spPr>
        <p:txBody>
          <a:bodyPr wrap="square" lIns="0" tIns="0" rIns="0" bIns="0" anchor="ctr">
            <a:spAutoFit/>
          </a:bodyPr>
          <a:lstStyle/>
          <a:p>
            <a:pPr algn="l"/>
            <a:r>
              <a:rPr sz="950" b="1" i="0">
                <a:solidFill>
                  <a:srgbClr val="808080"/>
                </a:solidFill>
                <a:latin typeface="맑은 고딕"/>
                <a:ea typeface="맑은 고딕"/>
              </a:rPr>
              <a:t>구성  (1노드 · ×4노드)</a:t>
            </a:r>
          </a:p>
        </p:txBody>
      </p:sp>
      <p:sp>
        <p:nvSpPr>
          <p:cNvPr id="121" name="Rectangle 5"/>
          <p:cNvSpPr/>
          <p:nvPr/>
        </p:nvSpPr>
        <p:spPr>
          <a:xfrm>
            <a:off x="2171700" y="804672"/>
            <a:ext cx="2381250"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Baseline  —  H100 × 8</a:t>
            </a:r>
          </a:p>
        </p:txBody>
      </p:sp>
      <p:sp>
        <p:nvSpPr>
          <p:cNvPr id="236" name="Rectangle 6"/>
          <p:cNvSpPr/>
          <p:nvPr/>
        </p:nvSpPr>
        <p:spPr>
          <a:xfrm>
            <a:off x="4629150" y="804672"/>
            <a:ext cx="2381250"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Target  —  H100 × 4  +  CXL-PNM × 4</a:t>
            </a:r>
          </a:p>
        </p:txBody>
      </p:sp>
      <p:sp>
        <p:nvSpPr>
          <p:cNvPr id="237" name="Rectangle 7"/>
          <p:cNvSpPr/>
          <p:nvPr/>
        </p:nvSpPr>
        <p:spPr>
          <a:xfrm>
            <a:off x="7086600" y="804672"/>
            <a:ext cx="4791075"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산출식  ·  제품 (세대 / 타입)</a:t>
            </a:r>
          </a:p>
        </p:txBody>
      </p:sp>
      <p:sp>
        <p:nvSpPr>
          <p:cNvPr id="238" name="TextBox 237"/>
          <p:cNvSpPr txBox="1"/>
          <p:nvPr/>
        </p:nvSpPr>
        <p:spPr>
          <a:xfrm>
            <a:off x="361950" y="1181100"/>
            <a:ext cx="1733550" cy="53340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가속기  상단 4슬롯</a:t>
            </a:r>
          </a:p>
          <a:p>
            <a:pPr algn="l">
              <a:lnSpc>
                <a:spcPct val="115000"/>
              </a:lnSpc>
            </a:pPr>
            <a:r>
              <a:rPr sz="900" b="1" i="0">
                <a:solidFill>
                  <a:srgbClr val="808080"/>
                </a:solidFill>
                <a:latin typeface="맑은 고딕"/>
                <a:ea typeface="맑은 고딕"/>
              </a:rPr>
              <a:t>연산 + 고대역 메모리</a:t>
            </a:r>
          </a:p>
        </p:txBody>
      </p:sp>
      <p:sp>
        <p:nvSpPr>
          <p:cNvPr id="239" name="TextBox 238"/>
          <p:cNvSpPr txBox="1"/>
          <p:nvPr/>
        </p:nvSpPr>
        <p:spPr>
          <a:xfrm>
            <a:off x="361950" y="1752600"/>
            <a:ext cx="1733550" cy="38100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CPU  2소켓</a:t>
            </a:r>
          </a:p>
        </p:txBody>
      </p:sp>
      <p:sp>
        <p:nvSpPr>
          <p:cNvPr id="240" name="TextBox 239"/>
          <p:cNvSpPr txBox="1"/>
          <p:nvPr/>
        </p:nvSpPr>
        <p:spPr>
          <a:xfrm>
            <a:off x="361950" y="2181225"/>
            <a:ext cx="1733550" cy="53340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가속기  하단 4슬롯</a:t>
            </a:r>
          </a:p>
        </p:txBody>
      </p:sp>
      <p:sp>
        <p:nvSpPr>
          <p:cNvPr id="241" name="TextBox 240"/>
          <p:cNvSpPr txBox="1"/>
          <p:nvPr/>
        </p:nvSpPr>
        <p:spPr>
          <a:xfrm>
            <a:off x="361950" y="2762250"/>
            <a:ext cx="1733550" cy="24765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스토리지</a:t>
            </a:r>
          </a:p>
        </p:txBody>
      </p:sp>
      <p:sp>
        <p:nvSpPr>
          <p:cNvPr id="242" name="Rectangle 12"/>
          <p:cNvSpPr/>
          <p:nvPr/>
        </p:nvSpPr>
        <p:spPr>
          <a:xfrm>
            <a:off x="217170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3" name="Rectangle 13"/>
          <p:cNvSpPr/>
          <p:nvPr/>
        </p:nvSpPr>
        <p:spPr>
          <a:xfrm>
            <a:off x="224790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44" name="Rectangle 14"/>
          <p:cNvSpPr/>
          <p:nvPr/>
        </p:nvSpPr>
        <p:spPr>
          <a:xfrm>
            <a:off x="224790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5" name="Rectangle 15"/>
          <p:cNvSpPr/>
          <p:nvPr/>
        </p:nvSpPr>
        <p:spPr>
          <a:xfrm>
            <a:off x="280511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46" name="Rectangle 16"/>
          <p:cNvSpPr/>
          <p:nvPr/>
        </p:nvSpPr>
        <p:spPr>
          <a:xfrm>
            <a:off x="280511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7" name="Rectangle 17"/>
          <p:cNvSpPr/>
          <p:nvPr/>
        </p:nvSpPr>
        <p:spPr>
          <a:xfrm>
            <a:off x="336232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48" name="Rectangle 18"/>
          <p:cNvSpPr/>
          <p:nvPr/>
        </p:nvSpPr>
        <p:spPr>
          <a:xfrm>
            <a:off x="336232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9" name="Rectangle 19"/>
          <p:cNvSpPr/>
          <p:nvPr/>
        </p:nvSpPr>
        <p:spPr>
          <a:xfrm>
            <a:off x="391953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50" name="Rectangle 20"/>
          <p:cNvSpPr/>
          <p:nvPr/>
        </p:nvSpPr>
        <p:spPr>
          <a:xfrm>
            <a:off x="391953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1" name="Rectangle 21"/>
          <p:cNvSpPr/>
          <p:nvPr/>
        </p:nvSpPr>
        <p:spPr>
          <a:xfrm>
            <a:off x="224790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56C · DDR 512GB</a:t>
            </a:r>
          </a:p>
        </p:txBody>
      </p:sp>
      <p:sp>
        <p:nvSpPr>
          <p:cNvPr id="252" name="Rectangle 22"/>
          <p:cNvSpPr/>
          <p:nvPr/>
        </p:nvSpPr>
        <p:spPr>
          <a:xfrm>
            <a:off x="336232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53" name="Rectangle 23"/>
          <p:cNvSpPr/>
          <p:nvPr/>
        </p:nvSpPr>
        <p:spPr>
          <a:xfrm>
            <a:off x="2247900"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254" name="Rectangle 24"/>
          <p:cNvSpPr/>
          <p:nvPr/>
        </p:nvSpPr>
        <p:spPr>
          <a:xfrm>
            <a:off x="2247900"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5" name="Rectangle 25"/>
          <p:cNvSpPr/>
          <p:nvPr/>
        </p:nvSpPr>
        <p:spPr>
          <a:xfrm>
            <a:off x="2805112"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256" name="Rectangle 26"/>
          <p:cNvSpPr/>
          <p:nvPr/>
        </p:nvSpPr>
        <p:spPr>
          <a:xfrm>
            <a:off x="2805112"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7" name="Rectangle 27"/>
          <p:cNvSpPr/>
          <p:nvPr/>
        </p:nvSpPr>
        <p:spPr>
          <a:xfrm>
            <a:off x="3362325"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GPU6</a:t>
            </a:r>
          </a:p>
        </p:txBody>
      </p:sp>
      <p:sp>
        <p:nvSpPr>
          <p:cNvPr id="258" name="Rectangle 28"/>
          <p:cNvSpPr/>
          <p:nvPr/>
        </p:nvSpPr>
        <p:spPr>
          <a:xfrm>
            <a:off x="3362325"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9" name="Rectangle 29"/>
          <p:cNvSpPr/>
          <p:nvPr/>
        </p:nvSpPr>
        <p:spPr>
          <a:xfrm>
            <a:off x="3919538"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GPU7</a:t>
            </a:r>
          </a:p>
        </p:txBody>
      </p:sp>
      <p:sp>
        <p:nvSpPr>
          <p:cNvPr id="260" name="Rectangle 30"/>
          <p:cNvSpPr/>
          <p:nvPr/>
        </p:nvSpPr>
        <p:spPr>
          <a:xfrm>
            <a:off x="3919538"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1" name="Rectangle 31"/>
          <p:cNvSpPr/>
          <p:nvPr/>
        </p:nvSpPr>
        <p:spPr>
          <a:xfrm>
            <a:off x="2247900" y="2762250"/>
            <a:ext cx="2195512"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62" name="Rectangle 32"/>
          <p:cNvSpPr/>
          <p:nvPr/>
        </p:nvSpPr>
        <p:spPr>
          <a:xfrm>
            <a:off x="462915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3" name="Rectangle 33"/>
          <p:cNvSpPr/>
          <p:nvPr/>
        </p:nvSpPr>
        <p:spPr>
          <a:xfrm>
            <a:off x="470535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64" name="Rectangle 34"/>
          <p:cNvSpPr/>
          <p:nvPr/>
        </p:nvSpPr>
        <p:spPr>
          <a:xfrm>
            <a:off x="470535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5" name="Rectangle 35"/>
          <p:cNvSpPr/>
          <p:nvPr/>
        </p:nvSpPr>
        <p:spPr>
          <a:xfrm>
            <a:off x="526256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66" name="Rectangle 36"/>
          <p:cNvSpPr/>
          <p:nvPr/>
        </p:nvSpPr>
        <p:spPr>
          <a:xfrm>
            <a:off x="526256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7" name="Rectangle 37"/>
          <p:cNvSpPr/>
          <p:nvPr/>
        </p:nvSpPr>
        <p:spPr>
          <a:xfrm>
            <a:off x="581977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68" name="Rectangle 38"/>
          <p:cNvSpPr/>
          <p:nvPr/>
        </p:nvSpPr>
        <p:spPr>
          <a:xfrm>
            <a:off x="581977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9" name="Rectangle 39"/>
          <p:cNvSpPr/>
          <p:nvPr/>
        </p:nvSpPr>
        <p:spPr>
          <a:xfrm>
            <a:off x="637698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70" name="Rectangle 40"/>
          <p:cNvSpPr/>
          <p:nvPr/>
        </p:nvSpPr>
        <p:spPr>
          <a:xfrm>
            <a:off x="637698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71" name="Rectangle 41"/>
          <p:cNvSpPr/>
          <p:nvPr/>
        </p:nvSpPr>
        <p:spPr>
          <a:xfrm>
            <a:off x="470535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56C · DDR 512GB</a:t>
            </a:r>
          </a:p>
        </p:txBody>
      </p:sp>
      <p:sp>
        <p:nvSpPr>
          <p:cNvPr id="272" name="Rectangle 42"/>
          <p:cNvSpPr/>
          <p:nvPr/>
        </p:nvSpPr>
        <p:spPr>
          <a:xfrm>
            <a:off x="581977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73" name="Rectangle 43"/>
          <p:cNvSpPr/>
          <p:nvPr/>
        </p:nvSpPr>
        <p:spPr>
          <a:xfrm>
            <a:off x="4705350"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PNM0</a:t>
            </a:r>
          </a:p>
        </p:txBody>
      </p:sp>
      <p:sp>
        <p:nvSpPr>
          <p:cNvPr id="274" name="Rectangle 44"/>
          <p:cNvSpPr/>
          <p:nvPr/>
        </p:nvSpPr>
        <p:spPr>
          <a:xfrm>
            <a:off x="4705350"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5" name="Rectangle 45"/>
          <p:cNvSpPr/>
          <p:nvPr/>
        </p:nvSpPr>
        <p:spPr>
          <a:xfrm>
            <a:off x="5262562"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PNM1</a:t>
            </a:r>
          </a:p>
        </p:txBody>
      </p:sp>
      <p:sp>
        <p:nvSpPr>
          <p:cNvPr id="276" name="Rectangle 46"/>
          <p:cNvSpPr/>
          <p:nvPr/>
        </p:nvSpPr>
        <p:spPr>
          <a:xfrm>
            <a:off x="5262562"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7" name="Rectangle 47"/>
          <p:cNvSpPr/>
          <p:nvPr/>
        </p:nvSpPr>
        <p:spPr>
          <a:xfrm>
            <a:off x="5819775"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PNM2</a:t>
            </a:r>
          </a:p>
        </p:txBody>
      </p:sp>
      <p:sp>
        <p:nvSpPr>
          <p:cNvPr id="278" name="Rectangle 48"/>
          <p:cNvSpPr/>
          <p:nvPr/>
        </p:nvSpPr>
        <p:spPr>
          <a:xfrm>
            <a:off x="5819775"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9" name="Rectangle 49"/>
          <p:cNvSpPr/>
          <p:nvPr/>
        </p:nvSpPr>
        <p:spPr>
          <a:xfrm>
            <a:off x="6376988"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PNM3</a:t>
            </a:r>
          </a:p>
        </p:txBody>
      </p:sp>
      <p:sp>
        <p:nvSpPr>
          <p:cNvPr id="280" name="Rectangle 50"/>
          <p:cNvSpPr/>
          <p:nvPr/>
        </p:nvSpPr>
        <p:spPr>
          <a:xfrm>
            <a:off x="6376988"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81" name="Rectangle 51"/>
          <p:cNvSpPr/>
          <p:nvPr/>
        </p:nvSpPr>
        <p:spPr>
          <a:xfrm>
            <a:off x="4705350" y="2762250"/>
            <a:ext cx="1081088"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82" name="Rectangle 52"/>
          <p:cNvSpPr/>
          <p:nvPr/>
        </p:nvSpPr>
        <p:spPr>
          <a:xfrm>
            <a:off x="5819775" y="2762250"/>
            <a:ext cx="1081088" cy="247650"/>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375623"/>
                </a:solidFill>
                <a:latin typeface="맑은 고딕"/>
                <a:ea typeface="맑은 고딕"/>
              </a:rPr>
              <a:t>PIM-SSD  16TB</a:t>
            </a:r>
          </a:p>
        </p:txBody>
      </p:sp>
      <p:sp>
        <p:nvSpPr>
          <p:cNvPr id="283" name="Rectangle 53"/>
          <p:cNvSpPr/>
          <p:nvPr/>
        </p:nvSpPr>
        <p:spPr>
          <a:xfrm>
            <a:off x="7086600" y="1133475"/>
            <a:ext cx="4791075"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82296" tIns="64008" rIns="82296" bIns="0" rtlCol="0" anchor="t"/>
          <a:lstStyle/>
          <a:p>
            <a:pPr algn="l">
              <a:lnSpc>
                <a:spcPct val="115000"/>
              </a:lnSpc>
              <a:spcAft>
                <a:spcPts val="400"/>
              </a:spcAft>
            </a:pPr>
            <a:r>
              <a:rPr sz="800" b="1" i="0" dirty="0">
                <a:solidFill>
                  <a:srgbClr val="1F4E79"/>
                </a:solidFill>
                <a:latin typeface="맑은 고딕"/>
                <a:ea typeface="맑은 고딕"/>
              </a:rPr>
              <a:t>GPU  </a:t>
            </a:r>
            <a:r>
              <a:rPr sz="800" b="0" i="0" dirty="0">
                <a:solidFill>
                  <a:srgbClr val="262626"/>
                </a:solidFill>
                <a:latin typeface="맑은 고딕"/>
                <a:ea typeface="맑은 고딕"/>
              </a:rPr>
              <a:t>NVIDIA H100 SXM5 80GB · HBM3 (5-stack) · 3.35 TB/s · 132 SM — </a:t>
            </a:r>
            <a:r>
              <a:rPr sz="800" b="0" i="0" dirty="0" err="1">
                <a:solidFill>
                  <a:srgbClr val="262626"/>
                </a:solidFill>
                <a:latin typeface="맑은 고딕"/>
                <a:ea typeface="맑은 고딕"/>
              </a:rPr>
              <a:t>신품</a:t>
            </a:r>
            <a:r>
              <a:rPr sz="800" b="0" i="0" dirty="0">
                <a:solidFill>
                  <a:srgbClr val="262626"/>
                </a:solidFill>
                <a:latin typeface="맑은 고딕"/>
                <a:ea typeface="맑은 고딕"/>
              </a:rPr>
              <a:t> $30K/장 (HBM </a:t>
            </a:r>
            <a:r>
              <a:rPr sz="800" b="0" i="0" dirty="0" err="1">
                <a:solidFill>
                  <a:srgbClr val="262626"/>
                </a:solidFill>
                <a:latin typeface="맑은 고딕"/>
                <a:ea typeface="맑은 고딕"/>
              </a:rPr>
              <a:t>포함</a:t>
            </a:r>
            <a:r>
              <a:rPr sz="800" b="0" i="0" dirty="0">
                <a:solidFill>
                  <a:srgbClr val="262626"/>
                </a:solidFill>
                <a:latin typeface="맑은 고딕"/>
                <a:ea typeface="맑은 고딕"/>
              </a:rPr>
              <a:t>)</a:t>
            </a:r>
          </a:p>
          <a:p>
            <a:pPr algn="l">
              <a:lnSpc>
                <a:spcPct val="115000"/>
              </a:lnSpc>
              <a:spcAft>
                <a:spcPts val="400"/>
              </a:spcAft>
            </a:pPr>
            <a:r>
              <a:rPr sz="800" b="1" i="0" dirty="0">
                <a:solidFill>
                  <a:srgbClr val="1F4E79"/>
                </a:solidFill>
                <a:latin typeface="맑은 고딕"/>
                <a:ea typeface="맑은 고딕"/>
              </a:rPr>
              <a:t>CPU  </a:t>
            </a:r>
            <a:r>
              <a:rPr sz="800" b="0" i="0" dirty="0">
                <a:solidFill>
                  <a:srgbClr val="262626"/>
                </a:solidFill>
                <a:latin typeface="맑은 고딕"/>
                <a:ea typeface="맑은 고딕"/>
              </a:rPr>
              <a:t>Xeon Platinum 8480+급 (Sapphire Rapids, 56C) × 2소켓 · DDR5-4800 8ch × 64GB RDIMM = 512GB/</a:t>
            </a:r>
            <a:r>
              <a:rPr sz="800" b="0" i="0" dirty="0" err="1">
                <a:solidFill>
                  <a:srgbClr val="262626"/>
                </a:solidFill>
                <a:latin typeface="맑은 고딕"/>
                <a:ea typeface="맑은 고딕"/>
              </a:rPr>
              <a:t>소켓</a:t>
            </a:r>
            <a:r>
              <a:rPr sz="800" b="0" i="0" dirty="0">
                <a:solidFill>
                  <a:srgbClr val="262626"/>
                </a:solidFill>
                <a:latin typeface="맑은 고딕"/>
                <a:ea typeface="맑은 고딕"/>
              </a:rPr>
              <a:t> — </a:t>
            </a:r>
            <a:r>
              <a:rPr sz="800" b="0" i="0" dirty="0" err="1">
                <a:solidFill>
                  <a:srgbClr val="262626"/>
                </a:solidFill>
                <a:latin typeface="맑은 고딕"/>
                <a:ea typeface="맑은 고딕"/>
              </a:rPr>
              <a:t>신품</a:t>
            </a:r>
            <a:r>
              <a:rPr sz="800" b="0" i="0" dirty="0">
                <a:solidFill>
                  <a:srgbClr val="262626"/>
                </a:solidFill>
                <a:latin typeface="맑은 고딕"/>
                <a:ea typeface="맑은 고딕"/>
              </a:rPr>
              <a:t> $35/GB</a:t>
            </a:r>
          </a:p>
          <a:p>
            <a:pPr algn="l">
              <a:lnSpc>
                <a:spcPct val="115000"/>
              </a:lnSpc>
              <a:spcAft>
                <a:spcPts val="400"/>
              </a:spcAft>
            </a:pPr>
            <a:r>
              <a:rPr sz="800" b="1" i="0" dirty="0">
                <a:solidFill>
                  <a:srgbClr val="1F4E79"/>
                </a:solidFill>
                <a:latin typeface="맑은 고딕"/>
                <a:ea typeface="맑은 고딕"/>
              </a:rPr>
              <a:t>CXL-PNM  </a:t>
            </a:r>
            <a:r>
              <a:rPr sz="800" b="0" i="0" dirty="0">
                <a:solidFill>
                  <a:srgbClr val="262626"/>
                </a:solidFill>
                <a:latin typeface="맑은 고딕"/>
                <a:ea typeface="맑은 고딕"/>
              </a:rPr>
              <a:t>Marvell </a:t>
            </a:r>
            <a:r>
              <a:rPr sz="800" b="0" i="0" dirty="0" err="1">
                <a:solidFill>
                  <a:srgbClr val="262626"/>
                </a:solidFill>
                <a:latin typeface="맑은 고딕"/>
                <a:ea typeface="맑은 고딕"/>
              </a:rPr>
              <a:t>Structera</a:t>
            </a:r>
            <a:r>
              <a:rPr sz="800" b="0" i="0" dirty="0">
                <a:solidFill>
                  <a:srgbClr val="262626"/>
                </a:solidFill>
                <a:latin typeface="맑은 고딕"/>
                <a:ea typeface="맑은 고딕"/>
              </a:rPr>
              <a:t> A 2504 (CXL Type-3 · Arm Neoverse V2 16코어 near-memory) · DDR5-6400 4ch × 32GB RDIMM = 128GB/</a:t>
            </a:r>
            <a:r>
              <a:rPr sz="800" b="0" i="0" dirty="0" err="1">
                <a:solidFill>
                  <a:srgbClr val="262626"/>
                </a:solidFill>
                <a:latin typeface="맑은 고딕"/>
                <a:ea typeface="맑은 고딕"/>
              </a:rPr>
              <a:t>카드</a:t>
            </a:r>
            <a:r>
              <a:rPr sz="800" b="0" i="0" dirty="0">
                <a:solidFill>
                  <a:srgbClr val="262626"/>
                </a:solidFill>
                <a:latin typeface="맑은 고딕"/>
                <a:ea typeface="맑은 고딕"/>
              </a:rPr>
              <a:t> — </a:t>
            </a:r>
            <a:r>
              <a:rPr sz="800" b="0" i="0" dirty="0" err="1">
                <a:solidFill>
                  <a:srgbClr val="262626"/>
                </a:solidFill>
                <a:latin typeface="맑은 고딕"/>
                <a:ea typeface="맑은 고딕"/>
              </a:rPr>
              <a:t>카드</a:t>
            </a:r>
            <a:r>
              <a:rPr sz="800" b="0" i="0" dirty="0">
                <a:solidFill>
                  <a:srgbClr val="262626"/>
                </a:solidFill>
                <a:latin typeface="맑은 고딕"/>
                <a:ea typeface="맑은 고딕"/>
              </a:rPr>
              <a:t> $1.5K (</a:t>
            </a:r>
            <a:r>
              <a:rPr sz="800" b="0" i="0" dirty="0" err="1">
                <a:solidFill>
                  <a:srgbClr val="262626"/>
                </a:solidFill>
                <a:latin typeface="맑은 고딕"/>
                <a:ea typeface="맑은 고딕"/>
              </a:rPr>
              <a:t>가정</a:t>
            </a:r>
            <a:r>
              <a:rPr sz="800" b="0" i="0" dirty="0">
                <a:solidFill>
                  <a:srgbClr val="262626"/>
                </a:solidFill>
                <a:latin typeface="맑은 고딕"/>
                <a:ea typeface="맑은 고딕"/>
              </a:rPr>
              <a:t>, </a:t>
            </a:r>
            <a:r>
              <a:rPr sz="800" b="0" i="0" dirty="0" err="1">
                <a:solidFill>
                  <a:srgbClr val="262626"/>
                </a:solidFill>
                <a:latin typeface="맑은 고딕"/>
                <a:ea typeface="맑은 고딕"/>
              </a:rPr>
              <a:t>가격</a:t>
            </a:r>
            <a:r>
              <a:rPr sz="800" b="0" i="0" dirty="0">
                <a:solidFill>
                  <a:srgbClr val="262626"/>
                </a:solidFill>
                <a:latin typeface="맑은 고딕"/>
                <a:ea typeface="맑은 고딕"/>
              </a:rPr>
              <a:t> </a:t>
            </a:r>
            <a:r>
              <a:rPr sz="800" b="0" i="0" dirty="0" err="1">
                <a:solidFill>
                  <a:srgbClr val="262626"/>
                </a:solidFill>
                <a:latin typeface="맑은 고딕"/>
                <a:ea typeface="맑은 고딕"/>
              </a:rPr>
              <a:t>비공개</a:t>
            </a:r>
            <a:r>
              <a:rPr sz="800" b="0" i="0" dirty="0">
                <a:solidFill>
                  <a:srgbClr val="262626"/>
                </a:solidFill>
                <a:latin typeface="맑은 고딕"/>
                <a:ea typeface="맑은 고딕"/>
              </a:rPr>
              <a:t>)</a:t>
            </a:r>
          </a:p>
          <a:p>
            <a:pPr algn="l">
              <a:lnSpc>
                <a:spcPct val="115000"/>
              </a:lnSpc>
              <a:spcAft>
                <a:spcPts val="400"/>
              </a:spcAft>
            </a:pPr>
            <a:r>
              <a:rPr sz="800" b="1" i="0" dirty="0" err="1">
                <a:solidFill>
                  <a:srgbClr val="1F4E79"/>
                </a:solidFill>
                <a:latin typeface="맑은 고딕"/>
                <a:ea typeface="맑은 고딕"/>
              </a:rPr>
              <a:t>NVMe</a:t>
            </a:r>
            <a:r>
              <a:rPr sz="800" b="1" i="0" dirty="0">
                <a:solidFill>
                  <a:srgbClr val="1F4E79"/>
                </a:solidFill>
                <a:latin typeface="맑은 고딕"/>
                <a:ea typeface="맑은 고딕"/>
              </a:rPr>
              <a:t> SSD  </a:t>
            </a:r>
            <a:r>
              <a:rPr sz="800" b="0" i="0" dirty="0" err="1">
                <a:solidFill>
                  <a:srgbClr val="262626"/>
                </a:solidFill>
                <a:latin typeface="맑은 고딕"/>
                <a:ea typeface="맑은 고딕"/>
              </a:rPr>
              <a:t>엔터프라이즈</a:t>
            </a:r>
            <a:r>
              <a:rPr sz="800" b="0" i="0" dirty="0">
                <a:solidFill>
                  <a:srgbClr val="262626"/>
                </a:solidFill>
                <a:latin typeface="맑은 고딕"/>
                <a:ea typeface="맑은 고딕"/>
              </a:rPr>
              <a:t> PCIe Gen4 U.3 TLC (Micron 7450 </a:t>
            </a:r>
            <a:r>
              <a:rPr sz="800" b="0" i="0" dirty="0" err="1">
                <a:solidFill>
                  <a:srgbClr val="262626"/>
                </a:solidFill>
                <a:latin typeface="맑은 고딕"/>
                <a:ea typeface="맑은 고딕"/>
              </a:rPr>
              <a:t>PRO급</a:t>
            </a:r>
            <a:r>
              <a:rPr sz="800" b="0" i="0" dirty="0">
                <a:solidFill>
                  <a:srgbClr val="262626"/>
                </a:solidFill>
                <a:latin typeface="맑은 고딕"/>
                <a:ea typeface="맑은 고딕"/>
              </a:rPr>
              <a:t>) 4TB × 4대, 7 GB/s × 4 = 28 GB/s — </a:t>
            </a:r>
            <a:r>
              <a:rPr sz="800" b="0" i="0" dirty="0" err="1">
                <a:solidFill>
                  <a:srgbClr val="262626"/>
                </a:solidFill>
                <a:latin typeface="맑은 고딕"/>
                <a:ea typeface="맑은 고딕"/>
              </a:rPr>
              <a:t>신품</a:t>
            </a:r>
            <a:r>
              <a:rPr sz="800" b="0" i="0" dirty="0">
                <a:solidFill>
                  <a:srgbClr val="262626"/>
                </a:solidFill>
                <a:latin typeface="맑은 고딕"/>
                <a:ea typeface="맑은 고딕"/>
              </a:rPr>
              <a:t> $0.45/GB</a:t>
            </a:r>
          </a:p>
          <a:p>
            <a:pPr algn="l">
              <a:lnSpc>
                <a:spcPct val="115000"/>
              </a:lnSpc>
              <a:spcAft>
                <a:spcPts val="400"/>
              </a:spcAft>
            </a:pPr>
            <a:r>
              <a:rPr sz="800" b="1" i="0" dirty="0">
                <a:solidFill>
                  <a:srgbClr val="1F4E79"/>
                </a:solidFill>
                <a:latin typeface="맑은 고딕"/>
                <a:ea typeface="맑은 고딕"/>
              </a:rPr>
              <a:t>PIM-SSD  </a:t>
            </a:r>
            <a:r>
              <a:rPr sz="800" b="0" i="0" dirty="0" err="1">
                <a:solidFill>
                  <a:srgbClr val="262626"/>
                </a:solidFill>
                <a:latin typeface="맑은 고딕"/>
                <a:ea typeface="맑은 고딕"/>
              </a:rPr>
              <a:t>연산</a:t>
            </a:r>
            <a:r>
              <a:rPr sz="800" b="0" i="0" dirty="0">
                <a:solidFill>
                  <a:srgbClr val="262626"/>
                </a:solidFill>
                <a:latin typeface="맑은 고딕"/>
                <a:ea typeface="맑은 고딕"/>
              </a:rPr>
              <a:t> </a:t>
            </a:r>
            <a:r>
              <a:rPr sz="800" b="0" i="0" dirty="0" err="1">
                <a:solidFill>
                  <a:srgbClr val="262626"/>
                </a:solidFill>
                <a:latin typeface="맑은 고딕"/>
                <a:ea typeface="맑은 고딕"/>
              </a:rPr>
              <a:t>내장</a:t>
            </a:r>
            <a:r>
              <a:rPr sz="800" b="0" i="0" dirty="0">
                <a:solidFill>
                  <a:srgbClr val="262626"/>
                </a:solidFill>
                <a:latin typeface="맑은 고딕"/>
                <a:ea typeface="맑은 고딕"/>
              </a:rPr>
              <a:t> SSD — </a:t>
            </a:r>
            <a:r>
              <a:rPr sz="800" b="0" i="0" dirty="0" err="1">
                <a:solidFill>
                  <a:srgbClr val="262626"/>
                </a:solidFill>
                <a:latin typeface="맑은 고딕"/>
                <a:ea typeface="맑은 고딕"/>
              </a:rPr>
              <a:t>NVMe와</a:t>
            </a:r>
            <a:r>
              <a:rPr sz="800" b="0" i="0" dirty="0">
                <a:solidFill>
                  <a:srgbClr val="262626"/>
                </a:solidFill>
                <a:latin typeface="맑은 고딕"/>
                <a:ea typeface="맑은 고딕"/>
              </a:rPr>
              <a:t> </a:t>
            </a:r>
            <a:r>
              <a:rPr sz="800" b="0" i="0" dirty="0" err="1">
                <a:solidFill>
                  <a:srgbClr val="262626"/>
                </a:solidFill>
                <a:latin typeface="맑은 고딕"/>
                <a:ea typeface="맑은 고딕"/>
              </a:rPr>
              <a:t>동일</a:t>
            </a:r>
            <a:r>
              <a:rPr sz="800" b="0" i="0" dirty="0">
                <a:solidFill>
                  <a:srgbClr val="262626"/>
                </a:solidFill>
                <a:latin typeface="맑은 고딕"/>
                <a:ea typeface="맑은 고딕"/>
              </a:rPr>
              <a:t> </a:t>
            </a:r>
            <a:r>
              <a:rPr sz="800" b="0" i="0" dirty="0" err="1">
                <a:solidFill>
                  <a:srgbClr val="262626"/>
                </a:solidFill>
                <a:latin typeface="맑은 고딕"/>
                <a:ea typeface="맑은 고딕"/>
              </a:rPr>
              <a:t>용량</a:t>
            </a:r>
            <a:r>
              <a:rPr sz="800" b="0" i="0" dirty="0">
                <a:solidFill>
                  <a:srgbClr val="262626"/>
                </a:solidFill>
                <a:latin typeface="맑은 고딕"/>
                <a:ea typeface="맑은 고딕"/>
              </a:rPr>
              <a:t> · </a:t>
            </a:r>
            <a:r>
              <a:rPr sz="800" b="0" i="0" dirty="0" err="1">
                <a:solidFill>
                  <a:srgbClr val="262626"/>
                </a:solidFill>
                <a:latin typeface="맑은 고딕"/>
                <a:ea typeface="맑은 고딕"/>
              </a:rPr>
              <a:t>대역폭</a:t>
            </a:r>
            <a:r>
              <a:rPr sz="800" b="0" i="0" dirty="0">
                <a:solidFill>
                  <a:srgbClr val="262626"/>
                </a:solidFill>
                <a:latin typeface="맑은 고딕"/>
                <a:ea typeface="맑은 고딕"/>
              </a:rPr>
              <a:t> · </a:t>
            </a:r>
            <a:r>
              <a:rPr sz="800" b="0" i="0" dirty="0" err="1">
                <a:solidFill>
                  <a:srgbClr val="262626"/>
                </a:solidFill>
                <a:latin typeface="맑은 고딕"/>
                <a:ea typeface="맑은 고딕"/>
              </a:rPr>
              <a:t>단가로</a:t>
            </a:r>
            <a:r>
              <a:rPr sz="800" b="0" i="0" dirty="0">
                <a:solidFill>
                  <a:srgbClr val="262626"/>
                </a:solidFill>
                <a:latin typeface="맑은 고딕"/>
                <a:ea typeface="맑은 고딕"/>
              </a:rPr>
              <a:t> </a:t>
            </a:r>
            <a:r>
              <a:rPr sz="800" b="0" i="0" dirty="0" err="1">
                <a:solidFill>
                  <a:srgbClr val="262626"/>
                </a:solidFill>
                <a:latin typeface="맑은 고딕"/>
                <a:ea typeface="맑은 고딕"/>
              </a:rPr>
              <a:t>가정</a:t>
            </a:r>
            <a:endParaRPr sz="800" b="0" i="0" dirty="0">
              <a:solidFill>
                <a:srgbClr val="262626"/>
              </a:solidFill>
              <a:latin typeface="맑은 고딕"/>
              <a:ea typeface="맑은 고딕"/>
            </a:endParaRPr>
          </a:p>
          <a:p>
            <a:pPr algn="l">
              <a:lnSpc>
                <a:spcPct val="115000"/>
              </a:lnSpc>
              <a:spcAft>
                <a:spcPts val="400"/>
              </a:spcAft>
            </a:pPr>
            <a:r>
              <a:rPr sz="800" b="1" i="0" dirty="0" err="1">
                <a:solidFill>
                  <a:srgbClr val="1F4E79"/>
                </a:solidFill>
                <a:latin typeface="맑은 고딕"/>
                <a:ea typeface="맑은 고딕"/>
              </a:rPr>
              <a:t>노드</a:t>
            </a:r>
            <a:r>
              <a:rPr sz="800" b="1" i="0" dirty="0">
                <a:solidFill>
                  <a:srgbClr val="1F4E79"/>
                </a:solidFill>
                <a:latin typeface="맑은 고딕"/>
                <a:ea typeface="맑은 고딕"/>
              </a:rPr>
              <a:t>  </a:t>
            </a:r>
            <a:r>
              <a:rPr sz="800" b="0" i="0" dirty="0">
                <a:solidFill>
                  <a:srgbClr val="262626"/>
                </a:solidFill>
                <a:latin typeface="맑은 고딕"/>
                <a:ea typeface="맑은 고딕"/>
              </a:rPr>
              <a:t>Baseline · Target </a:t>
            </a:r>
            <a:r>
              <a:rPr sz="800" b="0" i="0" dirty="0" err="1">
                <a:solidFill>
                  <a:srgbClr val="262626"/>
                </a:solidFill>
                <a:latin typeface="맑은 고딕"/>
                <a:ea typeface="맑은 고딕"/>
              </a:rPr>
              <a:t>모두</a:t>
            </a:r>
            <a:r>
              <a:rPr sz="800" b="0" i="0" dirty="0">
                <a:solidFill>
                  <a:srgbClr val="262626"/>
                </a:solidFill>
                <a:latin typeface="맑은 고딕"/>
                <a:ea typeface="맑은 고딕"/>
              </a:rPr>
              <a:t> 4노드. </a:t>
            </a:r>
            <a:r>
              <a:rPr sz="800" b="0" i="0" dirty="0" err="1">
                <a:solidFill>
                  <a:srgbClr val="262626"/>
                </a:solidFill>
                <a:latin typeface="맑은 고딕"/>
                <a:ea typeface="맑은 고딕"/>
              </a:rPr>
              <a:t>표의</a:t>
            </a:r>
            <a:r>
              <a:rPr sz="800" b="0" i="0" dirty="0">
                <a:solidFill>
                  <a:srgbClr val="262626"/>
                </a:solidFill>
                <a:latin typeface="맑은 고딕"/>
                <a:ea typeface="맑은 고딕"/>
              </a:rPr>
              <a:t> </a:t>
            </a:r>
            <a:r>
              <a:rPr sz="800" b="0" i="0" dirty="0" err="1">
                <a:solidFill>
                  <a:srgbClr val="262626"/>
                </a:solidFill>
                <a:latin typeface="맑은 고딕"/>
                <a:ea typeface="맑은 고딕"/>
              </a:rPr>
              <a:t>용량</a:t>
            </a:r>
            <a:r>
              <a:rPr sz="800" b="0" i="0" dirty="0">
                <a:solidFill>
                  <a:srgbClr val="262626"/>
                </a:solidFill>
                <a:latin typeface="맑은 고딕"/>
                <a:ea typeface="맑은 고딕"/>
              </a:rPr>
              <a:t> · </a:t>
            </a:r>
            <a:r>
              <a:rPr sz="800" b="0" i="0" dirty="0" err="1">
                <a:solidFill>
                  <a:srgbClr val="262626"/>
                </a:solidFill>
                <a:latin typeface="맑은 고딕"/>
                <a:ea typeface="맑은 고딕"/>
              </a:rPr>
              <a:t>대역폭은</a:t>
            </a:r>
            <a:r>
              <a:rPr sz="800" b="0" i="0" dirty="0">
                <a:solidFill>
                  <a:srgbClr val="262626"/>
                </a:solidFill>
                <a:latin typeface="맑은 고딕"/>
                <a:ea typeface="맑은 고딕"/>
              </a:rPr>
              <a:t> 1노드 </a:t>
            </a:r>
            <a:r>
              <a:rPr sz="800" b="0" i="0" dirty="0" err="1">
                <a:solidFill>
                  <a:srgbClr val="262626"/>
                </a:solidFill>
                <a:latin typeface="맑은 고딕"/>
                <a:ea typeface="맑은 고딕"/>
              </a:rPr>
              <a:t>기준</a:t>
            </a:r>
            <a:r>
              <a:rPr sz="800" b="0" i="0" dirty="0">
                <a:solidFill>
                  <a:srgbClr val="262626"/>
                </a:solidFill>
                <a:latin typeface="맑은 고딕"/>
                <a:ea typeface="맑은 고딕"/>
              </a:rPr>
              <a:t>, </a:t>
            </a:r>
            <a:r>
              <a:rPr sz="800" b="0" i="0" dirty="0" err="1">
                <a:solidFill>
                  <a:srgbClr val="262626"/>
                </a:solidFill>
                <a:latin typeface="맑은 고딕"/>
                <a:ea typeface="맑은 고딕"/>
              </a:rPr>
              <a:t>비용은</a:t>
            </a:r>
            <a:r>
              <a:rPr sz="800" b="0" i="0" dirty="0">
                <a:solidFill>
                  <a:srgbClr val="262626"/>
                </a:solidFill>
                <a:latin typeface="맑은 고딕"/>
                <a:ea typeface="맑은 고딕"/>
              </a:rPr>
              <a:t> 4노드 </a:t>
            </a:r>
            <a:r>
              <a:rPr sz="800" b="0" i="0" dirty="0" err="1">
                <a:solidFill>
                  <a:srgbClr val="262626"/>
                </a:solidFill>
                <a:latin typeface="맑은 고딕"/>
                <a:ea typeface="맑은 고딕"/>
              </a:rPr>
              <a:t>합계</a:t>
            </a:r>
            <a:endParaRPr sz="800" b="0" i="0" dirty="0">
              <a:solidFill>
                <a:srgbClr val="262626"/>
              </a:solidFill>
              <a:latin typeface="맑은 고딕"/>
              <a:ea typeface="맑은 고딕"/>
            </a:endParaRPr>
          </a:p>
        </p:txBody>
      </p:sp>
      <p:sp>
        <p:nvSpPr>
          <p:cNvPr id="308" name="Rectangle 78"/>
          <p:cNvSpPr/>
          <p:nvPr/>
        </p:nvSpPr>
        <p:spPr>
          <a:xfrm>
            <a:off x="361950" y="3124200"/>
            <a:ext cx="11515725"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9" name="TextBox 308"/>
          <p:cNvSpPr txBox="1"/>
          <p:nvPr/>
        </p:nvSpPr>
        <p:spPr>
          <a:xfrm>
            <a:off x="361950" y="3171825"/>
            <a:ext cx="2686050" cy="133350"/>
          </a:xfrm>
          <a:prstGeom prst="rect">
            <a:avLst/>
          </a:prstGeom>
          <a:noFill/>
        </p:spPr>
        <p:txBody>
          <a:bodyPr wrap="square" lIns="0" tIns="0" rIns="0" bIns="0" anchor="ctr">
            <a:spAutoFit/>
          </a:bodyPr>
          <a:lstStyle/>
          <a:p>
            <a:pPr algn="l"/>
            <a:r>
              <a:rPr sz="850" b="1" i="0">
                <a:solidFill>
                  <a:srgbClr val="808080"/>
                </a:solidFill>
                <a:latin typeface="맑은 고딕"/>
                <a:ea typeface="맑은 고딕"/>
              </a:rPr>
              <a:t>계층별  용량  ·  대역폭  (1노드 기준)</a:t>
            </a:r>
          </a:p>
        </p:txBody>
      </p:sp>
      <p:sp>
        <p:nvSpPr>
          <p:cNvPr id="310" name="TextBox 309"/>
          <p:cNvSpPr txBox="1"/>
          <p:nvPr/>
        </p:nvSpPr>
        <p:spPr>
          <a:xfrm>
            <a:off x="361950" y="333375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311" name="TextBox 310"/>
          <p:cNvSpPr txBox="1"/>
          <p:nvPr/>
        </p:nvSpPr>
        <p:spPr>
          <a:xfrm>
            <a:off x="2171700" y="333375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26.8 TB/s</a:t>
            </a:r>
          </a:p>
        </p:txBody>
      </p:sp>
      <p:sp>
        <p:nvSpPr>
          <p:cNvPr id="312" name="TextBox 311"/>
          <p:cNvSpPr txBox="1"/>
          <p:nvPr/>
        </p:nvSpPr>
        <p:spPr>
          <a:xfrm>
            <a:off x="4629150" y="333375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320 GB  ·  13.4 TB/s</a:t>
            </a:r>
          </a:p>
        </p:txBody>
      </p:sp>
      <p:sp>
        <p:nvSpPr>
          <p:cNvPr id="313" name="TextBox 312"/>
          <p:cNvSpPr txBox="1"/>
          <p:nvPr/>
        </p:nvSpPr>
        <p:spPr>
          <a:xfrm>
            <a:off x="7143750" y="3333750"/>
            <a:ext cx="4733925" cy="209550"/>
          </a:xfrm>
          <a:prstGeom prst="rect">
            <a:avLst/>
          </a:prstGeom>
          <a:noFill/>
        </p:spPr>
        <p:txBody>
          <a:bodyPr wrap="square" lIns="0" tIns="0" rIns="0" bIns="0" anchor="ctr">
            <a:spAutoFit/>
          </a:bodyPr>
          <a:lstStyle/>
          <a:p>
            <a:pPr algn="l"/>
            <a:r>
              <a:rPr sz="800" b="0" i="0" dirty="0">
                <a:solidFill>
                  <a:srgbClr val="595959"/>
                </a:solidFill>
                <a:latin typeface="맑은 고딕"/>
                <a:ea typeface="맑은 고딕"/>
              </a:rPr>
              <a:t>H100 SXM5 80GB · HBM3 · 3.35 TB/s — Base 8×80GB, 8×3.35 / Target 4×80GB, 4×3.35</a:t>
            </a:r>
          </a:p>
        </p:txBody>
      </p:sp>
      <p:sp>
        <p:nvSpPr>
          <p:cNvPr id="318" name="TextBox 317"/>
          <p:cNvSpPr txBox="1"/>
          <p:nvPr/>
        </p:nvSpPr>
        <p:spPr>
          <a:xfrm>
            <a:off x="361950" y="354330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CXL-PNM (DDR)</a:t>
            </a:r>
          </a:p>
        </p:txBody>
      </p:sp>
      <p:sp>
        <p:nvSpPr>
          <p:cNvPr id="319" name="TextBox 318"/>
          <p:cNvSpPr txBox="1"/>
          <p:nvPr/>
        </p:nvSpPr>
        <p:spPr>
          <a:xfrm>
            <a:off x="2171700" y="354330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20" name="TextBox 319"/>
          <p:cNvSpPr txBox="1"/>
          <p:nvPr/>
        </p:nvSpPr>
        <p:spPr>
          <a:xfrm>
            <a:off x="4629150" y="354330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512 GB  ·  800 GB/s</a:t>
            </a:r>
          </a:p>
        </p:txBody>
      </p:sp>
      <p:sp>
        <p:nvSpPr>
          <p:cNvPr id="321" name="TextBox 320"/>
          <p:cNvSpPr txBox="1"/>
          <p:nvPr/>
        </p:nvSpPr>
        <p:spPr>
          <a:xfrm>
            <a:off x="7143750" y="3543300"/>
            <a:ext cx="4733925" cy="209550"/>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Structera A 2504 · DDR5-6400 4ch×32GB = 128GB, ≈200 GB/s/카드 — 4카드: 4×128, 4×200</a:t>
            </a:r>
          </a:p>
        </p:txBody>
      </p:sp>
      <p:sp>
        <p:nvSpPr>
          <p:cNvPr id="322" name="TextBox 321"/>
          <p:cNvSpPr txBox="1"/>
          <p:nvPr/>
        </p:nvSpPr>
        <p:spPr>
          <a:xfrm>
            <a:off x="361950" y="375285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CPU DDR</a:t>
            </a:r>
          </a:p>
        </p:txBody>
      </p:sp>
      <p:sp>
        <p:nvSpPr>
          <p:cNvPr id="323" name="TextBox 322"/>
          <p:cNvSpPr txBox="1"/>
          <p:nvPr/>
        </p:nvSpPr>
        <p:spPr>
          <a:xfrm>
            <a:off x="2171700" y="375285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4" name="TextBox 323"/>
          <p:cNvSpPr txBox="1"/>
          <p:nvPr/>
        </p:nvSpPr>
        <p:spPr>
          <a:xfrm>
            <a:off x="4629150" y="3752850"/>
            <a:ext cx="2381250" cy="209550"/>
          </a:xfrm>
          <a:prstGeom prst="rect">
            <a:avLst/>
          </a:prstGeom>
          <a:noFill/>
        </p:spPr>
        <p:txBody>
          <a:bodyPr wrap="square" lIns="0" tIns="0" rIns="0" bIns="0" anchor="ctr">
            <a:spAutoFit/>
          </a:bodyPr>
          <a:lstStyle/>
          <a:p>
            <a:pPr algn="ctr"/>
            <a:r>
              <a:rPr sz="900" b="0" i="0" dirty="0">
                <a:solidFill>
                  <a:srgbClr val="404040"/>
                </a:solidFill>
                <a:latin typeface="맑은 고딕"/>
                <a:ea typeface="맑은 고딕"/>
              </a:rPr>
              <a:t>1,024 GB  ·  350 GB/s</a:t>
            </a:r>
          </a:p>
        </p:txBody>
      </p:sp>
      <p:sp>
        <p:nvSpPr>
          <p:cNvPr id="325" name="TextBox 324"/>
          <p:cNvSpPr txBox="1"/>
          <p:nvPr/>
        </p:nvSpPr>
        <p:spPr>
          <a:xfrm>
            <a:off x="7143750" y="3752850"/>
            <a:ext cx="4733925" cy="209550"/>
          </a:xfrm>
          <a:prstGeom prst="rect">
            <a:avLst/>
          </a:prstGeom>
          <a:noFill/>
        </p:spPr>
        <p:txBody>
          <a:bodyPr wrap="square" lIns="0" tIns="0" rIns="0" bIns="0" anchor="ctr">
            <a:spAutoFit/>
          </a:bodyPr>
          <a:lstStyle/>
          <a:p>
            <a:pPr algn="l"/>
            <a:r>
              <a:rPr sz="800" b="0" i="0" dirty="0">
                <a:solidFill>
                  <a:srgbClr val="595959"/>
                </a:solidFill>
                <a:latin typeface="맑은 고딕"/>
                <a:ea typeface="맑은 고딕"/>
              </a:rPr>
              <a:t>Xeon 8480+급 56C ×2 · DDR5-4800 8ch×64GB = 512GB, </a:t>
            </a:r>
            <a:r>
              <a:rPr sz="800" b="0" i="0" dirty="0" err="1">
                <a:solidFill>
                  <a:srgbClr val="595959"/>
                </a:solidFill>
                <a:latin typeface="맑은 고딕"/>
                <a:ea typeface="맑은 고딕"/>
              </a:rPr>
              <a:t>유효</a:t>
            </a:r>
            <a:r>
              <a:rPr sz="800" b="0" i="0" dirty="0">
                <a:solidFill>
                  <a:srgbClr val="595959"/>
                </a:solidFill>
                <a:latin typeface="맑은 고딕"/>
                <a:ea typeface="맑은 고딕"/>
              </a:rPr>
              <a:t> 175 GB/s/</a:t>
            </a:r>
            <a:r>
              <a:rPr sz="800" b="0" i="0" dirty="0" err="1">
                <a:solidFill>
                  <a:srgbClr val="595959"/>
                </a:solidFill>
                <a:latin typeface="맑은 고딕"/>
                <a:ea typeface="맑은 고딕"/>
              </a:rPr>
              <a:t>소켓</a:t>
            </a:r>
            <a:r>
              <a:rPr sz="800" b="0" i="0" dirty="0">
                <a:solidFill>
                  <a:srgbClr val="595959"/>
                </a:solidFill>
                <a:latin typeface="맑은 고딕"/>
                <a:ea typeface="맑은 고딕"/>
              </a:rPr>
              <a:t> — 2×512, 2×175</a:t>
            </a:r>
          </a:p>
        </p:txBody>
      </p:sp>
      <p:sp>
        <p:nvSpPr>
          <p:cNvPr id="326" name="TextBox 325"/>
          <p:cNvSpPr txBox="1"/>
          <p:nvPr/>
        </p:nvSpPr>
        <p:spPr>
          <a:xfrm>
            <a:off x="361950" y="396240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NVMe SSD</a:t>
            </a:r>
          </a:p>
        </p:txBody>
      </p:sp>
      <p:sp>
        <p:nvSpPr>
          <p:cNvPr id="327" name="TextBox 326"/>
          <p:cNvSpPr txBox="1"/>
          <p:nvPr/>
        </p:nvSpPr>
        <p:spPr>
          <a:xfrm>
            <a:off x="2171700" y="396240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8" name="TextBox 327"/>
          <p:cNvSpPr txBox="1"/>
          <p:nvPr/>
        </p:nvSpPr>
        <p:spPr>
          <a:xfrm>
            <a:off x="4629150" y="396240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9" name="TextBox 328"/>
          <p:cNvSpPr txBox="1"/>
          <p:nvPr/>
        </p:nvSpPr>
        <p:spPr>
          <a:xfrm>
            <a:off x="7143750" y="3962400"/>
            <a:ext cx="4733925" cy="209550"/>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NVMe PCIe Gen4 U.3 TLC · 4TB×4 = 16TB, 7 GB/s×4 = 28 GB/s</a:t>
            </a:r>
          </a:p>
        </p:txBody>
      </p:sp>
      <p:sp>
        <p:nvSpPr>
          <p:cNvPr id="330" name="TextBox 329"/>
          <p:cNvSpPr txBox="1"/>
          <p:nvPr/>
        </p:nvSpPr>
        <p:spPr>
          <a:xfrm>
            <a:off x="361950" y="4171950"/>
            <a:ext cx="1733550" cy="209550"/>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PIM-SSD</a:t>
            </a:r>
          </a:p>
        </p:txBody>
      </p:sp>
      <p:sp>
        <p:nvSpPr>
          <p:cNvPr id="331" name="TextBox 330"/>
          <p:cNvSpPr txBox="1"/>
          <p:nvPr/>
        </p:nvSpPr>
        <p:spPr>
          <a:xfrm>
            <a:off x="2171700" y="417195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32" name="TextBox 331"/>
          <p:cNvSpPr txBox="1"/>
          <p:nvPr/>
        </p:nvSpPr>
        <p:spPr>
          <a:xfrm>
            <a:off x="4629150" y="4171950"/>
            <a:ext cx="2381250" cy="209550"/>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3" name="TextBox 332"/>
          <p:cNvSpPr txBox="1"/>
          <p:nvPr/>
        </p:nvSpPr>
        <p:spPr>
          <a:xfrm>
            <a:off x="7143750" y="4171950"/>
            <a:ext cx="4733925" cy="209550"/>
          </a:xfrm>
          <a:prstGeom prst="rect">
            <a:avLst/>
          </a:prstGeom>
          <a:noFill/>
        </p:spPr>
        <p:txBody>
          <a:bodyPr wrap="square" lIns="0" tIns="0" rIns="0" bIns="0" anchor="ctr">
            <a:spAutoFit/>
          </a:bodyPr>
          <a:lstStyle/>
          <a:p>
            <a:pPr algn="l"/>
            <a:r>
              <a:rPr sz="800" b="0" i="0" dirty="0">
                <a:solidFill>
                  <a:srgbClr val="595959"/>
                </a:solidFill>
                <a:latin typeface="맑은 고딕"/>
                <a:ea typeface="맑은 고딕"/>
              </a:rPr>
              <a:t>PIM(</a:t>
            </a:r>
            <a:r>
              <a:rPr sz="800" b="0" i="0" dirty="0" err="1">
                <a:solidFill>
                  <a:srgbClr val="595959"/>
                </a:solidFill>
                <a:latin typeface="맑은 고딕"/>
                <a:ea typeface="맑은 고딕"/>
              </a:rPr>
              <a:t>연산</a:t>
            </a:r>
            <a:r>
              <a:rPr sz="800" b="0" i="0" dirty="0">
                <a:solidFill>
                  <a:srgbClr val="595959"/>
                </a:solidFill>
                <a:latin typeface="맑은 고딕"/>
                <a:ea typeface="맑은 고딕"/>
              </a:rPr>
              <a:t> </a:t>
            </a:r>
            <a:r>
              <a:rPr sz="800" b="0" i="0" dirty="0" err="1">
                <a:solidFill>
                  <a:srgbClr val="595959"/>
                </a:solidFill>
                <a:latin typeface="맑은 고딕"/>
                <a:ea typeface="맑은 고딕"/>
              </a:rPr>
              <a:t>내장</a:t>
            </a:r>
            <a:r>
              <a:rPr sz="800" b="0" i="0" dirty="0">
                <a:solidFill>
                  <a:srgbClr val="595959"/>
                </a:solidFill>
                <a:latin typeface="맑은 고딕"/>
                <a:ea typeface="맑은 고딕"/>
              </a:rPr>
              <a:t>) SSD · </a:t>
            </a:r>
            <a:r>
              <a:rPr sz="800" b="0" i="0" dirty="0" err="1">
                <a:solidFill>
                  <a:srgbClr val="595959"/>
                </a:solidFill>
                <a:latin typeface="맑은 고딕"/>
                <a:ea typeface="맑은 고딕"/>
              </a:rPr>
              <a:t>NVMe와</a:t>
            </a:r>
            <a:r>
              <a:rPr sz="800" b="0" i="0" dirty="0">
                <a:solidFill>
                  <a:srgbClr val="595959"/>
                </a:solidFill>
                <a:latin typeface="맑은 고딕"/>
                <a:ea typeface="맑은 고딕"/>
              </a:rPr>
              <a:t> </a:t>
            </a:r>
            <a:r>
              <a:rPr sz="800" b="0" i="0" dirty="0" err="1">
                <a:solidFill>
                  <a:srgbClr val="595959"/>
                </a:solidFill>
                <a:latin typeface="맑은 고딕"/>
                <a:ea typeface="맑은 고딕"/>
              </a:rPr>
              <a:t>동일</a:t>
            </a:r>
            <a:r>
              <a:rPr sz="800" b="0" i="0" dirty="0">
                <a:solidFill>
                  <a:srgbClr val="595959"/>
                </a:solidFill>
                <a:latin typeface="맑은 고딕"/>
                <a:ea typeface="맑은 고딕"/>
              </a:rPr>
              <a:t> </a:t>
            </a:r>
            <a:r>
              <a:rPr sz="800" b="0" i="0" dirty="0" err="1">
                <a:solidFill>
                  <a:srgbClr val="595959"/>
                </a:solidFill>
                <a:latin typeface="맑은 고딕"/>
                <a:ea typeface="맑은 고딕"/>
              </a:rPr>
              <a:t>용량·대역폭·단가</a:t>
            </a:r>
            <a:r>
              <a:rPr sz="800" b="0" i="0" dirty="0">
                <a:solidFill>
                  <a:srgbClr val="595959"/>
                </a:solidFill>
                <a:latin typeface="맑은 고딕"/>
                <a:ea typeface="맑은 고딕"/>
              </a:rPr>
              <a:t> </a:t>
            </a:r>
            <a:r>
              <a:rPr sz="800" b="0" i="0" dirty="0" err="1">
                <a:solidFill>
                  <a:srgbClr val="595959"/>
                </a:solidFill>
                <a:latin typeface="맑은 고딕"/>
                <a:ea typeface="맑은 고딕"/>
              </a:rPr>
              <a:t>가정</a:t>
            </a:r>
            <a:r>
              <a:rPr sz="800" b="0" i="0" dirty="0">
                <a:solidFill>
                  <a:srgbClr val="595959"/>
                </a:solidFill>
                <a:latin typeface="맑은 고딕"/>
                <a:ea typeface="맑은 고딕"/>
              </a:rPr>
              <a:t> — 16TB, 28 GB/s</a:t>
            </a:r>
          </a:p>
        </p:txBody>
      </p:sp>
      <p:sp>
        <p:nvSpPr>
          <p:cNvPr id="334" name="Rectangle 104"/>
          <p:cNvSpPr/>
          <p:nvPr/>
        </p:nvSpPr>
        <p:spPr>
          <a:xfrm>
            <a:off x="361950" y="4419600"/>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5" name="TextBox 334"/>
          <p:cNvSpPr txBox="1"/>
          <p:nvPr/>
        </p:nvSpPr>
        <p:spPr>
          <a:xfrm>
            <a:off x="438150" y="4419600"/>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가속기측</a:t>
            </a:r>
            <a:r>
              <a:rPr sz="950" b="1" i="0" dirty="0">
                <a:solidFill>
                  <a:srgbClr val="262626"/>
                </a:solidFill>
                <a:latin typeface="맑은 고딕"/>
                <a:ea typeface="맑은 고딕"/>
              </a:rPr>
              <a:t> </a:t>
            </a:r>
            <a:r>
              <a:rPr sz="950" b="1" i="0" dirty="0" err="1">
                <a:solidFill>
                  <a:srgbClr val="262626"/>
                </a:solidFill>
                <a:latin typeface="맑은 고딕"/>
                <a:ea typeface="맑은 고딕"/>
              </a:rPr>
              <a:t>고대역</a:t>
            </a:r>
            <a:r>
              <a:rPr sz="950" b="1" i="0" dirty="0">
                <a:solidFill>
                  <a:srgbClr val="262626"/>
                </a:solidFill>
                <a:latin typeface="맑은 고딕"/>
                <a:ea typeface="맑은 고딕"/>
              </a:rPr>
              <a:t> </a:t>
            </a:r>
            <a:r>
              <a:rPr sz="950" b="1" i="0" dirty="0" err="1">
                <a:solidFill>
                  <a:srgbClr val="262626"/>
                </a:solidFill>
                <a:latin typeface="맑은 고딕"/>
                <a:ea typeface="맑은 고딕"/>
              </a:rPr>
              <a:t>용량</a:t>
            </a:r>
            <a:endParaRPr sz="950" b="1" i="0" dirty="0">
              <a:solidFill>
                <a:srgbClr val="262626"/>
              </a:solidFill>
              <a:latin typeface="맑은 고딕"/>
              <a:ea typeface="맑은 고딕"/>
            </a:endParaRPr>
          </a:p>
        </p:txBody>
      </p:sp>
      <p:sp>
        <p:nvSpPr>
          <p:cNvPr id="336" name="TextBox 335"/>
          <p:cNvSpPr txBox="1"/>
          <p:nvPr/>
        </p:nvSpPr>
        <p:spPr>
          <a:xfrm>
            <a:off x="2171700" y="4419600"/>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640 GB  (1.00×)</a:t>
            </a:r>
          </a:p>
        </p:txBody>
      </p:sp>
      <p:sp>
        <p:nvSpPr>
          <p:cNvPr id="337" name="TextBox 336"/>
          <p:cNvSpPr txBox="1"/>
          <p:nvPr/>
        </p:nvSpPr>
        <p:spPr>
          <a:xfrm>
            <a:off x="4629150" y="4419600"/>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832 GB  (1.30×)</a:t>
            </a:r>
          </a:p>
        </p:txBody>
      </p:sp>
      <p:sp>
        <p:nvSpPr>
          <p:cNvPr id="338" name="TextBox 337"/>
          <p:cNvSpPr txBox="1"/>
          <p:nvPr/>
        </p:nvSpPr>
        <p:spPr>
          <a:xfrm>
            <a:off x="7143750" y="4419600"/>
            <a:ext cx="4733925" cy="209550"/>
          </a:xfrm>
          <a:prstGeom prst="rect">
            <a:avLst/>
          </a:prstGeom>
          <a:noFill/>
        </p:spPr>
        <p:txBody>
          <a:bodyPr wrap="square" lIns="0" tIns="0" rIns="0" bIns="0" anchor="ctr">
            <a:spAutoFit/>
          </a:bodyPr>
          <a:lstStyle/>
          <a:p>
            <a:pPr algn="l"/>
            <a:r>
              <a:rPr sz="800" b="0" i="0" dirty="0">
                <a:solidFill>
                  <a:srgbClr val="404040"/>
                </a:solidFill>
                <a:latin typeface="맑은 고딕"/>
                <a:ea typeface="맑은 고딕"/>
              </a:rPr>
              <a:t>HBM + PNM : 640 / 320 + 512 = 832 GB</a:t>
            </a:r>
          </a:p>
        </p:txBody>
      </p:sp>
      <p:sp>
        <p:nvSpPr>
          <p:cNvPr id="339" name="Rectangle 109"/>
          <p:cNvSpPr/>
          <p:nvPr/>
        </p:nvSpPr>
        <p:spPr>
          <a:xfrm>
            <a:off x="361950" y="4629150"/>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0" name="TextBox 339"/>
          <p:cNvSpPr txBox="1"/>
          <p:nvPr/>
        </p:nvSpPr>
        <p:spPr>
          <a:xfrm>
            <a:off x="438150" y="4629150"/>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대역폭</a:t>
            </a:r>
          </a:p>
        </p:txBody>
      </p:sp>
      <p:sp>
        <p:nvSpPr>
          <p:cNvPr id="341" name="TextBox 340"/>
          <p:cNvSpPr txBox="1"/>
          <p:nvPr/>
        </p:nvSpPr>
        <p:spPr>
          <a:xfrm>
            <a:off x="2171700" y="4629150"/>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26.8 TB/s  (1.00×)</a:t>
            </a:r>
          </a:p>
        </p:txBody>
      </p:sp>
      <p:sp>
        <p:nvSpPr>
          <p:cNvPr id="342" name="TextBox 341"/>
          <p:cNvSpPr txBox="1"/>
          <p:nvPr/>
        </p:nvSpPr>
        <p:spPr>
          <a:xfrm>
            <a:off x="4629150" y="4629150"/>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14.2 TB/s  (0.53×)</a:t>
            </a:r>
          </a:p>
        </p:txBody>
      </p:sp>
      <p:sp>
        <p:nvSpPr>
          <p:cNvPr id="343" name="TextBox 342"/>
          <p:cNvSpPr txBox="1"/>
          <p:nvPr/>
        </p:nvSpPr>
        <p:spPr>
          <a:xfrm>
            <a:off x="7143750" y="4629150"/>
            <a:ext cx="4733925" cy="209550"/>
          </a:xfrm>
          <a:prstGeom prst="rect">
            <a:avLst/>
          </a:prstGeom>
          <a:noFill/>
        </p:spPr>
        <p:txBody>
          <a:bodyPr wrap="square" lIns="0" tIns="0" rIns="0" bIns="0" anchor="ctr">
            <a:spAutoFit/>
          </a:bodyPr>
          <a:lstStyle/>
          <a:p>
            <a:pPr algn="l"/>
            <a:r>
              <a:rPr sz="800" b="0" i="0" dirty="0">
                <a:solidFill>
                  <a:srgbClr val="404040"/>
                </a:solidFill>
                <a:latin typeface="맑은 고딕"/>
                <a:ea typeface="맑은 고딕"/>
              </a:rPr>
              <a:t>HBM + PNM : 8×3.35 = 26.8 / 4×3.35 + 4×0.2 = 14.2 TB/s</a:t>
            </a:r>
          </a:p>
        </p:txBody>
      </p:sp>
      <p:sp>
        <p:nvSpPr>
          <p:cNvPr id="344" name="Rectangle 114"/>
          <p:cNvSpPr/>
          <p:nvPr/>
        </p:nvSpPr>
        <p:spPr>
          <a:xfrm>
            <a:off x="361950" y="4838700"/>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5" name="TextBox 344"/>
          <p:cNvSpPr txBox="1"/>
          <p:nvPr/>
        </p:nvSpPr>
        <p:spPr>
          <a:xfrm>
            <a:off x="438150" y="4838700"/>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총 메모리 용량</a:t>
            </a:r>
          </a:p>
        </p:txBody>
      </p:sp>
      <p:sp>
        <p:nvSpPr>
          <p:cNvPr id="346" name="TextBox 345"/>
          <p:cNvSpPr txBox="1"/>
          <p:nvPr/>
        </p:nvSpPr>
        <p:spPr>
          <a:xfrm>
            <a:off x="2171700" y="4838700"/>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17,664 GB  (1.00×)</a:t>
            </a:r>
          </a:p>
        </p:txBody>
      </p:sp>
      <p:sp>
        <p:nvSpPr>
          <p:cNvPr id="347" name="TextBox 346"/>
          <p:cNvSpPr txBox="1"/>
          <p:nvPr/>
        </p:nvSpPr>
        <p:spPr>
          <a:xfrm>
            <a:off x="4629150" y="4838700"/>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33,856 GB  (1.92×)</a:t>
            </a:r>
          </a:p>
        </p:txBody>
      </p:sp>
      <p:sp>
        <p:nvSpPr>
          <p:cNvPr id="348" name="TextBox 347"/>
          <p:cNvSpPr txBox="1"/>
          <p:nvPr/>
        </p:nvSpPr>
        <p:spPr>
          <a:xfrm>
            <a:off x="7143750" y="4838700"/>
            <a:ext cx="4733925" cy="209550"/>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HBM+PNM+DDR+NVMe+PIM : 640+1,024+16,000 / 320+512+1,024+16,000+16,000</a:t>
            </a:r>
          </a:p>
        </p:txBody>
      </p:sp>
      <p:sp>
        <p:nvSpPr>
          <p:cNvPr id="349" name="Rectangle 119"/>
          <p:cNvSpPr/>
          <p:nvPr/>
        </p:nvSpPr>
        <p:spPr>
          <a:xfrm>
            <a:off x="361950" y="5467350"/>
            <a:ext cx="11515725" cy="20955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0" name="TextBox 349"/>
          <p:cNvSpPr txBox="1"/>
          <p:nvPr/>
        </p:nvSpPr>
        <p:spPr>
          <a:xfrm>
            <a:off x="438150" y="5467350"/>
            <a:ext cx="1657350" cy="209550"/>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총 비용 (4노드)</a:t>
            </a:r>
          </a:p>
        </p:txBody>
      </p:sp>
      <p:sp>
        <p:nvSpPr>
          <p:cNvPr id="351" name="TextBox 350"/>
          <p:cNvSpPr txBox="1"/>
          <p:nvPr/>
        </p:nvSpPr>
        <p:spPr>
          <a:xfrm>
            <a:off x="2171700" y="5467350"/>
            <a:ext cx="2381250"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$1,132K  (1.00×)</a:t>
            </a:r>
          </a:p>
        </p:txBody>
      </p:sp>
      <p:sp>
        <p:nvSpPr>
          <p:cNvPr id="352" name="TextBox 351"/>
          <p:cNvSpPr txBox="1"/>
          <p:nvPr/>
        </p:nvSpPr>
        <p:spPr>
          <a:xfrm>
            <a:off x="4629150" y="5467350"/>
            <a:ext cx="2381250" cy="209550"/>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$777K  (0.69×)</a:t>
            </a:r>
          </a:p>
        </p:txBody>
      </p:sp>
      <p:sp>
        <p:nvSpPr>
          <p:cNvPr id="353" name="TextBox 352"/>
          <p:cNvSpPr txBox="1"/>
          <p:nvPr/>
        </p:nvSpPr>
        <p:spPr>
          <a:xfrm>
            <a:off x="7143750" y="5467350"/>
            <a:ext cx="4733925" cy="209550"/>
          </a:xfrm>
          <a:prstGeom prst="rect">
            <a:avLst/>
          </a:prstGeom>
          <a:noFill/>
        </p:spPr>
        <p:txBody>
          <a:bodyPr wrap="square" lIns="0" tIns="0" rIns="0" bIns="0" anchor="ctr">
            <a:spAutoFit/>
          </a:bodyPr>
          <a:lstStyle/>
          <a:p>
            <a:pPr algn="l"/>
            <a:r>
              <a:rPr sz="800" b="0" i="0">
                <a:solidFill>
                  <a:srgbClr val="FFFFFF"/>
                </a:solidFill>
                <a:latin typeface="맑은 고딕"/>
                <a:ea typeface="맑은 고딕"/>
              </a:rPr>
              <a:t>메모리·SSD + 카드 : $172K + $960K / $273K + $504K  (CPU·보드·전원 제외)</a:t>
            </a:r>
          </a:p>
        </p:txBody>
      </p:sp>
      <p:sp>
        <p:nvSpPr>
          <p:cNvPr id="354" name="Rectangle 124"/>
          <p:cNvSpPr/>
          <p:nvPr/>
        </p:nvSpPr>
        <p:spPr>
          <a:xfrm>
            <a:off x="365760" y="5753100"/>
            <a:ext cx="11521440" cy="381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25000"/>
              </a:lnSpc>
            </a:pPr>
            <a:r>
              <a:rPr sz="900" b="0" i="0">
                <a:solidFill>
                  <a:srgbClr val="7F5F00"/>
                </a:solidFill>
                <a:latin typeface="맑은 고딕"/>
                <a:ea typeface="맑은 고딕"/>
              </a:rPr>
              <a:t>집계 대역폭 0.53×는 슬롯당 대역폭이 낮아진 게 아니라 GPU가 4대 줄어든 몫이다 — 슬롯당 HBM 3.35 TB/s는 두 구성 모두 같고, decode attention이 묶이는 것은 슬롯당 대역폭이다</a:t>
            </a:r>
          </a:p>
          <a:p>
            <a:pPr algn="l">
              <a:lnSpc>
                <a:spcPct val="125000"/>
              </a:lnSpc>
            </a:pPr>
            <a:r>
              <a:rPr sz="900" b="0" i="0">
                <a:solidFill>
                  <a:srgbClr val="7F5F00"/>
                </a:solidFill>
                <a:latin typeface="맑은 고딕"/>
                <a:ea typeface="맑은 고딕"/>
              </a:rPr>
              <a:t>매체 지연 : HBM ~100 ns · CXL-PNM ~300 ns · NVMe ~100 μs → KV 상주 계층은 HBM · CXL-PNM이 맡고, NVMe · PIM-SSD는 cold 계층이다</a:t>
            </a:r>
          </a:p>
        </p:txBody>
      </p:sp>
      <p:sp>
        <p:nvSpPr>
          <p:cNvPr id="355" name="TextBox 354"/>
          <p:cNvSpPr txBox="1"/>
          <p:nvPr/>
        </p:nvSpPr>
        <p:spPr>
          <a:xfrm>
            <a:off x="365760" y="6210300"/>
            <a:ext cx="11521440" cy="420624"/>
          </a:xfrm>
          <a:prstGeom prst="rect">
            <a:avLst/>
          </a:prstGeom>
          <a:noFill/>
        </p:spPr>
        <p:txBody>
          <a:bodyPr wrap="square" lIns="0" tIns="0" rIns="0" bIns="0" anchor="t">
            <a:spAutoFit/>
          </a:bodyPr>
          <a:lstStyle/>
          <a:p>
            <a:pPr algn="l">
              <a:lnSpc>
                <a:spcPct val="130000"/>
              </a:lnSpc>
            </a:pPr>
            <a:r>
              <a:rPr sz="800" b="0" i="0" dirty="0">
                <a:solidFill>
                  <a:srgbClr val="808080"/>
                </a:solidFill>
                <a:latin typeface="맑은 고딕"/>
                <a:ea typeface="맑은 고딕"/>
              </a:rPr>
              <a:t>※ GPU = H100 SXM5 (132 SM · HBM3 80GB · 3.35 TB/s) · CPU DDR 175 GB/s × 2소켓 · CXL-PNM(</a:t>
            </a:r>
            <a:r>
              <a:rPr sz="800" b="0" i="0" dirty="0" err="1">
                <a:solidFill>
                  <a:srgbClr val="808080"/>
                </a:solidFill>
                <a:latin typeface="맑은 고딕"/>
                <a:ea typeface="맑은 고딕"/>
              </a:rPr>
              <a:t>Structera</a:t>
            </a:r>
            <a:r>
              <a:rPr sz="800" b="0" i="0" dirty="0">
                <a:solidFill>
                  <a:srgbClr val="808080"/>
                </a:solidFill>
                <a:latin typeface="맑은 고딕"/>
                <a:ea typeface="맑은 고딕"/>
              </a:rPr>
              <a:t> A) 200 GB/s × 4카드. </a:t>
            </a:r>
            <a:r>
              <a:rPr sz="800" b="0" i="0" dirty="0" err="1">
                <a:solidFill>
                  <a:srgbClr val="808080"/>
                </a:solidFill>
                <a:latin typeface="맑은 고딕"/>
                <a:ea typeface="맑은 고딕"/>
              </a:rPr>
              <a:t>용량</a:t>
            </a:r>
            <a:r>
              <a:rPr sz="800" b="0" i="0" dirty="0">
                <a:solidFill>
                  <a:srgbClr val="808080"/>
                </a:solidFill>
                <a:latin typeface="맑은 고딕"/>
                <a:ea typeface="맑은 고딕"/>
              </a:rPr>
              <a:t> · </a:t>
            </a:r>
            <a:r>
              <a:rPr sz="800" b="0" i="0" dirty="0" err="1">
                <a:solidFill>
                  <a:srgbClr val="808080"/>
                </a:solidFill>
                <a:latin typeface="맑은 고딕"/>
                <a:ea typeface="맑은 고딕"/>
              </a:rPr>
              <a:t>대역폭은</a:t>
            </a:r>
            <a:r>
              <a:rPr sz="800" b="0" i="0" dirty="0">
                <a:solidFill>
                  <a:srgbClr val="808080"/>
                </a:solidFill>
                <a:latin typeface="맑은 고딕"/>
                <a:ea typeface="맑은 고딕"/>
              </a:rPr>
              <a:t> 1노드 </a:t>
            </a:r>
            <a:r>
              <a:rPr sz="800" b="0" i="0" dirty="0" err="1">
                <a:solidFill>
                  <a:srgbClr val="808080"/>
                </a:solidFill>
                <a:latin typeface="맑은 고딕"/>
                <a:ea typeface="맑은 고딕"/>
              </a:rPr>
              <a:t>기준</a:t>
            </a:r>
            <a:r>
              <a:rPr sz="800" b="0" i="0" dirty="0">
                <a:solidFill>
                  <a:srgbClr val="808080"/>
                </a:solidFill>
                <a:latin typeface="맑은 고딕"/>
                <a:ea typeface="맑은 고딕"/>
              </a:rPr>
              <a:t>.</a:t>
            </a:r>
          </a:p>
          <a:p>
            <a:pPr algn="l">
              <a:lnSpc>
                <a:spcPct val="130000"/>
              </a:lnSpc>
            </a:pPr>
            <a:r>
              <a:rPr sz="800" b="0" i="0" dirty="0">
                <a:solidFill>
                  <a:srgbClr val="808080"/>
                </a:solidFill>
                <a:latin typeface="맑은 고딕"/>
                <a:ea typeface="맑은 고딕"/>
              </a:rPr>
              <a:t>※ </a:t>
            </a:r>
            <a:r>
              <a:rPr sz="800" b="0" i="0" dirty="0" err="1">
                <a:solidFill>
                  <a:srgbClr val="808080"/>
                </a:solidFill>
                <a:latin typeface="맑은 고딕"/>
                <a:ea typeface="맑은 고딕"/>
              </a:rPr>
              <a:t>신품</a:t>
            </a:r>
            <a:r>
              <a:rPr sz="800" b="0" i="0" dirty="0">
                <a:solidFill>
                  <a:srgbClr val="808080"/>
                </a:solidFill>
                <a:latin typeface="맑은 고딕"/>
                <a:ea typeface="맑은 고딕"/>
              </a:rPr>
              <a:t> </a:t>
            </a:r>
            <a:r>
              <a:rPr sz="800" b="0" i="0" dirty="0" err="1">
                <a:solidFill>
                  <a:srgbClr val="808080"/>
                </a:solidFill>
                <a:latin typeface="맑은 고딕"/>
                <a:ea typeface="맑은 고딕"/>
              </a:rPr>
              <a:t>단가</a:t>
            </a:r>
            <a:r>
              <a:rPr sz="800" b="0" i="0" dirty="0">
                <a:solidFill>
                  <a:srgbClr val="808080"/>
                </a:solidFill>
                <a:latin typeface="맑은 고딕"/>
                <a:ea typeface="맑은 고딕"/>
              </a:rPr>
              <a:t>(2026.10) H100 SXM5 80GB $30K(</a:t>
            </a:r>
            <a:r>
              <a:rPr sz="800" b="0" i="0" dirty="0" err="1">
                <a:solidFill>
                  <a:srgbClr val="808080"/>
                </a:solidFill>
                <a:latin typeface="맑은 고딕"/>
                <a:ea typeface="맑은 고딕"/>
              </a:rPr>
              <a:t>범위</a:t>
            </a:r>
            <a:r>
              <a:rPr sz="800" b="0" i="0" dirty="0">
                <a:solidFill>
                  <a:srgbClr val="808080"/>
                </a:solidFill>
                <a:latin typeface="맑은 고딕"/>
                <a:ea typeface="맑은 고딕"/>
              </a:rPr>
              <a:t> $25~35K, HBM </a:t>
            </a:r>
            <a:r>
              <a:rPr sz="800" b="0" i="0" dirty="0" err="1">
                <a:solidFill>
                  <a:srgbClr val="808080"/>
                </a:solidFill>
                <a:latin typeface="맑은 고딕"/>
                <a:ea typeface="맑은 고딕"/>
              </a:rPr>
              <a:t>포함</a:t>
            </a:r>
            <a:r>
              <a:rPr sz="800" b="0" i="0" dirty="0">
                <a:solidFill>
                  <a:srgbClr val="808080"/>
                </a:solidFill>
                <a:latin typeface="맑은 고딕"/>
                <a:ea typeface="맑은 고딕"/>
              </a:rPr>
              <a:t>) · DDR5 RDIMM $35/GB · </a:t>
            </a:r>
            <a:r>
              <a:rPr sz="800" b="0" i="0" dirty="0" err="1">
                <a:solidFill>
                  <a:srgbClr val="808080"/>
                </a:solidFill>
                <a:latin typeface="맑은 고딕"/>
                <a:ea typeface="맑은 고딕"/>
              </a:rPr>
              <a:t>엔터프라이즈</a:t>
            </a:r>
            <a:r>
              <a:rPr sz="800" b="0" i="0" dirty="0">
                <a:solidFill>
                  <a:srgbClr val="808080"/>
                </a:solidFill>
                <a:latin typeface="맑은 고딕"/>
                <a:ea typeface="맑은 고딕"/>
              </a:rPr>
              <a:t> </a:t>
            </a:r>
            <a:r>
              <a:rPr sz="800" b="0" i="0" dirty="0" err="1">
                <a:solidFill>
                  <a:srgbClr val="808080"/>
                </a:solidFill>
                <a:latin typeface="맑은 고딕"/>
                <a:ea typeface="맑은 고딕"/>
              </a:rPr>
              <a:t>NVMe·PIM-SSD</a:t>
            </a:r>
            <a:r>
              <a:rPr sz="800" b="0" i="0" dirty="0">
                <a:solidFill>
                  <a:srgbClr val="808080"/>
                </a:solidFill>
                <a:latin typeface="맑은 고딕"/>
                <a:ea typeface="맑은 고딕"/>
              </a:rPr>
              <a:t> $0.45/GB · PNM </a:t>
            </a:r>
            <a:r>
              <a:rPr sz="800" b="0" i="0" dirty="0" err="1">
                <a:solidFill>
                  <a:srgbClr val="808080"/>
                </a:solidFill>
                <a:latin typeface="맑은 고딕"/>
                <a:ea typeface="맑은 고딕"/>
              </a:rPr>
              <a:t>카드</a:t>
            </a:r>
            <a:r>
              <a:rPr sz="800" b="0" i="0" dirty="0">
                <a:solidFill>
                  <a:srgbClr val="808080"/>
                </a:solidFill>
                <a:latin typeface="맑은 고딕"/>
                <a:ea typeface="맑은 고딕"/>
              </a:rPr>
              <a:t> $1.5K(</a:t>
            </a:r>
            <a:r>
              <a:rPr sz="800" b="0" i="0" dirty="0" err="1">
                <a:solidFill>
                  <a:srgbClr val="808080"/>
                </a:solidFill>
                <a:latin typeface="맑은 고딕"/>
                <a:ea typeface="맑은 고딕"/>
              </a:rPr>
              <a:t>가정</a:t>
            </a:r>
            <a:r>
              <a:rPr sz="800" b="0" i="0" dirty="0">
                <a:solidFill>
                  <a:srgbClr val="808080"/>
                </a:solidFill>
                <a:latin typeface="맑은 고딕"/>
                <a:ea typeface="맑은 고딕"/>
              </a:rPr>
              <a:t>). 4노드 </a:t>
            </a:r>
            <a:r>
              <a:rPr sz="800" b="0" i="0" dirty="0" err="1">
                <a:solidFill>
                  <a:srgbClr val="808080"/>
                </a:solidFill>
                <a:latin typeface="맑은 고딕"/>
                <a:ea typeface="맑은 고딕"/>
              </a:rPr>
              <a:t>합계</a:t>
            </a:r>
            <a:r>
              <a:rPr sz="800" b="0" i="0" dirty="0">
                <a:solidFill>
                  <a:srgbClr val="808080"/>
                </a:solidFill>
                <a:latin typeface="맑은 고딕"/>
                <a:ea typeface="맑은 고딕"/>
              </a:rPr>
              <a:t>, </a:t>
            </a:r>
            <a:r>
              <a:rPr sz="800" b="0" i="0" dirty="0" err="1">
                <a:solidFill>
                  <a:srgbClr val="808080"/>
                </a:solidFill>
                <a:latin typeface="맑은 고딕"/>
                <a:ea typeface="맑은 고딕"/>
              </a:rPr>
              <a:t>CPU·보드·전원은</a:t>
            </a:r>
            <a:r>
              <a:rPr sz="800" b="0" i="0" dirty="0">
                <a:solidFill>
                  <a:srgbClr val="808080"/>
                </a:solidFill>
                <a:latin typeface="맑은 고딕"/>
                <a:ea typeface="맑은 고딕"/>
              </a:rPr>
              <a:t> </a:t>
            </a:r>
            <a:r>
              <a:rPr sz="800" b="0" i="0" dirty="0" err="1">
                <a:solidFill>
                  <a:srgbClr val="808080"/>
                </a:solidFill>
                <a:latin typeface="맑은 고딕"/>
                <a:ea typeface="맑은 고딕"/>
              </a:rPr>
              <a:t>제외</a:t>
            </a:r>
            <a:r>
              <a:rPr sz="800" b="0" i="0" dirty="0">
                <a:solidFill>
                  <a:srgbClr val="808080"/>
                </a:solidFill>
                <a:latin typeface="맑은 고딕"/>
                <a:ea typeface="맑은 고딕"/>
              </a:rPr>
              <a:t>.</a:t>
            </a:r>
          </a:p>
        </p:txBody>
      </p:sp>
      <p:sp>
        <p:nvSpPr>
          <p:cNvPr id="356" name="Rectangle N1"/>
          <p:cNvSpPr/>
          <p:nvPr/>
        </p:nvSpPr>
        <p:spPr>
          <a:xfrm>
            <a:off x="361950" y="5048250"/>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7" name="TextBox NL1"/>
          <p:cNvSpPr txBox="1"/>
          <p:nvPr/>
        </p:nvSpPr>
        <p:spPr>
          <a:xfrm>
            <a:off x="438150" y="5048250"/>
            <a:ext cx="1657350" cy="209550"/>
          </a:xfrm>
          <a:prstGeom prst="rect">
            <a:avLst/>
          </a:prstGeom>
          <a:noFill/>
        </p:spPr>
        <p:txBody>
          <a:bodyPr wrap="square" lIns="0" tIns="0" rIns="0" bIns="0" anchor="ctr">
            <a:spAutoFit/>
          </a:bodyPr>
          <a:lstStyle/>
          <a:p>
            <a:pPr algn="l"/>
            <a:r>
              <a:rPr sz="950" b="1" i="0" dirty="0" err="1">
                <a:solidFill>
                  <a:srgbClr val="262626"/>
                </a:solidFill>
                <a:latin typeface="맑은 고딕"/>
                <a:ea typeface="맑은 고딕"/>
              </a:rPr>
              <a:t>메모리·SSD</a:t>
            </a:r>
            <a:r>
              <a:rPr sz="950" b="1" i="0" dirty="0">
                <a:solidFill>
                  <a:srgbClr val="262626"/>
                </a:solidFill>
                <a:latin typeface="맑은 고딕"/>
                <a:ea typeface="맑은 고딕"/>
              </a:rPr>
              <a:t> </a:t>
            </a:r>
            <a:r>
              <a:rPr sz="950" b="1" i="0" dirty="0" err="1">
                <a:solidFill>
                  <a:srgbClr val="262626"/>
                </a:solidFill>
                <a:latin typeface="맑은 고딕"/>
                <a:ea typeface="맑은 고딕"/>
              </a:rPr>
              <a:t>비용</a:t>
            </a:r>
            <a:r>
              <a:rPr sz="950" b="1" i="0" dirty="0">
                <a:solidFill>
                  <a:srgbClr val="262626"/>
                </a:solidFill>
                <a:latin typeface="맑은 고딕"/>
                <a:ea typeface="맑은 고딕"/>
              </a:rPr>
              <a:t> (4노드)</a:t>
            </a:r>
          </a:p>
        </p:txBody>
      </p:sp>
      <p:sp>
        <p:nvSpPr>
          <p:cNvPr id="358" name="TextBox NB1"/>
          <p:cNvSpPr txBox="1"/>
          <p:nvPr/>
        </p:nvSpPr>
        <p:spPr>
          <a:xfrm>
            <a:off x="2171700" y="5048250"/>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$172K  (1.00×)</a:t>
            </a:r>
          </a:p>
        </p:txBody>
      </p:sp>
      <p:sp>
        <p:nvSpPr>
          <p:cNvPr id="359" name="TextBox NT1"/>
          <p:cNvSpPr txBox="1"/>
          <p:nvPr/>
        </p:nvSpPr>
        <p:spPr>
          <a:xfrm>
            <a:off x="4629150" y="5048250"/>
            <a:ext cx="2381250" cy="209550"/>
          </a:xfrm>
          <a:prstGeom prst="rect">
            <a:avLst/>
          </a:prstGeom>
          <a:noFill/>
        </p:spPr>
        <p:txBody>
          <a:bodyPr wrap="square" lIns="0" tIns="0" rIns="0" bIns="0" anchor="ctr">
            <a:spAutoFit/>
          </a:bodyPr>
          <a:lstStyle/>
          <a:p>
            <a:pPr algn="ctr"/>
            <a:r>
              <a:rPr sz="950" b="1" i="0" dirty="0">
                <a:solidFill>
                  <a:srgbClr val="262626"/>
                </a:solidFill>
                <a:latin typeface="맑은 고딕"/>
                <a:ea typeface="맑은 고딕"/>
              </a:rPr>
              <a:t>$273K  (1.58×)</a:t>
            </a:r>
          </a:p>
        </p:txBody>
      </p:sp>
      <p:sp>
        <p:nvSpPr>
          <p:cNvPr id="360" name="TextBox NF1"/>
          <p:cNvSpPr txBox="1"/>
          <p:nvPr/>
        </p:nvSpPr>
        <p:spPr>
          <a:xfrm>
            <a:off x="7143750" y="5048250"/>
            <a:ext cx="4733925" cy="209550"/>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4×[DDR 1,024GB×$35 + NVMe 16TB×$0.45] / 4×[DDR 1,536GB×$35 + SSD 32TB×$0.45]</a:t>
            </a:r>
          </a:p>
        </p:txBody>
      </p:sp>
      <p:sp>
        <p:nvSpPr>
          <p:cNvPr id="361" name="Rectangle N2"/>
          <p:cNvSpPr/>
          <p:nvPr/>
        </p:nvSpPr>
        <p:spPr>
          <a:xfrm>
            <a:off x="361950" y="5257800"/>
            <a:ext cx="11515725" cy="2095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2" name="TextBox NL2"/>
          <p:cNvSpPr txBox="1"/>
          <p:nvPr/>
        </p:nvSpPr>
        <p:spPr>
          <a:xfrm>
            <a:off x="438150" y="5257800"/>
            <a:ext cx="1657350" cy="209550"/>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카드 비용 (4노드)</a:t>
            </a:r>
          </a:p>
        </p:txBody>
      </p:sp>
      <p:sp>
        <p:nvSpPr>
          <p:cNvPr id="363" name="TextBox NB2"/>
          <p:cNvSpPr txBox="1"/>
          <p:nvPr/>
        </p:nvSpPr>
        <p:spPr>
          <a:xfrm>
            <a:off x="2171700" y="5257800"/>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$960K  (1.00×)</a:t>
            </a:r>
          </a:p>
        </p:txBody>
      </p:sp>
      <p:sp>
        <p:nvSpPr>
          <p:cNvPr id="364" name="TextBox NT2"/>
          <p:cNvSpPr txBox="1"/>
          <p:nvPr/>
        </p:nvSpPr>
        <p:spPr>
          <a:xfrm>
            <a:off x="4629150" y="5257800"/>
            <a:ext cx="2381250" cy="209550"/>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$504K  (0.53×)</a:t>
            </a:r>
          </a:p>
        </p:txBody>
      </p:sp>
      <p:sp>
        <p:nvSpPr>
          <p:cNvPr id="365" name="TextBox NF2"/>
          <p:cNvSpPr txBox="1"/>
          <p:nvPr/>
        </p:nvSpPr>
        <p:spPr>
          <a:xfrm>
            <a:off x="7143750" y="5257800"/>
            <a:ext cx="4733925" cy="209550"/>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4×(8×$30K) / 4×(4×$30K + 4×$1.5K PNM) — H100 가격에 HBM 포함</a:t>
            </a:r>
          </a:p>
        </p:txBody>
      </p:sp>
    </p:spTree>
    <p:extLst>
      <p:ext uri="{BB962C8B-B14F-4D97-AF65-F5344CB8AC3E}">
        <p14:creationId xmlns:p14="http://schemas.microsoft.com/office/powerpoint/2010/main" val="1348541245"/>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Baseline </a:t>
            </a:r>
            <a:r>
              <a:rPr lang="ko-KR" altLang="en-US" dirty="0"/>
              <a:t>시스템 </a:t>
            </a:r>
            <a:r>
              <a:rPr lang="en-US" altLang="ko-KR" dirty="0"/>
              <a:t>vs Target </a:t>
            </a:r>
            <a:r>
              <a:rPr lang="ko-KR" altLang="en-US" dirty="0"/>
              <a:t>시스템</a:t>
            </a:r>
          </a:p>
        </p:txBody>
      </p:sp>
      <p:sp>
        <p:nvSpPr>
          <p:cNvPr id="119" name="Rectangle 3"/>
          <p:cNvSpPr/>
          <p:nvPr/>
        </p:nvSpPr>
        <p:spPr>
          <a:xfrm>
            <a:off x="365760" y="694944"/>
            <a:ext cx="11521440" cy="18288"/>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0" name="TextBox 119"/>
          <p:cNvSpPr txBox="1"/>
          <p:nvPr/>
        </p:nvSpPr>
        <p:spPr>
          <a:xfrm>
            <a:off x="361950" y="804672"/>
            <a:ext cx="1733550" cy="292608"/>
          </a:xfrm>
          <a:prstGeom prst="rect">
            <a:avLst/>
          </a:prstGeom>
          <a:noFill/>
        </p:spPr>
        <p:txBody>
          <a:bodyPr wrap="square" lIns="0" tIns="0" rIns="0" bIns="0" anchor="ctr">
            <a:spAutoFit/>
          </a:bodyPr>
          <a:lstStyle/>
          <a:p>
            <a:pPr algn="l"/>
            <a:r>
              <a:rPr sz="950" b="1" i="0">
                <a:solidFill>
                  <a:srgbClr val="808080"/>
                </a:solidFill>
                <a:latin typeface="맑은 고딕"/>
                <a:ea typeface="맑은 고딕"/>
              </a:rPr>
              <a:t>구성  (1노드 · ×4노드)</a:t>
            </a:r>
          </a:p>
        </p:txBody>
      </p:sp>
      <p:sp>
        <p:nvSpPr>
          <p:cNvPr id="121" name="Rectangle 5"/>
          <p:cNvSpPr/>
          <p:nvPr/>
        </p:nvSpPr>
        <p:spPr>
          <a:xfrm>
            <a:off x="2171700" y="804672"/>
            <a:ext cx="2381250"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Baseline  —  H100 × 8</a:t>
            </a:r>
          </a:p>
        </p:txBody>
      </p:sp>
      <p:sp>
        <p:nvSpPr>
          <p:cNvPr id="236" name="Rectangle 6"/>
          <p:cNvSpPr/>
          <p:nvPr/>
        </p:nvSpPr>
        <p:spPr>
          <a:xfrm>
            <a:off x="4629150" y="804672"/>
            <a:ext cx="2381250"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Target  —  H100 × 6  +  CXL-PNM × 2</a:t>
            </a:r>
          </a:p>
        </p:txBody>
      </p:sp>
      <p:sp>
        <p:nvSpPr>
          <p:cNvPr id="237" name="Rectangle 7"/>
          <p:cNvSpPr/>
          <p:nvPr/>
        </p:nvSpPr>
        <p:spPr>
          <a:xfrm>
            <a:off x="7086600" y="804672"/>
            <a:ext cx="4791075" cy="2926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산출식  ·  제품 (세대 / 타입)</a:t>
            </a:r>
          </a:p>
        </p:txBody>
      </p:sp>
      <p:sp>
        <p:nvSpPr>
          <p:cNvPr id="238" name="TextBox 237"/>
          <p:cNvSpPr txBox="1"/>
          <p:nvPr/>
        </p:nvSpPr>
        <p:spPr>
          <a:xfrm>
            <a:off x="361950" y="1181100"/>
            <a:ext cx="1733550" cy="53340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가속기  상단 4슬롯</a:t>
            </a:r>
          </a:p>
          <a:p>
            <a:pPr algn="l">
              <a:lnSpc>
                <a:spcPct val="115000"/>
              </a:lnSpc>
            </a:pPr>
            <a:r>
              <a:rPr sz="900" b="1" i="0">
                <a:solidFill>
                  <a:srgbClr val="808080"/>
                </a:solidFill>
                <a:latin typeface="맑은 고딕"/>
                <a:ea typeface="맑은 고딕"/>
              </a:rPr>
              <a:t>연산 + 고대역 메모리</a:t>
            </a:r>
          </a:p>
        </p:txBody>
      </p:sp>
      <p:sp>
        <p:nvSpPr>
          <p:cNvPr id="239" name="TextBox 238"/>
          <p:cNvSpPr txBox="1"/>
          <p:nvPr/>
        </p:nvSpPr>
        <p:spPr>
          <a:xfrm>
            <a:off x="361950" y="1752600"/>
            <a:ext cx="1733550" cy="38100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CPU  2소켓</a:t>
            </a:r>
          </a:p>
        </p:txBody>
      </p:sp>
      <p:sp>
        <p:nvSpPr>
          <p:cNvPr id="240" name="TextBox 239"/>
          <p:cNvSpPr txBox="1"/>
          <p:nvPr/>
        </p:nvSpPr>
        <p:spPr>
          <a:xfrm>
            <a:off x="361950" y="2181225"/>
            <a:ext cx="1733550" cy="53340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가속기  하단 4슬롯</a:t>
            </a:r>
          </a:p>
        </p:txBody>
      </p:sp>
      <p:sp>
        <p:nvSpPr>
          <p:cNvPr id="241" name="TextBox 240"/>
          <p:cNvSpPr txBox="1"/>
          <p:nvPr/>
        </p:nvSpPr>
        <p:spPr>
          <a:xfrm>
            <a:off x="361950" y="2762250"/>
            <a:ext cx="1733550" cy="247650"/>
          </a:xfrm>
          <a:prstGeom prst="rect">
            <a:avLst/>
          </a:prstGeom>
          <a:noFill/>
        </p:spPr>
        <p:txBody>
          <a:bodyPr wrap="square" lIns="0" tIns="0" rIns="0" bIns="0" anchor="ctr">
            <a:spAutoFit/>
          </a:bodyPr>
          <a:lstStyle/>
          <a:p>
            <a:pPr algn="l">
              <a:lnSpc>
                <a:spcPct val="115000"/>
              </a:lnSpc>
            </a:pPr>
            <a:r>
              <a:rPr sz="900" b="1" i="0">
                <a:solidFill>
                  <a:srgbClr val="808080"/>
                </a:solidFill>
                <a:latin typeface="맑은 고딕"/>
                <a:ea typeface="맑은 고딕"/>
              </a:rPr>
              <a:t>스토리지</a:t>
            </a:r>
          </a:p>
        </p:txBody>
      </p:sp>
      <p:sp>
        <p:nvSpPr>
          <p:cNvPr id="242" name="Rectangle 12"/>
          <p:cNvSpPr/>
          <p:nvPr/>
        </p:nvSpPr>
        <p:spPr>
          <a:xfrm>
            <a:off x="217170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3" name="Rectangle 13"/>
          <p:cNvSpPr/>
          <p:nvPr/>
        </p:nvSpPr>
        <p:spPr>
          <a:xfrm>
            <a:off x="224790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44" name="Rectangle 14"/>
          <p:cNvSpPr/>
          <p:nvPr/>
        </p:nvSpPr>
        <p:spPr>
          <a:xfrm>
            <a:off x="224790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5" name="Rectangle 15"/>
          <p:cNvSpPr/>
          <p:nvPr/>
        </p:nvSpPr>
        <p:spPr>
          <a:xfrm>
            <a:off x="280511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46" name="Rectangle 16"/>
          <p:cNvSpPr/>
          <p:nvPr/>
        </p:nvSpPr>
        <p:spPr>
          <a:xfrm>
            <a:off x="280511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7" name="Rectangle 17"/>
          <p:cNvSpPr/>
          <p:nvPr/>
        </p:nvSpPr>
        <p:spPr>
          <a:xfrm>
            <a:off x="336232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48" name="Rectangle 18"/>
          <p:cNvSpPr/>
          <p:nvPr/>
        </p:nvSpPr>
        <p:spPr>
          <a:xfrm>
            <a:off x="336232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49" name="Rectangle 19"/>
          <p:cNvSpPr/>
          <p:nvPr/>
        </p:nvSpPr>
        <p:spPr>
          <a:xfrm>
            <a:off x="391953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50" name="Rectangle 20"/>
          <p:cNvSpPr/>
          <p:nvPr/>
        </p:nvSpPr>
        <p:spPr>
          <a:xfrm>
            <a:off x="391953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1" name="Rectangle 21"/>
          <p:cNvSpPr/>
          <p:nvPr/>
        </p:nvSpPr>
        <p:spPr>
          <a:xfrm>
            <a:off x="224790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56C · DDR 512GB</a:t>
            </a:r>
          </a:p>
        </p:txBody>
      </p:sp>
      <p:sp>
        <p:nvSpPr>
          <p:cNvPr id="252" name="Rectangle 22"/>
          <p:cNvSpPr/>
          <p:nvPr/>
        </p:nvSpPr>
        <p:spPr>
          <a:xfrm>
            <a:off x="336232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53" name="Rectangle 23"/>
          <p:cNvSpPr/>
          <p:nvPr/>
        </p:nvSpPr>
        <p:spPr>
          <a:xfrm>
            <a:off x="2247900"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254" name="Rectangle 24"/>
          <p:cNvSpPr/>
          <p:nvPr/>
        </p:nvSpPr>
        <p:spPr>
          <a:xfrm>
            <a:off x="2247900"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5" name="Rectangle 25"/>
          <p:cNvSpPr/>
          <p:nvPr/>
        </p:nvSpPr>
        <p:spPr>
          <a:xfrm>
            <a:off x="2805112"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256" name="Rectangle 26"/>
          <p:cNvSpPr/>
          <p:nvPr/>
        </p:nvSpPr>
        <p:spPr>
          <a:xfrm>
            <a:off x="2805112"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7" name="Rectangle 27"/>
          <p:cNvSpPr/>
          <p:nvPr/>
        </p:nvSpPr>
        <p:spPr>
          <a:xfrm>
            <a:off x="3362325"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GPU6</a:t>
            </a:r>
          </a:p>
        </p:txBody>
      </p:sp>
      <p:sp>
        <p:nvSpPr>
          <p:cNvPr id="258" name="Rectangle 28"/>
          <p:cNvSpPr/>
          <p:nvPr/>
        </p:nvSpPr>
        <p:spPr>
          <a:xfrm>
            <a:off x="3362325"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59" name="Rectangle 29"/>
          <p:cNvSpPr/>
          <p:nvPr/>
        </p:nvSpPr>
        <p:spPr>
          <a:xfrm>
            <a:off x="3919538"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GPU7</a:t>
            </a:r>
          </a:p>
        </p:txBody>
      </p:sp>
      <p:sp>
        <p:nvSpPr>
          <p:cNvPr id="260" name="Rectangle 30"/>
          <p:cNvSpPr/>
          <p:nvPr/>
        </p:nvSpPr>
        <p:spPr>
          <a:xfrm>
            <a:off x="3919538" y="2409825"/>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1" name="Rectangle 31"/>
          <p:cNvSpPr/>
          <p:nvPr/>
        </p:nvSpPr>
        <p:spPr>
          <a:xfrm>
            <a:off x="2247900" y="2762250"/>
            <a:ext cx="2195512"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62" name="Rectangle 32"/>
          <p:cNvSpPr/>
          <p:nvPr/>
        </p:nvSpPr>
        <p:spPr>
          <a:xfrm>
            <a:off x="4629150" y="1133475"/>
            <a:ext cx="2381250"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3" name="Rectangle 33"/>
          <p:cNvSpPr/>
          <p:nvPr/>
        </p:nvSpPr>
        <p:spPr>
          <a:xfrm>
            <a:off x="4705350"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GPU0</a:t>
            </a:r>
          </a:p>
        </p:txBody>
      </p:sp>
      <p:sp>
        <p:nvSpPr>
          <p:cNvPr id="264" name="Rectangle 34"/>
          <p:cNvSpPr/>
          <p:nvPr/>
        </p:nvSpPr>
        <p:spPr>
          <a:xfrm>
            <a:off x="4705350"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5" name="Rectangle 35"/>
          <p:cNvSpPr/>
          <p:nvPr/>
        </p:nvSpPr>
        <p:spPr>
          <a:xfrm>
            <a:off x="5262562"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GPU1</a:t>
            </a:r>
          </a:p>
        </p:txBody>
      </p:sp>
      <p:sp>
        <p:nvSpPr>
          <p:cNvPr id="266" name="Rectangle 36"/>
          <p:cNvSpPr/>
          <p:nvPr/>
        </p:nvSpPr>
        <p:spPr>
          <a:xfrm>
            <a:off x="5262562"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7" name="Rectangle 37"/>
          <p:cNvSpPr/>
          <p:nvPr/>
        </p:nvSpPr>
        <p:spPr>
          <a:xfrm>
            <a:off x="5819775"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GPU2</a:t>
            </a:r>
          </a:p>
        </p:txBody>
      </p:sp>
      <p:sp>
        <p:nvSpPr>
          <p:cNvPr id="268" name="Rectangle 38"/>
          <p:cNvSpPr/>
          <p:nvPr/>
        </p:nvSpPr>
        <p:spPr>
          <a:xfrm>
            <a:off x="5819775"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69" name="Rectangle 39"/>
          <p:cNvSpPr/>
          <p:nvPr/>
        </p:nvSpPr>
        <p:spPr>
          <a:xfrm>
            <a:off x="6376988" y="1181100"/>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GPU3</a:t>
            </a:r>
          </a:p>
        </p:txBody>
      </p:sp>
      <p:sp>
        <p:nvSpPr>
          <p:cNvPr id="270" name="Rectangle 40"/>
          <p:cNvSpPr/>
          <p:nvPr/>
        </p:nvSpPr>
        <p:spPr>
          <a:xfrm>
            <a:off x="6376988" y="1409700"/>
            <a:ext cx="523875" cy="3048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1F6FB5"/>
                </a:solidFill>
                <a:latin typeface="맑은 고딕"/>
                <a:ea typeface="맑은 고딕"/>
              </a:rPr>
              <a:t>HBM 80GB</a:t>
            </a:r>
          </a:p>
        </p:txBody>
      </p:sp>
      <p:sp>
        <p:nvSpPr>
          <p:cNvPr id="271" name="Rectangle 41"/>
          <p:cNvSpPr/>
          <p:nvPr/>
        </p:nvSpPr>
        <p:spPr>
          <a:xfrm>
            <a:off x="4705350"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CPU0</a:t>
            </a:r>
          </a:p>
          <a:p>
            <a:pPr algn="ctr">
              <a:lnSpc>
                <a:spcPct val="115000"/>
              </a:lnSpc>
            </a:pPr>
            <a:r>
              <a:rPr sz="750" b="0" i="0">
                <a:solidFill>
                  <a:srgbClr val="262626"/>
                </a:solidFill>
                <a:latin typeface="맑은 고딕"/>
                <a:ea typeface="맑은 고딕"/>
              </a:rPr>
              <a:t>56C · DDR 512GB</a:t>
            </a:r>
          </a:p>
        </p:txBody>
      </p:sp>
      <p:sp>
        <p:nvSpPr>
          <p:cNvPr id="272" name="Rectangle 42"/>
          <p:cNvSpPr/>
          <p:nvPr/>
        </p:nvSpPr>
        <p:spPr>
          <a:xfrm>
            <a:off x="5819775" y="1752600"/>
            <a:ext cx="1081088" cy="38100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15000"/>
              </a:lnSpc>
            </a:pPr>
            <a:r>
              <a:rPr sz="750" b="0" i="0">
                <a:solidFill>
                  <a:srgbClr val="262626"/>
                </a:solidFill>
                <a:latin typeface="맑은 고딕"/>
                <a:ea typeface="맑은 고딕"/>
              </a:rPr>
              <a:t>CPU1</a:t>
            </a:r>
          </a:p>
          <a:p>
            <a:pPr algn="ctr">
              <a:lnSpc>
                <a:spcPct val="115000"/>
              </a:lnSpc>
            </a:pPr>
            <a:r>
              <a:rPr sz="750" b="0" i="0">
                <a:solidFill>
                  <a:srgbClr val="262626"/>
                </a:solidFill>
                <a:latin typeface="맑은 고딕"/>
                <a:ea typeface="맑은 고딕"/>
              </a:rPr>
              <a:t>56C · DDR 512GB</a:t>
            </a:r>
          </a:p>
        </p:txBody>
      </p:sp>
      <p:sp>
        <p:nvSpPr>
          <p:cNvPr id="273" name="Rectangle 43"/>
          <p:cNvSpPr/>
          <p:nvPr/>
        </p:nvSpPr>
        <p:spPr>
          <a:xfrm>
            <a:off x="5819775"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PNM0</a:t>
            </a:r>
          </a:p>
        </p:txBody>
      </p:sp>
      <p:sp>
        <p:nvSpPr>
          <p:cNvPr id="274" name="Rectangle 44"/>
          <p:cNvSpPr/>
          <p:nvPr/>
        </p:nvSpPr>
        <p:spPr>
          <a:xfrm>
            <a:off x="5819775"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75" name="Rectangle 45"/>
          <p:cNvSpPr/>
          <p:nvPr/>
        </p:nvSpPr>
        <p:spPr>
          <a:xfrm>
            <a:off x="6376988" y="2181225"/>
            <a:ext cx="523875" cy="209550"/>
          </a:xfrm>
          <a:prstGeom prst="rect">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PNM1</a:t>
            </a:r>
          </a:p>
        </p:txBody>
      </p:sp>
      <p:sp>
        <p:nvSpPr>
          <p:cNvPr id="276" name="Rectangle 46"/>
          <p:cNvSpPr/>
          <p:nvPr/>
        </p:nvSpPr>
        <p:spPr>
          <a:xfrm>
            <a:off x="6376988" y="2409825"/>
            <a:ext cx="523875" cy="3048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7F5F00"/>
                </a:solidFill>
                <a:latin typeface="맑은 고딕"/>
                <a:ea typeface="맑은 고딕"/>
              </a:rPr>
              <a:t>DDR 128GB</a:t>
            </a:r>
          </a:p>
        </p:txBody>
      </p:sp>
      <p:sp>
        <p:nvSpPr>
          <p:cNvPr id="281" name="Rectangle 51"/>
          <p:cNvSpPr/>
          <p:nvPr/>
        </p:nvSpPr>
        <p:spPr>
          <a:xfrm>
            <a:off x="4705350" y="2762250"/>
            <a:ext cx="1081088" cy="24765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262626"/>
                </a:solidFill>
                <a:latin typeface="맑은 고딕"/>
                <a:ea typeface="맑은 고딕"/>
              </a:rPr>
              <a:t>NVMe SSD  16TB</a:t>
            </a:r>
          </a:p>
        </p:txBody>
      </p:sp>
      <p:sp>
        <p:nvSpPr>
          <p:cNvPr id="282" name="Rectangle 52"/>
          <p:cNvSpPr/>
          <p:nvPr/>
        </p:nvSpPr>
        <p:spPr>
          <a:xfrm>
            <a:off x="5819775" y="2762250"/>
            <a:ext cx="1081088" cy="247650"/>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375623"/>
                </a:solidFill>
                <a:latin typeface="맑은 고딕"/>
                <a:ea typeface="맑은 고딕"/>
              </a:rPr>
              <a:t>PIM-SSD  16TB</a:t>
            </a:r>
          </a:p>
        </p:txBody>
      </p:sp>
      <p:sp>
        <p:nvSpPr>
          <p:cNvPr id="283" name="Rectangle 53"/>
          <p:cNvSpPr/>
          <p:nvPr/>
        </p:nvSpPr>
        <p:spPr>
          <a:xfrm>
            <a:off x="7086600" y="1133475"/>
            <a:ext cx="4791075" cy="1933575"/>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82296" tIns="64008" rIns="82296" bIns="0" rtlCol="0" anchor="t"/>
          <a:lstStyle/>
          <a:p>
            <a:pPr algn="l">
              <a:lnSpc>
                <a:spcPct val="115000"/>
              </a:lnSpc>
              <a:spcAft>
                <a:spcPts val="300"/>
              </a:spcAft>
            </a:pPr>
            <a:r>
              <a:rPr sz="800" b="1" i="0">
                <a:solidFill>
                  <a:srgbClr val="1F4E79"/>
                </a:solidFill>
                <a:latin typeface="맑은 고딕"/>
                <a:ea typeface="맑은 고딕"/>
              </a:rPr>
              <a:t>GPU  </a:t>
            </a:r>
            <a:r>
              <a:rPr sz="800" b="0" i="0">
                <a:solidFill>
                  <a:srgbClr val="262626"/>
                </a:solidFill>
                <a:latin typeface="맑은 고딕"/>
                <a:ea typeface="맑은 고딕"/>
              </a:rPr>
              <a:t>NVIDIA H100 SXM5 80GB · HBM3 · 3.35 TB/s · 132 SM — 신품 $30K/장 (HBM 포함). Target 6대 중 4대는 HBM 80GB, 2대는 HBM 40GB + HBF 320GB</a:t>
            </a:r>
          </a:p>
          <a:p>
            <a:pPr algn="l">
              <a:lnSpc>
                <a:spcPct val="115000"/>
              </a:lnSpc>
              <a:spcAft>
                <a:spcPts val="300"/>
              </a:spcAft>
            </a:pPr>
            <a:r>
              <a:rPr sz="800" b="1" i="0">
                <a:solidFill>
                  <a:srgbClr val="1F4E79"/>
                </a:solidFill>
                <a:latin typeface="맑은 고딕"/>
                <a:ea typeface="맑은 고딕"/>
              </a:rPr>
              <a:t>HBF  </a:t>
            </a:r>
            <a:r>
              <a:rPr sz="800" b="0" i="0">
                <a:solidFill>
                  <a:srgbClr val="262626"/>
                </a:solidFill>
                <a:latin typeface="맑은 고딕"/>
                <a:ea typeface="맑은 고딕"/>
              </a:rPr>
              <a:t>High Bandwidth Flash (NAND 적층, SanDisk · SK hynix OCP 규격) — HBM 스택 절반 교체, 동일 스택 비용에 8× 용량 · HBM급 BW 전제 → $15.6 ÷ 8 = $1.95/GB (가정)</a:t>
            </a:r>
          </a:p>
          <a:p>
            <a:pPr algn="l">
              <a:lnSpc>
                <a:spcPct val="115000"/>
              </a:lnSpc>
              <a:spcAft>
                <a:spcPts val="300"/>
              </a:spcAft>
            </a:pPr>
            <a:r>
              <a:rPr sz="800" b="1" i="0">
                <a:solidFill>
                  <a:srgbClr val="1F4E79"/>
                </a:solidFill>
                <a:latin typeface="맑은 고딕"/>
                <a:ea typeface="맑은 고딕"/>
              </a:rPr>
              <a:t>CPU  </a:t>
            </a:r>
            <a:r>
              <a:rPr sz="800" b="0" i="0">
                <a:solidFill>
                  <a:srgbClr val="262626"/>
                </a:solidFill>
                <a:latin typeface="맑은 고딕"/>
                <a:ea typeface="맑은 고딕"/>
              </a:rPr>
              <a:t>Xeon Platinum 8480+급 56C × 2소켓 · DDR5-4800 8ch × 64GB RDIMM = 512GB/소켓 — 신품 $35/GB</a:t>
            </a:r>
          </a:p>
          <a:p>
            <a:pPr algn="l">
              <a:lnSpc>
                <a:spcPct val="115000"/>
              </a:lnSpc>
              <a:spcAft>
                <a:spcPts val="300"/>
              </a:spcAft>
            </a:pPr>
            <a:r>
              <a:rPr sz="800" b="1" i="0">
                <a:solidFill>
                  <a:srgbClr val="1F4E79"/>
                </a:solidFill>
                <a:latin typeface="맑은 고딕"/>
                <a:ea typeface="맑은 고딕"/>
              </a:rPr>
              <a:t>CXL-PNM  </a:t>
            </a:r>
            <a:r>
              <a:rPr sz="800" b="0" i="0">
                <a:solidFill>
                  <a:srgbClr val="262626"/>
                </a:solidFill>
                <a:latin typeface="맑은 고딕"/>
                <a:ea typeface="맑은 고딕"/>
              </a:rPr>
              <a:t>Marvell Structera A 2504 (CXL Type-3 · Arm Neoverse V2 16코어) · DDR5-6400 4ch × 32GB = 128GB/카드 — 카드 $1.5K (가정)</a:t>
            </a:r>
          </a:p>
          <a:p>
            <a:pPr algn="l">
              <a:lnSpc>
                <a:spcPct val="115000"/>
              </a:lnSpc>
              <a:spcAft>
                <a:spcPts val="300"/>
              </a:spcAft>
            </a:pPr>
            <a:r>
              <a:rPr sz="800" b="1" i="0">
                <a:solidFill>
                  <a:srgbClr val="1F4E79"/>
                </a:solidFill>
                <a:latin typeface="맑은 고딕"/>
                <a:ea typeface="맑은 고딕"/>
              </a:rPr>
              <a:t>NVMe SSD  </a:t>
            </a:r>
            <a:r>
              <a:rPr sz="800" b="0" i="0">
                <a:solidFill>
                  <a:srgbClr val="262626"/>
                </a:solidFill>
                <a:latin typeface="맑은 고딕"/>
                <a:ea typeface="맑은 고딕"/>
              </a:rPr>
              <a:t>엔터프라이즈 PCIe Gen4 U.3 TLC (Micron 7450 PRO급) 4TB × 4대, 7 GB/s × 4 = 28 GB/s — 신품 $0.45/GB</a:t>
            </a:r>
          </a:p>
          <a:p>
            <a:pPr algn="l">
              <a:lnSpc>
                <a:spcPct val="115000"/>
              </a:lnSpc>
              <a:spcAft>
                <a:spcPts val="300"/>
              </a:spcAft>
            </a:pPr>
            <a:r>
              <a:rPr sz="800" b="1" i="0">
                <a:solidFill>
                  <a:srgbClr val="1F4E79"/>
                </a:solidFill>
                <a:latin typeface="맑은 고딕"/>
                <a:ea typeface="맑은 고딕"/>
              </a:rPr>
              <a:t>PIM-SSD  </a:t>
            </a:r>
            <a:r>
              <a:rPr sz="800" b="0" i="0">
                <a:solidFill>
                  <a:srgbClr val="262626"/>
                </a:solidFill>
                <a:latin typeface="맑은 고딕"/>
                <a:ea typeface="맑은 고딕"/>
              </a:rPr>
              <a:t>연산 내장 SSD — NVMe와 동일 사양 · 단가 가정.  두 구성 모두 4노드</a:t>
            </a:r>
          </a:p>
        </p:txBody>
      </p:sp>
      <p:sp>
        <p:nvSpPr>
          <p:cNvPr id="308" name="Rectangle 78"/>
          <p:cNvSpPr/>
          <p:nvPr/>
        </p:nvSpPr>
        <p:spPr>
          <a:xfrm>
            <a:off x="361950" y="3124200"/>
            <a:ext cx="11515725"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9" name="TextBox 308"/>
          <p:cNvSpPr txBox="1"/>
          <p:nvPr/>
        </p:nvSpPr>
        <p:spPr>
          <a:xfrm>
            <a:off x="361950" y="3171825"/>
            <a:ext cx="2686050" cy="133350"/>
          </a:xfrm>
          <a:prstGeom prst="rect">
            <a:avLst/>
          </a:prstGeom>
          <a:noFill/>
        </p:spPr>
        <p:txBody>
          <a:bodyPr wrap="square" lIns="0" tIns="0" rIns="0" bIns="0" anchor="ctr">
            <a:spAutoFit/>
          </a:bodyPr>
          <a:lstStyle/>
          <a:p>
            <a:pPr algn="l"/>
            <a:r>
              <a:rPr sz="850" b="1" i="0">
                <a:solidFill>
                  <a:srgbClr val="808080"/>
                </a:solidFill>
                <a:latin typeface="맑은 고딕"/>
                <a:ea typeface="맑은 고딕"/>
              </a:rPr>
              <a:t>계층별  용량  ·  대역폭  (1노드 기준)</a:t>
            </a:r>
          </a:p>
        </p:txBody>
      </p:sp>
      <p:sp>
        <p:nvSpPr>
          <p:cNvPr id="310" name="TextBox 309"/>
          <p:cNvSpPr txBox="1"/>
          <p:nvPr/>
        </p:nvSpPr>
        <p:spPr>
          <a:xfrm>
            <a:off x="361950" y="3333750"/>
            <a:ext cx="1733550" cy="200025"/>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HBM</a:t>
            </a:r>
          </a:p>
        </p:txBody>
      </p:sp>
      <p:sp>
        <p:nvSpPr>
          <p:cNvPr id="311" name="TextBox 310"/>
          <p:cNvSpPr txBox="1"/>
          <p:nvPr/>
        </p:nvSpPr>
        <p:spPr>
          <a:xfrm>
            <a:off x="2171700" y="3333750"/>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26.8 TB/s</a:t>
            </a:r>
          </a:p>
        </p:txBody>
      </p:sp>
      <p:sp>
        <p:nvSpPr>
          <p:cNvPr id="312" name="TextBox 311"/>
          <p:cNvSpPr txBox="1"/>
          <p:nvPr/>
        </p:nvSpPr>
        <p:spPr>
          <a:xfrm>
            <a:off x="4629150" y="3333750"/>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400 GB  ·  16.75 TB/s</a:t>
            </a:r>
          </a:p>
        </p:txBody>
      </p:sp>
      <p:sp>
        <p:nvSpPr>
          <p:cNvPr id="313" name="TextBox 312"/>
          <p:cNvSpPr txBox="1"/>
          <p:nvPr/>
        </p:nvSpPr>
        <p:spPr>
          <a:xfrm>
            <a:off x="7143750" y="3333750"/>
            <a:ext cx="4733925" cy="200025"/>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H100 HBM3 3.35 TB/s — 8×80GB, 8×3.35 / 4×80 + 2×40 = 400GB, 4×3.35 + 2×1.675</a:t>
            </a:r>
          </a:p>
        </p:txBody>
      </p:sp>
      <p:sp>
        <p:nvSpPr>
          <p:cNvPr id="314" name="TextBox 313"/>
          <p:cNvSpPr txBox="1"/>
          <p:nvPr/>
        </p:nvSpPr>
        <p:spPr>
          <a:xfrm>
            <a:off x="361950" y="3533775"/>
            <a:ext cx="1733550" cy="200025"/>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HBF</a:t>
            </a:r>
          </a:p>
        </p:txBody>
      </p:sp>
      <p:sp>
        <p:nvSpPr>
          <p:cNvPr id="315" name="TextBox 314"/>
          <p:cNvSpPr txBox="1"/>
          <p:nvPr/>
        </p:nvSpPr>
        <p:spPr>
          <a:xfrm>
            <a:off x="2171700" y="353377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16" name="TextBox 315"/>
          <p:cNvSpPr txBox="1"/>
          <p:nvPr/>
        </p:nvSpPr>
        <p:spPr>
          <a:xfrm>
            <a:off x="4629150" y="353377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640 GB  ·  3.35 TB/s</a:t>
            </a:r>
          </a:p>
        </p:txBody>
      </p:sp>
      <p:sp>
        <p:nvSpPr>
          <p:cNvPr id="317" name="TextBox 316"/>
          <p:cNvSpPr txBox="1"/>
          <p:nvPr/>
        </p:nvSpPr>
        <p:spPr>
          <a:xfrm>
            <a:off x="7143750" y="3533775"/>
            <a:ext cx="4733925" cy="200025"/>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HBF (SanDisk·SK hynix) 2대 × 320GB = 640GB · BW 2×1.675 = 3.35 TB/s</a:t>
            </a:r>
          </a:p>
        </p:txBody>
      </p:sp>
      <p:sp>
        <p:nvSpPr>
          <p:cNvPr id="318" name="TextBox 317"/>
          <p:cNvSpPr txBox="1"/>
          <p:nvPr/>
        </p:nvSpPr>
        <p:spPr>
          <a:xfrm>
            <a:off x="361950" y="3733800"/>
            <a:ext cx="1733550" cy="200025"/>
          </a:xfrm>
          <a:prstGeom prst="rect">
            <a:avLst/>
          </a:prstGeom>
          <a:noFill/>
        </p:spPr>
        <p:txBody>
          <a:bodyPr wrap="square" lIns="0" tIns="0" rIns="0" bIns="0" anchor="ctr">
            <a:spAutoFit/>
          </a:bodyPr>
          <a:lstStyle/>
          <a:p>
            <a:pPr algn="l"/>
            <a:r>
              <a:rPr sz="900" b="0" i="0" dirty="0">
                <a:solidFill>
                  <a:srgbClr val="808080"/>
                </a:solidFill>
                <a:latin typeface="맑은 고딕"/>
                <a:ea typeface="맑은 고딕"/>
              </a:rPr>
              <a:t>CXL-PNM (DDR)</a:t>
            </a:r>
          </a:p>
        </p:txBody>
      </p:sp>
      <p:sp>
        <p:nvSpPr>
          <p:cNvPr id="319" name="TextBox 318"/>
          <p:cNvSpPr txBox="1"/>
          <p:nvPr/>
        </p:nvSpPr>
        <p:spPr>
          <a:xfrm>
            <a:off x="2171700" y="3733800"/>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20" name="TextBox 319"/>
          <p:cNvSpPr txBox="1"/>
          <p:nvPr/>
        </p:nvSpPr>
        <p:spPr>
          <a:xfrm>
            <a:off x="4629150" y="3733800"/>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256 GB  ·  400 GB/s</a:t>
            </a:r>
          </a:p>
        </p:txBody>
      </p:sp>
      <p:sp>
        <p:nvSpPr>
          <p:cNvPr id="321" name="TextBox 320"/>
          <p:cNvSpPr txBox="1"/>
          <p:nvPr/>
        </p:nvSpPr>
        <p:spPr>
          <a:xfrm>
            <a:off x="7143750" y="3733800"/>
            <a:ext cx="4733925" cy="200025"/>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Structera A 2504 · DDR5-6400 4ch×32GB = 128GB, ≈200 GB/s/카드 — 2카드: 2×128, 2×200</a:t>
            </a:r>
          </a:p>
        </p:txBody>
      </p:sp>
      <p:sp>
        <p:nvSpPr>
          <p:cNvPr id="322" name="TextBox 321"/>
          <p:cNvSpPr txBox="1"/>
          <p:nvPr/>
        </p:nvSpPr>
        <p:spPr>
          <a:xfrm>
            <a:off x="361950" y="3933825"/>
            <a:ext cx="1733550" cy="200025"/>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CPU DDR</a:t>
            </a:r>
          </a:p>
        </p:txBody>
      </p:sp>
      <p:sp>
        <p:nvSpPr>
          <p:cNvPr id="323" name="TextBox 322"/>
          <p:cNvSpPr txBox="1"/>
          <p:nvPr/>
        </p:nvSpPr>
        <p:spPr>
          <a:xfrm>
            <a:off x="2171700" y="393382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4" name="TextBox 323"/>
          <p:cNvSpPr txBox="1"/>
          <p:nvPr/>
        </p:nvSpPr>
        <p:spPr>
          <a:xfrm>
            <a:off x="4629150" y="393382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1,024 GB  ·  350 GB/s</a:t>
            </a:r>
          </a:p>
        </p:txBody>
      </p:sp>
      <p:sp>
        <p:nvSpPr>
          <p:cNvPr id="325" name="TextBox 324"/>
          <p:cNvSpPr txBox="1"/>
          <p:nvPr/>
        </p:nvSpPr>
        <p:spPr>
          <a:xfrm>
            <a:off x="7143750" y="3933825"/>
            <a:ext cx="4733925" cy="200025"/>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Xeon 8480+급 56C ×2 · DDR5-4800 8ch×64GB = 512GB, 유효 175 GB/s/소켓 — 2×512, 2×175</a:t>
            </a:r>
          </a:p>
        </p:txBody>
      </p:sp>
      <p:sp>
        <p:nvSpPr>
          <p:cNvPr id="326" name="TextBox 325"/>
          <p:cNvSpPr txBox="1"/>
          <p:nvPr/>
        </p:nvSpPr>
        <p:spPr>
          <a:xfrm>
            <a:off x="361950" y="4133850"/>
            <a:ext cx="1733550" cy="200025"/>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NVMe SSD</a:t>
            </a:r>
          </a:p>
        </p:txBody>
      </p:sp>
      <p:sp>
        <p:nvSpPr>
          <p:cNvPr id="327" name="TextBox 326"/>
          <p:cNvSpPr txBox="1"/>
          <p:nvPr/>
        </p:nvSpPr>
        <p:spPr>
          <a:xfrm>
            <a:off x="2171700" y="4133850"/>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8" name="TextBox 327"/>
          <p:cNvSpPr txBox="1"/>
          <p:nvPr/>
        </p:nvSpPr>
        <p:spPr>
          <a:xfrm>
            <a:off x="4629150" y="4133850"/>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29" name="TextBox 328"/>
          <p:cNvSpPr txBox="1"/>
          <p:nvPr/>
        </p:nvSpPr>
        <p:spPr>
          <a:xfrm>
            <a:off x="7143750" y="4133850"/>
            <a:ext cx="4733925" cy="200025"/>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NVMe PCIe Gen4 U.3 TLC · 4TB×4 = 16TB, 7 GB/s×4 = 28 GB/s</a:t>
            </a:r>
          </a:p>
        </p:txBody>
      </p:sp>
      <p:sp>
        <p:nvSpPr>
          <p:cNvPr id="330" name="TextBox 329"/>
          <p:cNvSpPr txBox="1"/>
          <p:nvPr/>
        </p:nvSpPr>
        <p:spPr>
          <a:xfrm>
            <a:off x="361950" y="4333875"/>
            <a:ext cx="1733550" cy="200025"/>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PIM-SSD</a:t>
            </a:r>
          </a:p>
        </p:txBody>
      </p:sp>
      <p:sp>
        <p:nvSpPr>
          <p:cNvPr id="331" name="TextBox 330"/>
          <p:cNvSpPr txBox="1"/>
          <p:nvPr/>
        </p:nvSpPr>
        <p:spPr>
          <a:xfrm>
            <a:off x="2171700" y="433387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a:t>
            </a:r>
          </a:p>
        </p:txBody>
      </p:sp>
      <p:sp>
        <p:nvSpPr>
          <p:cNvPr id="332" name="TextBox 331"/>
          <p:cNvSpPr txBox="1"/>
          <p:nvPr/>
        </p:nvSpPr>
        <p:spPr>
          <a:xfrm>
            <a:off x="4629150" y="4333875"/>
            <a:ext cx="2381250" cy="200025"/>
          </a:xfrm>
          <a:prstGeom prst="rect">
            <a:avLst/>
          </a:prstGeom>
          <a:noFill/>
        </p:spPr>
        <p:txBody>
          <a:bodyPr wrap="square" lIns="0" tIns="0" rIns="0" bIns="0" anchor="ctr">
            <a:spAutoFit/>
          </a:bodyPr>
          <a:lstStyle/>
          <a:p>
            <a:pPr algn="ctr"/>
            <a:r>
              <a:rPr sz="900" b="0" i="0">
                <a:solidFill>
                  <a:srgbClr val="404040"/>
                </a:solidFill>
                <a:latin typeface="맑은 고딕"/>
                <a:ea typeface="맑은 고딕"/>
              </a:rPr>
              <a:t>16,000 GB  ·  28 GB/s</a:t>
            </a:r>
          </a:p>
        </p:txBody>
      </p:sp>
      <p:sp>
        <p:nvSpPr>
          <p:cNvPr id="333" name="TextBox 332"/>
          <p:cNvSpPr txBox="1"/>
          <p:nvPr/>
        </p:nvSpPr>
        <p:spPr>
          <a:xfrm>
            <a:off x="7143750" y="4333875"/>
            <a:ext cx="4733925" cy="200025"/>
          </a:xfrm>
          <a:prstGeom prst="rect">
            <a:avLst/>
          </a:prstGeom>
          <a:noFill/>
        </p:spPr>
        <p:txBody>
          <a:bodyPr wrap="square" lIns="0" tIns="0" rIns="0" bIns="0" anchor="ctr">
            <a:spAutoFit/>
          </a:bodyPr>
          <a:lstStyle/>
          <a:p>
            <a:pPr algn="l"/>
            <a:r>
              <a:rPr sz="800" b="0" i="0">
                <a:solidFill>
                  <a:srgbClr val="595959"/>
                </a:solidFill>
                <a:latin typeface="맑은 고딕"/>
                <a:ea typeface="맑은 고딕"/>
              </a:rPr>
              <a:t>PIM(연산 내장) SSD · NVMe와 동일 용량·대역폭·단가 가정 — 16TB, 28 GB/s</a:t>
            </a:r>
          </a:p>
        </p:txBody>
      </p:sp>
      <p:sp>
        <p:nvSpPr>
          <p:cNvPr id="334" name="Rectangle 104"/>
          <p:cNvSpPr/>
          <p:nvPr/>
        </p:nvSpPr>
        <p:spPr>
          <a:xfrm>
            <a:off x="361950" y="4572000"/>
            <a:ext cx="11515725" cy="20002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5" name="TextBox 334"/>
          <p:cNvSpPr txBox="1"/>
          <p:nvPr/>
        </p:nvSpPr>
        <p:spPr>
          <a:xfrm>
            <a:off x="438150" y="4572000"/>
            <a:ext cx="1657350" cy="200025"/>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용량</a:t>
            </a:r>
          </a:p>
        </p:txBody>
      </p:sp>
      <p:sp>
        <p:nvSpPr>
          <p:cNvPr id="336" name="TextBox 335"/>
          <p:cNvSpPr txBox="1"/>
          <p:nvPr/>
        </p:nvSpPr>
        <p:spPr>
          <a:xfrm>
            <a:off x="2171700" y="4572000"/>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640 GB  (1.00×)</a:t>
            </a:r>
          </a:p>
        </p:txBody>
      </p:sp>
      <p:sp>
        <p:nvSpPr>
          <p:cNvPr id="337" name="TextBox 336"/>
          <p:cNvSpPr txBox="1"/>
          <p:nvPr/>
        </p:nvSpPr>
        <p:spPr>
          <a:xfrm>
            <a:off x="4629150" y="4572000"/>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1,296 GB  (2.03×)</a:t>
            </a:r>
          </a:p>
        </p:txBody>
      </p:sp>
      <p:sp>
        <p:nvSpPr>
          <p:cNvPr id="338" name="TextBox 337"/>
          <p:cNvSpPr txBox="1"/>
          <p:nvPr/>
        </p:nvSpPr>
        <p:spPr>
          <a:xfrm>
            <a:off x="7143750" y="4572000"/>
            <a:ext cx="4733925" cy="200025"/>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HBM + HBF + PNM : 640 / 400 + 640 + 256 = 1,296 GB</a:t>
            </a:r>
          </a:p>
        </p:txBody>
      </p:sp>
      <p:sp>
        <p:nvSpPr>
          <p:cNvPr id="339" name="Rectangle 109"/>
          <p:cNvSpPr/>
          <p:nvPr/>
        </p:nvSpPr>
        <p:spPr>
          <a:xfrm>
            <a:off x="361950" y="4772025"/>
            <a:ext cx="11515725" cy="20002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0" name="TextBox 339"/>
          <p:cNvSpPr txBox="1"/>
          <p:nvPr/>
        </p:nvSpPr>
        <p:spPr>
          <a:xfrm>
            <a:off x="438150" y="4772025"/>
            <a:ext cx="1657350" cy="200025"/>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가속기측 고대역 대역폭</a:t>
            </a:r>
          </a:p>
        </p:txBody>
      </p:sp>
      <p:sp>
        <p:nvSpPr>
          <p:cNvPr id="341" name="TextBox 340"/>
          <p:cNvSpPr txBox="1"/>
          <p:nvPr/>
        </p:nvSpPr>
        <p:spPr>
          <a:xfrm>
            <a:off x="2171700" y="4772025"/>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26.8 TB/s  (1.00×)</a:t>
            </a:r>
          </a:p>
        </p:txBody>
      </p:sp>
      <p:sp>
        <p:nvSpPr>
          <p:cNvPr id="342" name="TextBox 341"/>
          <p:cNvSpPr txBox="1"/>
          <p:nvPr/>
        </p:nvSpPr>
        <p:spPr>
          <a:xfrm>
            <a:off x="4629150" y="4772025"/>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20.5 TB/s  (0.76×)</a:t>
            </a:r>
          </a:p>
        </p:txBody>
      </p:sp>
      <p:sp>
        <p:nvSpPr>
          <p:cNvPr id="343" name="TextBox 342"/>
          <p:cNvSpPr txBox="1"/>
          <p:nvPr/>
        </p:nvSpPr>
        <p:spPr>
          <a:xfrm>
            <a:off x="7143750" y="4772025"/>
            <a:ext cx="4733925" cy="200025"/>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HBM + HBF + PNM : 8×3.35 = 26.8 / 16.75 + 3.35 + 0.4 = 20.5 TB/s</a:t>
            </a:r>
          </a:p>
        </p:txBody>
      </p:sp>
      <p:sp>
        <p:nvSpPr>
          <p:cNvPr id="344" name="Rectangle 114"/>
          <p:cNvSpPr/>
          <p:nvPr/>
        </p:nvSpPr>
        <p:spPr>
          <a:xfrm>
            <a:off x="361950" y="4972050"/>
            <a:ext cx="11515725" cy="20002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45" name="TextBox 344"/>
          <p:cNvSpPr txBox="1"/>
          <p:nvPr/>
        </p:nvSpPr>
        <p:spPr>
          <a:xfrm>
            <a:off x="438150" y="4972050"/>
            <a:ext cx="1657350" cy="200025"/>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총 메모리 용량</a:t>
            </a:r>
          </a:p>
        </p:txBody>
      </p:sp>
      <p:sp>
        <p:nvSpPr>
          <p:cNvPr id="346" name="TextBox 345"/>
          <p:cNvSpPr txBox="1"/>
          <p:nvPr/>
        </p:nvSpPr>
        <p:spPr>
          <a:xfrm>
            <a:off x="2171700" y="4972050"/>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17,664 GB  (1.00×)</a:t>
            </a:r>
          </a:p>
        </p:txBody>
      </p:sp>
      <p:sp>
        <p:nvSpPr>
          <p:cNvPr id="347" name="TextBox 346"/>
          <p:cNvSpPr txBox="1"/>
          <p:nvPr/>
        </p:nvSpPr>
        <p:spPr>
          <a:xfrm>
            <a:off x="4629150" y="4972050"/>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34,320 GB  (1.94×)</a:t>
            </a:r>
          </a:p>
        </p:txBody>
      </p:sp>
      <p:sp>
        <p:nvSpPr>
          <p:cNvPr id="348" name="TextBox 347"/>
          <p:cNvSpPr txBox="1"/>
          <p:nvPr/>
        </p:nvSpPr>
        <p:spPr>
          <a:xfrm>
            <a:off x="7143750" y="4972050"/>
            <a:ext cx="4733925" cy="200025"/>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HBM+HBF+PNM+DDR+NVMe+PIM : 640+1,024+16,000 / 1,296+1,024+16,000+16,000</a:t>
            </a:r>
          </a:p>
        </p:txBody>
      </p:sp>
      <p:sp>
        <p:nvSpPr>
          <p:cNvPr id="349" name="Rectangle 119"/>
          <p:cNvSpPr/>
          <p:nvPr/>
        </p:nvSpPr>
        <p:spPr>
          <a:xfrm>
            <a:off x="361950" y="5572125"/>
            <a:ext cx="11515725" cy="200025"/>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0" name="TextBox 349"/>
          <p:cNvSpPr txBox="1"/>
          <p:nvPr/>
        </p:nvSpPr>
        <p:spPr>
          <a:xfrm>
            <a:off x="438150" y="5572125"/>
            <a:ext cx="1657350" cy="200025"/>
          </a:xfrm>
          <a:prstGeom prst="rect">
            <a:avLst/>
          </a:prstGeom>
          <a:noFill/>
        </p:spPr>
        <p:txBody>
          <a:bodyPr wrap="square" lIns="0" tIns="0" rIns="0" bIns="0" anchor="ctr">
            <a:spAutoFit/>
          </a:bodyPr>
          <a:lstStyle/>
          <a:p>
            <a:pPr algn="l"/>
            <a:r>
              <a:rPr sz="950" b="1" i="0">
                <a:solidFill>
                  <a:srgbClr val="FFFFFF"/>
                </a:solidFill>
                <a:latin typeface="맑은 고딕"/>
                <a:ea typeface="맑은 고딕"/>
              </a:rPr>
              <a:t>총 비용 (4노드)</a:t>
            </a:r>
          </a:p>
        </p:txBody>
      </p:sp>
      <p:sp>
        <p:nvSpPr>
          <p:cNvPr id="351" name="TextBox 350"/>
          <p:cNvSpPr txBox="1"/>
          <p:nvPr/>
        </p:nvSpPr>
        <p:spPr>
          <a:xfrm>
            <a:off x="2171700" y="5572125"/>
            <a:ext cx="2381250" cy="200025"/>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$1,132K  (1.00×)</a:t>
            </a:r>
          </a:p>
        </p:txBody>
      </p:sp>
      <p:sp>
        <p:nvSpPr>
          <p:cNvPr id="352" name="TextBox 351"/>
          <p:cNvSpPr txBox="1"/>
          <p:nvPr/>
        </p:nvSpPr>
        <p:spPr>
          <a:xfrm>
            <a:off x="4629150" y="5572125"/>
            <a:ext cx="2381250" cy="200025"/>
          </a:xfrm>
          <a:prstGeom prst="rect">
            <a:avLst/>
          </a:prstGeom>
          <a:noFill/>
        </p:spPr>
        <p:txBody>
          <a:bodyPr wrap="square" lIns="0" tIns="0" rIns="0" bIns="0" anchor="ctr">
            <a:spAutoFit/>
          </a:bodyPr>
          <a:lstStyle/>
          <a:p>
            <a:pPr algn="ctr"/>
            <a:r>
              <a:rPr sz="950" b="1" i="0">
                <a:solidFill>
                  <a:srgbClr val="FFFFFF"/>
                </a:solidFill>
                <a:latin typeface="맑은 고딕"/>
                <a:ea typeface="맑은 고딕"/>
              </a:rPr>
              <a:t>$969K  (0.86×)</a:t>
            </a:r>
          </a:p>
        </p:txBody>
      </p:sp>
      <p:sp>
        <p:nvSpPr>
          <p:cNvPr id="353" name="TextBox 352"/>
          <p:cNvSpPr txBox="1"/>
          <p:nvPr/>
        </p:nvSpPr>
        <p:spPr>
          <a:xfrm>
            <a:off x="7143750" y="5572125"/>
            <a:ext cx="4733925" cy="200025"/>
          </a:xfrm>
          <a:prstGeom prst="rect">
            <a:avLst/>
          </a:prstGeom>
          <a:noFill/>
        </p:spPr>
        <p:txBody>
          <a:bodyPr wrap="square" lIns="0" tIns="0" rIns="0" bIns="0" anchor="ctr">
            <a:spAutoFit/>
          </a:bodyPr>
          <a:lstStyle/>
          <a:p>
            <a:pPr algn="l"/>
            <a:r>
              <a:rPr sz="800" b="0" i="0">
                <a:solidFill>
                  <a:srgbClr val="FFFFFF"/>
                </a:solidFill>
                <a:latin typeface="맑은 고딕"/>
                <a:ea typeface="맑은 고딕"/>
              </a:rPr>
              <a:t>메모리·SSD + 카드 : $172K + $960K / $237K + $732K  (CPU·보드·전원 제외)</a:t>
            </a:r>
          </a:p>
        </p:txBody>
      </p:sp>
      <p:sp>
        <p:nvSpPr>
          <p:cNvPr id="354" name="Rectangle 124"/>
          <p:cNvSpPr/>
          <p:nvPr/>
        </p:nvSpPr>
        <p:spPr>
          <a:xfrm>
            <a:off x="365760" y="5829300"/>
            <a:ext cx="11521440" cy="36195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25000"/>
              </a:lnSpc>
            </a:pPr>
            <a:r>
              <a:rPr sz="900" b="0" i="0" dirty="0" err="1">
                <a:solidFill>
                  <a:srgbClr val="7F5F00"/>
                </a:solidFill>
                <a:latin typeface="맑은 고딕"/>
                <a:ea typeface="맑은 고딕"/>
              </a:rPr>
              <a:t>집계</a:t>
            </a:r>
            <a:r>
              <a:rPr sz="900" b="0" i="0" dirty="0">
                <a:solidFill>
                  <a:srgbClr val="7F5F00"/>
                </a:solidFill>
                <a:latin typeface="맑은 고딕"/>
                <a:ea typeface="맑은 고딕"/>
              </a:rPr>
              <a:t> </a:t>
            </a:r>
            <a:r>
              <a:rPr sz="900" b="0" i="0" dirty="0" err="1">
                <a:solidFill>
                  <a:srgbClr val="7F5F00"/>
                </a:solidFill>
                <a:latin typeface="맑은 고딕"/>
                <a:ea typeface="맑은 고딕"/>
              </a:rPr>
              <a:t>대역폭</a:t>
            </a:r>
            <a:r>
              <a:rPr sz="900" b="0" i="0" dirty="0">
                <a:solidFill>
                  <a:srgbClr val="7F5F00"/>
                </a:solidFill>
                <a:latin typeface="맑은 고딕"/>
                <a:ea typeface="맑은 고딕"/>
              </a:rPr>
              <a:t> 0.76×는 GPU 2대가 </a:t>
            </a:r>
            <a:r>
              <a:rPr sz="900" b="0" i="0" dirty="0" err="1">
                <a:solidFill>
                  <a:srgbClr val="7F5F00"/>
                </a:solidFill>
                <a:latin typeface="맑은 고딕"/>
                <a:ea typeface="맑은 고딕"/>
              </a:rPr>
              <a:t>PNM으로</a:t>
            </a:r>
            <a:r>
              <a:rPr sz="900" b="0" i="0" dirty="0">
                <a:solidFill>
                  <a:srgbClr val="7F5F00"/>
                </a:solidFill>
                <a:latin typeface="맑은 고딕"/>
                <a:ea typeface="맑은 고딕"/>
              </a:rPr>
              <a:t> </a:t>
            </a:r>
            <a:r>
              <a:rPr sz="900" b="0" i="0" dirty="0" err="1">
                <a:solidFill>
                  <a:srgbClr val="7F5F00"/>
                </a:solidFill>
                <a:latin typeface="맑은 고딕"/>
                <a:ea typeface="맑은 고딕"/>
              </a:rPr>
              <a:t>바뀐</a:t>
            </a:r>
            <a:r>
              <a:rPr sz="900" b="0" i="0" dirty="0">
                <a:solidFill>
                  <a:srgbClr val="7F5F00"/>
                </a:solidFill>
                <a:latin typeface="맑은 고딕"/>
                <a:ea typeface="맑은 고딕"/>
              </a:rPr>
              <a:t> </a:t>
            </a:r>
            <a:r>
              <a:rPr sz="900" b="0" i="0" dirty="0" err="1">
                <a:solidFill>
                  <a:srgbClr val="7F5F00"/>
                </a:solidFill>
                <a:latin typeface="맑은 고딕"/>
                <a:ea typeface="맑은 고딕"/>
              </a:rPr>
              <a:t>몫이다</a:t>
            </a:r>
            <a:r>
              <a:rPr sz="900" b="0" i="0" dirty="0">
                <a:solidFill>
                  <a:srgbClr val="7F5F00"/>
                </a:solidFill>
                <a:latin typeface="맑은 고딕"/>
                <a:ea typeface="맑은 고딕"/>
              </a:rPr>
              <a:t> — HBF </a:t>
            </a:r>
            <a:r>
              <a:rPr sz="900" b="0" i="0" dirty="0" err="1">
                <a:solidFill>
                  <a:srgbClr val="7F5F00"/>
                </a:solidFill>
                <a:latin typeface="맑은 고딕"/>
                <a:ea typeface="맑은 고딕"/>
              </a:rPr>
              <a:t>장착</a:t>
            </a:r>
            <a:r>
              <a:rPr sz="900" b="0" i="0" dirty="0">
                <a:solidFill>
                  <a:srgbClr val="7F5F00"/>
                </a:solidFill>
                <a:latin typeface="맑은 고딕"/>
                <a:ea typeface="맑은 고딕"/>
              </a:rPr>
              <a:t> </a:t>
            </a:r>
            <a:r>
              <a:rPr sz="900" b="0" i="0" dirty="0" err="1">
                <a:solidFill>
                  <a:srgbClr val="7F5F00"/>
                </a:solidFill>
                <a:latin typeface="맑은 고딕"/>
                <a:ea typeface="맑은 고딕"/>
              </a:rPr>
              <a:t>GPU는</a:t>
            </a:r>
            <a:r>
              <a:rPr sz="900" b="0" i="0" dirty="0">
                <a:solidFill>
                  <a:srgbClr val="7F5F00"/>
                </a:solidFill>
                <a:latin typeface="맑은 고딕"/>
                <a:ea typeface="맑은 고딕"/>
              </a:rPr>
              <a:t> HBM </a:t>
            </a:r>
            <a:r>
              <a:rPr sz="900" b="0" i="0" dirty="0" err="1">
                <a:solidFill>
                  <a:srgbClr val="7F5F00"/>
                </a:solidFill>
                <a:latin typeface="맑은 고딕"/>
                <a:ea typeface="맑은 고딕"/>
              </a:rPr>
              <a:t>절반</a:t>
            </a:r>
            <a:r>
              <a:rPr sz="900" b="0" i="0" dirty="0">
                <a:solidFill>
                  <a:srgbClr val="7F5F00"/>
                </a:solidFill>
                <a:latin typeface="맑은 고딕"/>
                <a:ea typeface="맑은 고딕"/>
              </a:rPr>
              <a:t> + </a:t>
            </a:r>
            <a:r>
              <a:rPr sz="900" b="0" i="0" dirty="0" err="1">
                <a:solidFill>
                  <a:srgbClr val="7F5F00"/>
                </a:solidFill>
                <a:latin typeface="맑은 고딕"/>
                <a:ea typeface="맑은 고딕"/>
              </a:rPr>
              <a:t>HBF로</a:t>
            </a:r>
            <a:r>
              <a:rPr sz="900" b="0" i="0" dirty="0">
                <a:solidFill>
                  <a:srgbClr val="7F5F00"/>
                </a:solidFill>
                <a:latin typeface="맑은 고딕"/>
                <a:ea typeface="맑은 고딕"/>
              </a:rPr>
              <a:t> </a:t>
            </a:r>
            <a:r>
              <a:rPr sz="900" b="0" i="0" dirty="0" err="1">
                <a:solidFill>
                  <a:srgbClr val="7F5F00"/>
                </a:solidFill>
                <a:latin typeface="맑은 고딕"/>
                <a:ea typeface="맑은 고딕"/>
              </a:rPr>
              <a:t>슬롯당</a:t>
            </a:r>
            <a:r>
              <a:rPr sz="900" b="0" i="0" dirty="0">
                <a:solidFill>
                  <a:srgbClr val="7F5F00"/>
                </a:solidFill>
                <a:latin typeface="맑은 고딕"/>
                <a:ea typeface="맑은 고딕"/>
              </a:rPr>
              <a:t> </a:t>
            </a:r>
            <a:r>
              <a:rPr sz="900" b="0" i="0" dirty="0" err="1">
                <a:solidFill>
                  <a:srgbClr val="7F5F00"/>
                </a:solidFill>
                <a:latin typeface="맑은 고딕"/>
                <a:ea typeface="맑은 고딕"/>
              </a:rPr>
              <a:t>대역폭을</a:t>
            </a:r>
            <a:r>
              <a:rPr sz="900" b="0" i="0" dirty="0">
                <a:solidFill>
                  <a:srgbClr val="7F5F00"/>
                </a:solidFill>
                <a:latin typeface="맑은 고딕"/>
                <a:ea typeface="맑은 고딕"/>
              </a:rPr>
              <a:t> </a:t>
            </a:r>
            <a:r>
              <a:rPr sz="900" b="0" i="0" dirty="0" err="1">
                <a:solidFill>
                  <a:srgbClr val="7F5F00"/>
                </a:solidFill>
                <a:latin typeface="맑은 고딕"/>
                <a:ea typeface="맑은 고딕"/>
              </a:rPr>
              <a:t>유지</a:t>
            </a:r>
            <a:r>
              <a:rPr sz="900" b="0" i="0" dirty="0">
                <a:solidFill>
                  <a:srgbClr val="7F5F00"/>
                </a:solidFill>
                <a:latin typeface="맑은 고딕"/>
                <a:ea typeface="맑은 고딕"/>
              </a:rPr>
              <a:t>, decode </a:t>
            </a:r>
            <a:r>
              <a:rPr sz="900" b="0" i="0" dirty="0" err="1">
                <a:solidFill>
                  <a:srgbClr val="7F5F00"/>
                </a:solidFill>
                <a:latin typeface="맑은 고딕"/>
                <a:ea typeface="맑은 고딕"/>
              </a:rPr>
              <a:t>attention이</a:t>
            </a:r>
            <a:r>
              <a:rPr sz="900" b="0" i="0" dirty="0">
                <a:solidFill>
                  <a:srgbClr val="7F5F00"/>
                </a:solidFill>
                <a:latin typeface="맑은 고딕"/>
                <a:ea typeface="맑은 고딕"/>
              </a:rPr>
              <a:t> </a:t>
            </a:r>
            <a:r>
              <a:rPr sz="900" b="0" i="0" dirty="0" err="1">
                <a:solidFill>
                  <a:srgbClr val="7F5F00"/>
                </a:solidFill>
                <a:latin typeface="맑은 고딕"/>
                <a:ea typeface="맑은 고딕"/>
              </a:rPr>
              <a:t>묶이는</a:t>
            </a:r>
            <a:r>
              <a:rPr sz="900" b="0" i="0" dirty="0">
                <a:solidFill>
                  <a:srgbClr val="7F5F00"/>
                </a:solidFill>
                <a:latin typeface="맑은 고딕"/>
                <a:ea typeface="맑은 고딕"/>
              </a:rPr>
              <a:t> </a:t>
            </a:r>
            <a:r>
              <a:rPr sz="900" b="0" i="0" dirty="0" err="1">
                <a:solidFill>
                  <a:srgbClr val="7F5F00"/>
                </a:solidFill>
                <a:latin typeface="맑은 고딕"/>
                <a:ea typeface="맑은 고딕"/>
              </a:rPr>
              <a:t>것은</a:t>
            </a:r>
            <a:r>
              <a:rPr sz="900" b="0" i="0" dirty="0">
                <a:solidFill>
                  <a:srgbClr val="7F5F00"/>
                </a:solidFill>
                <a:latin typeface="맑은 고딕"/>
                <a:ea typeface="맑은 고딕"/>
              </a:rPr>
              <a:t> </a:t>
            </a:r>
            <a:r>
              <a:rPr sz="900" b="0" i="0" dirty="0" err="1">
                <a:solidFill>
                  <a:srgbClr val="7F5F00"/>
                </a:solidFill>
                <a:latin typeface="맑은 고딕"/>
                <a:ea typeface="맑은 고딕"/>
              </a:rPr>
              <a:t>슬롯당</a:t>
            </a:r>
            <a:r>
              <a:rPr sz="900" b="0" i="0" dirty="0">
                <a:solidFill>
                  <a:srgbClr val="7F5F00"/>
                </a:solidFill>
                <a:latin typeface="맑은 고딕"/>
                <a:ea typeface="맑은 고딕"/>
              </a:rPr>
              <a:t> </a:t>
            </a:r>
            <a:r>
              <a:rPr sz="900" b="0" i="0" dirty="0" err="1">
                <a:solidFill>
                  <a:srgbClr val="7F5F00"/>
                </a:solidFill>
                <a:latin typeface="맑은 고딕"/>
                <a:ea typeface="맑은 고딕"/>
              </a:rPr>
              <a:t>대역폭이다</a:t>
            </a:r>
            <a:endParaRPr sz="900" b="0" i="0" dirty="0">
              <a:solidFill>
                <a:srgbClr val="7F5F00"/>
              </a:solidFill>
              <a:latin typeface="맑은 고딕"/>
              <a:ea typeface="맑은 고딕"/>
            </a:endParaRPr>
          </a:p>
          <a:p>
            <a:pPr algn="l">
              <a:lnSpc>
                <a:spcPct val="125000"/>
              </a:lnSpc>
            </a:pPr>
            <a:r>
              <a:rPr sz="900" b="0" i="0" dirty="0" err="1">
                <a:solidFill>
                  <a:srgbClr val="7F5F00"/>
                </a:solidFill>
                <a:latin typeface="맑은 고딕"/>
                <a:ea typeface="맑은 고딕"/>
              </a:rPr>
              <a:t>매체</a:t>
            </a:r>
            <a:r>
              <a:rPr sz="900" b="0" i="0" dirty="0">
                <a:solidFill>
                  <a:srgbClr val="7F5F00"/>
                </a:solidFill>
                <a:latin typeface="맑은 고딕"/>
                <a:ea typeface="맑은 고딕"/>
              </a:rPr>
              <a:t> </a:t>
            </a:r>
            <a:r>
              <a:rPr sz="900" b="0" i="0" dirty="0" err="1">
                <a:solidFill>
                  <a:srgbClr val="7F5F00"/>
                </a:solidFill>
                <a:latin typeface="맑은 고딕"/>
                <a:ea typeface="맑은 고딕"/>
              </a:rPr>
              <a:t>지연</a:t>
            </a:r>
            <a:r>
              <a:rPr sz="900" b="0" i="0" dirty="0">
                <a:solidFill>
                  <a:srgbClr val="7F5F00"/>
                </a:solidFill>
                <a:latin typeface="맑은 고딕"/>
                <a:ea typeface="맑은 고딕"/>
              </a:rPr>
              <a:t> : HBM ~100 ns · CXL-PNM ~300 ns · HBF ~10 </a:t>
            </a:r>
            <a:r>
              <a:rPr sz="900" b="0" i="0" dirty="0" err="1">
                <a:solidFill>
                  <a:srgbClr val="7F5F00"/>
                </a:solidFill>
                <a:latin typeface="맑은 고딕"/>
                <a:ea typeface="맑은 고딕"/>
              </a:rPr>
              <a:t>μs급</a:t>
            </a:r>
            <a:r>
              <a:rPr sz="900" b="0" i="0" dirty="0">
                <a:solidFill>
                  <a:srgbClr val="7F5F00"/>
                </a:solidFill>
                <a:latin typeface="맑은 고딕"/>
                <a:ea typeface="맑은 고딕"/>
              </a:rPr>
              <a:t>(NAND) · </a:t>
            </a:r>
            <a:r>
              <a:rPr sz="900" b="0" i="0" dirty="0" err="1">
                <a:solidFill>
                  <a:srgbClr val="7F5F00"/>
                </a:solidFill>
                <a:latin typeface="맑은 고딕"/>
                <a:ea typeface="맑은 고딕"/>
              </a:rPr>
              <a:t>NVMe</a:t>
            </a:r>
            <a:r>
              <a:rPr sz="900" b="0" i="0" dirty="0">
                <a:solidFill>
                  <a:srgbClr val="7F5F00"/>
                </a:solidFill>
                <a:latin typeface="맑은 고딕"/>
                <a:ea typeface="맑은 고딕"/>
              </a:rPr>
              <a:t> ~100 </a:t>
            </a:r>
            <a:r>
              <a:rPr sz="900" b="0" i="0" dirty="0" err="1">
                <a:solidFill>
                  <a:srgbClr val="7F5F00"/>
                </a:solidFill>
                <a:latin typeface="맑은 고딕"/>
                <a:ea typeface="맑은 고딕"/>
              </a:rPr>
              <a:t>μs</a:t>
            </a:r>
            <a:r>
              <a:rPr sz="900" b="0" i="0" dirty="0">
                <a:solidFill>
                  <a:srgbClr val="7F5F00"/>
                </a:solidFill>
                <a:latin typeface="맑은 고딕"/>
                <a:ea typeface="맑은 고딕"/>
              </a:rPr>
              <a:t> → </a:t>
            </a:r>
            <a:r>
              <a:rPr sz="900" b="0" i="0" dirty="0" err="1">
                <a:solidFill>
                  <a:srgbClr val="7F5F00"/>
                </a:solidFill>
                <a:latin typeface="맑은 고딕"/>
                <a:ea typeface="맑은 고딕"/>
              </a:rPr>
              <a:t>HBF는</a:t>
            </a:r>
            <a:r>
              <a:rPr sz="900" b="0" i="0" dirty="0">
                <a:solidFill>
                  <a:srgbClr val="7F5F00"/>
                </a:solidFill>
                <a:latin typeface="맑은 고딕"/>
                <a:ea typeface="맑은 고딕"/>
              </a:rPr>
              <a:t> read-dominant </a:t>
            </a:r>
            <a:r>
              <a:rPr sz="900" b="0" i="0" dirty="0" err="1">
                <a:solidFill>
                  <a:srgbClr val="7F5F00"/>
                </a:solidFill>
                <a:latin typeface="맑은 고딕"/>
                <a:ea typeface="맑은 고딕"/>
              </a:rPr>
              <a:t>계층</a:t>
            </a:r>
            <a:r>
              <a:rPr sz="900" b="0" i="0" dirty="0">
                <a:solidFill>
                  <a:srgbClr val="7F5F00"/>
                </a:solidFill>
                <a:latin typeface="맑은 고딕"/>
                <a:ea typeface="맑은 고딕"/>
              </a:rPr>
              <a:t>(weight · cold KV)</a:t>
            </a:r>
            <a:r>
              <a:rPr sz="900" b="0" i="0" dirty="0" err="1">
                <a:solidFill>
                  <a:srgbClr val="7F5F00"/>
                </a:solidFill>
                <a:latin typeface="맑은 고딕"/>
                <a:ea typeface="맑은 고딕"/>
              </a:rPr>
              <a:t>이고</a:t>
            </a:r>
            <a:r>
              <a:rPr sz="900" b="0" i="0" dirty="0">
                <a:solidFill>
                  <a:srgbClr val="7F5F00"/>
                </a:solidFill>
                <a:latin typeface="맑은 고딕"/>
                <a:ea typeface="맑은 고딕"/>
              </a:rPr>
              <a:t>, KV </a:t>
            </a:r>
            <a:r>
              <a:rPr sz="900" b="0" i="0" dirty="0" err="1">
                <a:solidFill>
                  <a:srgbClr val="7F5F00"/>
                </a:solidFill>
                <a:latin typeface="맑은 고딕"/>
                <a:ea typeface="맑은 고딕"/>
              </a:rPr>
              <a:t>상주</a:t>
            </a:r>
            <a:r>
              <a:rPr sz="900" b="0" i="0" dirty="0">
                <a:solidFill>
                  <a:srgbClr val="7F5F00"/>
                </a:solidFill>
                <a:latin typeface="맑은 고딕"/>
                <a:ea typeface="맑은 고딕"/>
              </a:rPr>
              <a:t> </a:t>
            </a:r>
            <a:r>
              <a:rPr sz="900" b="0" i="0" dirty="0" err="1">
                <a:solidFill>
                  <a:srgbClr val="7F5F00"/>
                </a:solidFill>
                <a:latin typeface="맑은 고딕"/>
                <a:ea typeface="맑은 고딕"/>
              </a:rPr>
              <a:t>계층은</a:t>
            </a:r>
            <a:r>
              <a:rPr sz="900" b="0" i="0" dirty="0">
                <a:solidFill>
                  <a:srgbClr val="7F5F00"/>
                </a:solidFill>
                <a:latin typeface="맑은 고딕"/>
                <a:ea typeface="맑은 고딕"/>
              </a:rPr>
              <a:t> HBM · CXL-</a:t>
            </a:r>
            <a:r>
              <a:rPr sz="900" b="0" i="0" dirty="0" err="1">
                <a:solidFill>
                  <a:srgbClr val="7F5F00"/>
                </a:solidFill>
                <a:latin typeface="맑은 고딕"/>
                <a:ea typeface="맑은 고딕"/>
              </a:rPr>
              <a:t>PNM이</a:t>
            </a:r>
            <a:r>
              <a:rPr sz="900" b="0" i="0" dirty="0">
                <a:solidFill>
                  <a:srgbClr val="7F5F00"/>
                </a:solidFill>
                <a:latin typeface="맑은 고딕"/>
                <a:ea typeface="맑은 고딕"/>
              </a:rPr>
              <a:t> </a:t>
            </a:r>
            <a:r>
              <a:rPr sz="900" b="0" i="0" dirty="0" err="1">
                <a:solidFill>
                  <a:srgbClr val="7F5F00"/>
                </a:solidFill>
                <a:latin typeface="맑은 고딕"/>
                <a:ea typeface="맑은 고딕"/>
              </a:rPr>
              <a:t>맡는다</a:t>
            </a:r>
            <a:endParaRPr sz="900" b="0" i="0" dirty="0">
              <a:solidFill>
                <a:srgbClr val="7F5F00"/>
              </a:solidFill>
              <a:latin typeface="맑은 고딕"/>
              <a:ea typeface="맑은 고딕"/>
            </a:endParaRPr>
          </a:p>
        </p:txBody>
      </p:sp>
      <p:sp>
        <p:nvSpPr>
          <p:cNvPr id="355" name="TextBox 354"/>
          <p:cNvSpPr txBox="1"/>
          <p:nvPr/>
        </p:nvSpPr>
        <p:spPr>
          <a:xfrm>
            <a:off x="365760" y="6248400"/>
            <a:ext cx="11521440" cy="420624"/>
          </a:xfrm>
          <a:prstGeom prst="rect">
            <a:avLst/>
          </a:prstGeom>
          <a:noFill/>
        </p:spPr>
        <p:txBody>
          <a:bodyPr wrap="square" lIns="0" tIns="0" rIns="0" bIns="0" anchor="t">
            <a:spAutoFit/>
          </a:bodyPr>
          <a:lstStyle/>
          <a:p>
            <a:pPr algn="l">
              <a:lnSpc>
                <a:spcPct val="130000"/>
              </a:lnSpc>
            </a:pPr>
            <a:r>
              <a:rPr sz="800" b="0" i="0">
                <a:solidFill>
                  <a:srgbClr val="808080"/>
                </a:solidFill>
                <a:latin typeface="맑은 고딕"/>
                <a:ea typeface="맑은 고딕"/>
              </a:rPr>
              <a:t>※ GPU = H100 SXM5 (132 SM · HBM3 80GB · 3.35 TB/s) · CPU DDR 175 GB/s × 2소켓 · CXL-PNM(Structera A) 200 GB/s/카드. Target = H100 4대(HBM 80GB) + 2대(HBM 40GB + HBF 320GB) + PNM 2카드.</a:t>
            </a:r>
          </a:p>
          <a:p>
            <a:pPr algn="l">
              <a:lnSpc>
                <a:spcPct val="130000"/>
              </a:lnSpc>
            </a:pPr>
            <a:r>
              <a:rPr sz="800" b="0" i="0">
                <a:solidFill>
                  <a:srgbClr val="808080"/>
                </a:solidFill>
                <a:latin typeface="맑은 고딕"/>
                <a:ea typeface="맑은 고딕"/>
              </a:rPr>
              <a:t>※ 신품 단가(2026.10) H100 $30K(HBM 포함) · HBM3 $15.6/GB · HBF $1.95/GB(HBM÷8 가정) · DDR5 $35/GB · NVMe·PIM-SSD $0.45/GB · PNM 카드 $1.5K(가정). 4노드 합계, CPU·보드·전원 제외.</a:t>
            </a:r>
          </a:p>
        </p:txBody>
      </p:sp>
      <p:sp>
        <p:nvSpPr>
          <p:cNvPr id="356" name="GPU label H4"/>
          <p:cNvSpPr/>
          <p:nvPr/>
        </p:nvSpPr>
        <p:spPr>
          <a:xfrm>
            <a:off x="4705350"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GPU4</a:t>
            </a:r>
          </a:p>
        </p:txBody>
      </p:sp>
      <p:sp>
        <p:nvSpPr>
          <p:cNvPr id="357" name="GPU label H5"/>
          <p:cNvSpPr/>
          <p:nvPr/>
        </p:nvSpPr>
        <p:spPr>
          <a:xfrm>
            <a:off x="5262562" y="2181225"/>
            <a:ext cx="523875" cy="20955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GPU5</a:t>
            </a:r>
          </a:p>
        </p:txBody>
      </p:sp>
      <p:sp>
        <p:nvSpPr>
          <p:cNvPr id="358" name="HBM half 4"/>
          <p:cNvSpPr/>
          <p:nvPr/>
        </p:nvSpPr>
        <p:spPr>
          <a:xfrm>
            <a:off x="4705350" y="2409825"/>
            <a:ext cx="523875" cy="1524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1F6FB5"/>
                </a:solidFill>
                <a:latin typeface="맑은 고딕"/>
                <a:ea typeface="맑은 고딕"/>
              </a:rPr>
              <a:t>HBM 40GB</a:t>
            </a:r>
          </a:p>
        </p:txBody>
      </p:sp>
      <p:sp>
        <p:nvSpPr>
          <p:cNvPr id="359" name="HBM half 5"/>
          <p:cNvSpPr/>
          <p:nvPr/>
        </p:nvSpPr>
        <p:spPr>
          <a:xfrm>
            <a:off x="5262562" y="2409825"/>
            <a:ext cx="523875" cy="152400"/>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1F6FB5"/>
                </a:solidFill>
                <a:latin typeface="맑은 고딕"/>
                <a:ea typeface="맑은 고딕"/>
              </a:rPr>
              <a:t>HBM 40GB</a:t>
            </a:r>
          </a:p>
        </p:txBody>
      </p:sp>
      <p:sp>
        <p:nvSpPr>
          <p:cNvPr id="360" name="HBF box 4"/>
          <p:cNvSpPr/>
          <p:nvPr/>
        </p:nvSpPr>
        <p:spPr>
          <a:xfrm>
            <a:off x="4705350" y="2562225"/>
            <a:ext cx="523875" cy="152400"/>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4A2E73"/>
                </a:solidFill>
                <a:latin typeface="맑은 고딕"/>
                <a:ea typeface="맑은 고딕"/>
              </a:rPr>
              <a:t>HBF 320GB</a:t>
            </a:r>
          </a:p>
        </p:txBody>
      </p:sp>
      <p:sp>
        <p:nvSpPr>
          <p:cNvPr id="361" name="HBF box 5"/>
          <p:cNvSpPr/>
          <p:nvPr/>
        </p:nvSpPr>
        <p:spPr>
          <a:xfrm>
            <a:off x="5262562" y="2562225"/>
            <a:ext cx="523875" cy="152400"/>
          </a:xfrm>
          <a:prstGeom prst="rect">
            <a:avLst/>
          </a:prstGeom>
          <a:solidFill>
            <a:srgbClr val="E7DEF2"/>
          </a:solidFill>
          <a:ln w="9525">
            <a:solidFill>
              <a:srgbClr val="7B5EA7"/>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00" b="1" i="0">
                <a:solidFill>
                  <a:srgbClr val="4A2E73"/>
                </a:solidFill>
                <a:latin typeface="맑은 고딕"/>
                <a:ea typeface="맑은 고딕"/>
              </a:rPr>
              <a:t>HBF 320GB</a:t>
            </a:r>
          </a:p>
        </p:txBody>
      </p:sp>
      <p:sp>
        <p:nvSpPr>
          <p:cNvPr id="362" name="Rectangle N1"/>
          <p:cNvSpPr/>
          <p:nvPr/>
        </p:nvSpPr>
        <p:spPr>
          <a:xfrm>
            <a:off x="361950" y="5172075"/>
            <a:ext cx="11515725" cy="20002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3" name="TextBox NL1"/>
          <p:cNvSpPr txBox="1"/>
          <p:nvPr/>
        </p:nvSpPr>
        <p:spPr>
          <a:xfrm>
            <a:off x="438150" y="5172075"/>
            <a:ext cx="1657350" cy="200025"/>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메모리·SSD 비용 (4노드)</a:t>
            </a:r>
          </a:p>
        </p:txBody>
      </p:sp>
      <p:sp>
        <p:nvSpPr>
          <p:cNvPr id="364" name="TextBox NB1"/>
          <p:cNvSpPr txBox="1"/>
          <p:nvPr/>
        </p:nvSpPr>
        <p:spPr>
          <a:xfrm>
            <a:off x="2171700" y="5172075"/>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$172K  (1.00×)</a:t>
            </a:r>
          </a:p>
        </p:txBody>
      </p:sp>
      <p:sp>
        <p:nvSpPr>
          <p:cNvPr id="365" name="TextBox NT1"/>
          <p:cNvSpPr txBox="1"/>
          <p:nvPr/>
        </p:nvSpPr>
        <p:spPr>
          <a:xfrm>
            <a:off x="4629150" y="5172075"/>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$237K  (1.38×)</a:t>
            </a:r>
          </a:p>
        </p:txBody>
      </p:sp>
      <p:sp>
        <p:nvSpPr>
          <p:cNvPr id="366" name="TextBox NF1"/>
          <p:cNvSpPr txBox="1"/>
          <p:nvPr/>
        </p:nvSpPr>
        <p:spPr>
          <a:xfrm>
            <a:off x="7143750" y="5172075"/>
            <a:ext cx="4733925" cy="200025"/>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4×[DDR 1,024GB×$35 + NVMe 16TB×$0.45] / 4×[DDR 1,280GB×$35 + SSD 32TB×$0.45]</a:t>
            </a:r>
          </a:p>
        </p:txBody>
      </p:sp>
      <p:sp>
        <p:nvSpPr>
          <p:cNvPr id="367" name="Rectangle N2"/>
          <p:cNvSpPr/>
          <p:nvPr/>
        </p:nvSpPr>
        <p:spPr>
          <a:xfrm>
            <a:off x="361950" y="5372100"/>
            <a:ext cx="11515725" cy="200025"/>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8" name="TextBox NL2"/>
          <p:cNvSpPr txBox="1"/>
          <p:nvPr/>
        </p:nvSpPr>
        <p:spPr>
          <a:xfrm>
            <a:off x="438150" y="5372100"/>
            <a:ext cx="1657350" cy="200025"/>
          </a:xfrm>
          <a:prstGeom prst="rect">
            <a:avLst/>
          </a:prstGeom>
          <a:noFill/>
        </p:spPr>
        <p:txBody>
          <a:bodyPr wrap="square" lIns="0" tIns="0" rIns="0" bIns="0" anchor="ctr">
            <a:spAutoFit/>
          </a:bodyPr>
          <a:lstStyle/>
          <a:p>
            <a:pPr algn="l"/>
            <a:r>
              <a:rPr sz="950" b="1" i="0">
                <a:solidFill>
                  <a:srgbClr val="262626"/>
                </a:solidFill>
                <a:latin typeface="맑은 고딕"/>
                <a:ea typeface="맑은 고딕"/>
              </a:rPr>
              <a:t>카드 비용 (4노드)</a:t>
            </a:r>
          </a:p>
        </p:txBody>
      </p:sp>
      <p:sp>
        <p:nvSpPr>
          <p:cNvPr id="369" name="TextBox NB2"/>
          <p:cNvSpPr txBox="1"/>
          <p:nvPr/>
        </p:nvSpPr>
        <p:spPr>
          <a:xfrm>
            <a:off x="2171700" y="5372100"/>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$960K  (1.00×)</a:t>
            </a:r>
          </a:p>
        </p:txBody>
      </p:sp>
      <p:sp>
        <p:nvSpPr>
          <p:cNvPr id="370" name="TextBox NT2"/>
          <p:cNvSpPr txBox="1"/>
          <p:nvPr/>
        </p:nvSpPr>
        <p:spPr>
          <a:xfrm>
            <a:off x="4629150" y="5372100"/>
            <a:ext cx="2381250" cy="200025"/>
          </a:xfrm>
          <a:prstGeom prst="rect">
            <a:avLst/>
          </a:prstGeom>
          <a:noFill/>
        </p:spPr>
        <p:txBody>
          <a:bodyPr wrap="square" lIns="0" tIns="0" rIns="0" bIns="0" anchor="ctr">
            <a:spAutoFit/>
          </a:bodyPr>
          <a:lstStyle/>
          <a:p>
            <a:pPr algn="ctr"/>
            <a:r>
              <a:rPr sz="950" b="1" i="0">
                <a:solidFill>
                  <a:srgbClr val="262626"/>
                </a:solidFill>
                <a:latin typeface="맑은 고딕"/>
                <a:ea typeface="맑은 고딕"/>
              </a:rPr>
              <a:t>$732K  (0.76×)</a:t>
            </a:r>
          </a:p>
        </p:txBody>
      </p:sp>
      <p:sp>
        <p:nvSpPr>
          <p:cNvPr id="371" name="TextBox NF2"/>
          <p:cNvSpPr txBox="1"/>
          <p:nvPr/>
        </p:nvSpPr>
        <p:spPr>
          <a:xfrm>
            <a:off x="7143750" y="5372100"/>
            <a:ext cx="4733925" cy="200025"/>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4×(8×$30K) / 4×(6×$30K + 2×$1.5K) · HBF GPU: HBM 40GB −$624 + HBF 320GB +$624</a:t>
            </a:r>
          </a:p>
        </p:txBody>
      </p:sp>
    </p:spTree>
    <p:extLst>
      <p:ext uri="{BB962C8B-B14F-4D97-AF65-F5344CB8AC3E}">
        <p14:creationId xmlns:p14="http://schemas.microsoft.com/office/powerpoint/2010/main" val="337161630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중요도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난이도</a:t>
            </a:r>
            <a:r>
              <a:rPr lang="en-US" altLang="ko-KR" sz="1600" dirty="0">
                <a:solidFill>
                  <a:prstClr val="black"/>
                </a:solidFill>
                <a:latin typeface="맑은 고딕" panose="020F0502020204030204"/>
                <a:ea typeface="맑은 고딕" panose="020B0503020000020004" pitchFamily="50" charset="-127"/>
              </a:rPr>
              <a:t> M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extLst/>
          </p:nvPr>
        </p:nvGraphicFramePr>
        <p:xfrm>
          <a:off x="278859" y="996757"/>
          <a:ext cx="11709382" cy="5255298"/>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529669">
                  <a:extLst>
                    <a:ext uri="{9D8B030D-6E8A-4147-A177-3AD203B41FA5}">
                      <a16:colId xmlns:a16="http://schemas.microsoft.com/office/drawing/2014/main" val="714743119"/>
                    </a:ext>
                  </a:extLst>
                </a:gridCol>
                <a:gridCol w="6693689">
                  <a:extLst>
                    <a:ext uri="{9D8B030D-6E8A-4147-A177-3AD203B41FA5}">
                      <a16:colId xmlns:a16="http://schemas.microsoft.com/office/drawing/2014/main" val="713779841"/>
                    </a:ext>
                  </a:extLst>
                </a:gridCol>
                <a:gridCol w="632460">
                  <a:extLst>
                    <a:ext uri="{9D8B030D-6E8A-4147-A177-3AD203B41FA5}">
                      <a16:colId xmlns:a16="http://schemas.microsoft.com/office/drawing/2014/main" val="4072428474"/>
                    </a:ext>
                  </a:extLst>
                </a:gridCol>
                <a:gridCol w="632460">
                  <a:extLst>
                    <a:ext uri="{9D8B030D-6E8A-4147-A177-3AD203B41FA5}">
                      <a16:colId xmlns:a16="http://schemas.microsoft.com/office/drawing/2014/main" val="2666804482"/>
                    </a:ext>
                  </a:extLst>
                </a:gridCol>
                <a:gridCol w="558241">
                  <a:extLst>
                    <a:ext uri="{9D8B030D-6E8A-4147-A177-3AD203B41FA5}">
                      <a16:colId xmlns:a16="http://schemas.microsoft.com/office/drawing/2014/main" val="2282568718"/>
                    </a:ext>
                  </a:extLst>
                </a:gridCol>
              </a:tblGrid>
              <a:tr h="317693">
                <a:tc>
                  <a:txBody>
                    <a:bodyPr/>
                    <a:lstStyle/>
                    <a:p>
                      <a:pPr algn="ctr"/>
                      <a:r>
                        <a:rPr lang="ko-KR" altLang="en-US" sz="1050" b="1" dirty="0">
                          <a:solidFill>
                            <a:schemeClr val="bg1"/>
                          </a:solidFill>
                        </a:rPr>
                        <a:t>번호</a:t>
                      </a:r>
                    </a:p>
                  </a:txBody>
                  <a:tcPr anchor="ctr">
                    <a:solidFill>
                      <a:srgbClr val="3B3B3B"/>
                    </a:solidFill>
                  </a:tcPr>
                </a:tc>
                <a:tc>
                  <a:txBody>
                    <a:bodyPr/>
                    <a:lstStyle/>
                    <a:p>
                      <a:pPr algn="ctr"/>
                      <a:r>
                        <a:rPr lang="en-US" sz="1050" b="1" dirty="0">
                          <a:solidFill>
                            <a:schemeClr val="bg1"/>
                          </a:solidFill>
                        </a:rPr>
                        <a:t>QA</a:t>
                      </a:r>
                    </a:p>
                  </a:txBody>
                  <a:tcPr anchor="ctr">
                    <a:solidFill>
                      <a:srgbClr val="3B3B3B"/>
                    </a:solidFill>
                  </a:tcPr>
                </a:tc>
                <a:tc>
                  <a:txBody>
                    <a:bodyPr/>
                    <a:lstStyle/>
                    <a:p>
                      <a:pPr algn="ctr"/>
                      <a:r>
                        <a:rPr lang="en-US" sz="1050" b="1" dirty="0">
                          <a:solidFill>
                            <a:schemeClr val="bg1"/>
                          </a:solidFill>
                        </a:rPr>
                        <a:t>Refinement</a:t>
                      </a:r>
                    </a:p>
                  </a:txBody>
                  <a:tcPr anchor="ctr">
                    <a:solidFill>
                      <a:srgbClr val="3B3B3B"/>
                    </a:solidFill>
                  </a:tcPr>
                </a:tc>
                <a:tc>
                  <a:txBody>
                    <a:bodyPr/>
                    <a:lstStyle/>
                    <a:p>
                      <a:pPr algn="ctr"/>
                      <a:r>
                        <a:rPr lang="en-US" sz="1050" b="1" dirty="0">
                          <a:solidFill>
                            <a:schemeClr val="bg1"/>
                          </a:solidFill>
                        </a:rPr>
                        <a:t>Scenario</a:t>
                      </a:r>
                    </a:p>
                  </a:txBody>
                  <a:tcPr anchor="ctr">
                    <a:solidFill>
                      <a:srgbClr val="3B3B3B"/>
                    </a:solidFill>
                  </a:tcPr>
                </a:tc>
                <a:tc>
                  <a:txBody>
                    <a:bodyPr/>
                    <a:lstStyle/>
                    <a:p>
                      <a:pPr algn="ctr"/>
                      <a:r>
                        <a:rPr lang="ko-KR" altLang="en-US" sz="1050" b="1">
                          <a:solidFill>
                            <a:schemeClr val="bg1"/>
                          </a:solidFill>
                        </a:rPr>
                        <a:t>중요도</a:t>
                      </a:r>
                    </a:p>
                  </a:txBody>
                  <a:tcPr anchor="ctr">
                    <a:solidFill>
                      <a:srgbClr val="3B3B3B"/>
                    </a:solidFill>
                  </a:tcPr>
                </a:tc>
                <a:tc>
                  <a:txBody>
                    <a:bodyPr/>
                    <a:lstStyle/>
                    <a:p>
                      <a:pPr algn="ctr"/>
                      <a:r>
                        <a:rPr lang="ko-KR" altLang="en-US" sz="1050" b="1" dirty="0">
                          <a:solidFill>
                            <a:schemeClr val="bg1"/>
                          </a:solidFill>
                        </a:rPr>
                        <a:t>난이도</a:t>
                      </a:r>
                    </a:p>
                  </a:txBody>
                  <a:tcPr anchor="ctr">
                    <a:solidFill>
                      <a:srgbClr val="3B3B3B"/>
                    </a:solidFill>
                  </a:tcPr>
                </a:tc>
                <a:tc>
                  <a:txBody>
                    <a:bodyPr/>
                    <a:lstStyle/>
                    <a:p>
                      <a:pPr algn="ctr"/>
                      <a:r>
                        <a:rPr lang="ko-KR" altLang="en-US" sz="105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786339">
                <a:tc>
                  <a:txBody>
                    <a:bodyPr/>
                    <a:lstStyle/>
                    <a:p>
                      <a:r>
                        <a:rPr lang="en-US" sz="1000" dirty="0"/>
                        <a:t>QA-01</a:t>
                      </a:r>
                    </a:p>
                  </a:txBody>
                  <a:tcPr anchor="ctr">
                    <a:solidFill>
                      <a:schemeClr val="accent4">
                        <a:lumMod val="20000"/>
                        <a:lumOff val="80000"/>
                      </a:schemeClr>
                    </a:solidFill>
                  </a:tcPr>
                </a:tc>
                <a:tc>
                  <a:txBody>
                    <a:bodyPr/>
                    <a:lstStyle/>
                    <a:p>
                      <a:r>
                        <a:rPr lang="en-US" sz="10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dirty="0"/>
                        <a:t>(Throughput)</a:t>
                      </a:r>
                    </a:p>
                  </a:txBody>
                  <a:tcPr anchor="ctr">
                    <a:solidFill>
                      <a:schemeClr val="accent4">
                        <a:lumMod val="20000"/>
                        <a:lumOff val="80000"/>
                      </a:schemeClr>
                    </a:solidFill>
                  </a:tcPr>
                </a:tc>
                <a:tc>
                  <a:txBody>
                    <a:bodyPr/>
                    <a:lstStyle/>
                    <a:p>
                      <a:r>
                        <a:rPr lang="ko-KR" altLang="en-US" sz="1000" dirty="0"/>
                        <a:t>서비스 수준 목표</a:t>
                      </a:r>
                      <a:r>
                        <a:rPr lang="en-US" altLang="ko-KR" sz="1000" dirty="0"/>
                        <a:t>(SLO)</a:t>
                      </a:r>
                      <a:r>
                        <a:rPr lang="ko-KR" altLang="en-US" sz="1000" dirty="0"/>
                        <a:t>를 만족하는 요청 처리량</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다수의 </a:t>
                      </a:r>
                      <a:r>
                        <a:rPr lang="en-US" altLang="ko-KR" sz="1000" dirty="0"/>
                        <a:t>agent </a:t>
                      </a:r>
                      <a:r>
                        <a:rPr lang="ko-KR" altLang="en-US" sz="1000" dirty="0"/>
                        <a:t>세션이 동시에 요청하는 상황에서</a:t>
                      </a:r>
                      <a:r>
                        <a:rPr lang="en-US" altLang="ko-KR" sz="1000" dirty="0"/>
                        <a:t>, </a:t>
                      </a:r>
                      <a:r>
                        <a:rPr lang="ko-KR" altLang="en-US" sz="1000" dirty="0"/>
                        <a:t>지정한 </a:t>
                      </a:r>
                      <a:r>
                        <a:rPr lang="en-US" altLang="ko-KR" sz="1000" dirty="0"/>
                        <a:t>SLO*</a:t>
                      </a:r>
                      <a:r>
                        <a:rPr lang="ko-KR" altLang="en-US" sz="1000" dirty="0"/>
                        <a:t>를 만족하며</a:t>
                      </a:r>
                      <a:r>
                        <a:rPr lang="en-US" altLang="ko-KR" sz="1000" dirty="0"/>
                        <a:t>, </a:t>
                      </a:r>
                      <a:r>
                        <a:rPr lang="ko-KR" altLang="en-US" sz="1000" dirty="0"/>
                        <a:t>처리할 수 있는 최대 </a:t>
                      </a:r>
                      <a:r>
                        <a:rPr lang="ko-KR" altLang="en-US" sz="1000" dirty="0" err="1"/>
                        <a:t>요청량이</a:t>
                      </a:r>
                      <a:r>
                        <a:rPr lang="ko-KR" altLang="en-US" sz="1000" dirty="0"/>
                        <a:t> 기존 시스템</a:t>
                      </a:r>
                      <a:r>
                        <a:rPr lang="en-US" altLang="ko-KR" sz="1000" dirty="0"/>
                        <a:t>(Baseline)</a:t>
                      </a:r>
                      <a:r>
                        <a:rPr lang="ko-KR" altLang="en-US" sz="1000" dirty="0"/>
                        <a:t>보다 증가해야 한다</a:t>
                      </a:r>
                      <a:r>
                        <a:rPr lang="en-US" altLang="ko-KR" sz="1000" dirty="0"/>
                        <a:t>. (*SLO: Service Level</a:t>
                      </a:r>
                      <a:r>
                        <a:rPr lang="ko-KR" altLang="en-US" sz="1000" dirty="0"/>
                        <a:t> </a:t>
                      </a:r>
                      <a:r>
                        <a:rPr lang="en-US" altLang="ko-KR" sz="1000" dirty="0"/>
                        <a:t>Objective)</a:t>
                      </a:r>
                      <a:br>
                        <a:rPr lang="en-US" altLang="ko-KR" sz="1000" dirty="0"/>
                      </a:br>
                      <a:r>
                        <a:rPr lang="en-US" altLang="ko-KR" sz="1000" b="1" dirty="0"/>
                        <a:t>[</a:t>
                      </a:r>
                      <a:r>
                        <a:rPr lang="ko-KR" altLang="en-US" sz="1000" b="1" dirty="0"/>
                        <a:t>측정</a:t>
                      </a:r>
                      <a:r>
                        <a:rPr lang="en-US" altLang="ko-KR" sz="1000" b="1" dirty="0"/>
                        <a:t>: SLO </a:t>
                      </a:r>
                      <a:r>
                        <a:rPr lang="ko-KR" altLang="en-US" sz="1000" b="1" dirty="0"/>
                        <a:t>만족 최대 처리량 </a:t>
                      </a:r>
                      <a:r>
                        <a:rPr lang="en-US" altLang="ko-KR" sz="1000" b="1" dirty="0"/>
                        <a:t>≥ Baseline </a:t>
                      </a:r>
                      <a:r>
                        <a:rPr lang="ko-KR" altLang="en-US" sz="1000" b="1" dirty="0"/>
                        <a:t>대비 </a:t>
                      </a:r>
                      <a:r>
                        <a:rPr lang="en-US" altLang="ko-KR" sz="1000" b="1" dirty="0"/>
                        <a:t>1.5x (Stakeholder </a:t>
                      </a:r>
                      <a:r>
                        <a:rPr lang="ko-KR" altLang="en-US" sz="1000" b="1" dirty="0"/>
                        <a:t>요구사항 기준</a:t>
                      </a:r>
                      <a:r>
                        <a:rPr lang="en-US" altLang="ko-KR" sz="1100" b="1" dirty="0"/>
                        <a:t>)</a:t>
                      </a:r>
                      <a:r>
                        <a:rPr kumimoji="0" lang="en-US" altLang="ko-KR" sz="1100" b="1" i="0" u="none" strike="noStrike" kern="1200" cap="none" spc="0" normalizeH="0" baseline="0" noProof="0" dirty="0">
                          <a:ln>
                            <a:noFill/>
                          </a:ln>
                          <a:solidFill>
                            <a:prstClr val="black"/>
                          </a:solidFill>
                          <a:effectLst/>
                          <a:uLnTx/>
                          <a:uFillTx/>
                          <a:latin typeface="+mn-lt"/>
                          <a:ea typeface="+mn-ea"/>
                          <a:cs typeface="+mn-cs"/>
                        </a:rPr>
                        <a:t>] </a:t>
                      </a:r>
                      <a:r>
                        <a:rPr kumimoji="0" lang="en-US" altLang="ko-KR" sz="900" b="1" i="0" u="none" strike="noStrike" kern="1200" cap="none" spc="0" normalizeH="0" baseline="0" noProof="0" dirty="0">
                          <a:ln>
                            <a:noFill/>
                          </a:ln>
                          <a:solidFill>
                            <a:prstClr val="black"/>
                          </a:solidFill>
                          <a:effectLst/>
                          <a:uLnTx/>
                          <a:uFillTx/>
                          <a:latin typeface="+mn-lt"/>
                          <a:ea typeface="+mn-ea"/>
                          <a:cs typeface="+mn-cs"/>
                        </a:rPr>
                        <a:t>(SLO: TTFT ≤ 2s, TPOT ≤ 50ms)</a:t>
                      </a:r>
                      <a:endParaRPr kumimoji="0" lang="en-US" altLang="ko-KR" sz="12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900" dirty="0"/>
                        <a:t>(*TTFT: Time To First Token, **TPOT: Time Per Output Token)</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H</a:t>
                      </a:r>
                      <a:endParaRPr lang="en-US" sz="1000" dirty="0"/>
                    </a:p>
                  </a:txBody>
                  <a:tcPr anchor="ctr">
                    <a:solidFill>
                      <a:schemeClr val="accent4">
                        <a:lumMod val="20000"/>
                        <a:lumOff val="80000"/>
                      </a:schemeClr>
                    </a:solidFill>
                  </a:tcPr>
                </a:tc>
                <a:tc>
                  <a:txBody>
                    <a:bodyPr/>
                    <a:lstStyle/>
                    <a:p>
                      <a:r>
                        <a:rPr lang="en-US" altLang="ko-KR" sz="1000" dirty="0"/>
                        <a:t>1</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786339">
                <a:tc>
                  <a:txBody>
                    <a:bodyPr/>
                    <a:lstStyle/>
                    <a:p>
                      <a:r>
                        <a:rPr lang="en-US" sz="1000" dirty="0"/>
                        <a:t>QA-02</a:t>
                      </a:r>
                    </a:p>
                  </a:txBody>
                  <a:tcPr anchor="ctr">
                    <a:solidFill>
                      <a:schemeClr val="accent4">
                        <a:lumMod val="20000"/>
                        <a:lumOff val="80000"/>
                      </a:schemeClr>
                    </a:solidFill>
                  </a:tcPr>
                </a:tc>
                <a:tc>
                  <a:txBody>
                    <a:bodyPr/>
                    <a:lstStyle/>
                    <a:p>
                      <a:r>
                        <a:rPr lang="en-US" sz="1000" dirty="0"/>
                        <a:t>Performance</a:t>
                      </a:r>
                    </a:p>
                    <a:p>
                      <a:r>
                        <a:rPr lang="en-US" sz="1000" dirty="0"/>
                        <a:t>(Tail</a:t>
                      </a:r>
                      <a:r>
                        <a:rPr lang="ko-KR" altLang="en-US" sz="1000" dirty="0"/>
                        <a:t> </a:t>
                      </a:r>
                      <a:r>
                        <a:rPr lang="en-US" altLang="ko-KR" sz="1000" dirty="0"/>
                        <a:t>Latency)</a:t>
                      </a:r>
                      <a:endParaRPr lang="en-US" sz="1000" dirty="0"/>
                    </a:p>
                  </a:txBody>
                  <a:tcPr anchor="ctr">
                    <a:solidFill>
                      <a:schemeClr val="accent4">
                        <a:lumMod val="20000"/>
                        <a:lumOff val="80000"/>
                      </a:schemeClr>
                    </a:solidFill>
                  </a:tcPr>
                </a:tc>
                <a:tc>
                  <a:txBody>
                    <a:bodyPr/>
                    <a:lstStyle/>
                    <a:p>
                      <a:r>
                        <a:rPr lang="ko-KR" altLang="en-US" sz="1000" dirty="0"/>
                        <a:t>고부하 지연시간 </a:t>
                      </a:r>
                      <a:r>
                        <a:rPr lang="en-US" altLang="ko-KR" sz="1000" dirty="0"/>
                        <a:t>(P99)</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b="0" baseline="0" dirty="0"/>
                        <a:t>고부하 환경에서 </a:t>
                      </a:r>
                      <a:r>
                        <a:rPr lang="ko-KR" altLang="en-US" sz="1000" b="0" baseline="0" dirty="0" smtClean="0"/>
                        <a:t>요청의 최악 </a:t>
                      </a:r>
                      <a:r>
                        <a:rPr lang="ko-KR" altLang="en-US" sz="1000" b="0" baseline="0" dirty="0"/>
                        <a:t>응답 지연</a:t>
                      </a:r>
                      <a:r>
                        <a:rPr lang="en-US" altLang="ko-KR" sz="1000" b="0" baseline="0" dirty="0"/>
                        <a:t>(Tail Latency)</a:t>
                      </a:r>
                      <a:r>
                        <a:rPr lang="ko-KR" altLang="en-US" sz="1000" b="0" baseline="0" dirty="0"/>
                        <a:t>을 </a:t>
                      </a:r>
                      <a:r>
                        <a:rPr lang="en-US" altLang="ko-KR" sz="1000" b="0" baseline="0" dirty="0"/>
                        <a:t>baseline </a:t>
                      </a:r>
                      <a:r>
                        <a:rPr lang="ko-KR" altLang="en-US" sz="1000" b="0" baseline="0" dirty="0"/>
                        <a:t>대비 개선해야 한다</a:t>
                      </a:r>
                      <a:r>
                        <a:rPr lang="en-US" altLang="ko-KR" sz="1000" b="0" baseline="0" dirty="0"/>
                        <a:t>. </a:t>
                      </a: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Max (TTFT, TPOT(P99) </a:t>
                      </a:r>
                      <a:r>
                        <a:rPr lang="ko-KR" altLang="en-US" sz="1000" b="1" dirty="0"/>
                        <a:t>감소율</a:t>
                      </a:r>
                      <a:r>
                        <a:rPr lang="en-US" altLang="ko-KR" sz="1000" b="1" dirty="0"/>
                        <a:t>) ≥ Baseline </a:t>
                      </a:r>
                      <a:r>
                        <a:rPr lang="ko-KR" altLang="en-US" sz="1000" b="1" dirty="0"/>
                        <a:t>대비 </a:t>
                      </a:r>
                      <a:r>
                        <a:rPr lang="en-US" altLang="ko-KR" sz="1000" b="1" dirty="0"/>
                        <a:t>30% (</a:t>
                      </a:r>
                      <a:r>
                        <a:rPr lang="ko-KR" altLang="en-US" sz="1000" b="1" dirty="0"/>
                        <a:t>사용자 체감 성능 개선 기준</a:t>
                      </a:r>
                      <a:r>
                        <a:rPr lang="en-US" altLang="ko-KR" sz="1000" b="1" dirty="0"/>
                        <a:t>) (</a:t>
                      </a:r>
                      <a:r>
                        <a:rPr lang="ko-KR" altLang="en-US" sz="1000" b="1" dirty="0"/>
                        <a:t>단</a:t>
                      </a:r>
                      <a:r>
                        <a:rPr lang="en-US" altLang="ko-KR" sz="1000" b="1" dirty="0"/>
                        <a:t>, SLO </a:t>
                      </a:r>
                      <a:r>
                        <a:rPr lang="ko-KR" altLang="en-US" sz="1000" b="1" dirty="0"/>
                        <a:t>만족</a:t>
                      </a:r>
                      <a:r>
                        <a:rPr lang="en-US" altLang="ko-KR" sz="1000" b="1" dirty="0"/>
                        <a:t>)] </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3</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2212802997"/>
                  </a:ext>
                </a:extLst>
              </a:tr>
              <a:tr h="626053">
                <a:tc>
                  <a:txBody>
                    <a:bodyPr/>
                    <a:lstStyle/>
                    <a:p>
                      <a:r>
                        <a:rPr lang="en-US" sz="1000" dirty="0"/>
                        <a:t>QA-03</a:t>
                      </a:r>
                    </a:p>
                  </a:txBody>
                  <a:tcPr anchor="ctr">
                    <a:solidFill>
                      <a:schemeClr val="accent4">
                        <a:lumMod val="20000"/>
                        <a:lumOff val="80000"/>
                      </a:schemeClr>
                    </a:solidFill>
                  </a:tcPr>
                </a:tc>
                <a:tc>
                  <a:txBody>
                    <a:bodyPr/>
                    <a:lstStyle/>
                    <a:p>
                      <a:r>
                        <a:rPr lang="en-US" sz="1000" dirty="0"/>
                        <a:t>Scalability</a:t>
                      </a:r>
                    </a:p>
                  </a:txBody>
                  <a:tcPr anchor="ctr">
                    <a:solidFill>
                      <a:schemeClr val="accent4">
                        <a:lumMod val="20000"/>
                        <a:lumOff val="80000"/>
                      </a:schemeClr>
                    </a:solidFill>
                  </a:tcPr>
                </a:tc>
                <a:tc>
                  <a:txBody>
                    <a:bodyPr/>
                    <a:lstStyle/>
                    <a:p>
                      <a:r>
                        <a:rPr lang="ko-KR" altLang="en-US" sz="1000" dirty="0"/>
                        <a:t>시스템 확장성</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자원</a:t>
                      </a:r>
                      <a:r>
                        <a:rPr lang="ko-KR" altLang="en-US" sz="1000" baseline="0" dirty="0"/>
                        <a:t> 증가에 따른 처리량 증가 폭의 감소를 최소화해야 한다</a:t>
                      </a:r>
                      <a:r>
                        <a:rPr lang="en-US" altLang="ko-KR" sz="1000" baseline="0" dirty="0"/>
                        <a:t>. </a:t>
                      </a:r>
                      <a:endParaRPr lang="en-US" altLang="ko-KR" sz="1000" dirty="0"/>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Scaling Efficiency (</a:t>
                      </a:r>
                      <a:r>
                        <a:rPr lang="ko-KR" altLang="en-US" sz="1000" b="1" dirty="0"/>
                        <a:t>처리량 증가</a:t>
                      </a:r>
                      <a:r>
                        <a:rPr lang="ko-KR" altLang="en-US" sz="1000" b="1" baseline="0" dirty="0"/>
                        <a:t> 배율 </a:t>
                      </a:r>
                      <a:r>
                        <a:rPr lang="en-US" altLang="ko-KR" sz="1000" b="1" dirty="0"/>
                        <a:t>/ </a:t>
                      </a:r>
                      <a:r>
                        <a:rPr lang="ko-KR" altLang="en-US" sz="1000" b="1" dirty="0"/>
                        <a:t>자원 증가</a:t>
                      </a:r>
                      <a:r>
                        <a:rPr lang="ko-KR" altLang="en-US" sz="1000" b="1" baseline="0" dirty="0"/>
                        <a:t> 배율</a:t>
                      </a:r>
                      <a:r>
                        <a:rPr lang="en-US" altLang="ko-KR" sz="1000" b="1" dirty="0"/>
                        <a:t>) &gt; 80% (</a:t>
                      </a:r>
                      <a:r>
                        <a:rPr lang="ko-KR" altLang="en-US" sz="1000" b="1" dirty="0"/>
                        <a:t>문헌 보고 값</a:t>
                      </a:r>
                      <a:r>
                        <a:rPr lang="en-US" altLang="ko-KR" sz="1000" b="1" dirty="0"/>
                        <a:t>) ]</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M</a:t>
                      </a:r>
                    </a:p>
                  </a:txBody>
                  <a:tcPr anchor="ctr">
                    <a:solidFill>
                      <a:schemeClr val="accent4">
                        <a:lumMod val="20000"/>
                        <a:lumOff val="80000"/>
                      </a:schemeClr>
                    </a:solidFill>
                  </a:tcPr>
                </a:tc>
                <a:tc>
                  <a:txBody>
                    <a:bodyPr/>
                    <a:lstStyle/>
                    <a:p>
                      <a:r>
                        <a:rPr lang="en-US" altLang="ko-KR" sz="1000" dirty="0"/>
                        <a:t>4</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1522200776"/>
                  </a:ext>
                </a:extLst>
              </a:tr>
              <a:tr h="626053">
                <a:tc>
                  <a:txBody>
                    <a:bodyPr/>
                    <a:lstStyle/>
                    <a:p>
                      <a:r>
                        <a:rPr lang="en-US" sz="1000" dirty="0"/>
                        <a:t>QA-04</a:t>
                      </a:r>
                    </a:p>
                  </a:txBody>
                  <a:tcPr anchor="ctr">
                    <a:solidFill>
                      <a:schemeClr val="accent4">
                        <a:lumMod val="20000"/>
                        <a:lumOff val="80000"/>
                      </a:schemeClr>
                    </a:solidFill>
                  </a:tcPr>
                </a:tc>
                <a:tc>
                  <a:txBody>
                    <a:bodyPr/>
                    <a:lstStyle/>
                    <a:p>
                      <a:r>
                        <a:rPr lang="en-US" sz="1000" dirty="0"/>
                        <a:t>Modifiability</a:t>
                      </a:r>
                    </a:p>
                  </a:txBody>
                  <a:tcPr anchor="ctr">
                    <a:solidFill>
                      <a:schemeClr val="accent4">
                        <a:lumMod val="20000"/>
                        <a:lumOff val="80000"/>
                      </a:schemeClr>
                    </a:solidFill>
                  </a:tcPr>
                </a:tc>
                <a:tc>
                  <a:txBody>
                    <a:bodyPr/>
                    <a:lstStyle/>
                    <a:p>
                      <a:r>
                        <a:rPr lang="en-US" altLang="ko-KR" sz="1000" dirty="0"/>
                        <a:t>Device/</a:t>
                      </a:r>
                      <a:r>
                        <a:rPr lang="ko-KR" altLang="en-US" sz="1000" dirty="0"/>
                        <a:t>정책에 대한 변경 용이성</a:t>
                      </a:r>
                    </a:p>
                  </a:txBody>
                  <a:tcPr anchor="ctr">
                    <a:solidFill>
                      <a:schemeClr val="accent4">
                        <a:lumMod val="20000"/>
                        <a:lumOff val="80000"/>
                      </a:schemeClr>
                    </a:solidFill>
                  </a:tcPr>
                </a:tc>
                <a:tc>
                  <a:txBody>
                    <a:bodyPr/>
                    <a:lstStyle/>
                    <a:p>
                      <a:pPr>
                        <a:lnSpc>
                          <a:spcPct val="125000"/>
                        </a:lnSpc>
                      </a:pPr>
                      <a:r>
                        <a:rPr lang="ko-KR" altLang="en-US" sz="1000" dirty="0"/>
                        <a:t>새로운 메모리 </a:t>
                      </a:r>
                      <a:r>
                        <a:rPr lang="en-US" altLang="ko-KR" sz="1000" dirty="0"/>
                        <a:t>tier, </a:t>
                      </a:r>
                      <a:r>
                        <a:rPr lang="ko-KR" altLang="en-US" sz="1000" dirty="0"/>
                        <a:t>이동</a:t>
                      </a:r>
                      <a:r>
                        <a:rPr lang="en-US" altLang="ko-KR" sz="1000" dirty="0"/>
                        <a:t>·</a:t>
                      </a:r>
                      <a:r>
                        <a:rPr lang="ko-KR" altLang="en-US" sz="1000" dirty="0"/>
                        <a:t>배치 정책</a:t>
                      </a:r>
                      <a:r>
                        <a:rPr lang="en-US" altLang="ko-KR" sz="1000" dirty="0"/>
                        <a:t>, Upstream(</a:t>
                      </a:r>
                      <a:r>
                        <a:rPr lang="en-US" altLang="ko-KR" sz="1000" dirty="0" err="1"/>
                        <a:t>vLLM</a:t>
                      </a:r>
                      <a:r>
                        <a:rPr lang="en-US" altLang="ko-KR" sz="1000" dirty="0"/>
                        <a:t>)</a:t>
                      </a:r>
                      <a:r>
                        <a:rPr lang="ko-KR" altLang="en-US" sz="1000" dirty="0"/>
                        <a:t>이 변경될 </a:t>
                      </a:r>
                      <a:r>
                        <a:rPr lang="ko-KR" altLang="en-US" sz="1000" dirty="0" err="1"/>
                        <a:t>떄</a:t>
                      </a:r>
                      <a:r>
                        <a:rPr lang="ko-KR" altLang="en-US" sz="1000" dirty="0"/>
                        <a:t> </a:t>
                      </a:r>
                      <a:r>
                        <a:rPr lang="ko-KR" altLang="en-US" sz="1000" dirty="0" err="1"/>
                        <a:t>서빙</a:t>
                      </a:r>
                      <a:r>
                        <a:rPr lang="ko-KR" altLang="en-US" sz="1000" dirty="0"/>
                        <a:t> 경로에 미치는 변경 범위를 최소화하여 반영할 수 있어야 한다</a:t>
                      </a:r>
                      <a:r>
                        <a:rPr lang="en-US" altLang="ko-KR" sz="1000" dirty="0"/>
                        <a:t>. </a:t>
                      </a:r>
                      <a:br>
                        <a:rPr lang="en-US" altLang="ko-KR" sz="1000" dirty="0"/>
                      </a:br>
                      <a:r>
                        <a:rPr lang="en-US" altLang="ko-KR" sz="1000" b="1" dirty="0"/>
                        <a:t>[</a:t>
                      </a:r>
                      <a:r>
                        <a:rPr lang="ko-KR" altLang="en-US" sz="1000" b="1" dirty="0"/>
                        <a:t>측정</a:t>
                      </a:r>
                      <a:r>
                        <a:rPr lang="en-US" altLang="ko-KR" sz="1000" b="1" dirty="0"/>
                        <a:t>: </a:t>
                      </a:r>
                      <a:r>
                        <a:rPr lang="ko-KR" altLang="en-US" sz="1000" b="1" dirty="0"/>
                        <a:t>변경 모듈 </a:t>
                      </a:r>
                      <a:r>
                        <a:rPr lang="en-US" altLang="ko-KR" sz="1000" b="1" dirty="0"/>
                        <a:t>&lt; 5 </a:t>
                      </a:r>
                      <a:r>
                        <a:rPr lang="ko-KR" altLang="en-US" sz="1000" b="1" dirty="0"/>
                        <a:t>개 </a:t>
                      </a:r>
                      <a:r>
                        <a:rPr lang="en-US" altLang="ko-KR" sz="1000" b="1" dirty="0"/>
                        <a:t>]</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M</a:t>
                      </a:r>
                    </a:p>
                  </a:txBody>
                  <a:tcPr anchor="ctr">
                    <a:solidFill>
                      <a:schemeClr val="accent4">
                        <a:lumMod val="20000"/>
                        <a:lumOff val="80000"/>
                      </a:schemeClr>
                    </a:solidFill>
                  </a:tcPr>
                </a:tc>
                <a:tc>
                  <a:txBody>
                    <a:bodyPr/>
                    <a:lstStyle/>
                    <a:p>
                      <a:r>
                        <a:rPr lang="en-US" altLang="ko-KR" sz="1000" dirty="0"/>
                        <a:t>5</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626053">
                <a:tc>
                  <a:txBody>
                    <a:bodyPr/>
                    <a:lstStyle/>
                    <a:p>
                      <a:r>
                        <a:rPr lang="en-US" sz="1000" dirty="0"/>
                        <a:t>QA-05</a:t>
                      </a:r>
                    </a:p>
                  </a:txBody>
                  <a:tcPr anchor="ctr">
                    <a:solidFill>
                      <a:schemeClr val="accent4">
                        <a:lumMod val="20000"/>
                        <a:lumOff val="80000"/>
                      </a:schemeClr>
                    </a:solidFill>
                  </a:tcPr>
                </a:tc>
                <a:tc>
                  <a:txBody>
                    <a:bodyPr/>
                    <a:lstStyle/>
                    <a:p>
                      <a:pPr marL="0" algn="l" defTabSz="914400" rtl="0" eaLnBrk="1" latinLnBrk="1" hangingPunct="1"/>
                      <a:r>
                        <a:rPr lang="en-US" sz="1000" kern="1200" dirty="0">
                          <a:solidFill>
                            <a:schemeClr val="tx1"/>
                          </a:solidFill>
                          <a:latin typeface="+mn-lt"/>
                          <a:ea typeface="+mn-ea"/>
                          <a:cs typeface="+mn-cs"/>
                        </a:rPr>
                        <a:t>Functional </a:t>
                      </a:r>
                    </a:p>
                    <a:p>
                      <a:pPr marL="0" algn="l" defTabSz="914400" rtl="0" eaLnBrk="1" latinLnBrk="1" hangingPunct="1"/>
                      <a:r>
                        <a:rPr lang="en-US" sz="1000" kern="1200" dirty="0">
                          <a:solidFill>
                            <a:schemeClr val="tx1"/>
                          </a:solidFill>
                          <a:latin typeface="+mn-lt"/>
                          <a:ea typeface="+mn-ea"/>
                          <a:cs typeface="+mn-cs"/>
                        </a:rPr>
                        <a:t>Correctness</a:t>
                      </a:r>
                    </a:p>
                  </a:txBody>
                  <a:tcPr anchor="ctr">
                    <a:solidFill>
                      <a:schemeClr val="accent4">
                        <a:lumMod val="20000"/>
                        <a:lumOff val="80000"/>
                      </a:schemeClr>
                    </a:solidFill>
                  </a:tcPr>
                </a:tc>
                <a:tc>
                  <a:txBody>
                    <a:bodyPr/>
                    <a:lstStyle/>
                    <a:p>
                      <a:pPr marL="0" algn="l" defTabSz="914400" rtl="0" eaLnBrk="1" latinLnBrk="1" hangingPunct="1"/>
                      <a:r>
                        <a:rPr lang="ko-KR" altLang="en-US" sz="1000" kern="1200" dirty="0">
                          <a:solidFill>
                            <a:schemeClr val="tx1"/>
                          </a:solidFill>
                          <a:latin typeface="+mn-lt"/>
                          <a:ea typeface="+mn-ea"/>
                          <a:cs typeface="+mn-cs"/>
                        </a:rPr>
                        <a:t>추론 정확도</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dirty="0"/>
                        <a:t>KV</a:t>
                      </a:r>
                      <a:r>
                        <a:rPr lang="ko-KR" altLang="en-US" sz="1000" dirty="0"/>
                        <a:t>가 다른 메모리로 </a:t>
                      </a:r>
                      <a:r>
                        <a:rPr lang="ko-KR" altLang="en-US" sz="1000" dirty="0" smtClean="0"/>
                        <a:t>이동</a:t>
                      </a:r>
                      <a:r>
                        <a:rPr lang="en-US" altLang="ko-KR" sz="1000" dirty="0" smtClean="0"/>
                        <a:t>·</a:t>
                      </a:r>
                      <a:r>
                        <a:rPr lang="ko-KR" altLang="en-US" sz="1000" dirty="0" smtClean="0"/>
                        <a:t>복귀하거나 </a:t>
                      </a:r>
                      <a:r>
                        <a:rPr lang="ko-KR" altLang="en-US" sz="1000" dirty="0"/>
                        <a:t>재계산 경로로 대체되어도 추론 결과가 </a:t>
                      </a:r>
                      <a:r>
                        <a:rPr lang="en-US" altLang="ko-KR" sz="1000" dirty="0"/>
                        <a:t>Baseline(full recompute) </a:t>
                      </a:r>
                      <a:r>
                        <a:rPr lang="ko-KR" altLang="en-US" sz="1000" dirty="0"/>
                        <a:t>결과와 동등 수준이어야 한다</a:t>
                      </a:r>
                      <a:r>
                        <a:rPr lang="en-US" altLang="ko-KR" sz="1000" dirty="0"/>
                        <a:t>. </a:t>
                      </a:r>
                    </a:p>
                    <a:p>
                      <a:pPr>
                        <a:lnSpc>
                          <a:spcPct val="125000"/>
                        </a:lnSpc>
                      </a:pPr>
                      <a:r>
                        <a:rPr lang="en-US" altLang="ko-KR" sz="1000" b="1" dirty="0"/>
                        <a:t>[</a:t>
                      </a:r>
                      <a:r>
                        <a:rPr lang="ko-KR" altLang="en-US" sz="1000" b="1" dirty="0"/>
                        <a:t>측정</a:t>
                      </a:r>
                      <a:r>
                        <a:rPr lang="en-US" altLang="ko-KR" sz="1000" b="1" dirty="0"/>
                        <a:t>: LLM </a:t>
                      </a:r>
                      <a:r>
                        <a:rPr lang="ko-KR" altLang="en-US" sz="1000" b="1" dirty="0"/>
                        <a:t>출력 정확도 </a:t>
                      </a:r>
                      <a:r>
                        <a:rPr lang="en-US" altLang="ko-KR" sz="1000" b="1" dirty="0"/>
                        <a:t>(F1 Score) &lt; Baseline </a:t>
                      </a:r>
                      <a:r>
                        <a:rPr lang="ko-KR" altLang="en-US" sz="1000" b="1" dirty="0"/>
                        <a:t>대비 감소율 </a:t>
                      </a:r>
                      <a:r>
                        <a:rPr lang="en-US" altLang="ko-KR" sz="1000" b="1" dirty="0"/>
                        <a:t>3%] ]</a:t>
                      </a:r>
                    </a:p>
                  </a:txBody>
                  <a:tcPr anchor="ctr">
                    <a:solidFill>
                      <a:schemeClr val="accent4">
                        <a:lumMod val="20000"/>
                        <a:lumOff val="80000"/>
                      </a:schemeClr>
                    </a:solidFill>
                  </a:tcPr>
                </a:tc>
                <a:tc>
                  <a:txBody>
                    <a:bodyPr/>
                    <a:lstStyle/>
                    <a:p>
                      <a:endParaRPr lang="en-US" sz="1000" dirty="0"/>
                    </a:p>
                  </a:txBody>
                  <a:tcPr anchor="ctr">
                    <a:solidFill>
                      <a:schemeClr val="accent4">
                        <a:lumMod val="20000"/>
                        <a:lumOff val="80000"/>
                      </a:schemeClr>
                    </a:solidFill>
                  </a:tcPr>
                </a:tc>
                <a:tc>
                  <a:txBody>
                    <a:bodyPr/>
                    <a:lstStyle/>
                    <a:p>
                      <a:endParaRPr lang="en-US" sz="1000" dirty="0"/>
                    </a:p>
                  </a:txBody>
                  <a:tcPr anchor="ctr">
                    <a:solidFill>
                      <a:schemeClr val="accent4">
                        <a:lumMod val="20000"/>
                        <a:lumOff val="80000"/>
                      </a:schemeClr>
                    </a:solidFill>
                  </a:tcPr>
                </a:tc>
                <a:tc>
                  <a:txBody>
                    <a:bodyPr/>
                    <a:lstStyle/>
                    <a:p>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655547552"/>
                  </a:ext>
                </a:extLst>
              </a:tr>
              <a:tr h="626053">
                <a:tc>
                  <a:txBody>
                    <a:bodyPr/>
                    <a:lstStyle/>
                    <a:p>
                      <a:r>
                        <a:rPr lang="en-US" sz="1000" dirty="0"/>
                        <a:t>QA-06</a:t>
                      </a:r>
                    </a:p>
                  </a:txBody>
                  <a:tcPr anchor="ctr">
                    <a:solidFill>
                      <a:schemeClr val="bg1"/>
                    </a:solidFill>
                  </a:tcPr>
                </a:tc>
                <a:tc>
                  <a:txBody>
                    <a:bodyPr/>
                    <a:lstStyle/>
                    <a:p>
                      <a:r>
                        <a:rPr lang="en-US" sz="1000" dirty="0"/>
                        <a:t>Fault tolerance</a:t>
                      </a:r>
                    </a:p>
                  </a:txBody>
                  <a:tcPr anchor="ctr">
                    <a:solidFill>
                      <a:schemeClr val="bg1"/>
                    </a:solidFill>
                  </a:tcPr>
                </a:tc>
                <a:tc>
                  <a:txBody>
                    <a:bodyPr/>
                    <a:lstStyle/>
                    <a:p>
                      <a:r>
                        <a:rPr lang="ko-KR" altLang="en-US" sz="1000" dirty="0"/>
                        <a:t>전송</a:t>
                      </a:r>
                      <a:r>
                        <a:rPr lang="en-US" altLang="ko-KR" sz="1000" dirty="0"/>
                        <a:t>·offload </a:t>
                      </a:r>
                      <a:r>
                        <a:rPr lang="ko-KR" altLang="en-US" sz="1000" dirty="0"/>
                        <a:t>실패 대체</a:t>
                      </a:r>
                    </a:p>
                  </a:txBody>
                  <a:tcPr anchor="ctr">
                    <a:solidFill>
                      <a:schemeClr val="bg1"/>
                    </a:solidFill>
                  </a:tcPr>
                </a:tc>
                <a:tc>
                  <a:txBody>
                    <a:bodyPr/>
                    <a:lstStyle/>
                    <a:p>
                      <a:pPr>
                        <a:lnSpc>
                          <a:spcPct val="125000"/>
                        </a:lnSpc>
                      </a:pPr>
                      <a:r>
                        <a:rPr lang="en-US" altLang="ko-KR" sz="1000" b="0" dirty="0"/>
                        <a:t>KV </a:t>
                      </a:r>
                      <a:r>
                        <a:rPr lang="ko-KR" altLang="en-US" sz="1000" b="0" dirty="0"/>
                        <a:t>전송이나 </a:t>
                      </a:r>
                      <a:r>
                        <a:rPr lang="en-US" altLang="ko-KR" sz="1000" b="0" dirty="0"/>
                        <a:t>offload</a:t>
                      </a:r>
                      <a:r>
                        <a:rPr lang="ko-KR" altLang="en-US" sz="1000" b="0" dirty="0"/>
                        <a:t>가 실패하거나 시간 초과해도 재계산 등 대체 경로로 요청 처리를 이어가야 한다</a:t>
                      </a:r>
                      <a:r>
                        <a:rPr lang="en-US" altLang="ko-KR" sz="1000" b="0" dirty="0"/>
                        <a:t>.</a:t>
                      </a:r>
                      <a:br>
                        <a:rPr lang="en-US" altLang="ko-KR" sz="1000" b="0" dirty="0"/>
                      </a:br>
                      <a:r>
                        <a:rPr lang="en-US" altLang="ko-KR" sz="1000" b="0" dirty="0"/>
                        <a:t>[</a:t>
                      </a:r>
                      <a:r>
                        <a:rPr lang="ko-KR" altLang="en-US" sz="1000" b="0" dirty="0"/>
                        <a:t>측정</a:t>
                      </a:r>
                      <a:r>
                        <a:rPr lang="en-US" altLang="ko-KR" sz="1000" b="0" dirty="0"/>
                        <a:t>: fallback </a:t>
                      </a:r>
                      <a:r>
                        <a:rPr lang="ko-KR" altLang="en-US" sz="1000" b="0" dirty="0"/>
                        <a:t>성공률 </a:t>
                      </a:r>
                      <a:r>
                        <a:rPr lang="en-US" altLang="ko-KR" sz="1000" b="0" dirty="0"/>
                        <a:t>&gt; 99.9 ]</a:t>
                      </a:r>
                      <a:endParaRPr lang="ko-KR" altLang="en-US" sz="1000" b="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sz="1000" dirty="0"/>
                        <a:t>H</a:t>
                      </a:r>
                    </a:p>
                  </a:txBody>
                  <a:tcPr anchor="ctr">
                    <a:solidFill>
                      <a:schemeClr val="bg1"/>
                    </a:solidFill>
                  </a:tcPr>
                </a:tc>
                <a:tc>
                  <a:txBody>
                    <a:bodyPr/>
                    <a:lstStyle/>
                    <a:p>
                      <a:r>
                        <a:rPr lang="en-US" altLang="ko-KR" sz="1000" dirty="0"/>
                        <a:t>6</a:t>
                      </a:r>
                      <a:endParaRPr lang="ko-KR" altLang="en-US" sz="1000" dirty="0"/>
                    </a:p>
                  </a:txBody>
                  <a:tcPr anchor="ctr">
                    <a:solidFill>
                      <a:schemeClr val="bg1"/>
                    </a:solidFill>
                  </a:tcPr>
                </a:tc>
                <a:extLst>
                  <a:ext uri="{0D108BD9-81ED-4DB2-BD59-A6C34878D82A}">
                    <a16:rowId xmlns:a16="http://schemas.microsoft.com/office/drawing/2014/main" val="3774210047"/>
                  </a:ext>
                </a:extLst>
              </a:tr>
              <a:tr h="626053">
                <a:tc>
                  <a:txBody>
                    <a:bodyPr/>
                    <a:lstStyle/>
                    <a:p>
                      <a:r>
                        <a:rPr lang="en-US" sz="1000" dirty="0"/>
                        <a:t>QA-07</a:t>
                      </a:r>
                    </a:p>
                  </a:txBody>
                  <a:tcPr anchor="ctr">
                    <a:solidFill>
                      <a:schemeClr val="bg1"/>
                    </a:solidFill>
                  </a:tcPr>
                </a:tc>
                <a:tc>
                  <a:txBody>
                    <a:bodyPr/>
                    <a:lstStyle/>
                    <a:p>
                      <a:r>
                        <a:rPr lang="en-US" sz="1000" dirty="0" err="1"/>
                        <a:t>Analysability</a:t>
                      </a:r>
                      <a:endParaRPr lang="en-US" sz="1000" dirty="0"/>
                    </a:p>
                  </a:txBody>
                  <a:tcPr anchor="ctr">
                    <a:solidFill>
                      <a:schemeClr val="bg1"/>
                    </a:solidFill>
                  </a:tcPr>
                </a:tc>
                <a:tc>
                  <a:txBody>
                    <a:bodyPr/>
                    <a:lstStyle/>
                    <a:p>
                      <a:r>
                        <a:rPr lang="ko-KR" altLang="en-US" sz="1000" dirty="0"/>
                        <a:t>결정 근거 진단</a:t>
                      </a:r>
                    </a:p>
                  </a:txBody>
                  <a:tcPr anchor="ctr">
                    <a:solidFill>
                      <a:schemeClr val="bg1"/>
                    </a:solidFill>
                  </a:tcPr>
                </a:tc>
                <a:tc>
                  <a:txBody>
                    <a:bodyPr/>
                    <a:lstStyle/>
                    <a:p>
                      <a:r>
                        <a:rPr lang="ko-KR" altLang="en-US" sz="1000" b="0" dirty="0"/>
                        <a:t>이동</a:t>
                      </a:r>
                      <a:r>
                        <a:rPr lang="en-US" altLang="ko-KR" sz="1000" b="0" dirty="0"/>
                        <a:t>/</a:t>
                      </a:r>
                      <a:r>
                        <a:rPr lang="ko-KR" altLang="en-US" sz="1000" b="0" dirty="0"/>
                        <a:t>배치</a:t>
                      </a:r>
                      <a:r>
                        <a:rPr lang="en-US" altLang="ko-KR" sz="1000" b="0" dirty="0"/>
                        <a:t>,</a:t>
                      </a:r>
                      <a:r>
                        <a:rPr lang="en-US" altLang="ko-KR" sz="1000" b="0" baseline="0" dirty="0"/>
                        <a:t> </a:t>
                      </a:r>
                      <a:r>
                        <a:rPr lang="ko-KR" altLang="en-US" sz="1000" b="0" dirty="0"/>
                        <a:t>라우팅 결정이 기대와 다를 때 결정 입력과 근거 기록으로 원인을 찾을 수 있어야 한다</a:t>
                      </a:r>
                      <a:r>
                        <a:rPr lang="en-US" altLang="ko-KR" sz="1000" b="0" dirty="0"/>
                        <a:t>.</a:t>
                      </a:r>
                      <a:br>
                        <a:rPr lang="en-US" altLang="ko-KR" sz="1000" b="0" dirty="0"/>
                      </a:br>
                      <a:r>
                        <a:rPr lang="en-US" altLang="ko-KR" sz="1000" b="0" dirty="0">
                          <a:solidFill>
                            <a:srgbClr val="000000"/>
                          </a:solidFill>
                          <a:latin typeface="+mn-lt"/>
                        </a:rPr>
                        <a:t>[</a:t>
                      </a:r>
                      <a:r>
                        <a:rPr lang="ko-KR" altLang="en-US" sz="1000" b="0" dirty="0">
                          <a:solidFill>
                            <a:srgbClr val="000000"/>
                          </a:solidFill>
                          <a:latin typeface="+mn-lt"/>
                        </a:rPr>
                        <a:t>측정</a:t>
                      </a:r>
                      <a:r>
                        <a:rPr lang="en-US" altLang="ko-KR" sz="1000" b="0" dirty="0">
                          <a:solidFill>
                            <a:srgbClr val="000000"/>
                          </a:solidFill>
                          <a:latin typeface="+mn-lt"/>
                        </a:rPr>
                        <a:t>: </a:t>
                      </a:r>
                      <a:r>
                        <a:rPr lang="ko-KR" altLang="en-US" sz="1000" b="0" dirty="0">
                          <a:solidFill>
                            <a:srgbClr val="000000"/>
                          </a:solidFill>
                          <a:latin typeface="+mn-lt"/>
                        </a:rPr>
                        <a:t>원인 파악 시간 </a:t>
                      </a:r>
                      <a:r>
                        <a:rPr lang="en-US" altLang="ko-KR" sz="1000" b="0" dirty="0">
                          <a:solidFill>
                            <a:srgbClr val="000000"/>
                          </a:solidFill>
                          <a:latin typeface="+mn-lt"/>
                        </a:rPr>
                        <a:t>&lt; 1 </a:t>
                      </a:r>
                      <a:r>
                        <a:rPr lang="ko-KR" altLang="en-US" sz="1000" b="0" dirty="0">
                          <a:solidFill>
                            <a:srgbClr val="000000"/>
                          </a:solidFill>
                          <a:latin typeface="+mn-lt"/>
                        </a:rPr>
                        <a:t>시간 </a:t>
                      </a:r>
                      <a:r>
                        <a:rPr lang="en-US" altLang="ko-KR" sz="1000" b="0" dirty="0">
                          <a:solidFill>
                            <a:srgbClr val="000000"/>
                          </a:solidFill>
                          <a:latin typeface="+mn-lt"/>
                        </a:rPr>
                        <a:t>(</a:t>
                      </a:r>
                      <a:r>
                        <a:rPr lang="ko-KR" altLang="en-US" sz="1000" b="0" dirty="0">
                          <a:solidFill>
                            <a:srgbClr val="000000"/>
                          </a:solidFill>
                          <a:latin typeface="+mn-lt"/>
                        </a:rPr>
                        <a:t>개발자 </a:t>
                      </a:r>
                      <a:r>
                        <a:rPr lang="en-US" altLang="ko-KR" sz="1000" b="0" dirty="0">
                          <a:solidFill>
                            <a:srgbClr val="000000"/>
                          </a:solidFill>
                          <a:latin typeface="+mn-lt"/>
                        </a:rPr>
                        <a:t>1</a:t>
                      </a:r>
                      <a:r>
                        <a:rPr lang="ko-KR" altLang="en-US" sz="1000" b="0" dirty="0">
                          <a:solidFill>
                            <a:srgbClr val="000000"/>
                          </a:solidFill>
                          <a:latin typeface="+mn-lt"/>
                        </a:rPr>
                        <a:t>인</a:t>
                      </a:r>
                      <a:r>
                        <a:rPr lang="en-US" altLang="ko-KR" sz="1000" b="0" dirty="0">
                          <a:solidFill>
                            <a:srgbClr val="000000"/>
                          </a:solidFill>
                          <a:latin typeface="+mn-lt"/>
                        </a:rPr>
                        <a:t>, </a:t>
                      </a:r>
                      <a:r>
                        <a:rPr lang="ko-KR" altLang="en-US" sz="1000" b="0" dirty="0">
                          <a:solidFill>
                            <a:srgbClr val="000000"/>
                          </a:solidFill>
                          <a:latin typeface="+mn-lt"/>
                        </a:rPr>
                        <a:t>결정 </a:t>
                      </a:r>
                      <a:r>
                        <a:rPr lang="en-US" altLang="ko-KR" sz="1000" b="0" dirty="0">
                          <a:solidFill>
                            <a:srgbClr val="000000"/>
                          </a:solidFill>
                          <a:latin typeface="+mn-lt"/>
                        </a:rPr>
                        <a:t>1</a:t>
                      </a:r>
                      <a:r>
                        <a:rPr lang="ko-KR" altLang="en-US" sz="1000" b="0" dirty="0">
                          <a:solidFill>
                            <a:srgbClr val="000000"/>
                          </a:solidFill>
                          <a:latin typeface="+mn-lt"/>
                        </a:rPr>
                        <a:t>건 기준</a:t>
                      </a:r>
                      <a:r>
                        <a:rPr lang="en-US" altLang="ko-KR" sz="1000" b="0" dirty="0">
                          <a:solidFill>
                            <a:srgbClr val="000000"/>
                          </a:solidFill>
                          <a:latin typeface="+mn-lt"/>
                        </a:rPr>
                        <a:t>) ]</a:t>
                      </a:r>
                      <a:endParaRPr lang="ko-KR" altLang="en-US" sz="1000" b="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sz="1000" dirty="0"/>
                        <a:t>M</a:t>
                      </a:r>
                    </a:p>
                  </a:txBody>
                  <a:tcPr anchor="ctr">
                    <a:solidFill>
                      <a:schemeClr val="bg1"/>
                    </a:solidFill>
                  </a:tcPr>
                </a:tc>
                <a:tc>
                  <a:txBody>
                    <a:bodyPr/>
                    <a:lstStyle/>
                    <a:p>
                      <a:r>
                        <a:rPr lang="en-US" altLang="ko-KR" sz="1000" dirty="0"/>
                        <a:t>7</a:t>
                      </a:r>
                      <a:endParaRPr lang="ko-KR" altLang="en-US" sz="1000" dirty="0"/>
                    </a:p>
                  </a:txBody>
                  <a:tcPr anchor="ctr">
                    <a:solidFill>
                      <a:schemeClr val="bg1"/>
                    </a:solidFill>
                  </a:tcPr>
                </a:tc>
                <a:extLst>
                  <a:ext uri="{0D108BD9-81ED-4DB2-BD59-A6C34878D82A}">
                    <a16:rowId xmlns:a16="http://schemas.microsoft.com/office/drawing/2014/main" val="2197771220"/>
                  </a:ext>
                </a:extLst>
              </a:tr>
            </a:tbl>
          </a:graphicData>
        </a:graphic>
      </p:graphicFrame>
      <p:sp>
        <p:nvSpPr>
          <p:cNvPr id="21" name="실행 단추: 앞으로 또는 다음 3">
            <a:hlinkClick r:id="rId4" action="ppaction://hlinksldjump" highlightClick="1"/>
            <a:extLst>
              <a:ext uri="{FF2B5EF4-FFF2-40B4-BE49-F238E27FC236}">
                <a16:creationId xmlns:a16="http://schemas.microsoft.com/office/drawing/2014/main" id="{D0D1EB79-0F10-4C29-8756-3FFD242915BE}"/>
              </a:ext>
            </a:extLst>
          </p:cNvPr>
          <p:cNvSpPr/>
          <p:nvPr/>
        </p:nvSpPr>
        <p:spPr>
          <a:xfrm>
            <a:off x="1644905" y="1135612"/>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실행 단추: 앞으로 또는 다음 1">
            <a:hlinkClick r:id="rId5" action="ppaction://hlinksldjump" highlightClick="1"/>
            <a:extLst>
              <a:ext uri="{FF2B5EF4-FFF2-40B4-BE49-F238E27FC236}">
                <a16:creationId xmlns:a16="http://schemas.microsoft.com/office/drawing/2014/main" id="{B43A4CC6-3683-436B-940F-BD679BB1A116}"/>
              </a:ext>
            </a:extLst>
          </p:cNvPr>
          <p:cNvSpPr/>
          <p:nvPr/>
        </p:nvSpPr>
        <p:spPr>
          <a:xfrm>
            <a:off x="511126" y="1929263"/>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실행 단추: 앞으로 또는 다음 1">
            <a:hlinkClick r:id="rId6" action="ppaction://hlinksldjump" highlightClick="1"/>
            <a:extLst>
              <a:ext uri="{FF2B5EF4-FFF2-40B4-BE49-F238E27FC236}">
                <a16:creationId xmlns:a16="http://schemas.microsoft.com/office/drawing/2014/main" id="{B43A4CC6-3683-436B-940F-BD679BB1A116}"/>
              </a:ext>
            </a:extLst>
          </p:cNvPr>
          <p:cNvSpPr/>
          <p:nvPr/>
        </p:nvSpPr>
        <p:spPr>
          <a:xfrm>
            <a:off x="511126" y="275075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실행 단추: 앞으로 또는 다음 1">
            <a:hlinkClick r:id="rId7" action="ppaction://hlinksldjump" highlightClick="1"/>
            <a:extLst>
              <a:ext uri="{FF2B5EF4-FFF2-40B4-BE49-F238E27FC236}">
                <a16:creationId xmlns:a16="http://schemas.microsoft.com/office/drawing/2014/main" id="{B43A4CC6-3683-436B-940F-BD679BB1A116}"/>
              </a:ext>
            </a:extLst>
          </p:cNvPr>
          <p:cNvSpPr/>
          <p:nvPr/>
        </p:nvSpPr>
        <p:spPr>
          <a:xfrm>
            <a:off x="507023" y="341084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실행 단추: 앞으로 또는 다음 1">
            <a:hlinkClick r:id="rId8" action="ppaction://hlinksldjump" highlightClick="1"/>
            <a:extLst>
              <a:ext uri="{FF2B5EF4-FFF2-40B4-BE49-F238E27FC236}">
                <a16:creationId xmlns:a16="http://schemas.microsoft.com/office/drawing/2014/main" id="{B43A4CC6-3683-436B-940F-BD679BB1A116}"/>
              </a:ext>
            </a:extLst>
          </p:cNvPr>
          <p:cNvSpPr/>
          <p:nvPr/>
        </p:nvSpPr>
        <p:spPr>
          <a:xfrm>
            <a:off x="460640" y="4098186"/>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실행 단추: 앞으로 또는 다음 1">
            <a:hlinkClick r:id="rId9" action="ppaction://hlinksldjump" highlightClick="1"/>
            <a:extLst>
              <a:ext uri="{FF2B5EF4-FFF2-40B4-BE49-F238E27FC236}">
                <a16:creationId xmlns:a16="http://schemas.microsoft.com/office/drawing/2014/main" id="{B43A4CC6-3683-436B-940F-BD679BB1A116}"/>
              </a:ext>
            </a:extLst>
          </p:cNvPr>
          <p:cNvSpPr/>
          <p:nvPr/>
        </p:nvSpPr>
        <p:spPr>
          <a:xfrm>
            <a:off x="9889001" y="1147586"/>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TextBox 1">
            <a:extLst>
              <a:ext uri="{FF2B5EF4-FFF2-40B4-BE49-F238E27FC236}">
                <a16:creationId xmlns:a16="http://schemas.microsoft.com/office/drawing/2014/main" id="{4D49E20A-DDC8-4511-8B0B-3AB91A5F2863}"/>
              </a:ext>
            </a:extLst>
          </p:cNvPr>
          <p:cNvSpPr txBox="1"/>
          <p:nvPr/>
        </p:nvSpPr>
        <p:spPr>
          <a:xfrm>
            <a:off x="8210550" y="1135612"/>
            <a:ext cx="1678451" cy="215444"/>
          </a:xfrm>
          <a:prstGeom prst="rect">
            <a:avLst/>
          </a:prstGeom>
          <a:noFill/>
        </p:spPr>
        <p:txBody>
          <a:bodyPr wrap="square" rtlCol="0">
            <a:spAutoFit/>
          </a:bodyPr>
          <a:lstStyle/>
          <a:p>
            <a:pPr algn="ctr"/>
            <a:r>
              <a:rPr lang="en-US" altLang="ko-KR" sz="800" b="1" dirty="0">
                <a:solidFill>
                  <a:schemeClr val="bg1"/>
                </a:solidFill>
              </a:rPr>
              <a:t>SLO(Service</a:t>
            </a:r>
            <a:r>
              <a:rPr lang="ko-KR" altLang="en-US" sz="800" b="1" dirty="0">
                <a:solidFill>
                  <a:schemeClr val="bg1"/>
                </a:solidFill>
              </a:rPr>
              <a:t> </a:t>
            </a:r>
            <a:r>
              <a:rPr lang="en-US" altLang="ko-KR" sz="800" b="1" dirty="0">
                <a:solidFill>
                  <a:schemeClr val="bg1"/>
                </a:solidFill>
              </a:rPr>
              <a:t>Objective</a:t>
            </a:r>
            <a:r>
              <a:rPr lang="ko-KR" altLang="en-US" sz="800" b="1" dirty="0">
                <a:solidFill>
                  <a:schemeClr val="bg1"/>
                </a:solidFill>
              </a:rPr>
              <a:t> </a:t>
            </a:r>
            <a:r>
              <a:rPr lang="en-US" altLang="ko-KR" sz="800" b="1" dirty="0">
                <a:solidFill>
                  <a:schemeClr val="bg1"/>
                </a:solidFill>
              </a:rPr>
              <a:t>Object)</a:t>
            </a:r>
            <a:endParaRPr lang="ko-KR" altLang="en-US" sz="800" b="1" dirty="0">
              <a:solidFill>
                <a:schemeClr val="bg1"/>
              </a:solidFill>
            </a:endParaRPr>
          </a:p>
        </p:txBody>
      </p:sp>
      <p:sp>
        <p:nvSpPr>
          <p:cNvPr id="13" name="실행 단추: 앞으로 또는 다음 1">
            <a:hlinkClick r:id="rId10" action="ppaction://hlinksldjump" highlightClick="1"/>
            <a:extLst>
              <a:ext uri="{FF2B5EF4-FFF2-40B4-BE49-F238E27FC236}">
                <a16:creationId xmlns:a16="http://schemas.microsoft.com/office/drawing/2014/main" id="{31A8CA6E-A747-446C-89D9-0900B54E5631}"/>
              </a:ext>
            </a:extLst>
          </p:cNvPr>
          <p:cNvSpPr/>
          <p:nvPr/>
        </p:nvSpPr>
        <p:spPr>
          <a:xfrm>
            <a:off x="460640" y="474792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435805485"/>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91440"/>
            <a:ext cx="11521440" cy="457200"/>
          </a:xfrm>
          <a:prstGeom prst="rect">
            <a:avLst/>
          </a:prstGeom>
          <a:noFill/>
        </p:spPr>
        <p:txBody>
          <a:bodyPr wrap="square" lIns="73152" tIns="27432" rIns="73152" bIns="27432" anchor="ctr">
            <a:spAutoFit/>
          </a:bodyPr>
          <a:lstStyle/>
          <a:p>
            <a:pPr algn="l"/>
            <a:r>
              <a:rPr sz="2200" b="1" i="0" dirty="0" err="1">
                <a:solidFill>
                  <a:srgbClr val="000000"/>
                </a:solidFill>
                <a:latin typeface="맑은 고딕"/>
              </a:rPr>
              <a:t>주요</a:t>
            </a:r>
            <a:r>
              <a:rPr sz="2200" b="1" i="0" dirty="0">
                <a:solidFill>
                  <a:srgbClr val="000000"/>
                </a:solidFill>
                <a:latin typeface="맑은 고딕"/>
              </a:rPr>
              <a:t> </a:t>
            </a:r>
            <a:r>
              <a:rPr sz="2200" b="1" i="0" dirty="0" err="1">
                <a:solidFill>
                  <a:srgbClr val="000000"/>
                </a:solidFill>
                <a:latin typeface="맑은 고딕"/>
              </a:rPr>
              <a:t>기능</a:t>
            </a:r>
            <a:r>
              <a:rPr sz="2200" b="1" i="0" dirty="0">
                <a:solidFill>
                  <a:srgbClr val="000000"/>
                </a:solidFill>
                <a:latin typeface="맑은 고딕"/>
              </a:rPr>
              <a:t> </a:t>
            </a:r>
            <a:r>
              <a:rPr sz="2200" b="1" i="0" dirty="0" err="1">
                <a:solidFill>
                  <a:srgbClr val="000000"/>
                </a:solidFill>
                <a:latin typeface="맑은 고딕"/>
              </a:rPr>
              <a:t>요구사항</a:t>
            </a:r>
            <a:r>
              <a:rPr sz="2200" b="1" i="0" dirty="0">
                <a:solidFill>
                  <a:srgbClr val="000000"/>
                </a:solidFill>
                <a:latin typeface="맑은 고딕"/>
              </a:rPr>
              <a:t> 및 </a:t>
            </a:r>
            <a:r>
              <a:rPr sz="2200" b="1" i="0" dirty="0" err="1">
                <a:solidFill>
                  <a:srgbClr val="000000"/>
                </a:solidFill>
                <a:latin typeface="맑은 고딕"/>
              </a:rPr>
              <a:t>제약사항</a:t>
            </a:r>
            <a:endParaRPr sz="2200" b="1" i="0" dirty="0">
              <a:solidFill>
                <a:srgbClr val="000000"/>
              </a:solidFill>
              <a:latin typeface="맑은 고딕"/>
            </a:endParaRPr>
          </a:p>
        </p:txBody>
      </p:sp>
      <p:sp>
        <p:nvSpPr>
          <p:cNvPr id="5" name="Rectangle 4"/>
          <p:cNvSpPr/>
          <p:nvPr/>
        </p:nvSpPr>
        <p:spPr>
          <a:xfrm>
            <a:off x="265175" y="1360639"/>
            <a:ext cx="11588157"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03503" y="1360639"/>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30936" y="1378927"/>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FR01</a:t>
            </a:r>
          </a:p>
        </p:txBody>
      </p:sp>
      <p:sp>
        <p:nvSpPr>
          <p:cNvPr id="9" name="Rectangle 8"/>
          <p:cNvSpPr/>
          <p:nvPr/>
        </p:nvSpPr>
        <p:spPr>
          <a:xfrm>
            <a:off x="265175" y="1890991"/>
            <a:ext cx="11588157"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3503" y="1890991"/>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30936" y="1909279"/>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FR02</a:t>
            </a:r>
          </a:p>
        </p:txBody>
      </p:sp>
      <p:sp>
        <p:nvSpPr>
          <p:cNvPr id="12" name="TextBox 11"/>
          <p:cNvSpPr txBox="1"/>
          <p:nvPr/>
        </p:nvSpPr>
        <p:spPr>
          <a:xfrm>
            <a:off x="1179575" y="1482231"/>
            <a:ext cx="6093291" cy="206210"/>
          </a:xfrm>
          <a:prstGeom prst="rect">
            <a:avLst/>
          </a:prstGeom>
          <a:noFill/>
        </p:spPr>
        <p:txBody>
          <a:bodyPr wrap="square" lIns="36576" tIns="18288" rIns="36576" bIns="18288" anchor="ctr">
            <a:spAutoFit/>
          </a:bodyPr>
          <a:lstStyle/>
          <a:p>
            <a:r>
              <a:rPr lang="en-US" altLang="ko-KR" sz="1100" b="1" dirty="0">
                <a:solidFill>
                  <a:srgbClr val="000000"/>
                </a:solidFill>
              </a:rPr>
              <a:t>LLM </a:t>
            </a:r>
            <a:r>
              <a:rPr lang="ko-KR" altLang="en-US" sz="1100" b="1" dirty="0">
                <a:solidFill>
                  <a:srgbClr val="000000"/>
                </a:solidFill>
              </a:rPr>
              <a:t>추론 요청을 수신하고</a:t>
            </a:r>
            <a:r>
              <a:rPr lang="en-US" altLang="ko-KR" sz="1100" b="1" dirty="0">
                <a:solidFill>
                  <a:srgbClr val="000000"/>
                </a:solidFill>
              </a:rPr>
              <a:t>, </a:t>
            </a:r>
            <a:r>
              <a:rPr lang="ko-KR" altLang="en-US" sz="1100" b="1" dirty="0" err="1">
                <a:solidFill>
                  <a:srgbClr val="000000"/>
                </a:solidFill>
              </a:rPr>
              <a:t>요청별</a:t>
            </a:r>
            <a:r>
              <a:rPr lang="ko-KR" altLang="en-US" sz="1100" b="1" dirty="0">
                <a:solidFill>
                  <a:srgbClr val="000000"/>
                </a:solidFill>
              </a:rPr>
              <a:t> 입력 및 실행 상태를 관리한다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13" name="Rectangle 12"/>
          <p:cNvSpPr/>
          <p:nvPr/>
        </p:nvSpPr>
        <p:spPr>
          <a:xfrm>
            <a:off x="265176" y="2421342"/>
            <a:ext cx="11588156"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03503" y="2421342"/>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30936" y="2439630"/>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FR03</a:t>
            </a:r>
          </a:p>
        </p:txBody>
      </p:sp>
      <p:sp>
        <p:nvSpPr>
          <p:cNvPr id="17" name="Rectangle 16"/>
          <p:cNvSpPr/>
          <p:nvPr/>
        </p:nvSpPr>
        <p:spPr>
          <a:xfrm>
            <a:off x="265176" y="2951694"/>
            <a:ext cx="11588156" cy="457200"/>
          </a:xfrm>
          <a:prstGeom prst="rect">
            <a:avLst/>
          </a:prstGeom>
          <a:solidFill>
            <a:srgbClr val="DEEBF6"/>
          </a:solidFill>
          <a:ln w="28575">
            <a:solidFill>
              <a:srgbClr val="1E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3503" y="2951694"/>
            <a:ext cx="457200" cy="457200"/>
          </a:xfrm>
          <a:prstGeom prst="rect">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30936" y="2969982"/>
            <a:ext cx="420624" cy="420624"/>
          </a:xfrm>
          <a:prstGeom prst="ellipse">
            <a:avLst/>
          </a:prstGeom>
          <a:solidFill>
            <a:srgbClr val="1E4E79"/>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b="1" i="0">
                <a:solidFill>
                  <a:srgbClr val="FFFFFF"/>
                </a:solidFill>
                <a:latin typeface="맑은 고딕"/>
              </a:rPr>
              <a:t>FR04</a:t>
            </a:r>
          </a:p>
        </p:txBody>
      </p:sp>
      <p:sp>
        <p:nvSpPr>
          <p:cNvPr id="24" name="TextBox 23"/>
          <p:cNvSpPr txBox="1"/>
          <p:nvPr/>
        </p:nvSpPr>
        <p:spPr>
          <a:xfrm>
            <a:off x="1179576" y="2015771"/>
            <a:ext cx="7265924" cy="206210"/>
          </a:xfrm>
          <a:prstGeom prst="rect">
            <a:avLst/>
          </a:prstGeom>
          <a:noFill/>
        </p:spPr>
        <p:txBody>
          <a:bodyPr wrap="square" lIns="36576" tIns="18288" rIns="36576" bIns="18288" anchor="ctr">
            <a:spAutoFit/>
          </a:bodyPr>
          <a:lstStyle/>
          <a:p>
            <a:r>
              <a:rPr lang="ko-KR" altLang="en-US" sz="1100" b="1" dirty="0">
                <a:solidFill>
                  <a:srgbClr val="000000"/>
                </a:solidFill>
              </a:rPr>
              <a:t>다중 요청의 실행 순서와 </a:t>
            </a:r>
            <a:r>
              <a:rPr lang="ko-KR" altLang="en-US" sz="1100" b="1" dirty="0" err="1">
                <a:solidFill>
                  <a:srgbClr val="000000"/>
                </a:solidFill>
              </a:rPr>
              <a:t>배칭을</a:t>
            </a:r>
            <a:r>
              <a:rPr lang="ko-KR" altLang="en-US" sz="1100" b="1" dirty="0">
                <a:solidFill>
                  <a:srgbClr val="000000"/>
                </a:solidFill>
              </a:rPr>
              <a:t> 결정하고</a:t>
            </a:r>
            <a:r>
              <a:rPr lang="en-US" altLang="ko-KR" sz="1100" b="1" dirty="0">
                <a:solidFill>
                  <a:srgbClr val="000000"/>
                </a:solidFill>
              </a:rPr>
              <a:t>, </a:t>
            </a:r>
            <a:r>
              <a:rPr lang="ko-KR" altLang="en-US" sz="1100" b="1" dirty="0">
                <a:solidFill>
                  <a:srgbClr val="000000"/>
                </a:solidFill>
              </a:rPr>
              <a:t>가용 연산 자원에 작업을 할당하여 실행 시점을 조정</a:t>
            </a:r>
            <a:r>
              <a:rPr lang="en-US" altLang="ko-KR" sz="1100" b="1" dirty="0">
                <a:solidFill>
                  <a:srgbClr val="000000"/>
                </a:solidFill>
              </a:rPr>
              <a:t>(</a:t>
            </a:r>
            <a:r>
              <a:rPr lang="ko-KR" altLang="en-US" sz="1100" b="1" dirty="0">
                <a:solidFill>
                  <a:srgbClr val="000000"/>
                </a:solidFill>
              </a:rPr>
              <a:t>스케줄링</a:t>
            </a:r>
            <a:r>
              <a:rPr lang="en-US" altLang="ko-KR" sz="1100" b="1" dirty="0">
                <a:solidFill>
                  <a:srgbClr val="000000"/>
                </a:solidFill>
              </a:rPr>
              <a:t>)</a:t>
            </a:r>
            <a:r>
              <a:rPr lang="ko-KR" altLang="en-US" sz="1100" b="1" dirty="0">
                <a:solidFill>
                  <a:srgbClr val="000000"/>
                </a:solidFill>
              </a:rPr>
              <a:t>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75" name="TextBox 74">
            <a:extLst>
              <a:ext uri="{FF2B5EF4-FFF2-40B4-BE49-F238E27FC236}">
                <a16:creationId xmlns:a16="http://schemas.microsoft.com/office/drawing/2014/main" id="{FD39D4B0-244F-4FC9-B93F-DC6D352A79F4}"/>
              </a:ext>
            </a:extLst>
          </p:cNvPr>
          <p:cNvSpPr txBox="1"/>
          <p:nvPr/>
        </p:nvSpPr>
        <p:spPr>
          <a:xfrm>
            <a:off x="8144933" y="1460530"/>
            <a:ext cx="3708399" cy="261610"/>
          </a:xfrm>
          <a:prstGeom prst="rect">
            <a:avLst/>
          </a:prstGeom>
          <a:noFill/>
        </p:spPr>
        <p:txBody>
          <a:bodyPr wrap="square" rtlCol="0">
            <a:spAutoFit/>
          </a:bodyPr>
          <a:lstStyle/>
          <a:p>
            <a:pPr algn="r"/>
            <a:r>
              <a:rPr lang="en-US" altLang="ko-KR" sz="1100" dirty="0"/>
              <a:t>* </a:t>
            </a:r>
            <a:r>
              <a:rPr lang="ko-KR" altLang="en-US" sz="1100" dirty="0"/>
              <a:t>추론 요청 관리</a:t>
            </a:r>
          </a:p>
        </p:txBody>
      </p:sp>
      <p:sp>
        <p:nvSpPr>
          <p:cNvPr id="78" name="TextBox 77">
            <a:extLst>
              <a:ext uri="{FF2B5EF4-FFF2-40B4-BE49-F238E27FC236}">
                <a16:creationId xmlns:a16="http://schemas.microsoft.com/office/drawing/2014/main" id="{C8A3B323-AAEE-473A-AF1A-0D606D76FEB4}"/>
              </a:ext>
            </a:extLst>
          </p:cNvPr>
          <p:cNvSpPr txBox="1"/>
          <p:nvPr/>
        </p:nvSpPr>
        <p:spPr>
          <a:xfrm>
            <a:off x="5046133" y="1991636"/>
            <a:ext cx="6807199" cy="261610"/>
          </a:xfrm>
          <a:prstGeom prst="rect">
            <a:avLst/>
          </a:prstGeom>
          <a:noFill/>
        </p:spPr>
        <p:txBody>
          <a:bodyPr wrap="square" rtlCol="0">
            <a:spAutoFit/>
          </a:bodyPr>
          <a:lstStyle/>
          <a:p>
            <a:pPr algn="r"/>
            <a:r>
              <a:rPr lang="en-US" altLang="ko-KR" sz="1100" dirty="0"/>
              <a:t>* </a:t>
            </a:r>
            <a:r>
              <a:rPr lang="ko-KR" altLang="en-US" sz="1100" dirty="0"/>
              <a:t>추론 스케줄링</a:t>
            </a:r>
          </a:p>
        </p:txBody>
      </p:sp>
      <p:sp>
        <p:nvSpPr>
          <p:cNvPr id="79" name="Rectangle 45">
            <a:extLst>
              <a:ext uri="{FF2B5EF4-FFF2-40B4-BE49-F238E27FC236}">
                <a16:creationId xmlns:a16="http://schemas.microsoft.com/office/drawing/2014/main" id="{3FCA8F25-63F1-47C2-AF65-DF75850C1EA1}"/>
              </a:ext>
            </a:extLst>
          </p:cNvPr>
          <p:cNvSpPr/>
          <p:nvPr/>
        </p:nvSpPr>
        <p:spPr>
          <a:xfrm>
            <a:off x="218102" y="4813596"/>
            <a:ext cx="11615588" cy="480902"/>
          </a:xfrm>
          <a:prstGeom prst="rect">
            <a:avLst/>
          </a:prstGeom>
          <a:solidFill>
            <a:srgbClr val="E2EFD9"/>
          </a:solidFill>
          <a:ln w="2857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46">
            <a:extLst>
              <a:ext uri="{FF2B5EF4-FFF2-40B4-BE49-F238E27FC236}">
                <a16:creationId xmlns:a16="http://schemas.microsoft.com/office/drawing/2014/main" id="{D28FE1C4-816C-4972-B17F-633272FB8ED7}"/>
              </a:ext>
            </a:extLst>
          </p:cNvPr>
          <p:cNvSpPr/>
          <p:nvPr/>
        </p:nvSpPr>
        <p:spPr>
          <a:xfrm>
            <a:off x="556430" y="4813596"/>
            <a:ext cx="640080" cy="480902"/>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47">
            <a:extLst>
              <a:ext uri="{FF2B5EF4-FFF2-40B4-BE49-F238E27FC236}">
                <a16:creationId xmlns:a16="http://schemas.microsoft.com/office/drawing/2014/main" id="{6441E98F-EA5F-4518-BA2F-8B9E7D52008A}"/>
              </a:ext>
            </a:extLst>
          </p:cNvPr>
          <p:cNvSpPr/>
          <p:nvPr/>
        </p:nvSpPr>
        <p:spPr>
          <a:xfrm>
            <a:off x="583862" y="4827336"/>
            <a:ext cx="603503" cy="453421"/>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i="0">
                <a:solidFill>
                  <a:srgbClr val="FFFFFF"/>
                </a:solidFill>
                <a:latin typeface="맑은 고딕"/>
              </a:rPr>
              <a:t>C01</a:t>
            </a:r>
          </a:p>
        </p:txBody>
      </p:sp>
      <p:sp>
        <p:nvSpPr>
          <p:cNvPr id="82" name="TextBox 81">
            <a:extLst>
              <a:ext uri="{FF2B5EF4-FFF2-40B4-BE49-F238E27FC236}">
                <a16:creationId xmlns:a16="http://schemas.microsoft.com/office/drawing/2014/main" id="{AD5A7070-27AE-4C35-BBA5-133CB01EB5CD}"/>
              </a:ext>
            </a:extLst>
          </p:cNvPr>
          <p:cNvSpPr txBox="1"/>
          <p:nvPr/>
        </p:nvSpPr>
        <p:spPr>
          <a:xfrm>
            <a:off x="1315381" y="4954789"/>
            <a:ext cx="7540751" cy="198516"/>
          </a:xfrm>
          <a:prstGeom prst="rect">
            <a:avLst/>
          </a:prstGeom>
          <a:noFill/>
        </p:spPr>
        <p:txBody>
          <a:bodyPr wrap="square" lIns="36576" tIns="18288" rIns="36576" bIns="18288" anchor="ctr">
            <a:spAutoFit/>
          </a:bodyPr>
          <a:lstStyle/>
          <a:p>
            <a:r>
              <a:rPr lang="en-US" altLang="ko-KR" sz="1050" b="1" dirty="0" err="1"/>
              <a:t>vLLM</a:t>
            </a:r>
            <a:r>
              <a:rPr lang="en-US" altLang="ko-KR" sz="1050" b="1" dirty="0"/>
              <a:t> </a:t>
            </a:r>
            <a:r>
              <a:rPr lang="ko-KR" altLang="en-US" sz="1050" b="1" dirty="0" err="1"/>
              <a:t>서빙</a:t>
            </a:r>
            <a:r>
              <a:rPr lang="ko-KR" altLang="en-US" sz="1050" b="1" dirty="0"/>
              <a:t> </a:t>
            </a:r>
            <a:r>
              <a:rPr lang="en-US" altLang="ko-KR" sz="1050" b="1" dirty="0"/>
              <a:t>Framework </a:t>
            </a:r>
            <a:r>
              <a:rPr lang="ko-KR" altLang="en-US" sz="1050" b="1" dirty="0"/>
              <a:t>기반으로 개발한다</a:t>
            </a:r>
            <a:r>
              <a:rPr lang="en-US" altLang="ko-KR" sz="1050" b="1" dirty="0"/>
              <a:t> </a:t>
            </a:r>
            <a:endParaRPr lang="en-US" altLang="ko-KR" sz="1050" b="1" i="0" dirty="0"/>
          </a:p>
        </p:txBody>
      </p:sp>
      <p:sp>
        <p:nvSpPr>
          <p:cNvPr id="107" name="TextBox 106">
            <a:extLst>
              <a:ext uri="{FF2B5EF4-FFF2-40B4-BE49-F238E27FC236}">
                <a16:creationId xmlns:a16="http://schemas.microsoft.com/office/drawing/2014/main" id="{2004FE08-1DEE-45B4-9CF1-EF975F110581}"/>
              </a:ext>
            </a:extLst>
          </p:cNvPr>
          <p:cNvSpPr txBox="1"/>
          <p:nvPr/>
        </p:nvSpPr>
        <p:spPr>
          <a:xfrm>
            <a:off x="197339" y="921031"/>
            <a:ext cx="1852402" cy="400110"/>
          </a:xfrm>
          <a:prstGeom prst="rect">
            <a:avLst/>
          </a:prstGeom>
          <a:noFill/>
        </p:spPr>
        <p:txBody>
          <a:bodyPr wrap="square" rtlCol="0">
            <a:spAutoFit/>
          </a:bodyPr>
          <a:lstStyle/>
          <a:p>
            <a:r>
              <a:rPr lang="ko-KR" altLang="en-US" sz="2000" b="1" dirty="0">
                <a:solidFill>
                  <a:schemeClr val="accent5">
                    <a:lumMod val="50000"/>
                  </a:schemeClr>
                </a:solidFill>
              </a:rPr>
              <a:t>기능 요구사항</a:t>
            </a:r>
          </a:p>
        </p:txBody>
      </p:sp>
      <p:sp>
        <p:nvSpPr>
          <p:cNvPr id="108" name="TextBox 107">
            <a:extLst>
              <a:ext uri="{FF2B5EF4-FFF2-40B4-BE49-F238E27FC236}">
                <a16:creationId xmlns:a16="http://schemas.microsoft.com/office/drawing/2014/main" id="{A646E41B-0C2D-4C16-B4E0-E14283A0EF12}"/>
              </a:ext>
            </a:extLst>
          </p:cNvPr>
          <p:cNvSpPr txBox="1"/>
          <p:nvPr/>
        </p:nvSpPr>
        <p:spPr>
          <a:xfrm>
            <a:off x="218102" y="4352692"/>
            <a:ext cx="1852402" cy="400110"/>
          </a:xfrm>
          <a:prstGeom prst="rect">
            <a:avLst/>
          </a:prstGeom>
          <a:noFill/>
        </p:spPr>
        <p:txBody>
          <a:bodyPr wrap="square" rtlCol="0">
            <a:spAutoFit/>
          </a:bodyPr>
          <a:lstStyle/>
          <a:p>
            <a:r>
              <a:rPr lang="ko-KR" altLang="en-US" sz="2000" b="1" dirty="0">
                <a:solidFill>
                  <a:schemeClr val="accent6">
                    <a:lumMod val="50000"/>
                  </a:schemeClr>
                </a:solidFill>
              </a:rPr>
              <a:t>제약사항</a:t>
            </a:r>
          </a:p>
        </p:txBody>
      </p:sp>
      <p:sp>
        <p:nvSpPr>
          <p:cNvPr id="139" name="TextBox 138">
            <a:extLst>
              <a:ext uri="{FF2B5EF4-FFF2-40B4-BE49-F238E27FC236}">
                <a16:creationId xmlns:a16="http://schemas.microsoft.com/office/drawing/2014/main" id="{03D20420-D68B-4666-B110-11317DEE246D}"/>
              </a:ext>
            </a:extLst>
          </p:cNvPr>
          <p:cNvSpPr txBox="1"/>
          <p:nvPr/>
        </p:nvSpPr>
        <p:spPr>
          <a:xfrm>
            <a:off x="1179576" y="2570535"/>
            <a:ext cx="6834124" cy="206210"/>
          </a:xfrm>
          <a:prstGeom prst="rect">
            <a:avLst/>
          </a:prstGeom>
          <a:noFill/>
        </p:spPr>
        <p:txBody>
          <a:bodyPr wrap="square" lIns="36576" tIns="18288" rIns="36576" bIns="18288" anchor="ctr">
            <a:spAutoFit/>
          </a:bodyPr>
          <a:lstStyle/>
          <a:p>
            <a:r>
              <a:rPr lang="en-US" altLang="ko-KR" sz="1100" b="1" dirty="0">
                <a:solidFill>
                  <a:srgbClr val="000000"/>
                </a:solidFill>
              </a:rPr>
              <a:t>LLM </a:t>
            </a:r>
            <a:r>
              <a:rPr lang="ko-KR" altLang="en-US" sz="1100" b="1" dirty="0">
                <a:solidFill>
                  <a:srgbClr val="000000"/>
                </a:solidFill>
              </a:rPr>
              <a:t>모델을 실행하여 입력에 대한</a:t>
            </a:r>
            <a:r>
              <a:rPr lang="en-US" altLang="ko-KR" sz="1100" b="1" dirty="0">
                <a:solidFill>
                  <a:srgbClr val="000000"/>
                </a:solidFill>
              </a:rPr>
              <a:t> </a:t>
            </a:r>
            <a:r>
              <a:rPr lang="ko-KR" altLang="en-US" sz="1100" b="1" dirty="0">
                <a:solidFill>
                  <a:srgbClr val="000000"/>
                </a:solidFill>
              </a:rPr>
              <a:t>연산을 수행하고 출력 토큰을 생성한다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140" name="TextBox 139">
            <a:extLst>
              <a:ext uri="{FF2B5EF4-FFF2-40B4-BE49-F238E27FC236}">
                <a16:creationId xmlns:a16="http://schemas.microsoft.com/office/drawing/2014/main" id="{31461643-C2FA-4E83-9270-39C3F56B508A}"/>
              </a:ext>
            </a:extLst>
          </p:cNvPr>
          <p:cNvSpPr txBox="1"/>
          <p:nvPr/>
        </p:nvSpPr>
        <p:spPr>
          <a:xfrm>
            <a:off x="5046133" y="2532478"/>
            <a:ext cx="6807199" cy="261610"/>
          </a:xfrm>
          <a:prstGeom prst="rect">
            <a:avLst/>
          </a:prstGeom>
          <a:noFill/>
        </p:spPr>
        <p:txBody>
          <a:bodyPr wrap="square" rtlCol="0">
            <a:spAutoFit/>
          </a:bodyPr>
          <a:lstStyle/>
          <a:p>
            <a:pPr algn="r"/>
            <a:r>
              <a:rPr lang="en-US" altLang="ko-KR" sz="1100" dirty="0"/>
              <a:t>* LLM </a:t>
            </a:r>
            <a:r>
              <a:rPr lang="ko-KR" altLang="en-US" sz="1100" dirty="0"/>
              <a:t>추론 실행</a:t>
            </a:r>
          </a:p>
        </p:txBody>
      </p:sp>
      <p:sp>
        <p:nvSpPr>
          <p:cNvPr id="141" name="TextBox 140">
            <a:extLst>
              <a:ext uri="{FF2B5EF4-FFF2-40B4-BE49-F238E27FC236}">
                <a16:creationId xmlns:a16="http://schemas.microsoft.com/office/drawing/2014/main" id="{721E31D8-0D3C-4FBD-9B1A-AF55B77A1FD7}"/>
              </a:ext>
            </a:extLst>
          </p:cNvPr>
          <p:cNvSpPr txBox="1"/>
          <p:nvPr/>
        </p:nvSpPr>
        <p:spPr>
          <a:xfrm>
            <a:off x="1179576" y="3077572"/>
            <a:ext cx="4846320" cy="206210"/>
          </a:xfrm>
          <a:prstGeom prst="rect">
            <a:avLst/>
          </a:prstGeom>
          <a:noFill/>
        </p:spPr>
        <p:txBody>
          <a:bodyPr wrap="square" lIns="36576" tIns="18288" rIns="36576" bIns="18288" anchor="ctr">
            <a:spAutoFit/>
          </a:bodyPr>
          <a:lstStyle/>
          <a:p>
            <a:r>
              <a:rPr lang="ko-KR" altLang="en-US" sz="1100" b="1" dirty="0">
                <a:solidFill>
                  <a:srgbClr val="000000"/>
                </a:solidFill>
              </a:rPr>
              <a:t>추론 과정에서 생성되는 </a:t>
            </a:r>
            <a:r>
              <a:rPr lang="en-US" altLang="ko-KR" sz="1100" b="1" dirty="0">
                <a:solidFill>
                  <a:srgbClr val="000000"/>
                </a:solidFill>
              </a:rPr>
              <a:t>KV </a:t>
            </a:r>
            <a:r>
              <a:rPr lang="ko-KR" altLang="en-US" sz="1100" b="1" dirty="0">
                <a:solidFill>
                  <a:srgbClr val="000000"/>
                </a:solidFill>
              </a:rPr>
              <a:t>캐시를 할당</a:t>
            </a:r>
            <a:r>
              <a:rPr lang="en-US" altLang="ko-KR" sz="1100" b="1" dirty="0">
                <a:solidFill>
                  <a:srgbClr val="000000"/>
                </a:solidFill>
              </a:rPr>
              <a:t>, </a:t>
            </a:r>
            <a:r>
              <a:rPr lang="ko-KR" altLang="en-US" sz="1100" b="1" dirty="0">
                <a:solidFill>
                  <a:srgbClr val="000000"/>
                </a:solidFill>
              </a:rPr>
              <a:t>저장</a:t>
            </a:r>
            <a:r>
              <a:rPr lang="en-US" altLang="ko-KR" sz="1100" b="1" dirty="0">
                <a:solidFill>
                  <a:srgbClr val="000000"/>
                </a:solidFill>
              </a:rPr>
              <a:t>, </a:t>
            </a:r>
            <a:r>
              <a:rPr lang="ko-KR" altLang="en-US" sz="1100" b="1" dirty="0">
                <a:solidFill>
                  <a:srgbClr val="000000"/>
                </a:solidFill>
              </a:rPr>
              <a:t>재사용 및 해제한다</a:t>
            </a:r>
            <a:r>
              <a:rPr lang="en-US" altLang="ko-KR" sz="1100" b="1" dirty="0">
                <a:solidFill>
                  <a:srgbClr val="000000"/>
                </a:solidFill>
              </a:rPr>
              <a:t>.</a:t>
            </a:r>
            <a:endParaRPr lang="ko-KR" altLang="en-US" sz="1100" b="1" i="0" dirty="0">
              <a:solidFill>
                <a:srgbClr val="000000"/>
              </a:solidFill>
              <a:latin typeface="맑은 고딕"/>
            </a:endParaRPr>
          </a:p>
        </p:txBody>
      </p:sp>
      <p:sp>
        <p:nvSpPr>
          <p:cNvPr id="142" name="TextBox 141">
            <a:extLst>
              <a:ext uri="{FF2B5EF4-FFF2-40B4-BE49-F238E27FC236}">
                <a16:creationId xmlns:a16="http://schemas.microsoft.com/office/drawing/2014/main" id="{3E03050F-1B33-4E51-B626-E954EE61AD7F}"/>
              </a:ext>
            </a:extLst>
          </p:cNvPr>
          <p:cNvSpPr txBox="1"/>
          <p:nvPr/>
        </p:nvSpPr>
        <p:spPr>
          <a:xfrm>
            <a:off x="5046133" y="3058684"/>
            <a:ext cx="6807199" cy="261610"/>
          </a:xfrm>
          <a:prstGeom prst="rect">
            <a:avLst/>
          </a:prstGeom>
          <a:noFill/>
        </p:spPr>
        <p:txBody>
          <a:bodyPr wrap="square" rtlCol="0">
            <a:spAutoFit/>
          </a:bodyPr>
          <a:lstStyle/>
          <a:p>
            <a:pPr algn="r"/>
            <a:r>
              <a:rPr lang="en-US" altLang="ko-KR" sz="1100" dirty="0"/>
              <a:t>* KV </a:t>
            </a:r>
            <a:r>
              <a:rPr lang="ko-KR" altLang="en-US" sz="1100" dirty="0"/>
              <a:t>캐시 관리</a:t>
            </a:r>
            <a:endParaRPr lang="en-US" altLang="ko-KR" sz="1100" dirty="0"/>
          </a:p>
        </p:txBody>
      </p:sp>
      <p:sp>
        <p:nvSpPr>
          <p:cNvPr id="8" name="실행 단추: 앞으로 또는 다음 7">
            <a:hlinkClick r:id="rId3" action="ppaction://hlinksldjump" highlightClick="1"/>
          </p:cNvPr>
          <p:cNvSpPr/>
          <p:nvPr/>
        </p:nvSpPr>
        <p:spPr>
          <a:xfrm>
            <a:off x="10302719" y="1000682"/>
            <a:ext cx="247357" cy="22556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실행 단추: 앞으로 또는 다음 54">
            <a:hlinkClick r:id="rId4" action="ppaction://hlinksldjump" highlightClick="1"/>
          </p:cNvPr>
          <p:cNvSpPr/>
          <p:nvPr/>
        </p:nvSpPr>
        <p:spPr>
          <a:xfrm>
            <a:off x="11671292" y="999121"/>
            <a:ext cx="232287" cy="228736"/>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TextBox 55"/>
          <p:cNvSpPr txBox="1"/>
          <p:nvPr/>
        </p:nvSpPr>
        <p:spPr>
          <a:xfrm>
            <a:off x="9071569" y="1028401"/>
            <a:ext cx="1278043" cy="161583"/>
          </a:xfrm>
          <a:prstGeom prst="rect">
            <a:avLst/>
          </a:prstGeom>
          <a:noFill/>
        </p:spPr>
        <p:txBody>
          <a:bodyPr wrap="square" lIns="0" tIns="0" rIns="0" bIns="0" anchor="ctr">
            <a:spAutoFit/>
          </a:bodyPr>
          <a:lstStyle/>
          <a:p>
            <a:pPr algn="l"/>
            <a:r>
              <a:rPr lang="ko-KR" altLang="en-US" sz="1050" b="0" i="0" dirty="0">
                <a:solidFill>
                  <a:srgbClr val="404040"/>
                </a:solidFill>
                <a:latin typeface="맑은 고딕"/>
                <a:ea typeface="맑은 고딕"/>
              </a:rPr>
              <a:t>기능 요구사항 전체 </a:t>
            </a:r>
            <a:endParaRPr sz="1050" b="0" i="0" dirty="0">
              <a:solidFill>
                <a:srgbClr val="404040"/>
              </a:solidFill>
              <a:latin typeface="맑은 고딕"/>
              <a:ea typeface="맑은 고딕"/>
            </a:endParaRPr>
          </a:p>
        </p:txBody>
      </p:sp>
      <p:sp>
        <p:nvSpPr>
          <p:cNvPr id="57" name="TextBox 56"/>
          <p:cNvSpPr txBox="1"/>
          <p:nvPr/>
        </p:nvSpPr>
        <p:spPr>
          <a:xfrm>
            <a:off x="10735432" y="1028401"/>
            <a:ext cx="982791" cy="161583"/>
          </a:xfrm>
          <a:prstGeom prst="rect">
            <a:avLst/>
          </a:prstGeom>
          <a:noFill/>
        </p:spPr>
        <p:txBody>
          <a:bodyPr wrap="square" lIns="0" tIns="0" rIns="0" bIns="0" anchor="ctr">
            <a:spAutoFit/>
          </a:bodyPr>
          <a:lstStyle/>
          <a:p>
            <a:pPr algn="l"/>
            <a:r>
              <a:rPr lang="ko-KR" altLang="en-US" sz="1050" b="0" i="0">
                <a:solidFill>
                  <a:srgbClr val="404040"/>
                </a:solidFill>
                <a:latin typeface="맑은 고딕"/>
                <a:ea typeface="맑은 고딕"/>
              </a:rPr>
              <a:t>요구사항 정제</a:t>
            </a:r>
            <a:endParaRPr sz="1050" b="0" i="0" dirty="0">
              <a:solidFill>
                <a:srgbClr val="404040"/>
              </a:solidFill>
              <a:latin typeface="맑은 고딕"/>
              <a:ea typeface="맑은 고딕"/>
            </a:endParaRPr>
          </a:p>
        </p:txBody>
      </p:sp>
      <p:sp>
        <p:nvSpPr>
          <p:cNvPr id="58" name="TextBox 57">
            <a:extLst>
              <a:ext uri="{FF2B5EF4-FFF2-40B4-BE49-F238E27FC236}">
                <a16:creationId xmlns:a16="http://schemas.microsoft.com/office/drawing/2014/main" id="{981C0127-3DDD-4B91-8D00-013FC1325DD7}"/>
              </a:ext>
            </a:extLst>
          </p:cNvPr>
          <p:cNvSpPr txBox="1"/>
          <p:nvPr/>
        </p:nvSpPr>
        <p:spPr>
          <a:xfrm>
            <a:off x="5046133" y="4933589"/>
            <a:ext cx="6807199" cy="261610"/>
          </a:xfrm>
          <a:prstGeom prst="rect">
            <a:avLst/>
          </a:prstGeom>
          <a:noFill/>
        </p:spPr>
        <p:txBody>
          <a:bodyPr wrap="square" rtlCol="0">
            <a:spAutoFit/>
          </a:bodyPr>
          <a:lstStyle/>
          <a:p>
            <a:pPr algn="r"/>
            <a:r>
              <a:rPr lang="en-US" altLang="ko-KR" sz="1100" dirty="0"/>
              <a:t>* </a:t>
            </a:r>
            <a:r>
              <a:rPr lang="ko-KR" altLang="en-US" sz="1100" dirty="0"/>
              <a:t>개발 환경 </a:t>
            </a:r>
          </a:p>
        </p:txBody>
      </p:sp>
      <p:sp>
        <p:nvSpPr>
          <p:cNvPr id="50" name="Rectangle 45">
            <a:extLst>
              <a:ext uri="{FF2B5EF4-FFF2-40B4-BE49-F238E27FC236}">
                <a16:creationId xmlns:a16="http://schemas.microsoft.com/office/drawing/2014/main" id="{21BDE2AC-7258-4268-A7AD-C44418089B10}"/>
              </a:ext>
            </a:extLst>
          </p:cNvPr>
          <p:cNvSpPr/>
          <p:nvPr/>
        </p:nvSpPr>
        <p:spPr>
          <a:xfrm>
            <a:off x="218102" y="5393514"/>
            <a:ext cx="11615588" cy="480902"/>
          </a:xfrm>
          <a:prstGeom prst="rect">
            <a:avLst/>
          </a:prstGeom>
          <a:solidFill>
            <a:srgbClr val="E2EFD9"/>
          </a:solidFill>
          <a:ln w="2857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46">
            <a:extLst>
              <a:ext uri="{FF2B5EF4-FFF2-40B4-BE49-F238E27FC236}">
                <a16:creationId xmlns:a16="http://schemas.microsoft.com/office/drawing/2014/main" id="{24055539-83D1-4EB6-A5F6-D51297921A05}"/>
              </a:ext>
            </a:extLst>
          </p:cNvPr>
          <p:cNvSpPr/>
          <p:nvPr/>
        </p:nvSpPr>
        <p:spPr>
          <a:xfrm>
            <a:off x="556430" y="5393514"/>
            <a:ext cx="640080" cy="480902"/>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47">
            <a:extLst>
              <a:ext uri="{FF2B5EF4-FFF2-40B4-BE49-F238E27FC236}">
                <a16:creationId xmlns:a16="http://schemas.microsoft.com/office/drawing/2014/main" id="{00FBCFC1-DC86-4DF0-A0F5-D033401BDB43}"/>
              </a:ext>
            </a:extLst>
          </p:cNvPr>
          <p:cNvSpPr/>
          <p:nvPr/>
        </p:nvSpPr>
        <p:spPr>
          <a:xfrm>
            <a:off x="583862" y="5407254"/>
            <a:ext cx="603503" cy="453421"/>
          </a:xfrm>
          <a:prstGeom prst="ellipse">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i="0" dirty="0">
                <a:solidFill>
                  <a:srgbClr val="FFFFFF"/>
                </a:solidFill>
                <a:latin typeface="맑은 고딕"/>
              </a:rPr>
              <a:t>C0</a:t>
            </a:r>
            <a:r>
              <a:rPr lang="en-US" sz="1100" b="1" i="0" dirty="0">
                <a:solidFill>
                  <a:srgbClr val="FFFFFF"/>
                </a:solidFill>
                <a:latin typeface="맑은 고딕"/>
              </a:rPr>
              <a:t>2</a:t>
            </a:r>
            <a:endParaRPr sz="1100" b="1" i="0" dirty="0">
              <a:solidFill>
                <a:srgbClr val="FFFFFF"/>
              </a:solidFill>
              <a:latin typeface="맑은 고딕"/>
            </a:endParaRPr>
          </a:p>
        </p:txBody>
      </p:sp>
      <p:sp>
        <p:nvSpPr>
          <p:cNvPr id="53" name="TextBox 52">
            <a:extLst>
              <a:ext uri="{FF2B5EF4-FFF2-40B4-BE49-F238E27FC236}">
                <a16:creationId xmlns:a16="http://schemas.microsoft.com/office/drawing/2014/main" id="{22687D3C-A50F-431C-A9DE-F1E7205F8F17}"/>
              </a:ext>
            </a:extLst>
          </p:cNvPr>
          <p:cNvSpPr txBox="1"/>
          <p:nvPr/>
        </p:nvSpPr>
        <p:spPr>
          <a:xfrm>
            <a:off x="1315381" y="5534707"/>
            <a:ext cx="7540751" cy="198516"/>
          </a:xfrm>
          <a:prstGeom prst="rect">
            <a:avLst/>
          </a:prstGeom>
          <a:noFill/>
        </p:spPr>
        <p:txBody>
          <a:bodyPr wrap="square" lIns="36576" tIns="18288" rIns="36576" bIns="18288" anchor="ctr">
            <a:spAutoFit/>
          </a:bodyPr>
          <a:lstStyle/>
          <a:p>
            <a:r>
              <a:rPr lang="en-US" altLang="ko-KR" sz="1050" b="1" dirty="0"/>
              <a:t>LLM </a:t>
            </a:r>
            <a:r>
              <a:rPr lang="ko-KR" altLang="en-US" sz="1050" b="1" dirty="0"/>
              <a:t>모델의 추론 정확도 저하는 기본 대비 </a:t>
            </a:r>
            <a:r>
              <a:rPr lang="en-US" altLang="ko-KR" sz="1050" b="1" dirty="0"/>
              <a:t>1% </a:t>
            </a:r>
            <a:r>
              <a:rPr lang="ko-KR" altLang="en-US" sz="1050" b="1" dirty="0"/>
              <a:t>이내여야 한다</a:t>
            </a:r>
            <a:r>
              <a:rPr lang="en-US" altLang="ko-KR" sz="1050" b="1" dirty="0"/>
              <a:t>. </a:t>
            </a:r>
            <a:r>
              <a:rPr lang="ko-KR" altLang="en-US" sz="1050" b="1" i="0" dirty="0"/>
              <a:t> </a:t>
            </a:r>
            <a:endParaRPr lang="en-US" altLang="ko-KR" sz="1050" b="1" i="0" dirty="0"/>
          </a:p>
        </p:txBody>
      </p:sp>
      <p:sp>
        <p:nvSpPr>
          <p:cNvPr id="54" name="TextBox 53">
            <a:extLst>
              <a:ext uri="{FF2B5EF4-FFF2-40B4-BE49-F238E27FC236}">
                <a16:creationId xmlns:a16="http://schemas.microsoft.com/office/drawing/2014/main" id="{82831A06-B334-4FFE-82CD-1259EF6E0A64}"/>
              </a:ext>
            </a:extLst>
          </p:cNvPr>
          <p:cNvSpPr txBox="1"/>
          <p:nvPr/>
        </p:nvSpPr>
        <p:spPr>
          <a:xfrm>
            <a:off x="7272866" y="5513507"/>
            <a:ext cx="4580466" cy="261610"/>
          </a:xfrm>
          <a:prstGeom prst="rect">
            <a:avLst/>
          </a:prstGeom>
          <a:noFill/>
        </p:spPr>
        <p:txBody>
          <a:bodyPr wrap="square" rtlCol="0">
            <a:spAutoFit/>
          </a:bodyPr>
          <a:lstStyle/>
          <a:p>
            <a:pPr algn="r"/>
            <a:r>
              <a:rPr lang="en-US" altLang="ko-KR" sz="1100" dirty="0"/>
              <a:t>*</a:t>
            </a:r>
            <a:r>
              <a:rPr lang="ko-KR" altLang="en-US" sz="1100" dirty="0"/>
              <a:t> 추론 정확도 보장</a:t>
            </a:r>
          </a:p>
        </p:txBody>
      </p:sp>
      <p:sp>
        <p:nvSpPr>
          <p:cNvPr id="40" name="실행 단추: 앞으로 또는 다음 7">
            <a:hlinkClick r:id="rId5" action="ppaction://hlinksldjump" highlightClick="1"/>
            <a:extLst>
              <a:ext uri="{FF2B5EF4-FFF2-40B4-BE49-F238E27FC236}">
                <a16:creationId xmlns:a16="http://schemas.microsoft.com/office/drawing/2014/main" id="{488D03AB-D1BE-4EE6-A246-CCD7889E2748}"/>
              </a:ext>
            </a:extLst>
          </p:cNvPr>
          <p:cNvSpPr/>
          <p:nvPr/>
        </p:nvSpPr>
        <p:spPr>
          <a:xfrm>
            <a:off x="8485862" y="993079"/>
            <a:ext cx="247357" cy="22556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TextBox 40">
            <a:extLst>
              <a:ext uri="{FF2B5EF4-FFF2-40B4-BE49-F238E27FC236}">
                <a16:creationId xmlns:a16="http://schemas.microsoft.com/office/drawing/2014/main" id="{056A5BE1-74B6-4722-92F2-5822FEFB116D}"/>
              </a:ext>
            </a:extLst>
          </p:cNvPr>
          <p:cNvSpPr txBox="1"/>
          <p:nvPr/>
        </p:nvSpPr>
        <p:spPr>
          <a:xfrm>
            <a:off x="7232918" y="1028401"/>
            <a:ext cx="1278043" cy="161583"/>
          </a:xfrm>
          <a:prstGeom prst="rect">
            <a:avLst/>
          </a:prstGeom>
          <a:noFill/>
        </p:spPr>
        <p:txBody>
          <a:bodyPr wrap="square" lIns="0" tIns="0" rIns="0" bIns="0" anchor="ctr">
            <a:spAutoFit/>
          </a:bodyPr>
          <a:lstStyle/>
          <a:p>
            <a:pPr algn="l"/>
            <a:r>
              <a:rPr lang="en-US" altLang="ko-KR" sz="1050" b="0" i="0" dirty="0">
                <a:solidFill>
                  <a:srgbClr val="404040"/>
                </a:solidFill>
                <a:latin typeface="맑은 고딕"/>
                <a:ea typeface="맑은 고딕"/>
              </a:rPr>
              <a:t>Use Case </a:t>
            </a:r>
            <a:r>
              <a:rPr lang="en-US" altLang="ko-KR" sz="1050" dirty="0">
                <a:solidFill>
                  <a:srgbClr val="404040"/>
                </a:solidFill>
                <a:latin typeface="맑은 고딕"/>
                <a:ea typeface="맑은 고딕"/>
              </a:rPr>
              <a:t>Diagram</a:t>
            </a:r>
            <a:endParaRPr sz="1050" b="0" i="0" dirty="0">
              <a:solidFill>
                <a:srgbClr val="404040"/>
              </a:solidFill>
              <a:latin typeface="맑은 고딕"/>
              <a:ea typeface="맑은 고딕"/>
            </a:endParaRPr>
          </a:p>
        </p:txBody>
      </p:sp>
    </p:spTree>
    <p:extLst>
      <p:ext uri="{BB962C8B-B14F-4D97-AF65-F5344CB8AC3E}">
        <p14:creationId xmlns:p14="http://schemas.microsoft.com/office/powerpoint/2010/main" val="2285414697"/>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 y="118872"/>
            <a:ext cx="9326880" cy="402336"/>
          </a:xfrm>
          <a:prstGeom prst="rect">
            <a:avLst/>
          </a:prstGeom>
          <a:noFill/>
        </p:spPr>
        <p:txBody>
          <a:bodyPr wrap="square" lIns="0" tIns="0" rIns="0" bIns="0" anchor="ctr">
            <a:spAutoFit/>
          </a:bodyPr>
          <a:lstStyle/>
          <a:p>
            <a:pPr algn="l"/>
            <a:r>
              <a:rPr sz="2300" b="1" i="0">
                <a:solidFill>
                  <a:srgbClr val="1F3864"/>
                </a:solidFill>
                <a:latin typeface="맑은 고딕"/>
                <a:ea typeface="맑은 고딕"/>
              </a:rPr>
              <a:t>에너지 효율(Energy Efficiency) - 평가 기준</a:t>
            </a:r>
          </a:p>
        </p:txBody>
      </p:sp>
      <p:sp>
        <p:nvSpPr>
          <p:cNvPr id="3" name="TextBox 2"/>
          <p:cNvSpPr txBox="1"/>
          <p:nvPr/>
        </p:nvSpPr>
        <p:spPr>
          <a:xfrm>
            <a:off x="292608" y="548640"/>
            <a:ext cx="9326880" cy="237744"/>
          </a:xfrm>
          <a:prstGeom prst="rect">
            <a:avLst/>
          </a:prstGeom>
          <a:noFill/>
        </p:spPr>
        <p:txBody>
          <a:bodyPr wrap="square" lIns="0" tIns="0" rIns="0" bIns="0" anchor="ctr">
            <a:spAutoFit/>
          </a:bodyPr>
          <a:lstStyle/>
          <a:p>
            <a:pPr algn="l"/>
            <a:r>
              <a:rPr sz="1150" b="0" i="0">
                <a:solidFill>
                  <a:srgbClr val="595959"/>
                </a:solidFill>
                <a:latin typeface="맑은 고딕"/>
                <a:ea typeface="맑은 고딕"/>
              </a:rPr>
              <a:t>Baseline(GPU-only) 대비, 동일 처리량·SLO 조건에서 토큰당 에너지(J/token) 개선 배수</a:t>
            </a:r>
          </a:p>
        </p:txBody>
      </p:sp>
      <p:sp>
        <p:nvSpPr>
          <p:cNvPr id="4" name="TextBox 3"/>
          <p:cNvSpPr txBox="1"/>
          <p:nvPr/>
        </p:nvSpPr>
        <p:spPr>
          <a:xfrm>
            <a:off x="10012680" y="118872"/>
            <a:ext cx="1325880" cy="310896"/>
          </a:xfrm>
          <a:prstGeom prst="rect">
            <a:avLst/>
          </a:prstGeom>
          <a:noFill/>
        </p:spPr>
        <p:txBody>
          <a:bodyPr wrap="square" lIns="0" tIns="0" rIns="0" bIns="0" anchor="ctr">
            <a:spAutoFit/>
          </a:bodyPr>
          <a:lstStyle/>
          <a:p>
            <a:pPr algn="r"/>
            <a:r>
              <a:rPr sz="1100" b="1" i="0">
                <a:solidFill>
                  <a:srgbClr val="1F3864"/>
                </a:solidFill>
                <a:latin typeface="맑은 고딕"/>
                <a:ea typeface="맑은 고딕"/>
              </a:rPr>
              <a:t>품질 요구사항</a:t>
            </a:r>
          </a:p>
        </p:txBody>
      </p:sp>
      <p:sp>
        <p:nvSpPr>
          <p:cNvPr id="5" name="Isosceles Triangle 4"/>
          <p:cNvSpPr/>
          <p:nvPr/>
        </p:nvSpPr>
        <p:spPr>
          <a:xfrm rot="16200000">
            <a:off x="11448288" y="128016"/>
            <a:ext cx="475488" cy="292608"/>
          </a:xfrm>
          <a:prstGeom prst="triangl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 name="TextBox 5"/>
          <p:cNvSpPr txBox="1"/>
          <p:nvPr/>
        </p:nvSpPr>
        <p:spPr>
          <a:xfrm>
            <a:off x="10012680" y="502920"/>
            <a:ext cx="1325880" cy="310896"/>
          </a:xfrm>
          <a:prstGeom prst="rect">
            <a:avLst/>
          </a:prstGeom>
          <a:noFill/>
        </p:spPr>
        <p:txBody>
          <a:bodyPr wrap="square" lIns="0" tIns="0" rIns="0" bIns="0" anchor="ctr">
            <a:spAutoFit/>
          </a:bodyPr>
          <a:lstStyle/>
          <a:p>
            <a:pPr algn="r"/>
            <a:r>
              <a:rPr sz="1100" b="1" i="0">
                <a:solidFill>
                  <a:srgbClr val="1F3864"/>
                </a:solidFill>
                <a:latin typeface="맑은 고딕"/>
                <a:ea typeface="맑은 고딕"/>
              </a:rPr>
              <a:t>이전 페이지</a:t>
            </a:r>
          </a:p>
        </p:txBody>
      </p:sp>
      <p:sp>
        <p:nvSpPr>
          <p:cNvPr id="7" name="Isosceles Triangle 6"/>
          <p:cNvSpPr/>
          <p:nvPr/>
        </p:nvSpPr>
        <p:spPr>
          <a:xfrm rot="16200000">
            <a:off x="11448288" y="512064"/>
            <a:ext cx="475488" cy="292608"/>
          </a:xfrm>
          <a:prstGeom prst="triangl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 name="Rectangle 7"/>
          <p:cNvSpPr/>
          <p:nvPr/>
        </p:nvSpPr>
        <p:spPr>
          <a:xfrm>
            <a:off x="274320" y="877824"/>
            <a:ext cx="11640312" cy="25603"/>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 name="TextBox 8"/>
          <p:cNvSpPr txBox="1"/>
          <p:nvPr/>
        </p:nvSpPr>
        <p:spPr>
          <a:xfrm>
            <a:off x="292608" y="960120"/>
            <a:ext cx="11640312" cy="237744"/>
          </a:xfrm>
          <a:prstGeom prst="rect">
            <a:avLst/>
          </a:prstGeom>
          <a:noFill/>
        </p:spPr>
        <p:txBody>
          <a:bodyPr wrap="square" lIns="0" tIns="0" rIns="0" bIns="0" anchor="ctr">
            <a:spAutoFit/>
          </a:bodyPr>
          <a:lstStyle/>
          <a:p>
            <a:pPr algn="l"/>
            <a:r>
              <a:rPr sz="1250" b="1" i="0">
                <a:solidFill>
                  <a:srgbClr val="1F4E79"/>
                </a:solidFill>
                <a:latin typeface="맑은 고딕"/>
                <a:ea typeface="맑은 고딕"/>
              </a:rPr>
              <a:t>[Metric] G = Baseline J/token ÷ Target J/token    (SLO: TTFT P99 ≤ 2 s, TPOT P99 ≤ 50 ms)</a:t>
            </a:r>
          </a:p>
        </p:txBody>
      </p:sp>
      <p:sp>
        <p:nvSpPr>
          <p:cNvPr id="10" name="TextBox 9"/>
          <p:cNvSpPr txBox="1"/>
          <p:nvPr/>
        </p:nvSpPr>
        <p:spPr>
          <a:xfrm>
            <a:off x="365760" y="1225296"/>
            <a:ext cx="11457432" cy="192024"/>
          </a:xfrm>
          <a:prstGeom prst="rect">
            <a:avLst/>
          </a:prstGeom>
          <a:noFill/>
        </p:spPr>
        <p:txBody>
          <a:bodyPr wrap="square" lIns="0" tIns="0" rIns="0" bIns="0" anchor="ctr">
            <a:spAutoFit/>
          </a:bodyPr>
          <a:lstStyle/>
          <a:p>
            <a:pPr algn="l"/>
            <a:r>
              <a:rPr sz="930" b="0" i="0">
                <a:solidFill>
                  <a:srgbClr val="404040"/>
                </a:solidFill>
                <a:latin typeface="맑은 고딕"/>
                <a:ea typeface="맑은 고딕"/>
              </a:rPr>
              <a:t>-  J/token = Σ P(t)·Δt ÷ 생성 output token 수 — 측정 창 전체의 에너지 적분을 토큰 수로 나눈 값</a:t>
            </a:r>
          </a:p>
        </p:txBody>
      </p:sp>
      <p:sp>
        <p:nvSpPr>
          <p:cNvPr id="11" name="TextBox 10"/>
          <p:cNvSpPr txBox="1"/>
          <p:nvPr/>
        </p:nvSpPr>
        <p:spPr>
          <a:xfrm>
            <a:off x="365760" y="1421892"/>
            <a:ext cx="11457432" cy="192024"/>
          </a:xfrm>
          <a:prstGeom prst="rect">
            <a:avLst/>
          </a:prstGeom>
          <a:noFill/>
        </p:spPr>
        <p:txBody>
          <a:bodyPr wrap="square" lIns="0" tIns="0" rIns="0" bIns="0" anchor="ctr">
            <a:spAutoFit/>
          </a:bodyPr>
          <a:lstStyle/>
          <a:p>
            <a:pPr algn="l"/>
            <a:r>
              <a:rPr sz="930" b="0" i="0" dirty="0">
                <a:solidFill>
                  <a:srgbClr val="404040"/>
                </a:solidFill>
                <a:latin typeface="맑은 고딕"/>
                <a:ea typeface="맑은 고딕"/>
              </a:rPr>
              <a:t>-  </a:t>
            </a:r>
            <a:r>
              <a:rPr sz="930" b="0" i="0" dirty="0" err="1">
                <a:solidFill>
                  <a:srgbClr val="404040"/>
                </a:solidFill>
                <a:latin typeface="맑은 고딕"/>
                <a:ea typeface="맑은 고딕"/>
              </a:rPr>
              <a:t>분해</a:t>
            </a:r>
            <a:r>
              <a:rPr sz="930" b="0" i="0" dirty="0">
                <a:solidFill>
                  <a:srgbClr val="404040"/>
                </a:solidFill>
                <a:latin typeface="맑은 고딕"/>
                <a:ea typeface="맑은 고딕"/>
              </a:rPr>
              <a:t>: G = R × p    R = </a:t>
            </a:r>
            <a:r>
              <a:rPr sz="930" b="0" i="0" dirty="0" err="1">
                <a:solidFill>
                  <a:srgbClr val="404040"/>
                </a:solidFill>
                <a:latin typeface="맑은 고딕"/>
                <a:ea typeface="맑은 고딕"/>
              </a:rPr>
              <a:t>처리량비</a:t>
            </a:r>
            <a:r>
              <a:rPr sz="930" b="0" i="0" dirty="0">
                <a:solidFill>
                  <a:srgbClr val="404040"/>
                </a:solidFill>
                <a:latin typeface="맑은 고딕"/>
                <a:ea typeface="맑은 고딕"/>
              </a:rPr>
              <a:t>(QA-01 </a:t>
            </a:r>
            <a:r>
              <a:rPr sz="930" b="0" i="0" dirty="0" err="1">
                <a:solidFill>
                  <a:srgbClr val="404040"/>
                </a:solidFill>
                <a:latin typeface="맑은 고딕"/>
                <a:ea typeface="맑은 고딕"/>
              </a:rPr>
              <a:t>측정</a:t>
            </a:r>
            <a:r>
              <a:rPr sz="930" b="0" i="0" dirty="0">
                <a:solidFill>
                  <a:srgbClr val="404040"/>
                </a:solidFill>
                <a:latin typeface="맑은 고딕"/>
                <a:ea typeface="맑은 고딕"/>
              </a:rPr>
              <a:t>, Stakeholder </a:t>
            </a:r>
            <a:r>
              <a:rPr sz="930" b="0" i="0" dirty="0" err="1">
                <a:solidFill>
                  <a:srgbClr val="404040"/>
                </a:solidFill>
                <a:latin typeface="맑은 고딕"/>
                <a:ea typeface="맑은 고딕"/>
              </a:rPr>
              <a:t>요구</a:t>
            </a:r>
            <a:r>
              <a:rPr sz="930" b="0" i="0" dirty="0">
                <a:solidFill>
                  <a:srgbClr val="404040"/>
                </a:solidFill>
                <a:latin typeface="맑은 고딕"/>
                <a:ea typeface="맑은 고딕"/>
              </a:rPr>
              <a:t> ≥ 2.0),  p = </a:t>
            </a:r>
            <a:r>
              <a:rPr sz="930" b="0" i="0" dirty="0" err="1">
                <a:solidFill>
                  <a:srgbClr val="404040"/>
                </a:solidFill>
                <a:latin typeface="맑은 고딕"/>
                <a:ea typeface="맑은 고딕"/>
              </a:rPr>
              <a:t>평균</a:t>
            </a:r>
            <a:r>
              <a:rPr sz="930" b="0" i="0" dirty="0">
                <a:solidFill>
                  <a:srgbClr val="404040"/>
                </a:solidFill>
                <a:latin typeface="맑은 고딕"/>
                <a:ea typeface="맑은 고딕"/>
              </a:rPr>
              <a:t> </a:t>
            </a:r>
            <a:r>
              <a:rPr sz="930" b="0" i="0" dirty="0" err="1">
                <a:solidFill>
                  <a:srgbClr val="404040"/>
                </a:solidFill>
                <a:latin typeface="맑은 고딕"/>
                <a:ea typeface="맑은 고딕"/>
              </a:rPr>
              <a:t>전력비</a:t>
            </a:r>
            <a:r>
              <a:rPr sz="930" b="0" i="0" dirty="0">
                <a:solidFill>
                  <a:srgbClr val="404040"/>
                </a:solidFill>
                <a:latin typeface="맑은 고딕"/>
                <a:ea typeface="맑은 고딕"/>
              </a:rPr>
              <a:t> = </a:t>
            </a:r>
            <a:r>
              <a:rPr sz="930" b="0" i="0" dirty="0" err="1">
                <a:solidFill>
                  <a:srgbClr val="404040"/>
                </a:solidFill>
                <a:latin typeface="맑은 고딕"/>
                <a:ea typeface="맑은 고딕"/>
              </a:rPr>
              <a:t>P_baseline</a:t>
            </a:r>
            <a:r>
              <a:rPr sz="930" b="0" i="0" dirty="0">
                <a:solidFill>
                  <a:srgbClr val="404040"/>
                </a:solidFill>
                <a:latin typeface="맑은 고딕"/>
                <a:ea typeface="맑은 고딕"/>
              </a:rPr>
              <a:t> ÷ </a:t>
            </a:r>
            <a:r>
              <a:rPr sz="930" b="0" i="0" dirty="0" err="1">
                <a:solidFill>
                  <a:srgbClr val="404040"/>
                </a:solidFill>
                <a:latin typeface="맑은 고딕"/>
                <a:ea typeface="맑은 고딕"/>
              </a:rPr>
              <a:t>P_target</a:t>
            </a:r>
            <a:endParaRPr sz="930" b="0" i="0" dirty="0">
              <a:solidFill>
                <a:srgbClr val="404040"/>
              </a:solidFill>
              <a:latin typeface="맑은 고딕"/>
              <a:ea typeface="맑은 고딕"/>
            </a:endParaRPr>
          </a:p>
        </p:txBody>
      </p:sp>
      <p:sp>
        <p:nvSpPr>
          <p:cNvPr id="12" name="TextBox 11"/>
          <p:cNvSpPr txBox="1"/>
          <p:nvPr/>
        </p:nvSpPr>
        <p:spPr>
          <a:xfrm>
            <a:off x="365760" y="1618488"/>
            <a:ext cx="11457432" cy="192024"/>
          </a:xfrm>
          <a:prstGeom prst="rect">
            <a:avLst/>
          </a:prstGeom>
          <a:noFill/>
        </p:spPr>
        <p:txBody>
          <a:bodyPr wrap="square" lIns="0" tIns="0" rIns="0" bIns="0" anchor="ctr">
            <a:spAutoFit/>
          </a:bodyPr>
          <a:lstStyle/>
          <a:p>
            <a:pPr algn="l"/>
            <a:r>
              <a:rPr sz="930" b="0" i="0">
                <a:solidFill>
                  <a:srgbClr val="404040"/>
                </a:solidFill>
                <a:latin typeface="맑은 고딕"/>
                <a:ea typeface="맑은 고딕"/>
              </a:rPr>
              <a:t>-  p는 설계가 아니라 구성 교체로 결정된다: A100×8 = 3,200 W → A100×4 + PNM×4 = 약 1,900 W  →  p = 1.7 (TDP 기준)</a:t>
            </a:r>
          </a:p>
        </p:txBody>
      </p:sp>
      <p:sp>
        <p:nvSpPr>
          <p:cNvPr id="13" name="TextBox 12"/>
          <p:cNvSpPr txBox="1"/>
          <p:nvPr/>
        </p:nvSpPr>
        <p:spPr>
          <a:xfrm>
            <a:off x="365760" y="1815084"/>
            <a:ext cx="11457432" cy="192024"/>
          </a:xfrm>
          <a:prstGeom prst="rect">
            <a:avLst/>
          </a:prstGeom>
          <a:noFill/>
        </p:spPr>
        <p:txBody>
          <a:bodyPr wrap="square" lIns="0" tIns="0" rIns="0" bIns="0" anchor="ctr">
            <a:spAutoFit/>
          </a:bodyPr>
          <a:lstStyle/>
          <a:p>
            <a:pPr algn="l"/>
            <a:r>
              <a:rPr sz="930" b="0" i="0">
                <a:solidFill>
                  <a:srgbClr val="404040"/>
                </a:solidFill>
                <a:latin typeface="맑은 고딕"/>
                <a:ea typeface="맑은 고딕"/>
              </a:rPr>
              <a:t>-  따라서 별점 = 처리량 평가 기준의 R 구간 × 1.7. 전력 절감분은 구성에서 이미 주어지므로, 그 위에서 R을 끌어낸 정도로 센다</a:t>
            </a:r>
          </a:p>
        </p:txBody>
      </p:sp>
      <p:sp>
        <p:nvSpPr>
          <p:cNvPr id="14" name="TextBox 13"/>
          <p:cNvSpPr txBox="1"/>
          <p:nvPr/>
        </p:nvSpPr>
        <p:spPr>
          <a:xfrm>
            <a:off x="365760" y="2011680"/>
            <a:ext cx="11457432" cy="192024"/>
          </a:xfrm>
          <a:prstGeom prst="rect">
            <a:avLst/>
          </a:prstGeom>
          <a:noFill/>
        </p:spPr>
        <p:txBody>
          <a:bodyPr wrap="square" lIns="0" tIns="0" rIns="0" bIns="0" anchor="ctr">
            <a:spAutoFit/>
          </a:bodyPr>
          <a:lstStyle/>
          <a:p>
            <a:pPr algn="l"/>
            <a:r>
              <a:rPr sz="930" b="0" i="0">
                <a:solidFill>
                  <a:srgbClr val="404040"/>
                </a:solidFill>
                <a:latin typeface="맑은 고딕"/>
                <a:ea typeface="맑은 고딕"/>
              </a:rPr>
              <a:t>-  보조 지표(설계 품질 분리): 이동·재계산이 쓴 에너지 ÷ 전체 에너지 ≤ 10%,  유휴 구간 에너지 비율은 Baseline 대비 감소</a:t>
            </a:r>
          </a:p>
        </p:txBody>
      </p:sp>
      <p:sp>
        <p:nvSpPr>
          <p:cNvPr id="15" name="Rectangle 14"/>
          <p:cNvSpPr/>
          <p:nvPr/>
        </p:nvSpPr>
        <p:spPr>
          <a:xfrm>
            <a:off x="274320" y="2354580"/>
            <a:ext cx="731520" cy="274320"/>
          </a:xfrm>
          <a:prstGeom prst="rect">
            <a:avLst/>
          </a:prstGeom>
          <a:solidFill>
            <a:srgbClr val="44546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별</a:t>
            </a:r>
          </a:p>
        </p:txBody>
      </p:sp>
      <p:sp>
        <p:nvSpPr>
          <p:cNvPr id="16" name="Rectangle 15"/>
          <p:cNvSpPr/>
          <p:nvPr/>
        </p:nvSpPr>
        <p:spPr>
          <a:xfrm>
            <a:off x="1005840" y="2354580"/>
            <a:ext cx="2011680" cy="274320"/>
          </a:xfrm>
          <a:prstGeom prst="rect">
            <a:avLst/>
          </a:prstGeom>
          <a:solidFill>
            <a:srgbClr val="44546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기준 (정량)</a:t>
            </a:r>
          </a:p>
        </p:txBody>
      </p:sp>
      <p:sp>
        <p:nvSpPr>
          <p:cNvPr id="17" name="Rectangle 16"/>
          <p:cNvSpPr/>
          <p:nvPr/>
        </p:nvSpPr>
        <p:spPr>
          <a:xfrm>
            <a:off x="3017520" y="2354580"/>
            <a:ext cx="6812280" cy="274320"/>
          </a:xfrm>
          <a:prstGeom prst="rect">
            <a:avLst/>
          </a:prstGeom>
          <a:solidFill>
            <a:srgbClr val="44546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근거</a:t>
            </a:r>
          </a:p>
        </p:txBody>
      </p:sp>
      <p:sp>
        <p:nvSpPr>
          <p:cNvPr id="18" name="Rectangle 17"/>
          <p:cNvSpPr/>
          <p:nvPr/>
        </p:nvSpPr>
        <p:spPr>
          <a:xfrm>
            <a:off x="9829800" y="2354580"/>
            <a:ext cx="2084831" cy="274320"/>
          </a:xfrm>
          <a:prstGeom prst="rect">
            <a:avLst/>
          </a:prstGeom>
          <a:solidFill>
            <a:srgbClr val="44546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출처</a:t>
            </a:r>
          </a:p>
        </p:txBody>
      </p:sp>
      <p:sp>
        <p:nvSpPr>
          <p:cNvPr id="19" name="Rectangle 18"/>
          <p:cNvSpPr/>
          <p:nvPr/>
        </p:nvSpPr>
        <p:spPr>
          <a:xfrm>
            <a:off x="274320" y="2628900"/>
            <a:ext cx="731520" cy="301752"/>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1100" b="1" i="0">
                <a:solidFill>
                  <a:srgbClr val="404040"/>
                </a:solidFill>
                <a:latin typeface="맑은 고딕"/>
                <a:ea typeface="맑은 고딕"/>
              </a:rPr>
              <a:t>★3</a:t>
            </a:r>
          </a:p>
        </p:txBody>
      </p:sp>
      <p:sp>
        <p:nvSpPr>
          <p:cNvPr id="20" name="Rectangle 19"/>
          <p:cNvSpPr/>
          <p:nvPr/>
        </p:nvSpPr>
        <p:spPr>
          <a:xfrm>
            <a:off x="1005840" y="2628900"/>
            <a:ext cx="2011680" cy="301752"/>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919" b="1" i="0">
                <a:solidFill>
                  <a:srgbClr val="404040"/>
                </a:solidFill>
                <a:latin typeface="맑은 고딕"/>
                <a:ea typeface="맑은 고딕"/>
              </a:rPr>
              <a:t>G ≥ 13.6</a:t>
            </a:r>
          </a:p>
        </p:txBody>
      </p:sp>
      <p:sp>
        <p:nvSpPr>
          <p:cNvPr id="21" name="Rectangle 20"/>
          <p:cNvSpPr/>
          <p:nvPr/>
        </p:nvSpPr>
        <p:spPr>
          <a:xfrm>
            <a:off x="3017520" y="2628900"/>
            <a:ext cx="6812280" cy="301752"/>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80" b="0" i="0">
                <a:solidFill>
                  <a:srgbClr val="404040"/>
                </a:solidFill>
                <a:latin typeface="맑은 고딕"/>
                <a:ea typeface="맑은 고딕"/>
              </a:rPr>
              <a:t>문헌 처리량 상한 R = 8.0 × p — attention 연산이 PNM으로 이전되고 GPU는 유휴 전력만 쓰는 극한</a:t>
            </a:r>
          </a:p>
        </p:txBody>
      </p:sp>
      <p:sp>
        <p:nvSpPr>
          <p:cNvPr id="22" name="Rectangle 21"/>
          <p:cNvSpPr/>
          <p:nvPr/>
        </p:nvSpPr>
        <p:spPr>
          <a:xfrm>
            <a:off x="9829800" y="2628900"/>
            <a:ext cx="2084831" cy="301752"/>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50" b="0" i="0">
                <a:solidFill>
                  <a:srgbClr val="404040"/>
                </a:solidFill>
                <a:latin typeface="맑은 고딕"/>
                <a:ea typeface="맑은 고딕"/>
              </a:rPr>
              <a:t>처리량 평가기준 ★3 × p</a:t>
            </a:r>
          </a:p>
        </p:txBody>
      </p:sp>
      <p:sp>
        <p:nvSpPr>
          <p:cNvPr id="23" name="Rectangle 22"/>
          <p:cNvSpPr/>
          <p:nvPr/>
        </p:nvSpPr>
        <p:spPr>
          <a:xfrm>
            <a:off x="274320" y="2930652"/>
            <a:ext cx="731520" cy="301752"/>
          </a:xfrm>
          <a:prstGeom prst="rect">
            <a:avLst/>
          </a:prstGeom>
          <a:solidFill>
            <a:srgbClr val="EEF5E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1100" b="1" i="0">
                <a:solidFill>
                  <a:srgbClr val="404040"/>
                </a:solidFill>
                <a:latin typeface="맑은 고딕"/>
                <a:ea typeface="맑은 고딕"/>
              </a:rPr>
              <a:t>★2.5</a:t>
            </a:r>
          </a:p>
        </p:txBody>
      </p:sp>
      <p:sp>
        <p:nvSpPr>
          <p:cNvPr id="24" name="Rectangle 23"/>
          <p:cNvSpPr/>
          <p:nvPr/>
        </p:nvSpPr>
        <p:spPr>
          <a:xfrm>
            <a:off x="1005840" y="2930652"/>
            <a:ext cx="2011680" cy="301752"/>
          </a:xfrm>
          <a:prstGeom prst="rect">
            <a:avLst/>
          </a:prstGeom>
          <a:solidFill>
            <a:srgbClr val="EEF5E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919" b="1" i="0">
                <a:solidFill>
                  <a:srgbClr val="404040"/>
                </a:solidFill>
                <a:latin typeface="맑은 고딕"/>
                <a:ea typeface="맑은 고딕"/>
              </a:rPr>
              <a:t>9.6 ≤ G &lt; 13.6</a:t>
            </a:r>
          </a:p>
        </p:txBody>
      </p:sp>
      <p:sp>
        <p:nvSpPr>
          <p:cNvPr id="25" name="Rectangle 24"/>
          <p:cNvSpPr/>
          <p:nvPr/>
        </p:nvSpPr>
        <p:spPr>
          <a:xfrm>
            <a:off x="3017520" y="2930652"/>
            <a:ext cx="6812280" cy="301752"/>
          </a:xfrm>
          <a:prstGeom prst="rect">
            <a:avLst/>
          </a:prstGeom>
          <a:solidFill>
            <a:srgbClr val="EEF5E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80" b="0" i="0">
                <a:solidFill>
                  <a:srgbClr val="404040"/>
                </a:solidFill>
                <a:latin typeface="맑은 고딕"/>
                <a:ea typeface="맑은 고딕"/>
              </a:rPr>
              <a:t>★2와 ★3의 기하 중점 (√(6.8×13.6) = 9.6)</a:t>
            </a:r>
          </a:p>
        </p:txBody>
      </p:sp>
      <p:sp>
        <p:nvSpPr>
          <p:cNvPr id="26" name="Rectangle 25"/>
          <p:cNvSpPr/>
          <p:nvPr/>
        </p:nvSpPr>
        <p:spPr>
          <a:xfrm>
            <a:off x="9829800" y="2930652"/>
            <a:ext cx="2084831" cy="301752"/>
          </a:xfrm>
          <a:prstGeom prst="rect">
            <a:avLst/>
          </a:prstGeom>
          <a:solidFill>
            <a:srgbClr val="EEF5E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50" b="0" i="0">
                <a:solidFill>
                  <a:srgbClr val="404040"/>
                </a:solidFill>
                <a:latin typeface="맑은 고딕"/>
                <a:ea typeface="맑은 고딕"/>
              </a:rPr>
              <a:t>기하 중점</a:t>
            </a:r>
          </a:p>
        </p:txBody>
      </p:sp>
      <p:sp>
        <p:nvSpPr>
          <p:cNvPr id="27" name="Rectangle 26"/>
          <p:cNvSpPr/>
          <p:nvPr/>
        </p:nvSpPr>
        <p:spPr>
          <a:xfrm>
            <a:off x="274320" y="3232404"/>
            <a:ext cx="731520" cy="301752"/>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1100" b="1" i="0">
                <a:solidFill>
                  <a:srgbClr val="404040"/>
                </a:solidFill>
                <a:latin typeface="맑은 고딕"/>
                <a:ea typeface="맑은 고딕"/>
              </a:rPr>
              <a:t>★2</a:t>
            </a:r>
          </a:p>
        </p:txBody>
      </p:sp>
      <p:sp>
        <p:nvSpPr>
          <p:cNvPr id="28" name="Rectangle 27"/>
          <p:cNvSpPr/>
          <p:nvPr/>
        </p:nvSpPr>
        <p:spPr>
          <a:xfrm>
            <a:off x="1005840" y="3232404"/>
            <a:ext cx="2011680" cy="301752"/>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919" b="1" i="0">
                <a:solidFill>
                  <a:srgbClr val="404040"/>
                </a:solidFill>
                <a:latin typeface="맑은 고딕"/>
                <a:ea typeface="맑은 고딕"/>
              </a:rPr>
              <a:t>6.8 ≤ G &lt; 9.6</a:t>
            </a:r>
          </a:p>
        </p:txBody>
      </p:sp>
      <p:sp>
        <p:nvSpPr>
          <p:cNvPr id="29" name="Rectangle 28"/>
          <p:cNvSpPr/>
          <p:nvPr/>
        </p:nvSpPr>
        <p:spPr>
          <a:xfrm>
            <a:off x="3017520" y="3232404"/>
            <a:ext cx="6812280" cy="301752"/>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80" b="0" i="0">
                <a:solidFill>
                  <a:srgbClr val="404040"/>
                </a:solidFill>
                <a:latin typeface="맑은 고딕"/>
                <a:ea typeface="맑은 고딕"/>
              </a:rPr>
              <a:t>경쟁 기술 수준 R = 4.0 × p — 단순 offloading 기법의 처리량 개선 중앙값 + 구성상 전력 절감</a:t>
            </a:r>
          </a:p>
        </p:txBody>
      </p:sp>
      <p:sp>
        <p:nvSpPr>
          <p:cNvPr id="30" name="Rectangle 29"/>
          <p:cNvSpPr/>
          <p:nvPr/>
        </p:nvSpPr>
        <p:spPr>
          <a:xfrm>
            <a:off x="9829800" y="3232404"/>
            <a:ext cx="2084831" cy="301752"/>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50" b="0" i="0">
                <a:solidFill>
                  <a:srgbClr val="404040"/>
                </a:solidFill>
                <a:latin typeface="맑은 고딕"/>
                <a:ea typeface="맑은 고딕"/>
              </a:rPr>
              <a:t>처리량 평가기준 ★2 × p</a:t>
            </a:r>
          </a:p>
        </p:txBody>
      </p:sp>
      <p:sp>
        <p:nvSpPr>
          <p:cNvPr id="31" name="Rectangle 30"/>
          <p:cNvSpPr/>
          <p:nvPr/>
        </p:nvSpPr>
        <p:spPr>
          <a:xfrm>
            <a:off x="274320" y="3534156"/>
            <a:ext cx="731520" cy="301752"/>
          </a:xfrm>
          <a:prstGeom prst="rect">
            <a:avLst/>
          </a:prstGeom>
          <a:solidFill>
            <a:srgbClr val="FCE4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1100" b="1" i="0">
                <a:solidFill>
                  <a:srgbClr val="404040"/>
                </a:solidFill>
                <a:latin typeface="맑은 고딕"/>
                <a:ea typeface="맑은 고딕"/>
              </a:rPr>
              <a:t>★1.5</a:t>
            </a:r>
          </a:p>
        </p:txBody>
      </p:sp>
      <p:sp>
        <p:nvSpPr>
          <p:cNvPr id="32" name="Rectangle 31"/>
          <p:cNvSpPr/>
          <p:nvPr/>
        </p:nvSpPr>
        <p:spPr>
          <a:xfrm>
            <a:off x="1005840" y="3534156"/>
            <a:ext cx="2011680" cy="301752"/>
          </a:xfrm>
          <a:prstGeom prst="rect">
            <a:avLst/>
          </a:prstGeom>
          <a:solidFill>
            <a:srgbClr val="FCE4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919" b="1" i="0">
                <a:solidFill>
                  <a:srgbClr val="404040"/>
                </a:solidFill>
                <a:latin typeface="맑은 고딕"/>
                <a:ea typeface="맑은 고딕"/>
              </a:rPr>
              <a:t>4.8 ≤ G &lt; 6.8</a:t>
            </a:r>
          </a:p>
        </p:txBody>
      </p:sp>
      <p:sp>
        <p:nvSpPr>
          <p:cNvPr id="33" name="Rectangle 32"/>
          <p:cNvSpPr/>
          <p:nvPr/>
        </p:nvSpPr>
        <p:spPr>
          <a:xfrm>
            <a:off x="3017520" y="3534156"/>
            <a:ext cx="6812280" cy="301752"/>
          </a:xfrm>
          <a:prstGeom prst="rect">
            <a:avLst/>
          </a:prstGeom>
          <a:solidFill>
            <a:srgbClr val="FCE4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80" b="0" i="0">
                <a:solidFill>
                  <a:srgbClr val="404040"/>
                </a:solidFill>
                <a:latin typeface="맑은 고딕"/>
                <a:ea typeface="맑은 고딕"/>
              </a:rPr>
              <a:t>★1과 ★2의 기하 중점 (√(3.4×6.8) = 4.8)</a:t>
            </a:r>
          </a:p>
        </p:txBody>
      </p:sp>
      <p:sp>
        <p:nvSpPr>
          <p:cNvPr id="34" name="Rectangle 33"/>
          <p:cNvSpPr/>
          <p:nvPr/>
        </p:nvSpPr>
        <p:spPr>
          <a:xfrm>
            <a:off x="9829800" y="3534156"/>
            <a:ext cx="2084831" cy="301752"/>
          </a:xfrm>
          <a:prstGeom prst="rect">
            <a:avLst/>
          </a:prstGeom>
          <a:solidFill>
            <a:srgbClr val="FCE4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50" b="0" i="0">
                <a:solidFill>
                  <a:srgbClr val="404040"/>
                </a:solidFill>
                <a:latin typeface="맑은 고딕"/>
                <a:ea typeface="맑은 고딕"/>
              </a:rPr>
              <a:t>기하 중점</a:t>
            </a:r>
          </a:p>
        </p:txBody>
      </p:sp>
      <p:sp>
        <p:nvSpPr>
          <p:cNvPr id="35" name="Rectangle 34"/>
          <p:cNvSpPr/>
          <p:nvPr/>
        </p:nvSpPr>
        <p:spPr>
          <a:xfrm>
            <a:off x="274320" y="3835908"/>
            <a:ext cx="731520" cy="425196"/>
          </a:xfrm>
          <a:prstGeom prst="rect">
            <a:avLst/>
          </a:prstGeom>
          <a:solidFill>
            <a:srgbClr val="FDEC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1100" b="1" i="0">
                <a:solidFill>
                  <a:srgbClr val="404040"/>
                </a:solidFill>
                <a:latin typeface="맑은 고딕"/>
                <a:ea typeface="맑은 고딕"/>
              </a:rPr>
              <a:t>★1</a:t>
            </a:r>
          </a:p>
        </p:txBody>
      </p:sp>
      <p:sp>
        <p:nvSpPr>
          <p:cNvPr id="36" name="Rectangle 35"/>
          <p:cNvSpPr/>
          <p:nvPr/>
        </p:nvSpPr>
        <p:spPr>
          <a:xfrm>
            <a:off x="1005840" y="3835908"/>
            <a:ext cx="2011680" cy="425196"/>
          </a:xfrm>
          <a:prstGeom prst="rect">
            <a:avLst/>
          </a:prstGeom>
          <a:solidFill>
            <a:srgbClr val="FDEC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919" b="1" i="0">
                <a:solidFill>
                  <a:srgbClr val="404040"/>
                </a:solidFill>
                <a:latin typeface="맑은 고딕"/>
                <a:ea typeface="맑은 고딕"/>
              </a:rPr>
              <a:t>3.4 ≤ G &lt; 4.8</a:t>
            </a:r>
          </a:p>
        </p:txBody>
      </p:sp>
      <p:sp>
        <p:nvSpPr>
          <p:cNvPr id="37" name="Rectangle 36"/>
          <p:cNvSpPr/>
          <p:nvPr/>
        </p:nvSpPr>
        <p:spPr>
          <a:xfrm>
            <a:off x="3017520" y="3835908"/>
            <a:ext cx="6812280" cy="425196"/>
          </a:xfrm>
          <a:prstGeom prst="rect">
            <a:avLst/>
          </a:prstGeom>
          <a:solidFill>
            <a:srgbClr val="FDEC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80" b="0" i="0">
                <a:solidFill>
                  <a:srgbClr val="404040"/>
                </a:solidFill>
                <a:latin typeface="맑은 고딕"/>
                <a:ea typeface="맑은 고딕"/>
              </a:rPr>
              <a:t>Stakeholder 처리량 요구 R = 2.0 × p = 1.7 — 요구 처리량을 구성상 주어진</a:t>
            </a:r>
          </a:p>
          <a:p>
            <a:pPr algn="l">
              <a:lnSpc>
                <a:spcPct val="105000"/>
              </a:lnSpc>
            </a:pPr>
            <a:r>
              <a:rPr sz="880" b="0" i="0">
                <a:solidFill>
                  <a:srgbClr val="404040"/>
                </a:solidFill>
                <a:latin typeface="맑은 고딕"/>
                <a:ea typeface="맑은 고딕"/>
              </a:rPr>
              <a:t>전력 절감 그대로 달성. 설계가 에너지를 추가로 쓰지도, 아끼지도 않은 지점</a:t>
            </a:r>
          </a:p>
        </p:txBody>
      </p:sp>
      <p:sp>
        <p:nvSpPr>
          <p:cNvPr id="38" name="Rectangle 37"/>
          <p:cNvSpPr/>
          <p:nvPr/>
        </p:nvSpPr>
        <p:spPr>
          <a:xfrm>
            <a:off x="9829800" y="3835908"/>
            <a:ext cx="2084831" cy="425196"/>
          </a:xfrm>
          <a:prstGeom prst="rect">
            <a:avLst/>
          </a:prstGeom>
          <a:solidFill>
            <a:srgbClr val="FDEC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50" b="0" i="0">
                <a:solidFill>
                  <a:srgbClr val="404040"/>
                </a:solidFill>
                <a:latin typeface="맑은 고딕"/>
                <a:ea typeface="맑은 고딕"/>
              </a:rPr>
              <a:t>Stakeholder 요구사항 × p</a:t>
            </a:r>
          </a:p>
        </p:txBody>
      </p:sp>
      <p:sp>
        <p:nvSpPr>
          <p:cNvPr id="39" name="Rectangle 38"/>
          <p:cNvSpPr/>
          <p:nvPr/>
        </p:nvSpPr>
        <p:spPr>
          <a:xfrm>
            <a:off x="274320" y="4261104"/>
            <a:ext cx="731520" cy="301752"/>
          </a:xfrm>
          <a:prstGeom prst="rect">
            <a:avLst/>
          </a:prstGeom>
          <a:solidFill>
            <a:srgbClr val="F2F2F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1100" b="1" i="0">
                <a:solidFill>
                  <a:srgbClr val="404040"/>
                </a:solidFill>
                <a:latin typeface="맑은 고딕"/>
                <a:ea typeface="맑은 고딕"/>
              </a:rPr>
              <a:t>미충족</a:t>
            </a:r>
          </a:p>
        </p:txBody>
      </p:sp>
      <p:sp>
        <p:nvSpPr>
          <p:cNvPr id="40" name="Rectangle 39"/>
          <p:cNvSpPr/>
          <p:nvPr/>
        </p:nvSpPr>
        <p:spPr>
          <a:xfrm>
            <a:off x="1005840" y="4261104"/>
            <a:ext cx="2011680" cy="301752"/>
          </a:xfrm>
          <a:prstGeom prst="rect">
            <a:avLst/>
          </a:prstGeom>
          <a:solidFill>
            <a:srgbClr val="F2F2F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919" b="1" i="0">
                <a:solidFill>
                  <a:srgbClr val="404040"/>
                </a:solidFill>
                <a:latin typeface="맑은 고딕"/>
                <a:ea typeface="맑은 고딕"/>
              </a:rPr>
              <a:t>G &lt; 3.4</a:t>
            </a:r>
          </a:p>
        </p:txBody>
      </p:sp>
      <p:sp>
        <p:nvSpPr>
          <p:cNvPr id="41" name="Rectangle 40"/>
          <p:cNvSpPr/>
          <p:nvPr/>
        </p:nvSpPr>
        <p:spPr>
          <a:xfrm>
            <a:off x="3017520" y="4261104"/>
            <a:ext cx="6812280" cy="301752"/>
          </a:xfrm>
          <a:prstGeom prst="rect">
            <a:avLst/>
          </a:prstGeom>
          <a:solidFill>
            <a:srgbClr val="F2F2F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80" b="0" i="0">
                <a:solidFill>
                  <a:srgbClr val="404040"/>
                </a:solidFill>
                <a:latin typeface="맑은 고딕"/>
                <a:ea typeface="맑은 고딕"/>
              </a:rPr>
              <a:t>전력 절감 p = 1.7은 구성 교체로 이미 확보된 값 — 이 아래는 설계가 이동·관리에 그만큼을 되돌려 쓴 것</a:t>
            </a:r>
          </a:p>
        </p:txBody>
      </p:sp>
      <p:sp>
        <p:nvSpPr>
          <p:cNvPr id="42" name="Rectangle 41"/>
          <p:cNvSpPr/>
          <p:nvPr/>
        </p:nvSpPr>
        <p:spPr>
          <a:xfrm>
            <a:off x="9829800" y="4261104"/>
            <a:ext cx="2084831" cy="301752"/>
          </a:xfrm>
          <a:prstGeom prst="rect">
            <a:avLst/>
          </a:prstGeom>
          <a:solidFill>
            <a:srgbClr val="F2F2F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05000"/>
              </a:lnSpc>
            </a:pPr>
            <a:r>
              <a:rPr sz="850" b="0" i="0">
                <a:solidFill>
                  <a:srgbClr val="404040"/>
                </a:solidFill>
                <a:latin typeface="맑은 고딕"/>
                <a:ea typeface="맑은 고딕"/>
              </a:rPr>
              <a:t>—</a:t>
            </a:r>
          </a:p>
        </p:txBody>
      </p:sp>
      <p:sp>
        <p:nvSpPr>
          <p:cNvPr id="43" name="TextBox 42"/>
          <p:cNvSpPr txBox="1"/>
          <p:nvPr/>
        </p:nvSpPr>
        <p:spPr>
          <a:xfrm>
            <a:off x="292608" y="4718304"/>
            <a:ext cx="5669280" cy="201168"/>
          </a:xfrm>
          <a:prstGeom prst="rect">
            <a:avLst/>
          </a:prstGeom>
          <a:noFill/>
        </p:spPr>
        <p:txBody>
          <a:bodyPr wrap="square" lIns="0" tIns="0" rIns="0" bIns="0" anchor="t">
            <a:spAutoFit/>
          </a:bodyPr>
          <a:lstStyle/>
          <a:p>
            <a:pPr algn="l"/>
            <a:r>
              <a:rPr sz="1050" b="1" i="0">
                <a:solidFill>
                  <a:srgbClr val="1F6FB5"/>
                </a:solidFill>
                <a:latin typeface="맑은 고딕"/>
                <a:ea typeface="맑은 고딕"/>
              </a:rPr>
              <a:t>전력 계측 수단 — 도메인별로 따로 재고 합산한다</a:t>
            </a:r>
          </a:p>
        </p:txBody>
      </p:sp>
      <p:sp>
        <p:nvSpPr>
          <p:cNvPr id="44" name="TextBox 43"/>
          <p:cNvSpPr txBox="1"/>
          <p:nvPr/>
        </p:nvSpPr>
        <p:spPr>
          <a:xfrm>
            <a:off x="347472" y="4946904"/>
            <a:ext cx="5577840" cy="1572768"/>
          </a:xfrm>
          <a:prstGeom prst="rect">
            <a:avLst/>
          </a:prstGeom>
          <a:noFill/>
        </p:spPr>
        <p:txBody>
          <a:bodyPr wrap="square" lIns="0" tIns="0" rIns="0" bIns="0" anchor="t">
            <a:spAutoFit/>
          </a:bodyPr>
          <a:lstStyle/>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GPU: NVML power.draw 10 Hz 샘플링</a:t>
            </a:r>
          </a:p>
          <a:p>
            <a:pPr marL="109728" indent="0">
              <a:lnSpc>
                <a:spcPct val="106000"/>
              </a:lnSpc>
              <a:spcAft>
                <a:spcPts val="200"/>
              </a:spcAft>
              <a:buNone/>
            </a:pPr>
            <a:r>
              <a:rPr sz="860" b="0" i="0">
                <a:solidFill>
                  <a:srgbClr val="404040"/>
                </a:solidFill>
                <a:latin typeface="맑은 고딕"/>
                <a:ea typeface="맑은 고딕"/>
              </a:rPr>
              <a:t>nvidia-smi --query-gpu=power.draw --format=csv -lms 100</a:t>
            </a:r>
          </a:p>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PNM(CXL AIC): 디바이스 OOB 텔레메트리(CXL mailbox), 미지원 시</a:t>
            </a:r>
          </a:p>
          <a:p>
            <a:pPr marL="109728" indent="0">
              <a:lnSpc>
                <a:spcPct val="106000"/>
              </a:lnSpc>
              <a:spcAft>
                <a:spcPts val="200"/>
              </a:spcAft>
              <a:buNone/>
            </a:pPr>
            <a:r>
              <a:rPr sz="860" b="0" i="0">
                <a:solidFill>
                  <a:srgbClr val="404040"/>
                </a:solidFill>
                <a:latin typeface="맑은 고딕"/>
                <a:ea typeface="맑은 고딕"/>
              </a:rPr>
              <a:t>BMC/Redfish 슬롯 레일 전력(PMBus)으로 대체</a:t>
            </a:r>
          </a:p>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호스트: Intel RAPL의 package·dram 도메인</a:t>
            </a:r>
          </a:p>
          <a:p>
            <a:pPr marL="109728" indent="0">
              <a:lnSpc>
                <a:spcPct val="106000"/>
              </a:lnSpc>
              <a:spcAft>
                <a:spcPts val="200"/>
              </a:spcAft>
              <a:buNone/>
            </a:pPr>
            <a:r>
              <a:rPr sz="860" b="0" i="0">
                <a:solidFill>
                  <a:srgbClr val="404040"/>
                </a:solidFill>
                <a:latin typeface="맑은 고딕"/>
                <a:ea typeface="맑은 고딕"/>
              </a:rPr>
              <a:t>/sys/class/powercap/intel-rapl/*/energy_uj</a:t>
            </a:r>
          </a:p>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노드 벽면: PDU·외부 전력계 — 도메인 합산값과 ±5% 내</a:t>
            </a:r>
          </a:p>
          <a:p>
            <a:pPr marL="109728" indent="0">
              <a:lnSpc>
                <a:spcPct val="106000"/>
              </a:lnSpc>
              <a:spcAft>
                <a:spcPts val="200"/>
              </a:spcAft>
              <a:buNone/>
            </a:pPr>
            <a:r>
              <a:rPr sz="860" b="0" i="0">
                <a:solidFill>
                  <a:srgbClr val="404040"/>
                </a:solidFill>
                <a:latin typeface="맑은 고딕"/>
                <a:ea typeface="맑은 고딕"/>
              </a:rPr>
              <a:t>일치하는지 교차 검증(PSU 효율 포함)</a:t>
            </a:r>
          </a:p>
          <a:p>
            <a:pPr marL="109728" indent="-109728">
              <a:lnSpc>
                <a:spcPct val="106000"/>
              </a:lnSpc>
              <a:spcAft>
                <a:spcPts val="200"/>
              </a:spcAft>
              <a:buFont typeface="Arial" pitchFamily="34" charset="0"/>
              <a:buChar char="•"/>
            </a:pPr>
            <a:r>
              <a:rPr sz="860" b="0" i="0">
                <a:solidFill>
                  <a:srgbClr val="404040"/>
                </a:solidFill>
                <a:latin typeface="맑은 고딕"/>
                <a:ea typeface="맑은 고딕"/>
              </a:rPr>
              <a:t>샘플링 타당성: 주기를 절반으로 줄여도 적분값 E 변화 &lt; 1%</a:t>
            </a:r>
          </a:p>
        </p:txBody>
      </p:sp>
      <p:sp>
        <p:nvSpPr>
          <p:cNvPr id="45" name="TextBox 44"/>
          <p:cNvSpPr txBox="1"/>
          <p:nvPr/>
        </p:nvSpPr>
        <p:spPr>
          <a:xfrm>
            <a:off x="6263640" y="4718304"/>
            <a:ext cx="5669280" cy="201168"/>
          </a:xfrm>
          <a:prstGeom prst="rect">
            <a:avLst/>
          </a:prstGeom>
          <a:noFill/>
        </p:spPr>
        <p:txBody>
          <a:bodyPr wrap="square" lIns="0" tIns="0" rIns="0" bIns="0" anchor="t">
            <a:spAutoFit/>
          </a:bodyPr>
          <a:lstStyle/>
          <a:p>
            <a:pPr algn="l"/>
            <a:r>
              <a:rPr sz="1050" b="1" i="0">
                <a:solidFill>
                  <a:srgbClr val="1F6FB5"/>
                </a:solidFill>
                <a:latin typeface="맑은 고딕"/>
                <a:ea typeface="맑은 고딕"/>
              </a:rPr>
              <a:t>측정 경계와 비교 조건</a:t>
            </a:r>
          </a:p>
        </p:txBody>
      </p:sp>
      <p:sp>
        <p:nvSpPr>
          <p:cNvPr id="46" name="TextBox 45"/>
          <p:cNvSpPr txBox="1"/>
          <p:nvPr/>
        </p:nvSpPr>
        <p:spPr>
          <a:xfrm>
            <a:off x="6318504" y="4946904"/>
            <a:ext cx="5577840" cy="1737360"/>
          </a:xfrm>
          <a:prstGeom prst="rect">
            <a:avLst/>
          </a:prstGeom>
          <a:noFill/>
        </p:spPr>
        <p:txBody>
          <a:bodyPr wrap="square" lIns="0" tIns="0" rIns="0" bIns="0" anchor="t">
            <a:spAutoFit/>
          </a:bodyPr>
          <a:lstStyle/>
          <a:p>
            <a:pPr marL="109728" indent="-109728">
              <a:lnSpc>
                <a:spcPct val="106000"/>
              </a:lnSpc>
              <a:spcAft>
                <a:spcPts val="200"/>
              </a:spcAft>
              <a:buFont typeface="Arial" pitchFamily="34" charset="0"/>
              <a:buChar char="•"/>
            </a:pPr>
            <a:r>
              <a:rPr sz="860" b="0" i="0">
                <a:solidFill>
                  <a:srgbClr val="404040"/>
                </a:solidFill>
                <a:latin typeface="맑은 고딕"/>
                <a:ea typeface="맑은 고딕"/>
              </a:rPr>
              <a:t>1차 경계(가속기, 주 지표): GPU + PNM — 설계가 직접 바꾸는 범위</a:t>
            </a:r>
          </a:p>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2차 경계(노드): CPU·DRAM·팬·PSU 손실 포함, TCO에 가까운 값.</a:t>
            </a:r>
          </a:p>
          <a:p>
            <a:pPr marL="109728" indent="0">
              <a:lnSpc>
                <a:spcPct val="106000"/>
              </a:lnSpc>
              <a:spcAft>
                <a:spcPts val="0"/>
              </a:spcAft>
              <a:buNone/>
            </a:pPr>
            <a:r>
              <a:rPr sz="860" b="0" i="0">
                <a:solidFill>
                  <a:srgbClr val="404040"/>
                </a:solidFill>
                <a:latin typeface="맑은 고딕"/>
                <a:ea typeface="맑은 고딕"/>
              </a:rPr>
              <a:t>축소 환경은 공통 전력 비중이 커서 노드 G를 과소평가한다</a:t>
            </a:r>
          </a:p>
          <a:p>
            <a:pPr marL="109728" indent="0">
              <a:lnSpc>
                <a:spcPct val="106000"/>
              </a:lnSpc>
              <a:spcAft>
                <a:spcPts val="200"/>
              </a:spcAft>
              <a:buNone/>
            </a:pPr>
            <a:r>
              <a:rPr sz="860" b="0" i="0">
                <a:solidFill>
                  <a:srgbClr val="404040"/>
                </a:solidFill>
                <a:latin typeface="맑은 고딕"/>
                <a:ea typeface="맑은 고딕"/>
              </a:rPr>
              <a:t>→ 두 경계의 G를 함께 보고(가속기 = 상한, 노드 = 하한)</a:t>
            </a:r>
          </a:p>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측정 창: warm-up 제외, SLO 만족 steady state 구간.</a:t>
            </a:r>
          </a:p>
          <a:p>
            <a:pPr marL="109728" indent="0">
              <a:lnSpc>
                <a:spcPct val="106000"/>
              </a:lnSpc>
              <a:spcAft>
                <a:spcPts val="0"/>
              </a:spcAft>
              <a:buNone/>
            </a:pPr>
            <a:r>
              <a:rPr sz="860" b="0" i="0">
                <a:solidFill>
                  <a:srgbClr val="404040"/>
                </a:solidFill>
                <a:latin typeface="맑은 고딕"/>
                <a:ea typeface="맑은 고딕"/>
              </a:rPr>
              <a:t>tool call 대기 유휴 구간을 포함한다 — 유휴 점유 비용이 지표에</a:t>
            </a:r>
          </a:p>
          <a:p>
            <a:pPr marL="109728" indent="0">
              <a:lnSpc>
                <a:spcPct val="106000"/>
              </a:lnSpc>
              <a:spcAft>
                <a:spcPts val="200"/>
              </a:spcAft>
              <a:buNone/>
            </a:pPr>
            <a:r>
              <a:rPr sz="860" b="0" i="0">
                <a:solidFill>
                  <a:srgbClr val="404040"/>
                </a:solidFill>
                <a:latin typeface="맑은 고딕"/>
                <a:ea typeface="맑은 고딕"/>
              </a:rPr>
              <a:t>들어오지 않으면 이 과제의 문제 정의와 어긋난다</a:t>
            </a:r>
          </a:p>
          <a:p>
            <a:pPr marL="109728" indent="-109728">
              <a:lnSpc>
                <a:spcPct val="106000"/>
              </a:lnSpc>
              <a:spcAft>
                <a:spcPts val="0"/>
              </a:spcAft>
              <a:buFont typeface="Arial" pitchFamily="34" charset="0"/>
              <a:buChar char="•"/>
            </a:pPr>
            <a:r>
              <a:rPr sz="860" b="0" i="0">
                <a:solidFill>
                  <a:srgbClr val="404040"/>
                </a:solidFill>
                <a:latin typeface="맑은 고딕"/>
                <a:ea typeface="맑은 고딕"/>
              </a:rPr>
              <a:t>토큰 수: output token 기준. prefill token은 별도 기록 —</a:t>
            </a:r>
          </a:p>
          <a:p>
            <a:pPr marL="109728" indent="0">
              <a:lnSpc>
                <a:spcPct val="106000"/>
              </a:lnSpc>
              <a:spcAft>
                <a:spcPts val="200"/>
              </a:spcAft>
              <a:buNone/>
            </a:pPr>
            <a:r>
              <a:rPr sz="860" b="0" i="0">
                <a:solidFill>
                  <a:srgbClr val="404040"/>
                </a:solidFill>
                <a:latin typeface="맑은 고딕"/>
                <a:ea typeface="맑은 고딕"/>
              </a:rPr>
              <a:t>재계산으로 되돌린 비용이 여기서 드러난다</a:t>
            </a:r>
          </a:p>
          <a:p>
            <a:pPr marL="109728" indent="-109728">
              <a:lnSpc>
                <a:spcPct val="106000"/>
              </a:lnSpc>
              <a:spcAft>
                <a:spcPts val="200"/>
              </a:spcAft>
              <a:buFont typeface="Arial" pitchFamily="34" charset="0"/>
              <a:buChar char="•"/>
            </a:pPr>
            <a:r>
              <a:rPr sz="860" b="0" i="0">
                <a:solidFill>
                  <a:srgbClr val="404040"/>
                </a:solidFill>
                <a:latin typeface="맑은 고딕"/>
                <a:ea typeface="맑은 고딕"/>
              </a:rPr>
              <a:t>iso-throughput: Baseline의 Max SLO goodput 지점에 Target을 고정</a:t>
            </a:r>
          </a:p>
        </p:txBody>
      </p:sp>
      <p:sp>
        <p:nvSpPr>
          <p:cNvPr id="47" name="TextBox 46"/>
          <p:cNvSpPr txBox="1"/>
          <p:nvPr/>
        </p:nvSpPr>
        <p:spPr>
          <a:xfrm>
            <a:off x="292608" y="6528816"/>
            <a:ext cx="11640312" cy="274320"/>
          </a:xfrm>
          <a:prstGeom prst="rect">
            <a:avLst/>
          </a:prstGeom>
          <a:noFill/>
        </p:spPr>
        <p:txBody>
          <a:bodyPr wrap="square" lIns="0" tIns="0" rIns="0" bIns="0" anchor="ctr">
            <a:spAutoFit/>
          </a:bodyPr>
          <a:lstStyle/>
          <a:p>
            <a:pPr algn="l"/>
            <a:r>
              <a:rPr sz="750" b="0" i="0">
                <a:solidFill>
                  <a:srgbClr val="808080"/>
                </a:solidFill>
                <a:latin typeface="맑은 고딕"/>
                <a:ea typeface="맑은 고딕"/>
              </a:rPr>
              <a:t>전력 수치는 공개 TDP 기준 설계 추정치 — A100 80GB SXM4 400 W, CXL AIC는 PCIe CEM x16 슬롯 상한 75 W 가정. 실측 p가 확정되면 별점 구간을 재고정한다 · R 구간 출처: 처리량 - 평가 기준 페이지(문헌 7편)</a:t>
            </a:r>
          </a:p>
        </p:txBody>
      </p:sp>
    </p:spTree>
    <p:extLst>
      <p:ext uri="{BB962C8B-B14F-4D97-AF65-F5344CB8AC3E}">
        <p14:creationId xmlns:p14="http://schemas.microsoft.com/office/powerpoint/2010/main" val="42279174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633046" y="541030"/>
            <a:ext cx="6096000" cy="5775940"/>
          </a:xfrm>
          <a:prstGeom prst="rect">
            <a:avLst/>
          </a:prstGeom>
        </p:spPr>
        <p:txBody>
          <a:bodyPr>
            <a:spAutoFit/>
          </a:bodyPr>
          <a:lstStyle/>
          <a:p>
            <a:r>
              <a:rPr lang="ko-KR" altLang="ko-KR" sz="1050" b="1" dirty="0">
                <a:solidFill>
                  <a:srgbClr val="172B4D"/>
                </a:solidFill>
                <a:latin typeface="Segoe UI" panose="020B0502040204020203" pitchFamily="34" charset="0"/>
                <a:cs typeface="Segoe UI" panose="020B0502040204020203" pitchFamily="34" charset="0"/>
              </a:rPr>
              <a:t>참석자</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ko-KR" altLang="ko-KR" sz="1050" dirty="0" err="1">
                <a:solidFill>
                  <a:srgbClr val="172B4D"/>
                </a:solidFill>
                <a:latin typeface="굴림" panose="020B0600000101010101" pitchFamily="50" charset="-127"/>
                <a:cs typeface="Segoe UI" panose="020B0502040204020203" pitchFamily="34" charset="0"/>
              </a:rPr>
              <a:t>메모리사</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소진인</a:t>
            </a:r>
            <a:r>
              <a:rPr lang="en-US" altLang="ko-KR" sz="1050" dirty="0">
                <a:solidFill>
                  <a:srgbClr val="172B4D"/>
                </a:solidFill>
                <a:latin typeface="굴림" panose="020B0600000101010101" pitchFamily="50" charset="-127"/>
                <a:cs typeface="Segoe UI" panose="020B0502040204020203" pitchFamily="34" charset="0"/>
              </a:rPr>
              <a:t> PL</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SAIT : </a:t>
            </a:r>
            <a:r>
              <a:rPr lang="ko-KR" altLang="ko-KR" sz="1050" dirty="0">
                <a:solidFill>
                  <a:srgbClr val="172B4D"/>
                </a:solidFill>
                <a:latin typeface="굴림" panose="020B0600000101010101" pitchFamily="50" charset="-127"/>
                <a:cs typeface="Segoe UI" panose="020B0502040204020203" pitchFamily="34" charset="0"/>
              </a:rPr>
              <a:t>이승원</a:t>
            </a:r>
            <a:r>
              <a:rPr lang="en-US" altLang="ko-KR" sz="1050" dirty="0">
                <a:solidFill>
                  <a:srgbClr val="172B4D"/>
                </a:solidFill>
                <a:latin typeface="굴림" panose="020B0600000101010101" pitchFamily="50" charset="-127"/>
                <a:cs typeface="Segoe UI" panose="020B0502040204020203" pitchFamily="34" charset="0"/>
              </a:rPr>
              <a:t> PL, </a:t>
            </a:r>
            <a:r>
              <a:rPr lang="ko-KR" altLang="ko-KR" sz="1050" dirty="0">
                <a:solidFill>
                  <a:srgbClr val="172B4D"/>
                </a:solidFill>
                <a:latin typeface="굴림" panose="020B0600000101010101" pitchFamily="50" charset="-127"/>
                <a:cs typeface="Segoe UI" panose="020B0502040204020203" pitchFamily="34" charset="0"/>
              </a:rPr>
              <a:t>윤석영</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김현수</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err="1">
                <a:solidFill>
                  <a:srgbClr val="172B4D"/>
                </a:solidFill>
                <a:latin typeface="굴림" panose="020B0600000101010101" pitchFamily="50" charset="-127"/>
                <a:cs typeface="Segoe UI" panose="020B0502040204020203" pitchFamily="34" charset="0"/>
              </a:rPr>
              <a:t>김명우</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김진성</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a:spcBef>
                <a:spcPts val="750"/>
              </a:spcBef>
            </a:pPr>
            <a:r>
              <a:rPr lang="en-US" altLang="ko-KR" sz="1050" dirty="0">
                <a:solidFill>
                  <a:srgbClr val="172B4D"/>
                </a:solidFill>
                <a:latin typeface="Segoe UI" panose="020B0502040204020203" pitchFamily="34" charset="0"/>
                <a:cs typeface="굴림" panose="020B0600000101010101" pitchFamily="50" charset="-127"/>
              </a:rPr>
              <a:t> </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a:spcBef>
                <a:spcPts val="750"/>
              </a:spcBef>
            </a:pPr>
            <a:r>
              <a:rPr lang="en-US" altLang="ko-KR" sz="1050" b="1" dirty="0" err="1">
                <a:solidFill>
                  <a:srgbClr val="172B4D"/>
                </a:solidFill>
                <a:latin typeface="Segoe UI" panose="020B0502040204020203" pitchFamily="34" charset="0"/>
                <a:cs typeface="굴림" panose="020B0600000101010101" pitchFamily="50" charset="-127"/>
              </a:rPr>
              <a:t>D.Sol</a:t>
            </a:r>
            <a:r>
              <a:rPr lang="en-US" altLang="ko-KR" sz="1050" b="1" dirty="0">
                <a:solidFill>
                  <a:srgbClr val="172B4D"/>
                </a:solidFill>
                <a:latin typeface="Segoe UI" panose="020B0502040204020203" pitchFamily="34" charset="0"/>
                <a:cs typeface="굴림" panose="020B0600000101010101" pitchFamily="50" charset="-127"/>
              </a:rPr>
              <a:t> </a:t>
            </a:r>
            <a:r>
              <a:rPr lang="ko-KR" altLang="ko-KR" sz="1050" b="1" dirty="0">
                <a:solidFill>
                  <a:srgbClr val="172B4D"/>
                </a:solidFill>
                <a:latin typeface="Segoe UI" panose="020B0502040204020203" pitchFamily="34" charset="0"/>
                <a:cs typeface="Segoe UI" panose="020B0502040204020203" pitchFamily="34" charset="0"/>
              </a:rPr>
              <a:t>현황</a:t>
            </a:r>
            <a:r>
              <a:rPr lang="ko-KR" altLang="ko-KR" sz="1050" b="1" dirty="0">
                <a:solidFill>
                  <a:srgbClr val="172B4D"/>
                </a:solidFill>
                <a:latin typeface="굴림" panose="020B0600000101010101" pitchFamily="50" charset="-127"/>
                <a:ea typeface="Segoe UI" panose="020B0502040204020203" pitchFamily="34" charset="0"/>
                <a:cs typeface="굴림" panose="020B0600000101010101" pitchFamily="50" charset="-127"/>
              </a:rPr>
              <a:t> </a:t>
            </a:r>
            <a:r>
              <a:rPr lang="ko-KR" altLang="ko-KR" sz="1050" b="1" dirty="0">
                <a:solidFill>
                  <a:srgbClr val="172B4D"/>
                </a:solidFill>
                <a:latin typeface="Segoe UI" panose="020B0502040204020203" pitchFamily="34" charset="0"/>
                <a:cs typeface="Segoe UI" panose="020B0502040204020203" pitchFamily="34" charset="0"/>
              </a:rPr>
              <a:t>소개</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Coral </a:t>
            </a:r>
            <a:r>
              <a:rPr lang="ko-KR" altLang="ko-KR" sz="1050" dirty="0">
                <a:solidFill>
                  <a:srgbClr val="172B4D"/>
                </a:solidFill>
                <a:latin typeface="굴림" panose="020B0600000101010101" pitchFamily="50" charset="-127"/>
                <a:cs typeface="Segoe UI" panose="020B0502040204020203" pitchFamily="34" charset="0"/>
              </a:rPr>
              <a:t>과제 연구과제로 전환</a:t>
            </a:r>
            <a:r>
              <a:rPr lang="en-US" altLang="ko-KR" sz="1050" dirty="0">
                <a:solidFill>
                  <a:srgbClr val="172B4D"/>
                </a:solidFill>
                <a:latin typeface="굴림" panose="020B0600000101010101" pitchFamily="50" charset="-127"/>
                <a:cs typeface="Segoe UI" panose="020B0502040204020203" pitchFamily="34" charset="0"/>
              </a:rPr>
              <a:t> (MPW </a:t>
            </a:r>
            <a:r>
              <a:rPr lang="ko-KR" altLang="ko-KR" sz="1050" dirty="0">
                <a:solidFill>
                  <a:srgbClr val="172B4D"/>
                </a:solidFill>
                <a:latin typeface="굴림" panose="020B0600000101010101" pitchFamily="50" charset="-127"/>
                <a:cs typeface="Segoe UI" panose="020B0502040204020203" pitchFamily="34" charset="0"/>
              </a:rPr>
              <a:t>예정</a:t>
            </a:r>
            <a:r>
              <a:rPr lang="en-US" altLang="ko-KR" sz="1050" dirty="0">
                <a:solidFill>
                  <a:srgbClr val="172B4D"/>
                </a:solidFill>
                <a:latin typeface="굴림" panose="020B0600000101010101" pitchFamily="50" charset="-127"/>
                <a:cs typeface="Segoe UI" panose="020B0502040204020203" pitchFamily="34" charset="0"/>
              </a:rPr>
              <a:t>, '26.9 Final Netlist)</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PNM</a:t>
            </a:r>
            <a:r>
              <a:rPr lang="ko-KR" altLang="ko-KR" sz="1050" dirty="0">
                <a:solidFill>
                  <a:srgbClr val="172B4D"/>
                </a:solidFill>
                <a:latin typeface="굴림" panose="020B0600000101010101" pitchFamily="50" charset="-127"/>
                <a:cs typeface="Segoe UI" panose="020B0502040204020203" pitchFamily="34" charset="0"/>
              </a:rPr>
              <a:t>은</a:t>
            </a:r>
            <a:r>
              <a:rPr lang="en-US" altLang="ko-KR" sz="1050" dirty="0">
                <a:solidFill>
                  <a:srgbClr val="172B4D"/>
                </a:solidFill>
                <a:latin typeface="굴림" panose="020B0600000101010101" pitchFamily="50" charset="-127"/>
                <a:cs typeface="Segoe UI" panose="020B0502040204020203" pitchFamily="34" charset="0"/>
              </a:rPr>
              <a:t> </a:t>
            </a:r>
            <a:r>
              <a:rPr lang="en-US" altLang="ko-KR" sz="1050" dirty="0" err="1">
                <a:solidFill>
                  <a:srgbClr val="172B4D"/>
                </a:solidFill>
                <a:latin typeface="굴림" panose="020B0600000101010101" pitchFamily="50" charset="-127"/>
                <a:cs typeface="Segoe UI" panose="020B0502040204020203" pitchFamily="34" charset="0"/>
              </a:rPr>
              <a:t>Chiplet</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기반으로</a:t>
            </a:r>
            <a:r>
              <a:rPr lang="en-US" altLang="ko-KR" sz="1050" dirty="0">
                <a:solidFill>
                  <a:srgbClr val="172B4D"/>
                </a:solidFill>
                <a:latin typeface="굴림" panose="020B0600000101010101" pitchFamily="50" charset="-127"/>
                <a:cs typeface="Segoe UI" panose="020B0502040204020203" pitchFamily="34" charset="0"/>
              </a:rPr>
              <a:t> UCI Port</a:t>
            </a:r>
            <a:r>
              <a:rPr lang="ko-KR" altLang="ko-KR" sz="1050" dirty="0">
                <a:solidFill>
                  <a:srgbClr val="172B4D"/>
                </a:solidFill>
                <a:latin typeface="굴림" panose="020B0600000101010101" pitchFamily="50" charset="-127"/>
                <a:cs typeface="Segoe UI" panose="020B0502040204020203" pitchFamily="34" charset="0"/>
              </a:rPr>
              <a:t>를 통해 연결 예정</a:t>
            </a:r>
            <a:r>
              <a:rPr lang="en-US" altLang="ko-KR" sz="1050" dirty="0">
                <a:solidFill>
                  <a:srgbClr val="172B4D"/>
                </a:solidFill>
                <a:latin typeface="굴림" panose="020B0600000101010101" pitchFamily="50" charset="-127"/>
                <a:cs typeface="Segoe UI" panose="020B0502040204020203" pitchFamily="34" charset="0"/>
              </a:rPr>
              <a:t> (CXL-PNM + LP5X (4nm 6-months))</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ko-KR" altLang="ko-KR" sz="1050" dirty="0">
                <a:solidFill>
                  <a:srgbClr val="172B4D"/>
                </a:solidFill>
                <a:latin typeface="굴림" panose="020B0600000101010101" pitchFamily="50" charset="-127"/>
                <a:cs typeface="Segoe UI" panose="020B0502040204020203" pitchFamily="34" charset="0"/>
              </a:rPr>
              <a:t>소진인</a:t>
            </a:r>
            <a:r>
              <a:rPr lang="en-US" altLang="ko-KR" sz="1050" dirty="0">
                <a:solidFill>
                  <a:srgbClr val="172B4D"/>
                </a:solidFill>
                <a:latin typeface="굴림" panose="020B0600000101010101" pitchFamily="50" charset="-127"/>
                <a:cs typeface="Segoe UI" panose="020B0502040204020203" pitchFamily="34" charset="0"/>
              </a:rPr>
              <a:t> PL</a:t>
            </a:r>
            <a:r>
              <a:rPr lang="ko-KR" altLang="ko-KR" sz="1050" dirty="0">
                <a:solidFill>
                  <a:srgbClr val="172B4D"/>
                </a:solidFill>
                <a:latin typeface="굴림" panose="020B0600000101010101" pitchFamily="50" charset="-127"/>
                <a:cs typeface="Segoe UI" panose="020B0502040204020203" pitchFamily="34" charset="0"/>
              </a:rPr>
              <a:t>님은</a:t>
            </a:r>
            <a:r>
              <a:rPr lang="en-US" altLang="ko-KR" sz="1050" dirty="0">
                <a:solidFill>
                  <a:srgbClr val="172B4D"/>
                </a:solidFill>
                <a:latin typeface="굴림" panose="020B0600000101010101" pitchFamily="50" charset="-127"/>
                <a:cs typeface="Segoe UI" panose="020B0502040204020203" pitchFamily="34" charset="0"/>
              </a:rPr>
              <a:t> Memory Pool, Firmware, Software </a:t>
            </a:r>
            <a:r>
              <a:rPr lang="ko-KR" altLang="ko-KR" sz="1050" dirty="0">
                <a:solidFill>
                  <a:srgbClr val="172B4D"/>
                </a:solidFill>
                <a:latin typeface="굴림" panose="020B0600000101010101" pitchFamily="50" charset="-127"/>
                <a:cs typeface="Segoe UI" panose="020B0502040204020203" pitchFamily="34" charset="0"/>
              </a:rPr>
              <a:t>담당</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ko-KR" altLang="ko-KR" sz="1050" dirty="0">
                <a:solidFill>
                  <a:srgbClr val="172B4D"/>
                </a:solidFill>
                <a:latin typeface="굴림" panose="020B0600000101010101" pitchFamily="50" charset="-127"/>
                <a:cs typeface="Segoe UI" panose="020B0502040204020203" pitchFamily="34" charset="0"/>
              </a:rPr>
              <a:t>보유</a:t>
            </a:r>
            <a:r>
              <a:rPr lang="en-US" altLang="ko-KR" sz="1050" dirty="0">
                <a:solidFill>
                  <a:srgbClr val="172B4D"/>
                </a:solidFill>
                <a:latin typeface="굴림" panose="020B0600000101010101" pitchFamily="50" charset="-127"/>
                <a:cs typeface="Segoe UI" panose="020B0502040204020203" pitchFamily="34" charset="0"/>
              </a:rPr>
              <a:t> CMM-DC Hardware </a:t>
            </a:r>
            <a:r>
              <a:rPr lang="ko-KR" altLang="ko-KR" sz="1050" dirty="0">
                <a:solidFill>
                  <a:srgbClr val="172B4D"/>
                </a:solidFill>
                <a:latin typeface="굴림" panose="020B0600000101010101" pitchFamily="50" charset="-127"/>
                <a:cs typeface="Segoe UI" panose="020B0502040204020203" pitchFamily="34" charset="0"/>
              </a:rPr>
              <a:t>–</a:t>
            </a:r>
            <a:r>
              <a:rPr lang="en-US" altLang="ko-KR" sz="1050" dirty="0">
                <a:solidFill>
                  <a:srgbClr val="172B4D"/>
                </a:solidFill>
                <a:latin typeface="굴림" panose="020B0600000101010101" pitchFamily="50" charset="-127"/>
                <a:cs typeface="Segoe UI" panose="020B0502040204020203" pitchFamily="34" charset="0"/>
              </a:rPr>
              <a:t> Marvell / XCENA</a:t>
            </a:r>
            <a:r>
              <a:rPr lang="ko-KR" altLang="ko-KR" sz="1050" dirty="0">
                <a:solidFill>
                  <a:srgbClr val="172B4D"/>
                </a:solidFill>
                <a:latin typeface="굴림" panose="020B0600000101010101" pitchFamily="50" charset="-127"/>
                <a:cs typeface="Segoe UI" panose="020B0502040204020203" pitchFamily="34" charset="0"/>
              </a:rPr>
              <a:t>를 가지고 있음</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ko-KR" altLang="ko-KR" sz="1050" dirty="0">
                <a:solidFill>
                  <a:srgbClr val="172B4D"/>
                </a:solidFill>
                <a:latin typeface="굴림" panose="020B0600000101010101" pitchFamily="50" charset="-127"/>
                <a:cs typeface="Segoe UI" panose="020B0502040204020203" pitchFamily="34" charset="0"/>
              </a:rPr>
              <a:t>대상</a:t>
            </a:r>
            <a:r>
              <a:rPr lang="en-US" altLang="ko-KR" sz="1050" dirty="0">
                <a:solidFill>
                  <a:srgbClr val="172B4D"/>
                </a:solidFill>
                <a:latin typeface="굴림" panose="020B0600000101010101" pitchFamily="50" charset="-127"/>
                <a:cs typeface="Segoe UI" panose="020B0502040204020203" pitchFamily="34" charset="0"/>
              </a:rPr>
              <a:t> Workload: Prefix Caching</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ko-KR" altLang="ko-KR" sz="1050" dirty="0">
                <a:solidFill>
                  <a:srgbClr val="172B4D"/>
                </a:solidFill>
                <a:latin typeface="굴림" panose="020B0600000101010101" pitchFamily="50" charset="-127"/>
                <a:cs typeface="Segoe UI" panose="020B0502040204020203" pitchFamily="34" charset="0"/>
              </a:rPr>
              <a:t>현재</a:t>
            </a:r>
            <a:r>
              <a:rPr lang="en-US" altLang="ko-KR" sz="1050" dirty="0">
                <a:solidFill>
                  <a:srgbClr val="172B4D"/>
                </a:solidFill>
                <a:latin typeface="굴림" panose="020B0600000101010101" pitchFamily="50" charset="-127"/>
                <a:cs typeface="Segoe UI" panose="020B0502040204020203" pitchFamily="34" charset="0"/>
              </a:rPr>
              <a:t> CXL 2.x </a:t>
            </a:r>
            <a:r>
              <a:rPr lang="ko-KR" altLang="ko-KR" sz="1050" dirty="0">
                <a:solidFill>
                  <a:srgbClr val="172B4D"/>
                </a:solidFill>
                <a:latin typeface="굴림" panose="020B0600000101010101" pitchFamily="50" charset="-127"/>
                <a:cs typeface="Segoe UI" panose="020B0502040204020203" pitchFamily="34" charset="0"/>
              </a:rPr>
              <a:t>기반</a:t>
            </a:r>
            <a:r>
              <a:rPr lang="en-US" altLang="ko-KR" sz="1050" dirty="0">
                <a:solidFill>
                  <a:srgbClr val="172B4D"/>
                </a:solidFill>
                <a:latin typeface="굴림" panose="020B0600000101010101" pitchFamily="50" charset="-127"/>
                <a:cs typeface="Segoe UI" panose="020B0502040204020203" pitchFamily="34" charset="0"/>
              </a:rPr>
              <a:t> CMM-D Pooling System </a:t>
            </a:r>
            <a:r>
              <a:rPr lang="ko-KR" altLang="ko-KR" sz="1050" dirty="0">
                <a:solidFill>
                  <a:srgbClr val="172B4D"/>
                </a:solidFill>
                <a:latin typeface="굴림" panose="020B0600000101010101" pitchFamily="50" charset="-127"/>
                <a:cs typeface="Segoe UI" panose="020B0502040204020203" pitchFamily="34" charset="0"/>
              </a:rPr>
              <a:t>구축</a:t>
            </a:r>
            <a:r>
              <a:rPr lang="en-US" altLang="ko-KR" sz="1050" dirty="0">
                <a:solidFill>
                  <a:srgbClr val="172B4D"/>
                </a:solidFill>
                <a:latin typeface="굴림" panose="020B0600000101010101" pitchFamily="50" charset="-127"/>
                <a:cs typeface="Segoe UI" panose="020B0502040204020203" pitchFamily="34" charset="0"/>
              </a:rPr>
              <a:t> (</a:t>
            </a:r>
            <a:r>
              <a:rPr lang="en-US" altLang="ko-KR" sz="1050" dirty="0" err="1">
                <a:solidFill>
                  <a:srgbClr val="172B4D"/>
                </a:solidFill>
                <a:latin typeface="굴림" panose="020B0600000101010101" pitchFamily="50" charset="-127"/>
                <a:cs typeface="Segoe UI" panose="020B0502040204020203" pitchFamily="34" charset="0"/>
              </a:rPr>
              <a:t>Liqid</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사 기반</a:t>
            </a:r>
            <a:r>
              <a:rPr lang="en-US" altLang="ko-KR" sz="1050" dirty="0">
                <a:solidFill>
                  <a:srgbClr val="172B4D"/>
                </a:solidFill>
                <a:latin typeface="굴림" panose="020B0600000101010101" pitchFamily="50" charset="-127"/>
                <a:cs typeface="Segoe UI" panose="020B0502040204020203" pitchFamily="34" charset="0"/>
              </a:rPr>
              <a:t>, Alibaba Beluga)</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742950" lvl="1" indent="-285750">
              <a:buSzPts val="1000"/>
              <a:buFont typeface="Courier New" panose="02070309020205020404" pitchFamily="49" charset="0"/>
              <a:buChar char="o"/>
              <a:tabLst>
                <a:tab pos="914400" algn="l"/>
              </a:tabLst>
            </a:pPr>
            <a:r>
              <a:rPr lang="en-US" altLang="ko-KR" sz="1050" dirty="0" err="1">
                <a:solidFill>
                  <a:srgbClr val="172B4D"/>
                </a:solidFill>
                <a:latin typeface="맑은 고딕" panose="020B0503020000020004" pitchFamily="50" charset="-127"/>
                <a:ea typeface="굴림" panose="020B0600000101010101" pitchFamily="50" charset="-127"/>
                <a:cs typeface="Segoe UI" panose="020B0502040204020203" pitchFamily="34" charset="0"/>
              </a:rPr>
              <a:t>Liqid</a:t>
            </a: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사</a:t>
            </a:r>
            <a:r>
              <a:rPr lang="en-US" altLang="ko-KR" sz="1050" dirty="0">
                <a:solidFill>
                  <a:srgbClr val="172B4D"/>
                </a:solidFill>
                <a:latin typeface="굴림" panose="020B0600000101010101" pitchFamily="50" charset="-127"/>
                <a:cs typeface="Segoe UI" panose="020B0502040204020203" pitchFamily="34" charset="0"/>
              </a:rPr>
              <a:t> 4U </a:t>
            </a:r>
            <a:r>
              <a:rPr lang="ko-KR" altLang="ko-KR" sz="1050" dirty="0">
                <a:solidFill>
                  <a:srgbClr val="172B4D"/>
                </a:solidFill>
                <a:latin typeface="굴림" panose="020B0600000101010101" pitchFamily="50" charset="-127"/>
                <a:cs typeface="Segoe UI" panose="020B0502040204020203" pitchFamily="34" charset="0"/>
              </a:rPr>
              <a:t>서버</a:t>
            </a:r>
            <a:r>
              <a:rPr lang="en-US" altLang="ko-KR" sz="1050" dirty="0">
                <a:solidFill>
                  <a:srgbClr val="172B4D"/>
                </a:solidFill>
                <a:latin typeface="굴림" panose="020B0600000101010101" pitchFamily="50" charset="-127"/>
                <a:cs typeface="Segoe UI" panose="020B0502040204020203" pitchFamily="34" charset="0"/>
              </a:rPr>
              <a:t>, 10 x CMM-D/DC</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Memory Sharing</a:t>
            </a:r>
            <a:r>
              <a:rPr lang="ko-KR" altLang="ko-KR" sz="1050" dirty="0">
                <a:solidFill>
                  <a:srgbClr val="172B4D"/>
                </a:solidFill>
                <a:latin typeface="굴림" panose="020B0600000101010101" pitchFamily="50" charset="-127"/>
                <a:cs typeface="Segoe UI" panose="020B0502040204020203" pitchFamily="34" charset="0"/>
              </a:rPr>
              <a:t>을 위한</a:t>
            </a:r>
            <a:r>
              <a:rPr lang="en-US" altLang="ko-KR" sz="1050" dirty="0">
                <a:solidFill>
                  <a:srgbClr val="172B4D"/>
                </a:solidFill>
                <a:latin typeface="굴림" panose="020B0600000101010101" pitchFamily="50" charset="-127"/>
                <a:cs typeface="Segoe UI" panose="020B0502040204020203" pitchFamily="34" charset="0"/>
              </a:rPr>
              <a:t> S/W </a:t>
            </a:r>
            <a:r>
              <a:rPr lang="ko-KR" altLang="ko-KR" sz="1050" dirty="0">
                <a:solidFill>
                  <a:srgbClr val="172B4D"/>
                </a:solidFill>
                <a:latin typeface="굴림" panose="020B0600000101010101" pitchFamily="50" charset="-127"/>
                <a:cs typeface="Segoe UI" panose="020B0502040204020203" pitchFamily="34" charset="0"/>
              </a:rPr>
              <a:t>개발 진행 중</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ko-KR" altLang="ko-KR" sz="1050" dirty="0">
                <a:solidFill>
                  <a:srgbClr val="172B4D"/>
                </a:solidFill>
                <a:latin typeface="굴림" panose="020B0600000101010101" pitchFamily="50" charset="-127"/>
                <a:cs typeface="Segoe UI" panose="020B0502040204020203" pitchFamily="34" charset="0"/>
              </a:rPr>
              <a:t>협업 시 기대하는 내용</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742950" lvl="1" indent="-285750">
              <a:buSzPts val="1000"/>
              <a:buFont typeface="Courier New" panose="02070309020205020404" pitchFamily="49" charset="0"/>
              <a:buChar char="o"/>
              <a:tabLst>
                <a:tab pos="9144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Device Requirement </a:t>
            </a:r>
            <a:r>
              <a:rPr lang="ko-KR" altLang="ko-KR" sz="1050" dirty="0">
                <a:solidFill>
                  <a:srgbClr val="172B4D"/>
                </a:solidFill>
                <a:latin typeface="굴림" panose="020B0600000101010101" pitchFamily="50" charset="-127"/>
                <a:cs typeface="Segoe UI" panose="020B0502040204020203" pitchFamily="34" charset="0"/>
              </a:rPr>
              <a:t>발굴</a:t>
            </a:r>
            <a:r>
              <a:rPr lang="en-US" altLang="ko-KR" sz="1050" dirty="0">
                <a:solidFill>
                  <a:srgbClr val="172B4D"/>
                </a:solidFill>
                <a:latin typeface="굴림" panose="020B0600000101010101" pitchFamily="50" charset="-127"/>
                <a:cs typeface="Segoe UI" panose="020B0502040204020203" pitchFamily="34" charset="0"/>
              </a:rPr>
              <a:t> - PNM H/W Requirement</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ko-KR" altLang="ko-KR" sz="1050" dirty="0">
                <a:solidFill>
                  <a:srgbClr val="172B4D"/>
                </a:solidFill>
                <a:latin typeface="굴림" panose="020B0600000101010101" pitchFamily="50" charset="-127"/>
                <a:cs typeface="Segoe UI" panose="020B0502040204020203" pitchFamily="34" charset="0"/>
              </a:rPr>
              <a:t>차세대 응용 연구</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marL="1143000" lvl="2" indent="-228600">
              <a:buSzPts val="1000"/>
              <a:buFont typeface="Wingdings" panose="05000000000000000000" pitchFamily="2" charset="2"/>
              <a:buChar char=""/>
              <a:tabLst>
                <a:tab pos="13716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e.g., Agentic AI</a:t>
            </a:r>
            <a:r>
              <a:rPr lang="ko-KR" altLang="ko-KR" sz="1050" dirty="0">
                <a:solidFill>
                  <a:srgbClr val="172B4D"/>
                </a:solidFill>
                <a:latin typeface="굴림" panose="020B0600000101010101" pitchFamily="50" charset="-127"/>
                <a:cs typeface="Segoe UI" panose="020B0502040204020203" pitchFamily="34" charset="0"/>
              </a:rPr>
              <a:t>에서</a:t>
            </a:r>
            <a:r>
              <a:rPr lang="en-US" altLang="ko-KR" sz="1050" dirty="0">
                <a:solidFill>
                  <a:srgbClr val="172B4D"/>
                </a:solidFill>
                <a:latin typeface="굴림" panose="020B0600000101010101" pitchFamily="50" charset="-127"/>
                <a:cs typeface="Segoe UI" panose="020B0502040204020203" pitchFamily="34" charset="0"/>
              </a:rPr>
              <a:t> KV Cache Prefetching</a:t>
            </a:r>
            <a:r>
              <a:rPr lang="ko-KR" altLang="ko-KR" sz="1050" dirty="0">
                <a:solidFill>
                  <a:srgbClr val="172B4D"/>
                </a:solidFill>
                <a:latin typeface="굴림" panose="020B0600000101010101" pitchFamily="50" charset="-127"/>
                <a:cs typeface="Segoe UI" panose="020B0502040204020203" pitchFamily="34" charset="0"/>
              </a:rPr>
              <a:t>을 위한</a:t>
            </a:r>
            <a:r>
              <a:rPr lang="en-US" altLang="ko-KR" sz="1050" dirty="0">
                <a:solidFill>
                  <a:srgbClr val="172B4D"/>
                </a:solidFill>
                <a:latin typeface="굴림" panose="020B0600000101010101" pitchFamily="50" charset="-127"/>
                <a:cs typeface="Segoe UI" panose="020B0502040204020203" pitchFamily="34" charset="0"/>
              </a:rPr>
              <a:t> Algorithm </a:t>
            </a:r>
            <a:r>
              <a:rPr lang="ko-KR" altLang="ko-KR" sz="1050" dirty="0">
                <a:solidFill>
                  <a:srgbClr val="172B4D"/>
                </a:solidFill>
                <a:latin typeface="굴림" panose="020B0600000101010101" pitchFamily="50" charset="-127"/>
                <a:cs typeface="Segoe UI" panose="020B0502040204020203" pitchFamily="34" charset="0"/>
              </a:rPr>
              <a:t>연구</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742950" lvl="1" indent="-285750">
              <a:buSzPts val="1000"/>
              <a:buFont typeface="Courier New" panose="02070309020205020404" pitchFamily="49" charset="0"/>
              <a:buChar char="o"/>
              <a:tabLst>
                <a:tab pos="9144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CXL Challenge Point </a:t>
            </a:r>
            <a:r>
              <a:rPr lang="ko-KR" altLang="ko-KR" sz="1050" dirty="0">
                <a:solidFill>
                  <a:srgbClr val="172B4D"/>
                </a:solidFill>
                <a:latin typeface="굴림" panose="020B0600000101010101" pitchFamily="50" charset="-127"/>
                <a:cs typeface="Segoe UI" panose="020B0502040204020203" pitchFamily="34" charset="0"/>
              </a:rPr>
              <a:t>극복</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marL="1143000" lvl="2" indent="-228600">
              <a:buSzPts val="1000"/>
              <a:buFont typeface="Wingdings" panose="05000000000000000000" pitchFamily="2" charset="2"/>
              <a:buChar char=""/>
              <a:tabLst>
                <a:tab pos="13716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SSD (SCADA </a:t>
            </a:r>
            <a:r>
              <a:rPr lang="ko-KR" altLang="ko-KR" sz="1050" dirty="0">
                <a:solidFill>
                  <a:srgbClr val="172B4D"/>
                </a:solidFill>
                <a:latin typeface="굴림" panose="020B0600000101010101" pitchFamily="50" charset="-127"/>
                <a:cs typeface="Segoe UI" panose="020B0502040204020203" pitchFamily="34" charset="0"/>
              </a:rPr>
              <a:t>등</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성능 비교</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1143000" lvl="2" indent="-228600">
              <a:buSzPts val="1000"/>
              <a:buFont typeface="Wingdings" panose="05000000000000000000" pitchFamily="2" charset="2"/>
              <a:buChar char=""/>
              <a:tabLst>
                <a:tab pos="1371600" algn="l"/>
              </a:tabLst>
            </a:pPr>
            <a:r>
              <a:rPr lang="ko-KR" altLang="ko-KR" sz="1050" dirty="0">
                <a:solidFill>
                  <a:srgbClr val="172B4D"/>
                </a:solidFill>
                <a:latin typeface="굴림" panose="020B0600000101010101" pitchFamily="50" charset="-127"/>
                <a:cs typeface="Segoe UI" panose="020B0502040204020203" pitchFamily="34" charset="0"/>
              </a:rPr>
              <a:t>가격 경쟁력을 가지기 위한</a:t>
            </a:r>
            <a:r>
              <a:rPr lang="en-US" altLang="ko-KR" sz="1050" dirty="0">
                <a:solidFill>
                  <a:srgbClr val="172B4D"/>
                </a:solidFill>
                <a:latin typeface="굴림" panose="020B0600000101010101" pitchFamily="50" charset="-127"/>
                <a:cs typeface="Segoe UI" panose="020B0502040204020203" pitchFamily="34" charset="0"/>
              </a:rPr>
              <a:t> PNM </a:t>
            </a:r>
            <a:r>
              <a:rPr lang="ko-KR" altLang="ko-KR" sz="1050" dirty="0">
                <a:solidFill>
                  <a:srgbClr val="172B4D"/>
                </a:solidFill>
                <a:latin typeface="굴림" panose="020B0600000101010101" pitchFamily="50" charset="-127"/>
                <a:cs typeface="Segoe UI" panose="020B0502040204020203" pitchFamily="34" charset="0"/>
              </a:rPr>
              <a:t>기술</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742950" lvl="1" indent="-285750">
              <a:buSzPts val="1000"/>
              <a:buFont typeface="Courier New" panose="02070309020205020404" pitchFamily="49" charset="0"/>
              <a:buChar char="o"/>
              <a:tabLst>
                <a:tab pos="9144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SMRC </a:t>
            </a:r>
            <a:r>
              <a:rPr lang="ko-KR" altLang="ko-KR" sz="1050" dirty="0">
                <a:solidFill>
                  <a:srgbClr val="172B4D"/>
                </a:solidFill>
                <a:latin typeface="굴림" panose="020B0600000101010101" pitchFamily="50" charset="-127"/>
                <a:cs typeface="Segoe UI" panose="020B0502040204020203" pitchFamily="34" charset="0"/>
              </a:rPr>
              <a:t>환경 구축 협업</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marL="1143000" lvl="2" indent="-228600">
              <a:buSzPts val="1000"/>
              <a:buFont typeface="Wingdings" panose="05000000000000000000" pitchFamily="2" charset="2"/>
              <a:buChar char=""/>
              <a:tabLst>
                <a:tab pos="1371600" algn="l"/>
              </a:tabLst>
            </a:pPr>
            <a:r>
              <a:rPr lang="ko-KR" altLang="ko-KR" sz="1050" dirty="0">
                <a:solidFill>
                  <a:srgbClr val="172B4D"/>
                </a:solidFill>
                <a:latin typeface="굴림" panose="020B0600000101010101" pitchFamily="50" charset="-127"/>
                <a:cs typeface="Segoe UI" panose="020B0502040204020203" pitchFamily="34" charset="0"/>
              </a:rPr>
              <a:t>다양한 고객 응용</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데모 활용을 위한</a:t>
            </a:r>
            <a:r>
              <a:rPr lang="en-US" altLang="ko-KR" sz="1050" dirty="0">
                <a:solidFill>
                  <a:srgbClr val="172B4D"/>
                </a:solidFill>
                <a:latin typeface="굴림" panose="020B0600000101010101" pitchFamily="50" charset="-127"/>
                <a:cs typeface="Segoe UI" panose="020B0502040204020203" pitchFamily="34" charset="0"/>
              </a:rPr>
              <a:t> S/W </a:t>
            </a:r>
            <a:r>
              <a:rPr lang="ko-KR" altLang="ko-KR" sz="1050" dirty="0">
                <a:solidFill>
                  <a:srgbClr val="172B4D"/>
                </a:solidFill>
                <a:latin typeface="굴림" panose="020B0600000101010101" pitchFamily="50" charset="-127"/>
                <a:cs typeface="Segoe UI" panose="020B0502040204020203" pitchFamily="34" charset="0"/>
              </a:rPr>
              <a:t>공동 구축</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1143000" lvl="2" indent="-228600">
              <a:buSzPts val="1000"/>
              <a:buFont typeface="Wingdings" panose="05000000000000000000" pitchFamily="2" charset="2"/>
              <a:buChar char=""/>
              <a:tabLst>
                <a:tab pos="1371600" algn="l"/>
              </a:tabLst>
            </a:pPr>
            <a:r>
              <a:rPr lang="ko-KR" altLang="ko-KR" sz="1050" dirty="0">
                <a:solidFill>
                  <a:srgbClr val="172B4D"/>
                </a:solidFill>
                <a:latin typeface="굴림" panose="020B0600000101010101" pitchFamily="50" charset="-127"/>
                <a:cs typeface="Segoe UI" panose="020B0502040204020203" pitchFamily="34" charset="0"/>
              </a:rPr>
              <a:t>현재</a:t>
            </a:r>
            <a:r>
              <a:rPr lang="en-US" altLang="ko-KR" sz="1050" dirty="0">
                <a:solidFill>
                  <a:srgbClr val="172B4D"/>
                </a:solidFill>
                <a:latin typeface="굴림" panose="020B0600000101010101" pitchFamily="50" charset="-127"/>
                <a:cs typeface="Segoe UI" panose="020B0502040204020203" pitchFamily="34" charset="0"/>
              </a:rPr>
              <a:t> </a:t>
            </a:r>
            <a:r>
              <a:rPr lang="en-US" altLang="ko-KR" sz="1050" dirty="0" err="1">
                <a:solidFill>
                  <a:srgbClr val="172B4D"/>
                </a:solidFill>
                <a:latin typeface="굴림" panose="020B0600000101010101" pitchFamily="50" charset="-127"/>
                <a:cs typeface="Segoe UI" panose="020B0502040204020203" pitchFamily="34" charset="0"/>
              </a:rPr>
              <a:t>vllm</a:t>
            </a:r>
            <a:r>
              <a:rPr lang="en-US" altLang="ko-KR" sz="1050" dirty="0">
                <a:solidFill>
                  <a:srgbClr val="172B4D"/>
                </a:solidFill>
                <a:latin typeface="굴림" panose="020B0600000101010101" pitchFamily="50" charset="-127"/>
                <a:cs typeface="Segoe UI" panose="020B0502040204020203" pitchFamily="34" charset="0"/>
              </a:rPr>
              <a:t> (w/ </a:t>
            </a:r>
            <a:r>
              <a:rPr lang="en-US" altLang="ko-KR" sz="1050" dirty="0" err="1">
                <a:solidFill>
                  <a:srgbClr val="172B4D"/>
                </a:solidFill>
                <a:latin typeface="굴림" panose="020B0600000101010101" pitchFamily="50" charset="-127"/>
                <a:cs typeface="Segoe UI" panose="020B0502040204020203" pitchFamily="34" charset="0"/>
              </a:rPr>
              <a:t>LMCache</a:t>
            </a:r>
            <a:r>
              <a:rPr lang="en-US" altLang="ko-KR" sz="1050" dirty="0">
                <a:solidFill>
                  <a:srgbClr val="172B4D"/>
                </a:solidFill>
                <a:latin typeface="굴림" panose="020B0600000101010101" pitchFamily="50" charset="-127"/>
                <a:cs typeface="Segoe UI" panose="020B0502040204020203" pitchFamily="34" charset="0"/>
              </a:rPr>
              <a:t> plugin) </a:t>
            </a:r>
            <a:r>
              <a:rPr lang="ko-KR" altLang="ko-KR" sz="1050" dirty="0">
                <a:solidFill>
                  <a:srgbClr val="172B4D"/>
                </a:solidFill>
                <a:latin typeface="굴림" panose="020B0600000101010101" pitchFamily="50" charset="-127"/>
                <a:cs typeface="Segoe UI" panose="020B0502040204020203" pitchFamily="34" charset="0"/>
              </a:rPr>
              <a:t>구축은 되어 있으나</a:t>
            </a:r>
            <a:r>
              <a:rPr lang="en-US" altLang="ko-KR" sz="1050" dirty="0">
                <a:solidFill>
                  <a:srgbClr val="172B4D"/>
                </a:solidFill>
                <a:latin typeface="굴림" panose="020B0600000101010101" pitchFamily="50" charset="-127"/>
                <a:cs typeface="Segoe UI" panose="020B0502040204020203" pitchFamily="34" charset="0"/>
              </a:rPr>
              <a:t>,</a:t>
            </a:r>
            <a:br>
              <a:rPr lang="en-US" altLang="ko-KR" sz="1050" dirty="0">
                <a:solidFill>
                  <a:srgbClr val="172B4D"/>
                </a:solidFill>
                <a:latin typeface="굴림" panose="020B0600000101010101" pitchFamily="50" charset="-127"/>
                <a:cs typeface="Segoe UI" panose="020B0502040204020203" pitchFamily="34" charset="0"/>
              </a:rPr>
            </a:br>
            <a:r>
              <a:rPr lang="en-US" altLang="ko-KR" sz="1050" dirty="0">
                <a:solidFill>
                  <a:srgbClr val="172B4D"/>
                </a:solidFill>
                <a:latin typeface="굴림" panose="020B0600000101010101" pitchFamily="50" charset="-127"/>
                <a:cs typeface="Segoe UI" panose="020B0502040204020203" pitchFamily="34" charset="0"/>
              </a:rPr>
              <a:t>CXL Memory Pool</a:t>
            </a:r>
            <a:r>
              <a:rPr lang="ko-KR" altLang="ko-KR" sz="1050" dirty="0">
                <a:solidFill>
                  <a:srgbClr val="172B4D"/>
                </a:solidFill>
                <a:latin typeface="굴림" panose="020B0600000101010101" pitchFamily="50" charset="-127"/>
                <a:cs typeface="Segoe UI" panose="020B0502040204020203" pitchFamily="34" charset="0"/>
              </a:rPr>
              <a:t>로</a:t>
            </a:r>
            <a:r>
              <a:rPr lang="en-US" altLang="ko-KR" sz="1050" dirty="0">
                <a:solidFill>
                  <a:srgbClr val="172B4D"/>
                </a:solidFill>
                <a:latin typeface="굴림" panose="020B0600000101010101" pitchFamily="50" charset="-127"/>
                <a:cs typeface="Segoe UI" panose="020B0502040204020203" pitchFamily="34" charset="0"/>
              </a:rPr>
              <a:t> Offloading</a:t>
            </a:r>
            <a:r>
              <a:rPr lang="ko-KR" altLang="ko-KR" sz="1050" dirty="0">
                <a:solidFill>
                  <a:srgbClr val="172B4D"/>
                </a:solidFill>
                <a:latin typeface="굴림" panose="020B0600000101010101" pitchFamily="50" charset="-127"/>
                <a:cs typeface="Segoe UI" panose="020B0502040204020203" pitchFamily="34" charset="0"/>
              </a:rPr>
              <a:t>을 안되어 있는 상태</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a:spcBef>
                <a:spcPts val="750"/>
              </a:spcBef>
            </a:pPr>
            <a:r>
              <a:rPr lang="en-US" altLang="ko-KR" sz="1050" b="1" dirty="0">
                <a:solidFill>
                  <a:srgbClr val="172B4D"/>
                </a:solidFill>
                <a:latin typeface="Segoe UI" panose="020B0502040204020203" pitchFamily="34" charset="0"/>
                <a:cs typeface="굴림" panose="020B0600000101010101" pitchFamily="50" charset="-127"/>
              </a:rPr>
              <a:t>Action Item</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a:spcBef>
                <a:spcPts val="750"/>
              </a:spcBef>
            </a:pPr>
            <a:r>
              <a:rPr lang="en-US" altLang="ko-KR" sz="1050" b="1" dirty="0">
                <a:solidFill>
                  <a:srgbClr val="172B4D"/>
                </a:solidFill>
                <a:latin typeface="Segoe UI" panose="020B0502040204020203" pitchFamily="34" charset="0"/>
                <a:cs typeface="굴림" panose="020B0600000101010101" pitchFamily="50" charset="-127"/>
              </a:rPr>
              <a:t>SAIT</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ko-KR" altLang="ko-KR" sz="1050" dirty="0">
                <a:solidFill>
                  <a:srgbClr val="172B4D"/>
                </a:solidFill>
                <a:latin typeface="굴림" panose="020B0600000101010101" pitchFamily="50" charset="-127"/>
                <a:cs typeface="Segoe UI" panose="020B0502040204020203" pitchFamily="34" charset="0"/>
              </a:rPr>
              <a:t>협업 아이디어 제안</a:t>
            </a:r>
            <a:r>
              <a:rPr lang="en-US" altLang="ko-KR" sz="1050" dirty="0">
                <a:solidFill>
                  <a:srgbClr val="172B4D"/>
                </a:solidFill>
                <a:latin typeface="굴림" panose="020B0600000101010101" pitchFamily="50" charset="-127"/>
                <a:cs typeface="Segoe UI" panose="020B0502040204020203" pitchFamily="34" charset="0"/>
              </a:rPr>
              <a:t> </a:t>
            </a:r>
            <a:r>
              <a:rPr lang="en-US" altLang="ko-KR" sz="1050" dirty="0" err="1">
                <a:solidFill>
                  <a:srgbClr val="172B4D"/>
                </a:solidFill>
                <a:latin typeface="굴림" panose="020B0600000101010101" pitchFamily="50" charset="-127"/>
                <a:cs typeface="Segoe UI" panose="020B0502040204020203" pitchFamily="34" charset="0"/>
              </a:rPr>
              <a:t>eg</a:t>
            </a:r>
            <a:r>
              <a:rPr lang="en-US" altLang="ko-KR" sz="1050" dirty="0">
                <a:solidFill>
                  <a:srgbClr val="172B4D"/>
                </a:solidFill>
                <a:latin typeface="굴림" panose="020B0600000101010101" pitchFamily="50" charset="-127"/>
                <a:cs typeface="Segoe UI" panose="020B0502040204020203" pitchFamily="34" charset="0"/>
              </a:rPr>
              <a:t>., </a:t>
            </a:r>
            <a:r>
              <a:rPr lang="en-US" altLang="ko-KR" sz="1050" dirty="0" err="1">
                <a:solidFill>
                  <a:srgbClr val="172B4D"/>
                </a:solidFill>
                <a:latin typeface="굴림" panose="020B0600000101010101" pitchFamily="50" charset="-127"/>
                <a:cs typeface="Segoe UI" panose="020B0502040204020203" pitchFamily="34" charset="0"/>
              </a:rPr>
              <a:t>Pytorch</a:t>
            </a:r>
            <a:r>
              <a:rPr lang="en-US" altLang="ko-KR" sz="1050" dirty="0">
                <a:solidFill>
                  <a:srgbClr val="172B4D"/>
                </a:solidFill>
                <a:latin typeface="굴림" panose="020B0600000101010101" pitchFamily="50" charset="-127"/>
                <a:cs typeface="Segoe UI" panose="020B0502040204020203" pitchFamily="34" charset="0"/>
              </a:rPr>
              <a:t> - </a:t>
            </a:r>
            <a:r>
              <a:rPr lang="en-US" altLang="ko-KR" sz="1050" dirty="0" err="1">
                <a:solidFill>
                  <a:srgbClr val="172B4D"/>
                </a:solidFill>
                <a:latin typeface="굴림" panose="020B0600000101010101" pitchFamily="50" charset="-127"/>
                <a:cs typeface="Segoe UI" panose="020B0502040204020203" pitchFamily="34" charset="0"/>
              </a:rPr>
              <a:t>vllm</a:t>
            </a:r>
            <a:r>
              <a:rPr lang="en-US" altLang="ko-KR" sz="1050" dirty="0">
                <a:solidFill>
                  <a:srgbClr val="172B4D"/>
                </a:solidFill>
                <a:latin typeface="굴림" panose="020B0600000101010101" pitchFamily="50" charset="-127"/>
                <a:cs typeface="Segoe UI" panose="020B0502040204020203" pitchFamily="34" charset="0"/>
              </a:rPr>
              <a:t> (</a:t>
            </a:r>
            <a:r>
              <a:rPr lang="en-US" altLang="ko-KR" sz="1050" dirty="0" err="1">
                <a:solidFill>
                  <a:srgbClr val="172B4D"/>
                </a:solidFill>
                <a:latin typeface="굴림" panose="020B0600000101010101" pitchFamily="50" charset="-127"/>
                <a:cs typeface="Segoe UI" panose="020B0502040204020203" pitchFamily="34" charset="0"/>
              </a:rPr>
              <a:t>LMCache</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같이 협업</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Marvell/XCENA Sales </a:t>
            </a:r>
            <a:r>
              <a:rPr lang="ko-KR" altLang="ko-KR" sz="1050" dirty="0">
                <a:solidFill>
                  <a:srgbClr val="172B4D"/>
                </a:solidFill>
                <a:latin typeface="굴림" panose="020B0600000101010101" pitchFamily="50" charset="-127"/>
                <a:cs typeface="Segoe UI" panose="020B0502040204020203" pitchFamily="34" charset="0"/>
              </a:rPr>
              <a:t>담당자 확인 및 구매 검토</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742950" lvl="1" indent="-285750">
              <a:buSzPts val="1000"/>
              <a:buFont typeface="Courier New" panose="02070309020205020404" pitchFamily="49" charset="0"/>
              <a:buChar char="o"/>
              <a:tabLst>
                <a:tab pos="9144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Marvell Device </a:t>
            </a:r>
            <a:r>
              <a:rPr lang="ko-KR" altLang="ko-KR" sz="1050" dirty="0">
                <a:solidFill>
                  <a:srgbClr val="172B4D"/>
                </a:solidFill>
                <a:latin typeface="굴림" panose="020B0600000101010101" pitchFamily="50" charset="-127"/>
                <a:cs typeface="Segoe UI" panose="020B0502040204020203" pitchFamily="34" charset="0"/>
              </a:rPr>
              <a:t>대당</a:t>
            </a:r>
            <a:r>
              <a:rPr lang="en-US" altLang="ko-KR" sz="1050" dirty="0">
                <a:solidFill>
                  <a:srgbClr val="172B4D"/>
                </a:solidFill>
                <a:latin typeface="굴림" panose="020B0600000101010101" pitchFamily="50" charset="-127"/>
                <a:cs typeface="Segoe UI" panose="020B0502040204020203" pitchFamily="34" charset="0"/>
              </a:rPr>
              <a:t> 500~600</a:t>
            </a:r>
            <a:r>
              <a:rPr lang="ko-KR" altLang="ko-KR" sz="1050" dirty="0">
                <a:solidFill>
                  <a:srgbClr val="172B4D"/>
                </a:solidFill>
                <a:latin typeface="굴림" panose="020B0600000101010101" pitchFamily="50" charset="-127"/>
                <a:cs typeface="Segoe UI" panose="020B0502040204020203" pitchFamily="34" charset="0"/>
              </a:rPr>
              <a:t>만원 수준</a:t>
            </a:r>
            <a:r>
              <a:rPr lang="en-US" altLang="ko-KR" sz="1050" dirty="0">
                <a:solidFill>
                  <a:srgbClr val="172B4D"/>
                </a:solidFill>
                <a:latin typeface="굴림" panose="020B0600000101010101" pitchFamily="50" charset="-127"/>
                <a:cs typeface="Segoe UI" panose="020B0502040204020203" pitchFamily="34" charset="0"/>
              </a:rPr>
              <a:t> (</a:t>
            </a:r>
            <a:r>
              <a:rPr lang="ko-KR" altLang="ko-KR" sz="1050" dirty="0">
                <a:solidFill>
                  <a:srgbClr val="172B4D"/>
                </a:solidFill>
                <a:latin typeface="굴림" panose="020B0600000101010101" pitchFamily="50" charset="-127"/>
                <a:cs typeface="Segoe UI" panose="020B0502040204020203" pitchFamily="34" charset="0"/>
              </a:rPr>
              <a:t>예산 검토 필요</a:t>
            </a:r>
            <a:r>
              <a:rPr lang="en-US" altLang="ko-KR" sz="1050" dirty="0">
                <a:solidFill>
                  <a:srgbClr val="172B4D"/>
                </a:solidFill>
                <a:latin typeface="굴림" panose="020B0600000101010101" pitchFamily="50" charset="-127"/>
                <a:cs typeface="Segoe UI" panose="020B0502040204020203" pitchFamily="34" charset="0"/>
              </a:rPr>
              <a:t>)</a:t>
            </a:r>
            <a:endParaRPr lang="ko-KR" altLang="ko-KR" sz="1200" dirty="0">
              <a:latin typeface="굴림" panose="020B0600000101010101" pitchFamily="50" charset="-127"/>
              <a:ea typeface="굴림" panose="020B0600000101010101" pitchFamily="50" charset="-127"/>
              <a:cs typeface="Times New Roman" panose="02020603050405020304" pitchFamily="18" charset="0"/>
            </a:endParaRPr>
          </a:p>
          <a:p>
            <a:pPr>
              <a:spcBef>
                <a:spcPts val="750"/>
              </a:spcBef>
            </a:pPr>
            <a:r>
              <a:rPr lang="ko-KR" altLang="ko-KR" sz="1050" b="1" dirty="0" err="1">
                <a:solidFill>
                  <a:srgbClr val="172B4D"/>
                </a:solidFill>
                <a:latin typeface="Segoe UI" panose="020B0502040204020203" pitchFamily="34" charset="0"/>
                <a:cs typeface="Segoe UI" panose="020B0502040204020203" pitchFamily="34" charset="0"/>
              </a:rPr>
              <a:t>메모리사</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pPr marL="342900" lvl="0" indent="-342900">
              <a:buSzPts val="1000"/>
              <a:buFont typeface="Symbol" panose="05050102010706020507" pitchFamily="18" charset="2"/>
              <a:buChar char=""/>
              <a:tabLst>
                <a:tab pos="457200" algn="l"/>
              </a:tabLst>
            </a:pPr>
            <a:r>
              <a:rPr lang="en-US" altLang="ko-KR" sz="1050" dirty="0">
                <a:solidFill>
                  <a:srgbClr val="172B4D"/>
                </a:solidFill>
                <a:latin typeface="맑은 고딕" panose="020B0503020000020004" pitchFamily="50" charset="-127"/>
                <a:ea typeface="굴림" panose="020B0600000101010101" pitchFamily="50" charset="-127"/>
                <a:cs typeface="Segoe UI" panose="020B0502040204020203" pitchFamily="34" charset="0"/>
              </a:rPr>
              <a:t>Marvell </a:t>
            </a:r>
            <a:r>
              <a:rPr lang="ko-KR" altLang="ko-KR" sz="1050" dirty="0">
                <a:solidFill>
                  <a:srgbClr val="172B4D"/>
                </a:solidFill>
                <a:latin typeface="굴림" panose="020B0600000101010101" pitchFamily="50" charset="-127"/>
                <a:cs typeface="Segoe UI" panose="020B0502040204020203" pitchFamily="34" charset="0"/>
              </a:rPr>
              <a:t>사</a:t>
            </a:r>
            <a:r>
              <a:rPr lang="en-US" altLang="ko-KR" sz="1050" dirty="0">
                <a:solidFill>
                  <a:srgbClr val="172B4D"/>
                </a:solidFill>
                <a:latin typeface="굴림" panose="020B0600000101010101" pitchFamily="50" charset="-127"/>
                <a:cs typeface="Segoe UI" panose="020B0502040204020203" pitchFamily="34" charset="0"/>
              </a:rPr>
              <a:t> CMM-DC </a:t>
            </a:r>
            <a:r>
              <a:rPr lang="ko-KR" altLang="ko-KR" sz="1050" dirty="0">
                <a:solidFill>
                  <a:srgbClr val="172B4D"/>
                </a:solidFill>
                <a:latin typeface="굴림" panose="020B0600000101010101" pitchFamily="50" charset="-127"/>
                <a:cs typeface="Segoe UI" panose="020B0502040204020203" pitchFamily="34" charset="0"/>
              </a:rPr>
              <a:t>대여 가능 여부</a:t>
            </a:r>
            <a:endParaRPr lang="ko-KR" altLang="ko-KR" sz="1200" dirty="0">
              <a:latin typeface="굴림" panose="020B0600000101010101" pitchFamily="50" charset="-127"/>
              <a:ea typeface="굴림" panose="020B0600000101010101" pitchFamily="50" charset="-127"/>
              <a:cs typeface="굴림" panose="020B0600000101010101" pitchFamily="50" charset="-127"/>
            </a:endParaRPr>
          </a:p>
          <a:p>
            <a:r>
              <a:rPr lang="en-US" altLang="ko-KR" sz="1050" dirty="0">
                <a:solidFill>
                  <a:srgbClr val="172B4D"/>
                </a:solidFill>
                <a:latin typeface="맑은 고딕" panose="020B0503020000020004" pitchFamily="50" charset="-127"/>
                <a:cs typeface="Segoe UI" panose="020B0502040204020203" pitchFamily="34" charset="0"/>
              </a:rPr>
              <a:t>SAIT </a:t>
            </a:r>
            <a:r>
              <a:rPr lang="ko-KR" altLang="ko-KR" sz="1050" dirty="0">
                <a:solidFill>
                  <a:srgbClr val="172B4D"/>
                </a:solidFill>
                <a:cs typeface="Segoe UI" panose="020B0502040204020203" pitchFamily="34" charset="0"/>
              </a:rPr>
              <a:t>기대</a:t>
            </a:r>
            <a:r>
              <a:rPr lang="en-US" altLang="ko-KR" sz="1050" dirty="0">
                <a:solidFill>
                  <a:srgbClr val="172B4D"/>
                </a:solidFill>
                <a:cs typeface="Segoe UI" panose="020B0502040204020203" pitchFamily="34" charset="0"/>
              </a:rPr>
              <a:t>/</a:t>
            </a:r>
            <a:r>
              <a:rPr lang="ko-KR" altLang="ko-KR" sz="1050" dirty="0">
                <a:solidFill>
                  <a:srgbClr val="172B4D"/>
                </a:solidFill>
                <a:cs typeface="Segoe UI" panose="020B0502040204020203" pitchFamily="34" charset="0"/>
              </a:rPr>
              <a:t>요구사항 전달</a:t>
            </a:r>
            <a:endParaRPr lang="ko-KR" altLang="en-US" dirty="0"/>
          </a:p>
        </p:txBody>
      </p:sp>
      <p:sp>
        <p:nvSpPr>
          <p:cNvPr id="4" name="제목 3"/>
          <p:cNvSpPr>
            <a:spLocks noGrp="1"/>
          </p:cNvSpPr>
          <p:nvPr>
            <p:ph type="title"/>
          </p:nvPr>
        </p:nvSpPr>
        <p:spPr/>
        <p:txBody>
          <a:bodyPr/>
          <a:lstStyle/>
          <a:p>
            <a:r>
              <a:rPr lang="ko-KR" altLang="en-US" dirty="0"/>
              <a:t>협업 논의 자료 </a:t>
            </a:r>
            <a:r>
              <a:rPr lang="en-US" altLang="ko-KR" dirty="0"/>
              <a:t>– </a:t>
            </a:r>
            <a:r>
              <a:rPr lang="ko-KR" altLang="en-US" dirty="0"/>
              <a:t>메모리 </a:t>
            </a:r>
            <a:r>
              <a:rPr lang="en-US" altLang="ko-KR" dirty="0"/>
              <a:t>DRAM </a:t>
            </a:r>
            <a:r>
              <a:rPr lang="ko-KR" altLang="en-US" dirty="0" err="1"/>
              <a:t>솔루션팀</a:t>
            </a:r>
            <a:r>
              <a:rPr lang="ko-KR" altLang="en-US" dirty="0"/>
              <a:t> </a:t>
            </a:r>
            <a:r>
              <a:rPr lang="en-US" altLang="ko-KR" dirty="0"/>
              <a:t>(CXL-PNM)</a:t>
            </a:r>
            <a:endParaRPr lang="ko-KR" altLang="en-US" dirty="0"/>
          </a:p>
        </p:txBody>
      </p:sp>
      <p:sp>
        <p:nvSpPr>
          <p:cNvPr id="3" name="실행 단추: 뒤로 또는 이전 2">
            <a:hlinkClick r:id="rId3" action="ppaction://hlinksldjump" highlightClick="1"/>
          </p:cNvPr>
          <p:cNvSpPr/>
          <p:nvPr/>
        </p:nvSpPr>
        <p:spPr>
          <a:xfrm>
            <a:off x="7551683" y="175106"/>
            <a:ext cx="339250" cy="28967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286624434"/>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lstStyle/>
          <a:p>
            <a:r>
              <a:rPr lang="ko-KR" altLang="en-US" dirty="0"/>
              <a:t>인터뷰 자료 </a:t>
            </a:r>
            <a:r>
              <a:rPr lang="en-US" altLang="ko-KR" dirty="0"/>
              <a:t>– </a:t>
            </a:r>
            <a:r>
              <a:rPr lang="ko-KR" altLang="en-US" dirty="0"/>
              <a:t>메모리 </a:t>
            </a:r>
            <a:r>
              <a:rPr lang="ko-KR" altLang="en-US" dirty="0" err="1"/>
              <a:t>상품기획팀</a:t>
            </a:r>
            <a:r>
              <a:rPr lang="en-US" altLang="ko-KR" dirty="0"/>
              <a:t>, DRAM </a:t>
            </a:r>
            <a:r>
              <a:rPr lang="ko-KR" altLang="en-US" dirty="0" err="1"/>
              <a:t>설계팀</a:t>
            </a:r>
            <a:r>
              <a:rPr lang="ko-KR" altLang="en-US" dirty="0"/>
              <a:t> </a:t>
            </a:r>
            <a:r>
              <a:rPr lang="en-US" altLang="ko-KR" dirty="0"/>
              <a:t>(PIM)</a:t>
            </a:r>
            <a:endParaRPr lang="ko-KR" altLang="en-US" dirty="0"/>
          </a:p>
        </p:txBody>
      </p:sp>
      <p:graphicFrame>
        <p:nvGraphicFramePr>
          <p:cNvPr id="7" name="표 6"/>
          <p:cNvGraphicFramePr>
            <a:graphicFrameLocks noGrp="1"/>
          </p:cNvGraphicFramePr>
          <p:nvPr>
            <p:extLst>
              <p:ext uri="{D42A27DB-BD31-4B8C-83A1-F6EECF244321}">
                <p14:modId xmlns:p14="http://schemas.microsoft.com/office/powerpoint/2010/main" val="2527900332"/>
              </p:ext>
            </p:extLst>
          </p:nvPr>
        </p:nvGraphicFramePr>
        <p:xfrm>
          <a:off x="326101" y="2303555"/>
          <a:ext cx="4836767" cy="4351338"/>
        </p:xfrm>
        <a:graphic>
          <a:graphicData uri="http://schemas.openxmlformats.org/drawingml/2006/table">
            <a:tbl>
              <a:tblPr/>
              <a:tblGrid>
                <a:gridCol w="4836767">
                  <a:extLst>
                    <a:ext uri="{9D8B030D-6E8A-4147-A177-3AD203B41FA5}">
                      <a16:colId xmlns:a16="http://schemas.microsoft.com/office/drawing/2014/main" val="2994999142"/>
                    </a:ext>
                  </a:extLst>
                </a:gridCol>
              </a:tblGrid>
              <a:tr h="4351338">
                <a:tc>
                  <a:txBody>
                    <a:bodyPr/>
                    <a:lstStyle/>
                    <a:p>
                      <a:pPr algn="l" fontAlgn="t"/>
                      <a:r>
                        <a:rPr lang="ko-KR" altLang="en-US" sz="800" dirty="0">
                          <a:solidFill>
                            <a:srgbClr val="0055CC"/>
                          </a:solidFill>
                          <a:effectLst/>
                        </a:rPr>
                        <a:t>① 과거 </a:t>
                      </a:r>
                      <a:r>
                        <a:rPr lang="ko-KR" altLang="en-US" sz="800" dirty="0" err="1">
                          <a:solidFill>
                            <a:srgbClr val="0055CC"/>
                          </a:solidFill>
                          <a:effectLst/>
                        </a:rPr>
                        <a:t>고객사</a:t>
                      </a:r>
                      <a:r>
                        <a:rPr lang="ko-KR" altLang="en-US" sz="800" dirty="0">
                          <a:solidFill>
                            <a:srgbClr val="0055CC"/>
                          </a:solidFill>
                          <a:effectLst/>
                        </a:rPr>
                        <a:t> 대응 시 시스템 관련 요청 및 대응 사례 </a:t>
                      </a:r>
                      <a:r>
                        <a:rPr lang="en-US" altLang="ko-KR" sz="800" dirty="0">
                          <a:solidFill>
                            <a:srgbClr val="0055CC"/>
                          </a:solidFill>
                          <a:effectLst/>
                        </a:rPr>
                        <a:t>( needs, </a:t>
                      </a:r>
                      <a:r>
                        <a:rPr lang="ko-KR" altLang="en-US" sz="800" dirty="0">
                          <a:solidFill>
                            <a:srgbClr val="0055CC"/>
                          </a:solidFill>
                          <a:effectLst/>
                        </a:rPr>
                        <a:t>어려웠던 부분 </a:t>
                      </a:r>
                      <a:r>
                        <a:rPr lang="en-US" altLang="ko-KR" sz="800" dirty="0">
                          <a:solidFill>
                            <a:srgbClr val="0055CC"/>
                          </a:solidFill>
                          <a:effectLst/>
                        </a:rPr>
                        <a:t>)</a:t>
                      </a:r>
                      <a:endParaRPr lang="ko-KR" altLang="en-US" sz="800" dirty="0">
                        <a:effectLst/>
                      </a:endParaRPr>
                    </a:p>
                    <a:p>
                      <a:pPr algn="l" fontAlgn="t"/>
                      <a:r>
                        <a:rPr lang="en-US" altLang="ko-KR" sz="800" dirty="0">
                          <a:solidFill>
                            <a:srgbClr val="172B4D"/>
                          </a:solidFill>
                          <a:effectLst/>
                        </a:rPr>
                        <a:t>CXL </a:t>
                      </a:r>
                      <a:r>
                        <a:rPr lang="ko-KR" altLang="en-US" sz="800" dirty="0">
                          <a:solidFill>
                            <a:srgbClr val="172B4D"/>
                          </a:solidFill>
                          <a:effectLst/>
                        </a:rPr>
                        <a:t>실패 사례 </a:t>
                      </a:r>
                      <a:endParaRPr lang="ko-KR" altLang="en-US" sz="800" dirty="0">
                        <a:effectLst/>
                      </a:endParaRPr>
                    </a:p>
                    <a:p>
                      <a:pPr algn="l" fontAlgn="t"/>
                      <a:r>
                        <a:rPr lang="en-US" altLang="ko-KR" sz="800" dirty="0">
                          <a:solidFill>
                            <a:srgbClr val="172B4D"/>
                          </a:solidFill>
                          <a:effectLst/>
                        </a:rPr>
                        <a:t>- VMWare</a:t>
                      </a:r>
                      <a:r>
                        <a:rPr lang="ko-KR" altLang="en-US" sz="800" dirty="0">
                          <a:solidFill>
                            <a:srgbClr val="172B4D"/>
                          </a:solidFill>
                          <a:effectLst/>
                        </a:rPr>
                        <a:t>에 </a:t>
                      </a:r>
                      <a:r>
                        <a:rPr lang="en-US" altLang="ko-KR" sz="800" dirty="0">
                          <a:solidFill>
                            <a:srgbClr val="172B4D"/>
                          </a:solidFill>
                          <a:effectLst/>
                        </a:rPr>
                        <a:t>CXL (CMM-h) enabling</a:t>
                      </a:r>
                      <a:r>
                        <a:rPr lang="ko-KR" altLang="en-US" sz="800" dirty="0">
                          <a:solidFill>
                            <a:srgbClr val="172B4D"/>
                          </a:solidFill>
                          <a:effectLst/>
                        </a:rPr>
                        <a:t>하는 시도를 했었는데 성능이 나오지 않아 실패</a:t>
                      </a:r>
                      <a:endParaRPr lang="ko-KR" altLang="en-US" sz="800" dirty="0">
                        <a:effectLst/>
                      </a:endParaRPr>
                    </a:p>
                    <a:p>
                      <a:pPr algn="l" fontAlgn="t"/>
                      <a:r>
                        <a:rPr lang="ko-KR" altLang="en-US" sz="800" dirty="0">
                          <a:solidFill>
                            <a:srgbClr val="172B4D"/>
                          </a:solidFill>
                          <a:effectLst/>
                        </a:rPr>
                        <a:t>* </a:t>
                      </a:r>
                      <a:r>
                        <a:rPr lang="en-US" altLang="ko-KR" sz="800" dirty="0">
                          <a:solidFill>
                            <a:srgbClr val="172B4D"/>
                          </a:solidFill>
                          <a:effectLst/>
                        </a:rPr>
                        <a:t>CMM-H: Dram</a:t>
                      </a:r>
                      <a:r>
                        <a:rPr lang="ko-KR" altLang="en-US" sz="800" dirty="0">
                          <a:solidFill>
                            <a:srgbClr val="172B4D"/>
                          </a:solidFill>
                          <a:effectLst/>
                        </a:rPr>
                        <a:t>과 </a:t>
                      </a:r>
                      <a:r>
                        <a:rPr lang="en-US" altLang="ko-KR" sz="800" dirty="0" err="1">
                          <a:solidFill>
                            <a:srgbClr val="172B4D"/>
                          </a:solidFill>
                          <a:effectLst/>
                        </a:rPr>
                        <a:t>Nand</a:t>
                      </a:r>
                      <a:r>
                        <a:rPr lang="ko-KR" altLang="en-US" sz="800" dirty="0">
                          <a:solidFill>
                            <a:srgbClr val="172B4D"/>
                          </a:solidFill>
                          <a:effectLst/>
                        </a:rPr>
                        <a:t>의 </a:t>
                      </a:r>
                      <a:r>
                        <a:rPr lang="ko-KR" altLang="en-US" sz="800" dirty="0" err="1">
                          <a:solidFill>
                            <a:srgbClr val="172B4D"/>
                          </a:solidFill>
                          <a:effectLst/>
                        </a:rPr>
                        <a:t>하이브리드</a:t>
                      </a:r>
                      <a:r>
                        <a:rPr lang="ko-KR" altLang="en-US" sz="800" dirty="0">
                          <a:solidFill>
                            <a:srgbClr val="172B4D"/>
                          </a:solidFill>
                          <a:effectLst/>
                        </a:rPr>
                        <a:t> 형태로 </a:t>
                      </a:r>
                      <a:r>
                        <a:rPr lang="en-US" altLang="ko-KR" sz="800" dirty="0">
                          <a:solidFill>
                            <a:srgbClr val="172B4D"/>
                          </a:solidFill>
                          <a:effectLst/>
                        </a:rPr>
                        <a:t>CMM-D</a:t>
                      </a:r>
                      <a:r>
                        <a:rPr lang="ko-KR" altLang="en-US" sz="800" dirty="0">
                          <a:solidFill>
                            <a:srgbClr val="172B4D"/>
                          </a:solidFill>
                          <a:effectLst/>
                        </a:rPr>
                        <a:t>보다 느리지만 싸고 용량이 큰 형태 </a:t>
                      </a:r>
                      <a:endParaRPr lang="ko-KR" altLang="en-US" sz="800" dirty="0">
                        <a:effectLst/>
                      </a:endParaRPr>
                    </a:p>
                    <a:p>
                      <a:pPr algn="l" fontAlgn="t"/>
                      <a:r>
                        <a:rPr lang="ko-KR" altLang="en-US" sz="800" dirty="0">
                          <a:solidFill>
                            <a:srgbClr val="172B4D"/>
                          </a:solidFill>
                          <a:effectLst/>
                        </a:rPr>
                        <a:t>* 응용</a:t>
                      </a:r>
                      <a:r>
                        <a:rPr lang="en-US" altLang="ko-KR" sz="800" dirty="0">
                          <a:solidFill>
                            <a:srgbClr val="172B4D"/>
                          </a:solidFill>
                          <a:effectLst/>
                        </a:rPr>
                        <a:t>: DB, VDI </a:t>
                      </a:r>
                      <a:r>
                        <a:rPr lang="ko-KR" altLang="en-US" sz="800" dirty="0">
                          <a:solidFill>
                            <a:srgbClr val="172B4D"/>
                          </a:solidFill>
                          <a:effectLst/>
                        </a:rPr>
                        <a:t>환경 등</a:t>
                      </a:r>
                      <a:r>
                        <a:rPr lang="en-US" altLang="ko-KR" sz="800" dirty="0">
                          <a:solidFill>
                            <a:srgbClr val="172B4D"/>
                          </a:solidFill>
                          <a:effectLst/>
                        </a:rPr>
                        <a:t>. AI </a:t>
                      </a:r>
                      <a:r>
                        <a:rPr lang="ko-KR" altLang="en-US" sz="800" dirty="0">
                          <a:solidFill>
                            <a:srgbClr val="172B4D"/>
                          </a:solidFill>
                          <a:effectLst/>
                        </a:rPr>
                        <a:t>관련된 건 없었음</a:t>
                      </a:r>
                      <a:endParaRPr lang="ko-KR" altLang="en-US" sz="800" dirty="0">
                        <a:effectLst/>
                      </a:endParaRPr>
                    </a:p>
                    <a:p>
                      <a:pPr algn="l" fontAlgn="t"/>
                      <a:r>
                        <a:rPr lang="en-US" altLang="ko-KR" sz="800" dirty="0">
                          <a:solidFill>
                            <a:srgbClr val="172B4D"/>
                          </a:solidFill>
                          <a:effectLst/>
                        </a:rPr>
                        <a:t>- </a:t>
                      </a:r>
                      <a:r>
                        <a:rPr lang="ko-KR" altLang="en-US" sz="800" dirty="0" err="1">
                          <a:solidFill>
                            <a:srgbClr val="172B4D"/>
                          </a:solidFill>
                          <a:effectLst/>
                        </a:rPr>
                        <a:t>고객사는</a:t>
                      </a:r>
                      <a:r>
                        <a:rPr lang="ko-KR" altLang="en-US" sz="800" dirty="0">
                          <a:solidFill>
                            <a:srgbClr val="172B4D"/>
                          </a:solidFill>
                          <a:effectLst/>
                        </a:rPr>
                        <a:t> </a:t>
                      </a:r>
                      <a:r>
                        <a:rPr lang="en-US" altLang="ko-KR" sz="800" dirty="0">
                          <a:solidFill>
                            <a:srgbClr val="172B4D"/>
                          </a:solidFill>
                          <a:effectLst/>
                        </a:rPr>
                        <a:t>CMM-H</a:t>
                      </a:r>
                      <a:r>
                        <a:rPr lang="ko-KR" altLang="en-US" sz="800" dirty="0">
                          <a:solidFill>
                            <a:srgbClr val="172B4D"/>
                          </a:solidFill>
                          <a:effectLst/>
                        </a:rPr>
                        <a:t>가 </a:t>
                      </a:r>
                      <a:r>
                        <a:rPr lang="en-US" altLang="ko-KR" sz="800" dirty="0" err="1">
                          <a:solidFill>
                            <a:srgbClr val="172B4D"/>
                          </a:solidFill>
                          <a:effectLst/>
                        </a:rPr>
                        <a:t>NVMe</a:t>
                      </a:r>
                      <a:r>
                        <a:rPr lang="ko-KR" altLang="en-US" sz="800" dirty="0">
                          <a:solidFill>
                            <a:srgbClr val="172B4D"/>
                          </a:solidFill>
                          <a:effectLst/>
                        </a:rPr>
                        <a:t>와 동일한 성능이 나와 굳이 </a:t>
                      </a:r>
                      <a:r>
                        <a:rPr lang="en-US" altLang="ko-KR" sz="800" dirty="0">
                          <a:solidFill>
                            <a:srgbClr val="172B4D"/>
                          </a:solidFill>
                          <a:effectLst/>
                        </a:rPr>
                        <a:t>CMM-H</a:t>
                      </a:r>
                      <a:r>
                        <a:rPr lang="ko-KR" altLang="en-US" sz="800" dirty="0">
                          <a:solidFill>
                            <a:srgbClr val="172B4D"/>
                          </a:solidFill>
                          <a:effectLst/>
                        </a:rPr>
                        <a:t>를 사용할 </a:t>
                      </a:r>
                      <a:r>
                        <a:rPr lang="ko-KR" altLang="en-US" sz="800" dirty="0" err="1">
                          <a:solidFill>
                            <a:srgbClr val="172B4D"/>
                          </a:solidFill>
                          <a:effectLst/>
                        </a:rPr>
                        <a:t>필요없다고</a:t>
                      </a:r>
                      <a:r>
                        <a:rPr lang="ko-KR" altLang="en-US" sz="800" dirty="0">
                          <a:solidFill>
                            <a:srgbClr val="172B4D"/>
                          </a:solidFill>
                          <a:effectLst/>
                        </a:rPr>
                        <a:t> 판단</a:t>
                      </a:r>
                      <a:r>
                        <a:rPr lang="en-US" altLang="ko-KR" sz="800" dirty="0">
                          <a:solidFill>
                            <a:srgbClr val="172B4D"/>
                          </a:solidFill>
                          <a:effectLst/>
                        </a:rPr>
                        <a:t>. </a:t>
                      </a:r>
                      <a:endParaRPr lang="ko-KR" altLang="en-US" sz="800" dirty="0">
                        <a:effectLst/>
                      </a:endParaRPr>
                    </a:p>
                    <a:p>
                      <a:pPr algn="l" fontAlgn="t"/>
                      <a:r>
                        <a:rPr lang="en-US" altLang="ko-KR" sz="800" dirty="0">
                          <a:solidFill>
                            <a:srgbClr val="172B4D"/>
                          </a:solidFill>
                          <a:effectLst/>
                        </a:rPr>
                        <a:t>- </a:t>
                      </a:r>
                      <a:r>
                        <a:rPr lang="ko-KR" altLang="en-US" sz="800" dirty="0">
                          <a:solidFill>
                            <a:srgbClr val="172B4D"/>
                          </a:solidFill>
                          <a:effectLst/>
                        </a:rPr>
                        <a:t>우리는 부품만 하고 </a:t>
                      </a:r>
                      <a:r>
                        <a:rPr lang="en-US" altLang="ko-KR" sz="800" dirty="0">
                          <a:solidFill>
                            <a:srgbClr val="172B4D"/>
                          </a:solidFill>
                          <a:effectLst/>
                        </a:rPr>
                        <a:t>SW </a:t>
                      </a:r>
                      <a:r>
                        <a:rPr lang="ko-KR" altLang="en-US" sz="800" dirty="0" err="1">
                          <a:solidFill>
                            <a:srgbClr val="172B4D"/>
                          </a:solidFill>
                          <a:effectLst/>
                        </a:rPr>
                        <a:t>윗단은</a:t>
                      </a:r>
                      <a:r>
                        <a:rPr lang="ko-KR" altLang="en-US" sz="800" dirty="0">
                          <a:solidFill>
                            <a:srgbClr val="172B4D"/>
                          </a:solidFill>
                          <a:effectLst/>
                        </a:rPr>
                        <a:t> </a:t>
                      </a:r>
                      <a:r>
                        <a:rPr lang="ko-KR" altLang="en-US" sz="800" dirty="0" err="1">
                          <a:solidFill>
                            <a:srgbClr val="172B4D"/>
                          </a:solidFill>
                          <a:effectLst/>
                        </a:rPr>
                        <a:t>고객사에서</a:t>
                      </a:r>
                      <a:r>
                        <a:rPr lang="ko-KR" altLang="en-US" sz="800" dirty="0">
                          <a:solidFill>
                            <a:srgbClr val="172B4D"/>
                          </a:solidFill>
                          <a:effectLst/>
                        </a:rPr>
                        <a:t> 알아서 하는 형태였음</a:t>
                      </a:r>
                      <a:r>
                        <a:rPr lang="en-US" altLang="ko-KR" sz="800" dirty="0">
                          <a:solidFill>
                            <a:srgbClr val="172B4D"/>
                          </a:solidFill>
                          <a:effectLst/>
                        </a:rPr>
                        <a:t>. </a:t>
                      </a:r>
                      <a:endParaRPr lang="ko-KR" altLang="en-US" sz="800" dirty="0">
                        <a:effectLst/>
                      </a:endParaRPr>
                    </a:p>
                    <a:p>
                      <a:pPr algn="l" fontAlgn="t"/>
                      <a:r>
                        <a:rPr lang="en-US" altLang="ko-KR" sz="800" u="sng" dirty="0">
                          <a:solidFill>
                            <a:srgbClr val="172B4D"/>
                          </a:solidFill>
                          <a:effectLst/>
                        </a:rPr>
                        <a:t>- </a:t>
                      </a:r>
                      <a:r>
                        <a:rPr lang="ko-KR" altLang="en-US" sz="800" u="sng" dirty="0">
                          <a:solidFill>
                            <a:srgbClr val="172B4D"/>
                          </a:solidFill>
                          <a:effectLst/>
                        </a:rPr>
                        <a:t>고객으로부터 성능이 안나온다고만 듣지</a:t>
                      </a:r>
                      <a:r>
                        <a:rPr lang="en-US" altLang="ko-KR" sz="800" u="sng" dirty="0">
                          <a:solidFill>
                            <a:srgbClr val="172B4D"/>
                          </a:solidFill>
                          <a:effectLst/>
                        </a:rPr>
                        <a:t>, </a:t>
                      </a:r>
                      <a:r>
                        <a:rPr lang="ko-KR" altLang="en-US" sz="800" u="sng" dirty="0">
                          <a:solidFill>
                            <a:srgbClr val="172B4D"/>
                          </a:solidFill>
                          <a:effectLst/>
                        </a:rPr>
                        <a:t>우리가 </a:t>
                      </a:r>
                      <a:r>
                        <a:rPr lang="en-US" altLang="ko-KR" sz="800" u="sng" dirty="0">
                          <a:solidFill>
                            <a:srgbClr val="172B4D"/>
                          </a:solidFill>
                          <a:effectLst/>
                        </a:rPr>
                        <a:t>involve</a:t>
                      </a:r>
                      <a:r>
                        <a:rPr lang="ko-KR" altLang="en-US" sz="800" u="sng" dirty="0" err="1">
                          <a:solidFill>
                            <a:srgbClr val="172B4D"/>
                          </a:solidFill>
                          <a:effectLst/>
                        </a:rPr>
                        <a:t>되서</a:t>
                      </a:r>
                      <a:r>
                        <a:rPr lang="ko-KR" altLang="en-US" sz="800" u="sng" dirty="0">
                          <a:solidFill>
                            <a:srgbClr val="172B4D"/>
                          </a:solidFill>
                          <a:effectLst/>
                        </a:rPr>
                        <a:t> </a:t>
                      </a:r>
                      <a:r>
                        <a:rPr lang="ko-KR" altLang="en-US" sz="800" u="sng" dirty="0" err="1">
                          <a:solidFill>
                            <a:srgbClr val="172B4D"/>
                          </a:solidFill>
                          <a:effectLst/>
                        </a:rPr>
                        <a:t>살펴보진</a:t>
                      </a:r>
                      <a:r>
                        <a:rPr lang="ko-KR" altLang="en-US" sz="800" u="sng" dirty="0">
                          <a:solidFill>
                            <a:srgbClr val="172B4D"/>
                          </a:solidFill>
                          <a:effectLst/>
                        </a:rPr>
                        <a:t> 않았음</a:t>
                      </a:r>
                      <a:endParaRPr lang="ko-KR" altLang="en-US" sz="800" dirty="0">
                        <a:effectLst/>
                      </a:endParaRPr>
                    </a:p>
                    <a:p>
                      <a:pPr algn="l" fontAlgn="t"/>
                      <a:r>
                        <a:rPr lang="en-US" altLang="ko-KR" sz="800" dirty="0">
                          <a:solidFill>
                            <a:srgbClr val="172B4D"/>
                          </a:solidFill>
                          <a:effectLst/>
                        </a:rPr>
                        <a:t>- DSRA</a:t>
                      </a:r>
                      <a:r>
                        <a:rPr lang="ko-KR" altLang="en-US" sz="800" dirty="0">
                          <a:solidFill>
                            <a:srgbClr val="172B4D"/>
                          </a:solidFill>
                          <a:effectLst/>
                        </a:rPr>
                        <a:t>에서 비슷한 연구를 했었는데</a:t>
                      </a:r>
                      <a:r>
                        <a:rPr lang="en-US" altLang="ko-KR" sz="800" dirty="0">
                          <a:solidFill>
                            <a:srgbClr val="172B4D"/>
                          </a:solidFill>
                          <a:effectLst/>
                        </a:rPr>
                        <a:t>, OS + Device Runtime (</a:t>
                      </a:r>
                      <a:r>
                        <a:rPr lang="ko-KR" altLang="en-US" sz="800" dirty="0" err="1">
                          <a:solidFill>
                            <a:srgbClr val="172B4D"/>
                          </a:solidFill>
                          <a:effectLst/>
                        </a:rPr>
                        <a:t>캐싱</a:t>
                      </a:r>
                      <a:r>
                        <a:rPr lang="ko-KR" altLang="en-US" sz="800" dirty="0">
                          <a:solidFill>
                            <a:srgbClr val="172B4D"/>
                          </a:solidFill>
                          <a:effectLst/>
                        </a:rPr>
                        <a:t> </a:t>
                      </a:r>
                      <a:r>
                        <a:rPr lang="en-US" altLang="ko-KR" sz="800" dirty="0">
                          <a:solidFill>
                            <a:srgbClr val="172B4D"/>
                          </a:solidFill>
                          <a:effectLst/>
                        </a:rPr>
                        <a:t>IP)</a:t>
                      </a:r>
                      <a:r>
                        <a:rPr lang="ko-KR" altLang="en-US" sz="800" dirty="0">
                          <a:solidFill>
                            <a:srgbClr val="172B4D"/>
                          </a:solidFill>
                          <a:effectLst/>
                        </a:rPr>
                        <a:t>에 한정된 범위였고</a:t>
                      </a:r>
                      <a:r>
                        <a:rPr lang="en-US" altLang="ko-KR" sz="800" dirty="0">
                          <a:solidFill>
                            <a:srgbClr val="172B4D"/>
                          </a:solidFill>
                          <a:effectLst/>
                        </a:rPr>
                        <a:t>, </a:t>
                      </a:r>
                      <a:r>
                        <a:rPr lang="ko-KR" altLang="en-US" sz="800" dirty="0">
                          <a:solidFill>
                            <a:srgbClr val="172B4D"/>
                          </a:solidFill>
                          <a:effectLst/>
                        </a:rPr>
                        <a:t>결과로는 </a:t>
                      </a:r>
                      <a:r>
                        <a:rPr lang="en-US" altLang="ko-KR" sz="800" dirty="0" err="1">
                          <a:solidFill>
                            <a:srgbClr val="172B4D"/>
                          </a:solidFill>
                          <a:effectLst/>
                        </a:rPr>
                        <a:t>WMWare</a:t>
                      </a:r>
                      <a:r>
                        <a:rPr lang="en-US" altLang="ko-KR" sz="800" dirty="0">
                          <a:solidFill>
                            <a:srgbClr val="172B4D"/>
                          </a:solidFill>
                          <a:effectLst/>
                        </a:rPr>
                        <a:t> </a:t>
                      </a:r>
                      <a:r>
                        <a:rPr lang="ko-KR" altLang="en-US" sz="800" dirty="0">
                          <a:solidFill>
                            <a:srgbClr val="172B4D"/>
                          </a:solidFill>
                          <a:effectLst/>
                        </a:rPr>
                        <a:t>보다 더 성능이 </a:t>
                      </a:r>
                      <a:r>
                        <a:rPr lang="ko-KR" altLang="en-US" sz="800" dirty="0" err="1">
                          <a:solidFill>
                            <a:srgbClr val="172B4D"/>
                          </a:solidFill>
                          <a:effectLst/>
                        </a:rPr>
                        <a:t>안나왔음</a:t>
                      </a:r>
                      <a:endParaRPr lang="ko-KR" altLang="en-US" sz="800" dirty="0">
                        <a:effectLst/>
                      </a:endParaRPr>
                    </a:p>
                    <a:p>
                      <a:pPr algn="l" fontAlgn="t"/>
                      <a:r>
                        <a:rPr lang="en-US" altLang="ko-KR" sz="800" dirty="0">
                          <a:solidFill>
                            <a:srgbClr val="172B4D"/>
                          </a:solidFill>
                          <a:effectLst/>
                        </a:rPr>
                        <a:t>- </a:t>
                      </a:r>
                      <a:r>
                        <a:rPr lang="ko-KR" altLang="en-US" sz="800" dirty="0" err="1">
                          <a:solidFill>
                            <a:srgbClr val="172B4D"/>
                          </a:solidFill>
                          <a:effectLst/>
                        </a:rPr>
                        <a:t>고객사</a:t>
                      </a:r>
                      <a:r>
                        <a:rPr lang="ko-KR" altLang="en-US" sz="800" dirty="0">
                          <a:solidFill>
                            <a:srgbClr val="172B4D"/>
                          </a:solidFill>
                          <a:effectLst/>
                        </a:rPr>
                        <a:t> 요구사항은 있지만</a:t>
                      </a:r>
                      <a:r>
                        <a:rPr lang="en-US" altLang="ko-KR" sz="800" dirty="0">
                          <a:solidFill>
                            <a:srgbClr val="172B4D"/>
                          </a:solidFill>
                          <a:effectLst/>
                        </a:rPr>
                        <a:t>, </a:t>
                      </a:r>
                      <a:r>
                        <a:rPr lang="ko-KR" altLang="en-US" sz="800" dirty="0">
                          <a:solidFill>
                            <a:srgbClr val="172B4D"/>
                          </a:solidFill>
                          <a:effectLst/>
                        </a:rPr>
                        <a:t>실패 사례를 봤을 때 어려운 기술로 보인다</a:t>
                      </a:r>
                      <a:r>
                        <a:rPr lang="en-US" altLang="ko-KR" sz="800" dirty="0">
                          <a:solidFill>
                            <a:srgbClr val="172B4D"/>
                          </a:solidFill>
                          <a:effectLst/>
                        </a:rPr>
                        <a:t>. </a:t>
                      </a:r>
                      <a:r>
                        <a:rPr lang="en-US" altLang="ko-KR" sz="800" u="sng" dirty="0">
                          <a:solidFill>
                            <a:srgbClr val="172B4D"/>
                          </a:solidFill>
                          <a:effectLst/>
                        </a:rPr>
                        <a:t>CXL enabling</a:t>
                      </a:r>
                      <a:r>
                        <a:rPr lang="ko-KR" altLang="en-US" sz="800" u="sng" dirty="0">
                          <a:solidFill>
                            <a:srgbClr val="172B4D"/>
                          </a:solidFill>
                          <a:effectLst/>
                        </a:rPr>
                        <a:t>하는데 기여한다면</a:t>
                      </a:r>
                      <a:r>
                        <a:rPr lang="ko-KR" altLang="en-US" sz="800" dirty="0">
                          <a:solidFill>
                            <a:srgbClr val="172B4D"/>
                          </a:solidFill>
                          <a:effectLst/>
                        </a:rPr>
                        <a:t> </a:t>
                      </a:r>
                      <a:r>
                        <a:rPr lang="ko-KR" altLang="en-US" sz="800" dirty="0" err="1">
                          <a:solidFill>
                            <a:srgbClr val="172B4D"/>
                          </a:solidFill>
                          <a:effectLst/>
                        </a:rPr>
                        <a:t>메모리사</a:t>
                      </a:r>
                      <a:r>
                        <a:rPr lang="ko-KR" altLang="en-US" sz="800" dirty="0">
                          <a:solidFill>
                            <a:srgbClr val="172B4D"/>
                          </a:solidFill>
                          <a:effectLst/>
                        </a:rPr>
                        <a:t> 입장에서는 아주 좋을 듯 </a:t>
                      </a:r>
                      <a:r>
                        <a:rPr lang="en-US" altLang="ko-KR" sz="800" dirty="0">
                          <a:solidFill>
                            <a:srgbClr val="172B4D"/>
                          </a:solidFill>
                          <a:effectLst/>
                        </a:rPr>
                        <a:t>(</a:t>
                      </a:r>
                      <a:r>
                        <a:rPr lang="ko-KR" altLang="en-US" sz="800" dirty="0">
                          <a:solidFill>
                            <a:srgbClr val="172B4D"/>
                          </a:solidFill>
                          <a:effectLst/>
                        </a:rPr>
                        <a:t>오랜 숙원</a:t>
                      </a:r>
                      <a:r>
                        <a:rPr lang="en-US" altLang="ko-KR" sz="800" dirty="0">
                          <a:solidFill>
                            <a:srgbClr val="172B4D"/>
                          </a:solidFill>
                          <a:effectLst/>
                        </a:rPr>
                        <a:t>) </a:t>
                      </a:r>
                      <a:endParaRPr lang="ko-KR" altLang="en-US" sz="800" dirty="0">
                        <a:effectLst/>
                      </a:endParaRPr>
                    </a:p>
                    <a:p>
                      <a:pPr algn="l" fontAlgn="t"/>
                      <a:r>
                        <a:rPr lang="ko-KR" altLang="en-US" sz="800" dirty="0">
                          <a:solidFill>
                            <a:srgbClr val="172B4D"/>
                          </a:solidFill>
                          <a:effectLst/>
                        </a:rPr>
                        <a:t> </a:t>
                      </a:r>
                      <a:endParaRPr lang="ko-KR" altLang="en-US" sz="800" dirty="0">
                        <a:effectLst/>
                      </a:endParaRPr>
                    </a:p>
                    <a:p>
                      <a:pPr algn="l" fontAlgn="t"/>
                      <a:r>
                        <a:rPr lang="ko-KR" altLang="en-US" sz="800" dirty="0" err="1">
                          <a:solidFill>
                            <a:srgbClr val="172B4D"/>
                          </a:solidFill>
                          <a:effectLst/>
                        </a:rPr>
                        <a:t>고객사</a:t>
                      </a:r>
                      <a:r>
                        <a:rPr lang="ko-KR" altLang="en-US" sz="800" dirty="0">
                          <a:solidFill>
                            <a:srgbClr val="172B4D"/>
                          </a:solidFill>
                          <a:effectLst/>
                        </a:rPr>
                        <a:t> 동향 </a:t>
                      </a:r>
                      <a:r>
                        <a:rPr lang="en-US" altLang="ko-KR" sz="800" dirty="0">
                          <a:solidFill>
                            <a:srgbClr val="172B4D"/>
                          </a:solidFill>
                          <a:effectLst/>
                        </a:rPr>
                        <a:t>(PIM)</a:t>
                      </a:r>
                      <a:endParaRPr lang="ko-KR" altLang="en-US" sz="800" dirty="0">
                        <a:effectLst/>
                      </a:endParaRPr>
                    </a:p>
                    <a:p>
                      <a:pPr algn="l" fontAlgn="t"/>
                      <a:r>
                        <a:rPr lang="en-US" altLang="ko-KR" sz="800" dirty="0">
                          <a:solidFill>
                            <a:srgbClr val="172B4D"/>
                          </a:solidFill>
                          <a:effectLst/>
                        </a:rPr>
                        <a:t>- </a:t>
                      </a:r>
                      <a:r>
                        <a:rPr lang="ko-KR" altLang="en-US" sz="800" dirty="0">
                          <a:solidFill>
                            <a:srgbClr val="172B4D"/>
                          </a:solidFill>
                          <a:effectLst/>
                        </a:rPr>
                        <a:t>중국은 </a:t>
                      </a:r>
                      <a:r>
                        <a:rPr lang="ko-KR" altLang="en-US" sz="800" dirty="0" err="1">
                          <a:solidFill>
                            <a:srgbClr val="172B4D"/>
                          </a:solidFill>
                          <a:effectLst/>
                        </a:rPr>
                        <a:t>퀄컴에</a:t>
                      </a:r>
                      <a:r>
                        <a:rPr lang="ko-KR" altLang="en-US" sz="800" dirty="0">
                          <a:solidFill>
                            <a:srgbClr val="172B4D"/>
                          </a:solidFill>
                          <a:effectLst/>
                        </a:rPr>
                        <a:t> </a:t>
                      </a:r>
                      <a:r>
                        <a:rPr lang="en-US" altLang="ko-KR" sz="800" dirty="0">
                          <a:solidFill>
                            <a:srgbClr val="172B4D"/>
                          </a:solidFill>
                          <a:effectLst/>
                        </a:rPr>
                        <a:t>100% </a:t>
                      </a:r>
                      <a:r>
                        <a:rPr lang="ko-KR" altLang="en-US" sz="800" dirty="0">
                          <a:solidFill>
                            <a:srgbClr val="172B4D"/>
                          </a:solidFill>
                          <a:effectLst/>
                        </a:rPr>
                        <a:t>의존</a:t>
                      </a:r>
                      <a:endParaRPr lang="ko-KR" altLang="en-US" sz="800" dirty="0">
                        <a:effectLst/>
                      </a:endParaRPr>
                    </a:p>
                    <a:p>
                      <a:pPr algn="l" fontAlgn="t"/>
                      <a:r>
                        <a:rPr lang="en-US" altLang="ko-KR" sz="800" dirty="0">
                          <a:solidFill>
                            <a:srgbClr val="172B4D"/>
                          </a:solidFill>
                          <a:effectLst/>
                        </a:rPr>
                        <a:t>- AI</a:t>
                      </a:r>
                      <a:r>
                        <a:rPr lang="ko-KR" altLang="en-US" sz="800" dirty="0">
                          <a:solidFill>
                            <a:srgbClr val="172B4D"/>
                          </a:solidFill>
                          <a:effectLst/>
                        </a:rPr>
                        <a:t>가 나오며 여러 </a:t>
                      </a:r>
                      <a:r>
                        <a:rPr lang="ko-KR" altLang="en-US" sz="800" dirty="0" err="1">
                          <a:solidFill>
                            <a:srgbClr val="172B4D"/>
                          </a:solidFill>
                          <a:effectLst/>
                        </a:rPr>
                        <a:t>고객사들이</a:t>
                      </a:r>
                      <a:r>
                        <a:rPr lang="ko-KR" altLang="en-US" sz="800" dirty="0">
                          <a:solidFill>
                            <a:srgbClr val="172B4D"/>
                          </a:solidFill>
                          <a:effectLst/>
                        </a:rPr>
                        <a:t> </a:t>
                      </a:r>
                      <a:r>
                        <a:rPr lang="en-US" altLang="ko-KR" sz="800" dirty="0">
                          <a:solidFill>
                            <a:srgbClr val="172B4D"/>
                          </a:solidFill>
                          <a:effectLst/>
                        </a:rPr>
                        <a:t>PIM</a:t>
                      </a:r>
                      <a:r>
                        <a:rPr lang="ko-KR" altLang="en-US" sz="800" dirty="0">
                          <a:solidFill>
                            <a:srgbClr val="172B4D"/>
                          </a:solidFill>
                          <a:effectLst/>
                        </a:rPr>
                        <a:t>에 </a:t>
                      </a:r>
                      <a:r>
                        <a:rPr lang="ko-KR" altLang="en-US" sz="800" dirty="0" err="1">
                          <a:solidFill>
                            <a:srgbClr val="172B4D"/>
                          </a:solidFill>
                          <a:effectLst/>
                        </a:rPr>
                        <a:t>관심가지기</a:t>
                      </a:r>
                      <a:r>
                        <a:rPr lang="ko-KR" altLang="en-US" sz="800" dirty="0">
                          <a:solidFill>
                            <a:srgbClr val="172B4D"/>
                          </a:solidFill>
                          <a:effectLst/>
                        </a:rPr>
                        <a:t> 시작 </a:t>
                      </a:r>
                      <a:r>
                        <a:rPr lang="en-US" altLang="ko-KR" sz="800" dirty="0">
                          <a:solidFill>
                            <a:srgbClr val="172B4D"/>
                          </a:solidFill>
                          <a:effectLst/>
                        </a:rPr>
                        <a:t>(</a:t>
                      </a:r>
                      <a:r>
                        <a:rPr lang="ko-KR" altLang="en-US" sz="800" dirty="0" err="1">
                          <a:solidFill>
                            <a:srgbClr val="172B4D"/>
                          </a:solidFill>
                          <a:effectLst/>
                        </a:rPr>
                        <a:t>퀄컴</a:t>
                      </a:r>
                      <a:r>
                        <a:rPr lang="en-US" altLang="ko-KR" sz="800" dirty="0">
                          <a:solidFill>
                            <a:srgbClr val="172B4D"/>
                          </a:solidFill>
                          <a:effectLst/>
                        </a:rPr>
                        <a:t>, </a:t>
                      </a:r>
                      <a:r>
                        <a:rPr lang="ko-KR" altLang="en-US" sz="800" dirty="0">
                          <a:solidFill>
                            <a:srgbClr val="172B4D"/>
                          </a:solidFill>
                          <a:effectLst/>
                        </a:rPr>
                        <a:t>애플</a:t>
                      </a:r>
                      <a:r>
                        <a:rPr lang="en-US" altLang="ko-KR" sz="800" dirty="0">
                          <a:solidFill>
                            <a:srgbClr val="172B4D"/>
                          </a:solidFill>
                          <a:effectLst/>
                        </a:rPr>
                        <a:t>, IBM, </a:t>
                      </a:r>
                      <a:r>
                        <a:rPr lang="ko-KR" altLang="en-US" sz="800" dirty="0">
                          <a:solidFill>
                            <a:srgbClr val="172B4D"/>
                          </a:solidFill>
                          <a:effectLst/>
                        </a:rPr>
                        <a:t>인텔</a:t>
                      </a:r>
                      <a:r>
                        <a:rPr lang="en-US" altLang="ko-KR" sz="800" dirty="0">
                          <a:solidFill>
                            <a:srgbClr val="172B4D"/>
                          </a:solidFill>
                          <a:effectLst/>
                        </a:rPr>
                        <a:t>, AMD)</a:t>
                      </a:r>
                      <a:endParaRPr lang="ko-KR" altLang="en-US" sz="800" dirty="0">
                        <a:effectLst/>
                      </a:endParaRPr>
                    </a:p>
                    <a:p>
                      <a:pPr algn="l" fontAlgn="t"/>
                      <a:r>
                        <a:rPr lang="en-US" altLang="ko-KR" sz="800" dirty="0">
                          <a:solidFill>
                            <a:srgbClr val="172B4D"/>
                          </a:solidFill>
                          <a:effectLst/>
                        </a:rPr>
                        <a:t>- </a:t>
                      </a:r>
                      <a:r>
                        <a:rPr lang="ko-KR" altLang="en-US" sz="800" dirty="0" err="1">
                          <a:solidFill>
                            <a:srgbClr val="172B4D"/>
                          </a:solidFill>
                          <a:effectLst/>
                        </a:rPr>
                        <a:t>퀄컴은</a:t>
                      </a:r>
                      <a:r>
                        <a:rPr lang="ko-KR" altLang="en-US" sz="800" dirty="0">
                          <a:solidFill>
                            <a:srgbClr val="172B4D"/>
                          </a:solidFill>
                          <a:effectLst/>
                        </a:rPr>
                        <a:t> </a:t>
                      </a:r>
                      <a:r>
                        <a:rPr lang="en-US" altLang="ko-KR" sz="800" dirty="0">
                          <a:solidFill>
                            <a:srgbClr val="172B4D"/>
                          </a:solidFill>
                          <a:effectLst/>
                        </a:rPr>
                        <a:t>LP5XPIM</a:t>
                      </a:r>
                      <a:r>
                        <a:rPr lang="ko-KR" altLang="en-US" sz="800" dirty="0">
                          <a:solidFill>
                            <a:srgbClr val="172B4D"/>
                          </a:solidFill>
                          <a:effectLst/>
                        </a:rPr>
                        <a:t>으로 납품 준비 중</a:t>
                      </a:r>
                      <a:endParaRPr lang="ko-KR" altLang="en-US" sz="800" dirty="0">
                        <a:effectLst/>
                      </a:endParaRPr>
                    </a:p>
                    <a:p>
                      <a:pPr algn="l" fontAlgn="t"/>
                      <a:r>
                        <a:rPr lang="ko-KR" altLang="en-US" sz="800" dirty="0">
                          <a:solidFill>
                            <a:srgbClr val="172B4D"/>
                          </a:solidFill>
                          <a:effectLst/>
                        </a:rPr>
                        <a:t> </a:t>
                      </a:r>
                      <a:endParaRPr lang="ko-KR" altLang="en-US" sz="800" dirty="0">
                        <a:effectLst/>
                      </a:endParaRPr>
                    </a:p>
                    <a:p>
                      <a:pPr algn="l" fontAlgn="t"/>
                      <a:r>
                        <a:rPr lang="ko-KR" altLang="en-US" sz="800" dirty="0">
                          <a:solidFill>
                            <a:srgbClr val="0055CC"/>
                          </a:solidFill>
                          <a:effectLst/>
                        </a:rPr>
                        <a:t>② 시스템 연구 필요 여부 </a:t>
                      </a:r>
                      <a:endParaRPr lang="ko-KR" altLang="en-US" sz="800" dirty="0">
                        <a:effectLst/>
                      </a:endParaRPr>
                    </a:p>
                    <a:p>
                      <a:pPr algn="l" fontAlgn="t"/>
                      <a:r>
                        <a:rPr lang="en-US" altLang="ko-KR" sz="800" dirty="0">
                          <a:solidFill>
                            <a:srgbClr val="172B4D"/>
                          </a:solidFill>
                          <a:effectLst/>
                        </a:rPr>
                        <a:t>PIM</a:t>
                      </a:r>
                      <a:endParaRPr lang="ko-KR" altLang="en-US" sz="800" dirty="0">
                        <a:effectLst/>
                      </a:endParaRPr>
                    </a:p>
                    <a:p>
                      <a:pPr algn="l" fontAlgn="t"/>
                      <a:r>
                        <a:rPr lang="en-US" altLang="ko-KR" sz="800" dirty="0">
                          <a:solidFill>
                            <a:srgbClr val="172B4D"/>
                          </a:solidFill>
                          <a:effectLst/>
                        </a:rPr>
                        <a:t>- LP5XPIM</a:t>
                      </a:r>
                      <a:r>
                        <a:rPr lang="ko-KR" altLang="en-US" sz="800" dirty="0">
                          <a:solidFill>
                            <a:srgbClr val="172B4D"/>
                          </a:solidFill>
                          <a:effectLst/>
                        </a:rPr>
                        <a:t>으로 시스템을 꾸려서 성능이 얼마나 나올지 준비하는 건 필요하다</a:t>
                      </a:r>
                      <a:r>
                        <a:rPr lang="en-US" altLang="ko-KR" sz="800" dirty="0">
                          <a:solidFill>
                            <a:srgbClr val="172B4D"/>
                          </a:solidFill>
                          <a:effectLst/>
                        </a:rPr>
                        <a:t>. </a:t>
                      </a:r>
                      <a:r>
                        <a:rPr lang="ko-KR" altLang="en-US" sz="800" dirty="0">
                          <a:solidFill>
                            <a:srgbClr val="172B4D"/>
                          </a:solidFill>
                          <a:effectLst/>
                        </a:rPr>
                        <a:t>지금이 적기이다</a:t>
                      </a:r>
                      <a:r>
                        <a:rPr lang="en-US" altLang="ko-KR" sz="800" dirty="0">
                          <a:solidFill>
                            <a:srgbClr val="172B4D"/>
                          </a:solidFill>
                          <a:effectLst/>
                        </a:rPr>
                        <a:t>. </a:t>
                      </a:r>
                      <a:endParaRPr lang="ko-KR" altLang="en-US" sz="800" dirty="0">
                        <a:effectLst/>
                      </a:endParaRPr>
                    </a:p>
                    <a:p>
                      <a:pPr algn="l" fontAlgn="t"/>
                      <a:r>
                        <a:rPr lang="en-US" altLang="ko-KR" sz="800" dirty="0">
                          <a:solidFill>
                            <a:srgbClr val="172B4D"/>
                          </a:solidFill>
                          <a:effectLst/>
                        </a:rPr>
                        <a:t>- </a:t>
                      </a:r>
                      <a:r>
                        <a:rPr lang="ko-KR" altLang="en-US" sz="800" dirty="0">
                          <a:solidFill>
                            <a:srgbClr val="172B4D"/>
                          </a:solidFill>
                          <a:effectLst/>
                        </a:rPr>
                        <a:t>시스템적으로 증명된 데이터를 가지고 납품을 하는 게 필요하다</a:t>
                      </a:r>
                      <a:r>
                        <a:rPr lang="en-US" altLang="ko-KR" sz="800" dirty="0">
                          <a:solidFill>
                            <a:srgbClr val="172B4D"/>
                          </a:solidFill>
                          <a:effectLst/>
                        </a:rPr>
                        <a:t>. </a:t>
                      </a:r>
                      <a:endParaRPr lang="ko-KR" altLang="en-US" sz="800" dirty="0">
                        <a:effectLst/>
                      </a:endParaRPr>
                    </a:p>
                    <a:p>
                      <a:pPr algn="l" fontAlgn="t"/>
                      <a:r>
                        <a:rPr lang="en-US" altLang="ko-KR" sz="800" dirty="0">
                          <a:solidFill>
                            <a:srgbClr val="172B4D"/>
                          </a:solidFill>
                          <a:effectLst/>
                        </a:rPr>
                        <a:t>- </a:t>
                      </a:r>
                      <a:r>
                        <a:rPr lang="ko-KR" altLang="en-US" sz="800" dirty="0" err="1">
                          <a:solidFill>
                            <a:srgbClr val="172B4D"/>
                          </a:solidFill>
                          <a:effectLst/>
                        </a:rPr>
                        <a:t>고객사</a:t>
                      </a:r>
                      <a:r>
                        <a:rPr lang="en-US" altLang="ko-KR" sz="800" dirty="0">
                          <a:solidFill>
                            <a:srgbClr val="172B4D"/>
                          </a:solidFill>
                          <a:effectLst/>
                        </a:rPr>
                        <a:t>(</a:t>
                      </a:r>
                      <a:r>
                        <a:rPr lang="ko-KR" altLang="en-US" sz="800" dirty="0" err="1">
                          <a:solidFill>
                            <a:srgbClr val="172B4D"/>
                          </a:solidFill>
                          <a:effectLst/>
                        </a:rPr>
                        <a:t>퀄컴</a:t>
                      </a:r>
                      <a:r>
                        <a:rPr lang="en-US" altLang="ko-KR" sz="800" dirty="0">
                          <a:solidFill>
                            <a:srgbClr val="172B4D"/>
                          </a:solidFill>
                          <a:effectLst/>
                        </a:rPr>
                        <a:t>)</a:t>
                      </a:r>
                      <a:r>
                        <a:rPr lang="ko-KR" altLang="en-US" sz="800" dirty="0">
                          <a:solidFill>
                            <a:srgbClr val="172B4D"/>
                          </a:solidFill>
                          <a:effectLst/>
                        </a:rPr>
                        <a:t>에 </a:t>
                      </a:r>
                      <a:r>
                        <a:rPr lang="ko-KR" altLang="en-US" sz="800" u="sng" dirty="0">
                          <a:solidFill>
                            <a:srgbClr val="172B4D"/>
                          </a:solidFill>
                          <a:effectLst/>
                        </a:rPr>
                        <a:t>납품을 했는데 그 쪽에서 시스템 빌드를 해보니 </a:t>
                      </a:r>
                      <a:r>
                        <a:rPr lang="ko-KR" altLang="en-US" sz="800" u="sng" dirty="0" err="1">
                          <a:solidFill>
                            <a:srgbClr val="172B4D"/>
                          </a:solidFill>
                          <a:effectLst/>
                        </a:rPr>
                        <a:t>못쓰겠다고</a:t>
                      </a:r>
                      <a:r>
                        <a:rPr lang="ko-KR" altLang="en-US" sz="800" u="sng" dirty="0">
                          <a:solidFill>
                            <a:srgbClr val="172B4D"/>
                          </a:solidFill>
                          <a:effectLst/>
                        </a:rPr>
                        <a:t> 하는 상황이 최악의 리스크</a:t>
                      </a:r>
                      <a:r>
                        <a:rPr lang="en-US" altLang="ko-KR" sz="800" u="sng" dirty="0">
                          <a:solidFill>
                            <a:srgbClr val="172B4D"/>
                          </a:solidFill>
                          <a:effectLst/>
                        </a:rPr>
                        <a:t>.</a:t>
                      </a:r>
                      <a:endParaRPr lang="ko-KR" altLang="en-US" sz="800" dirty="0">
                        <a:effectLst/>
                      </a:endParaRPr>
                    </a:p>
                    <a:p>
                      <a:pPr algn="l" fontAlgn="t"/>
                      <a:r>
                        <a:rPr lang="en-US" altLang="ko-KR" sz="800" dirty="0">
                          <a:solidFill>
                            <a:srgbClr val="172B4D"/>
                          </a:solidFill>
                          <a:effectLst/>
                        </a:rPr>
                        <a:t>CXL</a:t>
                      </a:r>
                      <a:endParaRPr lang="ko-KR" altLang="en-US" sz="800" dirty="0">
                        <a:effectLst/>
                      </a:endParaRPr>
                    </a:p>
                    <a:p>
                      <a:pPr algn="l" fontAlgn="t"/>
                      <a:r>
                        <a:rPr lang="en-US" altLang="ko-KR" sz="800" dirty="0">
                          <a:solidFill>
                            <a:srgbClr val="172B4D"/>
                          </a:solidFill>
                          <a:effectLst/>
                        </a:rPr>
                        <a:t>- GPU+HBM</a:t>
                      </a:r>
                      <a:r>
                        <a:rPr lang="ko-KR" altLang="en-US" sz="800" dirty="0">
                          <a:solidFill>
                            <a:srgbClr val="172B4D"/>
                          </a:solidFill>
                          <a:effectLst/>
                        </a:rPr>
                        <a:t>은 다들 하고 있고</a:t>
                      </a:r>
                      <a:r>
                        <a:rPr lang="en-US" altLang="ko-KR" sz="800" dirty="0">
                          <a:solidFill>
                            <a:srgbClr val="172B4D"/>
                          </a:solidFill>
                          <a:effectLst/>
                        </a:rPr>
                        <a:t>, </a:t>
                      </a:r>
                      <a:r>
                        <a:rPr lang="ko-KR" altLang="en-US" sz="800" dirty="0" err="1">
                          <a:solidFill>
                            <a:srgbClr val="172B4D"/>
                          </a:solidFill>
                          <a:effectLst/>
                        </a:rPr>
                        <a:t>차별점을</a:t>
                      </a:r>
                      <a:r>
                        <a:rPr lang="ko-KR" altLang="en-US" sz="800" dirty="0">
                          <a:solidFill>
                            <a:srgbClr val="172B4D"/>
                          </a:solidFill>
                          <a:effectLst/>
                        </a:rPr>
                        <a:t> 두자면</a:t>
                      </a:r>
                      <a:r>
                        <a:rPr lang="en-US" altLang="ko-KR" sz="800" dirty="0">
                          <a:solidFill>
                            <a:srgbClr val="172B4D"/>
                          </a:solidFill>
                          <a:effectLst/>
                        </a:rPr>
                        <a:t>, CXL </a:t>
                      </a:r>
                      <a:r>
                        <a:rPr lang="ko-KR" altLang="en-US" sz="800" dirty="0">
                          <a:solidFill>
                            <a:srgbClr val="172B4D"/>
                          </a:solidFill>
                          <a:effectLst/>
                        </a:rPr>
                        <a:t>메모리 박스 내 </a:t>
                      </a:r>
                      <a:r>
                        <a:rPr lang="en-US" altLang="ko-KR" sz="800" dirty="0">
                          <a:solidFill>
                            <a:srgbClr val="172B4D"/>
                          </a:solidFill>
                          <a:effectLst/>
                        </a:rPr>
                        <a:t>CXL</a:t>
                      </a:r>
                      <a:r>
                        <a:rPr lang="ko-KR" altLang="en-US" sz="800" dirty="0">
                          <a:solidFill>
                            <a:srgbClr val="172B4D"/>
                          </a:solidFill>
                          <a:effectLst/>
                        </a:rPr>
                        <a:t>를 </a:t>
                      </a:r>
                      <a:r>
                        <a:rPr lang="en-US" altLang="ko-KR" sz="800" dirty="0">
                          <a:solidFill>
                            <a:srgbClr val="172B4D"/>
                          </a:solidFill>
                          <a:effectLst/>
                        </a:rPr>
                        <a:t>Orchestration </a:t>
                      </a:r>
                      <a:r>
                        <a:rPr lang="ko-KR" altLang="en-US" sz="800" dirty="0">
                          <a:solidFill>
                            <a:srgbClr val="172B4D"/>
                          </a:solidFill>
                          <a:effectLst/>
                        </a:rPr>
                        <a:t>하는 연구가 다들 어려워하고 기피하는데</a:t>
                      </a:r>
                      <a:r>
                        <a:rPr lang="en-US" altLang="ko-KR" sz="800" dirty="0">
                          <a:solidFill>
                            <a:srgbClr val="172B4D"/>
                          </a:solidFill>
                          <a:effectLst/>
                        </a:rPr>
                        <a:t>, </a:t>
                      </a:r>
                      <a:r>
                        <a:rPr lang="ko-KR" altLang="en-US" sz="800" dirty="0">
                          <a:solidFill>
                            <a:srgbClr val="172B4D"/>
                          </a:solidFill>
                          <a:effectLst/>
                        </a:rPr>
                        <a:t>이 부분을 연구하면 어떨지</a:t>
                      </a:r>
                      <a:endParaRPr lang="ko-KR" altLang="en-US" sz="800" dirty="0">
                        <a:effectLst/>
                      </a:endParaRPr>
                    </a:p>
                    <a:p>
                      <a:pPr algn="l" fontAlgn="t"/>
                      <a:r>
                        <a:rPr lang="ko-KR" altLang="en-US" sz="800" dirty="0">
                          <a:solidFill>
                            <a:srgbClr val="172B4D"/>
                          </a:solidFill>
                          <a:effectLst/>
                        </a:rPr>
                        <a:t> </a:t>
                      </a:r>
                      <a:endParaRPr lang="ko-KR" altLang="en-US" sz="800" dirty="0">
                        <a:effectLst/>
                      </a:endParaRPr>
                    </a:p>
                    <a:p>
                      <a:pPr algn="l" fontAlgn="t"/>
                      <a:r>
                        <a:rPr lang="ko-KR" altLang="en-US" sz="800" b="1" dirty="0">
                          <a:solidFill>
                            <a:srgbClr val="0055CC"/>
                          </a:solidFill>
                          <a:effectLst/>
                        </a:rPr>
                        <a:t>③ 조직 </a:t>
                      </a:r>
                      <a:r>
                        <a:rPr lang="en-US" altLang="ko-KR" sz="800" b="1" dirty="0">
                          <a:solidFill>
                            <a:srgbClr val="0055CC"/>
                          </a:solidFill>
                          <a:effectLst/>
                        </a:rPr>
                        <a:t>: </a:t>
                      </a:r>
                      <a:r>
                        <a:rPr lang="ko-KR" altLang="en-US" sz="800" b="1" dirty="0">
                          <a:solidFill>
                            <a:srgbClr val="0055CC"/>
                          </a:solidFill>
                          <a:effectLst/>
                        </a:rPr>
                        <a:t>시스템 연구 등의 역할이 사업부에서 하는 게 좋을까</a:t>
                      </a:r>
                      <a:r>
                        <a:rPr lang="en-US" altLang="ko-KR" sz="800" b="1" dirty="0">
                          <a:solidFill>
                            <a:srgbClr val="0055CC"/>
                          </a:solidFill>
                          <a:effectLst/>
                        </a:rPr>
                        <a:t>? </a:t>
                      </a:r>
                      <a:r>
                        <a:rPr lang="ko-KR" altLang="en-US" sz="800" b="1" dirty="0">
                          <a:solidFill>
                            <a:srgbClr val="0055CC"/>
                          </a:solidFill>
                          <a:effectLst/>
                        </a:rPr>
                        <a:t>아니면 연구소에서 하는 게 좋을까</a:t>
                      </a:r>
                      <a:r>
                        <a:rPr lang="en-US" altLang="ko-KR" sz="800" b="1" dirty="0">
                          <a:solidFill>
                            <a:srgbClr val="0055CC"/>
                          </a:solidFill>
                          <a:effectLst/>
                        </a:rPr>
                        <a:t>? </a:t>
                      </a:r>
                      <a:endParaRPr lang="ko-KR" altLang="en-US" sz="800" dirty="0">
                        <a:effectLst/>
                      </a:endParaRPr>
                    </a:p>
                    <a:p>
                      <a:pPr algn="l" fontAlgn="t"/>
                      <a:r>
                        <a:rPr lang="en-US" altLang="ko-KR" sz="800" u="sng" dirty="0">
                          <a:solidFill>
                            <a:srgbClr val="172B4D"/>
                          </a:solidFill>
                          <a:effectLst/>
                        </a:rPr>
                        <a:t>- CXL</a:t>
                      </a:r>
                      <a:r>
                        <a:rPr lang="ko-KR" altLang="en-US" sz="800" u="sng" dirty="0">
                          <a:solidFill>
                            <a:srgbClr val="172B4D"/>
                          </a:solidFill>
                          <a:effectLst/>
                        </a:rPr>
                        <a:t>의 메모리 </a:t>
                      </a:r>
                      <a:r>
                        <a:rPr lang="en-US" altLang="ko-KR" sz="800" u="sng" dirty="0">
                          <a:solidFill>
                            <a:srgbClr val="172B4D"/>
                          </a:solidFill>
                          <a:effectLst/>
                        </a:rPr>
                        <a:t>orchestration </a:t>
                      </a:r>
                      <a:r>
                        <a:rPr lang="ko-KR" altLang="en-US" sz="800" u="sng" dirty="0">
                          <a:solidFill>
                            <a:srgbClr val="172B4D"/>
                          </a:solidFill>
                          <a:effectLst/>
                        </a:rPr>
                        <a:t>부분이 중요한데 어떻게 보면 </a:t>
                      </a:r>
                      <a:r>
                        <a:rPr lang="ko-KR" altLang="en-US" sz="800" u="sng" dirty="0" err="1">
                          <a:solidFill>
                            <a:srgbClr val="172B4D"/>
                          </a:solidFill>
                          <a:effectLst/>
                        </a:rPr>
                        <a:t>고객사와</a:t>
                      </a:r>
                      <a:r>
                        <a:rPr lang="ko-KR" altLang="en-US" sz="800" u="sng" dirty="0">
                          <a:solidFill>
                            <a:srgbClr val="172B4D"/>
                          </a:solidFill>
                          <a:effectLst/>
                        </a:rPr>
                        <a:t> 같은 역할이라 사업부에서 하면 </a:t>
                      </a:r>
                      <a:r>
                        <a:rPr lang="ko-KR" altLang="en-US" sz="800" u="sng" dirty="0" err="1">
                          <a:solidFill>
                            <a:srgbClr val="172B4D"/>
                          </a:solidFill>
                          <a:effectLst/>
                        </a:rPr>
                        <a:t>고객사와</a:t>
                      </a:r>
                      <a:r>
                        <a:rPr lang="ko-KR" altLang="en-US" sz="800" u="sng" dirty="0">
                          <a:solidFill>
                            <a:srgbClr val="172B4D"/>
                          </a:solidFill>
                          <a:effectLst/>
                        </a:rPr>
                        <a:t> </a:t>
                      </a:r>
                      <a:r>
                        <a:rPr lang="ko-KR" altLang="en-US" sz="800" u="sng" dirty="0" err="1">
                          <a:solidFill>
                            <a:srgbClr val="172B4D"/>
                          </a:solidFill>
                          <a:effectLst/>
                        </a:rPr>
                        <a:t>쫑나서</a:t>
                      </a:r>
                      <a:r>
                        <a:rPr lang="ko-KR" altLang="en-US" sz="800" u="sng" dirty="0">
                          <a:solidFill>
                            <a:srgbClr val="172B4D"/>
                          </a:solidFill>
                          <a:effectLst/>
                        </a:rPr>
                        <a:t> </a:t>
                      </a:r>
                      <a:r>
                        <a:rPr lang="ko-KR" altLang="en-US" sz="800" u="sng" dirty="0" err="1">
                          <a:solidFill>
                            <a:srgbClr val="172B4D"/>
                          </a:solidFill>
                          <a:effectLst/>
                        </a:rPr>
                        <a:t>고객사가</a:t>
                      </a:r>
                      <a:r>
                        <a:rPr lang="ko-KR" altLang="en-US" sz="800" u="sng" dirty="0">
                          <a:solidFill>
                            <a:srgbClr val="172B4D"/>
                          </a:solidFill>
                          <a:effectLst/>
                        </a:rPr>
                        <a:t> 싫어하므로</a:t>
                      </a:r>
                      <a:endParaRPr lang="ko-KR" altLang="en-US" sz="800" dirty="0">
                        <a:effectLst/>
                      </a:endParaRPr>
                    </a:p>
                    <a:p>
                      <a:pPr algn="l" fontAlgn="t"/>
                      <a:r>
                        <a:rPr lang="ko-KR" altLang="en-US" sz="800" u="sng" dirty="0">
                          <a:solidFill>
                            <a:srgbClr val="172B4D"/>
                          </a:solidFill>
                          <a:effectLst/>
                        </a:rPr>
                        <a:t>  별도 기관 </a:t>
                      </a:r>
                      <a:r>
                        <a:rPr lang="en-US" altLang="ko-KR" sz="800" u="sng" dirty="0">
                          <a:solidFill>
                            <a:srgbClr val="172B4D"/>
                          </a:solidFill>
                          <a:effectLst/>
                        </a:rPr>
                        <a:t>(</a:t>
                      </a:r>
                      <a:r>
                        <a:rPr lang="ko-KR" altLang="en-US" sz="800" u="sng" dirty="0">
                          <a:solidFill>
                            <a:srgbClr val="172B4D"/>
                          </a:solidFill>
                          <a:effectLst/>
                        </a:rPr>
                        <a:t>연구소 등</a:t>
                      </a:r>
                      <a:r>
                        <a:rPr lang="en-US" altLang="ko-KR" sz="800" u="sng" dirty="0">
                          <a:solidFill>
                            <a:srgbClr val="172B4D"/>
                          </a:solidFill>
                          <a:effectLst/>
                        </a:rPr>
                        <a:t>)</a:t>
                      </a:r>
                      <a:r>
                        <a:rPr lang="ko-KR" altLang="en-US" sz="800" u="sng" dirty="0">
                          <a:solidFill>
                            <a:srgbClr val="172B4D"/>
                          </a:solidFill>
                          <a:effectLst/>
                        </a:rPr>
                        <a:t>에서 하는 게 좋지 않나 생각</a:t>
                      </a:r>
                      <a:endParaRPr lang="ko-KR" altLang="en-US" sz="800" dirty="0">
                        <a:effectLst/>
                      </a:endParaRPr>
                    </a:p>
                    <a:p>
                      <a:pPr algn="l" fontAlgn="t"/>
                      <a:r>
                        <a:rPr lang="ko-KR" altLang="en-US" sz="800" u="sng" dirty="0">
                          <a:effectLst/>
                        </a:rPr>
                        <a:t> </a:t>
                      </a:r>
                      <a:endParaRPr lang="ko-KR" altLang="en-US" sz="800" dirty="0">
                        <a:effectLst/>
                      </a:endParaRPr>
                    </a:p>
                    <a:p>
                      <a:pPr algn="l" fontAlgn="t"/>
                      <a:r>
                        <a:rPr lang="ko-KR" altLang="en-US" sz="800" dirty="0">
                          <a:effectLst/>
                        </a:rPr>
                        <a:t> </a:t>
                      </a:r>
                    </a:p>
                  </a:txBody>
                  <a:tcPr marL="43811" marR="43811" marT="30668" marB="30668">
                    <a:lnL w="9525" cap="flat" cmpd="sng" algn="ctr">
                      <a:solidFill>
                        <a:srgbClr val="D0A188"/>
                      </a:solidFill>
                      <a:prstDash val="solid"/>
                      <a:round/>
                      <a:headEnd type="none" w="med" len="med"/>
                      <a:tailEnd type="none" w="med" len="med"/>
                    </a:lnL>
                    <a:lnR w="9525" cap="flat" cmpd="sng" algn="ctr">
                      <a:solidFill>
                        <a:srgbClr val="D0A188"/>
                      </a:solidFill>
                      <a:prstDash val="solid"/>
                      <a:round/>
                      <a:headEnd type="none" w="med" len="med"/>
                      <a:tailEnd type="none" w="med" len="med"/>
                    </a:lnR>
                    <a:lnT w="9525" cap="flat" cmpd="sng" algn="ctr">
                      <a:solidFill>
                        <a:srgbClr val="D0A188"/>
                      </a:solidFill>
                      <a:prstDash val="solid"/>
                      <a:round/>
                      <a:headEnd type="none" w="med" len="med"/>
                      <a:tailEnd type="none" w="med" len="med"/>
                    </a:lnT>
                    <a:lnB w="9525" cap="flat" cmpd="sng" algn="ctr">
                      <a:solidFill>
                        <a:srgbClr val="D0A188"/>
                      </a:solidFill>
                      <a:prstDash val="solid"/>
                      <a:round/>
                      <a:headEnd type="none" w="med" len="med"/>
                      <a:tailEnd type="none" w="med" len="med"/>
                    </a:lnB>
                  </a:tcPr>
                </a:tc>
                <a:extLst>
                  <a:ext uri="{0D108BD9-81ED-4DB2-BD59-A6C34878D82A}">
                    <a16:rowId xmlns:a16="http://schemas.microsoft.com/office/drawing/2014/main" val="3365647187"/>
                  </a:ext>
                </a:extLst>
              </a:tr>
            </a:tbl>
          </a:graphicData>
        </a:graphic>
      </p:graphicFrame>
      <p:sp>
        <p:nvSpPr>
          <p:cNvPr id="8" name="Rectangle 2"/>
          <p:cNvSpPr>
            <a:spLocks noChangeArrowheads="1"/>
          </p:cNvSpPr>
          <p:nvPr/>
        </p:nvSpPr>
        <p:spPr bwMode="auto">
          <a:xfrm>
            <a:off x="373616" y="1274421"/>
            <a:ext cx="464582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일시: 6/19 9~10시</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장소: MR1동 2층 </a:t>
            </a:r>
            <a:r>
              <a:rPr kumimoji="0" lang="ko-KR" altLang="ko-KR" sz="1100" b="0" i="0" u="none" strike="noStrike" cap="none" normalizeH="0" baseline="0" dirty="0" err="1">
                <a:ln>
                  <a:noFill/>
                </a:ln>
                <a:solidFill>
                  <a:schemeClr val="tx1"/>
                </a:solidFill>
                <a:effectLst/>
                <a:latin typeface="Arial" panose="020B0604020202020204" pitchFamily="34" charset="0"/>
              </a:rPr>
              <a:t>브룩클린</a:t>
            </a:r>
            <a:r>
              <a:rPr kumimoji="0" lang="ko-KR" altLang="ko-KR" sz="1100" b="0" i="0" u="none" strike="noStrike" cap="none" normalizeH="0" baseline="0" dirty="0">
                <a:ln>
                  <a:noFill/>
                </a:ln>
                <a:solidFill>
                  <a:schemeClr val="tx1"/>
                </a:solidFill>
                <a:effectLst/>
                <a:latin typeface="Arial" panose="020B0604020202020204" pitchFamily="34" charset="0"/>
              </a:rPr>
              <a:t> 회의실 </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Interviewee</a:t>
            </a:r>
            <a:r>
              <a:rPr kumimoji="0" lang="ko-KR" altLang="ko-KR" sz="1100" b="0" i="0" u="none" strike="noStrike" cap="none" normalizeH="0" baseline="0" dirty="0">
                <a:ln>
                  <a:noFill/>
                </a:ln>
                <a:solidFill>
                  <a:schemeClr val="tx1"/>
                </a:solidFill>
                <a:effectLst/>
                <a:latin typeface="Arial" panose="020B0604020202020204" pitchFamily="34" charset="0"/>
              </a:rPr>
              <a:t> : 메모리 </a:t>
            </a:r>
            <a:r>
              <a:rPr kumimoji="0" lang="ko-KR" altLang="ko-KR" sz="1100" b="0" i="0" u="none" strike="noStrike" cap="none" normalizeH="0" baseline="0" dirty="0" err="1">
                <a:ln>
                  <a:noFill/>
                </a:ln>
                <a:solidFill>
                  <a:schemeClr val="tx1"/>
                </a:solidFill>
                <a:effectLst/>
                <a:latin typeface="Arial" panose="020B0604020202020204" pitchFamily="34" charset="0"/>
              </a:rPr>
              <a:t>상품기획팀</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황두희</a:t>
            </a:r>
            <a:r>
              <a:rPr kumimoji="0" lang="ko-KR" altLang="ko-KR" sz="1100" b="0" i="0" u="none" strike="noStrike" cap="none" normalizeH="0" baseline="0" dirty="0">
                <a:ln>
                  <a:noFill/>
                </a:ln>
                <a:solidFill>
                  <a:schemeClr val="tx1"/>
                </a:solidFill>
                <a:effectLst/>
                <a:latin typeface="Arial" panose="020B0604020202020204" pitchFamily="34" charset="0"/>
              </a:rPr>
              <a:t> PL, </a:t>
            </a:r>
            <a:r>
              <a:rPr kumimoji="0" lang="ko-KR" altLang="ko-KR" sz="1100" b="0" i="0" u="none" strike="noStrike" cap="none" normalizeH="0" baseline="0" dirty="0" err="1">
                <a:ln>
                  <a:noFill/>
                </a:ln>
                <a:solidFill>
                  <a:schemeClr val="tx1"/>
                </a:solidFill>
                <a:effectLst/>
                <a:latin typeface="Arial" panose="020B0604020202020204" pitchFamily="34" charset="0"/>
              </a:rPr>
              <a:t>Nand</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기획그룹</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선창우</a:t>
            </a:r>
            <a:r>
              <a:rPr kumimoji="0" lang="ko-KR" altLang="ko-KR" sz="1100" b="0" i="0" u="none" strike="noStrike" cap="none" normalizeH="0" baseline="0" dirty="0">
                <a:ln>
                  <a:noFill/>
                </a:ln>
                <a:solidFill>
                  <a:schemeClr val="tx1"/>
                </a:solidFill>
                <a:effectLst/>
                <a:latin typeface="Arial" panose="020B0604020202020204" pitchFamily="34" charset="0"/>
              </a:rPr>
              <a:t> PL</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Interviewee</a:t>
            </a:r>
            <a:r>
              <a:rPr kumimoji="0" lang="ko-KR" altLang="ko-KR" sz="1100" b="0" i="0" u="none" strike="noStrike" cap="none" normalizeH="0" baseline="0" dirty="0">
                <a:ln>
                  <a:noFill/>
                </a:ln>
                <a:solidFill>
                  <a:schemeClr val="tx1"/>
                </a:solidFill>
                <a:effectLst/>
                <a:latin typeface="Arial" panose="020B0604020202020204" pitchFamily="34" charset="0"/>
              </a:rPr>
              <a:t> : 이승원, </a:t>
            </a:r>
            <a:r>
              <a:rPr kumimoji="0" lang="ko-KR" altLang="ko-KR" sz="1100" b="0" i="0" u="none" strike="noStrike" cap="none" normalizeH="0" baseline="0" dirty="0" err="1">
                <a:ln>
                  <a:noFill/>
                </a:ln>
                <a:solidFill>
                  <a:schemeClr val="tx1"/>
                </a:solidFill>
                <a:effectLst/>
                <a:latin typeface="Arial" panose="020B0604020202020204" pitchFamily="34" charset="0"/>
              </a:rPr>
              <a:t>김명우</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최가람</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민경준</a:t>
            </a:r>
            <a:endParaRPr kumimoji="0" lang="ko-KR" altLang="ko-KR" sz="11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작성자 : </a:t>
            </a:r>
            <a:r>
              <a:rPr kumimoji="0" lang="ko-KR" altLang="ko-KR" sz="1100" b="0" i="0" u="none" strike="noStrike" cap="none" normalizeH="0" baseline="0" dirty="0" err="1">
                <a:ln>
                  <a:noFill/>
                </a:ln>
                <a:solidFill>
                  <a:schemeClr val="tx1"/>
                </a:solidFill>
                <a:effectLst/>
                <a:latin typeface="Arial" panose="020B0604020202020204" pitchFamily="34" charset="0"/>
              </a:rPr>
              <a:t>김명우</a:t>
            </a:r>
            <a:endParaRPr kumimoji="0" lang="ko-KR" altLang="ko-KR" sz="1100" b="0" i="0" u="none" strike="noStrike" cap="none" normalizeH="0" baseline="0" dirty="0">
              <a:ln>
                <a:noFill/>
              </a:ln>
              <a:solidFill>
                <a:schemeClr val="tx1"/>
              </a:solidFill>
              <a:effectLst/>
              <a:latin typeface="Arial" panose="020B0604020202020204" pitchFamily="34" charset="0"/>
            </a:endParaRPr>
          </a:p>
        </p:txBody>
      </p:sp>
      <p:sp>
        <p:nvSpPr>
          <p:cNvPr id="5" name="실행 단추: 뒤로 또는 이전 4">
            <a:hlinkClick r:id="rId3" action="ppaction://hlinksldjump" highlightClick="1"/>
          </p:cNvPr>
          <p:cNvSpPr/>
          <p:nvPr/>
        </p:nvSpPr>
        <p:spPr>
          <a:xfrm>
            <a:off x="7551683" y="175106"/>
            <a:ext cx="339250" cy="28967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직사각형 1"/>
          <p:cNvSpPr/>
          <p:nvPr/>
        </p:nvSpPr>
        <p:spPr>
          <a:xfrm>
            <a:off x="373616" y="723724"/>
            <a:ext cx="2505814" cy="338554"/>
          </a:xfrm>
          <a:prstGeom prst="rect">
            <a:avLst/>
          </a:prstGeom>
        </p:spPr>
        <p:txBody>
          <a:bodyPr wrap="none">
            <a:spAutoFit/>
          </a:bodyPr>
          <a:lstStyle/>
          <a:p>
            <a:r>
              <a:rPr lang="ko-KR" altLang="en-US" sz="1600" b="1" dirty="0"/>
              <a:t>메모리 </a:t>
            </a:r>
            <a:r>
              <a:rPr lang="ko-KR" altLang="en-US" sz="1600" b="1" dirty="0" err="1"/>
              <a:t>상품기획팀</a:t>
            </a:r>
            <a:r>
              <a:rPr lang="ko-KR" altLang="en-US" sz="1600" b="1" dirty="0"/>
              <a:t> </a:t>
            </a:r>
            <a:r>
              <a:rPr lang="en-US" altLang="ko-KR" sz="1600" b="1" dirty="0"/>
              <a:t>(PIM)</a:t>
            </a:r>
            <a:endParaRPr lang="ko-KR" altLang="en-US" sz="1600" b="1" dirty="0"/>
          </a:p>
        </p:txBody>
      </p:sp>
      <p:graphicFrame>
        <p:nvGraphicFramePr>
          <p:cNvPr id="9" name="표 8"/>
          <p:cNvGraphicFramePr>
            <a:graphicFrameLocks noGrp="1"/>
          </p:cNvGraphicFramePr>
          <p:nvPr>
            <p:extLst>
              <p:ext uri="{D42A27DB-BD31-4B8C-83A1-F6EECF244321}">
                <p14:modId xmlns:p14="http://schemas.microsoft.com/office/powerpoint/2010/main" val="2290332565"/>
              </p:ext>
            </p:extLst>
          </p:nvPr>
        </p:nvGraphicFramePr>
        <p:xfrm>
          <a:off x="6210602" y="1909987"/>
          <a:ext cx="4020653" cy="4744906"/>
        </p:xfrm>
        <a:graphic>
          <a:graphicData uri="http://schemas.openxmlformats.org/drawingml/2006/table">
            <a:tbl>
              <a:tblPr/>
              <a:tblGrid>
                <a:gridCol w="4020653">
                  <a:extLst>
                    <a:ext uri="{9D8B030D-6E8A-4147-A177-3AD203B41FA5}">
                      <a16:colId xmlns:a16="http://schemas.microsoft.com/office/drawing/2014/main" val="454993741"/>
                    </a:ext>
                  </a:extLst>
                </a:gridCol>
              </a:tblGrid>
              <a:tr h="4351338">
                <a:tc>
                  <a:txBody>
                    <a:bodyPr/>
                    <a:lstStyle/>
                    <a:p>
                      <a:pPr algn="l" fontAlgn="auto"/>
                      <a:r>
                        <a:rPr lang="ko-KR" altLang="en-US" sz="700" dirty="0">
                          <a:solidFill>
                            <a:srgbClr val="0055CC"/>
                          </a:solidFill>
                          <a:effectLst/>
                        </a:rPr>
                        <a:t>① 과거 </a:t>
                      </a:r>
                      <a:r>
                        <a:rPr lang="ko-KR" altLang="en-US" sz="700" dirty="0" err="1">
                          <a:solidFill>
                            <a:srgbClr val="0055CC"/>
                          </a:solidFill>
                          <a:effectLst/>
                        </a:rPr>
                        <a:t>고객사</a:t>
                      </a:r>
                      <a:r>
                        <a:rPr lang="ko-KR" altLang="en-US" sz="700" dirty="0">
                          <a:solidFill>
                            <a:srgbClr val="0055CC"/>
                          </a:solidFill>
                          <a:effectLst/>
                        </a:rPr>
                        <a:t> 대응 시 시스템 관련 요청 및 대응 사례 </a:t>
                      </a:r>
                      <a:r>
                        <a:rPr lang="en-US" altLang="ko-KR" sz="700" dirty="0">
                          <a:solidFill>
                            <a:srgbClr val="0055CC"/>
                          </a:solidFill>
                          <a:effectLst/>
                        </a:rPr>
                        <a:t>( needs, </a:t>
                      </a:r>
                      <a:r>
                        <a:rPr lang="ko-KR" altLang="en-US" sz="700" dirty="0">
                          <a:solidFill>
                            <a:srgbClr val="0055CC"/>
                          </a:solidFill>
                          <a:effectLst/>
                        </a:rPr>
                        <a:t>어려웠던 부분 </a:t>
                      </a:r>
                      <a:r>
                        <a:rPr lang="en-US" altLang="ko-KR" sz="700" dirty="0">
                          <a:solidFill>
                            <a:srgbClr val="0055CC"/>
                          </a:solidFill>
                          <a:effectLst/>
                        </a:rPr>
                        <a:t>)</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err="1">
                          <a:solidFill>
                            <a:srgbClr val="172B4D"/>
                          </a:solidFill>
                          <a:effectLst/>
                        </a:rPr>
                        <a:t>고객사</a:t>
                      </a:r>
                      <a:r>
                        <a:rPr lang="ko-KR" altLang="en-US" sz="700" dirty="0">
                          <a:solidFill>
                            <a:srgbClr val="172B4D"/>
                          </a:solidFill>
                          <a:effectLst/>
                        </a:rPr>
                        <a:t> 요청으로 </a:t>
                      </a:r>
                      <a:r>
                        <a:rPr lang="ko-KR" altLang="en-US" sz="700" u="sng" dirty="0">
                          <a:solidFill>
                            <a:srgbClr val="172B4D"/>
                          </a:solidFill>
                          <a:effectLst/>
                        </a:rPr>
                        <a:t>메모리 제품을 자체적으로 시스템 검증하였고</a:t>
                      </a:r>
                      <a:r>
                        <a:rPr lang="en-US" altLang="ko-KR" sz="700" u="sng" dirty="0">
                          <a:solidFill>
                            <a:srgbClr val="172B4D"/>
                          </a:solidFill>
                          <a:effectLst/>
                        </a:rPr>
                        <a:t>, </a:t>
                      </a:r>
                      <a:r>
                        <a:rPr lang="ko-KR" altLang="en-US" sz="700" u="sng" dirty="0" err="1">
                          <a:solidFill>
                            <a:srgbClr val="172B4D"/>
                          </a:solidFill>
                          <a:effectLst/>
                        </a:rPr>
                        <a:t>고객사</a:t>
                      </a:r>
                      <a:r>
                        <a:rPr lang="ko-KR" altLang="en-US" sz="700" u="sng" dirty="0">
                          <a:solidFill>
                            <a:srgbClr val="172B4D"/>
                          </a:solidFill>
                          <a:effectLst/>
                        </a:rPr>
                        <a:t> 결과와 비교 분석</a:t>
                      </a:r>
                      <a:r>
                        <a:rPr lang="ko-KR" altLang="en-US" sz="700" dirty="0">
                          <a:solidFill>
                            <a:srgbClr val="172B4D"/>
                          </a:solidFill>
                          <a:effectLst/>
                        </a:rPr>
                        <a:t>하였음 </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HPE</a:t>
                      </a:r>
                      <a:r>
                        <a:rPr lang="ko-KR" altLang="en-US" sz="700" dirty="0">
                          <a:solidFill>
                            <a:srgbClr val="172B4D"/>
                          </a:solidFill>
                          <a:effectLst/>
                        </a:rPr>
                        <a:t>의 경우</a:t>
                      </a:r>
                      <a:r>
                        <a:rPr lang="en-US" altLang="ko-KR" sz="700" dirty="0">
                          <a:solidFill>
                            <a:srgbClr val="172B4D"/>
                          </a:solidFill>
                          <a:effectLst/>
                        </a:rPr>
                        <a:t>, </a:t>
                      </a:r>
                      <a:r>
                        <a:rPr lang="ko-KR" altLang="en-US" sz="700" dirty="0">
                          <a:solidFill>
                            <a:srgbClr val="172B4D"/>
                          </a:solidFill>
                          <a:effectLst/>
                        </a:rPr>
                        <a:t>당사 제품에 대해서 </a:t>
                      </a:r>
                      <a:r>
                        <a:rPr lang="ko-KR" altLang="en-US" sz="700" dirty="0" err="1">
                          <a:solidFill>
                            <a:srgbClr val="172B4D"/>
                          </a:solidFill>
                          <a:effectLst/>
                        </a:rPr>
                        <a:t>고객사에서</a:t>
                      </a:r>
                      <a:r>
                        <a:rPr lang="ko-KR" altLang="en-US" sz="700" dirty="0">
                          <a:solidFill>
                            <a:srgbClr val="172B4D"/>
                          </a:solidFill>
                          <a:effectLst/>
                        </a:rPr>
                        <a:t> </a:t>
                      </a:r>
                      <a:r>
                        <a:rPr lang="ko-KR" altLang="en-US" sz="700" dirty="0" err="1">
                          <a:solidFill>
                            <a:srgbClr val="172B4D"/>
                          </a:solidFill>
                          <a:effectLst/>
                        </a:rPr>
                        <a:t>테스트했을때</a:t>
                      </a:r>
                      <a:r>
                        <a:rPr lang="en-US" altLang="ko-KR" sz="700" dirty="0">
                          <a:solidFill>
                            <a:srgbClr val="172B4D"/>
                          </a:solidFill>
                          <a:effectLst/>
                        </a:rPr>
                        <a:t>, </a:t>
                      </a:r>
                      <a:r>
                        <a:rPr lang="ko-KR" altLang="en-US" sz="700" dirty="0">
                          <a:solidFill>
                            <a:srgbClr val="172B4D"/>
                          </a:solidFill>
                          <a:effectLst/>
                        </a:rPr>
                        <a:t>당사에서 제시한 성능</a:t>
                      </a:r>
                      <a:r>
                        <a:rPr lang="en-US" altLang="ko-KR" sz="700" dirty="0">
                          <a:solidFill>
                            <a:srgbClr val="172B4D"/>
                          </a:solidFill>
                          <a:effectLst/>
                        </a:rPr>
                        <a:t>(2</a:t>
                      </a:r>
                      <a:r>
                        <a:rPr lang="ko-KR" altLang="en-US" sz="700" dirty="0">
                          <a:solidFill>
                            <a:srgbClr val="172B4D"/>
                          </a:solidFill>
                          <a:effectLst/>
                        </a:rPr>
                        <a:t>배</a:t>
                      </a:r>
                      <a:r>
                        <a:rPr lang="en-US" altLang="ko-KR" sz="700" dirty="0">
                          <a:solidFill>
                            <a:srgbClr val="172B4D"/>
                          </a:solidFill>
                          <a:effectLst/>
                        </a:rPr>
                        <a:t>)</a:t>
                      </a:r>
                      <a:r>
                        <a:rPr lang="ko-KR" altLang="en-US" sz="700" dirty="0">
                          <a:solidFill>
                            <a:srgbClr val="172B4D"/>
                          </a:solidFill>
                          <a:effectLst/>
                        </a:rPr>
                        <a:t>이 </a:t>
                      </a:r>
                      <a:r>
                        <a:rPr lang="ko-KR" altLang="en-US" sz="700" dirty="0" err="1">
                          <a:solidFill>
                            <a:srgbClr val="172B4D"/>
                          </a:solidFill>
                          <a:effectLst/>
                        </a:rPr>
                        <a:t>안나왔었으므로</a:t>
                      </a:r>
                      <a:r>
                        <a:rPr lang="en-US" altLang="ko-KR" sz="700" dirty="0">
                          <a:solidFill>
                            <a:srgbClr val="172B4D"/>
                          </a:solidFill>
                          <a:effectLst/>
                        </a:rPr>
                        <a:t>(1.x</a:t>
                      </a:r>
                      <a:r>
                        <a:rPr lang="ko-KR" altLang="en-US" sz="700" dirty="0">
                          <a:solidFill>
                            <a:srgbClr val="172B4D"/>
                          </a:solidFill>
                          <a:effectLst/>
                        </a:rPr>
                        <a:t>배</a:t>
                      </a:r>
                      <a:r>
                        <a:rPr lang="en-US" altLang="ko-KR" sz="700" dirty="0">
                          <a:solidFill>
                            <a:srgbClr val="172B4D"/>
                          </a:solidFill>
                          <a:effectLst/>
                        </a:rPr>
                        <a:t>) </a:t>
                      </a:r>
                      <a:r>
                        <a:rPr lang="ko-KR" altLang="en-US" sz="700" dirty="0">
                          <a:solidFill>
                            <a:srgbClr val="172B4D"/>
                          </a:solidFill>
                          <a:effectLst/>
                        </a:rPr>
                        <a:t>삼성에서 시스템 차원의</a:t>
                      </a:r>
                      <a:br>
                        <a:rPr lang="ko-KR" altLang="en-US" sz="700" dirty="0">
                          <a:solidFill>
                            <a:srgbClr val="172B4D"/>
                          </a:solidFill>
                          <a:effectLst/>
                        </a:rPr>
                      </a:br>
                      <a:r>
                        <a:rPr lang="ko-KR" altLang="en-US" sz="700" dirty="0">
                          <a:solidFill>
                            <a:srgbClr val="172B4D"/>
                          </a:solidFill>
                          <a:effectLst/>
                        </a:rPr>
                        <a:t>      검증을 해보고</a:t>
                      </a:r>
                      <a:r>
                        <a:rPr lang="en-US" altLang="ko-KR" sz="700" dirty="0">
                          <a:solidFill>
                            <a:srgbClr val="172B4D"/>
                          </a:solidFill>
                          <a:effectLst/>
                        </a:rPr>
                        <a:t>, </a:t>
                      </a:r>
                      <a:r>
                        <a:rPr lang="ko-KR" altLang="en-US" sz="700" dirty="0">
                          <a:solidFill>
                            <a:srgbClr val="172B4D"/>
                          </a:solidFill>
                          <a:effectLst/>
                        </a:rPr>
                        <a:t>차이점을 비교 분석해보자라는 제안을 한적이 있었음 → 이런 역할을 </a:t>
                      </a:r>
                      <a:r>
                        <a:rPr lang="en-US" altLang="ko-KR" sz="700" dirty="0">
                          <a:solidFill>
                            <a:srgbClr val="172B4D"/>
                          </a:solidFill>
                          <a:effectLst/>
                        </a:rPr>
                        <a:t>CATU</a:t>
                      </a:r>
                      <a:r>
                        <a:rPr lang="ko-KR" altLang="en-US" sz="700" dirty="0">
                          <a:solidFill>
                            <a:srgbClr val="172B4D"/>
                          </a:solidFill>
                          <a:effectLst/>
                        </a:rPr>
                        <a:t>에서 수행해줬고</a:t>
                      </a:r>
                      <a:r>
                        <a:rPr lang="en-US" altLang="ko-KR" sz="700" dirty="0">
                          <a:solidFill>
                            <a:srgbClr val="172B4D"/>
                          </a:solidFill>
                          <a:effectLst/>
                        </a:rPr>
                        <a:t>, </a:t>
                      </a:r>
                      <a:r>
                        <a:rPr lang="ko-KR" altLang="en-US" sz="700" dirty="0">
                          <a:solidFill>
                            <a:srgbClr val="172B4D"/>
                          </a:solidFill>
                          <a:effectLst/>
                        </a:rPr>
                        <a:t>일부 기능을 </a:t>
                      </a:r>
                      <a:r>
                        <a:rPr lang="en-US" altLang="ko-KR" sz="700" dirty="0">
                          <a:solidFill>
                            <a:srgbClr val="172B4D"/>
                          </a:solidFill>
                          <a:effectLst/>
                        </a:rPr>
                        <a:t>CSTU</a:t>
                      </a:r>
                      <a:r>
                        <a:rPr lang="ko-KR" altLang="en-US" sz="700" dirty="0">
                          <a:solidFill>
                            <a:srgbClr val="172B4D"/>
                          </a:solidFill>
                          <a:effectLst/>
                        </a:rPr>
                        <a:t>에서 </a:t>
                      </a:r>
                      <a:r>
                        <a:rPr lang="ko-KR" altLang="en-US" sz="700" dirty="0" err="1">
                          <a:solidFill>
                            <a:srgbClr val="172B4D"/>
                          </a:solidFill>
                          <a:effectLst/>
                        </a:rPr>
                        <a:t>이관받을</a:t>
                      </a:r>
                      <a:r>
                        <a:rPr lang="ko-KR" altLang="en-US" sz="700" dirty="0">
                          <a:solidFill>
                            <a:srgbClr val="172B4D"/>
                          </a:solidFill>
                          <a:effectLst/>
                        </a:rPr>
                        <a:t> 계획</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en-US" altLang="ko-KR" sz="700" u="sng" dirty="0">
                          <a:solidFill>
                            <a:srgbClr val="172B4D"/>
                          </a:solidFill>
                          <a:effectLst/>
                        </a:rPr>
                        <a:t>HBM-PIM</a:t>
                      </a:r>
                      <a:r>
                        <a:rPr lang="ko-KR" altLang="en-US" sz="700" u="sng" dirty="0">
                          <a:solidFill>
                            <a:srgbClr val="172B4D"/>
                          </a:solidFill>
                          <a:effectLst/>
                        </a:rPr>
                        <a:t>의 경우</a:t>
                      </a:r>
                      <a:r>
                        <a:rPr lang="en-US" altLang="ko-KR" sz="700" u="sng" dirty="0">
                          <a:solidFill>
                            <a:srgbClr val="172B4D"/>
                          </a:solidFill>
                          <a:effectLst/>
                        </a:rPr>
                        <a:t>, Rack 3</a:t>
                      </a:r>
                      <a:r>
                        <a:rPr lang="ko-KR" altLang="en-US" sz="700" u="sng" dirty="0">
                          <a:solidFill>
                            <a:srgbClr val="172B4D"/>
                          </a:solidFill>
                          <a:effectLst/>
                        </a:rPr>
                        <a:t>개를 꾸며서 검증 후 </a:t>
                      </a:r>
                      <a:r>
                        <a:rPr lang="ko-KR" altLang="en-US" sz="700" u="sng" dirty="0" err="1">
                          <a:solidFill>
                            <a:srgbClr val="172B4D"/>
                          </a:solidFill>
                          <a:effectLst/>
                        </a:rPr>
                        <a:t>고객사에</a:t>
                      </a:r>
                      <a:r>
                        <a:rPr lang="ko-KR" altLang="en-US" sz="700" u="sng" dirty="0">
                          <a:solidFill>
                            <a:srgbClr val="172B4D"/>
                          </a:solidFill>
                          <a:effectLst/>
                        </a:rPr>
                        <a:t> </a:t>
                      </a:r>
                      <a:r>
                        <a:rPr lang="ko-KR" altLang="en-US" sz="700" u="sng" dirty="0" err="1">
                          <a:solidFill>
                            <a:srgbClr val="172B4D"/>
                          </a:solidFill>
                          <a:effectLst/>
                        </a:rPr>
                        <a:t>데모</a:t>
                      </a:r>
                      <a:r>
                        <a:rPr lang="ko-KR" altLang="en-US" sz="700" dirty="0" err="1">
                          <a:solidFill>
                            <a:srgbClr val="172B4D"/>
                          </a:solidFill>
                          <a:effectLst/>
                        </a:rPr>
                        <a:t>했을때</a:t>
                      </a:r>
                      <a:r>
                        <a:rPr lang="en-US" altLang="ko-KR" sz="700" dirty="0">
                          <a:solidFill>
                            <a:srgbClr val="172B4D"/>
                          </a:solidFill>
                          <a:effectLst/>
                        </a:rPr>
                        <a:t>, </a:t>
                      </a:r>
                      <a:r>
                        <a:rPr lang="ko-KR" altLang="en-US" sz="700" dirty="0">
                          <a:solidFill>
                            <a:srgbClr val="172B4D"/>
                          </a:solidFill>
                          <a:effectLst/>
                        </a:rPr>
                        <a:t>고객사로부터 호응이 좋았음</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초기 </a:t>
                      </a:r>
                      <a:r>
                        <a:rPr lang="en-US" altLang="ko-KR" sz="700" dirty="0">
                          <a:solidFill>
                            <a:srgbClr val="172B4D"/>
                          </a:solidFill>
                          <a:effectLst/>
                        </a:rPr>
                        <a:t>AMD</a:t>
                      </a:r>
                      <a:r>
                        <a:rPr lang="ko-KR" altLang="en-US" sz="700" dirty="0">
                          <a:solidFill>
                            <a:srgbClr val="172B4D"/>
                          </a:solidFill>
                          <a:effectLst/>
                        </a:rPr>
                        <a:t>와 </a:t>
                      </a:r>
                      <a:r>
                        <a:rPr lang="ko-KR" altLang="en-US" sz="700" dirty="0" err="1">
                          <a:solidFill>
                            <a:srgbClr val="172B4D"/>
                          </a:solidFill>
                          <a:effectLst/>
                        </a:rPr>
                        <a:t>협업시</a:t>
                      </a:r>
                      <a:r>
                        <a:rPr lang="en-US" altLang="ko-KR" sz="700" dirty="0">
                          <a:solidFill>
                            <a:srgbClr val="172B4D"/>
                          </a:solidFill>
                          <a:effectLst/>
                        </a:rPr>
                        <a:t>, AMD </a:t>
                      </a:r>
                      <a:r>
                        <a:rPr lang="ko-KR" altLang="en-US" sz="700" dirty="0">
                          <a:solidFill>
                            <a:srgbClr val="172B4D"/>
                          </a:solidFill>
                          <a:effectLst/>
                        </a:rPr>
                        <a:t>보드로만 의존해 성능 평가했던 결과만 있었는데</a:t>
                      </a:r>
                      <a:r>
                        <a:rPr lang="en-US" altLang="ko-KR" sz="700" dirty="0">
                          <a:solidFill>
                            <a:srgbClr val="172B4D"/>
                          </a:solidFill>
                          <a:effectLst/>
                        </a:rPr>
                        <a:t>, SAIT</a:t>
                      </a:r>
                      <a:r>
                        <a:rPr lang="ko-KR" altLang="en-US" sz="700" dirty="0">
                          <a:solidFill>
                            <a:srgbClr val="172B4D"/>
                          </a:solidFill>
                          <a:effectLst/>
                        </a:rPr>
                        <a:t>과 협업을 통해 실제 </a:t>
                      </a:r>
                      <a:r>
                        <a:rPr lang="en-US" altLang="ko-KR" sz="700" dirty="0">
                          <a:solidFill>
                            <a:srgbClr val="172B4D"/>
                          </a:solidFill>
                          <a:effectLst/>
                        </a:rPr>
                        <a:t>Rack </a:t>
                      </a:r>
                      <a:r>
                        <a:rPr lang="ko-KR" altLang="en-US" sz="700" dirty="0">
                          <a:solidFill>
                            <a:srgbClr val="172B4D"/>
                          </a:solidFill>
                          <a:effectLst/>
                        </a:rPr>
                        <a:t>스케일로 큰 모델을 돌리는 것이 의미가 있었음</a:t>
                      </a:r>
                      <a:endParaRPr lang="ko-KR" altLang="en-US" sz="700" dirty="0">
                        <a:effectLst/>
                      </a:endParaRPr>
                    </a:p>
                    <a:p>
                      <a:pPr algn="l" fontAlgn="auto"/>
                      <a:r>
                        <a:rPr lang="ko-KR" altLang="en-US" sz="700" dirty="0">
                          <a:effectLst/>
                        </a:rPr>
                        <a:t/>
                      </a:r>
                      <a:br>
                        <a:rPr lang="ko-KR" altLang="en-US" sz="700" dirty="0">
                          <a:effectLst/>
                        </a:rPr>
                      </a:br>
                      <a:endParaRPr lang="ko-KR" altLang="en-US" sz="700" dirty="0">
                        <a:effectLst/>
                      </a:endParaRPr>
                    </a:p>
                    <a:p>
                      <a:pPr algn="l" fontAlgn="auto"/>
                      <a:r>
                        <a:rPr lang="ko-KR" altLang="en-US" sz="700" dirty="0">
                          <a:solidFill>
                            <a:srgbClr val="0C66E4"/>
                          </a:solidFill>
                          <a:effectLst/>
                        </a:rPr>
                        <a:t>② 시스템 연구 필요 여부 </a:t>
                      </a:r>
                      <a:endParaRPr lang="ko-KR" altLang="en-US" sz="700" dirty="0">
                        <a:effectLst/>
                      </a:endParaRPr>
                    </a:p>
                    <a:p>
                      <a:pPr algn="l" fontAlgn="auto"/>
                      <a:r>
                        <a:rPr lang="ko-KR" altLang="en-US" sz="700" dirty="0">
                          <a:solidFill>
                            <a:srgbClr val="0C66E4"/>
                          </a:solidFill>
                          <a:effectLst/>
                        </a:rPr>
                        <a:t>  </a:t>
                      </a:r>
                      <a:r>
                        <a:rPr lang="en-US" altLang="ko-KR" sz="700" dirty="0">
                          <a:solidFill>
                            <a:srgbClr val="172B4D"/>
                          </a:solidFill>
                          <a:effectLst/>
                        </a:rPr>
                        <a:t>- </a:t>
                      </a:r>
                      <a:r>
                        <a:rPr lang="ko-KR" altLang="en-US" sz="700" dirty="0">
                          <a:solidFill>
                            <a:srgbClr val="172B4D"/>
                          </a:solidFill>
                          <a:effectLst/>
                        </a:rPr>
                        <a:t>개발된 당사 제품을 </a:t>
                      </a:r>
                      <a:r>
                        <a:rPr lang="ko-KR" altLang="en-US" sz="700" dirty="0" err="1">
                          <a:solidFill>
                            <a:srgbClr val="172B4D"/>
                          </a:solidFill>
                          <a:effectLst/>
                        </a:rPr>
                        <a:t>고객사에</a:t>
                      </a:r>
                      <a:r>
                        <a:rPr lang="ko-KR" altLang="en-US" sz="700" dirty="0">
                          <a:solidFill>
                            <a:srgbClr val="172B4D"/>
                          </a:solidFill>
                          <a:effectLst/>
                        </a:rPr>
                        <a:t> 성능 검증을 받은 부분도 있지만</a:t>
                      </a:r>
                      <a:r>
                        <a:rPr lang="en-US" altLang="ko-KR" sz="700" dirty="0">
                          <a:solidFill>
                            <a:srgbClr val="172B4D"/>
                          </a:solidFill>
                          <a:effectLst/>
                        </a:rPr>
                        <a:t>, </a:t>
                      </a:r>
                      <a:r>
                        <a:rPr lang="ko-KR" altLang="en-US" sz="700" dirty="0">
                          <a:solidFill>
                            <a:srgbClr val="172B4D"/>
                          </a:solidFill>
                          <a:effectLst/>
                        </a:rPr>
                        <a:t>이 결과를 다른 고객들에게 </a:t>
                      </a:r>
                      <a:r>
                        <a:rPr lang="en-US" altLang="ko-KR" sz="700" dirty="0">
                          <a:solidFill>
                            <a:srgbClr val="172B4D"/>
                          </a:solidFill>
                          <a:effectLst/>
                        </a:rPr>
                        <a:t>promotion</a:t>
                      </a:r>
                      <a:r>
                        <a:rPr lang="ko-KR" altLang="en-US" sz="700" dirty="0">
                          <a:solidFill>
                            <a:srgbClr val="172B4D"/>
                          </a:solidFill>
                          <a:effectLst/>
                        </a:rPr>
                        <a:t>할 수는 없음</a:t>
                      </a:r>
                      <a:r>
                        <a:rPr lang="en-US" altLang="ko-KR" sz="700" dirty="0">
                          <a:solidFill>
                            <a:srgbClr val="172B4D"/>
                          </a:solidFill>
                          <a:effectLst/>
                        </a:rPr>
                        <a:t>. </a:t>
                      </a:r>
                      <a:r>
                        <a:rPr lang="ko-KR" altLang="en-US" sz="700" dirty="0">
                          <a:solidFill>
                            <a:srgbClr val="172B4D"/>
                          </a:solidFill>
                          <a:effectLst/>
                        </a:rPr>
                        <a:t>그래서 </a:t>
                      </a:r>
                      <a:r>
                        <a:rPr lang="ko-KR" altLang="en-US" sz="700" u="sng" dirty="0">
                          <a:solidFill>
                            <a:srgbClr val="172B4D"/>
                          </a:solidFill>
                          <a:effectLst/>
                        </a:rPr>
                        <a:t>당사 제품을 </a:t>
                      </a:r>
                      <a:r>
                        <a:rPr lang="ko-KR" altLang="en-US" sz="700" dirty="0">
                          <a:solidFill>
                            <a:srgbClr val="0C66E4"/>
                          </a:solidFill>
                          <a:effectLst/>
                        </a:rPr>
                        <a:t/>
                      </a:r>
                      <a:br>
                        <a:rPr lang="ko-KR" altLang="en-US" sz="700" dirty="0">
                          <a:solidFill>
                            <a:srgbClr val="0C66E4"/>
                          </a:solidFill>
                          <a:effectLst/>
                        </a:rPr>
                      </a:br>
                      <a:r>
                        <a:rPr lang="ko-KR" altLang="en-US" sz="700" dirty="0">
                          <a:solidFill>
                            <a:srgbClr val="172B4D"/>
                          </a:solidFill>
                          <a:effectLst/>
                        </a:rPr>
                        <a:t>    </a:t>
                      </a:r>
                      <a:r>
                        <a:rPr lang="ko-KR" altLang="en-US" sz="700" u="sng" dirty="0">
                          <a:solidFill>
                            <a:srgbClr val="172B4D"/>
                          </a:solidFill>
                          <a:effectLst/>
                        </a:rPr>
                        <a:t>타 </a:t>
                      </a:r>
                      <a:r>
                        <a:rPr lang="ko-KR" altLang="en-US" sz="700" u="sng" dirty="0" err="1">
                          <a:solidFill>
                            <a:srgbClr val="172B4D"/>
                          </a:solidFill>
                          <a:effectLst/>
                        </a:rPr>
                        <a:t>고객사에게</a:t>
                      </a:r>
                      <a:r>
                        <a:rPr lang="ko-KR" altLang="en-US" sz="700" u="sng" dirty="0">
                          <a:solidFill>
                            <a:srgbClr val="172B4D"/>
                          </a:solidFill>
                          <a:effectLst/>
                        </a:rPr>
                        <a:t> 전파 하기 위해서는 우리만의 가속시스템으로 검증할 수 있는 시스템이 있어야 함</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시스템 연구를 통해 컴파일러</a:t>
                      </a:r>
                      <a:r>
                        <a:rPr lang="en-US" altLang="ko-KR" sz="700" dirty="0">
                          <a:solidFill>
                            <a:srgbClr val="172B4D"/>
                          </a:solidFill>
                          <a:effectLst/>
                        </a:rPr>
                        <a:t>, </a:t>
                      </a:r>
                      <a:r>
                        <a:rPr lang="ko-KR" altLang="en-US" sz="700" dirty="0">
                          <a:solidFill>
                            <a:srgbClr val="172B4D"/>
                          </a:solidFill>
                          <a:effectLst/>
                        </a:rPr>
                        <a:t>시뮬레이터 외에도 </a:t>
                      </a:r>
                      <a:r>
                        <a:rPr lang="en-US" altLang="ko-KR" sz="700" dirty="0">
                          <a:solidFill>
                            <a:srgbClr val="172B4D"/>
                          </a:solidFill>
                          <a:effectLst/>
                        </a:rPr>
                        <a:t>Application </a:t>
                      </a:r>
                      <a:r>
                        <a:rPr lang="ko-KR" altLang="en-US" sz="700" dirty="0">
                          <a:solidFill>
                            <a:srgbClr val="172B4D"/>
                          </a:solidFill>
                          <a:effectLst/>
                        </a:rPr>
                        <a:t>분석을 할 수 있으면 좋겠음</a:t>
                      </a:r>
                      <a:r>
                        <a:rPr lang="en-US" altLang="ko-KR" sz="700" dirty="0">
                          <a:solidFill>
                            <a:srgbClr val="172B4D"/>
                          </a:solidFill>
                          <a:effectLst/>
                        </a:rPr>
                        <a:t>. (</a:t>
                      </a:r>
                      <a:r>
                        <a:rPr lang="ko-KR" altLang="en-US" sz="700" dirty="0">
                          <a:solidFill>
                            <a:srgbClr val="172B4D"/>
                          </a:solidFill>
                          <a:effectLst/>
                        </a:rPr>
                        <a:t>런타임에서도 응용에 맞춰 분석이 가능함</a:t>
                      </a:r>
                      <a:r>
                        <a:rPr lang="en-US" altLang="ko-KR" sz="700" dirty="0">
                          <a:solidFill>
                            <a:srgbClr val="172B4D"/>
                          </a:solidFill>
                          <a:effectLst/>
                        </a:rPr>
                        <a:t>)</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시스템을 구성하고 </a:t>
                      </a:r>
                      <a:r>
                        <a:rPr lang="en-US" altLang="ko-KR" sz="700" dirty="0" err="1">
                          <a:solidFill>
                            <a:srgbClr val="172B4D"/>
                          </a:solidFill>
                          <a:effectLst/>
                        </a:rPr>
                        <a:t>PoC</a:t>
                      </a:r>
                      <a:r>
                        <a:rPr lang="ko-KR" altLang="en-US" sz="700" dirty="0">
                          <a:solidFill>
                            <a:srgbClr val="172B4D"/>
                          </a:solidFill>
                          <a:effectLst/>
                        </a:rPr>
                        <a:t>를 보기 위해 </a:t>
                      </a:r>
                      <a:r>
                        <a:rPr lang="en-US" altLang="ko-KR" sz="700" dirty="0">
                          <a:solidFill>
                            <a:srgbClr val="172B4D"/>
                          </a:solidFill>
                          <a:effectLst/>
                        </a:rPr>
                        <a:t>MPW</a:t>
                      </a:r>
                      <a:r>
                        <a:rPr lang="ko-KR" altLang="en-US" sz="700" dirty="0">
                          <a:solidFill>
                            <a:srgbClr val="172B4D"/>
                          </a:solidFill>
                          <a:effectLst/>
                        </a:rPr>
                        <a:t>를 준비하는 등의 시스템 차원 부품 검증 과정이 필요함 </a:t>
                      </a:r>
                      <a:r>
                        <a:rPr lang="en-US" altLang="ko-KR" sz="700" dirty="0">
                          <a:solidFill>
                            <a:srgbClr val="172B4D"/>
                          </a:solidFill>
                          <a:effectLst/>
                        </a:rPr>
                        <a:t>(</a:t>
                      </a:r>
                      <a:r>
                        <a:rPr lang="ko-KR" altLang="en-US" sz="700" dirty="0">
                          <a:solidFill>
                            <a:srgbClr val="172B4D"/>
                          </a:solidFill>
                          <a:effectLst/>
                        </a:rPr>
                        <a:t>당초 </a:t>
                      </a:r>
                      <a:r>
                        <a:rPr lang="en-US" altLang="ko-KR" sz="700" dirty="0">
                          <a:solidFill>
                            <a:srgbClr val="172B4D"/>
                          </a:solidFill>
                          <a:effectLst/>
                        </a:rPr>
                        <a:t>CATU</a:t>
                      </a:r>
                      <a:r>
                        <a:rPr lang="ko-KR" altLang="en-US" sz="700" dirty="0">
                          <a:solidFill>
                            <a:srgbClr val="172B4D"/>
                          </a:solidFill>
                          <a:effectLst/>
                        </a:rPr>
                        <a:t>에 기대하는 부분</a:t>
                      </a:r>
                      <a:r>
                        <a:rPr lang="en-US" altLang="ko-KR" sz="700" dirty="0">
                          <a:solidFill>
                            <a:srgbClr val="172B4D"/>
                          </a:solidFill>
                          <a:effectLst/>
                        </a:rPr>
                        <a:t>)</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FPGA board</a:t>
                      </a:r>
                      <a:r>
                        <a:rPr lang="ko-KR" altLang="en-US" sz="700" dirty="0">
                          <a:solidFill>
                            <a:srgbClr val="172B4D"/>
                          </a:solidFill>
                          <a:effectLst/>
                        </a:rPr>
                        <a:t>로 검증은 부족하고</a:t>
                      </a:r>
                      <a:r>
                        <a:rPr lang="en-US" altLang="ko-KR" sz="700" dirty="0">
                          <a:solidFill>
                            <a:srgbClr val="172B4D"/>
                          </a:solidFill>
                          <a:effectLst/>
                        </a:rPr>
                        <a:t>, ASIC </a:t>
                      </a:r>
                      <a:r>
                        <a:rPr lang="ko-KR" altLang="en-US" sz="700" dirty="0">
                          <a:solidFill>
                            <a:srgbClr val="172B4D"/>
                          </a:solidFill>
                          <a:effectLst/>
                        </a:rPr>
                        <a:t>수준으로 하면 좋은데</a:t>
                      </a:r>
                      <a:r>
                        <a:rPr lang="en-US" altLang="ko-KR" sz="700" dirty="0">
                          <a:solidFill>
                            <a:srgbClr val="172B4D"/>
                          </a:solidFill>
                          <a:effectLst/>
                        </a:rPr>
                        <a:t>, </a:t>
                      </a:r>
                      <a:r>
                        <a:rPr lang="ko-KR" altLang="en-US" sz="700" dirty="0">
                          <a:solidFill>
                            <a:srgbClr val="172B4D"/>
                          </a:solidFill>
                          <a:effectLst/>
                        </a:rPr>
                        <a:t>해 줄 마땅한 곳이 없음</a:t>
                      </a:r>
                      <a:endParaRPr lang="ko-KR" altLang="en-US" sz="700" dirty="0">
                        <a:effectLst/>
                      </a:endParaRPr>
                    </a:p>
                    <a:p>
                      <a:pPr algn="l" fontAlgn="auto"/>
                      <a:r>
                        <a:rPr lang="ko-KR" altLang="en-US" sz="700" dirty="0">
                          <a:effectLst/>
                        </a:rPr>
                        <a:t/>
                      </a:r>
                      <a:br>
                        <a:rPr lang="ko-KR" altLang="en-US" sz="700" dirty="0">
                          <a:effectLst/>
                        </a:rPr>
                      </a:br>
                      <a:endParaRPr lang="ko-KR" altLang="en-US" sz="700" dirty="0">
                        <a:effectLst/>
                      </a:endParaRPr>
                    </a:p>
                    <a:p>
                      <a:pPr algn="l" fontAlgn="auto"/>
                      <a:r>
                        <a:rPr lang="ko-KR" altLang="en-US" sz="700" dirty="0">
                          <a:solidFill>
                            <a:srgbClr val="0055CC"/>
                          </a:solidFill>
                          <a:effectLst/>
                        </a:rPr>
                        <a:t>③ 조직 </a:t>
                      </a:r>
                      <a:r>
                        <a:rPr lang="en-US" altLang="ko-KR" sz="700" dirty="0">
                          <a:solidFill>
                            <a:srgbClr val="0055CC"/>
                          </a:solidFill>
                          <a:effectLst/>
                        </a:rPr>
                        <a:t>: </a:t>
                      </a:r>
                      <a:r>
                        <a:rPr lang="ko-KR" altLang="en-US" sz="700" dirty="0">
                          <a:solidFill>
                            <a:srgbClr val="0055CC"/>
                          </a:solidFill>
                          <a:effectLst/>
                        </a:rPr>
                        <a:t>시스템 연구 등의 역할이 사업부에서 하는 게 좋을까</a:t>
                      </a:r>
                      <a:r>
                        <a:rPr lang="en-US" altLang="ko-KR" sz="700" dirty="0">
                          <a:solidFill>
                            <a:srgbClr val="0055CC"/>
                          </a:solidFill>
                          <a:effectLst/>
                        </a:rPr>
                        <a:t>? </a:t>
                      </a:r>
                      <a:r>
                        <a:rPr lang="ko-KR" altLang="en-US" sz="700" dirty="0">
                          <a:solidFill>
                            <a:srgbClr val="0055CC"/>
                          </a:solidFill>
                          <a:effectLst/>
                        </a:rPr>
                        <a:t>아니면 연구소에서 하는 게 좋을까</a:t>
                      </a:r>
                      <a:r>
                        <a:rPr lang="en-US" altLang="ko-KR" sz="700" dirty="0">
                          <a:solidFill>
                            <a:srgbClr val="0055CC"/>
                          </a:solidFill>
                          <a:effectLst/>
                        </a:rPr>
                        <a:t>? </a:t>
                      </a:r>
                      <a:endParaRPr lang="ko-KR" altLang="en-US" sz="700" dirty="0">
                        <a:effectLst/>
                      </a:endParaRPr>
                    </a:p>
                    <a:p>
                      <a:pPr algn="l" fontAlgn="auto"/>
                      <a:r>
                        <a:rPr lang="ko-KR" altLang="en-US" sz="700" dirty="0">
                          <a:solidFill>
                            <a:srgbClr val="0055CC"/>
                          </a:solidFill>
                          <a:effectLst/>
                        </a:rPr>
                        <a:t> </a:t>
                      </a:r>
                      <a:r>
                        <a:rPr lang="ko-KR" altLang="en-US" sz="700" dirty="0">
                          <a:solidFill>
                            <a:srgbClr val="0C66E4"/>
                          </a:solidFill>
                          <a:effectLst/>
                        </a:rPr>
                        <a:t> </a:t>
                      </a:r>
                      <a:r>
                        <a:rPr lang="en-US" altLang="ko-KR" sz="700" dirty="0">
                          <a:solidFill>
                            <a:srgbClr val="172B4D"/>
                          </a:solidFill>
                          <a:effectLst/>
                        </a:rPr>
                        <a:t>- </a:t>
                      </a:r>
                      <a:r>
                        <a:rPr lang="ko-KR" altLang="en-US" sz="700" u="sng" dirty="0" err="1">
                          <a:solidFill>
                            <a:srgbClr val="172B4D"/>
                          </a:solidFill>
                          <a:effectLst/>
                        </a:rPr>
                        <a:t>근미래향</a:t>
                      </a:r>
                      <a:r>
                        <a:rPr lang="en-US" altLang="ko-KR" sz="700" u="sng" dirty="0">
                          <a:solidFill>
                            <a:srgbClr val="172B4D"/>
                          </a:solidFill>
                          <a:effectLst/>
                        </a:rPr>
                        <a:t>(~N+3) </a:t>
                      </a:r>
                      <a:r>
                        <a:rPr lang="ko-KR" altLang="en-US" sz="700" u="sng" dirty="0">
                          <a:solidFill>
                            <a:srgbClr val="172B4D"/>
                          </a:solidFill>
                          <a:effectLst/>
                        </a:rPr>
                        <a:t>제품 연구는 메모리 사업부에서 시스템 검증 역할을 하고</a:t>
                      </a:r>
                      <a:r>
                        <a:rPr lang="en-US" altLang="ko-KR" sz="700" u="sng" dirty="0">
                          <a:solidFill>
                            <a:srgbClr val="172B4D"/>
                          </a:solidFill>
                          <a:effectLst/>
                        </a:rPr>
                        <a:t>, </a:t>
                      </a:r>
                      <a:r>
                        <a:rPr lang="ko-KR" altLang="en-US" sz="700" u="sng" dirty="0">
                          <a:solidFill>
                            <a:srgbClr val="172B4D"/>
                          </a:solidFill>
                          <a:effectLst/>
                        </a:rPr>
                        <a:t>사업부에서 아직 모르는 기술은 </a:t>
                      </a:r>
                      <a:r>
                        <a:rPr lang="en-US" altLang="ko-KR" sz="700" u="sng" dirty="0">
                          <a:solidFill>
                            <a:srgbClr val="172B4D"/>
                          </a:solidFill>
                          <a:effectLst/>
                        </a:rPr>
                        <a:t>SAIT</a:t>
                      </a:r>
                      <a:r>
                        <a:rPr lang="ko-KR" altLang="en-US" sz="700" u="sng" dirty="0">
                          <a:solidFill>
                            <a:srgbClr val="172B4D"/>
                          </a:solidFill>
                          <a:effectLst/>
                        </a:rPr>
                        <a:t>에서 시스템 연구를 하면 좋겠음</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시스템 </a:t>
                      </a:r>
                      <a:r>
                        <a:rPr lang="en-US" altLang="ko-KR" sz="700" dirty="0">
                          <a:solidFill>
                            <a:srgbClr val="172B4D"/>
                          </a:solidFill>
                          <a:effectLst/>
                        </a:rPr>
                        <a:t>SW </a:t>
                      </a:r>
                      <a:r>
                        <a:rPr lang="ko-KR" altLang="en-US" sz="700" dirty="0">
                          <a:solidFill>
                            <a:srgbClr val="172B4D"/>
                          </a:solidFill>
                          <a:effectLst/>
                        </a:rPr>
                        <a:t>부분은 사업부에서 </a:t>
                      </a:r>
                      <a:r>
                        <a:rPr lang="ko-KR" altLang="en-US" sz="700" dirty="0" err="1">
                          <a:solidFill>
                            <a:srgbClr val="172B4D"/>
                          </a:solidFill>
                          <a:effectLst/>
                        </a:rPr>
                        <a:t>빌드업하는데</a:t>
                      </a:r>
                      <a:r>
                        <a:rPr lang="ko-KR" altLang="en-US" sz="700" dirty="0">
                          <a:solidFill>
                            <a:srgbClr val="172B4D"/>
                          </a:solidFill>
                          <a:effectLst/>
                        </a:rPr>
                        <a:t> 시간이 걸리므로 </a:t>
                      </a:r>
                      <a:r>
                        <a:rPr lang="en-US" altLang="ko-KR" sz="700" dirty="0">
                          <a:solidFill>
                            <a:srgbClr val="172B4D"/>
                          </a:solidFill>
                          <a:effectLst/>
                        </a:rPr>
                        <a:t>SAIT</a:t>
                      </a:r>
                      <a:r>
                        <a:rPr lang="ko-KR" altLang="en-US" sz="700" dirty="0">
                          <a:solidFill>
                            <a:srgbClr val="172B4D"/>
                          </a:solidFill>
                          <a:effectLst/>
                        </a:rPr>
                        <a:t>에서 해주면 도움이 됨</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H</a:t>
                      </a:r>
                      <a:r>
                        <a:rPr lang="ko-KR" altLang="en-US" sz="700" dirty="0">
                          <a:solidFill>
                            <a:srgbClr val="172B4D"/>
                          </a:solidFill>
                          <a:effectLst/>
                        </a:rPr>
                        <a:t>사의 경우</a:t>
                      </a:r>
                      <a:r>
                        <a:rPr lang="en-US" altLang="ko-KR" sz="700" dirty="0">
                          <a:solidFill>
                            <a:srgbClr val="172B4D"/>
                          </a:solidFill>
                          <a:effectLst/>
                        </a:rPr>
                        <a:t>, </a:t>
                      </a:r>
                      <a:r>
                        <a:rPr lang="ko-KR" altLang="en-US" sz="700" dirty="0">
                          <a:solidFill>
                            <a:srgbClr val="172B4D"/>
                          </a:solidFill>
                          <a:effectLst/>
                        </a:rPr>
                        <a:t>시스템 </a:t>
                      </a:r>
                      <a:r>
                        <a:rPr lang="en-US" altLang="ko-KR" sz="700" dirty="0">
                          <a:solidFill>
                            <a:srgbClr val="172B4D"/>
                          </a:solidFill>
                          <a:effectLst/>
                        </a:rPr>
                        <a:t>SW </a:t>
                      </a:r>
                      <a:r>
                        <a:rPr lang="ko-KR" altLang="en-US" sz="700" dirty="0">
                          <a:solidFill>
                            <a:srgbClr val="172B4D"/>
                          </a:solidFill>
                          <a:effectLst/>
                        </a:rPr>
                        <a:t>부분을 솔루션 개발실이라는 조직에서 주로 하는데</a:t>
                      </a:r>
                      <a:r>
                        <a:rPr lang="en-US" altLang="ko-KR" sz="700" dirty="0">
                          <a:solidFill>
                            <a:srgbClr val="172B4D"/>
                          </a:solidFill>
                          <a:effectLst/>
                        </a:rPr>
                        <a:t>, </a:t>
                      </a:r>
                      <a:r>
                        <a:rPr lang="ko-KR" altLang="en-US" sz="700" dirty="0">
                          <a:solidFill>
                            <a:srgbClr val="172B4D"/>
                          </a:solidFill>
                          <a:effectLst/>
                        </a:rPr>
                        <a:t>당사의 경우</a:t>
                      </a:r>
                      <a:r>
                        <a:rPr lang="en-US" altLang="ko-KR" sz="700" dirty="0">
                          <a:solidFill>
                            <a:srgbClr val="172B4D"/>
                          </a:solidFill>
                          <a:effectLst/>
                        </a:rPr>
                        <a:t>, SAIT</a:t>
                      </a:r>
                      <a:r>
                        <a:rPr lang="ko-KR" altLang="en-US" sz="700" dirty="0">
                          <a:solidFill>
                            <a:srgbClr val="172B4D"/>
                          </a:solidFill>
                          <a:effectLst/>
                        </a:rPr>
                        <a:t>에서 그동안 잘 해왔음</a:t>
                      </a:r>
                      <a:endParaRPr lang="ko-KR" altLang="en-US" sz="700" dirty="0">
                        <a:effectLst/>
                      </a:endParaRPr>
                    </a:p>
                    <a:p>
                      <a:pPr algn="l" fontAlgn="auto"/>
                      <a:r>
                        <a:rPr lang="ko-KR" altLang="en-US" sz="700" dirty="0">
                          <a:effectLst/>
                        </a:rPr>
                        <a:t/>
                      </a:r>
                      <a:br>
                        <a:rPr lang="ko-KR" altLang="en-US" sz="700" dirty="0">
                          <a:effectLst/>
                        </a:rPr>
                      </a:br>
                      <a:endParaRPr lang="ko-KR" altLang="en-US" sz="700" dirty="0">
                        <a:effectLst/>
                      </a:endParaRPr>
                    </a:p>
                    <a:p>
                      <a:pPr algn="l" fontAlgn="auto"/>
                      <a:r>
                        <a:rPr lang="ko-KR" altLang="en-US" sz="700" dirty="0">
                          <a:effectLst/>
                        </a:rPr>
                        <a:t>기타 </a:t>
                      </a:r>
                    </a:p>
                    <a:p>
                      <a:pPr algn="l" fontAlgn="auto"/>
                      <a:r>
                        <a:rPr lang="ko-KR" altLang="en-US" sz="700" dirty="0">
                          <a:effectLst/>
                        </a:rPr>
                        <a:t>  </a:t>
                      </a:r>
                      <a:r>
                        <a:rPr lang="en-US" altLang="ko-KR" sz="700" dirty="0">
                          <a:effectLst/>
                        </a:rPr>
                        <a:t>- PIM</a:t>
                      </a:r>
                      <a:r>
                        <a:rPr lang="ko-KR" altLang="en-US" sz="700" dirty="0">
                          <a:effectLst/>
                        </a:rPr>
                        <a:t>의 경우</a:t>
                      </a:r>
                      <a:r>
                        <a:rPr lang="en-US" altLang="ko-KR" sz="700" dirty="0">
                          <a:effectLst/>
                        </a:rPr>
                        <a:t>, SW </a:t>
                      </a:r>
                      <a:r>
                        <a:rPr lang="ko-KR" altLang="en-US" sz="700" dirty="0">
                          <a:effectLst/>
                        </a:rPr>
                        <a:t>개발은 </a:t>
                      </a:r>
                      <a:r>
                        <a:rPr lang="en-US" altLang="ko-KR" sz="700" dirty="0">
                          <a:effectLst/>
                        </a:rPr>
                        <a:t>Top down </a:t>
                      </a:r>
                      <a:r>
                        <a:rPr lang="ko-KR" altLang="en-US" sz="700" dirty="0">
                          <a:effectLst/>
                        </a:rPr>
                        <a:t>보다 </a:t>
                      </a:r>
                      <a:r>
                        <a:rPr lang="en-US" altLang="ko-KR" sz="700" dirty="0">
                          <a:effectLst/>
                        </a:rPr>
                        <a:t>Bottom up</a:t>
                      </a:r>
                      <a:r>
                        <a:rPr lang="ko-KR" altLang="en-US" sz="700" dirty="0">
                          <a:effectLst/>
                        </a:rPr>
                        <a:t>을 선호함 </a:t>
                      </a:r>
                    </a:p>
                    <a:p>
                      <a:pPr algn="l" fontAlgn="auto"/>
                      <a:r>
                        <a:rPr lang="ko-KR" altLang="en-US" sz="700" dirty="0">
                          <a:effectLst/>
                        </a:rPr>
                        <a:t>  </a:t>
                      </a:r>
                      <a:r>
                        <a:rPr lang="en-US" altLang="ko-KR" sz="700" dirty="0">
                          <a:effectLst/>
                        </a:rPr>
                        <a:t>- High level SW</a:t>
                      </a:r>
                      <a:r>
                        <a:rPr lang="ko-KR" altLang="en-US" sz="700" dirty="0">
                          <a:effectLst/>
                        </a:rPr>
                        <a:t>의 경우는 </a:t>
                      </a:r>
                      <a:r>
                        <a:rPr lang="ko-KR" altLang="en-US" sz="700" dirty="0" err="1">
                          <a:effectLst/>
                        </a:rPr>
                        <a:t>고객사와</a:t>
                      </a:r>
                      <a:r>
                        <a:rPr lang="ko-KR" altLang="en-US" sz="700" dirty="0">
                          <a:effectLst/>
                        </a:rPr>
                        <a:t> </a:t>
                      </a:r>
                      <a:r>
                        <a:rPr lang="en-US" altLang="ko-KR" sz="700" dirty="0">
                          <a:effectLst/>
                        </a:rPr>
                        <a:t>conflict</a:t>
                      </a:r>
                      <a:r>
                        <a:rPr lang="ko-KR" altLang="en-US" sz="700" dirty="0">
                          <a:effectLst/>
                        </a:rPr>
                        <a:t>가 다소 우려됨 </a:t>
                      </a:r>
                    </a:p>
                    <a:p>
                      <a:pPr algn="l" fontAlgn="auto"/>
                      <a:r>
                        <a:rPr lang="ko-KR" altLang="en-US" sz="700" dirty="0">
                          <a:effectLst/>
                        </a:rPr>
                        <a:t>    → 당사 디바이스 성능이 잘 나올 수 있는 것을 시연하고 성능 측면에서 중요한 것을 고객에게 제시할 수 있음 </a:t>
                      </a:r>
                    </a:p>
                    <a:p>
                      <a:pPr algn="l" fontAlgn="auto"/>
                      <a:r>
                        <a:rPr lang="ko-KR" altLang="en-US" sz="700" dirty="0">
                          <a:effectLst/>
                        </a:rPr>
                        <a:t>  </a:t>
                      </a:r>
                      <a:r>
                        <a:rPr lang="en-US" altLang="ko-KR" sz="700" dirty="0">
                          <a:effectLst/>
                        </a:rPr>
                        <a:t>- </a:t>
                      </a:r>
                      <a:r>
                        <a:rPr lang="ko-KR" altLang="en-US" sz="700" dirty="0">
                          <a:effectLst/>
                        </a:rPr>
                        <a:t>고객에 따라 </a:t>
                      </a:r>
                      <a:r>
                        <a:rPr lang="en-US" altLang="ko-KR" sz="700" dirty="0">
                          <a:effectLst/>
                        </a:rPr>
                        <a:t>Full stack</a:t>
                      </a:r>
                      <a:r>
                        <a:rPr lang="ko-KR" altLang="en-US" sz="700" dirty="0">
                          <a:effectLst/>
                        </a:rPr>
                        <a:t>을 원하는 곳도 있고</a:t>
                      </a:r>
                      <a:r>
                        <a:rPr lang="en-US" altLang="ko-KR" sz="700" dirty="0">
                          <a:effectLst/>
                        </a:rPr>
                        <a:t>, </a:t>
                      </a:r>
                      <a:r>
                        <a:rPr lang="ko-KR" altLang="en-US" sz="700" dirty="0">
                          <a:effectLst/>
                        </a:rPr>
                        <a:t>디바이스 업체에 의존하는 경우도 있는데</a:t>
                      </a:r>
                      <a:r>
                        <a:rPr lang="en-US" altLang="ko-KR" sz="700" dirty="0">
                          <a:effectLst/>
                        </a:rPr>
                        <a:t>, </a:t>
                      </a:r>
                      <a:r>
                        <a:rPr lang="ko-KR" altLang="en-US" sz="700" dirty="0">
                          <a:effectLst/>
                        </a:rPr>
                        <a:t>다수의 고객은 상위 레벨 </a:t>
                      </a:r>
                      <a:r>
                        <a:rPr lang="en-US" altLang="ko-KR" sz="700" dirty="0">
                          <a:effectLst/>
                        </a:rPr>
                        <a:t>SW</a:t>
                      </a:r>
                      <a:r>
                        <a:rPr lang="ko-KR" altLang="en-US" sz="700" dirty="0">
                          <a:effectLst/>
                        </a:rPr>
                        <a:t>나 라이브러리에 대한</a:t>
                      </a:r>
                      <a:br>
                        <a:rPr lang="ko-KR" altLang="en-US" sz="700" dirty="0">
                          <a:effectLst/>
                        </a:rPr>
                      </a:br>
                      <a:r>
                        <a:rPr lang="ko-KR" altLang="en-US" sz="700" dirty="0">
                          <a:effectLst/>
                        </a:rPr>
                        <a:t>    역량이 있고 이를 기반으로 디바이스 업체에 요청을 하는 경우가 많음 </a:t>
                      </a:r>
                    </a:p>
                    <a:p>
                      <a:pPr algn="l" fontAlgn="auto"/>
                      <a:r>
                        <a:rPr lang="ko-KR" altLang="en-US" sz="700" dirty="0">
                          <a:effectLst/>
                        </a:rPr>
                        <a:t>  </a:t>
                      </a:r>
                      <a:r>
                        <a:rPr lang="en-US" altLang="ko-KR" sz="700" dirty="0">
                          <a:effectLst/>
                        </a:rPr>
                        <a:t>- </a:t>
                      </a:r>
                      <a:r>
                        <a:rPr lang="ko-KR" altLang="en-US" sz="700" dirty="0">
                          <a:effectLst/>
                        </a:rPr>
                        <a:t>고객 대응에 있어서 </a:t>
                      </a:r>
                      <a:r>
                        <a:rPr lang="en-US" altLang="ko-KR" sz="700" dirty="0">
                          <a:effectLst/>
                        </a:rPr>
                        <a:t>SW stack</a:t>
                      </a:r>
                      <a:r>
                        <a:rPr lang="ko-KR" altLang="en-US" sz="700" dirty="0">
                          <a:effectLst/>
                        </a:rPr>
                        <a:t>의 통합 용이성이나 표준화는 중요하지만</a:t>
                      </a:r>
                      <a:r>
                        <a:rPr lang="en-US" altLang="ko-KR" sz="700" dirty="0">
                          <a:effectLst/>
                        </a:rPr>
                        <a:t>, </a:t>
                      </a:r>
                      <a:r>
                        <a:rPr lang="ko-KR" altLang="en-US" sz="700" dirty="0">
                          <a:effectLst/>
                        </a:rPr>
                        <a:t>성능 측면에 </a:t>
                      </a:r>
                      <a:r>
                        <a:rPr lang="en-US" altLang="ko-KR" sz="700" dirty="0">
                          <a:effectLst/>
                        </a:rPr>
                        <a:t>gain</a:t>
                      </a:r>
                      <a:r>
                        <a:rPr lang="ko-KR" altLang="en-US" sz="700" dirty="0">
                          <a:effectLst/>
                        </a:rPr>
                        <a:t>이 크면 </a:t>
                      </a:r>
                      <a:r>
                        <a:rPr lang="ko-KR" altLang="en-US" sz="700" dirty="0" err="1">
                          <a:effectLst/>
                        </a:rPr>
                        <a:t>통합용이성</a:t>
                      </a:r>
                      <a:r>
                        <a:rPr lang="ko-KR" altLang="en-US" sz="700" dirty="0">
                          <a:effectLst/>
                        </a:rPr>
                        <a:t> 보다 성능을 더욱 강조할 수도 있음</a:t>
                      </a:r>
                    </a:p>
                    <a:p>
                      <a:pPr algn="l" fontAlgn="auto"/>
                      <a:r>
                        <a:rPr lang="ko-KR" altLang="en-US" sz="700" dirty="0">
                          <a:effectLst/>
                        </a:rPr>
                        <a:t>    </a:t>
                      </a:r>
                      <a:r>
                        <a:rPr lang="en-US" altLang="ko-KR" sz="700" dirty="0">
                          <a:effectLst/>
                        </a:rPr>
                        <a:t>. PIM</a:t>
                      </a:r>
                      <a:r>
                        <a:rPr lang="ko-KR" altLang="en-US" sz="700" dirty="0">
                          <a:effectLst/>
                        </a:rPr>
                        <a:t>의 경우와 같이</a:t>
                      </a:r>
                      <a:r>
                        <a:rPr lang="en-US" altLang="ko-KR" sz="700" dirty="0">
                          <a:effectLst/>
                        </a:rPr>
                        <a:t>, HW </a:t>
                      </a:r>
                      <a:r>
                        <a:rPr lang="ko-KR" altLang="en-US" sz="700" dirty="0">
                          <a:effectLst/>
                        </a:rPr>
                        <a:t>및 시스템 </a:t>
                      </a:r>
                      <a:r>
                        <a:rPr lang="en-US" altLang="ko-KR" sz="700" dirty="0">
                          <a:effectLst/>
                        </a:rPr>
                        <a:t>SW</a:t>
                      </a:r>
                      <a:r>
                        <a:rPr lang="ko-KR" altLang="en-US" sz="700" dirty="0">
                          <a:effectLst/>
                        </a:rPr>
                        <a:t>가 많이 변화되지만</a:t>
                      </a:r>
                      <a:r>
                        <a:rPr lang="en-US" altLang="ko-KR" sz="700" dirty="0">
                          <a:effectLst/>
                        </a:rPr>
                        <a:t>, </a:t>
                      </a:r>
                      <a:r>
                        <a:rPr lang="ko-KR" altLang="en-US" sz="700" dirty="0">
                          <a:effectLst/>
                        </a:rPr>
                        <a:t>성능 향상되는 부분이 더 커짐</a:t>
                      </a:r>
                    </a:p>
                  </a:txBody>
                  <a:tcPr marL="36419" marR="36419" marT="25493" marB="25493" anchor="ctr">
                    <a:lnL w="9525" cap="flat" cmpd="sng" algn="ctr">
                      <a:solidFill>
                        <a:srgbClr val="50DE03"/>
                      </a:solidFill>
                      <a:prstDash val="solid"/>
                      <a:round/>
                      <a:headEnd type="none" w="med" len="med"/>
                      <a:tailEnd type="none" w="med" len="med"/>
                    </a:lnL>
                    <a:lnR w="9525" cap="flat" cmpd="sng" algn="ctr">
                      <a:solidFill>
                        <a:srgbClr val="50DE03"/>
                      </a:solidFill>
                      <a:prstDash val="solid"/>
                      <a:round/>
                      <a:headEnd type="none" w="med" len="med"/>
                      <a:tailEnd type="none" w="med" len="med"/>
                    </a:lnR>
                    <a:lnT w="9525" cap="flat" cmpd="sng" algn="ctr">
                      <a:solidFill>
                        <a:srgbClr val="50DE03"/>
                      </a:solidFill>
                      <a:prstDash val="solid"/>
                      <a:round/>
                      <a:headEnd type="none" w="med" len="med"/>
                      <a:tailEnd type="none" w="med" len="med"/>
                    </a:lnT>
                    <a:lnB w="9525" cap="flat" cmpd="sng" algn="ctr">
                      <a:solidFill>
                        <a:srgbClr val="50DE03"/>
                      </a:solidFill>
                      <a:prstDash val="solid"/>
                      <a:round/>
                      <a:headEnd type="none" w="med" len="med"/>
                      <a:tailEnd type="none" w="med" len="med"/>
                    </a:lnB>
                  </a:tcPr>
                </a:tc>
                <a:extLst>
                  <a:ext uri="{0D108BD9-81ED-4DB2-BD59-A6C34878D82A}">
                    <a16:rowId xmlns:a16="http://schemas.microsoft.com/office/drawing/2014/main" val="3383518684"/>
                  </a:ext>
                </a:extLst>
              </a:tr>
            </a:tbl>
          </a:graphicData>
        </a:graphic>
      </p:graphicFrame>
      <p:sp>
        <p:nvSpPr>
          <p:cNvPr id="10" name="Rectangle 1"/>
          <p:cNvSpPr>
            <a:spLocks noChangeArrowheads="1"/>
          </p:cNvSpPr>
          <p:nvPr/>
        </p:nvSpPr>
        <p:spPr bwMode="auto">
          <a:xfrm>
            <a:off x="6142574" y="1082684"/>
            <a:ext cx="5303192"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latinLnBrk="0" hangingPunct="0">
              <a:spcBef>
                <a:spcPct val="0"/>
              </a:spcBef>
              <a:spcAft>
                <a:spcPct val="0"/>
              </a:spcAft>
            </a:pPr>
            <a:r>
              <a:rPr lang="ko-KR" altLang="ko-KR" sz="1100" dirty="0">
                <a:latin typeface="Arial" panose="020B0604020202020204" pitchFamily="34" charset="0"/>
              </a:rPr>
              <a:t>* 일시: 6/</a:t>
            </a:r>
            <a:r>
              <a:rPr lang="en-US" altLang="ko-KR" sz="1100" dirty="0">
                <a:latin typeface="Arial" panose="020B0604020202020204" pitchFamily="34" charset="0"/>
              </a:rPr>
              <a:t>18</a:t>
            </a:r>
            <a:r>
              <a:rPr lang="ko-KR" altLang="ko-KR" sz="1100" dirty="0">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장소 : DSR-</a:t>
            </a:r>
            <a:r>
              <a:rPr kumimoji="0" lang="ko-KR" altLang="ko-KR" sz="1100" b="0" i="0" u="none" strike="noStrike" cap="none" normalizeH="0" baseline="0" dirty="0" err="1">
                <a:ln>
                  <a:noFill/>
                </a:ln>
                <a:solidFill>
                  <a:schemeClr val="tx1"/>
                </a:solidFill>
                <a:effectLst/>
                <a:latin typeface="Arial" panose="020B0604020202020204" pitchFamily="34" charset="0"/>
              </a:rPr>
              <a:t>C타워</a:t>
            </a:r>
            <a:r>
              <a:rPr kumimoji="0" lang="ko-KR" altLang="ko-KR" sz="1100" b="0" i="0" u="none" strike="noStrike" cap="none" normalizeH="0" baseline="0" dirty="0">
                <a:ln>
                  <a:noFill/>
                </a:ln>
                <a:solidFill>
                  <a:schemeClr val="tx1"/>
                </a:solidFill>
                <a:effectLst/>
                <a:latin typeface="Arial" panose="020B0604020202020204" pitchFamily="34" charset="0"/>
              </a:rPr>
              <a:t> 29층 회의실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참석 : </a:t>
            </a:r>
            <a:r>
              <a:rPr kumimoji="0" lang="ko-KR" altLang="ko-KR" sz="1100" b="0" i="0" u="none" strike="noStrike" cap="none" normalizeH="0" baseline="0" dirty="0" err="1">
                <a:ln>
                  <a:noFill/>
                </a:ln>
                <a:solidFill>
                  <a:schemeClr val="tx1"/>
                </a:solidFill>
                <a:effectLst/>
                <a:latin typeface="Arial" panose="020B0604020202020204" pitchFamily="34" charset="0"/>
              </a:rPr>
              <a:t>손교민</a:t>
            </a:r>
            <a:r>
              <a:rPr kumimoji="0" lang="ko-KR" altLang="ko-KR" sz="1100" b="0" i="0" u="none" strike="noStrike" cap="none" normalizeH="0" baseline="0" dirty="0">
                <a:ln>
                  <a:noFill/>
                </a:ln>
                <a:solidFill>
                  <a:schemeClr val="tx1"/>
                </a:solidFill>
                <a:effectLst/>
                <a:latin typeface="Arial" panose="020B0604020202020204" pitchFamily="34" charset="0"/>
              </a:rPr>
              <a:t> 마스터, </a:t>
            </a:r>
            <a:r>
              <a:rPr kumimoji="0" lang="ko-KR" altLang="ko-KR" sz="1100" b="0" i="0" u="none" strike="noStrike" cap="none" normalizeH="0" baseline="0" dirty="0" err="1">
                <a:ln>
                  <a:noFill/>
                </a:ln>
                <a:solidFill>
                  <a:schemeClr val="tx1"/>
                </a:solidFill>
                <a:effectLst/>
                <a:latin typeface="Arial" panose="020B0604020202020204" pitchFamily="34" charset="0"/>
              </a:rPr>
              <a:t>이석한</a:t>
            </a:r>
            <a:r>
              <a:rPr kumimoji="0" lang="ko-KR" altLang="ko-KR" sz="1100" b="0" i="0" u="none" strike="noStrike" cap="none" normalizeH="0" baseline="0" dirty="0">
                <a:ln>
                  <a:noFill/>
                </a:ln>
                <a:solidFill>
                  <a:schemeClr val="tx1"/>
                </a:solidFill>
                <a:effectLst/>
                <a:latin typeface="Arial" panose="020B0604020202020204" pitchFamily="34" charset="0"/>
              </a:rPr>
              <a:t> TL, 이승원 마스터, </a:t>
            </a:r>
            <a:r>
              <a:rPr kumimoji="0" lang="ko-KR" altLang="ko-KR" sz="1100" b="0" i="0" u="none" strike="noStrike" cap="none" normalizeH="0" baseline="0" dirty="0" err="1">
                <a:ln>
                  <a:noFill/>
                </a:ln>
                <a:solidFill>
                  <a:schemeClr val="tx1"/>
                </a:solidFill>
                <a:effectLst/>
                <a:latin typeface="Arial" panose="020B0604020202020204" pitchFamily="34" charset="0"/>
              </a:rPr>
              <a:t>김명우</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최가람</a:t>
            </a:r>
            <a:r>
              <a:rPr kumimoji="0" lang="ko-KR" altLang="ko-KR" sz="1100" b="0" i="0" u="none" strike="noStrike" cap="none" normalizeH="0" baseline="0" dirty="0">
                <a:ln>
                  <a:noFill/>
                </a:ln>
                <a:solidFill>
                  <a:schemeClr val="tx1"/>
                </a:solidFill>
                <a:effectLst/>
                <a:latin typeface="Arial" panose="020B0604020202020204" pitchFamily="34" charset="0"/>
              </a:rPr>
              <a:t> </a:t>
            </a:r>
            <a:r>
              <a:rPr kumimoji="0" lang="ko-KR" altLang="ko-KR" sz="1100" b="0" i="0" u="none" strike="noStrike" cap="none" normalizeH="0" baseline="0" dirty="0" err="1">
                <a:ln>
                  <a:noFill/>
                </a:ln>
                <a:solidFill>
                  <a:schemeClr val="tx1"/>
                </a:solidFill>
                <a:effectLst/>
                <a:latin typeface="Arial" panose="020B0604020202020204" pitchFamily="34" charset="0"/>
              </a:rPr>
              <a:t>파트장</a:t>
            </a:r>
            <a:r>
              <a:rPr kumimoji="0" lang="ko-KR" altLang="ko-KR" sz="1100" b="0" i="0" u="none" strike="noStrike" cap="none" normalizeH="0" baseline="0" dirty="0">
                <a:ln>
                  <a:noFill/>
                </a:ln>
                <a:solidFill>
                  <a:schemeClr val="tx1"/>
                </a:solidFill>
                <a:effectLst/>
                <a:latin typeface="Arial" panose="020B0604020202020204" pitchFamily="34" charset="0"/>
              </a:rPr>
              <a:t>, 박용훈</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100" b="0" i="0" u="none" strike="noStrike" cap="none" normalizeH="0" baseline="0" dirty="0">
                <a:ln>
                  <a:noFill/>
                </a:ln>
                <a:solidFill>
                  <a:schemeClr val="tx1"/>
                </a:solidFill>
                <a:effectLst/>
                <a:latin typeface="Arial" panose="020B0604020202020204" pitchFamily="34" charset="0"/>
              </a:rPr>
              <a:t>* 작성자 : 박용훈</a:t>
            </a:r>
          </a:p>
        </p:txBody>
      </p:sp>
      <p:sp>
        <p:nvSpPr>
          <p:cNvPr id="11" name="직사각형 10"/>
          <p:cNvSpPr/>
          <p:nvPr/>
        </p:nvSpPr>
        <p:spPr>
          <a:xfrm>
            <a:off x="6142574" y="723724"/>
            <a:ext cx="2723823" cy="338554"/>
          </a:xfrm>
          <a:prstGeom prst="rect">
            <a:avLst/>
          </a:prstGeom>
        </p:spPr>
        <p:txBody>
          <a:bodyPr wrap="none">
            <a:spAutoFit/>
          </a:bodyPr>
          <a:lstStyle/>
          <a:p>
            <a:r>
              <a:rPr lang="ko-KR" altLang="en-US" sz="1600" b="1" dirty="0"/>
              <a:t>메모리 </a:t>
            </a:r>
            <a:r>
              <a:rPr lang="en-US" altLang="ko-KR" sz="1600" b="1" dirty="0"/>
              <a:t>DRAM </a:t>
            </a:r>
            <a:r>
              <a:rPr lang="ko-KR" altLang="en-US" sz="1600" b="1" dirty="0" err="1"/>
              <a:t>설계팀</a:t>
            </a:r>
            <a:r>
              <a:rPr lang="en-US" altLang="ko-KR" sz="1600" b="1" dirty="0"/>
              <a:t>(PIM)</a:t>
            </a:r>
            <a:endParaRPr lang="ko-KR" altLang="en-US" sz="1600" b="1" dirty="0"/>
          </a:p>
        </p:txBody>
      </p:sp>
    </p:spTree>
    <p:extLst>
      <p:ext uri="{BB962C8B-B14F-4D97-AF65-F5344CB8AC3E}">
        <p14:creationId xmlns:p14="http://schemas.microsoft.com/office/powerpoint/2010/main" val="25275880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인터뷰 자료 </a:t>
            </a:r>
            <a:r>
              <a:rPr lang="en-US" altLang="ko-KR" dirty="0"/>
              <a:t>– </a:t>
            </a:r>
            <a:r>
              <a:rPr lang="ko-KR" altLang="en-US" dirty="0"/>
              <a:t>메모리 </a:t>
            </a:r>
            <a:r>
              <a:rPr lang="en-US" altLang="ko-KR" dirty="0"/>
              <a:t>DRAM </a:t>
            </a:r>
            <a:r>
              <a:rPr lang="ko-KR" altLang="en-US" dirty="0" err="1"/>
              <a:t>설계팀</a:t>
            </a:r>
            <a:r>
              <a:rPr lang="ko-KR" altLang="en-US" dirty="0"/>
              <a:t> </a:t>
            </a:r>
            <a:r>
              <a:rPr lang="ko-KR" altLang="en-US" dirty="0" err="1"/>
              <a:t>손교민</a:t>
            </a:r>
            <a:r>
              <a:rPr lang="ko-KR" altLang="en-US" dirty="0"/>
              <a:t> </a:t>
            </a:r>
            <a:r>
              <a:rPr lang="en-US" altLang="ko-KR" dirty="0"/>
              <a:t>Master (PIM)</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4176179914"/>
              </p:ext>
            </p:extLst>
          </p:nvPr>
        </p:nvGraphicFramePr>
        <p:xfrm>
          <a:off x="527133" y="1674561"/>
          <a:ext cx="4020653" cy="4744906"/>
        </p:xfrm>
        <a:graphic>
          <a:graphicData uri="http://schemas.openxmlformats.org/drawingml/2006/table">
            <a:tbl>
              <a:tblPr/>
              <a:tblGrid>
                <a:gridCol w="4020653">
                  <a:extLst>
                    <a:ext uri="{9D8B030D-6E8A-4147-A177-3AD203B41FA5}">
                      <a16:colId xmlns:a16="http://schemas.microsoft.com/office/drawing/2014/main" val="454993741"/>
                    </a:ext>
                  </a:extLst>
                </a:gridCol>
              </a:tblGrid>
              <a:tr h="4351338">
                <a:tc>
                  <a:txBody>
                    <a:bodyPr/>
                    <a:lstStyle/>
                    <a:p>
                      <a:pPr algn="l" fontAlgn="auto"/>
                      <a:r>
                        <a:rPr lang="ko-KR" altLang="en-US" sz="700" dirty="0">
                          <a:solidFill>
                            <a:srgbClr val="0055CC"/>
                          </a:solidFill>
                          <a:effectLst/>
                        </a:rPr>
                        <a:t>① 과거 </a:t>
                      </a:r>
                      <a:r>
                        <a:rPr lang="ko-KR" altLang="en-US" sz="700" dirty="0" err="1">
                          <a:solidFill>
                            <a:srgbClr val="0055CC"/>
                          </a:solidFill>
                          <a:effectLst/>
                        </a:rPr>
                        <a:t>고객사</a:t>
                      </a:r>
                      <a:r>
                        <a:rPr lang="ko-KR" altLang="en-US" sz="700" dirty="0">
                          <a:solidFill>
                            <a:srgbClr val="0055CC"/>
                          </a:solidFill>
                          <a:effectLst/>
                        </a:rPr>
                        <a:t> 대응 시 시스템 관련 요청 및 대응 사례 </a:t>
                      </a:r>
                      <a:r>
                        <a:rPr lang="en-US" altLang="ko-KR" sz="700" dirty="0">
                          <a:solidFill>
                            <a:srgbClr val="0055CC"/>
                          </a:solidFill>
                          <a:effectLst/>
                        </a:rPr>
                        <a:t>( needs, </a:t>
                      </a:r>
                      <a:r>
                        <a:rPr lang="ko-KR" altLang="en-US" sz="700" dirty="0">
                          <a:solidFill>
                            <a:srgbClr val="0055CC"/>
                          </a:solidFill>
                          <a:effectLst/>
                        </a:rPr>
                        <a:t>어려웠던 부분 </a:t>
                      </a:r>
                      <a:r>
                        <a:rPr lang="en-US" altLang="ko-KR" sz="700" dirty="0">
                          <a:solidFill>
                            <a:srgbClr val="0055CC"/>
                          </a:solidFill>
                          <a:effectLst/>
                        </a:rPr>
                        <a:t>)</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err="1">
                          <a:solidFill>
                            <a:srgbClr val="172B4D"/>
                          </a:solidFill>
                          <a:effectLst/>
                        </a:rPr>
                        <a:t>고객사</a:t>
                      </a:r>
                      <a:r>
                        <a:rPr lang="ko-KR" altLang="en-US" sz="700" dirty="0">
                          <a:solidFill>
                            <a:srgbClr val="172B4D"/>
                          </a:solidFill>
                          <a:effectLst/>
                        </a:rPr>
                        <a:t> 요청으로 </a:t>
                      </a:r>
                      <a:r>
                        <a:rPr lang="ko-KR" altLang="en-US" sz="700" u="sng" dirty="0">
                          <a:solidFill>
                            <a:srgbClr val="172B4D"/>
                          </a:solidFill>
                          <a:effectLst/>
                        </a:rPr>
                        <a:t>메모리 제품을 자체적으로 시스템 검증하였고</a:t>
                      </a:r>
                      <a:r>
                        <a:rPr lang="en-US" altLang="ko-KR" sz="700" u="sng" dirty="0">
                          <a:solidFill>
                            <a:srgbClr val="172B4D"/>
                          </a:solidFill>
                          <a:effectLst/>
                        </a:rPr>
                        <a:t>, </a:t>
                      </a:r>
                      <a:r>
                        <a:rPr lang="ko-KR" altLang="en-US" sz="700" u="sng" dirty="0" err="1">
                          <a:solidFill>
                            <a:srgbClr val="172B4D"/>
                          </a:solidFill>
                          <a:effectLst/>
                        </a:rPr>
                        <a:t>고객사</a:t>
                      </a:r>
                      <a:r>
                        <a:rPr lang="ko-KR" altLang="en-US" sz="700" u="sng" dirty="0">
                          <a:solidFill>
                            <a:srgbClr val="172B4D"/>
                          </a:solidFill>
                          <a:effectLst/>
                        </a:rPr>
                        <a:t> 결과와 비교 분석</a:t>
                      </a:r>
                      <a:r>
                        <a:rPr lang="ko-KR" altLang="en-US" sz="700" dirty="0">
                          <a:solidFill>
                            <a:srgbClr val="172B4D"/>
                          </a:solidFill>
                          <a:effectLst/>
                        </a:rPr>
                        <a:t>하였음 </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HPE</a:t>
                      </a:r>
                      <a:r>
                        <a:rPr lang="ko-KR" altLang="en-US" sz="700" dirty="0">
                          <a:solidFill>
                            <a:srgbClr val="172B4D"/>
                          </a:solidFill>
                          <a:effectLst/>
                        </a:rPr>
                        <a:t>의 경우</a:t>
                      </a:r>
                      <a:r>
                        <a:rPr lang="en-US" altLang="ko-KR" sz="700" dirty="0">
                          <a:solidFill>
                            <a:srgbClr val="172B4D"/>
                          </a:solidFill>
                          <a:effectLst/>
                        </a:rPr>
                        <a:t>, </a:t>
                      </a:r>
                      <a:r>
                        <a:rPr lang="ko-KR" altLang="en-US" sz="700" dirty="0">
                          <a:solidFill>
                            <a:srgbClr val="172B4D"/>
                          </a:solidFill>
                          <a:effectLst/>
                        </a:rPr>
                        <a:t>당사 제품에 대해서 </a:t>
                      </a:r>
                      <a:r>
                        <a:rPr lang="ko-KR" altLang="en-US" sz="700" dirty="0" err="1">
                          <a:solidFill>
                            <a:srgbClr val="172B4D"/>
                          </a:solidFill>
                          <a:effectLst/>
                        </a:rPr>
                        <a:t>고객사에서</a:t>
                      </a:r>
                      <a:r>
                        <a:rPr lang="ko-KR" altLang="en-US" sz="700" dirty="0">
                          <a:solidFill>
                            <a:srgbClr val="172B4D"/>
                          </a:solidFill>
                          <a:effectLst/>
                        </a:rPr>
                        <a:t> </a:t>
                      </a:r>
                      <a:r>
                        <a:rPr lang="ko-KR" altLang="en-US" sz="700" dirty="0" err="1">
                          <a:solidFill>
                            <a:srgbClr val="172B4D"/>
                          </a:solidFill>
                          <a:effectLst/>
                        </a:rPr>
                        <a:t>테스트했을때</a:t>
                      </a:r>
                      <a:r>
                        <a:rPr lang="en-US" altLang="ko-KR" sz="700" dirty="0">
                          <a:solidFill>
                            <a:srgbClr val="172B4D"/>
                          </a:solidFill>
                          <a:effectLst/>
                        </a:rPr>
                        <a:t>, </a:t>
                      </a:r>
                      <a:r>
                        <a:rPr lang="ko-KR" altLang="en-US" sz="700" dirty="0">
                          <a:solidFill>
                            <a:srgbClr val="172B4D"/>
                          </a:solidFill>
                          <a:effectLst/>
                        </a:rPr>
                        <a:t>당사에서 제시한 성능</a:t>
                      </a:r>
                      <a:r>
                        <a:rPr lang="en-US" altLang="ko-KR" sz="700" dirty="0">
                          <a:solidFill>
                            <a:srgbClr val="172B4D"/>
                          </a:solidFill>
                          <a:effectLst/>
                        </a:rPr>
                        <a:t>(2</a:t>
                      </a:r>
                      <a:r>
                        <a:rPr lang="ko-KR" altLang="en-US" sz="700" dirty="0">
                          <a:solidFill>
                            <a:srgbClr val="172B4D"/>
                          </a:solidFill>
                          <a:effectLst/>
                        </a:rPr>
                        <a:t>배</a:t>
                      </a:r>
                      <a:r>
                        <a:rPr lang="en-US" altLang="ko-KR" sz="700" dirty="0">
                          <a:solidFill>
                            <a:srgbClr val="172B4D"/>
                          </a:solidFill>
                          <a:effectLst/>
                        </a:rPr>
                        <a:t>)</a:t>
                      </a:r>
                      <a:r>
                        <a:rPr lang="ko-KR" altLang="en-US" sz="700" dirty="0">
                          <a:solidFill>
                            <a:srgbClr val="172B4D"/>
                          </a:solidFill>
                          <a:effectLst/>
                        </a:rPr>
                        <a:t>이 </a:t>
                      </a:r>
                      <a:r>
                        <a:rPr lang="ko-KR" altLang="en-US" sz="700" dirty="0" err="1">
                          <a:solidFill>
                            <a:srgbClr val="172B4D"/>
                          </a:solidFill>
                          <a:effectLst/>
                        </a:rPr>
                        <a:t>안나왔었으므로</a:t>
                      </a:r>
                      <a:r>
                        <a:rPr lang="en-US" altLang="ko-KR" sz="700" dirty="0">
                          <a:solidFill>
                            <a:srgbClr val="172B4D"/>
                          </a:solidFill>
                          <a:effectLst/>
                        </a:rPr>
                        <a:t>(1.x</a:t>
                      </a:r>
                      <a:r>
                        <a:rPr lang="ko-KR" altLang="en-US" sz="700" dirty="0">
                          <a:solidFill>
                            <a:srgbClr val="172B4D"/>
                          </a:solidFill>
                          <a:effectLst/>
                        </a:rPr>
                        <a:t>배</a:t>
                      </a:r>
                      <a:r>
                        <a:rPr lang="en-US" altLang="ko-KR" sz="700" dirty="0">
                          <a:solidFill>
                            <a:srgbClr val="172B4D"/>
                          </a:solidFill>
                          <a:effectLst/>
                        </a:rPr>
                        <a:t>) </a:t>
                      </a:r>
                      <a:r>
                        <a:rPr lang="ko-KR" altLang="en-US" sz="700" dirty="0">
                          <a:solidFill>
                            <a:srgbClr val="172B4D"/>
                          </a:solidFill>
                          <a:effectLst/>
                        </a:rPr>
                        <a:t>삼성에서 시스템 차원의</a:t>
                      </a:r>
                      <a:br>
                        <a:rPr lang="ko-KR" altLang="en-US" sz="700" dirty="0">
                          <a:solidFill>
                            <a:srgbClr val="172B4D"/>
                          </a:solidFill>
                          <a:effectLst/>
                        </a:rPr>
                      </a:br>
                      <a:r>
                        <a:rPr lang="ko-KR" altLang="en-US" sz="700" dirty="0">
                          <a:solidFill>
                            <a:srgbClr val="172B4D"/>
                          </a:solidFill>
                          <a:effectLst/>
                        </a:rPr>
                        <a:t>      검증을 해보고</a:t>
                      </a:r>
                      <a:r>
                        <a:rPr lang="en-US" altLang="ko-KR" sz="700" dirty="0">
                          <a:solidFill>
                            <a:srgbClr val="172B4D"/>
                          </a:solidFill>
                          <a:effectLst/>
                        </a:rPr>
                        <a:t>, </a:t>
                      </a:r>
                      <a:r>
                        <a:rPr lang="ko-KR" altLang="en-US" sz="700" dirty="0">
                          <a:solidFill>
                            <a:srgbClr val="172B4D"/>
                          </a:solidFill>
                          <a:effectLst/>
                        </a:rPr>
                        <a:t>차이점을 비교 분석해보자라는 제안을 한적이 있었음 → 이런 역할을 </a:t>
                      </a:r>
                      <a:r>
                        <a:rPr lang="en-US" altLang="ko-KR" sz="700" dirty="0">
                          <a:solidFill>
                            <a:srgbClr val="172B4D"/>
                          </a:solidFill>
                          <a:effectLst/>
                        </a:rPr>
                        <a:t>CATU</a:t>
                      </a:r>
                      <a:r>
                        <a:rPr lang="ko-KR" altLang="en-US" sz="700" dirty="0">
                          <a:solidFill>
                            <a:srgbClr val="172B4D"/>
                          </a:solidFill>
                          <a:effectLst/>
                        </a:rPr>
                        <a:t>에서 수행해줬고</a:t>
                      </a:r>
                      <a:r>
                        <a:rPr lang="en-US" altLang="ko-KR" sz="700" dirty="0">
                          <a:solidFill>
                            <a:srgbClr val="172B4D"/>
                          </a:solidFill>
                          <a:effectLst/>
                        </a:rPr>
                        <a:t>, </a:t>
                      </a:r>
                      <a:r>
                        <a:rPr lang="ko-KR" altLang="en-US" sz="700" dirty="0">
                          <a:solidFill>
                            <a:srgbClr val="172B4D"/>
                          </a:solidFill>
                          <a:effectLst/>
                        </a:rPr>
                        <a:t>일부 기능을 </a:t>
                      </a:r>
                      <a:r>
                        <a:rPr lang="en-US" altLang="ko-KR" sz="700" dirty="0">
                          <a:solidFill>
                            <a:srgbClr val="172B4D"/>
                          </a:solidFill>
                          <a:effectLst/>
                        </a:rPr>
                        <a:t>CSTU</a:t>
                      </a:r>
                      <a:r>
                        <a:rPr lang="ko-KR" altLang="en-US" sz="700" dirty="0">
                          <a:solidFill>
                            <a:srgbClr val="172B4D"/>
                          </a:solidFill>
                          <a:effectLst/>
                        </a:rPr>
                        <a:t>에서 </a:t>
                      </a:r>
                      <a:r>
                        <a:rPr lang="ko-KR" altLang="en-US" sz="700" dirty="0" err="1">
                          <a:solidFill>
                            <a:srgbClr val="172B4D"/>
                          </a:solidFill>
                          <a:effectLst/>
                        </a:rPr>
                        <a:t>이관받을</a:t>
                      </a:r>
                      <a:r>
                        <a:rPr lang="ko-KR" altLang="en-US" sz="700" dirty="0">
                          <a:solidFill>
                            <a:srgbClr val="172B4D"/>
                          </a:solidFill>
                          <a:effectLst/>
                        </a:rPr>
                        <a:t> 계획</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en-US" altLang="ko-KR" sz="700" u="sng" dirty="0">
                          <a:solidFill>
                            <a:srgbClr val="172B4D"/>
                          </a:solidFill>
                          <a:effectLst/>
                        </a:rPr>
                        <a:t>HBM-PIM</a:t>
                      </a:r>
                      <a:r>
                        <a:rPr lang="ko-KR" altLang="en-US" sz="700" u="sng" dirty="0">
                          <a:solidFill>
                            <a:srgbClr val="172B4D"/>
                          </a:solidFill>
                          <a:effectLst/>
                        </a:rPr>
                        <a:t>의 경우</a:t>
                      </a:r>
                      <a:r>
                        <a:rPr lang="en-US" altLang="ko-KR" sz="700" u="sng" dirty="0">
                          <a:solidFill>
                            <a:srgbClr val="172B4D"/>
                          </a:solidFill>
                          <a:effectLst/>
                        </a:rPr>
                        <a:t>, Rack 3</a:t>
                      </a:r>
                      <a:r>
                        <a:rPr lang="ko-KR" altLang="en-US" sz="700" u="sng" dirty="0">
                          <a:solidFill>
                            <a:srgbClr val="172B4D"/>
                          </a:solidFill>
                          <a:effectLst/>
                        </a:rPr>
                        <a:t>개를 꾸며서 검증 후 </a:t>
                      </a:r>
                      <a:r>
                        <a:rPr lang="ko-KR" altLang="en-US" sz="700" u="sng" dirty="0" err="1">
                          <a:solidFill>
                            <a:srgbClr val="172B4D"/>
                          </a:solidFill>
                          <a:effectLst/>
                        </a:rPr>
                        <a:t>고객사에</a:t>
                      </a:r>
                      <a:r>
                        <a:rPr lang="ko-KR" altLang="en-US" sz="700" u="sng" dirty="0">
                          <a:solidFill>
                            <a:srgbClr val="172B4D"/>
                          </a:solidFill>
                          <a:effectLst/>
                        </a:rPr>
                        <a:t> </a:t>
                      </a:r>
                      <a:r>
                        <a:rPr lang="ko-KR" altLang="en-US" sz="700" u="sng" dirty="0" err="1">
                          <a:solidFill>
                            <a:srgbClr val="172B4D"/>
                          </a:solidFill>
                          <a:effectLst/>
                        </a:rPr>
                        <a:t>데모</a:t>
                      </a:r>
                      <a:r>
                        <a:rPr lang="ko-KR" altLang="en-US" sz="700" dirty="0" err="1">
                          <a:solidFill>
                            <a:srgbClr val="172B4D"/>
                          </a:solidFill>
                          <a:effectLst/>
                        </a:rPr>
                        <a:t>했을때</a:t>
                      </a:r>
                      <a:r>
                        <a:rPr lang="en-US" altLang="ko-KR" sz="700" dirty="0">
                          <a:solidFill>
                            <a:srgbClr val="172B4D"/>
                          </a:solidFill>
                          <a:effectLst/>
                        </a:rPr>
                        <a:t>, </a:t>
                      </a:r>
                      <a:r>
                        <a:rPr lang="ko-KR" altLang="en-US" sz="700" dirty="0">
                          <a:solidFill>
                            <a:srgbClr val="172B4D"/>
                          </a:solidFill>
                          <a:effectLst/>
                        </a:rPr>
                        <a:t>고객사로부터 호응이 좋았음</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초기 </a:t>
                      </a:r>
                      <a:r>
                        <a:rPr lang="en-US" altLang="ko-KR" sz="700" dirty="0">
                          <a:solidFill>
                            <a:srgbClr val="172B4D"/>
                          </a:solidFill>
                          <a:effectLst/>
                        </a:rPr>
                        <a:t>AMD</a:t>
                      </a:r>
                      <a:r>
                        <a:rPr lang="ko-KR" altLang="en-US" sz="700" dirty="0">
                          <a:solidFill>
                            <a:srgbClr val="172B4D"/>
                          </a:solidFill>
                          <a:effectLst/>
                        </a:rPr>
                        <a:t>와 </a:t>
                      </a:r>
                      <a:r>
                        <a:rPr lang="ko-KR" altLang="en-US" sz="700" dirty="0" err="1">
                          <a:solidFill>
                            <a:srgbClr val="172B4D"/>
                          </a:solidFill>
                          <a:effectLst/>
                        </a:rPr>
                        <a:t>협업시</a:t>
                      </a:r>
                      <a:r>
                        <a:rPr lang="en-US" altLang="ko-KR" sz="700" dirty="0">
                          <a:solidFill>
                            <a:srgbClr val="172B4D"/>
                          </a:solidFill>
                          <a:effectLst/>
                        </a:rPr>
                        <a:t>, AMD </a:t>
                      </a:r>
                      <a:r>
                        <a:rPr lang="ko-KR" altLang="en-US" sz="700" dirty="0">
                          <a:solidFill>
                            <a:srgbClr val="172B4D"/>
                          </a:solidFill>
                          <a:effectLst/>
                        </a:rPr>
                        <a:t>보드로만 의존해 성능 평가했던 결과만 있었는데</a:t>
                      </a:r>
                      <a:r>
                        <a:rPr lang="en-US" altLang="ko-KR" sz="700" dirty="0">
                          <a:solidFill>
                            <a:srgbClr val="172B4D"/>
                          </a:solidFill>
                          <a:effectLst/>
                        </a:rPr>
                        <a:t>, SAIT</a:t>
                      </a:r>
                      <a:r>
                        <a:rPr lang="ko-KR" altLang="en-US" sz="700" dirty="0">
                          <a:solidFill>
                            <a:srgbClr val="172B4D"/>
                          </a:solidFill>
                          <a:effectLst/>
                        </a:rPr>
                        <a:t>과 협업을 통해 실제 </a:t>
                      </a:r>
                      <a:r>
                        <a:rPr lang="en-US" altLang="ko-KR" sz="700" dirty="0">
                          <a:solidFill>
                            <a:srgbClr val="172B4D"/>
                          </a:solidFill>
                          <a:effectLst/>
                        </a:rPr>
                        <a:t>Rack </a:t>
                      </a:r>
                      <a:r>
                        <a:rPr lang="ko-KR" altLang="en-US" sz="700" dirty="0">
                          <a:solidFill>
                            <a:srgbClr val="172B4D"/>
                          </a:solidFill>
                          <a:effectLst/>
                        </a:rPr>
                        <a:t>스케일로 큰 모델을 돌리는 것이 의미가 있었음</a:t>
                      </a:r>
                      <a:endParaRPr lang="ko-KR" altLang="en-US" sz="700" dirty="0">
                        <a:effectLst/>
                      </a:endParaRPr>
                    </a:p>
                    <a:p>
                      <a:pPr algn="l" fontAlgn="auto"/>
                      <a:r>
                        <a:rPr lang="ko-KR" altLang="en-US" sz="700" dirty="0">
                          <a:effectLst/>
                        </a:rPr>
                        <a:t/>
                      </a:r>
                      <a:br>
                        <a:rPr lang="ko-KR" altLang="en-US" sz="700" dirty="0">
                          <a:effectLst/>
                        </a:rPr>
                      </a:br>
                      <a:endParaRPr lang="ko-KR" altLang="en-US" sz="700" dirty="0">
                        <a:effectLst/>
                      </a:endParaRPr>
                    </a:p>
                    <a:p>
                      <a:pPr algn="l" fontAlgn="auto"/>
                      <a:r>
                        <a:rPr lang="ko-KR" altLang="en-US" sz="700" dirty="0">
                          <a:solidFill>
                            <a:srgbClr val="0C66E4"/>
                          </a:solidFill>
                          <a:effectLst/>
                        </a:rPr>
                        <a:t>② 시스템 연구 필요 여부 </a:t>
                      </a:r>
                      <a:endParaRPr lang="ko-KR" altLang="en-US" sz="700" dirty="0">
                        <a:effectLst/>
                      </a:endParaRPr>
                    </a:p>
                    <a:p>
                      <a:pPr algn="l" fontAlgn="auto"/>
                      <a:r>
                        <a:rPr lang="ko-KR" altLang="en-US" sz="700" dirty="0">
                          <a:solidFill>
                            <a:srgbClr val="0C66E4"/>
                          </a:solidFill>
                          <a:effectLst/>
                        </a:rPr>
                        <a:t>  </a:t>
                      </a:r>
                      <a:r>
                        <a:rPr lang="en-US" altLang="ko-KR" sz="700" dirty="0">
                          <a:solidFill>
                            <a:srgbClr val="172B4D"/>
                          </a:solidFill>
                          <a:effectLst/>
                        </a:rPr>
                        <a:t>- </a:t>
                      </a:r>
                      <a:r>
                        <a:rPr lang="ko-KR" altLang="en-US" sz="700" dirty="0">
                          <a:solidFill>
                            <a:srgbClr val="172B4D"/>
                          </a:solidFill>
                          <a:effectLst/>
                        </a:rPr>
                        <a:t>개발된 당사 제품을 </a:t>
                      </a:r>
                      <a:r>
                        <a:rPr lang="ko-KR" altLang="en-US" sz="700" dirty="0" err="1">
                          <a:solidFill>
                            <a:srgbClr val="172B4D"/>
                          </a:solidFill>
                          <a:effectLst/>
                        </a:rPr>
                        <a:t>고객사에</a:t>
                      </a:r>
                      <a:r>
                        <a:rPr lang="ko-KR" altLang="en-US" sz="700" dirty="0">
                          <a:solidFill>
                            <a:srgbClr val="172B4D"/>
                          </a:solidFill>
                          <a:effectLst/>
                        </a:rPr>
                        <a:t> 성능 검증을 받은 부분도 있지만</a:t>
                      </a:r>
                      <a:r>
                        <a:rPr lang="en-US" altLang="ko-KR" sz="700" dirty="0">
                          <a:solidFill>
                            <a:srgbClr val="172B4D"/>
                          </a:solidFill>
                          <a:effectLst/>
                        </a:rPr>
                        <a:t>, </a:t>
                      </a:r>
                      <a:r>
                        <a:rPr lang="ko-KR" altLang="en-US" sz="700" dirty="0">
                          <a:solidFill>
                            <a:srgbClr val="172B4D"/>
                          </a:solidFill>
                          <a:effectLst/>
                        </a:rPr>
                        <a:t>이 결과를 다른 고객들에게 </a:t>
                      </a:r>
                      <a:r>
                        <a:rPr lang="en-US" altLang="ko-KR" sz="700" dirty="0">
                          <a:solidFill>
                            <a:srgbClr val="172B4D"/>
                          </a:solidFill>
                          <a:effectLst/>
                        </a:rPr>
                        <a:t>promotion</a:t>
                      </a:r>
                      <a:r>
                        <a:rPr lang="ko-KR" altLang="en-US" sz="700" dirty="0">
                          <a:solidFill>
                            <a:srgbClr val="172B4D"/>
                          </a:solidFill>
                          <a:effectLst/>
                        </a:rPr>
                        <a:t>할 수는 없음</a:t>
                      </a:r>
                      <a:r>
                        <a:rPr lang="en-US" altLang="ko-KR" sz="700" dirty="0">
                          <a:solidFill>
                            <a:srgbClr val="172B4D"/>
                          </a:solidFill>
                          <a:effectLst/>
                        </a:rPr>
                        <a:t>. </a:t>
                      </a:r>
                      <a:r>
                        <a:rPr lang="ko-KR" altLang="en-US" sz="700" dirty="0">
                          <a:solidFill>
                            <a:srgbClr val="172B4D"/>
                          </a:solidFill>
                          <a:effectLst/>
                        </a:rPr>
                        <a:t>그래서 </a:t>
                      </a:r>
                      <a:r>
                        <a:rPr lang="ko-KR" altLang="en-US" sz="700" u="sng" dirty="0">
                          <a:solidFill>
                            <a:srgbClr val="172B4D"/>
                          </a:solidFill>
                          <a:effectLst/>
                        </a:rPr>
                        <a:t>당사 제품을 </a:t>
                      </a:r>
                      <a:r>
                        <a:rPr lang="ko-KR" altLang="en-US" sz="700" dirty="0">
                          <a:solidFill>
                            <a:srgbClr val="0C66E4"/>
                          </a:solidFill>
                          <a:effectLst/>
                        </a:rPr>
                        <a:t/>
                      </a:r>
                      <a:br>
                        <a:rPr lang="ko-KR" altLang="en-US" sz="700" dirty="0">
                          <a:solidFill>
                            <a:srgbClr val="0C66E4"/>
                          </a:solidFill>
                          <a:effectLst/>
                        </a:rPr>
                      </a:br>
                      <a:r>
                        <a:rPr lang="ko-KR" altLang="en-US" sz="700" dirty="0">
                          <a:solidFill>
                            <a:srgbClr val="172B4D"/>
                          </a:solidFill>
                          <a:effectLst/>
                        </a:rPr>
                        <a:t>    </a:t>
                      </a:r>
                      <a:r>
                        <a:rPr lang="ko-KR" altLang="en-US" sz="700" u="sng" dirty="0">
                          <a:solidFill>
                            <a:srgbClr val="172B4D"/>
                          </a:solidFill>
                          <a:effectLst/>
                        </a:rPr>
                        <a:t>타 </a:t>
                      </a:r>
                      <a:r>
                        <a:rPr lang="ko-KR" altLang="en-US" sz="700" u="sng" dirty="0" err="1">
                          <a:solidFill>
                            <a:srgbClr val="172B4D"/>
                          </a:solidFill>
                          <a:effectLst/>
                        </a:rPr>
                        <a:t>고객사에게</a:t>
                      </a:r>
                      <a:r>
                        <a:rPr lang="ko-KR" altLang="en-US" sz="700" u="sng" dirty="0">
                          <a:solidFill>
                            <a:srgbClr val="172B4D"/>
                          </a:solidFill>
                          <a:effectLst/>
                        </a:rPr>
                        <a:t> 전파 하기 위해서는 우리만의 가속시스템으로 검증할 수 있는 시스템이 있어야 함</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시스템 연구를 통해 컴파일러</a:t>
                      </a:r>
                      <a:r>
                        <a:rPr lang="en-US" altLang="ko-KR" sz="700" dirty="0">
                          <a:solidFill>
                            <a:srgbClr val="172B4D"/>
                          </a:solidFill>
                          <a:effectLst/>
                        </a:rPr>
                        <a:t>, </a:t>
                      </a:r>
                      <a:r>
                        <a:rPr lang="ko-KR" altLang="en-US" sz="700" dirty="0">
                          <a:solidFill>
                            <a:srgbClr val="172B4D"/>
                          </a:solidFill>
                          <a:effectLst/>
                        </a:rPr>
                        <a:t>시뮬레이터 외에도 </a:t>
                      </a:r>
                      <a:r>
                        <a:rPr lang="en-US" altLang="ko-KR" sz="700" dirty="0">
                          <a:solidFill>
                            <a:srgbClr val="172B4D"/>
                          </a:solidFill>
                          <a:effectLst/>
                        </a:rPr>
                        <a:t>Application </a:t>
                      </a:r>
                      <a:r>
                        <a:rPr lang="ko-KR" altLang="en-US" sz="700" dirty="0">
                          <a:solidFill>
                            <a:srgbClr val="172B4D"/>
                          </a:solidFill>
                          <a:effectLst/>
                        </a:rPr>
                        <a:t>분석을 할 수 있으면 좋겠음</a:t>
                      </a:r>
                      <a:r>
                        <a:rPr lang="en-US" altLang="ko-KR" sz="700" dirty="0">
                          <a:solidFill>
                            <a:srgbClr val="172B4D"/>
                          </a:solidFill>
                          <a:effectLst/>
                        </a:rPr>
                        <a:t>. (</a:t>
                      </a:r>
                      <a:r>
                        <a:rPr lang="ko-KR" altLang="en-US" sz="700" dirty="0">
                          <a:solidFill>
                            <a:srgbClr val="172B4D"/>
                          </a:solidFill>
                          <a:effectLst/>
                        </a:rPr>
                        <a:t>런타임에서도 응용에 맞춰 분석이 가능함</a:t>
                      </a:r>
                      <a:r>
                        <a:rPr lang="en-US" altLang="ko-KR" sz="700" dirty="0">
                          <a:solidFill>
                            <a:srgbClr val="172B4D"/>
                          </a:solidFill>
                          <a:effectLst/>
                        </a:rPr>
                        <a:t>)</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시스템을 구성하고 </a:t>
                      </a:r>
                      <a:r>
                        <a:rPr lang="en-US" altLang="ko-KR" sz="700" dirty="0" err="1">
                          <a:solidFill>
                            <a:srgbClr val="172B4D"/>
                          </a:solidFill>
                          <a:effectLst/>
                        </a:rPr>
                        <a:t>PoC</a:t>
                      </a:r>
                      <a:r>
                        <a:rPr lang="ko-KR" altLang="en-US" sz="700" dirty="0">
                          <a:solidFill>
                            <a:srgbClr val="172B4D"/>
                          </a:solidFill>
                          <a:effectLst/>
                        </a:rPr>
                        <a:t>를 보기 위해 </a:t>
                      </a:r>
                      <a:r>
                        <a:rPr lang="en-US" altLang="ko-KR" sz="700" dirty="0">
                          <a:solidFill>
                            <a:srgbClr val="172B4D"/>
                          </a:solidFill>
                          <a:effectLst/>
                        </a:rPr>
                        <a:t>MPW</a:t>
                      </a:r>
                      <a:r>
                        <a:rPr lang="ko-KR" altLang="en-US" sz="700" dirty="0">
                          <a:solidFill>
                            <a:srgbClr val="172B4D"/>
                          </a:solidFill>
                          <a:effectLst/>
                        </a:rPr>
                        <a:t>를 준비하는 등의 시스템 차원 부품 검증 과정이 필요함 </a:t>
                      </a:r>
                      <a:r>
                        <a:rPr lang="en-US" altLang="ko-KR" sz="700" dirty="0">
                          <a:solidFill>
                            <a:srgbClr val="172B4D"/>
                          </a:solidFill>
                          <a:effectLst/>
                        </a:rPr>
                        <a:t>(</a:t>
                      </a:r>
                      <a:r>
                        <a:rPr lang="ko-KR" altLang="en-US" sz="700" dirty="0">
                          <a:solidFill>
                            <a:srgbClr val="172B4D"/>
                          </a:solidFill>
                          <a:effectLst/>
                        </a:rPr>
                        <a:t>당초 </a:t>
                      </a:r>
                      <a:r>
                        <a:rPr lang="en-US" altLang="ko-KR" sz="700" dirty="0">
                          <a:solidFill>
                            <a:srgbClr val="172B4D"/>
                          </a:solidFill>
                          <a:effectLst/>
                        </a:rPr>
                        <a:t>CATU</a:t>
                      </a:r>
                      <a:r>
                        <a:rPr lang="ko-KR" altLang="en-US" sz="700" dirty="0">
                          <a:solidFill>
                            <a:srgbClr val="172B4D"/>
                          </a:solidFill>
                          <a:effectLst/>
                        </a:rPr>
                        <a:t>에 기대하는 부분</a:t>
                      </a:r>
                      <a:r>
                        <a:rPr lang="en-US" altLang="ko-KR" sz="700" dirty="0">
                          <a:solidFill>
                            <a:srgbClr val="172B4D"/>
                          </a:solidFill>
                          <a:effectLst/>
                        </a:rPr>
                        <a:t>)</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FPGA board</a:t>
                      </a:r>
                      <a:r>
                        <a:rPr lang="ko-KR" altLang="en-US" sz="700" dirty="0">
                          <a:solidFill>
                            <a:srgbClr val="172B4D"/>
                          </a:solidFill>
                          <a:effectLst/>
                        </a:rPr>
                        <a:t>로 검증은 부족하고</a:t>
                      </a:r>
                      <a:r>
                        <a:rPr lang="en-US" altLang="ko-KR" sz="700" dirty="0">
                          <a:solidFill>
                            <a:srgbClr val="172B4D"/>
                          </a:solidFill>
                          <a:effectLst/>
                        </a:rPr>
                        <a:t>, ASIC </a:t>
                      </a:r>
                      <a:r>
                        <a:rPr lang="ko-KR" altLang="en-US" sz="700" dirty="0">
                          <a:solidFill>
                            <a:srgbClr val="172B4D"/>
                          </a:solidFill>
                          <a:effectLst/>
                        </a:rPr>
                        <a:t>수준으로 하면 좋은데</a:t>
                      </a:r>
                      <a:r>
                        <a:rPr lang="en-US" altLang="ko-KR" sz="700" dirty="0">
                          <a:solidFill>
                            <a:srgbClr val="172B4D"/>
                          </a:solidFill>
                          <a:effectLst/>
                        </a:rPr>
                        <a:t>, </a:t>
                      </a:r>
                      <a:r>
                        <a:rPr lang="ko-KR" altLang="en-US" sz="700" dirty="0">
                          <a:solidFill>
                            <a:srgbClr val="172B4D"/>
                          </a:solidFill>
                          <a:effectLst/>
                        </a:rPr>
                        <a:t>해 줄 마땅한 곳이 없음</a:t>
                      </a:r>
                      <a:endParaRPr lang="ko-KR" altLang="en-US" sz="700" dirty="0">
                        <a:effectLst/>
                      </a:endParaRPr>
                    </a:p>
                    <a:p>
                      <a:pPr algn="l" fontAlgn="auto"/>
                      <a:r>
                        <a:rPr lang="ko-KR" altLang="en-US" sz="700" dirty="0">
                          <a:effectLst/>
                        </a:rPr>
                        <a:t/>
                      </a:r>
                      <a:br>
                        <a:rPr lang="ko-KR" altLang="en-US" sz="700" dirty="0">
                          <a:effectLst/>
                        </a:rPr>
                      </a:br>
                      <a:endParaRPr lang="ko-KR" altLang="en-US" sz="700" dirty="0">
                        <a:effectLst/>
                      </a:endParaRPr>
                    </a:p>
                    <a:p>
                      <a:pPr algn="l" fontAlgn="auto"/>
                      <a:r>
                        <a:rPr lang="ko-KR" altLang="en-US" sz="700" dirty="0">
                          <a:solidFill>
                            <a:srgbClr val="0055CC"/>
                          </a:solidFill>
                          <a:effectLst/>
                        </a:rPr>
                        <a:t>③ 조직 </a:t>
                      </a:r>
                      <a:r>
                        <a:rPr lang="en-US" altLang="ko-KR" sz="700" dirty="0">
                          <a:solidFill>
                            <a:srgbClr val="0055CC"/>
                          </a:solidFill>
                          <a:effectLst/>
                        </a:rPr>
                        <a:t>: </a:t>
                      </a:r>
                      <a:r>
                        <a:rPr lang="ko-KR" altLang="en-US" sz="700" dirty="0">
                          <a:solidFill>
                            <a:srgbClr val="0055CC"/>
                          </a:solidFill>
                          <a:effectLst/>
                        </a:rPr>
                        <a:t>시스템 연구 등의 역할이 사업부에서 하는 게 좋을까</a:t>
                      </a:r>
                      <a:r>
                        <a:rPr lang="en-US" altLang="ko-KR" sz="700" dirty="0">
                          <a:solidFill>
                            <a:srgbClr val="0055CC"/>
                          </a:solidFill>
                          <a:effectLst/>
                        </a:rPr>
                        <a:t>? </a:t>
                      </a:r>
                      <a:r>
                        <a:rPr lang="ko-KR" altLang="en-US" sz="700" dirty="0">
                          <a:solidFill>
                            <a:srgbClr val="0055CC"/>
                          </a:solidFill>
                          <a:effectLst/>
                        </a:rPr>
                        <a:t>아니면 연구소에서 하는 게 좋을까</a:t>
                      </a:r>
                      <a:r>
                        <a:rPr lang="en-US" altLang="ko-KR" sz="700" dirty="0">
                          <a:solidFill>
                            <a:srgbClr val="0055CC"/>
                          </a:solidFill>
                          <a:effectLst/>
                        </a:rPr>
                        <a:t>? </a:t>
                      </a:r>
                      <a:endParaRPr lang="ko-KR" altLang="en-US" sz="700" dirty="0">
                        <a:effectLst/>
                      </a:endParaRPr>
                    </a:p>
                    <a:p>
                      <a:pPr algn="l" fontAlgn="auto"/>
                      <a:r>
                        <a:rPr lang="ko-KR" altLang="en-US" sz="700" dirty="0">
                          <a:solidFill>
                            <a:srgbClr val="0055CC"/>
                          </a:solidFill>
                          <a:effectLst/>
                        </a:rPr>
                        <a:t> </a:t>
                      </a:r>
                      <a:r>
                        <a:rPr lang="ko-KR" altLang="en-US" sz="700" dirty="0">
                          <a:solidFill>
                            <a:srgbClr val="0C66E4"/>
                          </a:solidFill>
                          <a:effectLst/>
                        </a:rPr>
                        <a:t> </a:t>
                      </a:r>
                      <a:r>
                        <a:rPr lang="en-US" altLang="ko-KR" sz="700" dirty="0">
                          <a:solidFill>
                            <a:srgbClr val="172B4D"/>
                          </a:solidFill>
                          <a:effectLst/>
                        </a:rPr>
                        <a:t>- </a:t>
                      </a:r>
                      <a:r>
                        <a:rPr lang="ko-KR" altLang="en-US" sz="700" u="sng" dirty="0" err="1">
                          <a:solidFill>
                            <a:srgbClr val="172B4D"/>
                          </a:solidFill>
                          <a:effectLst/>
                        </a:rPr>
                        <a:t>근미래향</a:t>
                      </a:r>
                      <a:r>
                        <a:rPr lang="en-US" altLang="ko-KR" sz="700" u="sng" dirty="0">
                          <a:solidFill>
                            <a:srgbClr val="172B4D"/>
                          </a:solidFill>
                          <a:effectLst/>
                        </a:rPr>
                        <a:t>(~N+3) </a:t>
                      </a:r>
                      <a:r>
                        <a:rPr lang="ko-KR" altLang="en-US" sz="700" u="sng" dirty="0">
                          <a:solidFill>
                            <a:srgbClr val="172B4D"/>
                          </a:solidFill>
                          <a:effectLst/>
                        </a:rPr>
                        <a:t>제품 연구는 메모리 사업부에서 시스템 검증 역할을 하고</a:t>
                      </a:r>
                      <a:r>
                        <a:rPr lang="en-US" altLang="ko-KR" sz="700" u="sng" dirty="0">
                          <a:solidFill>
                            <a:srgbClr val="172B4D"/>
                          </a:solidFill>
                          <a:effectLst/>
                        </a:rPr>
                        <a:t>, </a:t>
                      </a:r>
                      <a:r>
                        <a:rPr lang="ko-KR" altLang="en-US" sz="700" u="sng" dirty="0">
                          <a:solidFill>
                            <a:srgbClr val="172B4D"/>
                          </a:solidFill>
                          <a:effectLst/>
                        </a:rPr>
                        <a:t>사업부에서 아직 모르는 기술은 </a:t>
                      </a:r>
                      <a:r>
                        <a:rPr lang="en-US" altLang="ko-KR" sz="700" u="sng" dirty="0">
                          <a:solidFill>
                            <a:srgbClr val="172B4D"/>
                          </a:solidFill>
                          <a:effectLst/>
                        </a:rPr>
                        <a:t>SAIT</a:t>
                      </a:r>
                      <a:r>
                        <a:rPr lang="ko-KR" altLang="en-US" sz="700" u="sng" dirty="0">
                          <a:solidFill>
                            <a:srgbClr val="172B4D"/>
                          </a:solidFill>
                          <a:effectLst/>
                        </a:rPr>
                        <a:t>에서 시스템 연구를 하면 좋겠음</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a:t>
                      </a:r>
                      <a:r>
                        <a:rPr lang="ko-KR" altLang="en-US" sz="700" dirty="0">
                          <a:solidFill>
                            <a:srgbClr val="172B4D"/>
                          </a:solidFill>
                          <a:effectLst/>
                        </a:rPr>
                        <a:t>시스템 </a:t>
                      </a:r>
                      <a:r>
                        <a:rPr lang="en-US" altLang="ko-KR" sz="700" dirty="0">
                          <a:solidFill>
                            <a:srgbClr val="172B4D"/>
                          </a:solidFill>
                          <a:effectLst/>
                        </a:rPr>
                        <a:t>SW </a:t>
                      </a:r>
                      <a:r>
                        <a:rPr lang="ko-KR" altLang="en-US" sz="700" dirty="0">
                          <a:solidFill>
                            <a:srgbClr val="172B4D"/>
                          </a:solidFill>
                          <a:effectLst/>
                        </a:rPr>
                        <a:t>부분은 사업부에서 </a:t>
                      </a:r>
                      <a:r>
                        <a:rPr lang="ko-KR" altLang="en-US" sz="700" dirty="0" err="1">
                          <a:solidFill>
                            <a:srgbClr val="172B4D"/>
                          </a:solidFill>
                          <a:effectLst/>
                        </a:rPr>
                        <a:t>빌드업하는데</a:t>
                      </a:r>
                      <a:r>
                        <a:rPr lang="ko-KR" altLang="en-US" sz="700" dirty="0">
                          <a:solidFill>
                            <a:srgbClr val="172B4D"/>
                          </a:solidFill>
                          <a:effectLst/>
                        </a:rPr>
                        <a:t> 시간이 걸리므로 </a:t>
                      </a:r>
                      <a:r>
                        <a:rPr lang="en-US" altLang="ko-KR" sz="700" dirty="0">
                          <a:solidFill>
                            <a:srgbClr val="172B4D"/>
                          </a:solidFill>
                          <a:effectLst/>
                        </a:rPr>
                        <a:t>SAIT</a:t>
                      </a:r>
                      <a:r>
                        <a:rPr lang="ko-KR" altLang="en-US" sz="700" dirty="0">
                          <a:solidFill>
                            <a:srgbClr val="172B4D"/>
                          </a:solidFill>
                          <a:effectLst/>
                        </a:rPr>
                        <a:t>에서 해주면 도움이 됨</a:t>
                      </a:r>
                      <a:endParaRPr lang="ko-KR" altLang="en-US" sz="700" dirty="0">
                        <a:effectLst/>
                      </a:endParaRPr>
                    </a:p>
                    <a:p>
                      <a:pPr algn="l" fontAlgn="auto"/>
                      <a:r>
                        <a:rPr lang="ko-KR" altLang="en-US" sz="700" dirty="0">
                          <a:solidFill>
                            <a:srgbClr val="172B4D"/>
                          </a:solidFill>
                          <a:effectLst/>
                        </a:rPr>
                        <a:t>  </a:t>
                      </a:r>
                      <a:r>
                        <a:rPr lang="en-US" altLang="ko-KR" sz="700" dirty="0">
                          <a:solidFill>
                            <a:srgbClr val="172B4D"/>
                          </a:solidFill>
                          <a:effectLst/>
                        </a:rPr>
                        <a:t>- H</a:t>
                      </a:r>
                      <a:r>
                        <a:rPr lang="ko-KR" altLang="en-US" sz="700" dirty="0">
                          <a:solidFill>
                            <a:srgbClr val="172B4D"/>
                          </a:solidFill>
                          <a:effectLst/>
                        </a:rPr>
                        <a:t>사의 경우</a:t>
                      </a:r>
                      <a:r>
                        <a:rPr lang="en-US" altLang="ko-KR" sz="700" dirty="0">
                          <a:solidFill>
                            <a:srgbClr val="172B4D"/>
                          </a:solidFill>
                          <a:effectLst/>
                        </a:rPr>
                        <a:t>, </a:t>
                      </a:r>
                      <a:r>
                        <a:rPr lang="ko-KR" altLang="en-US" sz="700" dirty="0">
                          <a:solidFill>
                            <a:srgbClr val="172B4D"/>
                          </a:solidFill>
                          <a:effectLst/>
                        </a:rPr>
                        <a:t>시스템 </a:t>
                      </a:r>
                      <a:r>
                        <a:rPr lang="en-US" altLang="ko-KR" sz="700" dirty="0">
                          <a:solidFill>
                            <a:srgbClr val="172B4D"/>
                          </a:solidFill>
                          <a:effectLst/>
                        </a:rPr>
                        <a:t>SW </a:t>
                      </a:r>
                      <a:r>
                        <a:rPr lang="ko-KR" altLang="en-US" sz="700" dirty="0">
                          <a:solidFill>
                            <a:srgbClr val="172B4D"/>
                          </a:solidFill>
                          <a:effectLst/>
                        </a:rPr>
                        <a:t>부분을 솔루션 개발실이라는 조직에서 주로 하는데</a:t>
                      </a:r>
                      <a:r>
                        <a:rPr lang="en-US" altLang="ko-KR" sz="700" dirty="0">
                          <a:solidFill>
                            <a:srgbClr val="172B4D"/>
                          </a:solidFill>
                          <a:effectLst/>
                        </a:rPr>
                        <a:t>, </a:t>
                      </a:r>
                      <a:r>
                        <a:rPr lang="ko-KR" altLang="en-US" sz="700" dirty="0">
                          <a:solidFill>
                            <a:srgbClr val="172B4D"/>
                          </a:solidFill>
                          <a:effectLst/>
                        </a:rPr>
                        <a:t>당사의 경우</a:t>
                      </a:r>
                      <a:r>
                        <a:rPr lang="en-US" altLang="ko-KR" sz="700" dirty="0">
                          <a:solidFill>
                            <a:srgbClr val="172B4D"/>
                          </a:solidFill>
                          <a:effectLst/>
                        </a:rPr>
                        <a:t>, SAIT</a:t>
                      </a:r>
                      <a:r>
                        <a:rPr lang="ko-KR" altLang="en-US" sz="700" dirty="0">
                          <a:solidFill>
                            <a:srgbClr val="172B4D"/>
                          </a:solidFill>
                          <a:effectLst/>
                        </a:rPr>
                        <a:t>에서 그동안 잘 해왔음</a:t>
                      </a:r>
                      <a:endParaRPr lang="ko-KR" altLang="en-US" sz="700" dirty="0">
                        <a:effectLst/>
                      </a:endParaRPr>
                    </a:p>
                    <a:p>
                      <a:pPr algn="l" fontAlgn="auto"/>
                      <a:r>
                        <a:rPr lang="ko-KR" altLang="en-US" sz="700" dirty="0">
                          <a:effectLst/>
                        </a:rPr>
                        <a:t/>
                      </a:r>
                      <a:br>
                        <a:rPr lang="ko-KR" altLang="en-US" sz="700" dirty="0">
                          <a:effectLst/>
                        </a:rPr>
                      </a:br>
                      <a:endParaRPr lang="ko-KR" altLang="en-US" sz="700" dirty="0">
                        <a:effectLst/>
                      </a:endParaRPr>
                    </a:p>
                    <a:p>
                      <a:pPr algn="l" fontAlgn="auto"/>
                      <a:r>
                        <a:rPr lang="ko-KR" altLang="en-US" sz="700" dirty="0">
                          <a:effectLst/>
                        </a:rPr>
                        <a:t>기타 </a:t>
                      </a:r>
                    </a:p>
                    <a:p>
                      <a:pPr algn="l" fontAlgn="auto"/>
                      <a:r>
                        <a:rPr lang="ko-KR" altLang="en-US" sz="700" dirty="0">
                          <a:effectLst/>
                        </a:rPr>
                        <a:t>  </a:t>
                      </a:r>
                      <a:r>
                        <a:rPr lang="en-US" altLang="ko-KR" sz="700" dirty="0">
                          <a:effectLst/>
                        </a:rPr>
                        <a:t>- PIM</a:t>
                      </a:r>
                      <a:r>
                        <a:rPr lang="ko-KR" altLang="en-US" sz="700" dirty="0">
                          <a:effectLst/>
                        </a:rPr>
                        <a:t>의 경우</a:t>
                      </a:r>
                      <a:r>
                        <a:rPr lang="en-US" altLang="ko-KR" sz="700" dirty="0">
                          <a:effectLst/>
                        </a:rPr>
                        <a:t>, SW </a:t>
                      </a:r>
                      <a:r>
                        <a:rPr lang="ko-KR" altLang="en-US" sz="700" dirty="0">
                          <a:effectLst/>
                        </a:rPr>
                        <a:t>개발은 </a:t>
                      </a:r>
                      <a:r>
                        <a:rPr lang="en-US" altLang="ko-KR" sz="700" dirty="0">
                          <a:effectLst/>
                        </a:rPr>
                        <a:t>Top down </a:t>
                      </a:r>
                      <a:r>
                        <a:rPr lang="ko-KR" altLang="en-US" sz="700" dirty="0">
                          <a:effectLst/>
                        </a:rPr>
                        <a:t>보다 </a:t>
                      </a:r>
                      <a:r>
                        <a:rPr lang="en-US" altLang="ko-KR" sz="700" dirty="0">
                          <a:effectLst/>
                        </a:rPr>
                        <a:t>Bottom up</a:t>
                      </a:r>
                      <a:r>
                        <a:rPr lang="ko-KR" altLang="en-US" sz="700" dirty="0">
                          <a:effectLst/>
                        </a:rPr>
                        <a:t>을 선호함 </a:t>
                      </a:r>
                    </a:p>
                    <a:p>
                      <a:pPr algn="l" fontAlgn="auto"/>
                      <a:r>
                        <a:rPr lang="ko-KR" altLang="en-US" sz="700" dirty="0">
                          <a:effectLst/>
                        </a:rPr>
                        <a:t>  </a:t>
                      </a:r>
                      <a:r>
                        <a:rPr lang="en-US" altLang="ko-KR" sz="700" dirty="0">
                          <a:effectLst/>
                        </a:rPr>
                        <a:t>- High level SW</a:t>
                      </a:r>
                      <a:r>
                        <a:rPr lang="ko-KR" altLang="en-US" sz="700" dirty="0">
                          <a:effectLst/>
                        </a:rPr>
                        <a:t>의 경우는 </a:t>
                      </a:r>
                      <a:r>
                        <a:rPr lang="ko-KR" altLang="en-US" sz="700" dirty="0" err="1">
                          <a:effectLst/>
                        </a:rPr>
                        <a:t>고객사와</a:t>
                      </a:r>
                      <a:r>
                        <a:rPr lang="ko-KR" altLang="en-US" sz="700" dirty="0">
                          <a:effectLst/>
                        </a:rPr>
                        <a:t> </a:t>
                      </a:r>
                      <a:r>
                        <a:rPr lang="en-US" altLang="ko-KR" sz="700" dirty="0">
                          <a:effectLst/>
                        </a:rPr>
                        <a:t>conflict</a:t>
                      </a:r>
                      <a:r>
                        <a:rPr lang="ko-KR" altLang="en-US" sz="700" dirty="0">
                          <a:effectLst/>
                        </a:rPr>
                        <a:t>가 다소 우려됨 </a:t>
                      </a:r>
                    </a:p>
                    <a:p>
                      <a:pPr algn="l" fontAlgn="auto"/>
                      <a:r>
                        <a:rPr lang="ko-KR" altLang="en-US" sz="700" dirty="0">
                          <a:effectLst/>
                        </a:rPr>
                        <a:t>    → 당사 디바이스 성능이 잘 나올 수 있는 것을 시연하고 성능 측면에서 중요한 것을 고객에게 제시할 수 있음 </a:t>
                      </a:r>
                    </a:p>
                    <a:p>
                      <a:pPr algn="l" fontAlgn="auto"/>
                      <a:r>
                        <a:rPr lang="ko-KR" altLang="en-US" sz="700" dirty="0">
                          <a:effectLst/>
                        </a:rPr>
                        <a:t>  </a:t>
                      </a:r>
                      <a:r>
                        <a:rPr lang="en-US" altLang="ko-KR" sz="700" dirty="0">
                          <a:effectLst/>
                        </a:rPr>
                        <a:t>- </a:t>
                      </a:r>
                      <a:r>
                        <a:rPr lang="ko-KR" altLang="en-US" sz="700" dirty="0">
                          <a:effectLst/>
                        </a:rPr>
                        <a:t>고객에 따라 </a:t>
                      </a:r>
                      <a:r>
                        <a:rPr lang="en-US" altLang="ko-KR" sz="700" dirty="0">
                          <a:effectLst/>
                        </a:rPr>
                        <a:t>Full stack</a:t>
                      </a:r>
                      <a:r>
                        <a:rPr lang="ko-KR" altLang="en-US" sz="700" dirty="0">
                          <a:effectLst/>
                        </a:rPr>
                        <a:t>을 원하는 곳도 있고</a:t>
                      </a:r>
                      <a:r>
                        <a:rPr lang="en-US" altLang="ko-KR" sz="700" dirty="0">
                          <a:effectLst/>
                        </a:rPr>
                        <a:t>, </a:t>
                      </a:r>
                      <a:r>
                        <a:rPr lang="ko-KR" altLang="en-US" sz="700" dirty="0">
                          <a:effectLst/>
                        </a:rPr>
                        <a:t>디바이스 업체에 의존하는 경우도 있는데</a:t>
                      </a:r>
                      <a:r>
                        <a:rPr lang="en-US" altLang="ko-KR" sz="700" dirty="0">
                          <a:effectLst/>
                        </a:rPr>
                        <a:t>, </a:t>
                      </a:r>
                      <a:r>
                        <a:rPr lang="ko-KR" altLang="en-US" sz="700" dirty="0">
                          <a:effectLst/>
                        </a:rPr>
                        <a:t>다수의 고객은 상위 레벨 </a:t>
                      </a:r>
                      <a:r>
                        <a:rPr lang="en-US" altLang="ko-KR" sz="700" dirty="0">
                          <a:effectLst/>
                        </a:rPr>
                        <a:t>SW</a:t>
                      </a:r>
                      <a:r>
                        <a:rPr lang="ko-KR" altLang="en-US" sz="700" dirty="0">
                          <a:effectLst/>
                        </a:rPr>
                        <a:t>나 라이브러리에 대한</a:t>
                      </a:r>
                      <a:br>
                        <a:rPr lang="ko-KR" altLang="en-US" sz="700" dirty="0">
                          <a:effectLst/>
                        </a:rPr>
                      </a:br>
                      <a:r>
                        <a:rPr lang="ko-KR" altLang="en-US" sz="700" dirty="0">
                          <a:effectLst/>
                        </a:rPr>
                        <a:t>    역량이 있고 이를 기반으로 디바이스 업체에 요청을 하는 경우가 많음 </a:t>
                      </a:r>
                    </a:p>
                    <a:p>
                      <a:pPr algn="l" fontAlgn="auto"/>
                      <a:r>
                        <a:rPr lang="ko-KR" altLang="en-US" sz="700" dirty="0">
                          <a:effectLst/>
                        </a:rPr>
                        <a:t>  </a:t>
                      </a:r>
                      <a:r>
                        <a:rPr lang="en-US" altLang="ko-KR" sz="700" dirty="0">
                          <a:effectLst/>
                        </a:rPr>
                        <a:t>- </a:t>
                      </a:r>
                      <a:r>
                        <a:rPr lang="ko-KR" altLang="en-US" sz="700" dirty="0">
                          <a:effectLst/>
                        </a:rPr>
                        <a:t>고객 대응에 있어서 </a:t>
                      </a:r>
                      <a:r>
                        <a:rPr lang="en-US" altLang="ko-KR" sz="700" dirty="0">
                          <a:effectLst/>
                        </a:rPr>
                        <a:t>SW stack</a:t>
                      </a:r>
                      <a:r>
                        <a:rPr lang="ko-KR" altLang="en-US" sz="700" dirty="0">
                          <a:effectLst/>
                        </a:rPr>
                        <a:t>의 통합 용이성이나 표준화는 중요하지만</a:t>
                      </a:r>
                      <a:r>
                        <a:rPr lang="en-US" altLang="ko-KR" sz="700" dirty="0">
                          <a:effectLst/>
                        </a:rPr>
                        <a:t>, </a:t>
                      </a:r>
                      <a:r>
                        <a:rPr lang="ko-KR" altLang="en-US" sz="700" dirty="0">
                          <a:effectLst/>
                        </a:rPr>
                        <a:t>성능 측면에 </a:t>
                      </a:r>
                      <a:r>
                        <a:rPr lang="en-US" altLang="ko-KR" sz="700" dirty="0">
                          <a:effectLst/>
                        </a:rPr>
                        <a:t>gain</a:t>
                      </a:r>
                      <a:r>
                        <a:rPr lang="ko-KR" altLang="en-US" sz="700" dirty="0">
                          <a:effectLst/>
                        </a:rPr>
                        <a:t>이 크면 </a:t>
                      </a:r>
                      <a:r>
                        <a:rPr lang="ko-KR" altLang="en-US" sz="700" dirty="0" err="1">
                          <a:effectLst/>
                        </a:rPr>
                        <a:t>통합용이성</a:t>
                      </a:r>
                      <a:r>
                        <a:rPr lang="ko-KR" altLang="en-US" sz="700" dirty="0">
                          <a:effectLst/>
                        </a:rPr>
                        <a:t> 보다 성능을 더욱 강조할 수도 있음</a:t>
                      </a:r>
                    </a:p>
                    <a:p>
                      <a:pPr algn="l" fontAlgn="auto"/>
                      <a:r>
                        <a:rPr lang="ko-KR" altLang="en-US" sz="700" dirty="0">
                          <a:effectLst/>
                        </a:rPr>
                        <a:t>    </a:t>
                      </a:r>
                      <a:r>
                        <a:rPr lang="en-US" altLang="ko-KR" sz="700" dirty="0">
                          <a:effectLst/>
                        </a:rPr>
                        <a:t>. PIM</a:t>
                      </a:r>
                      <a:r>
                        <a:rPr lang="ko-KR" altLang="en-US" sz="700" dirty="0">
                          <a:effectLst/>
                        </a:rPr>
                        <a:t>의 경우와 같이</a:t>
                      </a:r>
                      <a:r>
                        <a:rPr lang="en-US" altLang="ko-KR" sz="700" dirty="0">
                          <a:effectLst/>
                        </a:rPr>
                        <a:t>, HW </a:t>
                      </a:r>
                      <a:r>
                        <a:rPr lang="ko-KR" altLang="en-US" sz="700" dirty="0">
                          <a:effectLst/>
                        </a:rPr>
                        <a:t>및 시스템 </a:t>
                      </a:r>
                      <a:r>
                        <a:rPr lang="en-US" altLang="ko-KR" sz="700" dirty="0">
                          <a:effectLst/>
                        </a:rPr>
                        <a:t>SW</a:t>
                      </a:r>
                      <a:r>
                        <a:rPr lang="ko-KR" altLang="en-US" sz="700" dirty="0">
                          <a:effectLst/>
                        </a:rPr>
                        <a:t>가 많이 변화되지만</a:t>
                      </a:r>
                      <a:r>
                        <a:rPr lang="en-US" altLang="ko-KR" sz="700" dirty="0">
                          <a:effectLst/>
                        </a:rPr>
                        <a:t>, </a:t>
                      </a:r>
                      <a:r>
                        <a:rPr lang="ko-KR" altLang="en-US" sz="700" dirty="0">
                          <a:effectLst/>
                        </a:rPr>
                        <a:t>성능 향상되는 부분이 더 커짐</a:t>
                      </a:r>
                    </a:p>
                  </a:txBody>
                  <a:tcPr marL="36419" marR="36419" marT="25493" marB="25493" anchor="ctr">
                    <a:lnL w="9525" cap="flat" cmpd="sng" algn="ctr">
                      <a:solidFill>
                        <a:srgbClr val="50DE03"/>
                      </a:solidFill>
                      <a:prstDash val="solid"/>
                      <a:round/>
                      <a:headEnd type="none" w="med" len="med"/>
                      <a:tailEnd type="none" w="med" len="med"/>
                    </a:lnL>
                    <a:lnR w="9525" cap="flat" cmpd="sng" algn="ctr">
                      <a:solidFill>
                        <a:srgbClr val="50DE03"/>
                      </a:solidFill>
                      <a:prstDash val="solid"/>
                      <a:round/>
                      <a:headEnd type="none" w="med" len="med"/>
                      <a:tailEnd type="none" w="med" len="med"/>
                    </a:lnR>
                    <a:lnT w="9525" cap="flat" cmpd="sng" algn="ctr">
                      <a:solidFill>
                        <a:srgbClr val="50DE03"/>
                      </a:solidFill>
                      <a:prstDash val="solid"/>
                      <a:round/>
                      <a:headEnd type="none" w="med" len="med"/>
                      <a:tailEnd type="none" w="med" len="med"/>
                    </a:lnT>
                    <a:lnB w="9525" cap="flat" cmpd="sng" algn="ctr">
                      <a:solidFill>
                        <a:srgbClr val="50DE03"/>
                      </a:solidFill>
                      <a:prstDash val="solid"/>
                      <a:round/>
                      <a:headEnd type="none" w="med" len="med"/>
                      <a:tailEnd type="none" w="med" len="med"/>
                    </a:lnB>
                  </a:tcPr>
                </a:tc>
                <a:extLst>
                  <a:ext uri="{0D108BD9-81ED-4DB2-BD59-A6C34878D82A}">
                    <a16:rowId xmlns:a16="http://schemas.microsoft.com/office/drawing/2014/main" val="3383518684"/>
                  </a:ext>
                </a:extLst>
              </a:tr>
            </a:tbl>
          </a:graphicData>
        </a:graphic>
      </p:graphicFrame>
      <p:sp>
        <p:nvSpPr>
          <p:cNvPr id="4" name="Rectangle 1"/>
          <p:cNvSpPr>
            <a:spLocks noChangeArrowheads="1"/>
          </p:cNvSpPr>
          <p:nvPr/>
        </p:nvSpPr>
        <p:spPr bwMode="auto">
          <a:xfrm>
            <a:off x="459105" y="646718"/>
            <a:ext cx="6561348"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latinLnBrk="0" hangingPunct="0">
              <a:spcBef>
                <a:spcPct val="0"/>
              </a:spcBef>
              <a:spcAft>
                <a:spcPct val="0"/>
              </a:spcAft>
            </a:pPr>
            <a:r>
              <a:rPr lang="ko-KR" altLang="ko-KR" sz="1400" dirty="0">
                <a:latin typeface="Arial" panose="020B0604020202020204" pitchFamily="34" charset="0"/>
              </a:rPr>
              <a:t>* 일시: 6/</a:t>
            </a:r>
            <a:r>
              <a:rPr lang="en-US" altLang="ko-KR" sz="1400" dirty="0">
                <a:latin typeface="Arial" panose="020B0604020202020204" pitchFamily="34" charset="0"/>
              </a:rPr>
              <a:t>18</a:t>
            </a:r>
            <a:r>
              <a:rPr lang="ko-KR" altLang="ko-KR" sz="1400" dirty="0">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 장소 : DSR-</a:t>
            </a:r>
            <a:r>
              <a:rPr kumimoji="0" lang="ko-KR" altLang="ko-KR" sz="1400" b="0" i="0" u="none" strike="noStrike" cap="none" normalizeH="0" baseline="0" dirty="0" err="1">
                <a:ln>
                  <a:noFill/>
                </a:ln>
                <a:solidFill>
                  <a:schemeClr val="tx1"/>
                </a:solidFill>
                <a:effectLst/>
                <a:latin typeface="Arial" panose="020B0604020202020204" pitchFamily="34" charset="0"/>
              </a:rPr>
              <a:t>C타워</a:t>
            </a:r>
            <a:r>
              <a:rPr kumimoji="0" lang="ko-KR" altLang="ko-KR" sz="1400" b="0" i="0" u="none" strike="noStrike" cap="none" normalizeH="0" baseline="0" dirty="0">
                <a:ln>
                  <a:noFill/>
                </a:ln>
                <a:solidFill>
                  <a:schemeClr val="tx1"/>
                </a:solidFill>
                <a:effectLst/>
                <a:latin typeface="Arial" panose="020B0604020202020204" pitchFamily="34" charset="0"/>
              </a:rPr>
              <a:t> 29층 회의실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 참석 : </a:t>
            </a:r>
            <a:r>
              <a:rPr kumimoji="0" lang="ko-KR" altLang="ko-KR" sz="1400" b="0" i="0" u="none" strike="noStrike" cap="none" normalizeH="0" baseline="0" dirty="0" err="1">
                <a:ln>
                  <a:noFill/>
                </a:ln>
                <a:solidFill>
                  <a:schemeClr val="tx1"/>
                </a:solidFill>
                <a:effectLst/>
                <a:latin typeface="Arial" panose="020B0604020202020204" pitchFamily="34" charset="0"/>
              </a:rPr>
              <a:t>손교민</a:t>
            </a:r>
            <a:r>
              <a:rPr kumimoji="0" lang="ko-KR" altLang="ko-KR" sz="1400" b="0" i="0" u="none" strike="noStrike" cap="none" normalizeH="0" baseline="0" dirty="0">
                <a:ln>
                  <a:noFill/>
                </a:ln>
                <a:solidFill>
                  <a:schemeClr val="tx1"/>
                </a:solidFill>
                <a:effectLst/>
                <a:latin typeface="Arial" panose="020B0604020202020204" pitchFamily="34" charset="0"/>
              </a:rPr>
              <a:t> 마스터, </a:t>
            </a:r>
            <a:r>
              <a:rPr kumimoji="0" lang="ko-KR" altLang="ko-KR" sz="1400" b="0" i="0" u="none" strike="noStrike" cap="none" normalizeH="0" baseline="0" dirty="0" err="1">
                <a:ln>
                  <a:noFill/>
                </a:ln>
                <a:solidFill>
                  <a:schemeClr val="tx1"/>
                </a:solidFill>
                <a:effectLst/>
                <a:latin typeface="Arial" panose="020B0604020202020204" pitchFamily="34" charset="0"/>
              </a:rPr>
              <a:t>이석한</a:t>
            </a:r>
            <a:r>
              <a:rPr kumimoji="0" lang="ko-KR" altLang="ko-KR" sz="1400" b="0" i="0" u="none" strike="noStrike" cap="none" normalizeH="0" baseline="0" dirty="0">
                <a:ln>
                  <a:noFill/>
                </a:ln>
                <a:solidFill>
                  <a:schemeClr val="tx1"/>
                </a:solidFill>
                <a:effectLst/>
                <a:latin typeface="Arial" panose="020B0604020202020204" pitchFamily="34" charset="0"/>
              </a:rPr>
              <a:t> TL, 이승원 마스터, </a:t>
            </a:r>
            <a:r>
              <a:rPr kumimoji="0" lang="ko-KR" altLang="ko-KR" sz="1400" b="0" i="0" u="none" strike="noStrike" cap="none" normalizeH="0" baseline="0" dirty="0" err="1">
                <a:ln>
                  <a:noFill/>
                </a:ln>
                <a:solidFill>
                  <a:schemeClr val="tx1"/>
                </a:solidFill>
                <a:effectLst/>
                <a:latin typeface="Arial" panose="020B0604020202020204" pitchFamily="34" charset="0"/>
              </a:rPr>
              <a:t>김명우</a:t>
            </a:r>
            <a:r>
              <a:rPr kumimoji="0" lang="ko-KR" altLang="ko-KR" sz="1400" b="0" i="0" u="none" strike="noStrike" cap="none" normalizeH="0" baseline="0" dirty="0">
                <a:ln>
                  <a:noFill/>
                </a:ln>
                <a:solidFill>
                  <a:schemeClr val="tx1"/>
                </a:solidFill>
                <a:effectLst/>
                <a:latin typeface="Arial" panose="020B0604020202020204" pitchFamily="34" charset="0"/>
              </a:rPr>
              <a:t>, </a:t>
            </a:r>
            <a:r>
              <a:rPr kumimoji="0" lang="ko-KR" altLang="ko-KR" sz="1400" b="0" i="0" u="none" strike="noStrike" cap="none" normalizeH="0" baseline="0" dirty="0" err="1">
                <a:ln>
                  <a:noFill/>
                </a:ln>
                <a:solidFill>
                  <a:schemeClr val="tx1"/>
                </a:solidFill>
                <a:effectLst/>
                <a:latin typeface="Arial" panose="020B0604020202020204" pitchFamily="34" charset="0"/>
              </a:rPr>
              <a:t>최가람</a:t>
            </a:r>
            <a:r>
              <a:rPr kumimoji="0" lang="ko-KR" altLang="ko-KR" sz="1400" b="0" i="0" u="none" strike="noStrike" cap="none" normalizeH="0" baseline="0" dirty="0">
                <a:ln>
                  <a:noFill/>
                </a:ln>
                <a:solidFill>
                  <a:schemeClr val="tx1"/>
                </a:solidFill>
                <a:effectLst/>
                <a:latin typeface="Arial" panose="020B0604020202020204" pitchFamily="34" charset="0"/>
              </a:rPr>
              <a:t> </a:t>
            </a:r>
            <a:r>
              <a:rPr kumimoji="0" lang="ko-KR" altLang="ko-KR" sz="1400" b="0" i="0" u="none" strike="noStrike" cap="none" normalizeH="0" baseline="0" dirty="0" err="1">
                <a:ln>
                  <a:noFill/>
                </a:ln>
                <a:solidFill>
                  <a:schemeClr val="tx1"/>
                </a:solidFill>
                <a:effectLst/>
                <a:latin typeface="Arial" panose="020B0604020202020204" pitchFamily="34" charset="0"/>
              </a:rPr>
              <a:t>파트장</a:t>
            </a:r>
            <a:r>
              <a:rPr kumimoji="0" lang="ko-KR" altLang="ko-KR" sz="1400" b="0" i="0" u="none" strike="noStrike" cap="none" normalizeH="0" baseline="0" dirty="0">
                <a:ln>
                  <a:noFill/>
                </a:ln>
                <a:solidFill>
                  <a:schemeClr val="tx1"/>
                </a:solidFill>
                <a:effectLst/>
                <a:latin typeface="Arial" panose="020B0604020202020204" pitchFamily="34" charset="0"/>
              </a:rPr>
              <a:t>, 박용훈</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 작성자 : 박용훈</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
            </a:r>
            <a:br>
              <a:rPr kumimoji="0" lang="ko-KR" altLang="ko-KR" sz="1400" b="0" i="0" u="none" strike="noStrike" cap="none" normalizeH="0" baseline="0" dirty="0">
                <a:ln>
                  <a:noFill/>
                </a:ln>
                <a:solidFill>
                  <a:schemeClr val="tx1"/>
                </a:solidFill>
                <a:effectLst/>
                <a:latin typeface="Arial" panose="020B0604020202020204" pitchFamily="34" charset="0"/>
              </a:rPr>
            </a:br>
            <a:endParaRPr kumimoji="0" lang="ko-KR" altLang="ko-KR" sz="1400" b="0" i="0" u="none" strike="noStrike" cap="none" normalizeH="0" baseline="0" dirty="0">
              <a:ln>
                <a:noFill/>
              </a:ln>
              <a:solidFill>
                <a:schemeClr val="tx1"/>
              </a:solidFill>
              <a:effectLst/>
              <a:latin typeface="Arial" panose="020B0604020202020204" pitchFamily="34" charset="0"/>
            </a:endParaRPr>
          </a:p>
        </p:txBody>
      </p:sp>
      <p:sp>
        <p:nvSpPr>
          <p:cNvPr id="5" name="실행 단추: 뒤로 또는 이전 4">
            <a:hlinkClick r:id="rId3" action="ppaction://hlinksldjump" highlightClick="1"/>
          </p:cNvPr>
          <p:cNvSpPr/>
          <p:nvPr/>
        </p:nvSpPr>
        <p:spPr>
          <a:xfrm>
            <a:off x="7551683" y="175106"/>
            <a:ext cx="339250" cy="28967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5489916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협업 논의 자료 </a:t>
            </a:r>
            <a:r>
              <a:rPr lang="en-US" altLang="ko-KR" dirty="0"/>
              <a:t>– Flash </a:t>
            </a:r>
            <a:r>
              <a:rPr lang="ko-KR" altLang="en-US" dirty="0" err="1"/>
              <a:t>설계팀</a:t>
            </a:r>
            <a:r>
              <a:rPr lang="ko-KR" altLang="en-US" dirty="0"/>
              <a:t> </a:t>
            </a:r>
            <a:r>
              <a:rPr lang="en-US" altLang="ko-KR" dirty="0"/>
              <a:t>(UBF)</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1118069739"/>
              </p:ext>
            </p:extLst>
          </p:nvPr>
        </p:nvGraphicFramePr>
        <p:xfrm>
          <a:off x="898823" y="1156790"/>
          <a:ext cx="8984317" cy="4374592"/>
        </p:xfrm>
        <a:graphic>
          <a:graphicData uri="http://schemas.openxmlformats.org/drawingml/2006/table">
            <a:tbl>
              <a:tblPr/>
              <a:tblGrid>
                <a:gridCol w="1394797">
                  <a:extLst>
                    <a:ext uri="{9D8B030D-6E8A-4147-A177-3AD203B41FA5}">
                      <a16:colId xmlns:a16="http://schemas.microsoft.com/office/drawing/2014/main" val="2422079466"/>
                    </a:ext>
                  </a:extLst>
                </a:gridCol>
                <a:gridCol w="7589520">
                  <a:extLst>
                    <a:ext uri="{9D8B030D-6E8A-4147-A177-3AD203B41FA5}">
                      <a16:colId xmlns:a16="http://schemas.microsoft.com/office/drawing/2014/main" val="3693541805"/>
                    </a:ext>
                  </a:extLst>
                </a:gridCol>
              </a:tblGrid>
              <a:tr h="725972">
                <a:tc>
                  <a:txBody>
                    <a:bodyPr/>
                    <a:lstStyle/>
                    <a:p>
                      <a:pPr algn="ctr" fontAlgn="t"/>
                      <a:r>
                        <a:rPr lang="ko-KR" altLang="en-US" sz="1100">
                          <a:effectLst/>
                        </a:rPr>
                        <a:t>담당 </a:t>
                      </a:r>
                      <a:r>
                        <a:rPr lang="en-US" sz="1100">
                          <a:effectLst/>
                        </a:rPr>
                        <a:t>PM / PL</a:t>
                      </a:r>
                    </a:p>
                  </a:txBody>
                  <a:tcPr marL="56190" marR="56190" marT="39333" marB="39333">
                    <a:lnL w="9525" cap="flat" cmpd="sng" algn="ctr">
                      <a:solidFill>
                        <a:srgbClr val="F08975"/>
                      </a:solidFill>
                      <a:prstDash val="solid"/>
                      <a:round/>
                      <a:headEnd type="none" w="med" len="med"/>
                      <a:tailEnd type="none" w="med" len="med"/>
                    </a:lnL>
                    <a:lnR w="9525" cap="flat" cmpd="sng" algn="ctr">
                      <a:solidFill>
                        <a:srgbClr val="F08B75"/>
                      </a:solidFill>
                      <a:prstDash val="solid"/>
                      <a:round/>
                      <a:headEnd type="none" w="med" len="med"/>
                      <a:tailEnd type="none" w="med" len="med"/>
                    </a:lnR>
                    <a:lnT w="9525" cap="flat" cmpd="sng" algn="ctr">
                      <a:solidFill>
                        <a:srgbClr val="F08975"/>
                      </a:solidFill>
                      <a:prstDash val="solid"/>
                      <a:round/>
                      <a:headEnd type="none" w="med" len="med"/>
                      <a:tailEnd type="none" w="med" len="med"/>
                    </a:lnT>
                    <a:lnB w="9525" cap="flat" cmpd="sng" algn="ctr">
                      <a:solidFill>
                        <a:srgbClr val="308475"/>
                      </a:solidFill>
                      <a:prstDash val="solid"/>
                      <a:round/>
                      <a:headEnd type="none" w="med" len="med"/>
                      <a:tailEnd type="none" w="med" len="med"/>
                    </a:lnB>
                    <a:solidFill>
                      <a:srgbClr val="F1F2F4"/>
                    </a:solidFill>
                  </a:tcPr>
                </a:tc>
                <a:tc>
                  <a:txBody>
                    <a:bodyPr/>
                    <a:lstStyle/>
                    <a:p>
                      <a:pPr algn="l" fontAlgn="t">
                        <a:buFont typeface="Arial" panose="020B0604020202020204" pitchFamily="34" charset="0"/>
                        <a:buChar char="•"/>
                      </a:pPr>
                      <a:r>
                        <a:rPr lang="ko-KR" altLang="en-US" sz="1100">
                          <a:effectLst/>
                        </a:rPr>
                        <a:t>사업부 </a:t>
                      </a:r>
                      <a:r>
                        <a:rPr lang="en-US" altLang="ko-KR" sz="1100">
                          <a:effectLst/>
                        </a:rPr>
                        <a:t>:    Flash</a:t>
                      </a:r>
                      <a:r>
                        <a:rPr lang="ko-KR" altLang="en-US" sz="1100">
                          <a:effectLst/>
                        </a:rPr>
                        <a:t>설계팀</a:t>
                      </a:r>
                      <a:r>
                        <a:rPr lang="ko-KR" altLang="en-US" sz="1100">
                          <a:solidFill>
                            <a:srgbClr val="172B4D"/>
                          </a:solidFill>
                          <a:effectLst/>
                        </a:rPr>
                        <a:t> </a:t>
                      </a:r>
                      <a:r>
                        <a:rPr lang="en-US" altLang="ko-KR" sz="1100">
                          <a:solidFill>
                            <a:srgbClr val="172B4D"/>
                          </a:solidFill>
                          <a:effectLst/>
                        </a:rPr>
                        <a:t>(</a:t>
                      </a:r>
                      <a:r>
                        <a:rPr lang="ko-KR" altLang="en-US" sz="1100">
                          <a:solidFill>
                            <a:srgbClr val="172B4D"/>
                          </a:solidFill>
                          <a:effectLst/>
                        </a:rPr>
                        <a:t>강동구 부사장 </a:t>
                      </a:r>
                      <a:r>
                        <a:rPr lang="en-US" altLang="ko-KR" sz="1100">
                          <a:solidFill>
                            <a:srgbClr val="172B4D"/>
                          </a:solidFill>
                          <a:effectLst/>
                        </a:rPr>
                        <a:t>/ </a:t>
                      </a:r>
                      <a:r>
                        <a:rPr lang="ko-KR" altLang="en-US" sz="1100">
                          <a:solidFill>
                            <a:srgbClr val="172B4D"/>
                          </a:solidFill>
                          <a:effectLst/>
                        </a:rPr>
                        <a:t>박현욱 </a:t>
                      </a:r>
                      <a:r>
                        <a:rPr lang="en-US" altLang="ko-KR" sz="1100">
                          <a:solidFill>
                            <a:srgbClr val="172B4D"/>
                          </a:solidFill>
                          <a:effectLst/>
                        </a:rPr>
                        <a:t>TL)</a:t>
                      </a:r>
                      <a:endParaRPr lang="ko-KR" altLang="en-US" sz="1100">
                        <a:effectLst/>
                      </a:endParaRPr>
                    </a:p>
                    <a:p>
                      <a:pPr algn="l" fontAlgn="t">
                        <a:buFont typeface="Arial" panose="020B0604020202020204" pitchFamily="34" charset="0"/>
                        <a:buChar char="•"/>
                      </a:pPr>
                      <a:r>
                        <a:rPr lang="en-US" altLang="ko-KR" sz="1100">
                          <a:solidFill>
                            <a:srgbClr val="172B4D"/>
                          </a:solidFill>
                          <a:effectLst/>
                        </a:rPr>
                        <a:t>SAIT    :   AI System Platform (</a:t>
                      </a:r>
                      <a:r>
                        <a:rPr lang="ko-KR" altLang="en-US" sz="1100">
                          <a:solidFill>
                            <a:srgbClr val="172B4D"/>
                          </a:solidFill>
                          <a:effectLst/>
                        </a:rPr>
                        <a:t>김상준 </a:t>
                      </a:r>
                      <a:r>
                        <a:rPr lang="en-US" altLang="ko-KR" sz="1100">
                          <a:solidFill>
                            <a:srgbClr val="172B4D"/>
                          </a:solidFill>
                          <a:effectLst/>
                        </a:rPr>
                        <a:t>Master, </a:t>
                      </a:r>
                      <a:r>
                        <a:rPr lang="ko-KR" altLang="en-US" sz="1100">
                          <a:solidFill>
                            <a:srgbClr val="172B4D"/>
                          </a:solidFill>
                          <a:effectLst/>
                        </a:rPr>
                        <a:t>유재훈 </a:t>
                      </a:r>
                      <a:r>
                        <a:rPr lang="en-US" altLang="ko-KR" sz="1100">
                          <a:solidFill>
                            <a:srgbClr val="172B4D"/>
                          </a:solidFill>
                          <a:effectLst/>
                        </a:rPr>
                        <a:t>Master / </a:t>
                      </a:r>
                      <a:r>
                        <a:rPr lang="ko-KR" altLang="en-US" sz="1100">
                          <a:solidFill>
                            <a:srgbClr val="172B4D"/>
                          </a:solidFill>
                          <a:effectLst/>
                        </a:rPr>
                        <a:t>김경훈</a:t>
                      </a:r>
                      <a:r>
                        <a:rPr lang="en-US" altLang="ko-KR" sz="1100">
                          <a:solidFill>
                            <a:srgbClr val="172B4D"/>
                          </a:solidFill>
                          <a:effectLst/>
                        </a:rPr>
                        <a:t>)</a:t>
                      </a:r>
                      <a:endParaRPr lang="ko-KR" altLang="en-US" sz="1100">
                        <a:effectLst/>
                      </a:endParaRPr>
                    </a:p>
                  </a:txBody>
                  <a:tcPr marL="56190" marR="56190" marT="39333" marB="39333">
                    <a:lnL w="9525" cap="flat" cmpd="sng" algn="ctr">
                      <a:solidFill>
                        <a:srgbClr val="F08B75"/>
                      </a:solidFill>
                      <a:prstDash val="solid"/>
                      <a:round/>
                      <a:headEnd type="none" w="med" len="med"/>
                      <a:tailEnd type="none" w="med" len="med"/>
                    </a:lnL>
                    <a:lnR w="9525" cap="flat" cmpd="sng" algn="ctr">
                      <a:solidFill>
                        <a:srgbClr val="F08B75"/>
                      </a:solidFill>
                      <a:prstDash val="solid"/>
                      <a:round/>
                      <a:headEnd type="none" w="med" len="med"/>
                      <a:tailEnd type="none" w="med" len="med"/>
                    </a:lnR>
                    <a:lnT w="9525" cap="flat" cmpd="sng" algn="ctr">
                      <a:solidFill>
                        <a:srgbClr val="F08B75"/>
                      </a:solidFill>
                      <a:prstDash val="solid"/>
                      <a:round/>
                      <a:headEnd type="none" w="med" len="med"/>
                      <a:tailEnd type="none" w="med" len="med"/>
                    </a:lnT>
                    <a:lnB w="9525" cap="flat" cmpd="sng" algn="ctr">
                      <a:solidFill>
                        <a:srgbClr val="F09975"/>
                      </a:solidFill>
                      <a:prstDash val="solid"/>
                      <a:round/>
                      <a:headEnd type="none" w="med" len="med"/>
                      <a:tailEnd type="none" w="med" len="med"/>
                    </a:lnB>
                  </a:tcPr>
                </a:tc>
                <a:extLst>
                  <a:ext uri="{0D108BD9-81ED-4DB2-BD59-A6C34878D82A}">
                    <a16:rowId xmlns:a16="http://schemas.microsoft.com/office/drawing/2014/main" val="2580792004"/>
                  </a:ext>
                </a:extLst>
              </a:tr>
              <a:tr h="240492">
                <a:tc>
                  <a:txBody>
                    <a:bodyPr/>
                    <a:lstStyle/>
                    <a:p>
                      <a:pPr algn="ctr" fontAlgn="t"/>
                      <a:r>
                        <a:rPr lang="ko-KR" altLang="en-US" sz="1100">
                          <a:effectLst/>
                        </a:rPr>
                        <a:t>협업 기간</a:t>
                      </a:r>
                    </a:p>
                  </a:txBody>
                  <a:tcPr marL="56190" marR="56190" marT="39333" marB="39333">
                    <a:lnL w="9525" cap="flat" cmpd="sng" algn="ctr">
                      <a:solidFill>
                        <a:srgbClr val="308475"/>
                      </a:solidFill>
                      <a:prstDash val="solid"/>
                      <a:round/>
                      <a:headEnd type="none" w="med" len="med"/>
                      <a:tailEnd type="none" w="med" len="med"/>
                    </a:lnL>
                    <a:lnR w="9525" cap="flat" cmpd="sng" algn="ctr">
                      <a:solidFill>
                        <a:srgbClr val="F09975"/>
                      </a:solidFill>
                      <a:prstDash val="solid"/>
                      <a:round/>
                      <a:headEnd type="none" w="med" len="med"/>
                      <a:tailEnd type="none" w="med" len="med"/>
                    </a:lnR>
                    <a:lnT w="9525" cap="flat" cmpd="sng" algn="ctr">
                      <a:solidFill>
                        <a:srgbClr val="308475"/>
                      </a:solidFill>
                      <a:prstDash val="solid"/>
                      <a:round/>
                      <a:headEnd type="none" w="med" len="med"/>
                      <a:tailEnd type="none" w="med" len="med"/>
                    </a:lnT>
                    <a:lnB w="9525" cap="flat" cmpd="sng" algn="ctr">
                      <a:solidFill>
                        <a:srgbClr val="709775"/>
                      </a:solidFill>
                      <a:prstDash val="solid"/>
                      <a:round/>
                      <a:headEnd type="none" w="med" len="med"/>
                      <a:tailEnd type="none" w="med" len="med"/>
                    </a:lnB>
                    <a:solidFill>
                      <a:srgbClr val="F1F2F4"/>
                    </a:solidFill>
                  </a:tcPr>
                </a:tc>
                <a:tc>
                  <a:txBody>
                    <a:bodyPr/>
                    <a:lstStyle/>
                    <a:p>
                      <a:pPr algn="l" fontAlgn="t"/>
                      <a:r>
                        <a:rPr lang="en-US" altLang="ko-KR" sz="1100">
                          <a:effectLst/>
                        </a:rPr>
                        <a:t>'26.10</a:t>
                      </a:r>
                      <a:r>
                        <a:rPr lang="ko-KR" altLang="en-US" sz="1100">
                          <a:effectLst/>
                        </a:rPr>
                        <a:t>월 </a:t>
                      </a:r>
                      <a:r>
                        <a:rPr lang="en-US" altLang="ko-KR" sz="1100">
                          <a:effectLst/>
                        </a:rPr>
                        <a:t>~ '27.03</a:t>
                      </a:r>
                      <a:r>
                        <a:rPr lang="ko-KR" altLang="en-US" sz="1100">
                          <a:effectLst/>
                        </a:rPr>
                        <a:t>월</a:t>
                      </a:r>
                    </a:p>
                  </a:txBody>
                  <a:tcPr marL="56190" marR="56190" marT="39333" marB="39333">
                    <a:lnL w="9525" cap="flat" cmpd="sng" algn="ctr">
                      <a:solidFill>
                        <a:srgbClr val="F09975"/>
                      </a:solidFill>
                      <a:prstDash val="solid"/>
                      <a:round/>
                      <a:headEnd type="none" w="med" len="med"/>
                      <a:tailEnd type="none" w="med" len="med"/>
                    </a:lnL>
                    <a:lnR w="9525" cap="flat" cmpd="sng" algn="ctr">
                      <a:solidFill>
                        <a:srgbClr val="F09975"/>
                      </a:solidFill>
                      <a:prstDash val="solid"/>
                      <a:round/>
                      <a:headEnd type="none" w="med" len="med"/>
                      <a:tailEnd type="none" w="med" len="med"/>
                    </a:lnR>
                    <a:lnT w="9525" cap="flat" cmpd="sng" algn="ctr">
                      <a:solidFill>
                        <a:srgbClr val="F09975"/>
                      </a:solidFill>
                      <a:prstDash val="solid"/>
                      <a:round/>
                      <a:headEnd type="none" w="med" len="med"/>
                      <a:tailEnd type="none" w="med" len="med"/>
                    </a:lnT>
                    <a:lnB w="9525" cap="flat" cmpd="sng" algn="ctr">
                      <a:solidFill>
                        <a:srgbClr val="F09975"/>
                      </a:solidFill>
                      <a:prstDash val="solid"/>
                      <a:round/>
                      <a:headEnd type="none" w="med" len="med"/>
                      <a:tailEnd type="none" w="med" len="med"/>
                    </a:lnB>
                  </a:tcPr>
                </a:tc>
                <a:extLst>
                  <a:ext uri="{0D108BD9-81ED-4DB2-BD59-A6C34878D82A}">
                    <a16:rowId xmlns:a16="http://schemas.microsoft.com/office/drawing/2014/main" val="657358703"/>
                  </a:ext>
                </a:extLst>
              </a:tr>
              <a:tr h="725972">
                <a:tc>
                  <a:txBody>
                    <a:bodyPr/>
                    <a:lstStyle/>
                    <a:p>
                      <a:pPr algn="ctr" fontAlgn="t"/>
                      <a:r>
                        <a:rPr lang="en-US" sz="1100" dirty="0">
                          <a:effectLst/>
                        </a:rPr>
                        <a:t>R&amp;R (</a:t>
                      </a:r>
                      <a:r>
                        <a:rPr lang="ko-KR" altLang="en-US" sz="1100" dirty="0">
                          <a:effectLst/>
                        </a:rPr>
                        <a:t>투입 인력</a:t>
                      </a:r>
                      <a:r>
                        <a:rPr lang="en-US" altLang="ko-KR" sz="1100" dirty="0">
                          <a:effectLst/>
                        </a:rPr>
                        <a:t>)</a:t>
                      </a:r>
                    </a:p>
                  </a:txBody>
                  <a:tcPr marL="56190" marR="56190" marT="39333" marB="39333">
                    <a:lnL w="9525" cap="flat" cmpd="sng" algn="ctr">
                      <a:solidFill>
                        <a:srgbClr val="709775"/>
                      </a:solidFill>
                      <a:prstDash val="solid"/>
                      <a:round/>
                      <a:headEnd type="none" w="med" len="med"/>
                      <a:tailEnd type="none" w="med" len="med"/>
                    </a:lnL>
                    <a:lnR w="9525" cap="flat" cmpd="sng" algn="ctr">
                      <a:solidFill>
                        <a:srgbClr val="F09975"/>
                      </a:solidFill>
                      <a:prstDash val="solid"/>
                      <a:round/>
                      <a:headEnd type="none" w="med" len="med"/>
                      <a:tailEnd type="none" w="med" len="med"/>
                    </a:lnR>
                    <a:lnT w="9525" cap="flat" cmpd="sng" algn="ctr">
                      <a:solidFill>
                        <a:srgbClr val="709775"/>
                      </a:solidFill>
                      <a:prstDash val="solid"/>
                      <a:round/>
                      <a:headEnd type="none" w="med" len="med"/>
                      <a:tailEnd type="none" w="med" len="med"/>
                    </a:lnT>
                    <a:lnB w="9525" cap="flat" cmpd="sng" algn="ctr">
                      <a:solidFill>
                        <a:srgbClr val="F0A975"/>
                      </a:solidFill>
                      <a:prstDash val="solid"/>
                      <a:round/>
                      <a:headEnd type="none" w="med" len="med"/>
                      <a:tailEnd type="none" w="med" len="med"/>
                    </a:lnB>
                    <a:solidFill>
                      <a:srgbClr val="F1F2F4"/>
                    </a:solidFill>
                  </a:tcPr>
                </a:tc>
                <a:tc>
                  <a:txBody>
                    <a:bodyPr/>
                    <a:lstStyle/>
                    <a:p>
                      <a:pPr algn="l" fontAlgn="t">
                        <a:buFont typeface="Arial" panose="020B0604020202020204" pitchFamily="34" charset="0"/>
                        <a:buChar char="•"/>
                      </a:pPr>
                      <a:r>
                        <a:rPr lang="en-US" altLang="ko-KR" sz="1100">
                          <a:effectLst/>
                        </a:rPr>
                        <a:t>[ </a:t>
                      </a:r>
                      <a:r>
                        <a:rPr lang="ko-KR" altLang="en-US" sz="1100">
                          <a:effectLst/>
                        </a:rPr>
                        <a:t>사업부 </a:t>
                      </a:r>
                      <a:r>
                        <a:rPr lang="en-US" altLang="ko-KR" sz="1100">
                          <a:effectLst/>
                        </a:rPr>
                        <a:t>]  UBF </a:t>
                      </a:r>
                      <a:r>
                        <a:rPr lang="ko-KR" altLang="en-US" sz="1100">
                          <a:effectLst/>
                        </a:rPr>
                        <a:t>핵심 기술 확보</a:t>
                      </a:r>
                      <a:r>
                        <a:rPr lang="en-US" altLang="ko-KR" sz="1100">
                          <a:effectLst/>
                        </a:rPr>
                        <a:t>, </a:t>
                      </a:r>
                      <a:r>
                        <a:rPr lang="ko-KR" altLang="en-US" sz="1100">
                          <a:effectLst/>
                        </a:rPr>
                        <a:t>제품 </a:t>
                      </a:r>
                      <a:r>
                        <a:rPr lang="en-US" altLang="ko-KR" sz="1100">
                          <a:effectLst/>
                        </a:rPr>
                        <a:t>SPEC </a:t>
                      </a:r>
                      <a:r>
                        <a:rPr lang="ko-KR" altLang="en-US" sz="1100">
                          <a:effectLst/>
                        </a:rPr>
                        <a:t>및 개발 </a:t>
                      </a:r>
                      <a:r>
                        <a:rPr lang="en-US" altLang="ko-KR" sz="1100">
                          <a:effectLst/>
                        </a:rPr>
                        <a:t>(</a:t>
                      </a:r>
                      <a:r>
                        <a:rPr lang="ko-KR" altLang="en-US" sz="1100">
                          <a:effectLst/>
                        </a:rPr>
                        <a:t>투입 인력 </a:t>
                      </a:r>
                      <a:r>
                        <a:rPr lang="en-US" altLang="ko-KR" sz="1100">
                          <a:effectLst/>
                        </a:rPr>
                        <a:t>: 7</a:t>
                      </a:r>
                      <a:r>
                        <a:rPr lang="ko-KR" altLang="en-US" sz="1100">
                          <a:effectLst/>
                        </a:rPr>
                        <a:t>명</a:t>
                      </a:r>
                      <a:r>
                        <a:rPr lang="en-US" altLang="ko-KR" sz="1100">
                          <a:effectLst/>
                        </a:rPr>
                        <a:t>)</a:t>
                      </a:r>
                    </a:p>
                    <a:p>
                      <a:pPr algn="l" fontAlgn="t">
                        <a:buFont typeface="Arial" panose="020B0604020202020204" pitchFamily="34" charset="0"/>
                        <a:buChar char="•"/>
                      </a:pPr>
                      <a:r>
                        <a:rPr lang="en-US" altLang="ko-KR" sz="1100">
                          <a:effectLst/>
                        </a:rPr>
                        <a:t>[ SAIT ] Workload </a:t>
                      </a:r>
                      <a:r>
                        <a:rPr lang="ko-KR" altLang="en-US" sz="1100">
                          <a:effectLst/>
                        </a:rPr>
                        <a:t>분석</a:t>
                      </a:r>
                      <a:r>
                        <a:rPr lang="en-US" altLang="ko-KR" sz="1100">
                          <a:effectLst/>
                        </a:rPr>
                        <a:t>, </a:t>
                      </a:r>
                      <a:r>
                        <a:rPr lang="ko-KR" altLang="en-US" sz="1100">
                          <a:effectLst/>
                        </a:rPr>
                        <a:t>시스템 성능 분석</a:t>
                      </a:r>
                      <a:r>
                        <a:rPr lang="en-US" altLang="ko-KR" sz="1100">
                          <a:effectLst/>
                        </a:rPr>
                        <a:t>, </a:t>
                      </a:r>
                      <a:r>
                        <a:rPr lang="ko-KR" altLang="en-US" sz="1100">
                          <a:effectLst/>
                        </a:rPr>
                        <a:t>시스템 레벨 제품 </a:t>
                      </a:r>
                      <a:r>
                        <a:rPr lang="en-US" altLang="ko-KR" sz="1100">
                          <a:effectLst/>
                        </a:rPr>
                        <a:t>SPEC </a:t>
                      </a:r>
                      <a:r>
                        <a:rPr lang="ko-KR" altLang="en-US" sz="1100">
                          <a:effectLst/>
                        </a:rPr>
                        <a:t>제안  </a:t>
                      </a:r>
                      <a:r>
                        <a:rPr lang="en-US" altLang="ko-KR" sz="1100">
                          <a:effectLst/>
                        </a:rPr>
                        <a:t>(</a:t>
                      </a:r>
                      <a:r>
                        <a:rPr lang="ko-KR" altLang="en-US" sz="1100">
                          <a:effectLst/>
                        </a:rPr>
                        <a:t>투입 인력 </a:t>
                      </a:r>
                      <a:r>
                        <a:rPr lang="en-US" altLang="ko-KR" sz="1100">
                          <a:effectLst/>
                        </a:rPr>
                        <a:t>: 7.5</a:t>
                      </a:r>
                      <a:r>
                        <a:rPr lang="ko-KR" altLang="en-US" sz="1100">
                          <a:effectLst/>
                        </a:rPr>
                        <a:t>명</a:t>
                      </a:r>
                      <a:r>
                        <a:rPr lang="en-US" altLang="ko-KR" sz="1100">
                          <a:effectLst/>
                        </a:rPr>
                        <a:t>)</a:t>
                      </a:r>
                    </a:p>
                  </a:txBody>
                  <a:tcPr marL="56190" marR="56190" marT="39333" marB="39333">
                    <a:lnL w="9525" cap="flat" cmpd="sng" algn="ctr">
                      <a:solidFill>
                        <a:srgbClr val="F09975"/>
                      </a:solidFill>
                      <a:prstDash val="solid"/>
                      <a:round/>
                      <a:headEnd type="none" w="med" len="med"/>
                      <a:tailEnd type="none" w="med" len="med"/>
                    </a:lnL>
                    <a:lnR w="9525" cap="flat" cmpd="sng" algn="ctr">
                      <a:solidFill>
                        <a:srgbClr val="F09975"/>
                      </a:solidFill>
                      <a:prstDash val="solid"/>
                      <a:round/>
                      <a:headEnd type="none" w="med" len="med"/>
                      <a:tailEnd type="none" w="med" len="med"/>
                    </a:lnR>
                    <a:lnT w="9525" cap="flat" cmpd="sng" algn="ctr">
                      <a:solidFill>
                        <a:srgbClr val="F09975"/>
                      </a:solidFill>
                      <a:prstDash val="solid"/>
                      <a:round/>
                      <a:headEnd type="none" w="med" len="med"/>
                      <a:tailEnd type="none" w="med" len="med"/>
                    </a:lnT>
                    <a:lnB w="9525" cap="flat" cmpd="sng" algn="ctr">
                      <a:solidFill>
                        <a:srgbClr val="F09F75"/>
                      </a:solidFill>
                      <a:prstDash val="solid"/>
                      <a:round/>
                      <a:headEnd type="none" w="med" len="med"/>
                      <a:tailEnd type="none" w="med" len="med"/>
                    </a:lnB>
                  </a:tcPr>
                </a:tc>
                <a:extLst>
                  <a:ext uri="{0D108BD9-81ED-4DB2-BD59-A6C34878D82A}">
                    <a16:rowId xmlns:a16="http://schemas.microsoft.com/office/drawing/2014/main" val="1717388971"/>
                  </a:ext>
                </a:extLst>
              </a:tr>
              <a:tr h="240492">
                <a:tc>
                  <a:txBody>
                    <a:bodyPr/>
                    <a:lstStyle/>
                    <a:p>
                      <a:pPr algn="ctr" fontAlgn="t"/>
                      <a:r>
                        <a:rPr lang="ko-KR" altLang="en-US" sz="1100">
                          <a:effectLst/>
                        </a:rPr>
                        <a:t>최종 목표</a:t>
                      </a:r>
                    </a:p>
                  </a:txBody>
                  <a:tcPr marL="56190" marR="56190" marT="39333" marB="39333">
                    <a:lnL w="9525" cap="flat" cmpd="sng" algn="ctr">
                      <a:solidFill>
                        <a:srgbClr val="F0A975"/>
                      </a:solidFill>
                      <a:prstDash val="solid"/>
                      <a:round/>
                      <a:headEnd type="none" w="med" len="med"/>
                      <a:tailEnd type="none" w="med" len="med"/>
                    </a:lnL>
                    <a:lnR w="9525" cap="flat" cmpd="sng" algn="ctr">
                      <a:solidFill>
                        <a:srgbClr val="F09F75"/>
                      </a:solidFill>
                      <a:prstDash val="solid"/>
                      <a:round/>
                      <a:headEnd type="none" w="med" len="med"/>
                      <a:tailEnd type="none" w="med" len="med"/>
                    </a:lnR>
                    <a:lnT w="9525" cap="flat" cmpd="sng" algn="ctr">
                      <a:solidFill>
                        <a:srgbClr val="F0A975"/>
                      </a:solidFill>
                      <a:prstDash val="solid"/>
                      <a:round/>
                      <a:headEnd type="none" w="med" len="med"/>
                      <a:tailEnd type="none" w="med" len="med"/>
                    </a:lnT>
                    <a:lnB w="9525" cap="flat" cmpd="sng" algn="ctr">
                      <a:solidFill>
                        <a:srgbClr val="70A075"/>
                      </a:solidFill>
                      <a:prstDash val="solid"/>
                      <a:round/>
                      <a:headEnd type="none" w="med" len="med"/>
                      <a:tailEnd type="none" w="med" len="med"/>
                    </a:lnB>
                    <a:solidFill>
                      <a:srgbClr val="F1F2F4"/>
                    </a:solidFill>
                  </a:tcPr>
                </a:tc>
                <a:tc>
                  <a:txBody>
                    <a:bodyPr/>
                    <a:lstStyle/>
                    <a:p>
                      <a:pPr algn="l" fontAlgn="t"/>
                      <a:r>
                        <a:rPr lang="en-US" altLang="ko-KR" sz="1100">
                          <a:effectLst/>
                        </a:rPr>
                        <a:t>UBF </a:t>
                      </a:r>
                      <a:r>
                        <a:rPr lang="ko-KR" altLang="en-US" sz="1100">
                          <a:effectLst/>
                        </a:rPr>
                        <a:t>개발 당위성 확보 및 개발 착수</a:t>
                      </a:r>
                    </a:p>
                  </a:txBody>
                  <a:tcPr marL="56190" marR="56190" marT="39333" marB="39333">
                    <a:lnL w="9525" cap="flat" cmpd="sng" algn="ctr">
                      <a:solidFill>
                        <a:srgbClr val="F09F75"/>
                      </a:solidFill>
                      <a:prstDash val="solid"/>
                      <a:round/>
                      <a:headEnd type="none" w="med" len="med"/>
                      <a:tailEnd type="none" w="med" len="med"/>
                    </a:lnL>
                    <a:lnR w="9525" cap="flat" cmpd="sng" algn="ctr">
                      <a:solidFill>
                        <a:srgbClr val="F09F75"/>
                      </a:solidFill>
                      <a:prstDash val="solid"/>
                      <a:round/>
                      <a:headEnd type="none" w="med" len="med"/>
                      <a:tailEnd type="none" w="med" len="med"/>
                    </a:lnR>
                    <a:lnT w="9525" cap="flat" cmpd="sng" algn="ctr">
                      <a:solidFill>
                        <a:srgbClr val="F09F75"/>
                      </a:solidFill>
                      <a:prstDash val="solid"/>
                      <a:round/>
                      <a:headEnd type="none" w="med" len="med"/>
                      <a:tailEnd type="none" w="med" len="med"/>
                    </a:lnT>
                    <a:lnB w="9525" cap="flat" cmpd="sng" algn="ctr">
                      <a:solidFill>
                        <a:srgbClr val="B0BA75"/>
                      </a:solidFill>
                      <a:prstDash val="solid"/>
                      <a:round/>
                      <a:headEnd type="none" w="med" len="med"/>
                      <a:tailEnd type="none" w="med" len="med"/>
                    </a:lnB>
                  </a:tcPr>
                </a:tc>
                <a:extLst>
                  <a:ext uri="{0D108BD9-81ED-4DB2-BD59-A6C34878D82A}">
                    <a16:rowId xmlns:a16="http://schemas.microsoft.com/office/drawing/2014/main" val="264946770"/>
                  </a:ext>
                </a:extLst>
              </a:tr>
              <a:tr h="402319">
                <a:tc>
                  <a:txBody>
                    <a:bodyPr/>
                    <a:lstStyle/>
                    <a:p>
                      <a:pPr algn="ctr" fontAlgn="t"/>
                      <a:r>
                        <a:rPr lang="en-US" altLang="ko-KR" sz="1100">
                          <a:effectLst/>
                        </a:rPr>
                        <a:t>'26</a:t>
                      </a:r>
                      <a:r>
                        <a:rPr lang="ko-KR" altLang="en-US" sz="1100">
                          <a:effectLst/>
                        </a:rPr>
                        <a:t>년 목표</a:t>
                      </a:r>
                    </a:p>
                  </a:txBody>
                  <a:tcPr marL="56190" marR="56190" marT="39333" marB="39333">
                    <a:lnL w="9525" cap="flat" cmpd="sng" algn="ctr">
                      <a:solidFill>
                        <a:srgbClr val="70A075"/>
                      </a:solidFill>
                      <a:prstDash val="solid"/>
                      <a:round/>
                      <a:headEnd type="none" w="med" len="med"/>
                      <a:tailEnd type="none" w="med" len="med"/>
                    </a:lnL>
                    <a:lnR w="9525" cap="flat" cmpd="sng" algn="ctr">
                      <a:solidFill>
                        <a:srgbClr val="B0BA75"/>
                      </a:solidFill>
                      <a:prstDash val="solid"/>
                      <a:round/>
                      <a:headEnd type="none" w="med" len="med"/>
                      <a:tailEnd type="none" w="med" len="med"/>
                    </a:lnR>
                    <a:lnT w="9525" cap="flat" cmpd="sng" algn="ctr">
                      <a:solidFill>
                        <a:srgbClr val="70A075"/>
                      </a:solidFill>
                      <a:prstDash val="solid"/>
                      <a:round/>
                      <a:headEnd type="none" w="med" len="med"/>
                      <a:tailEnd type="none" w="med" len="med"/>
                    </a:lnT>
                    <a:lnB w="9525" cap="flat" cmpd="sng" algn="ctr">
                      <a:solidFill>
                        <a:srgbClr val="B0B175"/>
                      </a:solidFill>
                      <a:prstDash val="solid"/>
                      <a:round/>
                      <a:headEnd type="none" w="med" len="med"/>
                      <a:tailEnd type="none" w="med" len="med"/>
                    </a:lnB>
                    <a:solidFill>
                      <a:srgbClr val="F1F2F4"/>
                    </a:solidFill>
                  </a:tcPr>
                </a:tc>
                <a:tc>
                  <a:txBody>
                    <a:bodyPr/>
                    <a:lstStyle/>
                    <a:p>
                      <a:pPr algn="l" fontAlgn="t">
                        <a:buFont typeface="+mj-lt"/>
                        <a:buAutoNum type="arabicPeriod"/>
                      </a:pPr>
                      <a:r>
                        <a:rPr lang="en-US" altLang="ko-KR" sz="1100">
                          <a:effectLst/>
                        </a:rPr>
                        <a:t>AI System</a:t>
                      </a:r>
                      <a:r>
                        <a:rPr lang="ko-KR" altLang="en-US" sz="1100">
                          <a:effectLst/>
                        </a:rPr>
                        <a:t>에서의 </a:t>
                      </a:r>
                      <a:r>
                        <a:rPr lang="en-US" altLang="ko-KR" sz="1100">
                          <a:effectLst/>
                        </a:rPr>
                        <a:t>UBF </a:t>
                      </a:r>
                      <a:r>
                        <a:rPr lang="ko-KR" altLang="en-US" sz="1100">
                          <a:effectLst/>
                        </a:rPr>
                        <a:t>도입 타당성 검토</a:t>
                      </a:r>
                    </a:p>
                    <a:p>
                      <a:pPr algn="l" fontAlgn="t">
                        <a:buFont typeface="+mj-lt"/>
                        <a:buAutoNum type="arabicPeriod"/>
                      </a:pPr>
                      <a:r>
                        <a:rPr lang="en-US" altLang="ko-KR" sz="1100">
                          <a:effectLst/>
                        </a:rPr>
                        <a:t>UBF</a:t>
                      </a:r>
                      <a:r>
                        <a:rPr lang="ko-KR" altLang="en-US" sz="1100">
                          <a:effectLst/>
                        </a:rPr>
                        <a:t>의 </a:t>
                      </a:r>
                      <a:r>
                        <a:rPr lang="en-US" altLang="ko-KR" sz="1100">
                          <a:effectLst/>
                        </a:rPr>
                        <a:t>Device </a:t>
                      </a:r>
                      <a:r>
                        <a:rPr lang="ko-KR" altLang="en-US" sz="1100">
                          <a:effectLst/>
                        </a:rPr>
                        <a:t>운용 전략 </a:t>
                      </a:r>
                      <a:r>
                        <a:rPr lang="en-US" altLang="ko-KR" sz="1100">
                          <a:effectLst/>
                        </a:rPr>
                        <a:t>Define</a:t>
                      </a:r>
                    </a:p>
                  </a:txBody>
                  <a:tcPr marL="56190" marR="56190" marT="39333" marB="39333">
                    <a:lnL w="9525" cap="flat" cmpd="sng" algn="ctr">
                      <a:solidFill>
                        <a:srgbClr val="B0BA75"/>
                      </a:solidFill>
                      <a:prstDash val="solid"/>
                      <a:round/>
                      <a:headEnd type="none" w="med" len="med"/>
                      <a:tailEnd type="none" w="med" len="med"/>
                    </a:lnL>
                    <a:lnR w="9525" cap="flat" cmpd="sng" algn="ctr">
                      <a:solidFill>
                        <a:srgbClr val="B0BA75"/>
                      </a:solidFill>
                      <a:prstDash val="solid"/>
                      <a:round/>
                      <a:headEnd type="none" w="med" len="med"/>
                      <a:tailEnd type="none" w="med" len="med"/>
                    </a:lnR>
                    <a:lnT w="9525" cap="flat" cmpd="sng" algn="ctr">
                      <a:solidFill>
                        <a:srgbClr val="B0BA75"/>
                      </a:solidFill>
                      <a:prstDash val="solid"/>
                      <a:round/>
                      <a:headEnd type="none" w="med" len="med"/>
                      <a:tailEnd type="none" w="med" len="med"/>
                    </a:lnT>
                    <a:lnB w="9525" cap="flat" cmpd="sng" algn="ctr">
                      <a:solidFill>
                        <a:srgbClr val="30BC75"/>
                      </a:solidFill>
                      <a:prstDash val="solid"/>
                      <a:round/>
                      <a:headEnd type="none" w="med" len="med"/>
                      <a:tailEnd type="none" w="med" len="med"/>
                    </a:lnB>
                  </a:tcPr>
                </a:tc>
                <a:extLst>
                  <a:ext uri="{0D108BD9-81ED-4DB2-BD59-A6C34878D82A}">
                    <a16:rowId xmlns:a16="http://schemas.microsoft.com/office/drawing/2014/main" val="457493747"/>
                  </a:ext>
                </a:extLst>
              </a:tr>
              <a:tr h="725972">
                <a:tc>
                  <a:txBody>
                    <a:bodyPr/>
                    <a:lstStyle/>
                    <a:p>
                      <a:pPr algn="ctr" fontAlgn="t"/>
                      <a:r>
                        <a:rPr lang="ko-KR" altLang="en-US" sz="1100">
                          <a:effectLst/>
                        </a:rPr>
                        <a:t>목표 달성의 의미</a:t>
                      </a:r>
                    </a:p>
                  </a:txBody>
                  <a:tcPr marL="56190" marR="56190" marT="39333" marB="39333">
                    <a:lnL w="9525" cap="flat" cmpd="sng" algn="ctr">
                      <a:solidFill>
                        <a:srgbClr val="B0B175"/>
                      </a:solidFill>
                      <a:prstDash val="solid"/>
                      <a:round/>
                      <a:headEnd type="none" w="med" len="med"/>
                      <a:tailEnd type="none" w="med" len="med"/>
                    </a:lnL>
                    <a:lnR w="9525" cap="flat" cmpd="sng" algn="ctr">
                      <a:solidFill>
                        <a:srgbClr val="30BC75"/>
                      </a:solidFill>
                      <a:prstDash val="solid"/>
                      <a:round/>
                      <a:headEnd type="none" w="med" len="med"/>
                      <a:tailEnd type="none" w="med" len="med"/>
                    </a:lnR>
                    <a:lnT w="9525" cap="flat" cmpd="sng" algn="ctr">
                      <a:solidFill>
                        <a:srgbClr val="B0B175"/>
                      </a:solidFill>
                      <a:prstDash val="solid"/>
                      <a:round/>
                      <a:headEnd type="none" w="med" len="med"/>
                      <a:tailEnd type="none" w="med" len="med"/>
                    </a:lnT>
                    <a:lnB w="9525" cap="flat" cmpd="sng" algn="ctr">
                      <a:solidFill>
                        <a:srgbClr val="30B675"/>
                      </a:solidFill>
                      <a:prstDash val="solid"/>
                      <a:round/>
                      <a:headEnd type="none" w="med" len="med"/>
                      <a:tailEnd type="none" w="med" len="med"/>
                    </a:lnB>
                    <a:solidFill>
                      <a:srgbClr val="F1F2F4"/>
                    </a:solidFill>
                  </a:tcPr>
                </a:tc>
                <a:tc>
                  <a:txBody>
                    <a:bodyPr/>
                    <a:lstStyle/>
                    <a:p>
                      <a:pPr algn="l" fontAlgn="t">
                        <a:buFont typeface="Arial" panose="020B0604020202020204" pitchFamily="34" charset="0"/>
                        <a:buChar char="•"/>
                      </a:pPr>
                      <a:r>
                        <a:rPr lang="ko-KR" altLang="en-US" sz="1100">
                          <a:solidFill>
                            <a:srgbClr val="172B4D"/>
                          </a:solidFill>
                          <a:effectLst/>
                        </a:rPr>
                        <a:t>하이퍼스케일러 업체의 고용량 </a:t>
                      </a:r>
                      <a:r>
                        <a:rPr lang="en-US" altLang="ko-KR" sz="1100">
                          <a:solidFill>
                            <a:srgbClr val="172B4D"/>
                          </a:solidFill>
                          <a:effectLst/>
                        </a:rPr>
                        <a:t>HBM </a:t>
                      </a:r>
                      <a:r>
                        <a:rPr lang="ko-KR" altLang="en-US" sz="1100">
                          <a:solidFill>
                            <a:srgbClr val="172B4D"/>
                          </a:solidFill>
                          <a:effectLst/>
                        </a:rPr>
                        <a:t>요구를 </a:t>
                      </a:r>
                      <a:r>
                        <a:rPr lang="en-US" altLang="ko-KR" sz="1100">
                          <a:solidFill>
                            <a:srgbClr val="172B4D"/>
                          </a:solidFill>
                          <a:effectLst/>
                        </a:rPr>
                        <a:t>UBF</a:t>
                      </a:r>
                      <a:r>
                        <a:rPr lang="ko-KR" altLang="en-US" sz="1100">
                          <a:solidFill>
                            <a:srgbClr val="172B4D"/>
                          </a:solidFill>
                          <a:effectLst/>
                        </a:rPr>
                        <a:t>로 대체하는 신규 시장 진입</a:t>
                      </a:r>
                      <a:endParaRPr lang="ko-KR" altLang="en-US" sz="1100">
                        <a:effectLst/>
                      </a:endParaRPr>
                    </a:p>
                    <a:p>
                      <a:pPr algn="l" fontAlgn="t">
                        <a:buFont typeface="Arial" panose="020B0604020202020204" pitchFamily="34" charset="0"/>
                        <a:buChar char="•"/>
                      </a:pPr>
                      <a:r>
                        <a:rPr lang="en-US" altLang="ko-KR" sz="1100">
                          <a:solidFill>
                            <a:srgbClr val="172B4D"/>
                          </a:solidFill>
                          <a:effectLst/>
                        </a:rPr>
                        <a:t>HBM → UBF </a:t>
                      </a:r>
                      <a:r>
                        <a:rPr lang="ko-KR" altLang="en-US" sz="1100">
                          <a:solidFill>
                            <a:srgbClr val="172B4D"/>
                          </a:solidFill>
                          <a:effectLst/>
                        </a:rPr>
                        <a:t>적용시 </a:t>
                      </a:r>
                      <a:r>
                        <a:rPr lang="en-US" altLang="ko-KR" sz="1100">
                          <a:solidFill>
                            <a:srgbClr val="172B4D"/>
                          </a:solidFill>
                          <a:effectLst/>
                        </a:rPr>
                        <a:t>System Level</a:t>
                      </a:r>
                      <a:r>
                        <a:rPr lang="ko-KR" altLang="en-US" sz="1100">
                          <a:solidFill>
                            <a:srgbClr val="172B4D"/>
                          </a:solidFill>
                          <a:effectLst/>
                        </a:rPr>
                        <a:t>의 변경 최소화 위한 기술 경쟁력 확보</a:t>
                      </a:r>
                      <a:endParaRPr lang="ko-KR" altLang="en-US" sz="1100">
                        <a:effectLst/>
                      </a:endParaRPr>
                    </a:p>
                  </a:txBody>
                  <a:tcPr marL="56190" marR="56190" marT="39333" marB="39333">
                    <a:lnL w="9525" cap="flat" cmpd="sng" algn="ctr">
                      <a:solidFill>
                        <a:srgbClr val="30BC75"/>
                      </a:solidFill>
                      <a:prstDash val="solid"/>
                      <a:round/>
                      <a:headEnd type="none" w="med" len="med"/>
                      <a:tailEnd type="none" w="med" len="med"/>
                    </a:lnL>
                    <a:lnR w="9525" cap="flat" cmpd="sng" algn="ctr">
                      <a:solidFill>
                        <a:srgbClr val="30BC75"/>
                      </a:solidFill>
                      <a:prstDash val="solid"/>
                      <a:round/>
                      <a:headEnd type="none" w="med" len="med"/>
                      <a:tailEnd type="none" w="med" len="med"/>
                    </a:lnR>
                    <a:lnT w="9525" cap="flat" cmpd="sng" algn="ctr">
                      <a:solidFill>
                        <a:srgbClr val="30BC75"/>
                      </a:solidFill>
                      <a:prstDash val="solid"/>
                      <a:round/>
                      <a:headEnd type="none" w="med" len="med"/>
                      <a:tailEnd type="none" w="med" len="med"/>
                    </a:lnT>
                    <a:lnB w="9525" cap="flat" cmpd="sng" algn="ctr">
                      <a:solidFill>
                        <a:srgbClr val="70B675"/>
                      </a:solidFill>
                      <a:prstDash val="solid"/>
                      <a:round/>
                      <a:headEnd type="none" w="med" len="med"/>
                      <a:tailEnd type="none" w="med" len="med"/>
                    </a:lnB>
                  </a:tcPr>
                </a:tc>
                <a:extLst>
                  <a:ext uri="{0D108BD9-81ED-4DB2-BD59-A6C34878D82A}">
                    <a16:rowId xmlns:a16="http://schemas.microsoft.com/office/drawing/2014/main" val="332680995"/>
                  </a:ext>
                </a:extLst>
              </a:tr>
              <a:tr h="564146">
                <a:tc>
                  <a:txBody>
                    <a:bodyPr/>
                    <a:lstStyle/>
                    <a:p>
                      <a:pPr algn="ctr" fontAlgn="t"/>
                      <a:r>
                        <a:rPr lang="ko-KR" altLang="en-US" sz="1100">
                          <a:effectLst/>
                        </a:rPr>
                        <a:t>달성 전략</a:t>
                      </a:r>
                    </a:p>
                  </a:txBody>
                  <a:tcPr marL="56190" marR="56190" marT="39333" marB="39333">
                    <a:lnL w="9525" cap="flat" cmpd="sng" algn="ctr">
                      <a:solidFill>
                        <a:srgbClr val="30B675"/>
                      </a:solidFill>
                      <a:prstDash val="solid"/>
                      <a:round/>
                      <a:headEnd type="none" w="med" len="med"/>
                      <a:tailEnd type="none" w="med" len="med"/>
                    </a:lnL>
                    <a:lnR w="9525" cap="flat" cmpd="sng" algn="ctr">
                      <a:solidFill>
                        <a:srgbClr val="70B675"/>
                      </a:solidFill>
                      <a:prstDash val="solid"/>
                      <a:round/>
                      <a:headEnd type="none" w="med" len="med"/>
                      <a:tailEnd type="none" w="med" len="med"/>
                    </a:lnR>
                    <a:lnT w="9525" cap="flat" cmpd="sng" algn="ctr">
                      <a:solidFill>
                        <a:srgbClr val="30B675"/>
                      </a:solidFill>
                      <a:prstDash val="solid"/>
                      <a:round/>
                      <a:headEnd type="none" w="med" len="med"/>
                      <a:tailEnd type="none" w="med" len="med"/>
                    </a:lnT>
                    <a:lnB w="9525" cap="flat" cmpd="sng" algn="ctr">
                      <a:solidFill>
                        <a:srgbClr val="70C575"/>
                      </a:solidFill>
                      <a:prstDash val="solid"/>
                      <a:round/>
                      <a:headEnd type="none" w="med" len="med"/>
                      <a:tailEnd type="none" w="med" len="med"/>
                    </a:lnB>
                    <a:solidFill>
                      <a:srgbClr val="F1F2F4"/>
                    </a:solidFill>
                  </a:tcPr>
                </a:tc>
                <a:tc>
                  <a:txBody>
                    <a:bodyPr/>
                    <a:lstStyle/>
                    <a:p>
                      <a:pPr algn="l" fontAlgn="t">
                        <a:buFont typeface="Arial" panose="020B0604020202020204" pitchFamily="34" charset="0"/>
                        <a:buChar char="•"/>
                      </a:pPr>
                      <a:r>
                        <a:rPr lang="en-US" sz="1100">
                          <a:solidFill>
                            <a:srgbClr val="172B4D"/>
                          </a:solidFill>
                          <a:effectLst/>
                        </a:rPr>
                        <a:t>UBF/zHBM/CMX </a:t>
                      </a:r>
                      <a:r>
                        <a:rPr lang="ko-KR" altLang="en-US" sz="1100">
                          <a:solidFill>
                            <a:srgbClr val="172B4D"/>
                          </a:solidFill>
                          <a:effectLst/>
                        </a:rPr>
                        <a:t>등 경쟁 제품 </a:t>
                      </a:r>
                      <a:r>
                        <a:rPr lang="en-US" sz="1100">
                          <a:solidFill>
                            <a:srgbClr val="172B4D"/>
                          </a:solidFill>
                          <a:effectLst/>
                        </a:rPr>
                        <a:t>Architecture </a:t>
                      </a:r>
                      <a:r>
                        <a:rPr lang="ko-KR" altLang="en-US" sz="1100">
                          <a:solidFill>
                            <a:srgbClr val="172B4D"/>
                          </a:solidFill>
                          <a:effectLst/>
                        </a:rPr>
                        <a:t>분석</a:t>
                      </a:r>
                      <a:endParaRPr lang="ko-KR" altLang="en-US" sz="1100">
                        <a:effectLst/>
                      </a:endParaRPr>
                    </a:p>
                    <a:p>
                      <a:pPr algn="l" fontAlgn="t">
                        <a:buFont typeface="Arial" panose="020B0604020202020204" pitchFamily="34" charset="0"/>
                        <a:buChar char="•"/>
                      </a:pPr>
                      <a:r>
                        <a:rPr lang="en-US" sz="1100">
                          <a:solidFill>
                            <a:srgbClr val="172B4D"/>
                          </a:solidFill>
                          <a:effectLst/>
                        </a:rPr>
                        <a:t>NAND Flash </a:t>
                      </a:r>
                      <a:r>
                        <a:rPr lang="ko-KR" altLang="en-US" sz="1100">
                          <a:solidFill>
                            <a:srgbClr val="172B4D"/>
                          </a:solidFill>
                          <a:effectLst/>
                        </a:rPr>
                        <a:t>특성</a:t>
                      </a:r>
                      <a:r>
                        <a:rPr lang="en-US" altLang="ko-KR" sz="1100">
                          <a:solidFill>
                            <a:srgbClr val="172B4D"/>
                          </a:solidFill>
                          <a:effectLst/>
                        </a:rPr>
                        <a:t>(</a:t>
                      </a:r>
                      <a:r>
                        <a:rPr lang="ko-KR" altLang="en-US" sz="1100">
                          <a:solidFill>
                            <a:srgbClr val="172B4D"/>
                          </a:solidFill>
                          <a:effectLst/>
                        </a:rPr>
                        <a:t>신뢰성</a:t>
                      </a:r>
                      <a:r>
                        <a:rPr lang="en-US" altLang="ko-KR" sz="1100">
                          <a:solidFill>
                            <a:srgbClr val="172B4D"/>
                          </a:solidFill>
                          <a:effectLst/>
                        </a:rPr>
                        <a:t>/</a:t>
                      </a:r>
                      <a:r>
                        <a:rPr lang="ko-KR" altLang="en-US" sz="1100">
                          <a:solidFill>
                            <a:srgbClr val="172B4D"/>
                          </a:solidFill>
                          <a:effectLst/>
                        </a:rPr>
                        <a:t>수명</a:t>
                      </a:r>
                      <a:r>
                        <a:rPr lang="en-US" altLang="ko-KR" sz="1100">
                          <a:solidFill>
                            <a:srgbClr val="172B4D"/>
                          </a:solidFill>
                          <a:effectLst/>
                        </a:rPr>
                        <a:t>) </a:t>
                      </a:r>
                      <a:r>
                        <a:rPr lang="ko-KR" altLang="en-US" sz="1100">
                          <a:solidFill>
                            <a:srgbClr val="172B4D"/>
                          </a:solidFill>
                          <a:effectLst/>
                        </a:rPr>
                        <a:t>극복을 위한 </a:t>
                      </a:r>
                      <a:r>
                        <a:rPr lang="en-US" sz="1100">
                          <a:solidFill>
                            <a:srgbClr val="172B4D"/>
                          </a:solidFill>
                          <a:effectLst/>
                        </a:rPr>
                        <a:t>System Workload </a:t>
                      </a:r>
                      <a:r>
                        <a:rPr lang="ko-KR" altLang="en-US" sz="1100">
                          <a:solidFill>
                            <a:srgbClr val="172B4D"/>
                          </a:solidFill>
                          <a:effectLst/>
                        </a:rPr>
                        <a:t>분석</a:t>
                      </a:r>
                      <a:endParaRPr lang="ko-KR" altLang="en-US" sz="1100">
                        <a:effectLst/>
                      </a:endParaRPr>
                    </a:p>
                  </a:txBody>
                  <a:tcPr marL="56190" marR="56190" marT="39333" marB="39333">
                    <a:lnL w="9525" cap="flat" cmpd="sng" algn="ctr">
                      <a:solidFill>
                        <a:srgbClr val="70B675"/>
                      </a:solidFill>
                      <a:prstDash val="solid"/>
                      <a:round/>
                      <a:headEnd type="none" w="med" len="med"/>
                      <a:tailEnd type="none" w="med" len="med"/>
                    </a:lnL>
                    <a:lnR w="9525" cap="flat" cmpd="sng" algn="ctr">
                      <a:solidFill>
                        <a:srgbClr val="70B675"/>
                      </a:solidFill>
                      <a:prstDash val="solid"/>
                      <a:round/>
                      <a:headEnd type="none" w="med" len="med"/>
                      <a:tailEnd type="none" w="med" len="med"/>
                    </a:lnR>
                    <a:lnT w="9525" cap="flat" cmpd="sng" algn="ctr">
                      <a:solidFill>
                        <a:srgbClr val="70B675"/>
                      </a:solidFill>
                      <a:prstDash val="solid"/>
                      <a:round/>
                      <a:headEnd type="none" w="med" len="med"/>
                      <a:tailEnd type="none" w="med" len="med"/>
                    </a:lnT>
                    <a:lnB w="9525" cap="flat" cmpd="sng" algn="ctr">
                      <a:solidFill>
                        <a:srgbClr val="B0C675"/>
                      </a:solidFill>
                      <a:prstDash val="solid"/>
                      <a:round/>
                      <a:headEnd type="none" w="med" len="med"/>
                      <a:tailEnd type="none" w="med" len="med"/>
                    </a:lnB>
                  </a:tcPr>
                </a:tc>
                <a:extLst>
                  <a:ext uri="{0D108BD9-81ED-4DB2-BD59-A6C34878D82A}">
                    <a16:rowId xmlns:a16="http://schemas.microsoft.com/office/drawing/2014/main" val="3468962939"/>
                  </a:ext>
                </a:extLst>
              </a:tr>
              <a:tr h="725972">
                <a:tc>
                  <a:txBody>
                    <a:bodyPr/>
                    <a:lstStyle/>
                    <a:p>
                      <a:pPr algn="ctr" fontAlgn="t"/>
                      <a:r>
                        <a:rPr lang="ko-KR" altLang="en-US" sz="1100">
                          <a:effectLst/>
                        </a:rPr>
                        <a:t>현재 수준 및 주요 이슈</a:t>
                      </a:r>
                      <a:br>
                        <a:rPr lang="ko-KR" altLang="en-US" sz="1100">
                          <a:effectLst/>
                        </a:rPr>
                      </a:br>
                      <a:r>
                        <a:rPr lang="en-US" altLang="ko-KR" sz="1100">
                          <a:effectLst/>
                        </a:rPr>
                        <a:t>('26.9</a:t>
                      </a:r>
                      <a:r>
                        <a:rPr lang="ko-KR" altLang="en-US" sz="1100">
                          <a:effectLst/>
                        </a:rPr>
                        <a:t>월 기준</a:t>
                      </a:r>
                      <a:r>
                        <a:rPr lang="en-US" altLang="ko-KR" sz="1100">
                          <a:effectLst/>
                        </a:rPr>
                        <a:t>)</a:t>
                      </a:r>
                    </a:p>
                  </a:txBody>
                  <a:tcPr marL="56190" marR="56190" marT="39333" marB="39333">
                    <a:lnL w="9525" cap="flat" cmpd="sng" algn="ctr">
                      <a:solidFill>
                        <a:srgbClr val="70C575"/>
                      </a:solidFill>
                      <a:prstDash val="solid"/>
                      <a:round/>
                      <a:headEnd type="none" w="med" len="med"/>
                      <a:tailEnd type="none" w="med" len="med"/>
                    </a:lnL>
                    <a:lnR w="9525" cap="flat" cmpd="sng" algn="ctr">
                      <a:solidFill>
                        <a:srgbClr val="B0C675"/>
                      </a:solidFill>
                      <a:prstDash val="solid"/>
                      <a:round/>
                      <a:headEnd type="none" w="med" len="med"/>
                      <a:tailEnd type="none" w="med" len="med"/>
                    </a:lnR>
                    <a:lnT w="9525" cap="flat" cmpd="sng" algn="ctr">
                      <a:solidFill>
                        <a:srgbClr val="70C575"/>
                      </a:solidFill>
                      <a:prstDash val="solid"/>
                      <a:round/>
                      <a:headEnd type="none" w="med" len="med"/>
                      <a:tailEnd type="none" w="med" len="med"/>
                    </a:lnT>
                    <a:lnB w="9525" cap="flat" cmpd="sng" algn="ctr">
                      <a:solidFill>
                        <a:srgbClr val="70C575"/>
                      </a:solidFill>
                      <a:prstDash val="solid"/>
                      <a:round/>
                      <a:headEnd type="none" w="med" len="med"/>
                      <a:tailEnd type="none" w="med" len="med"/>
                    </a:lnB>
                    <a:solidFill>
                      <a:srgbClr val="F1F2F4"/>
                    </a:solidFill>
                  </a:tcPr>
                </a:tc>
                <a:tc>
                  <a:txBody>
                    <a:bodyPr/>
                    <a:lstStyle/>
                    <a:p>
                      <a:pPr algn="l" fontAlgn="t">
                        <a:buFont typeface="Arial" panose="020B0604020202020204" pitchFamily="34" charset="0"/>
                        <a:buChar char="•"/>
                      </a:pPr>
                      <a:r>
                        <a:rPr lang="en-US" altLang="ko-KR" sz="1100" dirty="0">
                          <a:effectLst/>
                        </a:rPr>
                        <a:t>HBM4/4E </a:t>
                      </a:r>
                      <a:r>
                        <a:rPr lang="ko-KR" altLang="en-US" sz="1100" dirty="0">
                          <a:effectLst/>
                        </a:rPr>
                        <a:t>급 </a:t>
                      </a:r>
                      <a:r>
                        <a:rPr lang="en-US" altLang="ko-KR" sz="1100" dirty="0">
                          <a:effectLst/>
                        </a:rPr>
                        <a:t>BW </a:t>
                      </a:r>
                      <a:r>
                        <a:rPr lang="ko-KR" altLang="en-US" sz="1100" dirty="0">
                          <a:effectLst/>
                        </a:rPr>
                        <a:t>제공 가능한 </a:t>
                      </a:r>
                      <a:r>
                        <a:rPr lang="en-US" altLang="ko-KR" sz="1100" dirty="0">
                          <a:effectLst/>
                        </a:rPr>
                        <a:t>UBF Core Die </a:t>
                      </a:r>
                      <a:r>
                        <a:rPr lang="ko-KR" altLang="en-US" sz="1100" dirty="0">
                          <a:effectLst/>
                        </a:rPr>
                        <a:t>개념 설계 중</a:t>
                      </a:r>
                    </a:p>
                    <a:p>
                      <a:pPr algn="l" fontAlgn="t">
                        <a:buFont typeface="Arial" panose="020B0604020202020204" pitchFamily="34" charset="0"/>
                        <a:buChar char="•"/>
                      </a:pPr>
                      <a:r>
                        <a:rPr lang="en-US" altLang="ko-KR" sz="1100" dirty="0" err="1">
                          <a:effectLst/>
                        </a:rPr>
                        <a:t>zHBM</a:t>
                      </a:r>
                      <a:r>
                        <a:rPr lang="en-US" altLang="ko-KR" sz="1100" dirty="0">
                          <a:effectLst/>
                        </a:rPr>
                        <a:t>, KV$ Offloading </a:t>
                      </a:r>
                      <a:r>
                        <a:rPr lang="ko-KR" altLang="en-US" sz="1100" dirty="0">
                          <a:effectLst/>
                        </a:rPr>
                        <a:t>등으로 인한 </a:t>
                      </a:r>
                      <a:r>
                        <a:rPr lang="en-US" altLang="ko-KR" sz="1100" dirty="0">
                          <a:effectLst/>
                        </a:rPr>
                        <a:t>AI System </a:t>
                      </a:r>
                      <a:r>
                        <a:rPr lang="ko-KR" altLang="en-US" sz="1100" dirty="0">
                          <a:effectLst/>
                        </a:rPr>
                        <a:t>요구사항 변화</a:t>
                      </a:r>
                    </a:p>
                  </a:txBody>
                  <a:tcPr marL="56190" marR="56190" marT="39333" marB="39333">
                    <a:lnL w="9525" cap="flat" cmpd="sng" algn="ctr">
                      <a:solidFill>
                        <a:srgbClr val="B0C675"/>
                      </a:solidFill>
                      <a:prstDash val="solid"/>
                      <a:round/>
                      <a:headEnd type="none" w="med" len="med"/>
                      <a:tailEnd type="none" w="med" len="med"/>
                    </a:lnL>
                    <a:lnR w="9525" cap="flat" cmpd="sng" algn="ctr">
                      <a:solidFill>
                        <a:srgbClr val="B0C675"/>
                      </a:solidFill>
                      <a:prstDash val="solid"/>
                      <a:round/>
                      <a:headEnd type="none" w="med" len="med"/>
                      <a:tailEnd type="none" w="med" len="med"/>
                    </a:lnR>
                    <a:lnT w="9525" cap="flat" cmpd="sng" algn="ctr">
                      <a:solidFill>
                        <a:srgbClr val="B0C675"/>
                      </a:solidFill>
                      <a:prstDash val="solid"/>
                      <a:round/>
                      <a:headEnd type="none" w="med" len="med"/>
                      <a:tailEnd type="none" w="med" len="med"/>
                    </a:lnT>
                    <a:lnB w="9525" cap="flat" cmpd="sng" algn="ctr">
                      <a:solidFill>
                        <a:srgbClr val="B0C675"/>
                      </a:solidFill>
                      <a:prstDash val="solid"/>
                      <a:round/>
                      <a:headEnd type="none" w="med" len="med"/>
                      <a:tailEnd type="none" w="med" len="med"/>
                    </a:lnB>
                  </a:tcPr>
                </a:tc>
                <a:extLst>
                  <a:ext uri="{0D108BD9-81ED-4DB2-BD59-A6C34878D82A}">
                    <a16:rowId xmlns:a16="http://schemas.microsoft.com/office/drawing/2014/main" val="1579545026"/>
                  </a:ext>
                </a:extLst>
              </a:tr>
            </a:tbl>
          </a:graphicData>
        </a:graphic>
      </p:graphicFrame>
      <p:sp>
        <p:nvSpPr>
          <p:cNvPr id="4" name="Rectangle 1"/>
          <p:cNvSpPr>
            <a:spLocks noChangeArrowheads="1"/>
          </p:cNvSpPr>
          <p:nvPr/>
        </p:nvSpPr>
        <p:spPr bwMode="auto">
          <a:xfrm>
            <a:off x="933450" y="856511"/>
            <a:ext cx="1120500" cy="2308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500" b="1" i="0" u="none" strike="noStrike" cap="none" normalizeH="0" baseline="0" dirty="0">
                <a:ln>
                  <a:noFill/>
                </a:ln>
                <a:solidFill>
                  <a:srgbClr val="172B4D"/>
                </a:solidFill>
                <a:effectLst/>
                <a:latin typeface="Arial" panose="020B0604020202020204" pitchFamily="34" charset="0"/>
                <a:ea typeface="-apple-system"/>
              </a:rPr>
              <a:t>▶ </a:t>
            </a:r>
            <a:r>
              <a:rPr kumimoji="0" lang="ko-KR" altLang="ko-KR" sz="1500" b="1" i="0" u="none" strike="noStrike" cap="none" normalizeH="0" baseline="0" dirty="0" err="1">
                <a:ln>
                  <a:noFill/>
                </a:ln>
                <a:solidFill>
                  <a:srgbClr val="172B4D"/>
                </a:solidFill>
                <a:effectLst/>
                <a:latin typeface="Arial" panose="020B0604020202020204" pitchFamily="34" charset="0"/>
                <a:ea typeface="-apple-system"/>
              </a:rPr>
              <a:t>Summary</a:t>
            </a:r>
            <a:endParaRPr kumimoji="0" lang="ko-KR" altLang="ko-KR" sz="1000" b="0" i="0" u="none" strike="noStrike" cap="none" normalizeH="0" baseline="0" dirty="0">
              <a:ln>
                <a:noFill/>
              </a:ln>
              <a:solidFill>
                <a:srgbClr val="172B4D"/>
              </a:solidFill>
              <a:effectLst/>
              <a:latin typeface="Arial" panose="020B0604020202020204" pitchFamily="34" charset="0"/>
              <a:ea typeface="-apple-system"/>
            </a:endParaRPr>
          </a:p>
        </p:txBody>
      </p:sp>
      <p:sp>
        <p:nvSpPr>
          <p:cNvPr id="5" name="AutoShape 2" descr="(파란별)"/>
          <p:cNvSpPr>
            <a:spLocks noChangeAspect="1" noChangeArrowheads="1"/>
          </p:cNvSpPr>
          <p:nvPr/>
        </p:nvSpPr>
        <p:spPr bwMode="auto">
          <a:xfrm>
            <a:off x="933450" y="1248728"/>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6" name="실행 단추: 뒤로 또는 이전 5">
            <a:hlinkClick r:id="rId3" action="ppaction://hlinksldjump" highlightClick="1"/>
          </p:cNvPr>
          <p:cNvSpPr/>
          <p:nvPr/>
        </p:nvSpPr>
        <p:spPr>
          <a:xfrm>
            <a:off x="7551683" y="175106"/>
            <a:ext cx="339250" cy="28967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1273055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solidFill>
                  <a:srgbClr val="262626"/>
                </a:solidFill>
                <a:ea typeface="맑은 고딕"/>
              </a:rPr>
              <a:t>요구사항 분석 </a:t>
            </a:r>
            <a:r>
              <a:rPr lang="en-US" altLang="ko-KR" dirty="0">
                <a:solidFill>
                  <a:srgbClr val="262626"/>
                </a:solidFill>
                <a:ea typeface="맑은 고딕"/>
              </a:rPr>
              <a:t>– </a:t>
            </a:r>
            <a:r>
              <a:rPr lang="ko-KR" altLang="en-US" dirty="0">
                <a:solidFill>
                  <a:srgbClr val="262626"/>
                </a:solidFill>
                <a:ea typeface="맑은 고딕"/>
              </a:rPr>
              <a:t>요구사항 도출 과정 상세</a:t>
            </a:r>
            <a:endParaRPr lang="ko-KR" altLang="en-US" dirty="0"/>
          </a:p>
        </p:txBody>
      </p:sp>
      <p:sp>
        <p:nvSpPr>
          <p:cNvPr id="3" name="Rectangle 12"/>
          <p:cNvSpPr/>
          <p:nvPr/>
        </p:nvSpPr>
        <p:spPr>
          <a:xfrm>
            <a:off x="274320" y="694944"/>
            <a:ext cx="11658600" cy="274320"/>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4" name="TextBox 3"/>
          <p:cNvSpPr txBox="1"/>
          <p:nvPr/>
        </p:nvSpPr>
        <p:spPr>
          <a:xfrm>
            <a:off x="365760" y="694944"/>
            <a:ext cx="1280160" cy="274320"/>
          </a:xfrm>
          <a:prstGeom prst="rect">
            <a:avLst/>
          </a:prstGeom>
          <a:noFill/>
        </p:spPr>
        <p:txBody>
          <a:bodyPr wrap="square" lIns="0" tIns="0" rIns="0" bIns="0" anchor="ctr">
            <a:spAutoFit/>
          </a:bodyPr>
          <a:lstStyle/>
          <a:p>
            <a:pPr algn="l"/>
            <a:r>
              <a:rPr sz="950" b="1" i="0">
                <a:solidFill>
                  <a:srgbClr val="595959"/>
                </a:solidFill>
                <a:latin typeface="맑은 고딕"/>
                <a:ea typeface="맑은 고딕"/>
              </a:rPr>
              <a:t>제품</a:t>
            </a:r>
          </a:p>
        </p:txBody>
      </p:sp>
      <p:sp>
        <p:nvSpPr>
          <p:cNvPr id="5" name="TextBox 4"/>
          <p:cNvSpPr txBox="1"/>
          <p:nvPr/>
        </p:nvSpPr>
        <p:spPr>
          <a:xfrm>
            <a:off x="1737360" y="694944"/>
            <a:ext cx="3017520" cy="274320"/>
          </a:xfrm>
          <a:prstGeom prst="rect">
            <a:avLst/>
          </a:prstGeom>
          <a:noFill/>
        </p:spPr>
        <p:txBody>
          <a:bodyPr wrap="square" lIns="0" tIns="0" rIns="0" bIns="0" anchor="ctr">
            <a:spAutoFit/>
          </a:bodyPr>
          <a:lstStyle/>
          <a:p>
            <a:pPr algn="l"/>
            <a:r>
              <a:rPr sz="950" b="1" i="0">
                <a:solidFill>
                  <a:srgbClr val="595959"/>
                </a:solidFill>
                <a:latin typeface="맑은 고딕"/>
                <a:ea typeface="맑은 고딕"/>
              </a:rPr>
              <a:t>요구사항 출처 (Stakeholder)</a:t>
            </a:r>
          </a:p>
        </p:txBody>
      </p:sp>
      <p:sp>
        <p:nvSpPr>
          <p:cNvPr id="6" name="TextBox 5"/>
          <p:cNvSpPr txBox="1"/>
          <p:nvPr/>
        </p:nvSpPr>
        <p:spPr>
          <a:xfrm>
            <a:off x="4846320" y="694944"/>
            <a:ext cx="7178040" cy="274320"/>
          </a:xfrm>
          <a:prstGeom prst="rect">
            <a:avLst/>
          </a:prstGeom>
          <a:noFill/>
        </p:spPr>
        <p:txBody>
          <a:bodyPr wrap="square" lIns="0" tIns="0" rIns="0" bIns="0" anchor="ctr">
            <a:spAutoFit/>
          </a:bodyPr>
          <a:lstStyle/>
          <a:p>
            <a:pPr algn="l"/>
            <a:r>
              <a:rPr sz="950" b="1" i="0">
                <a:solidFill>
                  <a:srgbClr val="595959"/>
                </a:solidFill>
                <a:latin typeface="맑은 고딕"/>
                <a:ea typeface="맑은 고딕"/>
              </a:rPr>
              <a:t>도출된 요구사항</a:t>
            </a:r>
          </a:p>
        </p:txBody>
      </p:sp>
      <p:sp>
        <p:nvSpPr>
          <p:cNvPr id="7" name="Rectangle 16"/>
          <p:cNvSpPr/>
          <p:nvPr/>
        </p:nvSpPr>
        <p:spPr>
          <a:xfrm>
            <a:off x="274320" y="1024128"/>
            <a:ext cx="128016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1200" b="1" i="0">
                <a:solidFill>
                  <a:srgbClr val="262626"/>
                </a:solidFill>
                <a:latin typeface="맑은 고딕"/>
                <a:ea typeface="맑은 고딕"/>
              </a:rPr>
              <a:t>PIM</a:t>
            </a:r>
          </a:p>
        </p:txBody>
      </p:sp>
      <p:sp>
        <p:nvSpPr>
          <p:cNvPr id="8" name="Rectangle 17"/>
          <p:cNvSpPr/>
          <p:nvPr/>
        </p:nvSpPr>
        <p:spPr>
          <a:xfrm>
            <a:off x="274320" y="1024128"/>
            <a:ext cx="41148" cy="658368"/>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9" name="TextBox 8"/>
          <p:cNvSpPr txBox="1"/>
          <p:nvPr/>
        </p:nvSpPr>
        <p:spPr>
          <a:xfrm>
            <a:off x="1737360" y="1024128"/>
            <a:ext cx="2889503" cy="658368"/>
          </a:xfrm>
          <a:prstGeom prst="rect">
            <a:avLst/>
          </a:prstGeom>
          <a:noFill/>
        </p:spPr>
        <p:txBody>
          <a:bodyPr wrap="square" lIns="0" tIns="0" rIns="0" bIns="0" anchor="ctr">
            <a:spAutoFit/>
          </a:bodyPr>
          <a:lstStyle/>
          <a:p>
            <a:pPr algn="l"/>
            <a:r>
              <a:rPr sz="950" b="0" i="0">
                <a:solidFill>
                  <a:srgbClr val="595959"/>
                </a:solidFill>
                <a:latin typeface="맑은 고딕"/>
                <a:ea typeface="맑은 고딕"/>
              </a:rPr>
              <a:t>SAIT-메모리 DRAM 설계팀 기술 교류회</a:t>
            </a:r>
          </a:p>
        </p:txBody>
      </p:sp>
      <p:sp>
        <p:nvSpPr>
          <p:cNvPr id="10" name="Rectangle 19"/>
          <p:cNvSpPr/>
          <p:nvPr/>
        </p:nvSpPr>
        <p:spPr>
          <a:xfrm>
            <a:off x="4791456" y="1078992"/>
            <a:ext cx="475488" cy="2194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9C4210"/>
                </a:solidFill>
                <a:latin typeface="맑은 고딕"/>
                <a:ea typeface="맑은 고딕"/>
              </a:rPr>
              <a:t>응용</a:t>
            </a:r>
          </a:p>
        </p:txBody>
      </p:sp>
      <p:sp>
        <p:nvSpPr>
          <p:cNvPr id="11" name="TextBox 10"/>
          <p:cNvSpPr txBox="1"/>
          <p:nvPr/>
        </p:nvSpPr>
        <p:spPr>
          <a:xfrm>
            <a:off x="5358384" y="1024128"/>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PIM의 활용성을 높이는 AI 응용 발굴</a:t>
            </a:r>
          </a:p>
        </p:txBody>
      </p:sp>
      <p:sp>
        <p:nvSpPr>
          <p:cNvPr id="12" name="Rectangle 21"/>
          <p:cNvSpPr/>
          <p:nvPr/>
        </p:nvSpPr>
        <p:spPr>
          <a:xfrm>
            <a:off x="4791456" y="1408176"/>
            <a:ext cx="475488" cy="219456"/>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1F4E79"/>
                </a:solidFill>
                <a:latin typeface="맑은 고딕"/>
                <a:ea typeface="맑은 고딕"/>
              </a:rPr>
              <a:t>SW</a:t>
            </a:r>
          </a:p>
        </p:txBody>
      </p:sp>
      <p:sp>
        <p:nvSpPr>
          <p:cNvPr id="13" name="TextBox 12"/>
          <p:cNvSpPr txBox="1"/>
          <p:nvPr/>
        </p:nvSpPr>
        <p:spPr>
          <a:xfrm>
            <a:off x="5358384" y="1353312"/>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당사 제품의 Reference가 되는 SW 스택 마련</a:t>
            </a:r>
          </a:p>
        </p:txBody>
      </p:sp>
      <p:sp>
        <p:nvSpPr>
          <p:cNvPr id="14" name="Rectangle 23"/>
          <p:cNvSpPr/>
          <p:nvPr/>
        </p:nvSpPr>
        <p:spPr>
          <a:xfrm>
            <a:off x="1645920" y="1682495"/>
            <a:ext cx="10287000" cy="7315"/>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15" name="Rectangle 24"/>
          <p:cNvSpPr/>
          <p:nvPr/>
        </p:nvSpPr>
        <p:spPr>
          <a:xfrm>
            <a:off x="274320" y="1724558"/>
            <a:ext cx="1165860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16" name="Rectangle 25"/>
          <p:cNvSpPr/>
          <p:nvPr/>
        </p:nvSpPr>
        <p:spPr>
          <a:xfrm>
            <a:off x="274320" y="1773936"/>
            <a:ext cx="128016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1200" b="1" i="0">
                <a:solidFill>
                  <a:srgbClr val="262626"/>
                </a:solidFill>
                <a:latin typeface="맑은 고딕"/>
                <a:ea typeface="맑은 고딕"/>
              </a:rPr>
              <a:t>CXL-PNM</a:t>
            </a:r>
          </a:p>
        </p:txBody>
      </p:sp>
      <p:sp>
        <p:nvSpPr>
          <p:cNvPr id="17" name="Rectangle 26"/>
          <p:cNvSpPr/>
          <p:nvPr/>
        </p:nvSpPr>
        <p:spPr>
          <a:xfrm>
            <a:off x="274320" y="1773936"/>
            <a:ext cx="41148" cy="658368"/>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18" name="TextBox 17"/>
          <p:cNvSpPr txBox="1"/>
          <p:nvPr/>
        </p:nvSpPr>
        <p:spPr>
          <a:xfrm>
            <a:off x="1737360" y="1773936"/>
            <a:ext cx="2889503" cy="658368"/>
          </a:xfrm>
          <a:prstGeom prst="rect">
            <a:avLst/>
          </a:prstGeom>
          <a:noFill/>
        </p:spPr>
        <p:txBody>
          <a:bodyPr wrap="square" lIns="0" tIns="0" rIns="0" bIns="0" anchor="ctr">
            <a:spAutoFit/>
          </a:bodyPr>
          <a:lstStyle/>
          <a:p>
            <a:pPr algn="l"/>
            <a:r>
              <a:rPr sz="950" b="0" i="0">
                <a:solidFill>
                  <a:srgbClr val="595959"/>
                </a:solidFill>
                <a:latin typeface="맑은 고딕"/>
                <a:ea typeface="맑은 고딕"/>
              </a:rPr>
              <a:t>SAIT-메모리 솔루션 개발팀 기술 교류회</a:t>
            </a:r>
          </a:p>
        </p:txBody>
      </p:sp>
      <p:sp>
        <p:nvSpPr>
          <p:cNvPr id="19" name="Rectangle 28"/>
          <p:cNvSpPr/>
          <p:nvPr/>
        </p:nvSpPr>
        <p:spPr>
          <a:xfrm>
            <a:off x="4791456" y="1828800"/>
            <a:ext cx="475488" cy="2194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9C4210"/>
                </a:solidFill>
                <a:latin typeface="맑은 고딕"/>
                <a:ea typeface="맑은 고딕"/>
              </a:rPr>
              <a:t>응용</a:t>
            </a:r>
          </a:p>
        </p:txBody>
      </p:sp>
      <p:sp>
        <p:nvSpPr>
          <p:cNvPr id="20" name="TextBox 19"/>
          <p:cNvSpPr txBox="1"/>
          <p:nvPr/>
        </p:nvSpPr>
        <p:spPr>
          <a:xfrm>
            <a:off x="5358384" y="1773936"/>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AI 응용에서 CXL-PNM의 효용성 검증</a:t>
            </a:r>
          </a:p>
        </p:txBody>
      </p:sp>
      <p:sp>
        <p:nvSpPr>
          <p:cNvPr id="21" name="Rectangle 30"/>
          <p:cNvSpPr/>
          <p:nvPr/>
        </p:nvSpPr>
        <p:spPr>
          <a:xfrm>
            <a:off x="4791456" y="2157984"/>
            <a:ext cx="475488" cy="2194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9C4210"/>
                </a:solidFill>
                <a:latin typeface="맑은 고딕"/>
                <a:ea typeface="맑은 고딕"/>
              </a:rPr>
              <a:t>응용</a:t>
            </a:r>
          </a:p>
        </p:txBody>
      </p:sp>
      <p:sp>
        <p:nvSpPr>
          <p:cNvPr id="22" name="TextBox 21"/>
          <p:cNvSpPr txBox="1"/>
          <p:nvPr/>
        </p:nvSpPr>
        <p:spPr>
          <a:xfrm>
            <a:off x="5358384" y="2103120"/>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CXL-PNM을 최적 활용할 수 있는 추가 AI 응용 발굴</a:t>
            </a:r>
          </a:p>
        </p:txBody>
      </p:sp>
      <p:sp>
        <p:nvSpPr>
          <p:cNvPr id="23" name="Rectangle 32"/>
          <p:cNvSpPr/>
          <p:nvPr/>
        </p:nvSpPr>
        <p:spPr>
          <a:xfrm>
            <a:off x="274320" y="2474366"/>
            <a:ext cx="1165860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24" name="Rectangle 33"/>
          <p:cNvSpPr/>
          <p:nvPr/>
        </p:nvSpPr>
        <p:spPr>
          <a:xfrm>
            <a:off x="274320" y="2523744"/>
            <a:ext cx="1280160" cy="9875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1200" b="1" i="0">
                <a:solidFill>
                  <a:srgbClr val="262626"/>
                </a:solidFill>
                <a:latin typeface="맑은 고딕"/>
                <a:ea typeface="맑은 고딕"/>
              </a:rPr>
              <a:t>ScHBM</a:t>
            </a:r>
          </a:p>
        </p:txBody>
      </p:sp>
      <p:sp>
        <p:nvSpPr>
          <p:cNvPr id="25" name="Rectangle 34"/>
          <p:cNvSpPr/>
          <p:nvPr/>
        </p:nvSpPr>
        <p:spPr>
          <a:xfrm>
            <a:off x="274320" y="2523744"/>
            <a:ext cx="41148" cy="9875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26" name="TextBox 25"/>
          <p:cNvSpPr txBox="1"/>
          <p:nvPr/>
        </p:nvSpPr>
        <p:spPr>
          <a:xfrm>
            <a:off x="1737360" y="2523744"/>
            <a:ext cx="2889503" cy="329184"/>
          </a:xfrm>
          <a:prstGeom prst="rect">
            <a:avLst/>
          </a:prstGeom>
          <a:noFill/>
        </p:spPr>
        <p:txBody>
          <a:bodyPr wrap="square" lIns="0" tIns="0" rIns="0" bIns="0" anchor="ctr">
            <a:spAutoFit/>
          </a:bodyPr>
          <a:lstStyle/>
          <a:p>
            <a:pPr algn="l"/>
            <a:r>
              <a:rPr sz="950" b="0" i="0">
                <a:solidFill>
                  <a:srgbClr val="595959"/>
                </a:solidFill>
                <a:latin typeface="맑은 고딕"/>
                <a:ea typeface="맑은 고딕"/>
              </a:rPr>
              <a:t>AI 반도체 협의체 (경영진)</a:t>
            </a:r>
          </a:p>
        </p:txBody>
      </p:sp>
      <p:sp>
        <p:nvSpPr>
          <p:cNvPr id="27" name="Rectangle 36"/>
          <p:cNvSpPr/>
          <p:nvPr/>
        </p:nvSpPr>
        <p:spPr>
          <a:xfrm>
            <a:off x="4791456" y="2578608"/>
            <a:ext cx="475488" cy="219456"/>
          </a:xfrm>
          <a:prstGeom prst="rect">
            <a:avLst/>
          </a:prstGeom>
          <a:solidFill>
            <a:srgbClr val="EDEDED"/>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808080"/>
                </a:solidFill>
                <a:latin typeface="맑은 고딕"/>
                <a:ea typeface="맑은 고딕"/>
              </a:rPr>
              <a:t>배경</a:t>
            </a:r>
          </a:p>
        </p:txBody>
      </p:sp>
      <p:sp>
        <p:nvSpPr>
          <p:cNvPr id="28" name="TextBox 27"/>
          <p:cNvSpPr txBox="1"/>
          <p:nvPr/>
        </p:nvSpPr>
        <p:spPr>
          <a:xfrm>
            <a:off x="5358384" y="2523744"/>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Custom HBM / Samsung Custom HBM 개발 방향성 결정</a:t>
            </a:r>
          </a:p>
        </p:txBody>
      </p:sp>
      <p:sp>
        <p:nvSpPr>
          <p:cNvPr id="29" name="Rectangle 38"/>
          <p:cNvSpPr/>
          <p:nvPr/>
        </p:nvSpPr>
        <p:spPr>
          <a:xfrm>
            <a:off x="1645920" y="2852928"/>
            <a:ext cx="10287000" cy="7315"/>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30" name="TextBox 29"/>
          <p:cNvSpPr txBox="1"/>
          <p:nvPr/>
        </p:nvSpPr>
        <p:spPr>
          <a:xfrm>
            <a:off x="1737360" y="2852928"/>
            <a:ext cx="2889503" cy="329184"/>
          </a:xfrm>
          <a:prstGeom prst="rect">
            <a:avLst/>
          </a:prstGeom>
          <a:noFill/>
        </p:spPr>
        <p:txBody>
          <a:bodyPr wrap="square" lIns="0" tIns="0" rIns="0" bIns="0" anchor="ctr">
            <a:spAutoFit/>
          </a:bodyPr>
          <a:lstStyle/>
          <a:p>
            <a:pPr algn="l"/>
            <a:r>
              <a:rPr sz="950" b="0" i="0">
                <a:solidFill>
                  <a:srgbClr val="595959"/>
                </a:solidFill>
                <a:latin typeface="맑은 고딕"/>
                <a:ea typeface="맑은 고딕"/>
              </a:rPr>
              <a:t>SAIT System Architecture 그룹</a:t>
            </a:r>
          </a:p>
        </p:txBody>
      </p:sp>
      <p:sp>
        <p:nvSpPr>
          <p:cNvPr id="31" name="Rectangle 40"/>
          <p:cNvSpPr/>
          <p:nvPr/>
        </p:nvSpPr>
        <p:spPr>
          <a:xfrm>
            <a:off x="4791456" y="2907792"/>
            <a:ext cx="475488" cy="219456"/>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1F4E79"/>
                </a:solidFill>
                <a:latin typeface="맑은 고딕"/>
                <a:ea typeface="맑은 고딕"/>
              </a:rPr>
              <a:t>SW</a:t>
            </a:r>
          </a:p>
        </p:txBody>
      </p:sp>
      <p:sp>
        <p:nvSpPr>
          <p:cNvPr id="32" name="TextBox 31"/>
          <p:cNvSpPr txBox="1"/>
          <p:nvPr/>
        </p:nvSpPr>
        <p:spPr>
          <a:xfrm>
            <a:off x="5358384" y="2852928"/>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ScHBM으로 구성 가능한 System 구조 탐색</a:t>
            </a:r>
          </a:p>
        </p:txBody>
      </p:sp>
      <p:sp>
        <p:nvSpPr>
          <p:cNvPr id="33" name="Rectangle 42"/>
          <p:cNvSpPr/>
          <p:nvPr/>
        </p:nvSpPr>
        <p:spPr>
          <a:xfrm>
            <a:off x="1645920" y="3182112"/>
            <a:ext cx="10287000" cy="7315"/>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34" name="TextBox 33"/>
          <p:cNvSpPr txBox="1"/>
          <p:nvPr/>
        </p:nvSpPr>
        <p:spPr>
          <a:xfrm>
            <a:off x="1737360" y="3182112"/>
            <a:ext cx="2889503" cy="329184"/>
          </a:xfrm>
          <a:prstGeom prst="rect">
            <a:avLst/>
          </a:prstGeom>
          <a:noFill/>
        </p:spPr>
        <p:txBody>
          <a:bodyPr wrap="square" lIns="0" tIns="0" rIns="0" bIns="0" anchor="ctr">
            <a:spAutoFit/>
          </a:bodyPr>
          <a:lstStyle/>
          <a:p>
            <a:pPr algn="l"/>
            <a:r>
              <a:rPr sz="950" b="0" i="0">
                <a:solidFill>
                  <a:srgbClr val="595959"/>
                </a:solidFill>
                <a:latin typeface="맑은 고딕"/>
                <a:ea typeface="맑은 고딕"/>
              </a:rPr>
              <a:t>SAIT 런타임 과제</a:t>
            </a:r>
          </a:p>
        </p:txBody>
      </p:sp>
      <p:sp>
        <p:nvSpPr>
          <p:cNvPr id="35" name="Rectangle 44"/>
          <p:cNvSpPr/>
          <p:nvPr/>
        </p:nvSpPr>
        <p:spPr>
          <a:xfrm>
            <a:off x="4791456" y="3236976"/>
            <a:ext cx="475488" cy="219456"/>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1F4E79"/>
                </a:solidFill>
                <a:latin typeface="맑은 고딕"/>
                <a:ea typeface="맑은 고딕"/>
              </a:rPr>
              <a:t>SW</a:t>
            </a:r>
          </a:p>
        </p:txBody>
      </p:sp>
      <p:sp>
        <p:nvSpPr>
          <p:cNvPr id="36" name="TextBox 35"/>
          <p:cNvSpPr txBox="1"/>
          <p:nvPr/>
        </p:nvSpPr>
        <p:spPr>
          <a:xfrm>
            <a:off x="5358384" y="3182112"/>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해당 시스템에서 동작할 수 있는 런타임 설계</a:t>
            </a:r>
          </a:p>
        </p:txBody>
      </p:sp>
      <p:sp>
        <p:nvSpPr>
          <p:cNvPr id="37" name="Rectangle 46"/>
          <p:cNvSpPr/>
          <p:nvPr/>
        </p:nvSpPr>
        <p:spPr>
          <a:xfrm>
            <a:off x="1645920" y="3511296"/>
            <a:ext cx="10287000" cy="7315"/>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38" name="Rectangle 47"/>
          <p:cNvSpPr/>
          <p:nvPr/>
        </p:nvSpPr>
        <p:spPr>
          <a:xfrm>
            <a:off x="274320" y="3553358"/>
            <a:ext cx="1165860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39" name="Rectangle 48"/>
          <p:cNvSpPr/>
          <p:nvPr/>
        </p:nvSpPr>
        <p:spPr>
          <a:xfrm>
            <a:off x="274320" y="3602736"/>
            <a:ext cx="128016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1200" b="1" i="0" dirty="0">
                <a:solidFill>
                  <a:srgbClr val="262626"/>
                </a:solidFill>
                <a:latin typeface="맑은 고딕"/>
                <a:ea typeface="맑은 고딕"/>
              </a:rPr>
              <a:t>HBF</a:t>
            </a:r>
          </a:p>
        </p:txBody>
      </p:sp>
      <p:sp>
        <p:nvSpPr>
          <p:cNvPr id="40" name="Rectangle 49"/>
          <p:cNvSpPr/>
          <p:nvPr/>
        </p:nvSpPr>
        <p:spPr>
          <a:xfrm>
            <a:off x="274320" y="3602736"/>
            <a:ext cx="41148" cy="658368"/>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41" name="TextBox 40"/>
          <p:cNvSpPr txBox="1"/>
          <p:nvPr/>
        </p:nvSpPr>
        <p:spPr>
          <a:xfrm>
            <a:off x="1737360" y="3602736"/>
            <a:ext cx="2889503" cy="658368"/>
          </a:xfrm>
          <a:prstGeom prst="rect">
            <a:avLst/>
          </a:prstGeom>
          <a:noFill/>
        </p:spPr>
        <p:txBody>
          <a:bodyPr wrap="square" lIns="0" tIns="0" rIns="0" bIns="0" anchor="ctr">
            <a:spAutoFit/>
          </a:bodyPr>
          <a:lstStyle/>
          <a:p>
            <a:pPr algn="l"/>
            <a:r>
              <a:rPr sz="950" b="0" i="0">
                <a:solidFill>
                  <a:srgbClr val="595959"/>
                </a:solidFill>
                <a:latin typeface="맑은 고딕"/>
                <a:ea typeface="맑은 고딕"/>
              </a:rPr>
              <a:t>SAIT-Flash 설계팀 기술 교류회</a:t>
            </a:r>
          </a:p>
        </p:txBody>
      </p:sp>
      <p:sp>
        <p:nvSpPr>
          <p:cNvPr id="42" name="Rectangle 51"/>
          <p:cNvSpPr/>
          <p:nvPr/>
        </p:nvSpPr>
        <p:spPr>
          <a:xfrm>
            <a:off x="4791456" y="3657600"/>
            <a:ext cx="475488" cy="2194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9C4210"/>
                </a:solidFill>
                <a:latin typeface="맑은 고딕"/>
                <a:ea typeface="맑은 고딕"/>
              </a:rPr>
              <a:t>응용</a:t>
            </a:r>
          </a:p>
        </p:txBody>
      </p:sp>
      <p:sp>
        <p:nvSpPr>
          <p:cNvPr id="43" name="TextBox 42"/>
          <p:cNvSpPr txBox="1"/>
          <p:nvPr/>
        </p:nvSpPr>
        <p:spPr>
          <a:xfrm>
            <a:off x="5358384" y="3602736"/>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AI 응용에서 HBF의 효용성 검증</a:t>
            </a:r>
          </a:p>
        </p:txBody>
      </p:sp>
      <p:sp>
        <p:nvSpPr>
          <p:cNvPr id="44" name="Rectangle 53"/>
          <p:cNvSpPr/>
          <p:nvPr/>
        </p:nvSpPr>
        <p:spPr>
          <a:xfrm>
            <a:off x="4791456" y="3986784"/>
            <a:ext cx="475488" cy="2194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9C4210"/>
                </a:solidFill>
                <a:latin typeface="맑은 고딕"/>
                <a:ea typeface="맑은 고딕"/>
              </a:rPr>
              <a:t>응용</a:t>
            </a:r>
          </a:p>
        </p:txBody>
      </p:sp>
      <p:sp>
        <p:nvSpPr>
          <p:cNvPr id="45" name="TextBox 44"/>
          <p:cNvSpPr txBox="1"/>
          <p:nvPr/>
        </p:nvSpPr>
        <p:spPr>
          <a:xfrm>
            <a:off x="5358384" y="3931920"/>
            <a:ext cx="6537959" cy="329184"/>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HBF를 활용할 수 있는 추가 AI 응용 발굴</a:t>
            </a:r>
          </a:p>
        </p:txBody>
      </p:sp>
      <p:sp>
        <p:nvSpPr>
          <p:cNvPr id="46" name="Rectangle 55"/>
          <p:cNvSpPr/>
          <p:nvPr/>
        </p:nvSpPr>
        <p:spPr>
          <a:xfrm>
            <a:off x="274320" y="4498848"/>
            <a:ext cx="11658600" cy="1078992"/>
          </a:xfrm>
          <a:prstGeom prst="rect">
            <a:avLst/>
          </a:prstGeom>
          <a:solidFill>
            <a:srgbClr val="F7F9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endParaRPr/>
          </a:p>
        </p:txBody>
      </p:sp>
      <p:sp>
        <p:nvSpPr>
          <p:cNvPr id="47" name="TextBox 46"/>
          <p:cNvSpPr txBox="1"/>
          <p:nvPr/>
        </p:nvSpPr>
        <p:spPr>
          <a:xfrm>
            <a:off x="438912" y="4572000"/>
            <a:ext cx="7315200" cy="237744"/>
          </a:xfrm>
          <a:prstGeom prst="rect">
            <a:avLst/>
          </a:prstGeom>
          <a:noFill/>
        </p:spPr>
        <p:txBody>
          <a:bodyPr wrap="square" lIns="0" tIns="0" rIns="0" bIns="0" anchor="ctr">
            <a:spAutoFit/>
          </a:bodyPr>
          <a:lstStyle/>
          <a:p>
            <a:pPr algn="l"/>
            <a:r>
              <a:rPr sz="1100" b="1" i="0">
                <a:solidFill>
                  <a:srgbClr val="1F4E79"/>
                </a:solidFill>
                <a:latin typeface="맑은 고딕"/>
                <a:ea typeface="맑은 고딕"/>
              </a:rPr>
              <a:t>공통 수렴점 — 4개 제품의 요구사항이 동일한 두 축으로 귀결</a:t>
            </a:r>
          </a:p>
        </p:txBody>
      </p:sp>
      <p:sp>
        <p:nvSpPr>
          <p:cNvPr id="48" name="Rectangle 57"/>
          <p:cNvSpPr/>
          <p:nvPr/>
        </p:nvSpPr>
        <p:spPr>
          <a:xfrm>
            <a:off x="438912" y="4901184"/>
            <a:ext cx="475488" cy="2194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9C4210"/>
                </a:solidFill>
                <a:latin typeface="맑은 고딕"/>
                <a:ea typeface="맑은 고딕"/>
              </a:rPr>
              <a:t>응용</a:t>
            </a:r>
          </a:p>
        </p:txBody>
      </p:sp>
      <p:sp>
        <p:nvSpPr>
          <p:cNvPr id="49" name="TextBox 48"/>
          <p:cNvSpPr txBox="1"/>
          <p:nvPr/>
        </p:nvSpPr>
        <p:spPr>
          <a:xfrm>
            <a:off x="987552" y="4864608"/>
            <a:ext cx="4988052" cy="292608"/>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당사 메모리의 효용을 입증·극대화할 AI 응용 발굴 및 검증</a:t>
            </a:r>
          </a:p>
        </p:txBody>
      </p:sp>
      <p:sp>
        <p:nvSpPr>
          <p:cNvPr id="50" name="Rectangle 59"/>
          <p:cNvSpPr/>
          <p:nvPr/>
        </p:nvSpPr>
        <p:spPr>
          <a:xfrm>
            <a:off x="6103620" y="4901184"/>
            <a:ext cx="475488" cy="219456"/>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lnSpc>
                <a:spcPct val="95000"/>
              </a:lnSpc>
            </a:pPr>
            <a:r>
              <a:rPr sz="850" b="1" i="0">
                <a:solidFill>
                  <a:srgbClr val="1F4E79"/>
                </a:solidFill>
                <a:latin typeface="맑은 고딕"/>
                <a:ea typeface="맑은 고딕"/>
              </a:rPr>
              <a:t>SW</a:t>
            </a:r>
          </a:p>
        </p:txBody>
      </p:sp>
      <p:sp>
        <p:nvSpPr>
          <p:cNvPr id="51" name="TextBox 50"/>
          <p:cNvSpPr txBox="1"/>
          <p:nvPr/>
        </p:nvSpPr>
        <p:spPr>
          <a:xfrm>
            <a:off x="6652260" y="4864608"/>
            <a:ext cx="4988052" cy="292608"/>
          </a:xfrm>
          <a:prstGeom prst="rect">
            <a:avLst/>
          </a:prstGeom>
          <a:noFill/>
        </p:spPr>
        <p:txBody>
          <a:bodyPr wrap="square" lIns="0" tIns="0" rIns="0" bIns="0" anchor="ctr">
            <a:spAutoFit/>
          </a:bodyPr>
          <a:lstStyle/>
          <a:p>
            <a:pPr algn="l"/>
            <a:r>
              <a:rPr sz="1050" b="0" i="0">
                <a:solidFill>
                  <a:srgbClr val="404040"/>
                </a:solidFill>
                <a:latin typeface="맑은 고딕"/>
                <a:ea typeface="맑은 고딕"/>
              </a:rPr>
              <a:t>그 응용이 실제 동작하는 Reference SW 스택 · 런타임 확보</a:t>
            </a:r>
          </a:p>
        </p:txBody>
      </p:sp>
      <p:sp>
        <p:nvSpPr>
          <p:cNvPr id="52" name="TextBox 51"/>
          <p:cNvSpPr txBox="1"/>
          <p:nvPr/>
        </p:nvSpPr>
        <p:spPr>
          <a:xfrm>
            <a:off x="438912" y="5248656"/>
            <a:ext cx="11338560" cy="256032"/>
          </a:xfrm>
          <a:prstGeom prst="rect">
            <a:avLst/>
          </a:prstGeom>
          <a:noFill/>
        </p:spPr>
        <p:txBody>
          <a:bodyPr wrap="square" lIns="0" tIns="0" rIns="0" bIns="0" anchor="ctr">
            <a:spAutoFit/>
          </a:bodyPr>
          <a:lstStyle/>
          <a:p>
            <a:pPr algn="l"/>
            <a:r>
              <a:rPr sz="1100" b="1" i="0">
                <a:solidFill>
                  <a:srgbClr val="1F6FB5"/>
                </a:solidFill>
                <a:latin typeface="맑은 고딕"/>
                <a:ea typeface="맑은 고딕"/>
              </a:rPr>
              <a:t>→  두 축 모두 응용 특성과 메모리 특성을 함께 보는 SW 없이는 달성 불가</a:t>
            </a:r>
          </a:p>
        </p:txBody>
      </p:sp>
      <p:sp>
        <p:nvSpPr>
          <p:cNvPr id="53" name="TextBox 52"/>
          <p:cNvSpPr txBox="1"/>
          <p:nvPr/>
        </p:nvSpPr>
        <p:spPr>
          <a:xfrm>
            <a:off x="274320" y="5779007"/>
            <a:ext cx="11658600" cy="512064"/>
          </a:xfrm>
          <a:prstGeom prst="rect">
            <a:avLst/>
          </a:prstGeom>
          <a:noFill/>
        </p:spPr>
        <p:txBody>
          <a:bodyPr wrap="square" lIns="0" tIns="0" rIns="0" bIns="0" anchor="ctr">
            <a:spAutoFit/>
          </a:bodyPr>
          <a:lstStyle/>
          <a:p>
            <a:pPr algn="ctr"/>
            <a:r>
              <a:rPr sz="1650" b="1" i="0">
                <a:solidFill>
                  <a:srgbClr val="0070C0"/>
                </a:solidFill>
                <a:latin typeface="맑은 고딕"/>
                <a:ea typeface="맑은 고딕"/>
              </a:rPr>
              <a:t>당사 메모리를 활용하여 AI 응용을 최적화할 수 있는 SW 연구 개발 필요</a:t>
            </a:r>
          </a:p>
        </p:txBody>
      </p:sp>
    </p:spTree>
    <p:extLst>
      <p:ext uri="{BB962C8B-B14F-4D97-AF65-F5344CB8AC3E}">
        <p14:creationId xmlns:p14="http://schemas.microsoft.com/office/powerpoint/2010/main" val="40645366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 Case 도출 – Use-case Diagram</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20</a:t>
            </a:r>
          </a:p>
        </p:txBody>
      </p:sp>
      <p:sp>
        <p:nvSpPr>
          <p:cNvPr id="4" name="Rectangle 3"/>
          <p:cNvSpPr/>
          <p:nvPr/>
        </p:nvSpPr>
        <p:spPr>
          <a:xfrm>
            <a:off x="274320" y="685800"/>
            <a:ext cx="1170432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Memory-Centric Runtime Framework의 Use-case diagram (Actor는 Context View 기준)</a:t>
            </a:r>
          </a:p>
        </p:txBody>
      </p:sp>
      <p:sp>
        <p:nvSpPr>
          <p:cNvPr id="5" name="Rectangle 4"/>
          <p:cNvSpPr/>
          <p:nvPr/>
        </p:nvSpPr>
        <p:spPr>
          <a:xfrm>
            <a:off x="2834640" y="1097280"/>
            <a:ext cx="6492240" cy="5349240"/>
          </a:xfrm>
          <a:prstGeom prst="rect">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834640" y="1115568"/>
            <a:ext cx="6492240" cy="274320"/>
          </a:xfrm>
          <a:prstGeom prst="rect">
            <a:avLst/>
          </a:prstGeom>
          <a:noFill/>
        </p:spPr>
        <p:txBody>
          <a:bodyPr wrap="square" lIns="36576" tIns="18288" rIns="36576" bIns="18288" anchor="t">
            <a:spAutoFit/>
          </a:bodyPr>
          <a:lstStyle/>
          <a:p>
            <a:pPr algn="ctr">
              <a:spcAft>
                <a:spcPts val="0"/>
              </a:spcAft>
            </a:pPr>
            <a:r>
              <a:rPr sz="900" b="1" i="0">
                <a:solidFill>
                  <a:srgbClr val="000000"/>
                </a:solidFill>
                <a:latin typeface="맑은 고딕"/>
                <a:ea typeface="맑은 고딕"/>
                <a:cs typeface="맑은 고딕"/>
              </a:rPr>
              <a:t>&lt;&lt;System&gt;&gt; Memory-Centric Runtime Framework</a:t>
            </a:r>
          </a:p>
        </p:txBody>
      </p:sp>
      <p:sp>
        <p:nvSpPr>
          <p:cNvPr id="7" name="Oval 6"/>
          <p:cNvSpPr/>
          <p:nvPr/>
        </p:nvSpPr>
        <p:spPr>
          <a:xfrm>
            <a:off x="1289304" y="219456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371600" y="2359152"/>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34440" y="2450591"/>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261872" y="25786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71600" y="25786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1520" y="2779776"/>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AI Application /</a:t>
            </a:r>
          </a:p>
          <a:p>
            <a:pPr algn="ctr">
              <a:spcAft>
                <a:spcPts val="0"/>
              </a:spcAft>
            </a:pPr>
            <a:r>
              <a:rPr sz="800" b="1" i="0">
                <a:solidFill>
                  <a:srgbClr val="000000"/>
                </a:solidFill>
                <a:latin typeface="맑은 고딕"/>
                <a:ea typeface="맑은 고딕"/>
                <a:cs typeface="맑은 고딕"/>
              </a:rPr>
              <a:t>Agent Framework</a:t>
            </a:r>
          </a:p>
          <a:p>
            <a:pPr algn="ctr">
              <a:spcAft>
                <a:spcPts val="0"/>
              </a:spcAft>
            </a:pPr>
            <a:r>
              <a:rPr sz="800" b="1" i="0">
                <a:solidFill>
                  <a:srgbClr val="000000"/>
                </a:solidFill>
                <a:latin typeface="맑은 고딕"/>
                <a:ea typeface="맑은 고딕"/>
                <a:cs typeface="맑은 고딕"/>
              </a:rPr>
              <a:t>(사용자)</a:t>
            </a:r>
          </a:p>
        </p:txBody>
      </p:sp>
      <p:sp>
        <p:nvSpPr>
          <p:cNvPr id="13" name="Oval 12"/>
          <p:cNvSpPr/>
          <p:nvPr/>
        </p:nvSpPr>
        <p:spPr>
          <a:xfrm>
            <a:off x="1289304" y="475488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371600" y="4919472"/>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34440" y="5010912"/>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261872" y="513892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 y="513892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31520" y="5340096"/>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시스템 제공자</a:t>
            </a:r>
          </a:p>
        </p:txBody>
      </p:sp>
      <p:sp>
        <p:nvSpPr>
          <p:cNvPr id="19" name="Oval 18"/>
          <p:cNvSpPr/>
          <p:nvPr/>
        </p:nvSpPr>
        <p:spPr>
          <a:xfrm>
            <a:off x="10616184" y="448056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10698480" y="4645152"/>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561319" y="4736592"/>
            <a:ext cx="274321"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0588752" y="48646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98480" y="4864608"/>
            <a:ext cx="109727"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058400" y="5065776"/>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서비스 제공자</a:t>
            </a:r>
          </a:p>
        </p:txBody>
      </p:sp>
      <p:sp>
        <p:nvSpPr>
          <p:cNvPr id="25" name="Oval 24"/>
          <p:cNvSpPr/>
          <p:nvPr/>
        </p:nvSpPr>
        <p:spPr>
          <a:xfrm>
            <a:off x="10616184" y="557784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a:off x="10698480" y="5742431"/>
            <a:ext cx="0" cy="219457"/>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561319" y="5833872"/>
            <a:ext cx="274321"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0588752" y="59618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698480" y="5961888"/>
            <a:ext cx="109727"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58400" y="6163055"/>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Device 제공자</a:t>
            </a:r>
          </a:p>
        </p:txBody>
      </p:sp>
      <p:sp>
        <p:nvSpPr>
          <p:cNvPr id="31" name="Oval 30"/>
          <p:cNvSpPr/>
          <p:nvPr/>
        </p:nvSpPr>
        <p:spPr>
          <a:xfrm>
            <a:off x="3429000" y="2491739"/>
            <a:ext cx="2103120" cy="594360"/>
          </a:xfrm>
          <a:prstGeom prst="ellipse">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UC01 LLM 추론 요청</a:t>
            </a:r>
          </a:p>
          <a:p>
            <a:pPr algn="ctr">
              <a:spcAft>
                <a:spcPts val="0"/>
              </a:spcAft>
            </a:pPr>
            <a:r>
              <a:rPr sz="750" b="1" i="0">
                <a:solidFill>
                  <a:srgbClr val="000000"/>
                </a:solidFill>
                <a:latin typeface="맑은 고딕"/>
                <a:ea typeface="맑은 고딕"/>
                <a:cs typeface="맑은 고딕"/>
              </a:rPr>
              <a:t>(스트리밍 응답)</a:t>
            </a:r>
          </a:p>
        </p:txBody>
      </p:sp>
      <p:sp>
        <p:nvSpPr>
          <p:cNvPr id="32" name="Oval 31"/>
          <p:cNvSpPr/>
          <p:nvPr/>
        </p:nvSpPr>
        <p:spPr>
          <a:xfrm>
            <a:off x="6812280" y="1440180"/>
            <a:ext cx="1920240" cy="50292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UC02 멀티턴·Agent</a:t>
            </a:r>
          </a:p>
          <a:p>
            <a:pPr algn="ctr">
              <a:spcAft>
                <a:spcPts val="0"/>
              </a:spcAft>
            </a:pPr>
            <a:r>
              <a:rPr sz="750" b="1" i="0">
                <a:solidFill>
                  <a:srgbClr val="000000"/>
                </a:solidFill>
                <a:latin typeface="맑은 고딕"/>
                <a:ea typeface="맑은 고딕"/>
                <a:cs typeface="맑은 고딕"/>
              </a:rPr>
              <a:t>세션 이어가기</a:t>
            </a:r>
          </a:p>
        </p:txBody>
      </p:sp>
      <p:sp>
        <p:nvSpPr>
          <p:cNvPr id="33" name="Oval 32"/>
          <p:cNvSpPr/>
          <p:nvPr/>
        </p:nvSpPr>
        <p:spPr>
          <a:xfrm>
            <a:off x="6812280" y="2171700"/>
            <a:ext cx="1920240" cy="50292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UC03 장문·RAG</a:t>
            </a:r>
          </a:p>
          <a:p>
            <a:pPr algn="ctr">
              <a:spcAft>
                <a:spcPts val="0"/>
              </a:spcAft>
            </a:pPr>
            <a:r>
              <a:rPr sz="750" b="1" i="0">
                <a:solidFill>
                  <a:srgbClr val="000000"/>
                </a:solidFill>
                <a:latin typeface="맑은 고딕"/>
                <a:ea typeface="맑은 고딕"/>
                <a:cs typeface="맑은 고딕"/>
              </a:rPr>
              <a:t>컨텍스트 요청</a:t>
            </a:r>
          </a:p>
        </p:txBody>
      </p:sp>
      <p:sp>
        <p:nvSpPr>
          <p:cNvPr id="34" name="Oval 33"/>
          <p:cNvSpPr/>
          <p:nvPr/>
        </p:nvSpPr>
        <p:spPr>
          <a:xfrm>
            <a:off x="6812280" y="2903220"/>
            <a:ext cx="1920240" cy="50292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UC04 요청 취소·중단</a:t>
            </a:r>
          </a:p>
        </p:txBody>
      </p:sp>
      <p:sp>
        <p:nvSpPr>
          <p:cNvPr id="35" name="Oval 34"/>
          <p:cNvSpPr/>
          <p:nvPr/>
        </p:nvSpPr>
        <p:spPr>
          <a:xfrm>
            <a:off x="6812280" y="3634740"/>
            <a:ext cx="1920240" cy="50292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UC05 다중 서버에서</a:t>
            </a:r>
          </a:p>
          <a:p>
            <a:pPr algn="ctr">
              <a:spcAft>
                <a:spcPts val="0"/>
              </a:spcAft>
            </a:pPr>
            <a:r>
              <a:rPr sz="750" b="1" i="0">
                <a:solidFill>
                  <a:srgbClr val="000000"/>
                </a:solidFill>
                <a:latin typeface="맑은 고딕"/>
                <a:ea typeface="맑은 고딕"/>
                <a:cs typeface="맑은 고딕"/>
              </a:rPr>
              <a:t>요청 처리</a:t>
            </a:r>
          </a:p>
        </p:txBody>
      </p:sp>
      <p:sp>
        <p:nvSpPr>
          <p:cNvPr id="36" name="Oval 35"/>
          <p:cNvSpPr/>
          <p:nvPr/>
        </p:nvSpPr>
        <p:spPr>
          <a:xfrm>
            <a:off x="6812280" y="4411979"/>
            <a:ext cx="1920240" cy="50292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UC06 SLO·정책·자원 구성</a:t>
            </a:r>
          </a:p>
        </p:txBody>
      </p:sp>
      <p:sp>
        <p:nvSpPr>
          <p:cNvPr id="37" name="Oval 36"/>
          <p:cNvSpPr/>
          <p:nvPr/>
        </p:nvSpPr>
        <p:spPr>
          <a:xfrm>
            <a:off x="6812280" y="5052059"/>
            <a:ext cx="1920240" cy="50292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UC07 상태·성능 모니터링</a:t>
            </a:r>
          </a:p>
        </p:txBody>
      </p:sp>
      <p:sp>
        <p:nvSpPr>
          <p:cNvPr id="38" name="Oval 37"/>
          <p:cNvSpPr/>
          <p:nvPr/>
        </p:nvSpPr>
        <p:spPr>
          <a:xfrm>
            <a:off x="3246120" y="5006340"/>
            <a:ext cx="1920240" cy="50292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UC08 시스템 구성 정보 반영</a:t>
            </a:r>
          </a:p>
        </p:txBody>
      </p:sp>
      <p:sp>
        <p:nvSpPr>
          <p:cNvPr id="39" name="Oval 38"/>
          <p:cNvSpPr/>
          <p:nvPr/>
        </p:nvSpPr>
        <p:spPr>
          <a:xfrm>
            <a:off x="6812280" y="5692140"/>
            <a:ext cx="1920240" cy="50292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50" b="1" i="0">
                <a:solidFill>
                  <a:srgbClr val="000000"/>
                </a:solidFill>
                <a:latin typeface="맑은 고딕"/>
                <a:ea typeface="맑은 고딕"/>
                <a:cs typeface="맑은 고딕"/>
              </a:rPr>
              <a:t>UC09 Device 연동</a:t>
            </a:r>
          </a:p>
        </p:txBody>
      </p:sp>
      <p:cxnSp>
        <p:nvCxnSpPr>
          <p:cNvPr id="40" name="Connector 39"/>
          <p:cNvCxnSpPr/>
          <p:nvPr/>
        </p:nvCxnSpPr>
        <p:spPr>
          <a:xfrm flipH="1">
            <a:off x="5486400" y="1691640"/>
            <a:ext cx="1325880" cy="82296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5486400" y="2423160"/>
            <a:ext cx="1325880" cy="274319"/>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5486400" y="2880360"/>
            <a:ext cx="1325880" cy="27432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5486400" y="3063239"/>
            <a:ext cx="1325880" cy="822961"/>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115507" y="2011680"/>
            <a:ext cx="479145" cy="146304"/>
          </a:xfrm>
          <a:prstGeom prst="rect">
            <a:avLst/>
          </a:prstGeom>
          <a:noFill/>
        </p:spPr>
        <p:txBody>
          <a:bodyPr wrap="none" lIns="0" tIns="18288" rIns="0" bIns="18288" anchor="t">
            <a:spAutoFit/>
          </a:bodyPr>
          <a:lstStyle/>
          <a:p>
            <a:pPr algn="ctr">
              <a:spcAft>
                <a:spcPts val="0"/>
              </a:spcAft>
            </a:pPr>
            <a:r>
              <a:rPr sz="550" b="0" i="1">
                <a:solidFill>
                  <a:srgbClr val="595959"/>
                </a:solidFill>
                <a:latin typeface="맑은 고딕"/>
                <a:ea typeface="맑은 고딕"/>
                <a:cs typeface="맑은 고딕"/>
              </a:rPr>
              <a:t>«extend»</a:t>
            </a:r>
          </a:p>
        </p:txBody>
      </p:sp>
      <p:cxnSp>
        <p:nvCxnSpPr>
          <p:cNvPr id="45" name="Connector 44"/>
          <p:cNvCxnSpPr/>
          <p:nvPr/>
        </p:nvCxnSpPr>
        <p:spPr>
          <a:xfrm>
            <a:off x="1645920" y="2651760"/>
            <a:ext cx="1783080" cy="13716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645920" y="5120640"/>
            <a:ext cx="1554479" cy="13716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8732520" y="4663440"/>
            <a:ext cx="1691640" cy="18288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732520" y="4846320"/>
            <a:ext cx="1691640" cy="45720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732520" y="5943600"/>
            <a:ext cx="1691640"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464040" y="1188720"/>
            <a:ext cx="2560320" cy="2926080"/>
          </a:xfrm>
          <a:prstGeom prst="rect">
            <a:avLst/>
          </a:prstGeom>
          <a:noFill/>
        </p:spPr>
        <p:txBody>
          <a:bodyPr wrap="square" lIns="36576" tIns="18288" rIns="36576" bIns="18288" anchor="t">
            <a:spAutoFit/>
          </a:bodyPr>
          <a:lstStyle/>
          <a:p>
            <a:pPr algn="l">
              <a:spcAft>
                <a:spcPts val="0"/>
              </a:spcAft>
            </a:pPr>
            <a:r>
              <a:rPr sz="800" b="1" i="0" dirty="0">
                <a:solidFill>
                  <a:srgbClr val="000000"/>
                </a:solidFill>
                <a:latin typeface="맑은 고딕"/>
                <a:ea typeface="맑은 고딕"/>
                <a:cs typeface="맑은 고딕"/>
              </a:rPr>
              <a:t>Actor (Context View)</a:t>
            </a:r>
          </a:p>
          <a:p>
            <a:pPr algn="l">
              <a:spcAft>
                <a:spcPts val="0"/>
              </a:spcAft>
            </a:pPr>
            <a:r>
              <a:rPr sz="700" b="0" i="0" dirty="0">
                <a:solidFill>
                  <a:srgbClr val="000000"/>
                </a:solidFill>
                <a:latin typeface="맑은 고딕"/>
                <a:ea typeface="맑은 고딕"/>
                <a:cs typeface="맑은 고딕"/>
              </a:rPr>
              <a:t>• AI Application / Agent Framework(</a:t>
            </a:r>
            <a:r>
              <a:rPr sz="700" b="0" i="0" dirty="0" err="1">
                <a:solidFill>
                  <a:srgbClr val="000000"/>
                </a:solidFill>
                <a:latin typeface="맑은 고딕"/>
                <a:ea typeface="맑은 고딕"/>
                <a:cs typeface="맑은 고딕"/>
              </a:rPr>
              <a:t>사용자</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Query·Context·요청</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ID를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보내고</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생성</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토큰을</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받음</a:t>
            </a:r>
            <a:endParaRPr sz="700" b="0" i="0" dirty="0">
              <a:solidFill>
                <a:srgbClr val="000000"/>
              </a:solidFill>
              <a:latin typeface="맑은 고딕"/>
              <a:ea typeface="맑은 고딕"/>
              <a:cs typeface="맑은 고딕"/>
            </a:endParaRPr>
          </a:p>
          <a:p>
            <a:pPr algn="l">
              <a:spcAft>
                <a:spcPts val="0"/>
              </a:spcAft>
            </a:pP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서비스</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제공자</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SLO·정책·자원</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구성을</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주고</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성능</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지표·Health</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이벤트·오류를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받음</a:t>
            </a:r>
            <a:endParaRPr sz="700" b="0" i="0" dirty="0">
              <a:solidFill>
                <a:srgbClr val="000000"/>
              </a:solidFill>
              <a:latin typeface="맑은 고딕"/>
              <a:ea typeface="맑은 고딕"/>
              <a:cs typeface="맑은 고딕"/>
            </a:endParaRPr>
          </a:p>
          <a:p>
            <a:pPr algn="l">
              <a:spcAft>
                <a:spcPts val="0"/>
              </a:spcAft>
            </a:pP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시스템</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제공자</a:t>
            </a:r>
            <a:r>
              <a:rPr sz="700" b="0" i="0" dirty="0">
                <a:solidFill>
                  <a:srgbClr val="000000"/>
                </a:solidFill>
                <a:latin typeface="맑은 고딕"/>
                <a:ea typeface="맑은 고딕"/>
                <a:cs typeface="맑은 고딕"/>
              </a:rPr>
              <a:t>: Compute/Memory/</a:t>
            </a:r>
            <a:r>
              <a:rPr sz="700" b="0" i="0" dirty="0" err="1">
                <a:solidFill>
                  <a:srgbClr val="000000"/>
                </a:solidFill>
                <a:latin typeface="맑은 고딕"/>
                <a:ea typeface="맑은 고딕"/>
                <a:cs typeface="맑은 고딕"/>
              </a:rPr>
              <a:t>네트워크</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구성</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정보를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주고</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시스템</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구성</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정보를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받음</a:t>
            </a:r>
            <a:endParaRPr sz="700" b="0" i="0" dirty="0">
              <a:solidFill>
                <a:srgbClr val="000000"/>
              </a:solidFill>
              <a:latin typeface="맑은 고딕"/>
              <a:ea typeface="맑은 고딕"/>
              <a:cs typeface="맑은 고딕"/>
            </a:endParaRPr>
          </a:p>
          <a:p>
            <a:pPr algn="l">
              <a:spcAft>
                <a:spcPts val="0"/>
              </a:spcAft>
            </a:pPr>
            <a:r>
              <a:rPr sz="700" b="0" i="0" dirty="0">
                <a:solidFill>
                  <a:srgbClr val="000000"/>
                </a:solidFill>
                <a:latin typeface="맑은 고딕"/>
                <a:ea typeface="맑은 고딕"/>
                <a:cs typeface="맑은 고딕"/>
              </a:rPr>
              <a:t>• Device </a:t>
            </a:r>
            <a:r>
              <a:rPr sz="700" b="0" i="0" dirty="0" err="1">
                <a:solidFill>
                  <a:srgbClr val="000000"/>
                </a:solidFill>
                <a:latin typeface="맑은 고딕"/>
                <a:ea typeface="맑은 고딕"/>
                <a:cs typeface="맑은 고딕"/>
              </a:rPr>
              <a:t>제공자</a:t>
            </a:r>
            <a:r>
              <a:rPr sz="700" b="0" i="0" dirty="0">
                <a:solidFill>
                  <a:srgbClr val="000000"/>
                </a:solidFill>
                <a:latin typeface="맑은 고딕"/>
                <a:ea typeface="맑은 고딕"/>
                <a:cs typeface="맑은 고딕"/>
              </a:rPr>
              <a:t>: Device Runtime/</a:t>
            </a:r>
            <a:r>
              <a:rPr sz="700" b="0" i="0" dirty="0" err="1">
                <a:solidFill>
                  <a:srgbClr val="000000"/>
                </a:solidFill>
                <a:latin typeface="맑은 고딕"/>
                <a:ea typeface="맑은 고딕"/>
                <a:cs typeface="맑은 고딕"/>
              </a:rPr>
              <a:t>Driver·Emulation</a:t>
            </a:r>
            <a:r>
              <a:rPr sz="700" b="0" i="0" dirty="0">
                <a:solidFill>
                  <a:srgbClr val="000000"/>
                </a:solidFill>
                <a:latin typeface="맑은 고딕"/>
                <a:ea typeface="맑은 고딕"/>
                <a:cs typeface="맑은 고딕"/>
              </a:rPr>
              <a:t> API·HW </a:t>
            </a:r>
            <a:r>
              <a:rPr sz="700" b="0" i="0" dirty="0" err="1">
                <a:solidFill>
                  <a:srgbClr val="000000"/>
                </a:solidFill>
                <a:latin typeface="맑은 고딕"/>
                <a:ea typeface="맑은 고딕"/>
                <a:cs typeface="맑은 고딕"/>
              </a:rPr>
              <a:t>스펙을</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제공</a:t>
            </a:r>
            <a:endParaRPr sz="700" b="0" i="0" dirty="0">
              <a:solidFill>
                <a:srgbClr val="000000"/>
              </a:solidFill>
              <a:latin typeface="맑은 고딕"/>
              <a:ea typeface="맑은 고딕"/>
              <a:cs typeface="맑은 고딕"/>
            </a:endParaRPr>
          </a:p>
          <a:p>
            <a:pPr algn="l">
              <a:spcAft>
                <a:spcPts val="0"/>
              </a:spcAft>
            </a:pPr>
            <a:endParaRPr sz="700" b="0" i="0" dirty="0">
              <a:solidFill>
                <a:srgbClr val="000000"/>
              </a:solidFill>
              <a:latin typeface="맑은 고딕"/>
              <a:ea typeface="맑은 고딕"/>
              <a:cs typeface="맑은 고딕"/>
            </a:endParaRPr>
          </a:p>
          <a:p>
            <a:pPr algn="l">
              <a:spcAft>
                <a:spcPts val="0"/>
              </a:spcAft>
            </a:pPr>
            <a:r>
              <a:rPr sz="700" b="0" i="0" dirty="0">
                <a:solidFill>
                  <a:srgbClr val="595959"/>
                </a:solidFill>
                <a:latin typeface="맑은 고딕"/>
                <a:ea typeface="맑은 고딕"/>
                <a:cs typeface="맑은 고딕"/>
              </a:rPr>
              <a:t>UC02~UC05는 UC01(</a:t>
            </a:r>
            <a:r>
              <a:rPr sz="700" b="0" i="0" dirty="0" err="1">
                <a:solidFill>
                  <a:srgbClr val="595959"/>
                </a:solidFill>
                <a:latin typeface="맑은 고딕"/>
                <a:ea typeface="맑은 고딕"/>
                <a:cs typeface="맑은 고딕"/>
              </a:rPr>
              <a:t>기본</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추론</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요청</a:t>
            </a:r>
            <a:r>
              <a:rPr sz="700" b="0" i="0" dirty="0">
                <a:solidFill>
                  <a:srgbClr val="595959"/>
                </a:solidFill>
                <a:latin typeface="맑은 고딕"/>
                <a:ea typeface="맑은 고딕"/>
                <a:cs typeface="맑은 고딕"/>
              </a:rPr>
              <a:t>)이 </a:t>
            </a:r>
            <a:r>
              <a:rPr sz="700" b="0" i="0" dirty="0" err="1">
                <a:solidFill>
                  <a:srgbClr val="595959"/>
                </a:solidFill>
                <a:latin typeface="맑은 고딕"/>
                <a:ea typeface="맑은 고딕"/>
                <a:cs typeface="맑은 고딕"/>
              </a:rPr>
              <a:t>워크로드·환경에</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따라</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확장된</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시나리오</a:t>
            </a:r>
            <a:endParaRPr sz="700" b="0" i="0" dirty="0">
              <a:solidFill>
                <a:srgbClr val="595959"/>
              </a:solidFill>
              <a:latin typeface="맑은 고딕"/>
              <a:ea typeface="맑은 고딕"/>
              <a:cs typeface="맑은 고딕"/>
            </a:endParaRPr>
          </a:p>
        </p:txBody>
      </p:sp>
      <p:sp>
        <p:nvSpPr>
          <p:cNvPr id="51" name="실행 단추: 뒤로 또는 앞으로 이동 50">
            <a:hlinkClick r:id="rId3" action="ppaction://hlinksldjump" highlightClick="1"/>
            <a:extLst>
              <a:ext uri="{FF2B5EF4-FFF2-40B4-BE49-F238E27FC236}">
                <a16:creationId xmlns:a16="http://schemas.microsoft.com/office/drawing/2014/main" id="{9054E460-635E-4355-8891-B74C3D96529A}"/>
              </a:ext>
            </a:extLst>
          </p:cNvPr>
          <p:cNvSpPr/>
          <p:nvPr/>
        </p:nvSpPr>
        <p:spPr>
          <a:xfrm>
            <a:off x="7477125" y="209550"/>
            <a:ext cx="314325" cy="2705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 Case 도출 – UC 목록</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21</a:t>
            </a:r>
          </a:p>
        </p:txBody>
      </p:sp>
      <p:graphicFrame>
        <p:nvGraphicFramePr>
          <p:cNvPr id="4" name="Table 3"/>
          <p:cNvGraphicFramePr>
            <a:graphicFrameLocks noGrp="1"/>
          </p:cNvGraphicFramePr>
          <p:nvPr/>
        </p:nvGraphicFramePr>
        <p:xfrm>
          <a:off x="246888" y="731520"/>
          <a:ext cx="11704320" cy="5230368"/>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576072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292608">
                <a:tc>
                  <a:txBody>
                    <a:bodyPr/>
                    <a:lstStyle/>
                    <a:p>
                      <a:pPr algn="ctr"/>
                      <a:r>
                        <a:rPr sz="850" b="1" i="0">
                          <a:solidFill>
                            <a:srgbClr val="FFFFFF"/>
                          </a:solidFill>
                          <a:latin typeface="맑은 고딕"/>
                          <a:ea typeface="맑은 고딕"/>
                          <a:cs typeface="맑은 고딕"/>
                        </a:rPr>
                        <a:t>UC</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50" b="1" i="0">
                          <a:solidFill>
                            <a:srgbClr val="FFFFFF"/>
                          </a:solidFill>
                          <a:latin typeface="맑은 고딕"/>
                          <a:ea typeface="맑은 고딕"/>
                          <a:cs typeface="맑은 고딕"/>
                        </a:rPr>
                        <a:t>이름</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50" b="1" i="0">
                          <a:solidFill>
                            <a:srgbClr val="FFFFFF"/>
                          </a:solidFill>
                          <a:latin typeface="맑은 고딕"/>
                          <a:ea typeface="맑은 고딕"/>
                          <a:cs typeface="맑은 고딕"/>
                        </a:rPr>
                        <a:t>Actor</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50" b="1" i="0">
                          <a:solidFill>
                            <a:srgbClr val="FFFFFF"/>
                          </a:solidFill>
                          <a:latin typeface="맑은 고딕"/>
                          <a:ea typeface="맑은 고딕"/>
                          <a:cs typeface="맑은 고딕"/>
                        </a:rPr>
                        <a:t>시나리오 (입력 → 출력)</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50" b="1" i="0">
                          <a:solidFill>
                            <a:srgbClr val="FFFFFF"/>
                          </a:solidFill>
                          <a:latin typeface="맑은 고딕"/>
                          <a:ea typeface="맑은 고딕"/>
                          <a:cs typeface="맑은 고딕"/>
                        </a:rPr>
                        <a:t>참고 FR</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548640">
                <a:tc>
                  <a:txBody>
                    <a:bodyPr/>
                    <a:lstStyle/>
                    <a:p>
                      <a:pPr algn="ctr"/>
                      <a:r>
                        <a:rPr sz="850" b="0" i="0">
                          <a:solidFill>
                            <a:srgbClr val="000000"/>
                          </a:solidFill>
                          <a:latin typeface="맑은 고딕"/>
                          <a:ea typeface="맑은 고딕"/>
                          <a:cs typeface="맑은 고딕"/>
                        </a:rPr>
                        <a:t>UC01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LLM 추론 요청</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Query·Context·요청 ID를 보내면 런타임이 요청을 접수·스케줄링해 모델을 실행하고 생성 토큰을 스트리밍으로 돌려준다. 실행 중 KV 캐시를 할당하고 요청이 끝나면 해제한다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FR01~FR04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850" b="0" i="0">
                          <a:solidFill>
                            <a:srgbClr val="000000"/>
                          </a:solidFill>
                          <a:latin typeface="맑은 고딕"/>
                          <a:ea typeface="맑은 고딕"/>
                          <a:cs typeface="맑은 고딕"/>
                        </a:rPr>
                        <a:t>UC02</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멀티턴·Agent 세션 이어가기</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이전 턴 대화와 tool 호출 결과가 붙은 후속 요청을 보낸다. 이전 컨텍스트의 KV 캐시를 재사용해 prefill 비용을 줄이고, tool 응답을 기다리는 동안 세션 상태를 유지한다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FR01,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850" b="0" i="0">
                          <a:solidFill>
                            <a:srgbClr val="000000"/>
                          </a:solidFill>
                          <a:latin typeface="맑은 고딕"/>
                          <a:ea typeface="맑은 고딕"/>
                          <a:cs typeface="맑은 고딕"/>
                        </a:rPr>
                        <a:t>UC03</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장문·RAG 컨텍스트 요청</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수만 토큰 이상의 문서나 검색 결과가 붙은 요청을 보낸다. 긴 컨텍스트의 KV 캐시가 GPU 메모리 용량을 압박해도 요청이 처리되어야 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FR03,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548640">
                <a:tc>
                  <a:txBody>
                    <a:bodyPr/>
                    <a:lstStyle/>
                    <a:p>
                      <a:pPr algn="ctr"/>
                      <a:r>
                        <a:rPr sz="850" b="0" i="0">
                          <a:solidFill>
                            <a:srgbClr val="000000"/>
                          </a:solidFill>
                          <a:latin typeface="맑은 고딕"/>
                          <a:ea typeface="맑은 고딕"/>
                          <a:cs typeface="맑은 고딕"/>
                        </a:rPr>
                        <a:t>UC04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요청 취소·중단</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진행 중인 요청을 취소한다. 런타임은 실행을 멈추고 해당 요청이 쓰던 자원(KV 블록 등)을 회수한다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FR01,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548640">
                <a:tc>
                  <a:txBody>
                    <a:bodyPr/>
                    <a:lstStyle/>
                    <a:p>
                      <a:pPr algn="ctr"/>
                      <a:r>
                        <a:rPr sz="850" b="0" i="0">
                          <a:solidFill>
                            <a:srgbClr val="000000"/>
                          </a:solidFill>
                          <a:latin typeface="맑은 고딕"/>
                          <a:ea typeface="맑은 고딕"/>
                          <a:cs typeface="맑은 고딕"/>
                        </a:rPr>
                        <a:t>UC05</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다중 서버에서 요청 처리</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여러 서버로 구성된 환경에서 요청을 받아 서버 중 하나에서 처리한다. 필요하면 다른 서버에 있는 KV 캐시를 가져와 사용한다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FR02,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548640">
                <a:tc>
                  <a:txBody>
                    <a:bodyPr/>
                    <a:lstStyle/>
                    <a:p>
                      <a:pPr algn="ctr"/>
                      <a:r>
                        <a:rPr sz="850" b="0" i="0">
                          <a:solidFill>
                            <a:srgbClr val="000000"/>
                          </a:solidFill>
                          <a:latin typeface="맑은 고딕"/>
                          <a:ea typeface="맑은 고딕"/>
                          <a:cs typeface="맑은 고딕"/>
                        </a:rPr>
                        <a:t>UC06</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SLO·정책·자원 구성</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서비스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SLO·정책·자원 구성을 입력해 런타임을 구성·기동하고, 운영 중에도 변경한다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C01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548640">
                <a:tc>
                  <a:txBody>
                    <a:bodyPr/>
                    <a:lstStyle/>
                    <a:p>
                      <a:pPr algn="ctr"/>
                      <a:r>
                        <a:rPr sz="850" b="0" i="0">
                          <a:solidFill>
                            <a:srgbClr val="000000"/>
                          </a:solidFill>
                          <a:latin typeface="맑은 고딕"/>
                          <a:ea typeface="맑은 고딕"/>
                          <a:cs typeface="맑은 고딕"/>
                        </a:rPr>
                        <a:t>UC07</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상태·성능 모니터링</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서비스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성능 지표, Health 이벤트, 오류를 받아 런타임 상태를 확인한다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r h="548640">
                <a:tc>
                  <a:txBody>
                    <a:bodyPr/>
                    <a:lstStyle/>
                    <a:p>
                      <a:pPr algn="ctr"/>
                      <a:r>
                        <a:rPr sz="850" b="0" i="0">
                          <a:solidFill>
                            <a:srgbClr val="000000"/>
                          </a:solidFill>
                          <a:latin typeface="맑은 고딕"/>
                          <a:ea typeface="맑은 고딕"/>
                          <a:cs typeface="맑은 고딕"/>
                        </a:rPr>
                        <a:t>UC08</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시스템 구성 정보 반영</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시스템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Compute/Memory/네트워크 구성 정보를 받아 메모리 계층과 연산 자원 구성을 인식하고, 런타임이 인식한 시스템 구성 정보를 돌려준다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8"/>
                  </a:ext>
                </a:extLst>
              </a:tr>
              <a:tr h="548640">
                <a:tc>
                  <a:txBody>
                    <a:bodyPr/>
                    <a:lstStyle/>
                    <a:p>
                      <a:pPr algn="ctr"/>
                      <a:r>
                        <a:rPr sz="850" b="0" i="0">
                          <a:solidFill>
                            <a:srgbClr val="000000"/>
                          </a:solidFill>
                          <a:latin typeface="맑은 고딕"/>
                          <a:ea typeface="맑은 고딕"/>
                          <a:cs typeface="맑은 고딕"/>
                        </a:rPr>
                        <a:t>UC09</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50" b="0" i="0">
                          <a:solidFill>
                            <a:srgbClr val="000000"/>
                          </a:solidFill>
                          <a:latin typeface="맑은 고딕"/>
                          <a:ea typeface="맑은 고딕"/>
                          <a:cs typeface="맑은 고딕"/>
                        </a:rPr>
                        <a:t>Device 연동</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Device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50" b="0" i="0">
                          <a:solidFill>
                            <a:srgbClr val="000000"/>
                          </a:solidFill>
                          <a:latin typeface="맑은 고딕"/>
                          <a:ea typeface="맑은 고딕"/>
                          <a:cs typeface="맑은 고딕"/>
                        </a:rPr>
                        <a:t>Device Runtime/Driver, Emulation API, HW 스펙을 받아 차세대 메모리·연산 가능 메모리를 사용 가능한 자원으로 등록하고 호출한다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50" b="0" i="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9"/>
                  </a:ext>
                </a:extLst>
              </a:tr>
            </a:tbl>
          </a:graphicData>
        </a:graphic>
      </p:graphicFrame>
      <p:sp>
        <p:nvSpPr>
          <p:cNvPr id="5" name="TextBox 4"/>
          <p:cNvSpPr txBox="1"/>
          <p:nvPr/>
        </p:nvSpPr>
        <p:spPr>
          <a:xfrm>
            <a:off x="246888" y="6126480"/>
            <a:ext cx="11704320" cy="365760"/>
          </a:xfrm>
          <a:prstGeom prst="rect">
            <a:avLst/>
          </a:prstGeom>
          <a:noFill/>
        </p:spPr>
        <p:txBody>
          <a:bodyPr wrap="square" lIns="36576" tIns="18288" rIns="36576" bIns="18288" anchor="t">
            <a:spAutoFit/>
          </a:bodyPr>
          <a:lstStyle/>
          <a:p>
            <a:pPr algn="l">
              <a:spcAft>
                <a:spcPts val="0"/>
              </a:spcAft>
            </a:pPr>
            <a:r>
              <a:rPr sz="700" b="0" i="0">
                <a:solidFill>
                  <a:srgbClr val="595959"/>
                </a:solidFill>
                <a:latin typeface="맑은 고딕"/>
                <a:ea typeface="맑은 고딕"/>
                <a:cs typeface="맑은 고딕"/>
              </a:rPr>
              <a:t>※ Actor와 입·출력은 Context View(Overall System) 기준. UC는 DP/QA와 1:1로 대응하지 않으며, DP는 각 UC 수행 중 발생하는 결정 문제를 설계한 것이다. '참고 FR'은 1p의 FR 중 관련된 것(참고용)</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 Case 도출 – Use-case Diagram</a:t>
            </a:r>
          </a:p>
        </p:txBody>
      </p:sp>
      <p:sp>
        <p:nvSpPr>
          <p:cNvPr id="4" name="Rectangle 3"/>
          <p:cNvSpPr/>
          <p:nvPr/>
        </p:nvSpPr>
        <p:spPr>
          <a:xfrm>
            <a:off x="274320" y="685800"/>
            <a:ext cx="1170432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Memory-Centric Runtime </a:t>
            </a:r>
            <a:r>
              <a:rPr sz="1100" b="1" i="0" dirty="0" err="1">
                <a:solidFill>
                  <a:srgbClr val="FFFFFF"/>
                </a:solidFill>
                <a:latin typeface="맑은 고딕"/>
                <a:ea typeface="맑은 고딕"/>
                <a:cs typeface="맑은 고딕"/>
              </a:rPr>
              <a:t>Framework의</a:t>
            </a:r>
            <a:r>
              <a:rPr sz="1100" b="1" i="0" dirty="0">
                <a:solidFill>
                  <a:srgbClr val="FFFFFF"/>
                </a:solidFill>
                <a:latin typeface="맑은 고딕"/>
                <a:ea typeface="맑은 고딕"/>
                <a:cs typeface="맑은 고딕"/>
              </a:rPr>
              <a:t> Use-case diagram</a:t>
            </a:r>
          </a:p>
        </p:txBody>
      </p:sp>
      <p:sp>
        <p:nvSpPr>
          <p:cNvPr id="5" name="Rectangle 4"/>
          <p:cNvSpPr/>
          <p:nvPr/>
        </p:nvSpPr>
        <p:spPr>
          <a:xfrm>
            <a:off x="2834640" y="1097280"/>
            <a:ext cx="6492240" cy="5349240"/>
          </a:xfrm>
          <a:prstGeom prst="rect">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834640" y="1115568"/>
            <a:ext cx="6492240" cy="175433"/>
          </a:xfrm>
          <a:prstGeom prst="rect">
            <a:avLst/>
          </a:prstGeom>
          <a:noFill/>
        </p:spPr>
        <p:txBody>
          <a:bodyPr wrap="square" lIns="36576" tIns="18288" rIns="36576" bIns="18288" anchor="t">
            <a:spAutoFit/>
          </a:bodyPr>
          <a:lstStyle/>
          <a:p>
            <a:pPr algn="ctr">
              <a:spcAft>
                <a:spcPts val="0"/>
              </a:spcAft>
            </a:pPr>
            <a:r>
              <a:rPr sz="900" b="1" i="0" dirty="0">
                <a:solidFill>
                  <a:srgbClr val="000000"/>
                </a:solidFill>
                <a:latin typeface="맑은 고딕"/>
                <a:ea typeface="맑은 고딕"/>
                <a:cs typeface="맑은 고딕"/>
              </a:rPr>
              <a:t>Memory-Centric Runtime Framework</a:t>
            </a:r>
          </a:p>
        </p:txBody>
      </p:sp>
      <p:grpSp>
        <p:nvGrpSpPr>
          <p:cNvPr id="56" name="그룹 55"/>
          <p:cNvGrpSpPr/>
          <p:nvPr/>
        </p:nvGrpSpPr>
        <p:grpSpPr>
          <a:xfrm>
            <a:off x="1234440" y="2011680"/>
            <a:ext cx="274320" cy="566928"/>
            <a:chOff x="1234440" y="2011680"/>
            <a:chExt cx="274320" cy="566928"/>
          </a:xfrm>
        </p:grpSpPr>
        <p:sp>
          <p:nvSpPr>
            <p:cNvPr id="7" name="Oval 6"/>
            <p:cNvSpPr/>
            <p:nvPr/>
          </p:nvSpPr>
          <p:spPr>
            <a:xfrm>
              <a:off x="1289304" y="201168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371600" y="2176272"/>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34440" y="2267712"/>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261872" y="239572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71600" y="239572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grpSp>
      <p:sp>
        <p:nvSpPr>
          <p:cNvPr id="12" name="TextBox 11"/>
          <p:cNvSpPr txBox="1"/>
          <p:nvPr/>
        </p:nvSpPr>
        <p:spPr>
          <a:xfrm>
            <a:off x="731520" y="2596896"/>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AI Application /</a:t>
            </a:r>
          </a:p>
          <a:p>
            <a:pPr algn="ctr">
              <a:spcAft>
                <a:spcPts val="0"/>
              </a:spcAft>
            </a:pPr>
            <a:r>
              <a:rPr sz="800" b="1" i="0">
                <a:solidFill>
                  <a:srgbClr val="000000"/>
                </a:solidFill>
                <a:latin typeface="맑은 고딕"/>
                <a:ea typeface="맑은 고딕"/>
                <a:cs typeface="맑은 고딕"/>
              </a:rPr>
              <a:t>Agent Framework</a:t>
            </a:r>
          </a:p>
          <a:p>
            <a:pPr algn="ctr">
              <a:spcAft>
                <a:spcPts val="0"/>
              </a:spcAft>
            </a:pPr>
            <a:r>
              <a:rPr sz="800" b="1" i="0">
                <a:solidFill>
                  <a:srgbClr val="000000"/>
                </a:solidFill>
                <a:latin typeface="맑은 고딕"/>
                <a:ea typeface="맑은 고딕"/>
                <a:cs typeface="맑은 고딕"/>
              </a:rPr>
              <a:t>(사용자)</a:t>
            </a:r>
          </a:p>
        </p:txBody>
      </p:sp>
      <p:sp>
        <p:nvSpPr>
          <p:cNvPr id="13" name="Oval 12"/>
          <p:cNvSpPr/>
          <p:nvPr/>
        </p:nvSpPr>
        <p:spPr>
          <a:xfrm>
            <a:off x="1289304" y="470916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371600" y="4873752"/>
            <a:ext cx="0" cy="219456"/>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34440" y="4965192"/>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261872" y="50932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 y="509320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31520" y="5294376"/>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시스템 제공자</a:t>
            </a:r>
          </a:p>
        </p:txBody>
      </p:sp>
      <p:sp>
        <p:nvSpPr>
          <p:cNvPr id="19" name="Oval 18"/>
          <p:cNvSpPr/>
          <p:nvPr/>
        </p:nvSpPr>
        <p:spPr>
          <a:xfrm>
            <a:off x="1289304" y="557784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1371600" y="5742431"/>
            <a:ext cx="0" cy="219457"/>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234440" y="5833872"/>
            <a:ext cx="274320"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261872" y="59618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71600" y="59618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31520" y="6163055"/>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Device 제공자</a:t>
            </a:r>
          </a:p>
        </p:txBody>
      </p:sp>
      <p:sp>
        <p:nvSpPr>
          <p:cNvPr id="25" name="Oval 24"/>
          <p:cNvSpPr/>
          <p:nvPr/>
        </p:nvSpPr>
        <p:spPr>
          <a:xfrm>
            <a:off x="10616184" y="5120640"/>
            <a:ext cx="164592" cy="164592"/>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a:off x="10698480" y="5285231"/>
            <a:ext cx="0" cy="219457"/>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561319" y="5376672"/>
            <a:ext cx="274321" cy="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0588752" y="5504688"/>
            <a:ext cx="109728"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698480" y="5504688"/>
            <a:ext cx="109727" cy="182880"/>
          </a:xfrm>
          <a:prstGeom prst="line">
            <a:avLst/>
          </a:prstGeom>
          <a:ln w="12700">
            <a:solidFill>
              <a:srgbClr val="59595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58400" y="5705855"/>
            <a:ext cx="1280160" cy="365760"/>
          </a:xfrm>
          <a:prstGeom prst="rect">
            <a:avLst/>
          </a:prstGeom>
          <a:noFill/>
        </p:spPr>
        <p:txBody>
          <a:bodyPr wrap="square" lIns="0" tIns="18288" rIns="0" bIns="18288" anchor="t">
            <a:spAutoFit/>
          </a:bodyPr>
          <a:lstStyle/>
          <a:p>
            <a:pPr algn="ctr">
              <a:spcAft>
                <a:spcPts val="0"/>
              </a:spcAft>
            </a:pPr>
            <a:r>
              <a:rPr sz="800" b="1" i="0">
                <a:solidFill>
                  <a:srgbClr val="000000"/>
                </a:solidFill>
                <a:latin typeface="맑은 고딕"/>
                <a:ea typeface="맑은 고딕"/>
                <a:cs typeface="맑은 고딕"/>
              </a:rPr>
              <a:t>서비스 제공자</a:t>
            </a:r>
          </a:p>
        </p:txBody>
      </p:sp>
      <p:sp>
        <p:nvSpPr>
          <p:cNvPr id="31" name="Oval 30"/>
          <p:cNvSpPr/>
          <p:nvPr/>
        </p:nvSpPr>
        <p:spPr>
          <a:xfrm>
            <a:off x="3337560" y="2720339"/>
            <a:ext cx="2103120" cy="594360"/>
          </a:xfrm>
          <a:prstGeom prst="ellipse">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UC01 LLM 추론 요청</a:t>
            </a:r>
          </a:p>
          <a:p>
            <a:pPr algn="ctr">
              <a:spcAft>
                <a:spcPts val="0"/>
              </a:spcAft>
            </a:pPr>
            <a:r>
              <a:rPr sz="700" b="1" i="0">
                <a:solidFill>
                  <a:srgbClr val="000000"/>
                </a:solidFill>
                <a:latin typeface="맑은 고딕"/>
                <a:ea typeface="맑은 고딕"/>
                <a:cs typeface="맑은 고딕"/>
              </a:rPr>
              <a:t>(스트리밍 응답)</a:t>
            </a:r>
          </a:p>
        </p:txBody>
      </p:sp>
      <p:sp>
        <p:nvSpPr>
          <p:cNvPr id="32" name="Oval 31"/>
          <p:cNvSpPr/>
          <p:nvPr/>
        </p:nvSpPr>
        <p:spPr>
          <a:xfrm>
            <a:off x="6812280" y="137160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UC02 LLM 추론 실행</a:t>
            </a:r>
          </a:p>
          <a:p>
            <a:pPr algn="ctr">
              <a:spcAft>
                <a:spcPts val="0"/>
              </a:spcAft>
            </a:pPr>
            <a:r>
              <a:rPr sz="700" b="1" i="0">
                <a:solidFill>
                  <a:srgbClr val="000000"/>
                </a:solidFill>
                <a:latin typeface="맑은 고딕"/>
                <a:ea typeface="맑은 고딕"/>
                <a:cs typeface="맑은 고딕"/>
              </a:rPr>
              <a:t>(출력 토큰 생성)</a:t>
            </a:r>
          </a:p>
        </p:txBody>
      </p:sp>
      <p:sp>
        <p:nvSpPr>
          <p:cNvPr id="33" name="Oval 32"/>
          <p:cNvSpPr/>
          <p:nvPr/>
        </p:nvSpPr>
        <p:spPr>
          <a:xfrm>
            <a:off x="6812280" y="196596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UC03 요청 스케줄링</a:t>
            </a:r>
          </a:p>
        </p:txBody>
      </p:sp>
      <p:sp>
        <p:nvSpPr>
          <p:cNvPr id="34" name="Oval 33"/>
          <p:cNvSpPr/>
          <p:nvPr/>
        </p:nvSpPr>
        <p:spPr>
          <a:xfrm>
            <a:off x="6812280" y="256032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UC04 KV 캐시 생성·</a:t>
            </a:r>
          </a:p>
          <a:p>
            <a:pPr algn="ctr">
              <a:spcAft>
                <a:spcPts val="0"/>
              </a:spcAft>
            </a:pPr>
            <a:r>
              <a:rPr sz="700" b="1" i="0">
                <a:solidFill>
                  <a:srgbClr val="000000"/>
                </a:solidFill>
                <a:latin typeface="맑은 고딕"/>
                <a:ea typeface="맑은 고딕"/>
                <a:cs typeface="맑은 고딕"/>
              </a:rPr>
              <a:t>할당·해제</a:t>
            </a:r>
          </a:p>
        </p:txBody>
      </p:sp>
      <p:sp>
        <p:nvSpPr>
          <p:cNvPr id="35" name="Oval 34"/>
          <p:cNvSpPr/>
          <p:nvPr/>
        </p:nvSpPr>
        <p:spPr>
          <a:xfrm>
            <a:off x="6812280" y="315468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UC05 멀티턴·Agent</a:t>
            </a:r>
          </a:p>
          <a:p>
            <a:pPr algn="ctr">
              <a:spcAft>
                <a:spcPts val="0"/>
              </a:spcAft>
            </a:pPr>
            <a:r>
              <a:rPr sz="700" b="1" i="0">
                <a:solidFill>
                  <a:srgbClr val="000000"/>
                </a:solidFill>
                <a:latin typeface="맑은 고딕"/>
                <a:ea typeface="맑은 고딕"/>
                <a:cs typeface="맑은 고딕"/>
              </a:rPr>
              <a:t>세션 이어가기</a:t>
            </a:r>
          </a:p>
        </p:txBody>
      </p:sp>
      <p:sp>
        <p:nvSpPr>
          <p:cNvPr id="36" name="Oval 35"/>
          <p:cNvSpPr/>
          <p:nvPr/>
        </p:nvSpPr>
        <p:spPr>
          <a:xfrm>
            <a:off x="6812280" y="3749039"/>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UC06 장문·RAG</a:t>
            </a:r>
          </a:p>
          <a:p>
            <a:pPr algn="ctr">
              <a:spcAft>
                <a:spcPts val="0"/>
              </a:spcAft>
            </a:pPr>
            <a:r>
              <a:rPr sz="700" b="1" i="0">
                <a:solidFill>
                  <a:srgbClr val="000000"/>
                </a:solidFill>
                <a:latin typeface="맑은 고딕"/>
                <a:ea typeface="맑은 고딕"/>
                <a:cs typeface="맑은 고딕"/>
              </a:rPr>
              <a:t>컨텍스트 요청</a:t>
            </a:r>
          </a:p>
        </p:txBody>
      </p:sp>
      <p:sp>
        <p:nvSpPr>
          <p:cNvPr id="37" name="Oval 36"/>
          <p:cNvSpPr/>
          <p:nvPr/>
        </p:nvSpPr>
        <p:spPr>
          <a:xfrm>
            <a:off x="6812280" y="4343400"/>
            <a:ext cx="1920240" cy="45720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UC07 다중 서버에서</a:t>
            </a:r>
          </a:p>
          <a:p>
            <a:pPr algn="ctr">
              <a:spcAft>
                <a:spcPts val="0"/>
              </a:spcAft>
            </a:pPr>
            <a:r>
              <a:rPr sz="700" b="1" i="0">
                <a:solidFill>
                  <a:srgbClr val="000000"/>
                </a:solidFill>
                <a:latin typeface="맑은 고딕"/>
                <a:ea typeface="맑은 고딕"/>
                <a:cs typeface="맑은 고딕"/>
              </a:rPr>
              <a:t>요청 처리</a:t>
            </a:r>
          </a:p>
        </p:txBody>
      </p:sp>
      <p:sp>
        <p:nvSpPr>
          <p:cNvPr id="38" name="Oval 37"/>
          <p:cNvSpPr/>
          <p:nvPr/>
        </p:nvSpPr>
        <p:spPr>
          <a:xfrm>
            <a:off x="3337560" y="493776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UC08 시스템 구성</a:t>
            </a:r>
          </a:p>
          <a:p>
            <a:pPr algn="ctr">
              <a:spcAft>
                <a:spcPts val="0"/>
              </a:spcAft>
            </a:pPr>
            <a:r>
              <a:rPr sz="700" b="1" i="0">
                <a:solidFill>
                  <a:srgbClr val="000000"/>
                </a:solidFill>
                <a:latin typeface="맑은 고딕"/>
                <a:ea typeface="맑은 고딕"/>
                <a:cs typeface="맑은 고딕"/>
              </a:rPr>
              <a:t>정보 반영</a:t>
            </a:r>
          </a:p>
        </p:txBody>
      </p:sp>
      <p:sp>
        <p:nvSpPr>
          <p:cNvPr id="39" name="Oval 38"/>
          <p:cNvSpPr/>
          <p:nvPr/>
        </p:nvSpPr>
        <p:spPr>
          <a:xfrm>
            <a:off x="6812280" y="502920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UC09 SLO·정책·자원 구성</a:t>
            </a:r>
          </a:p>
        </p:txBody>
      </p:sp>
      <p:sp>
        <p:nvSpPr>
          <p:cNvPr id="40" name="Oval 39"/>
          <p:cNvSpPr/>
          <p:nvPr/>
        </p:nvSpPr>
        <p:spPr>
          <a:xfrm>
            <a:off x="3337560" y="562356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UC10 Device 연동</a:t>
            </a:r>
          </a:p>
        </p:txBody>
      </p:sp>
      <p:sp>
        <p:nvSpPr>
          <p:cNvPr id="41" name="Oval 40"/>
          <p:cNvSpPr/>
          <p:nvPr/>
        </p:nvSpPr>
        <p:spPr>
          <a:xfrm>
            <a:off x="6812280" y="5715000"/>
            <a:ext cx="1920240" cy="457200"/>
          </a:xfrm>
          <a:prstGeom prst="ellipse">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spcAft>
                <a:spcPts val="0"/>
              </a:spcAft>
            </a:pPr>
            <a:r>
              <a:rPr sz="700" b="1" i="0">
                <a:solidFill>
                  <a:srgbClr val="000000"/>
                </a:solidFill>
                <a:latin typeface="맑은 고딕"/>
                <a:ea typeface="맑은 고딕"/>
                <a:cs typeface="맑은 고딕"/>
              </a:rPr>
              <a:t>UC11 상태·성능 모니터링</a:t>
            </a:r>
          </a:p>
        </p:txBody>
      </p:sp>
      <p:cxnSp>
        <p:nvCxnSpPr>
          <p:cNvPr id="42" name="Connector 41"/>
          <p:cNvCxnSpPr/>
          <p:nvPr/>
        </p:nvCxnSpPr>
        <p:spPr>
          <a:xfrm flipH="1">
            <a:off x="5394960" y="1600200"/>
            <a:ext cx="1417320" cy="1062989"/>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394960" y="2194560"/>
            <a:ext cx="1417320" cy="617219"/>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394960" y="2788920"/>
            <a:ext cx="1417320" cy="17145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5394960" y="3108960"/>
            <a:ext cx="1417320" cy="274320"/>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5394960" y="3257550"/>
            <a:ext cx="1417320" cy="720089"/>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5394960" y="3406139"/>
            <a:ext cx="1417320" cy="1165861"/>
          </a:xfrm>
          <a:prstGeom prst="line">
            <a:avLst/>
          </a:prstGeom>
          <a:ln w="1016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115507" y="2057400"/>
            <a:ext cx="479145" cy="146304"/>
          </a:xfrm>
          <a:prstGeom prst="rect">
            <a:avLst/>
          </a:prstGeom>
          <a:noFill/>
        </p:spPr>
        <p:txBody>
          <a:bodyPr wrap="none" lIns="0" tIns="18288" rIns="0" bIns="18288" anchor="t">
            <a:spAutoFit/>
          </a:bodyPr>
          <a:lstStyle/>
          <a:p>
            <a:pPr algn="ctr">
              <a:spcAft>
                <a:spcPts val="0"/>
              </a:spcAft>
            </a:pPr>
            <a:r>
              <a:rPr sz="550" b="0" i="1">
                <a:solidFill>
                  <a:srgbClr val="595959"/>
                </a:solidFill>
                <a:latin typeface="맑은 고딕"/>
                <a:ea typeface="맑은 고딕"/>
                <a:cs typeface="맑은 고딕"/>
              </a:rPr>
              <a:t>«extend»</a:t>
            </a:r>
          </a:p>
        </p:txBody>
      </p:sp>
      <p:cxnSp>
        <p:nvCxnSpPr>
          <p:cNvPr id="49" name="Connector 48"/>
          <p:cNvCxnSpPr/>
          <p:nvPr/>
        </p:nvCxnSpPr>
        <p:spPr>
          <a:xfrm>
            <a:off x="1645920" y="2468880"/>
            <a:ext cx="1691640" cy="54864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645920" y="5029200"/>
            <a:ext cx="1691640" cy="13716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645920" y="5852160"/>
            <a:ext cx="1691640" cy="4572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732520" y="5257800"/>
            <a:ext cx="1691640" cy="22860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732520" y="5486400"/>
            <a:ext cx="1691640" cy="45720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464040" y="1188720"/>
            <a:ext cx="2560320" cy="1452705"/>
          </a:xfrm>
          <a:prstGeom prst="rect">
            <a:avLst/>
          </a:prstGeom>
          <a:noFill/>
        </p:spPr>
        <p:txBody>
          <a:bodyPr wrap="square" lIns="36576" tIns="18288" rIns="36576" bIns="18288" anchor="t">
            <a:spAutoFit/>
          </a:bodyPr>
          <a:lstStyle/>
          <a:p>
            <a:pPr algn="l">
              <a:spcAft>
                <a:spcPts val="0"/>
              </a:spcAft>
            </a:pPr>
            <a:r>
              <a:rPr sz="800" b="1" i="0" dirty="0">
                <a:solidFill>
                  <a:srgbClr val="000000"/>
                </a:solidFill>
                <a:latin typeface="맑은 고딕"/>
                <a:ea typeface="맑은 고딕"/>
                <a:cs typeface="맑은 고딕"/>
              </a:rPr>
              <a:t>Actor (Context View)</a:t>
            </a:r>
          </a:p>
          <a:p>
            <a:pPr algn="l">
              <a:spcAft>
                <a:spcPts val="0"/>
              </a:spcAft>
            </a:pPr>
            <a:r>
              <a:rPr sz="700" b="0" i="0" dirty="0">
                <a:solidFill>
                  <a:srgbClr val="000000"/>
                </a:solidFill>
                <a:latin typeface="맑은 고딕"/>
                <a:ea typeface="맑은 고딕"/>
                <a:cs typeface="맑은 고딕"/>
              </a:rPr>
              <a:t>• AI Application / Agent Framework(</a:t>
            </a:r>
            <a:r>
              <a:rPr sz="700" b="0" i="0" dirty="0" err="1">
                <a:solidFill>
                  <a:srgbClr val="000000"/>
                </a:solidFill>
                <a:latin typeface="맑은 고딕"/>
                <a:ea typeface="맑은 고딕"/>
                <a:cs typeface="맑은 고딕"/>
              </a:rPr>
              <a:t>사용자</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Query·Context·요청</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ID를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보내고</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생성</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토큰을</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받음</a:t>
            </a:r>
            <a:endParaRPr sz="700" b="0" i="0" dirty="0">
              <a:solidFill>
                <a:srgbClr val="000000"/>
              </a:solidFill>
              <a:latin typeface="맑은 고딕"/>
              <a:ea typeface="맑은 고딕"/>
              <a:cs typeface="맑은 고딕"/>
            </a:endParaRPr>
          </a:p>
          <a:p>
            <a:pPr algn="l">
              <a:spcAft>
                <a:spcPts val="0"/>
              </a:spcAft>
            </a:pP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서비스</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제공자</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SLO·정책·자원</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구성을</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주고</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성능</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지표·Health</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이벤트·오류를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받음</a:t>
            </a:r>
            <a:endParaRPr sz="700" b="0" i="0" dirty="0">
              <a:solidFill>
                <a:srgbClr val="000000"/>
              </a:solidFill>
              <a:latin typeface="맑은 고딕"/>
              <a:ea typeface="맑은 고딕"/>
              <a:cs typeface="맑은 고딕"/>
            </a:endParaRPr>
          </a:p>
          <a:p>
            <a:pPr algn="l">
              <a:spcAft>
                <a:spcPts val="0"/>
              </a:spcAft>
            </a:pP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시스템</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제공자</a:t>
            </a:r>
            <a:r>
              <a:rPr sz="700" b="0" i="0" dirty="0">
                <a:solidFill>
                  <a:srgbClr val="000000"/>
                </a:solidFill>
                <a:latin typeface="맑은 고딕"/>
                <a:ea typeface="맑은 고딕"/>
                <a:cs typeface="맑은 고딕"/>
              </a:rPr>
              <a:t>: Compute/Memory/</a:t>
            </a:r>
            <a:r>
              <a:rPr sz="700" b="0" i="0" dirty="0" err="1">
                <a:solidFill>
                  <a:srgbClr val="000000"/>
                </a:solidFill>
                <a:latin typeface="맑은 고딕"/>
                <a:ea typeface="맑은 고딕"/>
                <a:cs typeface="맑은 고딕"/>
              </a:rPr>
              <a:t>네트워크</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구성</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정보를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주고</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시스템</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구성</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정보를</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받음</a:t>
            </a:r>
            <a:endParaRPr sz="700" b="0" i="0" dirty="0">
              <a:solidFill>
                <a:srgbClr val="000000"/>
              </a:solidFill>
              <a:latin typeface="맑은 고딕"/>
              <a:ea typeface="맑은 고딕"/>
              <a:cs typeface="맑은 고딕"/>
            </a:endParaRPr>
          </a:p>
          <a:p>
            <a:pPr algn="l">
              <a:spcAft>
                <a:spcPts val="0"/>
              </a:spcAft>
            </a:pPr>
            <a:r>
              <a:rPr sz="700" b="0" i="0" dirty="0">
                <a:solidFill>
                  <a:srgbClr val="000000"/>
                </a:solidFill>
                <a:latin typeface="맑은 고딕"/>
                <a:ea typeface="맑은 고딕"/>
                <a:cs typeface="맑은 고딕"/>
              </a:rPr>
              <a:t>• Device </a:t>
            </a:r>
            <a:r>
              <a:rPr sz="700" b="0" i="0" dirty="0" err="1">
                <a:solidFill>
                  <a:srgbClr val="000000"/>
                </a:solidFill>
                <a:latin typeface="맑은 고딕"/>
                <a:ea typeface="맑은 고딕"/>
                <a:cs typeface="맑은 고딕"/>
              </a:rPr>
              <a:t>제공자</a:t>
            </a:r>
            <a:r>
              <a:rPr sz="700" b="0" i="0" dirty="0">
                <a:solidFill>
                  <a:srgbClr val="000000"/>
                </a:solidFill>
                <a:latin typeface="맑은 고딕"/>
                <a:ea typeface="맑은 고딕"/>
                <a:cs typeface="맑은 고딕"/>
              </a:rPr>
              <a:t>: Device Runtime/</a:t>
            </a:r>
            <a:r>
              <a:rPr sz="700" b="0" i="0" dirty="0" err="1">
                <a:solidFill>
                  <a:srgbClr val="000000"/>
                </a:solidFill>
                <a:latin typeface="맑은 고딕"/>
                <a:ea typeface="맑은 고딕"/>
                <a:cs typeface="맑은 고딕"/>
              </a:rPr>
              <a:t>Driver·Emulation</a:t>
            </a:r>
            <a:r>
              <a:rPr sz="700" b="0" i="0" dirty="0">
                <a:solidFill>
                  <a:srgbClr val="000000"/>
                </a:solidFill>
                <a:latin typeface="맑은 고딕"/>
                <a:ea typeface="맑은 고딕"/>
                <a:cs typeface="맑은 고딕"/>
              </a:rPr>
              <a:t> API·HW </a:t>
            </a:r>
            <a:r>
              <a:rPr sz="700" b="0" i="0" dirty="0" err="1">
                <a:solidFill>
                  <a:srgbClr val="000000"/>
                </a:solidFill>
                <a:latin typeface="맑은 고딕"/>
                <a:ea typeface="맑은 고딕"/>
                <a:cs typeface="맑은 고딕"/>
              </a:rPr>
              <a:t>스펙을</a:t>
            </a:r>
            <a:r>
              <a:rPr sz="700" b="0" i="0" dirty="0">
                <a:solidFill>
                  <a:srgbClr val="000000"/>
                </a:solidFill>
                <a:latin typeface="맑은 고딕"/>
                <a:ea typeface="맑은 고딕"/>
                <a:cs typeface="맑은 고딕"/>
              </a:rPr>
              <a:t> </a:t>
            </a:r>
            <a:r>
              <a:rPr sz="700" b="0" i="0" dirty="0" err="1">
                <a:solidFill>
                  <a:srgbClr val="000000"/>
                </a:solidFill>
                <a:latin typeface="맑은 고딕"/>
                <a:ea typeface="맑은 고딕"/>
                <a:cs typeface="맑은 고딕"/>
              </a:rPr>
              <a:t>제공</a:t>
            </a:r>
            <a:endParaRPr sz="700" b="0" i="0" dirty="0">
              <a:solidFill>
                <a:srgbClr val="000000"/>
              </a:solidFill>
              <a:latin typeface="맑은 고딕"/>
              <a:ea typeface="맑은 고딕"/>
              <a:cs typeface="맑은 고딕"/>
            </a:endParaRPr>
          </a:p>
          <a:p>
            <a:pPr algn="l">
              <a:spcAft>
                <a:spcPts val="0"/>
              </a:spcAft>
            </a:pPr>
            <a:endParaRPr sz="700" b="0" i="0" dirty="0">
              <a:solidFill>
                <a:srgbClr val="000000"/>
              </a:solidFill>
              <a:latin typeface="맑은 고딕"/>
              <a:ea typeface="맑은 고딕"/>
              <a:cs typeface="맑은 고딕"/>
            </a:endParaRPr>
          </a:p>
          <a:p>
            <a:pPr algn="l">
              <a:spcAft>
                <a:spcPts val="0"/>
              </a:spcAft>
            </a:pPr>
            <a:r>
              <a:rPr sz="700" b="0" i="0" dirty="0">
                <a:solidFill>
                  <a:srgbClr val="595959"/>
                </a:solidFill>
                <a:latin typeface="맑은 고딕"/>
                <a:ea typeface="맑은 고딕"/>
                <a:cs typeface="맑은 고딕"/>
              </a:rPr>
              <a:t>UC02~UC04는 FR02~FR04(</a:t>
            </a:r>
            <a:r>
              <a:rPr sz="700" b="0" i="0" dirty="0" err="1">
                <a:solidFill>
                  <a:srgbClr val="595959"/>
                </a:solidFill>
                <a:latin typeface="맑은 고딕"/>
                <a:ea typeface="맑은 고딕"/>
                <a:cs typeface="맑은 고딕"/>
              </a:rPr>
              <a:t>추론</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실행·스케줄링·KV</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관리</a:t>
            </a:r>
            <a:r>
              <a:rPr sz="700" b="0" i="0" dirty="0">
                <a:solidFill>
                  <a:srgbClr val="595959"/>
                </a:solidFill>
                <a:latin typeface="맑은 고딕"/>
                <a:ea typeface="맑은 고딕"/>
                <a:cs typeface="맑은 고딕"/>
              </a:rPr>
              <a:t>), </a:t>
            </a:r>
            <a:endParaRPr lang="en-US" sz="700" b="0" i="0" dirty="0">
              <a:solidFill>
                <a:srgbClr val="595959"/>
              </a:solidFill>
              <a:latin typeface="맑은 고딕"/>
              <a:ea typeface="맑은 고딕"/>
              <a:cs typeface="맑은 고딕"/>
            </a:endParaRPr>
          </a:p>
          <a:p>
            <a:pPr algn="l">
              <a:spcAft>
                <a:spcPts val="0"/>
              </a:spcAft>
            </a:pPr>
            <a:r>
              <a:rPr sz="700" b="0" i="0" dirty="0">
                <a:solidFill>
                  <a:srgbClr val="595959"/>
                </a:solidFill>
                <a:latin typeface="맑은 고딕"/>
                <a:ea typeface="맑은 고딕"/>
                <a:cs typeface="맑은 고딕"/>
              </a:rPr>
              <a:t>UC05~UC07은 </a:t>
            </a:r>
            <a:r>
              <a:rPr sz="700" b="0" i="0" dirty="0" err="1">
                <a:solidFill>
                  <a:srgbClr val="595959"/>
                </a:solidFill>
                <a:latin typeface="맑은 고딕"/>
                <a:ea typeface="맑은 고딕"/>
                <a:cs typeface="맑은 고딕"/>
              </a:rPr>
              <a:t>워크로드·환경에</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따른</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시나리오</a:t>
            </a:r>
            <a:r>
              <a:rPr sz="700" b="0" i="0" dirty="0">
                <a:solidFill>
                  <a:srgbClr val="595959"/>
                </a:solidFill>
                <a:latin typeface="맑은 고딕"/>
                <a:ea typeface="맑은 고딕"/>
                <a:cs typeface="맑은 고딕"/>
              </a:rPr>
              <a:t>. </a:t>
            </a:r>
            <a:endParaRPr lang="en-US" sz="700" b="0" i="0" dirty="0">
              <a:solidFill>
                <a:srgbClr val="595959"/>
              </a:solidFill>
              <a:latin typeface="맑은 고딕"/>
              <a:ea typeface="맑은 고딕"/>
              <a:cs typeface="맑은 고딕"/>
            </a:endParaRPr>
          </a:p>
          <a:p>
            <a:pPr algn="l">
              <a:spcAft>
                <a:spcPts val="0"/>
              </a:spcAft>
            </a:pPr>
            <a:r>
              <a:rPr sz="700" b="0" i="0" dirty="0" err="1">
                <a:solidFill>
                  <a:srgbClr val="595959"/>
                </a:solidFill>
                <a:latin typeface="맑은 고딕"/>
                <a:ea typeface="맑은 고딕"/>
                <a:cs typeface="맑은 고딕"/>
              </a:rPr>
              <a:t>모두</a:t>
            </a:r>
            <a:r>
              <a:rPr sz="700" b="0" i="0" dirty="0">
                <a:solidFill>
                  <a:srgbClr val="595959"/>
                </a:solidFill>
                <a:latin typeface="맑은 고딕"/>
                <a:ea typeface="맑은 고딕"/>
                <a:cs typeface="맑은 고딕"/>
              </a:rPr>
              <a:t> UC01(LLM </a:t>
            </a:r>
            <a:r>
              <a:rPr sz="700" b="0" i="0" dirty="0" err="1">
                <a:solidFill>
                  <a:srgbClr val="595959"/>
                </a:solidFill>
                <a:latin typeface="맑은 고딕"/>
                <a:ea typeface="맑은 고딕"/>
                <a:cs typeface="맑은 고딕"/>
              </a:rPr>
              <a:t>추론</a:t>
            </a:r>
            <a:r>
              <a:rPr sz="700" b="0" i="0" dirty="0">
                <a:solidFill>
                  <a:srgbClr val="595959"/>
                </a:solidFill>
                <a:latin typeface="맑은 고딕"/>
                <a:ea typeface="맑은 고딕"/>
                <a:cs typeface="맑은 고딕"/>
              </a:rPr>
              <a:t> </a:t>
            </a:r>
            <a:r>
              <a:rPr sz="700" b="0" i="0" dirty="0" err="1">
                <a:solidFill>
                  <a:srgbClr val="595959"/>
                </a:solidFill>
                <a:latin typeface="맑은 고딕"/>
                <a:ea typeface="맑은 고딕"/>
                <a:cs typeface="맑은 고딕"/>
              </a:rPr>
              <a:t>요청</a:t>
            </a:r>
            <a:r>
              <a:rPr sz="700" b="0" i="0" dirty="0">
                <a:solidFill>
                  <a:srgbClr val="595959"/>
                </a:solidFill>
                <a:latin typeface="맑은 고딕"/>
                <a:ea typeface="맑은 고딕"/>
                <a:cs typeface="맑은 고딕"/>
              </a:rPr>
              <a:t>)에 extend</a:t>
            </a:r>
          </a:p>
        </p:txBody>
      </p:sp>
      <p:sp>
        <p:nvSpPr>
          <p:cNvPr id="55" name="실행 단추: 뒤로 또는 앞으로 이동 50">
            <a:hlinkClick r:id="rId3" action="ppaction://hlinksldjump" highlightClick="1"/>
            <a:extLst>
              <a:ext uri="{FF2B5EF4-FFF2-40B4-BE49-F238E27FC236}">
                <a16:creationId xmlns:a16="http://schemas.microsoft.com/office/drawing/2014/main" id="{9054E460-635E-4355-8891-B74C3D96529A}"/>
              </a:ext>
            </a:extLst>
          </p:cNvPr>
          <p:cNvSpPr/>
          <p:nvPr/>
        </p:nvSpPr>
        <p:spPr>
          <a:xfrm>
            <a:off x="7477125" y="209550"/>
            <a:ext cx="314325" cy="2705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470848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 Case 도출 – UC 목록</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21</a:t>
            </a:r>
          </a:p>
        </p:txBody>
      </p:sp>
      <p:graphicFrame>
        <p:nvGraphicFramePr>
          <p:cNvPr id="4" name="Table 3"/>
          <p:cNvGraphicFramePr>
            <a:graphicFrameLocks noGrp="1"/>
          </p:cNvGraphicFramePr>
          <p:nvPr/>
        </p:nvGraphicFramePr>
        <p:xfrm>
          <a:off x="246888" y="731520"/>
          <a:ext cx="11704320" cy="5303520"/>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76072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274320">
                <a:tc>
                  <a:txBody>
                    <a:bodyPr/>
                    <a:lstStyle/>
                    <a:p>
                      <a:pPr algn="ctr"/>
                      <a:r>
                        <a:rPr sz="800" b="1" i="0">
                          <a:solidFill>
                            <a:srgbClr val="FFFFFF"/>
                          </a:solidFill>
                          <a:latin typeface="맑은 고딕"/>
                          <a:ea typeface="맑은 고딕"/>
                          <a:cs typeface="맑은 고딕"/>
                        </a:rPr>
                        <a:t>UC</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00" b="1" i="0">
                          <a:solidFill>
                            <a:srgbClr val="FFFFFF"/>
                          </a:solidFill>
                          <a:latin typeface="맑은 고딕"/>
                          <a:ea typeface="맑은 고딕"/>
                          <a:cs typeface="맑은 고딕"/>
                        </a:rPr>
                        <a:t>이름</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00" b="1" i="0">
                          <a:solidFill>
                            <a:srgbClr val="FFFFFF"/>
                          </a:solidFill>
                          <a:latin typeface="맑은 고딕"/>
                          <a:ea typeface="맑은 고딕"/>
                          <a:cs typeface="맑은 고딕"/>
                        </a:rPr>
                        <a:t>Actor</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00" b="1" i="0">
                          <a:solidFill>
                            <a:srgbClr val="FFFFFF"/>
                          </a:solidFill>
                          <a:latin typeface="맑은 고딕"/>
                          <a:ea typeface="맑은 고딕"/>
                          <a:cs typeface="맑은 고딕"/>
                        </a:rPr>
                        <a:t>시나리오 (입력 → 출력)</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800" b="1" i="0">
                          <a:solidFill>
                            <a:srgbClr val="FFFFFF"/>
                          </a:solidFill>
                          <a:latin typeface="맑은 고딕"/>
                          <a:ea typeface="맑은 고딕"/>
                          <a:cs typeface="맑은 고딕"/>
                        </a:rPr>
                        <a:t>참고 FR</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457200">
                <a:tc>
                  <a:txBody>
                    <a:bodyPr/>
                    <a:lstStyle/>
                    <a:p>
                      <a:pPr algn="ctr"/>
                      <a:r>
                        <a:rPr sz="800" b="0" i="0">
                          <a:solidFill>
                            <a:srgbClr val="000000"/>
                          </a:solidFill>
                          <a:latin typeface="맑은 고딕"/>
                          <a:ea typeface="맑은 고딕"/>
                          <a:cs typeface="맑은 고딕"/>
                        </a:rPr>
                        <a:t>UC01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LLM 추론 요청</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Query·Context·요청 ID를 보내면 런타임이 요청을 접수하고 상태를 관리하며 생성 토큰을 스트리밍으로 돌려준다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800" b="0" i="0">
                          <a:solidFill>
                            <a:srgbClr val="000000"/>
                          </a:solidFill>
                          <a:latin typeface="맑은 고딕"/>
                          <a:ea typeface="맑은 고딕"/>
                          <a:cs typeface="맑은 고딕"/>
                        </a:rPr>
                        <a:t>UC02</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LLM 추론 실행</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(UC01 확장)</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요청별 입력에 대해 LLM 모델을 실행해 연산을 수행하고 출력 토큰을 생성한다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FR03</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800" b="0" i="0">
                          <a:solidFill>
                            <a:srgbClr val="000000"/>
                          </a:solidFill>
                          <a:latin typeface="맑은 고딕"/>
                          <a:ea typeface="맑은 고딕"/>
                          <a:cs typeface="맑은 고딕"/>
                        </a:rPr>
                        <a:t>UC03</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요청 스케줄링</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(UC01 확장)</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다중 요청의 실행 순서와 배칭을 정하고, 가용 연산 자원에 작업을 할당해 실행 시점을 조정한다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FR02</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457200">
                <a:tc>
                  <a:txBody>
                    <a:bodyPr/>
                    <a:lstStyle/>
                    <a:p>
                      <a:pPr algn="ctr"/>
                      <a:r>
                        <a:rPr sz="800" b="0" i="0">
                          <a:solidFill>
                            <a:srgbClr val="000000"/>
                          </a:solidFill>
                          <a:latin typeface="맑은 고딕"/>
                          <a:ea typeface="맑은 고딕"/>
                          <a:cs typeface="맑은 고딕"/>
                        </a:rPr>
                        <a:t>UC04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KV 캐시 생성·할당·해제</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(UC01 확장)</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추론 중 생성되는 KV 캐시를 할당·저장하고, 재사용 가능한 KV를 찾아 쓰며, 요청이 끝나면 해제한다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457200">
                <a:tc>
                  <a:txBody>
                    <a:bodyPr/>
                    <a:lstStyle/>
                    <a:p>
                      <a:pPr algn="ctr"/>
                      <a:r>
                        <a:rPr sz="800" b="0" i="0">
                          <a:solidFill>
                            <a:srgbClr val="000000"/>
                          </a:solidFill>
                          <a:latin typeface="맑은 고딕"/>
                          <a:ea typeface="맑은 고딕"/>
                          <a:cs typeface="맑은 고딕"/>
                        </a:rPr>
                        <a:t>UC05</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멀티턴·Agent 세션 이어가기</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dirty="0" err="1">
                          <a:solidFill>
                            <a:srgbClr val="000000"/>
                          </a:solidFill>
                          <a:latin typeface="맑은 고딕"/>
                          <a:ea typeface="맑은 고딕"/>
                          <a:cs typeface="맑은 고딕"/>
                        </a:rPr>
                        <a:t>이전</a:t>
                      </a:r>
                      <a:r>
                        <a:rPr sz="800" b="0" i="0" dirty="0">
                          <a:solidFill>
                            <a:srgbClr val="000000"/>
                          </a:solidFill>
                          <a:latin typeface="맑은 고딕"/>
                          <a:ea typeface="맑은 고딕"/>
                          <a:cs typeface="맑은 고딕"/>
                        </a:rPr>
                        <a:t> 턴 </a:t>
                      </a:r>
                      <a:r>
                        <a:rPr sz="800" b="0" i="0" dirty="0" err="1">
                          <a:solidFill>
                            <a:srgbClr val="000000"/>
                          </a:solidFill>
                          <a:latin typeface="맑은 고딕"/>
                          <a:ea typeface="맑은 고딕"/>
                          <a:cs typeface="맑은 고딕"/>
                        </a:rPr>
                        <a:t>대화와</a:t>
                      </a:r>
                      <a:r>
                        <a:rPr sz="800" b="0" i="0" dirty="0">
                          <a:solidFill>
                            <a:srgbClr val="000000"/>
                          </a:solidFill>
                          <a:latin typeface="맑은 고딕"/>
                          <a:ea typeface="맑은 고딕"/>
                          <a:cs typeface="맑은 고딕"/>
                        </a:rPr>
                        <a:t> tool </a:t>
                      </a:r>
                      <a:r>
                        <a:rPr sz="800" b="0" i="0" dirty="0" err="1">
                          <a:solidFill>
                            <a:srgbClr val="000000"/>
                          </a:solidFill>
                          <a:latin typeface="맑은 고딕"/>
                          <a:ea typeface="맑은 고딕"/>
                          <a:cs typeface="맑은 고딕"/>
                        </a:rPr>
                        <a:t>호출</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결과가</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붙은</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후속</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요청을</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보낸다</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이전</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컨텍스트의</a:t>
                      </a:r>
                      <a:r>
                        <a:rPr sz="800" b="0" i="0" dirty="0">
                          <a:solidFill>
                            <a:srgbClr val="000000"/>
                          </a:solidFill>
                          <a:latin typeface="맑은 고딕"/>
                          <a:ea typeface="맑은 고딕"/>
                          <a:cs typeface="맑은 고딕"/>
                        </a:rPr>
                        <a:t> KV </a:t>
                      </a:r>
                      <a:r>
                        <a:rPr sz="800" b="0" i="0" dirty="0" err="1">
                          <a:solidFill>
                            <a:srgbClr val="000000"/>
                          </a:solidFill>
                          <a:latin typeface="맑은 고딕"/>
                          <a:ea typeface="맑은 고딕"/>
                          <a:cs typeface="맑은 고딕"/>
                        </a:rPr>
                        <a:t>캐시를</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재사용해</a:t>
                      </a:r>
                      <a:r>
                        <a:rPr sz="800" b="0" i="0" dirty="0">
                          <a:solidFill>
                            <a:srgbClr val="000000"/>
                          </a:solidFill>
                          <a:latin typeface="맑은 고딕"/>
                          <a:ea typeface="맑은 고딕"/>
                          <a:cs typeface="맑은 고딕"/>
                        </a:rPr>
                        <a:t> prefill </a:t>
                      </a:r>
                      <a:r>
                        <a:rPr sz="800" b="0" i="0" dirty="0" err="1">
                          <a:solidFill>
                            <a:srgbClr val="000000"/>
                          </a:solidFill>
                          <a:latin typeface="맑은 고딕"/>
                          <a:ea typeface="맑은 고딕"/>
                          <a:cs typeface="맑은 고딕"/>
                        </a:rPr>
                        <a:t>비용을</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줄이고</a:t>
                      </a:r>
                      <a:r>
                        <a:rPr sz="800" b="0" i="0" dirty="0">
                          <a:solidFill>
                            <a:srgbClr val="000000"/>
                          </a:solidFill>
                          <a:latin typeface="맑은 고딕"/>
                          <a:ea typeface="맑은 고딕"/>
                          <a:cs typeface="맑은 고딕"/>
                        </a:rPr>
                        <a:t>, tool </a:t>
                      </a:r>
                      <a:r>
                        <a:rPr sz="800" b="0" i="0" dirty="0" err="1">
                          <a:solidFill>
                            <a:srgbClr val="000000"/>
                          </a:solidFill>
                          <a:latin typeface="맑은 고딕"/>
                          <a:ea typeface="맑은 고딕"/>
                          <a:cs typeface="맑은 고딕"/>
                        </a:rPr>
                        <a:t>응답</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대기</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동안</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세션</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상태를</a:t>
                      </a:r>
                      <a:r>
                        <a:rPr sz="800" b="0" i="0" dirty="0">
                          <a:solidFill>
                            <a:srgbClr val="000000"/>
                          </a:solidFill>
                          <a:latin typeface="맑은 고딕"/>
                          <a:ea typeface="맑은 고딕"/>
                          <a:cs typeface="맑은 고딕"/>
                        </a:rPr>
                        <a:t> </a:t>
                      </a:r>
                      <a:r>
                        <a:rPr sz="800" b="0" i="0" dirty="0" err="1">
                          <a:solidFill>
                            <a:srgbClr val="000000"/>
                          </a:solidFill>
                          <a:latin typeface="맑은 고딕"/>
                          <a:ea typeface="맑은 고딕"/>
                          <a:cs typeface="맑은 고딕"/>
                        </a:rPr>
                        <a:t>유지한다</a:t>
                      </a:r>
                      <a:endParaRPr sz="80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FR01,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457200">
                <a:tc>
                  <a:txBody>
                    <a:bodyPr/>
                    <a:lstStyle/>
                    <a:p>
                      <a:pPr algn="ctr"/>
                      <a:r>
                        <a:rPr sz="800" b="0" i="0">
                          <a:solidFill>
                            <a:srgbClr val="000000"/>
                          </a:solidFill>
                          <a:latin typeface="맑은 고딕"/>
                          <a:ea typeface="맑은 고딕"/>
                          <a:cs typeface="맑은 고딕"/>
                        </a:rPr>
                        <a:t>UC06</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장문·RAG 컨텍스트 요청</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수만 토큰 이상의 문서·검색 결과가 붙은 요청을 보낸다. 긴 컨텍스트의 KV 캐시가 GPU 메모리를 압박해도 요청이 처리되어야 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FR03,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457200">
                <a:tc>
                  <a:txBody>
                    <a:bodyPr/>
                    <a:lstStyle/>
                    <a:p>
                      <a:pPr algn="ctr"/>
                      <a:r>
                        <a:rPr sz="800" b="0" i="0">
                          <a:solidFill>
                            <a:srgbClr val="000000"/>
                          </a:solidFill>
                          <a:latin typeface="맑은 고딕"/>
                          <a:ea typeface="맑은 고딕"/>
                          <a:cs typeface="맑은 고딕"/>
                        </a:rPr>
                        <a:t>UC07</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다중 서버에서 요청 처리</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AI Application / Agent Framework</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여러 서버로 구성된 환경에서 요청을 받아 서버 중 하나에서 처리하고, 필요하면 다른 서버에 있는 KV 캐시를 가져와 사용한다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FR02, FR04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r h="457200">
                <a:tc>
                  <a:txBody>
                    <a:bodyPr/>
                    <a:lstStyle/>
                    <a:p>
                      <a:pPr algn="ctr"/>
                      <a:r>
                        <a:rPr sz="800" b="0" i="0">
                          <a:solidFill>
                            <a:srgbClr val="000000"/>
                          </a:solidFill>
                          <a:latin typeface="맑은 고딕"/>
                          <a:ea typeface="맑은 고딕"/>
                          <a:cs typeface="맑은 고딕"/>
                        </a:rPr>
                        <a:t>UC08</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시스템 구성 정보 반영</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시스템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Compute/Memory/네트워크 구성 정보를 받아 메모리 계층과 연산 자원 구성을 인식하고, 인식한 시스템 구성 정보를 돌려준다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8"/>
                  </a:ext>
                </a:extLst>
              </a:tr>
              <a:tr h="457200">
                <a:tc>
                  <a:txBody>
                    <a:bodyPr/>
                    <a:lstStyle/>
                    <a:p>
                      <a:pPr algn="ctr"/>
                      <a:r>
                        <a:rPr sz="800" b="0" i="0">
                          <a:solidFill>
                            <a:srgbClr val="000000"/>
                          </a:solidFill>
                          <a:latin typeface="맑은 고딕"/>
                          <a:ea typeface="맑은 고딕"/>
                          <a:cs typeface="맑은 고딕"/>
                        </a:rPr>
                        <a:t>UC09</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SLO·정책·자원 구성</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서비스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SLO·정책·자원 구성을 입력해 런타임을 구성·기동하고 운영 중에도 변경한다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C01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9"/>
                  </a:ext>
                </a:extLst>
              </a:tr>
              <a:tr h="457200">
                <a:tc>
                  <a:txBody>
                    <a:bodyPr/>
                    <a:lstStyle/>
                    <a:p>
                      <a:pPr algn="ctr"/>
                      <a:r>
                        <a:rPr sz="800" b="0" i="0">
                          <a:solidFill>
                            <a:srgbClr val="000000"/>
                          </a:solidFill>
                          <a:latin typeface="맑은 고딕"/>
                          <a:ea typeface="맑은 고딕"/>
                          <a:cs typeface="맑은 고딕"/>
                        </a:rPr>
                        <a:t>UC10</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Device 연동</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Device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Device Runtime/Driver, Emulation API, HW 스펙을 받아 차세대 메모리·연산 가능 메모리를 사용 가능한 자원으로 등록·호출한다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10"/>
                  </a:ext>
                </a:extLst>
              </a:tr>
              <a:tr h="457200">
                <a:tc>
                  <a:txBody>
                    <a:bodyPr/>
                    <a:lstStyle/>
                    <a:p>
                      <a:pPr algn="ctr"/>
                      <a:r>
                        <a:rPr sz="800" b="0" i="0">
                          <a:solidFill>
                            <a:srgbClr val="000000"/>
                          </a:solidFill>
                          <a:latin typeface="맑은 고딕"/>
                          <a:ea typeface="맑은 고딕"/>
                          <a:cs typeface="맑은 고딕"/>
                        </a:rPr>
                        <a:t>UC11</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800" b="0" i="0">
                          <a:solidFill>
                            <a:srgbClr val="000000"/>
                          </a:solidFill>
                          <a:latin typeface="맑은 고딕"/>
                          <a:ea typeface="맑은 고딕"/>
                          <a:cs typeface="맑은 고딕"/>
                        </a:rPr>
                        <a:t>상태·성능 모니터링</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서비스 제공자</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i="0">
                          <a:solidFill>
                            <a:srgbClr val="000000"/>
                          </a:solidFill>
                          <a:latin typeface="맑은 고딕"/>
                          <a:ea typeface="맑은 고딕"/>
                          <a:cs typeface="맑은 고딕"/>
                        </a:rPr>
                        <a:t>성능 지표, Health 이벤트, 오류를 받아 런타임 상태를 확인한다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80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11"/>
                  </a:ext>
                </a:extLst>
              </a:tr>
            </a:tbl>
          </a:graphicData>
        </a:graphic>
      </p:graphicFrame>
      <p:sp>
        <p:nvSpPr>
          <p:cNvPr id="5" name="TextBox 4"/>
          <p:cNvSpPr txBox="1"/>
          <p:nvPr/>
        </p:nvSpPr>
        <p:spPr>
          <a:xfrm>
            <a:off x="246888" y="6144768"/>
            <a:ext cx="11704320" cy="365760"/>
          </a:xfrm>
          <a:prstGeom prst="rect">
            <a:avLst/>
          </a:prstGeom>
          <a:noFill/>
        </p:spPr>
        <p:txBody>
          <a:bodyPr wrap="square" lIns="36576" tIns="18288" rIns="36576" bIns="18288" anchor="t">
            <a:spAutoFit/>
          </a:bodyPr>
          <a:lstStyle/>
          <a:p>
            <a:pPr algn="l">
              <a:spcAft>
                <a:spcPts val="0"/>
              </a:spcAft>
            </a:pPr>
            <a:r>
              <a:rPr sz="700" b="0" i="0">
                <a:solidFill>
                  <a:srgbClr val="595959"/>
                </a:solidFill>
                <a:latin typeface="맑은 고딕"/>
                <a:ea typeface="맑은 고딕"/>
                <a:cs typeface="맑은 고딕"/>
              </a:rPr>
              <a:t>※ Actor와 입·출력은 Context View(Overall System) 기준. UC는 DP/QA와 1:1로 대응하지 않으며, DP는 각 UC 수행 중 발생하는 결정 문제를 설계한 것이다. '참고 FR'은 1p의 FR 중 관련된 것(참고용)</a:t>
            </a:r>
          </a:p>
        </p:txBody>
      </p:sp>
    </p:spTree>
    <p:extLst>
      <p:ext uri="{BB962C8B-B14F-4D97-AF65-F5344CB8AC3E}">
        <p14:creationId xmlns:p14="http://schemas.microsoft.com/office/powerpoint/2010/main" val="40372767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Domain Model </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22</a:t>
            </a:r>
          </a:p>
        </p:txBody>
      </p:sp>
      <p:sp>
        <p:nvSpPr>
          <p:cNvPr id="4" name="Rectangle 3"/>
          <p:cNvSpPr/>
          <p:nvPr/>
        </p:nvSpPr>
        <p:spPr>
          <a:xfrm>
            <a:off x="2679192" y="114300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Session</a:t>
            </a:r>
          </a:p>
          <a:p>
            <a:pPr algn="ctr">
              <a:spcAft>
                <a:spcPts val="0"/>
              </a:spcAft>
            </a:pPr>
            <a:r>
              <a:rPr sz="600" b="0" i="0">
                <a:solidFill>
                  <a:srgbClr val="595959"/>
                </a:solidFill>
                <a:latin typeface="맑은 고딕"/>
                <a:ea typeface="맑은 고딕"/>
                <a:cs typeface="맑은 고딕"/>
              </a:rPr>
              <a:t>UC05</a:t>
            </a:r>
          </a:p>
        </p:txBody>
      </p:sp>
      <p:sp>
        <p:nvSpPr>
          <p:cNvPr id="5" name="Rectangle 4"/>
          <p:cNvSpPr/>
          <p:nvPr/>
        </p:nvSpPr>
        <p:spPr>
          <a:xfrm>
            <a:off x="2679192" y="1472184"/>
            <a:ext cx="1783080" cy="4069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session_id</a:t>
            </a:r>
          </a:p>
          <a:p>
            <a:pPr algn="l">
              <a:spcAft>
                <a:spcPts val="0"/>
              </a:spcAft>
            </a:pPr>
            <a:r>
              <a:rPr sz="650" b="0" i="0">
                <a:solidFill>
                  <a:srgbClr val="000000"/>
                </a:solidFill>
                <a:latin typeface="맑은 고딕"/>
                <a:ea typeface="맑은 고딕"/>
                <a:cs typeface="맑은 고딕"/>
              </a:rPr>
              <a:t>턴 이력 · tool 호출 결과</a:t>
            </a:r>
          </a:p>
          <a:p>
            <a:pPr algn="l">
              <a:spcAft>
                <a:spcPts val="0"/>
              </a:spcAft>
            </a:pPr>
            <a:r>
              <a:rPr sz="650" b="0" i="0">
                <a:solidFill>
                  <a:srgbClr val="000000"/>
                </a:solidFill>
                <a:latin typeface="맑은 고딕"/>
                <a:ea typeface="맑은 고딕"/>
                <a:cs typeface="맑은 고딕"/>
              </a:rPr>
              <a:t>tool 대기 상태</a:t>
            </a:r>
          </a:p>
        </p:txBody>
      </p:sp>
      <p:sp>
        <p:nvSpPr>
          <p:cNvPr id="6" name="Rectangle 5"/>
          <p:cNvSpPr/>
          <p:nvPr/>
        </p:nvSpPr>
        <p:spPr>
          <a:xfrm>
            <a:off x="5038344" y="114300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Response</a:t>
            </a:r>
          </a:p>
          <a:p>
            <a:pPr algn="ctr">
              <a:spcAft>
                <a:spcPts val="0"/>
              </a:spcAft>
            </a:pPr>
            <a:r>
              <a:rPr sz="600" b="0" i="0">
                <a:solidFill>
                  <a:srgbClr val="595959"/>
                </a:solidFill>
                <a:latin typeface="맑은 고딕"/>
                <a:ea typeface="맑은 고딕"/>
                <a:cs typeface="맑은 고딕"/>
              </a:rPr>
              <a:t>UC01</a:t>
            </a:r>
          </a:p>
        </p:txBody>
      </p:sp>
      <p:sp>
        <p:nvSpPr>
          <p:cNvPr id="7" name="Rectangle 6"/>
          <p:cNvSpPr/>
          <p:nvPr/>
        </p:nvSpPr>
        <p:spPr>
          <a:xfrm>
            <a:off x="5038344" y="147218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생성 토큰 (스트림)</a:t>
            </a:r>
          </a:p>
          <a:p>
            <a:pPr algn="l">
              <a:spcAft>
                <a:spcPts val="0"/>
              </a:spcAft>
            </a:pPr>
            <a:r>
              <a:rPr sz="650" b="0" i="0">
                <a:solidFill>
                  <a:srgbClr val="000000"/>
                </a:solidFill>
                <a:latin typeface="맑은 고딕"/>
                <a:ea typeface="맑은 고딕"/>
                <a:cs typeface="맑은 고딕"/>
              </a:rPr>
              <a:t>완료 상태</a:t>
            </a:r>
          </a:p>
        </p:txBody>
      </p:sp>
      <p:sp>
        <p:nvSpPr>
          <p:cNvPr id="8" name="Rectangle 7"/>
          <p:cNvSpPr/>
          <p:nvPr/>
        </p:nvSpPr>
        <p:spPr>
          <a:xfrm>
            <a:off x="7397496" y="114300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ServicePolicy</a:t>
            </a:r>
          </a:p>
          <a:p>
            <a:pPr algn="ctr">
              <a:spcAft>
                <a:spcPts val="0"/>
              </a:spcAft>
            </a:pPr>
            <a:r>
              <a:rPr sz="600" b="0" i="0">
                <a:solidFill>
                  <a:srgbClr val="595959"/>
                </a:solidFill>
                <a:latin typeface="맑은 고딕"/>
                <a:ea typeface="맑은 고딕"/>
                <a:cs typeface="맑은 고딕"/>
              </a:rPr>
              <a:t>UC09</a:t>
            </a:r>
          </a:p>
        </p:txBody>
      </p:sp>
      <p:sp>
        <p:nvSpPr>
          <p:cNvPr id="9" name="Rectangle 8"/>
          <p:cNvSpPr/>
          <p:nvPr/>
        </p:nvSpPr>
        <p:spPr>
          <a:xfrm>
            <a:off x="7397496" y="147218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SLO (TTFT·TPOT)</a:t>
            </a:r>
          </a:p>
          <a:p>
            <a:pPr algn="l">
              <a:spcAft>
                <a:spcPts val="0"/>
              </a:spcAft>
            </a:pPr>
            <a:r>
              <a:rPr sz="650" b="0" i="0">
                <a:solidFill>
                  <a:srgbClr val="000000"/>
                </a:solidFill>
                <a:latin typeface="맑은 고딕"/>
                <a:ea typeface="맑은 고딕"/>
                <a:cs typeface="맑은 고딕"/>
              </a:rPr>
              <a:t>정책 · 자원 구성</a:t>
            </a:r>
          </a:p>
        </p:txBody>
      </p:sp>
      <p:sp>
        <p:nvSpPr>
          <p:cNvPr id="10" name="Rectangle 9"/>
          <p:cNvSpPr/>
          <p:nvPr/>
        </p:nvSpPr>
        <p:spPr>
          <a:xfrm>
            <a:off x="9756648" y="1143000"/>
            <a:ext cx="1783080" cy="329184"/>
          </a:xfrm>
          <a:prstGeom prst="rect">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«actor» 서비스 제공자</a:t>
            </a:r>
          </a:p>
          <a:p>
            <a:pPr algn="ctr">
              <a:spcAft>
                <a:spcPts val="0"/>
              </a:spcAft>
            </a:pPr>
            <a:r>
              <a:rPr sz="600" b="0" i="0">
                <a:solidFill>
                  <a:srgbClr val="595959"/>
                </a:solidFill>
                <a:latin typeface="맑은 고딕"/>
                <a:ea typeface="맑은 고딕"/>
                <a:cs typeface="맑은 고딕"/>
              </a:rPr>
              <a:t>UC09 · UC11</a:t>
            </a:r>
          </a:p>
        </p:txBody>
      </p:sp>
      <p:sp>
        <p:nvSpPr>
          <p:cNvPr id="11" name="Rectangle 10"/>
          <p:cNvSpPr/>
          <p:nvPr/>
        </p:nvSpPr>
        <p:spPr>
          <a:xfrm>
            <a:off x="9756648" y="1472184"/>
            <a:ext cx="1783080" cy="178308"/>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SLO·정책·자원 구성을 정의</a:t>
            </a:r>
          </a:p>
        </p:txBody>
      </p:sp>
      <p:sp>
        <p:nvSpPr>
          <p:cNvPr id="12" name="Rectangle 11"/>
          <p:cNvSpPr/>
          <p:nvPr/>
        </p:nvSpPr>
        <p:spPr>
          <a:xfrm>
            <a:off x="320040" y="2194560"/>
            <a:ext cx="1783080" cy="329184"/>
          </a:xfrm>
          <a:prstGeom prst="rect">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«actor» AI Application</a:t>
            </a:r>
          </a:p>
          <a:p>
            <a:pPr algn="ctr">
              <a:spcAft>
                <a:spcPts val="0"/>
              </a:spcAft>
            </a:pPr>
            <a:r>
              <a:rPr sz="600" b="0" i="0">
                <a:solidFill>
                  <a:srgbClr val="595959"/>
                </a:solidFill>
                <a:latin typeface="맑은 고딕"/>
                <a:ea typeface="맑은 고딕"/>
                <a:cs typeface="맑은 고딕"/>
              </a:rPr>
              <a:t>UC01</a:t>
            </a:r>
          </a:p>
        </p:txBody>
      </p:sp>
      <p:sp>
        <p:nvSpPr>
          <p:cNvPr id="13" name="Rectangle 12"/>
          <p:cNvSpPr/>
          <p:nvPr/>
        </p:nvSpPr>
        <p:spPr>
          <a:xfrm>
            <a:off x="320040" y="2523744"/>
            <a:ext cx="1783080" cy="178308"/>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Agent Framework (사용자)</a:t>
            </a:r>
          </a:p>
        </p:txBody>
      </p:sp>
      <p:sp>
        <p:nvSpPr>
          <p:cNvPr id="14" name="Rectangle 13"/>
          <p:cNvSpPr/>
          <p:nvPr/>
        </p:nvSpPr>
        <p:spPr>
          <a:xfrm>
            <a:off x="5038344" y="219456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InferenceRequest</a:t>
            </a:r>
          </a:p>
          <a:p>
            <a:pPr algn="ctr">
              <a:spcAft>
                <a:spcPts val="0"/>
              </a:spcAft>
            </a:pPr>
            <a:r>
              <a:rPr sz="600" b="0" i="0">
                <a:solidFill>
                  <a:srgbClr val="595959"/>
                </a:solidFill>
                <a:latin typeface="맑은 고딕"/>
                <a:ea typeface="맑은 고딕"/>
                <a:cs typeface="맑은 고딕"/>
              </a:rPr>
              <a:t>UC01 · UC02</a:t>
            </a:r>
          </a:p>
        </p:txBody>
      </p:sp>
      <p:sp>
        <p:nvSpPr>
          <p:cNvPr id="15" name="Rectangle 14"/>
          <p:cNvSpPr/>
          <p:nvPr/>
        </p:nvSpPr>
        <p:spPr>
          <a:xfrm>
            <a:off x="5038344" y="2523744"/>
            <a:ext cx="1783080" cy="4069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request_id</a:t>
            </a:r>
          </a:p>
          <a:p>
            <a:pPr algn="l">
              <a:spcAft>
                <a:spcPts val="0"/>
              </a:spcAft>
            </a:pPr>
            <a:r>
              <a:rPr sz="650" b="0" i="0">
                <a:solidFill>
                  <a:srgbClr val="000000"/>
                </a:solidFill>
                <a:latin typeface="맑은 고딕"/>
                <a:ea typeface="맑은 고딕"/>
                <a:cs typeface="맑은 고딕"/>
              </a:rPr>
              <a:t>Query · 샘플링 옵션</a:t>
            </a:r>
          </a:p>
          <a:p>
            <a:pPr algn="l">
              <a:spcAft>
                <a:spcPts val="0"/>
              </a:spcAft>
            </a:pPr>
            <a:r>
              <a:rPr sz="650" b="0" i="0">
                <a:solidFill>
                  <a:srgbClr val="000000"/>
                </a:solidFill>
                <a:latin typeface="맑은 고딕"/>
                <a:ea typeface="맑은 고딕"/>
                <a:cs typeface="맑은 고딕"/>
              </a:rPr>
              <a:t>상태 (대기·실행·완료)</a:t>
            </a:r>
          </a:p>
        </p:txBody>
      </p:sp>
      <p:sp>
        <p:nvSpPr>
          <p:cNvPr id="16" name="Rectangle 15"/>
          <p:cNvSpPr/>
          <p:nvPr/>
        </p:nvSpPr>
        <p:spPr>
          <a:xfrm>
            <a:off x="7397496" y="219456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Model</a:t>
            </a:r>
          </a:p>
          <a:p>
            <a:pPr algn="ctr">
              <a:spcAft>
                <a:spcPts val="0"/>
              </a:spcAft>
            </a:pPr>
            <a:r>
              <a:rPr sz="600" b="0" i="0">
                <a:solidFill>
                  <a:srgbClr val="595959"/>
                </a:solidFill>
                <a:latin typeface="맑은 고딕"/>
                <a:ea typeface="맑은 고딕"/>
                <a:cs typeface="맑은 고딕"/>
              </a:rPr>
              <a:t>UC02</a:t>
            </a:r>
          </a:p>
        </p:txBody>
      </p:sp>
      <p:sp>
        <p:nvSpPr>
          <p:cNvPr id="17" name="Rectangle 16"/>
          <p:cNvSpPr/>
          <p:nvPr/>
        </p:nvSpPr>
        <p:spPr>
          <a:xfrm>
            <a:off x="7397496" y="252374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model_id</a:t>
            </a:r>
          </a:p>
          <a:p>
            <a:pPr algn="l">
              <a:spcAft>
                <a:spcPts val="0"/>
              </a:spcAft>
            </a:pPr>
            <a:r>
              <a:rPr sz="650" b="0" i="0">
                <a:solidFill>
                  <a:srgbClr val="000000"/>
                </a:solidFill>
                <a:latin typeface="맑은 고딕"/>
                <a:ea typeface="맑은 고딕"/>
                <a:cs typeface="맑은 고딕"/>
              </a:rPr>
              <a:t>LLM 가중치</a:t>
            </a:r>
          </a:p>
        </p:txBody>
      </p:sp>
      <p:sp>
        <p:nvSpPr>
          <p:cNvPr id="18" name="Rectangle 17"/>
          <p:cNvSpPr/>
          <p:nvPr/>
        </p:nvSpPr>
        <p:spPr>
          <a:xfrm>
            <a:off x="2679192" y="324612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Context</a:t>
            </a:r>
          </a:p>
          <a:p>
            <a:pPr algn="ctr">
              <a:spcAft>
                <a:spcPts val="0"/>
              </a:spcAft>
            </a:pPr>
            <a:r>
              <a:rPr sz="600" b="0" i="0">
                <a:solidFill>
                  <a:srgbClr val="595959"/>
                </a:solidFill>
                <a:latin typeface="맑은 고딕"/>
                <a:ea typeface="맑은 고딕"/>
                <a:cs typeface="맑은 고딕"/>
              </a:rPr>
              <a:t>UC05 · UC06</a:t>
            </a:r>
          </a:p>
        </p:txBody>
      </p:sp>
      <p:sp>
        <p:nvSpPr>
          <p:cNvPr id="19" name="Rectangle 18"/>
          <p:cNvSpPr/>
          <p:nvPr/>
        </p:nvSpPr>
        <p:spPr>
          <a:xfrm>
            <a:off x="2679192" y="3575303"/>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대화 이력 · tool 결과 · RAG 문서</a:t>
            </a:r>
          </a:p>
          <a:p>
            <a:pPr algn="l">
              <a:spcAft>
                <a:spcPts val="0"/>
              </a:spcAft>
            </a:pPr>
            <a:r>
              <a:rPr sz="650" b="0" i="0">
                <a:solidFill>
                  <a:srgbClr val="000000"/>
                </a:solidFill>
                <a:latin typeface="맑은 고딕"/>
                <a:ea typeface="맑은 고딕"/>
                <a:cs typeface="맑은 고딕"/>
              </a:rPr>
              <a:t>토큰 길이</a:t>
            </a:r>
          </a:p>
        </p:txBody>
      </p:sp>
      <p:sp>
        <p:nvSpPr>
          <p:cNvPr id="20" name="Rectangle 19"/>
          <p:cNvSpPr/>
          <p:nvPr/>
        </p:nvSpPr>
        <p:spPr>
          <a:xfrm>
            <a:off x="5038344" y="324612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KVCache</a:t>
            </a:r>
          </a:p>
          <a:p>
            <a:pPr algn="ctr">
              <a:spcAft>
                <a:spcPts val="0"/>
              </a:spcAft>
            </a:pPr>
            <a:r>
              <a:rPr sz="600" b="0" i="0">
                <a:solidFill>
                  <a:srgbClr val="595959"/>
                </a:solidFill>
                <a:latin typeface="맑은 고딕"/>
                <a:ea typeface="맑은 고딕"/>
                <a:cs typeface="맑은 고딕"/>
              </a:rPr>
              <a:t>UC04 · UC05</a:t>
            </a:r>
          </a:p>
        </p:txBody>
      </p:sp>
      <p:sp>
        <p:nvSpPr>
          <p:cNvPr id="21" name="Rectangle 20"/>
          <p:cNvSpPr/>
          <p:nvPr/>
        </p:nvSpPr>
        <p:spPr>
          <a:xfrm>
            <a:off x="5038344" y="3575303"/>
            <a:ext cx="1783080" cy="4069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소유 (요청 / 컨텍스트)</a:t>
            </a:r>
          </a:p>
          <a:p>
            <a:pPr algn="l">
              <a:spcAft>
                <a:spcPts val="0"/>
              </a:spcAft>
            </a:pPr>
            <a:r>
              <a:rPr sz="650" b="0" i="0">
                <a:solidFill>
                  <a:srgbClr val="000000"/>
                </a:solidFill>
                <a:latin typeface="맑은 고딕"/>
                <a:ea typeface="맑은 고딕"/>
                <a:cs typeface="맑은 고딕"/>
              </a:rPr>
              <a:t>재사용 가능 여부</a:t>
            </a:r>
          </a:p>
          <a:p>
            <a:pPr algn="l">
              <a:spcAft>
                <a:spcPts val="0"/>
              </a:spcAft>
            </a:pPr>
            <a:r>
              <a:rPr sz="650" b="0" i="0">
                <a:solidFill>
                  <a:srgbClr val="000000"/>
                </a:solidFill>
                <a:latin typeface="맑은 고딕"/>
                <a:ea typeface="맑은 고딕"/>
                <a:cs typeface="맑은 고딕"/>
              </a:rPr>
              <a:t>크기</a:t>
            </a:r>
          </a:p>
        </p:txBody>
      </p:sp>
      <p:sp>
        <p:nvSpPr>
          <p:cNvPr id="22" name="Rectangle 21"/>
          <p:cNvSpPr/>
          <p:nvPr/>
        </p:nvSpPr>
        <p:spPr>
          <a:xfrm>
            <a:off x="7397496" y="324612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Batch</a:t>
            </a:r>
          </a:p>
          <a:p>
            <a:pPr algn="ctr">
              <a:spcAft>
                <a:spcPts val="0"/>
              </a:spcAft>
            </a:pPr>
            <a:r>
              <a:rPr sz="600" b="0" i="0">
                <a:solidFill>
                  <a:srgbClr val="595959"/>
                </a:solidFill>
                <a:latin typeface="맑은 고딕"/>
                <a:ea typeface="맑은 고딕"/>
                <a:cs typeface="맑은 고딕"/>
              </a:rPr>
              <a:t>UC03</a:t>
            </a:r>
          </a:p>
        </p:txBody>
      </p:sp>
      <p:sp>
        <p:nvSpPr>
          <p:cNvPr id="23" name="Rectangle 22"/>
          <p:cNvSpPr/>
          <p:nvPr/>
        </p:nvSpPr>
        <p:spPr>
          <a:xfrm>
            <a:off x="7397496" y="3575303"/>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요청 묶음 · 실행 순서</a:t>
            </a:r>
          </a:p>
          <a:p>
            <a:pPr algn="l">
              <a:spcAft>
                <a:spcPts val="0"/>
              </a:spcAft>
            </a:pPr>
            <a:r>
              <a:rPr sz="650" b="0" i="0">
                <a:solidFill>
                  <a:srgbClr val="000000"/>
                </a:solidFill>
                <a:latin typeface="맑은 고딕"/>
                <a:ea typeface="맑은 고딕"/>
                <a:cs typeface="맑은 고딕"/>
              </a:rPr>
              <a:t>실행 시점</a:t>
            </a:r>
          </a:p>
        </p:txBody>
      </p:sp>
      <p:sp>
        <p:nvSpPr>
          <p:cNvPr id="24" name="Rectangle 23"/>
          <p:cNvSpPr/>
          <p:nvPr/>
        </p:nvSpPr>
        <p:spPr>
          <a:xfrm>
            <a:off x="9756648" y="324612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Metric / HealthEvent</a:t>
            </a:r>
          </a:p>
          <a:p>
            <a:pPr algn="ctr">
              <a:spcAft>
                <a:spcPts val="0"/>
              </a:spcAft>
            </a:pPr>
            <a:r>
              <a:rPr sz="600" b="0" i="0">
                <a:solidFill>
                  <a:srgbClr val="595959"/>
                </a:solidFill>
                <a:latin typeface="맑은 고딕"/>
                <a:ea typeface="맑은 고딕"/>
                <a:cs typeface="맑은 고딕"/>
              </a:rPr>
              <a:t>UC11</a:t>
            </a:r>
          </a:p>
        </p:txBody>
      </p:sp>
      <p:sp>
        <p:nvSpPr>
          <p:cNvPr id="25" name="Rectangle 24"/>
          <p:cNvSpPr/>
          <p:nvPr/>
        </p:nvSpPr>
        <p:spPr>
          <a:xfrm>
            <a:off x="9756648" y="3575303"/>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처리량 · 지연 · 메모리 사용률</a:t>
            </a:r>
          </a:p>
          <a:p>
            <a:pPr algn="l">
              <a:spcAft>
                <a:spcPts val="0"/>
              </a:spcAft>
            </a:pPr>
            <a:r>
              <a:rPr sz="650" b="0" i="0">
                <a:solidFill>
                  <a:srgbClr val="000000"/>
                </a:solidFill>
                <a:latin typeface="맑은 고딕"/>
                <a:ea typeface="맑은 고딕"/>
                <a:cs typeface="맑은 고딕"/>
              </a:rPr>
              <a:t>Health 이벤트 · 오류</a:t>
            </a:r>
          </a:p>
        </p:txBody>
      </p:sp>
      <p:sp>
        <p:nvSpPr>
          <p:cNvPr id="26" name="Rectangle 25"/>
          <p:cNvSpPr/>
          <p:nvPr/>
        </p:nvSpPr>
        <p:spPr>
          <a:xfrm>
            <a:off x="2679192" y="429768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MemoryTier</a:t>
            </a:r>
          </a:p>
          <a:p>
            <a:pPr algn="ctr">
              <a:spcAft>
                <a:spcPts val="0"/>
              </a:spcAft>
            </a:pPr>
            <a:r>
              <a:rPr sz="600" b="0" i="0">
                <a:solidFill>
                  <a:srgbClr val="595959"/>
                </a:solidFill>
                <a:latin typeface="맑은 고딕"/>
                <a:ea typeface="맑은 고딕"/>
                <a:cs typeface="맑은 고딕"/>
              </a:rPr>
              <a:t>UC04 · UC08 · UC10</a:t>
            </a:r>
          </a:p>
        </p:txBody>
      </p:sp>
      <p:sp>
        <p:nvSpPr>
          <p:cNvPr id="27" name="Rectangle 26"/>
          <p:cNvSpPr/>
          <p:nvPr/>
        </p:nvSpPr>
        <p:spPr>
          <a:xfrm>
            <a:off x="2679192" y="4626864"/>
            <a:ext cx="1783080" cy="4069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종류 (HBM·DRAM·CXL·SSD)</a:t>
            </a:r>
          </a:p>
          <a:p>
            <a:pPr algn="l">
              <a:spcAft>
                <a:spcPts val="0"/>
              </a:spcAft>
            </a:pPr>
            <a:r>
              <a:rPr sz="650" b="0" i="0">
                <a:solidFill>
                  <a:srgbClr val="000000"/>
                </a:solidFill>
                <a:latin typeface="맑은 고딕"/>
                <a:ea typeface="맑은 고딕"/>
                <a:cs typeface="맑은 고딕"/>
              </a:rPr>
              <a:t>용량 · 대역폭 · 지연</a:t>
            </a:r>
          </a:p>
          <a:p>
            <a:pPr algn="l">
              <a:spcAft>
                <a:spcPts val="0"/>
              </a:spcAft>
            </a:pPr>
            <a:r>
              <a:rPr sz="650" b="0" i="0">
                <a:solidFill>
                  <a:srgbClr val="000000"/>
                </a:solidFill>
                <a:latin typeface="맑은 고딕"/>
                <a:ea typeface="맑은 고딕"/>
                <a:cs typeface="맑은 고딕"/>
              </a:rPr>
              <a:t>범위 (서버 로컬 / 서버 간 공유)</a:t>
            </a:r>
          </a:p>
        </p:txBody>
      </p:sp>
      <p:sp>
        <p:nvSpPr>
          <p:cNvPr id="28" name="Rectangle 27"/>
          <p:cNvSpPr/>
          <p:nvPr/>
        </p:nvSpPr>
        <p:spPr>
          <a:xfrm>
            <a:off x="5038344" y="429768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KVBlock</a:t>
            </a:r>
          </a:p>
          <a:p>
            <a:pPr algn="ctr">
              <a:spcAft>
                <a:spcPts val="0"/>
              </a:spcAft>
            </a:pPr>
            <a:r>
              <a:rPr sz="600" b="0" i="0">
                <a:solidFill>
                  <a:srgbClr val="595959"/>
                </a:solidFill>
                <a:latin typeface="맑은 고딕"/>
                <a:ea typeface="맑은 고딕"/>
                <a:cs typeface="맑은 고딕"/>
              </a:rPr>
              <a:t>UC04</a:t>
            </a:r>
          </a:p>
        </p:txBody>
      </p:sp>
      <p:sp>
        <p:nvSpPr>
          <p:cNvPr id="29" name="Rectangle 28"/>
          <p:cNvSpPr/>
          <p:nvPr/>
        </p:nvSpPr>
        <p:spPr>
          <a:xfrm>
            <a:off x="5038344" y="4626864"/>
            <a:ext cx="1783080" cy="4069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block_id</a:t>
            </a:r>
          </a:p>
          <a:p>
            <a:pPr algn="l">
              <a:spcAft>
                <a:spcPts val="0"/>
              </a:spcAft>
            </a:pPr>
            <a:r>
              <a:rPr sz="650" b="0" i="0">
                <a:solidFill>
                  <a:srgbClr val="000000"/>
                </a:solidFill>
                <a:latin typeface="맑은 고딕"/>
                <a:ea typeface="맑은 고딕"/>
                <a:cs typeface="맑은 고딕"/>
              </a:rPr>
              <a:t>토큰 수 · hash</a:t>
            </a:r>
          </a:p>
          <a:p>
            <a:pPr algn="l">
              <a:spcAft>
                <a:spcPts val="0"/>
              </a:spcAft>
            </a:pPr>
            <a:r>
              <a:rPr sz="650" b="0" i="0">
                <a:solidFill>
                  <a:srgbClr val="000000"/>
                </a:solidFill>
                <a:latin typeface="맑은 고딕"/>
                <a:ea typeface="맑은 고딕"/>
                <a:cs typeface="맑은 고딕"/>
              </a:rPr>
              <a:t>참조 수</a:t>
            </a:r>
          </a:p>
        </p:txBody>
      </p:sp>
      <p:sp>
        <p:nvSpPr>
          <p:cNvPr id="30" name="Rectangle 29"/>
          <p:cNvSpPr/>
          <p:nvPr/>
        </p:nvSpPr>
        <p:spPr>
          <a:xfrm>
            <a:off x="7397496" y="429768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ComputeResource</a:t>
            </a:r>
          </a:p>
          <a:p>
            <a:pPr algn="ctr">
              <a:spcAft>
                <a:spcPts val="0"/>
              </a:spcAft>
            </a:pPr>
            <a:r>
              <a:rPr sz="600" b="0" i="0">
                <a:solidFill>
                  <a:srgbClr val="595959"/>
                </a:solidFill>
                <a:latin typeface="맑은 고딕"/>
                <a:ea typeface="맑은 고딕"/>
                <a:cs typeface="맑은 고딕"/>
              </a:rPr>
              <a:t>UC03 · UC08 · UC10</a:t>
            </a:r>
          </a:p>
        </p:txBody>
      </p:sp>
      <p:sp>
        <p:nvSpPr>
          <p:cNvPr id="31" name="Rectangle 30"/>
          <p:cNvSpPr/>
          <p:nvPr/>
        </p:nvSpPr>
        <p:spPr>
          <a:xfrm>
            <a:off x="7397496" y="462686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종류 (GPU·CPU·PIM/PNM)</a:t>
            </a:r>
          </a:p>
          <a:p>
            <a:pPr algn="l">
              <a:spcAft>
                <a:spcPts val="0"/>
              </a:spcAft>
            </a:pPr>
            <a:r>
              <a:rPr sz="650" b="0" i="0">
                <a:solidFill>
                  <a:srgbClr val="000000"/>
                </a:solidFill>
                <a:latin typeface="맑은 고딕"/>
                <a:ea typeface="맑은 고딕"/>
                <a:cs typeface="맑은 고딕"/>
              </a:rPr>
              <a:t>가용 상태</a:t>
            </a:r>
          </a:p>
        </p:txBody>
      </p:sp>
      <p:sp>
        <p:nvSpPr>
          <p:cNvPr id="32" name="Rectangle 31"/>
          <p:cNvSpPr/>
          <p:nvPr/>
        </p:nvSpPr>
        <p:spPr>
          <a:xfrm>
            <a:off x="9756648" y="4297680"/>
            <a:ext cx="1783080" cy="329184"/>
          </a:xfrm>
          <a:prstGeom prst="rect">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«actor» 시스템 제공자</a:t>
            </a:r>
          </a:p>
          <a:p>
            <a:pPr algn="ctr">
              <a:spcAft>
                <a:spcPts val="0"/>
              </a:spcAft>
            </a:pPr>
            <a:r>
              <a:rPr sz="600" b="0" i="0">
                <a:solidFill>
                  <a:srgbClr val="595959"/>
                </a:solidFill>
                <a:latin typeface="맑은 고딕"/>
                <a:ea typeface="맑은 고딕"/>
                <a:cs typeface="맑은 고딕"/>
              </a:rPr>
              <a:t>UC08</a:t>
            </a:r>
          </a:p>
        </p:txBody>
      </p:sp>
      <p:sp>
        <p:nvSpPr>
          <p:cNvPr id="33" name="Rectangle 32"/>
          <p:cNvSpPr/>
          <p:nvPr/>
        </p:nvSpPr>
        <p:spPr>
          <a:xfrm>
            <a:off x="9756648" y="4626864"/>
            <a:ext cx="1783080" cy="178308"/>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구성 정보를 제공</a:t>
            </a:r>
          </a:p>
        </p:txBody>
      </p:sp>
      <p:sp>
        <p:nvSpPr>
          <p:cNvPr id="34" name="Rectangle 33"/>
          <p:cNvSpPr/>
          <p:nvPr/>
        </p:nvSpPr>
        <p:spPr>
          <a:xfrm>
            <a:off x="320040" y="5349240"/>
            <a:ext cx="1783080" cy="329184"/>
          </a:xfrm>
          <a:prstGeom prst="rect">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«actor» Device 제공자</a:t>
            </a:r>
          </a:p>
          <a:p>
            <a:pPr algn="ctr">
              <a:spcAft>
                <a:spcPts val="0"/>
              </a:spcAft>
            </a:pPr>
            <a:r>
              <a:rPr sz="600" b="0" i="0">
                <a:solidFill>
                  <a:srgbClr val="595959"/>
                </a:solidFill>
                <a:latin typeface="맑은 고딕"/>
                <a:ea typeface="맑은 고딕"/>
                <a:cs typeface="맑은 고딕"/>
              </a:rPr>
              <a:t>UC10</a:t>
            </a:r>
          </a:p>
        </p:txBody>
      </p:sp>
      <p:sp>
        <p:nvSpPr>
          <p:cNvPr id="35" name="Rectangle 34"/>
          <p:cNvSpPr/>
          <p:nvPr/>
        </p:nvSpPr>
        <p:spPr>
          <a:xfrm>
            <a:off x="320040" y="5678424"/>
            <a:ext cx="1783080" cy="178308"/>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장치와 SW를 제공</a:t>
            </a:r>
          </a:p>
        </p:txBody>
      </p:sp>
      <p:sp>
        <p:nvSpPr>
          <p:cNvPr id="36" name="Rectangle 35"/>
          <p:cNvSpPr/>
          <p:nvPr/>
        </p:nvSpPr>
        <p:spPr>
          <a:xfrm>
            <a:off x="2679192" y="534924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Device</a:t>
            </a:r>
          </a:p>
          <a:p>
            <a:pPr algn="ctr">
              <a:spcAft>
                <a:spcPts val="0"/>
              </a:spcAft>
            </a:pPr>
            <a:r>
              <a:rPr sz="600" b="0" i="0">
                <a:solidFill>
                  <a:srgbClr val="595959"/>
                </a:solidFill>
                <a:latin typeface="맑은 고딕"/>
                <a:ea typeface="맑은 고딕"/>
                <a:cs typeface="맑은 고딕"/>
              </a:rPr>
              <a:t>UC10</a:t>
            </a:r>
          </a:p>
        </p:txBody>
      </p:sp>
      <p:sp>
        <p:nvSpPr>
          <p:cNvPr id="37" name="Rectangle 36"/>
          <p:cNvSpPr/>
          <p:nvPr/>
        </p:nvSpPr>
        <p:spPr>
          <a:xfrm>
            <a:off x="2679192" y="567842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Device Runtime / Driver</a:t>
            </a:r>
          </a:p>
          <a:p>
            <a:pPr algn="l">
              <a:spcAft>
                <a:spcPts val="0"/>
              </a:spcAft>
            </a:pPr>
            <a:r>
              <a:rPr sz="650" b="0" i="0">
                <a:solidFill>
                  <a:srgbClr val="000000"/>
                </a:solidFill>
                <a:latin typeface="맑은 고딕"/>
                <a:ea typeface="맑은 고딕"/>
                <a:cs typeface="맑은 고딕"/>
              </a:rPr>
              <a:t>Emulation API · HW 스펙</a:t>
            </a:r>
          </a:p>
        </p:txBody>
      </p:sp>
      <p:sp>
        <p:nvSpPr>
          <p:cNvPr id="38" name="Rectangle 37"/>
          <p:cNvSpPr/>
          <p:nvPr/>
        </p:nvSpPr>
        <p:spPr>
          <a:xfrm>
            <a:off x="5038344" y="534924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Node (서버)</a:t>
            </a:r>
          </a:p>
          <a:p>
            <a:pPr algn="ctr">
              <a:spcAft>
                <a:spcPts val="0"/>
              </a:spcAft>
            </a:pPr>
            <a:r>
              <a:rPr sz="600" b="0" i="0">
                <a:solidFill>
                  <a:srgbClr val="595959"/>
                </a:solidFill>
                <a:latin typeface="맑은 고딕"/>
                <a:ea typeface="맑은 고딕"/>
                <a:cs typeface="맑은 고딕"/>
              </a:rPr>
              <a:t>UC07 · UC08</a:t>
            </a:r>
          </a:p>
        </p:txBody>
      </p:sp>
      <p:sp>
        <p:nvSpPr>
          <p:cNvPr id="39" name="Rectangle 38"/>
          <p:cNvSpPr/>
          <p:nvPr/>
        </p:nvSpPr>
        <p:spPr>
          <a:xfrm>
            <a:off x="5038344" y="567842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node_id</a:t>
            </a:r>
          </a:p>
          <a:p>
            <a:pPr algn="l">
              <a:spcAft>
                <a:spcPts val="0"/>
              </a:spcAft>
            </a:pPr>
            <a:r>
              <a:rPr sz="650" b="0" i="0">
                <a:solidFill>
                  <a:srgbClr val="000000"/>
                </a:solidFill>
                <a:latin typeface="맑은 고딕"/>
                <a:ea typeface="맑은 고딕"/>
                <a:cs typeface="맑은 고딕"/>
              </a:rPr>
              <a:t>GPU 8장 서버</a:t>
            </a:r>
          </a:p>
        </p:txBody>
      </p:sp>
      <p:sp>
        <p:nvSpPr>
          <p:cNvPr id="40" name="Rectangle 39"/>
          <p:cNvSpPr/>
          <p:nvPr/>
        </p:nvSpPr>
        <p:spPr>
          <a:xfrm>
            <a:off x="7397496" y="534924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Cluster</a:t>
            </a:r>
          </a:p>
          <a:p>
            <a:pPr algn="ctr">
              <a:spcAft>
                <a:spcPts val="0"/>
              </a:spcAft>
            </a:pPr>
            <a:r>
              <a:rPr sz="600" b="0" i="0">
                <a:solidFill>
                  <a:srgbClr val="595959"/>
                </a:solidFill>
                <a:latin typeface="맑은 고딕"/>
                <a:ea typeface="맑은 고딕"/>
                <a:cs typeface="맑은 고딕"/>
              </a:rPr>
              <a:t>UC07</a:t>
            </a:r>
          </a:p>
        </p:txBody>
      </p:sp>
      <p:sp>
        <p:nvSpPr>
          <p:cNvPr id="41" name="Rectangle 40"/>
          <p:cNvSpPr/>
          <p:nvPr/>
        </p:nvSpPr>
        <p:spPr>
          <a:xfrm>
            <a:off x="7397496" y="5678424"/>
            <a:ext cx="1783080" cy="2926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서버 집합</a:t>
            </a:r>
          </a:p>
          <a:p>
            <a:pPr algn="l">
              <a:spcAft>
                <a:spcPts val="0"/>
              </a:spcAft>
            </a:pPr>
            <a:r>
              <a:rPr sz="650" b="0" i="0">
                <a:solidFill>
                  <a:srgbClr val="000000"/>
                </a:solidFill>
                <a:latin typeface="맑은 고딕"/>
                <a:ea typeface="맑은 고딕"/>
                <a:cs typeface="맑은 고딕"/>
              </a:rPr>
              <a:t>서버 간 네트워크</a:t>
            </a:r>
          </a:p>
        </p:txBody>
      </p:sp>
      <p:sp>
        <p:nvSpPr>
          <p:cNvPr id="42" name="Rectangle 41"/>
          <p:cNvSpPr/>
          <p:nvPr/>
        </p:nvSpPr>
        <p:spPr>
          <a:xfrm>
            <a:off x="9756648" y="5349240"/>
            <a:ext cx="1783080" cy="329184"/>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800" b="1" i="0">
                <a:solidFill>
                  <a:srgbClr val="000000"/>
                </a:solidFill>
                <a:latin typeface="맑은 고딕"/>
                <a:ea typeface="맑은 고딕"/>
                <a:cs typeface="맑은 고딕"/>
              </a:rPr>
              <a:t>SystemConfiguration</a:t>
            </a:r>
          </a:p>
          <a:p>
            <a:pPr algn="ctr">
              <a:spcAft>
                <a:spcPts val="0"/>
              </a:spcAft>
            </a:pPr>
            <a:r>
              <a:rPr sz="600" b="0" i="0">
                <a:solidFill>
                  <a:srgbClr val="595959"/>
                </a:solidFill>
                <a:latin typeface="맑은 고딕"/>
                <a:ea typeface="맑은 고딕"/>
                <a:cs typeface="맑은 고딕"/>
              </a:rPr>
              <a:t>UC08</a:t>
            </a:r>
          </a:p>
        </p:txBody>
      </p:sp>
      <p:sp>
        <p:nvSpPr>
          <p:cNvPr id="43" name="Rectangle 42"/>
          <p:cNvSpPr/>
          <p:nvPr/>
        </p:nvSpPr>
        <p:spPr>
          <a:xfrm>
            <a:off x="9756648" y="5678424"/>
            <a:ext cx="1783080" cy="17830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45720" tIns="18288" rIns="45720" bIns="18288" rtlCol="0" anchor="t"/>
          <a:lstStyle/>
          <a:p>
            <a:pPr algn="l">
              <a:spcAft>
                <a:spcPts val="0"/>
              </a:spcAft>
            </a:pPr>
            <a:r>
              <a:rPr sz="650" b="0" i="0">
                <a:solidFill>
                  <a:srgbClr val="000000"/>
                </a:solidFill>
                <a:latin typeface="맑은 고딕"/>
                <a:ea typeface="맑은 고딕"/>
                <a:cs typeface="맑은 고딕"/>
              </a:rPr>
              <a:t>Compute / Memory / 네트워크 구성</a:t>
            </a:r>
          </a:p>
        </p:txBody>
      </p:sp>
      <p:cxnSp>
        <p:nvCxnSpPr>
          <p:cNvPr id="44" name="Connector 43"/>
          <p:cNvCxnSpPr/>
          <p:nvPr/>
        </p:nvCxnSpPr>
        <p:spPr>
          <a:xfrm flipV="1">
            <a:off x="1211580" y="1879091"/>
            <a:ext cx="2359152" cy="315469"/>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275941" y="196367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소유</a:t>
            </a:r>
          </a:p>
        </p:txBody>
      </p:sp>
      <p:sp>
        <p:nvSpPr>
          <p:cNvPr id="46" name="TextBox 45"/>
          <p:cNvSpPr txBox="1"/>
          <p:nvPr/>
        </p:nvSpPr>
        <p:spPr>
          <a:xfrm>
            <a:off x="1300949" y="217032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47" name="TextBox 46"/>
          <p:cNvSpPr txBox="1"/>
          <p:nvPr/>
        </p:nvSpPr>
        <p:spPr>
          <a:xfrm>
            <a:off x="3227616" y="1903331"/>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48" name="Connector 47"/>
          <p:cNvCxnSpPr/>
          <p:nvPr/>
        </p:nvCxnSpPr>
        <p:spPr>
          <a:xfrm>
            <a:off x="2103120" y="2448306"/>
            <a:ext cx="2935224" cy="11430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3455517" y="2432303"/>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제출</a:t>
            </a:r>
          </a:p>
        </p:txBody>
      </p:sp>
      <p:sp>
        <p:nvSpPr>
          <p:cNvPr id="50" name="TextBox 49"/>
          <p:cNvSpPr txBox="1"/>
          <p:nvPr/>
        </p:nvSpPr>
        <p:spPr>
          <a:xfrm>
            <a:off x="2193964" y="2455422"/>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51" name="TextBox 50"/>
          <p:cNvSpPr txBox="1"/>
          <p:nvPr/>
        </p:nvSpPr>
        <p:spPr>
          <a:xfrm>
            <a:off x="4693753" y="2555489"/>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52" name="Connector 51"/>
          <p:cNvCxnSpPr/>
          <p:nvPr/>
        </p:nvCxnSpPr>
        <p:spPr>
          <a:xfrm>
            <a:off x="3570732" y="1879091"/>
            <a:ext cx="2359151" cy="315469"/>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4588459" y="1963674"/>
            <a:ext cx="323697"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턴 구성</a:t>
            </a:r>
          </a:p>
        </p:txBody>
      </p:sp>
      <p:sp>
        <p:nvSpPr>
          <p:cNvPr id="54" name="TextBox 53"/>
          <p:cNvSpPr txBox="1"/>
          <p:nvPr/>
        </p:nvSpPr>
        <p:spPr>
          <a:xfrm>
            <a:off x="3660101" y="1903331"/>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55" name="TextBox 54"/>
          <p:cNvSpPr txBox="1"/>
          <p:nvPr/>
        </p:nvSpPr>
        <p:spPr>
          <a:xfrm>
            <a:off x="5586768" y="2170320"/>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56" name="Connector 55"/>
          <p:cNvCxnSpPr/>
          <p:nvPr/>
        </p:nvCxnSpPr>
        <p:spPr>
          <a:xfrm flipV="1">
            <a:off x="5929883" y="1764792"/>
            <a:ext cx="0" cy="4297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814669" y="190652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생성</a:t>
            </a:r>
          </a:p>
        </p:txBody>
      </p:sp>
      <p:sp>
        <p:nvSpPr>
          <p:cNvPr id="58" name="TextBox 57"/>
          <p:cNvSpPr txBox="1"/>
          <p:nvPr/>
        </p:nvSpPr>
        <p:spPr>
          <a:xfrm>
            <a:off x="5947714" y="1975103"/>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59" name="TextBox 58"/>
          <p:cNvSpPr txBox="1"/>
          <p:nvPr/>
        </p:nvSpPr>
        <p:spPr>
          <a:xfrm>
            <a:off x="5947714" y="1911095"/>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60" name="Connector 59"/>
          <p:cNvCxnSpPr/>
          <p:nvPr/>
        </p:nvCxnSpPr>
        <p:spPr>
          <a:xfrm flipH="1">
            <a:off x="5929883" y="1764792"/>
            <a:ext cx="2359153" cy="4297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0976" y="1906524"/>
            <a:ext cx="416966"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SLO 적용</a:t>
            </a:r>
          </a:p>
        </p:txBody>
      </p:sp>
      <p:sp>
        <p:nvSpPr>
          <p:cNvPr id="62" name="TextBox 61"/>
          <p:cNvSpPr txBox="1"/>
          <p:nvPr/>
        </p:nvSpPr>
        <p:spPr>
          <a:xfrm>
            <a:off x="8017219" y="1797567"/>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63" name="TextBox 62"/>
          <p:cNvSpPr txBox="1"/>
          <p:nvPr/>
        </p:nvSpPr>
        <p:spPr>
          <a:xfrm>
            <a:off x="5947954" y="2161784"/>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64" name="Connector 63"/>
          <p:cNvCxnSpPr/>
          <p:nvPr/>
        </p:nvCxnSpPr>
        <p:spPr>
          <a:xfrm flipH="1">
            <a:off x="9180576" y="1396745"/>
            <a:ext cx="576072" cy="5715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353397" y="1352168"/>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설정</a:t>
            </a:r>
          </a:p>
        </p:txBody>
      </p:sp>
      <p:sp>
        <p:nvSpPr>
          <p:cNvPr id="66" name="TextBox 65"/>
          <p:cNvSpPr txBox="1"/>
          <p:nvPr/>
        </p:nvSpPr>
        <p:spPr>
          <a:xfrm>
            <a:off x="9482764" y="141480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67" name="TextBox 66"/>
          <p:cNvSpPr txBox="1"/>
          <p:nvPr/>
        </p:nvSpPr>
        <p:spPr>
          <a:xfrm>
            <a:off x="9200713" y="1435841"/>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68" name="Connector 67"/>
          <p:cNvCxnSpPr/>
          <p:nvPr/>
        </p:nvCxnSpPr>
        <p:spPr>
          <a:xfrm>
            <a:off x="11272266" y="1650492"/>
            <a:ext cx="0" cy="159562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11157051" y="2375153"/>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수신</a:t>
            </a:r>
          </a:p>
        </p:txBody>
      </p:sp>
      <p:sp>
        <p:nvSpPr>
          <p:cNvPr id="70" name="TextBox 69"/>
          <p:cNvSpPr txBox="1"/>
          <p:nvPr/>
        </p:nvSpPr>
        <p:spPr>
          <a:xfrm>
            <a:off x="11290096" y="1796795"/>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71" name="TextBox 70"/>
          <p:cNvSpPr txBox="1"/>
          <p:nvPr/>
        </p:nvSpPr>
        <p:spPr>
          <a:xfrm>
            <a:off x="11220145" y="3026663"/>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72" name="Connector 71"/>
          <p:cNvCxnSpPr/>
          <p:nvPr/>
        </p:nvCxnSpPr>
        <p:spPr>
          <a:xfrm flipV="1">
            <a:off x="6821424" y="2505456"/>
            <a:ext cx="576072" cy="5715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924294" y="2460878"/>
            <a:ext cx="370332"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실행 대상</a:t>
            </a:r>
          </a:p>
        </p:txBody>
      </p:sp>
      <p:sp>
        <p:nvSpPr>
          <p:cNvPr id="74" name="TextBox 73"/>
          <p:cNvSpPr txBox="1"/>
          <p:nvPr/>
        </p:nvSpPr>
        <p:spPr>
          <a:xfrm>
            <a:off x="6841561" y="2544551"/>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sp>
        <p:nvSpPr>
          <p:cNvPr id="75" name="TextBox 74"/>
          <p:cNvSpPr txBox="1"/>
          <p:nvPr/>
        </p:nvSpPr>
        <p:spPr>
          <a:xfrm>
            <a:off x="7123612" y="252351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76" name="Connector 75"/>
          <p:cNvCxnSpPr/>
          <p:nvPr/>
        </p:nvCxnSpPr>
        <p:spPr>
          <a:xfrm flipH="1">
            <a:off x="3570732" y="2930652"/>
            <a:ext cx="2359151" cy="3154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635093" y="301523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포함</a:t>
            </a:r>
          </a:p>
        </p:txBody>
      </p:sp>
      <p:sp>
        <p:nvSpPr>
          <p:cNvPr id="78" name="TextBox 77"/>
          <p:cNvSpPr txBox="1"/>
          <p:nvPr/>
        </p:nvSpPr>
        <p:spPr>
          <a:xfrm>
            <a:off x="5656720" y="2954891"/>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79" name="TextBox 78"/>
          <p:cNvSpPr txBox="1"/>
          <p:nvPr/>
        </p:nvSpPr>
        <p:spPr>
          <a:xfrm>
            <a:off x="3660101" y="322188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80" name="Connector 79"/>
          <p:cNvCxnSpPr/>
          <p:nvPr/>
        </p:nvCxnSpPr>
        <p:spPr>
          <a:xfrm>
            <a:off x="5929883" y="2930652"/>
            <a:ext cx="0" cy="3154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744718" y="3015234"/>
            <a:ext cx="370332"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사용·생성</a:t>
            </a:r>
          </a:p>
        </p:txBody>
      </p:sp>
      <p:sp>
        <p:nvSpPr>
          <p:cNvPr id="82" name="TextBox 81"/>
          <p:cNvSpPr txBox="1"/>
          <p:nvPr/>
        </p:nvSpPr>
        <p:spPr>
          <a:xfrm>
            <a:off x="5947714" y="3076956"/>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83" name="TextBox 82"/>
          <p:cNvSpPr txBox="1"/>
          <p:nvPr/>
        </p:nvSpPr>
        <p:spPr>
          <a:xfrm>
            <a:off x="5947714" y="3026663"/>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84" name="Connector 83"/>
          <p:cNvCxnSpPr/>
          <p:nvPr/>
        </p:nvCxnSpPr>
        <p:spPr>
          <a:xfrm>
            <a:off x="5929883" y="2930652"/>
            <a:ext cx="2359153" cy="3154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6994245" y="301523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묶임</a:t>
            </a:r>
          </a:p>
        </p:txBody>
      </p:sp>
      <p:sp>
        <p:nvSpPr>
          <p:cNvPr id="86" name="TextBox 85"/>
          <p:cNvSpPr txBox="1"/>
          <p:nvPr/>
        </p:nvSpPr>
        <p:spPr>
          <a:xfrm>
            <a:off x="5949301" y="2954891"/>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0..1</a:t>
            </a:r>
          </a:p>
        </p:txBody>
      </p:sp>
      <p:sp>
        <p:nvSpPr>
          <p:cNvPr id="87" name="TextBox 86"/>
          <p:cNvSpPr txBox="1"/>
          <p:nvPr/>
        </p:nvSpPr>
        <p:spPr>
          <a:xfrm>
            <a:off x="7945920" y="3221880"/>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88" name="Connector 87"/>
          <p:cNvCxnSpPr/>
          <p:nvPr/>
        </p:nvCxnSpPr>
        <p:spPr>
          <a:xfrm>
            <a:off x="4462272" y="3557015"/>
            <a:ext cx="576072" cy="5715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4635093" y="3512438"/>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근거</a:t>
            </a:r>
          </a:p>
        </p:txBody>
      </p:sp>
      <p:sp>
        <p:nvSpPr>
          <p:cNvPr id="90" name="TextBox 89"/>
          <p:cNvSpPr txBox="1"/>
          <p:nvPr/>
        </p:nvSpPr>
        <p:spPr>
          <a:xfrm>
            <a:off x="4552361" y="357507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91" name="TextBox 90"/>
          <p:cNvSpPr txBox="1"/>
          <p:nvPr/>
        </p:nvSpPr>
        <p:spPr>
          <a:xfrm>
            <a:off x="4694508" y="3596111"/>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0..1</a:t>
            </a:r>
          </a:p>
        </p:txBody>
      </p:sp>
      <p:cxnSp>
        <p:nvCxnSpPr>
          <p:cNvPr id="92" name="Connector 91"/>
          <p:cNvCxnSpPr/>
          <p:nvPr/>
        </p:nvCxnSpPr>
        <p:spPr>
          <a:xfrm flipV="1">
            <a:off x="8289036" y="2816352"/>
            <a:ext cx="0" cy="4297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8173821" y="295808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실행</a:t>
            </a:r>
          </a:p>
        </p:txBody>
      </p:sp>
      <p:sp>
        <p:nvSpPr>
          <p:cNvPr id="94" name="TextBox 93"/>
          <p:cNvSpPr txBox="1"/>
          <p:nvPr/>
        </p:nvSpPr>
        <p:spPr>
          <a:xfrm>
            <a:off x="8236915" y="3026663"/>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sp>
        <p:nvSpPr>
          <p:cNvPr id="95" name="TextBox 94"/>
          <p:cNvSpPr txBox="1"/>
          <p:nvPr/>
        </p:nvSpPr>
        <p:spPr>
          <a:xfrm>
            <a:off x="8306866" y="2962656"/>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96" name="Connector 95"/>
          <p:cNvCxnSpPr/>
          <p:nvPr/>
        </p:nvCxnSpPr>
        <p:spPr>
          <a:xfrm>
            <a:off x="5929883" y="3982211"/>
            <a:ext cx="0" cy="315469"/>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5814669" y="406679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구성</a:t>
            </a:r>
          </a:p>
        </p:txBody>
      </p:sp>
      <p:sp>
        <p:nvSpPr>
          <p:cNvPr id="98" name="TextBox 97"/>
          <p:cNvSpPr txBox="1"/>
          <p:nvPr/>
        </p:nvSpPr>
        <p:spPr>
          <a:xfrm>
            <a:off x="5947714" y="4128515"/>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99" name="TextBox 98"/>
          <p:cNvSpPr txBox="1"/>
          <p:nvPr/>
        </p:nvSpPr>
        <p:spPr>
          <a:xfrm>
            <a:off x="5877763" y="4078224"/>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00" name="Connector 99"/>
          <p:cNvCxnSpPr/>
          <p:nvPr/>
        </p:nvCxnSpPr>
        <p:spPr>
          <a:xfrm flipH="1">
            <a:off x="4462272" y="4665726"/>
            <a:ext cx="57607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4565142" y="4592574"/>
            <a:ext cx="370332"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저장 위치</a:t>
            </a:r>
          </a:p>
        </p:txBody>
      </p:sp>
      <p:sp>
        <p:nvSpPr>
          <p:cNvPr id="102" name="TextBox 101"/>
          <p:cNvSpPr txBox="1"/>
          <p:nvPr/>
        </p:nvSpPr>
        <p:spPr>
          <a:xfrm>
            <a:off x="4693615" y="4665726"/>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sp>
        <p:nvSpPr>
          <p:cNvPr id="103" name="TextBox 102"/>
          <p:cNvSpPr txBox="1"/>
          <p:nvPr/>
        </p:nvSpPr>
        <p:spPr>
          <a:xfrm>
            <a:off x="4553254" y="4665726"/>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04" name="Connector 103"/>
          <p:cNvCxnSpPr/>
          <p:nvPr/>
        </p:nvCxnSpPr>
        <p:spPr>
          <a:xfrm>
            <a:off x="8289036" y="3867911"/>
            <a:ext cx="0" cy="429769"/>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8173821" y="400964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할당</a:t>
            </a:r>
          </a:p>
        </p:txBody>
      </p:sp>
      <p:sp>
        <p:nvSpPr>
          <p:cNvPr id="106" name="TextBox 105"/>
          <p:cNvSpPr txBox="1"/>
          <p:nvPr/>
        </p:nvSpPr>
        <p:spPr>
          <a:xfrm>
            <a:off x="8236915" y="4014215"/>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sp>
        <p:nvSpPr>
          <p:cNvPr id="107" name="TextBox 106"/>
          <p:cNvSpPr txBox="1"/>
          <p:nvPr/>
        </p:nvSpPr>
        <p:spPr>
          <a:xfrm>
            <a:off x="8306866" y="4078224"/>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08" name="Connector 107"/>
          <p:cNvCxnSpPr/>
          <p:nvPr/>
        </p:nvCxnSpPr>
        <p:spPr>
          <a:xfrm flipH="1">
            <a:off x="9180576" y="3557015"/>
            <a:ext cx="57607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9353397" y="3483863"/>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측정</a:t>
            </a:r>
          </a:p>
        </p:txBody>
      </p:sp>
      <p:sp>
        <p:nvSpPr>
          <p:cNvPr id="110" name="TextBox 109"/>
          <p:cNvSpPr txBox="1"/>
          <p:nvPr/>
        </p:nvSpPr>
        <p:spPr>
          <a:xfrm>
            <a:off x="9411919" y="3557015"/>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sp>
        <p:nvSpPr>
          <p:cNvPr id="111" name="TextBox 110"/>
          <p:cNvSpPr txBox="1"/>
          <p:nvPr/>
        </p:nvSpPr>
        <p:spPr>
          <a:xfrm>
            <a:off x="9271558" y="3557015"/>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12" name="Connector 111"/>
          <p:cNvCxnSpPr/>
          <p:nvPr/>
        </p:nvCxnSpPr>
        <p:spPr>
          <a:xfrm flipH="1">
            <a:off x="9002267" y="3867911"/>
            <a:ext cx="1289305" cy="429769"/>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9531705" y="400964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측정</a:t>
            </a:r>
          </a:p>
        </p:txBody>
      </p:sp>
      <p:sp>
        <p:nvSpPr>
          <p:cNvPr id="114" name="TextBox 113"/>
          <p:cNvSpPr txBox="1"/>
          <p:nvPr/>
        </p:nvSpPr>
        <p:spPr>
          <a:xfrm>
            <a:off x="9956227" y="3925743"/>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sp>
        <p:nvSpPr>
          <p:cNvPr id="115" name="TextBox 114"/>
          <p:cNvSpPr txBox="1"/>
          <p:nvPr/>
        </p:nvSpPr>
        <p:spPr>
          <a:xfrm>
            <a:off x="9083866" y="4239848"/>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16" name="Connector 115"/>
          <p:cNvCxnSpPr/>
          <p:nvPr/>
        </p:nvCxnSpPr>
        <p:spPr>
          <a:xfrm flipH="1" flipV="1">
            <a:off x="3570732" y="5033772"/>
            <a:ext cx="1824227" cy="3154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4367631" y="511835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보유</a:t>
            </a:r>
          </a:p>
        </p:txBody>
      </p:sp>
      <p:sp>
        <p:nvSpPr>
          <p:cNvPr id="118" name="TextBox 117"/>
          <p:cNvSpPr txBox="1"/>
          <p:nvPr/>
        </p:nvSpPr>
        <p:spPr>
          <a:xfrm>
            <a:off x="5122857" y="5318076"/>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19" name="TextBox 118"/>
          <p:cNvSpPr txBox="1"/>
          <p:nvPr/>
        </p:nvSpPr>
        <p:spPr>
          <a:xfrm>
            <a:off x="3589088" y="5064935"/>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20" name="Connector 119"/>
          <p:cNvCxnSpPr/>
          <p:nvPr/>
        </p:nvCxnSpPr>
        <p:spPr>
          <a:xfrm flipV="1">
            <a:off x="6464808" y="4919472"/>
            <a:ext cx="1824228" cy="4297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7261707" y="506120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보유</a:t>
            </a:r>
          </a:p>
        </p:txBody>
      </p:sp>
      <p:sp>
        <p:nvSpPr>
          <p:cNvPr id="122" name="TextBox 121"/>
          <p:cNvSpPr txBox="1"/>
          <p:nvPr/>
        </p:nvSpPr>
        <p:spPr>
          <a:xfrm>
            <a:off x="6550917" y="5307303"/>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23" name="TextBox 122"/>
          <p:cNvSpPr txBox="1"/>
          <p:nvPr/>
        </p:nvSpPr>
        <p:spPr>
          <a:xfrm>
            <a:off x="7949180" y="4961408"/>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24" name="Connector 123"/>
          <p:cNvCxnSpPr/>
          <p:nvPr/>
        </p:nvCxnSpPr>
        <p:spPr>
          <a:xfrm flipH="1">
            <a:off x="6821424" y="5660136"/>
            <a:ext cx="576072" cy="0"/>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6994245" y="5586983"/>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구성</a:t>
            </a:r>
          </a:p>
        </p:txBody>
      </p:sp>
      <p:sp>
        <p:nvSpPr>
          <p:cNvPr id="126" name="TextBox 125"/>
          <p:cNvSpPr txBox="1"/>
          <p:nvPr/>
        </p:nvSpPr>
        <p:spPr>
          <a:xfrm>
            <a:off x="7122718" y="5660136"/>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27" name="TextBox 126"/>
          <p:cNvSpPr txBox="1"/>
          <p:nvPr/>
        </p:nvSpPr>
        <p:spPr>
          <a:xfrm>
            <a:off x="6842455" y="5660136"/>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28" name="Connector 127"/>
          <p:cNvCxnSpPr/>
          <p:nvPr/>
        </p:nvCxnSpPr>
        <p:spPr>
          <a:xfrm flipV="1">
            <a:off x="9180576" y="5602986"/>
            <a:ext cx="576072" cy="5715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9353397" y="5558408"/>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기술</a:t>
            </a:r>
          </a:p>
        </p:txBody>
      </p:sp>
      <p:sp>
        <p:nvSpPr>
          <p:cNvPr id="130" name="TextBox 129"/>
          <p:cNvSpPr txBox="1"/>
          <p:nvPr/>
        </p:nvSpPr>
        <p:spPr>
          <a:xfrm>
            <a:off x="9270665" y="5642081"/>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31" name="TextBox 130"/>
          <p:cNvSpPr txBox="1"/>
          <p:nvPr/>
        </p:nvSpPr>
        <p:spPr>
          <a:xfrm>
            <a:off x="9482764" y="562104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cxnSp>
        <p:nvCxnSpPr>
          <p:cNvPr id="132" name="Connector 131"/>
          <p:cNvCxnSpPr/>
          <p:nvPr/>
        </p:nvCxnSpPr>
        <p:spPr>
          <a:xfrm>
            <a:off x="10648188" y="4805172"/>
            <a:ext cx="0" cy="5440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532973" y="500405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제공</a:t>
            </a:r>
          </a:p>
        </p:txBody>
      </p:sp>
      <p:sp>
        <p:nvSpPr>
          <p:cNvPr id="134" name="TextBox 133"/>
          <p:cNvSpPr txBox="1"/>
          <p:nvPr/>
        </p:nvSpPr>
        <p:spPr>
          <a:xfrm>
            <a:off x="10666018" y="4951476"/>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35" name="TextBox 134"/>
          <p:cNvSpPr txBox="1"/>
          <p:nvPr/>
        </p:nvSpPr>
        <p:spPr>
          <a:xfrm>
            <a:off x="10596067" y="5129783"/>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136" name="Connector 135"/>
          <p:cNvCxnSpPr/>
          <p:nvPr/>
        </p:nvCxnSpPr>
        <p:spPr>
          <a:xfrm>
            <a:off x="2103120" y="5602986"/>
            <a:ext cx="576072" cy="5715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2275941" y="5558408"/>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제공</a:t>
            </a:r>
          </a:p>
        </p:txBody>
      </p:sp>
      <p:sp>
        <p:nvSpPr>
          <p:cNvPr id="138" name="TextBox 137"/>
          <p:cNvSpPr txBox="1"/>
          <p:nvPr/>
        </p:nvSpPr>
        <p:spPr>
          <a:xfrm>
            <a:off x="2193209" y="5621040"/>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39" name="TextBox 138"/>
          <p:cNvSpPr txBox="1"/>
          <p:nvPr/>
        </p:nvSpPr>
        <p:spPr>
          <a:xfrm>
            <a:off x="2335356" y="5642081"/>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0..*</a:t>
            </a:r>
          </a:p>
        </p:txBody>
      </p:sp>
      <p:cxnSp>
        <p:nvCxnSpPr>
          <p:cNvPr id="140" name="Connector 139"/>
          <p:cNvCxnSpPr/>
          <p:nvPr/>
        </p:nvCxnSpPr>
        <p:spPr>
          <a:xfrm flipV="1">
            <a:off x="3570732" y="5033772"/>
            <a:ext cx="0" cy="315468"/>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3455517" y="5118354"/>
            <a:ext cx="230428" cy="146304"/>
          </a:xfrm>
          <a:prstGeom prst="rect">
            <a:avLst/>
          </a:prstGeom>
          <a:noFill/>
        </p:spPr>
        <p:txBody>
          <a:bodyPr wrap="none" lIns="0" tIns="18288" rIns="0" bIns="18288" anchor="t">
            <a:spAutoFit/>
          </a:bodyPr>
          <a:lstStyle/>
          <a:p>
            <a:pPr algn="ctr">
              <a:spcAft>
                <a:spcPts val="0"/>
              </a:spcAft>
            </a:pPr>
            <a:r>
              <a:rPr sz="600" b="1" i="0">
                <a:solidFill>
                  <a:srgbClr val="404040"/>
                </a:solidFill>
                <a:latin typeface="맑은 고딕"/>
                <a:ea typeface="맑은 고딕"/>
                <a:cs typeface="맑은 고딕"/>
              </a:rPr>
              <a:t>구현</a:t>
            </a:r>
          </a:p>
        </p:txBody>
      </p:sp>
      <p:sp>
        <p:nvSpPr>
          <p:cNvPr id="142" name="TextBox 141"/>
          <p:cNvSpPr txBox="1"/>
          <p:nvPr/>
        </p:nvSpPr>
        <p:spPr>
          <a:xfrm>
            <a:off x="3588562" y="5129783"/>
            <a:ext cx="183794"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43" name="TextBox 142"/>
          <p:cNvSpPr txBox="1"/>
          <p:nvPr/>
        </p:nvSpPr>
        <p:spPr>
          <a:xfrm>
            <a:off x="3518611" y="5180076"/>
            <a:ext cx="323697" cy="146304"/>
          </a:xfrm>
          <a:prstGeom prst="rect">
            <a:avLst/>
          </a:prstGeom>
          <a:noFill/>
        </p:spPr>
        <p:txBody>
          <a:bodyPr wrap="none" lIns="0" tIns="18288" rIns="0" bIns="18288" anchor="t">
            <a:spAutoFit/>
          </a:bodyPr>
          <a:lstStyle/>
          <a:p>
            <a:pPr algn="ctr">
              <a:spcAft>
                <a:spcPts val="0"/>
              </a:spcAft>
            </a:pPr>
            <a:r>
              <a:rPr sz="600" b="0" i="0">
                <a:solidFill>
                  <a:srgbClr val="C00000"/>
                </a:solidFill>
                <a:latin typeface="맑은 고딕"/>
                <a:ea typeface="맑은 고딕"/>
                <a:cs typeface="맑은 고딕"/>
              </a:rPr>
              <a:t>1..*</a:t>
            </a:r>
          </a:p>
        </p:txBody>
      </p:sp>
      <p:sp>
        <p:nvSpPr>
          <p:cNvPr id="144" name="TextBox 143"/>
          <p:cNvSpPr txBox="1"/>
          <p:nvPr/>
        </p:nvSpPr>
        <p:spPr>
          <a:xfrm>
            <a:off x="320040" y="3246120"/>
            <a:ext cx="2103120" cy="1737360"/>
          </a:xfrm>
          <a:prstGeom prst="rect">
            <a:avLst/>
          </a:prstGeom>
          <a:noFill/>
        </p:spPr>
        <p:txBody>
          <a:bodyPr wrap="square" lIns="36576" tIns="18288" rIns="36576" bIns="18288" anchor="t">
            <a:spAutoFit/>
          </a:bodyPr>
          <a:lstStyle/>
          <a:p>
            <a:pPr algn="l">
              <a:spcAft>
                <a:spcPts val="0"/>
              </a:spcAft>
            </a:pPr>
            <a:r>
              <a:rPr sz="750" b="1" i="0">
                <a:solidFill>
                  <a:srgbClr val="000000"/>
                </a:solidFill>
                <a:latin typeface="맑은 고딕"/>
                <a:ea typeface="맑은 고딕"/>
                <a:cs typeface="맑은 고딕"/>
              </a:rPr>
              <a:t>읽는 법</a:t>
            </a:r>
          </a:p>
          <a:p>
            <a:pPr algn="l">
              <a:spcAft>
                <a:spcPts val="0"/>
              </a:spcAft>
            </a:pPr>
            <a:r>
              <a:rPr sz="650" b="0" i="0">
                <a:solidFill>
                  <a:srgbClr val="000000"/>
                </a:solidFill>
                <a:latin typeface="맑은 고딕"/>
                <a:ea typeface="맑은 고딕"/>
                <a:cs typeface="맑은 고딕"/>
              </a:rPr>
              <a:t>• 도메인 개념 간 관계 (소프트웨어 클래스 아님)</a:t>
            </a:r>
          </a:p>
          <a:p>
            <a:pPr algn="l">
              <a:spcAft>
                <a:spcPts val="0"/>
              </a:spcAft>
            </a:pPr>
            <a:r>
              <a:rPr sz="650" b="0" i="0">
                <a:solidFill>
                  <a:srgbClr val="000000"/>
                </a:solidFill>
                <a:latin typeface="맑은 고딕"/>
                <a:ea typeface="맑은 고딕"/>
                <a:cs typeface="맑은 고딕"/>
              </a:rPr>
              <a:t>• 박스 아래 UC 번호 = 이 개념이 등장하는 Use case</a:t>
            </a:r>
          </a:p>
          <a:p>
            <a:pPr algn="l">
              <a:spcAft>
                <a:spcPts val="0"/>
              </a:spcAft>
            </a:pPr>
            <a:r>
              <a:rPr sz="650" b="0" i="0">
                <a:solidFill>
                  <a:srgbClr val="000000"/>
                </a:solidFill>
                <a:latin typeface="맑은 고딕"/>
                <a:ea typeface="맑은 고딕"/>
                <a:cs typeface="맑은 고딕"/>
              </a:rPr>
              <a:t>• 회색 «actor» = Context View의 외부 주체</a:t>
            </a:r>
          </a:p>
          <a:p>
            <a:pPr algn="l">
              <a:spcAft>
                <a:spcPts val="0"/>
              </a:spcAft>
            </a:pPr>
            <a:r>
              <a:rPr sz="650" b="0" i="0">
                <a:solidFill>
                  <a:srgbClr val="000000"/>
                </a:solidFill>
                <a:latin typeface="맑은 고딕"/>
                <a:ea typeface="맑은 고딕"/>
                <a:cs typeface="맑은 고딕"/>
              </a:rPr>
              <a:t>• ◆ 구성(소유), 빨간 숫자 = 다중성</a:t>
            </a:r>
          </a:p>
          <a:p>
            <a:pPr algn="l">
              <a:spcAft>
                <a:spcPts val="0"/>
              </a:spcAft>
            </a:pPr>
            <a:r>
              <a:rPr sz="650" b="0" i="0">
                <a:solidFill>
                  <a:srgbClr val="595959"/>
                </a:solidFill>
                <a:latin typeface="맑은 고딕"/>
                <a:ea typeface="맑은 고딕"/>
                <a:cs typeface="맑은 고딕"/>
              </a:rPr>
              <a:t>• DP 설계(Migration, 실행 위치, 재사용, 공유)는 이 개념들 위에서 일어나는 결정</a:t>
            </a:r>
          </a:p>
        </p:txBody>
      </p:sp>
      <p:sp>
        <p:nvSpPr>
          <p:cNvPr id="145" name="실행 단추: 뒤로 또는 앞으로 이동 50">
            <a:hlinkClick r:id="rId3" action="ppaction://hlinksldjump" highlightClick="1"/>
            <a:extLst>
              <a:ext uri="{FF2B5EF4-FFF2-40B4-BE49-F238E27FC236}">
                <a16:creationId xmlns:a16="http://schemas.microsoft.com/office/drawing/2014/main" id="{9054E460-635E-4355-8891-B74C3D96529A}"/>
              </a:ext>
            </a:extLst>
          </p:cNvPr>
          <p:cNvSpPr/>
          <p:nvPr/>
        </p:nvSpPr>
        <p:spPr>
          <a:xfrm>
            <a:off x="7477125" y="209550"/>
            <a:ext cx="314325" cy="2705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01014829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70</a:t>
            </a:fld>
            <a:endParaRPr lang="ko-KR" altLang="en-US" dirty="0"/>
          </a:p>
        </p:txBody>
      </p:sp>
      <p:sp>
        <p:nvSpPr>
          <p:cNvPr id="4" name="제목 3"/>
          <p:cNvSpPr>
            <a:spLocks noGrp="1"/>
          </p:cNvSpPr>
          <p:nvPr>
            <p:ph type="title"/>
          </p:nvPr>
        </p:nvSpPr>
        <p:spPr/>
        <p:txBody>
          <a:bodyPr/>
          <a:lstStyle/>
          <a:p>
            <a:r>
              <a:rPr lang="ko-KR" altLang="en-US" dirty="0"/>
              <a:t>요구사항 분석 </a:t>
            </a:r>
            <a:r>
              <a:rPr lang="en-US" altLang="ko-KR" dirty="0"/>
              <a:t>– </a:t>
            </a:r>
            <a:r>
              <a:rPr lang="ko-KR" altLang="en-US" dirty="0"/>
              <a:t>기능 요구사항 분석</a:t>
            </a:r>
          </a:p>
        </p:txBody>
      </p:sp>
      <p:sp>
        <p:nvSpPr>
          <p:cNvPr id="5" name="직사각형 4"/>
          <p:cNvSpPr/>
          <p:nvPr/>
        </p:nvSpPr>
        <p:spPr>
          <a:xfrm>
            <a:off x="234950" y="567927"/>
            <a:ext cx="5432426" cy="5937648"/>
          </a:xfrm>
          <a:prstGeom prst="rect">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74" name="그림 73"/>
          <p:cNvPicPr/>
          <p:nvPr/>
        </p:nvPicPr>
        <p:blipFill>
          <a:blip r:embed="rId3">
            <a:extLst>
              <a:ext uri="{28A0092B-C50C-407E-A947-70E740481C1C}">
                <a14:useLocalDpi xmlns:a14="http://schemas.microsoft.com/office/drawing/2010/main" val="0"/>
              </a:ext>
            </a:extLst>
          </a:blip>
          <a:srcRect/>
          <a:stretch>
            <a:fillRect/>
          </a:stretch>
        </p:blipFill>
        <p:spPr bwMode="auto">
          <a:xfrm>
            <a:off x="381000" y="1044588"/>
            <a:ext cx="5090784" cy="5432411"/>
          </a:xfrm>
          <a:prstGeom prst="rect">
            <a:avLst/>
          </a:prstGeom>
          <a:noFill/>
          <a:ln>
            <a:noFill/>
          </a:ln>
        </p:spPr>
      </p:pic>
      <p:pic>
        <p:nvPicPr>
          <p:cNvPr id="75" name="그림 74"/>
          <p:cNvPicPr/>
          <p:nvPr/>
        </p:nvPicPr>
        <p:blipFill>
          <a:blip r:embed="rId4">
            <a:extLst>
              <a:ext uri="{28A0092B-C50C-407E-A947-70E740481C1C}">
                <a14:useLocalDpi xmlns:a14="http://schemas.microsoft.com/office/drawing/2010/main" val="0"/>
              </a:ext>
            </a:extLst>
          </a:blip>
          <a:srcRect/>
          <a:stretch>
            <a:fillRect/>
          </a:stretch>
        </p:blipFill>
        <p:spPr bwMode="auto">
          <a:xfrm>
            <a:off x="5906444" y="1062254"/>
            <a:ext cx="5999486" cy="5298407"/>
          </a:xfrm>
          <a:prstGeom prst="rect">
            <a:avLst/>
          </a:prstGeom>
          <a:noFill/>
          <a:ln>
            <a:noFill/>
          </a:ln>
        </p:spPr>
      </p:pic>
      <p:sp>
        <p:nvSpPr>
          <p:cNvPr id="77" name="직사각형 76"/>
          <p:cNvSpPr/>
          <p:nvPr/>
        </p:nvSpPr>
        <p:spPr>
          <a:xfrm>
            <a:off x="5813426" y="570083"/>
            <a:ext cx="6178548" cy="5937648"/>
          </a:xfrm>
          <a:prstGeom prst="rect">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p:cNvSpPr txBox="1"/>
          <p:nvPr/>
        </p:nvSpPr>
        <p:spPr>
          <a:xfrm>
            <a:off x="248458" y="652369"/>
            <a:ext cx="2802392" cy="307777"/>
          </a:xfrm>
          <a:prstGeom prst="rect">
            <a:avLst/>
          </a:prstGeom>
          <a:noFill/>
        </p:spPr>
        <p:txBody>
          <a:bodyPr wrap="square" rtlCol="0">
            <a:spAutoFit/>
          </a:bodyPr>
          <a:lstStyle/>
          <a:p>
            <a:r>
              <a:rPr lang="ko-KR" altLang="en-US" sz="1400" b="1" u="sng" dirty="0">
                <a:solidFill>
                  <a:schemeClr val="accent5">
                    <a:lumMod val="50000"/>
                  </a:schemeClr>
                </a:solidFill>
              </a:rPr>
              <a:t>주요 기능의 </a:t>
            </a:r>
            <a:r>
              <a:rPr lang="en-US" altLang="ko-KR" sz="1400" b="1" u="sng" dirty="0">
                <a:solidFill>
                  <a:schemeClr val="accent5">
                    <a:lumMod val="50000"/>
                  </a:schemeClr>
                </a:solidFill>
              </a:rPr>
              <a:t>Use Case Diagram</a:t>
            </a:r>
            <a:endParaRPr lang="ko-KR" altLang="en-US" sz="1400" b="1" u="sng" dirty="0">
              <a:solidFill>
                <a:schemeClr val="accent5">
                  <a:lumMod val="50000"/>
                </a:schemeClr>
              </a:solidFill>
            </a:endParaRPr>
          </a:p>
        </p:txBody>
      </p:sp>
      <p:sp>
        <p:nvSpPr>
          <p:cNvPr id="80" name="TextBox 79"/>
          <p:cNvSpPr txBox="1"/>
          <p:nvPr/>
        </p:nvSpPr>
        <p:spPr>
          <a:xfrm>
            <a:off x="5813426" y="652369"/>
            <a:ext cx="2316941" cy="307777"/>
          </a:xfrm>
          <a:prstGeom prst="rect">
            <a:avLst/>
          </a:prstGeom>
          <a:noFill/>
        </p:spPr>
        <p:txBody>
          <a:bodyPr wrap="square" rtlCol="0">
            <a:spAutoFit/>
          </a:bodyPr>
          <a:lstStyle/>
          <a:p>
            <a:r>
              <a:rPr lang="en-US" altLang="ko-KR" sz="1400" b="1" u="sng" dirty="0">
                <a:solidFill>
                  <a:schemeClr val="accent5">
                    <a:lumMod val="50000"/>
                  </a:schemeClr>
                </a:solidFill>
              </a:rPr>
              <a:t>Domain Model</a:t>
            </a:r>
            <a:endParaRPr lang="ko-KR" altLang="en-US" sz="1400" b="1" u="sng" dirty="0">
              <a:solidFill>
                <a:schemeClr val="accent5">
                  <a:lumMod val="50000"/>
                </a:schemeClr>
              </a:solidFill>
            </a:endParaRPr>
          </a:p>
        </p:txBody>
      </p:sp>
    </p:spTree>
    <p:extLst>
      <p:ext uri="{BB962C8B-B14F-4D97-AF65-F5344CB8AC3E}">
        <p14:creationId xmlns:p14="http://schemas.microsoft.com/office/powerpoint/2010/main" val="19707777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FACFFB4-3264-431C-BD84-3F06931F873F}"/>
              </a:ext>
            </a:extLst>
          </p:cNvPr>
          <p:cNvSpPr>
            <a:spLocks noGrp="1"/>
          </p:cNvSpPr>
          <p:nvPr>
            <p:ph type="title"/>
          </p:nvPr>
        </p:nvSpPr>
        <p:spPr/>
        <p:txBody>
          <a:bodyPr/>
          <a:lstStyle/>
          <a:p>
            <a:r>
              <a:rPr lang="ko-KR" altLang="en-US" dirty="0"/>
              <a:t>기능 요구사항 </a:t>
            </a:r>
            <a:r>
              <a:rPr lang="en-US" altLang="ko-KR" dirty="0"/>
              <a:t>– </a:t>
            </a:r>
            <a:r>
              <a:rPr lang="ko-KR" altLang="en-US" dirty="0"/>
              <a:t>전체</a:t>
            </a:r>
          </a:p>
        </p:txBody>
      </p:sp>
      <p:graphicFrame>
        <p:nvGraphicFramePr>
          <p:cNvPr id="3" name="Table 4">
            <a:extLst>
              <a:ext uri="{FF2B5EF4-FFF2-40B4-BE49-F238E27FC236}">
                <a16:creationId xmlns:a16="http://schemas.microsoft.com/office/drawing/2014/main" id="{75620F81-F38E-4B41-9D4B-E33697EE7848}"/>
              </a:ext>
            </a:extLst>
          </p:cNvPr>
          <p:cNvGraphicFramePr>
            <a:graphicFrameLocks noGrp="1"/>
          </p:cNvGraphicFramePr>
          <p:nvPr>
            <p:extLst>
              <p:ext uri="{D42A27DB-BD31-4B8C-83A1-F6EECF244321}">
                <p14:modId xmlns:p14="http://schemas.microsoft.com/office/powerpoint/2010/main" val="3496933542"/>
              </p:ext>
            </p:extLst>
          </p:nvPr>
        </p:nvGraphicFramePr>
        <p:xfrm>
          <a:off x="234949" y="640080"/>
          <a:ext cx="11704320" cy="4919472"/>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8229600">
                  <a:extLst>
                    <a:ext uri="{9D8B030D-6E8A-4147-A177-3AD203B41FA5}">
                      <a16:colId xmlns:a16="http://schemas.microsoft.com/office/drawing/2014/main" val="20002"/>
                    </a:ext>
                  </a:extLst>
                </a:gridCol>
              </a:tblGrid>
              <a:tr h="347472">
                <a:tc>
                  <a:txBody>
                    <a:bodyPr/>
                    <a:lstStyle/>
                    <a:p>
                      <a:pPr algn="ctr"/>
                      <a:r>
                        <a:rPr sz="1100" b="1" dirty="0" err="1">
                          <a:solidFill>
                            <a:srgbClr val="FFFFFF"/>
                          </a:solidFill>
                          <a:latin typeface="맑은 고딕"/>
                        </a:rPr>
                        <a:t>번호</a:t>
                      </a:r>
                      <a:endParaRPr sz="1100" b="1" dirty="0">
                        <a:solidFill>
                          <a:srgbClr val="FFFFFF"/>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기능 요구사항</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설명</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extLst>
                  <a:ext uri="{0D108BD9-81ED-4DB2-BD59-A6C34878D82A}">
                    <a16:rowId xmlns:a16="http://schemas.microsoft.com/office/drawing/2014/main" val="10000"/>
                  </a:ext>
                </a:extLst>
              </a:tr>
              <a:tr h="144000">
                <a:tc>
                  <a:txBody>
                    <a:bodyPr/>
                    <a:lstStyle/>
                    <a:p>
                      <a:pPr algn="ctr"/>
                      <a:r>
                        <a:rPr sz="900" b="0" dirty="0">
                          <a:solidFill>
                            <a:srgbClr val="000000"/>
                          </a:solidFill>
                          <a:latin typeface="맑은 고딕"/>
                        </a:rPr>
                        <a:t>FR-01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이기종 메모리 데이터 저장</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HBM 외의 메모리(Host DRAM, CXL 메모리, HBF 등)에 KV cache, LoRA adapter, expert 같은 데이터를 저장하고 읽는다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144000">
                <a:tc>
                  <a:txBody>
                    <a:bodyPr/>
                    <a:lstStyle/>
                    <a:p>
                      <a:pPr algn="ctr"/>
                      <a:r>
                        <a:rPr sz="900" b="0">
                          <a:solidFill>
                            <a:srgbClr val="000000"/>
                          </a:solidFill>
                          <a:latin typeface="맑은 고딕"/>
                        </a:rPr>
                        <a:t>FR-02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메모리</a:t>
                      </a:r>
                      <a:r>
                        <a:rPr sz="900" b="0" dirty="0">
                          <a:solidFill>
                            <a:srgbClr val="000000"/>
                          </a:solidFill>
                          <a:latin typeface="맑은 고딕"/>
                        </a:rPr>
                        <a:t> 간 </a:t>
                      </a:r>
                      <a:r>
                        <a:rPr sz="900" b="0" dirty="0" err="1">
                          <a:solidFill>
                            <a:srgbClr val="000000"/>
                          </a:solidFill>
                          <a:latin typeface="맑은 고딕"/>
                        </a:rPr>
                        <a:t>데이터</a:t>
                      </a:r>
                      <a:r>
                        <a:rPr sz="900" b="0" dirty="0">
                          <a:solidFill>
                            <a:srgbClr val="000000"/>
                          </a:solidFill>
                          <a:latin typeface="맑은 고딕"/>
                        </a:rPr>
                        <a:t> </a:t>
                      </a:r>
                      <a:r>
                        <a:rPr sz="900" b="0" dirty="0" err="1">
                          <a:solidFill>
                            <a:srgbClr val="000000"/>
                          </a:solidFill>
                          <a:latin typeface="맑은 고딕"/>
                        </a:rPr>
                        <a:t>복사</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지정한 데이터를 한 메모리에서 다른 메모리로 복사하거나 이동한다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144000">
                <a:tc>
                  <a:txBody>
                    <a:bodyPr/>
                    <a:lstStyle/>
                    <a:p>
                      <a:pPr algn="ctr"/>
                      <a:r>
                        <a:rPr sz="900" b="0" dirty="0">
                          <a:solidFill>
                            <a:srgbClr val="000000"/>
                          </a:solidFill>
                          <a:latin typeface="맑은 고딕"/>
                        </a:rPr>
                        <a:t>FR-03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vLLM</a:t>
                      </a:r>
                      <a:r>
                        <a:rPr lang="en-US" sz="900" b="0" baseline="0" dirty="0">
                          <a:solidFill>
                            <a:srgbClr val="000000"/>
                          </a:solidFill>
                          <a:latin typeface="맑은 고딕"/>
                        </a:rPr>
                        <a:t> </a:t>
                      </a:r>
                      <a:r>
                        <a:rPr sz="900" b="0" dirty="0" err="1">
                          <a:solidFill>
                            <a:srgbClr val="000000"/>
                          </a:solidFill>
                          <a:latin typeface="맑은 고딕"/>
                        </a:rPr>
                        <a:t>연동</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vLLM이 요청을 처리하는 흐름 안에서 동작하며, KV cache 관리 시점에 데이터 배치와 이동 기능을 호출한다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144000">
                <a:tc>
                  <a:txBody>
                    <a:bodyPr/>
                    <a:lstStyle/>
                    <a:p>
                      <a:pPr algn="ctr"/>
                      <a:r>
                        <a:rPr sz="900" b="0">
                          <a:solidFill>
                            <a:srgbClr val="000000"/>
                          </a:solidFill>
                          <a:latin typeface="맑은 고딕"/>
                        </a:rPr>
                        <a:t>FR-04</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a:solidFill>
                            <a:srgbClr val="000000"/>
                          </a:solidFill>
                          <a:latin typeface="맑은 고딕"/>
                        </a:rPr>
                        <a:t>KV cache </a:t>
                      </a:r>
                      <a:r>
                        <a:rPr sz="900" b="0" dirty="0" err="1">
                          <a:solidFill>
                            <a:srgbClr val="000000"/>
                          </a:solidFill>
                          <a:latin typeface="맑은 고딕"/>
                        </a:rPr>
                        <a:t>offload와</a:t>
                      </a:r>
                      <a:r>
                        <a:rPr sz="900" b="0" dirty="0">
                          <a:solidFill>
                            <a:srgbClr val="000000"/>
                          </a:solidFill>
                          <a:latin typeface="맑은 고딕"/>
                        </a:rPr>
                        <a:t> </a:t>
                      </a:r>
                      <a:r>
                        <a:rPr sz="900" b="0" dirty="0" err="1">
                          <a:solidFill>
                            <a:srgbClr val="000000"/>
                          </a:solidFill>
                          <a:latin typeface="맑은 고딕"/>
                        </a:rPr>
                        <a:t>재사용</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당장 쓰지 않는 KV cache를 HBM 밖으로 내려 보관하고, 다시 필요하면 HBM으로 가져와 재사용한다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144000">
                <a:tc>
                  <a:txBody>
                    <a:bodyPr/>
                    <a:lstStyle/>
                    <a:p>
                      <a:pPr algn="ctr"/>
                      <a:r>
                        <a:rPr sz="900" b="0" dirty="0">
                          <a:solidFill>
                            <a:srgbClr val="000000"/>
                          </a:solidFill>
                          <a:latin typeface="맑은 고딕"/>
                        </a:rPr>
                        <a:t>FR-05</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LoRA</a:t>
                      </a:r>
                      <a:r>
                        <a:rPr sz="900" b="0" dirty="0">
                          <a:solidFill>
                            <a:srgbClr val="000000"/>
                          </a:solidFill>
                          <a:latin typeface="맑은 고딕"/>
                        </a:rPr>
                        <a:t> adapter </a:t>
                      </a:r>
                      <a:r>
                        <a:rPr sz="900" b="0" dirty="0" err="1">
                          <a:solidFill>
                            <a:srgbClr val="000000"/>
                          </a:solidFill>
                          <a:latin typeface="맑은 고딕"/>
                        </a:rPr>
                        <a:t>서빙</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요청이</a:t>
                      </a:r>
                      <a:r>
                        <a:rPr sz="900" b="0" dirty="0">
                          <a:solidFill>
                            <a:srgbClr val="000000"/>
                          </a:solidFill>
                          <a:latin typeface="맑은 고딕"/>
                        </a:rPr>
                        <a:t> </a:t>
                      </a:r>
                      <a:r>
                        <a:rPr sz="900" b="0" dirty="0" err="1">
                          <a:solidFill>
                            <a:srgbClr val="000000"/>
                          </a:solidFill>
                          <a:latin typeface="맑은 고딕"/>
                        </a:rPr>
                        <a:t>지정한</a:t>
                      </a:r>
                      <a:r>
                        <a:rPr sz="900" b="0" dirty="0">
                          <a:solidFill>
                            <a:srgbClr val="000000"/>
                          </a:solidFill>
                          <a:latin typeface="맑은 고딕"/>
                        </a:rPr>
                        <a:t> </a:t>
                      </a:r>
                      <a:r>
                        <a:rPr sz="900" b="0" dirty="0" err="1">
                          <a:solidFill>
                            <a:srgbClr val="000000"/>
                          </a:solidFill>
                          <a:latin typeface="맑은 고딕"/>
                        </a:rPr>
                        <a:t>LoRA</a:t>
                      </a:r>
                      <a:r>
                        <a:rPr sz="900" b="0" dirty="0">
                          <a:solidFill>
                            <a:srgbClr val="000000"/>
                          </a:solidFill>
                          <a:latin typeface="맑은 고딕"/>
                        </a:rPr>
                        <a:t> </a:t>
                      </a:r>
                      <a:r>
                        <a:rPr sz="900" b="0" dirty="0" err="1">
                          <a:solidFill>
                            <a:srgbClr val="000000"/>
                          </a:solidFill>
                          <a:latin typeface="맑은 고딕"/>
                        </a:rPr>
                        <a:t>adapter를</a:t>
                      </a:r>
                      <a:r>
                        <a:rPr sz="900" b="0" dirty="0">
                          <a:solidFill>
                            <a:srgbClr val="000000"/>
                          </a:solidFill>
                          <a:latin typeface="맑은 고딕"/>
                        </a:rPr>
                        <a:t> </a:t>
                      </a:r>
                      <a:r>
                        <a:rPr sz="900" b="0" dirty="0" err="1">
                          <a:solidFill>
                            <a:srgbClr val="000000"/>
                          </a:solidFill>
                          <a:latin typeface="맑은 고딕"/>
                        </a:rPr>
                        <a:t>적재해</a:t>
                      </a:r>
                      <a:r>
                        <a:rPr sz="900" b="0" dirty="0">
                          <a:solidFill>
                            <a:srgbClr val="000000"/>
                          </a:solidFill>
                          <a:latin typeface="맑은 고딕"/>
                        </a:rPr>
                        <a:t> </a:t>
                      </a:r>
                      <a:r>
                        <a:rPr sz="900" b="0" dirty="0" err="1">
                          <a:solidFill>
                            <a:srgbClr val="000000"/>
                          </a:solidFill>
                          <a:latin typeface="맑은 고딕"/>
                        </a:rPr>
                        <a:t>응답을</a:t>
                      </a:r>
                      <a:r>
                        <a:rPr sz="900" b="0" dirty="0">
                          <a:solidFill>
                            <a:srgbClr val="000000"/>
                          </a:solidFill>
                          <a:latin typeface="맑은 고딕"/>
                        </a:rPr>
                        <a:t> </a:t>
                      </a:r>
                      <a:r>
                        <a:rPr sz="900" b="0" dirty="0" err="1">
                          <a:solidFill>
                            <a:srgbClr val="000000"/>
                          </a:solidFill>
                          <a:latin typeface="맑은 고딕"/>
                        </a:rPr>
                        <a:t>생성하고</a:t>
                      </a:r>
                      <a:r>
                        <a:rPr sz="900" b="0" dirty="0">
                          <a:solidFill>
                            <a:srgbClr val="000000"/>
                          </a:solidFill>
                          <a:latin typeface="맑은 고딕"/>
                        </a:rPr>
                        <a:t>, </a:t>
                      </a:r>
                      <a:r>
                        <a:rPr sz="900" b="0" dirty="0" err="1">
                          <a:solidFill>
                            <a:srgbClr val="000000"/>
                          </a:solidFill>
                          <a:latin typeface="맑은 고딕"/>
                        </a:rPr>
                        <a:t>쓰지</a:t>
                      </a:r>
                      <a:r>
                        <a:rPr sz="900" b="0" dirty="0">
                          <a:solidFill>
                            <a:srgbClr val="000000"/>
                          </a:solidFill>
                          <a:latin typeface="맑은 고딕"/>
                        </a:rPr>
                        <a:t> </a:t>
                      </a:r>
                      <a:r>
                        <a:rPr sz="900" b="0" dirty="0" err="1">
                          <a:solidFill>
                            <a:srgbClr val="000000"/>
                          </a:solidFill>
                          <a:latin typeface="맑은 고딕"/>
                        </a:rPr>
                        <a:t>않는</a:t>
                      </a:r>
                      <a:r>
                        <a:rPr sz="900" b="0" dirty="0">
                          <a:solidFill>
                            <a:srgbClr val="000000"/>
                          </a:solidFill>
                          <a:latin typeface="맑은 고딕"/>
                        </a:rPr>
                        <a:t> </a:t>
                      </a:r>
                      <a:r>
                        <a:rPr sz="900" b="0" dirty="0" err="1">
                          <a:solidFill>
                            <a:srgbClr val="000000"/>
                          </a:solidFill>
                          <a:latin typeface="맑은 고딕"/>
                        </a:rPr>
                        <a:t>adapter는</a:t>
                      </a:r>
                      <a:r>
                        <a:rPr sz="900" b="0" dirty="0">
                          <a:solidFill>
                            <a:srgbClr val="000000"/>
                          </a:solidFill>
                          <a:latin typeface="맑은 고딕"/>
                        </a:rPr>
                        <a:t> </a:t>
                      </a:r>
                      <a:r>
                        <a:rPr sz="900" b="0" dirty="0" err="1">
                          <a:solidFill>
                            <a:srgbClr val="000000"/>
                          </a:solidFill>
                          <a:latin typeface="맑은 고딕"/>
                        </a:rPr>
                        <a:t>HBM에서</a:t>
                      </a:r>
                      <a:r>
                        <a:rPr sz="900" b="0" dirty="0">
                          <a:solidFill>
                            <a:srgbClr val="000000"/>
                          </a:solidFill>
                          <a:latin typeface="맑은 고딕"/>
                        </a:rPr>
                        <a:t> </a:t>
                      </a:r>
                      <a:r>
                        <a:rPr sz="900" b="0" dirty="0" err="1">
                          <a:solidFill>
                            <a:srgbClr val="000000"/>
                          </a:solidFill>
                          <a:latin typeface="맑은 고딕"/>
                        </a:rPr>
                        <a:t>내린다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144000">
                <a:tc>
                  <a:txBody>
                    <a:bodyPr/>
                    <a:lstStyle/>
                    <a:p>
                      <a:pPr algn="ctr"/>
                      <a:r>
                        <a:rPr sz="900" b="0">
                          <a:solidFill>
                            <a:srgbClr val="000000"/>
                          </a:solidFill>
                          <a:latin typeface="맑은 고딕"/>
                        </a:rPr>
                        <a:t>FR-06</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RAG 서빙</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검색된</a:t>
                      </a:r>
                      <a:r>
                        <a:rPr sz="900" b="0" dirty="0">
                          <a:solidFill>
                            <a:srgbClr val="000000"/>
                          </a:solidFill>
                          <a:latin typeface="맑은 고딕"/>
                        </a:rPr>
                        <a:t> </a:t>
                      </a:r>
                      <a:r>
                        <a:rPr sz="900" b="0" dirty="0" err="1">
                          <a:solidFill>
                            <a:srgbClr val="000000"/>
                          </a:solidFill>
                          <a:latin typeface="맑은 고딕"/>
                        </a:rPr>
                        <a:t>문서가</a:t>
                      </a:r>
                      <a:r>
                        <a:rPr sz="900" b="0" dirty="0">
                          <a:solidFill>
                            <a:srgbClr val="000000"/>
                          </a:solidFill>
                          <a:latin typeface="맑은 고딕"/>
                        </a:rPr>
                        <a:t> </a:t>
                      </a:r>
                      <a:r>
                        <a:rPr sz="900" b="0" dirty="0" err="1">
                          <a:solidFill>
                            <a:srgbClr val="000000"/>
                          </a:solidFill>
                          <a:latin typeface="맑은 고딕"/>
                        </a:rPr>
                        <a:t>붙은</a:t>
                      </a:r>
                      <a:r>
                        <a:rPr sz="900" b="0" dirty="0">
                          <a:solidFill>
                            <a:srgbClr val="000000"/>
                          </a:solidFill>
                          <a:latin typeface="맑은 고딕"/>
                        </a:rPr>
                        <a:t> </a:t>
                      </a:r>
                      <a:r>
                        <a:rPr sz="900" b="0" dirty="0" err="1">
                          <a:solidFill>
                            <a:srgbClr val="000000"/>
                          </a:solidFill>
                          <a:latin typeface="맑은 고딕"/>
                        </a:rPr>
                        <a:t>요청을</a:t>
                      </a:r>
                      <a:r>
                        <a:rPr sz="900" b="0" dirty="0">
                          <a:solidFill>
                            <a:srgbClr val="000000"/>
                          </a:solidFill>
                          <a:latin typeface="맑은 고딕"/>
                        </a:rPr>
                        <a:t> </a:t>
                      </a:r>
                      <a:r>
                        <a:rPr sz="900" b="0" dirty="0" err="1">
                          <a:solidFill>
                            <a:srgbClr val="000000"/>
                          </a:solidFill>
                          <a:latin typeface="맑은 고딕"/>
                        </a:rPr>
                        <a:t>처리하고</a:t>
                      </a:r>
                      <a:r>
                        <a:rPr sz="900" b="0" dirty="0">
                          <a:solidFill>
                            <a:srgbClr val="000000"/>
                          </a:solidFill>
                          <a:latin typeface="맑은 고딕"/>
                        </a:rPr>
                        <a:t>, </a:t>
                      </a:r>
                      <a:r>
                        <a:rPr sz="900" b="0" dirty="0" err="1">
                          <a:solidFill>
                            <a:srgbClr val="000000"/>
                          </a:solidFill>
                          <a:latin typeface="맑은 고딕"/>
                        </a:rPr>
                        <a:t>문서</a:t>
                      </a:r>
                      <a:r>
                        <a:rPr sz="900" b="0" dirty="0">
                          <a:solidFill>
                            <a:srgbClr val="000000"/>
                          </a:solidFill>
                          <a:latin typeface="맑은 고딕"/>
                        </a:rPr>
                        <a:t> </a:t>
                      </a:r>
                      <a:r>
                        <a:rPr sz="900" b="0" dirty="0" err="1">
                          <a:solidFill>
                            <a:srgbClr val="000000"/>
                          </a:solidFill>
                          <a:latin typeface="맑은 고딕"/>
                        </a:rPr>
                        <a:t>KV를</a:t>
                      </a:r>
                      <a:r>
                        <a:rPr sz="900" b="0" dirty="0">
                          <a:solidFill>
                            <a:srgbClr val="000000"/>
                          </a:solidFill>
                          <a:latin typeface="맑은 고딕"/>
                        </a:rPr>
                        <a:t> </a:t>
                      </a:r>
                      <a:r>
                        <a:rPr sz="900" b="0" dirty="0" err="1">
                          <a:solidFill>
                            <a:srgbClr val="000000"/>
                          </a:solidFill>
                          <a:latin typeface="맑은 고딕"/>
                        </a:rPr>
                        <a:t>보관했다가</a:t>
                      </a:r>
                      <a:r>
                        <a:rPr sz="900" b="0" dirty="0">
                          <a:solidFill>
                            <a:srgbClr val="000000"/>
                          </a:solidFill>
                          <a:latin typeface="맑은 고딕"/>
                        </a:rPr>
                        <a:t> </a:t>
                      </a:r>
                      <a:r>
                        <a:rPr sz="900" b="0" dirty="0" err="1">
                          <a:solidFill>
                            <a:srgbClr val="000000"/>
                          </a:solidFill>
                          <a:latin typeface="맑은 고딕"/>
                        </a:rPr>
                        <a:t>같은</a:t>
                      </a:r>
                      <a:r>
                        <a:rPr sz="900" b="0" dirty="0">
                          <a:solidFill>
                            <a:srgbClr val="000000"/>
                          </a:solidFill>
                          <a:latin typeface="맑은 고딕"/>
                        </a:rPr>
                        <a:t> </a:t>
                      </a:r>
                      <a:r>
                        <a:rPr sz="900" b="0" dirty="0" err="1">
                          <a:solidFill>
                            <a:srgbClr val="000000"/>
                          </a:solidFill>
                          <a:latin typeface="맑은 고딕"/>
                        </a:rPr>
                        <a:t>문서의</a:t>
                      </a:r>
                      <a:r>
                        <a:rPr sz="900" b="0" dirty="0">
                          <a:solidFill>
                            <a:srgbClr val="000000"/>
                          </a:solidFill>
                          <a:latin typeface="맑은 고딕"/>
                        </a:rPr>
                        <a:t> </a:t>
                      </a:r>
                      <a:r>
                        <a:rPr sz="900" b="0" dirty="0" err="1">
                          <a:solidFill>
                            <a:srgbClr val="000000"/>
                          </a:solidFill>
                          <a:latin typeface="맑은 고딕"/>
                        </a:rPr>
                        <a:t>요청에서</a:t>
                      </a:r>
                      <a:r>
                        <a:rPr sz="900" b="0" dirty="0">
                          <a:solidFill>
                            <a:srgbClr val="000000"/>
                          </a:solidFill>
                          <a:latin typeface="맑은 고딕"/>
                        </a:rPr>
                        <a:t> </a:t>
                      </a:r>
                      <a:r>
                        <a:rPr sz="900" b="0" dirty="0" err="1">
                          <a:solidFill>
                            <a:srgbClr val="000000"/>
                          </a:solidFill>
                          <a:latin typeface="맑은 고딕"/>
                        </a:rPr>
                        <a:t>다시</a:t>
                      </a:r>
                      <a:r>
                        <a:rPr sz="900" b="0" dirty="0">
                          <a:solidFill>
                            <a:srgbClr val="000000"/>
                          </a:solidFill>
                          <a:latin typeface="맑은 고딕"/>
                        </a:rPr>
                        <a:t> </a:t>
                      </a:r>
                      <a:r>
                        <a:rPr sz="900" b="0" dirty="0" err="1">
                          <a:solidFill>
                            <a:srgbClr val="000000"/>
                          </a:solidFill>
                          <a:latin typeface="맑은 고딕"/>
                        </a:rPr>
                        <a:t>사용한다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144000">
                <a:tc>
                  <a:txBody>
                    <a:bodyPr/>
                    <a:lstStyle/>
                    <a:p>
                      <a:pPr algn="ctr"/>
                      <a:r>
                        <a:rPr sz="900" b="0">
                          <a:solidFill>
                            <a:srgbClr val="000000"/>
                          </a:solidFill>
                          <a:latin typeface="맑은 고딕"/>
                        </a:rPr>
                        <a:t>FR-07</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MoE 모델 서빙</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MoE</a:t>
                      </a:r>
                      <a:r>
                        <a:rPr sz="900" b="0" dirty="0">
                          <a:solidFill>
                            <a:srgbClr val="000000"/>
                          </a:solidFill>
                          <a:latin typeface="맑은 고딕"/>
                        </a:rPr>
                        <a:t> </a:t>
                      </a:r>
                      <a:r>
                        <a:rPr sz="900" b="0" dirty="0" err="1">
                          <a:solidFill>
                            <a:srgbClr val="000000"/>
                          </a:solidFill>
                          <a:latin typeface="맑은 고딕"/>
                        </a:rPr>
                        <a:t>모델의</a:t>
                      </a:r>
                      <a:r>
                        <a:rPr sz="900" b="0" dirty="0">
                          <a:solidFill>
                            <a:srgbClr val="000000"/>
                          </a:solidFill>
                          <a:latin typeface="맑은 고딕"/>
                        </a:rPr>
                        <a:t> </a:t>
                      </a:r>
                      <a:r>
                        <a:rPr sz="900" b="0" dirty="0" err="1">
                          <a:solidFill>
                            <a:srgbClr val="000000"/>
                          </a:solidFill>
                          <a:latin typeface="맑은 고딕"/>
                        </a:rPr>
                        <a:t>expert를</a:t>
                      </a:r>
                      <a:r>
                        <a:rPr sz="900" b="0" dirty="0">
                          <a:solidFill>
                            <a:srgbClr val="000000"/>
                          </a:solidFill>
                          <a:latin typeface="맑은 고딕"/>
                        </a:rPr>
                        <a:t> </a:t>
                      </a:r>
                      <a:r>
                        <a:rPr sz="900" b="0" dirty="0" err="1">
                          <a:solidFill>
                            <a:srgbClr val="000000"/>
                          </a:solidFill>
                          <a:latin typeface="맑은 고딕"/>
                        </a:rPr>
                        <a:t>여러</a:t>
                      </a:r>
                      <a:r>
                        <a:rPr sz="900" b="0" dirty="0">
                          <a:solidFill>
                            <a:srgbClr val="000000"/>
                          </a:solidFill>
                          <a:latin typeface="맑은 고딕"/>
                        </a:rPr>
                        <a:t> </a:t>
                      </a:r>
                      <a:r>
                        <a:rPr sz="900" b="0" dirty="0" err="1">
                          <a:solidFill>
                            <a:srgbClr val="000000"/>
                          </a:solidFill>
                          <a:latin typeface="맑은 고딕"/>
                        </a:rPr>
                        <a:t>메모리에</a:t>
                      </a:r>
                      <a:r>
                        <a:rPr sz="900" b="0" dirty="0">
                          <a:solidFill>
                            <a:srgbClr val="000000"/>
                          </a:solidFill>
                          <a:latin typeface="맑은 고딕"/>
                        </a:rPr>
                        <a:t> </a:t>
                      </a:r>
                      <a:r>
                        <a:rPr sz="900" b="0" dirty="0" err="1">
                          <a:solidFill>
                            <a:srgbClr val="000000"/>
                          </a:solidFill>
                          <a:latin typeface="맑은 고딕"/>
                        </a:rPr>
                        <a:t>나누어</a:t>
                      </a:r>
                      <a:r>
                        <a:rPr sz="900" b="0" dirty="0">
                          <a:solidFill>
                            <a:srgbClr val="000000"/>
                          </a:solidFill>
                          <a:latin typeface="맑은 고딕"/>
                        </a:rPr>
                        <a:t> </a:t>
                      </a:r>
                      <a:r>
                        <a:rPr sz="900" b="0" dirty="0" err="1">
                          <a:solidFill>
                            <a:srgbClr val="000000"/>
                          </a:solidFill>
                          <a:latin typeface="맑은 고딕"/>
                        </a:rPr>
                        <a:t>두고</a:t>
                      </a:r>
                      <a:r>
                        <a:rPr sz="900" b="0" dirty="0">
                          <a:solidFill>
                            <a:srgbClr val="000000"/>
                          </a:solidFill>
                          <a:latin typeface="맑은 고딕"/>
                        </a:rPr>
                        <a:t> </a:t>
                      </a:r>
                      <a:r>
                        <a:rPr sz="900" b="0" dirty="0" err="1">
                          <a:solidFill>
                            <a:srgbClr val="000000"/>
                          </a:solidFill>
                          <a:latin typeface="맑은 고딕"/>
                        </a:rPr>
                        <a:t>선택된</a:t>
                      </a:r>
                      <a:r>
                        <a:rPr sz="900" b="0" dirty="0">
                          <a:solidFill>
                            <a:srgbClr val="000000"/>
                          </a:solidFill>
                          <a:latin typeface="맑은 고딕"/>
                        </a:rPr>
                        <a:t> </a:t>
                      </a:r>
                      <a:r>
                        <a:rPr sz="900" b="0" dirty="0" err="1">
                          <a:solidFill>
                            <a:srgbClr val="000000"/>
                          </a:solidFill>
                          <a:latin typeface="맑은 고딕"/>
                        </a:rPr>
                        <a:t>expert로</a:t>
                      </a:r>
                      <a:r>
                        <a:rPr sz="900" b="0" dirty="0">
                          <a:solidFill>
                            <a:srgbClr val="000000"/>
                          </a:solidFill>
                          <a:latin typeface="맑은 고딕"/>
                        </a:rPr>
                        <a:t> </a:t>
                      </a:r>
                      <a:r>
                        <a:rPr sz="900" b="0" dirty="0" err="1">
                          <a:solidFill>
                            <a:srgbClr val="000000"/>
                          </a:solidFill>
                          <a:latin typeface="맑은 고딕"/>
                        </a:rPr>
                        <a:t>요청을</a:t>
                      </a:r>
                      <a:r>
                        <a:rPr sz="900" b="0" dirty="0">
                          <a:solidFill>
                            <a:srgbClr val="000000"/>
                          </a:solidFill>
                          <a:latin typeface="맑은 고딕"/>
                        </a:rPr>
                        <a:t> </a:t>
                      </a:r>
                      <a:r>
                        <a:rPr sz="900" b="0" dirty="0" err="1">
                          <a:solidFill>
                            <a:srgbClr val="000000"/>
                          </a:solidFill>
                          <a:latin typeface="맑은 고딕"/>
                        </a:rPr>
                        <a:t>처리한다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144000">
                <a:tc>
                  <a:txBody>
                    <a:bodyPr/>
                    <a:lstStyle/>
                    <a:p>
                      <a:pPr algn="ctr"/>
                      <a:r>
                        <a:rPr sz="900" b="0">
                          <a:solidFill>
                            <a:srgbClr val="000000"/>
                          </a:solidFill>
                          <a:latin typeface="맑은 고딕"/>
                        </a:rPr>
                        <a:t>FR-08</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Prefill/Decode disaggregation</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요청의</a:t>
                      </a:r>
                      <a:r>
                        <a:rPr sz="900" b="0" dirty="0">
                          <a:solidFill>
                            <a:srgbClr val="000000"/>
                          </a:solidFill>
                          <a:latin typeface="맑은 고딕"/>
                        </a:rPr>
                        <a:t> </a:t>
                      </a:r>
                      <a:r>
                        <a:rPr sz="900" b="0" dirty="0" err="1">
                          <a:solidFill>
                            <a:srgbClr val="000000"/>
                          </a:solidFill>
                          <a:latin typeface="맑은 고딕"/>
                        </a:rPr>
                        <a:t>Prefill과</a:t>
                      </a:r>
                      <a:r>
                        <a:rPr sz="900" b="0" dirty="0">
                          <a:solidFill>
                            <a:srgbClr val="000000"/>
                          </a:solidFill>
                          <a:latin typeface="맑은 고딕"/>
                        </a:rPr>
                        <a:t> </a:t>
                      </a:r>
                      <a:r>
                        <a:rPr sz="900" b="0" dirty="0" err="1">
                          <a:solidFill>
                            <a:srgbClr val="000000"/>
                          </a:solidFill>
                          <a:latin typeface="맑은 고딕"/>
                        </a:rPr>
                        <a:t>Decode를</a:t>
                      </a:r>
                      <a:r>
                        <a:rPr sz="900" b="0" dirty="0">
                          <a:solidFill>
                            <a:srgbClr val="000000"/>
                          </a:solidFill>
                          <a:latin typeface="맑은 고딕"/>
                        </a:rPr>
                        <a:t> </a:t>
                      </a:r>
                      <a:r>
                        <a:rPr sz="900" b="0" dirty="0" err="1">
                          <a:solidFill>
                            <a:srgbClr val="000000"/>
                          </a:solidFill>
                          <a:latin typeface="맑은 고딕"/>
                        </a:rPr>
                        <a:t>서로</a:t>
                      </a:r>
                      <a:r>
                        <a:rPr sz="900" b="0" dirty="0">
                          <a:solidFill>
                            <a:srgbClr val="000000"/>
                          </a:solidFill>
                          <a:latin typeface="맑은 고딕"/>
                        </a:rPr>
                        <a:t> </a:t>
                      </a:r>
                      <a:r>
                        <a:rPr sz="900" b="0" dirty="0" err="1">
                          <a:solidFill>
                            <a:srgbClr val="000000"/>
                          </a:solidFill>
                          <a:latin typeface="맑은 고딕"/>
                        </a:rPr>
                        <a:t>다른</a:t>
                      </a:r>
                      <a:r>
                        <a:rPr sz="900" b="0" dirty="0">
                          <a:solidFill>
                            <a:srgbClr val="000000"/>
                          </a:solidFill>
                          <a:latin typeface="맑은 고딕"/>
                        </a:rPr>
                        <a:t> </a:t>
                      </a:r>
                      <a:r>
                        <a:rPr sz="900" b="0" dirty="0" err="1">
                          <a:solidFill>
                            <a:srgbClr val="000000"/>
                          </a:solidFill>
                          <a:latin typeface="맑은 고딕"/>
                        </a:rPr>
                        <a:t>자원에서</a:t>
                      </a:r>
                      <a:r>
                        <a:rPr sz="900" b="0" dirty="0">
                          <a:solidFill>
                            <a:srgbClr val="000000"/>
                          </a:solidFill>
                          <a:latin typeface="맑은 고딕"/>
                        </a:rPr>
                        <a:t> </a:t>
                      </a:r>
                      <a:r>
                        <a:rPr sz="900" b="0" dirty="0" err="1">
                          <a:solidFill>
                            <a:srgbClr val="000000"/>
                          </a:solidFill>
                          <a:latin typeface="맑은 고딕"/>
                        </a:rPr>
                        <a:t>나누어</a:t>
                      </a:r>
                      <a:r>
                        <a:rPr sz="900" b="0" dirty="0">
                          <a:solidFill>
                            <a:srgbClr val="000000"/>
                          </a:solidFill>
                          <a:latin typeface="맑은 고딕"/>
                        </a:rPr>
                        <a:t> </a:t>
                      </a:r>
                      <a:r>
                        <a:rPr sz="900" b="0" dirty="0" err="1">
                          <a:solidFill>
                            <a:srgbClr val="000000"/>
                          </a:solidFill>
                          <a:latin typeface="맑은 고딕"/>
                        </a:rPr>
                        <a:t>실행하고</a:t>
                      </a:r>
                      <a:r>
                        <a:rPr sz="900" b="0" dirty="0">
                          <a:solidFill>
                            <a:srgbClr val="000000"/>
                          </a:solidFill>
                          <a:latin typeface="맑은 고딕"/>
                        </a:rPr>
                        <a:t>, </a:t>
                      </a:r>
                      <a:r>
                        <a:rPr sz="900" b="0" dirty="0" err="1">
                          <a:solidFill>
                            <a:srgbClr val="000000"/>
                          </a:solidFill>
                          <a:latin typeface="맑은 고딕"/>
                        </a:rPr>
                        <a:t>Prefill의</a:t>
                      </a:r>
                      <a:r>
                        <a:rPr sz="900" b="0" dirty="0">
                          <a:solidFill>
                            <a:srgbClr val="000000"/>
                          </a:solidFill>
                          <a:latin typeface="맑은 고딕"/>
                        </a:rPr>
                        <a:t> </a:t>
                      </a:r>
                      <a:r>
                        <a:rPr sz="900" b="0" dirty="0" err="1">
                          <a:solidFill>
                            <a:srgbClr val="000000"/>
                          </a:solidFill>
                          <a:latin typeface="맑은 고딕"/>
                        </a:rPr>
                        <a:t>KV를</a:t>
                      </a:r>
                      <a:r>
                        <a:rPr sz="900" b="0" dirty="0">
                          <a:solidFill>
                            <a:srgbClr val="000000"/>
                          </a:solidFill>
                          <a:latin typeface="맑은 고딕"/>
                        </a:rPr>
                        <a:t> Decode </a:t>
                      </a:r>
                      <a:r>
                        <a:rPr sz="900" b="0" dirty="0" err="1">
                          <a:solidFill>
                            <a:srgbClr val="000000"/>
                          </a:solidFill>
                          <a:latin typeface="맑은 고딕"/>
                        </a:rPr>
                        <a:t>쪽으로</a:t>
                      </a:r>
                      <a:r>
                        <a:rPr sz="900" b="0" dirty="0">
                          <a:solidFill>
                            <a:srgbClr val="000000"/>
                          </a:solidFill>
                          <a:latin typeface="맑은 고딕"/>
                        </a:rPr>
                        <a:t> </a:t>
                      </a:r>
                      <a:r>
                        <a:rPr sz="900" b="0" dirty="0" err="1">
                          <a:solidFill>
                            <a:srgbClr val="000000"/>
                          </a:solidFill>
                          <a:latin typeface="맑은 고딕"/>
                        </a:rPr>
                        <a:t>전달한다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144000">
                <a:tc>
                  <a:txBody>
                    <a:bodyPr/>
                    <a:lstStyle/>
                    <a:p>
                      <a:pPr algn="ctr"/>
                      <a:r>
                        <a:rPr sz="900" b="0">
                          <a:solidFill>
                            <a:srgbClr val="000000"/>
                          </a:solidFill>
                          <a:latin typeface="맑은 고딕"/>
                        </a:rPr>
                        <a:t>FR-09</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연산 offload와 GPU fallback</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연산</a:t>
                      </a:r>
                      <a:r>
                        <a:rPr sz="900" b="0" dirty="0">
                          <a:solidFill>
                            <a:srgbClr val="000000"/>
                          </a:solidFill>
                          <a:latin typeface="맑은 고딕"/>
                        </a:rPr>
                        <a:t> </a:t>
                      </a:r>
                      <a:r>
                        <a:rPr sz="900" b="0" dirty="0" err="1">
                          <a:solidFill>
                            <a:srgbClr val="000000"/>
                          </a:solidFill>
                          <a:latin typeface="맑은 고딕"/>
                        </a:rPr>
                        <a:t>가능</a:t>
                      </a:r>
                      <a:r>
                        <a:rPr sz="900" b="0" dirty="0">
                          <a:solidFill>
                            <a:srgbClr val="000000"/>
                          </a:solidFill>
                          <a:latin typeface="맑은 고딕"/>
                        </a:rPr>
                        <a:t> </a:t>
                      </a:r>
                      <a:r>
                        <a:rPr sz="900" b="0" dirty="0" err="1">
                          <a:solidFill>
                            <a:srgbClr val="000000"/>
                          </a:solidFill>
                          <a:latin typeface="맑은 고딕"/>
                        </a:rPr>
                        <a:t>메모리</a:t>
                      </a:r>
                      <a:r>
                        <a:rPr sz="900" b="0" dirty="0">
                          <a:solidFill>
                            <a:srgbClr val="000000"/>
                          </a:solidFill>
                          <a:latin typeface="맑은 고딕"/>
                        </a:rPr>
                        <a:t>(PIM/PNM)가 </a:t>
                      </a:r>
                      <a:r>
                        <a:rPr sz="900" b="0" dirty="0" err="1">
                          <a:solidFill>
                            <a:srgbClr val="000000"/>
                          </a:solidFill>
                          <a:latin typeface="맑은 고딕"/>
                        </a:rPr>
                        <a:t>지원하는</a:t>
                      </a:r>
                      <a:r>
                        <a:rPr sz="900" b="0" dirty="0">
                          <a:solidFill>
                            <a:srgbClr val="000000"/>
                          </a:solidFill>
                          <a:latin typeface="맑은 고딕"/>
                        </a:rPr>
                        <a:t> </a:t>
                      </a:r>
                      <a:r>
                        <a:rPr sz="900" b="0" dirty="0" err="1">
                          <a:solidFill>
                            <a:srgbClr val="000000"/>
                          </a:solidFill>
                          <a:latin typeface="맑은 고딕"/>
                        </a:rPr>
                        <a:t>연산은</a:t>
                      </a:r>
                      <a:r>
                        <a:rPr sz="900" b="0" dirty="0">
                          <a:solidFill>
                            <a:srgbClr val="000000"/>
                          </a:solidFill>
                          <a:latin typeface="맑은 고딕"/>
                        </a:rPr>
                        <a:t> 그 </a:t>
                      </a:r>
                      <a:r>
                        <a:rPr sz="900" b="0" dirty="0" err="1">
                          <a:solidFill>
                            <a:srgbClr val="000000"/>
                          </a:solidFill>
                          <a:latin typeface="맑은 고딕"/>
                        </a:rPr>
                        <a:t>메모리에서</a:t>
                      </a:r>
                      <a:r>
                        <a:rPr sz="900" b="0" dirty="0">
                          <a:solidFill>
                            <a:srgbClr val="000000"/>
                          </a:solidFill>
                          <a:latin typeface="맑은 고딕"/>
                        </a:rPr>
                        <a:t>, </a:t>
                      </a:r>
                      <a:r>
                        <a:rPr sz="900" b="0" dirty="0" err="1">
                          <a:solidFill>
                            <a:srgbClr val="000000"/>
                          </a:solidFill>
                          <a:latin typeface="맑은 고딕"/>
                        </a:rPr>
                        <a:t>지원하지</a:t>
                      </a:r>
                      <a:r>
                        <a:rPr sz="900" b="0" dirty="0">
                          <a:solidFill>
                            <a:srgbClr val="000000"/>
                          </a:solidFill>
                          <a:latin typeface="맑은 고딕"/>
                        </a:rPr>
                        <a:t> </a:t>
                      </a:r>
                      <a:r>
                        <a:rPr sz="900" b="0" dirty="0" err="1">
                          <a:solidFill>
                            <a:srgbClr val="000000"/>
                          </a:solidFill>
                          <a:latin typeface="맑은 고딕"/>
                        </a:rPr>
                        <a:t>않는</a:t>
                      </a:r>
                      <a:r>
                        <a:rPr sz="900" b="0" dirty="0">
                          <a:solidFill>
                            <a:srgbClr val="000000"/>
                          </a:solidFill>
                          <a:latin typeface="맑은 고딕"/>
                        </a:rPr>
                        <a:t> </a:t>
                      </a:r>
                      <a:r>
                        <a:rPr sz="900" b="0" dirty="0" err="1">
                          <a:solidFill>
                            <a:srgbClr val="000000"/>
                          </a:solidFill>
                          <a:latin typeface="맑은 고딕"/>
                        </a:rPr>
                        <a:t>연산은</a:t>
                      </a:r>
                      <a:r>
                        <a:rPr sz="900" b="0" dirty="0">
                          <a:solidFill>
                            <a:srgbClr val="000000"/>
                          </a:solidFill>
                          <a:latin typeface="맑은 고딕"/>
                        </a:rPr>
                        <a:t> </a:t>
                      </a:r>
                      <a:r>
                        <a:rPr sz="900" b="0" dirty="0" err="1">
                          <a:solidFill>
                            <a:srgbClr val="000000"/>
                          </a:solidFill>
                          <a:latin typeface="맑은 고딕"/>
                        </a:rPr>
                        <a:t>GPU에서</a:t>
                      </a:r>
                      <a:r>
                        <a:rPr sz="900" b="0" dirty="0">
                          <a:solidFill>
                            <a:srgbClr val="000000"/>
                          </a:solidFill>
                          <a:latin typeface="맑은 고딕"/>
                        </a:rPr>
                        <a:t> </a:t>
                      </a:r>
                      <a:r>
                        <a:rPr sz="900" b="0" dirty="0" err="1">
                          <a:solidFill>
                            <a:srgbClr val="000000"/>
                          </a:solidFill>
                          <a:latin typeface="맑은 고딕"/>
                        </a:rPr>
                        <a:t>수행한다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9"/>
                  </a:ext>
                </a:extLst>
              </a:tr>
              <a:tr h="144000">
                <a:tc>
                  <a:txBody>
                    <a:bodyPr/>
                    <a:lstStyle/>
                    <a:p>
                      <a:pPr algn="ctr"/>
                      <a:r>
                        <a:rPr sz="900" b="0">
                          <a:solidFill>
                            <a:srgbClr val="000000"/>
                          </a:solidFill>
                          <a:latin typeface="맑은 고딕"/>
                        </a:rPr>
                        <a:t>FR-10</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서버</a:t>
                      </a:r>
                      <a:r>
                        <a:rPr sz="900" b="0" dirty="0">
                          <a:solidFill>
                            <a:srgbClr val="000000"/>
                          </a:solidFill>
                          <a:latin typeface="맑은 고딕"/>
                        </a:rPr>
                        <a:t> 간 KV </a:t>
                      </a:r>
                      <a:r>
                        <a:rPr sz="900" b="0" dirty="0" err="1">
                          <a:solidFill>
                            <a:srgbClr val="000000"/>
                          </a:solidFill>
                          <a:latin typeface="맑은 고딕"/>
                        </a:rPr>
                        <a:t>전송</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a:solidFill>
                            <a:srgbClr val="000000"/>
                          </a:solidFill>
                          <a:latin typeface="맑은 고딕"/>
                        </a:rPr>
                        <a:t>한 </a:t>
                      </a:r>
                      <a:r>
                        <a:rPr sz="900" b="0" dirty="0" err="1">
                          <a:solidFill>
                            <a:srgbClr val="000000"/>
                          </a:solidFill>
                          <a:latin typeface="맑은 고딕"/>
                        </a:rPr>
                        <a:t>서버의</a:t>
                      </a:r>
                      <a:r>
                        <a:rPr sz="900" b="0" dirty="0">
                          <a:solidFill>
                            <a:srgbClr val="000000"/>
                          </a:solidFill>
                          <a:latin typeface="맑은 고딕"/>
                        </a:rPr>
                        <a:t> KV </a:t>
                      </a:r>
                      <a:r>
                        <a:rPr sz="900" b="0" dirty="0" err="1">
                          <a:solidFill>
                            <a:srgbClr val="000000"/>
                          </a:solidFill>
                          <a:latin typeface="맑은 고딕"/>
                        </a:rPr>
                        <a:t>cache를</a:t>
                      </a:r>
                      <a:r>
                        <a:rPr sz="900" b="0" dirty="0">
                          <a:solidFill>
                            <a:srgbClr val="000000"/>
                          </a:solidFill>
                          <a:latin typeface="맑은 고딕"/>
                        </a:rPr>
                        <a:t> </a:t>
                      </a:r>
                      <a:r>
                        <a:rPr sz="900" b="0" dirty="0" err="1">
                          <a:solidFill>
                            <a:srgbClr val="000000"/>
                          </a:solidFill>
                          <a:latin typeface="맑은 고딕"/>
                        </a:rPr>
                        <a:t>다른</a:t>
                      </a:r>
                      <a:r>
                        <a:rPr sz="900" b="0" dirty="0">
                          <a:solidFill>
                            <a:srgbClr val="000000"/>
                          </a:solidFill>
                          <a:latin typeface="맑은 고딕"/>
                        </a:rPr>
                        <a:t> </a:t>
                      </a:r>
                      <a:r>
                        <a:rPr sz="900" b="0" dirty="0" err="1">
                          <a:solidFill>
                            <a:srgbClr val="000000"/>
                          </a:solidFill>
                          <a:latin typeface="맑은 고딕"/>
                        </a:rPr>
                        <a:t>서버로</a:t>
                      </a:r>
                      <a:r>
                        <a:rPr sz="900" b="0" dirty="0">
                          <a:solidFill>
                            <a:srgbClr val="000000"/>
                          </a:solidFill>
                          <a:latin typeface="맑은 고딕"/>
                        </a:rPr>
                        <a:t> </a:t>
                      </a:r>
                      <a:r>
                        <a:rPr sz="900" b="0" dirty="0" err="1">
                          <a:solidFill>
                            <a:srgbClr val="000000"/>
                          </a:solidFill>
                          <a:latin typeface="맑은 고딕"/>
                        </a:rPr>
                        <a:t>보내</a:t>
                      </a:r>
                      <a:r>
                        <a:rPr sz="900" b="0" dirty="0">
                          <a:solidFill>
                            <a:srgbClr val="000000"/>
                          </a:solidFill>
                          <a:latin typeface="맑은 고딕"/>
                        </a:rPr>
                        <a:t> </a:t>
                      </a:r>
                      <a:r>
                        <a:rPr sz="900" b="0" dirty="0" err="1">
                          <a:solidFill>
                            <a:srgbClr val="000000"/>
                          </a:solidFill>
                          <a:latin typeface="맑은 고딕"/>
                        </a:rPr>
                        <a:t>상대</a:t>
                      </a:r>
                      <a:r>
                        <a:rPr sz="900" b="0" dirty="0">
                          <a:solidFill>
                            <a:srgbClr val="000000"/>
                          </a:solidFill>
                          <a:latin typeface="맑은 고딕"/>
                        </a:rPr>
                        <a:t> </a:t>
                      </a:r>
                      <a:r>
                        <a:rPr sz="900" b="0" dirty="0" err="1">
                          <a:solidFill>
                            <a:srgbClr val="000000"/>
                          </a:solidFill>
                          <a:latin typeface="맑은 고딕"/>
                        </a:rPr>
                        <a:t>서버가</a:t>
                      </a:r>
                      <a:r>
                        <a:rPr sz="900" b="0" dirty="0">
                          <a:solidFill>
                            <a:srgbClr val="000000"/>
                          </a:solidFill>
                          <a:latin typeface="맑은 고딕"/>
                        </a:rPr>
                        <a:t> 쓸 수 </a:t>
                      </a:r>
                      <a:r>
                        <a:rPr sz="900" b="0" dirty="0" err="1">
                          <a:solidFill>
                            <a:srgbClr val="000000"/>
                          </a:solidFill>
                          <a:latin typeface="맑은 고딕"/>
                        </a:rPr>
                        <a:t>있게</a:t>
                      </a:r>
                      <a:r>
                        <a:rPr sz="900" b="0" dirty="0">
                          <a:solidFill>
                            <a:srgbClr val="000000"/>
                          </a:solidFill>
                          <a:latin typeface="맑은 고딕"/>
                        </a:rPr>
                        <a:t> </a:t>
                      </a:r>
                      <a:r>
                        <a:rPr sz="900" b="0" dirty="0" err="1">
                          <a:solidFill>
                            <a:srgbClr val="000000"/>
                          </a:solidFill>
                          <a:latin typeface="맑은 고딕"/>
                        </a:rPr>
                        <a:t>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10"/>
                  </a:ext>
                </a:extLst>
              </a:tr>
              <a:tr h="144000">
                <a:tc>
                  <a:txBody>
                    <a:bodyPr/>
                    <a:lstStyle/>
                    <a:p>
                      <a:pPr algn="ctr"/>
                      <a:r>
                        <a:rPr sz="900" b="0">
                          <a:solidFill>
                            <a:srgbClr val="000000"/>
                          </a:solidFill>
                          <a:latin typeface="맑은 고딕"/>
                        </a:rPr>
                        <a:t>FR-11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Multi-turn 세션 서빙</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같은</a:t>
                      </a:r>
                      <a:r>
                        <a:rPr sz="900" b="0" dirty="0">
                          <a:solidFill>
                            <a:srgbClr val="000000"/>
                          </a:solidFill>
                          <a:latin typeface="맑은 고딕"/>
                        </a:rPr>
                        <a:t> </a:t>
                      </a:r>
                      <a:r>
                        <a:rPr sz="900" b="0" dirty="0" err="1">
                          <a:solidFill>
                            <a:srgbClr val="000000"/>
                          </a:solidFill>
                          <a:latin typeface="맑은 고딕"/>
                        </a:rPr>
                        <a:t>세션의</a:t>
                      </a:r>
                      <a:r>
                        <a:rPr sz="900" b="0" dirty="0">
                          <a:solidFill>
                            <a:srgbClr val="000000"/>
                          </a:solidFill>
                          <a:latin typeface="맑은 고딕"/>
                        </a:rPr>
                        <a:t> </a:t>
                      </a:r>
                      <a:r>
                        <a:rPr sz="900" b="0" dirty="0" err="1">
                          <a:solidFill>
                            <a:srgbClr val="000000"/>
                          </a:solidFill>
                          <a:latin typeface="맑은 고딕"/>
                        </a:rPr>
                        <a:t>이전</a:t>
                      </a:r>
                      <a:r>
                        <a:rPr sz="900" b="0" dirty="0">
                          <a:solidFill>
                            <a:srgbClr val="000000"/>
                          </a:solidFill>
                          <a:latin typeface="맑은 고딕"/>
                        </a:rPr>
                        <a:t> </a:t>
                      </a:r>
                      <a:r>
                        <a:rPr sz="900" b="0" dirty="0" err="1">
                          <a:solidFill>
                            <a:srgbClr val="000000"/>
                          </a:solidFill>
                          <a:latin typeface="맑은 고딕"/>
                        </a:rPr>
                        <a:t>대화</a:t>
                      </a:r>
                      <a:r>
                        <a:rPr sz="900" b="0" dirty="0">
                          <a:solidFill>
                            <a:srgbClr val="000000"/>
                          </a:solidFill>
                          <a:latin typeface="맑은 고딕"/>
                        </a:rPr>
                        <a:t> </a:t>
                      </a:r>
                      <a:r>
                        <a:rPr sz="900" b="0" dirty="0" err="1">
                          <a:solidFill>
                            <a:srgbClr val="000000"/>
                          </a:solidFill>
                          <a:latin typeface="맑은 고딕"/>
                        </a:rPr>
                        <a:t>내용과</a:t>
                      </a:r>
                      <a:r>
                        <a:rPr sz="900" b="0" dirty="0">
                          <a:solidFill>
                            <a:srgbClr val="000000"/>
                          </a:solidFill>
                          <a:latin typeface="맑은 고딕"/>
                        </a:rPr>
                        <a:t> </a:t>
                      </a:r>
                      <a:r>
                        <a:rPr sz="900" b="0" dirty="0" err="1">
                          <a:solidFill>
                            <a:srgbClr val="000000"/>
                          </a:solidFill>
                          <a:latin typeface="맑은 고딕"/>
                        </a:rPr>
                        <a:t>KV를</a:t>
                      </a:r>
                      <a:r>
                        <a:rPr sz="900" b="0" dirty="0">
                          <a:solidFill>
                            <a:srgbClr val="000000"/>
                          </a:solidFill>
                          <a:latin typeface="맑은 고딕"/>
                        </a:rPr>
                        <a:t> </a:t>
                      </a:r>
                      <a:r>
                        <a:rPr sz="900" b="0" dirty="0" err="1">
                          <a:solidFill>
                            <a:srgbClr val="000000"/>
                          </a:solidFill>
                          <a:latin typeface="맑은 고딕"/>
                        </a:rPr>
                        <a:t>유지해</a:t>
                      </a:r>
                      <a:r>
                        <a:rPr sz="900" b="0" dirty="0">
                          <a:solidFill>
                            <a:srgbClr val="000000"/>
                          </a:solidFill>
                          <a:latin typeface="맑은 고딕"/>
                        </a:rPr>
                        <a:t> </a:t>
                      </a:r>
                      <a:r>
                        <a:rPr sz="900" b="0" dirty="0" err="1">
                          <a:solidFill>
                            <a:srgbClr val="000000"/>
                          </a:solidFill>
                          <a:latin typeface="맑은 고딕"/>
                        </a:rPr>
                        <a:t>후속</a:t>
                      </a:r>
                      <a:r>
                        <a:rPr sz="900" b="0" dirty="0">
                          <a:solidFill>
                            <a:srgbClr val="000000"/>
                          </a:solidFill>
                          <a:latin typeface="맑은 고딕"/>
                        </a:rPr>
                        <a:t> </a:t>
                      </a:r>
                      <a:r>
                        <a:rPr sz="900" b="0" dirty="0" err="1">
                          <a:solidFill>
                            <a:srgbClr val="000000"/>
                          </a:solidFill>
                          <a:latin typeface="맑은 고딕"/>
                        </a:rPr>
                        <a:t>요청을</a:t>
                      </a:r>
                      <a:r>
                        <a:rPr sz="900" b="0" dirty="0">
                          <a:solidFill>
                            <a:srgbClr val="000000"/>
                          </a:solidFill>
                          <a:latin typeface="맑은 고딕"/>
                        </a:rPr>
                        <a:t> </a:t>
                      </a:r>
                      <a:r>
                        <a:rPr sz="900" b="0" dirty="0" err="1">
                          <a:solidFill>
                            <a:srgbClr val="000000"/>
                          </a:solidFill>
                          <a:latin typeface="맑은 고딕"/>
                        </a:rPr>
                        <a:t>이어서</a:t>
                      </a:r>
                      <a:r>
                        <a:rPr sz="900" b="0" dirty="0">
                          <a:solidFill>
                            <a:srgbClr val="000000"/>
                          </a:solidFill>
                          <a:latin typeface="맑은 고딕"/>
                        </a:rPr>
                        <a:t> </a:t>
                      </a:r>
                      <a:r>
                        <a:rPr sz="900" b="0" dirty="0" err="1">
                          <a:solidFill>
                            <a:srgbClr val="000000"/>
                          </a:solidFill>
                          <a:latin typeface="맑은 고딕"/>
                        </a:rPr>
                        <a:t>처리한다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11"/>
                  </a:ext>
                </a:extLst>
              </a:tr>
              <a:tr h="144000">
                <a:tc>
                  <a:txBody>
                    <a:bodyPr/>
                    <a:lstStyle/>
                    <a:p>
                      <a:pPr algn="ctr"/>
                      <a:r>
                        <a:rPr sz="900" b="0">
                          <a:solidFill>
                            <a:srgbClr val="000000"/>
                          </a:solidFill>
                          <a:latin typeface="맑은 고딕"/>
                        </a:rPr>
                        <a:t>FR-12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Prefix caching</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앞부분이</a:t>
                      </a:r>
                      <a:r>
                        <a:rPr sz="900" b="0" dirty="0">
                          <a:solidFill>
                            <a:srgbClr val="000000"/>
                          </a:solidFill>
                          <a:latin typeface="맑은 고딕"/>
                        </a:rPr>
                        <a:t> </a:t>
                      </a:r>
                      <a:r>
                        <a:rPr sz="900" b="0" dirty="0" err="1">
                          <a:solidFill>
                            <a:srgbClr val="000000"/>
                          </a:solidFill>
                          <a:latin typeface="맑은 고딕"/>
                        </a:rPr>
                        <a:t>같은</a:t>
                      </a:r>
                      <a:r>
                        <a:rPr sz="900" b="0" dirty="0">
                          <a:solidFill>
                            <a:srgbClr val="000000"/>
                          </a:solidFill>
                          <a:latin typeface="맑은 고딕"/>
                        </a:rPr>
                        <a:t> </a:t>
                      </a:r>
                      <a:r>
                        <a:rPr sz="900" b="0" dirty="0" err="1">
                          <a:solidFill>
                            <a:srgbClr val="000000"/>
                          </a:solidFill>
                          <a:latin typeface="맑은 고딕"/>
                        </a:rPr>
                        <a:t>요청들이</a:t>
                      </a:r>
                      <a:r>
                        <a:rPr sz="900" b="0" dirty="0">
                          <a:solidFill>
                            <a:srgbClr val="000000"/>
                          </a:solidFill>
                          <a:latin typeface="맑은 고딕"/>
                        </a:rPr>
                        <a:t> </a:t>
                      </a:r>
                      <a:r>
                        <a:rPr sz="900" b="0" dirty="0" err="1">
                          <a:solidFill>
                            <a:srgbClr val="000000"/>
                          </a:solidFill>
                          <a:latin typeface="맑은 고딕"/>
                        </a:rPr>
                        <a:t>이미</a:t>
                      </a:r>
                      <a:r>
                        <a:rPr sz="900" b="0" dirty="0">
                          <a:solidFill>
                            <a:srgbClr val="000000"/>
                          </a:solidFill>
                          <a:latin typeface="맑은 고딕"/>
                        </a:rPr>
                        <a:t> </a:t>
                      </a:r>
                      <a:r>
                        <a:rPr sz="900" b="0" dirty="0" err="1">
                          <a:solidFill>
                            <a:srgbClr val="000000"/>
                          </a:solidFill>
                          <a:latin typeface="맑은 고딕"/>
                        </a:rPr>
                        <a:t>계산된</a:t>
                      </a:r>
                      <a:r>
                        <a:rPr sz="900" b="0" dirty="0">
                          <a:solidFill>
                            <a:srgbClr val="000000"/>
                          </a:solidFill>
                          <a:latin typeface="맑은 고딕"/>
                        </a:rPr>
                        <a:t> </a:t>
                      </a:r>
                      <a:r>
                        <a:rPr sz="900" b="0" dirty="0" err="1">
                          <a:solidFill>
                            <a:srgbClr val="000000"/>
                          </a:solidFill>
                          <a:latin typeface="맑은 고딕"/>
                        </a:rPr>
                        <a:t>KV를</a:t>
                      </a:r>
                      <a:r>
                        <a:rPr sz="900" b="0" dirty="0">
                          <a:solidFill>
                            <a:srgbClr val="000000"/>
                          </a:solidFill>
                          <a:latin typeface="맑은 고딕"/>
                        </a:rPr>
                        <a:t> </a:t>
                      </a:r>
                      <a:r>
                        <a:rPr sz="900" b="0" dirty="0" err="1">
                          <a:solidFill>
                            <a:srgbClr val="000000"/>
                          </a:solidFill>
                          <a:latin typeface="맑은 고딕"/>
                        </a:rPr>
                        <a:t>공유한다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12"/>
                  </a:ext>
                </a:extLst>
              </a:tr>
              <a:tr h="144000">
                <a:tc>
                  <a:txBody>
                    <a:bodyPr/>
                    <a:lstStyle/>
                    <a:p>
                      <a:pPr algn="ctr"/>
                      <a:r>
                        <a:rPr sz="900" b="0">
                          <a:solidFill>
                            <a:srgbClr val="000000"/>
                          </a:solidFill>
                          <a:latin typeface="맑은 고딕"/>
                        </a:rPr>
                        <a:t>FR-13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Tool 호출 대기 세션 처리</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err="1">
                          <a:solidFill>
                            <a:srgbClr val="000000"/>
                          </a:solidFill>
                          <a:latin typeface="맑은 고딕"/>
                        </a:rPr>
                        <a:t>agent가</a:t>
                      </a:r>
                      <a:r>
                        <a:rPr sz="900" b="0" dirty="0">
                          <a:solidFill>
                            <a:srgbClr val="000000"/>
                          </a:solidFill>
                          <a:latin typeface="맑은 고딕"/>
                        </a:rPr>
                        <a:t> tool </a:t>
                      </a:r>
                      <a:r>
                        <a:rPr sz="900" b="0" dirty="0" err="1">
                          <a:solidFill>
                            <a:srgbClr val="000000"/>
                          </a:solidFill>
                          <a:latin typeface="맑은 고딕"/>
                        </a:rPr>
                        <a:t>호출로</a:t>
                      </a:r>
                      <a:r>
                        <a:rPr sz="900" b="0" dirty="0">
                          <a:solidFill>
                            <a:srgbClr val="000000"/>
                          </a:solidFill>
                          <a:latin typeface="맑은 고딕"/>
                        </a:rPr>
                        <a:t> </a:t>
                      </a:r>
                      <a:r>
                        <a:rPr sz="900" b="0" dirty="0" err="1">
                          <a:solidFill>
                            <a:srgbClr val="000000"/>
                          </a:solidFill>
                          <a:latin typeface="맑은 고딕"/>
                        </a:rPr>
                        <a:t>생성을</a:t>
                      </a:r>
                      <a:r>
                        <a:rPr sz="900" b="0" dirty="0">
                          <a:solidFill>
                            <a:srgbClr val="000000"/>
                          </a:solidFill>
                          <a:latin typeface="맑은 고딕"/>
                        </a:rPr>
                        <a:t> </a:t>
                      </a:r>
                      <a:r>
                        <a:rPr sz="900" b="0" dirty="0" err="1">
                          <a:solidFill>
                            <a:srgbClr val="000000"/>
                          </a:solidFill>
                          <a:latin typeface="맑은 고딕"/>
                        </a:rPr>
                        <a:t>멈춘</a:t>
                      </a:r>
                      <a:r>
                        <a:rPr sz="900" b="0" dirty="0">
                          <a:solidFill>
                            <a:srgbClr val="000000"/>
                          </a:solidFill>
                          <a:latin typeface="맑은 고딕"/>
                        </a:rPr>
                        <a:t> </a:t>
                      </a:r>
                      <a:r>
                        <a:rPr sz="900" b="0" dirty="0" err="1">
                          <a:solidFill>
                            <a:srgbClr val="000000"/>
                          </a:solidFill>
                          <a:latin typeface="맑은 고딕"/>
                        </a:rPr>
                        <a:t>세션의</a:t>
                      </a:r>
                      <a:r>
                        <a:rPr sz="900" b="0" dirty="0">
                          <a:solidFill>
                            <a:srgbClr val="000000"/>
                          </a:solidFill>
                          <a:latin typeface="맑은 고딕"/>
                        </a:rPr>
                        <a:t> </a:t>
                      </a:r>
                      <a:r>
                        <a:rPr sz="900" b="0" dirty="0" err="1">
                          <a:solidFill>
                            <a:srgbClr val="000000"/>
                          </a:solidFill>
                          <a:latin typeface="맑은 고딕"/>
                        </a:rPr>
                        <a:t>KV를</a:t>
                      </a:r>
                      <a:r>
                        <a:rPr sz="900" b="0" dirty="0">
                          <a:solidFill>
                            <a:srgbClr val="000000"/>
                          </a:solidFill>
                          <a:latin typeface="맑은 고딕"/>
                        </a:rPr>
                        <a:t> </a:t>
                      </a:r>
                      <a:r>
                        <a:rPr sz="900" b="0" dirty="0" err="1">
                          <a:solidFill>
                            <a:srgbClr val="000000"/>
                          </a:solidFill>
                          <a:latin typeface="맑은 고딕"/>
                        </a:rPr>
                        <a:t>보관하고</a:t>
                      </a:r>
                      <a:r>
                        <a:rPr sz="900" b="0" dirty="0">
                          <a:solidFill>
                            <a:srgbClr val="000000"/>
                          </a:solidFill>
                          <a:latin typeface="맑은 고딕"/>
                        </a:rPr>
                        <a:t>, tool </a:t>
                      </a:r>
                      <a:r>
                        <a:rPr sz="900" b="0" dirty="0" err="1">
                          <a:solidFill>
                            <a:srgbClr val="000000"/>
                          </a:solidFill>
                          <a:latin typeface="맑은 고딕"/>
                        </a:rPr>
                        <a:t>결과가</a:t>
                      </a:r>
                      <a:r>
                        <a:rPr sz="900" b="0" dirty="0">
                          <a:solidFill>
                            <a:srgbClr val="000000"/>
                          </a:solidFill>
                          <a:latin typeface="맑은 고딕"/>
                        </a:rPr>
                        <a:t> </a:t>
                      </a:r>
                      <a:r>
                        <a:rPr sz="900" b="0" dirty="0" err="1">
                          <a:solidFill>
                            <a:srgbClr val="000000"/>
                          </a:solidFill>
                          <a:latin typeface="맑은 고딕"/>
                        </a:rPr>
                        <a:t>오면</a:t>
                      </a:r>
                      <a:r>
                        <a:rPr sz="900" b="0" dirty="0">
                          <a:solidFill>
                            <a:srgbClr val="000000"/>
                          </a:solidFill>
                          <a:latin typeface="맑은 고딕"/>
                        </a:rPr>
                        <a:t> </a:t>
                      </a:r>
                      <a:r>
                        <a:rPr sz="900" b="0" dirty="0" err="1">
                          <a:solidFill>
                            <a:srgbClr val="000000"/>
                          </a:solidFill>
                          <a:latin typeface="맑은 고딕"/>
                        </a:rPr>
                        <a:t>이어서</a:t>
                      </a:r>
                      <a:r>
                        <a:rPr sz="900" b="0" dirty="0">
                          <a:solidFill>
                            <a:srgbClr val="000000"/>
                          </a:solidFill>
                          <a:latin typeface="맑은 고딕"/>
                        </a:rPr>
                        <a:t> </a:t>
                      </a:r>
                      <a:r>
                        <a:rPr sz="900" b="0" dirty="0" err="1">
                          <a:solidFill>
                            <a:srgbClr val="000000"/>
                          </a:solidFill>
                          <a:latin typeface="맑은 고딕"/>
                        </a:rPr>
                        <a:t>생성한다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44000">
                <a:tc>
                  <a:txBody>
                    <a:bodyPr/>
                    <a:lstStyle/>
                    <a:p>
                      <a:pPr algn="ctr"/>
                      <a:r>
                        <a:rPr sz="900" b="0" dirty="0">
                          <a:solidFill>
                            <a:srgbClr val="000000"/>
                          </a:solidFill>
                          <a:latin typeface="맑은 고딕"/>
                        </a:rPr>
                        <a:t>FR-14</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HBM 초과 요청 서빙</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KV가 HBM 용량보다 큰 요청도 다른 메모리를 함께 사용해 끝까지 처리한다</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839222725"/>
                  </a:ext>
                </a:extLst>
              </a:tr>
              <a:tr h="144000">
                <a:tc>
                  <a:txBody>
                    <a:bodyPr/>
                    <a:lstStyle/>
                    <a:p>
                      <a:pPr algn="ctr"/>
                      <a:r>
                        <a:rPr sz="900" b="0" dirty="0">
                          <a:solidFill>
                            <a:srgbClr val="000000"/>
                          </a:solidFill>
                          <a:latin typeface="맑은 고딕"/>
                        </a:rPr>
                        <a:t>FR-15</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a:solidFill>
                            <a:srgbClr val="000000"/>
                          </a:solidFill>
                          <a:latin typeface="맑은 고딕"/>
                        </a:rPr>
                        <a:t>KV </a:t>
                      </a:r>
                      <a:r>
                        <a:rPr sz="900" b="0" dirty="0" err="1">
                          <a:solidFill>
                            <a:srgbClr val="000000"/>
                          </a:solidFill>
                          <a:latin typeface="맑은 고딕"/>
                        </a:rPr>
                        <a:t>압축</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KV cache를 압축된 형태로 보관하고 필요할 때 사용한다</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232917396"/>
                  </a:ext>
                </a:extLst>
              </a:tr>
              <a:tr h="144000">
                <a:tc>
                  <a:txBody>
                    <a:bodyPr/>
                    <a:lstStyle/>
                    <a:p>
                      <a:pPr algn="ctr"/>
                      <a:r>
                        <a:rPr sz="900" b="0">
                          <a:solidFill>
                            <a:srgbClr val="000000"/>
                          </a:solidFill>
                          <a:latin typeface="맑은 고딕"/>
                        </a:rPr>
                        <a:t>FR-16</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KV eviction</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메모리가 부족하면 정해진 기준에 따라 KV의 일부를 제거한다</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136771817"/>
                  </a:ext>
                </a:extLst>
              </a:tr>
              <a:tr h="144000">
                <a:tc>
                  <a:txBody>
                    <a:bodyPr/>
                    <a:lstStyle/>
                    <a:p>
                      <a:pPr algn="ctr"/>
                      <a:r>
                        <a:rPr sz="900" b="0">
                          <a:solidFill>
                            <a:srgbClr val="000000"/>
                          </a:solidFill>
                          <a:latin typeface="맑은 고딕"/>
                        </a:rPr>
                        <a:t>FR-17</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a:solidFill>
                            <a:srgbClr val="000000"/>
                          </a:solidFill>
                          <a:latin typeface="맑은 고딕"/>
                        </a:rPr>
                        <a:t>KV </a:t>
                      </a:r>
                      <a:r>
                        <a:rPr sz="900" b="0" dirty="0" err="1">
                          <a:solidFill>
                            <a:srgbClr val="000000"/>
                          </a:solidFill>
                          <a:latin typeface="맑은 고딕"/>
                        </a:rPr>
                        <a:t>재계산</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제거되었거나 없는 KV를 입력 토큰으로부터 다시 계산한다</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768626909"/>
                  </a:ext>
                </a:extLst>
              </a:tr>
              <a:tr h="144000">
                <a:tc>
                  <a:txBody>
                    <a:bodyPr/>
                    <a:lstStyle/>
                    <a:p>
                      <a:pPr algn="ctr"/>
                      <a:r>
                        <a:rPr sz="900" b="0">
                          <a:solidFill>
                            <a:srgbClr val="000000"/>
                          </a:solidFill>
                          <a:latin typeface="맑은 고딕"/>
                        </a:rPr>
                        <a:t>FR-18</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err="1">
                          <a:solidFill>
                            <a:srgbClr val="000000"/>
                          </a:solidFill>
                          <a:latin typeface="맑은 고딕"/>
                        </a:rPr>
                        <a:t>다중</a:t>
                      </a:r>
                      <a:r>
                        <a:rPr sz="900" b="0" dirty="0">
                          <a:solidFill>
                            <a:srgbClr val="000000"/>
                          </a:solidFill>
                          <a:latin typeface="맑은 고딕"/>
                        </a:rPr>
                        <a:t> </a:t>
                      </a:r>
                      <a:r>
                        <a:rPr sz="900" b="0" dirty="0" err="1">
                          <a:solidFill>
                            <a:srgbClr val="000000"/>
                          </a:solidFill>
                          <a:latin typeface="맑은 고딕"/>
                        </a:rPr>
                        <a:t>서버</a:t>
                      </a:r>
                      <a:r>
                        <a:rPr sz="900" b="0" dirty="0">
                          <a:solidFill>
                            <a:srgbClr val="000000"/>
                          </a:solidFill>
                          <a:latin typeface="맑은 고딕"/>
                        </a:rPr>
                        <a:t> </a:t>
                      </a:r>
                      <a:r>
                        <a:rPr sz="900" b="0" dirty="0" err="1">
                          <a:solidFill>
                            <a:srgbClr val="000000"/>
                          </a:solidFill>
                          <a:latin typeface="맑은 고딕"/>
                        </a:rPr>
                        <a:t>서빙</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여러 서버가 하나의 서비스로 묶여 요청을 나누어 처리한다</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010155749"/>
                  </a:ext>
                </a:extLst>
              </a:tr>
              <a:tr h="144000">
                <a:tc>
                  <a:txBody>
                    <a:bodyPr/>
                    <a:lstStyle/>
                    <a:p>
                      <a:pPr algn="ctr"/>
                      <a:r>
                        <a:rPr sz="900" b="0">
                          <a:solidFill>
                            <a:srgbClr val="000000"/>
                          </a:solidFill>
                          <a:latin typeface="맑은 고딕"/>
                        </a:rPr>
                        <a:t>FR-19</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요청 라우팅</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err="1">
                          <a:solidFill>
                            <a:srgbClr val="000000"/>
                          </a:solidFill>
                          <a:latin typeface="맑은 고딕"/>
                        </a:rPr>
                        <a:t>들어온</a:t>
                      </a:r>
                      <a:r>
                        <a:rPr sz="900" b="0" dirty="0">
                          <a:solidFill>
                            <a:srgbClr val="000000"/>
                          </a:solidFill>
                          <a:latin typeface="맑은 고딕"/>
                        </a:rPr>
                        <a:t> </a:t>
                      </a:r>
                      <a:r>
                        <a:rPr sz="900" b="0" dirty="0" err="1">
                          <a:solidFill>
                            <a:srgbClr val="000000"/>
                          </a:solidFill>
                          <a:latin typeface="맑은 고딕"/>
                        </a:rPr>
                        <a:t>요청을</a:t>
                      </a:r>
                      <a:r>
                        <a:rPr sz="900" b="0" dirty="0">
                          <a:solidFill>
                            <a:srgbClr val="000000"/>
                          </a:solidFill>
                          <a:latin typeface="맑은 고딕"/>
                        </a:rPr>
                        <a:t> </a:t>
                      </a:r>
                      <a:r>
                        <a:rPr sz="900" b="0" dirty="0" err="1">
                          <a:solidFill>
                            <a:srgbClr val="000000"/>
                          </a:solidFill>
                          <a:latin typeface="맑은 고딕"/>
                        </a:rPr>
                        <a:t>처리할</a:t>
                      </a:r>
                      <a:r>
                        <a:rPr sz="900" b="0" dirty="0">
                          <a:solidFill>
                            <a:srgbClr val="000000"/>
                          </a:solidFill>
                          <a:latin typeface="맑은 고딕"/>
                        </a:rPr>
                        <a:t> </a:t>
                      </a:r>
                      <a:r>
                        <a:rPr sz="900" b="0" dirty="0" err="1">
                          <a:solidFill>
                            <a:srgbClr val="000000"/>
                          </a:solidFill>
                          <a:latin typeface="맑은 고딕"/>
                        </a:rPr>
                        <a:t>서버를</a:t>
                      </a:r>
                      <a:r>
                        <a:rPr sz="900" b="0" dirty="0">
                          <a:solidFill>
                            <a:srgbClr val="000000"/>
                          </a:solidFill>
                          <a:latin typeface="맑은 고딕"/>
                        </a:rPr>
                        <a:t> </a:t>
                      </a:r>
                      <a:r>
                        <a:rPr sz="900" b="0" dirty="0" err="1">
                          <a:solidFill>
                            <a:srgbClr val="000000"/>
                          </a:solidFill>
                          <a:latin typeface="맑은 고딕"/>
                        </a:rPr>
                        <a:t>선택해</a:t>
                      </a:r>
                      <a:r>
                        <a:rPr sz="900" b="0" dirty="0">
                          <a:solidFill>
                            <a:srgbClr val="000000"/>
                          </a:solidFill>
                          <a:latin typeface="맑은 고딕"/>
                        </a:rPr>
                        <a:t> 그 </a:t>
                      </a:r>
                      <a:r>
                        <a:rPr sz="900" b="0" dirty="0" err="1">
                          <a:solidFill>
                            <a:srgbClr val="000000"/>
                          </a:solidFill>
                          <a:latin typeface="맑은 고딕"/>
                        </a:rPr>
                        <a:t>서버로</a:t>
                      </a:r>
                      <a:r>
                        <a:rPr sz="900" b="0" dirty="0">
                          <a:solidFill>
                            <a:srgbClr val="000000"/>
                          </a:solidFill>
                          <a:latin typeface="맑은 고딕"/>
                        </a:rPr>
                        <a:t> </a:t>
                      </a:r>
                      <a:r>
                        <a:rPr sz="900" b="0" dirty="0" err="1">
                          <a:solidFill>
                            <a:srgbClr val="000000"/>
                          </a:solidFill>
                          <a:latin typeface="맑은 고딕"/>
                        </a:rPr>
                        <a:t>전달한다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339478874"/>
                  </a:ext>
                </a:extLst>
              </a:tr>
              <a:tr h="144000">
                <a:tc>
                  <a:txBody>
                    <a:bodyPr/>
                    <a:lstStyle/>
                    <a:p>
                      <a:pPr algn="ctr"/>
                      <a:r>
                        <a:rPr sz="900" b="0">
                          <a:solidFill>
                            <a:srgbClr val="000000"/>
                          </a:solidFill>
                          <a:latin typeface="맑은 고딕"/>
                        </a:rPr>
                        <a:t>FR-20</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메모리 장치 스펙 입력</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각 메모리의 대역폭, 지연, 용량 같은 스펙을 설정 값으로 받는다</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02147425"/>
                  </a:ext>
                </a:extLst>
              </a:tr>
              <a:tr h="144000">
                <a:tc>
                  <a:txBody>
                    <a:bodyPr/>
                    <a:lstStyle/>
                    <a:p>
                      <a:pPr algn="ctr"/>
                      <a:r>
                        <a:rPr sz="900" b="0">
                          <a:solidFill>
                            <a:srgbClr val="000000"/>
                          </a:solidFill>
                          <a:latin typeface="맑은 고딕"/>
                        </a:rPr>
                        <a:t>FR-21</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메모리 용량·사용 현황 조회</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a:solidFill>
                            <a:srgbClr val="000000"/>
                          </a:solidFill>
                          <a:latin typeface="맑은 고딕"/>
                        </a:rPr>
                        <a:t>각 </a:t>
                      </a:r>
                      <a:r>
                        <a:rPr sz="900" b="0" dirty="0" err="1">
                          <a:solidFill>
                            <a:srgbClr val="000000"/>
                          </a:solidFill>
                          <a:latin typeface="맑은 고딕"/>
                        </a:rPr>
                        <a:t>메모리의</a:t>
                      </a:r>
                      <a:r>
                        <a:rPr sz="900" b="0" dirty="0">
                          <a:solidFill>
                            <a:srgbClr val="000000"/>
                          </a:solidFill>
                          <a:latin typeface="맑은 고딕"/>
                        </a:rPr>
                        <a:t> </a:t>
                      </a:r>
                      <a:r>
                        <a:rPr sz="900" b="0" dirty="0" err="1">
                          <a:solidFill>
                            <a:srgbClr val="000000"/>
                          </a:solidFill>
                          <a:latin typeface="맑은 고딕"/>
                        </a:rPr>
                        <a:t>용량과</a:t>
                      </a:r>
                      <a:r>
                        <a:rPr sz="900" b="0" dirty="0">
                          <a:solidFill>
                            <a:srgbClr val="000000"/>
                          </a:solidFill>
                          <a:latin typeface="맑은 고딕"/>
                        </a:rPr>
                        <a:t> </a:t>
                      </a:r>
                      <a:r>
                        <a:rPr sz="900" b="0" dirty="0" err="1">
                          <a:solidFill>
                            <a:srgbClr val="000000"/>
                          </a:solidFill>
                          <a:latin typeface="맑은 고딕"/>
                        </a:rPr>
                        <a:t>사용</a:t>
                      </a:r>
                      <a:r>
                        <a:rPr sz="900" b="0" dirty="0">
                          <a:solidFill>
                            <a:srgbClr val="000000"/>
                          </a:solidFill>
                          <a:latin typeface="맑은 고딕"/>
                        </a:rPr>
                        <a:t> </a:t>
                      </a:r>
                      <a:r>
                        <a:rPr sz="900" b="0" dirty="0" err="1">
                          <a:solidFill>
                            <a:srgbClr val="000000"/>
                          </a:solidFill>
                          <a:latin typeface="맑은 고딕"/>
                        </a:rPr>
                        <a:t>현황을</a:t>
                      </a:r>
                      <a:r>
                        <a:rPr sz="900" b="0" dirty="0">
                          <a:solidFill>
                            <a:srgbClr val="000000"/>
                          </a:solidFill>
                          <a:latin typeface="맑은 고딕"/>
                        </a:rPr>
                        <a:t> </a:t>
                      </a:r>
                      <a:r>
                        <a:rPr sz="900" b="0" dirty="0" err="1">
                          <a:solidFill>
                            <a:srgbClr val="000000"/>
                          </a:solidFill>
                          <a:latin typeface="맑은 고딕"/>
                        </a:rPr>
                        <a:t>조회한다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520646928"/>
                  </a:ext>
                </a:extLst>
              </a:tr>
              <a:tr h="144000">
                <a:tc>
                  <a:txBody>
                    <a:bodyPr/>
                    <a:lstStyle/>
                    <a:p>
                      <a:pPr algn="ctr"/>
                      <a:r>
                        <a:rPr sz="900" b="0">
                          <a:solidFill>
                            <a:srgbClr val="000000"/>
                          </a:solidFill>
                          <a:latin typeface="맑은 고딕"/>
                        </a:rPr>
                        <a:t>FR-22</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데이터 위치 조회</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err="1">
                          <a:solidFill>
                            <a:srgbClr val="000000"/>
                          </a:solidFill>
                          <a:latin typeface="맑은 고딕"/>
                        </a:rPr>
                        <a:t>데이터가</a:t>
                      </a:r>
                      <a:r>
                        <a:rPr sz="900" b="0" dirty="0">
                          <a:solidFill>
                            <a:srgbClr val="000000"/>
                          </a:solidFill>
                          <a:latin typeface="맑은 고딕"/>
                        </a:rPr>
                        <a:t> </a:t>
                      </a:r>
                      <a:r>
                        <a:rPr sz="900" b="0" dirty="0" err="1">
                          <a:solidFill>
                            <a:srgbClr val="000000"/>
                          </a:solidFill>
                          <a:latin typeface="맑은 고딕"/>
                        </a:rPr>
                        <a:t>어느</a:t>
                      </a:r>
                      <a:r>
                        <a:rPr sz="900" b="0" dirty="0">
                          <a:solidFill>
                            <a:srgbClr val="000000"/>
                          </a:solidFill>
                          <a:latin typeface="맑은 고딕"/>
                        </a:rPr>
                        <a:t> </a:t>
                      </a:r>
                      <a:r>
                        <a:rPr sz="900" b="0" dirty="0" err="1">
                          <a:solidFill>
                            <a:srgbClr val="000000"/>
                          </a:solidFill>
                          <a:latin typeface="맑은 고딕"/>
                        </a:rPr>
                        <a:t>메모리</a:t>
                      </a:r>
                      <a:r>
                        <a:rPr sz="900" b="0" dirty="0">
                          <a:solidFill>
                            <a:srgbClr val="000000"/>
                          </a:solidFill>
                          <a:latin typeface="맑은 고딕"/>
                        </a:rPr>
                        <a:t>(</a:t>
                      </a:r>
                      <a:r>
                        <a:rPr sz="900" b="0" dirty="0" err="1">
                          <a:solidFill>
                            <a:srgbClr val="000000"/>
                          </a:solidFill>
                          <a:latin typeface="맑은 고딕"/>
                        </a:rPr>
                        <a:t>서버</a:t>
                      </a:r>
                      <a:r>
                        <a:rPr sz="900" b="0" dirty="0">
                          <a:solidFill>
                            <a:srgbClr val="000000"/>
                          </a:solidFill>
                          <a:latin typeface="맑은 고딕"/>
                        </a:rPr>
                        <a:t>)에 </a:t>
                      </a:r>
                      <a:r>
                        <a:rPr sz="900" b="0" dirty="0" err="1">
                          <a:solidFill>
                            <a:srgbClr val="000000"/>
                          </a:solidFill>
                          <a:latin typeface="맑은 고딕"/>
                        </a:rPr>
                        <a:t>있는지</a:t>
                      </a:r>
                      <a:r>
                        <a:rPr sz="900" b="0" dirty="0">
                          <a:solidFill>
                            <a:srgbClr val="000000"/>
                          </a:solidFill>
                          <a:latin typeface="맑은 고딕"/>
                        </a:rPr>
                        <a:t> </a:t>
                      </a:r>
                      <a:r>
                        <a:rPr sz="900" b="0" dirty="0" err="1">
                          <a:solidFill>
                            <a:srgbClr val="000000"/>
                          </a:solidFill>
                          <a:latin typeface="맑은 고딕"/>
                        </a:rPr>
                        <a:t>조회한다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367917807"/>
                  </a:ext>
                </a:extLst>
              </a:tr>
              <a:tr h="144000">
                <a:tc>
                  <a:txBody>
                    <a:bodyPr/>
                    <a:lstStyle/>
                    <a:p>
                      <a:pPr algn="ctr"/>
                      <a:r>
                        <a:rPr sz="900" b="0">
                          <a:solidFill>
                            <a:srgbClr val="000000"/>
                          </a:solidFill>
                          <a:latin typeface="맑은 고딕"/>
                        </a:rPr>
                        <a:t>FR-23</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접근 이력 기록</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err="1">
                          <a:solidFill>
                            <a:srgbClr val="000000"/>
                          </a:solidFill>
                          <a:latin typeface="맑은 고딕"/>
                        </a:rPr>
                        <a:t>데이터별</a:t>
                      </a:r>
                      <a:r>
                        <a:rPr sz="900" b="0" dirty="0">
                          <a:solidFill>
                            <a:srgbClr val="000000"/>
                          </a:solidFill>
                          <a:latin typeface="맑은 고딕"/>
                        </a:rPr>
                        <a:t> </a:t>
                      </a:r>
                      <a:r>
                        <a:rPr sz="900" b="0" dirty="0" err="1">
                          <a:solidFill>
                            <a:srgbClr val="000000"/>
                          </a:solidFill>
                          <a:latin typeface="맑은 고딕"/>
                        </a:rPr>
                        <a:t>접근</a:t>
                      </a:r>
                      <a:r>
                        <a:rPr sz="900" b="0" dirty="0">
                          <a:solidFill>
                            <a:srgbClr val="000000"/>
                          </a:solidFill>
                          <a:latin typeface="맑은 고딕"/>
                        </a:rPr>
                        <a:t> </a:t>
                      </a:r>
                      <a:r>
                        <a:rPr sz="900" b="0" dirty="0" err="1">
                          <a:solidFill>
                            <a:srgbClr val="000000"/>
                          </a:solidFill>
                          <a:latin typeface="맑은 고딕"/>
                        </a:rPr>
                        <a:t>횟수와</a:t>
                      </a:r>
                      <a:r>
                        <a:rPr sz="900" b="0" dirty="0">
                          <a:solidFill>
                            <a:srgbClr val="000000"/>
                          </a:solidFill>
                          <a:latin typeface="맑은 고딕"/>
                        </a:rPr>
                        <a:t> </a:t>
                      </a:r>
                      <a:r>
                        <a:rPr sz="900" b="0" dirty="0" err="1">
                          <a:solidFill>
                            <a:srgbClr val="000000"/>
                          </a:solidFill>
                          <a:latin typeface="맑은 고딕"/>
                        </a:rPr>
                        <a:t>최근</a:t>
                      </a:r>
                      <a:r>
                        <a:rPr sz="900" b="0" dirty="0">
                          <a:solidFill>
                            <a:srgbClr val="000000"/>
                          </a:solidFill>
                          <a:latin typeface="맑은 고딕"/>
                        </a:rPr>
                        <a:t> </a:t>
                      </a:r>
                      <a:r>
                        <a:rPr sz="900" b="0" dirty="0" err="1">
                          <a:solidFill>
                            <a:srgbClr val="000000"/>
                          </a:solidFill>
                          <a:latin typeface="맑은 고딕"/>
                        </a:rPr>
                        <a:t>접근</a:t>
                      </a:r>
                      <a:r>
                        <a:rPr sz="900" b="0" dirty="0">
                          <a:solidFill>
                            <a:srgbClr val="000000"/>
                          </a:solidFill>
                          <a:latin typeface="맑은 고딕"/>
                        </a:rPr>
                        <a:t> </a:t>
                      </a:r>
                      <a:r>
                        <a:rPr sz="900" b="0" dirty="0" err="1">
                          <a:solidFill>
                            <a:srgbClr val="000000"/>
                          </a:solidFill>
                          <a:latin typeface="맑은 고딕"/>
                        </a:rPr>
                        <a:t>시각을</a:t>
                      </a:r>
                      <a:r>
                        <a:rPr sz="900" b="0" dirty="0">
                          <a:solidFill>
                            <a:srgbClr val="000000"/>
                          </a:solidFill>
                          <a:latin typeface="맑은 고딕"/>
                        </a:rPr>
                        <a:t> </a:t>
                      </a:r>
                      <a:r>
                        <a:rPr sz="900" b="0" dirty="0" err="1">
                          <a:solidFill>
                            <a:srgbClr val="000000"/>
                          </a:solidFill>
                          <a:latin typeface="맑은 고딕"/>
                        </a:rPr>
                        <a:t>기록한다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255777507"/>
                  </a:ext>
                </a:extLst>
              </a:tr>
              <a:tr h="144000">
                <a:tc>
                  <a:txBody>
                    <a:bodyPr/>
                    <a:lstStyle/>
                    <a:p>
                      <a:pPr algn="ctr"/>
                      <a:r>
                        <a:rPr sz="900" b="0">
                          <a:solidFill>
                            <a:srgbClr val="000000"/>
                          </a:solidFill>
                          <a:latin typeface="맑은 고딕"/>
                        </a:rPr>
                        <a:t>FR-24</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a:solidFill>
                            <a:srgbClr val="000000"/>
                          </a:solidFill>
                          <a:latin typeface="맑은 고딕"/>
                        </a:rPr>
                        <a:t>데이터 prefetch</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tc>
                  <a:txBody>
                    <a:bodyPr/>
                    <a:lstStyle/>
                    <a:p>
                      <a:pPr algn="l"/>
                      <a:r>
                        <a:rPr sz="900" b="0" dirty="0" err="1">
                          <a:solidFill>
                            <a:srgbClr val="000000"/>
                          </a:solidFill>
                          <a:latin typeface="맑은 고딕"/>
                        </a:rPr>
                        <a:t>후속</a:t>
                      </a:r>
                      <a:r>
                        <a:rPr sz="900" b="0" dirty="0">
                          <a:solidFill>
                            <a:srgbClr val="000000"/>
                          </a:solidFill>
                          <a:latin typeface="맑은 고딕"/>
                        </a:rPr>
                        <a:t> </a:t>
                      </a:r>
                      <a:r>
                        <a:rPr sz="900" b="0" dirty="0" err="1">
                          <a:solidFill>
                            <a:srgbClr val="000000"/>
                          </a:solidFill>
                          <a:latin typeface="맑은 고딕"/>
                        </a:rPr>
                        <a:t>요청이</a:t>
                      </a:r>
                      <a:r>
                        <a:rPr sz="900" b="0" dirty="0">
                          <a:solidFill>
                            <a:srgbClr val="000000"/>
                          </a:solidFill>
                          <a:latin typeface="맑은 고딕"/>
                        </a:rPr>
                        <a:t> </a:t>
                      </a:r>
                      <a:r>
                        <a:rPr sz="900" b="0" dirty="0" err="1">
                          <a:solidFill>
                            <a:srgbClr val="000000"/>
                          </a:solidFill>
                          <a:latin typeface="맑은 고딕"/>
                        </a:rPr>
                        <a:t>오기</a:t>
                      </a:r>
                      <a:r>
                        <a:rPr sz="900" b="0" dirty="0">
                          <a:solidFill>
                            <a:srgbClr val="000000"/>
                          </a:solidFill>
                          <a:latin typeface="맑은 고딕"/>
                        </a:rPr>
                        <a:t> </a:t>
                      </a:r>
                      <a:r>
                        <a:rPr sz="900" b="0" dirty="0" err="1">
                          <a:solidFill>
                            <a:srgbClr val="000000"/>
                          </a:solidFill>
                          <a:latin typeface="맑은 고딕"/>
                        </a:rPr>
                        <a:t>전에</a:t>
                      </a:r>
                      <a:r>
                        <a:rPr sz="900" b="0" dirty="0">
                          <a:solidFill>
                            <a:srgbClr val="000000"/>
                          </a:solidFill>
                          <a:latin typeface="맑은 고딕"/>
                        </a:rPr>
                        <a:t> </a:t>
                      </a:r>
                      <a:r>
                        <a:rPr sz="900" b="0" dirty="0" err="1">
                          <a:solidFill>
                            <a:srgbClr val="000000"/>
                          </a:solidFill>
                          <a:latin typeface="맑은 고딕"/>
                        </a:rPr>
                        <a:t>데이터를</a:t>
                      </a:r>
                      <a:r>
                        <a:rPr sz="900" b="0" dirty="0">
                          <a:solidFill>
                            <a:srgbClr val="000000"/>
                          </a:solidFill>
                          <a:latin typeface="맑은 고딕"/>
                        </a:rPr>
                        <a:t> </a:t>
                      </a:r>
                      <a:r>
                        <a:rPr sz="900" b="0" dirty="0" err="1">
                          <a:solidFill>
                            <a:srgbClr val="000000"/>
                          </a:solidFill>
                          <a:latin typeface="맑은 고딕"/>
                        </a:rPr>
                        <a:t>상위</a:t>
                      </a:r>
                      <a:r>
                        <a:rPr sz="900" b="0" dirty="0">
                          <a:solidFill>
                            <a:srgbClr val="000000"/>
                          </a:solidFill>
                          <a:latin typeface="맑은 고딕"/>
                        </a:rPr>
                        <a:t> </a:t>
                      </a:r>
                      <a:r>
                        <a:rPr sz="900" b="0" dirty="0" err="1">
                          <a:solidFill>
                            <a:srgbClr val="000000"/>
                          </a:solidFill>
                          <a:latin typeface="맑은 고딕"/>
                        </a:rPr>
                        <a:t>메모리로</a:t>
                      </a:r>
                      <a:r>
                        <a:rPr sz="900" b="0" dirty="0">
                          <a:solidFill>
                            <a:srgbClr val="000000"/>
                          </a:solidFill>
                          <a:latin typeface="맑은 고딕"/>
                        </a:rPr>
                        <a:t> </a:t>
                      </a:r>
                      <a:r>
                        <a:rPr sz="900" b="0" dirty="0" err="1">
                          <a:solidFill>
                            <a:srgbClr val="000000"/>
                          </a:solidFill>
                          <a:latin typeface="맑은 고딕"/>
                        </a:rPr>
                        <a:t>미리</a:t>
                      </a:r>
                      <a:r>
                        <a:rPr sz="900" b="0" dirty="0">
                          <a:solidFill>
                            <a:srgbClr val="000000"/>
                          </a:solidFill>
                          <a:latin typeface="맑은 고딕"/>
                        </a:rPr>
                        <a:t> </a:t>
                      </a:r>
                      <a:r>
                        <a:rPr sz="900" b="0" dirty="0" err="1">
                          <a:solidFill>
                            <a:srgbClr val="000000"/>
                          </a:solidFill>
                          <a:latin typeface="맑은 고딕"/>
                        </a:rPr>
                        <a:t>가져온다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760966541"/>
                  </a:ext>
                </a:extLst>
              </a:tr>
              <a:tr h="144000">
                <a:tc>
                  <a:txBody>
                    <a:bodyPr/>
                    <a:lstStyle/>
                    <a:p>
                      <a:pPr algn="ctr"/>
                      <a:r>
                        <a:rPr sz="900" b="0">
                          <a:solidFill>
                            <a:srgbClr val="000000"/>
                          </a:solidFill>
                          <a:latin typeface="맑은 고딕"/>
                        </a:rPr>
                        <a:t>FR-25</a:t>
                      </a:r>
                    </a:p>
                  </a:txBody>
                  <a:tcPr marL="45720" marR="45720" marT="22860" marB="22860" anchor="ctr">
                    <a:lnL w="9525" cap="flat" cmpd="sng" algn="ctr">
                      <a:solidFill>
                        <a:srgbClr val="000000"/>
                      </a:solidFill>
                      <a:prstDash val="soli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a:solidFill>
                            <a:srgbClr val="000000"/>
                          </a:solidFill>
                          <a:latin typeface="맑은 고딕"/>
                        </a:rPr>
                        <a:t>정책 변경</a:t>
                      </a: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900" b="0" dirty="0" err="1">
                          <a:solidFill>
                            <a:srgbClr val="000000"/>
                          </a:solidFill>
                          <a:latin typeface="맑은 고딕"/>
                        </a:rPr>
                        <a:t>이동·배치</a:t>
                      </a:r>
                      <a:r>
                        <a:rPr sz="900" b="0" dirty="0">
                          <a:solidFill>
                            <a:srgbClr val="000000"/>
                          </a:solidFill>
                          <a:latin typeface="맑은 고딕"/>
                        </a:rPr>
                        <a:t> </a:t>
                      </a:r>
                      <a:r>
                        <a:rPr sz="900" b="0" dirty="0" err="1">
                          <a:solidFill>
                            <a:srgbClr val="000000"/>
                          </a:solidFill>
                          <a:latin typeface="맑은 고딕"/>
                        </a:rPr>
                        <a:t>정책을</a:t>
                      </a:r>
                      <a:r>
                        <a:rPr sz="900" b="0" dirty="0">
                          <a:solidFill>
                            <a:srgbClr val="000000"/>
                          </a:solidFill>
                          <a:latin typeface="맑은 고딕"/>
                        </a:rPr>
                        <a:t> </a:t>
                      </a:r>
                      <a:r>
                        <a:rPr sz="900" b="0" dirty="0" err="1">
                          <a:solidFill>
                            <a:srgbClr val="000000"/>
                          </a:solidFill>
                          <a:latin typeface="맑은 고딕"/>
                        </a:rPr>
                        <a:t>설정으로</a:t>
                      </a:r>
                      <a:r>
                        <a:rPr sz="900" b="0" dirty="0">
                          <a:solidFill>
                            <a:srgbClr val="000000"/>
                          </a:solidFill>
                          <a:latin typeface="맑은 고딕"/>
                        </a:rPr>
                        <a:t> </a:t>
                      </a:r>
                      <a:r>
                        <a:rPr sz="900" b="0" dirty="0" err="1">
                          <a:solidFill>
                            <a:srgbClr val="000000"/>
                          </a:solidFill>
                          <a:latin typeface="맑은 고딕"/>
                        </a:rPr>
                        <a:t>바꾼다</a:t>
                      </a:r>
                      <a:endParaRPr sz="900" b="0" dirty="0">
                        <a:solidFill>
                          <a:srgbClr val="000000"/>
                        </a:solidFill>
                        <a:latin typeface="맑은 고딕"/>
                      </a:endParaRPr>
                    </a:p>
                  </a:txBody>
                  <a:tcPr marL="45720" marR="45720" marT="22860" marB="22860" anchor="ctr">
                    <a:lnL w="9525" cap="flat" cmpd="sng" algn="ctr">
                      <a:solidFill>
                        <a:srgbClr val="000000"/>
                      </a:solidFill>
                      <a:prstDash val="solid"/>
                      <a:round/>
                      <a:headEnd type="none" w="med" len="med"/>
                      <a:tailEnd type="none" w="med" len="me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3682900207"/>
                  </a:ext>
                </a:extLst>
              </a:tr>
            </a:tbl>
          </a:graphicData>
        </a:graphic>
      </p:graphicFrame>
      <p:sp>
        <p:nvSpPr>
          <p:cNvPr id="4" name="실행 단추: 뒤로 또는 이전 3">
            <a:hlinkClick r:id="rId3" action="ppaction://hlinksldjump" highlightClick="1"/>
          </p:cNvPr>
          <p:cNvSpPr/>
          <p:nvPr/>
        </p:nvSpPr>
        <p:spPr>
          <a:xfrm>
            <a:off x="7566660" y="175369"/>
            <a:ext cx="324273" cy="2891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1984567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91440"/>
            <a:ext cx="11521440" cy="457200"/>
          </a:xfrm>
          <a:prstGeom prst="rect">
            <a:avLst/>
          </a:prstGeom>
          <a:noFill/>
        </p:spPr>
        <p:txBody>
          <a:bodyPr wrap="square" lIns="73152" tIns="27432" rIns="73152" bIns="27432" anchor="ctr">
            <a:spAutoFit/>
          </a:bodyPr>
          <a:lstStyle/>
          <a:p>
            <a:pPr algn="l"/>
            <a:r>
              <a:rPr sz="2200" b="1" i="0">
                <a:solidFill>
                  <a:srgbClr val="000000"/>
                </a:solidFill>
                <a:latin typeface="맑은 고딕"/>
              </a:rPr>
              <a:t>요구사항 분석 – 수집/정제된 요구사항 전체 [1/4]</a:t>
            </a:r>
          </a:p>
        </p:txBody>
      </p:sp>
      <p:cxnSp>
        <p:nvCxnSpPr>
          <p:cNvPr id="3" name="Connector 2"/>
          <p:cNvCxnSpPr/>
          <p:nvPr/>
        </p:nvCxnSpPr>
        <p:spPr>
          <a:xfrm>
            <a:off x="237744" y="566928"/>
            <a:ext cx="11713464"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extLst>
              <p:ext uri="{D42A27DB-BD31-4B8C-83A1-F6EECF244321}">
                <p14:modId xmlns:p14="http://schemas.microsoft.com/office/powerpoint/2010/main" val="3916973769"/>
              </p:ext>
            </p:extLst>
          </p:nvPr>
        </p:nvGraphicFramePr>
        <p:xfrm>
          <a:off x="128016" y="731520"/>
          <a:ext cx="11795760" cy="5303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algn="ctr"/>
                      <a:r>
                        <a:rPr sz="1100" b="1" dirty="0" err="1">
                          <a:solidFill>
                            <a:srgbClr val="FFFFFF"/>
                          </a:solidFill>
                          <a:latin typeface="맑은 고딕"/>
                        </a:rPr>
                        <a:t>번호</a:t>
                      </a:r>
                      <a:endParaRPr sz="1100" b="1" dirty="0">
                        <a:solidFill>
                          <a:srgbClr val="FFFFFF"/>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dirty="0" err="1">
                          <a:solidFill>
                            <a:srgbClr val="FFFFFF"/>
                          </a:solidFill>
                          <a:latin typeface="맑은 고딕"/>
                        </a:rPr>
                        <a:t>요구사항</a:t>
                      </a:r>
                      <a:r>
                        <a:rPr sz="1100" b="1" dirty="0">
                          <a:solidFill>
                            <a:srgbClr val="FFFFFF"/>
                          </a:solidFill>
                          <a:latin typeface="맑은 고딕"/>
                        </a:rPr>
                        <a:t> 및 </a:t>
                      </a:r>
                      <a:r>
                        <a:rPr sz="1100" b="1" dirty="0" err="1">
                          <a:solidFill>
                            <a:srgbClr val="FFFFFF"/>
                          </a:solidFill>
                          <a:latin typeface="맑은 고딕"/>
                        </a:rPr>
                        <a:t>설명</a:t>
                      </a:r>
                      <a:endParaRPr sz="1100" b="1" dirty="0">
                        <a:solidFill>
                          <a:srgbClr val="FFFFFF"/>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정제 종류</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extLst>
                  <a:ext uri="{0D108BD9-81ED-4DB2-BD59-A6C34878D82A}">
                    <a16:rowId xmlns:a16="http://schemas.microsoft.com/office/drawing/2014/main" val="10000"/>
                  </a:ext>
                </a:extLst>
              </a:tr>
              <a:tr h="548640">
                <a:tc>
                  <a:txBody>
                    <a:bodyPr/>
                    <a:lstStyle/>
                    <a:p>
                      <a:pPr algn="ctr"/>
                      <a:r>
                        <a:rPr sz="1100" b="0">
                          <a:solidFill>
                            <a:srgbClr val="000000"/>
                          </a:solidFill>
                          <a:latin typeface="맑은 고딕"/>
                        </a:rPr>
                        <a:t>RQ-SC-01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agent의 tool 호출 대기 중 KV가 HBM을 점유하지 않는다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dirty="0">
                          <a:solidFill>
                            <a:srgbClr val="000000"/>
                          </a:solidFill>
                          <a:latin typeface="맑은 고딕"/>
                        </a:rPr>
                        <a:t>FR-13, FR-04, QA3 </a:t>
                      </a:r>
                      <a:r>
                        <a:rPr lang="en-US" sz="1100" b="0" dirty="0">
                          <a:solidFill>
                            <a:srgbClr val="000000"/>
                          </a:solidFill>
                          <a:latin typeface="맑은 고딕"/>
                        </a:rPr>
                        <a:t>Resource Efficiency</a:t>
                      </a:r>
                      <a:endParaRPr sz="11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548640">
                <a:tc>
                  <a:txBody>
                    <a:bodyPr/>
                    <a:lstStyle/>
                    <a:p>
                      <a:pPr algn="ctr"/>
                      <a:r>
                        <a:rPr sz="1100" b="0">
                          <a:solidFill>
                            <a:srgbClr val="000000"/>
                          </a:solidFill>
                          <a:latin typeface="맑은 고딕"/>
                        </a:rPr>
                        <a:t>RQ-SC-02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HBM 용량을 넘는 요청을 실패 없이 처리한다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FR-14, QA1 Throughput</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548640">
                <a:tc>
                  <a:txBody>
                    <a:bodyPr/>
                    <a:lstStyle/>
                    <a:p>
                      <a:pPr algn="ctr"/>
                      <a:r>
                        <a:rPr sz="1100" b="0">
                          <a:solidFill>
                            <a:srgbClr val="000000"/>
                          </a:solidFill>
                          <a:latin typeface="맑은 고딕"/>
                        </a:rPr>
                        <a:t>RQ-SC-03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같은 RAG 문서 prefix 요청은 KV 위치와 무관하게 재사용한다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FR-06, FR-12, 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548640">
                <a:tc>
                  <a:txBody>
                    <a:bodyPr/>
                    <a:lstStyle/>
                    <a:p>
                      <a:pPr algn="ctr"/>
                      <a:r>
                        <a:rPr sz="1100" b="0">
                          <a:solidFill>
                            <a:srgbClr val="000000"/>
                          </a:solidFill>
                          <a:latin typeface="맑은 고딕"/>
                        </a:rPr>
                        <a:t>RQ-SC-04</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HBM 용량을 넘는 수의 LoRA adapter를 서빙한다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FR-05, QA1 Throughput</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548640">
                <a:tc>
                  <a:txBody>
                    <a:bodyPr/>
                    <a:lstStyle/>
                    <a:p>
                      <a:pPr algn="ctr"/>
                      <a:r>
                        <a:rPr sz="1100" b="0">
                          <a:solidFill>
                            <a:srgbClr val="000000"/>
                          </a:solidFill>
                          <a:latin typeface="맑은 고딕"/>
                        </a:rPr>
                        <a:t>RQ-SC-05</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MoE expert를 접근 빈도에 맞게 서로 다른 메모리에 둔다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FR-07, 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548640">
                <a:tc>
                  <a:txBody>
                    <a:bodyPr/>
                    <a:lstStyle/>
                    <a:p>
                      <a:pPr algn="ctr"/>
                      <a:r>
                        <a:rPr sz="1100" b="0">
                          <a:solidFill>
                            <a:srgbClr val="000000"/>
                          </a:solidFill>
                          <a:latin typeface="맑은 고딕"/>
                        </a:rPr>
                        <a:t>RQ-SC-06</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연산 가능 메모리에 연산을 맡기되 이득이 없으면 GPU 경로를 쓴다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FR-09, 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548640">
                <a:tc>
                  <a:txBody>
                    <a:bodyPr/>
                    <a:lstStyle/>
                    <a:p>
                      <a:pPr algn="ctr"/>
                      <a:r>
                        <a:rPr sz="1100" b="0">
                          <a:solidFill>
                            <a:srgbClr val="000000"/>
                          </a:solidFill>
                          <a:latin typeface="맑은 고딕"/>
                        </a:rPr>
                        <a:t>RQ-SC-07</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KV 위치를 알고 서버를 고르며 전송과 재계산 중 빠른 쪽을 택한다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FR-10, FR-19, QA1, QA5</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548640">
                <a:tc>
                  <a:txBody>
                    <a:bodyPr/>
                    <a:lstStyle/>
                    <a:p>
                      <a:pPr algn="ctr"/>
                      <a:r>
                        <a:rPr sz="1100" b="0">
                          <a:solidFill>
                            <a:srgbClr val="000000"/>
                          </a:solidFill>
                          <a:latin typeface="맑은 고딕"/>
                        </a:rPr>
                        <a:t>RQ-SC-08</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요청마다 Prefill/Decode 분리 실행 여부를 정한다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FR-08, QA1, QA2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548640">
                <a:tc>
                  <a:txBody>
                    <a:bodyPr/>
                    <a:lstStyle/>
                    <a:p>
                      <a:pPr algn="ctr"/>
                      <a:r>
                        <a:rPr sz="1100" b="0">
                          <a:solidFill>
                            <a:srgbClr val="000000"/>
                          </a:solidFill>
                          <a:latin typeface="맑은 고딕"/>
                        </a:rPr>
                        <a:t>RQ-SC-09</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혼합 부하에서 이동 트래픽이 서빙을 잠식하지 않는다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dirty="0">
                          <a:solidFill>
                            <a:srgbClr val="000000"/>
                          </a:solidFill>
                          <a:latin typeface="맑은 고딕"/>
                        </a:rPr>
                        <a:t>FR-02, QA7 Co-existence</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9"/>
                  </a:ext>
                </a:extLst>
              </a:tr>
            </a:tbl>
          </a:graphicData>
        </a:graphic>
      </p:graphicFrame>
      <p:sp>
        <p:nvSpPr>
          <p:cNvPr id="6" name="실행 단추: 뒤로 또는 이전 5">
            <a:hlinkClick r:id="rId3" action="ppaction://hlinksldjump" highlightClick="1"/>
          </p:cNvPr>
          <p:cNvSpPr/>
          <p:nvPr/>
        </p:nvSpPr>
        <p:spPr>
          <a:xfrm>
            <a:off x="7566660" y="175369"/>
            <a:ext cx="324273" cy="2891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4129103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91440"/>
            <a:ext cx="11521440" cy="457200"/>
          </a:xfrm>
          <a:prstGeom prst="rect">
            <a:avLst/>
          </a:prstGeom>
          <a:noFill/>
        </p:spPr>
        <p:txBody>
          <a:bodyPr wrap="square" lIns="73152" tIns="27432" rIns="73152" bIns="27432" anchor="ctr">
            <a:spAutoFit/>
          </a:bodyPr>
          <a:lstStyle/>
          <a:p>
            <a:pPr algn="l"/>
            <a:r>
              <a:rPr sz="2200" b="1" i="0">
                <a:solidFill>
                  <a:srgbClr val="000000"/>
                </a:solidFill>
                <a:latin typeface="맑은 고딕"/>
              </a:rPr>
              <a:t>요구사항 분석 – 수집/정제된 요구사항 전체 [2/4]</a:t>
            </a:r>
          </a:p>
        </p:txBody>
      </p:sp>
      <p:cxnSp>
        <p:nvCxnSpPr>
          <p:cNvPr id="3" name="Connector 2"/>
          <p:cNvCxnSpPr/>
          <p:nvPr/>
        </p:nvCxnSpPr>
        <p:spPr>
          <a:xfrm>
            <a:off x="237744" y="566928"/>
            <a:ext cx="11713464"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extLst>
              <p:ext uri="{D42A27DB-BD31-4B8C-83A1-F6EECF244321}">
                <p14:modId xmlns:p14="http://schemas.microsoft.com/office/powerpoint/2010/main" val="796647496"/>
              </p:ext>
            </p:extLst>
          </p:nvPr>
        </p:nvGraphicFramePr>
        <p:xfrm>
          <a:off x="128016" y="731520"/>
          <a:ext cx="11795760" cy="5303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algn="ctr"/>
                      <a:r>
                        <a:rPr sz="1100" b="1" dirty="0" err="1">
                          <a:solidFill>
                            <a:srgbClr val="FFFFFF"/>
                          </a:solidFill>
                          <a:latin typeface="맑은 고딕"/>
                        </a:rPr>
                        <a:t>번호</a:t>
                      </a:r>
                      <a:endParaRPr sz="1100" b="1" dirty="0">
                        <a:solidFill>
                          <a:srgbClr val="FFFFFF"/>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요구사항 및 설명</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정제 종류</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extLst>
                  <a:ext uri="{0D108BD9-81ED-4DB2-BD59-A6C34878D82A}">
                    <a16:rowId xmlns:a16="http://schemas.microsoft.com/office/drawing/2014/main" val="10000"/>
                  </a:ext>
                </a:extLst>
              </a:tr>
              <a:tr h="548640">
                <a:tc>
                  <a:txBody>
                    <a:bodyPr/>
                    <a:lstStyle/>
                    <a:p>
                      <a:pPr algn="ctr"/>
                      <a:r>
                        <a:rPr sz="1100" b="0">
                          <a:solidFill>
                            <a:srgbClr val="000000"/>
                          </a:solidFill>
                          <a:latin typeface="맑은 고딕"/>
                        </a:rPr>
                        <a:t>RQ-DP1-01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이동·복원해도 모델 출력이 바뀌지 않는다 (bit-exact)</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FR-02, QA6 Correctness</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548640">
                <a:tc>
                  <a:txBody>
                    <a:bodyPr/>
                    <a:lstStyle/>
                    <a:p>
                      <a:pPr algn="ctr"/>
                      <a:r>
                        <a:rPr sz="1100" b="0">
                          <a:solidFill>
                            <a:srgbClr val="000000"/>
                          </a:solidFill>
                          <a:latin typeface="맑은 고딕"/>
                        </a:rPr>
                        <a:t>RQ-DP1-02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후속 요청 시점을 예측하거나 도착 즉시 KV를 HBM으로 복원한다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FR-04, FR-11, 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548640">
                <a:tc>
                  <a:txBody>
                    <a:bodyPr/>
                    <a:lstStyle/>
                    <a:p>
                      <a:pPr algn="ctr"/>
                      <a:r>
                        <a:rPr sz="1100" b="0">
                          <a:solidFill>
                            <a:srgbClr val="000000"/>
                          </a:solidFill>
                          <a:latin typeface="맑은 고딕"/>
                        </a:rPr>
                        <a:t>RQ-DP1-03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이동 대상 메모리가 부족하면 쓰일 가능성이 낮은 KV부터 정리한다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FR-16, FR-17</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548640">
                <a:tc>
                  <a:txBody>
                    <a:bodyPr/>
                    <a:lstStyle/>
                    <a:p>
                      <a:pPr algn="ctr"/>
                      <a:r>
                        <a:rPr sz="1100" b="0">
                          <a:solidFill>
                            <a:srgbClr val="000000"/>
                          </a:solidFill>
                          <a:latin typeface="맑은 고딕"/>
                        </a:rPr>
                        <a:t>RQ-DP1-04</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새 메모리 tier, 객체 유형, 정책을 쉽게 추가한다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FR-01, FR-20, QA4 Modifiability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548640">
                <a:tc>
                  <a:txBody>
                    <a:bodyPr/>
                    <a:lstStyle/>
                    <a:p>
                      <a:pPr algn="ctr"/>
                      <a:r>
                        <a:rPr sz="1100" b="0">
                          <a:solidFill>
                            <a:srgbClr val="000000"/>
                          </a:solidFill>
                          <a:latin typeface="맑은 고딕"/>
                        </a:rPr>
                        <a:t>RQ-DP2-01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(n_p, n_d) 비용 모델로 P/D 실행 위치를 정한다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FR-08, QA1, QA2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548640">
                <a:tc>
                  <a:txBody>
                    <a:bodyPr/>
                    <a:lstStyle/>
                    <a:p>
                      <a:pPr algn="ctr"/>
                      <a:r>
                        <a:rPr sz="1100" b="0">
                          <a:solidFill>
                            <a:srgbClr val="000000"/>
                          </a:solidFill>
                          <a:latin typeface="맑은 고딕"/>
                        </a:rPr>
                        <a:t>RQ-DP2-02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노드 수가 늘어도 결정 성능과 처리량이 확장된다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FR-18, QA5 Scalability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548640">
                <a:tc>
                  <a:txBody>
                    <a:bodyPr/>
                    <a:lstStyle/>
                    <a:p>
                      <a:pPr algn="ctr"/>
                      <a:r>
                        <a:rPr sz="1100" b="0">
                          <a:solidFill>
                            <a:srgbClr val="000000"/>
                          </a:solidFill>
                          <a:latin typeface="맑은 고딕"/>
                        </a:rPr>
                        <a:t>RQ-DP3-01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중요도 낮은 KV를 선택적으로 제거하되 허용 정확도 한도 안에서 수행한다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FR-15, FR-16, QA6 Correctness (F1)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548640">
                <a:tc>
                  <a:txBody>
                    <a:bodyPr/>
                    <a:lstStyle/>
                    <a:p>
                      <a:pPr algn="ctr"/>
                      <a:r>
                        <a:rPr sz="1100" b="0">
                          <a:solidFill>
                            <a:srgbClr val="000000"/>
                          </a:solidFill>
                          <a:latin typeface="맑은 고딕"/>
                        </a:rPr>
                        <a:t>RQ-DP3-02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압축 KV를 재사용하고 필요한 부분만 재계산한다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FR-15, FR-17, 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548640">
                <a:tc>
                  <a:txBody>
                    <a:bodyPr/>
                    <a:lstStyle/>
                    <a:p>
                      <a:pPr algn="ctr"/>
                      <a:r>
                        <a:rPr sz="1100" b="0">
                          <a:solidFill>
                            <a:srgbClr val="000000"/>
                          </a:solidFill>
                          <a:latin typeface="맑은 고딕"/>
                        </a:rPr>
                        <a:t>RQ-DP3-03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Drop과 재사용으로 HBM KV 점유를 줄인다 (DP1과 같은 정의)</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dirty="0">
                          <a:solidFill>
                            <a:srgbClr val="000000"/>
                          </a:solidFill>
                          <a:latin typeface="맑은 고딕"/>
                        </a:rPr>
                        <a:t>QA3 </a:t>
                      </a:r>
                      <a:r>
                        <a:rPr lang="en-US" sz="1100" b="0" dirty="0">
                          <a:solidFill>
                            <a:srgbClr val="000000"/>
                          </a:solidFill>
                          <a:latin typeface="맑은 고딕"/>
                        </a:rPr>
                        <a:t>Resource Efficiency</a:t>
                      </a:r>
                      <a:endParaRPr sz="1100" b="0" dirty="0">
                        <a:solidFill>
                          <a:srgbClr val="000000"/>
                        </a:solidFill>
                        <a:latin typeface="맑은 고딕"/>
                      </a:endParaRP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9"/>
                  </a:ext>
                </a:extLst>
              </a:tr>
            </a:tbl>
          </a:graphicData>
        </a:graphic>
      </p:graphicFrame>
      <p:sp>
        <p:nvSpPr>
          <p:cNvPr id="6" name="실행 단추: 뒤로 또는 이전 5">
            <a:hlinkClick r:id="rId3" action="ppaction://hlinksldjump" highlightClick="1"/>
          </p:cNvPr>
          <p:cNvSpPr/>
          <p:nvPr/>
        </p:nvSpPr>
        <p:spPr>
          <a:xfrm>
            <a:off x="7566660" y="175369"/>
            <a:ext cx="324273" cy="2891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0179810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91440"/>
            <a:ext cx="11521440" cy="457200"/>
          </a:xfrm>
          <a:prstGeom prst="rect">
            <a:avLst/>
          </a:prstGeom>
          <a:noFill/>
        </p:spPr>
        <p:txBody>
          <a:bodyPr wrap="square" lIns="73152" tIns="27432" rIns="73152" bIns="27432" anchor="ctr">
            <a:spAutoFit/>
          </a:bodyPr>
          <a:lstStyle/>
          <a:p>
            <a:pPr algn="l"/>
            <a:r>
              <a:rPr sz="2200" b="1" i="0">
                <a:solidFill>
                  <a:srgbClr val="000000"/>
                </a:solidFill>
                <a:latin typeface="맑은 고딕"/>
              </a:rPr>
              <a:t>요구사항 분석 – 수집/정제된 요구사항 전체 [3/4]</a:t>
            </a:r>
          </a:p>
        </p:txBody>
      </p:sp>
      <p:cxnSp>
        <p:nvCxnSpPr>
          <p:cNvPr id="3" name="Connector 2"/>
          <p:cNvCxnSpPr/>
          <p:nvPr/>
        </p:nvCxnSpPr>
        <p:spPr>
          <a:xfrm>
            <a:off x="237744" y="566928"/>
            <a:ext cx="11713464"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28016" y="731520"/>
          <a:ext cx="11795760" cy="5303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algn="ctr"/>
                      <a:r>
                        <a:rPr sz="1100" b="1">
                          <a:solidFill>
                            <a:srgbClr val="FFFFFF"/>
                          </a:solidFill>
                          <a:latin typeface="맑은 고딕"/>
                        </a:rPr>
                        <a:t>번호</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요구사항 및 설명</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정제 종류</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extLst>
                  <a:ext uri="{0D108BD9-81ED-4DB2-BD59-A6C34878D82A}">
                    <a16:rowId xmlns:a16="http://schemas.microsoft.com/office/drawing/2014/main" val="10000"/>
                  </a:ext>
                </a:extLst>
              </a:tr>
              <a:tr h="548640">
                <a:tc>
                  <a:txBody>
                    <a:bodyPr/>
                    <a:lstStyle/>
                    <a:p>
                      <a:pPr algn="ctr"/>
                      <a:r>
                        <a:rPr sz="1100" b="0">
                          <a:solidFill>
                            <a:srgbClr val="000000"/>
                          </a:solidFill>
                          <a:latin typeface="맑은 고딕"/>
                        </a:rPr>
                        <a:t>RQ-DP4-01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서버별 캐시 위치를 알고 라우팅한다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FR-19, QA1 Throughput</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548640">
                <a:tc>
                  <a:txBody>
                    <a:bodyPr/>
                    <a:lstStyle/>
                    <a:p>
                      <a:pPr algn="ctr"/>
                      <a:r>
                        <a:rPr sz="1100" b="0">
                          <a:solidFill>
                            <a:srgbClr val="000000"/>
                          </a:solidFill>
                          <a:latin typeface="맑은 고딕"/>
                        </a:rPr>
                        <a:t>RQ-DP4-02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OSS(llm-d) 확장과 자체 구현 중 목표 QA를 만족하는 방식을 택한다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FR-19, QA4 Modifiability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548640">
                <a:tc>
                  <a:txBody>
                    <a:bodyPr/>
                    <a:lstStyle/>
                    <a:p>
                      <a:pPr algn="ctr"/>
                      <a:r>
                        <a:rPr sz="1100" b="0">
                          <a:solidFill>
                            <a:srgbClr val="000000"/>
                          </a:solidFill>
                          <a:latin typeface="맑은 고딕"/>
                        </a:rPr>
                        <a:t>RQ-DP4-03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서버 수가 늘어도 orchestrator 결정이 병목이 되지 않는다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FR-18, QA5 Scalability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548640">
                <a:tc>
                  <a:txBody>
                    <a:bodyPr/>
                    <a:lstStyle/>
                    <a:p>
                      <a:pPr algn="ctr"/>
                      <a:r>
                        <a:rPr sz="1100" b="0">
                          <a:solidFill>
                            <a:srgbClr val="000000"/>
                          </a:solidFill>
                          <a:latin typeface="맑은 고딕"/>
                        </a:rPr>
                        <a:t>RQ-DP1-05</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데이터 접근 이력과 메모리 사용 현황을 기록하고 조회한다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FR-21, FR-22, FR-23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548640">
                <a:tc>
                  <a:txBody>
                    <a:bodyPr/>
                    <a:lstStyle/>
                    <a:p>
                      <a:pPr algn="ctr"/>
                      <a:r>
                        <a:rPr sz="1100" b="0">
                          <a:solidFill>
                            <a:srgbClr val="000000"/>
                          </a:solidFill>
                          <a:latin typeface="맑은 고딕"/>
                        </a:rPr>
                        <a:t>RQ-DP1-06</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후속 요청이 오기 전에 데이터를 미리 가져온다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FR-24, 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548640">
                <a:tc>
                  <a:txBody>
                    <a:bodyPr/>
                    <a:lstStyle/>
                    <a:p>
                      <a:pPr algn="ctr"/>
                      <a:r>
                        <a:rPr sz="1100" b="0">
                          <a:solidFill>
                            <a:srgbClr val="000000"/>
                          </a:solidFill>
                          <a:latin typeface="맑은 고딕"/>
                        </a:rPr>
                        <a:t>RQ-DP1-07</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입력 분포가 바뀌면 배치를 다시 맞춰 성능을 회복한다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QA11 Adaptability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548640">
                <a:tc>
                  <a:txBody>
                    <a:bodyPr/>
                    <a:lstStyle/>
                    <a:p>
                      <a:pPr algn="ctr"/>
                      <a:r>
                        <a:rPr sz="1100" b="0">
                          <a:solidFill>
                            <a:srgbClr val="000000"/>
                          </a:solidFill>
                          <a:latin typeface="맑은 고딕"/>
                        </a:rPr>
                        <a:t>RQ-DP2-03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KV 전송이나 offload가 실패해도 재계산 등으로 요청을 이어간다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QA9 Fault tolerance</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r h="548640">
                <a:tc>
                  <a:txBody>
                    <a:bodyPr/>
                    <a:lstStyle/>
                    <a:p>
                      <a:pPr algn="ctr"/>
                      <a:r>
                        <a:rPr sz="1100" b="0">
                          <a:solidFill>
                            <a:srgbClr val="000000"/>
                          </a:solidFill>
                          <a:latin typeface="맑은 고딕"/>
                        </a:rPr>
                        <a:t>RQ-DP4-04</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이동·배치·라우팅 결정의 근거를 기록해 원인을 진단한다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QA10 Analysability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8"/>
                  </a:ext>
                </a:extLst>
              </a:tr>
              <a:tr h="548640">
                <a:tc>
                  <a:txBody>
                    <a:bodyPr/>
                    <a:lstStyle/>
                    <a:p>
                      <a:pPr algn="ctr"/>
                      <a:r>
                        <a:rPr sz="1100" b="0">
                          <a:solidFill>
                            <a:srgbClr val="000000"/>
                          </a:solidFill>
                          <a:latin typeface="맑은 고딕"/>
                        </a:rPr>
                        <a:t>RQ-DP4-05</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vLLM, llm-d, NIXL 등과 수정 없이 연동한다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FR-03, QA8 Interoperability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9"/>
                  </a:ext>
                </a:extLst>
              </a:tr>
            </a:tbl>
          </a:graphicData>
        </a:graphic>
      </p:graphicFrame>
      <p:sp>
        <p:nvSpPr>
          <p:cNvPr id="6" name="실행 단추: 뒤로 또는 이전 5">
            <a:hlinkClick r:id="rId3" action="ppaction://hlinksldjump" highlightClick="1"/>
          </p:cNvPr>
          <p:cNvSpPr/>
          <p:nvPr/>
        </p:nvSpPr>
        <p:spPr>
          <a:xfrm>
            <a:off x="7566660" y="175369"/>
            <a:ext cx="324273" cy="2891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9440491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7744" y="91440"/>
            <a:ext cx="11521440" cy="457200"/>
          </a:xfrm>
          <a:prstGeom prst="rect">
            <a:avLst/>
          </a:prstGeom>
          <a:noFill/>
        </p:spPr>
        <p:txBody>
          <a:bodyPr wrap="square" lIns="73152" tIns="27432" rIns="73152" bIns="27432" anchor="ctr">
            <a:spAutoFit/>
          </a:bodyPr>
          <a:lstStyle/>
          <a:p>
            <a:pPr algn="l"/>
            <a:r>
              <a:rPr sz="2200" b="1" i="0">
                <a:solidFill>
                  <a:srgbClr val="000000"/>
                </a:solidFill>
                <a:latin typeface="맑은 고딕"/>
              </a:rPr>
              <a:t>요구사항 분석 – 수집/정제된 요구사항 전체 [4/4]</a:t>
            </a:r>
          </a:p>
        </p:txBody>
      </p:sp>
      <p:cxnSp>
        <p:nvCxnSpPr>
          <p:cNvPr id="3" name="Connector 2"/>
          <p:cNvCxnSpPr/>
          <p:nvPr/>
        </p:nvCxnSpPr>
        <p:spPr>
          <a:xfrm>
            <a:off x="237744" y="566928"/>
            <a:ext cx="11713464"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28016" y="731520"/>
          <a:ext cx="11795760" cy="420624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algn="ctr"/>
                      <a:r>
                        <a:rPr sz="1100" b="1">
                          <a:solidFill>
                            <a:srgbClr val="FFFFFF"/>
                          </a:solidFill>
                          <a:latin typeface="맑은 고딕"/>
                        </a:rPr>
                        <a:t>번호</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요구사항 및 설명</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tc>
                  <a:txBody>
                    <a:bodyPr/>
                    <a:lstStyle/>
                    <a:p>
                      <a:pPr algn="ctr"/>
                      <a:r>
                        <a:rPr sz="1100" b="1">
                          <a:solidFill>
                            <a:srgbClr val="FFFFFF"/>
                          </a:solidFill>
                          <a:latin typeface="맑은 고딕"/>
                        </a:rPr>
                        <a:t>정제 종류</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833C0B"/>
                    </a:solidFill>
                  </a:tcPr>
                </a:tc>
                <a:extLst>
                  <a:ext uri="{0D108BD9-81ED-4DB2-BD59-A6C34878D82A}">
                    <a16:rowId xmlns:a16="http://schemas.microsoft.com/office/drawing/2014/main" val="10000"/>
                  </a:ext>
                </a:extLst>
              </a:tr>
              <a:tr h="548640">
                <a:tc>
                  <a:txBody>
                    <a:bodyPr/>
                    <a:lstStyle/>
                    <a:p>
                      <a:pPr algn="ctr"/>
                      <a:r>
                        <a:rPr sz="1100" b="0">
                          <a:solidFill>
                            <a:srgbClr val="000000"/>
                          </a:solidFill>
                          <a:latin typeface="맑은 고딕"/>
                        </a:rPr>
                        <a:t>RQ-SYS-01</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결정이 서빙 경로(forward)를 막지 않는다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QA2 Latency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1"/>
                  </a:ext>
                </a:extLst>
              </a:tr>
              <a:tr h="548640">
                <a:tc>
                  <a:txBody>
                    <a:bodyPr/>
                    <a:lstStyle/>
                    <a:p>
                      <a:pPr algn="ctr"/>
                      <a:r>
                        <a:rPr sz="1100" b="0">
                          <a:solidFill>
                            <a:srgbClr val="000000"/>
                          </a:solidFill>
                          <a:latin typeface="맑은 고딕"/>
                        </a:rPr>
                        <a:t>RQ-SYS-02</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차세대 메모리는 스펙 기반 시뮬레이션으로 평가한다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C-01, C-02, C-03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2"/>
                  </a:ext>
                </a:extLst>
              </a:tr>
              <a:tr h="548640">
                <a:tc>
                  <a:txBody>
                    <a:bodyPr/>
                    <a:lstStyle/>
                    <a:p>
                      <a:pPr algn="ctr"/>
                      <a:r>
                        <a:rPr sz="1100" b="0">
                          <a:solidFill>
                            <a:srgbClr val="000000"/>
                          </a:solidFill>
                          <a:latin typeface="맑은 고딕"/>
                        </a:rPr>
                        <a:t>RQ-SYS-03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실장이 없는 규모의 확장은 시뮬레이션으로 평가한다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C-04</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3"/>
                  </a:ext>
                </a:extLst>
              </a:tr>
              <a:tr h="548640">
                <a:tc>
                  <a:txBody>
                    <a:bodyPr/>
                    <a:lstStyle/>
                    <a:p>
                      <a:pPr algn="ctr"/>
                      <a:r>
                        <a:rPr sz="1100" b="0">
                          <a:solidFill>
                            <a:srgbClr val="000000"/>
                          </a:solidFill>
                          <a:latin typeface="맑은 고딕"/>
                        </a:rPr>
                        <a:t>RQ-SYS-04</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vLLM 기반으로 구현한다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C-05, FR-03</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4"/>
                  </a:ext>
                </a:extLst>
              </a:tr>
              <a:tr h="548640">
                <a:tc>
                  <a:txBody>
                    <a:bodyPr/>
                    <a:lstStyle/>
                    <a:p>
                      <a:pPr algn="ctr"/>
                      <a:r>
                        <a:rPr sz="1100" b="0">
                          <a:solidFill>
                            <a:srgbClr val="000000"/>
                          </a:solidFill>
                          <a:latin typeface="맑은 고딕"/>
                        </a:rPr>
                        <a:t>RQ-SYS-05</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대상은 Transformer 모델과 agent 워크로드이다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C-06, C-07</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5"/>
                  </a:ext>
                </a:extLst>
              </a:tr>
              <a:tr h="548640">
                <a:tc>
                  <a:txBody>
                    <a:bodyPr/>
                    <a:lstStyle/>
                    <a:p>
                      <a:pPr algn="ctr"/>
                      <a:r>
                        <a:rPr sz="1100" b="0">
                          <a:solidFill>
                            <a:srgbClr val="000000"/>
                          </a:solidFill>
                          <a:latin typeface="맑은 고딕"/>
                        </a:rPr>
                        <a:t>RQ-SYS-06</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정책을 설정으로 바꾼다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FR-25, QA4 Modifiability</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6"/>
                  </a:ext>
                </a:extLst>
              </a:tr>
              <a:tr h="548640">
                <a:tc>
                  <a:txBody>
                    <a:bodyPr/>
                    <a:lstStyle/>
                    <a:p>
                      <a:pPr algn="ctr"/>
                      <a:r>
                        <a:rPr sz="1100" b="0">
                          <a:solidFill>
                            <a:srgbClr val="000000"/>
                          </a:solidFill>
                          <a:latin typeface="맑은 고딕"/>
                        </a:rPr>
                        <a:t>RQ-SYS-07</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메모리 배치와 연산 실행 위치·시점·순서를 서빙 중 동적으로 정한다</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tc>
                  <a:txBody>
                    <a:bodyPr/>
                    <a:lstStyle/>
                    <a:p>
                      <a:pPr algn="l"/>
                      <a:r>
                        <a:rPr sz="1100" b="0">
                          <a:solidFill>
                            <a:srgbClr val="000000"/>
                          </a:solidFill>
                          <a:latin typeface="맑은 고딕"/>
                        </a:rPr>
                        <a:t>FR-26</a:t>
                      </a:r>
                    </a:p>
                  </a:txBody>
                  <a:tcPr marL="45720" marR="45720" marT="22860" marB="22860" anchor="ctr">
                    <a:lnL w="9525" cap="flat" cmpd="sng" algn="ctr">
                      <a:solidFill>
                        <a:srgbClr val="000000"/>
                      </a:solidFill>
                      <a:prstDash val="solid"/>
                    </a:lnL>
                    <a:lnR w="9525" cap="flat" cmpd="sng" algn="ctr">
                      <a:solidFill>
                        <a:srgbClr val="000000"/>
                      </a:solidFill>
                      <a:prstDash val="solid"/>
                    </a:lnR>
                    <a:lnT w="9525" cap="flat" cmpd="sng" algn="ctr">
                      <a:solidFill>
                        <a:srgbClr val="000000"/>
                      </a:solidFill>
                      <a:prstDash val="solid"/>
                    </a:lnT>
                    <a:lnB w="9525" cap="flat" cmpd="sng" algn="ctr">
                      <a:solidFill>
                        <a:srgbClr val="000000"/>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6" name="실행 단추: 뒤로 또는 이전 5">
            <a:hlinkClick r:id="rId3" action="ppaction://hlinksldjump" highlightClick="1"/>
          </p:cNvPr>
          <p:cNvSpPr/>
          <p:nvPr/>
        </p:nvSpPr>
        <p:spPr>
          <a:xfrm>
            <a:off x="7566660" y="175369"/>
            <a:ext cx="324273" cy="2891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7110477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중요도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난이도</a:t>
            </a:r>
            <a:r>
              <a:rPr lang="en-US" altLang="ko-KR" sz="1600" dirty="0">
                <a:solidFill>
                  <a:prstClr val="black"/>
                </a:solidFill>
                <a:latin typeface="맑은 고딕" panose="020F0502020204030204"/>
                <a:ea typeface="맑은 고딕" panose="020B0503020000020004" pitchFamily="50" charset="-127"/>
              </a:rPr>
              <a:t> M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extLst>
              <p:ext uri="{D42A27DB-BD31-4B8C-83A1-F6EECF244321}">
                <p14:modId xmlns:p14="http://schemas.microsoft.com/office/powerpoint/2010/main" val="81588786"/>
              </p:ext>
            </p:extLst>
          </p:nvPr>
        </p:nvGraphicFramePr>
        <p:xfrm>
          <a:off x="278859" y="996757"/>
          <a:ext cx="11709382" cy="5236248"/>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529669">
                  <a:extLst>
                    <a:ext uri="{9D8B030D-6E8A-4147-A177-3AD203B41FA5}">
                      <a16:colId xmlns:a16="http://schemas.microsoft.com/office/drawing/2014/main" val="714743119"/>
                    </a:ext>
                  </a:extLst>
                </a:gridCol>
                <a:gridCol w="6693689">
                  <a:extLst>
                    <a:ext uri="{9D8B030D-6E8A-4147-A177-3AD203B41FA5}">
                      <a16:colId xmlns:a16="http://schemas.microsoft.com/office/drawing/2014/main" val="713779841"/>
                    </a:ext>
                  </a:extLst>
                </a:gridCol>
                <a:gridCol w="632460">
                  <a:extLst>
                    <a:ext uri="{9D8B030D-6E8A-4147-A177-3AD203B41FA5}">
                      <a16:colId xmlns:a16="http://schemas.microsoft.com/office/drawing/2014/main" val="4072428474"/>
                    </a:ext>
                  </a:extLst>
                </a:gridCol>
                <a:gridCol w="632460">
                  <a:extLst>
                    <a:ext uri="{9D8B030D-6E8A-4147-A177-3AD203B41FA5}">
                      <a16:colId xmlns:a16="http://schemas.microsoft.com/office/drawing/2014/main" val="2666804482"/>
                    </a:ext>
                  </a:extLst>
                </a:gridCol>
                <a:gridCol w="558241">
                  <a:extLst>
                    <a:ext uri="{9D8B030D-6E8A-4147-A177-3AD203B41FA5}">
                      <a16:colId xmlns:a16="http://schemas.microsoft.com/office/drawing/2014/main" val="2282568718"/>
                    </a:ext>
                  </a:extLst>
                </a:gridCol>
              </a:tblGrid>
              <a:tr h="317693">
                <a:tc>
                  <a:txBody>
                    <a:bodyPr/>
                    <a:lstStyle/>
                    <a:p>
                      <a:pPr algn="ctr"/>
                      <a:r>
                        <a:rPr lang="ko-KR" altLang="en-US" sz="1050" b="1" dirty="0">
                          <a:solidFill>
                            <a:schemeClr val="bg1"/>
                          </a:solidFill>
                        </a:rPr>
                        <a:t>번호</a:t>
                      </a:r>
                    </a:p>
                  </a:txBody>
                  <a:tcPr anchor="ctr">
                    <a:solidFill>
                      <a:srgbClr val="3B3B3B"/>
                    </a:solidFill>
                  </a:tcPr>
                </a:tc>
                <a:tc>
                  <a:txBody>
                    <a:bodyPr/>
                    <a:lstStyle/>
                    <a:p>
                      <a:pPr algn="ctr"/>
                      <a:r>
                        <a:rPr lang="en-US" sz="1050" b="1" dirty="0">
                          <a:solidFill>
                            <a:schemeClr val="bg1"/>
                          </a:solidFill>
                        </a:rPr>
                        <a:t>QA</a:t>
                      </a:r>
                    </a:p>
                  </a:txBody>
                  <a:tcPr anchor="ctr">
                    <a:solidFill>
                      <a:srgbClr val="3B3B3B"/>
                    </a:solidFill>
                  </a:tcPr>
                </a:tc>
                <a:tc>
                  <a:txBody>
                    <a:bodyPr/>
                    <a:lstStyle/>
                    <a:p>
                      <a:pPr algn="ctr"/>
                      <a:r>
                        <a:rPr lang="en-US" sz="1050" b="1" dirty="0">
                          <a:solidFill>
                            <a:schemeClr val="bg1"/>
                          </a:solidFill>
                        </a:rPr>
                        <a:t>Refinement</a:t>
                      </a:r>
                    </a:p>
                  </a:txBody>
                  <a:tcPr anchor="ctr">
                    <a:solidFill>
                      <a:srgbClr val="3B3B3B"/>
                    </a:solidFill>
                  </a:tcPr>
                </a:tc>
                <a:tc>
                  <a:txBody>
                    <a:bodyPr/>
                    <a:lstStyle/>
                    <a:p>
                      <a:pPr algn="ctr"/>
                      <a:r>
                        <a:rPr lang="en-US" sz="1050" b="1" dirty="0">
                          <a:solidFill>
                            <a:schemeClr val="bg1"/>
                          </a:solidFill>
                        </a:rPr>
                        <a:t>Scenario</a:t>
                      </a:r>
                    </a:p>
                  </a:txBody>
                  <a:tcPr anchor="ctr">
                    <a:solidFill>
                      <a:srgbClr val="3B3B3B"/>
                    </a:solidFill>
                  </a:tcPr>
                </a:tc>
                <a:tc>
                  <a:txBody>
                    <a:bodyPr/>
                    <a:lstStyle/>
                    <a:p>
                      <a:pPr algn="ctr"/>
                      <a:r>
                        <a:rPr lang="ko-KR" altLang="en-US" sz="1050" b="1">
                          <a:solidFill>
                            <a:schemeClr val="bg1"/>
                          </a:solidFill>
                        </a:rPr>
                        <a:t>중요도</a:t>
                      </a:r>
                    </a:p>
                  </a:txBody>
                  <a:tcPr anchor="ctr">
                    <a:solidFill>
                      <a:srgbClr val="3B3B3B"/>
                    </a:solidFill>
                  </a:tcPr>
                </a:tc>
                <a:tc>
                  <a:txBody>
                    <a:bodyPr/>
                    <a:lstStyle/>
                    <a:p>
                      <a:pPr algn="ctr"/>
                      <a:r>
                        <a:rPr lang="ko-KR" altLang="en-US" sz="1050" b="1" dirty="0">
                          <a:solidFill>
                            <a:schemeClr val="bg1"/>
                          </a:solidFill>
                        </a:rPr>
                        <a:t>난이도</a:t>
                      </a:r>
                    </a:p>
                  </a:txBody>
                  <a:tcPr anchor="ctr">
                    <a:solidFill>
                      <a:srgbClr val="3B3B3B"/>
                    </a:solidFill>
                  </a:tcPr>
                </a:tc>
                <a:tc>
                  <a:txBody>
                    <a:bodyPr/>
                    <a:lstStyle/>
                    <a:p>
                      <a:pPr algn="ctr"/>
                      <a:r>
                        <a:rPr lang="ko-KR" altLang="en-US" sz="105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786339">
                <a:tc>
                  <a:txBody>
                    <a:bodyPr/>
                    <a:lstStyle/>
                    <a:p>
                      <a:r>
                        <a:rPr lang="en-US" sz="1000" dirty="0"/>
                        <a:t>QA-01</a:t>
                      </a:r>
                    </a:p>
                  </a:txBody>
                  <a:tcPr anchor="ctr">
                    <a:solidFill>
                      <a:schemeClr val="accent4">
                        <a:lumMod val="20000"/>
                        <a:lumOff val="80000"/>
                      </a:schemeClr>
                    </a:solidFill>
                  </a:tcPr>
                </a:tc>
                <a:tc>
                  <a:txBody>
                    <a:bodyPr/>
                    <a:lstStyle/>
                    <a:p>
                      <a:r>
                        <a:rPr lang="en-US" sz="10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dirty="0"/>
                        <a:t>(Throughput)</a:t>
                      </a:r>
                    </a:p>
                  </a:txBody>
                  <a:tcPr anchor="ctr">
                    <a:solidFill>
                      <a:schemeClr val="accent4">
                        <a:lumMod val="20000"/>
                        <a:lumOff val="80000"/>
                      </a:schemeClr>
                    </a:solidFill>
                  </a:tcPr>
                </a:tc>
                <a:tc>
                  <a:txBody>
                    <a:bodyPr/>
                    <a:lstStyle/>
                    <a:p>
                      <a:r>
                        <a:rPr lang="ko-KR" altLang="en-US" sz="1000" dirty="0"/>
                        <a:t>서비스 수준 목표</a:t>
                      </a:r>
                      <a:r>
                        <a:rPr lang="en-US" altLang="ko-KR" sz="1000" dirty="0"/>
                        <a:t>(SLO)</a:t>
                      </a:r>
                      <a:r>
                        <a:rPr lang="ko-KR" altLang="en-US" sz="1000" dirty="0"/>
                        <a:t>를 만족하는 요청 처리량</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다수의 </a:t>
                      </a:r>
                      <a:r>
                        <a:rPr lang="en-US" altLang="ko-KR" sz="1000" dirty="0"/>
                        <a:t>agent </a:t>
                      </a:r>
                      <a:r>
                        <a:rPr lang="ko-KR" altLang="en-US" sz="1000" dirty="0"/>
                        <a:t>세션이 동시에 요청하는 상황에서</a:t>
                      </a:r>
                      <a:r>
                        <a:rPr lang="en-US" altLang="ko-KR" sz="1000" dirty="0"/>
                        <a:t>, </a:t>
                      </a:r>
                      <a:r>
                        <a:rPr lang="ko-KR" altLang="en-US" sz="1000" dirty="0"/>
                        <a:t>지정한 </a:t>
                      </a:r>
                      <a:r>
                        <a:rPr lang="en-US" altLang="ko-KR" sz="1000" dirty="0"/>
                        <a:t>SLO*</a:t>
                      </a:r>
                      <a:r>
                        <a:rPr lang="ko-KR" altLang="en-US" sz="1000" dirty="0"/>
                        <a:t>를 만족하며</a:t>
                      </a:r>
                      <a:r>
                        <a:rPr lang="en-US" altLang="ko-KR" sz="1000" dirty="0"/>
                        <a:t>, </a:t>
                      </a:r>
                      <a:r>
                        <a:rPr lang="ko-KR" altLang="en-US" sz="1000" dirty="0"/>
                        <a:t>처리할 수 있는 최대 </a:t>
                      </a:r>
                      <a:r>
                        <a:rPr lang="ko-KR" altLang="en-US" sz="1000" dirty="0" err="1"/>
                        <a:t>요청량이</a:t>
                      </a:r>
                      <a:r>
                        <a:rPr lang="ko-KR" altLang="en-US" sz="1000" dirty="0"/>
                        <a:t> 기존 시스템</a:t>
                      </a:r>
                      <a:r>
                        <a:rPr lang="en-US" altLang="ko-KR" sz="1000" dirty="0"/>
                        <a:t>(Baseline)</a:t>
                      </a:r>
                      <a:r>
                        <a:rPr lang="ko-KR" altLang="en-US" sz="1000" dirty="0"/>
                        <a:t>보다 증가해야 한다</a:t>
                      </a:r>
                      <a:r>
                        <a:rPr lang="en-US" altLang="ko-KR" sz="1000" dirty="0"/>
                        <a:t>. (*SLO: Service Level</a:t>
                      </a:r>
                      <a:r>
                        <a:rPr lang="ko-KR" altLang="en-US" sz="1000" dirty="0"/>
                        <a:t> </a:t>
                      </a:r>
                      <a:r>
                        <a:rPr lang="en-US" altLang="ko-KR" sz="1000" dirty="0"/>
                        <a:t>Objective)</a:t>
                      </a:r>
                      <a:br>
                        <a:rPr lang="en-US" altLang="ko-KR" sz="1000" dirty="0"/>
                      </a:br>
                      <a:r>
                        <a:rPr lang="en-US" altLang="ko-KR" sz="1000" b="1" dirty="0"/>
                        <a:t>[</a:t>
                      </a:r>
                      <a:r>
                        <a:rPr lang="ko-KR" altLang="en-US" sz="1000" b="1" dirty="0"/>
                        <a:t>측정</a:t>
                      </a:r>
                      <a:r>
                        <a:rPr lang="en-US" altLang="ko-KR" sz="1000" b="1" dirty="0"/>
                        <a:t>: SLO </a:t>
                      </a:r>
                      <a:r>
                        <a:rPr lang="ko-KR" altLang="en-US" sz="1000" b="1" dirty="0"/>
                        <a:t>만족 최대 처리량 </a:t>
                      </a:r>
                      <a:r>
                        <a:rPr lang="en-US" altLang="ko-KR" sz="1000" b="1" dirty="0"/>
                        <a:t>≥ Baseline </a:t>
                      </a:r>
                      <a:r>
                        <a:rPr lang="ko-KR" altLang="en-US" sz="1000" b="1" dirty="0"/>
                        <a:t>대비 증가율 </a:t>
                      </a:r>
                      <a:r>
                        <a:rPr lang="en-US" altLang="ko-KR" sz="1000" b="1" dirty="0"/>
                        <a:t>2x (Stakeholder </a:t>
                      </a:r>
                      <a:r>
                        <a:rPr lang="ko-KR" altLang="en-US" sz="1000" b="1" dirty="0"/>
                        <a:t>요구사항</a:t>
                      </a:r>
                      <a:r>
                        <a:rPr lang="en-US" altLang="ko-KR" sz="1000" b="1" dirty="0"/>
                        <a:t>)</a:t>
                      </a:r>
                      <a:r>
                        <a:rPr kumimoji="0" lang="en-US" altLang="ko-KR" sz="1000" b="1" i="0" u="none" strike="noStrike" kern="1200" cap="none" spc="0" normalizeH="0" baseline="0" noProof="0" dirty="0">
                          <a:ln>
                            <a:noFill/>
                          </a:ln>
                          <a:solidFill>
                            <a:prstClr val="black"/>
                          </a:solidFill>
                          <a:effectLst/>
                          <a:uLnTx/>
                          <a:uFillTx/>
                          <a:latin typeface="+mn-lt"/>
                          <a:ea typeface="+mn-ea"/>
                          <a:cs typeface="+mn-cs"/>
                        </a:rPr>
                        <a:t>] </a:t>
                      </a:r>
                      <a:r>
                        <a:rPr kumimoji="0" lang="en-US" altLang="ko-KR" sz="800" b="1" i="0" u="none" strike="noStrike" kern="1200" cap="none" spc="0" normalizeH="0" baseline="0" noProof="0" dirty="0">
                          <a:ln>
                            <a:noFill/>
                          </a:ln>
                          <a:solidFill>
                            <a:prstClr val="black"/>
                          </a:solidFill>
                          <a:effectLst/>
                          <a:uLnTx/>
                          <a:uFillTx/>
                          <a:latin typeface="+mn-lt"/>
                          <a:ea typeface="+mn-ea"/>
                          <a:cs typeface="+mn-cs"/>
                        </a:rPr>
                        <a:t>(SLO: TTFT ≤ 2s, TPOT ≤ 50ms)</a:t>
                      </a:r>
                      <a:endParaRPr kumimoji="0" lang="en-US" altLang="ko-KR" sz="105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900" dirty="0"/>
                        <a:t>(*TTFT: Time To First Token, **TPOT: Time Per Output Token)</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H</a:t>
                      </a:r>
                      <a:endParaRPr lang="en-US" sz="1000" dirty="0"/>
                    </a:p>
                  </a:txBody>
                  <a:tcPr anchor="ctr">
                    <a:solidFill>
                      <a:schemeClr val="accent4">
                        <a:lumMod val="20000"/>
                        <a:lumOff val="80000"/>
                      </a:schemeClr>
                    </a:solidFill>
                  </a:tcPr>
                </a:tc>
                <a:tc>
                  <a:txBody>
                    <a:bodyPr/>
                    <a:lstStyle/>
                    <a:p>
                      <a:r>
                        <a:rPr lang="en-US" altLang="ko-KR" sz="1000" dirty="0"/>
                        <a:t>1</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626053">
                <a:tc>
                  <a:txBody>
                    <a:bodyPr/>
                    <a:lstStyle/>
                    <a:p>
                      <a:r>
                        <a:rPr lang="en-US" sz="1000" dirty="0"/>
                        <a:t>QA-02</a:t>
                      </a:r>
                    </a:p>
                  </a:txBody>
                  <a:tcPr anchor="ctr">
                    <a:solidFill>
                      <a:schemeClr val="accent4">
                        <a:lumMod val="20000"/>
                        <a:lumOff val="80000"/>
                      </a:schemeClr>
                    </a:solidFill>
                  </a:tcPr>
                </a:tc>
                <a:tc>
                  <a:txBody>
                    <a:bodyPr/>
                    <a:lstStyle/>
                    <a:p>
                      <a:r>
                        <a:rPr lang="en-US" altLang="ko-KR" sz="1000" dirty="0"/>
                        <a:t>Capacity</a:t>
                      </a:r>
                    </a:p>
                    <a:p>
                      <a:r>
                        <a:rPr lang="en-US" sz="1000" dirty="0"/>
                        <a:t>(</a:t>
                      </a:r>
                      <a:r>
                        <a:rPr lang="ko-KR" altLang="en-US" sz="1000" dirty="0"/>
                        <a:t>처리 용량</a:t>
                      </a:r>
                      <a:r>
                        <a:rPr lang="en-US" altLang="ko-KR" sz="1000" dirty="0"/>
                        <a:t>)</a:t>
                      </a:r>
                      <a:endParaRPr lang="en-US" sz="1000" dirty="0"/>
                    </a:p>
                  </a:txBody>
                  <a:tcPr anchor="ctr">
                    <a:solidFill>
                      <a:schemeClr val="accent4">
                        <a:lumMod val="20000"/>
                        <a:lumOff val="80000"/>
                      </a:schemeClr>
                    </a:solidFill>
                  </a:tcPr>
                </a:tc>
                <a:tc>
                  <a:txBody>
                    <a:bodyPr/>
                    <a:lstStyle/>
                    <a:p>
                      <a:r>
                        <a:rPr lang="ko-KR" altLang="en-US" sz="1000" dirty="0"/>
                        <a:t>동일 </a:t>
                      </a:r>
                      <a:r>
                        <a:rPr lang="en-US" altLang="ko-KR" sz="1000" dirty="0"/>
                        <a:t>HBM </a:t>
                      </a:r>
                      <a:r>
                        <a:rPr lang="ko-KR" altLang="en-US" sz="1000" dirty="0"/>
                        <a:t>용량 하 최대 동시 세션 수</a:t>
                      </a:r>
                      <a:endParaRPr lang="en-US" altLang="ko-KR" sz="1000" dirty="0"/>
                    </a:p>
                  </a:txBody>
                  <a:tcPr anchor="ctr">
                    <a:solidFill>
                      <a:schemeClr val="accent4">
                        <a:lumMod val="20000"/>
                        <a:lumOff val="80000"/>
                      </a:schemeClr>
                    </a:solidFill>
                  </a:tcPr>
                </a:tc>
                <a:tc>
                  <a:txBody>
                    <a:bodyPr/>
                    <a:lstStyle/>
                    <a:p>
                      <a:pPr>
                        <a:lnSpc>
                          <a:spcPct val="125000"/>
                        </a:lnSpc>
                      </a:pPr>
                      <a:r>
                        <a:rPr lang="en-US" altLang="ko-KR" sz="1000" dirty="0"/>
                        <a:t>Agent </a:t>
                      </a:r>
                      <a:r>
                        <a:rPr lang="ko-KR" altLang="en-US" sz="1000" dirty="0"/>
                        <a:t>세션</a:t>
                      </a:r>
                      <a:r>
                        <a:rPr lang="en-US" altLang="ko-KR" sz="1000" dirty="0"/>
                        <a:t>(tool call </a:t>
                      </a:r>
                      <a:r>
                        <a:rPr lang="ko-KR" altLang="en-US" sz="1000" dirty="0"/>
                        <a:t>대기 포함</a:t>
                      </a:r>
                      <a:r>
                        <a:rPr lang="en-US" altLang="ko-KR" sz="1000" dirty="0"/>
                        <a:t>)</a:t>
                      </a:r>
                      <a:r>
                        <a:rPr lang="ko-KR" altLang="en-US" sz="1000" dirty="0"/>
                        <a:t>이 증가하는 상황에서</a:t>
                      </a:r>
                      <a:r>
                        <a:rPr lang="en-US" altLang="ko-KR" sz="1000" dirty="0"/>
                        <a:t>, </a:t>
                      </a:r>
                      <a:r>
                        <a:rPr lang="ko-KR" altLang="en-US" sz="1000" dirty="0"/>
                        <a:t>동일 </a:t>
                      </a:r>
                      <a:r>
                        <a:rPr lang="en-US" altLang="ko-KR" sz="1000" dirty="0"/>
                        <a:t>HBM </a:t>
                      </a:r>
                      <a:r>
                        <a:rPr lang="ko-KR" altLang="en-US" sz="1000" dirty="0"/>
                        <a:t>용량으로 </a:t>
                      </a:r>
                      <a:r>
                        <a:rPr lang="en-US" altLang="ko-KR" sz="1000" dirty="0"/>
                        <a:t>KV</a:t>
                      </a:r>
                      <a:r>
                        <a:rPr lang="ko-KR" altLang="en-US" sz="1000" dirty="0"/>
                        <a:t>를 보유할 수 있는 최대 동시 세션 수가 기준 시스템</a:t>
                      </a:r>
                      <a:r>
                        <a:rPr lang="en-US" altLang="ko-KR" sz="1000" dirty="0"/>
                        <a:t>(Baseline)</a:t>
                      </a:r>
                      <a:r>
                        <a:rPr lang="ko-KR" altLang="en-US" sz="1000" dirty="0"/>
                        <a:t>보다 증가해야 한다</a:t>
                      </a:r>
                      <a:r>
                        <a:rPr lang="en-US" altLang="ko-KR" sz="1000" dirty="0"/>
                        <a:t>. (TTFT P99 ≤ 2s </a:t>
                      </a:r>
                      <a:r>
                        <a:rPr lang="ko-KR" altLang="en-US" sz="1000" dirty="0"/>
                        <a:t>만족</a:t>
                      </a:r>
                      <a:r>
                        <a:rPr lang="en-US" altLang="ko-KR" sz="1000" dirty="0"/>
                        <a:t>)</a:t>
                      </a:r>
                    </a:p>
                    <a:p>
                      <a:pPr>
                        <a:lnSpc>
                          <a:spcPct val="125000"/>
                        </a:lnSpc>
                      </a:pPr>
                      <a:r>
                        <a:rPr lang="en-US" altLang="ko-KR" sz="1000" b="1" dirty="0"/>
                        <a:t>[</a:t>
                      </a:r>
                      <a:r>
                        <a:rPr lang="ko-KR" altLang="en-US" sz="1000" b="1" dirty="0"/>
                        <a:t>측정</a:t>
                      </a:r>
                      <a:r>
                        <a:rPr lang="en-US" altLang="ko-KR" sz="1000" b="1" dirty="0"/>
                        <a:t>: </a:t>
                      </a:r>
                      <a:r>
                        <a:rPr lang="ko-KR" altLang="en-US" sz="1000" b="1" dirty="0"/>
                        <a:t>최대 동시 세션 수 </a:t>
                      </a:r>
                      <a:r>
                        <a:rPr lang="en-US" altLang="ko-KR" sz="1000" b="1" dirty="0"/>
                        <a:t>≥ </a:t>
                      </a:r>
                      <a:r>
                        <a:rPr lang="ko-KR" altLang="en-US" sz="1000" b="1" dirty="0"/>
                        <a:t> </a:t>
                      </a:r>
                      <a:r>
                        <a:rPr lang="en-US" altLang="ko-KR" sz="1000" b="1" dirty="0"/>
                        <a:t>Baseline </a:t>
                      </a:r>
                      <a:r>
                        <a:rPr lang="ko-KR" altLang="en-US" sz="1000" b="1" dirty="0"/>
                        <a:t>대비 </a:t>
                      </a:r>
                      <a:r>
                        <a:rPr lang="en-US" altLang="ko-KR" sz="1000" b="1" dirty="0"/>
                        <a:t>2x ]</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2</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105785534"/>
                  </a:ext>
                </a:extLst>
              </a:tr>
              <a:tr h="786339">
                <a:tc>
                  <a:txBody>
                    <a:bodyPr/>
                    <a:lstStyle/>
                    <a:p>
                      <a:r>
                        <a:rPr lang="en-US" sz="1000" dirty="0"/>
                        <a:t>QA-03</a:t>
                      </a:r>
                    </a:p>
                  </a:txBody>
                  <a:tcPr anchor="ctr">
                    <a:solidFill>
                      <a:schemeClr val="accent4">
                        <a:lumMod val="20000"/>
                        <a:lumOff val="80000"/>
                      </a:schemeClr>
                    </a:solidFill>
                  </a:tcPr>
                </a:tc>
                <a:tc>
                  <a:txBody>
                    <a:bodyPr/>
                    <a:lstStyle/>
                    <a:p>
                      <a:r>
                        <a:rPr lang="en-US" sz="1000" dirty="0"/>
                        <a:t>Performance</a:t>
                      </a:r>
                    </a:p>
                    <a:p>
                      <a:r>
                        <a:rPr lang="en-US" sz="1000" dirty="0"/>
                        <a:t>(Tail</a:t>
                      </a:r>
                      <a:r>
                        <a:rPr lang="ko-KR" altLang="en-US" sz="1000" dirty="0"/>
                        <a:t> </a:t>
                      </a:r>
                      <a:r>
                        <a:rPr lang="en-US" altLang="ko-KR" sz="1000" dirty="0"/>
                        <a:t>Latency)</a:t>
                      </a:r>
                      <a:endParaRPr lang="en-US" sz="1000" dirty="0"/>
                    </a:p>
                  </a:txBody>
                  <a:tcPr anchor="ctr">
                    <a:solidFill>
                      <a:schemeClr val="accent4">
                        <a:lumMod val="20000"/>
                        <a:lumOff val="80000"/>
                      </a:schemeClr>
                    </a:solidFill>
                  </a:tcPr>
                </a:tc>
                <a:tc>
                  <a:txBody>
                    <a:bodyPr/>
                    <a:lstStyle/>
                    <a:p>
                      <a:r>
                        <a:rPr lang="ko-KR" altLang="en-US" sz="1000" dirty="0"/>
                        <a:t>고부하 지연시간 </a:t>
                      </a:r>
                      <a:r>
                        <a:rPr lang="en-US" altLang="ko-KR" sz="1000" dirty="0"/>
                        <a:t>(P99)</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b="0" baseline="0" dirty="0"/>
                        <a:t>고부하 환경에서 최악 응답 지연</a:t>
                      </a:r>
                      <a:r>
                        <a:rPr lang="en-US" altLang="ko-KR" sz="1000" b="0" baseline="0" dirty="0"/>
                        <a:t>(Tail Latency)</a:t>
                      </a:r>
                      <a:r>
                        <a:rPr lang="ko-KR" altLang="en-US" sz="1000" b="0" baseline="0" dirty="0"/>
                        <a:t>을 </a:t>
                      </a:r>
                      <a:r>
                        <a:rPr lang="en-US" altLang="ko-KR" sz="1000" b="0" baseline="0" dirty="0"/>
                        <a:t>baseline </a:t>
                      </a:r>
                      <a:r>
                        <a:rPr lang="ko-KR" altLang="en-US" sz="1000" b="0" baseline="0" dirty="0"/>
                        <a:t>대비 개선해야 한다</a:t>
                      </a:r>
                      <a:r>
                        <a:rPr lang="en-US" altLang="ko-KR" sz="1000" b="0" baseline="0" dirty="0"/>
                        <a:t>. </a:t>
                      </a: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Max (TTFT, TPOT(P99) </a:t>
                      </a:r>
                      <a:r>
                        <a:rPr lang="ko-KR" altLang="en-US" sz="1000" b="1" dirty="0"/>
                        <a:t>감소율</a:t>
                      </a:r>
                      <a:r>
                        <a:rPr lang="en-US" altLang="ko-KR" sz="1000" b="1" dirty="0"/>
                        <a:t>) ≥ Baseline </a:t>
                      </a:r>
                      <a:r>
                        <a:rPr lang="ko-KR" altLang="en-US" sz="1000" b="1" dirty="0"/>
                        <a:t>대비 </a:t>
                      </a:r>
                      <a:r>
                        <a:rPr lang="en-US" altLang="ko-KR" sz="1000" b="1" dirty="0"/>
                        <a:t>30% (</a:t>
                      </a:r>
                      <a:r>
                        <a:rPr lang="ko-KR" altLang="en-US" sz="1000" b="1" dirty="0"/>
                        <a:t>사용자 체감 성능 개선 기준</a:t>
                      </a:r>
                      <a:r>
                        <a:rPr lang="en-US" altLang="ko-KR" sz="1000" b="1" dirty="0"/>
                        <a:t>) (</a:t>
                      </a:r>
                      <a:r>
                        <a:rPr lang="ko-KR" altLang="en-US" sz="1000" b="1" dirty="0"/>
                        <a:t>단</a:t>
                      </a:r>
                      <a:r>
                        <a:rPr lang="en-US" altLang="ko-KR" sz="1000" b="1" dirty="0"/>
                        <a:t>, SLO </a:t>
                      </a:r>
                      <a:r>
                        <a:rPr lang="ko-KR" altLang="en-US" sz="1000" b="1" dirty="0"/>
                        <a:t>만족</a:t>
                      </a:r>
                      <a:r>
                        <a:rPr lang="en-US" altLang="ko-KR" sz="1000" b="1" dirty="0"/>
                        <a:t>)] </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3</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2212802997"/>
                  </a:ext>
                </a:extLst>
              </a:tr>
              <a:tr h="626053">
                <a:tc>
                  <a:txBody>
                    <a:bodyPr/>
                    <a:lstStyle/>
                    <a:p>
                      <a:r>
                        <a:rPr lang="en-US" sz="1000" dirty="0"/>
                        <a:t>QA-04</a:t>
                      </a:r>
                    </a:p>
                  </a:txBody>
                  <a:tcPr anchor="ctr">
                    <a:solidFill>
                      <a:schemeClr val="accent4">
                        <a:lumMod val="20000"/>
                        <a:lumOff val="80000"/>
                      </a:schemeClr>
                    </a:solidFill>
                  </a:tcPr>
                </a:tc>
                <a:tc>
                  <a:txBody>
                    <a:bodyPr/>
                    <a:lstStyle/>
                    <a:p>
                      <a:r>
                        <a:rPr lang="en-US" sz="1000" dirty="0"/>
                        <a:t>Scalability</a:t>
                      </a:r>
                    </a:p>
                  </a:txBody>
                  <a:tcPr anchor="ctr">
                    <a:solidFill>
                      <a:schemeClr val="accent4">
                        <a:lumMod val="20000"/>
                        <a:lumOff val="80000"/>
                      </a:schemeClr>
                    </a:solidFill>
                  </a:tcPr>
                </a:tc>
                <a:tc>
                  <a:txBody>
                    <a:bodyPr/>
                    <a:lstStyle/>
                    <a:p>
                      <a:r>
                        <a:rPr lang="ko-KR" altLang="en-US" sz="1000" dirty="0"/>
                        <a:t>시스템 확장성</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자원</a:t>
                      </a:r>
                      <a:r>
                        <a:rPr lang="ko-KR" altLang="en-US" sz="1000" baseline="0" dirty="0"/>
                        <a:t> 증가에 따른 처리량 증가 폭의 감소를 최소화해야 한다</a:t>
                      </a:r>
                      <a:r>
                        <a:rPr lang="en-US" altLang="ko-KR" sz="1000" baseline="0" dirty="0"/>
                        <a:t>. </a:t>
                      </a:r>
                      <a:endParaRPr lang="en-US" altLang="ko-KR" sz="1000" dirty="0"/>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Scaling Efficiency (</a:t>
                      </a:r>
                      <a:r>
                        <a:rPr lang="ko-KR" altLang="en-US" sz="1000" b="1" dirty="0"/>
                        <a:t>처리량 증가</a:t>
                      </a:r>
                      <a:r>
                        <a:rPr lang="ko-KR" altLang="en-US" sz="1000" b="1" baseline="0" dirty="0"/>
                        <a:t> 배율 </a:t>
                      </a:r>
                      <a:r>
                        <a:rPr lang="en-US" altLang="ko-KR" sz="1000" b="1" dirty="0"/>
                        <a:t>/ </a:t>
                      </a:r>
                      <a:r>
                        <a:rPr lang="ko-KR" altLang="en-US" sz="1000" b="1" dirty="0"/>
                        <a:t>자원 증가</a:t>
                      </a:r>
                      <a:r>
                        <a:rPr lang="ko-KR" altLang="en-US" sz="1000" b="1" baseline="0" dirty="0"/>
                        <a:t> 배율</a:t>
                      </a:r>
                      <a:r>
                        <a:rPr lang="en-US" altLang="ko-KR" sz="1000" b="1" dirty="0"/>
                        <a:t>) &gt; 80% (</a:t>
                      </a:r>
                      <a:r>
                        <a:rPr lang="ko-KR" altLang="en-US" sz="1000" b="1" dirty="0"/>
                        <a:t>문헌 보고 값</a:t>
                      </a:r>
                      <a:r>
                        <a:rPr lang="en-US" altLang="ko-KR" sz="1000" b="1" dirty="0"/>
                        <a:t>) ]</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M</a:t>
                      </a:r>
                    </a:p>
                  </a:txBody>
                  <a:tcPr anchor="ctr">
                    <a:solidFill>
                      <a:schemeClr val="accent4">
                        <a:lumMod val="20000"/>
                        <a:lumOff val="80000"/>
                      </a:schemeClr>
                    </a:solidFill>
                  </a:tcPr>
                </a:tc>
                <a:tc>
                  <a:txBody>
                    <a:bodyPr/>
                    <a:lstStyle/>
                    <a:p>
                      <a:r>
                        <a:rPr lang="en-US" altLang="ko-KR" sz="1000" dirty="0"/>
                        <a:t>4</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1522200776"/>
                  </a:ext>
                </a:extLst>
              </a:tr>
              <a:tr h="626053">
                <a:tc>
                  <a:txBody>
                    <a:bodyPr/>
                    <a:lstStyle/>
                    <a:p>
                      <a:r>
                        <a:rPr lang="en-US" sz="1000" dirty="0"/>
                        <a:t>QA-05</a:t>
                      </a:r>
                    </a:p>
                  </a:txBody>
                  <a:tcPr anchor="ctr">
                    <a:solidFill>
                      <a:schemeClr val="accent4">
                        <a:lumMod val="20000"/>
                        <a:lumOff val="80000"/>
                      </a:schemeClr>
                    </a:solidFill>
                  </a:tcPr>
                </a:tc>
                <a:tc>
                  <a:txBody>
                    <a:bodyPr/>
                    <a:lstStyle/>
                    <a:p>
                      <a:r>
                        <a:rPr lang="en-US" sz="1000" dirty="0"/>
                        <a:t>Modifiability</a:t>
                      </a:r>
                    </a:p>
                  </a:txBody>
                  <a:tcPr anchor="ctr">
                    <a:solidFill>
                      <a:schemeClr val="accent4">
                        <a:lumMod val="20000"/>
                        <a:lumOff val="80000"/>
                      </a:schemeClr>
                    </a:solidFill>
                  </a:tcPr>
                </a:tc>
                <a:tc>
                  <a:txBody>
                    <a:bodyPr/>
                    <a:lstStyle/>
                    <a:p>
                      <a:r>
                        <a:rPr lang="en-US" altLang="ko-KR" sz="1000" dirty="0"/>
                        <a:t>Device/</a:t>
                      </a:r>
                      <a:r>
                        <a:rPr lang="ko-KR" altLang="en-US" sz="1000" dirty="0"/>
                        <a:t>정책에 대한 변경 용이성</a:t>
                      </a:r>
                    </a:p>
                  </a:txBody>
                  <a:tcPr anchor="ctr">
                    <a:solidFill>
                      <a:schemeClr val="accent4">
                        <a:lumMod val="20000"/>
                        <a:lumOff val="80000"/>
                      </a:schemeClr>
                    </a:solidFill>
                  </a:tcPr>
                </a:tc>
                <a:tc>
                  <a:txBody>
                    <a:bodyPr/>
                    <a:lstStyle/>
                    <a:p>
                      <a:pPr>
                        <a:lnSpc>
                          <a:spcPct val="125000"/>
                        </a:lnSpc>
                      </a:pPr>
                      <a:r>
                        <a:rPr lang="ko-KR" altLang="en-US" sz="1000" dirty="0"/>
                        <a:t>새로운 메모리 </a:t>
                      </a:r>
                      <a:r>
                        <a:rPr lang="en-US" altLang="ko-KR" sz="1000" dirty="0"/>
                        <a:t>tier, </a:t>
                      </a:r>
                      <a:r>
                        <a:rPr lang="ko-KR" altLang="en-US" sz="1000" dirty="0"/>
                        <a:t>이동</a:t>
                      </a:r>
                      <a:r>
                        <a:rPr lang="en-US" altLang="ko-KR" sz="1000" dirty="0"/>
                        <a:t>·</a:t>
                      </a:r>
                      <a:r>
                        <a:rPr lang="ko-KR" altLang="en-US" sz="1000" dirty="0"/>
                        <a:t>배치 정책</a:t>
                      </a:r>
                      <a:r>
                        <a:rPr lang="en-US" altLang="ko-KR" sz="1000" dirty="0"/>
                        <a:t>, Upstream(</a:t>
                      </a:r>
                      <a:r>
                        <a:rPr lang="en-US" altLang="ko-KR" sz="1000" dirty="0" err="1"/>
                        <a:t>vLLM</a:t>
                      </a:r>
                      <a:r>
                        <a:rPr lang="en-US" altLang="ko-KR" sz="1000" dirty="0"/>
                        <a:t>)</a:t>
                      </a:r>
                      <a:r>
                        <a:rPr lang="ko-KR" altLang="en-US" sz="1000" dirty="0"/>
                        <a:t>이 변경될 </a:t>
                      </a:r>
                      <a:r>
                        <a:rPr lang="ko-KR" altLang="en-US" sz="1000" dirty="0" err="1"/>
                        <a:t>떄</a:t>
                      </a:r>
                      <a:r>
                        <a:rPr lang="ko-KR" altLang="en-US" sz="1000" dirty="0"/>
                        <a:t> </a:t>
                      </a:r>
                      <a:r>
                        <a:rPr lang="ko-KR" altLang="en-US" sz="1000" dirty="0" err="1"/>
                        <a:t>서빙</a:t>
                      </a:r>
                      <a:r>
                        <a:rPr lang="ko-KR" altLang="en-US" sz="1000" dirty="0"/>
                        <a:t> 경로에 미치는 변경 범위를 최소화하여 반영할 수 있어야 한다</a:t>
                      </a:r>
                      <a:r>
                        <a:rPr lang="en-US" altLang="ko-KR" sz="1000" dirty="0"/>
                        <a:t>. </a:t>
                      </a:r>
                      <a:br>
                        <a:rPr lang="en-US" altLang="ko-KR" sz="1000" dirty="0"/>
                      </a:br>
                      <a:r>
                        <a:rPr lang="en-US" altLang="ko-KR" sz="1000" b="1" dirty="0"/>
                        <a:t>[</a:t>
                      </a:r>
                      <a:r>
                        <a:rPr lang="ko-KR" altLang="en-US" sz="1000" b="1" dirty="0"/>
                        <a:t>측정</a:t>
                      </a:r>
                      <a:r>
                        <a:rPr lang="en-US" altLang="ko-KR" sz="1000" b="1" dirty="0"/>
                        <a:t>: </a:t>
                      </a:r>
                      <a:r>
                        <a:rPr lang="ko-KR" altLang="en-US" sz="1000" b="1" dirty="0"/>
                        <a:t>변경 모듈 </a:t>
                      </a:r>
                      <a:r>
                        <a:rPr lang="en-US" altLang="ko-KR" sz="1000" b="1" dirty="0"/>
                        <a:t>&lt; 5 </a:t>
                      </a:r>
                      <a:r>
                        <a:rPr lang="ko-KR" altLang="en-US" sz="1000" b="1" dirty="0"/>
                        <a:t>개 </a:t>
                      </a:r>
                      <a:r>
                        <a:rPr lang="en-US" altLang="ko-KR" sz="1000" b="1" dirty="0"/>
                        <a:t>]</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M</a:t>
                      </a:r>
                    </a:p>
                  </a:txBody>
                  <a:tcPr anchor="ctr">
                    <a:solidFill>
                      <a:schemeClr val="accent4">
                        <a:lumMod val="20000"/>
                        <a:lumOff val="80000"/>
                      </a:schemeClr>
                    </a:solidFill>
                  </a:tcPr>
                </a:tc>
                <a:tc>
                  <a:txBody>
                    <a:bodyPr/>
                    <a:lstStyle/>
                    <a:p>
                      <a:r>
                        <a:rPr lang="en-US" altLang="ko-KR" sz="1000" dirty="0"/>
                        <a:t>5</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626053">
                <a:tc>
                  <a:txBody>
                    <a:bodyPr/>
                    <a:lstStyle/>
                    <a:p>
                      <a:r>
                        <a:rPr lang="en-US" sz="1000" dirty="0"/>
                        <a:t>QA-06</a:t>
                      </a:r>
                    </a:p>
                  </a:txBody>
                  <a:tcPr anchor="ctr">
                    <a:solidFill>
                      <a:schemeClr val="bg1"/>
                    </a:solidFill>
                  </a:tcPr>
                </a:tc>
                <a:tc>
                  <a:txBody>
                    <a:bodyPr/>
                    <a:lstStyle/>
                    <a:p>
                      <a:r>
                        <a:rPr lang="en-US" sz="1000" dirty="0"/>
                        <a:t>Fault tolerance</a:t>
                      </a:r>
                    </a:p>
                  </a:txBody>
                  <a:tcPr anchor="ctr">
                    <a:solidFill>
                      <a:schemeClr val="bg1"/>
                    </a:solidFill>
                  </a:tcPr>
                </a:tc>
                <a:tc>
                  <a:txBody>
                    <a:bodyPr/>
                    <a:lstStyle/>
                    <a:p>
                      <a:r>
                        <a:rPr lang="ko-KR" altLang="en-US" sz="1000" dirty="0"/>
                        <a:t>전송</a:t>
                      </a:r>
                      <a:r>
                        <a:rPr lang="en-US" altLang="ko-KR" sz="1000" dirty="0"/>
                        <a:t>·offload </a:t>
                      </a:r>
                      <a:r>
                        <a:rPr lang="ko-KR" altLang="en-US" sz="1000" dirty="0"/>
                        <a:t>실패 대체</a:t>
                      </a:r>
                    </a:p>
                  </a:txBody>
                  <a:tcPr anchor="ctr">
                    <a:solidFill>
                      <a:schemeClr val="bg1"/>
                    </a:solidFill>
                  </a:tcPr>
                </a:tc>
                <a:tc>
                  <a:txBody>
                    <a:bodyPr/>
                    <a:lstStyle/>
                    <a:p>
                      <a:pPr>
                        <a:lnSpc>
                          <a:spcPct val="125000"/>
                        </a:lnSpc>
                      </a:pPr>
                      <a:r>
                        <a:rPr lang="en-US" altLang="ko-KR" sz="1000" b="0" dirty="0"/>
                        <a:t>KV </a:t>
                      </a:r>
                      <a:r>
                        <a:rPr lang="ko-KR" altLang="en-US" sz="1000" b="0" dirty="0"/>
                        <a:t>전송이나 </a:t>
                      </a:r>
                      <a:r>
                        <a:rPr lang="en-US" altLang="ko-KR" sz="1000" b="0" dirty="0"/>
                        <a:t>offload</a:t>
                      </a:r>
                      <a:r>
                        <a:rPr lang="ko-KR" altLang="en-US" sz="1000" b="0" dirty="0"/>
                        <a:t>가 실패하거나 시간 초과해도 재계산 등 대체 경로로 요청 처리를 이어가야 한다</a:t>
                      </a:r>
                      <a:r>
                        <a:rPr lang="en-US" altLang="ko-KR" sz="1000" b="0" dirty="0"/>
                        <a:t>.</a:t>
                      </a:r>
                      <a:br>
                        <a:rPr lang="en-US" altLang="ko-KR" sz="1000" b="0" dirty="0"/>
                      </a:br>
                      <a:r>
                        <a:rPr lang="en-US" altLang="ko-KR" sz="1000" b="0" dirty="0"/>
                        <a:t>[</a:t>
                      </a:r>
                      <a:r>
                        <a:rPr lang="ko-KR" altLang="en-US" sz="1000" b="0" dirty="0"/>
                        <a:t>측정</a:t>
                      </a:r>
                      <a:r>
                        <a:rPr lang="en-US" altLang="ko-KR" sz="1000" b="0" dirty="0"/>
                        <a:t>: fallback </a:t>
                      </a:r>
                      <a:r>
                        <a:rPr lang="ko-KR" altLang="en-US" sz="1000" b="0" dirty="0"/>
                        <a:t>성공률 </a:t>
                      </a:r>
                      <a:r>
                        <a:rPr lang="en-US" altLang="ko-KR" sz="1000" b="0" dirty="0"/>
                        <a:t>&gt; 99.9 ]</a:t>
                      </a:r>
                      <a:endParaRPr lang="ko-KR" altLang="en-US" sz="1000" b="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sz="1000" dirty="0"/>
                        <a:t>H</a:t>
                      </a:r>
                    </a:p>
                  </a:txBody>
                  <a:tcPr anchor="ctr">
                    <a:solidFill>
                      <a:schemeClr val="bg1"/>
                    </a:solidFill>
                  </a:tcPr>
                </a:tc>
                <a:tc>
                  <a:txBody>
                    <a:bodyPr/>
                    <a:lstStyle/>
                    <a:p>
                      <a:r>
                        <a:rPr lang="en-US" altLang="ko-KR" sz="1000" dirty="0"/>
                        <a:t>6</a:t>
                      </a:r>
                      <a:endParaRPr lang="ko-KR" altLang="en-US" sz="1000" dirty="0"/>
                    </a:p>
                  </a:txBody>
                  <a:tcPr anchor="ctr">
                    <a:solidFill>
                      <a:schemeClr val="bg1"/>
                    </a:solidFill>
                  </a:tcPr>
                </a:tc>
                <a:extLst>
                  <a:ext uri="{0D108BD9-81ED-4DB2-BD59-A6C34878D82A}">
                    <a16:rowId xmlns:a16="http://schemas.microsoft.com/office/drawing/2014/main" val="3774210047"/>
                  </a:ext>
                </a:extLst>
              </a:tr>
              <a:tr h="626053">
                <a:tc>
                  <a:txBody>
                    <a:bodyPr/>
                    <a:lstStyle/>
                    <a:p>
                      <a:r>
                        <a:rPr lang="en-US" sz="1000" dirty="0"/>
                        <a:t>QA-07</a:t>
                      </a:r>
                    </a:p>
                  </a:txBody>
                  <a:tcPr anchor="ctr">
                    <a:solidFill>
                      <a:schemeClr val="bg1"/>
                    </a:solidFill>
                  </a:tcPr>
                </a:tc>
                <a:tc>
                  <a:txBody>
                    <a:bodyPr/>
                    <a:lstStyle/>
                    <a:p>
                      <a:r>
                        <a:rPr lang="en-US" sz="1000" dirty="0" err="1"/>
                        <a:t>Analysability</a:t>
                      </a:r>
                      <a:endParaRPr lang="en-US" sz="1000" dirty="0"/>
                    </a:p>
                  </a:txBody>
                  <a:tcPr anchor="ctr">
                    <a:solidFill>
                      <a:schemeClr val="bg1"/>
                    </a:solidFill>
                  </a:tcPr>
                </a:tc>
                <a:tc>
                  <a:txBody>
                    <a:bodyPr/>
                    <a:lstStyle/>
                    <a:p>
                      <a:r>
                        <a:rPr lang="ko-KR" altLang="en-US" sz="1000" dirty="0"/>
                        <a:t>결정 근거 진단</a:t>
                      </a:r>
                    </a:p>
                  </a:txBody>
                  <a:tcPr anchor="ctr">
                    <a:solidFill>
                      <a:schemeClr val="bg1"/>
                    </a:solidFill>
                  </a:tcPr>
                </a:tc>
                <a:tc>
                  <a:txBody>
                    <a:bodyPr/>
                    <a:lstStyle/>
                    <a:p>
                      <a:r>
                        <a:rPr lang="ko-KR" altLang="en-US" sz="1000" b="0" dirty="0"/>
                        <a:t>이동</a:t>
                      </a:r>
                      <a:r>
                        <a:rPr lang="en-US" altLang="ko-KR" sz="1000" b="0" dirty="0"/>
                        <a:t>/</a:t>
                      </a:r>
                      <a:r>
                        <a:rPr lang="ko-KR" altLang="en-US" sz="1000" b="0" dirty="0"/>
                        <a:t>배치</a:t>
                      </a:r>
                      <a:r>
                        <a:rPr lang="en-US" altLang="ko-KR" sz="1000" b="0" dirty="0"/>
                        <a:t>,</a:t>
                      </a:r>
                      <a:r>
                        <a:rPr lang="en-US" altLang="ko-KR" sz="1000" b="0" baseline="0" dirty="0"/>
                        <a:t> </a:t>
                      </a:r>
                      <a:r>
                        <a:rPr lang="ko-KR" altLang="en-US" sz="1000" b="0" dirty="0"/>
                        <a:t>라우팅 결정이 기대와 다를 때 결정 입력과 근거 기록으로 원인을 찾을 수 있어야 한다</a:t>
                      </a:r>
                      <a:r>
                        <a:rPr lang="en-US" altLang="ko-KR" sz="1000" b="0" dirty="0"/>
                        <a:t>.</a:t>
                      </a:r>
                      <a:br>
                        <a:rPr lang="en-US" altLang="ko-KR" sz="1000" b="0" dirty="0"/>
                      </a:br>
                      <a:r>
                        <a:rPr lang="en-US" altLang="ko-KR" sz="1000" b="0" dirty="0">
                          <a:solidFill>
                            <a:srgbClr val="000000"/>
                          </a:solidFill>
                          <a:latin typeface="+mn-lt"/>
                        </a:rPr>
                        <a:t>[</a:t>
                      </a:r>
                      <a:r>
                        <a:rPr lang="ko-KR" altLang="en-US" sz="1000" b="0" dirty="0">
                          <a:solidFill>
                            <a:srgbClr val="000000"/>
                          </a:solidFill>
                          <a:latin typeface="+mn-lt"/>
                        </a:rPr>
                        <a:t>측정</a:t>
                      </a:r>
                      <a:r>
                        <a:rPr lang="en-US" altLang="ko-KR" sz="1000" b="0" dirty="0">
                          <a:solidFill>
                            <a:srgbClr val="000000"/>
                          </a:solidFill>
                          <a:latin typeface="+mn-lt"/>
                        </a:rPr>
                        <a:t>: </a:t>
                      </a:r>
                      <a:r>
                        <a:rPr lang="ko-KR" altLang="en-US" sz="1000" b="0" dirty="0">
                          <a:solidFill>
                            <a:srgbClr val="000000"/>
                          </a:solidFill>
                          <a:latin typeface="+mn-lt"/>
                        </a:rPr>
                        <a:t>원인 파악 시간 </a:t>
                      </a:r>
                      <a:r>
                        <a:rPr lang="en-US" altLang="ko-KR" sz="1000" b="0" dirty="0">
                          <a:solidFill>
                            <a:srgbClr val="000000"/>
                          </a:solidFill>
                          <a:latin typeface="+mn-lt"/>
                        </a:rPr>
                        <a:t>&lt; 1 </a:t>
                      </a:r>
                      <a:r>
                        <a:rPr lang="ko-KR" altLang="en-US" sz="1000" b="0" dirty="0">
                          <a:solidFill>
                            <a:srgbClr val="000000"/>
                          </a:solidFill>
                          <a:latin typeface="+mn-lt"/>
                        </a:rPr>
                        <a:t>시간 </a:t>
                      </a:r>
                      <a:r>
                        <a:rPr lang="en-US" altLang="ko-KR" sz="1000" b="0" dirty="0">
                          <a:solidFill>
                            <a:srgbClr val="000000"/>
                          </a:solidFill>
                          <a:latin typeface="+mn-lt"/>
                        </a:rPr>
                        <a:t>(</a:t>
                      </a:r>
                      <a:r>
                        <a:rPr lang="ko-KR" altLang="en-US" sz="1000" b="0" dirty="0">
                          <a:solidFill>
                            <a:srgbClr val="000000"/>
                          </a:solidFill>
                          <a:latin typeface="+mn-lt"/>
                        </a:rPr>
                        <a:t>개발자 </a:t>
                      </a:r>
                      <a:r>
                        <a:rPr lang="en-US" altLang="ko-KR" sz="1000" b="0" dirty="0">
                          <a:solidFill>
                            <a:srgbClr val="000000"/>
                          </a:solidFill>
                          <a:latin typeface="+mn-lt"/>
                        </a:rPr>
                        <a:t>1</a:t>
                      </a:r>
                      <a:r>
                        <a:rPr lang="ko-KR" altLang="en-US" sz="1000" b="0" dirty="0">
                          <a:solidFill>
                            <a:srgbClr val="000000"/>
                          </a:solidFill>
                          <a:latin typeface="+mn-lt"/>
                        </a:rPr>
                        <a:t>인</a:t>
                      </a:r>
                      <a:r>
                        <a:rPr lang="en-US" altLang="ko-KR" sz="1000" b="0" dirty="0">
                          <a:solidFill>
                            <a:srgbClr val="000000"/>
                          </a:solidFill>
                          <a:latin typeface="+mn-lt"/>
                        </a:rPr>
                        <a:t>, </a:t>
                      </a:r>
                      <a:r>
                        <a:rPr lang="ko-KR" altLang="en-US" sz="1000" b="0" dirty="0">
                          <a:solidFill>
                            <a:srgbClr val="000000"/>
                          </a:solidFill>
                          <a:latin typeface="+mn-lt"/>
                        </a:rPr>
                        <a:t>결정 </a:t>
                      </a:r>
                      <a:r>
                        <a:rPr lang="en-US" altLang="ko-KR" sz="1000" b="0" dirty="0">
                          <a:solidFill>
                            <a:srgbClr val="000000"/>
                          </a:solidFill>
                          <a:latin typeface="+mn-lt"/>
                        </a:rPr>
                        <a:t>1</a:t>
                      </a:r>
                      <a:r>
                        <a:rPr lang="ko-KR" altLang="en-US" sz="1000" b="0" dirty="0">
                          <a:solidFill>
                            <a:srgbClr val="000000"/>
                          </a:solidFill>
                          <a:latin typeface="+mn-lt"/>
                        </a:rPr>
                        <a:t>건 기준</a:t>
                      </a:r>
                      <a:r>
                        <a:rPr lang="en-US" altLang="ko-KR" sz="1000" b="0" dirty="0">
                          <a:solidFill>
                            <a:srgbClr val="000000"/>
                          </a:solidFill>
                          <a:latin typeface="+mn-lt"/>
                        </a:rPr>
                        <a:t>) ]</a:t>
                      </a:r>
                      <a:endParaRPr lang="ko-KR" altLang="en-US" sz="1000" b="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sz="1000" dirty="0"/>
                        <a:t>M</a:t>
                      </a:r>
                    </a:p>
                  </a:txBody>
                  <a:tcPr anchor="ctr">
                    <a:solidFill>
                      <a:schemeClr val="bg1"/>
                    </a:solidFill>
                  </a:tcPr>
                </a:tc>
                <a:tc>
                  <a:txBody>
                    <a:bodyPr/>
                    <a:lstStyle/>
                    <a:p>
                      <a:r>
                        <a:rPr lang="en-US" altLang="ko-KR" sz="1000" dirty="0"/>
                        <a:t>7</a:t>
                      </a:r>
                      <a:endParaRPr lang="ko-KR" altLang="en-US" sz="1000" dirty="0"/>
                    </a:p>
                  </a:txBody>
                  <a:tcPr anchor="ctr">
                    <a:solidFill>
                      <a:schemeClr val="bg1"/>
                    </a:solidFill>
                  </a:tcPr>
                </a:tc>
                <a:extLst>
                  <a:ext uri="{0D108BD9-81ED-4DB2-BD59-A6C34878D82A}">
                    <a16:rowId xmlns:a16="http://schemas.microsoft.com/office/drawing/2014/main" val="2197771220"/>
                  </a:ext>
                </a:extLst>
              </a:tr>
            </a:tbl>
          </a:graphicData>
        </a:graphic>
      </p:graphicFrame>
      <p:sp>
        <p:nvSpPr>
          <p:cNvPr id="21" name="실행 단추: 앞으로 또는 다음 3">
            <a:hlinkClick r:id="rId4" action="ppaction://hlinksldjump" highlightClick="1"/>
            <a:extLst>
              <a:ext uri="{FF2B5EF4-FFF2-40B4-BE49-F238E27FC236}">
                <a16:creationId xmlns:a16="http://schemas.microsoft.com/office/drawing/2014/main" id="{D0D1EB79-0F10-4C29-8756-3FFD242915BE}"/>
              </a:ext>
            </a:extLst>
          </p:cNvPr>
          <p:cNvSpPr/>
          <p:nvPr/>
        </p:nvSpPr>
        <p:spPr>
          <a:xfrm>
            <a:off x="1631653" y="1193247"/>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실행 단추: 앞으로 또는 다음 1">
            <a:hlinkClick r:id="rId5" action="ppaction://hlinksldjump" highlightClick="1"/>
            <a:extLst>
              <a:ext uri="{FF2B5EF4-FFF2-40B4-BE49-F238E27FC236}">
                <a16:creationId xmlns:a16="http://schemas.microsoft.com/office/drawing/2014/main" id="{B43A4CC6-3683-436B-940F-BD679BB1A116}"/>
              </a:ext>
            </a:extLst>
          </p:cNvPr>
          <p:cNvSpPr/>
          <p:nvPr/>
        </p:nvSpPr>
        <p:spPr>
          <a:xfrm>
            <a:off x="511126" y="207032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실행 단추: 앞으로 또는 다음 1">
            <a:hlinkClick r:id="rId6" action="ppaction://hlinksldjump" highlightClick="1"/>
            <a:extLst>
              <a:ext uri="{FF2B5EF4-FFF2-40B4-BE49-F238E27FC236}">
                <a16:creationId xmlns:a16="http://schemas.microsoft.com/office/drawing/2014/main" id="{B43A4CC6-3683-436B-940F-BD679BB1A116}"/>
              </a:ext>
            </a:extLst>
          </p:cNvPr>
          <p:cNvSpPr/>
          <p:nvPr/>
        </p:nvSpPr>
        <p:spPr>
          <a:xfrm>
            <a:off x="511126" y="273337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실행 단추: 앞으로 또는 다음 1">
            <a:hlinkClick r:id="rId7" action="ppaction://hlinksldjump" highlightClick="1"/>
            <a:extLst>
              <a:ext uri="{FF2B5EF4-FFF2-40B4-BE49-F238E27FC236}">
                <a16:creationId xmlns:a16="http://schemas.microsoft.com/office/drawing/2014/main" id="{B43A4CC6-3683-436B-940F-BD679BB1A116}"/>
              </a:ext>
            </a:extLst>
          </p:cNvPr>
          <p:cNvSpPr/>
          <p:nvPr/>
        </p:nvSpPr>
        <p:spPr>
          <a:xfrm>
            <a:off x="511126" y="346802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실행 단추: 앞으로 또는 다음 1">
            <a:hlinkClick r:id="rId8" action="ppaction://hlinksldjump" highlightClick="1"/>
            <a:extLst>
              <a:ext uri="{FF2B5EF4-FFF2-40B4-BE49-F238E27FC236}">
                <a16:creationId xmlns:a16="http://schemas.microsoft.com/office/drawing/2014/main" id="{B43A4CC6-3683-436B-940F-BD679BB1A116}"/>
              </a:ext>
            </a:extLst>
          </p:cNvPr>
          <p:cNvSpPr/>
          <p:nvPr/>
        </p:nvSpPr>
        <p:spPr>
          <a:xfrm>
            <a:off x="507023" y="4161620"/>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실행 단추: 앞으로 또는 다음 1">
            <a:hlinkClick r:id="rId9" action="ppaction://hlinksldjump" highlightClick="1"/>
            <a:extLst>
              <a:ext uri="{FF2B5EF4-FFF2-40B4-BE49-F238E27FC236}">
                <a16:creationId xmlns:a16="http://schemas.microsoft.com/office/drawing/2014/main" id="{B43A4CC6-3683-436B-940F-BD679BB1A116}"/>
              </a:ext>
            </a:extLst>
          </p:cNvPr>
          <p:cNvSpPr/>
          <p:nvPr/>
        </p:nvSpPr>
        <p:spPr>
          <a:xfrm>
            <a:off x="507023" y="4794507"/>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실행 단추: 앞으로 또는 다음 1">
            <a:hlinkClick r:id="rId10" action="ppaction://hlinksldjump" highlightClick="1"/>
            <a:extLst>
              <a:ext uri="{FF2B5EF4-FFF2-40B4-BE49-F238E27FC236}">
                <a16:creationId xmlns:a16="http://schemas.microsoft.com/office/drawing/2014/main" id="{B43A4CC6-3683-436B-940F-BD679BB1A116}"/>
              </a:ext>
            </a:extLst>
          </p:cNvPr>
          <p:cNvSpPr/>
          <p:nvPr/>
        </p:nvSpPr>
        <p:spPr>
          <a:xfrm>
            <a:off x="9889001" y="1147586"/>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TextBox 1">
            <a:extLst>
              <a:ext uri="{FF2B5EF4-FFF2-40B4-BE49-F238E27FC236}">
                <a16:creationId xmlns:a16="http://schemas.microsoft.com/office/drawing/2014/main" id="{4D49E20A-DDC8-4511-8B0B-3AB91A5F2863}"/>
              </a:ext>
            </a:extLst>
          </p:cNvPr>
          <p:cNvSpPr txBox="1"/>
          <p:nvPr/>
        </p:nvSpPr>
        <p:spPr>
          <a:xfrm>
            <a:off x="8210550" y="1135612"/>
            <a:ext cx="1678451" cy="215444"/>
          </a:xfrm>
          <a:prstGeom prst="rect">
            <a:avLst/>
          </a:prstGeom>
          <a:noFill/>
        </p:spPr>
        <p:txBody>
          <a:bodyPr wrap="square" rtlCol="0">
            <a:spAutoFit/>
          </a:bodyPr>
          <a:lstStyle/>
          <a:p>
            <a:pPr algn="ctr"/>
            <a:r>
              <a:rPr lang="en-US" altLang="ko-KR" sz="800" b="1" dirty="0">
                <a:solidFill>
                  <a:schemeClr val="bg1"/>
                </a:solidFill>
              </a:rPr>
              <a:t>SLO(Service</a:t>
            </a:r>
            <a:r>
              <a:rPr lang="ko-KR" altLang="en-US" sz="800" b="1" dirty="0">
                <a:solidFill>
                  <a:schemeClr val="bg1"/>
                </a:solidFill>
              </a:rPr>
              <a:t> </a:t>
            </a:r>
            <a:r>
              <a:rPr lang="en-US" altLang="ko-KR" sz="800" b="1" dirty="0">
                <a:solidFill>
                  <a:schemeClr val="bg1"/>
                </a:solidFill>
              </a:rPr>
              <a:t>Objective</a:t>
            </a:r>
            <a:r>
              <a:rPr lang="ko-KR" altLang="en-US" sz="800" b="1" dirty="0">
                <a:solidFill>
                  <a:schemeClr val="bg1"/>
                </a:solidFill>
              </a:rPr>
              <a:t> </a:t>
            </a:r>
            <a:r>
              <a:rPr lang="en-US" altLang="ko-KR" sz="800" b="1" dirty="0">
                <a:solidFill>
                  <a:schemeClr val="bg1"/>
                </a:solidFill>
              </a:rPr>
              <a:t>Object)</a:t>
            </a:r>
            <a:endParaRPr lang="ko-KR" altLang="en-US" sz="800" b="1" dirty="0">
              <a:solidFill>
                <a:schemeClr val="bg1"/>
              </a:solidFill>
            </a:endParaRPr>
          </a:p>
        </p:txBody>
      </p:sp>
    </p:spTree>
    <p:extLst>
      <p:ext uri="{BB962C8B-B14F-4D97-AF65-F5344CB8AC3E}">
        <p14:creationId xmlns:p14="http://schemas.microsoft.com/office/powerpoint/2010/main" val="3870391825"/>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중요도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난이도</a:t>
            </a:r>
            <a:r>
              <a:rPr lang="en-US" altLang="ko-KR" sz="1600" dirty="0">
                <a:solidFill>
                  <a:prstClr val="black"/>
                </a:solidFill>
                <a:latin typeface="맑은 고딕" panose="020F0502020204030204"/>
                <a:ea typeface="맑은 고딕" panose="020B0503020000020004" pitchFamily="50" charset="-127"/>
              </a:rPr>
              <a:t> M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extLst>
              <p:ext uri="{D42A27DB-BD31-4B8C-83A1-F6EECF244321}">
                <p14:modId xmlns:p14="http://schemas.microsoft.com/office/powerpoint/2010/main" val="2936809860"/>
              </p:ext>
            </p:extLst>
          </p:nvPr>
        </p:nvGraphicFramePr>
        <p:xfrm>
          <a:off x="278859" y="996757"/>
          <a:ext cx="11709382" cy="5305944"/>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529669">
                  <a:extLst>
                    <a:ext uri="{9D8B030D-6E8A-4147-A177-3AD203B41FA5}">
                      <a16:colId xmlns:a16="http://schemas.microsoft.com/office/drawing/2014/main" val="714743119"/>
                    </a:ext>
                  </a:extLst>
                </a:gridCol>
                <a:gridCol w="6693689">
                  <a:extLst>
                    <a:ext uri="{9D8B030D-6E8A-4147-A177-3AD203B41FA5}">
                      <a16:colId xmlns:a16="http://schemas.microsoft.com/office/drawing/2014/main" val="713779841"/>
                    </a:ext>
                  </a:extLst>
                </a:gridCol>
                <a:gridCol w="632460">
                  <a:extLst>
                    <a:ext uri="{9D8B030D-6E8A-4147-A177-3AD203B41FA5}">
                      <a16:colId xmlns:a16="http://schemas.microsoft.com/office/drawing/2014/main" val="4072428474"/>
                    </a:ext>
                  </a:extLst>
                </a:gridCol>
                <a:gridCol w="632460">
                  <a:extLst>
                    <a:ext uri="{9D8B030D-6E8A-4147-A177-3AD203B41FA5}">
                      <a16:colId xmlns:a16="http://schemas.microsoft.com/office/drawing/2014/main" val="2666804482"/>
                    </a:ext>
                  </a:extLst>
                </a:gridCol>
                <a:gridCol w="558241">
                  <a:extLst>
                    <a:ext uri="{9D8B030D-6E8A-4147-A177-3AD203B41FA5}">
                      <a16:colId xmlns:a16="http://schemas.microsoft.com/office/drawing/2014/main" val="2282568718"/>
                    </a:ext>
                  </a:extLst>
                </a:gridCol>
              </a:tblGrid>
              <a:tr h="566114">
                <a:tc>
                  <a:txBody>
                    <a:bodyPr/>
                    <a:lstStyle/>
                    <a:p>
                      <a:pPr algn="ctr"/>
                      <a:r>
                        <a:rPr lang="ko-KR" altLang="en-US" sz="1050" b="1" dirty="0">
                          <a:solidFill>
                            <a:schemeClr val="bg1"/>
                          </a:solidFill>
                        </a:rPr>
                        <a:t>번호</a:t>
                      </a:r>
                    </a:p>
                  </a:txBody>
                  <a:tcPr anchor="ctr">
                    <a:solidFill>
                      <a:srgbClr val="3B3B3B"/>
                    </a:solidFill>
                  </a:tcPr>
                </a:tc>
                <a:tc>
                  <a:txBody>
                    <a:bodyPr/>
                    <a:lstStyle/>
                    <a:p>
                      <a:pPr algn="ctr"/>
                      <a:r>
                        <a:rPr lang="en-US" sz="1050" b="1" dirty="0">
                          <a:solidFill>
                            <a:schemeClr val="bg1"/>
                          </a:solidFill>
                        </a:rPr>
                        <a:t>QA</a:t>
                      </a:r>
                    </a:p>
                  </a:txBody>
                  <a:tcPr anchor="ctr">
                    <a:solidFill>
                      <a:srgbClr val="3B3B3B"/>
                    </a:solidFill>
                  </a:tcPr>
                </a:tc>
                <a:tc>
                  <a:txBody>
                    <a:bodyPr/>
                    <a:lstStyle/>
                    <a:p>
                      <a:pPr algn="ctr"/>
                      <a:r>
                        <a:rPr lang="en-US" sz="1050" b="1" dirty="0">
                          <a:solidFill>
                            <a:schemeClr val="bg1"/>
                          </a:solidFill>
                        </a:rPr>
                        <a:t>Refinement</a:t>
                      </a:r>
                    </a:p>
                  </a:txBody>
                  <a:tcPr anchor="ctr">
                    <a:solidFill>
                      <a:srgbClr val="3B3B3B"/>
                    </a:solidFill>
                  </a:tcPr>
                </a:tc>
                <a:tc>
                  <a:txBody>
                    <a:bodyPr/>
                    <a:lstStyle/>
                    <a:p>
                      <a:pPr algn="ctr"/>
                      <a:r>
                        <a:rPr lang="en-US" sz="1050" b="1" dirty="0">
                          <a:solidFill>
                            <a:schemeClr val="bg1"/>
                          </a:solidFill>
                        </a:rPr>
                        <a:t>Scenario</a:t>
                      </a:r>
                    </a:p>
                  </a:txBody>
                  <a:tcPr anchor="ctr">
                    <a:solidFill>
                      <a:srgbClr val="3B3B3B"/>
                    </a:solidFill>
                  </a:tcPr>
                </a:tc>
                <a:tc>
                  <a:txBody>
                    <a:bodyPr/>
                    <a:lstStyle/>
                    <a:p>
                      <a:pPr algn="ctr"/>
                      <a:r>
                        <a:rPr lang="ko-KR" altLang="en-US" sz="1050" b="1">
                          <a:solidFill>
                            <a:schemeClr val="bg1"/>
                          </a:solidFill>
                        </a:rPr>
                        <a:t>중요도</a:t>
                      </a:r>
                    </a:p>
                  </a:txBody>
                  <a:tcPr anchor="ctr">
                    <a:solidFill>
                      <a:srgbClr val="3B3B3B"/>
                    </a:solidFill>
                  </a:tcPr>
                </a:tc>
                <a:tc>
                  <a:txBody>
                    <a:bodyPr/>
                    <a:lstStyle/>
                    <a:p>
                      <a:pPr algn="ctr"/>
                      <a:r>
                        <a:rPr lang="ko-KR" altLang="en-US" sz="1050" b="1" dirty="0">
                          <a:solidFill>
                            <a:schemeClr val="bg1"/>
                          </a:solidFill>
                        </a:rPr>
                        <a:t>난이도</a:t>
                      </a:r>
                    </a:p>
                  </a:txBody>
                  <a:tcPr anchor="ctr">
                    <a:solidFill>
                      <a:srgbClr val="3B3B3B"/>
                    </a:solidFill>
                  </a:tcPr>
                </a:tc>
                <a:tc>
                  <a:txBody>
                    <a:bodyPr/>
                    <a:lstStyle/>
                    <a:p>
                      <a:pPr algn="ctr"/>
                      <a:r>
                        <a:rPr lang="ko-KR" altLang="en-US" sz="105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786339">
                <a:tc>
                  <a:txBody>
                    <a:bodyPr/>
                    <a:lstStyle/>
                    <a:p>
                      <a:r>
                        <a:rPr lang="en-US" sz="1000" dirty="0"/>
                        <a:t>QA-01</a:t>
                      </a:r>
                    </a:p>
                  </a:txBody>
                  <a:tcPr anchor="ctr">
                    <a:solidFill>
                      <a:schemeClr val="accent4">
                        <a:lumMod val="20000"/>
                        <a:lumOff val="80000"/>
                      </a:schemeClr>
                    </a:solidFill>
                  </a:tcPr>
                </a:tc>
                <a:tc>
                  <a:txBody>
                    <a:bodyPr/>
                    <a:lstStyle/>
                    <a:p>
                      <a:r>
                        <a:rPr lang="en-US" sz="10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dirty="0"/>
                        <a:t>(Throughput)</a:t>
                      </a:r>
                    </a:p>
                  </a:txBody>
                  <a:tcPr anchor="ctr">
                    <a:solidFill>
                      <a:schemeClr val="accent4">
                        <a:lumMod val="20000"/>
                        <a:lumOff val="80000"/>
                      </a:schemeClr>
                    </a:solidFill>
                  </a:tcPr>
                </a:tc>
                <a:tc>
                  <a:txBody>
                    <a:bodyPr/>
                    <a:lstStyle/>
                    <a:p>
                      <a:r>
                        <a:rPr lang="ko-KR" altLang="en-US" sz="1000" dirty="0"/>
                        <a:t>서비스 수준 목표</a:t>
                      </a:r>
                      <a:r>
                        <a:rPr lang="en-US" altLang="ko-KR" sz="1000" dirty="0"/>
                        <a:t>(SLO)</a:t>
                      </a:r>
                      <a:r>
                        <a:rPr lang="ko-KR" altLang="en-US" sz="1000" dirty="0"/>
                        <a:t>를 만족하는 요청 처리량</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다수의 </a:t>
                      </a:r>
                      <a:r>
                        <a:rPr lang="en-US" altLang="ko-KR" sz="1000" dirty="0"/>
                        <a:t>agent </a:t>
                      </a:r>
                      <a:r>
                        <a:rPr lang="ko-KR" altLang="en-US" sz="1000" dirty="0"/>
                        <a:t>세션이 동시에 요청하는 상황에서</a:t>
                      </a:r>
                      <a:r>
                        <a:rPr lang="en-US" altLang="ko-KR" sz="1000" dirty="0"/>
                        <a:t>, </a:t>
                      </a:r>
                      <a:r>
                        <a:rPr lang="ko-KR" altLang="en-US" sz="1000" dirty="0"/>
                        <a:t>지정한 </a:t>
                      </a:r>
                      <a:r>
                        <a:rPr lang="en-US" altLang="ko-KR" sz="1000" dirty="0"/>
                        <a:t>SLO*</a:t>
                      </a:r>
                      <a:r>
                        <a:rPr lang="ko-KR" altLang="en-US" sz="1000" dirty="0"/>
                        <a:t>를 만족하며</a:t>
                      </a:r>
                      <a:r>
                        <a:rPr lang="en-US" altLang="ko-KR" sz="1000" dirty="0"/>
                        <a:t>, </a:t>
                      </a:r>
                      <a:r>
                        <a:rPr lang="ko-KR" altLang="en-US" sz="1000" dirty="0"/>
                        <a:t>처리할 수 있는 최대 </a:t>
                      </a:r>
                      <a:r>
                        <a:rPr lang="ko-KR" altLang="en-US" sz="1000" dirty="0" err="1"/>
                        <a:t>요청량이</a:t>
                      </a:r>
                      <a:r>
                        <a:rPr lang="ko-KR" altLang="en-US" sz="1000" dirty="0"/>
                        <a:t> 기존 시스템</a:t>
                      </a:r>
                      <a:r>
                        <a:rPr lang="en-US" altLang="ko-KR" sz="1000" dirty="0"/>
                        <a:t>(Baseline)</a:t>
                      </a:r>
                      <a:r>
                        <a:rPr lang="ko-KR" altLang="en-US" sz="1000" dirty="0"/>
                        <a:t>보다 커야 한다</a:t>
                      </a:r>
                      <a:r>
                        <a:rPr lang="en-US" altLang="ko-KR" sz="1000" dirty="0"/>
                        <a:t>. (*SLO: Service Level</a:t>
                      </a:r>
                      <a:r>
                        <a:rPr lang="ko-KR" altLang="en-US" sz="1000" dirty="0"/>
                        <a:t> </a:t>
                      </a:r>
                      <a:r>
                        <a:rPr lang="en-US" altLang="ko-KR" sz="1000" dirty="0"/>
                        <a:t>Objective)</a:t>
                      </a:r>
                      <a:br>
                        <a:rPr lang="en-US" altLang="ko-KR" sz="1000" dirty="0"/>
                      </a:br>
                      <a:r>
                        <a:rPr lang="en-US" altLang="ko-KR" sz="1000" b="1" dirty="0"/>
                        <a:t>[</a:t>
                      </a:r>
                      <a:r>
                        <a:rPr lang="ko-KR" altLang="en-US" sz="1000" b="1" dirty="0"/>
                        <a:t>측정</a:t>
                      </a:r>
                      <a:r>
                        <a:rPr lang="en-US" altLang="ko-KR" sz="1000" b="1" dirty="0"/>
                        <a:t>: SLO </a:t>
                      </a:r>
                      <a:r>
                        <a:rPr lang="ko-KR" altLang="en-US" sz="1000" b="1" dirty="0"/>
                        <a:t>만족 최대 처리량 </a:t>
                      </a:r>
                      <a:r>
                        <a:rPr lang="en-US" altLang="ko-KR" sz="1000" b="1" dirty="0"/>
                        <a:t>≥ Baseline </a:t>
                      </a:r>
                      <a:r>
                        <a:rPr lang="ko-KR" altLang="en-US" sz="1000" b="1" dirty="0"/>
                        <a:t>대비 증가율 </a:t>
                      </a:r>
                      <a:r>
                        <a:rPr lang="en-US" altLang="ko-KR" sz="1000" b="1" dirty="0"/>
                        <a:t>2x(Stakeholder </a:t>
                      </a:r>
                      <a:r>
                        <a:rPr lang="ko-KR" altLang="en-US" sz="1000" b="1" dirty="0"/>
                        <a:t>요구사항 및 단순 </a:t>
                      </a:r>
                      <a:r>
                        <a:rPr lang="en-US" altLang="ko-KR" sz="1000" b="1" dirty="0"/>
                        <a:t>offloading </a:t>
                      </a:r>
                      <a:r>
                        <a:rPr lang="ko-KR" altLang="en-US" sz="1000" b="1" dirty="0"/>
                        <a:t>기술의 하한</a:t>
                      </a:r>
                      <a:r>
                        <a:rPr lang="en-US" altLang="ko-KR" sz="1000" b="1" dirty="0"/>
                        <a:t>) ]</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H</a:t>
                      </a:r>
                      <a:endParaRPr lang="en-US" sz="1000" dirty="0"/>
                    </a:p>
                  </a:txBody>
                  <a:tcPr anchor="ctr">
                    <a:solidFill>
                      <a:schemeClr val="accent4">
                        <a:lumMod val="20000"/>
                        <a:lumOff val="80000"/>
                      </a:schemeClr>
                    </a:solidFill>
                  </a:tcPr>
                </a:tc>
                <a:tc>
                  <a:txBody>
                    <a:bodyPr/>
                    <a:lstStyle/>
                    <a:p>
                      <a:r>
                        <a:rPr lang="en-US" altLang="ko-KR" sz="1000" dirty="0"/>
                        <a:t>1</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626053">
                <a:tc>
                  <a:txBody>
                    <a:bodyPr/>
                    <a:lstStyle/>
                    <a:p>
                      <a:r>
                        <a:rPr lang="en-US" sz="1000" dirty="0"/>
                        <a:t>QA-02</a:t>
                      </a:r>
                    </a:p>
                  </a:txBody>
                  <a:tcPr anchor="ctr">
                    <a:solidFill>
                      <a:schemeClr val="accent4">
                        <a:lumMod val="20000"/>
                        <a:lumOff val="80000"/>
                      </a:schemeClr>
                    </a:solidFill>
                  </a:tcPr>
                </a:tc>
                <a:tc>
                  <a:txBody>
                    <a:bodyPr/>
                    <a:lstStyle/>
                    <a:p>
                      <a:r>
                        <a:rPr lang="en-US" sz="1000" dirty="0"/>
                        <a:t>Resource</a:t>
                      </a:r>
                      <a:r>
                        <a:rPr lang="en-US" sz="1000" baseline="0" dirty="0"/>
                        <a:t> </a:t>
                      </a:r>
                    </a:p>
                    <a:p>
                      <a:r>
                        <a:rPr lang="en-US" sz="1000" dirty="0"/>
                        <a:t>Utilization</a:t>
                      </a:r>
                    </a:p>
                  </a:txBody>
                  <a:tcPr anchor="ctr">
                    <a:solidFill>
                      <a:schemeClr val="accent4">
                        <a:lumMod val="20000"/>
                        <a:lumOff val="80000"/>
                      </a:schemeClr>
                    </a:solidFill>
                  </a:tcPr>
                </a:tc>
                <a:tc>
                  <a:txBody>
                    <a:bodyPr/>
                    <a:lstStyle/>
                    <a:p>
                      <a:r>
                        <a:rPr lang="en-US" sz="1000" dirty="0"/>
                        <a:t>HBM </a:t>
                      </a:r>
                      <a:r>
                        <a:rPr lang="ko-KR" altLang="en-US" sz="1000" dirty="0"/>
                        <a:t>사용량</a:t>
                      </a:r>
                    </a:p>
                  </a:txBody>
                  <a:tcPr anchor="ctr">
                    <a:solidFill>
                      <a:schemeClr val="accent4">
                        <a:lumMod val="20000"/>
                        <a:lumOff val="80000"/>
                      </a:schemeClr>
                    </a:solidFill>
                  </a:tcPr>
                </a:tc>
                <a:tc>
                  <a:txBody>
                    <a:bodyPr/>
                    <a:lstStyle/>
                    <a:p>
                      <a:pPr>
                        <a:lnSpc>
                          <a:spcPct val="125000"/>
                        </a:lnSpc>
                      </a:pPr>
                      <a:r>
                        <a:rPr lang="ko-KR" altLang="en-US" sz="1000" dirty="0"/>
                        <a:t>동일한 성능 조건에서 </a:t>
                      </a:r>
                      <a:r>
                        <a:rPr lang="en-US" altLang="ko-KR" sz="1000" dirty="0"/>
                        <a:t>HBM </a:t>
                      </a:r>
                      <a:r>
                        <a:rPr lang="ko-KR" altLang="en-US" sz="1000" dirty="0"/>
                        <a:t>점유율이 </a:t>
                      </a:r>
                      <a:r>
                        <a:rPr lang="en-US" altLang="ko-KR" sz="1000" dirty="0"/>
                        <a:t>Baseline</a:t>
                      </a:r>
                      <a:r>
                        <a:rPr lang="ko-KR" altLang="en-US" sz="1000" dirty="0"/>
                        <a:t>보다 낮아야 한다</a:t>
                      </a:r>
                      <a:r>
                        <a:rPr lang="en-US" altLang="ko-KR" sz="1000" dirty="0"/>
                        <a:t>.</a:t>
                      </a:r>
                      <a:br>
                        <a:rPr lang="en-US" altLang="ko-KR" sz="1000" dirty="0"/>
                      </a:br>
                      <a:r>
                        <a:rPr lang="en-US" altLang="ko-KR" sz="1000" b="1" dirty="0"/>
                        <a:t>[</a:t>
                      </a:r>
                      <a:r>
                        <a:rPr lang="ko-KR" altLang="en-US" sz="1000" b="1" dirty="0"/>
                        <a:t>측정</a:t>
                      </a:r>
                      <a:r>
                        <a:rPr lang="en-US" altLang="ko-KR" sz="1000" b="1" dirty="0"/>
                        <a:t>: HBM </a:t>
                      </a:r>
                      <a:r>
                        <a:rPr lang="ko-KR" altLang="en-US" sz="1000" b="1" dirty="0"/>
                        <a:t>사용량 </a:t>
                      </a:r>
                      <a:r>
                        <a:rPr lang="en-US" altLang="ko-KR" sz="1000" b="1" dirty="0"/>
                        <a:t>&gt; Baseline </a:t>
                      </a:r>
                      <a:r>
                        <a:rPr lang="ko-KR" altLang="en-US" sz="1000" b="1" dirty="0"/>
                        <a:t>대비 감소율 </a:t>
                      </a:r>
                      <a:r>
                        <a:rPr lang="en-US" altLang="ko-KR" sz="1000" b="1" dirty="0"/>
                        <a:t>20% (Stakeholder</a:t>
                      </a:r>
                      <a:r>
                        <a:rPr lang="ko-KR" altLang="en-US" sz="1000" b="1" dirty="0"/>
                        <a:t> 요구사항</a:t>
                      </a:r>
                      <a:r>
                        <a:rPr lang="en-US" altLang="ko-KR" sz="1000" b="1" dirty="0"/>
                        <a:t>)] ]</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2</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105785534"/>
                  </a:ext>
                </a:extLst>
              </a:tr>
              <a:tr h="786339">
                <a:tc>
                  <a:txBody>
                    <a:bodyPr/>
                    <a:lstStyle/>
                    <a:p>
                      <a:r>
                        <a:rPr lang="en-US" sz="1000" dirty="0"/>
                        <a:t>QA-03</a:t>
                      </a:r>
                    </a:p>
                  </a:txBody>
                  <a:tcPr anchor="ctr">
                    <a:solidFill>
                      <a:schemeClr val="accent4">
                        <a:lumMod val="20000"/>
                        <a:lumOff val="80000"/>
                      </a:schemeClr>
                    </a:solidFill>
                  </a:tcPr>
                </a:tc>
                <a:tc>
                  <a:txBody>
                    <a:bodyPr/>
                    <a:lstStyle/>
                    <a:p>
                      <a:r>
                        <a:rPr lang="en-US" sz="1000" dirty="0"/>
                        <a:t>Performance</a:t>
                      </a:r>
                    </a:p>
                    <a:p>
                      <a:r>
                        <a:rPr lang="en-US" sz="1000" dirty="0"/>
                        <a:t>(Tail</a:t>
                      </a:r>
                      <a:r>
                        <a:rPr lang="ko-KR" altLang="en-US" sz="1000" dirty="0"/>
                        <a:t> </a:t>
                      </a:r>
                      <a:r>
                        <a:rPr lang="en-US" altLang="ko-KR" sz="1000" dirty="0"/>
                        <a:t>Latency)</a:t>
                      </a:r>
                      <a:endParaRPr lang="en-US" sz="1000" dirty="0"/>
                    </a:p>
                  </a:txBody>
                  <a:tcPr anchor="ctr">
                    <a:solidFill>
                      <a:schemeClr val="accent4">
                        <a:lumMod val="20000"/>
                        <a:lumOff val="80000"/>
                      </a:schemeClr>
                    </a:solidFill>
                  </a:tcPr>
                </a:tc>
                <a:tc>
                  <a:txBody>
                    <a:bodyPr/>
                    <a:lstStyle/>
                    <a:p>
                      <a:r>
                        <a:rPr lang="ko-KR" altLang="en-US" sz="1000" dirty="0"/>
                        <a:t>고부하 지연시간 </a:t>
                      </a:r>
                      <a:r>
                        <a:rPr lang="en-US" altLang="ko-KR" sz="1000" dirty="0"/>
                        <a:t>(P99)</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b="0" baseline="0" dirty="0"/>
                        <a:t>고부하 환경에서 최악 응답 지연</a:t>
                      </a:r>
                      <a:r>
                        <a:rPr lang="en-US" altLang="ko-KR" sz="1000" b="0" baseline="0" dirty="0"/>
                        <a:t>(Tail Latency)</a:t>
                      </a:r>
                      <a:r>
                        <a:rPr lang="ko-KR" altLang="en-US" sz="1000" b="0" baseline="0" dirty="0"/>
                        <a:t>을 </a:t>
                      </a:r>
                      <a:r>
                        <a:rPr lang="en-US" altLang="ko-KR" sz="1000" b="0" baseline="0" dirty="0"/>
                        <a:t>baseline </a:t>
                      </a:r>
                      <a:r>
                        <a:rPr lang="ko-KR" altLang="en-US" sz="1000" b="0" baseline="0" dirty="0"/>
                        <a:t>대비 개선해야 한다</a:t>
                      </a:r>
                      <a:r>
                        <a:rPr lang="en-US" altLang="ko-KR" sz="1000" b="0" baseline="0" dirty="0"/>
                        <a:t>. </a:t>
                      </a: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b="1" dirty="0"/>
                        <a:t>[</a:t>
                      </a:r>
                      <a:r>
                        <a:rPr lang="ko-KR" altLang="en-US" sz="1000" b="1" dirty="0"/>
                        <a:t>측정</a:t>
                      </a:r>
                      <a:r>
                        <a:rPr lang="en-US" altLang="ko-KR" sz="1000" b="1" dirty="0"/>
                        <a:t>: Max (TTFT, TPOT(P99) </a:t>
                      </a:r>
                      <a:r>
                        <a:rPr lang="ko-KR" altLang="en-US" sz="1000" b="1" dirty="0"/>
                        <a:t>감소율</a:t>
                      </a:r>
                      <a:r>
                        <a:rPr lang="en-US" altLang="ko-KR" sz="1000" b="1" dirty="0"/>
                        <a:t>) ≥ Baseline </a:t>
                      </a:r>
                      <a:r>
                        <a:rPr lang="ko-KR" altLang="en-US" sz="1000" b="1" dirty="0"/>
                        <a:t>대비 </a:t>
                      </a:r>
                      <a:r>
                        <a:rPr lang="en-US" altLang="ko-KR" sz="1000" b="1" dirty="0"/>
                        <a:t>30% (</a:t>
                      </a:r>
                      <a:r>
                        <a:rPr lang="ko-KR" altLang="en-US" sz="1000" b="1" dirty="0"/>
                        <a:t>사용자 체감 성능 개선 기준</a:t>
                      </a:r>
                      <a:r>
                        <a:rPr lang="en-US" altLang="ko-KR" sz="1000" b="1" dirty="0"/>
                        <a:t>) (</a:t>
                      </a:r>
                      <a:r>
                        <a:rPr lang="ko-KR" altLang="en-US" sz="1000" b="1" dirty="0"/>
                        <a:t>단</a:t>
                      </a:r>
                      <a:r>
                        <a:rPr lang="en-US" altLang="ko-KR" sz="1000" b="1" dirty="0"/>
                        <a:t>, SLO </a:t>
                      </a:r>
                      <a:r>
                        <a:rPr lang="ko-KR" altLang="en-US" sz="1000" b="1" dirty="0"/>
                        <a:t>만족</a:t>
                      </a:r>
                      <a:r>
                        <a:rPr lang="en-US" altLang="ko-KR" sz="1000" b="1" dirty="0"/>
                        <a:t>)] </a:t>
                      </a:r>
                    </a:p>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1000" dirty="0"/>
                        <a:t>(*TTFT: Time To First Token, **TPOT: Time Per Output Token)</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altLang="ko-KR" sz="1000" dirty="0"/>
                        <a:t>3</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2212802997"/>
                  </a:ext>
                </a:extLst>
              </a:tr>
              <a:tr h="626053">
                <a:tc>
                  <a:txBody>
                    <a:bodyPr/>
                    <a:lstStyle/>
                    <a:p>
                      <a:r>
                        <a:rPr lang="en-US" sz="1000" dirty="0"/>
                        <a:t>QA-04</a:t>
                      </a:r>
                    </a:p>
                  </a:txBody>
                  <a:tcPr anchor="ctr">
                    <a:solidFill>
                      <a:schemeClr val="accent4">
                        <a:lumMod val="20000"/>
                        <a:lumOff val="80000"/>
                      </a:schemeClr>
                    </a:solidFill>
                  </a:tcPr>
                </a:tc>
                <a:tc>
                  <a:txBody>
                    <a:bodyPr/>
                    <a:lstStyle/>
                    <a:p>
                      <a:r>
                        <a:rPr lang="en-US" sz="1000" dirty="0"/>
                        <a:t>Scalability</a:t>
                      </a:r>
                    </a:p>
                  </a:txBody>
                  <a:tcPr anchor="ctr">
                    <a:solidFill>
                      <a:schemeClr val="accent4">
                        <a:lumMod val="20000"/>
                        <a:lumOff val="80000"/>
                      </a:schemeClr>
                    </a:solidFill>
                  </a:tcPr>
                </a:tc>
                <a:tc>
                  <a:txBody>
                    <a:bodyPr/>
                    <a:lstStyle/>
                    <a:p>
                      <a:r>
                        <a:rPr lang="ko-KR" altLang="en-US" sz="1000" dirty="0"/>
                        <a:t>시스템 확장성</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ko-KR" altLang="en-US" sz="1000" dirty="0"/>
                        <a:t>늘어난 자원에 비례해 성능이 증가해야 한다 </a:t>
                      </a:r>
                      <a:endParaRPr lang="en-US" altLang="ko-KR" sz="1000" dirty="0"/>
                    </a:p>
                    <a:p>
                      <a:pPr>
                        <a:lnSpc>
                          <a:spcPct val="125000"/>
                        </a:lnSpc>
                      </a:pPr>
                      <a:r>
                        <a:rPr lang="en-US" altLang="ko-KR" sz="1000" b="1" dirty="0"/>
                        <a:t>[</a:t>
                      </a:r>
                      <a:r>
                        <a:rPr lang="ko-KR" altLang="en-US" sz="1000" b="1" dirty="0"/>
                        <a:t>측정</a:t>
                      </a:r>
                      <a:r>
                        <a:rPr lang="en-US" altLang="ko-KR" sz="1000" b="1" dirty="0"/>
                        <a:t>: Scaling Efficiency &gt; 80% (</a:t>
                      </a:r>
                      <a:r>
                        <a:rPr lang="ko-KR" altLang="en-US" sz="1000" b="1" dirty="0"/>
                        <a:t>문헌 보고 값</a:t>
                      </a:r>
                      <a:r>
                        <a:rPr lang="en-US" altLang="ko-KR" sz="1000" b="1" dirty="0"/>
                        <a:t>) ]</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M</a:t>
                      </a:r>
                    </a:p>
                  </a:txBody>
                  <a:tcPr anchor="ctr">
                    <a:solidFill>
                      <a:schemeClr val="accent4">
                        <a:lumMod val="20000"/>
                        <a:lumOff val="80000"/>
                      </a:schemeClr>
                    </a:solidFill>
                  </a:tcPr>
                </a:tc>
                <a:tc>
                  <a:txBody>
                    <a:bodyPr/>
                    <a:lstStyle/>
                    <a:p>
                      <a:r>
                        <a:rPr lang="en-US" altLang="ko-KR" sz="1000" dirty="0"/>
                        <a:t>4</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1522200776"/>
                  </a:ext>
                </a:extLst>
              </a:tr>
              <a:tr h="626053">
                <a:tc>
                  <a:txBody>
                    <a:bodyPr/>
                    <a:lstStyle/>
                    <a:p>
                      <a:r>
                        <a:rPr lang="en-US" sz="1000" dirty="0"/>
                        <a:t>QA-05</a:t>
                      </a:r>
                    </a:p>
                  </a:txBody>
                  <a:tcPr anchor="ctr">
                    <a:solidFill>
                      <a:schemeClr val="accent4">
                        <a:lumMod val="20000"/>
                        <a:lumOff val="80000"/>
                      </a:schemeClr>
                    </a:solidFill>
                  </a:tcPr>
                </a:tc>
                <a:tc>
                  <a:txBody>
                    <a:bodyPr/>
                    <a:lstStyle/>
                    <a:p>
                      <a:r>
                        <a:rPr lang="en-US" sz="1000" dirty="0"/>
                        <a:t>Modifiability</a:t>
                      </a:r>
                    </a:p>
                  </a:txBody>
                  <a:tcPr anchor="ctr">
                    <a:solidFill>
                      <a:schemeClr val="accent4">
                        <a:lumMod val="20000"/>
                        <a:lumOff val="80000"/>
                      </a:schemeClr>
                    </a:solidFill>
                  </a:tcPr>
                </a:tc>
                <a:tc>
                  <a:txBody>
                    <a:bodyPr/>
                    <a:lstStyle/>
                    <a:p>
                      <a:r>
                        <a:rPr lang="en-US" altLang="ko-KR" sz="1000" dirty="0"/>
                        <a:t>Device/</a:t>
                      </a:r>
                      <a:r>
                        <a:rPr lang="ko-KR" altLang="en-US" sz="1000" dirty="0"/>
                        <a:t>정책에 대한 변경 용이성</a:t>
                      </a:r>
                    </a:p>
                  </a:txBody>
                  <a:tcPr anchor="ctr">
                    <a:solidFill>
                      <a:schemeClr val="accent4">
                        <a:lumMod val="20000"/>
                        <a:lumOff val="80000"/>
                      </a:schemeClr>
                    </a:solidFill>
                  </a:tcPr>
                </a:tc>
                <a:tc>
                  <a:txBody>
                    <a:bodyPr/>
                    <a:lstStyle/>
                    <a:p>
                      <a:pPr>
                        <a:lnSpc>
                          <a:spcPct val="125000"/>
                        </a:lnSpc>
                      </a:pPr>
                      <a:r>
                        <a:rPr lang="ko-KR" altLang="en-US" sz="1000" dirty="0"/>
                        <a:t>새로운 메모리 </a:t>
                      </a:r>
                      <a:r>
                        <a:rPr lang="en-US" altLang="ko-KR" sz="1000" dirty="0"/>
                        <a:t>tier, </a:t>
                      </a:r>
                      <a:r>
                        <a:rPr lang="ko-KR" altLang="en-US" sz="1000" dirty="0"/>
                        <a:t>이동</a:t>
                      </a:r>
                      <a:r>
                        <a:rPr lang="en-US" altLang="ko-KR" sz="1000" dirty="0"/>
                        <a:t>·</a:t>
                      </a:r>
                      <a:r>
                        <a:rPr lang="ko-KR" altLang="en-US" sz="1000" dirty="0"/>
                        <a:t>배치 정책</a:t>
                      </a:r>
                      <a:r>
                        <a:rPr lang="en-US" altLang="ko-KR" sz="1000" dirty="0"/>
                        <a:t>, Upstream(</a:t>
                      </a:r>
                      <a:r>
                        <a:rPr lang="en-US" altLang="ko-KR" sz="1000" dirty="0" err="1"/>
                        <a:t>vLLM</a:t>
                      </a:r>
                      <a:r>
                        <a:rPr lang="en-US" altLang="ko-KR" sz="1000" dirty="0"/>
                        <a:t>)</a:t>
                      </a:r>
                      <a:r>
                        <a:rPr lang="ko-KR" altLang="en-US" sz="1000" dirty="0"/>
                        <a:t>이 변경될 </a:t>
                      </a:r>
                      <a:r>
                        <a:rPr lang="ko-KR" altLang="en-US" sz="1000" dirty="0" err="1"/>
                        <a:t>떄</a:t>
                      </a:r>
                      <a:r>
                        <a:rPr lang="ko-KR" altLang="en-US" sz="1000" dirty="0"/>
                        <a:t> 서빙 경로를 수정하지 않고 반영할 수 있어야 한다</a:t>
                      </a:r>
                      <a:r>
                        <a:rPr lang="en-US" altLang="ko-KR" sz="1000" dirty="0"/>
                        <a:t>.</a:t>
                      </a:r>
                      <a:br>
                        <a:rPr lang="en-US" altLang="ko-KR" sz="1000" dirty="0"/>
                      </a:br>
                      <a:r>
                        <a:rPr lang="en-US" altLang="ko-KR" sz="1000" b="1" dirty="0"/>
                        <a:t>[</a:t>
                      </a:r>
                      <a:r>
                        <a:rPr lang="ko-KR" altLang="en-US" sz="1000" b="1" dirty="0"/>
                        <a:t>측정</a:t>
                      </a:r>
                      <a:r>
                        <a:rPr lang="en-US" altLang="ko-KR" sz="1000" b="1" dirty="0"/>
                        <a:t>: </a:t>
                      </a:r>
                      <a:r>
                        <a:rPr lang="ko-KR" altLang="en-US" sz="1000" b="1" dirty="0"/>
                        <a:t>변경 모듈 </a:t>
                      </a:r>
                      <a:r>
                        <a:rPr lang="en-US" altLang="ko-KR" sz="1000" b="1" dirty="0"/>
                        <a:t>&lt; 5 </a:t>
                      </a:r>
                      <a:r>
                        <a:rPr lang="ko-KR" altLang="en-US" sz="1000" b="1" dirty="0"/>
                        <a:t>개 </a:t>
                      </a:r>
                      <a:r>
                        <a:rPr lang="en-US" altLang="ko-KR" sz="1000" b="1" dirty="0"/>
                        <a:t>]</a:t>
                      </a:r>
                      <a:endParaRPr lang="ko-KR" altLang="en-US" sz="1000" dirty="0"/>
                    </a:p>
                  </a:txBody>
                  <a:tcPr anchor="ctr">
                    <a:solidFill>
                      <a:schemeClr val="accent4">
                        <a:lumMod val="20000"/>
                        <a:lumOff val="80000"/>
                      </a:schemeClr>
                    </a:solidFill>
                  </a:tcPr>
                </a:tc>
                <a:tc>
                  <a:txBody>
                    <a:bodyPr/>
                    <a:lstStyle/>
                    <a:p>
                      <a:r>
                        <a:rPr lang="en-US" sz="1000" dirty="0"/>
                        <a:t>H</a:t>
                      </a:r>
                    </a:p>
                  </a:txBody>
                  <a:tcPr anchor="ctr">
                    <a:solidFill>
                      <a:schemeClr val="accent4">
                        <a:lumMod val="20000"/>
                        <a:lumOff val="80000"/>
                      </a:schemeClr>
                    </a:solidFill>
                  </a:tcPr>
                </a:tc>
                <a:tc>
                  <a:txBody>
                    <a:bodyPr/>
                    <a:lstStyle/>
                    <a:p>
                      <a:r>
                        <a:rPr lang="en-US" sz="1000" dirty="0"/>
                        <a:t>M</a:t>
                      </a:r>
                    </a:p>
                  </a:txBody>
                  <a:tcPr anchor="ctr">
                    <a:solidFill>
                      <a:schemeClr val="accent4">
                        <a:lumMod val="20000"/>
                        <a:lumOff val="80000"/>
                      </a:schemeClr>
                    </a:solidFill>
                  </a:tcPr>
                </a:tc>
                <a:tc>
                  <a:txBody>
                    <a:bodyPr/>
                    <a:lstStyle/>
                    <a:p>
                      <a:r>
                        <a:rPr lang="en-US" altLang="ko-KR" sz="1000" dirty="0"/>
                        <a:t>5</a:t>
                      </a:r>
                      <a:endParaRPr lang="ko-KR" altLang="en-US" sz="10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626053">
                <a:tc>
                  <a:txBody>
                    <a:bodyPr/>
                    <a:lstStyle/>
                    <a:p>
                      <a:r>
                        <a:rPr lang="en-US" sz="1000" dirty="0"/>
                        <a:t>QA-06</a:t>
                      </a:r>
                    </a:p>
                  </a:txBody>
                  <a:tcPr anchor="ctr">
                    <a:solidFill>
                      <a:schemeClr val="bg1"/>
                    </a:solidFill>
                  </a:tcPr>
                </a:tc>
                <a:tc>
                  <a:txBody>
                    <a:bodyPr/>
                    <a:lstStyle/>
                    <a:p>
                      <a:r>
                        <a:rPr lang="en-US" sz="1000" dirty="0"/>
                        <a:t>Fault tolerance</a:t>
                      </a:r>
                    </a:p>
                  </a:txBody>
                  <a:tcPr anchor="ctr">
                    <a:solidFill>
                      <a:schemeClr val="bg1"/>
                    </a:solidFill>
                  </a:tcPr>
                </a:tc>
                <a:tc>
                  <a:txBody>
                    <a:bodyPr/>
                    <a:lstStyle/>
                    <a:p>
                      <a:r>
                        <a:rPr lang="ko-KR" altLang="en-US" sz="1000" dirty="0"/>
                        <a:t>전송</a:t>
                      </a:r>
                      <a:r>
                        <a:rPr lang="en-US" altLang="ko-KR" sz="1000" dirty="0"/>
                        <a:t>·offload </a:t>
                      </a:r>
                      <a:r>
                        <a:rPr lang="ko-KR" altLang="en-US" sz="1000" dirty="0"/>
                        <a:t>실패 대체</a:t>
                      </a:r>
                    </a:p>
                  </a:txBody>
                  <a:tcPr anchor="ctr">
                    <a:solidFill>
                      <a:schemeClr val="bg1"/>
                    </a:solidFill>
                  </a:tcPr>
                </a:tc>
                <a:tc>
                  <a:txBody>
                    <a:bodyPr/>
                    <a:lstStyle/>
                    <a:p>
                      <a:pPr>
                        <a:lnSpc>
                          <a:spcPct val="125000"/>
                        </a:lnSpc>
                      </a:pPr>
                      <a:r>
                        <a:rPr lang="en-US" altLang="ko-KR" sz="1000" b="0" dirty="0"/>
                        <a:t>KV </a:t>
                      </a:r>
                      <a:r>
                        <a:rPr lang="ko-KR" altLang="en-US" sz="1000" b="0" dirty="0"/>
                        <a:t>전송이나 </a:t>
                      </a:r>
                      <a:r>
                        <a:rPr lang="en-US" altLang="ko-KR" sz="1000" b="0" dirty="0"/>
                        <a:t>offload</a:t>
                      </a:r>
                      <a:r>
                        <a:rPr lang="ko-KR" altLang="en-US" sz="1000" b="0" dirty="0"/>
                        <a:t>가 실패하거나 시간 초과해도 재계산 등 대체 경로로 요청 처리를 이어가야 한다</a:t>
                      </a:r>
                      <a:r>
                        <a:rPr lang="en-US" altLang="ko-KR" sz="1000" b="0" dirty="0"/>
                        <a:t>.</a:t>
                      </a:r>
                      <a:br>
                        <a:rPr lang="en-US" altLang="ko-KR" sz="1000" b="0" dirty="0"/>
                      </a:br>
                      <a:r>
                        <a:rPr lang="en-US" altLang="ko-KR" sz="1000" b="0" dirty="0"/>
                        <a:t>[</a:t>
                      </a:r>
                      <a:r>
                        <a:rPr lang="ko-KR" altLang="en-US" sz="1000" b="0" dirty="0"/>
                        <a:t>측정</a:t>
                      </a:r>
                      <a:r>
                        <a:rPr lang="en-US" altLang="ko-KR" sz="1000" b="0" dirty="0"/>
                        <a:t>: fallback </a:t>
                      </a:r>
                      <a:r>
                        <a:rPr lang="ko-KR" altLang="en-US" sz="1000" b="0" dirty="0"/>
                        <a:t>성공률 </a:t>
                      </a:r>
                      <a:r>
                        <a:rPr lang="en-US" altLang="ko-KR" sz="1000" b="0" dirty="0"/>
                        <a:t>&gt; 99.9 ]</a:t>
                      </a:r>
                      <a:endParaRPr lang="ko-KR" altLang="en-US" sz="1000" b="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sz="1000" dirty="0"/>
                        <a:t>H</a:t>
                      </a:r>
                    </a:p>
                  </a:txBody>
                  <a:tcPr anchor="ctr">
                    <a:solidFill>
                      <a:schemeClr val="bg1"/>
                    </a:solidFill>
                  </a:tcPr>
                </a:tc>
                <a:tc>
                  <a:txBody>
                    <a:bodyPr/>
                    <a:lstStyle/>
                    <a:p>
                      <a:r>
                        <a:rPr lang="en-US" altLang="ko-KR" sz="1000" dirty="0"/>
                        <a:t>6</a:t>
                      </a:r>
                      <a:endParaRPr lang="ko-KR" altLang="en-US" sz="1000" dirty="0"/>
                    </a:p>
                  </a:txBody>
                  <a:tcPr anchor="ctr">
                    <a:solidFill>
                      <a:schemeClr val="bg1"/>
                    </a:solidFill>
                  </a:tcPr>
                </a:tc>
                <a:extLst>
                  <a:ext uri="{0D108BD9-81ED-4DB2-BD59-A6C34878D82A}">
                    <a16:rowId xmlns:a16="http://schemas.microsoft.com/office/drawing/2014/main" val="3774210047"/>
                  </a:ext>
                </a:extLst>
              </a:tr>
              <a:tr h="626053">
                <a:tc>
                  <a:txBody>
                    <a:bodyPr/>
                    <a:lstStyle/>
                    <a:p>
                      <a:r>
                        <a:rPr lang="en-US" sz="1000" dirty="0"/>
                        <a:t>QA-07</a:t>
                      </a:r>
                    </a:p>
                  </a:txBody>
                  <a:tcPr anchor="ctr">
                    <a:solidFill>
                      <a:schemeClr val="bg1"/>
                    </a:solidFill>
                  </a:tcPr>
                </a:tc>
                <a:tc>
                  <a:txBody>
                    <a:bodyPr/>
                    <a:lstStyle/>
                    <a:p>
                      <a:r>
                        <a:rPr lang="en-US" sz="1000" dirty="0"/>
                        <a:t>Adaptability</a:t>
                      </a:r>
                    </a:p>
                  </a:txBody>
                  <a:tcPr anchor="ctr">
                    <a:solidFill>
                      <a:schemeClr val="bg1"/>
                    </a:solidFill>
                  </a:tcPr>
                </a:tc>
                <a:tc>
                  <a:txBody>
                    <a:bodyPr/>
                    <a:lstStyle/>
                    <a:p>
                      <a:r>
                        <a:rPr lang="ko-KR" altLang="en-US" sz="1000" dirty="0"/>
                        <a:t>워크로드 변화 적응</a:t>
                      </a:r>
                    </a:p>
                  </a:txBody>
                  <a:tcPr anchor="ctr">
                    <a:solidFill>
                      <a:schemeClr val="bg1"/>
                    </a:solidFill>
                  </a:tcPr>
                </a:tc>
                <a:tc>
                  <a:txBody>
                    <a:bodyPr/>
                    <a:lstStyle/>
                    <a:p>
                      <a:pPr>
                        <a:lnSpc>
                          <a:spcPct val="125000"/>
                        </a:lnSpc>
                      </a:pPr>
                      <a:r>
                        <a:rPr lang="ko-KR" altLang="en-US" sz="1000" b="0" dirty="0"/>
                        <a:t>입력 분포나 접근 패턴이 바뀌어도 접근 통계를 반영해 배치를 다시 맞추고 성능을 회복해야 한다</a:t>
                      </a:r>
                      <a:r>
                        <a:rPr lang="en-US" altLang="ko-KR" sz="1000" b="0" dirty="0"/>
                        <a:t>.</a:t>
                      </a:r>
                      <a:br>
                        <a:rPr lang="en-US" altLang="ko-KR" sz="1000" b="0" dirty="0"/>
                      </a:br>
                      <a:r>
                        <a:rPr lang="en-US" altLang="ko-KR" sz="1000" b="0" dirty="0">
                          <a:solidFill>
                            <a:srgbClr val="000000"/>
                          </a:solidFill>
                          <a:latin typeface="+mn-lt"/>
                        </a:rPr>
                        <a:t>[</a:t>
                      </a:r>
                      <a:r>
                        <a:rPr lang="ko-KR" altLang="en-US" sz="1000" b="0" dirty="0">
                          <a:solidFill>
                            <a:srgbClr val="000000"/>
                          </a:solidFill>
                          <a:latin typeface="+mn-lt"/>
                        </a:rPr>
                        <a:t>측정</a:t>
                      </a:r>
                      <a:r>
                        <a:rPr lang="en-US" altLang="ko-KR" sz="1000" b="0" dirty="0">
                          <a:solidFill>
                            <a:srgbClr val="000000"/>
                          </a:solidFill>
                          <a:latin typeface="+mn-lt"/>
                        </a:rPr>
                        <a:t>: </a:t>
                      </a:r>
                      <a:r>
                        <a:rPr lang="ko-KR" altLang="en-US" sz="1000" b="0" dirty="0">
                          <a:solidFill>
                            <a:srgbClr val="000000"/>
                          </a:solidFill>
                          <a:latin typeface="+mn-lt"/>
                        </a:rPr>
                        <a:t>원인 파악 시간 </a:t>
                      </a:r>
                      <a:r>
                        <a:rPr lang="en-US" altLang="ko-KR" sz="1000" b="0" dirty="0">
                          <a:solidFill>
                            <a:srgbClr val="000000"/>
                          </a:solidFill>
                          <a:latin typeface="+mn-lt"/>
                        </a:rPr>
                        <a:t>&lt; 1 </a:t>
                      </a:r>
                      <a:r>
                        <a:rPr lang="ko-KR" altLang="en-US" sz="1000" b="0" dirty="0">
                          <a:solidFill>
                            <a:srgbClr val="000000"/>
                          </a:solidFill>
                          <a:latin typeface="+mn-lt"/>
                        </a:rPr>
                        <a:t>시간 </a:t>
                      </a:r>
                      <a:r>
                        <a:rPr lang="en-US" altLang="ko-KR" sz="1000" b="0" dirty="0">
                          <a:solidFill>
                            <a:srgbClr val="000000"/>
                          </a:solidFill>
                          <a:latin typeface="+mn-lt"/>
                        </a:rPr>
                        <a:t>(</a:t>
                      </a:r>
                      <a:r>
                        <a:rPr lang="ko-KR" altLang="en-US" sz="1000" b="0" dirty="0">
                          <a:solidFill>
                            <a:srgbClr val="000000"/>
                          </a:solidFill>
                          <a:latin typeface="+mn-lt"/>
                        </a:rPr>
                        <a:t>개발자 </a:t>
                      </a:r>
                      <a:r>
                        <a:rPr lang="en-US" altLang="ko-KR" sz="1000" b="0" dirty="0">
                          <a:solidFill>
                            <a:srgbClr val="000000"/>
                          </a:solidFill>
                          <a:latin typeface="+mn-lt"/>
                        </a:rPr>
                        <a:t>1</a:t>
                      </a:r>
                      <a:r>
                        <a:rPr lang="ko-KR" altLang="en-US" sz="1000" b="0" dirty="0">
                          <a:solidFill>
                            <a:srgbClr val="000000"/>
                          </a:solidFill>
                          <a:latin typeface="+mn-lt"/>
                        </a:rPr>
                        <a:t>인</a:t>
                      </a:r>
                      <a:r>
                        <a:rPr lang="en-US" altLang="ko-KR" sz="1000" b="0" dirty="0">
                          <a:solidFill>
                            <a:srgbClr val="000000"/>
                          </a:solidFill>
                          <a:latin typeface="+mn-lt"/>
                        </a:rPr>
                        <a:t>, </a:t>
                      </a:r>
                      <a:r>
                        <a:rPr lang="ko-KR" altLang="en-US" sz="1000" b="0" dirty="0">
                          <a:solidFill>
                            <a:srgbClr val="000000"/>
                          </a:solidFill>
                          <a:latin typeface="+mn-lt"/>
                        </a:rPr>
                        <a:t>결정 </a:t>
                      </a:r>
                      <a:r>
                        <a:rPr lang="en-US" altLang="ko-KR" sz="1000" b="0" dirty="0">
                          <a:solidFill>
                            <a:srgbClr val="000000"/>
                          </a:solidFill>
                          <a:latin typeface="+mn-lt"/>
                        </a:rPr>
                        <a:t>1</a:t>
                      </a:r>
                      <a:r>
                        <a:rPr lang="ko-KR" altLang="en-US" sz="1000" b="0" dirty="0">
                          <a:solidFill>
                            <a:srgbClr val="000000"/>
                          </a:solidFill>
                          <a:latin typeface="+mn-lt"/>
                        </a:rPr>
                        <a:t>건 기준</a:t>
                      </a:r>
                      <a:r>
                        <a:rPr lang="en-US" altLang="ko-KR" sz="1000" b="0" dirty="0">
                          <a:solidFill>
                            <a:srgbClr val="000000"/>
                          </a:solidFill>
                          <a:latin typeface="+mn-lt"/>
                        </a:rPr>
                        <a:t>) ]</a:t>
                      </a:r>
                      <a:endParaRPr lang="ko-KR" altLang="en-US" sz="1000" b="0" dirty="0"/>
                    </a:p>
                  </a:txBody>
                  <a:tcPr anchor="ctr">
                    <a:solidFill>
                      <a:schemeClr val="bg1"/>
                    </a:solidFill>
                  </a:tcPr>
                </a:tc>
                <a:tc>
                  <a:txBody>
                    <a:bodyPr/>
                    <a:lstStyle/>
                    <a:p>
                      <a:r>
                        <a:rPr lang="en-US" sz="1000" dirty="0"/>
                        <a:t>M</a:t>
                      </a:r>
                    </a:p>
                  </a:txBody>
                  <a:tcPr anchor="ctr">
                    <a:solidFill>
                      <a:schemeClr val="bg1"/>
                    </a:solidFill>
                  </a:tcPr>
                </a:tc>
                <a:tc>
                  <a:txBody>
                    <a:bodyPr/>
                    <a:lstStyle/>
                    <a:p>
                      <a:r>
                        <a:rPr lang="en-US" sz="1000" dirty="0"/>
                        <a:t>M</a:t>
                      </a:r>
                    </a:p>
                  </a:txBody>
                  <a:tcPr anchor="ctr">
                    <a:solidFill>
                      <a:schemeClr val="bg1"/>
                    </a:solidFill>
                  </a:tcPr>
                </a:tc>
                <a:tc>
                  <a:txBody>
                    <a:bodyPr/>
                    <a:lstStyle/>
                    <a:p>
                      <a:r>
                        <a:rPr lang="en-US" altLang="ko-KR" sz="1000" dirty="0"/>
                        <a:t>7</a:t>
                      </a:r>
                      <a:endParaRPr lang="ko-KR" altLang="en-US" sz="1000" dirty="0"/>
                    </a:p>
                  </a:txBody>
                  <a:tcPr anchor="ctr">
                    <a:solidFill>
                      <a:schemeClr val="bg1"/>
                    </a:solidFill>
                  </a:tcPr>
                </a:tc>
                <a:extLst>
                  <a:ext uri="{0D108BD9-81ED-4DB2-BD59-A6C34878D82A}">
                    <a16:rowId xmlns:a16="http://schemas.microsoft.com/office/drawing/2014/main" val="2197771220"/>
                  </a:ext>
                </a:extLst>
              </a:tr>
            </a:tbl>
          </a:graphicData>
        </a:graphic>
      </p:graphicFrame>
      <p:sp>
        <p:nvSpPr>
          <p:cNvPr id="21" name="실행 단추: 앞으로 또는 다음 3">
            <a:hlinkClick r:id="rId4" action="ppaction://hlinksldjump" highlightClick="1"/>
            <a:extLst>
              <a:ext uri="{FF2B5EF4-FFF2-40B4-BE49-F238E27FC236}">
                <a16:creationId xmlns:a16="http://schemas.microsoft.com/office/drawing/2014/main" id="{D0D1EB79-0F10-4C29-8756-3FFD242915BE}"/>
              </a:ext>
            </a:extLst>
          </p:cNvPr>
          <p:cNvSpPr/>
          <p:nvPr/>
        </p:nvSpPr>
        <p:spPr>
          <a:xfrm>
            <a:off x="1631653" y="1193247"/>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실행 단추: 앞으로 또는 다음 1">
            <a:hlinkClick r:id="rId5" action="ppaction://hlinksldjump" highlightClick="1"/>
            <a:extLst>
              <a:ext uri="{FF2B5EF4-FFF2-40B4-BE49-F238E27FC236}">
                <a16:creationId xmlns:a16="http://schemas.microsoft.com/office/drawing/2014/main" id="{B43A4CC6-3683-436B-940F-BD679BB1A116}"/>
              </a:ext>
            </a:extLst>
          </p:cNvPr>
          <p:cNvSpPr/>
          <p:nvPr/>
        </p:nvSpPr>
        <p:spPr>
          <a:xfrm>
            <a:off x="511126" y="207032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실행 단추: 앞으로 또는 다음 1">
            <a:hlinkClick r:id="rId6" action="ppaction://hlinksldjump" highlightClick="1"/>
            <a:extLst>
              <a:ext uri="{FF2B5EF4-FFF2-40B4-BE49-F238E27FC236}">
                <a16:creationId xmlns:a16="http://schemas.microsoft.com/office/drawing/2014/main" id="{B43A4CC6-3683-436B-940F-BD679BB1A116}"/>
              </a:ext>
            </a:extLst>
          </p:cNvPr>
          <p:cNvSpPr/>
          <p:nvPr/>
        </p:nvSpPr>
        <p:spPr>
          <a:xfrm>
            <a:off x="511126" y="273337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실행 단추: 앞으로 또는 다음 1">
            <a:hlinkClick r:id="rId7" action="ppaction://hlinksldjump" highlightClick="1"/>
            <a:extLst>
              <a:ext uri="{FF2B5EF4-FFF2-40B4-BE49-F238E27FC236}">
                <a16:creationId xmlns:a16="http://schemas.microsoft.com/office/drawing/2014/main" id="{B43A4CC6-3683-436B-940F-BD679BB1A116}"/>
              </a:ext>
            </a:extLst>
          </p:cNvPr>
          <p:cNvSpPr/>
          <p:nvPr/>
        </p:nvSpPr>
        <p:spPr>
          <a:xfrm>
            <a:off x="511126" y="346802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실행 단추: 앞으로 또는 다음 1">
            <a:hlinkClick r:id="rId8" action="ppaction://hlinksldjump" highlightClick="1"/>
            <a:extLst>
              <a:ext uri="{FF2B5EF4-FFF2-40B4-BE49-F238E27FC236}">
                <a16:creationId xmlns:a16="http://schemas.microsoft.com/office/drawing/2014/main" id="{B43A4CC6-3683-436B-940F-BD679BB1A116}"/>
              </a:ext>
            </a:extLst>
          </p:cNvPr>
          <p:cNvSpPr/>
          <p:nvPr/>
        </p:nvSpPr>
        <p:spPr>
          <a:xfrm>
            <a:off x="507023" y="4161620"/>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실행 단추: 앞으로 또는 다음 1">
            <a:hlinkClick r:id="rId9" action="ppaction://hlinksldjump" highlightClick="1"/>
            <a:extLst>
              <a:ext uri="{FF2B5EF4-FFF2-40B4-BE49-F238E27FC236}">
                <a16:creationId xmlns:a16="http://schemas.microsoft.com/office/drawing/2014/main" id="{B43A4CC6-3683-436B-940F-BD679BB1A116}"/>
              </a:ext>
            </a:extLst>
          </p:cNvPr>
          <p:cNvSpPr/>
          <p:nvPr/>
        </p:nvSpPr>
        <p:spPr>
          <a:xfrm>
            <a:off x="507023" y="4794507"/>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실행 단추: 앞으로 또는 다음 1">
            <a:hlinkClick r:id="rId10" action="ppaction://hlinksldjump" highlightClick="1"/>
            <a:extLst>
              <a:ext uri="{FF2B5EF4-FFF2-40B4-BE49-F238E27FC236}">
                <a16:creationId xmlns:a16="http://schemas.microsoft.com/office/drawing/2014/main" id="{B43A4CC6-3683-436B-940F-BD679BB1A116}"/>
              </a:ext>
            </a:extLst>
          </p:cNvPr>
          <p:cNvSpPr/>
          <p:nvPr/>
        </p:nvSpPr>
        <p:spPr>
          <a:xfrm>
            <a:off x="9889001" y="1279081"/>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TextBox 1">
            <a:extLst>
              <a:ext uri="{FF2B5EF4-FFF2-40B4-BE49-F238E27FC236}">
                <a16:creationId xmlns:a16="http://schemas.microsoft.com/office/drawing/2014/main" id="{4D49E20A-DDC8-4511-8B0B-3AB91A5F2863}"/>
              </a:ext>
            </a:extLst>
          </p:cNvPr>
          <p:cNvSpPr txBox="1"/>
          <p:nvPr/>
        </p:nvSpPr>
        <p:spPr>
          <a:xfrm>
            <a:off x="8312953" y="1267107"/>
            <a:ext cx="1666316" cy="215444"/>
          </a:xfrm>
          <a:prstGeom prst="rect">
            <a:avLst/>
          </a:prstGeom>
          <a:noFill/>
        </p:spPr>
        <p:txBody>
          <a:bodyPr wrap="square" rtlCol="0">
            <a:spAutoFit/>
          </a:bodyPr>
          <a:lstStyle/>
          <a:p>
            <a:pPr algn="ctr"/>
            <a:r>
              <a:rPr lang="en-US" altLang="ko-KR" sz="800" b="1" dirty="0">
                <a:solidFill>
                  <a:schemeClr val="bg1"/>
                </a:solidFill>
              </a:rPr>
              <a:t>SLO(Service</a:t>
            </a:r>
            <a:r>
              <a:rPr lang="ko-KR" altLang="en-US" sz="800" b="1" dirty="0">
                <a:solidFill>
                  <a:schemeClr val="bg1"/>
                </a:solidFill>
              </a:rPr>
              <a:t> </a:t>
            </a:r>
            <a:r>
              <a:rPr lang="en-US" altLang="ko-KR" sz="800" b="1" dirty="0">
                <a:solidFill>
                  <a:schemeClr val="bg1"/>
                </a:solidFill>
              </a:rPr>
              <a:t>Objective</a:t>
            </a:r>
            <a:r>
              <a:rPr lang="ko-KR" altLang="en-US" sz="800" b="1" dirty="0">
                <a:solidFill>
                  <a:schemeClr val="bg1"/>
                </a:solidFill>
              </a:rPr>
              <a:t> </a:t>
            </a:r>
            <a:r>
              <a:rPr lang="en-US" altLang="ko-KR" sz="800" b="1" dirty="0">
                <a:solidFill>
                  <a:schemeClr val="bg1"/>
                </a:solidFill>
              </a:rPr>
              <a:t>Object)</a:t>
            </a:r>
            <a:endParaRPr lang="ko-KR" altLang="en-US" sz="800" b="1" dirty="0">
              <a:solidFill>
                <a:schemeClr val="bg1"/>
              </a:solidFill>
            </a:endParaRPr>
          </a:p>
        </p:txBody>
      </p:sp>
    </p:spTree>
    <p:extLst>
      <p:ext uri="{BB962C8B-B14F-4D97-AF65-F5344CB8AC3E}">
        <p14:creationId xmlns:p14="http://schemas.microsoft.com/office/powerpoint/2010/main" val="1956110131"/>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cxnSp>
        <p:nvCxnSpPr>
          <p:cNvPr id="68" name="직선 연결선 67"/>
          <p:cNvCxnSpPr/>
          <p:nvPr/>
        </p:nvCxnSpPr>
        <p:spPr>
          <a:xfrm>
            <a:off x="7518400" y="457198"/>
            <a:ext cx="142489"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68"/>
          <p:cNvCxnSpPr/>
          <p:nvPr/>
        </p:nvCxnSpPr>
        <p:spPr>
          <a:xfrm>
            <a:off x="7707970" y="457198"/>
            <a:ext cx="142489"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73" name="직선 연결선 72"/>
          <p:cNvCxnSpPr/>
          <p:nvPr/>
        </p:nvCxnSpPr>
        <p:spPr>
          <a:xfrm>
            <a:off x="7897539" y="457198"/>
            <a:ext cx="142489"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4" name="직선 연결선 73"/>
          <p:cNvCxnSpPr/>
          <p:nvPr/>
        </p:nvCxnSpPr>
        <p:spPr>
          <a:xfrm>
            <a:off x="8087111" y="457198"/>
            <a:ext cx="142489"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(H/H or </a:t>
            </a:r>
            <a:r>
              <a:rPr lang="en-US" altLang="ko-KR" sz="1600" dirty="0">
                <a:solidFill>
                  <a:prstClr val="black"/>
                </a:solidFill>
                <a:latin typeface="맑은 고딕" panose="020F0502020204030204"/>
                <a:ea typeface="맑은 고딕" panose="020B0503020000020004" pitchFamily="50" charset="-127"/>
              </a:rPr>
              <a:t>H/M</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extLst>
              <p:ext uri="{D42A27DB-BD31-4B8C-83A1-F6EECF244321}">
                <p14:modId xmlns:p14="http://schemas.microsoft.com/office/powerpoint/2010/main" val="932934447"/>
              </p:ext>
            </p:extLst>
          </p:nvPr>
        </p:nvGraphicFramePr>
        <p:xfrm>
          <a:off x="278859" y="996757"/>
          <a:ext cx="11709382" cy="5173033"/>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529669">
                  <a:extLst>
                    <a:ext uri="{9D8B030D-6E8A-4147-A177-3AD203B41FA5}">
                      <a16:colId xmlns:a16="http://schemas.microsoft.com/office/drawing/2014/main" val="714743119"/>
                    </a:ext>
                  </a:extLst>
                </a:gridCol>
                <a:gridCol w="6942142">
                  <a:extLst>
                    <a:ext uri="{9D8B030D-6E8A-4147-A177-3AD203B41FA5}">
                      <a16:colId xmlns:a16="http://schemas.microsoft.com/office/drawing/2014/main" val="713779841"/>
                    </a:ext>
                  </a:extLst>
                </a:gridCol>
                <a:gridCol w="559320">
                  <a:extLst>
                    <a:ext uri="{9D8B030D-6E8A-4147-A177-3AD203B41FA5}">
                      <a16:colId xmlns:a16="http://schemas.microsoft.com/office/drawing/2014/main" val="4072428474"/>
                    </a:ext>
                  </a:extLst>
                </a:gridCol>
                <a:gridCol w="574713">
                  <a:extLst>
                    <a:ext uri="{9D8B030D-6E8A-4147-A177-3AD203B41FA5}">
                      <a16:colId xmlns:a16="http://schemas.microsoft.com/office/drawing/2014/main" val="2666804482"/>
                    </a:ext>
                  </a:extLst>
                </a:gridCol>
                <a:gridCol w="440675">
                  <a:extLst>
                    <a:ext uri="{9D8B030D-6E8A-4147-A177-3AD203B41FA5}">
                      <a16:colId xmlns:a16="http://schemas.microsoft.com/office/drawing/2014/main" val="2282568718"/>
                    </a:ext>
                  </a:extLst>
                </a:gridCol>
              </a:tblGrid>
              <a:tr h="423193">
                <a:tc>
                  <a:txBody>
                    <a:bodyPr/>
                    <a:lstStyle/>
                    <a:p>
                      <a:pPr algn="ctr"/>
                      <a:r>
                        <a:rPr lang="ko-KR" altLang="en-US" sz="900" b="1" dirty="0">
                          <a:solidFill>
                            <a:schemeClr val="bg1"/>
                          </a:solidFill>
                        </a:rPr>
                        <a:t>번호</a:t>
                      </a:r>
                    </a:p>
                  </a:txBody>
                  <a:tcPr anchor="ctr">
                    <a:solidFill>
                      <a:srgbClr val="3B3B3B"/>
                    </a:solidFill>
                  </a:tcPr>
                </a:tc>
                <a:tc>
                  <a:txBody>
                    <a:bodyPr/>
                    <a:lstStyle/>
                    <a:p>
                      <a:pPr algn="ctr"/>
                      <a:r>
                        <a:rPr lang="en-US" sz="900" b="1">
                          <a:solidFill>
                            <a:schemeClr val="bg1"/>
                          </a:solidFill>
                        </a:rPr>
                        <a:t>QA</a:t>
                      </a:r>
                    </a:p>
                  </a:txBody>
                  <a:tcPr anchor="ctr">
                    <a:solidFill>
                      <a:srgbClr val="3B3B3B"/>
                    </a:solidFill>
                  </a:tcPr>
                </a:tc>
                <a:tc>
                  <a:txBody>
                    <a:bodyPr/>
                    <a:lstStyle/>
                    <a:p>
                      <a:pPr algn="ctr"/>
                      <a:r>
                        <a:rPr lang="en-US" sz="900" b="1" dirty="0">
                          <a:solidFill>
                            <a:schemeClr val="bg1"/>
                          </a:solidFill>
                        </a:rPr>
                        <a:t>Refinement</a:t>
                      </a:r>
                    </a:p>
                  </a:txBody>
                  <a:tcPr anchor="ctr">
                    <a:solidFill>
                      <a:srgbClr val="3B3B3B"/>
                    </a:solidFill>
                  </a:tcPr>
                </a:tc>
                <a:tc>
                  <a:txBody>
                    <a:bodyPr/>
                    <a:lstStyle/>
                    <a:p>
                      <a:pPr algn="ctr"/>
                      <a:r>
                        <a:rPr lang="en-US" sz="900" b="1" dirty="0">
                          <a:solidFill>
                            <a:schemeClr val="bg1"/>
                          </a:solidFill>
                        </a:rPr>
                        <a:t>Scenario</a:t>
                      </a:r>
                    </a:p>
                  </a:txBody>
                  <a:tcPr anchor="ctr">
                    <a:solidFill>
                      <a:srgbClr val="3B3B3B"/>
                    </a:solidFill>
                  </a:tcPr>
                </a:tc>
                <a:tc>
                  <a:txBody>
                    <a:bodyPr/>
                    <a:lstStyle/>
                    <a:p>
                      <a:pPr algn="ctr"/>
                      <a:r>
                        <a:rPr lang="ko-KR" altLang="en-US" sz="900" b="1">
                          <a:solidFill>
                            <a:schemeClr val="bg1"/>
                          </a:solidFill>
                        </a:rPr>
                        <a:t>중요도</a:t>
                      </a:r>
                    </a:p>
                  </a:txBody>
                  <a:tcPr anchor="ctr">
                    <a:solidFill>
                      <a:srgbClr val="3B3B3B"/>
                    </a:solidFill>
                  </a:tcPr>
                </a:tc>
                <a:tc>
                  <a:txBody>
                    <a:bodyPr/>
                    <a:lstStyle/>
                    <a:p>
                      <a:pPr algn="ctr"/>
                      <a:r>
                        <a:rPr lang="ko-KR" altLang="en-US" sz="900" b="1" dirty="0">
                          <a:solidFill>
                            <a:schemeClr val="bg1"/>
                          </a:solidFill>
                        </a:rPr>
                        <a:t>난이도</a:t>
                      </a:r>
                    </a:p>
                  </a:txBody>
                  <a:tcPr anchor="ctr">
                    <a:solidFill>
                      <a:srgbClr val="3B3B3B"/>
                    </a:solidFill>
                  </a:tcPr>
                </a:tc>
                <a:tc>
                  <a:txBody>
                    <a:bodyPr/>
                    <a:lstStyle/>
                    <a:p>
                      <a:pPr algn="ctr"/>
                      <a:r>
                        <a:rPr lang="ko-KR" altLang="en-US" sz="90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468000">
                <a:tc>
                  <a:txBody>
                    <a:bodyPr/>
                    <a:lstStyle/>
                    <a:p>
                      <a:r>
                        <a:rPr lang="en-US" sz="900" dirty="0"/>
                        <a:t>QA-01</a:t>
                      </a:r>
                    </a:p>
                  </a:txBody>
                  <a:tcPr anchor="ctr">
                    <a:solidFill>
                      <a:schemeClr val="accent4">
                        <a:lumMod val="20000"/>
                        <a:lumOff val="80000"/>
                      </a:schemeClr>
                    </a:solidFill>
                  </a:tcPr>
                </a:tc>
                <a:tc>
                  <a:txBody>
                    <a:bodyPr/>
                    <a:lstStyle/>
                    <a:p>
                      <a:r>
                        <a:rPr lang="en-US" sz="9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t>(Time behavior)</a:t>
                      </a:r>
                    </a:p>
                  </a:txBody>
                  <a:tcPr anchor="ctr">
                    <a:solidFill>
                      <a:schemeClr val="accent4">
                        <a:lumMod val="20000"/>
                        <a:lumOff val="80000"/>
                      </a:schemeClr>
                    </a:solidFill>
                  </a:tcPr>
                </a:tc>
                <a:tc>
                  <a:txBody>
                    <a:bodyPr/>
                    <a:lstStyle/>
                    <a:p>
                      <a:r>
                        <a:rPr lang="ko-KR" altLang="en-US" sz="900" dirty="0"/>
                        <a:t>서비스 수준 목표</a:t>
                      </a:r>
                      <a:r>
                        <a:rPr lang="en-US" altLang="ko-KR" sz="900" dirty="0"/>
                        <a:t>(SLO)</a:t>
                      </a:r>
                      <a:r>
                        <a:rPr lang="ko-KR" altLang="en-US" sz="900" dirty="0"/>
                        <a:t>를 만족하는 토큰 처리량</a:t>
                      </a:r>
                    </a:p>
                  </a:txBody>
                  <a:tcPr anchor="ctr">
                    <a:solidFill>
                      <a:schemeClr val="accent4">
                        <a:lumMod val="20000"/>
                        <a:lumOff val="80000"/>
                      </a:schemeClr>
                    </a:solidFill>
                  </a:tcPr>
                </a:tc>
                <a:tc>
                  <a:txBody>
                    <a:bodyPr/>
                    <a:lstStyle/>
                    <a:p>
                      <a:r>
                        <a:rPr lang="ko-KR" altLang="en-US" sz="900" dirty="0"/>
                        <a:t>다수의 </a:t>
                      </a:r>
                      <a:r>
                        <a:rPr lang="en-US" altLang="ko-KR" sz="900" dirty="0"/>
                        <a:t>agent </a:t>
                      </a:r>
                      <a:r>
                        <a:rPr lang="ko-KR" altLang="en-US" sz="900" dirty="0"/>
                        <a:t>세션이 동시에 요청하는 상황에서</a:t>
                      </a:r>
                      <a:r>
                        <a:rPr lang="en-US" altLang="ko-KR" sz="900" dirty="0"/>
                        <a:t>, </a:t>
                      </a:r>
                      <a:r>
                        <a:rPr lang="ko-KR" altLang="en-US" sz="900" dirty="0"/>
                        <a:t>지정한 </a:t>
                      </a:r>
                      <a:r>
                        <a:rPr lang="en-US" altLang="ko-KR" sz="900" dirty="0"/>
                        <a:t>SLO*(Elapsed Time)</a:t>
                      </a:r>
                      <a:r>
                        <a:rPr lang="ko-KR" altLang="en-US" sz="900" dirty="0"/>
                        <a:t>를 만족하며</a:t>
                      </a:r>
                      <a:r>
                        <a:rPr lang="en-US" altLang="ko-KR" sz="900" dirty="0"/>
                        <a:t>, </a:t>
                      </a:r>
                      <a:r>
                        <a:rPr lang="ko-KR" altLang="en-US" sz="900" dirty="0"/>
                        <a:t>처리할 수 있는 최대 </a:t>
                      </a:r>
                      <a:r>
                        <a:rPr lang="ko-KR" altLang="en-US" sz="900" dirty="0" err="1"/>
                        <a:t>요청량이</a:t>
                      </a:r>
                      <a:r>
                        <a:rPr lang="ko-KR" altLang="en-US" sz="900" dirty="0"/>
                        <a:t> 기준 시스템</a:t>
                      </a:r>
                      <a:r>
                        <a:rPr lang="en-US" altLang="ko-KR" sz="900" dirty="0"/>
                        <a:t>(Baseline)</a:t>
                      </a:r>
                      <a:r>
                        <a:rPr lang="ko-KR" altLang="en-US" sz="900" dirty="0"/>
                        <a:t>보다 커야 한다</a:t>
                      </a:r>
                      <a:r>
                        <a:rPr lang="en-US" altLang="ko-KR" sz="900" dirty="0"/>
                        <a:t>. (*SLO: Service Level</a:t>
                      </a:r>
                      <a:r>
                        <a:rPr lang="ko-KR" altLang="en-US" sz="900" dirty="0"/>
                        <a:t> </a:t>
                      </a:r>
                      <a:r>
                        <a:rPr lang="en-US" altLang="ko-KR" sz="900" dirty="0"/>
                        <a:t>Objective)</a:t>
                      </a:r>
                      <a:br>
                        <a:rPr lang="en-US" altLang="ko-KR" sz="900" dirty="0"/>
                      </a:br>
                      <a:r>
                        <a:rPr lang="en-US" altLang="ko-KR" sz="900" b="1" dirty="0"/>
                        <a:t>[</a:t>
                      </a:r>
                      <a:r>
                        <a:rPr lang="ko-KR" altLang="en-US" sz="900" b="1" dirty="0"/>
                        <a:t>측정</a:t>
                      </a:r>
                      <a:r>
                        <a:rPr lang="en-US" altLang="ko-KR" sz="900" b="1" dirty="0"/>
                        <a:t>: SLO </a:t>
                      </a:r>
                      <a:r>
                        <a:rPr lang="ko-KR" altLang="en-US" sz="900" b="1" dirty="0"/>
                        <a:t>만족 </a:t>
                      </a:r>
                      <a:r>
                        <a:rPr lang="en-US" altLang="ko-KR" sz="900" b="1" dirty="0"/>
                        <a:t>Max Goodput ≥ Baseline </a:t>
                      </a:r>
                      <a:r>
                        <a:rPr lang="ko-KR" altLang="en-US" sz="900" b="1" dirty="0"/>
                        <a:t>대비 증가율 </a:t>
                      </a:r>
                      <a:r>
                        <a:rPr lang="en-US" altLang="ko-KR" sz="900" b="1" dirty="0"/>
                        <a:t>1.5x, SLO: TTFT 2s, TPOT 2ms ]</a:t>
                      </a:r>
                      <a:endParaRPr lang="ko-KR" altLang="en-US" sz="900" dirty="0"/>
                    </a:p>
                  </a:txBody>
                  <a:tcPr anchor="ctr">
                    <a:solidFill>
                      <a:schemeClr val="accent4">
                        <a:lumMod val="20000"/>
                        <a:lumOff val="80000"/>
                      </a:schemeClr>
                    </a:solidFill>
                  </a:tcPr>
                </a:tc>
                <a:tc>
                  <a:txBody>
                    <a:bodyPr/>
                    <a:lstStyle/>
                    <a:p>
                      <a:r>
                        <a:rPr lang="en-US" sz="900"/>
                        <a:t>H</a:t>
                      </a:r>
                    </a:p>
                  </a:txBody>
                  <a:tcPr anchor="ctr">
                    <a:solidFill>
                      <a:schemeClr val="accent4">
                        <a:lumMod val="20000"/>
                        <a:lumOff val="80000"/>
                      </a:schemeClr>
                    </a:solidFill>
                  </a:tcPr>
                </a:tc>
                <a:tc>
                  <a:txBody>
                    <a:bodyPr/>
                    <a:lstStyle/>
                    <a:p>
                      <a:r>
                        <a:rPr lang="en-US" altLang="ko-KR" sz="900" dirty="0"/>
                        <a:t>H</a:t>
                      </a:r>
                      <a:endParaRPr lang="en-US" sz="900" dirty="0"/>
                    </a:p>
                  </a:txBody>
                  <a:tcPr anchor="ctr">
                    <a:solidFill>
                      <a:schemeClr val="accent4">
                        <a:lumMod val="20000"/>
                        <a:lumOff val="80000"/>
                      </a:schemeClr>
                    </a:solidFill>
                  </a:tcPr>
                </a:tc>
                <a:tc>
                  <a:txBody>
                    <a:bodyPr/>
                    <a:lstStyle/>
                    <a:p>
                      <a:r>
                        <a:rPr lang="en-US" altLang="ko-KR" sz="900" dirty="0"/>
                        <a:t>1</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468000">
                <a:tc>
                  <a:txBody>
                    <a:bodyPr/>
                    <a:lstStyle/>
                    <a:p>
                      <a:r>
                        <a:rPr lang="en-US" sz="900" dirty="0"/>
                        <a:t>QA-02</a:t>
                      </a:r>
                    </a:p>
                  </a:txBody>
                  <a:tcPr anchor="ctr">
                    <a:solidFill>
                      <a:schemeClr val="accent4">
                        <a:lumMod val="20000"/>
                        <a:lumOff val="80000"/>
                      </a:schemeClr>
                    </a:solidFill>
                  </a:tcPr>
                </a:tc>
                <a:tc>
                  <a:txBody>
                    <a:bodyPr/>
                    <a:lstStyle/>
                    <a:p>
                      <a:r>
                        <a:rPr lang="en-US" sz="900" dirty="0"/>
                        <a:t>Resource</a:t>
                      </a:r>
                      <a:r>
                        <a:rPr lang="en-US" sz="900" baseline="0" dirty="0"/>
                        <a:t> </a:t>
                      </a:r>
                    </a:p>
                    <a:p>
                      <a:r>
                        <a:rPr lang="en-US" sz="900" baseline="0" dirty="0"/>
                        <a:t>Efficiency</a:t>
                      </a:r>
                      <a:endParaRPr lang="en-US" sz="900" dirty="0"/>
                    </a:p>
                  </a:txBody>
                  <a:tcPr anchor="ctr">
                    <a:solidFill>
                      <a:schemeClr val="accent4">
                        <a:lumMod val="20000"/>
                        <a:lumOff val="80000"/>
                      </a:schemeClr>
                    </a:solidFill>
                  </a:tcPr>
                </a:tc>
                <a:tc>
                  <a:txBody>
                    <a:bodyPr/>
                    <a:lstStyle/>
                    <a:p>
                      <a:r>
                        <a:rPr lang="en-US" sz="900" dirty="0"/>
                        <a:t>HBM </a:t>
                      </a:r>
                      <a:r>
                        <a:rPr lang="ko-KR" altLang="en-US" sz="900" dirty="0"/>
                        <a:t>점유율</a:t>
                      </a:r>
                    </a:p>
                  </a:txBody>
                  <a:tcPr anchor="ctr">
                    <a:solidFill>
                      <a:schemeClr val="accent4">
                        <a:lumMod val="20000"/>
                        <a:lumOff val="80000"/>
                      </a:schemeClr>
                    </a:solidFill>
                  </a:tcPr>
                </a:tc>
                <a:tc>
                  <a:txBody>
                    <a:bodyPr/>
                    <a:lstStyle/>
                    <a:p>
                      <a:r>
                        <a:rPr lang="ko-KR" altLang="en-US" sz="900" dirty="0"/>
                        <a:t>동일한 성능 조건에서 </a:t>
                      </a:r>
                      <a:r>
                        <a:rPr lang="en-US" altLang="ko-KR" sz="900" dirty="0"/>
                        <a:t>HBM </a:t>
                      </a:r>
                      <a:r>
                        <a:rPr lang="ko-KR" altLang="en-US" sz="900" dirty="0"/>
                        <a:t>점유율이 </a:t>
                      </a:r>
                      <a:r>
                        <a:rPr lang="en-US" altLang="ko-KR" sz="900" dirty="0"/>
                        <a:t>Baseline</a:t>
                      </a:r>
                      <a:r>
                        <a:rPr lang="ko-KR" altLang="en-US" sz="900" dirty="0"/>
                        <a:t>보다 낮아야 한다</a:t>
                      </a:r>
                      <a:r>
                        <a:rPr lang="en-US" altLang="ko-KR" sz="900" dirty="0"/>
                        <a:t>.</a:t>
                      </a:r>
                      <a:br>
                        <a:rPr lang="en-US" altLang="ko-KR" sz="900" dirty="0"/>
                      </a:br>
                      <a:r>
                        <a:rPr lang="en-US" altLang="ko-KR" sz="900" b="1" dirty="0"/>
                        <a:t>[</a:t>
                      </a:r>
                      <a:r>
                        <a:rPr lang="ko-KR" altLang="en-US" sz="900" b="1" dirty="0"/>
                        <a:t>측정</a:t>
                      </a:r>
                      <a:r>
                        <a:rPr lang="en-US" altLang="ko-KR" sz="900" b="1" dirty="0"/>
                        <a:t>: HBM </a:t>
                      </a:r>
                      <a:r>
                        <a:rPr lang="ko-KR" altLang="en-US" sz="900" b="1" dirty="0"/>
                        <a:t>점유율 </a:t>
                      </a:r>
                      <a:r>
                        <a:rPr lang="en-US" altLang="ko-KR" sz="900" b="1" dirty="0"/>
                        <a:t>&gt; Baseline </a:t>
                      </a:r>
                      <a:r>
                        <a:rPr lang="ko-KR" altLang="en-US" sz="900" b="1" dirty="0"/>
                        <a:t>대비 감소율 </a:t>
                      </a:r>
                      <a:r>
                        <a:rPr lang="en-US" altLang="ko-KR" sz="900" b="1" dirty="0"/>
                        <a:t>20%] ]</a:t>
                      </a:r>
                      <a:endParaRPr lang="ko-KR" altLang="en-US" sz="900" dirty="0"/>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altLang="ko-KR" sz="900" dirty="0"/>
                        <a:t>2</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105785534"/>
                  </a:ext>
                </a:extLst>
              </a:tr>
              <a:tr h="468000">
                <a:tc>
                  <a:txBody>
                    <a:bodyPr/>
                    <a:lstStyle/>
                    <a:p>
                      <a:r>
                        <a:rPr lang="en-US" sz="900" dirty="0"/>
                        <a:t>QA-03</a:t>
                      </a:r>
                    </a:p>
                  </a:txBody>
                  <a:tcPr anchor="ctr">
                    <a:solidFill>
                      <a:schemeClr val="accent4">
                        <a:lumMod val="20000"/>
                        <a:lumOff val="80000"/>
                      </a:schemeClr>
                    </a:solidFill>
                  </a:tcPr>
                </a:tc>
                <a:tc>
                  <a:txBody>
                    <a:bodyPr/>
                    <a:lstStyle/>
                    <a:p>
                      <a:r>
                        <a:rPr lang="en-US" sz="900" dirty="0"/>
                        <a:t>Modifiability</a:t>
                      </a:r>
                    </a:p>
                  </a:txBody>
                  <a:tcPr anchor="ctr">
                    <a:solidFill>
                      <a:schemeClr val="accent4">
                        <a:lumMod val="20000"/>
                        <a:lumOff val="80000"/>
                      </a:schemeClr>
                    </a:solidFill>
                  </a:tcPr>
                </a:tc>
                <a:tc>
                  <a:txBody>
                    <a:bodyPr/>
                    <a:lstStyle/>
                    <a:p>
                      <a:r>
                        <a:rPr lang="ko-KR" altLang="en-US" sz="900" dirty="0"/>
                        <a:t>변경 용이성</a:t>
                      </a:r>
                    </a:p>
                  </a:txBody>
                  <a:tcPr anchor="ctr">
                    <a:solidFill>
                      <a:schemeClr val="accent4">
                        <a:lumMod val="20000"/>
                        <a:lumOff val="80000"/>
                      </a:schemeClr>
                    </a:solidFill>
                  </a:tcPr>
                </a:tc>
                <a:tc>
                  <a:txBody>
                    <a:bodyPr/>
                    <a:lstStyle/>
                    <a:p>
                      <a:r>
                        <a:rPr lang="ko-KR" altLang="en-US" sz="900" dirty="0"/>
                        <a:t>새로운 메모리 </a:t>
                      </a:r>
                      <a:r>
                        <a:rPr lang="en-US" altLang="ko-KR" sz="900" dirty="0"/>
                        <a:t>tier, </a:t>
                      </a:r>
                      <a:r>
                        <a:rPr lang="ko-KR" altLang="en-US" sz="900" dirty="0"/>
                        <a:t>이동</a:t>
                      </a:r>
                      <a:r>
                        <a:rPr lang="en-US" altLang="ko-KR" sz="900" dirty="0"/>
                        <a:t>·</a:t>
                      </a:r>
                      <a:r>
                        <a:rPr lang="ko-KR" altLang="en-US" sz="900" dirty="0"/>
                        <a:t>배치 정책</a:t>
                      </a:r>
                      <a:r>
                        <a:rPr lang="en-US" altLang="ko-KR" sz="900" dirty="0"/>
                        <a:t>, </a:t>
                      </a:r>
                      <a:r>
                        <a:rPr lang="ko-KR" altLang="en-US" sz="900" dirty="0"/>
                        <a:t>데이터 객체 유형을 추가할 때 서빙 경로를 수정하지 않고 반영할 수 있어야 한다</a:t>
                      </a:r>
                      <a:r>
                        <a:rPr lang="en-US" altLang="ko-KR" sz="900" dirty="0"/>
                        <a:t>.</a:t>
                      </a:r>
                      <a:br>
                        <a:rPr lang="en-US" altLang="ko-KR" sz="900" dirty="0"/>
                      </a:br>
                      <a:r>
                        <a:rPr lang="en-US" altLang="ko-KR" sz="900" b="1" dirty="0"/>
                        <a:t>[</a:t>
                      </a:r>
                      <a:r>
                        <a:rPr lang="ko-KR" altLang="en-US" sz="900" b="1" dirty="0"/>
                        <a:t>측정</a:t>
                      </a:r>
                      <a:r>
                        <a:rPr lang="en-US" altLang="ko-KR" sz="900" b="1" dirty="0"/>
                        <a:t>: </a:t>
                      </a:r>
                      <a:r>
                        <a:rPr lang="ko-KR" altLang="en-US" sz="900" b="1" dirty="0"/>
                        <a:t>토큰 비용 </a:t>
                      </a:r>
                      <a:r>
                        <a:rPr lang="en-US" altLang="ko-KR" sz="900" b="1" dirty="0"/>
                        <a:t>&lt; [ ] </a:t>
                      </a:r>
                      <a:r>
                        <a:rPr lang="ko-KR" altLang="en-US" sz="900" b="1" dirty="0"/>
                        <a:t>개</a:t>
                      </a:r>
                      <a:r>
                        <a:rPr lang="en-US" altLang="ko-KR" sz="900" b="1" dirty="0"/>
                        <a:t>, </a:t>
                      </a:r>
                      <a:r>
                        <a:rPr lang="ko-KR" altLang="en-US" sz="900" b="1" dirty="0"/>
                        <a:t>공수 </a:t>
                      </a:r>
                      <a:r>
                        <a:rPr lang="en-US" altLang="ko-KR" sz="900" b="1" dirty="0"/>
                        <a:t>&lt; [ ] MM ]</a:t>
                      </a:r>
                      <a:endParaRPr lang="ko-KR" altLang="en-US" sz="900" dirty="0"/>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3</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468000">
                <a:tc>
                  <a:txBody>
                    <a:bodyPr/>
                    <a:lstStyle/>
                    <a:p>
                      <a:r>
                        <a:rPr lang="en-US" sz="900" dirty="0"/>
                        <a:t>QA-04</a:t>
                      </a:r>
                    </a:p>
                  </a:txBody>
                  <a:tcPr anchor="ctr">
                    <a:solidFill>
                      <a:schemeClr val="accent4">
                        <a:lumMod val="20000"/>
                        <a:lumOff val="80000"/>
                      </a:schemeClr>
                    </a:solidFill>
                  </a:tcPr>
                </a:tc>
                <a:tc>
                  <a:txBody>
                    <a:bodyPr/>
                    <a:lstStyle/>
                    <a:p>
                      <a:r>
                        <a:rPr lang="en-US" sz="900" dirty="0"/>
                        <a:t>Scalability</a:t>
                      </a:r>
                    </a:p>
                  </a:txBody>
                  <a:tcPr anchor="ctr">
                    <a:solidFill>
                      <a:schemeClr val="accent4">
                        <a:lumMod val="20000"/>
                        <a:lumOff val="80000"/>
                      </a:schemeClr>
                    </a:solidFill>
                  </a:tcPr>
                </a:tc>
                <a:tc>
                  <a:txBody>
                    <a:bodyPr/>
                    <a:lstStyle/>
                    <a:p>
                      <a:r>
                        <a:rPr lang="ko-KR" altLang="en-US" sz="900" dirty="0"/>
                        <a:t>확장성</a:t>
                      </a:r>
                    </a:p>
                  </a:txBody>
                  <a:tcPr anchor="ctr">
                    <a:solidFill>
                      <a:schemeClr val="accent4">
                        <a:lumMod val="20000"/>
                        <a:lumOff val="80000"/>
                      </a:schemeClr>
                    </a:solidFill>
                  </a:tcPr>
                </a:tc>
                <a:tc>
                  <a:txBody>
                    <a:bodyPr/>
                    <a:lstStyle/>
                    <a:p>
                      <a:r>
                        <a:rPr lang="ko-KR" altLang="en-US" sz="900" dirty="0"/>
                        <a:t>실장 환경을 넘는 규모로 노드 또는 메모리 </a:t>
                      </a:r>
                      <a:r>
                        <a:rPr lang="en-US" altLang="ko-KR" sz="900" dirty="0"/>
                        <a:t>type</a:t>
                      </a:r>
                      <a:r>
                        <a:rPr lang="ko-KR" altLang="en-US" sz="900" dirty="0"/>
                        <a:t>이 늘어나도 결정이 병목이 되지 않고 성능이 늘어난 자원에 비례해 증가해야 한다 </a:t>
                      </a:r>
                      <a:r>
                        <a:rPr lang="en-US" altLang="ko-KR" sz="900" dirty="0"/>
                        <a:t>(</a:t>
                      </a:r>
                      <a:r>
                        <a:rPr lang="ko-KR" altLang="en-US" sz="900" dirty="0"/>
                        <a:t>시뮬레이션 평가</a:t>
                      </a:r>
                      <a:r>
                        <a:rPr lang="en-US" altLang="ko-KR" sz="900" dirty="0"/>
                        <a:t>).</a:t>
                      </a:r>
                      <a:br>
                        <a:rPr lang="en-US" altLang="ko-KR" sz="900" dirty="0"/>
                      </a:br>
                      <a:r>
                        <a:rPr lang="en-US" altLang="ko-KR" sz="900" b="1" dirty="0"/>
                        <a:t>[</a:t>
                      </a:r>
                      <a:r>
                        <a:rPr lang="ko-KR" altLang="en-US" sz="900" b="1" dirty="0"/>
                        <a:t>측정</a:t>
                      </a:r>
                      <a:r>
                        <a:rPr lang="en-US" altLang="ko-KR" sz="900" b="1" dirty="0"/>
                        <a:t>: Scaling Efficiency &gt; 80% ]</a:t>
                      </a:r>
                      <a:endParaRPr lang="ko-KR" altLang="en-US" sz="900" dirty="0"/>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4</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4029338887"/>
                  </a:ext>
                </a:extLst>
              </a:tr>
              <a:tr h="468000">
                <a:tc>
                  <a:txBody>
                    <a:bodyPr/>
                    <a:lstStyle/>
                    <a:p>
                      <a:r>
                        <a:rPr lang="en-US" sz="900" dirty="0"/>
                        <a:t>QA-05</a:t>
                      </a:r>
                    </a:p>
                  </a:txBody>
                  <a:tcPr anchor="ctr">
                    <a:solidFill>
                      <a:schemeClr val="accent4">
                        <a:lumMod val="20000"/>
                        <a:lumOff val="80000"/>
                      </a:schemeClr>
                    </a:solidFill>
                  </a:tcPr>
                </a:tc>
                <a:tc>
                  <a:txBody>
                    <a:bodyPr/>
                    <a:lstStyle/>
                    <a:p>
                      <a:r>
                        <a:rPr lang="en-US" sz="900" dirty="0"/>
                        <a:t>Functional </a:t>
                      </a:r>
                    </a:p>
                    <a:p>
                      <a:r>
                        <a:rPr lang="en-US" sz="900" dirty="0"/>
                        <a:t>Correctness</a:t>
                      </a:r>
                    </a:p>
                  </a:txBody>
                  <a:tcPr anchor="ctr">
                    <a:solidFill>
                      <a:schemeClr val="accent4">
                        <a:lumMod val="20000"/>
                        <a:lumOff val="80000"/>
                      </a:schemeClr>
                    </a:solidFill>
                  </a:tcPr>
                </a:tc>
                <a:tc>
                  <a:txBody>
                    <a:bodyPr/>
                    <a:lstStyle/>
                    <a:p>
                      <a:r>
                        <a:rPr lang="ko-KR" altLang="en-US" sz="900" dirty="0"/>
                        <a:t>모델 출력 정확도</a:t>
                      </a:r>
                    </a:p>
                  </a:txBody>
                  <a:tcPr anchor="ctr">
                    <a:solidFill>
                      <a:schemeClr val="accent4">
                        <a:lumMod val="20000"/>
                        <a:lumOff val="80000"/>
                      </a:schemeClr>
                    </a:solidFill>
                  </a:tcPr>
                </a:tc>
                <a:tc>
                  <a:txBody>
                    <a:bodyPr/>
                    <a:lstStyle/>
                    <a:p>
                      <a:r>
                        <a:rPr lang="en-US" altLang="ko-KR" sz="900" dirty="0"/>
                        <a:t>LLM </a:t>
                      </a:r>
                      <a:r>
                        <a:rPr lang="ko-KR" altLang="en-US" sz="900" dirty="0"/>
                        <a:t>모델 출력의 정확도는 보장되어야 한다</a:t>
                      </a:r>
                      <a:r>
                        <a:rPr lang="en-US" altLang="ko-KR" sz="900" dirty="0"/>
                        <a:t>. </a:t>
                      </a:r>
                    </a:p>
                    <a:p>
                      <a:r>
                        <a:rPr lang="en-US" altLang="ko-KR" sz="900" b="1" dirty="0"/>
                        <a:t>[</a:t>
                      </a:r>
                      <a:r>
                        <a:rPr lang="ko-KR" altLang="en-US" sz="900" b="1" dirty="0"/>
                        <a:t>측정</a:t>
                      </a:r>
                      <a:r>
                        <a:rPr lang="en-US" altLang="ko-KR" sz="900" b="1" dirty="0"/>
                        <a:t>: LLM </a:t>
                      </a:r>
                      <a:r>
                        <a:rPr lang="ko-KR" altLang="en-US" sz="900" b="1" dirty="0"/>
                        <a:t>출력 정확도 </a:t>
                      </a:r>
                      <a:r>
                        <a:rPr lang="en-US" altLang="ko-KR" sz="900" b="1" dirty="0"/>
                        <a:t>(F1 Score) &lt; Baseline </a:t>
                      </a:r>
                      <a:r>
                        <a:rPr lang="ko-KR" altLang="en-US" sz="900" b="1" dirty="0"/>
                        <a:t>대비 감소율 </a:t>
                      </a:r>
                      <a:r>
                        <a:rPr lang="en-US" altLang="ko-KR" sz="900" b="1" dirty="0"/>
                        <a:t>3%] ]</a:t>
                      </a:r>
                      <a:endParaRPr lang="ko-KR" altLang="en-US" sz="900" dirty="0"/>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5</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770318207"/>
                  </a:ext>
                </a:extLst>
              </a:tr>
              <a:tr h="468000">
                <a:tc>
                  <a:txBody>
                    <a:bodyPr/>
                    <a:lstStyle/>
                    <a:p>
                      <a:r>
                        <a:rPr lang="en-US" sz="900" dirty="0"/>
                        <a:t>QA-06</a:t>
                      </a:r>
                    </a:p>
                  </a:txBody>
                  <a:tcPr anchor="ctr">
                    <a:solidFill>
                      <a:schemeClr val="bg1"/>
                    </a:solidFill>
                  </a:tcPr>
                </a:tc>
                <a:tc>
                  <a:txBody>
                    <a:bodyPr/>
                    <a:lstStyle/>
                    <a:p>
                      <a:r>
                        <a:rPr lang="en-US" sz="900" dirty="0"/>
                        <a:t>Co-existence</a:t>
                      </a:r>
                    </a:p>
                  </a:txBody>
                  <a:tcPr anchor="ctr">
                    <a:solidFill>
                      <a:schemeClr val="bg1"/>
                    </a:solidFill>
                  </a:tcPr>
                </a:tc>
                <a:tc>
                  <a:txBody>
                    <a:bodyPr/>
                    <a:lstStyle/>
                    <a:p>
                      <a:r>
                        <a:rPr lang="ko-KR" altLang="en-US" sz="900" dirty="0"/>
                        <a:t>이동 트래픽 공존</a:t>
                      </a:r>
                    </a:p>
                  </a:txBody>
                  <a:tcPr anchor="ctr">
                    <a:solidFill>
                      <a:schemeClr val="bg1"/>
                    </a:solidFill>
                  </a:tcPr>
                </a:tc>
                <a:tc>
                  <a:txBody>
                    <a:bodyPr/>
                    <a:lstStyle/>
                    <a:p>
                      <a:r>
                        <a:rPr lang="ko-KR" altLang="en-US" sz="900" b="0" dirty="0"/>
                        <a:t>데이터 이동</a:t>
                      </a:r>
                      <a:r>
                        <a:rPr lang="en-US" altLang="ko-KR" sz="900" b="0" dirty="0"/>
                        <a:t>·</a:t>
                      </a:r>
                      <a:r>
                        <a:rPr lang="ko-KR" altLang="en-US" sz="900" b="0" dirty="0"/>
                        <a:t>복원 트래픽과 서빙 요청이 같은 자원을 동시에 쓰는 상황에서도 서빙 성능이 유지되어야 한다</a:t>
                      </a:r>
                      <a:r>
                        <a:rPr lang="en-US" altLang="ko-KR" sz="900" b="0" dirty="0"/>
                        <a:t>.</a:t>
                      </a:r>
                      <a:br>
                        <a:rPr lang="en-US" altLang="ko-KR" sz="900" b="0" dirty="0"/>
                      </a:br>
                      <a:r>
                        <a:rPr lang="en-US" altLang="ko-KR" sz="900" b="0" dirty="0"/>
                        <a:t>[</a:t>
                      </a:r>
                      <a:r>
                        <a:rPr lang="ko-KR" altLang="en-US" sz="900" b="0" dirty="0"/>
                        <a:t>측정</a:t>
                      </a:r>
                      <a:r>
                        <a:rPr lang="en-US" altLang="ko-KR" sz="900" b="0" dirty="0"/>
                        <a:t>: </a:t>
                      </a:r>
                      <a:r>
                        <a:rPr lang="ko-KR" altLang="en-US" sz="900" b="0" dirty="0"/>
                        <a:t>서빙 </a:t>
                      </a:r>
                      <a:r>
                        <a:rPr lang="en-US" altLang="ko-KR" sz="900" b="0" dirty="0"/>
                        <a:t>TTFT·TPOT </a:t>
                      </a:r>
                      <a:r>
                        <a:rPr lang="ko-KR" altLang="en-US" sz="900" b="0" dirty="0"/>
                        <a:t>증가율 </a:t>
                      </a:r>
                      <a:r>
                        <a:rPr lang="en-US" altLang="ko-KR" sz="900" b="0" dirty="0"/>
                        <a:t>&lt; 10% ]</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H</a:t>
                      </a:r>
                    </a:p>
                  </a:txBody>
                  <a:tcPr anchor="ctr">
                    <a:solidFill>
                      <a:schemeClr val="bg1"/>
                    </a:solidFill>
                  </a:tcPr>
                </a:tc>
                <a:tc>
                  <a:txBody>
                    <a:bodyPr/>
                    <a:lstStyle/>
                    <a:p>
                      <a:r>
                        <a:rPr lang="en-US" altLang="ko-KR" sz="900" dirty="0"/>
                        <a:t>6</a:t>
                      </a:r>
                      <a:endParaRPr lang="ko-KR" altLang="en-US" sz="900" dirty="0"/>
                    </a:p>
                  </a:txBody>
                  <a:tcPr anchor="ctr">
                    <a:solidFill>
                      <a:schemeClr val="bg1"/>
                    </a:solidFill>
                  </a:tcPr>
                </a:tc>
                <a:extLst>
                  <a:ext uri="{0D108BD9-81ED-4DB2-BD59-A6C34878D82A}">
                    <a16:rowId xmlns:a16="http://schemas.microsoft.com/office/drawing/2014/main" val="3657058577"/>
                  </a:ext>
                </a:extLst>
              </a:tr>
              <a:tr h="468000">
                <a:tc>
                  <a:txBody>
                    <a:bodyPr/>
                    <a:lstStyle/>
                    <a:p>
                      <a:r>
                        <a:rPr lang="en-US" sz="900" dirty="0"/>
                        <a:t>QA-07</a:t>
                      </a:r>
                    </a:p>
                  </a:txBody>
                  <a:tcPr anchor="ctr">
                    <a:solidFill>
                      <a:schemeClr val="bg1"/>
                    </a:solidFill>
                  </a:tcPr>
                </a:tc>
                <a:tc>
                  <a:txBody>
                    <a:bodyPr/>
                    <a:lstStyle/>
                    <a:p>
                      <a:r>
                        <a:rPr lang="en-US" sz="900" dirty="0"/>
                        <a:t>Fault tolerance</a:t>
                      </a:r>
                    </a:p>
                  </a:txBody>
                  <a:tcPr anchor="ctr">
                    <a:solidFill>
                      <a:schemeClr val="bg1"/>
                    </a:solidFill>
                  </a:tcPr>
                </a:tc>
                <a:tc>
                  <a:txBody>
                    <a:bodyPr/>
                    <a:lstStyle/>
                    <a:p>
                      <a:r>
                        <a:rPr lang="ko-KR" altLang="en-US" sz="900" dirty="0"/>
                        <a:t>전송</a:t>
                      </a:r>
                      <a:r>
                        <a:rPr lang="en-US" altLang="ko-KR" sz="900" dirty="0"/>
                        <a:t>·offload </a:t>
                      </a:r>
                      <a:r>
                        <a:rPr lang="ko-KR" altLang="en-US" sz="900" dirty="0"/>
                        <a:t>실패 대체</a:t>
                      </a:r>
                    </a:p>
                  </a:txBody>
                  <a:tcPr anchor="ctr">
                    <a:solidFill>
                      <a:schemeClr val="bg1"/>
                    </a:solidFill>
                  </a:tcPr>
                </a:tc>
                <a:tc>
                  <a:txBody>
                    <a:bodyPr/>
                    <a:lstStyle/>
                    <a:p>
                      <a:r>
                        <a:rPr lang="en-US" altLang="ko-KR" sz="900" b="0" dirty="0"/>
                        <a:t>KV </a:t>
                      </a:r>
                      <a:r>
                        <a:rPr lang="ko-KR" altLang="en-US" sz="900" b="0" dirty="0"/>
                        <a:t>전송이나 </a:t>
                      </a:r>
                      <a:r>
                        <a:rPr lang="en-US" altLang="ko-KR" sz="900" b="0" dirty="0"/>
                        <a:t>offload</a:t>
                      </a:r>
                      <a:r>
                        <a:rPr lang="ko-KR" altLang="en-US" sz="900" b="0" dirty="0"/>
                        <a:t>가 실패하거나 시간 초과해도 재계산 등 대체 경로로 요청 처리를 이어가야 한다</a:t>
                      </a:r>
                      <a:r>
                        <a:rPr lang="en-US" altLang="ko-KR" sz="900" b="0" dirty="0"/>
                        <a:t>.</a:t>
                      </a:r>
                      <a:br>
                        <a:rPr lang="en-US" altLang="ko-KR" sz="900" b="0" dirty="0"/>
                      </a:br>
                      <a:r>
                        <a:rPr lang="en-US" altLang="ko-KR" sz="900" b="0" dirty="0"/>
                        <a:t>[</a:t>
                      </a:r>
                      <a:r>
                        <a:rPr lang="ko-KR" altLang="en-US" sz="900" b="0" dirty="0"/>
                        <a:t>측정</a:t>
                      </a:r>
                      <a:r>
                        <a:rPr lang="en-US" altLang="ko-KR" sz="900" b="0" dirty="0"/>
                        <a:t>: fallback </a:t>
                      </a:r>
                      <a:r>
                        <a:rPr lang="ko-KR" altLang="en-US" sz="900" b="0" dirty="0"/>
                        <a:t>성공률 </a:t>
                      </a:r>
                      <a:r>
                        <a:rPr lang="en-US" altLang="ko-KR" sz="900" b="0" dirty="0"/>
                        <a:t>&gt; 99.9 ]</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altLang="ko-KR" sz="900" dirty="0"/>
                        <a:t>7</a:t>
                      </a:r>
                      <a:endParaRPr lang="ko-KR" altLang="en-US" sz="900" dirty="0"/>
                    </a:p>
                  </a:txBody>
                  <a:tcPr anchor="ctr">
                    <a:solidFill>
                      <a:schemeClr val="bg1"/>
                    </a:solidFill>
                  </a:tcPr>
                </a:tc>
                <a:extLst>
                  <a:ext uri="{0D108BD9-81ED-4DB2-BD59-A6C34878D82A}">
                    <a16:rowId xmlns:a16="http://schemas.microsoft.com/office/drawing/2014/main" val="3774210047"/>
                  </a:ext>
                </a:extLst>
              </a:tr>
              <a:tr h="468000">
                <a:tc>
                  <a:txBody>
                    <a:bodyPr/>
                    <a:lstStyle/>
                    <a:p>
                      <a:r>
                        <a:rPr lang="en-US" sz="900" dirty="0"/>
                        <a:t>QA-08</a:t>
                      </a:r>
                    </a:p>
                  </a:txBody>
                  <a:tcPr anchor="ctr">
                    <a:solidFill>
                      <a:schemeClr val="bg1"/>
                    </a:solidFill>
                  </a:tcPr>
                </a:tc>
                <a:tc>
                  <a:txBody>
                    <a:bodyPr/>
                    <a:lstStyle/>
                    <a:p>
                      <a:r>
                        <a:rPr lang="en-US" sz="900" dirty="0"/>
                        <a:t>Adaptability</a:t>
                      </a:r>
                    </a:p>
                  </a:txBody>
                  <a:tcPr anchor="ctr">
                    <a:solidFill>
                      <a:schemeClr val="bg1"/>
                    </a:solidFill>
                  </a:tcPr>
                </a:tc>
                <a:tc>
                  <a:txBody>
                    <a:bodyPr/>
                    <a:lstStyle/>
                    <a:p>
                      <a:r>
                        <a:rPr lang="ko-KR" altLang="en-US" sz="900" dirty="0"/>
                        <a:t>워크로드 변화 적응</a:t>
                      </a:r>
                    </a:p>
                  </a:txBody>
                  <a:tcPr anchor="ctr">
                    <a:solidFill>
                      <a:schemeClr val="bg1"/>
                    </a:solidFill>
                  </a:tcPr>
                </a:tc>
                <a:tc>
                  <a:txBody>
                    <a:bodyPr/>
                    <a:lstStyle/>
                    <a:p>
                      <a:r>
                        <a:rPr lang="ko-KR" altLang="en-US" sz="900" b="0" dirty="0"/>
                        <a:t>입력 분포나 접근 패턴이 바뀌어도 접근 통계를 반영해 배치를 다시 맞추고 성능을 회복해야 한다</a:t>
                      </a:r>
                      <a:r>
                        <a:rPr lang="en-US" altLang="ko-KR" sz="900" b="0" dirty="0"/>
                        <a:t>.</a:t>
                      </a:r>
                      <a:br>
                        <a:rPr lang="en-US" altLang="ko-KR" sz="900" b="0" dirty="0"/>
                      </a:br>
                      <a:r>
                        <a:rPr lang="en-US" altLang="ko-KR" sz="900" b="0" dirty="0">
                          <a:solidFill>
                            <a:srgbClr val="000000"/>
                          </a:solidFill>
                          <a:latin typeface="+mn-lt"/>
                        </a:rPr>
                        <a:t>[</a:t>
                      </a:r>
                      <a:r>
                        <a:rPr lang="ko-KR" altLang="en-US" sz="900" b="0" dirty="0">
                          <a:solidFill>
                            <a:srgbClr val="000000"/>
                          </a:solidFill>
                          <a:latin typeface="+mn-lt"/>
                        </a:rPr>
                        <a:t>측정</a:t>
                      </a:r>
                      <a:r>
                        <a:rPr lang="en-US" altLang="ko-KR" sz="900" b="0" dirty="0">
                          <a:solidFill>
                            <a:srgbClr val="000000"/>
                          </a:solidFill>
                          <a:latin typeface="+mn-lt"/>
                        </a:rPr>
                        <a:t>: </a:t>
                      </a:r>
                      <a:r>
                        <a:rPr lang="ko-KR" altLang="en-US" sz="900" b="0" dirty="0">
                          <a:solidFill>
                            <a:srgbClr val="000000"/>
                          </a:solidFill>
                          <a:latin typeface="+mn-lt"/>
                        </a:rPr>
                        <a:t>원인 파악 시간 </a:t>
                      </a:r>
                      <a:r>
                        <a:rPr lang="en-US" altLang="ko-KR" sz="900" b="0" dirty="0">
                          <a:solidFill>
                            <a:srgbClr val="000000"/>
                          </a:solidFill>
                          <a:latin typeface="+mn-lt"/>
                        </a:rPr>
                        <a:t>&lt; 1 </a:t>
                      </a:r>
                      <a:r>
                        <a:rPr lang="ko-KR" altLang="en-US" sz="900" b="0" dirty="0">
                          <a:solidFill>
                            <a:srgbClr val="000000"/>
                          </a:solidFill>
                          <a:latin typeface="+mn-lt"/>
                        </a:rPr>
                        <a:t>시간 </a:t>
                      </a:r>
                      <a:r>
                        <a:rPr lang="en-US" altLang="ko-KR" sz="900" b="0" dirty="0">
                          <a:solidFill>
                            <a:srgbClr val="000000"/>
                          </a:solidFill>
                          <a:latin typeface="+mn-lt"/>
                        </a:rPr>
                        <a:t>(</a:t>
                      </a:r>
                      <a:r>
                        <a:rPr lang="ko-KR" altLang="en-US" sz="900" b="0" dirty="0">
                          <a:solidFill>
                            <a:srgbClr val="000000"/>
                          </a:solidFill>
                          <a:latin typeface="+mn-lt"/>
                        </a:rPr>
                        <a:t>개발자 </a:t>
                      </a:r>
                      <a:r>
                        <a:rPr lang="en-US" altLang="ko-KR" sz="900" b="0" dirty="0">
                          <a:solidFill>
                            <a:srgbClr val="000000"/>
                          </a:solidFill>
                          <a:latin typeface="+mn-lt"/>
                        </a:rPr>
                        <a:t>1</a:t>
                      </a:r>
                      <a:r>
                        <a:rPr lang="ko-KR" altLang="en-US" sz="900" b="0" dirty="0">
                          <a:solidFill>
                            <a:srgbClr val="000000"/>
                          </a:solidFill>
                          <a:latin typeface="+mn-lt"/>
                        </a:rPr>
                        <a:t>인</a:t>
                      </a:r>
                      <a:r>
                        <a:rPr lang="en-US" altLang="ko-KR" sz="900" b="0" dirty="0">
                          <a:solidFill>
                            <a:srgbClr val="000000"/>
                          </a:solidFill>
                          <a:latin typeface="+mn-lt"/>
                        </a:rPr>
                        <a:t>, </a:t>
                      </a:r>
                      <a:r>
                        <a:rPr lang="ko-KR" altLang="en-US" sz="900" b="0" dirty="0">
                          <a:solidFill>
                            <a:srgbClr val="000000"/>
                          </a:solidFill>
                          <a:latin typeface="+mn-lt"/>
                        </a:rPr>
                        <a:t>결정 </a:t>
                      </a:r>
                      <a:r>
                        <a:rPr lang="en-US" altLang="ko-KR" sz="900" b="0" dirty="0">
                          <a:solidFill>
                            <a:srgbClr val="000000"/>
                          </a:solidFill>
                          <a:latin typeface="+mn-lt"/>
                        </a:rPr>
                        <a:t>1</a:t>
                      </a:r>
                      <a:r>
                        <a:rPr lang="ko-KR" altLang="en-US" sz="900" b="0" dirty="0">
                          <a:solidFill>
                            <a:srgbClr val="000000"/>
                          </a:solidFill>
                          <a:latin typeface="+mn-lt"/>
                        </a:rPr>
                        <a:t>건 기준</a:t>
                      </a:r>
                      <a:r>
                        <a:rPr lang="en-US" altLang="ko-KR" sz="900" b="0" dirty="0">
                          <a:solidFill>
                            <a:srgbClr val="000000"/>
                          </a:solidFill>
                          <a:latin typeface="+mn-lt"/>
                        </a:rPr>
                        <a:t>) ]</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altLang="ko-KR" sz="900" dirty="0"/>
                        <a:t>8</a:t>
                      </a:r>
                      <a:endParaRPr lang="ko-KR" altLang="en-US" sz="900" dirty="0"/>
                    </a:p>
                  </a:txBody>
                  <a:tcPr anchor="ctr">
                    <a:solidFill>
                      <a:schemeClr val="bg1"/>
                    </a:solidFill>
                  </a:tcPr>
                </a:tc>
                <a:extLst>
                  <a:ext uri="{0D108BD9-81ED-4DB2-BD59-A6C34878D82A}">
                    <a16:rowId xmlns:a16="http://schemas.microsoft.com/office/drawing/2014/main" val="2197771220"/>
                  </a:ext>
                </a:extLst>
              </a:tr>
              <a:tr h="468000">
                <a:tc>
                  <a:txBody>
                    <a:bodyPr/>
                    <a:lstStyle/>
                    <a:p>
                      <a:r>
                        <a:rPr lang="en-US" sz="900" dirty="0"/>
                        <a:t>QA-09</a:t>
                      </a:r>
                    </a:p>
                  </a:txBody>
                  <a:tcPr anchor="ctr">
                    <a:solidFill>
                      <a:schemeClr val="bg1"/>
                    </a:solidFill>
                  </a:tcPr>
                </a:tc>
                <a:tc>
                  <a:txBody>
                    <a:bodyPr/>
                    <a:lstStyle/>
                    <a:p>
                      <a:r>
                        <a:rPr lang="en-US" sz="900"/>
                        <a:t>Interoperability</a:t>
                      </a:r>
                    </a:p>
                  </a:txBody>
                  <a:tcPr anchor="ctr">
                    <a:solidFill>
                      <a:schemeClr val="bg1"/>
                    </a:solidFill>
                  </a:tcPr>
                </a:tc>
                <a:tc>
                  <a:txBody>
                    <a:bodyPr/>
                    <a:lstStyle/>
                    <a:p>
                      <a:r>
                        <a:rPr lang="ko-KR" altLang="en-US" sz="900"/>
                        <a:t>외부 구성요소 연동</a:t>
                      </a:r>
                    </a:p>
                  </a:txBody>
                  <a:tcPr anchor="ctr">
                    <a:solidFill>
                      <a:schemeClr val="bg1"/>
                    </a:solidFill>
                  </a:tcPr>
                </a:tc>
                <a:tc>
                  <a:txBody>
                    <a:bodyPr/>
                    <a:lstStyle/>
                    <a:p>
                      <a:r>
                        <a:rPr lang="en-US" altLang="ko-KR" sz="900" b="0" dirty="0" err="1"/>
                        <a:t>vLLM</a:t>
                      </a:r>
                      <a:r>
                        <a:rPr lang="en-US" altLang="ko-KR" sz="900" b="0" dirty="0"/>
                        <a:t>, </a:t>
                      </a:r>
                      <a:r>
                        <a:rPr lang="en-US" altLang="ko-KR" sz="900" b="0" dirty="0" err="1"/>
                        <a:t>llm</a:t>
                      </a:r>
                      <a:r>
                        <a:rPr lang="en-US" altLang="ko-KR" sz="900" b="0" dirty="0"/>
                        <a:t>-d</a:t>
                      </a:r>
                      <a:r>
                        <a:rPr lang="en-US" altLang="ko-KR" sz="900" b="0" baseline="0" dirty="0"/>
                        <a:t> </a:t>
                      </a:r>
                      <a:r>
                        <a:rPr lang="ko-KR" altLang="en-US" sz="900" b="0" dirty="0"/>
                        <a:t>같은 외부 구성요소와 연동할 때 해당 구성요소의 소스를 수정하지 않아야 한다</a:t>
                      </a:r>
                      <a:r>
                        <a:rPr lang="en-US" altLang="ko-KR" sz="900" b="0" dirty="0"/>
                        <a:t>.</a:t>
                      </a:r>
                      <a:br>
                        <a:rPr lang="en-US" altLang="ko-KR" sz="900" b="0" dirty="0"/>
                      </a:br>
                      <a:r>
                        <a:rPr lang="en-US" altLang="ko-KR" sz="900" b="0" dirty="0"/>
                        <a:t>[</a:t>
                      </a:r>
                      <a:r>
                        <a:rPr lang="ko-KR" altLang="en-US" sz="900" b="0" dirty="0"/>
                        <a:t>측정</a:t>
                      </a:r>
                      <a:r>
                        <a:rPr lang="en-US" altLang="ko-KR" sz="900" b="0" dirty="0"/>
                        <a:t>: </a:t>
                      </a:r>
                      <a:r>
                        <a:rPr lang="ko-KR" altLang="en-US" sz="900" b="0" dirty="0"/>
                        <a:t>무수정 연동 인터페이스 수 </a:t>
                      </a:r>
                      <a:r>
                        <a:rPr lang="en-US" altLang="ko-KR" sz="900" b="0" dirty="0"/>
                        <a:t>&gt; 3 </a:t>
                      </a:r>
                      <a:r>
                        <a:rPr lang="ko-KR" altLang="en-US" sz="900" b="0" dirty="0"/>
                        <a:t>개 </a:t>
                      </a:r>
                      <a:r>
                        <a:rPr lang="en-US" altLang="ko-KR" sz="900" b="0" dirty="0"/>
                        <a:t>]</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a:t>L</a:t>
                      </a:r>
                    </a:p>
                  </a:txBody>
                  <a:tcPr anchor="ctr">
                    <a:solidFill>
                      <a:schemeClr val="bg1"/>
                    </a:solidFill>
                  </a:tcPr>
                </a:tc>
                <a:tc>
                  <a:txBody>
                    <a:bodyPr/>
                    <a:lstStyle/>
                    <a:p>
                      <a:r>
                        <a:rPr lang="en-US" altLang="ko-KR" sz="900" dirty="0"/>
                        <a:t>9</a:t>
                      </a:r>
                      <a:endParaRPr lang="ko-KR" altLang="en-US" sz="900" dirty="0"/>
                    </a:p>
                  </a:txBody>
                  <a:tcPr anchor="ctr">
                    <a:solidFill>
                      <a:schemeClr val="bg1"/>
                    </a:solidFill>
                  </a:tcPr>
                </a:tc>
                <a:extLst>
                  <a:ext uri="{0D108BD9-81ED-4DB2-BD59-A6C34878D82A}">
                    <a16:rowId xmlns:a16="http://schemas.microsoft.com/office/drawing/2014/main" val="116595625"/>
                  </a:ext>
                </a:extLst>
              </a:tr>
              <a:tr h="468000">
                <a:tc>
                  <a:txBody>
                    <a:bodyPr/>
                    <a:lstStyle/>
                    <a:p>
                      <a:r>
                        <a:rPr lang="en-US" sz="900" dirty="0"/>
                        <a:t>QA-10</a:t>
                      </a:r>
                    </a:p>
                  </a:txBody>
                  <a:tcPr anchor="ctr">
                    <a:solidFill>
                      <a:schemeClr val="bg1"/>
                    </a:solidFill>
                  </a:tcPr>
                </a:tc>
                <a:tc>
                  <a:txBody>
                    <a:bodyPr/>
                    <a:lstStyle/>
                    <a:p>
                      <a:r>
                        <a:rPr lang="en-US" sz="900"/>
                        <a:t>Analysability</a:t>
                      </a:r>
                    </a:p>
                  </a:txBody>
                  <a:tcPr anchor="ctr">
                    <a:solidFill>
                      <a:schemeClr val="bg1"/>
                    </a:solidFill>
                  </a:tcPr>
                </a:tc>
                <a:tc>
                  <a:txBody>
                    <a:bodyPr/>
                    <a:lstStyle/>
                    <a:p>
                      <a:r>
                        <a:rPr lang="ko-KR" altLang="en-US" sz="900" dirty="0"/>
                        <a:t>결정 근거 진단</a:t>
                      </a:r>
                    </a:p>
                  </a:txBody>
                  <a:tcPr anchor="ctr">
                    <a:solidFill>
                      <a:schemeClr val="bg1"/>
                    </a:solidFill>
                  </a:tcPr>
                </a:tc>
                <a:tc>
                  <a:txBody>
                    <a:bodyPr/>
                    <a:lstStyle/>
                    <a:p>
                      <a:r>
                        <a:rPr lang="ko-KR" altLang="en-US" sz="900" b="0" dirty="0"/>
                        <a:t>이동</a:t>
                      </a:r>
                      <a:r>
                        <a:rPr lang="en-US" altLang="ko-KR" sz="900" b="0" dirty="0"/>
                        <a:t>·</a:t>
                      </a:r>
                      <a:r>
                        <a:rPr lang="ko-KR" altLang="en-US" sz="900" b="0" dirty="0"/>
                        <a:t>배치</a:t>
                      </a:r>
                      <a:r>
                        <a:rPr lang="en-US" altLang="ko-KR" sz="900" b="0" dirty="0"/>
                        <a:t>·</a:t>
                      </a:r>
                      <a:r>
                        <a:rPr lang="ko-KR" altLang="en-US" sz="900" b="0" dirty="0"/>
                        <a:t>라우팅 결정이 기대와 다를 때 결정 입력과 근거 기록으로 원인을 찾을 수 있어야 한다</a:t>
                      </a:r>
                      <a:r>
                        <a:rPr lang="en-US" altLang="ko-KR" sz="900" b="0" dirty="0"/>
                        <a:t>.</a:t>
                      </a:r>
                      <a:br>
                        <a:rPr lang="en-US" altLang="ko-KR" sz="900" b="0" dirty="0"/>
                      </a:br>
                      <a:r>
                        <a:rPr lang="en-US" altLang="ko-KR" sz="900" b="0" dirty="0">
                          <a:solidFill>
                            <a:srgbClr val="000000"/>
                          </a:solidFill>
                          <a:latin typeface="+mn-lt"/>
                        </a:rPr>
                        <a:t>[</a:t>
                      </a:r>
                      <a:r>
                        <a:rPr lang="ko-KR" altLang="en-US" sz="900" b="0" dirty="0">
                          <a:solidFill>
                            <a:srgbClr val="000000"/>
                          </a:solidFill>
                          <a:latin typeface="+mn-lt"/>
                        </a:rPr>
                        <a:t>측정</a:t>
                      </a:r>
                      <a:r>
                        <a:rPr lang="en-US" altLang="ko-KR" sz="900" b="0" dirty="0">
                          <a:solidFill>
                            <a:srgbClr val="000000"/>
                          </a:solidFill>
                          <a:latin typeface="+mn-lt"/>
                        </a:rPr>
                        <a:t>: </a:t>
                      </a:r>
                      <a:r>
                        <a:rPr lang="ko-KR" altLang="en-US" sz="900" b="0" dirty="0">
                          <a:solidFill>
                            <a:srgbClr val="000000"/>
                          </a:solidFill>
                          <a:latin typeface="+mn-lt"/>
                        </a:rPr>
                        <a:t>원인 파악 시간 </a:t>
                      </a:r>
                      <a:r>
                        <a:rPr lang="en-US" altLang="ko-KR" sz="900" b="0" dirty="0">
                          <a:solidFill>
                            <a:srgbClr val="000000"/>
                          </a:solidFill>
                          <a:latin typeface="+mn-lt"/>
                        </a:rPr>
                        <a:t>&lt; 1 </a:t>
                      </a:r>
                      <a:r>
                        <a:rPr lang="ko-KR" altLang="en-US" sz="900" b="0" dirty="0">
                          <a:solidFill>
                            <a:srgbClr val="000000"/>
                          </a:solidFill>
                          <a:latin typeface="+mn-lt"/>
                        </a:rPr>
                        <a:t>시간 </a:t>
                      </a:r>
                      <a:r>
                        <a:rPr lang="en-US" altLang="ko-KR" sz="900" b="0" dirty="0">
                          <a:solidFill>
                            <a:srgbClr val="000000"/>
                          </a:solidFill>
                          <a:latin typeface="+mn-lt"/>
                        </a:rPr>
                        <a:t>(</a:t>
                      </a:r>
                      <a:r>
                        <a:rPr lang="ko-KR" altLang="en-US" sz="900" b="0" dirty="0">
                          <a:solidFill>
                            <a:srgbClr val="000000"/>
                          </a:solidFill>
                          <a:latin typeface="+mn-lt"/>
                        </a:rPr>
                        <a:t>개발자 </a:t>
                      </a:r>
                      <a:r>
                        <a:rPr lang="en-US" altLang="ko-KR" sz="900" b="0" dirty="0">
                          <a:solidFill>
                            <a:srgbClr val="000000"/>
                          </a:solidFill>
                          <a:latin typeface="+mn-lt"/>
                        </a:rPr>
                        <a:t>1</a:t>
                      </a:r>
                      <a:r>
                        <a:rPr lang="ko-KR" altLang="en-US" sz="900" b="0" dirty="0">
                          <a:solidFill>
                            <a:srgbClr val="000000"/>
                          </a:solidFill>
                          <a:latin typeface="+mn-lt"/>
                        </a:rPr>
                        <a:t>인</a:t>
                      </a:r>
                      <a:r>
                        <a:rPr lang="en-US" altLang="ko-KR" sz="900" b="0" dirty="0">
                          <a:solidFill>
                            <a:srgbClr val="000000"/>
                          </a:solidFill>
                          <a:latin typeface="+mn-lt"/>
                        </a:rPr>
                        <a:t>, </a:t>
                      </a:r>
                      <a:r>
                        <a:rPr lang="ko-KR" altLang="en-US" sz="900" b="0" dirty="0">
                          <a:solidFill>
                            <a:srgbClr val="000000"/>
                          </a:solidFill>
                          <a:latin typeface="+mn-lt"/>
                        </a:rPr>
                        <a:t>결정 </a:t>
                      </a:r>
                      <a:r>
                        <a:rPr lang="en-US" altLang="ko-KR" sz="900" b="0" dirty="0">
                          <a:solidFill>
                            <a:srgbClr val="000000"/>
                          </a:solidFill>
                          <a:latin typeface="+mn-lt"/>
                        </a:rPr>
                        <a:t>1</a:t>
                      </a:r>
                      <a:r>
                        <a:rPr lang="ko-KR" altLang="en-US" sz="900" b="0" dirty="0">
                          <a:solidFill>
                            <a:srgbClr val="000000"/>
                          </a:solidFill>
                          <a:latin typeface="+mn-lt"/>
                        </a:rPr>
                        <a:t>건 기준</a:t>
                      </a:r>
                      <a:r>
                        <a:rPr lang="en-US" altLang="ko-KR" sz="900" b="0" dirty="0">
                          <a:solidFill>
                            <a:srgbClr val="000000"/>
                          </a:solidFill>
                          <a:latin typeface="+mn-lt"/>
                        </a:rPr>
                        <a:t>) ]</a:t>
                      </a:r>
                      <a:endParaRPr lang="ko-KR" altLang="en-US" sz="900" b="0" dirty="0"/>
                    </a:p>
                  </a:txBody>
                  <a:tcPr anchor="ctr">
                    <a:solidFill>
                      <a:schemeClr val="bg1"/>
                    </a:solidFill>
                  </a:tcPr>
                </a:tc>
                <a:tc>
                  <a:txBody>
                    <a:bodyPr/>
                    <a:lstStyle/>
                    <a:p>
                      <a:r>
                        <a:rPr lang="en-US" sz="900"/>
                        <a:t>L</a:t>
                      </a:r>
                    </a:p>
                  </a:txBody>
                  <a:tcPr anchor="ctr">
                    <a:solidFill>
                      <a:schemeClr val="bg1"/>
                    </a:solidFill>
                  </a:tcPr>
                </a:tc>
                <a:tc>
                  <a:txBody>
                    <a:bodyPr/>
                    <a:lstStyle/>
                    <a:p>
                      <a:r>
                        <a:rPr lang="en-US" sz="900"/>
                        <a:t>M</a:t>
                      </a:r>
                    </a:p>
                  </a:txBody>
                  <a:tcPr anchor="ctr">
                    <a:solidFill>
                      <a:schemeClr val="bg1"/>
                    </a:solidFill>
                  </a:tcPr>
                </a:tc>
                <a:tc>
                  <a:txBody>
                    <a:bodyPr/>
                    <a:lstStyle/>
                    <a:p>
                      <a:r>
                        <a:rPr lang="en-US" altLang="ko-KR" sz="900" dirty="0"/>
                        <a:t>10</a:t>
                      </a:r>
                      <a:endParaRPr lang="ko-KR" altLang="en-US" sz="900" dirty="0"/>
                    </a:p>
                  </a:txBody>
                  <a:tcPr anchor="ctr">
                    <a:solidFill>
                      <a:schemeClr val="bg1"/>
                    </a:solidFill>
                  </a:tcPr>
                </a:tc>
                <a:extLst>
                  <a:ext uri="{0D108BD9-81ED-4DB2-BD59-A6C34878D82A}">
                    <a16:rowId xmlns:a16="http://schemas.microsoft.com/office/drawing/2014/main" val="1365373107"/>
                  </a:ext>
                </a:extLst>
              </a:tr>
            </a:tbl>
          </a:graphicData>
        </a:graphic>
      </p:graphicFrame>
      <p:sp>
        <p:nvSpPr>
          <p:cNvPr id="17" name="실행 단추: 앞으로 또는 다음 1">
            <a:hlinkClick r:id="rId4" action="ppaction://hlinksldjump" highlightClick="1"/>
            <a:extLst>
              <a:ext uri="{FF2B5EF4-FFF2-40B4-BE49-F238E27FC236}">
                <a16:creationId xmlns:a16="http://schemas.microsoft.com/office/drawing/2014/main" id="{B43A4CC6-3683-436B-940F-BD679BB1A116}"/>
              </a:ext>
            </a:extLst>
          </p:cNvPr>
          <p:cNvSpPr/>
          <p:nvPr/>
        </p:nvSpPr>
        <p:spPr>
          <a:xfrm>
            <a:off x="10017369" y="1688123"/>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실행 단추: 앞으로 또는 다음 11">
            <a:hlinkClick r:id="rId5" action="ppaction://hlinksldjump" highlightClick="1"/>
            <a:extLst>
              <a:ext uri="{FF2B5EF4-FFF2-40B4-BE49-F238E27FC236}">
                <a16:creationId xmlns:a16="http://schemas.microsoft.com/office/drawing/2014/main" id="{F548B536-B5E4-4031-B737-6BDAD4553728}"/>
              </a:ext>
            </a:extLst>
          </p:cNvPr>
          <p:cNvSpPr/>
          <p:nvPr/>
        </p:nvSpPr>
        <p:spPr>
          <a:xfrm>
            <a:off x="10017369" y="213167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실행 단추: 앞으로 또는 다음 12">
            <a:hlinkClick r:id="rId6" action="ppaction://hlinksldjump" highlightClick="1"/>
            <a:extLst>
              <a:ext uri="{FF2B5EF4-FFF2-40B4-BE49-F238E27FC236}">
                <a16:creationId xmlns:a16="http://schemas.microsoft.com/office/drawing/2014/main" id="{DE8B2F21-45CF-4255-90CC-A0700C00549B}"/>
              </a:ext>
            </a:extLst>
          </p:cNvPr>
          <p:cNvSpPr/>
          <p:nvPr/>
        </p:nvSpPr>
        <p:spPr>
          <a:xfrm>
            <a:off x="10017369" y="2561197"/>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실행 단추: 앞으로 또는 다음 14">
            <a:hlinkClick r:id="rId7" action="ppaction://hlinksldjump" highlightClick="1"/>
            <a:extLst>
              <a:ext uri="{FF2B5EF4-FFF2-40B4-BE49-F238E27FC236}">
                <a16:creationId xmlns:a16="http://schemas.microsoft.com/office/drawing/2014/main" id="{A8878FE2-EE60-444F-928E-C8E8E200EC0C}"/>
              </a:ext>
            </a:extLst>
          </p:cNvPr>
          <p:cNvSpPr/>
          <p:nvPr/>
        </p:nvSpPr>
        <p:spPr>
          <a:xfrm>
            <a:off x="10017369" y="3085122"/>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실행 단추: 앞으로 또는 다음 3">
            <a:hlinkClick r:id="rId8" action="ppaction://hlinksldjump" highlightClick="1"/>
            <a:extLst>
              <a:ext uri="{FF2B5EF4-FFF2-40B4-BE49-F238E27FC236}">
                <a16:creationId xmlns:a16="http://schemas.microsoft.com/office/drawing/2014/main" id="{D0D1EB79-0F10-4C29-8756-3FFD242915BE}"/>
              </a:ext>
            </a:extLst>
          </p:cNvPr>
          <p:cNvSpPr/>
          <p:nvPr/>
        </p:nvSpPr>
        <p:spPr>
          <a:xfrm>
            <a:off x="1692613" y="1128409"/>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실행 단추: 앞으로 또는 다음 11">
            <a:hlinkClick r:id="rId9" action="ppaction://hlinksldjump" highlightClick="1"/>
            <a:extLst>
              <a:ext uri="{FF2B5EF4-FFF2-40B4-BE49-F238E27FC236}">
                <a16:creationId xmlns:a16="http://schemas.microsoft.com/office/drawing/2014/main" id="{415B962A-1112-4C06-B0E5-47CC46AD8FB4}"/>
              </a:ext>
            </a:extLst>
          </p:cNvPr>
          <p:cNvSpPr/>
          <p:nvPr/>
        </p:nvSpPr>
        <p:spPr>
          <a:xfrm>
            <a:off x="10017369" y="3523708"/>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263945916"/>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처리량</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000000"/>
                </a:solidFill>
                <a:latin typeface="맑은 고딕"/>
                <a:ea typeface="맑은 고딕"/>
              </a:rPr>
              <a:t>Baseline </a:t>
            </a:r>
            <a:r>
              <a:rPr lang="ko-KR" altLang="en-US" sz="1100" b="0" dirty="0">
                <a:solidFill>
                  <a:srgbClr val="000000"/>
                </a:solidFill>
                <a:latin typeface="맑은 고딕"/>
                <a:ea typeface="맑은 고딕"/>
              </a:rPr>
              <a:t>대비</a:t>
            </a:r>
            <a:r>
              <a:rPr lang="en-US" altLang="ko-KR" sz="1100" b="0" dirty="0">
                <a:solidFill>
                  <a:srgbClr val="000000"/>
                </a:solidFill>
                <a:latin typeface="맑은 고딕"/>
                <a:ea typeface="맑은 고딕"/>
              </a:rPr>
              <a:t>, SLO</a:t>
            </a:r>
            <a:r>
              <a:rPr lang="ko-KR" altLang="en-US" sz="1100" b="0" dirty="0">
                <a:solidFill>
                  <a:srgbClr val="000000"/>
                </a:solidFill>
                <a:latin typeface="맑은 고딕"/>
                <a:ea typeface="맑은 고딕"/>
              </a:rPr>
              <a:t>를 만족하는 조건에서의 처리량</a:t>
            </a:r>
            <a:r>
              <a:rPr lang="en-US" altLang="ko-KR" sz="1100" b="0" dirty="0">
                <a:solidFill>
                  <a:srgbClr val="000000"/>
                </a:solidFill>
                <a:latin typeface="맑은 고딕"/>
                <a:ea typeface="맑은 고딕"/>
              </a:rPr>
              <a:t>(Max</a:t>
            </a:r>
            <a:r>
              <a:rPr lang="ko-KR" altLang="en-US" sz="1100" b="0" dirty="0">
                <a:solidFill>
                  <a:srgbClr val="000000"/>
                </a:solidFill>
                <a:latin typeface="맑은 고딕"/>
                <a:ea typeface="맑은 고딕"/>
              </a:rPr>
              <a:t>값</a:t>
            </a:r>
            <a:r>
              <a:rPr lang="en-US" altLang="ko-KR" sz="1100" b="0" dirty="0">
                <a:solidFill>
                  <a:srgbClr val="000000"/>
                </a:solidFill>
                <a:latin typeface="맑은 고딕"/>
                <a:ea typeface="맑은 고딕"/>
              </a:rPr>
              <a:t>)</a:t>
            </a:r>
            <a:r>
              <a:rPr lang="ko-KR" altLang="en-US" sz="1100" b="0" dirty="0">
                <a:solidFill>
                  <a:srgbClr val="000000"/>
                </a:solidFill>
                <a:latin typeface="맑은 고딕"/>
                <a:ea typeface="맑은 고딕"/>
              </a:rPr>
              <a:t> 증가율 </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ubtitle">
            <a:extLst>
              <a:ext uri="{FF2B5EF4-FFF2-40B4-BE49-F238E27FC236}">
                <a16:creationId xmlns:a16="http://schemas.microsoft.com/office/drawing/2014/main" id="{83FC6577-760C-41A6-A45B-D5727304942A}"/>
              </a:ext>
            </a:extLst>
          </p:cNvPr>
          <p:cNvSpPr txBox="1"/>
          <p:nvPr/>
        </p:nvSpPr>
        <p:spPr>
          <a:xfrm>
            <a:off x="365760" y="1100189"/>
            <a:ext cx="11430000" cy="879856"/>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R = Max SLO goodput ÷ Baseline  </a:t>
            </a:r>
            <a:r>
              <a:rPr lang="en-US" sz="1100" b="0" dirty="0">
                <a:latin typeface="맑은 고딕"/>
                <a:ea typeface="맑은 고딕"/>
              </a:rPr>
              <a:t>(S</a:t>
            </a:r>
            <a:r>
              <a:rPr sz="1100" b="0" dirty="0">
                <a:latin typeface="맑은 고딕"/>
                <a:ea typeface="맑은 고딕"/>
              </a:rPr>
              <a:t>LO</a:t>
            </a:r>
            <a:r>
              <a:rPr lang="en-US" sz="1100" b="0" dirty="0">
                <a:latin typeface="맑은 고딕"/>
                <a:ea typeface="맑은 고딕"/>
              </a:rPr>
              <a:t>:</a:t>
            </a:r>
            <a:r>
              <a:rPr sz="1100" b="0" dirty="0">
                <a:latin typeface="맑은 고딕"/>
                <a:ea typeface="맑은 고딕"/>
              </a:rPr>
              <a:t> TTFT P99 ≤ 2 s, TPOT P99 ≤ 50 </a:t>
            </a:r>
            <a:r>
              <a:rPr sz="1100" b="0" dirty="0" err="1">
                <a:latin typeface="맑은 고딕"/>
                <a:ea typeface="맑은 고딕"/>
              </a:rPr>
              <a:t>ms</a:t>
            </a:r>
            <a:r>
              <a:rPr lang="en-US" sz="1100" b="0" dirty="0">
                <a:latin typeface="맑은 고딕"/>
                <a:ea typeface="맑은 고딕"/>
              </a:rPr>
              <a:t>) </a:t>
            </a:r>
            <a:endParaRPr lang="en-US" altLang="ko-KR" sz="800" b="0" dirty="0">
              <a:latin typeface="맑은 고딕"/>
              <a:ea typeface="맑은 고딕"/>
            </a:endParaRPr>
          </a:p>
          <a:p>
            <a:pPr marL="171450" indent="-171450">
              <a:lnSpc>
                <a:spcPct val="150000"/>
              </a:lnSpc>
              <a:spcAft>
                <a:spcPts val="250"/>
              </a:spcAft>
              <a:buFontTx/>
              <a:buChar char="-"/>
            </a:pPr>
            <a:r>
              <a:rPr lang="ko-KR" altLang="en-US" sz="1100" b="0" dirty="0">
                <a:solidFill>
                  <a:srgbClr val="000000"/>
                </a:solidFill>
                <a:latin typeface="맑은 고딕"/>
                <a:ea typeface="맑은 고딕"/>
              </a:rPr>
              <a:t>처리량 단위</a:t>
            </a:r>
            <a:r>
              <a:rPr lang="en-US" altLang="ko-KR" sz="1100" b="0" dirty="0">
                <a:solidFill>
                  <a:srgbClr val="000000"/>
                </a:solidFill>
                <a:latin typeface="맑은 고딕"/>
                <a:ea typeface="맑은 고딕"/>
              </a:rPr>
              <a:t>: Query / sec</a:t>
            </a:r>
          </a:p>
          <a:p>
            <a:pPr marL="171450" indent="-171450">
              <a:lnSpc>
                <a:spcPct val="150000"/>
              </a:lnSpc>
              <a:spcAft>
                <a:spcPts val="250"/>
              </a:spcAft>
              <a:buFontTx/>
              <a:buChar char="-"/>
            </a:pPr>
            <a:r>
              <a:rPr lang="en-US" altLang="ko-KR" sz="1100" b="0" dirty="0">
                <a:solidFill>
                  <a:srgbClr val="000000"/>
                </a:solidFill>
                <a:latin typeface="맑은 고딕"/>
                <a:ea typeface="맑은 고딕"/>
              </a:rPr>
              <a:t>SLO goodput: </a:t>
            </a:r>
            <a:r>
              <a:rPr lang="en-US" altLang="ko-KR" sz="1100" dirty="0">
                <a:solidFill>
                  <a:srgbClr val="000000"/>
                </a:solidFill>
                <a:latin typeface="맑은 고딕"/>
                <a:ea typeface="맑은 고딕"/>
              </a:rPr>
              <a:t>SLO</a:t>
            </a:r>
            <a:r>
              <a:rPr lang="ko-KR" altLang="en-US" sz="1100" dirty="0">
                <a:solidFill>
                  <a:srgbClr val="000000"/>
                </a:solidFill>
                <a:latin typeface="맑은 고딕"/>
                <a:ea typeface="맑은 고딕"/>
              </a:rPr>
              <a:t>를 만족하는 요청의 처리량 </a:t>
            </a:r>
            <a:r>
              <a:rPr lang="en-US" altLang="ko-KR" sz="1100" dirty="0">
                <a:solidFill>
                  <a:srgbClr val="000000"/>
                </a:solidFill>
                <a:latin typeface="맑은 고딕"/>
                <a:ea typeface="맑은 고딕"/>
              </a:rPr>
              <a:t>(</a:t>
            </a:r>
            <a:r>
              <a:rPr lang="ko-KR" altLang="en-US" sz="1100" dirty="0">
                <a:solidFill>
                  <a:srgbClr val="000000"/>
                </a:solidFill>
                <a:latin typeface="맑은 고딕"/>
                <a:ea typeface="맑은 고딕"/>
              </a:rPr>
              <a:t>처리된 요청 수 </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경과 시간</a:t>
            </a:r>
            <a:r>
              <a:rPr lang="en-US" altLang="ko-KR" sz="1100" dirty="0">
                <a:solidFill>
                  <a:srgbClr val="000000"/>
                </a:solidFill>
                <a:latin typeface="맑은 고딕"/>
                <a:ea typeface="맑은 고딕"/>
              </a:rPr>
              <a:t>),  Max</a:t>
            </a:r>
            <a:r>
              <a:rPr lang="ko-KR" altLang="en-US" sz="1100" dirty="0">
                <a:solidFill>
                  <a:srgbClr val="000000"/>
                </a:solidFill>
                <a:latin typeface="맑은 고딕"/>
                <a:ea typeface="맑은 고딕"/>
              </a:rPr>
              <a:t>의 의미</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가장 높은 성능의 조건을 비교하기 위함 </a:t>
            </a:r>
            <a:endParaRPr lang="en-US" altLang="ko-KR" sz="1100" b="0" dirty="0">
              <a:solidFill>
                <a:srgbClr val="404040"/>
              </a:solidFill>
              <a:latin typeface="맑은 고딕"/>
              <a:ea typeface="맑은 고딕"/>
            </a:endParaRPr>
          </a:p>
        </p:txBody>
      </p:sp>
      <p:sp>
        <p:nvSpPr>
          <p:cNvPr id="9" name="실행 단추: 뒤로 또는 이전 8">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src">
            <a:extLst>
              <a:ext uri="{FF2B5EF4-FFF2-40B4-BE49-F238E27FC236}">
                <a16:creationId xmlns:a16="http://schemas.microsoft.com/office/drawing/2014/main" id="{CF8094EC-0377-4489-9D6C-BCCDBEE3074C}"/>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LMCache</a:t>
            </a:r>
            <a:r>
              <a:rPr sz="750" b="0" dirty="0">
                <a:solidFill>
                  <a:srgbClr val="404040"/>
                </a:solidFill>
                <a:latin typeface="맑은 고딕"/>
                <a:ea typeface="맑은 고딕"/>
              </a:rPr>
              <a:t> 2510.09665 · Mooncake 2407.00079 · </a:t>
            </a:r>
            <a:r>
              <a:rPr sz="750" b="0" dirty="0" err="1">
                <a:solidFill>
                  <a:srgbClr val="404040"/>
                </a:solidFill>
                <a:latin typeface="맑은 고딕"/>
                <a:ea typeface="맑은 고딕"/>
              </a:rPr>
              <a:t>InferCept</a:t>
            </a:r>
            <a:r>
              <a:rPr sz="750" b="0" dirty="0">
                <a:solidFill>
                  <a:srgbClr val="404040"/>
                </a:solidFill>
                <a:latin typeface="맑은 고딕"/>
                <a:ea typeface="맑은 고딕"/>
              </a:rPr>
              <a:t> 2402.01869 · </a:t>
            </a:r>
            <a:r>
              <a:rPr sz="750" b="0" dirty="0" err="1">
                <a:solidFill>
                  <a:srgbClr val="404040"/>
                </a:solidFill>
                <a:latin typeface="맑은 고딕"/>
                <a:ea typeface="맑은 고딕"/>
              </a:rPr>
              <a:t>Pensieve</a:t>
            </a:r>
            <a:r>
              <a:rPr sz="750" b="0" dirty="0">
                <a:solidFill>
                  <a:srgbClr val="404040"/>
                </a:solidFill>
                <a:latin typeface="맑은 고딕"/>
                <a:ea typeface="맑은 고딕"/>
              </a:rPr>
              <a:t> 2312.05516 · </a:t>
            </a:r>
            <a:r>
              <a:rPr sz="750" b="0" dirty="0" err="1">
                <a:solidFill>
                  <a:srgbClr val="404040"/>
                </a:solidFill>
                <a:latin typeface="맑은 고딕"/>
                <a:ea typeface="맑은 고딕"/>
              </a:rPr>
              <a:t>AttentionStore</a:t>
            </a:r>
            <a:r>
              <a:rPr sz="750" b="0" dirty="0">
                <a:solidFill>
                  <a:srgbClr val="404040"/>
                </a:solidFill>
                <a:latin typeface="맑은 고딕"/>
                <a:ea typeface="맑은 고딕"/>
              </a:rPr>
              <a:t> 2403.19708 · </a:t>
            </a:r>
            <a:r>
              <a:rPr sz="750" b="0" dirty="0" err="1">
                <a:solidFill>
                  <a:srgbClr val="404040"/>
                </a:solidFill>
                <a:latin typeface="맑은 고딕"/>
                <a:ea typeface="맑은 고딕"/>
              </a:rPr>
              <a:t>DistServe</a:t>
            </a:r>
            <a:r>
              <a:rPr sz="750" b="0" dirty="0">
                <a:solidFill>
                  <a:srgbClr val="404040"/>
                </a:solidFill>
                <a:latin typeface="맑은 고딕"/>
                <a:ea typeface="맑은 고딕"/>
              </a:rPr>
              <a:t> 2401.09670 · </a:t>
            </a:r>
            <a:r>
              <a:rPr sz="750" b="0" dirty="0" err="1">
                <a:solidFill>
                  <a:srgbClr val="404040"/>
                </a:solidFill>
                <a:latin typeface="맑은 고딕"/>
                <a:ea typeface="맑은 고딕"/>
              </a:rPr>
              <a:t>Sarathi</a:t>
            </a:r>
            <a:r>
              <a:rPr sz="750" b="0" dirty="0">
                <a:solidFill>
                  <a:srgbClr val="404040"/>
                </a:solidFill>
                <a:latin typeface="맑은 고딕"/>
                <a:ea typeface="맑은 고딕"/>
              </a:rPr>
              <a:t>-Serve 2403.02310</a:t>
            </a:r>
          </a:p>
        </p:txBody>
      </p:sp>
      <p:graphicFrame>
        <p:nvGraphicFramePr>
          <p:cNvPr id="74" name="tbl">
            <a:extLst>
              <a:ext uri="{FF2B5EF4-FFF2-40B4-BE49-F238E27FC236}">
                <a16:creationId xmlns:a16="http://schemas.microsoft.com/office/drawing/2014/main" id="{7DAC45F9-9975-4210-AC0D-AE6040F54DE4}"/>
              </a:ext>
            </a:extLst>
          </p:cNvPr>
          <p:cNvGraphicFramePr>
            <a:graphicFrameLocks noGrp="1"/>
          </p:cNvGraphicFramePr>
          <p:nvPr>
            <p:extLst>
              <p:ext uri="{D42A27DB-BD31-4B8C-83A1-F6EECF244321}">
                <p14:modId xmlns:p14="http://schemas.microsoft.com/office/powerpoint/2010/main" val="3047007898"/>
              </p:ext>
            </p:extLst>
          </p:nvPr>
        </p:nvGraphicFramePr>
        <p:xfrm>
          <a:off x="365760" y="1993716"/>
          <a:ext cx="11457432" cy="2121408"/>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19456">
                <a:tc>
                  <a:txBody>
                    <a:bodyPr/>
                    <a:lstStyle/>
                    <a:p>
                      <a:pPr algn="ctr">
                        <a:lnSpc>
                          <a:spcPct val="125000"/>
                        </a:lnSpc>
                      </a:pPr>
                      <a:r>
                        <a:rPr sz="800" b="1" dirty="0">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800" b="1" dirty="0" err="1">
                          <a:solidFill>
                            <a:srgbClr val="FFFFFF"/>
                          </a:solidFill>
                          <a:latin typeface="맑은 고딕"/>
                          <a:ea typeface="맑은 고딕"/>
                        </a:rPr>
                        <a:t>기준</a:t>
                      </a:r>
                      <a:r>
                        <a:rPr sz="800" b="1" dirty="0">
                          <a:solidFill>
                            <a:srgbClr val="FFFFFF"/>
                          </a:solidFill>
                          <a:latin typeface="맑은 고딕"/>
                          <a:ea typeface="맑은 고딕"/>
                        </a:rPr>
                        <a:t> (</a:t>
                      </a:r>
                      <a:r>
                        <a:rPr sz="800" b="1" dirty="0" err="1">
                          <a:solidFill>
                            <a:srgbClr val="FFFFFF"/>
                          </a:solidFill>
                          <a:latin typeface="맑은 고딕"/>
                          <a:ea typeface="맑은 고딕"/>
                        </a:rPr>
                        <a:t>정량</a:t>
                      </a:r>
                      <a:r>
                        <a:rPr sz="8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solidFill>
                      <a:srgbClr val="2F5597"/>
                    </a:solidFill>
                  </a:tcPr>
                </a:tc>
                <a:tc>
                  <a:txBody>
                    <a:bodyPr/>
                    <a:lstStyle/>
                    <a:p>
                      <a:pPr algn="ctr">
                        <a:lnSpc>
                          <a:spcPct val="125000"/>
                        </a:lnSpc>
                      </a:pPr>
                      <a:r>
                        <a:rPr sz="800" b="1" dirty="0" err="1">
                          <a:solidFill>
                            <a:srgbClr val="FFFFFF"/>
                          </a:solidFill>
                          <a:latin typeface="맑은 고딕"/>
                          <a:ea typeface="맑은 고딕"/>
                        </a:rPr>
                        <a:t>근거</a:t>
                      </a:r>
                      <a:endParaRPr sz="8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8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283464">
                <a:tc>
                  <a:txBody>
                    <a:bodyPr/>
                    <a:lstStyle/>
                    <a:p>
                      <a:pPr algn="ctr">
                        <a:lnSpc>
                          <a:spcPct val="125000"/>
                        </a:lnSpc>
                      </a:pPr>
                      <a:r>
                        <a:rPr sz="800" b="1">
                          <a:solidFill>
                            <a:srgbClr val="000000"/>
                          </a:solidFill>
                          <a:latin typeface="맑은 고딕"/>
                          <a:ea typeface="맑은 고딕"/>
                        </a:rPr>
                        <a:t>★ 3</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2EFDA"/>
                    </a:solidFill>
                  </a:tcPr>
                </a:tc>
                <a:tc>
                  <a:txBody>
                    <a:bodyPr/>
                    <a:lstStyle/>
                    <a:p>
                      <a:pPr algn="l"/>
                      <a:r>
                        <a:rPr sz="830" b="1" dirty="0">
                          <a:solidFill>
                            <a:srgbClr val="000000"/>
                          </a:solidFill>
                          <a:latin typeface="맑은 고딕"/>
                          <a:ea typeface="맑은 고딕"/>
                        </a:rPr>
                        <a:t>R ≥ 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lang="ko-KR" altLang="en-US" sz="800" b="1" dirty="0">
                          <a:solidFill>
                            <a:srgbClr val="000000"/>
                          </a:solidFill>
                          <a:latin typeface="+mn-lt"/>
                          <a:ea typeface="맑은 고딕"/>
                        </a:rPr>
                        <a:t>문헌 성능의 상한 </a:t>
                      </a:r>
                      <a:r>
                        <a:rPr sz="800" b="1" dirty="0">
                          <a:solidFill>
                            <a:srgbClr val="000000"/>
                          </a:solidFill>
                          <a:latin typeface="맑은 고딕"/>
                          <a:ea typeface="맑은 고딕"/>
                        </a:rPr>
                        <a:t>≈ 8x: </a:t>
                      </a:r>
                      <a:endParaRPr lang="en-US" sz="800" b="1" dirty="0">
                        <a:solidFill>
                          <a:srgbClr val="000000"/>
                        </a:solidFill>
                        <a:latin typeface="맑은 고딕"/>
                        <a:ea typeface="맑은 고딕"/>
                      </a:endParaRPr>
                    </a:p>
                    <a:p>
                      <a:pPr algn="l">
                        <a:lnSpc>
                          <a:spcPct val="125000"/>
                        </a:lnSpc>
                      </a:pPr>
                      <a:r>
                        <a:rPr sz="800" b="1" dirty="0" err="1">
                          <a:solidFill>
                            <a:srgbClr val="000000"/>
                          </a:solidFill>
                          <a:latin typeface="맑은 고딕"/>
                          <a:ea typeface="맑은 고딕"/>
                        </a:rPr>
                        <a:t>AttentionStore</a:t>
                      </a:r>
                      <a:r>
                        <a:rPr sz="800" b="1" dirty="0">
                          <a:solidFill>
                            <a:srgbClr val="000000"/>
                          </a:solidFill>
                          <a:latin typeface="맑은 고딕"/>
                          <a:ea typeface="맑은 고딕"/>
                        </a:rPr>
                        <a:t> prefill </a:t>
                      </a:r>
                      <a:r>
                        <a:rPr sz="800" b="1" dirty="0" err="1">
                          <a:solidFill>
                            <a:srgbClr val="000000"/>
                          </a:solidFill>
                          <a:latin typeface="맑은 고딕"/>
                          <a:ea typeface="맑은 고딕"/>
                        </a:rPr>
                        <a:t>처리량</a:t>
                      </a:r>
                      <a:r>
                        <a:rPr sz="800" b="1" dirty="0">
                          <a:solidFill>
                            <a:srgbClr val="000000"/>
                          </a:solidFill>
                          <a:latin typeface="맑은 고딕"/>
                          <a:ea typeface="맑은 고딕"/>
                        </a:rPr>
                        <a:t> 7.8~8.2x(TTFT −87%), </a:t>
                      </a:r>
                      <a:r>
                        <a:rPr sz="800" b="1" dirty="0" err="1">
                          <a:solidFill>
                            <a:srgbClr val="000000"/>
                          </a:solidFill>
                          <a:latin typeface="맑은 고딕"/>
                          <a:ea typeface="맑은 고딕"/>
                        </a:rPr>
                        <a:t>DistServe</a:t>
                      </a:r>
                      <a:r>
                        <a:rPr sz="800" b="1" dirty="0">
                          <a:solidFill>
                            <a:srgbClr val="000000"/>
                          </a:solidFill>
                          <a:latin typeface="맑은 고딕"/>
                          <a:ea typeface="맑은 고딕"/>
                        </a:rPr>
                        <a:t> </a:t>
                      </a:r>
                      <a:r>
                        <a:rPr sz="800" b="1" dirty="0" err="1">
                          <a:solidFill>
                            <a:srgbClr val="000000"/>
                          </a:solidFill>
                          <a:latin typeface="맑은 고딕"/>
                          <a:ea typeface="맑은 고딕"/>
                        </a:rPr>
                        <a:t>요청</a:t>
                      </a:r>
                      <a:r>
                        <a:rPr sz="800" b="1" dirty="0">
                          <a:solidFill>
                            <a:srgbClr val="000000"/>
                          </a:solidFill>
                          <a:latin typeface="맑은 고딕"/>
                          <a:ea typeface="맑은 고딕"/>
                        </a:rPr>
                        <a:t> 수 7.4x(SLO 내), </a:t>
                      </a:r>
                      <a:r>
                        <a:rPr sz="800" b="1" dirty="0" err="1">
                          <a:solidFill>
                            <a:srgbClr val="000000"/>
                          </a:solidFill>
                          <a:latin typeface="맑은 고딕"/>
                          <a:ea typeface="맑은 고딕"/>
                        </a:rPr>
                        <a:t>Sarathi</a:t>
                      </a:r>
                      <a:r>
                        <a:rPr sz="800" b="1" dirty="0">
                          <a:solidFill>
                            <a:srgbClr val="000000"/>
                          </a:solidFill>
                          <a:latin typeface="맑은 고딕"/>
                          <a:ea typeface="맑은 고딕"/>
                        </a:rPr>
                        <a:t>-Serve SLO 내 </a:t>
                      </a:r>
                      <a:r>
                        <a:rPr sz="800" b="1" dirty="0" err="1">
                          <a:solidFill>
                            <a:srgbClr val="000000"/>
                          </a:solidFill>
                          <a:latin typeface="맑은 고딕"/>
                          <a:ea typeface="맑은 고딕"/>
                        </a:rPr>
                        <a:t>처리량</a:t>
                      </a:r>
                      <a:r>
                        <a:rPr sz="800" b="1" dirty="0">
                          <a:solidFill>
                            <a:srgbClr val="000000"/>
                          </a:solidFill>
                          <a:latin typeface="맑은 고딕"/>
                          <a:ea typeface="맑은 고딕"/>
                        </a:rPr>
                        <a:t> </a:t>
                      </a:r>
                      <a:r>
                        <a:rPr sz="800" b="1" dirty="0" err="1">
                          <a:solidFill>
                            <a:srgbClr val="000000"/>
                          </a:solidFill>
                          <a:latin typeface="맑은 고딕"/>
                          <a:ea typeface="맑은 고딕"/>
                        </a:rPr>
                        <a:t>최대</a:t>
                      </a:r>
                      <a:r>
                        <a:rPr sz="800" b="1" dirty="0">
                          <a:solidFill>
                            <a:srgbClr val="000000"/>
                          </a:solidFill>
                          <a:latin typeface="맑은 고딕"/>
                          <a:ea typeface="맑은 고딕"/>
                        </a:rPr>
                        <a:t> 6.9x(Falcon-180B)</a:t>
                      </a:r>
                      <a:endParaRPr lang="en-US" sz="8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800" b="0" dirty="0" err="1">
                          <a:solidFill>
                            <a:srgbClr val="000000"/>
                          </a:solidFill>
                          <a:latin typeface="맑은 고딕"/>
                          <a:ea typeface="맑은 고딕"/>
                        </a:rPr>
                        <a:t>AttentionStore</a:t>
                      </a:r>
                      <a:r>
                        <a:rPr sz="800" b="0" dirty="0">
                          <a:solidFill>
                            <a:srgbClr val="000000"/>
                          </a:solidFill>
                          <a:latin typeface="맑은 고딕"/>
                          <a:ea typeface="맑은 고딕"/>
                        </a:rPr>
                        <a:t>, </a:t>
                      </a:r>
                      <a:r>
                        <a:rPr sz="800" b="0" dirty="0" err="1">
                          <a:solidFill>
                            <a:srgbClr val="000000"/>
                          </a:solidFill>
                          <a:latin typeface="맑은 고딕"/>
                          <a:ea typeface="맑은 고딕"/>
                        </a:rPr>
                        <a:t>DistServe</a:t>
                      </a:r>
                      <a:r>
                        <a:rPr sz="800" b="0" dirty="0">
                          <a:solidFill>
                            <a:srgbClr val="000000"/>
                          </a:solidFill>
                          <a:latin typeface="맑은 고딕"/>
                          <a:ea typeface="맑은 고딕"/>
                        </a:rPr>
                        <a:t>, </a:t>
                      </a:r>
                      <a:r>
                        <a:rPr sz="800" b="0" dirty="0" err="1">
                          <a:solidFill>
                            <a:srgbClr val="000000"/>
                          </a:solidFill>
                          <a:latin typeface="맑은 고딕"/>
                          <a:ea typeface="맑은 고딕"/>
                        </a:rPr>
                        <a:t>Sarathi</a:t>
                      </a:r>
                      <a:r>
                        <a:rPr sz="800" b="0" dirty="0">
                          <a:solidFill>
                            <a:srgbClr val="000000"/>
                          </a:solidFill>
                          <a:latin typeface="맑은 고딕"/>
                          <a:ea typeface="맑은 고딕"/>
                        </a:rPr>
                        <a:t>-Serve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283464">
                <a:tc>
                  <a:txBody>
                    <a:bodyPr/>
                    <a:lstStyle/>
                    <a:p>
                      <a:pPr algn="ctr">
                        <a:lnSpc>
                          <a:spcPct val="125000"/>
                        </a:lnSpc>
                      </a:pPr>
                      <a:r>
                        <a:rPr sz="800" b="1" dirty="0">
                          <a:solidFill>
                            <a:srgbClr val="000000"/>
                          </a:solidFill>
                          <a:latin typeface="맑은 고딕"/>
                          <a:ea typeface="맑은 고딕"/>
                        </a:rPr>
                        <a:t>★ 2.5</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DF3D5"/>
                    </a:solidFill>
                  </a:tcPr>
                </a:tc>
                <a:tc>
                  <a:txBody>
                    <a:bodyPr/>
                    <a:lstStyle/>
                    <a:p>
                      <a:pPr algn="l"/>
                      <a:r>
                        <a:rPr sz="830" b="0" dirty="0">
                          <a:solidFill>
                            <a:srgbClr val="000000"/>
                          </a:solidFill>
                          <a:latin typeface="맑은 고딕"/>
                          <a:ea typeface="맑은 고딕"/>
                        </a:rPr>
                        <a:t>5.7 ≤ R &lt; 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lang="ko-KR" altLang="en-US" sz="800" b="0" dirty="0">
                          <a:solidFill>
                            <a:srgbClr val="000000"/>
                          </a:solidFill>
                          <a:latin typeface="+mn-lt"/>
                          <a:ea typeface="맑은 고딕"/>
                        </a:rPr>
                        <a:t>★</a:t>
                      </a:r>
                      <a:r>
                        <a:rPr lang="en-US" altLang="ko-KR" sz="800" b="0" dirty="0">
                          <a:solidFill>
                            <a:srgbClr val="000000"/>
                          </a:solidFill>
                          <a:latin typeface="+mn-lt"/>
                          <a:ea typeface="맑은 고딕"/>
                        </a:rPr>
                        <a:t>2</a:t>
                      </a:r>
                      <a:r>
                        <a:rPr lang="ko-KR" altLang="en-US" sz="800" b="0" dirty="0">
                          <a:solidFill>
                            <a:srgbClr val="000000"/>
                          </a:solidFill>
                          <a:latin typeface="+mn-lt"/>
                          <a:ea typeface="맑은 고딕"/>
                        </a:rPr>
                        <a:t>와 ★</a:t>
                      </a:r>
                      <a:r>
                        <a:rPr lang="en-US" altLang="ko-KR" sz="800" b="0" dirty="0">
                          <a:solidFill>
                            <a:srgbClr val="000000"/>
                          </a:solidFill>
                          <a:latin typeface="+mn-lt"/>
                          <a:ea typeface="맑은 고딕"/>
                        </a:rPr>
                        <a:t>3</a:t>
                      </a:r>
                      <a:r>
                        <a:rPr lang="ko-KR" altLang="en-US" sz="800" b="0" dirty="0">
                          <a:solidFill>
                            <a:srgbClr val="000000"/>
                          </a:solidFill>
                          <a:latin typeface="+mn-lt"/>
                          <a:ea typeface="맑은 고딕"/>
                        </a:rPr>
                        <a:t>의 기하 중점</a:t>
                      </a:r>
                      <a:r>
                        <a:rPr lang="en-US" altLang="ko-KR" sz="800" b="0" dirty="0">
                          <a:solidFill>
                            <a:srgbClr val="000000"/>
                          </a:solidFill>
                          <a:latin typeface="+mn-lt"/>
                          <a:ea typeface="맑은 고딕"/>
                        </a:rPr>
                        <a:t>(√(4×8)=5.7x).</a:t>
                      </a:r>
                      <a:endParaRPr sz="8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800" b="0" dirty="0">
                          <a:solidFill>
                            <a:srgbClr val="000000"/>
                          </a:solidFill>
                          <a:latin typeface="맑은 고딕"/>
                          <a:ea typeface="맑은 고딕"/>
                        </a:rPr>
                        <a:t>Mooncake, </a:t>
                      </a:r>
                      <a:r>
                        <a:rPr sz="800" b="0" dirty="0" err="1">
                          <a:solidFill>
                            <a:srgbClr val="000000"/>
                          </a:solidFill>
                          <a:latin typeface="맑은 고딕"/>
                          <a:ea typeface="맑은 고딕"/>
                        </a:rPr>
                        <a:t>LMCache</a:t>
                      </a:r>
                      <a:r>
                        <a:rPr sz="800" b="0" dirty="0">
                          <a:solidFill>
                            <a:srgbClr val="000000"/>
                          </a:solidFill>
                          <a:latin typeface="맑은 고딕"/>
                          <a:ea typeface="맑은 고딕"/>
                        </a:rPr>
                        <a:t>, </a:t>
                      </a:r>
                      <a:r>
                        <a:rPr sz="800" b="0" dirty="0" err="1">
                          <a:solidFill>
                            <a:srgbClr val="000000"/>
                          </a:solidFill>
                          <a:latin typeface="맑은 고딕"/>
                          <a:ea typeface="맑은 고딕"/>
                        </a:rPr>
                        <a:t>Sarathi</a:t>
                      </a:r>
                      <a:r>
                        <a:rPr sz="800" b="0" dirty="0">
                          <a:solidFill>
                            <a:srgbClr val="000000"/>
                          </a:solidFill>
                          <a:latin typeface="맑은 고딕"/>
                          <a:ea typeface="맑은 고딕"/>
                        </a:rPr>
                        <a:t>-Serve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283464">
                <a:tc>
                  <a:txBody>
                    <a:bodyPr/>
                    <a:lstStyle/>
                    <a:p>
                      <a:pPr algn="ctr">
                        <a:lnSpc>
                          <a:spcPct val="125000"/>
                        </a:lnSpc>
                      </a:pPr>
                      <a:r>
                        <a:rPr sz="800" b="1">
                          <a:solidFill>
                            <a:srgbClr val="000000"/>
                          </a:solidFill>
                          <a:latin typeface="맑은 고딕"/>
                          <a:ea typeface="맑은 고딕"/>
                        </a:rPr>
                        <a:t>★ 2</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FF2CC"/>
                    </a:solidFill>
                  </a:tcPr>
                </a:tc>
                <a:tc>
                  <a:txBody>
                    <a:bodyPr/>
                    <a:lstStyle/>
                    <a:p>
                      <a:pPr algn="l"/>
                      <a:r>
                        <a:rPr sz="830" b="1" dirty="0">
                          <a:solidFill>
                            <a:schemeClr val="tx1"/>
                          </a:solidFill>
                          <a:latin typeface="맑은 고딕"/>
                          <a:ea typeface="맑은 고딕"/>
                        </a:rPr>
                        <a:t>4.0 ≤ R &lt; 5.7</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800" b="1" dirty="0">
                          <a:solidFill>
                            <a:srgbClr val="000000"/>
                          </a:solidFill>
                          <a:latin typeface="맑은 고딕"/>
                          <a:ea typeface="맑은 고딕"/>
                        </a:rPr>
                        <a:t>경쟁 기술 수준</a:t>
                      </a:r>
                      <a:r>
                        <a:rPr lang="en-US" altLang="ko-KR" sz="800" b="1" dirty="0">
                          <a:solidFill>
                            <a:srgbClr val="000000"/>
                          </a:solidFill>
                          <a:latin typeface="맑은 고딕"/>
                          <a:ea typeface="맑은 고딕"/>
                        </a:rPr>
                        <a:t>: </a:t>
                      </a:r>
                      <a:r>
                        <a:rPr lang="en-US" sz="800" b="1" dirty="0">
                          <a:solidFill>
                            <a:srgbClr val="000000"/>
                          </a:solidFill>
                          <a:latin typeface="맑은 고딕"/>
                          <a:ea typeface="맑은 고딕"/>
                        </a:rPr>
                        <a:t>HBM-DRAM-SSD</a:t>
                      </a:r>
                      <a:r>
                        <a:rPr lang="ko-KR" altLang="en-US" sz="800" b="1" dirty="0">
                          <a:solidFill>
                            <a:srgbClr val="000000"/>
                          </a:solidFill>
                          <a:latin typeface="맑은 고딕"/>
                          <a:ea typeface="맑은 고딕"/>
                        </a:rPr>
                        <a:t> 단순 </a:t>
                      </a:r>
                      <a:r>
                        <a:rPr lang="en-US" altLang="ko-KR" sz="800" b="1" dirty="0">
                          <a:solidFill>
                            <a:srgbClr val="000000"/>
                          </a:solidFill>
                          <a:latin typeface="맑은 고딕"/>
                          <a:ea typeface="맑은 고딕"/>
                        </a:rPr>
                        <a:t>o</a:t>
                      </a:r>
                      <a:r>
                        <a:rPr lang="en-US" sz="800" b="1" dirty="0">
                          <a:solidFill>
                            <a:srgbClr val="000000"/>
                          </a:solidFill>
                          <a:latin typeface="맑은 고딕"/>
                          <a:ea typeface="맑은 고딕"/>
                        </a:rPr>
                        <a:t>ffloading </a:t>
                      </a:r>
                      <a:r>
                        <a:rPr lang="ko-KR" altLang="en-US" sz="800" b="1" dirty="0">
                          <a:solidFill>
                            <a:srgbClr val="000000"/>
                          </a:solidFill>
                          <a:latin typeface="맑은 고딕"/>
                          <a:ea typeface="맑은 고딕"/>
                        </a:rPr>
                        <a:t>기법들 </a:t>
                      </a:r>
                      <a:r>
                        <a:rPr sz="800" b="1" dirty="0">
                          <a:solidFill>
                            <a:srgbClr val="000000"/>
                          </a:solidFill>
                          <a:latin typeface="맑은 고딕"/>
                          <a:ea typeface="맑은 고딕"/>
                        </a:rPr>
                        <a:t>(1.75, 2.0, 2.3, 3.0, 5.0, 6.25, 7.8, 14x)의 </a:t>
                      </a:r>
                      <a:r>
                        <a:rPr sz="800" b="1" dirty="0" err="1">
                          <a:solidFill>
                            <a:srgbClr val="000000"/>
                          </a:solidFill>
                          <a:latin typeface="맑은 고딕"/>
                          <a:ea typeface="맑은 고딕"/>
                        </a:rPr>
                        <a:t>중앙값</a:t>
                      </a:r>
                      <a:r>
                        <a:rPr sz="800" b="1" dirty="0">
                          <a:solidFill>
                            <a:srgbClr val="000000"/>
                          </a:solidFill>
                          <a:latin typeface="맑은 고딕"/>
                          <a:ea typeface="맑은 고딕"/>
                        </a:rPr>
                        <a:t> 4.0x(</a:t>
                      </a:r>
                      <a:r>
                        <a:rPr sz="800" b="1" dirty="0" err="1">
                          <a:solidFill>
                            <a:srgbClr val="000000"/>
                          </a:solidFill>
                          <a:latin typeface="맑은 고딕"/>
                          <a:ea typeface="맑은 고딕"/>
                        </a:rPr>
                        <a:t>기하평균</a:t>
                      </a:r>
                      <a:r>
                        <a:rPr sz="800" b="1" dirty="0">
                          <a:solidFill>
                            <a:srgbClr val="000000"/>
                          </a:solidFill>
                          <a:latin typeface="맑은 고딕"/>
                          <a:ea typeface="맑은 고딕"/>
                        </a:rPr>
                        <a:t> 4.1x)</a:t>
                      </a:r>
                      <a:endParaRPr lang="en-US" sz="8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800" b="0" dirty="0" err="1">
                          <a:solidFill>
                            <a:srgbClr val="000000"/>
                          </a:solidFill>
                          <a:latin typeface="맑은 고딕"/>
                          <a:ea typeface="맑은 고딕"/>
                        </a:rPr>
                        <a:t>InferCept</a:t>
                      </a:r>
                      <a:r>
                        <a:rPr sz="800" b="0" dirty="0">
                          <a:solidFill>
                            <a:srgbClr val="000000"/>
                          </a:solidFill>
                          <a:latin typeface="맑은 고딕"/>
                          <a:ea typeface="맑은 고딕"/>
                        </a:rPr>
                        <a:t>, Mooncake, </a:t>
                      </a:r>
                      <a:r>
                        <a:rPr sz="800" b="0" dirty="0" err="1">
                          <a:solidFill>
                            <a:srgbClr val="000000"/>
                          </a:solidFill>
                          <a:latin typeface="맑은 고딕"/>
                          <a:ea typeface="맑은 고딕"/>
                        </a:rPr>
                        <a:t>LMCache</a:t>
                      </a:r>
                      <a:r>
                        <a:rPr sz="800" b="0" dirty="0">
                          <a:solidFill>
                            <a:srgbClr val="000000"/>
                          </a:solidFill>
                          <a:latin typeface="맑은 고딕"/>
                          <a:ea typeface="맑은 고딕"/>
                        </a:rPr>
                        <a:t>, </a:t>
                      </a:r>
                      <a:r>
                        <a:rPr sz="800" b="0" dirty="0" err="1">
                          <a:solidFill>
                            <a:srgbClr val="000000"/>
                          </a:solidFill>
                          <a:latin typeface="맑은 고딕"/>
                          <a:ea typeface="맑은 고딕"/>
                        </a:rPr>
                        <a:t>Pensieve</a:t>
                      </a:r>
                      <a:r>
                        <a:rPr sz="800" b="0" dirty="0">
                          <a:solidFill>
                            <a:srgbClr val="000000"/>
                          </a:solidFill>
                          <a:latin typeface="맑은 고딕"/>
                          <a:ea typeface="맑은 고딕"/>
                        </a:rPr>
                        <a:t>, </a:t>
                      </a:r>
                      <a:r>
                        <a:rPr sz="800" b="0" dirty="0" err="1">
                          <a:solidFill>
                            <a:srgbClr val="000000"/>
                          </a:solidFill>
                          <a:latin typeface="맑은 고딕"/>
                          <a:ea typeface="맑은 고딕"/>
                        </a:rPr>
                        <a:t>AttentionStore</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283464">
                <a:tc>
                  <a:txBody>
                    <a:bodyPr/>
                    <a:lstStyle/>
                    <a:p>
                      <a:pPr algn="ctr">
                        <a:lnSpc>
                          <a:spcPct val="125000"/>
                        </a:lnSpc>
                      </a:pPr>
                      <a:r>
                        <a:rPr sz="800" b="1">
                          <a:solidFill>
                            <a:srgbClr val="000000"/>
                          </a:solidFill>
                          <a:latin typeface="맑은 고딕"/>
                          <a:ea typeface="맑은 고딕"/>
                        </a:rPr>
                        <a:t>★ 1.5</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DE9D2"/>
                    </a:solidFill>
                  </a:tcPr>
                </a:tc>
                <a:tc>
                  <a:txBody>
                    <a:bodyPr/>
                    <a:lstStyle/>
                    <a:p>
                      <a:pPr algn="l"/>
                      <a:r>
                        <a:rPr sz="830" b="0" dirty="0">
                          <a:solidFill>
                            <a:srgbClr val="000000"/>
                          </a:solidFill>
                          <a:latin typeface="맑은 고딕"/>
                          <a:ea typeface="맑은 고딕"/>
                        </a:rPr>
                        <a:t>2.8 ≤ R &lt; 4.0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lang="ko-KR" altLang="en-US" sz="800" b="0" dirty="0">
                          <a:solidFill>
                            <a:srgbClr val="000000"/>
                          </a:solidFill>
                          <a:latin typeface="+mn-lt"/>
                          <a:ea typeface="맑은 고딕"/>
                        </a:rPr>
                        <a:t>★</a:t>
                      </a:r>
                      <a:r>
                        <a:rPr lang="en-US" altLang="ko-KR" sz="800" b="0" dirty="0">
                          <a:solidFill>
                            <a:srgbClr val="000000"/>
                          </a:solidFill>
                          <a:latin typeface="+mn-lt"/>
                          <a:ea typeface="맑은 고딕"/>
                        </a:rPr>
                        <a:t>1</a:t>
                      </a:r>
                      <a:r>
                        <a:rPr lang="ko-KR" altLang="en-US" sz="800" b="0" dirty="0">
                          <a:solidFill>
                            <a:srgbClr val="000000"/>
                          </a:solidFill>
                          <a:latin typeface="+mn-lt"/>
                          <a:ea typeface="맑은 고딕"/>
                        </a:rPr>
                        <a:t>과 ★</a:t>
                      </a:r>
                      <a:r>
                        <a:rPr lang="en-US" altLang="ko-KR" sz="800" b="0" dirty="0">
                          <a:solidFill>
                            <a:srgbClr val="000000"/>
                          </a:solidFill>
                          <a:latin typeface="+mn-lt"/>
                          <a:ea typeface="맑은 고딕"/>
                        </a:rPr>
                        <a:t>2</a:t>
                      </a:r>
                      <a:r>
                        <a:rPr lang="ko-KR" altLang="en-US" sz="800" b="0" dirty="0">
                          <a:solidFill>
                            <a:srgbClr val="000000"/>
                          </a:solidFill>
                          <a:latin typeface="+mn-lt"/>
                          <a:ea typeface="맑은 고딕"/>
                        </a:rPr>
                        <a:t>의 기하 중점</a:t>
                      </a:r>
                      <a:r>
                        <a:rPr lang="en-US" altLang="ko-KR" sz="800" b="0" dirty="0">
                          <a:solidFill>
                            <a:srgbClr val="000000"/>
                          </a:solidFill>
                          <a:latin typeface="+mn-lt"/>
                          <a:ea typeface="맑은 고딕"/>
                        </a:rPr>
                        <a:t>(√(2×4)=2.8x). </a:t>
                      </a:r>
                      <a:endParaRPr sz="8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800" b="0" dirty="0" err="1">
                          <a:solidFill>
                            <a:srgbClr val="000000"/>
                          </a:solidFill>
                          <a:latin typeface="맑은 고딕"/>
                          <a:ea typeface="맑은 고딕"/>
                        </a:rPr>
                        <a:t>Pensieve</a:t>
                      </a:r>
                      <a:r>
                        <a:rPr sz="800" b="0" dirty="0">
                          <a:solidFill>
                            <a:srgbClr val="000000"/>
                          </a:solidFill>
                          <a:latin typeface="맑은 고딕"/>
                          <a:ea typeface="맑은 고딕"/>
                        </a:rPr>
                        <a:t>, </a:t>
                      </a:r>
                      <a:r>
                        <a:rPr sz="800" b="0" dirty="0" err="1">
                          <a:solidFill>
                            <a:srgbClr val="000000"/>
                          </a:solidFill>
                          <a:latin typeface="맑은 고딕"/>
                          <a:ea typeface="맑은 고딕"/>
                        </a:rPr>
                        <a:t>Sarathi</a:t>
                      </a:r>
                      <a:r>
                        <a:rPr sz="800" b="0" dirty="0">
                          <a:solidFill>
                            <a:srgbClr val="000000"/>
                          </a:solidFill>
                          <a:latin typeface="맑은 고딕"/>
                          <a:ea typeface="맑은 고딕"/>
                        </a:rPr>
                        <a:t>-Serve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42491">
                <a:tc>
                  <a:txBody>
                    <a:bodyPr/>
                    <a:lstStyle/>
                    <a:p>
                      <a:pPr algn="ctr">
                        <a:lnSpc>
                          <a:spcPct val="125000"/>
                        </a:lnSpc>
                      </a:pPr>
                      <a:r>
                        <a:rPr sz="800" b="1">
                          <a:solidFill>
                            <a:srgbClr val="000000"/>
                          </a:solidFill>
                          <a:latin typeface="맑은 고딕"/>
                          <a:ea typeface="맑은 고딕"/>
                        </a:rPr>
                        <a:t>★ 1</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BE0D6"/>
                    </a:solidFill>
                  </a:tcPr>
                </a:tc>
                <a:tc>
                  <a:txBody>
                    <a:bodyPr/>
                    <a:lstStyle/>
                    <a:p>
                      <a:pPr algn="l"/>
                      <a:r>
                        <a:rPr sz="830" b="1" dirty="0">
                          <a:solidFill>
                            <a:srgbClr val="000000"/>
                          </a:solidFill>
                          <a:latin typeface="맑은 고딕"/>
                          <a:ea typeface="맑은 고딕"/>
                        </a:rPr>
                        <a:t>2.0 ≤ R &lt; 2.8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00" b="1" dirty="0">
                          <a:solidFill>
                            <a:srgbClr val="000000"/>
                          </a:solidFill>
                          <a:latin typeface="맑은 고딕"/>
                          <a:ea typeface="맑은 고딕"/>
                        </a:rPr>
                        <a:t>Stakeholder </a:t>
                      </a:r>
                      <a:r>
                        <a:rPr sz="800" b="1" dirty="0" err="1">
                          <a:solidFill>
                            <a:srgbClr val="000000"/>
                          </a:solidFill>
                          <a:latin typeface="맑은 고딕"/>
                          <a:ea typeface="맑은 고딕"/>
                        </a:rPr>
                        <a:t>요구</a:t>
                      </a:r>
                      <a:r>
                        <a:rPr sz="800" b="1" dirty="0">
                          <a:solidFill>
                            <a:srgbClr val="000000"/>
                          </a:solidFill>
                          <a:latin typeface="맑은 고딕"/>
                          <a:ea typeface="맑은 고딕"/>
                        </a:rPr>
                        <a:t>: "</a:t>
                      </a:r>
                      <a:r>
                        <a:rPr sz="800" b="1" dirty="0" err="1">
                          <a:solidFill>
                            <a:srgbClr val="000000"/>
                          </a:solidFill>
                          <a:latin typeface="맑은 고딕"/>
                          <a:ea typeface="맑은 고딕"/>
                        </a:rPr>
                        <a:t>처리량</a:t>
                      </a:r>
                      <a:r>
                        <a:rPr sz="800" b="1" dirty="0">
                          <a:solidFill>
                            <a:srgbClr val="000000"/>
                          </a:solidFill>
                          <a:latin typeface="맑은 고딕"/>
                          <a:ea typeface="맑은 고딕"/>
                        </a:rPr>
                        <a:t> </a:t>
                      </a:r>
                      <a:r>
                        <a:rPr sz="800" b="1" dirty="0" err="1">
                          <a:solidFill>
                            <a:srgbClr val="000000"/>
                          </a:solidFill>
                          <a:latin typeface="맑은 고딕"/>
                          <a:ea typeface="맑은 고딕"/>
                        </a:rPr>
                        <a:t>개선</a:t>
                      </a:r>
                      <a:r>
                        <a:rPr sz="800" b="1" dirty="0">
                          <a:solidFill>
                            <a:srgbClr val="000000"/>
                          </a:solidFill>
                          <a:latin typeface="맑은 고딕"/>
                          <a:ea typeface="맑은 고딕"/>
                        </a:rPr>
                        <a:t> 2배 </a:t>
                      </a:r>
                      <a:r>
                        <a:rPr sz="800" b="1" dirty="0" err="1">
                          <a:solidFill>
                            <a:srgbClr val="000000"/>
                          </a:solidFill>
                          <a:latin typeface="맑은 고딕"/>
                          <a:ea typeface="맑은 고딕"/>
                        </a:rPr>
                        <a:t>이상</a:t>
                      </a:r>
                      <a:r>
                        <a:rPr sz="800" b="1" dirty="0">
                          <a:solidFill>
                            <a:srgbClr val="000000"/>
                          </a:solidFill>
                          <a:latin typeface="맑은 고딕"/>
                          <a:ea typeface="맑은 고딕"/>
                        </a:rPr>
                        <a:t> </a:t>
                      </a:r>
                      <a:r>
                        <a:rPr sz="800" b="1" dirty="0" err="1">
                          <a:solidFill>
                            <a:srgbClr val="000000"/>
                          </a:solidFill>
                          <a:latin typeface="맑은 고딕"/>
                          <a:ea typeface="맑은 고딕"/>
                        </a:rPr>
                        <a:t>되어야</a:t>
                      </a:r>
                      <a:r>
                        <a:rPr sz="800" b="1" dirty="0">
                          <a:solidFill>
                            <a:srgbClr val="000000"/>
                          </a:solidFill>
                          <a:latin typeface="맑은 고딕"/>
                          <a:ea typeface="맑은 고딕"/>
                        </a:rPr>
                        <a:t> </a:t>
                      </a:r>
                      <a:r>
                        <a:rPr sz="800" b="1" dirty="0" err="1">
                          <a:solidFill>
                            <a:srgbClr val="000000"/>
                          </a:solidFill>
                          <a:latin typeface="맑은 고딕"/>
                          <a:ea typeface="맑은 고딕"/>
                        </a:rPr>
                        <a:t>제품화</a:t>
                      </a:r>
                      <a:r>
                        <a:rPr sz="800" b="1" dirty="0">
                          <a:solidFill>
                            <a:srgbClr val="000000"/>
                          </a:solidFill>
                          <a:latin typeface="맑은 고딕"/>
                          <a:ea typeface="맑은 고딕"/>
                        </a:rPr>
                        <a:t> </a:t>
                      </a:r>
                      <a:r>
                        <a:rPr sz="800" b="1" dirty="0" err="1">
                          <a:solidFill>
                            <a:srgbClr val="000000"/>
                          </a:solidFill>
                          <a:latin typeface="맑은 고딕"/>
                          <a:ea typeface="맑은 고딕"/>
                        </a:rPr>
                        <a:t>논의</a:t>
                      </a:r>
                      <a:r>
                        <a:rPr sz="800" b="1" dirty="0">
                          <a:solidFill>
                            <a:srgbClr val="000000"/>
                          </a:solidFill>
                          <a:latin typeface="맑은 고딕"/>
                          <a:ea typeface="맑은 고딕"/>
                        </a:rPr>
                        <a:t> </a:t>
                      </a:r>
                      <a:r>
                        <a:rPr sz="800" b="1" dirty="0" err="1">
                          <a:solidFill>
                            <a:srgbClr val="000000"/>
                          </a:solidFill>
                          <a:latin typeface="맑은 고딕"/>
                          <a:ea typeface="맑은 고딕"/>
                        </a:rPr>
                        <a:t>가능</a:t>
                      </a:r>
                      <a:r>
                        <a:rPr sz="800" b="1" dirty="0">
                          <a:solidFill>
                            <a:srgbClr val="000000"/>
                          </a:solidFill>
                          <a:latin typeface="맑은 고딕"/>
                          <a:ea typeface="맑은 고딕"/>
                        </a:rPr>
                        <a:t>" (</a:t>
                      </a:r>
                      <a:r>
                        <a:rPr lang="en-US" sz="800" b="1" dirty="0">
                          <a:solidFill>
                            <a:srgbClr val="000000"/>
                          </a:solidFill>
                          <a:latin typeface="맑은 고딕"/>
                          <a:ea typeface="맑은 고딕"/>
                        </a:rPr>
                        <a:t>Baseline</a:t>
                      </a:r>
                      <a:r>
                        <a:rPr sz="800" b="1" dirty="0">
                          <a:solidFill>
                            <a:srgbClr val="000000"/>
                          </a:solidFill>
                          <a:latin typeface="맑은 고딕"/>
                          <a:ea typeface="맑은 고딕"/>
                        </a:rPr>
                        <a:t>). </a:t>
                      </a:r>
                      <a:endParaRPr lang="en-US" sz="800" b="1" dirty="0">
                        <a:solidFill>
                          <a:srgbClr val="000000"/>
                        </a:solidFill>
                        <a:latin typeface="맑은 고딕"/>
                        <a:ea typeface="맑은 고딕"/>
                      </a:endParaRPr>
                    </a:p>
                    <a:p>
                      <a:pPr algn="l">
                        <a:lnSpc>
                          <a:spcPct val="125000"/>
                        </a:lnSpc>
                      </a:pPr>
                      <a:r>
                        <a:rPr lang="ko-KR" altLang="en-US" sz="800" b="1" dirty="0">
                          <a:solidFill>
                            <a:srgbClr val="000000"/>
                          </a:solidFill>
                          <a:latin typeface="맑은 고딕"/>
                          <a:ea typeface="맑은 고딕"/>
                        </a:rPr>
                        <a:t>단순 </a:t>
                      </a:r>
                      <a:r>
                        <a:rPr lang="en-US" altLang="ko-KR" sz="800" b="1" dirty="0">
                          <a:solidFill>
                            <a:srgbClr val="000000"/>
                          </a:solidFill>
                          <a:latin typeface="맑은 고딕"/>
                          <a:ea typeface="맑은 고딕"/>
                        </a:rPr>
                        <a:t>offloading </a:t>
                      </a:r>
                      <a:r>
                        <a:rPr lang="ko-KR" altLang="en-US" sz="800" b="1" dirty="0">
                          <a:solidFill>
                            <a:srgbClr val="000000"/>
                          </a:solidFill>
                          <a:latin typeface="맑은 고딕"/>
                          <a:ea typeface="맑은 고딕"/>
                        </a:rPr>
                        <a:t>기술의 하한</a:t>
                      </a:r>
                      <a:r>
                        <a:rPr sz="800" b="1" dirty="0">
                          <a:solidFill>
                            <a:srgbClr val="000000"/>
                          </a:solidFill>
                          <a:latin typeface="맑은 고딕"/>
                          <a:ea typeface="맑은 고딕"/>
                        </a:rPr>
                        <a:t>(≈2.2x: </a:t>
                      </a:r>
                      <a:r>
                        <a:rPr sz="800" b="1" dirty="0" err="1">
                          <a:solidFill>
                            <a:srgbClr val="000000"/>
                          </a:solidFill>
                          <a:latin typeface="맑은 고딕"/>
                          <a:ea typeface="맑은 고딕"/>
                        </a:rPr>
                        <a:t>InferCept</a:t>
                      </a:r>
                      <a:r>
                        <a:rPr sz="800" b="1" dirty="0">
                          <a:solidFill>
                            <a:srgbClr val="000000"/>
                          </a:solidFill>
                          <a:latin typeface="맑은 고딕"/>
                          <a:ea typeface="맑은 고딕"/>
                        </a:rPr>
                        <a:t> 2.0x, </a:t>
                      </a:r>
                      <a:r>
                        <a:rPr sz="800" b="1" dirty="0" err="1">
                          <a:solidFill>
                            <a:srgbClr val="000000"/>
                          </a:solidFill>
                          <a:latin typeface="맑은 고딕"/>
                          <a:ea typeface="맑은 고딕"/>
                        </a:rPr>
                        <a:t>LMCache</a:t>
                      </a:r>
                      <a:r>
                        <a:rPr sz="800" b="1" dirty="0">
                          <a:solidFill>
                            <a:srgbClr val="000000"/>
                          </a:solidFill>
                          <a:latin typeface="맑은 고딕"/>
                          <a:ea typeface="맑은 고딕"/>
                        </a:rPr>
                        <a:t> </a:t>
                      </a:r>
                      <a:r>
                        <a:rPr sz="800" b="1" dirty="0" err="1">
                          <a:solidFill>
                            <a:srgbClr val="000000"/>
                          </a:solidFill>
                          <a:latin typeface="맑은 고딕"/>
                          <a:ea typeface="맑은 고딕"/>
                        </a:rPr>
                        <a:t>단일</a:t>
                      </a:r>
                      <a:r>
                        <a:rPr sz="800" b="1" dirty="0">
                          <a:solidFill>
                            <a:srgbClr val="000000"/>
                          </a:solidFill>
                          <a:latin typeface="맑은 고딕"/>
                          <a:ea typeface="맑은 고딕"/>
                        </a:rPr>
                        <a:t> </a:t>
                      </a:r>
                      <a:r>
                        <a:rPr sz="800" b="1" dirty="0" err="1">
                          <a:solidFill>
                            <a:srgbClr val="000000"/>
                          </a:solidFill>
                          <a:latin typeface="맑은 고딕"/>
                          <a:ea typeface="맑은 고딕"/>
                        </a:rPr>
                        <a:t>노드</a:t>
                      </a:r>
                      <a:r>
                        <a:rPr sz="800" b="1" dirty="0">
                          <a:solidFill>
                            <a:srgbClr val="000000"/>
                          </a:solidFill>
                          <a:latin typeface="맑은 고딕"/>
                          <a:ea typeface="맑은 고딕"/>
                        </a:rPr>
                        <a:t> </a:t>
                      </a:r>
                      <a:r>
                        <a:rPr sz="800" b="1" dirty="0" err="1">
                          <a:solidFill>
                            <a:srgbClr val="000000"/>
                          </a:solidFill>
                          <a:latin typeface="맑은 고딕"/>
                          <a:ea typeface="맑은 고딕"/>
                        </a:rPr>
                        <a:t>하한</a:t>
                      </a:r>
                      <a:r>
                        <a:rPr sz="800" b="1" dirty="0">
                          <a:solidFill>
                            <a:srgbClr val="000000"/>
                          </a:solidFill>
                          <a:latin typeface="맑은 고딕"/>
                          <a:ea typeface="맑은 고딕"/>
                        </a:rPr>
                        <a:t> 2.3x, Mooncake </a:t>
                      </a:r>
                      <a:r>
                        <a:rPr sz="800" b="1" dirty="0" err="1">
                          <a:solidFill>
                            <a:srgbClr val="000000"/>
                          </a:solidFill>
                          <a:latin typeface="맑은 고딕"/>
                          <a:ea typeface="맑은 고딕"/>
                        </a:rPr>
                        <a:t>실트래픽</a:t>
                      </a:r>
                      <a:r>
                        <a:rPr sz="800" b="1" dirty="0">
                          <a:solidFill>
                            <a:srgbClr val="000000"/>
                          </a:solidFill>
                          <a:latin typeface="맑은 고딕"/>
                          <a:ea typeface="맑은 고딕"/>
                        </a:rPr>
                        <a:t> 1.75x)</a:t>
                      </a:r>
                      <a:r>
                        <a:rPr lang="ko-KR" altLang="en-US" sz="800" b="1" dirty="0">
                          <a:solidFill>
                            <a:srgbClr val="000000"/>
                          </a:solidFill>
                          <a:latin typeface="맑은 고딕"/>
                          <a:ea typeface="맑은 고딕"/>
                        </a:rPr>
                        <a:t>과 </a:t>
                      </a:r>
                      <a:r>
                        <a:rPr sz="800" b="1" dirty="0" err="1">
                          <a:solidFill>
                            <a:srgbClr val="000000"/>
                          </a:solidFill>
                          <a:latin typeface="맑은 고딕"/>
                          <a:ea typeface="맑은 고딕"/>
                        </a:rPr>
                        <a:t>같은</a:t>
                      </a:r>
                      <a:r>
                        <a:rPr sz="800" b="1" dirty="0">
                          <a:solidFill>
                            <a:srgbClr val="000000"/>
                          </a:solidFill>
                          <a:latin typeface="맑은 고딕"/>
                          <a:ea typeface="맑은 고딕"/>
                        </a:rPr>
                        <a:t> </a:t>
                      </a:r>
                      <a:r>
                        <a:rPr sz="800" b="1" dirty="0" err="1">
                          <a:solidFill>
                            <a:srgbClr val="000000"/>
                          </a:solidFill>
                          <a:latin typeface="맑은 고딕"/>
                          <a:ea typeface="맑은 고딕"/>
                        </a:rPr>
                        <a:t>수준</a:t>
                      </a:r>
                      <a:endParaRPr sz="8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00" b="0" dirty="0">
                          <a:solidFill>
                            <a:srgbClr val="000000"/>
                          </a:solidFill>
                          <a:latin typeface="맑은 고딕"/>
                          <a:ea typeface="맑은 고딕"/>
                        </a:rPr>
                        <a:t>Stakeholder </a:t>
                      </a:r>
                      <a:r>
                        <a:rPr sz="800" b="0" dirty="0" err="1">
                          <a:solidFill>
                            <a:srgbClr val="000000"/>
                          </a:solidFill>
                          <a:latin typeface="맑은 고딕"/>
                          <a:ea typeface="맑은 고딕"/>
                        </a:rPr>
                        <a:t>요구사항</a:t>
                      </a:r>
                      <a:r>
                        <a:rPr sz="800" b="0" dirty="0">
                          <a:solidFill>
                            <a:srgbClr val="000000"/>
                          </a:solidFill>
                          <a:latin typeface="맑은 고딕"/>
                          <a:ea typeface="맑은 고딕"/>
                        </a:rPr>
                        <a:t>, </a:t>
                      </a:r>
                      <a:endParaRPr lang="en-US" sz="800" b="0" dirty="0">
                        <a:solidFill>
                          <a:srgbClr val="000000"/>
                        </a:solidFill>
                        <a:latin typeface="맑은 고딕"/>
                        <a:ea typeface="맑은 고딕"/>
                      </a:endParaRPr>
                    </a:p>
                    <a:p>
                      <a:pPr algn="l">
                        <a:lnSpc>
                          <a:spcPct val="125000"/>
                        </a:lnSpc>
                      </a:pPr>
                      <a:r>
                        <a:rPr sz="800" b="0" dirty="0" err="1">
                          <a:solidFill>
                            <a:srgbClr val="000000"/>
                          </a:solidFill>
                          <a:latin typeface="맑은 고딕"/>
                          <a:ea typeface="맑은 고딕"/>
                        </a:rPr>
                        <a:t>InferCept</a:t>
                      </a:r>
                      <a:r>
                        <a:rPr sz="800" b="0" dirty="0">
                          <a:solidFill>
                            <a:srgbClr val="000000"/>
                          </a:solidFill>
                          <a:latin typeface="맑은 고딕"/>
                          <a:ea typeface="맑은 고딕"/>
                        </a:rPr>
                        <a:t>, </a:t>
                      </a:r>
                      <a:r>
                        <a:rPr sz="800" b="0" dirty="0" err="1">
                          <a:solidFill>
                            <a:srgbClr val="000000"/>
                          </a:solidFill>
                          <a:latin typeface="맑은 고딕"/>
                          <a:ea typeface="맑은 고딕"/>
                        </a:rPr>
                        <a:t>LMCache</a:t>
                      </a:r>
                      <a:r>
                        <a:rPr sz="800" b="0" dirty="0">
                          <a:solidFill>
                            <a:srgbClr val="000000"/>
                          </a:solidFill>
                          <a:latin typeface="맑은 고딕"/>
                          <a:ea typeface="맑은 고딕"/>
                        </a:rPr>
                        <a:t>, Mooncake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283464">
                <a:tc>
                  <a:txBody>
                    <a:bodyPr/>
                    <a:lstStyle/>
                    <a:p>
                      <a:pPr algn="ctr"/>
                      <a:r>
                        <a:rPr sz="800" b="1">
                          <a:solidFill>
                            <a:srgbClr val="000000"/>
                          </a:solidFill>
                          <a:latin typeface="맑은 고딕"/>
                          <a:ea typeface="맑은 고딕"/>
                        </a:rPr>
                        <a:t>미충족</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DEDED"/>
                    </a:solidFill>
                  </a:tcPr>
                </a:tc>
                <a:tc>
                  <a:txBody>
                    <a:bodyPr/>
                    <a:lstStyle/>
                    <a:p>
                      <a:pPr algn="l"/>
                      <a:r>
                        <a:rPr sz="830" b="0" dirty="0">
                          <a:solidFill>
                            <a:srgbClr val="000000"/>
                          </a:solidFill>
                          <a:latin typeface="맑은 고딕"/>
                          <a:ea typeface="맑은 고딕"/>
                        </a:rPr>
                        <a:t>R &lt; 2.0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800" b="0" dirty="0">
                          <a:solidFill>
                            <a:srgbClr val="000000"/>
                          </a:solidFill>
                          <a:latin typeface="맑은 고딕"/>
                          <a:ea typeface="맑은 고딕"/>
                        </a:rPr>
                        <a:t>Stakeholder </a:t>
                      </a:r>
                      <a:r>
                        <a:rPr sz="800" b="0" dirty="0" err="1">
                          <a:solidFill>
                            <a:srgbClr val="000000"/>
                          </a:solidFill>
                          <a:latin typeface="맑은 고딕"/>
                          <a:ea typeface="맑은 고딕"/>
                        </a:rPr>
                        <a:t>요구</a:t>
                      </a:r>
                      <a:r>
                        <a:rPr sz="800" b="0" dirty="0">
                          <a:solidFill>
                            <a:srgbClr val="000000"/>
                          </a:solidFill>
                          <a:latin typeface="맑은 고딕"/>
                          <a:ea typeface="맑은 고딕"/>
                        </a:rPr>
                        <a:t>(2배) </a:t>
                      </a:r>
                      <a:r>
                        <a:rPr sz="800" b="0" dirty="0" err="1">
                          <a:solidFill>
                            <a:srgbClr val="000000"/>
                          </a:solidFill>
                          <a:latin typeface="맑은 고딕"/>
                          <a:ea typeface="맑은 고딕"/>
                        </a:rPr>
                        <a:t>미충족</a:t>
                      </a:r>
                      <a:endParaRPr sz="8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5" name="TextBox 74">
            <a:extLst>
              <a:ext uri="{FF2B5EF4-FFF2-40B4-BE49-F238E27FC236}">
                <a16:creationId xmlns:a16="http://schemas.microsoft.com/office/drawing/2014/main" id="{6458D367-E7E3-4015-B7C9-744AAAFDB247}"/>
              </a:ext>
            </a:extLst>
          </p:cNvPr>
          <p:cNvSpPr txBox="1"/>
          <p:nvPr/>
        </p:nvSpPr>
        <p:spPr>
          <a:xfrm>
            <a:off x="365760" y="4139840"/>
            <a:ext cx="11430000" cy="219456"/>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구간</a:t>
            </a:r>
            <a:r>
              <a:rPr sz="950" b="1" dirty="0">
                <a:solidFill>
                  <a:srgbClr val="2F5597"/>
                </a:solidFill>
                <a:latin typeface="맑은 고딕"/>
                <a:ea typeface="맑은 고딕"/>
              </a:rPr>
              <a:t> </a:t>
            </a:r>
            <a:r>
              <a:rPr sz="950" b="1" dirty="0" err="1">
                <a:solidFill>
                  <a:srgbClr val="2F5597"/>
                </a:solidFill>
                <a:latin typeface="맑은 고딕"/>
                <a:ea typeface="맑은 고딕"/>
              </a:rPr>
              <a:t>대비</a:t>
            </a:r>
            <a:r>
              <a:rPr sz="950" b="1" dirty="0">
                <a:solidFill>
                  <a:srgbClr val="2F5597"/>
                </a:solidFill>
                <a:latin typeface="맑은 고딕"/>
                <a:ea typeface="맑은 고딕"/>
              </a:rPr>
              <a:t> </a:t>
            </a:r>
            <a:r>
              <a:rPr sz="950" b="1" dirty="0" err="1">
                <a:solidFill>
                  <a:srgbClr val="2F5597"/>
                </a:solidFill>
                <a:latin typeface="맑은 고딕"/>
                <a:ea typeface="맑은 고딕"/>
              </a:rPr>
              <a:t>근거</a:t>
            </a:r>
            <a:r>
              <a:rPr sz="950" b="1" dirty="0">
                <a:solidFill>
                  <a:srgbClr val="2F5597"/>
                </a:solidFill>
                <a:latin typeface="맑은 고딕"/>
                <a:ea typeface="맑은 고딕"/>
              </a:rPr>
              <a:t> </a:t>
            </a:r>
            <a:r>
              <a:rPr sz="950" b="1" dirty="0" err="1">
                <a:solidFill>
                  <a:srgbClr val="2F5597"/>
                </a:solidFill>
                <a:latin typeface="맑은 고딕"/>
                <a:ea typeface="맑은 고딕"/>
              </a:rPr>
              <a:t>위치</a:t>
            </a:r>
            <a:r>
              <a:rPr sz="950" b="1" dirty="0">
                <a:solidFill>
                  <a:srgbClr val="2F5597"/>
                </a:solidFill>
                <a:latin typeface="맑은 고딕"/>
                <a:ea typeface="맑은 고딕"/>
              </a:rPr>
              <a:t> (GPU-only </a:t>
            </a:r>
            <a:r>
              <a:rPr sz="950" b="1" dirty="0" err="1">
                <a:solidFill>
                  <a:srgbClr val="2F5597"/>
                </a:solidFill>
                <a:latin typeface="맑은 고딕"/>
                <a:ea typeface="맑은 고딕"/>
              </a:rPr>
              <a:t>대비</a:t>
            </a:r>
            <a:r>
              <a:rPr sz="950" b="1" dirty="0">
                <a:solidFill>
                  <a:srgbClr val="2F5597"/>
                </a:solidFill>
                <a:latin typeface="맑은 고딕"/>
                <a:ea typeface="맑은 고딕"/>
              </a:rPr>
              <a:t> R, log 축) — </a:t>
            </a:r>
            <a:r>
              <a:rPr sz="950" b="1" dirty="0" err="1">
                <a:solidFill>
                  <a:srgbClr val="2F5597"/>
                </a:solidFill>
                <a:latin typeface="맑은 고딕"/>
                <a:ea typeface="맑은 고딕"/>
              </a:rPr>
              <a:t>문헌</a:t>
            </a:r>
            <a:r>
              <a:rPr sz="950" b="1" dirty="0">
                <a:solidFill>
                  <a:srgbClr val="2F5597"/>
                </a:solidFill>
                <a:latin typeface="맑은 고딕"/>
                <a:ea typeface="맑은 고딕"/>
              </a:rPr>
              <a:t> 7편 + </a:t>
            </a:r>
            <a:r>
              <a:rPr sz="950" b="1" dirty="0" err="1">
                <a:solidFill>
                  <a:srgbClr val="2F5597"/>
                </a:solidFill>
                <a:latin typeface="맑은 고딕"/>
                <a:ea typeface="맑은 고딕"/>
              </a:rPr>
              <a:t>이론</a:t>
            </a:r>
            <a:endParaRPr sz="950" b="1" dirty="0">
              <a:solidFill>
                <a:srgbClr val="2F5597"/>
              </a:solidFill>
              <a:latin typeface="맑은 고딕"/>
              <a:ea typeface="맑은 고딕"/>
            </a:endParaRPr>
          </a:p>
        </p:txBody>
      </p:sp>
      <p:sp>
        <p:nvSpPr>
          <p:cNvPr id="76" name="Rectangle 12">
            <a:extLst>
              <a:ext uri="{FF2B5EF4-FFF2-40B4-BE49-F238E27FC236}">
                <a16:creationId xmlns:a16="http://schemas.microsoft.com/office/drawing/2014/main" id="{D0197DC2-BE58-4A20-9DC8-B9F34A005160}"/>
              </a:ext>
            </a:extLst>
          </p:cNvPr>
          <p:cNvSpPr/>
          <p:nvPr/>
        </p:nvSpPr>
        <p:spPr>
          <a:xfrm>
            <a:off x="411480" y="4393368"/>
            <a:ext cx="1378001"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A0B95972-9CC8-45AE-A6BB-78804BA01B58}"/>
              </a:ext>
            </a:extLst>
          </p:cNvPr>
          <p:cNvSpPr txBox="1"/>
          <p:nvPr/>
        </p:nvSpPr>
        <p:spPr>
          <a:xfrm>
            <a:off x="411480" y="4393368"/>
            <a:ext cx="137800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78" name="Rectangle 14">
            <a:extLst>
              <a:ext uri="{FF2B5EF4-FFF2-40B4-BE49-F238E27FC236}">
                <a16:creationId xmlns:a16="http://schemas.microsoft.com/office/drawing/2014/main" id="{0329DBE6-4F9B-47EA-BAC2-1F1384EB479E}"/>
              </a:ext>
            </a:extLst>
          </p:cNvPr>
          <p:cNvSpPr/>
          <p:nvPr/>
        </p:nvSpPr>
        <p:spPr>
          <a:xfrm>
            <a:off x="1789481" y="4393368"/>
            <a:ext cx="1611707"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ACC2156B-E677-4715-8762-0880658E70D8}"/>
              </a:ext>
            </a:extLst>
          </p:cNvPr>
          <p:cNvSpPr txBox="1"/>
          <p:nvPr/>
        </p:nvSpPr>
        <p:spPr>
          <a:xfrm>
            <a:off x="1789481" y="4393368"/>
            <a:ext cx="161170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80" name="Rectangle 16">
            <a:extLst>
              <a:ext uri="{FF2B5EF4-FFF2-40B4-BE49-F238E27FC236}">
                <a16:creationId xmlns:a16="http://schemas.microsoft.com/office/drawing/2014/main" id="{8A938879-4463-4C0A-BC3F-441CDCC3966C}"/>
              </a:ext>
            </a:extLst>
          </p:cNvPr>
          <p:cNvSpPr/>
          <p:nvPr/>
        </p:nvSpPr>
        <p:spPr>
          <a:xfrm>
            <a:off x="3401189" y="4393368"/>
            <a:ext cx="1708478"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a:extLst>
              <a:ext uri="{FF2B5EF4-FFF2-40B4-BE49-F238E27FC236}">
                <a16:creationId xmlns:a16="http://schemas.microsoft.com/office/drawing/2014/main" id="{6F140817-51C2-46C4-8585-3E436818222B}"/>
              </a:ext>
            </a:extLst>
          </p:cNvPr>
          <p:cNvSpPr txBox="1"/>
          <p:nvPr/>
        </p:nvSpPr>
        <p:spPr>
          <a:xfrm>
            <a:off x="3401189" y="4393368"/>
            <a:ext cx="170847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82" name="Rectangle 18">
            <a:extLst>
              <a:ext uri="{FF2B5EF4-FFF2-40B4-BE49-F238E27FC236}">
                <a16:creationId xmlns:a16="http://schemas.microsoft.com/office/drawing/2014/main" id="{B1BEDF91-4F9C-4D22-A964-C5FD760204C3}"/>
              </a:ext>
            </a:extLst>
          </p:cNvPr>
          <p:cNvSpPr/>
          <p:nvPr/>
        </p:nvSpPr>
        <p:spPr>
          <a:xfrm>
            <a:off x="5109667" y="4393368"/>
            <a:ext cx="1696488"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a:extLst>
              <a:ext uri="{FF2B5EF4-FFF2-40B4-BE49-F238E27FC236}">
                <a16:creationId xmlns:a16="http://schemas.microsoft.com/office/drawing/2014/main" id="{BB046AF8-648C-4B28-BCEB-FA06E0D69C94}"/>
              </a:ext>
            </a:extLst>
          </p:cNvPr>
          <p:cNvSpPr txBox="1"/>
          <p:nvPr/>
        </p:nvSpPr>
        <p:spPr>
          <a:xfrm>
            <a:off x="5109667" y="4393368"/>
            <a:ext cx="169648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84" name="Rectangle 20">
            <a:extLst>
              <a:ext uri="{FF2B5EF4-FFF2-40B4-BE49-F238E27FC236}">
                <a16:creationId xmlns:a16="http://schemas.microsoft.com/office/drawing/2014/main" id="{0C488D9D-8EDF-4F04-B693-ED4335D810C3}"/>
              </a:ext>
            </a:extLst>
          </p:cNvPr>
          <p:cNvSpPr/>
          <p:nvPr/>
        </p:nvSpPr>
        <p:spPr>
          <a:xfrm>
            <a:off x="6806156" y="4393368"/>
            <a:ext cx="1623697"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a:extLst>
              <a:ext uri="{FF2B5EF4-FFF2-40B4-BE49-F238E27FC236}">
                <a16:creationId xmlns:a16="http://schemas.microsoft.com/office/drawing/2014/main" id="{E1D6D34C-FA54-4212-8586-532F13BB8EE9}"/>
              </a:ext>
            </a:extLst>
          </p:cNvPr>
          <p:cNvSpPr txBox="1"/>
          <p:nvPr/>
        </p:nvSpPr>
        <p:spPr>
          <a:xfrm>
            <a:off x="6806156" y="4393368"/>
            <a:ext cx="162369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86" name="Rectangle 22">
            <a:extLst>
              <a:ext uri="{FF2B5EF4-FFF2-40B4-BE49-F238E27FC236}">
                <a16:creationId xmlns:a16="http://schemas.microsoft.com/office/drawing/2014/main" id="{2FE16760-B2A8-4787-8540-9697C0CBE55D}"/>
              </a:ext>
            </a:extLst>
          </p:cNvPr>
          <p:cNvSpPr/>
          <p:nvPr/>
        </p:nvSpPr>
        <p:spPr>
          <a:xfrm>
            <a:off x="8429853" y="4393368"/>
            <a:ext cx="3320186"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a:extLst>
              <a:ext uri="{FF2B5EF4-FFF2-40B4-BE49-F238E27FC236}">
                <a16:creationId xmlns:a16="http://schemas.microsoft.com/office/drawing/2014/main" id="{388F6E4F-80F5-4F7B-9E54-355673921DF2}"/>
              </a:ext>
            </a:extLst>
          </p:cNvPr>
          <p:cNvSpPr txBox="1"/>
          <p:nvPr/>
        </p:nvSpPr>
        <p:spPr>
          <a:xfrm>
            <a:off x="8429853" y="4393368"/>
            <a:ext cx="332018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88" name="TextBox 87">
            <a:extLst>
              <a:ext uri="{FF2B5EF4-FFF2-40B4-BE49-F238E27FC236}">
                <a16:creationId xmlns:a16="http://schemas.microsoft.com/office/drawing/2014/main" id="{50496B8E-9BD1-468B-88E1-E0A93CCCE3CF}"/>
              </a:ext>
            </a:extLst>
          </p:cNvPr>
          <p:cNvSpPr txBox="1"/>
          <p:nvPr/>
        </p:nvSpPr>
        <p:spPr>
          <a:xfrm>
            <a:off x="1469441"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2x</a:t>
            </a:r>
          </a:p>
        </p:txBody>
      </p:sp>
      <p:sp>
        <p:nvSpPr>
          <p:cNvPr id="89" name="TextBox 88">
            <a:extLst>
              <a:ext uri="{FF2B5EF4-FFF2-40B4-BE49-F238E27FC236}">
                <a16:creationId xmlns:a16="http://schemas.microsoft.com/office/drawing/2014/main" id="{D73B2816-CEFF-4D3C-9AB4-382C066655D7}"/>
              </a:ext>
            </a:extLst>
          </p:cNvPr>
          <p:cNvSpPr txBox="1"/>
          <p:nvPr/>
        </p:nvSpPr>
        <p:spPr>
          <a:xfrm>
            <a:off x="3338341"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3x</a:t>
            </a:r>
          </a:p>
        </p:txBody>
      </p:sp>
      <p:sp>
        <p:nvSpPr>
          <p:cNvPr id="90" name="TextBox 89">
            <a:extLst>
              <a:ext uri="{FF2B5EF4-FFF2-40B4-BE49-F238E27FC236}">
                <a16:creationId xmlns:a16="http://schemas.microsoft.com/office/drawing/2014/main" id="{78C7CD24-1F8E-426F-8899-995F1529E03B}"/>
              </a:ext>
            </a:extLst>
          </p:cNvPr>
          <p:cNvSpPr txBox="1"/>
          <p:nvPr/>
        </p:nvSpPr>
        <p:spPr>
          <a:xfrm>
            <a:off x="4789627"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4x</a:t>
            </a:r>
          </a:p>
        </p:txBody>
      </p:sp>
      <p:sp>
        <p:nvSpPr>
          <p:cNvPr id="91" name="TextBox 90">
            <a:extLst>
              <a:ext uri="{FF2B5EF4-FFF2-40B4-BE49-F238E27FC236}">
                <a16:creationId xmlns:a16="http://schemas.microsoft.com/office/drawing/2014/main" id="{08AF0F89-EFFD-49EF-B46B-5450AC1E862E}"/>
              </a:ext>
            </a:extLst>
          </p:cNvPr>
          <p:cNvSpPr txBox="1"/>
          <p:nvPr/>
        </p:nvSpPr>
        <p:spPr>
          <a:xfrm>
            <a:off x="6682664"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6x</a:t>
            </a:r>
          </a:p>
        </p:txBody>
      </p:sp>
      <p:sp>
        <p:nvSpPr>
          <p:cNvPr id="92" name="TextBox 91">
            <a:extLst>
              <a:ext uri="{FF2B5EF4-FFF2-40B4-BE49-F238E27FC236}">
                <a16:creationId xmlns:a16="http://schemas.microsoft.com/office/drawing/2014/main" id="{7BC05775-8B9E-4E61-BC2D-0414D46AC516}"/>
              </a:ext>
            </a:extLst>
          </p:cNvPr>
          <p:cNvSpPr txBox="1"/>
          <p:nvPr/>
        </p:nvSpPr>
        <p:spPr>
          <a:xfrm>
            <a:off x="8109813"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8x</a:t>
            </a:r>
          </a:p>
        </p:txBody>
      </p:sp>
      <p:sp>
        <p:nvSpPr>
          <p:cNvPr id="93" name="TextBox 92">
            <a:extLst>
              <a:ext uri="{FF2B5EF4-FFF2-40B4-BE49-F238E27FC236}">
                <a16:creationId xmlns:a16="http://schemas.microsoft.com/office/drawing/2014/main" id="{F1D8295F-B66D-4721-BA53-2F5BBCBB6F1B}"/>
              </a:ext>
            </a:extLst>
          </p:cNvPr>
          <p:cNvSpPr txBox="1"/>
          <p:nvPr/>
        </p:nvSpPr>
        <p:spPr>
          <a:xfrm>
            <a:off x="11430000" y="467420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16x</a:t>
            </a:r>
          </a:p>
        </p:txBody>
      </p:sp>
      <p:cxnSp>
        <p:nvCxnSpPr>
          <p:cNvPr id="94" name="Connector 30">
            <a:extLst>
              <a:ext uri="{FF2B5EF4-FFF2-40B4-BE49-F238E27FC236}">
                <a16:creationId xmlns:a16="http://schemas.microsoft.com/office/drawing/2014/main" id="{27909981-7E9B-49F6-A303-40A8B2F0E42B}"/>
              </a:ext>
            </a:extLst>
          </p:cNvPr>
          <p:cNvCxnSpPr/>
          <p:nvPr/>
        </p:nvCxnSpPr>
        <p:spPr>
          <a:xfrm>
            <a:off x="1789481"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31">
            <a:extLst>
              <a:ext uri="{FF2B5EF4-FFF2-40B4-BE49-F238E27FC236}">
                <a16:creationId xmlns:a16="http://schemas.microsoft.com/office/drawing/2014/main" id="{B8845AB1-A9DD-46F0-9777-1495E1F07D4A}"/>
              </a:ext>
            </a:extLst>
          </p:cNvPr>
          <p:cNvCxnSpPr/>
          <p:nvPr/>
        </p:nvCxnSpPr>
        <p:spPr>
          <a:xfrm>
            <a:off x="3401189"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6" name="Connector 32">
            <a:extLst>
              <a:ext uri="{FF2B5EF4-FFF2-40B4-BE49-F238E27FC236}">
                <a16:creationId xmlns:a16="http://schemas.microsoft.com/office/drawing/2014/main" id="{1F1C122C-F21C-4150-BBE5-5B12F33E672D}"/>
              </a:ext>
            </a:extLst>
          </p:cNvPr>
          <p:cNvCxnSpPr/>
          <p:nvPr/>
        </p:nvCxnSpPr>
        <p:spPr>
          <a:xfrm>
            <a:off x="5109667"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7" name="Connector 33">
            <a:extLst>
              <a:ext uri="{FF2B5EF4-FFF2-40B4-BE49-F238E27FC236}">
                <a16:creationId xmlns:a16="http://schemas.microsoft.com/office/drawing/2014/main" id="{A4922882-1BDB-4E77-BE85-F6E7A4A5F9F2}"/>
              </a:ext>
            </a:extLst>
          </p:cNvPr>
          <p:cNvCxnSpPr/>
          <p:nvPr/>
        </p:nvCxnSpPr>
        <p:spPr>
          <a:xfrm>
            <a:off x="6806156"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8" name="Connector 34">
            <a:extLst>
              <a:ext uri="{FF2B5EF4-FFF2-40B4-BE49-F238E27FC236}">
                <a16:creationId xmlns:a16="http://schemas.microsoft.com/office/drawing/2014/main" id="{3C898942-9F40-4F1F-9FA2-1EB246B94A0C}"/>
              </a:ext>
            </a:extLst>
          </p:cNvPr>
          <p:cNvCxnSpPr/>
          <p:nvPr/>
        </p:nvCxnSpPr>
        <p:spPr>
          <a:xfrm>
            <a:off x="8429853"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9" name="Diamond 35">
            <a:extLst>
              <a:ext uri="{FF2B5EF4-FFF2-40B4-BE49-F238E27FC236}">
                <a16:creationId xmlns:a16="http://schemas.microsoft.com/office/drawing/2014/main" id="{3B42D9AB-F8EF-41F6-900B-E6A0F7D7F67E}"/>
              </a:ext>
            </a:extLst>
          </p:cNvPr>
          <p:cNvSpPr/>
          <p:nvPr/>
        </p:nvSpPr>
        <p:spPr>
          <a:xfrm>
            <a:off x="1730045" y="4835937"/>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a:extLst>
              <a:ext uri="{FF2B5EF4-FFF2-40B4-BE49-F238E27FC236}">
                <a16:creationId xmlns:a16="http://schemas.microsoft.com/office/drawing/2014/main" id="{42F20159-4AE0-499E-8192-BAAE548915DC}"/>
              </a:ext>
            </a:extLst>
          </p:cNvPr>
          <p:cNvSpPr txBox="1"/>
          <p:nvPr/>
        </p:nvSpPr>
        <p:spPr>
          <a:xfrm>
            <a:off x="1862633" y="4843051"/>
            <a:ext cx="2011769" cy="104644"/>
          </a:xfrm>
          <a:prstGeom prst="rect">
            <a:avLst/>
          </a:prstGeom>
          <a:noFill/>
        </p:spPr>
        <p:txBody>
          <a:bodyPr wrap="none" lIns="0" tIns="0" rIns="0" bIns="0" anchor="ctr">
            <a:spAutoFit/>
          </a:bodyPr>
          <a:lstStyle/>
          <a:p>
            <a:pPr algn="l">
              <a:spcAft>
                <a:spcPts val="0"/>
              </a:spcAft>
            </a:pPr>
            <a:r>
              <a:rPr sz="680" b="0">
                <a:solidFill>
                  <a:srgbClr val="FF0000"/>
                </a:solidFill>
                <a:latin typeface="맑은 고딕"/>
                <a:ea typeface="맑은 고딕"/>
              </a:rPr>
              <a:t>Stakeholder 요구: 처리량 2배 이상 (GPU-only 대비)</a:t>
            </a:r>
          </a:p>
        </p:txBody>
      </p:sp>
      <p:sp>
        <p:nvSpPr>
          <p:cNvPr id="101" name="Rectangle 37">
            <a:extLst>
              <a:ext uri="{FF2B5EF4-FFF2-40B4-BE49-F238E27FC236}">
                <a16:creationId xmlns:a16="http://schemas.microsoft.com/office/drawing/2014/main" id="{6AA3510E-A502-456B-8646-1AE270AD3F58}"/>
              </a:ext>
            </a:extLst>
          </p:cNvPr>
          <p:cNvSpPr/>
          <p:nvPr/>
        </p:nvSpPr>
        <p:spPr>
          <a:xfrm>
            <a:off x="720620" y="5003272"/>
            <a:ext cx="1068861"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2" name="Connector 38">
            <a:extLst>
              <a:ext uri="{FF2B5EF4-FFF2-40B4-BE49-F238E27FC236}">
                <a16:creationId xmlns:a16="http://schemas.microsoft.com/office/drawing/2014/main" id="{AA6EFEB9-2075-4E17-9121-371E93239C26}"/>
              </a:ext>
            </a:extLst>
          </p:cNvPr>
          <p:cNvCxnSpPr/>
          <p:nvPr/>
        </p:nvCxnSpPr>
        <p:spPr>
          <a:xfrm>
            <a:off x="720620" y="4975840"/>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3" name="Connector 39">
            <a:extLst>
              <a:ext uri="{FF2B5EF4-FFF2-40B4-BE49-F238E27FC236}">
                <a16:creationId xmlns:a16="http://schemas.microsoft.com/office/drawing/2014/main" id="{E8D682FC-6341-40A9-9FBD-9E6319952966}"/>
              </a:ext>
            </a:extLst>
          </p:cNvPr>
          <p:cNvCxnSpPr/>
          <p:nvPr/>
        </p:nvCxnSpPr>
        <p:spPr>
          <a:xfrm>
            <a:off x="1789481" y="4975840"/>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72DC0578-0331-46D5-BA50-293638C6917A}"/>
              </a:ext>
            </a:extLst>
          </p:cNvPr>
          <p:cNvSpPr txBox="1"/>
          <p:nvPr/>
        </p:nvSpPr>
        <p:spPr>
          <a:xfrm>
            <a:off x="1862633" y="4987526"/>
            <a:ext cx="2048638" cy="104644"/>
          </a:xfrm>
          <a:prstGeom prst="rect">
            <a:avLst/>
          </a:prstGeom>
          <a:noFill/>
        </p:spPr>
        <p:txBody>
          <a:bodyPr wrap="none" lIns="0" tIns="0" rIns="0" bIns="0" anchor="ctr">
            <a:spAutoFit/>
          </a:bodyPr>
          <a:lstStyle/>
          <a:p>
            <a:pPr algn="l">
              <a:spcAft>
                <a:spcPts val="0"/>
              </a:spcAft>
            </a:pPr>
            <a:r>
              <a:rPr sz="680" dirty="0" err="1">
                <a:solidFill>
                  <a:schemeClr val="accent1"/>
                </a:solidFill>
                <a:latin typeface="맑은 고딕"/>
                <a:ea typeface="맑은 고딕"/>
              </a:rPr>
              <a:t>InferCept</a:t>
            </a:r>
            <a:r>
              <a:rPr sz="680" dirty="0">
                <a:solidFill>
                  <a:schemeClr val="accent1"/>
                </a:solidFill>
                <a:latin typeface="맑은 고딕"/>
                <a:ea typeface="맑은 고딕"/>
              </a:rPr>
              <a:t> 1.6~2x · Mooncake </a:t>
            </a:r>
            <a:r>
              <a:rPr sz="680" dirty="0" err="1">
                <a:solidFill>
                  <a:schemeClr val="accent1"/>
                </a:solidFill>
                <a:latin typeface="맑은 고딕"/>
                <a:ea typeface="맑은 고딕"/>
              </a:rPr>
              <a:t>실트래픽</a:t>
            </a:r>
            <a:r>
              <a:rPr sz="680" dirty="0">
                <a:solidFill>
                  <a:schemeClr val="accent1"/>
                </a:solidFill>
                <a:latin typeface="맑은 고딕"/>
                <a:ea typeface="맑은 고딕"/>
              </a:rPr>
              <a:t> +75%(1.75x)</a:t>
            </a:r>
          </a:p>
        </p:txBody>
      </p:sp>
      <p:sp>
        <p:nvSpPr>
          <p:cNvPr id="105" name="Rectangle 41">
            <a:extLst>
              <a:ext uri="{FF2B5EF4-FFF2-40B4-BE49-F238E27FC236}">
                <a16:creationId xmlns:a16="http://schemas.microsoft.com/office/drawing/2014/main" id="{D09C3D00-4F76-4694-B442-42C8B30E33F8}"/>
              </a:ext>
            </a:extLst>
          </p:cNvPr>
          <p:cNvSpPr/>
          <p:nvPr/>
        </p:nvSpPr>
        <p:spPr>
          <a:xfrm>
            <a:off x="411480" y="5147747"/>
            <a:ext cx="3320186"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6" name="Connector 42">
            <a:extLst>
              <a:ext uri="{FF2B5EF4-FFF2-40B4-BE49-F238E27FC236}">
                <a16:creationId xmlns:a16="http://schemas.microsoft.com/office/drawing/2014/main" id="{7BD6240E-4011-480E-A794-02254EA4A13E}"/>
              </a:ext>
            </a:extLst>
          </p:cNvPr>
          <p:cNvCxnSpPr/>
          <p:nvPr/>
        </p:nvCxnSpPr>
        <p:spPr>
          <a:xfrm>
            <a:off x="411480" y="5120315"/>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7" name="Connector 43">
            <a:extLst>
              <a:ext uri="{FF2B5EF4-FFF2-40B4-BE49-F238E27FC236}">
                <a16:creationId xmlns:a16="http://schemas.microsoft.com/office/drawing/2014/main" id="{B1E58269-CADC-4CAC-B5F2-D9589F047AAA}"/>
              </a:ext>
            </a:extLst>
          </p:cNvPr>
          <p:cNvCxnSpPr/>
          <p:nvPr/>
        </p:nvCxnSpPr>
        <p:spPr>
          <a:xfrm>
            <a:off x="3731666" y="5120315"/>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8" name="TextBox 107">
            <a:extLst>
              <a:ext uri="{FF2B5EF4-FFF2-40B4-BE49-F238E27FC236}">
                <a16:creationId xmlns:a16="http://schemas.microsoft.com/office/drawing/2014/main" id="{D1816359-1694-4AE8-8BE4-7F9C86BCF9ED}"/>
              </a:ext>
            </a:extLst>
          </p:cNvPr>
          <p:cNvSpPr txBox="1"/>
          <p:nvPr/>
        </p:nvSpPr>
        <p:spPr>
          <a:xfrm>
            <a:off x="3804818" y="5132001"/>
            <a:ext cx="1829027" cy="104644"/>
          </a:xfrm>
          <a:prstGeom prst="rect">
            <a:avLst/>
          </a:prstGeom>
          <a:noFill/>
        </p:spPr>
        <p:txBody>
          <a:bodyPr wrap="none" lIns="0" tIns="0" rIns="0" bIns="0" anchor="ctr">
            <a:spAutoFit/>
          </a:bodyPr>
          <a:lstStyle/>
          <a:p>
            <a:pPr algn="l">
              <a:spcAft>
                <a:spcPts val="0"/>
              </a:spcAft>
            </a:pPr>
            <a:r>
              <a:rPr sz="680">
                <a:solidFill>
                  <a:schemeClr val="accent1"/>
                </a:solidFill>
                <a:latin typeface="맑은 고딕"/>
                <a:ea typeface="맑은 고딕"/>
              </a:rPr>
              <a:t>Pensieve 1.14~3.0x (vLLM·TensorRT-LLM 대비)</a:t>
            </a:r>
          </a:p>
        </p:txBody>
      </p:sp>
      <p:sp>
        <p:nvSpPr>
          <p:cNvPr id="109" name="Oval 45">
            <a:extLst>
              <a:ext uri="{FF2B5EF4-FFF2-40B4-BE49-F238E27FC236}">
                <a16:creationId xmlns:a16="http://schemas.microsoft.com/office/drawing/2014/main" id="{45CF64AA-2EFD-434C-BFCE-60BE95B9B3B6}"/>
              </a:ext>
            </a:extLst>
          </p:cNvPr>
          <p:cNvSpPr/>
          <p:nvPr/>
        </p:nvSpPr>
        <p:spPr>
          <a:xfrm>
            <a:off x="2408651" y="5278507"/>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E618B500-736F-48A2-861A-CFE6E3A871D7}"/>
              </a:ext>
            </a:extLst>
          </p:cNvPr>
          <p:cNvSpPr txBox="1"/>
          <p:nvPr/>
        </p:nvSpPr>
        <p:spPr>
          <a:xfrm>
            <a:off x="2532095" y="5276476"/>
            <a:ext cx="1926810" cy="104644"/>
          </a:xfrm>
          <a:prstGeom prst="rect">
            <a:avLst/>
          </a:prstGeom>
          <a:noFill/>
        </p:spPr>
        <p:txBody>
          <a:bodyPr wrap="none" lIns="0" tIns="0" rIns="0" bIns="0" anchor="ctr">
            <a:spAutoFit/>
          </a:bodyPr>
          <a:lstStyle/>
          <a:p>
            <a:pPr algn="l">
              <a:spcAft>
                <a:spcPts val="0"/>
              </a:spcAft>
            </a:pPr>
            <a:r>
              <a:rPr sz="680" dirty="0" err="1">
                <a:solidFill>
                  <a:schemeClr val="accent1"/>
                </a:solidFill>
                <a:latin typeface="맑은 고딕"/>
                <a:ea typeface="맑은 고딕"/>
              </a:rPr>
              <a:t>LMCache</a:t>
            </a:r>
            <a:r>
              <a:rPr sz="680" dirty="0">
                <a:solidFill>
                  <a:schemeClr val="accent1"/>
                </a:solidFill>
                <a:latin typeface="맑은 고딕"/>
                <a:ea typeface="맑은 고딕"/>
              </a:rPr>
              <a:t> </a:t>
            </a:r>
            <a:r>
              <a:rPr sz="680" dirty="0" err="1">
                <a:solidFill>
                  <a:schemeClr val="accent1"/>
                </a:solidFill>
                <a:latin typeface="맑은 고딕"/>
                <a:ea typeface="맑은 고딕"/>
              </a:rPr>
              <a:t>단일</a:t>
            </a:r>
            <a:r>
              <a:rPr sz="680" dirty="0">
                <a:solidFill>
                  <a:schemeClr val="accent1"/>
                </a:solidFill>
                <a:latin typeface="맑은 고딕"/>
                <a:ea typeface="맑은 고딕"/>
              </a:rPr>
              <a:t> </a:t>
            </a:r>
            <a:r>
              <a:rPr sz="680" dirty="0" err="1">
                <a:solidFill>
                  <a:schemeClr val="accent1"/>
                </a:solidFill>
                <a:latin typeface="맑은 고딕"/>
                <a:ea typeface="맑은 고딕"/>
              </a:rPr>
              <a:t>노드</a:t>
            </a:r>
            <a:r>
              <a:rPr sz="680" dirty="0">
                <a:solidFill>
                  <a:schemeClr val="accent1"/>
                </a:solidFill>
                <a:latin typeface="맑은 고딕"/>
                <a:ea typeface="맑은 고딕"/>
              </a:rPr>
              <a:t> </a:t>
            </a:r>
            <a:r>
              <a:rPr sz="680" dirty="0" err="1">
                <a:solidFill>
                  <a:schemeClr val="accent1"/>
                </a:solidFill>
                <a:latin typeface="맑은 고딕"/>
                <a:ea typeface="맑은 고딕"/>
              </a:rPr>
              <a:t>로컬</a:t>
            </a:r>
            <a:r>
              <a:rPr sz="680" dirty="0">
                <a:solidFill>
                  <a:schemeClr val="accent1"/>
                </a:solidFill>
                <a:latin typeface="맑은 고딕"/>
                <a:ea typeface="맑은 고딕"/>
              </a:rPr>
              <a:t> CPU offload </a:t>
            </a:r>
            <a:r>
              <a:rPr sz="680" dirty="0" err="1">
                <a:solidFill>
                  <a:schemeClr val="accent1"/>
                </a:solidFill>
                <a:latin typeface="맑은 고딕"/>
                <a:ea typeface="맑은 고딕"/>
              </a:rPr>
              <a:t>하한</a:t>
            </a:r>
            <a:r>
              <a:rPr sz="680" dirty="0">
                <a:solidFill>
                  <a:schemeClr val="accent1"/>
                </a:solidFill>
                <a:latin typeface="맑은 고딕"/>
                <a:ea typeface="맑은 고딕"/>
              </a:rPr>
              <a:t> 2.3x</a:t>
            </a:r>
          </a:p>
        </p:txBody>
      </p:sp>
      <p:sp>
        <p:nvSpPr>
          <p:cNvPr id="111" name="Rectangle 47">
            <a:extLst>
              <a:ext uri="{FF2B5EF4-FFF2-40B4-BE49-F238E27FC236}">
                <a16:creationId xmlns:a16="http://schemas.microsoft.com/office/drawing/2014/main" id="{21D5D071-4664-4457-8860-B39A4578A386}"/>
              </a:ext>
            </a:extLst>
          </p:cNvPr>
          <p:cNvSpPr/>
          <p:nvPr/>
        </p:nvSpPr>
        <p:spPr>
          <a:xfrm>
            <a:off x="5109667" y="5436698"/>
            <a:ext cx="1942184"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2" name="Connector 48">
            <a:extLst>
              <a:ext uri="{FF2B5EF4-FFF2-40B4-BE49-F238E27FC236}">
                <a16:creationId xmlns:a16="http://schemas.microsoft.com/office/drawing/2014/main" id="{2DF2DEFE-C943-473A-90C0-A60630942C09}"/>
              </a:ext>
            </a:extLst>
          </p:cNvPr>
          <p:cNvCxnSpPr/>
          <p:nvPr/>
        </p:nvCxnSpPr>
        <p:spPr>
          <a:xfrm>
            <a:off x="5109667" y="5409266"/>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13" name="Connector 49">
            <a:extLst>
              <a:ext uri="{FF2B5EF4-FFF2-40B4-BE49-F238E27FC236}">
                <a16:creationId xmlns:a16="http://schemas.microsoft.com/office/drawing/2014/main" id="{6E307C34-F72C-4D74-958C-0C8D78F13C6C}"/>
              </a:ext>
            </a:extLst>
          </p:cNvPr>
          <p:cNvCxnSpPr/>
          <p:nvPr/>
        </p:nvCxnSpPr>
        <p:spPr>
          <a:xfrm>
            <a:off x="7051852" y="5409266"/>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14" name="TextBox 113">
            <a:extLst>
              <a:ext uri="{FF2B5EF4-FFF2-40B4-BE49-F238E27FC236}">
                <a16:creationId xmlns:a16="http://schemas.microsoft.com/office/drawing/2014/main" id="{F9966F35-AEA7-4777-A303-BEFED6E9F4DB}"/>
              </a:ext>
            </a:extLst>
          </p:cNvPr>
          <p:cNvSpPr txBox="1"/>
          <p:nvPr/>
        </p:nvSpPr>
        <p:spPr>
          <a:xfrm>
            <a:off x="7125004" y="5401036"/>
            <a:ext cx="2513838" cy="144475"/>
          </a:xfrm>
          <a:prstGeom prst="rect">
            <a:avLst/>
          </a:prstGeom>
          <a:noFill/>
        </p:spPr>
        <p:txBody>
          <a:bodyPr wrap="none" lIns="0" tIns="0" rIns="0" bIns="0" anchor="ctr">
            <a:spAutoFit/>
          </a:bodyPr>
          <a:lstStyle/>
          <a:p>
            <a:pPr algn="l">
              <a:spcAft>
                <a:spcPts val="0"/>
              </a:spcAft>
            </a:pPr>
            <a:r>
              <a:rPr sz="680" b="0" dirty="0" err="1">
                <a:solidFill>
                  <a:srgbClr val="262626"/>
                </a:solidFill>
                <a:latin typeface="맑은 고딕"/>
                <a:ea typeface="맑은 고딕"/>
              </a:rPr>
              <a:t>LMCache</a:t>
            </a:r>
            <a:r>
              <a:rPr sz="680" b="0" dirty="0">
                <a:solidFill>
                  <a:srgbClr val="262626"/>
                </a:solidFill>
                <a:latin typeface="맑은 고딕"/>
                <a:ea typeface="맑은 고딕"/>
              </a:rPr>
              <a:t> </a:t>
            </a:r>
            <a:r>
              <a:rPr sz="680" b="0" dirty="0" err="1">
                <a:solidFill>
                  <a:srgbClr val="262626"/>
                </a:solidFill>
                <a:latin typeface="맑은 고딕"/>
                <a:ea typeface="맑은 고딕"/>
              </a:rPr>
              <a:t>실서비스</a:t>
            </a:r>
            <a:r>
              <a:rPr sz="680" b="0" dirty="0">
                <a:solidFill>
                  <a:srgbClr val="262626"/>
                </a:solidFill>
                <a:latin typeface="맑은 고딕"/>
                <a:ea typeface="맑은 고딕"/>
              </a:rPr>
              <a:t> 고 QPS: </a:t>
            </a:r>
            <a:r>
              <a:rPr sz="680" b="0" dirty="0" err="1">
                <a:solidFill>
                  <a:srgbClr val="262626"/>
                </a:solidFill>
                <a:latin typeface="맑은 고딕"/>
                <a:ea typeface="맑은 고딕"/>
              </a:rPr>
              <a:t>동일</a:t>
            </a:r>
            <a:r>
              <a:rPr sz="680" b="0" dirty="0">
                <a:solidFill>
                  <a:srgbClr val="262626"/>
                </a:solidFill>
                <a:latin typeface="맑은 고딕"/>
                <a:ea typeface="맑은 고딕"/>
              </a:rPr>
              <a:t> TTFT </a:t>
            </a:r>
            <a:r>
              <a:rPr sz="680" b="0" dirty="0" err="1">
                <a:solidFill>
                  <a:srgbClr val="262626"/>
                </a:solidFill>
                <a:latin typeface="맑은 고딕"/>
                <a:ea typeface="맑은 고딕"/>
              </a:rPr>
              <a:t>환산</a:t>
            </a:r>
            <a:r>
              <a:rPr sz="680" b="0" dirty="0">
                <a:solidFill>
                  <a:srgbClr val="262626"/>
                </a:solidFill>
                <a:latin typeface="맑은 고딕"/>
                <a:ea typeface="맑은 고딕"/>
              </a:rPr>
              <a:t> QPS </a:t>
            </a:r>
            <a:r>
              <a:rPr sz="680" b="0" dirty="0" err="1">
                <a:solidFill>
                  <a:srgbClr val="262626"/>
                </a:solidFill>
                <a:latin typeface="맑은 고딕"/>
                <a:ea typeface="맑은 고딕"/>
              </a:rPr>
              <a:t>확장</a:t>
            </a:r>
            <a:r>
              <a:rPr sz="680" b="0" dirty="0">
                <a:solidFill>
                  <a:srgbClr val="262626"/>
                </a:solidFill>
                <a:latin typeface="맑은 고딕"/>
                <a:ea typeface="맑은 고딕"/>
              </a:rPr>
              <a:t> 4~6x</a:t>
            </a:r>
          </a:p>
        </p:txBody>
      </p:sp>
      <p:sp>
        <p:nvSpPr>
          <p:cNvPr id="115" name="Rectangle 51">
            <a:extLst>
              <a:ext uri="{FF2B5EF4-FFF2-40B4-BE49-F238E27FC236}">
                <a16:creationId xmlns:a16="http://schemas.microsoft.com/office/drawing/2014/main" id="{F3FFFD7E-B844-441E-A429-F3FEF4ACE7AF}"/>
              </a:ext>
            </a:extLst>
          </p:cNvPr>
          <p:cNvSpPr/>
          <p:nvPr/>
        </p:nvSpPr>
        <p:spPr>
          <a:xfrm>
            <a:off x="3046210" y="5581173"/>
            <a:ext cx="4675103"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6" name="Connector 52">
            <a:extLst>
              <a:ext uri="{FF2B5EF4-FFF2-40B4-BE49-F238E27FC236}">
                <a16:creationId xmlns:a16="http://schemas.microsoft.com/office/drawing/2014/main" id="{71C7F864-1AA4-43C0-9B17-AF879F0159CE}"/>
              </a:ext>
            </a:extLst>
          </p:cNvPr>
          <p:cNvCxnSpPr/>
          <p:nvPr/>
        </p:nvCxnSpPr>
        <p:spPr>
          <a:xfrm>
            <a:off x="3046210" y="5553741"/>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17" name="Connector 53">
            <a:extLst>
              <a:ext uri="{FF2B5EF4-FFF2-40B4-BE49-F238E27FC236}">
                <a16:creationId xmlns:a16="http://schemas.microsoft.com/office/drawing/2014/main" id="{2D7434D4-8AB6-4D5E-A0DC-EB00C7FDA388}"/>
              </a:ext>
            </a:extLst>
          </p:cNvPr>
          <p:cNvCxnSpPr/>
          <p:nvPr/>
        </p:nvCxnSpPr>
        <p:spPr>
          <a:xfrm>
            <a:off x="7721314" y="5553741"/>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2DC6AD37-E534-4EE8-813F-3AC4AB03B43D}"/>
              </a:ext>
            </a:extLst>
          </p:cNvPr>
          <p:cNvSpPr txBox="1"/>
          <p:nvPr/>
        </p:nvSpPr>
        <p:spPr>
          <a:xfrm>
            <a:off x="7794466" y="5565428"/>
            <a:ext cx="3265664" cy="104644"/>
          </a:xfrm>
          <a:prstGeom prst="rect">
            <a:avLst/>
          </a:prstGeom>
          <a:noFill/>
        </p:spPr>
        <p:txBody>
          <a:bodyPr wrap="square" lIns="0" tIns="0" rIns="0" bIns="0" anchor="ctr">
            <a:spAutoFit/>
          </a:bodyPr>
          <a:lstStyle/>
          <a:p>
            <a:pPr algn="l">
              <a:spcAft>
                <a:spcPts val="0"/>
              </a:spcAft>
            </a:pPr>
            <a:r>
              <a:rPr lang="en-US" sz="680" b="0" dirty="0" err="1">
                <a:solidFill>
                  <a:srgbClr val="262626"/>
                </a:solidFill>
                <a:latin typeface="맑은 고딕"/>
                <a:ea typeface="맑은 고딕"/>
              </a:rPr>
              <a:t>InferCept</a:t>
            </a:r>
            <a:r>
              <a:rPr lang="en-US" sz="680" b="0" dirty="0">
                <a:solidFill>
                  <a:srgbClr val="262626"/>
                </a:solidFill>
                <a:latin typeface="맑은 고딕"/>
                <a:ea typeface="맑은 고딕"/>
              </a:rPr>
              <a:t>, Mooncake, </a:t>
            </a:r>
            <a:r>
              <a:rPr lang="en-US" sz="680" b="0" dirty="0" err="1">
                <a:solidFill>
                  <a:srgbClr val="262626"/>
                </a:solidFill>
                <a:latin typeface="맑은 고딕"/>
                <a:ea typeface="맑은 고딕"/>
              </a:rPr>
              <a:t>LMCache</a:t>
            </a:r>
            <a:r>
              <a:rPr lang="en-US" sz="680" b="0" dirty="0">
                <a:solidFill>
                  <a:srgbClr val="262626"/>
                </a:solidFill>
                <a:latin typeface="맑은 고딕"/>
                <a:ea typeface="맑은 고딕"/>
              </a:rPr>
              <a:t>, </a:t>
            </a:r>
            <a:r>
              <a:rPr lang="en-US" sz="680" b="0" dirty="0" err="1">
                <a:solidFill>
                  <a:srgbClr val="262626"/>
                </a:solidFill>
                <a:latin typeface="맑은 고딕"/>
                <a:ea typeface="맑은 고딕"/>
              </a:rPr>
              <a:t>Pensieve</a:t>
            </a:r>
            <a:r>
              <a:rPr lang="en-US" sz="680" b="0" dirty="0">
                <a:solidFill>
                  <a:srgbClr val="262626"/>
                </a:solidFill>
                <a:latin typeface="맑은 고딕"/>
                <a:ea typeface="맑은 고딕"/>
              </a:rPr>
              <a:t>, </a:t>
            </a:r>
            <a:r>
              <a:rPr lang="en-US" sz="680" b="0" dirty="0" err="1">
                <a:solidFill>
                  <a:srgbClr val="262626"/>
                </a:solidFill>
                <a:latin typeface="맑은 고딕"/>
                <a:ea typeface="맑은 고딕"/>
              </a:rPr>
              <a:t>AttentionStore</a:t>
            </a:r>
            <a:r>
              <a:rPr lang="ko-KR" altLang="en-US" sz="680" dirty="0">
                <a:solidFill>
                  <a:srgbClr val="262626"/>
                </a:solidFill>
                <a:latin typeface="맑은 고딕"/>
                <a:ea typeface="맑은 고딕"/>
              </a:rPr>
              <a:t>의 처리량 </a:t>
            </a:r>
            <a:r>
              <a:rPr lang="ko-KR" altLang="en-US" sz="680" dirty="0" err="1">
                <a:solidFill>
                  <a:srgbClr val="262626"/>
                </a:solidFill>
                <a:latin typeface="맑은 고딕"/>
                <a:ea typeface="맑은 고딕"/>
              </a:rPr>
              <a:t>개선값</a:t>
            </a:r>
            <a:endParaRPr sz="680" b="0" dirty="0">
              <a:solidFill>
                <a:srgbClr val="262626"/>
              </a:solidFill>
              <a:latin typeface="맑은 고딕"/>
              <a:ea typeface="맑은 고딕"/>
            </a:endParaRPr>
          </a:p>
        </p:txBody>
      </p:sp>
      <p:sp>
        <p:nvSpPr>
          <p:cNvPr id="119" name="Oval 55">
            <a:extLst>
              <a:ext uri="{FF2B5EF4-FFF2-40B4-BE49-F238E27FC236}">
                <a16:creationId xmlns:a16="http://schemas.microsoft.com/office/drawing/2014/main" id="{34E0B9E8-D469-4612-AB58-F8E346361BCC}"/>
              </a:ext>
            </a:extLst>
          </p:cNvPr>
          <p:cNvSpPr/>
          <p:nvPr/>
        </p:nvSpPr>
        <p:spPr>
          <a:xfrm>
            <a:off x="8006124" y="5711932"/>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a:extLst>
              <a:ext uri="{FF2B5EF4-FFF2-40B4-BE49-F238E27FC236}">
                <a16:creationId xmlns:a16="http://schemas.microsoft.com/office/drawing/2014/main" id="{523021B9-CD73-4385-8D72-212C037AC77A}"/>
              </a:ext>
            </a:extLst>
          </p:cNvPr>
          <p:cNvSpPr txBox="1"/>
          <p:nvPr/>
        </p:nvSpPr>
        <p:spPr>
          <a:xfrm>
            <a:off x="8129568" y="5689987"/>
            <a:ext cx="1529333" cy="144475"/>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DistServe 요청 수 7.4x (SLO 내)</a:t>
            </a:r>
          </a:p>
        </p:txBody>
      </p:sp>
      <p:sp>
        <p:nvSpPr>
          <p:cNvPr id="121" name="Rectangle 57">
            <a:extLst>
              <a:ext uri="{FF2B5EF4-FFF2-40B4-BE49-F238E27FC236}">
                <a16:creationId xmlns:a16="http://schemas.microsoft.com/office/drawing/2014/main" id="{2589A6F8-C62C-48E6-A6A3-21866EF74371}"/>
              </a:ext>
            </a:extLst>
          </p:cNvPr>
          <p:cNvSpPr/>
          <p:nvPr/>
        </p:nvSpPr>
        <p:spPr>
          <a:xfrm>
            <a:off x="8308581" y="5870124"/>
            <a:ext cx="239550"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2" name="Connector 58">
            <a:extLst>
              <a:ext uri="{FF2B5EF4-FFF2-40B4-BE49-F238E27FC236}">
                <a16:creationId xmlns:a16="http://schemas.microsoft.com/office/drawing/2014/main" id="{FFBC55F8-9C6C-476B-B217-8CF236C5550B}"/>
              </a:ext>
            </a:extLst>
          </p:cNvPr>
          <p:cNvCxnSpPr/>
          <p:nvPr/>
        </p:nvCxnSpPr>
        <p:spPr>
          <a:xfrm>
            <a:off x="8308581" y="5842691"/>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23" name="Connector 59">
            <a:extLst>
              <a:ext uri="{FF2B5EF4-FFF2-40B4-BE49-F238E27FC236}">
                <a16:creationId xmlns:a16="http://schemas.microsoft.com/office/drawing/2014/main" id="{0B95496F-8692-4655-A6FE-BF1EF4DD034A}"/>
              </a:ext>
            </a:extLst>
          </p:cNvPr>
          <p:cNvCxnSpPr/>
          <p:nvPr/>
        </p:nvCxnSpPr>
        <p:spPr>
          <a:xfrm>
            <a:off x="8548131" y="5842691"/>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24" name="TextBox 123">
            <a:extLst>
              <a:ext uri="{FF2B5EF4-FFF2-40B4-BE49-F238E27FC236}">
                <a16:creationId xmlns:a16="http://schemas.microsoft.com/office/drawing/2014/main" id="{550FFAD2-4DC0-441C-8B0C-4AA416AE6947}"/>
              </a:ext>
            </a:extLst>
          </p:cNvPr>
          <p:cNvSpPr txBox="1"/>
          <p:nvPr/>
        </p:nvSpPr>
        <p:spPr>
          <a:xfrm>
            <a:off x="8621283" y="5834462"/>
            <a:ext cx="2582926" cy="144475"/>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AttentionStore prefill 처리량 7.8~8.2x (TTFT −87~88%)</a:t>
            </a:r>
          </a:p>
        </p:txBody>
      </p:sp>
      <p:sp>
        <p:nvSpPr>
          <p:cNvPr id="125" name="Oval 61">
            <a:extLst>
              <a:ext uri="{FF2B5EF4-FFF2-40B4-BE49-F238E27FC236}">
                <a16:creationId xmlns:a16="http://schemas.microsoft.com/office/drawing/2014/main" id="{E99541AF-D53C-446A-826C-B451FCA82923}"/>
              </a:ext>
            </a:extLst>
          </p:cNvPr>
          <p:cNvSpPr/>
          <p:nvPr/>
        </p:nvSpPr>
        <p:spPr>
          <a:xfrm>
            <a:off x="7197098" y="6000883"/>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a:extLst>
              <a:ext uri="{FF2B5EF4-FFF2-40B4-BE49-F238E27FC236}">
                <a16:creationId xmlns:a16="http://schemas.microsoft.com/office/drawing/2014/main" id="{D21FA34B-90F0-4AD6-9C42-F29182690CBC}"/>
              </a:ext>
            </a:extLst>
          </p:cNvPr>
          <p:cNvSpPr txBox="1"/>
          <p:nvPr/>
        </p:nvSpPr>
        <p:spPr>
          <a:xfrm>
            <a:off x="7320542" y="5978937"/>
            <a:ext cx="1624329" cy="144475"/>
          </a:xfrm>
          <a:prstGeom prst="rect">
            <a:avLst/>
          </a:prstGeom>
          <a:noFill/>
        </p:spPr>
        <p:txBody>
          <a:bodyPr wrap="none" lIns="0" tIns="0" rIns="0" bIns="0" anchor="ctr">
            <a:spAutoFit/>
          </a:bodyPr>
          <a:lstStyle/>
          <a:p>
            <a:pPr algn="l">
              <a:spcAft>
                <a:spcPts val="0"/>
              </a:spcAft>
            </a:pPr>
            <a:r>
              <a:rPr sz="680" b="0">
                <a:solidFill>
                  <a:srgbClr val="7F7F7F"/>
                </a:solidFill>
                <a:latin typeface="맑은 고딕"/>
                <a:ea typeface="맑은 고딕"/>
              </a:rPr>
              <a:t>Mooncake 시뮬 +525% (6.25x, 시뮬)</a:t>
            </a:r>
          </a:p>
        </p:txBody>
      </p:sp>
      <p:sp>
        <p:nvSpPr>
          <p:cNvPr id="127" name="Oval 63">
            <a:extLst>
              <a:ext uri="{FF2B5EF4-FFF2-40B4-BE49-F238E27FC236}">
                <a16:creationId xmlns:a16="http://schemas.microsoft.com/office/drawing/2014/main" id="{ACF65D00-D5FF-43F8-9696-7BFD57983014}"/>
              </a:ext>
            </a:extLst>
          </p:cNvPr>
          <p:cNvSpPr/>
          <p:nvPr/>
        </p:nvSpPr>
        <p:spPr>
          <a:xfrm>
            <a:off x="11060130" y="6145358"/>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a:extLst>
              <a:ext uri="{FF2B5EF4-FFF2-40B4-BE49-F238E27FC236}">
                <a16:creationId xmlns:a16="http://schemas.microsoft.com/office/drawing/2014/main" id="{0304FF80-CE33-4A82-B9B0-A8E4F175CA98}"/>
              </a:ext>
            </a:extLst>
          </p:cNvPr>
          <p:cNvSpPr txBox="1"/>
          <p:nvPr/>
        </p:nvSpPr>
        <p:spPr>
          <a:xfrm>
            <a:off x="9667702" y="6123412"/>
            <a:ext cx="1369568" cy="144475"/>
          </a:xfrm>
          <a:prstGeom prst="rect">
            <a:avLst/>
          </a:prstGeom>
          <a:noFill/>
        </p:spPr>
        <p:txBody>
          <a:bodyPr wrap="none" lIns="0" tIns="0" rIns="0" bIns="0" anchor="ctr">
            <a:spAutoFit/>
          </a:bodyPr>
          <a:lstStyle/>
          <a:p>
            <a:pPr algn="r">
              <a:spcAft>
                <a:spcPts val="0"/>
              </a:spcAft>
            </a:pPr>
            <a:r>
              <a:rPr sz="680" b="0">
                <a:solidFill>
                  <a:srgbClr val="7F7F7F"/>
                </a:solidFill>
                <a:latin typeface="맑은 고딕"/>
                <a:ea typeface="맑은 고딕"/>
              </a:rPr>
              <a:t>LMCache 최대 14x (극단 조건)</a:t>
            </a:r>
          </a:p>
        </p:txBody>
      </p:sp>
      <p:sp>
        <p:nvSpPr>
          <p:cNvPr id="129" name="Oval 69">
            <a:extLst>
              <a:ext uri="{FF2B5EF4-FFF2-40B4-BE49-F238E27FC236}">
                <a16:creationId xmlns:a16="http://schemas.microsoft.com/office/drawing/2014/main" id="{BB7D1189-A7A0-494A-B1A3-F4CD397306C5}"/>
              </a:ext>
            </a:extLst>
          </p:cNvPr>
          <p:cNvSpPr/>
          <p:nvPr/>
        </p:nvSpPr>
        <p:spPr>
          <a:xfrm>
            <a:off x="384048" y="6208776"/>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3D48C84A-2B12-4B7C-8807-B696A7C9BB84}"/>
              </a:ext>
            </a:extLst>
          </p:cNvPr>
          <p:cNvSpPr txBox="1"/>
          <p:nvPr/>
        </p:nvSpPr>
        <p:spPr>
          <a:xfrm>
            <a:off x="502920" y="6167628"/>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131" name="Diamond 71">
            <a:extLst>
              <a:ext uri="{FF2B5EF4-FFF2-40B4-BE49-F238E27FC236}">
                <a16:creationId xmlns:a16="http://schemas.microsoft.com/office/drawing/2014/main" id="{8555204E-4D19-49FF-9AEF-CD8401B7473D}"/>
              </a:ext>
            </a:extLst>
          </p:cNvPr>
          <p:cNvSpPr/>
          <p:nvPr/>
        </p:nvSpPr>
        <p:spPr>
          <a:xfrm>
            <a:off x="1539748" y="6208776"/>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a:extLst>
              <a:ext uri="{FF2B5EF4-FFF2-40B4-BE49-F238E27FC236}">
                <a16:creationId xmlns:a16="http://schemas.microsoft.com/office/drawing/2014/main" id="{000C32DE-1C53-426E-A597-2F28D63F0FDF}"/>
              </a:ext>
            </a:extLst>
          </p:cNvPr>
          <p:cNvSpPr txBox="1"/>
          <p:nvPr/>
        </p:nvSpPr>
        <p:spPr>
          <a:xfrm>
            <a:off x="1658620" y="6167628"/>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133" name="Oval 75">
            <a:extLst>
              <a:ext uri="{FF2B5EF4-FFF2-40B4-BE49-F238E27FC236}">
                <a16:creationId xmlns:a16="http://schemas.microsoft.com/office/drawing/2014/main" id="{B48B2B8C-8836-42E0-A388-9BC406125A0F}"/>
              </a:ext>
            </a:extLst>
          </p:cNvPr>
          <p:cNvSpPr/>
          <p:nvPr/>
        </p:nvSpPr>
        <p:spPr>
          <a:xfrm>
            <a:off x="2967225" y="6208776"/>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24AFFDCD-3CDC-4F46-90E7-52DCEB851414}"/>
              </a:ext>
            </a:extLst>
          </p:cNvPr>
          <p:cNvSpPr txBox="1"/>
          <p:nvPr/>
        </p:nvSpPr>
        <p:spPr>
          <a:xfrm>
            <a:off x="3086097" y="6167628"/>
            <a:ext cx="1727200" cy="164592"/>
          </a:xfrm>
          <a:prstGeom prst="rect">
            <a:avLst/>
          </a:prstGeom>
          <a:noFill/>
        </p:spPr>
        <p:txBody>
          <a:bodyPr wrap="none" lIns="0" tIns="0" rIns="0" bIns="0" anchor="ctr">
            <a:spAutoFit/>
          </a:bodyPr>
          <a:lstStyle/>
          <a:p>
            <a:pPr algn="l">
              <a:spcAft>
                <a:spcPts val="0"/>
              </a:spcAft>
            </a:pPr>
            <a:r>
              <a:rPr sz="700" b="0" dirty="0" err="1">
                <a:solidFill>
                  <a:srgbClr val="404040"/>
                </a:solidFill>
                <a:latin typeface="맑은 고딕"/>
                <a:ea typeface="맑은 고딕"/>
              </a:rPr>
              <a:t>참고</a:t>
            </a:r>
            <a:r>
              <a:rPr sz="700" b="0" dirty="0">
                <a:solidFill>
                  <a:srgbClr val="404040"/>
                </a:solidFill>
                <a:latin typeface="맑은 고딕"/>
                <a:ea typeface="맑은 고딕"/>
              </a:rPr>
              <a:t>(</a:t>
            </a:r>
            <a:r>
              <a:rPr sz="700" b="0" dirty="0" err="1">
                <a:solidFill>
                  <a:srgbClr val="404040"/>
                </a:solidFill>
                <a:latin typeface="맑은 고딕"/>
                <a:ea typeface="맑은 고딕"/>
              </a:rPr>
              <a:t>극단</a:t>
            </a:r>
            <a:r>
              <a:rPr sz="700" b="0" dirty="0">
                <a:solidFill>
                  <a:srgbClr val="404040"/>
                </a:solidFill>
                <a:latin typeface="맑은 고딕"/>
                <a:ea typeface="맑은 고딕"/>
              </a:rPr>
              <a:t> </a:t>
            </a:r>
            <a:r>
              <a:rPr sz="700" b="0" dirty="0" err="1">
                <a:solidFill>
                  <a:srgbClr val="404040"/>
                </a:solidFill>
                <a:latin typeface="맑은 고딕"/>
                <a:ea typeface="맑은 고딕"/>
              </a:rPr>
              <a:t>조건·압축</a:t>
            </a:r>
            <a:r>
              <a:rPr sz="700" b="0" dirty="0">
                <a:solidFill>
                  <a:srgbClr val="404040"/>
                </a:solidFill>
                <a:latin typeface="맑은 고딕"/>
                <a:ea typeface="맑은 고딕"/>
              </a:rPr>
              <a:t> </a:t>
            </a:r>
            <a:r>
              <a:rPr sz="700" b="0" dirty="0" err="1">
                <a:solidFill>
                  <a:srgbClr val="404040"/>
                </a:solidFill>
                <a:latin typeface="맑은 고딕"/>
                <a:ea typeface="맑은 고딕"/>
              </a:rPr>
              <a:t>혼합</a:t>
            </a:r>
            <a:r>
              <a:rPr sz="700" b="0" dirty="0">
                <a:solidFill>
                  <a:srgbClr val="404040"/>
                </a:solidFill>
                <a:latin typeface="맑은 고딕"/>
                <a:ea typeface="맑은 고딕"/>
              </a:rPr>
              <a:t>, </a:t>
            </a:r>
            <a:r>
              <a:rPr sz="700" b="0" dirty="0" err="1">
                <a:solidFill>
                  <a:srgbClr val="404040"/>
                </a:solidFill>
                <a:latin typeface="맑은 고딕"/>
                <a:ea typeface="맑은 고딕"/>
              </a:rPr>
              <a:t>앵커</a:t>
            </a:r>
            <a:r>
              <a:rPr sz="700" b="0" dirty="0">
                <a:solidFill>
                  <a:srgbClr val="404040"/>
                </a:solidFill>
                <a:latin typeface="맑은 고딕"/>
                <a:ea typeface="맑은 고딕"/>
              </a:rPr>
              <a:t> </a:t>
            </a:r>
            <a:r>
              <a:rPr sz="700" b="0" dirty="0" err="1">
                <a:solidFill>
                  <a:srgbClr val="404040"/>
                </a:solidFill>
                <a:latin typeface="맑은 고딕"/>
                <a:ea typeface="맑은 고딕"/>
              </a:rPr>
              <a:t>제외</a:t>
            </a:r>
            <a:r>
              <a:rPr sz="700" b="0" dirty="0">
                <a:solidFill>
                  <a:srgbClr val="404040"/>
                </a:solidFill>
                <a:latin typeface="맑은 고딕"/>
                <a:ea typeface="맑은 고딕"/>
              </a:rPr>
              <a:t>)</a:t>
            </a:r>
          </a:p>
        </p:txBody>
      </p:sp>
      <p:sp>
        <p:nvSpPr>
          <p:cNvPr id="69"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70" name="실행 단추: 뒤로 또는 이전 69">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3218258428"/>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처리량</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000000"/>
                </a:solidFill>
                <a:latin typeface="맑은 고딕"/>
                <a:ea typeface="맑은 고딕"/>
              </a:rPr>
              <a:t>Baseline </a:t>
            </a:r>
            <a:r>
              <a:rPr lang="ko-KR" altLang="en-US" sz="1100" b="0" dirty="0">
                <a:solidFill>
                  <a:srgbClr val="000000"/>
                </a:solidFill>
                <a:latin typeface="맑은 고딕"/>
                <a:ea typeface="맑은 고딕"/>
              </a:rPr>
              <a:t>대비</a:t>
            </a:r>
            <a:r>
              <a:rPr lang="en-US" altLang="ko-KR" sz="1100" b="0" dirty="0">
                <a:solidFill>
                  <a:srgbClr val="000000"/>
                </a:solidFill>
                <a:latin typeface="맑은 고딕"/>
                <a:ea typeface="맑은 고딕"/>
              </a:rPr>
              <a:t>, SLO</a:t>
            </a:r>
            <a:r>
              <a:rPr lang="ko-KR" altLang="en-US" sz="1100" b="0" dirty="0">
                <a:solidFill>
                  <a:srgbClr val="000000"/>
                </a:solidFill>
                <a:latin typeface="맑은 고딕"/>
                <a:ea typeface="맑은 고딕"/>
              </a:rPr>
              <a:t>를 만족하는 조건에서의 처리량</a:t>
            </a:r>
            <a:r>
              <a:rPr lang="en-US" altLang="ko-KR" sz="1100" b="0" dirty="0">
                <a:solidFill>
                  <a:srgbClr val="000000"/>
                </a:solidFill>
                <a:latin typeface="맑은 고딕"/>
                <a:ea typeface="맑은 고딕"/>
              </a:rPr>
              <a:t>(Max</a:t>
            </a:r>
            <a:r>
              <a:rPr lang="ko-KR" altLang="en-US" sz="1100" b="0" dirty="0">
                <a:solidFill>
                  <a:srgbClr val="000000"/>
                </a:solidFill>
                <a:latin typeface="맑은 고딕"/>
                <a:ea typeface="맑은 고딕"/>
              </a:rPr>
              <a:t>값</a:t>
            </a:r>
            <a:r>
              <a:rPr lang="en-US" altLang="ko-KR" sz="1100" b="0" dirty="0">
                <a:solidFill>
                  <a:srgbClr val="000000"/>
                </a:solidFill>
                <a:latin typeface="맑은 고딕"/>
                <a:ea typeface="맑은 고딕"/>
              </a:rPr>
              <a:t>)</a:t>
            </a:r>
            <a:r>
              <a:rPr lang="ko-KR" altLang="en-US" sz="1100" b="0" dirty="0">
                <a:solidFill>
                  <a:srgbClr val="000000"/>
                </a:solidFill>
                <a:latin typeface="맑은 고딕"/>
                <a:ea typeface="맑은 고딕"/>
              </a:rPr>
              <a:t> 증가율 </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ubtitle">
            <a:extLst>
              <a:ext uri="{FF2B5EF4-FFF2-40B4-BE49-F238E27FC236}">
                <a16:creationId xmlns:a16="http://schemas.microsoft.com/office/drawing/2014/main" id="{83FC6577-760C-41A6-A45B-D5727304942A}"/>
              </a:ext>
            </a:extLst>
          </p:cNvPr>
          <p:cNvSpPr txBox="1"/>
          <p:nvPr/>
        </p:nvSpPr>
        <p:spPr>
          <a:xfrm>
            <a:off x="365760" y="1100189"/>
            <a:ext cx="11430000" cy="879856"/>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R = Max SLO goodput ÷ Baseline  </a:t>
            </a:r>
            <a:r>
              <a:rPr lang="en-US" sz="1100" b="0" dirty="0">
                <a:latin typeface="맑은 고딕"/>
                <a:ea typeface="맑은 고딕"/>
              </a:rPr>
              <a:t>(S</a:t>
            </a:r>
            <a:r>
              <a:rPr sz="1100" b="0" dirty="0">
                <a:latin typeface="맑은 고딕"/>
                <a:ea typeface="맑은 고딕"/>
              </a:rPr>
              <a:t>LO</a:t>
            </a:r>
            <a:r>
              <a:rPr lang="en-US" sz="1100" b="0" dirty="0">
                <a:latin typeface="맑은 고딕"/>
                <a:ea typeface="맑은 고딕"/>
              </a:rPr>
              <a:t>:</a:t>
            </a:r>
            <a:r>
              <a:rPr sz="1100" b="0" dirty="0">
                <a:latin typeface="맑은 고딕"/>
                <a:ea typeface="맑은 고딕"/>
              </a:rPr>
              <a:t> TTFT P99 ≤ 2 s, TPOT P99 ≤ 50 </a:t>
            </a:r>
            <a:r>
              <a:rPr sz="1100" b="0" dirty="0" err="1">
                <a:latin typeface="맑은 고딕"/>
                <a:ea typeface="맑은 고딕"/>
              </a:rPr>
              <a:t>ms</a:t>
            </a:r>
            <a:r>
              <a:rPr lang="en-US" sz="1100" b="0" dirty="0">
                <a:latin typeface="맑은 고딕"/>
                <a:ea typeface="맑은 고딕"/>
              </a:rPr>
              <a:t>) </a:t>
            </a:r>
            <a:endParaRPr lang="en-US" altLang="ko-KR" sz="800" b="0" dirty="0">
              <a:latin typeface="맑은 고딕"/>
              <a:ea typeface="맑은 고딕"/>
            </a:endParaRPr>
          </a:p>
          <a:p>
            <a:pPr marL="171450" indent="-171450">
              <a:lnSpc>
                <a:spcPct val="150000"/>
              </a:lnSpc>
              <a:spcAft>
                <a:spcPts val="250"/>
              </a:spcAft>
              <a:buFontTx/>
              <a:buChar char="-"/>
            </a:pPr>
            <a:r>
              <a:rPr lang="ko-KR" altLang="en-US" sz="1100" b="0" dirty="0">
                <a:solidFill>
                  <a:srgbClr val="000000"/>
                </a:solidFill>
                <a:latin typeface="맑은 고딕"/>
                <a:ea typeface="맑은 고딕"/>
              </a:rPr>
              <a:t>처리량 단위</a:t>
            </a:r>
            <a:r>
              <a:rPr lang="en-US" altLang="ko-KR" sz="1100" b="0" dirty="0">
                <a:solidFill>
                  <a:srgbClr val="000000"/>
                </a:solidFill>
                <a:latin typeface="맑은 고딕"/>
                <a:ea typeface="맑은 고딕"/>
              </a:rPr>
              <a:t>: Query / sec</a:t>
            </a:r>
          </a:p>
          <a:p>
            <a:pPr marL="171450" indent="-171450">
              <a:lnSpc>
                <a:spcPct val="150000"/>
              </a:lnSpc>
              <a:spcAft>
                <a:spcPts val="250"/>
              </a:spcAft>
              <a:buFontTx/>
              <a:buChar char="-"/>
            </a:pPr>
            <a:r>
              <a:rPr lang="en-US" altLang="ko-KR" sz="1100" b="0" dirty="0">
                <a:solidFill>
                  <a:srgbClr val="000000"/>
                </a:solidFill>
                <a:latin typeface="맑은 고딕"/>
                <a:ea typeface="맑은 고딕"/>
              </a:rPr>
              <a:t>SLO goodput: </a:t>
            </a:r>
            <a:r>
              <a:rPr lang="en-US" altLang="ko-KR" sz="1100" dirty="0">
                <a:solidFill>
                  <a:srgbClr val="000000"/>
                </a:solidFill>
                <a:latin typeface="맑은 고딕"/>
                <a:ea typeface="맑은 고딕"/>
              </a:rPr>
              <a:t>SLO</a:t>
            </a:r>
            <a:r>
              <a:rPr lang="ko-KR" altLang="en-US" sz="1100" dirty="0">
                <a:solidFill>
                  <a:srgbClr val="000000"/>
                </a:solidFill>
                <a:latin typeface="맑은 고딕"/>
                <a:ea typeface="맑은 고딕"/>
              </a:rPr>
              <a:t>를 만족하는 요청의 처리량 </a:t>
            </a:r>
            <a:r>
              <a:rPr lang="en-US" altLang="ko-KR" sz="1100" dirty="0">
                <a:solidFill>
                  <a:srgbClr val="000000"/>
                </a:solidFill>
                <a:latin typeface="맑은 고딕"/>
                <a:ea typeface="맑은 고딕"/>
              </a:rPr>
              <a:t>(</a:t>
            </a:r>
            <a:r>
              <a:rPr lang="ko-KR" altLang="en-US" sz="1100" dirty="0">
                <a:solidFill>
                  <a:srgbClr val="000000"/>
                </a:solidFill>
                <a:latin typeface="맑은 고딕"/>
                <a:ea typeface="맑은 고딕"/>
              </a:rPr>
              <a:t>처리된 요청 수 </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경과 시간</a:t>
            </a:r>
            <a:r>
              <a:rPr lang="en-US" altLang="ko-KR" sz="1100" dirty="0">
                <a:solidFill>
                  <a:srgbClr val="000000"/>
                </a:solidFill>
                <a:latin typeface="맑은 고딕"/>
                <a:ea typeface="맑은 고딕"/>
              </a:rPr>
              <a:t>),  Max</a:t>
            </a:r>
            <a:r>
              <a:rPr lang="ko-KR" altLang="en-US" sz="1100" dirty="0">
                <a:solidFill>
                  <a:srgbClr val="000000"/>
                </a:solidFill>
                <a:latin typeface="맑은 고딕"/>
                <a:ea typeface="맑은 고딕"/>
              </a:rPr>
              <a:t>의 의미</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가장 높은 성능의 조건을 비교하기 위함 </a:t>
            </a:r>
            <a:endParaRPr lang="en-US" altLang="ko-KR" sz="1100" b="0" dirty="0">
              <a:solidFill>
                <a:srgbClr val="404040"/>
              </a:solidFill>
              <a:latin typeface="맑은 고딕"/>
              <a:ea typeface="맑은 고딕"/>
            </a:endParaRPr>
          </a:p>
        </p:txBody>
      </p:sp>
      <p:sp>
        <p:nvSpPr>
          <p:cNvPr id="9" name="실행 단추: 뒤로 또는 이전 8">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src">
            <a:extLst>
              <a:ext uri="{FF2B5EF4-FFF2-40B4-BE49-F238E27FC236}">
                <a16:creationId xmlns:a16="http://schemas.microsoft.com/office/drawing/2014/main" id="{CF8094EC-0377-4489-9D6C-BCCDBEE3074C}"/>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LMCache</a:t>
            </a:r>
            <a:r>
              <a:rPr sz="750" b="0" dirty="0">
                <a:solidFill>
                  <a:srgbClr val="404040"/>
                </a:solidFill>
                <a:latin typeface="맑은 고딕"/>
                <a:ea typeface="맑은 고딕"/>
              </a:rPr>
              <a:t> 2510.09665 · Mooncake 2407.00079 · </a:t>
            </a:r>
            <a:r>
              <a:rPr sz="750" b="0" dirty="0" err="1">
                <a:solidFill>
                  <a:srgbClr val="404040"/>
                </a:solidFill>
                <a:latin typeface="맑은 고딕"/>
                <a:ea typeface="맑은 고딕"/>
              </a:rPr>
              <a:t>InferCept</a:t>
            </a:r>
            <a:r>
              <a:rPr sz="750" b="0" dirty="0">
                <a:solidFill>
                  <a:srgbClr val="404040"/>
                </a:solidFill>
                <a:latin typeface="맑은 고딕"/>
                <a:ea typeface="맑은 고딕"/>
              </a:rPr>
              <a:t> 2402.01869 · </a:t>
            </a:r>
            <a:r>
              <a:rPr sz="750" b="0" dirty="0" err="1">
                <a:solidFill>
                  <a:srgbClr val="404040"/>
                </a:solidFill>
                <a:latin typeface="맑은 고딕"/>
                <a:ea typeface="맑은 고딕"/>
              </a:rPr>
              <a:t>Pensieve</a:t>
            </a:r>
            <a:r>
              <a:rPr sz="750" b="0" dirty="0">
                <a:solidFill>
                  <a:srgbClr val="404040"/>
                </a:solidFill>
                <a:latin typeface="맑은 고딕"/>
                <a:ea typeface="맑은 고딕"/>
              </a:rPr>
              <a:t> 2312.05516 · </a:t>
            </a:r>
            <a:r>
              <a:rPr sz="750" b="0" dirty="0" err="1">
                <a:solidFill>
                  <a:srgbClr val="404040"/>
                </a:solidFill>
                <a:latin typeface="맑은 고딕"/>
                <a:ea typeface="맑은 고딕"/>
              </a:rPr>
              <a:t>AttentionStore</a:t>
            </a:r>
            <a:r>
              <a:rPr sz="750" b="0" dirty="0">
                <a:solidFill>
                  <a:srgbClr val="404040"/>
                </a:solidFill>
                <a:latin typeface="맑은 고딕"/>
                <a:ea typeface="맑은 고딕"/>
              </a:rPr>
              <a:t> 2403.19708 · </a:t>
            </a:r>
            <a:r>
              <a:rPr sz="750" b="0" dirty="0" err="1">
                <a:solidFill>
                  <a:srgbClr val="404040"/>
                </a:solidFill>
                <a:latin typeface="맑은 고딕"/>
                <a:ea typeface="맑은 고딕"/>
              </a:rPr>
              <a:t>DistServe</a:t>
            </a:r>
            <a:r>
              <a:rPr sz="750" b="0" dirty="0">
                <a:solidFill>
                  <a:srgbClr val="404040"/>
                </a:solidFill>
                <a:latin typeface="맑은 고딕"/>
                <a:ea typeface="맑은 고딕"/>
              </a:rPr>
              <a:t> 2401.09670 · </a:t>
            </a:r>
            <a:r>
              <a:rPr sz="750" b="0" dirty="0" err="1">
                <a:solidFill>
                  <a:srgbClr val="404040"/>
                </a:solidFill>
                <a:latin typeface="맑은 고딕"/>
                <a:ea typeface="맑은 고딕"/>
              </a:rPr>
              <a:t>Sarathi</a:t>
            </a:r>
            <a:r>
              <a:rPr sz="750" b="0" dirty="0">
                <a:solidFill>
                  <a:srgbClr val="404040"/>
                </a:solidFill>
                <a:latin typeface="맑은 고딕"/>
                <a:ea typeface="맑은 고딕"/>
              </a:rPr>
              <a:t>-Serve 2403.02310</a:t>
            </a:r>
          </a:p>
        </p:txBody>
      </p:sp>
      <p:graphicFrame>
        <p:nvGraphicFramePr>
          <p:cNvPr id="74" name="tbl">
            <a:extLst>
              <a:ext uri="{FF2B5EF4-FFF2-40B4-BE49-F238E27FC236}">
                <a16:creationId xmlns:a16="http://schemas.microsoft.com/office/drawing/2014/main" id="{7DAC45F9-9975-4210-AC0D-AE6040F54DE4}"/>
              </a:ext>
            </a:extLst>
          </p:cNvPr>
          <p:cNvGraphicFramePr>
            <a:graphicFrameLocks noGrp="1"/>
          </p:cNvGraphicFramePr>
          <p:nvPr>
            <p:extLst>
              <p:ext uri="{D42A27DB-BD31-4B8C-83A1-F6EECF244321}">
                <p14:modId xmlns:p14="http://schemas.microsoft.com/office/powerpoint/2010/main" val="3493007116"/>
              </p:ext>
            </p:extLst>
          </p:nvPr>
        </p:nvGraphicFramePr>
        <p:xfrm>
          <a:off x="365760" y="1993716"/>
          <a:ext cx="11457432" cy="2121408"/>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19456">
                <a:tc>
                  <a:txBody>
                    <a:bodyPr/>
                    <a:lstStyle/>
                    <a:p>
                      <a:pPr algn="ctr">
                        <a:lnSpc>
                          <a:spcPct val="125000"/>
                        </a:lnSpc>
                      </a:pPr>
                      <a:r>
                        <a:rPr sz="800" b="1" dirty="0">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800" b="1" dirty="0" err="1">
                          <a:solidFill>
                            <a:srgbClr val="FFFFFF"/>
                          </a:solidFill>
                          <a:latin typeface="맑은 고딕"/>
                          <a:ea typeface="맑은 고딕"/>
                        </a:rPr>
                        <a:t>기준</a:t>
                      </a:r>
                      <a:r>
                        <a:rPr sz="800" b="1" dirty="0">
                          <a:solidFill>
                            <a:srgbClr val="FFFFFF"/>
                          </a:solidFill>
                          <a:latin typeface="맑은 고딕"/>
                          <a:ea typeface="맑은 고딕"/>
                        </a:rPr>
                        <a:t> (</a:t>
                      </a:r>
                      <a:r>
                        <a:rPr sz="800" b="1" dirty="0" err="1">
                          <a:solidFill>
                            <a:srgbClr val="FFFFFF"/>
                          </a:solidFill>
                          <a:latin typeface="맑은 고딕"/>
                          <a:ea typeface="맑은 고딕"/>
                        </a:rPr>
                        <a:t>정량</a:t>
                      </a:r>
                      <a:r>
                        <a:rPr sz="8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solidFill>
                      <a:srgbClr val="2F5597"/>
                    </a:solidFill>
                  </a:tcPr>
                </a:tc>
                <a:tc>
                  <a:txBody>
                    <a:bodyPr/>
                    <a:lstStyle/>
                    <a:p>
                      <a:pPr algn="ctr">
                        <a:lnSpc>
                          <a:spcPct val="125000"/>
                        </a:lnSpc>
                      </a:pPr>
                      <a:r>
                        <a:rPr sz="800" b="1" dirty="0" err="1">
                          <a:solidFill>
                            <a:srgbClr val="FFFFFF"/>
                          </a:solidFill>
                          <a:latin typeface="맑은 고딕"/>
                          <a:ea typeface="맑은 고딕"/>
                        </a:rPr>
                        <a:t>근거</a:t>
                      </a:r>
                      <a:endParaRPr sz="8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8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283464">
                <a:tc>
                  <a:txBody>
                    <a:bodyPr/>
                    <a:lstStyle/>
                    <a:p>
                      <a:pPr algn="ctr">
                        <a:lnSpc>
                          <a:spcPct val="125000"/>
                        </a:lnSpc>
                      </a:pPr>
                      <a:r>
                        <a:rPr sz="800" b="1">
                          <a:solidFill>
                            <a:srgbClr val="000000"/>
                          </a:solidFill>
                          <a:latin typeface="맑은 고딕"/>
                          <a:ea typeface="맑은 고딕"/>
                        </a:rPr>
                        <a:t>★ 3</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2EFDA"/>
                    </a:solidFill>
                  </a:tcPr>
                </a:tc>
                <a:tc>
                  <a:txBody>
                    <a:bodyPr/>
                    <a:lstStyle/>
                    <a:p>
                      <a:pPr algn="l"/>
                      <a:r>
                        <a:rPr sz="830" b="1" dirty="0">
                          <a:solidFill>
                            <a:srgbClr val="000000"/>
                          </a:solidFill>
                          <a:latin typeface="맑은 고딕"/>
                          <a:ea typeface="맑은 고딕"/>
                        </a:rPr>
                        <a:t>R ≥ 3.0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lang="ko-KR" altLang="en-US" sz="800" b="1" dirty="0">
                          <a:solidFill>
                            <a:srgbClr val="000000"/>
                          </a:solidFill>
                          <a:latin typeface="+mn-lt"/>
                          <a:ea typeface="맑은 고딕"/>
                        </a:rPr>
                        <a:t>문헌 성능의 보수적 상한 ≈ 3x: Pensieve 상한 3.0x (vLLM·TensorRT-LLM 대비).</a:t>
                      </a:r>
                      <a:endParaRPr lang="en-US" sz="800" b="1" dirty="0">
                        <a:solidFill>
                          <a:srgbClr val="000000"/>
                        </a:solidFill>
                        <a:latin typeface="맑은 고딕"/>
                        <a:ea typeface="맑은 고딕"/>
                      </a:endParaRPr>
                    </a:p>
                    <a:p>
                      <a:pPr algn="l">
                        <a:lnSpc>
                          <a:spcPct val="125000"/>
                        </a:lnSpc>
                      </a:pPr>
                      <a:r>
                        <a:rPr sz="800" b="1" dirty="0" err="1">
                          <a:solidFill>
                            <a:srgbClr val="000000"/>
                          </a:solidFill>
                          <a:latin typeface="맑은 고딕"/>
                          <a:ea typeface="맑은 고딕"/>
                        </a:rPr>
                        <a:t>3x 초과 보고값(DistServe 7.4x, AttentionStore 7.8x, Sarathi-Serve 6.9x)은 기법·baseline이 달라 참고만.</a:t>
                      </a:r>
                      <a:endParaRPr lang="en-US" sz="8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800" b="0">
                          <a:solidFill>
                            <a:srgbClr val="000000"/>
                          </a:solidFill>
                          <a:latin typeface="맑은 고딕"/>
                          <a:ea typeface="맑은 고딕"/>
                        </a:rPr>
                        <a:t>Pensieve (참고: DistServe, Sarathi-Serve, AttentionStore)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283464">
                <a:tc>
                  <a:txBody>
                    <a:bodyPr/>
                    <a:lstStyle/>
                    <a:p>
                      <a:pPr algn="ctr">
                        <a:lnSpc>
                          <a:spcPct val="125000"/>
                        </a:lnSpc>
                      </a:pPr>
                      <a:r>
                        <a:rPr sz="800" b="1" dirty="0">
                          <a:solidFill>
                            <a:srgbClr val="000000"/>
                          </a:solidFill>
                          <a:latin typeface="맑은 고딕"/>
                          <a:ea typeface="맑은 고딕"/>
                        </a:rPr>
                        <a:t>★ 2.5</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DF3D5"/>
                    </a:solidFill>
                  </a:tcPr>
                </a:tc>
                <a:tc>
                  <a:txBody>
                    <a:bodyPr/>
                    <a:lstStyle/>
                    <a:p>
                      <a:pPr algn="l"/>
                      <a:r>
                        <a:rPr sz="830" b="0" dirty="0" smtClean="0">
                          <a:solidFill>
                            <a:srgbClr val="000000"/>
                          </a:solidFill>
                          <a:latin typeface="맑은 고딕"/>
                          <a:ea typeface="맑은 고딕"/>
                        </a:rPr>
                        <a:t>2.</a:t>
                      </a:r>
                      <a:r>
                        <a:rPr lang="en-US" sz="830" b="0" dirty="0" smtClean="0">
                          <a:solidFill>
                            <a:srgbClr val="000000"/>
                          </a:solidFill>
                          <a:latin typeface="맑은 고딕"/>
                          <a:ea typeface="맑은 고딕"/>
                        </a:rPr>
                        <a:t>5</a:t>
                      </a:r>
                      <a:r>
                        <a:rPr sz="830" b="0" dirty="0" smtClean="0">
                          <a:solidFill>
                            <a:srgbClr val="000000"/>
                          </a:solidFill>
                          <a:latin typeface="맑은 고딕"/>
                          <a:ea typeface="맑은 고딕"/>
                        </a:rPr>
                        <a:t> </a:t>
                      </a:r>
                      <a:r>
                        <a:rPr sz="830" b="0" dirty="0">
                          <a:solidFill>
                            <a:srgbClr val="000000"/>
                          </a:solidFill>
                          <a:latin typeface="맑은 고딕"/>
                          <a:ea typeface="맑은 고딕"/>
                        </a:rPr>
                        <a:t>≤ R &lt; 3.0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lang="ko-KR" altLang="en-US" sz="800" b="0" dirty="0">
                          <a:solidFill>
                            <a:srgbClr val="000000"/>
                          </a:solidFill>
                          <a:latin typeface="+mn-lt"/>
                          <a:ea typeface="맑은 고딕"/>
                        </a:rPr>
                        <a:t>★2와 ★3의 </a:t>
                      </a:r>
                      <a:r>
                        <a:rPr lang="ko-KR" altLang="en-US" sz="800" b="0" dirty="0" smtClean="0">
                          <a:solidFill>
                            <a:srgbClr val="000000"/>
                          </a:solidFill>
                          <a:latin typeface="+mn-lt"/>
                          <a:ea typeface="맑은 고딕"/>
                        </a:rPr>
                        <a:t>중점 </a:t>
                      </a:r>
                      <a:endParaRPr sz="8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283464">
                <a:tc>
                  <a:txBody>
                    <a:bodyPr/>
                    <a:lstStyle/>
                    <a:p>
                      <a:pPr algn="ctr">
                        <a:lnSpc>
                          <a:spcPct val="125000"/>
                        </a:lnSpc>
                      </a:pPr>
                      <a:r>
                        <a:rPr sz="800" b="1">
                          <a:solidFill>
                            <a:srgbClr val="000000"/>
                          </a:solidFill>
                          <a:latin typeface="맑은 고딕"/>
                          <a:ea typeface="맑은 고딕"/>
                        </a:rPr>
                        <a:t>★ 2</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FF2CC"/>
                    </a:solidFill>
                  </a:tcPr>
                </a:tc>
                <a:tc>
                  <a:txBody>
                    <a:bodyPr/>
                    <a:lstStyle/>
                    <a:p>
                      <a:pPr algn="l"/>
                      <a:r>
                        <a:rPr sz="830" b="1" dirty="0">
                          <a:solidFill>
                            <a:schemeClr val="tx1"/>
                          </a:solidFill>
                          <a:latin typeface="맑은 고딕"/>
                          <a:ea typeface="맑은 고딕"/>
                        </a:rPr>
                        <a:t>2.0 ≤ R &lt; </a:t>
                      </a:r>
                      <a:r>
                        <a:rPr sz="830" b="1" dirty="0" smtClean="0">
                          <a:solidFill>
                            <a:schemeClr val="tx1"/>
                          </a:solidFill>
                          <a:latin typeface="맑은 고딕"/>
                          <a:ea typeface="맑은 고딕"/>
                        </a:rPr>
                        <a:t>2.</a:t>
                      </a:r>
                      <a:r>
                        <a:rPr lang="en-US" sz="830" b="1" dirty="0" smtClean="0">
                          <a:solidFill>
                            <a:schemeClr val="tx1"/>
                          </a:solidFill>
                          <a:latin typeface="맑은 고딕"/>
                          <a:ea typeface="맑은 고딕"/>
                        </a:rPr>
                        <a:t>5</a:t>
                      </a:r>
                      <a:endParaRPr sz="830" b="1" dirty="0">
                        <a:solidFill>
                          <a:schemeClr val="tx1"/>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800" b="1" dirty="0">
                          <a:solidFill>
                            <a:srgbClr val="000000"/>
                          </a:solidFill>
                          <a:latin typeface="맑은 고딕"/>
                          <a:ea typeface="맑은 고딕"/>
                        </a:rPr>
                        <a:t>경쟁 기술 수준: HBM-DRAM-SSD 단순 offloading의 보수적 보고값 (InferCept 상한 2.0x, LMCache 단일 노드 하한 2.3x). </a:t>
                      </a:r>
                      <a:endParaRPr lang="en-US" altLang="ko-KR" sz="800" b="1" dirty="0" smtClean="0">
                        <a:solidFill>
                          <a:srgbClr val="000000"/>
                        </a:solidFill>
                        <a:latin typeface="맑은 고딕"/>
                        <a:ea typeface="맑은 고딕"/>
                      </a:endParaRPr>
                    </a:p>
                    <a:p>
                      <a:pPr algn="l">
                        <a:lnSpc>
                          <a:spcPct val="125000"/>
                        </a:lnSpc>
                      </a:pPr>
                      <a:r>
                        <a:rPr lang="ko-KR" altLang="en-US" sz="800" b="1" dirty="0" err="1" smtClean="0">
                          <a:solidFill>
                            <a:srgbClr val="000000"/>
                          </a:solidFill>
                          <a:latin typeface="맑은 고딕"/>
                          <a:ea typeface="맑은 고딕"/>
                        </a:rPr>
                        <a:t>보고값</a:t>
                      </a:r>
                      <a:r>
                        <a:rPr lang="ko-KR" altLang="en-US" sz="800" b="1" dirty="0" smtClean="0">
                          <a:solidFill>
                            <a:srgbClr val="000000"/>
                          </a:solidFill>
                          <a:latin typeface="맑은 고딕"/>
                          <a:ea typeface="맑은 고딕"/>
                        </a:rPr>
                        <a:t> </a:t>
                      </a:r>
                      <a:r>
                        <a:rPr lang="ko-KR" altLang="en-US" sz="800" b="1" dirty="0">
                          <a:solidFill>
                            <a:srgbClr val="000000"/>
                          </a:solidFill>
                          <a:latin typeface="맑은 고딕"/>
                          <a:ea typeface="맑은 고딕"/>
                        </a:rPr>
                        <a:t>8개의 하위 25% ≈ 2.2x.</a:t>
                      </a:r>
                      <a:endParaRPr lang="en-US" sz="8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800" b="0" dirty="0" err="1">
                          <a:solidFill>
                            <a:srgbClr val="000000"/>
                          </a:solidFill>
                          <a:latin typeface="맑은 고딕"/>
                          <a:ea typeface="맑은 고딕"/>
                        </a:rPr>
                        <a:t>InferCept, LMCache</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283464">
                <a:tc>
                  <a:txBody>
                    <a:bodyPr/>
                    <a:lstStyle/>
                    <a:p>
                      <a:pPr algn="ctr">
                        <a:lnSpc>
                          <a:spcPct val="125000"/>
                        </a:lnSpc>
                      </a:pPr>
                      <a:r>
                        <a:rPr sz="800" b="1">
                          <a:solidFill>
                            <a:srgbClr val="000000"/>
                          </a:solidFill>
                          <a:latin typeface="맑은 고딕"/>
                          <a:ea typeface="맑은 고딕"/>
                        </a:rPr>
                        <a:t>★ 1.5</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DE9D2"/>
                    </a:solidFill>
                  </a:tcPr>
                </a:tc>
                <a:tc>
                  <a:txBody>
                    <a:bodyPr/>
                    <a:lstStyle/>
                    <a:p>
                      <a:pPr algn="l"/>
                      <a:r>
                        <a:rPr sz="830" b="0" dirty="0" smtClean="0">
                          <a:solidFill>
                            <a:srgbClr val="000000"/>
                          </a:solidFill>
                          <a:latin typeface="맑은 고딕"/>
                          <a:ea typeface="맑은 고딕"/>
                        </a:rPr>
                        <a:t>1.7</a:t>
                      </a:r>
                      <a:r>
                        <a:rPr lang="en-US" sz="830" b="0" dirty="0" smtClean="0">
                          <a:solidFill>
                            <a:srgbClr val="000000"/>
                          </a:solidFill>
                          <a:latin typeface="맑은 고딕"/>
                          <a:ea typeface="맑은 고딕"/>
                        </a:rPr>
                        <a:t>5</a:t>
                      </a:r>
                      <a:r>
                        <a:rPr sz="830" b="0" dirty="0" smtClean="0">
                          <a:solidFill>
                            <a:srgbClr val="000000"/>
                          </a:solidFill>
                          <a:latin typeface="맑은 고딕"/>
                          <a:ea typeface="맑은 고딕"/>
                        </a:rPr>
                        <a:t> </a:t>
                      </a:r>
                      <a:r>
                        <a:rPr sz="830" b="0" dirty="0">
                          <a:solidFill>
                            <a:srgbClr val="000000"/>
                          </a:solidFill>
                          <a:latin typeface="맑은 고딕"/>
                          <a:ea typeface="맑은 고딕"/>
                        </a:rPr>
                        <a:t>≤ R &lt; 2.0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lang="ko-KR" altLang="en-US" sz="800" b="0" dirty="0">
                          <a:solidFill>
                            <a:srgbClr val="000000"/>
                          </a:solidFill>
                          <a:latin typeface="+mn-lt"/>
                          <a:ea typeface="맑은 고딕"/>
                        </a:rPr>
                        <a:t>★1과 ★2의 </a:t>
                      </a:r>
                      <a:r>
                        <a:rPr lang="ko-KR" altLang="en-US" sz="800" b="0" dirty="0" smtClean="0">
                          <a:solidFill>
                            <a:srgbClr val="000000"/>
                          </a:solidFill>
                          <a:latin typeface="+mn-lt"/>
                          <a:ea typeface="맑은 고딕"/>
                        </a:rPr>
                        <a:t>중점. </a:t>
                      </a:r>
                      <a:r>
                        <a:rPr lang="ko-KR" altLang="en-US" sz="800" b="0" dirty="0">
                          <a:solidFill>
                            <a:srgbClr val="000000"/>
                          </a:solidFill>
                          <a:latin typeface="+mn-lt"/>
                          <a:ea typeface="맑은 고딕"/>
                        </a:rPr>
                        <a:t>Mooncake 실트래픽 +75%(1.75x)가 이 구간.</a:t>
                      </a:r>
                      <a:endParaRPr sz="8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800" b="0" dirty="0" err="1">
                          <a:solidFill>
                            <a:srgbClr val="000000"/>
                          </a:solidFill>
                          <a:latin typeface="맑은 고딕"/>
                          <a:ea typeface="맑은 고딕"/>
                        </a:rPr>
                        <a:t>Mooncake, InferCept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42491">
                <a:tc>
                  <a:txBody>
                    <a:bodyPr/>
                    <a:lstStyle/>
                    <a:p>
                      <a:pPr algn="ctr">
                        <a:lnSpc>
                          <a:spcPct val="125000"/>
                        </a:lnSpc>
                      </a:pPr>
                      <a:r>
                        <a:rPr sz="800" b="1">
                          <a:solidFill>
                            <a:srgbClr val="000000"/>
                          </a:solidFill>
                          <a:latin typeface="맑은 고딕"/>
                          <a:ea typeface="맑은 고딕"/>
                        </a:rPr>
                        <a:t>★ 1</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BE0D6"/>
                    </a:solidFill>
                  </a:tcPr>
                </a:tc>
                <a:tc>
                  <a:txBody>
                    <a:bodyPr/>
                    <a:lstStyle/>
                    <a:p>
                      <a:pPr algn="l"/>
                      <a:r>
                        <a:rPr sz="830" b="1" dirty="0">
                          <a:solidFill>
                            <a:srgbClr val="000000"/>
                          </a:solidFill>
                          <a:latin typeface="맑은 고딕"/>
                          <a:ea typeface="맑은 고딕"/>
                        </a:rPr>
                        <a:t>1.5 ≤ R &lt; </a:t>
                      </a:r>
                      <a:r>
                        <a:rPr sz="830" b="1" dirty="0" smtClean="0">
                          <a:solidFill>
                            <a:srgbClr val="000000"/>
                          </a:solidFill>
                          <a:latin typeface="맑은 고딕"/>
                          <a:ea typeface="맑은 고딕"/>
                        </a:rPr>
                        <a:t>1.7</a:t>
                      </a:r>
                      <a:r>
                        <a:rPr lang="en-US" sz="830" b="1" dirty="0" smtClean="0">
                          <a:solidFill>
                            <a:srgbClr val="000000"/>
                          </a:solidFill>
                          <a:latin typeface="맑은 고딕"/>
                          <a:ea typeface="맑은 고딕"/>
                        </a:rPr>
                        <a:t>5</a:t>
                      </a:r>
                      <a:endParaRPr sz="83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00" b="1" dirty="0">
                          <a:solidFill>
                            <a:srgbClr val="000000"/>
                          </a:solidFill>
                          <a:latin typeface="맑은 고딕"/>
                          <a:ea typeface="맑은 고딕"/>
                        </a:rPr>
                        <a:t>Stakeholder 요구: "처리량 </a:t>
                      </a:r>
                      <a:r>
                        <a:rPr sz="800" b="1" dirty="0" err="1">
                          <a:solidFill>
                            <a:srgbClr val="000000"/>
                          </a:solidFill>
                          <a:latin typeface="맑은 고딕"/>
                          <a:ea typeface="맑은 고딕"/>
                        </a:rPr>
                        <a:t>개선</a:t>
                      </a:r>
                      <a:r>
                        <a:rPr sz="800" b="1" dirty="0">
                          <a:solidFill>
                            <a:srgbClr val="000000"/>
                          </a:solidFill>
                          <a:latin typeface="맑은 고딕"/>
                          <a:ea typeface="맑은 고딕"/>
                        </a:rPr>
                        <a:t> 1.5배 </a:t>
                      </a:r>
                      <a:r>
                        <a:rPr lang="ko-KR" altLang="en-US" sz="800" b="1" dirty="0">
                          <a:solidFill>
                            <a:srgbClr val="000000"/>
                          </a:solidFill>
                          <a:latin typeface="맑은 고딕"/>
                          <a:ea typeface="맑은 고딕"/>
                        </a:rPr>
                        <a:t>이상 확인 필요</a:t>
                      </a:r>
                      <a:r>
                        <a:rPr sz="800" b="1" dirty="0">
                          <a:solidFill>
                            <a:srgbClr val="000000"/>
                          </a:solidFill>
                          <a:latin typeface="맑은 고딕"/>
                          <a:ea typeface="맑은 고딕"/>
                        </a:rPr>
                        <a:t>" (Baseline).</a:t>
                      </a:r>
                      <a:endParaRPr lang="en-US" sz="800" b="1" dirty="0">
                        <a:solidFill>
                          <a:srgbClr val="000000"/>
                        </a:solidFill>
                        <a:latin typeface="맑은 고딕"/>
                        <a:ea typeface="맑은 고딕"/>
                      </a:endParaRPr>
                    </a:p>
                    <a:p>
                      <a:pPr algn="l">
                        <a:lnSpc>
                          <a:spcPct val="125000"/>
                        </a:lnSpc>
                      </a:pPr>
                      <a:r>
                        <a:rPr lang="ko-KR" altLang="en-US" sz="800" b="1" dirty="0">
                          <a:solidFill>
                            <a:srgbClr val="000000"/>
                          </a:solidFill>
                          <a:latin typeface="맑은 고딕"/>
                          <a:ea typeface="맑은 고딕"/>
                        </a:rPr>
                        <a:t>단순 offloading 기술의 하한 수준: InferCept 보고 범위 하한 1.6x. (Pensieve 하한 1.14x는 이 아래)</a:t>
                      </a:r>
                      <a:endParaRPr sz="8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00" b="0" dirty="0">
                          <a:solidFill>
                            <a:srgbClr val="000000"/>
                          </a:solidFill>
                          <a:latin typeface="맑은 고딕"/>
                          <a:ea typeface="맑은 고딕"/>
                        </a:rPr>
                        <a:t>Stakeholder 요구사항,</a:t>
                      </a:r>
                      <a:endParaRPr lang="en-US" sz="800" b="0" dirty="0">
                        <a:solidFill>
                          <a:srgbClr val="000000"/>
                        </a:solidFill>
                        <a:latin typeface="맑은 고딕"/>
                        <a:ea typeface="맑은 고딕"/>
                      </a:endParaRPr>
                    </a:p>
                    <a:p>
                      <a:pPr algn="l">
                        <a:lnSpc>
                          <a:spcPct val="125000"/>
                        </a:lnSpc>
                      </a:pPr>
                      <a:r>
                        <a:rPr sz="800" b="0" dirty="0" err="1">
                          <a:solidFill>
                            <a:srgbClr val="000000"/>
                          </a:solidFill>
                          <a:latin typeface="맑은 고딕"/>
                          <a:ea typeface="맑은 고딕"/>
                        </a:rPr>
                        <a:t>InferCept, Pensieve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283464">
                <a:tc>
                  <a:txBody>
                    <a:bodyPr/>
                    <a:lstStyle/>
                    <a:p>
                      <a:pPr algn="ctr"/>
                      <a:r>
                        <a:rPr sz="800" b="1">
                          <a:solidFill>
                            <a:srgbClr val="000000"/>
                          </a:solidFill>
                          <a:latin typeface="맑은 고딕"/>
                          <a:ea typeface="맑은 고딕"/>
                        </a:rPr>
                        <a:t>미충족</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DEDED"/>
                    </a:solidFill>
                  </a:tcPr>
                </a:tc>
                <a:tc>
                  <a:txBody>
                    <a:bodyPr/>
                    <a:lstStyle/>
                    <a:p>
                      <a:pPr algn="l"/>
                      <a:r>
                        <a:rPr sz="830" b="0" dirty="0">
                          <a:solidFill>
                            <a:srgbClr val="000000"/>
                          </a:solidFill>
                          <a:latin typeface="맑은 고딕"/>
                          <a:ea typeface="맑은 고딕"/>
                        </a:rPr>
                        <a:t>R &lt;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800" b="0" dirty="0">
                          <a:solidFill>
                            <a:srgbClr val="000000"/>
                          </a:solidFill>
                          <a:latin typeface="맑은 고딕"/>
                          <a:ea typeface="맑은 고딕"/>
                        </a:rPr>
                        <a:t>Stakeholder 요구(1.5배) 미충족</a:t>
                      </a: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5" name="TextBox 74">
            <a:extLst>
              <a:ext uri="{FF2B5EF4-FFF2-40B4-BE49-F238E27FC236}">
                <a16:creationId xmlns:a16="http://schemas.microsoft.com/office/drawing/2014/main" id="{6458D367-E7E3-4015-B7C9-744AAAFDB247}"/>
              </a:ext>
            </a:extLst>
          </p:cNvPr>
          <p:cNvSpPr txBox="1"/>
          <p:nvPr/>
        </p:nvSpPr>
        <p:spPr>
          <a:xfrm>
            <a:off x="365760" y="4139840"/>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구간</a:t>
            </a:r>
            <a:r>
              <a:rPr sz="950" b="1" dirty="0">
                <a:solidFill>
                  <a:srgbClr val="2F5597"/>
                </a:solidFill>
                <a:latin typeface="맑은 고딕"/>
                <a:ea typeface="맑은 고딕"/>
              </a:rPr>
              <a:t> </a:t>
            </a:r>
            <a:r>
              <a:rPr sz="950" b="1" dirty="0" err="1">
                <a:solidFill>
                  <a:srgbClr val="2F5597"/>
                </a:solidFill>
                <a:latin typeface="맑은 고딕"/>
                <a:ea typeface="맑은 고딕"/>
              </a:rPr>
              <a:t>대비</a:t>
            </a:r>
            <a:r>
              <a:rPr sz="950" b="1" dirty="0">
                <a:solidFill>
                  <a:srgbClr val="2F5597"/>
                </a:solidFill>
                <a:latin typeface="맑은 고딕"/>
                <a:ea typeface="맑은 고딕"/>
              </a:rPr>
              <a:t> </a:t>
            </a:r>
            <a:r>
              <a:rPr sz="950" b="1" dirty="0" err="1">
                <a:solidFill>
                  <a:srgbClr val="2F5597"/>
                </a:solidFill>
                <a:latin typeface="맑은 고딕"/>
                <a:ea typeface="맑은 고딕"/>
              </a:rPr>
              <a:t>근거</a:t>
            </a:r>
            <a:r>
              <a:rPr sz="950" b="1" dirty="0">
                <a:solidFill>
                  <a:srgbClr val="2F5597"/>
                </a:solidFill>
                <a:latin typeface="맑은 고딕"/>
                <a:ea typeface="맑은 고딕"/>
              </a:rPr>
              <a:t> </a:t>
            </a:r>
            <a:r>
              <a:rPr sz="950" b="1" dirty="0" err="1">
                <a:solidFill>
                  <a:srgbClr val="2F5597"/>
                </a:solidFill>
                <a:latin typeface="맑은 고딕"/>
                <a:ea typeface="맑은 고딕"/>
              </a:rPr>
              <a:t>위치</a:t>
            </a:r>
            <a:r>
              <a:rPr sz="950" b="1" dirty="0">
                <a:solidFill>
                  <a:srgbClr val="2F5597"/>
                </a:solidFill>
                <a:latin typeface="맑은 고딕"/>
                <a:ea typeface="맑은 고딕"/>
              </a:rPr>
              <a:t> — </a:t>
            </a:r>
            <a:r>
              <a:rPr sz="950" b="1" dirty="0" err="1">
                <a:solidFill>
                  <a:srgbClr val="2F5597"/>
                </a:solidFill>
                <a:latin typeface="맑은 고딕"/>
                <a:ea typeface="맑은 고딕"/>
              </a:rPr>
              <a:t>문헌</a:t>
            </a:r>
            <a:r>
              <a:rPr sz="950" b="1" dirty="0">
                <a:solidFill>
                  <a:srgbClr val="2F5597"/>
                </a:solidFill>
                <a:latin typeface="맑은 고딕"/>
                <a:ea typeface="맑은 고딕"/>
              </a:rPr>
              <a:t> 7편 + </a:t>
            </a:r>
            <a:r>
              <a:rPr sz="950" b="1" dirty="0" err="1">
                <a:solidFill>
                  <a:srgbClr val="2F5597"/>
                </a:solidFill>
                <a:latin typeface="맑은 고딕"/>
                <a:ea typeface="맑은 고딕"/>
              </a:rPr>
              <a:t>이론</a:t>
            </a:r>
            <a:endParaRPr sz="950" b="1" dirty="0">
              <a:solidFill>
                <a:srgbClr val="2F5597"/>
              </a:solidFill>
              <a:latin typeface="맑은 고딕"/>
              <a:ea typeface="맑은 고딕"/>
            </a:endParaRPr>
          </a:p>
        </p:txBody>
      </p:sp>
      <p:sp>
        <p:nvSpPr>
          <p:cNvPr id="76" name="Rectangle 12">
            <a:extLst>
              <a:ext uri="{FF2B5EF4-FFF2-40B4-BE49-F238E27FC236}">
                <a16:creationId xmlns:a16="http://schemas.microsoft.com/office/drawing/2014/main" id="{D0197DC2-BE58-4A20-9DC8-B9F34A005160}"/>
              </a:ext>
            </a:extLst>
          </p:cNvPr>
          <p:cNvSpPr/>
          <p:nvPr/>
        </p:nvSpPr>
        <p:spPr>
          <a:xfrm>
            <a:off x="411480" y="4393368"/>
            <a:ext cx="1658158"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A0B95972-9CC8-45AE-A6BB-78804BA01B58}"/>
              </a:ext>
            </a:extLst>
          </p:cNvPr>
          <p:cNvSpPr txBox="1"/>
          <p:nvPr/>
        </p:nvSpPr>
        <p:spPr>
          <a:xfrm>
            <a:off x="411480" y="4393368"/>
            <a:ext cx="165815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78" name="Rectangle 14">
            <a:extLst>
              <a:ext uri="{FF2B5EF4-FFF2-40B4-BE49-F238E27FC236}">
                <a16:creationId xmlns:a16="http://schemas.microsoft.com/office/drawing/2014/main" id="{0329DBE6-4F9B-47EA-BAC2-1F1384EB479E}"/>
              </a:ext>
            </a:extLst>
          </p:cNvPr>
          <p:cNvSpPr/>
          <p:nvPr/>
        </p:nvSpPr>
        <p:spPr>
          <a:xfrm>
            <a:off x="2069638" y="4393368"/>
            <a:ext cx="588241"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ACC2156B-E677-4715-8762-0880658E70D8}"/>
              </a:ext>
            </a:extLst>
          </p:cNvPr>
          <p:cNvSpPr txBox="1"/>
          <p:nvPr/>
        </p:nvSpPr>
        <p:spPr>
          <a:xfrm>
            <a:off x="2069638" y="4393368"/>
            <a:ext cx="58824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80" name="Rectangle 16">
            <a:extLst>
              <a:ext uri="{FF2B5EF4-FFF2-40B4-BE49-F238E27FC236}">
                <a16:creationId xmlns:a16="http://schemas.microsoft.com/office/drawing/2014/main" id="{8A938879-4463-4C0A-BC3F-441CDCC3966C}"/>
              </a:ext>
            </a:extLst>
          </p:cNvPr>
          <p:cNvSpPr/>
          <p:nvPr/>
        </p:nvSpPr>
        <p:spPr>
          <a:xfrm>
            <a:off x="2657879" y="4393368"/>
            <a:ext cx="588241"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a:extLst>
              <a:ext uri="{FF2B5EF4-FFF2-40B4-BE49-F238E27FC236}">
                <a16:creationId xmlns:a16="http://schemas.microsoft.com/office/drawing/2014/main" id="{6F140817-51C2-46C4-8585-3E436818222B}"/>
              </a:ext>
            </a:extLst>
          </p:cNvPr>
          <p:cNvSpPr txBox="1"/>
          <p:nvPr/>
        </p:nvSpPr>
        <p:spPr>
          <a:xfrm>
            <a:off x="2657879" y="4393368"/>
            <a:ext cx="58824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82" name="Rectangle 18">
            <a:extLst>
              <a:ext uri="{FF2B5EF4-FFF2-40B4-BE49-F238E27FC236}">
                <a16:creationId xmlns:a16="http://schemas.microsoft.com/office/drawing/2014/main" id="{B1BEDF91-4F9C-4D22-A964-C5FD760204C3}"/>
              </a:ext>
            </a:extLst>
          </p:cNvPr>
          <p:cNvSpPr/>
          <p:nvPr/>
        </p:nvSpPr>
        <p:spPr>
          <a:xfrm>
            <a:off x="3246120" y="4393368"/>
            <a:ext cx="829079"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a:extLst>
              <a:ext uri="{FF2B5EF4-FFF2-40B4-BE49-F238E27FC236}">
                <a16:creationId xmlns:a16="http://schemas.microsoft.com/office/drawing/2014/main" id="{BB046AF8-648C-4B28-BCEB-FA06E0D69C94}"/>
              </a:ext>
            </a:extLst>
          </p:cNvPr>
          <p:cNvSpPr txBox="1"/>
          <p:nvPr/>
        </p:nvSpPr>
        <p:spPr>
          <a:xfrm>
            <a:off x="3246120" y="4393368"/>
            <a:ext cx="82907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84" name="Rectangle 20">
            <a:extLst>
              <a:ext uri="{FF2B5EF4-FFF2-40B4-BE49-F238E27FC236}">
                <a16:creationId xmlns:a16="http://schemas.microsoft.com/office/drawing/2014/main" id="{0C488D9D-8EDF-4F04-B693-ED4335D810C3}"/>
              </a:ext>
            </a:extLst>
          </p:cNvPr>
          <p:cNvSpPr/>
          <p:nvPr/>
        </p:nvSpPr>
        <p:spPr>
          <a:xfrm>
            <a:off x="4075199" y="4393368"/>
            <a:ext cx="829079"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a:extLst>
              <a:ext uri="{FF2B5EF4-FFF2-40B4-BE49-F238E27FC236}">
                <a16:creationId xmlns:a16="http://schemas.microsoft.com/office/drawing/2014/main" id="{E1D6D34C-FA54-4212-8586-532F13BB8EE9}"/>
              </a:ext>
            </a:extLst>
          </p:cNvPr>
          <p:cNvSpPr txBox="1"/>
          <p:nvPr/>
        </p:nvSpPr>
        <p:spPr>
          <a:xfrm>
            <a:off x="4075199" y="4393368"/>
            <a:ext cx="82907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86" name="Rectangle 22">
            <a:extLst>
              <a:ext uri="{FF2B5EF4-FFF2-40B4-BE49-F238E27FC236}">
                <a16:creationId xmlns:a16="http://schemas.microsoft.com/office/drawing/2014/main" id="{2FE16760-B2A8-4787-8540-9697C0CBE55D}"/>
              </a:ext>
            </a:extLst>
          </p:cNvPr>
          <p:cNvSpPr/>
          <p:nvPr/>
        </p:nvSpPr>
        <p:spPr>
          <a:xfrm>
            <a:off x="4904278" y="4393368"/>
            <a:ext cx="6845761"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a:extLst>
              <a:ext uri="{FF2B5EF4-FFF2-40B4-BE49-F238E27FC236}">
                <a16:creationId xmlns:a16="http://schemas.microsoft.com/office/drawing/2014/main" id="{388F6E4F-80F5-4F7B-9E54-355673921DF2}"/>
              </a:ext>
            </a:extLst>
          </p:cNvPr>
          <p:cNvSpPr txBox="1"/>
          <p:nvPr/>
        </p:nvSpPr>
        <p:spPr>
          <a:xfrm>
            <a:off x="4904278" y="4393368"/>
            <a:ext cx="684576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88" name="TextBox 87">
            <a:extLst>
              <a:ext uri="{FF2B5EF4-FFF2-40B4-BE49-F238E27FC236}">
                <a16:creationId xmlns:a16="http://schemas.microsoft.com/office/drawing/2014/main" id="{50496B8E-9BD1-468B-88E1-E0A93CCCE3CF}"/>
              </a:ext>
            </a:extLst>
          </p:cNvPr>
          <p:cNvSpPr txBox="1"/>
          <p:nvPr/>
        </p:nvSpPr>
        <p:spPr>
          <a:xfrm>
            <a:off x="1749598"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1.5x</a:t>
            </a:r>
          </a:p>
        </p:txBody>
      </p:sp>
      <p:sp>
        <p:nvSpPr>
          <p:cNvPr id="5" name="TextBox 87">
            <a:extLst>
              <a:ext uri="{FF2B5EF4-FFF2-40B4-BE49-F238E27FC236}">
                <a16:creationId xmlns:a16="http://schemas.microsoft.com/office/drawing/2014/main" id="{50496B8E-9BD1-468B-88E1-E0A93CCCE3CF}"/>
              </a:ext>
            </a:extLst>
          </p:cNvPr>
          <p:cNvSpPr txBox="1"/>
          <p:nvPr/>
        </p:nvSpPr>
        <p:spPr>
          <a:xfrm>
            <a:off x="1142999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16x</a:t>
            </a:r>
          </a:p>
        </p:txBody>
      </p:sp>
      <p:sp>
        <p:nvSpPr>
          <p:cNvPr id="6" name="TextBox 87">
            <a:extLst>
              <a:ext uri="{FF2B5EF4-FFF2-40B4-BE49-F238E27FC236}">
                <a16:creationId xmlns:a16="http://schemas.microsoft.com/office/drawing/2014/main" id="{50496B8E-9BD1-468B-88E1-E0A93CCCE3CF}"/>
              </a:ext>
            </a:extLst>
          </p:cNvPr>
          <p:cNvSpPr txBox="1"/>
          <p:nvPr/>
        </p:nvSpPr>
        <p:spPr>
          <a:xfrm>
            <a:off x="859535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8x</a:t>
            </a:r>
          </a:p>
        </p:txBody>
      </p:sp>
      <p:sp>
        <p:nvSpPr>
          <p:cNvPr id="7" name="TextBox 87">
            <a:extLst>
              <a:ext uri="{FF2B5EF4-FFF2-40B4-BE49-F238E27FC236}">
                <a16:creationId xmlns:a16="http://schemas.microsoft.com/office/drawing/2014/main" id="{50496B8E-9BD1-468B-88E1-E0A93CCCE3CF}"/>
              </a:ext>
            </a:extLst>
          </p:cNvPr>
          <p:cNvSpPr txBox="1"/>
          <p:nvPr/>
        </p:nvSpPr>
        <p:spPr>
          <a:xfrm>
            <a:off x="7418877"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6x</a:t>
            </a:r>
          </a:p>
        </p:txBody>
      </p:sp>
      <p:sp>
        <p:nvSpPr>
          <p:cNvPr id="89" name="TextBox 88">
            <a:extLst>
              <a:ext uri="{FF2B5EF4-FFF2-40B4-BE49-F238E27FC236}">
                <a16:creationId xmlns:a16="http://schemas.microsoft.com/office/drawing/2014/main" id="{D73B2816-CEFF-4D3C-9AB4-382C066655D7}"/>
              </a:ext>
            </a:extLst>
          </p:cNvPr>
          <p:cNvSpPr txBox="1"/>
          <p:nvPr/>
        </p:nvSpPr>
        <p:spPr>
          <a:xfrm>
            <a:off x="2332994" y="4667688"/>
            <a:ext cx="640080" cy="104644"/>
          </a:xfrm>
          <a:prstGeom prst="rect">
            <a:avLst/>
          </a:prstGeom>
          <a:noFill/>
        </p:spPr>
        <p:txBody>
          <a:bodyPr wrap="square" lIns="0" tIns="0" rIns="0" bIns="0" anchor="t">
            <a:spAutoFit/>
          </a:bodyPr>
          <a:lstStyle/>
          <a:p>
            <a:pPr algn="ctr">
              <a:spcAft>
                <a:spcPts val="0"/>
              </a:spcAft>
            </a:pPr>
            <a:r>
              <a:rPr sz="680" b="0" dirty="0" smtClean="0">
                <a:solidFill>
                  <a:srgbClr val="595959"/>
                </a:solidFill>
                <a:latin typeface="맑은 고딕"/>
                <a:ea typeface="맑은 고딕"/>
              </a:rPr>
              <a:t>1.7</a:t>
            </a:r>
            <a:r>
              <a:rPr lang="en-US" sz="680" b="0" dirty="0" smtClean="0">
                <a:solidFill>
                  <a:srgbClr val="595959"/>
                </a:solidFill>
                <a:latin typeface="맑은 고딕"/>
                <a:ea typeface="맑은 고딕"/>
              </a:rPr>
              <a:t>5</a:t>
            </a:r>
            <a:r>
              <a:rPr sz="680" b="0" dirty="0" smtClean="0">
                <a:solidFill>
                  <a:srgbClr val="595959"/>
                </a:solidFill>
                <a:latin typeface="맑은 고딕"/>
                <a:ea typeface="맑은 고딕"/>
              </a:rPr>
              <a:t>x</a:t>
            </a:r>
            <a:endParaRPr sz="680" b="0" dirty="0">
              <a:solidFill>
                <a:srgbClr val="595959"/>
              </a:solidFill>
              <a:latin typeface="맑은 고딕"/>
              <a:ea typeface="맑은 고딕"/>
            </a:endParaRPr>
          </a:p>
        </p:txBody>
      </p:sp>
      <p:sp>
        <p:nvSpPr>
          <p:cNvPr id="90" name="TextBox 89">
            <a:extLst>
              <a:ext uri="{FF2B5EF4-FFF2-40B4-BE49-F238E27FC236}">
                <a16:creationId xmlns:a16="http://schemas.microsoft.com/office/drawing/2014/main" id="{78C7CD24-1F8E-426F-8899-995F1529E03B}"/>
              </a:ext>
            </a:extLst>
          </p:cNvPr>
          <p:cNvSpPr txBox="1"/>
          <p:nvPr/>
        </p:nvSpPr>
        <p:spPr>
          <a:xfrm>
            <a:off x="292608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2x</a:t>
            </a:r>
          </a:p>
        </p:txBody>
      </p:sp>
      <p:sp>
        <p:nvSpPr>
          <p:cNvPr id="91" name="TextBox 90">
            <a:extLst>
              <a:ext uri="{FF2B5EF4-FFF2-40B4-BE49-F238E27FC236}">
                <a16:creationId xmlns:a16="http://schemas.microsoft.com/office/drawing/2014/main" id="{08AF0F89-EFFD-49EF-B46B-5450AC1E862E}"/>
              </a:ext>
            </a:extLst>
          </p:cNvPr>
          <p:cNvSpPr txBox="1"/>
          <p:nvPr/>
        </p:nvSpPr>
        <p:spPr>
          <a:xfrm>
            <a:off x="3756011" y="4667688"/>
            <a:ext cx="640080" cy="104644"/>
          </a:xfrm>
          <a:prstGeom prst="rect">
            <a:avLst/>
          </a:prstGeom>
          <a:noFill/>
        </p:spPr>
        <p:txBody>
          <a:bodyPr wrap="square" lIns="0" tIns="0" rIns="0" bIns="0" anchor="t">
            <a:spAutoFit/>
          </a:bodyPr>
          <a:lstStyle/>
          <a:p>
            <a:pPr algn="ctr">
              <a:spcAft>
                <a:spcPts val="0"/>
              </a:spcAft>
            </a:pPr>
            <a:r>
              <a:rPr sz="680" b="0" dirty="0" smtClean="0">
                <a:solidFill>
                  <a:srgbClr val="595959"/>
                </a:solidFill>
                <a:latin typeface="맑은 고딕"/>
                <a:ea typeface="맑은 고딕"/>
              </a:rPr>
              <a:t>2.</a:t>
            </a:r>
            <a:r>
              <a:rPr lang="en-US" sz="680" b="0" dirty="0" smtClean="0">
                <a:solidFill>
                  <a:srgbClr val="595959"/>
                </a:solidFill>
                <a:latin typeface="맑은 고딕"/>
                <a:ea typeface="맑은 고딕"/>
              </a:rPr>
              <a:t>5</a:t>
            </a:r>
            <a:r>
              <a:rPr sz="680" b="0" dirty="0" smtClean="0">
                <a:solidFill>
                  <a:srgbClr val="595959"/>
                </a:solidFill>
                <a:latin typeface="맑은 고딕"/>
                <a:ea typeface="맑은 고딕"/>
              </a:rPr>
              <a:t>x</a:t>
            </a:r>
            <a:endParaRPr sz="680" b="0" dirty="0">
              <a:solidFill>
                <a:srgbClr val="595959"/>
              </a:solidFill>
              <a:latin typeface="맑은 고딕"/>
              <a:ea typeface="맑은 고딕"/>
            </a:endParaRPr>
          </a:p>
        </p:txBody>
      </p:sp>
      <p:sp>
        <p:nvSpPr>
          <p:cNvPr id="92" name="TextBox 91">
            <a:extLst>
              <a:ext uri="{FF2B5EF4-FFF2-40B4-BE49-F238E27FC236}">
                <a16:creationId xmlns:a16="http://schemas.microsoft.com/office/drawing/2014/main" id="{7BC05775-8B9E-4E61-BC2D-0414D46AC516}"/>
              </a:ext>
            </a:extLst>
          </p:cNvPr>
          <p:cNvSpPr txBox="1"/>
          <p:nvPr/>
        </p:nvSpPr>
        <p:spPr>
          <a:xfrm>
            <a:off x="4584238"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3x</a:t>
            </a:r>
          </a:p>
        </p:txBody>
      </p:sp>
      <p:sp>
        <p:nvSpPr>
          <p:cNvPr id="93" name="TextBox 92">
            <a:extLst>
              <a:ext uri="{FF2B5EF4-FFF2-40B4-BE49-F238E27FC236}">
                <a16:creationId xmlns:a16="http://schemas.microsoft.com/office/drawing/2014/main" id="{F1D8295F-B66D-4721-BA53-2F5BBCBB6F1B}"/>
              </a:ext>
            </a:extLst>
          </p:cNvPr>
          <p:cNvSpPr txBox="1"/>
          <p:nvPr/>
        </p:nvSpPr>
        <p:spPr>
          <a:xfrm>
            <a:off x="5760720" y="467420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4x</a:t>
            </a:r>
          </a:p>
        </p:txBody>
      </p:sp>
      <p:cxnSp>
        <p:nvCxnSpPr>
          <p:cNvPr id="94" name="Connector 30">
            <a:extLst>
              <a:ext uri="{FF2B5EF4-FFF2-40B4-BE49-F238E27FC236}">
                <a16:creationId xmlns:a16="http://schemas.microsoft.com/office/drawing/2014/main" id="{27909981-7E9B-49F6-A303-40A8B2F0E42B}"/>
              </a:ext>
            </a:extLst>
          </p:cNvPr>
          <p:cNvCxnSpPr/>
          <p:nvPr/>
        </p:nvCxnSpPr>
        <p:spPr>
          <a:xfrm>
            <a:off x="2069638"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31">
            <a:extLst>
              <a:ext uri="{FF2B5EF4-FFF2-40B4-BE49-F238E27FC236}">
                <a16:creationId xmlns:a16="http://schemas.microsoft.com/office/drawing/2014/main" id="{B8845AB1-A9DD-46F0-9777-1495E1F07D4A}"/>
              </a:ext>
            </a:extLst>
          </p:cNvPr>
          <p:cNvCxnSpPr/>
          <p:nvPr/>
        </p:nvCxnSpPr>
        <p:spPr>
          <a:xfrm>
            <a:off x="2657879"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6" name="Connector 32">
            <a:extLst>
              <a:ext uri="{FF2B5EF4-FFF2-40B4-BE49-F238E27FC236}">
                <a16:creationId xmlns:a16="http://schemas.microsoft.com/office/drawing/2014/main" id="{1F1C122C-F21C-4150-BBE5-5B12F33E672D}"/>
              </a:ext>
            </a:extLst>
          </p:cNvPr>
          <p:cNvCxnSpPr/>
          <p:nvPr/>
        </p:nvCxnSpPr>
        <p:spPr>
          <a:xfrm>
            <a:off x="3246120"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7" name="Connector 33">
            <a:extLst>
              <a:ext uri="{FF2B5EF4-FFF2-40B4-BE49-F238E27FC236}">
                <a16:creationId xmlns:a16="http://schemas.microsoft.com/office/drawing/2014/main" id="{A4922882-1BDB-4E77-BE85-F6E7A4A5F9F2}"/>
              </a:ext>
            </a:extLst>
          </p:cNvPr>
          <p:cNvCxnSpPr/>
          <p:nvPr/>
        </p:nvCxnSpPr>
        <p:spPr>
          <a:xfrm>
            <a:off x="4075199"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8" name="Connector 34">
            <a:extLst>
              <a:ext uri="{FF2B5EF4-FFF2-40B4-BE49-F238E27FC236}">
                <a16:creationId xmlns:a16="http://schemas.microsoft.com/office/drawing/2014/main" id="{3C898942-9F40-4F1F-9FA2-1EB246B94A0C}"/>
              </a:ext>
            </a:extLst>
          </p:cNvPr>
          <p:cNvCxnSpPr/>
          <p:nvPr/>
        </p:nvCxnSpPr>
        <p:spPr>
          <a:xfrm>
            <a:off x="4904278"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9" name="Diamond 35">
            <a:extLst>
              <a:ext uri="{FF2B5EF4-FFF2-40B4-BE49-F238E27FC236}">
                <a16:creationId xmlns:a16="http://schemas.microsoft.com/office/drawing/2014/main" id="{3B42D9AB-F8EF-41F6-900B-E6A0F7D7F67E}"/>
              </a:ext>
            </a:extLst>
          </p:cNvPr>
          <p:cNvSpPr/>
          <p:nvPr/>
        </p:nvSpPr>
        <p:spPr>
          <a:xfrm>
            <a:off x="2010202" y="4835937"/>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a:extLst>
              <a:ext uri="{FF2B5EF4-FFF2-40B4-BE49-F238E27FC236}">
                <a16:creationId xmlns:a16="http://schemas.microsoft.com/office/drawing/2014/main" id="{42F20159-4AE0-499E-8192-BAAE548915DC}"/>
              </a:ext>
            </a:extLst>
          </p:cNvPr>
          <p:cNvSpPr txBox="1"/>
          <p:nvPr/>
        </p:nvSpPr>
        <p:spPr>
          <a:xfrm>
            <a:off x="2179638" y="4843051"/>
            <a:ext cx="2400000" cy="104644"/>
          </a:xfrm>
          <a:prstGeom prst="rect">
            <a:avLst/>
          </a:prstGeom>
          <a:noFill/>
        </p:spPr>
        <p:txBody>
          <a:bodyPr wrap="none" lIns="0" tIns="0" rIns="0" bIns="0" anchor="ctr">
            <a:spAutoFit/>
          </a:bodyPr>
          <a:lstStyle/>
          <a:p>
            <a:pPr algn="l">
              <a:spcAft>
                <a:spcPts val="0"/>
              </a:spcAft>
            </a:pPr>
            <a:r>
              <a:rPr sz="680" b="0">
                <a:solidFill>
                  <a:srgbClr val="FF0000"/>
                </a:solidFill>
                <a:latin typeface="맑은 고딕"/>
                <a:ea typeface="맑은 고딕"/>
              </a:rPr>
              <a:t>Stakeholder 요구: 처리량 1.5배 이상 (GPU-only 대비)</a:t>
            </a:r>
          </a:p>
        </p:txBody>
      </p:sp>
      <p:sp>
        <p:nvSpPr>
          <p:cNvPr id="101" name="Rectangle 37">
            <a:extLst>
              <a:ext uri="{FF2B5EF4-FFF2-40B4-BE49-F238E27FC236}">
                <a16:creationId xmlns:a16="http://schemas.microsoft.com/office/drawing/2014/main" id="{6AA3510E-A502-456B-8646-1AE270AD3F58}"/>
              </a:ext>
            </a:extLst>
          </p:cNvPr>
          <p:cNvSpPr/>
          <p:nvPr/>
        </p:nvSpPr>
        <p:spPr>
          <a:xfrm>
            <a:off x="2333570" y="5003272"/>
            <a:ext cx="912550"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2" name="Connector 38">
            <a:extLst>
              <a:ext uri="{FF2B5EF4-FFF2-40B4-BE49-F238E27FC236}">
                <a16:creationId xmlns:a16="http://schemas.microsoft.com/office/drawing/2014/main" id="{AA6EFEB9-2075-4E17-9121-371E93239C26}"/>
              </a:ext>
            </a:extLst>
          </p:cNvPr>
          <p:cNvCxnSpPr/>
          <p:nvPr/>
        </p:nvCxnSpPr>
        <p:spPr>
          <a:xfrm>
            <a:off x="2333570" y="4975840"/>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3" name="Connector 39">
            <a:extLst>
              <a:ext uri="{FF2B5EF4-FFF2-40B4-BE49-F238E27FC236}">
                <a16:creationId xmlns:a16="http://schemas.microsoft.com/office/drawing/2014/main" id="{E8D682FC-6341-40A9-9FBD-9E6319952966}"/>
              </a:ext>
            </a:extLst>
          </p:cNvPr>
          <p:cNvCxnSpPr/>
          <p:nvPr/>
        </p:nvCxnSpPr>
        <p:spPr>
          <a:xfrm>
            <a:off x="3246120" y="4975840"/>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72DC0578-0331-46D5-BA50-293638C6917A}"/>
              </a:ext>
            </a:extLst>
          </p:cNvPr>
          <p:cNvSpPr txBox="1"/>
          <p:nvPr/>
        </p:nvSpPr>
        <p:spPr>
          <a:xfrm>
            <a:off x="3319272" y="4987526"/>
            <a:ext cx="2048638" cy="104644"/>
          </a:xfrm>
          <a:prstGeom prst="rect">
            <a:avLst/>
          </a:prstGeom>
          <a:noFill/>
        </p:spPr>
        <p:txBody>
          <a:bodyPr wrap="none" lIns="0" tIns="0" rIns="0" bIns="0" anchor="ctr">
            <a:spAutoFit/>
          </a:bodyPr>
          <a:lstStyle/>
          <a:p>
            <a:pPr algn="l">
              <a:spcAft>
                <a:spcPts val="0"/>
              </a:spcAft>
            </a:pPr>
            <a:r>
              <a:rPr sz="680" dirty="0" err="1">
                <a:solidFill>
                  <a:schemeClr val="accent1"/>
                </a:solidFill>
                <a:latin typeface="맑은 고딕"/>
                <a:ea typeface="맑은 고딕"/>
              </a:rPr>
              <a:t>InferCept</a:t>
            </a:r>
            <a:r>
              <a:rPr sz="680" dirty="0">
                <a:solidFill>
                  <a:schemeClr val="accent1"/>
                </a:solidFill>
                <a:latin typeface="맑은 고딕"/>
                <a:ea typeface="맑은 고딕"/>
              </a:rPr>
              <a:t> 1.6~2x · Mooncake </a:t>
            </a:r>
            <a:r>
              <a:rPr sz="680" dirty="0" err="1">
                <a:solidFill>
                  <a:schemeClr val="accent1"/>
                </a:solidFill>
                <a:latin typeface="맑은 고딕"/>
                <a:ea typeface="맑은 고딕"/>
              </a:rPr>
              <a:t>실트래픽</a:t>
            </a:r>
            <a:r>
              <a:rPr sz="680" dirty="0">
                <a:solidFill>
                  <a:schemeClr val="accent1"/>
                </a:solidFill>
                <a:latin typeface="맑은 고딕"/>
                <a:ea typeface="맑은 고딕"/>
              </a:rPr>
              <a:t> +75%(1.75x)</a:t>
            </a:r>
          </a:p>
        </p:txBody>
      </p:sp>
      <p:sp>
        <p:nvSpPr>
          <p:cNvPr id="105" name="Rectangle 41">
            <a:extLst>
              <a:ext uri="{FF2B5EF4-FFF2-40B4-BE49-F238E27FC236}">
                <a16:creationId xmlns:a16="http://schemas.microsoft.com/office/drawing/2014/main" id="{D09C3D00-4F76-4694-B442-42C8B30E33F8}"/>
              </a:ext>
            </a:extLst>
          </p:cNvPr>
          <p:cNvSpPr/>
          <p:nvPr/>
        </p:nvSpPr>
        <p:spPr>
          <a:xfrm>
            <a:off x="947323" y="5147747"/>
            <a:ext cx="3956955"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6" name="Connector 42">
            <a:extLst>
              <a:ext uri="{FF2B5EF4-FFF2-40B4-BE49-F238E27FC236}">
                <a16:creationId xmlns:a16="http://schemas.microsoft.com/office/drawing/2014/main" id="{7BD6240E-4011-480E-A794-02254EA4A13E}"/>
              </a:ext>
            </a:extLst>
          </p:cNvPr>
          <p:cNvCxnSpPr/>
          <p:nvPr/>
        </p:nvCxnSpPr>
        <p:spPr>
          <a:xfrm>
            <a:off x="947323" y="5120315"/>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7" name="Connector 43">
            <a:extLst>
              <a:ext uri="{FF2B5EF4-FFF2-40B4-BE49-F238E27FC236}">
                <a16:creationId xmlns:a16="http://schemas.microsoft.com/office/drawing/2014/main" id="{B1E58269-CADC-4CAC-B5F2-D9589F047AAA}"/>
              </a:ext>
            </a:extLst>
          </p:cNvPr>
          <p:cNvCxnSpPr/>
          <p:nvPr/>
        </p:nvCxnSpPr>
        <p:spPr>
          <a:xfrm>
            <a:off x="4904278" y="5120315"/>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8" name="TextBox 107">
            <a:extLst>
              <a:ext uri="{FF2B5EF4-FFF2-40B4-BE49-F238E27FC236}">
                <a16:creationId xmlns:a16="http://schemas.microsoft.com/office/drawing/2014/main" id="{D1816359-1694-4AE8-8BE4-7F9C86BCF9ED}"/>
              </a:ext>
            </a:extLst>
          </p:cNvPr>
          <p:cNvSpPr txBox="1"/>
          <p:nvPr/>
        </p:nvSpPr>
        <p:spPr>
          <a:xfrm>
            <a:off x="4977430" y="5132001"/>
            <a:ext cx="1829027" cy="104644"/>
          </a:xfrm>
          <a:prstGeom prst="rect">
            <a:avLst/>
          </a:prstGeom>
          <a:noFill/>
        </p:spPr>
        <p:txBody>
          <a:bodyPr wrap="none" lIns="0" tIns="0" rIns="0" bIns="0" anchor="ctr">
            <a:spAutoFit/>
          </a:bodyPr>
          <a:lstStyle/>
          <a:p>
            <a:pPr algn="l">
              <a:spcAft>
                <a:spcPts val="0"/>
              </a:spcAft>
            </a:pPr>
            <a:r>
              <a:rPr sz="680">
                <a:solidFill>
                  <a:schemeClr val="accent1"/>
                </a:solidFill>
                <a:latin typeface="맑은 고딕"/>
                <a:ea typeface="맑은 고딕"/>
              </a:rPr>
              <a:t>Pensieve 1.14~3.0x (vLLM·TensorRT-LLM 대비)</a:t>
            </a:r>
          </a:p>
        </p:txBody>
      </p:sp>
      <p:sp>
        <p:nvSpPr>
          <p:cNvPr id="109" name="Oval 45">
            <a:extLst>
              <a:ext uri="{FF2B5EF4-FFF2-40B4-BE49-F238E27FC236}">
                <a16:creationId xmlns:a16="http://schemas.microsoft.com/office/drawing/2014/main" id="{45CF64AA-2EFD-434C-BFCE-60BE95B9B3B6}"/>
              </a:ext>
            </a:extLst>
          </p:cNvPr>
          <p:cNvSpPr/>
          <p:nvPr/>
        </p:nvSpPr>
        <p:spPr>
          <a:xfrm>
            <a:off x="3767387" y="5278507"/>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E618B500-736F-48A2-861A-CFE6E3A871D7}"/>
              </a:ext>
            </a:extLst>
          </p:cNvPr>
          <p:cNvSpPr txBox="1"/>
          <p:nvPr/>
        </p:nvSpPr>
        <p:spPr>
          <a:xfrm>
            <a:off x="3890831" y="5276476"/>
            <a:ext cx="1926810" cy="104644"/>
          </a:xfrm>
          <a:prstGeom prst="rect">
            <a:avLst/>
          </a:prstGeom>
          <a:noFill/>
        </p:spPr>
        <p:txBody>
          <a:bodyPr wrap="none" lIns="0" tIns="0" rIns="0" bIns="0" anchor="ctr">
            <a:spAutoFit/>
          </a:bodyPr>
          <a:lstStyle/>
          <a:p>
            <a:pPr algn="l">
              <a:spcAft>
                <a:spcPts val="0"/>
              </a:spcAft>
            </a:pPr>
            <a:r>
              <a:rPr sz="680" dirty="0" err="1">
                <a:solidFill>
                  <a:schemeClr val="accent1"/>
                </a:solidFill>
                <a:latin typeface="맑은 고딕"/>
                <a:ea typeface="맑은 고딕"/>
              </a:rPr>
              <a:t>LMCache</a:t>
            </a:r>
            <a:r>
              <a:rPr sz="680" dirty="0">
                <a:solidFill>
                  <a:schemeClr val="accent1"/>
                </a:solidFill>
                <a:latin typeface="맑은 고딕"/>
                <a:ea typeface="맑은 고딕"/>
              </a:rPr>
              <a:t> </a:t>
            </a:r>
            <a:r>
              <a:rPr sz="680" dirty="0" err="1">
                <a:solidFill>
                  <a:schemeClr val="accent1"/>
                </a:solidFill>
                <a:latin typeface="맑은 고딕"/>
                <a:ea typeface="맑은 고딕"/>
              </a:rPr>
              <a:t>단일</a:t>
            </a:r>
            <a:r>
              <a:rPr sz="680" dirty="0">
                <a:solidFill>
                  <a:schemeClr val="accent1"/>
                </a:solidFill>
                <a:latin typeface="맑은 고딕"/>
                <a:ea typeface="맑은 고딕"/>
              </a:rPr>
              <a:t> </a:t>
            </a:r>
            <a:r>
              <a:rPr sz="680" dirty="0" err="1">
                <a:solidFill>
                  <a:schemeClr val="accent1"/>
                </a:solidFill>
                <a:latin typeface="맑은 고딕"/>
                <a:ea typeface="맑은 고딕"/>
              </a:rPr>
              <a:t>노드</a:t>
            </a:r>
            <a:r>
              <a:rPr sz="680" dirty="0">
                <a:solidFill>
                  <a:schemeClr val="accent1"/>
                </a:solidFill>
                <a:latin typeface="맑은 고딕"/>
                <a:ea typeface="맑은 고딕"/>
              </a:rPr>
              <a:t> </a:t>
            </a:r>
            <a:r>
              <a:rPr sz="680" dirty="0" err="1">
                <a:solidFill>
                  <a:schemeClr val="accent1"/>
                </a:solidFill>
                <a:latin typeface="맑은 고딕"/>
                <a:ea typeface="맑은 고딕"/>
              </a:rPr>
              <a:t>로컬</a:t>
            </a:r>
            <a:r>
              <a:rPr sz="680" dirty="0">
                <a:solidFill>
                  <a:schemeClr val="accent1"/>
                </a:solidFill>
                <a:latin typeface="맑은 고딕"/>
                <a:ea typeface="맑은 고딕"/>
              </a:rPr>
              <a:t> CPU offload </a:t>
            </a:r>
            <a:r>
              <a:rPr sz="680" dirty="0" err="1">
                <a:solidFill>
                  <a:schemeClr val="accent1"/>
                </a:solidFill>
                <a:latin typeface="맑은 고딕"/>
                <a:ea typeface="맑은 고딕"/>
              </a:rPr>
              <a:t>하한</a:t>
            </a:r>
            <a:r>
              <a:rPr sz="680" dirty="0">
                <a:solidFill>
                  <a:schemeClr val="accent1"/>
                </a:solidFill>
                <a:latin typeface="맑은 고딕"/>
                <a:ea typeface="맑은 고딕"/>
              </a:rPr>
              <a:t> 2.3x</a:t>
            </a:r>
          </a:p>
        </p:txBody>
      </p:sp>
      <p:sp>
        <p:nvSpPr>
          <p:cNvPr id="111" name="Rectangle 47">
            <a:extLst>
              <a:ext uri="{FF2B5EF4-FFF2-40B4-BE49-F238E27FC236}">
                <a16:creationId xmlns:a16="http://schemas.microsoft.com/office/drawing/2014/main" id="{21D5D071-4664-4457-8860-B39A4578A386}"/>
              </a:ext>
            </a:extLst>
          </p:cNvPr>
          <p:cNvSpPr/>
          <p:nvPr/>
        </p:nvSpPr>
        <p:spPr>
          <a:xfrm>
            <a:off x="6080760" y="5436698"/>
            <a:ext cx="1658157"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2" name="Connector 48">
            <a:extLst>
              <a:ext uri="{FF2B5EF4-FFF2-40B4-BE49-F238E27FC236}">
                <a16:creationId xmlns:a16="http://schemas.microsoft.com/office/drawing/2014/main" id="{2DF2DEFE-C943-473A-90C0-A60630942C09}"/>
              </a:ext>
            </a:extLst>
          </p:cNvPr>
          <p:cNvCxnSpPr/>
          <p:nvPr/>
        </p:nvCxnSpPr>
        <p:spPr>
          <a:xfrm>
            <a:off x="6080760" y="5409266"/>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13" name="Connector 49">
            <a:extLst>
              <a:ext uri="{FF2B5EF4-FFF2-40B4-BE49-F238E27FC236}">
                <a16:creationId xmlns:a16="http://schemas.microsoft.com/office/drawing/2014/main" id="{6E307C34-F72C-4D74-958C-0C8D78F13C6C}"/>
              </a:ext>
            </a:extLst>
          </p:cNvPr>
          <p:cNvCxnSpPr/>
          <p:nvPr/>
        </p:nvCxnSpPr>
        <p:spPr>
          <a:xfrm>
            <a:off x="7738917" y="5409266"/>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14" name="TextBox 113">
            <a:extLst>
              <a:ext uri="{FF2B5EF4-FFF2-40B4-BE49-F238E27FC236}">
                <a16:creationId xmlns:a16="http://schemas.microsoft.com/office/drawing/2014/main" id="{F9966F35-AEA7-4777-A303-BEFED6E9F4DB}"/>
              </a:ext>
            </a:extLst>
          </p:cNvPr>
          <p:cNvSpPr txBox="1"/>
          <p:nvPr/>
        </p:nvSpPr>
        <p:spPr>
          <a:xfrm>
            <a:off x="7812069" y="5401036"/>
            <a:ext cx="2513838" cy="144475"/>
          </a:xfrm>
          <a:prstGeom prst="rect">
            <a:avLst/>
          </a:prstGeom>
          <a:noFill/>
        </p:spPr>
        <p:txBody>
          <a:bodyPr wrap="none" lIns="0" tIns="0" rIns="0" bIns="0" anchor="ctr">
            <a:spAutoFit/>
          </a:bodyPr>
          <a:lstStyle/>
          <a:p>
            <a:pPr algn="l">
              <a:spcAft>
                <a:spcPts val="0"/>
              </a:spcAft>
            </a:pPr>
            <a:r>
              <a:rPr sz="680" b="0" dirty="0" err="1">
                <a:solidFill>
                  <a:srgbClr val="262626"/>
                </a:solidFill>
                <a:latin typeface="맑은 고딕"/>
                <a:ea typeface="맑은 고딕"/>
              </a:rPr>
              <a:t>LMCache</a:t>
            </a:r>
            <a:r>
              <a:rPr sz="680" b="0" dirty="0">
                <a:solidFill>
                  <a:srgbClr val="262626"/>
                </a:solidFill>
                <a:latin typeface="맑은 고딕"/>
                <a:ea typeface="맑은 고딕"/>
              </a:rPr>
              <a:t> </a:t>
            </a:r>
            <a:r>
              <a:rPr sz="680" b="0" dirty="0" err="1">
                <a:solidFill>
                  <a:srgbClr val="262626"/>
                </a:solidFill>
                <a:latin typeface="맑은 고딕"/>
                <a:ea typeface="맑은 고딕"/>
              </a:rPr>
              <a:t>실서비스</a:t>
            </a:r>
            <a:r>
              <a:rPr sz="680" b="0" dirty="0">
                <a:solidFill>
                  <a:srgbClr val="262626"/>
                </a:solidFill>
                <a:latin typeface="맑은 고딕"/>
                <a:ea typeface="맑은 고딕"/>
              </a:rPr>
              <a:t> 고 QPS: </a:t>
            </a:r>
            <a:r>
              <a:rPr sz="680" b="0" dirty="0" err="1">
                <a:solidFill>
                  <a:srgbClr val="262626"/>
                </a:solidFill>
                <a:latin typeface="맑은 고딕"/>
                <a:ea typeface="맑은 고딕"/>
              </a:rPr>
              <a:t>동일</a:t>
            </a:r>
            <a:r>
              <a:rPr sz="680" b="0" dirty="0">
                <a:solidFill>
                  <a:srgbClr val="262626"/>
                </a:solidFill>
                <a:latin typeface="맑은 고딕"/>
                <a:ea typeface="맑은 고딕"/>
              </a:rPr>
              <a:t> TTFT </a:t>
            </a:r>
            <a:r>
              <a:rPr sz="680" b="0" dirty="0" err="1">
                <a:solidFill>
                  <a:srgbClr val="262626"/>
                </a:solidFill>
                <a:latin typeface="맑은 고딕"/>
                <a:ea typeface="맑은 고딕"/>
              </a:rPr>
              <a:t>환산</a:t>
            </a:r>
            <a:r>
              <a:rPr sz="680" b="0" dirty="0">
                <a:solidFill>
                  <a:srgbClr val="262626"/>
                </a:solidFill>
                <a:latin typeface="맑은 고딕"/>
                <a:ea typeface="맑은 고딕"/>
              </a:rPr>
              <a:t> QPS </a:t>
            </a:r>
            <a:r>
              <a:rPr sz="680" b="0" dirty="0" err="1">
                <a:solidFill>
                  <a:srgbClr val="262626"/>
                </a:solidFill>
                <a:latin typeface="맑은 고딕"/>
                <a:ea typeface="맑은 고딕"/>
              </a:rPr>
              <a:t>확장</a:t>
            </a:r>
            <a:r>
              <a:rPr sz="680" b="0" dirty="0">
                <a:solidFill>
                  <a:srgbClr val="262626"/>
                </a:solidFill>
                <a:latin typeface="맑은 고딕"/>
                <a:ea typeface="맑은 고딕"/>
              </a:rPr>
              <a:t> 4~6x</a:t>
            </a:r>
          </a:p>
        </p:txBody>
      </p:sp>
      <p:sp>
        <p:nvSpPr>
          <p:cNvPr id="115" name="Rectangle 51">
            <a:extLst>
              <a:ext uri="{FF2B5EF4-FFF2-40B4-BE49-F238E27FC236}">
                <a16:creationId xmlns:a16="http://schemas.microsoft.com/office/drawing/2014/main" id="{F3FFFD7E-B844-441E-A429-F3FEF4ACE7AF}"/>
              </a:ext>
            </a:extLst>
          </p:cNvPr>
          <p:cNvSpPr/>
          <p:nvPr/>
        </p:nvSpPr>
        <p:spPr>
          <a:xfrm>
            <a:off x="3682102" y="5581173"/>
            <a:ext cx="4471299"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6" name="Connector 52">
            <a:extLst>
              <a:ext uri="{FF2B5EF4-FFF2-40B4-BE49-F238E27FC236}">
                <a16:creationId xmlns:a16="http://schemas.microsoft.com/office/drawing/2014/main" id="{71C7F864-1AA4-43C0-9B17-AF879F0159CE}"/>
              </a:ext>
            </a:extLst>
          </p:cNvPr>
          <p:cNvCxnSpPr/>
          <p:nvPr/>
        </p:nvCxnSpPr>
        <p:spPr>
          <a:xfrm>
            <a:off x="3682102" y="5553741"/>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17" name="Connector 53">
            <a:extLst>
              <a:ext uri="{FF2B5EF4-FFF2-40B4-BE49-F238E27FC236}">
                <a16:creationId xmlns:a16="http://schemas.microsoft.com/office/drawing/2014/main" id="{2D7434D4-8AB6-4D5E-A0DC-EB00C7FDA388}"/>
              </a:ext>
            </a:extLst>
          </p:cNvPr>
          <p:cNvCxnSpPr/>
          <p:nvPr/>
        </p:nvCxnSpPr>
        <p:spPr>
          <a:xfrm>
            <a:off x="8153401" y="5553741"/>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2DC6AD37-E534-4EE8-813F-3AC4AB03B43D}"/>
              </a:ext>
            </a:extLst>
          </p:cNvPr>
          <p:cNvSpPr txBox="1"/>
          <p:nvPr/>
        </p:nvSpPr>
        <p:spPr>
          <a:xfrm>
            <a:off x="8226553" y="5565428"/>
            <a:ext cx="2850000" cy="104644"/>
          </a:xfrm>
          <a:prstGeom prst="rect">
            <a:avLst/>
          </a:prstGeom>
          <a:noFill/>
        </p:spPr>
        <p:txBody>
          <a:bodyPr wrap="square" lIns="0" tIns="0" rIns="0" bIns="0" anchor="ctr">
            <a:spAutoFit/>
          </a:bodyPr>
          <a:lstStyle/>
          <a:p>
            <a:pPr algn="l">
              <a:spcAft>
                <a:spcPts val="0"/>
              </a:spcAft>
            </a:pPr>
            <a:r>
              <a:rPr lang="en-US" sz="680" b="0" dirty="0" err="1">
                <a:solidFill>
                  <a:srgbClr val="262626"/>
                </a:solidFill>
                <a:latin typeface="맑은 고딕"/>
                <a:ea typeface="맑은 고딕"/>
              </a:rPr>
              <a:t>단순 offloading 개선값 8개의 사분위 범위 2.2~6.6x (중앙값 4.0x)</a:t>
            </a:r>
            <a:endParaRPr sz="680" b="0" dirty="0">
              <a:solidFill>
                <a:srgbClr val="262626"/>
              </a:solidFill>
              <a:latin typeface="맑은 고딕"/>
              <a:ea typeface="맑은 고딕"/>
            </a:endParaRPr>
          </a:p>
        </p:txBody>
      </p:sp>
      <p:sp>
        <p:nvSpPr>
          <p:cNvPr id="119" name="Oval 55">
            <a:extLst>
              <a:ext uri="{FF2B5EF4-FFF2-40B4-BE49-F238E27FC236}">
                <a16:creationId xmlns:a16="http://schemas.microsoft.com/office/drawing/2014/main" id="{34E0B9E8-D469-4612-AB58-F8E346361BCC}"/>
              </a:ext>
            </a:extLst>
          </p:cNvPr>
          <p:cNvSpPr/>
          <p:nvPr/>
        </p:nvSpPr>
        <p:spPr>
          <a:xfrm>
            <a:off x="8546282" y="5711932"/>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a:extLst>
              <a:ext uri="{FF2B5EF4-FFF2-40B4-BE49-F238E27FC236}">
                <a16:creationId xmlns:a16="http://schemas.microsoft.com/office/drawing/2014/main" id="{523021B9-CD73-4385-8D72-212C037AC77A}"/>
              </a:ext>
            </a:extLst>
          </p:cNvPr>
          <p:cNvSpPr txBox="1"/>
          <p:nvPr/>
        </p:nvSpPr>
        <p:spPr>
          <a:xfrm>
            <a:off x="8669726" y="5689987"/>
            <a:ext cx="1529333" cy="144475"/>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DistServe 요청 수 7.4x (SLO 내)</a:t>
            </a:r>
          </a:p>
        </p:txBody>
      </p:sp>
      <p:sp>
        <p:nvSpPr>
          <p:cNvPr id="121" name="Rectangle 57">
            <a:extLst>
              <a:ext uri="{FF2B5EF4-FFF2-40B4-BE49-F238E27FC236}">
                <a16:creationId xmlns:a16="http://schemas.microsoft.com/office/drawing/2014/main" id="{2589A6F8-C62C-48E6-A6A3-21866EF74371}"/>
              </a:ext>
            </a:extLst>
          </p:cNvPr>
          <p:cNvSpPr/>
          <p:nvPr/>
        </p:nvSpPr>
        <p:spPr>
          <a:xfrm>
            <a:off x="8811862" y="5870124"/>
            <a:ext cx="204518"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2" name="Connector 58">
            <a:extLst>
              <a:ext uri="{FF2B5EF4-FFF2-40B4-BE49-F238E27FC236}">
                <a16:creationId xmlns:a16="http://schemas.microsoft.com/office/drawing/2014/main" id="{FFBC55F8-9C6C-476B-B217-8CF236C5550B}"/>
              </a:ext>
            </a:extLst>
          </p:cNvPr>
          <p:cNvCxnSpPr/>
          <p:nvPr/>
        </p:nvCxnSpPr>
        <p:spPr>
          <a:xfrm>
            <a:off x="8811862" y="5842691"/>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23" name="Connector 59">
            <a:extLst>
              <a:ext uri="{FF2B5EF4-FFF2-40B4-BE49-F238E27FC236}">
                <a16:creationId xmlns:a16="http://schemas.microsoft.com/office/drawing/2014/main" id="{0B95496F-8692-4655-A6FE-BF1EF4DD034A}"/>
              </a:ext>
            </a:extLst>
          </p:cNvPr>
          <p:cNvCxnSpPr/>
          <p:nvPr/>
        </p:nvCxnSpPr>
        <p:spPr>
          <a:xfrm>
            <a:off x="9016380" y="5842691"/>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24" name="TextBox 123">
            <a:extLst>
              <a:ext uri="{FF2B5EF4-FFF2-40B4-BE49-F238E27FC236}">
                <a16:creationId xmlns:a16="http://schemas.microsoft.com/office/drawing/2014/main" id="{550FFAD2-4DC0-441C-8B0C-4AA416AE6947}"/>
              </a:ext>
            </a:extLst>
          </p:cNvPr>
          <p:cNvSpPr txBox="1"/>
          <p:nvPr/>
        </p:nvSpPr>
        <p:spPr>
          <a:xfrm>
            <a:off x="9089532" y="5834462"/>
            <a:ext cx="2582926" cy="144475"/>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AttentionStore prefill 처리량 7.8~8.2x (TTFT −87~88%)</a:t>
            </a:r>
          </a:p>
        </p:txBody>
      </p:sp>
      <p:sp>
        <p:nvSpPr>
          <p:cNvPr id="125" name="Oval 61">
            <a:extLst>
              <a:ext uri="{FF2B5EF4-FFF2-40B4-BE49-F238E27FC236}">
                <a16:creationId xmlns:a16="http://schemas.microsoft.com/office/drawing/2014/main" id="{E99541AF-D53C-446A-826C-B451FCA82923}"/>
              </a:ext>
            </a:extLst>
          </p:cNvPr>
          <p:cNvSpPr/>
          <p:nvPr/>
        </p:nvSpPr>
        <p:spPr>
          <a:xfrm>
            <a:off x="7855568" y="6000883"/>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a:extLst>
              <a:ext uri="{FF2B5EF4-FFF2-40B4-BE49-F238E27FC236}">
                <a16:creationId xmlns:a16="http://schemas.microsoft.com/office/drawing/2014/main" id="{D21FA34B-90F0-4AD6-9C42-F29182690CBC}"/>
              </a:ext>
            </a:extLst>
          </p:cNvPr>
          <p:cNvSpPr txBox="1"/>
          <p:nvPr/>
        </p:nvSpPr>
        <p:spPr>
          <a:xfrm>
            <a:off x="7979012" y="5978937"/>
            <a:ext cx="1624329" cy="144475"/>
          </a:xfrm>
          <a:prstGeom prst="rect">
            <a:avLst/>
          </a:prstGeom>
          <a:noFill/>
        </p:spPr>
        <p:txBody>
          <a:bodyPr wrap="none" lIns="0" tIns="0" rIns="0" bIns="0" anchor="ctr">
            <a:spAutoFit/>
          </a:bodyPr>
          <a:lstStyle/>
          <a:p>
            <a:pPr algn="l">
              <a:spcAft>
                <a:spcPts val="0"/>
              </a:spcAft>
            </a:pPr>
            <a:r>
              <a:rPr sz="680" b="0">
                <a:solidFill>
                  <a:srgbClr val="7F7F7F"/>
                </a:solidFill>
                <a:latin typeface="맑은 고딕"/>
                <a:ea typeface="맑은 고딕"/>
              </a:rPr>
              <a:t>Mooncake 시뮬 +525% (6.25x, 시뮬)</a:t>
            </a:r>
          </a:p>
        </p:txBody>
      </p:sp>
      <p:sp>
        <p:nvSpPr>
          <p:cNvPr id="127" name="Oval 63">
            <a:extLst>
              <a:ext uri="{FF2B5EF4-FFF2-40B4-BE49-F238E27FC236}">
                <a16:creationId xmlns:a16="http://schemas.microsoft.com/office/drawing/2014/main" id="{ACF65D00-D5FF-43F8-9696-7BFD57983014}"/>
              </a:ext>
            </a:extLst>
          </p:cNvPr>
          <p:cNvSpPr/>
          <p:nvPr/>
        </p:nvSpPr>
        <p:spPr>
          <a:xfrm>
            <a:off x="11153668" y="6145358"/>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a:extLst>
              <a:ext uri="{FF2B5EF4-FFF2-40B4-BE49-F238E27FC236}">
                <a16:creationId xmlns:a16="http://schemas.microsoft.com/office/drawing/2014/main" id="{0304FF80-CE33-4A82-B9B0-A8E4F175CA98}"/>
              </a:ext>
            </a:extLst>
          </p:cNvPr>
          <p:cNvSpPr txBox="1"/>
          <p:nvPr/>
        </p:nvSpPr>
        <p:spPr>
          <a:xfrm>
            <a:off x="9761240" y="6123412"/>
            <a:ext cx="1369568" cy="144475"/>
          </a:xfrm>
          <a:prstGeom prst="rect">
            <a:avLst/>
          </a:prstGeom>
          <a:noFill/>
        </p:spPr>
        <p:txBody>
          <a:bodyPr wrap="none" lIns="0" tIns="0" rIns="0" bIns="0" anchor="ctr">
            <a:spAutoFit/>
          </a:bodyPr>
          <a:lstStyle/>
          <a:p>
            <a:pPr algn="r">
              <a:spcAft>
                <a:spcPts val="0"/>
              </a:spcAft>
            </a:pPr>
            <a:r>
              <a:rPr sz="680" b="0">
                <a:solidFill>
                  <a:srgbClr val="7F7F7F"/>
                </a:solidFill>
                <a:latin typeface="맑은 고딕"/>
                <a:ea typeface="맑은 고딕"/>
              </a:rPr>
              <a:t>LMCache 최대 14x (극단 조건)</a:t>
            </a:r>
          </a:p>
        </p:txBody>
      </p:sp>
      <p:sp>
        <p:nvSpPr>
          <p:cNvPr id="129" name="Oval 69">
            <a:extLst>
              <a:ext uri="{FF2B5EF4-FFF2-40B4-BE49-F238E27FC236}">
                <a16:creationId xmlns:a16="http://schemas.microsoft.com/office/drawing/2014/main" id="{BB7D1189-A7A0-494A-B1A3-F4CD397306C5}"/>
              </a:ext>
            </a:extLst>
          </p:cNvPr>
          <p:cNvSpPr/>
          <p:nvPr/>
        </p:nvSpPr>
        <p:spPr>
          <a:xfrm>
            <a:off x="384048" y="6208776"/>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3D48C84A-2B12-4B7C-8807-B696A7C9BB84}"/>
              </a:ext>
            </a:extLst>
          </p:cNvPr>
          <p:cNvSpPr txBox="1"/>
          <p:nvPr/>
        </p:nvSpPr>
        <p:spPr>
          <a:xfrm>
            <a:off x="502920" y="6167628"/>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131" name="Diamond 71">
            <a:extLst>
              <a:ext uri="{FF2B5EF4-FFF2-40B4-BE49-F238E27FC236}">
                <a16:creationId xmlns:a16="http://schemas.microsoft.com/office/drawing/2014/main" id="{8555204E-4D19-49FF-9AEF-CD8401B7473D}"/>
              </a:ext>
            </a:extLst>
          </p:cNvPr>
          <p:cNvSpPr/>
          <p:nvPr/>
        </p:nvSpPr>
        <p:spPr>
          <a:xfrm>
            <a:off x="1539748" y="6208776"/>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a:extLst>
              <a:ext uri="{FF2B5EF4-FFF2-40B4-BE49-F238E27FC236}">
                <a16:creationId xmlns:a16="http://schemas.microsoft.com/office/drawing/2014/main" id="{000C32DE-1C53-426E-A597-2F28D63F0FDF}"/>
              </a:ext>
            </a:extLst>
          </p:cNvPr>
          <p:cNvSpPr txBox="1"/>
          <p:nvPr/>
        </p:nvSpPr>
        <p:spPr>
          <a:xfrm>
            <a:off x="1658620" y="6167628"/>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133" name="Oval 75">
            <a:extLst>
              <a:ext uri="{FF2B5EF4-FFF2-40B4-BE49-F238E27FC236}">
                <a16:creationId xmlns:a16="http://schemas.microsoft.com/office/drawing/2014/main" id="{B48B2B8C-8836-42E0-A388-9BC406125A0F}"/>
              </a:ext>
            </a:extLst>
          </p:cNvPr>
          <p:cNvSpPr/>
          <p:nvPr/>
        </p:nvSpPr>
        <p:spPr>
          <a:xfrm>
            <a:off x="2967225" y="6208776"/>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24AFFDCD-3CDC-4F46-90E7-52DCEB851414}"/>
              </a:ext>
            </a:extLst>
          </p:cNvPr>
          <p:cNvSpPr txBox="1"/>
          <p:nvPr/>
        </p:nvSpPr>
        <p:spPr>
          <a:xfrm>
            <a:off x="3086097" y="6167628"/>
            <a:ext cx="1727200" cy="164592"/>
          </a:xfrm>
          <a:prstGeom prst="rect">
            <a:avLst/>
          </a:prstGeom>
          <a:noFill/>
        </p:spPr>
        <p:txBody>
          <a:bodyPr wrap="none" lIns="0" tIns="0" rIns="0" bIns="0" anchor="ctr">
            <a:spAutoFit/>
          </a:bodyPr>
          <a:lstStyle/>
          <a:p>
            <a:pPr algn="l">
              <a:spcAft>
                <a:spcPts val="0"/>
              </a:spcAft>
            </a:pPr>
            <a:r>
              <a:rPr sz="700" b="0" dirty="0" err="1">
                <a:solidFill>
                  <a:srgbClr val="404040"/>
                </a:solidFill>
                <a:latin typeface="맑은 고딕"/>
                <a:ea typeface="맑은 고딕"/>
              </a:rPr>
              <a:t>참고</a:t>
            </a:r>
            <a:r>
              <a:rPr sz="700" b="0" dirty="0">
                <a:solidFill>
                  <a:srgbClr val="404040"/>
                </a:solidFill>
                <a:latin typeface="맑은 고딕"/>
                <a:ea typeface="맑은 고딕"/>
              </a:rPr>
              <a:t>(</a:t>
            </a:r>
            <a:r>
              <a:rPr sz="700" b="0" dirty="0" err="1">
                <a:solidFill>
                  <a:srgbClr val="404040"/>
                </a:solidFill>
                <a:latin typeface="맑은 고딕"/>
                <a:ea typeface="맑은 고딕"/>
              </a:rPr>
              <a:t>극단</a:t>
            </a:r>
            <a:r>
              <a:rPr sz="700" b="0" dirty="0">
                <a:solidFill>
                  <a:srgbClr val="404040"/>
                </a:solidFill>
                <a:latin typeface="맑은 고딕"/>
                <a:ea typeface="맑은 고딕"/>
              </a:rPr>
              <a:t> </a:t>
            </a:r>
            <a:r>
              <a:rPr sz="700" b="0" dirty="0" err="1">
                <a:solidFill>
                  <a:srgbClr val="404040"/>
                </a:solidFill>
                <a:latin typeface="맑은 고딕"/>
                <a:ea typeface="맑은 고딕"/>
              </a:rPr>
              <a:t>조건·압축</a:t>
            </a:r>
            <a:r>
              <a:rPr sz="700" b="0" dirty="0">
                <a:solidFill>
                  <a:srgbClr val="404040"/>
                </a:solidFill>
                <a:latin typeface="맑은 고딕"/>
                <a:ea typeface="맑은 고딕"/>
              </a:rPr>
              <a:t> </a:t>
            </a:r>
            <a:r>
              <a:rPr sz="700" b="0" dirty="0" err="1">
                <a:solidFill>
                  <a:srgbClr val="404040"/>
                </a:solidFill>
                <a:latin typeface="맑은 고딕"/>
                <a:ea typeface="맑은 고딕"/>
              </a:rPr>
              <a:t>혼합</a:t>
            </a:r>
            <a:r>
              <a:rPr sz="700" b="0" dirty="0">
                <a:solidFill>
                  <a:srgbClr val="404040"/>
                </a:solidFill>
                <a:latin typeface="맑은 고딕"/>
                <a:ea typeface="맑은 고딕"/>
              </a:rPr>
              <a:t>, </a:t>
            </a:r>
            <a:r>
              <a:rPr sz="700" b="0" dirty="0" err="1">
                <a:solidFill>
                  <a:srgbClr val="404040"/>
                </a:solidFill>
                <a:latin typeface="맑은 고딕"/>
                <a:ea typeface="맑은 고딕"/>
              </a:rPr>
              <a:t>앵커</a:t>
            </a:r>
            <a:r>
              <a:rPr sz="700" b="0" dirty="0">
                <a:solidFill>
                  <a:srgbClr val="404040"/>
                </a:solidFill>
                <a:latin typeface="맑은 고딕"/>
                <a:ea typeface="맑은 고딕"/>
              </a:rPr>
              <a:t> </a:t>
            </a:r>
            <a:r>
              <a:rPr sz="700" b="0" dirty="0" err="1">
                <a:solidFill>
                  <a:srgbClr val="404040"/>
                </a:solidFill>
                <a:latin typeface="맑은 고딕"/>
                <a:ea typeface="맑은 고딕"/>
              </a:rPr>
              <a:t>제외</a:t>
            </a:r>
            <a:r>
              <a:rPr sz="700" b="0" dirty="0">
                <a:solidFill>
                  <a:srgbClr val="404040"/>
                </a:solidFill>
                <a:latin typeface="맑은 고딕"/>
                <a:ea typeface="맑은 고딕"/>
              </a:rPr>
              <a:t>)</a:t>
            </a:r>
          </a:p>
        </p:txBody>
      </p:sp>
      <p:sp>
        <p:nvSpPr>
          <p:cNvPr id="69"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70" name="실행 단추: 뒤로 또는 이전 69">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3733350531"/>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처리량</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000000"/>
                </a:solidFill>
                <a:latin typeface="맑은 고딕"/>
                <a:ea typeface="맑은 고딕"/>
              </a:rPr>
              <a:t>Baseline </a:t>
            </a:r>
            <a:r>
              <a:rPr lang="ko-KR" altLang="en-US" sz="1100" b="0" dirty="0">
                <a:solidFill>
                  <a:srgbClr val="000000"/>
                </a:solidFill>
                <a:latin typeface="맑은 고딕"/>
                <a:ea typeface="맑은 고딕"/>
              </a:rPr>
              <a:t>대비</a:t>
            </a:r>
            <a:r>
              <a:rPr lang="en-US" altLang="ko-KR" sz="1100" b="0" dirty="0">
                <a:solidFill>
                  <a:srgbClr val="000000"/>
                </a:solidFill>
                <a:latin typeface="맑은 고딕"/>
                <a:ea typeface="맑은 고딕"/>
              </a:rPr>
              <a:t>, SLO</a:t>
            </a:r>
            <a:r>
              <a:rPr lang="ko-KR" altLang="en-US" sz="1100" b="0" dirty="0">
                <a:solidFill>
                  <a:srgbClr val="000000"/>
                </a:solidFill>
                <a:latin typeface="맑은 고딕"/>
                <a:ea typeface="맑은 고딕"/>
              </a:rPr>
              <a:t>를 만족하는 조건에서의 처리량</a:t>
            </a:r>
            <a:r>
              <a:rPr lang="en-US" altLang="ko-KR" sz="1100" b="0" dirty="0">
                <a:solidFill>
                  <a:srgbClr val="000000"/>
                </a:solidFill>
                <a:latin typeface="맑은 고딕"/>
                <a:ea typeface="맑은 고딕"/>
              </a:rPr>
              <a:t>(Max</a:t>
            </a:r>
            <a:r>
              <a:rPr lang="ko-KR" altLang="en-US" sz="1100" b="0" dirty="0">
                <a:solidFill>
                  <a:srgbClr val="000000"/>
                </a:solidFill>
                <a:latin typeface="맑은 고딕"/>
                <a:ea typeface="맑은 고딕"/>
              </a:rPr>
              <a:t>값</a:t>
            </a:r>
            <a:r>
              <a:rPr lang="en-US" altLang="ko-KR" sz="1100" b="0" dirty="0">
                <a:solidFill>
                  <a:srgbClr val="000000"/>
                </a:solidFill>
                <a:latin typeface="맑은 고딕"/>
                <a:ea typeface="맑은 고딕"/>
              </a:rPr>
              <a:t>)</a:t>
            </a:r>
            <a:r>
              <a:rPr lang="ko-KR" altLang="en-US" sz="1100" b="0" dirty="0">
                <a:solidFill>
                  <a:srgbClr val="000000"/>
                </a:solidFill>
                <a:latin typeface="맑은 고딕"/>
                <a:ea typeface="맑은 고딕"/>
              </a:rPr>
              <a:t> 증가율 </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583680"/>
            <a:ext cx="11430000" cy="228600"/>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vLLM SOSP 2023 (arxiv.org/abs/2309.06180) · Sarathi-Serve OSDI 2024 (arxiv.org/abs/2403.02310) · Orca OSDI 2022 (usenix.org/conference/osdi22/presentation/yu)</a:t>
            </a:r>
          </a:p>
        </p:txBody>
      </p:sp>
      <p:graphicFrame>
        <p:nvGraphicFramePr>
          <p:cNvPr id="7" name="tbl"/>
          <p:cNvGraphicFramePr>
            <a:graphicFrameLocks noGrp="1"/>
          </p:cNvGraphicFramePr>
          <p:nvPr/>
        </p:nvGraphicFramePr>
        <p:xfrm>
          <a:off x="365760" y="2625832"/>
          <a:ext cx="11457432" cy="1963420"/>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1487170">
                  <a:extLst>
                    <a:ext uri="{9D8B030D-6E8A-4147-A177-3AD203B41FA5}">
                      <a16:colId xmlns:a16="http://schemas.microsoft.com/office/drawing/2014/main" val="20001"/>
                    </a:ext>
                  </a:extLst>
                </a:gridCol>
                <a:gridCol w="7467600">
                  <a:extLst>
                    <a:ext uri="{9D8B030D-6E8A-4147-A177-3AD203B41FA5}">
                      <a16:colId xmlns:a16="http://schemas.microsoft.com/office/drawing/2014/main" val="20002"/>
                    </a:ext>
                  </a:extLst>
                </a:gridCol>
                <a:gridCol w="1771142">
                  <a:extLst>
                    <a:ext uri="{9D8B030D-6E8A-4147-A177-3AD203B41FA5}">
                      <a16:colId xmlns:a16="http://schemas.microsoft.com/office/drawing/2014/main" val="20003"/>
                    </a:ext>
                  </a:extLst>
                </a:gridCol>
              </a:tblGrid>
              <a:tr h="362806">
                <a:tc>
                  <a:txBody>
                    <a:bodyPr/>
                    <a:lstStyle/>
                    <a:p>
                      <a:pPr algn="ctr"/>
                      <a:r>
                        <a:rPr sz="950" b="1" dirty="0">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dirty="0" err="1">
                          <a:solidFill>
                            <a:srgbClr val="FFFFFF"/>
                          </a:solidFill>
                          <a:latin typeface="맑은 고딕"/>
                          <a:ea typeface="맑은 고딕"/>
                        </a:rPr>
                        <a:t>성능</a:t>
                      </a:r>
                      <a:r>
                        <a:rPr sz="950" b="1" dirty="0">
                          <a:solidFill>
                            <a:srgbClr val="FFFFFF"/>
                          </a:solidFill>
                          <a:latin typeface="맑은 고딕"/>
                          <a:ea typeface="맑은 고딕"/>
                        </a:rPr>
                        <a:t> </a:t>
                      </a:r>
                      <a:r>
                        <a:rPr sz="950" b="1" dirty="0" err="1">
                          <a:solidFill>
                            <a:srgbClr val="FFFFFF"/>
                          </a:solidFill>
                          <a:latin typeface="맑은 고딕"/>
                          <a:ea typeface="맑은 고딕"/>
                        </a:rPr>
                        <a:t>기준</a:t>
                      </a:r>
                      <a:r>
                        <a:rPr sz="950" b="1" dirty="0">
                          <a:solidFill>
                            <a:srgbClr val="FFFFFF"/>
                          </a:solidFill>
                          <a:latin typeface="맑은 고딕"/>
                          <a:ea typeface="맑은 고딕"/>
                        </a:rPr>
                        <a:t> (</a:t>
                      </a:r>
                      <a:r>
                        <a:rPr sz="950" b="1" dirty="0" err="1">
                          <a:solidFill>
                            <a:srgbClr val="FFFFFF"/>
                          </a:solidFill>
                          <a:latin typeface="맑은 고딕"/>
                          <a:ea typeface="맑은 고딕"/>
                        </a:rPr>
                        <a:t>정량</a:t>
                      </a:r>
                      <a:r>
                        <a:rPr sz="950" b="1" dirty="0">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950" b="1" dirty="0">
                          <a:solidFill>
                            <a:srgbClr val="FFFFFF"/>
                          </a:solidFill>
                          <a:latin typeface="맑은 고딕"/>
                          <a:ea typeface="맑은 고딕"/>
                        </a:rPr>
                        <a:t>근거</a:t>
                      </a:r>
                      <a:endParaRPr sz="95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950" b="1" dirty="0">
                          <a:solidFill>
                            <a:srgbClr val="FFFFFF"/>
                          </a:solidFill>
                          <a:latin typeface="맑은 고딕"/>
                          <a:ea typeface="맑은 고딕"/>
                        </a:rPr>
                        <a:t>출처</a:t>
                      </a:r>
                      <a:endParaRPr sz="95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533538">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950" b="0" dirty="0">
                          <a:solidFill>
                            <a:srgbClr val="000000"/>
                          </a:solidFill>
                          <a:latin typeface="맑은 고딕"/>
                          <a:ea typeface="맑은 고딕"/>
                        </a:rPr>
                        <a:t>R ≥ </a:t>
                      </a:r>
                      <a:r>
                        <a:rPr lang="en-US" sz="950" b="0" dirty="0">
                          <a:solidFill>
                            <a:srgbClr val="000000"/>
                          </a:solidFill>
                          <a:latin typeface="맑은 고딕"/>
                          <a:ea typeface="맑은 고딕"/>
                        </a:rPr>
                        <a:t>10</a:t>
                      </a:r>
                      <a:r>
                        <a:rPr sz="950" b="0" dirty="0">
                          <a:solidFill>
                            <a:srgbClr val="000000"/>
                          </a:solidFill>
                          <a:latin typeface="맑은 고딕"/>
                          <a:ea typeface="맑은 고딕"/>
                        </a:rPr>
                        <a:t>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en-US" altLang="ko-KR" sz="950" b="0" dirty="0" err="1">
                          <a:solidFill>
                            <a:srgbClr val="000000"/>
                          </a:solidFill>
                          <a:latin typeface="+mn-lt"/>
                          <a:ea typeface="맑은 고딕"/>
                        </a:rPr>
                        <a:t>LMCache</a:t>
                      </a:r>
                      <a:r>
                        <a:rPr lang="ko-KR" altLang="en-US" sz="950" b="0" baseline="0" dirty="0">
                          <a:solidFill>
                            <a:srgbClr val="000000"/>
                          </a:solidFill>
                          <a:latin typeface="+mn-lt"/>
                          <a:ea typeface="맑은 고딕"/>
                        </a:rPr>
                        <a:t>에서 컨텍스트가 매우 길고</a:t>
                      </a:r>
                      <a:r>
                        <a:rPr lang="en-US" altLang="ko-KR" sz="950" b="0" baseline="0" dirty="0">
                          <a:solidFill>
                            <a:srgbClr val="000000"/>
                          </a:solidFill>
                          <a:latin typeface="+mn-lt"/>
                          <a:ea typeface="맑은 고딕"/>
                        </a:rPr>
                        <a:t>(10K~20K </a:t>
                      </a:r>
                      <a:r>
                        <a:rPr lang="ko-KR" altLang="en-US" sz="950" b="0" baseline="0" dirty="0">
                          <a:solidFill>
                            <a:srgbClr val="000000"/>
                          </a:solidFill>
                          <a:latin typeface="+mn-lt"/>
                          <a:ea typeface="맑은 고딕"/>
                        </a:rPr>
                        <a:t>토큰</a:t>
                      </a:r>
                      <a:r>
                        <a:rPr lang="en-US" altLang="ko-KR" sz="950" b="0" baseline="0" dirty="0">
                          <a:solidFill>
                            <a:srgbClr val="000000"/>
                          </a:solidFill>
                          <a:latin typeface="+mn-lt"/>
                          <a:ea typeface="맑은 고딕"/>
                        </a:rPr>
                        <a:t>), </a:t>
                      </a:r>
                      <a:r>
                        <a:rPr lang="ko-KR" altLang="en-US" sz="950" b="0" baseline="0" dirty="0">
                          <a:solidFill>
                            <a:srgbClr val="000000"/>
                          </a:solidFill>
                          <a:latin typeface="+mn-lt"/>
                          <a:ea typeface="맑은 고딕"/>
                        </a:rPr>
                        <a:t>캐시 적중률이 극단적으로 높은 경우 최대 </a:t>
                      </a:r>
                      <a:r>
                        <a:rPr lang="en-US" altLang="ko-KR" sz="950" b="0" baseline="0" dirty="0">
                          <a:solidFill>
                            <a:srgbClr val="000000"/>
                          </a:solidFill>
                          <a:latin typeface="+mn-lt"/>
                          <a:ea typeface="맑은 고딕"/>
                        </a:rPr>
                        <a:t>14</a:t>
                      </a:r>
                      <a:r>
                        <a:rPr lang="ko-KR" altLang="en-US" sz="950" b="0" baseline="0" dirty="0">
                          <a:solidFill>
                            <a:srgbClr val="000000"/>
                          </a:solidFill>
                          <a:latin typeface="+mn-lt"/>
                          <a:ea typeface="맑은 고딕"/>
                        </a:rPr>
                        <a:t>배 처리량 개선</a:t>
                      </a:r>
                      <a:endParaRPr lang="en-US" altLang="ko-KR" sz="950" b="0" baseline="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marL="0" indent="0" algn="l">
                        <a:lnSpc>
                          <a:spcPct val="150000"/>
                        </a:lnSpc>
                        <a:buFontTx/>
                        <a:buNone/>
                      </a:pPr>
                      <a:r>
                        <a:rPr lang="en-US" sz="950" b="0" dirty="0" err="1">
                          <a:solidFill>
                            <a:srgbClr val="000000"/>
                          </a:solidFill>
                          <a:latin typeface="맑은 고딕"/>
                          <a:ea typeface="맑은 고딕"/>
                        </a:rPr>
                        <a:t>LMCache</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논문</a:t>
                      </a:r>
                      <a:endParaRPr lang="en-US" altLang="ko-KR" sz="95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extLst>
                  <a:ext uri="{0D108BD9-81ED-4DB2-BD59-A6C34878D82A}">
                    <a16:rowId xmlns:a16="http://schemas.microsoft.com/office/drawing/2014/main" val="10001"/>
                  </a:ext>
                </a:extLst>
              </a:tr>
              <a:tr h="533538">
                <a:tc>
                  <a:txBody>
                    <a:bodyPr/>
                    <a:lstStyle/>
                    <a:p>
                      <a:pPr algn="ctr"/>
                      <a:r>
                        <a:rPr sz="950" b="0" dirty="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en-US" sz="950" b="0" dirty="0">
                          <a:solidFill>
                            <a:srgbClr val="000000"/>
                          </a:solidFill>
                          <a:latin typeface="맑은 고딕"/>
                          <a:ea typeface="맑은 고딕"/>
                        </a:rPr>
                        <a:t>5</a:t>
                      </a:r>
                      <a:r>
                        <a:rPr sz="950" b="0" dirty="0">
                          <a:solidFill>
                            <a:srgbClr val="000000"/>
                          </a:solidFill>
                          <a:latin typeface="맑은 고딕"/>
                          <a:ea typeface="맑은 고딕"/>
                        </a:rPr>
                        <a:t> </a:t>
                      </a:r>
                      <a:r>
                        <a:rPr lang="ko-KR" altLang="en-US" sz="950" b="0" dirty="0">
                          <a:solidFill>
                            <a:srgbClr val="000000"/>
                          </a:solidFill>
                          <a:latin typeface="맑은 고딕"/>
                          <a:ea typeface="맑은 고딕"/>
                        </a:rPr>
                        <a:t>≤</a:t>
                      </a:r>
                      <a:r>
                        <a:rPr sz="950" b="0" dirty="0">
                          <a:solidFill>
                            <a:srgbClr val="000000"/>
                          </a:solidFill>
                          <a:latin typeface="맑은 고딕"/>
                          <a:ea typeface="맑은 고딕"/>
                        </a:rPr>
                        <a:t> R </a:t>
                      </a:r>
                      <a:r>
                        <a:rPr lang="en-US" sz="950" b="0" dirty="0">
                          <a:solidFill>
                            <a:srgbClr val="000000"/>
                          </a:solidFill>
                          <a:latin typeface="+mn-lt"/>
                          <a:ea typeface="맑은 고딕"/>
                        </a:rPr>
                        <a:t>&lt;</a:t>
                      </a:r>
                      <a:r>
                        <a:rPr lang="en-US" sz="950" b="0" baseline="0" dirty="0">
                          <a:solidFill>
                            <a:srgbClr val="000000"/>
                          </a:solidFill>
                          <a:latin typeface="+mn-lt"/>
                          <a:ea typeface="맑은 고딕"/>
                        </a:rPr>
                        <a:t> </a:t>
                      </a:r>
                      <a:r>
                        <a:rPr lang="en-US" sz="950" b="0" dirty="0">
                          <a:solidFill>
                            <a:srgbClr val="000000"/>
                          </a:solidFill>
                          <a:latin typeface="맑은 고딕"/>
                          <a:ea typeface="맑은 고딕"/>
                        </a:rPr>
                        <a:t>10</a:t>
                      </a:r>
                      <a:r>
                        <a:rPr sz="950" b="0" dirty="0">
                          <a:solidFill>
                            <a:srgbClr val="000000"/>
                          </a:solidFill>
                          <a:latin typeface="맑은 고딕"/>
                          <a:ea typeface="맑은 고딕"/>
                        </a:rPr>
                        <a:t>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950" b="0" dirty="0">
                          <a:solidFill>
                            <a:srgbClr val="000000"/>
                          </a:solidFill>
                          <a:latin typeface="+mn-lt"/>
                          <a:ea typeface="맑은 고딕"/>
                        </a:rPr>
                        <a:t>실제 기업 서비스 </a:t>
                      </a:r>
                      <a:r>
                        <a:rPr lang="ko-KR" altLang="en-US" sz="950" b="0" dirty="0" err="1">
                          <a:solidFill>
                            <a:srgbClr val="000000"/>
                          </a:solidFill>
                          <a:latin typeface="+mn-lt"/>
                          <a:ea typeface="맑은 고딕"/>
                        </a:rPr>
                        <a:t>트레이스</a:t>
                      </a:r>
                      <a:r>
                        <a:rPr lang="ko-KR" altLang="en-US" sz="950" b="0" dirty="0">
                          <a:solidFill>
                            <a:srgbClr val="000000"/>
                          </a:solidFill>
                          <a:latin typeface="+mn-lt"/>
                          <a:ea typeface="맑은 고딕"/>
                        </a:rPr>
                        <a:t> 기반 평가에서 </a:t>
                      </a:r>
                      <a:r>
                        <a:rPr lang="en-US" altLang="ko-KR" sz="950" b="0" dirty="0" err="1">
                          <a:solidFill>
                            <a:srgbClr val="000000"/>
                          </a:solidFill>
                          <a:latin typeface="+mn-lt"/>
                          <a:ea typeface="맑은 고딕"/>
                        </a:rPr>
                        <a:t>LMCache</a:t>
                      </a:r>
                      <a:r>
                        <a:rPr lang="ko-KR" altLang="en-US" sz="950" b="0" dirty="0">
                          <a:solidFill>
                            <a:srgbClr val="000000"/>
                          </a:solidFill>
                          <a:latin typeface="+mn-lt"/>
                          <a:ea typeface="맑은 고딕"/>
                        </a:rPr>
                        <a:t>는 높은 </a:t>
                      </a:r>
                      <a:r>
                        <a:rPr lang="en-US" altLang="ko-KR" sz="950" b="0" dirty="0">
                          <a:solidFill>
                            <a:srgbClr val="000000"/>
                          </a:solidFill>
                          <a:latin typeface="+mn-lt"/>
                          <a:ea typeface="맑은 고딕"/>
                        </a:rPr>
                        <a:t>QPS </a:t>
                      </a:r>
                      <a:r>
                        <a:rPr lang="ko-KR" altLang="en-US" sz="950" b="0" dirty="0">
                          <a:solidFill>
                            <a:srgbClr val="000000"/>
                          </a:solidFill>
                          <a:latin typeface="+mn-lt"/>
                          <a:ea typeface="맑은 고딕"/>
                        </a:rPr>
                        <a:t>구간 기준 </a:t>
                      </a:r>
                      <a:r>
                        <a:rPr lang="en-US" altLang="ko-KR" sz="950" b="0" dirty="0">
                          <a:solidFill>
                            <a:srgbClr val="000000"/>
                          </a:solidFill>
                          <a:latin typeface="+mn-lt"/>
                          <a:ea typeface="맑은 고딕"/>
                        </a:rPr>
                        <a:t>TTFT</a:t>
                      </a:r>
                      <a:r>
                        <a:rPr lang="ko-KR" altLang="en-US" sz="950" b="0" dirty="0">
                          <a:solidFill>
                            <a:srgbClr val="000000"/>
                          </a:solidFill>
                          <a:latin typeface="+mn-lt"/>
                          <a:ea typeface="맑은 고딕"/>
                        </a:rPr>
                        <a:t>를 </a:t>
                      </a:r>
                      <a:r>
                        <a:rPr lang="en-US" altLang="ko-KR" sz="950" b="0" dirty="0">
                          <a:solidFill>
                            <a:srgbClr val="000000"/>
                          </a:solidFill>
                          <a:latin typeface="+mn-lt"/>
                          <a:ea typeface="맑은 고딕"/>
                        </a:rPr>
                        <a:t>3.7~6.8</a:t>
                      </a:r>
                      <a:r>
                        <a:rPr lang="ko-KR" altLang="en-US" sz="950" b="0" dirty="0">
                          <a:solidFill>
                            <a:srgbClr val="000000"/>
                          </a:solidFill>
                          <a:latin typeface="+mn-lt"/>
                          <a:ea typeface="맑은 고딕"/>
                        </a:rPr>
                        <a:t>배 단축시켰으며</a:t>
                      </a:r>
                      <a:r>
                        <a:rPr lang="en-US" altLang="ko-KR" sz="950" b="0" dirty="0">
                          <a:solidFill>
                            <a:srgbClr val="000000"/>
                          </a:solidFill>
                          <a:latin typeface="+mn-lt"/>
                          <a:ea typeface="맑은 고딕"/>
                        </a:rPr>
                        <a:t>, </a:t>
                      </a:r>
                      <a:r>
                        <a:rPr lang="ko-KR" altLang="en-US" sz="950" b="0" dirty="0">
                          <a:solidFill>
                            <a:srgbClr val="000000"/>
                          </a:solidFill>
                          <a:latin typeface="+mn-lt"/>
                          <a:ea typeface="맑은 고딕"/>
                        </a:rPr>
                        <a:t>이를 동일 </a:t>
                      </a:r>
                      <a:r>
                        <a:rPr lang="en-US" altLang="ko-KR" sz="950" b="0" dirty="0">
                          <a:solidFill>
                            <a:srgbClr val="000000"/>
                          </a:solidFill>
                          <a:latin typeface="+mn-lt"/>
                          <a:ea typeface="맑은 고딕"/>
                        </a:rPr>
                        <a:t>TTFT </a:t>
                      </a:r>
                      <a:r>
                        <a:rPr lang="ko-KR" altLang="en-US" sz="950" b="0" dirty="0">
                          <a:solidFill>
                            <a:srgbClr val="000000"/>
                          </a:solidFill>
                          <a:latin typeface="+mn-lt"/>
                          <a:ea typeface="맑은 고딕"/>
                        </a:rPr>
                        <a:t>제약의 처리량으로 환산하면 통상 </a:t>
                      </a:r>
                      <a:r>
                        <a:rPr lang="en-US" altLang="ko-KR" sz="950" b="0" dirty="0">
                          <a:solidFill>
                            <a:srgbClr val="000000"/>
                          </a:solidFill>
                          <a:latin typeface="+mn-lt"/>
                          <a:ea typeface="맑은 고딕"/>
                        </a:rPr>
                        <a:t>4~6</a:t>
                      </a:r>
                      <a:r>
                        <a:rPr lang="ko-KR" altLang="en-US" sz="950" b="0" dirty="0">
                          <a:solidFill>
                            <a:srgbClr val="000000"/>
                          </a:solidFill>
                          <a:latin typeface="+mn-lt"/>
                          <a:ea typeface="맑은 고딕"/>
                        </a:rPr>
                        <a:t>배 수준의 </a:t>
                      </a:r>
                      <a:r>
                        <a:rPr lang="en-US" altLang="ko-KR" sz="950" b="0" dirty="0">
                          <a:solidFill>
                            <a:srgbClr val="000000"/>
                          </a:solidFill>
                          <a:latin typeface="+mn-lt"/>
                          <a:ea typeface="맑은 고딕"/>
                        </a:rPr>
                        <a:t>QPS </a:t>
                      </a:r>
                      <a:r>
                        <a:rPr lang="ko-KR" altLang="en-US" sz="950" b="0" dirty="0">
                          <a:solidFill>
                            <a:srgbClr val="000000"/>
                          </a:solidFill>
                          <a:latin typeface="+mn-lt"/>
                          <a:ea typeface="맑은 고딕"/>
                        </a:rPr>
                        <a:t>확장</a:t>
                      </a:r>
                      <a:r>
                        <a:rPr lang="ko-KR" altLang="en-US" sz="950" b="0" baseline="0" dirty="0">
                          <a:solidFill>
                            <a:srgbClr val="000000"/>
                          </a:solidFill>
                          <a:latin typeface="+mn-lt"/>
                          <a:ea typeface="맑은 고딕"/>
                        </a:rPr>
                        <a:t> 지원</a:t>
                      </a:r>
                      <a:endParaRPr lang="en-US" altLang="ko-KR" sz="95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lnSpc>
                          <a:spcPct val="150000"/>
                        </a:lnSpc>
                      </a:pPr>
                      <a:r>
                        <a:rPr lang="en-US" sz="950" b="0" dirty="0" err="1">
                          <a:solidFill>
                            <a:srgbClr val="000000"/>
                          </a:solidFill>
                          <a:latin typeface="맑은 고딕"/>
                          <a:ea typeface="맑은 고딕"/>
                        </a:rPr>
                        <a:t>LMCache</a:t>
                      </a:r>
                      <a:r>
                        <a:rPr lang="en-US" sz="950" b="0" baseline="0" dirty="0">
                          <a:solidFill>
                            <a:srgbClr val="000000"/>
                          </a:solidFill>
                          <a:latin typeface="맑은 고딕"/>
                          <a:ea typeface="맑은 고딕"/>
                        </a:rPr>
                        <a:t> </a:t>
                      </a:r>
                      <a:r>
                        <a:rPr lang="ko-KR" altLang="en-US" sz="950" b="0" baseline="0" dirty="0">
                          <a:solidFill>
                            <a:srgbClr val="000000"/>
                          </a:solidFill>
                          <a:latin typeface="맑은 고딕"/>
                          <a:ea typeface="맑은 고딕"/>
                        </a:rPr>
                        <a:t>논문 </a:t>
                      </a:r>
                      <a:endParaRPr sz="9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extLst>
                  <a:ext uri="{0D108BD9-81ED-4DB2-BD59-A6C34878D82A}">
                    <a16:rowId xmlns:a16="http://schemas.microsoft.com/office/drawing/2014/main" val="10002"/>
                  </a:ext>
                </a:extLst>
              </a:tr>
              <a:tr h="533538">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lang="en-US" altLang="ko-KR" sz="950" b="0" dirty="0">
                          <a:solidFill>
                            <a:srgbClr val="000000"/>
                          </a:solidFill>
                          <a:latin typeface="+mn-lt"/>
                          <a:ea typeface="맑은 고딕"/>
                        </a:rPr>
                        <a:t>2 ≤ R &lt;</a:t>
                      </a:r>
                      <a:r>
                        <a:rPr lang="en-US" altLang="ko-KR" sz="950" b="0" baseline="0" dirty="0">
                          <a:solidFill>
                            <a:srgbClr val="000000"/>
                          </a:solidFill>
                          <a:latin typeface="+mn-lt"/>
                          <a:ea typeface="맑은 고딕"/>
                        </a:rPr>
                        <a:t> 5</a:t>
                      </a:r>
                      <a:endParaRPr lang="en-US" altLang="ko-KR" sz="95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marL="171450" indent="-171450" algn="l">
                        <a:lnSpc>
                          <a:spcPct val="150000"/>
                        </a:lnSpc>
                        <a:buFontTx/>
                        <a:buChar char="-"/>
                      </a:pPr>
                      <a:r>
                        <a:rPr lang="en-US" sz="950" b="0" dirty="0">
                          <a:solidFill>
                            <a:srgbClr val="000000"/>
                          </a:solidFill>
                          <a:latin typeface="맑은 고딕"/>
                          <a:ea typeface="맑은 고딕"/>
                        </a:rPr>
                        <a:t>Stakeholder</a:t>
                      </a:r>
                      <a:r>
                        <a:rPr lang="en-US" sz="950" b="0" baseline="0" dirty="0">
                          <a:solidFill>
                            <a:srgbClr val="000000"/>
                          </a:solidFill>
                          <a:latin typeface="맑은 고딕"/>
                          <a:ea typeface="맑은 고딕"/>
                        </a:rPr>
                        <a:t> </a:t>
                      </a:r>
                      <a:r>
                        <a:rPr lang="ko-KR" altLang="en-US" sz="950" b="0" baseline="0" dirty="0">
                          <a:solidFill>
                            <a:srgbClr val="000000"/>
                          </a:solidFill>
                          <a:latin typeface="맑은 고딕"/>
                          <a:ea typeface="맑은 고딕"/>
                        </a:rPr>
                        <a:t>요구사항</a:t>
                      </a:r>
                      <a:r>
                        <a:rPr lang="en-US" altLang="ko-KR" sz="950" b="0" baseline="0" dirty="0">
                          <a:solidFill>
                            <a:srgbClr val="000000"/>
                          </a:solidFill>
                          <a:latin typeface="맑은 고딕"/>
                          <a:ea typeface="맑은 고딕"/>
                        </a:rPr>
                        <a:t>: “</a:t>
                      </a:r>
                      <a:r>
                        <a:rPr lang="ko-KR" altLang="en-US" sz="950" b="0" baseline="0" dirty="0">
                          <a:solidFill>
                            <a:srgbClr val="000000"/>
                          </a:solidFill>
                          <a:latin typeface="맑은 고딕"/>
                          <a:ea typeface="맑은 고딕"/>
                        </a:rPr>
                        <a:t>처리량 개선 </a:t>
                      </a:r>
                      <a:r>
                        <a:rPr lang="en-US" altLang="ko-KR" sz="950" b="0" baseline="0" dirty="0">
                          <a:solidFill>
                            <a:srgbClr val="000000"/>
                          </a:solidFill>
                          <a:latin typeface="맑은 고딕"/>
                          <a:ea typeface="맑은 고딕"/>
                        </a:rPr>
                        <a:t>2</a:t>
                      </a:r>
                      <a:r>
                        <a:rPr lang="ko-KR" altLang="en-US" sz="950" b="0" baseline="0" dirty="0">
                          <a:solidFill>
                            <a:srgbClr val="000000"/>
                          </a:solidFill>
                          <a:latin typeface="맑은 고딕"/>
                          <a:ea typeface="맑은 고딕"/>
                        </a:rPr>
                        <a:t>배 이상 되어야 제품화 논의 가능</a:t>
                      </a:r>
                      <a:r>
                        <a:rPr lang="en-US" altLang="ko-KR" sz="950" b="0" baseline="0" dirty="0">
                          <a:solidFill>
                            <a:srgbClr val="000000"/>
                          </a:solidFill>
                          <a:latin typeface="맑은 고딕"/>
                          <a:ea typeface="맑은 고딕"/>
                        </a:rPr>
                        <a:t>“</a:t>
                      </a:r>
                    </a:p>
                    <a:p>
                      <a:pPr marL="171450" indent="-171450" algn="l">
                        <a:lnSpc>
                          <a:spcPct val="150000"/>
                        </a:lnSpc>
                        <a:buFontTx/>
                        <a:buChar char="-"/>
                      </a:pPr>
                      <a:r>
                        <a:rPr lang="en-US" sz="950" b="0" dirty="0" err="1">
                          <a:solidFill>
                            <a:srgbClr val="000000"/>
                          </a:solidFill>
                          <a:latin typeface="맑은 고딕"/>
                          <a:ea typeface="맑은 고딕"/>
                        </a:rPr>
                        <a:t>LMCache</a:t>
                      </a:r>
                      <a:r>
                        <a:rPr lang="ko-KR" altLang="en-US" sz="950" b="0" dirty="0">
                          <a:solidFill>
                            <a:srgbClr val="000000"/>
                          </a:solidFill>
                          <a:latin typeface="맑은 고딕"/>
                          <a:ea typeface="맑은 고딕"/>
                        </a:rPr>
                        <a:t>의 </a:t>
                      </a:r>
                      <a:r>
                        <a:rPr lang="ko-KR" altLang="en-US" sz="900" b="0" kern="1200" dirty="0">
                          <a:solidFill>
                            <a:srgbClr val="000000"/>
                          </a:solidFill>
                          <a:latin typeface="+mn-lt"/>
                          <a:ea typeface="맑은 고딕"/>
                          <a:cs typeface="맑은 고딕"/>
                        </a:rPr>
                        <a:t>단일 노드 로컬 </a:t>
                      </a:r>
                      <a:r>
                        <a:rPr lang="en-US" altLang="ko-KR" sz="900" b="0" kern="1200" dirty="0">
                          <a:solidFill>
                            <a:srgbClr val="000000"/>
                          </a:solidFill>
                          <a:latin typeface="+mn-lt"/>
                          <a:ea typeface="맑은 고딕"/>
                          <a:cs typeface="맑은 고딕"/>
                        </a:rPr>
                        <a:t>CPU </a:t>
                      </a:r>
                      <a:r>
                        <a:rPr lang="ko-KR" altLang="en-US" sz="900" b="0" kern="1200" dirty="0">
                          <a:solidFill>
                            <a:srgbClr val="000000"/>
                          </a:solidFill>
                          <a:latin typeface="+mn-lt"/>
                          <a:ea typeface="맑은 고딕"/>
                          <a:cs typeface="맑은 고딕"/>
                        </a:rPr>
                        <a:t>오프로딩의 다중 턴 질의응답</a:t>
                      </a:r>
                      <a:r>
                        <a:rPr lang="en-US" altLang="ko-KR" sz="900" b="0" kern="1200" dirty="0">
                          <a:solidFill>
                            <a:srgbClr val="000000"/>
                          </a:solidFill>
                          <a:latin typeface="+mn-lt"/>
                          <a:ea typeface="맑은 고딕"/>
                          <a:cs typeface="맑은 고딕"/>
                        </a:rPr>
                        <a:t>(10K~20K </a:t>
                      </a:r>
                      <a:r>
                        <a:rPr lang="ko-KR" altLang="en-US" sz="900" b="0" kern="1200" dirty="0">
                          <a:solidFill>
                            <a:srgbClr val="000000"/>
                          </a:solidFill>
                          <a:latin typeface="+mn-lt"/>
                          <a:ea typeface="맑은 고딕"/>
                          <a:cs typeface="맑은 고딕"/>
                        </a:rPr>
                        <a:t>토큰</a:t>
                      </a:r>
                      <a:r>
                        <a:rPr lang="en-US" altLang="ko-KR" sz="900" b="0" kern="1200" dirty="0">
                          <a:solidFill>
                            <a:srgbClr val="000000"/>
                          </a:solidFill>
                          <a:latin typeface="+mn-lt"/>
                          <a:ea typeface="맑은 고딕"/>
                          <a:cs typeface="맑은 고딕"/>
                        </a:rPr>
                        <a:t>) </a:t>
                      </a:r>
                      <a:r>
                        <a:rPr lang="ko-KR" altLang="en-US" sz="900" b="0" kern="1200" dirty="0">
                          <a:solidFill>
                            <a:srgbClr val="000000"/>
                          </a:solidFill>
                          <a:latin typeface="+mn-lt"/>
                          <a:ea typeface="맑은 고딕"/>
                          <a:cs typeface="맑은 고딕"/>
                        </a:rPr>
                        <a:t>워크로드에서 개선 하한선</a:t>
                      </a:r>
                      <a:r>
                        <a:rPr lang="ko-KR" altLang="en-US" sz="900" b="0" kern="1200" baseline="0" dirty="0">
                          <a:solidFill>
                            <a:srgbClr val="000000"/>
                          </a:solidFill>
                          <a:latin typeface="+mn-lt"/>
                          <a:ea typeface="맑은 고딕"/>
                          <a:cs typeface="맑은 고딕"/>
                        </a:rPr>
                        <a:t> </a:t>
                      </a:r>
                      <a:r>
                        <a:rPr lang="en-US" altLang="ko-KR" sz="900" b="0" kern="1200" dirty="0">
                          <a:solidFill>
                            <a:srgbClr val="000000"/>
                          </a:solidFill>
                          <a:latin typeface="+mn-lt"/>
                          <a:ea typeface="맑은 고딕"/>
                          <a:cs typeface="맑은 고딕"/>
                        </a:rPr>
                        <a:t>2.3</a:t>
                      </a:r>
                      <a:r>
                        <a:rPr lang="ko-KR" altLang="en-US" sz="900" b="0" kern="1200" dirty="0">
                          <a:solidFill>
                            <a:srgbClr val="000000"/>
                          </a:solidFill>
                          <a:latin typeface="+mn-lt"/>
                          <a:ea typeface="맑은 고딕"/>
                          <a:cs typeface="맑은 고딕"/>
                        </a:rPr>
                        <a:t>배</a:t>
                      </a:r>
                      <a:r>
                        <a:rPr lang="en-US" altLang="ko-KR" sz="900" b="0" kern="1200" dirty="0">
                          <a:solidFill>
                            <a:srgbClr val="000000"/>
                          </a:solidFill>
                          <a:latin typeface="+mn-lt"/>
                          <a:ea typeface="맑은 고딕"/>
                          <a:cs typeface="맑은 고딕"/>
                        </a:rPr>
                        <a:t> </a:t>
                      </a:r>
                      <a:r>
                        <a:rPr lang="ko-KR" altLang="en-US" sz="900" b="0" kern="1200" dirty="0">
                          <a:solidFill>
                            <a:srgbClr val="000000"/>
                          </a:solidFill>
                          <a:latin typeface="+mn-lt"/>
                          <a:ea typeface="맑은 고딕"/>
                          <a:cs typeface="맑은 고딕"/>
                        </a:rPr>
                        <a:t>확보 </a:t>
                      </a:r>
                      <a:endParaRPr lang="en-US" altLang="ko-KR" sz="900" b="0" kern="1200" dirty="0">
                        <a:solidFill>
                          <a:srgbClr val="000000"/>
                        </a:solidFill>
                        <a:latin typeface="맑은 고딕"/>
                        <a:ea typeface="맑은 고딕"/>
                        <a:cs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en-US" altLang="ko-KR" sz="950" b="0" dirty="0">
                          <a:solidFill>
                            <a:srgbClr val="000000"/>
                          </a:solidFill>
                          <a:latin typeface="+mn-lt"/>
                          <a:ea typeface="맑은 고딕"/>
                        </a:rPr>
                        <a:t>Stakeholder</a:t>
                      </a:r>
                      <a:r>
                        <a:rPr lang="en-US" altLang="ko-KR" sz="950" b="0" baseline="0" dirty="0">
                          <a:solidFill>
                            <a:srgbClr val="000000"/>
                          </a:solidFill>
                          <a:latin typeface="+mn-lt"/>
                          <a:ea typeface="맑은 고딕"/>
                        </a:rPr>
                        <a:t> </a:t>
                      </a:r>
                      <a:r>
                        <a:rPr lang="ko-KR" altLang="en-US" sz="950" b="0" baseline="0" dirty="0">
                          <a:solidFill>
                            <a:srgbClr val="000000"/>
                          </a:solidFill>
                          <a:latin typeface="+mn-lt"/>
                          <a:ea typeface="맑은 고딕"/>
                        </a:rPr>
                        <a:t>요구사항</a:t>
                      </a:r>
                      <a:endParaRPr lang="en-US" altLang="ko-KR" sz="950" b="0" baseline="0" dirty="0">
                        <a:solidFill>
                          <a:srgbClr val="000000"/>
                        </a:solidFill>
                        <a:latin typeface="+mn-lt"/>
                        <a:ea typeface="맑은 고딕"/>
                      </a:endParaRPr>
                    </a:p>
                    <a:p>
                      <a:pPr marL="0" marR="0" lvl="0" indent="0" algn="l" defTabSz="914400" rtl="0" eaLnBrk="1" fontAlgn="auto" latinLnBrk="1" hangingPunct="1">
                        <a:lnSpc>
                          <a:spcPct val="150000"/>
                        </a:lnSpc>
                        <a:spcBef>
                          <a:spcPts val="0"/>
                        </a:spcBef>
                        <a:spcAft>
                          <a:spcPts val="0"/>
                        </a:spcAft>
                        <a:buClrTx/>
                        <a:buSzTx/>
                        <a:buFontTx/>
                        <a:buNone/>
                        <a:tabLst/>
                        <a:defRPr/>
                      </a:pPr>
                      <a:r>
                        <a:rPr lang="en-US" altLang="ko-KR" sz="950" b="0" dirty="0" err="1">
                          <a:solidFill>
                            <a:srgbClr val="000000"/>
                          </a:solidFill>
                          <a:latin typeface="+mn-lt"/>
                          <a:ea typeface="맑은 고딕"/>
                        </a:rPr>
                        <a:t>LMCache</a:t>
                      </a:r>
                      <a:r>
                        <a:rPr lang="en-US" altLang="ko-KR" sz="950" b="0" dirty="0">
                          <a:solidFill>
                            <a:srgbClr val="000000"/>
                          </a:solidFill>
                          <a:latin typeface="+mn-lt"/>
                          <a:ea typeface="맑은 고딕"/>
                        </a:rPr>
                        <a:t> </a:t>
                      </a:r>
                      <a:r>
                        <a:rPr lang="ko-KR" altLang="en-US" sz="950" b="0" dirty="0">
                          <a:solidFill>
                            <a:srgbClr val="000000"/>
                          </a:solidFill>
                          <a:latin typeface="+mn-lt"/>
                          <a:ea typeface="맑은 고딕"/>
                        </a:rPr>
                        <a:t>논문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extLst>
                  <a:ext uri="{0D108BD9-81ED-4DB2-BD59-A6C34878D82A}">
                    <a16:rowId xmlns:a16="http://schemas.microsoft.com/office/drawing/2014/main" val="10003"/>
                  </a:ext>
                </a:extLst>
              </a:tr>
            </a:tbl>
          </a:graphicData>
        </a:graphic>
      </p:graphicFrame>
      <p:sp>
        <p:nvSpPr>
          <p:cNvPr id="11" name="subtitle">
            <a:extLst>
              <a:ext uri="{FF2B5EF4-FFF2-40B4-BE49-F238E27FC236}">
                <a16:creationId xmlns:a16="http://schemas.microsoft.com/office/drawing/2014/main" id="{83FC6577-760C-41A6-A45B-D5727304942A}"/>
              </a:ext>
            </a:extLst>
          </p:cNvPr>
          <p:cNvSpPr txBox="1"/>
          <p:nvPr/>
        </p:nvSpPr>
        <p:spPr>
          <a:xfrm>
            <a:off x="365760" y="1100189"/>
            <a:ext cx="11430000" cy="1204945"/>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R = Max SLO goodput ÷ Baseline </a:t>
            </a:r>
          </a:p>
          <a:p>
            <a:pPr marL="171450" indent="-171450">
              <a:lnSpc>
                <a:spcPct val="150000"/>
              </a:lnSpc>
              <a:spcAft>
                <a:spcPts val="250"/>
              </a:spcAft>
              <a:buFontTx/>
              <a:buChar char="-"/>
            </a:pPr>
            <a:r>
              <a:rPr sz="1100" b="0" dirty="0">
                <a:latin typeface="맑은 고딕"/>
                <a:ea typeface="맑은 고딕"/>
              </a:rPr>
              <a:t>SLO </a:t>
            </a:r>
            <a:r>
              <a:rPr lang="en-US" sz="1100" b="0" dirty="0">
                <a:latin typeface="맑은 고딕"/>
                <a:ea typeface="맑은 고딕"/>
              </a:rPr>
              <a:t>(Service Level Objective):</a:t>
            </a:r>
            <a:r>
              <a:rPr sz="1100" b="0" dirty="0">
                <a:latin typeface="맑은 고딕"/>
                <a:ea typeface="맑은 고딕"/>
              </a:rPr>
              <a:t> TTFT P99 ≤ 2 s, TPOT P99 ≤ 50 </a:t>
            </a:r>
            <a:r>
              <a:rPr sz="1100" b="0" dirty="0" err="1">
                <a:latin typeface="맑은 고딕"/>
                <a:ea typeface="맑은 고딕"/>
              </a:rPr>
              <a:t>ms</a:t>
            </a:r>
            <a:r>
              <a:rPr lang="en-US" sz="1100" b="0" dirty="0">
                <a:latin typeface="맑은 고딕"/>
                <a:ea typeface="맑은 고딕"/>
              </a:rPr>
              <a:t> (</a:t>
            </a:r>
            <a:r>
              <a:rPr lang="en-US" altLang="ko-KR" sz="800" b="0" dirty="0" err="1">
                <a:latin typeface="맑은 고딕"/>
                <a:ea typeface="맑은 고딕"/>
              </a:rPr>
              <a:t>MLPerf</a:t>
            </a:r>
            <a:r>
              <a:rPr lang="en-US" altLang="ko-KR" sz="800" b="0" dirty="0">
                <a:latin typeface="맑은 고딕"/>
                <a:ea typeface="맑은 고딕"/>
              </a:rPr>
              <a:t> Inference </a:t>
            </a:r>
            <a:r>
              <a:rPr lang="ko-KR" altLang="en-US" sz="800" b="0" dirty="0">
                <a:latin typeface="맑은 고딕"/>
                <a:ea typeface="맑은 고딕"/>
              </a:rPr>
              <a:t>출처</a:t>
            </a:r>
            <a:r>
              <a:rPr lang="en-US" altLang="ko-KR" sz="800" b="0" dirty="0">
                <a:latin typeface="맑은 고딕"/>
                <a:ea typeface="맑은 고딕"/>
              </a:rPr>
              <a:t>)</a:t>
            </a:r>
          </a:p>
          <a:p>
            <a:pPr marL="171450" indent="-171450">
              <a:lnSpc>
                <a:spcPct val="150000"/>
              </a:lnSpc>
              <a:spcAft>
                <a:spcPts val="250"/>
              </a:spcAft>
              <a:buFontTx/>
              <a:buChar char="-"/>
            </a:pPr>
            <a:r>
              <a:rPr lang="en-US" altLang="ko-KR" sz="1100" b="0" dirty="0">
                <a:solidFill>
                  <a:srgbClr val="000000"/>
                </a:solidFill>
                <a:latin typeface="맑은 고딕"/>
                <a:ea typeface="맑은 고딕"/>
              </a:rPr>
              <a:t>SLO goodput: </a:t>
            </a:r>
            <a:r>
              <a:rPr lang="en-US" altLang="ko-KR" sz="1100" dirty="0">
                <a:solidFill>
                  <a:srgbClr val="000000"/>
                </a:solidFill>
                <a:latin typeface="맑은 고딕"/>
                <a:ea typeface="맑은 고딕"/>
              </a:rPr>
              <a:t>SLO</a:t>
            </a:r>
            <a:r>
              <a:rPr lang="ko-KR" altLang="en-US" sz="1100" dirty="0">
                <a:solidFill>
                  <a:srgbClr val="000000"/>
                </a:solidFill>
                <a:latin typeface="맑은 고딕"/>
                <a:ea typeface="맑은 고딕"/>
              </a:rPr>
              <a:t>를 만족하는 요청의 처리량 </a:t>
            </a:r>
            <a:r>
              <a:rPr lang="en-US" altLang="ko-KR" sz="1100" dirty="0">
                <a:solidFill>
                  <a:srgbClr val="000000"/>
                </a:solidFill>
                <a:latin typeface="맑은 고딕"/>
                <a:ea typeface="맑은 고딕"/>
              </a:rPr>
              <a:t>(</a:t>
            </a:r>
            <a:r>
              <a:rPr lang="ko-KR" altLang="en-US" sz="1100" dirty="0">
                <a:solidFill>
                  <a:srgbClr val="000000"/>
                </a:solidFill>
                <a:latin typeface="맑은 고딕"/>
                <a:ea typeface="맑은 고딕"/>
              </a:rPr>
              <a:t>처리된 요청 수 </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경과 시간</a:t>
            </a:r>
            <a:r>
              <a:rPr lang="en-US" altLang="ko-KR" sz="1100" dirty="0">
                <a:solidFill>
                  <a:srgbClr val="000000"/>
                </a:solidFill>
                <a:latin typeface="맑은 고딕"/>
                <a:ea typeface="맑은 고딕"/>
              </a:rPr>
              <a:t>)</a:t>
            </a:r>
          </a:p>
          <a:p>
            <a:pPr marL="171450" indent="-171450">
              <a:lnSpc>
                <a:spcPct val="150000"/>
              </a:lnSpc>
              <a:spcAft>
                <a:spcPts val="250"/>
              </a:spcAft>
              <a:buFontTx/>
              <a:buChar char="-"/>
            </a:pPr>
            <a:r>
              <a:rPr lang="en-US" altLang="ko-KR" sz="1100" dirty="0">
                <a:solidFill>
                  <a:srgbClr val="000000"/>
                </a:solidFill>
                <a:latin typeface="맑은 고딕"/>
                <a:ea typeface="맑은 고딕"/>
              </a:rPr>
              <a:t>Max</a:t>
            </a:r>
            <a:r>
              <a:rPr lang="ko-KR" altLang="en-US" sz="1100" dirty="0">
                <a:solidFill>
                  <a:srgbClr val="000000"/>
                </a:solidFill>
                <a:latin typeface="맑은 고딕"/>
                <a:ea typeface="맑은 고딕"/>
              </a:rPr>
              <a:t>의 의미</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동시 요청 수가 증가할 수록 </a:t>
            </a:r>
            <a:r>
              <a:rPr lang="en-US" altLang="ko-KR" sz="1100" dirty="0">
                <a:solidFill>
                  <a:srgbClr val="000000"/>
                </a:solidFill>
                <a:latin typeface="맑은 고딕"/>
                <a:ea typeface="맑은 고딕"/>
              </a:rPr>
              <a:t>SLO</a:t>
            </a:r>
            <a:r>
              <a:rPr lang="ko-KR" altLang="en-US" sz="1100" dirty="0">
                <a:solidFill>
                  <a:srgbClr val="000000"/>
                </a:solidFill>
                <a:latin typeface="맑은 고딕"/>
                <a:ea typeface="맑은 고딕"/>
              </a:rPr>
              <a:t>를 만족하는 처리량이 증가하다가 떨어질 수 있기 때문에</a:t>
            </a:r>
            <a:r>
              <a:rPr lang="en-US" altLang="ko-KR" sz="1100" dirty="0">
                <a:solidFill>
                  <a:srgbClr val="000000"/>
                </a:solidFill>
                <a:latin typeface="맑은 고딕"/>
                <a:ea typeface="맑은 고딕"/>
              </a:rPr>
              <a:t>, </a:t>
            </a:r>
            <a:r>
              <a:rPr lang="ko-KR" altLang="en-US" sz="1100" dirty="0">
                <a:solidFill>
                  <a:srgbClr val="000000"/>
                </a:solidFill>
                <a:latin typeface="맑은 고딕"/>
                <a:ea typeface="맑은 고딕"/>
              </a:rPr>
              <a:t>가장 높은 성능의 조건을 비교하기 위함 </a:t>
            </a:r>
            <a:endParaRPr lang="en-US" altLang="ko-KR" sz="1100" b="0" dirty="0">
              <a:solidFill>
                <a:srgbClr val="404040"/>
              </a:solidFill>
              <a:latin typeface="맑은 고딕"/>
              <a:ea typeface="맑은 고딕"/>
            </a:endParaRPr>
          </a:p>
        </p:txBody>
      </p:sp>
      <p:sp>
        <p:nvSpPr>
          <p:cNvPr id="9" name="실행 단추: 뒤로 또는 이전 8">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68620577"/>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자원</a:t>
            </a:r>
            <a:r>
              <a:rPr lang="en-US" sz="2200" b="1" dirty="0">
                <a:solidFill>
                  <a:srgbClr val="2F5597"/>
                </a:solidFill>
                <a:latin typeface="맑은 고딕"/>
                <a:ea typeface="맑은 고딕"/>
              </a:rPr>
              <a:t>(</a:t>
            </a:r>
            <a:r>
              <a:rPr sz="2200" b="1" dirty="0">
                <a:solidFill>
                  <a:srgbClr val="2F5597"/>
                </a:solidFill>
                <a:latin typeface="맑은 고딕"/>
                <a:ea typeface="맑은 고딕"/>
              </a:rPr>
              <a:t>HBM</a:t>
            </a:r>
            <a:r>
              <a:rPr lang="en-US" sz="2200" b="1" dirty="0">
                <a:solidFill>
                  <a:srgbClr val="2F5597"/>
                </a:solidFill>
                <a:latin typeface="맑은 고딕"/>
                <a:ea typeface="맑은 고딕"/>
              </a:rPr>
              <a:t>)</a:t>
            </a:r>
            <a:r>
              <a:rPr sz="2200" b="1" dirty="0">
                <a:solidFill>
                  <a:srgbClr val="2F5597"/>
                </a:solidFill>
                <a:latin typeface="맑은 고딕"/>
                <a:ea typeface="맑은 고딕"/>
              </a:rPr>
              <a:t> </a:t>
            </a:r>
            <a:r>
              <a:rPr lang="ko-KR" altLang="en-US" sz="2200" b="1" dirty="0">
                <a:solidFill>
                  <a:srgbClr val="2F5597"/>
                </a:solidFill>
                <a:latin typeface="맑은 고딕"/>
                <a:ea typeface="맑은 고딕"/>
              </a:rPr>
              <a:t>효율성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dirty="0">
                <a:solidFill>
                  <a:srgbClr val="404040"/>
                </a:solidFill>
                <a:latin typeface="맑은 고딕"/>
                <a:ea typeface="맑은 고딕"/>
              </a:rPr>
              <a:t>Baseline</a:t>
            </a:r>
            <a:r>
              <a:rPr lang="en-US" sz="1100" b="0" dirty="0">
                <a:solidFill>
                  <a:srgbClr val="404040"/>
                </a:solidFill>
                <a:latin typeface="맑은 고딕"/>
                <a:ea typeface="맑은 고딕"/>
              </a:rPr>
              <a:t>(</a:t>
            </a:r>
            <a:r>
              <a:rPr lang="en-US" sz="1100" dirty="0">
                <a:solidFill>
                  <a:srgbClr val="404040"/>
                </a:solidFill>
                <a:latin typeface="맑은 고딕"/>
                <a:ea typeface="맑은 고딕"/>
              </a:rPr>
              <a:t>GPU-only) </a:t>
            </a:r>
            <a:r>
              <a:rPr sz="1100" b="0" dirty="0" err="1">
                <a:solidFill>
                  <a:srgbClr val="404040"/>
                </a:solidFill>
                <a:latin typeface="맑은 고딕"/>
                <a:ea typeface="맑은 고딕"/>
              </a:rPr>
              <a:t>대비</a:t>
            </a:r>
            <a:r>
              <a:rPr sz="1100" b="0" dirty="0">
                <a:solidFill>
                  <a:srgbClr val="404040"/>
                </a:solidFill>
                <a:latin typeface="맑은 고딕"/>
                <a:ea typeface="맑은 고딕"/>
              </a:rPr>
              <a:t> </a:t>
            </a:r>
            <a:r>
              <a:rPr lang="en-US" sz="1100" b="0" dirty="0">
                <a:solidFill>
                  <a:srgbClr val="404040"/>
                </a:solidFill>
                <a:latin typeface="맑은 고딕"/>
                <a:ea typeface="맑은 고딕"/>
              </a:rPr>
              <a:t>HBM </a:t>
            </a:r>
            <a:r>
              <a:rPr lang="ko-KR" altLang="en-US" sz="1100" b="0" dirty="0">
                <a:solidFill>
                  <a:srgbClr val="404040"/>
                </a:solidFill>
                <a:latin typeface="맑은 고딕"/>
                <a:ea typeface="맑은 고딕"/>
              </a:rPr>
              <a:t>사용량 감소율</a:t>
            </a:r>
            <a:endParaRP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ubtitle">
            <a:extLst>
              <a:ext uri="{FF2B5EF4-FFF2-40B4-BE49-F238E27FC236}">
                <a16:creationId xmlns:a16="http://schemas.microsoft.com/office/drawing/2014/main" id="{48BBF660-AA47-4A57-BCE4-0896E47FBB12}"/>
              </a:ext>
            </a:extLst>
          </p:cNvPr>
          <p:cNvSpPr txBox="1"/>
          <p:nvPr/>
        </p:nvSpPr>
        <p:spPr>
          <a:xfrm>
            <a:off x="365760" y="1079932"/>
            <a:ext cx="11430000" cy="587469"/>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a:t>
            </a:r>
            <a:r>
              <a:rPr lang="ko-KR" altLang="en-US" sz="1100" b="1" dirty="0">
                <a:solidFill>
                  <a:srgbClr val="2F5597"/>
                </a:solidFill>
                <a:latin typeface="맑은 고딕"/>
                <a:ea typeface="맑은 고딕"/>
              </a:rPr>
              <a:t>감소율 </a:t>
            </a:r>
            <a:r>
              <a:rPr lang="en-US" altLang="ko-KR" sz="1100" b="1" dirty="0">
                <a:solidFill>
                  <a:srgbClr val="2F5597"/>
                </a:solidFill>
                <a:latin typeface="맑은 고딕"/>
                <a:ea typeface="맑은 고딕"/>
              </a:rPr>
              <a:t>= (Baseline HBM </a:t>
            </a:r>
            <a:r>
              <a:rPr lang="ko-KR" altLang="en-US" sz="1100" b="1" dirty="0">
                <a:solidFill>
                  <a:srgbClr val="2F5597"/>
                </a:solidFill>
                <a:latin typeface="맑은 고딕"/>
                <a:ea typeface="맑은 고딕"/>
              </a:rPr>
              <a:t>사용량 </a:t>
            </a:r>
            <a:r>
              <a:rPr lang="en-US" altLang="ko-KR" sz="1100" b="1" dirty="0">
                <a:solidFill>
                  <a:srgbClr val="2F5597"/>
                </a:solidFill>
                <a:latin typeface="맑은 고딕"/>
                <a:ea typeface="맑은 고딕"/>
              </a:rPr>
              <a:t>– </a:t>
            </a:r>
            <a:r>
              <a:rPr lang="ko-KR" altLang="en-US" sz="1100" b="1" dirty="0">
                <a:solidFill>
                  <a:srgbClr val="2F5597"/>
                </a:solidFill>
                <a:latin typeface="맑은 고딕"/>
                <a:ea typeface="맑은 고딕"/>
              </a:rPr>
              <a:t>후보 </a:t>
            </a:r>
            <a:r>
              <a:rPr lang="en-US" altLang="ko-KR" sz="1100" b="1" dirty="0">
                <a:solidFill>
                  <a:srgbClr val="2F5597"/>
                </a:solidFill>
                <a:latin typeface="맑은 고딕"/>
                <a:ea typeface="맑은 고딕"/>
              </a:rPr>
              <a:t>HBM </a:t>
            </a:r>
            <a:r>
              <a:rPr lang="ko-KR" altLang="en-US" sz="1100" b="1" dirty="0">
                <a:solidFill>
                  <a:srgbClr val="2F5597"/>
                </a:solidFill>
                <a:latin typeface="맑은 고딕"/>
                <a:ea typeface="맑은 고딕"/>
              </a:rPr>
              <a:t>사용량</a:t>
            </a:r>
            <a:r>
              <a:rPr lang="en-US" altLang="ko-KR" sz="1100" b="1" dirty="0">
                <a:solidFill>
                  <a:srgbClr val="2F5597"/>
                </a:solidFill>
                <a:latin typeface="맑은 고딕"/>
                <a:ea typeface="맑은 고딕"/>
              </a:rPr>
              <a:t>) ÷ Baseline HBM </a:t>
            </a:r>
            <a:r>
              <a:rPr lang="ko-KR" altLang="en-US" sz="1100" b="1" dirty="0">
                <a:solidFill>
                  <a:srgbClr val="2F5597"/>
                </a:solidFill>
                <a:latin typeface="맑은 고딕"/>
                <a:ea typeface="맑은 고딕"/>
              </a:rPr>
              <a:t>사용량</a:t>
            </a:r>
            <a:endParaRPr lang="en-US" altLang="ko-KR" sz="1100" b="1" dirty="0">
              <a:solidFill>
                <a:srgbClr val="2F5597"/>
              </a:solidFill>
              <a:latin typeface="맑은 고딕"/>
              <a:ea typeface="맑은 고딕"/>
            </a:endParaRPr>
          </a:p>
          <a:p>
            <a:pPr marL="171450" indent="-171450">
              <a:lnSpc>
                <a:spcPct val="150000"/>
              </a:lnSpc>
              <a:spcAft>
                <a:spcPts val="250"/>
              </a:spcAft>
              <a:buFontTx/>
              <a:buChar char="-"/>
            </a:pPr>
            <a:r>
              <a:rPr lang="en-US" altLang="ko-KR" sz="1100" dirty="0">
                <a:solidFill>
                  <a:srgbClr val="404040"/>
                </a:solidFill>
                <a:latin typeface="맑은 고딕"/>
                <a:ea typeface="맑은 고딕"/>
              </a:rPr>
              <a:t>HBM </a:t>
            </a:r>
            <a:r>
              <a:rPr lang="ko-KR" altLang="en-US" sz="1100" dirty="0">
                <a:solidFill>
                  <a:srgbClr val="404040"/>
                </a:solidFill>
                <a:latin typeface="맑은 고딕"/>
                <a:ea typeface="맑은 고딕"/>
              </a:rPr>
              <a:t>사용량 </a:t>
            </a:r>
            <a:r>
              <a:rPr lang="en-US" altLang="ko-KR" sz="1100" dirty="0">
                <a:solidFill>
                  <a:srgbClr val="404040"/>
                </a:solidFill>
                <a:latin typeface="맑은 고딕"/>
                <a:ea typeface="맑은 고딕"/>
              </a:rPr>
              <a:t>= HBM</a:t>
            </a:r>
            <a:r>
              <a:rPr lang="ko-KR" altLang="en-US" sz="1100" dirty="0">
                <a:solidFill>
                  <a:srgbClr val="404040"/>
                </a:solidFill>
                <a:latin typeface="맑은 고딕"/>
                <a:ea typeface="맑은 고딕"/>
              </a:rPr>
              <a:t>에 올라와 있는 </a:t>
            </a:r>
            <a:r>
              <a:rPr lang="en-US" altLang="ko-KR" sz="1100" dirty="0">
                <a:solidFill>
                  <a:srgbClr val="404040"/>
                </a:solidFill>
                <a:latin typeface="맑은 고딕"/>
                <a:ea typeface="맑은 고딕"/>
              </a:rPr>
              <a:t>KV </a:t>
            </a:r>
            <a:r>
              <a:rPr lang="ko-KR" altLang="en-US" sz="1100" dirty="0">
                <a:solidFill>
                  <a:srgbClr val="404040"/>
                </a:solidFill>
                <a:latin typeface="맑은 고딕"/>
                <a:ea typeface="맑은 고딕"/>
              </a:rPr>
              <a:t>크기의 시간 평균</a:t>
            </a:r>
            <a:r>
              <a:rPr lang="en-US" altLang="ko-KR" sz="1100" dirty="0">
                <a:solidFill>
                  <a:srgbClr val="404040"/>
                </a:solidFill>
                <a:latin typeface="맑은 고딕"/>
                <a:ea typeface="맑은 고딕"/>
              </a:rPr>
              <a:t> (</a:t>
            </a:r>
            <a:r>
              <a:rPr lang="ko-KR" altLang="en-US" sz="1100" dirty="0">
                <a:solidFill>
                  <a:srgbClr val="404040"/>
                </a:solidFill>
                <a:latin typeface="맑은 고딕"/>
                <a:ea typeface="맑은 고딕"/>
              </a:rPr>
              <a:t>같은 부하</a:t>
            </a:r>
            <a:r>
              <a:rPr lang="en-US" altLang="ko-KR" sz="1100" dirty="0">
                <a:solidFill>
                  <a:srgbClr val="404040"/>
                </a:solidFill>
                <a:latin typeface="맑은 고딕"/>
                <a:ea typeface="맑은 고딕"/>
              </a:rPr>
              <a:t> </a:t>
            </a:r>
            <a:r>
              <a:rPr lang="ko-KR" altLang="en-US" sz="1100" dirty="0">
                <a:solidFill>
                  <a:srgbClr val="404040"/>
                </a:solidFill>
                <a:latin typeface="맑은 고딕"/>
                <a:ea typeface="맑은 고딕"/>
              </a:rPr>
              <a:t>및 </a:t>
            </a:r>
            <a:r>
              <a:rPr lang="en-US" altLang="ko-KR" sz="1100" dirty="0">
                <a:solidFill>
                  <a:srgbClr val="404040"/>
                </a:solidFill>
                <a:latin typeface="맑은 고딕"/>
                <a:ea typeface="맑은 고딕"/>
              </a:rPr>
              <a:t>SLO </a:t>
            </a:r>
            <a:r>
              <a:rPr lang="ko-KR" altLang="en-US" sz="1100" dirty="0">
                <a:solidFill>
                  <a:srgbClr val="404040"/>
                </a:solidFill>
                <a:latin typeface="맑은 고딕"/>
                <a:ea typeface="맑은 고딕"/>
              </a:rPr>
              <a:t>기준</a:t>
            </a:r>
            <a:r>
              <a:rPr lang="en-US" altLang="ko-KR" sz="1100" dirty="0">
                <a:solidFill>
                  <a:srgbClr val="404040"/>
                </a:solidFill>
                <a:latin typeface="맑은 고딕"/>
                <a:ea typeface="맑은 고딕"/>
              </a:rPr>
              <a:t>)</a:t>
            </a:r>
          </a:p>
        </p:txBody>
      </p:sp>
      <p:sp>
        <p:nvSpPr>
          <p:cNvPr id="76" name="src">
            <a:extLst>
              <a:ext uri="{FF2B5EF4-FFF2-40B4-BE49-F238E27FC236}">
                <a16:creationId xmlns:a16="http://schemas.microsoft.com/office/drawing/2014/main" id="{BE23EF30-C88E-4105-87F9-5E79506D3832}"/>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[1]: </a:t>
            </a:r>
            <a:r>
              <a:rPr sz="750" b="0" dirty="0" err="1">
                <a:solidFill>
                  <a:srgbClr val="404040"/>
                </a:solidFill>
                <a:latin typeface="맑은 고딕"/>
                <a:ea typeface="맑은 고딕"/>
              </a:rPr>
              <a:t>DirectKV</a:t>
            </a:r>
            <a:r>
              <a:rPr sz="750" b="0" dirty="0">
                <a:solidFill>
                  <a:srgbClr val="404040"/>
                </a:solidFill>
                <a:latin typeface="맑은 고딕"/>
                <a:ea typeface="맑은 고딕"/>
              </a:rPr>
              <a:t> OSDI'26 · </a:t>
            </a:r>
            <a:r>
              <a:rPr sz="750" b="0" dirty="0" err="1">
                <a:solidFill>
                  <a:srgbClr val="404040"/>
                </a:solidFill>
                <a:latin typeface="맑은 고딕"/>
                <a:ea typeface="맑은 고딕"/>
              </a:rPr>
              <a:t>HeadInfer</a:t>
            </a:r>
            <a:r>
              <a:rPr sz="750" b="0" dirty="0">
                <a:solidFill>
                  <a:srgbClr val="404040"/>
                </a:solidFill>
                <a:latin typeface="맑은 고딕"/>
                <a:ea typeface="맑은 고딕"/>
              </a:rPr>
              <a:t> (</a:t>
            </a:r>
            <a:r>
              <a:rPr sz="750" b="0" dirty="0" err="1">
                <a:solidFill>
                  <a:srgbClr val="404040"/>
                </a:solidFill>
                <a:latin typeface="맑은 고딕"/>
                <a:ea typeface="맑은 고딕"/>
              </a:rPr>
              <a:t>arXiv</a:t>
            </a:r>
            <a:r>
              <a:rPr sz="750" b="0" dirty="0">
                <a:solidFill>
                  <a:srgbClr val="404040"/>
                </a:solidFill>
                <a:latin typeface="맑은 고딕"/>
                <a:ea typeface="맑은 고딕"/>
              </a:rPr>
              <a:t> 2502.12574,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요약</a:t>
            </a:r>
            <a:r>
              <a:rPr sz="750" b="0" dirty="0">
                <a:solidFill>
                  <a:srgbClr val="404040"/>
                </a:solidFill>
                <a:latin typeface="맑은 고딕"/>
                <a:ea typeface="맑은 고딕"/>
              </a:rPr>
              <a:t> </a:t>
            </a:r>
            <a:r>
              <a:rPr sz="750" b="0" dirty="0" err="1">
                <a:solidFill>
                  <a:srgbClr val="404040"/>
                </a:solidFill>
                <a:latin typeface="맑은 고딕"/>
                <a:ea typeface="맑은 고딕"/>
              </a:rPr>
              <a:t>기준</a:t>
            </a:r>
            <a:r>
              <a:rPr sz="750" b="0" dirty="0">
                <a:solidFill>
                  <a:srgbClr val="404040"/>
                </a:solidFill>
                <a:latin typeface="맑은 고딕"/>
                <a:ea typeface="맑은 고딕"/>
              </a:rPr>
              <a:t>) · </a:t>
            </a:r>
            <a:r>
              <a:rPr sz="750" b="0" dirty="0" err="1">
                <a:solidFill>
                  <a:srgbClr val="404040"/>
                </a:solidFill>
                <a:latin typeface="맑은 고딕"/>
                <a:ea typeface="맑은 고딕"/>
              </a:rPr>
              <a:t>ShadowKV</a:t>
            </a:r>
            <a:r>
              <a:rPr sz="750" b="0" dirty="0">
                <a:solidFill>
                  <a:srgbClr val="404040"/>
                </a:solidFill>
                <a:latin typeface="맑은 고딕"/>
                <a:ea typeface="맑은 고딕"/>
              </a:rPr>
              <a:t> ICML'25 (</a:t>
            </a:r>
            <a:r>
              <a:rPr sz="750" b="0" dirty="0" err="1">
                <a:solidFill>
                  <a:srgbClr val="404040"/>
                </a:solidFill>
                <a:latin typeface="맑은 고딕"/>
                <a:ea typeface="맑은 고딕"/>
              </a:rPr>
              <a:t>arXiv</a:t>
            </a:r>
            <a:r>
              <a:rPr sz="750" b="0" dirty="0">
                <a:solidFill>
                  <a:srgbClr val="404040"/>
                </a:solidFill>
                <a:latin typeface="맑은 고딕"/>
                <a:ea typeface="맑은 고딕"/>
              </a:rPr>
              <a:t> 2410.21465)</a:t>
            </a:r>
          </a:p>
        </p:txBody>
      </p:sp>
      <p:graphicFrame>
        <p:nvGraphicFramePr>
          <p:cNvPr id="77" name="tbl">
            <a:extLst>
              <a:ext uri="{FF2B5EF4-FFF2-40B4-BE49-F238E27FC236}">
                <a16:creationId xmlns:a16="http://schemas.microsoft.com/office/drawing/2014/main" id="{D29CDC49-CA75-4AE9-B14F-1B301CF55653}"/>
              </a:ext>
            </a:extLst>
          </p:cNvPr>
          <p:cNvGraphicFramePr>
            <a:graphicFrameLocks noGrp="1"/>
          </p:cNvGraphicFramePr>
          <p:nvPr>
            <p:extLst>
              <p:ext uri="{D42A27DB-BD31-4B8C-83A1-F6EECF244321}">
                <p14:modId xmlns:p14="http://schemas.microsoft.com/office/powerpoint/2010/main" val="795838472"/>
              </p:ext>
            </p:extLst>
          </p:nvPr>
        </p:nvGraphicFramePr>
        <p:xfrm>
          <a:off x="365760" y="1815707"/>
          <a:ext cx="11457432" cy="2281019"/>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30886">
                <a:tc>
                  <a:txBody>
                    <a:bodyPr/>
                    <a:lstStyle/>
                    <a:p>
                      <a:pPr algn="ctr"/>
                      <a:r>
                        <a:rPr sz="900" b="1" dirty="0">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기준</a:t>
                      </a:r>
                      <a:r>
                        <a:rPr sz="900" b="1" dirty="0">
                          <a:solidFill>
                            <a:srgbClr val="FFFFFF"/>
                          </a:solidFill>
                          <a:latin typeface="맑은 고딕"/>
                          <a:ea typeface="맑은 고딕"/>
                        </a:rPr>
                        <a:t> (</a:t>
                      </a:r>
                      <a:r>
                        <a:rPr sz="900" b="1" dirty="0" err="1">
                          <a:solidFill>
                            <a:srgbClr val="FFFFFF"/>
                          </a:solidFill>
                          <a:latin typeface="맑은 고딕"/>
                          <a:ea typeface="맑은 고딕"/>
                        </a:rPr>
                        <a:t>정량</a:t>
                      </a:r>
                      <a:r>
                        <a:rPr sz="9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근거</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출처</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68777">
                <a:tc>
                  <a:txBody>
                    <a:bodyPr/>
                    <a:lstStyle/>
                    <a:p>
                      <a:pPr algn="ctr">
                        <a:lnSpc>
                          <a:spcPct val="150000"/>
                        </a:lnSpc>
                      </a:pPr>
                      <a:r>
                        <a:rPr sz="80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50000"/>
                        </a:lnSpc>
                      </a:pPr>
                      <a:r>
                        <a:rPr sz="800" b="0" dirty="0" err="1">
                          <a:solidFill>
                            <a:srgbClr val="000000"/>
                          </a:solidFill>
                          <a:latin typeface="맑은 고딕"/>
                          <a:ea typeface="맑은 고딕"/>
                        </a:rPr>
                        <a:t>감소율</a:t>
                      </a:r>
                      <a:r>
                        <a:rPr sz="800" b="0" dirty="0">
                          <a:solidFill>
                            <a:srgbClr val="000000"/>
                          </a:solidFill>
                          <a:latin typeface="맑은 고딕"/>
                          <a:ea typeface="맑은 고딕"/>
                        </a:rPr>
                        <a:t> ≥ 60%</a:t>
                      </a:r>
                      <a:endParaRPr sz="700" b="0" dirty="0">
                        <a:solidFill>
                          <a:srgbClr val="595959"/>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50000"/>
                        </a:lnSpc>
                      </a:pPr>
                      <a:r>
                        <a:rPr lang="ko-KR" altLang="en-US" sz="800" b="1" dirty="0">
                          <a:solidFill>
                            <a:srgbClr val="000000"/>
                          </a:solidFill>
                          <a:latin typeface="+mn-lt"/>
                          <a:ea typeface="맑은 고딕"/>
                        </a:rPr>
                        <a:t>문헌 성능의 상한</a:t>
                      </a:r>
                      <a:r>
                        <a:rPr lang="en-US" altLang="ko-KR" sz="800" b="1" dirty="0">
                          <a:solidFill>
                            <a:srgbClr val="000000"/>
                          </a:solidFill>
                          <a:latin typeface="+mn-lt"/>
                          <a:ea typeface="맑은 고딕"/>
                        </a:rPr>
                        <a:t>: </a:t>
                      </a:r>
                      <a:r>
                        <a:rPr sz="800" b="1" dirty="0" err="1">
                          <a:solidFill>
                            <a:srgbClr val="000000"/>
                          </a:solidFill>
                          <a:latin typeface="맑은 고딕"/>
                          <a:ea typeface="맑은 고딕"/>
                        </a:rPr>
                        <a:t>이론</a:t>
                      </a:r>
                      <a:r>
                        <a:rPr sz="800" b="1" dirty="0">
                          <a:solidFill>
                            <a:srgbClr val="000000"/>
                          </a:solidFill>
                          <a:latin typeface="맑은 고딕"/>
                          <a:ea typeface="맑은 고딕"/>
                        </a:rPr>
                        <a:t> </a:t>
                      </a:r>
                      <a:r>
                        <a:rPr sz="800" b="1" dirty="0" err="1">
                          <a:solidFill>
                            <a:srgbClr val="000000"/>
                          </a:solidFill>
                          <a:latin typeface="맑은 고딕"/>
                          <a:ea typeface="맑은 고딕"/>
                        </a:rPr>
                        <a:t>상한</a:t>
                      </a:r>
                      <a:r>
                        <a:rPr sz="800" b="1" dirty="0">
                          <a:solidFill>
                            <a:srgbClr val="000000"/>
                          </a:solidFill>
                          <a:latin typeface="맑은 고딕"/>
                          <a:ea typeface="맑은 고딕"/>
                        </a:rPr>
                        <a:t>(≈88%)과 </a:t>
                      </a:r>
                      <a:r>
                        <a:rPr sz="800" b="1" dirty="0" err="1">
                          <a:solidFill>
                            <a:srgbClr val="000000"/>
                          </a:solidFill>
                          <a:latin typeface="맑은 고딕"/>
                          <a:ea typeface="맑은 고딕"/>
                        </a:rPr>
                        <a:t>HeadInfer</a:t>
                      </a:r>
                      <a:r>
                        <a:rPr sz="800" b="1" dirty="0">
                          <a:solidFill>
                            <a:srgbClr val="000000"/>
                          </a:solidFill>
                          <a:latin typeface="맑은 고딕"/>
                          <a:ea typeface="맑은 고딕"/>
                        </a:rPr>
                        <a:t> 92%(1M </a:t>
                      </a:r>
                      <a:r>
                        <a:rPr sz="800" b="1" dirty="0" err="1">
                          <a:solidFill>
                            <a:srgbClr val="000000"/>
                          </a:solidFill>
                          <a:latin typeface="맑은 고딕"/>
                          <a:ea typeface="맑은 고딕"/>
                        </a:rPr>
                        <a:t>ctx</a:t>
                      </a:r>
                      <a:r>
                        <a:rPr sz="800" b="1" dirty="0">
                          <a:solidFill>
                            <a:srgbClr val="000000"/>
                          </a:solidFill>
                          <a:latin typeface="맑은 고딕"/>
                          <a:ea typeface="맑은 고딕"/>
                        </a:rPr>
                        <a:t> </a:t>
                      </a:r>
                      <a:r>
                        <a:rPr sz="800" b="1" dirty="0" err="1">
                          <a:solidFill>
                            <a:srgbClr val="000000"/>
                          </a:solidFill>
                          <a:latin typeface="맑은 고딕"/>
                          <a:ea typeface="맑은 고딕"/>
                        </a:rPr>
                        <a:t>극단</a:t>
                      </a:r>
                      <a:r>
                        <a:rPr sz="800" b="1" dirty="0">
                          <a:solidFill>
                            <a:srgbClr val="000000"/>
                          </a:solidFill>
                          <a:latin typeface="맑은 고딕"/>
                          <a:ea typeface="맑은 고딕"/>
                        </a:rPr>
                        <a:t>)</a:t>
                      </a:r>
                      <a:r>
                        <a:rPr sz="800" b="1" dirty="0" err="1">
                          <a:solidFill>
                            <a:srgbClr val="000000"/>
                          </a:solidFill>
                          <a:latin typeface="맑은 고딕"/>
                          <a:ea typeface="맑은 고딕"/>
                        </a:rPr>
                        <a:t>보다</a:t>
                      </a:r>
                      <a:r>
                        <a:rPr sz="800" b="1" dirty="0">
                          <a:solidFill>
                            <a:srgbClr val="000000"/>
                          </a:solidFill>
                          <a:latin typeface="맑은 고딕"/>
                          <a:ea typeface="맑은 고딕"/>
                        </a:rPr>
                        <a:t> </a:t>
                      </a:r>
                      <a:r>
                        <a:rPr sz="800" b="1" dirty="0" err="1">
                          <a:solidFill>
                            <a:srgbClr val="000000"/>
                          </a:solidFill>
                          <a:latin typeface="맑은 고딕"/>
                          <a:ea typeface="맑은 고딕"/>
                        </a:rPr>
                        <a:t>보수적</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50000"/>
                        </a:lnSpc>
                      </a:pPr>
                      <a:r>
                        <a:rPr sz="800" b="0">
                          <a:solidFill>
                            <a:srgbClr val="000000"/>
                          </a:solidFill>
                          <a:latin typeface="맑은 고딕"/>
                          <a:ea typeface="맑은 고딕"/>
                        </a:rPr>
                        <a:t>DirectKV, HeadInfer [1], 이론 계산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17469">
                <a:tc>
                  <a:txBody>
                    <a:bodyPr/>
                    <a:lstStyle/>
                    <a:p>
                      <a:pPr algn="ctr">
                        <a:lnSpc>
                          <a:spcPct val="150000"/>
                        </a:lnSpc>
                      </a:pPr>
                      <a:r>
                        <a:rPr sz="80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50000"/>
                        </a:lnSpc>
                      </a:pPr>
                      <a:r>
                        <a:rPr sz="800" b="0" dirty="0">
                          <a:solidFill>
                            <a:srgbClr val="000000"/>
                          </a:solidFill>
                          <a:latin typeface="맑은 고딕"/>
                          <a:ea typeface="맑은 고딕"/>
                        </a:rPr>
                        <a:t>50 ≤ </a:t>
                      </a:r>
                      <a:r>
                        <a:rPr sz="800" b="0" dirty="0" err="1">
                          <a:solidFill>
                            <a:srgbClr val="000000"/>
                          </a:solidFill>
                          <a:latin typeface="맑은 고딕"/>
                          <a:ea typeface="맑은 고딕"/>
                        </a:rPr>
                        <a:t>감소율</a:t>
                      </a:r>
                      <a:r>
                        <a:rPr sz="800" b="0" dirty="0">
                          <a:solidFill>
                            <a:srgbClr val="000000"/>
                          </a:solidFill>
                          <a:latin typeface="맑은 고딕"/>
                          <a:ea typeface="맑은 고딕"/>
                        </a:rPr>
                        <a:t> &lt; 60%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50000"/>
                        </a:lnSpc>
                      </a:pPr>
                      <a:r>
                        <a:rPr sz="800" b="0" dirty="0">
                          <a:solidFill>
                            <a:srgbClr val="000000"/>
                          </a:solidFill>
                          <a:latin typeface="맑은 고딕"/>
                          <a:ea typeface="맑은 고딕"/>
                        </a:rPr>
                        <a:t>★2와 ★3의 </a:t>
                      </a:r>
                      <a:r>
                        <a:rPr sz="800" b="0" dirty="0" err="1">
                          <a:solidFill>
                            <a:srgbClr val="000000"/>
                          </a:solidFill>
                          <a:latin typeface="맑은 고딕"/>
                          <a:ea typeface="맑은 고딕"/>
                        </a:rPr>
                        <a:t>중점</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50000"/>
                        </a:lnSpc>
                      </a:pPr>
                      <a:r>
                        <a:rPr sz="8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410747">
                <a:tc>
                  <a:txBody>
                    <a:bodyPr/>
                    <a:lstStyle/>
                    <a:p>
                      <a:pPr algn="ctr">
                        <a:lnSpc>
                          <a:spcPct val="150000"/>
                        </a:lnSpc>
                      </a:pPr>
                      <a:r>
                        <a:rPr sz="80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50000"/>
                        </a:lnSpc>
                      </a:pPr>
                      <a:r>
                        <a:rPr sz="800" b="0" dirty="0">
                          <a:solidFill>
                            <a:srgbClr val="000000"/>
                          </a:solidFill>
                          <a:latin typeface="맑은 고딕"/>
                          <a:ea typeface="맑은 고딕"/>
                        </a:rPr>
                        <a:t>40 ≤ </a:t>
                      </a:r>
                      <a:r>
                        <a:rPr sz="800" b="0" dirty="0" err="1">
                          <a:solidFill>
                            <a:srgbClr val="000000"/>
                          </a:solidFill>
                          <a:latin typeface="맑은 고딕"/>
                          <a:ea typeface="맑은 고딕"/>
                        </a:rPr>
                        <a:t>감소율</a:t>
                      </a:r>
                      <a:r>
                        <a:rPr sz="800" b="0" dirty="0">
                          <a:solidFill>
                            <a:srgbClr val="000000"/>
                          </a:solidFill>
                          <a:latin typeface="맑은 고딕"/>
                          <a:ea typeface="맑은 고딕"/>
                        </a:rPr>
                        <a:t> &lt; 50%</a:t>
                      </a:r>
                      <a:endParaRPr sz="700" b="0" dirty="0">
                        <a:solidFill>
                          <a:srgbClr val="595959"/>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50000"/>
                        </a:lnSpc>
                      </a:pPr>
                      <a:r>
                        <a:rPr sz="800" b="1" dirty="0" err="1">
                          <a:solidFill>
                            <a:srgbClr val="000000"/>
                          </a:solidFill>
                          <a:latin typeface="맑은 고딕"/>
                          <a:ea typeface="맑은 고딕"/>
                        </a:rPr>
                        <a:t>경쟁</a:t>
                      </a:r>
                      <a:r>
                        <a:rPr sz="800" b="1" dirty="0">
                          <a:solidFill>
                            <a:srgbClr val="000000"/>
                          </a:solidFill>
                          <a:latin typeface="맑은 고딕"/>
                          <a:ea typeface="맑은 고딕"/>
                        </a:rPr>
                        <a:t> </a:t>
                      </a:r>
                      <a:r>
                        <a:rPr sz="800" b="1" dirty="0" err="1">
                          <a:solidFill>
                            <a:srgbClr val="000000"/>
                          </a:solidFill>
                          <a:latin typeface="맑은 고딕"/>
                          <a:ea typeface="맑은 고딕"/>
                        </a:rPr>
                        <a:t>기술</a:t>
                      </a:r>
                      <a:r>
                        <a:rPr sz="800" b="1" dirty="0">
                          <a:solidFill>
                            <a:srgbClr val="000000"/>
                          </a:solidFill>
                          <a:latin typeface="맑은 고딕"/>
                          <a:ea typeface="맑은 고딕"/>
                        </a:rPr>
                        <a:t>(</a:t>
                      </a:r>
                      <a:r>
                        <a:rPr sz="800" b="1" dirty="0" err="1">
                          <a:solidFill>
                            <a:srgbClr val="000000"/>
                          </a:solidFill>
                          <a:latin typeface="맑은 고딕"/>
                          <a:ea typeface="맑은 고딕"/>
                        </a:rPr>
                        <a:t>오프로딩</a:t>
                      </a:r>
                      <a:r>
                        <a:rPr sz="800" b="1" dirty="0">
                          <a:solidFill>
                            <a:srgbClr val="000000"/>
                          </a:solidFill>
                          <a:latin typeface="맑은 고딕"/>
                          <a:ea typeface="맑은 고딕"/>
                        </a:rPr>
                        <a:t> </a:t>
                      </a:r>
                      <a:r>
                        <a:rPr sz="800" b="1" dirty="0" err="1">
                          <a:solidFill>
                            <a:srgbClr val="000000"/>
                          </a:solidFill>
                          <a:latin typeface="맑은 고딕"/>
                          <a:ea typeface="맑은 고딕"/>
                        </a:rPr>
                        <a:t>계열</a:t>
                      </a:r>
                      <a:r>
                        <a:rPr sz="800" b="1" dirty="0">
                          <a:solidFill>
                            <a:srgbClr val="000000"/>
                          </a:solidFill>
                          <a:latin typeface="맑은 고딕"/>
                          <a:ea typeface="맑은 고딕"/>
                        </a:rPr>
                        <a:t>) </a:t>
                      </a:r>
                      <a:r>
                        <a:rPr sz="800" b="1" dirty="0" err="1">
                          <a:solidFill>
                            <a:srgbClr val="000000"/>
                          </a:solidFill>
                          <a:latin typeface="맑은 고딕"/>
                          <a:ea typeface="맑은 고딕"/>
                        </a:rPr>
                        <a:t>수준</a:t>
                      </a:r>
                      <a:r>
                        <a:rPr sz="800" b="1" dirty="0">
                          <a:solidFill>
                            <a:srgbClr val="000000"/>
                          </a:solidFill>
                          <a:latin typeface="맑은 고딕"/>
                          <a:ea typeface="맑은 고딕"/>
                        </a:rPr>
                        <a:t>: </a:t>
                      </a:r>
                      <a:endParaRPr lang="en-US" sz="800" b="1" dirty="0">
                        <a:solidFill>
                          <a:srgbClr val="000000"/>
                        </a:solidFill>
                        <a:latin typeface="맑은 고딕"/>
                        <a:ea typeface="맑은 고딕"/>
                      </a:endParaRPr>
                    </a:p>
                    <a:p>
                      <a:pPr algn="l">
                        <a:lnSpc>
                          <a:spcPct val="150000"/>
                        </a:lnSpc>
                      </a:pPr>
                      <a:r>
                        <a:rPr sz="800" b="1" dirty="0" err="1">
                          <a:solidFill>
                            <a:srgbClr val="000000"/>
                          </a:solidFill>
                          <a:latin typeface="맑은 고딕"/>
                          <a:ea typeface="맑은 고딕"/>
                        </a:rPr>
                        <a:t>DirectKV는</a:t>
                      </a:r>
                      <a:r>
                        <a:rPr sz="800" b="1" dirty="0">
                          <a:solidFill>
                            <a:srgbClr val="000000"/>
                          </a:solidFill>
                          <a:latin typeface="맑은 고딕"/>
                          <a:ea typeface="맑은 고딕"/>
                        </a:rPr>
                        <a:t> CPU </a:t>
                      </a:r>
                      <a:r>
                        <a:rPr sz="800" b="1" dirty="0" err="1">
                          <a:solidFill>
                            <a:srgbClr val="000000"/>
                          </a:solidFill>
                          <a:latin typeface="맑은 고딕"/>
                          <a:ea typeface="맑은 고딕"/>
                        </a:rPr>
                        <a:t>메모리</a:t>
                      </a:r>
                      <a:r>
                        <a:rPr sz="800" b="1" dirty="0">
                          <a:solidFill>
                            <a:srgbClr val="000000"/>
                          </a:solidFill>
                          <a:latin typeface="맑은 고딕"/>
                          <a:ea typeface="맑은 고딕"/>
                        </a:rPr>
                        <a:t> </a:t>
                      </a:r>
                      <a:r>
                        <a:rPr sz="800" b="1" dirty="0" err="1">
                          <a:solidFill>
                            <a:srgbClr val="000000"/>
                          </a:solidFill>
                          <a:latin typeface="맑은 고딕"/>
                          <a:ea typeface="맑은 고딕"/>
                        </a:rPr>
                        <a:t>직접</a:t>
                      </a:r>
                      <a:r>
                        <a:rPr sz="800" b="1" dirty="0">
                          <a:solidFill>
                            <a:srgbClr val="000000"/>
                          </a:solidFill>
                          <a:latin typeface="맑은 고딕"/>
                          <a:ea typeface="맑은 고딕"/>
                        </a:rPr>
                        <a:t> </a:t>
                      </a:r>
                      <a:r>
                        <a:rPr sz="800" b="1" dirty="0" err="1">
                          <a:solidFill>
                            <a:srgbClr val="000000"/>
                          </a:solidFill>
                          <a:latin typeface="맑은 고딕"/>
                          <a:ea typeface="맑은 고딕"/>
                        </a:rPr>
                        <a:t>접근으로</a:t>
                      </a:r>
                      <a:r>
                        <a:rPr sz="800" b="1" dirty="0">
                          <a:solidFill>
                            <a:srgbClr val="000000"/>
                          </a:solidFill>
                          <a:latin typeface="맑은 고딕"/>
                          <a:ea typeface="맑은 고딕"/>
                        </a:rPr>
                        <a:t> GPU </a:t>
                      </a:r>
                      <a:r>
                        <a:rPr sz="800" b="1" dirty="0" err="1">
                          <a:solidFill>
                            <a:srgbClr val="000000"/>
                          </a:solidFill>
                          <a:latin typeface="맑은 고딕"/>
                          <a:ea typeface="맑은 고딕"/>
                        </a:rPr>
                        <a:t>메모리</a:t>
                      </a:r>
                      <a:r>
                        <a:rPr sz="800" b="1" dirty="0">
                          <a:solidFill>
                            <a:srgbClr val="000000"/>
                          </a:solidFill>
                          <a:latin typeface="맑은 고딕"/>
                          <a:ea typeface="맑은 고딕"/>
                        </a:rPr>
                        <a:t> 43% </a:t>
                      </a:r>
                      <a:r>
                        <a:rPr sz="800" b="1" dirty="0" err="1">
                          <a:solidFill>
                            <a:srgbClr val="000000"/>
                          </a:solidFill>
                          <a:latin typeface="맑은 고딕"/>
                          <a:ea typeface="맑은 고딕"/>
                        </a:rPr>
                        <a:t>감소</a:t>
                      </a:r>
                      <a:r>
                        <a:rPr sz="800" b="1" dirty="0">
                          <a:solidFill>
                            <a:srgbClr val="000000"/>
                          </a:solidFill>
                          <a:latin typeface="맑은 고딕"/>
                          <a:ea typeface="맑은 고딕"/>
                        </a:rPr>
                        <a:t>(GH200). '</a:t>
                      </a:r>
                      <a:r>
                        <a:rPr sz="800" b="1" dirty="0" err="1">
                          <a:solidFill>
                            <a:srgbClr val="000000"/>
                          </a:solidFill>
                          <a:latin typeface="맑은 고딕"/>
                          <a:ea typeface="맑은 고딕"/>
                        </a:rPr>
                        <a:t>배치·오프로딩</a:t>
                      </a:r>
                      <a:r>
                        <a:rPr sz="800" b="1" dirty="0">
                          <a:solidFill>
                            <a:srgbClr val="000000"/>
                          </a:solidFill>
                          <a:latin typeface="맑은 고딕"/>
                          <a:ea typeface="맑은 고딕"/>
                        </a:rPr>
                        <a:t> </a:t>
                      </a:r>
                      <a:r>
                        <a:rPr sz="800" b="1" dirty="0" err="1">
                          <a:solidFill>
                            <a:srgbClr val="000000"/>
                          </a:solidFill>
                          <a:latin typeface="맑은 고딕"/>
                          <a:ea typeface="맑은 고딕"/>
                        </a:rPr>
                        <a:t>계열</a:t>
                      </a:r>
                      <a:r>
                        <a:rPr sz="800" b="1" dirty="0">
                          <a:solidFill>
                            <a:srgbClr val="000000"/>
                          </a:solidFill>
                          <a:latin typeface="맑은 고딕"/>
                          <a:ea typeface="맑은 고딕"/>
                        </a:rPr>
                        <a:t> 40~80%'의 </a:t>
                      </a:r>
                      <a:r>
                        <a:rPr sz="800" b="1" dirty="0" err="1">
                          <a:solidFill>
                            <a:srgbClr val="000000"/>
                          </a:solidFill>
                          <a:latin typeface="맑은 고딕"/>
                          <a:ea typeface="맑은 고딕"/>
                        </a:rPr>
                        <a:t>하한</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50000"/>
                        </a:lnSpc>
                      </a:pPr>
                      <a:r>
                        <a:rPr sz="800" b="0">
                          <a:solidFill>
                            <a:srgbClr val="000000"/>
                          </a:solidFill>
                          <a:latin typeface="맑은 고딕"/>
                          <a:ea typeface="맑은 고딕"/>
                        </a:rPr>
                        <a:t>DirectKV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17469">
                <a:tc>
                  <a:txBody>
                    <a:bodyPr/>
                    <a:lstStyle/>
                    <a:p>
                      <a:pPr algn="ctr">
                        <a:lnSpc>
                          <a:spcPct val="150000"/>
                        </a:lnSpc>
                      </a:pPr>
                      <a:r>
                        <a:rPr sz="80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50000"/>
                        </a:lnSpc>
                      </a:pPr>
                      <a:r>
                        <a:rPr sz="800" b="0" dirty="0">
                          <a:solidFill>
                            <a:srgbClr val="000000"/>
                          </a:solidFill>
                          <a:latin typeface="맑은 고딕"/>
                          <a:ea typeface="맑은 고딕"/>
                        </a:rPr>
                        <a:t>30 ≤ </a:t>
                      </a:r>
                      <a:r>
                        <a:rPr sz="800" b="0" dirty="0" err="1">
                          <a:solidFill>
                            <a:srgbClr val="000000"/>
                          </a:solidFill>
                          <a:latin typeface="맑은 고딕"/>
                          <a:ea typeface="맑은 고딕"/>
                        </a:rPr>
                        <a:t>감소율</a:t>
                      </a:r>
                      <a:r>
                        <a:rPr sz="800" b="0" dirty="0">
                          <a:solidFill>
                            <a:srgbClr val="000000"/>
                          </a:solidFill>
                          <a:latin typeface="맑은 고딕"/>
                          <a:ea typeface="맑은 고딕"/>
                        </a:rPr>
                        <a:t> &lt; 40%</a:t>
                      </a:r>
                      <a:endParaRPr sz="700" b="0" dirty="0">
                        <a:solidFill>
                          <a:srgbClr val="595959"/>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50000"/>
                        </a:lnSpc>
                      </a:pPr>
                      <a:r>
                        <a:rPr sz="800" b="0" dirty="0">
                          <a:solidFill>
                            <a:srgbClr val="000000"/>
                          </a:solidFill>
                          <a:latin typeface="맑은 고딕"/>
                          <a:ea typeface="맑은 고딕"/>
                        </a:rPr>
                        <a:t>★1과 ★2의 </a:t>
                      </a:r>
                      <a:r>
                        <a:rPr sz="800" b="0" dirty="0" err="1">
                          <a:solidFill>
                            <a:srgbClr val="000000"/>
                          </a:solidFill>
                          <a:latin typeface="맑은 고딕"/>
                          <a:ea typeface="맑은 고딕"/>
                        </a:rPr>
                        <a:t>중점</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50000"/>
                        </a:lnSpc>
                      </a:pPr>
                      <a:r>
                        <a:rPr sz="8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17469">
                <a:tc>
                  <a:txBody>
                    <a:bodyPr/>
                    <a:lstStyle/>
                    <a:p>
                      <a:pPr algn="ctr">
                        <a:lnSpc>
                          <a:spcPct val="150000"/>
                        </a:lnSpc>
                      </a:pPr>
                      <a:r>
                        <a:rPr sz="80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50000"/>
                        </a:lnSpc>
                      </a:pPr>
                      <a:r>
                        <a:rPr sz="800" b="0" dirty="0">
                          <a:solidFill>
                            <a:srgbClr val="000000"/>
                          </a:solidFill>
                          <a:latin typeface="맑은 고딕"/>
                          <a:ea typeface="맑은 고딕"/>
                        </a:rPr>
                        <a:t>20 ≤ </a:t>
                      </a:r>
                      <a:r>
                        <a:rPr sz="800" b="0" dirty="0" err="1">
                          <a:solidFill>
                            <a:srgbClr val="000000"/>
                          </a:solidFill>
                          <a:latin typeface="맑은 고딕"/>
                          <a:ea typeface="맑은 고딕"/>
                        </a:rPr>
                        <a:t>감소율</a:t>
                      </a:r>
                      <a:r>
                        <a:rPr sz="800" b="0" dirty="0">
                          <a:solidFill>
                            <a:srgbClr val="000000"/>
                          </a:solidFill>
                          <a:latin typeface="맑은 고딕"/>
                          <a:ea typeface="맑은 고딕"/>
                        </a:rPr>
                        <a:t> &lt; 30%</a:t>
                      </a:r>
                      <a:endParaRPr sz="700" b="0" dirty="0">
                        <a:solidFill>
                          <a:srgbClr val="595959"/>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50000"/>
                        </a:lnSpc>
                      </a:pPr>
                      <a:r>
                        <a:rPr lang="en-US" sz="800" b="1" dirty="0">
                          <a:solidFill>
                            <a:srgbClr val="000000"/>
                          </a:solidFill>
                          <a:latin typeface="맑은 고딕"/>
                          <a:ea typeface="맑은 고딕"/>
                        </a:rPr>
                        <a:t>Stakeholder(</a:t>
                      </a:r>
                      <a:r>
                        <a:rPr lang="ko-KR" altLang="en-US" sz="800" b="1" dirty="0">
                          <a:solidFill>
                            <a:srgbClr val="000000"/>
                          </a:solidFill>
                          <a:latin typeface="맑은 고딕"/>
                          <a:ea typeface="맑은 고딕"/>
                        </a:rPr>
                        <a:t>시스템 연구팀</a:t>
                      </a:r>
                      <a:r>
                        <a:rPr lang="en-US" altLang="ko-KR" sz="800" b="1" dirty="0">
                          <a:solidFill>
                            <a:srgbClr val="000000"/>
                          </a:solidFill>
                          <a:latin typeface="맑은 고딕"/>
                          <a:ea typeface="맑은 고딕"/>
                        </a:rPr>
                        <a:t>)</a:t>
                      </a:r>
                      <a:r>
                        <a:rPr lang="ko-KR" altLang="en-US" sz="800" b="1" dirty="0">
                          <a:solidFill>
                            <a:srgbClr val="000000"/>
                          </a:solidFill>
                          <a:latin typeface="맑은 고딕"/>
                          <a:ea typeface="맑은 고딕"/>
                        </a:rPr>
                        <a:t>의 요구사항</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50000"/>
                        </a:lnSpc>
                      </a:pPr>
                      <a:r>
                        <a:rPr sz="800" b="0" dirty="0" err="1">
                          <a:solidFill>
                            <a:srgbClr val="000000"/>
                          </a:solidFill>
                          <a:latin typeface="맑은 고딕"/>
                          <a:ea typeface="맑은 고딕"/>
                        </a:rPr>
                        <a:t>시나리오</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17469">
                <a:tc>
                  <a:txBody>
                    <a:bodyPr/>
                    <a:lstStyle/>
                    <a:p>
                      <a:pPr algn="ctr">
                        <a:lnSpc>
                          <a:spcPct val="150000"/>
                        </a:lnSpc>
                      </a:pPr>
                      <a:r>
                        <a:rPr sz="80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50000"/>
                        </a:lnSpc>
                      </a:pPr>
                      <a:r>
                        <a:rPr sz="800" b="0" dirty="0" err="1">
                          <a:solidFill>
                            <a:srgbClr val="000000"/>
                          </a:solidFill>
                          <a:latin typeface="맑은 고딕"/>
                          <a:ea typeface="맑은 고딕"/>
                        </a:rPr>
                        <a:t>감소율</a:t>
                      </a:r>
                      <a:r>
                        <a:rPr sz="800" b="0" dirty="0">
                          <a:solidFill>
                            <a:srgbClr val="000000"/>
                          </a:solidFill>
                          <a:latin typeface="맑은 고딕"/>
                          <a:ea typeface="맑은 고딕"/>
                        </a:rPr>
                        <a:t> &lt; 20%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50000"/>
                        </a:lnSpc>
                      </a:pPr>
                      <a:r>
                        <a:rPr sz="800" b="0" dirty="0" err="1">
                          <a:solidFill>
                            <a:srgbClr val="000000"/>
                          </a:solidFill>
                          <a:latin typeface="맑은 고딕"/>
                          <a:ea typeface="맑은 고딕"/>
                        </a:rPr>
                        <a:t>시나리오</a:t>
                      </a:r>
                      <a:r>
                        <a:rPr sz="800" b="0" dirty="0">
                          <a:solidFill>
                            <a:srgbClr val="000000"/>
                          </a:solidFill>
                          <a:latin typeface="맑은 고딕"/>
                          <a:ea typeface="맑은 고딕"/>
                        </a:rPr>
                        <a:t> </a:t>
                      </a:r>
                      <a:r>
                        <a:rPr sz="800" b="0" dirty="0" err="1">
                          <a:solidFill>
                            <a:srgbClr val="000000"/>
                          </a:solidFill>
                          <a:latin typeface="맑은 고딕"/>
                          <a:ea typeface="맑은 고딕"/>
                        </a:rPr>
                        <a:t>요구</a:t>
                      </a:r>
                      <a:r>
                        <a:rPr sz="800" b="0" dirty="0">
                          <a:solidFill>
                            <a:srgbClr val="000000"/>
                          </a:solidFill>
                          <a:latin typeface="맑은 고딕"/>
                          <a:ea typeface="맑은 고딕"/>
                        </a:rPr>
                        <a:t>(20%) </a:t>
                      </a:r>
                      <a:r>
                        <a:rPr sz="800" b="0" dirty="0" err="1">
                          <a:solidFill>
                            <a:srgbClr val="000000"/>
                          </a:solidFill>
                          <a:latin typeface="맑은 고딕"/>
                          <a:ea typeface="맑은 고딕"/>
                        </a:rPr>
                        <a:t>미충족</a:t>
                      </a:r>
                      <a:r>
                        <a:rPr sz="800" b="0" dirty="0">
                          <a:solidFill>
                            <a:srgbClr val="000000"/>
                          </a:solidFill>
                          <a:latin typeface="맑은 고딕"/>
                          <a:ea typeface="맑은 고딕"/>
                        </a:rPr>
                        <a:t>. </a:t>
                      </a:r>
                      <a:r>
                        <a:rPr sz="800" b="0" dirty="0" err="1">
                          <a:solidFill>
                            <a:srgbClr val="000000"/>
                          </a:solidFill>
                          <a:latin typeface="맑은 고딕"/>
                          <a:ea typeface="맑은 고딕"/>
                        </a:rPr>
                        <a:t>음수는</a:t>
                      </a:r>
                      <a:r>
                        <a:rPr sz="800" b="0" dirty="0">
                          <a:solidFill>
                            <a:srgbClr val="000000"/>
                          </a:solidFill>
                          <a:latin typeface="맑은 고딕"/>
                          <a:ea typeface="맑은 고딕"/>
                        </a:rPr>
                        <a:t> </a:t>
                      </a:r>
                      <a:r>
                        <a:rPr sz="800" b="0" dirty="0" err="1">
                          <a:solidFill>
                            <a:srgbClr val="000000"/>
                          </a:solidFill>
                          <a:latin typeface="맑은 고딕"/>
                          <a:ea typeface="맑은 고딕"/>
                        </a:rPr>
                        <a:t>후보가</a:t>
                      </a:r>
                      <a:r>
                        <a:rPr sz="800" b="0" dirty="0">
                          <a:solidFill>
                            <a:srgbClr val="000000"/>
                          </a:solidFill>
                          <a:latin typeface="맑은 고딕"/>
                          <a:ea typeface="맑은 고딕"/>
                        </a:rPr>
                        <a:t> </a:t>
                      </a:r>
                      <a:r>
                        <a:rPr sz="800" b="0" dirty="0" err="1">
                          <a:solidFill>
                            <a:srgbClr val="000000"/>
                          </a:solidFill>
                          <a:latin typeface="맑은 고딕"/>
                          <a:ea typeface="맑은 고딕"/>
                        </a:rPr>
                        <a:t>HBM을</a:t>
                      </a:r>
                      <a:r>
                        <a:rPr sz="800" b="0" dirty="0">
                          <a:solidFill>
                            <a:srgbClr val="000000"/>
                          </a:solidFill>
                          <a:latin typeface="맑은 고딕"/>
                          <a:ea typeface="맑은 고딕"/>
                        </a:rPr>
                        <a:t> 더 쓴 </a:t>
                      </a:r>
                      <a:r>
                        <a:rPr sz="800" b="0" dirty="0" err="1">
                          <a:solidFill>
                            <a:srgbClr val="000000"/>
                          </a:solidFill>
                          <a:latin typeface="맑은 고딕"/>
                          <a:ea typeface="맑은 고딕"/>
                        </a:rPr>
                        <a:t>경우</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50000"/>
                        </a:lnSpc>
                      </a:pPr>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8" name="TextBox 77">
            <a:extLst>
              <a:ext uri="{FF2B5EF4-FFF2-40B4-BE49-F238E27FC236}">
                <a16:creationId xmlns:a16="http://schemas.microsoft.com/office/drawing/2014/main" id="{385DF078-5655-4B6F-A47F-5FCE9019AB8B}"/>
              </a:ext>
            </a:extLst>
          </p:cNvPr>
          <p:cNvSpPr txBox="1"/>
          <p:nvPr/>
        </p:nvSpPr>
        <p:spPr>
          <a:xfrm>
            <a:off x="4434840" y="4306824"/>
            <a:ext cx="740664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(HBM 감소율 %, GPU-only 대비)</a:t>
            </a:r>
          </a:p>
        </p:txBody>
      </p:sp>
      <p:sp>
        <p:nvSpPr>
          <p:cNvPr id="79" name="Rectangle 17">
            <a:extLst>
              <a:ext uri="{FF2B5EF4-FFF2-40B4-BE49-F238E27FC236}">
                <a16:creationId xmlns:a16="http://schemas.microsoft.com/office/drawing/2014/main" id="{D0A36010-F858-4669-B308-32A787664003}"/>
              </a:ext>
            </a:extLst>
          </p:cNvPr>
          <p:cNvSpPr/>
          <p:nvPr/>
        </p:nvSpPr>
        <p:spPr>
          <a:xfrm>
            <a:off x="4480559" y="4544568"/>
            <a:ext cx="1463040"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354BE8C6-30FF-4702-928B-E5A00ADAC752}"/>
              </a:ext>
            </a:extLst>
          </p:cNvPr>
          <p:cNvSpPr txBox="1"/>
          <p:nvPr/>
        </p:nvSpPr>
        <p:spPr>
          <a:xfrm>
            <a:off x="4480559" y="4544568"/>
            <a:ext cx="146304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81" name="Rectangle 19">
            <a:extLst>
              <a:ext uri="{FF2B5EF4-FFF2-40B4-BE49-F238E27FC236}">
                <a16:creationId xmlns:a16="http://schemas.microsoft.com/office/drawing/2014/main" id="{A86E6FDE-6225-49A9-834D-383A90C55593}"/>
              </a:ext>
            </a:extLst>
          </p:cNvPr>
          <p:cNvSpPr/>
          <p:nvPr/>
        </p:nvSpPr>
        <p:spPr>
          <a:xfrm>
            <a:off x="5943600" y="4544568"/>
            <a:ext cx="731519"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a:extLst>
              <a:ext uri="{FF2B5EF4-FFF2-40B4-BE49-F238E27FC236}">
                <a16:creationId xmlns:a16="http://schemas.microsoft.com/office/drawing/2014/main" id="{38050CDB-8DBA-451E-B39F-FCF7E2E31F8C}"/>
              </a:ext>
            </a:extLst>
          </p:cNvPr>
          <p:cNvSpPr txBox="1"/>
          <p:nvPr/>
        </p:nvSpPr>
        <p:spPr>
          <a:xfrm>
            <a:off x="5943600" y="4544568"/>
            <a:ext cx="73151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83" name="Rectangle 21">
            <a:extLst>
              <a:ext uri="{FF2B5EF4-FFF2-40B4-BE49-F238E27FC236}">
                <a16:creationId xmlns:a16="http://schemas.microsoft.com/office/drawing/2014/main" id="{9997917C-01CC-4222-BD1C-1E9CE5DDFDEE}"/>
              </a:ext>
            </a:extLst>
          </p:cNvPr>
          <p:cNvSpPr/>
          <p:nvPr/>
        </p:nvSpPr>
        <p:spPr>
          <a:xfrm>
            <a:off x="6675119" y="4544568"/>
            <a:ext cx="731520"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a:extLst>
              <a:ext uri="{FF2B5EF4-FFF2-40B4-BE49-F238E27FC236}">
                <a16:creationId xmlns:a16="http://schemas.microsoft.com/office/drawing/2014/main" id="{CB5C771C-7122-4B6D-9C99-CC87B13F0BF2}"/>
              </a:ext>
            </a:extLst>
          </p:cNvPr>
          <p:cNvSpPr txBox="1"/>
          <p:nvPr/>
        </p:nvSpPr>
        <p:spPr>
          <a:xfrm>
            <a:off x="6675119" y="4544568"/>
            <a:ext cx="73152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85" name="Rectangle 23">
            <a:extLst>
              <a:ext uri="{FF2B5EF4-FFF2-40B4-BE49-F238E27FC236}">
                <a16:creationId xmlns:a16="http://schemas.microsoft.com/office/drawing/2014/main" id="{CFA3922A-75E6-445F-A969-263E41E24F55}"/>
              </a:ext>
            </a:extLst>
          </p:cNvPr>
          <p:cNvSpPr/>
          <p:nvPr/>
        </p:nvSpPr>
        <p:spPr>
          <a:xfrm>
            <a:off x="7406640" y="4544568"/>
            <a:ext cx="731519"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FAB55470-2191-4B46-883E-3A330738A63B}"/>
              </a:ext>
            </a:extLst>
          </p:cNvPr>
          <p:cNvSpPr txBox="1"/>
          <p:nvPr/>
        </p:nvSpPr>
        <p:spPr>
          <a:xfrm>
            <a:off x="7406640" y="4544568"/>
            <a:ext cx="73151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87" name="Rectangle 25">
            <a:extLst>
              <a:ext uri="{FF2B5EF4-FFF2-40B4-BE49-F238E27FC236}">
                <a16:creationId xmlns:a16="http://schemas.microsoft.com/office/drawing/2014/main" id="{BCCEE5CA-390A-45EB-9558-870AA500C0D4}"/>
              </a:ext>
            </a:extLst>
          </p:cNvPr>
          <p:cNvSpPr/>
          <p:nvPr/>
        </p:nvSpPr>
        <p:spPr>
          <a:xfrm>
            <a:off x="8138159" y="4544568"/>
            <a:ext cx="731520"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a:extLst>
              <a:ext uri="{FF2B5EF4-FFF2-40B4-BE49-F238E27FC236}">
                <a16:creationId xmlns:a16="http://schemas.microsoft.com/office/drawing/2014/main" id="{44F3BE20-70B4-47BB-ACD3-8BF7B465FAD0}"/>
              </a:ext>
            </a:extLst>
          </p:cNvPr>
          <p:cNvSpPr txBox="1"/>
          <p:nvPr/>
        </p:nvSpPr>
        <p:spPr>
          <a:xfrm>
            <a:off x="8138159" y="4544568"/>
            <a:ext cx="73152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89" name="Rectangle 27">
            <a:extLst>
              <a:ext uri="{FF2B5EF4-FFF2-40B4-BE49-F238E27FC236}">
                <a16:creationId xmlns:a16="http://schemas.microsoft.com/office/drawing/2014/main" id="{482953B4-F84C-47DF-8CFE-4FCC19EDF25A}"/>
              </a:ext>
            </a:extLst>
          </p:cNvPr>
          <p:cNvSpPr/>
          <p:nvPr/>
        </p:nvSpPr>
        <p:spPr>
          <a:xfrm>
            <a:off x="8869680" y="4544568"/>
            <a:ext cx="2926079"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251B15F6-957A-4040-9298-F6BEC81A1A34}"/>
              </a:ext>
            </a:extLst>
          </p:cNvPr>
          <p:cNvSpPr txBox="1"/>
          <p:nvPr/>
        </p:nvSpPr>
        <p:spPr>
          <a:xfrm>
            <a:off x="8869680" y="4544568"/>
            <a:ext cx="292607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91" name="TextBox 90">
            <a:extLst>
              <a:ext uri="{FF2B5EF4-FFF2-40B4-BE49-F238E27FC236}">
                <a16:creationId xmlns:a16="http://schemas.microsoft.com/office/drawing/2014/main" id="{670DF8BA-A113-4B12-917E-D3136051E8C8}"/>
              </a:ext>
            </a:extLst>
          </p:cNvPr>
          <p:cNvSpPr txBox="1"/>
          <p:nvPr/>
        </p:nvSpPr>
        <p:spPr>
          <a:xfrm>
            <a:off x="416052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92" name="TextBox 91">
            <a:extLst>
              <a:ext uri="{FF2B5EF4-FFF2-40B4-BE49-F238E27FC236}">
                <a16:creationId xmlns:a16="http://schemas.microsoft.com/office/drawing/2014/main" id="{149D01CA-E6D9-47D6-B8B6-5F775019BFC1}"/>
              </a:ext>
            </a:extLst>
          </p:cNvPr>
          <p:cNvSpPr txBox="1"/>
          <p:nvPr/>
        </p:nvSpPr>
        <p:spPr>
          <a:xfrm>
            <a:off x="562356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20%</a:t>
            </a:r>
          </a:p>
        </p:txBody>
      </p:sp>
      <p:sp>
        <p:nvSpPr>
          <p:cNvPr id="93" name="TextBox 92">
            <a:extLst>
              <a:ext uri="{FF2B5EF4-FFF2-40B4-BE49-F238E27FC236}">
                <a16:creationId xmlns:a16="http://schemas.microsoft.com/office/drawing/2014/main" id="{0B1D4826-3B4E-4E0F-90A4-3DCBB61612A4}"/>
              </a:ext>
            </a:extLst>
          </p:cNvPr>
          <p:cNvSpPr txBox="1"/>
          <p:nvPr/>
        </p:nvSpPr>
        <p:spPr>
          <a:xfrm>
            <a:off x="708660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40%</a:t>
            </a:r>
          </a:p>
        </p:txBody>
      </p:sp>
      <p:sp>
        <p:nvSpPr>
          <p:cNvPr id="94" name="TextBox 93">
            <a:extLst>
              <a:ext uri="{FF2B5EF4-FFF2-40B4-BE49-F238E27FC236}">
                <a16:creationId xmlns:a16="http://schemas.microsoft.com/office/drawing/2014/main" id="{D795A263-8F46-4B72-A5ED-758C34326CD3}"/>
              </a:ext>
            </a:extLst>
          </p:cNvPr>
          <p:cNvSpPr txBox="1"/>
          <p:nvPr/>
        </p:nvSpPr>
        <p:spPr>
          <a:xfrm>
            <a:off x="854964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60%</a:t>
            </a:r>
          </a:p>
        </p:txBody>
      </p:sp>
      <p:sp>
        <p:nvSpPr>
          <p:cNvPr id="95" name="TextBox 94">
            <a:extLst>
              <a:ext uri="{FF2B5EF4-FFF2-40B4-BE49-F238E27FC236}">
                <a16:creationId xmlns:a16="http://schemas.microsoft.com/office/drawing/2014/main" id="{B41EE4AB-DAB1-4FFD-B8DE-7F5A33CE1606}"/>
              </a:ext>
            </a:extLst>
          </p:cNvPr>
          <p:cNvSpPr txBox="1"/>
          <p:nvPr/>
        </p:nvSpPr>
        <p:spPr>
          <a:xfrm>
            <a:off x="1001268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80%</a:t>
            </a:r>
          </a:p>
        </p:txBody>
      </p:sp>
      <p:sp>
        <p:nvSpPr>
          <p:cNvPr id="96" name="TextBox 95">
            <a:extLst>
              <a:ext uri="{FF2B5EF4-FFF2-40B4-BE49-F238E27FC236}">
                <a16:creationId xmlns:a16="http://schemas.microsoft.com/office/drawing/2014/main" id="{033CD44F-0B2B-4356-99E8-6645D1DF82E3}"/>
              </a:ext>
            </a:extLst>
          </p:cNvPr>
          <p:cNvSpPr txBox="1"/>
          <p:nvPr/>
        </p:nvSpPr>
        <p:spPr>
          <a:xfrm>
            <a:off x="11475719"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100%</a:t>
            </a:r>
          </a:p>
        </p:txBody>
      </p:sp>
      <p:cxnSp>
        <p:nvCxnSpPr>
          <p:cNvPr id="97" name="Connector 35">
            <a:extLst>
              <a:ext uri="{FF2B5EF4-FFF2-40B4-BE49-F238E27FC236}">
                <a16:creationId xmlns:a16="http://schemas.microsoft.com/office/drawing/2014/main" id="{1CDF2BC4-DB9F-46B6-91D9-448C655FEE68}"/>
              </a:ext>
            </a:extLst>
          </p:cNvPr>
          <p:cNvCxnSpPr/>
          <p:nvPr/>
        </p:nvCxnSpPr>
        <p:spPr>
          <a:xfrm>
            <a:off x="5943600" y="4956048"/>
            <a:ext cx="0" cy="1348739"/>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8" name="Connector 36">
            <a:extLst>
              <a:ext uri="{FF2B5EF4-FFF2-40B4-BE49-F238E27FC236}">
                <a16:creationId xmlns:a16="http://schemas.microsoft.com/office/drawing/2014/main" id="{B11BB1F2-7102-4165-9CB8-A2C8D07CC992}"/>
              </a:ext>
            </a:extLst>
          </p:cNvPr>
          <p:cNvCxnSpPr/>
          <p:nvPr/>
        </p:nvCxnSpPr>
        <p:spPr>
          <a:xfrm>
            <a:off x="6675119" y="4956048"/>
            <a:ext cx="0" cy="1348739"/>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9" name="Connector 37">
            <a:extLst>
              <a:ext uri="{FF2B5EF4-FFF2-40B4-BE49-F238E27FC236}">
                <a16:creationId xmlns:a16="http://schemas.microsoft.com/office/drawing/2014/main" id="{F6E21C1B-AF6E-4D19-994D-4245D516704F}"/>
              </a:ext>
            </a:extLst>
          </p:cNvPr>
          <p:cNvCxnSpPr/>
          <p:nvPr/>
        </p:nvCxnSpPr>
        <p:spPr>
          <a:xfrm>
            <a:off x="7406640" y="4956048"/>
            <a:ext cx="0" cy="1348739"/>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100" name="Connector 38">
            <a:extLst>
              <a:ext uri="{FF2B5EF4-FFF2-40B4-BE49-F238E27FC236}">
                <a16:creationId xmlns:a16="http://schemas.microsoft.com/office/drawing/2014/main" id="{1F500E41-49EC-40CC-92E1-7C23DA8FA18F}"/>
              </a:ext>
            </a:extLst>
          </p:cNvPr>
          <p:cNvCxnSpPr/>
          <p:nvPr/>
        </p:nvCxnSpPr>
        <p:spPr>
          <a:xfrm>
            <a:off x="8138159" y="4956048"/>
            <a:ext cx="0" cy="1348739"/>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101" name="Connector 39">
            <a:extLst>
              <a:ext uri="{FF2B5EF4-FFF2-40B4-BE49-F238E27FC236}">
                <a16:creationId xmlns:a16="http://schemas.microsoft.com/office/drawing/2014/main" id="{CF328C3F-2D93-4448-8AF6-9751723938B8}"/>
              </a:ext>
            </a:extLst>
          </p:cNvPr>
          <p:cNvCxnSpPr/>
          <p:nvPr/>
        </p:nvCxnSpPr>
        <p:spPr>
          <a:xfrm>
            <a:off x="8869680" y="4956048"/>
            <a:ext cx="0" cy="1348739"/>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02" name="Isosceles Triangle 40">
            <a:extLst>
              <a:ext uri="{FF2B5EF4-FFF2-40B4-BE49-F238E27FC236}">
                <a16:creationId xmlns:a16="http://schemas.microsoft.com/office/drawing/2014/main" id="{870CF855-9698-449A-BC6D-7547D9F0D2F3}"/>
              </a:ext>
            </a:extLst>
          </p:cNvPr>
          <p:cNvSpPr/>
          <p:nvPr/>
        </p:nvSpPr>
        <p:spPr>
          <a:xfrm>
            <a:off x="4421123" y="5013198"/>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a:extLst>
              <a:ext uri="{FF2B5EF4-FFF2-40B4-BE49-F238E27FC236}">
                <a16:creationId xmlns:a16="http://schemas.microsoft.com/office/drawing/2014/main" id="{E2EB6672-C78E-4F38-9172-96A95FEB91EF}"/>
              </a:ext>
            </a:extLst>
          </p:cNvPr>
          <p:cNvSpPr txBox="1"/>
          <p:nvPr/>
        </p:nvSpPr>
        <p:spPr>
          <a:xfrm>
            <a:off x="4553712" y="4974336"/>
            <a:ext cx="2514600" cy="187452"/>
          </a:xfrm>
          <a:prstGeom prst="rect">
            <a:avLst/>
          </a:prstGeom>
          <a:noFill/>
        </p:spPr>
        <p:txBody>
          <a:bodyPr wrap="none" lIns="0" tIns="0" rIns="0" bIns="0" anchor="ctr">
            <a:spAutoFit/>
          </a:bodyPr>
          <a:lstStyle/>
          <a:p>
            <a:pPr algn="l">
              <a:spcAft>
                <a:spcPts val="0"/>
              </a:spcAft>
            </a:pPr>
            <a:r>
              <a:rPr sz="720" b="0" dirty="0" err="1">
                <a:solidFill>
                  <a:srgbClr val="262626"/>
                </a:solidFill>
                <a:latin typeface="맑은 고딕"/>
                <a:ea typeface="맑은 고딕"/>
              </a:rPr>
              <a:t>이론</a:t>
            </a:r>
            <a:r>
              <a:rPr sz="720" b="0" dirty="0">
                <a:solidFill>
                  <a:srgbClr val="262626"/>
                </a:solidFill>
                <a:latin typeface="맑은 고딕"/>
                <a:ea typeface="맑은 고딕"/>
              </a:rPr>
              <a:t> B1(</a:t>
            </a:r>
            <a:r>
              <a:rPr sz="720" b="0" dirty="0" err="1">
                <a:solidFill>
                  <a:srgbClr val="262626"/>
                </a:solidFill>
                <a:latin typeface="맑은 고딕"/>
                <a:ea typeface="맑은 고딕"/>
              </a:rPr>
              <a:t>정적</a:t>
            </a:r>
            <a:r>
              <a:rPr sz="720" b="0" dirty="0">
                <a:solidFill>
                  <a:srgbClr val="262626"/>
                </a:solidFill>
                <a:latin typeface="맑은 고딕"/>
                <a:ea typeface="맑은 고딕"/>
              </a:rPr>
              <a:t> LRU offload) = 0% (</a:t>
            </a:r>
            <a:r>
              <a:rPr sz="720" b="0" dirty="0" err="1">
                <a:solidFill>
                  <a:srgbClr val="262626"/>
                </a:solidFill>
                <a:latin typeface="맑은 고딕"/>
                <a:ea typeface="맑은 고딕"/>
              </a:rPr>
              <a:t>HBM을</a:t>
            </a:r>
            <a:r>
              <a:rPr sz="720" b="0" dirty="0">
                <a:solidFill>
                  <a:srgbClr val="262626"/>
                </a:solidFill>
                <a:latin typeface="맑은 고딕"/>
                <a:ea typeface="맑은 고딕"/>
              </a:rPr>
              <a:t> </a:t>
            </a:r>
            <a:r>
              <a:rPr sz="720" b="0" dirty="0" err="1">
                <a:solidFill>
                  <a:srgbClr val="262626"/>
                </a:solidFill>
                <a:latin typeface="맑은 고딕"/>
                <a:ea typeface="맑은 고딕"/>
              </a:rPr>
              <a:t>캐시로</a:t>
            </a:r>
            <a:r>
              <a:rPr sz="720" b="0" dirty="0">
                <a:solidFill>
                  <a:srgbClr val="262626"/>
                </a:solidFill>
                <a:latin typeface="맑은 고딕"/>
                <a:ea typeface="맑은 고딕"/>
              </a:rPr>
              <a:t> </a:t>
            </a:r>
            <a:r>
              <a:rPr sz="720" b="0" dirty="0" err="1">
                <a:solidFill>
                  <a:srgbClr val="262626"/>
                </a:solidFill>
                <a:latin typeface="맑은 고딕"/>
                <a:ea typeface="맑은 고딕"/>
              </a:rPr>
              <a:t>채움</a:t>
            </a:r>
            <a:r>
              <a:rPr sz="720" b="0" dirty="0">
                <a:solidFill>
                  <a:srgbClr val="262626"/>
                </a:solidFill>
                <a:latin typeface="맑은 고딕"/>
                <a:ea typeface="맑은 고딕"/>
              </a:rPr>
              <a:t>)</a:t>
            </a:r>
          </a:p>
        </p:txBody>
      </p:sp>
      <p:sp>
        <p:nvSpPr>
          <p:cNvPr id="104" name="Diamond 42">
            <a:extLst>
              <a:ext uri="{FF2B5EF4-FFF2-40B4-BE49-F238E27FC236}">
                <a16:creationId xmlns:a16="http://schemas.microsoft.com/office/drawing/2014/main" id="{0FB1C196-F413-4B48-B8FC-C11A7F481D24}"/>
              </a:ext>
            </a:extLst>
          </p:cNvPr>
          <p:cNvSpPr/>
          <p:nvPr/>
        </p:nvSpPr>
        <p:spPr>
          <a:xfrm>
            <a:off x="5884164" y="5196077"/>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a:extLst>
              <a:ext uri="{FF2B5EF4-FFF2-40B4-BE49-F238E27FC236}">
                <a16:creationId xmlns:a16="http://schemas.microsoft.com/office/drawing/2014/main" id="{DB99C70F-9F82-449D-B3F2-B2B4F2B00F83}"/>
              </a:ext>
            </a:extLst>
          </p:cNvPr>
          <p:cNvSpPr txBox="1"/>
          <p:nvPr/>
        </p:nvSpPr>
        <p:spPr>
          <a:xfrm>
            <a:off x="6016752" y="5200114"/>
            <a:ext cx="976229" cy="110800"/>
          </a:xfrm>
          <a:prstGeom prst="rect">
            <a:avLst/>
          </a:prstGeom>
          <a:noFill/>
        </p:spPr>
        <p:txBody>
          <a:bodyPr wrap="none" lIns="0" tIns="0" rIns="0" bIns="0" anchor="ctr">
            <a:spAutoFit/>
          </a:bodyPr>
          <a:lstStyle/>
          <a:p>
            <a:pPr algn="l">
              <a:spcAft>
                <a:spcPts val="0"/>
              </a:spcAft>
            </a:pPr>
            <a:r>
              <a:rPr lang="en-US" sz="720" dirty="0">
                <a:solidFill>
                  <a:srgbClr val="262626"/>
                </a:solidFill>
                <a:latin typeface="맑은 고딕"/>
                <a:ea typeface="맑은 고딕"/>
              </a:rPr>
              <a:t>Stakeholder </a:t>
            </a:r>
            <a:r>
              <a:rPr sz="720" b="0" dirty="0" err="1">
                <a:solidFill>
                  <a:srgbClr val="262626"/>
                </a:solidFill>
                <a:latin typeface="맑은 고딕"/>
                <a:ea typeface="맑은 고딕"/>
              </a:rPr>
              <a:t>요구</a:t>
            </a:r>
            <a:r>
              <a:rPr sz="720" b="0" dirty="0">
                <a:solidFill>
                  <a:srgbClr val="262626"/>
                </a:solidFill>
                <a:latin typeface="맑은 고딕"/>
                <a:ea typeface="맑은 고딕"/>
              </a:rPr>
              <a:t> </a:t>
            </a:r>
            <a:r>
              <a:rPr lang="en-US" sz="720" b="0" dirty="0">
                <a:solidFill>
                  <a:srgbClr val="262626"/>
                </a:solidFill>
                <a:latin typeface="맑은 고딕"/>
                <a:ea typeface="맑은 고딕"/>
              </a:rPr>
              <a:t>0</a:t>
            </a:r>
            <a:r>
              <a:rPr sz="720" b="0" dirty="0">
                <a:solidFill>
                  <a:srgbClr val="262626"/>
                </a:solidFill>
                <a:latin typeface="맑은 고딕"/>
                <a:ea typeface="맑은 고딕"/>
              </a:rPr>
              <a:t>20</a:t>
            </a:r>
            <a:r>
              <a:rPr lang="en-US" sz="720" b="0" dirty="0">
                <a:solidFill>
                  <a:srgbClr val="262626"/>
                </a:solidFill>
                <a:latin typeface="맑은 고딕"/>
                <a:ea typeface="맑은 고딕"/>
              </a:rPr>
              <a:t>%</a:t>
            </a:r>
            <a:endParaRPr sz="720" b="0" dirty="0">
              <a:solidFill>
                <a:srgbClr val="262626"/>
              </a:solidFill>
              <a:latin typeface="맑은 고딕"/>
              <a:ea typeface="맑은 고딕"/>
            </a:endParaRPr>
          </a:p>
        </p:txBody>
      </p:sp>
      <p:sp>
        <p:nvSpPr>
          <p:cNvPr id="106" name="Oval 44">
            <a:extLst>
              <a:ext uri="{FF2B5EF4-FFF2-40B4-BE49-F238E27FC236}">
                <a16:creationId xmlns:a16="http://schemas.microsoft.com/office/drawing/2014/main" id="{E75F81A9-9B63-49FE-804B-B0E1701B8C08}"/>
              </a:ext>
            </a:extLst>
          </p:cNvPr>
          <p:cNvSpPr/>
          <p:nvPr/>
        </p:nvSpPr>
        <p:spPr>
          <a:xfrm>
            <a:off x="7575804" y="5392674"/>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a:extLst>
              <a:ext uri="{FF2B5EF4-FFF2-40B4-BE49-F238E27FC236}">
                <a16:creationId xmlns:a16="http://schemas.microsoft.com/office/drawing/2014/main" id="{BEE5652B-00E6-4C81-9BCA-25A68F6334CD}"/>
              </a:ext>
            </a:extLst>
          </p:cNvPr>
          <p:cNvSpPr txBox="1"/>
          <p:nvPr/>
        </p:nvSpPr>
        <p:spPr>
          <a:xfrm>
            <a:off x="7699248" y="5349240"/>
            <a:ext cx="3675888"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DirectKV (OSDI'26): 기존 offload 대비 GPU 메모리 43% 감소 = 경쟁 기술 수준</a:t>
            </a:r>
          </a:p>
        </p:txBody>
      </p:sp>
      <p:sp>
        <p:nvSpPr>
          <p:cNvPr id="108" name="Rectangle 46">
            <a:extLst>
              <a:ext uri="{FF2B5EF4-FFF2-40B4-BE49-F238E27FC236}">
                <a16:creationId xmlns:a16="http://schemas.microsoft.com/office/drawing/2014/main" id="{04A6AEF3-AD11-406D-8896-B98302CDEA8C}"/>
              </a:ext>
            </a:extLst>
          </p:cNvPr>
          <p:cNvSpPr/>
          <p:nvPr/>
        </p:nvSpPr>
        <p:spPr>
          <a:xfrm>
            <a:off x="7406640" y="5593842"/>
            <a:ext cx="2926080"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9" name="Connector 47">
            <a:extLst>
              <a:ext uri="{FF2B5EF4-FFF2-40B4-BE49-F238E27FC236}">
                <a16:creationId xmlns:a16="http://schemas.microsoft.com/office/drawing/2014/main" id="{FE696459-6F07-47E0-B719-72CD45FCC1AD}"/>
              </a:ext>
            </a:extLst>
          </p:cNvPr>
          <p:cNvCxnSpPr/>
          <p:nvPr/>
        </p:nvCxnSpPr>
        <p:spPr>
          <a:xfrm>
            <a:off x="7406640" y="5566409"/>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10" name="Connector 48">
            <a:extLst>
              <a:ext uri="{FF2B5EF4-FFF2-40B4-BE49-F238E27FC236}">
                <a16:creationId xmlns:a16="http://schemas.microsoft.com/office/drawing/2014/main" id="{5D0FD1C1-33BA-4A3A-8F01-231A2284FFF9}"/>
              </a:ext>
            </a:extLst>
          </p:cNvPr>
          <p:cNvCxnSpPr/>
          <p:nvPr/>
        </p:nvCxnSpPr>
        <p:spPr>
          <a:xfrm>
            <a:off x="10332720" y="5566409"/>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11" name="TextBox 110">
            <a:extLst>
              <a:ext uri="{FF2B5EF4-FFF2-40B4-BE49-F238E27FC236}">
                <a16:creationId xmlns:a16="http://schemas.microsoft.com/office/drawing/2014/main" id="{E7AF12A2-ABC9-45D2-8681-37B269CFB6F0}"/>
              </a:ext>
            </a:extLst>
          </p:cNvPr>
          <p:cNvSpPr txBox="1"/>
          <p:nvPr/>
        </p:nvSpPr>
        <p:spPr>
          <a:xfrm>
            <a:off x="5623560" y="5536692"/>
            <a:ext cx="1709927"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오프로딩 계열 보고 범위 40~80% [1]</a:t>
            </a:r>
          </a:p>
        </p:txBody>
      </p:sp>
      <p:sp>
        <p:nvSpPr>
          <p:cNvPr id="112" name="Isosceles Triangle 50">
            <a:extLst>
              <a:ext uri="{FF2B5EF4-FFF2-40B4-BE49-F238E27FC236}">
                <a16:creationId xmlns:a16="http://schemas.microsoft.com/office/drawing/2014/main" id="{CC839DC0-DB8C-4A02-94FC-40C6B53F0430}"/>
              </a:ext>
            </a:extLst>
          </p:cNvPr>
          <p:cNvSpPr/>
          <p:nvPr/>
        </p:nvSpPr>
        <p:spPr>
          <a:xfrm>
            <a:off x="10824075" y="5763006"/>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a:extLst>
              <a:ext uri="{FF2B5EF4-FFF2-40B4-BE49-F238E27FC236}">
                <a16:creationId xmlns:a16="http://schemas.microsoft.com/office/drawing/2014/main" id="{E9F09242-FFE5-404F-8BFA-BDA6ACF52C2B}"/>
              </a:ext>
            </a:extLst>
          </p:cNvPr>
          <p:cNvSpPr txBox="1"/>
          <p:nvPr/>
        </p:nvSpPr>
        <p:spPr>
          <a:xfrm>
            <a:off x="8858115" y="5724144"/>
            <a:ext cx="1952244"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이론 상한 ≈ 88% (decode 상주분만 남김)</a:t>
            </a:r>
          </a:p>
        </p:txBody>
      </p:sp>
      <p:sp>
        <p:nvSpPr>
          <p:cNvPr id="114" name="Oval 52">
            <a:extLst>
              <a:ext uri="{FF2B5EF4-FFF2-40B4-BE49-F238E27FC236}">
                <a16:creationId xmlns:a16="http://schemas.microsoft.com/office/drawing/2014/main" id="{B831713E-D666-470C-B1A8-F43068F9D7F1}"/>
              </a:ext>
            </a:extLst>
          </p:cNvPr>
          <p:cNvSpPr/>
          <p:nvPr/>
        </p:nvSpPr>
        <p:spPr>
          <a:xfrm>
            <a:off x="10501884" y="5955030"/>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a:extLst>
              <a:ext uri="{FF2B5EF4-FFF2-40B4-BE49-F238E27FC236}">
                <a16:creationId xmlns:a16="http://schemas.microsoft.com/office/drawing/2014/main" id="{780E719A-77B3-4EDA-ABED-06897B1E5828}"/>
              </a:ext>
            </a:extLst>
          </p:cNvPr>
          <p:cNvSpPr txBox="1"/>
          <p:nvPr/>
        </p:nvSpPr>
        <p:spPr>
          <a:xfrm>
            <a:off x="7845551" y="5911596"/>
            <a:ext cx="2633472" cy="187452"/>
          </a:xfrm>
          <a:prstGeom prst="rect">
            <a:avLst/>
          </a:prstGeom>
          <a:noFill/>
        </p:spPr>
        <p:txBody>
          <a:bodyPr wrap="none" lIns="0" tIns="0" rIns="0" bIns="0" anchor="ctr">
            <a:spAutoFit/>
          </a:bodyPr>
          <a:lstStyle/>
          <a:p>
            <a:pPr algn="r">
              <a:spcAft>
                <a:spcPts val="0"/>
              </a:spcAft>
            </a:pPr>
            <a:r>
              <a:rPr sz="720" b="0">
                <a:solidFill>
                  <a:srgbClr val="7F7F7F"/>
                </a:solidFill>
                <a:latin typeface="맑은 고딕"/>
                <a:ea typeface="맑은 고딕"/>
              </a:rPr>
              <a:t>ShadowKV: batch 6x ≈ 83%/seq (key 저랭크 압축 포함)</a:t>
            </a:r>
          </a:p>
        </p:txBody>
      </p:sp>
      <p:sp>
        <p:nvSpPr>
          <p:cNvPr id="116" name="Oval 54">
            <a:extLst>
              <a:ext uri="{FF2B5EF4-FFF2-40B4-BE49-F238E27FC236}">
                <a16:creationId xmlns:a16="http://schemas.microsoft.com/office/drawing/2014/main" id="{88C36186-28E7-4E7E-BBD5-CF8D516F88B7}"/>
              </a:ext>
            </a:extLst>
          </p:cNvPr>
          <p:cNvSpPr/>
          <p:nvPr/>
        </p:nvSpPr>
        <p:spPr>
          <a:xfrm>
            <a:off x="11160252" y="6142482"/>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a:extLst>
              <a:ext uri="{FF2B5EF4-FFF2-40B4-BE49-F238E27FC236}">
                <a16:creationId xmlns:a16="http://schemas.microsoft.com/office/drawing/2014/main" id="{EEF87B08-BB3F-427F-8148-D1C8A5098726}"/>
              </a:ext>
            </a:extLst>
          </p:cNvPr>
          <p:cNvSpPr txBox="1"/>
          <p:nvPr/>
        </p:nvSpPr>
        <p:spPr>
          <a:xfrm>
            <a:off x="8471915" y="6099048"/>
            <a:ext cx="2665476" cy="187452"/>
          </a:xfrm>
          <a:prstGeom prst="rect">
            <a:avLst/>
          </a:prstGeom>
          <a:noFill/>
        </p:spPr>
        <p:txBody>
          <a:bodyPr wrap="none" lIns="0" tIns="0" rIns="0" bIns="0" anchor="ctr">
            <a:spAutoFit/>
          </a:bodyPr>
          <a:lstStyle/>
          <a:p>
            <a:pPr algn="r">
              <a:spcAft>
                <a:spcPts val="0"/>
              </a:spcAft>
            </a:pPr>
            <a:r>
              <a:rPr sz="720" b="0">
                <a:solidFill>
                  <a:srgbClr val="7F7F7F"/>
                </a:solidFill>
                <a:latin typeface="맑은 고딕"/>
                <a:ea typeface="맑은 고딕"/>
              </a:rPr>
              <a:t>HeadInfer: 총 GPU 메모리 92% (1M ctx 단일 요청, 극단)</a:t>
            </a:r>
          </a:p>
        </p:txBody>
      </p:sp>
      <p:sp>
        <p:nvSpPr>
          <p:cNvPr id="118" name="Oval 56">
            <a:extLst>
              <a:ext uri="{FF2B5EF4-FFF2-40B4-BE49-F238E27FC236}">
                <a16:creationId xmlns:a16="http://schemas.microsoft.com/office/drawing/2014/main" id="{05578421-0AD6-4B9B-B88F-CEAC5C9D106B}"/>
              </a:ext>
            </a:extLst>
          </p:cNvPr>
          <p:cNvSpPr/>
          <p:nvPr/>
        </p:nvSpPr>
        <p:spPr>
          <a:xfrm>
            <a:off x="4453127" y="6373367"/>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a:extLst>
              <a:ext uri="{FF2B5EF4-FFF2-40B4-BE49-F238E27FC236}">
                <a16:creationId xmlns:a16="http://schemas.microsoft.com/office/drawing/2014/main" id="{291B6D6F-5CA0-436D-B743-258BA570AD75}"/>
              </a:ext>
            </a:extLst>
          </p:cNvPr>
          <p:cNvSpPr txBox="1"/>
          <p:nvPr/>
        </p:nvSpPr>
        <p:spPr>
          <a:xfrm>
            <a:off x="4571999" y="6332219"/>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120" name="Diamond 58">
            <a:extLst>
              <a:ext uri="{FF2B5EF4-FFF2-40B4-BE49-F238E27FC236}">
                <a16:creationId xmlns:a16="http://schemas.microsoft.com/office/drawing/2014/main" id="{7B31B28D-440B-420F-9DF6-26D6AFD5267D}"/>
              </a:ext>
            </a:extLst>
          </p:cNvPr>
          <p:cNvSpPr/>
          <p:nvPr/>
        </p:nvSpPr>
        <p:spPr>
          <a:xfrm>
            <a:off x="5608828" y="6373367"/>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a:extLst>
              <a:ext uri="{FF2B5EF4-FFF2-40B4-BE49-F238E27FC236}">
                <a16:creationId xmlns:a16="http://schemas.microsoft.com/office/drawing/2014/main" id="{E8A40FE7-BAAA-44A1-AD81-691C1927397B}"/>
              </a:ext>
            </a:extLst>
          </p:cNvPr>
          <p:cNvSpPr txBox="1"/>
          <p:nvPr/>
        </p:nvSpPr>
        <p:spPr>
          <a:xfrm>
            <a:off x="5727700" y="6332219"/>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122" name="Isosceles Triangle 60">
            <a:extLst>
              <a:ext uri="{FF2B5EF4-FFF2-40B4-BE49-F238E27FC236}">
                <a16:creationId xmlns:a16="http://schemas.microsoft.com/office/drawing/2014/main" id="{4DBC79EE-C011-463F-9AA4-D40CD175377A}"/>
              </a:ext>
            </a:extLst>
          </p:cNvPr>
          <p:cNvSpPr/>
          <p:nvPr/>
        </p:nvSpPr>
        <p:spPr>
          <a:xfrm>
            <a:off x="7097903" y="6373367"/>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extBox 122">
            <a:extLst>
              <a:ext uri="{FF2B5EF4-FFF2-40B4-BE49-F238E27FC236}">
                <a16:creationId xmlns:a16="http://schemas.microsoft.com/office/drawing/2014/main" id="{FB6C2C48-5B11-4594-A5A7-A6D52EDD8003}"/>
              </a:ext>
            </a:extLst>
          </p:cNvPr>
          <p:cNvSpPr txBox="1"/>
          <p:nvPr/>
        </p:nvSpPr>
        <p:spPr>
          <a:xfrm>
            <a:off x="7216775" y="6332219"/>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124" name="Oval 62">
            <a:extLst>
              <a:ext uri="{FF2B5EF4-FFF2-40B4-BE49-F238E27FC236}">
                <a16:creationId xmlns:a16="http://schemas.microsoft.com/office/drawing/2014/main" id="{524E4287-D0BE-4290-AE69-2BBD33050FC1}"/>
              </a:ext>
            </a:extLst>
          </p:cNvPr>
          <p:cNvSpPr/>
          <p:nvPr/>
        </p:nvSpPr>
        <p:spPr>
          <a:xfrm>
            <a:off x="7822438" y="6373367"/>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a:extLst>
              <a:ext uri="{FF2B5EF4-FFF2-40B4-BE49-F238E27FC236}">
                <a16:creationId xmlns:a16="http://schemas.microsoft.com/office/drawing/2014/main" id="{0FF8B9D1-3D0C-415E-B74D-E842036124EC}"/>
              </a:ext>
            </a:extLst>
          </p:cNvPr>
          <p:cNvSpPr txBox="1"/>
          <p:nvPr/>
        </p:nvSpPr>
        <p:spPr>
          <a:xfrm>
            <a:off x="7941310" y="6332219"/>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126" name="TextBox 125">
            <a:extLst>
              <a:ext uri="{FF2B5EF4-FFF2-40B4-BE49-F238E27FC236}">
                <a16:creationId xmlns:a16="http://schemas.microsoft.com/office/drawing/2014/main" id="{F2653A4C-F3F2-4A7E-AC87-FF3DD295D045}"/>
              </a:ext>
            </a:extLst>
          </p:cNvPr>
          <p:cNvSpPr txBox="1"/>
          <p:nvPr/>
        </p:nvSpPr>
        <p:spPr>
          <a:xfrm>
            <a:off x="269748" y="4419868"/>
            <a:ext cx="3931920" cy="510268"/>
          </a:xfrm>
          <a:prstGeom prst="rect">
            <a:avLst/>
          </a:prstGeom>
          <a:noFill/>
        </p:spPr>
        <p:txBody>
          <a:bodyPr wrap="square" lIns="73152" tIns="36576" rIns="73152" bIns="36576" anchor="t">
            <a:spAutoFit/>
          </a:bodyPr>
          <a:lstStyle/>
          <a:p>
            <a:pPr algn="l">
              <a:lnSpc>
                <a:spcPct val="110000"/>
              </a:lnSpc>
              <a:spcAft>
                <a:spcPts val="0"/>
              </a:spcAft>
            </a:pPr>
            <a:r>
              <a:rPr sz="950" b="1" dirty="0">
                <a:solidFill>
                  <a:srgbClr val="2F5597"/>
                </a:solidFill>
                <a:latin typeface="맑은 고딕"/>
                <a:ea typeface="맑은 고딕"/>
              </a:rPr>
              <a:t>HBM </a:t>
            </a:r>
            <a:r>
              <a:rPr sz="950" b="1" dirty="0" err="1">
                <a:solidFill>
                  <a:srgbClr val="2F5597"/>
                </a:solidFill>
                <a:latin typeface="맑은 고딕"/>
                <a:ea typeface="맑은 고딕"/>
              </a:rPr>
              <a:t>사용량</a:t>
            </a:r>
            <a:r>
              <a:rPr lang="en-US" sz="950" b="1" dirty="0">
                <a:solidFill>
                  <a:srgbClr val="2F5597"/>
                </a:solidFill>
                <a:latin typeface="맑은 고딕"/>
                <a:ea typeface="맑은 고딕"/>
              </a:rPr>
              <a:t> </a:t>
            </a:r>
            <a:r>
              <a:rPr lang="ko-KR" altLang="en-US" sz="950" b="1" dirty="0">
                <a:solidFill>
                  <a:srgbClr val="2F5597"/>
                </a:solidFill>
                <a:latin typeface="맑은 고딕"/>
                <a:ea typeface="맑은 고딕"/>
              </a:rPr>
              <a:t>계산</a:t>
            </a:r>
            <a:endParaRPr sz="950" b="1" dirty="0">
              <a:solidFill>
                <a:srgbClr val="2F5597"/>
              </a:solidFill>
              <a:latin typeface="맑은 고딕"/>
              <a:ea typeface="맑은 고딕"/>
            </a:endParaRPr>
          </a:p>
          <a:p>
            <a:pPr algn="l">
              <a:lnSpc>
                <a:spcPct val="110000"/>
              </a:lnSpc>
              <a:spcAft>
                <a:spcPts val="0"/>
              </a:spcAft>
            </a:pPr>
            <a:r>
              <a:rPr sz="850" b="0" dirty="0">
                <a:solidFill>
                  <a:srgbClr val="000000"/>
                </a:solidFill>
                <a:latin typeface="맑은 고딕"/>
                <a:ea typeface="맑은 고딕"/>
              </a:rPr>
              <a:t>• HBM </a:t>
            </a:r>
            <a:r>
              <a:rPr sz="850" b="0" dirty="0" err="1">
                <a:solidFill>
                  <a:srgbClr val="000000"/>
                </a:solidFill>
                <a:latin typeface="맑은 고딕"/>
                <a:ea typeface="맑은 고딕"/>
              </a:rPr>
              <a:t>사용량</a:t>
            </a:r>
            <a:r>
              <a:rPr sz="850" b="0" dirty="0">
                <a:solidFill>
                  <a:srgbClr val="000000"/>
                </a:solidFill>
                <a:latin typeface="맑은 고딕"/>
                <a:ea typeface="맑은 고딕"/>
              </a:rPr>
              <a:t>: </a:t>
            </a:r>
            <a:r>
              <a:rPr sz="850" b="0" dirty="0" err="1">
                <a:solidFill>
                  <a:srgbClr val="000000"/>
                </a:solidFill>
                <a:latin typeface="맑은 고딕"/>
                <a:ea typeface="맑은 고딕"/>
              </a:rPr>
              <a:t>HBM에</a:t>
            </a:r>
            <a:r>
              <a:rPr sz="850" b="0" dirty="0">
                <a:solidFill>
                  <a:srgbClr val="000000"/>
                </a:solidFill>
                <a:latin typeface="맑은 고딕"/>
                <a:ea typeface="맑은 고딕"/>
              </a:rPr>
              <a:t> </a:t>
            </a:r>
            <a:r>
              <a:rPr sz="850" b="0" dirty="0" err="1">
                <a:solidFill>
                  <a:srgbClr val="000000"/>
                </a:solidFill>
                <a:latin typeface="맑은 고딕"/>
                <a:ea typeface="맑은 고딕"/>
              </a:rPr>
              <a:t>올라와</a:t>
            </a:r>
            <a:r>
              <a:rPr sz="850" b="0" dirty="0">
                <a:solidFill>
                  <a:srgbClr val="000000"/>
                </a:solidFill>
                <a:latin typeface="맑은 고딕"/>
                <a:ea typeface="맑은 고딕"/>
              </a:rPr>
              <a:t> </a:t>
            </a:r>
            <a:r>
              <a:rPr sz="850" b="0" dirty="0" err="1">
                <a:solidFill>
                  <a:srgbClr val="000000"/>
                </a:solidFill>
                <a:latin typeface="맑은 고딕"/>
                <a:ea typeface="맑은 고딕"/>
              </a:rPr>
              <a:t>있는</a:t>
            </a:r>
            <a:r>
              <a:rPr sz="850" b="0" dirty="0">
                <a:solidFill>
                  <a:srgbClr val="000000"/>
                </a:solidFill>
                <a:latin typeface="맑은 고딕"/>
                <a:ea typeface="맑은 고딕"/>
              </a:rPr>
              <a:t> </a:t>
            </a:r>
            <a:r>
              <a:rPr sz="850" b="0" dirty="0" err="1">
                <a:solidFill>
                  <a:srgbClr val="000000"/>
                </a:solidFill>
                <a:latin typeface="맑은 고딕"/>
                <a:ea typeface="맑은 고딕"/>
              </a:rPr>
              <a:t>KV의</a:t>
            </a:r>
            <a:r>
              <a:rPr sz="850" b="0" dirty="0">
                <a:solidFill>
                  <a:srgbClr val="000000"/>
                </a:solidFill>
                <a:latin typeface="맑은 고딕"/>
                <a:ea typeface="맑은 고딕"/>
              </a:rPr>
              <a:t> </a:t>
            </a:r>
            <a:r>
              <a:rPr sz="850" b="0" dirty="0" err="1">
                <a:solidFill>
                  <a:srgbClr val="000000"/>
                </a:solidFill>
                <a:latin typeface="맑은 고딕"/>
                <a:ea typeface="맑은 고딕"/>
              </a:rPr>
              <a:t>시간</a:t>
            </a:r>
            <a:r>
              <a:rPr sz="850" b="0" dirty="0">
                <a:solidFill>
                  <a:srgbClr val="000000"/>
                </a:solidFill>
                <a:latin typeface="맑은 고딕"/>
                <a:ea typeface="맑은 고딕"/>
              </a:rPr>
              <a:t> </a:t>
            </a:r>
            <a:r>
              <a:rPr sz="850" b="0" dirty="0" err="1">
                <a:solidFill>
                  <a:srgbClr val="000000"/>
                </a:solidFill>
                <a:latin typeface="맑은 고딕"/>
                <a:ea typeface="맑은 고딕"/>
              </a:rPr>
              <a:t>평균</a:t>
            </a:r>
            <a:r>
              <a:rPr sz="850" b="0" dirty="0">
                <a:solidFill>
                  <a:srgbClr val="000000"/>
                </a:solidFill>
                <a:latin typeface="맑은 고딕"/>
                <a:ea typeface="맑은 고딕"/>
              </a:rPr>
              <a:t> </a:t>
            </a:r>
            <a:r>
              <a:rPr sz="850" b="0" dirty="0" err="1">
                <a:solidFill>
                  <a:srgbClr val="000000"/>
                </a:solidFill>
                <a:latin typeface="맑은 고딕"/>
                <a:ea typeface="맑은 고딕"/>
              </a:rPr>
              <a:t>크기</a:t>
            </a:r>
            <a:endParaRPr sz="850" b="0" dirty="0">
              <a:solidFill>
                <a:srgbClr val="000000"/>
              </a:solidFill>
              <a:latin typeface="맑은 고딕"/>
              <a:ea typeface="맑은 고딕"/>
            </a:endParaRPr>
          </a:p>
          <a:p>
            <a:pPr algn="l">
              <a:lnSpc>
                <a:spcPct val="110000"/>
              </a:lnSpc>
              <a:spcAft>
                <a:spcPts val="0"/>
              </a:spcAft>
            </a:pPr>
            <a:r>
              <a:rPr sz="850" b="0" dirty="0">
                <a:solidFill>
                  <a:srgbClr val="404040"/>
                </a:solidFill>
                <a:latin typeface="맑은 고딕"/>
                <a:ea typeface="맑은 고딕"/>
              </a:rPr>
              <a:t>  예) 100초 중 40초 100 GiB, 60초 50 GiB → 70 GiB</a:t>
            </a:r>
          </a:p>
        </p:txBody>
      </p:sp>
      <p:sp>
        <p:nvSpPr>
          <p:cNvPr id="58" name="실행 단추: 뒤로 또는 이전 57">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62" name="실행 단추: 뒤로 또는 이전 61">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3332357467"/>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자원</a:t>
            </a:r>
            <a:r>
              <a:rPr lang="en-US" sz="2200" b="1" dirty="0">
                <a:solidFill>
                  <a:srgbClr val="2F5597"/>
                </a:solidFill>
                <a:latin typeface="맑은 고딕"/>
                <a:ea typeface="맑은 고딕"/>
              </a:rPr>
              <a:t>(</a:t>
            </a:r>
            <a:r>
              <a:rPr sz="2200" b="1" dirty="0">
                <a:solidFill>
                  <a:srgbClr val="2F5597"/>
                </a:solidFill>
                <a:latin typeface="맑은 고딕"/>
                <a:ea typeface="맑은 고딕"/>
              </a:rPr>
              <a:t>HBM</a:t>
            </a:r>
            <a:r>
              <a:rPr lang="en-US" sz="2200" b="1" dirty="0">
                <a:solidFill>
                  <a:srgbClr val="2F5597"/>
                </a:solidFill>
                <a:latin typeface="맑은 고딕"/>
                <a:ea typeface="맑은 고딕"/>
              </a:rPr>
              <a:t>)</a:t>
            </a:r>
            <a:r>
              <a:rPr sz="2200" b="1" dirty="0">
                <a:solidFill>
                  <a:srgbClr val="2F5597"/>
                </a:solidFill>
                <a:latin typeface="맑은 고딕"/>
                <a:ea typeface="맑은 고딕"/>
              </a:rPr>
              <a:t> </a:t>
            </a:r>
            <a:r>
              <a:rPr lang="ko-KR" altLang="en-US" sz="2200" b="1" dirty="0">
                <a:solidFill>
                  <a:srgbClr val="2F5597"/>
                </a:solidFill>
                <a:latin typeface="맑은 고딕"/>
                <a:ea typeface="맑은 고딕"/>
              </a:rPr>
              <a:t>효율성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dirty="0">
                <a:solidFill>
                  <a:srgbClr val="404040"/>
                </a:solidFill>
                <a:latin typeface="맑은 고딕"/>
                <a:ea typeface="맑은 고딕"/>
              </a:rPr>
              <a:t>Baseline </a:t>
            </a:r>
            <a:r>
              <a:rPr sz="1100" b="0" dirty="0" err="1">
                <a:solidFill>
                  <a:srgbClr val="404040"/>
                </a:solidFill>
                <a:latin typeface="맑은 고딕"/>
                <a:ea typeface="맑은 고딕"/>
              </a:rPr>
              <a:t>대비</a:t>
            </a:r>
            <a:r>
              <a:rPr sz="1100" b="0" dirty="0">
                <a:solidFill>
                  <a:srgbClr val="404040"/>
                </a:solidFill>
                <a:latin typeface="맑은 고딕"/>
                <a:ea typeface="맑은 고딕"/>
              </a:rPr>
              <a:t> </a:t>
            </a:r>
            <a:r>
              <a:rPr lang="en-US" sz="1100" b="0" dirty="0">
                <a:solidFill>
                  <a:srgbClr val="404040"/>
                </a:solidFill>
                <a:latin typeface="맑은 고딕"/>
                <a:ea typeface="맑은 고딕"/>
              </a:rPr>
              <a:t>HBM </a:t>
            </a:r>
            <a:r>
              <a:rPr lang="ko-KR" altLang="en-US" sz="1100" b="0" dirty="0">
                <a:solidFill>
                  <a:srgbClr val="404040"/>
                </a:solidFill>
                <a:latin typeface="맑은 고딕"/>
                <a:ea typeface="맑은 고딕"/>
              </a:rPr>
              <a:t>사용량 감소율</a:t>
            </a:r>
            <a:endParaRP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583680"/>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lang="en-US" sz="750" b="0" dirty="0">
                <a:solidFill>
                  <a:srgbClr val="404040"/>
                </a:solidFill>
                <a:latin typeface="맑은 고딕"/>
                <a:ea typeface="맑은 고딕"/>
              </a:rPr>
              <a:t>[1]</a:t>
            </a:r>
            <a:r>
              <a:rPr sz="750" b="0" dirty="0">
                <a:solidFill>
                  <a:srgbClr val="404040"/>
                </a:solidFill>
                <a:latin typeface="맑은 고딕"/>
                <a:ea typeface="맑은 고딕"/>
              </a:rPr>
              <a:t>: </a:t>
            </a:r>
            <a:r>
              <a:rPr sz="750" b="0" dirty="0" err="1">
                <a:solidFill>
                  <a:srgbClr val="404040"/>
                </a:solidFill>
                <a:latin typeface="맑은 고딕"/>
                <a:ea typeface="맑은 고딕"/>
              </a:rPr>
              <a:t>ShadowKV</a:t>
            </a:r>
            <a:r>
              <a:rPr sz="750" b="0" dirty="0">
                <a:solidFill>
                  <a:srgbClr val="404040"/>
                </a:solidFill>
                <a:latin typeface="맑은 고딕"/>
                <a:ea typeface="맑은 고딕"/>
              </a:rPr>
              <a:t> ICML 2025 (</a:t>
            </a:r>
            <a:r>
              <a:rPr sz="750" b="0" dirty="0" err="1">
                <a:solidFill>
                  <a:srgbClr val="404040"/>
                </a:solidFill>
                <a:latin typeface="맑은 고딕"/>
                <a:ea typeface="맑은 고딕"/>
              </a:rPr>
              <a:t>proceedings.mlr.press</a:t>
            </a:r>
            <a:r>
              <a:rPr sz="750" b="0" dirty="0">
                <a:solidFill>
                  <a:srgbClr val="404040"/>
                </a:solidFill>
                <a:latin typeface="맑은 고딕"/>
                <a:ea typeface="맑은 고딕"/>
              </a:rPr>
              <a:t>/v267/sun25b.html) · </a:t>
            </a:r>
            <a:r>
              <a:rPr sz="750" b="0" dirty="0" err="1">
                <a:solidFill>
                  <a:srgbClr val="404040"/>
                </a:solidFill>
                <a:latin typeface="맑은 고딕"/>
                <a:ea typeface="맑은 고딕"/>
              </a:rPr>
              <a:t>DirectKV</a:t>
            </a:r>
            <a:r>
              <a:rPr sz="750" b="0" dirty="0">
                <a:solidFill>
                  <a:srgbClr val="404040"/>
                </a:solidFill>
                <a:latin typeface="맑은 고딕"/>
                <a:ea typeface="맑은 고딕"/>
              </a:rPr>
              <a:t> OSDI 2026 (usenix.org/conference/osdi26/presentation/</a:t>
            </a:r>
            <a:r>
              <a:rPr sz="750" b="0" dirty="0" err="1">
                <a:solidFill>
                  <a:srgbClr val="404040"/>
                </a:solidFill>
                <a:latin typeface="맑은 고딕"/>
                <a:ea typeface="맑은 고딕"/>
              </a:rPr>
              <a:t>luo</a:t>
            </a:r>
            <a:r>
              <a:rPr sz="750" b="0" dirty="0">
                <a:solidFill>
                  <a:srgbClr val="404040"/>
                </a:solidFill>
                <a:latin typeface="맑은 고딕"/>
                <a:ea typeface="맑은 고딕"/>
              </a:rPr>
              <a:t>) · </a:t>
            </a:r>
            <a:r>
              <a:rPr sz="750" b="0" dirty="0" err="1">
                <a:solidFill>
                  <a:srgbClr val="404040"/>
                </a:solidFill>
                <a:latin typeface="맑은 고딕"/>
                <a:ea typeface="맑은 고딕"/>
              </a:rPr>
              <a:t>HeadInfer</a:t>
            </a:r>
            <a:r>
              <a:rPr sz="750" b="0" dirty="0">
                <a:solidFill>
                  <a:srgbClr val="404040"/>
                </a:solidFill>
                <a:latin typeface="맑은 고딕"/>
                <a:ea typeface="맑은 고딕"/>
              </a:rPr>
              <a:t> (arxiv.org/abs/2502.12574)</a:t>
            </a:r>
          </a:p>
        </p:txBody>
      </p:sp>
      <p:graphicFrame>
        <p:nvGraphicFramePr>
          <p:cNvPr id="7" name="tbl"/>
          <p:cNvGraphicFramePr>
            <a:graphicFrameLocks noGrp="1"/>
          </p:cNvGraphicFramePr>
          <p:nvPr/>
        </p:nvGraphicFramePr>
        <p:xfrm>
          <a:off x="365760" y="1901190"/>
          <a:ext cx="11457432" cy="1922526"/>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6072293">
                  <a:extLst>
                    <a:ext uri="{9D8B030D-6E8A-4147-A177-3AD203B41FA5}">
                      <a16:colId xmlns:a16="http://schemas.microsoft.com/office/drawing/2014/main" val="20002"/>
                    </a:ext>
                  </a:extLst>
                </a:gridCol>
                <a:gridCol w="2459059">
                  <a:extLst>
                    <a:ext uri="{9D8B030D-6E8A-4147-A177-3AD203B41FA5}">
                      <a16:colId xmlns:a16="http://schemas.microsoft.com/office/drawing/2014/main" val="20003"/>
                    </a:ext>
                  </a:extLst>
                </a:gridCol>
              </a:tblGrid>
              <a:tr h="310896">
                <a:tc>
                  <a:txBody>
                    <a:bodyPr/>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950" b="1" dirty="0">
                          <a:solidFill>
                            <a:srgbClr val="FFFFFF"/>
                          </a:solidFill>
                          <a:latin typeface="맑은 고딕"/>
                          <a:ea typeface="맑은 고딕"/>
                        </a:rPr>
                        <a:t>근거</a:t>
                      </a:r>
                      <a:endParaRPr sz="95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950" b="1" dirty="0">
                          <a:solidFill>
                            <a:srgbClr val="FFFFFF"/>
                          </a:solidFill>
                          <a:latin typeface="맑은 고딕"/>
                          <a:ea typeface="맑은 고딕"/>
                        </a:rPr>
                        <a:t>출처</a:t>
                      </a:r>
                      <a:endParaRPr sz="95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457200">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950" b="0">
                          <a:solidFill>
                            <a:srgbClr val="000000"/>
                          </a:solidFill>
                          <a:latin typeface="맑은 고딕"/>
                          <a:ea typeface="맑은 고딕"/>
                        </a:rPr>
                        <a:t>감소율 ≥ 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marL="0" algn="l" defTabSz="914400" rtl="0" eaLnBrk="1" latinLnBrk="1" hangingPunct="1"/>
                      <a:r>
                        <a:rPr sz="950" b="0" kern="1200" dirty="0" err="1">
                          <a:solidFill>
                            <a:srgbClr val="000000"/>
                          </a:solidFill>
                          <a:latin typeface="맑은 고딕"/>
                          <a:ea typeface="맑은 고딕"/>
                          <a:cs typeface="+mn-cs"/>
                        </a:rPr>
                        <a:t>배치·오프로딩</a:t>
                      </a:r>
                      <a:r>
                        <a:rPr sz="950" b="0" kern="1200" dirty="0">
                          <a:solidFill>
                            <a:srgbClr val="000000"/>
                          </a:solidFill>
                          <a:latin typeface="맑은 고딕"/>
                          <a:ea typeface="맑은 고딕"/>
                          <a:cs typeface="+mn-cs"/>
                        </a:rPr>
                        <a:t> </a:t>
                      </a:r>
                      <a:r>
                        <a:rPr sz="950" b="0" kern="1200" dirty="0" err="1">
                          <a:solidFill>
                            <a:srgbClr val="000000"/>
                          </a:solidFill>
                          <a:latin typeface="맑은 고딕"/>
                          <a:ea typeface="맑은 고딕"/>
                          <a:cs typeface="+mn-cs"/>
                        </a:rPr>
                        <a:t>계열</a:t>
                      </a:r>
                      <a:r>
                        <a:rPr sz="950" b="0" kern="1200" dirty="0">
                          <a:solidFill>
                            <a:srgbClr val="000000"/>
                          </a:solidFill>
                          <a:latin typeface="맑은 고딕"/>
                          <a:ea typeface="맑은 고딕"/>
                          <a:cs typeface="+mn-cs"/>
                        </a:rPr>
                        <a:t> </a:t>
                      </a:r>
                      <a:r>
                        <a:rPr sz="950" b="0" kern="1200" dirty="0" err="1">
                          <a:solidFill>
                            <a:srgbClr val="000000"/>
                          </a:solidFill>
                          <a:latin typeface="맑은 고딕"/>
                          <a:ea typeface="맑은 고딕"/>
                          <a:cs typeface="+mn-cs"/>
                        </a:rPr>
                        <a:t>시스템이</a:t>
                      </a:r>
                      <a:r>
                        <a:rPr sz="950" b="0" kern="1200" dirty="0">
                          <a:solidFill>
                            <a:srgbClr val="000000"/>
                          </a:solidFill>
                          <a:latin typeface="맑은 고딕"/>
                          <a:ea typeface="맑은 고딕"/>
                          <a:cs typeface="+mn-cs"/>
                        </a:rPr>
                        <a:t> </a:t>
                      </a:r>
                      <a:r>
                        <a:rPr sz="950" b="0" kern="1200" dirty="0" err="1">
                          <a:solidFill>
                            <a:srgbClr val="000000"/>
                          </a:solidFill>
                          <a:latin typeface="맑은 고딕"/>
                          <a:ea typeface="맑은 고딕"/>
                          <a:cs typeface="+mn-cs"/>
                        </a:rPr>
                        <a:t>보고한</a:t>
                      </a:r>
                      <a:r>
                        <a:rPr sz="950" b="0" kern="1200" dirty="0">
                          <a:solidFill>
                            <a:srgbClr val="000000"/>
                          </a:solidFill>
                          <a:latin typeface="맑은 고딕"/>
                          <a:ea typeface="맑은 고딕"/>
                          <a:cs typeface="+mn-cs"/>
                        </a:rPr>
                        <a:t> </a:t>
                      </a:r>
                      <a:r>
                        <a:rPr sz="950" b="0" kern="1200" dirty="0" err="1">
                          <a:solidFill>
                            <a:srgbClr val="000000"/>
                          </a:solidFill>
                          <a:latin typeface="맑은 고딕"/>
                          <a:ea typeface="맑은 고딕"/>
                          <a:cs typeface="+mn-cs"/>
                        </a:rPr>
                        <a:t>전체</a:t>
                      </a:r>
                      <a:r>
                        <a:rPr sz="950" b="0" kern="1200" dirty="0">
                          <a:solidFill>
                            <a:srgbClr val="000000"/>
                          </a:solidFill>
                          <a:latin typeface="맑은 고딕"/>
                          <a:ea typeface="맑은 고딕"/>
                          <a:cs typeface="+mn-cs"/>
                        </a:rPr>
                        <a:t> GPU </a:t>
                      </a:r>
                      <a:r>
                        <a:rPr sz="950" b="0" kern="1200" dirty="0" err="1">
                          <a:solidFill>
                            <a:srgbClr val="000000"/>
                          </a:solidFill>
                          <a:latin typeface="맑은 고딕"/>
                          <a:ea typeface="맑은 고딕"/>
                          <a:cs typeface="+mn-cs"/>
                        </a:rPr>
                        <a:t>메모리</a:t>
                      </a:r>
                      <a:r>
                        <a:rPr sz="950" b="0" kern="1200" dirty="0">
                          <a:solidFill>
                            <a:srgbClr val="000000"/>
                          </a:solidFill>
                          <a:latin typeface="맑은 고딕"/>
                          <a:ea typeface="맑은 고딕"/>
                          <a:cs typeface="+mn-cs"/>
                        </a:rPr>
                        <a:t> 절</a:t>
                      </a:r>
                      <a:r>
                        <a:rPr lang="ko-KR" altLang="en-US" sz="950" b="0" kern="1200" dirty="0">
                          <a:solidFill>
                            <a:srgbClr val="000000"/>
                          </a:solidFill>
                          <a:latin typeface="맑은 고딕"/>
                          <a:ea typeface="맑은 고딕"/>
                          <a:cs typeface="+mn-cs"/>
                        </a:rPr>
                        <a:t>감률</a:t>
                      </a:r>
                      <a:r>
                        <a:rPr lang="en-US" altLang="ko-KR" sz="950" b="0" kern="1200" dirty="0">
                          <a:solidFill>
                            <a:srgbClr val="000000"/>
                          </a:solidFill>
                          <a:latin typeface="맑은 고딕"/>
                          <a:ea typeface="맑은 고딕"/>
                          <a:cs typeface="+mn-cs"/>
                        </a:rPr>
                        <a:t>(40~80%)</a:t>
                      </a:r>
                      <a:endParaRPr lang="en-US" sz="950" b="0" kern="1200" dirty="0">
                        <a:solidFill>
                          <a:srgbClr val="000000"/>
                        </a:solidFill>
                        <a:latin typeface="맑은 고딕"/>
                        <a:ea typeface="맑은 고딕"/>
                        <a:cs typeface="+mn-cs"/>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50" b="0" kern="1200" dirty="0">
                          <a:solidFill>
                            <a:srgbClr val="000000"/>
                          </a:solidFill>
                          <a:latin typeface="맑은 고딕"/>
                          <a:ea typeface="맑은 고딕"/>
                          <a:cs typeface="+mn-cs"/>
                        </a:rPr>
                        <a:t>GPU HBM </a:t>
                      </a:r>
                      <a:r>
                        <a:rPr lang="ko-KR" altLang="en-US" sz="950" b="0" kern="1200" dirty="0">
                          <a:solidFill>
                            <a:srgbClr val="000000"/>
                          </a:solidFill>
                          <a:latin typeface="맑은 고딕"/>
                          <a:ea typeface="맑은 고딕"/>
                          <a:cs typeface="+mn-cs"/>
                        </a:rPr>
                        <a:t>오프로딩 연구 문헌 </a:t>
                      </a:r>
                      <a:r>
                        <a:rPr lang="en-US" altLang="ko-KR" sz="950" b="0" kern="1200" dirty="0">
                          <a:solidFill>
                            <a:srgbClr val="000000"/>
                          </a:solidFill>
                          <a:latin typeface="맑은 고딕"/>
                          <a:ea typeface="맑은 고딕"/>
                          <a:cs typeface="+mn-cs"/>
                        </a:rPr>
                        <a:t>[1] </a:t>
                      </a:r>
                      <a:endParaRPr lang="ko-KR" altLang="en-US" sz="950" b="0" kern="1200" dirty="0">
                        <a:solidFill>
                          <a:srgbClr val="000000"/>
                        </a:solidFill>
                        <a:latin typeface="맑은 고딕"/>
                        <a:ea typeface="맑은 고딕"/>
                        <a:cs typeface="+mn-cs"/>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extLst>
                  <a:ext uri="{0D108BD9-81ED-4DB2-BD59-A6C34878D82A}">
                    <a16:rowId xmlns:a16="http://schemas.microsoft.com/office/drawing/2014/main" val="10001"/>
                  </a:ext>
                </a:extLst>
              </a:tr>
              <a:tr h="457200">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en-US" sz="950" b="0" dirty="0">
                          <a:solidFill>
                            <a:srgbClr val="000000"/>
                          </a:solidFill>
                          <a:latin typeface="맑은 고딕"/>
                          <a:ea typeface="맑은 고딕"/>
                        </a:rPr>
                        <a:t>20</a:t>
                      </a:r>
                      <a:r>
                        <a:rPr sz="950" b="0" dirty="0">
                          <a:solidFill>
                            <a:srgbClr val="000000"/>
                          </a:solidFill>
                          <a:latin typeface="맑은 고딕"/>
                          <a:ea typeface="맑은 고딕"/>
                        </a:rPr>
                        <a:t>% ≤ </a:t>
                      </a:r>
                      <a:r>
                        <a:rPr sz="950" b="0" dirty="0" err="1">
                          <a:solidFill>
                            <a:srgbClr val="000000"/>
                          </a:solidFill>
                          <a:latin typeface="맑은 고딕"/>
                          <a:ea typeface="맑은 고딕"/>
                        </a:rPr>
                        <a:t>감소율</a:t>
                      </a:r>
                      <a:r>
                        <a:rPr sz="950" b="0" dirty="0">
                          <a:solidFill>
                            <a:srgbClr val="000000"/>
                          </a:solidFill>
                          <a:latin typeface="맑은 고딕"/>
                          <a:ea typeface="맑은 고딕"/>
                        </a:rPr>
                        <a:t> &lt; 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ko-KR" altLang="en-US" sz="950" b="0" dirty="0">
                          <a:solidFill>
                            <a:srgbClr val="000000"/>
                          </a:solidFill>
                          <a:latin typeface="맑은 고딕"/>
                          <a:ea typeface="맑은 고딕"/>
                        </a:rPr>
                        <a:t>정책 선택</a:t>
                      </a:r>
                      <a:endParaRPr lang="en-US" sz="9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50" b="0" dirty="0">
                          <a:solidFill>
                            <a:srgbClr val="000000"/>
                          </a:solidFill>
                          <a:latin typeface="+mn-lt"/>
                          <a:ea typeface="맑은 고딕"/>
                        </a:rPr>
                        <a:t>정책 선택</a:t>
                      </a:r>
                      <a:endParaRPr lang="en-US" altLang="ko-KR" sz="95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extLst>
                  <a:ext uri="{0D108BD9-81ED-4DB2-BD59-A6C34878D82A}">
                    <a16:rowId xmlns:a16="http://schemas.microsoft.com/office/drawing/2014/main" val="10002"/>
                  </a:ext>
                </a:extLst>
              </a:tr>
              <a:tr h="457200">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lnSpc>
                          <a:spcPct val="150000"/>
                        </a:lnSpc>
                      </a:pPr>
                      <a:r>
                        <a:rPr sz="950" b="0" dirty="0" err="1">
                          <a:solidFill>
                            <a:srgbClr val="000000"/>
                          </a:solidFill>
                          <a:latin typeface="맑은 고딕"/>
                          <a:ea typeface="맑은 고딕"/>
                        </a:rPr>
                        <a:t>감소율</a:t>
                      </a:r>
                      <a:r>
                        <a:rPr sz="950" b="0" dirty="0">
                          <a:solidFill>
                            <a:srgbClr val="000000"/>
                          </a:solidFill>
                          <a:latin typeface="맑은 고딕"/>
                          <a:ea typeface="맑은 고딕"/>
                        </a:rPr>
                        <a:t> </a:t>
                      </a:r>
                      <a:r>
                        <a:rPr lang="en-US" sz="950" b="0" dirty="0">
                          <a:solidFill>
                            <a:srgbClr val="000000"/>
                          </a:solidFill>
                          <a:latin typeface="맑은 고딕"/>
                          <a:ea typeface="맑은 고딕"/>
                        </a:rPr>
                        <a:t>&gt;</a:t>
                      </a:r>
                      <a:r>
                        <a:rPr sz="950" b="0" dirty="0">
                          <a:solidFill>
                            <a:srgbClr val="000000"/>
                          </a:solidFill>
                          <a:latin typeface="맑은 고딕"/>
                          <a:ea typeface="맑은 고딕"/>
                        </a:rPr>
                        <a:t> </a:t>
                      </a:r>
                      <a:r>
                        <a:rPr lang="en-US" sz="950" b="0" dirty="0">
                          <a:solidFill>
                            <a:srgbClr val="000000"/>
                          </a:solidFill>
                          <a:latin typeface="맑은 고딕"/>
                          <a:ea typeface="맑은 고딕"/>
                        </a:rPr>
                        <a:t>20%</a:t>
                      </a:r>
                      <a:endParaRPr sz="9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lnSpc>
                          <a:spcPct val="150000"/>
                        </a:lnSpc>
                      </a:pPr>
                      <a:r>
                        <a:rPr lang="en-US" altLang="ko-KR" sz="950" b="0" dirty="0">
                          <a:solidFill>
                            <a:srgbClr val="000000"/>
                          </a:solidFill>
                          <a:latin typeface="+mn-lt"/>
                          <a:ea typeface="맑은 고딕"/>
                        </a:rPr>
                        <a:t>HBM 20% </a:t>
                      </a:r>
                      <a:r>
                        <a:rPr lang="ko-KR" altLang="en-US" sz="950" b="0" dirty="0">
                          <a:solidFill>
                            <a:srgbClr val="000000"/>
                          </a:solidFill>
                          <a:latin typeface="+mn-lt"/>
                          <a:ea typeface="맑은 고딕"/>
                        </a:rPr>
                        <a:t>감소 시 </a:t>
                      </a:r>
                      <a:endParaRPr lang="en-US" altLang="ko-KR" sz="950" b="0" dirty="0">
                        <a:solidFill>
                          <a:srgbClr val="000000"/>
                        </a:solidFill>
                        <a:latin typeface="+mn-lt"/>
                        <a:ea typeface="맑은 고딕"/>
                      </a:endParaRPr>
                    </a:p>
                    <a:p>
                      <a:pPr marL="171450" indent="-171450" algn="l">
                        <a:lnSpc>
                          <a:spcPct val="150000"/>
                        </a:lnSpc>
                        <a:buFontTx/>
                        <a:buChar char="-"/>
                      </a:pPr>
                      <a:r>
                        <a:rPr lang="en-US" altLang="ko-KR" sz="950" b="0" dirty="0">
                          <a:solidFill>
                            <a:srgbClr val="000000"/>
                          </a:solidFill>
                          <a:latin typeface="+mn-lt"/>
                          <a:ea typeface="맑은 고딕"/>
                        </a:rPr>
                        <a:t>Throughput (</a:t>
                      </a:r>
                      <a:r>
                        <a:rPr lang="ko-KR" altLang="en-US" sz="950" b="0" dirty="0">
                          <a:solidFill>
                            <a:srgbClr val="000000"/>
                          </a:solidFill>
                          <a:latin typeface="+mn-lt"/>
                          <a:ea typeface="맑은 고딕"/>
                        </a:rPr>
                        <a:t>처리량</a:t>
                      </a:r>
                      <a:r>
                        <a:rPr lang="en-US" altLang="ko-KR" sz="950" b="0" dirty="0">
                          <a:solidFill>
                            <a:srgbClr val="000000"/>
                          </a:solidFill>
                          <a:latin typeface="+mn-lt"/>
                          <a:ea typeface="맑은 고딕"/>
                        </a:rPr>
                        <a:t>): +25% ~ 40% </a:t>
                      </a:r>
                      <a:r>
                        <a:rPr lang="ko-KR" altLang="en-US" sz="950" b="0" dirty="0">
                          <a:solidFill>
                            <a:srgbClr val="000000"/>
                          </a:solidFill>
                          <a:latin typeface="+mn-lt"/>
                          <a:ea typeface="맑은 고딕"/>
                        </a:rPr>
                        <a:t>향상 </a:t>
                      </a:r>
                      <a:r>
                        <a:rPr lang="en-US" altLang="ko-KR" sz="950" b="0" dirty="0">
                          <a:solidFill>
                            <a:srgbClr val="000000"/>
                          </a:solidFill>
                          <a:latin typeface="+mn-lt"/>
                          <a:ea typeface="맑은 고딕"/>
                        </a:rPr>
                        <a:t>(</a:t>
                      </a:r>
                      <a:r>
                        <a:rPr lang="ko-KR" altLang="en-US" sz="950" b="0" dirty="0">
                          <a:solidFill>
                            <a:srgbClr val="000000"/>
                          </a:solidFill>
                          <a:latin typeface="+mn-lt"/>
                          <a:ea typeface="맑은 고딕"/>
                        </a:rPr>
                        <a:t>동시 처리 </a:t>
                      </a:r>
                      <a:r>
                        <a:rPr lang="ko-KR" altLang="en-US" sz="950" b="0" dirty="0" err="1">
                          <a:solidFill>
                            <a:srgbClr val="000000"/>
                          </a:solidFill>
                          <a:latin typeface="+mn-lt"/>
                          <a:ea typeface="맑은 고딕"/>
                        </a:rPr>
                        <a:t>수용량</a:t>
                      </a:r>
                      <a:r>
                        <a:rPr lang="ko-KR" altLang="en-US" sz="950" b="0" dirty="0">
                          <a:solidFill>
                            <a:srgbClr val="000000"/>
                          </a:solidFill>
                          <a:latin typeface="+mn-lt"/>
                          <a:ea typeface="맑은 고딕"/>
                        </a:rPr>
                        <a:t> 확대</a:t>
                      </a:r>
                      <a:r>
                        <a:rPr lang="en-US" altLang="ko-KR" sz="950" b="0" dirty="0">
                          <a:solidFill>
                            <a:srgbClr val="000000"/>
                          </a:solidFill>
                          <a:latin typeface="+mn-lt"/>
                          <a:ea typeface="맑은 고딕"/>
                        </a:rPr>
                        <a:t>)</a:t>
                      </a:r>
                    </a:p>
                    <a:p>
                      <a:pPr marL="171450" indent="-171450" algn="l">
                        <a:lnSpc>
                          <a:spcPct val="150000"/>
                        </a:lnSpc>
                        <a:buFontTx/>
                        <a:buChar char="-"/>
                      </a:pPr>
                      <a:r>
                        <a:rPr lang="en-US" altLang="ko-KR" sz="950" b="0" dirty="0">
                          <a:solidFill>
                            <a:srgbClr val="000000"/>
                          </a:solidFill>
                          <a:latin typeface="+mn-lt"/>
                          <a:ea typeface="맑은 고딕"/>
                        </a:rPr>
                        <a:t>Queueing Latency (</a:t>
                      </a:r>
                      <a:r>
                        <a:rPr lang="ko-KR" altLang="en-US" sz="950" b="0" dirty="0">
                          <a:solidFill>
                            <a:srgbClr val="000000"/>
                          </a:solidFill>
                          <a:latin typeface="+mn-lt"/>
                          <a:ea typeface="맑은 고딕"/>
                        </a:rPr>
                        <a:t>대기 지연</a:t>
                      </a:r>
                      <a:r>
                        <a:rPr lang="en-US" altLang="ko-KR" sz="950" b="0" dirty="0">
                          <a:solidFill>
                            <a:srgbClr val="000000"/>
                          </a:solidFill>
                          <a:latin typeface="+mn-lt"/>
                          <a:ea typeface="맑은 고딕"/>
                        </a:rPr>
                        <a:t>): -30% </a:t>
                      </a:r>
                      <a:r>
                        <a:rPr lang="ko-KR" altLang="en-US" sz="950" b="0" dirty="0">
                          <a:solidFill>
                            <a:srgbClr val="000000"/>
                          </a:solidFill>
                          <a:latin typeface="+mn-lt"/>
                          <a:ea typeface="맑은 고딕"/>
                        </a:rPr>
                        <a:t>이상 단축 </a:t>
                      </a:r>
                      <a:r>
                        <a:rPr lang="en-US" altLang="ko-KR" sz="950" b="0" dirty="0">
                          <a:solidFill>
                            <a:srgbClr val="000000"/>
                          </a:solidFill>
                          <a:latin typeface="+mn-lt"/>
                          <a:ea typeface="맑은 고딕"/>
                        </a:rPr>
                        <a:t>(</a:t>
                      </a:r>
                      <a:r>
                        <a:rPr lang="ko-KR" altLang="en-US" sz="950" b="0" dirty="0">
                          <a:solidFill>
                            <a:srgbClr val="000000"/>
                          </a:solidFill>
                          <a:latin typeface="+mn-lt"/>
                          <a:ea typeface="맑은 고딕"/>
                        </a:rPr>
                        <a:t>메모리 병목 해소</a:t>
                      </a:r>
                      <a:r>
                        <a:rPr lang="en-US" altLang="ko-KR" sz="950" b="0" dirty="0">
                          <a:solidFill>
                            <a:srgbClr val="000000"/>
                          </a:solidFill>
                          <a:latin typeface="+mn-lt"/>
                          <a:ea typeface="맑은 고딕"/>
                        </a:rPr>
                        <a:t>)</a:t>
                      </a:r>
                      <a:r>
                        <a:rPr lang="ko-KR" altLang="en-US" sz="950" b="0" dirty="0">
                          <a:solidFill>
                            <a:srgbClr val="000000"/>
                          </a:solidFill>
                          <a:latin typeface="+mn-lt"/>
                          <a:ea typeface="맑은 고딕"/>
                        </a:rPr>
                        <a:t> </a:t>
                      </a:r>
                      <a:endParaRPr lang="en-US" altLang="ko-KR" sz="95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lnSpc>
                          <a:spcPct val="150000"/>
                        </a:lnSpc>
                      </a:pPr>
                      <a:r>
                        <a:rPr lang="ko-KR" altLang="en-US" sz="950" b="0" dirty="0">
                          <a:solidFill>
                            <a:srgbClr val="000000"/>
                          </a:solidFill>
                          <a:latin typeface="맑은 고딕"/>
                          <a:ea typeface="맑은 고딕"/>
                        </a:rPr>
                        <a:t>이론적 계산 수치</a:t>
                      </a:r>
                      <a:endParaRPr sz="9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extLst>
                  <a:ext uri="{0D108BD9-81ED-4DB2-BD59-A6C34878D82A}">
                    <a16:rowId xmlns:a16="http://schemas.microsoft.com/office/drawing/2014/main" val="10003"/>
                  </a:ext>
                </a:extLst>
              </a:tr>
            </a:tbl>
          </a:graphicData>
        </a:graphic>
      </p:graphicFrame>
      <p:sp>
        <p:nvSpPr>
          <p:cNvPr id="9" name="l"/>
          <p:cNvSpPr txBox="1"/>
          <p:nvPr/>
        </p:nvSpPr>
        <p:spPr>
          <a:xfrm>
            <a:off x="365759" y="3980878"/>
            <a:ext cx="11091671" cy="581698"/>
          </a:xfrm>
          <a:prstGeom prst="rect">
            <a:avLst/>
          </a:prstGeom>
          <a:noFill/>
        </p:spPr>
        <p:txBody>
          <a:bodyPr wrap="square" lIns="73152" tIns="36576" rIns="73152" bIns="36576" anchor="t">
            <a:spAutoFit/>
          </a:bodyPr>
          <a:lstStyle/>
          <a:p>
            <a:pPr algn="l">
              <a:spcAft>
                <a:spcPts val="250"/>
              </a:spcAft>
            </a:pPr>
            <a:r>
              <a:rPr lang="en-US" altLang="ko-KR" sz="1000" b="1" dirty="0">
                <a:solidFill>
                  <a:srgbClr val="2F5597"/>
                </a:solidFill>
                <a:latin typeface="맑은 고딕"/>
                <a:ea typeface="맑은 고딕"/>
              </a:rPr>
              <a:t>HBM </a:t>
            </a:r>
            <a:r>
              <a:rPr lang="ko-KR" altLang="en-US" sz="1000" b="1" dirty="0">
                <a:solidFill>
                  <a:srgbClr val="2F5597"/>
                </a:solidFill>
                <a:latin typeface="맑은 고딕"/>
                <a:ea typeface="맑은 고딕"/>
              </a:rPr>
              <a:t>사용량</a:t>
            </a:r>
            <a:endParaRPr lang="en-US" altLang="ko-KR" sz="1000" b="1" dirty="0">
              <a:solidFill>
                <a:srgbClr val="2F5597"/>
              </a:solidFill>
              <a:latin typeface="맑은 고딕"/>
              <a:ea typeface="맑은 고딕"/>
            </a:endParaRPr>
          </a:p>
          <a:p>
            <a:pPr algn="l">
              <a:spcAft>
                <a:spcPts val="25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HBM에</a:t>
            </a:r>
            <a:r>
              <a:rPr sz="900" b="0" dirty="0">
                <a:solidFill>
                  <a:srgbClr val="000000"/>
                </a:solidFill>
                <a:latin typeface="맑은 고딕"/>
                <a:ea typeface="맑은 고딕"/>
              </a:rPr>
              <a:t> </a:t>
            </a:r>
            <a:r>
              <a:rPr sz="900" b="0" dirty="0" err="1">
                <a:solidFill>
                  <a:srgbClr val="000000"/>
                </a:solidFill>
                <a:latin typeface="맑은 고딕"/>
                <a:ea typeface="맑은 고딕"/>
              </a:rPr>
              <a:t>올라와</a:t>
            </a:r>
            <a:r>
              <a:rPr sz="900" b="0" dirty="0">
                <a:solidFill>
                  <a:srgbClr val="000000"/>
                </a:solidFill>
                <a:latin typeface="맑은 고딕"/>
                <a:ea typeface="맑은 고딕"/>
              </a:rPr>
              <a:t> </a:t>
            </a:r>
            <a:r>
              <a:rPr sz="900" b="0" dirty="0" err="1">
                <a:solidFill>
                  <a:srgbClr val="000000"/>
                </a:solidFill>
                <a:latin typeface="맑은 고딕"/>
                <a:ea typeface="맑은 고딕"/>
              </a:rPr>
              <a:t>있는</a:t>
            </a:r>
            <a:r>
              <a:rPr sz="900" b="0" dirty="0">
                <a:solidFill>
                  <a:srgbClr val="000000"/>
                </a:solidFill>
                <a:latin typeface="맑은 고딕"/>
                <a:ea typeface="맑은 고딕"/>
              </a:rPr>
              <a:t> </a:t>
            </a:r>
            <a:r>
              <a:rPr lang="ko-KR" altLang="en-US" sz="900" b="0" dirty="0">
                <a:solidFill>
                  <a:srgbClr val="000000"/>
                </a:solidFill>
                <a:latin typeface="맑은 고딕"/>
                <a:ea typeface="맑은 고딕"/>
              </a:rPr>
              <a:t>데이터</a:t>
            </a:r>
            <a:r>
              <a:rPr sz="900" b="0" dirty="0">
                <a:solidFill>
                  <a:srgbClr val="000000"/>
                </a:solidFill>
                <a:latin typeface="맑은 고딕"/>
                <a:ea typeface="맑은 고딕"/>
              </a:rPr>
              <a:t>의 </a:t>
            </a:r>
            <a:r>
              <a:rPr sz="900" b="0" dirty="0" err="1">
                <a:solidFill>
                  <a:srgbClr val="000000"/>
                </a:solidFill>
                <a:latin typeface="맑은 고딕"/>
                <a:ea typeface="맑은 고딕"/>
              </a:rPr>
              <a:t>시간</a:t>
            </a:r>
            <a:r>
              <a:rPr sz="900" b="0" dirty="0">
                <a:solidFill>
                  <a:srgbClr val="000000"/>
                </a:solidFill>
                <a:latin typeface="맑은 고딕"/>
                <a:ea typeface="맑은 고딕"/>
              </a:rPr>
              <a:t> </a:t>
            </a:r>
            <a:r>
              <a:rPr sz="900" b="0" dirty="0" err="1">
                <a:solidFill>
                  <a:srgbClr val="000000"/>
                </a:solidFill>
                <a:latin typeface="맑은 고딕"/>
                <a:ea typeface="맑은 고딕"/>
              </a:rPr>
              <a:t>평균</a:t>
            </a:r>
            <a:r>
              <a:rPr sz="900" b="0" dirty="0">
                <a:solidFill>
                  <a:srgbClr val="000000"/>
                </a:solidFill>
                <a:latin typeface="맑은 고딕"/>
                <a:ea typeface="맑은 고딕"/>
              </a:rPr>
              <a:t> </a:t>
            </a:r>
            <a:r>
              <a:rPr sz="900" b="0" dirty="0" err="1">
                <a:solidFill>
                  <a:srgbClr val="000000"/>
                </a:solidFill>
                <a:latin typeface="맑은 고딕"/>
                <a:ea typeface="맑은 고딕"/>
              </a:rPr>
              <a:t>크기</a:t>
            </a:r>
            <a:endParaRPr lang="en-US" sz="900" b="0" dirty="0">
              <a:solidFill>
                <a:srgbClr val="000000"/>
              </a:solidFill>
              <a:latin typeface="맑은 고딕"/>
              <a:ea typeface="맑은 고딕"/>
            </a:endParaRPr>
          </a:p>
          <a:p>
            <a:pPr algn="l">
              <a:spcAft>
                <a:spcPts val="250"/>
              </a:spcAft>
            </a:pPr>
            <a:r>
              <a:rPr sz="900" b="0" dirty="0">
                <a:solidFill>
                  <a:srgbClr val="000000"/>
                </a:solidFill>
                <a:latin typeface="맑은 고딕"/>
                <a:ea typeface="맑은 고딕"/>
              </a:rPr>
              <a:t>• 예: 100초 중 40초 100 GiB, 60초 50 GiB → 70 </a:t>
            </a:r>
            <a:r>
              <a:rPr sz="900" b="0" dirty="0" err="1">
                <a:solidFill>
                  <a:srgbClr val="000000"/>
                </a:solidFill>
                <a:latin typeface="맑은 고딕"/>
                <a:ea typeface="맑은 고딕"/>
              </a:rPr>
              <a:t>GiB.</a:t>
            </a:r>
            <a:r>
              <a:rPr sz="900" b="0" dirty="0">
                <a:solidFill>
                  <a:srgbClr val="000000"/>
                </a:solidFill>
                <a:latin typeface="맑은 고딕"/>
                <a:ea typeface="맑은 고딕"/>
              </a:rPr>
              <a:t> </a:t>
            </a:r>
            <a:r>
              <a:rPr sz="900" b="0" dirty="0" err="1">
                <a:solidFill>
                  <a:srgbClr val="000000"/>
                </a:solidFill>
                <a:latin typeface="맑은 고딕"/>
                <a:ea typeface="맑은 고딕"/>
              </a:rPr>
              <a:t>감소율</a:t>
            </a:r>
            <a:r>
              <a:rPr sz="900" b="0" dirty="0">
                <a:solidFill>
                  <a:srgbClr val="000000"/>
                </a:solidFill>
                <a:latin typeface="맑은 고딕"/>
                <a:ea typeface="맑은 고딕"/>
              </a:rPr>
              <a:t> 67%면 </a:t>
            </a:r>
            <a:r>
              <a:rPr sz="900" b="0" dirty="0" err="1">
                <a:solidFill>
                  <a:srgbClr val="000000"/>
                </a:solidFill>
                <a:latin typeface="맑은 고딕"/>
                <a:ea typeface="맑은 고딕"/>
              </a:rPr>
              <a:t>HBM을</a:t>
            </a:r>
            <a:r>
              <a:rPr sz="900" b="0" dirty="0">
                <a:solidFill>
                  <a:srgbClr val="000000"/>
                </a:solidFill>
                <a:latin typeface="맑은 고딕"/>
                <a:ea typeface="맑은 고딕"/>
              </a:rPr>
              <a:t> 1/3만 </a:t>
            </a:r>
            <a:r>
              <a:rPr sz="900" b="0" dirty="0" err="1">
                <a:solidFill>
                  <a:srgbClr val="000000"/>
                </a:solidFill>
                <a:latin typeface="맑은 고딕"/>
                <a:ea typeface="맑은 고딕"/>
              </a:rPr>
              <a:t>쓴다</a:t>
            </a:r>
            <a:r>
              <a:rPr sz="900" b="0" dirty="0">
                <a:solidFill>
                  <a:srgbClr val="000000"/>
                </a:solidFill>
                <a:latin typeface="맑은 고딕"/>
                <a:ea typeface="맑은 고딕"/>
              </a:rPr>
              <a:t>.</a:t>
            </a:r>
          </a:p>
        </p:txBody>
      </p:sp>
      <p:sp>
        <p:nvSpPr>
          <p:cNvPr id="11" name="subtitle">
            <a:extLst>
              <a:ext uri="{FF2B5EF4-FFF2-40B4-BE49-F238E27FC236}">
                <a16:creationId xmlns:a16="http://schemas.microsoft.com/office/drawing/2014/main" id="{48BBF660-AA47-4A57-BCE4-0896E47FBB12}"/>
              </a:ext>
            </a:extLst>
          </p:cNvPr>
          <p:cNvSpPr txBox="1"/>
          <p:nvPr/>
        </p:nvSpPr>
        <p:spPr>
          <a:xfrm>
            <a:off x="365760" y="1079932"/>
            <a:ext cx="11430000" cy="620170"/>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a:t>
            </a:r>
            <a:r>
              <a:rPr lang="ko-KR" altLang="en-US" sz="1100" b="1" dirty="0">
                <a:solidFill>
                  <a:srgbClr val="2F5597"/>
                </a:solidFill>
                <a:latin typeface="맑은 고딕"/>
                <a:ea typeface="맑은 고딕"/>
              </a:rPr>
              <a:t>△</a:t>
            </a:r>
            <a:r>
              <a:rPr lang="en-US" altLang="ko-KR" sz="1100" b="1" dirty="0">
                <a:solidFill>
                  <a:srgbClr val="2F5597"/>
                </a:solidFill>
                <a:latin typeface="맑은 고딕"/>
                <a:ea typeface="맑은 고딕"/>
              </a:rPr>
              <a:t>HBM </a:t>
            </a:r>
            <a:r>
              <a:rPr lang="ko-KR" altLang="en-US" sz="1100" b="1" dirty="0">
                <a:solidFill>
                  <a:srgbClr val="2F5597"/>
                </a:solidFill>
                <a:latin typeface="맑은 고딕"/>
                <a:ea typeface="맑은 고딕"/>
              </a:rPr>
              <a:t>사용률</a:t>
            </a:r>
            <a:r>
              <a:rPr lang="en-US" altLang="ko-KR" sz="1100" b="1" dirty="0">
                <a:solidFill>
                  <a:srgbClr val="2F5597"/>
                </a:solidFill>
                <a:latin typeface="맑은 고딕"/>
                <a:ea typeface="맑은 고딕"/>
              </a:rPr>
              <a:t>) ÷ Baseline HBM </a:t>
            </a:r>
            <a:r>
              <a:rPr lang="ko-KR" altLang="en-US" sz="1100" b="1" dirty="0">
                <a:solidFill>
                  <a:srgbClr val="2F5597"/>
                </a:solidFill>
                <a:latin typeface="맑은 고딕"/>
                <a:ea typeface="맑은 고딕"/>
              </a:rPr>
              <a:t>사용률</a:t>
            </a:r>
            <a:endParaRPr lang="en-US" altLang="ko-KR" sz="1100" b="1" dirty="0">
              <a:solidFill>
                <a:srgbClr val="2F5597"/>
              </a:solidFill>
              <a:latin typeface="맑은 고딕"/>
              <a:ea typeface="맑은 고딕"/>
            </a:endParaRPr>
          </a:p>
          <a:p>
            <a:pPr marL="171450" indent="-171450">
              <a:lnSpc>
                <a:spcPct val="150000"/>
              </a:lnSpc>
              <a:spcAft>
                <a:spcPts val="250"/>
              </a:spcAft>
              <a:buFontTx/>
              <a:buChar char="-"/>
            </a:pPr>
            <a:r>
              <a:rPr lang="en-US" altLang="ko-KR" sz="1100" b="0" dirty="0">
                <a:solidFill>
                  <a:srgbClr val="404040"/>
                </a:solidFill>
                <a:latin typeface="맑은 고딕"/>
                <a:ea typeface="맑은 고딕"/>
              </a:rPr>
              <a:t>HBM </a:t>
            </a:r>
            <a:r>
              <a:rPr lang="ko-KR" altLang="en-US" sz="1100" b="0" dirty="0">
                <a:solidFill>
                  <a:srgbClr val="404040"/>
                </a:solidFill>
                <a:latin typeface="맑은 고딕"/>
                <a:ea typeface="맑은 고딕"/>
              </a:rPr>
              <a:t>사용률</a:t>
            </a:r>
            <a:r>
              <a:rPr lang="en-US" altLang="ko-KR" sz="1100" b="0" dirty="0">
                <a:solidFill>
                  <a:srgbClr val="404040"/>
                </a:solidFill>
                <a:latin typeface="맑은 고딕"/>
                <a:ea typeface="맑은 고딕"/>
              </a:rPr>
              <a:t>: </a:t>
            </a:r>
            <a:r>
              <a:rPr lang="en-US" altLang="ko-KR" sz="1100" dirty="0">
                <a:solidFill>
                  <a:srgbClr val="404040"/>
                </a:solidFill>
                <a:latin typeface="맑은 고딕"/>
                <a:ea typeface="맑은 고딕"/>
              </a:rPr>
              <a:t>HBM</a:t>
            </a:r>
            <a:r>
              <a:rPr lang="ko-KR" altLang="en-US" sz="1100" dirty="0">
                <a:solidFill>
                  <a:srgbClr val="404040"/>
                </a:solidFill>
                <a:latin typeface="맑은 고딕"/>
                <a:ea typeface="맑은 고딕"/>
              </a:rPr>
              <a:t>에 위치하는 </a:t>
            </a:r>
            <a:r>
              <a:rPr lang="en-US" altLang="ko-KR" sz="1100" dirty="0">
                <a:solidFill>
                  <a:srgbClr val="404040"/>
                </a:solidFill>
                <a:latin typeface="맑은 고딕"/>
                <a:ea typeface="맑은 고딕"/>
              </a:rPr>
              <a:t>Data </a:t>
            </a:r>
            <a:r>
              <a:rPr lang="ko-KR" altLang="en-US" sz="1100" dirty="0">
                <a:solidFill>
                  <a:srgbClr val="404040"/>
                </a:solidFill>
                <a:latin typeface="맑은 고딕"/>
                <a:ea typeface="맑은 고딕"/>
              </a:rPr>
              <a:t>크기 </a:t>
            </a:r>
            <a:r>
              <a:rPr lang="en-US" altLang="ko-KR" sz="1100" dirty="0">
                <a:solidFill>
                  <a:srgbClr val="404040"/>
                </a:solidFill>
                <a:latin typeface="맑은 고딕"/>
                <a:ea typeface="맑은 고딕"/>
              </a:rPr>
              <a:t>/ </a:t>
            </a:r>
            <a:r>
              <a:rPr lang="ko-KR" altLang="en-US" sz="1100" dirty="0">
                <a:solidFill>
                  <a:srgbClr val="404040"/>
                </a:solidFill>
                <a:latin typeface="맑은 고딕"/>
                <a:ea typeface="맑은 고딕"/>
              </a:rPr>
              <a:t>전체 </a:t>
            </a:r>
            <a:r>
              <a:rPr lang="en-US" altLang="ko-KR" sz="1100" dirty="0">
                <a:solidFill>
                  <a:srgbClr val="404040"/>
                </a:solidFill>
                <a:latin typeface="맑은 고딕"/>
                <a:ea typeface="맑은 고딕"/>
              </a:rPr>
              <a:t>Data </a:t>
            </a:r>
            <a:r>
              <a:rPr lang="ko-KR" altLang="en-US" sz="1100" dirty="0">
                <a:solidFill>
                  <a:srgbClr val="404040"/>
                </a:solidFill>
                <a:latin typeface="맑은 고딕"/>
                <a:ea typeface="맑은 고딕"/>
              </a:rPr>
              <a:t>크기 </a:t>
            </a:r>
            <a:endParaRPr lang="en-US" altLang="ko-KR" sz="1100" dirty="0">
              <a:solidFill>
                <a:srgbClr val="404040"/>
              </a:solidFill>
              <a:latin typeface="맑은 고딕"/>
              <a:ea typeface="맑은 고딕"/>
            </a:endParaRPr>
          </a:p>
        </p:txBody>
      </p:sp>
      <p:sp>
        <p:nvSpPr>
          <p:cNvPr id="12" name="l">
            <a:extLst>
              <a:ext uri="{FF2B5EF4-FFF2-40B4-BE49-F238E27FC236}">
                <a16:creationId xmlns:a16="http://schemas.microsoft.com/office/drawing/2014/main" id="{C7317DA6-7038-4C74-866A-99DE76D41639}"/>
              </a:ext>
            </a:extLst>
          </p:cNvPr>
          <p:cNvSpPr txBox="1"/>
          <p:nvPr/>
        </p:nvSpPr>
        <p:spPr>
          <a:xfrm>
            <a:off x="365759" y="4819606"/>
            <a:ext cx="11091671" cy="1289584"/>
          </a:xfrm>
          <a:prstGeom prst="rect">
            <a:avLst/>
          </a:prstGeom>
          <a:noFill/>
        </p:spPr>
        <p:txBody>
          <a:bodyPr wrap="square" lIns="73152" tIns="36576" rIns="73152" bIns="36576" anchor="t">
            <a:spAutoFit/>
          </a:bodyPr>
          <a:lstStyle/>
          <a:p>
            <a:pPr algn="l">
              <a:spcAft>
                <a:spcPts val="250"/>
              </a:spcAft>
            </a:pPr>
            <a:r>
              <a:rPr lang="ko-KR" altLang="en-US" sz="1000" b="1" dirty="0">
                <a:solidFill>
                  <a:srgbClr val="2F5597"/>
                </a:solidFill>
                <a:latin typeface="맑은 고딕"/>
                <a:ea typeface="맑은 고딕"/>
              </a:rPr>
              <a:t>전체 </a:t>
            </a:r>
            <a:r>
              <a:rPr lang="en-US" altLang="ko-KR" sz="1000" b="1" dirty="0">
                <a:solidFill>
                  <a:srgbClr val="2F5597"/>
                </a:solidFill>
                <a:latin typeface="맑은 고딕"/>
                <a:ea typeface="맑은 고딕"/>
              </a:rPr>
              <a:t>Data</a:t>
            </a:r>
            <a:r>
              <a:rPr lang="ko-KR" altLang="en-US" sz="1000" b="1" dirty="0">
                <a:solidFill>
                  <a:srgbClr val="2F5597"/>
                </a:solidFill>
                <a:latin typeface="맑은 고딕"/>
                <a:ea typeface="맑은 고딕"/>
              </a:rPr>
              <a:t>의 </a:t>
            </a:r>
            <a:r>
              <a:rPr lang="en-US" altLang="ko-KR" sz="1000" b="1" dirty="0">
                <a:solidFill>
                  <a:srgbClr val="2F5597"/>
                </a:solidFill>
                <a:latin typeface="맑은 고딕"/>
                <a:ea typeface="맑은 고딕"/>
              </a:rPr>
              <a:t>HBM </a:t>
            </a:r>
            <a:r>
              <a:rPr lang="ko-KR" altLang="en-US" sz="1000" b="1" dirty="0">
                <a:solidFill>
                  <a:srgbClr val="2F5597"/>
                </a:solidFill>
                <a:latin typeface="맑은 고딕"/>
                <a:ea typeface="맑은 고딕"/>
              </a:rPr>
              <a:t>사용률 </a:t>
            </a:r>
            <a:r>
              <a:rPr lang="en-US" altLang="ko-KR" sz="1000" b="1" dirty="0">
                <a:solidFill>
                  <a:srgbClr val="2F5597"/>
                </a:solidFill>
                <a:latin typeface="맑은 고딕"/>
                <a:ea typeface="맑은 고딕"/>
              </a:rPr>
              <a:t>= HBM </a:t>
            </a:r>
            <a:r>
              <a:rPr lang="ko-KR" altLang="en-US" sz="1000" b="1" dirty="0">
                <a:solidFill>
                  <a:srgbClr val="2F5597"/>
                </a:solidFill>
                <a:latin typeface="맑은 고딕"/>
                <a:ea typeface="맑은 고딕"/>
              </a:rPr>
              <a:t>사용량 </a:t>
            </a:r>
            <a:r>
              <a:rPr lang="en-US" altLang="ko-KR" sz="1000" b="1" dirty="0">
                <a:solidFill>
                  <a:srgbClr val="2F5597"/>
                </a:solidFill>
                <a:latin typeface="맑은 고딕"/>
                <a:ea typeface="맑은 고딕"/>
              </a:rPr>
              <a:t>/ </a:t>
            </a:r>
            <a:r>
              <a:rPr lang="ko-KR" altLang="en-US" sz="1000" b="1" dirty="0">
                <a:solidFill>
                  <a:srgbClr val="2F5597"/>
                </a:solidFill>
                <a:latin typeface="맑은 고딕"/>
                <a:ea typeface="맑은 고딕"/>
              </a:rPr>
              <a:t>전체 </a:t>
            </a:r>
            <a:r>
              <a:rPr lang="en-US" altLang="ko-KR" sz="1000" b="1" dirty="0">
                <a:solidFill>
                  <a:srgbClr val="2F5597"/>
                </a:solidFill>
                <a:latin typeface="맑은 고딕"/>
                <a:ea typeface="맑은 고딕"/>
              </a:rPr>
              <a:t>Data </a:t>
            </a:r>
            <a:r>
              <a:rPr lang="ko-KR" altLang="en-US" sz="1000" b="1" dirty="0">
                <a:solidFill>
                  <a:srgbClr val="2F5597"/>
                </a:solidFill>
                <a:latin typeface="맑은 고딕"/>
                <a:ea typeface="맑은 고딕"/>
              </a:rPr>
              <a:t>크기</a:t>
            </a:r>
            <a:endParaRPr lang="en-US" altLang="ko-KR" sz="1000" b="1" dirty="0">
              <a:solidFill>
                <a:srgbClr val="2F5597"/>
              </a:solidFill>
              <a:latin typeface="맑은 고딕"/>
              <a:ea typeface="맑은 고딕"/>
            </a:endParaRPr>
          </a:p>
          <a:p>
            <a:pPr algn="l">
              <a:spcAft>
                <a:spcPts val="250"/>
              </a:spcAft>
            </a:pPr>
            <a:r>
              <a:rPr sz="900" b="0" dirty="0">
                <a:solidFill>
                  <a:srgbClr val="000000"/>
                </a:solidFill>
                <a:latin typeface="맑은 고딕"/>
                <a:ea typeface="맑은 고딕"/>
              </a:rPr>
              <a:t>• </a:t>
            </a:r>
            <a:r>
              <a:rPr lang="ko-KR" altLang="en-US" sz="900" b="0" dirty="0">
                <a:solidFill>
                  <a:srgbClr val="000000"/>
                </a:solidFill>
                <a:latin typeface="맑은 고딕"/>
                <a:ea typeface="맑은 고딕"/>
              </a:rPr>
              <a:t>전체 크기 중 </a:t>
            </a:r>
            <a:r>
              <a:rPr lang="en-US" altLang="ko-KR" sz="900" b="0" dirty="0">
                <a:solidFill>
                  <a:srgbClr val="000000"/>
                </a:solidFill>
                <a:latin typeface="맑은 고딕"/>
                <a:ea typeface="맑은 고딕"/>
              </a:rPr>
              <a:t>HBM</a:t>
            </a:r>
            <a:r>
              <a:rPr lang="ko-KR" altLang="en-US" sz="900" b="0" dirty="0">
                <a:solidFill>
                  <a:srgbClr val="000000"/>
                </a:solidFill>
                <a:latin typeface="맑은 고딕"/>
                <a:ea typeface="맑은 고딕"/>
              </a:rPr>
              <a:t>에 배치된 크기 </a:t>
            </a:r>
            <a:endParaRPr lang="en-US" altLang="ko-KR" sz="900" dirty="0">
              <a:solidFill>
                <a:srgbClr val="000000"/>
              </a:solidFill>
              <a:latin typeface="맑은 고딕"/>
              <a:ea typeface="맑은 고딕"/>
            </a:endParaRPr>
          </a:p>
          <a:p>
            <a:pPr algn="l">
              <a:spcAft>
                <a:spcPts val="250"/>
              </a:spcAft>
            </a:pPr>
            <a:r>
              <a:rPr lang="en-US" altLang="ko-KR" sz="900" b="0" dirty="0">
                <a:solidFill>
                  <a:srgbClr val="000000"/>
                </a:solidFill>
                <a:latin typeface="맑은 고딕"/>
                <a:ea typeface="맑은 고딕"/>
              </a:rPr>
              <a:t>  - </a:t>
            </a:r>
            <a:r>
              <a:rPr lang="ko-KR" altLang="en-US" sz="900" b="0" dirty="0">
                <a:solidFill>
                  <a:srgbClr val="000000"/>
                </a:solidFill>
                <a:latin typeface="맑은 고딕"/>
                <a:ea typeface="맑은 고딕"/>
              </a:rPr>
              <a:t>예</a:t>
            </a:r>
            <a:r>
              <a:rPr lang="en-US" altLang="ko-KR" sz="900" b="0" dirty="0">
                <a:solidFill>
                  <a:srgbClr val="000000"/>
                </a:solidFill>
                <a:latin typeface="맑은 고딕"/>
                <a:ea typeface="맑은 고딕"/>
              </a:rPr>
              <a:t>:</a:t>
            </a:r>
            <a:r>
              <a:rPr lang="ko-KR" altLang="en-US" sz="900" dirty="0">
                <a:solidFill>
                  <a:srgbClr val="000000"/>
                </a:solidFill>
                <a:latin typeface="맑은 고딕"/>
                <a:ea typeface="맑은 고딕"/>
              </a:rPr>
              <a:t> </a:t>
            </a:r>
            <a:r>
              <a:rPr lang="en-US" altLang="ko-KR" sz="900" dirty="0">
                <a:solidFill>
                  <a:srgbClr val="000000"/>
                </a:solidFill>
                <a:latin typeface="맑은 고딕"/>
                <a:ea typeface="맑은 고딕"/>
              </a:rPr>
              <a:t>KV </a:t>
            </a:r>
            <a:r>
              <a:rPr lang="ko-KR" altLang="en-US" sz="900" dirty="0">
                <a:solidFill>
                  <a:srgbClr val="000000"/>
                </a:solidFill>
                <a:latin typeface="맑은 고딕"/>
                <a:ea typeface="맑은 고딕"/>
              </a:rPr>
              <a:t>총 </a:t>
            </a:r>
            <a:r>
              <a:rPr lang="en-US" altLang="ko-KR" sz="900" dirty="0">
                <a:solidFill>
                  <a:srgbClr val="000000"/>
                </a:solidFill>
                <a:latin typeface="맑은 고딕"/>
                <a:ea typeface="맑은 고딕"/>
              </a:rPr>
              <a:t>120GB </a:t>
            </a:r>
            <a:r>
              <a:rPr lang="ko-KR" altLang="en-US" sz="900" dirty="0">
                <a:solidFill>
                  <a:srgbClr val="000000"/>
                </a:solidFill>
                <a:latin typeface="맑은 고딕"/>
                <a:ea typeface="맑은 고딕"/>
              </a:rPr>
              <a:t>중 </a:t>
            </a:r>
            <a:r>
              <a:rPr lang="en-US" altLang="ko-KR" sz="900" dirty="0">
                <a:solidFill>
                  <a:srgbClr val="000000"/>
                </a:solidFill>
                <a:latin typeface="맑은 고딕"/>
                <a:ea typeface="맑은 고딕"/>
              </a:rPr>
              <a:t>HBM</a:t>
            </a:r>
            <a:r>
              <a:rPr lang="ko-KR" altLang="en-US" sz="900" dirty="0">
                <a:solidFill>
                  <a:srgbClr val="000000"/>
                </a:solidFill>
                <a:latin typeface="맑은 고딕"/>
                <a:ea typeface="맑은 고딕"/>
              </a:rPr>
              <a:t>에 배치된 </a:t>
            </a:r>
            <a:r>
              <a:rPr lang="en-US" altLang="ko-KR" sz="900" dirty="0">
                <a:solidFill>
                  <a:srgbClr val="000000"/>
                </a:solidFill>
                <a:latin typeface="맑은 고딕"/>
                <a:ea typeface="맑은 고딕"/>
              </a:rPr>
              <a:t>KV 60GB: 50%</a:t>
            </a:r>
            <a:endParaRPr lang="en-US" sz="900" b="0" dirty="0">
              <a:solidFill>
                <a:srgbClr val="000000"/>
              </a:solidFill>
              <a:latin typeface="맑은 고딕"/>
              <a:ea typeface="맑은 고딕"/>
            </a:endParaRPr>
          </a:p>
          <a:p>
            <a:pPr algn="l">
              <a:spcAft>
                <a:spcPts val="250"/>
              </a:spcAft>
            </a:pPr>
            <a:r>
              <a:rPr sz="900" b="0" dirty="0">
                <a:solidFill>
                  <a:srgbClr val="000000"/>
                </a:solidFill>
                <a:latin typeface="맑은 고딕"/>
                <a:ea typeface="맑은 고딕"/>
              </a:rPr>
              <a:t>•</a:t>
            </a:r>
            <a:r>
              <a:rPr lang="en-US" sz="900" b="0" dirty="0">
                <a:solidFill>
                  <a:srgbClr val="000000"/>
                </a:solidFill>
                <a:latin typeface="맑은 고딕"/>
                <a:ea typeface="맑은 고딕"/>
              </a:rPr>
              <a:t> </a:t>
            </a:r>
            <a:r>
              <a:rPr lang="ko-KR" altLang="en-US" sz="900" b="0" dirty="0">
                <a:solidFill>
                  <a:srgbClr val="000000"/>
                </a:solidFill>
                <a:latin typeface="맑은 고딕"/>
                <a:ea typeface="맑은 고딕"/>
              </a:rPr>
              <a:t>전체</a:t>
            </a:r>
            <a:r>
              <a:rPr lang="en-US" altLang="ko-KR" sz="900" dirty="0">
                <a:solidFill>
                  <a:srgbClr val="000000"/>
                </a:solidFill>
                <a:latin typeface="맑은 고딕"/>
                <a:ea typeface="맑은 고딕"/>
              </a:rPr>
              <a:t> HBM </a:t>
            </a:r>
            <a:r>
              <a:rPr lang="ko-KR" altLang="en-US" sz="900" dirty="0">
                <a:solidFill>
                  <a:srgbClr val="000000"/>
                </a:solidFill>
                <a:latin typeface="맑은 고딕"/>
                <a:ea typeface="맑은 고딕"/>
              </a:rPr>
              <a:t>크기 내 </a:t>
            </a:r>
            <a:r>
              <a:rPr lang="en-US" sz="900" dirty="0">
                <a:solidFill>
                  <a:srgbClr val="000000"/>
                </a:solidFill>
                <a:latin typeface="맑은 고딕"/>
                <a:ea typeface="맑은 고딕"/>
              </a:rPr>
              <a:t>HBM</a:t>
            </a:r>
            <a:r>
              <a:rPr lang="ko-KR" altLang="en-US" sz="900" dirty="0">
                <a:solidFill>
                  <a:srgbClr val="000000"/>
                </a:solidFill>
                <a:latin typeface="맑은 고딕"/>
                <a:ea typeface="맑은 고딕"/>
              </a:rPr>
              <a:t> 점유율과 다른 점</a:t>
            </a:r>
            <a:r>
              <a:rPr lang="en-US" altLang="ko-KR" sz="900" dirty="0">
                <a:solidFill>
                  <a:srgbClr val="000000"/>
                </a:solidFill>
                <a:latin typeface="맑은 고딕"/>
                <a:ea typeface="맑은 고딕"/>
              </a:rPr>
              <a:t>: </a:t>
            </a:r>
            <a:r>
              <a:rPr lang="ko-KR" altLang="en-US" sz="900" dirty="0">
                <a:solidFill>
                  <a:srgbClr val="000000"/>
                </a:solidFill>
                <a:latin typeface="맑은 고딕"/>
                <a:ea typeface="맑은 고딕"/>
              </a:rPr>
              <a:t>요청이 많아지면 </a:t>
            </a:r>
            <a:r>
              <a:rPr lang="en-US" altLang="ko-KR" sz="900" dirty="0">
                <a:solidFill>
                  <a:srgbClr val="000000"/>
                </a:solidFill>
                <a:latin typeface="맑은 고딕"/>
                <a:ea typeface="맑은 고딕"/>
              </a:rPr>
              <a:t>HBM</a:t>
            </a:r>
            <a:r>
              <a:rPr lang="ko-KR" altLang="en-US" sz="900" dirty="0">
                <a:solidFill>
                  <a:srgbClr val="000000"/>
                </a:solidFill>
                <a:latin typeface="맑은 고딕"/>
                <a:ea typeface="맑은 고딕"/>
              </a:rPr>
              <a:t> 크기 내 </a:t>
            </a:r>
            <a:r>
              <a:rPr lang="ko-KR" altLang="en-US" sz="900" dirty="0" err="1">
                <a:solidFill>
                  <a:srgbClr val="000000"/>
                </a:solidFill>
                <a:latin typeface="맑은 고딕"/>
                <a:ea typeface="맑은 고딕"/>
              </a:rPr>
              <a:t>점유율로만으로</a:t>
            </a:r>
            <a:r>
              <a:rPr lang="ko-KR" altLang="en-US" sz="900" dirty="0">
                <a:solidFill>
                  <a:srgbClr val="000000"/>
                </a:solidFill>
                <a:latin typeface="맑은 고딕"/>
                <a:ea typeface="맑은 고딕"/>
              </a:rPr>
              <a:t> 데이터 이동 효율성을 평가할 수 없음</a:t>
            </a:r>
            <a:endParaRPr lang="en-US" altLang="ko-KR" sz="900" dirty="0">
              <a:solidFill>
                <a:srgbClr val="000000"/>
              </a:solidFill>
              <a:latin typeface="맑은 고딕"/>
              <a:ea typeface="맑은 고딕"/>
            </a:endParaRPr>
          </a:p>
          <a:p>
            <a:pPr algn="l">
              <a:spcAft>
                <a:spcPts val="250"/>
              </a:spcAft>
            </a:pPr>
            <a:r>
              <a:rPr lang="en-US" altLang="ko-KR" sz="900" dirty="0">
                <a:solidFill>
                  <a:srgbClr val="000000"/>
                </a:solidFill>
                <a:latin typeface="맑은 고딕"/>
                <a:ea typeface="맑은 고딕"/>
              </a:rPr>
              <a:t>  - </a:t>
            </a:r>
            <a:r>
              <a:rPr lang="ko-KR" altLang="en-US" sz="900" dirty="0">
                <a:solidFill>
                  <a:srgbClr val="000000"/>
                </a:solidFill>
                <a:latin typeface="맑은 고딕"/>
                <a:ea typeface="맑은 고딕"/>
              </a:rPr>
              <a:t>예</a:t>
            </a:r>
            <a:r>
              <a:rPr lang="en-US" altLang="ko-KR" sz="900" dirty="0">
                <a:solidFill>
                  <a:srgbClr val="000000"/>
                </a:solidFill>
                <a:latin typeface="맑은 고딕"/>
                <a:ea typeface="맑은 고딕"/>
              </a:rPr>
              <a:t>: HBM 80GB, KV 60GB, HBM </a:t>
            </a:r>
            <a:r>
              <a:rPr lang="ko-KR" altLang="en-US" sz="900" dirty="0">
                <a:solidFill>
                  <a:srgbClr val="000000"/>
                </a:solidFill>
                <a:latin typeface="맑은 고딕"/>
                <a:ea typeface="맑은 고딕"/>
              </a:rPr>
              <a:t>점유 </a:t>
            </a:r>
            <a:r>
              <a:rPr lang="en-US" altLang="ko-KR" sz="900" dirty="0">
                <a:solidFill>
                  <a:srgbClr val="000000"/>
                </a:solidFill>
                <a:latin typeface="맑은 고딕"/>
                <a:ea typeface="맑은 고딕"/>
              </a:rPr>
              <a:t>40GB -&gt; KV 120GB, HBM </a:t>
            </a:r>
            <a:r>
              <a:rPr lang="ko-KR" altLang="en-US" sz="900" dirty="0">
                <a:solidFill>
                  <a:srgbClr val="000000"/>
                </a:solidFill>
                <a:latin typeface="맑은 고딕"/>
                <a:ea typeface="맑은 고딕"/>
              </a:rPr>
              <a:t>점유 </a:t>
            </a:r>
            <a:r>
              <a:rPr lang="en-US" altLang="ko-KR" sz="900" dirty="0">
                <a:solidFill>
                  <a:srgbClr val="000000"/>
                </a:solidFill>
                <a:latin typeface="맑은 고딕"/>
                <a:ea typeface="맑은 고딕"/>
              </a:rPr>
              <a:t>64GB </a:t>
            </a:r>
          </a:p>
          <a:p>
            <a:pPr algn="l">
              <a:spcAft>
                <a:spcPts val="250"/>
              </a:spcAft>
            </a:pPr>
            <a:r>
              <a:rPr lang="en-US" altLang="ko-KR" sz="900" dirty="0">
                <a:solidFill>
                  <a:srgbClr val="000000"/>
                </a:solidFill>
                <a:latin typeface="맑은 고딕"/>
                <a:ea typeface="맑은 고딕"/>
              </a:rPr>
              <a:t>        </a:t>
            </a:r>
            <a:r>
              <a:rPr lang="en-US" altLang="ko-KR" sz="900" dirty="0">
                <a:solidFill>
                  <a:srgbClr val="000000"/>
                </a:solidFill>
                <a:latin typeface="맑은 고딕"/>
                <a:ea typeface="맑은 고딕"/>
                <a:sym typeface="Wingdings" panose="05000000000000000000" pitchFamily="2" charset="2"/>
              </a:rPr>
              <a:t> HBM </a:t>
            </a:r>
            <a:r>
              <a:rPr lang="ko-KR" altLang="en-US" sz="900" dirty="0">
                <a:solidFill>
                  <a:srgbClr val="000000"/>
                </a:solidFill>
                <a:latin typeface="맑은 고딕"/>
                <a:ea typeface="맑은 고딕"/>
                <a:sym typeface="Wingdings" panose="05000000000000000000" pitchFamily="2" charset="2"/>
              </a:rPr>
              <a:t>크기 내 </a:t>
            </a:r>
            <a:r>
              <a:rPr lang="en-US" altLang="ko-KR" sz="900" dirty="0">
                <a:solidFill>
                  <a:srgbClr val="000000"/>
                </a:solidFill>
                <a:latin typeface="맑은 고딕"/>
                <a:ea typeface="맑은 고딕"/>
                <a:sym typeface="Wingdings" panose="05000000000000000000" pitchFamily="2" charset="2"/>
              </a:rPr>
              <a:t>HBM</a:t>
            </a:r>
            <a:r>
              <a:rPr lang="ko-KR" altLang="en-US" sz="900" dirty="0">
                <a:solidFill>
                  <a:srgbClr val="000000"/>
                </a:solidFill>
                <a:latin typeface="맑은 고딕"/>
                <a:ea typeface="맑은 고딕"/>
                <a:sym typeface="Wingdings" panose="05000000000000000000" pitchFamily="2" charset="2"/>
              </a:rPr>
              <a:t> 점유율</a:t>
            </a:r>
            <a:r>
              <a:rPr lang="en-US" altLang="ko-KR" sz="900" dirty="0">
                <a:solidFill>
                  <a:srgbClr val="000000"/>
                </a:solidFill>
                <a:latin typeface="맑은 고딕"/>
                <a:ea typeface="맑은 고딕"/>
                <a:sym typeface="Wingdings" panose="05000000000000000000" pitchFamily="2" charset="2"/>
              </a:rPr>
              <a:t>: 50% (40/80) -&gt; 80% (64/80)</a:t>
            </a:r>
          </a:p>
          <a:p>
            <a:pPr algn="l">
              <a:spcAft>
                <a:spcPts val="250"/>
              </a:spcAft>
            </a:pPr>
            <a:r>
              <a:rPr lang="en-US" altLang="ko-KR" sz="900" b="1" dirty="0">
                <a:solidFill>
                  <a:srgbClr val="0000FF"/>
                </a:solidFill>
                <a:latin typeface="맑은 고딕"/>
                <a:ea typeface="맑은 고딕"/>
                <a:sym typeface="Wingdings" panose="05000000000000000000" pitchFamily="2" charset="2"/>
              </a:rPr>
              <a:t>         </a:t>
            </a:r>
            <a:r>
              <a:rPr lang="ko-KR" altLang="en-US" sz="900" b="1" dirty="0">
                <a:solidFill>
                  <a:srgbClr val="0000FF"/>
                </a:solidFill>
                <a:latin typeface="맑은 고딕"/>
                <a:ea typeface="맑은 고딕"/>
                <a:sym typeface="Wingdings" panose="05000000000000000000" pitchFamily="2" charset="2"/>
              </a:rPr>
              <a:t>전체 </a:t>
            </a:r>
            <a:r>
              <a:rPr lang="en-US" altLang="ko-KR" sz="900" b="1" dirty="0">
                <a:solidFill>
                  <a:srgbClr val="0000FF"/>
                </a:solidFill>
                <a:latin typeface="맑은 고딕"/>
                <a:ea typeface="맑은 고딕"/>
                <a:sym typeface="Wingdings" panose="05000000000000000000" pitchFamily="2" charset="2"/>
              </a:rPr>
              <a:t>Data</a:t>
            </a:r>
            <a:r>
              <a:rPr lang="ko-KR" altLang="en-US" sz="900" b="1" dirty="0">
                <a:solidFill>
                  <a:srgbClr val="0000FF"/>
                </a:solidFill>
                <a:latin typeface="맑은 고딕"/>
                <a:ea typeface="맑은 고딕"/>
                <a:sym typeface="Wingdings" panose="05000000000000000000" pitchFamily="2" charset="2"/>
              </a:rPr>
              <a:t>의 </a:t>
            </a:r>
            <a:r>
              <a:rPr lang="en-US" altLang="ko-KR" sz="900" b="1" dirty="0">
                <a:solidFill>
                  <a:srgbClr val="0000FF"/>
                </a:solidFill>
                <a:latin typeface="맑은 고딕"/>
                <a:ea typeface="맑은 고딕"/>
                <a:sym typeface="Wingdings" panose="05000000000000000000" pitchFamily="2" charset="2"/>
              </a:rPr>
              <a:t>HBM </a:t>
            </a:r>
            <a:r>
              <a:rPr lang="ko-KR" altLang="en-US" sz="900" b="1" dirty="0">
                <a:solidFill>
                  <a:srgbClr val="0000FF"/>
                </a:solidFill>
                <a:latin typeface="맑은 고딕"/>
                <a:ea typeface="맑은 고딕"/>
                <a:sym typeface="Wingdings" panose="05000000000000000000" pitchFamily="2" charset="2"/>
              </a:rPr>
              <a:t>사용률</a:t>
            </a:r>
            <a:r>
              <a:rPr lang="en-US" altLang="ko-KR" sz="900" b="1" dirty="0">
                <a:solidFill>
                  <a:srgbClr val="0000FF"/>
                </a:solidFill>
                <a:latin typeface="맑은 고딕"/>
                <a:ea typeface="맑은 고딕"/>
                <a:sym typeface="Wingdings" panose="05000000000000000000" pitchFamily="2" charset="2"/>
              </a:rPr>
              <a:t>: 66% (60/80) -&gt; 53% (64/120)</a:t>
            </a:r>
            <a:endParaRPr lang="en-US" altLang="ko-KR" sz="900" b="1" dirty="0">
              <a:solidFill>
                <a:srgbClr val="0000FF"/>
              </a:solidFill>
              <a:latin typeface="맑은 고딕"/>
              <a:ea typeface="맑은 고딕"/>
            </a:endParaRPr>
          </a:p>
        </p:txBody>
      </p:sp>
      <p:sp>
        <p:nvSpPr>
          <p:cNvPr id="14" name="실행 단추: 뒤로 또는 이전 13">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04278022"/>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lang="ko-KR" altLang="en-US" sz="2200" b="1" dirty="0">
                <a:solidFill>
                  <a:srgbClr val="2F5597"/>
                </a:solidFill>
                <a:latin typeface="맑은 고딕"/>
                <a:ea typeface="맑은 고딕"/>
              </a:rPr>
              <a:t>고부하 시 </a:t>
            </a:r>
            <a:r>
              <a:rPr sz="2200" b="1" dirty="0" err="1">
                <a:solidFill>
                  <a:srgbClr val="2F5597"/>
                </a:solidFill>
                <a:latin typeface="맑은 고딕"/>
                <a:ea typeface="맑은 고딕"/>
              </a:rPr>
              <a:t>지연</a:t>
            </a:r>
            <a:r>
              <a:rPr lang="ko-KR" altLang="en-US" sz="2200" b="1" dirty="0">
                <a:solidFill>
                  <a:srgbClr val="2F5597"/>
                </a:solidFill>
                <a:latin typeface="맑은 고딕"/>
                <a:ea typeface="맑은 고딕"/>
              </a:rPr>
              <a:t>시간 </a:t>
            </a:r>
            <a:r>
              <a:rPr lang="en-US" altLang="ko-KR" sz="2200" b="1" dirty="0">
                <a:solidFill>
                  <a:srgbClr val="2F5597"/>
                </a:solidFill>
                <a:latin typeface="맑은 고딕"/>
                <a:ea typeface="맑은 고딕"/>
              </a:rPr>
              <a:t>-</a:t>
            </a:r>
            <a:r>
              <a:rPr lang="ko-KR" altLang="en-US" sz="2200" b="1" dirty="0">
                <a:solidFill>
                  <a:srgbClr val="2F5597"/>
                </a:solidFill>
                <a:latin typeface="맑은 고딕"/>
                <a:ea typeface="맑은 고딕"/>
              </a:rPr>
              <a:t> 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en-US" sz="1100" b="0" dirty="0">
                <a:solidFill>
                  <a:srgbClr val="404040"/>
                </a:solidFill>
                <a:latin typeface="맑은 고딕"/>
                <a:ea typeface="맑은 고딕"/>
              </a:rPr>
              <a:t>Baseline </a:t>
            </a:r>
            <a:r>
              <a:rPr lang="ko-KR" altLang="en-US" sz="1100" b="0" dirty="0">
                <a:solidFill>
                  <a:srgbClr val="404040"/>
                </a:solidFill>
                <a:latin typeface="맑은 고딕"/>
                <a:ea typeface="맑은 고딕"/>
              </a:rPr>
              <a:t>대비 </a:t>
            </a:r>
            <a:r>
              <a:rPr lang="en-US" altLang="ko-KR" sz="1100" b="0" dirty="0" smtClean="0">
                <a:solidFill>
                  <a:srgbClr val="404040"/>
                </a:solidFill>
                <a:latin typeface="맑은 고딕"/>
                <a:ea typeface="맑은 고딕"/>
              </a:rPr>
              <a:t>Elapsed Time</a:t>
            </a:r>
            <a:r>
              <a:rPr lang="ko-KR" altLang="en-US" sz="1100" dirty="0" smtClean="0">
                <a:solidFill>
                  <a:srgbClr val="404040"/>
                </a:solidFill>
                <a:latin typeface="맑은 고딕"/>
                <a:ea typeface="맑은 고딕"/>
              </a:rPr>
              <a:t>의 </a:t>
            </a:r>
            <a:r>
              <a:rPr lang="en-US" altLang="ko-KR" sz="1100" dirty="0">
                <a:solidFill>
                  <a:srgbClr val="404040"/>
                </a:solidFill>
                <a:latin typeface="맑은 고딕"/>
                <a:ea typeface="맑은 고딕"/>
              </a:rPr>
              <a:t>Tail Latency (P99</a:t>
            </a:r>
            <a:r>
              <a:rPr lang="en-US" altLang="ko-KR" sz="1100" b="0" dirty="0">
                <a:solidFill>
                  <a:srgbClr val="404040"/>
                </a:solidFill>
                <a:latin typeface="맑은 고딕"/>
                <a:ea typeface="맑은 고딕"/>
              </a:rPr>
              <a:t>)</a:t>
            </a:r>
            <a:r>
              <a:rPr lang="ko-KR" altLang="en-US" sz="1100" b="0" dirty="0">
                <a:solidFill>
                  <a:srgbClr val="404040"/>
                </a:solidFill>
                <a:latin typeface="맑은 고딕"/>
                <a:ea typeface="맑은 고딕"/>
              </a:rPr>
              <a:t> 감소율 </a:t>
            </a:r>
            <a:endParaRPr lang="en-US" sz="1100" b="0" dirty="0">
              <a:solidFill>
                <a:srgbClr val="404040"/>
              </a:solidFill>
              <a:latin typeface="맑은 고딕"/>
              <a:ea typeface="맑은 고딕"/>
            </a:endParaRPr>
          </a:p>
        </p:txBody>
      </p:sp>
      <p:sp>
        <p:nvSpPr>
          <p:cNvPr id="66" name="rule">
            <a:extLst>
              <a:ext uri="{FF2B5EF4-FFF2-40B4-BE49-F238E27FC236}">
                <a16:creationId xmlns:a16="http://schemas.microsoft.com/office/drawing/2014/main" id="{BBC76857-BE8F-4F24-AC5F-EB9776070AA7}"/>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src">
            <a:extLst>
              <a:ext uri="{FF2B5EF4-FFF2-40B4-BE49-F238E27FC236}">
                <a16:creationId xmlns:a16="http://schemas.microsoft.com/office/drawing/2014/main" id="{7619CFC5-FC40-47AD-9BC1-081FC10B4390}"/>
              </a:ext>
            </a:extLst>
          </p:cNvPr>
          <p:cNvSpPr txBox="1"/>
          <p:nvPr/>
        </p:nvSpPr>
        <p:spPr>
          <a:xfrm>
            <a:off x="365759" y="6583680"/>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LMCache</a:t>
            </a:r>
            <a:r>
              <a:rPr sz="750" b="0" dirty="0">
                <a:solidFill>
                  <a:srgbClr val="404040"/>
                </a:solidFill>
                <a:latin typeface="맑은 고딕"/>
                <a:ea typeface="맑은 고딕"/>
              </a:rPr>
              <a:t> (</a:t>
            </a:r>
            <a:r>
              <a:rPr sz="750" b="0" dirty="0" err="1">
                <a:solidFill>
                  <a:srgbClr val="404040"/>
                </a:solidFill>
                <a:latin typeface="맑은 고딕"/>
                <a:ea typeface="맑은 고딕"/>
              </a:rPr>
              <a:t>arXiv</a:t>
            </a:r>
            <a:r>
              <a:rPr sz="750" b="0" dirty="0">
                <a:solidFill>
                  <a:srgbClr val="404040"/>
                </a:solidFill>
                <a:latin typeface="맑은 고딕"/>
                <a:ea typeface="맑은 고딕"/>
              </a:rPr>
              <a:t> 2510.09665) · </a:t>
            </a:r>
            <a:r>
              <a:rPr sz="750" b="0" dirty="0" err="1">
                <a:solidFill>
                  <a:srgbClr val="404040"/>
                </a:solidFill>
                <a:latin typeface="맑은 고딕"/>
                <a:ea typeface="맑은 고딕"/>
              </a:rPr>
              <a:t>KVFlow</a:t>
            </a:r>
            <a:r>
              <a:rPr sz="750" b="0" dirty="0">
                <a:solidFill>
                  <a:srgbClr val="404040"/>
                </a:solidFill>
                <a:latin typeface="맑은 고딕"/>
                <a:ea typeface="맑은 고딕"/>
              </a:rPr>
              <a:t> (</a:t>
            </a:r>
            <a:r>
              <a:rPr sz="750" b="0" dirty="0" err="1">
                <a:solidFill>
                  <a:srgbClr val="404040"/>
                </a:solidFill>
                <a:latin typeface="맑은 고딕"/>
                <a:ea typeface="맑은 고딕"/>
              </a:rPr>
              <a:t>arXiv</a:t>
            </a:r>
            <a:r>
              <a:rPr sz="750" b="0" dirty="0">
                <a:solidFill>
                  <a:srgbClr val="404040"/>
                </a:solidFill>
                <a:latin typeface="맑은 고딕"/>
                <a:ea typeface="맑은 고딕"/>
              </a:rPr>
              <a:t> 2507.07400) · </a:t>
            </a:r>
            <a:r>
              <a:rPr sz="750" b="0" dirty="0" err="1">
                <a:solidFill>
                  <a:srgbClr val="404040"/>
                </a:solidFill>
                <a:latin typeface="맑은 고딕"/>
                <a:ea typeface="맑은 고딕"/>
              </a:rPr>
              <a:t>DirectKV</a:t>
            </a:r>
            <a:r>
              <a:rPr sz="750" b="0" dirty="0">
                <a:solidFill>
                  <a:srgbClr val="404040"/>
                </a:solidFill>
                <a:latin typeface="맑은 고딕"/>
                <a:ea typeface="맑은 고딕"/>
              </a:rPr>
              <a:t> OSDI'26.</a:t>
            </a:r>
          </a:p>
        </p:txBody>
      </p:sp>
      <p:pic>
        <p:nvPicPr>
          <p:cNvPr id="68" name="그림 67">
            <a:extLst>
              <a:ext uri="{FF2B5EF4-FFF2-40B4-BE49-F238E27FC236}">
                <a16:creationId xmlns:a16="http://schemas.microsoft.com/office/drawing/2014/main" id="{94DC35E3-1953-4364-9C7F-094A25711418}"/>
              </a:ext>
            </a:extLst>
          </p:cNvPr>
          <p:cNvPicPr>
            <a:picLocks noChangeAspect="1"/>
          </p:cNvPicPr>
          <p:nvPr/>
        </p:nvPicPr>
        <p:blipFill rotWithShape="1">
          <a:blip r:embed="rId3"/>
          <a:srcRect l="3011" r="635" b="11226"/>
          <a:stretch/>
        </p:blipFill>
        <p:spPr>
          <a:xfrm>
            <a:off x="411480" y="4800600"/>
            <a:ext cx="3526737" cy="1600200"/>
          </a:xfrm>
          <a:prstGeom prst="rect">
            <a:avLst/>
          </a:prstGeom>
        </p:spPr>
      </p:pic>
      <p:sp>
        <p:nvSpPr>
          <p:cNvPr id="69" name="metric">
            <a:extLst>
              <a:ext uri="{FF2B5EF4-FFF2-40B4-BE49-F238E27FC236}">
                <a16:creationId xmlns:a16="http://schemas.microsoft.com/office/drawing/2014/main" id="{5A64ACBD-C734-4515-9089-50C8D74678AC}"/>
              </a:ext>
            </a:extLst>
          </p:cNvPr>
          <p:cNvSpPr txBox="1"/>
          <p:nvPr/>
        </p:nvSpPr>
        <p:spPr>
          <a:xfrm>
            <a:off x="365760" y="1069848"/>
            <a:ext cx="11430000" cy="547073"/>
          </a:xfrm>
          <a:prstGeom prst="rect">
            <a:avLst/>
          </a:prstGeom>
          <a:noFill/>
        </p:spPr>
        <p:txBody>
          <a:bodyPr wrap="square" lIns="73152" tIns="36576" rIns="73152" bIns="36576" anchor="t">
            <a:spAutoFit/>
          </a:bodyPr>
          <a:lstStyle/>
          <a:p>
            <a:pPr>
              <a:lnSpc>
                <a:spcPct val="150000"/>
              </a:lnSpc>
            </a:pPr>
            <a:r>
              <a:rPr lang="en-US" altLang="ko-KR" sz="1050" b="1" dirty="0">
                <a:solidFill>
                  <a:srgbClr val="2F5597"/>
                </a:solidFill>
                <a:latin typeface="맑은 고딕"/>
                <a:ea typeface="맑은 고딕"/>
              </a:rPr>
              <a:t>[Metric] </a:t>
            </a:r>
            <a:r>
              <a:rPr lang="ko-KR" altLang="en-US" sz="1050" b="1" dirty="0">
                <a:solidFill>
                  <a:srgbClr val="2F5597"/>
                </a:solidFill>
                <a:latin typeface="맑은 고딕"/>
                <a:ea typeface="맑은 고딕"/>
              </a:rPr>
              <a:t>감소율 </a:t>
            </a:r>
            <a:r>
              <a:rPr lang="en-US" altLang="ko-KR" sz="1050" b="1" dirty="0">
                <a:solidFill>
                  <a:srgbClr val="2F5597"/>
                </a:solidFill>
                <a:latin typeface="맑은 고딕"/>
                <a:ea typeface="맑은 고딕"/>
              </a:rPr>
              <a:t>r = </a:t>
            </a:r>
            <a:r>
              <a:rPr lang="en-US" altLang="ko-KR" sz="1050" b="1" dirty="0" smtClean="0">
                <a:solidFill>
                  <a:srgbClr val="2F5597"/>
                </a:solidFill>
                <a:latin typeface="맑은 고딕"/>
                <a:ea typeface="맑은 고딕"/>
              </a:rPr>
              <a:t>E2E Latency ÷ Baseline</a:t>
            </a:r>
            <a:r>
              <a:rPr lang="ko-KR" altLang="en-US" sz="1050" b="1" dirty="0" smtClean="0">
                <a:solidFill>
                  <a:srgbClr val="2F5597"/>
                </a:solidFill>
                <a:latin typeface="맑은 고딕"/>
                <a:ea typeface="맑은 고딕"/>
              </a:rPr>
              <a:t> </a:t>
            </a:r>
            <a:r>
              <a:rPr lang="en-US" altLang="ko-KR" sz="1050" b="1" dirty="0">
                <a:solidFill>
                  <a:srgbClr val="2F5597"/>
                </a:solidFill>
                <a:latin typeface="맑은 고딕"/>
                <a:ea typeface="맑은 고딕"/>
              </a:rPr>
              <a:t>,  </a:t>
            </a:r>
            <a:r>
              <a:rPr lang="ko-KR" altLang="en-US" sz="1050" b="1" dirty="0" err="1">
                <a:solidFill>
                  <a:srgbClr val="2F5597"/>
                </a:solidFill>
                <a:latin typeface="맑은 고딕"/>
                <a:ea typeface="맑은 고딕"/>
              </a:rPr>
              <a:t>개선율</a:t>
            </a:r>
            <a:r>
              <a:rPr lang="ko-KR" altLang="en-US" sz="1050" b="1" dirty="0">
                <a:solidFill>
                  <a:srgbClr val="2F5597"/>
                </a:solidFill>
                <a:latin typeface="맑은 고딕"/>
                <a:ea typeface="맑은 고딕"/>
              </a:rPr>
              <a:t> </a:t>
            </a:r>
            <a:r>
              <a:rPr lang="en-US" altLang="ko-KR" sz="1050" b="1" dirty="0">
                <a:solidFill>
                  <a:srgbClr val="2F5597"/>
                </a:solidFill>
                <a:latin typeface="맑은 고딕"/>
                <a:ea typeface="맑은 고딕"/>
              </a:rPr>
              <a:t>=1/(1-r)</a:t>
            </a:r>
            <a:endParaRPr lang="en-US" sz="1050" b="1" dirty="0">
              <a:solidFill>
                <a:srgbClr val="2F5597"/>
              </a:solidFill>
              <a:latin typeface="맑은 고딕"/>
              <a:ea typeface="맑은 고딕"/>
            </a:endParaRPr>
          </a:p>
          <a:p>
            <a:pPr marL="171450" indent="-171450" algn="l">
              <a:lnSpc>
                <a:spcPct val="150000"/>
              </a:lnSpc>
              <a:spcAft>
                <a:spcPts val="0"/>
              </a:spcAft>
              <a:buFontTx/>
              <a:buChar char="-"/>
            </a:pPr>
            <a:r>
              <a:rPr lang="ko-KR" altLang="en-US" sz="1000" b="0" dirty="0">
                <a:solidFill>
                  <a:srgbClr val="000000"/>
                </a:solidFill>
                <a:latin typeface="맑은 고딕"/>
                <a:ea typeface="맑은 고딕"/>
              </a:rPr>
              <a:t>고</a:t>
            </a:r>
            <a:r>
              <a:rPr sz="1000" b="0" dirty="0" err="1">
                <a:solidFill>
                  <a:srgbClr val="000000"/>
                </a:solidFill>
                <a:latin typeface="맑은 고딕"/>
                <a:ea typeface="맑은 고딕"/>
              </a:rPr>
              <a:t>부하</a:t>
            </a:r>
            <a:r>
              <a:rPr lang="en-US" sz="1000" dirty="0">
                <a:solidFill>
                  <a:srgbClr val="000000"/>
                </a:solidFill>
                <a:latin typeface="맑은 고딕"/>
                <a:ea typeface="맑은 고딕"/>
              </a:rPr>
              <a:t> </a:t>
            </a:r>
            <a:r>
              <a:rPr lang="ko-KR" altLang="en-US" sz="1000" dirty="0">
                <a:solidFill>
                  <a:srgbClr val="000000"/>
                </a:solidFill>
                <a:latin typeface="맑은 고딕"/>
                <a:ea typeface="맑은 고딕"/>
              </a:rPr>
              <a:t>상황</a:t>
            </a:r>
            <a:r>
              <a:rPr sz="1000" b="0" dirty="0">
                <a:solidFill>
                  <a:srgbClr val="000000"/>
                </a:solidFill>
                <a:latin typeface="맑은 고딕"/>
                <a:ea typeface="맑은 고딕"/>
              </a:rPr>
              <a:t>: </a:t>
            </a:r>
            <a:r>
              <a:rPr lang="ko-KR" altLang="en-US" sz="1000" dirty="0" smtClean="0">
                <a:solidFill>
                  <a:srgbClr val="000000"/>
                </a:solidFill>
                <a:latin typeface="맑은 고딕"/>
                <a:ea typeface="맑은 고딕"/>
              </a:rPr>
              <a:t>평가 시나리오에서 </a:t>
            </a:r>
            <a:r>
              <a:rPr lang="ko-KR" altLang="en-US" sz="1000" b="0" dirty="0" smtClean="0">
                <a:solidFill>
                  <a:srgbClr val="000000"/>
                </a:solidFill>
                <a:latin typeface="맑은 고딕"/>
                <a:ea typeface="맑은 고딕"/>
              </a:rPr>
              <a:t>가장 높았던 동시 요청 수의 </a:t>
            </a:r>
            <a:r>
              <a:rPr lang="en-US" altLang="ko-KR" sz="1000" b="0" dirty="0" smtClean="0">
                <a:solidFill>
                  <a:srgbClr val="000000"/>
                </a:solidFill>
                <a:latin typeface="맑은 고딕"/>
                <a:ea typeface="맑은 고딕"/>
              </a:rPr>
              <a:t>90% </a:t>
            </a:r>
            <a:endParaRPr lang="en-US" sz="1000" b="0" dirty="0">
              <a:solidFill>
                <a:srgbClr val="000000"/>
              </a:solidFill>
              <a:latin typeface="맑은 고딕"/>
              <a:ea typeface="맑은 고딕"/>
            </a:endParaRPr>
          </a:p>
        </p:txBody>
      </p:sp>
      <p:graphicFrame>
        <p:nvGraphicFramePr>
          <p:cNvPr id="70" name="tbl">
            <a:extLst>
              <a:ext uri="{FF2B5EF4-FFF2-40B4-BE49-F238E27FC236}">
                <a16:creationId xmlns:a16="http://schemas.microsoft.com/office/drawing/2014/main" id="{D3EB879F-38E2-437E-A13A-0E64D4E28531}"/>
              </a:ext>
            </a:extLst>
          </p:cNvPr>
          <p:cNvGraphicFramePr>
            <a:graphicFrameLocks noGrp="1"/>
          </p:cNvGraphicFramePr>
          <p:nvPr>
            <p:extLst>
              <p:ext uri="{D42A27DB-BD31-4B8C-83A1-F6EECF244321}">
                <p14:modId xmlns:p14="http://schemas.microsoft.com/office/powerpoint/2010/main" val="1385710938"/>
              </p:ext>
            </p:extLst>
          </p:nvPr>
        </p:nvGraphicFramePr>
        <p:xfrm>
          <a:off x="373380" y="1922527"/>
          <a:ext cx="11457432" cy="2029968"/>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826895">
                  <a:extLst>
                    <a:ext uri="{9D8B030D-6E8A-4147-A177-3AD203B41FA5}">
                      <a16:colId xmlns:a16="http://schemas.microsoft.com/office/drawing/2014/main" val="20001"/>
                    </a:ext>
                  </a:extLst>
                </a:gridCol>
                <a:gridCol w="6722745">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19456">
                <a:tc>
                  <a:txBody>
                    <a:bodyPr/>
                    <a:lstStyle/>
                    <a:p>
                      <a:pPr algn="ctr"/>
                      <a:r>
                        <a:rPr sz="1000" b="1">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기준 (정량)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01752">
                <a:tc>
                  <a:txBody>
                    <a:bodyPr/>
                    <a:lstStyle/>
                    <a:p>
                      <a:pPr algn="ctr">
                        <a:lnSpc>
                          <a:spcPct val="125000"/>
                        </a:lnSpc>
                      </a:pPr>
                      <a:r>
                        <a:rPr sz="90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dirty="0">
                          <a:solidFill>
                            <a:srgbClr val="000000"/>
                          </a:solidFill>
                          <a:latin typeface="맑은 고딕"/>
                          <a:ea typeface="맑은 고딕"/>
                        </a:rPr>
                        <a:t>r ≥ </a:t>
                      </a:r>
                      <a:r>
                        <a:rPr lang="en-US" sz="900" b="0" dirty="0">
                          <a:solidFill>
                            <a:srgbClr val="000000"/>
                          </a:solidFill>
                          <a:latin typeface="맑은 고딕"/>
                          <a:ea typeface="맑은 고딕"/>
                        </a:rPr>
                        <a:t>0.67 </a:t>
                      </a:r>
                      <a:r>
                        <a:rPr sz="900" b="0" dirty="0">
                          <a:solidFill>
                            <a:srgbClr val="000000"/>
                          </a:solidFill>
                          <a:latin typeface="맑은 고딕"/>
                          <a:ea typeface="맑은 고딕"/>
                        </a:rPr>
                        <a:t>(</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3x)</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1" dirty="0" err="1">
                          <a:solidFill>
                            <a:srgbClr val="000000"/>
                          </a:solidFill>
                          <a:latin typeface="맑은 고딕"/>
                          <a:ea typeface="맑은 고딕"/>
                        </a:rPr>
                        <a:t>경쟁</a:t>
                      </a:r>
                      <a:r>
                        <a:rPr sz="900" b="1" dirty="0">
                          <a:solidFill>
                            <a:srgbClr val="000000"/>
                          </a:solidFill>
                          <a:latin typeface="맑은 고딕"/>
                          <a:ea typeface="맑은 고딕"/>
                        </a:rPr>
                        <a:t> </a:t>
                      </a:r>
                      <a:r>
                        <a:rPr sz="900" b="1" dirty="0" err="1">
                          <a:solidFill>
                            <a:srgbClr val="000000"/>
                          </a:solidFill>
                          <a:latin typeface="맑은 고딕"/>
                          <a:ea typeface="맑은 고딕"/>
                        </a:rPr>
                        <a:t>기술의</a:t>
                      </a:r>
                      <a:r>
                        <a:rPr sz="900" b="1" dirty="0">
                          <a:solidFill>
                            <a:srgbClr val="000000"/>
                          </a:solidFill>
                          <a:latin typeface="맑은 고딕"/>
                          <a:ea typeface="맑은 고딕"/>
                        </a:rPr>
                        <a:t> 1.5x(offload baseline </a:t>
                      </a:r>
                      <a:r>
                        <a:rPr sz="900" b="1" dirty="0" err="1">
                          <a:solidFill>
                            <a:srgbClr val="000000"/>
                          </a:solidFill>
                          <a:latin typeface="맑은 고딕"/>
                          <a:ea typeface="맑은 고딕"/>
                        </a:rPr>
                        <a:t>대비</a:t>
                      </a:r>
                      <a:r>
                        <a:rPr sz="900" b="1" dirty="0">
                          <a:solidFill>
                            <a:srgbClr val="000000"/>
                          </a:solidFill>
                          <a:latin typeface="맑은 고딕"/>
                          <a:ea typeface="맑은 고딕"/>
                        </a:rPr>
                        <a:t> </a:t>
                      </a:r>
                      <a:r>
                        <a:rPr sz="900" b="1" dirty="0" err="1">
                          <a:solidFill>
                            <a:srgbClr val="000000"/>
                          </a:solidFill>
                          <a:latin typeface="맑은 고딕"/>
                          <a:ea typeface="맑은 고딕"/>
                        </a:rPr>
                        <a:t>문헌</a:t>
                      </a:r>
                      <a:r>
                        <a:rPr sz="900" b="1" dirty="0">
                          <a:solidFill>
                            <a:srgbClr val="000000"/>
                          </a:solidFill>
                          <a:latin typeface="맑은 고딕"/>
                          <a:ea typeface="맑은 고딕"/>
                        </a:rPr>
                        <a:t> </a:t>
                      </a:r>
                      <a:r>
                        <a:rPr sz="900" b="1" dirty="0" err="1">
                          <a:solidFill>
                            <a:srgbClr val="000000"/>
                          </a:solidFill>
                          <a:latin typeface="맑은 고딕"/>
                          <a:ea typeface="맑은 고딕"/>
                        </a:rPr>
                        <a:t>개선</a:t>
                      </a:r>
                      <a:r>
                        <a:rPr sz="900" b="1" dirty="0">
                          <a:solidFill>
                            <a:srgbClr val="000000"/>
                          </a:solidFill>
                          <a:latin typeface="맑은 고딕"/>
                          <a:ea typeface="맑은 고딕"/>
                        </a:rPr>
                        <a:t> 1.2~1.83x의 </a:t>
                      </a:r>
                      <a:r>
                        <a:rPr sz="900" b="1" dirty="0" err="1">
                          <a:solidFill>
                            <a:srgbClr val="000000"/>
                          </a:solidFill>
                          <a:latin typeface="맑은 고딕"/>
                          <a:ea typeface="맑은 고딕"/>
                        </a:rPr>
                        <a:t>중간</a:t>
                      </a:r>
                      <a:r>
                        <a:rPr sz="900" b="1" dirty="0">
                          <a:solidFill>
                            <a:srgbClr val="000000"/>
                          </a:solidFill>
                          <a:latin typeface="맑은 고딕"/>
                          <a:ea typeface="맑은 고딕"/>
                        </a:rPr>
                        <a:t>). </a:t>
                      </a:r>
                      <a:endParaRPr lang="en-US" sz="9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a:solidFill>
                            <a:srgbClr val="000000"/>
                          </a:solidFill>
                          <a:latin typeface="맑은 고딕"/>
                          <a:ea typeface="맑은 고딕"/>
                        </a:rPr>
                        <a:t>LMCache, KVFlow, DirectKV</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01752">
                <a:tc>
                  <a:txBody>
                    <a:bodyPr/>
                    <a:lstStyle/>
                    <a:p>
                      <a:pPr algn="ctr">
                        <a:lnSpc>
                          <a:spcPct val="125000"/>
                        </a:lnSpc>
                      </a:pPr>
                      <a:r>
                        <a:rPr sz="90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lang="en-US" sz="900" b="0" dirty="0">
                          <a:solidFill>
                            <a:srgbClr val="000000"/>
                          </a:solidFill>
                          <a:latin typeface="맑은 고딕"/>
                          <a:ea typeface="맑은 고딕"/>
                        </a:rPr>
                        <a:t>0.59</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0.67</a:t>
                      </a:r>
                      <a:r>
                        <a:rPr sz="900" b="0" dirty="0">
                          <a:solidFill>
                            <a:srgbClr val="000000"/>
                          </a:solidFill>
                          <a:latin typeface="맑은 고딕"/>
                          <a:ea typeface="맑은 고딕"/>
                        </a:rPr>
                        <a:t> (</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2.45x</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r>
                        <a:rPr lang="ko-KR" altLang="en-US" sz="900" b="0" dirty="0">
                          <a:solidFill>
                            <a:srgbClr val="000000"/>
                          </a:solidFill>
                          <a:latin typeface="+mn-lt"/>
                          <a:ea typeface="맑은 고딕"/>
                        </a:rPr>
                        <a:t>★</a:t>
                      </a:r>
                      <a:r>
                        <a:rPr lang="en-US" altLang="ko-KR" sz="900" b="0" dirty="0">
                          <a:solidFill>
                            <a:srgbClr val="000000"/>
                          </a:solidFill>
                          <a:latin typeface="+mn-lt"/>
                          <a:ea typeface="맑은 고딕"/>
                        </a:rPr>
                        <a:t>2</a:t>
                      </a:r>
                      <a:r>
                        <a:rPr lang="ko-KR" altLang="en-US" sz="900" b="0" dirty="0">
                          <a:solidFill>
                            <a:srgbClr val="000000"/>
                          </a:solidFill>
                          <a:latin typeface="+mn-lt"/>
                          <a:ea typeface="맑은 고딕"/>
                        </a:rPr>
                        <a:t>와 ★</a:t>
                      </a:r>
                      <a:r>
                        <a:rPr lang="en-US" altLang="ko-KR" sz="900" b="0" dirty="0">
                          <a:solidFill>
                            <a:srgbClr val="000000"/>
                          </a:solidFill>
                          <a:latin typeface="+mn-lt"/>
                          <a:ea typeface="맑은 고딕"/>
                        </a:rPr>
                        <a:t>3</a:t>
                      </a:r>
                      <a:r>
                        <a:rPr lang="ko-KR" altLang="en-US" sz="900" b="0" dirty="0">
                          <a:solidFill>
                            <a:srgbClr val="000000"/>
                          </a:solidFill>
                          <a:latin typeface="+mn-lt"/>
                          <a:ea typeface="맑은 고딕"/>
                        </a:rPr>
                        <a:t>의 </a:t>
                      </a:r>
                      <a:r>
                        <a:rPr lang="ko-KR" altLang="en-US" sz="900" b="0" dirty="0" smtClean="0">
                          <a:solidFill>
                            <a:srgbClr val="000000"/>
                          </a:solidFill>
                          <a:latin typeface="+mn-lt"/>
                          <a:ea typeface="맑은 고딕"/>
                        </a:rPr>
                        <a:t>중점</a:t>
                      </a:r>
                      <a:endParaRPr lang="en-US" altLang="ko-KR" sz="900" b="0" dirty="0">
                        <a:solidFill>
                          <a:srgbClr val="000000"/>
                        </a:solidFill>
                        <a:latin typeface="+mn-lt"/>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301752">
                <a:tc>
                  <a:txBody>
                    <a:bodyPr/>
                    <a:lstStyle/>
                    <a:p>
                      <a:pPr algn="ctr">
                        <a:lnSpc>
                          <a:spcPct val="125000"/>
                        </a:lnSpc>
                      </a:pPr>
                      <a:r>
                        <a:rPr sz="90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en-US" sz="900" b="0" dirty="0">
                          <a:solidFill>
                            <a:srgbClr val="000000"/>
                          </a:solidFill>
                          <a:latin typeface="맑은 고딕"/>
                          <a:ea typeface="맑은 고딕"/>
                        </a:rPr>
                        <a:t>0.5</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0.59 </a:t>
                      </a:r>
                      <a:r>
                        <a:rPr sz="900" b="0" dirty="0">
                          <a:solidFill>
                            <a:srgbClr val="000000"/>
                          </a:solidFill>
                          <a:latin typeface="맑은 고딕"/>
                          <a:ea typeface="맑은 고딕"/>
                        </a:rPr>
                        <a:t>(</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2x</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1" dirty="0" err="1">
                          <a:solidFill>
                            <a:srgbClr val="000000"/>
                          </a:solidFill>
                          <a:latin typeface="맑은 고딕"/>
                          <a:ea typeface="맑은 고딕"/>
                        </a:rPr>
                        <a:t>경쟁</a:t>
                      </a:r>
                      <a:r>
                        <a:rPr sz="900" b="1" dirty="0">
                          <a:solidFill>
                            <a:srgbClr val="000000"/>
                          </a:solidFill>
                          <a:latin typeface="맑은 고딕"/>
                          <a:ea typeface="맑은 고딕"/>
                        </a:rPr>
                        <a:t> </a:t>
                      </a:r>
                      <a:r>
                        <a:rPr sz="900" b="1" dirty="0" err="1">
                          <a:solidFill>
                            <a:srgbClr val="000000"/>
                          </a:solidFill>
                          <a:latin typeface="맑은 고딕"/>
                          <a:ea typeface="맑은 고딕"/>
                        </a:rPr>
                        <a:t>기술</a:t>
                      </a:r>
                      <a:r>
                        <a:rPr sz="900" b="1" dirty="0">
                          <a:solidFill>
                            <a:srgbClr val="000000"/>
                          </a:solidFill>
                          <a:latin typeface="맑은 고딕"/>
                          <a:ea typeface="맑은 고딕"/>
                        </a:rPr>
                        <a:t> </a:t>
                      </a:r>
                      <a:r>
                        <a:rPr sz="900" b="1" dirty="0" err="1">
                          <a:solidFill>
                            <a:srgbClr val="000000"/>
                          </a:solidFill>
                          <a:latin typeface="맑은 고딕"/>
                          <a:ea typeface="맑은 고딕"/>
                        </a:rPr>
                        <a:t>수준</a:t>
                      </a:r>
                      <a:r>
                        <a:rPr sz="900" b="1" dirty="0">
                          <a:solidFill>
                            <a:srgbClr val="000000"/>
                          </a:solidFill>
                          <a:latin typeface="맑은 고딕"/>
                          <a:ea typeface="맑은 고딕"/>
                        </a:rPr>
                        <a:t>: </a:t>
                      </a:r>
                      <a:r>
                        <a:rPr sz="900" b="0" dirty="0" err="1">
                          <a:solidFill>
                            <a:srgbClr val="000000"/>
                          </a:solidFill>
                          <a:latin typeface="맑은 고딕"/>
                          <a:ea typeface="맑은 고딕"/>
                        </a:rPr>
                        <a:t>LMCache</a:t>
                      </a:r>
                      <a:r>
                        <a:rPr sz="900" b="0" dirty="0">
                          <a:solidFill>
                            <a:srgbClr val="000000"/>
                          </a:solidFill>
                          <a:latin typeface="맑은 고딕"/>
                          <a:ea typeface="맑은 고딕"/>
                        </a:rPr>
                        <a:t> Context </a:t>
                      </a:r>
                      <a:r>
                        <a:rPr sz="900" b="0" dirty="0" err="1">
                          <a:solidFill>
                            <a:srgbClr val="000000"/>
                          </a:solidFill>
                          <a:latin typeface="맑은 고딕"/>
                          <a:ea typeface="맑은 고딕"/>
                        </a:rPr>
                        <a:t>벤치마크</a:t>
                      </a:r>
                      <a:r>
                        <a:rPr sz="900" b="0" dirty="0">
                          <a:solidFill>
                            <a:srgbClr val="000000"/>
                          </a:solidFill>
                          <a:latin typeface="맑은 고딕"/>
                          <a:ea typeface="맑은 고딕"/>
                        </a:rPr>
                        <a:t> E2E </a:t>
                      </a:r>
                      <a:r>
                        <a:rPr sz="900" b="0" dirty="0" err="1">
                          <a:solidFill>
                            <a:srgbClr val="000000"/>
                          </a:solidFill>
                          <a:latin typeface="맑은 고딕"/>
                          <a:ea typeface="맑은 고딕"/>
                        </a:rPr>
                        <a:t>지연</a:t>
                      </a:r>
                      <a:r>
                        <a:rPr sz="900" b="0" dirty="0">
                          <a:solidFill>
                            <a:srgbClr val="000000"/>
                          </a:solidFill>
                          <a:latin typeface="맑은 고딕"/>
                          <a:ea typeface="맑은 고딕"/>
                        </a:rPr>
                        <a:t> 약 50~75% </a:t>
                      </a:r>
                      <a:r>
                        <a:rPr sz="900" b="0" dirty="0" err="1">
                          <a:solidFill>
                            <a:srgbClr val="000000"/>
                          </a:solidFill>
                          <a:latin typeface="맑은 고딕"/>
                          <a:ea typeface="맑은 고딕"/>
                        </a:rPr>
                        <a:t>감소의</a:t>
                      </a:r>
                      <a:r>
                        <a:rPr sz="900" b="0" dirty="0">
                          <a:solidFill>
                            <a:srgbClr val="000000"/>
                          </a:solidFill>
                          <a:latin typeface="맑은 고딕"/>
                          <a:ea typeface="맑은 고딕"/>
                        </a:rPr>
                        <a:t> </a:t>
                      </a:r>
                      <a:r>
                        <a:rPr sz="900" b="0" dirty="0" err="1">
                          <a:solidFill>
                            <a:srgbClr val="000000"/>
                          </a:solidFill>
                          <a:latin typeface="맑은 고딕"/>
                          <a:ea typeface="맑은 고딕"/>
                        </a:rPr>
                        <a:t>하한</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0">
                          <a:solidFill>
                            <a:srgbClr val="000000"/>
                          </a:solidFill>
                          <a:latin typeface="맑은 고딕"/>
                          <a:ea typeface="맑은 고딕"/>
                        </a:rPr>
                        <a:t>LMCache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01752">
                <a:tc>
                  <a:txBody>
                    <a:bodyPr/>
                    <a:lstStyle/>
                    <a:p>
                      <a:pPr algn="ctr">
                        <a:lnSpc>
                          <a:spcPct val="125000"/>
                        </a:lnSpc>
                      </a:pPr>
                      <a:r>
                        <a:rPr sz="90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smtClean="0">
                          <a:solidFill>
                            <a:srgbClr val="000000"/>
                          </a:solidFill>
                          <a:latin typeface="맑은 고딕"/>
                          <a:ea typeface="맑은 고딕"/>
                        </a:rPr>
                        <a:t>4</a:t>
                      </a:r>
                      <a:r>
                        <a:rPr sz="900" b="0" dirty="0" smtClean="0">
                          <a:solidFill>
                            <a:srgbClr val="000000"/>
                          </a:solidFill>
                          <a:latin typeface="맑은 고딕"/>
                          <a:ea typeface="맑은 고딕"/>
                        </a:rPr>
                        <a:t> </a:t>
                      </a:r>
                      <a:r>
                        <a:rPr sz="900" b="0" dirty="0">
                          <a:solidFill>
                            <a:srgbClr val="000000"/>
                          </a:solidFill>
                          <a:latin typeface="맑은 고딕"/>
                          <a:ea typeface="맑은 고딕"/>
                        </a:rPr>
                        <a:t>≤ r &lt; </a:t>
                      </a:r>
                      <a:r>
                        <a:rPr lang="en-US" sz="900" b="0" dirty="0">
                          <a:solidFill>
                            <a:srgbClr val="000000"/>
                          </a:solidFill>
                          <a:latin typeface="맑은 고딕"/>
                          <a:ea typeface="맑은 고딕"/>
                        </a:rPr>
                        <a:t>0.5</a:t>
                      </a:r>
                      <a:r>
                        <a:rPr sz="900" b="0" dirty="0">
                          <a:solidFill>
                            <a:srgbClr val="000000"/>
                          </a:solidFill>
                          <a:latin typeface="맑은 고딕"/>
                          <a:ea typeface="맑은 고딕"/>
                        </a:rPr>
                        <a:t> (</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1.7x</a:t>
                      </a:r>
                      <a:r>
                        <a:rPr sz="900" b="0" dirty="0">
                          <a:solidFill>
                            <a:srgbClr val="000000"/>
                          </a:solidFill>
                          <a:latin typeface="맑은 고딕"/>
                          <a:ea typeface="맑은 고딕"/>
                        </a:rPr>
                        <a:t>)</a:t>
                      </a:r>
                      <a:r>
                        <a:rPr lang="en-US" sz="900" b="0" dirty="0">
                          <a:solidFill>
                            <a:srgbClr val="000000"/>
                          </a:solidFill>
                          <a:latin typeface="맑은 고딕"/>
                          <a:ea typeface="맑은 고딕"/>
                        </a:rPr>
                        <a:t> </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r>
                        <a:rPr lang="ko-KR" altLang="en-US" sz="900" b="0" dirty="0">
                          <a:solidFill>
                            <a:srgbClr val="000000"/>
                          </a:solidFill>
                          <a:latin typeface="+mn-lt"/>
                          <a:ea typeface="맑은 고딕"/>
                        </a:rPr>
                        <a:t>★</a:t>
                      </a:r>
                      <a:r>
                        <a:rPr lang="en-US" altLang="ko-KR" sz="900" b="0" dirty="0">
                          <a:solidFill>
                            <a:srgbClr val="000000"/>
                          </a:solidFill>
                          <a:latin typeface="+mn-lt"/>
                          <a:ea typeface="맑은 고딕"/>
                        </a:rPr>
                        <a:t>1</a:t>
                      </a:r>
                      <a:r>
                        <a:rPr lang="ko-KR" altLang="en-US" sz="900" b="0" dirty="0">
                          <a:solidFill>
                            <a:srgbClr val="000000"/>
                          </a:solidFill>
                          <a:latin typeface="+mn-lt"/>
                          <a:ea typeface="맑은 고딕"/>
                        </a:rPr>
                        <a:t>과 ★</a:t>
                      </a:r>
                      <a:r>
                        <a:rPr lang="en-US" altLang="ko-KR" sz="900" b="0" dirty="0">
                          <a:solidFill>
                            <a:srgbClr val="000000"/>
                          </a:solidFill>
                          <a:latin typeface="+mn-lt"/>
                          <a:ea typeface="맑은 고딕"/>
                        </a:rPr>
                        <a:t>2</a:t>
                      </a:r>
                      <a:r>
                        <a:rPr lang="ko-KR" altLang="en-US" sz="900" b="0" dirty="0">
                          <a:solidFill>
                            <a:srgbClr val="000000"/>
                          </a:solidFill>
                          <a:latin typeface="+mn-lt"/>
                          <a:ea typeface="맑은 고딕"/>
                        </a:rPr>
                        <a:t>의 </a:t>
                      </a:r>
                      <a:r>
                        <a:rPr lang="ko-KR" altLang="en-US" sz="900" b="0" dirty="0" smtClean="0">
                          <a:solidFill>
                            <a:srgbClr val="000000"/>
                          </a:solidFill>
                          <a:latin typeface="+mn-lt"/>
                          <a:ea typeface="맑은 고딕"/>
                        </a:rPr>
                        <a:t>중점</a:t>
                      </a:r>
                      <a:endParaRPr lang="en-US" altLang="ko-KR" sz="900" b="0" dirty="0">
                        <a:solidFill>
                          <a:srgbClr val="000000"/>
                        </a:solidFill>
                        <a:latin typeface="+mn-lt"/>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01752">
                <a:tc>
                  <a:txBody>
                    <a:bodyPr/>
                    <a:lstStyle/>
                    <a:p>
                      <a:pPr algn="ctr">
                        <a:lnSpc>
                          <a:spcPct val="125000"/>
                        </a:lnSpc>
                      </a:pPr>
                      <a:r>
                        <a:rPr sz="90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3</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41 </a:t>
                      </a:r>
                      <a:r>
                        <a:rPr sz="900" b="0" dirty="0">
                          <a:solidFill>
                            <a:srgbClr val="000000"/>
                          </a:solidFill>
                          <a:latin typeface="맑은 고딕"/>
                          <a:ea typeface="맑은 고딕"/>
                        </a:rPr>
                        <a:t>(</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1.43x</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1" dirty="0">
                          <a:solidFill>
                            <a:srgbClr val="000000"/>
                          </a:solidFill>
                          <a:latin typeface="맑은 고딕"/>
                          <a:ea typeface="맑은 고딕"/>
                        </a:rPr>
                        <a:t>Stakeholder </a:t>
                      </a:r>
                      <a:r>
                        <a:rPr sz="900" b="1" dirty="0" err="1">
                          <a:solidFill>
                            <a:srgbClr val="000000"/>
                          </a:solidFill>
                          <a:latin typeface="맑은 고딕"/>
                          <a:ea typeface="맑은 고딕"/>
                        </a:rPr>
                        <a:t>요구</a:t>
                      </a:r>
                      <a:r>
                        <a:rPr sz="900" b="1" dirty="0">
                          <a:solidFill>
                            <a:srgbClr val="000000"/>
                          </a:solidFill>
                          <a:latin typeface="맑은 고딕"/>
                          <a:ea typeface="맑은 고딕"/>
                        </a:rPr>
                        <a:t>: </a:t>
                      </a:r>
                      <a:r>
                        <a:rPr sz="900" b="1" dirty="0" err="1">
                          <a:solidFill>
                            <a:srgbClr val="000000"/>
                          </a:solidFill>
                          <a:latin typeface="맑은 고딕"/>
                          <a:ea typeface="맑은 고딕"/>
                        </a:rPr>
                        <a:t>사용자</a:t>
                      </a:r>
                      <a:r>
                        <a:rPr sz="900" b="1" dirty="0">
                          <a:solidFill>
                            <a:srgbClr val="000000"/>
                          </a:solidFill>
                          <a:latin typeface="맑은 고딕"/>
                          <a:ea typeface="맑은 고딕"/>
                        </a:rPr>
                        <a:t> </a:t>
                      </a:r>
                      <a:r>
                        <a:rPr sz="900" b="1" dirty="0" err="1">
                          <a:solidFill>
                            <a:srgbClr val="000000"/>
                          </a:solidFill>
                          <a:latin typeface="맑은 고딕"/>
                          <a:ea typeface="맑은 고딕"/>
                        </a:rPr>
                        <a:t>체감</a:t>
                      </a:r>
                      <a:r>
                        <a:rPr sz="900" b="1" dirty="0">
                          <a:solidFill>
                            <a:srgbClr val="000000"/>
                          </a:solidFill>
                          <a:latin typeface="맑은 고딕"/>
                          <a:ea typeface="맑은 고딕"/>
                        </a:rPr>
                        <a:t> </a:t>
                      </a:r>
                      <a:r>
                        <a:rPr sz="900" b="1" dirty="0" err="1">
                          <a:solidFill>
                            <a:srgbClr val="000000"/>
                          </a:solidFill>
                          <a:latin typeface="맑은 고딕"/>
                          <a:ea typeface="맑은 고딕"/>
                        </a:rPr>
                        <a:t>성능</a:t>
                      </a:r>
                      <a:r>
                        <a:rPr sz="900" b="1" dirty="0">
                          <a:solidFill>
                            <a:srgbClr val="000000"/>
                          </a:solidFill>
                          <a:latin typeface="맑은 고딕"/>
                          <a:ea typeface="맑은 고딕"/>
                        </a:rPr>
                        <a:t> </a:t>
                      </a:r>
                      <a:r>
                        <a:rPr sz="900" b="1" dirty="0" err="1">
                          <a:solidFill>
                            <a:srgbClr val="000000"/>
                          </a:solidFill>
                          <a:latin typeface="맑은 고딕"/>
                          <a:ea typeface="맑은 고딕"/>
                        </a:rPr>
                        <a:t>개선</a:t>
                      </a:r>
                      <a:r>
                        <a:rPr sz="900" b="1" dirty="0">
                          <a:solidFill>
                            <a:srgbClr val="000000"/>
                          </a:solidFill>
                          <a:latin typeface="맑은 고딕"/>
                          <a:ea typeface="맑은 고딕"/>
                        </a:rPr>
                        <a:t> </a:t>
                      </a:r>
                      <a:r>
                        <a:rPr sz="900" b="1" dirty="0" err="1">
                          <a:solidFill>
                            <a:srgbClr val="000000"/>
                          </a:solidFill>
                          <a:latin typeface="맑은 고딕"/>
                          <a:ea typeface="맑은 고딕"/>
                        </a:rPr>
                        <a:t>기준</a:t>
                      </a:r>
                      <a:r>
                        <a:rPr sz="900" b="1" dirty="0">
                          <a:solidFill>
                            <a:srgbClr val="000000"/>
                          </a:solidFill>
                          <a:latin typeface="맑은 고딕"/>
                          <a:ea typeface="맑은 고딕"/>
                        </a:rPr>
                        <a:t> 30% </a:t>
                      </a:r>
                      <a:r>
                        <a:rPr sz="900" b="1" dirty="0" err="1">
                          <a:solidFill>
                            <a:srgbClr val="000000"/>
                          </a:solidFill>
                          <a:latin typeface="맑은 고딕"/>
                          <a:ea typeface="맑은 고딕"/>
                        </a:rPr>
                        <a:t>감소</a:t>
                      </a:r>
                      <a:endParaRPr sz="9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0" dirty="0">
                          <a:solidFill>
                            <a:srgbClr val="000000"/>
                          </a:solidFill>
                          <a:latin typeface="맑은 고딕"/>
                          <a:ea typeface="맑은 고딕"/>
                        </a:rPr>
                        <a:t>Stakeholder </a:t>
                      </a:r>
                      <a:r>
                        <a:rPr sz="900" b="0" dirty="0" err="1">
                          <a:solidFill>
                            <a:srgbClr val="000000"/>
                          </a:solidFill>
                          <a:latin typeface="맑은 고딕"/>
                          <a:ea typeface="맑은 고딕"/>
                        </a:rPr>
                        <a:t>요구사항</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01752">
                <a:tc>
                  <a:txBody>
                    <a:bodyPr/>
                    <a:lstStyle/>
                    <a:p>
                      <a:pPr algn="ctr">
                        <a:lnSpc>
                          <a:spcPct val="125000"/>
                        </a:lnSpc>
                      </a:pPr>
                      <a:r>
                        <a:rPr sz="90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r &lt; </a:t>
                      </a: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3</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r &lt; </a:t>
                      </a:r>
                      <a:r>
                        <a:rPr lang="en-US" sz="900" b="0" dirty="0">
                          <a:solidFill>
                            <a:srgbClr val="000000"/>
                          </a:solidFill>
                          <a:latin typeface="맑은 고딕"/>
                          <a:ea typeface="맑은 고딕"/>
                        </a:rPr>
                        <a:t>0.3</a:t>
                      </a:r>
                      <a:r>
                        <a:rPr sz="900" b="0" dirty="0">
                          <a:solidFill>
                            <a:srgbClr val="000000"/>
                          </a:solidFill>
                          <a:latin typeface="맑은 고딕"/>
                          <a:ea typeface="맑은 고딕"/>
                        </a:rPr>
                        <a:t> </a:t>
                      </a:r>
                      <a:r>
                        <a:rPr sz="900" b="0" dirty="0" err="1">
                          <a:solidFill>
                            <a:srgbClr val="000000"/>
                          </a:solidFill>
                          <a:latin typeface="맑은 고딕"/>
                          <a:ea typeface="맑은 고딕"/>
                        </a:rPr>
                        <a:t>또는</a:t>
                      </a:r>
                      <a:r>
                        <a:rPr sz="900" b="0" dirty="0">
                          <a:solidFill>
                            <a:srgbClr val="000000"/>
                          </a:solidFill>
                          <a:latin typeface="맑은 고딕"/>
                          <a:ea typeface="맑은 고딕"/>
                        </a:rPr>
                        <a:t> SLO </a:t>
                      </a:r>
                      <a:r>
                        <a:rPr sz="900" b="0" dirty="0" err="1">
                          <a:solidFill>
                            <a:srgbClr val="000000"/>
                          </a:solidFill>
                          <a:latin typeface="맑은 고딕"/>
                          <a:ea typeface="맑은 고딕"/>
                        </a:rPr>
                        <a:t>위반</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1" name="TextBox 70">
            <a:extLst>
              <a:ext uri="{FF2B5EF4-FFF2-40B4-BE49-F238E27FC236}">
                <a16:creationId xmlns:a16="http://schemas.microsoft.com/office/drawing/2014/main" id="{0B83D172-15BF-4E49-ACD4-69A4C42EDF3C}"/>
              </a:ext>
            </a:extLst>
          </p:cNvPr>
          <p:cNvSpPr txBox="1"/>
          <p:nvPr/>
        </p:nvSpPr>
        <p:spPr>
          <a:xfrm>
            <a:off x="4434840" y="4261103"/>
            <a:ext cx="740664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구간</a:t>
            </a:r>
            <a:r>
              <a:rPr sz="950" b="1" dirty="0">
                <a:solidFill>
                  <a:srgbClr val="2F5597"/>
                </a:solidFill>
                <a:latin typeface="맑은 고딕"/>
                <a:ea typeface="맑은 고딕"/>
              </a:rPr>
              <a:t> </a:t>
            </a:r>
            <a:r>
              <a:rPr sz="950" b="1" dirty="0" err="1">
                <a:solidFill>
                  <a:srgbClr val="2F5597"/>
                </a:solidFill>
                <a:latin typeface="맑은 고딕"/>
                <a:ea typeface="맑은 고딕"/>
              </a:rPr>
              <a:t>대비</a:t>
            </a:r>
            <a:r>
              <a:rPr sz="950" b="1" dirty="0">
                <a:solidFill>
                  <a:srgbClr val="2F5597"/>
                </a:solidFill>
                <a:latin typeface="맑은 고딕"/>
                <a:ea typeface="맑은 고딕"/>
              </a:rPr>
              <a:t> </a:t>
            </a:r>
            <a:r>
              <a:rPr sz="950" b="1" dirty="0" err="1">
                <a:solidFill>
                  <a:srgbClr val="2F5597"/>
                </a:solidFill>
                <a:latin typeface="맑은 고딕"/>
                <a:ea typeface="맑은 고딕"/>
              </a:rPr>
              <a:t>근거</a:t>
            </a:r>
            <a:r>
              <a:rPr sz="950" b="1" dirty="0">
                <a:solidFill>
                  <a:srgbClr val="2F5597"/>
                </a:solidFill>
                <a:latin typeface="맑은 고딕"/>
                <a:ea typeface="맑은 고딕"/>
              </a:rPr>
              <a:t> </a:t>
            </a:r>
            <a:r>
              <a:rPr sz="950" b="1" dirty="0" err="1">
                <a:solidFill>
                  <a:srgbClr val="2F5597"/>
                </a:solidFill>
                <a:latin typeface="맑은 고딕"/>
                <a:ea typeface="맑은 고딕"/>
              </a:rPr>
              <a:t>위치</a:t>
            </a:r>
            <a:r>
              <a:rPr sz="950" b="1" dirty="0">
                <a:solidFill>
                  <a:srgbClr val="2F5597"/>
                </a:solidFill>
                <a:latin typeface="맑은 고딕"/>
                <a:ea typeface="맑은 고딕"/>
              </a:rPr>
              <a:t> </a:t>
            </a:r>
          </a:p>
        </p:txBody>
      </p:sp>
      <p:sp>
        <p:nvSpPr>
          <p:cNvPr id="72" name="Rectangle 18">
            <a:extLst>
              <a:ext uri="{FF2B5EF4-FFF2-40B4-BE49-F238E27FC236}">
                <a16:creationId xmlns:a16="http://schemas.microsoft.com/office/drawing/2014/main" id="{22FB4EFE-361A-4277-B627-E6E63A433D11}"/>
              </a:ext>
            </a:extLst>
          </p:cNvPr>
          <p:cNvSpPr/>
          <p:nvPr/>
        </p:nvSpPr>
        <p:spPr>
          <a:xfrm>
            <a:off x="4480559" y="4498847"/>
            <a:ext cx="898724"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081C6D2F-0A66-49B0-A539-457DD84BA7D3}"/>
              </a:ext>
            </a:extLst>
          </p:cNvPr>
          <p:cNvSpPr txBox="1"/>
          <p:nvPr/>
        </p:nvSpPr>
        <p:spPr>
          <a:xfrm>
            <a:off x="4480559" y="4498847"/>
            <a:ext cx="89872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74" name="Rectangle 20">
            <a:extLst>
              <a:ext uri="{FF2B5EF4-FFF2-40B4-BE49-F238E27FC236}">
                <a16:creationId xmlns:a16="http://schemas.microsoft.com/office/drawing/2014/main" id="{9C74EAC3-9199-43A7-BE26-7845CCB207B1}"/>
              </a:ext>
            </a:extLst>
          </p:cNvPr>
          <p:cNvSpPr/>
          <p:nvPr/>
        </p:nvSpPr>
        <p:spPr>
          <a:xfrm>
            <a:off x="5379284" y="4498847"/>
            <a:ext cx="564315"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a:extLst>
              <a:ext uri="{FF2B5EF4-FFF2-40B4-BE49-F238E27FC236}">
                <a16:creationId xmlns:a16="http://schemas.microsoft.com/office/drawing/2014/main" id="{8CE103D5-A074-45FF-99C6-664D9EA81360}"/>
              </a:ext>
            </a:extLst>
          </p:cNvPr>
          <p:cNvSpPr txBox="1"/>
          <p:nvPr/>
        </p:nvSpPr>
        <p:spPr>
          <a:xfrm>
            <a:off x="5379284" y="4498847"/>
            <a:ext cx="56431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76" name="Rectangle 22">
            <a:extLst>
              <a:ext uri="{FF2B5EF4-FFF2-40B4-BE49-F238E27FC236}">
                <a16:creationId xmlns:a16="http://schemas.microsoft.com/office/drawing/2014/main" id="{6DAF5ACE-9BC6-454A-856D-8C40084795FD}"/>
              </a:ext>
            </a:extLst>
          </p:cNvPr>
          <p:cNvSpPr/>
          <p:nvPr/>
        </p:nvSpPr>
        <p:spPr>
          <a:xfrm>
            <a:off x="5943599" y="4498847"/>
            <a:ext cx="627017"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F216E427-50F4-4CE3-97D0-F5C29BDB5AA6}"/>
              </a:ext>
            </a:extLst>
          </p:cNvPr>
          <p:cNvSpPr txBox="1"/>
          <p:nvPr/>
        </p:nvSpPr>
        <p:spPr>
          <a:xfrm>
            <a:off x="5943599" y="4498847"/>
            <a:ext cx="62701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78" name="Rectangle 24">
            <a:extLst>
              <a:ext uri="{FF2B5EF4-FFF2-40B4-BE49-F238E27FC236}">
                <a16:creationId xmlns:a16="http://schemas.microsoft.com/office/drawing/2014/main" id="{122A8E84-EDB2-4312-A030-F7751A26059A}"/>
              </a:ext>
            </a:extLst>
          </p:cNvPr>
          <p:cNvSpPr/>
          <p:nvPr/>
        </p:nvSpPr>
        <p:spPr>
          <a:xfrm>
            <a:off x="6570617" y="4498847"/>
            <a:ext cx="940525"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2ED5A9E1-E656-4812-BD13-96035702C7AD}"/>
              </a:ext>
            </a:extLst>
          </p:cNvPr>
          <p:cNvSpPr txBox="1"/>
          <p:nvPr/>
        </p:nvSpPr>
        <p:spPr>
          <a:xfrm>
            <a:off x="6570617" y="4498847"/>
            <a:ext cx="94052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80" name="Rectangle 26">
            <a:extLst>
              <a:ext uri="{FF2B5EF4-FFF2-40B4-BE49-F238E27FC236}">
                <a16:creationId xmlns:a16="http://schemas.microsoft.com/office/drawing/2014/main" id="{61416EC3-8C89-4B11-98A6-65A6F822A217}"/>
              </a:ext>
            </a:extLst>
          </p:cNvPr>
          <p:cNvSpPr/>
          <p:nvPr/>
        </p:nvSpPr>
        <p:spPr>
          <a:xfrm>
            <a:off x="7511142" y="4498847"/>
            <a:ext cx="1149531"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a:extLst>
              <a:ext uri="{FF2B5EF4-FFF2-40B4-BE49-F238E27FC236}">
                <a16:creationId xmlns:a16="http://schemas.microsoft.com/office/drawing/2014/main" id="{D4356E2B-CE2C-4BB8-8AAD-3800D74F360D}"/>
              </a:ext>
            </a:extLst>
          </p:cNvPr>
          <p:cNvSpPr txBox="1"/>
          <p:nvPr/>
        </p:nvSpPr>
        <p:spPr>
          <a:xfrm>
            <a:off x="7511142" y="4498847"/>
            <a:ext cx="114953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82" name="Rectangle 28">
            <a:extLst>
              <a:ext uri="{FF2B5EF4-FFF2-40B4-BE49-F238E27FC236}">
                <a16:creationId xmlns:a16="http://schemas.microsoft.com/office/drawing/2014/main" id="{C55CB344-EE9C-4DF2-BA81-9BC4F22C40EA}"/>
              </a:ext>
            </a:extLst>
          </p:cNvPr>
          <p:cNvSpPr/>
          <p:nvPr/>
        </p:nvSpPr>
        <p:spPr>
          <a:xfrm>
            <a:off x="8660674" y="4498847"/>
            <a:ext cx="3135085"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a:extLst>
              <a:ext uri="{FF2B5EF4-FFF2-40B4-BE49-F238E27FC236}">
                <a16:creationId xmlns:a16="http://schemas.microsoft.com/office/drawing/2014/main" id="{075C3C8D-CB53-41B4-A026-6E64D6757D0E}"/>
              </a:ext>
            </a:extLst>
          </p:cNvPr>
          <p:cNvSpPr txBox="1"/>
          <p:nvPr/>
        </p:nvSpPr>
        <p:spPr>
          <a:xfrm>
            <a:off x="8660674" y="4498847"/>
            <a:ext cx="313508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84" name="TextBox 83">
            <a:extLst>
              <a:ext uri="{FF2B5EF4-FFF2-40B4-BE49-F238E27FC236}">
                <a16:creationId xmlns:a16="http://schemas.microsoft.com/office/drawing/2014/main" id="{DA4A7DD6-2E23-4F14-85FB-1E093F424002}"/>
              </a:ext>
            </a:extLst>
          </p:cNvPr>
          <p:cNvSpPr txBox="1"/>
          <p:nvPr/>
        </p:nvSpPr>
        <p:spPr>
          <a:xfrm>
            <a:off x="4160520"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1x</a:t>
            </a:r>
          </a:p>
        </p:txBody>
      </p:sp>
      <p:sp>
        <p:nvSpPr>
          <p:cNvPr id="85" name="TextBox 84">
            <a:extLst>
              <a:ext uri="{FF2B5EF4-FFF2-40B4-BE49-F238E27FC236}">
                <a16:creationId xmlns:a16="http://schemas.microsoft.com/office/drawing/2014/main" id="{1662DB6C-F52B-4E02-B319-D123CD1CB4E1}"/>
              </a:ext>
            </a:extLst>
          </p:cNvPr>
          <p:cNvSpPr txBox="1"/>
          <p:nvPr/>
        </p:nvSpPr>
        <p:spPr>
          <a:xfrm>
            <a:off x="5205548"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1.5x</a:t>
            </a:r>
          </a:p>
        </p:txBody>
      </p:sp>
      <p:sp>
        <p:nvSpPr>
          <p:cNvPr id="86" name="TextBox 85">
            <a:extLst>
              <a:ext uri="{FF2B5EF4-FFF2-40B4-BE49-F238E27FC236}">
                <a16:creationId xmlns:a16="http://schemas.microsoft.com/office/drawing/2014/main" id="{931445E8-667E-4527-9DF2-3E29C6A652F7}"/>
              </a:ext>
            </a:extLst>
          </p:cNvPr>
          <p:cNvSpPr txBox="1"/>
          <p:nvPr/>
        </p:nvSpPr>
        <p:spPr>
          <a:xfrm>
            <a:off x="6250577"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2x</a:t>
            </a:r>
          </a:p>
        </p:txBody>
      </p:sp>
      <p:sp>
        <p:nvSpPr>
          <p:cNvPr id="87" name="TextBox 86">
            <a:extLst>
              <a:ext uri="{FF2B5EF4-FFF2-40B4-BE49-F238E27FC236}">
                <a16:creationId xmlns:a16="http://schemas.microsoft.com/office/drawing/2014/main" id="{029691BB-3609-47D2-ACBF-211BC930949A}"/>
              </a:ext>
            </a:extLst>
          </p:cNvPr>
          <p:cNvSpPr txBox="1"/>
          <p:nvPr/>
        </p:nvSpPr>
        <p:spPr>
          <a:xfrm>
            <a:off x="7295605"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2.5x</a:t>
            </a:r>
          </a:p>
        </p:txBody>
      </p:sp>
      <p:sp>
        <p:nvSpPr>
          <p:cNvPr id="88" name="TextBox 87">
            <a:extLst>
              <a:ext uri="{FF2B5EF4-FFF2-40B4-BE49-F238E27FC236}">
                <a16:creationId xmlns:a16="http://schemas.microsoft.com/office/drawing/2014/main" id="{C731BAE4-020B-49BE-BBFD-2CA48D8DC0D8}"/>
              </a:ext>
            </a:extLst>
          </p:cNvPr>
          <p:cNvSpPr txBox="1"/>
          <p:nvPr/>
        </p:nvSpPr>
        <p:spPr>
          <a:xfrm>
            <a:off x="8340634"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3x</a:t>
            </a:r>
          </a:p>
        </p:txBody>
      </p:sp>
      <p:sp>
        <p:nvSpPr>
          <p:cNvPr id="89" name="TextBox 88">
            <a:extLst>
              <a:ext uri="{FF2B5EF4-FFF2-40B4-BE49-F238E27FC236}">
                <a16:creationId xmlns:a16="http://schemas.microsoft.com/office/drawing/2014/main" id="{22CFF25B-38F2-4ADB-86F7-1A4EEBAEFDE3}"/>
              </a:ext>
            </a:extLst>
          </p:cNvPr>
          <p:cNvSpPr txBox="1"/>
          <p:nvPr/>
        </p:nvSpPr>
        <p:spPr>
          <a:xfrm>
            <a:off x="9385662"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3.5x</a:t>
            </a:r>
          </a:p>
        </p:txBody>
      </p:sp>
      <p:sp>
        <p:nvSpPr>
          <p:cNvPr id="90" name="TextBox 89">
            <a:extLst>
              <a:ext uri="{FF2B5EF4-FFF2-40B4-BE49-F238E27FC236}">
                <a16:creationId xmlns:a16="http://schemas.microsoft.com/office/drawing/2014/main" id="{4761062F-C3D2-4821-A387-84A4227692C7}"/>
              </a:ext>
            </a:extLst>
          </p:cNvPr>
          <p:cNvSpPr txBox="1"/>
          <p:nvPr/>
        </p:nvSpPr>
        <p:spPr>
          <a:xfrm>
            <a:off x="10430691"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4x</a:t>
            </a:r>
          </a:p>
        </p:txBody>
      </p:sp>
      <p:sp>
        <p:nvSpPr>
          <p:cNvPr id="91" name="TextBox 90">
            <a:extLst>
              <a:ext uri="{FF2B5EF4-FFF2-40B4-BE49-F238E27FC236}">
                <a16:creationId xmlns:a16="http://schemas.microsoft.com/office/drawing/2014/main" id="{2697E8F5-ADA4-4B2B-875C-2DC94B1D2872}"/>
              </a:ext>
            </a:extLst>
          </p:cNvPr>
          <p:cNvSpPr txBox="1"/>
          <p:nvPr/>
        </p:nvSpPr>
        <p:spPr>
          <a:xfrm>
            <a:off x="11475719"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4.5x</a:t>
            </a:r>
          </a:p>
        </p:txBody>
      </p:sp>
      <p:cxnSp>
        <p:nvCxnSpPr>
          <p:cNvPr id="92" name="Connector 38">
            <a:extLst>
              <a:ext uri="{FF2B5EF4-FFF2-40B4-BE49-F238E27FC236}">
                <a16:creationId xmlns:a16="http://schemas.microsoft.com/office/drawing/2014/main" id="{811E7EBA-B3FC-48FD-9F0B-7931741200D5}"/>
              </a:ext>
            </a:extLst>
          </p:cNvPr>
          <p:cNvCxnSpPr/>
          <p:nvPr/>
        </p:nvCxnSpPr>
        <p:spPr>
          <a:xfrm>
            <a:off x="5379284"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39">
            <a:extLst>
              <a:ext uri="{FF2B5EF4-FFF2-40B4-BE49-F238E27FC236}">
                <a16:creationId xmlns:a16="http://schemas.microsoft.com/office/drawing/2014/main" id="{92C2A4F3-ADED-4D84-8FD1-2CD651637FF6}"/>
              </a:ext>
            </a:extLst>
          </p:cNvPr>
          <p:cNvCxnSpPr/>
          <p:nvPr/>
        </p:nvCxnSpPr>
        <p:spPr>
          <a:xfrm>
            <a:off x="5943599"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40">
            <a:extLst>
              <a:ext uri="{FF2B5EF4-FFF2-40B4-BE49-F238E27FC236}">
                <a16:creationId xmlns:a16="http://schemas.microsoft.com/office/drawing/2014/main" id="{71368D25-7128-4CA0-963C-6086B8C38165}"/>
              </a:ext>
            </a:extLst>
          </p:cNvPr>
          <p:cNvCxnSpPr/>
          <p:nvPr/>
        </p:nvCxnSpPr>
        <p:spPr>
          <a:xfrm>
            <a:off x="6570617"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41">
            <a:extLst>
              <a:ext uri="{FF2B5EF4-FFF2-40B4-BE49-F238E27FC236}">
                <a16:creationId xmlns:a16="http://schemas.microsoft.com/office/drawing/2014/main" id="{B404E9BE-90C0-49D6-A640-2254789DDEF3}"/>
              </a:ext>
            </a:extLst>
          </p:cNvPr>
          <p:cNvCxnSpPr/>
          <p:nvPr/>
        </p:nvCxnSpPr>
        <p:spPr>
          <a:xfrm>
            <a:off x="7511142"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6" name="Connector 42">
            <a:extLst>
              <a:ext uri="{FF2B5EF4-FFF2-40B4-BE49-F238E27FC236}">
                <a16:creationId xmlns:a16="http://schemas.microsoft.com/office/drawing/2014/main" id="{60E4943B-672D-4A12-A501-BB11EF4F9F76}"/>
              </a:ext>
            </a:extLst>
          </p:cNvPr>
          <p:cNvCxnSpPr/>
          <p:nvPr/>
        </p:nvCxnSpPr>
        <p:spPr>
          <a:xfrm>
            <a:off x="8660674"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7" name="Diamond 43">
            <a:extLst>
              <a:ext uri="{FF2B5EF4-FFF2-40B4-BE49-F238E27FC236}">
                <a16:creationId xmlns:a16="http://schemas.microsoft.com/office/drawing/2014/main" id="{87CD50D4-CCBC-4887-85FC-9BDE5A0A4E37}"/>
              </a:ext>
            </a:extLst>
          </p:cNvPr>
          <p:cNvSpPr/>
          <p:nvPr/>
        </p:nvSpPr>
        <p:spPr>
          <a:xfrm>
            <a:off x="5319848" y="4962905"/>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a:extLst>
              <a:ext uri="{FF2B5EF4-FFF2-40B4-BE49-F238E27FC236}">
                <a16:creationId xmlns:a16="http://schemas.microsoft.com/office/drawing/2014/main" id="{2A8910B1-0248-4E5C-A704-5B55831DDEF5}"/>
              </a:ext>
            </a:extLst>
          </p:cNvPr>
          <p:cNvSpPr txBox="1"/>
          <p:nvPr/>
        </p:nvSpPr>
        <p:spPr>
          <a:xfrm>
            <a:off x="5452436" y="4966941"/>
            <a:ext cx="1195840" cy="110800"/>
          </a:xfrm>
          <a:prstGeom prst="rect">
            <a:avLst/>
          </a:prstGeom>
          <a:noFill/>
        </p:spPr>
        <p:txBody>
          <a:bodyPr wrap="none" lIns="0" tIns="0" rIns="0" bIns="0" anchor="ctr">
            <a:spAutoFit/>
          </a:bodyPr>
          <a:lstStyle/>
          <a:p>
            <a:pPr algn="l">
              <a:spcAft>
                <a:spcPts val="0"/>
              </a:spcAft>
            </a:pPr>
            <a:r>
              <a:rPr sz="720" b="0" dirty="0">
                <a:solidFill>
                  <a:srgbClr val="262626"/>
                </a:solidFill>
                <a:latin typeface="맑은 고딕"/>
                <a:ea typeface="맑은 고딕"/>
              </a:rPr>
              <a:t>Stakeholder: </a:t>
            </a:r>
            <a:r>
              <a:rPr sz="720" b="0" dirty="0" err="1">
                <a:solidFill>
                  <a:srgbClr val="262626"/>
                </a:solidFill>
                <a:latin typeface="맑은 고딕"/>
                <a:ea typeface="맑은 고딕"/>
              </a:rPr>
              <a:t>체감</a:t>
            </a:r>
            <a:r>
              <a:rPr sz="720" b="0" dirty="0">
                <a:solidFill>
                  <a:srgbClr val="262626"/>
                </a:solidFill>
                <a:latin typeface="맑은 고딕"/>
                <a:ea typeface="맑은 고딕"/>
              </a:rPr>
              <a:t> 30% </a:t>
            </a:r>
            <a:r>
              <a:rPr sz="720" b="0" dirty="0" err="1">
                <a:solidFill>
                  <a:srgbClr val="262626"/>
                </a:solidFill>
                <a:latin typeface="맑은 고딕"/>
                <a:ea typeface="맑은 고딕"/>
              </a:rPr>
              <a:t>감소</a:t>
            </a:r>
            <a:r>
              <a:rPr sz="720" b="0" dirty="0">
                <a:solidFill>
                  <a:srgbClr val="262626"/>
                </a:solidFill>
                <a:latin typeface="맑은 고딕"/>
                <a:ea typeface="맑은 고딕"/>
              </a:rPr>
              <a:t> </a:t>
            </a:r>
          </a:p>
        </p:txBody>
      </p:sp>
      <p:sp>
        <p:nvSpPr>
          <p:cNvPr id="99" name="Isosceles Triangle 45">
            <a:extLst>
              <a:ext uri="{FF2B5EF4-FFF2-40B4-BE49-F238E27FC236}">
                <a16:creationId xmlns:a16="http://schemas.microsoft.com/office/drawing/2014/main" id="{C67CD826-EEB3-47BB-94D7-80D7142EC559}"/>
              </a:ext>
            </a:extLst>
          </p:cNvPr>
          <p:cNvSpPr/>
          <p:nvPr/>
        </p:nvSpPr>
        <p:spPr>
          <a:xfrm>
            <a:off x="6714805" y="5154929"/>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a:extLst>
              <a:ext uri="{FF2B5EF4-FFF2-40B4-BE49-F238E27FC236}">
                <a16:creationId xmlns:a16="http://schemas.microsoft.com/office/drawing/2014/main" id="{9343C54F-6A94-448B-A787-7C35C3BD4F6A}"/>
              </a:ext>
            </a:extLst>
          </p:cNvPr>
          <p:cNvSpPr txBox="1"/>
          <p:nvPr/>
        </p:nvSpPr>
        <p:spPr>
          <a:xfrm>
            <a:off x="6847393" y="5116067"/>
            <a:ext cx="1463039"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이론 B1(단순 offload) r 2.10</a:t>
            </a:r>
          </a:p>
        </p:txBody>
      </p:sp>
      <p:sp>
        <p:nvSpPr>
          <p:cNvPr id="101" name="Rectangle 47">
            <a:extLst>
              <a:ext uri="{FF2B5EF4-FFF2-40B4-BE49-F238E27FC236}">
                <a16:creationId xmlns:a16="http://schemas.microsoft.com/office/drawing/2014/main" id="{2EB3F49B-5B59-4998-8D07-E84FD008D538}"/>
              </a:ext>
            </a:extLst>
          </p:cNvPr>
          <p:cNvSpPr/>
          <p:nvPr/>
        </p:nvSpPr>
        <p:spPr>
          <a:xfrm>
            <a:off x="6570617" y="5360669"/>
            <a:ext cx="4180114"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2" name="Connector 48">
            <a:extLst>
              <a:ext uri="{FF2B5EF4-FFF2-40B4-BE49-F238E27FC236}">
                <a16:creationId xmlns:a16="http://schemas.microsoft.com/office/drawing/2014/main" id="{0519B3B1-6B02-4B77-A979-92347A7BF827}"/>
              </a:ext>
            </a:extLst>
          </p:cNvPr>
          <p:cNvCxnSpPr/>
          <p:nvPr/>
        </p:nvCxnSpPr>
        <p:spPr>
          <a:xfrm>
            <a:off x="6570617" y="5333237"/>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3" name="Connector 49">
            <a:extLst>
              <a:ext uri="{FF2B5EF4-FFF2-40B4-BE49-F238E27FC236}">
                <a16:creationId xmlns:a16="http://schemas.microsoft.com/office/drawing/2014/main" id="{8268C2A3-0D52-4E54-927B-5F9109FE39B3}"/>
              </a:ext>
            </a:extLst>
          </p:cNvPr>
          <p:cNvCxnSpPr/>
          <p:nvPr/>
        </p:nvCxnSpPr>
        <p:spPr>
          <a:xfrm>
            <a:off x="10750731" y="5333237"/>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8A4A5BD5-3FD6-41EF-B015-684D6C202999}"/>
              </a:ext>
            </a:extLst>
          </p:cNvPr>
          <p:cNvSpPr txBox="1"/>
          <p:nvPr/>
        </p:nvSpPr>
        <p:spPr>
          <a:xfrm>
            <a:off x="4230818" y="5352681"/>
            <a:ext cx="2266647" cy="89127"/>
          </a:xfrm>
          <a:prstGeom prst="rect">
            <a:avLst/>
          </a:prstGeom>
          <a:noFill/>
        </p:spPr>
        <p:txBody>
          <a:bodyPr wrap="none" lIns="0" tIns="0" rIns="0" bIns="0" anchor="ctr">
            <a:spAutoFit/>
          </a:bodyPr>
          <a:lstStyle/>
          <a:p>
            <a:pPr algn="r">
              <a:spcAft>
                <a:spcPts val="0"/>
              </a:spcAft>
            </a:pPr>
            <a:r>
              <a:rPr sz="579" b="0" dirty="0" err="1">
                <a:solidFill>
                  <a:srgbClr val="262626"/>
                </a:solidFill>
                <a:latin typeface="맑은 고딕"/>
                <a:ea typeface="맑은 고딕"/>
              </a:rPr>
              <a:t>LMCache</a:t>
            </a:r>
            <a:r>
              <a:rPr sz="579" b="0" dirty="0">
                <a:solidFill>
                  <a:srgbClr val="262626"/>
                </a:solidFill>
                <a:latin typeface="맑은 고딕"/>
                <a:ea typeface="맑은 고딕"/>
              </a:rPr>
              <a:t> E2E </a:t>
            </a:r>
            <a:r>
              <a:rPr sz="579" b="0" dirty="0" err="1">
                <a:solidFill>
                  <a:srgbClr val="262626"/>
                </a:solidFill>
                <a:latin typeface="맑은 고딕"/>
                <a:ea typeface="맑은 고딕"/>
              </a:rPr>
              <a:t>지연</a:t>
            </a:r>
            <a:r>
              <a:rPr sz="579" b="0" dirty="0">
                <a:solidFill>
                  <a:srgbClr val="262626"/>
                </a:solidFill>
                <a:latin typeface="맑은 고딕"/>
                <a:ea typeface="맑은 고딕"/>
              </a:rPr>
              <a:t> 50~75% </a:t>
            </a:r>
            <a:r>
              <a:rPr sz="579" b="0" dirty="0" err="1">
                <a:solidFill>
                  <a:srgbClr val="262626"/>
                </a:solidFill>
                <a:latin typeface="맑은 고딕"/>
                <a:ea typeface="맑은 고딕"/>
              </a:rPr>
              <a:t>감소</a:t>
            </a:r>
            <a:r>
              <a:rPr sz="579" b="0" dirty="0">
                <a:solidFill>
                  <a:srgbClr val="262626"/>
                </a:solidFill>
                <a:latin typeface="맑은 고딕"/>
                <a:ea typeface="맑은 고딕"/>
              </a:rPr>
              <a:t> </a:t>
            </a:r>
            <a:r>
              <a:rPr sz="579" b="0" dirty="0" smtClean="0">
                <a:solidFill>
                  <a:srgbClr val="262626"/>
                </a:solidFill>
                <a:latin typeface="맑은 고딕"/>
                <a:ea typeface="맑은 고딕"/>
              </a:rPr>
              <a:t>(</a:t>
            </a:r>
            <a:r>
              <a:rPr lang="ko-KR" altLang="en-US" sz="579" b="0" dirty="0" err="1" smtClean="0">
                <a:solidFill>
                  <a:srgbClr val="262626"/>
                </a:solidFill>
                <a:latin typeface="맑은 고딕"/>
                <a:ea typeface="맑은 고딕"/>
              </a:rPr>
              <a:t>개선율</a:t>
            </a:r>
            <a:r>
              <a:rPr sz="579" b="0" dirty="0" smtClean="0">
                <a:solidFill>
                  <a:srgbClr val="262626"/>
                </a:solidFill>
                <a:latin typeface="맑은 고딕"/>
                <a:ea typeface="맑은 고딕"/>
              </a:rPr>
              <a:t> </a:t>
            </a:r>
            <a:r>
              <a:rPr sz="579" b="0" dirty="0">
                <a:solidFill>
                  <a:srgbClr val="262626"/>
                </a:solidFill>
                <a:latin typeface="맑은 고딕"/>
                <a:ea typeface="맑은 고딕"/>
              </a:rPr>
              <a:t>2.0~4.0) = </a:t>
            </a:r>
            <a:r>
              <a:rPr sz="579" b="0" dirty="0" err="1">
                <a:solidFill>
                  <a:srgbClr val="262626"/>
                </a:solidFill>
                <a:latin typeface="맑은 고딕"/>
                <a:ea typeface="맑은 고딕"/>
              </a:rPr>
              <a:t>경쟁</a:t>
            </a:r>
            <a:r>
              <a:rPr sz="579" b="0" dirty="0">
                <a:solidFill>
                  <a:srgbClr val="262626"/>
                </a:solidFill>
                <a:latin typeface="맑은 고딕"/>
                <a:ea typeface="맑은 고딕"/>
              </a:rPr>
              <a:t> </a:t>
            </a:r>
            <a:r>
              <a:rPr sz="579" b="0" dirty="0" err="1">
                <a:solidFill>
                  <a:srgbClr val="262626"/>
                </a:solidFill>
                <a:latin typeface="맑은 고딕"/>
                <a:ea typeface="맑은 고딕"/>
              </a:rPr>
              <a:t>기술</a:t>
            </a:r>
            <a:r>
              <a:rPr sz="579" b="0" dirty="0">
                <a:solidFill>
                  <a:srgbClr val="262626"/>
                </a:solidFill>
                <a:latin typeface="맑은 고딕"/>
                <a:ea typeface="맑은 고딕"/>
              </a:rPr>
              <a:t> </a:t>
            </a:r>
            <a:r>
              <a:rPr sz="579" b="0" dirty="0" err="1">
                <a:solidFill>
                  <a:srgbClr val="262626"/>
                </a:solidFill>
                <a:latin typeface="맑은 고딕"/>
                <a:ea typeface="맑은 고딕"/>
              </a:rPr>
              <a:t>수준</a:t>
            </a:r>
            <a:endParaRPr sz="579" b="0" dirty="0">
              <a:solidFill>
                <a:srgbClr val="262626"/>
              </a:solidFill>
              <a:latin typeface="맑은 고딕"/>
              <a:ea typeface="맑은 고딕"/>
            </a:endParaRPr>
          </a:p>
        </p:txBody>
      </p:sp>
      <p:sp>
        <p:nvSpPr>
          <p:cNvPr id="105" name="Rectangle 51">
            <a:extLst>
              <a:ext uri="{FF2B5EF4-FFF2-40B4-BE49-F238E27FC236}">
                <a16:creationId xmlns:a16="http://schemas.microsoft.com/office/drawing/2014/main" id="{F4225683-24CC-4FA8-8104-D668E4C0C7C5}"/>
              </a:ext>
            </a:extLst>
          </p:cNvPr>
          <p:cNvSpPr/>
          <p:nvPr/>
        </p:nvSpPr>
        <p:spPr>
          <a:xfrm>
            <a:off x="7803750" y="5548121"/>
            <a:ext cx="2863378"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6" name="Connector 52">
            <a:extLst>
              <a:ext uri="{FF2B5EF4-FFF2-40B4-BE49-F238E27FC236}">
                <a16:creationId xmlns:a16="http://schemas.microsoft.com/office/drawing/2014/main" id="{9B990F7C-1E7A-45C3-966D-F252CEEDAD4B}"/>
              </a:ext>
            </a:extLst>
          </p:cNvPr>
          <p:cNvCxnSpPr/>
          <p:nvPr/>
        </p:nvCxnSpPr>
        <p:spPr>
          <a:xfrm>
            <a:off x="7803750" y="5520689"/>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7" name="Connector 53">
            <a:extLst>
              <a:ext uri="{FF2B5EF4-FFF2-40B4-BE49-F238E27FC236}">
                <a16:creationId xmlns:a16="http://schemas.microsoft.com/office/drawing/2014/main" id="{322A5E77-EE86-4AF9-8510-01C1ECBAF621}"/>
              </a:ext>
            </a:extLst>
          </p:cNvPr>
          <p:cNvCxnSpPr/>
          <p:nvPr/>
        </p:nvCxnSpPr>
        <p:spPr>
          <a:xfrm>
            <a:off x="10667129" y="5520689"/>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8" name="TextBox 107">
            <a:extLst>
              <a:ext uri="{FF2B5EF4-FFF2-40B4-BE49-F238E27FC236}">
                <a16:creationId xmlns:a16="http://schemas.microsoft.com/office/drawing/2014/main" id="{A9C9C6DC-4188-454E-A835-B1BDA0886BA9}"/>
              </a:ext>
            </a:extLst>
          </p:cNvPr>
          <p:cNvSpPr txBox="1"/>
          <p:nvPr/>
        </p:nvSpPr>
        <p:spPr>
          <a:xfrm>
            <a:off x="5310064" y="5529297"/>
            <a:ext cx="2420534" cy="110800"/>
          </a:xfrm>
          <a:prstGeom prst="rect">
            <a:avLst/>
          </a:prstGeom>
          <a:noFill/>
        </p:spPr>
        <p:txBody>
          <a:bodyPr wrap="none" lIns="0" tIns="0" rIns="0" bIns="0" anchor="ctr">
            <a:spAutoFit/>
          </a:bodyPr>
          <a:lstStyle/>
          <a:p>
            <a:pPr algn="r">
              <a:spcAft>
                <a:spcPts val="0"/>
              </a:spcAft>
            </a:pPr>
            <a:r>
              <a:rPr sz="720" b="0" dirty="0" err="1">
                <a:solidFill>
                  <a:srgbClr val="262626"/>
                </a:solidFill>
                <a:latin typeface="맑은 고딕"/>
                <a:ea typeface="맑은 고딕"/>
              </a:rPr>
              <a:t>LMCache</a:t>
            </a:r>
            <a:r>
              <a:rPr sz="720" b="0" dirty="0">
                <a:solidFill>
                  <a:srgbClr val="262626"/>
                </a:solidFill>
                <a:latin typeface="맑은 고딕"/>
                <a:ea typeface="맑은 고딕"/>
              </a:rPr>
              <a:t> 고 QPS TTFT </a:t>
            </a:r>
            <a:r>
              <a:rPr sz="720" b="0" dirty="0" smtClean="0">
                <a:solidFill>
                  <a:srgbClr val="262626"/>
                </a:solidFill>
                <a:latin typeface="맑은 고딕"/>
                <a:ea typeface="맑은 고딕"/>
              </a:rPr>
              <a:t>4.4~6.6x</a:t>
            </a:r>
            <a:r>
              <a:rPr lang="en-US" sz="720" b="0" dirty="0" smtClean="0">
                <a:solidFill>
                  <a:srgbClr val="262626"/>
                </a:solidFill>
                <a:latin typeface="맑은 고딕"/>
                <a:ea typeface="맑은 고딕"/>
              </a:rPr>
              <a:t> </a:t>
            </a:r>
            <a:r>
              <a:rPr lang="ko-KR" altLang="en-US" sz="720" dirty="0" smtClean="0">
                <a:solidFill>
                  <a:srgbClr val="262626"/>
                </a:solidFill>
                <a:latin typeface="맑은 고딕"/>
                <a:ea typeface="맑은 고딕"/>
              </a:rPr>
              <a:t>개선</a:t>
            </a:r>
            <a:r>
              <a:rPr lang="en-US" altLang="ko-KR" sz="720" dirty="0" smtClean="0">
                <a:solidFill>
                  <a:srgbClr val="262626"/>
                </a:solidFill>
                <a:latin typeface="맑은 고딕"/>
                <a:ea typeface="맑은 고딕"/>
              </a:rPr>
              <a:t>, TPOT</a:t>
            </a:r>
            <a:r>
              <a:rPr sz="720" b="0" dirty="0" smtClean="0">
                <a:solidFill>
                  <a:srgbClr val="262626"/>
                </a:solidFill>
                <a:latin typeface="맑은 고딕"/>
                <a:ea typeface="맑은 고딕"/>
              </a:rPr>
              <a:t> </a:t>
            </a:r>
            <a:r>
              <a:rPr sz="720" b="0" dirty="0">
                <a:solidFill>
                  <a:srgbClr val="262626"/>
                </a:solidFill>
                <a:latin typeface="맑은 고딕"/>
                <a:ea typeface="맑은 고딕"/>
              </a:rPr>
              <a:t>34~58% </a:t>
            </a:r>
            <a:r>
              <a:rPr lang="ko-KR" altLang="en-US" sz="720" b="0" dirty="0" smtClean="0">
                <a:solidFill>
                  <a:srgbClr val="262626"/>
                </a:solidFill>
                <a:latin typeface="맑은 고딕"/>
                <a:ea typeface="맑은 고딕"/>
              </a:rPr>
              <a:t>개선</a:t>
            </a:r>
            <a:endParaRPr sz="720" b="0" dirty="0">
              <a:solidFill>
                <a:srgbClr val="262626"/>
              </a:solidFill>
              <a:latin typeface="맑은 고딕"/>
              <a:ea typeface="맑은 고딕"/>
            </a:endParaRPr>
          </a:p>
        </p:txBody>
      </p:sp>
      <p:sp>
        <p:nvSpPr>
          <p:cNvPr id="109" name="Rectangle 55">
            <a:extLst>
              <a:ext uri="{FF2B5EF4-FFF2-40B4-BE49-F238E27FC236}">
                <a16:creationId xmlns:a16="http://schemas.microsoft.com/office/drawing/2014/main" id="{FEA096AB-D4B8-4114-BA42-77A6936288B3}"/>
              </a:ext>
            </a:extLst>
          </p:cNvPr>
          <p:cNvSpPr/>
          <p:nvPr/>
        </p:nvSpPr>
        <p:spPr>
          <a:xfrm>
            <a:off x="7406640" y="5735573"/>
            <a:ext cx="2633472"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0" name="Connector 56">
            <a:extLst>
              <a:ext uri="{FF2B5EF4-FFF2-40B4-BE49-F238E27FC236}">
                <a16:creationId xmlns:a16="http://schemas.microsoft.com/office/drawing/2014/main" id="{9839BB68-3858-4F05-9F73-2C79DE92563D}"/>
              </a:ext>
            </a:extLst>
          </p:cNvPr>
          <p:cNvCxnSpPr/>
          <p:nvPr/>
        </p:nvCxnSpPr>
        <p:spPr>
          <a:xfrm>
            <a:off x="7406640" y="5708141"/>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111" name="Connector 57">
            <a:extLst>
              <a:ext uri="{FF2B5EF4-FFF2-40B4-BE49-F238E27FC236}">
                <a16:creationId xmlns:a16="http://schemas.microsoft.com/office/drawing/2014/main" id="{45AD1691-7E20-4E39-8CED-E0AAA3F5F706}"/>
              </a:ext>
            </a:extLst>
          </p:cNvPr>
          <p:cNvCxnSpPr/>
          <p:nvPr/>
        </p:nvCxnSpPr>
        <p:spPr>
          <a:xfrm>
            <a:off x="10040112" y="5708141"/>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112" name="TextBox 111">
            <a:extLst>
              <a:ext uri="{FF2B5EF4-FFF2-40B4-BE49-F238E27FC236}">
                <a16:creationId xmlns:a16="http://schemas.microsoft.com/office/drawing/2014/main" id="{231A276C-D459-400C-BE0E-A618559E6EE3}"/>
              </a:ext>
            </a:extLst>
          </p:cNvPr>
          <p:cNvSpPr txBox="1"/>
          <p:nvPr/>
        </p:nvSpPr>
        <p:spPr>
          <a:xfrm>
            <a:off x="4741431" y="5724508"/>
            <a:ext cx="2592056" cy="95282"/>
          </a:xfrm>
          <a:prstGeom prst="rect">
            <a:avLst/>
          </a:prstGeom>
          <a:noFill/>
        </p:spPr>
        <p:txBody>
          <a:bodyPr wrap="none" lIns="0" tIns="0" rIns="0" bIns="0" anchor="ctr">
            <a:spAutoFit/>
          </a:bodyPr>
          <a:lstStyle/>
          <a:p>
            <a:pPr algn="r">
              <a:spcAft>
                <a:spcPts val="0"/>
              </a:spcAft>
            </a:pPr>
            <a:r>
              <a:rPr sz="619" b="0" dirty="0">
                <a:solidFill>
                  <a:srgbClr val="262626"/>
                </a:solidFill>
                <a:latin typeface="맑은 고딕"/>
                <a:ea typeface="맑은 고딕"/>
              </a:rPr>
              <a:t>★3 </a:t>
            </a:r>
            <a:r>
              <a:rPr sz="619" b="0" dirty="0" err="1">
                <a:solidFill>
                  <a:srgbClr val="262626"/>
                </a:solidFill>
                <a:latin typeface="맑은 고딕"/>
                <a:ea typeface="맑은 고딕"/>
              </a:rPr>
              <a:t>근거</a:t>
            </a:r>
            <a:r>
              <a:rPr sz="619" b="0" dirty="0">
                <a:solidFill>
                  <a:srgbClr val="262626"/>
                </a:solidFill>
                <a:latin typeface="맑은 고딕"/>
                <a:ea typeface="맑은 고딕"/>
              </a:rPr>
              <a:t>: </a:t>
            </a:r>
            <a:r>
              <a:rPr sz="619" b="0" dirty="0" err="1">
                <a:solidFill>
                  <a:srgbClr val="262626"/>
                </a:solidFill>
                <a:latin typeface="맑은 고딕"/>
                <a:ea typeface="맑은 고딕"/>
              </a:rPr>
              <a:t>경쟁</a:t>
            </a:r>
            <a:r>
              <a:rPr sz="619" b="0" dirty="0">
                <a:solidFill>
                  <a:srgbClr val="262626"/>
                </a:solidFill>
                <a:latin typeface="맑은 고딕"/>
                <a:ea typeface="맑은 고딕"/>
              </a:rPr>
              <a:t> </a:t>
            </a:r>
            <a:r>
              <a:rPr lang="ko-KR" altLang="en-US" sz="619" dirty="0" err="1" smtClean="0">
                <a:solidFill>
                  <a:srgbClr val="262626"/>
                </a:solidFill>
                <a:latin typeface="맑은 고딕"/>
                <a:ea typeface="맑은 고딕"/>
              </a:rPr>
              <a:t>개선율</a:t>
            </a:r>
            <a:r>
              <a:rPr sz="619" b="0" dirty="0" smtClean="0">
                <a:solidFill>
                  <a:srgbClr val="262626"/>
                </a:solidFill>
                <a:latin typeface="맑은 고딕"/>
                <a:ea typeface="맑은 고딕"/>
              </a:rPr>
              <a:t> </a:t>
            </a:r>
            <a:r>
              <a:rPr sz="619" b="0" dirty="0">
                <a:solidFill>
                  <a:srgbClr val="262626"/>
                </a:solidFill>
                <a:latin typeface="맑은 고딕"/>
                <a:ea typeface="맑은 고딕"/>
              </a:rPr>
              <a:t>2.0 × offload </a:t>
            </a:r>
            <a:r>
              <a:rPr sz="619" b="0" dirty="0" err="1">
                <a:solidFill>
                  <a:srgbClr val="262626"/>
                </a:solidFill>
                <a:latin typeface="맑은 고딕"/>
                <a:ea typeface="맑은 고딕"/>
              </a:rPr>
              <a:t>대비</a:t>
            </a:r>
            <a:r>
              <a:rPr sz="619" b="0" dirty="0">
                <a:solidFill>
                  <a:srgbClr val="262626"/>
                </a:solidFill>
                <a:latin typeface="맑은 고딕"/>
                <a:ea typeface="맑은 고딕"/>
              </a:rPr>
              <a:t> </a:t>
            </a:r>
            <a:r>
              <a:rPr sz="619" b="0" dirty="0" err="1">
                <a:solidFill>
                  <a:srgbClr val="262626"/>
                </a:solidFill>
                <a:latin typeface="맑은 고딕"/>
                <a:ea typeface="맑은 고딕"/>
              </a:rPr>
              <a:t>문헌</a:t>
            </a:r>
            <a:r>
              <a:rPr sz="619" b="0" dirty="0">
                <a:solidFill>
                  <a:srgbClr val="262626"/>
                </a:solidFill>
                <a:latin typeface="맑은 고딕"/>
                <a:ea typeface="맑은 고딕"/>
              </a:rPr>
              <a:t> </a:t>
            </a:r>
            <a:r>
              <a:rPr sz="619" b="0" dirty="0" err="1">
                <a:solidFill>
                  <a:srgbClr val="262626"/>
                </a:solidFill>
                <a:latin typeface="맑은 고딕"/>
                <a:ea typeface="맑은 고딕"/>
              </a:rPr>
              <a:t>개선</a:t>
            </a:r>
            <a:r>
              <a:rPr sz="619" b="0" dirty="0">
                <a:solidFill>
                  <a:srgbClr val="262626"/>
                </a:solidFill>
                <a:latin typeface="맑은 고딕"/>
                <a:ea typeface="맑은 고딕"/>
              </a:rPr>
              <a:t> 1.2~1.83x = 2.4~3.7</a:t>
            </a:r>
          </a:p>
        </p:txBody>
      </p:sp>
      <p:sp>
        <p:nvSpPr>
          <p:cNvPr id="113" name="Oval 59">
            <a:extLst>
              <a:ext uri="{FF2B5EF4-FFF2-40B4-BE49-F238E27FC236}">
                <a16:creationId xmlns:a16="http://schemas.microsoft.com/office/drawing/2014/main" id="{1629FE66-2E48-47C1-8A1F-24B6ED602E4C}"/>
              </a:ext>
            </a:extLst>
          </p:cNvPr>
          <p:cNvSpPr/>
          <p:nvPr/>
        </p:nvSpPr>
        <p:spPr>
          <a:xfrm>
            <a:off x="4453127" y="5952743"/>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6C0D62B7-DC64-4C27-B56A-079E86D65E6A}"/>
              </a:ext>
            </a:extLst>
          </p:cNvPr>
          <p:cNvSpPr txBox="1"/>
          <p:nvPr/>
        </p:nvSpPr>
        <p:spPr>
          <a:xfrm>
            <a:off x="4571999" y="5911595"/>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115" name="Diamond 61">
            <a:extLst>
              <a:ext uri="{FF2B5EF4-FFF2-40B4-BE49-F238E27FC236}">
                <a16:creationId xmlns:a16="http://schemas.microsoft.com/office/drawing/2014/main" id="{BC5B2478-3521-4383-AC75-F55336C80652}"/>
              </a:ext>
            </a:extLst>
          </p:cNvPr>
          <p:cNvSpPr/>
          <p:nvPr/>
        </p:nvSpPr>
        <p:spPr>
          <a:xfrm>
            <a:off x="5608828" y="5952743"/>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a:extLst>
              <a:ext uri="{FF2B5EF4-FFF2-40B4-BE49-F238E27FC236}">
                <a16:creationId xmlns:a16="http://schemas.microsoft.com/office/drawing/2014/main" id="{BA1838CF-E704-455A-906E-C33DDE1D249D}"/>
              </a:ext>
            </a:extLst>
          </p:cNvPr>
          <p:cNvSpPr txBox="1"/>
          <p:nvPr/>
        </p:nvSpPr>
        <p:spPr>
          <a:xfrm>
            <a:off x="5727700" y="5911595"/>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117" name="Isosceles Triangle 63">
            <a:extLst>
              <a:ext uri="{FF2B5EF4-FFF2-40B4-BE49-F238E27FC236}">
                <a16:creationId xmlns:a16="http://schemas.microsoft.com/office/drawing/2014/main" id="{CC2FD78B-50A2-4F0A-BB95-B0F4592C95C0}"/>
              </a:ext>
            </a:extLst>
          </p:cNvPr>
          <p:cNvSpPr/>
          <p:nvPr/>
        </p:nvSpPr>
        <p:spPr>
          <a:xfrm>
            <a:off x="7097903" y="5952743"/>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00CE091B-10A4-4013-B604-572904CA1723}"/>
              </a:ext>
            </a:extLst>
          </p:cNvPr>
          <p:cNvSpPr txBox="1"/>
          <p:nvPr/>
        </p:nvSpPr>
        <p:spPr>
          <a:xfrm>
            <a:off x="7216775" y="5911595"/>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119" name="Oval 65">
            <a:extLst>
              <a:ext uri="{FF2B5EF4-FFF2-40B4-BE49-F238E27FC236}">
                <a16:creationId xmlns:a16="http://schemas.microsoft.com/office/drawing/2014/main" id="{AF35A976-4C5D-490C-A610-A340B2D1C58F}"/>
              </a:ext>
            </a:extLst>
          </p:cNvPr>
          <p:cNvSpPr/>
          <p:nvPr/>
        </p:nvSpPr>
        <p:spPr>
          <a:xfrm>
            <a:off x="7822438" y="5952743"/>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a:extLst>
              <a:ext uri="{FF2B5EF4-FFF2-40B4-BE49-F238E27FC236}">
                <a16:creationId xmlns:a16="http://schemas.microsoft.com/office/drawing/2014/main" id="{8EEC5ADE-BD7E-40CF-A66C-C19CCD2C775D}"/>
              </a:ext>
            </a:extLst>
          </p:cNvPr>
          <p:cNvSpPr txBox="1"/>
          <p:nvPr/>
        </p:nvSpPr>
        <p:spPr>
          <a:xfrm>
            <a:off x="7941310" y="5911595"/>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121" name="TextBox 120">
            <a:extLst>
              <a:ext uri="{FF2B5EF4-FFF2-40B4-BE49-F238E27FC236}">
                <a16:creationId xmlns:a16="http://schemas.microsoft.com/office/drawing/2014/main" id="{47B0AB69-83BF-4333-807F-F3B2E428C7E7}"/>
              </a:ext>
            </a:extLst>
          </p:cNvPr>
          <p:cNvSpPr txBox="1"/>
          <p:nvPr/>
        </p:nvSpPr>
        <p:spPr>
          <a:xfrm>
            <a:off x="365760" y="4279392"/>
            <a:ext cx="3931920" cy="457200"/>
          </a:xfrm>
          <a:prstGeom prst="rect">
            <a:avLst/>
          </a:prstGeom>
          <a:noFill/>
        </p:spPr>
        <p:txBody>
          <a:bodyPr wrap="square" lIns="73152" tIns="36576" rIns="73152" bIns="36576" anchor="t">
            <a:spAutoFit/>
          </a:bodyPr>
          <a:lstStyle/>
          <a:p>
            <a:pPr algn="l">
              <a:lnSpc>
                <a:spcPct val="105000"/>
              </a:lnSpc>
              <a:spcAft>
                <a:spcPts val="0"/>
              </a:spcAft>
            </a:pPr>
            <a:r>
              <a:rPr sz="950" b="1">
                <a:solidFill>
                  <a:srgbClr val="2F5597"/>
                </a:solidFill>
                <a:latin typeface="맑은 고딕"/>
                <a:ea typeface="맑은 고딕"/>
              </a:rPr>
              <a:t>P99의 의미</a:t>
            </a:r>
          </a:p>
          <a:p>
            <a:pPr algn="l">
              <a:lnSpc>
                <a:spcPct val="105000"/>
              </a:lnSpc>
              <a:spcAft>
                <a:spcPts val="0"/>
              </a:spcAft>
            </a:pPr>
            <a:r>
              <a:rPr sz="850" b="0">
                <a:solidFill>
                  <a:srgbClr val="000000"/>
                </a:solidFill>
                <a:latin typeface="맑은 고딕"/>
                <a:ea typeface="맑은 고딕"/>
              </a:rPr>
              <a:t>상위 1%의 극단적 지연을 포착해 고부하 서비스 끊김을 검증</a:t>
            </a:r>
          </a:p>
        </p:txBody>
      </p:sp>
      <p:sp>
        <p:nvSpPr>
          <p:cNvPr id="61" name="실행 단추: 뒤로 또는 이전 60">
            <a:hlinkClick r:id="rId4"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65" name="실행 단추: 뒤로 또는 이전 64">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1941538604"/>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lang="ko-KR" altLang="en-US" sz="2200" b="1" dirty="0">
                <a:solidFill>
                  <a:srgbClr val="2F5597"/>
                </a:solidFill>
                <a:latin typeface="맑은 고딕"/>
                <a:ea typeface="맑은 고딕"/>
              </a:rPr>
              <a:t>고부하 시 </a:t>
            </a:r>
            <a:r>
              <a:rPr sz="2200" b="1" dirty="0" err="1">
                <a:solidFill>
                  <a:srgbClr val="2F5597"/>
                </a:solidFill>
                <a:latin typeface="맑은 고딕"/>
                <a:ea typeface="맑은 고딕"/>
              </a:rPr>
              <a:t>지연</a:t>
            </a:r>
            <a:r>
              <a:rPr lang="ko-KR" altLang="en-US" sz="2200" b="1" dirty="0">
                <a:solidFill>
                  <a:srgbClr val="2F5597"/>
                </a:solidFill>
                <a:latin typeface="맑은 고딕"/>
                <a:ea typeface="맑은 고딕"/>
              </a:rPr>
              <a:t>시간 </a:t>
            </a:r>
            <a:r>
              <a:rPr lang="en-US" altLang="ko-KR" sz="2200" b="1" dirty="0">
                <a:solidFill>
                  <a:srgbClr val="2F5597"/>
                </a:solidFill>
                <a:latin typeface="맑은 고딕"/>
                <a:ea typeface="맑은 고딕"/>
              </a:rPr>
              <a:t>-</a:t>
            </a:r>
            <a:r>
              <a:rPr lang="ko-KR" altLang="en-US" sz="2200" b="1" dirty="0">
                <a:solidFill>
                  <a:srgbClr val="2F5597"/>
                </a:solidFill>
                <a:latin typeface="맑은 고딕"/>
                <a:ea typeface="맑은 고딕"/>
              </a:rPr>
              <a:t> 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en-US" sz="1100" b="0" dirty="0">
                <a:solidFill>
                  <a:srgbClr val="404040"/>
                </a:solidFill>
                <a:latin typeface="맑은 고딕"/>
                <a:ea typeface="맑은 고딕"/>
              </a:rPr>
              <a:t>Baseline </a:t>
            </a:r>
            <a:r>
              <a:rPr lang="ko-KR" altLang="en-US" sz="1100" b="0" dirty="0">
                <a:solidFill>
                  <a:srgbClr val="404040"/>
                </a:solidFill>
                <a:latin typeface="맑은 고딕"/>
                <a:ea typeface="맑은 고딕"/>
              </a:rPr>
              <a:t>대비 </a:t>
            </a:r>
            <a:r>
              <a:rPr lang="en-US" altLang="ko-KR" sz="1100" dirty="0">
                <a:solidFill>
                  <a:srgbClr val="404040"/>
                </a:solidFill>
                <a:latin typeface="맑은 고딕"/>
                <a:ea typeface="맑은 고딕"/>
              </a:rPr>
              <a:t>TTFT, TPOT</a:t>
            </a:r>
            <a:r>
              <a:rPr lang="ko-KR" altLang="en-US" sz="1100" dirty="0">
                <a:solidFill>
                  <a:srgbClr val="404040"/>
                </a:solidFill>
                <a:latin typeface="맑은 고딕"/>
                <a:ea typeface="맑은 고딕"/>
              </a:rPr>
              <a:t>의 </a:t>
            </a:r>
            <a:r>
              <a:rPr lang="en-US" altLang="ko-KR" sz="1100" dirty="0">
                <a:solidFill>
                  <a:srgbClr val="404040"/>
                </a:solidFill>
                <a:latin typeface="맑은 고딕"/>
                <a:ea typeface="맑은 고딕"/>
              </a:rPr>
              <a:t>Tail Latency (P99</a:t>
            </a:r>
            <a:r>
              <a:rPr lang="en-US" altLang="ko-KR" sz="1100" b="0" dirty="0">
                <a:solidFill>
                  <a:srgbClr val="404040"/>
                </a:solidFill>
                <a:latin typeface="맑은 고딕"/>
                <a:ea typeface="맑은 고딕"/>
              </a:rPr>
              <a:t>)</a:t>
            </a:r>
            <a:r>
              <a:rPr lang="ko-KR" altLang="en-US" sz="1100" b="0" dirty="0">
                <a:solidFill>
                  <a:srgbClr val="404040"/>
                </a:solidFill>
                <a:latin typeface="맑은 고딕"/>
                <a:ea typeface="맑은 고딕"/>
              </a:rPr>
              <a:t> 감소율 </a:t>
            </a:r>
            <a:r>
              <a:rPr lang="en-US" altLang="ko-KR" sz="1100" b="0" dirty="0">
                <a:solidFill>
                  <a:srgbClr val="404040"/>
                </a:solidFill>
                <a:latin typeface="맑은 고딕"/>
                <a:ea typeface="맑은 고딕"/>
              </a:rPr>
              <a:t>(</a:t>
            </a:r>
            <a:r>
              <a:rPr lang="ko-KR" altLang="en-US" sz="1100" b="0" dirty="0">
                <a:solidFill>
                  <a:srgbClr val="404040"/>
                </a:solidFill>
                <a:latin typeface="맑은 고딕"/>
                <a:ea typeface="맑은 고딕"/>
              </a:rPr>
              <a:t>둘 중에 감소율 </a:t>
            </a:r>
            <a:r>
              <a:rPr lang="en-US" altLang="ko-KR" sz="1100" b="0" dirty="0">
                <a:solidFill>
                  <a:srgbClr val="404040"/>
                </a:solidFill>
                <a:latin typeface="맑은 고딕"/>
                <a:ea typeface="맑은 고딕"/>
              </a:rPr>
              <a:t>max </a:t>
            </a:r>
            <a:r>
              <a:rPr lang="ko-KR" altLang="en-US" sz="1100" dirty="0">
                <a:solidFill>
                  <a:srgbClr val="404040"/>
                </a:solidFill>
                <a:latin typeface="맑은 고딕"/>
                <a:ea typeface="맑은 고딕"/>
              </a:rPr>
              <a:t>값</a:t>
            </a:r>
            <a:r>
              <a:rPr lang="en-US" altLang="ko-KR" sz="1100" dirty="0">
                <a:solidFill>
                  <a:srgbClr val="404040"/>
                </a:solidFill>
                <a:latin typeface="맑은 고딕"/>
                <a:ea typeface="맑은 고딕"/>
              </a:rPr>
              <a:t>)</a:t>
            </a:r>
            <a:endParaRPr lang="en-US" sz="1100" b="0" dirty="0">
              <a:solidFill>
                <a:srgbClr val="404040"/>
              </a:solidFill>
              <a:latin typeface="맑은 고딕"/>
              <a:ea typeface="맑은 고딕"/>
            </a:endParaRPr>
          </a:p>
        </p:txBody>
      </p:sp>
      <p:sp>
        <p:nvSpPr>
          <p:cNvPr id="66" name="rule">
            <a:extLst>
              <a:ext uri="{FF2B5EF4-FFF2-40B4-BE49-F238E27FC236}">
                <a16:creationId xmlns:a16="http://schemas.microsoft.com/office/drawing/2014/main" id="{BBC76857-BE8F-4F24-AC5F-EB9776070AA7}"/>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src">
            <a:extLst>
              <a:ext uri="{FF2B5EF4-FFF2-40B4-BE49-F238E27FC236}">
                <a16:creationId xmlns:a16="http://schemas.microsoft.com/office/drawing/2014/main" id="{7619CFC5-FC40-47AD-9BC1-081FC10B4390}"/>
              </a:ext>
            </a:extLst>
          </p:cNvPr>
          <p:cNvSpPr txBox="1"/>
          <p:nvPr/>
        </p:nvSpPr>
        <p:spPr>
          <a:xfrm>
            <a:off x="365759" y="6583680"/>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LMCache</a:t>
            </a:r>
            <a:r>
              <a:rPr sz="750" b="0" dirty="0">
                <a:solidFill>
                  <a:srgbClr val="404040"/>
                </a:solidFill>
                <a:latin typeface="맑은 고딕"/>
                <a:ea typeface="맑은 고딕"/>
              </a:rPr>
              <a:t> (</a:t>
            </a:r>
            <a:r>
              <a:rPr sz="750" b="0" dirty="0" err="1">
                <a:solidFill>
                  <a:srgbClr val="404040"/>
                </a:solidFill>
                <a:latin typeface="맑은 고딕"/>
                <a:ea typeface="맑은 고딕"/>
              </a:rPr>
              <a:t>arXiv</a:t>
            </a:r>
            <a:r>
              <a:rPr sz="750" b="0" dirty="0">
                <a:solidFill>
                  <a:srgbClr val="404040"/>
                </a:solidFill>
                <a:latin typeface="맑은 고딕"/>
                <a:ea typeface="맑은 고딕"/>
              </a:rPr>
              <a:t> 2510.09665) · </a:t>
            </a:r>
            <a:r>
              <a:rPr sz="750" b="0" dirty="0" err="1">
                <a:solidFill>
                  <a:srgbClr val="404040"/>
                </a:solidFill>
                <a:latin typeface="맑은 고딕"/>
                <a:ea typeface="맑은 고딕"/>
              </a:rPr>
              <a:t>KVFlow</a:t>
            </a:r>
            <a:r>
              <a:rPr sz="750" b="0" dirty="0">
                <a:solidFill>
                  <a:srgbClr val="404040"/>
                </a:solidFill>
                <a:latin typeface="맑은 고딕"/>
                <a:ea typeface="맑은 고딕"/>
              </a:rPr>
              <a:t> (</a:t>
            </a:r>
            <a:r>
              <a:rPr sz="750" b="0" dirty="0" err="1">
                <a:solidFill>
                  <a:srgbClr val="404040"/>
                </a:solidFill>
                <a:latin typeface="맑은 고딕"/>
                <a:ea typeface="맑은 고딕"/>
              </a:rPr>
              <a:t>arXiv</a:t>
            </a:r>
            <a:r>
              <a:rPr sz="750" b="0" dirty="0">
                <a:solidFill>
                  <a:srgbClr val="404040"/>
                </a:solidFill>
                <a:latin typeface="맑은 고딕"/>
                <a:ea typeface="맑은 고딕"/>
              </a:rPr>
              <a:t> 2507.07400) · </a:t>
            </a:r>
            <a:r>
              <a:rPr sz="750" b="0" dirty="0" err="1">
                <a:solidFill>
                  <a:srgbClr val="404040"/>
                </a:solidFill>
                <a:latin typeface="맑은 고딕"/>
                <a:ea typeface="맑은 고딕"/>
              </a:rPr>
              <a:t>DirectKV</a:t>
            </a:r>
            <a:r>
              <a:rPr sz="750" b="0" dirty="0">
                <a:solidFill>
                  <a:srgbClr val="404040"/>
                </a:solidFill>
                <a:latin typeface="맑은 고딕"/>
                <a:ea typeface="맑은 고딕"/>
              </a:rPr>
              <a:t> OSDI'26.</a:t>
            </a:r>
          </a:p>
        </p:txBody>
      </p:sp>
      <p:pic>
        <p:nvPicPr>
          <p:cNvPr id="68" name="그림 67">
            <a:extLst>
              <a:ext uri="{FF2B5EF4-FFF2-40B4-BE49-F238E27FC236}">
                <a16:creationId xmlns:a16="http://schemas.microsoft.com/office/drawing/2014/main" id="{94DC35E3-1953-4364-9C7F-094A25711418}"/>
              </a:ext>
            </a:extLst>
          </p:cNvPr>
          <p:cNvPicPr>
            <a:picLocks noChangeAspect="1"/>
          </p:cNvPicPr>
          <p:nvPr/>
        </p:nvPicPr>
        <p:blipFill rotWithShape="1">
          <a:blip r:embed="rId3"/>
          <a:srcRect l="3011" r="635" b="11226"/>
          <a:stretch/>
        </p:blipFill>
        <p:spPr>
          <a:xfrm>
            <a:off x="411480" y="4800600"/>
            <a:ext cx="3526737" cy="1600200"/>
          </a:xfrm>
          <a:prstGeom prst="rect">
            <a:avLst/>
          </a:prstGeom>
        </p:spPr>
      </p:pic>
      <p:sp>
        <p:nvSpPr>
          <p:cNvPr id="69" name="metric">
            <a:extLst>
              <a:ext uri="{FF2B5EF4-FFF2-40B4-BE49-F238E27FC236}">
                <a16:creationId xmlns:a16="http://schemas.microsoft.com/office/drawing/2014/main" id="{5A64ACBD-C734-4515-9089-50C8D74678AC}"/>
              </a:ext>
            </a:extLst>
          </p:cNvPr>
          <p:cNvSpPr txBox="1"/>
          <p:nvPr/>
        </p:nvSpPr>
        <p:spPr>
          <a:xfrm>
            <a:off x="365760" y="1069848"/>
            <a:ext cx="11430000" cy="748154"/>
          </a:xfrm>
          <a:prstGeom prst="rect">
            <a:avLst/>
          </a:prstGeom>
          <a:noFill/>
        </p:spPr>
        <p:txBody>
          <a:bodyPr wrap="square" lIns="73152" tIns="36576" rIns="73152" bIns="36576" anchor="t">
            <a:spAutoFit/>
          </a:bodyPr>
          <a:lstStyle/>
          <a:p>
            <a:pPr>
              <a:lnSpc>
                <a:spcPct val="150000"/>
              </a:lnSpc>
            </a:pPr>
            <a:r>
              <a:rPr lang="en-US" altLang="ko-KR" sz="1050" b="1" dirty="0">
                <a:solidFill>
                  <a:srgbClr val="2F5597"/>
                </a:solidFill>
                <a:latin typeface="맑은 고딕"/>
                <a:ea typeface="맑은 고딕"/>
              </a:rPr>
              <a:t>[Metric] </a:t>
            </a:r>
            <a:r>
              <a:rPr lang="ko-KR" altLang="en-US" sz="1050" b="1" dirty="0">
                <a:solidFill>
                  <a:srgbClr val="2F5597"/>
                </a:solidFill>
                <a:latin typeface="맑은 고딕"/>
                <a:ea typeface="맑은 고딕"/>
              </a:rPr>
              <a:t>감소율 </a:t>
            </a:r>
            <a:r>
              <a:rPr lang="en-US" altLang="ko-KR" sz="1050" b="1" dirty="0">
                <a:solidFill>
                  <a:srgbClr val="2F5597"/>
                </a:solidFill>
                <a:latin typeface="맑은 고딕"/>
                <a:ea typeface="맑은 고딕"/>
              </a:rPr>
              <a:t>r = max[ (TTFT P99 ÷ Baseline) , (TPOT P99 ÷ Baseline) ]</a:t>
            </a:r>
            <a:r>
              <a:rPr lang="ko-KR" altLang="en-US" sz="1050" b="1" dirty="0">
                <a:solidFill>
                  <a:srgbClr val="2F5597"/>
                </a:solidFill>
                <a:latin typeface="맑은 고딕"/>
                <a:ea typeface="맑은 고딕"/>
              </a:rPr>
              <a:t> </a:t>
            </a:r>
            <a:r>
              <a:rPr lang="en-US" altLang="ko-KR" sz="1050" b="1" dirty="0">
                <a:solidFill>
                  <a:srgbClr val="2F5597"/>
                </a:solidFill>
                <a:latin typeface="맑은 고딕"/>
                <a:ea typeface="맑은 고딕"/>
              </a:rPr>
              <a:t>,  </a:t>
            </a:r>
            <a:r>
              <a:rPr lang="ko-KR" altLang="en-US" sz="1050" b="1" dirty="0" err="1">
                <a:solidFill>
                  <a:srgbClr val="2F5597"/>
                </a:solidFill>
                <a:latin typeface="맑은 고딕"/>
                <a:ea typeface="맑은 고딕"/>
              </a:rPr>
              <a:t>개선율</a:t>
            </a:r>
            <a:r>
              <a:rPr lang="ko-KR" altLang="en-US" sz="1050" b="1" dirty="0">
                <a:solidFill>
                  <a:srgbClr val="2F5597"/>
                </a:solidFill>
                <a:latin typeface="맑은 고딕"/>
                <a:ea typeface="맑은 고딕"/>
              </a:rPr>
              <a:t> </a:t>
            </a:r>
            <a:r>
              <a:rPr lang="en-US" altLang="ko-KR" sz="1050" b="1" dirty="0">
                <a:solidFill>
                  <a:srgbClr val="2F5597"/>
                </a:solidFill>
                <a:latin typeface="맑은 고딕"/>
                <a:ea typeface="맑은 고딕"/>
              </a:rPr>
              <a:t>=1/(1-r)</a:t>
            </a:r>
            <a:endParaRPr lang="en-US" sz="1050" b="1" dirty="0">
              <a:solidFill>
                <a:srgbClr val="2F5597"/>
              </a:solidFill>
              <a:latin typeface="맑은 고딕"/>
              <a:ea typeface="맑은 고딕"/>
            </a:endParaRPr>
          </a:p>
          <a:p>
            <a:pPr marL="171450" indent="-171450" algn="l">
              <a:lnSpc>
                <a:spcPct val="150000"/>
              </a:lnSpc>
              <a:spcAft>
                <a:spcPts val="0"/>
              </a:spcAft>
              <a:buFontTx/>
              <a:buChar char="-"/>
            </a:pPr>
            <a:r>
              <a:rPr lang="ko-KR" altLang="en-US" sz="1000" b="0" dirty="0">
                <a:solidFill>
                  <a:srgbClr val="000000"/>
                </a:solidFill>
                <a:latin typeface="맑은 고딕"/>
                <a:ea typeface="맑은 고딕"/>
              </a:rPr>
              <a:t>고</a:t>
            </a:r>
            <a:r>
              <a:rPr sz="1000" b="0" dirty="0" err="1">
                <a:solidFill>
                  <a:srgbClr val="000000"/>
                </a:solidFill>
                <a:latin typeface="맑은 고딕"/>
                <a:ea typeface="맑은 고딕"/>
              </a:rPr>
              <a:t>부하</a:t>
            </a:r>
            <a:r>
              <a:rPr lang="en-US" sz="1000" dirty="0">
                <a:solidFill>
                  <a:srgbClr val="000000"/>
                </a:solidFill>
                <a:latin typeface="맑은 고딕"/>
                <a:ea typeface="맑은 고딕"/>
              </a:rPr>
              <a:t> </a:t>
            </a:r>
            <a:r>
              <a:rPr lang="ko-KR" altLang="en-US" sz="1000" dirty="0">
                <a:solidFill>
                  <a:srgbClr val="000000"/>
                </a:solidFill>
                <a:latin typeface="맑은 고딕"/>
                <a:ea typeface="맑은 고딕"/>
              </a:rPr>
              <a:t>상황</a:t>
            </a:r>
            <a:r>
              <a:rPr sz="1000" b="0" dirty="0">
                <a:solidFill>
                  <a:srgbClr val="000000"/>
                </a:solidFill>
                <a:latin typeface="맑은 고딕"/>
                <a:ea typeface="맑은 고딕"/>
              </a:rPr>
              <a:t>: </a:t>
            </a:r>
            <a:r>
              <a:rPr sz="1000" b="0" dirty="0" err="1">
                <a:solidFill>
                  <a:srgbClr val="000000"/>
                </a:solidFill>
                <a:latin typeface="맑은 고딕"/>
                <a:ea typeface="맑은 고딕"/>
              </a:rPr>
              <a:t>부하를</a:t>
            </a:r>
            <a:r>
              <a:rPr sz="1000" b="0" dirty="0">
                <a:solidFill>
                  <a:srgbClr val="000000"/>
                </a:solidFill>
                <a:latin typeface="맑은 고딕"/>
                <a:ea typeface="맑은 고딕"/>
              </a:rPr>
              <a:t> </a:t>
            </a:r>
            <a:r>
              <a:rPr lang="en-US" sz="1000" b="0" dirty="0">
                <a:solidFill>
                  <a:srgbClr val="000000"/>
                </a:solidFill>
                <a:latin typeface="맑은 고딕"/>
                <a:ea typeface="맑은 고딕"/>
              </a:rPr>
              <a:t>Baseline </a:t>
            </a:r>
            <a:r>
              <a:rPr sz="1000" b="0" dirty="0" err="1">
                <a:solidFill>
                  <a:srgbClr val="000000"/>
                </a:solidFill>
                <a:latin typeface="맑은 고딕"/>
                <a:ea typeface="맑은 고딕"/>
              </a:rPr>
              <a:t>포화</a:t>
            </a:r>
            <a:r>
              <a:rPr sz="1000" b="0" dirty="0">
                <a:solidFill>
                  <a:srgbClr val="000000"/>
                </a:solidFill>
                <a:latin typeface="맑은 고딕"/>
                <a:ea typeface="맑은 고딕"/>
              </a:rPr>
              <a:t> </a:t>
            </a:r>
            <a:r>
              <a:rPr sz="1000" b="0" dirty="0" err="1">
                <a:solidFill>
                  <a:srgbClr val="000000"/>
                </a:solidFill>
                <a:latin typeface="맑은 고딕"/>
                <a:ea typeface="맑은 고딕"/>
              </a:rPr>
              <a:t>부하의</a:t>
            </a:r>
            <a:r>
              <a:rPr sz="1000" b="0" dirty="0">
                <a:solidFill>
                  <a:srgbClr val="000000"/>
                </a:solidFill>
                <a:latin typeface="맑은 고딕"/>
                <a:ea typeface="맑은 고딕"/>
              </a:rPr>
              <a:t> 90%에 </a:t>
            </a:r>
            <a:r>
              <a:rPr sz="1000" b="0" dirty="0" err="1">
                <a:solidFill>
                  <a:srgbClr val="000000"/>
                </a:solidFill>
                <a:latin typeface="맑은 고딕"/>
                <a:ea typeface="맑은 고딕"/>
              </a:rPr>
              <a:t>고정</a:t>
            </a:r>
            <a:endParaRPr lang="en-US" sz="1000" b="0" dirty="0">
              <a:solidFill>
                <a:srgbClr val="000000"/>
              </a:solidFill>
              <a:latin typeface="맑은 고딕"/>
              <a:ea typeface="맑은 고딕"/>
            </a:endParaRPr>
          </a:p>
          <a:p>
            <a:pPr marL="171450" indent="-171450" algn="l">
              <a:lnSpc>
                <a:spcPct val="150000"/>
              </a:lnSpc>
              <a:spcAft>
                <a:spcPts val="0"/>
              </a:spcAft>
              <a:buFontTx/>
              <a:buChar char="-"/>
            </a:pPr>
            <a:r>
              <a:rPr lang="en-US" sz="1000" dirty="0">
                <a:solidFill>
                  <a:srgbClr val="000000"/>
                </a:solidFill>
                <a:latin typeface="맑은 고딕"/>
                <a:ea typeface="맑은 고딕"/>
              </a:rPr>
              <a:t>TTFT</a:t>
            </a:r>
            <a:r>
              <a:rPr lang="ko-KR" altLang="en-US" sz="1000" dirty="0">
                <a:solidFill>
                  <a:srgbClr val="000000"/>
                </a:solidFill>
                <a:latin typeface="맑은 고딕"/>
                <a:ea typeface="맑은 고딕"/>
              </a:rPr>
              <a:t>를 절감하는 상황과 </a:t>
            </a:r>
            <a:r>
              <a:rPr lang="en-US" altLang="ko-KR" sz="1000" dirty="0">
                <a:solidFill>
                  <a:srgbClr val="000000"/>
                </a:solidFill>
                <a:latin typeface="맑은 고딕"/>
                <a:ea typeface="맑은 고딕"/>
              </a:rPr>
              <a:t>TPOT</a:t>
            </a:r>
            <a:r>
              <a:rPr lang="ko-KR" altLang="en-US" sz="1000" dirty="0">
                <a:solidFill>
                  <a:srgbClr val="000000"/>
                </a:solidFill>
                <a:latin typeface="맑은 고딕"/>
                <a:ea typeface="맑은 고딕"/>
              </a:rPr>
              <a:t>를 절감하는 상황이 항상 같지 않으므로 둘 중 최대 효과인 경우를 고려</a:t>
            </a:r>
            <a:r>
              <a:rPr lang="en-US" altLang="ko-KR" sz="1000" dirty="0">
                <a:solidFill>
                  <a:srgbClr val="000000"/>
                </a:solidFill>
                <a:latin typeface="맑은 고딕"/>
                <a:ea typeface="맑은 고딕"/>
              </a:rPr>
              <a:t> </a:t>
            </a:r>
            <a:endParaRPr lang="en-US" sz="1000" b="0" dirty="0">
              <a:solidFill>
                <a:srgbClr val="000000"/>
              </a:solidFill>
              <a:latin typeface="맑은 고딕"/>
              <a:ea typeface="맑은 고딕"/>
            </a:endParaRPr>
          </a:p>
        </p:txBody>
      </p:sp>
      <p:graphicFrame>
        <p:nvGraphicFramePr>
          <p:cNvPr id="70" name="tbl">
            <a:extLst>
              <a:ext uri="{FF2B5EF4-FFF2-40B4-BE49-F238E27FC236}">
                <a16:creationId xmlns:a16="http://schemas.microsoft.com/office/drawing/2014/main" id="{D3EB879F-38E2-437E-A13A-0E64D4E28531}"/>
              </a:ext>
            </a:extLst>
          </p:cNvPr>
          <p:cNvGraphicFramePr>
            <a:graphicFrameLocks noGrp="1"/>
          </p:cNvGraphicFramePr>
          <p:nvPr>
            <p:extLst>
              <p:ext uri="{D42A27DB-BD31-4B8C-83A1-F6EECF244321}">
                <p14:modId xmlns:p14="http://schemas.microsoft.com/office/powerpoint/2010/main" val="813707649"/>
              </p:ext>
            </p:extLst>
          </p:nvPr>
        </p:nvGraphicFramePr>
        <p:xfrm>
          <a:off x="373380" y="1922527"/>
          <a:ext cx="11457432" cy="2116836"/>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826895">
                  <a:extLst>
                    <a:ext uri="{9D8B030D-6E8A-4147-A177-3AD203B41FA5}">
                      <a16:colId xmlns:a16="http://schemas.microsoft.com/office/drawing/2014/main" val="20001"/>
                    </a:ext>
                  </a:extLst>
                </a:gridCol>
                <a:gridCol w="6722745">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19456">
                <a:tc>
                  <a:txBody>
                    <a:bodyPr/>
                    <a:lstStyle/>
                    <a:p>
                      <a:pPr algn="ctr"/>
                      <a:r>
                        <a:rPr sz="1000" b="1">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기준 (정량)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01752">
                <a:tc>
                  <a:txBody>
                    <a:bodyPr/>
                    <a:lstStyle/>
                    <a:p>
                      <a:pPr algn="ctr">
                        <a:lnSpc>
                          <a:spcPct val="125000"/>
                        </a:lnSpc>
                      </a:pPr>
                      <a:r>
                        <a:rPr sz="90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dirty="0">
                          <a:solidFill>
                            <a:srgbClr val="000000"/>
                          </a:solidFill>
                          <a:latin typeface="맑은 고딕"/>
                          <a:ea typeface="맑은 고딕"/>
                        </a:rPr>
                        <a:t>r ≥ </a:t>
                      </a:r>
                      <a:r>
                        <a:rPr lang="en-US" sz="900" b="0" dirty="0">
                          <a:solidFill>
                            <a:srgbClr val="000000"/>
                          </a:solidFill>
                          <a:latin typeface="맑은 고딕"/>
                          <a:ea typeface="맑은 고딕"/>
                        </a:rPr>
                        <a:t>0.67 </a:t>
                      </a:r>
                      <a:r>
                        <a:rPr sz="900" b="0" dirty="0">
                          <a:solidFill>
                            <a:srgbClr val="000000"/>
                          </a:solidFill>
                          <a:latin typeface="맑은 고딕"/>
                          <a:ea typeface="맑은 고딕"/>
                        </a:rPr>
                        <a:t>(</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3x)</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1" dirty="0" err="1">
                          <a:solidFill>
                            <a:srgbClr val="000000"/>
                          </a:solidFill>
                          <a:latin typeface="맑은 고딕"/>
                          <a:ea typeface="맑은 고딕"/>
                        </a:rPr>
                        <a:t>경쟁</a:t>
                      </a:r>
                      <a:r>
                        <a:rPr sz="900" b="1" dirty="0">
                          <a:solidFill>
                            <a:srgbClr val="000000"/>
                          </a:solidFill>
                          <a:latin typeface="맑은 고딕"/>
                          <a:ea typeface="맑은 고딕"/>
                        </a:rPr>
                        <a:t> </a:t>
                      </a:r>
                      <a:r>
                        <a:rPr sz="900" b="1" dirty="0" err="1">
                          <a:solidFill>
                            <a:srgbClr val="000000"/>
                          </a:solidFill>
                          <a:latin typeface="맑은 고딕"/>
                          <a:ea typeface="맑은 고딕"/>
                        </a:rPr>
                        <a:t>기술의</a:t>
                      </a:r>
                      <a:r>
                        <a:rPr sz="900" b="1" dirty="0">
                          <a:solidFill>
                            <a:srgbClr val="000000"/>
                          </a:solidFill>
                          <a:latin typeface="맑은 고딕"/>
                          <a:ea typeface="맑은 고딕"/>
                        </a:rPr>
                        <a:t> 1.5x(offload baseline </a:t>
                      </a:r>
                      <a:r>
                        <a:rPr sz="900" b="1" dirty="0" err="1">
                          <a:solidFill>
                            <a:srgbClr val="000000"/>
                          </a:solidFill>
                          <a:latin typeface="맑은 고딕"/>
                          <a:ea typeface="맑은 고딕"/>
                        </a:rPr>
                        <a:t>대비</a:t>
                      </a:r>
                      <a:r>
                        <a:rPr sz="900" b="1" dirty="0">
                          <a:solidFill>
                            <a:srgbClr val="000000"/>
                          </a:solidFill>
                          <a:latin typeface="맑은 고딕"/>
                          <a:ea typeface="맑은 고딕"/>
                        </a:rPr>
                        <a:t> </a:t>
                      </a:r>
                      <a:r>
                        <a:rPr sz="900" b="1" dirty="0" err="1">
                          <a:solidFill>
                            <a:srgbClr val="000000"/>
                          </a:solidFill>
                          <a:latin typeface="맑은 고딕"/>
                          <a:ea typeface="맑은 고딕"/>
                        </a:rPr>
                        <a:t>문헌</a:t>
                      </a:r>
                      <a:r>
                        <a:rPr sz="900" b="1" dirty="0">
                          <a:solidFill>
                            <a:srgbClr val="000000"/>
                          </a:solidFill>
                          <a:latin typeface="맑은 고딕"/>
                          <a:ea typeface="맑은 고딕"/>
                        </a:rPr>
                        <a:t> </a:t>
                      </a:r>
                      <a:r>
                        <a:rPr sz="900" b="1" dirty="0" err="1">
                          <a:solidFill>
                            <a:srgbClr val="000000"/>
                          </a:solidFill>
                          <a:latin typeface="맑은 고딕"/>
                          <a:ea typeface="맑은 고딕"/>
                        </a:rPr>
                        <a:t>개선</a:t>
                      </a:r>
                      <a:r>
                        <a:rPr sz="900" b="1" dirty="0">
                          <a:solidFill>
                            <a:srgbClr val="000000"/>
                          </a:solidFill>
                          <a:latin typeface="맑은 고딕"/>
                          <a:ea typeface="맑은 고딕"/>
                        </a:rPr>
                        <a:t> 1.2~1.83x의 </a:t>
                      </a:r>
                      <a:r>
                        <a:rPr sz="900" b="1" dirty="0" err="1">
                          <a:solidFill>
                            <a:srgbClr val="000000"/>
                          </a:solidFill>
                          <a:latin typeface="맑은 고딕"/>
                          <a:ea typeface="맑은 고딕"/>
                        </a:rPr>
                        <a:t>중간</a:t>
                      </a:r>
                      <a:r>
                        <a:rPr sz="900" b="1" dirty="0">
                          <a:solidFill>
                            <a:srgbClr val="000000"/>
                          </a:solidFill>
                          <a:latin typeface="맑은 고딕"/>
                          <a:ea typeface="맑은 고딕"/>
                        </a:rPr>
                        <a:t>). </a:t>
                      </a:r>
                      <a:endParaRPr lang="en-US" sz="900" b="1"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LMCache</a:t>
                      </a:r>
                      <a:r>
                        <a:rPr sz="900" b="0" dirty="0">
                          <a:solidFill>
                            <a:srgbClr val="000000"/>
                          </a:solidFill>
                          <a:latin typeface="맑은 고딕"/>
                          <a:ea typeface="맑은 고딕"/>
                        </a:rPr>
                        <a:t> 고 QPS </a:t>
                      </a:r>
                      <a:r>
                        <a:rPr sz="900" b="0" dirty="0" err="1">
                          <a:solidFill>
                            <a:srgbClr val="000000"/>
                          </a:solidFill>
                          <a:latin typeface="맑은 고딕"/>
                          <a:ea typeface="맑은 고딕"/>
                        </a:rPr>
                        <a:t>실트래픽</a:t>
                      </a:r>
                      <a:r>
                        <a:rPr sz="900" b="0" dirty="0">
                          <a:solidFill>
                            <a:srgbClr val="000000"/>
                          </a:solidFill>
                          <a:latin typeface="맑은 고딕"/>
                          <a:ea typeface="맑은 고딕"/>
                        </a:rPr>
                        <a:t> TTFT 4.4~6.6x·ITL 34~58%를 </a:t>
                      </a:r>
                      <a:r>
                        <a:rPr sz="900" b="0" dirty="0" err="1">
                          <a:solidFill>
                            <a:srgbClr val="000000"/>
                          </a:solidFill>
                          <a:latin typeface="맑은 고딕"/>
                          <a:ea typeface="맑은 고딕"/>
                        </a:rPr>
                        <a:t>r로</a:t>
                      </a:r>
                      <a:r>
                        <a:rPr sz="900" b="0" dirty="0">
                          <a:solidFill>
                            <a:srgbClr val="000000"/>
                          </a:solidFill>
                          <a:latin typeface="맑은 고딕"/>
                          <a:ea typeface="맑은 고딕"/>
                        </a:rPr>
                        <a:t> </a:t>
                      </a:r>
                      <a:r>
                        <a:rPr sz="900" b="0" dirty="0" err="1">
                          <a:solidFill>
                            <a:srgbClr val="000000"/>
                          </a:solidFill>
                          <a:latin typeface="맑은 고딕"/>
                          <a:ea typeface="맑은 고딕"/>
                        </a:rPr>
                        <a:t>환산하면</a:t>
                      </a:r>
                      <a:r>
                        <a:rPr sz="900" b="0" dirty="0">
                          <a:solidFill>
                            <a:srgbClr val="000000"/>
                          </a:solidFill>
                          <a:latin typeface="맑은 고딕"/>
                          <a:ea typeface="맑은 고딕"/>
                        </a:rPr>
                        <a:t> 2.6~4.0이라 그 </a:t>
                      </a:r>
                      <a:r>
                        <a:rPr sz="900" b="0" dirty="0" err="1">
                          <a:solidFill>
                            <a:srgbClr val="000000"/>
                          </a:solidFill>
                          <a:latin typeface="맑은 고딕"/>
                          <a:ea typeface="맑은 고딕"/>
                        </a:rPr>
                        <a:t>중간~상단에</a:t>
                      </a:r>
                      <a:r>
                        <a:rPr sz="900" b="0" dirty="0">
                          <a:solidFill>
                            <a:srgbClr val="000000"/>
                          </a:solidFill>
                          <a:latin typeface="맑은 고딕"/>
                          <a:ea typeface="맑은 고딕"/>
                        </a:rPr>
                        <a:t> </a:t>
                      </a:r>
                      <a:r>
                        <a:rPr sz="900" b="0" dirty="0" err="1">
                          <a:solidFill>
                            <a:srgbClr val="000000"/>
                          </a:solidFill>
                          <a:latin typeface="맑은 고딕"/>
                          <a:ea typeface="맑은 고딕"/>
                        </a:rPr>
                        <a:t>해당</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a:solidFill>
                            <a:srgbClr val="000000"/>
                          </a:solidFill>
                          <a:latin typeface="맑은 고딕"/>
                          <a:ea typeface="맑은 고딕"/>
                        </a:rPr>
                        <a:t>LMCache, KVFlow, DirectKV</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01752">
                <a:tc>
                  <a:txBody>
                    <a:bodyPr/>
                    <a:lstStyle/>
                    <a:p>
                      <a:pPr algn="ctr">
                        <a:lnSpc>
                          <a:spcPct val="125000"/>
                        </a:lnSpc>
                      </a:pPr>
                      <a:r>
                        <a:rPr sz="90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lang="en-US" sz="900" b="0" dirty="0">
                          <a:solidFill>
                            <a:srgbClr val="000000"/>
                          </a:solidFill>
                          <a:latin typeface="맑은 고딕"/>
                          <a:ea typeface="맑은 고딕"/>
                        </a:rPr>
                        <a:t>0.59</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0.67</a:t>
                      </a:r>
                      <a:r>
                        <a:rPr sz="900" b="0" dirty="0">
                          <a:solidFill>
                            <a:srgbClr val="000000"/>
                          </a:solidFill>
                          <a:latin typeface="맑은 고딕"/>
                          <a:ea typeface="맑은 고딕"/>
                        </a:rPr>
                        <a:t> (</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2.45x</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r>
                        <a:rPr lang="ko-KR" altLang="en-US" sz="900" b="0" dirty="0">
                          <a:solidFill>
                            <a:srgbClr val="000000"/>
                          </a:solidFill>
                          <a:latin typeface="+mn-lt"/>
                          <a:ea typeface="맑은 고딕"/>
                        </a:rPr>
                        <a:t>★</a:t>
                      </a:r>
                      <a:r>
                        <a:rPr lang="en-US" altLang="ko-KR" sz="900" b="0" dirty="0">
                          <a:solidFill>
                            <a:srgbClr val="000000"/>
                          </a:solidFill>
                          <a:latin typeface="+mn-lt"/>
                          <a:ea typeface="맑은 고딕"/>
                        </a:rPr>
                        <a:t>2</a:t>
                      </a:r>
                      <a:r>
                        <a:rPr lang="ko-KR" altLang="en-US" sz="900" b="0" dirty="0">
                          <a:solidFill>
                            <a:srgbClr val="000000"/>
                          </a:solidFill>
                          <a:latin typeface="+mn-lt"/>
                          <a:ea typeface="맑은 고딕"/>
                        </a:rPr>
                        <a:t>와 ★</a:t>
                      </a:r>
                      <a:r>
                        <a:rPr lang="en-US" altLang="ko-KR" sz="900" b="0" dirty="0">
                          <a:solidFill>
                            <a:srgbClr val="000000"/>
                          </a:solidFill>
                          <a:latin typeface="+mn-lt"/>
                          <a:ea typeface="맑은 고딕"/>
                        </a:rPr>
                        <a:t>3</a:t>
                      </a:r>
                      <a:r>
                        <a:rPr lang="ko-KR" altLang="en-US" sz="900" b="0" dirty="0">
                          <a:solidFill>
                            <a:srgbClr val="000000"/>
                          </a:solidFill>
                          <a:latin typeface="+mn-lt"/>
                          <a:ea typeface="맑은 고딕"/>
                        </a:rPr>
                        <a:t>의 기하 중점</a:t>
                      </a:r>
                      <a:r>
                        <a:rPr lang="en-US" altLang="ko-KR" sz="900" b="0" dirty="0">
                          <a:solidFill>
                            <a:srgbClr val="000000"/>
                          </a:solidFill>
                          <a:latin typeface="+mn-lt"/>
                          <a:ea typeface="맑은 고딕"/>
                        </a:rPr>
                        <a:t>(√(</a:t>
                      </a:r>
                      <a:r>
                        <a:rPr lang="ko-KR" altLang="en-US" sz="900" b="0" dirty="0" err="1">
                          <a:solidFill>
                            <a:srgbClr val="000000"/>
                          </a:solidFill>
                          <a:latin typeface="+mn-lt"/>
                          <a:ea typeface="맑은 고딕"/>
                        </a:rPr>
                        <a:t>개선율</a:t>
                      </a:r>
                      <a:r>
                        <a:rPr lang="ko-KR" altLang="en-US" sz="900" b="0" dirty="0">
                          <a:solidFill>
                            <a:srgbClr val="000000"/>
                          </a:solidFill>
                          <a:latin typeface="+mn-lt"/>
                          <a:ea typeface="맑은 고딕"/>
                        </a:rPr>
                        <a:t> </a:t>
                      </a:r>
                      <a:r>
                        <a:rPr lang="en-US" altLang="ko-KR" sz="900" b="0" dirty="0">
                          <a:solidFill>
                            <a:srgbClr val="000000"/>
                          </a:solidFill>
                          <a:latin typeface="+mn-lt"/>
                          <a:ea typeface="맑은 고딕"/>
                        </a:rPr>
                        <a:t>2.0×3.0)=2.45)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301752">
                <a:tc>
                  <a:txBody>
                    <a:bodyPr/>
                    <a:lstStyle/>
                    <a:p>
                      <a:pPr algn="ctr">
                        <a:lnSpc>
                          <a:spcPct val="125000"/>
                        </a:lnSpc>
                      </a:pPr>
                      <a:r>
                        <a:rPr sz="90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en-US" sz="900" b="0" dirty="0">
                          <a:solidFill>
                            <a:srgbClr val="000000"/>
                          </a:solidFill>
                          <a:latin typeface="맑은 고딕"/>
                          <a:ea typeface="맑은 고딕"/>
                        </a:rPr>
                        <a:t>0.5</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0.59 </a:t>
                      </a:r>
                      <a:r>
                        <a:rPr sz="900" b="0" dirty="0">
                          <a:solidFill>
                            <a:srgbClr val="000000"/>
                          </a:solidFill>
                          <a:latin typeface="맑은 고딕"/>
                          <a:ea typeface="맑은 고딕"/>
                        </a:rPr>
                        <a:t>(</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2x</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1" dirty="0" err="1">
                          <a:solidFill>
                            <a:srgbClr val="000000"/>
                          </a:solidFill>
                          <a:latin typeface="맑은 고딕"/>
                          <a:ea typeface="맑은 고딕"/>
                        </a:rPr>
                        <a:t>경쟁</a:t>
                      </a:r>
                      <a:r>
                        <a:rPr sz="900" b="1" dirty="0">
                          <a:solidFill>
                            <a:srgbClr val="000000"/>
                          </a:solidFill>
                          <a:latin typeface="맑은 고딕"/>
                          <a:ea typeface="맑은 고딕"/>
                        </a:rPr>
                        <a:t> </a:t>
                      </a:r>
                      <a:r>
                        <a:rPr sz="900" b="1" dirty="0" err="1">
                          <a:solidFill>
                            <a:srgbClr val="000000"/>
                          </a:solidFill>
                          <a:latin typeface="맑은 고딕"/>
                          <a:ea typeface="맑은 고딕"/>
                        </a:rPr>
                        <a:t>기술</a:t>
                      </a:r>
                      <a:r>
                        <a:rPr sz="900" b="1" dirty="0">
                          <a:solidFill>
                            <a:srgbClr val="000000"/>
                          </a:solidFill>
                          <a:latin typeface="맑은 고딕"/>
                          <a:ea typeface="맑은 고딕"/>
                        </a:rPr>
                        <a:t> </a:t>
                      </a:r>
                      <a:r>
                        <a:rPr sz="900" b="1" dirty="0" err="1">
                          <a:solidFill>
                            <a:srgbClr val="000000"/>
                          </a:solidFill>
                          <a:latin typeface="맑은 고딕"/>
                          <a:ea typeface="맑은 고딕"/>
                        </a:rPr>
                        <a:t>수준</a:t>
                      </a:r>
                      <a:r>
                        <a:rPr sz="900" b="1" dirty="0">
                          <a:solidFill>
                            <a:srgbClr val="000000"/>
                          </a:solidFill>
                          <a:latin typeface="맑은 고딕"/>
                          <a:ea typeface="맑은 고딕"/>
                        </a:rPr>
                        <a:t>: </a:t>
                      </a:r>
                      <a:r>
                        <a:rPr sz="900" b="0" dirty="0" err="1">
                          <a:solidFill>
                            <a:srgbClr val="000000"/>
                          </a:solidFill>
                          <a:latin typeface="맑은 고딕"/>
                          <a:ea typeface="맑은 고딕"/>
                        </a:rPr>
                        <a:t>LMCache</a:t>
                      </a:r>
                      <a:r>
                        <a:rPr sz="900" b="0" dirty="0">
                          <a:solidFill>
                            <a:srgbClr val="000000"/>
                          </a:solidFill>
                          <a:latin typeface="맑은 고딕"/>
                          <a:ea typeface="맑은 고딕"/>
                        </a:rPr>
                        <a:t> Context </a:t>
                      </a:r>
                      <a:r>
                        <a:rPr sz="900" b="0" dirty="0" err="1">
                          <a:solidFill>
                            <a:srgbClr val="000000"/>
                          </a:solidFill>
                          <a:latin typeface="맑은 고딕"/>
                          <a:ea typeface="맑은 고딕"/>
                        </a:rPr>
                        <a:t>벤치마크</a:t>
                      </a:r>
                      <a:r>
                        <a:rPr sz="900" b="0" dirty="0">
                          <a:solidFill>
                            <a:srgbClr val="000000"/>
                          </a:solidFill>
                          <a:latin typeface="맑은 고딕"/>
                          <a:ea typeface="맑은 고딕"/>
                        </a:rPr>
                        <a:t> E2E </a:t>
                      </a:r>
                      <a:r>
                        <a:rPr sz="900" b="0" dirty="0" err="1">
                          <a:solidFill>
                            <a:srgbClr val="000000"/>
                          </a:solidFill>
                          <a:latin typeface="맑은 고딕"/>
                          <a:ea typeface="맑은 고딕"/>
                        </a:rPr>
                        <a:t>지연</a:t>
                      </a:r>
                      <a:r>
                        <a:rPr sz="900" b="0" dirty="0">
                          <a:solidFill>
                            <a:srgbClr val="000000"/>
                          </a:solidFill>
                          <a:latin typeface="맑은 고딕"/>
                          <a:ea typeface="맑은 고딕"/>
                        </a:rPr>
                        <a:t> 약 50~75% </a:t>
                      </a:r>
                      <a:r>
                        <a:rPr sz="900" b="0" dirty="0" err="1">
                          <a:solidFill>
                            <a:srgbClr val="000000"/>
                          </a:solidFill>
                          <a:latin typeface="맑은 고딕"/>
                          <a:ea typeface="맑은 고딕"/>
                        </a:rPr>
                        <a:t>감소의</a:t>
                      </a:r>
                      <a:r>
                        <a:rPr sz="900" b="0" dirty="0">
                          <a:solidFill>
                            <a:srgbClr val="000000"/>
                          </a:solidFill>
                          <a:latin typeface="맑은 고딕"/>
                          <a:ea typeface="맑은 고딕"/>
                        </a:rPr>
                        <a:t> </a:t>
                      </a:r>
                      <a:r>
                        <a:rPr sz="900" b="0" dirty="0" err="1">
                          <a:solidFill>
                            <a:srgbClr val="000000"/>
                          </a:solidFill>
                          <a:latin typeface="맑은 고딕"/>
                          <a:ea typeface="맑은 고딕"/>
                        </a:rPr>
                        <a:t>하한</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0">
                          <a:solidFill>
                            <a:srgbClr val="000000"/>
                          </a:solidFill>
                          <a:latin typeface="맑은 고딕"/>
                          <a:ea typeface="맑은 고딕"/>
                        </a:rPr>
                        <a:t>LMCache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01752">
                <a:tc>
                  <a:txBody>
                    <a:bodyPr/>
                    <a:lstStyle/>
                    <a:p>
                      <a:pPr algn="ctr">
                        <a:lnSpc>
                          <a:spcPct val="125000"/>
                        </a:lnSpc>
                      </a:pPr>
                      <a:r>
                        <a:rPr sz="90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41</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0.5</a:t>
                      </a:r>
                      <a:r>
                        <a:rPr sz="900" b="0" dirty="0">
                          <a:solidFill>
                            <a:srgbClr val="000000"/>
                          </a:solidFill>
                          <a:latin typeface="맑은 고딕"/>
                          <a:ea typeface="맑은 고딕"/>
                        </a:rPr>
                        <a:t> (</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1.7x</a:t>
                      </a:r>
                      <a:r>
                        <a:rPr sz="900" b="0" dirty="0">
                          <a:solidFill>
                            <a:srgbClr val="000000"/>
                          </a:solidFill>
                          <a:latin typeface="맑은 고딕"/>
                          <a:ea typeface="맑은 고딕"/>
                        </a:rPr>
                        <a:t>)</a:t>
                      </a:r>
                      <a:r>
                        <a:rPr lang="en-US" sz="900" b="0" dirty="0">
                          <a:solidFill>
                            <a:srgbClr val="000000"/>
                          </a:solidFill>
                          <a:latin typeface="맑은 고딕"/>
                          <a:ea typeface="맑은 고딕"/>
                        </a:rPr>
                        <a:t> </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r>
                        <a:rPr lang="ko-KR" altLang="en-US" sz="900" b="0" dirty="0">
                          <a:solidFill>
                            <a:srgbClr val="000000"/>
                          </a:solidFill>
                          <a:latin typeface="+mn-lt"/>
                          <a:ea typeface="맑은 고딕"/>
                        </a:rPr>
                        <a:t>★</a:t>
                      </a:r>
                      <a:r>
                        <a:rPr lang="en-US" altLang="ko-KR" sz="900" b="0" dirty="0">
                          <a:solidFill>
                            <a:srgbClr val="000000"/>
                          </a:solidFill>
                          <a:latin typeface="+mn-lt"/>
                          <a:ea typeface="맑은 고딕"/>
                        </a:rPr>
                        <a:t>1</a:t>
                      </a:r>
                      <a:r>
                        <a:rPr lang="ko-KR" altLang="en-US" sz="900" b="0" dirty="0">
                          <a:solidFill>
                            <a:srgbClr val="000000"/>
                          </a:solidFill>
                          <a:latin typeface="+mn-lt"/>
                          <a:ea typeface="맑은 고딕"/>
                        </a:rPr>
                        <a:t>과 ★</a:t>
                      </a:r>
                      <a:r>
                        <a:rPr lang="en-US" altLang="ko-KR" sz="900" b="0" dirty="0">
                          <a:solidFill>
                            <a:srgbClr val="000000"/>
                          </a:solidFill>
                          <a:latin typeface="+mn-lt"/>
                          <a:ea typeface="맑은 고딕"/>
                        </a:rPr>
                        <a:t>2</a:t>
                      </a:r>
                      <a:r>
                        <a:rPr lang="ko-KR" altLang="en-US" sz="900" b="0" dirty="0">
                          <a:solidFill>
                            <a:srgbClr val="000000"/>
                          </a:solidFill>
                          <a:latin typeface="+mn-lt"/>
                          <a:ea typeface="맑은 고딕"/>
                        </a:rPr>
                        <a:t>의 기하 중점</a:t>
                      </a:r>
                      <a:r>
                        <a:rPr lang="en-US" altLang="ko-KR" sz="900" b="0" dirty="0">
                          <a:solidFill>
                            <a:srgbClr val="000000"/>
                          </a:solidFill>
                          <a:latin typeface="+mn-lt"/>
                          <a:ea typeface="맑은 고딕"/>
                        </a:rPr>
                        <a:t>(√(</a:t>
                      </a:r>
                      <a:r>
                        <a:rPr lang="ko-KR" altLang="en-US" sz="900" b="0" dirty="0" err="1">
                          <a:solidFill>
                            <a:srgbClr val="000000"/>
                          </a:solidFill>
                          <a:latin typeface="+mn-lt"/>
                          <a:ea typeface="맑은 고딕"/>
                        </a:rPr>
                        <a:t>개선율</a:t>
                      </a:r>
                      <a:r>
                        <a:rPr lang="ko-KR" altLang="en-US" sz="900" b="0" dirty="0">
                          <a:solidFill>
                            <a:srgbClr val="000000"/>
                          </a:solidFill>
                          <a:latin typeface="+mn-lt"/>
                          <a:ea typeface="맑은 고딕"/>
                        </a:rPr>
                        <a:t> </a:t>
                      </a:r>
                      <a:r>
                        <a:rPr lang="en-US" altLang="ko-KR" sz="900" b="0" dirty="0">
                          <a:solidFill>
                            <a:srgbClr val="000000"/>
                          </a:solidFill>
                          <a:latin typeface="+mn-lt"/>
                          <a:ea typeface="맑은 고딕"/>
                        </a:rPr>
                        <a:t>1.43×2.0)=1.7)</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01752">
                <a:tc>
                  <a:txBody>
                    <a:bodyPr/>
                    <a:lstStyle/>
                    <a:p>
                      <a:pPr algn="ctr">
                        <a:lnSpc>
                          <a:spcPct val="125000"/>
                        </a:lnSpc>
                      </a:pPr>
                      <a:r>
                        <a:rPr sz="90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3</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41 </a:t>
                      </a:r>
                      <a:r>
                        <a:rPr sz="900" b="0" dirty="0">
                          <a:solidFill>
                            <a:srgbClr val="000000"/>
                          </a:solidFill>
                          <a:latin typeface="맑은 고딕"/>
                          <a:ea typeface="맑은 고딕"/>
                        </a:rPr>
                        <a:t>(</a:t>
                      </a:r>
                      <a:r>
                        <a:rPr lang="ko-KR" altLang="en-US" sz="900" b="0" dirty="0" err="1">
                          <a:solidFill>
                            <a:srgbClr val="000000"/>
                          </a:solidFill>
                          <a:latin typeface="맑은 고딕"/>
                          <a:ea typeface="맑은 고딕"/>
                        </a:rPr>
                        <a:t>개선율</a:t>
                      </a:r>
                      <a:r>
                        <a:rPr lang="ko-KR" altLang="en-US" sz="900" b="0" dirty="0">
                          <a:solidFill>
                            <a:srgbClr val="000000"/>
                          </a:solidFill>
                          <a:latin typeface="맑은 고딕"/>
                          <a:ea typeface="맑은 고딕"/>
                        </a:rPr>
                        <a:t> </a:t>
                      </a:r>
                      <a:r>
                        <a:rPr lang="en-US" altLang="ko-KR" sz="900" b="0" dirty="0">
                          <a:solidFill>
                            <a:srgbClr val="000000"/>
                          </a:solidFill>
                          <a:latin typeface="맑은 고딕"/>
                          <a:ea typeface="맑은 고딕"/>
                        </a:rPr>
                        <a:t>1.43x</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1" dirty="0" err="1" smtClean="0">
                          <a:solidFill>
                            <a:srgbClr val="000000"/>
                          </a:solidFill>
                          <a:latin typeface="맑은 고딕"/>
                          <a:ea typeface="맑은 고딕"/>
                        </a:rPr>
                        <a:t>사용자</a:t>
                      </a:r>
                      <a:r>
                        <a:rPr sz="900" b="1" dirty="0" smtClean="0">
                          <a:solidFill>
                            <a:srgbClr val="000000"/>
                          </a:solidFill>
                          <a:latin typeface="맑은 고딕"/>
                          <a:ea typeface="맑은 고딕"/>
                        </a:rPr>
                        <a:t> </a:t>
                      </a:r>
                      <a:r>
                        <a:rPr sz="900" b="1" dirty="0" err="1">
                          <a:solidFill>
                            <a:srgbClr val="000000"/>
                          </a:solidFill>
                          <a:latin typeface="맑은 고딕"/>
                          <a:ea typeface="맑은 고딕"/>
                        </a:rPr>
                        <a:t>체감</a:t>
                      </a:r>
                      <a:r>
                        <a:rPr sz="900" b="1" dirty="0">
                          <a:solidFill>
                            <a:srgbClr val="000000"/>
                          </a:solidFill>
                          <a:latin typeface="맑은 고딕"/>
                          <a:ea typeface="맑은 고딕"/>
                        </a:rPr>
                        <a:t> </a:t>
                      </a:r>
                      <a:r>
                        <a:rPr sz="900" b="1" dirty="0" err="1">
                          <a:solidFill>
                            <a:srgbClr val="000000"/>
                          </a:solidFill>
                          <a:latin typeface="맑은 고딕"/>
                          <a:ea typeface="맑은 고딕"/>
                        </a:rPr>
                        <a:t>성능</a:t>
                      </a:r>
                      <a:r>
                        <a:rPr sz="900" b="1" dirty="0">
                          <a:solidFill>
                            <a:srgbClr val="000000"/>
                          </a:solidFill>
                          <a:latin typeface="맑은 고딕"/>
                          <a:ea typeface="맑은 고딕"/>
                        </a:rPr>
                        <a:t> </a:t>
                      </a:r>
                      <a:r>
                        <a:rPr sz="900" b="1" dirty="0" err="1">
                          <a:solidFill>
                            <a:srgbClr val="000000"/>
                          </a:solidFill>
                          <a:latin typeface="맑은 고딕"/>
                          <a:ea typeface="맑은 고딕"/>
                        </a:rPr>
                        <a:t>개선</a:t>
                      </a:r>
                      <a:r>
                        <a:rPr sz="900" b="1" dirty="0">
                          <a:solidFill>
                            <a:srgbClr val="000000"/>
                          </a:solidFill>
                          <a:latin typeface="맑은 고딕"/>
                          <a:ea typeface="맑은 고딕"/>
                        </a:rPr>
                        <a:t> </a:t>
                      </a:r>
                      <a:r>
                        <a:rPr sz="900" b="1" dirty="0" err="1">
                          <a:solidFill>
                            <a:srgbClr val="000000"/>
                          </a:solidFill>
                          <a:latin typeface="맑은 고딕"/>
                          <a:ea typeface="맑은 고딕"/>
                        </a:rPr>
                        <a:t>기준</a:t>
                      </a:r>
                      <a:r>
                        <a:rPr sz="900" b="1" dirty="0">
                          <a:solidFill>
                            <a:srgbClr val="000000"/>
                          </a:solidFill>
                          <a:latin typeface="맑은 고딕"/>
                          <a:ea typeface="맑은 고딕"/>
                        </a:rPr>
                        <a:t> 30% </a:t>
                      </a:r>
                      <a:r>
                        <a:rPr sz="900" b="1" dirty="0" err="1">
                          <a:solidFill>
                            <a:srgbClr val="000000"/>
                          </a:solidFill>
                          <a:latin typeface="맑은 고딕"/>
                          <a:ea typeface="맑은 고딕"/>
                        </a:rPr>
                        <a:t>감소</a:t>
                      </a:r>
                      <a:endParaRPr sz="9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0" dirty="0">
                          <a:solidFill>
                            <a:srgbClr val="000000"/>
                          </a:solidFill>
                          <a:latin typeface="맑은 고딕"/>
                          <a:ea typeface="맑은 고딕"/>
                        </a:rPr>
                        <a:t>Stakeholder </a:t>
                      </a:r>
                      <a:r>
                        <a:rPr sz="900" b="0" dirty="0" err="1">
                          <a:solidFill>
                            <a:srgbClr val="000000"/>
                          </a:solidFill>
                          <a:latin typeface="맑은 고딕"/>
                          <a:ea typeface="맑은 고딕"/>
                        </a:rPr>
                        <a:t>요구사항</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01752">
                <a:tc>
                  <a:txBody>
                    <a:bodyPr/>
                    <a:lstStyle/>
                    <a:p>
                      <a:pPr algn="ctr">
                        <a:lnSpc>
                          <a:spcPct val="125000"/>
                        </a:lnSpc>
                      </a:pPr>
                      <a:r>
                        <a:rPr sz="90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r &lt; </a:t>
                      </a:r>
                      <a:r>
                        <a:rPr lang="en-US" sz="900" b="0" dirty="0">
                          <a:solidFill>
                            <a:srgbClr val="000000"/>
                          </a:solidFill>
                          <a:latin typeface="맑은 고딕"/>
                          <a:ea typeface="맑은 고딕"/>
                        </a:rPr>
                        <a:t>0</a:t>
                      </a:r>
                      <a:r>
                        <a:rPr sz="900" b="0" dirty="0">
                          <a:solidFill>
                            <a:srgbClr val="000000"/>
                          </a:solidFill>
                          <a:latin typeface="맑은 고딕"/>
                          <a:ea typeface="맑은 고딕"/>
                        </a:rPr>
                        <a:t>.</a:t>
                      </a:r>
                      <a:r>
                        <a:rPr lang="en-US" sz="900" b="0" dirty="0">
                          <a:solidFill>
                            <a:srgbClr val="000000"/>
                          </a:solidFill>
                          <a:latin typeface="맑은 고딕"/>
                          <a:ea typeface="맑은 고딕"/>
                        </a:rPr>
                        <a:t>3</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r &lt; </a:t>
                      </a:r>
                      <a:r>
                        <a:rPr lang="en-US" sz="900" b="0" dirty="0">
                          <a:solidFill>
                            <a:srgbClr val="000000"/>
                          </a:solidFill>
                          <a:latin typeface="맑은 고딕"/>
                          <a:ea typeface="맑은 고딕"/>
                        </a:rPr>
                        <a:t>0.3</a:t>
                      </a:r>
                      <a:r>
                        <a:rPr sz="900" b="0" dirty="0">
                          <a:solidFill>
                            <a:srgbClr val="000000"/>
                          </a:solidFill>
                          <a:latin typeface="맑은 고딕"/>
                          <a:ea typeface="맑은 고딕"/>
                        </a:rPr>
                        <a:t> </a:t>
                      </a:r>
                      <a:r>
                        <a:rPr sz="900" b="0" dirty="0" err="1">
                          <a:solidFill>
                            <a:srgbClr val="000000"/>
                          </a:solidFill>
                          <a:latin typeface="맑은 고딕"/>
                          <a:ea typeface="맑은 고딕"/>
                        </a:rPr>
                        <a:t>또는</a:t>
                      </a:r>
                      <a:r>
                        <a:rPr sz="900" b="0" dirty="0">
                          <a:solidFill>
                            <a:srgbClr val="000000"/>
                          </a:solidFill>
                          <a:latin typeface="맑은 고딕"/>
                          <a:ea typeface="맑은 고딕"/>
                        </a:rPr>
                        <a:t> SLO </a:t>
                      </a:r>
                      <a:r>
                        <a:rPr sz="900" b="0" dirty="0" err="1">
                          <a:solidFill>
                            <a:srgbClr val="000000"/>
                          </a:solidFill>
                          <a:latin typeface="맑은 고딕"/>
                          <a:ea typeface="맑은 고딕"/>
                        </a:rPr>
                        <a:t>위반</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1" name="TextBox 70">
            <a:extLst>
              <a:ext uri="{FF2B5EF4-FFF2-40B4-BE49-F238E27FC236}">
                <a16:creationId xmlns:a16="http://schemas.microsoft.com/office/drawing/2014/main" id="{0B83D172-15BF-4E49-ACD4-69A4C42EDF3C}"/>
              </a:ext>
            </a:extLst>
          </p:cNvPr>
          <p:cNvSpPr txBox="1"/>
          <p:nvPr/>
        </p:nvSpPr>
        <p:spPr>
          <a:xfrm>
            <a:off x="4434840" y="4261103"/>
            <a:ext cx="740664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(P99 개선 r, GPU-only 대비)</a:t>
            </a:r>
          </a:p>
        </p:txBody>
      </p:sp>
      <p:sp>
        <p:nvSpPr>
          <p:cNvPr id="72" name="Rectangle 18">
            <a:extLst>
              <a:ext uri="{FF2B5EF4-FFF2-40B4-BE49-F238E27FC236}">
                <a16:creationId xmlns:a16="http://schemas.microsoft.com/office/drawing/2014/main" id="{22FB4EFE-361A-4277-B627-E6E63A433D11}"/>
              </a:ext>
            </a:extLst>
          </p:cNvPr>
          <p:cNvSpPr/>
          <p:nvPr/>
        </p:nvSpPr>
        <p:spPr>
          <a:xfrm>
            <a:off x="4480559" y="4498847"/>
            <a:ext cx="898724"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081C6D2F-0A66-49B0-A539-457DD84BA7D3}"/>
              </a:ext>
            </a:extLst>
          </p:cNvPr>
          <p:cNvSpPr txBox="1"/>
          <p:nvPr/>
        </p:nvSpPr>
        <p:spPr>
          <a:xfrm>
            <a:off x="4480559" y="4498847"/>
            <a:ext cx="89872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74" name="Rectangle 20">
            <a:extLst>
              <a:ext uri="{FF2B5EF4-FFF2-40B4-BE49-F238E27FC236}">
                <a16:creationId xmlns:a16="http://schemas.microsoft.com/office/drawing/2014/main" id="{9C74EAC3-9199-43A7-BE26-7845CCB207B1}"/>
              </a:ext>
            </a:extLst>
          </p:cNvPr>
          <p:cNvSpPr/>
          <p:nvPr/>
        </p:nvSpPr>
        <p:spPr>
          <a:xfrm>
            <a:off x="5379284" y="4498847"/>
            <a:ext cx="564315"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a:extLst>
              <a:ext uri="{FF2B5EF4-FFF2-40B4-BE49-F238E27FC236}">
                <a16:creationId xmlns:a16="http://schemas.microsoft.com/office/drawing/2014/main" id="{8CE103D5-A074-45FF-99C6-664D9EA81360}"/>
              </a:ext>
            </a:extLst>
          </p:cNvPr>
          <p:cNvSpPr txBox="1"/>
          <p:nvPr/>
        </p:nvSpPr>
        <p:spPr>
          <a:xfrm>
            <a:off x="5379284" y="4498847"/>
            <a:ext cx="56431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76" name="Rectangle 22">
            <a:extLst>
              <a:ext uri="{FF2B5EF4-FFF2-40B4-BE49-F238E27FC236}">
                <a16:creationId xmlns:a16="http://schemas.microsoft.com/office/drawing/2014/main" id="{6DAF5ACE-9BC6-454A-856D-8C40084795FD}"/>
              </a:ext>
            </a:extLst>
          </p:cNvPr>
          <p:cNvSpPr/>
          <p:nvPr/>
        </p:nvSpPr>
        <p:spPr>
          <a:xfrm>
            <a:off x="5943599" y="4498847"/>
            <a:ext cx="627017"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F216E427-50F4-4CE3-97D0-F5C29BDB5AA6}"/>
              </a:ext>
            </a:extLst>
          </p:cNvPr>
          <p:cNvSpPr txBox="1"/>
          <p:nvPr/>
        </p:nvSpPr>
        <p:spPr>
          <a:xfrm>
            <a:off x="5943599" y="4498847"/>
            <a:ext cx="62701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78" name="Rectangle 24">
            <a:extLst>
              <a:ext uri="{FF2B5EF4-FFF2-40B4-BE49-F238E27FC236}">
                <a16:creationId xmlns:a16="http://schemas.microsoft.com/office/drawing/2014/main" id="{122A8E84-EDB2-4312-A030-F7751A26059A}"/>
              </a:ext>
            </a:extLst>
          </p:cNvPr>
          <p:cNvSpPr/>
          <p:nvPr/>
        </p:nvSpPr>
        <p:spPr>
          <a:xfrm>
            <a:off x="6570617" y="4498847"/>
            <a:ext cx="940525"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2ED5A9E1-E656-4812-BD13-96035702C7AD}"/>
              </a:ext>
            </a:extLst>
          </p:cNvPr>
          <p:cNvSpPr txBox="1"/>
          <p:nvPr/>
        </p:nvSpPr>
        <p:spPr>
          <a:xfrm>
            <a:off x="6570617" y="4498847"/>
            <a:ext cx="94052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80" name="Rectangle 26">
            <a:extLst>
              <a:ext uri="{FF2B5EF4-FFF2-40B4-BE49-F238E27FC236}">
                <a16:creationId xmlns:a16="http://schemas.microsoft.com/office/drawing/2014/main" id="{61416EC3-8C89-4B11-98A6-65A6F822A217}"/>
              </a:ext>
            </a:extLst>
          </p:cNvPr>
          <p:cNvSpPr/>
          <p:nvPr/>
        </p:nvSpPr>
        <p:spPr>
          <a:xfrm>
            <a:off x="7511142" y="4498847"/>
            <a:ext cx="1149531"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a:extLst>
              <a:ext uri="{FF2B5EF4-FFF2-40B4-BE49-F238E27FC236}">
                <a16:creationId xmlns:a16="http://schemas.microsoft.com/office/drawing/2014/main" id="{D4356E2B-CE2C-4BB8-8AAD-3800D74F360D}"/>
              </a:ext>
            </a:extLst>
          </p:cNvPr>
          <p:cNvSpPr txBox="1"/>
          <p:nvPr/>
        </p:nvSpPr>
        <p:spPr>
          <a:xfrm>
            <a:off x="7511142" y="4498847"/>
            <a:ext cx="114953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82" name="Rectangle 28">
            <a:extLst>
              <a:ext uri="{FF2B5EF4-FFF2-40B4-BE49-F238E27FC236}">
                <a16:creationId xmlns:a16="http://schemas.microsoft.com/office/drawing/2014/main" id="{C55CB344-EE9C-4DF2-BA81-9BC4F22C40EA}"/>
              </a:ext>
            </a:extLst>
          </p:cNvPr>
          <p:cNvSpPr/>
          <p:nvPr/>
        </p:nvSpPr>
        <p:spPr>
          <a:xfrm>
            <a:off x="8660674" y="4498847"/>
            <a:ext cx="3135085"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a:extLst>
              <a:ext uri="{FF2B5EF4-FFF2-40B4-BE49-F238E27FC236}">
                <a16:creationId xmlns:a16="http://schemas.microsoft.com/office/drawing/2014/main" id="{075C3C8D-CB53-41B4-A026-6E64D6757D0E}"/>
              </a:ext>
            </a:extLst>
          </p:cNvPr>
          <p:cNvSpPr txBox="1"/>
          <p:nvPr/>
        </p:nvSpPr>
        <p:spPr>
          <a:xfrm>
            <a:off x="8660674" y="4498847"/>
            <a:ext cx="313508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84" name="TextBox 83">
            <a:extLst>
              <a:ext uri="{FF2B5EF4-FFF2-40B4-BE49-F238E27FC236}">
                <a16:creationId xmlns:a16="http://schemas.microsoft.com/office/drawing/2014/main" id="{DA4A7DD6-2E23-4F14-85FB-1E093F424002}"/>
              </a:ext>
            </a:extLst>
          </p:cNvPr>
          <p:cNvSpPr txBox="1"/>
          <p:nvPr/>
        </p:nvSpPr>
        <p:spPr>
          <a:xfrm>
            <a:off x="4160520"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1x</a:t>
            </a:r>
          </a:p>
        </p:txBody>
      </p:sp>
      <p:sp>
        <p:nvSpPr>
          <p:cNvPr id="85" name="TextBox 84">
            <a:extLst>
              <a:ext uri="{FF2B5EF4-FFF2-40B4-BE49-F238E27FC236}">
                <a16:creationId xmlns:a16="http://schemas.microsoft.com/office/drawing/2014/main" id="{1662DB6C-F52B-4E02-B319-D123CD1CB4E1}"/>
              </a:ext>
            </a:extLst>
          </p:cNvPr>
          <p:cNvSpPr txBox="1"/>
          <p:nvPr/>
        </p:nvSpPr>
        <p:spPr>
          <a:xfrm>
            <a:off x="5205548"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1.5x</a:t>
            </a:r>
          </a:p>
        </p:txBody>
      </p:sp>
      <p:sp>
        <p:nvSpPr>
          <p:cNvPr id="86" name="TextBox 85">
            <a:extLst>
              <a:ext uri="{FF2B5EF4-FFF2-40B4-BE49-F238E27FC236}">
                <a16:creationId xmlns:a16="http://schemas.microsoft.com/office/drawing/2014/main" id="{931445E8-667E-4527-9DF2-3E29C6A652F7}"/>
              </a:ext>
            </a:extLst>
          </p:cNvPr>
          <p:cNvSpPr txBox="1"/>
          <p:nvPr/>
        </p:nvSpPr>
        <p:spPr>
          <a:xfrm>
            <a:off x="6250577"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2x</a:t>
            </a:r>
          </a:p>
        </p:txBody>
      </p:sp>
      <p:sp>
        <p:nvSpPr>
          <p:cNvPr id="87" name="TextBox 86">
            <a:extLst>
              <a:ext uri="{FF2B5EF4-FFF2-40B4-BE49-F238E27FC236}">
                <a16:creationId xmlns:a16="http://schemas.microsoft.com/office/drawing/2014/main" id="{029691BB-3609-47D2-ACBF-211BC930949A}"/>
              </a:ext>
            </a:extLst>
          </p:cNvPr>
          <p:cNvSpPr txBox="1"/>
          <p:nvPr/>
        </p:nvSpPr>
        <p:spPr>
          <a:xfrm>
            <a:off x="7295605"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2.5x</a:t>
            </a:r>
          </a:p>
        </p:txBody>
      </p:sp>
      <p:sp>
        <p:nvSpPr>
          <p:cNvPr id="88" name="TextBox 87">
            <a:extLst>
              <a:ext uri="{FF2B5EF4-FFF2-40B4-BE49-F238E27FC236}">
                <a16:creationId xmlns:a16="http://schemas.microsoft.com/office/drawing/2014/main" id="{C731BAE4-020B-49BE-BBFD-2CA48D8DC0D8}"/>
              </a:ext>
            </a:extLst>
          </p:cNvPr>
          <p:cNvSpPr txBox="1"/>
          <p:nvPr/>
        </p:nvSpPr>
        <p:spPr>
          <a:xfrm>
            <a:off x="8340634"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3x</a:t>
            </a:r>
          </a:p>
        </p:txBody>
      </p:sp>
      <p:sp>
        <p:nvSpPr>
          <p:cNvPr id="89" name="TextBox 88">
            <a:extLst>
              <a:ext uri="{FF2B5EF4-FFF2-40B4-BE49-F238E27FC236}">
                <a16:creationId xmlns:a16="http://schemas.microsoft.com/office/drawing/2014/main" id="{22CFF25B-38F2-4ADB-86F7-1A4EEBAEFDE3}"/>
              </a:ext>
            </a:extLst>
          </p:cNvPr>
          <p:cNvSpPr txBox="1"/>
          <p:nvPr/>
        </p:nvSpPr>
        <p:spPr>
          <a:xfrm>
            <a:off x="9385662"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3.5x</a:t>
            </a:r>
          </a:p>
        </p:txBody>
      </p:sp>
      <p:sp>
        <p:nvSpPr>
          <p:cNvPr id="90" name="TextBox 89">
            <a:extLst>
              <a:ext uri="{FF2B5EF4-FFF2-40B4-BE49-F238E27FC236}">
                <a16:creationId xmlns:a16="http://schemas.microsoft.com/office/drawing/2014/main" id="{4761062F-C3D2-4821-A387-84A4227692C7}"/>
              </a:ext>
            </a:extLst>
          </p:cNvPr>
          <p:cNvSpPr txBox="1"/>
          <p:nvPr/>
        </p:nvSpPr>
        <p:spPr>
          <a:xfrm>
            <a:off x="10430691"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4x</a:t>
            </a:r>
          </a:p>
        </p:txBody>
      </p:sp>
      <p:sp>
        <p:nvSpPr>
          <p:cNvPr id="91" name="TextBox 90">
            <a:extLst>
              <a:ext uri="{FF2B5EF4-FFF2-40B4-BE49-F238E27FC236}">
                <a16:creationId xmlns:a16="http://schemas.microsoft.com/office/drawing/2014/main" id="{2697E8F5-ADA4-4B2B-875C-2DC94B1D2872}"/>
              </a:ext>
            </a:extLst>
          </p:cNvPr>
          <p:cNvSpPr txBox="1"/>
          <p:nvPr/>
        </p:nvSpPr>
        <p:spPr>
          <a:xfrm>
            <a:off x="11475719"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4.5x</a:t>
            </a:r>
          </a:p>
        </p:txBody>
      </p:sp>
      <p:cxnSp>
        <p:nvCxnSpPr>
          <p:cNvPr id="92" name="Connector 38">
            <a:extLst>
              <a:ext uri="{FF2B5EF4-FFF2-40B4-BE49-F238E27FC236}">
                <a16:creationId xmlns:a16="http://schemas.microsoft.com/office/drawing/2014/main" id="{811E7EBA-B3FC-48FD-9F0B-7931741200D5}"/>
              </a:ext>
            </a:extLst>
          </p:cNvPr>
          <p:cNvCxnSpPr/>
          <p:nvPr/>
        </p:nvCxnSpPr>
        <p:spPr>
          <a:xfrm>
            <a:off x="5379284"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39">
            <a:extLst>
              <a:ext uri="{FF2B5EF4-FFF2-40B4-BE49-F238E27FC236}">
                <a16:creationId xmlns:a16="http://schemas.microsoft.com/office/drawing/2014/main" id="{92C2A4F3-ADED-4D84-8FD1-2CD651637FF6}"/>
              </a:ext>
            </a:extLst>
          </p:cNvPr>
          <p:cNvCxnSpPr/>
          <p:nvPr/>
        </p:nvCxnSpPr>
        <p:spPr>
          <a:xfrm>
            <a:off x="5943599"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40">
            <a:extLst>
              <a:ext uri="{FF2B5EF4-FFF2-40B4-BE49-F238E27FC236}">
                <a16:creationId xmlns:a16="http://schemas.microsoft.com/office/drawing/2014/main" id="{71368D25-7128-4CA0-963C-6086B8C38165}"/>
              </a:ext>
            </a:extLst>
          </p:cNvPr>
          <p:cNvCxnSpPr/>
          <p:nvPr/>
        </p:nvCxnSpPr>
        <p:spPr>
          <a:xfrm>
            <a:off x="6570617"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41">
            <a:extLst>
              <a:ext uri="{FF2B5EF4-FFF2-40B4-BE49-F238E27FC236}">
                <a16:creationId xmlns:a16="http://schemas.microsoft.com/office/drawing/2014/main" id="{B404E9BE-90C0-49D6-A640-2254789DDEF3}"/>
              </a:ext>
            </a:extLst>
          </p:cNvPr>
          <p:cNvCxnSpPr/>
          <p:nvPr/>
        </p:nvCxnSpPr>
        <p:spPr>
          <a:xfrm>
            <a:off x="7511142"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6" name="Connector 42">
            <a:extLst>
              <a:ext uri="{FF2B5EF4-FFF2-40B4-BE49-F238E27FC236}">
                <a16:creationId xmlns:a16="http://schemas.microsoft.com/office/drawing/2014/main" id="{60E4943B-672D-4A12-A501-BB11EF4F9F76}"/>
              </a:ext>
            </a:extLst>
          </p:cNvPr>
          <p:cNvCxnSpPr/>
          <p:nvPr/>
        </p:nvCxnSpPr>
        <p:spPr>
          <a:xfrm>
            <a:off x="8660674" y="4910327"/>
            <a:ext cx="0" cy="97383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7" name="Diamond 43">
            <a:extLst>
              <a:ext uri="{FF2B5EF4-FFF2-40B4-BE49-F238E27FC236}">
                <a16:creationId xmlns:a16="http://schemas.microsoft.com/office/drawing/2014/main" id="{87CD50D4-CCBC-4887-85FC-9BDE5A0A4E37}"/>
              </a:ext>
            </a:extLst>
          </p:cNvPr>
          <p:cNvSpPr/>
          <p:nvPr/>
        </p:nvSpPr>
        <p:spPr>
          <a:xfrm>
            <a:off x="5319848" y="4962905"/>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a:extLst>
              <a:ext uri="{FF2B5EF4-FFF2-40B4-BE49-F238E27FC236}">
                <a16:creationId xmlns:a16="http://schemas.microsoft.com/office/drawing/2014/main" id="{2A8910B1-0248-4E5C-A704-5B55831DDEF5}"/>
              </a:ext>
            </a:extLst>
          </p:cNvPr>
          <p:cNvSpPr txBox="1"/>
          <p:nvPr/>
        </p:nvSpPr>
        <p:spPr>
          <a:xfrm>
            <a:off x="5452436" y="4928615"/>
            <a:ext cx="1815083"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Stakeholder: 체감 30% 감소 (r 1.43)</a:t>
            </a:r>
          </a:p>
        </p:txBody>
      </p:sp>
      <p:sp>
        <p:nvSpPr>
          <p:cNvPr id="99" name="Isosceles Triangle 45">
            <a:extLst>
              <a:ext uri="{FF2B5EF4-FFF2-40B4-BE49-F238E27FC236}">
                <a16:creationId xmlns:a16="http://schemas.microsoft.com/office/drawing/2014/main" id="{C67CD826-EEB3-47BB-94D7-80D7142EC559}"/>
              </a:ext>
            </a:extLst>
          </p:cNvPr>
          <p:cNvSpPr/>
          <p:nvPr/>
        </p:nvSpPr>
        <p:spPr>
          <a:xfrm>
            <a:off x="6714805" y="5154929"/>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a:extLst>
              <a:ext uri="{FF2B5EF4-FFF2-40B4-BE49-F238E27FC236}">
                <a16:creationId xmlns:a16="http://schemas.microsoft.com/office/drawing/2014/main" id="{9343C54F-6A94-448B-A787-7C35C3BD4F6A}"/>
              </a:ext>
            </a:extLst>
          </p:cNvPr>
          <p:cNvSpPr txBox="1"/>
          <p:nvPr/>
        </p:nvSpPr>
        <p:spPr>
          <a:xfrm>
            <a:off x="6847393" y="5116067"/>
            <a:ext cx="1463039"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이론 B1(단순 offload) r 2.10</a:t>
            </a:r>
          </a:p>
        </p:txBody>
      </p:sp>
      <p:sp>
        <p:nvSpPr>
          <p:cNvPr id="101" name="Rectangle 47">
            <a:extLst>
              <a:ext uri="{FF2B5EF4-FFF2-40B4-BE49-F238E27FC236}">
                <a16:creationId xmlns:a16="http://schemas.microsoft.com/office/drawing/2014/main" id="{2EB3F49B-5B59-4998-8D07-E84FD008D538}"/>
              </a:ext>
            </a:extLst>
          </p:cNvPr>
          <p:cNvSpPr/>
          <p:nvPr/>
        </p:nvSpPr>
        <p:spPr>
          <a:xfrm>
            <a:off x="6570617" y="5360669"/>
            <a:ext cx="4180114"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2" name="Connector 48">
            <a:extLst>
              <a:ext uri="{FF2B5EF4-FFF2-40B4-BE49-F238E27FC236}">
                <a16:creationId xmlns:a16="http://schemas.microsoft.com/office/drawing/2014/main" id="{0519B3B1-6B02-4B77-A979-92347A7BF827}"/>
              </a:ext>
            </a:extLst>
          </p:cNvPr>
          <p:cNvCxnSpPr/>
          <p:nvPr/>
        </p:nvCxnSpPr>
        <p:spPr>
          <a:xfrm>
            <a:off x="6570617" y="5333237"/>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3" name="Connector 49">
            <a:extLst>
              <a:ext uri="{FF2B5EF4-FFF2-40B4-BE49-F238E27FC236}">
                <a16:creationId xmlns:a16="http://schemas.microsoft.com/office/drawing/2014/main" id="{8268C2A3-0D52-4E54-927B-5F9109FE39B3}"/>
              </a:ext>
            </a:extLst>
          </p:cNvPr>
          <p:cNvCxnSpPr/>
          <p:nvPr/>
        </p:nvCxnSpPr>
        <p:spPr>
          <a:xfrm>
            <a:off x="10750731" y="5333237"/>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8A4A5BD5-3FD6-41EF-B015-684D6C202999}"/>
              </a:ext>
            </a:extLst>
          </p:cNvPr>
          <p:cNvSpPr txBox="1"/>
          <p:nvPr/>
        </p:nvSpPr>
        <p:spPr>
          <a:xfrm>
            <a:off x="4170444" y="5303519"/>
            <a:ext cx="2327021" cy="187452"/>
          </a:xfrm>
          <a:prstGeom prst="rect">
            <a:avLst/>
          </a:prstGeom>
          <a:noFill/>
        </p:spPr>
        <p:txBody>
          <a:bodyPr wrap="none" lIns="0" tIns="0" rIns="0" bIns="0" anchor="ctr">
            <a:spAutoFit/>
          </a:bodyPr>
          <a:lstStyle/>
          <a:p>
            <a:pPr algn="r">
              <a:spcAft>
                <a:spcPts val="0"/>
              </a:spcAft>
            </a:pPr>
            <a:r>
              <a:rPr sz="579" b="0">
                <a:solidFill>
                  <a:srgbClr val="262626"/>
                </a:solidFill>
                <a:latin typeface="맑은 고딕"/>
                <a:ea typeface="맑은 고딕"/>
              </a:rPr>
              <a:t>LMCache E2E 지연 50~75% 감소 (r 2.0~4.0) = 경쟁 기술 수준</a:t>
            </a:r>
          </a:p>
        </p:txBody>
      </p:sp>
      <p:sp>
        <p:nvSpPr>
          <p:cNvPr id="105" name="Rectangle 51">
            <a:extLst>
              <a:ext uri="{FF2B5EF4-FFF2-40B4-BE49-F238E27FC236}">
                <a16:creationId xmlns:a16="http://schemas.microsoft.com/office/drawing/2014/main" id="{F4225683-24CC-4FA8-8104-D668E4C0C7C5}"/>
              </a:ext>
            </a:extLst>
          </p:cNvPr>
          <p:cNvSpPr/>
          <p:nvPr/>
        </p:nvSpPr>
        <p:spPr>
          <a:xfrm>
            <a:off x="7803750" y="5548121"/>
            <a:ext cx="2863378"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6" name="Connector 52">
            <a:extLst>
              <a:ext uri="{FF2B5EF4-FFF2-40B4-BE49-F238E27FC236}">
                <a16:creationId xmlns:a16="http://schemas.microsoft.com/office/drawing/2014/main" id="{9B990F7C-1E7A-45C3-966D-F252CEEDAD4B}"/>
              </a:ext>
            </a:extLst>
          </p:cNvPr>
          <p:cNvCxnSpPr/>
          <p:nvPr/>
        </p:nvCxnSpPr>
        <p:spPr>
          <a:xfrm>
            <a:off x="7803750" y="5520689"/>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107" name="Connector 53">
            <a:extLst>
              <a:ext uri="{FF2B5EF4-FFF2-40B4-BE49-F238E27FC236}">
                <a16:creationId xmlns:a16="http://schemas.microsoft.com/office/drawing/2014/main" id="{322A5E77-EE86-4AF9-8510-01C1ECBAF621}"/>
              </a:ext>
            </a:extLst>
          </p:cNvPr>
          <p:cNvCxnSpPr/>
          <p:nvPr/>
        </p:nvCxnSpPr>
        <p:spPr>
          <a:xfrm>
            <a:off x="10667129" y="5520689"/>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108" name="TextBox 107">
            <a:extLst>
              <a:ext uri="{FF2B5EF4-FFF2-40B4-BE49-F238E27FC236}">
                <a16:creationId xmlns:a16="http://schemas.microsoft.com/office/drawing/2014/main" id="{A9C9C6DC-4188-454E-A835-B1BDA0886BA9}"/>
              </a:ext>
            </a:extLst>
          </p:cNvPr>
          <p:cNvSpPr txBox="1"/>
          <p:nvPr/>
        </p:nvSpPr>
        <p:spPr>
          <a:xfrm>
            <a:off x="5042262" y="5490971"/>
            <a:ext cx="2688336"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LMCache 고 QPS TTFT 4.4~6.6x·ITL 34~58% → r 2.6~4.0</a:t>
            </a:r>
          </a:p>
        </p:txBody>
      </p:sp>
      <p:sp>
        <p:nvSpPr>
          <p:cNvPr id="109" name="Rectangle 55">
            <a:extLst>
              <a:ext uri="{FF2B5EF4-FFF2-40B4-BE49-F238E27FC236}">
                <a16:creationId xmlns:a16="http://schemas.microsoft.com/office/drawing/2014/main" id="{FEA096AB-D4B8-4114-BA42-77A6936288B3}"/>
              </a:ext>
            </a:extLst>
          </p:cNvPr>
          <p:cNvSpPr/>
          <p:nvPr/>
        </p:nvSpPr>
        <p:spPr>
          <a:xfrm>
            <a:off x="7406640" y="5735573"/>
            <a:ext cx="2633472"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0" name="Connector 56">
            <a:extLst>
              <a:ext uri="{FF2B5EF4-FFF2-40B4-BE49-F238E27FC236}">
                <a16:creationId xmlns:a16="http://schemas.microsoft.com/office/drawing/2014/main" id="{9839BB68-3858-4F05-9F73-2C79DE92563D}"/>
              </a:ext>
            </a:extLst>
          </p:cNvPr>
          <p:cNvCxnSpPr/>
          <p:nvPr/>
        </p:nvCxnSpPr>
        <p:spPr>
          <a:xfrm>
            <a:off x="7406640" y="5708141"/>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111" name="Connector 57">
            <a:extLst>
              <a:ext uri="{FF2B5EF4-FFF2-40B4-BE49-F238E27FC236}">
                <a16:creationId xmlns:a16="http://schemas.microsoft.com/office/drawing/2014/main" id="{45AD1691-7E20-4E39-8CED-E0AAA3F5F706}"/>
              </a:ext>
            </a:extLst>
          </p:cNvPr>
          <p:cNvCxnSpPr/>
          <p:nvPr/>
        </p:nvCxnSpPr>
        <p:spPr>
          <a:xfrm>
            <a:off x="10040112" y="5708141"/>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112" name="TextBox 111">
            <a:extLst>
              <a:ext uri="{FF2B5EF4-FFF2-40B4-BE49-F238E27FC236}">
                <a16:creationId xmlns:a16="http://schemas.microsoft.com/office/drawing/2014/main" id="{231A276C-D459-400C-BE0E-A618559E6EE3}"/>
              </a:ext>
            </a:extLst>
          </p:cNvPr>
          <p:cNvSpPr txBox="1"/>
          <p:nvPr/>
        </p:nvSpPr>
        <p:spPr>
          <a:xfrm>
            <a:off x="4478274" y="5678423"/>
            <a:ext cx="2855213" cy="187452"/>
          </a:xfrm>
          <a:prstGeom prst="rect">
            <a:avLst/>
          </a:prstGeom>
          <a:noFill/>
        </p:spPr>
        <p:txBody>
          <a:bodyPr wrap="none" lIns="0" tIns="0" rIns="0" bIns="0" anchor="ctr">
            <a:spAutoFit/>
          </a:bodyPr>
          <a:lstStyle/>
          <a:p>
            <a:pPr algn="r">
              <a:spcAft>
                <a:spcPts val="0"/>
              </a:spcAft>
            </a:pPr>
            <a:r>
              <a:rPr sz="619" b="0">
                <a:solidFill>
                  <a:srgbClr val="262626"/>
                </a:solidFill>
                <a:latin typeface="맑은 고딕"/>
                <a:ea typeface="맑은 고딕"/>
              </a:rPr>
              <a:t>★3 근거: 경쟁 r 2.0 × offload 대비 문헌 개선 1.2~1.83x = 2.4~3.7</a:t>
            </a:r>
          </a:p>
        </p:txBody>
      </p:sp>
      <p:sp>
        <p:nvSpPr>
          <p:cNvPr id="113" name="Oval 59">
            <a:extLst>
              <a:ext uri="{FF2B5EF4-FFF2-40B4-BE49-F238E27FC236}">
                <a16:creationId xmlns:a16="http://schemas.microsoft.com/office/drawing/2014/main" id="{1629FE66-2E48-47C1-8A1F-24B6ED602E4C}"/>
              </a:ext>
            </a:extLst>
          </p:cNvPr>
          <p:cNvSpPr/>
          <p:nvPr/>
        </p:nvSpPr>
        <p:spPr>
          <a:xfrm>
            <a:off x="4453127" y="5952743"/>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6C0D62B7-DC64-4C27-B56A-079E86D65E6A}"/>
              </a:ext>
            </a:extLst>
          </p:cNvPr>
          <p:cNvSpPr txBox="1"/>
          <p:nvPr/>
        </p:nvSpPr>
        <p:spPr>
          <a:xfrm>
            <a:off x="4571999" y="5911595"/>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115" name="Diamond 61">
            <a:extLst>
              <a:ext uri="{FF2B5EF4-FFF2-40B4-BE49-F238E27FC236}">
                <a16:creationId xmlns:a16="http://schemas.microsoft.com/office/drawing/2014/main" id="{BC5B2478-3521-4383-AC75-F55336C80652}"/>
              </a:ext>
            </a:extLst>
          </p:cNvPr>
          <p:cNvSpPr/>
          <p:nvPr/>
        </p:nvSpPr>
        <p:spPr>
          <a:xfrm>
            <a:off x="5608828" y="5952743"/>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a:extLst>
              <a:ext uri="{FF2B5EF4-FFF2-40B4-BE49-F238E27FC236}">
                <a16:creationId xmlns:a16="http://schemas.microsoft.com/office/drawing/2014/main" id="{BA1838CF-E704-455A-906E-C33DDE1D249D}"/>
              </a:ext>
            </a:extLst>
          </p:cNvPr>
          <p:cNvSpPr txBox="1"/>
          <p:nvPr/>
        </p:nvSpPr>
        <p:spPr>
          <a:xfrm>
            <a:off x="5727700" y="5911595"/>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117" name="Isosceles Triangle 63">
            <a:extLst>
              <a:ext uri="{FF2B5EF4-FFF2-40B4-BE49-F238E27FC236}">
                <a16:creationId xmlns:a16="http://schemas.microsoft.com/office/drawing/2014/main" id="{CC2FD78B-50A2-4F0A-BB95-B0F4592C95C0}"/>
              </a:ext>
            </a:extLst>
          </p:cNvPr>
          <p:cNvSpPr/>
          <p:nvPr/>
        </p:nvSpPr>
        <p:spPr>
          <a:xfrm>
            <a:off x="7097903" y="5952743"/>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00CE091B-10A4-4013-B604-572904CA1723}"/>
              </a:ext>
            </a:extLst>
          </p:cNvPr>
          <p:cNvSpPr txBox="1"/>
          <p:nvPr/>
        </p:nvSpPr>
        <p:spPr>
          <a:xfrm>
            <a:off x="7216775" y="5911595"/>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119" name="Oval 65">
            <a:extLst>
              <a:ext uri="{FF2B5EF4-FFF2-40B4-BE49-F238E27FC236}">
                <a16:creationId xmlns:a16="http://schemas.microsoft.com/office/drawing/2014/main" id="{AF35A976-4C5D-490C-A610-A340B2D1C58F}"/>
              </a:ext>
            </a:extLst>
          </p:cNvPr>
          <p:cNvSpPr/>
          <p:nvPr/>
        </p:nvSpPr>
        <p:spPr>
          <a:xfrm>
            <a:off x="7822438" y="5952743"/>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a:extLst>
              <a:ext uri="{FF2B5EF4-FFF2-40B4-BE49-F238E27FC236}">
                <a16:creationId xmlns:a16="http://schemas.microsoft.com/office/drawing/2014/main" id="{8EEC5ADE-BD7E-40CF-A66C-C19CCD2C775D}"/>
              </a:ext>
            </a:extLst>
          </p:cNvPr>
          <p:cNvSpPr txBox="1"/>
          <p:nvPr/>
        </p:nvSpPr>
        <p:spPr>
          <a:xfrm>
            <a:off x="7941310" y="5911595"/>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121" name="TextBox 120">
            <a:extLst>
              <a:ext uri="{FF2B5EF4-FFF2-40B4-BE49-F238E27FC236}">
                <a16:creationId xmlns:a16="http://schemas.microsoft.com/office/drawing/2014/main" id="{47B0AB69-83BF-4333-807F-F3B2E428C7E7}"/>
              </a:ext>
            </a:extLst>
          </p:cNvPr>
          <p:cNvSpPr txBox="1"/>
          <p:nvPr/>
        </p:nvSpPr>
        <p:spPr>
          <a:xfrm>
            <a:off x="365760" y="4279392"/>
            <a:ext cx="3931920" cy="457200"/>
          </a:xfrm>
          <a:prstGeom prst="rect">
            <a:avLst/>
          </a:prstGeom>
          <a:noFill/>
        </p:spPr>
        <p:txBody>
          <a:bodyPr wrap="square" lIns="73152" tIns="36576" rIns="73152" bIns="36576" anchor="t">
            <a:spAutoFit/>
          </a:bodyPr>
          <a:lstStyle/>
          <a:p>
            <a:pPr algn="l">
              <a:lnSpc>
                <a:spcPct val="105000"/>
              </a:lnSpc>
              <a:spcAft>
                <a:spcPts val="0"/>
              </a:spcAft>
            </a:pPr>
            <a:r>
              <a:rPr sz="950" b="1">
                <a:solidFill>
                  <a:srgbClr val="2F5597"/>
                </a:solidFill>
                <a:latin typeface="맑은 고딕"/>
                <a:ea typeface="맑은 고딕"/>
              </a:rPr>
              <a:t>P99의 의미</a:t>
            </a:r>
          </a:p>
          <a:p>
            <a:pPr algn="l">
              <a:lnSpc>
                <a:spcPct val="105000"/>
              </a:lnSpc>
              <a:spcAft>
                <a:spcPts val="0"/>
              </a:spcAft>
            </a:pPr>
            <a:r>
              <a:rPr sz="850" b="0">
                <a:solidFill>
                  <a:srgbClr val="000000"/>
                </a:solidFill>
                <a:latin typeface="맑은 고딕"/>
                <a:ea typeface="맑은 고딕"/>
              </a:rPr>
              <a:t>상위 1%의 극단적 지연을 포착해 고부하 서비스 끊김을 검증</a:t>
            </a:r>
          </a:p>
        </p:txBody>
      </p:sp>
      <p:sp>
        <p:nvSpPr>
          <p:cNvPr id="61" name="실행 단추: 뒤로 또는 이전 60">
            <a:hlinkClick r:id="rId4"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65" name="실행 단추: 뒤로 또는 이전 64">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158524854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지연</a:t>
            </a:r>
            <a:r>
              <a:rPr lang="ko-KR" altLang="en-US" sz="2200" b="1" dirty="0">
                <a:solidFill>
                  <a:srgbClr val="2F5597"/>
                </a:solidFill>
                <a:latin typeface="맑은 고딕"/>
                <a:ea typeface="맑은 고딕"/>
              </a:rPr>
              <a:t>시간 </a:t>
            </a:r>
            <a:r>
              <a:rPr lang="en-US" altLang="ko-KR" sz="2200" b="1" dirty="0">
                <a:solidFill>
                  <a:srgbClr val="2F5597"/>
                </a:solidFill>
                <a:latin typeface="맑은 고딕"/>
                <a:ea typeface="맑은 고딕"/>
              </a:rPr>
              <a:t>-</a:t>
            </a:r>
            <a:r>
              <a:rPr lang="ko-KR" altLang="en-US" sz="2200" b="1" dirty="0">
                <a:solidFill>
                  <a:srgbClr val="2F5597"/>
                </a:solidFill>
                <a:latin typeface="맑은 고딕"/>
                <a:ea typeface="맑은 고딕"/>
              </a:rPr>
              <a:t> 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en-US" sz="1100" b="0" dirty="0">
                <a:solidFill>
                  <a:srgbClr val="404040"/>
                </a:solidFill>
                <a:latin typeface="맑은 고딕"/>
                <a:ea typeface="맑은 고딕"/>
              </a:rPr>
              <a:t>Baseline </a:t>
            </a:r>
            <a:r>
              <a:rPr lang="ko-KR" altLang="en-US" sz="1100" b="0" dirty="0">
                <a:solidFill>
                  <a:srgbClr val="404040"/>
                </a:solidFill>
                <a:latin typeface="맑은 고딕"/>
                <a:ea typeface="맑은 고딕"/>
              </a:rPr>
              <a:t>대비 </a:t>
            </a:r>
            <a:r>
              <a:rPr lang="en-US" altLang="ko-KR" sz="1100" dirty="0">
                <a:solidFill>
                  <a:srgbClr val="404040"/>
                </a:solidFill>
                <a:latin typeface="맑은 고딕"/>
                <a:ea typeface="맑은 고딕"/>
              </a:rPr>
              <a:t>TTFT, TPOT</a:t>
            </a:r>
            <a:r>
              <a:rPr lang="ko-KR" altLang="en-US" sz="1100" dirty="0">
                <a:solidFill>
                  <a:srgbClr val="404040"/>
                </a:solidFill>
                <a:latin typeface="맑은 고딕"/>
                <a:ea typeface="맑은 고딕"/>
              </a:rPr>
              <a:t>의 </a:t>
            </a:r>
            <a:r>
              <a:rPr lang="en-US" altLang="ko-KR" sz="1100" dirty="0">
                <a:solidFill>
                  <a:srgbClr val="404040"/>
                </a:solidFill>
                <a:latin typeface="맑은 고딕"/>
                <a:ea typeface="맑은 고딕"/>
              </a:rPr>
              <a:t>Tail Latency (P99</a:t>
            </a:r>
            <a:r>
              <a:rPr lang="en-US" altLang="ko-KR" sz="1100" b="0" dirty="0">
                <a:solidFill>
                  <a:srgbClr val="404040"/>
                </a:solidFill>
                <a:latin typeface="맑은 고딕"/>
                <a:ea typeface="맑은 고딕"/>
              </a:rPr>
              <a:t>)</a:t>
            </a:r>
            <a:r>
              <a:rPr lang="ko-KR" altLang="en-US" sz="1100" b="0" dirty="0">
                <a:solidFill>
                  <a:srgbClr val="404040"/>
                </a:solidFill>
                <a:latin typeface="맑은 고딕"/>
                <a:ea typeface="맑은 고딕"/>
              </a:rPr>
              <a:t> 감소율 </a:t>
            </a:r>
            <a:r>
              <a:rPr lang="en-US" altLang="ko-KR" sz="1100" b="0" dirty="0">
                <a:solidFill>
                  <a:srgbClr val="404040"/>
                </a:solidFill>
                <a:latin typeface="맑은 고딕"/>
                <a:ea typeface="맑은 고딕"/>
              </a:rPr>
              <a:t>(</a:t>
            </a:r>
            <a:r>
              <a:rPr lang="ko-KR" altLang="en-US" sz="1100" b="0" dirty="0">
                <a:solidFill>
                  <a:srgbClr val="404040"/>
                </a:solidFill>
                <a:latin typeface="맑은 고딕"/>
                <a:ea typeface="맑은 고딕"/>
              </a:rPr>
              <a:t>단</a:t>
            </a:r>
            <a:r>
              <a:rPr lang="en-US" altLang="ko-KR" sz="1100" b="0" dirty="0">
                <a:solidFill>
                  <a:srgbClr val="404040"/>
                </a:solidFill>
                <a:latin typeface="맑은 고딕"/>
                <a:ea typeface="맑은 고딕"/>
              </a:rPr>
              <a:t>, SLO</a:t>
            </a:r>
            <a:r>
              <a:rPr lang="ko-KR" altLang="en-US" sz="1100" b="0" dirty="0">
                <a:solidFill>
                  <a:srgbClr val="404040"/>
                </a:solidFill>
                <a:latin typeface="맑은 고딕"/>
                <a:ea typeface="맑은 고딕"/>
              </a:rPr>
              <a:t>를 넘으면 ★로 강등</a:t>
            </a:r>
            <a:r>
              <a:rPr lang="en-US" altLang="ko-KR" sz="1100" dirty="0">
                <a:solidFill>
                  <a:srgbClr val="404040"/>
                </a:solidFill>
                <a:latin typeface="맑은 고딕"/>
                <a:ea typeface="맑은 고딕"/>
              </a:rPr>
              <a:t>)</a:t>
            </a:r>
            <a:endParaRPr lang="en-US"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583680"/>
            <a:ext cx="11430000" cy="228600"/>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공통</a:t>
            </a:r>
            <a:r>
              <a:rPr sz="750" b="0" dirty="0">
                <a:solidFill>
                  <a:srgbClr val="404040"/>
                </a:solidFill>
                <a:latin typeface="맑은 고딕"/>
                <a:ea typeface="맑은 고딕"/>
              </a:rPr>
              <a:t> QA </a:t>
            </a:r>
            <a:r>
              <a:rPr sz="750" b="0" dirty="0" err="1">
                <a:solidFill>
                  <a:srgbClr val="404040"/>
                </a:solidFill>
                <a:latin typeface="맑은 고딕"/>
                <a:ea typeface="맑은 고딕"/>
              </a:rPr>
              <a:t>문서</a:t>
            </a:r>
            <a:r>
              <a:rPr sz="750" b="0" dirty="0">
                <a:solidFill>
                  <a:srgbClr val="404040"/>
                </a:solidFill>
                <a:latin typeface="맑은 고딕"/>
                <a:ea typeface="맑은 고딕"/>
              </a:rPr>
              <a:t> §5 · </a:t>
            </a:r>
            <a:r>
              <a:rPr sz="750" b="0" dirty="0" err="1">
                <a:solidFill>
                  <a:srgbClr val="404040"/>
                </a:solidFill>
                <a:latin typeface="맑은 고딕"/>
                <a:ea typeface="맑은 고딕"/>
              </a:rPr>
              <a:t>MLPerf</a:t>
            </a:r>
            <a:r>
              <a:rPr sz="750" b="0" dirty="0">
                <a:solidFill>
                  <a:srgbClr val="404040"/>
                </a:solidFill>
                <a:latin typeface="맑은 고딕"/>
                <a:ea typeface="맑은 고딕"/>
              </a:rPr>
              <a:t> Inference v5.1 </a:t>
            </a:r>
            <a:r>
              <a:rPr sz="750" b="0" dirty="0" err="1">
                <a:solidFill>
                  <a:srgbClr val="404040"/>
                </a:solidFill>
                <a:latin typeface="맑은 고딕"/>
                <a:ea typeface="맑은 고딕"/>
              </a:rPr>
              <a:t>요약</a:t>
            </a:r>
            <a:r>
              <a:rPr sz="750" b="0" dirty="0">
                <a:solidFill>
                  <a:srgbClr val="404040"/>
                </a:solidFill>
                <a:latin typeface="맑은 고딕"/>
                <a:ea typeface="맑은 고딕"/>
              </a:rPr>
              <a:t>(</a:t>
            </a:r>
            <a:r>
              <a:rPr sz="750" b="0" dirty="0" err="1">
                <a:solidFill>
                  <a:srgbClr val="404040"/>
                </a:solidFill>
                <a:latin typeface="맑은 고딕"/>
                <a:ea typeface="맑은 고딕"/>
              </a:rPr>
              <a:t>marktechpost</a:t>
            </a:r>
            <a:r>
              <a:rPr sz="750" b="0" dirty="0">
                <a:solidFill>
                  <a:srgbClr val="404040"/>
                </a:solidFill>
                <a:latin typeface="맑은 고딕"/>
                <a:ea typeface="맑은 고딕"/>
              </a:rPr>
              <a:t>, it-online) [2차] · </a:t>
            </a:r>
            <a:r>
              <a:rPr sz="750" b="0" dirty="0" err="1">
                <a:solidFill>
                  <a:srgbClr val="404040"/>
                </a:solidFill>
                <a:latin typeface="맑은 고딕"/>
                <a:ea typeface="맑은 고딕"/>
              </a:rPr>
              <a:t>Brysbaert</a:t>
            </a:r>
            <a:r>
              <a:rPr sz="750" b="0" dirty="0">
                <a:solidFill>
                  <a:srgbClr val="404040"/>
                </a:solidFill>
                <a:latin typeface="맑은 고딕"/>
                <a:ea typeface="맑은 고딕"/>
              </a:rPr>
              <a:t> 2019 · DP3 </a:t>
            </a:r>
            <a:r>
              <a:rPr sz="750" b="0" dirty="0" err="1">
                <a:solidFill>
                  <a:srgbClr val="404040"/>
                </a:solidFill>
                <a:latin typeface="맑은 고딕"/>
                <a:ea typeface="맑은 고딕"/>
              </a:rPr>
              <a:t>시뮬레이션</a:t>
            </a:r>
            <a:r>
              <a:rPr sz="750" b="0" dirty="0">
                <a:solidFill>
                  <a:srgbClr val="404040"/>
                </a:solidFill>
                <a:latin typeface="맑은 고딕"/>
                <a:ea typeface="맑은 고딕"/>
              </a:rPr>
              <a:t> seed </a:t>
            </a:r>
            <a:r>
              <a:rPr sz="750" b="0" dirty="0" err="1">
                <a:solidFill>
                  <a:srgbClr val="404040"/>
                </a:solidFill>
                <a:latin typeface="맑은 고딕"/>
                <a:ea typeface="맑은 고딕"/>
              </a:rPr>
              <a:t>분산</a:t>
            </a:r>
            <a:r>
              <a:rPr sz="750" b="0" dirty="0">
                <a:solidFill>
                  <a:srgbClr val="404040"/>
                </a:solidFill>
                <a:latin typeface="맑은 고딕"/>
                <a:ea typeface="맑은 고딕"/>
              </a:rPr>
              <a:t> · tools/unified_stars.py</a:t>
            </a:r>
          </a:p>
        </p:txBody>
      </p:sp>
      <p:sp>
        <p:nvSpPr>
          <p:cNvPr id="7" name="r_formula"/>
          <p:cNvSpPr txBox="1"/>
          <p:nvPr/>
        </p:nvSpPr>
        <p:spPr>
          <a:xfrm>
            <a:off x="365760" y="1143000"/>
            <a:ext cx="7498079" cy="227755"/>
          </a:xfrm>
          <a:prstGeom prst="rect">
            <a:avLst/>
          </a:prstGeom>
          <a:noFill/>
        </p:spPr>
        <p:txBody>
          <a:bodyPr wrap="square" lIns="73152" tIns="36576" rIns="73152" bIns="36576" anchor="t">
            <a:spAutoFit/>
          </a:bodyPr>
          <a:lstStyle/>
          <a:p>
            <a:pPr algn="l">
              <a:spcAft>
                <a:spcPts val="250"/>
              </a:spcAft>
            </a:pPr>
            <a:r>
              <a:rPr lang="en-US" altLang="ko-KR" sz="1000" b="1" dirty="0">
                <a:solidFill>
                  <a:srgbClr val="2F5597"/>
                </a:solidFill>
                <a:latin typeface="맑은 고딕"/>
                <a:ea typeface="맑은 고딕"/>
              </a:rPr>
              <a:t>[Metric] </a:t>
            </a:r>
            <a:r>
              <a:rPr sz="1000" b="1" dirty="0">
                <a:solidFill>
                  <a:srgbClr val="2F5597"/>
                </a:solidFill>
                <a:latin typeface="맑은 고딕"/>
                <a:ea typeface="맑은 고딕"/>
              </a:rPr>
              <a:t>r = √[ (Baseline ÷ TTFT P99) × (Baseline ÷ TPOT P99) ]</a:t>
            </a:r>
          </a:p>
        </p:txBody>
      </p:sp>
      <p:graphicFrame>
        <p:nvGraphicFramePr>
          <p:cNvPr id="8" name="tbl"/>
          <p:cNvGraphicFramePr>
            <a:graphicFrameLocks noGrp="1"/>
          </p:cNvGraphicFramePr>
          <p:nvPr/>
        </p:nvGraphicFramePr>
        <p:xfrm>
          <a:off x="365759" y="1463040"/>
          <a:ext cx="11457432" cy="1822896"/>
        </p:xfrm>
        <a:graphic>
          <a:graphicData uri="http://schemas.openxmlformats.org/drawingml/2006/table">
            <a:tbl>
              <a:tblPr>
                <a:tableStyleId>{5C22544A-7EE6-4342-B048-85BDC9FD1C3A}</a:tableStyleId>
              </a:tblPr>
              <a:tblGrid>
                <a:gridCol w="806248">
                  <a:extLst>
                    <a:ext uri="{9D8B030D-6E8A-4147-A177-3AD203B41FA5}">
                      <a16:colId xmlns:a16="http://schemas.microsoft.com/office/drawing/2014/main" val="20000"/>
                    </a:ext>
                  </a:extLst>
                </a:gridCol>
                <a:gridCol w="2858126">
                  <a:extLst>
                    <a:ext uri="{9D8B030D-6E8A-4147-A177-3AD203B41FA5}">
                      <a16:colId xmlns:a16="http://schemas.microsoft.com/office/drawing/2014/main" val="20001"/>
                    </a:ext>
                  </a:extLst>
                </a:gridCol>
                <a:gridCol w="4140200">
                  <a:extLst>
                    <a:ext uri="{9D8B030D-6E8A-4147-A177-3AD203B41FA5}">
                      <a16:colId xmlns:a16="http://schemas.microsoft.com/office/drawing/2014/main" val="20002"/>
                    </a:ext>
                  </a:extLst>
                </a:gridCol>
                <a:gridCol w="3652858">
                  <a:extLst>
                    <a:ext uri="{9D8B030D-6E8A-4147-A177-3AD203B41FA5}">
                      <a16:colId xmlns:a16="http://schemas.microsoft.com/office/drawing/2014/main" val="1806388270"/>
                    </a:ext>
                  </a:extLst>
                </a:gridCol>
              </a:tblGrid>
              <a:tr h="310896">
                <a:tc>
                  <a:txBody>
                    <a:bodyPr/>
                    <a:lstStyle/>
                    <a:p>
                      <a:pPr algn="ctr"/>
                      <a:r>
                        <a:rPr sz="9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00" b="1" dirty="0" err="1">
                          <a:solidFill>
                            <a:srgbClr val="FFFFFF"/>
                          </a:solidFill>
                          <a:latin typeface="맑은 고딕"/>
                          <a:ea typeface="맑은 고딕"/>
                        </a:rPr>
                        <a:t>기준</a:t>
                      </a:r>
                      <a:endParaRPr sz="9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00" b="1" dirty="0" err="1">
                          <a:solidFill>
                            <a:srgbClr val="FFFFFF"/>
                          </a:solidFill>
                          <a:latin typeface="맑은 고딕"/>
                          <a:ea typeface="맑은 고딕"/>
                        </a:rPr>
                        <a:t>근거</a:t>
                      </a:r>
                      <a:endParaRPr sz="9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900" b="1" dirty="0">
                          <a:solidFill>
                            <a:srgbClr val="FFFFFF"/>
                          </a:solidFill>
                          <a:latin typeface="맑은 고딕"/>
                          <a:ea typeface="맑은 고딕"/>
                        </a:rPr>
                        <a:t>출처</a:t>
                      </a:r>
                      <a:endParaRPr sz="9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2F5597"/>
                    </a:solidFill>
                  </a:tcPr>
                </a:tc>
                <a:extLst>
                  <a:ext uri="{0D108BD9-81ED-4DB2-BD59-A6C34878D82A}">
                    <a16:rowId xmlns:a16="http://schemas.microsoft.com/office/drawing/2014/main" val="10000"/>
                  </a:ext>
                </a:extLst>
              </a:tr>
              <a:tr h="504000">
                <a:tc>
                  <a:txBody>
                    <a:bodyPr/>
                    <a:lstStyle/>
                    <a:p>
                      <a:pPr algn="ctr"/>
                      <a:r>
                        <a:rPr sz="900" b="0" dirty="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900" b="0" dirty="0">
                          <a:solidFill>
                            <a:srgbClr val="000000"/>
                          </a:solidFill>
                          <a:latin typeface="맑은 고딕"/>
                          <a:ea typeface="맑은 고딕"/>
                        </a:rPr>
                        <a:t>r ≥ </a:t>
                      </a:r>
                      <a:r>
                        <a:rPr lang="en-US" sz="900" b="0" dirty="0">
                          <a:solidFill>
                            <a:srgbClr val="000000"/>
                          </a:solidFill>
                          <a:latin typeface="맑은 고딕"/>
                          <a:ea typeface="맑은 고딕"/>
                        </a:rPr>
                        <a:t>2.0</a:t>
                      </a:r>
                      <a:r>
                        <a:rPr sz="900" b="0" dirty="0">
                          <a:solidFill>
                            <a:srgbClr val="000000"/>
                          </a:solidFill>
                          <a:latin typeface="맑은 고딕"/>
                          <a:ea typeface="맑은 고딕"/>
                        </a:rPr>
                        <a:t> </a:t>
                      </a:r>
                      <a:r>
                        <a:rPr sz="900" b="0" dirty="0" err="1">
                          <a:solidFill>
                            <a:srgbClr val="000000"/>
                          </a:solidFill>
                          <a:latin typeface="맑은 고딕"/>
                          <a:ea typeface="맑은 고딕"/>
                        </a:rPr>
                        <a:t>그리고</a:t>
                      </a:r>
                      <a:r>
                        <a:rPr sz="900" b="0" dirty="0">
                          <a:solidFill>
                            <a:srgbClr val="000000"/>
                          </a:solidFill>
                          <a:latin typeface="맑은 고딕"/>
                          <a:ea typeface="맑은 고딕"/>
                        </a:rPr>
                        <a:t> SLO </a:t>
                      </a:r>
                      <a:r>
                        <a:rPr sz="900" b="0" dirty="0" err="1">
                          <a:solidFill>
                            <a:srgbClr val="000000"/>
                          </a:solidFill>
                          <a:latin typeface="맑은 고딕"/>
                          <a:ea typeface="맑은 고딕"/>
                        </a:rPr>
                        <a:t>충족</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lang="en-US" sz="900" b="0" dirty="0" err="1">
                          <a:solidFill>
                            <a:srgbClr val="000000"/>
                          </a:solidFill>
                          <a:latin typeface="맑은 고딕"/>
                          <a:ea typeface="맑은 고딕"/>
                        </a:rPr>
                        <a:t>LMCache</a:t>
                      </a:r>
                      <a:r>
                        <a:rPr lang="ko-KR" altLang="en-US" sz="900" b="0" dirty="0">
                          <a:solidFill>
                            <a:srgbClr val="000000"/>
                          </a:solidFill>
                          <a:latin typeface="맑은 고딕"/>
                          <a:ea typeface="맑은 고딕"/>
                        </a:rPr>
                        <a:t>의 </a:t>
                      </a:r>
                      <a:r>
                        <a:rPr lang="en-US" altLang="ko-KR" sz="900" b="0" dirty="0">
                          <a:solidFill>
                            <a:srgbClr val="000000"/>
                          </a:solidFill>
                          <a:latin typeface="맑은 고딕"/>
                          <a:ea typeface="맑은 고딕"/>
                        </a:rPr>
                        <a:t>Context </a:t>
                      </a:r>
                      <a:r>
                        <a:rPr lang="ko-KR" altLang="en-US" sz="900" b="0" dirty="0">
                          <a:solidFill>
                            <a:srgbClr val="000000"/>
                          </a:solidFill>
                          <a:latin typeface="맑은 고딕"/>
                          <a:ea typeface="맑은 고딕"/>
                        </a:rPr>
                        <a:t>벤치마크 기준 </a:t>
                      </a:r>
                      <a:r>
                        <a:rPr lang="en-US" altLang="ko-KR" sz="900" b="0" dirty="0">
                          <a:solidFill>
                            <a:srgbClr val="000000"/>
                          </a:solidFill>
                          <a:latin typeface="맑은 고딕"/>
                          <a:ea typeface="맑은 고딕"/>
                        </a:rPr>
                        <a:t>E2E Latency </a:t>
                      </a:r>
                      <a:r>
                        <a:rPr lang="ko-KR" altLang="en-US" sz="900" b="0" dirty="0">
                          <a:solidFill>
                            <a:srgbClr val="000000"/>
                          </a:solidFill>
                          <a:latin typeface="맑은 고딕"/>
                          <a:ea typeface="맑은 고딕"/>
                        </a:rPr>
                        <a:t>약 </a:t>
                      </a:r>
                      <a:r>
                        <a:rPr lang="en-US" altLang="ko-KR" sz="900" b="0" dirty="0">
                          <a:solidFill>
                            <a:srgbClr val="000000"/>
                          </a:solidFill>
                          <a:latin typeface="맑은 고딕"/>
                          <a:ea typeface="맑은 고딕"/>
                        </a:rPr>
                        <a:t>50~75%</a:t>
                      </a:r>
                      <a:r>
                        <a:rPr lang="en-US" altLang="ko-KR" sz="900" b="0" baseline="0" dirty="0">
                          <a:solidFill>
                            <a:srgbClr val="000000"/>
                          </a:solidFill>
                          <a:latin typeface="맑은 고딕"/>
                          <a:ea typeface="맑은 고딕"/>
                        </a:rPr>
                        <a:t> </a:t>
                      </a:r>
                      <a:r>
                        <a:rPr lang="ko-KR" altLang="en-US" sz="900" b="0" baseline="0" dirty="0">
                          <a:solidFill>
                            <a:srgbClr val="000000"/>
                          </a:solidFill>
                          <a:latin typeface="맑은 고딕"/>
                          <a:ea typeface="맑은 고딕"/>
                        </a:rPr>
                        <a:t>감소분의 하한</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marL="0" indent="0" algn="l">
                        <a:buFontTx/>
                        <a:buNone/>
                      </a:pPr>
                      <a:r>
                        <a:rPr lang="en-US" altLang="ko-KR" sz="900" b="0" dirty="0" err="1">
                          <a:solidFill>
                            <a:srgbClr val="000000"/>
                          </a:solidFill>
                          <a:latin typeface="맑은 고딕"/>
                          <a:ea typeface="맑은 고딕"/>
                        </a:rPr>
                        <a:t>LMLache</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2EFDA"/>
                    </a:solidFill>
                  </a:tcPr>
                </a:tc>
                <a:extLst>
                  <a:ext uri="{0D108BD9-81ED-4DB2-BD59-A6C34878D82A}">
                    <a16:rowId xmlns:a16="http://schemas.microsoft.com/office/drawing/2014/main" val="10001"/>
                  </a:ext>
                </a:extLst>
              </a:tr>
              <a:tr h="504000">
                <a:tc>
                  <a:txBody>
                    <a:bodyPr/>
                    <a:lstStyle/>
                    <a:p>
                      <a:pPr algn="ctr"/>
                      <a:r>
                        <a:rPr sz="900" b="0" dirty="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en-US" sz="900" b="0" dirty="0">
                          <a:solidFill>
                            <a:srgbClr val="000000"/>
                          </a:solidFill>
                          <a:latin typeface="맑은 고딕"/>
                          <a:ea typeface="맑은 고딕"/>
                        </a:rPr>
                        <a:t>1.5</a:t>
                      </a:r>
                      <a:r>
                        <a:rPr sz="900" b="0" dirty="0">
                          <a:solidFill>
                            <a:srgbClr val="000000"/>
                          </a:solidFill>
                          <a:latin typeface="맑은 고딕"/>
                          <a:ea typeface="맑은 고딕"/>
                        </a:rPr>
                        <a:t> ≤ r &lt; </a:t>
                      </a:r>
                      <a:r>
                        <a:rPr lang="en-US" sz="900" b="0" dirty="0">
                          <a:solidFill>
                            <a:srgbClr val="000000"/>
                          </a:solidFill>
                          <a:latin typeface="맑은 고딕"/>
                          <a:ea typeface="맑은 고딕"/>
                        </a:rPr>
                        <a:t>2.0 </a:t>
                      </a:r>
                      <a:r>
                        <a:rPr sz="900" b="0" dirty="0" err="1">
                          <a:solidFill>
                            <a:srgbClr val="000000"/>
                          </a:solidFill>
                          <a:latin typeface="맑은 고딕"/>
                          <a:ea typeface="맑은 고딕"/>
                        </a:rPr>
                        <a:t>그리고</a:t>
                      </a:r>
                      <a:r>
                        <a:rPr sz="900" b="0" dirty="0">
                          <a:solidFill>
                            <a:srgbClr val="000000"/>
                          </a:solidFill>
                          <a:latin typeface="맑은 고딕"/>
                          <a:ea typeface="맑은 고딕"/>
                        </a:rPr>
                        <a:t> SLO </a:t>
                      </a:r>
                      <a:r>
                        <a:rPr sz="900" b="0" dirty="0" err="1">
                          <a:solidFill>
                            <a:srgbClr val="000000"/>
                          </a:solidFill>
                          <a:latin typeface="맑은 고딕"/>
                          <a:ea typeface="맑은 고딕"/>
                        </a:rPr>
                        <a:t>충족</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ko-KR" altLang="en-US" sz="900" b="0" dirty="0">
                          <a:solidFill>
                            <a:srgbClr val="000000"/>
                          </a:solidFill>
                          <a:latin typeface="맑은 고딕"/>
                          <a:ea typeface="맑은 고딕"/>
                        </a:rPr>
                        <a:t>정책 선택</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ko-KR" altLang="en-US" sz="900" b="0" dirty="0">
                          <a:solidFill>
                            <a:srgbClr val="000000"/>
                          </a:solidFill>
                          <a:latin typeface="맑은 고딕"/>
                          <a:ea typeface="맑은 고딕"/>
                        </a:rPr>
                        <a:t>정책 선택</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extLst>
                  <a:ext uri="{0D108BD9-81ED-4DB2-BD59-A6C34878D82A}">
                    <a16:rowId xmlns:a16="http://schemas.microsoft.com/office/drawing/2014/main" val="10002"/>
                  </a:ext>
                </a:extLst>
              </a:tr>
              <a:tr h="504000">
                <a:tc>
                  <a:txBody>
                    <a:bodyPr/>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lang="en-US" altLang="ko-KR" sz="900" b="0" dirty="0">
                          <a:solidFill>
                            <a:srgbClr val="000000"/>
                          </a:solidFill>
                          <a:latin typeface="+mn-lt"/>
                          <a:ea typeface="맑은 고딕"/>
                        </a:rPr>
                        <a:t>1.3</a:t>
                      </a:r>
                      <a:r>
                        <a:rPr lang="ko-KR" altLang="en-US" sz="900" b="0" dirty="0">
                          <a:solidFill>
                            <a:srgbClr val="000000"/>
                          </a:solidFill>
                          <a:latin typeface="+mn-lt"/>
                          <a:ea typeface="맑은 고딕"/>
                        </a:rPr>
                        <a:t> ≤ </a:t>
                      </a:r>
                      <a:r>
                        <a:rPr lang="en-US" altLang="ko-KR" sz="900" b="0" dirty="0">
                          <a:solidFill>
                            <a:srgbClr val="000000"/>
                          </a:solidFill>
                          <a:latin typeface="+mn-lt"/>
                          <a:ea typeface="맑은 고딕"/>
                        </a:rPr>
                        <a:t>r &lt; 1.5</a:t>
                      </a:r>
                      <a:r>
                        <a:rPr lang="ko-KR" altLang="en-US" sz="900" b="0" dirty="0">
                          <a:solidFill>
                            <a:srgbClr val="000000"/>
                          </a:solidFill>
                          <a:latin typeface="+mn-lt"/>
                          <a:ea typeface="맑은 고딕"/>
                        </a:rPr>
                        <a:t> 그리고 </a:t>
                      </a:r>
                      <a:r>
                        <a:rPr lang="en-US" altLang="ko-KR" sz="900" b="0" dirty="0">
                          <a:solidFill>
                            <a:srgbClr val="000000"/>
                          </a:solidFill>
                          <a:latin typeface="+mn-lt"/>
                          <a:ea typeface="맑은 고딕"/>
                        </a:rPr>
                        <a:t>SLO </a:t>
                      </a:r>
                      <a:r>
                        <a:rPr lang="ko-KR" altLang="en-US" sz="900" b="0" dirty="0">
                          <a:solidFill>
                            <a:srgbClr val="000000"/>
                          </a:solidFill>
                          <a:latin typeface="+mn-lt"/>
                          <a:ea typeface="맑은 고딕"/>
                        </a:rPr>
                        <a:t>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b="0" dirty="0">
                          <a:solidFill>
                            <a:srgbClr val="000000"/>
                          </a:solidFill>
                          <a:latin typeface="+mn-lt"/>
                          <a:ea typeface="맑은 고딕"/>
                        </a:rPr>
                        <a:t>사용자 체감하는 응답시간 </a:t>
                      </a:r>
                      <a:r>
                        <a:rPr lang="ko-KR" altLang="en-US" sz="900" b="0" dirty="0" err="1">
                          <a:solidFill>
                            <a:srgbClr val="000000"/>
                          </a:solidFill>
                          <a:latin typeface="+mn-lt"/>
                          <a:ea typeface="맑은 고딕"/>
                        </a:rPr>
                        <a:t>개선률이</a:t>
                      </a:r>
                      <a:r>
                        <a:rPr lang="ko-KR" altLang="en-US" sz="900" b="0" dirty="0">
                          <a:solidFill>
                            <a:srgbClr val="000000"/>
                          </a:solidFill>
                          <a:latin typeface="+mn-lt"/>
                          <a:ea typeface="맑은 고딕"/>
                        </a:rPr>
                        <a:t> </a:t>
                      </a:r>
                      <a:r>
                        <a:rPr lang="en-US" altLang="ko-KR" sz="900" b="0" dirty="0">
                          <a:solidFill>
                            <a:srgbClr val="000000"/>
                          </a:solidFill>
                          <a:latin typeface="+mn-lt"/>
                          <a:ea typeface="맑은 고딕"/>
                        </a:rPr>
                        <a:t>30% </a:t>
                      </a:r>
                      <a:endParaRPr lang="ko-KR" altLang="en-US" sz="90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t>Anthropic (Claude Haiku 5.5 Release / Industry Benchmark)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round/>
                      <a:headEnd type="none" w="med" len="med"/>
                      <a:tailEnd type="none" w="med" len="med"/>
                    </a:lnT>
                    <a:lnB w="6350" cap="flat" cmpd="sng" algn="ctr">
                      <a:solidFill>
                        <a:srgbClr val="BFBFBF"/>
                      </a:solidFill>
                      <a:prstDash val="solid"/>
                    </a:lnB>
                    <a:solidFill>
                      <a:srgbClr val="FBE5D6"/>
                    </a:solidFill>
                  </a:tcPr>
                </a:tc>
                <a:extLst>
                  <a:ext uri="{0D108BD9-81ED-4DB2-BD59-A6C34878D82A}">
                    <a16:rowId xmlns:a16="http://schemas.microsoft.com/office/drawing/2014/main" val="10003"/>
                  </a:ext>
                </a:extLst>
              </a:tr>
            </a:tbl>
          </a:graphicData>
        </a:graphic>
      </p:graphicFrame>
      <p:sp>
        <p:nvSpPr>
          <p:cNvPr id="12" name="l"/>
          <p:cNvSpPr txBox="1"/>
          <p:nvPr/>
        </p:nvSpPr>
        <p:spPr>
          <a:xfrm>
            <a:off x="365760" y="3562541"/>
            <a:ext cx="8098790" cy="558614"/>
          </a:xfrm>
          <a:prstGeom prst="rect">
            <a:avLst/>
          </a:prstGeom>
          <a:noFill/>
        </p:spPr>
        <p:txBody>
          <a:bodyPr wrap="square" lIns="73152" tIns="36576" rIns="73152" bIns="36576" anchor="t">
            <a:spAutoFit/>
          </a:bodyPr>
          <a:lstStyle/>
          <a:p>
            <a:pPr algn="l">
              <a:spcAft>
                <a:spcPts val="250"/>
              </a:spcAft>
            </a:pPr>
            <a:r>
              <a:rPr lang="en-US" sz="950" b="1" dirty="0">
                <a:solidFill>
                  <a:srgbClr val="2F5597"/>
                </a:solidFill>
                <a:latin typeface="맑은 고딕"/>
                <a:ea typeface="맑은 고딕"/>
              </a:rPr>
              <a:t>P99</a:t>
            </a:r>
            <a:r>
              <a:rPr lang="ko-KR" altLang="en-US" sz="950" b="1" dirty="0">
                <a:solidFill>
                  <a:srgbClr val="2F5597"/>
                </a:solidFill>
                <a:latin typeface="맑은 고딕"/>
                <a:ea typeface="맑은 고딕"/>
              </a:rPr>
              <a:t>의 의미 </a:t>
            </a:r>
            <a:endParaRPr sz="950" b="1" dirty="0">
              <a:solidFill>
                <a:srgbClr val="2F5597"/>
              </a:solidFill>
              <a:latin typeface="맑은 고딕"/>
              <a:ea typeface="맑은 고딕"/>
            </a:endParaRPr>
          </a:p>
          <a:p>
            <a:pPr>
              <a:spcAft>
                <a:spcPts val="250"/>
              </a:spcAft>
            </a:pPr>
            <a:r>
              <a:rPr sz="850" b="0" dirty="0">
                <a:solidFill>
                  <a:srgbClr val="000000"/>
                </a:solidFill>
                <a:latin typeface="맑은 고딕"/>
                <a:ea typeface="맑은 고딕"/>
              </a:rPr>
              <a:t>•</a:t>
            </a:r>
            <a:r>
              <a:rPr lang="en-US" sz="850" dirty="0">
                <a:solidFill>
                  <a:srgbClr val="000000"/>
                </a:solidFill>
                <a:latin typeface="맑은 고딕"/>
                <a:ea typeface="맑은 고딕"/>
              </a:rPr>
              <a:t> </a:t>
            </a:r>
            <a:r>
              <a:rPr lang="ko-KR" altLang="en-US" sz="850" dirty="0">
                <a:solidFill>
                  <a:srgbClr val="000000"/>
                </a:solidFill>
                <a:latin typeface="맑은 고딕"/>
                <a:ea typeface="맑은 고딕"/>
              </a:rPr>
              <a:t>평균 지연시간이 은폐하는 상위 </a:t>
            </a:r>
            <a:r>
              <a:rPr lang="en-US" altLang="ko-KR" sz="850" dirty="0">
                <a:solidFill>
                  <a:srgbClr val="000000"/>
                </a:solidFill>
                <a:latin typeface="맑은 고딕"/>
                <a:ea typeface="맑은 고딕"/>
              </a:rPr>
              <a:t>1%</a:t>
            </a:r>
            <a:r>
              <a:rPr lang="ko-KR" altLang="en-US" sz="850" dirty="0">
                <a:solidFill>
                  <a:srgbClr val="000000"/>
                </a:solidFill>
                <a:latin typeface="맑은 고딕"/>
                <a:ea typeface="맑은 고딕"/>
              </a:rPr>
              <a:t>의 극단적 지연을 포착하여</a:t>
            </a:r>
            <a:r>
              <a:rPr lang="en-US" altLang="ko-KR" sz="850" dirty="0">
                <a:solidFill>
                  <a:srgbClr val="000000"/>
                </a:solidFill>
                <a:latin typeface="맑은 고딕"/>
                <a:ea typeface="맑은 고딕"/>
              </a:rPr>
              <a:t>, </a:t>
            </a:r>
            <a:r>
              <a:rPr lang="ko-KR" altLang="en-US" sz="850" dirty="0">
                <a:solidFill>
                  <a:srgbClr val="000000"/>
                </a:solidFill>
                <a:latin typeface="맑은 고딕"/>
                <a:ea typeface="맑은 고딕"/>
              </a:rPr>
              <a:t>대규모 동시 요청 환경에서 발생하는 </a:t>
            </a:r>
            <a:r>
              <a:rPr lang="en-US" altLang="ko-KR" sz="850" b="1" dirty="0">
                <a:solidFill>
                  <a:srgbClr val="000000"/>
                </a:solidFill>
                <a:latin typeface="맑은 고딕"/>
                <a:ea typeface="맑은 고딕"/>
              </a:rPr>
              <a:t>Tail Latency </a:t>
            </a:r>
            <a:r>
              <a:rPr lang="ko-KR" altLang="en-US" sz="850" b="1" dirty="0">
                <a:solidFill>
                  <a:srgbClr val="000000"/>
                </a:solidFill>
                <a:latin typeface="맑은 고딕"/>
                <a:ea typeface="맑은 고딕"/>
              </a:rPr>
              <a:t>병목 현상과 서비스 멈춤</a:t>
            </a:r>
            <a:r>
              <a:rPr lang="en-US" altLang="ko-KR" sz="850" b="1" dirty="0">
                <a:solidFill>
                  <a:srgbClr val="000000"/>
                </a:solidFill>
                <a:latin typeface="맑은 고딕"/>
                <a:ea typeface="맑은 고딕"/>
              </a:rPr>
              <a:t>/</a:t>
            </a:r>
            <a:r>
              <a:rPr lang="ko-KR" altLang="en-US" sz="850" b="1" dirty="0">
                <a:solidFill>
                  <a:srgbClr val="000000"/>
                </a:solidFill>
                <a:latin typeface="맑은 고딕"/>
                <a:ea typeface="맑은 고딕"/>
              </a:rPr>
              <a:t>끊김을 명확히 검증</a:t>
            </a:r>
            <a:endParaRPr lang="en-US" altLang="ko-KR" sz="850" b="1" dirty="0">
              <a:solidFill>
                <a:srgbClr val="000000"/>
              </a:solidFill>
              <a:latin typeface="맑은 고딕"/>
              <a:ea typeface="맑은 고딕"/>
            </a:endParaRPr>
          </a:p>
          <a:p>
            <a:pPr algn="l">
              <a:spcAft>
                <a:spcPts val="250"/>
              </a:spcAft>
            </a:pPr>
            <a:r>
              <a:rPr lang="en-US" altLang="ko-KR" sz="850" b="1" dirty="0">
                <a:solidFill>
                  <a:srgbClr val="0000FF"/>
                </a:solidFill>
                <a:latin typeface="맑은 고딕"/>
                <a:ea typeface="맑은 고딕"/>
              </a:rPr>
              <a:t>• </a:t>
            </a:r>
            <a:r>
              <a:rPr lang="ko-KR" altLang="en-US" sz="850" b="1" dirty="0">
                <a:solidFill>
                  <a:srgbClr val="0000FF"/>
                </a:solidFill>
                <a:latin typeface="맑은 고딕"/>
                <a:ea typeface="맑은 고딕"/>
              </a:rPr>
              <a:t>처리량</a:t>
            </a:r>
            <a:r>
              <a:rPr lang="en-US" altLang="ko-KR" sz="850" b="1" dirty="0">
                <a:solidFill>
                  <a:srgbClr val="0000FF"/>
                </a:solidFill>
                <a:latin typeface="맑은 고딕"/>
                <a:ea typeface="맑은 고딕"/>
              </a:rPr>
              <a:t> </a:t>
            </a:r>
            <a:r>
              <a:rPr lang="ko-KR" altLang="en-US" sz="850" b="1" dirty="0">
                <a:solidFill>
                  <a:srgbClr val="0000FF"/>
                </a:solidFill>
                <a:latin typeface="맑은 고딕"/>
                <a:ea typeface="맑은 고딕"/>
              </a:rPr>
              <a:t>증대만으로는 측정할 수 없는 실제 사용자의 반응 속도 및 응답 품질 안전성 평가 필요 </a:t>
            </a:r>
            <a:endParaRPr lang="en-US" altLang="ko-KR" sz="850" b="1" dirty="0">
              <a:solidFill>
                <a:srgbClr val="0000FF"/>
              </a:solidFill>
              <a:latin typeface="맑은 고딕"/>
              <a:ea typeface="맑은 고딕"/>
            </a:endParaRPr>
          </a:p>
        </p:txBody>
      </p:sp>
      <p:pic>
        <p:nvPicPr>
          <p:cNvPr id="14" name="그림 13"/>
          <p:cNvPicPr>
            <a:picLocks noChangeAspect="1"/>
          </p:cNvPicPr>
          <p:nvPr/>
        </p:nvPicPr>
        <p:blipFill rotWithShape="1">
          <a:blip r:embed="rId3"/>
          <a:srcRect l="3011" r="635" b="11226"/>
          <a:stretch/>
        </p:blipFill>
        <p:spPr>
          <a:xfrm>
            <a:off x="457745" y="4217543"/>
            <a:ext cx="3870488" cy="1756171"/>
          </a:xfrm>
          <a:prstGeom prst="rect">
            <a:avLst/>
          </a:prstGeom>
        </p:spPr>
      </p:pic>
      <p:sp>
        <p:nvSpPr>
          <p:cNvPr id="15" name="실행 단추: 뒤로 또는 이전 14">
            <a:hlinkClick r:id="rId4"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133982590"/>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lang="en-US" sz="2200" b="1" dirty="0">
                <a:solidFill>
                  <a:srgbClr val="2F5597"/>
                </a:solidFill>
                <a:latin typeface="맑은 고딕"/>
                <a:ea typeface="맑은 고딕"/>
              </a:rPr>
              <a:t>SLO </a:t>
            </a:r>
            <a:r>
              <a:rPr lang="ko-KR" altLang="en-US" sz="2200" b="1" dirty="0">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en-US" sz="1100" b="0" dirty="0">
                <a:solidFill>
                  <a:srgbClr val="404040"/>
                </a:solidFill>
                <a:latin typeface="맑은 고딕"/>
                <a:ea typeface="맑은 고딕"/>
              </a:rPr>
              <a:t>TTFT (</a:t>
            </a:r>
            <a:r>
              <a:rPr lang="ko-KR" altLang="en-US" sz="1100" b="0" dirty="0">
                <a:solidFill>
                  <a:srgbClr val="404040"/>
                </a:solidFill>
                <a:latin typeface="맑은 고딕"/>
                <a:ea typeface="맑은 고딕"/>
              </a:rPr>
              <a:t>첫 토큰 생성 시간</a:t>
            </a:r>
            <a:r>
              <a:rPr lang="en-US" altLang="ko-KR" sz="1100" dirty="0">
                <a:solidFill>
                  <a:srgbClr val="404040"/>
                </a:solidFill>
                <a:latin typeface="맑은 고딕"/>
                <a:ea typeface="맑은 고딕"/>
              </a:rPr>
              <a:t>), TPOT (</a:t>
            </a:r>
            <a:r>
              <a:rPr lang="ko-KR" altLang="en-US" sz="1100" dirty="0">
                <a:solidFill>
                  <a:srgbClr val="404040"/>
                </a:solidFill>
                <a:latin typeface="맑은 고딕"/>
                <a:ea typeface="맑은 고딕"/>
              </a:rPr>
              <a:t>출력 토큰 당 생성 시간</a:t>
            </a:r>
            <a:r>
              <a:rPr lang="en-US" altLang="ko-KR" sz="1100" dirty="0">
                <a:solidFill>
                  <a:srgbClr val="404040"/>
                </a:solidFill>
                <a:latin typeface="맑은 고딕"/>
                <a:ea typeface="맑은 고딕"/>
              </a:rPr>
              <a:t>)</a:t>
            </a:r>
            <a:r>
              <a:rPr lang="ko-KR" altLang="en-US" sz="1100" dirty="0">
                <a:solidFill>
                  <a:srgbClr val="404040"/>
                </a:solidFill>
                <a:latin typeface="맑은 고딕"/>
                <a:ea typeface="맑은 고딕"/>
              </a:rPr>
              <a:t> </a:t>
            </a:r>
            <a:endParaRPr lang="en-US"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ule">
            <a:extLst>
              <a:ext uri="{FF2B5EF4-FFF2-40B4-BE49-F238E27FC236}">
                <a16:creationId xmlns:a16="http://schemas.microsoft.com/office/drawing/2014/main" id="{E59FBD5E-EE7A-4E5C-B30A-B3580FC7AC4A}"/>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rc">
            <a:extLst>
              <a:ext uri="{FF2B5EF4-FFF2-40B4-BE49-F238E27FC236}">
                <a16:creationId xmlns:a16="http://schemas.microsoft.com/office/drawing/2014/main" id="{FEA960A6-A515-43A7-BDBC-1B6B4BB6076E}"/>
              </a:ext>
            </a:extLst>
          </p:cNvPr>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공통 SLO 기준 · MLPerf Inference(2차) · Brysbaert 2019. 계산: 가중치 141 GB, H100×8 3.35 TB/s·989 TFLOPS, B200×8 8 TB/s, MFU 0.45. 하한은 attention 2차 항·통신·커널 제외</a:t>
            </a:r>
          </a:p>
        </p:txBody>
      </p:sp>
      <p:graphicFrame>
        <p:nvGraphicFramePr>
          <p:cNvPr id="11" name="tbl">
            <a:extLst>
              <a:ext uri="{FF2B5EF4-FFF2-40B4-BE49-F238E27FC236}">
                <a16:creationId xmlns:a16="http://schemas.microsoft.com/office/drawing/2014/main" id="{61E826B9-5804-4A38-B35A-8FE9A0FE6FCA}"/>
              </a:ext>
            </a:extLst>
          </p:cNvPr>
          <p:cNvGraphicFramePr>
            <a:graphicFrameLocks noGrp="1"/>
          </p:cNvGraphicFramePr>
          <p:nvPr>
            <p:extLst>
              <p:ext uri="{D42A27DB-BD31-4B8C-83A1-F6EECF244321}">
                <p14:modId xmlns:p14="http://schemas.microsoft.com/office/powerpoint/2010/main" val="2291923469"/>
              </p:ext>
            </p:extLst>
          </p:nvPr>
        </p:nvGraphicFramePr>
        <p:xfrm>
          <a:off x="365760" y="1143000"/>
          <a:ext cx="11457432" cy="1737360"/>
        </p:xfrm>
        <a:graphic>
          <a:graphicData uri="http://schemas.openxmlformats.org/drawingml/2006/table">
            <a:tbl>
              <a:tblPr>
                <a:tableStyleId>{2D5ABB26-0587-4C30-8999-92F81FD0307C}</a:tableStyleId>
              </a:tblPr>
              <a:tblGrid>
                <a:gridCol w="13716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5696712">
                  <a:extLst>
                    <a:ext uri="{9D8B030D-6E8A-4147-A177-3AD203B41FA5}">
                      <a16:colId xmlns:a16="http://schemas.microsoft.com/office/drawing/2014/main" val="20003"/>
                    </a:ext>
                  </a:extLst>
                </a:gridCol>
              </a:tblGrid>
              <a:tr h="237744">
                <a:tc>
                  <a:txBody>
                    <a:bodyPr/>
                    <a:lstStyle/>
                    <a:p>
                      <a:pPr algn="ctr"/>
                      <a:r>
                        <a:rPr sz="1000" b="1" dirty="0">
                          <a:solidFill>
                            <a:srgbClr val="FFFFFF"/>
                          </a:solidFill>
                          <a:latin typeface="맑은 고딕"/>
                          <a:ea typeface="맑은 고딕"/>
                        </a:rPr>
                        <a:t>Metric</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측정 정의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dirty="0" err="1">
                          <a:solidFill>
                            <a:srgbClr val="FFFFFF"/>
                          </a:solidFill>
                          <a:latin typeface="맑은 고딕"/>
                          <a:ea typeface="맑은 고딕"/>
                        </a:rPr>
                        <a:t>절대</a:t>
                      </a:r>
                      <a:r>
                        <a:rPr sz="1000" b="1" dirty="0">
                          <a:solidFill>
                            <a:srgbClr val="FFFFFF"/>
                          </a:solidFill>
                          <a:latin typeface="맑은 고딕"/>
                          <a:ea typeface="맑은 고딕"/>
                        </a:rPr>
                        <a:t> SLO</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dirty="0" err="1">
                          <a:solidFill>
                            <a:srgbClr val="FFFFFF"/>
                          </a:solidFill>
                          <a:latin typeface="맑은 고딕"/>
                          <a:ea typeface="맑은 고딕"/>
                        </a:rPr>
                        <a:t>근거</a:t>
                      </a:r>
                      <a:r>
                        <a:rPr sz="1000" b="1" dirty="0">
                          <a:solidFill>
                            <a:srgbClr val="FFFFFF"/>
                          </a:solidFill>
                          <a:latin typeface="맑은 고딕"/>
                          <a:ea typeface="맑은 고딕"/>
                        </a:rPr>
                        <a:t> (</a:t>
                      </a:r>
                      <a:r>
                        <a:rPr sz="1000" b="1" dirty="0" err="1">
                          <a:solidFill>
                            <a:srgbClr val="FFFFFF"/>
                          </a:solidFill>
                          <a:latin typeface="맑은 고딕"/>
                          <a:ea typeface="맑은 고딕"/>
                        </a:rPr>
                        <a:t>계산</a:t>
                      </a:r>
                      <a:r>
                        <a:rPr sz="10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solidFill>
                      <a:srgbClr val="2F5597"/>
                    </a:solidFill>
                  </a:tcPr>
                </a:tc>
                <a:extLst>
                  <a:ext uri="{0D108BD9-81ED-4DB2-BD59-A6C34878D82A}">
                    <a16:rowId xmlns:a16="http://schemas.microsoft.com/office/drawing/2014/main" val="10000"/>
                  </a:ext>
                </a:extLst>
              </a:tr>
              <a:tr h="749808">
                <a:tc>
                  <a:txBody>
                    <a:bodyPr/>
                    <a:lstStyle/>
                    <a:p>
                      <a:pPr algn="l">
                        <a:lnSpc>
                          <a:spcPct val="150000"/>
                        </a:lnSpc>
                      </a:pPr>
                      <a:r>
                        <a:rPr sz="900" b="0" dirty="0">
                          <a:solidFill>
                            <a:srgbClr val="000000"/>
                          </a:solidFill>
                          <a:latin typeface="맑은 고딕"/>
                          <a:ea typeface="맑은 고딕"/>
                        </a:rPr>
                        <a:t>TTFT</a:t>
                      </a:r>
                      <a:endParaRPr lang="en-US" sz="900" b="0" dirty="0">
                        <a:solidFill>
                          <a:srgbClr val="000000"/>
                        </a:solidFill>
                        <a:latin typeface="맑은 고딕"/>
                        <a:ea typeface="맑은 고딕"/>
                      </a:endParaRPr>
                    </a:p>
                    <a:p>
                      <a:pPr algn="l">
                        <a:lnSpc>
                          <a:spcPct val="150000"/>
                        </a:lnSpc>
                      </a:pPr>
                      <a:r>
                        <a:rPr lang="en-US" sz="900" b="0" dirty="0">
                          <a:solidFill>
                            <a:srgbClr val="000000"/>
                          </a:solidFill>
                          <a:latin typeface="맑은 고딕"/>
                          <a:ea typeface="맑은 고딕"/>
                        </a:rPr>
                        <a:t>(Time To First Token, </a:t>
                      </a:r>
                      <a:r>
                        <a:rPr sz="900" b="0" dirty="0">
                          <a:solidFill>
                            <a:srgbClr val="000000"/>
                          </a:solidFill>
                          <a:latin typeface="맑은 고딕"/>
                          <a:ea typeface="맑은 고딕"/>
                        </a:rPr>
                        <a:t>첫 </a:t>
                      </a:r>
                      <a:r>
                        <a:rPr sz="900" b="0" dirty="0" err="1">
                          <a:solidFill>
                            <a:srgbClr val="000000"/>
                          </a:solidFill>
                          <a:latin typeface="맑은 고딕"/>
                          <a:ea typeface="맑은 고딕"/>
                        </a:rPr>
                        <a:t>토큰까지의</a:t>
                      </a:r>
                      <a:r>
                        <a:rPr sz="900" b="0" dirty="0">
                          <a:solidFill>
                            <a:srgbClr val="000000"/>
                          </a:solidFill>
                          <a:latin typeface="맑은 고딕"/>
                          <a:ea typeface="맑은 고딕"/>
                        </a:rPr>
                        <a:t> </a:t>
                      </a:r>
                      <a:r>
                        <a:rPr sz="900" b="0" dirty="0" err="1">
                          <a:solidFill>
                            <a:srgbClr val="000000"/>
                          </a:solidFill>
                          <a:latin typeface="맑은 고딕"/>
                          <a:ea typeface="맑은 고딕"/>
                        </a:rPr>
                        <a:t>시간</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50000"/>
                        </a:lnSpc>
                      </a:pPr>
                      <a:r>
                        <a:rPr sz="900" b="0" dirty="0" err="1">
                          <a:solidFill>
                            <a:srgbClr val="000000"/>
                          </a:solidFill>
                          <a:latin typeface="맑은 고딕"/>
                          <a:ea typeface="맑은 고딕"/>
                        </a:rPr>
                        <a:t>요청</a:t>
                      </a:r>
                      <a:r>
                        <a:rPr sz="900" b="0" dirty="0">
                          <a:solidFill>
                            <a:srgbClr val="000000"/>
                          </a:solidFill>
                          <a:latin typeface="맑은 고딕"/>
                          <a:ea typeface="맑은 고딕"/>
                        </a:rPr>
                        <a:t> </a:t>
                      </a:r>
                      <a:r>
                        <a:rPr sz="900" b="0" dirty="0" err="1">
                          <a:solidFill>
                            <a:srgbClr val="000000"/>
                          </a:solidFill>
                          <a:latin typeface="맑은 고딕"/>
                          <a:ea typeface="맑은 고딕"/>
                        </a:rPr>
                        <a:t>도착</a:t>
                      </a:r>
                      <a:r>
                        <a:rPr sz="900" b="0" dirty="0">
                          <a:solidFill>
                            <a:srgbClr val="000000"/>
                          </a:solidFill>
                          <a:latin typeface="맑은 고딕"/>
                          <a:ea typeface="맑은 고딕"/>
                        </a:rPr>
                        <a:t> → 첫 </a:t>
                      </a:r>
                      <a:r>
                        <a:rPr sz="900" b="0" dirty="0" err="1">
                          <a:solidFill>
                            <a:srgbClr val="000000"/>
                          </a:solidFill>
                          <a:latin typeface="맑은 고딕"/>
                          <a:ea typeface="맑은 고딕"/>
                        </a:rPr>
                        <a:t>출력</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수신</a:t>
                      </a:r>
                      <a:r>
                        <a:rPr sz="900" b="0" dirty="0">
                          <a:solidFill>
                            <a:srgbClr val="000000"/>
                          </a:solidFill>
                          <a:latin typeface="맑은 고딕"/>
                          <a:ea typeface="맑은 고딕"/>
                        </a:rPr>
                        <a:t>. </a:t>
                      </a:r>
                      <a:endParaRPr lang="en-US" sz="900" b="0" dirty="0">
                        <a:solidFill>
                          <a:srgbClr val="000000"/>
                        </a:solidFill>
                        <a:latin typeface="맑은 고딕"/>
                        <a:ea typeface="맑은 고딕"/>
                      </a:endParaRPr>
                    </a:p>
                    <a:p>
                      <a:pPr algn="l">
                        <a:lnSpc>
                          <a:spcPct val="150000"/>
                        </a:lnSpc>
                      </a:pPr>
                      <a:r>
                        <a:rPr sz="900" b="0" dirty="0" err="1">
                          <a:solidFill>
                            <a:srgbClr val="000000"/>
                          </a:solidFill>
                          <a:latin typeface="맑은 고딕"/>
                          <a:ea typeface="맑은 고딕"/>
                        </a:rPr>
                        <a:t>큐잉</a:t>
                      </a:r>
                      <a:r>
                        <a:rPr sz="900" b="0" dirty="0">
                          <a:solidFill>
                            <a:srgbClr val="000000"/>
                          </a:solidFill>
                          <a:latin typeface="맑은 고딕"/>
                          <a:ea typeface="맑은 고딕"/>
                        </a:rPr>
                        <a:t> + prefill + (</a:t>
                      </a:r>
                      <a:r>
                        <a:rPr sz="900" b="0" dirty="0" err="1">
                          <a:solidFill>
                            <a:srgbClr val="000000"/>
                          </a:solidFill>
                          <a:latin typeface="맑은 고딕"/>
                          <a:ea typeface="맑은 고딕"/>
                        </a:rPr>
                        <a:t>필요</a:t>
                      </a:r>
                      <a:r>
                        <a:rPr sz="900" b="0" dirty="0">
                          <a:solidFill>
                            <a:srgbClr val="000000"/>
                          </a:solidFill>
                          <a:latin typeface="맑은 고딕"/>
                          <a:ea typeface="맑은 고딕"/>
                        </a:rPr>
                        <a:t> 시) KV </a:t>
                      </a:r>
                      <a:r>
                        <a:rPr sz="900" b="0" dirty="0" err="1">
                          <a:solidFill>
                            <a:srgbClr val="000000"/>
                          </a:solidFill>
                          <a:latin typeface="맑은 고딕"/>
                          <a:ea typeface="맑은 고딕"/>
                        </a:rPr>
                        <a:t>복원</a:t>
                      </a:r>
                      <a:r>
                        <a:rPr sz="900" b="0" dirty="0">
                          <a:solidFill>
                            <a:srgbClr val="000000"/>
                          </a:solidFill>
                          <a:latin typeface="맑은 고딕"/>
                          <a:ea typeface="맑은 고딕"/>
                        </a:rPr>
                        <a:t> </a:t>
                      </a:r>
                      <a:r>
                        <a:rPr sz="900" b="0" dirty="0" err="1">
                          <a:solidFill>
                            <a:srgbClr val="000000"/>
                          </a:solidFill>
                          <a:latin typeface="맑은 고딕"/>
                          <a:ea typeface="맑은 고딕"/>
                        </a:rPr>
                        <a:t>시간</a:t>
                      </a:r>
                      <a:r>
                        <a:rPr sz="900" b="0" dirty="0">
                          <a:solidFill>
                            <a:srgbClr val="000000"/>
                          </a:solidFill>
                          <a:latin typeface="맑은 고딕"/>
                          <a:ea typeface="맑은 고딕"/>
                        </a:rPr>
                        <a:t> </a:t>
                      </a:r>
                      <a:r>
                        <a:rPr sz="900" b="0" dirty="0" err="1">
                          <a:solidFill>
                            <a:srgbClr val="000000"/>
                          </a:solidFill>
                          <a:latin typeface="맑은 고딕"/>
                          <a:ea typeface="맑은 고딕"/>
                        </a:rPr>
                        <a:t>포함</a:t>
                      </a:r>
                      <a:r>
                        <a:rPr sz="900" b="0" dirty="0">
                          <a:solidFill>
                            <a:srgbClr val="000000"/>
                          </a:solidFill>
                          <a:latin typeface="맑은 고딕"/>
                          <a:ea typeface="맑은 고딕"/>
                        </a:rPr>
                        <a:t>. </a:t>
                      </a:r>
                      <a:endParaRPr lang="en-US"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lnSpc>
                          <a:spcPct val="150000"/>
                        </a:lnSpc>
                      </a:pPr>
                      <a:r>
                        <a:rPr sz="900" b="1" dirty="0">
                          <a:solidFill>
                            <a:srgbClr val="000000"/>
                          </a:solidFill>
                          <a:latin typeface="맑은 고딕"/>
                          <a:ea typeface="맑은 고딕"/>
                        </a:rPr>
                        <a:t>TTFT </a:t>
                      </a:r>
                      <a:r>
                        <a:rPr lang="ko-KR" altLang="en-US" sz="900" b="1" dirty="0">
                          <a:solidFill>
                            <a:srgbClr val="000000"/>
                          </a:solidFill>
                          <a:latin typeface="맑은 고딕"/>
                          <a:ea typeface="맑은 고딕"/>
                        </a:rPr>
                        <a:t>≤</a:t>
                      </a:r>
                      <a:r>
                        <a:rPr sz="900" b="1" dirty="0">
                          <a:solidFill>
                            <a:srgbClr val="000000"/>
                          </a:solidFill>
                          <a:latin typeface="맑은 고딕"/>
                          <a:ea typeface="맑은 고딕"/>
                        </a:rPr>
                        <a:t> 2 s</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tcPr>
                </a:tc>
                <a:tc>
                  <a:txBody>
                    <a:bodyPr/>
                    <a:lstStyle/>
                    <a:p>
                      <a:pPr marL="171450" indent="-171450" algn="l">
                        <a:lnSpc>
                          <a:spcPct val="150000"/>
                        </a:lnSpc>
                        <a:buFontTx/>
                        <a:buChar char="-"/>
                      </a:pPr>
                      <a:r>
                        <a:rPr lang="en-US" altLang="ko-KR" sz="900" b="0" dirty="0">
                          <a:solidFill>
                            <a:srgbClr val="000000"/>
                          </a:solidFill>
                          <a:latin typeface="+mn-lt"/>
                          <a:ea typeface="맑은 고딕"/>
                        </a:rPr>
                        <a:t>Llama-2-70B 8K prefill </a:t>
                      </a:r>
                      <a:r>
                        <a:rPr lang="ko-KR" altLang="en-US" sz="900" b="0" dirty="0">
                          <a:solidFill>
                            <a:srgbClr val="000000"/>
                          </a:solidFill>
                          <a:latin typeface="+mn-lt"/>
                          <a:ea typeface="맑은 고딕"/>
                        </a:rPr>
                        <a:t>이론 </a:t>
                      </a:r>
                      <a:r>
                        <a:rPr lang="en-US" altLang="ko-KR" sz="900" b="0" dirty="0">
                          <a:solidFill>
                            <a:srgbClr val="000000"/>
                          </a:solidFill>
                          <a:latin typeface="+mn-lt"/>
                          <a:ea typeface="맑은 고딕"/>
                        </a:rPr>
                        <a:t>0.32</a:t>
                      </a:r>
                      <a:r>
                        <a:rPr lang="ko-KR" altLang="en-US" sz="900" b="0" dirty="0">
                          <a:solidFill>
                            <a:srgbClr val="000000"/>
                          </a:solidFill>
                          <a:latin typeface="+mn-lt"/>
                          <a:ea typeface="맑은 고딕"/>
                        </a:rPr>
                        <a:t>초</a:t>
                      </a:r>
                      <a:r>
                        <a:rPr lang="en-US" altLang="ko-KR" sz="900" b="0" dirty="0">
                          <a:solidFill>
                            <a:srgbClr val="000000"/>
                          </a:solidFill>
                          <a:latin typeface="+mn-lt"/>
                          <a:ea typeface="맑은 고딕"/>
                        </a:rPr>
                        <a:t>(H100×8, MFU 0.45)</a:t>
                      </a:r>
                      <a:r>
                        <a:rPr lang="ko-KR" altLang="en-US" sz="900" b="0" dirty="0">
                          <a:solidFill>
                            <a:srgbClr val="000000"/>
                          </a:solidFill>
                          <a:latin typeface="+mn-lt"/>
                          <a:ea typeface="맑은 고딕"/>
                        </a:rPr>
                        <a:t>의 약 </a:t>
                      </a:r>
                      <a:r>
                        <a:rPr lang="en-US" altLang="ko-KR" sz="900" b="0" dirty="0">
                          <a:solidFill>
                            <a:srgbClr val="000000"/>
                          </a:solidFill>
                          <a:latin typeface="+mn-lt"/>
                          <a:ea typeface="맑은 고딕"/>
                        </a:rPr>
                        <a:t>6</a:t>
                      </a:r>
                      <a:r>
                        <a:rPr lang="ko-KR" altLang="en-US" sz="900" b="0" dirty="0">
                          <a:solidFill>
                            <a:srgbClr val="000000"/>
                          </a:solidFill>
                          <a:latin typeface="+mn-lt"/>
                          <a:ea typeface="맑은 고딕"/>
                        </a:rPr>
                        <a:t>배</a:t>
                      </a:r>
                      <a:r>
                        <a:rPr lang="en-US" altLang="ko-KR" sz="900" b="0" dirty="0">
                          <a:solidFill>
                            <a:srgbClr val="000000"/>
                          </a:solidFill>
                          <a:latin typeface="+mn-lt"/>
                          <a:ea typeface="맑은 고딕"/>
                        </a:rPr>
                        <a:t>(</a:t>
                      </a:r>
                      <a:r>
                        <a:rPr lang="ko-KR" altLang="en-US" sz="900" b="0" dirty="0" err="1">
                          <a:solidFill>
                            <a:srgbClr val="000000"/>
                          </a:solidFill>
                          <a:latin typeface="+mn-lt"/>
                          <a:ea typeface="맑은 고딕"/>
                        </a:rPr>
                        <a:t>큐잉</a:t>
                      </a:r>
                      <a:r>
                        <a:rPr lang="ko-KR" altLang="en-US" sz="900" b="0" dirty="0">
                          <a:solidFill>
                            <a:srgbClr val="000000"/>
                          </a:solidFill>
                          <a:latin typeface="+mn-lt"/>
                          <a:ea typeface="맑은 고딕"/>
                        </a:rPr>
                        <a:t> 여유</a:t>
                      </a:r>
                      <a:r>
                        <a:rPr lang="en-US" altLang="ko-KR" sz="900" b="0" dirty="0">
                          <a:solidFill>
                            <a:srgbClr val="000000"/>
                          </a:solidFill>
                          <a:latin typeface="+mn-lt"/>
                          <a:ea typeface="맑은 고딕"/>
                        </a:rPr>
                        <a:t>). </a:t>
                      </a:r>
                    </a:p>
                    <a:p>
                      <a:pPr marL="171450" indent="-171450" algn="l">
                        <a:lnSpc>
                          <a:spcPct val="150000"/>
                        </a:lnSpc>
                        <a:buFontTx/>
                        <a:buChar char="-"/>
                      </a:pPr>
                      <a:r>
                        <a:rPr lang="en-US" altLang="ko-KR" sz="900" b="0" dirty="0" err="1">
                          <a:solidFill>
                            <a:srgbClr val="000000"/>
                          </a:solidFill>
                          <a:latin typeface="+mn-lt"/>
                          <a:ea typeface="맑은 고딕"/>
                        </a:rPr>
                        <a:t>MLPerf</a:t>
                      </a:r>
                      <a:r>
                        <a:rPr lang="ko-KR" altLang="en-US" sz="900" b="0" dirty="0">
                          <a:solidFill>
                            <a:srgbClr val="000000"/>
                          </a:solidFill>
                          <a:latin typeface="+mn-lt"/>
                          <a:ea typeface="맑은 고딕"/>
                        </a:rPr>
                        <a:t> </a:t>
                      </a:r>
                      <a:r>
                        <a:rPr lang="en-US" altLang="ko-KR" sz="900" b="0" dirty="0">
                          <a:solidFill>
                            <a:srgbClr val="000000"/>
                          </a:solidFill>
                          <a:latin typeface="+mn-lt"/>
                          <a:ea typeface="맑은 고딕"/>
                        </a:rPr>
                        <a:t>Llama-2-70B </a:t>
                      </a:r>
                      <a:r>
                        <a:rPr lang="ko-KR" altLang="en-US" sz="900" b="0" dirty="0">
                          <a:solidFill>
                            <a:srgbClr val="000000"/>
                          </a:solidFill>
                          <a:latin typeface="+mn-lt"/>
                          <a:ea typeface="맑은 고딕"/>
                        </a:rPr>
                        <a:t>표준 시나리오와 같은 자릿수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749808">
                <a:tc>
                  <a:txBody>
                    <a:bodyPr/>
                    <a:lstStyle/>
                    <a:p>
                      <a:pPr algn="l">
                        <a:lnSpc>
                          <a:spcPct val="150000"/>
                        </a:lnSpc>
                      </a:pPr>
                      <a:r>
                        <a:rPr sz="900" b="0" dirty="0">
                          <a:solidFill>
                            <a:srgbClr val="000000"/>
                          </a:solidFill>
                          <a:latin typeface="맑은 고딕"/>
                          <a:ea typeface="맑은 고딕"/>
                        </a:rPr>
                        <a:t>TPOT
(</a:t>
                      </a:r>
                      <a:r>
                        <a:rPr lang="en-US" sz="900" b="0" dirty="0">
                          <a:solidFill>
                            <a:srgbClr val="000000"/>
                          </a:solidFill>
                          <a:latin typeface="맑은 고딕"/>
                          <a:ea typeface="맑은 고딕"/>
                        </a:rPr>
                        <a:t>Time Per Output Token </a:t>
                      </a:r>
                      <a:r>
                        <a:rPr sz="900" b="0" dirty="0" err="1">
                          <a:solidFill>
                            <a:srgbClr val="000000"/>
                          </a:solidFill>
                          <a:latin typeface="맑은 고딕"/>
                          <a:ea typeface="맑은 고딕"/>
                        </a:rPr>
                        <a:t>출력</a:t>
                      </a:r>
                      <a:r>
                        <a:rPr sz="900" b="0" dirty="0">
                          <a:solidFill>
                            <a:srgbClr val="000000"/>
                          </a:solidFill>
                          <a:latin typeface="맑은 고딕"/>
                          <a:ea typeface="맑은 고딕"/>
                        </a:rPr>
                        <a:t> </a:t>
                      </a:r>
                      <a:r>
                        <a:rPr sz="900" b="0" dirty="0" err="1">
                          <a:solidFill>
                            <a:srgbClr val="000000"/>
                          </a:solidFill>
                          <a:latin typeface="맑은 고딕"/>
                          <a:ea typeface="맑은 고딕"/>
                        </a:rPr>
                        <a:t>토큰당</a:t>
                      </a:r>
                      <a:r>
                        <a:rPr sz="900" b="0" dirty="0">
                          <a:solidFill>
                            <a:srgbClr val="000000"/>
                          </a:solidFill>
                          <a:latin typeface="맑은 고딕"/>
                          <a:ea typeface="맑은 고딕"/>
                        </a:rPr>
                        <a:t> </a:t>
                      </a:r>
                      <a:r>
                        <a:rPr sz="900" b="0" dirty="0" err="1">
                          <a:solidFill>
                            <a:srgbClr val="000000"/>
                          </a:solidFill>
                          <a:latin typeface="맑은 고딕"/>
                          <a:ea typeface="맑은 고딕"/>
                        </a:rPr>
                        <a:t>시간</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50000"/>
                        </a:lnSpc>
                      </a:pPr>
                      <a:r>
                        <a:rPr sz="900" b="0" dirty="0">
                          <a:solidFill>
                            <a:srgbClr val="000000"/>
                          </a:solidFill>
                          <a:latin typeface="맑은 고딕"/>
                          <a:ea typeface="맑은 고딕"/>
                        </a:rPr>
                        <a:t>(</a:t>
                      </a:r>
                      <a:r>
                        <a:rPr sz="900" b="0" dirty="0" err="1">
                          <a:solidFill>
                            <a:srgbClr val="000000"/>
                          </a:solidFill>
                          <a:latin typeface="맑은 고딕"/>
                          <a:ea typeface="맑은 고딕"/>
                        </a:rPr>
                        <a:t>요청</a:t>
                      </a:r>
                      <a:r>
                        <a:rPr sz="900" b="0" dirty="0">
                          <a:solidFill>
                            <a:srgbClr val="000000"/>
                          </a:solidFill>
                          <a:latin typeface="맑은 고딕"/>
                          <a:ea typeface="맑은 고딕"/>
                        </a:rPr>
                        <a:t> E2E − TTFT)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수 − 1)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lnSpc>
                          <a:spcPct val="150000"/>
                        </a:lnSpc>
                      </a:pPr>
                      <a:r>
                        <a:rPr sz="900" b="1" dirty="0">
                          <a:solidFill>
                            <a:srgbClr val="000000"/>
                          </a:solidFill>
                          <a:latin typeface="맑은 고딕"/>
                          <a:ea typeface="맑은 고딕"/>
                        </a:rPr>
                        <a:t>TPOT ≤ 50 </a:t>
                      </a:r>
                      <a:r>
                        <a:rPr sz="900" b="1" dirty="0" err="1">
                          <a:solidFill>
                            <a:srgbClr val="000000"/>
                          </a:solidFill>
                          <a:latin typeface="맑은 고딕"/>
                          <a:ea typeface="맑은 고딕"/>
                        </a:rPr>
                        <a:t>ms</a:t>
                      </a:r>
                      <a:endParaRPr sz="900" b="1" dirty="0">
                        <a:solidFill>
                          <a:srgbClr val="000000"/>
                        </a:solidFill>
                        <a:latin typeface="맑은 고딕"/>
                        <a:ea typeface="맑은 고딕"/>
                      </a:endParaRP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tcPr>
                </a:tc>
                <a:tc>
                  <a:txBody>
                    <a:bodyPr/>
                    <a:lstStyle/>
                    <a:p>
                      <a:pPr marL="171450" indent="-171450" algn="l">
                        <a:lnSpc>
                          <a:spcPct val="150000"/>
                        </a:lnSpc>
                        <a:buFontTx/>
                        <a:buChar char="-"/>
                      </a:pPr>
                      <a:r>
                        <a:rPr lang="en-US" altLang="ko-KR" sz="900" b="0" dirty="0">
                          <a:solidFill>
                            <a:srgbClr val="000000"/>
                          </a:solidFill>
                          <a:latin typeface="+mn-lt"/>
                          <a:ea typeface="맑은 고딕"/>
                        </a:rPr>
                        <a:t>50 </a:t>
                      </a:r>
                      <a:r>
                        <a:rPr lang="en-US" altLang="ko-KR" sz="900" b="0" dirty="0" err="1">
                          <a:solidFill>
                            <a:srgbClr val="000000"/>
                          </a:solidFill>
                          <a:latin typeface="+mn-lt"/>
                          <a:ea typeface="맑은 고딕"/>
                        </a:rPr>
                        <a:t>ms</a:t>
                      </a:r>
                      <a:r>
                        <a:rPr lang="en-US" altLang="ko-KR" sz="900" b="0" dirty="0">
                          <a:solidFill>
                            <a:srgbClr val="000000"/>
                          </a:solidFill>
                          <a:latin typeface="+mn-lt"/>
                          <a:ea typeface="맑은 고딕"/>
                        </a:rPr>
                        <a:t> = 20 </a:t>
                      </a:r>
                      <a:r>
                        <a:rPr lang="en-US" altLang="ko-KR" sz="900" b="0" dirty="0" err="1">
                          <a:solidFill>
                            <a:srgbClr val="000000"/>
                          </a:solidFill>
                          <a:latin typeface="+mn-lt"/>
                          <a:ea typeface="맑은 고딕"/>
                        </a:rPr>
                        <a:t>tok</a:t>
                      </a:r>
                      <a:r>
                        <a:rPr lang="en-US" altLang="ko-KR" sz="900" b="0" dirty="0">
                          <a:solidFill>
                            <a:srgbClr val="000000"/>
                          </a:solidFill>
                          <a:latin typeface="+mn-lt"/>
                          <a:ea typeface="맑은 고딕"/>
                        </a:rPr>
                        <a:t>/s</a:t>
                      </a:r>
                      <a:r>
                        <a:rPr lang="ko-KR" altLang="en-US" sz="900" b="0" dirty="0">
                          <a:solidFill>
                            <a:srgbClr val="000000"/>
                          </a:solidFill>
                          <a:latin typeface="+mn-lt"/>
                          <a:ea typeface="맑은 고딕"/>
                        </a:rPr>
                        <a:t>는 성인 묵독</a:t>
                      </a:r>
                      <a:r>
                        <a:rPr lang="en-US" altLang="ko-KR" sz="900" b="0" dirty="0">
                          <a:solidFill>
                            <a:srgbClr val="000000"/>
                          </a:solidFill>
                          <a:latin typeface="+mn-lt"/>
                          <a:ea typeface="맑은 고딕"/>
                        </a:rPr>
                        <a:t>(</a:t>
                      </a:r>
                      <a:r>
                        <a:rPr lang="ko-KR" altLang="en-US" sz="900" b="0" dirty="0">
                          <a:solidFill>
                            <a:srgbClr val="000000"/>
                          </a:solidFill>
                          <a:latin typeface="+mn-lt"/>
                          <a:ea typeface="맑은 고딕"/>
                        </a:rPr>
                        <a:t>약 </a:t>
                      </a:r>
                      <a:r>
                        <a:rPr lang="en-US" altLang="ko-KR" sz="900" b="0" dirty="0">
                          <a:solidFill>
                            <a:srgbClr val="000000"/>
                          </a:solidFill>
                          <a:latin typeface="+mn-lt"/>
                          <a:ea typeface="맑은 고딕"/>
                        </a:rPr>
                        <a:t>5~6 </a:t>
                      </a:r>
                      <a:r>
                        <a:rPr lang="en-US" altLang="ko-KR" sz="900" b="0" dirty="0" err="1">
                          <a:solidFill>
                            <a:srgbClr val="000000"/>
                          </a:solidFill>
                          <a:latin typeface="+mn-lt"/>
                          <a:ea typeface="맑은 고딕"/>
                        </a:rPr>
                        <a:t>tok</a:t>
                      </a:r>
                      <a:r>
                        <a:rPr lang="en-US" altLang="ko-KR" sz="900" b="0" dirty="0">
                          <a:solidFill>
                            <a:srgbClr val="000000"/>
                          </a:solidFill>
                          <a:latin typeface="+mn-lt"/>
                          <a:ea typeface="맑은 고딕"/>
                        </a:rPr>
                        <a:t>/s)</a:t>
                      </a:r>
                      <a:r>
                        <a:rPr lang="ko-KR" altLang="en-US" sz="900" b="0" dirty="0">
                          <a:solidFill>
                            <a:srgbClr val="000000"/>
                          </a:solidFill>
                          <a:latin typeface="+mn-lt"/>
                          <a:ea typeface="맑은 고딕"/>
                        </a:rPr>
                        <a:t>의 약 </a:t>
                      </a:r>
                      <a:r>
                        <a:rPr lang="en-US" altLang="ko-KR" sz="900" b="0" dirty="0">
                          <a:solidFill>
                            <a:srgbClr val="000000"/>
                          </a:solidFill>
                          <a:latin typeface="+mn-lt"/>
                          <a:ea typeface="맑은 고딕"/>
                        </a:rPr>
                        <a:t>3.5</a:t>
                      </a:r>
                      <a:r>
                        <a:rPr lang="ko-KR" altLang="en-US" sz="900" b="0" dirty="0">
                          <a:solidFill>
                            <a:srgbClr val="000000"/>
                          </a:solidFill>
                          <a:latin typeface="+mn-lt"/>
                          <a:ea typeface="맑은 고딕"/>
                        </a:rPr>
                        <a:t>배</a:t>
                      </a:r>
                      <a:r>
                        <a:rPr lang="en-US" altLang="ko-KR" sz="900" b="0" dirty="0">
                          <a:solidFill>
                            <a:srgbClr val="000000"/>
                          </a:solidFill>
                          <a:latin typeface="+mn-lt"/>
                          <a:ea typeface="맑은 고딕"/>
                        </a:rPr>
                        <a:t>. </a:t>
                      </a:r>
                    </a:p>
                    <a:p>
                      <a:pPr marL="171450" indent="-171450" algn="l">
                        <a:lnSpc>
                          <a:spcPct val="150000"/>
                        </a:lnSpc>
                        <a:buFontTx/>
                        <a:buChar char="-"/>
                      </a:pPr>
                      <a:r>
                        <a:rPr lang="en-US" altLang="ko-KR" sz="900" b="0" dirty="0" err="1">
                          <a:solidFill>
                            <a:srgbClr val="000000"/>
                          </a:solidFill>
                          <a:latin typeface="+mn-lt"/>
                          <a:ea typeface="맑은 고딕"/>
                        </a:rPr>
                        <a:t>MLPerf</a:t>
                      </a:r>
                      <a:r>
                        <a:rPr lang="en-US" altLang="ko-KR" sz="900" b="0" dirty="0">
                          <a:solidFill>
                            <a:srgbClr val="000000"/>
                          </a:solidFill>
                          <a:latin typeface="+mn-lt"/>
                          <a:ea typeface="맑은 고딕"/>
                        </a:rPr>
                        <a:t> interactive 40 </a:t>
                      </a:r>
                      <a:r>
                        <a:rPr lang="en-US" altLang="ko-KR" sz="900" b="0" dirty="0" err="1">
                          <a:solidFill>
                            <a:srgbClr val="000000"/>
                          </a:solidFill>
                          <a:latin typeface="+mn-lt"/>
                          <a:ea typeface="맑은 고딕"/>
                        </a:rPr>
                        <a:t>ms</a:t>
                      </a:r>
                      <a:r>
                        <a:rPr lang="ko-KR" altLang="en-US" sz="900" b="0" dirty="0">
                          <a:solidFill>
                            <a:srgbClr val="000000"/>
                          </a:solidFill>
                          <a:latin typeface="+mn-lt"/>
                          <a:ea typeface="맑은 고딕"/>
                        </a:rPr>
                        <a:t>와 표준 </a:t>
                      </a:r>
                      <a:r>
                        <a:rPr lang="en-US" altLang="ko-KR" sz="900" b="0" dirty="0">
                          <a:solidFill>
                            <a:srgbClr val="000000"/>
                          </a:solidFill>
                          <a:latin typeface="+mn-lt"/>
                          <a:ea typeface="맑은 고딕"/>
                        </a:rPr>
                        <a:t>200 </a:t>
                      </a:r>
                      <a:r>
                        <a:rPr lang="en-US" altLang="ko-KR" sz="900" b="0" dirty="0" err="1">
                          <a:solidFill>
                            <a:srgbClr val="000000"/>
                          </a:solidFill>
                          <a:latin typeface="+mn-lt"/>
                          <a:ea typeface="맑은 고딕"/>
                        </a:rPr>
                        <a:t>ms</a:t>
                      </a:r>
                      <a:r>
                        <a:rPr lang="en-US" altLang="ko-KR" sz="900" b="0" dirty="0">
                          <a:solidFill>
                            <a:srgbClr val="000000"/>
                          </a:solidFill>
                          <a:latin typeface="+mn-lt"/>
                          <a:ea typeface="맑은 고딕"/>
                        </a:rPr>
                        <a:t> </a:t>
                      </a:r>
                      <a:r>
                        <a:rPr lang="ko-KR" altLang="en-US" sz="900" b="0" dirty="0">
                          <a:solidFill>
                            <a:srgbClr val="000000"/>
                          </a:solidFill>
                          <a:latin typeface="+mn-lt"/>
                          <a:ea typeface="맑은 고딕"/>
                        </a:rPr>
                        <a:t>사이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6D5FE9B3-BF2D-44CF-B718-9F3072B02E73}"/>
              </a:ext>
            </a:extLst>
          </p:cNvPr>
          <p:cNvSpPr txBox="1"/>
          <p:nvPr/>
        </p:nvSpPr>
        <p:spPr>
          <a:xfrm>
            <a:off x="365760" y="3429000"/>
            <a:ext cx="11430000" cy="153888"/>
          </a:xfrm>
          <a:prstGeom prst="rect">
            <a:avLst/>
          </a:prstGeom>
          <a:noFill/>
        </p:spPr>
        <p:txBody>
          <a:bodyPr wrap="square" lIns="18288" tIns="0" rIns="0" bIns="0" anchor="t">
            <a:spAutoFit/>
          </a:bodyPr>
          <a:lstStyle/>
          <a:p>
            <a:pPr algn="l">
              <a:spcAft>
                <a:spcPts val="0"/>
              </a:spcAft>
            </a:pPr>
            <a:r>
              <a:rPr sz="1000" b="1" dirty="0">
                <a:solidFill>
                  <a:srgbClr val="2F5597"/>
                </a:solidFill>
                <a:latin typeface="맑은 고딕"/>
                <a:ea typeface="맑은 고딕"/>
              </a:rPr>
              <a:t>SLO </a:t>
            </a:r>
            <a:r>
              <a:rPr sz="1000" b="1" dirty="0" err="1">
                <a:solidFill>
                  <a:srgbClr val="2F5597"/>
                </a:solidFill>
                <a:latin typeface="맑은 고딕"/>
                <a:ea typeface="맑은 고딕"/>
              </a:rPr>
              <a:t>대비</a:t>
            </a:r>
            <a:r>
              <a:rPr sz="1000" b="1" dirty="0">
                <a:solidFill>
                  <a:srgbClr val="2F5597"/>
                </a:solidFill>
                <a:latin typeface="맑은 고딕"/>
                <a:ea typeface="맑은 고딕"/>
              </a:rPr>
              <a:t> </a:t>
            </a:r>
            <a:r>
              <a:rPr sz="1000" b="1" dirty="0" err="1">
                <a:solidFill>
                  <a:srgbClr val="2F5597"/>
                </a:solidFill>
                <a:latin typeface="맑은 고딕"/>
                <a:ea typeface="맑은 고딕"/>
              </a:rPr>
              <a:t>이론</a:t>
            </a:r>
            <a:r>
              <a:rPr sz="1000" b="1" dirty="0">
                <a:solidFill>
                  <a:srgbClr val="2F5597"/>
                </a:solidFill>
                <a:latin typeface="맑은 고딕"/>
                <a:ea typeface="맑은 고딕"/>
              </a:rPr>
              <a:t> </a:t>
            </a:r>
            <a:r>
              <a:rPr sz="1000" b="1" dirty="0" err="1">
                <a:solidFill>
                  <a:srgbClr val="2F5597"/>
                </a:solidFill>
                <a:latin typeface="맑은 고딕"/>
                <a:ea typeface="맑은 고딕"/>
              </a:rPr>
              <a:t>예산</a:t>
            </a:r>
            <a:endParaRPr sz="1000" b="1" dirty="0">
              <a:solidFill>
                <a:srgbClr val="2F5597"/>
              </a:solidFill>
              <a:latin typeface="맑은 고딕"/>
              <a:ea typeface="맑은 고딕"/>
            </a:endParaRPr>
          </a:p>
        </p:txBody>
      </p:sp>
      <p:sp>
        <p:nvSpPr>
          <p:cNvPr id="13" name="TextBox 12">
            <a:extLst>
              <a:ext uri="{FF2B5EF4-FFF2-40B4-BE49-F238E27FC236}">
                <a16:creationId xmlns:a16="http://schemas.microsoft.com/office/drawing/2014/main" id="{F43278E5-BB18-4974-B0BD-F991EAA876BF}"/>
              </a:ext>
            </a:extLst>
          </p:cNvPr>
          <p:cNvSpPr txBox="1"/>
          <p:nvPr/>
        </p:nvSpPr>
        <p:spPr>
          <a:xfrm>
            <a:off x="365760" y="3721608"/>
            <a:ext cx="5486400" cy="182880"/>
          </a:xfrm>
          <a:prstGeom prst="rect">
            <a:avLst/>
          </a:prstGeom>
          <a:noFill/>
        </p:spPr>
        <p:txBody>
          <a:bodyPr wrap="square" lIns="18288" tIns="0" rIns="0" bIns="0" anchor="t">
            <a:spAutoFit/>
          </a:bodyPr>
          <a:lstStyle/>
          <a:p>
            <a:pPr algn="l">
              <a:spcAft>
                <a:spcPts val="0"/>
              </a:spcAft>
            </a:pPr>
            <a:r>
              <a:rPr sz="900" b="1">
                <a:solidFill>
                  <a:srgbClr val="2F5597"/>
                </a:solidFill>
                <a:latin typeface="맑은 고딕"/>
                <a:ea typeface="맑은 고딕"/>
              </a:rPr>
              <a:t>TTFT 예산 (s)</a:t>
            </a:r>
          </a:p>
        </p:txBody>
      </p:sp>
      <p:sp>
        <p:nvSpPr>
          <p:cNvPr id="14" name="Rectangle 18">
            <a:extLst>
              <a:ext uri="{FF2B5EF4-FFF2-40B4-BE49-F238E27FC236}">
                <a16:creationId xmlns:a16="http://schemas.microsoft.com/office/drawing/2014/main" id="{C486218D-3A70-45F4-BAD1-BB3EBFC96FF7}"/>
              </a:ext>
            </a:extLst>
          </p:cNvPr>
          <p:cNvSpPr/>
          <p:nvPr/>
        </p:nvSpPr>
        <p:spPr>
          <a:xfrm>
            <a:off x="384048" y="3977640"/>
            <a:ext cx="5449824" cy="219456"/>
          </a:xfrm>
          <a:prstGeom prst="rect">
            <a:avLst/>
          </a:prstGeom>
          <a:solidFill>
            <a:srgbClr val="F2F2F2"/>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9">
            <a:extLst>
              <a:ext uri="{FF2B5EF4-FFF2-40B4-BE49-F238E27FC236}">
                <a16:creationId xmlns:a16="http://schemas.microsoft.com/office/drawing/2014/main" id="{448E2D13-1A37-4762-A3A9-E36980174E64}"/>
              </a:ext>
            </a:extLst>
          </p:cNvPr>
          <p:cNvSpPr/>
          <p:nvPr/>
        </p:nvSpPr>
        <p:spPr>
          <a:xfrm>
            <a:off x="384048" y="4242816"/>
            <a:ext cx="5449824" cy="219456"/>
          </a:xfrm>
          <a:prstGeom prst="rect">
            <a:avLst/>
          </a:prstGeom>
          <a:solidFill>
            <a:srgbClr val="F2F2F2"/>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20">
            <a:extLst>
              <a:ext uri="{FF2B5EF4-FFF2-40B4-BE49-F238E27FC236}">
                <a16:creationId xmlns:a16="http://schemas.microsoft.com/office/drawing/2014/main" id="{8E1C46ED-2EF8-4BFB-ABCC-6E701043BBEB}"/>
              </a:ext>
            </a:extLst>
          </p:cNvPr>
          <p:cNvSpPr/>
          <p:nvPr/>
        </p:nvSpPr>
        <p:spPr>
          <a:xfrm>
            <a:off x="384048" y="3977640"/>
            <a:ext cx="726643" cy="219456"/>
          </a:xfrm>
          <a:prstGeom prst="rect">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7ECE4240-562F-486D-A625-8AC850E078A8}"/>
              </a:ext>
            </a:extLst>
          </p:cNvPr>
          <p:cNvSpPr txBox="1"/>
          <p:nvPr/>
        </p:nvSpPr>
        <p:spPr>
          <a:xfrm>
            <a:off x="384048" y="3977640"/>
            <a:ext cx="726643" cy="219456"/>
          </a:xfrm>
          <a:prstGeom prst="rect">
            <a:avLst/>
          </a:prstGeom>
          <a:noFill/>
        </p:spPr>
        <p:txBody>
          <a:bodyPr wrap="none" lIns="0" tIns="0" rIns="0" bIns="0" anchor="ctr">
            <a:spAutoFit/>
          </a:bodyPr>
          <a:lstStyle/>
          <a:p>
            <a:pPr algn="ctr">
              <a:spcAft>
                <a:spcPts val="0"/>
              </a:spcAft>
            </a:pPr>
            <a:r>
              <a:rPr sz="750" b="0">
                <a:solidFill>
                  <a:srgbClr val="FFFFFF"/>
                </a:solidFill>
                <a:latin typeface="맑은 고딕"/>
                <a:ea typeface="맑은 고딕"/>
              </a:rPr>
              <a:t>8K 0.32 s</a:t>
            </a:r>
          </a:p>
        </p:txBody>
      </p:sp>
      <p:sp>
        <p:nvSpPr>
          <p:cNvPr id="19" name="Rectangle 22">
            <a:extLst>
              <a:ext uri="{FF2B5EF4-FFF2-40B4-BE49-F238E27FC236}">
                <a16:creationId xmlns:a16="http://schemas.microsoft.com/office/drawing/2014/main" id="{2DEAA1DF-2D76-4C5B-9516-4F15AFF7C78C}"/>
              </a:ext>
            </a:extLst>
          </p:cNvPr>
          <p:cNvSpPr/>
          <p:nvPr/>
        </p:nvSpPr>
        <p:spPr>
          <a:xfrm>
            <a:off x="384048" y="4242816"/>
            <a:ext cx="1475994" cy="219456"/>
          </a:xfrm>
          <a:prstGeom prst="rect">
            <a:avLst/>
          </a:prstGeom>
          <a:solidFill>
            <a:srgbClr val="7F7F7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20208C78-8E4E-4977-A4EE-E462B18B3DF0}"/>
              </a:ext>
            </a:extLst>
          </p:cNvPr>
          <p:cNvSpPr txBox="1"/>
          <p:nvPr/>
        </p:nvSpPr>
        <p:spPr>
          <a:xfrm>
            <a:off x="384048" y="4242816"/>
            <a:ext cx="1475994" cy="219456"/>
          </a:xfrm>
          <a:prstGeom prst="rect">
            <a:avLst/>
          </a:prstGeom>
          <a:noFill/>
        </p:spPr>
        <p:txBody>
          <a:bodyPr wrap="none" lIns="0" tIns="0" rIns="0" bIns="0" anchor="ctr">
            <a:spAutoFit/>
          </a:bodyPr>
          <a:lstStyle/>
          <a:p>
            <a:pPr algn="ctr">
              <a:spcAft>
                <a:spcPts val="0"/>
              </a:spcAft>
            </a:pPr>
            <a:r>
              <a:rPr sz="750" b="0">
                <a:solidFill>
                  <a:srgbClr val="FFFFFF"/>
                </a:solidFill>
                <a:latin typeface="맑은 고딕"/>
                <a:ea typeface="맑은 고딕"/>
              </a:rPr>
              <a:t>16K 0.65 s</a:t>
            </a:r>
          </a:p>
        </p:txBody>
      </p:sp>
      <p:cxnSp>
        <p:nvCxnSpPr>
          <p:cNvPr id="21" name="Connector 24">
            <a:extLst>
              <a:ext uri="{FF2B5EF4-FFF2-40B4-BE49-F238E27FC236}">
                <a16:creationId xmlns:a16="http://schemas.microsoft.com/office/drawing/2014/main" id="{C2A9EF91-95AC-48FE-A3CF-D27A6F9930BC}"/>
              </a:ext>
            </a:extLst>
          </p:cNvPr>
          <p:cNvCxnSpPr/>
          <p:nvPr/>
        </p:nvCxnSpPr>
        <p:spPr>
          <a:xfrm>
            <a:off x="4925568" y="3941064"/>
            <a:ext cx="0" cy="566928"/>
          </a:xfrm>
          <a:prstGeom prst="line">
            <a:avLst/>
          </a:prstGeom>
          <a:ln w="22225">
            <a:solidFill>
              <a:srgbClr val="C00000"/>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55299006-59A5-45E0-8612-A37EABB261DA}"/>
              </a:ext>
            </a:extLst>
          </p:cNvPr>
          <p:cNvSpPr txBox="1"/>
          <p:nvPr/>
        </p:nvSpPr>
        <p:spPr>
          <a:xfrm>
            <a:off x="3645408" y="3721608"/>
            <a:ext cx="1261872" cy="182880"/>
          </a:xfrm>
          <a:prstGeom prst="rect">
            <a:avLst/>
          </a:prstGeom>
          <a:noFill/>
        </p:spPr>
        <p:txBody>
          <a:bodyPr wrap="none" lIns="0" tIns="0" rIns="0" bIns="0" anchor="t">
            <a:spAutoFit/>
          </a:bodyPr>
          <a:lstStyle/>
          <a:p>
            <a:pPr algn="r">
              <a:spcAft>
                <a:spcPts val="0"/>
              </a:spcAft>
            </a:pPr>
            <a:r>
              <a:rPr sz="800" b="0">
                <a:solidFill>
                  <a:srgbClr val="C00000"/>
                </a:solidFill>
                <a:latin typeface="맑은 고딕"/>
                <a:ea typeface="맑은 고딕"/>
              </a:rPr>
              <a:t>SLO 2 s</a:t>
            </a:r>
          </a:p>
        </p:txBody>
      </p:sp>
      <p:sp>
        <p:nvSpPr>
          <p:cNvPr id="23" name="TextBox 22">
            <a:extLst>
              <a:ext uri="{FF2B5EF4-FFF2-40B4-BE49-F238E27FC236}">
                <a16:creationId xmlns:a16="http://schemas.microsoft.com/office/drawing/2014/main" id="{961FB2D7-DEA5-4AC8-8441-4111C977C3DC}"/>
              </a:ext>
            </a:extLst>
          </p:cNvPr>
          <p:cNvSpPr txBox="1"/>
          <p:nvPr/>
        </p:nvSpPr>
        <p:spPr>
          <a:xfrm>
            <a:off x="384048" y="4526280"/>
            <a:ext cx="5449824" cy="345544"/>
          </a:xfrm>
          <a:prstGeom prst="rect">
            <a:avLst/>
          </a:prstGeom>
          <a:noFill/>
        </p:spPr>
        <p:txBody>
          <a:bodyPr wrap="square" lIns="0" tIns="0" rIns="0" bIns="0" anchor="t">
            <a:spAutoFit/>
          </a:bodyPr>
          <a:lstStyle/>
          <a:p>
            <a:pPr algn="l">
              <a:lnSpc>
                <a:spcPct val="150000"/>
              </a:lnSpc>
              <a:spcAft>
                <a:spcPts val="0"/>
              </a:spcAft>
            </a:pPr>
            <a:r>
              <a:rPr sz="800" b="0" dirty="0">
                <a:solidFill>
                  <a:srgbClr val="404040"/>
                </a:solidFill>
                <a:latin typeface="맑은 고딕"/>
                <a:ea typeface="맑은 고딕"/>
              </a:rPr>
              <a:t>8K·16K </a:t>
            </a:r>
            <a:r>
              <a:rPr sz="800" b="0" dirty="0" err="1">
                <a:solidFill>
                  <a:srgbClr val="404040"/>
                </a:solidFill>
                <a:latin typeface="맑은 고딕"/>
                <a:ea typeface="맑은 고딕"/>
              </a:rPr>
              <a:t>입력의</a:t>
            </a:r>
            <a:r>
              <a:rPr sz="800" b="0" dirty="0">
                <a:solidFill>
                  <a:srgbClr val="404040"/>
                </a:solidFill>
                <a:latin typeface="맑은 고딕"/>
                <a:ea typeface="맑은 고딕"/>
              </a:rPr>
              <a:t> </a:t>
            </a:r>
            <a:r>
              <a:rPr sz="800" b="0" dirty="0" err="1">
                <a:solidFill>
                  <a:srgbClr val="404040"/>
                </a:solidFill>
                <a:latin typeface="맑은 고딕"/>
                <a:ea typeface="맑은 고딕"/>
              </a:rPr>
              <a:t>재계산</a:t>
            </a:r>
            <a:r>
              <a:rPr sz="800" b="0" dirty="0">
                <a:solidFill>
                  <a:srgbClr val="404040"/>
                </a:solidFill>
                <a:latin typeface="맑은 고딕"/>
                <a:ea typeface="맑은 고딕"/>
              </a:rPr>
              <a:t> prefill </a:t>
            </a:r>
            <a:r>
              <a:rPr sz="800" b="0" dirty="0" err="1">
                <a:solidFill>
                  <a:srgbClr val="404040"/>
                </a:solidFill>
                <a:latin typeface="맑은 고딕"/>
                <a:ea typeface="맑은 고딕"/>
              </a:rPr>
              <a:t>시간</a:t>
            </a:r>
            <a:r>
              <a:rPr sz="800" b="0" dirty="0">
                <a:solidFill>
                  <a:srgbClr val="404040"/>
                </a:solidFill>
                <a:latin typeface="맑은 고딕"/>
                <a:ea typeface="맑은 고딕"/>
              </a:rPr>
              <a:t>. </a:t>
            </a:r>
            <a:endParaRPr lang="en-US" sz="800" b="0" dirty="0">
              <a:solidFill>
                <a:srgbClr val="404040"/>
              </a:solidFill>
              <a:latin typeface="맑은 고딕"/>
              <a:ea typeface="맑은 고딕"/>
            </a:endParaRPr>
          </a:p>
          <a:p>
            <a:pPr algn="l">
              <a:lnSpc>
                <a:spcPct val="150000"/>
              </a:lnSpc>
              <a:spcAft>
                <a:spcPts val="0"/>
              </a:spcAft>
            </a:pPr>
            <a:r>
              <a:rPr sz="800" b="0" dirty="0" err="1">
                <a:solidFill>
                  <a:srgbClr val="404040"/>
                </a:solidFill>
                <a:latin typeface="맑은 고딕"/>
                <a:ea typeface="맑은 고딕"/>
              </a:rPr>
              <a:t>남는</a:t>
            </a:r>
            <a:r>
              <a:rPr sz="800" b="0" dirty="0">
                <a:solidFill>
                  <a:srgbClr val="404040"/>
                </a:solidFill>
                <a:latin typeface="맑은 고딕"/>
                <a:ea typeface="맑은 고딕"/>
              </a:rPr>
              <a:t> </a:t>
            </a:r>
            <a:r>
              <a:rPr sz="800" b="0" dirty="0" err="1">
                <a:solidFill>
                  <a:srgbClr val="404040"/>
                </a:solidFill>
                <a:latin typeface="맑은 고딕"/>
                <a:ea typeface="맑은 고딕"/>
              </a:rPr>
              <a:t>시간이</a:t>
            </a:r>
            <a:r>
              <a:rPr sz="800" b="0" dirty="0">
                <a:solidFill>
                  <a:srgbClr val="404040"/>
                </a:solidFill>
                <a:latin typeface="맑은 고딕"/>
                <a:ea typeface="맑은 고딕"/>
              </a:rPr>
              <a:t> </a:t>
            </a:r>
            <a:r>
              <a:rPr sz="800" b="0" dirty="0" err="1">
                <a:solidFill>
                  <a:srgbClr val="404040"/>
                </a:solidFill>
                <a:latin typeface="맑은 고딕"/>
                <a:ea typeface="맑은 고딕"/>
              </a:rPr>
              <a:t>큐잉</a:t>
            </a:r>
            <a:r>
              <a:rPr lang="en-US" sz="800" b="0" dirty="0">
                <a:solidFill>
                  <a:srgbClr val="404040"/>
                </a:solidFill>
                <a:latin typeface="맑은 고딕"/>
                <a:ea typeface="맑은 고딕"/>
              </a:rPr>
              <a:t>. </a:t>
            </a:r>
            <a:r>
              <a:rPr sz="800" b="0" dirty="0">
                <a:solidFill>
                  <a:srgbClr val="404040"/>
                </a:solidFill>
                <a:latin typeface="맑은 고딕"/>
                <a:ea typeface="맑은 고딕"/>
              </a:rPr>
              <a:t>KV </a:t>
            </a:r>
            <a:r>
              <a:rPr sz="800" b="0" dirty="0" err="1">
                <a:solidFill>
                  <a:srgbClr val="404040"/>
                </a:solidFill>
                <a:latin typeface="맑은 고딕"/>
                <a:ea typeface="맑은 고딕"/>
              </a:rPr>
              <a:t>복원</a:t>
            </a:r>
            <a:r>
              <a:rPr lang="en-US" sz="800" b="0" dirty="0">
                <a:solidFill>
                  <a:srgbClr val="404040"/>
                </a:solidFill>
                <a:latin typeface="맑은 고딕"/>
                <a:ea typeface="맑은 고딕"/>
              </a:rPr>
              <a:t>, </a:t>
            </a:r>
            <a:r>
              <a:rPr sz="800" b="0" dirty="0" err="1">
                <a:solidFill>
                  <a:srgbClr val="404040"/>
                </a:solidFill>
                <a:latin typeface="맑은 고딕"/>
                <a:ea typeface="맑은 고딕"/>
              </a:rPr>
              <a:t>결정</a:t>
            </a:r>
            <a:r>
              <a:rPr sz="800" b="0" dirty="0">
                <a:solidFill>
                  <a:srgbClr val="404040"/>
                </a:solidFill>
                <a:latin typeface="맑은 고딕"/>
                <a:ea typeface="맑은 고딕"/>
              </a:rPr>
              <a:t> </a:t>
            </a:r>
            <a:r>
              <a:rPr sz="800" b="0" dirty="0" err="1">
                <a:solidFill>
                  <a:srgbClr val="404040"/>
                </a:solidFill>
                <a:latin typeface="맑은 고딕"/>
                <a:ea typeface="맑은 고딕"/>
              </a:rPr>
              <a:t>지연의</a:t>
            </a:r>
            <a:r>
              <a:rPr sz="800" b="0" dirty="0">
                <a:solidFill>
                  <a:srgbClr val="404040"/>
                </a:solidFill>
                <a:latin typeface="맑은 고딕"/>
                <a:ea typeface="맑은 고딕"/>
              </a:rPr>
              <a:t> </a:t>
            </a:r>
            <a:r>
              <a:rPr sz="800" b="0" dirty="0" err="1">
                <a:solidFill>
                  <a:srgbClr val="404040"/>
                </a:solidFill>
                <a:latin typeface="맑은 고딕"/>
                <a:ea typeface="맑은 고딕"/>
              </a:rPr>
              <a:t>예산이다</a:t>
            </a:r>
            <a:r>
              <a:rPr sz="800" b="0" dirty="0">
                <a:solidFill>
                  <a:srgbClr val="404040"/>
                </a:solidFill>
                <a:latin typeface="맑은 고딕"/>
                <a:ea typeface="맑은 고딕"/>
              </a:rPr>
              <a:t>(16K에서 1.35 s).</a:t>
            </a:r>
          </a:p>
        </p:txBody>
      </p:sp>
      <p:sp>
        <p:nvSpPr>
          <p:cNvPr id="24" name="TextBox 23">
            <a:extLst>
              <a:ext uri="{FF2B5EF4-FFF2-40B4-BE49-F238E27FC236}">
                <a16:creationId xmlns:a16="http://schemas.microsoft.com/office/drawing/2014/main" id="{56FF2907-E258-464E-8ADA-7F7E91B92780}"/>
              </a:ext>
            </a:extLst>
          </p:cNvPr>
          <p:cNvSpPr txBox="1"/>
          <p:nvPr/>
        </p:nvSpPr>
        <p:spPr>
          <a:xfrm>
            <a:off x="6309360" y="3721608"/>
            <a:ext cx="5486400" cy="182880"/>
          </a:xfrm>
          <a:prstGeom prst="rect">
            <a:avLst/>
          </a:prstGeom>
          <a:noFill/>
        </p:spPr>
        <p:txBody>
          <a:bodyPr wrap="square" lIns="18288" tIns="0" rIns="0" bIns="0" anchor="t">
            <a:spAutoFit/>
          </a:bodyPr>
          <a:lstStyle/>
          <a:p>
            <a:pPr algn="l">
              <a:spcAft>
                <a:spcPts val="0"/>
              </a:spcAft>
            </a:pPr>
            <a:r>
              <a:rPr sz="900" b="1">
                <a:solidFill>
                  <a:srgbClr val="2F5597"/>
                </a:solidFill>
                <a:latin typeface="맑은 고딕"/>
                <a:ea typeface="맑은 고딕"/>
              </a:rPr>
              <a:t>TPOT 예산 (ms, H100×8)</a:t>
            </a:r>
          </a:p>
        </p:txBody>
      </p:sp>
      <p:sp>
        <p:nvSpPr>
          <p:cNvPr id="25" name="Rectangle 28">
            <a:extLst>
              <a:ext uri="{FF2B5EF4-FFF2-40B4-BE49-F238E27FC236}">
                <a16:creationId xmlns:a16="http://schemas.microsoft.com/office/drawing/2014/main" id="{88E0ABA9-B50E-455B-AEF5-5DDFD3E091F5}"/>
              </a:ext>
            </a:extLst>
          </p:cNvPr>
          <p:cNvSpPr/>
          <p:nvPr/>
        </p:nvSpPr>
        <p:spPr>
          <a:xfrm>
            <a:off x="6327648" y="3977640"/>
            <a:ext cx="5449824" cy="219456"/>
          </a:xfrm>
          <a:prstGeom prst="rect">
            <a:avLst/>
          </a:prstGeom>
          <a:solidFill>
            <a:srgbClr val="F2F2F2"/>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31">
            <a:extLst>
              <a:ext uri="{FF2B5EF4-FFF2-40B4-BE49-F238E27FC236}">
                <a16:creationId xmlns:a16="http://schemas.microsoft.com/office/drawing/2014/main" id="{2CB326B8-B33C-4C77-AF82-5217DF4EA611}"/>
              </a:ext>
            </a:extLst>
          </p:cNvPr>
          <p:cNvSpPr/>
          <p:nvPr/>
        </p:nvSpPr>
        <p:spPr>
          <a:xfrm>
            <a:off x="6327648" y="3977640"/>
            <a:ext cx="1162629" cy="219456"/>
          </a:xfrm>
          <a:prstGeom prst="rect">
            <a:avLst/>
          </a:prstGeom>
          <a:solidFill>
            <a:srgbClr val="7F7F7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B1583321-FD48-4339-816D-7A0ACB07D38A}"/>
              </a:ext>
            </a:extLst>
          </p:cNvPr>
          <p:cNvSpPr txBox="1"/>
          <p:nvPr/>
        </p:nvSpPr>
        <p:spPr>
          <a:xfrm>
            <a:off x="6474548" y="4029660"/>
            <a:ext cx="868828" cy="115416"/>
          </a:xfrm>
          <a:prstGeom prst="rect">
            <a:avLst/>
          </a:prstGeom>
          <a:noFill/>
        </p:spPr>
        <p:txBody>
          <a:bodyPr wrap="none" lIns="0" tIns="0" rIns="0" bIns="0" anchor="ctr">
            <a:spAutoFit/>
          </a:bodyPr>
          <a:lstStyle/>
          <a:p>
            <a:pPr algn="ctr">
              <a:spcAft>
                <a:spcPts val="0"/>
              </a:spcAft>
            </a:pPr>
            <a:r>
              <a:rPr sz="750" b="0" dirty="0">
                <a:solidFill>
                  <a:srgbClr val="FFFFFF"/>
                </a:solidFill>
                <a:latin typeface="맑은 고딕"/>
                <a:ea typeface="맑은 고딕"/>
              </a:rPr>
              <a:t>12.8 (batch 64, 16K)</a:t>
            </a:r>
          </a:p>
        </p:txBody>
      </p:sp>
      <p:cxnSp>
        <p:nvCxnSpPr>
          <p:cNvPr id="30" name="Connector 33">
            <a:extLst>
              <a:ext uri="{FF2B5EF4-FFF2-40B4-BE49-F238E27FC236}">
                <a16:creationId xmlns:a16="http://schemas.microsoft.com/office/drawing/2014/main" id="{117EC746-61C3-4A96-A816-50CEBAC69E3F}"/>
              </a:ext>
            </a:extLst>
          </p:cNvPr>
          <p:cNvCxnSpPr/>
          <p:nvPr/>
        </p:nvCxnSpPr>
        <p:spPr>
          <a:xfrm>
            <a:off x="10869168" y="3941064"/>
            <a:ext cx="0" cy="301752"/>
          </a:xfrm>
          <a:prstGeom prst="line">
            <a:avLst/>
          </a:prstGeom>
          <a:ln w="22225">
            <a:solidFill>
              <a:srgbClr val="C00000"/>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30E05A3D-FC19-434D-80AD-B642EB0B281F}"/>
              </a:ext>
            </a:extLst>
          </p:cNvPr>
          <p:cNvSpPr txBox="1"/>
          <p:nvPr/>
        </p:nvSpPr>
        <p:spPr>
          <a:xfrm>
            <a:off x="9589008" y="3721608"/>
            <a:ext cx="1261872" cy="182880"/>
          </a:xfrm>
          <a:prstGeom prst="rect">
            <a:avLst/>
          </a:prstGeom>
          <a:noFill/>
        </p:spPr>
        <p:txBody>
          <a:bodyPr wrap="none" lIns="0" tIns="0" rIns="0" bIns="0" anchor="t">
            <a:spAutoFit/>
          </a:bodyPr>
          <a:lstStyle/>
          <a:p>
            <a:pPr algn="r">
              <a:spcAft>
                <a:spcPts val="0"/>
              </a:spcAft>
            </a:pPr>
            <a:r>
              <a:rPr sz="800" b="0">
                <a:solidFill>
                  <a:srgbClr val="C00000"/>
                </a:solidFill>
                <a:latin typeface="맑은 고딕"/>
                <a:ea typeface="맑은 고딕"/>
              </a:rPr>
              <a:t>SLO 50 ms</a:t>
            </a:r>
          </a:p>
        </p:txBody>
      </p:sp>
      <p:sp>
        <p:nvSpPr>
          <p:cNvPr id="26" name="실행 단추: 뒤로 또는 이전 25">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34" name="실행 단추: 뒤로 또는 이전 33">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445002540"/>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lang="en-US" sz="2200" b="1" dirty="0">
                <a:solidFill>
                  <a:srgbClr val="2F5597"/>
                </a:solidFill>
                <a:latin typeface="맑은 고딕"/>
                <a:ea typeface="맑은 고딕"/>
              </a:rPr>
              <a:t>SLO </a:t>
            </a:r>
            <a:r>
              <a:rPr lang="ko-KR" altLang="en-US" sz="2200" b="1" dirty="0">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en-US" sz="1100" b="0" dirty="0">
                <a:solidFill>
                  <a:srgbClr val="404040"/>
                </a:solidFill>
                <a:latin typeface="맑은 고딕"/>
                <a:ea typeface="맑은 고딕"/>
              </a:rPr>
              <a:t>TTFT (</a:t>
            </a:r>
            <a:r>
              <a:rPr lang="ko-KR" altLang="en-US" sz="1100" b="0" dirty="0">
                <a:solidFill>
                  <a:srgbClr val="404040"/>
                </a:solidFill>
                <a:latin typeface="맑은 고딕"/>
                <a:ea typeface="맑은 고딕"/>
              </a:rPr>
              <a:t>첫 토큰 생성 시간</a:t>
            </a:r>
            <a:r>
              <a:rPr lang="en-US" altLang="ko-KR" sz="1100" dirty="0">
                <a:solidFill>
                  <a:srgbClr val="404040"/>
                </a:solidFill>
                <a:latin typeface="맑은 고딕"/>
                <a:ea typeface="맑은 고딕"/>
              </a:rPr>
              <a:t>), TPOT (</a:t>
            </a:r>
            <a:r>
              <a:rPr lang="ko-KR" altLang="en-US" sz="1100" dirty="0">
                <a:solidFill>
                  <a:srgbClr val="404040"/>
                </a:solidFill>
                <a:latin typeface="맑은 고딕"/>
                <a:ea typeface="맑은 고딕"/>
              </a:rPr>
              <a:t>출력 토큰 당 생성 시간</a:t>
            </a:r>
            <a:r>
              <a:rPr lang="en-US" altLang="ko-KR" sz="1100" dirty="0">
                <a:solidFill>
                  <a:srgbClr val="404040"/>
                </a:solidFill>
                <a:latin typeface="맑은 고딕"/>
                <a:ea typeface="맑은 고딕"/>
              </a:rPr>
              <a:t>)</a:t>
            </a:r>
            <a:r>
              <a:rPr lang="ko-KR" altLang="en-US" sz="1100" dirty="0">
                <a:solidFill>
                  <a:srgbClr val="404040"/>
                </a:solidFill>
                <a:latin typeface="맑은 고딕"/>
                <a:ea typeface="맑은 고딕"/>
              </a:rPr>
              <a:t> </a:t>
            </a:r>
            <a:endParaRPr lang="en-US"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583680"/>
            <a:ext cx="11430000" cy="228600"/>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공통</a:t>
            </a:r>
            <a:r>
              <a:rPr sz="750" b="0" dirty="0">
                <a:solidFill>
                  <a:srgbClr val="404040"/>
                </a:solidFill>
                <a:latin typeface="맑은 고딕"/>
                <a:ea typeface="맑은 고딕"/>
              </a:rPr>
              <a:t> QA </a:t>
            </a:r>
            <a:r>
              <a:rPr sz="750" b="0" dirty="0" err="1">
                <a:solidFill>
                  <a:srgbClr val="404040"/>
                </a:solidFill>
                <a:latin typeface="맑은 고딕"/>
                <a:ea typeface="맑은 고딕"/>
              </a:rPr>
              <a:t>문서</a:t>
            </a:r>
            <a:r>
              <a:rPr sz="750" b="0" dirty="0">
                <a:solidFill>
                  <a:srgbClr val="404040"/>
                </a:solidFill>
                <a:latin typeface="맑은 고딕"/>
                <a:ea typeface="맑은 고딕"/>
              </a:rPr>
              <a:t> §5 · </a:t>
            </a:r>
            <a:r>
              <a:rPr sz="750" b="0" dirty="0" err="1">
                <a:solidFill>
                  <a:srgbClr val="404040"/>
                </a:solidFill>
                <a:latin typeface="맑은 고딕"/>
                <a:ea typeface="맑은 고딕"/>
              </a:rPr>
              <a:t>MLPerf</a:t>
            </a:r>
            <a:r>
              <a:rPr sz="750" b="0" dirty="0">
                <a:solidFill>
                  <a:srgbClr val="404040"/>
                </a:solidFill>
                <a:latin typeface="맑은 고딕"/>
                <a:ea typeface="맑은 고딕"/>
              </a:rPr>
              <a:t> Inference v5.1 </a:t>
            </a:r>
            <a:r>
              <a:rPr sz="750" b="0" dirty="0" err="1">
                <a:solidFill>
                  <a:srgbClr val="404040"/>
                </a:solidFill>
                <a:latin typeface="맑은 고딕"/>
                <a:ea typeface="맑은 고딕"/>
              </a:rPr>
              <a:t>요약</a:t>
            </a:r>
            <a:r>
              <a:rPr sz="750" b="0" dirty="0">
                <a:solidFill>
                  <a:srgbClr val="404040"/>
                </a:solidFill>
                <a:latin typeface="맑은 고딕"/>
                <a:ea typeface="맑은 고딕"/>
              </a:rPr>
              <a:t>(</a:t>
            </a:r>
            <a:r>
              <a:rPr sz="750" b="0" dirty="0" err="1">
                <a:solidFill>
                  <a:srgbClr val="404040"/>
                </a:solidFill>
                <a:latin typeface="맑은 고딕"/>
                <a:ea typeface="맑은 고딕"/>
              </a:rPr>
              <a:t>marktechpost</a:t>
            </a:r>
            <a:r>
              <a:rPr sz="750" b="0" dirty="0">
                <a:solidFill>
                  <a:srgbClr val="404040"/>
                </a:solidFill>
                <a:latin typeface="맑은 고딕"/>
                <a:ea typeface="맑은 고딕"/>
              </a:rPr>
              <a:t>, it-online) [2차] · </a:t>
            </a:r>
            <a:r>
              <a:rPr sz="750" b="0" dirty="0" err="1">
                <a:solidFill>
                  <a:srgbClr val="404040"/>
                </a:solidFill>
                <a:latin typeface="맑은 고딕"/>
                <a:ea typeface="맑은 고딕"/>
              </a:rPr>
              <a:t>Brysbaert</a:t>
            </a:r>
            <a:r>
              <a:rPr sz="750" b="0" dirty="0">
                <a:solidFill>
                  <a:srgbClr val="404040"/>
                </a:solidFill>
                <a:latin typeface="맑은 고딕"/>
                <a:ea typeface="맑은 고딕"/>
              </a:rPr>
              <a:t> 2019 · DP3 </a:t>
            </a:r>
            <a:r>
              <a:rPr sz="750" b="0" dirty="0" err="1">
                <a:solidFill>
                  <a:srgbClr val="404040"/>
                </a:solidFill>
                <a:latin typeface="맑은 고딕"/>
                <a:ea typeface="맑은 고딕"/>
              </a:rPr>
              <a:t>시뮬레이션</a:t>
            </a:r>
            <a:r>
              <a:rPr sz="750" b="0" dirty="0">
                <a:solidFill>
                  <a:srgbClr val="404040"/>
                </a:solidFill>
                <a:latin typeface="맑은 고딕"/>
                <a:ea typeface="맑은 고딕"/>
              </a:rPr>
              <a:t> seed </a:t>
            </a:r>
            <a:r>
              <a:rPr sz="750" b="0" dirty="0" err="1">
                <a:solidFill>
                  <a:srgbClr val="404040"/>
                </a:solidFill>
                <a:latin typeface="맑은 고딕"/>
                <a:ea typeface="맑은 고딕"/>
              </a:rPr>
              <a:t>분산</a:t>
            </a:r>
            <a:r>
              <a:rPr sz="750" b="0" dirty="0">
                <a:solidFill>
                  <a:srgbClr val="404040"/>
                </a:solidFill>
                <a:latin typeface="맑은 고딕"/>
                <a:ea typeface="맑은 고딕"/>
              </a:rPr>
              <a:t> · tools/unified_stars.py</a:t>
            </a:r>
          </a:p>
        </p:txBody>
      </p:sp>
      <p:graphicFrame>
        <p:nvGraphicFramePr>
          <p:cNvPr id="9" name="tbl"/>
          <p:cNvGraphicFramePr>
            <a:graphicFrameLocks noGrp="1"/>
          </p:cNvGraphicFramePr>
          <p:nvPr/>
        </p:nvGraphicFramePr>
        <p:xfrm>
          <a:off x="376174" y="1219176"/>
          <a:ext cx="11430000" cy="1225296"/>
        </p:xfrm>
        <a:graphic>
          <a:graphicData uri="http://schemas.openxmlformats.org/drawingml/2006/table">
            <a:tbl>
              <a:tblPr>
                <a:tableStyleId>{5C22544A-7EE6-4342-B048-85BDC9FD1C3A}</a:tableStyleId>
              </a:tblPr>
              <a:tblGrid>
                <a:gridCol w="699093">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1333663">
                  <a:extLst>
                    <a:ext uri="{9D8B030D-6E8A-4147-A177-3AD203B41FA5}">
                      <a16:colId xmlns:a16="http://schemas.microsoft.com/office/drawing/2014/main" val="3217912404"/>
                    </a:ext>
                  </a:extLst>
                </a:gridCol>
                <a:gridCol w="5206244">
                  <a:extLst>
                    <a:ext uri="{9D8B030D-6E8A-4147-A177-3AD203B41FA5}">
                      <a16:colId xmlns:a16="http://schemas.microsoft.com/office/drawing/2014/main" val="1204621070"/>
                    </a:ext>
                  </a:extLst>
                </a:gridCol>
              </a:tblGrid>
              <a:tr h="310896">
                <a:tc>
                  <a:txBody>
                    <a:bodyPr/>
                    <a:lstStyle/>
                    <a:p>
                      <a:pPr algn="ctr"/>
                      <a:r>
                        <a:rPr lang="en-US" sz="900" b="1" dirty="0">
                          <a:solidFill>
                            <a:srgbClr val="FFFFFF"/>
                          </a:solidFill>
                          <a:latin typeface="맑은 고딕"/>
                          <a:ea typeface="맑은 고딕"/>
                        </a:rPr>
                        <a:t>Metric</a:t>
                      </a:r>
                      <a:endParaRPr sz="9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900" b="1" dirty="0">
                          <a:solidFill>
                            <a:srgbClr val="FFFFFF"/>
                          </a:solidFill>
                          <a:latin typeface="맑은 고딕"/>
                          <a:ea typeface="맑은 고딕"/>
                        </a:rPr>
                        <a:t>의미</a:t>
                      </a:r>
                      <a:endParaRPr sz="9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900" b="1" dirty="0">
                          <a:solidFill>
                            <a:srgbClr val="FFFFFF"/>
                          </a:solidFill>
                          <a:latin typeface="+mn-lt"/>
                          <a:ea typeface="맑은 고딕"/>
                        </a:rPr>
                        <a:t>절대 </a:t>
                      </a:r>
                      <a:r>
                        <a:rPr lang="en-US" altLang="ko-KR" sz="900" b="1" dirty="0">
                          <a:solidFill>
                            <a:srgbClr val="FFFFFF"/>
                          </a:solidFill>
                          <a:latin typeface="+mn-lt"/>
                          <a:ea typeface="맑은 고딕"/>
                        </a:rPr>
                        <a:t>SLO</a:t>
                      </a: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2F5597"/>
                    </a:solidFill>
                  </a:tcPr>
                </a:tc>
                <a:tc>
                  <a:txBody>
                    <a:bodyPr/>
                    <a:lstStyle/>
                    <a:p>
                      <a:pPr algn="ctr"/>
                      <a:r>
                        <a:rPr lang="ko-KR" altLang="en-US" sz="900" b="1" dirty="0">
                          <a:solidFill>
                            <a:srgbClr val="FFFFFF"/>
                          </a:solidFill>
                          <a:latin typeface="맑은 고딕"/>
                          <a:ea typeface="맑은 고딕"/>
                        </a:rPr>
                        <a:t>근거</a:t>
                      </a:r>
                      <a:endParaRPr sz="9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2F5597"/>
                    </a:solidFill>
                  </a:tcPr>
                </a:tc>
                <a:extLst>
                  <a:ext uri="{0D108BD9-81ED-4DB2-BD59-A6C34878D82A}">
                    <a16:rowId xmlns:a16="http://schemas.microsoft.com/office/drawing/2014/main" val="10000"/>
                  </a:ext>
                </a:extLst>
              </a:tr>
              <a:tr h="457200">
                <a:tc>
                  <a:txBody>
                    <a:bodyPr/>
                    <a:lstStyle/>
                    <a:p>
                      <a:pPr algn="l"/>
                      <a:r>
                        <a:rPr sz="900" b="0" dirty="0">
                          <a:solidFill>
                            <a:srgbClr val="000000"/>
                          </a:solidFill>
                          <a:latin typeface="맑은 고딕"/>
                          <a:ea typeface="맑은 고딕"/>
                        </a:rPr>
                        <a:t>TTFT</a:t>
                      </a: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lnB>
                    <a:solidFill>
                      <a:srgbClr val="FFFFFF"/>
                    </a:solidFill>
                  </a:tcPr>
                </a:tc>
                <a:tc>
                  <a:txBody>
                    <a:bodyPr/>
                    <a:lstStyle/>
                    <a:p>
                      <a:pPr algn="l"/>
                      <a:r>
                        <a:rPr lang="ko-KR" altLang="en-US" sz="900" b="0" dirty="0">
                          <a:solidFill>
                            <a:srgbClr val="000000"/>
                          </a:solidFill>
                          <a:latin typeface="맑은 고딕"/>
                          <a:ea typeface="맑은 고딕"/>
                        </a:rPr>
                        <a:t>첫 토큰 생성까지 걸리는 시간으로 사용자에게 첫 응답하는 시간을 의미 </a:t>
                      </a:r>
                      <a:endParaRPr lang="en-US" altLang="ko-K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lnB>
                    <a:solidFill>
                      <a:srgbClr val="FFFFFF"/>
                    </a:solidFill>
                  </a:tcPr>
                </a:tc>
                <a:tc>
                  <a:txBody>
                    <a:bodyPr/>
                    <a:lstStyle/>
                    <a:p>
                      <a:pPr algn="l"/>
                      <a:r>
                        <a:rPr sz="900" b="0" dirty="0">
                          <a:solidFill>
                            <a:srgbClr val="000000"/>
                          </a:solidFill>
                          <a:latin typeface="맑은 고딕"/>
                          <a:ea typeface="맑은 고딕"/>
                        </a:rPr>
                        <a:t>TTFT P99 ≤ 2 s</a:t>
                      </a: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marL="171450" indent="-171450" algn="l">
                        <a:lnSpc>
                          <a:spcPct val="150000"/>
                        </a:lnSpc>
                        <a:buFontTx/>
                        <a:buChar char="-"/>
                      </a:pPr>
                      <a:r>
                        <a:rPr lang="en-US" altLang="ko-KR" sz="900" b="0" dirty="0">
                          <a:solidFill>
                            <a:srgbClr val="000000"/>
                          </a:solidFill>
                          <a:latin typeface="+mn-lt"/>
                          <a:ea typeface="맑은 고딕"/>
                        </a:rPr>
                        <a:t>Llama-2-70B 8K prefill </a:t>
                      </a:r>
                      <a:r>
                        <a:rPr lang="ko-KR" altLang="en-US" sz="900" b="0" dirty="0">
                          <a:solidFill>
                            <a:srgbClr val="000000"/>
                          </a:solidFill>
                          <a:latin typeface="+mn-lt"/>
                          <a:ea typeface="맑은 고딕"/>
                        </a:rPr>
                        <a:t>이론 </a:t>
                      </a:r>
                      <a:r>
                        <a:rPr lang="en-US" altLang="ko-KR" sz="900" b="0" dirty="0">
                          <a:solidFill>
                            <a:srgbClr val="000000"/>
                          </a:solidFill>
                          <a:latin typeface="+mn-lt"/>
                          <a:ea typeface="맑은 고딕"/>
                        </a:rPr>
                        <a:t>0.32</a:t>
                      </a:r>
                      <a:r>
                        <a:rPr lang="ko-KR" altLang="en-US" sz="900" b="0" dirty="0">
                          <a:solidFill>
                            <a:srgbClr val="000000"/>
                          </a:solidFill>
                          <a:latin typeface="+mn-lt"/>
                          <a:ea typeface="맑은 고딕"/>
                        </a:rPr>
                        <a:t>초</a:t>
                      </a:r>
                      <a:r>
                        <a:rPr lang="en-US" altLang="ko-KR" sz="900" b="0" dirty="0">
                          <a:solidFill>
                            <a:srgbClr val="000000"/>
                          </a:solidFill>
                          <a:latin typeface="+mn-lt"/>
                          <a:ea typeface="맑은 고딕"/>
                        </a:rPr>
                        <a:t>(H100×8, MFU 0.45)</a:t>
                      </a:r>
                      <a:r>
                        <a:rPr lang="ko-KR" altLang="en-US" sz="900" b="0" dirty="0">
                          <a:solidFill>
                            <a:srgbClr val="000000"/>
                          </a:solidFill>
                          <a:latin typeface="+mn-lt"/>
                          <a:ea typeface="맑은 고딕"/>
                        </a:rPr>
                        <a:t>의 약 </a:t>
                      </a:r>
                      <a:r>
                        <a:rPr lang="en-US" altLang="ko-KR" sz="900" b="0" dirty="0">
                          <a:solidFill>
                            <a:srgbClr val="000000"/>
                          </a:solidFill>
                          <a:latin typeface="+mn-lt"/>
                          <a:ea typeface="맑은 고딕"/>
                        </a:rPr>
                        <a:t>6</a:t>
                      </a:r>
                      <a:r>
                        <a:rPr lang="ko-KR" altLang="en-US" sz="900" b="0" dirty="0">
                          <a:solidFill>
                            <a:srgbClr val="000000"/>
                          </a:solidFill>
                          <a:latin typeface="+mn-lt"/>
                          <a:ea typeface="맑은 고딕"/>
                        </a:rPr>
                        <a:t>배</a:t>
                      </a:r>
                      <a:r>
                        <a:rPr lang="en-US" altLang="ko-KR" sz="900" b="0" dirty="0">
                          <a:solidFill>
                            <a:srgbClr val="000000"/>
                          </a:solidFill>
                          <a:latin typeface="+mn-lt"/>
                          <a:ea typeface="맑은 고딕"/>
                        </a:rPr>
                        <a:t>(</a:t>
                      </a:r>
                      <a:r>
                        <a:rPr lang="ko-KR" altLang="en-US" sz="900" b="0" dirty="0" err="1">
                          <a:solidFill>
                            <a:srgbClr val="000000"/>
                          </a:solidFill>
                          <a:latin typeface="+mn-lt"/>
                          <a:ea typeface="맑은 고딕"/>
                        </a:rPr>
                        <a:t>큐잉</a:t>
                      </a:r>
                      <a:r>
                        <a:rPr lang="ko-KR" altLang="en-US" sz="900" b="0" dirty="0">
                          <a:solidFill>
                            <a:srgbClr val="000000"/>
                          </a:solidFill>
                          <a:latin typeface="+mn-lt"/>
                          <a:ea typeface="맑은 고딕"/>
                        </a:rPr>
                        <a:t> 여유</a:t>
                      </a:r>
                      <a:r>
                        <a:rPr lang="en-US" altLang="ko-KR" sz="900" b="0" dirty="0">
                          <a:solidFill>
                            <a:srgbClr val="000000"/>
                          </a:solidFill>
                          <a:latin typeface="+mn-lt"/>
                          <a:ea typeface="맑은 고딕"/>
                        </a:rPr>
                        <a:t>). </a:t>
                      </a:r>
                    </a:p>
                    <a:p>
                      <a:pPr marL="171450" indent="-171450" algn="l">
                        <a:lnSpc>
                          <a:spcPct val="150000"/>
                        </a:lnSpc>
                        <a:buFontTx/>
                        <a:buChar char="-"/>
                      </a:pPr>
                      <a:r>
                        <a:rPr lang="en-US" altLang="ko-KR" sz="900" b="0" dirty="0" err="1">
                          <a:solidFill>
                            <a:srgbClr val="000000"/>
                          </a:solidFill>
                          <a:latin typeface="+mn-lt"/>
                          <a:ea typeface="맑은 고딕"/>
                        </a:rPr>
                        <a:t>MLPerf</a:t>
                      </a:r>
                      <a:r>
                        <a:rPr lang="ko-KR" altLang="en-US" sz="900" b="0" dirty="0">
                          <a:solidFill>
                            <a:srgbClr val="000000"/>
                          </a:solidFill>
                          <a:latin typeface="+mn-lt"/>
                          <a:ea typeface="맑은 고딕"/>
                        </a:rPr>
                        <a:t> </a:t>
                      </a:r>
                      <a:r>
                        <a:rPr lang="en-US" altLang="ko-KR" sz="900" b="0" dirty="0">
                          <a:solidFill>
                            <a:srgbClr val="000000"/>
                          </a:solidFill>
                          <a:latin typeface="+mn-lt"/>
                          <a:ea typeface="맑은 고딕"/>
                        </a:rPr>
                        <a:t>Llama-2-70B </a:t>
                      </a:r>
                      <a:r>
                        <a:rPr lang="ko-KR" altLang="en-US" sz="900" b="0" dirty="0">
                          <a:solidFill>
                            <a:srgbClr val="000000"/>
                          </a:solidFill>
                          <a:latin typeface="+mn-lt"/>
                          <a:ea typeface="맑은 고딕"/>
                        </a:rPr>
                        <a:t>표준 시나리오와 같은 자릿수</a:t>
                      </a: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l"/>
                      <a:r>
                        <a:rPr sz="900" b="0" dirty="0">
                          <a:solidFill>
                            <a:srgbClr val="000000"/>
                          </a:solidFill>
                          <a:latin typeface="맑은 고딕"/>
                          <a:ea typeface="맑은 고딕"/>
                        </a:rPr>
                        <a:t>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lang="ko-KR" altLang="en-US" sz="900" b="0" dirty="0">
                          <a:solidFill>
                            <a:srgbClr val="000000"/>
                          </a:solidFill>
                          <a:latin typeface="맑은 고딕"/>
                          <a:ea typeface="맑은 고딕"/>
                        </a:rPr>
                        <a:t>평균 토큰당 생성 시간으로 총 지연시간에 큰 영향을 미침</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round/>
                      <a:headEnd type="none" w="med" len="med"/>
                      <a:tailEnd type="none" w="med" len="me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00" b="0" dirty="0">
                          <a:solidFill>
                            <a:srgbClr val="000000"/>
                          </a:solidFill>
                          <a:latin typeface="맑은 고딕"/>
                          <a:ea typeface="맑은 고딕"/>
                        </a:rPr>
                        <a:t>TPOT P99 ≤ 50 </a:t>
                      </a:r>
                      <a:r>
                        <a:rPr sz="900" b="0" dirty="0" err="1">
                          <a:solidFill>
                            <a:srgbClr val="000000"/>
                          </a:solidFill>
                          <a:latin typeface="맑은 고딕"/>
                          <a:ea typeface="맑은 고딕"/>
                        </a:rPr>
                        <a:t>ms</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lnB>
                    <a:solidFill>
                      <a:srgbClr val="FFFFFF"/>
                    </a:solidFill>
                  </a:tcPr>
                </a:tc>
                <a:tc>
                  <a:txBody>
                    <a:bodyPr/>
                    <a:lstStyle/>
                    <a:p>
                      <a:pPr marL="171450" indent="-171450" algn="l">
                        <a:lnSpc>
                          <a:spcPct val="150000"/>
                        </a:lnSpc>
                        <a:buFontTx/>
                        <a:buChar char="-"/>
                      </a:pPr>
                      <a:r>
                        <a:rPr lang="en-US" altLang="ko-KR" sz="900" b="0" dirty="0">
                          <a:solidFill>
                            <a:srgbClr val="000000"/>
                          </a:solidFill>
                          <a:latin typeface="+mn-lt"/>
                          <a:ea typeface="맑은 고딕"/>
                        </a:rPr>
                        <a:t>50 </a:t>
                      </a:r>
                      <a:r>
                        <a:rPr lang="en-US" altLang="ko-KR" sz="900" b="0" dirty="0" err="1">
                          <a:solidFill>
                            <a:srgbClr val="000000"/>
                          </a:solidFill>
                          <a:latin typeface="+mn-lt"/>
                          <a:ea typeface="맑은 고딕"/>
                        </a:rPr>
                        <a:t>ms</a:t>
                      </a:r>
                      <a:r>
                        <a:rPr lang="en-US" altLang="ko-KR" sz="900" b="0" dirty="0">
                          <a:solidFill>
                            <a:srgbClr val="000000"/>
                          </a:solidFill>
                          <a:latin typeface="+mn-lt"/>
                          <a:ea typeface="맑은 고딕"/>
                        </a:rPr>
                        <a:t> = 20 </a:t>
                      </a:r>
                      <a:r>
                        <a:rPr lang="en-US" altLang="ko-KR" sz="900" b="0" dirty="0" err="1">
                          <a:solidFill>
                            <a:srgbClr val="000000"/>
                          </a:solidFill>
                          <a:latin typeface="+mn-lt"/>
                          <a:ea typeface="맑은 고딕"/>
                        </a:rPr>
                        <a:t>tok</a:t>
                      </a:r>
                      <a:r>
                        <a:rPr lang="en-US" altLang="ko-KR" sz="900" b="0" dirty="0">
                          <a:solidFill>
                            <a:srgbClr val="000000"/>
                          </a:solidFill>
                          <a:latin typeface="+mn-lt"/>
                          <a:ea typeface="맑은 고딕"/>
                        </a:rPr>
                        <a:t>/s</a:t>
                      </a:r>
                      <a:r>
                        <a:rPr lang="ko-KR" altLang="en-US" sz="900" b="0" dirty="0">
                          <a:solidFill>
                            <a:srgbClr val="000000"/>
                          </a:solidFill>
                          <a:latin typeface="+mn-lt"/>
                          <a:ea typeface="맑은 고딕"/>
                        </a:rPr>
                        <a:t>는 성인 묵독</a:t>
                      </a:r>
                      <a:r>
                        <a:rPr lang="en-US" altLang="ko-KR" sz="900" b="0" dirty="0">
                          <a:solidFill>
                            <a:srgbClr val="000000"/>
                          </a:solidFill>
                          <a:latin typeface="+mn-lt"/>
                          <a:ea typeface="맑은 고딕"/>
                        </a:rPr>
                        <a:t>(</a:t>
                      </a:r>
                      <a:r>
                        <a:rPr lang="ko-KR" altLang="en-US" sz="900" b="0" dirty="0">
                          <a:solidFill>
                            <a:srgbClr val="000000"/>
                          </a:solidFill>
                          <a:latin typeface="+mn-lt"/>
                          <a:ea typeface="맑은 고딕"/>
                        </a:rPr>
                        <a:t>약 </a:t>
                      </a:r>
                      <a:r>
                        <a:rPr lang="en-US" altLang="ko-KR" sz="900" b="0" dirty="0">
                          <a:solidFill>
                            <a:srgbClr val="000000"/>
                          </a:solidFill>
                          <a:latin typeface="+mn-lt"/>
                          <a:ea typeface="맑은 고딕"/>
                        </a:rPr>
                        <a:t>5~6 </a:t>
                      </a:r>
                      <a:r>
                        <a:rPr lang="en-US" altLang="ko-KR" sz="900" b="0" dirty="0" err="1">
                          <a:solidFill>
                            <a:srgbClr val="000000"/>
                          </a:solidFill>
                          <a:latin typeface="+mn-lt"/>
                          <a:ea typeface="맑은 고딕"/>
                        </a:rPr>
                        <a:t>tok</a:t>
                      </a:r>
                      <a:r>
                        <a:rPr lang="en-US" altLang="ko-KR" sz="900" b="0" dirty="0">
                          <a:solidFill>
                            <a:srgbClr val="000000"/>
                          </a:solidFill>
                          <a:latin typeface="+mn-lt"/>
                          <a:ea typeface="맑은 고딕"/>
                        </a:rPr>
                        <a:t>/s)</a:t>
                      </a:r>
                      <a:r>
                        <a:rPr lang="ko-KR" altLang="en-US" sz="900" b="0" dirty="0">
                          <a:solidFill>
                            <a:srgbClr val="000000"/>
                          </a:solidFill>
                          <a:latin typeface="+mn-lt"/>
                          <a:ea typeface="맑은 고딕"/>
                        </a:rPr>
                        <a:t>의 약 </a:t>
                      </a:r>
                      <a:r>
                        <a:rPr lang="en-US" altLang="ko-KR" sz="900" b="0" dirty="0">
                          <a:solidFill>
                            <a:srgbClr val="000000"/>
                          </a:solidFill>
                          <a:latin typeface="+mn-lt"/>
                          <a:ea typeface="맑은 고딕"/>
                        </a:rPr>
                        <a:t>3.5</a:t>
                      </a:r>
                      <a:r>
                        <a:rPr lang="ko-KR" altLang="en-US" sz="900" b="0" dirty="0">
                          <a:solidFill>
                            <a:srgbClr val="000000"/>
                          </a:solidFill>
                          <a:latin typeface="+mn-lt"/>
                          <a:ea typeface="맑은 고딕"/>
                        </a:rPr>
                        <a:t>배</a:t>
                      </a:r>
                      <a:r>
                        <a:rPr lang="en-US" altLang="ko-KR" sz="900" b="0" dirty="0">
                          <a:solidFill>
                            <a:srgbClr val="000000"/>
                          </a:solidFill>
                          <a:latin typeface="+mn-lt"/>
                          <a:ea typeface="맑은 고딕"/>
                        </a:rPr>
                        <a:t>. </a:t>
                      </a:r>
                    </a:p>
                    <a:p>
                      <a:pPr marL="171450" indent="-171450" algn="l">
                        <a:lnSpc>
                          <a:spcPct val="150000"/>
                        </a:lnSpc>
                        <a:buFontTx/>
                        <a:buChar char="-"/>
                      </a:pPr>
                      <a:r>
                        <a:rPr lang="en-US" altLang="ko-KR" sz="900" b="0" dirty="0" err="1">
                          <a:solidFill>
                            <a:srgbClr val="000000"/>
                          </a:solidFill>
                          <a:latin typeface="+mn-lt"/>
                          <a:ea typeface="맑은 고딕"/>
                        </a:rPr>
                        <a:t>MLPerf</a:t>
                      </a:r>
                      <a:r>
                        <a:rPr lang="en-US" altLang="ko-KR" sz="900" b="0" dirty="0">
                          <a:solidFill>
                            <a:srgbClr val="000000"/>
                          </a:solidFill>
                          <a:latin typeface="+mn-lt"/>
                          <a:ea typeface="맑은 고딕"/>
                        </a:rPr>
                        <a:t> interactive 40 </a:t>
                      </a:r>
                      <a:r>
                        <a:rPr lang="en-US" altLang="ko-KR" sz="900" b="0" dirty="0" err="1">
                          <a:solidFill>
                            <a:srgbClr val="000000"/>
                          </a:solidFill>
                          <a:latin typeface="+mn-lt"/>
                          <a:ea typeface="맑은 고딕"/>
                        </a:rPr>
                        <a:t>ms</a:t>
                      </a:r>
                      <a:r>
                        <a:rPr lang="ko-KR" altLang="en-US" sz="900" b="0" dirty="0">
                          <a:solidFill>
                            <a:srgbClr val="000000"/>
                          </a:solidFill>
                          <a:latin typeface="+mn-lt"/>
                          <a:ea typeface="맑은 고딕"/>
                        </a:rPr>
                        <a:t>와 표준 </a:t>
                      </a:r>
                      <a:r>
                        <a:rPr lang="en-US" altLang="ko-KR" sz="900" b="0" dirty="0">
                          <a:solidFill>
                            <a:srgbClr val="000000"/>
                          </a:solidFill>
                          <a:latin typeface="+mn-lt"/>
                          <a:ea typeface="맑은 고딕"/>
                        </a:rPr>
                        <a:t>200 </a:t>
                      </a:r>
                      <a:r>
                        <a:rPr lang="en-US" altLang="ko-KR" sz="900" b="0" dirty="0" err="1">
                          <a:solidFill>
                            <a:srgbClr val="000000"/>
                          </a:solidFill>
                          <a:latin typeface="+mn-lt"/>
                          <a:ea typeface="맑은 고딕"/>
                        </a:rPr>
                        <a:t>ms</a:t>
                      </a:r>
                      <a:r>
                        <a:rPr lang="en-US" altLang="ko-KR" sz="900" b="0" dirty="0">
                          <a:solidFill>
                            <a:srgbClr val="000000"/>
                          </a:solidFill>
                          <a:latin typeface="+mn-lt"/>
                          <a:ea typeface="맑은 고딕"/>
                        </a:rPr>
                        <a:t> </a:t>
                      </a:r>
                      <a:r>
                        <a:rPr lang="ko-KR" altLang="en-US" sz="900" b="0" dirty="0">
                          <a:solidFill>
                            <a:srgbClr val="000000"/>
                          </a:solidFill>
                          <a:latin typeface="+mn-lt"/>
                          <a:ea typeface="맑은 고딕"/>
                        </a:rPr>
                        <a:t>사이</a:t>
                      </a: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lnR>
                    <a:lnT w="6350" cap="flat" cmpd="sng" algn="ctr">
                      <a:solidFill>
                        <a:srgbClr val="BFBFBF"/>
                      </a:solidFill>
                      <a:prstDash val="solid"/>
                      <a:round/>
                      <a:headEnd type="none" w="med" len="med"/>
                      <a:tailEnd type="none" w="med" len="med"/>
                    </a:lnT>
                    <a:lnB w="6350" cap="flat" cmpd="sng" algn="ctr">
                      <a:solidFill>
                        <a:srgbClr val="BFBFBF"/>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5" name="실행 단추: 뒤로 또는 이전 14">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730461339"/>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lang="ko-KR" altLang="en-US" sz="2200" b="1" dirty="0">
                <a:solidFill>
                  <a:srgbClr val="2F5597"/>
                </a:solidFill>
                <a:latin typeface="맑은 고딕"/>
                <a:ea typeface="맑은 고딕"/>
              </a:rPr>
              <a:t>시스템 </a:t>
            </a:r>
            <a:r>
              <a:rPr sz="2200" b="1" dirty="0" err="1">
                <a:solidFill>
                  <a:srgbClr val="2F5597"/>
                </a:solidFill>
                <a:latin typeface="맑은 고딕"/>
                <a:ea typeface="맑은 고딕"/>
              </a:rPr>
              <a:t>확장성</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ko-KR" altLang="en-US" sz="1100" dirty="0">
                <a:solidFill>
                  <a:srgbClr val="404040"/>
                </a:solidFill>
                <a:latin typeface="맑은 고딕"/>
                <a:ea typeface="맑은 고딕"/>
              </a:rPr>
              <a:t>시스템 및 자원의 증가분 대비 처리량의 증가분 비율 </a:t>
            </a:r>
            <a:endParaRPr lang="en-US" altLang="ko-K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ubtitle">
            <a:extLst>
              <a:ext uri="{FF2B5EF4-FFF2-40B4-BE49-F238E27FC236}">
                <a16:creationId xmlns:a16="http://schemas.microsoft.com/office/drawing/2014/main" id="{32653FD5-C1D3-455C-A719-4E31D24F5B29}"/>
              </a:ext>
            </a:extLst>
          </p:cNvPr>
          <p:cNvSpPr txBox="1"/>
          <p:nvPr/>
        </p:nvSpPr>
        <p:spPr>
          <a:xfrm>
            <a:off x="365760" y="1079932"/>
            <a:ext cx="11430000" cy="879856"/>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a:t>
            </a:r>
            <a:r>
              <a:rPr lang="pt-BR" altLang="ko-KR" sz="1100" b="1" dirty="0">
                <a:solidFill>
                  <a:srgbClr val="2F5597"/>
                </a:solidFill>
                <a:latin typeface="맑은 고딕"/>
                <a:ea typeface="맑은 고딕"/>
              </a:rPr>
              <a:t>SE(N) = Goodput </a:t>
            </a:r>
            <a:r>
              <a:rPr lang="ko-KR" altLang="en-US" sz="1100" b="1" dirty="0">
                <a:solidFill>
                  <a:srgbClr val="2F5597"/>
                </a:solidFill>
                <a:latin typeface="맑은 고딕"/>
                <a:ea typeface="맑은 고딕"/>
              </a:rPr>
              <a:t>증가 배율 </a:t>
            </a:r>
            <a:r>
              <a:rPr lang="pt-BR" altLang="ko-KR" sz="1100" b="1" dirty="0">
                <a:solidFill>
                  <a:srgbClr val="2F5597"/>
                </a:solidFill>
                <a:latin typeface="맑은 고딕"/>
                <a:ea typeface="맑은 고딕"/>
              </a:rPr>
              <a:t>÷ </a:t>
            </a:r>
            <a:r>
              <a:rPr lang="en-US" altLang="ko-KR" sz="1100" b="1" dirty="0">
                <a:solidFill>
                  <a:srgbClr val="2F5597"/>
                </a:solidFill>
                <a:latin typeface="맑은 고딕"/>
                <a:ea typeface="맑은 고딕"/>
              </a:rPr>
              <a:t>N</a:t>
            </a:r>
            <a:r>
              <a:rPr lang="ko-KR" altLang="en-US" sz="1100" b="1" dirty="0">
                <a:solidFill>
                  <a:srgbClr val="2F5597"/>
                </a:solidFill>
                <a:latin typeface="맑은 고딕"/>
                <a:ea typeface="맑은 고딕"/>
              </a:rPr>
              <a:t> 증가 배율 </a:t>
            </a:r>
            <a:r>
              <a:rPr lang="en-US" altLang="ko-KR" sz="1100" b="1" dirty="0">
                <a:solidFill>
                  <a:srgbClr val="2F5597"/>
                </a:solidFill>
                <a:latin typeface="맑은 고딕"/>
                <a:ea typeface="맑은 고딕"/>
              </a:rPr>
              <a:t>(N = </a:t>
            </a:r>
            <a:r>
              <a:rPr lang="ko-KR" altLang="en-US" sz="1100" b="1" dirty="0">
                <a:solidFill>
                  <a:srgbClr val="2F5597"/>
                </a:solidFill>
                <a:latin typeface="맑은 고딕"/>
                <a:ea typeface="맑은 고딕"/>
              </a:rPr>
              <a:t>노드 수</a:t>
            </a:r>
            <a:r>
              <a:rPr lang="en-US" altLang="ko-KR" sz="1100" b="1" dirty="0">
                <a:solidFill>
                  <a:srgbClr val="2F5597"/>
                </a:solidFill>
                <a:latin typeface="맑은 고딕"/>
                <a:ea typeface="맑은 고딕"/>
              </a:rPr>
              <a:t>) </a:t>
            </a:r>
          </a:p>
          <a:p>
            <a:pPr marL="171450" indent="-171450">
              <a:lnSpc>
                <a:spcPct val="150000"/>
              </a:lnSpc>
              <a:spcAft>
                <a:spcPts val="250"/>
              </a:spcAft>
              <a:buFontTx/>
              <a:buChar char="-"/>
            </a:pPr>
            <a:r>
              <a:rPr lang="en-US" altLang="ko-KR" sz="1100" dirty="0">
                <a:solidFill>
                  <a:srgbClr val="404040"/>
                </a:solidFill>
                <a:latin typeface="맑은 고딕"/>
                <a:ea typeface="맑은 고딕"/>
              </a:rPr>
              <a:t>USL (</a:t>
            </a:r>
            <a:r>
              <a:rPr lang="en-US" altLang="ko-KR" sz="1100" dirty="0"/>
              <a:t>Universal Scalability Law)</a:t>
            </a:r>
            <a:r>
              <a:rPr lang="en-US" altLang="ko-KR" sz="1100" dirty="0">
                <a:solidFill>
                  <a:srgbClr val="404040"/>
                </a:solidFill>
                <a:latin typeface="맑은 고딕"/>
                <a:ea typeface="맑은 고딕"/>
              </a:rPr>
              <a:t> </a:t>
            </a:r>
            <a:r>
              <a:rPr lang="ko-KR" altLang="en-US" sz="1100" dirty="0">
                <a:solidFill>
                  <a:srgbClr val="404040"/>
                </a:solidFill>
                <a:latin typeface="맑은 고딕"/>
                <a:ea typeface="맑은 고딕"/>
              </a:rPr>
              <a:t>환산</a:t>
            </a:r>
            <a:r>
              <a:rPr lang="en-US" altLang="ko-KR" sz="1100" dirty="0">
                <a:solidFill>
                  <a:srgbClr val="404040"/>
                </a:solidFill>
                <a:latin typeface="맑은 고딕"/>
                <a:ea typeface="맑은 고딕"/>
              </a:rPr>
              <a:t>: SE(N) = 1 ÷ (1 + σ(N−1)), σ = </a:t>
            </a:r>
            <a:r>
              <a:rPr lang="ko-KR" altLang="en-US" sz="1100" dirty="0">
                <a:solidFill>
                  <a:srgbClr val="404040"/>
                </a:solidFill>
                <a:latin typeface="맑은 고딕"/>
                <a:ea typeface="맑은 고딕"/>
              </a:rPr>
              <a:t>조율 계층의 직렬 비중으로 경합을 나타내는 상수 </a:t>
            </a:r>
            <a:endParaRPr lang="en-US" altLang="ko-KR" sz="1100" dirty="0">
              <a:solidFill>
                <a:srgbClr val="404040"/>
              </a:solidFill>
              <a:latin typeface="맑은 고딕"/>
              <a:ea typeface="맑은 고딕"/>
            </a:endParaRPr>
          </a:p>
          <a:p>
            <a:pPr marL="171450" indent="-171450">
              <a:lnSpc>
                <a:spcPct val="150000"/>
              </a:lnSpc>
              <a:spcAft>
                <a:spcPts val="250"/>
              </a:spcAft>
              <a:buFontTx/>
              <a:buChar char="-"/>
            </a:pPr>
            <a:r>
              <a:rPr lang="en-US" altLang="ko-KR" sz="1100" dirty="0">
                <a:solidFill>
                  <a:srgbClr val="404040"/>
                </a:solidFill>
                <a:latin typeface="맑은 고딕"/>
                <a:ea typeface="맑은 고딕"/>
              </a:rPr>
              <a:t>N=16</a:t>
            </a:r>
            <a:r>
              <a:rPr lang="ko-KR" altLang="en-US" sz="1100" dirty="0">
                <a:solidFill>
                  <a:srgbClr val="404040"/>
                </a:solidFill>
                <a:latin typeface="맑은 고딕"/>
                <a:ea typeface="맑은 고딕"/>
              </a:rPr>
              <a:t>에서 </a:t>
            </a:r>
            <a:r>
              <a:rPr lang="en-US" altLang="ko-KR" sz="1100" dirty="0">
                <a:solidFill>
                  <a:srgbClr val="404040"/>
                </a:solidFill>
                <a:latin typeface="맑은 고딕"/>
                <a:ea typeface="맑은 고딕"/>
              </a:rPr>
              <a:t>SE 80%↔σ 1.67%, 85%↔1.18%, 90%↔0.74%, 92.5%↔0.54%, 95%↔0.35%</a:t>
            </a:r>
          </a:p>
        </p:txBody>
      </p:sp>
      <p:sp>
        <p:nvSpPr>
          <p:cNvPr id="9" name="src">
            <a:extLst>
              <a:ext uri="{FF2B5EF4-FFF2-40B4-BE49-F238E27FC236}">
                <a16:creationId xmlns:a16="http://schemas.microsoft.com/office/drawing/2014/main" id="{279BDC2E-7BCC-469E-9B8A-5D559AB8CEDC}"/>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sz="750" b="0" dirty="0" err="1">
                <a:solidFill>
                  <a:srgbClr val="404040"/>
                </a:solidFill>
                <a:latin typeface="맑은 고딕"/>
                <a:ea typeface="맑은 고딕"/>
              </a:rPr>
              <a:t>AthenaK</a:t>
            </a:r>
            <a:r>
              <a:rPr sz="750" b="0" dirty="0">
                <a:solidFill>
                  <a:srgbClr val="404040"/>
                </a:solidFill>
                <a:latin typeface="맑은 고딕"/>
                <a:ea typeface="맑은 고딕"/>
              </a:rPr>
              <a:t> (</a:t>
            </a:r>
            <a:r>
              <a:rPr sz="750" b="0" dirty="0" err="1">
                <a:solidFill>
                  <a:srgbClr val="404040"/>
                </a:solidFill>
                <a:latin typeface="맑은 고딕"/>
                <a:ea typeface="맑은 고딕"/>
              </a:rPr>
              <a:t>arXiv</a:t>
            </a:r>
            <a:r>
              <a:rPr sz="750" b="0" dirty="0">
                <a:solidFill>
                  <a:srgbClr val="404040"/>
                </a:solidFill>
                <a:latin typeface="맑은 고딕"/>
                <a:ea typeface="맑은 고딕"/>
              </a:rPr>
              <a:t> 2409.16053, </a:t>
            </a:r>
            <a:r>
              <a:rPr sz="750" b="0" dirty="0" err="1">
                <a:solidFill>
                  <a:srgbClr val="404040"/>
                </a:solidFill>
                <a:latin typeface="맑은 고딕"/>
                <a:ea typeface="맑은 고딕"/>
              </a:rPr>
              <a:t>학습</a:t>
            </a:r>
            <a:r>
              <a:rPr sz="750" b="0" dirty="0">
                <a:solidFill>
                  <a:srgbClr val="404040"/>
                </a:solidFill>
                <a:latin typeface="맑은 고딕"/>
                <a:ea typeface="맑은 고딕"/>
              </a:rPr>
              <a:t> workload)</a:t>
            </a:r>
          </a:p>
        </p:txBody>
      </p:sp>
      <p:graphicFrame>
        <p:nvGraphicFramePr>
          <p:cNvPr id="12" name="tbl">
            <a:extLst>
              <a:ext uri="{FF2B5EF4-FFF2-40B4-BE49-F238E27FC236}">
                <a16:creationId xmlns:a16="http://schemas.microsoft.com/office/drawing/2014/main" id="{DBB9741B-8C8D-4124-9243-59E5F91564EA}"/>
              </a:ext>
            </a:extLst>
          </p:cNvPr>
          <p:cNvGraphicFramePr>
            <a:graphicFrameLocks noGrp="1"/>
          </p:cNvGraphicFramePr>
          <p:nvPr>
            <p:extLst>
              <p:ext uri="{D42A27DB-BD31-4B8C-83A1-F6EECF244321}">
                <p14:modId xmlns:p14="http://schemas.microsoft.com/office/powerpoint/2010/main" val="490298325"/>
              </p:ext>
            </p:extLst>
          </p:nvPr>
        </p:nvGraphicFramePr>
        <p:xfrm>
          <a:off x="365760" y="2063115"/>
          <a:ext cx="11457432" cy="2210562"/>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19456">
                <a:tc>
                  <a:txBody>
                    <a:bodyPr/>
                    <a:lstStyle/>
                    <a:p>
                      <a:pPr algn="ctr"/>
                      <a:r>
                        <a:rPr sz="900" b="1">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기준 (정량)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근거</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01752">
                <a:tc>
                  <a:txBody>
                    <a:bodyPr/>
                    <a:lstStyle/>
                    <a:p>
                      <a:pPr algn="ctr">
                        <a:lnSpc>
                          <a:spcPct val="125000"/>
                        </a:lnSpc>
                      </a:pPr>
                      <a:r>
                        <a:rPr sz="83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830" b="0" dirty="0">
                          <a:solidFill>
                            <a:srgbClr val="000000"/>
                          </a:solidFill>
                          <a:latin typeface="맑은 고딕"/>
                          <a:ea typeface="맑은 고딕"/>
                        </a:rPr>
                        <a:t>SE ≥ 95%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830" b="1" dirty="0" err="1">
                          <a:solidFill>
                            <a:srgbClr val="000000"/>
                          </a:solidFill>
                          <a:latin typeface="맑은 고딕"/>
                          <a:ea typeface="맑은 고딕"/>
                        </a:rPr>
                        <a:t>경쟁</a:t>
                      </a:r>
                      <a:r>
                        <a:rPr sz="830" b="1" dirty="0">
                          <a:solidFill>
                            <a:srgbClr val="000000"/>
                          </a:solidFill>
                          <a:latin typeface="맑은 고딕"/>
                          <a:ea typeface="맑은 고딕"/>
                        </a:rPr>
                        <a:t> </a:t>
                      </a:r>
                      <a:r>
                        <a:rPr sz="830" b="1" dirty="0" err="1">
                          <a:solidFill>
                            <a:srgbClr val="000000"/>
                          </a:solidFill>
                          <a:latin typeface="맑은 고딕"/>
                          <a:ea typeface="맑은 고딕"/>
                        </a:rPr>
                        <a:t>기술</a:t>
                      </a:r>
                      <a:r>
                        <a:rPr sz="830" b="1" dirty="0">
                          <a:solidFill>
                            <a:srgbClr val="000000"/>
                          </a:solidFill>
                          <a:latin typeface="맑은 고딕"/>
                          <a:ea typeface="맑은 고딕"/>
                        </a:rPr>
                        <a:t> </a:t>
                      </a:r>
                      <a:r>
                        <a:rPr sz="830" b="1" dirty="0" err="1">
                          <a:solidFill>
                            <a:srgbClr val="000000"/>
                          </a:solidFill>
                          <a:latin typeface="맑은 고딕"/>
                          <a:ea typeface="맑은 고딕"/>
                        </a:rPr>
                        <a:t>위의</a:t>
                      </a:r>
                      <a:r>
                        <a:rPr sz="830" b="1" dirty="0">
                          <a:solidFill>
                            <a:srgbClr val="000000"/>
                          </a:solidFill>
                          <a:latin typeface="맑은 고딕"/>
                          <a:ea typeface="맑은 고딕"/>
                        </a:rPr>
                        <a:t> </a:t>
                      </a:r>
                      <a:r>
                        <a:rPr sz="830" b="1" dirty="0" err="1">
                          <a:solidFill>
                            <a:srgbClr val="000000"/>
                          </a:solidFill>
                          <a:latin typeface="맑은 고딕"/>
                          <a:ea typeface="맑은 고딕"/>
                        </a:rPr>
                        <a:t>우리</a:t>
                      </a:r>
                      <a:r>
                        <a:rPr sz="830" b="1" dirty="0">
                          <a:solidFill>
                            <a:srgbClr val="000000"/>
                          </a:solidFill>
                          <a:latin typeface="맑은 고딕"/>
                          <a:ea typeface="맑은 고딕"/>
                        </a:rPr>
                        <a:t> </a:t>
                      </a:r>
                      <a:r>
                        <a:rPr sz="830" b="1" dirty="0" err="1">
                          <a:solidFill>
                            <a:srgbClr val="000000"/>
                          </a:solidFill>
                          <a:latin typeface="맑은 고딕"/>
                          <a:ea typeface="맑은 고딕"/>
                        </a:rPr>
                        <a:t>목표</a:t>
                      </a:r>
                      <a:r>
                        <a:rPr sz="830" b="1" dirty="0">
                          <a:solidFill>
                            <a:srgbClr val="000000"/>
                          </a:solidFill>
                          <a:latin typeface="맑은 고딕"/>
                          <a:ea typeface="맑은 고딕"/>
                        </a:rPr>
                        <a:t>: </a:t>
                      </a:r>
                      <a:r>
                        <a:rPr sz="830" b="1" dirty="0" err="1">
                          <a:solidFill>
                            <a:srgbClr val="000000"/>
                          </a:solidFill>
                          <a:latin typeface="맑은 고딕"/>
                          <a:ea typeface="맑은 고딕"/>
                        </a:rPr>
                        <a:t>노드</a:t>
                      </a:r>
                      <a:r>
                        <a:rPr sz="830" b="1" dirty="0">
                          <a:solidFill>
                            <a:srgbClr val="000000"/>
                          </a:solidFill>
                          <a:latin typeface="맑은 고딕"/>
                          <a:ea typeface="맑은 고딕"/>
                        </a:rPr>
                        <a:t> 간 KV </a:t>
                      </a:r>
                      <a:r>
                        <a:rPr sz="830" b="1" dirty="0" err="1">
                          <a:solidFill>
                            <a:srgbClr val="000000"/>
                          </a:solidFill>
                          <a:latin typeface="맑은 고딕"/>
                          <a:ea typeface="맑은 고딕"/>
                        </a:rPr>
                        <a:t>공유</a:t>
                      </a:r>
                      <a:r>
                        <a:rPr lang="en-US" sz="830" b="1" dirty="0">
                          <a:solidFill>
                            <a:srgbClr val="000000"/>
                          </a:solidFill>
                          <a:latin typeface="맑은 고딕"/>
                          <a:ea typeface="맑은 고딕"/>
                        </a:rPr>
                        <a:t>, </a:t>
                      </a:r>
                      <a:r>
                        <a:rPr sz="830" b="1" dirty="0" err="1">
                          <a:solidFill>
                            <a:srgbClr val="000000"/>
                          </a:solidFill>
                          <a:latin typeface="맑은 고딕"/>
                          <a:ea typeface="맑은 고딕"/>
                        </a:rPr>
                        <a:t>조율</a:t>
                      </a:r>
                      <a:r>
                        <a:rPr sz="830" b="1" dirty="0">
                          <a:solidFill>
                            <a:srgbClr val="000000"/>
                          </a:solidFill>
                          <a:latin typeface="맑은 고딕"/>
                          <a:ea typeface="맑은 고딕"/>
                        </a:rPr>
                        <a:t> </a:t>
                      </a:r>
                      <a:r>
                        <a:rPr sz="830" b="1" dirty="0" err="1">
                          <a:solidFill>
                            <a:srgbClr val="000000"/>
                          </a:solidFill>
                          <a:latin typeface="맑은 고딕"/>
                          <a:ea typeface="맑은 고딕"/>
                        </a:rPr>
                        <a:t>계층을</a:t>
                      </a:r>
                      <a:r>
                        <a:rPr sz="830" b="1" dirty="0">
                          <a:solidFill>
                            <a:srgbClr val="000000"/>
                          </a:solidFill>
                          <a:latin typeface="맑은 고딕"/>
                          <a:ea typeface="맑은 고딕"/>
                        </a:rPr>
                        <a:t> </a:t>
                      </a:r>
                      <a:r>
                        <a:rPr sz="830" b="1" dirty="0" err="1">
                          <a:solidFill>
                            <a:srgbClr val="000000"/>
                          </a:solidFill>
                          <a:latin typeface="맑은 고딕"/>
                          <a:ea typeface="맑은 고딕"/>
                        </a:rPr>
                        <a:t>두고도</a:t>
                      </a:r>
                      <a:r>
                        <a:rPr sz="830" b="1" dirty="0">
                          <a:solidFill>
                            <a:srgbClr val="000000"/>
                          </a:solidFill>
                          <a:latin typeface="맑은 고딕"/>
                          <a:ea typeface="맑은 고딕"/>
                        </a:rPr>
                        <a:t> </a:t>
                      </a:r>
                      <a:r>
                        <a:rPr sz="830" b="1" dirty="0" err="1">
                          <a:solidFill>
                            <a:srgbClr val="000000"/>
                          </a:solidFill>
                          <a:latin typeface="맑은 고딕"/>
                          <a:ea typeface="맑은 고딕"/>
                        </a:rPr>
                        <a:t>처리량</a:t>
                      </a:r>
                      <a:r>
                        <a:rPr sz="830" b="1" dirty="0">
                          <a:solidFill>
                            <a:srgbClr val="000000"/>
                          </a:solidFill>
                          <a:latin typeface="맑은 고딕"/>
                          <a:ea typeface="맑은 고딕"/>
                        </a:rPr>
                        <a:t> </a:t>
                      </a:r>
                      <a:r>
                        <a:rPr sz="830" b="1" dirty="0" err="1">
                          <a:solidFill>
                            <a:srgbClr val="000000"/>
                          </a:solidFill>
                          <a:latin typeface="맑은 고딕"/>
                          <a:ea typeface="맑은 고딕"/>
                        </a:rPr>
                        <a:t>손실</a:t>
                      </a:r>
                      <a:r>
                        <a:rPr sz="830" b="1" dirty="0">
                          <a:solidFill>
                            <a:srgbClr val="000000"/>
                          </a:solidFill>
                          <a:latin typeface="맑은 고딕"/>
                          <a:ea typeface="맑은 고딕"/>
                        </a:rPr>
                        <a:t> 5% </a:t>
                      </a:r>
                      <a:r>
                        <a:rPr sz="830" b="1" dirty="0" err="1">
                          <a:solidFill>
                            <a:srgbClr val="000000"/>
                          </a:solidFill>
                          <a:latin typeface="맑은 고딕"/>
                          <a:ea typeface="맑은 고딕"/>
                        </a:rPr>
                        <a:t>이내</a:t>
                      </a:r>
                      <a:r>
                        <a:rPr sz="830" b="1" dirty="0">
                          <a:solidFill>
                            <a:srgbClr val="000000"/>
                          </a:solidFill>
                          <a:latin typeface="맑은 고딕"/>
                          <a:ea typeface="맑은 고딕"/>
                        </a:rPr>
                        <a:t>(16노드에서 15.2노드분 </a:t>
                      </a:r>
                      <a:r>
                        <a:rPr sz="830" b="1" dirty="0" err="1">
                          <a:solidFill>
                            <a:srgbClr val="000000"/>
                          </a:solidFill>
                          <a:latin typeface="맑은 고딕"/>
                          <a:ea typeface="맑은 고딕"/>
                        </a:rPr>
                        <a:t>효과</a:t>
                      </a:r>
                      <a:r>
                        <a:rPr sz="830" b="1" dirty="0">
                          <a:solidFill>
                            <a:srgbClr val="000000"/>
                          </a:solidFill>
                          <a:latin typeface="맑은 고딕"/>
                          <a:ea typeface="맑은 고딕"/>
                        </a:rPr>
                        <a:t>). </a:t>
                      </a:r>
                      <a:endParaRPr lang="en-US" sz="830" b="1" dirty="0">
                        <a:solidFill>
                          <a:srgbClr val="000000"/>
                        </a:solidFill>
                        <a:latin typeface="맑은 고딕"/>
                        <a:ea typeface="맑은 고딕"/>
                      </a:endParaRPr>
                    </a:p>
                    <a:p>
                      <a:pPr algn="l">
                        <a:lnSpc>
                          <a:spcPct val="125000"/>
                        </a:lnSpc>
                      </a:pPr>
                      <a:r>
                        <a:rPr sz="830" b="1" dirty="0" err="1">
                          <a:solidFill>
                            <a:srgbClr val="000000"/>
                          </a:solidFill>
                          <a:latin typeface="맑은 고딕"/>
                          <a:ea typeface="맑은 고딕"/>
                        </a:rPr>
                        <a:t>조율</a:t>
                      </a:r>
                      <a:r>
                        <a:rPr sz="830" b="1" dirty="0">
                          <a:solidFill>
                            <a:srgbClr val="000000"/>
                          </a:solidFill>
                          <a:latin typeface="맑은 고딕"/>
                          <a:ea typeface="맑은 고딕"/>
                        </a:rPr>
                        <a:t> </a:t>
                      </a:r>
                      <a:r>
                        <a:rPr sz="830" b="1" dirty="0" err="1">
                          <a:solidFill>
                            <a:srgbClr val="000000"/>
                          </a:solidFill>
                          <a:latin typeface="맑은 고딕"/>
                          <a:ea typeface="맑은 고딕"/>
                        </a:rPr>
                        <a:t>계층</a:t>
                      </a:r>
                      <a:r>
                        <a:rPr sz="830" b="1" dirty="0">
                          <a:solidFill>
                            <a:srgbClr val="000000"/>
                          </a:solidFill>
                          <a:latin typeface="맑은 고딕"/>
                          <a:ea typeface="맑은 고딕"/>
                        </a:rPr>
                        <a:t> </a:t>
                      </a:r>
                      <a:r>
                        <a:rPr sz="830" b="1" dirty="0" err="1">
                          <a:solidFill>
                            <a:srgbClr val="000000"/>
                          </a:solidFill>
                          <a:latin typeface="맑은 고딕"/>
                          <a:ea typeface="맑은 고딕"/>
                        </a:rPr>
                        <a:t>직렬</a:t>
                      </a:r>
                      <a:r>
                        <a:rPr sz="830" b="1" dirty="0">
                          <a:solidFill>
                            <a:srgbClr val="000000"/>
                          </a:solidFill>
                          <a:latin typeface="맑은 고딕"/>
                          <a:ea typeface="맑은 고딕"/>
                        </a:rPr>
                        <a:t> </a:t>
                      </a:r>
                      <a:r>
                        <a:rPr sz="830" b="1" dirty="0" err="1">
                          <a:solidFill>
                            <a:srgbClr val="000000"/>
                          </a:solidFill>
                          <a:latin typeface="맑은 고딕"/>
                          <a:ea typeface="맑은 고딕"/>
                        </a:rPr>
                        <a:t>비중</a:t>
                      </a:r>
                      <a:r>
                        <a:rPr sz="830" b="1" dirty="0">
                          <a:solidFill>
                            <a:srgbClr val="000000"/>
                          </a:solidFill>
                          <a:latin typeface="맑은 고딕"/>
                          <a:ea typeface="맑은 고딕"/>
                        </a:rPr>
                        <a:t> σ ≤ 0.35%(USL </a:t>
                      </a:r>
                      <a:r>
                        <a:rPr sz="830" b="1" dirty="0" err="1">
                          <a:solidFill>
                            <a:srgbClr val="000000"/>
                          </a:solidFill>
                          <a:latin typeface="맑은 고딕"/>
                          <a:ea typeface="맑은 고딕"/>
                        </a:rPr>
                        <a:t>환산</a:t>
                      </a:r>
                      <a:r>
                        <a:rPr sz="830" b="1" dirty="0">
                          <a:solidFill>
                            <a:srgbClr val="000000"/>
                          </a:solidFill>
                          <a:latin typeface="맑은 고딕"/>
                          <a:ea typeface="맑은 고딕"/>
                        </a:rPr>
                        <a:t>, </a:t>
                      </a:r>
                      <a:r>
                        <a:rPr sz="830" b="1" dirty="0" err="1">
                          <a:solidFill>
                            <a:srgbClr val="000000"/>
                          </a:solidFill>
                          <a:latin typeface="맑은 고딕"/>
                          <a:ea typeface="맑은 고딕"/>
                        </a:rPr>
                        <a:t>정책</a:t>
                      </a:r>
                      <a:r>
                        <a:rPr sz="830" b="1" dirty="0">
                          <a:solidFill>
                            <a:srgbClr val="000000"/>
                          </a:solidFill>
                          <a:latin typeface="맑은 고딕"/>
                          <a:ea typeface="맑은 고딕"/>
                        </a:rPr>
                        <a:t> </a:t>
                      </a:r>
                      <a:r>
                        <a:rPr sz="830" b="1" dirty="0" err="1">
                          <a:solidFill>
                            <a:srgbClr val="000000"/>
                          </a:solidFill>
                          <a:latin typeface="맑은 고딕"/>
                          <a:ea typeface="맑은 고딕"/>
                        </a:rPr>
                        <a:t>선택</a:t>
                      </a:r>
                      <a:r>
                        <a:rPr sz="830" b="1"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830" b="0">
                          <a:solidFill>
                            <a:srgbClr val="000000"/>
                          </a:solidFill>
                          <a:latin typeface="맑은 고딕"/>
                          <a:ea typeface="맑은 고딕"/>
                        </a:rPr>
                        <a:t>USL 환산 / 정책</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01752">
                <a:tc>
                  <a:txBody>
                    <a:bodyPr/>
                    <a:lstStyle/>
                    <a:p>
                      <a:pPr algn="ctr">
                        <a:lnSpc>
                          <a:spcPct val="125000"/>
                        </a:lnSpc>
                      </a:pPr>
                      <a:r>
                        <a:rPr sz="83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830" b="0" dirty="0">
                          <a:solidFill>
                            <a:srgbClr val="000000"/>
                          </a:solidFill>
                          <a:latin typeface="맑은 고딕"/>
                          <a:ea typeface="맑은 고딕"/>
                        </a:rPr>
                        <a:t>92.5 ≤ SE &lt; 95%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830" b="0" dirty="0">
                          <a:solidFill>
                            <a:srgbClr val="000000"/>
                          </a:solidFill>
                          <a:latin typeface="맑은 고딕"/>
                          <a:ea typeface="맑은 고딕"/>
                        </a:rPr>
                        <a:t>★2와 ★3의 </a:t>
                      </a:r>
                      <a:r>
                        <a:rPr sz="830" b="0" dirty="0" err="1">
                          <a:solidFill>
                            <a:srgbClr val="000000"/>
                          </a:solidFill>
                          <a:latin typeface="맑은 고딕"/>
                          <a:ea typeface="맑은 고딕"/>
                        </a:rPr>
                        <a:t>중점</a:t>
                      </a:r>
                      <a:r>
                        <a:rPr sz="830" b="0" dirty="0">
                          <a:solidFill>
                            <a:srgbClr val="000000"/>
                          </a:solidFill>
                          <a:latin typeface="맑은 고딕"/>
                          <a:ea typeface="맑은 고딕"/>
                        </a:rPr>
                        <a:t>(</a:t>
                      </a:r>
                      <a:r>
                        <a:rPr sz="830" b="0" dirty="0" err="1">
                          <a:solidFill>
                            <a:srgbClr val="000000"/>
                          </a:solidFill>
                          <a:latin typeface="맑은 고딕"/>
                          <a:ea typeface="맑은 고딕"/>
                        </a:rPr>
                        <a:t>손실</a:t>
                      </a:r>
                      <a:r>
                        <a:rPr sz="830" b="0" dirty="0">
                          <a:solidFill>
                            <a:srgbClr val="000000"/>
                          </a:solidFill>
                          <a:latin typeface="맑은 고딕"/>
                          <a:ea typeface="맑은 고딕"/>
                        </a:rPr>
                        <a:t> 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83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301752">
                <a:tc>
                  <a:txBody>
                    <a:bodyPr/>
                    <a:lstStyle/>
                    <a:p>
                      <a:pPr algn="ctr">
                        <a:lnSpc>
                          <a:spcPct val="125000"/>
                        </a:lnSpc>
                      </a:pPr>
                      <a:r>
                        <a:rPr sz="83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830" b="0" dirty="0">
                          <a:solidFill>
                            <a:srgbClr val="000000"/>
                          </a:solidFill>
                          <a:latin typeface="맑은 고딕"/>
                          <a:ea typeface="맑은 고딕"/>
                        </a:rPr>
                        <a:t>90 ≤ SE &lt; 92.5%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830" b="1" dirty="0" err="1">
                          <a:solidFill>
                            <a:srgbClr val="000000"/>
                          </a:solidFill>
                          <a:latin typeface="맑은 고딕"/>
                          <a:ea typeface="맑은 고딕"/>
                        </a:rPr>
                        <a:t>경쟁</a:t>
                      </a:r>
                      <a:r>
                        <a:rPr sz="830" b="1" dirty="0">
                          <a:solidFill>
                            <a:srgbClr val="000000"/>
                          </a:solidFill>
                          <a:latin typeface="맑은 고딕"/>
                          <a:ea typeface="맑은 고딕"/>
                        </a:rPr>
                        <a:t> </a:t>
                      </a:r>
                      <a:r>
                        <a:rPr sz="830" b="1" dirty="0" err="1">
                          <a:solidFill>
                            <a:srgbClr val="000000"/>
                          </a:solidFill>
                          <a:latin typeface="맑은 고딕"/>
                          <a:ea typeface="맑은 고딕"/>
                        </a:rPr>
                        <a:t>기술</a:t>
                      </a:r>
                      <a:r>
                        <a:rPr sz="830" b="1" dirty="0">
                          <a:solidFill>
                            <a:srgbClr val="000000"/>
                          </a:solidFill>
                          <a:latin typeface="맑은 고딕"/>
                          <a:ea typeface="맑은 고딕"/>
                        </a:rPr>
                        <a:t> </a:t>
                      </a:r>
                      <a:r>
                        <a:rPr sz="830" b="1" dirty="0" err="1">
                          <a:solidFill>
                            <a:srgbClr val="000000"/>
                          </a:solidFill>
                          <a:latin typeface="맑은 고딕"/>
                          <a:ea typeface="맑은 고딕"/>
                        </a:rPr>
                        <a:t>수준</a:t>
                      </a:r>
                      <a:r>
                        <a:rPr sz="830" b="1" dirty="0">
                          <a:solidFill>
                            <a:srgbClr val="000000"/>
                          </a:solidFill>
                          <a:latin typeface="맑은 고딕"/>
                          <a:ea typeface="맑은 고딕"/>
                        </a:rPr>
                        <a:t>: </a:t>
                      </a:r>
                      <a:r>
                        <a:rPr sz="830" b="1" dirty="0" err="1">
                          <a:solidFill>
                            <a:srgbClr val="000000"/>
                          </a:solidFill>
                          <a:latin typeface="맑은 고딕"/>
                          <a:ea typeface="맑은 고딕"/>
                        </a:rPr>
                        <a:t>처리량</a:t>
                      </a:r>
                      <a:r>
                        <a:rPr sz="830" b="1" dirty="0">
                          <a:solidFill>
                            <a:srgbClr val="000000"/>
                          </a:solidFill>
                          <a:latin typeface="맑은 고딕"/>
                          <a:ea typeface="맑은 고딕"/>
                        </a:rPr>
                        <a:t> </a:t>
                      </a:r>
                      <a:r>
                        <a:rPr sz="830" b="1" dirty="0" err="1">
                          <a:solidFill>
                            <a:srgbClr val="000000"/>
                          </a:solidFill>
                          <a:latin typeface="맑은 고딕"/>
                          <a:ea typeface="맑은 고딕"/>
                        </a:rPr>
                        <a:t>손실</a:t>
                      </a:r>
                      <a:r>
                        <a:rPr sz="830" b="1" dirty="0">
                          <a:solidFill>
                            <a:srgbClr val="000000"/>
                          </a:solidFill>
                          <a:latin typeface="맑은 고딕"/>
                          <a:ea typeface="맑은 고딕"/>
                        </a:rPr>
                        <a:t> 10% </a:t>
                      </a:r>
                      <a:r>
                        <a:rPr sz="830" b="1" dirty="0" err="1">
                          <a:solidFill>
                            <a:srgbClr val="000000"/>
                          </a:solidFill>
                          <a:latin typeface="맑은 고딕"/>
                          <a:ea typeface="맑은 고딕"/>
                        </a:rPr>
                        <a:t>이내</a:t>
                      </a:r>
                      <a:r>
                        <a:rPr sz="830" b="1" dirty="0">
                          <a:solidFill>
                            <a:srgbClr val="000000"/>
                          </a:solidFill>
                          <a:latin typeface="맑은 고딕"/>
                          <a:ea typeface="맑은 고딕"/>
                        </a:rPr>
                        <a:t>(16노드에서 14.4노드분 </a:t>
                      </a:r>
                      <a:r>
                        <a:rPr sz="830" b="1" dirty="0" err="1">
                          <a:solidFill>
                            <a:srgbClr val="000000"/>
                          </a:solidFill>
                          <a:latin typeface="맑은 고딕"/>
                          <a:ea typeface="맑은 고딕"/>
                        </a:rPr>
                        <a:t>효과</a:t>
                      </a:r>
                      <a:r>
                        <a:rPr sz="830" b="1" dirty="0">
                          <a:solidFill>
                            <a:srgbClr val="000000"/>
                          </a:solidFill>
                          <a:latin typeface="맑은 고딕"/>
                          <a:ea typeface="맑은 고딕"/>
                        </a:rPr>
                        <a:t>), '</a:t>
                      </a:r>
                      <a:r>
                        <a:rPr sz="830" b="1" dirty="0" err="1">
                          <a:solidFill>
                            <a:srgbClr val="000000"/>
                          </a:solidFill>
                          <a:latin typeface="맑은 고딕"/>
                          <a:ea typeface="맑은 고딕"/>
                        </a:rPr>
                        <a:t>효율적'이라</a:t>
                      </a:r>
                      <a:r>
                        <a:rPr sz="830" b="1" dirty="0">
                          <a:solidFill>
                            <a:srgbClr val="000000"/>
                          </a:solidFill>
                          <a:latin typeface="맑은 고딕"/>
                          <a:ea typeface="맑은 고딕"/>
                        </a:rPr>
                        <a:t> </a:t>
                      </a:r>
                      <a:r>
                        <a:rPr sz="830" b="1" dirty="0" err="1">
                          <a:solidFill>
                            <a:srgbClr val="000000"/>
                          </a:solidFill>
                          <a:latin typeface="맑은 고딕"/>
                          <a:ea typeface="맑은 고딕"/>
                        </a:rPr>
                        <a:t>부르는</a:t>
                      </a:r>
                      <a:r>
                        <a:rPr sz="830" b="1" dirty="0">
                          <a:solidFill>
                            <a:srgbClr val="000000"/>
                          </a:solidFill>
                          <a:latin typeface="맑은 고딕"/>
                          <a:ea typeface="맑은 고딕"/>
                        </a:rPr>
                        <a:t> </a:t>
                      </a:r>
                      <a:r>
                        <a:rPr sz="830" b="1" dirty="0" err="1">
                          <a:solidFill>
                            <a:srgbClr val="000000"/>
                          </a:solidFill>
                          <a:latin typeface="맑은 고딕"/>
                          <a:ea typeface="맑은 고딕"/>
                        </a:rPr>
                        <a:t>관례</a:t>
                      </a:r>
                      <a:r>
                        <a:rPr sz="830" b="1" dirty="0">
                          <a:solidFill>
                            <a:srgbClr val="000000"/>
                          </a:solidFill>
                          <a:latin typeface="맑은 고딕"/>
                          <a:ea typeface="맑은 고딕"/>
                        </a:rPr>
                        <a:t>. </a:t>
                      </a:r>
                      <a:endParaRPr lang="en-US" sz="830" b="1" dirty="0">
                        <a:solidFill>
                          <a:srgbClr val="000000"/>
                        </a:solidFill>
                        <a:latin typeface="맑은 고딕"/>
                        <a:ea typeface="맑은 고딕"/>
                      </a:endParaRPr>
                    </a:p>
                    <a:p>
                      <a:pPr algn="l">
                        <a:lnSpc>
                          <a:spcPct val="125000"/>
                        </a:lnSpc>
                      </a:pPr>
                      <a:r>
                        <a:rPr sz="830" b="1" dirty="0" err="1">
                          <a:solidFill>
                            <a:srgbClr val="000000"/>
                          </a:solidFill>
                          <a:latin typeface="맑은 고딕"/>
                          <a:ea typeface="맑은 고딕"/>
                        </a:rPr>
                        <a:t>노드</a:t>
                      </a:r>
                      <a:r>
                        <a:rPr sz="830" b="1" dirty="0">
                          <a:solidFill>
                            <a:srgbClr val="000000"/>
                          </a:solidFill>
                          <a:latin typeface="맑은 고딕"/>
                          <a:ea typeface="맑은 고딕"/>
                        </a:rPr>
                        <a:t> </a:t>
                      </a:r>
                      <a:r>
                        <a:rPr sz="830" b="1" dirty="0" err="1">
                          <a:solidFill>
                            <a:srgbClr val="000000"/>
                          </a:solidFill>
                          <a:latin typeface="맑은 고딕"/>
                          <a:ea typeface="맑은 고딕"/>
                        </a:rPr>
                        <a:t>독립</a:t>
                      </a:r>
                      <a:r>
                        <a:rPr sz="830" b="1" dirty="0">
                          <a:solidFill>
                            <a:srgbClr val="000000"/>
                          </a:solidFill>
                          <a:latin typeface="맑은 고딕"/>
                          <a:ea typeface="맑은 고딕"/>
                        </a:rPr>
                        <a:t> </a:t>
                      </a:r>
                      <a:r>
                        <a:rPr sz="830" b="1" dirty="0" err="1">
                          <a:solidFill>
                            <a:srgbClr val="000000"/>
                          </a:solidFill>
                          <a:latin typeface="맑은 고딕"/>
                          <a:ea typeface="맑은 고딕"/>
                        </a:rPr>
                        <a:t>단순</a:t>
                      </a:r>
                      <a:r>
                        <a:rPr sz="830" b="1" dirty="0">
                          <a:solidFill>
                            <a:srgbClr val="000000"/>
                          </a:solidFill>
                          <a:latin typeface="맑은 고딕"/>
                          <a:ea typeface="맑은 고딕"/>
                        </a:rPr>
                        <a:t> </a:t>
                      </a:r>
                      <a:r>
                        <a:rPr sz="830" b="1" dirty="0" err="1">
                          <a:solidFill>
                            <a:srgbClr val="000000"/>
                          </a:solidFill>
                          <a:latin typeface="맑은 고딕"/>
                          <a:ea typeface="맑은 고딕"/>
                        </a:rPr>
                        <a:t>offloading은</a:t>
                      </a:r>
                      <a:r>
                        <a:rPr sz="830" b="1" dirty="0">
                          <a:solidFill>
                            <a:srgbClr val="000000"/>
                          </a:solidFill>
                          <a:latin typeface="맑은 고딕"/>
                          <a:ea typeface="맑은 고딕"/>
                        </a:rPr>
                        <a:t> </a:t>
                      </a:r>
                      <a:r>
                        <a:rPr sz="830" b="1" dirty="0" err="1">
                          <a:solidFill>
                            <a:srgbClr val="000000"/>
                          </a:solidFill>
                          <a:latin typeface="맑은 고딕"/>
                          <a:ea typeface="맑은 고딕"/>
                        </a:rPr>
                        <a:t>조율</a:t>
                      </a:r>
                      <a:r>
                        <a:rPr sz="830" b="1" dirty="0">
                          <a:solidFill>
                            <a:srgbClr val="000000"/>
                          </a:solidFill>
                          <a:latin typeface="맑은 고딕"/>
                          <a:ea typeface="맑은 고딕"/>
                        </a:rPr>
                        <a:t> </a:t>
                      </a:r>
                      <a:r>
                        <a:rPr sz="830" b="1" dirty="0" err="1">
                          <a:solidFill>
                            <a:srgbClr val="000000"/>
                          </a:solidFill>
                          <a:latin typeface="맑은 고딕"/>
                          <a:ea typeface="맑은 고딕"/>
                        </a:rPr>
                        <a:t>비용이</a:t>
                      </a:r>
                      <a:r>
                        <a:rPr sz="830" b="1" dirty="0">
                          <a:solidFill>
                            <a:srgbClr val="000000"/>
                          </a:solidFill>
                          <a:latin typeface="맑은 고딕"/>
                          <a:ea typeface="맑은 고딕"/>
                        </a:rPr>
                        <a:t> </a:t>
                      </a:r>
                      <a:r>
                        <a:rPr sz="830" b="1" dirty="0" err="1">
                          <a:solidFill>
                            <a:srgbClr val="000000"/>
                          </a:solidFill>
                          <a:latin typeface="맑은 고딕"/>
                          <a:ea typeface="맑은 고딕"/>
                        </a:rPr>
                        <a:t>없어</a:t>
                      </a:r>
                      <a:r>
                        <a:rPr sz="830" b="1" dirty="0">
                          <a:solidFill>
                            <a:srgbClr val="000000"/>
                          </a:solidFill>
                          <a:latin typeface="맑은 고딕"/>
                          <a:ea typeface="맑은 고딕"/>
                        </a:rPr>
                        <a:t> SE 98%지만 </a:t>
                      </a:r>
                      <a:r>
                        <a:rPr sz="830" b="1" dirty="0" err="1">
                          <a:solidFill>
                            <a:srgbClr val="000000"/>
                          </a:solidFill>
                          <a:latin typeface="맑은 고딕"/>
                          <a:ea typeface="맑은 고딕"/>
                        </a:rPr>
                        <a:t>노드</a:t>
                      </a:r>
                      <a:r>
                        <a:rPr sz="830" b="1" dirty="0">
                          <a:solidFill>
                            <a:srgbClr val="000000"/>
                          </a:solidFill>
                          <a:latin typeface="맑은 고딕"/>
                          <a:ea typeface="맑은 고딕"/>
                        </a:rPr>
                        <a:t> 간 </a:t>
                      </a:r>
                      <a:r>
                        <a:rPr sz="830" b="1" dirty="0" err="1">
                          <a:solidFill>
                            <a:srgbClr val="000000"/>
                          </a:solidFill>
                          <a:latin typeface="맑은 고딕"/>
                          <a:ea typeface="맑은 고딕"/>
                        </a:rPr>
                        <a:t>공유</a:t>
                      </a:r>
                      <a:r>
                        <a:rPr sz="830" b="1" dirty="0">
                          <a:solidFill>
                            <a:srgbClr val="000000"/>
                          </a:solidFill>
                          <a:latin typeface="맑은 고딕"/>
                          <a:ea typeface="맑은 고딕"/>
                        </a:rPr>
                        <a:t> </a:t>
                      </a:r>
                      <a:r>
                        <a:rPr sz="830" b="1" dirty="0" err="1">
                          <a:solidFill>
                            <a:srgbClr val="000000"/>
                          </a:solidFill>
                          <a:latin typeface="맑은 고딕"/>
                          <a:ea typeface="맑은 고딕"/>
                        </a:rPr>
                        <a:t>이득이</a:t>
                      </a:r>
                      <a:r>
                        <a:rPr sz="830" b="1" dirty="0">
                          <a:solidFill>
                            <a:srgbClr val="000000"/>
                          </a:solidFill>
                          <a:latin typeface="맑은 고딕"/>
                          <a:ea typeface="맑은 고딕"/>
                        </a:rPr>
                        <a:t> </a:t>
                      </a:r>
                      <a:r>
                        <a:rPr sz="830" b="1" dirty="0" err="1">
                          <a:solidFill>
                            <a:srgbClr val="000000"/>
                          </a:solidFill>
                          <a:latin typeface="맑은 고딕"/>
                          <a:ea typeface="맑은 고딕"/>
                        </a:rPr>
                        <a:t>없다</a:t>
                      </a:r>
                      <a:endParaRPr sz="83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830" b="0">
                          <a:solidFill>
                            <a:srgbClr val="000000"/>
                          </a:solidFill>
                          <a:latin typeface="맑은 고딕"/>
                          <a:ea typeface="맑은 고딕"/>
                        </a:rPr>
                        <a:t>정책 선택, 이론 계산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01752">
                <a:tc>
                  <a:txBody>
                    <a:bodyPr/>
                    <a:lstStyle/>
                    <a:p>
                      <a:pPr algn="ctr">
                        <a:lnSpc>
                          <a:spcPct val="125000"/>
                        </a:lnSpc>
                      </a:pPr>
                      <a:r>
                        <a:rPr sz="83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830" b="0">
                          <a:solidFill>
                            <a:srgbClr val="000000"/>
                          </a:solidFill>
                          <a:latin typeface="맑은 고딕"/>
                          <a:ea typeface="맑은 고딕"/>
                        </a:rPr>
                        <a:t>85 ≤ SE &lt; 90%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830" b="0" dirty="0">
                          <a:solidFill>
                            <a:srgbClr val="000000"/>
                          </a:solidFill>
                          <a:latin typeface="맑은 고딕"/>
                          <a:ea typeface="맑은 고딕"/>
                        </a:rPr>
                        <a:t>★1과 ★2의 </a:t>
                      </a:r>
                      <a:r>
                        <a:rPr sz="830" b="0" dirty="0" err="1">
                          <a:solidFill>
                            <a:srgbClr val="000000"/>
                          </a:solidFill>
                          <a:latin typeface="맑은 고딕"/>
                          <a:ea typeface="맑은 고딕"/>
                        </a:rPr>
                        <a:t>중점</a:t>
                      </a:r>
                      <a:r>
                        <a:rPr sz="830" b="0" dirty="0">
                          <a:solidFill>
                            <a:srgbClr val="000000"/>
                          </a:solidFill>
                          <a:latin typeface="맑은 고딕"/>
                          <a:ea typeface="맑은 고딕"/>
                        </a:rPr>
                        <a:t>(</a:t>
                      </a:r>
                      <a:r>
                        <a:rPr sz="830" b="0" dirty="0" err="1">
                          <a:solidFill>
                            <a:srgbClr val="000000"/>
                          </a:solidFill>
                          <a:latin typeface="맑은 고딕"/>
                          <a:ea typeface="맑은 고딕"/>
                        </a:rPr>
                        <a:t>손실</a:t>
                      </a:r>
                      <a:r>
                        <a:rPr sz="830" b="0" dirty="0">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83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01752">
                <a:tc>
                  <a:txBody>
                    <a:bodyPr/>
                    <a:lstStyle/>
                    <a:p>
                      <a:pPr algn="ctr">
                        <a:lnSpc>
                          <a:spcPct val="125000"/>
                        </a:lnSpc>
                      </a:pPr>
                      <a:r>
                        <a:rPr sz="83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30" b="0" dirty="0">
                          <a:solidFill>
                            <a:srgbClr val="000000"/>
                          </a:solidFill>
                          <a:latin typeface="맑은 고딕"/>
                          <a:ea typeface="맑은 고딕"/>
                        </a:rPr>
                        <a:t>80 ≤ SE &lt; 85%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30" b="1" dirty="0">
                          <a:solidFill>
                            <a:srgbClr val="000000"/>
                          </a:solidFill>
                          <a:latin typeface="맑은 고딕"/>
                          <a:ea typeface="맑은 고딕"/>
                        </a:rPr>
                        <a:t>Stakeholder </a:t>
                      </a:r>
                      <a:r>
                        <a:rPr sz="830" b="1" dirty="0" err="1">
                          <a:solidFill>
                            <a:srgbClr val="000000"/>
                          </a:solidFill>
                          <a:latin typeface="맑은 고딕"/>
                          <a:ea typeface="맑은 고딕"/>
                        </a:rPr>
                        <a:t>요구</a:t>
                      </a:r>
                      <a:r>
                        <a:rPr sz="830" b="1" dirty="0">
                          <a:solidFill>
                            <a:srgbClr val="000000"/>
                          </a:solidFill>
                          <a:latin typeface="맑은 고딕"/>
                          <a:ea typeface="맑은 고딕"/>
                        </a:rPr>
                        <a:t>: SE &gt; 80%. </a:t>
                      </a:r>
                      <a:endParaRPr lang="en-US" sz="830" b="1" dirty="0">
                        <a:solidFill>
                          <a:srgbClr val="000000"/>
                        </a:solidFill>
                        <a:latin typeface="맑은 고딕"/>
                        <a:ea typeface="맑은 고딕"/>
                      </a:endParaRPr>
                    </a:p>
                    <a:p>
                      <a:pPr algn="l">
                        <a:lnSpc>
                          <a:spcPct val="125000"/>
                        </a:lnSpc>
                      </a:pPr>
                      <a:r>
                        <a:rPr sz="830" b="1" dirty="0" err="1">
                          <a:solidFill>
                            <a:srgbClr val="000000"/>
                          </a:solidFill>
                          <a:latin typeface="맑은 고딕"/>
                          <a:ea typeface="맑은 고딕"/>
                        </a:rPr>
                        <a:t>문헌</a:t>
                      </a:r>
                      <a:r>
                        <a:rPr sz="830" b="1" dirty="0">
                          <a:solidFill>
                            <a:srgbClr val="000000"/>
                          </a:solidFill>
                          <a:latin typeface="맑은 고딕"/>
                          <a:ea typeface="맑은 고딕"/>
                        </a:rPr>
                        <a:t>: 65,536 </a:t>
                      </a:r>
                      <a:r>
                        <a:rPr sz="830" b="1" dirty="0" err="1">
                          <a:solidFill>
                            <a:srgbClr val="000000"/>
                          </a:solidFill>
                          <a:latin typeface="맑은 고딕"/>
                          <a:ea typeface="맑은 고딕"/>
                        </a:rPr>
                        <a:t>GPU에서</a:t>
                      </a:r>
                      <a:r>
                        <a:rPr sz="830" b="1" dirty="0">
                          <a:solidFill>
                            <a:srgbClr val="000000"/>
                          </a:solidFill>
                          <a:latin typeface="맑은 고딕"/>
                          <a:ea typeface="맑은 고딕"/>
                        </a:rPr>
                        <a:t> </a:t>
                      </a:r>
                      <a:r>
                        <a:rPr sz="830" b="1" dirty="0" err="1">
                          <a:solidFill>
                            <a:srgbClr val="000000"/>
                          </a:solidFill>
                          <a:latin typeface="맑은 고딕"/>
                          <a:ea typeface="맑은 고딕"/>
                        </a:rPr>
                        <a:t>병렬</a:t>
                      </a:r>
                      <a:r>
                        <a:rPr sz="830" b="1" dirty="0">
                          <a:solidFill>
                            <a:srgbClr val="000000"/>
                          </a:solidFill>
                          <a:latin typeface="맑은 고딕"/>
                          <a:ea typeface="맑은 고딕"/>
                        </a:rPr>
                        <a:t> </a:t>
                      </a:r>
                      <a:r>
                        <a:rPr sz="830" b="1" dirty="0" err="1">
                          <a:solidFill>
                            <a:srgbClr val="000000"/>
                          </a:solidFill>
                          <a:latin typeface="맑은 고딕"/>
                          <a:ea typeface="맑은 고딕"/>
                        </a:rPr>
                        <a:t>효율</a:t>
                      </a:r>
                      <a:r>
                        <a:rPr sz="830" b="1" dirty="0">
                          <a:solidFill>
                            <a:srgbClr val="000000"/>
                          </a:solidFill>
                          <a:latin typeface="맑은 고딕"/>
                          <a:ea typeface="맑은 고딕"/>
                        </a:rPr>
                        <a:t> 80% </a:t>
                      </a:r>
                      <a:r>
                        <a:rPr sz="830" b="1" dirty="0" err="1">
                          <a:solidFill>
                            <a:srgbClr val="000000"/>
                          </a:solidFill>
                          <a:latin typeface="맑은 고딕"/>
                          <a:ea typeface="맑은 고딕"/>
                        </a:rPr>
                        <a:t>보고</a:t>
                      </a:r>
                      <a:r>
                        <a:rPr sz="830" b="1" dirty="0">
                          <a:solidFill>
                            <a:srgbClr val="000000"/>
                          </a:solidFill>
                          <a:latin typeface="맑은 고딕"/>
                          <a:ea typeface="맑은 고딕"/>
                        </a:rPr>
                        <a:t>(</a:t>
                      </a:r>
                      <a:r>
                        <a:rPr sz="830" b="1" dirty="0" err="1">
                          <a:solidFill>
                            <a:srgbClr val="000000"/>
                          </a:solidFill>
                          <a:latin typeface="맑은 고딕"/>
                          <a:ea typeface="맑은 고딕"/>
                        </a:rPr>
                        <a:t>AthenaK</a:t>
                      </a:r>
                      <a:r>
                        <a:rPr sz="830" b="1" dirty="0">
                          <a:solidFill>
                            <a:srgbClr val="000000"/>
                          </a:solidFill>
                          <a:latin typeface="맑은 고딕"/>
                          <a:ea typeface="맑은 고딕"/>
                        </a:rPr>
                        <a:t>, </a:t>
                      </a:r>
                      <a:r>
                        <a:rPr sz="830" b="1" dirty="0" err="1">
                          <a:solidFill>
                            <a:srgbClr val="000000"/>
                          </a:solidFill>
                          <a:latin typeface="맑은 고딕"/>
                          <a:ea typeface="맑은 고딕"/>
                        </a:rPr>
                        <a:t>학습</a:t>
                      </a:r>
                      <a:r>
                        <a:rPr sz="830" b="1" dirty="0">
                          <a:solidFill>
                            <a:srgbClr val="000000"/>
                          </a:solidFill>
                          <a:latin typeface="맑은 고딕"/>
                          <a:ea typeface="맑은 고딕"/>
                        </a:rPr>
                        <a:t> </a:t>
                      </a:r>
                      <a:r>
                        <a:rPr sz="830" b="1" dirty="0" err="1">
                          <a:solidFill>
                            <a:srgbClr val="000000"/>
                          </a:solidFill>
                          <a:latin typeface="맑은 고딕"/>
                          <a:ea typeface="맑은 고딕"/>
                        </a:rPr>
                        <a:t>workload라</a:t>
                      </a:r>
                      <a:r>
                        <a:rPr sz="830" b="1" dirty="0">
                          <a:solidFill>
                            <a:srgbClr val="000000"/>
                          </a:solidFill>
                          <a:latin typeface="맑은 고딕"/>
                          <a:ea typeface="맑은 고딕"/>
                        </a:rPr>
                        <a:t> </a:t>
                      </a:r>
                      <a:r>
                        <a:rPr sz="830" b="1" dirty="0" err="1">
                          <a:solidFill>
                            <a:srgbClr val="000000"/>
                          </a:solidFill>
                          <a:latin typeface="맑은 고딕"/>
                          <a:ea typeface="맑은 고딕"/>
                        </a:rPr>
                        <a:t>서빙</a:t>
                      </a:r>
                      <a:r>
                        <a:rPr sz="830" b="1" dirty="0">
                          <a:solidFill>
                            <a:srgbClr val="000000"/>
                          </a:solidFill>
                          <a:latin typeface="맑은 고딕"/>
                          <a:ea typeface="맑은 고딕"/>
                        </a:rPr>
                        <a:t> </a:t>
                      </a:r>
                      <a:r>
                        <a:rPr sz="830" b="1" dirty="0" err="1">
                          <a:solidFill>
                            <a:srgbClr val="000000"/>
                          </a:solidFill>
                          <a:latin typeface="맑은 고딕"/>
                          <a:ea typeface="맑은 고딕"/>
                        </a:rPr>
                        <a:t>SE와</a:t>
                      </a:r>
                      <a:r>
                        <a:rPr sz="830" b="1" dirty="0">
                          <a:solidFill>
                            <a:srgbClr val="000000"/>
                          </a:solidFill>
                          <a:latin typeface="맑은 고딕"/>
                          <a:ea typeface="맑은 고딕"/>
                        </a:rPr>
                        <a:t> </a:t>
                      </a:r>
                      <a:r>
                        <a:rPr sz="830" b="1" dirty="0" err="1">
                          <a:solidFill>
                            <a:srgbClr val="000000"/>
                          </a:solidFill>
                          <a:latin typeface="맑은 고딕"/>
                          <a:ea typeface="맑은 고딕"/>
                        </a:rPr>
                        <a:t>의미가</a:t>
                      </a:r>
                      <a:r>
                        <a:rPr sz="830" b="1" dirty="0">
                          <a:solidFill>
                            <a:srgbClr val="000000"/>
                          </a:solidFill>
                          <a:latin typeface="맑은 고딕"/>
                          <a:ea typeface="맑은 고딕"/>
                        </a:rPr>
                        <a:t> </a:t>
                      </a:r>
                      <a:r>
                        <a:rPr sz="830" b="1" dirty="0" err="1">
                          <a:solidFill>
                            <a:srgbClr val="000000"/>
                          </a:solidFill>
                          <a:latin typeface="맑은 고딕"/>
                          <a:ea typeface="맑은 고딕"/>
                        </a:rPr>
                        <a:t>다름</a:t>
                      </a:r>
                      <a:r>
                        <a:rPr sz="830" b="1"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830" b="0" dirty="0">
                          <a:solidFill>
                            <a:srgbClr val="000000"/>
                          </a:solidFill>
                          <a:latin typeface="맑은 고딕"/>
                          <a:ea typeface="맑은 고딕"/>
                        </a:rPr>
                        <a:t>Stakeholder </a:t>
                      </a:r>
                      <a:r>
                        <a:rPr sz="830" b="0" dirty="0" err="1">
                          <a:solidFill>
                            <a:srgbClr val="000000"/>
                          </a:solidFill>
                          <a:latin typeface="맑은 고딕"/>
                          <a:ea typeface="맑은 고딕"/>
                        </a:rPr>
                        <a:t>요구사항</a:t>
                      </a:r>
                      <a:r>
                        <a:rPr lang="en-US" sz="830" b="0" dirty="0">
                          <a:solidFill>
                            <a:srgbClr val="000000"/>
                          </a:solidFill>
                          <a:latin typeface="맑은 고딕"/>
                          <a:ea typeface="맑은 고딕"/>
                        </a:rPr>
                        <a:t>,</a:t>
                      </a:r>
                      <a:r>
                        <a:rPr sz="830" b="0" dirty="0">
                          <a:solidFill>
                            <a:srgbClr val="000000"/>
                          </a:solidFill>
                          <a:latin typeface="맑은 고딕"/>
                          <a:ea typeface="맑은 고딕"/>
                        </a:rPr>
                        <a:t> </a:t>
                      </a:r>
                      <a:r>
                        <a:rPr sz="830" b="0" dirty="0" err="1">
                          <a:solidFill>
                            <a:srgbClr val="000000"/>
                          </a:solidFill>
                          <a:latin typeface="맑은 고딕"/>
                          <a:ea typeface="맑은 고딕"/>
                        </a:rPr>
                        <a:t>arXiv</a:t>
                      </a:r>
                      <a:r>
                        <a:rPr sz="830" b="0" dirty="0">
                          <a:solidFill>
                            <a:srgbClr val="000000"/>
                          </a:solidFill>
                          <a:latin typeface="맑은 고딕"/>
                          <a:ea typeface="맑은 고딕"/>
                        </a:rPr>
                        <a:t> 2409.16053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01752">
                <a:tc>
                  <a:txBody>
                    <a:bodyPr/>
                    <a:lstStyle/>
                    <a:p>
                      <a:pPr algn="ctr">
                        <a:lnSpc>
                          <a:spcPct val="125000"/>
                        </a:lnSpc>
                      </a:pPr>
                      <a:r>
                        <a:rPr sz="83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830" b="0" dirty="0">
                          <a:solidFill>
                            <a:srgbClr val="000000"/>
                          </a:solidFill>
                          <a:latin typeface="맑은 고딕"/>
                          <a:ea typeface="맑은 고딕"/>
                        </a:rPr>
                        <a:t>SE &lt; 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830" b="0" dirty="0" err="1">
                          <a:solidFill>
                            <a:srgbClr val="000000"/>
                          </a:solidFill>
                          <a:latin typeface="맑은 고딕"/>
                          <a:ea typeface="맑은 고딕"/>
                        </a:rPr>
                        <a:t>확장은</a:t>
                      </a:r>
                      <a:r>
                        <a:rPr sz="830" b="0" dirty="0">
                          <a:solidFill>
                            <a:srgbClr val="000000"/>
                          </a:solidFill>
                          <a:latin typeface="맑은 고딕"/>
                          <a:ea typeface="맑은 고딕"/>
                        </a:rPr>
                        <a:t> </a:t>
                      </a:r>
                      <a:r>
                        <a:rPr sz="830" b="0" dirty="0" err="1">
                          <a:solidFill>
                            <a:srgbClr val="000000"/>
                          </a:solidFill>
                          <a:latin typeface="맑은 고딕"/>
                          <a:ea typeface="맑은 고딕"/>
                        </a:rPr>
                        <a:t>되지만</a:t>
                      </a:r>
                      <a:r>
                        <a:rPr sz="830" b="0" dirty="0">
                          <a:solidFill>
                            <a:srgbClr val="000000"/>
                          </a:solidFill>
                          <a:latin typeface="맑은 고딕"/>
                          <a:ea typeface="맑은 고딕"/>
                        </a:rPr>
                        <a:t> </a:t>
                      </a:r>
                      <a:r>
                        <a:rPr sz="830" b="0" dirty="0" err="1">
                          <a:solidFill>
                            <a:srgbClr val="000000"/>
                          </a:solidFill>
                          <a:latin typeface="맑은 고딕"/>
                          <a:ea typeface="맑은 고딕"/>
                        </a:rPr>
                        <a:t>조율</a:t>
                      </a:r>
                      <a:r>
                        <a:rPr sz="830" b="0" dirty="0">
                          <a:solidFill>
                            <a:srgbClr val="000000"/>
                          </a:solidFill>
                          <a:latin typeface="맑은 고딕"/>
                          <a:ea typeface="맑은 고딕"/>
                        </a:rPr>
                        <a:t> </a:t>
                      </a:r>
                      <a:r>
                        <a:rPr sz="830" b="0" dirty="0" err="1">
                          <a:solidFill>
                            <a:srgbClr val="000000"/>
                          </a:solidFill>
                          <a:latin typeface="맑은 고딕"/>
                          <a:ea typeface="맑은 고딕"/>
                        </a:rPr>
                        <a:t>계층이</a:t>
                      </a:r>
                      <a:r>
                        <a:rPr sz="830" b="0" dirty="0">
                          <a:solidFill>
                            <a:srgbClr val="000000"/>
                          </a:solidFill>
                          <a:latin typeface="맑은 고딕"/>
                          <a:ea typeface="맑은 고딕"/>
                        </a:rPr>
                        <a:t> </a:t>
                      </a:r>
                      <a:r>
                        <a:rPr sz="830" b="0" dirty="0" err="1">
                          <a:solidFill>
                            <a:srgbClr val="000000"/>
                          </a:solidFill>
                          <a:latin typeface="맑은 고딕"/>
                          <a:ea typeface="맑은 고딕"/>
                        </a:rPr>
                        <a:t>병목</a:t>
                      </a:r>
                      <a:r>
                        <a:rPr sz="830" b="0" dirty="0">
                          <a:solidFill>
                            <a:srgbClr val="000000"/>
                          </a:solidFill>
                          <a:latin typeface="맑은 고딕"/>
                          <a:ea typeface="맑은 고딕"/>
                        </a:rPr>
                        <a:t>. </a:t>
                      </a:r>
                      <a:r>
                        <a:rPr sz="830" b="0" dirty="0" err="1">
                          <a:solidFill>
                            <a:srgbClr val="000000"/>
                          </a:solidFill>
                          <a:latin typeface="맑은 고딕"/>
                          <a:ea typeface="맑은 고딕"/>
                        </a:rPr>
                        <a:t>시나리오</a:t>
                      </a:r>
                      <a:r>
                        <a:rPr sz="830" b="0" dirty="0">
                          <a:solidFill>
                            <a:srgbClr val="000000"/>
                          </a:solidFill>
                          <a:latin typeface="맑은 고딕"/>
                          <a:ea typeface="맑은 고딕"/>
                        </a:rPr>
                        <a:t> </a:t>
                      </a:r>
                      <a:r>
                        <a:rPr sz="830" b="0" dirty="0" err="1">
                          <a:solidFill>
                            <a:srgbClr val="000000"/>
                          </a:solidFill>
                          <a:latin typeface="맑은 고딕"/>
                          <a:ea typeface="맑은 고딕"/>
                        </a:rPr>
                        <a:t>요구</a:t>
                      </a:r>
                      <a:r>
                        <a:rPr sz="830" b="0" dirty="0">
                          <a:solidFill>
                            <a:srgbClr val="000000"/>
                          </a:solidFill>
                          <a:latin typeface="맑은 고딕"/>
                          <a:ea typeface="맑은 고딕"/>
                        </a:rPr>
                        <a:t>(80%) </a:t>
                      </a:r>
                      <a:r>
                        <a:rPr sz="830" b="0" dirty="0" err="1">
                          <a:solidFill>
                            <a:srgbClr val="000000"/>
                          </a:solidFill>
                          <a:latin typeface="맑은 고딕"/>
                          <a:ea typeface="맑은 고딕"/>
                        </a:rPr>
                        <a:t>미충족</a:t>
                      </a:r>
                      <a:endParaRPr sz="83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83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13" name="TextBox 12">
            <a:extLst>
              <a:ext uri="{FF2B5EF4-FFF2-40B4-BE49-F238E27FC236}">
                <a16:creationId xmlns:a16="http://schemas.microsoft.com/office/drawing/2014/main" id="{42E0AB72-070F-4E2F-B435-E2183B17CD99}"/>
              </a:ext>
            </a:extLst>
          </p:cNvPr>
          <p:cNvSpPr txBox="1"/>
          <p:nvPr/>
        </p:nvSpPr>
        <p:spPr>
          <a:xfrm>
            <a:off x="365760" y="4553712"/>
            <a:ext cx="1143000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(SE %, N=16)</a:t>
            </a:r>
          </a:p>
        </p:txBody>
      </p:sp>
      <p:sp>
        <p:nvSpPr>
          <p:cNvPr id="14" name="Rectangle 14">
            <a:extLst>
              <a:ext uri="{FF2B5EF4-FFF2-40B4-BE49-F238E27FC236}">
                <a16:creationId xmlns:a16="http://schemas.microsoft.com/office/drawing/2014/main" id="{6E57F761-B97A-4210-BEB9-6F5F783A983C}"/>
              </a:ext>
            </a:extLst>
          </p:cNvPr>
          <p:cNvSpPr/>
          <p:nvPr/>
        </p:nvSpPr>
        <p:spPr>
          <a:xfrm>
            <a:off x="411480" y="4791456"/>
            <a:ext cx="6803136"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52E390A4-8382-4E46-9FE6-2A461A948C1C}"/>
              </a:ext>
            </a:extLst>
          </p:cNvPr>
          <p:cNvSpPr txBox="1"/>
          <p:nvPr/>
        </p:nvSpPr>
        <p:spPr>
          <a:xfrm>
            <a:off x="411480" y="4791456"/>
            <a:ext cx="680313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16" name="Rectangle 16">
            <a:extLst>
              <a:ext uri="{FF2B5EF4-FFF2-40B4-BE49-F238E27FC236}">
                <a16:creationId xmlns:a16="http://schemas.microsoft.com/office/drawing/2014/main" id="{F053D9A3-46D7-4788-9C89-FF50130A7A8B}"/>
              </a:ext>
            </a:extLst>
          </p:cNvPr>
          <p:cNvSpPr/>
          <p:nvPr/>
        </p:nvSpPr>
        <p:spPr>
          <a:xfrm>
            <a:off x="7214616" y="4791456"/>
            <a:ext cx="1133855"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AE0828D8-EEA8-4F0A-A64C-D6E0B94603FA}"/>
              </a:ext>
            </a:extLst>
          </p:cNvPr>
          <p:cNvSpPr txBox="1"/>
          <p:nvPr/>
        </p:nvSpPr>
        <p:spPr>
          <a:xfrm>
            <a:off x="7214616" y="4791456"/>
            <a:ext cx="113385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18" name="Rectangle 18">
            <a:extLst>
              <a:ext uri="{FF2B5EF4-FFF2-40B4-BE49-F238E27FC236}">
                <a16:creationId xmlns:a16="http://schemas.microsoft.com/office/drawing/2014/main" id="{C5ECBAB7-9B59-4AD0-A418-6C48A9902FDD}"/>
              </a:ext>
            </a:extLst>
          </p:cNvPr>
          <p:cNvSpPr/>
          <p:nvPr/>
        </p:nvSpPr>
        <p:spPr>
          <a:xfrm>
            <a:off x="8348471" y="4791456"/>
            <a:ext cx="1133856"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9B9A59F5-1BB2-409C-8443-86FB2C72A0F8}"/>
              </a:ext>
            </a:extLst>
          </p:cNvPr>
          <p:cNvSpPr txBox="1"/>
          <p:nvPr/>
        </p:nvSpPr>
        <p:spPr>
          <a:xfrm>
            <a:off x="8348471" y="4791456"/>
            <a:ext cx="113385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20" name="Rectangle 20">
            <a:extLst>
              <a:ext uri="{FF2B5EF4-FFF2-40B4-BE49-F238E27FC236}">
                <a16:creationId xmlns:a16="http://schemas.microsoft.com/office/drawing/2014/main" id="{63A5A81A-B1E1-474E-8CE0-DD8949C69A24}"/>
              </a:ext>
            </a:extLst>
          </p:cNvPr>
          <p:cNvSpPr/>
          <p:nvPr/>
        </p:nvSpPr>
        <p:spPr>
          <a:xfrm>
            <a:off x="9482328" y="4791456"/>
            <a:ext cx="566927"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A9BB1A6F-F55A-4EF9-87C5-71C12CE1D443}"/>
              </a:ext>
            </a:extLst>
          </p:cNvPr>
          <p:cNvSpPr txBox="1"/>
          <p:nvPr/>
        </p:nvSpPr>
        <p:spPr>
          <a:xfrm>
            <a:off x="9482328" y="4791456"/>
            <a:ext cx="56692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22" name="Rectangle 22">
            <a:extLst>
              <a:ext uri="{FF2B5EF4-FFF2-40B4-BE49-F238E27FC236}">
                <a16:creationId xmlns:a16="http://schemas.microsoft.com/office/drawing/2014/main" id="{673F0576-47ED-498B-AFA7-E97DF114DE14}"/>
              </a:ext>
            </a:extLst>
          </p:cNvPr>
          <p:cNvSpPr/>
          <p:nvPr/>
        </p:nvSpPr>
        <p:spPr>
          <a:xfrm>
            <a:off x="10049255" y="4791456"/>
            <a:ext cx="566928"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5A1BAC79-80DF-4827-8894-FB0D09BAB026}"/>
              </a:ext>
            </a:extLst>
          </p:cNvPr>
          <p:cNvSpPr txBox="1"/>
          <p:nvPr/>
        </p:nvSpPr>
        <p:spPr>
          <a:xfrm>
            <a:off x="10049255" y="4791456"/>
            <a:ext cx="56692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24" name="Rectangle 24">
            <a:extLst>
              <a:ext uri="{FF2B5EF4-FFF2-40B4-BE49-F238E27FC236}">
                <a16:creationId xmlns:a16="http://schemas.microsoft.com/office/drawing/2014/main" id="{612A4E54-6A39-4CFF-97D1-26EC447120FB}"/>
              </a:ext>
            </a:extLst>
          </p:cNvPr>
          <p:cNvSpPr/>
          <p:nvPr/>
        </p:nvSpPr>
        <p:spPr>
          <a:xfrm>
            <a:off x="10616184" y="4791456"/>
            <a:ext cx="1133856"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3E51F052-3617-4A53-B79B-95A677D797EF}"/>
              </a:ext>
            </a:extLst>
          </p:cNvPr>
          <p:cNvSpPr txBox="1"/>
          <p:nvPr/>
        </p:nvSpPr>
        <p:spPr>
          <a:xfrm>
            <a:off x="10616184" y="4791456"/>
            <a:ext cx="113385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26" name="TextBox 25">
            <a:extLst>
              <a:ext uri="{FF2B5EF4-FFF2-40B4-BE49-F238E27FC236}">
                <a16:creationId xmlns:a16="http://schemas.microsoft.com/office/drawing/2014/main" id="{DD070F94-65CA-4BFD-8DE9-661FA4537E35}"/>
              </a:ext>
            </a:extLst>
          </p:cNvPr>
          <p:cNvSpPr txBox="1"/>
          <p:nvPr/>
        </p:nvSpPr>
        <p:spPr>
          <a:xfrm>
            <a:off x="2359152" y="5065776"/>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60%</a:t>
            </a:r>
          </a:p>
        </p:txBody>
      </p:sp>
      <p:sp>
        <p:nvSpPr>
          <p:cNvPr id="27" name="TextBox 26">
            <a:extLst>
              <a:ext uri="{FF2B5EF4-FFF2-40B4-BE49-F238E27FC236}">
                <a16:creationId xmlns:a16="http://schemas.microsoft.com/office/drawing/2014/main" id="{0028C2D3-72BA-4C10-8977-684D12972C45}"/>
              </a:ext>
            </a:extLst>
          </p:cNvPr>
          <p:cNvSpPr txBox="1"/>
          <p:nvPr/>
        </p:nvSpPr>
        <p:spPr>
          <a:xfrm>
            <a:off x="4626864" y="5065776"/>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70%</a:t>
            </a:r>
          </a:p>
        </p:txBody>
      </p:sp>
      <p:sp>
        <p:nvSpPr>
          <p:cNvPr id="28" name="TextBox 27">
            <a:extLst>
              <a:ext uri="{FF2B5EF4-FFF2-40B4-BE49-F238E27FC236}">
                <a16:creationId xmlns:a16="http://schemas.microsoft.com/office/drawing/2014/main" id="{993D44E9-8A4D-4B6B-85FE-6EE03045BD62}"/>
              </a:ext>
            </a:extLst>
          </p:cNvPr>
          <p:cNvSpPr txBox="1"/>
          <p:nvPr/>
        </p:nvSpPr>
        <p:spPr>
          <a:xfrm>
            <a:off x="6894576" y="5065776"/>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80%</a:t>
            </a:r>
          </a:p>
        </p:txBody>
      </p:sp>
      <p:sp>
        <p:nvSpPr>
          <p:cNvPr id="29" name="TextBox 28">
            <a:extLst>
              <a:ext uri="{FF2B5EF4-FFF2-40B4-BE49-F238E27FC236}">
                <a16:creationId xmlns:a16="http://schemas.microsoft.com/office/drawing/2014/main" id="{F1C96242-A528-4886-90FB-BD9D6EF77CC3}"/>
              </a:ext>
            </a:extLst>
          </p:cNvPr>
          <p:cNvSpPr txBox="1"/>
          <p:nvPr/>
        </p:nvSpPr>
        <p:spPr>
          <a:xfrm>
            <a:off x="9162288" y="5065776"/>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90%</a:t>
            </a:r>
          </a:p>
        </p:txBody>
      </p:sp>
      <p:cxnSp>
        <p:nvCxnSpPr>
          <p:cNvPr id="30" name="Connector 32">
            <a:extLst>
              <a:ext uri="{FF2B5EF4-FFF2-40B4-BE49-F238E27FC236}">
                <a16:creationId xmlns:a16="http://schemas.microsoft.com/office/drawing/2014/main" id="{3FBA99BE-B9A7-4A26-88EC-342AD7E69552}"/>
              </a:ext>
            </a:extLst>
          </p:cNvPr>
          <p:cNvCxnSpPr/>
          <p:nvPr/>
        </p:nvCxnSpPr>
        <p:spPr>
          <a:xfrm>
            <a:off x="7214616" y="5202936"/>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3">
            <a:extLst>
              <a:ext uri="{FF2B5EF4-FFF2-40B4-BE49-F238E27FC236}">
                <a16:creationId xmlns:a16="http://schemas.microsoft.com/office/drawing/2014/main" id="{8E253373-419D-4E3A-8F86-A7F9BC4C5230}"/>
              </a:ext>
            </a:extLst>
          </p:cNvPr>
          <p:cNvCxnSpPr/>
          <p:nvPr/>
        </p:nvCxnSpPr>
        <p:spPr>
          <a:xfrm>
            <a:off x="8348471" y="5202936"/>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4">
            <a:extLst>
              <a:ext uri="{FF2B5EF4-FFF2-40B4-BE49-F238E27FC236}">
                <a16:creationId xmlns:a16="http://schemas.microsoft.com/office/drawing/2014/main" id="{07BE892F-F2A5-4876-8BC0-EAABF812BDB2}"/>
              </a:ext>
            </a:extLst>
          </p:cNvPr>
          <p:cNvCxnSpPr/>
          <p:nvPr/>
        </p:nvCxnSpPr>
        <p:spPr>
          <a:xfrm>
            <a:off x="9482328" y="5202936"/>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5">
            <a:extLst>
              <a:ext uri="{FF2B5EF4-FFF2-40B4-BE49-F238E27FC236}">
                <a16:creationId xmlns:a16="http://schemas.microsoft.com/office/drawing/2014/main" id="{F0042039-AF76-475E-BBA0-95A15AC78D53}"/>
              </a:ext>
            </a:extLst>
          </p:cNvPr>
          <p:cNvCxnSpPr/>
          <p:nvPr/>
        </p:nvCxnSpPr>
        <p:spPr>
          <a:xfrm>
            <a:off x="10049255" y="5202936"/>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6">
            <a:extLst>
              <a:ext uri="{FF2B5EF4-FFF2-40B4-BE49-F238E27FC236}">
                <a16:creationId xmlns:a16="http://schemas.microsoft.com/office/drawing/2014/main" id="{C4535AFA-BCA4-4EEE-BDAA-D0F8C36590ED}"/>
              </a:ext>
            </a:extLst>
          </p:cNvPr>
          <p:cNvCxnSpPr/>
          <p:nvPr/>
        </p:nvCxnSpPr>
        <p:spPr>
          <a:xfrm>
            <a:off x="10616184" y="5202936"/>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35" name="Diamond 37">
            <a:extLst>
              <a:ext uri="{FF2B5EF4-FFF2-40B4-BE49-F238E27FC236}">
                <a16:creationId xmlns:a16="http://schemas.microsoft.com/office/drawing/2014/main" id="{D77C59DC-007F-4409-8D75-04C26C5A2742}"/>
              </a:ext>
            </a:extLst>
          </p:cNvPr>
          <p:cNvSpPr/>
          <p:nvPr/>
        </p:nvSpPr>
        <p:spPr>
          <a:xfrm>
            <a:off x="7155179" y="525551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E49924D4-0F58-4D5A-89FB-AE7B18ECE336}"/>
              </a:ext>
            </a:extLst>
          </p:cNvPr>
          <p:cNvSpPr txBox="1"/>
          <p:nvPr/>
        </p:nvSpPr>
        <p:spPr>
          <a:xfrm>
            <a:off x="7287768" y="5221224"/>
            <a:ext cx="1380743"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Stakeholder 요구: SE &gt; 80%</a:t>
            </a:r>
          </a:p>
        </p:txBody>
      </p:sp>
      <p:sp>
        <p:nvSpPr>
          <p:cNvPr id="37" name="Oval 39">
            <a:extLst>
              <a:ext uri="{FF2B5EF4-FFF2-40B4-BE49-F238E27FC236}">
                <a16:creationId xmlns:a16="http://schemas.microsoft.com/office/drawing/2014/main" id="{8C7042E7-418A-4159-A236-4400DBC838F3}"/>
              </a:ext>
            </a:extLst>
          </p:cNvPr>
          <p:cNvSpPr/>
          <p:nvPr/>
        </p:nvSpPr>
        <p:spPr>
          <a:xfrm>
            <a:off x="7164324" y="5452110"/>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FD17F9CE-CD43-4131-97D9-D62DFC5232B2}"/>
              </a:ext>
            </a:extLst>
          </p:cNvPr>
          <p:cNvSpPr txBox="1"/>
          <p:nvPr/>
        </p:nvSpPr>
        <p:spPr>
          <a:xfrm>
            <a:off x="7287768" y="5408676"/>
            <a:ext cx="2231136"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AthenaK: 65,536 GPU에서 병렬 효율 80% (학습)</a:t>
            </a:r>
          </a:p>
        </p:txBody>
      </p:sp>
      <p:sp>
        <p:nvSpPr>
          <p:cNvPr id="39" name="Isosceles Triangle 41">
            <a:extLst>
              <a:ext uri="{FF2B5EF4-FFF2-40B4-BE49-F238E27FC236}">
                <a16:creationId xmlns:a16="http://schemas.microsoft.com/office/drawing/2014/main" id="{AFA987EC-17B2-4FAB-A3EA-967517F6747F}"/>
              </a:ext>
            </a:extLst>
          </p:cNvPr>
          <p:cNvSpPr/>
          <p:nvPr/>
        </p:nvSpPr>
        <p:spPr>
          <a:xfrm>
            <a:off x="9422892" y="5634990"/>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358823F1-4D42-477C-A678-7A6EF6737E18}"/>
              </a:ext>
            </a:extLst>
          </p:cNvPr>
          <p:cNvSpPr txBox="1"/>
          <p:nvPr/>
        </p:nvSpPr>
        <p:spPr>
          <a:xfrm>
            <a:off x="9555480" y="5596128"/>
            <a:ext cx="2185416"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'효율적' 보고 관례 90% (정책, 손실 10% 이내)</a:t>
            </a:r>
          </a:p>
        </p:txBody>
      </p:sp>
      <p:sp>
        <p:nvSpPr>
          <p:cNvPr id="41" name="Rectangle 43">
            <a:extLst>
              <a:ext uri="{FF2B5EF4-FFF2-40B4-BE49-F238E27FC236}">
                <a16:creationId xmlns:a16="http://schemas.microsoft.com/office/drawing/2014/main" id="{EAD44836-AB5E-4354-A9BE-118098D44E18}"/>
              </a:ext>
            </a:extLst>
          </p:cNvPr>
          <p:cNvSpPr/>
          <p:nvPr/>
        </p:nvSpPr>
        <p:spPr>
          <a:xfrm>
            <a:off x="7214616" y="5840730"/>
            <a:ext cx="3401568"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2" name="Connector 44">
            <a:extLst>
              <a:ext uri="{FF2B5EF4-FFF2-40B4-BE49-F238E27FC236}">
                <a16:creationId xmlns:a16="http://schemas.microsoft.com/office/drawing/2014/main" id="{F1D5DDD4-EA2E-455F-8A19-4D4F9E53B0B5}"/>
              </a:ext>
            </a:extLst>
          </p:cNvPr>
          <p:cNvCxnSpPr/>
          <p:nvPr/>
        </p:nvCxnSpPr>
        <p:spPr>
          <a:xfrm>
            <a:off x="7214616" y="5813298"/>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3" name="Connector 45">
            <a:extLst>
              <a:ext uri="{FF2B5EF4-FFF2-40B4-BE49-F238E27FC236}">
                <a16:creationId xmlns:a16="http://schemas.microsoft.com/office/drawing/2014/main" id="{3EBC91DF-F1D6-4BCF-BD1D-F5E09195C7EE}"/>
              </a:ext>
            </a:extLst>
          </p:cNvPr>
          <p:cNvCxnSpPr/>
          <p:nvPr/>
        </p:nvCxnSpPr>
        <p:spPr>
          <a:xfrm>
            <a:off x="10616184" y="5813298"/>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7EC300AC-CC2C-482B-BC3E-1DF97F96FC5F}"/>
              </a:ext>
            </a:extLst>
          </p:cNvPr>
          <p:cNvSpPr txBox="1"/>
          <p:nvPr/>
        </p:nvSpPr>
        <p:spPr>
          <a:xfrm>
            <a:off x="4805171" y="5783580"/>
            <a:ext cx="2336292"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USL 환산 σ: 80%↔1.67% · 90%↔0.74% · 95%↔0.35%</a:t>
            </a:r>
          </a:p>
        </p:txBody>
      </p:sp>
      <p:sp>
        <p:nvSpPr>
          <p:cNvPr id="45" name="Oval 47">
            <a:extLst>
              <a:ext uri="{FF2B5EF4-FFF2-40B4-BE49-F238E27FC236}">
                <a16:creationId xmlns:a16="http://schemas.microsoft.com/office/drawing/2014/main" id="{FA4DBEF0-F404-4EB4-A485-23E656D657A6}"/>
              </a:ext>
            </a:extLst>
          </p:cNvPr>
          <p:cNvSpPr/>
          <p:nvPr/>
        </p:nvSpPr>
        <p:spPr>
          <a:xfrm>
            <a:off x="384048" y="6057900"/>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21996C45-40ED-4920-8EAC-B460CED67B23}"/>
              </a:ext>
            </a:extLst>
          </p:cNvPr>
          <p:cNvSpPr txBox="1"/>
          <p:nvPr/>
        </p:nvSpPr>
        <p:spPr>
          <a:xfrm>
            <a:off x="502920" y="6016752"/>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47" name="Diamond 49">
            <a:extLst>
              <a:ext uri="{FF2B5EF4-FFF2-40B4-BE49-F238E27FC236}">
                <a16:creationId xmlns:a16="http://schemas.microsoft.com/office/drawing/2014/main" id="{7035C919-6C38-4986-9A53-830A8734E94C}"/>
              </a:ext>
            </a:extLst>
          </p:cNvPr>
          <p:cNvSpPr/>
          <p:nvPr/>
        </p:nvSpPr>
        <p:spPr>
          <a:xfrm>
            <a:off x="1539748" y="6057900"/>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44278875-5011-4F82-A754-9A9B565BA159}"/>
              </a:ext>
            </a:extLst>
          </p:cNvPr>
          <p:cNvSpPr txBox="1"/>
          <p:nvPr/>
        </p:nvSpPr>
        <p:spPr>
          <a:xfrm>
            <a:off x="1658620" y="6016752"/>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49" name="Isosceles Triangle 51">
            <a:extLst>
              <a:ext uri="{FF2B5EF4-FFF2-40B4-BE49-F238E27FC236}">
                <a16:creationId xmlns:a16="http://schemas.microsoft.com/office/drawing/2014/main" id="{F26DD1C4-8A4C-4A4D-9F29-967200F4F7E9}"/>
              </a:ext>
            </a:extLst>
          </p:cNvPr>
          <p:cNvSpPr/>
          <p:nvPr/>
        </p:nvSpPr>
        <p:spPr>
          <a:xfrm>
            <a:off x="3028823" y="6057900"/>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a:extLst>
              <a:ext uri="{FF2B5EF4-FFF2-40B4-BE49-F238E27FC236}">
                <a16:creationId xmlns:a16="http://schemas.microsoft.com/office/drawing/2014/main" id="{4D4BD1DB-505D-44DF-AD2F-914B2D42BC83}"/>
              </a:ext>
            </a:extLst>
          </p:cNvPr>
          <p:cNvSpPr txBox="1"/>
          <p:nvPr/>
        </p:nvSpPr>
        <p:spPr>
          <a:xfrm>
            <a:off x="3147695" y="6016752"/>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51" name="Oval 53">
            <a:extLst>
              <a:ext uri="{FF2B5EF4-FFF2-40B4-BE49-F238E27FC236}">
                <a16:creationId xmlns:a16="http://schemas.microsoft.com/office/drawing/2014/main" id="{ACC40130-C11B-4D04-9430-67E629FE131B}"/>
              </a:ext>
            </a:extLst>
          </p:cNvPr>
          <p:cNvSpPr/>
          <p:nvPr/>
        </p:nvSpPr>
        <p:spPr>
          <a:xfrm>
            <a:off x="3753358" y="6057900"/>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EC92FB4-25F6-4CCB-8E96-39275F73B584}"/>
              </a:ext>
            </a:extLst>
          </p:cNvPr>
          <p:cNvSpPr txBox="1"/>
          <p:nvPr/>
        </p:nvSpPr>
        <p:spPr>
          <a:xfrm>
            <a:off x="3872230" y="6016752"/>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53" name="실행 단추: 뒤로 또는 이전 52">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57" name="실행 단추: 뒤로 또는 이전 56">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1403645824"/>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lang="ko-KR" altLang="en-US" sz="2200" b="1" dirty="0">
                <a:solidFill>
                  <a:srgbClr val="2F5597"/>
                </a:solidFill>
                <a:latin typeface="맑은 고딕"/>
                <a:ea typeface="맑은 고딕"/>
              </a:rPr>
              <a:t>시스템 </a:t>
            </a:r>
            <a:r>
              <a:rPr sz="2200" b="1" dirty="0" err="1">
                <a:solidFill>
                  <a:srgbClr val="2F5597"/>
                </a:solidFill>
                <a:latin typeface="맑은 고딕"/>
                <a:ea typeface="맑은 고딕"/>
              </a:rPr>
              <a:t>확장성</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lang="ko-KR" altLang="en-US" sz="1100" dirty="0">
                <a:solidFill>
                  <a:srgbClr val="404040"/>
                </a:solidFill>
                <a:latin typeface="맑은 고딕"/>
                <a:ea typeface="맑은 고딕"/>
              </a:rPr>
              <a:t>시스템 및 자원의 증가분 대비 처리량의 증가분 비율 </a:t>
            </a:r>
            <a:endParaRPr lang="en-US" altLang="ko-K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583680"/>
            <a:ext cx="11430000" cy="228600"/>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cvw.cac.cornell.edu/parallel/efficiency/scaling · arxiv.org/abs/1704.03329 · arxiv.org/abs/2409.16053</a:t>
            </a:r>
          </a:p>
        </p:txBody>
      </p:sp>
      <p:graphicFrame>
        <p:nvGraphicFramePr>
          <p:cNvPr id="7" name="tbl"/>
          <p:cNvGraphicFramePr>
            <a:graphicFrameLocks noGrp="1"/>
          </p:cNvGraphicFramePr>
          <p:nvPr/>
        </p:nvGraphicFramePr>
        <p:xfrm>
          <a:off x="365760" y="2234938"/>
          <a:ext cx="11457432" cy="2359152"/>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1827107">
                  <a:extLst>
                    <a:ext uri="{9D8B030D-6E8A-4147-A177-3AD203B41FA5}">
                      <a16:colId xmlns:a16="http://schemas.microsoft.com/office/drawing/2014/main" val="20001"/>
                    </a:ext>
                  </a:extLst>
                </a:gridCol>
                <a:gridCol w="5630333">
                  <a:extLst>
                    <a:ext uri="{9D8B030D-6E8A-4147-A177-3AD203B41FA5}">
                      <a16:colId xmlns:a16="http://schemas.microsoft.com/office/drawing/2014/main" val="20002"/>
                    </a:ext>
                  </a:extLst>
                </a:gridCol>
                <a:gridCol w="3085592">
                  <a:extLst>
                    <a:ext uri="{9D8B030D-6E8A-4147-A177-3AD203B41FA5}">
                      <a16:colId xmlns:a16="http://schemas.microsoft.com/office/drawing/2014/main" val="20003"/>
                    </a:ext>
                  </a:extLst>
                </a:gridCol>
              </a:tblGrid>
              <a:tr h="310896">
                <a:tc>
                  <a:txBody>
                    <a:bodyPr/>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1000" b="1" dirty="0" err="1">
                          <a:solidFill>
                            <a:srgbClr val="FFFFFF"/>
                          </a:solidFill>
                          <a:latin typeface="맑은 고딕"/>
                          <a:ea typeface="맑은 고딕"/>
                        </a:rPr>
                        <a:t>성능</a:t>
                      </a:r>
                      <a:r>
                        <a:rPr sz="1000" b="1" dirty="0">
                          <a:solidFill>
                            <a:srgbClr val="FFFFFF"/>
                          </a:solidFill>
                          <a:latin typeface="맑은 고딕"/>
                          <a:ea typeface="맑은 고딕"/>
                        </a:rPr>
                        <a:t> </a:t>
                      </a:r>
                      <a:r>
                        <a:rPr sz="1000" b="1" dirty="0" err="1">
                          <a:solidFill>
                            <a:srgbClr val="FFFFFF"/>
                          </a:solidFill>
                          <a:latin typeface="맑은 고딕"/>
                          <a:ea typeface="맑은 고딕"/>
                        </a:rPr>
                        <a:t>기준</a:t>
                      </a:r>
                      <a:r>
                        <a:rPr sz="1000" b="1" dirty="0">
                          <a:solidFill>
                            <a:srgbClr val="FFFFFF"/>
                          </a:solidFill>
                          <a:latin typeface="맑은 고딕"/>
                          <a:ea typeface="맑은 고딕"/>
                        </a:rPr>
                        <a:t> (</a:t>
                      </a:r>
                      <a:r>
                        <a:rPr sz="1000" b="1" dirty="0" err="1">
                          <a:solidFill>
                            <a:srgbClr val="FFFFFF"/>
                          </a:solidFill>
                          <a:latin typeface="맑은 고딕"/>
                          <a:ea typeface="맑은 고딕"/>
                        </a:rPr>
                        <a:t>정량</a:t>
                      </a:r>
                      <a:r>
                        <a:rPr sz="1000" b="1" dirty="0">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1000" b="1" dirty="0">
                          <a:solidFill>
                            <a:srgbClr val="FFFFFF"/>
                          </a:solidFill>
                          <a:latin typeface="맑은 고딕"/>
                          <a:ea typeface="맑은 고딕"/>
                        </a:rPr>
                        <a:t>근거</a:t>
                      </a:r>
                      <a:endParaRPr sz="10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1000" b="1" dirty="0">
                          <a:solidFill>
                            <a:srgbClr val="FFFFFF"/>
                          </a:solidFill>
                          <a:latin typeface="맑은 고딕"/>
                          <a:ea typeface="맑은 고딕"/>
                        </a:rPr>
                        <a:t>출처</a:t>
                      </a:r>
                      <a:endParaRPr sz="10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658368">
                <a:tc>
                  <a:txBody>
                    <a:bodyPr/>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1000" b="0">
                          <a:solidFill>
                            <a:srgbClr val="000000"/>
                          </a:solidFill>
                          <a:latin typeface="맑은 고딕"/>
                          <a:ea typeface="맑은 고딕"/>
                        </a:rPr>
                        <a:t>SE(N_max)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lnSpc>
                          <a:spcPct val="150000"/>
                        </a:lnSpc>
                      </a:pPr>
                      <a:r>
                        <a:rPr lang="en-US" sz="1000" b="0" dirty="0">
                          <a:solidFill>
                            <a:srgbClr val="000000"/>
                          </a:solidFill>
                          <a:latin typeface="맑은 고딕"/>
                          <a:ea typeface="맑은 고딕"/>
                        </a:rPr>
                        <a:t>1. </a:t>
                      </a:r>
                      <a:r>
                        <a:rPr sz="1000" b="0" dirty="0" err="1">
                          <a:solidFill>
                            <a:srgbClr val="000000"/>
                          </a:solidFill>
                          <a:latin typeface="맑은 고딕"/>
                          <a:ea typeface="맑은 고딕"/>
                        </a:rPr>
                        <a:t>서버를</a:t>
                      </a:r>
                      <a:r>
                        <a:rPr sz="1000" b="0" dirty="0">
                          <a:solidFill>
                            <a:srgbClr val="000000"/>
                          </a:solidFill>
                          <a:latin typeface="맑은 고딕"/>
                          <a:ea typeface="맑은 고딕"/>
                        </a:rPr>
                        <a:t> </a:t>
                      </a:r>
                      <a:r>
                        <a:rPr sz="1000" b="0" dirty="0" err="1">
                          <a:solidFill>
                            <a:srgbClr val="000000"/>
                          </a:solidFill>
                          <a:latin typeface="맑은 고딕"/>
                          <a:ea typeface="맑은 고딕"/>
                        </a:rPr>
                        <a:t>N배로</a:t>
                      </a:r>
                      <a:r>
                        <a:rPr sz="1000" b="0" dirty="0">
                          <a:solidFill>
                            <a:srgbClr val="000000"/>
                          </a:solidFill>
                          <a:latin typeface="맑은 고딕"/>
                          <a:ea typeface="맑은 고딕"/>
                        </a:rPr>
                        <a:t> </a:t>
                      </a:r>
                      <a:r>
                        <a:rPr sz="1000" b="0" dirty="0" err="1">
                          <a:solidFill>
                            <a:srgbClr val="000000"/>
                          </a:solidFill>
                          <a:latin typeface="맑은 고딕"/>
                          <a:ea typeface="맑은 고딕"/>
                        </a:rPr>
                        <a:t>늘릴</a:t>
                      </a:r>
                      <a:r>
                        <a:rPr sz="1000" b="0" dirty="0">
                          <a:solidFill>
                            <a:srgbClr val="000000"/>
                          </a:solidFill>
                          <a:latin typeface="맑은 고딕"/>
                          <a:ea typeface="맑은 고딕"/>
                        </a:rPr>
                        <a:t> 때 </a:t>
                      </a:r>
                      <a:r>
                        <a:rPr sz="1000" b="0" dirty="0" err="1">
                          <a:solidFill>
                            <a:srgbClr val="000000"/>
                          </a:solidFill>
                          <a:latin typeface="맑은 고딕"/>
                          <a:ea typeface="맑은 고딕"/>
                        </a:rPr>
                        <a:t>처리량</a:t>
                      </a:r>
                      <a:r>
                        <a:rPr sz="1000" b="0" dirty="0">
                          <a:solidFill>
                            <a:srgbClr val="000000"/>
                          </a:solidFill>
                          <a:latin typeface="맑은 고딕"/>
                          <a:ea typeface="맑은 고딕"/>
                        </a:rPr>
                        <a:t> </a:t>
                      </a:r>
                      <a:r>
                        <a:rPr sz="1000" b="0" dirty="0" err="1">
                          <a:solidFill>
                            <a:srgbClr val="000000"/>
                          </a:solidFill>
                          <a:latin typeface="맑은 고딕"/>
                          <a:ea typeface="맑은 고딕"/>
                        </a:rPr>
                        <a:t>손실</a:t>
                      </a:r>
                      <a:r>
                        <a:rPr sz="1000" b="0" dirty="0">
                          <a:solidFill>
                            <a:srgbClr val="000000"/>
                          </a:solidFill>
                          <a:latin typeface="맑은 고딕"/>
                          <a:ea typeface="맑은 고딕"/>
                        </a:rPr>
                        <a:t> 10% </a:t>
                      </a:r>
                      <a:r>
                        <a:rPr sz="1000" b="0" dirty="0" err="1">
                          <a:solidFill>
                            <a:srgbClr val="000000"/>
                          </a:solidFill>
                          <a:latin typeface="맑은 고딕"/>
                          <a:ea typeface="맑은 고딕"/>
                        </a:rPr>
                        <a:t>이내</a:t>
                      </a:r>
                      <a:r>
                        <a:rPr lang="en-US" sz="1000" b="0" dirty="0">
                          <a:solidFill>
                            <a:srgbClr val="000000"/>
                          </a:solidFill>
                          <a:latin typeface="맑은 고딕"/>
                          <a:ea typeface="맑은 고딕"/>
                        </a:rPr>
                        <a:t> </a:t>
                      </a:r>
                      <a:r>
                        <a:rPr sz="1000" b="0" dirty="0">
                          <a:solidFill>
                            <a:srgbClr val="000000"/>
                          </a:solidFill>
                          <a:latin typeface="맑은 고딕"/>
                          <a:ea typeface="맑은 고딕"/>
                        </a:rPr>
                        <a:t>(16노드에서 14.4노드분 </a:t>
                      </a:r>
                      <a:r>
                        <a:rPr sz="1000" b="0" dirty="0" err="1">
                          <a:solidFill>
                            <a:srgbClr val="000000"/>
                          </a:solidFill>
                          <a:latin typeface="맑은 고딕"/>
                          <a:ea typeface="맑은 고딕"/>
                        </a:rPr>
                        <a:t>효과</a:t>
                      </a:r>
                      <a:r>
                        <a:rPr sz="1000" b="0" dirty="0">
                          <a:solidFill>
                            <a:srgbClr val="000000"/>
                          </a:solidFill>
                          <a:latin typeface="맑은 고딕"/>
                          <a:ea typeface="맑은 고딕"/>
                        </a:rPr>
                        <a:t>). </a:t>
                      </a:r>
                      <a:endParaRPr lang="en-US" sz="1000" b="0" dirty="0">
                        <a:solidFill>
                          <a:srgbClr val="000000"/>
                        </a:solidFill>
                        <a:latin typeface="맑은 고딕"/>
                        <a:ea typeface="맑은 고딕"/>
                      </a:endParaRPr>
                    </a:p>
                    <a:p>
                      <a:pPr algn="l">
                        <a:lnSpc>
                          <a:spcPct val="150000"/>
                        </a:lnSpc>
                      </a:pPr>
                      <a:r>
                        <a:rPr sz="1000" b="0" dirty="0" err="1">
                          <a:solidFill>
                            <a:srgbClr val="000000"/>
                          </a:solidFill>
                          <a:latin typeface="맑은 고딕"/>
                          <a:ea typeface="맑은 고딕"/>
                        </a:rPr>
                        <a:t>병렬</a:t>
                      </a:r>
                      <a:r>
                        <a:rPr sz="1000" b="0" dirty="0">
                          <a:solidFill>
                            <a:srgbClr val="000000"/>
                          </a:solidFill>
                          <a:latin typeface="맑은 고딕"/>
                          <a:ea typeface="맑은 고딕"/>
                        </a:rPr>
                        <a:t> </a:t>
                      </a:r>
                      <a:r>
                        <a:rPr sz="1000" b="0" dirty="0" err="1">
                          <a:solidFill>
                            <a:srgbClr val="000000"/>
                          </a:solidFill>
                          <a:latin typeface="맑은 고딕"/>
                          <a:ea typeface="맑은 고딕"/>
                        </a:rPr>
                        <a:t>효율</a:t>
                      </a:r>
                      <a:r>
                        <a:rPr sz="1000" b="0" dirty="0">
                          <a:solidFill>
                            <a:srgbClr val="000000"/>
                          </a:solidFill>
                          <a:latin typeface="맑은 고딕"/>
                          <a:ea typeface="맑은 고딕"/>
                        </a:rPr>
                        <a:t> </a:t>
                      </a:r>
                      <a:r>
                        <a:rPr sz="1000" b="0" dirty="0" err="1">
                          <a:solidFill>
                            <a:srgbClr val="000000"/>
                          </a:solidFill>
                          <a:latin typeface="맑은 고딕"/>
                          <a:ea typeface="맑은 고딕"/>
                        </a:rPr>
                        <a:t>논문에서</a:t>
                      </a:r>
                      <a:r>
                        <a:rPr sz="1000" b="0" dirty="0">
                          <a:solidFill>
                            <a:srgbClr val="000000"/>
                          </a:solidFill>
                          <a:latin typeface="맑은 고딕"/>
                          <a:ea typeface="맑은 고딕"/>
                        </a:rPr>
                        <a:t> '</a:t>
                      </a:r>
                      <a:r>
                        <a:rPr sz="1000" b="0" dirty="0" err="1">
                          <a:solidFill>
                            <a:srgbClr val="000000"/>
                          </a:solidFill>
                          <a:latin typeface="맑은 고딕"/>
                          <a:ea typeface="맑은 고딕"/>
                        </a:rPr>
                        <a:t>효율적'이라</a:t>
                      </a:r>
                      <a:r>
                        <a:rPr sz="1000" b="0" dirty="0">
                          <a:solidFill>
                            <a:srgbClr val="000000"/>
                          </a:solidFill>
                          <a:latin typeface="맑은 고딕"/>
                          <a:ea typeface="맑은 고딕"/>
                        </a:rPr>
                        <a:t> </a:t>
                      </a:r>
                      <a:r>
                        <a:rPr sz="1000" b="0" dirty="0" err="1">
                          <a:solidFill>
                            <a:srgbClr val="000000"/>
                          </a:solidFill>
                          <a:latin typeface="맑은 고딕"/>
                          <a:ea typeface="맑은 고딕"/>
                        </a:rPr>
                        <a:t>보고할</a:t>
                      </a:r>
                      <a:r>
                        <a:rPr sz="1000" b="0" dirty="0">
                          <a:solidFill>
                            <a:srgbClr val="000000"/>
                          </a:solidFill>
                          <a:latin typeface="맑은 고딕"/>
                          <a:ea typeface="맑은 고딕"/>
                        </a:rPr>
                        <a:t> 때 </a:t>
                      </a:r>
                      <a:r>
                        <a:rPr sz="1000" b="0" dirty="0" err="1">
                          <a:solidFill>
                            <a:srgbClr val="000000"/>
                          </a:solidFill>
                          <a:latin typeface="맑은 고딕"/>
                          <a:ea typeface="맑은 고딕"/>
                        </a:rPr>
                        <a:t>흔히</a:t>
                      </a:r>
                      <a:r>
                        <a:rPr sz="1000" b="0" dirty="0">
                          <a:solidFill>
                            <a:srgbClr val="000000"/>
                          </a:solidFill>
                          <a:latin typeface="맑은 고딕"/>
                          <a:ea typeface="맑은 고딕"/>
                        </a:rPr>
                        <a:t> </a:t>
                      </a:r>
                      <a:r>
                        <a:rPr sz="1000" b="0" dirty="0" err="1">
                          <a:solidFill>
                            <a:srgbClr val="000000"/>
                          </a:solidFill>
                          <a:latin typeface="맑은 고딕"/>
                          <a:ea typeface="맑은 고딕"/>
                        </a:rPr>
                        <a:t>쓰는</a:t>
                      </a:r>
                      <a:r>
                        <a:rPr sz="1000" b="0" dirty="0">
                          <a:solidFill>
                            <a:srgbClr val="000000"/>
                          </a:solidFill>
                          <a:latin typeface="맑은 고딕"/>
                          <a:ea typeface="맑은 고딕"/>
                        </a:rPr>
                        <a:t> 90%</a:t>
                      </a:r>
                      <a:endParaRPr lang="en-US" sz="1000" b="0" dirty="0">
                        <a:solidFill>
                          <a:srgbClr val="000000"/>
                        </a:solidFill>
                        <a:latin typeface="맑은 고딕"/>
                        <a:ea typeface="맑은 고딕"/>
                      </a:endParaRPr>
                    </a:p>
                    <a:p>
                      <a:pPr marL="0" marR="0" lvl="0" indent="0" algn="l" defTabSz="914400" rtl="0" eaLnBrk="1" fontAlgn="auto" latinLnBrk="1" hangingPunct="1">
                        <a:lnSpc>
                          <a:spcPct val="150000"/>
                        </a:lnSpc>
                        <a:spcBef>
                          <a:spcPts val="0"/>
                        </a:spcBef>
                        <a:spcAft>
                          <a:spcPts val="0"/>
                        </a:spcAft>
                        <a:buClrTx/>
                        <a:buSzTx/>
                        <a:buFontTx/>
                        <a:buNone/>
                        <a:tabLst/>
                        <a:defRPr/>
                      </a:pPr>
                      <a:r>
                        <a:rPr lang="en-US" sz="1000" b="0" dirty="0">
                          <a:solidFill>
                            <a:srgbClr val="000000"/>
                          </a:solidFill>
                          <a:latin typeface="맑은 고딕"/>
                          <a:ea typeface="맑은 고딕"/>
                        </a:rPr>
                        <a:t>2. </a:t>
                      </a:r>
                      <a:r>
                        <a:rPr lang="en-US" altLang="ko-KR" sz="1000" b="0" dirty="0" err="1">
                          <a:solidFill>
                            <a:srgbClr val="000000"/>
                          </a:solidFill>
                          <a:latin typeface="+mn-lt"/>
                          <a:ea typeface="맑은 고딕"/>
                        </a:rPr>
                        <a:t>MLPerf</a:t>
                      </a:r>
                      <a:r>
                        <a:rPr lang="ko-KR" altLang="en-US" sz="1000" b="0" dirty="0">
                          <a:solidFill>
                            <a:srgbClr val="000000"/>
                          </a:solidFill>
                          <a:latin typeface="+mn-lt"/>
                          <a:ea typeface="맑은 고딕"/>
                        </a:rPr>
                        <a:t>의</a:t>
                      </a:r>
                      <a:r>
                        <a:rPr lang="en-US" altLang="ko-KR" sz="1000" b="0" dirty="0">
                          <a:solidFill>
                            <a:srgbClr val="000000"/>
                          </a:solidFill>
                          <a:latin typeface="+mn-lt"/>
                          <a:ea typeface="맑은 고딕"/>
                        </a:rPr>
                        <a:t> </a:t>
                      </a:r>
                      <a:r>
                        <a:rPr lang="ko-KR" altLang="en-US" sz="1000" b="0" dirty="0">
                          <a:solidFill>
                            <a:srgbClr val="000000"/>
                          </a:solidFill>
                          <a:latin typeface="+mn-lt"/>
                          <a:ea typeface="맑은 고딕"/>
                        </a:rPr>
                        <a:t>추론 서빙 시나리오에서는 </a:t>
                      </a:r>
                      <a:r>
                        <a:rPr lang="en-US" altLang="ko-KR" sz="1000" b="0" dirty="0">
                          <a:solidFill>
                            <a:srgbClr val="000000"/>
                          </a:solidFill>
                          <a:latin typeface="+mn-lt"/>
                          <a:ea typeface="맑은 고딕"/>
                        </a:rPr>
                        <a:t>90% </a:t>
                      </a:r>
                      <a:r>
                        <a:rPr lang="ko-KR" altLang="en-US" sz="1000" b="0" dirty="0">
                          <a:solidFill>
                            <a:srgbClr val="000000"/>
                          </a:solidFill>
                          <a:latin typeface="+mn-lt"/>
                          <a:ea typeface="맑은 고딕"/>
                        </a:rPr>
                        <a:t>이상</a:t>
                      </a:r>
                      <a:endParaRPr lang="en-US" altLang="ko-KR" sz="100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marL="228600" indent="-228600" algn="l">
                        <a:lnSpc>
                          <a:spcPct val="150000"/>
                        </a:lnSpc>
                        <a:buAutoNum type="arabicPeriod"/>
                      </a:pPr>
                      <a:r>
                        <a:rPr lang="ko-KR" altLang="en-US" sz="1000" b="0" dirty="0">
                          <a:solidFill>
                            <a:srgbClr val="000000"/>
                          </a:solidFill>
                          <a:latin typeface="맑은 고딕"/>
                          <a:ea typeface="맑은 고딕"/>
                        </a:rPr>
                        <a:t>연구 문헌 </a:t>
                      </a:r>
                      <a:r>
                        <a:rPr lang="en-US" altLang="ko-KR" sz="1000" b="0" dirty="0">
                          <a:solidFill>
                            <a:srgbClr val="000000"/>
                          </a:solidFill>
                          <a:latin typeface="+mn-lt"/>
                          <a:ea typeface="맑은 고딕"/>
                        </a:rPr>
                        <a:t>- Cornell CVW · </a:t>
                      </a:r>
                      <a:r>
                        <a:rPr lang="en-US" altLang="ko-KR" sz="1000" b="0" dirty="0" err="1">
                          <a:solidFill>
                            <a:srgbClr val="000000"/>
                          </a:solidFill>
                          <a:latin typeface="+mn-lt"/>
                          <a:ea typeface="맑은 고딕"/>
                        </a:rPr>
                        <a:t>arXiv</a:t>
                      </a:r>
                      <a:r>
                        <a:rPr lang="en-US" altLang="ko-KR" sz="1000" b="0" dirty="0">
                          <a:solidFill>
                            <a:srgbClr val="000000"/>
                          </a:solidFill>
                          <a:latin typeface="+mn-lt"/>
                          <a:ea typeface="맑은 고딕"/>
                        </a:rPr>
                        <a:t> 1704.03329</a:t>
                      </a:r>
                    </a:p>
                    <a:p>
                      <a:pPr marL="228600" marR="0" lvl="0" indent="-228600" algn="l" defTabSz="914400" rtl="0" eaLnBrk="1" fontAlgn="auto" latinLnBrk="1" hangingPunct="1">
                        <a:lnSpc>
                          <a:spcPct val="150000"/>
                        </a:lnSpc>
                        <a:spcBef>
                          <a:spcPts val="0"/>
                        </a:spcBef>
                        <a:spcAft>
                          <a:spcPts val="0"/>
                        </a:spcAft>
                        <a:buClrTx/>
                        <a:buSzTx/>
                        <a:buFontTx/>
                        <a:buAutoNum type="arabicPeriod"/>
                        <a:tabLst/>
                        <a:defRPr/>
                      </a:pPr>
                      <a:r>
                        <a:rPr lang="en-US" altLang="ko-KR" sz="1000" b="0" dirty="0" err="1">
                          <a:solidFill>
                            <a:srgbClr val="000000"/>
                          </a:solidFill>
                          <a:latin typeface="+mn-lt"/>
                          <a:ea typeface="맑은 고딕"/>
                        </a:rPr>
                        <a:t>MLPerf</a:t>
                      </a:r>
                      <a:r>
                        <a:rPr lang="en-US" altLang="ko-KR" sz="1000" b="0" dirty="0">
                          <a:solidFill>
                            <a:srgbClr val="000000"/>
                          </a:solidFill>
                          <a:latin typeface="+mn-lt"/>
                          <a:ea typeface="맑은 고딕"/>
                        </a:rPr>
                        <a:t> Inference</a:t>
                      </a:r>
                      <a:r>
                        <a:rPr lang="ko-KR" altLang="en-US" sz="1000" b="0" dirty="0">
                          <a:solidFill>
                            <a:srgbClr val="000000"/>
                          </a:solidFill>
                          <a:latin typeface="+mn-lt"/>
                          <a:ea typeface="맑은 고딕"/>
                        </a:rPr>
                        <a:t> 결과</a:t>
                      </a:r>
                      <a:endParaRPr lang="en-US" altLang="ko-KR" sz="1000" b="0" dirty="0">
                        <a:solidFill>
                          <a:srgbClr val="000000"/>
                        </a:solidFill>
                        <a:latin typeface="+mn-lt"/>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extLst>
                  <a:ext uri="{0D108BD9-81ED-4DB2-BD59-A6C34878D82A}">
                    <a16:rowId xmlns:a16="http://schemas.microsoft.com/office/drawing/2014/main" val="10001"/>
                  </a:ext>
                </a:extLst>
              </a:tr>
              <a:tr h="658368">
                <a:tc>
                  <a:txBody>
                    <a:bodyPr/>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sz="1000" b="0" dirty="0">
                          <a:solidFill>
                            <a:srgbClr val="000000"/>
                          </a:solidFill>
                          <a:latin typeface="맑은 고딕"/>
                          <a:ea typeface="맑은 고딕"/>
                        </a:rPr>
                        <a:t>SE(</a:t>
                      </a:r>
                      <a:r>
                        <a:rPr sz="1000" b="0" dirty="0" err="1">
                          <a:solidFill>
                            <a:srgbClr val="000000"/>
                          </a:solidFill>
                          <a:latin typeface="맑은 고딕"/>
                          <a:ea typeface="맑은 고딕"/>
                        </a:rPr>
                        <a:t>N_max</a:t>
                      </a:r>
                      <a:r>
                        <a:rPr sz="1000" b="0" dirty="0">
                          <a:solidFill>
                            <a:srgbClr val="000000"/>
                          </a:solidFill>
                          <a:latin typeface="맑은 고딕"/>
                          <a:ea typeface="맑은 고딕"/>
                        </a:rPr>
                        <a:t>) </a:t>
                      </a:r>
                      <a:r>
                        <a:rPr lang="en-US" sz="1000" b="0" dirty="0">
                          <a:solidFill>
                            <a:srgbClr val="000000"/>
                          </a:solidFill>
                          <a:latin typeface="맑은 고딕"/>
                          <a:ea typeface="맑은 고딕"/>
                        </a:rPr>
                        <a:t>8</a:t>
                      </a:r>
                      <a:r>
                        <a:rPr sz="1000" b="0" dirty="0">
                          <a:solidFill>
                            <a:srgbClr val="000000"/>
                          </a:solidFill>
                          <a:latin typeface="맑은 고딕"/>
                          <a:ea typeface="맑은 고딕"/>
                        </a:rPr>
                        <a:t>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lnSpc>
                          <a:spcPct val="150000"/>
                        </a:lnSpc>
                      </a:pPr>
                      <a:r>
                        <a:rPr lang="ko-KR" altLang="en-US" sz="1000" b="0" dirty="0">
                          <a:solidFill>
                            <a:srgbClr val="000000"/>
                          </a:solidFill>
                          <a:latin typeface="맑은 고딕"/>
                          <a:ea typeface="맑은 고딕"/>
                        </a:rPr>
                        <a:t>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lnSpc>
                          <a:spcPct val="150000"/>
                        </a:lnSpc>
                      </a:pPr>
                      <a:r>
                        <a:rPr lang="ko-KR" altLang="en-US" sz="1000" b="0" dirty="0">
                          <a:solidFill>
                            <a:srgbClr val="000000"/>
                          </a:solidFill>
                          <a:latin typeface="맑은 고딕"/>
                          <a:ea typeface="맑은 고딕"/>
                        </a:rPr>
                        <a:t>정책 선택</a:t>
                      </a:r>
                      <a:endParaRPr sz="10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extLst>
                  <a:ext uri="{0D108BD9-81ED-4DB2-BD59-A6C34878D82A}">
                    <a16:rowId xmlns:a16="http://schemas.microsoft.com/office/drawing/2014/main" val="10002"/>
                  </a:ext>
                </a:extLst>
              </a:tr>
              <a:tr h="658368">
                <a:tc>
                  <a:txBody>
                    <a:bodyPr/>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FBE5D6"/>
                    </a:solidFill>
                  </a:tcPr>
                </a:tc>
                <a:tc>
                  <a:txBody>
                    <a:bodyPr/>
                    <a:lstStyle/>
                    <a:p>
                      <a:pPr algn="l"/>
                      <a:r>
                        <a:rPr sz="1000" b="0" dirty="0">
                          <a:solidFill>
                            <a:srgbClr val="000000"/>
                          </a:solidFill>
                          <a:latin typeface="맑은 고딕"/>
                          <a:ea typeface="맑은 고딕"/>
                        </a:rPr>
                        <a:t>SE(</a:t>
                      </a:r>
                      <a:r>
                        <a:rPr sz="1000" b="0" dirty="0" err="1">
                          <a:solidFill>
                            <a:srgbClr val="000000"/>
                          </a:solidFill>
                          <a:latin typeface="맑은 고딕"/>
                          <a:ea typeface="맑은 고딕"/>
                        </a:rPr>
                        <a:t>N_max</a:t>
                      </a:r>
                      <a:r>
                        <a:rPr sz="1000" b="0" dirty="0">
                          <a:solidFill>
                            <a:srgbClr val="000000"/>
                          </a:solidFill>
                          <a:latin typeface="맑은 고딕"/>
                          <a:ea typeface="맑은 고딕"/>
                        </a:rPr>
                        <a:t>) </a:t>
                      </a:r>
                      <a:r>
                        <a:rPr lang="en-US" altLang="ko-KR" sz="1000" b="0" dirty="0">
                          <a:solidFill>
                            <a:srgbClr val="000000"/>
                          </a:solidFill>
                          <a:latin typeface="맑은 고딕"/>
                          <a:ea typeface="맑은 고딕"/>
                        </a:rPr>
                        <a:t>&gt;</a:t>
                      </a:r>
                      <a:r>
                        <a:rPr sz="1000" b="0" dirty="0">
                          <a:solidFill>
                            <a:srgbClr val="000000"/>
                          </a:solidFill>
                          <a:latin typeface="맑은 고딕"/>
                          <a:ea typeface="맑은 고딕"/>
                        </a:rPr>
                        <a:t> </a:t>
                      </a:r>
                      <a:r>
                        <a:rPr lang="en-US" sz="1000" b="0" dirty="0">
                          <a:solidFill>
                            <a:srgbClr val="000000"/>
                          </a:solidFill>
                          <a:latin typeface="맑은 고딕"/>
                          <a:ea typeface="맑은 고딕"/>
                        </a:rPr>
                        <a:t>8</a:t>
                      </a:r>
                      <a:r>
                        <a:rPr sz="1000" b="0" dirty="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FBE5D6"/>
                    </a:solidFill>
                  </a:tcPr>
                </a:tc>
                <a:tc>
                  <a:txBody>
                    <a:bodyPr/>
                    <a:lstStyle/>
                    <a:p>
                      <a:pPr marL="0" indent="0" algn="l">
                        <a:lnSpc>
                          <a:spcPct val="150000"/>
                        </a:lnSpc>
                        <a:buNone/>
                      </a:pPr>
                      <a:r>
                        <a:rPr lang="ko-KR" altLang="en-US" sz="1000" b="0" dirty="0">
                          <a:solidFill>
                            <a:srgbClr val="000000"/>
                          </a:solidFill>
                          <a:latin typeface="+mn-lt"/>
                          <a:ea typeface="맑은 고딕"/>
                        </a:rPr>
                        <a:t>확장은 되지만 조율 계층이 병목 조짐</a:t>
                      </a:r>
                      <a:r>
                        <a:rPr lang="en-US" altLang="ko-KR" sz="1000" b="0" dirty="0">
                          <a:solidFill>
                            <a:srgbClr val="000000"/>
                          </a:solidFill>
                          <a:latin typeface="+mn-lt"/>
                          <a:ea typeface="맑은 고딕"/>
                        </a:rPr>
                        <a:t>. 70% </a:t>
                      </a:r>
                      <a:r>
                        <a:rPr lang="ko-KR" altLang="en-US" sz="1000" b="0" dirty="0">
                          <a:solidFill>
                            <a:srgbClr val="000000"/>
                          </a:solidFill>
                          <a:latin typeface="+mn-lt"/>
                          <a:ea typeface="맑은 고딕"/>
                        </a:rPr>
                        <a:t>하한 </a:t>
                      </a:r>
                      <a:r>
                        <a:rPr lang="en-US" altLang="ko-KR" sz="1000" b="0" dirty="0">
                          <a:solidFill>
                            <a:srgbClr val="000000"/>
                          </a:solidFill>
                          <a:latin typeface="+mn-lt"/>
                          <a:ea typeface="맑은 고딕"/>
                        </a:rPr>
                        <a:t>= 10</a:t>
                      </a:r>
                      <a:r>
                        <a:rPr lang="ko-KR" altLang="en-US" sz="1000" b="0" dirty="0">
                          <a:solidFill>
                            <a:srgbClr val="000000"/>
                          </a:solidFill>
                          <a:latin typeface="+mn-lt"/>
                          <a:ea typeface="맑은 고딕"/>
                        </a:rPr>
                        <a:t>대 증설에 </a:t>
                      </a:r>
                      <a:r>
                        <a:rPr lang="en-US" altLang="ko-KR" sz="1000" b="0" dirty="0">
                          <a:solidFill>
                            <a:srgbClr val="000000"/>
                          </a:solidFill>
                          <a:latin typeface="+mn-lt"/>
                          <a:ea typeface="맑은 고딕"/>
                        </a:rPr>
                        <a:t>7</a:t>
                      </a:r>
                      <a:r>
                        <a:rPr lang="ko-KR" altLang="en-US" sz="1000" b="0" dirty="0" err="1">
                          <a:solidFill>
                            <a:srgbClr val="000000"/>
                          </a:solidFill>
                          <a:latin typeface="+mn-lt"/>
                          <a:ea typeface="맑은 고딕"/>
                        </a:rPr>
                        <a:t>대분</a:t>
                      </a:r>
                      <a:r>
                        <a:rPr lang="ko-KR" altLang="en-US" sz="1000" b="0" dirty="0">
                          <a:solidFill>
                            <a:srgbClr val="000000"/>
                          </a:solidFill>
                          <a:latin typeface="+mn-lt"/>
                          <a:ea typeface="맑은 고딕"/>
                        </a:rPr>
                        <a:t> 효과</a:t>
                      </a:r>
                      <a:r>
                        <a:rPr lang="en-US" altLang="ko-KR" sz="1000" b="0" dirty="0">
                          <a:solidFill>
                            <a:srgbClr val="000000"/>
                          </a:solidFill>
                          <a:latin typeface="+mn-lt"/>
                          <a:ea typeface="맑은 고딕"/>
                        </a:rPr>
                        <a:t>(3</a:t>
                      </a:r>
                      <a:r>
                        <a:rPr lang="ko-KR" altLang="en-US" sz="1000" b="0" dirty="0" err="1">
                          <a:solidFill>
                            <a:srgbClr val="000000"/>
                          </a:solidFill>
                          <a:latin typeface="+mn-lt"/>
                          <a:ea typeface="맑은 고딕"/>
                        </a:rPr>
                        <a:t>대분</a:t>
                      </a:r>
                      <a:r>
                        <a:rPr lang="ko-KR" altLang="en-US" sz="1000" b="0" dirty="0">
                          <a:solidFill>
                            <a:srgbClr val="000000"/>
                          </a:solidFill>
                          <a:latin typeface="+mn-lt"/>
                          <a:ea typeface="맑은 고딕"/>
                        </a:rPr>
                        <a:t> 낭비</a:t>
                      </a:r>
                      <a:r>
                        <a:rPr lang="en-US" altLang="ko-KR" sz="1000" b="0" dirty="0">
                          <a:solidFill>
                            <a:srgbClr val="000000"/>
                          </a:solidFill>
                          <a:latin typeface="+mn-lt"/>
                          <a:ea typeface="맑은 고딕"/>
                        </a:rPr>
                        <a:t>). </a:t>
                      </a:r>
                    </a:p>
                    <a:p>
                      <a:pPr marL="0" indent="0" algn="l">
                        <a:lnSpc>
                          <a:spcPct val="150000"/>
                        </a:lnSpc>
                        <a:buNone/>
                      </a:pPr>
                      <a:r>
                        <a:rPr lang="ko-KR" altLang="en-US" sz="1000" b="0" dirty="0">
                          <a:solidFill>
                            <a:srgbClr val="000000"/>
                          </a:solidFill>
                          <a:latin typeface="+mn-lt"/>
                          <a:ea typeface="맑은 고딕"/>
                        </a:rPr>
                        <a:t>매우 큰 규모에서 </a:t>
                      </a:r>
                      <a:r>
                        <a:rPr lang="en-US" altLang="ko-KR" sz="1000" b="0" dirty="0">
                          <a:solidFill>
                            <a:srgbClr val="000000"/>
                          </a:solidFill>
                          <a:latin typeface="+mn-lt"/>
                          <a:ea typeface="맑은 고딕"/>
                        </a:rPr>
                        <a:t>70~80%</a:t>
                      </a:r>
                      <a:r>
                        <a:rPr lang="ko-KR" altLang="en-US" sz="1000" b="0" dirty="0">
                          <a:solidFill>
                            <a:srgbClr val="000000"/>
                          </a:solidFill>
                          <a:latin typeface="+mn-lt"/>
                          <a:ea typeface="맑은 고딕"/>
                        </a:rPr>
                        <a:t>도 </a:t>
                      </a:r>
                      <a:r>
                        <a:rPr lang="en-US" altLang="ko-KR" sz="1000" b="0" dirty="0">
                          <a:solidFill>
                            <a:srgbClr val="000000"/>
                          </a:solidFill>
                          <a:latin typeface="+mn-lt"/>
                          <a:ea typeface="맑은 고딕"/>
                        </a:rPr>
                        <a:t>'</a:t>
                      </a:r>
                      <a:r>
                        <a:rPr lang="ko-KR" altLang="en-US" sz="1000" b="0" dirty="0">
                          <a:solidFill>
                            <a:srgbClr val="000000"/>
                          </a:solidFill>
                          <a:latin typeface="+mn-lt"/>
                          <a:ea typeface="맑은 고딕"/>
                        </a:rPr>
                        <a:t>우수</a:t>
                      </a:r>
                      <a:r>
                        <a:rPr lang="en-US" altLang="ko-KR" sz="1000" b="0" dirty="0">
                          <a:solidFill>
                            <a:srgbClr val="000000"/>
                          </a:solidFill>
                          <a:latin typeface="+mn-lt"/>
                          <a:ea typeface="맑은 고딕"/>
                        </a:rPr>
                        <a:t>'</a:t>
                      </a:r>
                      <a:r>
                        <a:rPr lang="ko-KR" altLang="en-US" sz="1000" b="0" dirty="0">
                          <a:solidFill>
                            <a:srgbClr val="000000"/>
                          </a:solidFill>
                          <a:latin typeface="+mn-lt"/>
                          <a:ea typeface="맑은 고딕"/>
                        </a:rPr>
                        <a:t>로 보고한 사례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FBE5D6"/>
                    </a:solidFill>
                  </a:tcPr>
                </a:tc>
                <a:tc>
                  <a:txBody>
                    <a:bodyPr/>
                    <a:lstStyle/>
                    <a:p>
                      <a:pPr marL="0" indent="0" algn="l">
                        <a:lnSpc>
                          <a:spcPct val="150000"/>
                        </a:lnSpc>
                        <a:buNone/>
                      </a:pPr>
                      <a:r>
                        <a:rPr lang="ko-KR" altLang="en-US" sz="1000" b="0" dirty="0">
                          <a:solidFill>
                            <a:srgbClr val="000000"/>
                          </a:solidFill>
                          <a:latin typeface="+mn-lt"/>
                          <a:ea typeface="맑은 고딕"/>
                        </a:rPr>
                        <a:t>연구 문헌 </a:t>
                      </a:r>
                      <a:r>
                        <a:rPr lang="en-US" altLang="ko-KR" sz="1000" b="0" dirty="0">
                          <a:solidFill>
                            <a:srgbClr val="000000"/>
                          </a:solidFill>
                          <a:latin typeface="+mn-lt"/>
                          <a:ea typeface="맑은 고딕"/>
                        </a:rPr>
                        <a:t>- </a:t>
                      </a:r>
                      <a:r>
                        <a:rPr lang="en-US" altLang="ko-KR" sz="1000" b="0" dirty="0" err="1">
                          <a:solidFill>
                            <a:srgbClr val="000000"/>
                          </a:solidFill>
                          <a:latin typeface="+mn-lt"/>
                          <a:ea typeface="맑은 고딕"/>
                        </a:rPr>
                        <a:t>arXiv</a:t>
                      </a:r>
                      <a:r>
                        <a:rPr lang="ko-KR" altLang="en-US" sz="1000" b="0" dirty="0">
                          <a:solidFill>
                            <a:srgbClr val="000000"/>
                          </a:solidFill>
                          <a:latin typeface="+mn-lt"/>
                          <a:ea typeface="맑은 고딕"/>
                        </a:rPr>
                        <a:t> </a:t>
                      </a:r>
                      <a:r>
                        <a:rPr lang="en-US" altLang="ko-KR" sz="1000" b="0" dirty="0">
                          <a:solidFill>
                            <a:srgbClr val="000000"/>
                          </a:solidFill>
                          <a:latin typeface="+mn-lt"/>
                          <a:ea typeface="맑은 고딕"/>
                        </a:rPr>
                        <a:t>2409.16053 </a:t>
                      </a:r>
                      <a:r>
                        <a:rPr lang="en-US" altLang="ko-KR" sz="1000" b="0" dirty="0" err="1">
                          <a:solidFill>
                            <a:srgbClr val="000000"/>
                          </a:solidFill>
                          <a:latin typeface="+mn-lt"/>
                          <a:ea typeface="맑은 고딕"/>
                        </a:rPr>
                        <a:t>AthenaK</a:t>
                      </a:r>
                      <a:r>
                        <a:rPr lang="ko-KR" altLang="en-US" sz="1000" b="0" dirty="0">
                          <a:solidFill>
                            <a:srgbClr val="000000"/>
                          </a:solidFill>
                          <a:latin typeface="+mn-lt"/>
                          <a:ea typeface="맑은 고딕"/>
                        </a:rPr>
                        <a:t> </a:t>
                      </a:r>
                      <a:r>
                        <a:rPr lang="en-US" altLang="ko-KR" sz="1000" b="0" dirty="0">
                          <a:solidFill>
                            <a:srgbClr val="000000"/>
                          </a:solidFill>
                          <a:latin typeface="+mn-lt"/>
                          <a:ea typeface="맑은 고딕"/>
                        </a:rPr>
                        <a:t>(65,536 GPU</a:t>
                      </a:r>
                      <a:r>
                        <a:rPr lang="ko-KR" altLang="en-US" sz="1000" b="0" dirty="0">
                          <a:solidFill>
                            <a:srgbClr val="000000"/>
                          </a:solidFill>
                          <a:latin typeface="+mn-lt"/>
                          <a:ea typeface="맑은 고딕"/>
                        </a:rPr>
                        <a:t>에서 </a:t>
                      </a:r>
                      <a:r>
                        <a:rPr lang="en-US" altLang="ko-KR" sz="1000" b="0" dirty="0">
                          <a:solidFill>
                            <a:srgbClr val="000000"/>
                          </a:solidFill>
                          <a:latin typeface="+mn-lt"/>
                          <a:ea typeface="맑은 고딕"/>
                        </a:rPr>
                        <a:t>80%)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round/>
                      <a:headEnd type="none" w="med" len="med"/>
                      <a:tailEnd type="none" w="med" len="med"/>
                    </a:lnB>
                    <a:solidFill>
                      <a:srgbClr val="FBE5D6"/>
                    </a:solidFill>
                  </a:tcPr>
                </a:tc>
                <a:extLst>
                  <a:ext uri="{0D108BD9-81ED-4DB2-BD59-A6C34878D82A}">
                    <a16:rowId xmlns:a16="http://schemas.microsoft.com/office/drawing/2014/main" val="10003"/>
                  </a:ext>
                </a:extLst>
              </a:tr>
            </a:tbl>
          </a:graphicData>
        </a:graphic>
      </p:graphicFrame>
      <p:sp>
        <p:nvSpPr>
          <p:cNvPr id="10" name="subtitle">
            <a:extLst>
              <a:ext uri="{FF2B5EF4-FFF2-40B4-BE49-F238E27FC236}">
                <a16:creationId xmlns:a16="http://schemas.microsoft.com/office/drawing/2014/main" id="{32653FD5-C1D3-455C-A719-4E31D24F5B29}"/>
              </a:ext>
            </a:extLst>
          </p:cNvPr>
          <p:cNvSpPr txBox="1"/>
          <p:nvPr/>
        </p:nvSpPr>
        <p:spPr>
          <a:xfrm>
            <a:off x="365760" y="1079932"/>
            <a:ext cx="11430000" cy="879856"/>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a:t>
            </a:r>
            <a:r>
              <a:rPr lang="pt-BR" altLang="ko-KR" sz="1100" b="1" dirty="0">
                <a:solidFill>
                  <a:srgbClr val="2F5597"/>
                </a:solidFill>
                <a:latin typeface="맑은 고딕"/>
                <a:ea typeface="맑은 고딕"/>
              </a:rPr>
              <a:t>SE(N) = Goodput </a:t>
            </a:r>
            <a:r>
              <a:rPr lang="ko-KR" altLang="en-US" sz="1100" b="1" dirty="0">
                <a:solidFill>
                  <a:srgbClr val="2F5597"/>
                </a:solidFill>
                <a:latin typeface="맑은 고딕"/>
                <a:ea typeface="맑은 고딕"/>
              </a:rPr>
              <a:t>증가 배율 </a:t>
            </a:r>
            <a:r>
              <a:rPr lang="pt-BR" altLang="ko-KR" sz="1100" b="1" dirty="0">
                <a:solidFill>
                  <a:srgbClr val="2F5597"/>
                </a:solidFill>
                <a:latin typeface="맑은 고딕"/>
                <a:ea typeface="맑은 고딕"/>
              </a:rPr>
              <a:t>÷ </a:t>
            </a:r>
            <a:r>
              <a:rPr lang="en-US" altLang="ko-KR" sz="1100" b="1" dirty="0">
                <a:solidFill>
                  <a:srgbClr val="2F5597"/>
                </a:solidFill>
                <a:latin typeface="맑은 고딕"/>
                <a:ea typeface="맑은 고딕"/>
              </a:rPr>
              <a:t>N</a:t>
            </a:r>
            <a:r>
              <a:rPr lang="ko-KR" altLang="en-US" sz="1100" b="1" dirty="0">
                <a:solidFill>
                  <a:srgbClr val="2F5597"/>
                </a:solidFill>
                <a:latin typeface="맑은 고딕"/>
                <a:ea typeface="맑은 고딕"/>
              </a:rPr>
              <a:t> 증가 배율</a:t>
            </a:r>
          </a:p>
          <a:p>
            <a:pPr marL="171450" indent="-171450">
              <a:lnSpc>
                <a:spcPct val="150000"/>
              </a:lnSpc>
              <a:spcAft>
                <a:spcPts val="250"/>
              </a:spcAft>
              <a:buFontTx/>
              <a:buChar char="-"/>
            </a:pPr>
            <a:r>
              <a:rPr lang="en-US" altLang="ko-KR" sz="1100" dirty="0">
                <a:solidFill>
                  <a:srgbClr val="404040"/>
                </a:solidFill>
                <a:latin typeface="맑은 고딕"/>
                <a:ea typeface="맑은 고딕"/>
              </a:rPr>
              <a:t>N</a:t>
            </a:r>
            <a:r>
              <a:rPr lang="ko-KR" altLang="en-US" sz="1100" dirty="0">
                <a:solidFill>
                  <a:srgbClr val="404040"/>
                </a:solidFill>
                <a:latin typeface="맑은 고딕"/>
                <a:ea typeface="맑은 고딕"/>
              </a:rPr>
              <a:t>은 시스템 노드 수 또는 자원 수</a:t>
            </a:r>
            <a:endParaRPr lang="en-US" altLang="ko-KR" sz="1100" dirty="0">
              <a:solidFill>
                <a:srgbClr val="404040"/>
              </a:solidFill>
              <a:latin typeface="맑은 고딕"/>
              <a:ea typeface="맑은 고딕"/>
            </a:endParaRPr>
          </a:p>
          <a:p>
            <a:pPr marL="171450" indent="-171450">
              <a:lnSpc>
                <a:spcPct val="150000"/>
              </a:lnSpc>
              <a:spcAft>
                <a:spcPts val="250"/>
              </a:spcAft>
              <a:buFontTx/>
              <a:buChar char="-"/>
            </a:pPr>
            <a:r>
              <a:rPr lang="en-US" altLang="ko-KR" sz="1100" dirty="0">
                <a:solidFill>
                  <a:srgbClr val="404040"/>
                </a:solidFill>
                <a:latin typeface="맑은 고딕"/>
                <a:ea typeface="맑은 고딕"/>
              </a:rPr>
              <a:t>Rack </a:t>
            </a:r>
            <a:r>
              <a:rPr lang="ko-KR" altLang="en-US" sz="1100" dirty="0">
                <a:solidFill>
                  <a:srgbClr val="404040"/>
                </a:solidFill>
                <a:latin typeface="맑은 고딕"/>
                <a:ea typeface="맑은 고딕"/>
              </a:rPr>
              <a:t>스케일 한도  </a:t>
            </a:r>
            <a:endParaRPr lang="en-US" altLang="ko-KR" sz="1100" b="0" dirty="0">
              <a:solidFill>
                <a:srgbClr val="404040"/>
              </a:solidFill>
              <a:latin typeface="맑은 고딕"/>
              <a:ea typeface="맑은 고딕"/>
            </a:endParaRPr>
          </a:p>
        </p:txBody>
      </p:sp>
      <p:sp>
        <p:nvSpPr>
          <p:cNvPr id="11" name="실행 단추: 뒤로 또는 이전 10">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85065897"/>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변경</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174" name="subtitle">
            <a:extLst>
              <a:ext uri="{FF2B5EF4-FFF2-40B4-BE49-F238E27FC236}">
                <a16:creationId xmlns:a16="http://schemas.microsoft.com/office/drawing/2014/main" id="{96FE6872-F9E7-4752-A040-5DCE3EE8BACF}"/>
              </a:ext>
            </a:extLst>
          </p:cNvPr>
          <p:cNvSpPr txBox="1"/>
          <p:nvPr/>
        </p:nvSpPr>
        <p:spPr>
          <a:xfrm>
            <a:off x="365760" y="676656"/>
            <a:ext cx="9613127" cy="243143"/>
          </a:xfrm>
          <a:prstGeom prst="rect">
            <a:avLst/>
          </a:prstGeom>
          <a:noFill/>
        </p:spPr>
        <p:txBody>
          <a:bodyPr wrap="square" lIns="73152" tIns="36576" rIns="73152" bIns="36576" anchor="t">
            <a:spAutoFit/>
          </a:bodyPr>
          <a:lstStyle/>
          <a:p>
            <a:pPr algn="l">
              <a:spcAft>
                <a:spcPts val="250"/>
              </a:spcAft>
            </a:pP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수</a:t>
            </a:r>
            <a:r>
              <a:rPr lang="en-US" sz="1100" b="0" dirty="0">
                <a:solidFill>
                  <a:srgbClr val="404040"/>
                </a:solidFill>
                <a:latin typeface="맑은 고딕"/>
                <a:ea typeface="맑은 고딕"/>
              </a:rPr>
              <a:t> (</a:t>
            </a:r>
            <a:r>
              <a:rPr lang="ko-KR" altLang="en-US" sz="1100" b="0" dirty="0">
                <a:solidFill>
                  <a:srgbClr val="404040"/>
                </a:solidFill>
                <a:latin typeface="맑은 고딕"/>
                <a:ea typeface="맑은 고딕"/>
              </a:rPr>
              <a:t>개발 공수 </a:t>
            </a:r>
            <a:r>
              <a:rPr lang="en-US" altLang="ko-KR" sz="1100" b="0" dirty="0">
                <a:solidFill>
                  <a:srgbClr val="404040"/>
                </a:solidFill>
                <a:latin typeface="맑은 고딕"/>
                <a:ea typeface="맑은 고딕"/>
              </a:rPr>
              <a:t>M/M </a:t>
            </a:r>
            <a:r>
              <a:rPr lang="ko-KR" altLang="en-US" sz="1100" b="0" dirty="0">
                <a:solidFill>
                  <a:srgbClr val="404040"/>
                </a:solidFill>
                <a:latin typeface="맑은 고딕"/>
                <a:ea typeface="맑은 고딕"/>
              </a:rPr>
              <a:t>참고</a:t>
            </a:r>
            <a:r>
              <a:rPr lang="en-US" altLang="ko-KR" sz="1100" b="0" dirty="0">
                <a:solidFill>
                  <a:srgbClr val="404040"/>
                </a:solidFill>
                <a:latin typeface="맑은 고딕"/>
                <a:ea typeface="맑은 고딕"/>
              </a:rPr>
              <a:t>)</a:t>
            </a:r>
            <a:endParaRPr sz="1100" b="0" dirty="0">
              <a:solidFill>
                <a:srgbClr val="404040"/>
              </a:solidFill>
              <a:latin typeface="맑은 고딕"/>
              <a:ea typeface="맑은 고딕"/>
            </a:endParaRPr>
          </a:p>
        </p:txBody>
      </p:sp>
      <p:sp>
        <p:nvSpPr>
          <p:cNvPr id="175" name="rule">
            <a:extLst>
              <a:ext uri="{FF2B5EF4-FFF2-40B4-BE49-F238E27FC236}">
                <a16:creationId xmlns:a16="http://schemas.microsoft.com/office/drawing/2014/main" id="{8B004F8A-F37F-442E-8003-EC3499BB95E3}"/>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src">
            <a:extLst>
              <a:ext uri="{FF2B5EF4-FFF2-40B4-BE49-F238E27FC236}">
                <a16:creationId xmlns:a16="http://schemas.microsoft.com/office/drawing/2014/main" id="{3981A347-39E6-4B8E-9D4A-0604100B9CAA}"/>
              </a:ext>
            </a:extLst>
          </p:cNvPr>
          <p:cNvSpPr txBox="1"/>
          <p:nvPr/>
        </p:nvSpPr>
        <p:spPr>
          <a:xfrm>
            <a:off x="365760" y="6478233"/>
            <a:ext cx="11430000" cy="189283"/>
          </a:xfrm>
          <a:prstGeom prst="rect">
            <a:avLst/>
          </a:prstGeom>
          <a:noFill/>
        </p:spPr>
        <p:txBody>
          <a:bodyPr wrap="square" lIns="73152" tIns="36576" rIns="73152" bIns="36576" anchor="t">
            <a:spAutoFit/>
          </a:bodyPr>
          <a:lstStyle/>
          <a:p>
            <a:pPr algn="l">
              <a:spcAft>
                <a:spcPts val="0"/>
              </a:spcAft>
            </a:pPr>
            <a:r>
              <a:rPr sz="750" b="0" dirty="0" err="1">
                <a:solidFill>
                  <a:srgbClr val="404040"/>
                </a:solidFill>
                <a:latin typeface="맑은 고딕"/>
                <a:ea typeface="맑은 고딕"/>
              </a:rPr>
              <a:t>출처: [1] SWE-bench (arXiv 2310.06770), [2] vLLM 저장소 kv_connector/v1 직접 계수(최상위 파일 192~1,190 LOC, 중앙값 356), [3] Brooks, The Mythical Man-Month 계열의 "하루 약 10 LOC“, Poul-Henning Kamp (Varnish), “Going fast slowly” [4] Ferreira et al., Characterizing Commits in Open-Source Software, SBQS 2022 (Java 24개 프로젝트, 1M commits). file 수는 module 수의 상한 근사(module ≥ 1 file)</a:t>
            </a:r>
            <a:endParaRPr sz="750" b="0" dirty="0">
              <a:solidFill>
                <a:srgbClr val="404040"/>
              </a:solidFill>
              <a:latin typeface="맑은 고딕"/>
              <a:ea typeface="맑은 고딕"/>
            </a:endParaRPr>
          </a:p>
        </p:txBody>
      </p:sp>
      <p:sp>
        <p:nvSpPr>
          <p:cNvPr id="177" name="metric">
            <a:extLst>
              <a:ext uri="{FF2B5EF4-FFF2-40B4-BE49-F238E27FC236}">
                <a16:creationId xmlns:a16="http://schemas.microsoft.com/office/drawing/2014/main" id="{9FF12BD0-B85D-4FB1-A847-42958CB3CAFD}"/>
              </a:ext>
            </a:extLst>
          </p:cNvPr>
          <p:cNvSpPr txBox="1"/>
          <p:nvPr/>
        </p:nvSpPr>
        <p:spPr>
          <a:xfrm>
            <a:off x="365760" y="1069848"/>
            <a:ext cx="11430000" cy="495713"/>
          </a:xfrm>
          <a:prstGeom prst="rect">
            <a:avLst/>
          </a:prstGeom>
          <a:noFill/>
        </p:spPr>
        <p:txBody>
          <a:bodyPr wrap="square" lIns="73152" tIns="36576" rIns="73152" bIns="36576" anchor="t">
            <a:spAutoFit/>
          </a:bodyPr>
          <a:lstStyle/>
          <a:p>
            <a:pPr algn="l">
              <a:lnSpc>
                <a:spcPct val="150000"/>
              </a:lnSpc>
              <a:spcAft>
                <a:spcPts val="0"/>
              </a:spcAft>
            </a:pPr>
            <a:r>
              <a:rPr sz="1000" b="1" dirty="0">
                <a:solidFill>
                  <a:srgbClr val="2F5597"/>
                </a:solidFill>
                <a:latin typeface="맑은 고딕"/>
                <a:ea typeface="맑은 고딕"/>
              </a:rPr>
              <a:t>[변경 시나리오 4종, KV 캐시 관리 범위] </a:t>
            </a:r>
            <a:r>
              <a:rPr sz="950" b="0" dirty="0">
                <a:solidFill>
                  <a:srgbClr val="000000"/>
                </a:solidFill>
                <a:latin typeface="맑은 고딕"/>
                <a:ea typeface="맑은 고딕"/>
              </a:rPr>
              <a:t>S1 새 tier·data class, S2 정책 교체, S3 vLLM upstream 갱신(block pool, kv_offload, CUDA graph, async scheduling), S4 새 event·신호. </a:t>
            </a:r>
            <a:endParaRPr lang="en-US" sz="950" b="0" dirty="0">
              <a:solidFill>
                <a:srgbClr val="000000"/>
              </a:solidFill>
              <a:latin typeface="맑은 고딕"/>
              <a:ea typeface="맑은 고딕"/>
            </a:endParaRPr>
          </a:p>
          <a:p>
            <a:pPr algn="l">
              <a:lnSpc>
                <a:spcPct val="150000"/>
              </a:lnSpc>
              <a:spcAft>
                <a:spcPts val="0"/>
              </a:spcAft>
            </a:pPr>
            <a:r>
              <a:rPr sz="950" b="0" dirty="0" err="1">
                <a:solidFill>
                  <a:srgbClr val="000000"/>
                </a:solidFill>
                <a:latin typeface="맑은 고딕"/>
                <a:ea typeface="맑은 고딕"/>
              </a:rPr>
              <a:t>네 변경은 각각 단독 발생하므로 시나리오별로 판정, 4종 중 최악값(최대 module 수)에 별 기준 적용(평균 안 씀). module = 설계 component 단위(한 줄이라도 바꾸면 1개).</a:t>
            </a:r>
          </a:p>
        </p:txBody>
      </p:sp>
      <p:graphicFrame>
        <p:nvGraphicFramePr>
          <p:cNvPr id="178" name="tbl">
            <a:extLst>
              <a:ext uri="{FF2B5EF4-FFF2-40B4-BE49-F238E27FC236}">
                <a16:creationId xmlns:a16="http://schemas.microsoft.com/office/drawing/2014/main" id="{9639DBEA-9428-4CB8-8D3E-47A1193E7894}"/>
              </a:ext>
            </a:extLst>
          </p:cNvPr>
          <p:cNvGraphicFramePr>
            <a:graphicFrameLocks noGrp="1"/>
          </p:cNvGraphicFramePr>
          <p:nvPr>
            <p:extLst>
              <p:ext uri="{D42A27DB-BD31-4B8C-83A1-F6EECF244321}">
                <p14:modId xmlns:p14="http://schemas.microsoft.com/office/powerpoint/2010/main" val="3346135199"/>
              </p:ext>
            </p:extLst>
          </p:nvPr>
        </p:nvGraphicFramePr>
        <p:xfrm>
          <a:off x="365760" y="1668780"/>
          <a:ext cx="11457432" cy="2267712"/>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55321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237744">
                <a:tc>
                  <a:txBody>
                    <a:bodyPr/>
                    <a:lstStyle/>
                    <a:p>
                      <a:pPr algn="ctr"/>
                      <a:r>
                        <a:rPr sz="900" b="1">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변경 module 수 (max)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환산</a:t>
                      </a:r>
                      <a:r>
                        <a:rPr sz="900" b="1" dirty="0">
                          <a:solidFill>
                            <a:srgbClr val="FFFFFF"/>
                          </a:solidFill>
                          <a:latin typeface="맑은 고딕"/>
                          <a:ea typeface="맑은 고딕"/>
                        </a:rPr>
                        <a:t> </a:t>
                      </a:r>
                      <a:r>
                        <a:rPr sz="900" b="1" dirty="0" err="1">
                          <a:solidFill>
                            <a:srgbClr val="FFFFFF"/>
                          </a:solidFill>
                          <a:latin typeface="맑은 고딕"/>
                          <a:ea typeface="맑은 고딕"/>
                        </a:rPr>
                        <a:t>개발</a:t>
                      </a:r>
                      <a:r>
                        <a:rPr sz="900" b="1" dirty="0">
                          <a:solidFill>
                            <a:srgbClr val="FFFFFF"/>
                          </a:solidFill>
                          <a:latin typeface="맑은 고딕"/>
                          <a:ea typeface="맑은 고딕"/>
                        </a:rPr>
                        <a:t> </a:t>
                      </a:r>
                      <a:r>
                        <a:rPr sz="900" b="1" dirty="0" err="1">
                          <a:solidFill>
                            <a:srgbClr val="FFFFFF"/>
                          </a:solidFill>
                          <a:latin typeface="맑은 고딕"/>
                          <a:ea typeface="맑은 고딕"/>
                        </a:rPr>
                        <a:t>공수</a:t>
                      </a:r>
                      <a:r>
                        <a:rPr sz="900" b="1" dirty="0">
                          <a:solidFill>
                            <a:srgbClr val="FFFFFF"/>
                          </a:solidFill>
                          <a:latin typeface="맑은 고딕"/>
                          <a:ea typeface="맑은 고딕"/>
                        </a:rPr>
                        <a:t> (M/M</a:t>
                      </a:r>
                      <a:r>
                        <a:rPr lang="en-US" sz="900" b="1" dirty="0">
                          <a:solidFill>
                            <a:srgbClr val="FFFFFF"/>
                          </a:solidFill>
                          <a:latin typeface="맑은 고딕"/>
                          <a:ea typeface="맑은 고딕"/>
                        </a:rPr>
                        <a:t>)</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0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900" b="0" dirty="0">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900" b="0">
                          <a:solidFill>
                            <a:srgbClr val="000000"/>
                          </a:solidFill>
                          <a:latin typeface="맑은 고딕"/>
                          <a:ea typeface="맑은 고딕"/>
                        </a:rPr>
                        <a:t>≤ 0.4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lang="ko-KR" altLang="en-US" sz="900" b="1" dirty="0" smtClean="0">
                          <a:solidFill>
                            <a:srgbClr val="000000"/>
                          </a:solidFill>
                          <a:latin typeface="맑은 고딕"/>
                          <a:ea typeface="맑은 고딕"/>
                        </a:rPr>
                        <a:t>최대</a:t>
                      </a:r>
                      <a:r>
                        <a:rPr lang="en-US" altLang="ko-KR" sz="900" b="1" dirty="0" smtClean="0">
                          <a:solidFill>
                            <a:srgbClr val="000000"/>
                          </a:solidFill>
                          <a:latin typeface="맑은 고딕"/>
                          <a:ea typeface="맑은 고딕"/>
                        </a:rPr>
                        <a:t>: </a:t>
                      </a:r>
                      <a:r>
                        <a:rPr lang="ko-KR" altLang="en-US" sz="900" b="1" dirty="0" smtClean="0">
                          <a:solidFill>
                            <a:srgbClr val="000000"/>
                          </a:solidFill>
                          <a:latin typeface="맑은 고딕"/>
                          <a:ea typeface="맑은 고딕"/>
                        </a:rPr>
                        <a:t>문제 해결 코딩 벤치마크인 SWE-</a:t>
                      </a:r>
                      <a:r>
                        <a:rPr lang="ko-KR" altLang="en-US" sz="900" b="1" dirty="0" err="1" smtClean="0">
                          <a:solidFill>
                            <a:srgbClr val="000000"/>
                          </a:solidFill>
                          <a:latin typeface="맑은 고딕"/>
                          <a:ea typeface="맑은 고딕"/>
                        </a:rPr>
                        <a:t>bench</a:t>
                      </a:r>
                      <a:r>
                        <a:rPr lang="ko-KR" altLang="en-US" sz="900" b="1" dirty="0" smtClean="0">
                          <a:solidFill>
                            <a:srgbClr val="000000"/>
                          </a:solidFill>
                          <a:latin typeface="맑은 고딕"/>
                          <a:ea typeface="맑은 고딕"/>
                        </a:rPr>
                        <a:t> </a:t>
                      </a:r>
                      <a:r>
                        <a:rPr lang="ko-KR" altLang="en-US" sz="900" b="1" dirty="0">
                          <a:solidFill>
                            <a:srgbClr val="000000"/>
                          </a:solidFill>
                          <a:latin typeface="맑은 고딕"/>
                          <a:ea typeface="맑은 고딕"/>
                        </a:rPr>
                        <a:t>평균 패치 1.7 file(2개 이하)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dirty="0">
                          <a:solidFill>
                            <a:srgbClr val="000000"/>
                          </a:solidFill>
                          <a:latin typeface="맑은 고딕"/>
                          <a:ea typeface="맑은 고딕"/>
                        </a:rPr>
                        <a:t>Ferreira et al. [4],</a:t>
                      </a:r>
                      <a:endParaRPr lang="en-US"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SWE-bench (arXiv 2310.06770)</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10896">
                <a:tc>
                  <a:txBody>
                    <a:bodyPr/>
                    <a:lstStyle/>
                    <a:p>
                      <a:pPr algn="ctr"/>
                      <a:r>
                        <a:rPr sz="90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ctr"/>
                      <a:r>
                        <a:rPr sz="900" b="0"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ctr"/>
                      <a:r>
                        <a:rPr sz="900" b="0">
                          <a:solidFill>
                            <a:srgbClr val="000000"/>
                          </a:solidFill>
                          <a:latin typeface="맑은 고딕"/>
                          <a:ea typeface="맑은 고딕"/>
                        </a:rPr>
                        <a:t>≤ 0.6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dirty="0">
                          <a:solidFill>
                            <a:srgbClr val="000000"/>
                          </a:solidFill>
                          <a:latin typeface="맑은 고딕"/>
                          <a:ea typeface="맑은 고딕"/>
                        </a:rPr>
                        <a:t>★2와 ★3의 </a:t>
                      </a:r>
                      <a:r>
                        <a:rPr sz="900" b="0" dirty="0" err="1" smtClean="0">
                          <a:solidFill>
                            <a:srgbClr val="000000"/>
                          </a:solidFill>
                          <a:latin typeface="맑은 고딕"/>
                          <a:ea typeface="맑은 고딕"/>
                        </a:rPr>
                        <a:t>중점</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310896">
                <a:tc>
                  <a:txBody>
                    <a:bodyPr/>
                    <a:lstStyle/>
                    <a:p>
                      <a:pPr algn="ctr"/>
                      <a:r>
                        <a:rPr sz="90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900" b="0" dirty="0">
                          <a:solidFill>
                            <a:srgbClr val="000000"/>
                          </a:solidFill>
                          <a:latin typeface="맑은 고딕"/>
                          <a:ea typeface="맑은 고딕"/>
                        </a:rPr>
                        <a:t>≤ 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900" b="0">
                          <a:solidFill>
                            <a:srgbClr val="000000"/>
                          </a:solidFill>
                          <a:latin typeface="맑은 고딕"/>
                          <a:ea typeface="맑은 고딕"/>
                        </a:rPr>
                        <a:t>≤ 0.8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900" b="0" dirty="0"/>
                        <a:t>★1과 ★3의 </a:t>
                      </a:r>
                      <a:r>
                        <a:rPr lang="ko-KR" altLang="en-US" sz="900" b="0" dirty="0" smtClean="0"/>
                        <a:t>중점 </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10896">
                <a:tc>
                  <a:txBody>
                    <a:bodyPr/>
                    <a:lstStyle/>
                    <a:p>
                      <a:pPr algn="ctr"/>
                      <a:r>
                        <a:rPr sz="90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ctr"/>
                      <a:r>
                        <a:rPr sz="900" b="0">
                          <a:solidFill>
                            <a:srgbClr val="000000"/>
                          </a:solidFill>
                          <a:latin typeface="맑은 고딕"/>
                          <a:ea typeface="맑은 고딕"/>
                        </a:rPr>
                        <a:t>≤ 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ctr"/>
                      <a:r>
                        <a:rPr sz="900" b="0">
                          <a:solidFill>
                            <a:srgbClr val="000000"/>
                          </a:solidFill>
                          <a:latin typeface="맑은 고딕"/>
                          <a:ea typeface="맑은 고딕"/>
                        </a:rPr>
                        <a: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dirty="0">
                          <a:solidFill>
                            <a:srgbClr val="000000"/>
                          </a:solidFill>
                          <a:latin typeface="맑은 고딕"/>
                          <a:ea typeface="맑은 고딕"/>
                        </a:rPr>
                        <a:t>★1과 ★2의 </a:t>
                      </a:r>
                      <a:r>
                        <a:rPr sz="900" b="0" dirty="0" err="1" smtClean="0">
                          <a:solidFill>
                            <a:srgbClr val="000000"/>
                          </a:solidFill>
                          <a:latin typeface="맑은 고딕"/>
                          <a:ea typeface="맑은 고딕"/>
                        </a:rPr>
                        <a:t>중점</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a:solidFill>
                            <a:srgbClr val="000000"/>
                          </a:solidFill>
                          <a:latin typeface="맑은 고딕"/>
                          <a:ea typeface="맑은 고딕"/>
                        </a:rPr>
                        <a:t>Ferreira et al. [4]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10896">
                <a:tc>
                  <a:txBody>
                    <a:bodyPr/>
                    <a:lstStyle/>
                    <a:p>
                      <a:pPr algn="ctr"/>
                      <a:r>
                        <a:rPr sz="90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900" b="0" dirty="0">
                          <a:solidFill>
                            <a:srgbClr val="000000"/>
                          </a:solidFill>
                          <a:latin typeface="맑은 고딕"/>
                          <a:ea typeface="맑은 고딕"/>
                        </a:rPr>
                        <a:t>≤ 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900" b="0">
                          <a:solidFill>
                            <a:srgbClr val="000000"/>
                          </a:solidFill>
                          <a:latin typeface="맑은 고딕"/>
                          <a:ea typeface="맑은 고딕"/>
                        </a:rPr>
                        <a:t>≤ 1.2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lang="ko-KR" altLang="en-US" sz="900" b="1" dirty="0"/>
                        <a:t>최소 충족선: 일상 변경의 80%가 이 규모 이하</a:t>
                      </a:r>
                      <a:r>
                        <a:rPr lang="ko-KR" altLang="en-US" sz="900" b="1" dirty="0" smtClean="0"/>
                        <a:t>. </a:t>
                      </a:r>
                      <a:endParaRPr lang="ko-KR" altLang="en-US" sz="900" b="1" dirty="0"/>
                    </a:p>
                    <a:p>
                      <a:pPr algn="l">
                        <a:lnSpc>
                          <a:spcPct val="125000"/>
                        </a:lnSpc>
                      </a:pPr>
                      <a:r>
                        <a:rPr lang="en-US" altLang="ko-KR" sz="900" b="1" dirty="0" smtClean="0"/>
                        <a:t>- </a:t>
                      </a:r>
                      <a:r>
                        <a:rPr lang="ko-KR" altLang="en-US" sz="900" b="1" dirty="0" smtClean="0"/>
                        <a:t>OSS 프로젝트 </a:t>
                      </a:r>
                      <a:r>
                        <a:rPr lang="ko-KR" altLang="en-US" sz="900" b="1" dirty="0" err="1" smtClean="0"/>
                        <a:t>commit</a:t>
                      </a:r>
                      <a:r>
                        <a:rPr lang="ko-KR" altLang="en-US" sz="900" b="1" dirty="0" smtClean="0"/>
                        <a:t> 80</a:t>
                      </a:r>
                      <a:r>
                        <a:rPr lang="en-US" altLang="ko-KR" sz="900" b="1" dirty="0" smtClean="0"/>
                        <a:t>%</a:t>
                      </a:r>
                      <a:r>
                        <a:rPr lang="ko-KR" altLang="en-US" sz="900" b="1" dirty="0" smtClean="0"/>
                        <a:t>가</a:t>
                      </a:r>
                      <a:r>
                        <a:rPr lang="ko-KR" altLang="en-US" sz="900" b="1" baseline="0" dirty="0" smtClean="0"/>
                        <a:t> </a:t>
                      </a:r>
                      <a:r>
                        <a:rPr lang="en-US" altLang="ko-KR" sz="900" b="1" baseline="0" dirty="0" smtClean="0"/>
                        <a:t>6 file </a:t>
                      </a:r>
                      <a:r>
                        <a:rPr lang="ko-KR" altLang="en-US" sz="900" b="1" baseline="0" dirty="0" smtClean="0"/>
                        <a:t>수정</a:t>
                      </a:r>
                      <a:endParaRPr lang="ko-KR" altLang="en-US" sz="900" b="1" dirty="0"/>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0" dirty="0">
                          <a:solidFill>
                            <a:srgbClr val="000000"/>
                          </a:solidFill>
                          <a:latin typeface="맑은 고딕"/>
                          <a:ea typeface="맑은 고딕"/>
                        </a:rPr>
                        <a:t>Ferreira et al. [4]</a:t>
                      </a:r>
                      <a:endParaRPr lang="en-US"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(SBQS 2022, Table 4)</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10896">
                <a:tc>
                  <a:txBody>
                    <a:bodyPr/>
                    <a:lstStyle/>
                    <a:p>
                      <a:pPr algn="ctr"/>
                      <a:r>
                        <a:rPr sz="90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ctr"/>
                      <a:r>
                        <a:rPr sz="900" b="0">
                          <a:solidFill>
                            <a:srgbClr val="000000"/>
                          </a:solidFill>
                          <a:latin typeface="맑은 고딕"/>
                          <a:ea typeface="맑은 고딕"/>
                        </a:rPr>
                        <a:t>≥ 7 또는 major interface 변경</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ctr"/>
                      <a:r>
                        <a:rPr sz="900" b="0">
                          <a:solidFill>
                            <a:srgbClr val="000000"/>
                          </a:solidFill>
                          <a:latin typeface="맑은 고딕"/>
                          <a:ea typeface="맑은 고딕"/>
                        </a:rPr>
                        <a:t>&gt; 1.2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900" dirty="0"/>
                        <a:t>7개 이상이면 일상 변경 상위 20%에 해당하는 큰 변경 규모: 확장 지점이 없는 구조로 판단.</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179" name="formula">
            <a:extLst>
              <a:ext uri="{FF2B5EF4-FFF2-40B4-BE49-F238E27FC236}">
                <a16:creationId xmlns:a16="http://schemas.microsoft.com/office/drawing/2014/main" id="{F29934DD-2034-4406-8F68-7F2300113BB2}"/>
              </a:ext>
            </a:extLst>
          </p:cNvPr>
          <p:cNvSpPr/>
          <p:nvPr/>
        </p:nvSpPr>
        <p:spPr>
          <a:xfrm>
            <a:off x="365760" y="4025263"/>
            <a:ext cx="11457432" cy="804673"/>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1" hangingPunct="1">
              <a:lnSpc>
                <a:spcPct val="110000"/>
              </a:lnSpc>
              <a:spcBef>
                <a:spcPts val="0"/>
              </a:spcBef>
              <a:spcAft>
                <a:spcPts val="0"/>
              </a:spcAft>
              <a:buClrTx/>
              <a:buSzTx/>
              <a:buFontTx/>
              <a:buNone/>
              <a:tabLst/>
              <a:defRPr/>
            </a:pP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module 1</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개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고정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3</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+ 24 LOC ÷ 40 LOC/</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테스트</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리뷰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overhead 2.0 = 4.2</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0.2 MM  </a:t>
            </a:r>
            <a:r>
              <a:rPr kumimoji="0" lang="en-US" altLang="ko-KR" sz="950" b="1" i="0" u="none" strike="noStrike" kern="1200" cap="none" spc="0" normalizeH="0" baseline="0" noProof="0" dirty="0">
                <a:ln>
                  <a:noFill/>
                </a:ln>
                <a:solidFill>
                  <a:srgbClr val="FF0000"/>
                </a:solidFill>
                <a:effectLst/>
                <a:uLnTx/>
                <a:uFillTx/>
                <a:latin typeface="맑은 고딕"/>
                <a:ea typeface="맑은 고딕"/>
                <a:cs typeface="+mn-cs"/>
              </a:rPr>
              <a:t>→  M/M = 0.2 × module </a:t>
            </a:r>
            <a:r>
              <a:rPr kumimoji="0" lang="ko-KR" altLang="en-US" sz="950" b="1" i="0" u="none" strike="noStrike" kern="1200" cap="none" spc="0" normalizeH="0" baseline="0" noProof="0" dirty="0">
                <a:ln>
                  <a:noFill/>
                </a:ln>
                <a:solidFill>
                  <a:srgbClr val="FF0000"/>
                </a:solidFill>
                <a:effectLst/>
                <a:uLnTx/>
                <a:uFillTx/>
                <a:latin typeface="맑은 고딕"/>
                <a:ea typeface="맑은 고딕"/>
                <a:cs typeface="+mn-cs"/>
              </a:rPr>
              <a:t>수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(21</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/MM)</a:t>
            </a:r>
          </a:p>
          <a:p>
            <a:pPr marL="171450" marR="0" lvl="0" indent="-171450" algn="l" defTabSz="914400" rtl="0" eaLnBrk="1" fontAlgn="auto" latinLnBrk="1" hangingPunct="1">
              <a:lnSpc>
                <a:spcPct val="110000"/>
              </a:lnSpc>
              <a:spcBef>
                <a:spcPts val="0"/>
              </a:spcBef>
              <a:spcAft>
                <a:spcPts val="0"/>
              </a:spcAft>
              <a:buClrTx/>
              <a:buSzTx/>
              <a:buFontTx/>
              <a:buChar char="-"/>
              <a:tabLst/>
              <a:defRPr/>
            </a:pP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24 LOC/module: SWE-bench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평균 패치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32.8 line ÷ 1.7 file ≈ 19 LOC/file</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을 올림</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 *</a:t>
            </a:r>
            <a:r>
              <a:rPr lang="en-US" altLang="ko-KR" sz="850" dirty="0">
                <a:solidFill>
                  <a:srgbClr val="404040"/>
                </a:solidFill>
                <a:latin typeface="맑은 고딕"/>
                <a:ea typeface="맑은 고딕"/>
              </a:rPr>
              <a:t>SWE-bench</a:t>
            </a:r>
            <a:r>
              <a:rPr lang="ko-KR" altLang="en-US" sz="850" dirty="0">
                <a:solidFill>
                  <a:srgbClr val="404040"/>
                </a:solidFill>
                <a:latin typeface="맑은 고딕"/>
                <a:ea typeface="맑은 고딕"/>
              </a:rPr>
              <a:t>는 실제 문제</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버그</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구현</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를 풀기 위해 </a:t>
            </a:r>
            <a:r>
              <a:rPr lang="en-US" altLang="ko-KR" sz="850" dirty="0">
                <a:solidFill>
                  <a:srgbClr val="404040"/>
                </a:solidFill>
                <a:latin typeface="맑은 고딕"/>
                <a:ea typeface="맑은 고딕"/>
              </a:rPr>
              <a:t>patch</a:t>
            </a:r>
            <a:r>
              <a:rPr lang="ko-KR" altLang="en-US" sz="850" dirty="0">
                <a:solidFill>
                  <a:srgbClr val="404040"/>
                </a:solidFill>
                <a:latin typeface="맑은 고딕"/>
                <a:ea typeface="맑은 고딕"/>
              </a:rPr>
              <a:t>를 올리는 벤치마크로 </a:t>
            </a:r>
            <a:r>
              <a:rPr lang="en-US" altLang="ko-KR" sz="850" dirty="0">
                <a:solidFill>
                  <a:srgbClr val="404040"/>
                </a:solidFill>
                <a:latin typeface="맑은 고딕"/>
                <a:ea typeface="맑은 고딕"/>
              </a:rPr>
              <a:t>SW </a:t>
            </a:r>
            <a:r>
              <a:rPr lang="ko-KR" altLang="en-US" sz="850" dirty="0">
                <a:solidFill>
                  <a:srgbClr val="404040"/>
                </a:solidFill>
                <a:latin typeface="맑은 고딕"/>
                <a:ea typeface="맑은 고딕"/>
              </a:rPr>
              <a:t>구현에 대한 참고 가능 </a:t>
            </a:r>
            <a:endParaRPr lang="en-US" altLang="ko-KR" sz="850" dirty="0">
              <a:solidFill>
                <a:srgbClr val="404040"/>
              </a:solidFill>
              <a:latin typeface="맑은 고딕"/>
              <a:ea typeface="맑은 고딕"/>
            </a:endParaRPr>
          </a:p>
          <a:p>
            <a:pPr marL="171450" marR="0" lvl="0" indent="-171450" algn="l" defTabSz="914400" rtl="0" eaLnBrk="1" fontAlgn="auto" latinLnBrk="1" hangingPunct="1">
              <a:lnSpc>
                <a:spcPct val="110000"/>
              </a:lnSpc>
              <a:spcBef>
                <a:spcPts val="0"/>
              </a:spcBef>
              <a:spcAft>
                <a:spcPts val="0"/>
              </a:spcAft>
              <a:buClrTx/>
              <a:buSzTx/>
              <a:buFontTx/>
              <a:buChar char="-"/>
              <a:tabLst/>
              <a:defRPr/>
            </a:pP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하루 생산성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40 LOC: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테스트</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리뷰를 뺀 순 생산성 가정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참고 출처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a:t>
            </a:r>
          </a:p>
          <a:p>
            <a:pPr marL="171450" indent="-171450">
              <a:lnSpc>
                <a:spcPct val="110000"/>
              </a:lnSpc>
              <a:buFontTx/>
              <a:buChar char="-"/>
              <a:defRPr/>
            </a:pPr>
            <a:r>
              <a:rPr lang="ko-KR" altLang="en-US" sz="850" dirty="0">
                <a:solidFill>
                  <a:srgbClr val="404040"/>
                </a:solidFill>
                <a:latin typeface="맑은 고딕"/>
                <a:ea typeface="맑은 고딕"/>
              </a:rPr>
              <a:t>고정 </a:t>
            </a:r>
            <a:r>
              <a:rPr lang="en-US" altLang="ko-KR" sz="850" dirty="0">
                <a:solidFill>
                  <a:srgbClr val="404040"/>
                </a:solidFill>
                <a:latin typeface="맑은 고딕"/>
                <a:ea typeface="맑은 고딕"/>
              </a:rPr>
              <a:t>3</a:t>
            </a:r>
            <a:r>
              <a:rPr lang="ko-KR" altLang="en-US" sz="850" dirty="0">
                <a:solidFill>
                  <a:srgbClr val="404040"/>
                </a:solidFill>
                <a:latin typeface="맑은 고딕"/>
                <a:ea typeface="맑은 고딕"/>
              </a:rPr>
              <a:t>일</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모듈</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모듈 하나를 바꿀 때 </a:t>
            </a:r>
            <a:r>
              <a:rPr lang="en-US" altLang="ko-KR" sz="850" dirty="0">
                <a:solidFill>
                  <a:srgbClr val="404040"/>
                </a:solidFill>
                <a:latin typeface="맑은 고딕"/>
                <a:ea typeface="맑은 고딕"/>
              </a:rPr>
              <a:t>LOC</a:t>
            </a:r>
            <a:r>
              <a:rPr lang="ko-KR" altLang="en-US" sz="850" dirty="0">
                <a:solidFill>
                  <a:srgbClr val="404040"/>
                </a:solidFill>
                <a:latin typeface="맑은 고딕"/>
                <a:ea typeface="맑은 고딕"/>
              </a:rPr>
              <a:t>와 무관하게 </a:t>
            </a:r>
            <a:r>
              <a:rPr lang="en-US" altLang="ko-KR" sz="850" dirty="0">
                <a:solidFill>
                  <a:srgbClr val="404040"/>
                </a:solidFill>
                <a:latin typeface="맑은 고딕"/>
                <a:ea typeface="맑은 고딕"/>
              </a:rPr>
              <a:t>interface </a:t>
            </a:r>
            <a:r>
              <a:rPr lang="ko-KR" altLang="en-US" sz="850" dirty="0">
                <a:solidFill>
                  <a:srgbClr val="404040"/>
                </a:solidFill>
                <a:latin typeface="맑은 고딕"/>
                <a:ea typeface="맑은 고딕"/>
              </a:rPr>
              <a:t>파악</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설계 리뷰</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통합 테스트에</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해당하는 공수 비용 가정</a:t>
            </a:r>
            <a:r>
              <a:rPr lang="en-US" altLang="ko-KR" sz="850" dirty="0">
                <a:solidFill>
                  <a:srgbClr val="404040"/>
                </a:solidFill>
                <a:latin typeface="맑은 고딕"/>
                <a:ea typeface="맑은 고딕"/>
              </a:rPr>
              <a:t>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참고 출처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a:t>
            </a:r>
          </a:p>
        </p:txBody>
      </p:sp>
      <p:sp>
        <p:nvSpPr>
          <p:cNvPr id="182" name="TextBox 181">
            <a:extLst>
              <a:ext uri="{FF2B5EF4-FFF2-40B4-BE49-F238E27FC236}">
                <a16:creationId xmlns:a16="http://schemas.microsoft.com/office/drawing/2014/main" id="{9262CE36-B349-4F18-AEC6-11E15248016A}"/>
              </a:ext>
            </a:extLst>
          </p:cNvPr>
          <p:cNvSpPr txBox="1"/>
          <p:nvPr/>
        </p:nvSpPr>
        <p:spPr>
          <a:xfrm>
            <a:off x="365760" y="4985385"/>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변경</a:t>
            </a:r>
            <a:r>
              <a:rPr sz="950" b="1" dirty="0">
                <a:solidFill>
                  <a:srgbClr val="2F5597"/>
                </a:solidFill>
                <a:latin typeface="맑은 고딕"/>
                <a:ea typeface="맑은 고딕"/>
              </a:rPr>
              <a:t> module 수</a:t>
            </a:r>
          </a:p>
        </p:txBody>
      </p:sp>
      <p:sp>
        <p:nvSpPr>
          <p:cNvPr id="183" name="Rectangle 18">
            <a:extLst>
              <a:ext uri="{FF2B5EF4-FFF2-40B4-BE49-F238E27FC236}">
                <a16:creationId xmlns:a16="http://schemas.microsoft.com/office/drawing/2014/main" id="{32497ED0-F4F0-4BCB-80D5-7713187A6D52}"/>
              </a:ext>
            </a:extLst>
          </p:cNvPr>
          <p:cNvSpPr/>
          <p:nvPr/>
        </p:nvSpPr>
        <p:spPr>
          <a:xfrm>
            <a:off x="8510452" y="5223129"/>
            <a:ext cx="3239588"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a:extLst>
              <a:ext uri="{FF2B5EF4-FFF2-40B4-BE49-F238E27FC236}">
                <a16:creationId xmlns:a16="http://schemas.microsoft.com/office/drawing/2014/main" id="{57CED743-868C-46F4-892C-9CA6E1ECBF2C}"/>
              </a:ext>
            </a:extLst>
          </p:cNvPr>
          <p:cNvSpPr txBox="1"/>
          <p:nvPr/>
        </p:nvSpPr>
        <p:spPr>
          <a:xfrm>
            <a:off x="8510452" y="5223129"/>
            <a:ext cx="323958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185" name="Rectangle 20">
            <a:extLst>
              <a:ext uri="{FF2B5EF4-FFF2-40B4-BE49-F238E27FC236}">
                <a16:creationId xmlns:a16="http://schemas.microsoft.com/office/drawing/2014/main" id="{587879DB-460E-4073-A655-70D20571643D}"/>
              </a:ext>
            </a:extLst>
          </p:cNvPr>
          <p:cNvSpPr/>
          <p:nvPr/>
        </p:nvSpPr>
        <p:spPr>
          <a:xfrm>
            <a:off x="6890658" y="5223129"/>
            <a:ext cx="1619794"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2B52C54-65AA-4215-BFEF-2E93A72C9DF0}"/>
              </a:ext>
            </a:extLst>
          </p:cNvPr>
          <p:cNvSpPr txBox="1"/>
          <p:nvPr/>
        </p:nvSpPr>
        <p:spPr>
          <a:xfrm>
            <a:off x="6890658"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187" name="Rectangle 22">
            <a:extLst>
              <a:ext uri="{FF2B5EF4-FFF2-40B4-BE49-F238E27FC236}">
                <a16:creationId xmlns:a16="http://schemas.microsoft.com/office/drawing/2014/main" id="{704A3354-9CE1-4967-8783-7F5D883C880F}"/>
              </a:ext>
            </a:extLst>
          </p:cNvPr>
          <p:cNvSpPr/>
          <p:nvPr/>
        </p:nvSpPr>
        <p:spPr>
          <a:xfrm>
            <a:off x="5270864" y="5223129"/>
            <a:ext cx="1619794"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a:extLst>
              <a:ext uri="{FF2B5EF4-FFF2-40B4-BE49-F238E27FC236}">
                <a16:creationId xmlns:a16="http://schemas.microsoft.com/office/drawing/2014/main" id="{F172043A-3788-4D17-8F26-A1975C28494A}"/>
              </a:ext>
            </a:extLst>
          </p:cNvPr>
          <p:cNvSpPr txBox="1"/>
          <p:nvPr/>
        </p:nvSpPr>
        <p:spPr>
          <a:xfrm>
            <a:off x="5270864"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189" name="Rectangle 24">
            <a:extLst>
              <a:ext uri="{FF2B5EF4-FFF2-40B4-BE49-F238E27FC236}">
                <a16:creationId xmlns:a16="http://schemas.microsoft.com/office/drawing/2014/main" id="{9AB53739-9FE5-4E90-9D24-C873FC2AA1EE}"/>
              </a:ext>
            </a:extLst>
          </p:cNvPr>
          <p:cNvSpPr/>
          <p:nvPr/>
        </p:nvSpPr>
        <p:spPr>
          <a:xfrm>
            <a:off x="3651070" y="5223129"/>
            <a:ext cx="1619794"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5BFA7BC4-04A3-48B4-A609-7890651E9C85}"/>
              </a:ext>
            </a:extLst>
          </p:cNvPr>
          <p:cNvSpPr txBox="1"/>
          <p:nvPr/>
        </p:nvSpPr>
        <p:spPr>
          <a:xfrm>
            <a:off x="3651070"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191" name="Rectangle 26">
            <a:extLst>
              <a:ext uri="{FF2B5EF4-FFF2-40B4-BE49-F238E27FC236}">
                <a16:creationId xmlns:a16="http://schemas.microsoft.com/office/drawing/2014/main" id="{C42D9C0F-B6E4-423D-9B9D-91C630D169E2}"/>
              </a:ext>
            </a:extLst>
          </p:cNvPr>
          <p:cNvSpPr/>
          <p:nvPr/>
        </p:nvSpPr>
        <p:spPr>
          <a:xfrm>
            <a:off x="2031276" y="5223129"/>
            <a:ext cx="1619794"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a:extLst>
              <a:ext uri="{FF2B5EF4-FFF2-40B4-BE49-F238E27FC236}">
                <a16:creationId xmlns:a16="http://schemas.microsoft.com/office/drawing/2014/main" id="{1F5EB386-E19B-4202-B2E9-57CF33760348}"/>
              </a:ext>
            </a:extLst>
          </p:cNvPr>
          <p:cNvSpPr txBox="1"/>
          <p:nvPr/>
        </p:nvSpPr>
        <p:spPr>
          <a:xfrm>
            <a:off x="2031276"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193" name="Rectangle 28">
            <a:extLst>
              <a:ext uri="{FF2B5EF4-FFF2-40B4-BE49-F238E27FC236}">
                <a16:creationId xmlns:a16="http://schemas.microsoft.com/office/drawing/2014/main" id="{A15FB515-E1B7-4D6B-AD06-745CCF903C63}"/>
              </a:ext>
            </a:extLst>
          </p:cNvPr>
          <p:cNvSpPr/>
          <p:nvPr/>
        </p:nvSpPr>
        <p:spPr>
          <a:xfrm>
            <a:off x="411482" y="5223129"/>
            <a:ext cx="1619794"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a:extLst>
              <a:ext uri="{FF2B5EF4-FFF2-40B4-BE49-F238E27FC236}">
                <a16:creationId xmlns:a16="http://schemas.microsoft.com/office/drawing/2014/main" id="{0717756F-8A95-4DFD-B0AE-1204EC0EF4AF}"/>
              </a:ext>
            </a:extLst>
          </p:cNvPr>
          <p:cNvSpPr txBox="1"/>
          <p:nvPr/>
        </p:nvSpPr>
        <p:spPr>
          <a:xfrm>
            <a:off x="411482"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195" name="TextBox 194">
            <a:extLst>
              <a:ext uri="{FF2B5EF4-FFF2-40B4-BE49-F238E27FC236}">
                <a16:creationId xmlns:a16="http://schemas.microsoft.com/office/drawing/2014/main" id="{49FE62CD-E4F0-4ECA-B36E-D7772FB46DD6}"/>
              </a:ext>
            </a:extLst>
          </p:cNvPr>
          <p:cNvSpPr txBox="1"/>
          <p:nvPr/>
        </p:nvSpPr>
        <p:spPr>
          <a:xfrm>
            <a:off x="11430000"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196" name="TextBox 195">
            <a:extLst>
              <a:ext uri="{FF2B5EF4-FFF2-40B4-BE49-F238E27FC236}">
                <a16:creationId xmlns:a16="http://schemas.microsoft.com/office/drawing/2014/main" id="{3DE852E4-7793-4D50-B212-1FF013856054}"/>
              </a:ext>
            </a:extLst>
          </p:cNvPr>
          <p:cNvSpPr txBox="1"/>
          <p:nvPr/>
        </p:nvSpPr>
        <p:spPr>
          <a:xfrm>
            <a:off x="9810205"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197" name="TextBox 196">
            <a:extLst>
              <a:ext uri="{FF2B5EF4-FFF2-40B4-BE49-F238E27FC236}">
                <a16:creationId xmlns:a16="http://schemas.microsoft.com/office/drawing/2014/main" id="{D33C6A71-83EB-45B7-9331-C5528D998A9A}"/>
              </a:ext>
            </a:extLst>
          </p:cNvPr>
          <p:cNvSpPr txBox="1"/>
          <p:nvPr/>
        </p:nvSpPr>
        <p:spPr>
          <a:xfrm>
            <a:off x="8190411"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a:t>
            </a:r>
          </a:p>
        </p:txBody>
      </p:sp>
      <p:sp>
        <p:nvSpPr>
          <p:cNvPr id="198" name="TextBox 197">
            <a:extLst>
              <a:ext uri="{FF2B5EF4-FFF2-40B4-BE49-F238E27FC236}">
                <a16:creationId xmlns:a16="http://schemas.microsoft.com/office/drawing/2014/main" id="{A512C27A-5EC7-405B-A33E-580D537C8395}"/>
              </a:ext>
            </a:extLst>
          </p:cNvPr>
          <p:cNvSpPr txBox="1"/>
          <p:nvPr/>
        </p:nvSpPr>
        <p:spPr>
          <a:xfrm>
            <a:off x="6570617"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199" name="TextBox 198">
            <a:extLst>
              <a:ext uri="{FF2B5EF4-FFF2-40B4-BE49-F238E27FC236}">
                <a16:creationId xmlns:a16="http://schemas.microsoft.com/office/drawing/2014/main" id="{A2859D76-37B4-4E4A-B508-22B1546E2A37}"/>
              </a:ext>
            </a:extLst>
          </p:cNvPr>
          <p:cNvSpPr txBox="1"/>
          <p:nvPr/>
        </p:nvSpPr>
        <p:spPr>
          <a:xfrm>
            <a:off x="4950822"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a:t>
            </a:r>
          </a:p>
        </p:txBody>
      </p:sp>
      <p:sp>
        <p:nvSpPr>
          <p:cNvPr id="200" name="TextBox 199">
            <a:extLst>
              <a:ext uri="{FF2B5EF4-FFF2-40B4-BE49-F238E27FC236}">
                <a16:creationId xmlns:a16="http://schemas.microsoft.com/office/drawing/2014/main" id="{7183B600-5CA8-4E77-8645-FE22BBAFFAFB}"/>
              </a:ext>
            </a:extLst>
          </p:cNvPr>
          <p:cNvSpPr txBox="1"/>
          <p:nvPr/>
        </p:nvSpPr>
        <p:spPr>
          <a:xfrm>
            <a:off x="3331028"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5</a:t>
            </a:r>
          </a:p>
        </p:txBody>
      </p:sp>
      <p:sp>
        <p:nvSpPr>
          <p:cNvPr id="201" name="TextBox 200">
            <a:extLst>
              <a:ext uri="{FF2B5EF4-FFF2-40B4-BE49-F238E27FC236}">
                <a16:creationId xmlns:a16="http://schemas.microsoft.com/office/drawing/2014/main" id="{279F3326-23F0-4B98-B3DB-586918148F13}"/>
              </a:ext>
            </a:extLst>
          </p:cNvPr>
          <p:cNvSpPr txBox="1"/>
          <p:nvPr/>
        </p:nvSpPr>
        <p:spPr>
          <a:xfrm>
            <a:off x="1711234"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a:t>
            </a:r>
          </a:p>
        </p:txBody>
      </p:sp>
      <p:sp>
        <p:nvSpPr>
          <p:cNvPr id="202" name="TextBox 201">
            <a:extLst>
              <a:ext uri="{FF2B5EF4-FFF2-40B4-BE49-F238E27FC236}">
                <a16:creationId xmlns:a16="http://schemas.microsoft.com/office/drawing/2014/main" id="{CA126443-3C97-4E26-9660-5E0D5C1DF432}"/>
              </a:ext>
            </a:extLst>
          </p:cNvPr>
          <p:cNvSpPr txBox="1"/>
          <p:nvPr/>
        </p:nvSpPr>
        <p:spPr>
          <a:xfrm>
            <a:off x="91440"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a:t>
            </a:r>
          </a:p>
        </p:txBody>
      </p:sp>
      <p:cxnSp>
        <p:nvCxnSpPr>
          <p:cNvPr id="203" name="Connector 38">
            <a:extLst>
              <a:ext uri="{FF2B5EF4-FFF2-40B4-BE49-F238E27FC236}">
                <a16:creationId xmlns:a16="http://schemas.microsoft.com/office/drawing/2014/main" id="{BEA81FFB-C751-40A9-9E56-6B4208EDE892}"/>
              </a:ext>
            </a:extLst>
          </p:cNvPr>
          <p:cNvCxnSpPr/>
          <p:nvPr/>
        </p:nvCxnSpPr>
        <p:spPr>
          <a:xfrm>
            <a:off x="8510452"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4" name="Connector 39">
            <a:extLst>
              <a:ext uri="{FF2B5EF4-FFF2-40B4-BE49-F238E27FC236}">
                <a16:creationId xmlns:a16="http://schemas.microsoft.com/office/drawing/2014/main" id="{FF385D5C-49BC-42A1-80F3-91EF3E3ECEB8}"/>
              </a:ext>
            </a:extLst>
          </p:cNvPr>
          <p:cNvCxnSpPr/>
          <p:nvPr/>
        </p:nvCxnSpPr>
        <p:spPr>
          <a:xfrm>
            <a:off x="6890658"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5" name="Connector 40">
            <a:extLst>
              <a:ext uri="{FF2B5EF4-FFF2-40B4-BE49-F238E27FC236}">
                <a16:creationId xmlns:a16="http://schemas.microsoft.com/office/drawing/2014/main" id="{7019DA8E-10E6-43C8-9FC7-7C71414CE9AB}"/>
              </a:ext>
            </a:extLst>
          </p:cNvPr>
          <p:cNvCxnSpPr/>
          <p:nvPr/>
        </p:nvCxnSpPr>
        <p:spPr>
          <a:xfrm>
            <a:off x="5270864"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6" name="Connector 41">
            <a:extLst>
              <a:ext uri="{FF2B5EF4-FFF2-40B4-BE49-F238E27FC236}">
                <a16:creationId xmlns:a16="http://schemas.microsoft.com/office/drawing/2014/main" id="{CE3E01AA-BCCE-47A6-B5BA-0A0A13FA6FE6}"/>
              </a:ext>
            </a:extLst>
          </p:cNvPr>
          <p:cNvCxnSpPr/>
          <p:nvPr/>
        </p:nvCxnSpPr>
        <p:spPr>
          <a:xfrm>
            <a:off x="3651070"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7" name="Connector 42">
            <a:extLst>
              <a:ext uri="{FF2B5EF4-FFF2-40B4-BE49-F238E27FC236}">
                <a16:creationId xmlns:a16="http://schemas.microsoft.com/office/drawing/2014/main" id="{61138C0E-2DC6-4373-AD83-51961EB5AD0B}"/>
              </a:ext>
            </a:extLst>
          </p:cNvPr>
          <p:cNvCxnSpPr/>
          <p:nvPr/>
        </p:nvCxnSpPr>
        <p:spPr>
          <a:xfrm>
            <a:off x="2031276"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208" name="Oval 43">
            <a:extLst>
              <a:ext uri="{FF2B5EF4-FFF2-40B4-BE49-F238E27FC236}">
                <a16:creationId xmlns:a16="http://schemas.microsoft.com/office/drawing/2014/main" id="{D9927751-CCF9-4469-AA54-79231E62C0F9}"/>
              </a:ext>
            </a:extLst>
          </p:cNvPr>
          <p:cNvSpPr/>
          <p:nvPr/>
        </p:nvSpPr>
        <p:spPr>
          <a:xfrm>
            <a:off x="8946097" y="5694045"/>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TextBox 208">
            <a:extLst>
              <a:ext uri="{FF2B5EF4-FFF2-40B4-BE49-F238E27FC236}">
                <a16:creationId xmlns:a16="http://schemas.microsoft.com/office/drawing/2014/main" id="{29402C03-2F59-4A86-9265-19A3A195FC89}"/>
              </a:ext>
            </a:extLst>
          </p:cNvPr>
          <p:cNvSpPr txBox="1"/>
          <p:nvPr/>
        </p:nvSpPr>
        <p:spPr>
          <a:xfrm>
            <a:off x="5988013" y="5652897"/>
            <a:ext cx="2935224" cy="182880"/>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SWE-bench 평균 패치 1.7 file (★3 경계 2 module ≈ 0.4 MM)</a:t>
            </a:r>
          </a:p>
        </p:txBody>
      </p:sp>
      <p:sp>
        <p:nvSpPr>
          <p:cNvPr id="210" name="Isosceles Triangle 45">
            <a:extLst>
              <a:ext uri="{FF2B5EF4-FFF2-40B4-BE49-F238E27FC236}">
                <a16:creationId xmlns:a16="http://schemas.microsoft.com/office/drawing/2014/main" id="{E38519E5-B38D-4161-9565-459F3D3B8E3A}"/>
              </a:ext>
            </a:extLst>
          </p:cNvPr>
          <p:cNvSpPr/>
          <p:nvPr/>
        </p:nvSpPr>
        <p:spPr>
          <a:xfrm>
            <a:off x="5211428" y="5872353"/>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TextBox 210">
            <a:extLst>
              <a:ext uri="{FF2B5EF4-FFF2-40B4-BE49-F238E27FC236}">
                <a16:creationId xmlns:a16="http://schemas.microsoft.com/office/drawing/2014/main" id="{D0BC4D31-A518-425A-80C3-F5F8885DE7D3}"/>
              </a:ext>
            </a:extLst>
          </p:cNvPr>
          <p:cNvSpPr txBox="1"/>
          <p:nvPr/>
        </p:nvSpPr>
        <p:spPr>
          <a:xfrm>
            <a:off x="5344016" y="5835777"/>
            <a:ext cx="2500000" cy="182880"/>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★2 경계 4 module ≈ 0.8 MM · ★1과 ★3의 중점</a:t>
            </a:r>
          </a:p>
        </p:txBody>
      </p:sp>
      <p:sp>
        <p:nvSpPr>
          <p:cNvPr id="212" name="Diamond 47">
            <a:extLst>
              <a:ext uri="{FF2B5EF4-FFF2-40B4-BE49-F238E27FC236}">
                <a16:creationId xmlns:a16="http://schemas.microsoft.com/office/drawing/2014/main" id="{161FA3B8-5E6C-4D94-9086-2C71A5169386}"/>
              </a:ext>
            </a:extLst>
          </p:cNvPr>
          <p:cNvSpPr/>
          <p:nvPr/>
        </p:nvSpPr>
        <p:spPr>
          <a:xfrm>
            <a:off x="1971840" y="6050661"/>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TextBox 212">
            <a:extLst>
              <a:ext uri="{FF2B5EF4-FFF2-40B4-BE49-F238E27FC236}">
                <a16:creationId xmlns:a16="http://schemas.microsoft.com/office/drawing/2014/main" id="{E6DD7BAE-D2A8-4023-8A24-AFD27BCCD2BD}"/>
              </a:ext>
            </a:extLst>
          </p:cNvPr>
          <p:cNvSpPr txBox="1"/>
          <p:nvPr/>
        </p:nvSpPr>
        <p:spPr>
          <a:xfrm>
            <a:off x="2104428" y="6018657"/>
            <a:ext cx="3600000" cy="182880"/>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★1 경계 6 module ≈ 1.2 MM · 일상 변경의 80% (OSS commit 80th %ile 중앙값)</a:t>
            </a:r>
          </a:p>
        </p:txBody>
      </p:sp>
      <p:sp>
        <p:nvSpPr>
          <p:cNvPr id="214" name="Oval 49">
            <a:extLst>
              <a:ext uri="{FF2B5EF4-FFF2-40B4-BE49-F238E27FC236}">
                <a16:creationId xmlns:a16="http://schemas.microsoft.com/office/drawing/2014/main" id="{5EA7809C-DB2D-412C-8A34-5AC64E2CE768}"/>
              </a:ext>
            </a:extLst>
          </p:cNvPr>
          <p:cNvSpPr/>
          <p:nvPr/>
        </p:nvSpPr>
        <p:spPr>
          <a:xfrm>
            <a:off x="384048" y="6288405"/>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TextBox 214">
            <a:extLst>
              <a:ext uri="{FF2B5EF4-FFF2-40B4-BE49-F238E27FC236}">
                <a16:creationId xmlns:a16="http://schemas.microsoft.com/office/drawing/2014/main" id="{0CD48204-B247-420C-B505-B7BCD699432F}"/>
              </a:ext>
            </a:extLst>
          </p:cNvPr>
          <p:cNvSpPr txBox="1"/>
          <p:nvPr/>
        </p:nvSpPr>
        <p:spPr>
          <a:xfrm>
            <a:off x="502920" y="6247257"/>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216" name="Diamond 51">
            <a:extLst>
              <a:ext uri="{FF2B5EF4-FFF2-40B4-BE49-F238E27FC236}">
                <a16:creationId xmlns:a16="http://schemas.microsoft.com/office/drawing/2014/main" id="{09417F8E-EA52-4BE8-9005-6EFD37EF0523}"/>
              </a:ext>
            </a:extLst>
          </p:cNvPr>
          <p:cNvSpPr/>
          <p:nvPr/>
        </p:nvSpPr>
        <p:spPr>
          <a:xfrm>
            <a:off x="1539748" y="6288405"/>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TextBox 216">
            <a:extLst>
              <a:ext uri="{FF2B5EF4-FFF2-40B4-BE49-F238E27FC236}">
                <a16:creationId xmlns:a16="http://schemas.microsoft.com/office/drawing/2014/main" id="{91672559-0068-4769-8A2C-7C3F202C1120}"/>
              </a:ext>
            </a:extLst>
          </p:cNvPr>
          <p:cNvSpPr txBox="1"/>
          <p:nvPr/>
        </p:nvSpPr>
        <p:spPr>
          <a:xfrm>
            <a:off x="1658620" y="6247257"/>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218" name="Isosceles Triangle 53">
            <a:extLst>
              <a:ext uri="{FF2B5EF4-FFF2-40B4-BE49-F238E27FC236}">
                <a16:creationId xmlns:a16="http://schemas.microsoft.com/office/drawing/2014/main" id="{E1D18DB0-7933-4CF8-A75A-53FCA2129A2A}"/>
              </a:ext>
            </a:extLst>
          </p:cNvPr>
          <p:cNvSpPr/>
          <p:nvPr/>
        </p:nvSpPr>
        <p:spPr>
          <a:xfrm>
            <a:off x="3028823" y="6288405"/>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Box 218">
            <a:extLst>
              <a:ext uri="{FF2B5EF4-FFF2-40B4-BE49-F238E27FC236}">
                <a16:creationId xmlns:a16="http://schemas.microsoft.com/office/drawing/2014/main" id="{DA8CDC5B-01C0-43C1-9CB8-5274CE7EC970}"/>
              </a:ext>
            </a:extLst>
          </p:cNvPr>
          <p:cNvSpPr txBox="1"/>
          <p:nvPr/>
        </p:nvSpPr>
        <p:spPr>
          <a:xfrm>
            <a:off x="3147695" y="6247257"/>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220" name="Oval 55">
            <a:extLst>
              <a:ext uri="{FF2B5EF4-FFF2-40B4-BE49-F238E27FC236}">
                <a16:creationId xmlns:a16="http://schemas.microsoft.com/office/drawing/2014/main" id="{0D68BF76-CB3C-462E-B2A6-7002B3FD43CC}"/>
              </a:ext>
            </a:extLst>
          </p:cNvPr>
          <p:cNvSpPr/>
          <p:nvPr/>
        </p:nvSpPr>
        <p:spPr>
          <a:xfrm>
            <a:off x="3753358" y="6288405"/>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TextBox 220">
            <a:extLst>
              <a:ext uri="{FF2B5EF4-FFF2-40B4-BE49-F238E27FC236}">
                <a16:creationId xmlns:a16="http://schemas.microsoft.com/office/drawing/2014/main" id="{CC7BBA26-4092-453F-9A3A-5C8D222AC65F}"/>
              </a:ext>
            </a:extLst>
          </p:cNvPr>
          <p:cNvSpPr txBox="1"/>
          <p:nvPr/>
        </p:nvSpPr>
        <p:spPr>
          <a:xfrm>
            <a:off x="3872230" y="6247257"/>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50" name="실행 단추: 뒤로 또는 이전 49">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54" name="실행 단추: 뒤로 또는 이전 53">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244365589"/>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변경 용이성 - 토큰 비용 (보조 지표)</a:t>
            </a:r>
            <a:endParaRPr sz="2200" b="1" dirty="0">
              <a:solidFill>
                <a:srgbClr val="2F5597"/>
              </a:solidFill>
              <a:latin typeface="맑은 고딕"/>
              <a:ea typeface="맑은 고딕"/>
            </a:endParaRPr>
          </a:p>
        </p:txBody>
      </p:sp>
      <p:sp>
        <p:nvSpPr>
          <p:cNvPr id="174" name="subtitle">
            <a:extLst>
              <a:ext uri="{FF2B5EF4-FFF2-40B4-BE49-F238E27FC236}">
                <a16:creationId xmlns:a16="http://schemas.microsoft.com/office/drawing/2014/main" id="{96FE6872-F9E7-4752-A040-5DCE3EE8BACF}"/>
              </a:ext>
            </a:extLst>
          </p:cNvPr>
          <p:cNvSpPr txBox="1"/>
          <p:nvPr/>
        </p:nvSpPr>
        <p:spPr>
          <a:xfrm>
            <a:off x="365760" y="676656"/>
            <a:ext cx="9613127" cy="243143"/>
          </a:xfrm>
          <a:prstGeom prst="rect">
            <a:avLst/>
          </a:prstGeom>
          <a:noFill/>
        </p:spPr>
        <p:txBody>
          <a:bodyPr wrap="square" lIns="73152" tIns="36576" rIns="73152" bIns="36576" anchor="t">
            <a:spAutoFit/>
          </a:bodyPr>
          <a:lstStyle/>
          <a:p>
            <a:pPr algn="l">
              <a:spcAft>
                <a:spcPts val="250"/>
              </a:spcAft>
            </a:pPr>
            <a:r>
              <a:rPr sz="1100" b="0" dirty="0" err="1">
                <a:solidFill>
                  <a:srgbClr val="404040"/>
                </a:solidFill>
                <a:latin typeface="맑은 고딕"/>
                <a:ea typeface="맑은 고딕"/>
              </a:rPr>
              <a:t>주 지표는 변경 module 수. 에이전트 토큰 비용은 병기하는 보조 지표이며, 비용만으로 변경 용이성을 판정하기에는 무리가 있다 (Backup)</a:t>
            </a:r>
            <a:endParaRPr sz="1100" b="0" dirty="0">
              <a:solidFill>
                <a:srgbClr val="404040"/>
              </a:solidFill>
              <a:latin typeface="맑은 고딕"/>
              <a:ea typeface="맑은 고딕"/>
            </a:endParaRPr>
          </a:p>
        </p:txBody>
      </p:sp>
      <p:sp>
        <p:nvSpPr>
          <p:cNvPr id="175" name="rule">
            <a:extLst>
              <a:ext uri="{FF2B5EF4-FFF2-40B4-BE49-F238E27FC236}">
                <a16:creationId xmlns:a16="http://schemas.microsoft.com/office/drawing/2014/main" id="{8B004F8A-F37F-442E-8003-EC3499BB95E3}"/>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src">
            <a:extLst>
              <a:ext uri="{FF2B5EF4-FFF2-40B4-BE49-F238E27FC236}">
                <a16:creationId xmlns:a16="http://schemas.microsoft.com/office/drawing/2014/main" id="{3981A347-39E6-4B8E-9D4A-0604100B9CAA}"/>
              </a:ext>
            </a:extLst>
          </p:cNvPr>
          <p:cNvSpPr txBox="1"/>
          <p:nvPr/>
        </p:nvSpPr>
        <p:spPr>
          <a:xfrm>
            <a:off x="365760" y="6420000"/>
            <a:ext cx="11430000" cy="189283"/>
          </a:xfrm>
          <a:prstGeom prst="rect">
            <a:avLst/>
          </a:prstGeom>
          <a:noFill/>
        </p:spPr>
        <p:txBody>
          <a:bodyPr wrap="square" lIns="73152" tIns="36576" rIns="73152" bIns="36576" anchor="t">
            <a:spAutoFit/>
          </a:bodyPr>
          <a:lstStyle/>
          <a:p>
            <a:pPr algn="l">
              <a:spcAft>
                <a:spcPts val="0"/>
              </a:spcAft>
            </a:pPr>
            <a:r>
              <a:rPr sz="750" b="0" dirty="0" err="1">
                <a:solidFill>
                  <a:srgbClr val="404040"/>
                </a:solidFill>
                <a:latin typeface="맑은 고딕"/>
                <a:ea typeface="맑은 고딕"/>
              </a:rPr>
              <a:t>출처: DP1·DP2·DP6 QA4 사전 등록 및 측정(qa4_modifiability.json, 시나리오 4 × 후보 2 × DP 3 = 24건, Evidence [B+C]). Claude Code 비용 문서(code.claude.com/docs/en/costs): 평균 약 $13/개발자·활동일, 사용자 90%가 $30/일 미만. 구간 경계($3/$10)는 DP1 사전 등록의 가정값.</a:t>
            </a:r>
            <a:endParaRPr sz="750" b="0" dirty="0">
              <a:solidFill>
                <a:srgbClr val="404040"/>
              </a:solidFill>
              <a:latin typeface="맑은 고딕"/>
              <a:ea typeface="맑은 고딕"/>
            </a:endParaRPr>
          </a:p>
        </p:txBody>
      </p:sp>
      <p:sp>
        <p:nvSpPr>
          <p:cNvPr id="177" name="TextBox 176"/>
          <p:cNvSpPr txBox="1"/>
          <p:nvPr/>
        </p:nvSpPr>
        <p:spPr>
          <a:xfrm>
            <a:off x="365760" y="1075000"/>
            <a:ext cx="7000000" cy="230000"/>
          </a:xfrm>
          <a:prstGeom prst="rect">
            <a:avLst/>
          </a:prstGeom>
          <a:noFill/>
        </p:spPr>
        <p:txBody>
          <a:bodyPr wrap="square" lIns="73152" tIns="36576" rIns="73152" bIns="36576">
            <a:spAutoFit/>
          </a:bodyPr>
          <a:lstStyle/>
          <a:p>
            <a:r>
              <a:rPr sz="1000" b="1">
                <a:solidFill>
                  <a:srgbClr val="2F5597"/>
                </a:solidFill>
                <a:latin typeface="맑은 고딕"/>
                <a:ea typeface="맑은 고딕"/>
              </a:rPr>
              <a:t>① 보조 지표 평가 기준: 변경 1건당 코드 에이전트 비용 (frontier tier, 시나리오별 최악값)</a:t>
            </a:r>
          </a:p>
        </p:txBody>
      </p:sp>
      <p:graphicFrame>
        <p:nvGraphicFramePr>
          <p:cNvPr id="178" name="Table 177"/>
          <p:cNvGraphicFramePr>
            <a:graphicFrameLocks noGrp="1"/>
          </p:cNvGraphicFramePr>
          <p:nvPr/>
        </p:nvGraphicFramePr>
        <p:xfrm>
          <a:off x="365760" y="1320000"/>
          <a:ext cx="6500000" cy="1227744"/>
        </p:xfrm>
        <a:graphic>
          <a:graphicData uri="http://schemas.openxmlformats.org/drawingml/2006/table">
            <a:tbl>
              <a:tblPr>
                <a:tableStyleId>{2D5ABB26-0587-4C30-8999-92F81FD0307C}</a:tableStyleId>
              </a:tblPr>
              <a:tblGrid>
                <a:gridCol w="90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4350000">
                  <a:extLst>
                    <a:ext uri="{9D8B030D-6E8A-4147-A177-3AD203B41FA5}">
                      <a16:colId xmlns:a16="http://schemas.microsoft.com/office/drawing/2014/main" val="20002"/>
                    </a:ext>
                  </a:extLst>
                </a:gridCol>
              </a:tblGrid>
              <a:tr h="237744">
                <a:tc>
                  <a:txBody>
                    <a:bodyPr/>
                    <a:lstStyle/>
                    <a:p>
                      <a:pPr algn="ctr"/>
                      <a:r>
                        <a:rPr sz="900" b="1">
                          <a:solidFill>
                            <a:srgbClr val="FFFFFF"/>
                          </a:solidFill>
                          <a:latin typeface="맑은 고딕"/>
                          <a:ea typeface="맑은 고딕"/>
                        </a:rPr>
                        <a:t>구간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변경 1건 비용 (USD)</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의미 · 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30000">
                <a:tc>
                  <a:txBody>
                    <a:bodyPr/>
                    <a:lstStyle/>
                    <a:p>
                      <a:pPr algn="l"/>
                      <a:r>
                        <a:rPr sz="850" b="1">
                          <a:solidFill>
                            <a:srgbClr val="000000"/>
                          </a:solidFill>
                          <a:latin typeface="맑은 고딕"/>
                          <a:ea typeface="맑은 고딕"/>
                        </a:rPr>
                        <a:t>양호</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850" b="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r>
                        <a:rPr sz="850" b="0">
                          <a:solidFill>
                            <a:srgbClr val="000000"/>
                          </a:solidFill>
                          <a:latin typeface="맑은 고딕"/>
                          <a:ea typeface="맑은 고딕"/>
                        </a:rPr>
                        <a:t>통상 PR 1건 규모의 에이전트 세션(1시간 내외). 일 평균 비용(약 $13/개발자·일)의 1/4 이하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30000">
                <a:tc>
                  <a:txBody>
                    <a:bodyPr/>
                    <a:lstStyle/>
                    <a:p>
                      <a:pPr algn="l"/>
                      <a:r>
                        <a:rPr sz="850" b="1">
                          <a:solidFill>
                            <a:srgbClr val="000000"/>
                          </a:solidFill>
                          <a:latin typeface="맑은 고딕"/>
                          <a:ea typeface="맑은 고딕"/>
                        </a:rPr>
                        <a:t>주의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850" b="0">
                          <a:solidFill>
                            <a:srgbClr val="000000"/>
                          </a:solidFill>
                          <a:latin typeface="맑은 고딕"/>
                          <a:ea typeface="맑은 고딕"/>
                        </a:rPr>
                        <a: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r>
                        <a:rPr sz="850" b="0" dirty="0" err="1">
                          <a:solidFill>
                            <a:srgbClr val="000000"/>
                          </a:solidFill>
                          <a:latin typeface="맑은 고딕"/>
                          <a:ea typeface="맑은 고딕"/>
                        </a:rPr>
                        <a:t>장시간·반복</a:t>
                      </a:r>
                      <a:r>
                        <a:rPr sz="850" b="0" dirty="0">
                          <a:solidFill>
                            <a:srgbClr val="000000"/>
                          </a:solidFill>
                          <a:latin typeface="맑은 고딕"/>
                          <a:ea typeface="맑은 고딕"/>
                        </a:rPr>
                        <a:t> </a:t>
                      </a:r>
                      <a:r>
                        <a:rPr sz="850" b="0" dirty="0" err="1">
                          <a:solidFill>
                            <a:srgbClr val="000000"/>
                          </a:solidFill>
                          <a:latin typeface="맑은 고딕"/>
                          <a:ea typeface="맑은 고딕"/>
                        </a:rPr>
                        <a:t>세션</a:t>
                      </a:r>
                      <a:r>
                        <a:rPr sz="850" b="0" dirty="0">
                          <a:solidFill>
                            <a:srgbClr val="000000"/>
                          </a:solidFill>
                          <a:latin typeface="맑은 고딕"/>
                          <a:ea typeface="맑은 고딕"/>
                        </a:rPr>
                        <a:t>. 일 </a:t>
                      </a:r>
                      <a:r>
                        <a:rPr sz="850" b="0" dirty="0" err="1">
                          <a:solidFill>
                            <a:srgbClr val="000000"/>
                          </a:solidFill>
                          <a:latin typeface="맑은 고딕"/>
                          <a:ea typeface="맑은 고딕"/>
                        </a:rPr>
                        <a:t>평균</a:t>
                      </a:r>
                      <a:r>
                        <a:rPr sz="850" b="0" dirty="0">
                          <a:solidFill>
                            <a:srgbClr val="000000"/>
                          </a:solidFill>
                          <a:latin typeface="맑은 고딕"/>
                          <a:ea typeface="맑은 고딕"/>
                        </a:rPr>
                        <a:t>($13) </a:t>
                      </a:r>
                      <a:r>
                        <a:rPr sz="850" b="0" dirty="0" err="1">
                          <a:solidFill>
                            <a:srgbClr val="000000"/>
                          </a:solidFill>
                          <a:latin typeface="맑은 고딕"/>
                          <a:ea typeface="맑은 고딕"/>
                        </a:rPr>
                        <a:t>안에서</a:t>
                      </a:r>
                      <a:r>
                        <a:rPr sz="850" b="0" dirty="0">
                          <a:solidFill>
                            <a:srgbClr val="000000"/>
                          </a:solidFill>
                          <a:latin typeface="맑은 고딕"/>
                          <a:ea typeface="맑은 고딕"/>
                        </a:rPr>
                        <a:t> </a:t>
                      </a:r>
                      <a:r>
                        <a:rPr sz="850" b="0" dirty="0" err="1">
                          <a:solidFill>
                            <a:srgbClr val="000000"/>
                          </a:solidFill>
                          <a:latin typeface="맑은 고딕"/>
                          <a:ea typeface="맑은 고딕"/>
                        </a:rPr>
                        <a:t>하루</a:t>
                      </a:r>
                      <a:r>
                        <a:rPr sz="850" b="0" dirty="0">
                          <a:solidFill>
                            <a:srgbClr val="000000"/>
                          </a:solidFill>
                          <a:latin typeface="맑은 고딕"/>
                          <a:ea typeface="맑은 고딕"/>
                        </a:rPr>
                        <a:t> </a:t>
                      </a:r>
                      <a:r>
                        <a:rPr sz="850" b="0" dirty="0" err="1">
                          <a:solidFill>
                            <a:srgbClr val="000000"/>
                          </a:solidFill>
                          <a:latin typeface="맑은 고딕"/>
                          <a:ea typeface="맑은 고딕"/>
                        </a:rPr>
                        <a:t>작업으로</a:t>
                      </a:r>
                      <a:r>
                        <a:rPr sz="850" b="0" dirty="0">
                          <a:solidFill>
                            <a:srgbClr val="000000"/>
                          </a:solidFill>
                          <a:latin typeface="맑은 고딕"/>
                          <a:ea typeface="맑은 고딕"/>
                        </a:rPr>
                        <a:t> </a:t>
                      </a:r>
                      <a:r>
                        <a:rPr sz="850" b="0" dirty="0" err="1">
                          <a:solidFill>
                            <a:srgbClr val="000000"/>
                          </a:solidFill>
                          <a:latin typeface="맑은 고딕"/>
                          <a:ea typeface="맑은 고딕"/>
                        </a:rPr>
                        <a:t>흡수</a:t>
                      </a:r>
                      <a:endParaRPr sz="8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2"/>
                  </a:ext>
                </a:extLst>
              </a:tr>
              <a:tr h="330000">
                <a:tc>
                  <a:txBody>
                    <a:bodyPr/>
                    <a:lstStyle/>
                    <a:p>
                      <a:pPr algn="l"/>
                      <a:r>
                        <a:rPr sz="850" b="1">
                          <a:solidFill>
                            <a:srgbClr val="000000"/>
                          </a:solidFill>
                          <a:latin typeface="맑은 고딕"/>
                          <a:ea typeface="맑은 고딕"/>
                        </a:rPr>
                        <a:t>예산 검토</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850" b="0">
                          <a:solidFill>
                            <a:srgbClr val="000000"/>
                          </a:solidFill>
                          <a:latin typeface="맑은 고딕"/>
                          <a:ea typeface="맑은 고딕"/>
                        </a:rPr>
                        <a:t>&gt;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r>
                        <a:rPr sz="850" b="0" dirty="0">
                          <a:solidFill>
                            <a:srgbClr val="000000"/>
                          </a:solidFill>
                          <a:latin typeface="맑은 고딕"/>
                          <a:ea typeface="맑은 고딕"/>
                        </a:rPr>
                        <a:t>일 </a:t>
                      </a:r>
                      <a:r>
                        <a:rPr sz="850" b="0" dirty="0" err="1">
                          <a:solidFill>
                            <a:srgbClr val="000000"/>
                          </a:solidFill>
                          <a:latin typeface="맑은 고딕"/>
                          <a:ea typeface="맑은 고딕"/>
                        </a:rPr>
                        <a:t>평균에</a:t>
                      </a:r>
                      <a:r>
                        <a:rPr sz="850" b="0" dirty="0">
                          <a:solidFill>
                            <a:srgbClr val="000000"/>
                          </a:solidFill>
                          <a:latin typeface="맑은 고딕"/>
                          <a:ea typeface="맑은 고딕"/>
                        </a:rPr>
                        <a:t> </a:t>
                      </a:r>
                      <a:r>
                        <a:rPr sz="850" b="0" dirty="0" err="1">
                          <a:solidFill>
                            <a:srgbClr val="000000"/>
                          </a:solidFill>
                          <a:latin typeface="맑은 고딕"/>
                          <a:ea typeface="맑은 고딕"/>
                        </a:rPr>
                        <a:t>근접·초과</a:t>
                      </a:r>
                      <a:r>
                        <a:rPr sz="850" b="0" dirty="0">
                          <a:solidFill>
                            <a:srgbClr val="000000"/>
                          </a:solidFill>
                          <a:latin typeface="맑은 고딕"/>
                          <a:ea typeface="맑은 고딕"/>
                        </a:rPr>
                        <a:t>. </a:t>
                      </a:r>
                      <a:r>
                        <a:rPr sz="850" b="0" dirty="0" err="1">
                          <a:solidFill>
                            <a:srgbClr val="000000"/>
                          </a:solidFill>
                          <a:latin typeface="맑은 고딕"/>
                          <a:ea typeface="맑은 고딕"/>
                        </a:rPr>
                        <a:t>변경</a:t>
                      </a:r>
                      <a:r>
                        <a:rPr sz="850" b="0" dirty="0">
                          <a:solidFill>
                            <a:srgbClr val="000000"/>
                          </a:solidFill>
                          <a:latin typeface="맑은 고딕"/>
                          <a:ea typeface="맑은 고딕"/>
                        </a:rPr>
                        <a:t> 1건에 </a:t>
                      </a:r>
                      <a:r>
                        <a:rPr sz="850" b="0" dirty="0" err="1">
                          <a:solidFill>
                            <a:srgbClr val="000000"/>
                          </a:solidFill>
                          <a:latin typeface="맑은 고딕"/>
                          <a:ea typeface="맑은 고딕"/>
                        </a:rPr>
                        <a:t>별도</a:t>
                      </a:r>
                      <a:r>
                        <a:rPr sz="850" b="0" dirty="0">
                          <a:solidFill>
                            <a:srgbClr val="000000"/>
                          </a:solidFill>
                          <a:latin typeface="맑은 고딕"/>
                          <a:ea typeface="맑은 고딕"/>
                        </a:rPr>
                        <a:t> </a:t>
                      </a:r>
                      <a:r>
                        <a:rPr sz="850" b="0" dirty="0" err="1">
                          <a:solidFill>
                            <a:srgbClr val="000000"/>
                          </a:solidFill>
                          <a:latin typeface="맑은 고딕"/>
                          <a:ea typeface="맑은 고딕"/>
                        </a:rPr>
                        <a:t>예산</a:t>
                      </a:r>
                      <a:r>
                        <a:rPr sz="850" b="0" dirty="0">
                          <a:solidFill>
                            <a:srgbClr val="000000"/>
                          </a:solidFill>
                          <a:latin typeface="맑은 고딕"/>
                          <a:ea typeface="맑은 고딕"/>
                        </a:rPr>
                        <a:t> </a:t>
                      </a:r>
                      <a:r>
                        <a:rPr sz="850" b="0" dirty="0" err="1">
                          <a:solidFill>
                            <a:srgbClr val="000000"/>
                          </a:solidFill>
                          <a:latin typeface="맑은 고딕"/>
                          <a:ea typeface="맑은 고딕"/>
                        </a:rPr>
                        <a:t>검토</a:t>
                      </a:r>
                      <a:r>
                        <a:rPr sz="850" b="0" dirty="0">
                          <a:solidFill>
                            <a:srgbClr val="000000"/>
                          </a:solidFill>
                          <a:latin typeface="맑은 고딕"/>
                          <a:ea typeface="맑은 고딕"/>
                        </a:rPr>
                        <a:t> </a:t>
                      </a:r>
                      <a:r>
                        <a:rPr sz="850" b="0" dirty="0" err="1">
                          <a:solidFill>
                            <a:srgbClr val="000000"/>
                          </a:solidFill>
                          <a:latin typeface="맑은 고딕"/>
                          <a:ea typeface="맑은 고딕"/>
                        </a:rPr>
                        <a:t>필요</a:t>
                      </a:r>
                      <a:r>
                        <a:rPr sz="850" b="0" dirty="0">
                          <a:solidFill>
                            <a:srgbClr val="000000"/>
                          </a:solidFill>
                          <a:latin typeface="맑은 고딕"/>
                          <a:ea typeface="맑은 고딕"/>
                        </a:rPr>
                        <a:t> (</a:t>
                      </a:r>
                      <a:r>
                        <a:rPr sz="850" b="0" dirty="0" err="1">
                          <a:solidFill>
                            <a:srgbClr val="000000"/>
                          </a:solidFill>
                          <a:latin typeface="맑은 고딕"/>
                          <a:ea typeface="맑은 고딕"/>
                        </a:rPr>
                        <a:t>상위</a:t>
                      </a:r>
                      <a:r>
                        <a:rPr sz="850" b="0" dirty="0">
                          <a:solidFill>
                            <a:srgbClr val="000000"/>
                          </a:solidFill>
                          <a:latin typeface="맑은 고딕"/>
                          <a:ea typeface="맑은 고딕"/>
                        </a:rPr>
                        <a:t> 10% </a:t>
                      </a:r>
                      <a:r>
                        <a:rPr sz="850" b="0" dirty="0" err="1">
                          <a:solidFill>
                            <a:srgbClr val="000000"/>
                          </a:solidFill>
                          <a:latin typeface="맑은 고딕"/>
                          <a:ea typeface="맑은 고딕"/>
                        </a:rPr>
                        <a:t>사용자</a:t>
                      </a:r>
                      <a:r>
                        <a:rPr sz="850" b="0" dirty="0">
                          <a:solidFill>
                            <a:srgbClr val="000000"/>
                          </a:solidFill>
                          <a:latin typeface="맑은 고딕"/>
                          <a:ea typeface="맑은 고딕"/>
                        </a:rPr>
                        <a:t> </a:t>
                      </a:r>
                      <a:r>
                        <a:rPr sz="850" b="0" dirty="0" err="1">
                          <a:solidFill>
                            <a:srgbClr val="000000"/>
                          </a:solidFill>
                          <a:latin typeface="맑은 고딕"/>
                          <a:ea typeface="맑은 고딕"/>
                        </a:rPr>
                        <a:t>상한</a:t>
                      </a:r>
                      <a:r>
                        <a:rPr sz="850" b="0" dirty="0">
                          <a:solidFill>
                            <a:srgbClr val="000000"/>
                          </a:solidFill>
                          <a:latin typeface="맑은 고딕"/>
                          <a:ea typeface="맑은 고딕"/>
                        </a:rPr>
                        <a:t> $30/</a:t>
                      </a:r>
                      <a:r>
                        <a:rPr sz="850" b="0" dirty="0" err="1">
                          <a:solidFill>
                            <a:srgbClr val="000000"/>
                          </a:solidFill>
                          <a:latin typeface="맑은 고딕"/>
                          <a:ea typeface="맑은 고딕"/>
                        </a:rPr>
                        <a:t>일의</a:t>
                      </a:r>
                      <a:r>
                        <a:rPr sz="850" b="0" dirty="0">
                          <a:solidFill>
                            <a:srgbClr val="000000"/>
                          </a:solidFill>
                          <a:latin typeface="맑은 고딕"/>
                          <a:ea typeface="맑은 고딕"/>
                        </a:rPr>
                        <a:t> 1/3 </a:t>
                      </a:r>
                      <a:r>
                        <a:rPr sz="850" b="0" dirty="0" err="1">
                          <a:solidFill>
                            <a:srgbClr val="000000"/>
                          </a:solidFill>
                          <a:latin typeface="맑은 고딕"/>
                          <a:ea typeface="맑은 고딕"/>
                        </a:rPr>
                        <a:t>이상</a:t>
                      </a:r>
                      <a:r>
                        <a:rPr sz="85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3"/>
                  </a:ext>
                </a:extLst>
              </a:tr>
            </a:tbl>
          </a:graphicData>
        </a:graphic>
      </p:graphicFrame>
      <p:sp>
        <p:nvSpPr>
          <p:cNvPr id="179" name="Rounded Rectangle 178"/>
          <p:cNvSpPr/>
          <p:nvPr/>
        </p:nvSpPr>
        <p:spPr>
          <a:xfrm>
            <a:off x="7050000" y="1075000"/>
            <a:ext cx="4773192" cy="1500000"/>
          </a:xfrm>
          <a:prstGeom prst="roundRect">
            <a:avLst>
              <a:gd name="adj" fmla="val 6000"/>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900" b="1">
                <a:solidFill>
                  <a:srgbClr val="2F5597"/>
                </a:solidFill>
                <a:latin typeface="맑은 고딕"/>
                <a:ea typeface="맑은 고딕"/>
              </a:rPr>
              <a:t>측정식 (DP 공통, 사전 등록)</a:t>
            </a:r>
          </a:p>
          <a:p>
            <a:pPr algn="l"/>
            <a:r>
              <a:rPr sz="900" b="1">
                <a:solidFill>
                  <a:srgbClr val="2F5597"/>
                </a:solidFill>
                <a:latin typeface="맑은 고딕"/>
                <a:ea typeface="맑은 고딕"/>
              </a:rPr>
              <a:t>비용 = 토큰배율 × (C̄·p_in + N_turns·C̄·p_cache + T_out·p_out) ÷ 10⁶</a:t>
            </a:r>
          </a:p>
          <a:p>
            <a:pPr algn="l"/>
            <a:r>
              <a:rPr sz="900" b="0">
                <a:solidFill>
                  <a:srgbClr val="404040"/>
                </a:solidFill>
                <a:latin typeface="맑은 고딕"/>
                <a:ea typeface="맑은 고딕"/>
              </a:rPr>
              <a:t>C̄ = 25k + 1.5·60·S (S: 읽는 module LOC), N_turns = 10 + 5·module 수</a:t>
            </a:r>
          </a:p>
          <a:p>
            <a:pPr algn="l"/>
            <a:r>
              <a:rPr sz="900" b="0">
                <a:solidFill>
                  <a:srgbClr val="404040"/>
                </a:solidFill>
                <a:latin typeface="맑은 고딕"/>
                <a:ea typeface="맑은 고딕"/>
              </a:rPr>
              <a:t>T_out = 60·LOC·2 + 300·N_turns  (60 = 12 token/LOC × 실제 통합 5배)</a:t>
            </a:r>
          </a:p>
          <a:p>
            <a:pPr algn="l"/>
            <a:r>
              <a:rPr sz="900" b="0">
                <a:solidFill>
                  <a:srgbClr val="404040"/>
                </a:solidFill>
                <a:latin typeface="맑은 고딕"/>
                <a:ea typeface="맑은 고딕"/>
              </a:rPr>
              <a:t>frontier: $15 / $1.5 / $75 per Mtok (입력/캐시/출력), 토큰배율 0.6</a:t>
            </a:r>
          </a:p>
          <a:p>
            <a:pPr algn="l"/>
            <a:r>
              <a:rPr sz="900" b="1">
                <a:solidFill>
                  <a:srgbClr val="C00000"/>
                </a:solidFill>
                <a:latin typeface="맑은 고딕"/>
                <a:ea typeface="맑은 고딕"/>
              </a:rPr>
              <a:t>토큰·가격·턴 수 모두 가정(ASSUMED). 실제 에이전트 세션 측정이 아님</a:t>
            </a:r>
          </a:p>
        </p:txBody>
      </p:sp>
      <p:sp>
        <p:nvSpPr>
          <p:cNvPr id="180" name="TextBox 179"/>
          <p:cNvSpPr txBox="1"/>
          <p:nvPr/>
        </p:nvSpPr>
        <p:spPr>
          <a:xfrm>
            <a:off x="365760" y="2640000"/>
            <a:ext cx="11400000" cy="230000"/>
          </a:xfrm>
          <a:prstGeom prst="rect">
            <a:avLst/>
          </a:prstGeom>
          <a:noFill/>
        </p:spPr>
        <p:txBody>
          <a:bodyPr wrap="square" lIns="73152" tIns="36576" rIns="73152" bIns="36576">
            <a:spAutoFit/>
          </a:bodyPr>
          <a:lstStyle/>
          <a:p>
            <a:r>
              <a:rPr sz="1000" b="1" dirty="0">
                <a:solidFill>
                  <a:srgbClr val="2F5597"/>
                </a:solidFill>
                <a:latin typeface="맑은 고딕"/>
                <a:ea typeface="맑은 고딕"/>
              </a:rPr>
              <a:t>② 이 </a:t>
            </a:r>
            <a:r>
              <a:rPr sz="1000" b="1" dirty="0" err="1">
                <a:solidFill>
                  <a:srgbClr val="2F5597"/>
                </a:solidFill>
                <a:latin typeface="맑은 고딕"/>
                <a:ea typeface="맑은 고딕"/>
              </a:rPr>
              <a:t>지표만으로</a:t>
            </a:r>
            <a:r>
              <a:rPr sz="1000" b="1" dirty="0">
                <a:solidFill>
                  <a:srgbClr val="2F5597"/>
                </a:solidFill>
                <a:latin typeface="맑은 고딕"/>
                <a:ea typeface="맑은 고딕"/>
              </a:rPr>
              <a:t> </a:t>
            </a:r>
            <a:r>
              <a:rPr sz="1000" b="1" dirty="0" err="1">
                <a:solidFill>
                  <a:srgbClr val="2F5597"/>
                </a:solidFill>
                <a:latin typeface="맑은 고딕"/>
                <a:ea typeface="맑은 고딕"/>
              </a:rPr>
              <a:t>변경</a:t>
            </a:r>
            <a:r>
              <a:rPr sz="1000" b="1" dirty="0">
                <a:solidFill>
                  <a:srgbClr val="2F5597"/>
                </a:solidFill>
                <a:latin typeface="맑은 고딕"/>
                <a:ea typeface="맑은 고딕"/>
              </a:rPr>
              <a:t> </a:t>
            </a:r>
            <a:r>
              <a:rPr sz="1000" b="1" dirty="0" err="1">
                <a:solidFill>
                  <a:srgbClr val="2F5597"/>
                </a:solidFill>
                <a:latin typeface="맑은 고딕"/>
                <a:ea typeface="맑은 고딕"/>
              </a:rPr>
              <a:t>용이성을</a:t>
            </a:r>
            <a:r>
              <a:rPr sz="1000" b="1" dirty="0">
                <a:solidFill>
                  <a:srgbClr val="2F5597"/>
                </a:solidFill>
                <a:latin typeface="맑은 고딕"/>
                <a:ea typeface="맑은 고딕"/>
              </a:rPr>
              <a:t> </a:t>
            </a:r>
            <a:r>
              <a:rPr sz="1000" b="1" dirty="0" err="1">
                <a:solidFill>
                  <a:srgbClr val="2F5597"/>
                </a:solidFill>
                <a:latin typeface="맑은 고딕"/>
                <a:ea typeface="맑은 고딕"/>
              </a:rPr>
              <a:t>판정하기</a:t>
            </a:r>
            <a:r>
              <a:rPr sz="1000" b="1" dirty="0">
                <a:solidFill>
                  <a:srgbClr val="2F5597"/>
                </a:solidFill>
                <a:latin typeface="맑은 고딕"/>
                <a:ea typeface="맑은 고딕"/>
              </a:rPr>
              <a:t> </a:t>
            </a:r>
            <a:r>
              <a:rPr sz="1000" b="1" dirty="0" err="1">
                <a:solidFill>
                  <a:srgbClr val="2F5597"/>
                </a:solidFill>
                <a:latin typeface="맑은 고딕"/>
                <a:ea typeface="맑은 고딕"/>
              </a:rPr>
              <a:t>어려운</a:t>
            </a:r>
            <a:r>
              <a:rPr sz="1000" b="1" dirty="0">
                <a:solidFill>
                  <a:srgbClr val="2F5597"/>
                </a:solidFill>
                <a:latin typeface="맑은 고딕"/>
                <a:ea typeface="맑은 고딕"/>
              </a:rPr>
              <a:t> </a:t>
            </a:r>
            <a:r>
              <a:rPr sz="1000" b="1" dirty="0" err="1">
                <a:solidFill>
                  <a:srgbClr val="2F5597"/>
                </a:solidFill>
                <a:latin typeface="맑은 고딕"/>
                <a:ea typeface="맑은 고딕"/>
              </a:rPr>
              <a:t>이유</a:t>
            </a:r>
            <a:r>
              <a:rPr sz="1000" b="1" dirty="0">
                <a:solidFill>
                  <a:srgbClr val="2F5597"/>
                </a:solidFill>
                <a:latin typeface="맑은 고딕"/>
                <a:ea typeface="맑은 고딕"/>
              </a:rPr>
              <a:t>  (DP1·DP2·DP6 </a:t>
            </a:r>
            <a:r>
              <a:rPr sz="1000" b="1" dirty="0" err="1">
                <a:solidFill>
                  <a:srgbClr val="2F5597"/>
                </a:solidFill>
                <a:latin typeface="맑은 고딕"/>
                <a:ea typeface="맑은 고딕"/>
              </a:rPr>
              <a:t>측정</a:t>
            </a:r>
            <a:r>
              <a:rPr sz="1000" b="1" dirty="0">
                <a:solidFill>
                  <a:srgbClr val="2F5597"/>
                </a:solidFill>
                <a:latin typeface="맑은 고딕"/>
                <a:ea typeface="맑은 고딕"/>
              </a:rPr>
              <a:t> 24건 = </a:t>
            </a:r>
            <a:r>
              <a:rPr sz="1000" b="1" dirty="0" err="1">
                <a:solidFill>
                  <a:srgbClr val="2F5597"/>
                </a:solidFill>
                <a:latin typeface="맑은 고딕"/>
                <a:ea typeface="맑은 고딕"/>
              </a:rPr>
              <a:t>시나리오</a:t>
            </a:r>
            <a:r>
              <a:rPr sz="1000" b="1" dirty="0">
                <a:solidFill>
                  <a:srgbClr val="2F5597"/>
                </a:solidFill>
                <a:latin typeface="맑은 고딕"/>
                <a:ea typeface="맑은 고딕"/>
              </a:rPr>
              <a:t> 4 × </a:t>
            </a:r>
            <a:r>
              <a:rPr sz="1000" b="1" dirty="0" err="1">
                <a:solidFill>
                  <a:srgbClr val="2F5597"/>
                </a:solidFill>
                <a:latin typeface="맑은 고딕"/>
                <a:ea typeface="맑은 고딕"/>
              </a:rPr>
              <a:t>후보</a:t>
            </a:r>
            <a:r>
              <a:rPr sz="1000" b="1" dirty="0">
                <a:solidFill>
                  <a:srgbClr val="2F5597"/>
                </a:solidFill>
                <a:latin typeface="맑은 고딕"/>
                <a:ea typeface="맑은 고딕"/>
              </a:rPr>
              <a:t> 2 × DP 3)</a:t>
            </a:r>
          </a:p>
        </p:txBody>
      </p:sp>
      <p:graphicFrame>
        <p:nvGraphicFramePr>
          <p:cNvPr id="181" name="Table 180"/>
          <p:cNvGraphicFramePr>
            <a:graphicFrameLocks noGrp="1"/>
          </p:cNvGraphicFramePr>
          <p:nvPr/>
        </p:nvGraphicFramePr>
        <p:xfrm>
          <a:off x="365760" y="2880000"/>
          <a:ext cx="11457432" cy="2587744"/>
        </p:xfrm>
        <a:graphic>
          <a:graphicData uri="http://schemas.openxmlformats.org/drawingml/2006/table">
            <a:tbl>
              <a:tblPr>
                <a:tableStyleId>{2D5ABB26-0587-4C30-8999-92F81FD0307C}</a:tableStyleId>
              </a:tblPr>
              <a:tblGrid>
                <a:gridCol w="2000000">
                  <a:extLst>
                    <a:ext uri="{9D8B030D-6E8A-4147-A177-3AD203B41FA5}">
                      <a16:colId xmlns:a16="http://schemas.microsoft.com/office/drawing/2014/main" val="20000"/>
                    </a:ext>
                  </a:extLst>
                </a:gridCol>
                <a:gridCol w="6550000">
                  <a:extLst>
                    <a:ext uri="{9D8B030D-6E8A-4147-A177-3AD203B41FA5}">
                      <a16:colId xmlns:a16="http://schemas.microsoft.com/office/drawing/2014/main" val="20001"/>
                    </a:ext>
                  </a:extLst>
                </a:gridCol>
                <a:gridCol w="2907432">
                  <a:extLst>
                    <a:ext uri="{9D8B030D-6E8A-4147-A177-3AD203B41FA5}">
                      <a16:colId xmlns:a16="http://schemas.microsoft.com/office/drawing/2014/main" val="20002"/>
                    </a:ext>
                  </a:extLst>
                </a:gridCol>
              </a:tblGrid>
              <a:tr h="237744">
                <a:tc>
                  <a:txBody>
                    <a:bodyPr/>
                    <a:lstStyle/>
                    <a:p>
                      <a:pPr algn="ctr"/>
                      <a:r>
                        <a:rPr sz="900" b="1">
                          <a:solidFill>
                            <a:srgbClr val="FFFFFF"/>
                          </a:solidFill>
                          <a:latin typeface="맑은 고딕"/>
                          <a:ea typeface="맑은 고딕"/>
                        </a:rPr>
                        <a:t>한계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근거 (측정 24건 기준)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이 덱의 처리</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470000">
                <a:tc>
                  <a:txBody>
                    <a:bodyPr/>
                    <a:lstStyle/>
                    <a:p>
                      <a:pPr algn="l"/>
                      <a:r>
                        <a:rPr sz="800" b="1" dirty="0">
                          <a:solidFill>
                            <a:srgbClr val="000000"/>
                          </a:solidFill>
                          <a:latin typeface="맑은 고딕"/>
                          <a:ea typeface="맑은 고딕"/>
                        </a:rPr>
                        <a:t>1  </a:t>
                      </a:r>
                      <a:r>
                        <a:rPr sz="800" b="1" dirty="0" err="1">
                          <a:solidFill>
                            <a:srgbClr val="000000"/>
                          </a:solidFill>
                          <a:latin typeface="맑은 고딕"/>
                          <a:ea typeface="맑은 고딕"/>
                        </a:rPr>
                        <a:t>추정값이며</a:t>
                      </a:r>
                      <a:r>
                        <a:rPr sz="800" b="1" dirty="0">
                          <a:solidFill>
                            <a:srgbClr val="000000"/>
                          </a:solidFill>
                          <a:latin typeface="맑은 고딕"/>
                          <a:ea typeface="맑은 고딕"/>
                        </a:rPr>
                        <a:t> </a:t>
                      </a:r>
                      <a:r>
                        <a:rPr sz="800" b="1" dirty="0" err="1">
                          <a:solidFill>
                            <a:srgbClr val="000000"/>
                          </a:solidFill>
                          <a:latin typeface="맑은 고딕"/>
                          <a:ea typeface="맑은 고딕"/>
                        </a:rPr>
                        <a:t>실측이</a:t>
                      </a:r>
                      <a:r>
                        <a:rPr sz="800" b="1" dirty="0">
                          <a:solidFill>
                            <a:srgbClr val="000000"/>
                          </a:solidFill>
                          <a:latin typeface="맑은 고딕"/>
                          <a:ea typeface="맑은 고딕"/>
                        </a:rPr>
                        <a:t> </a:t>
                      </a:r>
                      <a:r>
                        <a:rPr sz="800" b="1" dirty="0" err="1">
                          <a:solidFill>
                            <a:srgbClr val="000000"/>
                          </a:solidFill>
                          <a:latin typeface="맑은 고딕"/>
                          <a:ea typeface="맑은 고딕"/>
                        </a:rPr>
                        <a:t>아님</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dirty="0" err="1">
                          <a:solidFill>
                            <a:srgbClr val="000000"/>
                          </a:solidFill>
                          <a:latin typeface="맑은 고딕"/>
                          <a:ea typeface="맑은 고딕"/>
                        </a:rPr>
                        <a:t>토큰</a:t>
                      </a:r>
                      <a:r>
                        <a:rPr sz="800" b="0" dirty="0">
                          <a:solidFill>
                            <a:srgbClr val="000000"/>
                          </a:solidFill>
                          <a:latin typeface="맑은 고딕"/>
                          <a:ea typeface="맑은 고딕"/>
                        </a:rPr>
                        <a:t> </a:t>
                      </a:r>
                      <a:r>
                        <a:rPr sz="800" b="0" dirty="0" err="1">
                          <a:solidFill>
                            <a:srgbClr val="000000"/>
                          </a:solidFill>
                          <a:latin typeface="맑은 고딕"/>
                          <a:ea typeface="맑은 고딕"/>
                        </a:rPr>
                        <a:t>수·가격·턴</a:t>
                      </a:r>
                      <a:r>
                        <a:rPr sz="800" b="0" dirty="0">
                          <a:solidFill>
                            <a:srgbClr val="000000"/>
                          </a:solidFill>
                          <a:latin typeface="맑은 고딕"/>
                          <a:ea typeface="맑은 고딕"/>
                        </a:rPr>
                        <a:t> </a:t>
                      </a:r>
                      <a:r>
                        <a:rPr sz="800" b="0" dirty="0" err="1">
                          <a:solidFill>
                            <a:srgbClr val="000000"/>
                          </a:solidFill>
                          <a:latin typeface="맑은 고딕"/>
                          <a:ea typeface="맑은 고딕"/>
                        </a:rPr>
                        <a:t>수가</a:t>
                      </a:r>
                      <a:r>
                        <a:rPr sz="800" b="0" dirty="0">
                          <a:solidFill>
                            <a:srgbClr val="000000"/>
                          </a:solidFill>
                          <a:latin typeface="맑은 고딕"/>
                          <a:ea typeface="맑은 고딕"/>
                        </a:rPr>
                        <a:t> </a:t>
                      </a:r>
                      <a:r>
                        <a:rPr sz="800" b="0" dirty="0" err="1">
                          <a:solidFill>
                            <a:srgbClr val="000000"/>
                          </a:solidFill>
                          <a:latin typeface="맑은 고딕"/>
                          <a:ea typeface="맑은 고딕"/>
                        </a:rPr>
                        <a:t>전부</a:t>
                      </a:r>
                      <a:r>
                        <a:rPr sz="800" b="0" dirty="0">
                          <a:solidFill>
                            <a:srgbClr val="000000"/>
                          </a:solidFill>
                          <a:latin typeface="맑은 고딕"/>
                          <a:ea typeface="맑은 고딕"/>
                        </a:rPr>
                        <a:t> </a:t>
                      </a:r>
                      <a:r>
                        <a:rPr sz="800" b="0" dirty="0" err="1">
                          <a:solidFill>
                            <a:srgbClr val="000000"/>
                          </a:solidFill>
                          <a:latin typeface="맑은 고딕"/>
                          <a:ea typeface="맑은 고딕"/>
                        </a:rPr>
                        <a:t>가정이고</a:t>
                      </a:r>
                      <a:r>
                        <a:rPr sz="800" b="0" dirty="0">
                          <a:solidFill>
                            <a:srgbClr val="000000"/>
                          </a:solidFill>
                          <a:latin typeface="맑은 고딕"/>
                          <a:ea typeface="맑은 고딕"/>
                        </a:rPr>
                        <a:t> </a:t>
                      </a:r>
                      <a:r>
                        <a:rPr sz="800" b="0" dirty="0" err="1">
                          <a:solidFill>
                            <a:srgbClr val="000000"/>
                          </a:solidFill>
                          <a:latin typeface="맑은 고딕"/>
                          <a:ea typeface="맑은 고딕"/>
                        </a:rPr>
                        <a:t>에이전트</a:t>
                      </a:r>
                      <a:r>
                        <a:rPr sz="800" b="0" dirty="0">
                          <a:solidFill>
                            <a:srgbClr val="000000"/>
                          </a:solidFill>
                          <a:latin typeface="맑은 고딕"/>
                          <a:ea typeface="맑은 고딕"/>
                        </a:rPr>
                        <a:t> </a:t>
                      </a:r>
                      <a:r>
                        <a:rPr sz="800" b="0" dirty="0" err="1">
                          <a:solidFill>
                            <a:srgbClr val="000000"/>
                          </a:solidFill>
                          <a:latin typeface="맑은 고딕"/>
                          <a:ea typeface="맑은 고딕"/>
                        </a:rPr>
                        <a:t>세션을</a:t>
                      </a:r>
                      <a:r>
                        <a:rPr sz="800" b="0" dirty="0">
                          <a:solidFill>
                            <a:srgbClr val="000000"/>
                          </a:solidFill>
                          <a:latin typeface="맑은 고딕"/>
                          <a:ea typeface="맑은 고딕"/>
                        </a:rPr>
                        <a:t> </a:t>
                      </a:r>
                      <a:r>
                        <a:rPr sz="800" b="0" dirty="0" err="1">
                          <a:solidFill>
                            <a:srgbClr val="000000"/>
                          </a:solidFill>
                          <a:latin typeface="맑은 고딕"/>
                          <a:ea typeface="맑은 고딕"/>
                        </a:rPr>
                        <a:t>실행해</a:t>
                      </a:r>
                      <a:r>
                        <a:rPr sz="800" b="0" dirty="0">
                          <a:solidFill>
                            <a:srgbClr val="000000"/>
                          </a:solidFill>
                          <a:latin typeface="맑은 고딕"/>
                          <a:ea typeface="맑은 고딕"/>
                        </a:rPr>
                        <a:t> 잰 </a:t>
                      </a:r>
                      <a:r>
                        <a:rPr sz="800" b="0" dirty="0" err="1">
                          <a:solidFill>
                            <a:srgbClr val="000000"/>
                          </a:solidFill>
                          <a:latin typeface="맑은 고딕"/>
                          <a:ea typeface="맑은 고딕"/>
                        </a:rPr>
                        <a:t>값이</a:t>
                      </a:r>
                      <a:r>
                        <a:rPr sz="800" b="0" dirty="0">
                          <a:solidFill>
                            <a:srgbClr val="000000"/>
                          </a:solidFill>
                          <a:latin typeface="맑은 고딕"/>
                          <a:ea typeface="맑은 고딕"/>
                        </a:rPr>
                        <a:t> </a:t>
                      </a:r>
                      <a:r>
                        <a:rPr sz="800" b="0" dirty="0" err="1">
                          <a:solidFill>
                            <a:srgbClr val="000000"/>
                          </a:solidFill>
                          <a:latin typeface="맑은 고딕"/>
                          <a:ea typeface="맑은 고딕"/>
                        </a:rPr>
                        <a:t>아니다</a:t>
                      </a:r>
                      <a:r>
                        <a:rPr sz="800" b="0" dirty="0">
                          <a:solidFill>
                            <a:srgbClr val="000000"/>
                          </a:solidFill>
                          <a:latin typeface="맑은 고딕"/>
                          <a:ea typeface="맑은 고딕"/>
                        </a:rPr>
                        <a:t>. </a:t>
                      </a:r>
                      <a:r>
                        <a:rPr sz="800" b="0" dirty="0" err="1">
                          <a:solidFill>
                            <a:srgbClr val="000000"/>
                          </a:solidFill>
                          <a:latin typeface="맑은 고딕"/>
                          <a:ea typeface="맑은 고딕"/>
                        </a:rPr>
                        <a:t>캐시</a:t>
                      </a:r>
                      <a:r>
                        <a:rPr sz="800" b="0" dirty="0">
                          <a:solidFill>
                            <a:srgbClr val="000000"/>
                          </a:solidFill>
                          <a:latin typeface="맑은 고딕"/>
                          <a:ea typeface="맑은 고딕"/>
                        </a:rPr>
                        <a:t> </a:t>
                      </a:r>
                      <a:r>
                        <a:rPr sz="800" b="0" dirty="0" err="1">
                          <a:solidFill>
                            <a:srgbClr val="000000"/>
                          </a:solidFill>
                          <a:latin typeface="맑은 고딕"/>
                          <a:ea typeface="맑은 고딕"/>
                        </a:rPr>
                        <a:t>입력</a:t>
                      </a:r>
                      <a:r>
                        <a:rPr sz="800" b="0" dirty="0">
                          <a:solidFill>
                            <a:srgbClr val="000000"/>
                          </a:solidFill>
                          <a:latin typeface="맑은 고딕"/>
                          <a:ea typeface="맑은 고딕"/>
                        </a:rPr>
                        <a:t>($1.5)과 </a:t>
                      </a:r>
                      <a:r>
                        <a:rPr sz="800" b="0" dirty="0" err="1">
                          <a:solidFill>
                            <a:srgbClr val="000000"/>
                          </a:solidFill>
                          <a:latin typeface="맑은 고딕"/>
                          <a:ea typeface="맑은 고딕"/>
                        </a:rPr>
                        <a:t>신규</a:t>
                      </a:r>
                      <a:r>
                        <a:rPr sz="800" b="0" dirty="0">
                          <a:solidFill>
                            <a:srgbClr val="000000"/>
                          </a:solidFill>
                          <a:latin typeface="맑은 고딕"/>
                          <a:ea typeface="맑은 고딕"/>
                        </a:rPr>
                        <a:t> </a:t>
                      </a:r>
                      <a:r>
                        <a:rPr sz="800" b="0" dirty="0" err="1">
                          <a:solidFill>
                            <a:srgbClr val="000000"/>
                          </a:solidFill>
                          <a:latin typeface="맑은 고딕"/>
                          <a:ea typeface="맑은 고딕"/>
                        </a:rPr>
                        <a:t>입력</a:t>
                      </a:r>
                      <a:r>
                        <a:rPr sz="800" b="0" dirty="0">
                          <a:solidFill>
                            <a:srgbClr val="000000"/>
                          </a:solidFill>
                          <a:latin typeface="맑은 고딕"/>
                          <a:ea typeface="맑은 고딕"/>
                        </a:rPr>
                        <a:t>($15)이 10배 </a:t>
                      </a:r>
                      <a:r>
                        <a:rPr sz="800" b="0" dirty="0" err="1">
                          <a:solidFill>
                            <a:srgbClr val="000000"/>
                          </a:solidFill>
                          <a:latin typeface="맑은 고딕"/>
                          <a:ea typeface="맑은 고딕"/>
                        </a:rPr>
                        <a:t>차이라</a:t>
                      </a:r>
                      <a:r>
                        <a:rPr sz="800" b="0" dirty="0">
                          <a:solidFill>
                            <a:srgbClr val="000000"/>
                          </a:solidFill>
                          <a:latin typeface="맑은 고딕"/>
                          <a:ea typeface="맑은 고딕"/>
                        </a:rPr>
                        <a:t> </a:t>
                      </a:r>
                      <a:r>
                        <a:rPr sz="800" b="0" dirty="0" err="1">
                          <a:solidFill>
                            <a:srgbClr val="000000"/>
                          </a:solidFill>
                          <a:latin typeface="맑은 고딕"/>
                          <a:ea typeface="맑은 고딕"/>
                        </a:rPr>
                        <a:t>캐시</a:t>
                      </a:r>
                      <a:r>
                        <a:rPr sz="800" b="0" dirty="0">
                          <a:solidFill>
                            <a:srgbClr val="000000"/>
                          </a:solidFill>
                          <a:latin typeface="맑은 고딕"/>
                          <a:ea typeface="맑은 고딕"/>
                        </a:rPr>
                        <a:t> </a:t>
                      </a:r>
                      <a:r>
                        <a:rPr sz="800" b="0" dirty="0" err="1">
                          <a:solidFill>
                            <a:srgbClr val="000000"/>
                          </a:solidFill>
                          <a:latin typeface="맑은 고딕"/>
                          <a:ea typeface="맑은 고딕"/>
                        </a:rPr>
                        <a:t>적중</a:t>
                      </a:r>
                      <a:r>
                        <a:rPr sz="800" b="0" dirty="0">
                          <a:solidFill>
                            <a:srgbClr val="000000"/>
                          </a:solidFill>
                          <a:latin typeface="맑은 고딕"/>
                          <a:ea typeface="맑은 고딕"/>
                        </a:rPr>
                        <a:t> </a:t>
                      </a:r>
                      <a:r>
                        <a:rPr sz="800" b="0" dirty="0" err="1">
                          <a:solidFill>
                            <a:srgbClr val="000000"/>
                          </a:solidFill>
                          <a:latin typeface="맑은 고딕"/>
                          <a:ea typeface="맑은 고딕"/>
                        </a:rPr>
                        <a:t>가정만으로도</a:t>
                      </a:r>
                      <a:r>
                        <a:rPr sz="800" b="0" dirty="0">
                          <a:solidFill>
                            <a:srgbClr val="000000"/>
                          </a:solidFill>
                          <a:latin typeface="맑은 고딕"/>
                          <a:ea typeface="맑은 고딕"/>
                        </a:rPr>
                        <a:t> </a:t>
                      </a:r>
                      <a:r>
                        <a:rPr sz="800" b="0" dirty="0" err="1">
                          <a:solidFill>
                            <a:srgbClr val="000000"/>
                          </a:solidFill>
                          <a:latin typeface="맑은 고딕"/>
                          <a:ea typeface="맑은 고딕"/>
                        </a:rPr>
                        <a:t>금액이</a:t>
                      </a:r>
                      <a:r>
                        <a:rPr sz="800" b="0" dirty="0">
                          <a:solidFill>
                            <a:srgbClr val="000000"/>
                          </a:solidFill>
                          <a:latin typeface="맑은 고딕"/>
                          <a:ea typeface="맑은 고딕"/>
                        </a:rPr>
                        <a:t> </a:t>
                      </a:r>
                      <a:r>
                        <a:rPr sz="800" b="0" dirty="0" err="1">
                          <a:solidFill>
                            <a:srgbClr val="000000"/>
                          </a:solidFill>
                          <a:latin typeface="맑은 고딕"/>
                          <a:ea typeface="맑은 고딕"/>
                        </a:rPr>
                        <a:t>크게</a:t>
                      </a:r>
                      <a:r>
                        <a:rPr sz="800" b="0" dirty="0">
                          <a:solidFill>
                            <a:srgbClr val="000000"/>
                          </a:solidFill>
                          <a:latin typeface="맑은 고딕"/>
                          <a:ea typeface="맑은 고딕"/>
                        </a:rPr>
                        <a:t> </a:t>
                      </a:r>
                      <a:r>
                        <a:rPr sz="800" b="0" dirty="0" err="1">
                          <a:solidFill>
                            <a:srgbClr val="000000"/>
                          </a:solidFill>
                          <a:latin typeface="맑은 고딕"/>
                          <a:ea typeface="맑은 고딕"/>
                        </a:rPr>
                        <a:t>달라진다</a:t>
                      </a:r>
                      <a:r>
                        <a:rPr sz="800" b="0" dirty="0">
                          <a:solidFill>
                            <a:srgbClr val="000000"/>
                          </a:solidFill>
                          <a:latin typeface="맑은 고딕"/>
                          <a:ea typeface="맑은 고딕"/>
                        </a:rPr>
                        <a:t>. </a:t>
                      </a:r>
                      <a:r>
                        <a:rPr sz="800" b="0" dirty="0" err="1">
                          <a:solidFill>
                            <a:srgbClr val="000000"/>
                          </a:solidFill>
                          <a:latin typeface="맑은 고딕"/>
                          <a:ea typeface="맑은 고딕"/>
                        </a:rPr>
                        <a:t>가격은</a:t>
                      </a:r>
                      <a:r>
                        <a:rPr sz="800" b="0" dirty="0">
                          <a:solidFill>
                            <a:srgbClr val="000000"/>
                          </a:solidFill>
                          <a:latin typeface="맑은 고딕"/>
                          <a:ea typeface="맑은 고딕"/>
                        </a:rPr>
                        <a:t> </a:t>
                      </a:r>
                      <a:r>
                        <a:rPr sz="800" b="0" dirty="0" err="1">
                          <a:solidFill>
                            <a:srgbClr val="000000"/>
                          </a:solidFill>
                          <a:latin typeface="맑은 고딕"/>
                          <a:ea typeface="맑은 고딕"/>
                        </a:rPr>
                        <a:t>시점</a:t>
                      </a:r>
                      <a:r>
                        <a:rPr sz="800" b="0" dirty="0">
                          <a:solidFill>
                            <a:srgbClr val="000000"/>
                          </a:solidFill>
                          <a:latin typeface="맑은 고딕"/>
                          <a:ea typeface="맑은 고딕"/>
                        </a:rPr>
                        <a:t> </a:t>
                      </a:r>
                      <a:r>
                        <a:rPr sz="800" b="0" dirty="0" err="1">
                          <a:solidFill>
                            <a:srgbClr val="000000"/>
                          </a:solidFill>
                          <a:latin typeface="맑은 고딕"/>
                          <a:ea typeface="맑은 고딕"/>
                        </a:rPr>
                        <a:t>의존</a:t>
                      </a:r>
                      <a:r>
                        <a:rPr sz="800" b="0" dirty="0">
                          <a:solidFill>
                            <a:srgbClr val="000000"/>
                          </a:solidFill>
                          <a:latin typeface="맑은 고딕"/>
                          <a:ea typeface="맑은 고딕"/>
                        </a:rPr>
                        <a:t>(2026-10-03 </a:t>
                      </a:r>
                      <a:r>
                        <a:rPr sz="800" b="0" dirty="0" err="1">
                          <a:solidFill>
                            <a:srgbClr val="000000"/>
                          </a:solidFill>
                          <a:latin typeface="맑은 고딕"/>
                          <a:ea typeface="맑은 고딕"/>
                        </a:rPr>
                        <a:t>가정</a:t>
                      </a:r>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a:solidFill>
                            <a:srgbClr val="000000"/>
                          </a:solidFill>
                          <a:latin typeface="맑은 고딕"/>
                          <a:ea typeface="맑은 고딕"/>
                        </a:rPr>
                        <a:t>절대 금액이 아니라 같은 모델 안의 상대 비교로만 사용</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470000">
                <a:tc>
                  <a:txBody>
                    <a:bodyPr/>
                    <a:lstStyle/>
                    <a:p>
                      <a:pPr algn="l"/>
                      <a:r>
                        <a:rPr sz="800" b="1" dirty="0">
                          <a:solidFill>
                            <a:srgbClr val="000000"/>
                          </a:solidFill>
                          <a:latin typeface="맑은 고딕"/>
                          <a:ea typeface="맑은 고딕"/>
                        </a:rPr>
                        <a:t>2  module </a:t>
                      </a:r>
                      <a:r>
                        <a:rPr sz="800" b="1" dirty="0" err="1">
                          <a:solidFill>
                            <a:srgbClr val="000000"/>
                          </a:solidFill>
                          <a:latin typeface="맑은 고딕"/>
                          <a:ea typeface="맑은 고딕"/>
                        </a:rPr>
                        <a:t>수와</a:t>
                      </a:r>
                      <a:r>
                        <a:rPr sz="800" b="1" dirty="0">
                          <a:solidFill>
                            <a:srgbClr val="000000"/>
                          </a:solidFill>
                          <a:latin typeface="맑은 고딕"/>
                          <a:ea typeface="맑은 고딕"/>
                        </a:rPr>
                        <a:t> </a:t>
                      </a:r>
                      <a:r>
                        <a:rPr sz="800" b="1" dirty="0" err="1">
                          <a:solidFill>
                            <a:srgbClr val="000000"/>
                          </a:solidFill>
                          <a:latin typeface="맑은 고딕"/>
                          <a:ea typeface="맑은 고딕"/>
                        </a:rPr>
                        <a:t>거의</a:t>
                      </a:r>
                      <a:r>
                        <a:rPr sz="800" b="1" dirty="0">
                          <a:solidFill>
                            <a:srgbClr val="000000"/>
                          </a:solidFill>
                          <a:latin typeface="맑은 고딕"/>
                          <a:ea typeface="맑은 고딕"/>
                        </a:rPr>
                        <a:t> </a:t>
                      </a:r>
                      <a:r>
                        <a:rPr sz="800" b="1" dirty="0" err="1">
                          <a:solidFill>
                            <a:srgbClr val="000000"/>
                          </a:solidFill>
                          <a:latin typeface="맑은 고딕"/>
                          <a:ea typeface="맑은 고딕"/>
                        </a:rPr>
                        <a:t>같은</a:t>
                      </a:r>
                      <a:r>
                        <a:rPr sz="800" b="1" dirty="0">
                          <a:solidFill>
                            <a:srgbClr val="000000"/>
                          </a:solidFill>
                          <a:latin typeface="맑은 고딕"/>
                          <a:ea typeface="맑은 고딕"/>
                        </a:rPr>
                        <a:t> </a:t>
                      </a:r>
                      <a:r>
                        <a:rPr sz="800" b="1" dirty="0" err="1">
                          <a:solidFill>
                            <a:srgbClr val="000000"/>
                          </a:solidFill>
                          <a:latin typeface="맑은 고딕"/>
                          <a:ea typeface="맑은 고딕"/>
                        </a:rPr>
                        <a:t>정보</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7F9FC"/>
                    </a:solidFill>
                  </a:tcPr>
                </a:tc>
                <a:tc>
                  <a:txBody>
                    <a:bodyPr/>
                    <a:lstStyle/>
                    <a:p>
                      <a:pPr algn="l"/>
                      <a:r>
                        <a:rPr sz="800" b="0" dirty="0">
                          <a:solidFill>
                            <a:srgbClr val="000000"/>
                          </a:solidFill>
                          <a:latin typeface="맑은 고딕"/>
                          <a:ea typeface="맑은 고딕"/>
                        </a:rPr>
                        <a:t>24건에서 </a:t>
                      </a:r>
                      <a:r>
                        <a:rPr sz="800" b="0" dirty="0" err="1">
                          <a:solidFill>
                            <a:srgbClr val="000000"/>
                          </a:solidFill>
                          <a:latin typeface="맑은 고딕"/>
                          <a:ea typeface="맑은 고딕"/>
                        </a:rPr>
                        <a:t>비용과</a:t>
                      </a:r>
                      <a:r>
                        <a:rPr sz="800" b="0" dirty="0">
                          <a:solidFill>
                            <a:srgbClr val="000000"/>
                          </a:solidFill>
                          <a:latin typeface="맑은 고딕"/>
                          <a:ea typeface="맑은 고딕"/>
                        </a:rPr>
                        <a:t> module </a:t>
                      </a:r>
                      <a:r>
                        <a:rPr sz="800" b="0" dirty="0" err="1">
                          <a:solidFill>
                            <a:srgbClr val="000000"/>
                          </a:solidFill>
                          <a:latin typeface="맑은 고딕"/>
                          <a:ea typeface="맑은 고딕"/>
                        </a:rPr>
                        <a:t>수의</a:t>
                      </a:r>
                      <a:r>
                        <a:rPr sz="800" b="0" dirty="0">
                          <a:solidFill>
                            <a:srgbClr val="000000"/>
                          </a:solidFill>
                          <a:latin typeface="맑은 고딕"/>
                          <a:ea typeface="맑은 고딕"/>
                        </a:rPr>
                        <a:t> Spearman 0.89(R² 0.84), </a:t>
                      </a:r>
                      <a:r>
                        <a:rPr sz="800" b="0" dirty="0" err="1">
                          <a:solidFill>
                            <a:srgbClr val="000000"/>
                          </a:solidFill>
                          <a:latin typeface="맑은 고딕"/>
                          <a:ea typeface="맑은 고딕"/>
                        </a:rPr>
                        <a:t>변경</a:t>
                      </a:r>
                      <a:r>
                        <a:rPr sz="800" b="0" dirty="0">
                          <a:solidFill>
                            <a:srgbClr val="000000"/>
                          </a:solidFill>
                          <a:latin typeface="맑은 고딕"/>
                          <a:ea typeface="맑은 고딕"/>
                        </a:rPr>
                        <a:t> </a:t>
                      </a:r>
                      <a:r>
                        <a:rPr sz="800" b="0" dirty="0" err="1">
                          <a:solidFill>
                            <a:srgbClr val="000000"/>
                          </a:solidFill>
                          <a:latin typeface="맑은 고딕"/>
                          <a:ea typeface="맑은 고딕"/>
                        </a:rPr>
                        <a:t>LOC와는</a:t>
                      </a:r>
                      <a:r>
                        <a:rPr sz="800" b="0" dirty="0">
                          <a:solidFill>
                            <a:srgbClr val="000000"/>
                          </a:solidFill>
                          <a:latin typeface="맑은 고딕"/>
                          <a:ea typeface="맑은 고딕"/>
                        </a:rPr>
                        <a:t> 0.44. </a:t>
                      </a:r>
                      <a:r>
                        <a:rPr sz="800" b="0" dirty="0" err="1">
                          <a:solidFill>
                            <a:srgbClr val="000000"/>
                          </a:solidFill>
                          <a:latin typeface="맑은 고딕"/>
                          <a:ea typeface="맑은 고딕"/>
                        </a:rPr>
                        <a:t>공식이</a:t>
                      </a:r>
                      <a:r>
                        <a:rPr sz="800" b="0" dirty="0">
                          <a:solidFill>
                            <a:srgbClr val="000000"/>
                          </a:solidFill>
                          <a:latin typeface="맑은 고딕"/>
                          <a:ea typeface="맑은 고딕"/>
                        </a:rPr>
                        <a:t> module </a:t>
                      </a:r>
                      <a:r>
                        <a:rPr sz="800" b="0" dirty="0" err="1">
                          <a:solidFill>
                            <a:srgbClr val="000000"/>
                          </a:solidFill>
                          <a:latin typeface="맑은 고딕"/>
                          <a:ea typeface="맑은 고딕"/>
                        </a:rPr>
                        <a:t>수에</a:t>
                      </a:r>
                      <a:r>
                        <a:rPr sz="800" b="0" dirty="0">
                          <a:solidFill>
                            <a:srgbClr val="000000"/>
                          </a:solidFill>
                          <a:latin typeface="맑은 고딕"/>
                          <a:ea typeface="맑은 고딕"/>
                        </a:rPr>
                        <a:t> </a:t>
                      </a:r>
                      <a:r>
                        <a:rPr sz="800" b="0" dirty="0" err="1">
                          <a:solidFill>
                            <a:srgbClr val="000000"/>
                          </a:solidFill>
                          <a:latin typeface="맑은 고딕"/>
                          <a:ea typeface="맑은 고딕"/>
                        </a:rPr>
                        <a:t>비례하는</a:t>
                      </a:r>
                      <a:r>
                        <a:rPr sz="800" b="0" dirty="0">
                          <a:solidFill>
                            <a:srgbClr val="000000"/>
                          </a:solidFill>
                          <a:latin typeface="맑은 고딕"/>
                          <a:ea typeface="맑은 고딕"/>
                        </a:rPr>
                        <a:t> 턴 </a:t>
                      </a:r>
                      <a:r>
                        <a:rPr sz="800" b="0" dirty="0" err="1">
                          <a:solidFill>
                            <a:srgbClr val="000000"/>
                          </a:solidFill>
                          <a:latin typeface="맑은 고딕"/>
                          <a:ea typeface="맑은 고딕"/>
                        </a:rPr>
                        <a:t>수와</a:t>
                      </a:r>
                      <a:r>
                        <a:rPr sz="800" b="0" dirty="0">
                          <a:solidFill>
                            <a:srgbClr val="000000"/>
                          </a:solidFill>
                          <a:latin typeface="맑은 고딕"/>
                          <a:ea typeface="맑은 고딕"/>
                        </a:rPr>
                        <a:t> </a:t>
                      </a:r>
                      <a:r>
                        <a:rPr sz="800" b="0" dirty="0" err="1">
                          <a:solidFill>
                            <a:srgbClr val="000000"/>
                          </a:solidFill>
                          <a:latin typeface="맑은 고딕"/>
                          <a:ea typeface="맑은 고딕"/>
                        </a:rPr>
                        <a:t>읽는</a:t>
                      </a:r>
                      <a:r>
                        <a:rPr sz="800" b="0" dirty="0">
                          <a:solidFill>
                            <a:srgbClr val="000000"/>
                          </a:solidFill>
                          <a:latin typeface="맑은 고딕"/>
                          <a:ea typeface="맑은 고딕"/>
                        </a:rPr>
                        <a:t> </a:t>
                      </a:r>
                      <a:r>
                        <a:rPr sz="800" b="0" dirty="0" err="1">
                          <a:solidFill>
                            <a:srgbClr val="000000"/>
                          </a:solidFill>
                          <a:latin typeface="맑은 고딕"/>
                          <a:ea typeface="맑은 고딕"/>
                        </a:rPr>
                        <a:t>코드</a:t>
                      </a:r>
                      <a:r>
                        <a:rPr sz="800" b="0" dirty="0">
                          <a:solidFill>
                            <a:srgbClr val="000000"/>
                          </a:solidFill>
                          <a:latin typeface="맑은 고딕"/>
                          <a:ea typeface="맑은 고딕"/>
                        </a:rPr>
                        <a:t> </a:t>
                      </a:r>
                      <a:r>
                        <a:rPr sz="800" b="0" dirty="0" err="1">
                          <a:solidFill>
                            <a:srgbClr val="000000"/>
                          </a:solidFill>
                          <a:latin typeface="맑은 고딕"/>
                          <a:ea typeface="맑은 고딕"/>
                        </a:rPr>
                        <a:t>크기를</a:t>
                      </a:r>
                      <a:r>
                        <a:rPr sz="800" b="0" dirty="0">
                          <a:solidFill>
                            <a:srgbClr val="000000"/>
                          </a:solidFill>
                          <a:latin typeface="맑은 고딕"/>
                          <a:ea typeface="맑은 고딕"/>
                        </a:rPr>
                        <a:t> </a:t>
                      </a:r>
                      <a:r>
                        <a:rPr sz="800" b="0" dirty="0" err="1">
                          <a:solidFill>
                            <a:srgbClr val="000000"/>
                          </a:solidFill>
                          <a:latin typeface="맑은 고딕"/>
                          <a:ea typeface="맑은 고딕"/>
                        </a:rPr>
                        <a:t>포함하므로</a:t>
                      </a:r>
                      <a:r>
                        <a:rPr sz="800" b="0" dirty="0">
                          <a:solidFill>
                            <a:srgbClr val="000000"/>
                          </a:solidFill>
                          <a:latin typeface="맑은 고딕"/>
                          <a:ea typeface="맑은 고딕"/>
                        </a:rPr>
                        <a:t> </a:t>
                      </a:r>
                      <a:r>
                        <a:rPr sz="800" b="0" dirty="0" err="1">
                          <a:solidFill>
                            <a:srgbClr val="000000"/>
                          </a:solidFill>
                          <a:latin typeface="맑은 고딕"/>
                          <a:ea typeface="맑은 고딕"/>
                        </a:rPr>
                        <a:t>상관의</a:t>
                      </a:r>
                      <a:r>
                        <a:rPr sz="800" b="0" dirty="0">
                          <a:solidFill>
                            <a:srgbClr val="000000"/>
                          </a:solidFill>
                          <a:latin typeface="맑은 고딕"/>
                          <a:ea typeface="맑은 고딕"/>
                        </a:rPr>
                        <a:t> </a:t>
                      </a:r>
                      <a:r>
                        <a:rPr sz="800" b="0" dirty="0" err="1">
                          <a:solidFill>
                            <a:srgbClr val="000000"/>
                          </a:solidFill>
                          <a:latin typeface="맑은 고딕"/>
                          <a:ea typeface="맑은 고딕"/>
                        </a:rPr>
                        <a:t>일부는</a:t>
                      </a:r>
                      <a:r>
                        <a:rPr sz="800" b="0" dirty="0">
                          <a:solidFill>
                            <a:srgbClr val="000000"/>
                          </a:solidFill>
                          <a:latin typeface="맑은 고딕"/>
                          <a:ea typeface="맑은 고딕"/>
                        </a:rPr>
                        <a:t> </a:t>
                      </a:r>
                      <a:r>
                        <a:rPr sz="800" b="0" dirty="0" err="1">
                          <a:solidFill>
                            <a:srgbClr val="000000"/>
                          </a:solidFill>
                          <a:latin typeface="맑은 고딕"/>
                          <a:ea typeface="맑은 고딕"/>
                        </a:rPr>
                        <a:t>구성상</a:t>
                      </a:r>
                      <a:r>
                        <a:rPr sz="800" b="0" dirty="0">
                          <a:solidFill>
                            <a:srgbClr val="000000"/>
                          </a:solidFill>
                          <a:latin typeface="맑은 고딕"/>
                          <a:ea typeface="맑은 고딕"/>
                        </a:rPr>
                        <a:t> </a:t>
                      </a:r>
                      <a:r>
                        <a:rPr sz="800" b="0" dirty="0" err="1">
                          <a:solidFill>
                            <a:srgbClr val="000000"/>
                          </a:solidFill>
                          <a:latin typeface="맑은 고딕"/>
                          <a:ea typeface="맑은 고딕"/>
                        </a:rPr>
                        <a:t>필연이다</a:t>
                      </a:r>
                      <a:r>
                        <a:rPr sz="800" b="0" dirty="0">
                          <a:solidFill>
                            <a:srgbClr val="000000"/>
                          </a:solidFill>
                          <a:latin typeface="맑은 고딕"/>
                          <a:ea typeface="맑은 고딕"/>
                        </a:rPr>
                        <a:t>. </a:t>
                      </a:r>
                      <a:r>
                        <a:rPr sz="800" b="0" dirty="0" err="1">
                          <a:solidFill>
                            <a:srgbClr val="000000"/>
                          </a:solidFill>
                          <a:latin typeface="맑은 고딕"/>
                          <a:ea typeface="맑은 고딕"/>
                        </a:rPr>
                        <a:t>실측</a:t>
                      </a:r>
                      <a:r>
                        <a:rPr sz="800" b="0" dirty="0">
                          <a:solidFill>
                            <a:srgbClr val="000000"/>
                          </a:solidFill>
                          <a:latin typeface="맑은 고딕"/>
                          <a:ea typeface="맑은 고딕"/>
                        </a:rPr>
                        <a:t> </a:t>
                      </a:r>
                      <a:r>
                        <a:rPr sz="800" b="0" dirty="0" err="1">
                          <a:solidFill>
                            <a:srgbClr val="000000"/>
                          </a:solidFill>
                          <a:latin typeface="맑은 고딕"/>
                          <a:ea typeface="맑은 고딕"/>
                        </a:rPr>
                        <a:t>세션에서</a:t>
                      </a:r>
                      <a:r>
                        <a:rPr sz="800" b="0" dirty="0">
                          <a:solidFill>
                            <a:srgbClr val="000000"/>
                          </a:solidFill>
                          <a:latin typeface="맑은 고딕"/>
                          <a:ea typeface="맑은 고딕"/>
                        </a:rPr>
                        <a:t> </a:t>
                      </a:r>
                      <a:r>
                        <a:rPr sz="800" b="0" dirty="0" err="1">
                          <a:solidFill>
                            <a:srgbClr val="000000"/>
                          </a:solidFill>
                          <a:latin typeface="맑은 고딕"/>
                          <a:ea typeface="맑은 고딕"/>
                        </a:rPr>
                        <a:t>독립</a:t>
                      </a:r>
                      <a:r>
                        <a:rPr sz="800" b="0" dirty="0">
                          <a:solidFill>
                            <a:srgbClr val="000000"/>
                          </a:solidFill>
                          <a:latin typeface="맑은 고딕"/>
                          <a:ea typeface="맑은 고딕"/>
                        </a:rPr>
                        <a:t> </a:t>
                      </a:r>
                      <a:r>
                        <a:rPr sz="800" b="0" dirty="0" err="1">
                          <a:solidFill>
                            <a:srgbClr val="000000"/>
                          </a:solidFill>
                          <a:latin typeface="맑은 고딕"/>
                          <a:ea typeface="맑은 고딕"/>
                        </a:rPr>
                        <a:t>정보를</a:t>
                      </a:r>
                      <a:r>
                        <a:rPr sz="800" b="0" dirty="0">
                          <a:solidFill>
                            <a:srgbClr val="000000"/>
                          </a:solidFill>
                          <a:latin typeface="맑은 고딕"/>
                          <a:ea typeface="맑은 고딕"/>
                        </a:rPr>
                        <a:t> </a:t>
                      </a:r>
                      <a:r>
                        <a:rPr sz="800" b="0" dirty="0" err="1">
                          <a:solidFill>
                            <a:srgbClr val="000000"/>
                          </a:solidFill>
                          <a:latin typeface="맑은 고딕"/>
                          <a:ea typeface="맑은 고딕"/>
                        </a:rPr>
                        <a:t>주는지는</a:t>
                      </a:r>
                      <a:r>
                        <a:rPr sz="800" b="0" dirty="0">
                          <a:solidFill>
                            <a:srgbClr val="000000"/>
                          </a:solidFill>
                          <a:latin typeface="맑은 고딕"/>
                          <a:ea typeface="맑은 고딕"/>
                        </a:rPr>
                        <a:t> </a:t>
                      </a:r>
                      <a:r>
                        <a:rPr sz="800" b="0" dirty="0" err="1">
                          <a:solidFill>
                            <a:srgbClr val="000000"/>
                          </a:solidFill>
                          <a:latin typeface="맑은 고딕"/>
                          <a:ea typeface="맑은 고딕"/>
                        </a:rPr>
                        <a:t>미검증</a:t>
                      </a:r>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7F9FC"/>
                    </a:solidFill>
                  </a:tcPr>
                </a:tc>
                <a:tc>
                  <a:txBody>
                    <a:bodyPr/>
                    <a:lstStyle/>
                    <a:p>
                      <a:pPr algn="l"/>
                      <a:r>
                        <a:rPr sz="800" b="0">
                          <a:solidFill>
                            <a:srgbClr val="000000"/>
                          </a:solidFill>
                          <a:latin typeface="맑은 고딕"/>
                          <a:ea typeface="맑은 고딕"/>
                        </a:rPr>
                        <a:t>별점은 module 수(주 지표)로 정하고 비용은 병기. 합산하면 이중 반영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7F9FC"/>
                    </a:solidFill>
                  </a:tcPr>
                </a:tc>
                <a:extLst>
                  <a:ext uri="{0D108BD9-81ED-4DB2-BD59-A6C34878D82A}">
                    <a16:rowId xmlns:a16="http://schemas.microsoft.com/office/drawing/2014/main" val="10002"/>
                  </a:ext>
                </a:extLst>
              </a:tr>
              <a:tr h="470000">
                <a:tc>
                  <a:txBody>
                    <a:bodyPr/>
                    <a:lstStyle/>
                    <a:p>
                      <a:pPr algn="l"/>
                      <a:r>
                        <a:rPr sz="800" b="1" dirty="0">
                          <a:solidFill>
                            <a:srgbClr val="000000"/>
                          </a:solidFill>
                          <a:latin typeface="맑은 고딕"/>
                          <a:ea typeface="맑은 고딕"/>
                        </a:rPr>
                        <a:t>3  </a:t>
                      </a:r>
                      <a:r>
                        <a:rPr sz="800" b="1" dirty="0" err="1">
                          <a:solidFill>
                            <a:srgbClr val="000000"/>
                          </a:solidFill>
                          <a:latin typeface="맑은 고딕"/>
                          <a:ea typeface="맑은 고딕"/>
                        </a:rPr>
                        <a:t>분해능이</a:t>
                      </a:r>
                      <a:r>
                        <a:rPr sz="800" b="1" dirty="0">
                          <a:solidFill>
                            <a:srgbClr val="000000"/>
                          </a:solidFill>
                          <a:latin typeface="맑은 고딕"/>
                          <a:ea typeface="맑은 고딕"/>
                        </a:rPr>
                        <a:t> </a:t>
                      </a:r>
                      <a:r>
                        <a:rPr sz="800" b="1" dirty="0" err="1">
                          <a:solidFill>
                            <a:srgbClr val="000000"/>
                          </a:solidFill>
                          <a:latin typeface="맑은 고딕"/>
                          <a:ea typeface="맑은 고딕"/>
                        </a:rPr>
                        <a:t>낮음</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dirty="0">
                          <a:solidFill>
                            <a:srgbClr val="000000"/>
                          </a:solidFill>
                          <a:latin typeface="맑은 고딕"/>
                          <a:ea typeface="맑은 고딕"/>
                        </a:rPr>
                        <a:t>24건 </a:t>
                      </a:r>
                      <a:r>
                        <a:rPr sz="800" b="0" dirty="0" err="1">
                          <a:solidFill>
                            <a:srgbClr val="000000"/>
                          </a:solidFill>
                          <a:latin typeface="맑은 고딕"/>
                          <a:ea typeface="맑은 고딕"/>
                        </a:rPr>
                        <a:t>전부</a:t>
                      </a:r>
                      <a:r>
                        <a:rPr sz="800" b="0" dirty="0">
                          <a:solidFill>
                            <a:srgbClr val="000000"/>
                          </a:solidFill>
                          <a:latin typeface="맑은 고딕"/>
                          <a:ea typeface="맑은 고딕"/>
                        </a:rPr>
                        <a:t> $0.83~$2.08로 $3 </a:t>
                      </a:r>
                      <a:r>
                        <a:rPr sz="800" b="0" dirty="0" err="1">
                          <a:solidFill>
                            <a:srgbClr val="000000"/>
                          </a:solidFill>
                          <a:latin typeface="맑은 고딕"/>
                          <a:ea typeface="맑은 고딕"/>
                        </a:rPr>
                        <a:t>경계</a:t>
                      </a:r>
                      <a:r>
                        <a:rPr sz="800" b="0" dirty="0">
                          <a:solidFill>
                            <a:srgbClr val="000000"/>
                          </a:solidFill>
                          <a:latin typeface="맑은 고딕"/>
                          <a:ea typeface="맑은 고딕"/>
                        </a:rPr>
                        <a:t> </a:t>
                      </a:r>
                      <a:r>
                        <a:rPr sz="800" b="0" dirty="0" err="1">
                          <a:solidFill>
                            <a:srgbClr val="000000"/>
                          </a:solidFill>
                          <a:latin typeface="맑은 고딕"/>
                          <a:ea typeface="맑은 고딕"/>
                        </a:rPr>
                        <a:t>안이고</a:t>
                      </a:r>
                      <a:r>
                        <a:rPr sz="800" b="0" dirty="0">
                          <a:solidFill>
                            <a:srgbClr val="000000"/>
                          </a:solidFill>
                          <a:latin typeface="맑은 고딕"/>
                          <a:ea typeface="맑은 고딕"/>
                        </a:rPr>
                        <a:t> </a:t>
                      </a:r>
                      <a:r>
                        <a:rPr sz="800" b="0" dirty="0" err="1">
                          <a:solidFill>
                            <a:srgbClr val="000000"/>
                          </a:solidFill>
                          <a:latin typeface="맑은 고딕"/>
                          <a:ea typeface="맑은 고딕"/>
                        </a:rPr>
                        <a:t>최대</a:t>
                      </a:r>
                      <a:r>
                        <a:rPr sz="800" b="0" dirty="0">
                          <a:solidFill>
                            <a:srgbClr val="000000"/>
                          </a:solidFill>
                          <a:latin typeface="맑은 고딕"/>
                          <a:ea typeface="맑은 고딕"/>
                        </a:rPr>
                        <a:t>/</a:t>
                      </a:r>
                      <a:r>
                        <a:rPr sz="800" b="0" dirty="0" err="1">
                          <a:solidFill>
                            <a:srgbClr val="000000"/>
                          </a:solidFill>
                          <a:latin typeface="맑은 고딕"/>
                          <a:ea typeface="맑은 고딕"/>
                        </a:rPr>
                        <a:t>최소는</a:t>
                      </a:r>
                      <a:r>
                        <a:rPr sz="800" b="0" dirty="0">
                          <a:solidFill>
                            <a:srgbClr val="000000"/>
                          </a:solidFill>
                          <a:latin typeface="맑은 고딕"/>
                          <a:ea typeface="맑은 고딕"/>
                        </a:rPr>
                        <a:t> 2.5배다. </a:t>
                      </a:r>
                      <a:r>
                        <a:rPr sz="800" b="0" dirty="0" err="1">
                          <a:solidFill>
                            <a:srgbClr val="000000"/>
                          </a:solidFill>
                          <a:latin typeface="맑은 고딕"/>
                          <a:ea typeface="맑은 고딕"/>
                        </a:rPr>
                        <a:t>상수를</a:t>
                      </a:r>
                      <a:r>
                        <a:rPr sz="800" b="0" dirty="0">
                          <a:solidFill>
                            <a:srgbClr val="000000"/>
                          </a:solidFill>
                          <a:latin typeface="맑은 고딕"/>
                          <a:ea typeface="맑은 고딕"/>
                        </a:rPr>
                        <a:t> </a:t>
                      </a:r>
                      <a:r>
                        <a:rPr sz="800" b="0" dirty="0" err="1">
                          <a:solidFill>
                            <a:srgbClr val="000000"/>
                          </a:solidFill>
                          <a:latin typeface="맑은 고딕"/>
                          <a:ea typeface="맑은 고딕"/>
                        </a:rPr>
                        <a:t>비관으로</a:t>
                      </a:r>
                      <a:r>
                        <a:rPr sz="800" b="0" dirty="0">
                          <a:solidFill>
                            <a:srgbClr val="000000"/>
                          </a:solidFill>
                          <a:latin typeface="맑은 고딕"/>
                          <a:ea typeface="맑은 고딕"/>
                        </a:rPr>
                        <a:t> </a:t>
                      </a:r>
                      <a:r>
                        <a:rPr sz="800" b="0" dirty="0" err="1">
                          <a:solidFill>
                            <a:srgbClr val="000000"/>
                          </a:solidFill>
                          <a:latin typeface="맑은 고딕"/>
                          <a:ea typeface="맑은 고딕"/>
                        </a:rPr>
                        <a:t>두면</a:t>
                      </a:r>
                      <a:r>
                        <a:rPr sz="800" b="0" dirty="0">
                          <a:solidFill>
                            <a:srgbClr val="000000"/>
                          </a:solidFill>
                          <a:latin typeface="맑은 고딕"/>
                          <a:ea typeface="맑은 고딕"/>
                        </a:rPr>
                        <a:t> 2건(DP1 S4 C2 $3.06, DP6 S4 C2 $3.38)만 </a:t>
                      </a:r>
                      <a:r>
                        <a:rPr sz="800" b="0" dirty="0" err="1">
                          <a:solidFill>
                            <a:srgbClr val="000000"/>
                          </a:solidFill>
                          <a:latin typeface="맑은 고딕"/>
                          <a:ea typeface="맑은 고딕"/>
                        </a:rPr>
                        <a:t>경계를</a:t>
                      </a:r>
                      <a:r>
                        <a:rPr sz="800" b="0" dirty="0">
                          <a:solidFill>
                            <a:srgbClr val="000000"/>
                          </a:solidFill>
                          <a:latin typeface="맑은 고딕"/>
                          <a:ea typeface="맑은 고딕"/>
                        </a:rPr>
                        <a:t> </a:t>
                      </a:r>
                      <a:r>
                        <a:rPr sz="800" b="0" dirty="0" err="1">
                          <a:solidFill>
                            <a:srgbClr val="000000"/>
                          </a:solidFill>
                          <a:latin typeface="맑은 고딕"/>
                          <a:ea typeface="맑은 고딕"/>
                        </a:rPr>
                        <a:t>넘어</a:t>
                      </a:r>
                      <a:r>
                        <a:rPr sz="800" b="0" dirty="0">
                          <a:solidFill>
                            <a:srgbClr val="000000"/>
                          </a:solidFill>
                          <a:latin typeface="맑은 고딕"/>
                          <a:ea typeface="맑은 고딕"/>
                        </a:rPr>
                        <a:t>, </a:t>
                      </a:r>
                      <a:r>
                        <a:rPr sz="800" b="0" dirty="0" err="1">
                          <a:solidFill>
                            <a:srgbClr val="000000"/>
                          </a:solidFill>
                          <a:latin typeface="맑은 고딕"/>
                          <a:ea typeface="맑은 고딕"/>
                        </a:rPr>
                        <a:t>구간이</a:t>
                      </a:r>
                      <a:r>
                        <a:rPr sz="800" b="0" dirty="0">
                          <a:solidFill>
                            <a:srgbClr val="000000"/>
                          </a:solidFill>
                          <a:latin typeface="맑은 고딕"/>
                          <a:ea typeface="맑은 고딕"/>
                        </a:rPr>
                        <a:t> </a:t>
                      </a:r>
                      <a:r>
                        <a:rPr sz="800" b="0" dirty="0" err="1">
                          <a:solidFill>
                            <a:srgbClr val="000000"/>
                          </a:solidFill>
                          <a:latin typeface="맑은 고딕"/>
                          <a:ea typeface="맑은 고딕"/>
                        </a:rPr>
                        <a:t>상수</a:t>
                      </a:r>
                      <a:r>
                        <a:rPr sz="800" b="0" dirty="0">
                          <a:solidFill>
                            <a:srgbClr val="000000"/>
                          </a:solidFill>
                          <a:latin typeface="맑은 고딕"/>
                          <a:ea typeface="맑은 고딕"/>
                        </a:rPr>
                        <a:t> </a:t>
                      </a:r>
                      <a:r>
                        <a:rPr sz="800" b="0" dirty="0" err="1">
                          <a:solidFill>
                            <a:srgbClr val="000000"/>
                          </a:solidFill>
                          <a:latin typeface="맑은 고딕"/>
                          <a:ea typeface="맑은 고딕"/>
                        </a:rPr>
                        <a:t>선택에</a:t>
                      </a:r>
                      <a:r>
                        <a:rPr sz="800" b="0" dirty="0">
                          <a:solidFill>
                            <a:srgbClr val="000000"/>
                          </a:solidFill>
                          <a:latin typeface="맑은 고딕"/>
                          <a:ea typeface="맑은 고딕"/>
                        </a:rPr>
                        <a:t> </a:t>
                      </a:r>
                      <a:r>
                        <a:rPr sz="800" b="0" dirty="0" err="1">
                          <a:solidFill>
                            <a:srgbClr val="000000"/>
                          </a:solidFill>
                          <a:latin typeface="맑은 고딕"/>
                          <a:ea typeface="맑은 고딕"/>
                        </a:rPr>
                        <a:t>좌우된다</a:t>
                      </a:r>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a:solidFill>
                            <a:srgbClr val="000000"/>
                          </a:solidFill>
                          <a:latin typeface="맑은 고딕"/>
                          <a:ea typeface="맑은 고딕"/>
                        </a:rPr>
                        <a:t>상수 낙관/비관 민감도를 함께 보고</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470000">
                <a:tc>
                  <a:txBody>
                    <a:bodyPr/>
                    <a:lstStyle/>
                    <a:p>
                      <a:pPr algn="l"/>
                      <a:r>
                        <a:rPr sz="800" b="1" dirty="0">
                          <a:solidFill>
                            <a:srgbClr val="000000"/>
                          </a:solidFill>
                          <a:latin typeface="맑은 고딕"/>
                          <a:ea typeface="맑은 고딕"/>
                        </a:rPr>
                        <a:t>4  </a:t>
                      </a:r>
                      <a:r>
                        <a:rPr sz="800" b="1" dirty="0" err="1">
                          <a:solidFill>
                            <a:srgbClr val="000000"/>
                          </a:solidFill>
                          <a:latin typeface="맑은 고딕"/>
                          <a:ea typeface="맑은 고딕"/>
                        </a:rPr>
                        <a:t>모델</a:t>
                      </a:r>
                      <a:r>
                        <a:rPr sz="800" b="1" dirty="0">
                          <a:solidFill>
                            <a:srgbClr val="000000"/>
                          </a:solidFill>
                          <a:latin typeface="맑은 고딕"/>
                          <a:ea typeface="맑은 고딕"/>
                        </a:rPr>
                        <a:t> </a:t>
                      </a:r>
                      <a:r>
                        <a:rPr sz="800" b="1" dirty="0" err="1">
                          <a:solidFill>
                            <a:srgbClr val="000000"/>
                          </a:solidFill>
                          <a:latin typeface="맑은 고딕"/>
                          <a:ea typeface="맑은 고딕"/>
                        </a:rPr>
                        <a:t>tier에</a:t>
                      </a:r>
                      <a:r>
                        <a:rPr sz="800" b="1" dirty="0">
                          <a:solidFill>
                            <a:srgbClr val="000000"/>
                          </a:solidFill>
                          <a:latin typeface="맑은 고딕"/>
                          <a:ea typeface="맑은 고딕"/>
                        </a:rPr>
                        <a:t> </a:t>
                      </a:r>
                      <a:r>
                        <a:rPr sz="800" b="1" dirty="0" err="1">
                          <a:solidFill>
                            <a:srgbClr val="000000"/>
                          </a:solidFill>
                          <a:latin typeface="맑은 고딕"/>
                          <a:ea typeface="맑은 고딕"/>
                        </a:rPr>
                        <a:t>따라</a:t>
                      </a:r>
                      <a:r>
                        <a:rPr sz="800" b="1" dirty="0">
                          <a:solidFill>
                            <a:srgbClr val="000000"/>
                          </a:solidFill>
                          <a:latin typeface="맑은 고딕"/>
                          <a:ea typeface="맑은 고딕"/>
                        </a:rPr>
                        <a:t> </a:t>
                      </a:r>
                      <a:r>
                        <a:rPr sz="800" b="1" dirty="0" err="1">
                          <a:solidFill>
                            <a:srgbClr val="000000"/>
                          </a:solidFill>
                          <a:latin typeface="맑은 고딕"/>
                          <a:ea typeface="맑은 고딕"/>
                        </a:rPr>
                        <a:t>결론이</a:t>
                      </a:r>
                      <a:r>
                        <a:rPr sz="800" b="1" dirty="0">
                          <a:solidFill>
                            <a:srgbClr val="000000"/>
                          </a:solidFill>
                          <a:latin typeface="맑은 고딕"/>
                          <a:ea typeface="맑은 고딕"/>
                        </a:rPr>
                        <a:t> </a:t>
                      </a:r>
                      <a:r>
                        <a:rPr sz="800" b="1" dirty="0" err="1">
                          <a:solidFill>
                            <a:srgbClr val="000000"/>
                          </a:solidFill>
                          <a:latin typeface="맑은 고딕"/>
                          <a:ea typeface="맑은 고딕"/>
                        </a:rPr>
                        <a:t>갈림</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7F9FC"/>
                    </a:solidFill>
                  </a:tcPr>
                </a:tc>
                <a:tc>
                  <a:txBody>
                    <a:bodyPr/>
                    <a:lstStyle/>
                    <a:p>
                      <a:pPr algn="l"/>
                      <a:r>
                        <a:rPr sz="800" b="0">
                          <a:solidFill>
                            <a:srgbClr val="000000"/>
                          </a:solidFill>
                          <a:latin typeface="맑은 고딕"/>
                          <a:ea typeface="맑은 고딕"/>
                        </a:rPr>
                        <a:t>24건 모두 frontier는 토큰이 적고(0.6배 가정) 금액은 mid보다 크다. "토큰이 적다"와 "금액이 적다"가 반대로 나오므로 토큰 수는 비교 지표가 못 된다.</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7F9FC"/>
                    </a:solidFill>
                  </a:tcPr>
                </a:tc>
                <a:tc>
                  <a:txBody>
                    <a:bodyPr/>
                    <a:lstStyle/>
                    <a:p>
                      <a:pPr algn="l"/>
                      <a:r>
                        <a:rPr sz="800" b="0">
                          <a:solidFill>
                            <a:srgbClr val="000000"/>
                          </a:solidFill>
                          <a:latin typeface="맑은 고딕"/>
                          <a:ea typeface="맑은 고딕"/>
                        </a:rPr>
                        <a:t>토큰 수가 아닌 금액으로, tier를 명시(frontier 기준)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7F9FC"/>
                    </a:solidFill>
                  </a:tcPr>
                </a:tc>
                <a:extLst>
                  <a:ext uri="{0D108BD9-81ED-4DB2-BD59-A6C34878D82A}">
                    <a16:rowId xmlns:a16="http://schemas.microsoft.com/office/drawing/2014/main" val="10004"/>
                  </a:ext>
                </a:extLst>
              </a:tr>
              <a:tr h="470000">
                <a:tc>
                  <a:txBody>
                    <a:bodyPr/>
                    <a:lstStyle/>
                    <a:p>
                      <a:pPr algn="l"/>
                      <a:r>
                        <a:rPr sz="800" b="1" dirty="0">
                          <a:solidFill>
                            <a:srgbClr val="000000"/>
                          </a:solidFill>
                          <a:latin typeface="맑은 고딕"/>
                          <a:ea typeface="맑은 고딕"/>
                        </a:rPr>
                        <a:t>5  </a:t>
                      </a:r>
                      <a:r>
                        <a:rPr sz="800" b="1" dirty="0" err="1">
                          <a:solidFill>
                            <a:srgbClr val="000000"/>
                          </a:solidFill>
                          <a:latin typeface="맑은 고딕"/>
                          <a:ea typeface="맑은 고딕"/>
                        </a:rPr>
                        <a:t>사람의</a:t>
                      </a:r>
                      <a:r>
                        <a:rPr sz="800" b="1" dirty="0">
                          <a:solidFill>
                            <a:srgbClr val="000000"/>
                          </a:solidFill>
                          <a:latin typeface="맑은 고딕"/>
                          <a:ea typeface="맑은 고딕"/>
                        </a:rPr>
                        <a:t> </a:t>
                      </a:r>
                      <a:r>
                        <a:rPr sz="800" b="1" dirty="0" err="1">
                          <a:solidFill>
                            <a:srgbClr val="000000"/>
                          </a:solidFill>
                          <a:latin typeface="맑은 고딕"/>
                          <a:ea typeface="맑은 고딕"/>
                        </a:rPr>
                        <a:t>리뷰·검증</a:t>
                      </a:r>
                      <a:r>
                        <a:rPr sz="800" b="1" dirty="0">
                          <a:solidFill>
                            <a:srgbClr val="000000"/>
                          </a:solidFill>
                          <a:latin typeface="맑은 고딕"/>
                          <a:ea typeface="맑은 고딕"/>
                        </a:rPr>
                        <a:t> </a:t>
                      </a:r>
                      <a:r>
                        <a:rPr sz="800" b="1" dirty="0" err="1">
                          <a:solidFill>
                            <a:srgbClr val="000000"/>
                          </a:solidFill>
                          <a:latin typeface="맑은 고딕"/>
                          <a:ea typeface="맑은 고딕"/>
                        </a:rPr>
                        <a:t>비용이</a:t>
                      </a:r>
                      <a:r>
                        <a:rPr sz="800" b="1" dirty="0">
                          <a:solidFill>
                            <a:srgbClr val="000000"/>
                          </a:solidFill>
                          <a:latin typeface="맑은 고딕"/>
                          <a:ea typeface="맑은 고딕"/>
                        </a:rPr>
                        <a:t> </a:t>
                      </a:r>
                      <a:r>
                        <a:rPr sz="800" b="1" dirty="0" err="1">
                          <a:solidFill>
                            <a:srgbClr val="000000"/>
                          </a:solidFill>
                          <a:latin typeface="맑은 고딕"/>
                          <a:ea typeface="맑은 고딕"/>
                        </a:rPr>
                        <a:t>빠짐</a:t>
                      </a:r>
                      <a:endParaRPr sz="8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dirty="0" err="1">
                          <a:solidFill>
                            <a:srgbClr val="000000"/>
                          </a:solidFill>
                          <a:latin typeface="맑은 고딕"/>
                          <a:ea typeface="맑은 고딕"/>
                        </a:rPr>
                        <a:t>에이전트가</a:t>
                      </a:r>
                      <a:r>
                        <a:rPr sz="800" b="0" dirty="0">
                          <a:solidFill>
                            <a:srgbClr val="000000"/>
                          </a:solidFill>
                          <a:latin typeface="맑은 고딕"/>
                          <a:ea typeface="맑은 고딕"/>
                        </a:rPr>
                        <a:t> </a:t>
                      </a:r>
                      <a:r>
                        <a:rPr sz="800" b="0" dirty="0" err="1">
                          <a:solidFill>
                            <a:srgbClr val="000000"/>
                          </a:solidFill>
                          <a:latin typeface="맑은 고딕"/>
                          <a:ea typeface="맑은 고딕"/>
                        </a:rPr>
                        <a:t>만든</a:t>
                      </a:r>
                      <a:r>
                        <a:rPr sz="800" b="0" dirty="0">
                          <a:solidFill>
                            <a:srgbClr val="000000"/>
                          </a:solidFill>
                          <a:latin typeface="맑은 고딕"/>
                          <a:ea typeface="맑은 고딕"/>
                        </a:rPr>
                        <a:t> </a:t>
                      </a:r>
                      <a:r>
                        <a:rPr sz="800" b="0" dirty="0" err="1">
                          <a:solidFill>
                            <a:srgbClr val="000000"/>
                          </a:solidFill>
                          <a:latin typeface="맑은 고딕"/>
                          <a:ea typeface="맑은 고딕"/>
                        </a:rPr>
                        <a:t>diff를</a:t>
                      </a:r>
                      <a:r>
                        <a:rPr sz="800" b="0" dirty="0">
                          <a:solidFill>
                            <a:srgbClr val="000000"/>
                          </a:solidFill>
                          <a:latin typeface="맑은 고딕"/>
                          <a:ea typeface="맑은 고딕"/>
                        </a:rPr>
                        <a:t> </a:t>
                      </a:r>
                      <a:r>
                        <a:rPr sz="800" b="0" dirty="0" err="1">
                          <a:solidFill>
                            <a:srgbClr val="000000"/>
                          </a:solidFill>
                          <a:latin typeface="맑은 고딕"/>
                          <a:ea typeface="맑은 고딕"/>
                        </a:rPr>
                        <a:t>사람이</a:t>
                      </a:r>
                      <a:r>
                        <a:rPr sz="800" b="0" dirty="0">
                          <a:solidFill>
                            <a:srgbClr val="000000"/>
                          </a:solidFill>
                          <a:latin typeface="맑은 고딕"/>
                          <a:ea typeface="맑은 고딕"/>
                        </a:rPr>
                        <a:t> </a:t>
                      </a:r>
                      <a:r>
                        <a:rPr sz="800" b="0" dirty="0" err="1">
                          <a:solidFill>
                            <a:srgbClr val="000000"/>
                          </a:solidFill>
                          <a:latin typeface="맑은 고딕"/>
                          <a:ea typeface="맑은 고딕"/>
                        </a:rPr>
                        <a:t>리뷰하고</a:t>
                      </a:r>
                      <a:r>
                        <a:rPr sz="800" b="0" dirty="0">
                          <a:solidFill>
                            <a:srgbClr val="000000"/>
                          </a:solidFill>
                          <a:latin typeface="맑은 고딕"/>
                          <a:ea typeface="맑은 고딕"/>
                        </a:rPr>
                        <a:t> </a:t>
                      </a:r>
                      <a:r>
                        <a:rPr sz="800" b="0" dirty="0" err="1">
                          <a:solidFill>
                            <a:srgbClr val="000000"/>
                          </a:solidFill>
                          <a:latin typeface="맑은 고딕"/>
                          <a:ea typeface="맑은 고딕"/>
                        </a:rPr>
                        <a:t>통합</a:t>
                      </a:r>
                      <a:r>
                        <a:rPr sz="800" b="0" dirty="0">
                          <a:solidFill>
                            <a:srgbClr val="000000"/>
                          </a:solidFill>
                          <a:latin typeface="맑은 고딕"/>
                          <a:ea typeface="맑은 고딕"/>
                        </a:rPr>
                        <a:t> </a:t>
                      </a:r>
                      <a:r>
                        <a:rPr sz="800" b="0" dirty="0" err="1">
                          <a:solidFill>
                            <a:srgbClr val="000000"/>
                          </a:solidFill>
                          <a:latin typeface="맑은 고딕"/>
                          <a:ea typeface="맑은 고딕"/>
                        </a:rPr>
                        <a:t>테스트·회귀를</a:t>
                      </a:r>
                      <a:r>
                        <a:rPr sz="800" b="0" dirty="0">
                          <a:solidFill>
                            <a:srgbClr val="000000"/>
                          </a:solidFill>
                          <a:latin typeface="맑은 고딕"/>
                          <a:ea typeface="맑은 고딕"/>
                        </a:rPr>
                        <a:t> </a:t>
                      </a:r>
                      <a:r>
                        <a:rPr sz="800" b="0" dirty="0" err="1">
                          <a:solidFill>
                            <a:srgbClr val="000000"/>
                          </a:solidFill>
                          <a:latin typeface="맑은 고딕"/>
                          <a:ea typeface="맑은 고딕"/>
                        </a:rPr>
                        <a:t>확인하는</a:t>
                      </a:r>
                      <a:r>
                        <a:rPr sz="800" b="0" dirty="0">
                          <a:solidFill>
                            <a:srgbClr val="000000"/>
                          </a:solidFill>
                          <a:latin typeface="맑은 고딕"/>
                          <a:ea typeface="맑은 고딕"/>
                        </a:rPr>
                        <a:t> </a:t>
                      </a:r>
                      <a:r>
                        <a:rPr sz="800" b="0" dirty="0" err="1">
                          <a:solidFill>
                            <a:srgbClr val="000000"/>
                          </a:solidFill>
                          <a:latin typeface="맑은 고딕"/>
                          <a:ea typeface="맑은 고딕"/>
                        </a:rPr>
                        <a:t>시간은</a:t>
                      </a:r>
                      <a:r>
                        <a:rPr sz="800" b="0" dirty="0">
                          <a:solidFill>
                            <a:srgbClr val="000000"/>
                          </a:solidFill>
                          <a:latin typeface="맑은 고딕"/>
                          <a:ea typeface="맑은 고딕"/>
                        </a:rPr>
                        <a:t> </a:t>
                      </a:r>
                      <a:r>
                        <a:rPr sz="800" b="0" dirty="0" err="1">
                          <a:solidFill>
                            <a:srgbClr val="000000"/>
                          </a:solidFill>
                          <a:latin typeface="맑은 고딕"/>
                          <a:ea typeface="맑은 고딕"/>
                        </a:rPr>
                        <a:t>토큰에</a:t>
                      </a:r>
                      <a:r>
                        <a:rPr sz="800" b="0" dirty="0">
                          <a:solidFill>
                            <a:srgbClr val="000000"/>
                          </a:solidFill>
                          <a:latin typeface="맑은 고딕"/>
                          <a:ea typeface="맑은 고딕"/>
                        </a:rPr>
                        <a:t> </a:t>
                      </a:r>
                      <a:r>
                        <a:rPr sz="800" b="0" dirty="0" err="1">
                          <a:solidFill>
                            <a:srgbClr val="000000"/>
                          </a:solidFill>
                          <a:latin typeface="맑은 고딕"/>
                          <a:ea typeface="맑은 고딕"/>
                        </a:rPr>
                        <a:t>잡히지</a:t>
                      </a:r>
                      <a:r>
                        <a:rPr sz="800" b="0" dirty="0">
                          <a:solidFill>
                            <a:srgbClr val="000000"/>
                          </a:solidFill>
                          <a:latin typeface="맑은 고딕"/>
                          <a:ea typeface="맑은 고딕"/>
                        </a:rPr>
                        <a:t> </a:t>
                      </a:r>
                      <a:r>
                        <a:rPr sz="800" b="0" dirty="0" err="1">
                          <a:solidFill>
                            <a:srgbClr val="000000"/>
                          </a:solidFill>
                          <a:latin typeface="맑은 고딕"/>
                          <a:ea typeface="맑은 고딕"/>
                        </a:rPr>
                        <a:t>않는다</a:t>
                      </a:r>
                      <a:r>
                        <a:rPr sz="800" b="0" dirty="0">
                          <a:solidFill>
                            <a:srgbClr val="000000"/>
                          </a:solidFill>
                          <a:latin typeface="맑은 고딕"/>
                          <a:ea typeface="맑은 고딕"/>
                        </a:rPr>
                        <a:t>. 이 </a:t>
                      </a:r>
                      <a:r>
                        <a:rPr sz="800" b="0" dirty="0" err="1">
                          <a:solidFill>
                            <a:srgbClr val="000000"/>
                          </a:solidFill>
                          <a:latin typeface="맑은 고딕"/>
                          <a:ea typeface="맑은 고딕"/>
                        </a:rPr>
                        <a:t>시간은</a:t>
                      </a:r>
                      <a:r>
                        <a:rPr sz="800" b="0" dirty="0">
                          <a:solidFill>
                            <a:srgbClr val="000000"/>
                          </a:solidFill>
                          <a:latin typeface="맑은 고딕"/>
                          <a:ea typeface="맑은 고딕"/>
                        </a:rPr>
                        <a:t> </a:t>
                      </a:r>
                      <a:r>
                        <a:rPr sz="800" b="0" dirty="0" err="1">
                          <a:solidFill>
                            <a:srgbClr val="000000"/>
                          </a:solidFill>
                          <a:latin typeface="맑은 고딕"/>
                          <a:ea typeface="맑은 고딕"/>
                        </a:rPr>
                        <a:t>변경이</a:t>
                      </a:r>
                      <a:r>
                        <a:rPr sz="800" b="0" dirty="0">
                          <a:solidFill>
                            <a:srgbClr val="000000"/>
                          </a:solidFill>
                          <a:latin typeface="맑은 고딕"/>
                          <a:ea typeface="맑은 고딕"/>
                        </a:rPr>
                        <a:t> </a:t>
                      </a:r>
                      <a:r>
                        <a:rPr sz="800" b="0" dirty="0" err="1">
                          <a:solidFill>
                            <a:srgbClr val="000000"/>
                          </a:solidFill>
                          <a:latin typeface="맑은 고딕"/>
                          <a:ea typeface="맑은 고딕"/>
                        </a:rPr>
                        <a:t>닿는</a:t>
                      </a:r>
                      <a:r>
                        <a:rPr sz="800" b="0" dirty="0">
                          <a:solidFill>
                            <a:srgbClr val="000000"/>
                          </a:solidFill>
                          <a:latin typeface="맑은 고딕"/>
                          <a:ea typeface="맑은 고딕"/>
                        </a:rPr>
                        <a:t> </a:t>
                      </a:r>
                      <a:r>
                        <a:rPr sz="800" b="0" dirty="0" err="1">
                          <a:solidFill>
                            <a:srgbClr val="000000"/>
                          </a:solidFill>
                          <a:latin typeface="맑은 고딕"/>
                          <a:ea typeface="맑은 고딕"/>
                        </a:rPr>
                        <a:t>module·interface가</a:t>
                      </a:r>
                      <a:r>
                        <a:rPr sz="800" b="0" dirty="0">
                          <a:solidFill>
                            <a:srgbClr val="000000"/>
                          </a:solidFill>
                          <a:latin typeface="맑은 고딕"/>
                          <a:ea typeface="맑은 고딕"/>
                        </a:rPr>
                        <a:t> </a:t>
                      </a:r>
                      <a:r>
                        <a:rPr sz="800" b="0" dirty="0" err="1">
                          <a:solidFill>
                            <a:srgbClr val="000000"/>
                          </a:solidFill>
                          <a:latin typeface="맑은 고딕"/>
                          <a:ea typeface="맑은 고딕"/>
                        </a:rPr>
                        <a:t>많을수록</a:t>
                      </a:r>
                      <a:r>
                        <a:rPr sz="800" b="0" dirty="0">
                          <a:solidFill>
                            <a:srgbClr val="000000"/>
                          </a:solidFill>
                          <a:latin typeface="맑은 고딕"/>
                          <a:ea typeface="맑은 고딕"/>
                        </a:rPr>
                        <a:t> </a:t>
                      </a:r>
                      <a:r>
                        <a:rPr sz="800" b="0" dirty="0" err="1">
                          <a:solidFill>
                            <a:srgbClr val="000000"/>
                          </a:solidFill>
                          <a:latin typeface="맑은 고딕"/>
                          <a:ea typeface="맑은 고딕"/>
                        </a:rPr>
                        <a:t>늘지만</a:t>
                      </a:r>
                      <a:r>
                        <a:rPr sz="800" b="0" dirty="0">
                          <a:solidFill>
                            <a:srgbClr val="000000"/>
                          </a:solidFill>
                          <a:latin typeface="맑은 고딕"/>
                          <a:ea typeface="맑은 고딕"/>
                        </a:rPr>
                        <a:t> </a:t>
                      </a:r>
                      <a:r>
                        <a:rPr sz="800" b="0" dirty="0" err="1">
                          <a:solidFill>
                            <a:srgbClr val="000000"/>
                          </a:solidFill>
                          <a:latin typeface="맑은 고딕"/>
                          <a:ea typeface="맑은 고딕"/>
                        </a:rPr>
                        <a:t>공식은</a:t>
                      </a:r>
                      <a:r>
                        <a:rPr sz="800" b="0" dirty="0">
                          <a:solidFill>
                            <a:srgbClr val="000000"/>
                          </a:solidFill>
                          <a:latin typeface="맑은 고딕"/>
                          <a:ea typeface="맑은 고딕"/>
                        </a:rPr>
                        <a:t> </a:t>
                      </a:r>
                      <a:r>
                        <a:rPr sz="800" b="0" dirty="0" err="1">
                          <a:solidFill>
                            <a:srgbClr val="000000"/>
                          </a:solidFill>
                          <a:latin typeface="맑은 고딕"/>
                          <a:ea typeface="맑은 고딕"/>
                        </a:rPr>
                        <a:t>작성</a:t>
                      </a:r>
                      <a:r>
                        <a:rPr sz="800" b="0" dirty="0">
                          <a:solidFill>
                            <a:srgbClr val="000000"/>
                          </a:solidFill>
                          <a:latin typeface="맑은 고딕"/>
                          <a:ea typeface="맑은 고딕"/>
                        </a:rPr>
                        <a:t> </a:t>
                      </a:r>
                      <a:r>
                        <a:rPr sz="800" b="0" dirty="0" err="1">
                          <a:solidFill>
                            <a:srgbClr val="000000"/>
                          </a:solidFill>
                          <a:latin typeface="맑은 고딕"/>
                          <a:ea typeface="맑은 고딕"/>
                        </a:rPr>
                        <a:t>LOC와</a:t>
                      </a:r>
                      <a:r>
                        <a:rPr sz="800" b="0" dirty="0">
                          <a:solidFill>
                            <a:srgbClr val="000000"/>
                          </a:solidFill>
                          <a:latin typeface="맑은 고딕"/>
                          <a:ea typeface="맑은 고딕"/>
                        </a:rPr>
                        <a:t> </a:t>
                      </a:r>
                      <a:r>
                        <a:rPr sz="800" b="0" dirty="0" err="1">
                          <a:solidFill>
                            <a:srgbClr val="000000"/>
                          </a:solidFill>
                          <a:latin typeface="맑은 고딕"/>
                          <a:ea typeface="맑은 고딕"/>
                        </a:rPr>
                        <a:t>읽는</a:t>
                      </a:r>
                      <a:r>
                        <a:rPr sz="800" b="0" dirty="0">
                          <a:solidFill>
                            <a:srgbClr val="000000"/>
                          </a:solidFill>
                          <a:latin typeface="맑은 고딕"/>
                          <a:ea typeface="맑은 고딕"/>
                        </a:rPr>
                        <a:t> </a:t>
                      </a:r>
                      <a:r>
                        <a:rPr sz="800" b="0" dirty="0" err="1">
                          <a:solidFill>
                            <a:srgbClr val="000000"/>
                          </a:solidFill>
                          <a:latin typeface="맑은 고딕"/>
                          <a:ea typeface="맑은 고딕"/>
                        </a:rPr>
                        <a:t>크기만</a:t>
                      </a:r>
                      <a:r>
                        <a:rPr sz="800" b="0" dirty="0">
                          <a:solidFill>
                            <a:srgbClr val="000000"/>
                          </a:solidFill>
                          <a:latin typeface="맑은 고딕"/>
                          <a:ea typeface="맑은 고딕"/>
                        </a:rPr>
                        <a:t> </a:t>
                      </a:r>
                      <a:r>
                        <a:rPr sz="800" b="0" dirty="0" err="1">
                          <a:solidFill>
                            <a:srgbClr val="000000"/>
                          </a:solidFill>
                          <a:latin typeface="맑은 고딕"/>
                          <a:ea typeface="맑은 고딕"/>
                        </a:rPr>
                        <a:t>본다</a:t>
                      </a:r>
                      <a:r>
                        <a:rPr sz="800" b="0" dirty="0">
                          <a:solidFill>
                            <a:srgbClr val="000000"/>
                          </a:solidFill>
                          <a:latin typeface="맑은 고딕"/>
                          <a:ea typeface="맑은 고딕"/>
                        </a:rPr>
                        <a:t>. interface </a:t>
                      </a:r>
                      <a:r>
                        <a:rPr sz="800" b="0" dirty="0" err="1">
                          <a:solidFill>
                            <a:srgbClr val="000000"/>
                          </a:solidFill>
                          <a:latin typeface="맑은 고딕"/>
                          <a:ea typeface="맑은 고딕"/>
                        </a:rPr>
                        <a:t>의미를</a:t>
                      </a:r>
                      <a:r>
                        <a:rPr sz="800" b="0" dirty="0">
                          <a:solidFill>
                            <a:srgbClr val="000000"/>
                          </a:solidFill>
                          <a:latin typeface="맑은 고딕"/>
                          <a:ea typeface="맑은 고딕"/>
                        </a:rPr>
                        <a:t> </a:t>
                      </a:r>
                      <a:r>
                        <a:rPr sz="800" b="0" dirty="0" err="1">
                          <a:solidFill>
                            <a:srgbClr val="000000"/>
                          </a:solidFill>
                          <a:latin typeface="맑은 고딕"/>
                          <a:ea typeface="맑은 고딕"/>
                        </a:rPr>
                        <a:t>바꾸는</a:t>
                      </a:r>
                      <a:r>
                        <a:rPr sz="800" b="0" dirty="0">
                          <a:solidFill>
                            <a:srgbClr val="000000"/>
                          </a:solidFill>
                          <a:latin typeface="맑은 고딕"/>
                          <a:ea typeface="맑은 고딕"/>
                        </a:rPr>
                        <a:t> </a:t>
                      </a:r>
                      <a:r>
                        <a:rPr sz="800" b="0" dirty="0" err="1">
                          <a:solidFill>
                            <a:srgbClr val="000000"/>
                          </a:solidFill>
                          <a:latin typeface="맑은 고딕"/>
                          <a:ea typeface="맑은 고딕"/>
                        </a:rPr>
                        <a:t>소량</a:t>
                      </a:r>
                      <a:r>
                        <a:rPr sz="800" b="0" dirty="0">
                          <a:solidFill>
                            <a:srgbClr val="000000"/>
                          </a:solidFill>
                          <a:latin typeface="맑은 고딕"/>
                          <a:ea typeface="맑은 고딕"/>
                        </a:rPr>
                        <a:t> </a:t>
                      </a:r>
                      <a:r>
                        <a:rPr sz="800" b="0" dirty="0" err="1">
                          <a:solidFill>
                            <a:srgbClr val="000000"/>
                          </a:solidFill>
                          <a:latin typeface="맑은 고딕"/>
                          <a:ea typeface="맑은 고딕"/>
                        </a:rPr>
                        <a:t>변경은</a:t>
                      </a:r>
                      <a:r>
                        <a:rPr sz="800" b="0" dirty="0">
                          <a:solidFill>
                            <a:srgbClr val="000000"/>
                          </a:solidFill>
                          <a:latin typeface="맑은 고딕"/>
                          <a:ea typeface="맑은 고딕"/>
                        </a:rPr>
                        <a:t> </a:t>
                      </a:r>
                      <a:r>
                        <a:rPr sz="800" b="0" dirty="0" err="1">
                          <a:solidFill>
                            <a:srgbClr val="000000"/>
                          </a:solidFill>
                          <a:latin typeface="맑은 고딕"/>
                          <a:ea typeface="맑은 고딕"/>
                        </a:rPr>
                        <a:t>낮은</a:t>
                      </a:r>
                      <a:r>
                        <a:rPr sz="800" b="0" dirty="0">
                          <a:solidFill>
                            <a:srgbClr val="000000"/>
                          </a:solidFill>
                          <a:latin typeface="맑은 고딕"/>
                          <a:ea typeface="맑은 고딕"/>
                        </a:rPr>
                        <a:t> </a:t>
                      </a:r>
                      <a:r>
                        <a:rPr sz="800" b="0" dirty="0" err="1">
                          <a:solidFill>
                            <a:srgbClr val="000000"/>
                          </a:solidFill>
                          <a:latin typeface="맑은 고딕"/>
                          <a:ea typeface="맑은 고딕"/>
                        </a:rPr>
                        <a:t>비용으로</a:t>
                      </a:r>
                      <a:r>
                        <a:rPr sz="800" b="0" dirty="0">
                          <a:solidFill>
                            <a:srgbClr val="000000"/>
                          </a:solidFill>
                          <a:latin typeface="맑은 고딕"/>
                          <a:ea typeface="맑은 고딕"/>
                        </a:rPr>
                        <a:t> </a:t>
                      </a:r>
                      <a:r>
                        <a:rPr sz="800" b="0" dirty="0" err="1">
                          <a:solidFill>
                            <a:srgbClr val="000000"/>
                          </a:solidFill>
                          <a:latin typeface="맑은 고딕"/>
                          <a:ea typeface="맑은 고딕"/>
                        </a:rPr>
                        <a:t>나온다</a:t>
                      </a:r>
                      <a:r>
                        <a:rPr sz="8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800" b="0" dirty="0" err="1">
                          <a:solidFill>
                            <a:srgbClr val="000000"/>
                          </a:solidFill>
                          <a:latin typeface="맑은 고딕"/>
                          <a:ea typeface="맑은 고딕"/>
                        </a:rPr>
                        <a:t>공수</a:t>
                      </a:r>
                      <a:r>
                        <a:rPr sz="800" b="0" dirty="0">
                          <a:solidFill>
                            <a:srgbClr val="000000"/>
                          </a:solidFill>
                          <a:latin typeface="맑은 고딕"/>
                          <a:ea typeface="맑은 고딕"/>
                        </a:rPr>
                        <a:t>(MM)에 </a:t>
                      </a:r>
                      <a:r>
                        <a:rPr sz="800" b="0" dirty="0" err="1">
                          <a:solidFill>
                            <a:srgbClr val="000000"/>
                          </a:solidFill>
                          <a:latin typeface="맑은 고딕"/>
                          <a:ea typeface="맑은 고딕"/>
                        </a:rPr>
                        <a:t>test·review</a:t>
                      </a:r>
                      <a:r>
                        <a:rPr sz="800" b="0" dirty="0">
                          <a:solidFill>
                            <a:srgbClr val="000000"/>
                          </a:solidFill>
                          <a:latin typeface="맑은 고딕"/>
                          <a:ea typeface="맑은 고딕"/>
                        </a:rPr>
                        <a:t> overhead ×2.0 </a:t>
                      </a:r>
                      <a:r>
                        <a:rPr sz="800" b="0" dirty="0" err="1">
                          <a:solidFill>
                            <a:srgbClr val="000000"/>
                          </a:solidFill>
                          <a:latin typeface="맑은 고딕"/>
                          <a:ea typeface="맑은 고딕"/>
                        </a:rPr>
                        <a:t>반영</a:t>
                      </a:r>
                      <a:r>
                        <a:rPr sz="800" b="0" dirty="0">
                          <a:solidFill>
                            <a:srgbClr val="000000"/>
                          </a:solidFill>
                          <a:latin typeface="맑은 고딕"/>
                          <a:ea typeface="맑은 고딕"/>
                        </a:rPr>
                        <a:t>. major interface </a:t>
                      </a:r>
                      <a:r>
                        <a:rPr sz="800" b="0" dirty="0" err="1">
                          <a:solidFill>
                            <a:srgbClr val="000000"/>
                          </a:solidFill>
                          <a:latin typeface="맑은 고딕"/>
                          <a:ea typeface="맑은 고딕"/>
                        </a:rPr>
                        <a:t>변경은</a:t>
                      </a:r>
                      <a:r>
                        <a:rPr sz="800" b="0" dirty="0">
                          <a:solidFill>
                            <a:srgbClr val="000000"/>
                          </a:solidFill>
                          <a:latin typeface="맑은 고딕"/>
                          <a:ea typeface="맑은 고딕"/>
                        </a:rPr>
                        <a:t> module </a:t>
                      </a:r>
                      <a:r>
                        <a:rPr sz="800" b="0" dirty="0" err="1">
                          <a:solidFill>
                            <a:srgbClr val="000000"/>
                          </a:solidFill>
                          <a:latin typeface="맑은 고딕"/>
                          <a:ea typeface="맑은 고딕"/>
                        </a:rPr>
                        <a:t>수와</a:t>
                      </a:r>
                      <a:r>
                        <a:rPr sz="800" b="0" dirty="0">
                          <a:solidFill>
                            <a:srgbClr val="000000"/>
                          </a:solidFill>
                          <a:latin typeface="맑은 고딕"/>
                          <a:ea typeface="맑은 고딕"/>
                        </a:rPr>
                        <a:t> </a:t>
                      </a:r>
                      <a:r>
                        <a:rPr sz="800" b="0" dirty="0" err="1">
                          <a:solidFill>
                            <a:srgbClr val="000000"/>
                          </a:solidFill>
                          <a:latin typeface="맑은 고딕"/>
                          <a:ea typeface="맑은 고딕"/>
                        </a:rPr>
                        <a:t>무관하게</a:t>
                      </a:r>
                      <a:r>
                        <a:rPr sz="800" b="0" dirty="0">
                          <a:solidFill>
                            <a:srgbClr val="000000"/>
                          </a:solidFill>
                          <a:latin typeface="맑은 고딕"/>
                          <a:ea typeface="맑은 고딕"/>
                        </a:rPr>
                        <a:t> </a:t>
                      </a:r>
                      <a:r>
                        <a:rPr sz="800" b="0" dirty="0" err="1">
                          <a:solidFill>
                            <a:srgbClr val="000000"/>
                          </a:solidFill>
                          <a:latin typeface="맑은 고딕"/>
                          <a:ea typeface="맑은 고딕"/>
                        </a:rPr>
                        <a:t>미충족</a:t>
                      </a:r>
                      <a:endParaRPr sz="8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182" name="Rounded Rectangle 181"/>
          <p:cNvSpPr/>
          <p:nvPr/>
        </p:nvSpPr>
        <p:spPr>
          <a:xfrm>
            <a:off x="365760" y="5690000"/>
            <a:ext cx="11457432" cy="640000"/>
          </a:xfrm>
          <a:prstGeom prst="roundRect">
            <a:avLst>
              <a:gd name="adj" fmla="val 12000"/>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10000" rIns="110000" rtlCol="0" anchor="ctr"/>
          <a:lstStyle/>
          <a:p>
            <a:pPr algn="l"/>
            <a:r>
              <a:rPr sz="950" b="1">
                <a:solidFill>
                  <a:srgbClr val="404040"/>
                </a:solidFill>
                <a:latin typeface="맑은 고딕"/>
                <a:ea typeface="맑은 고딕"/>
              </a:rPr>
              <a:t>결론: 토큰 비용은 "에이전트가 구현에 쓰는 직접 비용"을 보여 주는 참고값이다.</a:t>
            </a:r>
          </a:p>
          <a:p>
            <a:pPr algn="l"/>
            <a:r>
              <a:rPr sz="950" b="0">
                <a:solidFill>
                  <a:srgbClr val="404040"/>
                </a:solidFill>
                <a:latin typeface="맑은 고딕"/>
                <a:ea typeface="맑은 고딕"/>
              </a:rPr>
              <a:t>변경 용이성은 변경 module 수(주 지표)와 개발 공수(MM)로 판정하고, 토큰 비용은 병기와 민감도 확인용 보조 지표로만 둔다. 별점에 합산하지 않는다.</a:t>
            </a:r>
          </a:p>
        </p:txBody>
      </p:sp>
    </p:spTree>
    <p:extLst>
      <p:ext uri="{BB962C8B-B14F-4D97-AF65-F5344CB8AC3E}">
        <p14:creationId xmlns:p14="http://schemas.microsoft.com/office/powerpoint/2010/main" val="3316119612"/>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변경</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174" name="subtitle">
            <a:extLst>
              <a:ext uri="{FF2B5EF4-FFF2-40B4-BE49-F238E27FC236}">
                <a16:creationId xmlns:a16="http://schemas.microsoft.com/office/drawing/2014/main" id="{96FE6872-F9E7-4752-A040-5DCE3EE8BACF}"/>
              </a:ext>
            </a:extLst>
          </p:cNvPr>
          <p:cNvSpPr txBox="1"/>
          <p:nvPr/>
        </p:nvSpPr>
        <p:spPr>
          <a:xfrm>
            <a:off x="365760" y="676656"/>
            <a:ext cx="9613127" cy="243143"/>
          </a:xfrm>
          <a:prstGeom prst="rect">
            <a:avLst/>
          </a:prstGeom>
          <a:noFill/>
        </p:spPr>
        <p:txBody>
          <a:bodyPr wrap="square" lIns="73152" tIns="36576" rIns="73152" bIns="36576" anchor="t">
            <a:spAutoFit/>
          </a:bodyPr>
          <a:lstStyle/>
          <a:p>
            <a:pPr algn="l">
              <a:spcAft>
                <a:spcPts val="250"/>
              </a:spcAft>
            </a:pP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수</a:t>
            </a:r>
            <a:r>
              <a:rPr lang="en-US" sz="1100" b="0" dirty="0">
                <a:solidFill>
                  <a:srgbClr val="404040"/>
                </a:solidFill>
                <a:latin typeface="맑은 고딕"/>
                <a:ea typeface="맑은 고딕"/>
              </a:rPr>
              <a:t> (</a:t>
            </a:r>
            <a:r>
              <a:rPr lang="ko-KR" altLang="en-US" sz="1100" b="0" dirty="0">
                <a:solidFill>
                  <a:srgbClr val="404040"/>
                </a:solidFill>
                <a:latin typeface="맑은 고딕"/>
                <a:ea typeface="맑은 고딕"/>
              </a:rPr>
              <a:t>개발 공수 </a:t>
            </a:r>
            <a:r>
              <a:rPr lang="en-US" altLang="ko-KR" sz="1100" b="0" dirty="0">
                <a:solidFill>
                  <a:srgbClr val="404040"/>
                </a:solidFill>
                <a:latin typeface="맑은 고딕"/>
                <a:ea typeface="맑은 고딕"/>
              </a:rPr>
              <a:t>M/M </a:t>
            </a:r>
            <a:r>
              <a:rPr lang="ko-KR" altLang="en-US" sz="1100" b="0" dirty="0">
                <a:solidFill>
                  <a:srgbClr val="404040"/>
                </a:solidFill>
                <a:latin typeface="맑은 고딕"/>
                <a:ea typeface="맑은 고딕"/>
              </a:rPr>
              <a:t>참고</a:t>
            </a:r>
            <a:r>
              <a:rPr lang="en-US" altLang="ko-KR" sz="1100" b="0" dirty="0">
                <a:solidFill>
                  <a:srgbClr val="404040"/>
                </a:solidFill>
                <a:latin typeface="맑은 고딕"/>
                <a:ea typeface="맑은 고딕"/>
              </a:rPr>
              <a:t>)</a:t>
            </a:r>
            <a:endParaRPr sz="1100" b="0" dirty="0">
              <a:solidFill>
                <a:srgbClr val="404040"/>
              </a:solidFill>
              <a:latin typeface="맑은 고딕"/>
              <a:ea typeface="맑은 고딕"/>
            </a:endParaRPr>
          </a:p>
        </p:txBody>
      </p:sp>
      <p:sp>
        <p:nvSpPr>
          <p:cNvPr id="175" name="rule">
            <a:extLst>
              <a:ext uri="{FF2B5EF4-FFF2-40B4-BE49-F238E27FC236}">
                <a16:creationId xmlns:a16="http://schemas.microsoft.com/office/drawing/2014/main" id="{8B004F8A-F37F-442E-8003-EC3499BB95E3}"/>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src">
            <a:extLst>
              <a:ext uri="{FF2B5EF4-FFF2-40B4-BE49-F238E27FC236}">
                <a16:creationId xmlns:a16="http://schemas.microsoft.com/office/drawing/2014/main" id="{3981A347-39E6-4B8E-9D4A-0604100B9CAA}"/>
              </a:ext>
            </a:extLst>
          </p:cNvPr>
          <p:cNvSpPr txBox="1"/>
          <p:nvPr/>
        </p:nvSpPr>
        <p:spPr>
          <a:xfrm>
            <a:off x="365760" y="6478233"/>
            <a:ext cx="11430000" cy="189283"/>
          </a:xfrm>
          <a:prstGeom prst="rect">
            <a:avLst/>
          </a:prstGeom>
          <a:noFill/>
        </p:spPr>
        <p:txBody>
          <a:bodyPr wrap="square" lIns="73152" tIns="36576" rIns="73152" bIns="36576" anchor="t">
            <a:spAutoFit/>
          </a:bodyPr>
          <a:lstStyle/>
          <a:p>
            <a:pPr algn="l">
              <a:spcAft>
                <a:spcPts val="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lang="en-US" sz="750" b="0" dirty="0">
                <a:solidFill>
                  <a:srgbClr val="404040"/>
                </a:solidFill>
                <a:latin typeface="맑은 고딕"/>
                <a:ea typeface="맑은 고딕"/>
              </a:rPr>
              <a:t>[1] </a:t>
            </a:r>
            <a:r>
              <a:rPr sz="750" b="0" dirty="0">
                <a:solidFill>
                  <a:srgbClr val="404040"/>
                </a:solidFill>
                <a:latin typeface="맑은 고딕"/>
                <a:ea typeface="맑은 고딕"/>
              </a:rPr>
              <a:t>SWE-bench (</a:t>
            </a:r>
            <a:r>
              <a:rPr sz="750" b="0" dirty="0" err="1">
                <a:solidFill>
                  <a:srgbClr val="404040"/>
                </a:solidFill>
                <a:latin typeface="맑은 고딕"/>
                <a:ea typeface="맑은 고딕"/>
              </a:rPr>
              <a:t>arXiv</a:t>
            </a:r>
            <a:r>
              <a:rPr sz="750" b="0" dirty="0">
                <a:solidFill>
                  <a:srgbClr val="404040"/>
                </a:solidFill>
                <a:latin typeface="맑은 고딕"/>
                <a:ea typeface="맑은 고딕"/>
              </a:rPr>
              <a:t> 2310.06770)</a:t>
            </a:r>
            <a:r>
              <a:rPr lang="en-US" sz="750" b="0" dirty="0">
                <a:solidFill>
                  <a:srgbClr val="404040"/>
                </a:solidFill>
                <a:latin typeface="맑은 고딕"/>
                <a:ea typeface="맑은 고딕"/>
              </a:rPr>
              <a:t>, </a:t>
            </a:r>
            <a:r>
              <a:rPr lang="en-US" sz="750" dirty="0">
                <a:solidFill>
                  <a:srgbClr val="404040"/>
                </a:solidFill>
                <a:latin typeface="맑은 고딕"/>
                <a:ea typeface="맑은 고딕"/>
              </a:rPr>
              <a:t>[2] </a:t>
            </a:r>
            <a:r>
              <a:rPr sz="750" b="0" dirty="0" err="1">
                <a:solidFill>
                  <a:srgbClr val="404040"/>
                </a:solidFill>
                <a:latin typeface="맑은 고딕"/>
                <a:ea typeface="맑은 고딕"/>
              </a:rPr>
              <a:t>vLLM</a:t>
            </a:r>
            <a:r>
              <a:rPr sz="750" b="0" dirty="0">
                <a:solidFill>
                  <a:srgbClr val="404040"/>
                </a:solidFill>
                <a:latin typeface="맑은 고딕"/>
                <a:ea typeface="맑은 고딕"/>
              </a:rPr>
              <a:t> </a:t>
            </a:r>
            <a:r>
              <a:rPr sz="750" b="0" dirty="0" err="1">
                <a:solidFill>
                  <a:srgbClr val="404040"/>
                </a:solidFill>
                <a:latin typeface="맑은 고딕"/>
                <a:ea typeface="맑은 고딕"/>
              </a:rPr>
              <a:t>저장소</a:t>
            </a:r>
            <a:r>
              <a:rPr sz="750" b="0" dirty="0">
                <a:solidFill>
                  <a:srgbClr val="404040"/>
                </a:solidFill>
                <a:latin typeface="맑은 고딕"/>
                <a:ea typeface="맑은 고딕"/>
              </a:rPr>
              <a:t> </a:t>
            </a:r>
            <a:r>
              <a:rPr sz="750" b="0" dirty="0" err="1">
                <a:solidFill>
                  <a:srgbClr val="404040"/>
                </a:solidFill>
                <a:latin typeface="맑은 고딕"/>
                <a:ea typeface="맑은 고딕"/>
              </a:rPr>
              <a:t>kv_connector</a:t>
            </a:r>
            <a:r>
              <a:rPr sz="750" b="0" dirty="0">
                <a:solidFill>
                  <a:srgbClr val="404040"/>
                </a:solidFill>
                <a:latin typeface="맑은 고딕"/>
                <a:ea typeface="맑은 고딕"/>
              </a:rPr>
              <a:t>/v1 </a:t>
            </a:r>
            <a:r>
              <a:rPr sz="750" b="0" dirty="0" err="1">
                <a:solidFill>
                  <a:srgbClr val="404040"/>
                </a:solidFill>
                <a:latin typeface="맑은 고딕"/>
                <a:ea typeface="맑은 고딕"/>
              </a:rPr>
              <a:t>직접</a:t>
            </a:r>
            <a:r>
              <a:rPr sz="750" b="0" dirty="0">
                <a:solidFill>
                  <a:srgbClr val="404040"/>
                </a:solidFill>
                <a:latin typeface="맑은 고딕"/>
                <a:ea typeface="맑은 고딕"/>
              </a:rPr>
              <a:t> </a:t>
            </a:r>
            <a:r>
              <a:rPr sz="750" b="0" dirty="0" err="1">
                <a:solidFill>
                  <a:srgbClr val="404040"/>
                </a:solidFill>
                <a:latin typeface="맑은 고딕"/>
                <a:ea typeface="맑은 고딕"/>
              </a:rPr>
              <a:t>계수</a:t>
            </a:r>
            <a:r>
              <a:rPr sz="750" b="0" dirty="0">
                <a:solidFill>
                  <a:srgbClr val="404040"/>
                </a:solidFill>
                <a:latin typeface="맑은 고딕"/>
                <a:ea typeface="맑은 고딕"/>
              </a:rPr>
              <a:t>(</a:t>
            </a:r>
            <a:r>
              <a:rPr sz="750" b="0" dirty="0" err="1">
                <a:solidFill>
                  <a:srgbClr val="404040"/>
                </a:solidFill>
                <a:latin typeface="맑은 고딕"/>
                <a:ea typeface="맑은 고딕"/>
              </a:rPr>
              <a:t>최상위</a:t>
            </a:r>
            <a:r>
              <a:rPr sz="750" b="0" dirty="0">
                <a:solidFill>
                  <a:srgbClr val="404040"/>
                </a:solidFill>
                <a:latin typeface="맑은 고딕"/>
                <a:ea typeface="맑은 고딕"/>
              </a:rPr>
              <a:t> </a:t>
            </a:r>
            <a:r>
              <a:rPr sz="750" b="0" dirty="0" err="1">
                <a:solidFill>
                  <a:srgbClr val="404040"/>
                </a:solidFill>
                <a:latin typeface="맑은 고딕"/>
                <a:ea typeface="맑은 고딕"/>
              </a:rPr>
              <a:t>파일</a:t>
            </a:r>
            <a:r>
              <a:rPr sz="750" b="0" dirty="0">
                <a:solidFill>
                  <a:srgbClr val="404040"/>
                </a:solidFill>
                <a:latin typeface="맑은 고딕"/>
                <a:ea typeface="맑은 고딕"/>
              </a:rPr>
              <a:t> 192~1,190 LOC, </a:t>
            </a:r>
            <a:r>
              <a:rPr sz="750" b="0" dirty="0" err="1">
                <a:solidFill>
                  <a:srgbClr val="404040"/>
                </a:solidFill>
                <a:latin typeface="맑은 고딕"/>
                <a:ea typeface="맑은 고딕"/>
              </a:rPr>
              <a:t>중앙값</a:t>
            </a:r>
            <a:r>
              <a:rPr sz="750" b="0" dirty="0">
                <a:solidFill>
                  <a:srgbClr val="404040"/>
                </a:solidFill>
                <a:latin typeface="맑은 고딕"/>
                <a:ea typeface="맑은 고딕"/>
              </a:rPr>
              <a:t> 356)</a:t>
            </a:r>
            <a:r>
              <a:rPr lang="en-US" sz="750" b="0" dirty="0">
                <a:solidFill>
                  <a:srgbClr val="404040"/>
                </a:solidFill>
                <a:latin typeface="맑은 고딕"/>
                <a:ea typeface="맑은 고딕"/>
              </a:rPr>
              <a:t>, </a:t>
            </a:r>
            <a:r>
              <a:rPr lang="en-US" sz="750" dirty="0">
                <a:solidFill>
                  <a:srgbClr val="404040"/>
                </a:solidFill>
                <a:latin typeface="맑은 고딕"/>
                <a:ea typeface="맑은 고딕"/>
              </a:rPr>
              <a:t>[3] </a:t>
            </a:r>
            <a:r>
              <a:rPr lang="en-US" sz="750" b="0" dirty="0">
                <a:solidFill>
                  <a:srgbClr val="404040"/>
                </a:solidFill>
                <a:latin typeface="맑은 고딕"/>
                <a:ea typeface="맑은 고딕"/>
              </a:rPr>
              <a:t>Brooks, The Mythical Man-Month </a:t>
            </a:r>
            <a:r>
              <a:rPr lang="ko-KR" altLang="en-US" sz="750" b="0" dirty="0">
                <a:solidFill>
                  <a:srgbClr val="404040"/>
                </a:solidFill>
                <a:latin typeface="맑은 고딕"/>
                <a:ea typeface="맑은 고딕"/>
              </a:rPr>
              <a:t>계열의 </a:t>
            </a:r>
            <a:r>
              <a:rPr lang="en-US" altLang="ko-KR" sz="750" b="0" dirty="0">
                <a:solidFill>
                  <a:srgbClr val="404040"/>
                </a:solidFill>
                <a:latin typeface="맑은 고딕"/>
                <a:ea typeface="맑은 고딕"/>
              </a:rPr>
              <a:t>"</a:t>
            </a:r>
            <a:r>
              <a:rPr lang="ko-KR" altLang="en-US" sz="750" b="0" dirty="0">
                <a:solidFill>
                  <a:srgbClr val="404040"/>
                </a:solidFill>
                <a:latin typeface="맑은 고딕"/>
                <a:ea typeface="맑은 고딕"/>
              </a:rPr>
              <a:t>하루 약 </a:t>
            </a:r>
            <a:r>
              <a:rPr lang="en-US" altLang="ko-KR" sz="750" b="0" dirty="0">
                <a:solidFill>
                  <a:srgbClr val="404040"/>
                </a:solidFill>
                <a:latin typeface="맑은 고딕"/>
                <a:ea typeface="맑은 고딕"/>
              </a:rPr>
              <a:t>10 </a:t>
            </a:r>
            <a:r>
              <a:rPr lang="en-US" sz="750" b="0" dirty="0">
                <a:solidFill>
                  <a:srgbClr val="404040"/>
                </a:solidFill>
                <a:latin typeface="맑은 고딕"/>
                <a:ea typeface="맑은 고딕"/>
              </a:rPr>
              <a:t>LOC“, </a:t>
            </a:r>
            <a:r>
              <a:rPr lang="sv-SE" sz="750" b="0" dirty="0">
                <a:solidFill>
                  <a:srgbClr val="404040"/>
                </a:solidFill>
                <a:latin typeface="맑은 고딕"/>
                <a:ea typeface="맑은 고딕"/>
              </a:rPr>
              <a:t>Poul-Henning Kamp (Varnish), “Going fast slowly”</a:t>
            </a:r>
            <a:endParaRPr sz="750" b="0" dirty="0">
              <a:solidFill>
                <a:srgbClr val="404040"/>
              </a:solidFill>
              <a:latin typeface="맑은 고딕"/>
              <a:ea typeface="맑은 고딕"/>
            </a:endParaRPr>
          </a:p>
        </p:txBody>
      </p:sp>
      <p:sp>
        <p:nvSpPr>
          <p:cNvPr id="177" name="metric">
            <a:extLst>
              <a:ext uri="{FF2B5EF4-FFF2-40B4-BE49-F238E27FC236}">
                <a16:creationId xmlns:a16="http://schemas.microsoft.com/office/drawing/2014/main" id="{9FF12BD0-B85D-4FB1-A847-42958CB3CAFD}"/>
              </a:ext>
            </a:extLst>
          </p:cNvPr>
          <p:cNvSpPr txBox="1"/>
          <p:nvPr/>
        </p:nvSpPr>
        <p:spPr>
          <a:xfrm>
            <a:off x="365760" y="1069848"/>
            <a:ext cx="11430000" cy="495713"/>
          </a:xfrm>
          <a:prstGeom prst="rect">
            <a:avLst/>
          </a:prstGeom>
          <a:noFill/>
        </p:spPr>
        <p:txBody>
          <a:bodyPr wrap="square" lIns="73152" tIns="36576" rIns="73152" bIns="36576" anchor="t">
            <a:spAutoFit/>
          </a:bodyPr>
          <a:lstStyle/>
          <a:p>
            <a:pPr algn="l">
              <a:lnSpc>
                <a:spcPct val="150000"/>
              </a:lnSpc>
              <a:spcAft>
                <a:spcPts val="0"/>
              </a:spcAft>
            </a:pPr>
            <a:r>
              <a:rPr sz="1000" b="1" dirty="0">
                <a:solidFill>
                  <a:srgbClr val="2F5597"/>
                </a:solidFill>
                <a:latin typeface="맑은 고딕"/>
                <a:ea typeface="맑은 고딕"/>
              </a:rPr>
              <a:t>[</a:t>
            </a:r>
            <a:r>
              <a:rPr sz="1000" b="1" dirty="0" err="1">
                <a:solidFill>
                  <a:srgbClr val="2F5597"/>
                </a:solidFill>
                <a:latin typeface="맑은 고딕"/>
                <a:ea typeface="맑은 고딕"/>
              </a:rPr>
              <a:t>변경</a:t>
            </a:r>
            <a:r>
              <a:rPr sz="1000" b="1" dirty="0">
                <a:solidFill>
                  <a:srgbClr val="2F5597"/>
                </a:solidFill>
                <a:latin typeface="맑은 고딕"/>
                <a:ea typeface="맑은 고딕"/>
              </a:rPr>
              <a:t> </a:t>
            </a:r>
            <a:r>
              <a:rPr sz="1000" b="1" dirty="0" err="1">
                <a:solidFill>
                  <a:srgbClr val="2F5597"/>
                </a:solidFill>
                <a:latin typeface="맑은 고딕"/>
                <a:ea typeface="맑은 고딕"/>
              </a:rPr>
              <a:t>시나리오</a:t>
            </a:r>
            <a:r>
              <a:rPr sz="1000" b="1" dirty="0">
                <a:solidFill>
                  <a:srgbClr val="2F5597"/>
                </a:solidFill>
                <a:latin typeface="맑은 고딕"/>
                <a:ea typeface="맑은 고딕"/>
              </a:rPr>
              <a:t> 3종, KV </a:t>
            </a:r>
            <a:r>
              <a:rPr sz="1000" b="1" dirty="0" err="1">
                <a:solidFill>
                  <a:srgbClr val="2F5597"/>
                </a:solidFill>
                <a:latin typeface="맑은 고딕"/>
                <a:ea typeface="맑은 고딕"/>
              </a:rPr>
              <a:t>캐시</a:t>
            </a:r>
            <a:r>
              <a:rPr sz="1000" b="1" dirty="0">
                <a:solidFill>
                  <a:srgbClr val="2F5597"/>
                </a:solidFill>
                <a:latin typeface="맑은 고딕"/>
                <a:ea typeface="맑은 고딕"/>
              </a:rPr>
              <a:t> </a:t>
            </a:r>
            <a:r>
              <a:rPr sz="1000" b="1" dirty="0" err="1">
                <a:solidFill>
                  <a:srgbClr val="2F5597"/>
                </a:solidFill>
                <a:latin typeface="맑은 고딕"/>
                <a:ea typeface="맑은 고딕"/>
              </a:rPr>
              <a:t>관리</a:t>
            </a:r>
            <a:r>
              <a:rPr sz="1000" b="1" dirty="0">
                <a:solidFill>
                  <a:srgbClr val="2F5597"/>
                </a:solidFill>
                <a:latin typeface="맑은 고딕"/>
                <a:ea typeface="맑은 고딕"/>
              </a:rPr>
              <a:t> </a:t>
            </a:r>
            <a:r>
              <a:rPr sz="1000" b="1" dirty="0" err="1">
                <a:solidFill>
                  <a:srgbClr val="2F5597"/>
                </a:solidFill>
                <a:latin typeface="맑은 고딕"/>
                <a:ea typeface="맑은 고딕"/>
              </a:rPr>
              <a:t>범위</a:t>
            </a:r>
            <a:r>
              <a:rPr sz="1000" b="1" dirty="0">
                <a:solidFill>
                  <a:srgbClr val="2F5597"/>
                </a:solidFill>
                <a:latin typeface="맑은 고딕"/>
                <a:ea typeface="맑은 고딕"/>
              </a:rPr>
              <a:t>] </a:t>
            </a:r>
            <a:r>
              <a:rPr lang="en-US" sz="950" b="1" dirty="0">
                <a:solidFill>
                  <a:srgbClr val="000000"/>
                </a:solidFill>
                <a:latin typeface="맑은 고딕"/>
                <a:ea typeface="맑은 고딕"/>
              </a:rPr>
              <a:t>S</a:t>
            </a:r>
            <a:r>
              <a:rPr sz="950" b="0" dirty="0">
                <a:solidFill>
                  <a:srgbClr val="000000"/>
                </a:solidFill>
                <a:latin typeface="맑은 고딕"/>
                <a:ea typeface="맑은 고딕"/>
              </a:rPr>
              <a:t>1 새 </a:t>
            </a:r>
            <a:r>
              <a:rPr sz="950" b="0" dirty="0" err="1">
                <a:solidFill>
                  <a:srgbClr val="000000"/>
                </a:solidFill>
                <a:latin typeface="맑은 고딕"/>
                <a:ea typeface="맑은 고딕"/>
              </a:rPr>
              <a:t>메모리</a:t>
            </a:r>
            <a:r>
              <a:rPr sz="950" b="0" dirty="0">
                <a:solidFill>
                  <a:srgbClr val="000000"/>
                </a:solidFill>
                <a:latin typeface="맑은 고딕"/>
                <a:ea typeface="맑은 고딕"/>
              </a:rPr>
              <a:t> tier </a:t>
            </a:r>
            <a:r>
              <a:rPr sz="950" b="0" dirty="0" err="1">
                <a:solidFill>
                  <a:srgbClr val="000000"/>
                </a:solidFill>
                <a:latin typeface="맑은 고딕"/>
                <a:ea typeface="맑은 고딕"/>
              </a:rPr>
              <a:t>추가</a:t>
            </a:r>
            <a:r>
              <a:rPr lang="en-US" sz="950" dirty="0">
                <a:solidFill>
                  <a:srgbClr val="000000"/>
                </a:solidFill>
                <a:latin typeface="맑은 고딕"/>
                <a:ea typeface="맑은 고딕"/>
              </a:rPr>
              <a:t>, </a:t>
            </a:r>
            <a:r>
              <a:rPr sz="950" b="0" dirty="0">
                <a:solidFill>
                  <a:srgbClr val="000000"/>
                </a:solidFill>
                <a:latin typeface="맑은 고딕"/>
                <a:ea typeface="맑은 고딕"/>
              </a:rPr>
              <a:t>S2 </a:t>
            </a:r>
            <a:r>
              <a:rPr sz="950" b="0" dirty="0" err="1">
                <a:solidFill>
                  <a:srgbClr val="000000"/>
                </a:solidFill>
                <a:latin typeface="맑은 고딕"/>
                <a:ea typeface="맑은 고딕"/>
              </a:rPr>
              <a:t>이동·배치·재사용</a:t>
            </a:r>
            <a:r>
              <a:rPr sz="950" b="0" dirty="0">
                <a:solidFill>
                  <a:srgbClr val="000000"/>
                </a:solidFill>
                <a:latin typeface="맑은 고딕"/>
                <a:ea typeface="맑은 고딕"/>
              </a:rPr>
              <a:t>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lang="en-US" sz="950" dirty="0">
                <a:solidFill>
                  <a:srgbClr val="000000"/>
                </a:solidFill>
                <a:latin typeface="맑은 고딕"/>
                <a:ea typeface="맑은 고딕"/>
              </a:rPr>
              <a:t>, </a:t>
            </a:r>
            <a:r>
              <a:rPr lang="en-US" altLang="ko-KR" sz="950" dirty="0">
                <a:solidFill>
                  <a:srgbClr val="000000"/>
                </a:solidFill>
                <a:latin typeface="맑은 고딕"/>
                <a:ea typeface="맑은 고딕"/>
              </a:rPr>
              <a:t>S3 </a:t>
            </a:r>
            <a:r>
              <a:rPr sz="950" b="0" dirty="0" err="1">
                <a:solidFill>
                  <a:srgbClr val="000000"/>
                </a:solidFill>
                <a:latin typeface="맑은 고딕"/>
                <a:ea typeface="맑은 고딕"/>
              </a:rPr>
              <a:t>vLLM</a:t>
            </a:r>
            <a:r>
              <a:rPr sz="950" b="0" dirty="0">
                <a:solidFill>
                  <a:srgbClr val="000000"/>
                </a:solidFill>
                <a:latin typeface="맑은 고딕"/>
                <a:ea typeface="맑은 고딕"/>
              </a:rPr>
              <a:t> upstream </a:t>
            </a:r>
            <a:r>
              <a:rPr sz="950" b="0" dirty="0" err="1">
                <a:solidFill>
                  <a:srgbClr val="000000"/>
                </a:solidFill>
                <a:latin typeface="맑은 고딕"/>
                <a:ea typeface="맑은 고딕"/>
              </a:rPr>
              <a:t>갱신</a:t>
            </a:r>
            <a:r>
              <a:rPr sz="950" b="0" dirty="0">
                <a:solidFill>
                  <a:srgbClr val="000000"/>
                </a:solidFill>
                <a:latin typeface="맑은 고딕"/>
                <a:ea typeface="맑은 고딕"/>
              </a:rPr>
              <a:t> </a:t>
            </a:r>
            <a:r>
              <a:rPr sz="950" b="0" dirty="0" err="1">
                <a:solidFill>
                  <a:srgbClr val="000000"/>
                </a:solidFill>
                <a:latin typeface="맑은 고딕"/>
                <a:ea typeface="맑은 고딕"/>
              </a:rPr>
              <a:t>대응</a:t>
            </a:r>
            <a:r>
              <a:rPr sz="950" b="0" dirty="0">
                <a:solidFill>
                  <a:srgbClr val="000000"/>
                </a:solidFill>
                <a:latin typeface="맑은 고딕"/>
                <a:ea typeface="맑은 고딕"/>
              </a:rPr>
              <a:t>(block pool, </a:t>
            </a:r>
            <a:r>
              <a:rPr sz="950" b="0" dirty="0" err="1">
                <a:solidFill>
                  <a:srgbClr val="000000"/>
                </a:solidFill>
                <a:latin typeface="맑은 고딕"/>
                <a:ea typeface="맑은 고딕"/>
              </a:rPr>
              <a:t>kv_offload</a:t>
            </a:r>
            <a:r>
              <a:rPr sz="950" b="0" dirty="0">
                <a:solidFill>
                  <a:srgbClr val="000000"/>
                </a:solidFill>
                <a:latin typeface="맑은 고딕"/>
                <a:ea typeface="맑은 고딕"/>
              </a:rPr>
              <a:t>, CUDA graph, async scheduling </a:t>
            </a:r>
            <a:r>
              <a:rPr sz="950" b="0" dirty="0" err="1">
                <a:solidFill>
                  <a:srgbClr val="000000"/>
                </a:solidFill>
                <a:latin typeface="맑은 고딕"/>
                <a:ea typeface="맑은 고딕"/>
              </a:rPr>
              <a:t>접점</a:t>
            </a:r>
            <a:r>
              <a:rPr sz="950" b="0" dirty="0">
                <a:solidFill>
                  <a:srgbClr val="000000"/>
                </a:solidFill>
                <a:latin typeface="맑은 고딕"/>
                <a:ea typeface="맑은 고딕"/>
              </a:rPr>
              <a:t> </a:t>
            </a:r>
            <a:r>
              <a:rPr sz="950" b="0" dirty="0" err="1">
                <a:solidFill>
                  <a:srgbClr val="000000"/>
                </a:solidFill>
                <a:latin typeface="맑은 고딕"/>
                <a:ea typeface="맑은 고딕"/>
              </a:rPr>
              <a:t>수정</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lnSpc>
                <a:spcPct val="150000"/>
              </a:lnSpc>
              <a:spcAft>
                <a:spcPts val="0"/>
              </a:spcAft>
            </a:pPr>
            <a:r>
              <a:rPr sz="950" b="0" dirty="0" err="1">
                <a:solidFill>
                  <a:srgbClr val="000000"/>
                </a:solidFill>
                <a:latin typeface="맑은 고딕"/>
                <a:ea typeface="맑은 고딕"/>
              </a:rPr>
              <a:t>시나리오</a:t>
            </a:r>
            <a:r>
              <a:rPr sz="950" b="0" dirty="0">
                <a:solidFill>
                  <a:srgbClr val="000000"/>
                </a:solidFill>
                <a:latin typeface="맑은 고딕"/>
                <a:ea typeface="맑은 고딕"/>
              </a:rPr>
              <a:t> </a:t>
            </a:r>
            <a:r>
              <a:rPr sz="950" b="0" dirty="0" err="1">
                <a:solidFill>
                  <a:srgbClr val="000000"/>
                </a:solidFill>
                <a:latin typeface="맑은 고딕"/>
                <a:ea typeface="맑은 고딕"/>
              </a:rPr>
              <a:t>단순</a:t>
            </a:r>
            <a:r>
              <a:rPr sz="950" b="0" dirty="0">
                <a:solidFill>
                  <a:srgbClr val="000000"/>
                </a:solidFill>
                <a:latin typeface="맑은 고딕"/>
                <a:ea typeface="맑은 고딕"/>
              </a:rPr>
              <a:t> </a:t>
            </a:r>
            <a:r>
              <a:rPr sz="950" b="0" dirty="0" err="1">
                <a:solidFill>
                  <a:srgbClr val="000000"/>
                </a:solidFill>
                <a:latin typeface="맑은 고딕"/>
                <a:ea typeface="맑은 고딕"/>
              </a:rPr>
              <a:t>평균으로</a:t>
            </a:r>
            <a:r>
              <a:rPr sz="950" b="0" dirty="0">
                <a:solidFill>
                  <a:srgbClr val="000000"/>
                </a:solidFill>
                <a:latin typeface="맑은 고딕"/>
                <a:ea typeface="맑은 고딕"/>
              </a:rPr>
              <a:t> </a:t>
            </a:r>
            <a:r>
              <a:rPr sz="950" b="0" dirty="0" err="1">
                <a:solidFill>
                  <a:srgbClr val="000000"/>
                </a:solidFill>
                <a:latin typeface="맑은 고딕"/>
                <a:ea typeface="맑은 고딕"/>
              </a:rPr>
              <a:t>판정</a:t>
            </a:r>
            <a:r>
              <a:rPr sz="950" b="0" dirty="0">
                <a:solidFill>
                  <a:srgbClr val="000000"/>
                </a:solidFill>
                <a:latin typeface="맑은 고딕"/>
                <a:ea typeface="맑은 고딕"/>
              </a:rPr>
              <a:t>. module = </a:t>
            </a:r>
            <a:r>
              <a:rPr sz="950" b="0" dirty="0" err="1">
                <a:solidFill>
                  <a:srgbClr val="000000"/>
                </a:solidFill>
                <a:latin typeface="맑은 고딕"/>
                <a:ea typeface="맑은 고딕"/>
              </a:rPr>
              <a:t>설계</a:t>
            </a:r>
            <a:r>
              <a:rPr sz="950" b="0" dirty="0">
                <a:solidFill>
                  <a:srgbClr val="000000"/>
                </a:solidFill>
                <a:latin typeface="맑은 고딕"/>
                <a:ea typeface="맑은 고딕"/>
              </a:rPr>
              <a:t> </a:t>
            </a:r>
            <a:r>
              <a:rPr sz="950" b="0" dirty="0" err="1">
                <a:solidFill>
                  <a:srgbClr val="000000"/>
                </a:solidFill>
                <a:latin typeface="맑은 고딕"/>
                <a:ea typeface="맑은 고딕"/>
              </a:rPr>
              <a:t>문서의</a:t>
            </a:r>
            <a:r>
              <a:rPr sz="950" b="0" dirty="0">
                <a:solidFill>
                  <a:srgbClr val="000000"/>
                </a:solidFill>
                <a:latin typeface="맑은 고딕"/>
                <a:ea typeface="맑은 고딕"/>
              </a:rPr>
              <a:t> component </a:t>
            </a:r>
            <a:r>
              <a:rPr sz="950" b="0" dirty="0" err="1">
                <a:solidFill>
                  <a:srgbClr val="000000"/>
                </a:solidFill>
                <a:latin typeface="맑은 고딕"/>
                <a:ea typeface="맑은 고딕"/>
              </a:rPr>
              <a:t>단위</a:t>
            </a:r>
            <a:r>
              <a:rPr lang="en-US" sz="950" b="0" dirty="0">
                <a:solidFill>
                  <a:srgbClr val="000000"/>
                </a:solidFill>
                <a:latin typeface="맑은 고딕"/>
                <a:ea typeface="맑은 고딕"/>
              </a:rPr>
              <a:t> </a:t>
            </a:r>
            <a:r>
              <a:rPr sz="950" b="0" dirty="0">
                <a:solidFill>
                  <a:srgbClr val="000000"/>
                </a:solidFill>
                <a:latin typeface="맑은 고딕"/>
                <a:ea typeface="맑은 고딕"/>
              </a:rPr>
              <a:t>(한 </a:t>
            </a:r>
            <a:r>
              <a:rPr sz="950" b="0" dirty="0" err="1">
                <a:solidFill>
                  <a:srgbClr val="000000"/>
                </a:solidFill>
                <a:latin typeface="맑은 고딕"/>
                <a:ea typeface="맑은 고딕"/>
              </a:rPr>
              <a:t>줄이라도</a:t>
            </a:r>
            <a:r>
              <a:rPr sz="950" b="0" dirty="0">
                <a:solidFill>
                  <a:srgbClr val="000000"/>
                </a:solidFill>
                <a:latin typeface="맑은 고딕"/>
                <a:ea typeface="맑은 고딕"/>
              </a:rPr>
              <a:t> </a:t>
            </a:r>
            <a:r>
              <a:rPr sz="950" b="0" dirty="0" err="1">
                <a:solidFill>
                  <a:srgbClr val="000000"/>
                </a:solidFill>
                <a:latin typeface="맑은 고딕"/>
                <a:ea typeface="맑은 고딕"/>
              </a:rPr>
              <a:t>바꾸면</a:t>
            </a:r>
            <a:r>
              <a:rPr sz="950" b="0" dirty="0">
                <a:solidFill>
                  <a:srgbClr val="000000"/>
                </a:solidFill>
                <a:latin typeface="맑은 고딕"/>
                <a:ea typeface="맑은 고딕"/>
              </a:rPr>
              <a:t> 1개).</a:t>
            </a:r>
          </a:p>
        </p:txBody>
      </p:sp>
      <p:graphicFrame>
        <p:nvGraphicFramePr>
          <p:cNvPr id="178" name="tbl">
            <a:extLst>
              <a:ext uri="{FF2B5EF4-FFF2-40B4-BE49-F238E27FC236}">
                <a16:creationId xmlns:a16="http://schemas.microsoft.com/office/drawing/2014/main" id="{9639DBEA-9428-4CB8-8D3E-47A1193E7894}"/>
              </a:ext>
            </a:extLst>
          </p:cNvPr>
          <p:cNvGraphicFramePr>
            <a:graphicFrameLocks noGrp="1"/>
          </p:cNvGraphicFramePr>
          <p:nvPr>
            <p:extLst>
              <p:ext uri="{D42A27DB-BD31-4B8C-83A1-F6EECF244321}">
                <p14:modId xmlns:p14="http://schemas.microsoft.com/office/powerpoint/2010/main" val="1113437933"/>
              </p:ext>
            </p:extLst>
          </p:nvPr>
        </p:nvGraphicFramePr>
        <p:xfrm>
          <a:off x="365760" y="1668780"/>
          <a:ext cx="11457432" cy="2345436"/>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55321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237744">
                <a:tc>
                  <a:txBody>
                    <a:bodyPr/>
                    <a:lstStyle/>
                    <a:p>
                      <a:pPr algn="ctr"/>
                      <a:r>
                        <a:rPr sz="900" b="1">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변경</a:t>
                      </a:r>
                      <a:r>
                        <a:rPr sz="900" b="1" dirty="0">
                          <a:solidFill>
                            <a:srgbClr val="FFFFFF"/>
                          </a:solidFill>
                          <a:latin typeface="맑은 고딕"/>
                          <a:ea typeface="맑은 고딕"/>
                        </a:rPr>
                        <a:t> module 수 (</a:t>
                      </a:r>
                      <a:r>
                        <a:rPr sz="900" b="1" dirty="0" err="1">
                          <a:solidFill>
                            <a:srgbClr val="FFFFFF"/>
                          </a:solidFill>
                          <a:latin typeface="맑은 고딕"/>
                          <a:ea typeface="맑은 고딕"/>
                        </a:rPr>
                        <a:t>평균</a:t>
                      </a:r>
                      <a:r>
                        <a:rPr sz="9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환산</a:t>
                      </a:r>
                      <a:r>
                        <a:rPr sz="900" b="1" dirty="0">
                          <a:solidFill>
                            <a:srgbClr val="FFFFFF"/>
                          </a:solidFill>
                          <a:latin typeface="맑은 고딕"/>
                          <a:ea typeface="맑은 고딕"/>
                        </a:rPr>
                        <a:t> </a:t>
                      </a:r>
                      <a:r>
                        <a:rPr sz="900" b="1" dirty="0" err="1">
                          <a:solidFill>
                            <a:srgbClr val="FFFFFF"/>
                          </a:solidFill>
                          <a:latin typeface="맑은 고딕"/>
                          <a:ea typeface="맑은 고딕"/>
                        </a:rPr>
                        <a:t>개발</a:t>
                      </a:r>
                      <a:r>
                        <a:rPr sz="900" b="1" dirty="0">
                          <a:solidFill>
                            <a:srgbClr val="FFFFFF"/>
                          </a:solidFill>
                          <a:latin typeface="맑은 고딕"/>
                          <a:ea typeface="맑은 고딕"/>
                        </a:rPr>
                        <a:t> </a:t>
                      </a:r>
                      <a:r>
                        <a:rPr sz="900" b="1" dirty="0" err="1">
                          <a:solidFill>
                            <a:srgbClr val="FFFFFF"/>
                          </a:solidFill>
                          <a:latin typeface="맑은 고딕"/>
                          <a:ea typeface="맑은 고딕"/>
                        </a:rPr>
                        <a:t>공수</a:t>
                      </a:r>
                      <a:r>
                        <a:rPr sz="900" b="1" dirty="0">
                          <a:solidFill>
                            <a:srgbClr val="FFFFFF"/>
                          </a:solidFill>
                          <a:latin typeface="맑은 고딕"/>
                          <a:ea typeface="맑은 고딕"/>
                        </a:rPr>
                        <a:t> (M/M</a:t>
                      </a:r>
                      <a:r>
                        <a:rPr lang="en-US" sz="900" b="1" dirty="0">
                          <a:solidFill>
                            <a:srgbClr val="FFFFFF"/>
                          </a:solidFill>
                          <a:latin typeface="맑은 고딕"/>
                          <a:ea typeface="맑은 고딕"/>
                        </a:rPr>
                        <a:t>)</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0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900" b="0">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900" b="0">
                          <a:solidFill>
                            <a:srgbClr val="000000"/>
                          </a:solidFill>
                          <a:latin typeface="맑은 고딕"/>
                          <a:ea typeface="맑은 고딕"/>
                        </a:rPr>
                        <a:t>≤ 0.4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1" dirty="0" err="1">
                          <a:solidFill>
                            <a:srgbClr val="000000"/>
                          </a:solidFill>
                          <a:latin typeface="맑은 고딕"/>
                          <a:ea typeface="맑은 고딕"/>
                        </a:rPr>
                        <a:t>일상</a:t>
                      </a:r>
                      <a:r>
                        <a:rPr sz="900" b="1" dirty="0">
                          <a:solidFill>
                            <a:srgbClr val="000000"/>
                          </a:solidFill>
                          <a:latin typeface="맑은 고딕"/>
                          <a:ea typeface="맑은 고딕"/>
                        </a:rPr>
                        <a:t> </a:t>
                      </a:r>
                      <a:r>
                        <a:rPr sz="900" b="1" dirty="0" err="1">
                          <a:solidFill>
                            <a:srgbClr val="000000"/>
                          </a:solidFill>
                          <a:latin typeface="맑은 고딕"/>
                          <a:ea typeface="맑은 고딕"/>
                        </a:rPr>
                        <a:t>변경</a:t>
                      </a:r>
                      <a:r>
                        <a:rPr sz="900" b="1" dirty="0">
                          <a:solidFill>
                            <a:srgbClr val="000000"/>
                          </a:solidFill>
                          <a:latin typeface="맑은 고딕"/>
                          <a:ea typeface="맑은 고딕"/>
                        </a:rPr>
                        <a:t> </a:t>
                      </a:r>
                      <a:r>
                        <a:rPr sz="900" b="1" dirty="0" err="1">
                          <a:solidFill>
                            <a:srgbClr val="000000"/>
                          </a:solidFill>
                          <a:latin typeface="맑은 고딕"/>
                          <a:ea typeface="맑은 고딕"/>
                        </a:rPr>
                        <a:t>규모</a:t>
                      </a:r>
                      <a:r>
                        <a:rPr sz="900" b="1" dirty="0">
                          <a:solidFill>
                            <a:srgbClr val="000000"/>
                          </a:solidFill>
                          <a:latin typeface="맑은 고딕"/>
                          <a:ea typeface="맑은 고딕"/>
                        </a:rPr>
                        <a:t>: </a:t>
                      </a:r>
                      <a:endParaRPr lang="en-US" sz="900" b="1" dirty="0">
                        <a:solidFill>
                          <a:srgbClr val="000000"/>
                        </a:solidFill>
                        <a:latin typeface="맑은 고딕"/>
                        <a:ea typeface="맑은 고딕"/>
                      </a:endParaRPr>
                    </a:p>
                    <a:p>
                      <a:pPr algn="l">
                        <a:lnSpc>
                          <a:spcPct val="125000"/>
                        </a:lnSpc>
                      </a:pPr>
                      <a:r>
                        <a:rPr lang="ko-KR" altLang="en-US" sz="900" b="1" dirty="0">
                          <a:solidFill>
                            <a:srgbClr val="000000"/>
                          </a:solidFill>
                          <a:latin typeface="맑은 고딕"/>
                          <a:ea typeface="맑은 고딕"/>
                        </a:rPr>
                        <a:t>참고</a:t>
                      </a:r>
                      <a:r>
                        <a:rPr lang="en-US" altLang="ko-KR" sz="900" b="1" dirty="0">
                          <a:solidFill>
                            <a:srgbClr val="000000"/>
                          </a:solidFill>
                          <a:latin typeface="맑은 고딕"/>
                          <a:ea typeface="맑은 고딕"/>
                        </a:rPr>
                        <a:t>: </a:t>
                      </a:r>
                      <a:r>
                        <a:rPr sz="900" b="1" dirty="0">
                          <a:solidFill>
                            <a:srgbClr val="000000"/>
                          </a:solidFill>
                          <a:latin typeface="맑은 고딕"/>
                          <a:ea typeface="맑은 고딕"/>
                        </a:rPr>
                        <a:t>SWE-bench </a:t>
                      </a:r>
                      <a:r>
                        <a:rPr sz="900" b="1" dirty="0" err="1">
                          <a:solidFill>
                            <a:srgbClr val="000000"/>
                          </a:solidFill>
                          <a:latin typeface="맑은 고딕"/>
                          <a:ea typeface="맑은 고딕"/>
                        </a:rPr>
                        <a:t>평균</a:t>
                      </a:r>
                      <a:r>
                        <a:rPr sz="900" b="1" dirty="0">
                          <a:solidFill>
                            <a:srgbClr val="000000"/>
                          </a:solidFill>
                          <a:latin typeface="맑은 고딕"/>
                          <a:ea typeface="맑은 고딕"/>
                        </a:rPr>
                        <a:t> </a:t>
                      </a:r>
                      <a:r>
                        <a:rPr sz="900" b="1" dirty="0" err="1">
                          <a:solidFill>
                            <a:srgbClr val="000000"/>
                          </a:solidFill>
                          <a:latin typeface="맑은 고딕"/>
                          <a:ea typeface="맑은 고딕"/>
                        </a:rPr>
                        <a:t>패치</a:t>
                      </a:r>
                      <a:r>
                        <a:rPr sz="900" b="1" dirty="0">
                          <a:solidFill>
                            <a:srgbClr val="000000"/>
                          </a:solidFill>
                          <a:latin typeface="맑은 고딕"/>
                          <a:ea typeface="맑은 고딕"/>
                        </a:rPr>
                        <a:t> 1.7 file(2개 </a:t>
                      </a:r>
                      <a:r>
                        <a:rPr sz="900" b="1" dirty="0" err="1">
                          <a:solidFill>
                            <a:srgbClr val="000000"/>
                          </a:solidFill>
                          <a:latin typeface="맑은 고딕"/>
                          <a:ea typeface="맑은 고딕"/>
                        </a:rPr>
                        <a:t>이하</a:t>
                      </a:r>
                      <a:r>
                        <a:rPr sz="900" b="1"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dirty="0">
                          <a:solidFill>
                            <a:srgbClr val="000000"/>
                          </a:solidFill>
                          <a:latin typeface="맑은 고딕"/>
                          <a:ea typeface="맑은 고딕"/>
                        </a:rPr>
                        <a:t>SWE-bench (</a:t>
                      </a:r>
                      <a:r>
                        <a:rPr sz="900" b="0" dirty="0" err="1">
                          <a:solidFill>
                            <a:srgbClr val="000000"/>
                          </a:solidFill>
                          <a:latin typeface="맑은 고딕"/>
                          <a:ea typeface="맑은 고딕"/>
                        </a:rPr>
                        <a:t>arXiv</a:t>
                      </a:r>
                      <a:r>
                        <a:rPr sz="900" b="0" dirty="0">
                          <a:solidFill>
                            <a:srgbClr val="000000"/>
                          </a:solidFill>
                          <a:latin typeface="맑은 고딕"/>
                          <a:ea typeface="맑은 고딕"/>
                        </a:rPr>
                        <a:t> 2310.06770), </a:t>
                      </a:r>
                      <a:endParaRPr lang="en-US"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사전</a:t>
                      </a:r>
                      <a:r>
                        <a:rPr sz="900" b="0" dirty="0">
                          <a:solidFill>
                            <a:srgbClr val="000000"/>
                          </a:solidFill>
                          <a:latin typeface="맑은 고딕"/>
                          <a:ea typeface="맑은 고딕"/>
                        </a:rPr>
                        <a:t> </a:t>
                      </a:r>
                      <a:r>
                        <a:rPr sz="900" b="0" dirty="0" err="1">
                          <a:solidFill>
                            <a:srgbClr val="000000"/>
                          </a:solidFill>
                          <a:latin typeface="맑은 고딕"/>
                          <a:ea typeface="맑은 고딕"/>
                        </a:rPr>
                        <a:t>등록</a:t>
                      </a:r>
                      <a:r>
                        <a:rPr sz="900" b="0" dirty="0">
                          <a:solidFill>
                            <a:srgbClr val="000000"/>
                          </a:solidFill>
                          <a:latin typeface="맑은 고딕"/>
                          <a:ea typeface="맑은 고딕"/>
                        </a:rPr>
                        <a:t> </a:t>
                      </a:r>
                      <a:r>
                        <a:rPr sz="900" b="0" dirty="0" err="1">
                          <a:solidFill>
                            <a:srgbClr val="000000"/>
                          </a:solidFill>
                          <a:latin typeface="맑은 고딕"/>
                          <a:ea typeface="맑은 고딕"/>
                        </a:rPr>
                        <a:t>가정</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10896">
                <a:tc>
                  <a:txBody>
                    <a:bodyPr/>
                    <a:lstStyle/>
                    <a:p>
                      <a:pPr algn="ctr"/>
                      <a:r>
                        <a:rPr sz="90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ctr"/>
                      <a:r>
                        <a:rPr sz="900" b="0" dirty="0">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ctr"/>
                      <a:r>
                        <a:rPr sz="900" b="0">
                          <a:solidFill>
                            <a:srgbClr val="000000"/>
                          </a:solidFill>
                          <a:latin typeface="맑은 고딕"/>
                          <a:ea typeface="맑은 고딕"/>
                        </a:rPr>
                        <a:t>≤ 0.5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dirty="0">
                          <a:solidFill>
                            <a:srgbClr val="000000"/>
                          </a:solidFill>
                          <a:latin typeface="맑은 고딕"/>
                          <a:ea typeface="맑은 고딕"/>
                        </a:rPr>
                        <a:t>★2와 ★3의 </a:t>
                      </a:r>
                      <a:r>
                        <a:rPr sz="900" b="0" dirty="0" err="1">
                          <a:solidFill>
                            <a:srgbClr val="000000"/>
                          </a:solidFill>
                          <a:latin typeface="맑은 고딕"/>
                          <a:ea typeface="맑은 고딕"/>
                        </a:rPr>
                        <a:t>중점</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310896">
                <a:tc>
                  <a:txBody>
                    <a:bodyPr/>
                    <a:lstStyle/>
                    <a:p>
                      <a:pPr algn="ctr"/>
                      <a:r>
                        <a:rPr sz="90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900" b="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900" b="0">
                          <a:solidFill>
                            <a:srgbClr val="000000"/>
                          </a:solidFill>
                          <a:latin typeface="맑은 고딕"/>
                          <a:ea typeface="맑은 고딕"/>
                        </a:rPr>
                        <a:t>≤ 0.6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900" b="1" dirty="0"/>
                        <a:t>설계 </a:t>
                      </a:r>
                      <a:r>
                        <a:rPr lang="en-US" altLang="ko-KR" sz="900" b="1" dirty="0"/>
                        <a:t>component 12~14</a:t>
                      </a:r>
                      <a:r>
                        <a:rPr lang="ko-KR" altLang="en-US" sz="900" b="1" dirty="0"/>
                        <a:t>개 중 약 </a:t>
                      </a:r>
                      <a:r>
                        <a:rPr lang="en-US" altLang="ko-KR" sz="900" b="1" dirty="0"/>
                        <a:t>1/4(3</a:t>
                      </a:r>
                      <a:r>
                        <a:rPr lang="ko-KR" altLang="en-US" sz="900" b="1" dirty="0"/>
                        <a:t>개</a:t>
                      </a:r>
                      <a:r>
                        <a:rPr lang="en-US" altLang="ko-KR" sz="900" b="1" dirty="0"/>
                        <a:t>)</a:t>
                      </a:r>
                      <a:r>
                        <a:rPr lang="ko-KR" altLang="en-US" sz="900" b="1" dirty="0"/>
                        <a:t>까지만 바뀌면</a:t>
                      </a:r>
                      <a:r>
                        <a:rPr lang="en-US" altLang="ko-KR" sz="900" b="1" dirty="0"/>
                        <a:t>, </a:t>
                      </a:r>
                      <a:r>
                        <a:rPr lang="ko-KR" altLang="en-US" sz="900" b="1" dirty="0"/>
                        <a:t>변경이 설계의 한 묶음</a:t>
                      </a:r>
                      <a:r>
                        <a:rPr lang="en-US" altLang="ko-KR" sz="900" b="1" dirty="0"/>
                        <a:t>(</a:t>
                      </a:r>
                      <a:r>
                        <a:rPr lang="ko-KR" altLang="en-US" sz="900" b="1" dirty="0"/>
                        <a:t>한 </a:t>
                      </a:r>
                      <a:r>
                        <a:rPr lang="en-US" altLang="ko-KR" sz="900" b="1" dirty="0"/>
                        <a:t>Plane </a:t>
                      </a:r>
                      <a:r>
                        <a:rPr lang="ko-KR" altLang="en-US" sz="900" b="1" dirty="0"/>
                        <a:t>또는 한 </a:t>
                      </a:r>
                      <a:r>
                        <a:rPr lang="en-US" altLang="ko-KR" sz="900" b="1" dirty="0"/>
                        <a:t>Layer </a:t>
                      </a:r>
                      <a:r>
                        <a:rPr lang="ko-KR" altLang="en-US" sz="900" b="1" dirty="0"/>
                        <a:t>예</a:t>
                      </a:r>
                      <a:r>
                        <a:rPr lang="en-US" altLang="ko-KR" sz="900" b="1" dirty="0"/>
                        <a:t>: </a:t>
                      </a:r>
                      <a:r>
                        <a:rPr lang="ko-KR" altLang="en-US" sz="900" b="1" dirty="0"/>
                        <a:t>정책 계층만</a:t>
                      </a:r>
                      <a:r>
                        <a:rPr lang="en-US" altLang="ko-KR" sz="900" b="1" dirty="0"/>
                        <a:t>, </a:t>
                      </a:r>
                      <a:r>
                        <a:rPr lang="ko-KR" altLang="en-US" sz="900" b="1" dirty="0"/>
                        <a:t>데이터 경로만</a:t>
                      </a:r>
                      <a:r>
                        <a:rPr lang="en-US" altLang="ko-KR" sz="900" b="1" dirty="0"/>
                        <a:t>) </a:t>
                      </a:r>
                      <a:r>
                        <a:rPr lang="ko-KR" altLang="en-US" sz="900" b="1" dirty="0"/>
                        <a:t>안에서 끝난다고 본다</a:t>
                      </a:r>
                      <a:r>
                        <a:rPr lang="en-US" altLang="ko-KR" sz="900" b="1" dirty="0"/>
                        <a:t>. </a:t>
                      </a:r>
                      <a:endParaRPr sz="9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10896">
                <a:tc>
                  <a:txBody>
                    <a:bodyPr/>
                    <a:lstStyle/>
                    <a:p>
                      <a:pPr algn="ctr"/>
                      <a:r>
                        <a:rPr sz="90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ctr"/>
                      <a:r>
                        <a:rPr sz="900" b="0">
                          <a:solidFill>
                            <a:srgbClr val="000000"/>
                          </a:solidFill>
                          <a:latin typeface="맑은 고딕"/>
                          <a:ea typeface="맑은 고딕"/>
                        </a:rPr>
                        <a:t>≤ 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ctr"/>
                      <a:r>
                        <a:rPr sz="900" b="0">
                          <a:solidFill>
                            <a:srgbClr val="000000"/>
                          </a:solidFill>
                          <a:latin typeface="맑은 고딕"/>
                          <a:ea typeface="맑은 고딕"/>
                        </a:rPr>
                        <a:t>≤ 0.8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dirty="0">
                          <a:solidFill>
                            <a:srgbClr val="000000"/>
                          </a:solidFill>
                          <a:latin typeface="맑은 고딕"/>
                          <a:ea typeface="맑은 고딕"/>
                        </a:rPr>
                        <a:t>★1과 ★2의 </a:t>
                      </a:r>
                      <a:r>
                        <a:rPr sz="900" b="0" dirty="0" err="1">
                          <a:solidFill>
                            <a:srgbClr val="000000"/>
                          </a:solidFill>
                          <a:latin typeface="맑은 고딕"/>
                          <a:ea typeface="맑은 고딕"/>
                        </a:rPr>
                        <a:t>중점</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10896">
                <a:tc>
                  <a:txBody>
                    <a:bodyPr/>
                    <a:lstStyle/>
                    <a:p>
                      <a:pPr algn="ctr"/>
                      <a:r>
                        <a:rPr sz="90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900" b="0">
                          <a:solidFill>
                            <a:srgbClr val="000000"/>
                          </a:solidFill>
                          <a:latin typeface="맑은 고딕"/>
                          <a:ea typeface="맑은 고딕"/>
                        </a:rPr>
                        <a:t>≤ 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900" b="0">
                          <a:solidFill>
                            <a:srgbClr val="000000"/>
                          </a:solidFill>
                          <a:latin typeface="맑은 고딕"/>
                          <a:ea typeface="맑은 고딕"/>
                        </a:rPr>
                        <a: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lang="ko-KR" altLang="en-US" sz="900" b="1" dirty="0"/>
                        <a:t>설계 변경이 </a:t>
                      </a:r>
                      <a:r>
                        <a:rPr lang="ko-KR" altLang="en-US" sz="900" b="1" dirty="0" err="1"/>
                        <a:t>필요없는</a:t>
                      </a:r>
                      <a:r>
                        <a:rPr lang="ko-KR" altLang="en-US" sz="900" b="1" dirty="0"/>
                        <a:t> 최소 </a:t>
                      </a:r>
                      <a:r>
                        <a:rPr lang="ko-KR" altLang="en-US" sz="900" b="1" dirty="0" err="1"/>
                        <a:t>충족선</a:t>
                      </a:r>
                      <a:r>
                        <a:rPr lang="en-US" altLang="ko-KR" sz="900" b="1" dirty="0"/>
                        <a:t>. </a:t>
                      </a:r>
                    </a:p>
                    <a:p>
                      <a:pPr algn="l">
                        <a:lnSpc>
                          <a:spcPct val="125000"/>
                        </a:lnSpc>
                      </a:pPr>
                      <a:r>
                        <a:rPr lang="ko-KR" altLang="en-US" sz="900" b="1" dirty="0"/>
                        <a:t>설계 </a:t>
                      </a:r>
                      <a:r>
                        <a:rPr lang="en-US" altLang="ko-KR" sz="900" b="1" dirty="0"/>
                        <a:t>component 12~14</a:t>
                      </a:r>
                      <a:r>
                        <a:rPr lang="ko-KR" altLang="en-US" sz="900" b="1" dirty="0"/>
                        <a:t>개 중 약 </a:t>
                      </a:r>
                      <a:r>
                        <a:rPr lang="en-US" altLang="ko-KR" sz="900" b="1" dirty="0"/>
                        <a:t>1/3(5</a:t>
                      </a:r>
                      <a:r>
                        <a:rPr lang="ko-KR" altLang="en-US" sz="900" b="1" dirty="0"/>
                        <a:t>개</a:t>
                      </a:r>
                      <a:r>
                        <a:rPr lang="en-US" altLang="ko-KR" sz="900" b="1" dirty="0"/>
                        <a:t>)</a:t>
                      </a:r>
                      <a:r>
                        <a:rPr lang="ko-KR" altLang="en-US" sz="900" b="1" dirty="0"/>
                        <a:t>까지만 바뀌면 </a:t>
                      </a:r>
                      <a:r>
                        <a:rPr lang="en-US" altLang="ko-KR" sz="900" b="1" dirty="0"/>
                        <a:t>'</a:t>
                      </a:r>
                      <a:r>
                        <a:rPr lang="ko-KR" altLang="en-US" sz="900" b="1" dirty="0"/>
                        <a:t>변경이 설계 일부에 국한된다</a:t>
                      </a:r>
                      <a:r>
                        <a:rPr lang="en-US" altLang="ko-KR" sz="900" b="1" dirty="0"/>
                        <a:t>’</a:t>
                      </a:r>
                      <a:r>
                        <a:rPr lang="ko-KR" altLang="en-US" sz="900" b="1" dirty="0"/>
                        <a:t>고 간주</a:t>
                      </a:r>
                      <a:r>
                        <a:rPr lang="en-US" altLang="ko-KR" sz="900" b="1" dirty="0"/>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0" dirty="0">
                          <a:solidFill>
                            <a:srgbClr val="000000"/>
                          </a:solidFill>
                          <a:latin typeface="맑은 고딕"/>
                          <a:ea typeface="맑은 고딕"/>
                        </a:rPr>
                        <a:t>DP1 </a:t>
                      </a:r>
                      <a:r>
                        <a:rPr sz="900" b="0" dirty="0" err="1">
                          <a:solidFill>
                            <a:srgbClr val="000000"/>
                          </a:solidFill>
                          <a:latin typeface="맑은 고딕"/>
                          <a:ea typeface="맑은 고딕"/>
                        </a:rPr>
                        <a:t>사전</a:t>
                      </a:r>
                      <a:r>
                        <a:rPr sz="900" b="0" dirty="0">
                          <a:solidFill>
                            <a:srgbClr val="000000"/>
                          </a:solidFill>
                          <a:latin typeface="맑은 고딕"/>
                          <a:ea typeface="맑은 고딕"/>
                        </a:rPr>
                        <a:t> </a:t>
                      </a:r>
                      <a:r>
                        <a:rPr sz="900" b="0" dirty="0" err="1">
                          <a:solidFill>
                            <a:srgbClr val="000000"/>
                          </a:solidFill>
                          <a:latin typeface="맑은 고딕"/>
                          <a:ea typeface="맑은 고딕"/>
                        </a:rPr>
                        <a:t>등록</a:t>
                      </a:r>
                      <a:r>
                        <a:rPr sz="900" b="0" dirty="0">
                          <a:solidFill>
                            <a:srgbClr val="000000"/>
                          </a:solidFill>
                          <a:latin typeface="맑은 고딕"/>
                          <a:ea typeface="맑은 고딕"/>
                        </a:rPr>
                        <a:t> component </a:t>
                      </a:r>
                      <a:r>
                        <a:rPr sz="900" b="0" dirty="0" err="1">
                          <a:solidFill>
                            <a:srgbClr val="000000"/>
                          </a:solidFill>
                          <a:latin typeface="맑은 고딕"/>
                          <a:ea typeface="맑은 고딕"/>
                        </a:rPr>
                        <a:t>목록</a:t>
                      </a:r>
                      <a:r>
                        <a:rPr sz="900" b="0" dirty="0">
                          <a:solidFill>
                            <a:srgbClr val="000000"/>
                          </a:solidFill>
                          <a:latin typeface="맑은 고딕"/>
                          <a:ea typeface="맑은 고딕"/>
                        </a:rPr>
                        <a:t>, </a:t>
                      </a:r>
                      <a:endParaRPr lang="en-US"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vLLM</a:t>
                      </a:r>
                      <a:r>
                        <a:rPr sz="900" b="0" dirty="0">
                          <a:solidFill>
                            <a:srgbClr val="000000"/>
                          </a:solidFill>
                          <a:latin typeface="맑은 고딕"/>
                          <a:ea typeface="맑은 고딕"/>
                        </a:rPr>
                        <a:t> </a:t>
                      </a:r>
                      <a:r>
                        <a:rPr sz="900" b="0" dirty="0" err="1">
                          <a:solidFill>
                            <a:srgbClr val="000000"/>
                          </a:solidFill>
                          <a:latin typeface="맑은 고딕"/>
                          <a:ea typeface="맑은 고딕"/>
                        </a:rPr>
                        <a:t>저장소</a:t>
                      </a:r>
                      <a:r>
                        <a:rPr sz="900" b="0" dirty="0">
                          <a:solidFill>
                            <a:srgbClr val="000000"/>
                          </a:solidFill>
                          <a:latin typeface="맑은 고딕"/>
                          <a:ea typeface="맑은 고딕"/>
                        </a:rPr>
                        <a:t> LOC </a:t>
                      </a:r>
                      <a:r>
                        <a:rPr sz="900" b="0" dirty="0" err="1">
                          <a:solidFill>
                            <a:srgbClr val="000000"/>
                          </a:solidFill>
                          <a:latin typeface="맑은 고딕"/>
                          <a:ea typeface="맑은 고딕"/>
                        </a:rPr>
                        <a:t>계수</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10896">
                <a:tc>
                  <a:txBody>
                    <a:bodyPr/>
                    <a:lstStyle/>
                    <a:p>
                      <a:pPr algn="ctr"/>
                      <a:r>
                        <a:rPr sz="90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ctr"/>
                      <a:r>
                        <a:rPr sz="900" b="0">
                          <a:solidFill>
                            <a:srgbClr val="000000"/>
                          </a:solidFill>
                          <a:latin typeface="맑은 고딕"/>
                          <a:ea typeface="맑은 고딕"/>
                        </a:rPr>
                        <a:t>≥ 6 또는 major interface 변경</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ctr"/>
                      <a:r>
                        <a:rPr sz="900" b="0">
                          <a:solidFill>
                            <a:srgbClr val="000000"/>
                          </a:solidFill>
                          <a:latin typeface="맑은 고딕"/>
                          <a:ea typeface="맑은 고딕"/>
                        </a:rPr>
                        <a:t>&gt;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900" dirty="0"/>
                        <a:t>6</a:t>
                      </a:r>
                      <a:r>
                        <a:rPr lang="ko-KR" altLang="en-US" sz="900" dirty="0"/>
                        <a:t>개 이상이면 변경이 설계 전반으로 퍼져 확장 지점이 없는 구조로 판단</a:t>
                      </a:r>
                      <a:r>
                        <a:rPr lang="en-US" altLang="ko-KR" sz="900" dirty="0"/>
                        <a:t>. </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179" name="formula">
            <a:extLst>
              <a:ext uri="{FF2B5EF4-FFF2-40B4-BE49-F238E27FC236}">
                <a16:creationId xmlns:a16="http://schemas.microsoft.com/office/drawing/2014/main" id="{F29934DD-2034-4406-8F68-7F2300113BB2}"/>
              </a:ext>
            </a:extLst>
          </p:cNvPr>
          <p:cNvSpPr/>
          <p:nvPr/>
        </p:nvSpPr>
        <p:spPr>
          <a:xfrm>
            <a:off x="365760" y="4025263"/>
            <a:ext cx="11457432" cy="804673"/>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1" hangingPunct="1">
              <a:lnSpc>
                <a:spcPct val="110000"/>
              </a:lnSpc>
              <a:spcBef>
                <a:spcPts val="0"/>
              </a:spcBef>
              <a:spcAft>
                <a:spcPts val="0"/>
              </a:spcAft>
              <a:buClrTx/>
              <a:buSzTx/>
              <a:buFontTx/>
              <a:buNone/>
              <a:tabLst/>
              <a:defRPr/>
            </a:pP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module 1</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개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고정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3</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+ 24 LOC ÷ 40 LOC/</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테스트</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리뷰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overhead 2.0 = 4.2</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0.2 MM  →  M/M = 0.2 × module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수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(21</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/MM)</a:t>
            </a:r>
          </a:p>
          <a:p>
            <a:pPr marL="171450" marR="0" lvl="0" indent="-171450" algn="l" defTabSz="914400" rtl="0" eaLnBrk="1" fontAlgn="auto" latinLnBrk="1" hangingPunct="1">
              <a:lnSpc>
                <a:spcPct val="110000"/>
              </a:lnSpc>
              <a:spcBef>
                <a:spcPts val="0"/>
              </a:spcBef>
              <a:spcAft>
                <a:spcPts val="0"/>
              </a:spcAft>
              <a:buClrTx/>
              <a:buSzTx/>
              <a:buFontTx/>
              <a:buChar char="-"/>
              <a:tabLst/>
              <a:defRPr/>
            </a:pP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24 LOC/module: SWE-bench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평균 패치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32.8 line ÷ 1.7 file ≈ 19 LOC/file</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을 올림</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 *</a:t>
            </a:r>
            <a:r>
              <a:rPr lang="en-US" altLang="ko-KR" sz="850" dirty="0">
                <a:solidFill>
                  <a:srgbClr val="404040"/>
                </a:solidFill>
                <a:latin typeface="맑은 고딕"/>
                <a:ea typeface="맑은 고딕"/>
              </a:rPr>
              <a:t>SWE-bench</a:t>
            </a:r>
            <a:r>
              <a:rPr lang="ko-KR" altLang="en-US" sz="850" dirty="0">
                <a:solidFill>
                  <a:srgbClr val="404040"/>
                </a:solidFill>
                <a:latin typeface="맑은 고딕"/>
                <a:ea typeface="맑은 고딕"/>
              </a:rPr>
              <a:t>는 실제 문제</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버그</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구현</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를 풀기 위해 </a:t>
            </a:r>
            <a:r>
              <a:rPr lang="en-US" altLang="ko-KR" sz="850" dirty="0">
                <a:solidFill>
                  <a:srgbClr val="404040"/>
                </a:solidFill>
                <a:latin typeface="맑은 고딕"/>
                <a:ea typeface="맑은 고딕"/>
              </a:rPr>
              <a:t>patch</a:t>
            </a:r>
            <a:r>
              <a:rPr lang="ko-KR" altLang="en-US" sz="850" dirty="0">
                <a:solidFill>
                  <a:srgbClr val="404040"/>
                </a:solidFill>
                <a:latin typeface="맑은 고딕"/>
                <a:ea typeface="맑은 고딕"/>
              </a:rPr>
              <a:t>를 올리는 벤치마크로 </a:t>
            </a:r>
            <a:r>
              <a:rPr lang="en-US" altLang="ko-KR" sz="850" dirty="0">
                <a:solidFill>
                  <a:srgbClr val="404040"/>
                </a:solidFill>
                <a:latin typeface="맑은 고딕"/>
                <a:ea typeface="맑은 고딕"/>
              </a:rPr>
              <a:t>SW </a:t>
            </a:r>
            <a:r>
              <a:rPr lang="ko-KR" altLang="en-US" sz="850" dirty="0">
                <a:solidFill>
                  <a:srgbClr val="404040"/>
                </a:solidFill>
                <a:latin typeface="맑은 고딕"/>
                <a:ea typeface="맑은 고딕"/>
              </a:rPr>
              <a:t>구현에 대한 참고 가능 </a:t>
            </a:r>
            <a:endParaRPr lang="en-US" altLang="ko-KR" sz="850" dirty="0">
              <a:solidFill>
                <a:srgbClr val="404040"/>
              </a:solidFill>
              <a:latin typeface="맑은 고딕"/>
              <a:ea typeface="맑은 고딕"/>
            </a:endParaRPr>
          </a:p>
          <a:p>
            <a:pPr marL="171450" marR="0" lvl="0" indent="-171450" algn="l" defTabSz="914400" rtl="0" eaLnBrk="1" fontAlgn="auto" latinLnBrk="1" hangingPunct="1">
              <a:lnSpc>
                <a:spcPct val="110000"/>
              </a:lnSpc>
              <a:spcBef>
                <a:spcPts val="0"/>
              </a:spcBef>
              <a:spcAft>
                <a:spcPts val="0"/>
              </a:spcAft>
              <a:buClrTx/>
              <a:buSzTx/>
              <a:buFontTx/>
              <a:buChar char="-"/>
              <a:tabLst/>
              <a:defRPr/>
            </a:pP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하루 생산성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40 LOC: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테스트</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리뷰를 뺀 순 생산성 가정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참고 출처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a:t>
            </a:r>
          </a:p>
          <a:p>
            <a:pPr marL="171450" indent="-171450">
              <a:lnSpc>
                <a:spcPct val="110000"/>
              </a:lnSpc>
              <a:buFontTx/>
              <a:buChar char="-"/>
              <a:defRPr/>
            </a:pPr>
            <a:r>
              <a:rPr lang="ko-KR" altLang="en-US" sz="850" dirty="0">
                <a:solidFill>
                  <a:srgbClr val="404040"/>
                </a:solidFill>
                <a:latin typeface="맑은 고딕"/>
                <a:ea typeface="맑은 고딕"/>
              </a:rPr>
              <a:t>고정 </a:t>
            </a:r>
            <a:r>
              <a:rPr lang="en-US" altLang="ko-KR" sz="850" dirty="0">
                <a:solidFill>
                  <a:srgbClr val="404040"/>
                </a:solidFill>
                <a:latin typeface="맑은 고딕"/>
                <a:ea typeface="맑은 고딕"/>
              </a:rPr>
              <a:t>3</a:t>
            </a:r>
            <a:r>
              <a:rPr lang="ko-KR" altLang="en-US" sz="850" dirty="0">
                <a:solidFill>
                  <a:srgbClr val="404040"/>
                </a:solidFill>
                <a:latin typeface="맑은 고딕"/>
                <a:ea typeface="맑은 고딕"/>
              </a:rPr>
              <a:t>일</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모듈</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모듈 하나를 바꿀 때 </a:t>
            </a:r>
            <a:r>
              <a:rPr lang="en-US" altLang="ko-KR" sz="850" dirty="0">
                <a:solidFill>
                  <a:srgbClr val="404040"/>
                </a:solidFill>
                <a:latin typeface="맑은 고딕"/>
                <a:ea typeface="맑은 고딕"/>
              </a:rPr>
              <a:t>LOC</a:t>
            </a:r>
            <a:r>
              <a:rPr lang="ko-KR" altLang="en-US" sz="850" dirty="0">
                <a:solidFill>
                  <a:srgbClr val="404040"/>
                </a:solidFill>
                <a:latin typeface="맑은 고딕"/>
                <a:ea typeface="맑은 고딕"/>
              </a:rPr>
              <a:t>와 무관하게 </a:t>
            </a:r>
            <a:r>
              <a:rPr lang="en-US" altLang="ko-KR" sz="850" dirty="0">
                <a:solidFill>
                  <a:srgbClr val="404040"/>
                </a:solidFill>
                <a:latin typeface="맑은 고딕"/>
                <a:ea typeface="맑은 고딕"/>
              </a:rPr>
              <a:t>interface </a:t>
            </a:r>
            <a:r>
              <a:rPr lang="ko-KR" altLang="en-US" sz="850" dirty="0">
                <a:solidFill>
                  <a:srgbClr val="404040"/>
                </a:solidFill>
                <a:latin typeface="맑은 고딕"/>
                <a:ea typeface="맑은 고딕"/>
              </a:rPr>
              <a:t>파악</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설계 리뷰</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통합 테스트에</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해당하는 공수 비용 가정</a:t>
            </a:r>
            <a:r>
              <a:rPr lang="en-US" altLang="ko-KR" sz="850" dirty="0">
                <a:solidFill>
                  <a:srgbClr val="404040"/>
                </a:solidFill>
                <a:latin typeface="맑은 고딕"/>
                <a:ea typeface="맑은 고딕"/>
              </a:rPr>
              <a:t>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참고 출처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a:t>
            </a:r>
          </a:p>
        </p:txBody>
      </p:sp>
      <p:sp>
        <p:nvSpPr>
          <p:cNvPr id="182" name="TextBox 181">
            <a:extLst>
              <a:ext uri="{FF2B5EF4-FFF2-40B4-BE49-F238E27FC236}">
                <a16:creationId xmlns:a16="http://schemas.microsoft.com/office/drawing/2014/main" id="{9262CE36-B349-4F18-AEC6-11E15248016A}"/>
              </a:ext>
            </a:extLst>
          </p:cNvPr>
          <p:cNvSpPr txBox="1"/>
          <p:nvPr/>
        </p:nvSpPr>
        <p:spPr>
          <a:xfrm>
            <a:off x="365760" y="4985385"/>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변경</a:t>
            </a:r>
            <a:r>
              <a:rPr sz="950" b="1" dirty="0">
                <a:solidFill>
                  <a:srgbClr val="2F5597"/>
                </a:solidFill>
                <a:latin typeface="맑은 고딕"/>
                <a:ea typeface="맑은 고딕"/>
              </a:rPr>
              <a:t> module 수</a:t>
            </a:r>
          </a:p>
        </p:txBody>
      </p:sp>
      <p:sp>
        <p:nvSpPr>
          <p:cNvPr id="183" name="Rectangle 18">
            <a:extLst>
              <a:ext uri="{FF2B5EF4-FFF2-40B4-BE49-F238E27FC236}">
                <a16:creationId xmlns:a16="http://schemas.microsoft.com/office/drawing/2014/main" id="{32497ED0-F4F0-4BCB-80D5-7713187A6D52}"/>
              </a:ext>
            </a:extLst>
          </p:cNvPr>
          <p:cNvSpPr/>
          <p:nvPr/>
        </p:nvSpPr>
        <p:spPr>
          <a:xfrm>
            <a:off x="8510451" y="5223129"/>
            <a:ext cx="3239588"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a:extLst>
              <a:ext uri="{FF2B5EF4-FFF2-40B4-BE49-F238E27FC236}">
                <a16:creationId xmlns:a16="http://schemas.microsoft.com/office/drawing/2014/main" id="{57CED743-868C-46F4-892C-9CA6E1ECBF2C}"/>
              </a:ext>
            </a:extLst>
          </p:cNvPr>
          <p:cNvSpPr txBox="1"/>
          <p:nvPr/>
        </p:nvSpPr>
        <p:spPr>
          <a:xfrm>
            <a:off x="8510451" y="5223129"/>
            <a:ext cx="323958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185" name="Rectangle 20">
            <a:extLst>
              <a:ext uri="{FF2B5EF4-FFF2-40B4-BE49-F238E27FC236}">
                <a16:creationId xmlns:a16="http://schemas.microsoft.com/office/drawing/2014/main" id="{587879DB-460E-4073-A655-70D20571643D}"/>
              </a:ext>
            </a:extLst>
          </p:cNvPr>
          <p:cNvSpPr/>
          <p:nvPr/>
        </p:nvSpPr>
        <p:spPr>
          <a:xfrm>
            <a:off x="7700554" y="5223129"/>
            <a:ext cx="809897"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2B52C54-65AA-4215-BFEF-2E93A72C9DF0}"/>
              </a:ext>
            </a:extLst>
          </p:cNvPr>
          <p:cNvSpPr txBox="1"/>
          <p:nvPr/>
        </p:nvSpPr>
        <p:spPr>
          <a:xfrm>
            <a:off x="7700554" y="5223129"/>
            <a:ext cx="80989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187" name="Rectangle 22">
            <a:extLst>
              <a:ext uri="{FF2B5EF4-FFF2-40B4-BE49-F238E27FC236}">
                <a16:creationId xmlns:a16="http://schemas.microsoft.com/office/drawing/2014/main" id="{704A3354-9CE1-4967-8783-7F5D883C880F}"/>
              </a:ext>
            </a:extLst>
          </p:cNvPr>
          <p:cNvSpPr/>
          <p:nvPr/>
        </p:nvSpPr>
        <p:spPr>
          <a:xfrm>
            <a:off x="6890657" y="5223129"/>
            <a:ext cx="809897"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a:extLst>
              <a:ext uri="{FF2B5EF4-FFF2-40B4-BE49-F238E27FC236}">
                <a16:creationId xmlns:a16="http://schemas.microsoft.com/office/drawing/2014/main" id="{F172043A-3788-4D17-8F26-A1975C28494A}"/>
              </a:ext>
            </a:extLst>
          </p:cNvPr>
          <p:cNvSpPr txBox="1"/>
          <p:nvPr/>
        </p:nvSpPr>
        <p:spPr>
          <a:xfrm>
            <a:off x="6890657" y="5223129"/>
            <a:ext cx="80989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189" name="Rectangle 24">
            <a:extLst>
              <a:ext uri="{FF2B5EF4-FFF2-40B4-BE49-F238E27FC236}">
                <a16:creationId xmlns:a16="http://schemas.microsoft.com/office/drawing/2014/main" id="{9AB53739-9FE5-4E90-9D24-C873FC2AA1EE}"/>
              </a:ext>
            </a:extLst>
          </p:cNvPr>
          <p:cNvSpPr/>
          <p:nvPr/>
        </p:nvSpPr>
        <p:spPr>
          <a:xfrm>
            <a:off x="5270862" y="5223129"/>
            <a:ext cx="1619794"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5BFA7BC4-04A3-48B4-A609-7890651E9C85}"/>
              </a:ext>
            </a:extLst>
          </p:cNvPr>
          <p:cNvSpPr txBox="1"/>
          <p:nvPr/>
        </p:nvSpPr>
        <p:spPr>
          <a:xfrm>
            <a:off x="5270862"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191" name="Rectangle 26">
            <a:extLst>
              <a:ext uri="{FF2B5EF4-FFF2-40B4-BE49-F238E27FC236}">
                <a16:creationId xmlns:a16="http://schemas.microsoft.com/office/drawing/2014/main" id="{C42D9C0F-B6E4-423D-9B9D-91C630D169E2}"/>
              </a:ext>
            </a:extLst>
          </p:cNvPr>
          <p:cNvSpPr/>
          <p:nvPr/>
        </p:nvSpPr>
        <p:spPr>
          <a:xfrm>
            <a:off x="3651068" y="5223129"/>
            <a:ext cx="1619794"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a:extLst>
              <a:ext uri="{FF2B5EF4-FFF2-40B4-BE49-F238E27FC236}">
                <a16:creationId xmlns:a16="http://schemas.microsoft.com/office/drawing/2014/main" id="{1F5EB386-E19B-4202-B2E9-57CF33760348}"/>
              </a:ext>
            </a:extLst>
          </p:cNvPr>
          <p:cNvSpPr txBox="1"/>
          <p:nvPr/>
        </p:nvSpPr>
        <p:spPr>
          <a:xfrm>
            <a:off x="3651068"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193" name="Rectangle 28">
            <a:extLst>
              <a:ext uri="{FF2B5EF4-FFF2-40B4-BE49-F238E27FC236}">
                <a16:creationId xmlns:a16="http://schemas.microsoft.com/office/drawing/2014/main" id="{A15FB515-E1B7-4D6B-AD06-745CCF903C63}"/>
              </a:ext>
            </a:extLst>
          </p:cNvPr>
          <p:cNvSpPr/>
          <p:nvPr/>
        </p:nvSpPr>
        <p:spPr>
          <a:xfrm>
            <a:off x="411480" y="5223129"/>
            <a:ext cx="3239588"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a:extLst>
              <a:ext uri="{FF2B5EF4-FFF2-40B4-BE49-F238E27FC236}">
                <a16:creationId xmlns:a16="http://schemas.microsoft.com/office/drawing/2014/main" id="{0717756F-8A95-4DFD-B0AE-1204EC0EF4AF}"/>
              </a:ext>
            </a:extLst>
          </p:cNvPr>
          <p:cNvSpPr txBox="1"/>
          <p:nvPr/>
        </p:nvSpPr>
        <p:spPr>
          <a:xfrm>
            <a:off x="411480" y="5223129"/>
            <a:ext cx="323958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195" name="TextBox 194">
            <a:extLst>
              <a:ext uri="{FF2B5EF4-FFF2-40B4-BE49-F238E27FC236}">
                <a16:creationId xmlns:a16="http://schemas.microsoft.com/office/drawing/2014/main" id="{49FE62CD-E4F0-4ECA-B36E-D7772FB46DD6}"/>
              </a:ext>
            </a:extLst>
          </p:cNvPr>
          <p:cNvSpPr txBox="1"/>
          <p:nvPr/>
        </p:nvSpPr>
        <p:spPr>
          <a:xfrm>
            <a:off x="11430000"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196" name="TextBox 195">
            <a:extLst>
              <a:ext uri="{FF2B5EF4-FFF2-40B4-BE49-F238E27FC236}">
                <a16:creationId xmlns:a16="http://schemas.microsoft.com/office/drawing/2014/main" id="{3DE852E4-7793-4D50-B212-1FF013856054}"/>
              </a:ext>
            </a:extLst>
          </p:cNvPr>
          <p:cNvSpPr txBox="1"/>
          <p:nvPr/>
        </p:nvSpPr>
        <p:spPr>
          <a:xfrm>
            <a:off x="9810205"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197" name="TextBox 196">
            <a:extLst>
              <a:ext uri="{FF2B5EF4-FFF2-40B4-BE49-F238E27FC236}">
                <a16:creationId xmlns:a16="http://schemas.microsoft.com/office/drawing/2014/main" id="{D33C6A71-83EB-45B7-9331-C5528D998A9A}"/>
              </a:ext>
            </a:extLst>
          </p:cNvPr>
          <p:cNvSpPr txBox="1"/>
          <p:nvPr/>
        </p:nvSpPr>
        <p:spPr>
          <a:xfrm>
            <a:off x="8190411"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a:t>
            </a:r>
          </a:p>
        </p:txBody>
      </p:sp>
      <p:sp>
        <p:nvSpPr>
          <p:cNvPr id="198" name="TextBox 197">
            <a:extLst>
              <a:ext uri="{FF2B5EF4-FFF2-40B4-BE49-F238E27FC236}">
                <a16:creationId xmlns:a16="http://schemas.microsoft.com/office/drawing/2014/main" id="{A512C27A-5EC7-405B-A33E-580D537C8395}"/>
              </a:ext>
            </a:extLst>
          </p:cNvPr>
          <p:cNvSpPr txBox="1"/>
          <p:nvPr/>
        </p:nvSpPr>
        <p:spPr>
          <a:xfrm>
            <a:off x="6570617"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199" name="TextBox 198">
            <a:extLst>
              <a:ext uri="{FF2B5EF4-FFF2-40B4-BE49-F238E27FC236}">
                <a16:creationId xmlns:a16="http://schemas.microsoft.com/office/drawing/2014/main" id="{A2859D76-37B4-4E4A-B508-22B1546E2A37}"/>
              </a:ext>
            </a:extLst>
          </p:cNvPr>
          <p:cNvSpPr txBox="1"/>
          <p:nvPr/>
        </p:nvSpPr>
        <p:spPr>
          <a:xfrm>
            <a:off x="4950822"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a:t>
            </a:r>
          </a:p>
        </p:txBody>
      </p:sp>
      <p:sp>
        <p:nvSpPr>
          <p:cNvPr id="200" name="TextBox 199">
            <a:extLst>
              <a:ext uri="{FF2B5EF4-FFF2-40B4-BE49-F238E27FC236}">
                <a16:creationId xmlns:a16="http://schemas.microsoft.com/office/drawing/2014/main" id="{7183B600-5CA8-4E77-8645-FE22BBAFFAFB}"/>
              </a:ext>
            </a:extLst>
          </p:cNvPr>
          <p:cNvSpPr txBox="1"/>
          <p:nvPr/>
        </p:nvSpPr>
        <p:spPr>
          <a:xfrm>
            <a:off x="3331028"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5</a:t>
            </a:r>
          </a:p>
        </p:txBody>
      </p:sp>
      <p:sp>
        <p:nvSpPr>
          <p:cNvPr id="201" name="TextBox 200">
            <a:extLst>
              <a:ext uri="{FF2B5EF4-FFF2-40B4-BE49-F238E27FC236}">
                <a16:creationId xmlns:a16="http://schemas.microsoft.com/office/drawing/2014/main" id="{279F3326-23F0-4B98-B3DB-586918148F13}"/>
              </a:ext>
            </a:extLst>
          </p:cNvPr>
          <p:cNvSpPr txBox="1"/>
          <p:nvPr/>
        </p:nvSpPr>
        <p:spPr>
          <a:xfrm>
            <a:off x="1711234"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a:t>
            </a:r>
          </a:p>
        </p:txBody>
      </p:sp>
      <p:sp>
        <p:nvSpPr>
          <p:cNvPr id="202" name="TextBox 201">
            <a:extLst>
              <a:ext uri="{FF2B5EF4-FFF2-40B4-BE49-F238E27FC236}">
                <a16:creationId xmlns:a16="http://schemas.microsoft.com/office/drawing/2014/main" id="{CA126443-3C97-4E26-9660-5E0D5C1DF432}"/>
              </a:ext>
            </a:extLst>
          </p:cNvPr>
          <p:cNvSpPr txBox="1"/>
          <p:nvPr/>
        </p:nvSpPr>
        <p:spPr>
          <a:xfrm>
            <a:off x="91440"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a:t>
            </a:r>
          </a:p>
        </p:txBody>
      </p:sp>
      <p:cxnSp>
        <p:nvCxnSpPr>
          <p:cNvPr id="203" name="Connector 38">
            <a:extLst>
              <a:ext uri="{FF2B5EF4-FFF2-40B4-BE49-F238E27FC236}">
                <a16:creationId xmlns:a16="http://schemas.microsoft.com/office/drawing/2014/main" id="{BEA81FFB-C751-40A9-9E56-6B4208EDE892}"/>
              </a:ext>
            </a:extLst>
          </p:cNvPr>
          <p:cNvCxnSpPr/>
          <p:nvPr/>
        </p:nvCxnSpPr>
        <p:spPr>
          <a:xfrm>
            <a:off x="8510451"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4" name="Connector 39">
            <a:extLst>
              <a:ext uri="{FF2B5EF4-FFF2-40B4-BE49-F238E27FC236}">
                <a16:creationId xmlns:a16="http://schemas.microsoft.com/office/drawing/2014/main" id="{FF385D5C-49BC-42A1-80F3-91EF3E3ECEB8}"/>
              </a:ext>
            </a:extLst>
          </p:cNvPr>
          <p:cNvCxnSpPr/>
          <p:nvPr/>
        </p:nvCxnSpPr>
        <p:spPr>
          <a:xfrm>
            <a:off x="7700554"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5" name="Connector 40">
            <a:extLst>
              <a:ext uri="{FF2B5EF4-FFF2-40B4-BE49-F238E27FC236}">
                <a16:creationId xmlns:a16="http://schemas.microsoft.com/office/drawing/2014/main" id="{7019DA8E-10E6-43C8-9FC7-7C71414CE9AB}"/>
              </a:ext>
            </a:extLst>
          </p:cNvPr>
          <p:cNvCxnSpPr/>
          <p:nvPr/>
        </p:nvCxnSpPr>
        <p:spPr>
          <a:xfrm>
            <a:off x="6890657"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6" name="Connector 41">
            <a:extLst>
              <a:ext uri="{FF2B5EF4-FFF2-40B4-BE49-F238E27FC236}">
                <a16:creationId xmlns:a16="http://schemas.microsoft.com/office/drawing/2014/main" id="{CE3E01AA-BCCE-47A6-B5BA-0A0A13FA6FE6}"/>
              </a:ext>
            </a:extLst>
          </p:cNvPr>
          <p:cNvCxnSpPr/>
          <p:nvPr/>
        </p:nvCxnSpPr>
        <p:spPr>
          <a:xfrm>
            <a:off x="5270862"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7" name="Connector 42">
            <a:extLst>
              <a:ext uri="{FF2B5EF4-FFF2-40B4-BE49-F238E27FC236}">
                <a16:creationId xmlns:a16="http://schemas.microsoft.com/office/drawing/2014/main" id="{61138C0E-2DC6-4373-AD83-51961EB5AD0B}"/>
              </a:ext>
            </a:extLst>
          </p:cNvPr>
          <p:cNvCxnSpPr/>
          <p:nvPr/>
        </p:nvCxnSpPr>
        <p:spPr>
          <a:xfrm>
            <a:off x="3651068"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208" name="Oval 43">
            <a:extLst>
              <a:ext uri="{FF2B5EF4-FFF2-40B4-BE49-F238E27FC236}">
                <a16:creationId xmlns:a16="http://schemas.microsoft.com/office/drawing/2014/main" id="{D9927751-CCF9-4469-AA54-79231E62C0F9}"/>
              </a:ext>
            </a:extLst>
          </p:cNvPr>
          <p:cNvSpPr/>
          <p:nvPr/>
        </p:nvSpPr>
        <p:spPr>
          <a:xfrm>
            <a:off x="8946097" y="5694045"/>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TextBox 208">
            <a:extLst>
              <a:ext uri="{FF2B5EF4-FFF2-40B4-BE49-F238E27FC236}">
                <a16:creationId xmlns:a16="http://schemas.microsoft.com/office/drawing/2014/main" id="{29402C03-2F59-4A86-9265-19A3A195FC89}"/>
              </a:ext>
            </a:extLst>
          </p:cNvPr>
          <p:cNvSpPr txBox="1"/>
          <p:nvPr/>
        </p:nvSpPr>
        <p:spPr>
          <a:xfrm>
            <a:off x="5988013" y="5652897"/>
            <a:ext cx="2935224" cy="182880"/>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SWE-bench 평균 패치 1.7 file (★3 경계 2 module ≈ 0.4 MM)</a:t>
            </a:r>
          </a:p>
        </p:txBody>
      </p:sp>
      <p:sp>
        <p:nvSpPr>
          <p:cNvPr id="210" name="Isosceles Triangle 45">
            <a:extLst>
              <a:ext uri="{FF2B5EF4-FFF2-40B4-BE49-F238E27FC236}">
                <a16:creationId xmlns:a16="http://schemas.microsoft.com/office/drawing/2014/main" id="{E38519E5-B38D-4161-9565-459F3D3B8E3A}"/>
              </a:ext>
            </a:extLst>
          </p:cNvPr>
          <p:cNvSpPr/>
          <p:nvPr/>
        </p:nvSpPr>
        <p:spPr>
          <a:xfrm>
            <a:off x="6831221" y="5872353"/>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TextBox 210">
            <a:extLst>
              <a:ext uri="{FF2B5EF4-FFF2-40B4-BE49-F238E27FC236}">
                <a16:creationId xmlns:a16="http://schemas.microsoft.com/office/drawing/2014/main" id="{D0BC4D31-A518-425A-80C3-F5F8885DE7D3}"/>
              </a:ext>
            </a:extLst>
          </p:cNvPr>
          <p:cNvSpPr txBox="1"/>
          <p:nvPr/>
        </p:nvSpPr>
        <p:spPr>
          <a:xfrm>
            <a:off x="6963809" y="5835777"/>
            <a:ext cx="2702052" cy="182880"/>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★2 경계 3 module ≈ 0.6 MM · component 12~14개의 1/4</a:t>
            </a:r>
          </a:p>
        </p:txBody>
      </p:sp>
      <p:sp>
        <p:nvSpPr>
          <p:cNvPr id="212" name="Diamond 47">
            <a:extLst>
              <a:ext uri="{FF2B5EF4-FFF2-40B4-BE49-F238E27FC236}">
                <a16:creationId xmlns:a16="http://schemas.microsoft.com/office/drawing/2014/main" id="{161FA3B8-5E6C-4D94-9086-2C71A5169386}"/>
              </a:ext>
            </a:extLst>
          </p:cNvPr>
          <p:cNvSpPr/>
          <p:nvPr/>
        </p:nvSpPr>
        <p:spPr>
          <a:xfrm>
            <a:off x="3591632" y="6050661"/>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TextBox 212">
            <a:extLst>
              <a:ext uri="{FF2B5EF4-FFF2-40B4-BE49-F238E27FC236}">
                <a16:creationId xmlns:a16="http://schemas.microsoft.com/office/drawing/2014/main" id="{E6DD7BAE-D2A8-4023-8A24-AFD27BCCD2BD}"/>
              </a:ext>
            </a:extLst>
          </p:cNvPr>
          <p:cNvSpPr txBox="1"/>
          <p:nvPr/>
        </p:nvSpPr>
        <p:spPr>
          <a:xfrm>
            <a:off x="3724220" y="6018657"/>
            <a:ext cx="3429000" cy="182880"/>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★1 경계 5 module ≈ 1.0 MM(1인 1개월) · component 12~14개 중 36~42%</a:t>
            </a:r>
          </a:p>
        </p:txBody>
      </p:sp>
      <p:sp>
        <p:nvSpPr>
          <p:cNvPr id="214" name="Oval 49">
            <a:extLst>
              <a:ext uri="{FF2B5EF4-FFF2-40B4-BE49-F238E27FC236}">
                <a16:creationId xmlns:a16="http://schemas.microsoft.com/office/drawing/2014/main" id="{5EA7809C-DB2D-412C-8A34-5AC64E2CE768}"/>
              </a:ext>
            </a:extLst>
          </p:cNvPr>
          <p:cNvSpPr/>
          <p:nvPr/>
        </p:nvSpPr>
        <p:spPr>
          <a:xfrm>
            <a:off x="384048" y="6288405"/>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TextBox 214">
            <a:extLst>
              <a:ext uri="{FF2B5EF4-FFF2-40B4-BE49-F238E27FC236}">
                <a16:creationId xmlns:a16="http://schemas.microsoft.com/office/drawing/2014/main" id="{0CD48204-B247-420C-B505-B7BCD699432F}"/>
              </a:ext>
            </a:extLst>
          </p:cNvPr>
          <p:cNvSpPr txBox="1"/>
          <p:nvPr/>
        </p:nvSpPr>
        <p:spPr>
          <a:xfrm>
            <a:off x="502920" y="6247257"/>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216" name="Diamond 51">
            <a:extLst>
              <a:ext uri="{FF2B5EF4-FFF2-40B4-BE49-F238E27FC236}">
                <a16:creationId xmlns:a16="http://schemas.microsoft.com/office/drawing/2014/main" id="{09417F8E-EA52-4BE8-9005-6EFD37EF0523}"/>
              </a:ext>
            </a:extLst>
          </p:cNvPr>
          <p:cNvSpPr/>
          <p:nvPr/>
        </p:nvSpPr>
        <p:spPr>
          <a:xfrm>
            <a:off x="1539748" y="6288405"/>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TextBox 216">
            <a:extLst>
              <a:ext uri="{FF2B5EF4-FFF2-40B4-BE49-F238E27FC236}">
                <a16:creationId xmlns:a16="http://schemas.microsoft.com/office/drawing/2014/main" id="{91672559-0068-4769-8A2C-7C3F202C1120}"/>
              </a:ext>
            </a:extLst>
          </p:cNvPr>
          <p:cNvSpPr txBox="1"/>
          <p:nvPr/>
        </p:nvSpPr>
        <p:spPr>
          <a:xfrm>
            <a:off x="1658620" y="6247257"/>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218" name="Isosceles Triangle 53">
            <a:extLst>
              <a:ext uri="{FF2B5EF4-FFF2-40B4-BE49-F238E27FC236}">
                <a16:creationId xmlns:a16="http://schemas.microsoft.com/office/drawing/2014/main" id="{E1D18DB0-7933-4CF8-A75A-53FCA2129A2A}"/>
              </a:ext>
            </a:extLst>
          </p:cNvPr>
          <p:cNvSpPr/>
          <p:nvPr/>
        </p:nvSpPr>
        <p:spPr>
          <a:xfrm>
            <a:off x="3028823" y="6288405"/>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Box 218">
            <a:extLst>
              <a:ext uri="{FF2B5EF4-FFF2-40B4-BE49-F238E27FC236}">
                <a16:creationId xmlns:a16="http://schemas.microsoft.com/office/drawing/2014/main" id="{DA8CDC5B-01C0-43C1-9CB8-5274CE7EC970}"/>
              </a:ext>
            </a:extLst>
          </p:cNvPr>
          <p:cNvSpPr txBox="1"/>
          <p:nvPr/>
        </p:nvSpPr>
        <p:spPr>
          <a:xfrm>
            <a:off x="3147695" y="6247257"/>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220" name="Oval 55">
            <a:extLst>
              <a:ext uri="{FF2B5EF4-FFF2-40B4-BE49-F238E27FC236}">
                <a16:creationId xmlns:a16="http://schemas.microsoft.com/office/drawing/2014/main" id="{0D68BF76-CB3C-462E-B2A6-7002B3FD43CC}"/>
              </a:ext>
            </a:extLst>
          </p:cNvPr>
          <p:cNvSpPr/>
          <p:nvPr/>
        </p:nvSpPr>
        <p:spPr>
          <a:xfrm>
            <a:off x="3753358" y="6288405"/>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TextBox 220">
            <a:extLst>
              <a:ext uri="{FF2B5EF4-FFF2-40B4-BE49-F238E27FC236}">
                <a16:creationId xmlns:a16="http://schemas.microsoft.com/office/drawing/2014/main" id="{CC7BBA26-4092-453F-9A3A-5C8D222AC65F}"/>
              </a:ext>
            </a:extLst>
          </p:cNvPr>
          <p:cNvSpPr txBox="1"/>
          <p:nvPr/>
        </p:nvSpPr>
        <p:spPr>
          <a:xfrm>
            <a:off x="3872230" y="6247257"/>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50" name="실행 단추: 뒤로 또는 이전 49">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54" name="실행 단추: 뒤로 또는 이전 53">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1122340138"/>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변경</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174" name="subtitle">
            <a:extLst>
              <a:ext uri="{FF2B5EF4-FFF2-40B4-BE49-F238E27FC236}">
                <a16:creationId xmlns:a16="http://schemas.microsoft.com/office/drawing/2014/main" id="{96FE6872-F9E7-4752-A040-5DCE3EE8BACF}"/>
              </a:ext>
            </a:extLst>
          </p:cNvPr>
          <p:cNvSpPr txBox="1"/>
          <p:nvPr/>
        </p:nvSpPr>
        <p:spPr>
          <a:xfrm>
            <a:off x="365760" y="676656"/>
            <a:ext cx="9613127" cy="243143"/>
          </a:xfrm>
          <a:prstGeom prst="rect">
            <a:avLst/>
          </a:prstGeom>
          <a:noFill/>
        </p:spPr>
        <p:txBody>
          <a:bodyPr wrap="square" lIns="73152" tIns="36576" rIns="73152" bIns="36576" anchor="t">
            <a:spAutoFit/>
          </a:bodyPr>
          <a:lstStyle/>
          <a:p>
            <a:pPr algn="l">
              <a:spcAft>
                <a:spcPts val="250"/>
              </a:spcAft>
            </a:pP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수</a:t>
            </a:r>
            <a:r>
              <a:rPr lang="en-US" sz="1100" b="0" dirty="0">
                <a:solidFill>
                  <a:srgbClr val="404040"/>
                </a:solidFill>
                <a:latin typeface="맑은 고딕"/>
                <a:ea typeface="맑은 고딕"/>
              </a:rPr>
              <a:t> (</a:t>
            </a:r>
            <a:r>
              <a:rPr lang="ko-KR" altLang="en-US" sz="1100" b="0" dirty="0">
                <a:solidFill>
                  <a:srgbClr val="404040"/>
                </a:solidFill>
                <a:latin typeface="맑은 고딕"/>
                <a:ea typeface="맑은 고딕"/>
              </a:rPr>
              <a:t>개발 공수 </a:t>
            </a:r>
            <a:r>
              <a:rPr lang="en-US" altLang="ko-KR" sz="1100" b="0" dirty="0">
                <a:solidFill>
                  <a:srgbClr val="404040"/>
                </a:solidFill>
                <a:latin typeface="맑은 고딕"/>
                <a:ea typeface="맑은 고딕"/>
              </a:rPr>
              <a:t>M/M </a:t>
            </a:r>
            <a:r>
              <a:rPr lang="ko-KR" altLang="en-US" sz="1100" b="0" dirty="0">
                <a:solidFill>
                  <a:srgbClr val="404040"/>
                </a:solidFill>
                <a:latin typeface="맑은 고딕"/>
                <a:ea typeface="맑은 고딕"/>
              </a:rPr>
              <a:t>참고</a:t>
            </a:r>
            <a:r>
              <a:rPr lang="en-US" altLang="ko-KR" sz="1100" b="0" dirty="0">
                <a:solidFill>
                  <a:srgbClr val="404040"/>
                </a:solidFill>
                <a:latin typeface="맑은 고딕"/>
                <a:ea typeface="맑은 고딕"/>
              </a:rPr>
              <a:t>)</a:t>
            </a:r>
            <a:endParaRPr sz="1100" b="0" dirty="0">
              <a:solidFill>
                <a:srgbClr val="404040"/>
              </a:solidFill>
              <a:latin typeface="맑은 고딕"/>
              <a:ea typeface="맑은 고딕"/>
            </a:endParaRPr>
          </a:p>
        </p:txBody>
      </p:sp>
      <p:sp>
        <p:nvSpPr>
          <p:cNvPr id="175" name="rule">
            <a:extLst>
              <a:ext uri="{FF2B5EF4-FFF2-40B4-BE49-F238E27FC236}">
                <a16:creationId xmlns:a16="http://schemas.microsoft.com/office/drawing/2014/main" id="{8B004F8A-F37F-442E-8003-EC3499BB95E3}"/>
              </a:ext>
            </a:extLst>
          </p:cNvPr>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src">
            <a:extLst>
              <a:ext uri="{FF2B5EF4-FFF2-40B4-BE49-F238E27FC236}">
                <a16:creationId xmlns:a16="http://schemas.microsoft.com/office/drawing/2014/main" id="{3981A347-39E6-4B8E-9D4A-0604100B9CAA}"/>
              </a:ext>
            </a:extLst>
          </p:cNvPr>
          <p:cNvSpPr txBox="1"/>
          <p:nvPr/>
        </p:nvSpPr>
        <p:spPr>
          <a:xfrm>
            <a:off x="365760" y="6478233"/>
            <a:ext cx="11430000" cy="189283"/>
          </a:xfrm>
          <a:prstGeom prst="rect">
            <a:avLst/>
          </a:prstGeom>
          <a:noFill/>
        </p:spPr>
        <p:txBody>
          <a:bodyPr wrap="square" lIns="73152" tIns="36576" rIns="73152" bIns="36576" anchor="t">
            <a:spAutoFit/>
          </a:bodyPr>
          <a:lstStyle/>
          <a:p>
            <a:pPr algn="l">
              <a:spcAft>
                <a:spcPts val="0"/>
              </a:spcAft>
            </a:pPr>
            <a:r>
              <a:rPr sz="750" b="0" dirty="0" err="1">
                <a:solidFill>
                  <a:srgbClr val="404040"/>
                </a:solidFill>
                <a:latin typeface="맑은 고딕"/>
                <a:ea typeface="맑은 고딕"/>
              </a:rPr>
              <a:t>출처</a:t>
            </a:r>
            <a:r>
              <a:rPr sz="750" b="0" dirty="0">
                <a:solidFill>
                  <a:srgbClr val="404040"/>
                </a:solidFill>
                <a:latin typeface="맑은 고딕"/>
                <a:ea typeface="맑은 고딕"/>
              </a:rPr>
              <a:t>: </a:t>
            </a:r>
            <a:r>
              <a:rPr lang="en-US" sz="750" b="0" dirty="0">
                <a:solidFill>
                  <a:srgbClr val="404040"/>
                </a:solidFill>
                <a:latin typeface="맑은 고딕"/>
                <a:ea typeface="맑은 고딕"/>
              </a:rPr>
              <a:t>[1] </a:t>
            </a:r>
            <a:r>
              <a:rPr sz="750" b="0" dirty="0">
                <a:solidFill>
                  <a:srgbClr val="404040"/>
                </a:solidFill>
                <a:latin typeface="맑은 고딕"/>
                <a:ea typeface="맑은 고딕"/>
              </a:rPr>
              <a:t>SWE-bench (</a:t>
            </a:r>
            <a:r>
              <a:rPr sz="750" b="0" dirty="0" err="1">
                <a:solidFill>
                  <a:srgbClr val="404040"/>
                </a:solidFill>
                <a:latin typeface="맑은 고딕"/>
                <a:ea typeface="맑은 고딕"/>
              </a:rPr>
              <a:t>arXiv</a:t>
            </a:r>
            <a:r>
              <a:rPr sz="750" b="0" dirty="0">
                <a:solidFill>
                  <a:srgbClr val="404040"/>
                </a:solidFill>
                <a:latin typeface="맑은 고딕"/>
                <a:ea typeface="맑은 고딕"/>
              </a:rPr>
              <a:t> 2310.06770)</a:t>
            </a:r>
            <a:r>
              <a:rPr lang="en-US" sz="750" b="0" dirty="0">
                <a:solidFill>
                  <a:srgbClr val="404040"/>
                </a:solidFill>
                <a:latin typeface="맑은 고딕"/>
                <a:ea typeface="맑은 고딕"/>
              </a:rPr>
              <a:t>, </a:t>
            </a:r>
            <a:r>
              <a:rPr lang="en-US" sz="750" dirty="0">
                <a:solidFill>
                  <a:srgbClr val="404040"/>
                </a:solidFill>
                <a:latin typeface="맑은 고딕"/>
                <a:ea typeface="맑은 고딕"/>
              </a:rPr>
              <a:t>[2] </a:t>
            </a:r>
            <a:r>
              <a:rPr sz="750" b="0" dirty="0" err="1">
                <a:solidFill>
                  <a:srgbClr val="404040"/>
                </a:solidFill>
                <a:latin typeface="맑은 고딕"/>
                <a:ea typeface="맑은 고딕"/>
              </a:rPr>
              <a:t>vLLM</a:t>
            </a:r>
            <a:r>
              <a:rPr sz="750" b="0" dirty="0">
                <a:solidFill>
                  <a:srgbClr val="404040"/>
                </a:solidFill>
                <a:latin typeface="맑은 고딕"/>
                <a:ea typeface="맑은 고딕"/>
              </a:rPr>
              <a:t> </a:t>
            </a:r>
            <a:r>
              <a:rPr sz="750" b="0" dirty="0" err="1">
                <a:solidFill>
                  <a:srgbClr val="404040"/>
                </a:solidFill>
                <a:latin typeface="맑은 고딕"/>
                <a:ea typeface="맑은 고딕"/>
              </a:rPr>
              <a:t>저장소</a:t>
            </a:r>
            <a:r>
              <a:rPr sz="750" b="0" dirty="0">
                <a:solidFill>
                  <a:srgbClr val="404040"/>
                </a:solidFill>
                <a:latin typeface="맑은 고딕"/>
                <a:ea typeface="맑은 고딕"/>
              </a:rPr>
              <a:t> </a:t>
            </a:r>
            <a:r>
              <a:rPr sz="750" b="0" dirty="0" err="1">
                <a:solidFill>
                  <a:srgbClr val="404040"/>
                </a:solidFill>
                <a:latin typeface="맑은 고딕"/>
                <a:ea typeface="맑은 고딕"/>
              </a:rPr>
              <a:t>kv_connector</a:t>
            </a:r>
            <a:r>
              <a:rPr sz="750" b="0" dirty="0">
                <a:solidFill>
                  <a:srgbClr val="404040"/>
                </a:solidFill>
                <a:latin typeface="맑은 고딕"/>
                <a:ea typeface="맑은 고딕"/>
              </a:rPr>
              <a:t>/v1 </a:t>
            </a:r>
            <a:r>
              <a:rPr sz="750" b="0" dirty="0" err="1">
                <a:solidFill>
                  <a:srgbClr val="404040"/>
                </a:solidFill>
                <a:latin typeface="맑은 고딕"/>
                <a:ea typeface="맑은 고딕"/>
              </a:rPr>
              <a:t>직접</a:t>
            </a:r>
            <a:r>
              <a:rPr sz="750" b="0" dirty="0">
                <a:solidFill>
                  <a:srgbClr val="404040"/>
                </a:solidFill>
                <a:latin typeface="맑은 고딕"/>
                <a:ea typeface="맑은 고딕"/>
              </a:rPr>
              <a:t> </a:t>
            </a:r>
            <a:r>
              <a:rPr sz="750" b="0" dirty="0" err="1">
                <a:solidFill>
                  <a:srgbClr val="404040"/>
                </a:solidFill>
                <a:latin typeface="맑은 고딕"/>
                <a:ea typeface="맑은 고딕"/>
              </a:rPr>
              <a:t>계수</a:t>
            </a:r>
            <a:r>
              <a:rPr sz="750" b="0" dirty="0">
                <a:solidFill>
                  <a:srgbClr val="404040"/>
                </a:solidFill>
                <a:latin typeface="맑은 고딕"/>
                <a:ea typeface="맑은 고딕"/>
              </a:rPr>
              <a:t>(</a:t>
            </a:r>
            <a:r>
              <a:rPr sz="750" b="0" dirty="0" err="1">
                <a:solidFill>
                  <a:srgbClr val="404040"/>
                </a:solidFill>
                <a:latin typeface="맑은 고딕"/>
                <a:ea typeface="맑은 고딕"/>
              </a:rPr>
              <a:t>최상위</a:t>
            </a:r>
            <a:r>
              <a:rPr sz="750" b="0" dirty="0">
                <a:solidFill>
                  <a:srgbClr val="404040"/>
                </a:solidFill>
                <a:latin typeface="맑은 고딕"/>
                <a:ea typeface="맑은 고딕"/>
              </a:rPr>
              <a:t> </a:t>
            </a:r>
            <a:r>
              <a:rPr sz="750" b="0" dirty="0" err="1">
                <a:solidFill>
                  <a:srgbClr val="404040"/>
                </a:solidFill>
                <a:latin typeface="맑은 고딕"/>
                <a:ea typeface="맑은 고딕"/>
              </a:rPr>
              <a:t>파일</a:t>
            </a:r>
            <a:r>
              <a:rPr sz="750" b="0" dirty="0">
                <a:solidFill>
                  <a:srgbClr val="404040"/>
                </a:solidFill>
                <a:latin typeface="맑은 고딕"/>
                <a:ea typeface="맑은 고딕"/>
              </a:rPr>
              <a:t> 192~1,190 LOC, </a:t>
            </a:r>
            <a:r>
              <a:rPr sz="750" b="0" dirty="0" err="1">
                <a:solidFill>
                  <a:srgbClr val="404040"/>
                </a:solidFill>
                <a:latin typeface="맑은 고딕"/>
                <a:ea typeface="맑은 고딕"/>
              </a:rPr>
              <a:t>중앙값</a:t>
            </a:r>
            <a:r>
              <a:rPr sz="750" b="0" dirty="0">
                <a:solidFill>
                  <a:srgbClr val="404040"/>
                </a:solidFill>
                <a:latin typeface="맑은 고딕"/>
                <a:ea typeface="맑은 고딕"/>
              </a:rPr>
              <a:t> 356)</a:t>
            </a:r>
            <a:r>
              <a:rPr lang="en-US" sz="750" b="0" dirty="0">
                <a:solidFill>
                  <a:srgbClr val="404040"/>
                </a:solidFill>
                <a:latin typeface="맑은 고딕"/>
                <a:ea typeface="맑은 고딕"/>
              </a:rPr>
              <a:t>, </a:t>
            </a:r>
            <a:r>
              <a:rPr lang="en-US" sz="750" dirty="0">
                <a:solidFill>
                  <a:srgbClr val="404040"/>
                </a:solidFill>
                <a:latin typeface="맑은 고딕"/>
                <a:ea typeface="맑은 고딕"/>
              </a:rPr>
              <a:t>[3] </a:t>
            </a:r>
            <a:r>
              <a:rPr lang="en-US" sz="750" b="0" dirty="0">
                <a:solidFill>
                  <a:srgbClr val="404040"/>
                </a:solidFill>
                <a:latin typeface="맑은 고딕"/>
                <a:ea typeface="맑은 고딕"/>
              </a:rPr>
              <a:t>Brooks, The Mythical Man-Month </a:t>
            </a:r>
            <a:r>
              <a:rPr lang="ko-KR" altLang="en-US" sz="750" b="0" dirty="0">
                <a:solidFill>
                  <a:srgbClr val="404040"/>
                </a:solidFill>
                <a:latin typeface="맑은 고딕"/>
                <a:ea typeface="맑은 고딕"/>
              </a:rPr>
              <a:t>계열의 </a:t>
            </a:r>
            <a:r>
              <a:rPr lang="en-US" altLang="ko-KR" sz="750" b="0" dirty="0">
                <a:solidFill>
                  <a:srgbClr val="404040"/>
                </a:solidFill>
                <a:latin typeface="맑은 고딕"/>
                <a:ea typeface="맑은 고딕"/>
              </a:rPr>
              <a:t>"</a:t>
            </a:r>
            <a:r>
              <a:rPr lang="ko-KR" altLang="en-US" sz="750" b="0" dirty="0">
                <a:solidFill>
                  <a:srgbClr val="404040"/>
                </a:solidFill>
                <a:latin typeface="맑은 고딕"/>
                <a:ea typeface="맑은 고딕"/>
              </a:rPr>
              <a:t>하루 약 </a:t>
            </a:r>
            <a:r>
              <a:rPr lang="en-US" altLang="ko-KR" sz="750" b="0" dirty="0">
                <a:solidFill>
                  <a:srgbClr val="404040"/>
                </a:solidFill>
                <a:latin typeface="맑은 고딕"/>
                <a:ea typeface="맑은 고딕"/>
              </a:rPr>
              <a:t>10 </a:t>
            </a:r>
            <a:r>
              <a:rPr lang="en-US" sz="750" b="0" dirty="0">
                <a:solidFill>
                  <a:srgbClr val="404040"/>
                </a:solidFill>
                <a:latin typeface="맑은 고딕"/>
                <a:ea typeface="맑은 고딕"/>
              </a:rPr>
              <a:t>LOC“, </a:t>
            </a:r>
            <a:r>
              <a:rPr lang="sv-SE" sz="750" b="0" dirty="0">
                <a:solidFill>
                  <a:srgbClr val="404040"/>
                </a:solidFill>
                <a:latin typeface="맑은 고딕"/>
                <a:ea typeface="맑은 고딕"/>
              </a:rPr>
              <a:t>Poul-Henning Kamp (Varnish), “Going fast slowly”</a:t>
            </a:r>
            <a:endParaRPr sz="750" b="0" dirty="0">
              <a:solidFill>
                <a:srgbClr val="404040"/>
              </a:solidFill>
              <a:latin typeface="맑은 고딕"/>
              <a:ea typeface="맑은 고딕"/>
            </a:endParaRPr>
          </a:p>
        </p:txBody>
      </p:sp>
      <p:sp>
        <p:nvSpPr>
          <p:cNvPr id="177" name="metric">
            <a:extLst>
              <a:ext uri="{FF2B5EF4-FFF2-40B4-BE49-F238E27FC236}">
                <a16:creationId xmlns:a16="http://schemas.microsoft.com/office/drawing/2014/main" id="{9FF12BD0-B85D-4FB1-A847-42958CB3CAFD}"/>
              </a:ext>
            </a:extLst>
          </p:cNvPr>
          <p:cNvSpPr txBox="1"/>
          <p:nvPr/>
        </p:nvSpPr>
        <p:spPr>
          <a:xfrm>
            <a:off x="365760" y="1069848"/>
            <a:ext cx="11430000" cy="495713"/>
          </a:xfrm>
          <a:prstGeom prst="rect">
            <a:avLst/>
          </a:prstGeom>
          <a:noFill/>
        </p:spPr>
        <p:txBody>
          <a:bodyPr wrap="square" lIns="73152" tIns="36576" rIns="73152" bIns="36576" anchor="t">
            <a:spAutoFit/>
          </a:bodyPr>
          <a:lstStyle/>
          <a:p>
            <a:pPr algn="l">
              <a:lnSpc>
                <a:spcPct val="150000"/>
              </a:lnSpc>
              <a:spcAft>
                <a:spcPts val="0"/>
              </a:spcAft>
            </a:pPr>
            <a:r>
              <a:rPr sz="1000" b="1" dirty="0">
                <a:solidFill>
                  <a:srgbClr val="2F5597"/>
                </a:solidFill>
                <a:latin typeface="맑은 고딕"/>
                <a:ea typeface="맑은 고딕"/>
              </a:rPr>
              <a:t>[</a:t>
            </a:r>
            <a:r>
              <a:rPr sz="1000" b="1" dirty="0" err="1">
                <a:solidFill>
                  <a:srgbClr val="2F5597"/>
                </a:solidFill>
                <a:latin typeface="맑은 고딕"/>
                <a:ea typeface="맑은 고딕"/>
              </a:rPr>
              <a:t>변경</a:t>
            </a:r>
            <a:r>
              <a:rPr sz="1000" b="1" dirty="0">
                <a:solidFill>
                  <a:srgbClr val="2F5597"/>
                </a:solidFill>
                <a:latin typeface="맑은 고딕"/>
                <a:ea typeface="맑은 고딕"/>
              </a:rPr>
              <a:t> </a:t>
            </a:r>
            <a:r>
              <a:rPr sz="1000" b="1" dirty="0" err="1">
                <a:solidFill>
                  <a:srgbClr val="2F5597"/>
                </a:solidFill>
                <a:latin typeface="맑은 고딕"/>
                <a:ea typeface="맑은 고딕"/>
              </a:rPr>
              <a:t>시나리오</a:t>
            </a:r>
            <a:r>
              <a:rPr sz="1000" b="1" dirty="0">
                <a:solidFill>
                  <a:srgbClr val="2F5597"/>
                </a:solidFill>
                <a:latin typeface="맑은 고딕"/>
                <a:ea typeface="맑은 고딕"/>
              </a:rPr>
              <a:t> 3종, KV </a:t>
            </a:r>
            <a:r>
              <a:rPr sz="1000" b="1" dirty="0" err="1">
                <a:solidFill>
                  <a:srgbClr val="2F5597"/>
                </a:solidFill>
                <a:latin typeface="맑은 고딕"/>
                <a:ea typeface="맑은 고딕"/>
              </a:rPr>
              <a:t>캐시</a:t>
            </a:r>
            <a:r>
              <a:rPr sz="1000" b="1" dirty="0">
                <a:solidFill>
                  <a:srgbClr val="2F5597"/>
                </a:solidFill>
                <a:latin typeface="맑은 고딕"/>
                <a:ea typeface="맑은 고딕"/>
              </a:rPr>
              <a:t> </a:t>
            </a:r>
            <a:r>
              <a:rPr sz="1000" b="1" dirty="0" err="1">
                <a:solidFill>
                  <a:srgbClr val="2F5597"/>
                </a:solidFill>
                <a:latin typeface="맑은 고딕"/>
                <a:ea typeface="맑은 고딕"/>
              </a:rPr>
              <a:t>관리</a:t>
            </a:r>
            <a:r>
              <a:rPr sz="1000" b="1" dirty="0">
                <a:solidFill>
                  <a:srgbClr val="2F5597"/>
                </a:solidFill>
                <a:latin typeface="맑은 고딕"/>
                <a:ea typeface="맑은 고딕"/>
              </a:rPr>
              <a:t> </a:t>
            </a:r>
            <a:r>
              <a:rPr sz="1000" b="1" dirty="0" err="1">
                <a:solidFill>
                  <a:srgbClr val="2F5597"/>
                </a:solidFill>
                <a:latin typeface="맑은 고딕"/>
                <a:ea typeface="맑은 고딕"/>
              </a:rPr>
              <a:t>범위</a:t>
            </a:r>
            <a:r>
              <a:rPr sz="1000" b="1" dirty="0">
                <a:solidFill>
                  <a:srgbClr val="2F5597"/>
                </a:solidFill>
                <a:latin typeface="맑은 고딕"/>
                <a:ea typeface="맑은 고딕"/>
              </a:rPr>
              <a:t>] </a:t>
            </a:r>
            <a:r>
              <a:rPr lang="en-US" sz="950" b="1" dirty="0">
                <a:solidFill>
                  <a:srgbClr val="000000"/>
                </a:solidFill>
                <a:latin typeface="맑은 고딕"/>
                <a:ea typeface="맑은 고딕"/>
              </a:rPr>
              <a:t>S</a:t>
            </a:r>
            <a:r>
              <a:rPr sz="950" b="0" dirty="0">
                <a:solidFill>
                  <a:srgbClr val="000000"/>
                </a:solidFill>
                <a:latin typeface="맑은 고딕"/>
                <a:ea typeface="맑은 고딕"/>
              </a:rPr>
              <a:t>1 새 </a:t>
            </a:r>
            <a:r>
              <a:rPr sz="950" b="0" dirty="0" err="1">
                <a:solidFill>
                  <a:srgbClr val="000000"/>
                </a:solidFill>
                <a:latin typeface="맑은 고딕"/>
                <a:ea typeface="맑은 고딕"/>
              </a:rPr>
              <a:t>메모리</a:t>
            </a:r>
            <a:r>
              <a:rPr sz="950" b="0" dirty="0">
                <a:solidFill>
                  <a:srgbClr val="000000"/>
                </a:solidFill>
                <a:latin typeface="맑은 고딕"/>
                <a:ea typeface="맑은 고딕"/>
              </a:rPr>
              <a:t> tier </a:t>
            </a:r>
            <a:r>
              <a:rPr sz="950" b="0" dirty="0" err="1">
                <a:solidFill>
                  <a:srgbClr val="000000"/>
                </a:solidFill>
                <a:latin typeface="맑은 고딕"/>
                <a:ea typeface="맑은 고딕"/>
              </a:rPr>
              <a:t>추가</a:t>
            </a:r>
            <a:r>
              <a:rPr lang="en-US" sz="950" dirty="0">
                <a:solidFill>
                  <a:srgbClr val="000000"/>
                </a:solidFill>
                <a:latin typeface="맑은 고딕"/>
                <a:ea typeface="맑은 고딕"/>
              </a:rPr>
              <a:t>, </a:t>
            </a:r>
            <a:r>
              <a:rPr sz="950" b="0" dirty="0">
                <a:solidFill>
                  <a:srgbClr val="000000"/>
                </a:solidFill>
                <a:latin typeface="맑은 고딕"/>
                <a:ea typeface="맑은 고딕"/>
              </a:rPr>
              <a:t>S2 </a:t>
            </a:r>
            <a:r>
              <a:rPr sz="950" b="0" dirty="0" err="1">
                <a:solidFill>
                  <a:srgbClr val="000000"/>
                </a:solidFill>
                <a:latin typeface="맑은 고딕"/>
                <a:ea typeface="맑은 고딕"/>
              </a:rPr>
              <a:t>이동·배치·재사용</a:t>
            </a:r>
            <a:r>
              <a:rPr sz="950" b="0" dirty="0">
                <a:solidFill>
                  <a:srgbClr val="000000"/>
                </a:solidFill>
                <a:latin typeface="맑은 고딕"/>
                <a:ea typeface="맑은 고딕"/>
              </a:rPr>
              <a:t>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lang="en-US" sz="950" dirty="0">
                <a:solidFill>
                  <a:srgbClr val="000000"/>
                </a:solidFill>
                <a:latin typeface="맑은 고딕"/>
                <a:ea typeface="맑은 고딕"/>
              </a:rPr>
              <a:t>, </a:t>
            </a:r>
            <a:r>
              <a:rPr lang="en-US" altLang="ko-KR" sz="950" dirty="0">
                <a:solidFill>
                  <a:srgbClr val="000000"/>
                </a:solidFill>
                <a:latin typeface="맑은 고딕"/>
                <a:ea typeface="맑은 고딕"/>
              </a:rPr>
              <a:t>S3 </a:t>
            </a:r>
            <a:r>
              <a:rPr sz="950" b="0" dirty="0" err="1">
                <a:solidFill>
                  <a:srgbClr val="000000"/>
                </a:solidFill>
                <a:latin typeface="맑은 고딕"/>
                <a:ea typeface="맑은 고딕"/>
              </a:rPr>
              <a:t>vLLM</a:t>
            </a:r>
            <a:r>
              <a:rPr sz="950" b="0" dirty="0">
                <a:solidFill>
                  <a:srgbClr val="000000"/>
                </a:solidFill>
                <a:latin typeface="맑은 고딕"/>
                <a:ea typeface="맑은 고딕"/>
              </a:rPr>
              <a:t> upstream </a:t>
            </a:r>
            <a:r>
              <a:rPr sz="950" b="0" dirty="0" err="1">
                <a:solidFill>
                  <a:srgbClr val="000000"/>
                </a:solidFill>
                <a:latin typeface="맑은 고딕"/>
                <a:ea typeface="맑은 고딕"/>
              </a:rPr>
              <a:t>갱신</a:t>
            </a:r>
            <a:r>
              <a:rPr sz="950" b="0" dirty="0">
                <a:solidFill>
                  <a:srgbClr val="000000"/>
                </a:solidFill>
                <a:latin typeface="맑은 고딕"/>
                <a:ea typeface="맑은 고딕"/>
              </a:rPr>
              <a:t> </a:t>
            </a:r>
            <a:r>
              <a:rPr sz="950" b="0" dirty="0" err="1">
                <a:solidFill>
                  <a:srgbClr val="000000"/>
                </a:solidFill>
                <a:latin typeface="맑은 고딕"/>
                <a:ea typeface="맑은 고딕"/>
              </a:rPr>
              <a:t>대응</a:t>
            </a:r>
            <a:r>
              <a:rPr sz="950" b="0" dirty="0">
                <a:solidFill>
                  <a:srgbClr val="000000"/>
                </a:solidFill>
                <a:latin typeface="맑은 고딕"/>
                <a:ea typeface="맑은 고딕"/>
              </a:rPr>
              <a:t>(block pool, </a:t>
            </a:r>
            <a:r>
              <a:rPr sz="950" b="0" dirty="0" err="1">
                <a:solidFill>
                  <a:srgbClr val="000000"/>
                </a:solidFill>
                <a:latin typeface="맑은 고딕"/>
                <a:ea typeface="맑은 고딕"/>
              </a:rPr>
              <a:t>kv_offload</a:t>
            </a:r>
            <a:r>
              <a:rPr sz="950" b="0" dirty="0">
                <a:solidFill>
                  <a:srgbClr val="000000"/>
                </a:solidFill>
                <a:latin typeface="맑은 고딕"/>
                <a:ea typeface="맑은 고딕"/>
              </a:rPr>
              <a:t>, CUDA graph, async scheduling </a:t>
            </a:r>
            <a:r>
              <a:rPr sz="950" b="0" dirty="0" err="1">
                <a:solidFill>
                  <a:srgbClr val="000000"/>
                </a:solidFill>
                <a:latin typeface="맑은 고딕"/>
                <a:ea typeface="맑은 고딕"/>
              </a:rPr>
              <a:t>접점</a:t>
            </a:r>
            <a:r>
              <a:rPr sz="950" b="0" dirty="0">
                <a:solidFill>
                  <a:srgbClr val="000000"/>
                </a:solidFill>
                <a:latin typeface="맑은 고딕"/>
                <a:ea typeface="맑은 고딕"/>
              </a:rPr>
              <a:t> </a:t>
            </a:r>
            <a:r>
              <a:rPr sz="950" b="0" dirty="0" err="1">
                <a:solidFill>
                  <a:srgbClr val="000000"/>
                </a:solidFill>
                <a:latin typeface="맑은 고딕"/>
                <a:ea typeface="맑은 고딕"/>
              </a:rPr>
              <a:t>수정</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lnSpc>
                <a:spcPct val="150000"/>
              </a:lnSpc>
              <a:spcAft>
                <a:spcPts val="0"/>
              </a:spcAft>
            </a:pPr>
            <a:r>
              <a:rPr sz="950" b="0" dirty="0" err="1">
                <a:solidFill>
                  <a:srgbClr val="000000"/>
                </a:solidFill>
                <a:latin typeface="맑은 고딕"/>
                <a:ea typeface="맑은 고딕"/>
              </a:rPr>
              <a:t>세 변경은 각각 단독 발생하므로 시나리오별로 판정하고 3종 중 최악값(최대 module 수)에 별 기준을 적용한다(평균 안 씀). module = 설계 component 단위(한 줄이라도 바꾸면 1개).</a:t>
            </a:r>
          </a:p>
        </p:txBody>
      </p:sp>
      <p:graphicFrame>
        <p:nvGraphicFramePr>
          <p:cNvPr id="178" name="tbl">
            <a:extLst>
              <a:ext uri="{FF2B5EF4-FFF2-40B4-BE49-F238E27FC236}">
                <a16:creationId xmlns:a16="http://schemas.microsoft.com/office/drawing/2014/main" id="{9639DBEA-9428-4CB8-8D3E-47A1193E7894}"/>
              </a:ext>
            </a:extLst>
          </p:cNvPr>
          <p:cNvGraphicFramePr>
            <a:graphicFrameLocks noGrp="1"/>
          </p:cNvGraphicFramePr>
          <p:nvPr/>
        </p:nvGraphicFramePr>
        <p:xfrm>
          <a:off x="365760" y="1668780"/>
          <a:ext cx="11457432" cy="2267712"/>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55321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237744">
                <a:tc>
                  <a:txBody>
                    <a:bodyPr/>
                    <a:lstStyle/>
                    <a:p>
                      <a:pPr algn="ctr"/>
                      <a:r>
                        <a:rPr sz="900" b="1">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변경 module 수 (max)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환산</a:t>
                      </a:r>
                      <a:r>
                        <a:rPr sz="900" b="1" dirty="0">
                          <a:solidFill>
                            <a:srgbClr val="FFFFFF"/>
                          </a:solidFill>
                          <a:latin typeface="맑은 고딕"/>
                          <a:ea typeface="맑은 고딕"/>
                        </a:rPr>
                        <a:t> </a:t>
                      </a:r>
                      <a:r>
                        <a:rPr sz="900" b="1" dirty="0" err="1">
                          <a:solidFill>
                            <a:srgbClr val="FFFFFF"/>
                          </a:solidFill>
                          <a:latin typeface="맑은 고딕"/>
                          <a:ea typeface="맑은 고딕"/>
                        </a:rPr>
                        <a:t>개발</a:t>
                      </a:r>
                      <a:r>
                        <a:rPr sz="900" b="1" dirty="0">
                          <a:solidFill>
                            <a:srgbClr val="FFFFFF"/>
                          </a:solidFill>
                          <a:latin typeface="맑은 고딕"/>
                          <a:ea typeface="맑은 고딕"/>
                        </a:rPr>
                        <a:t> </a:t>
                      </a:r>
                      <a:r>
                        <a:rPr sz="900" b="1" dirty="0" err="1">
                          <a:solidFill>
                            <a:srgbClr val="FFFFFF"/>
                          </a:solidFill>
                          <a:latin typeface="맑은 고딕"/>
                          <a:ea typeface="맑은 고딕"/>
                        </a:rPr>
                        <a:t>공수</a:t>
                      </a:r>
                      <a:r>
                        <a:rPr sz="900" b="1" dirty="0">
                          <a:solidFill>
                            <a:srgbClr val="FFFFFF"/>
                          </a:solidFill>
                          <a:latin typeface="맑은 고딕"/>
                          <a:ea typeface="맑은 고딕"/>
                        </a:rPr>
                        <a:t> (M/M</a:t>
                      </a:r>
                      <a:r>
                        <a:rPr lang="en-US" sz="900" b="1" dirty="0">
                          <a:solidFill>
                            <a:srgbClr val="FFFFFF"/>
                          </a:solidFill>
                          <a:latin typeface="맑은 고딕"/>
                          <a:ea typeface="맑은 고딕"/>
                        </a:rPr>
                        <a:t>)</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00" b="1"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900" b="0">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ctr"/>
                      <a:r>
                        <a:rPr sz="900" b="0">
                          <a:solidFill>
                            <a:srgbClr val="000000"/>
                          </a:solidFill>
                          <a:latin typeface="맑은 고딕"/>
                          <a:ea typeface="맑은 고딕"/>
                        </a:rPr>
                        <a:t>≤ 0.4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1" dirty="0" err="1">
                          <a:solidFill>
                            <a:srgbClr val="000000"/>
                          </a:solidFill>
                          <a:latin typeface="맑은 고딕"/>
                          <a:ea typeface="맑은 고딕"/>
                        </a:rPr>
                        <a:t>일상 변경 규모: </a:t>
                      </a:r>
                      <a:endParaRPr lang="en-US" sz="900" b="1" dirty="0">
                        <a:solidFill>
                          <a:srgbClr val="000000"/>
                        </a:solidFill>
                        <a:latin typeface="맑은 고딕"/>
                        <a:ea typeface="맑은 고딕"/>
                      </a:endParaRPr>
                    </a:p>
                    <a:p>
                      <a:pPr algn="l">
                        <a:lnSpc>
                          <a:spcPct val="125000"/>
                        </a:lnSpc>
                      </a:pPr>
                      <a:r>
                        <a:rPr lang="ko-KR" altLang="en-US" sz="900" b="1" dirty="0">
                          <a:solidFill>
                            <a:srgbClr val="000000"/>
                          </a:solidFill>
                          <a:latin typeface="맑은 고딕"/>
                          <a:ea typeface="맑은 고딕"/>
                        </a:rPr>
                        <a:t>참고: SWE-bench 평균 패치 1.7 file(2개 이하)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sz="900" b="0" dirty="0">
                          <a:solidFill>
                            <a:srgbClr val="000000"/>
                          </a:solidFill>
                          <a:latin typeface="맑은 고딕"/>
                          <a:ea typeface="맑은 고딕"/>
                        </a:rPr>
                        <a:t>SWE-bench (</a:t>
                      </a:r>
                      <a:r>
                        <a:rPr sz="900" b="0" dirty="0" err="1">
                          <a:solidFill>
                            <a:srgbClr val="000000"/>
                          </a:solidFill>
                          <a:latin typeface="맑은 고딕"/>
                          <a:ea typeface="맑은 고딕"/>
                        </a:rPr>
                        <a:t>arXiv</a:t>
                      </a:r>
                      <a:r>
                        <a:rPr sz="900" b="0" dirty="0">
                          <a:solidFill>
                            <a:srgbClr val="000000"/>
                          </a:solidFill>
                          <a:latin typeface="맑은 고딕"/>
                          <a:ea typeface="맑은 고딕"/>
                        </a:rPr>
                        <a:t> 2310.06770), </a:t>
                      </a:r>
                      <a:endParaRPr lang="en-US"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사전</a:t>
                      </a:r>
                      <a:r>
                        <a:rPr sz="900" b="0" dirty="0">
                          <a:solidFill>
                            <a:srgbClr val="000000"/>
                          </a:solidFill>
                          <a:latin typeface="맑은 고딕"/>
                          <a:ea typeface="맑은 고딕"/>
                        </a:rPr>
                        <a:t> </a:t>
                      </a:r>
                      <a:r>
                        <a:rPr sz="900" b="0" dirty="0" err="1">
                          <a:solidFill>
                            <a:srgbClr val="000000"/>
                          </a:solidFill>
                          <a:latin typeface="맑은 고딕"/>
                          <a:ea typeface="맑은 고딕"/>
                        </a:rPr>
                        <a:t>등록</a:t>
                      </a:r>
                      <a:r>
                        <a:rPr sz="900" b="0" dirty="0">
                          <a:solidFill>
                            <a:srgbClr val="000000"/>
                          </a:solidFill>
                          <a:latin typeface="맑은 고딕"/>
                          <a:ea typeface="맑은 고딕"/>
                        </a:rPr>
                        <a:t> </a:t>
                      </a:r>
                      <a:r>
                        <a:rPr sz="900" b="0" dirty="0" err="1">
                          <a:solidFill>
                            <a:srgbClr val="000000"/>
                          </a:solidFill>
                          <a:latin typeface="맑은 고딕"/>
                          <a:ea typeface="맑은 고딕"/>
                        </a:rPr>
                        <a:t>가정</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10896">
                <a:tc>
                  <a:txBody>
                    <a:bodyPr/>
                    <a:lstStyle/>
                    <a:p>
                      <a:pPr algn="ctr"/>
                      <a:r>
                        <a:rPr sz="900" b="1">
                          <a:solidFill>
                            <a:srgbClr val="000000"/>
                          </a:solidFill>
                          <a:latin typeface="맑은 고딕"/>
                          <a:ea typeface="맑은 고딕"/>
                        </a:rPr>
                        <a:t>★ 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ctr"/>
                      <a:r>
                        <a:rPr sz="900" b="0" dirty="0">
                          <a:solidFill>
                            <a:srgbClr val="000000"/>
                          </a:solidFill>
                          <a:latin typeface="맑은 고딕"/>
                          <a:ea typeface="맑은 고딕"/>
                        </a:rPr>
                        <a: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ctr"/>
                      <a:r>
                        <a:rPr sz="900" b="0">
                          <a:solidFill>
                            <a:srgbClr val="000000"/>
                          </a:solidFill>
                          <a:latin typeface="맑은 고딕"/>
                          <a:ea typeface="맑은 고딕"/>
                        </a:rPr>
                        <a:t>≤ 0.6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dirty="0">
                          <a:solidFill>
                            <a:srgbClr val="000000"/>
                          </a:solidFill>
                          <a:latin typeface="맑은 고딕"/>
                          <a:ea typeface="맑은 고딕"/>
                        </a:rPr>
                        <a:t>★2와 ★3의 중점 (정수 module 수 기준)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extLst>
                  <a:ext uri="{0D108BD9-81ED-4DB2-BD59-A6C34878D82A}">
                    <a16:rowId xmlns:a16="http://schemas.microsoft.com/office/drawing/2014/main" val="10002"/>
                  </a:ext>
                </a:extLst>
              </a:tr>
              <a:tr h="310896">
                <a:tc>
                  <a:txBody>
                    <a:bodyPr/>
                    <a:lstStyle/>
                    <a:p>
                      <a:pPr algn="ctr"/>
                      <a:r>
                        <a:rPr sz="900" b="1">
                          <a:solidFill>
                            <a:srgbClr val="000000"/>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900" b="0">
                          <a:solidFill>
                            <a:srgbClr val="000000"/>
                          </a:solidFill>
                          <a:latin typeface="맑은 고딕"/>
                          <a:ea typeface="맑은 고딕"/>
                        </a:rPr>
                        <a:t>≤ 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r>
                        <a:rPr sz="900" b="0">
                          <a:solidFill>
                            <a:srgbClr val="000000"/>
                          </a:solidFill>
                          <a:latin typeface="맑은 고딕"/>
                          <a:ea typeface="맑은 고딕"/>
                        </a:rPr>
                        <a:t>≤ 0.8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900" b="1" dirty="0"/>
                        <a:t>변경이 한 Plane 안에서 끝남: component 12~14개 ÷ 3 Plane(Decision·Control·Data) ≈ 4개</a:t>
                      </a:r>
                      <a:endParaRPr sz="9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310896">
                <a:tc>
                  <a:txBody>
                    <a:bodyPr/>
                    <a:lstStyle/>
                    <a:p>
                      <a:pPr algn="ctr"/>
                      <a:r>
                        <a:rPr sz="900" b="1">
                          <a:solidFill>
                            <a:srgbClr val="000000"/>
                          </a:solidFill>
                          <a:latin typeface="맑은 고딕"/>
                          <a:ea typeface="맑은 고딕"/>
                        </a:rPr>
                        <a:t>★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ctr"/>
                      <a:r>
                        <a:rPr sz="900" b="0">
                          <a:solidFill>
                            <a:srgbClr val="000000"/>
                          </a:solidFill>
                          <a:latin typeface="맑은 고딕"/>
                          <a:ea typeface="맑은 고딕"/>
                        </a:rPr>
                        <a:t>≤ 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ctr"/>
                      <a:r>
                        <a:rPr sz="900" b="0">
                          <a:solidFill>
                            <a:srgbClr val="000000"/>
                          </a:solidFill>
                          <a:latin typeface="맑은 고딕"/>
                          <a:ea typeface="맑은 고딕"/>
                        </a:rPr>
                        <a: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dirty="0">
                          <a:solidFill>
                            <a:srgbClr val="000000"/>
                          </a:solidFill>
                          <a:latin typeface="맑은 고딕"/>
                          <a:ea typeface="맑은 고딕"/>
                        </a:rPr>
                        <a:t>★1과 ★2의 중점 (정수 module 수 기준)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a:lstStyle/>
                    <a:p>
                      <a:pPr algn="l">
                        <a:lnSpc>
                          <a:spcPct val="125000"/>
                        </a:lnSpc>
                      </a:pPr>
                      <a:r>
                        <a:rPr sz="900" b="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extLst>
                  <a:ext uri="{0D108BD9-81ED-4DB2-BD59-A6C34878D82A}">
                    <a16:rowId xmlns:a16="http://schemas.microsoft.com/office/drawing/2014/main" val="10004"/>
                  </a:ext>
                </a:extLst>
              </a:tr>
              <a:tr h="310896">
                <a:tc>
                  <a:txBody>
                    <a:bodyPr/>
                    <a:lstStyle/>
                    <a:p>
                      <a:pPr algn="ctr"/>
                      <a:r>
                        <a:rPr sz="900" b="1">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900" b="0">
                          <a:solidFill>
                            <a:srgbClr val="000000"/>
                          </a:solidFill>
                          <a:latin typeface="맑은 고딕"/>
                          <a:ea typeface="맑은 고딕"/>
                        </a:rPr>
                        <a:t>≤ 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ctr"/>
                      <a:r>
                        <a:rPr sz="900" b="0">
                          <a:solidFill>
                            <a:srgbClr val="000000"/>
                          </a:solidFill>
                          <a:latin typeface="맑은 고딕"/>
                          <a:ea typeface="맑은 고딕"/>
                        </a:rPr>
                        <a:t>≤ 1.2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lang="ko-KR" altLang="en-US" sz="900" b="1" dirty="0"/>
                        <a:t>최소 충족선: 한 번의 변경이 설계 component의 절반 이하에 국한된다.</a:t>
                      </a:r>
                    </a:p>
                    <a:p>
                      <a:pPr algn="l">
                        <a:lnSpc>
                          <a:spcPct val="125000"/>
                        </a:lnSpc>
                      </a:pPr>
                      <a:r>
                        <a:rPr lang="ko-KR" altLang="en-US" sz="900" b="1" dirty="0"/>
                        <a:t>component 12~14개의 1/2 ≈ 6개 (과반을 건드리지 않음).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0" dirty="0">
                          <a:solidFill>
                            <a:srgbClr val="000000"/>
                          </a:solidFill>
                          <a:latin typeface="맑은 고딕"/>
                          <a:ea typeface="맑은 고딕"/>
                        </a:rPr>
                        <a:t>DP1 사전 등록 component 목록,</a:t>
                      </a:r>
                      <a:endParaRPr lang="en-US"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3-Plane 구성(Decision·Control·Data)</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310896">
                <a:tc>
                  <a:txBody>
                    <a:bodyPr/>
                    <a:lstStyle/>
                    <a:p>
                      <a:pPr algn="ctr"/>
                      <a:r>
                        <a:rPr sz="900" b="1">
                          <a:solidFill>
                            <a:srgbClr val="000000"/>
                          </a:solidFill>
                          <a:latin typeface="맑은 고딕"/>
                          <a:ea typeface="맑은 고딕"/>
                        </a:rPr>
                        <a:t>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ctr"/>
                      <a:r>
                        <a:rPr sz="900" b="0">
                          <a:solidFill>
                            <a:srgbClr val="000000"/>
                          </a:solidFill>
                          <a:latin typeface="맑은 고딕"/>
                          <a:ea typeface="맑은 고딕"/>
                        </a:rPr>
                        <a:t>≥ 7 또는 major interface 변경</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ctr"/>
                      <a:r>
                        <a:rPr sz="900" b="0">
                          <a:solidFill>
                            <a:srgbClr val="000000"/>
                          </a:solidFill>
                          <a:latin typeface="맑은 고딕"/>
                          <a:ea typeface="맑은 고딕"/>
                        </a:rPr>
                        <a:t>&gt; 1.2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marL="0" marR="0" lvl="0" indent="0" algn="l" defTabSz="914400" rtl="0" eaLnBrk="1" fontAlgn="auto" latinLnBrk="1" hangingPunct="1">
                        <a:lnSpc>
                          <a:spcPct val="125000"/>
                        </a:lnSpc>
                        <a:spcBef>
                          <a:spcPts val="0"/>
                        </a:spcBef>
                        <a:spcAft>
                          <a:spcPts val="0"/>
                        </a:spcAft>
                        <a:buClrTx/>
                        <a:buSzTx/>
                        <a:buFontTx/>
                        <a:buNone/>
                        <a:tabLst/>
                        <a:defRPr/>
                      </a:pPr>
                      <a:r>
                        <a:rPr lang="en-US" altLang="ko-KR" sz="900" dirty="0"/>
                        <a:t>7개 이상이면 한 번의 변경이 설계의 과반으로 퍼져 확장 지점이 없는 구조로 판단.</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lnSpc>
                          <a:spcPct val="125000"/>
                        </a:lnSpc>
                      </a:pP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179" name="formula">
            <a:extLst>
              <a:ext uri="{FF2B5EF4-FFF2-40B4-BE49-F238E27FC236}">
                <a16:creationId xmlns:a16="http://schemas.microsoft.com/office/drawing/2014/main" id="{F29934DD-2034-4406-8F68-7F2300113BB2}"/>
              </a:ext>
            </a:extLst>
          </p:cNvPr>
          <p:cNvSpPr/>
          <p:nvPr/>
        </p:nvSpPr>
        <p:spPr>
          <a:xfrm>
            <a:off x="365760" y="4025263"/>
            <a:ext cx="11457432" cy="804673"/>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1" hangingPunct="1">
              <a:lnSpc>
                <a:spcPct val="110000"/>
              </a:lnSpc>
              <a:spcBef>
                <a:spcPts val="0"/>
              </a:spcBef>
              <a:spcAft>
                <a:spcPts val="0"/>
              </a:spcAft>
              <a:buClrTx/>
              <a:buSzTx/>
              <a:buFontTx/>
              <a:buNone/>
              <a:tabLst/>
              <a:defRPr/>
            </a:pP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module 1</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개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고정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3</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+ 24 LOC ÷ 40 LOC/</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테스트</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리뷰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overhead 2.0 = 4.2</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 0.2 MM  →  M/M = 0.2 × module </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수  </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(21</a:t>
            </a:r>
            <a:r>
              <a:rPr kumimoji="0" lang="ko-KR" altLang="en-US" sz="950" b="1" i="0" u="none" strike="noStrike" kern="1200" cap="none" spc="0" normalizeH="0" baseline="0" noProof="0" dirty="0">
                <a:ln>
                  <a:noFill/>
                </a:ln>
                <a:solidFill>
                  <a:srgbClr val="2F5597"/>
                </a:solidFill>
                <a:effectLst/>
                <a:uLnTx/>
                <a:uFillTx/>
                <a:latin typeface="맑은 고딕"/>
                <a:ea typeface="맑은 고딕"/>
                <a:cs typeface="+mn-cs"/>
              </a:rPr>
              <a:t>일</a:t>
            </a:r>
            <a:r>
              <a:rPr kumimoji="0" lang="en-US" altLang="ko-KR" sz="950" b="1" i="0" u="none" strike="noStrike" kern="1200" cap="none" spc="0" normalizeH="0" baseline="0" noProof="0" dirty="0">
                <a:ln>
                  <a:noFill/>
                </a:ln>
                <a:solidFill>
                  <a:srgbClr val="2F5597"/>
                </a:solidFill>
                <a:effectLst/>
                <a:uLnTx/>
                <a:uFillTx/>
                <a:latin typeface="맑은 고딕"/>
                <a:ea typeface="맑은 고딕"/>
                <a:cs typeface="+mn-cs"/>
              </a:rPr>
              <a:t>/MM)</a:t>
            </a:r>
          </a:p>
          <a:p>
            <a:pPr marL="171450" marR="0" lvl="0" indent="-171450" algn="l" defTabSz="914400" rtl="0" eaLnBrk="1" fontAlgn="auto" latinLnBrk="1" hangingPunct="1">
              <a:lnSpc>
                <a:spcPct val="110000"/>
              </a:lnSpc>
              <a:spcBef>
                <a:spcPts val="0"/>
              </a:spcBef>
              <a:spcAft>
                <a:spcPts val="0"/>
              </a:spcAft>
              <a:buClrTx/>
              <a:buSzTx/>
              <a:buFontTx/>
              <a:buChar char="-"/>
              <a:tabLst/>
              <a:defRPr/>
            </a:pP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24 LOC/module: SWE-bench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평균 패치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32.8 line ÷ 1.7 file ≈ 19 LOC/file</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을 올림</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 *</a:t>
            </a:r>
            <a:r>
              <a:rPr lang="en-US" altLang="ko-KR" sz="850" dirty="0">
                <a:solidFill>
                  <a:srgbClr val="404040"/>
                </a:solidFill>
                <a:latin typeface="맑은 고딕"/>
                <a:ea typeface="맑은 고딕"/>
              </a:rPr>
              <a:t>SWE-bench</a:t>
            </a:r>
            <a:r>
              <a:rPr lang="ko-KR" altLang="en-US" sz="850" dirty="0">
                <a:solidFill>
                  <a:srgbClr val="404040"/>
                </a:solidFill>
                <a:latin typeface="맑은 고딕"/>
                <a:ea typeface="맑은 고딕"/>
              </a:rPr>
              <a:t>는 실제 문제</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버그</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구현</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를 풀기 위해 </a:t>
            </a:r>
            <a:r>
              <a:rPr lang="en-US" altLang="ko-KR" sz="850" dirty="0">
                <a:solidFill>
                  <a:srgbClr val="404040"/>
                </a:solidFill>
                <a:latin typeface="맑은 고딕"/>
                <a:ea typeface="맑은 고딕"/>
              </a:rPr>
              <a:t>patch</a:t>
            </a:r>
            <a:r>
              <a:rPr lang="ko-KR" altLang="en-US" sz="850" dirty="0">
                <a:solidFill>
                  <a:srgbClr val="404040"/>
                </a:solidFill>
                <a:latin typeface="맑은 고딕"/>
                <a:ea typeface="맑은 고딕"/>
              </a:rPr>
              <a:t>를 올리는 벤치마크로 </a:t>
            </a:r>
            <a:r>
              <a:rPr lang="en-US" altLang="ko-KR" sz="850" dirty="0">
                <a:solidFill>
                  <a:srgbClr val="404040"/>
                </a:solidFill>
                <a:latin typeface="맑은 고딕"/>
                <a:ea typeface="맑은 고딕"/>
              </a:rPr>
              <a:t>SW </a:t>
            </a:r>
            <a:r>
              <a:rPr lang="ko-KR" altLang="en-US" sz="850" dirty="0">
                <a:solidFill>
                  <a:srgbClr val="404040"/>
                </a:solidFill>
                <a:latin typeface="맑은 고딕"/>
                <a:ea typeface="맑은 고딕"/>
              </a:rPr>
              <a:t>구현에 대한 참고 가능 </a:t>
            </a:r>
            <a:endParaRPr lang="en-US" altLang="ko-KR" sz="850" dirty="0">
              <a:solidFill>
                <a:srgbClr val="404040"/>
              </a:solidFill>
              <a:latin typeface="맑은 고딕"/>
              <a:ea typeface="맑은 고딕"/>
            </a:endParaRPr>
          </a:p>
          <a:p>
            <a:pPr marL="171450" marR="0" lvl="0" indent="-171450" algn="l" defTabSz="914400" rtl="0" eaLnBrk="1" fontAlgn="auto" latinLnBrk="1" hangingPunct="1">
              <a:lnSpc>
                <a:spcPct val="110000"/>
              </a:lnSpc>
              <a:spcBef>
                <a:spcPts val="0"/>
              </a:spcBef>
              <a:spcAft>
                <a:spcPts val="0"/>
              </a:spcAft>
              <a:buClrTx/>
              <a:buSzTx/>
              <a:buFontTx/>
              <a:buChar char="-"/>
              <a:tabLst/>
              <a:defRPr/>
            </a:pP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하루 생산성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40 LOC: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테스트</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 </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리뷰를 뺀 순 생산성 가정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참고 출처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a:t>
            </a:r>
          </a:p>
          <a:p>
            <a:pPr marL="171450" indent="-171450">
              <a:lnSpc>
                <a:spcPct val="110000"/>
              </a:lnSpc>
              <a:buFontTx/>
              <a:buChar char="-"/>
              <a:defRPr/>
            </a:pPr>
            <a:r>
              <a:rPr lang="ko-KR" altLang="en-US" sz="850" dirty="0">
                <a:solidFill>
                  <a:srgbClr val="404040"/>
                </a:solidFill>
                <a:latin typeface="맑은 고딕"/>
                <a:ea typeface="맑은 고딕"/>
              </a:rPr>
              <a:t>고정 </a:t>
            </a:r>
            <a:r>
              <a:rPr lang="en-US" altLang="ko-KR" sz="850" dirty="0">
                <a:solidFill>
                  <a:srgbClr val="404040"/>
                </a:solidFill>
                <a:latin typeface="맑은 고딕"/>
                <a:ea typeface="맑은 고딕"/>
              </a:rPr>
              <a:t>3</a:t>
            </a:r>
            <a:r>
              <a:rPr lang="ko-KR" altLang="en-US" sz="850" dirty="0">
                <a:solidFill>
                  <a:srgbClr val="404040"/>
                </a:solidFill>
                <a:latin typeface="맑은 고딕"/>
                <a:ea typeface="맑은 고딕"/>
              </a:rPr>
              <a:t>일</a:t>
            </a:r>
            <a:r>
              <a:rPr lang="en-US" altLang="ko-KR" sz="850" dirty="0">
                <a:solidFill>
                  <a:srgbClr val="404040"/>
                </a:solidFill>
                <a:latin typeface="맑은 고딕"/>
                <a:ea typeface="맑은 고딕"/>
              </a:rPr>
              <a:t>/</a:t>
            </a:r>
            <a:r>
              <a:rPr lang="ko-KR" altLang="en-US" sz="850" dirty="0">
                <a:solidFill>
                  <a:srgbClr val="404040"/>
                </a:solidFill>
                <a:latin typeface="맑은 고딕"/>
                <a:ea typeface="맑은 고딕"/>
              </a:rPr>
              <a:t>모듈</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모듈 하나를 바꿀 때 </a:t>
            </a:r>
            <a:r>
              <a:rPr lang="en-US" altLang="ko-KR" sz="850" dirty="0">
                <a:solidFill>
                  <a:srgbClr val="404040"/>
                </a:solidFill>
                <a:latin typeface="맑은 고딕"/>
                <a:ea typeface="맑은 고딕"/>
              </a:rPr>
              <a:t>LOC</a:t>
            </a:r>
            <a:r>
              <a:rPr lang="ko-KR" altLang="en-US" sz="850" dirty="0">
                <a:solidFill>
                  <a:srgbClr val="404040"/>
                </a:solidFill>
                <a:latin typeface="맑은 고딕"/>
                <a:ea typeface="맑은 고딕"/>
              </a:rPr>
              <a:t>와 무관하게 </a:t>
            </a:r>
            <a:r>
              <a:rPr lang="en-US" altLang="ko-KR" sz="850" dirty="0">
                <a:solidFill>
                  <a:srgbClr val="404040"/>
                </a:solidFill>
                <a:latin typeface="맑은 고딕"/>
                <a:ea typeface="맑은 고딕"/>
              </a:rPr>
              <a:t>interface </a:t>
            </a:r>
            <a:r>
              <a:rPr lang="ko-KR" altLang="en-US" sz="850" dirty="0">
                <a:solidFill>
                  <a:srgbClr val="404040"/>
                </a:solidFill>
                <a:latin typeface="맑은 고딕"/>
                <a:ea typeface="맑은 고딕"/>
              </a:rPr>
              <a:t>파악</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설계 리뷰</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통합 테스트에</a:t>
            </a:r>
            <a:r>
              <a:rPr lang="en-US" altLang="ko-KR" sz="850" dirty="0">
                <a:solidFill>
                  <a:srgbClr val="404040"/>
                </a:solidFill>
                <a:latin typeface="맑은 고딕"/>
                <a:ea typeface="맑은 고딕"/>
              </a:rPr>
              <a:t> </a:t>
            </a:r>
            <a:r>
              <a:rPr lang="ko-KR" altLang="en-US" sz="850" dirty="0">
                <a:solidFill>
                  <a:srgbClr val="404040"/>
                </a:solidFill>
                <a:latin typeface="맑은 고딕"/>
                <a:ea typeface="맑은 고딕"/>
              </a:rPr>
              <a:t>해당하는 공수 비용 가정</a:t>
            </a:r>
            <a:r>
              <a:rPr lang="en-US" altLang="ko-KR" sz="850" dirty="0">
                <a:solidFill>
                  <a:srgbClr val="404040"/>
                </a:solidFill>
                <a:latin typeface="맑은 고딕"/>
                <a:ea typeface="맑은 고딕"/>
              </a:rPr>
              <a:t>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a:t>
            </a:r>
            <a:r>
              <a:rPr kumimoji="0" lang="ko-KR" altLang="en-US" sz="850" b="0" i="0" u="none" strike="noStrike" kern="1200" cap="none" spc="0" normalizeH="0" baseline="0" noProof="0" dirty="0">
                <a:ln>
                  <a:noFill/>
                </a:ln>
                <a:solidFill>
                  <a:srgbClr val="404040"/>
                </a:solidFill>
                <a:effectLst/>
                <a:uLnTx/>
                <a:uFillTx/>
                <a:latin typeface="맑은 고딕"/>
                <a:ea typeface="맑은 고딕"/>
                <a:cs typeface="+mn-cs"/>
              </a:rPr>
              <a:t>참고 출처 </a:t>
            </a:r>
            <a:r>
              <a:rPr kumimoji="0" lang="en-US" altLang="ko-KR" sz="850" b="0" i="0" u="none" strike="noStrike" kern="1200" cap="none" spc="0" normalizeH="0" baseline="0" noProof="0" dirty="0">
                <a:ln>
                  <a:noFill/>
                </a:ln>
                <a:solidFill>
                  <a:srgbClr val="404040"/>
                </a:solidFill>
                <a:effectLst/>
                <a:uLnTx/>
                <a:uFillTx/>
                <a:latin typeface="맑은 고딕"/>
                <a:ea typeface="맑은 고딕"/>
                <a:cs typeface="+mn-cs"/>
              </a:rPr>
              <a:t>[3])</a:t>
            </a:r>
          </a:p>
        </p:txBody>
      </p:sp>
      <p:sp>
        <p:nvSpPr>
          <p:cNvPr id="182" name="TextBox 181">
            <a:extLst>
              <a:ext uri="{FF2B5EF4-FFF2-40B4-BE49-F238E27FC236}">
                <a16:creationId xmlns:a16="http://schemas.microsoft.com/office/drawing/2014/main" id="{9262CE36-B349-4F18-AEC6-11E15248016A}"/>
              </a:ext>
            </a:extLst>
          </p:cNvPr>
          <p:cNvSpPr txBox="1"/>
          <p:nvPr/>
        </p:nvSpPr>
        <p:spPr>
          <a:xfrm>
            <a:off x="365760" y="4985385"/>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변경</a:t>
            </a:r>
            <a:r>
              <a:rPr sz="950" b="1" dirty="0">
                <a:solidFill>
                  <a:srgbClr val="2F5597"/>
                </a:solidFill>
                <a:latin typeface="맑은 고딕"/>
                <a:ea typeface="맑은 고딕"/>
              </a:rPr>
              <a:t> module 수</a:t>
            </a:r>
          </a:p>
        </p:txBody>
      </p:sp>
      <p:sp>
        <p:nvSpPr>
          <p:cNvPr id="183" name="Rectangle 18">
            <a:extLst>
              <a:ext uri="{FF2B5EF4-FFF2-40B4-BE49-F238E27FC236}">
                <a16:creationId xmlns:a16="http://schemas.microsoft.com/office/drawing/2014/main" id="{32497ED0-F4F0-4BCB-80D5-7713187A6D52}"/>
              </a:ext>
            </a:extLst>
          </p:cNvPr>
          <p:cNvSpPr/>
          <p:nvPr/>
        </p:nvSpPr>
        <p:spPr>
          <a:xfrm>
            <a:off x="8510452" y="5223129"/>
            <a:ext cx="3239588"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a:extLst>
              <a:ext uri="{FF2B5EF4-FFF2-40B4-BE49-F238E27FC236}">
                <a16:creationId xmlns:a16="http://schemas.microsoft.com/office/drawing/2014/main" id="{57CED743-868C-46F4-892C-9CA6E1ECBF2C}"/>
              </a:ext>
            </a:extLst>
          </p:cNvPr>
          <p:cNvSpPr txBox="1"/>
          <p:nvPr/>
        </p:nvSpPr>
        <p:spPr>
          <a:xfrm>
            <a:off x="8510452" y="5223129"/>
            <a:ext cx="323958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185" name="Rectangle 20">
            <a:extLst>
              <a:ext uri="{FF2B5EF4-FFF2-40B4-BE49-F238E27FC236}">
                <a16:creationId xmlns:a16="http://schemas.microsoft.com/office/drawing/2014/main" id="{587879DB-460E-4073-A655-70D20571643D}"/>
              </a:ext>
            </a:extLst>
          </p:cNvPr>
          <p:cNvSpPr/>
          <p:nvPr/>
        </p:nvSpPr>
        <p:spPr>
          <a:xfrm>
            <a:off x="6890658" y="5223129"/>
            <a:ext cx="1619794"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2B52C54-65AA-4215-BFEF-2E93A72C9DF0}"/>
              </a:ext>
            </a:extLst>
          </p:cNvPr>
          <p:cNvSpPr txBox="1"/>
          <p:nvPr/>
        </p:nvSpPr>
        <p:spPr>
          <a:xfrm>
            <a:off x="6890658"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187" name="Rectangle 22">
            <a:extLst>
              <a:ext uri="{FF2B5EF4-FFF2-40B4-BE49-F238E27FC236}">
                <a16:creationId xmlns:a16="http://schemas.microsoft.com/office/drawing/2014/main" id="{704A3354-9CE1-4967-8783-7F5D883C880F}"/>
              </a:ext>
            </a:extLst>
          </p:cNvPr>
          <p:cNvSpPr/>
          <p:nvPr/>
        </p:nvSpPr>
        <p:spPr>
          <a:xfrm>
            <a:off x="5270864" y="5223129"/>
            <a:ext cx="1619794"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a:extLst>
              <a:ext uri="{FF2B5EF4-FFF2-40B4-BE49-F238E27FC236}">
                <a16:creationId xmlns:a16="http://schemas.microsoft.com/office/drawing/2014/main" id="{F172043A-3788-4D17-8F26-A1975C28494A}"/>
              </a:ext>
            </a:extLst>
          </p:cNvPr>
          <p:cNvSpPr txBox="1"/>
          <p:nvPr/>
        </p:nvSpPr>
        <p:spPr>
          <a:xfrm>
            <a:off x="5270864"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189" name="Rectangle 24">
            <a:extLst>
              <a:ext uri="{FF2B5EF4-FFF2-40B4-BE49-F238E27FC236}">
                <a16:creationId xmlns:a16="http://schemas.microsoft.com/office/drawing/2014/main" id="{9AB53739-9FE5-4E90-9D24-C873FC2AA1EE}"/>
              </a:ext>
            </a:extLst>
          </p:cNvPr>
          <p:cNvSpPr/>
          <p:nvPr/>
        </p:nvSpPr>
        <p:spPr>
          <a:xfrm>
            <a:off x="3651070" y="5223129"/>
            <a:ext cx="1619794"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5BFA7BC4-04A3-48B4-A609-7890651E9C85}"/>
              </a:ext>
            </a:extLst>
          </p:cNvPr>
          <p:cNvSpPr txBox="1"/>
          <p:nvPr/>
        </p:nvSpPr>
        <p:spPr>
          <a:xfrm>
            <a:off x="3651070"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191" name="Rectangle 26">
            <a:extLst>
              <a:ext uri="{FF2B5EF4-FFF2-40B4-BE49-F238E27FC236}">
                <a16:creationId xmlns:a16="http://schemas.microsoft.com/office/drawing/2014/main" id="{C42D9C0F-B6E4-423D-9B9D-91C630D169E2}"/>
              </a:ext>
            </a:extLst>
          </p:cNvPr>
          <p:cNvSpPr/>
          <p:nvPr/>
        </p:nvSpPr>
        <p:spPr>
          <a:xfrm>
            <a:off x="2031276" y="5223129"/>
            <a:ext cx="1619794"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a:extLst>
              <a:ext uri="{FF2B5EF4-FFF2-40B4-BE49-F238E27FC236}">
                <a16:creationId xmlns:a16="http://schemas.microsoft.com/office/drawing/2014/main" id="{1F5EB386-E19B-4202-B2E9-57CF33760348}"/>
              </a:ext>
            </a:extLst>
          </p:cNvPr>
          <p:cNvSpPr txBox="1"/>
          <p:nvPr/>
        </p:nvSpPr>
        <p:spPr>
          <a:xfrm>
            <a:off x="2031276"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193" name="Rectangle 28">
            <a:extLst>
              <a:ext uri="{FF2B5EF4-FFF2-40B4-BE49-F238E27FC236}">
                <a16:creationId xmlns:a16="http://schemas.microsoft.com/office/drawing/2014/main" id="{A15FB515-E1B7-4D6B-AD06-745CCF903C63}"/>
              </a:ext>
            </a:extLst>
          </p:cNvPr>
          <p:cNvSpPr/>
          <p:nvPr/>
        </p:nvSpPr>
        <p:spPr>
          <a:xfrm>
            <a:off x="411482" y="5223129"/>
            <a:ext cx="1619794"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a:extLst>
              <a:ext uri="{FF2B5EF4-FFF2-40B4-BE49-F238E27FC236}">
                <a16:creationId xmlns:a16="http://schemas.microsoft.com/office/drawing/2014/main" id="{0717756F-8A95-4DFD-B0AE-1204EC0EF4AF}"/>
              </a:ext>
            </a:extLst>
          </p:cNvPr>
          <p:cNvSpPr txBox="1"/>
          <p:nvPr/>
        </p:nvSpPr>
        <p:spPr>
          <a:xfrm>
            <a:off x="411482" y="5223129"/>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195" name="TextBox 194">
            <a:extLst>
              <a:ext uri="{FF2B5EF4-FFF2-40B4-BE49-F238E27FC236}">
                <a16:creationId xmlns:a16="http://schemas.microsoft.com/office/drawing/2014/main" id="{49FE62CD-E4F0-4ECA-B36E-D7772FB46DD6}"/>
              </a:ext>
            </a:extLst>
          </p:cNvPr>
          <p:cNvSpPr txBox="1"/>
          <p:nvPr/>
        </p:nvSpPr>
        <p:spPr>
          <a:xfrm>
            <a:off x="11430000"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196" name="TextBox 195">
            <a:extLst>
              <a:ext uri="{FF2B5EF4-FFF2-40B4-BE49-F238E27FC236}">
                <a16:creationId xmlns:a16="http://schemas.microsoft.com/office/drawing/2014/main" id="{3DE852E4-7793-4D50-B212-1FF013856054}"/>
              </a:ext>
            </a:extLst>
          </p:cNvPr>
          <p:cNvSpPr txBox="1"/>
          <p:nvPr/>
        </p:nvSpPr>
        <p:spPr>
          <a:xfrm>
            <a:off x="9810205"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197" name="TextBox 196">
            <a:extLst>
              <a:ext uri="{FF2B5EF4-FFF2-40B4-BE49-F238E27FC236}">
                <a16:creationId xmlns:a16="http://schemas.microsoft.com/office/drawing/2014/main" id="{D33C6A71-83EB-45B7-9331-C5528D998A9A}"/>
              </a:ext>
            </a:extLst>
          </p:cNvPr>
          <p:cNvSpPr txBox="1"/>
          <p:nvPr/>
        </p:nvSpPr>
        <p:spPr>
          <a:xfrm>
            <a:off x="8190411"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a:t>
            </a:r>
          </a:p>
        </p:txBody>
      </p:sp>
      <p:sp>
        <p:nvSpPr>
          <p:cNvPr id="198" name="TextBox 197">
            <a:extLst>
              <a:ext uri="{FF2B5EF4-FFF2-40B4-BE49-F238E27FC236}">
                <a16:creationId xmlns:a16="http://schemas.microsoft.com/office/drawing/2014/main" id="{A512C27A-5EC7-405B-A33E-580D537C8395}"/>
              </a:ext>
            </a:extLst>
          </p:cNvPr>
          <p:cNvSpPr txBox="1"/>
          <p:nvPr/>
        </p:nvSpPr>
        <p:spPr>
          <a:xfrm>
            <a:off x="6570617"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199" name="TextBox 198">
            <a:extLst>
              <a:ext uri="{FF2B5EF4-FFF2-40B4-BE49-F238E27FC236}">
                <a16:creationId xmlns:a16="http://schemas.microsoft.com/office/drawing/2014/main" id="{A2859D76-37B4-4E4A-B508-22B1546E2A37}"/>
              </a:ext>
            </a:extLst>
          </p:cNvPr>
          <p:cNvSpPr txBox="1"/>
          <p:nvPr/>
        </p:nvSpPr>
        <p:spPr>
          <a:xfrm>
            <a:off x="4950822"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a:t>
            </a:r>
          </a:p>
        </p:txBody>
      </p:sp>
      <p:sp>
        <p:nvSpPr>
          <p:cNvPr id="200" name="TextBox 199">
            <a:extLst>
              <a:ext uri="{FF2B5EF4-FFF2-40B4-BE49-F238E27FC236}">
                <a16:creationId xmlns:a16="http://schemas.microsoft.com/office/drawing/2014/main" id="{7183B600-5CA8-4E77-8645-FE22BBAFFAFB}"/>
              </a:ext>
            </a:extLst>
          </p:cNvPr>
          <p:cNvSpPr txBox="1"/>
          <p:nvPr/>
        </p:nvSpPr>
        <p:spPr>
          <a:xfrm>
            <a:off x="3331028"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5</a:t>
            </a:r>
          </a:p>
        </p:txBody>
      </p:sp>
      <p:sp>
        <p:nvSpPr>
          <p:cNvPr id="201" name="TextBox 200">
            <a:extLst>
              <a:ext uri="{FF2B5EF4-FFF2-40B4-BE49-F238E27FC236}">
                <a16:creationId xmlns:a16="http://schemas.microsoft.com/office/drawing/2014/main" id="{279F3326-23F0-4B98-B3DB-586918148F13}"/>
              </a:ext>
            </a:extLst>
          </p:cNvPr>
          <p:cNvSpPr txBox="1"/>
          <p:nvPr/>
        </p:nvSpPr>
        <p:spPr>
          <a:xfrm>
            <a:off x="1711234"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a:t>
            </a:r>
          </a:p>
        </p:txBody>
      </p:sp>
      <p:sp>
        <p:nvSpPr>
          <p:cNvPr id="202" name="TextBox 201">
            <a:extLst>
              <a:ext uri="{FF2B5EF4-FFF2-40B4-BE49-F238E27FC236}">
                <a16:creationId xmlns:a16="http://schemas.microsoft.com/office/drawing/2014/main" id="{CA126443-3C97-4E26-9660-5E0D5C1DF432}"/>
              </a:ext>
            </a:extLst>
          </p:cNvPr>
          <p:cNvSpPr txBox="1"/>
          <p:nvPr/>
        </p:nvSpPr>
        <p:spPr>
          <a:xfrm>
            <a:off x="91440" y="5497449"/>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a:t>
            </a:r>
          </a:p>
        </p:txBody>
      </p:sp>
      <p:cxnSp>
        <p:nvCxnSpPr>
          <p:cNvPr id="203" name="Connector 38">
            <a:extLst>
              <a:ext uri="{FF2B5EF4-FFF2-40B4-BE49-F238E27FC236}">
                <a16:creationId xmlns:a16="http://schemas.microsoft.com/office/drawing/2014/main" id="{BEA81FFB-C751-40A9-9E56-6B4208EDE892}"/>
              </a:ext>
            </a:extLst>
          </p:cNvPr>
          <p:cNvCxnSpPr/>
          <p:nvPr/>
        </p:nvCxnSpPr>
        <p:spPr>
          <a:xfrm>
            <a:off x="8510452"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4" name="Connector 39">
            <a:extLst>
              <a:ext uri="{FF2B5EF4-FFF2-40B4-BE49-F238E27FC236}">
                <a16:creationId xmlns:a16="http://schemas.microsoft.com/office/drawing/2014/main" id="{FF385D5C-49BC-42A1-80F3-91EF3E3ECEB8}"/>
              </a:ext>
            </a:extLst>
          </p:cNvPr>
          <p:cNvCxnSpPr/>
          <p:nvPr/>
        </p:nvCxnSpPr>
        <p:spPr>
          <a:xfrm>
            <a:off x="6890658"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5" name="Connector 40">
            <a:extLst>
              <a:ext uri="{FF2B5EF4-FFF2-40B4-BE49-F238E27FC236}">
                <a16:creationId xmlns:a16="http://schemas.microsoft.com/office/drawing/2014/main" id="{7019DA8E-10E6-43C8-9FC7-7C71414CE9AB}"/>
              </a:ext>
            </a:extLst>
          </p:cNvPr>
          <p:cNvCxnSpPr/>
          <p:nvPr/>
        </p:nvCxnSpPr>
        <p:spPr>
          <a:xfrm>
            <a:off x="5270864"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6" name="Connector 41">
            <a:extLst>
              <a:ext uri="{FF2B5EF4-FFF2-40B4-BE49-F238E27FC236}">
                <a16:creationId xmlns:a16="http://schemas.microsoft.com/office/drawing/2014/main" id="{CE3E01AA-BCCE-47A6-B5BA-0A0A13FA6FE6}"/>
              </a:ext>
            </a:extLst>
          </p:cNvPr>
          <p:cNvCxnSpPr/>
          <p:nvPr/>
        </p:nvCxnSpPr>
        <p:spPr>
          <a:xfrm>
            <a:off x="3651070"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207" name="Connector 42">
            <a:extLst>
              <a:ext uri="{FF2B5EF4-FFF2-40B4-BE49-F238E27FC236}">
                <a16:creationId xmlns:a16="http://schemas.microsoft.com/office/drawing/2014/main" id="{61138C0E-2DC6-4373-AD83-51961EB5AD0B}"/>
              </a:ext>
            </a:extLst>
          </p:cNvPr>
          <p:cNvCxnSpPr/>
          <p:nvPr/>
        </p:nvCxnSpPr>
        <p:spPr>
          <a:xfrm>
            <a:off x="2031276" y="5634609"/>
            <a:ext cx="0" cy="585216"/>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208" name="Oval 43">
            <a:extLst>
              <a:ext uri="{FF2B5EF4-FFF2-40B4-BE49-F238E27FC236}">
                <a16:creationId xmlns:a16="http://schemas.microsoft.com/office/drawing/2014/main" id="{D9927751-CCF9-4469-AA54-79231E62C0F9}"/>
              </a:ext>
            </a:extLst>
          </p:cNvPr>
          <p:cNvSpPr/>
          <p:nvPr/>
        </p:nvSpPr>
        <p:spPr>
          <a:xfrm>
            <a:off x="8946097" y="5694045"/>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TextBox 208">
            <a:extLst>
              <a:ext uri="{FF2B5EF4-FFF2-40B4-BE49-F238E27FC236}">
                <a16:creationId xmlns:a16="http://schemas.microsoft.com/office/drawing/2014/main" id="{29402C03-2F59-4A86-9265-19A3A195FC89}"/>
              </a:ext>
            </a:extLst>
          </p:cNvPr>
          <p:cNvSpPr txBox="1"/>
          <p:nvPr/>
        </p:nvSpPr>
        <p:spPr>
          <a:xfrm>
            <a:off x="5988013" y="5652897"/>
            <a:ext cx="2935224" cy="182880"/>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SWE-bench 평균 패치 1.7 file (★3 경계 2 module ≈ 0.4 MM)</a:t>
            </a:r>
          </a:p>
        </p:txBody>
      </p:sp>
      <p:sp>
        <p:nvSpPr>
          <p:cNvPr id="210" name="Isosceles Triangle 45">
            <a:extLst>
              <a:ext uri="{FF2B5EF4-FFF2-40B4-BE49-F238E27FC236}">
                <a16:creationId xmlns:a16="http://schemas.microsoft.com/office/drawing/2014/main" id="{E38519E5-B38D-4161-9565-459F3D3B8E3A}"/>
              </a:ext>
            </a:extLst>
          </p:cNvPr>
          <p:cNvSpPr/>
          <p:nvPr/>
        </p:nvSpPr>
        <p:spPr>
          <a:xfrm>
            <a:off x="5211428" y="5872353"/>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TextBox 210">
            <a:extLst>
              <a:ext uri="{FF2B5EF4-FFF2-40B4-BE49-F238E27FC236}">
                <a16:creationId xmlns:a16="http://schemas.microsoft.com/office/drawing/2014/main" id="{D0BC4D31-A518-425A-80C3-F5F8885DE7D3}"/>
              </a:ext>
            </a:extLst>
          </p:cNvPr>
          <p:cNvSpPr txBox="1"/>
          <p:nvPr/>
        </p:nvSpPr>
        <p:spPr>
          <a:xfrm>
            <a:off x="5344016" y="5835777"/>
            <a:ext cx="3080000" cy="182880"/>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★2 경계 4 module ≈ 0.8 MM · component 12~14개 ÷ 3 Plane ≈ 4개</a:t>
            </a:r>
          </a:p>
        </p:txBody>
      </p:sp>
      <p:sp>
        <p:nvSpPr>
          <p:cNvPr id="212" name="Diamond 47">
            <a:extLst>
              <a:ext uri="{FF2B5EF4-FFF2-40B4-BE49-F238E27FC236}">
                <a16:creationId xmlns:a16="http://schemas.microsoft.com/office/drawing/2014/main" id="{161FA3B8-5E6C-4D94-9086-2C71A5169386}"/>
              </a:ext>
            </a:extLst>
          </p:cNvPr>
          <p:cNvSpPr/>
          <p:nvPr/>
        </p:nvSpPr>
        <p:spPr>
          <a:xfrm>
            <a:off x="1971840" y="6050661"/>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TextBox 212">
            <a:extLst>
              <a:ext uri="{FF2B5EF4-FFF2-40B4-BE49-F238E27FC236}">
                <a16:creationId xmlns:a16="http://schemas.microsoft.com/office/drawing/2014/main" id="{E6DD7BAE-D2A8-4023-8A24-AFD27BCCD2BD}"/>
              </a:ext>
            </a:extLst>
          </p:cNvPr>
          <p:cNvSpPr txBox="1"/>
          <p:nvPr/>
        </p:nvSpPr>
        <p:spPr>
          <a:xfrm>
            <a:off x="2104428" y="6018657"/>
            <a:ext cx="3429000" cy="182880"/>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★1 경계 6 module ≈ 1.2 MM · component 12~14개의 1/2</a:t>
            </a:r>
          </a:p>
        </p:txBody>
      </p:sp>
      <p:sp>
        <p:nvSpPr>
          <p:cNvPr id="214" name="Oval 49">
            <a:extLst>
              <a:ext uri="{FF2B5EF4-FFF2-40B4-BE49-F238E27FC236}">
                <a16:creationId xmlns:a16="http://schemas.microsoft.com/office/drawing/2014/main" id="{5EA7809C-DB2D-412C-8A34-5AC64E2CE768}"/>
              </a:ext>
            </a:extLst>
          </p:cNvPr>
          <p:cNvSpPr/>
          <p:nvPr/>
        </p:nvSpPr>
        <p:spPr>
          <a:xfrm>
            <a:off x="384048" y="6288405"/>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TextBox 214">
            <a:extLst>
              <a:ext uri="{FF2B5EF4-FFF2-40B4-BE49-F238E27FC236}">
                <a16:creationId xmlns:a16="http://schemas.microsoft.com/office/drawing/2014/main" id="{0CD48204-B247-420C-B505-B7BCD699432F}"/>
              </a:ext>
            </a:extLst>
          </p:cNvPr>
          <p:cNvSpPr txBox="1"/>
          <p:nvPr/>
        </p:nvSpPr>
        <p:spPr>
          <a:xfrm>
            <a:off x="502920" y="6247257"/>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216" name="Diamond 51">
            <a:extLst>
              <a:ext uri="{FF2B5EF4-FFF2-40B4-BE49-F238E27FC236}">
                <a16:creationId xmlns:a16="http://schemas.microsoft.com/office/drawing/2014/main" id="{09417F8E-EA52-4BE8-9005-6EFD37EF0523}"/>
              </a:ext>
            </a:extLst>
          </p:cNvPr>
          <p:cNvSpPr/>
          <p:nvPr/>
        </p:nvSpPr>
        <p:spPr>
          <a:xfrm>
            <a:off x="1539748" y="6288405"/>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TextBox 216">
            <a:extLst>
              <a:ext uri="{FF2B5EF4-FFF2-40B4-BE49-F238E27FC236}">
                <a16:creationId xmlns:a16="http://schemas.microsoft.com/office/drawing/2014/main" id="{91672559-0068-4769-8A2C-7C3F202C1120}"/>
              </a:ext>
            </a:extLst>
          </p:cNvPr>
          <p:cNvSpPr txBox="1"/>
          <p:nvPr/>
        </p:nvSpPr>
        <p:spPr>
          <a:xfrm>
            <a:off x="1658620" y="6247257"/>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218" name="Isosceles Triangle 53">
            <a:extLst>
              <a:ext uri="{FF2B5EF4-FFF2-40B4-BE49-F238E27FC236}">
                <a16:creationId xmlns:a16="http://schemas.microsoft.com/office/drawing/2014/main" id="{E1D18DB0-7933-4CF8-A75A-53FCA2129A2A}"/>
              </a:ext>
            </a:extLst>
          </p:cNvPr>
          <p:cNvSpPr/>
          <p:nvPr/>
        </p:nvSpPr>
        <p:spPr>
          <a:xfrm>
            <a:off x="3028823" y="6288405"/>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TextBox 218">
            <a:extLst>
              <a:ext uri="{FF2B5EF4-FFF2-40B4-BE49-F238E27FC236}">
                <a16:creationId xmlns:a16="http://schemas.microsoft.com/office/drawing/2014/main" id="{DA8CDC5B-01C0-43C1-9CB8-5274CE7EC970}"/>
              </a:ext>
            </a:extLst>
          </p:cNvPr>
          <p:cNvSpPr txBox="1"/>
          <p:nvPr/>
        </p:nvSpPr>
        <p:spPr>
          <a:xfrm>
            <a:off x="3147695" y="6247257"/>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220" name="Oval 55">
            <a:extLst>
              <a:ext uri="{FF2B5EF4-FFF2-40B4-BE49-F238E27FC236}">
                <a16:creationId xmlns:a16="http://schemas.microsoft.com/office/drawing/2014/main" id="{0D68BF76-CB3C-462E-B2A6-7002B3FD43CC}"/>
              </a:ext>
            </a:extLst>
          </p:cNvPr>
          <p:cNvSpPr/>
          <p:nvPr/>
        </p:nvSpPr>
        <p:spPr>
          <a:xfrm>
            <a:off x="3753358" y="6288405"/>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TextBox 220">
            <a:extLst>
              <a:ext uri="{FF2B5EF4-FFF2-40B4-BE49-F238E27FC236}">
                <a16:creationId xmlns:a16="http://schemas.microsoft.com/office/drawing/2014/main" id="{CC7BBA26-4092-453F-9A3A-5C8D222AC65F}"/>
              </a:ext>
            </a:extLst>
          </p:cNvPr>
          <p:cNvSpPr txBox="1"/>
          <p:nvPr/>
        </p:nvSpPr>
        <p:spPr>
          <a:xfrm>
            <a:off x="3872230" y="6247257"/>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50" name="실행 단추: 뒤로 또는 이전 49">
            <a:hlinkClick r:id="rId3" action="ppaction://hlinksldjump" highlightClick="1"/>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subtitle"/>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54" name="실행 단추: 뒤로 또는 이전 53">
            <a:hlinkClick r:id="" action="ppaction://hlinkshowjump?jump=lastslideviewed" highlightClick="1"/>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subtitle"/>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32654268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변경</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a:t>
            </a:r>
            <a:r>
              <a:rPr lang="en-US" sz="2200" b="1" dirty="0">
                <a:solidFill>
                  <a:srgbClr val="2F5597"/>
                </a:solidFill>
                <a:latin typeface="맑은 고딕"/>
                <a:ea typeface="맑은 고딕"/>
              </a:rPr>
              <a:t>-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dirty="0" err="1">
                <a:solidFill>
                  <a:srgbClr val="404040"/>
                </a:solidFill>
                <a:latin typeface="맑은 고딕"/>
                <a:ea typeface="맑은 고딕"/>
              </a:rPr>
              <a:t>토큰</a:t>
            </a:r>
            <a:r>
              <a:rPr sz="1100" b="0" dirty="0">
                <a:solidFill>
                  <a:srgbClr val="404040"/>
                </a:solidFill>
                <a:latin typeface="맑은 고딕"/>
                <a:ea typeface="맑은 고딕"/>
              </a:rPr>
              <a:t> </a:t>
            </a:r>
            <a:r>
              <a:rPr sz="1100" b="0" dirty="0" err="1">
                <a:solidFill>
                  <a:srgbClr val="404040"/>
                </a:solidFill>
                <a:latin typeface="맑은 고딕"/>
                <a:ea typeface="맑은 고딕"/>
              </a:rPr>
              <a:t>비용</a:t>
            </a:r>
            <a:r>
              <a:rPr lang="en-US" sz="1100" b="0" dirty="0">
                <a:solidFill>
                  <a:srgbClr val="404040"/>
                </a:solidFill>
                <a:latin typeface="맑은 고딕"/>
                <a:ea typeface="맑은 고딕"/>
              </a:rPr>
              <a:t> </a:t>
            </a:r>
            <a:r>
              <a:rPr lang="en-US" sz="1100" dirty="0">
                <a:solidFill>
                  <a:srgbClr val="404040"/>
                </a:solidFill>
                <a:latin typeface="맑은 고딕"/>
                <a:ea typeface="맑은 고딕"/>
              </a:rPr>
              <a:t>AND </a:t>
            </a:r>
            <a:r>
              <a:rPr sz="1100" b="0" dirty="0">
                <a:solidFill>
                  <a:srgbClr val="404040"/>
                </a:solidFill>
                <a:latin typeface="맑은 고딕"/>
                <a:ea typeface="맑은 고딕"/>
              </a:rPr>
              <a:t>M/M(</a:t>
            </a:r>
            <a:r>
              <a:rPr sz="1100" b="0" dirty="0" err="1">
                <a:solidFill>
                  <a:srgbClr val="404040"/>
                </a:solidFill>
                <a:latin typeface="맑은 고딕"/>
                <a:ea typeface="맑은 고딕"/>
              </a:rPr>
              <a:t>개발</a:t>
            </a:r>
            <a:r>
              <a:rPr sz="1100" b="0" dirty="0">
                <a:solidFill>
                  <a:srgbClr val="404040"/>
                </a:solidFill>
                <a:latin typeface="맑은 고딕"/>
                <a:ea typeface="맑은 고딕"/>
              </a:rPr>
              <a:t> </a:t>
            </a:r>
            <a:r>
              <a:rPr sz="1100" b="0" dirty="0" err="1">
                <a:solidFill>
                  <a:srgbClr val="404040"/>
                </a:solidFill>
                <a:latin typeface="맑은 고딕"/>
                <a:ea typeface="맑은 고딕"/>
              </a:rPr>
              <a:t>공수</a:t>
            </a:r>
            <a:r>
              <a:rPr sz="1100" b="0" dirty="0">
                <a:solidFill>
                  <a:srgbClr val="404040"/>
                </a:solidFill>
                <a:latin typeface="맑은 고딕"/>
                <a:ea typeface="맑은 고딕"/>
              </a:rPr>
              <a:t>)</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bl"/>
          <p:cNvGraphicFramePr>
            <a:graphicFrameLocks noGrp="1"/>
          </p:cNvGraphicFramePr>
          <p:nvPr/>
        </p:nvGraphicFramePr>
        <p:xfrm>
          <a:off x="365760" y="1188720"/>
          <a:ext cx="11457432" cy="1353312"/>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5605272">
                  <a:extLst>
                    <a:ext uri="{9D8B030D-6E8A-4147-A177-3AD203B41FA5}">
                      <a16:colId xmlns:a16="http://schemas.microsoft.com/office/drawing/2014/main" val="20003"/>
                    </a:ext>
                  </a:extLst>
                </a:gridCol>
              </a:tblGrid>
              <a:tr h="310896">
                <a:tc>
                  <a:txBody>
                    <a:bodyPr/>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strike="sngStrike" dirty="0">
                          <a:solidFill>
                            <a:srgbClr val="FFFFFF"/>
                          </a:solidFill>
                          <a:latin typeface="맑은 고딕"/>
                          <a:ea typeface="맑은 고딕"/>
                        </a:rPr>
                        <a:t>① </a:t>
                      </a:r>
                      <a:r>
                        <a:rPr sz="950" b="1" strike="sngStrike" dirty="0" err="1">
                          <a:solidFill>
                            <a:srgbClr val="FFFFFF"/>
                          </a:solidFill>
                          <a:latin typeface="맑은 고딕"/>
                          <a:ea typeface="맑은 고딕"/>
                        </a:rPr>
                        <a:t>토큰</a:t>
                      </a:r>
                      <a:r>
                        <a:rPr sz="950" b="1" strike="sngStrike" dirty="0">
                          <a:solidFill>
                            <a:srgbClr val="FFFFFF"/>
                          </a:solidFill>
                          <a:latin typeface="맑은 고딕"/>
                          <a:ea typeface="맑은 고딕"/>
                        </a:rPr>
                        <a:t> </a:t>
                      </a:r>
                      <a:r>
                        <a:rPr sz="950" b="1" strike="sngStrike" dirty="0" err="1">
                          <a:solidFill>
                            <a:srgbClr val="FFFFFF"/>
                          </a:solidFill>
                          <a:latin typeface="맑은 고딕"/>
                          <a:ea typeface="맑은 고딕"/>
                        </a:rPr>
                        <a:t>비용</a:t>
                      </a:r>
                      <a:r>
                        <a:rPr sz="950" b="1" strike="sngStrike" dirty="0">
                          <a:solidFill>
                            <a:srgbClr val="FFFFFF"/>
                          </a:solidFill>
                          <a:latin typeface="맑은 고딕"/>
                          <a:ea typeface="맑은 고딕"/>
                        </a:rPr>
                        <a:t> ($/</a:t>
                      </a:r>
                      <a:r>
                        <a:rPr sz="950" b="1" strike="sngStrike" dirty="0" err="1">
                          <a:solidFill>
                            <a:srgbClr val="FFFFFF"/>
                          </a:solidFill>
                          <a:latin typeface="맑은 고딕"/>
                          <a:ea typeface="맑은 고딕"/>
                        </a:rPr>
                        <a:t>변경</a:t>
                      </a:r>
                      <a:r>
                        <a:rPr sz="950" b="1" strike="sngStrike" dirty="0">
                          <a:solidFill>
                            <a:srgbClr val="FFFFFF"/>
                          </a:solidFill>
                          <a:latin typeface="맑은 고딕"/>
                          <a:ea typeface="맑은 고딕"/>
                        </a:rPr>
                        <a:t>, mid tier)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dirty="0">
                          <a:solidFill>
                            <a:srgbClr val="FFFFFF"/>
                          </a:solidFill>
                          <a:latin typeface="맑은 고딕"/>
                          <a:ea typeface="맑은 고딕"/>
                        </a:rPr>
                        <a:t>② </a:t>
                      </a:r>
                      <a:r>
                        <a:rPr sz="950" b="1" dirty="0" err="1">
                          <a:solidFill>
                            <a:srgbClr val="FFFFFF"/>
                          </a:solidFill>
                          <a:latin typeface="맑은 고딕"/>
                          <a:ea typeface="맑은 고딕"/>
                        </a:rPr>
                        <a:t>개발</a:t>
                      </a:r>
                      <a:r>
                        <a:rPr sz="950" b="1" dirty="0">
                          <a:solidFill>
                            <a:srgbClr val="FFFFFF"/>
                          </a:solidFill>
                          <a:latin typeface="맑은 고딕"/>
                          <a:ea typeface="맑은 고딕"/>
                        </a:rPr>
                        <a:t> </a:t>
                      </a:r>
                      <a:r>
                        <a:rPr sz="950" b="1" dirty="0" err="1">
                          <a:solidFill>
                            <a:srgbClr val="FFFFFF"/>
                          </a:solidFill>
                          <a:latin typeface="맑은 고딕"/>
                          <a:ea typeface="맑은 고딕"/>
                        </a:rPr>
                        <a:t>공수</a:t>
                      </a:r>
                      <a:r>
                        <a:rPr sz="950" b="1" dirty="0">
                          <a:solidFill>
                            <a:srgbClr val="FFFFFF"/>
                          </a:solidFill>
                          <a:latin typeface="맑은 고딕"/>
                          <a:ea typeface="맑은 고딕"/>
                        </a:rPr>
                        <a:t>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347472">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950" b="0" strike="sngStrike" dirty="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950" b="0" dirty="0">
                          <a:solidFill>
                            <a:srgbClr val="000000"/>
                          </a:solidFill>
                          <a:latin typeface="맑은 고딕"/>
                          <a:ea typeface="맑은 고딕"/>
                        </a:rPr>
                        <a:t>①과 ② </a:t>
                      </a:r>
                      <a:r>
                        <a:rPr sz="950" b="0" dirty="0" err="1">
                          <a:solidFill>
                            <a:srgbClr val="000000"/>
                          </a:solidFill>
                          <a:latin typeface="맑은 고딕"/>
                          <a:ea typeface="맑은 고딕"/>
                        </a:rPr>
                        <a:t>모두</a:t>
                      </a:r>
                      <a:r>
                        <a:rPr sz="950" b="0" dirty="0">
                          <a:solidFill>
                            <a:srgbClr val="000000"/>
                          </a:solidFill>
                          <a:latin typeface="맑은 고딕"/>
                          <a:ea typeface="맑은 고딕"/>
                        </a:rPr>
                        <a:t> ★★★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r>
                        <a:rPr sz="950" b="0" dirty="0" err="1">
                          <a:solidFill>
                            <a:srgbClr val="000000"/>
                          </a:solidFill>
                          <a:latin typeface="맑은 고딕"/>
                          <a:ea typeface="맑은 고딕"/>
                        </a:rPr>
                        <a:t>이내</a:t>
                      </a:r>
                      <a:endParaRPr sz="9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extLst>
                  <a:ext uri="{0D108BD9-81ED-4DB2-BD59-A6C34878D82A}">
                    <a16:rowId xmlns:a16="http://schemas.microsoft.com/office/drawing/2014/main" val="10001"/>
                  </a:ext>
                </a:extLst>
              </a:tr>
              <a:tr h="347472">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sz="950" b="0" strike="sngStrike" dirty="0">
                          <a:solidFill>
                            <a:srgbClr val="000000"/>
                          </a:solidFill>
                          <a:latin typeface="맑은 고딕"/>
                          <a:ea typeface="맑은 고딕"/>
                        </a:rPr>
                        <a: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sz="950" b="0">
                          <a:solidFill>
                            <a:srgbClr val="000000"/>
                          </a:solidFill>
                          <a:latin typeface="맑은 고딕"/>
                          <a:ea typeface="맑은 고딕"/>
                        </a:rPr>
                        <a: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sz="950" b="0" dirty="0">
                          <a:solidFill>
                            <a:srgbClr val="000000"/>
                          </a:solidFill>
                          <a:latin typeface="맑은 고딕"/>
                          <a:ea typeface="맑은 고딕"/>
                        </a:rPr>
                        <a:t>①과 ② </a:t>
                      </a:r>
                      <a:r>
                        <a:rPr sz="950" b="0" dirty="0" err="1">
                          <a:solidFill>
                            <a:srgbClr val="000000"/>
                          </a:solidFill>
                          <a:latin typeface="맑은 고딕"/>
                          <a:ea typeface="맑은 고딕"/>
                        </a:rPr>
                        <a:t>모두</a:t>
                      </a:r>
                      <a:r>
                        <a:rPr sz="950" b="0" dirty="0">
                          <a:solidFill>
                            <a:srgbClr val="000000"/>
                          </a:solidFill>
                          <a:latin typeface="맑은 고딕"/>
                          <a:ea typeface="맑은 고딕"/>
                        </a:rPr>
                        <a:t> ★★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r>
                        <a:rPr sz="950" b="0" dirty="0" err="1">
                          <a:solidFill>
                            <a:srgbClr val="000000"/>
                          </a:solidFill>
                          <a:latin typeface="맑은 고딕"/>
                          <a:ea typeface="맑은 고딕"/>
                        </a:rPr>
                        <a:t>이내</a:t>
                      </a:r>
                      <a:r>
                        <a:rPr sz="950" b="0" dirty="0">
                          <a:solidFill>
                            <a:srgbClr val="000000"/>
                          </a:solidFill>
                          <a:latin typeface="맑은 고딕"/>
                          <a:ea typeface="맑은 고딕"/>
                        </a:rPr>
                        <a:t> (</a:t>
                      </a:r>
                      <a:r>
                        <a:rPr sz="950" b="0" dirty="0" err="1">
                          <a:solidFill>
                            <a:srgbClr val="000000"/>
                          </a:solidFill>
                          <a:latin typeface="맑은 고딕"/>
                          <a:ea typeface="맑은 고딕"/>
                        </a:rPr>
                        <a:t>하나라도</a:t>
                      </a:r>
                      <a:r>
                        <a:rPr sz="950" b="0" dirty="0">
                          <a:solidFill>
                            <a:srgbClr val="000000"/>
                          </a:solidFill>
                          <a:latin typeface="맑은 고딕"/>
                          <a:ea typeface="맑은 고딕"/>
                        </a:rPr>
                        <a:t> ★★★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extLst>
                  <a:ext uri="{0D108BD9-81ED-4DB2-BD59-A6C34878D82A}">
                    <a16:rowId xmlns:a16="http://schemas.microsoft.com/office/drawing/2014/main" val="10002"/>
                  </a:ext>
                </a:extLst>
              </a:tr>
              <a:tr h="347472">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sz="950" b="0" strike="sngStrike" dirty="0">
                          <a:solidFill>
                            <a:srgbClr val="000000"/>
                          </a:solidFill>
                          <a:latin typeface="맑은 고딕"/>
                          <a:ea typeface="맑은 고딕"/>
                        </a:rPr>
                        <a:t>&gt;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sz="950" b="0">
                          <a:solidFill>
                            <a:srgbClr val="000000"/>
                          </a:solidFill>
                          <a:latin typeface="맑은 고딕"/>
                          <a:ea typeface="맑은 고딕"/>
                        </a:rPr>
                        <a:t>&gt;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sz="950" b="0" dirty="0">
                          <a:solidFill>
                            <a:srgbClr val="000000"/>
                          </a:solidFill>
                          <a:latin typeface="맑은 고딕"/>
                          <a:ea typeface="맑은 고딕"/>
                        </a:rPr>
                        <a:t>① </a:t>
                      </a:r>
                      <a:r>
                        <a:rPr sz="950" b="0" dirty="0" err="1">
                          <a:solidFill>
                            <a:srgbClr val="000000"/>
                          </a:solidFill>
                          <a:latin typeface="맑은 고딕"/>
                          <a:ea typeface="맑은 고딕"/>
                        </a:rPr>
                        <a:t>또는</a:t>
                      </a:r>
                      <a:r>
                        <a:rPr sz="950" b="0" dirty="0">
                          <a:solidFill>
                            <a:srgbClr val="000000"/>
                          </a:solidFill>
                          <a:latin typeface="맑은 고딕"/>
                          <a:ea typeface="맑은 고딕"/>
                        </a:rPr>
                        <a:t> ②가 ★★ </a:t>
                      </a:r>
                      <a:r>
                        <a:rPr sz="950" b="0" dirty="0" err="1">
                          <a:solidFill>
                            <a:srgbClr val="000000"/>
                          </a:solidFill>
                          <a:latin typeface="맑은 고딕"/>
                          <a:ea typeface="맑은 고딕"/>
                        </a:rPr>
                        <a:t>기준</a:t>
                      </a:r>
                      <a:r>
                        <a:rPr sz="950" b="0" dirty="0">
                          <a:solidFill>
                            <a:srgbClr val="000000"/>
                          </a:solidFill>
                          <a:latin typeface="맑은 고딕"/>
                          <a:ea typeface="맑은 고딕"/>
                        </a:rPr>
                        <a:t>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extLst>
                  <a:ext uri="{0D108BD9-81ED-4DB2-BD59-A6C34878D82A}">
                    <a16:rowId xmlns:a16="http://schemas.microsoft.com/office/drawing/2014/main" val="10003"/>
                  </a:ext>
                </a:extLst>
              </a:tr>
            </a:tbl>
          </a:graphicData>
        </a:graphic>
      </p:graphicFrame>
      <p:sp>
        <p:nvSpPr>
          <p:cNvPr id="8" name="formula"/>
          <p:cNvSpPr/>
          <p:nvPr/>
        </p:nvSpPr>
        <p:spPr>
          <a:xfrm>
            <a:off x="365760" y="2606039"/>
            <a:ext cx="11457432" cy="1353311"/>
          </a:xfrm>
          <a:prstGeom prst="roundRect">
            <a:avLst/>
          </a:prstGeom>
          <a:solidFill>
            <a:srgbClr val="EAF0FA"/>
          </a:solidFill>
          <a:ln>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000" b="1" dirty="0" err="1">
                <a:solidFill>
                  <a:srgbClr val="2F5597"/>
                </a:solidFill>
                <a:latin typeface="맑은 고딕"/>
              </a:rPr>
              <a:t>토큰</a:t>
            </a:r>
            <a:r>
              <a:rPr sz="1000" b="1" dirty="0">
                <a:solidFill>
                  <a:srgbClr val="2F5597"/>
                </a:solidFill>
                <a:latin typeface="맑은 고딕"/>
              </a:rPr>
              <a:t> </a:t>
            </a:r>
            <a:r>
              <a:rPr sz="1000" b="1" dirty="0" err="1">
                <a:solidFill>
                  <a:srgbClr val="2F5597"/>
                </a:solidFill>
                <a:latin typeface="맑은 고딕"/>
              </a:rPr>
              <a:t>비용</a:t>
            </a:r>
            <a:r>
              <a:rPr sz="1000" b="1" dirty="0">
                <a:solidFill>
                  <a:srgbClr val="2F5597"/>
                </a:solidFill>
                <a:latin typeface="맑은 고딕"/>
              </a:rPr>
              <a:t>($) = [ </a:t>
            </a:r>
            <a:r>
              <a:rPr sz="1000" b="1" dirty="0">
                <a:solidFill>
                  <a:srgbClr val="FF0000"/>
                </a:solidFill>
                <a:latin typeface="맑은 고딕"/>
              </a:rPr>
              <a:t>C̄</a:t>
            </a:r>
            <a:r>
              <a:rPr lang="en-US" sz="1000" b="1" dirty="0">
                <a:solidFill>
                  <a:srgbClr val="FF0000"/>
                </a:solidFill>
                <a:latin typeface="맑은 고딕"/>
              </a:rPr>
              <a:t>(Context </a:t>
            </a:r>
            <a:r>
              <a:rPr lang="ko-KR" altLang="en-US" sz="1000" b="1" dirty="0">
                <a:solidFill>
                  <a:srgbClr val="FF0000"/>
                </a:solidFill>
                <a:latin typeface="맑은 고딕"/>
              </a:rPr>
              <a:t>크기</a:t>
            </a:r>
            <a:r>
              <a:rPr lang="en-US" altLang="ko-KR" sz="1000" b="1" dirty="0">
                <a:solidFill>
                  <a:srgbClr val="FF0000"/>
                </a:solidFill>
                <a:latin typeface="맑은 고딕"/>
              </a:rPr>
              <a:t>)</a:t>
            </a:r>
            <a:r>
              <a:rPr sz="1000" b="1" dirty="0">
                <a:solidFill>
                  <a:srgbClr val="2F5597"/>
                </a:solidFill>
                <a:latin typeface="맑은 고딕"/>
              </a:rPr>
              <a:t> × </a:t>
            </a:r>
            <a:r>
              <a:rPr lang="en-US" sz="1000" b="1" dirty="0">
                <a:solidFill>
                  <a:srgbClr val="2F5597"/>
                </a:solidFill>
                <a:latin typeface="맑은 고딕"/>
              </a:rPr>
              <a:t>Input </a:t>
            </a:r>
            <a:r>
              <a:rPr lang="ko-KR" altLang="en-US" sz="1000" b="1" dirty="0">
                <a:solidFill>
                  <a:srgbClr val="2F5597"/>
                </a:solidFill>
                <a:latin typeface="맑은 고딕"/>
              </a:rPr>
              <a:t>비용</a:t>
            </a:r>
            <a:r>
              <a:rPr lang="en-US" altLang="ko-KR" sz="1000" b="1" dirty="0">
                <a:solidFill>
                  <a:srgbClr val="2F5597"/>
                </a:solidFill>
                <a:latin typeface="맑은 고딕"/>
              </a:rPr>
              <a:t>(2$)</a:t>
            </a:r>
            <a:r>
              <a:rPr lang="ko-KR" altLang="en-US" sz="1000" b="1" dirty="0">
                <a:solidFill>
                  <a:srgbClr val="2F5597"/>
                </a:solidFill>
                <a:latin typeface="맑은 고딕"/>
              </a:rPr>
              <a:t> </a:t>
            </a:r>
            <a:r>
              <a:rPr sz="1000" b="1" dirty="0">
                <a:solidFill>
                  <a:srgbClr val="2F5597"/>
                </a:solidFill>
                <a:latin typeface="맑은 고딕"/>
              </a:rPr>
              <a:t>+ </a:t>
            </a:r>
            <a:r>
              <a:rPr lang="en-US" sz="1000" b="1" dirty="0">
                <a:solidFill>
                  <a:srgbClr val="FF0000"/>
                </a:solidFill>
                <a:latin typeface="맑은 고딕"/>
              </a:rPr>
              <a:t>N(turn</a:t>
            </a:r>
            <a:r>
              <a:rPr lang="ko-KR" altLang="en-US" sz="1000" b="1" dirty="0">
                <a:solidFill>
                  <a:srgbClr val="FF0000"/>
                </a:solidFill>
                <a:latin typeface="맑은 고딕"/>
              </a:rPr>
              <a:t>수</a:t>
            </a:r>
            <a:r>
              <a:rPr lang="en-US" altLang="ko-KR" sz="1000" b="1" dirty="0">
                <a:solidFill>
                  <a:srgbClr val="FF0000"/>
                </a:solidFill>
                <a:latin typeface="맑은 고딕"/>
              </a:rPr>
              <a:t>)</a:t>
            </a:r>
            <a:r>
              <a:rPr sz="1000" b="1" dirty="0">
                <a:solidFill>
                  <a:srgbClr val="2F5597"/>
                </a:solidFill>
                <a:latin typeface="맑은 고딕"/>
              </a:rPr>
              <a:t> × </a:t>
            </a:r>
            <a:r>
              <a:rPr sz="1000" b="1" dirty="0">
                <a:solidFill>
                  <a:srgbClr val="FF0000"/>
                </a:solidFill>
                <a:latin typeface="맑은 고딕"/>
              </a:rPr>
              <a:t>C̄ </a:t>
            </a:r>
            <a:r>
              <a:rPr sz="1000" b="1" dirty="0">
                <a:solidFill>
                  <a:srgbClr val="2F5597"/>
                </a:solidFill>
                <a:latin typeface="맑은 고딕"/>
              </a:rPr>
              <a:t>× </a:t>
            </a:r>
            <a:r>
              <a:rPr lang="en-US" sz="1000" b="1" dirty="0">
                <a:solidFill>
                  <a:srgbClr val="2F5597"/>
                </a:solidFill>
                <a:latin typeface="맑은 고딕"/>
              </a:rPr>
              <a:t>Cache</a:t>
            </a:r>
            <a:r>
              <a:rPr lang="ko-KR" altLang="en-US" sz="1000" b="1" dirty="0">
                <a:solidFill>
                  <a:srgbClr val="2F5597"/>
                </a:solidFill>
                <a:latin typeface="맑은 고딕"/>
              </a:rPr>
              <a:t> </a:t>
            </a:r>
            <a:r>
              <a:rPr lang="en-US" altLang="ko-KR" sz="1000" b="1" dirty="0">
                <a:solidFill>
                  <a:srgbClr val="2F5597"/>
                </a:solidFill>
                <a:latin typeface="맑은 고딕"/>
              </a:rPr>
              <a:t>R</a:t>
            </a:r>
            <a:r>
              <a:rPr lang="ko-KR" altLang="en-US" sz="1000" b="1" dirty="0">
                <a:solidFill>
                  <a:srgbClr val="2F5597"/>
                </a:solidFill>
                <a:latin typeface="맑은 고딕"/>
              </a:rPr>
              <a:t>비용</a:t>
            </a:r>
            <a:r>
              <a:rPr lang="en-US" altLang="ko-KR" sz="1000" b="1" dirty="0">
                <a:solidFill>
                  <a:srgbClr val="2F5597"/>
                </a:solidFill>
                <a:latin typeface="맑은 고딕"/>
              </a:rPr>
              <a:t>(0.1$)</a:t>
            </a:r>
            <a:r>
              <a:rPr lang="ko-KR" altLang="en-US" sz="1000" b="1" dirty="0">
                <a:solidFill>
                  <a:srgbClr val="2F5597"/>
                </a:solidFill>
                <a:latin typeface="맑은 고딕"/>
              </a:rPr>
              <a:t> </a:t>
            </a:r>
            <a:r>
              <a:rPr sz="1000" b="1" dirty="0">
                <a:solidFill>
                  <a:srgbClr val="2F5597"/>
                </a:solidFill>
                <a:latin typeface="맑은 고딕"/>
              </a:rPr>
              <a:t>+ </a:t>
            </a:r>
            <a:r>
              <a:rPr sz="1000" b="1" dirty="0" err="1">
                <a:solidFill>
                  <a:srgbClr val="2F5597"/>
                </a:solidFill>
                <a:latin typeface="맑은 고딕"/>
              </a:rPr>
              <a:t>T_out</a:t>
            </a:r>
            <a:r>
              <a:rPr lang="en-US" sz="1000" b="1" dirty="0">
                <a:solidFill>
                  <a:srgbClr val="2F5597"/>
                </a:solidFill>
                <a:latin typeface="맑은 고딕"/>
              </a:rPr>
              <a:t>(</a:t>
            </a:r>
            <a:r>
              <a:rPr lang="ko-KR" altLang="en-US" sz="1000" b="1" dirty="0">
                <a:solidFill>
                  <a:srgbClr val="2F5597"/>
                </a:solidFill>
                <a:latin typeface="맑은 고딕"/>
              </a:rPr>
              <a:t>토큰 생성 수</a:t>
            </a:r>
            <a:r>
              <a:rPr lang="en-US" altLang="ko-KR" sz="1000" b="1" dirty="0">
                <a:solidFill>
                  <a:srgbClr val="2F5597"/>
                </a:solidFill>
                <a:latin typeface="맑은 고딕"/>
              </a:rPr>
              <a:t>)</a:t>
            </a:r>
            <a:r>
              <a:rPr sz="1000" b="1" dirty="0">
                <a:solidFill>
                  <a:srgbClr val="2F5597"/>
                </a:solidFill>
                <a:latin typeface="맑은 고딕"/>
              </a:rPr>
              <a:t>× </a:t>
            </a:r>
            <a:r>
              <a:rPr lang="en-US" sz="1000" b="1" dirty="0">
                <a:solidFill>
                  <a:srgbClr val="2F5597"/>
                </a:solidFill>
                <a:latin typeface="맑은 고딕"/>
              </a:rPr>
              <a:t>Output </a:t>
            </a:r>
            <a:r>
              <a:rPr lang="ko-KR" altLang="en-US" sz="1000" b="1" dirty="0">
                <a:solidFill>
                  <a:srgbClr val="2F5597"/>
                </a:solidFill>
                <a:latin typeface="맑은 고딕"/>
              </a:rPr>
              <a:t>비용</a:t>
            </a:r>
            <a:r>
              <a:rPr lang="en-US" altLang="ko-KR" sz="1000" b="1" dirty="0">
                <a:solidFill>
                  <a:srgbClr val="2F5597"/>
                </a:solidFill>
                <a:latin typeface="맑은 고딕"/>
              </a:rPr>
              <a:t>(10$)</a:t>
            </a:r>
            <a:r>
              <a:rPr sz="1000" b="1" dirty="0">
                <a:solidFill>
                  <a:srgbClr val="2F5597"/>
                </a:solidFill>
                <a:latin typeface="맑은 고딕"/>
              </a:rPr>
              <a:t>]</a:t>
            </a:r>
            <a:r>
              <a:rPr lang="en-US" sz="1000" b="1" dirty="0">
                <a:solidFill>
                  <a:srgbClr val="2F5597"/>
                </a:solidFill>
                <a:latin typeface="맑은 고딕"/>
              </a:rPr>
              <a:t> / 1M </a:t>
            </a:r>
            <a:r>
              <a:rPr lang="ko-KR" altLang="en-US" sz="1000" b="1" dirty="0">
                <a:solidFill>
                  <a:srgbClr val="2F5597"/>
                </a:solidFill>
                <a:latin typeface="맑은 고딕"/>
              </a:rPr>
              <a:t>토큰</a:t>
            </a:r>
            <a:r>
              <a:rPr sz="1000" b="1" dirty="0">
                <a:solidFill>
                  <a:srgbClr val="2F5597"/>
                </a:solidFill>
                <a:latin typeface="맑은 고딕"/>
              </a:rPr>
              <a:t> </a:t>
            </a:r>
            <a:r>
              <a:rPr lang="en-US" sz="1000" b="1" dirty="0">
                <a:solidFill>
                  <a:srgbClr val="2F5597"/>
                </a:solidFill>
                <a:latin typeface="맑은 고딕"/>
              </a:rPr>
              <a:t>     (Claude Code Sonnet 5.5 </a:t>
            </a:r>
            <a:r>
              <a:rPr lang="ko-KR" altLang="en-US" sz="1000" b="1" dirty="0">
                <a:solidFill>
                  <a:srgbClr val="2F5597"/>
                </a:solidFill>
                <a:latin typeface="맑은 고딕"/>
              </a:rPr>
              <a:t>기준</a:t>
            </a:r>
            <a:r>
              <a:rPr lang="en-US" altLang="ko-KR" sz="1000" b="1" dirty="0">
                <a:solidFill>
                  <a:srgbClr val="2F5597"/>
                </a:solidFill>
                <a:latin typeface="맑은 고딕"/>
              </a:rPr>
              <a:t>) </a:t>
            </a:r>
          </a:p>
          <a:p>
            <a:pPr algn="l"/>
            <a:endParaRPr sz="1000" b="1" dirty="0">
              <a:solidFill>
                <a:srgbClr val="2F5597"/>
              </a:solidFill>
              <a:latin typeface="맑은 고딕"/>
            </a:endParaRPr>
          </a:p>
          <a:p>
            <a:pPr algn="l"/>
            <a:r>
              <a:rPr sz="1000" b="0" dirty="0">
                <a:solidFill>
                  <a:srgbClr val="2F5597"/>
                </a:solidFill>
                <a:latin typeface="맑은 고딕"/>
              </a:rPr>
              <a:t>C̄ </a:t>
            </a:r>
            <a:r>
              <a:rPr lang="en-US" sz="1000" b="0" dirty="0">
                <a:solidFill>
                  <a:srgbClr val="2F5597"/>
                </a:solidFill>
                <a:latin typeface="맑은 고딕"/>
              </a:rPr>
              <a:t>(Context </a:t>
            </a:r>
            <a:r>
              <a:rPr lang="ko-KR" altLang="en-US" sz="1000" b="0" dirty="0">
                <a:solidFill>
                  <a:srgbClr val="2F5597"/>
                </a:solidFill>
                <a:latin typeface="맑은 고딕"/>
              </a:rPr>
              <a:t>크기</a:t>
            </a:r>
            <a:r>
              <a:rPr lang="en-US" altLang="ko-KR" sz="1000" b="0" dirty="0">
                <a:solidFill>
                  <a:srgbClr val="2F5597"/>
                </a:solidFill>
                <a:latin typeface="맑은 고딕"/>
              </a:rPr>
              <a:t>) </a:t>
            </a:r>
            <a:r>
              <a:rPr sz="1000" b="0" dirty="0">
                <a:solidFill>
                  <a:srgbClr val="2F5597"/>
                </a:solidFill>
                <a:latin typeface="맑은 고딕"/>
              </a:rPr>
              <a:t>= C0</a:t>
            </a:r>
            <a:r>
              <a:rPr lang="en-US" sz="1000" dirty="0">
                <a:solidFill>
                  <a:srgbClr val="2F5597"/>
                </a:solidFill>
                <a:latin typeface="맑은 고딕"/>
              </a:rPr>
              <a:t>(</a:t>
            </a:r>
            <a:r>
              <a:rPr lang="ko-KR" altLang="en-US" sz="1000" b="0" dirty="0">
                <a:solidFill>
                  <a:srgbClr val="2F5597"/>
                </a:solidFill>
                <a:latin typeface="맑은 고딕"/>
              </a:rPr>
              <a:t>고정 </a:t>
            </a:r>
            <a:r>
              <a:rPr lang="en-US" sz="1000" b="0" dirty="0">
                <a:solidFill>
                  <a:srgbClr val="2F5597"/>
                </a:solidFill>
                <a:latin typeface="맑은 고딕"/>
              </a:rPr>
              <a:t>context 25k token)</a:t>
            </a:r>
            <a:r>
              <a:rPr sz="1000" b="0" dirty="0">
                <a:solidFill>
                  <a:srgbClr val="2F5597"/>
                </a:solidFill>
                <a:latin typeface="맑은 고딕"/>
              </a:rPr>
              <a:t> + </a:t>
            </a:r>
            <a:r>
              <a:rPr sz="1000" dirty="0">
                <a:solidFill>
                  <a:srgbClr val="2F5597"/>
                </a:solidFill>
                <a:latin typeface="맑은 고딕"/>
              </a:rPr>
              <a:t>S(읽</a:t>
            </a:r>
            <a:r>
              <a:rPr lang="ko-KR" altLang="en-US" sz="1000" dirty="0">
                <a:solidFill>
                  <a:srgbClr val="2F5597"/>
                </a:solidFill>
                <a:latin typeface="맑은 고딕"/>
              </a:rPr>
              <a:t>어야 하는 </a:t>
            </a:r>
            <a:r>
              <a:rPr sz="1000" dirty="0">
                <a:solidFill>
                  <a:srgbClr val="2F5597"/>
                </a:solidFill>
                <a:latin typeface="맑은 고딕"/>
              </a:rPr>
              <a:t>module </a:t>
            </a:r>
            <a:r>
              <a:rPr sz="1000" dirty="0" err="1">
                <a:solidFill>
                  <a:srgbClr val="2F5597"/>
                </a:solidFill>
                <a:latin typeface="맑은 고딕"/>
              </a:rPr>
              <a:t>크기</a:t>
            </a:r>
            <a:r>
              <a:rPr sz="1000" dirty="0">
                <a:solidFill>
                  <a:srgbClr val="2F5597"/>
                </a:solidFill>
                <a:latin typeface="맑은 고딕"/>
              </a:rPr>
              <a:t>)     </a:t>
            </a:r>
            <a:endParaRPr lang="en-US" sz="1000" dirty="0">
              <a:solidFill>
                <a:srgbClr val="2F5597"/>
              </a:solidFill>
              <a:latin typeface="맑은 고딕"/>
            </a:endParaRPr>
          </a:p>
          <a:p>
            <a:pPr algn="l"/>
            <a:r>
              <a:rPr sz="1000" b="0" dirty="0">
                <a:solidFill>
                  <a:srgbClr val="2F5597"/>
                </a:solidFill>
                <a:latin typeface="맑은 고딕"/>
              </a:rPr>
              <a:t>N</a:t>
            </a:r>
            <a:r>
              <a:rPr lang="en-US" sz="1000" b="0" dirty="0">
                <a:solidFill>
                  <a:srgbClr val="2F5597"/>
                </a:solidFill>
                <a:latin typeface="맑은 고딕"/>
              </a:rPr>
              <a:t>(turn </a:t>
            </a:r>
            <a:r>
              <a:rPr lang="ko-KR" altLang="en-US" sz="1000" b="0" dirty="0">
                <a:solidFill>
                  <a:srgbClr val="2F5597"/>
                </a:solidFill>
                <a:latin typeface="맑은 고딕"/>
              </a:rPr>
              <a:t>수</a:t>
            </a:r>
            <a:r>
              <a:rPr lang="en-US" altLang="ko-KR" sz="1000" b="0" dirty="0">
                <a:solidFill>
                  <a:srgbClr val="2F5597"/>
                </a:solidFill>
                <a:latin typeface="맑은 고딕"/>
              </a:rPr>
              <a:t>)</a:t>
            </a:r>
            <a:r>
              <a:rPr sz="1000" b="0" dirty="0">
                <a:solidFill>
                  <a:srgbClr val="2F5597"/>
                </a:solidFill>
                <a:latin typeface="맑은 고딕"/>
              </a:rPr>
              <a:t> = n0</a:t>
            </a:r>
            <a:r>
              <a:rPr lang="en-US" sz="1000" b="0" dirty="0">
                <a:solidFill>
                  <a:srgbClr val="2F5597"/>
                </a:solidFill>
                <a:latin typeface="맑은 고딕"/>
              </a:rPr>
              <a:t>(</a:t>
            </a:r>
            <a:r>
              <a:rPr lang="ko-KR" altLang="en-US" sz="1000" b="0" dirty="0">
                <a:solidFill>
                  <a:srgbClr val="2F5597"/>
                </a:solidFill>
                <a:latin typeface="맑은 고딕"/>
              </a:rPr>
              <a:t>기본 </a:t>
            </a:r>
            <a:r>
              <a:rPr lang="en-US" altLang="ko-KR" sz="1000" b="0" dirty="0">
                <a:solidFill>
                  <a:srgbClr val="2F5597"/>
                </a:solidFill>
                <a:latin typeface="맑은 고딕"/>
              </a:rPr>
              <a:t>turn </a:t>
            </a:r>
            <a:r>
              <a:rPr lang="ko-KR" altLang="en-US" sz="1000" b="0" dirty="0">
                <a:solidFill>
                  <a:srgbClr val="2F5597"/>
                </a:solidFill>
                <a:latin typeface="맑은 고딕"/>
              </a:rPr>
              <a:t>수</a:t>
            </a:r>
            <a:r>
              <a:rPr lang="en-US" altLang="ko-KR" sz="1000" b="0" dirty="0">
                <a:solidFill>
                  <a:srgbClr val="2F5597"/>
                </a:solidFill>
                <a:latin typeface="맑은 고딕"/>
              </a:rPr>
              <a:t>)</a:t>
            </a:r>
            <a:r>
              <a:rPr sz="1000" b="0" dirty="0">
                <a:solidFill>
                  <a:srgbClr val="2F5597"/>
                </a:solidFill>
                <a:latin typeface="맑은 고딕"/>
              </a:rPr>
              <a:t>+ </a:t>
            </a:r>
            <a:r>
              <a:rPr sz="1000" b="0" dirty="0" err="1">
                <a:solidFill>
                  <a:srgbClr val="2F5597"/>
                </a:solidFill>
                <a:latin typeface="맑은 고딕"/>
              </a:rPr>
              <a:t>n_m</a:t>
            </a:r>
            <a:r>
              <a:rPr lang="en-US" sz="1000" b="0" dirty="0">
                <a:solidFill>
                  <a:srgbClr val="2F5597"/>
                </a:solidFill>
                <a:latin typeface="맑은 고딕"/>
              </a:rPr>
              <a:t>(</a:t>
            </a:r>
            <a:r>
              <a:rPr lang="ko-KR" altLang="en-US" sz="1000" b="0" dirty="0">
                <a:solidFill>
                  <a:srgbClr val="2F5597"/>
                </a:solidFill>
                <a:latin typeface="맑은 고딕"/>
              </a:rPr>
              <a:t>모듈</a:t>
            </a:r>
            <a:r>
              <a:rPr lang="en-US" sz="1000" b="0" dirty="0">
                <a:solidFill>
                  <a:srgbClr val="2F5597"/>
                </a:solidFill>
                <a:latin typeface="맑은 고딕"/>
              </a:rPr>
              <a:t> 1</a:t>
            </a:r>
            <a:r>
              <a:rPr lang="ko-KR" altLang="en-US" sz="1000" b="0" dirty="0">
                <a:solidFill>
                  <a:srgbClr val="2F5597"/>
                </a:solidFill>
                <a:latin typeface="맑은 고딕"/>
              </a:rPr>
              <a:t>개당 추가</a:t>
            </a:r>
            <a:r>
              <a:rPr lang="en-US" altLang="ko-KR" sz="1000" dirty="0">
                <a:solidFill>
                  <a:srgbClr val="2F5597"/>
                </a:solidFill>
                <a:latin typeface="맑은 고딕"/>
              </a:rPr>
              <a:t> turn)</a:t>
            </a:r>
            <a:r>
              <a:rPr sz="1000" b="0" dirty="0">
                <a:solidFill>
                  <a:srgbClr val="2F5597"/>
                </a:solidFill>
                <a:latin typeface="맑은 고딕"/>
              </a:rPr>
              <a:t> × n </a:t>
            </a:r>
            <a:r>
              <a:rPr lang="en-US" sz="1000" b="0" dirty="0">
                <a:solidFill>
                  <a:srgbClr val="2F5597"/>
                </a:solidFill>
                <a:latin typeface="맑은 고딕"/>
              </a:rPr>
              <a:t>(</a:t>
            </a:r>
            <a:r>
              <a:rPr sz="1000" b="0" dirty="0" err="1">
                <a:solidFill>
                  <a:srgbClr val="2F5597"/>
                </a:solidFill>
                <a:latin typeface="맑은 고딕"/>
              </a:rPr>
              <a:t>변경</a:t>
            </a:r>
            <a:r>
              <a:rPr sz="1000" b="0" dirty="0">
                <a:solidFill>
                  <a:srgbClr val="2F5597"/>
                </a:solidFill>
                <a:latin typeface="맑은 고딕"/>
              </a:rPr>
              <a:t> </a:t>
            </a:r>
            <a:r>
              <a:rPr lang="ko-KR" altLang="en-US" sz="1000" dirty="0">
                <a:solidFill>
                  <a:srgbClr val="2F5597"/>
                </a:solidFill>
                <a:latin typeface="맑은 고딕"/>
              </a:rPr>
              <a:t>모듈</a:t>
            </a:r>
            <a:r>
              <a:rPr sz="1000" b="0" dirty="0">
                <a:solidFill>
                  <a:srgbClr val="2F5597"/>
                </a:solidFill>
                <a:latin typeface="맑은 고딕"/>
              </a:rPr>
              <a:t> 수)     </a:t>
            </a:r>
            <a:endParaRPr lang="en-US" sz="1000" b="0" dirty="0">
              <a:solidFill>
                <a:srgbClr val="2F5597"/>
              </a:solidFill>
              <a:latin typeface="맑은 고딕"/>
            </a:endParaRPr>
          </a:p>
          <a:p>
            <a:pPr algn="l"/>
            <a:r>
              <a:rPr sz="1000" b="0" dirty="0" err="1">
                <a:solidFill>
                  <a:srgbClr val="2F5597"/>
                </a:solidFill>
                <a:latin typeface="맑은 고딕"/>
              </a:rPr>
              <a:t>T_out</a:t>
            </a:r>
            <a:r>
              <a:rPr sz="1000" b="0" dirty="0">
                <a:solidFill>
                  <a:srgbClr val="2F5597"/>
                </a:solidFill>
                <a:latin typeface="맑은 고딕"/>
              </a:rPr>
              <a:t> = </a:t>
            </a:r>
            <a:r>
              <a:rPr sz="1000" dirty="0">
                <a:solidFill>
                  <a:srgbClr val="00B050"/>
                </a:solidFill>
                <a:latin typeface="맑은 고딕"/>
              </a:rPr>
              <a:t>L</a:t>
            </a:r>
            <a:r>
              <a:rPr lang="en-US" sz="1000" dirty="0">
                <a:solidFill>
                  <a:srgbClr val="00B050"/>
                </a:solidFill>
                <a:latin typeface="맑은 고딕"/>
              </a:rPr>
              <a:t>(</a:t>
            </a:r>
            <a:r>
              <a:rPr lang="ko-KR" altLang="en-US" sz="1000" dirty="0">
                <a:solidFill>
                  <a:srgbClr val="00B050"/>
                </a:solidFill>
                <a:latin typeface="맑은 고딕"/>
              </a:rPr>
              <a:t>추가하는 </a:t>
            </a:r>
            <a:r>
              <a:rPr lang="en-US" sz="1000" dirty="0">
                <a:solidFill>
                  <a:srgbClr val="00B050"/>
                </a:solidFill>
                <a:latin typeface="맑은 고딕"/>
              </a:rPr>
              <a:t>LOC)</a:t>
            </a:r>
            <a:r>
              <a:rPr lang="en-US" sz="1000" dirty="0">
                <a:solidFill>
                  <a:srgbClr val="2F5597"/>
                </a:solidFill>
                <a:latin typeface="맑은 고딕"/>
              </a:rPr>
              <a:t> </a:t>
            </a:r>
            <a:r>
              <a:rPr sz="1000" b="0" dirty="0">
                <a:solidFill>
                  <a:srgbClr val="2F5597"/>
                </a:solidFill>
                <a:latin typeface="맑은 고딕"/>
              </a:rPr>
              <a:t>× </a:t>
            </a:r>
            <a:r>
              <a:rPr sz="1000" b="0" dirty="0" err="1">
                <a:solidFill>
                  <a:srgbClr val="2F5597"/>
                </a:solidFill>
                <a:latin typeface="맑은 고딕"/>
              </a:rPr>
              <a:t>n_iter</a:t>
            </a:r>
            <a:r>
              <a:rPr sz="1000" b="0" dirty="0">
                <a:solidFill>
                  <a:srgbClr val="2F5597"/>
                </a:solidFill>
                <a:latin typeface="맑은 고딕"/>
              </a:rPr>
              <a:t> + </a:t>
            </a:r>
            <a:r>
              <a:rPr sz="1000" b="0" dirty="0" err="1">
                <a:solidFill>
                  <a:srgbClr val="2F5597"/>
                </a:solidFill>
                <a:latin typeface="맑은 고딕"/>
              </a:rPr>
              <a:t>o_turn</a:t>
            </a:r>
            <a:r>
              <a:rPr sz="1000" b="0" dirty="0">
                <a:solidFill>
                  <a:srgbClr val="2F5597"/>
                </a:solidFill>
                <a:latin typeface="맑은 고딕"/>
              </a:rPr>
              <a:t> × </a:t>
            </a:r>
            <a:r>
              <a:rPr sz="1000" b="0" dirty="0">
                <a:solidFill>
                  <a:srgbClr val="FF0000"/>
                </a:solidFill>
                <a:latin typeface="맑은 고딕"/>
              </a:rPr>
              <a:t>N</a:t>
            </a:r>
            <a:endParaRPr lang="en-US" sz="1000" b="0" dirty="0">
              <a:solidFill>
                <a:srgbClr val="FF0000"/>
              </a:solidFill>
              <a:latin typeface="맑은 고딕"/>
            </a:endParaRPr>
          </a:p>
          <a:p>
            <a:pPr algn="l"/>
            <a:endParaRPr lang="en-US" sz="1000" b="1" dirty="0">
              <a:solidFill>
                <a:srgbClr val="2F5597"/>
              </a:solidFill>
              <a:latin typeface="맑은 고딕"/>
            </a:endParaRPr>
          </a:p>
          <a:p>
            <a:pPr algn="l"/>
            <a:r>
              <a:rPr sz="1000" b="1" dirty="0">
                <a:solidFill>
                  <a:srgbClr val="2F5597"/>
                </a:solidFill>
                <a:latin typeface="맑은 고딕"/>
              </a:rPr>
              <a:t>M/M = </a:t>
            </a:r>
            <a:r>
              <a:rPr lang="en-US" altLang="ko-KR" sz="1000" b="1" dirty="0">
                <a:solidFill>
                  <a:srgbClr val="FF0000"/>
                </a:solidFill>
                <a:latin typeface="맑은 고딕"/>
              </a:rPr>
              <a:t>module </a:t>
            </a:r>
            <a:r>
              <a:rPr lang="ko-KR" altLang="en-US" sz="1000" b="1" dirty="0">
                <a:solidFill>
                  <a:srgbClr val="FF0000"/>
                </a:solidFill>
                <a:latin typeface="맑은 고딕"/>
              </a:rPr>
              <a:t>수</a:t>
            </a:r>
            <a:r>
              <a:rPr lang="en-US" altLang="ko-KR" sz="1000" b="1" dirty="0">
                <a:solidFill>
                  <a:srgbClr val="FF0000"/>
                </a:solidFill>
                <a:latin typeface="맑은 고딕"/>
              </a:rPr>
              <a:t>(n)</a:t>
            </a:r>
            <a:r>
              <a:rPr lang="ko-KR" altLang="en-US" sz="1000" b="1" dirty="0">
                <a:solidFill>
                  <a:srgbClr val="2F5597"/>
                </a:solidFill>
                <a:latin typeface="맑은 고딕"/>
              </a:rPr>
              <a:t> </a:t>
            </a:r>
            <a:r>
              <a:rPr lang="en-US" altLang="ko-KR" sz="1000" b="1" dirty="0">
                <a:solidFill>
                  <a:srgbClr val="2F5597"/>
                </a:solidFill>
                <a:latin typeface="맑은 고딕"/>
              </a:rPr>
              <a:t>× module</a:t>
            </a:r>
            <a:r>
              <a:rPr lang="ko-KR" altLang="en-US" sz="1000" b="1" dirty="0">
                <a:solidFill>
                  <a:srgbClr val="2F5597"/>
                </a:solidFill>
                <a:latin typeface="맑은 고딕"/>
              </a:rPr>
              <a:t>당 고정 공수 </a:t>
            </a:r>
            <a:r>
              <a:rPr lang="en-US" altLang="ko-KR" sz="1000" b="1" dirty="0">
                <a:solidFill>
                  <a:srgbClr val="2F5597"/>
                </a:solidFill>
                <a:latin typeface="맑은 고딕"/>
              </a:rPr>
              <a:t>3</a:t>
            </a:r>
            <a:r>
              <a:rPr lang="ko-KR" altLang="en-US" sz="1000" b="1" dirty="0">
                <a:solidFill>
                  <a:srgbClr val="2F5597"/>
                </a:solidFill>
                <a:latin typeface="맑은 고딕"/>
              </a:rPr>
              <a:t>일</a:t>
            </a:r>
            <a:r>
              <a:rPr lang="en-US" altLang="ko-KR" sz="1000" b="1" dirty="0">
                <a:solidFill>
                  <a:srgbClr val="2F5597"/>
                </a:solidFill>
                <a:latin typeface="맑은 고딕"/>
              </a:rPr>
              <a:t> + </a:t>
            </a:r>
            <a:r>
              <a:rPr lang="ko-KR" altLang="en-US" sz="1000" b="1" dirty="0">
                <a:solidFill>
                  <a:srgbClr val="2F5597"/>
                </a:solidFill>
                <a:latin typeface="맑은 고딕"/>
              </a:rPr>
              <a:t>코딩 일수</a:t>
            </a:r>
            <a:r>
              <a:rPr lang="en-US" altLang="ko-KR" sz="1000" b="1" dirty="0">
                <a:solidFill>
                  <a:srgbClr val="2F5597"/>
                </a:solidFill>
                <a:latin typeface="맑은 고딕"/>
              </a:rPr>
              <a:t>(</a:t>
            </a:r>
            <a:r>
              <a:rPr lang="en-US" altLang="ko-KR" sz="1000" b="1" dirty="0">
                <a:solidFill>
                  <a:srgbClr val="FF0000"/>
                </a:solidFill>
                <a:latin typeface="맑은 고딕"/>
              </a:rPr>
              <a:t>L</a:t>
            </a:r>
            <a:r>
              <a:rPr lang="en-US" altLang="ko-KR" sz="1000" b="1" dirty="0">
                <a:solidFill>
                  <a:srgbClr val="2F5597"/>
                </a:solidFill>
                <a:latin typeface="맑은 고딕"/>
              </a:rPr>
              <a:t>/</a:t>
            </a:r>
            <a:r>
              <a:rPr lang="ko-KR" altLang="en-US" sz="1000" b="1" dirty="0">
                <a:solidFill>
                  <a:srgbClr val="2F5597"/>
                </a:solidFill>
                <a:latin typeface="맑은 고딕"/>
              </a:rPr>
              <a:t>하루</a:t>
            </a:r>
            <a:r>
              <a:rPr lang="en-US" altLang="ko-KR" sz="1000" b="1" dirty="0">
                <a:solidFill>
                  <a:srgbClr val="2F5597"/>
                </a:solidFill>
                <a:latin typeface="맑은 고딕"/>
              </a:rPr>
              <a:t>LOC)</a:t>
            </a:r>
            <a:r>
              <a:rPr lang="ko-KR" altLang="en-US" sz="1000" b="1" dirty="0">
                <a:solidFill>
                  <a:srgbClr val="2F5597"/>
                </a:solidFill>
                <a:latin typeface="맑은 고딕"/>
              </a:rPr>
              <a:t> </a:t>
            </a:r>
            <a:r>
              <a:rPr lang="en-US" altLang="ko-KR" sz="1000" b="1" dirty="0">
                <a:solidFill>
                  <a:srgbClr val="2F5597"/>
                </a:solidFill>
                <a:latin typeface="맑은 고딕"/>
              </a:rPr>
              <a:t>×</a:t>
            </a:r>
            <a:r>
              <a:rPr lang="ko-KR" altLang="en-US" sz="1000" b="1" dirty="0">
                <a:solidFill>
                  <a:srgbClr val="2F5597"/>
                </a:solidFill>
                <a:latin typeface="맑은 고딕"/>
              </a:rPr>
              <a:t> 테스트와 리뷰 </a:t>
            </a:r>
            <a:r>
              <a:rPr lang="en-US" altLang="ko-KR" sz="1000" b="1" dirty="0">
                <a:solidFill>
                  <a:srgbClr val="2F5597"/>
                </a:solidFill>
                <a:latin typeface="맑은 고딕"/>
              </a:rPr>
              <a:t>overhead </a:t>
            </a:r>
            <a:r>
              <a:rPr lang="ko-KR" altLang="en-US" sz="1000" b="1" dirty="0">
                <a:solidFill>
                  <a:srgbClr val="2F5597"/>
                </a:solidFill>
                <a:latin typeface="맑은 고딕"/>
              </a:rPr>
              <a:t>배율</a:t>
            </a:r>
            <a:r>
              <a:rPr lang="en-US" altLang="ko-KR" sz="1000" b="1" dirty="0">
                <a:solidFill>
                  <a:srgbClr val="2F5597"/>
                </a:solidFill>
                <a:latin typeface="맑은 고딕"/>
              </a:rPr>
              <a:t>(2.0) ÷ (1 MM = 21</a:t>
            </a:r>
            <a:r>
              <a:rPr lang="ko-KR" altLang="en-US" sz="1000" b="1" dirty="0">
                <a:solidFill>
                  <a:srgbClr val="2F5597"/>
                </a:solidFill>
                <a:latin typeface="맑은 고딕"/>
              </a:rPr>
              <a:t>일</a:t>
            </a:r>
            <a:r>
              <a:rPr lang="en-US" altLang="ko-KR" sz="1000" b="1" dirty="0">
                <a:solidFill>
                  <a:srgbClr val="2F5597"/>
                </a:solidFill>
                <a:latin typeface="맑은 고딕"/>
              </a:rPr>
              <a:t>)</a:t>
            </a:r>
            <a:endParaRPr sz="1000" b="1" dirty="0">
              <a:solidFill>
                <a:srgbClr val="2F5597"/>
              </a:solidFill>
              <a:latin typeface="맑은 고딕"/>
            </a:endParaRPr>
          </a:p>
        </p:txBody>
      </p:sp>
      <p:graphicFrame>
        <p:nvGraphicFramePr>
          <p:cNvPr id="9" name="tbl"/>
          <p:cNvGraphicFramePr>
            <a:graphicFrameLocks noGrp="1"/>
          </p:cNvGraphicFramePr>
          <p:nvPr/>
        </p:nvGraphicFramePr>
        <p:xfrm>
          <a:off x="365760" y="4142230"/>
          <a:ext cx="11457432" cy="973330"/>
        </p:xfrm>
        <a:graphic>
          <a:graphicData uri="http://schemas.openxmlformats.org/drawingml/2006/table">
            <a:tbl>
              <a:tblPr>
                <a:tableStyleId>{5C22544A-7EE6-4342-B048-85BDC9FD1C3A}</a:tableStyleId>
              </a:tblPr>
              <a:tblGrid>
                <a:gridCol w="21945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tblGrid>
              <a:tr h="310896">
                <a:tc>
                  <a:txBody>
                    <a:bodyPr/>
                    <a:lstStyle/>
                    <a:p>
                      <a:pPr algn="ctr"/>
                      <a:r>
                        <a:rPr sz="850" b="1">
                          <a:solidFill>
                            <a:srgbClr val="FFFFFF"/>
                          </a:solidFill>
                          <a:latin typeface="맑은 고딕"/>
                          <a:ea typeface="맑은 고딕"/>
                        </a:rPr>
                        <a:t>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850" b="1">
                          <a:solidFill>
                            <a:srgbClr val="FFFFFF"/>
                          </a:solidFill>
                          <a:latin typeface="맑은 고딕"/>
                          <a:ea typeface="맑은 고딕"/>
                        </a:rPr>
                        <a:t>토큰 비용 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850" b="1">
                          <a:solidFill>
                            <a:srgbClr val="FFFFFF"/>
                          </a:solidFill>
                          <a:latin typeface="맑은 고딕"/>
                          <a:ea typeface="맑은 고딕"/>
                        </a:rPr>
                        <a:t>M/M 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296674">
                <a:tc>
                  <a:txBody>
                    <a:bodyPr/>
                    <a:lstStyle/>
                    <a:p>
                      <a:pPr algn="l"/>
                      <a:r>
                        <a:rPr sz="850" b="1" dirty="0" err="1">
                          <a:solidFill>
                            <a:srgbClr val="000000"/>
                          </a:solidFill>
                          <a:latin typeface="맑은 고딕"/>
                          <a:ea typeface="맑은 고딕"/>
                        </a:rPr>
                        <a:t>지배하는</a:t>
                      </a:r>
                      <a:r>
                        <a:rPr sz="850" b="1" dirty="0">
                          <a:solidFill>
                            <a:srgbClr val="000000"/>
                          </a:solidFill>
                          <a:latin typeface="맑은 고딕"/>
                          <a:ea typeface="맑은 고딕"/>
                        </a:rPr>
                        <a:t> </a:t>
                      </a:r>
                      <a:r>
                        <a:rPr sz="850" b="1" dirty="0" err="1">
                          <a:solidFill>
                            <a:srgbClr val="000000"/>
                          </a:solidFill>
                          <a:latin typeface="맑은 고딕"/>
                          <a:ea typeface="맑은 고딕"/>
                        </a:rPr>
                        <a:t>입력</a:t>
                      </a:r>
                      <a:endParaRPr sz="85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850" b="0" dirty="0">
                          <a:solidFill>
                            <a:srgbClr val="000000"/>
                          </a:solidFill>
                          <a:latin typeface="맑은 고딕"/>
                          <a:ea typeface="맑은 고딕"/>
                        </a:rPr>
                        <a:t>turn 수</a:t>
                      </a:r>
                      <a:r>
                        <a:rPr lang="en-US" sz="850" b="0" dirty="0">
                          <a:solidFill>
                            <a:srgbClr val="000000"/>
                          </a:solidFill>
                          <a:latin typeface="맑은 고딕"/>
                          <a:ea typeface="맑은 고딕"/>
                        </a:rPr>
                        <a:t>, </a:t>
                      </a:r>
                      <a:r>
                        <a:rPr sz="850" b="0" dirty="0">
                          <a:solidFill>
                            <a:srgbClr val="000000"/>
                          </a:solidFill>
                          <a:latin typeface="맑은 고딕"/>
                          <a:ea typeface="맑은 고딕"/>
                        </a:rPr>
                        <a:t>context </a:t>
                      </a:r>
                      <a:r>
                        <a:rPr lang="ko-KR" altLang="en-US" sz="850" b="0" dirty="0">
                          <a:solidFill>
                            <a:srgbClr val="000000"/>
                          </a:solidFill>
                          <a:latin typeface="맑은 고딕"/>
                          <a:ea typeface="맑은 고딕"/>
                        </a:rPr>
                        <a:t>길이 </a:t>
                      </a:r>
                      <a:r>
                        <a:rPr lang="en-US" altLang="ko-KR" sz="850" b="0" dirty="0">
                          <a:solidFill>
                            <a:srgbClr val="000000"/>
                          </a:solidFill>
                          <a:latin typeface="맑은 고딕"/>
                          <a:ea typeface="맑은 고딕"/>
                          <a:sym typeface="Wingdings" panose="05000000000000000000" pitchFamily="2" charset="2"/>
                        </a:rPr>
                        <a:t> </a:t>
                      </a:r>
                      <a:r>
                        <a:rPr lang="ko-KR" altLang="en-US" sz="850" b="0" dirty="0">
                          <a:solidFill>
                            <a:srgbClr val="000000"/>
                          </a:solidFill>
                          <a:latin typeface="맑은 고딕"/>
                          <a:ea typeface="맑은 고딕"/>
                          <a:sym typeface="Wingdings" panose="05000000000000000000" pitchFamily="2" charset="2"/>
                        </a:rPr>
                        <a:t>읽는 비용이 훨씬 크다</a:t>
                      </a:r>
                      <a:endParaRPr sz="8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850" b="0" dirty="0" err="1">
                          <a:solidFill>
                            <a:srgbClr val="000000"/>
                          </a:solidFill>
                          <a:latin typeface="맑은 고딕"/>
                          <a:ea typeface="맑은 고딕"/>
                        </a:rPr>
                        <a:t>변경</a:t>
                      </a:r>
                      <a:r>
                        <a:rPr sz="850" b="0" dirty="0">
                          <a:solidFill>
                            <a:srgbClr val="000000"/>
                          </a:solidFill>
                          <a:latin typeface="맑은 고딕"/>
                          <a:ea typeface="맑은 고딕"/>
                        </a:rPr>
                        <a:t> module 수 n(n × </a:t>
                      </a:r>
                      <a:r>
                        <a:rPr sz="850" b="0" dirty="0" err="1">
                          <a:solidFill>
                            <a:srgbClr val="000000"/>
                          </a:solidFill>
                          <a:latin typeface="맑은 고딕"/>
                          <a:ea typeface="맑은 고딕"/>
                        </a:rPr>
                        <a:t>c_mod</a:t>
                      </a:r>
                      <a:r>
                        <a:rPr sz="850" b="0" dirty="0">
                          <a:solidFill>
                            <a:srgbClr val="000000"/>
                          </a:solidFill>
                          <a:latin typeface="맑은 고딕"/>
                          <a:ea typeface="맑은 고딕"/>
                        </a:rPr>
                        <a:t>)와 </a:t>
                      </a:r>
                      <a:r>
                        <a:rPr sz="850" b="0" dirty="0" err="1">
                          <a:solidFill>
                            <a:srgbClr val="000000"/>
                          </a:solidFill>
                          <a:latin typeface="맑은 고딕"/>
                          <a:ea typeface="맑은 고딕"/>
                        </a:rPr>
                        <a:t>추가</a:t>
                      </a:r>
                      <a:r>
                        <a:rPr sz="850" b="0" dirty="0">
                          <a:solidFill>
                            <a:srgbClr val="000000"/>
                          </a:solidFill>
                          <a:latin typeface="맑은 고딕"/>
                          <a:ea typeface="맑은 고딕"/>
                        </a:rPr>
                        <a:t> LOC L(L × </a:t>
                      </a:r>
                      <a:r>
                        <a:rPr sz="850" b="0" dirty="0" err="1">
                          <a:solidFill>
                            <a:srgbClr val="000000"/>
                          </a:solidFill>
                          <a:latin typeface="맑은 고딕"/>
                          <a:ea typeface="맑은 고딕"/>
                        </a:rPr>
                        <a:t>k_real</a:t>
                      </a:r>
                      <a:r>
                        <a:rPr sz="850" b="0" dirty="0">
                          <a:solidFill>
                            <a:srgbClr val="000000"/>
                          </a:solidFill>
                          <a:latin typeface="맑은 고딕"/>
                          <a:ea typeface="맑은 고딕"/>
                        </a:rPr>
                        <a:t> ÷ 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1"/>
                  </a:ext>
                </a:extLst>
              </a:tr>
              <a:tr h="365760">
                <a:tc>
                  <a:txBody>
                    <a:bodyPr/>
                    <a:lstStyle/>
                    <a:p>
                      <a:pPr algn="l"/>
                      <a:r>
                        <a:rPr sz="850" b="1">
                          <a:solidFill>
                            <a:srgbClr val="000000"/>
                          </a:solidFill>
                          <a:latin typeface="맑은 고딕"/>
                          <a:ea typeface="맑은 고딕"/>
                        </a:rPr>
                        <a:t>추가 LOC L의 영향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850" b="0" dirty="0" err="1">
                          <a:solidFill>
                            <a:srgbClr val="000000"/>
                          </a:solidFill>
                          <a:latin typeface="맑은 고딕"/>
                          <a:ea typeface="맑은 고딕"/>
                        </a:rPr>
                        <a:t>작다</a:t>
                      </a:r>
                      <a:r>
                        <a:rPr sz="850" b="0" dirty="0">
                          <a:solidFill>
                            <a:srgbClr val="000000"/>
                          </a:solidFill>
                          <a:latin typeface="맑은 고딕"/>
                          <a:ea typeface="맑은 고딕"/>
                        </a:rPr>
                        <a:t>: </a:t>
                      </a:r>
                      <a:r>
                        <a:rPr sz="850" b="0" dirty="0" err="1">
                          <a:solidFill>
                            <a:srgbClr val="000000"/>
                          </a:solidFill>
                          <a:latin typeface="맑은 고딕"/>
                          <a:ea typeface="맑은 고딕"/>
                        </a:rPr>
                        <a:t>쓰는</a:t>
                      </a:r>
                      <a:r>
                        <a:rPr sz="850" b="0" dirty="0">
                          <a:solidFill>
                            <a:srgbClr val="000000"/>
                          </a:solidFill>
                          <a:latin typeface="맑은 고딕"/>
                          <a:ea typeface="맑은 고딕"/>
                        </a:rPr>
                        <a:t> </a:t>
                      </a:r>
                      <a:r>
                        <a:rPr sz="850" b="0" dirty="0" err="1">
                          <a:solidFill>
                            <a:srgbClr val="000000"/>
                          </a:solidFill>
                          <a:latin typeface="맑은 고딕"/>
                          <a:ea typeface="맑은 고딕"/>
                        </a:rPr>
                        <a:t>코드의</a:t>
                      </a:r>
                      <a:r>
                        <a:rPr sz="850" b="0" dirty="0">
                          <a:solidFill>
                            <a:srgbClr val="000000"/>
                          </a:solidFill>
                          <a:latin typeface="맑은 고딕"/>
                          <a:ea typeface="맑은 고딕"/>
                        </a:rPr>
                        <a:t> </a:t>
                      </a:r>
                      <a:r>
                        <a:rPr sz="850" b="0" dirty="0" err="1">
                          <a:solidFill>
                            <a:srgbClr val="000000"/>
                          </a:solidFill>
                          <a:latin typeface="맑은 고딕"/>
                          <a:ea typeface="맑은 고딕"/>
                        </a:rPr>
                        <a:t>비용이</a:t>
                      </a:r>
                      <a:r>
                        <a:rPr sz="850" b="0" dirty="0">
                          <a:solidFill>
                            <a:srgbClr val="000000"/>
                          </a:solidFill>
                          <a:latin typeface="맑은 고딕"/>
                          <a:ea typeface="맑은 고딕"/>
                        </a:rPr>
                        <a:t> </a:t>
                      </a:r>
                      <a:r>
                        <a:rPr sz="850" b="0" dirty="0" err="1">
                          <a:solidFill>
                            <a:srgbClr val="000000"/>
                          </a:solidFill>
                          <a:latin typeface="맑은 고딕"/>
                          <a:ea typeface="맑은 고딕"/>
                        </a:rPr>
                        <a:t>전체의</a:t>
                      </a:r>
                      <a:r>
                        <a:rPr sz="850" b="0" dirty="0">
                          <a:solidFill>
                            <a:srgbClr val="000000"/>
                          </a:solidFill>
                          <a:latin typeface="맑은 고딕"/>
                          <a:ea typeface="맑은 고딕"/>
                        </a:rPr>
                        <a:t> 1~13%</a:t>
                      </a:r>
                      <a:r>
                        <a:rPr lang="en-US" sz="850" b="0" dirty="0">
                          <a:solidFill>
                            <a:srgbClr val="000000"/>
                          </a:solidFill>
                          <a:latin typeface="맑은 고딕"/>
                          <a:ea typeface="맑은 고딕"/>
                        </a:rPr>
                        <a:t> </a:t>
                      </a:r>
                      <a:r>
                        <a:rPr lang="en-US" sz="850" b="0" dirty="0">
                          <a:solidFill>
                            <a:srgbClr val="000000"/>
                          </a:solidFill>
                          <a:latin typeface="맑은 고딕"/>
                          <a:ea typeface="맑은 고딕"/>
                          <a:sym typeface="Wingdings" panose="05000000000000000000" pitchFamily="2" charset="2"/>
                        </a:rPr>
                        <a:t> </a:t>
                      </a:r>
                      <a:r>
                        <a:rPr lang="ko-KR" altLang="en-US" sz="850" b="0" dirty="0">
                          <a:solidFill>
                            <a:srgbClr val="000000"/>
                          </a:solidFill>
                          <a:latin typeface="맑은 고딕"/>
                          <a:ea typeface="맑은 고딕"/>
                          <a:sym typeface="Wingdings" panose="05000000000000000000" pitchFamily="2" charset="2"/>
                        </a:rPr>
                        <a:t>쓰는 비용은 적다</a:t>
                      </a:r>
                      <a:endParaRPr sz="8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850" b="0" dirty="0" err="1">
                          <a:solidFill>
                            <a:srgbClr val="000000"/>
                          </a:solidFill>
                          <a:latin typeface="맑은 고딕"/>
                          <a:ea typeface="맑은 고딕"/>
                        </a:rPr>
                        <a:t>크다</a:t>
                      </a:r>
                      <a:r>
                        <a:rPr sz="850" b="0" dirty="0">
                          <a:solidFill>
                            <a:srgbClr val="000000"/>
                          </a:solidFill>
                          <a:latin typeface="맑은 고딕"/>
                          <a:ea typeface="맑은 고딕"/>
                        </a:rPr>
                        <a:t>: LOC </a:t>
                      </a:r>
                      <a:r>
                        <a:rPr sz="850" b="0" dirty="0" err="1">
                          <a:solidFill>
                            <a:srgbClr val="000000"/>
                          </a:solidFill>
                          <a:latin typeface="맑은 고딕"/>
                          <a:ea typeface="맑은 고딕"/>
                        </a:rPr>
                        <a:t>항이</a:t>
                      </a:r>
                      <a:r>
                        <a:rPr sz="850" b="0" dirty="0">
                          <a:solidFill>
                            <a:srgbClr val="000000"/>
                          </a:solidFill>
                          <a:latin typeface="맑은 고딕"/>
                          <a:ea typeface="맑은 고딕"/>
                        </a:rPr>
                        <a:t> </a:t>
                      </a:r>
                      <a:r>
                        <a:rPr sz="850" b="0" dirty="0" err="1">
                          <a:solidFill>
                            <a:srgbClr val="000000"/>
                          </a:solidFill>
                          <a:latin typeface="맑은 고딕"/>
                          <a:ea typeface="맑은 고딕"/>
                        </a:rPr>
                        <a:t>공수의</a:t>
                      </a:r>
                      <a:r>
                        <a:rPr sz="850" b="0" dirty="0">
                          <a:solidFill>
                            <a:srgbClr val="000000"/>
                          </a:solidFill>
                          <a:latin typeface="맑은 고딕"/>
                          <a:ea typeface="맑은 고딕"/>
                        </a:rPr>
                        <a:t> 8~66%, </a:t>
                      </a:r>
                      <a:r>
                        <a:rPr sz="850" b="0" dirty="0" err="1">
                          <a:solidFill>
                            <a:srgbClr val="000000"/>
                          </a:solidFill>
                          <a:latin typeface="맑은 고딕"/>
                          <a:ea typeface="맑은 고딕"/>
                        </a:rPr>
                        <a:t>나머지가</a:t>
                      </a:r>
                      <a:r>
                        <a:rPr sz="850" b="0" dirty="0">
                          <a:solidFill>
                            <a:srgbClr val="000000"/>
                          </a:solidFill>
                          <a:latin typeface="맑은 고딕"/>
                          <a:ea typeface="맑은 고딕"/>
                        </a:rPr>
                        <a:t> module 항(34~92%)</a:t>
                      </a:r>
                      <a:r>
                        <a:rPr lang="en-US" sz="850" b="0" dirty="0">
                          <a:solidFill>
                            <a:srgbClr val="000000"/>
                          </a:solidFill>
                          <a:latin typeface="맑은 고딕"/>
                          <a:ea typeface="맑은 고딕"/>
                        </a:rPr>
                        <a:t> </a:t>
                      </a:r>
                      <a:r>
                        <a:rPr lang="en-US" sz="850" b="0" dirty="0">
                          <a:solidFill>
                            <a:srgbClr val="000000"/>
                          </a:solidFill>
                          <a:latin typeface="맑은 고딕"/>
                          <a:ea typeface="맑은 고딕"/>
                          <a:sym typeface="Wingdings" panose="05000000000000000000" pitchFamily="2" charset="2"/>
                        </a:rPr>
                        <a:t> </a:t>
                      </a:r>
                      <a:r>
                        <a:rPr lang="ko-KR" altLang="en-US" sz="850" b="0" dirty="0">
                          <a:solidFill>
                            <a:srgbClr val="000000"/>
                          </a:solidFill>
                          <a:latin typeface="맑은 고딕"/>
                          <a:ea typeface="맑은 고딕"/>
                          <a:sym typeface="Wingdings" panose="05000000000000000000" pitchFamily="2" charset="2"/>
                        </a:rPr>
                        <a:t>쓰는 비용이 크다</a:t>
                      </a:r>
                      <a:endParaRPr sz="8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0" name="l"/>
          <p:cNvSpPr txBox="1"/>
          <p:nvPr/>
        </p:nvSpPr>
        <p:spPr>
          <a:xfrm>
            <a:off x="365760" y="5440680"/>
            <a:ext cx="10353040" cy="697114"/>
          </a:xfrm>
          <a:prstGeom prst="rect">
            <a:avLst/>
          </a:prstGeom>
          <a:noFill/>
        </p:spPr>
        <p:txBody>
          <a:bodyPr wrap="square" lIns="73152" tIns="36576" rIns="73152" bIns="36576" anchor="t">
            <a:spAutoFit/>
          </a:bodyPr>
          <a:lstStyle/>
          <a:p>
            <a:pPr algn="l">
              <a:spcAft>
                <a:spcPts val="250"/>
              </a:spcAft>
            </a:pPr>
            <a:r>
              <a:rPr sz="900" b="1" dirty="0">
                <a:solidFill>
                  <a:srgbClr val="2F5597"/>
                </a:solidFill>
                <a:latin typeface="맑은 고딕"/>
                <a:ea typeface="맑은 고딕"/>
              </a:rPr>
              <a:t>두 </a:t>
            </a:r>
            <a:r>
              <a:rPr sz="900" b="1" dirty="0" err="1">
                <a:solidFill>
                  <a:srgbClr val="2F5597"/>
                </a:solidFill>
                <a:latin typeface="맑은 고딕"/>
                <a:ea typeface="맑은 고딕"/>
              </a:rPr>
              <a:t>지표의</a:t>
            </a:r>
            <a:r>
              <a:rPr sz="900" b="1" dirty="0">
                <a:solidFill>
                  <a:srgbClr val="2F5597"/>
                </a:solidFill>
                <a:latin typeface="맑은 고딕"/>
                <a:ea typeface="맑은 고딕"/>
              </a:rPr>
              <a:t> </a:t>
            </a:r>
            <a:r>
              <a:rPr sz="900" b="1" dirty="0" err="1">
                <a:solidFill>
                  <a:srgbClr val="2F5597"/>
                </a:solidFill>
                <a:latin typeface="맑은 고딕"/>
                <a:ea typeface="맑은 고딕"/>
              </a:rPr>
              <a:t>관계</a:t>
            </a:r>
            <a:endParaRPr sz="900" b="1" dirty="0">
              <a:solidFill>
                <a:srgbClr val="2F5597"/>
              </a:solidFill>
              <a:latin typeface="맑은 고딕"/>
              <a:ea typeface="맑은 고딕"/>
            </a:endParaRPr>
          </a:p>
          <a:p>
            <a:pPr algn="l">
              <a:spcAft>
                <a:spcPts val="250"/>
              </a:spcAft>
            </a:pPr>
            <a:r>
              <a:rPr sz="800" b="0" dirty="0">
                <a:solidFill>
                  <a:srgbClr val="000000"/>
                </a:solidFill>
                <a:latin typeface="맑은 고딕"/>
                <a:ea typeface="맑은 고딕"/>
              </a:rPr>
              <a:t>• </a:t>
            </a:r>
            <a:r>
              <a:rPr sz="800" b="0" dirty="0" err="1">
                <a:solidFill>
                  <a:srgbClr val="000000"/>
                </a:solidFill>
                <a:latin typeface="맑은 고딕"/>
                <a:ea typeface="맑은 고딕"/>
              </a:rPr>
              <a:t>토큰</a:t>
            </a:r>
            <a:r>
              <a:rPr sz="800" b="0" dirty="0">
                <a:solidFill>
                  <a:srgbClr val="000000"/>
                </a:solidFill>
                <a:latin typeface="맑은 고딕"/>
                <a:ea typeface="맑은 고딕"/>
              </a:rPr>
              <a:t> </a:t>
            </a:r>
            <a:r>
              <a:rPr sz="800" b="0" dirty="0" err="1">
                <a:solidFill>
                  <a:srgbClr val="000000"/>
                </a:solidFill>
                <a:latin typeface="맑은 고딕"/>
                <a:ea typeface="맑은 고딕"/>
              </a:rPr>
              <a:t>비용은</a:t>
            </a:r>
            <a:r>
              <a:rPr sz="800" b="0" dirty="0">
                <a:solidFill>
                  <a:srgbClr val="000000"/>
                </a:solidFill>
                <a:latin typeface="맑은 고딕"/>
                <a:ea typeface="맑은 고딕"/>
              </a:rPr>
              <a:t> module 수 </a:t>
            </a:r>
            <a:r>
              <a:rPr sz="800" b="0" dirty="0" err="1">
                <a:solidFill>
                  <a:srgbClr val="000000"/>
                </a:solidFill>
                <a:latin typeface="맑은 고딕"/>
                <a:ea typeface="맑은 고딕"/>
              </a:rPr>
              <a:t>n과</a:t>
            </a:r>
            <a:r>
              <a:rPr sz="800" b="0" dirty="0">
                <a:solidFill>
                  <a:srgbClr val="000000"/>
                </a:solidFill>
                <a:latin typeface="맑은 고딕"/>
                <a:ea typeface="맑은 고딕"/>
              </a:rPr>
              <a:t> </a:t>
            </a:r>
            <a:r>
              <a:rPr sz="800" b="0" dirty="0" err="1">
                <a:solidFill>
                  <a:srgbClr val="000000"/>
                </a:solidFill>
                <a:latin typeface="맑은 고딕"/>
                <a:ea typeface="맑은 고딕"/>
              </a:rPr>
              <a:t>읽는</a:t>
            </a:r>
            <a:r>
              <a:rPr sz="800" b="0" dirty="0">
                <a:solidFill>
                  <a:srgbClr val="000000"/>
                </a:solidFill>
                <a:latin typeface="맑은 고딕"/>
                <a:ea typeface="맑은 고딕"/>
              </a:rPr>
              <a:t> </a:t>
            </a:r>
            <a:r>
              <a:rPr sz="800" b="0" dirty="0" err="1">
                <a:solidFill>
                  <a:srgbClr val="000000"/>
                </a:solidFill>
                <a:latin typeface="맑은 고딕"/>
                <a:ea typeface="맑은 고딕"/>
              </a:rPr>
              <a:t>크기</a:t>
            </a:r>
            <a:r>
              <a:rPr sz="800" b="0" dirty="0">
                <a:solidFill>
                  <a:srgbClr val="000000"/>
                </a:solidFill>
                <a:latin typeface="맑은 고딕"/>
                <a:ea typeface="맑은 고딕"/>
              </a:rPr>
              <a:t> </a:t>
            </a:r>
            <a:r>
              <a:rPr sz="800" b="0" dirty="0" err="1">
                <a:solidFill>
                  <a:srgbClr val="000000"/>
                </a:solidFill>
                <a:latin typeface="맑은 고딕"/>
                <a:ea typeface="맑은 고딕"/>
              </a:rPr>
              <a:t>S가</a:t>
            </a:r>
            <a:r>
              <a:rPr sz="800" b="0" dirty="0">
                <a:solidFill>
                  <a:srgbClr val="000000"/>
                </a:solidFill>
                <a:latin typeface="맑은 고딕"/>
                <a:ea typeface="맑은 고딕"/>
              </a:rPr>
              <a:t> </a:t>
            </a:r>
            <a:r>
              <a:rPr sz="800" b="0" dirty="0" err="1">
                <a:solidFill>
                  <a:srgbClr val="000000"/>
                </a:solidFill>
                <a:latin typeface="맑은 고딕"/>
                <a:ea typeface="맑은 고딕"/>
              </a:rPr>
              <a:t>정하고</a:t>
            </a:r>
            <a:r>
              <a:rPr sz="800" b="0" dirty="0">
                <a:solidFill>
                  <a:srgbClr val="000000"/>
                </a:solidFill>
                <a:latin typeface="맑은 고딕"/>
                <a:ea typeface="맑은 고딕"/>
              </a:rPr>
              <a:t> </a:t>
            </a:r>
            <a:r>
              <a:rPr sz="800" b="0" dirty="0" err="1">
                <a:solidFill>
                  <a:srgbClr val="000000"/>
                </a:solidFill>
                <a:latin typeface="맑은 고딕"/>
                <a:ea typeface="맑은 고딕"/>
              </a:rPr>
              <a:t>추가</a:t>
            </a:r>
            <a:r>
              <a:rPr sz="800" b="0" dirty="0">
                <a:solidFill>
                  <a:srgbClr val="000000"/>
                </a:solidFill>
                <a:latin typeface="맑은 고딕"/>
                <a:ea typeface="맑은 고딕"/>
              </a:rPr>
              <a:t> </a:t>
            </a:r>
            <a:r>
              <a:rPr sz="800" b="0" dirty="0" err="1">
                <a:solidFill>
                  <a:srgbClr val="000000"/>
                </a:solidFill>
                <a:latin typeface="맑은 고딕"/>
                <a:ea typeface="맑은 고딕"/>
              </a:rPr>
              <a:t>LOC는</a:t>
            </a:r>
            <a:r>
              <a:rPr sz="800" b="0" dirty="0">
                <a:solidFill>
                  <a:srgbClr val="000000"/>
                </a:solidFill>
                <a:latin typeface="맑은 고딕"/>
                <a:ea typeface="맑은 고딕"/>
              </a:rPr>
              <a:t> </a:t>
            </a:r>
            <a:r>
              <a:rPr sz="800" b="0" dirty="0" err="1">
                <a:solidFill>
                  <a:srgbClr val="000000"/>
                </a:solidFill>
                <a:latin typeface="맑은 고딕"/>
                <a:ea typeface="맑은 고딕"/>
              </a:rPr>
              <a:t>거의</a:t>
            </a:r>
            <a:r>
              <a:rPr sz="800" b="0" dirty="0">
                <a:solidFill>
                  <a:srgbClr val="000000"/>
                </a:solidFill>
                <a:latin typeface="맑은 고딕"/>
                <a:ea typeface="맑은 고딕"/>
              </a:rPr>
              <a:t> </a:t>
            </a:r>
            <a:r>
              <a:rPr sz="800" b="0" dirty="0" err="1">
                <a:solidFill>
                  <a:srgbClr val="000000"/>
                </a:solidFill>
                <a:latin typeface="맑은 고딕"/>
                <a:ea typeface="맑은 고딕"/>
              </a:rPr>
              <a:t>영향이</a:t>
            </a:r>
            <a:r>
              <a:rPr sz="800" b="0" dirty="0">
                <a:solidFill>
                  <a:srgbClr val="000000"/>
                </a:solidFill>
                <a:latin typeface="맑은 고딕"/>
                <a:ea typeface="맑은 고딕"/>
              </a:rPr>
              <a:t> </a:t>
            </a:r>
            <a:r>
              <a:rPr sz="800" b="0" dirty="0" err="1">
                <a:solidFill>
                  <a:srgbClr val="000000"/>
                </a:solidFill>
                <a:latin typeface="맑은 고딕"/>
                <a:ea typeface="맑은 고딕"/>
              </a:rPr>
              <a:t>없다</a:t>
            </a:r>
            <a:r>
              <a:rPr sz="800" b="0" dirty="0">
                <a:solidFill>
                  <a:srgbClr val="000000"/>
                </a:solidFill>
                <a:latin typeface="맑은 고딕"/>
                <a:ea typeface="맑은 고딕"/>
              </a:rPr>
              <a:t>(이 </a:t>
            </a:r>
            <a:r>
              <a:rPr sz="800" b="0" dirty="0" err="1">
                <a:solidFill>
                  <a:srgbClr val="000000"/>
                </a:solidFill>
                <a:latin typeface="맑은 고딕"/>
                <a:ea typeface="맑은 고딕"/>
              </a:rPr>
              <a:t>모델의</a:t>
            </a:r>
            <a:r>
              <a:rPr sz="800" b="0" dirty="0">
                <a:solidFill>
                  <a:srgbClr val="000000"/>
                </a:solidFill>
                <a:latin typeface="맑은 고딕"/>
                <a:ea typeface="맑은 고딕"/>
              </a:rPr>
              <a:t> </a:t>
            </a:r>
            <a:r>
              <a:rPr sz="800" b="0" dirty="0" err="1">
                <a:solidFill>
                  <a:srgbClr val="000000"/>
                </a:solidFill>
                <a:latin typeface="맑은 고딕"/>
                <a:ea typeface="맑은 고딕"/>
              </a:rPr>
              <a:t>가정</a:t>
            </a:r>
            <a:r>
              <a:rPr sz="800" b="0" dirty="0">
                <a:solidFill>
                  <a:srgbClr val="000000"/>
                </a:solidFill>
                <a:latin typeface="맑은 고딕"/>
                <a:ea typeface="맑은 고딕"/>
              </a:rPr>
              <a:t>). '</a:t>
            </a:r>
            <a:r>
              <a:rPr sz="800" b="0" dirty="0" err="1">
                <a:solidFill>
                  <a:srgbClr val="000000"/>
                </a:solidFill>
                <a:latin typeface="맑은 고딕"/>
                <a:ea typeface="맑은 고딕"/>
              </a:rPr>
              <a:t>LOC·module</a:t>
            </a:r>
            <a:r>
              <a:rPr sz="800" b="0" dirty="0">
                <a:solidFill>
                  <a:srgbClr val="000000"/>
                </a:solidFill>
                <a:latin typeface="맑은 고딕"/>
                <a:ea typeface="맑은 고딕"/>
              </a:rPr>
              <a:t> </a:t>
            </a:r>
            <a:r>
              <a:rPr sz="800" b="0" dirty="0" err="1">
                <a:solidFill>
                  <a:srgbClr val="000000"/>
                </a:solidFill>
                <a:latin typeface="맑은 고딕"/>
                <a:ea typeface="맑은 고딕"/>
              </a:rPr>
              <a:t>수가</a:t>
            </a:r>
            <a:r>
              <a:rPr sz="800" b="0" dirty="0">
                <a:solidFill>
                  <a:srgbClr val="000000"/>
                </a:solidFill>
                <a:latin typeface="맑은 고딕"/>
                <a:ea typeface="맑은 고딕"/>
              </a:rPr>
              <a:t> </a:t>
            </a:r>
            <a:r>
              <a:rPr sz="800" b="0" dirty="0" err="1">
                <a:solidFill>
                  <a:srgbClr val="000000"/>
                </a:solidFill>
                <a:latin typeface="맑은 고딕"/>
                <a:ea typeface="맑은 고딕"/>
              </a:rPr>
              <a:t>토큰</a:t>
            </a:r>
            <a:r>
              <a:rPr sz="800" b="0" dirty="0">
                <a:solidFill>
                  <a:srgbClr val="000000"/>
                </a:solidFill>
                <a:latin typeface="맑은 고딕"/>
                <a:ea typeface="맑은 고딕"/>
              </a:rPr>
              <a:t> </a:t>
            </a:r>
            <a:r>
              <a:rPr sz="800" b="0" dirty="0" err="1">
                <a:solidFill>
                  <a:srgbClr val="000000"/>
                </a:solidFill>
                <a:latin typeface="맑은 고딕"/>
                <a:ea typeface="맑은 고딕"/>
              </a:rPr>
              <a:t>비용을</a:t>
            </a:r>
            <a:r>
              <a:rPr sz="800" b="0" dirty="0">
                <a:solidFill>
                  <a:srgbClr val="000000"/>
                </a:solidFill>
                <a:latin typeface="맑은 고딕"/>
                <a:ea typeface="맑은 고딕"/>
              </a:rPr>
              <a:t> </a:t>
            </a:r>
            <a:r>
              <a:rPr sz="800" b="0" dirty="0" err="1">
                <a:solidFill>
                  <a:srgbClr val="000000"/>
                </a:solidFill>
                <a:latin typeface="맑은 고딕"/>
                <a:ea typeface="맑은 고딕"/>
              </a:rPr>
              <a:t>결정한다'는</a:t>
            </a:r>
            <a:r>
              <a:rPr sz="800" b="0" dirty="0">
                <a:solidFill>
                  <a:srgbClr val="000000"/>
                </a:solidFill>
                <a:latin typeface="맑은 고딕"/>
                <a:ea typeface="맑은 고딕"/>
              </a:rPr>
              <a:t> module </a:t>
            </a:r>
            <a:r>
              <a:rPr sz="800" b="0" dirty="0" err="1">
                <a:solidFill>
                  <a:srgbClr val="000000"/>
                </a:solidFill>
                <a:latin typeface="맑은 고딕"/>
                <a:ea typeface="맑은 고딕"/>
              </a:rPr>
              <a:t>수와</a:t>
            </a:r>
            <a:r>
              <a:rPr sz="800" b="0" dirty="0">
                <a:solidFill>
                  <a:srgbClr val="000000"/>
                </a:solidFill>
                <a:latin typeface="맑은 고딕"/>
                <a:ea typeface="맑은 고딕"/>
              </a:rPr>
              <a:t> </a:t>
            </a:r>
            <a:r>
              <a:rPr sz="800" b="0" dirty="0" err="1">
                <a:solidFill>
                  <a:srgbClr val="000000"/>
                </a:solidFill>
                <a:latin typeface="맑은 고딕"/>
                <a:ea typeface="맑은 고딕"/>
              </a:rPr>
              <a:t>읽는</a:t>
            </a:r>
            <a:r>
              <a:rPr sz="800" b="0" dirty="0">
                <a:solidFill>
                  <a:srgbClr val="000000"/>
                </a:solidFill>
                <a:latin typeface="맑은 고딕"/>
                <a:ea typeface="맑은 고딕"/>
              </a:rPr>
              <a:t> </a:t>
            </a:r>
            <a:r>
              <a:rPr sz="800" b="0" dirty="0" err="1">
                <a:solidFill>
                  <a:srgbClr val="000000"/>
                </a:solidFill>
                <a:latin typeface="맑은 고딕"/>
                <a:ea typeface="맑은 고딕"/>
              </a:rPr>
              <a:t>크기에만</a:t>
            </a:r>
            <a:r>
              <a:rPr sz="800" b="0" dirty="0">
                <a:solidFill>
                  <a:srgbClr val="000000"/>
                </a:solidFill>
                <a:latin typeface="맑은 고딕"/>
                <a:ea typeface="맑은 고딕"/>
              </a:rPr>
              <a:t> </a:t>
            </a:r>
            <a:r>
              <a:rPr sz="800" b="0" dirty="0" err="1">
                <a:solidFill>
                  <a:srgbClr val="000000"/>
                </a:solidFill>
                <a:latin typeface="맑은 고딕"/>
                <a:ea typeface="맑은 고딕"/>
              </a:rPr>
              <a:t>맞다</a:t>
            </a:r>
            <a:r>
              <a:rPr sz="800" b="0" dirty="0">
                <a:solidFill>
                  <a:srgbClr val="000000"/>
                </a:solidFill>
                <a:latin typeface="맑은 고딕"/>
                <a:ea typeface="맑은 고딕"/>
              </a:rPr>
              <a:t>.</a:t>
            </a:r>
          </a:p>
          <a:p>
            <a:pPr algn="l">
              <a:spcAft>
                <a:spcPts val="250"/>
              </a:spcAft>
            </a:pPr>
            <a:r>
              <a:rPr sz="800" b="0" dirty="0">
                <a:solidFill>
                  <a:srgbClr val="000000"/>
                </a:solidFill>
                <a:latin typeface="맑은 고딕"/>
                <a:ea typeface="맑은 고딕"/>
              </a:rPr>
              <a:t>• M/</a:t>
            </a:r>
            <a:r>
              <a:rPr sz="800" b="0" dirty="0" err="1">
                <a:solidFill>
                  <a:srgbClr val="000000"/>
                </a:solidFill>
                <a:latin typeface="맑은 고딕"/>
                <a:ea typeface="맑은 고딕"/>
              </a:rPr>
              <a:t>M은</a:t>
            </a:r>
            <a:r>
              <a:rPr sz="800" b="0" dirty="0">
                <a:solidFill>
                  <a:srgbClr val="000000"/>
                </a:solidFill>
                <a:latin typeface="맑은 고딕"/>
                <a:ea typeface="맑은 고딕"/>
              </a:rPr>
              <a:t> </a:t>
            </a:r>
            <a:r>
              <a:rPr sz="800" b="0" dirty="0" err="1">
                <a:solidFill>
                  <a:srgbClr val="000000"/>
                </a:solidFill>
                <a:latin typeface="맑은 고딕"/>
                <a:ea typeface="맑은 고딕"/>
              </a:rPr>
              <a:t>n과</a:t>
            </a:r>
            <a:r>
              <a:rPr sz="800" b="0" dirty="0">
                <a:solidFill>
                  <a:srgbClr val="000000"/>
                </a:solidFill>
                <a:latin typeface="맑은 고딕"/>
                <a:ea typeface="맑은 고딕"/>
              </a:rPr>
              <a:t> </a:t>
            </a:r>
            <a:r>
              <a:rPr sz="800" b="0" dirty="0" err="1">
                <a:solidFill>
                  <a:srgbClr val="000000"/>
                </a:solidFill>
                <a:latin typeface="맑은 고딕"/>
                <a:ea typeface="맑은 고딕"/>
              </a:rPr>
              <a:t>L의</a:t>
            </a:r>
            <a:r>
              <a:rPr sz="800" b="0" dirty="0">
                <a:solidFill>
                  <a:srgbClr val="000000"/>
                </a:solidFill>
                <a:latin typeface="맑은 고딕"/>
                <a:ea typeface="맑은 고딕"/>
              </a:rPr>
              <a:t> </a:t>
            </a:r>
            <a:r>
              <a:rPr sz="800" b="0" dirty="0" err="1">
                <a:solidFill>
                  <a:srgbClr val="000000"/>
                </a:solidFill>
                <a:latin typeface="맑은 고딕"/>
                <a:ea typeface="맑은 고딕"/>
              </a:rPr>
              <a:t>함수다</a:t>
            </a:r>
            <a:r>
              <a:rPr sz="800" b="0" dirty="0">
                <a:solidFill>
                  <a:srgbClr val="000000"/>
                </a:solidFill>
                <a:latin typeface="맑은 고딕"/>
                <a:ea typeface="맑은 고딕"/>
              </a:rPr>
              <a:t>(LOC </a:t>
            </a:r>
            <a:r>
              <a:rPr sz="800" b="0" dirty="0" err="1">
                <a:solidFill>
                  <a:srgbClr val="000000"/>
                </a:solidFill>
                <a:latin typeface="맑은 고딕"/>
                <a:ea typeface="맑은 고딕"/>
              </a:rPr>
              <a:t>항이</a:t>
            </a:r>
            <a:r>
              <a:rPr sz="800" b="0" dirty="0">
                <a:solidFill>
                  <a:srgbClr val="000000"/>
                </a:solidFill>
                <a:latin typeface="맑은 고딕"/>
                <a:ea typeface="맑은 고딕"/>
              </a:rPr>
              <a:t> </a:t>
            </a:r>
            <a:r>
              <a:rPr sz="800" b="0" dirty="0" err="1">
                <a:solidFill>
                  <a:srgbClr val="000000"/>
                </a:solidFill>
                <a:latin typeface="맑은 고딕"/>
                <a:ea typeface="맑은 고딕"/>
              </a:rPr>
              <a:t>비교적</a:t>
            </a:r>
            <a:r>
              <a:rPr sz="800" b="0" dirty="0">
                <a:solidFill>
                  <a:srgbClr val="000000"/>
                </a:solidFill>
                <a:latin typeface="맑은 고딕"/>
                <a:ea typeface="맑은 고딕"/>
              </a:rPr>
              <a:t> </a:t>
            </a:r>
            <a:r>
              <a:rPr sz="800" b="0" dirty="0" err="1">
                <a:solidFill>
                  <a:srgbClr val="000000"/>
                </a:solidFill>
                <a:latin typeface="맑은 고딕"/>
                <a:ea typeface="맑은 고딕"/>
              </a:rPr>
              <a:t>크다</a:t>
            </a:r>
            <a:r>
              <a:rPr sz="800" b="0" dirty="0">
                <a:solidFill>
                  <a:srgbClr val="000000"/>
                </a:solidFill>
                <a:latin typeface="맑은 고딕"/>
                <a:ea typeface="맑은 고딕"/>
              </a:rPr>
              <a:t>)</a:t>
            </a:r>
            <a:endParaRPr lang="en-US" sz="800" b="0" dirty="0">
              <a:solidFill>
                <a:srgbClr val="000000"/>
              </a:solidFill>
              <a:latin typeface="맑은 고딕"/>
              <a:ea typeface="맑은 고딕"/>
            </a:endParaRPr>
          </a:p>
          <a:p>
            <a:pPr algn="l">
              <a:spcAft>
                <a:spcPts val="250"/>
              </a:spcAft>
            </a:pPr>
            <a:r>
              <a:rPr lang="en-US" sz="800" dirty="0">
                <a:solidFill>
                  <a:srgbClr val="000000"/>
                </a:solidFill>
                <a:latin typeface="맑은 고딕"/>
                <a:ea typeface="맑은 고딕"/>
                <a:sym typeface="Wingdings" panose="05000000000000000000" pitchFamily="2" charset="2"/>
              </a:rPr>
              <a:t> </a:t>
            </a:r>
            <a:r>
              <a:rPr sz="800" b="0" dirty="0">
                <a:solidFill>
                  <a:srgbClr val="000000"/>
                </a:solidFill>
                <a:latin typeface="맑은 고딕"/>
                <a:ea typeface="맑은 고딕"/>
              </a:rPr>
              <a:t>큰 </a:t>
            </a:r>
            <a:r>
              <a:rPr sz="800" b="0" dirty="0" err="1">
                <a:solidFill>
                  <a:srgbClr val="000000"/>
                </a:solidFill>
                <a:latin typeface="맑은 고딕"/>
                <a:ea typeface="맑은 고딕"/>
              </a:rPr>
              <a:t>module을</a:t>
            </a:r>
            <a:r>
              <a:rPr sz="800" b="0" dirty="0">
                <a:solidFill>
                  <a:srgbClr val="000000"/>
                </a:solidFill>
                <a:latin typeface="맑은 고딕"/>
                <a:ea typeface="맑은 고딕"/>
              </a:rPr>
              <a:t> </a:t>
            </a:r>
            <a:r>
              <a:rPr sz="800" b="0" dirty="0" err="1">
                <a:solidFill>
                  <a:srgbClr val="000000"/>
                </a:solidFill>
                <a:latin typeface="맑은 고딕"/>
                <a:ea typeface="맑은 고딕"/>
              </a:rPr>
              <a:t>읽는</a:t>
            </a:r>
            <a:r>
              <a:rPr sz="800" b="0" dirty="0">
                <a:solidFill>
                  <a:srgbClr val="000000"/>
                </a:solidFill>
                <a:latin typeface="맑은 고딕"/>
                <a:ea typeface="맑은 고딕"/>
              </a:rPr>
              <a:t> </a:t>
            </a:r>
            <a:r>
              <a:rPr sz="800" b="0" dirty="0" err="1">
                <a:solidFill>
                  <a:srgbClr val="000000"/>
                </a:solidFill>
                <a:latin typeface="맑은 고딕"/>
                <a:ea typeface="맑은 고딕"/>
              </a:rPr>
              <a:t>변경은</a:t>
            </a:r>
            <a:r>
              <a:rPr sz="800" b="0" dirty="0">
                <a:solidFill>
                  <a:srgbClr val="000000"/>
                </a:solidFill>
                <a:latin typeface="맑은 고딕"/>
                <a:ea typeface="맑은 고딕"/>
              </a:rPr>
              <a:t> </a:t>
            </a:r>
            <a:r>
              <a:rPr lang="ko-KR" altLang="en-US" sz="800" dirty="0">
                <a:solidFill>
                  <a:srgbClr val="000000"/>
                </a:solidFill>
                <a:latin typeface="맑은 고딕"/>
                <a:ea typeface="맑은 고딕"/>
              </a:rPr>
              <a:t>토큰 </a:t>
            </a:r>
            <a:r>
              <a:rPr sz="800" b="0" dirty="0" err="1">
                <a:solidFill>
                  <a:srgbClr val="000000"/>
                </a:solidFill>
                <a:latin typeface="맑은 고딕"/>
                <a:ea typeface="맑은 고딕"/>
              </a:rPr>
              <a:t>비용이</a:t>
            </a:r>
            <a:r>
              <a:rPr sz="800" b="0" dirty="0">
                <a:solidFill>
                  <a:srgbClr val="000000"/>
                </a:solidFill>
                <a:latin typeface="맑은 고딕"/>
                <a:ea typeface="맑은 고딕"/>
              </a:rPr>
              <a:t>, </a:t>
            </a:r>
            <a:r>
              <a:rPr sz="800" b="0" dirty="0" err="1">
                <a:solidFill>
                  <a:srgbClr val="000000"/>
                </a:solidFill>
                <a:latin typeface="맑은 고딕"/>
                <a:ea typeface="맑은 고딕"/>
              </a:rPr>
              <a:t>LOC를</a:t>
            </a:r>
            <a:r>
              <a:rPr sz="800" b="0" dirty="0">
                <a:solidFill>
                  <a:srgbClr val="000000"/>
                </a:solidFill>
                <a:latin typeface="맑은 고딕"/>
                <a:ea typeface="맑은 고딕"/>
              </a:rPr>
              <a:t> </a:t>
            </a:r>
            <a:r>
              <a:rPr sz="800" b="0" dirty="0" err="1">
                <a:solidFill>
                  <a:srgbClr val="000000"/>
                </a:solidFill>
                <a:latin typeface="맑은 고딕"/>
                <a:ea typeface="맑은 고딕"/>
              </a:rPr>
              <a:t>많이</a:t>
            </a:r>
            <a:r>
              <a:rPr sz="800" b="0" dirty="0">
                <a:solidFill>
                  <a:srgbClr val="000000"/>
                </a:solidFill>
                <a:latin typeface="맑은 고딕"/>
                <a:ea typeface="맑은 고딕"/>
              </a:rPr>
              <a:t> </a:t>
            </a:r>
            <a:r>
              <a:rPr sz="800" b="0" dirty="0" err="1">
                <a:solidFill>
                  <a:srgbClr val="000000"/>
                </a:solidFill>
                <a:latin typeface="맑은 고딕"/>
                <a:ea typeface="맑은 고딕"/>
              </a:rPr>
              <a:t>쓰는</a:t>
            </a:r>
            <a:r>
              <a:rPr sz="800" b="0" dirty="0">
                <a:solidFill>
                  <a:srgbClr val="000000"/>
                </a:solidFill>
                <a:latin typeface="맑은 고딕"/>
                <a:ea typeface="맑은 고딕"/>
              </a:rPr>
              <a:t> </a:t>
            </a:r>
            <a:r>
              <a:rPr sz="800" b="0" dirty="0" err="1">
                <a:solidFill>
                  <a:srgbClr val="000000"/>
                </a:solidFill>
                <a:latin typeface="맑은 고딕"/>
                <a:ea typeface="맑은 고딕"/>
              </a:rPr>
              <a:t>변경은</a:t>
            </a:r>
            <a:r>
              <a:rPr sz="800" b="0" dirty="0">
                <a:solidFill>
                  <a:srgbClr val="000000"/>
                </a:solidFill>
                <a:latin typeface="맑은 고딕"/>
                <a:ea typeface="맑은 고딕"/>
              </a:rPr>
              <a:t> M/</a:t>
            </a:r>
            <a:r>
              <a:rPr sz="800" b="0" dirty="0" err="1">
                <a:solidFill>
                  <a:srgbClr val="000000"/>
                </a:solidFill>
                <a:latin typeface="맑은 고딕"/>
                <a:ea typeface="맑은 고딕"/>
              </a:rPr>
              <a:t>M이</a:t>
            </a:r>
            <a:r>
              <a:rPr sz="800" b="0" dirty="0">
                <a:solidFill>
                  <a:srgbClr val="000000"/>
                </a:solidFill>
                <a:latin typeface="맑은 고딕"/>
                <a:ea typeface="맑은 고딕"/>
              </a:rPr>
              <a:t> 더 </a:t>
            </a:r>
            <a:r>
              <a:rPr sz="800" b="0" dirty="0" err="1">
                <a:solidFill>
                  <a:srgbClr val="000000"/>
                </a:solidFill>
                <a:latin typeface="맑은 고딕"/>
                <a:ea typeface="맑은 고딕"/>
              </a:rPr>
              <a:t>커진다</a:t>
            </a:r>
            <a:r>
              <a:rPr sz="800" b="0" dirty="0">
                <a:solidFill>
                  <a:srgbClr val="000000"/>
                </a:solidFill>
                <a:latin typeface="맑은 고딕"/>
                <a:ea typeface="맑은 고딕"/>
              </a:rPr>
              <a:t>.</a:t>
            </a:r>
          </a:p>
        </p:txBody>
      </p:sp>
      <p:sp>
        <p:nvSpPr>
          <p:cNvPr id="11" name="실행 단추: 뒤로 또는 이전 10">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6230173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기능</a:t>
            </a:r>
            <a:r>
              <a:rPr sz="2200" b="1" dirty="0">
                <a:solidFill>
                  <a:srgbClr val="2F5597"/>
                </a:solidFill>
                <a:latin typeface="맑은 고딕"/>
                <a:ea typeface="맑은 고딕"/>
              </a:rPr>
              <a:t> </a:t>
            </a:r>
            <a:r>
              <a:rPr sz="2200" b="1" dirty="0" err="1">
                <a:solidFill>
                  <a:srgbClr val="2F5597"/>
                </a:solidFill>
                <a:latin typeface="맑은 고딕"/>
                <a:ea typeface="맑은 고딕"/>
              </a:rPr>
              <a:t>정확성</a:t>
            </a:r>
            <a:r>
              <a:rPr lang="en-US" sz="2200" b="1" dirty="0">
                <a:solidFill>
                  <a:srgbClr val="2F5597"/>
                </a:solidFill>
                <a:latin typeface="맑은 고딕"/>
                <a:ea typeface="맑은 고딕"/>
              </a:rPr>
              <a:t>(Accuracy) - </a:t>
            </a:r>
            <a:r>
              <a:rPr lang="ko-KR" altLang="en-US" sz="2200" b="1" dirty="0">
                <a:solidFill>
                  <a:srgbClr val="2F5597"/>
                </a:solidFill>
                <a:latin typeface="맑은 고딕"/>
                <a:ea typeface="맑은 고딕"/>
              </a:rPr>
              <a:t>평가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dirty="0">
                <a:solidFill>
                  <a:srgbClr val="404040"/>
                </a:solidFill>
                <a:latin typeface="맑은 고딕"/>
                <a:ea typeface="맑은 고딕"/>
              </a:rPr>
              <a:t>F1 </a:t>
            </a:r>
            <a:r>
              <a:rPr lang="en-US" sz="1100" dirty="0">
                <a:solidFill>
                  <a:srgbClr val="404040"/>
                </a:solidFill>
                <a:latin typeface="맑은 고딕"/>
                <a:ea typeface="맑은 고딕"/>
              </a:rPr>
              <a:t>Score</a:t>
            </a:r>
            <a:r>
              <a:rPr lang="ko-KR" altLang="en-US" sz="1100" dirty="0">
                <a:solidFill>
                  <a:srgbClr val="404040"/>
                </a:solidFill>
                <a:latin typeface="맑은 고딕"/>
                <a:ea typeface="맑은 고딕"/>
              </a:rPr>
              <a:t> </a:t>
            </a:r>
            <a:r>
              <a:rPr sz="1100" b="0" dirty="0" err="1">
                <a:solidFill>
                  <a:srgbClr val="404040"/>
                </a:solidFill>
                <a:latin typeface="맑은 고딕"/>
                <a:ea typeface="맑은 고딕"/>
              </a:rPr>
              <a:t>상대</a:t>
            </a:r>
            <a:r>
              <a:rPr sz="1100" b="0" dirty="0">
                <a:solidFill>
                  <a:srgbClr val="404040"/>
                </a:solidFill>
                <a:latin typeface="맑은 고딕"/>
                <a:ea typeface="맑은 고딕"/>
              </a:rPr>
              <a:t> </a:t>
            </a:r>
            <a:r>
              <a:rPr sz="1100" b="0" dirty="0" err="1">
                <a:solidFill>
                  <a:srgbClr val="404040"/>
                </a:solidFill>
                <a:latin typeface="맑은 고딕"/>
                <a:ea typeface="맑은 고딕"/>
              </a:rPr>
              <a:t>하락률</a:t>
            </a:r>
            <a:endParaRP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583680"/>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a:t>
            </a:r>
            <a:r>
              <a:rPr lang="en-US" sz="750" b="0" dirty="0">
                <a:solidFill>
                  <a:srgbClr val="404040"/>
                </a:solidFill>
                <a:latin typeface="맑은 고딕"/>
                <a:ea typeface="맑은 고딕"/>
              </a:rPr>
              <a:t>[1]</a:t>
            </a:r>
            <a:r>
              <a:rPr sz="750" b="0" dirty="0">
                <a:solidFill>
                  <a:srgbClr val="404040"/>
                </a:solidFill>
                <a:latin typeface="맑은 고딕"/>
                <a:ea typeface="맑은 고딕"/>
              </a:rPr>
              <a:t>: </a:t>
            </a:r>
            <a:r>
              <a:rPr sz="750" b="0" dirty="0" err="1">
                <a:solidFill>
                  <a:srgbClr val="404040"/>
                </a:solidFill>
                <a:latin typeface="맑은 고딕"/>
                <a:ea typeface="맑은 고딕"/>
              </a:rPr>
              <a:t>소유자</a:t>
            </a:r>
            <a:r>
              <a:rPr sz="750" b="0" dirty="0">
                <a:solidFill>
                  <a:srgbClr val="404040"/>
                </a:solidFill>
                <a:latin typeface="맑은 고딕"/>
                <a:ea typeface="맑은 고딕"/>
              </a:rPr>
              <a:t> </a:t>
            </a:r>
            <a:r>
              <a:rPr sz="750" b="0" dirty="0" err="1">
                <a:solidFill>
                  <a:srgbClr val="404040"/>
                </a:solidFill>
                <a:latin typeface="맑은 고딕"/>
                <a:ea typeface="맑은 고딕"/>
              </a:rPr>
              <a:t>확정</a:t>
            </a:r>
            <a:r>
              <a:rPr sz="750" b="0" dirty="0">
                <a:solidFill>
                  <a:srgbClr val="404040"/>
                </a:solidFill>
                <a:latin typeface="맑은 고딕"/>
                <a:ea typeface="맑은 고딕"/>
              </a:rPr>
              <a:t>(2026-10-09) · </a:t>
            </a:r>
            <a:r>
              <a:rPr sz="750" b="0" dirty="0" err="1">
                <a:solidFill>
                  <a:srgbClr val="404040"/>
                </a:solidFill>
                <a:latin typeface="맑은 고딕"/>
                <a:ea typeface="맑은 고딕"/>
              </a:rPr>
              <a:t>KVzip</a:t>
            </a:r>
            <a:r>
              <a:rPr sz="750" b="0" dirty="0">
                <a:solidFill>
                  <a:srgbClr val="404040"/>
                </a:solidFill>
                <a:latin typeface="맑은 고딕"/>
                <a:ea typeface="맑은 고딕"/>
              </a:rPr>
              <a:t>, </a:t>
            </a:r>
            <a:r>
              <a:rPr sz="750" b="0" dirty="0" err="1">
                <a:solidFill>
                  <a:srgbClr val="404040"/>
                </a:solidFill>
                <a:latin typeface="맑은 고딕"/>
                <a:ea typeface="맑은 고딕"/>
              </a:rPr>
              <a:t>NeurIPS</a:t>
            </a:r>
            <a:r>
              <a:rPr sz="750" b="0" dirty="0">
                <a:solidFill>
                  <a:srgbClr val="404040"/>
                </a:solidFill>
                <a:latin typeface="맑은 고딕"/>
                <a:ea typeface="맑은 고딕"/>
              </a:rPr>
              <a:t> 2025 (neurips.cc/virtual/2025/oral/118742</a:t>
            </a:r>
          </a:p>
        </p:txBody>
      </p:sp>
      <p:graphicFrame>
        <p:nvGraphicFramePr>
          <p:cNvPr id="7" name="tbl"/>
          <p:cNvGraphicFramePr>
            <a:graphicFrameLocks noGrp="1"/>
          </p:cNvGraphicFramePr>
          <p:nvPr>
            <p:extLst>
              <p:ext uri="{D42A27DB-BD31-4B8C-83A1-F6EECF244321}">
                <p14:modId xmlns:p14="http://schemas.microsoft.com/office/powerpoint/2010/main" val="506852125"/>
              </p:ext>
            </p:extLst>
          </p:nvPr>
        </p:nvGraphicFramePr>
        <p:xfrm>
          <a:off x="365760" y="1821631"/>
          <a:ext cx="11457432" cy="22860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1979507">
                  <a:extLst>
                    <a:ext uri="{9D8B030D-6E8A-4147-A177-3AD203B41FA5}">
                      <a16:colId xmlns:a16="http://schemas.microsoft.com/office/drawing/2014/main" val="20001"/>
                    </a:ext>
                  </a:extLst>
                </a:gridCol>
                <a:gridCol w="6432973">
                  <a:extLst>
                    <a:ext uri="{9D8B030D-6E8A-4147-A177-3AD203B41FA5}">
                      <a16:colId xmlns:a16="http://schemas.microsoft.com/office/drawing/2014/main" val="20002"/>
                    </a:ext>
                  </a:extLst>
                </a:gridCol>
                <a:gridCol w="2130552">
                  <a:extLst>
                    <a:ext uri="{9D8B030D-6E8A-4147-A177-3AD203B41FA5}">
                      <a16:colId xmlns:a16="http://schemas.microsoft.com/office/drawing/2014/main" val="20003"/>
                    </a:ext>
                  </a:extLst>
                </a:gridCol>
              </a:tblGrid>
              <a:tr h="310896">
                <a:tc>
                  <a:txBody>
                    <a:bodyPr/>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1000" b="1" dirty="0" err="1">
                          <a:solidFill>
                            <a:srgbClr val="FFFFFF"/>
                          </a:solidFill>
                          <a:latin typeface="맑은 고딕"/>
                          <a:ea typeface="맑은 고딕"/>
                        </a:rPr>
                        <a:t>성능</a:t>
                      </a:r>
                      <a:r>
                        <a:rPr sz="1000" b="1" dirty="0">
                          <a:solidFill>
                            <a:srgbClr val="FFFFFF"/>
                          </a:solidFill>
                          <a:latin typeface="맑은 고딕"/>
                          <a:ea typeface="맑은 고딕"/>
                        </a:rPr>
                        <a:t> </a:t>
                      </a:r>
                      <a:r>
                        <a:rPr sz="1000" b="1" dirty="0" err="1">
                          <a:solidFill>
                            <a:srgbClr val="FFFFFF"/>
                          </a:solidFill>
                          <a:latin typeface="맑은 고딕"/>
                          <a:ea typeface="맑은 고딕"/>
                        </a:rPr>
                        <a:t>기준</a:t>
                      </a:r>
                      <a:r>
                        <a:rPr sz="1000" b="1" dirty="0">
                          <a:solidFill>
                            <a:srgbClr val="FFFFFF"/>
                          </a:solidFill>
                          <a:latin typeface="맑은 고딕"/>
                          <a:ea typeface="맑은 고딕"/>
                        </a:rPr>
                        <a:t> (</a:t>
                      </a:r>
                      <a:r>
                        <a:rPr sz="1000" b="1" dirty="0" err="1">
                          <a:solidFill>
                            <a:srgbClr val="FFFFFF"/>
                          </a:solidFill>
                          <a:latin typeface="맑은 고딕"/>
                          <a:ea typeface="맑은 고딕"/>
                        </a:rPr>
                        <a:t>정량</a:t>
                      </a:r>
                      <a:r>
                        <a:rPr sz="1000" b="1" dirty="0">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1000" b="1" dirty="0">
                          <a:solidFill>
                            <a:srgbClr val="FFFFFF"/>
                          </a:solidFill>
                          <a:latin typeface="맑은 고딕"/>
                          <a:ea typeface="맑은 고딕"/>
                        </a:rPr>
                        <a:t>근거</a:t>
                      </a:r>
                      <a:endParaRPr sz="10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lang="ko-KR" altLang="en-US" sz="1000" b="1" dirty="0">
                          <a:solidFill>
                            <a:srgbClr val="FFFFFF"/>
                          </a:solidFill>
                          <a:latin typeface="맑은 고딕"/>
                          <a:ea typeface="맑은 고딕"/>
                        </a:rPr>
                        <a:t>출처</a:t>
                      </a:r>
                      <a:endParaRPr sz="1000" b="1" dirty="0">
                        <a:solidFill>
                          <a:srgbClr val="FFFFFF"/>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658368">
                <a:tc>
                  <a:txBody>
                    <a:bodyPr/>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sz="1000" b="0" dirty="0" err="1">
                          <a:solidFill>
                            <a:srgbClr val="000000"/>
                          </a:solidFill>
                          <a:latin typeface="맑은 고딕"/>
                          <a:ea typeface="맑은 고딕"/>
                        </a:rPr>
                        <a:t>하락</a:t>
                      </a:r>
                      <a:r>
                        <a:rPr sz="1000" b="0" dirty="0">
                          <a:solidFill>
                            <a:srgbClr val="000000"/>
                          </a:solidFill>
                          <a:latin typeface="맑은 고딕"/>
                          <a:ea typeface="맑은 고딕"/>
                        </a:rPr>
                        <a:t> ≤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lang="en-US" sz="1000" b="0" dirty="0">
                          <a:solidFill>
                            <a:srgbClr val="000000"/>
                          </a:solidFill>
                          <a:latin typeface="맑은 고딕"/>
                          <a:ea typeface="맑은 고딕"/>
                        </a:rPr>
                        <a:t>F1 1% </a:t>
                      </a:r>
                      <a:r>
                        <a:rPr lang="ko-KR" altLang="en-US" sz="1000" b="0" dirty="0">
                          <a:solidFill>
                            <a:srgbClr val="000000"/>
                          </a:solidFill>
                          <a:latin typeface="맑은 고딕"/>
                          <a:ea typeface="맑은 고딕"/>
                        </a:rPr>
                        <a:t>이내면 정확도 </a:t>
                      </a:r>
                      <a:r>
                        <a:rPr lang="en-US" altLang="ko-KR" sz="1000" b="0" dirty="0">
                          <a:solidFill>
                            <a:srgbClr val="000000"/>
                          </a:solidFill>
                          <a:latin typeface="맑은 고딕"/>
                          <a:ea typeface="맑은 고딕"/>
                        </a:rPr>
                        <a:t>Drop </a:t>
                      </a:r>
                      <a:r>
                        <a:rPr lang="ko-KR" altLang="en-US" sz="1000" b="0" dirty="0">
                          <a:solidFill>
                            <a:srgbClr val="000000"/>
                          </a:solidFill>
                          <a:latin typeface="맑은 고딕"/>
                          <a:ea typeface="맑은 고딕"/>
                        </a:rPr>
                        <a:t>없다고 판단</a:t>
                      </a:r>
                      <a:endParaRPr lang="en-US" sz="10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a:lstStyle/>
                    <a:p>
                      <a:pPr algn="l"/>
                      <a:r>
                        <a:rPr lang="en-US" sz="1000" b="0" dirty="0">
                          <a:solidFill>
                            <a:srgbClr val="000000"/>
                          </a:solidFill>
                          <a:latin typeface="맑은 고딕"/>
                          <a:ea typeface="맑은 고딕"/>
                        </a:rPr>
                        <a:t>Benchmark </a:t>
                      </a:r>
                      <a:r>
                        <a:rPr lang="ko-KR" altLang="en-US" sz="1000" b="0" dirty="0">
                          <a:solidFill>
                            <a:srgbClr val="000000"/>
                          </a:solidFill>
                          <a:latin typeface="맑은 고딕"/>
                          <a:ea typeface="맑은 고딕"/>
                        </a:rPr>
                        <a:t>및 </a:t>
                      </a:r>
                      <a:r>
                        <a:rPr lang="en-US" altLang="ko-KR" sz="1000" b="0" dirty="0">
                          <a:solidFill>
                            <a:srgbClr val="000000"/>
                          </a:solidFill>
                          <a:latin typeface="맑은 고딕"/>
                          <a:ea typeface="맑은 고딕"/>
                        </a:rPr>
                        <a:t>AI </a:t>
                      </a:r>
                      <a:r>
                        <a:rPr lang="ko-KR" altLang="en-US" sz="1000" b="0" dirty="0">
                          <a:solidFill>
                            <a:srgbClr val="000000"/>
                          </a:solidFill>
                          <a:latin typeface="맑은 고딕"/>
                          <a:ea typeface="맑은 고딕"/>
                        </a:rPr>
                        <a:t>모델 관련 논문 </a:t>
                      </a:r>
                      <a:r>
                        <a:rPr lang="en-US" altLang="ko-KR" sz="1000" b="0" dirty="0">
                          <a:solidFill>
                            <a:srgbClr val="000000"/>
                          </a:solidFill>
                          <a:latin typeface="맑은 고딕"/>
                          <a:ea typeface="맑은 고딕"/>
                        </a:rPr>
                        <a:t>[1]</a:t>
                      </a:r>
                      <a:endParaRPr sz="10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extLst>
                  <a:ext uri="{0D108BD9-81ED-4DB2-BD59-A6C34878D82A}">
                    <a16:rowId xmlns:a16="http://schemas.microsoft.com/office/drawing/2014/main" val="10001"/>
                  </a:ext>
                </a:extLst>
              </a:tr>
              <a:tr h="658368">
                <a:tc>
                  <a:txBody>
                    <a:bodyPr/>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en-US" sz="1000" b="0" dirty="0">
                          <a:solidFill>
                            <a:srgbClr val="000000"/>
                          </a:solidFill>
                          <a:latin typeface="맑은 고딕"/>
                          <a:ea typeface="맑은 고딕"/>
                        </a:rPr>
                        <a:t>1</a:t>
                      </a:r>
                      <a:r>
                        <a:rPr sz="1000" b="0" dirty="0">
                          <a:solidFill>
                            <a:srgbClr val="000000"/>
                          </a:solidFill>
                          <a:latin typeface="맑은 고딕"/>
                          <a:ea typeface="맑은 고딕"/>
                        </a:rPr>
                        <a:t>% &lt; </a:t>
                      </a:r>
                      <a:r>
                        <a:rPr sz="1000" b="0" dirty="0" err="1">
                          <a:solidFill>
                            <a:srgbClr val="000000"/>
                          </a:solidFill>
                          <a:latin typeface="맑은 고딕"/>
                          <a:ea typeface="맑은 고딕"/>
                        </a:rPr>
                        <a:t>하락</a:t>
                      </a:r>
                      <a:r>
                        <a:rPr sz="1000" b="0" dirty="0">
                          <a:solidFill>
                            <a:srgbClr val="000000"/>
                          </a:solidFill>
                          <a:latin typeface="맑은 고딕"/>
                          <a:ea typeface="맑은 고딕"/>
                        </a:rPr>
                        <a:t> ≤ </a:t>
                      </a:r>
                      <a:r>
                        <a:rPr lang="en-US" sz="1000" b="0" dirty="0">
                          <a:solidFill>
                            <a:srgbClr val="000000"/>
                          </a:solidFill>
                          <a:latin typeface="맑은 고딕"/>
                          <a:ea typeface="맑은 고딕"/>
                        </a:rPr>
                        <a:t>2</a:t>
                      </a:r>
                      <a:r>
                        <a:rPr sz="1000" b="0" dirty="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ko-KR" altLang="en-US" sz="1000" b="0" dirty="0">
                          <a:solidFill>
                            <a:srgbClr val="000000"/>
                          </a:solidFill>
                          <a:latin typeface="맑은 고딕"/>
                          <a:ea typeface="맑은 고딕"/>
                        </a:rPr>
                        <a:t>정책 선택</a:t>
                      </a:r>
                      <a:endParaRPr sz="10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a:lstStyle/>
                    <a:p>
                      <a:pPr algn="l"/>
                      <a:r>
                        <a:rPr lang="ko-KR" altLang="en-US" sz="1000" b="0" dirty="0">
                          <a:solidFill>
                            <a:srgbClr val="000000"/>
                          </a:solidFill>
                          <a:latin typeface="맑은 고딕"/>
                          <a:ea typeface="맑은 고딕"/>
                        </a:rPr>
                        <a:t>정책 선택</a:t>
                      </a:r>
                      <a:endParaRPr sz="10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extLst>
                  <a:ext uri="{0D108BD9-81ED-4DB2-BD59-A6C34878D82A}">
                    <a16:rowId xmlns:a16="http://schemas.microsoft.com/office/drawing/2014/main" val="10002"/>
                  </a:ext>
                </a:extLst>
              </a:tr>
              <a:tr h="658368">
                <a:tc>
                  <a:txBody>
                    <a:bodyPr/>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lang="en-US" sz="1000" b="0" dirty="0">
                          <a:solidFill>
                            <a:srgbClr val="000000"/>
                          </a:solidFill>
                          <a:latin typeface="맑은 고딕"/>
                          <a:ea typeface="맑은 고딕"/>
                        </a:rPr>
                        <a:t>2% &lt; </a:t>
                      </a:r>
                      <a:r>
                        <a:rPr sz="1000" b="0" dirty="0" err="1">
                          <a:solidFill>
                            <a:srgbClr val="000000"/>
                          </a:solidFill>
                          <a:latin typeface="맑은 고딕"/>
                          <a:ea typeface="맑은 고딕"/>
                        </a:rPr>
                        <a:t>하락</a:t>
                      </a:r>
                      <a:r>
                        <a:rPr sz="1000" b="0" dirty="0">
                          <a:solidFill>
                            <a:srgbClr val="000000"/>
                          </a:solidFill>
                          <a:latin typeface="맑은 고딕"/>
                          <a:ea typeface="맑은 고딕"/>
                        </a:rPr>
                        <a:t> </a:t>
                      </a:r>
                      <a:r>
                        <a:rPr lang="ko-KR" altLang="en-US" sz="1000" b="0" dirty="0">
                          <a:solidFill>
                            <a:srgbClr val="000000"/>
                          </a:solidFill>
                          <a:latin typeface="+mn-lt"/>
                          <a:ea typeface="맑은 고딕"/>
                        </a:rPr>
                        <a:t>≤</a:t>
                      </a:r>
                      <a:r>
                        <a:rPr sz="1000" b="0" dirty="0">
                          <a:solidFill>
                            <a:srgbClr val="000000"/>
                          </a:solidFill>
                          <a:latin typeface="맑은 고딕"/>
                          <a:ea typeface="맑은 고딕"/>
                        </a:rPr>
                        <a: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0" dirty="0">
                          <a:solidFill>
                            <a:srgbClr val="000000"/>
                          </a:solidFill>
                          <a:latin typeface="+mn-lt"/>
                          <a:ea typeface="맑은 고딕"/>
                        </a:rPr>
                        <a:t>KV </a:t>
                      </a:r>
                      <a:r>
                        <a:rPr lang="ko-KR" altLang="en-US" sz="1000" b="0" dirty="0">
                          <a:solidFill>
                            <a:srgbClr val="000000"/>
                          </a:solidFill>
                          <a:latin typeface="+mn-lt"/>
                          <a:ea typeface="맑은 고딕"/>
                        </a:rPr>
                        <a:t>캐시 선택적 재계산 연구들의 실제 측정값 기준 정확도 하락 </a:t>
                      </a:r>
                      <a:r>
                        <a:rPr lang="en-US" altLang="ko-KR" sz="1000" b="0" dirty="0">
                          <a:solidFill>
                            <a:srgbClr val="000000"/>
                          </a:solidFill>
                          <a:latin typeface="+mn-lt"/>
                          <a:ea typeface="맑은 고딕"/>
                        </a:rPr>
                        <a:t>3% </a:t>
                      </a:r>
                      <a:r>
                        <a:rPr lang="ko-KR" altLang="en-US" sz="1000" b="0" dirty="0">
                          <a:solidFill>
                            <a:srgbClr val="000000"/>
                          </a:solidFill>
                          <a:latin typeface="+mn-lt"/>
                          <a:ea typeface="맑은 고딕"/>
                        </a:rPr>
                        <a:t>관측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a:lstStyle/>
                    <a:p>
                      <a:pPr algn="l"/>
                      <a:r>
                        <a:rPr lang="ko-KR" altLang="en-US" sz="1000" b="0" dirty="0">
                          <a:solidFill>
                            <a:srgbClr val="000000"/>
                          </a:solidFill>
                          <a:latin typeface="+mn-lt"/>
                          <a:ea typeface="맑은 고딕"/>
                        </a:rPr>
                        <a:t>실험 관측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extLst>
                  <a:ext uri="{0D108BD9-81ED-4DB2-BD59-A6C34878D82A}">
                    <a16:rowId xmlns:a16="http://schemas.microsoft.com/office/drawing/2014/main" val="10003"/>
                  </a:ext>
                </a:extLst>
              </a:tr>
            </a:tbl>
          </a:graphicData>
        </a:graphic>
      </p:graphicFrame>
      <p:sp>
        <p:nvSpPr>
          <p:cNvPr id="10" name="subtitle">
            <a:extLst>
              <a:ext uri="{FF2B5EF4-FFF2-40B4-BE49-F238E27FC236}">
                <a16:creationId xmlns:a16="http://schemas.microsoft.com/office/drawing/2014/main" id="{8E222A4A-3AFC-4DD5-836A-6B752D7BBDD6}"/>
              </a:ext>
            </a:extLst>
          </p:cNvPr>
          <p:cNvSpPr txBox="1"/>
          <p:nvPr/>
        </p:nvSpPr>
        <p:spPr>
          <a:xfrm>
            <a:off x="365760" y="1079932"/>
            <a:ext cx="11430000" cy="587469"/>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F1 Score </a:t>
            </a:r>
            <a:r>
              <a:rPr lang="ko-KR" altLang="en-US" sz="1100" b="1" dirty="0" err="1">
                <a:solidFill>
                  <a:srgbClr val="2F5597"/>
                </a:solidFill>
                <a:latin typeface="맑은 고딕"/>
                <a:ea typeface="맑은 고딕"/>
              </a:rPr>
              <a:t>하락률</a:t>
            </a:r>
            <a:r>
              <a:rPr lang="ko-KR" altLang="en-US" sz="1100" b="1" dirty="0">
                <a:solidFill>
                  <a:srgbClr val="2F5597"/>
                </a:solidFill>
                <a:latin typeface="맑은 고딕"/>
                <a:ea typeface="맑은 고딕"/>
              </a:rPr>
              <a:t> </a:t>
            </a:r>
            <a:r>
              <a:rPr lang="en-US" altLang="ko-KR" sz="1100" b="1" dirty="0">
                <a:solidFill>
                  <a:srgbClr val="2F5597"/>
                </a:solidFill>
                <a:latin typeface="맑은 고딕"/>
                <a:ea typeface="맑은 고딕"/>
              </a:rPr>
              <a:t>= </a:t>
            </a:r>
            <a:r>
              <a:rPr lang="ko-KR" altLang="en-US" sz="1100" b="1" dirty="0">
                <a:solidFill>
                  <a:srgbClr val="2F5597"/>
                </a:solidFill>
                <a:latin typeface="맑은 고딕"/>
                <a:ea typeface="맑은 고딕"/>
              </a:rPr>
              <a:t>△</a:t>
            </a:r>
            <a:r>
              <a:rPr lang="en-US" altLang="ko-KR" sz="1100" b="1" dirty="0">
                <a:solidFill>
                  <a:srgbClr val="2F5597"/>
                </a:solidFill>
                <a:latin typeface="맑은 고딕"/>
                <a:ea typeface="맑은 고딕"/>
              </a:rPr>
              <a:t>F1 ÷ </a:t>
            </a:r>
            <a:r>
              <a:rPr lang="ko-KR" altLang="en-US" sz="1100" b="1" dirty="0">
                <a:solidFill>
                  <a:srgbClr val="2F5597"/>
                </a:solidFill>
                <a:latin typeface="맑은 고딕"/>
                <a:ea typeface="맑은 고딕"/>
              </a:rPr>
              <a:t>압축 전 </a:t>
            </a:r>
            <a:r>
              <a:rPr lang="en-US" altLang="ko-KR" sz="1100" b="1" dirty="0">
                <a:solidFill>
                  <a:srgbClr val="2F5597"/>
                </a:solidFill>
                <a:latin typeface="맑은 고딕"/>
                <a:ea typeface="맑은 고딕"/>
              </a:rPr>
              <a:t>full recompute</a:t>
            </a:r>
            <a:r>
              <a:rPr lang="ko-KR" altLang="en-US" sz="1100" b="1" dirty="0">
                <a:solidFill>
                  <a:srgbClr val="2F5597"/>
                </a:solidFill>
                <a:latin typeface="맑은 고딕"/>
                <a:ea typeface="맑은 고딕"/>
              </a:rPr>
              <a:t>의 </a:t>
            </a:r>
            <a:r>
              <a:rPr lang="en-US" altLang="ko-KR" sz="1100" b="1" dirty="0">
                <a:solidFill>
                  <a:srgbClr val="2F5597"/>
                </a:solidFill>
                <a:latin typeface="맑은 고딕"/>
                <a:ea typeface="맑은 고딕"/>
              </a:rPr>
              <a:t>F1</a:t>
            </a:r>
          </a:p>
          <a:p>
            <a:pPr marL="171450" indent="-171450">
              <a:lnSpc>
                <a:spcPct val="150000"/>
              </a:lnSpc>
              <a:spcAft>
                <a:spcPts val="250"/>
              </a:spcAft>
              <a:buFontTx/>
              <a:buChar char="-"/>
            </a:pPr>
            <a:r>
              <a:rPr lang="en-US" altLang="ko-KR" sz="1100" dirty="0">
                <a:solidFill>
                  <a:srgbClr val="404040"/>
                </a:solidFill>
                <a:latin typeface="맑은 고딕"/>
                <a:ea typeface="맑은 고딕"/>
              </a:rPr>
              <a:t>F1</a:t>
            </a:r>
            <a:r>
              <a:rPr lang="ko-KR" altLang="en-US" sz="1100" dirty="0">
                <a:solidFill>
                  <a:srgbClr val="404040"/>
                </a:solidFill>
                <a:latin typeface="맑은 고딕"/>
                <a:ea typeface="맑은 고딕"/>
              </a:rPr>
              <a:t> </a:t>
            </a:r>
            <a:r>
              <a:rPr lang="en-US" altLang="ko-KR" sz="1100" dirty="0">
                <a:solidFill>
                  <a:srgbClr val="404040"/>
                </a:solidFill>
                <a:latin typeface="맑은 고딕"/>
                <a:ea typeface="맑은 고딕"/>
              </a:rPr>
              <a:t>Score</a:t>
            </a:r>
            <a:r>
              <a:rPr lang="ko-KR" altLang="en-US" sz="1100" dirty="0">
                <a:solidFill>
                  <a:srgbClr val="404040"/>
                </a:solidFill>
                <a:latin typeface="맑은 고딕"/>
                <a:ea typeface="맑은 고딕"/>
              </a:rPr>
              <a:t> </a:t>
            </a:r>
            <a:r>
              <a:rPr lang="en-US" altLang="ko-KR" sz="1100" dirty="0">
                <a:solidFill>
                  <a:srgbClr val="404040"/>
                </a:solidFill>
                <a:latin typeface="맑은 고딕"/>
                <a:ea typeface="맑은 고딕"/>
              </a:rPr>
              <a:t>=</a:t>
            </a:r>
            <a:r>
              <a:rPr lang="ko-KR" altLang="en-US" sz="1100" dirty="0">
                <a:solidFill>
                  <a:srgbClr val="404040"/>
                </a:solidFill>
                <a:latin typeface="맑은 고딕"/>
                <a:ea typeface="맑은 고딕"/>
              </a:rPr>
              <a:t> </a:t>
            </a:r>
            <a:r>
              <a:rPr lang="en-US" altLang="ko-KR" sz="1100" dirty="0">
                <a:solidFill>
                  <a:srgbClr val="404040"/>
                </a:solidFill>
                <a:latin typeface="맑은 고딕"/>
                <a:ea typeface="맑은 고딕"/>
              </a:rPr>
              <a:t>2 * (Precision * Recall)/(Precision + Recall) (Precision</a:t>
            </a:r>
            <a:r>
              <a:rPr lang="ko-KR" altLang="en-US" sz="1100" dirty="0">
                <a:solidFill>
                  <a:srgbClr val="404040"/>
                </a:solidFill>
                <a:latin typeface="맑은 고딕"/>
                <a:ea typeface="맑은 고딕"/>
              </a:rPr>
              <a:t>과 </a:t>
            </a:r>
            <a:r>
              <a:rPr lang="en-US" altLang="ko-KR" sz="1100" dirty="0">
                <a:solidFill>
                  <a:srgbClr val="404040"/>
                </a:solidFill>
                <a:latin typeface="맑은 고딕"/>
                <a:ea typeface="맑은 고딕"/>
              </a:rPr>
              <a:t>Recall</a:t>
            </a:r>
            <a:r>
              <a:rPr lang="ko-KR" altLang="en-US" sz="1100" dirty="0">
                <a:solidFill>
                  <a:srgbClr val="404040"/>
                </a:solidFill>
                <a:latin typeface="맑은 고딕"/>
                <a:ea typeface="맑은 고딕"/>
              </a:rPr>
              <a:t>의 조화 평균</a:t>
            </a:r>
            <a:r>
              <a:rPr lang="en-US" altLang="ko-KR" sz="1100" dirty="0">
                <a:solidFill>
                  <a:srgbClr val="404040"/>
                </a:solidFill>
                <a:latin typeface="맑은 고딕"/>
                <a:ea typeface="맑은 고딕"/>
              </a:rPr>
              <a:t>)</a:t>
            </a:r>
            <a:endParaRPr lang="en-US" altLang="ko-KR" sz="1100" b="1" dirty="0">
              <a:solidFill>
                <a:srgbClr val="2F5597"/>
              </a:solidFill>
              <a:latin typeface="맑은 고딕"/>
              <a:ea typeface="맑은 고딕"/>
            </a:endParaRPr>
          </a:p>
        </p:txBody>
      </p:sp>
      <p:sp>
        <p:nvSpPr>
          <p:cNvPr id="11" name="실행 단추: 뒤로 또는 이전 10">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46003472"/>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기능 정확성(Accuracy)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000000"/>
                </a:solidFill>
                <a:latin typeface="맑은 고딕"/>
                <a:ea typeface="맑은 고딕"/>
              </a:rPr>
              <a:t>Baseline(</a:t>
            </a:r>
            <a:r>
              <a:rPr lang="en-US" altLang="ko-KR" sz="1100" b="0" dirty="0">
                <a:solidFill>
                  <a:srgbClr val="000000"/>
                </a:solidFill>
                <a:latin typeface="맑은 고딕"/>
                <a:ea typeface="맑은 고딕"/>
              </a:rPr>
              <a:t>Full recompute, GPU </a:t>
            </a:r>
            <a:r>
              <a:rPr lang="ko-KR" altLang="en-US" sz="1100" b="0" dirty="0">
                <a:solidFill>
                  <a:srgbClr val="000000"/>
                </a:solidFill>
                <a:latin typeface="맑은 고딕"/>
                <a:ea typeface="맑은 고딕"/>
              </a:rPr>
              <a:t>연산</a:t>
            </a:r>
            <a:r>
              <a:rPr lang="en-US" altLang="ko-KR" sz="1100" b="0" dirty="0">
                <a:solidFill>
                  <a:srgbClr val="000000"/>
                </a:solidFill>
                <a:latin typeface="맑은 고딕"/>
                <a:ea typeface="맑은 고딕"/>
              </a:rPr>
              <a:t>) 대비 F1 </a:t>
            </a:r>
            <a:r>
              <a:rPr lang="en-US" altLang="ko-KR" sz="1100" b="0" dirty="0" err="1">
                <a:solidFill>
                  <a:srgbClr val="000000"/>
                </a:solidFill>
                <a:latin typeface="맑은 고딕"/>
                <a:ea typeface="맑은 고딕"/>
              </a:rPr>
              <a:t>상대</a:t>
            </a:r>
            <a:r>
              <a:rPr lang="en-US" altLang="ko-KR" sz="1100" b="0" dirty="0">
                <a:solidFill>
                  <a:srgbClr val="000000"/>
                </a:solidFill>
                <a:latin typeface="맑은 고딕"/>
                <a:ea typeface="맑은 고딕"/>
              </a:rPr>
              <a:t> </a:t>
            </a:r>
            <a:r>
              <a:rPr lang="en-US" altLang="ko-KR" sz="1100" b="0" dirty="0" err="1">
                <a:solidFill>
                  <a:srgbClr val="000000"/>
                </a:solidFill>
                <a:latin typeface="맑은 고딕"/>
                <a:ea typeface="맑은 고딕"/>
              </a:rPr>
              <a:t>하락률</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ubtitle">
            <a:extLst>
              <a:ext uri="{FF2B5EF4-FFF2-40B4-BE49-F238E27FC236}">
                <a16:creationId xmlns:a16="http://schemas.microsoft.com/office/drawing/2014/main" id="{83FC6577-760C-41A6-A45B-D5727304942A}"/>
              </a:ext>
            </a:extLst>
          </p:cNvPr>
          <p:cNvSpPr txBox="1"/>
          <p:nvPr/>
        </p:nvSpPr>
        <p:spPr>
          <a:xfrm>
            <a:off x="365760" y="1100189"/>
            <a:ext cx="11430000" cy="293863"/>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a:solidFill>
                  <a:srgbClr val="2F5597"/>
                </a:solidFill>
                <a:latin typeface="맑은 고딕"/>
                <a:ea typeface="맑은 고딕"/>
              </a:rPr>
              <a:t>[Metric] F1 하락률 = (F1_full − F1_후보) ÷ F1_full  </a:t>
            </a:r>
            <a:r>
              <a:rPr lang="en-US" sz="1100" b="0" dirty="0">
                <a:latin typeface="맑은 고딕"/>
                <a:ea typeface="맑은 고딕"/>
              </a:rPr>
              <a:t>(F1_full: GPU</a:t>
            </a:r>
            <a:r>
              <a:rPr lang="ko-KR" altLang="en-US" sz="1100" b="0" dirty="0">
                <a:latin typeface="맑은 고딕"/>
                <a:ea typeface="맑은 고딕"/>
              </a:rPr>
              <a:t>에서 </a:t>
            </a:r>
            <a:r>
              <a:rPr lang="en-US" sz="1100" b="0" dirty="0" err="1">
                <a:latin typeface="맑은 고딕"/>
                <a:ea typeface="맑은 고딕"/>
              </a:rPr>
              <a:t>같은</a:t>
            </a:r>
            <a:r>
              <a:rPr lang="en-US" sz="1100" b="0" dirty="0">
                <a:latin typeface="맑은 고딕"/>
                <a:ea typeface="맑은 고딕"/>
              </a:rPr>
              <a:t> </a:t>
            </a:r>
            <a:r>
              <a:rPr lang="en-US" sz="1100" b="0" dirty="0" err="1">
                <a:latin typeface="맑은 고딕"/>
                <a:ea typeface="맑은 고딕"/>
              </a:rPr>
              <a:t>모델</a:t>
            </a:r>
            <a:r>
              <a:rPr lang="en-US" sz="1100" b="0" dirty="0">
                <a:latin typeface="맑은 고딕"/>
                <a:ea typeface="맑은 고딕"/>
              </a:rPr>
              <a:t>, task, </a:t>
            </a:r>
            <a:r>
              <a:rPr lang="en-US" sz="1100" b="0" dirty="0" err="1">
                <a:latin typeface="맑은 고딕"/>
                <a:ea typeface="맑은 고딕"/>
              </a:rPr>
              <a:t>precision에서</a:t>
            </a:r>
            <a:r>
              <a:rPr lang="en-US" sz="1100" b="0" dirty="0">
                <a:latin typeface="맑은 고딕"/>
                <a:ea typeface="맑은 고딕"/>
              </a:rPr>
              <a:t> full recompute 의 F1)</a:t>
            </a:r>
            <a:endParaRPr lang="en-US" altLang="ko-KR" sz="800" b="0" dirty="0">
              <a:latin typeface="맑은 고딕"/>
              <a:ea typeface="맑은 고딕"/>
            </a:endParaRPr>
          </a:p>
        </p:txBody>
      </p:sp>
      <p:sp>
        <p:nvSpPr>
          <p:cNvPr id="73" name="src">
            <a:extLst>
              <a:ext uri="{FF2B5EF4-FFF2-40B4-BE49-F238E27FC236}">
                <a16:creationId xmlns:a16="http://schemas.microsoft.com/office/drawing/2014/main" id="{CF8094EC-0377-4489-9D6C-BCCDBEE3074C}"/>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 MLPerf Inference Rules (MLCommons) · KVServe 2605.13734 · EVICPRESS 2512.14946 · FastKV 2502.01068 · CacheGen 2310.07240 · CacheBlend 2405.16444 · KVzip 2505.23416 · Give Me BF16 2411.02355 (ACL 2025)</a:t>
            </a:r>
          </a:p>
        </p:txBody>
      </p:sp>
      <p:graphicFrame>
        <p:nvGraphicFramePr>
          <p:cNvPr id="74" name="tbl">
            <a:extLst>
              <a:ext uri="{FF2B5EF4-FFF2-40B4-BE49-F238E27FC236}">
                <a16:creationId xmlns:a16="http://schemas.microsoft.com/office/drawing/2014/main" id="{7DAC45F9-9975-4210-AC0D-AE6040F54DE4}"/>
              </a:ext>
            </a:extLst>
          </p:cNvPr>
          <p:cNvGraphicFramePr>
            <a:graphicFrameLocks noGrp="1"/>
          </p:cNvGraphicFramePr>
          <p:nvPr>
            <p:extLst>
              <p:ext uri="{D42A27DB-BD31-4B8C-83A1-F6EECF244321}">
                <p14:modId xmlns:p14="http://schemas.microsoft.com/office/powerpoint/2010/main" val="4024351221"/>
              </p:ext>
            </p:extLst>
          </p:nvPr>
        </p:nvGraphicFramePr>
        <p:xfrm>
          <a:off x="365760" y="1610576"/>
          <a:ext cx="11457432" cy="2209577"/>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65492">
                <a:tc>
                  <a:txBody>
                    <a:bodyPr/>
                    <a:lstStyle/>
                    <a:p>
                      <a:pPr algn="ctr">
                        <a:lnSpc>
                          <a:spcPct val="125000"/>
                        </a:lnSpc>
                      </a:pPr>
                      <a:r>
                        <a:rPr sz="900" b="1" dirty="0">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900" b="1" dirty="0" err="1">
                          <a:solidFill>
                            <a:srgbClr val="FFFFFF"/>
                          </a:solidFill>
                          <a:latin typeface="맑은 고딕"/>
                          <a:ea typeface="맑은 고딕"/>
                        </a:rPr>
                        <a:t>기준</a:t>
                      </a:r>
                      <a:r>
                        <a:rPr sz="900" b="1" dirty="0">
                          <a:solidFill>
                            <a:srgbClr val="FFFFFF"/>
                          </a:solidFill>
                          <a:latin typeface="맑은 고딕"/>
                          <a:ea typeface="맑은 고딕"/>
                        </a:rPr>
                        <a:t> (</a:t>
                      </a:r>
                      <a:r>
                        <a:rPr sz="900" b="1" dirty="0" err="1">
                          <a:solidFill>
                            <a:srgbClr val="FFFFFF"/>
                          </a:solidFill>
                          <a:latin typeface="맑은 고딕"/>
                          <a:ea typeface="맑은 고딕"/>
                        </a:rPr>
                        <a:t>정량</a:t>
                      </a:r>
                      <a:r>
                        <a:rPr sz="9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solidFill>
                      <a:srgbClr val="2F5597"/>
                    </a:solidFill>
                  </a:tcPr>
                </a:tc>
                <a:tc>
                  <a:txBody>
                    <a:bodyPr/>
                    <a:lstStyle/>
                    <a:p>
                      <a:pPr algn="ctr">
                        <a:lnSpc>
                          <a:spcPct val="125000"/>
                        </a:lnSpc>
                      </a:pPr>
                      <a:r>
                        <a:rPr sz="900" b="1" dirty="0" err="1">
                          <a:solidFill>
                            <a:srgbClr val="FFFFFF"/>
                          </a:solidFill>
                          <a:latin typeface="맑은 고딕"/>
                          <a:ea typeface="맑은 고딕"/>
                        </a:rPr>
                        <a:t>근거</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9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589138">
                <a:tc>
                  <a:txBody>
                    <a:bodyPr/>
                    <a:lstStyle/>
                    <a:p>
                      <a:pPr algn="ctr">
                        <a:lnSpc>
                          <a:spcPct val="125000"/>
                        </a:lnSpc>
                      </a:pPr>
                      <a:r>
                        <a:rPr sz="900" b="1">
                          <a:solidFill>
                            <a:srgbClr val="000000"/>
                          </a:solidFill>
                          <a:latin typeface="맑은 고딕"/>
                          <a:ea typeface="맑은 고딕"/>
                        </a:rPr>
                        <a:t>★ 3</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2EFDA"/>
                    </a:solidFill>
                  </a:tcPr>
                </a:tc>
                <a:tc>
                  <a:txBody>
                    <a:bodyPr/>
                    <a:lstStyle/>
                    <a:p>
                      <a:pPr algn="l"/>
                      <a:r>
                        <a:rPr sz="900" b="1" dirty="0">
                          <a:solidFill>
                            <a:srgbClr val="000000"/>
                          </a:solidFill>
                          <a:latin typeface="맑은 고딕"/>
                          <a:ea typeface="맑은 고딕"/>
                        </a:rPr>
                        <a:t>하락 ≤ 1%  (목표)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lang="ko-KR" altLang="en-US" sz="900" b="1" dirty="0">
                          <a:solidFill>
                            <a:srgbClr val="000000"/>
                          </a:solidFill>
                          <a:latin typeface="+mn-lt"/>
                          <a:ea typeface="맑은 고딕"/>
                        </a:rPr>
                        <a:t>목표(최대): 정확도를 reference의 99% 이상으로 묶고 그 조건에서만 성능을 인정하는 업계 표준과 같은 수준</a:t>
                      </a:r>
                      <a:endParaRPr lang="en-US" sz="900" b="1"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MLPerf</a:t>
                      </a:r>
                      <a:r>
                        <a:rPr sz="900" b="0" dirty="0">
                          <a:solidFill>
                            <a:srgbClr val="000000"/>
                          </a:solidFill>
                          <a:latin typeface="맑은 고딕"/>
                          <a:ea typeface="맑은 고딕"/>
                        </a:rPr>
                        <a:t> Inference LLM 행 99%(Llama3.1-405B </a:t>
                      </a:r>
                      <a:r>
                        <a:rPr sz="900" b="0" dirty="0" err="1">
                          <a:solidFill>
                            <a:srgbClr val="000000"/>
                          </a:solidFill>
                          <a:latin typeface="맑은 고딕"/>
                          <a:ea typeface="맑은 고딕"/>
                        </a:rPr>
                        <a:t>장문맥</a:t>
                      </a:r>
                      <a:r>
                        <a:rPr sz="900" b="0" dirty="0">
                          <a:solidFill>
                            <a:srgbClr val="000000"/>
                          </a:solidFill>
                          <a:latin typeface="맑은 고딕"/>
                          <a:ea typeface="맑은 고딕"/>
                        </a:rPr>
                        <a:t> </a:t>
                      </a:r>
                      <a:r>
                        <a:rPr sz="900" b="0" dirty="0" err="1">
                          <a:solidFill>
                            <a:srgbClr val="000000"/>
                          </a:solidFill>
                          <a:latin typeface="맑은 고딕"/>
                          <a:ea typeface="맑은 고딕"/>
                        </a:rPr>
                        <a:t>포함</a:t>
                      </a:r>
                      <a:r>
                        <a:rPr sz="900" b="0" dirty="0">
                          <a:solidFill>
                            <a:srgbClr val="000000"/>
                          </a:solidFill>
                          <a:latin typeface="맑은 고딕"/>
                          <a:ea typeface="맑은 고딕"/>
                        </a:rPr>
                        <a:t>)</a:t>
                      </a:r>
                      <a:r>
                        <a:rPr lang="en-US" sz="900" b="0" dirty="0">
                          <a:solidFill>
                            <a:srgbClr val="000000"/>
                          </a:solidFill>
                          <a:latin typeface="맑은 고딕"/>
                          <a:ea typeface="맑은 고딕"/>
                        </a:rPr>
                        <a:t>, </a:t>
                      </a:r>
                      <a:r>
                        <a:rPr sz="900" b="0" dirty="0" err="1">
                          <a:solidFill>
                            <a:srgbClr val="000000"/>
                          </a:solidFill>
                          <a:latin typeface="맑은 고딕"/>
                          <a:ea typeface="맑은 고딕"/>
                        </a:rPr>
                        <a:t>양자화</a:t>
                      </a:r>
                      <a:r>
                        <a:rPr sz="900" b="0" dirty="0">
                          <a:solidFill>
                            <a:srgbClr val="000000"/>
                          </a:solidFill>
                          <a:latin typeface="맑은 고딕"/>
                          <a:ea typeface="맑은 고딕"/>
                        </a:rPr>
                        <a:t> 8-bit </a:t>
                      </a:r>
                      <a:r>
                        <a:rPr sz="900" b="0" dirty="0" err="1">
                          <a:solidFill>
                            <a:srgbClr val="000000"/>
                          </a:solidFill>
                          <a:latin typeface="맑은 고딕"/>
                          <a:ea typeface="맑은 고딕"/>
                        </a:rPr>
                        <a:t>평균</a:t>
                      </a:r>
                      <a:r>
                        <a:rPr sz="900" b="0" dirty="0">
                          <a:solidFill>
                            <a:srgbClr val="000000"/>
                          </a:solidFill>
                          <a:latin typeface="맑은 고딕"/>
                          <a:ea typeface="맑은 고딕"/>
                        </a:rPr>
                        <a:t> recovery 99.75</a:t>
                      </a:r>
                      <a:r>
                        <a:rPr lang="en-US" altLang="ko-KR" sz="900" b="0" dirty="0">
                          <a:solidFill>
                            <a:srgbClr val="000000"/>
                          </a:solidFill>
                          <a:latin typeface="맑은 고딕"/>
                          <a:ea typeface="맑은 고딕"/>
                        </a:rPr>
                        <a:t>%,</a:t>
                      </a:r>
                      <a:r>
                        <a:rPr lang="ko-KR" altLang="en-US" sz="900" b="0" dirty="0">
                          <a:solidFill>
                            <a:srgbClr val="000000"/>
                          </a:solidFill>
                          <a:latin typeface="맑은 고딕"/>
                          <a:ea typeface="맑은 고딕"/>
                        </a:rPr>
                        <a:t> </a:t>
                      </a:r>
                      <a:endParaRPr lang="en-US" altLang="ko-KR" sz="900" b="0" dirty="0">
                        <a:solidFill>
                          <a:srgbClr val="000000"/>
                        </a:solidFill>
                        <a:latin typeface="맑은 고딕"/>
                        <a:ea typeface="맑은 고딕"/>
                      </a:endParaRPr>
                    </a:p>
                    <a:p>
                      <a:pPr algn="l">
                        <a:lnSpc>
                          <a:spcPct val="125000"/>
                        </a:lnSpc>
                      </a:pPr>
                      <a:r>
                        <a:rPr sz="900" b="0" dirty="0" err="1">
                          <a:solidFill>
                            <a:srgbClr val="000000"/>
                          </a:solidFill>
                          <a:latin typeface="맑은 고딕"/>
                          <a:ea typeface="맑은 고딕"/>
                        </a:rPr>
                        <a:t>FastKV</a:t>
                      </a:r>
                      <a:r>
                        <a:rPr sz="900" b="0" dirty="0">
                          <a:solidFill>
                            <a:srgbClr val="000000"/>
                          </a:solidFill>
                          <a:latin typeface="맑은 고딕"/>
                          <a:ea typeface="맑은 고딕"/>
                        </a:rPr>
                        <a:t> </a:t>
                      </a:r>
                      <a:r>
                        <a:rPr sz="900" b="0" dirty="0" err="1">
                          <a:solidFill>
                            <a:srgbClr val="000000"/>
                          </a:solidFill>
                          <a:latin typeface="맑은 고딕"/>
                          <a:ea typeface="맑은 고딕"/>
                        </a:rPr>
                        <a:t>평균</a:t>
                      </a:r>
                      <a:r>
                        <a:rPr sz="900" b="0" dirty="0">
                          <a:solidFill>
                            <a:srgbClr val="000000"/>
                          </a:solidFill>
                          <a:latin typeface="맑은 고딕"/>
                          <a:ea typeface="맑은 고딕"/>
                        </a:rPr>
                        <a:t> 1% </a:t>
                      </a:r>
                      <a:r>
                        <a:rPr sz="900" b="0" dirty="0" err="1">
                          <a:solidFill>
                            <a:srgbClr val="000000"/>
                          </a:solidFill>
                          <a:latin typeface="맑은 고딕"/>
                          <a:ea typeface="맑은 고딕"/>
                        </a:rPr>
                        <a:t>이내에서</a:t>
                      </a:r>
                      <a:r>
                        <a:rPr sz="900" b="0" dirty="0">
                          <a:solidFill>
                            <a:srgbClr val="000000"/>
                          </a:solidFill>
                          <a:latin typeface="맑은 고딕"/>
                          <a:ea typeface="맑은 고딕"/>
                        </a:rPr>
                        <a:t> </a:t>
                      </a:r>
                      <a:r>
                        <a:rPr sz="900" b="0" dirty="0" err="1">
                          <a:solidFill>
                            <a:srgbClr val="000000"/>
                          </a:solidFill>
                          <a:latin typeface="맑은 고딕"/>
                          <a:ea typeface="맑은 고딕"/>
                        </a:rPr>
                        <a:t>처리량</a:t>
                      </a:r>
                      <a:r>
                        <a:rPr sz="900" b="0" dirty="0">
                          <a:solidFill>
                            <a:srgbClr val="000000"/>
                          </a:solidFill>
                          <a:latin typeface="맑은 고딕"/>
                          <a:ea typeface="맑은 고딕"/>
                        </a:rPr>
                        <a:t> </a:t>
                      </a:r>
                      <a:r>
                        <a:rPr sz="900" b="0" dirty="0" err="1">
                          <a:solidFill>
                            <a:srgbClr val="000000"/>
                          </a:solidFill>
                          <a:latin typeface="맑은 고딕"/>
                          <a:ea typeface="맑은 고딕"/>
                        </a:rPr>
                        <a:t>최대</a:t>
                      </a:r>
                      <a:r>
                        <a:rPr sz="900" b="0" dirty="0">
                          <a:solidFill>
                            <a:srgbClr val="000000"/>
                          </a:solidFill>
                          <a:latin typeface="맑은 고딕"/>
                          <a:ea typeface="맑은 고딕"/>
                        </a:rPr>
                        <a:t> 4.82×(up to)</a:t>
                      </a:r>
                      <a:endParaRPr lang="en-US"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2EFDA"/>
                    </a:solidFill>
                  </a:tcPr>
                </a:tc>
                <a:tc>
                  <a:txBody>
                    <a:bodyPr/>
                    <a:lstStyle/>
                    <a:p>
                      <a:pPr marL="171450" indent="-171450" algn="l">
                        <a:lnSpc>
                          <a:spcPct val="125000"/>
                        </a:lnSpc>
                        <a:buFontTx/>
                        <a:buChar char="-"/>
                      </a:pPr>
                      <a:r>
                        <a:rPr sz="900" b="0" dirty="0" err="1">
                          <a:solidFill>
                            <a:srgbClr val="000000"/>
                          </a:solidFill>
                          <a:latin typeface="맑은 고딕"/>
                          <a:ea typeface="맑은 고딕"/>
                        </a:rPr>
                        <a:t>MLPerf</a:t>
                      </a:r>
                      <a:r>
                        <a:rPr sz="900" b="0" dirty="0">
                          <a:solidFill>
                            <a:srgbClr val="000000"/>
                          </a:solidFill>
                          <a:latin typeface="맑은 고딕"/>
                          <a:ea typeface="맑은 고딕"/>
                        </a:rPr>
                        <a:t> Inference </a:t>
                      </a:r>
                      <a:r>
                        <a:rPr lang="ko-KR" altLang="en-US" sz="900" b="0" dirty="0">
                          <a:solidFill>
                            <a:srgbClr val="000000"/>
                          </a:solidFill>
                          <a:latin typeface="맑은 고딕"/>
                          <a:ea typeface="맑은 고딕"/>
                        </a:rPr>
                        <a:t>벤치마크 기준</a:t>
                      </a:r>
                      <a:r>
                        <a:rPr lang="en-US" altLang="ko-KR" sz="900" b="0" dirty="0">
                          <a:solidFill>
                            <a:srgbClr val="000000"/>
                          </a:solidFill>
                          <a:latin typeface="맑은 고딕"/>
                          <a:ea typeface="맑은 고딕"/>
                        </a:rPr>
                        <a:t>, </a:t>
                      </a:r>
                    </a:p>
                    <a:p>
                      <a:pPr marL="171450" indent="-171450" algn="l">
                        <a:lnSpc>
                          <a:spcPct val="125000"/>
                        </a:lnSpc>
                        <a:buFontTx/>
                        <a:buChar char="-"/>
                      </a:pPr>
                      <a:r>
                        <a:rPr lang="ko-KR" altLang="en-US" sz="900" b="0" dirty="0">
                          <a:solidFill>
                            <a:srgbClr val="000000"/>
                          </a:solidFill>
                          <a:latin typeface="맑은 고딕"/>
                          <a:ea typeface="맑은 고딕"/>
                        </a:rPr>
                        <a:t>문헌 </a:t>
                      </a:r>
                      <a:r>
                        <a:rPr lang="en-US" altLang="ko-KR" sz="900" b="0" dirty="0">
                          <a:solidFill>
                            <a:srgbClr val="000000"/>
                          </a:solidFill>
                          <a:latin typeface="맑은 고딕"/>
                          <a:ea typeface="맑은 고딕"/>
                        </a:rPr>
                        <a:t>(</a:t>
                      </a:r>
                      <a:r>
                        <a:rPr sz="900" b="0" dirty="0">
                          <a:solidFill>
                            <a:srgbClr val="000000"/>
                          </a:solidFill>
                          <a:latin typeface="맑은 고딕"/>
                          <a:ea typeface="맑은 고딕"/>
                        </a:rPr>
                        <a:t>Give Me BF16</a:t>
                      </a:r>
                      <a:r>
                        <a:rPr lang="en-US" sz="900" b="0" dirty="0">
                          <a:solidFill>
                            <a:srgbClr val="000000"/>
                          </a:solidFill>
                          <a:latin typeface="맑은 고딕"/>
                          <a:ea typeface="맑은 고딕"/>
                        </a:rPr>
                        <a:t>, </a:t>
                      </a:r>
                      <a:r>
                        <a:rPr sz="900" b="0" dirty="0" err="1">
                          <a:solidFill>
                            <a:srgbClr val="000000"/>
                          </a:solidFill>
                          <a:latin typeface="맑은 고딕"/>
                          <a:ea typeface="맑은 고딕"/>
                        </a:rPr>
                        <a:t>FastKV</a:t>
                      </a:r>
                      <a:r>
                        <a:rPr lang="en-US"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62932">
                <a:tc>
                  <a:txBody>
                    <a:bodyPr/>
                    <a:lstStyle/>
                    <a:p>
                      <a:pPr algn="ctr">
                        <a:lnSpc>
                          <a:spcPct val="125000"/>
                        </a:lnSpc>
                      </a:pPr>
                      <a:r>
                        <a:rPr sz="900" b="1">
                          <a:solidFill>
                            <a:srgbClr val="000000"/>
                          </a:solidFill>
                          <a:latin typeface="맑은 고딕"/>
                          <a:ea typeface="맑은 고딕"/>
                        </a:rPr>
                        <a:t>★ 2</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FF2CC"/>
                    </a:solidFill>
                  </a:tcPr>
                </a:tc>
                <a:tc>
                  <a:txBody>
                    <a:bodyPr/>
                    <a:lstStyle/>
                    <a:p>
                      <a:pPr algn="l"/>
                      <a:r>
                        <a:rPr sz="900" b="1" dirty="0">
                          <a:solidFill>
                            <a:schemeClr val="tx1"/>
                          </a:solidFill>
                          <a:latin typeface="맑은 고딕"/>
                          <a:ea typeface="맑은 고딕"/>
                        </a:rPr>
                        <a:t>1% &lt; 하락 ≤ 1.7%</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900" b="1" dirty="0">
                          <a:solidFill>
                            <a:srgbClr val="000000"/>
                          </a:solidFill>
                          <a:latin typeface="맑은 고딕"/>
                          <a:ea typeface="맑은 고딕"/>
                        </a:rPr>
                        <a:t>★1과 ★3의 기하 중점(√(1×3)=1.7%). 문헌 근거 없음(구간 분할용).</a:t>
                      </a:r>
                      <a:endParaRPr lang="en-US" sz="9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sz="900" b="0" dirty="0" err="1">
                          <a:solidFill>
                            <a:srgbClr val="000000"/>
                          </a:solidFill>
                          <a:latin typeface="맑은 고딕"/>
                          <a:ea typeface="맑은 고딕"/>
                        </a:rPr>
                        <a:t>—</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556496">
                <a:tc>
                  <a:txBody>
                    <a:bodyPr/>
                    <a:lstStyle/>
                    <a:p>
                      <a:pPr algn="ctr">
                        <a:lnSpc>
                          <a:spcPct val="125000"/>
                        </a:lnSpc>
                      </a:pPr>
                      <a:r>
                        <a:rPr sz="900" b="1">
                          <a:solidFill>
                            <a:srgbClr val="000000"/>
                          </a:solidFill>
                          <a:latin typeface="맑은 고딕"/>
                          <a:ea typeface="맑은 고딕"/>
                        </a:rPr>
                        <a:t>★ 1</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BE0D6"/>
                    </a:solidFill>
                  </a:tcPr>
                </a:tc>
                <a:tc>
                  <a:txBody>
                    <a:bodyPr/>
                    <a:lstStyle/>
                    <a:p>
                      <a:pPr algn="l"/>
                      <a:r>
                        <a:rPr sz="900" b="1" dirty="0">
                          <a:solidFill>
                            <a:srgbClr val="000000"/>
                          </a:solidFill>
                          <a:latin typeface="맑은 고딕"/>
                          <a:ea typeface="맑은 고딕"/>
                        </a:rPr>
                        <a:t>1.7% &lt; 하락 ≤ 3%  (최소)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1" dirty="0">
                          <a:solidFill>
                            <a:srgbClr val="000000"/>
                          </a:solidFill>
                          <a:latin typeface="맑은 고딕"/>
                          <a:ea typeface="맑은 고딕"/>
                        </a:rPr>
                        <a:t>최소(허용): 지표 잡음이 큰 과제의 업계 기준 97%와 KV 서빙 논문들의 설계 제약 값</a:t>
                      </a:r>
                      <a:endParaRPr lang="en-US" sz="900" b="1" dirty="0">
                        <a:solidFill>
                          <a:srgbClr val="000000"/>
                        </a:solidFill>
                        <a:latin typeface="맑은 고딕"/>
                        <a:ea typeface="맑은 고딕"/>
                      </a:endParaRPr>
                    </a:p>
                    <a:p>
                      <a:pPr algn="l">
                        <a:lnSpc>
                          <a:spcPct val="125000"/>
                        </a:lnSpc>
                      </a:pPr>
                      <a:r>
                        <a:rPr lang="ko-KR" altLang="en-US" sz="900" b="0" dirty="0">
                          <a:solidFill>
                            <a:srgbClr val="000000"/>
                          </a:solidFill>
                          <a:latin typeface="맑은 고딕"/>
                          <a:ea typeface="맑은 고딕"/>
                        </a:rPr>
                        <a:t>MLPerf RAG(LLM judge ±3%)·agent function-calling 97% · KVServe 97% 상대 정확도 제약 · EVICPRESS 3% 품질 하락 허용</a:t>
                      </a:r>
                      <a:endParaRPr sz="90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BE0D6"/>
                    </a:solidFill>
                  </a:tcPr>
                </a:tc>
                <a:tc>
                  <a:txBody>
                    <a:bodyPr/>
                    <a:lstStyle/>
                    <a:p>
                      <a:pPr marL="171450" indent="-171450" algn="l">
                        <a:lnSpc>
                          <a:spcPct val="125000"/>
                        </a:lnSpc>
                        <a:buFontTx/>
                        <a:buChar char="-"/>
                      </a:pPr>
                      <a:r>
                        <a:rPr sz="900" b="0" dirty="0" err="1">
                          <a:solidFill>
                            <a:srgbClr val="000000"/>
                          </a:solidFill>
                          <a:latin typeface="맑은 고딕"/>
                          <a:ea typeface="맑은 고딕"/>
                        </a:rPr>
                        <a:t>MLPerf</a:t>
                      </a:r>
                      <a:r>
                        <a:rPr sz="900" b="0" dirty="0">
                          <a:solidFill>
                            <a:srgbClr val="000000"/>
                          </a:solidFill>
                          <a:latin typeface="맑은 고딕"/>
                          <a:ea typeface="맑은 고딕"/>
                        </a:rPr>
                        <a:t> Inference </a:t>
                      </a:r>
                      <a:r>
                        <a:rPr lang="ko-KR" altLang="en-US" sz="900" b="0" dirty="0">
                          <a:solidFill>
                            <a:srgbClr val="000000"/>
                          </a:solidFill>
                          <a:latin typeface="맑은 고딕"/>
                          <a:ea typeface="맑은 고딕"/>
                        </a:rPr>
                        <a:t>벤치마크 기준</a:t>
                      </a:r>
                      <a:r>
                        <a:rPr lang="en-US" altLang="ko-KR" sz="900" b="0" dirty="0">
                          <a:solidFill>
                            <a:srgbClr val="000000"/>
                          </a:solidFill>
                          <a:latin typeface="맑은 고딕"/>
                          <a:ea typeface="맑은 고딕"/>
                        </a:rPr>
                        <a:t>, </a:t>
                      </a:r>
                    </a:p>
                    <a:p>
                      <a:pPr marL="171450" indent="-171450" algn="l">
                        <a:lnSpc>
                          <a:spcPct val="125000"/>
                        </a:lnSpc>
                        <a:buFontTx/>
                        <a:buChar char="-"/>
                      </a:pPr>
                      <a:r>
                        <a:rPr lang="ko-KR" altLang="en-US" sz="900" b="0" dirty="0">
                          <a:solidFill>
                            <a:srgbClr val="000000"/>
                          </a:solidFill>
                          <a:latin typeface="맑은 고딕"/>
                          <a:ea typeface="맑은 고딕"/>
                        </a:rPr>
                        <a:t>문헌 </a:t>
                      </a:r>
                      <a:r>
                        <a:rPr lang="en-US" altLang="ko-KR" sz="900" b="0" dirty="0">
                          <a:solidFill>
                            <a:srgbClr val="000000"/>
                          </a:solidFill>
                          <a:latin typeface="맑은 고딕"/>
                          <a:ea typeface="맑은 고딕"/>
                        </a:rPr>
                        <a:t>(</a:t>
                      </a:r>
                      <a:r>
                        <a:rPr sz="900" b="0" dirty="0" err="1">
                          <a:solidFill>
                            <a:srgbClr val="000000"/>
                          </a:solidFill>
                          <a:latin typeface="맑은 고딕"/>
                          <a:ea typeface="맑은 고딕"/>
                        </a:rPr>
                        <a:t>KVServe</a:t>
                      </a:r>
                      <a:r>
                        <a:rPr lang="en-US" sz="900" b="0" dirty="0">
                          <a:solidFill>
                            <a:srgbClr val="000000"/>
                          </a:solidFill>
                          <a:latin typeface="맑은 고딕"/>
                          <a:ea typeface="맑은 고딕"/>
                        </a:rPr>
                        <a:t>, </a:t>
                      </a:r>
                      <a:r>
                        <a:rPr sz="900" b="0" dirty="0">
                          <a:solidFill>
                            <a:srgbClr val="000000"/>
                          </a:solidFill>
                          <a:latin typeface="맑은 고딕"/>
                          <a:ea typeface="맑은 고딕"/>
                        </a:rPr>
                        <a:t>EVICPRES</a:t>
                      </a:r>
                      <a:r>
                        <a:rPr lang="en-US" sz="900" b="0" dirty="0">
                          <a:solidFill>
                            <a:srgbClr val="000000"/>
                          </a:solidFill>
                          <a:latin typeface="맑은 고딕"/>
                          <a:ea typeface="맑은 고딕"/>
                        </a:rPr>
                        <a:t>S)</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435519">
                <a:tc>
                  <a:txBody>
                    <a:bodyPr/>
                    <a:lstStyle/>
                    <a:p>
                      <a:pPr algn="ctr"/>
                      <a:r>
                        <a:rPr sz="900" b="1">
                          <a:solidFill>
                            <a:srgbClr val="000000"/>
                          </a:solidFill>
                          <a:latin typeface="맑은 고딕"/>
                          <a:ea typeface="맑은 고딕"/>
                        </a:rPr>
                        <a:t>미충족</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DEDED"/>
                    </a:solidFill>
                  </a:tcPr>
                </a:tc>
                <a:tc>
                  <a:txBody>
                    <a:bodyPr/>
                    <a:lstStyle/>
                    <a:p>
                      <a:pPr algn="l"/>
                      <a:r>
                        <a:rPr sz="900" b="0" dirty="0">
                          <a:solidFill>
                            <a:srgbClr val="000000"/>
                          </a:solidFill>
                          <a:latin typeface="맑은 고딕"/>
                          <a:ea typeface="맑은 고딕"/>
                        </a:rPr>
                        <a:t>하락 &gt; </a:t>
                      </a:r>
                      <a:r>
                        <a:rPr sz="900" b="0" dirty="0" smtClean="0">
                          <a:solidFill>
                            <a:srgbClr val="000000"/>
                          </a:solidFill>
                          <a:latin typeface="맑은 고딕"/>
                          <a:ea typeface="맑은 고딕"/>
                        </a:rPr>
                        <a:t>3%</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900" b="0" dirty="0">
                          <a:solidFill>
                            <a:srgbClr val="000000"/>
                          </a:solidFill>
                          <a:latin typeface="맑은 고딕"/>
                          <a:ea typeface="맑은 고딕"/>
                        </a:rPr>
                        <a:t>허용 한도로 정의한 문헌·표준을 찾지 못함. 관측값: KIVI task 최악 5.3%, DuoAttention Multi-News 13.9% (task 하나의 큰 손실이 평균에 가려짐)</a:t>
                      </a: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900" b="0" dirty="0">
                          <a:solidFill>
                            <a:srgbClr val="000000"/>
                          </a:solidFill>
                          <a:latin typeface="맑은 고딕"/>
                          <a:ea typeface="맑은 고딕"/>
                        </a:rPr>
                        <a:t>KVServe Table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5" name="TextBox 74">
            <a:extLst>
              <a:ext uri="{FF2B5EF4-FFF2-40B4-BE49-F238E27FC236}">
                <a16:creationId xmlns:a16="http://schemas.microsoft.com/office/drawing/2014/main" id="{6458D367-E7E3-4015-B7C9-744AAAFDB247}"/>
              </a:ext>
            </a:extLst>
          </p:cNvPr>
          <p:cNvSpPr txBox="1"/>
          <p:nvPr/>
        </p:nvSpPr>
        <p:spPr>
          <a:xfrm>
            <a:off x="365760" y="4139840"/>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구간</a:t>
            </a:r>
            <a:r>
              <a:rPr sz="950" b="1" dirty="0">
                <a:solidFill>
                  <a:srgbClr val="2F5597"/>
                </a:solidFill>
                <a:latin typeface="맑은 고딕"/>
                <a:ea typeface="맑은 고딕"/>
              </a:rPr>
              <a:t> </a:t>
            </a:r>
            <a:r>
              <a:rPr sz="950" b="1" dirty="0" err="1">
                <a:solidFill>
                  <a:srgbClr val="2F5597"/>
                </a:solidFill>
                <a:latin typeface="맑은 고딕"/>
                <a:ea typeface="맑은 고딕"/>
              </a:rPr>
              <a:t>대비</a:t>
            </a:r>
            <a:r>
              <a:rPr sz="950" b="1" dirty="0">
                <a:solidFill>
                  <a:srgbClr val="2F5597"/>
                </a:solidFill>
                <a:latin typeface="맑은 고딕"/>
                <a:ea typeface="맑은 고딕"/>
              </a:rPr>
              <a:t> </a:t>
            </a:r>
            <a:r>
              <a:rPr sz="950" b="1" dirty="0" err="1">
                <a:solidFill>
                  <a:srgbClr val="2F5597"/>
                </a:solidFill>
                <a:latin typeface="맑은 고딕"/>
                <a:ea typeface="맑은 고딕"/>
              </a:rPr>
              <a:t>근거</a:t>
            </a:r>
            <a:r>
              <a:rPr sz="950" b="1" dirty="0">
                <a:solidFill>
                  <a:srgbClr val="2F5597"/>
                </a:solidFill>
                <a:latin typeface="맑은 고딕"/>
                <a:ea typeface="맑은 고딕"/>
              </a:rPr>
              <a:t> </a:t>
            </a:r>
            <a:r>
              <a:rPr sz="950" b="1" dirty="0" err="1">
                <a:solidFill>
                  <a:srgbClr val="2F5597"/>
                </a:solidFill>
                <a:latin typeface="맑은 고딕"/>
                <a:ea typeface="맑은 고딕"/>
              </a:rPr>
              <a:t>위치</a:t>
            </a:r>
            <a:r>
              <a:rPr sz="950" b="1" dirty="0">
                <a:solidFill>
                  <a:srgbClr val="2F5597"/>
                </a:solidFill>
                <a:latin typeface="맑은 고딕"/>
                <a:ea typeface="맑은 고딕"/>
              </a:rPr>
              <a:t> (F1 </a:t>
            </a:r>
            <a:r>
              <a:rPr sz="950" b="1" dirty="0" err="1">
                <a:solidFill>
                  <a:srgbClr val="2F5597"/>
                </a:solidFill>
                <a:latin typeface="맑은 고딕"/>
                <a:ea typeface="맑은 고딕"/>
              </a:rPr>
              <a:t>상대</a:t>
            </a:r>
            <a:r>
              <a:rPr sz="950" b="1" dirty="0">
                <a:solidFill>
                  <a:srgbClr val="2F5597"/>
                </a:solidFill>
                <a:latin typeface="맑은 고딕"/>
                <a:ea typeface="맑은 고딕"/>
              </a:rPr>
              <a:t> </a:t>
            </a:r>
            <a:r>
              <a:rPr sz="950" b="1" dirty="0" err="1">
                <a:solidFill>
                  <a:srgbClr val="2F5597"/>
                </a:solidFill>
                <a:latin typeface="맑은 고딕"/>
                <a:ea typeface="맑은 고딕"/>
              </a:rPr>
              <a:t>하락</a:t>
            </a:r>
            <a:r>
              <a:rPr sz="950" b="1" dirty="0">
                <a:solidFill>
                  <a:srgbClr val="2F5597"/>
                </a:solidFill>
                <a:latin typeface="맑은 고딕"/>
                <a:ea typeface="맑은 고딕"/>
              </a:rPr>
              <a:t> %</a:t>
            </a:r>
            <a:r>
              <a:rPr lang="en-US" altLang="ko-KR" sz="950" b="1" dirty="0">
                <a:solidFill>
                  <a:srgbClr val="2F5597"/>
                </a:solidFill>
                <a:latin typeface="맑은 고딕"/>
                <a:ea typeface="맑은 고딕"/>
              </a:rPr>
              <a:t>)</a:t>
            </a:r>
            <a:endParaRPr lang="ko-KR" altLang="en-US" sz="950" b="1" dirty="0">
              <a:solidFill>
                <a:srgbClr val="2F5597"/>
              </a:solidFill>
              <a:latin typeface="맑은 고딕"/>
              <a:ea typeface="맑은 고딕"/>
            </a:endParaRPr>
          </a:p>
        </p:txBody>
      </p:sp>
      <p:sp>
        <p:nvSpPr>
          <p:cNvPr id="900" name="qa5-900"/>
          <p:cNvSpPr/>
          <p:nvPr/>
        </p:nvSpPr>
        <p:spPr>
          <a:xfrm>
            <a:off x="411480" y="4393368"/>
            <a:ext cx="1619794"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1" name="qa5-901"/>
          <p:cNvSpPr txBox="1"/>
          <p:nvPr/>
        </p:nvSpPr>
        <p:spPr>
          <a:xfrm>
            <a:off x="411480" y="4393368"/>
            <a:ext cx="1619794"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902" name="qa5-902"/>
          <p:cNvSpPr/>
          <p:nvPr/>
        </p:nvSpPr>
        <p:spPr>
          <a:xfrm>
            <a:off x="2031274" y="4393368"/>
            <a:ext cx="1133856"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3" name="qa5-903"/>
          <p:cNvSpPr txBox="1"/>
          <p:nvPr/>
        </p:nvSpPr>
        <p:spPr>
          <a:xfrm>
            <a:off x="2031274" y="4393368"/>
            <a:ext cx="113385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904" name="qa5-904"/>
          <p:cNvSpPr/>
          <p:nvPr/>
        </p:nvSpPr>
        <p:spPr>
          <a:xfrm>
            <a:off x="3165130" y="4393368"/>
            <a:ext cx="2105732"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5" name="qa5-905"/>
          <p:cNvSpPr txBox="1"/>
          <p:nvPr/>
        </p:nvSpPr>
        <p:spPr>
          <a:xfrm>
            <a:off x="3165130" y="4393368"/>
            <a:ext cx="2105732"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906" name="qa5-906"/>
          <p:cNvSpPr/>
          <p:nvPr/>
        </p:nvSpPr>
        <p:spPr>
          <a:xfrm>
            <a:off x="5270862" y="4393368"/>
            <a:ext cx="6479177"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7" name="qa5-907"/>
          <p:cNvSpPr txBox="1"/>
          <p:nvPr/>
        </p:nvSpPr>
        <p:spPr>
          <a:xfrm>
            <a:off x="5270862" y="4393368"/>
            <a:ext cx="647917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908" name="qa5-908"/>
          <p:cNvSpPr txBox="1"/>
          <p:nvPr/>
        </p:nvSpPr>
        <p:spPr>
          <a:xfrm>
            <a:off x="9144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909" name="qa5-909"/>
          <p:cNvSpPr txBox="1"/>
          <p:nvPr/>
        </p:nvSpPr>
        <p:spPr>
          <a:xfrm>
            <a:off x="1711234"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910" name="qa5-910"/>
          <p:cNvSpPr txBox="1"/>
          <p:nvPr/>
        </p:nvSpPr>
        <p:spPr>
          <a:xfrm>
            <a:off x="284509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1.7%</a:t>
            </a:r>
          </a:p>
        </p:txBody>
      </p:sp>
      <p:sp>
        <p:nvSpPr>
          <p:cNvPr id="911" name="qa5-911"/>
          <p:cNvSpPr txBox="1"/>
          <p:nvPr/>
        </p:nvSpPr>
        <p:spPr>
          <a:xfrm>
            <a:off x="4950822"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912" name="qa5-912"/>
          <p:cNvSpPr txBox="1"/>
          <p:nvPr/>
        </p:nvSpPr>
        <p:spPr>
          <a:xfrm>
            <a:off x="819041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5%</a:t>
            </a:r>
          </a:p>
        </p:txBody>
      </p:sp>
      <p:sp>
        <p:nvSpPr>
          <p:cNvPr id="913" name="qa5-913"/>
          <p:cNvSpPr txBox="1"/>
          <p:nvPr/>
        </p:nvSpPr>
        <p:spPr>
          <a:xfrm>
            <a:off x="1142999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a:t>
            </a:r>
          </a:p>
        </p:txBody>
      </p:sp>
      <p:cxnSp>
        <p:nvCxnSpPr>
          <p:cNvPr id="914" name="qa5-914"/>
          <p:cNvCxnSpPr/>
          <p:nvPr/>
        </p:nvCxnSpPr>
        <p:spPr>
          <a:xfrm>
            <a:off x="2031274"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15" name="qa5-915"/>
          <p:cNvCxnSpPr/>
          <p:nvPr/>
        </p:nvCxnSpPr>
        <p:spPr>
          <a:xfrm>
            <a:off x="3165130"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16" name="qa5-916"/>
          <p:cNvCxnSpPr/>
          <p:nvPr/>
        </p:nvCxnSpPr>
        <p:spPr>
          <a:xfrm>
            <a:off x="5270862"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17" name="qa5-917"/>
          <p:cNvSpPr/>
          <p:nvPr/>
        </p:nvSpPr>
        <p:spPr>
          <a:xfrm>
            <a:off x="1971838" y="4790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8" name="qa5-918"/>
          <p:cNvSpPr txBox="1"/>
          <p:nvPr/>
        </p:nvSpPr>
        <p:spPr>
          <a:xfrm>
            <a:off x="2161274" y="4797678"/>
            <a:ext cx="5070000" cy="104644"/>
          </a:xfrm>
          <a:prstGeom prst="rect">
            <a:avLst/>
          </a:prstGeom>
          <a:noFill/>
        </p:spPr>
        <p:txBody>
          <a:bodyPr wrap="square" lIns="0" tIns="0" rIns="0" bIns="0" anchor="ctr">
            <a:spAutoFit/>
          </a:bodyPr>
          <a:lstStyle/>
          <a:p>
            <a:pPr algn="l">
              <a:spcAft>
                <a:spcPts val="0"/>
              </a:spcAft>
            </a:pPr>
            <a:r>
              <a:rPr sz="680" b="0">
                <a:solidFill>
                  <a:srgbClr val="C00000"/>
                </a:solidFill>
                <a:latin typeface="맑은 고딕"/>
                <a:ea typeface="맑은 고딕"/>
              </a:rPr>
              <a:t>MLPerf Inference: LLM 행 대부분 reference의 99% 이상일 때만 성능 인정 (하락 ≤ 1%)</a:t>
            </a:r>
          </a:p>
        </p:txBody>
      </p:sp>
      <p:sp>
        <p:nvSpPr>
          <p:cNvPr id="919" name="qa5-919"/>
          <p:cNvSpPr/>
          <p:nvPr/>
        </p:nvSpPr>
        <p:spPr>
          <a:xfrm>
            <a:off x="5211426" y="4938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0" name="qa5-920"/>
          <p:cNvSpPr txBox="1"/>
          <p:nvPr/>
        </p:nvSpPr>
        <p:spPr>
          <a:xfrm>
            <a:off x="5400862" y="4945678"/>
            <a:ext cx="6240000" cy="104644"/>
          </a:xfrm>
          <a:prstGeom prst="rect">
            <a:avLst/>
          </a:prstGeom>
          <a:noFill/>
        </p:spPr>
        <p:txBody>
          <a:bodyPr wrap="square" lIns="0" tIns="0" rIns="0" bIns="0" anchor="ctr">
            <a:spAutoFit/>
          </a:bodyPr>
          <a:lstStyle/>
          <a:p>
            <a:pPr algn="l">
              <a:spcAft>
                <a:spcPts val="0"/>
              </a:spcAft>
            </a:pPr>
            <a:r>
              <a:rPr sz="680" b="0" dirty="0" err="1">
                <a:solidFill>
                  <a:srgbClr val="C00000"/>
                </a:solidFill>
                <a:latin typeface="맑은 고딕"/>
                <a:ea typeface="맑은 고딕"/>
              </a:rPr>
              <a:t>MLPerf</a:t>
            </a:r>
            <a:r>
              <a:rPr sz="680" b="0" dirty="0">
                <a:solidFill>
                  <a:srgbClr val="C00000"/>
                </a:solidFill>
                <a:latin typeface="맑은 고딕"/>
                <a:ea typeface="맑은 고딕"/>
              </a:rPr>
              <a:t>: RAG(LLM judge, ±3% </a:t>
            </a:r>
            <a:r>
              <a:rPr sz="680" b="0" dirty="0" err="1">
                <a:solidFill>
                  <a:srgbClr val="C00000"/>
                </a:solidFill>
                <a:latin typeface="맑은 고딕"/>
                <a:ea typeface="맑은 고딕"/>
              </a:rPr>
              <a:t>잡음</a:t>
            </a:r>
            <a:r>
              <a:rPr sz="680" b="0" dirty="0">
                <a:solidFill>
                  <a:srgbClr val="C00000"/>
                </a:solidFill>
                <a:latin typeface="맑은 고딕"/>
                <a:ea typeface="맑은 고딕"/>
              </a:rPr>
              <a:t>)·agent function-calling 은 </a:t>
            </a:r>
            <a:r>
              <a:rPr sz="680" b="0" dirty="0" err="1">
                <a:solidFill>
                  <a:srgbClr val="C00000"/>
                </a:solidFill>
                <a:latin typeface="맑은 고딕"/>
                <a:ea typeface="맑은 고딕"/>
              </a:rPr>
              <a:t>reference의</a:t>
            </a:r>
            <a:r>
              <a:rPr sz="680" b="0" dirty="0">
                <a:solidFill>
                  <a:srgbClr val="C00000"/>
                </a:solidFill>
                <a:latin typeface="맑은 고딕"/>
                <a:ea typeface="맑은 고딕"/>
              </a:rPr>
              <a:t> 97% (</a:t>
            </a:r>
            <a:r>
              <a:rPr sz="680" b="0" dirty="0" err="1">
                <a:solidFill>
                  <a:srgbClr val="C00000"/>
                </a:solidFill>
                <a:latin typeface="맑은 고딕"/>
                <a:ea typeface="맑은 고딕"/>
              </a:rPr>
              <a:t>하락</a:t>
            </a:r>
            <a:r>
              <a:rPr sz="680" b="0" dirty="0">
                <a:solidFill>
                  <a:srgbClr val="C00000"/>
                </a:solidFill>
                <a:latin typeface="맑은 고딕"/>
                <a:ea typeface="맑은 고딕"/>
              </a:rPr>
              <a:t> ≤ 3%)</a:t>
            </a:r>
          </a:p>
        </p:txBody>
      </p:sp>
      <p:sp>
        <p:nvSpPr>
          <p:cNvPr id="921" name="qa5-921"/>
          <p:cNvSpPr/>
          <p:nvPr/>
        </p:nvSpPr>
        <p:spPr>
          <a:xfrm>
            <a:off x="5211426" y="5086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 name="qa5-922"/>
          <p:cNvSpPr txBox="1"/>
          <p:nvPr/>
        </p:nvSpPr>
        <p:spPr>
          <a:xfrm>
            <a:off x="5400862" y="5093678"/>
            <a:ext cx="5304000" cy="104644"/>
          </a:xfrm>
          <a:prstGeom prst="rect">
            <a:avLst/>
          </a:prstGeom>
          <a:noFill/>
        </p:spPr>
        <p:txBody>
          <a:bodyPr wrap="square" lIns="0" tIns="0" rIns="0" bIns="0" anchor="ctr">
            <a:spAutoFit/>
          </a:bodyPr>
          <a:lstStyle/>
          <a:p>
            <a:pPr algn="l">
              <a:spcAft>
                <a:spcPts val="0"/>
              </a:spcAft>
            </a:pPr>
            <a:r>
              <a:rPr sz="680" b="0" dirty="0" err="1">
                <a:solidFill>
                  <a:srgbClr val="C00000"/>
                </a:solidFill>
                <a:latin typeface="맑은 고딕"/>
                <a:ea typeface="맑은 고딕"/>
              </a:rPr>
              <a:t>KVServe</a:t>
            </a:r>
            <a:r>
              <a:rPr sz="680" b="0" dirty="0">
                <a:solidFill>
                  <a:srgbClr val="C00000"/>
                </a:solidFill>
                <a:latin typeface="맑은 고딕"/>
                <a:ea typeface="맑은 고딕"/>
              </a:rPr>
              <a:t>: 97% </a:t>
            </a:r>
            <a:r>
              <a:rPr sz="680" b="0" dirty="0" err="1">
                <a:solidFill>
                  <a:srgbClr val="C00000"/>
                </a:solidFill>
                <a:latin typeface="맑은 고딕"/>
                <a:ea typeface="맑은 고딕"/>
              </a:rPr>
              <a:t>상대</a:t>
            </a:r>
            <a:r>
              <a:rPr sz="680" b="0" dirty="0">
                <a:solidFill>
                  <a:srgbClr val="C00000"/>
                </a:solidFill>
                <a:latin typeface="맑은 고딕"/>
                <a:ea typeface="맑은 고딕"/>
              </a:rPr>
              <a:t> </a:t>
            </a:r>
            <a:r>
              <a:rPr sz="680" b="0" dirty="0" err="1">
                <a:solidFill>
                  <a:srgbClr val="C00000"/>
                </a:solidFill>
                <a:latin typeface="맑은 고딕"/>
                <a:ea typeface="맑은 고딕"/>
              </a:rPr>
              <a:t>정확도</a:t>
            </a:r>
            <a:r>
              <a:rPr sz="680" b="0" dirty="0">
                <a:solidFill>
                  <a:srgbClr val="C00000"/>
                </a:solidFill>
                <a:latin typeface="맑은 고딕"/>
                <a:ea typeface="맑은 고딕"/>
              </a:rPr>
              <a:t> </a:t>
            </a:r>
            <a:r>
              <a:rPr sz="680" b="0" dirty="0" err="1">
                <a:solidFill>
                  <a:srgbClr val="C00000"/>
                </a:solidFill>
                <a:latin typeface="맑은 고딕"/>
                <a:ea typeface="맑은 고딕"/>
              </a:rPr>
              <a:t>제약</a:t>
            </a:r>
            <a:r>
              <a:rPr sz="680" b="0" dirty="0">
                <a:solidFill>
                  <a:srgbClr val="C00000"/>
                </a:solidFill>
                <a:latin typeface="맑은 고딕"/>
                <a:ea typeface="맑은 고딕"/>
              </a:rPr>
              <a:t> </a:t>
            </a:r>
            <a:r>
              <a:rPr sz="680" b="0" dirty="0" err="1">
                <a:solidFill>
                  <a:srgbClr val="C00000"/>
                </a:solidFill>
                <a:latin typeface="맑은 고딕"/>
                <a:ea typeface="맑은 고딕"/>
              </a:rPr>
              <a:t>하에서</a:t>
            </a:r>
            <a:r>
              <a:rPr sz="680" b="0" dirty="0">
                <a:solidFill>
                  <a:srgbClr val="C00000"/>
                </a:solidFill>
                <a:latin typeface="맑은 고딕"/>
                <a:ea typeface="맑은 고딕"/>
              </a:rPr>
              <a:t> </a:t>
            </a:r>
            <a:r>
              <a:rPr lang="ko-KR" altLang="en-US" sz="680" b="0" dirty="0">
                <a:solidFill>
                  <a:srgbClr val="C00000"/>
                </a:solidFill>
                <a:latin typeface="맑은 고딕"/>
                <a:ea typeface="맑은 고딕"/>
              </a:rPr>
              <a:t>선</a:t>
            </a:r>
            <a:r>
              <a:rPr sz="680" b="0" dirty="0">
                <a:solidFill>
                  <a:srgbClr val="C00000"/>
                </a:solidFill>
                <a:latin typeface="맑은 고딕"/>
                <a:ea typeface="맑은 고딕"/>
              </a:rPr>
              <a:t>택 · EVICPRESS: 3% </a:t>
            </a:r>
            <a:r>
              <a:rPr sz="680" b="0" dirty="0" err="1">
                <a:solidFill>
                  <a:srgbClr val="C00000"/>
                </a:solidFill>
                <a:latin typeface="맑은 고딕"/>
                <a:ea typeface="맑은 고딕"/>
              </a:rPr>
              <a:t>품질</a:t>
            </a:r>
            <a:r>
              <a:rPr sz="680" b="0" dirty="0">
                <a:solidFill>
                  <a:srgbClr val="C00000"/>
                </a:solidFill>
                <a:latin typeface="맑은 고딕"/>
                <a:ea typeface="맑은 고딕"/>
              </a:rPr>
              <a:t> </a:t>
            </a:r>
            <a:r>
              <a:rPr sz="680" b="0" dirty="0" err="1">
                <a:solidFill>
                  <a:srgbClr val="C00000"/>
                </a:solidFill>
                <a:latin typeface="맑은 고딕"/>
                <a:ea typeface="맑은 고딕"/>
              </a:rPr>
              <a:t>하락</a:t>
            </a:r>
            <a:r>
              <a:rPr sz="680" b="0" dirty="0">
                <a:solidFill>
                  <a:srgbClr val="C00000"/>
                </a:solidFill>
                <a:latin typeface="맑은 고딕"/>
                <a:ea typeface="맑은 고딕"/>
              </a:rPr>
              <a:t> </a:t>
            </a:r>
            <a:r>
              <a:rPr sz="680" b="0" dirty="0" err="1">
                <a:solidFill>
                  <a:srgbClr val="C00000"/>
                </a:solidFill>
                <a:latin typeface="맑은 고딕"/>
                <a:ea typeface="맑은 고딕"/>
              </a:rPr>
              <a:t>허용</a:t>
            </a:r>
            <a:r>
              <a:rPr sz="680" b="0" dirty="0">
                <a:solidFill>
                  <a:srgbClr val="C00000"/>
                </a:solidFill>
                <a:latin typeface="맑은 고딕"/>
                <a:ea typeface="맑은 고딕"/>
              </a:rPr>
              <a:t> </a:t>
            </a:r>
            <a:r>
              <a:rPr sz="680" b="0" dirty="0" err="1">
                <a:solidFill>
                  <a:srgbClr val="C00000"/>
                </a:solidFill>
                <a:latin typeface="맑은 고딕"/>
                <a:ea typeface="맑은 고딕"/>
              </a:rPr>
              <a:t>하에서</a:t>
            </a:r>
            <a:r>
              <a:rPr sz="680" b="0" dirty="0">
                <a:solidFill>
                  <a:srgbClr val="C00000"/>
                </a:solidFill>
                <a:latin typeface="맑은 고딕"/>
                <a:ea typeface="맑은 고딕"/>
              </a:rPr>
              <a:t> </a:t>
            </a:r>
            <a:r>
              <a:rPr sz="680" b="0" dirty="0" err="1">
                <a:solidFill>
                  <a:srgbClr val="C00000"/>
                </a:solidFill>
                <a:latin typeface="맑은 고딕"/>
                <a:ea typeface="맑은 고딕"/>
              </a:rPr>
              <a:t>처리량</a:t>
            </a:r>
            <a:r>
              <a:rPr sz="680" b="0" dirty="0">
                <a:solidFill>
                  <a:srgbClr val="C00000"/>
                </a:solidFill>
                <a:latin typeface="맑은 고딕"/>
                <a:ea typeface="맑은 고딕"/>
              </a:rPr>
              <a:t> </a:t>
            </a:r>
            <a:r>
              <a:rPr sz="680" b="0" dirty="0" err="1">
                <a:solidFill>
                  <a:srgbClr val="C00000"/>
                </a:solidFill>
                <a:latin typeface="맑은 고딕"/>
                <a:ea typeface="맑은 고딕"/>
              </a:rPr>
              <a:t>보고</a:t>
            </a:r>
            <a:endParaRPr sz="680" b="0" dirty="0">
              <a:solidFill>
                <a:srgbClr val="C00000"/>
              </a:solidFill>
              <a:latin typeface="맑은 고딕"/>
              <a:ea typeface="맑은 고딕"/>
            </a:endParaRPr>
          </a:p>
        </p:txBody>
      </p:sp>
      <p:sp>
        <p:nvSpPr>
          <p:cNvPr id="923" name="qa5-923"/>
          <p:cNvSpPr/>
          <p:nvPr/>
        </p:nvSpPr>
        <p:spPr>
          <a:xfrm>
            <a:off x="411480" y="5257424"/>
            <a:ext cx="1619794"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4" name="qa5-924"/>
          <p:cNvCxnSpPr/>
          <p:nvPr/>
        </p:nvCxnSpPr>
        <p:spPr>
          <a:xfrm>
            <a:off x="411480" y="5229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25" name="qa5-925"/>
          <p:cNvCxnSpPr/>
          <p:nvPr/>
        </p:nvCxnSpPr>
        <p:spPr>
          <a:xfrm>
            <a:off x="2031274" y="5229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26" name="qa5-926"/>
          <p:cNvSpPr txBox="1"/>
          <p:nvPr/>
        </p:nvSpPr>
        <p:spPr>
          <a:xfrm>
            <a:off x="2101274" y="5241678"/>
            <a:ext cx="3276000" cy="104644"/>
          </a:xfrm>
          <a:prstGeom prst="rect">
            <a:avLst/>
          </a:prstGeom>
          <a:noFill/>
        </p:spPr>
        <p:txBody>
          <a:bodyPr wrap="square" lIns="0" tIns="0" rIns="0" bIns="0" anchor="ctr">
            <a:spAutoFit/>
          </a:bodyPr>
          <a:lstStyle/>
          <a:p>
            <a:pPr algn="l">
              <a:spcAft>
                <a:spcPts val="0"/>
              </a:spcAft>
            </a:pPr>
            <a:r>
              <a:rPr sz="680" b="0">
                <a:solidFill>
                  <a:srgbClr val="2F5597"/>
                </a:solidFill>
                <a:latin typeface="맑은 고딕"/>
                <a:ea typeface="맑은 고딕"/>
              </a:rPr>
              <a:t>FastKV: 평균 하락 &lt; 1% 에서 처리량 최대 4.82× (up to)</a:t>
            </a:r>
          </a:p>
        </p:txBody>
      </p:sp>
      <p:sp>
        <p:nvSpPr>
          <p:cNvPr id="927" name="qa5-927"/>
          <p:cNvSpPr/>
          <p:nvPr/>
        </p:nvSpPr>
        <p:spPr>
          <a:xfrm>
            <a:off x="411480" y="5405424"/>
            <a:ext cx="3239588"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8" name="qa5-928"/>
          <p:cNvCxnSpPr/>
          <p:nvPr/>
        </p:nvCxnSpPr>
        <p:spPr>
          <a:xfrm>
            <a:off x="411480" y="5377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29" name="qa5-929"/>
          <p:cNvCxnSpPr/>
          <p:nvPr/>
        </p:nvCxnSpPr>
        <p:spPr>
          <a:xfrm>
            <a:off x="3651068" y="5377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30" name="qa5-930"/>
          <p:cNvSpPr txBox="1"/>
          <p:nvPr/>
        </p:nvSpPr>
        <p:spPr>
          <a:xfrm>
            <a:off x="3721068" y="5389678"/>
            <a:ext cx="4446000" cy="104644"/>
          </a:xfrm>
          <a:prstGeom prst="rect">
            <a:avLst/>
          </a:prstGeom>
          <a:noFill/>
        </p:spPr>
        <p:txBody>
          <a:bodyPr wrap="square" lIns="0" tIns="0" rIns="0" bIns="0" anchor="ctr">
            <a:spAutoFit/>
          </a:bodyPr>
          <a:lstStyle/>
          <a:p>
            <a:pPr algn="l">
              <a:spcAft>
                <a:spcPts val="0"/>
              </a:spcAft>
            </a:pPr>
            <a:r>
              <a:rPr sz="680" b="0">
                <a:solidFill>
                  <a:srgbClr val="2F5597"/>
                </a:solidFill>
                <a:latin typeface="맑은 고딕"/>
                <a:ea typeface="맑은 고딕"/>
              </a:rPr>
              <a:t>CacheGen: accuracy 하락 ≤ 2% (F1 하락 &lt; 0.1%), 지연 3.1~4.7× 감소</a:t>
            </a:r>
          </a:p>
        </p:txBody>
      </p:sp>
      <p:sp>
        <p:nvSpPr>
          <p:cNvPr id="931" name="qa5-931"/>
          <p:cNvSpPr/>
          <p:nvPr/>
        </p:nvSpPr>
        <p:spPr>
          <a:xfrm>
            <a:off x="816428" y="5553424"/>
            <a:ext cx="4648809"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2" name="qa5-932"/>
          <p:cNvCxnSpPr/>
          <p:nvPr/>
        </p:nvCxnSpPr>
        <p:spPr>
          <a:xfrm>
            <a:off x="816428" y="5525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33" name="qa5-933"/>
          <p:cNvCxnSpPr/>
          <p:nvPr/>
        </p:nvCxnSpPr>
        <p:spPr>
          <a:xfrm>
            <a:off x="5465237" y="5525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34" name="qa5-934"/>
          <p:cNvSpPr txBox="1"/>
          <p:nvPr/>
        </p:nvSpPr>
        <p:spPr>
          <a:xfrm>
            <a:off x="5535237" y="5537678"/>
            <a:ext cx="4212000" cy="104644"/>
          </a:xfrm>
          <a:prstGeom prst="rect">
            <a:avLst/>
          </a:prstGeom>
          <a:noFill/>
        </p:spPr>
        <p:txBody>
          <a:bodyPr wrap="square" lIns="0" tIns="0" rIns="0" bIns="0" anchor="ctr">
            <a:spAutoFit/>
          </a:bodyPr>
          <a:lstStyle/>
          <a:p>
            <a:pPr algn="l">
              <a:spcAft>
                <a:spcPts val="0"/>
              </a:spcAft>
            </a:pPr>
            <a:r>
              <a:rPr sz="680" b="0">
                <a:solidFill>
                  <a:srgbClr val="2F5597"/>
                </a:solidFill>
                <a:latin typeface="맑은 고딕"/>
                <a:ea typeface="맑은 고딕"/>
              </a:rPr>
              <a:t>양자화(Give Me BF16): 8-bit 평균 0.25% ~ W4A16 task 최악 3.1%</a:t>
            </a:r>
          </a:p>
        </p:txBody>
      </p:sp>
      <p:sp>
        <p:nvSpPr>
          <p:cNvPr id="935" name="qa5-935"/>
          <p:cNvSpPr/>
          <p:nvPr/>
        </p:nvSpPr>
        <p:spPr>
          <a:xfrm>
            <a:off x="4574350" y="5701424"/>
            <a:ext cx="4422038"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6" name="qa5-936"/>
          <p:cNvCxnSpPr/>
          <p:nvPr/>
        </p:nvCxnSpPr>
        <p:spPr>
          <a:xfrm>
            <a:off x="4574350" y="5673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37" name="qa5-937"/>
          <p:cNvCxnSpPr/>
          <p:nvPr/>
        </p:nvCxnSpPr>
        <p:spPr>
          <a:xfrm>
            <a:off x="8996388" y="5673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38" name="qa5-938"/>
          <p:cNvSpPr txBox="1"/>
          <p:nvPr/>
        </p:nvSpPr>
        <p:spPr>
          <a:xfrm>
            <a:off x="9066388" y="5685678"/>
            <a:ext cx="1716000" cy="104644"/>
          </a:xfrm>
          <a:prstGeom prst="rect">
            <a:avLst/>
          </a:prstGeom>
          <a:noFill/>
        </p:spPr>
        <p:txBody>
          <a:bodyPr wrap="square" lIns="0" tIns="0" rIns="0" bIns="0" anchor="ctr">
            <a:spAutoFit/>
          </a:bodyPr>
          <a:lstStyle/>
          <a:p>
            <a:pPr algn="l">
              <a:spcAft>
                <a:spcPts val="0"/>
              </a:spcAft>
            </a:pPr>
            <a:r>
              <a:rPr sz="680" b="0">
                <a:solidFill>
                  <a:srgbClr val="7F7F7F"/>
                </a:solidFill>
                <a:latin typeface="맑은 고딕"/>
                <a:ea typeface="맑은 고딕"/>
              </a:rPr>
              <a:t>KIVI(4.4×) 2.6% → 5.3%</a:t>
            </a:r>
          </a:p>
        </p:txBody>
      </p:sp>
      <p:sp>
        <p:nvSpPr>
          <p:cNvPr id="939" name="qa5-939"/>
          <p:cNvSpPr/>
          <p:nvPr/>
        </p:nvSpPr>
        <p:spPr>
          <a:xfrm>
            <a:off x="7732949" y="5849424"/>
            <a:ext cx="4017090"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0" name="qa5-940"/>
          <p:cNvCxnSpPr/>
          <p:nvPr/>
        </p:nvCxnSpPr>
        <p:spPr>
          <a:xfrm>
            <a:off x="7732949" y="5821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41" name="qa5-941"/>
          <p:cNvSpPr txBox="1"/>
          <p:nvPr/>
        </p:nvSpPr>
        <p:spPr>
          <a:xfrm>
            <a:off x="4776949" y="5833678"/>
            <a:ext cx="2886000" cy="104644"/>
          </a:xfrm>
          <a:prstGeom prst="rect">
            <a:avLst/>
          </a:prstGeom>
          <a:noFill/>
        </p:spPr>
        <p:txBody>
          <a:bodyPr wrap="square" lIns="0" tIns="0" rIns="0" bIns="0" anchor="ctr">
            <a:spAutoFit/>
          </a:bodyPr>
          <a:lstStyle/>
          <a:p>
            <a:pPr algn="r">
              <a:spcAft>
                <a:spcPts val="0"/>
              </a:spcAft>
            </a:pPr>
            <a:r>
              <a:rPr sz="680" b="0">
                <a:solidFill>
                  <a:srgbClr val="7F7F7F"/>
                </a:solidFill>
                <a:latin typeface="맑은 고딕"/>
                <a:ea typeface="맑은 고딕"/>
              </a:rPr>
              <a:t>DuoAttention(3.1×) 4.5% → 13.9% (축 밖)</a:t>
            </a:r>
          </a:p>
        </p:txBody>
      </p:sp>
      <p:sp>
        <p:nvSpPr>
          <p:cNvPr id="942" name="qa5-942"/>
          <p:cNvSpPr/>
          <p:nvPr/>
        </p:nvSpPr>
        <p:spPr>
          <a:xfrm>
            <a:off x="3327109" y="5997424"/>
            <a:ext cx="6317197"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3" name="qa5-943"/>
          <p:cNvCxnSpPr/>
          <p:nvPr/>
        </p:nvCxnSpPr>
        <p:spPr>
          <a:xfrm>
            <a:off x="3327109" y="5969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44" name="qa5-944"/>
          <p:cNvCxnSpPr/>
          <p:nvPr/>
        </p:nvCxnSpPr>
        <p:spPr>
          <a:xfrm>
            <a:off x="9644306" y="5969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45" name="qa5-945"/>
          <p:cNvSpPr txBox="1"/>
          <p:nvPr/>
        </p:nvSpPr>
        <p:spPr>
          <a:xfrm>
            <a:off x="683109" y="5981678"/>
            <a:ext cx="2574000" cy="104644"/>
          </a:xfrm>
          <a:prstGeom prst="rect">
            <a:avLst/>
          </a:prstGeom>
          <a:noFill/>
        </p:spPr>
        <p:txBody>
          <a:bodyPr wrap="square" lIns="0" tIns="0" rIns="0" bIns="0" anchor="ctr">
            <a:spAutoFit/>
          </a:bodyPr>
          <a:lstStyle/>
          <a:p>
            <a:pPr algn="r">
              <a:spcAft>
                <a:spcPts val="0"/>
              </a:spcAft>
            </a:pPr>
            <a:r>
              <a:rPr sz="680" b="0">
                <a:solidFill>
                  <a:srgbClr val="7F7F7F"/>
                </a:solidFill>
                <a:latin typeface="맑은 고딕"/>
                <a:ea typeface="맑은 고딕"/>
              </a:rPr>
              <a:t>KVServe-Unified(7.4×) 1.8% → 5.7%</a:t>
            </a:r>
          </a:p>
        </p:txBody>
      </p:sp>
      <p:sp>
        <p:nvSpPr>
          <p:cNvPr id="946" name="qa5-946"/>
          <p:cNvSpPr/>
          <p:nvPr/>
        </p:nvSpPr>
        <p:spPr>
          <a:xfrm>
            <a:off x="384048" y="6262000"/>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7" name="qa5-947"/>
          <p:cNvSpPr txBox="1"/>
          <p:nvPr/>
        </p:nvSpPr>
        <p:spPr>
          <a:xfrm>
            <a:off x="502920" y="6220852"/>
            <a:ext cx="144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문헌 보고 범위(허용 기준 아님)</a:t>
            </a:r>
          </a:p>
        </p:txBody>
      </p:sp>
      <p:sp>
        <p:nvSpPr>
          <p:cNvPr id="948" name="qa5-948"/>
          <p:cNvSpPr/>
          <p:nvPr/>
        </p:nvSpPr>
        <p:spPr>
          <a:xfrm>
            <a:off x="2118348" y="6257428"/>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9" name="qa5-949"/>
          <p:cNvSpPr txBox="1"/>
          <p:nvPr/>
        </p:nvSpPr>
        <p:spPr>
          <a:xfrm>
            <a:off x="2241792" y="6220852"/>
            <a:ext cx="184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허용 기준으로 채택된 값(표준·설계 제약)</a:t>
            </a:r>
          </a:p>
        </p:txBody>
      </p:sp>
      <p:sp>
        <p:nvSpPr>
          <p:cNvPr id="950" name="qa5-950"/>
          <p:cNvSpPr/>
          <p:nvPr/>
        </p:nvSpPr>
        <p:spPr>
          <a:xfrm>
            <a:off x="4261792" y="6262000"/>
            <a:ext cx="82296" cy="82296"/>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1" name="qa5-951"/>
          <p:cNvSpPr txBox="1"/>
          <p:nvPr/>
        </p:nvSpPr>
        <p:spPr>
          <a:xfrm>
            <a:off x="4380664" y="6220852"/>
            <a:ext cx="432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참고: KVServe Table 1의 6개 task 평균 → task 최악 하락(허용 기준 아님)</a:t>
            </a:r>
          </a:p>
        </p:txBody>
      </p:sp>
      <p:sp>
        <p:nvSpPr>
          <p:cNvPr id="61" name="실행 단추: 뒤로 또는 이전 49">
            <a:hlinkClick r:id="rId3" action="ppaction://hlinksldjump" highlightClick="1"/>
            <a:extLst>
              <a:ext uri="{FF2B5EF4-FFF2-40B4-BE49-F238E27FC236}">
                <a16:creationId xmlns:a16="http://schemas.microsoft.com/office/drawing/2014/main" id="{A283DDDE-0879-46AD-AE22-01849EC54110}"/>
              </a:ext>
            </a:extLst>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subtitle">
            <a:extLst>
              <a:ext uri="{FF2B5EF4-FFF2-40B4-BE49-F238E27FC236}">
                <a16:creationId xmlns:a16="http://schemas.microsoft.com/office/drawing/2014/main" id="{78A5440A-A1AB-4333-8BBD-BB7464C90E02}"/>
              </a:ext>
            </a:extLst>
          </p:cNvPr>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63" name="실행 단추: 뒤로 또는 이전 53">
            <a:hlinkClick r:id="" action="ppaction://hlinkshowjump?jump=lastslideviewed" highlightClick="1"/>
            <a:extLst>
              <a:ext uri="{FF2B5EF4-FFF2-40B4-BE49-F238E27FC236}">
                <a16:creationId xmlns:a16="http://schemas.microsoft.com/office/drawing/2014/main" id="{B60049BA-5E98-440D-AE22-4536BAF3C583}"/>
              </a:ext>
            </a:extLst>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subtitle">
            <a:extLst>
              <a:ext uri="{FF2B5EF4-FFF2-40B4-BE49-F238E27FC236}">
                <a16:creationId xmlns:a16="http://schemas.microsoft.com/office/drawing/2014/main" id="{D5B285A7-FB57-4FE8-B29F-F74BECA7DEC8}"/>
              </a:ext>
            </a:extLst>
          </p:cNvPr>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3861983673"/>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기능 정확성(Accuracy)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lang="ko-KR" altLang="en-US" sz="1100" dirty="0" smtClean="0">
                <a:solidFill>
                  <a:srgbClr val="000000"/>
                </a:solidFill>
                <a:latin typeface="맑은 고딕"/>
                <a:ea typeface="맑은 고딕"/>
              </a:rPr>
              <a:t>전체 재계산</a:t>
            </a:r>
            <a:r>
              <a:rPr lang="en-US" altLang="ko-KR" sz="1100" dirty="0" smtClean="0">
                <a:solidFill>
                  <a:srgbClr val="000000"/>
                </a:solidFill>
                <a:latin typeface="맑은 고딕"/>
                <a:ea typeface="맑은 고딕"/>
              </a:rPr>
              <a:t>(F</a:t>
            </a:r>
            <a:r>
              <a:rPr lang="en-US" altLang="ko-KR" sz="1100" b="0" dirty="0" smtClean="0">
                <a:solidFill>
                  <a:srgbClr val="000000"/>
                </a:solidFill>
                <a:latin typeface="맑은 고딕"/>
                <a:ea typeface="맑은 고딕"/>
              </a:rPr>
              <a:t>ull </a:t>
            </a:r>
            <a:r>
              <a:rPr lang="en-US" altLang="ko-KR" sz="1100" b="0" dirty="0">
                <a:solidFill>
                  <a:srgbClr val="000000"/>
                </a:solidFill>
                <a:latin typeface="맑은 고딕"/>
                <a:ea typeface="맑은 고딕"/>
              </a:rPr>
              <a:t>recompute) 대비 F1 상대 </a:t>
            </a:r>
            <a:r>
              <a:rPr lang="en-US" altLang="ko-KR" sz="1100" b="0" dirty="0" err="1">
                <a:solidFill>
                  <a:srgbClr val="000000"/>
                </a:solidFill>
                <a:latin typeface="맑은 고딕"/>
                <a:ea typeface="맑은 고딕"/>
              </a:rPr>
              <a:t>하락률</a:t>
            </a:r>
            <a:r>
              <a:rPr lang="en-US" altLang="ko-KR" sz="1100" b="0" dirty="0">
                <a:solidFill>
                  <a:srgbClr val="000000"/>
                </a:solidFill>
                <a:latin typeface="맑은 고딕"/>
                <a:ea typeface="맑은 고딕"/>
              </a:rPr>
              <a:t> </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ubtitle">
            <a:extLst>
              <a:ext uri="{FF2B5EF4-FFF2-40B4-BE49-F238E27FC236}">
                <a16:creationId xmlns:a16="http://schemas.microsoft.com/office/drawing/2014/main" id="{83FC6577-760C-41A6-A45B-D5727304942A}"/>
              </a:ext>
            </a:extLst>
          </p:cNvPr>
          <p:cNvSpPr txBox="1"/>
          <p:nvPr/>
        </p:nvSpPr>
        <p:spPr>
          <a:xfrm>
            <a:off x="365760" y="1100189"/>
            <a:ext cx="11430000" cy="293863"/>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smtClean="0">
                <a:solidFill>
                  <a:srgbClr val="2F5597"/>
                </a:solidFill>
                <a:latin typeface="맑은 고딕"/>
                <a:ea typeface="맑은 고딕"/>
              </a:rPr>
              <a:t>[Metric] F1 </a:t>
            </a:r>
            <a:r>
              <a:rPr lang="en-US" altLang="ko-KR" sz="1100" b="1" dirty="0" err="1" smtClean="0">
                <a:solidFill>
                  <a:srgbClr val="2F5597"/>
                </a:solidFill>
                <a:latin typeface="맑은 고딕"/>
                <a:ea typeface="맑은 고딕"/>
              </a:rPr>
              <a:t>하락률</a:t>
            </a:r>
            <a:r>
              <a:rPr lang="en-US" altLang="ko-KR" sz="1100" b="1" dirty="0" smtClean="0">
                <a:solidFill>
                  <a:srgbClr val="2F5597"/>
                </a:solidFill>
                <a:latin typeface="맑은 고딕"/>
                <a:ea typeface="맑은 고딕"/>
              </a:rPr>
              <a:t> = (F1_full − F1_후보) ÷ F1_full  </a:t>
            </a:r>
            <a:r>
              <a:rPr lang="en-US" sz="1100" b="0" dirty="0" smtClean="0">
                <a:latin typeface="맑은 고딕"/>
                <a:ea typeface="맑은 고딕"/>
              </a:rPr>
              <a:t>(</a:t>
            </a:r>
            <a:r>
              <a:rPr lang="en-US" altLang="ko-KR" sz="1100" dirty="0">
                <a:ea typeface="맑은 고딕"/>
              </a:rPr>
              <a:t>F1_full: GPU</a:t>
            </a:r>
            <a:r>
              <a:rPr lang="ko-KR" altLang="en-US" sz="1100" dirty="0">
                <a:ea typeface="맑은 고딕"/>
              </a:rPr>
              <a:t>에서 </a:t>
            </a:r>
            <a:r>
              <a:rPr lang="en-US" altLang="ko-KR" sz="1100" dirty="0" err="1">
                <a:ea typeface="맑은 고딕"/>
              </a:rPr>
              <a:t>같은</a:t>
            </a:r>
            <a:r>
              <a:rPr lang="en-US" altLang="ko-KR" sz="1100" dirty="0">
                <a:ea typeface="맑은 고딕"/>
              </a:rPr>
              <a:t> </a:t>
            </a:r>
            <a:r>
              <a:rPr lang="en-US" altLang="ko-KR" sz="1100" dirty="0" err="1">
                <a:ea typeface="맑은 고딕"/>
              </a:rPr>
              <a:t>모델</a:t>
            </a:r>
            <a:r>
              <a:rPr lang="en-US" altLang="ko-KR" sz="1100" dirty="0">
                <a:ea typeface="맑은 고딕"/>
              </a:rPr>
              <a:t>, task, </a:t>
            </a:r>
            <a:r>
              <a:rPr lang="en-US" altLang="ko-KR" sz="1100" dirty="0" err="1">
                <a:ea typeface="맑은 고딕"/>
              </a:rPr>
              <a:t>precision에서</a:t>
            </a:r>
            <a:r>
              <a:rPr lang="en-US" altLang="ko-KR" sz="1100" dirty="0">
                <a:ea typeface="맑은 고딕"/>
              </a:rPr>
              <a:t> full </a:t>
            </a:r>
            <a:r>
              <a:rPr lang="en-US" altLang="ko-KR" sz="1100" dirty="0" err="1">
                <a:ea typeface="맑은 고딕"/>
              </a:rPr>
              <a:t>recompute</a:t>
            </a:r>
            <a:r>
              <a:rPr lang="en-US" altLang="ko-KR" sz="1100" dirty="0">
                <a:ea typeface="맑은 고딕"/>
              </a:rPr>
              <a:t> 의 F1)</a:t>
            </a:r>
            <a:endParaRPr lang="en-US" altLang="ko-KR" sz="800" dirty="0">
              <a:ea typeface="맑은 고딕"/>
            </a:endParaRPr>
          </a:p>
        </p:txBody>
      </p:sp>
      <p:sp>
        <p:nvSpPr>
          <p:cNvPr id="73" name="src">
            <a:extLst>
              <a:ext uri="{FF2B5EF4-FFF2-40B4-BE49-F238E27FC236}">
                <a16:creationId xmlns:a16="http://schemas.microsoft.com/office/drawing/2014/main" id="{CF8094EC-0377-4489-9D6C-BCCDBEE3074C}"/>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 MLPerf Inference Rules (MLCommons) · KVServe 2605.13734 · EVICPRESS 2512.14946 · FastKV 2502.01068 · CacheGen 2310.07240 · CacheBlend 2405.16444 · KVzip 2505.23416 · Give Me BF16 2411.02355 (ACL 2025)</a:t>
            </a:r>
          </a:p>
        </p:txBody>
      </p:sp>
      <p:graphicFrame>
        <p:nvGraphicFramePr>
          <p:cNvPr id="74" name="tbl">
            <a:extLst>
              <a:ext uri="{FF2B5EF4-FFF2-40B4-BE49-F238E27FC236}">
                <a16:creationId xmlns:a16="http://schemas.microsoft.com/office/drawing/2014/main" id="{7DAC45F9-9975-4210-AC0D-AE6040F54DE4}"/>
              </a:ext>
            </a:extLst>
          </p:cNvPr>
          <p:cNvGraphicFramePr>
            <a:graphicFrameLocks noGrp="1"/>
          </p:cNvGraphicFramePr>
          <p:nvPr>
            <p:extLst>
              <p:ext uri="{D42A27DB-BD31-4B8C-83A1-F6EECF244321}">
                <p14:modId xmlns:p14="http://schemas.microsoft.com/office/powerpoint/2010/main" val="785755247"/>
              </p:ext>
            </p:extLst>
          </p:nvPr>
        </p:nvGraphicFramePr>
        <p:xfrm>
          <a:off x="365760" y="1524042"/>
          <a:ext cx="11457432" cy="2489130"/>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270496">
                <a:tc>
                  <a:txBody>
                    <a:bodyPr/>
                    <a:lstStyle/>
                    <a:p>
                      <a:pPr algn="ctr">
                        <a:lnSpc>
                          <a:spcPct val="125000"/>
                        </a:lnSpc>
                      </a:pPr>
                      <a:r>
                        <a:rPr sz="900" b="1" dirty="0">
                          <a:solidFill>
                            <a:srgbClr val="FFFFFF"/>
                          </a:solidFill>
                          <a:latin typeface="맑은 고딕"/>
                          <a:ea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900" b="1" dirty="0" err="1">
                          <a:solidFill>
                            <a:srgbClr val="FFFFFF"/>
                          </a:solidFill>
                          <a:latin typeface="맑은 고딕"/>
                          <a:ea typeface="맑은 고딕"/>
                        </a:rPr>
                        <a:t>기준</a:t>
                      </a:r>
                      <a:r>
                        <a:rPr sz="900" b="1" dirty="0">
                          <a:solidFill>
                            <a:srgbClr val="FFFFFF"/>
                          </a:solidFill>
                          <a:latin typeface="맑은 고딕"/>
                          <a:ea typeface="맑은 고딕"/>
                        </a:rPr>
                        <a:t> (</a:t>
                      </a:r>
                      <a:r>
                        <a:rPr sz="900" b="1" dirty="0" err="1">
                          <a:solidFill>
                            <a:srgbClr val="FFFFFF"/>
                          </a:solidFill>
                          <a:latin typeface="맑은 고딕"/>
                          <a:ea typeface="맑은 고딕"/>
                        </a:rPr>
                        <a:t>정량</a:t>
                      </a:r>
                      <a:r>
                        <a:rPr sz="9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solidFill>
                      <a:srgbClr val="2F5597"/>
                    </a:solidFill>
                  </a:tcPr>
                </a:tc>
                <a:tc>
                  <a:txBody>
                    <a:bodyPr/>
                    <a:lstStyle/>
                    <a:p>
                      <a:pPr algn="ctr">
                        <a:lnSpc>
                          <a:spcPct val="125000"/>
                        </a:lnSpc>
                      </a:pPr>
                      <a:r>
                        <a:rPr sz="900" b="1" dirty="0" err="1">
                          <a:solidFill>
                            <a:srgbClr val="FFFFFF"/>
                          </a:solidFill>
                          <a:latin typeface="맑은 고딕"/>
                          <a:ea typeface="맑은 고딕"/>
                        </a:rPr>
                        <a:t>근거</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lnSpc>
                          <a:spcPct val="125000"/>
                        </a:lnSpc>
                      </a:pPr>
                      <a:r>
                        <a:rPr sz="900" b="1">
                          <a:solidFill>
                            <a:srgbClr val="FFFFFF"/>
                          </a:solidFill>
                          <a:latin typeface="맑은 고딕"/>
                          <a:ea typeface="맑은 고딕"/>
                        </a:rPr>
                        <a:t>출처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640939">
                <a:tc>
                  <a:txBody>
                    <a:bodyPr/>
                    <a:lstStyle/>
                    <a:p>
                      <a:pPr algn="ctr">
                        <a:lnSpc>
                          <a:spcPct val="125000"/>
                        </a:lnSpc>
                      </a:pPr>
                      <a:r>
                        <a:rPr sz="900" b="1" dirty="0">
                          <a:solidFill>
                            <a:srgbClr val="000000"/>
                          </a:solidFill>
                          <a:latin typeface="맑은 고딕"/>
                          <a:ea typeface="맑은 고딕"/>
                        </a:rPr>
                        <a:t>★ 3</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2EFDA"/>
                    </a:solidFill>
                  </a:tcPr>
                </a:tc>
                <a:tc>
                  <a:txBody>
                    <a:bodyPr/>
                    <a:lstStyle/>
                    <a:p>
                      <a:pPr algn="l"/>
                      <a:r>
                        <a:rPr sz="900" b="1" dirty="0">
                          <a:solidFill>
                            <a:srgbClr val="000000"/>
                          </a:solidFill>
                          <a:latin typeface="맑은 고딕"/>
                          <a:ea typeface="맑은 고딕"/>
                        </a:rPr>
                        <a:t>하락 ≤ 0.1%  (목표)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a:lstStyle/>
                    <a:p>
                      <a:pPr algn="l">
                        <a:lnSpc>
                          <a:spcPct val="125000"/>
                        </a:lnSpc>
                      </a:pPr>
                      <a:r>
                        <a:rPr lang="ko-KR" altLang="en-US" sz="900" b="1" dirty="0" err="1" smtClean="0">
                          <a:solidFill>
                            <a:srgbClr val="000000"/>
                          </a:solidFill>
                          <a:latin typeface="+mn-lt"/>
                          <a:ea typeface="맑은 고딕"/>
                        </a:rPr>
                        <a:t>MLPerf</a:t>
                      </a:r>
                      <a:r>
                        <a:rPr lang="ko-KR" altLang="en-US" sz="900" b="1" dirty="0" smtClean="0">
                          <a:solidFill>
                            <a:srgbClr val="000000"/>
                          </a:solidFill>
                          <a:latin typeface="+mn-lt"/>
                          <a:ea typeface="맑은 고딕"/>
                        </a:rPr>
                        <a:t> </a:t>
                      </a:r>
                      <a:r>
                        <a:rPr lang="ko-KR" altLang="en-US" sz="900" b="1" dirty="0">
                          <a:solidFill>
                            <a:srgbClr val="000000"/>
                          </a:solidFill>
                          <a:latin typeface="+mn-lt"/>
                          <a:ea typeface="맑은 고딕"/>
                        </a:rPr>
                        <a:t>Inference의 99.9% 정확도 tier와 같은 </a:t>
                      </a:r>
                      <a:r>
                        <a:rPr lang="ko-KR" altLang="en-US" sz="900" b="1" dirty="0" smtClean="0">
                          <a:solidFill>
                            <a:srgbClr val="000000"/>
                          </a:solidFill>
                          <a:latin typeface="+mn-lt"/>
                          <a:ea typeface="맑은 고딕"/>
                        </a:rPr>
                        <a:t>수준</a:t>
                      </a:r>
                      <a:endParaRPr lang="en-US" altLang="ko-KR" sz="900" b="1" dirty="0" smtClean="0">
                        <a:solidFill>
                          <a:srgbClr val="000000"/>
                        </a:solidFill>
                        <a:latin typeface="+mn-lt"/>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2EFDA"/>
                    </a:solidFill>
                  </a:tcPr>
                </a:tc>
                <a:tc>
                  <a:txBody>
                    <a:bodyPr/>
                    <a:lstStyle/>
                    <a:p>
                      <a:pPr marL="171450" indent="-171450" algn="l">
                        <a:lnSpc>
                          <a:spcPct val="125000"/>
                        </a:lnSpc>
                        <a:buFontTx/>
                        <a:buChar char="-"/>
                      </a:pPr>
                      <a:r>
                        <a:rPr sz="900" b="0" dirty="0" err="1" smtClean="0">
                          <a:solidFill>
                            <a:srgbClr val="000000"/>
                          </a:solidFill>
                          <a:latin typeface="맑은 고딕"/>
                          <a:ea typeface="맑은 고딕"/>
                        </a:rPr>
                        <a:t>MLPerf</a:t>
                      </a:r>
                      <a:r>
                        <a:rPr sz="900" b="0" dirty="0" smtClean="0">
                          <a:solidFill>
                            <a:srgbClr val="000000"/>
                          </a:solidFill>
                          <a:latin typeface="맑은 고딕"/>
                          <a:ea typeface="맑은 고딕"/>
                        </a:rPr>
                        <a:t> </a:t>
                      </a:r>
                      <a:r>
                        <a:rPr sz="900" b="0" dirty="0">
                          <a:solidFill>
                            <a:srgbClr val="000000"/>
                          </a:solidFill>
                          <a:latin typeface="맑은 고딕"/>
                          <a:ea typeface="맑은 고딕"/>
                        </a:rPr>
                        <a:t>Inference </a:t>
                      </a:r>
                      <a:r>
                        <a:rPr sz="900" b="0" dirty="0" smtClean="0">
                          <a:solidFill>
                            <a:srgbClr val="000000"/>
                          </a:solidFill>
                          <a:latin typeface="맑은 고딕"/>
                          <a:ea typeface="맑은 고딕"/>
                        </a:rPr>
                        <a:t>Rules</a:t>
                      </a:r>
                      <a:endParaRPr lang="en-US" sz="900" b="0" dirty="0" smtClean="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extLst>
                  <a:ext uri="{0D108BD9-81ED-4DB2-BD59-A6C34878D82A}">
                    <a16:rowId xmlns:a16="http://schemas.microsoft.com/office/drawing/2014/main" val="10001"/>
                  </a:ext>
                </a:extLst>
              </a:tr>
              <a:tr h="369772">
                <a:tc>
                  <a:txBody>
                    <a:bodyPr/>
                    <a:lstStyle/>
                    <a:p>
                      <a:pPr algn="ctr">
                        <a:lnSpc>
                          <a:spcPct val="125000"/>
                        </a:lnSpc>
                      </a:pPr>
                      <a:r>
                        <a:rPr sz="900" b="1" dirty="0">
                          <a:solidFill>
                            <a:srgbClr val="000000"/>
                          </a:solidFill>
                          <a:latin typeface="맑은 고딕"/>
                          <a:ea typeface="맑은 고딕"/>
                        </a:rPr>
                        <a:t>★ 2</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FF2CC"/>
                    </a:solidFill>
                  </a:tcPr>
                </a:tc>
                <a:tc>
                  <a:txBody>
                    <a:bodyPr/>
                    <a:lstStyle/>
                    <a:p>
                      <a:pPr algn="l"/>
                      <a:r>
                        <a:rPr sz="900" b="1" dirty="0">
                          <a:solidFill>
                            <a:schemeClr val="tx1"/>
                          </a:solidFill>
                          <a:latin typeface="맑은 고딕"/>
                          <a:ea typeface="맑은 고딕"/>
                        </a:rPr>
                        <a:t>0.1% &lt; 하락 ≤ 0.3%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r>
                        <a:rPr lang="ko-KR" altLang="en-US" sz="900" b="1" dirty="0">
                          <a:solidFill>
                            <a:srgbClr val="000000"/>
                          </a:solidFill>
                          <a:latin typeface="맑은 고딕"/>
                          <a:ea typeface="맑은 고딕"/>
                        </a:rPr>
                        <a:t>★1과 ★3의 </a:t>
                      </a:r>
                      <a:r>
                        <a:rPr lang="ko-KR" altLang="en-US" sz="900" b="1" dirty="0" smtClean="0">
                          <a:solidFill>
                            <a:srgbClr val="000000"/>
                          </a:solidFill>
                          <a:latin typeface="맑은 고딕"/>
                          <a:ea typeface="맑은 고딕"/>
                        </a:rPr>
                        <a:t>중점</a:t>
                      </a:r>
                      <a:endParaRPr lang="en-US" sz="9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FF2CC"/>
                    </a:solidFill>
                  </a:tcPr>
                </a:tc>
                <a:tc>
                  <a:txBody>
                    <a:bodyPr/>
                    <a:lstStyle/>
                    <a:p>
                      <a:pPr algn="l">
                        <a:lnSpc>
                          <a:spcPct val="125000"/>
                        </a:lnSpc>
                      </a:pP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566984">
                <a:tc>
                  <a:txBody>
                    <a:bodyPr/>
                    <a:lstStyle/>
                    <a:p>
                      <a:pPr algn="ctr">
                        <a:lnSpc>
                          <a:spcPct val="125000"/>
                        </a:lnSpc>
                      </a:pPr>
                      <a:r>
                        <a:rPr sz="900" b="1" dirty="0">
                          <a:solidFill>
                            <a:srgbClr val="000000"/>
                          </a:solidFill>
                          <a:latin typeface="맑은 고딕"/>
                          <a:ea typeface="맑은 고딕"/>
                        </a:rPr>
                        <a:t>★ 1</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FBE0D6"/>
                    </a:solidFill>
                  </a:tcPr>
                </a:tc>
                <a:tc>
                  <a:txBody>
                    <a:bodyPr/>
                    <a:lstStyle/>
                    <a:p>
                      <a:pPr algn="l"/>
                      <a:r>
                        <a:rPr sz="900" b="1" dirty="0">
                          <a:solidFill>
                            <a:srgbClr val="000000"/>
                          </a:solidFill>
                          <a:latin typeface="맑은 고딕"/>
                          <a:ea typeface="맑은 고딕"/>
                        </a:rPr>
                        <a:t>0.3% &lt; 하락 ≤ 1%  (최소)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a:lstStyle/>
                    <a:p>
                      <a:pPr algn="l">
                        <a:lnSpc>
                          <a:spcPct val="125000"/>
                        </a:lnSpc>
                      </a:pPr>
                      <a:r>
                        <a:rPr sz="900" b="1" dirty="0" err="1" smtClean="0">
                          <a:solidFill>
                            <a:srgbClr val="000000"/>
                          </a:solidFill>
                          <a:latin typeface="맑은 고딕"/>
                          <a:ea typeface="맑은 고딕"/>
                        </a:rPr>
                        <a:t>MLPerf</a:t>
                      </a:r>
                      <a:r>
                        <a:rPr sz="900" b="1" dirty="0" smtClean="0">
                          <a:solidFill>
                            <a:srgbClr val="000000"/>
                          </a:solidFill>
                          <a:latin typeface="맑은 고딕"/>
                          <a:ea typeface="맑은 고딕"/>
                        </a:rPr>
                        <a:t> </a:t>
                      </a:r>
                      <a:r>
                        <a:rPr sz="900" b="1" dirty="0">
                          <a:solidFill>
                            <a:srgbClr val="000000"/>
                          </a:solidFill>
                          <a:latin typeface="맑은 고딕"/>
                          <a:ea typeface="맑은 고딕"/>
                        </a:rPr>
                        <a:t>Inference의 99% 정확도 tier. </a:t>
                      </a:r>
                      <a:endParaRPr lang="en-US" sz="900" b="1" dirty="0" smtClean="0">
                        <a:solidFill>
                          <a:srgbClr val="000000"/>
                        </a:solidFill>
                        <a:latin typeface="맑은 고딕"/>
                        <a:ea typeface="맑은 고딕"/>
                      </a:endParaRPr>
                    </a:p>
                    <a:p>
                      <a:pPr algn="l">
                        <a:lnSpc>
                          <a:spcPct val="125000"/>
                        </a:lnSpc>
                      </a:pPr>
                      <a:r>
                        <a:rPr lang="en-US" sz="900" b="1" dirty="0" smtClean="0">
                          <a:solidFill>
                            <a:srgbClr val="000000"/>
                          </a:solidFill>
                          <a:latin typeface="맑은 고딕"/>
                          <a:ea typeface="맑은 고딕"/>
                        </a:rPr>
                        <a:t>-</a:t>
                      </a:r>
                      <a:r>
                        <a:rPr lang="en-US" sz="900" b="1" baseline="0" dirty="0" smtClean="0">
                          <a:solidFill>
                            <a:srgbClr val="000000"/>
                          </a:solidFill>
                          <a:latin typeface="맑은 고딕"/>
                          <a:ea typeface="맑은 고딕"/>
                        </a:rPr>
                        <a:t> </a:t>
                      </a:r>
                      <a:r>
                        <a:rPr sz="900" b="1" dirty="0" smtClean="0">
                          <a:solidFill>
                            <a:srgbClr val="000000"/>
                          </a:solidFill>
                          <a:latin typeface="맑은 고딕"/>
                          <a:ea typeface="맑은 고딕"/>
                        </a:rPr>
                        <a:t>LLM </a:t>
                      </a:r>
                      <a:r>
                        <a:rPr sz="900" b="1" dirty="0" err="1">
                          <a:solidFill>
                            <a:srgbClr val="000000"/>
                          </a:solidFill>
                          <a:latin typeface="맑은 고딕"/>
                          <a:ea typeface="맑은 고딕"/>
                        </a:rPr>
                        <a:t>대부분</a:t>
                      </a:r>
                      <a:r>
                        <a:rPr sz="900" b="1" dirty="0">
                          <a:solidFill>
                            <a:srgbClr val="000000"/>
                          </a:solidFill>
                          <a:latin typeface="맑은 고딕"/>
                          <a:ea typeface="맑은 고딕"/>
                        </a:rPr>
                        <a:t> </a:t>
                      </a:r>
                      <a:r>
                        <a:rPr lang="ko-KR" altLang="en-US" sz="900" b="1" dirty="0" smtClean="0">
                          <a:solidFill>
                            <a:srgbClr val="000000"/>
                          </a:solidFill>
                          <a:latin typeface="맑은 고딕"/>
                          <a:ea typeface="맑은 고딕"/>
                        </a:rPr>
                        <a:t>연구가 </a:t>
                      </a:r>
                      <a:r>
                        <a:rPr lang="en-US" altLang="ko-KR" sz="900" b="1" dirty="0" smtClean="0">
                          <a:solidFill>
                            <a:srgbClr val="000000"/>
                          </a:solidFill>
                          <a:latin typeface="맑은 고딕"/>
                          <a:ea typeface="맑은 고딕"/>
                        </a:rPr>
                        <a:t>1%</a:t>
                      </a:r>
                      <a:r>
                        <a:rPr lang="en-US" altLang="ko-KR" sz="900" b="1" baseline="0" dirty="0" smtClean="0">
                          <a:solidFill>
                            <a:srgbClr val="000000"/>
                          </a:solidFill>
                          <a:latin typeface="맑은 고딕"/>
                          <a:ea typeface="맑은 고딕"/>
                        </a:rPr>
                        <a:t> </a:t>
                      </a:r>
                      <a:r>
                        <a:rPr lang="ko-KR" altLang="en-US" sz="900" b="1" baseline="0" dirty="0" smtClean="0">
                          <a:solidFill>
                            <a:srgbClr val="000000"/>
                          </a:solidFill>
                          <a:latin typeface="맑은 고딕"/>
                          <a:ea typeface="맑은 고딕"/>
                        </a:rPr>
                        <a:t>를 제약사항으로 </a:t>
                      </a:r>
                      <a:r>
                        <a:rPr sz="900" b="1" dirty="0" err="1" smtClean="0">
                          <a:solidFill>
                            <a:srgbClr val="000000"/>
                          </a:solidFill>
                          <a:latin typeface="맑은 고딕"/>
                          <a:ea typeface="맑은 고딕"/>
                        </a:rPr>
                        <a:t>사용</a:t>
                      </a:r>
                      <a:r>
                        <a:rPr lang="en-US" sz="900" b="1" dirty="0" smtClean="0">
                          <a:solidFill>
                            <a:srgbClr val="000000"/>
                          </a:solidFill>
                          <a:latin typeface="맑은 고딕"/>
                          <a:ea typeface="맑은 고딕"/>
                        </a:rPr>
                        <a:t> </a:t>
                      </a:r>
                      <a:r>
                        <a:rPr sz="900" b="1" dirty="0" smtClean="0">
                          <a:solidFill>
                            <a:srgbClr val="000000"/>
                          </a:solidFill>
                          <a:latin typeface="맑은 고딕"/>
                          <a:ea typeface="맑은 고딕"/>
                        </a:rPr>
                        <a:t>(</a:t>
                      </a:r>
                      <a:r>
                        <a:rPr sz="900" b="1" dirty="0">
                          <a:solidFill>
                            <a:srgbClr val="000000"/>
                          </a:solidFill>
                          <a:latin typeface="맑은 고딕"/>
                          <a:ea typeface="맑은 고딕"/>
                        </a:rPr>
                        <a:t>Llama3.1-405B 장문맥 </a:t>
                      </a:r>
                      <a:r>
                        <a:rPr sz="900" b="1" dirty="0" err="1">
                          <a:solidFill>
                            <a:srgbClr val="000000"/>
                          </a:solidFill>
                          <a:latin typeface="맑은 고딕"/>
                          <a:ea typeface="맑은 고딕"/>
                        </a:rPr>
                        <a:t>포함</a:t>
                      </a:r>
                      <a:r>
                        <a:rPr sz="900" b="1" dirty="0" smtClean="0">
                          <a:solidFill>
                            <a:srgbClr val="000000"/>
                          </a:solidFill>
                          <a:latin typeface="맑은 고딕"/>
                          <a:ea typeface="맑은 고딕"/>
                        </a:rPr>
                        <a:t>)</a:t>
                      </a:r>
                      <a:endParaRPr lang="en-US" sz="900" b="1"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FBE0D6"/>
                    </a:solidFill>
                  </a:tcPr>
                </a:tc>
                <a:tc>
                  <a:txBody>
                    <a:bodyPr/>
                    <a:lstStyle/>
                    <a:p>
                      <a:pPr marL="171450" indent="-171450" algn="l">
                        <a:lnSpc>
                          <a:spcPct val="125000"/>
                        </a:lnSpc>
                        <a:buFontTx/>
                        <a:buChar char="-"/>
                      </a:pPr>
                      <a:r>
                        <a:rPr sz="900" b="0" dirty="0" err="1" smtClean="0">
                          <a:solidFill>
                            <a:srgbClr val="000000"/>
                          </a:solidFill>
                          <a:latin typeface="맑은 고딕"/>
                          <a:ea typeface="맑은 고딕"/>
                        </a:rPr>
                        <a:t>MLPerf</a:t>
                      </a:r>
                      <a:r>
                        <a:rPr sz="900" b="0" dirty="0" smtClean="0">
                          <a:solidFill>
                            <a:srgbClr val="000000"/>
                          </a:solidFill>
                          <a:latin typeface="맑은 고딕"/>
                          <a:ea typeface="맑은 고딕"/>
                        </a:rPr>
                        <a:t> </a:t>
                      </a:r>
                      <a:r>
                        <a:rPr sz="900" b="0" dirty="0">
                          <a:solidFill>
                            <a:srgbClr val="000000"/>
                          </a:solidFill>
                          <a:latin typeface="맑은 고딕"/>
                          <a:ea typeface="맑은 고딕"/>
                        </a:rPr>
                        <a:t>Inference </a:t>
                      </a:r>
                      <a:r>
                        <a:rPr sz="900" b="0" dirty="0" smtClean="0">
                          <a:solidFill>
                            <a:srgbClr val="000000"/>
                          </a:solidFill>
                          <a:latin typeface="맑은 고딕"/>
                          <a:ea typeface="맑은 고딕"/>
                        </a:rPr>
                        <a:t>Rules</a:t>
                      </a:r>
                      <a:endParaRPr lang="en-US" sz="900" b="0" dirty="0" smtClean="0">
                        <a:solidFill>
                          <a:srgbClr val="000000"/>
                        </a:solidFill>
                        <a:latin typeface="맑은 고딕"/>
                        <a:ea typeface="맑은 고딕"/>
                      </a:endParaRPr>
                    </a:p>
                    <a:p>
                      <a:pPr marL="171450" indent="-171450" algn="l">
                        <a:lnSpc>
                          <a:spcPct val="125000"/>
                        </a:lnSpc>
                        <a:buFontTx/>
                        <a:buChar char="-"/>
                      </a:pPr>
                      <a:r>
                        <a:rPr lang="ko-KR" altLang="en-US" sz="900" b="0" dirty="0" smtClean="0">
                          <a:solidFill>
                            <a:srgbClr val="000000"/>
                          </a:solidFill>
                          <a:latin typeface="맑은 고딕"/>
                          <a:ea typeface="맑은 고딕"/>
                        </a:rPr>
                        <a:t>문헌 근거 </a:t>
                      </a:r>
                      <a:r>
                        <a:rPr lang="en-US" altLang="ko-KR" sz="900" b="0" dirty="0" smtClean="0">
                          <a:solidFill>
                            <a:srgbClr val="000000"/>
                          </a:solidFill>
                          <a:latin typeface="맑은 고딕"/>
                          <a:ea typeface="맑은 고딕"/>
                        </a:rPr>
                        <a:t>(</a:t>
                      </a:r>
                      <a:r>
                        <a:rPr sz="900" b="0" dirty="0" smtClean="0">
                          <a:solidFill>
                            <a:srgbClr val="000000"/>
                          </a:solidFill>
                          <a:latin typeface="맑은 고딕"/>
                          <a:ea typeface="맑은 고딕"/>
                        </a:rPr>
                        <a:t>Give </a:t>
                      </a:r>
                      <a:r>
                        <a:rPr sz="900" b="0" dirty="0">
                          <a:solidFill>
                            <a:srgbClr val="000000"/>
                          </a:solidFill>
                          <a:latin typeface="맑은 고딕"/>
                          <a:ea typeface="맑은 고딕"/>
                        </a:rPr>
                        <a:t>Me </a:t>
                      </a:r>
                      <a:r>
                        <a:rPr sz="900" b="0" dirty="0" smtClean="0">
                          <a:solidFill>
                            <a:srgbClr val="000000"/>
                          </a:solidFill>
                          <a:latin typeface="맑은 고딕"/>
                          <a:ea typeface="맑은 고딕"/>
                        </a:rPr>
                        <a:t>BF16, </a:t>
                      </a:r>
                      <a:r>
                        <a:rPr sz="900" b="0" dirty="0" err="1" smtClean="0">
                          <a:solidFill>
                            <a:srgbClr val="000000"/>
                          </a:solidFill>
                          <a:latin typeface="맑은 고딕"/>
                          <a:ea typeface="맑은 고딕"/>
                        </a:rPr>
                        <a:t>FastKV</a:t>
                      </a:r>
                      <a:r>
                        <a:rPr sz="900" b="0" dirty="0" smtClean="0">
                          <a:solidFill>
                            <a:srgbClr val="000000"/>
                          </a:solidFill>
                          <a:latin typeface="맑은 고딕"/>
                          <a:ea typeface="맑은 고딕"/>
                        </a:rPr>
                        <a:t>)</a:t>
                      </a:r>
                      <a:endParaRPr lang="en-US"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extLst>
                  <a:ext uri="{0D108BD9-81ED-4DB2-BD59-A6C34878D82A}">
                    <a16:rowId xmlns:a16="http://schemas.microsoft.com/office/drawing/2014/main" val="10005"/>
                  </a:ext>
                </a:extLst>
              </a:tr>
              <a:tr h="640939">
                <a:tc>
                  <a:txBody>
                    <a:bodyPr/>
                    <a:lstStyle/>
                    <a:p>
                      <a:pPr algn="ctr"/>
                      <a:r>
                        <a:rPr sz="900" b="1">
                          <a:solidFill>
                            <a:srgbClr val="000000"/>
                          </a:solidFill>
                          <a:latin typeface="맑은 고딕"/>
                          <a:ea typeface="맑은 고딕"/>
                        </a:rPr>
                        <a:t>미충족</a:t>
                      </a: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a:solidFill>
                        <a:srgbClr val="BFBFBF"/>
                      </a:solidFill>
                    </a:lnB>
                    <a:solidFill>
                      <a:srgbClr val="EDEDED"/>
                    </a:solidFill>
                  </a:tcPr>
                </a:tc>
                <a:tc>
                  <a:txBody>
                    <a:bodyPr/>
                    <a:lstStyle/>
                    <a:p>
                      <a:pPr algn="l"/>
                      <a:r>
                        <a:rPr sz="900" b="0" dirty="0">
                          <a:solidFill>
                            <a:srgbClr val="000000"/>
                          </a:solidFill>
                          <a:latin typeface="맑은 고딕"/>
                          <a:ea typeface="맑은 고딕"/>
                        </a:rPr>
                        <a:t>하락 &gt;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900" b="0" dirty="0">
                          <a:solidFill>
                            <a:srgbClr val="000000"/>
                          </a:solidFill>
                          <a:latin typeface="맑은 고딕"/>
                          <a:ea typeface="맑은 고딕"/>
                        </a:rPr>
                        <a:t>99% 기준을 넘는 손실. 잡음이 큰 과제(RAG LLM judge ±3%, agent)와 KVServe·EVICPRESS는 97%(하락 3%)를 쓰나 본 기준은 채택하지 않음</a:t>
                      </a:r>
                    </a:p>
                    <a:p>
                      <a:pPr algn="l"/>
                      <a:r>
                        <a:rPr sz="900" b="0" dirty="0">
                          <a:solidFill>
                            <a:srgbClr val="000000"/>
                          </a:solidFill>
                          <a:latin typeface="맑은 고딕"/>
                          <a:ea typeface="맑은 고딕"/>
                        </a:rPr>
                        <a:t>관측값: KIVI task 최악 5.3%, DuoAttention Multi-News 13.9% (task 하나의 큰 손실이 평균에 가려짐)</a:t>
                      </a: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a:solidFill>
                        <a:srgbClr val="BFBFBF"/>
                      </a:solidFill>
                    </a:lnB>
                    <a:solidFill>
                      <a:srgbClr val="EDEDED"/>
                    </a:solidFill>
                  </a:tcPr>
                </a:tc>
                <a:tc>
                  <a:txBody>
                    <a:bodyPr/>
                    <a:lstStyle/>
                    <a:p>
                      <a:pPr algn="l"/>
                      <a:r>
                        <a:rPr sz="900" b="0" dirty="0">
                          <a:solidFill>
                            <a:srgbClr val="000000"/>
                          </a:solidFill>
                          <a:latin typeface="맑은 고딕"/>
                          <a:ea typeface="맑은 고딕"/>
                        </a:rPr>
                        <a:t>MLPerf Inference Rules, KVServe (2605.13734), EVICPRESS (2512.14946)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extLst>
                  <a:ext uri="{0D108BD9-81ED-4DB2-BD59-A6C34878D82A}">
                    <a16:rowId xmlns:a16="http://schemas.microsoft.com/office/drawing/2014/main" val="10006"/>
                  </a:ext>
                </a:extLst>
              </a:tr>
            </a:tbl>
          </a:graphicData>
        </a:graphic>
      </p:graphicFrame>
      <p:sp>
        <p:nvSpPr>
          <p:cNvPr id="75" name="TextBox 74">
            <a:extLst>
              <a:ext uri="{FF2B5EF4-FFF2-40B4-BE49-F238E27FC236}">
                <a16:creationId xmlns:a16="http://schemas.microsoft.com/office/drawing/2014/main" id="{6458D367-E7E3-4015-B7C9-744AAAFDB247}"/>
              </a:ext>
            </a:extLst>
          </p:cNvPr>
          <p:cNvSpPr txBox="1"/>
          <p:nvPr/>
        </p:nvSpPr>
        <p:spPr>
          <a:xfrm>
            <a:off x="365760" y="4139840"/>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구간</a:t>
            </a:r>
            <a:r>
              <a:rPr sz="950" b="1" dirty="0">
                <a:solidFill>
                  <a:srgbClr val="2F5597"/>
                </a:solidFill>
                <a:latin typeface="맑은 고딕"/>
                <a:ea typeface="맑은 고딕"/>
              </a:rPr>
              <a:t> </a:t>
            </a:r>
            <a:r>
              <a:rPr sz="950" b="1" dirty="0" err="1">
                <a:solidFill>
                  <a:srgbClr val="2F5597"/>
                </a:solidFill>
                <a:latin typeface="맑은 고딕"/>
                <a:ea typeface="맑은 고딕"/>
              </a:rPr>
              <a:t>대비</a:t>
            </a:r>
            <a:r>
              <a:rPr sz="950" b="1" dirty="0">
                <a:solidFill>
                  <a:srgbClr val="2F5597"/>
                </a:solidFill>
                <a:latin typeface="맑은 고딕"/>
                <a:ea typeface="맑은 고딕"/>
              </a:rPr>
              <a:t> </a:t>
            </a:r>
            <a:r>
              <a:rPr sz="950" b="1" dirty="0" err="1">
                <a:solidFill>
                  <a:srgbClr val="2F5597"/>
                </a:solidFill>
                <a:latin typeface="맑은 고딕"/>
                <a:ea typeface="맑은 고딕"/>
              </a:rPr>
              <a:t>근거</a:t>
            </a:r>
            <a:r>
              <a:rPr sz="950" b="1" dirty="0">
                <a:solidFill>
                  <a:srgbClr val="2F5597"/>
                </a:solidFill>
                <a:latin typeface="맑은 고딕"/>
                <a:ea typeface="맑은 고딕"/>
              </a:rPr>
              <a:t> </a:t>
            </a:r>
            <a:r>
              <a:rPr sz="950" b="1" dirty="0" err="1">
                <a:solidFill>
                  <a:srgbClr val="2F5597"/>
                </a:solidFill>
                <a:latin typeface="맑은 고딕"/>
                <a:ea typeface="맑은 고딕"/>
              </a:rPr>
              <a:t>위치</a:t>
            </a:r>
            <a:r>
              <a:rPr sz="950" b="1" dirty="0">
                <a:solidFill>
                  <a:srgbClr val="2F5597"/>
                </a:solidFill>
                <a:latin typeface="맑은 고딕"/>
                <a:ea typeface="맑은 고딕"/>
              </a:rPr>
              <a:t> (F1 </a:t>
            </a:r>
            <a:r>
              <a:rPr sz="950" b="1" dirty="0" err="1">
                <a:solidFill>
                  <a:srgbClr val="2F5597"/>
                </a:solidFill>
                <a:latin typeface="맑은 고딕"/>
                <a:ea typeface="맑은 고딕"/>
              </a:rPr>
              <a:t>상대</a:t>
            </a:r>
            <a:r>
              <a:rPr sz="950" b="1" dirty="0">
                <a:solidFill>
                  <a:srgbClr val="2F5597"/>
                </a:solidFill>
                <a:latin typeface="맑은 고딕"/>
                <a:ea typeface="맑은 고딕"/>
              </a:rPr>
              <a:t> </a:t>
            </a:r>
            <a:r>
              <a:rPr sz="950" b="1" dirty="0" err="1">
                <a:solidFill>
                  <a:srgbClr val="2F5597"/>
                </a:solidFill>
                <a:latin typeface="맑은 고딕"/>
                <a:ea typeface="맑은 고딕"/>
              </a:rPr>
              <a:t>하락</a:t>
            </a:r>
            <a:r>
              <a:rPr sz="950" b="1" dirty="0">
                <a:solidFill>
                  <a:srgbClr val="2F5597"/>
                </a:solidFill>
                <a:latin typeface="맑은 고딕"/>
                <a:ea typeface="맑은 고딕"/>
              </a:rPr>
              <a:t> </a:t>
            </a:r>
            <a:r>
              <a:rPr sz="950" b="1" dirty="0" smtClean="0">
                <a:solidFill>
                  <a:srgbClr val="2F5597"/>
                </a:solidFill>
                <a:latin typeface="맑은 고딕"/>
                <a:ea typeface="맑은 고딕"/>
              </a:rPr>
              <a:t>%</a:t>
            </a:r>
            <a:r>
              <a:rPr lang="en-US" sz="950" b="1" dirty="0" smtClean="0">
                <a:solidFill>
                  <a:srgbClr val="2F5597"/>
                </a:solidFill>
                <a:latin typeface="맑은 고딕"/>
                <a:ea typeface="맑은 고딕"/>
              </a:rPr>
              <a:t>)</a:t>
            </a:r>
            <a:endParaRPr sz="950" b="1" dirty="0">
              <a:solidFill>
                <a:srgbClr val="2F5597"/>
              </a:solidFill>
              <a:latin typeface="맑은 고딕"/>
              <a:ea typeface="맑은 고딕"/>
            </a:endParaRPr>
          </a:p>
        </p:txBody>
      </p:sp>
      <p:sp>
        <p:nvSpPr>
          <p:cNvPr id="900" name="qa5-900"/>
          <p:cNvSpPr/>
          <p:nvPr/>
        </p:nvSpPr>
        <p:spPr>
          <a:xfrm>
            <a:off x="411480" y="4393368"/>
            <a:ext cx="1311747"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1" name="qa5-901"/>
          <p:cNvSpPr txBox="1"/>
          <p:nvPr/>
        </p:nvSpPr>
        <p:spPr>
          <a:xfrm>
            <a:off x="411480" y="4393368"/>
            <a:ext cx="131174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902" name="qa5-902"/>
          <p:cNvSpPr/>
          <p:nvPr/>
        </p:nvSpPr>
        <p:spPr>
          <a:xfrm>
            <a:off x="1723227" y="4393368"/>
            <a:ext cx="2079071"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3" name="qa5-903"/>
          <p:cNvSpPr txBox="1"/>
          <p:nvPr/>
        </p:nvSpPr>
        <p:spPr>
          <a:xfrm>
            <a:off x="1723227" y="4393368"/>
            <a:ext cx="207907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904" name="qa5-904"/>
          <p:cNvSpPr/>
          <p:nvPr/>
        </p:nvSpPr>
        <p:spPr>
          <a:xfrm>
            <a:off x="3802298" y="4393368"/>
            <a:ext cx="2278461"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5" name="qa5-905"/>
          <p:cNvSpPr txBox="1"/>
          <p:nvPr/>
        </p:nvSpPr>
        <p:spPr>
          <a:xfrm>
            <a:off x="3802298" y="4393368"/>
            <a:ext cx="227846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906" name="qa5-906"/>
          <p:cNvSpPr/>
          <p:nvPr/>
        </p:nvSpPr>
        <p:spPr>
          <a:xfrm>
            <a:off x="6080759" y="4393368"/>
            <a:ext cx="5669280"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7" name="qa5-907"/>
          <p:cNvSpPr txBox="1"/>
          <p:nvPr/>
        </p:nvSpPr>
        <p:spPr>
          <a:xfrm>
            <a:off x="6080759" y="4393368"/>
            <a:ext cx="566928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908" name="qa5-908"/>
          <p:cNvSpPr txBox="1"/>
          <p:nvPr/>
        </p:nvSpPr>
        <p:spPr>
          <a:xfrm>
            <a:off x="9144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≤0.05%</a:t>
            </a:r>
          </a:p>
        </p:txBody>
      </p:sp>
      <p:sp>
        <p:nvSpPr>
          <p:cNvPr id="909" name="qa5-909"/>
          <p:cNvSpPr txBox="1"/>
          <p:nvPr/>
        </p:nvSpPr>
        <p:spPr>
          <a:xfrm>
            <a:off x="1403187"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0.1%</a:t>
            </a:r>
          </a:p>
        </p:txBody>
      </p:sp>
      <p:sp>
        <p:nvSpPr>
          <p:cNvPr id="910" name="qa5-910"/>
          <p:cNvSpPr txBox="1"/>
          <p:nvPr/>
        </p:nvSpPr>
        <p:spPr>
          <a:xfrm>
            <a:off x="3482258"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0.3%</a:t>
            </a:r>
          </a:p>
        </p:txBody>
      </p:sp>
      <p:sp>
        <p:nvSpPr>
          <p:cNvPr id="911" name="qa5-911"/>
          <p:cNvSpPr txBox="1"/>
          <p:nvPr/>
        </p:nvSpPr>
        <p:spPr>
          <a:xfrm>
            <a:off x="576071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912" name="qa5-912"/>
          <p:cNvSpPr txBox="1"/>
          <p:nvPr/>
        </p:nvSpPr>
        <p:spPr>
          <a:xfrm>
            <a:off x="783979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913" name="qa5-913"/>
          <p:cNvSpPr txBox="1"/>
          <p:nvPr/>
        </p:nvSpPr>
        <p:spPr>
          <a:xfrm>
            <a:off x="10118251"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10%</a:t>
            </a:r>
          </a:p>
        </p:txBody>
      </p:sp>
      <p:sp>
        <p:nvSpPr>
          <p:cNvPr id="914" name="qa5-914"/>
          <p:cNvSpPr txBox="1"/>
          <p:nvPr/>
        </p:nvSpPr>
        <p:spPr>
          <a:xfrm>
            <a:off x="1142999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20%</a:t>
            </a:r>
          </a:p>
        </p:txBody>
      </p:sp>
      <p:cxnSp>
        <p:nvCxnSpPr>
          <p:cNvPr id="915" name="qa5-915"/>
          <p:cNvCxnSpPr/>
          <p:nvPr/>
        </p:nvCxnSpPr>
        <p:spPr>
          <a:xfrm>
            <a:off x="1723227"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16" name="qa5-916"/>
          <p:cNvCxnSpPr/>
          <p:nvPr/>
        </p:nvCxnSpPr>
        <p:spPr>
          <a:xfrm>
            <a:off x="3802298"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17" name="qa5-917"/>
          <p:cNvCxnSpPr/>
          <p:nvPr/>
        </p:nvCxnSpPr>
        <p:spPr>
          <a:xfrm>
            <a:off x="6080759"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18" name="qa5-918"/>
          <p:cNvSpPr/>
          <p:nvPr/>
        </p:nvSpPr>
        <p:spPr>
          <a:xfrm>
            <a:off x="1663791" y="4790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9" name="qa5-919"/>
          <p:cNvSpPr txBox="1"/>
          <p:nvPr/>
        </p:nvSpPr>
        <p:spPr>
          <a:xfrm>
            <a:off x="1853227" y="4797678"/>
            <a:ext cx="5772000" cy="104644"/>
          </a:xfrm>
          <a:prstGeom prst="rect">
            <a:avLst/>
          </a:prstGeom>
          <a:noFill/>
        </p:spPr>
        <p:txBody>
          <a:bodyPr wrap="square" lIns="0" tIns="0" rIns="0" bIns="0" anchor="ctr">
            <a:spAutoFit/>
          </a:bodyPr>
          <a:lstStyle/>
          <a:p>
            <a:pPr algn="l">
              <a:spcAft>
                <a:spcPts val="0"/>
              </a:spcAft>
            </a:pPr>
            <a:r>
              <a:rPr sz="680" b="0">
                <a:solidFill>
                  <a:srgbClr val="C00000"/>
                </a:solidFill>
                <a:latin typeface="맑은 고딕"/>
                <a:ea typeface="맑은 고딕"/>
              </a:rPr>
              <a:t>MLPerf Inference 99.9% tier(Llama2-70b 등): reference의 99.9% 이상 (하락 ≤ 0.1%)</a:t>
            </a:r>
          </a:p>
        </p:txBody>
      </p:sp>
      <p:sp>
        <p:nvSpPr>
          <p:cNvPr id="920" name="qa5-920"/>
          <p:cNvSpPr/>
          <p:nvPr/>
        </p:nvSpPr>
        <p:spPr>
          <a:xfrm>
            <a:off x="6021323" y="4938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 name="qa5-921"/>
          <p:cNvSpPr txBox="1"/>
          <p:nvPr/>
        </p:nvSpPr>
        <p:spPr>
          <a:xfrm>
            <a:off x="6210759" y="4945678"/>
            <a:ext cx="4992000" cy="104644"/>
          </a:xfrm>
          <a:prstGeom prst="rect">
            <a:avLst/>
          </a:prstGeom>
          <a:noFill/>
        </p:spPr>
        <p:txBody>
          <a:bodyPr wrap="square" lIns="0" tIns="0" rIns="0" bIns="0" anchor="ctr">
            <a:spAutoFit/>
          </a:bodyPr>
          <a:lstStyle/>
          <a:p>
            <a:pPr algn="l">
              <a:spcAft>
                <a:spcPts val="0"/>
              </a:spcAft>
            </a:pPr>
            <a:r>
              <a:rPr sz="680" b="0">
                <a:solidFill>
                  <a:srgbClr val="C00000"/>
                </a:solidFill>
                <a:latin typeface="맑은 고딕"/>
                <a:ea typeface="맑은 고딕"/>
              </a:rPr>
              <a:t>MLPerf Inference 99% tier: LLM 행 대부분 reference의 99% 이상 (하락 ≤ 1%)</a:t>
            </a:r>
          </a:p>
        </p:txBody>
      </p:sp>
      <p:sp>
        <p:nvSpPr>
          <p:cNvPr id="922" name="qa5-922"/>
          <p:cNvSpPr/>
          <p:nvPr/>
        </p:nvSpPr>
        <p:spPr>
          <a:xfrm>
            <a:off x="8100394" y="5086564"/>
            <a:ext cx="118872" cy="118872"/>
          </a:xfrm>
          <a:prstGeom prst="diamond">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3" name="qa5-923"/>
          <p:cNvSpPr txBox="1"/>
          <p:nvPr/>
        </p:nvSpPr>
        <p:spPr>
          <a:xfrm>
            <a:off x="8289830" y="5093678"/>
            <a:ext cx="3660170" cy="104644"/>
          </a:xfrm>
          <a:prstGeom prst="rect">
            <a:avLst/>
          </a:prstGeom>
          <a:noFill/>
        </p:spPr>
        <p:txBody>
          <a:bodyPr wrap="square" lIns="0" tIns="0" rIns="0" bIns="0" anchor="ctr">
            <a:spAutoFit/>
          </a:bodyPr>
          <a:lstStyle/>
          <a:p>
            <a:pPr algn="l">
              <a:spcAft>
                <a:spcPts val="0"/>
              </a:spcAft>
            </a:pPr>
            <a:r>
              <a:rPr sz="680" b="0">
                <a:solidFill>
                  <a:srgbClr val="7F7F7F"/>
                </a:solidFill>
                <a:latin typeface="맑은 고딕"/>
                <a:ea typeface="맑은 고딕"/>
              </a:rPr>
              <a:t>완화 기준(미채택): MLPerf RAG·agent 97% · KVServe 97% 제약 · EVICPRESS 3% 허용</a:t>
            </a:r>
          </a:p>
        </p:txBody>
      </p:sp>
      <p:sp>
        <p:nvSpPr>
          <p:cNvPr id="924" name="qa5-924"/>
          <p:cNvSpPr/>
          <p:nvPr/>
        </p:nvSpPr>
        <p:spPr>
          <a:xfrm>
            <a:off x="411480" y="5257424"/>
            <a:ext cx="5669279"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5" name="qa5-925"/>
          <p:cNvCxnSpPr/>
          <p:nvPr/>
        </p:nvCxnSpPr>
        <p:spPr>
          <a:xfrm>
            <a:off x="411480" y="5229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26" name="qa5-926"/>
          <p:cNvCxnSpPr/>
          <p:nvPr/>
        </p:nvCxnSpPr>
        <p:spPr>
          <a:xfrm>
            <a:off x="6080759" y="5229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27" name="qa5-927"/>
          <p:cNvSpPr txBox="1"/>
          <p:nvPr/>
        </p:nvSpPr>
        <p:spPr>
          <a:xfrm>
            <a:off x="6150759" y="5241678"/>
            <a:ext cx="3276000" cy="104644"/>
          </a:xfrm>
          <a:prstGeom prst="rect">
            <a:avLst/>
          </a:prstGeom>
          <a:noFill/>
        </p:spPr>
        <p:txBody>
          <a:bodyPr wrap="square" lIns="0" tIns="0" rIns="0" bIns="0" anchor="ctr">
            <a:spAutoFit/>
          </a:bodyPr>
          <a:lstStyle/>
          <a:p>
            <a:pPr algn="l">
              <a:spcAft>
                <a:spcPts val="0"/>
              </a:spcAft>
            </a:pPr>
            <a:r>
              <a:rPr sz="680" b="0" dirty="0" err="1">
                <a:solidFill>
                  <a:srgbClr val="2F5597"/>
                </a:solidFill>
                <a:latin typeface="맑은 고딕"/>
                <a:ea typeface="맑은 고딕"/>
              </a:rPr>
              <a:t>FastKV</a:t>
            </a:r>
            <a:r>
              <a:rPr sz="680" b="0" dirty="0">
                <a:solidFill>
                  <a:srgbClr val="2F5597"/>
                </a:solidFill>
                <a:latin typeface="맑은 고딕"/>
                <a:ea typeface="맑은 고딕"/>
              </a:rPr>
              <a:t>: </a:t>
            </a:r>
            <a:r>
              <a:rPr sz="680" b="0" dirty="0" err="1">
                <a:solidFill>
                  <a:srgbClr val="2F5597"/>
                </a:solidFill>
                <a:latin typeface="맑은 고딕"/>
                <a:ea typeface="맑은 고딕"/>
              </a:rPr>
              <a:t>평균</a:t>
            </a:r>
            <a:r>
              <a:rPr sz="680" b="0" dirty="0">
                <a:solidFill>
                  <a:srgbClr val="2F5597"/>
                </a:solidFill>
                <a:latin typeface="맑은 고딕"/>
                <a:ea typeface="맑은 고딕"/>
              </a:rPr>
              <a:t> </a:t>
            </a:r>
            <a:r>
              <a:rPr sz="680" b="0" dirty="0" err="1">
                <a:solidFill>
                  <a:srgbClr val="2F5597"/>
                </a:solidFill>
                <a:latin typeface="맑은 고딕"/>
                <a:ea typeface="맑은 고딕"/>
              </a:rPr>
              <a:t>하락</a:t>
            </a:r>
            <a:r>
              <a:rPr sz="680" b="0" dirty="0">
                <a:solidFill>
                  <a:srgbClr val="2F5597"/>
                </a:solidFill>
                <a:latin typeface="맑은 고딕"/>
                <a:ea typeface="맑은 고딕"/>
              </a:rPr>
              <a:t> &lt; 1% </a:t>
            </a:r>
            <a:r>
              <a:rPr sz="680" b="0" dirty="0" err="1">
                <a:solidFill>
                  <a:srgbClr val="2F5597"/>
                </a:solidFill>
                <a:latin typeface="맑은 고딕"/>
                <a:ea typeface="맑은 고딕"/>
              </a:rPr>
              <a:t>에서</a:t>
            </a:r>
            <a:r>
              <a:rPr sz="680" b="0" dirty="0">
                <a:solidFill>
                  <a:srgbClr val="2F5597"/>
                </a:solidFill>
                <a:latin typeface="맑은 고딕"/>
                <a:ea typeface="맑은 고딕"/>
              </a:rPr>
              <a:t> </a:t>
            </a:r>
            <a:r>
              <a:rPr sz="680" b="0" dirty="0" err="1">
                <a:solidFill>
                  <a:srgbClr val="2F5597"/>
                </a:solidFill>
                <a:latin typeface="맑은 고딕"/>
                <a:ea typeface="맑은 고딕"/>
              </a:rPr>
              <a:t>처리량</a:t>
            </a:r>
            <a:r>
              <a:rPr sz="680" b="0" dirty="0">
                <a:solidFill>
                  <a:srgbClr val="2F5597"/>
                </a:solidFill>
                <a:latin typeface="맑은 고딕"/>
                <a:ea typeface="맑은 고딕"/>
              </a:rPr>
              <a:t> </a:t>
            </a:r>
            <a:r>
              <a:rPr sz="680" b="0" dirty="0" err="1">
                <a:solidFill>
                  <a:srgbClr val="2F5597"/>
                </a:solidFill>
                <a:latin typeface="맑은 고딕"/>
                <a:ea typeface="맑은 고딕"/>
              </a:rPr>
              <a:t>최대</a:t>
            </a:r>
            <a:r>
              <a:rPr sz="680" b="0" dirty="0">
                <a:solidFill>
                  <a:srgbClr val="2F5597"/>
                </a:solidFill>
                <a:latin typeface="맑은 고딕"/>
                <a:ea typeface="맑은 고딕"/>
              </a:rPr>
              <a:t> 4.82× (up to)</a:t>
            </a:r>
          </a:p>
        </p:txBody>
      </p:sp>
      <p:sp>
        <p:nvSpPr>
          <p:cNvPr id="928" name="qa5-928"/>
          <p:cNvSpPr/>
          <p:nvPr/>
        </p:nvSpPr>
        <p:spPr>
          <a:xfrm>
            <a:off x="411480" y="5405424"/>
            <a:ext cx="1311747"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9" name="qa5-929"/>
          <p:cNvCxnSpPr/>
          <p:nvPr/>
        </p:nvCxnSpPr>
        <p:spPr>
          <a:xfrm>
            <a:off x="411480" y="5377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30" name="qa5-930"/>
          <p:cNvCxnSpPr/>
          <p:nvPr/>
        </p:nvCxnSpPr>
        <p:spPr>
          <a:xfrm>
            <a:off x="1723227" y="5377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31" name="qa5-931"/>
          <p:cNvSpPr txBox="1"/>
          <p:nvPr/>
        </p:nvSpPr>
        <p:spPr>
          <a:xfrm>
            <a:off x="1793227" y="5389678"/>
            <a:ext cx="4524000" cy="104644"/>
          </a:xfrm>
          <a:prstGeom prst="rect">
            <a:avLst/>
          </a:prstGeom>
          <a:noFill/>
        </p:spPr>
        <p:txBody>
          <a:bodyPr wrap="square" lIns="0" tIns="0" rIns="0" bIns="0" anchor="ctr">
            <a:spAutoFit/>
          </a:bodyPr>
          <a:lstStyle/>
          <a:p>
            <a:pPr algn="l">
              <a:spcAft>
                <a:spcPts val="0"/>
              </a:spcAft>
            </a:pPr>
            <a:r>
              <a:rPr sz="680" b="0">
                <a:solidFill>
                  <a:srgbClr val="2F5597"/>
                </a:solidFill>
                <a:latin typeface="맑은 고딕"/>
                <a:ea typeface="맑은 고딕"/>
              </a:rPr>
              <a:t>CacheGen: F1 하락 &lt; 0.1% (accuracy 하락은 ≤ 2%), 지연 3.1~4.7× 감소</a:t>
            </a:r>
          </a:p>
        </p:txBody>
      </p:sp>
      <p:sp>
        <p:nvSpPr>
          <p:cNvPr id="932" name="qa5-932"/>
          <p:cNvSpPr/>
          <p:nvPr/>
        </p:nvSpPr>
        <p:spPr>
          <a:xfrm>
            <a:off x="3457263" y="5553424"/>
            <a:ext cx="4776790"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3" name="qa5-933"/>
          <p:cNvCxnSpPr/>
          <p:nvPr/>
        </p:nvCxnSpPr>
        <p:spPr>
          <a:xfrm>
            <a:off x="3457263" y="5525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34" name="qa5-934"/>
          <p:cNvCxnSpPr/>
          <p:nvPr/>
        </p:nvCxnSpPr>
        <p:spPr>
          <a:xfrm>
            <a:off x="8234053" y="5525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35" name="qa5-935"/>
          <p:cNvSpPr txBox="1"/>
          <p:nvPr/>
        </p:nvSpPr>
        <p:spPr>
          <a:xfrm>
            <a:off x="-824737" y="5537678"/>
            <a:ext cx="4212000" cy="104644"/>
          </a:xfrm>
          <a:prstGeom prst="rect">
            <a:avLst/>
          </a:prstGeom>
          <a:noFill/>
        </p:spPr>
        <p:txBody>
          <a:bodyPr wrap="square" lIns="0" tIns="0" rIns="0" bIns="0" anchor="ctr">
            <a:spAutoFit/>
          </a:bodyPr>
          <a:lstStyle/>
          <a:p>
            <a:pPr algn="r">
              <a:spcAft>
                <a:spcPts val="0"/>
              </a:spcAft>
            </a:pPr>
            <a:r>
              <a:rPr sz="680" b="0">
                <a:solidFill>
                  <a:srgbClr val="2F5597"/>
                </a:solidFill>
                <a:latin typeface="맑은 고딕"/>
                <a:ea typeface="맑은 고딕"/>
              </a:rPr>
              <a:t>양자화(Give Me BF16): 8-bit 평균 0.25% ~ W4A16 task 최악 3.1%</a:t>
            </a:r>
          </a:p>
        </p:txBody>
      </p:sp>
      <p:sp>
        <p:nvSpPr>
          <p:cNvPr id="936" name="qa5-936"/>
          <p:cNvSpPr/>
          <p:nvPr/>
        </p:nvSpPr>
        <p:spPr>
          <a:xfrm>
            <a:off x="7867056" y="5701424"/>
            <a:ext cx="1369758"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7" name="qa5-937"/>
          <p:cNvCxnSpPr/>
          <p:nvPr/>
        </p:nvCxnSpPr>
        <p:spPr>
          <a:xfrm>
            <a:off x="7867056" y="5673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38" name="qa5-938"/>
          <p:cNvCxnSpPr/>
          <p:nvPr/>
        </p:nvCxnSpPr>
        <p:spPr>
          <a:xfrm>
            <a:off x="9236814" y="5673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39" name="qa5-939"/>
          <p:cNvSpPr txBox="1"/>
          <p:nvPr/>
        </p:nvSpPr>
        <p:spPr>
          <a:xfrm>
            <a:off x="9306814" y="5685678"/>
            <a:ext cx="1716000" cy="104644"/>
          </a:xfrm>
          <a:prstGeom prst="rect">
            <a:avLst/>
          </a:prstGeom>
          <a:noFill/>
        </p:spPr>
        <p:txBody>
          <a:bodyPr wrap="square" lIns="0" tIns="0" rIns="0" bIns="0" anchor="ctr">
            <a:spAutoFit/>
          </a:bodyPr>
          <a:lstStyle/>
          <a:p>
            <a:pPr algn="l">
              <a:spcAft>
                <a:spcPts val="0"/>
              </a:spcAft>
            </a:pPr>
            <a:r>
              <a:rPr sz="680" b="0">
                <a:solidFill>
                  <a:srgbClr val="7F7F7F"/>
                </a:solidFill>
                <a:latin typeface="맑은 고딕"/>
                <a:ea typeface="맑은 고딕"/>
              </a:rPr>
              <a:t>KIVI(4.4×) 2.6% → 5.3%</a:t>
            </a:r>
          </a:p>
        </p:txBody>
      </p:sp>
      <p:sp>
        <p:nvSpPr>
          <p:cNvPr id="940" name="qa5-940"/>
          <p:cNvSpPr/>
          <p:nvPr/>
        </p:nvSpPr>
        <p:spPr>
          <a:xfrm>
            <a:off x="8935546" y="5849424"/>
            <a:ext cx="2125936"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1" name="qa5-941"/>
          <p:cNvCxnSpPr/>
          <p:nvPr/>
        </p:nvCxnSpPr>
        <p:spPr>
          <a:xfrm>
            <a:off x="8935546" y="5821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42" name="qa5-942"/>
          <p:cNvCxnSpPr/>
          <p:nvPr/>
        </p:nvCxnSpPr>
        <p:spPr>
          <a:xfrm>
            <a:off x="11061482" y="5821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43" name="qa5-943"/>
          <p:cNvSpPr txBox="1"/>
          <p:nvPr/>
        </p:nvSpPr>
        <p:spPr>
          <a:xfrm>
            <a:off x="6447546" y="5833678"/>
            <a:ext cx="2418000" cy="104644"/>
          </a:xfrm>
          <a:prstGeom prst="rect">
            <a:avLst/>
          </a:prstGeom>
          <a:noFill/>
        </p:spPr>
        <p:txBody>
          <a:bodyPr wrap="square" lIns="0" tIns="0" rIns="0" bIns="0" anchor="ctr">
            <a:spAutoFit/>
          </a:bodyPr>
          <a:lstStyle/>
          <a:p>
            <a:pPr algn="r">
              <a:spcAft>
                <a:spcPts val="0"/>
              </a:spcAft>
            </a:pPr>
            <a:r>
              <a:rPr sz="680" b="0">
                <a:solidFill>
                  <a:srgbClr val="7F7F7F"/>
                </a:solidFill>
                <a:latin typeface="맑은 고딕"/>
                <a:ea typeface="맑은 고딕"/>
              </a:rPr>
              <a:t>DuoAttention(3.1×) 4.5% → 13.9%</a:t>
            </a:r>
          </a:p>
        </p:txBody>
      </p:sp>
      <p:sp>
        <p:nvSpPr>
          <p:cNvPr id="944" name="qa5-944"/>
          <p:cNvSpPr/>
          <p:nvPr/>
        </p:nvSpPr>
        <p:spPr>
          <a:xfrm>
            <a:off x="7193117" y="5997424"/>
            <a:ext cx="2181391"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5" name="qa5-945"/>
          <p:cNvCxnSpPr/>
          <p:nvPr/>
        </p:nvCxnSpPr>
        <p:spPr>
          <a:xfrm>
            <a:off x="7193117" y="5969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46" name="qa5-946"/>
          <p:cNvCxnSpPr/>
          <p:nvPr/>
        </p:nvCxnSpPr>
        <p:spPr>
          <a:xfrm>
            <a:off x="9374508" y="5969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47" name="qa5-947"/>
          <p:cNvSpPr txBox="1"/>
          <p:nvPr/>
        </p:nvSpPr>
        <p:spPr>
          <a:xfrm>
            <a:off x="4549117" y="5981678"/>
            <a:ext cx="2574000" cy="104644"/>
          </a:xfrm>
          <a:prstGeom prst="rect">
            <a:avLst/>
          </a:prstGeom>
          <a:noFill/>
        </p:spPr>
        <p:txBody>
          <a:bodyPr wrap="square" lIns="0" tIns="0" rIns="0" bIns="0" anchor="ctr">
            <a:spAutoFit/>
          </a:bodyPr>
          <a:lstStyle/>
          <a:p>
            <a:pPr algn="r">
              <a:spcAft>
                <a:spcPts val="0"/>
              </a:spcAft>
            </a:pPr>
            <a:r>
              <a:rPr sz="680" b="0">
                <a:solidFill>
                  <a:srgbClr val="7F7F7F"/>
                </a:solidFill>
                <a:latin typeface="맑은 고딕"/>
                <a:ea typeface="맑은 고딕"/>
              </a:rPr>
              <a:t>KVServe-Unified(7.4×) 1.8% → 5.7%</a:t>
            </a:r>
          </a:p>
        </p:txBody>
      </p:sp>
      <p:sp>
        <p:nvSpPr>
          <p:cNvPr id="948" name="qa5-948"/>
          <p:cNvSpPr/>
          <p:nvPr/>
        </p:nvSpPr>
        <p:spPr>
          <a:xfrm>
            <a:off x="384048" y="6262000"/>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9" name="qa5-949"/>
          <p:cNvSpPr txBox="1"/>
          <p:nvPr/>
        </p:nvSpPr>
        <p:spPr>
          <a:xfrm>
            <a:off x="502920" y="6220852"/>
            <a:ext cx="144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문헌 보고 범위(허용 기준 아님)</a:t>
            </a:r>
          </a:p>
        </p:txBody>
      </p:sp>
      <p:sp>
        <p:nvSpPr>
          <p:cNvPr id="950" name="qa5-950"/>
          <p:cNvSpPr/>
          <p:nvPr/>
        </p:nvSpPr>
        <p:spPr>
          <a:xfrm>
            <a:off x="2118348" y="6257428"/>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1" name="qa5-951"/>
          <p:cNvSpPr txBox="1"/>
          <p:nvPr/>
        </p:nvSpPr>
        <p:spPr>
          <a:xfrm>
            <a:off x="2241792" y="6220852"/>
            <a:ext cx="120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본 기준에 채택된 값(표준)</a:t>
            </a:r>
          </a:p>
        </p:txBody>
      </p:sp>
      <p:sp>
        <p:nvSpPr>
          <p:cNvPr id="952" name="qa5-952"/>
          <p:cNvSpPr/>
          <p:nvPr/>
        </p:nvSpPr>
        <p:spPr>
          <a:xfrm>
            <a:off x="3617220" y="6257428"/>
            <a:ext cx="91440" cy="91440"/>
          </a:xfrm>
          <a:prstGeom prst="diamond">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3" name="qa5-953"/>
          <p:cNvSpPr txBox="1"/>
          <p:nvPr/>
        </p:nvSpPr>
        <p:spPr>
          <a:xfrm>
            <a:off x="3740664" y="6220852"/>
            <a:ext cx="80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완화 기준(미채택)</a:t>
            </a:r>
          </a:p>
        </p:txBody>
      </p:sp>
      <p:sp>
        <p:nvSpPr>
          <p:cNvPr id="954" name="qa5-954"/>
          <p:cNvSpPr/>
          <p:nvPr/>
        </p:nvSpPr>
        <p:spPr>
          <a:xfrm>
            <a:off x="4720664" y="6262000"/>
            <a:ext cx="82296" cy="82296"/>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5" name="qa5-955"/>
          <p:cNvSpPr txBox="1"/>
          <p:nvPr/>
        </p:nvSpPr>
        <p:spPr>
          <a:xfrm>
            <a:off x="4839536" y="6220852"/>
            <a:ext cx="256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참고: KVServe Table 1 평균 → task 최악</a:t>
            </a:r>
          </a:p>
        </p:txBody>
      </p:sp>
      <p:sp>
        <p:nvSpPr>
          <p:cNvPr id="65" name="실행 단추: 뒤로 또는 이전 49">
            <a:hlinkClick r:id="rId3" action="ppaction://hlinksldjump" highlightClick="1"/>
            <a:extLst>
              <a:ext uri="{FF2B5EF4-FFF2-40B4-BE49-F238E27FC236}">
                <a16:creationId xmlns:a16="http://schemas.microsoft.com/office/drawing/2014/main" id="{A283DDDE-0879-46AD-AE22-01849EC54110}"/>
              </a:ext>
            </a:extLst>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subtitle">
            <a:extLst>
              <a:ext uri="{FF2B5EF4-FFF2-40B4-BE49-F238E27FC236}">
                <a16:creationId xmlns:a16="http://schemas.microsoft.com/office/drawing/2014/main" id="{78A5440A-A1AB-4333-8BBD-BB7464C90E02}"/>
              </a:ext>
            </a:extLst>
          </p:cNvPr>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67" name="실행 단추: 뒤로 또는 이전 53">
            <a:hlinkClick r:id="" action="ppaction://hlinkshowjump?jump=lastslideviewed" highlightClick="1"/>
            <a:extLst>
              <a:ext uri="{FF2B5EF4-FFF2-40B4-BE49-F238E27FC236}">
                <a16:creationId xmlns:a16="http://schemas.microsoft.com/office/drawing/2014/main" id="{B60049BA-5E98-440D-AE22-4536BAF3C583}"/>
              </a:ext>
            </a:extLst>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subtitle">
            <a:extLst>
              <a:ext uri="{FF2B5EF4-FFF2-40B4-BE49-F238E27FC236}">
                <a16:creationId xmlns:a16="http://schemas.microsoft.com/office/drawing/2014/main" id="{D5B285A7-FB57-4FE8-B29F-F74BECA7DEC8}"/>
              </a:ext>
            </a:extLst>
          </p:cNvPr>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spTree>
    <p:extLst>
      <p:ext uri="{BB962C8B-B14F-4D97-AF65-F5344CB8AC3E}">
        <p14:creationId xmlns:p14="http://schemas.microsoft.com/office/powerpoint/2010/main" val="233363339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기능 정확성(Accuracy)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lang="ko-KR" altLang="en-US" sz="1100" dirty="0" smtClean="0">
                <a:solidFill>
                  <a:srgbClr val="000000"/>
                </a:solidFill>
                <a:latin typeface="맑은 고딕"/>
                <a:ea typeface="맑은 고딕"/>
              </a:rPr>
              <a:t>전체 </a:t>
            </a:r>
            <a:r>
              <a:rPr lang="ko-KR" altLang="en-US" sz="1100" dirty="0" err="1" smtClean="0">
                <a:solidFill>
                  <a:srgbClr val="000000"/>
                </a:solidFill>
                <a:latin typeface="맑은 고딕"/>
                <a:ea typeface="맑은 고딕"/>
              </a:rPr>
              <a:t>재연산</a:t>
            </a:r>
            <a:r>
              <a:rPr lang="en-US" altLang="ko-KR" sz="1100" dirty="0" smtClean="0">
                <a:solidFill>
                  <a:srgbClr val="000000"/>
                </a:solidFill>
                <a:latin typeface="맑은 고딕"/>
                <a:ea typeface="맑은 고딕"/>
              </a:rPr>
              <a:t>(F</a:t>
            </a:r>
            <a:r>
              <a:rPr lang="en-US" altLang="ko-KR" sz="1100" b="0" dirty="0" smtClean="0">
                <a:solidFill>
                  <a:srgbClr val="000000"/>
                </a:solidFill>
                <a:latin typeface="맑은 고딕"/>
                <a:ea typeface="맑은 고딕"/>
              </a:rPr>
              <a:t>ull </a:t>
            </a:r>
            <a:r>
              <a:rPr lang="en-US" altLang="ko-KR" sz="1100" b="0" dirty="0">
                <a:solidFill>
                  <a:srgbClr val="000000"/>
                </a:solidFill>
                <a:latin typeface="맑은 고딕"/>
                <a:ea typeface="맑은 고딕"/>
              </a:rPr>
              <a:t>recompute) 대비 F1 상대 </a:t>
            </a:r>
            <a:r>
              <a:rPr lang="en-US" altLang="ko-KR" sz="1100" b="0" dirty="0" err="1">
                <a:solidFill>
                  <a:srgbClr val="000000"/>
                </a:solidFill>
                <a:latin typeface="맑은 고딕"/>
                <a:ea typeface="맑은 고딕"/>
              </a:rPr>
              <a:t>하락률</a:t>
            </a:r>
            <a:r>
              <a:rPr lang="en-US" altLang="ko-KR" sz="1100" b="0" dirty="0">
                <a:solidFill>
                  <a:srgbClr val="000000"/>
                </a:solidFill>
                <a:latin typeface="맑은 고딕"/>
                <a:ea typeface="맑은 고딕"/>
              </a:rPr>
              <a:t> </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ubtitle">
            <a:extLst>
              <a:ext uri="{FF2B5EF4-FFF2-40B4-BE49-F238E27FC236}">
                <a16:creationId xmlns:a16="http://schemas.microsoft.com/office/drawing/2014/main" id="{83FC6577-760C-41A6-A45B-D5727304942A}"/>
              </a:ext>
            </a:extLst>
          </p:cNvPr>
          <p:cNvSpPr txBox="1"/>
          <p:nvPr/>
        </p:nvSpPr>
        <p:spPr>
          <a:xfrm>
            <a:off x="365760" y="1100189"/>
            <a:ext cx="11430000" cy="293863"/>
          </a:xfrm>
          <a:prstGeom prst="rect">
            <a:avLst/>
          </a:prstGeom>
          <a:noFill/>
        </p:spPr>
        <p:txBody>
          <a:bodyPr wrap="square" lIns="73152" tIns="36576" rIns="73152" bIns="36576" anchor="t">
            <a:spAutoFit/>
          </a:bodyPr>
          <a:lstStyle/>
          <a:p>
            <a:pPr>
              <a:lnSpc>
                <a:spcPct val="150000"/>
              </a:lnSpc>
              <a:spcAft>
                <a:spcPts val="250"/>
              </a:spcAft>
            </a:pPr>
            <a:r>
              <a:rPr lang="en-US" altLang="ko-KR" sz="1100" b="1" dirty="0" smtClean="0">
                <a:solidFill>
                  <a:srgbClr val="2F5597"/>
                </a:solidFill>
                <a:latin typeface="맑은 고딕"/>
                <a:ea typeface="맑은 고딕"/>
              </a:rPr>
              <a:t>[Metric] F1 </a:t>
            </a:r>
            <a:r>
              <a:rPr lang="en-US" altLang="ko-KR" sz="1100" b="1" dirty="0" err="1" smtClean="0">
                <a:solidFill>
                  <a:srgbClr val="2F5597"/>
                </a:solidFill>
                <a:latin typeface="맑은 고딕"/>
                <a:ea typeface="맑은 고딕"/>
              </a:rPr>
              <a:t>하락률</a:t>
            </a:r>
            <a:r>
              <a:rPr lang="en-US" altLang="ko-KR" sz="1100" b="1" dirty="0" smtClean="0">
                <a:solidFill>
                  <a:srgbClr val="2F5597"/>
                </a:solidFill>
                <a:latin typeface="맑은 고딕"/>
                <a:ea typeface="맑은 고딕"/>
              </a:rPr>
              <a:t> = (F1_full − F1_후보) ÷ F1_full  </a:t>
            </a:r>
            <a:r>
              <a:rPr lang="en-US" sz="1100" b="0" dirty="0" smtClean="0">
                <a:latin typeface="맑은 고딕"/>
                <a:ea typeface="맑은 고딕"/>
              </a:rPr>
              <a:t>(</a:t>
            </a:r>
            <a:r>
              <a:rPr lang="en-US" altLang="ko-KR" sz="1100" dirty="0">
                <a:ea typeface="맑은 고딕"/>
              </a:rPr>
              <a:t>F1_full: GPU</a:t>
            </a:r>
            <a:r>
              <a:rPr lang="ko-KR" altLang="en-US" sz="1100" dirty="0">
                <a:ea typeface="맑은 고딕"/>
              </a:rPr>
              <a:t>에서 </a:t>
            </a:r>
            <a:r>
              <a:rPr lang="en-US" altLang="ko-KR" sz="1100" dirty="0" err="1">
                <a:ea typeface="맑은 고딕"/>
              </a:rPr>
              <a:t>같은</a:t>
            </a:r>
            <a:r>
              <a:rPr lang="en-US" altLang="ko-KR" sz="1100" dirty="0">
                <a:ea typeface="맑은 고딕"/>
              </a:rPr>
              <a:t> </a:t>
            </a:r>
            <a:r>
              <a:rPr lang="en-US" altLang="ko-KR" sz="1100" dirty="0" err="1">
                <a:ea typeface="맑은 고딕"/>
              </a:rPr>
              <a:t>모델</a:t>
            </a:r>
            <a:r>
              <a:rPr lang="en-US" altLang="ko-KR" sz="1100" dirty="0">
                <a:ea typeface="맑은 고딕"/>
              </a:rPr>
              <a:t>, task, </a:t>
            </a:r>
            <a:r>
              <a:rPr lang="en-US" altLang="ko-KR" sz="1100" dirty="0" err="1">
                <a:ea typeface="맑은 고딕"/>
              </a:rPr>
              <a:t>precision에서</a:t>
            </a:r>
            <a:r>
              <a:rPr lang="en-US" altLang="ko-KR" sz="1100" dirty="0">
                <a:ea typeface="맑은 고딕"/>
              </a:rPr>
              <a:t> full </a:t>
            </a:r>
            <a:r>
              <a:rPr lang="en-US" altLang="ko-KR" sz="1100" dirty="0" err="1">
                <a:ea typeface="맑은 고딕"/>
              </a:rPr>
              <a:t>recompute</a:t>
            </a:r>
            <a:r>
              <a:rPr lang="en-US" altLang="ko-KR" sz="1100" dirty="0">
                <a:ea typeface="맑은 고딕"/>
              </a:rPr>
              <a:t> 의 F1)</a:t>
            </a:r>
            <a:endParaRPr lang="en-US" altLang="ko-KR" sz="800" dirty="0">
              <a:ea typeface="맑은 고딕"/>
            </a:endParaRPr>
          </a:p>
        </p:txBody>
      </p:sp>
      <p:sp>
        <p:nvSpPr>
          <p:cNvPr id="73" name="src">
            <a:extLst>
              <a:ext uri="{FF2B5EF4-FFF2-40B4-BE49-F238E27FC236}">
                <a16:creationId xmlns:a16="http://schemas.microsoft.com/office/drawing/2014/main" id="{CF8094EC-0377-4489-9D6C-BCCDBEE3074C}"/>
              </a:ext>
            </a:extLst>
          </p:cNvPr>
          <p:cNvSpPr txBox="1"/>
          <p:nvPr/>
        </p:nvSpPr>
        <p:spPr>
          <a:xfrm>
            <a:off x="365760" y="6601968"/>
            <a:ext cx="11430000" cy="189283"/>
          </a:xfrm>
          <a:prstGeom prst="rect">
            <a:avLst/>
          </a:prstGeom>
          <a:noFill/>
        </p:spPr>
        <p:txBody>
          <a:bodyPr wrap="square" lIns="73152" tIns="36576" rIns="73152" bIns="36576" anchor="t">
            <a:spAutoFit/>
          </a:bodyPr>
          <a:lstStyle/>
          <a:p>
            <a:pPr algn="l">
              <a:spcAft>
                <a:spcPts val="250"/>
              </a:spcAft>
            </a:pPr>
            <a:r>
              <a:rPr sz="750" b="0" dirty="0" err="1">
                <a:solidFill>
                  <a:srgbClr val="404040"/>
                </a:solidFill>
                <a:latin typeface="맑은 고딕"/>
                <a:ea typeface="맑은 고딕"/>
              </a:rPr>
              <a:t>출처: MLPerf Inference Rules (MLCommons) · KVServe 2605.13734 · EVICPRESS 2512.14946 · FastKV 2502.01068 · CacheGen 2310.07240 · CacheBlend 2405.16444 · KVzip 2505.23416 · Give Me BF16 2411.02355 (ACL 2025)</a:t>
            </a:r>
          </a:p>
        </p:txBody>
      </p:sp>
      <p:sp>
        <p:nvSpPr>
          <p:cNvPr id="75" name="TextBox 74">
            <a:extLst>
              <a:ext uri="{FF2B5EF4-FFF2-40B4-BE49-F238E27FC236}">
                <a16:creationId xmlns:a16="http://schemas.microsoft.com/office/drawing/2014/main" id="{6458D367-E7E3-4015-B7C9-744AAAFDB247}"/>
              </a:ext>
            </a:extLst>
          </p:cNvPr>
          <p:cNvSpPr txBox="1"/>
          <p:nvPr/>
        </p:nvSpPr>
        <p:spPr>
          <a:xfrm>
            <a:off x="365760" y="4139840"/>
            <a:ext cx="11430000" cy="164660"/>
          </a:xfrm>
          <a:prstGeom prst="rect">
            <a:avLst/>
          </a:prstGeom>
          <a:noFill/>
        </p:spPr>
        <p:txBody>
          <a:bodyPr wrap="square" lIns="18288" tIns="18288" rIns="18288" bIns="0" anchor="t">
            <a:spAutoFit/>
          </a:bodyPr>
          <a:lstStyle/>
          <a:p>
            <a:pPr algn="l">
              <a:spcAft>
                <a:spcPts val="0"/>
              </a:spcAft>
            </a:pPr>
            <a:r>
              <a:rPr sz="950" b="1" dirty="0" err="1">
                <a:solidFill>
                  <a:srgbClr val="2F5597"/>
                </a:solidFill>
                <a:latin typeface="맑은 고딕"/>
                <a:ea typeface="맑은 고딕"/>
              </a:rPr>
              <a:t>구간</a:t>
            </a:r>
            <a:r>
              <a:rPr sz="950" b="1" dirty="0">
                <a:solidFill>
                  <a:srgbClr val="2F5597"/>
                </a:solidFill>
                <a:latin typeface="맑은 고딕"/>
                <a:ea typeface="맑은 고딕"/>
              </a:rPr>
              <a:t> </a:t>
            </a:r>
            <a:r>
              <a:rPr sz="950" b="1" dirty="0" err="1">
                <a:solidFill>
                  <a:srgbClr val="2F5597"/>
                </a:solidFill>
                <a:latin typeface="맑은 고딕"/>
                <a:ea typeface="맑은 고딕"/>
              </a:rPr>
              <a:t>대비</a:t>
            </a:r>
            <a:r>
              <a:rPr sz="950" b="1" dirty="0">
                <a:solidFill>
                  <a:srgbClr val="2F5597"/>
                </a:solidFill>
                <a:latin typeface="맑은 고딕"/>
                <a:ea typeface="맑은 고딕"/>
              </a:rPr>
              <a:t> </a:t>
            </a:r>
            <a:r>
              <a:rPr sz="950" b="1" dirty="0" err="1">
                <a:solidFill>
                  <a:srgbClr val="2F5597"/>
                </a:solidFill>
                <a:latin typeface="맑은 고딕"/>
                <a:ea typeface="맑은 고딕"/>
              </a:rPr>
              <a:t>근거</a:t>
            </a:r>
            <a:r>
              <a:rPr sz="950" b="1" dirty="0">
                <a:solidFill>
                  <a:srgbClr val="2F5597"/>
                </a:solidFill>
                <a:latin typeface="맑은 고딕"/>
                <a:ea typeface="맑은 고딕"/>
              </a:rPr>
              <a:t> </a:t>
            </a:r>
            <a:r>
              <a:rPr sz="950" b="1" dirty="0" err="1">
                <a:solidFill>
                  <a:srgbClr val="2F5597"/>
                </a:solidFill>
                <a:latin typeface="맑은 고딕"/>
                <a:ea typeface="맑은 고딕"/>
              </a:rPr>
              <a:t>위치</a:t>
            </a:r>
            <a:r>
              <a:rPr sz="950" b="1" dirty="0">
                <a:solidFill>
                  <a:srgbClr val="2F5597"/>
                </a:solidFill>
                <a:latin typeface="맑은 고딕"/>
                <a:ea typeface="맑은 고딕"/>
              </a:rPr>
              <a:t> (F1 </a:t>
            </a:r>
            <a:r>
              <a:rPr sz="950" b="1" dirty="0" err="1">
                <a:solidFill>
                  <a:srgbClr val="2F5597"/>
                </a:solidFill>
                <a:latin typeface="맑은 고딕"/>
                <a:ea typeface="맑은 고딕"/>
              </a:rPr>
              <a:t>상대</a:t>
            </a:r>
            <a:r>
              <a:rPr sz="950" b="1" dirty="0">
                <a:solidFill>
                  <a:srgbClr val="2F5597"/>
                </a:solidFill>
                <a:latin typeface="맑은 고딕"/>
                <a:ea typeface="맑은 고딕"/>
              </a:rPr>
              <a:t> </a:t>
            </a:r>
            <a:r>
              <a:rPr sz="950" b="1" dirty="0" err="1">
                <a:solidFill>
                  <a:srgbClr val="2F5597"/>
                </a:solidFill>
                <a:latin typeface="맑은 고딕"/>
                <a:ea typeface="맑은 고딕"/>
              </a:rPr>
              <a:t>하락</a:t>
            </a:r>
            <a:r>
              <a:rPr sz="950" b="1" dirty="0">
                <a:solidFill>
                  <a:srgbClr val="2F5597"/>
                </a:solidFill>
                <a:latin typeface="맑은 고딕"/>
                <a:ea typeface="맑은 고딕"/>
              </a:rPr>
              <a:t> </a:t>
            </a:r>
            <a:r>
              <a:rPr sz="950" b="1" dirty="0" smtClean="0">
                <a:solidFill>
                  <a:srgbClr val="2F5597"/>
                </a:solidFill>
                <a:latin typeface="맑은 고딕"/>
                <a:ea typeface="맑은 고딕"/>
              </a:rPr>
              <a:t>%</a:t>
            </a:r>
            <a:r>
              <a:rPr lang="en-US" sz="950" b="1" dirty="0" smtClean="0">
                <a:solidFill>
                  <a:srgbClr val="2F5597"/>
                </a:solidFill>
                <a:latin typeface="맑은 고딕"/>
                <a:ea typeface="맑은 고딕"/>
              </a:rPr>
              <a:t>)</a:t>
            </a:r>
            <a:endParaRPr sz="950" b="1" dirty="0">
              <a:solidFill>
                <a:srgbClr val="2F5597"/>
              </a:solidFill>
              <a:latin typeface="맑은 고딕"/>
              <a:ea typeface="맑은 고딕"/>
            </a:endParaRPr>
          </a:p>
        </p:txBody>
      </p:sp>
      <p:sp>
        <p:nvSpPr>
          <p:cNvPr id="900" name="qa5-900"/>
          <p:cNvSpPr/>
          <p:nvPr/>
        </p:nvSpPr>
        <p:spPr>
          <a:xfrm>
            <a:off x="411480" y="4393368"/>
            <a:ext cx="1311747"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1" name="qa5-901"/>
          <p:cNvSpPr txBox="1"/>
          <p:nvPr/>
        </p:nvSpPr>
        <p:spPr>
          <a:xfrm>
            <a:off x="411480" y="4393368"/>
            <a:ext cx="131174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902" name="qa5-902"/>
          <p:cNvSpPr/>
          <p:nvPr/>
        </p:nvSpPr>
        <p:spPr>
          <a:xfrm>
            <a:off x="1723227" y="4393368"/>
            <a:ext cx="2079071"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3" name="qa5-903"/>
          <p:cNvSpPr txBox="1"/>
          <p:nvPr/>
        </p:nvSpPr>
        <p:spPr>
          <a:xfrm>
            <a:off x="1723227" y="4393368"/>
            <a:ext cx="207907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904" name="qa5-904"/>
          <p:cNvSpPr/>
          <p:nvPr/>
        </p:nvSpPr>
        <p:spPr>
          <a:xfrm>
            <a:off x="3802298" y="4393368"/>
            <a:ext cx="2278461"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5" name="qa5-905"/>
          <p:cNvSpPr txBox="1"/>
          <p:nvPr/>
        </p:nvSpPr>
        <p:spPr>
          <a:xfrm>
            <a:off x="3802298" y="4393368"/>
            <a:ext cx="2278461"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906" name="qa5-906"/>
          <p:cNvSpPr/>
          <p:nvPr/>
        </p:nvSpPr>
        <p:spPr>
          <a:xfrm>
            <a:off x="6080759" y="4393368"/>
            <a:ext cx="5669280"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7" name="qa5-907"/>
          <p:cNvSpPr txBox="1"/>
          <p:nvPr/>
        </p:nvSpPr>
        <p:spPr>
          <a:xfrm>
            <a:off x="6080759" y="4393368"/>
            <a:ext cx="566928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908" name="qa5-908"/>
          <p:cNvSpPr txBox="1"/>
          <p:nvPr/>
        </p:nvSpPr>
        <p:spPr>
          <a:xfrm>
            <a:off x="9144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≤0.05%</a:t>
            </a:r>
          </a:p>
        </p:txBody>
      </p:sp>
      <p:sp>
        <p:nvSpPr>
          <p:cNvPr id="909" name="qa5-909"/>
          <p:cNvSpPr txBox="1"/>
          <p:nvPr/>
        </p:nvSpPr>
        <p:spPr>
          <a:xfrm>
            <a:off x="1403187"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0.1%</a:t>
            </a:r>
          </a:p>
        </p:txBody>
      </p:sp>
      <p:sp>
        <p:nvSpPr>
          <p:cNvPr id="910" name="qa5-910"/>
          <p:cNvSpPr txBox="1"/>
          <p:nvPr/>
        </p:nvSpPr>
        <p:spPr>
          <a:xfrm>
            <a:off x="3482258"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0.3%</a:t>
            </a:r>
          </a:p>
        </p:txBody>
      </p:sp>
      <p:sp>
        <p:nvSpPr>
          <p:cNvPr id="911" name="qa5-911"/>
          <p:cNvSpPr txBox="1"/>
          <p:nvPr/>
        </p:nvSpPr>
        <p:spPr>
          <a:xfrm>
            <a:off x="576071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912" name="qa5-912"/>
          <p:cNvSpPr txBox="1"/>
          <p:nvPr/>
        </p:nvSpPr>
        <p:spPr>
          <a:xfrm>
            <a:off x="7839790"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913" name="qa5-913"/>
          <p:cNvSpPr txBox="1"/>
          <p:nvPr/>
        </p:nvSpPr>
        <p:spPr>
          <a:xfrm>
            <a:off x="10118251"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10%</a:t>
            </a:r>
          </a:p>
        </p:txBody>
      </p:sp>
      <p:sp>
        <p:nvSpPr>
          <p:cNvPr id="914" name="qa5-914"/>
          <p:cNvSpPr txBox="1"/>
          <p:nvPr/>
        </p:nvSpPr>
        <p:spPr>
          <a:xfrm>
            <a:off x="11429999" y="46676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20%</a:t>
            </a:r>
          </a:p>
        </p:txBody>
      </p:sp>
      <p:cxnSp>
        <p:nvCxnSpPr>
          <p:cNvPr id="915" name="qa5-915"/>
          <p:cNvCxnSpPr/>
          <p:nvPr/>
        </p:nvCxnSpPr>
        <p:spPr>
          <a:xfrm>
            <a:off x="1723227"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16" name="qa5-916"/>
          <p:cNvCxnSpPr/>
          <p:nvPr/>
        </p:nvCxnSpPr>
        <p:spPr>
          <a:xfrm>
            <a:off x="3802298"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917" name="qa5-917"/>
          <p:cNvCxnSpPr/>
          <p:nvPr/>
        </p:nvCxnSpPr>
        <p:spPr>
          <a:xfrm>
            <a:off x="6080759" y="4709160"/>
            <a:ext cx="0" cy="162580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918" name="qa5-918"/>
          <p:cNvSpPr/>
          <p:nvPr/>
        </p:nvSpPr>
        <p:spPr>
          <a:xfrm>
            <a:off x="1663791" y="4790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9" name="qa5-919"/>
          <p:cNvSpPr txBox="1"/>
          <p:nvPr/>
        </p:nvSpPr>
        <p:spPr>
          <a:xfrm>
            <a:off x="1853227" y="4797678"/>
            <a:ext cx="5772000" cy="104644"/>
          </a:xfrm>
          <a:prstGeom prst="rect">
            <a:avLst/>
          </a:prstGeom>
          <a:noFill/>
        </p:spPr>
        <p:txBody>
          <a:bodyPr wrap="square" lIns="0" tIns="0" rIns="0" bIns="0" anchor="ctr">
            <a:spAutoFit/>
          </a:bodyPr>
          <a:lstStyle/>
          <a:p>
            <a:pPr algn="l">
              <a:spcAft>
                <a:spcPts val="0"/>
              </a:spcAft>
            </a:pPr>
            <a:r>
              <a:rPr sz="680" b="0">
                <a:solidFill>
                  <a:srgbClr val="C00000"/>
                </a:solidFill>
                <a:latin typeface="맑은 고딕"/>
                <a:ea typeface="맑은 고딕"/>
              </a:rPr>
              <a:t>MLPerf Inference 99.9% tier(Llama2-70b 등): reference의 99.9% 이상 (하락 ≤ 0.1%)</a:t>
            </a:r>
          </a:p>
        </p:txBody>
      </p:sp>
      <p:sp>
        <p:nvSpPr>
          <p:cNvPr id="920" name="qa5-920"/>
          <p:cNvSpPr/>
          <p:nvPr/>
        </p:nvSpPr>
        <p:spPr>
          <a:xfrm>
            <a:off x="6021323" y="4938564"/>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 name="qa5-921"/>
          <p:cNvSpPr txBox="1"/>
          <p:nvPr/>
        </p:nvSpPr>
        <p:spPr>
          <a:xfrm>
            <a:off x="6210759" y="4945678"/>
            <a:ext cx="4992000" cy="104644"/>
          </a:xfrm>
          <a:prstGeom prst="rect">
            <a:avLst/>
          </a:prstGeom>
          <a:noFill/>
        </p:spPr>
        <p:txBody>
          <a:bodyPr wrap="square" lIns="0" tIns="0" rIns="0" bIns="0" anchor="ctr">
            <a:spAutoFit/>
          </a:bodyPr>
          <a:lstStyle/>
          <a:p>
            <a:pPr algn="l">
              <a:spcAft>
                <a:spcPts val="0"/>
              </a:spcAft>
            </a:pPr>
            <a:r>
              <a:rPr sz="680" b="0">
                <a:solidFill>
                  <a:srgbClr val="C00000"/>
                </a:solidFill>
                <a:latin typeface="맑은 고딕"/>
                <a:ea typeface="맑은 고딕"/>
              </a:rPr>
              <a:t>MLPerf Inference 99% tier: LLM 행 대부분 reference의 99% 이상 (하락 ≤ 1%)</a:t>
            </a:r>
          </a:p>
        </p:txBody>
      </p:sp>
      <p:sp>
        <p:nvSpPr>
          <p:cNvPr id="922" name="qa5-922"/>
          <p:cNvSpPr/>
          <p:nvPr/>
        </p:nvSpPr>
        <p:spPr>
          <a:xfrm>
            <a:off x="8100394" y="5086564"/>
            <a:ext cx="118872" cy="118872"/>
          </a:xfrm>
          <a:prstGeom prst="diamond">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3" name="qa5-923"/>
          <p:cNvSpPr txBox="1"/>
          <p:nvPr/>
        </p:nvSpPr>
        <p:spPr>
          <a:xfrm>
            <a:off x="8289830" y="5093678"/>
            <a:ext cx="3660170" cy="104644"/>
          </a:xfrm>
          <a:prstGeom prst="rect">
            <a:avLst/>
          </a:prstGeom>
          <a:noFill/>
        </p:spPr>
        <p:txBody>
          <a:bodyPr wrap="square" lIns="0" tIns="0" rIns="0" bIns="0" anchor="ctr">
            <a:spAutoFit/>
          </a:bodyPr>
          <a:lstStyle/>
          <a:p>
            <a:pPr algn="l">
              <a:spcAft>
                <a:spcPts val="0"/>
              </a:spcAft>
            </a:pPr>
            <a:r>
              <a:rPr sz="680" b="0">
                <a:solidFill>
                  <a:srgbClr val="7F7F7F"/>
                </a:solidFill>
                <a:latin typeface="맑은 고딕"/>
                <a:ea typeface="맑은 고딕"/>
              </a:rPr>
              <a:t>완화 기준(미채택): MLPerf RAG·agent 97% · KVServe 97% 제약 · EVICPRESS 3% 허용</a:t>
            </a:r>
          </a:p>
        </p:txBody>
      </p:sp>
      <p:sp>
        <p:nvSpPr>
          <p:cNvPr id="924" name="qa5-924"/>
          <p:cNvSpPr/>
          <p:nvPr/>
        </p:nvSpPr>
        <p:spPr>
          <a:xfrm>
            <a:off x="411480" y="5257424"/>
            <a:ext cx="5669279"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5" name="qa5-925"/>
          <p:cNvCxnSpPr/>
          <p:nvPr/>
        </p:nvCxnSpPr>
        <p:spPr>
          <a:xfrm>
            <a:off x="411480" y="5229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26" name="qa5-926"/>
          <p:cNvCxnSpPr/>
          <p:nvPr/>
        </p:nvCxnSpPr>
        <p:spPr>
          <a:xfrm>
            <a:off x="6080759" y="5229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27" name="qa5-927"/>
          <p:cNvSpPr txBox="1"/>
          <p:nvPr/>
        </p:nvSpPr>
        <p:spPr>
          <a:xfrm>
            <a:off x="6150759" y="5241678"/>
            <a:ext cx="3276000" cy="104644"/>
          </a:xfrm>
          <a:prstGeom prst="rect">
            <a:avLst/>
          </a:prstGeom>
          <a:noFill/>
        </p:spPr>
        <p:txBody>
          <a:bodyPr wrap="square" lIns="0" tIns="0" rIns="0" bIns="0" anchor="ctr">
            <a:spAutoFit/>
          </a:bodyPr>
          <a:lstStyle/>
          <a:p>
            <a:pPr algn="l">
              <a:spcAft>
                <a:spcPts val="0"/>
              </a:spcAft>
            </a:pPr>
            <a:r>
              <a:rPr sz="680" b="0" dirty="0" err="1">
                <a:solidFill>
                  <a:srgbClr val="2F5597"/>
                </a:solidFill>
                <a:latin typeface="맑은 고딕"/>
                <a:ea typeface="맑은 고딕"/>
              </a:rPr>
              <a:t>FastKV</a:t>
            </a:r>
            <a:r>
              <a:rPr sz="680" b="0" dirty="0">
                <a:solidFill>
                  <a:srgbClr val="2F5597"/>
                </a:solidFill>
                <a:latin typeface="맑은 고딕"/>
                <a:ea typeface="맑은 고딕"/>
              </a:rPr>
              <a:t>: </a:t>
            </a:r>
            <a:r>
              <a:rPr sz="680" b="0" dirty="0" err="1">
                <a:solidFill>
                  <a:srgbClr val="2F5597"/>
                </a:solidFill>
                <a:latin typeface="맑은 고딕"/>
                <a:ea typeface="맑은 고딕"/>
              </a:rPr>
              <a:t>평균</a:t>
            </a:r>
            <a:r>
              <a:rPr sz="680" b="0" dirty="0">
                <a:solidFill>
                  <a:srgbClr val="2F5597"/>
                </a:solidFill>
                <a:latin typeface="맑은 고딕"/>
                <a:ea typeface="맑은 고딕"/>
              </a:rPr>
              <a:t> </a:t>
            </a:r>
            <a:r>
              <a:rPr sz="680" b="0" dirty="0" err="1">
                <a:solidFill>
                  <a:srgbClr val="2F5597"/>
                </a:solidFill>
                <a:latin typeface="맑은 고딕"/>
                <a:ea typeface="맑은 고딕"/>
              </a:rPr>
              <a:t>하락</a:t>
            </a:r>
            <a:r>
              <a:rPr sz="680" b="0" dirty="0">
                <a:solidFill>
                  <a:srgbClr val="2F5597"/>
                </a:solidFill>
                <a:latin typeface="맑은 고딕"/>
                <a:ea typeface="맑은 고딕"/>
              </a:rPr>
              <a:t> &lt; 1% </a:t>
            </a:r>
            <a:r>
              <a:rPr sz="680" b="0" dirty="0" err="1">
                <a:solidFill>
                  <a:srgbClr val="2F5597"/>
                </a:solidFill>
                <a:latin typeface="맑은 고딕"/>
                <a:ea typeface="맑은 고딕"/>
              </a:rPr>
              <a:t>에서</a:t>
            </a:r>
            <a:r>
              <a:rPr sz="680" b="0" dirty="0">
                <a:solidFill>
                  <a:srgbClr val="2F5597"/>
                </a:solidFill>
                <a:latin typeface="맑은 고딕"/>
                <a:ea typeface="맑은 고딕"/>
              </a:rPr>
              <a:t> </a:t>
            </a:r>
            <a:r>
              <a:rPr sz="680" b="0" dirty="0" err="1">
                <a:solidFill>
                  <a:srgbClr val="2F5597"/>
                </a:solidFill>
                <a:latin typeface="맑은 고딕"/>
                <a:ea typeface="맑은 고딕"/>
              </a:rPr>
              <a:t>처리량</a:t>
            </a:r>
            <a:r>
              <a:rPr sz="680" b="0" dirty="0">
                <a:solidFill>
                  <a:srgbClr val="2F5597"/>
                </a:solidFill>
                <a:latin typeface="맑은 고딕"/>
                <a:ea typeface="맑은 고딕"/>
              </a:rPr>
              <a:t> </a:t>
            </a:r>
            <a:r>
              <a:rPr sz="680" b="0" dirty="0" err="1">
                <a:solidFill>
                  <a:srgbClr val="2F5597"/>
                </a:solidFill>
                <a:latin typeface="맑은 고딕"/>
                <a:ea typeface="맑은 고딕"/>
              </a:rPr>
              <a:t>최대</a:t>
            </a:r>
            <a:r>
              <a:rPr sz="680" b="0" dirty="0">
                <a:solidFill>
                  <a:srgbClr val="2F5597"/>
                </a:solidFill>
                <a:latin typeface="맑은 고딕"/>
                <a:ea typeface="맑은 고딕"/>
              </a:rPr>
              <a:t> 4.82× (up to)</a:t>
            </a:r>
          </a:p>
        </p:txBody>
      </p:sp>
      <p:sp>
        <p:nvSpPr>
          <p:cNvPr id="928" name="qa5-928"/>
          <p:cNvSpPr/>
          <p:nvPr/>
        </p:nvSpPr>
        <p:spPr>
          <a:xfrm>
            <a:off x="411480" y="5405424"/>
            <a:ext cx="1311747"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29" name="qa5-929"/>
          <p:cNvCxnSpPr/>
          <p:nvPr/>
        </p:nvCxnSpPr>
        <p:spPr>
          <a:xfrm>
            <a:off x="411480" y="5377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30" name="qa5-930"/>
          <p:cNvCxnSpPr/>
          <p:nvPr/>
        </p:nvCxnSpPr>
        <p:spPr>
          <a:xfrm>
            <a:off x="1723227" y="5377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31" name="qa5-931"/>
          <p:cNvSpPr txBox="1"/>
          <p:nvPr/>
        </p:nvSpPr>
        <p:spPr>
          <a:xfrm>
            <a:off x="1793227" y="5389678"/>
            <a:ext cx="4524000" cy="104644"/>
          </a:xfrm>
          <a:prstGeom prst="rect">
            <a:avLst/>
          </a:prstGeom>
          <a:noFill/>
        </p:spPr>
        <p:txBody>
          <a:bodyPr wrap="square" lIns="0" tIns="0" rIns="0" bIns="0" anchor="ctr">
            <a:spAutoFit/>
          </a:bodyPr>
          <a:lstStyle/>
          <a:p>
            <a:pPr algn="l">
              <a:spcAft>
                <a:spcPts val="0"/>
              </a:spcAft>
            </a:pPr>
            <a:r>
              <a:rPr sz="680" b="0">
                <a:solidFill>
                  <a:srgbClr val="2F5597"/>
                </a:solidFill>
                <a:latin typeface="맑은 고딕"/>
                <a:ea typeface="맑은 고딕"/>
              </a:rPr>
              <a:t>CacheGen: F1 하락 &lt; 0.1% (accuracy 하락은 ≤ 2%), 지연 3.1~4.7× 감소</a:t>
            </a:r>
          </a:p>
        </p:txBody>
      </p:sp>
      <p:sp>
        <p:nvSpPr>
          <p:cNvPr id="932" name="qa5-932"/>
          <p:cNvSpPr/>
          <p:nvPr/>
        </p:nvSpPr>
        <p:spPr>
          <a:xfrm>
            <a:off x="3457263" y="5553424"/>
            <a:ext cx="4776790"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3" name="qa5-933"/>
          <p:cNvCxnSpPr/>
          <p:nvPr/>
        </p:nvCxnSpPr>
        <p:spPr>
          <a:xfrm>
            <a:off x="3457263" y="5525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934" name="qa5-934"/>
          <p:cNvCxnSpPr/>
          <p:nvPr/>
        </p:nvCxnSpPr>
        <p:spPr>
          <a:xfrm>
            <a:off x="8234053" y="5525992"/>
            <a:ext cx="0" cy="128016"/>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935" name="qa5-935"/>
          <p:cNvSpPr txBox="1"/>
          <p:nvPr/>
        </p:nvSpPr>
        <p:spPr>
          <a:xfrm>
            <a:off x="-824737" y="5537678"/>
            <a:ext cx="4212000" cy="104644"/>
          </a:xfrm>
          <a:prstGeom prst="rect">
            <a:avLst/>
          </a:prstGeom>
          <a:noFill/>
        </p:spPr>
        <p:txBody>
          <a:bodyPr wrap="square" lIns="0" tIns="0" rIns="0" bIns="0" anchor="ctr">
            <a:spAutoFit/>
          </a:bodyPr>
          <a:lstStyle/>
          <a:p>
            <a:pPr algn="r">
              <a:spcAft>
                <a:spcPts val="0"/>
              </a:spcAft>
            </a:pPr>
            <a:r>
              <a:rPr sz="680" b="0">
                <a:solidFill>
                  <a:srgbClr val="2F5597"/>
                </a:solidFill>
                <a:latin typeface="맑은 고딕"/>
                <a:ea typeface="맑은 고딕"/>
              </a:rPr>
              <a:t>양자화(Give Me BF16): 8-bit 평균 0.25% ~ W4A16 task 최악 3.1%</a:t>
            </a:r>
          </a:p>
        </p:txBody>
      </p:sp>
      <p:sp>
        <p:nvSpPr>
          <p:cNvPr id="936" name="qa5-936"/>
          <p:cNvSpPr/>
          <p:nvPr/>
        </p:nvSpPr>
        <p:spPr>
          <a:xfrm>
            <a:off x="7867056" y="5701424"/>
            <a:ext cx="1369758"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7" name="qa5-937"/>
          <p:cNvCxnSpPr/>
          <p:nvPr/>
        </p:nvCxnSpPr>
        <p:spPr>
          <a:xfrm>
            <a:off x="7867056" y="5673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38" name="qa5-938"/>
          <p:cNvCxnSpPr/>
          <p:nvPr/>
        </p:nvCxnSpPr>
        <p:spPr>
          <a:xfrm>
            <a:off x="9236814" y="5673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39" name="qa5-939"/>
          <p:cNvSpPr txBox="1"/>
          <p:nvPr/>
        </p:nvSpPr>
        <p:spPr>
          <a:xfrm>
            <a:off x="9306814" y="5685678"/>
            <a:ext cx="1716000" cy="104644"/>
          </a:xfrm>
          <a:prstGeom prst="rect">
            <a:avLst/>
          </a:prstGeom>
          <a:noFill/>
        </p:spPr>
        <p:txBody>
          <a:bodyPr wrap="square" lIns="0" tIns="0" rIns="0" bIns="0" anchor="ctr">
            <a:spAutoFit/>
          </a:bodyPr>
          <a:lstStyle/>
          <a:p>
            <a:pPr algn="l">
              <a:spcAft>
                <a:spcPts val="0"/>
              </a:spcAft>
            </a:pPr>
            <a:r>
              <a:rPr sz="680" b="0">
                <a:solidFill>
                  <a:srgbClr val="7F7F7F"/>
                </a:solidFill>
                <a:latin typeface="맑은 고딕"/>
                <a:ea typeface="맑은 고딕"/>
              </a:rPr>
              <a:t>KIVI(4.4×) 2.6% → 5.3%</a:t>
            </a:r>
          </a:p>
        </p:txBody>
      </p:sp>
      <p:sp>
        <p:nvSpPr>
          <p:cNvPr id="940" name="qa5-940"/>
          <p:cNvSpPr/>
          <p:nvPr/>
        </p:nvSpPr>
        <p:spPr>
          <a:xfrm>
            <a:off x="8935546" y="5849424"/>
            <a:ext cx="2125936"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1" name="qa5-941"/>
          <p:cNvCxnSpPr/>
          <p:nvPr/>
        </p:nvCxnSpPr>
        <p:spPr>
          <a:xfrm>
            <a:off x="8935546" y="5821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42" name="qa5-942"/>
          <p:cNvCxnSpPr/>
          <p:nvPr/>
        </p:nvCxnSpPr>
        <p:spPr>
          <a:xfrm>
            <a:off x="11061482" y="5821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43" name="qa5-943"/>
          <p:cNvSpPr txBox="1"/>
          <p:nvPr/>
        </p:nvSpPr>
        <p:spPr>
          <a:xfrm>
            <a:off x="6447546" y="5833678"/>
            <a:ext cx="2418000" cy="104644"/>
          </a:xfrm>
          <a:prstGeom prst="rect">
            <a:avLst/>
          </a:prstGeom>
          <a:noFill/>
        </p:spPr>
        <p:txBody>
          <a:bodyPr wrap="square" lIns="0" tIns="0" rIns="0" bIns="0" anchor="ctr">
            <a:spAutoFit/>
          </a:bodyPr>
          <a:lstStyle/>
          <a:p>
            <a:pPr algn="r">
              <a:spcAft>
                <a:spcPts val="0"/>
              </a:spcAft>
            </a:pPr>
            <a:r>
              <a:rPr sz="680" b="0">
                <a:solidFill>
                  <a:srgbClr val="7F7F7F"/>
                </a:solidFill>
                <a:latin typeface="맑은 고딕"/>
                <a:ea typeface="맑은 고딕"/>
              </a:rPr>
              <a:t>DuoAttention(3.1×) 4.5% → 13.9%</a:t>
            </a:r>
          </a:p>
        </p:txBody>
      </p:sp>
      <p:sp>
        <p:nvSpPr>
          <p:cNvPr id="944" name="qa5-944"/>
          <p:cNvSpPr/>
          <p:nvPr/>
        </p:nvSpPr>
        <p:spPr>
          <a:xfrm>
            <a:off x="7193117" y="5997424"/>
            <a:ext cx="2181391"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45" name="qa5-945"/>
          <p:cNvCxnSpPr/>
          <p:nvPr/>
        </p:nvCxnSpPr>
        <p:spPr>
          <a:xfrm>
            <a:off x="7193117" y="5969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46" name="qa5-946"/>
          <p:cNvCxnSpPr/>
          <p:nvPr/>
        </p:nvCxnSpPr>
        <p:spPr>
          <a:xfrm>
            <a:off x="9374508" y="5969992"/>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947" name="qa5-947"/>
          <p:cNvSpPr txBox="1"/>
          <p:nvPr/>
        </p:nvSpPr>
        <p:spPr>
          <a:xfrm>
            <a:off x="4549117" y="5981678"/>
            <a:ext cx="2574000" cy="104644"/>
          </a:xfrm>
          <a:prstGeom prst="rect">
            <a:avLst/>
          </a:prstGeom>
          <a:noFill/>
        </p:spPr>
        <p:txBody>
          <a:bodyPr wrap="square" lIns="0" tIns="0" rIns="0" bIns="0" anchor="ctr">
            <a:spAutoFit/>
          </a:bodyPr>
          <a:lstStyle/>
          <a:p>
            <a:pPr algn="r">
              <a:spcAft>
                <a:spcPts val="0"/>
              </a:spcAft>
            </a:pPr>
            <a:r>
              <a:rPr sz="680" b="0">
                <a:solidFill>
                  <a:srgbClr val="7F7F7F"/>
                </a:solidFill>
                <a:latin typeface="맑은 고딕"/>
                <a:ea typeface="맑은 고딕"/>
              </a:rPr>
              <a:t>KVServe-Unified(7.4×) 1.8% → 5.7%</a:t>
            </a:r>
          </a:p>
        </p:txBody>
      </p:sp>
      <p:sp>
        <p:nvSpPr>
          <p:cNvPr id="948" name="qa5-948"/>
          <p:cNvSpPr/>
          <p:nvPr/>
        </p:nvSpPr>
        <p:spPr>
          <a:xfrm>
            <a:off x="384048" y="6262000"/>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9" name="qa5-949"/>
          <p:cNvSpPr txBox="1"/>
          <p:nvPr/>
        </p:nvSpPr>
        <p:spPr>
          <a:xfrm>
            <a:off x="502920" y="6220852"/>
            <a:ext cx="144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문헌 보고 범위(허용 기준 아님)</a:t>
            </a:r>
          </a:p>
        </p:txBody>
      </p:sp>
      <p:sp>
        <p:nvSpPr>
          <p:cNvPr id="950" name="qa5-950"/>
          <p:cNvSpPr/>
          <p:nvPr/>
        </p:nvSpPr>
        <p:spPr>
          <a:xfrm>
            <a:off x="2118348" y="6257428"/>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1" name="qa5-951"/>
          <p:cNvSpPr txBox="1"/>
          <p:nvPr/>
        </p:nvSpPr>
        <p:spPr>
          <a:xfrm>
            <a:off x="2241792" y="6220852"/>
            <a:ext cx="120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본 기준에 채택된 값(표준)</a:t>
            </a:r>
          </a:p>
        </p:txBody>
      </p:sp>
      <p:sp>
        <p:nvSpPr>
          <p:cNvPr id="952" name="qa5-952"/>
          <p:cNvSpPr/>
          <p:nvPr/>
        </p:nvSpPr>
        <p:spPr>
          <a:xfrm>
            <a:off x="3617220" y="6257428"/>
            <a:ext cx="91440" cy="91440"/>
          </a:xfrm>
          <a:prstGeom prst="diamond">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3" name="qa5-953"/>
          <p:cNvSpPr txBox="1"/>
          <p:nvPr/>
        </p:nvSpPr>
        <p:spPr>
          <a:xfrm>
            <a:off x="3740664" y="6220852"/>
            <a:ext cx="80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완화 기준(미채택)</a:t>
            </a:r>
          </a:p>
        </p:txBody>
      </p:sp>
      <p:sp>
        <p:nvSpPr>
          <p:cNvPr id="954" name="qa5-954"/>
          <p:cNvSpPr/>
          <p:nvPr/>
        </p:nvSpPr>
        <p:spPr>
          <a:xfrm>
            <a:off x="4720664" y="6262000"/>
            <a:ext cx="82296" cy="82296"/>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5" name="qa5-955"/>
          <p:cNvSpPr txBox="1"/>
          <p:nvPr/>
        </p:nvSpPr>
        <p:spPr>
          <a:xfrm>
            <a:off x="4839536" y="6220852"/>
            <a:ext cx="2560000" cy="164592"/>
          </a:xfrm>
          <a:prstGeom prst="rect">
            <a:avLst/>
          </a:prstGeom>
          <a:noFill/>
        </p:spPr>
        <p:txBody>
          <a:bodyPr wrap="square" lIns="0" tIns="0" rIns="0" bIns="0" anchor="ctr">
            <a:spAutoFit/>
          </a:bodyPr>
          <a:lstStyle/>
          <a:p>
            <a:pPr algn="l">
              <a:spcAft>
                <a:spcPts val="0"/>
              </a:spcAft>
            </a:pPr>
            <a:r>
              <a:rPr sz="700" b="0">
                <a:solidFill>
                  <a:srgbClr val="404040"/>
                </a:solidFill>
                <a:latin typeface="맑은 고딕"/>
                <a:ea typeface="맑은 고딕"/>
              </a:rPr>
              <a:t>참고: KVServe Table 1 평균 → task 최악</a:t>
            </a:r>
          </a:p>
        </p:txBody>
      </p:sp>
      <p:sp>
        <p:nvSpPr>
          <p:cNvPr id="65" name="실행 단추: 뒤로 또는 이전 49">
            <a:hlinkClick r:id="rId3" action="ppaction://hlinksldjump" highlightClick="1"/>
            <a:extLst>
              <a:ext uri="{FF2B5EF4-FFF2-40B4-BE49-F238E27FC236}">
                <a16:creationId xmlns:a16="http://schemas.microsoft.com/office/drawing/2014/main" id="{A283DDDE-0879-46AD-AE22-01849EC54110}"/>
              </a:ext>
            </a:extLst>
          </p:cNvPr>
          <p:cNvSpPr/>
          <p:nvPr/>
        </p:nvSpPr>
        <p:spPr>
          <a:xfrm>
            <a:off x="11365523" y="17653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subtitle">
            <a:extLst>
              <a:ext uri="{FF2B5EF4-FFF2-40B4-BE49-F238E27FC236}">
                <a16:creationId xmlns:a16="http://schemas.microsoft.com/office/drawing/2014/main" id="{78A5440A-A1AB-4333-8BBD-BB7464C90E02}"/>
              </a:ext>
            </a:extLst>
          </p:cNvPr>
          <p:cNvSpPr txBox="1"/>
          <p:nvPr/>
        </p:nvSpPr>
        <p:spPr>
          <a:xfrm>
            <a:off x="10267427" y="212547"/>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품질 요구사항</a:t>
            </a:r>
            <a:endParaRPr lang="en-US" altLang="ko-KR" sz="1100" b="0" dirty="0">
              <a:latin typeface="맑은 고딕"/>
              <a:ea typeface="맑은 고딕"/>
            </a:endParaRPr>
          </a:p>
        </p:txBody>
      </p:sp>
      <p:sp>
        <p:nvSpPr>
          <p:cNvPr id="67" name="실행 단추: 뒤로 또는 이전 53">
            <a:hlinkClick r:id="" action="ppaction://hlinkshowjump?jump=lastslideviewed" highlightClick="1"/>
            <a:extLst>
              <a:ext uri="{FF2B5EF4-FFF2-40B4-BE49-F238E27FC236}">
                <a16:creationId xmlns:a16="http://schemas.microsoft.com/office/drawing/2014/main" id="{B60049BA-5E98-440D-AE22-4536BAF3C583}"/>
              </a:ext>
            </a:extLst>
          </p:cNvPr>
          <p:cNvSpPr/>
          <p:nvPr/>
        </p:nvSpPr>
        <p:spPr>
          <a:xfrm>
            <a:off x="11365523" y="575524"/>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subtitle">
            <a:extLst>
              <a:ext uri="{FF2B5EF4-FFF2-40B4-BE49-F238E27FC236}">
                <a16:creationId xmlns:a16="http://schemas.microsoft.com/office/drawing/2014/main" id="{D5B285A7-FB57-4FE8-B29F-F74BECA7DEC8}"/>
              </a:ext>
            </a:extLst>
          </p:cNvPr>
          <p:cNvSpPr txBox="1"/>
          <p:nvPr/>
        </p:nvSpPr>
        <p:spPr>
          <a:xfrm>
            <a:off x="10267427" y="611536"/>
            <a:ext cx="1162573" cy="243143"/>
          </a:xfrm>
          <a:prstGeom prst="rect">
            <a:avLst/>
          </a:prstGeom>
          <a:noFill/>
        </p:spPr>
        <p:txBody>
          <a:bodyPr wrap="square" lIns="73152" tIns="36576" rIns="73152" bIns="36576" anchor="t">
            <a:spAutoFit/>
          </a:bodyPr>
          <a:lstStyle/>
          <a:p>
            <a:pPr>
              <a:spcAft>
                <a:spcPts val="250"/>
              </a:spcAft>
            </a:pPr>
            <a:r>
              <a:rPr lang="ko-KR" altLang="en-US" sz="1100" dirty="0">
                <a:solidFill>
                  <a:srgbClr val="000000"/>
                </a:solidFill>
                <a:latin typeface="맑은 고딕"/>
                <a:ea typeface="맑은 고딕"/>
              </a:rPr>
              <a:t>이전 페이지</a:t>
            </a:r>
            <a:endParaRPr lang="en-US" altLang="ko-KR" sz="1100" b="0" dirty="0">
              <a:latin typeface="맑은 고딕"/>
              <a:ea typeface="맑은 고딕"/>
            </a:endParaRPr>
          </a:p>
        </p:txBody>
      </p:sp>
      <p:cxnSp>
        <p:nvCxnSpPr>
          <p:cNvPr id="6" name="직선 연결선 5"/>
          <p:cNvCxnSpPr/>
          <p:nvPr/>
        </p:nvCxnSpPr>
        <p:spPr>
          <a:xfrm>
            <a:off x="1498896" y="1514075"/>
            <a:ext cx="0" cy="24393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직선 연결선 7"/>
          <p:cNvCxnSpPr/>
          <p:nvPr/>
        </p:nvCxnSpPr>
        <p:spPr>
          <a:xfrm>
            <a:off x="1354116" y="3680460"/>
            <a:ext cx="3358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직선 연결선 75"/>
          <p:cNvCxnSpPr/>
          <p:nvPr/>
        </p:nvCxnSpPr>
        <p:spPr>
          <a:xfrm>
            <a:off x="1354116" y="2826659"/>
            <a:ext cx="3358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직선 연결선 76"/>
          <p:cNvCxnSpPr/>
          <p:nvPr/>
        </p:nvCxnSpPr>
        <p:spPr>
          <a:xfrm>
            <a:off x="1354116" y="1927499"/>
            <a:ext cx="335833"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직사각형 8"/>
          <p:cNvSpPr/>
          <p:nvPr/>
        </p:nvSpPr>
        <p:spPr>
          <a:xfrm>
            <a:off x="622613" y="1701014"/>
            <a:ext cx="730019" cy="333489"/>
          </a:xfrm>
          <a:prstGeom prst="rect">
            <a:avLst/>
          </a:prstGeom>
        </p:spPr>
        <p:txBody>
          <a:bodyPr wrap="square">
            <a:spAutoFit/>
          </a:bodyPr>
          <a:lstStyle/>
          <a:p>
            <a:pPr algn="ctr">
              <a:lnSpc>
                <a:spcPct val="125000"/>
              </a:lnSpc>
            </a:pPr>
            <a:r>
              <a:rPr lang="ko-KR" altLang="en-US" sz="1400" b="1" dirty="0" smtClean="0">
                <a:solidFill>
                  <a:srgbClr val="000000"/>
                </a:solidFill>
                <a:latin typeface="맑은 고딕" panose="020B0503020000020004" pitchFamily="50" charset="-127"/>
              </a:rPr>
              <a:t>●●●</a:t>
            </a:r>
            <a:endParaRPr lang="en-US" altLang="ko-KR" sz="1400" b="1" dirty="0">
              <a:solidFill>
                <a:srgbClr val="000000"/>
              </a:solidFill>
              <a:ea typeface="맑은 고딕"/>
            </a:endParaRPr>
          </a:p>
        </p:txBody>
      </p:sp>
      <p:sp>
        <p:nvSpPr>
          <p:cNvPr id="78" name="직사각형 77"/>
          <p:cNvSpPr/>
          <p:nvPr/>
        </p:nvSpPr>
        <p:spPr>
          <a:xfrm>
            <a:off x="622613" y="2623140"/>
            <a:ext cx="730019" cy="333489"/>
          </a:xfrm>
          <a:prstGeom prst="rect">
            <a:avLst/>
          </a:prstGeom>
        </p:spPr>
        <p:txBody>
          <a:bodyPr wrap="square">
            <a:spAutoFit/>
          </a:bodyPr>
          <a:lstStyle/>
          <a:p>
            <a:pPr algn="ctr">
              <a:lnSpc>
                <a:spcPct val="125000"/>
              </a:lnSpc>
            </a:pPr>
            <a:r>
              <a:rPr lang="ko-KR" altLang="en-US" sz="1400" b="1" dirty="0" smtClean="0">
                <a:solidFill>
                  <a:srgbClr val="000000"/>
                </a:solidFill>
                <a:latin typeface="맑은 고딕" panose="020B0503020000020004" pitchFamily="50" charset="-127"/>
              </a:rPr>
              <a:t>●●</a:t>
            </a:r>
            <a:r>
              <a:rPr lang="ko-KR" altLang="en-US" sz="1400" b="1" dirty="0" smtClean="0">
                <a:solidFill>
                  <a:srgbClr val="000000"/>
                </a:solidFill>
                <a:latin typeface="맑은 고딕" panose="020B0503020000020004" pitchFamily="50" charset="-127"/>
                <a:ea typeface="맑은 고딕" panose="020B0503020000020004" pitchFamily="50" charset="-127"/>
              </a:rPr>
              <a:t>○</a:t>
            </a:r>
            <a:endParaRPr lang="en-US" altLang="ko-KR" sz="1400" b="1" dirty="0">
              <a:solidFill>
                <a:srgbClr val="000000"/>
              </a:solidFill>
              <a:ea typeface="맑은 고딕"/>
            </a:endParaRPr>
          </a:p>
        </p:txBody>
      </p:sp>
      <p:sp>
        <p:nvSpPr>
          <p:cNvPr id="79" name="직사각형 78"/>
          <p:cNvSpPr/>
          <p:nvPr/>
        </p:nvSpPr>
        <p:spPr>
          <a:xfrm>
            <a:off x="641634" y="3496783"/>
            <a:ext cx="730019" cy="333489"/>
          </a:xfrm>
          <a:prstGeom prst="rect">
            <a:avLst/>
          </a:prstGeom>
        </p:spPr>
        <p:txBody>
          <a:bodyPr wrap="square">
            <a:spAutoFit/>
          </a:bodyPr>
          <a:lstStyle/>
          <a:p>
            <a:pPr algn="ctr">
              <a:lnSpc>
                <a:spcPct val="125000"/>
              </a:lnSpc>
            </a:pPr>
            <a:r>
              <a:rPr lang="ko-KR" altLang="en-US" sz="1400" b="1" dirty="0" smtClean="0">
                <a:solidFill>
                  <a:srgbClr val="000000"/>
                </a:solidFill>
                <a:latin typeface="맑은 고딕" panose="020B0503020000020004" pitchFamily="50" charset="-127"/>
              </a:rPr>
              <a:t>●○</a:t>
            </a:r>
            <a:r>
              <a:rPr lang="ko-KR" altLang="en-US" sz="1400" b="1" dirty="0">
                <a:solidFill>
                  <a:srgbClr val="000000"/>
                </a:solidFill>
                <a:latin typeface="맑은 고딕" panose="020B0503020000020004" pitchFamily="50" charset="-127"/>
              </a:rPr>
              <a:t>○</a:t>
            </a:r>
            <a:endParaRPr lang="en-US" altLang="ko-KR" sz="1400" b="1" dirty="0">
              <a:solidFill>
                <a:srgbClr val="000000"/>
              </a:solidFill>
              <a:ea typeface="맑은 고딕"/>
            </a:endParaRPr>
          </a:p>
        </p:txBody>
      </p:sp>
      <p:sp>
        <p:nvSpPr>
          <p:cNvPr id="81" name="직사각형 80"/>
          <p:cNvSpPr/>
          <p:nvPr/>
        </p:nvSpPr>
        <p:spPr>
          <a:xfrm>
            <a:off x="622613" y="3072821"/>
            <a:ext cx="730019" cy="333489"/>
          </a:xfrm>
          <a:prstGeom prst="rect">
            <a:avLst/>
          </a:prstGeom>
        </p:spPr>
        <p:txBody>
          <a:bodyPr wrap="square">
            <a:spAutoFit/>
          </a:bodyPr>
          <a:lstStyle/>
          <a:p>
            <a:pPr algn="ctr">
              <a:lnSpc>
                <a:spcPct val="125000"/>
              </a:lnSpc>
            </a:pPr>
            <a:r>
              <a:rPr lang="ko-KR" altLang="en-US" sz="1400" b="1" dirty="0" smtClean="0">
                <a:solidFill>
                  <a:srgbClr val="000000"/>
                </a:solidFill>
                <a:latin typeface="맑은 고딕" panose="020B0503020000020004" pitchFamily="50" charset="-127"/>
              </a:rPr>
              <a:t>●◐</a:t>
            </a:r>
            <a:r>
              <a:rPr lang="ko-KR" altLang="en-US" sz="1400" b="1" dirty="0">
                <a:solidFill>
                  <a:srgbClr val="000000"/>
                </a:solidFill>
                <a:latin typeface="맑은 고딕" panose="020B0503020000020004" pitchFamily="50" charset="-127"/>
              </a:rPr>
              <a:t>○</a:t>
            </a:r>
            <a:endParaRPr lang="en-US" altLang="ko-KR" sz="1400" b="1" dirty="0">
              <a:solidFill>
                <a:srgbClr val="000000"/>
              </a:solidFill>
              <a:ea typeface="맑은 고딕"/>
            </a:endParaRPr>
          </a:p>
        </p:txBody>
      </p:sp>
      <p:sp>
        <p:nvSpPr>
          <p:cNvPr id="82" name="직사각형 81"/>
          <p:cNvSpPr/>
          <p:nvPr/>
        </p:nvSpPr>
        <p:spPr>
          <a:xfrm>
            <a:off x="622613" y="2193622"/>
            <a:ext cx="730019" cy="333489"/>
          </a:xfrm>
          <a:prstGeom prst="rect">
            <a:avLst/>
          </a:prstGeom>
        </p:spPr>
        <p:txBody>
          <a:bodyPr wrap="square">
            <a:spAutoFit/>
          </a:bodyPr>
          <a:lstStyle/>
          <a:p>
            <a:pPr algn="ctr">
              <a:lnSpc>
                <a:spcPct val="125000"/>
              </a:lnSpc>
            </a:pPr>
            <a:r>
              <a:rPr lang="ko-KR" altLang="en-US" sz="1400" b="1" dirty="0" smtClean="0">
                <a:solidFill>
                  <a:srgbClr val="000000"/>
                </a:solidFill>
                <a:latin typeface="맑은 고딕" panose="020B0503020000020004" pitchFamily="50" charset="-127"/>
              </a:rPr>
              <a:t>●●</a:t>
            </a:r>
            <a:r>
              <a:rPr lang="ko-KR" altLang="en-US" sz="1400" b="1" dirty="0">
                <a:solidFill>
                  <a:srgbClr val="000000"/>
                </a:solidFill>
                <a:latin typeface="맑은 고딕" panose="020B0503020000020004" pitchFamily="50" charset="-127"/>
              </a:rPr>
              <a:t>◐</a:t>
            </a:r>
            <a:endParaRPr lang="en-US" altLang="ko-KR" sz="1400" b="1" dirty="0">
              <a:solidFill>
                <a:srgbClr val="000000"/>
              </a:solidFill>
              <a:ea typeface="맑은 고딕"/>
            </a:endParaRPr>
          </a:p>
        </p:txBody>
      </p:sp>
      <p:cxnSp>
        <p:nvCxnSpPr>
          <p:cNvPr id="83" name="직선 연결선 82"/>
          <p:cNvCxnSpPr/>
          <p:nvPr/>
        </p:nvCxnSpPr>
        <p:spPr>
          <a:xfrm>
            <a:off x="1354116" y="2383226"/>
            <a:ext cx="3358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직선 연결선 83"/>
          <p:cNvCxnSpPr/>
          <p:nvPr/>
        </p:nvCxnSpPr>
        <p:spPr>
          <a:xfrm>
            <a:off x="1354116" y="3270045"/>
            <a:ext cx="335833" cy="0"/>
          </a:xfrm>
          <a:prstGeom prst="line">
            <a:avLst/>
          </a:prstGeom>
        </p:spPr>
        <p:style>
          <a:lnRef idx="1">
            <a:schemeClr val="accent1"/>
          </a:lnRef>
          <a:fillRef idx="0">
            <a:schemeClr val="accent1"/>
          </a:fillRef>
          <a:effectRef idx="0">
            <a:schemeClr val="accent1"/>
          </a:effectRef>
          <a:fontRef idx="minor">
            <a:schemeClr val="tx1"/>
          </a:fontRef>
        </p:style>
      </p:cxnSp>
      <p:sp>
        <p:nvSpPr>
          <p:cNvPr id="94" name="Rectangle 8"/>
          <p:cNvSpPr/>
          <p:nvPr/>
        </p:nvSpPr>
        <p:spPr>
          <a:xfrm>
            <a:off x="2180510" y="1841592"/>
            <a:ext cx="402336"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r">
              <a:lnSpc>
                <a:spcPct val="95000"/>
              </a:lnSpc>
            </a:pPr>
            <a:r>
              <a:rPr sz="850" b="1" i="0" dirty="0" smtClean="0">
                <a:solidFill>
                  <a:srgbClr val="548235"/>
                </a:solidFill>
                <a:latin typeface="맑은 고딕"/>
                <a:ea typeface="맑은 고딕"/>
              </a:rPr>
              <a:t>(</a:t>
            </a:r>
            <a:r>
              <a:rPr lang="ko-KR" altLang="en-US" sz="850" b="1" dirty="0" smtClean="0">
                <a:solidFill>
                  <a:srgbClr val="548235"/>
                </a:solidFill>
                <a:latin typeface="맑은 고딕"/>
                <a:ea typeface="맑은 고딕"/>
              </a:rPr>
              <a:t>최대</a:t>
            </a:r>
            <a:r>
              <a:rPr sz="850" b="1" i="0" dirty="0" smtClean="0">
                <a:solidFill>
                  <a:srgbClr val="548235"/>
                </a:solidFill>
                <a:latin typeface="맑은 고딕"/>
                <a:ea typeface="맑은 고딕"/>
              </a:rPr>
              <a:t>)</a:t>
            </a:r>
            <a:endParaRPr sz="850" b="1" i="0" dirty="0">
              <a:solidFill>
                <a:srgbClr val="548235"/>
              </a:solidFill>
              <a:latin typeface="맑은 고딕"/>
              <a:ea typeface="맑은 고딕"/>
            </a:endParaRPr>
          </a:p>
        </p:txBody>
      </p:sp>
      <p:sp>
        <p:nvSpPr>
          <p:cNvPr id="95" name="TextBox 94"/>
          <p:cNvSpPr txBox="1"/>
          <p:nvPr/>
        </p:nvSpPr>
        <p:spPr>
          <a:xfrm>
            <a:off x="2655998" y="1823304"/>
            <a:ext cx="7863840" cy="237744"/>
          </a:xfrm>
          <a:prstGeom prst="rect">
            <a:avLst/>
          </a:prstGeom>
          <a:noFill/>
        </p:spPr>
        <p:txBody>
          <a:bodyPr wrap="square" lIns="0" tIns="0" rIns="0" bIns="0" anchor="ctr">
            <a:spAutoFit/>
          </a:bodyPr>
          <a:lstStyle/>
          <a:p>
            <a:pPr algn="l"/>
            <a:r>
              <a:rPr sz="930" b="0" i="0" dirty="0" err="1">
                <a:solidFill>
                  <a:srgbClr val="404040"/>
                </a:solidFill>
                <a:latin typeface="맑은 고딕"/>
                <a:ea typeface="맑은 고딕"/>
              </a:rPr>
              <a:t>MLPerf</a:t>
            </a:r>
            <a:r>
              <a:rPr sz="930" b="0" i="0" dirty="0">
                <a:solidFill>
                  <a:srgbClr val="404040"/>
                </a:solidFill>
                <a:latin typeface="맑은 고딕"/>
                <a:ea typeface="맑은 고딕"/>
              </a:rPr>
              <a:t> </a:t>
            </a:r>
            <a:r>
              <a:rPr sz="930" b="0" i="0" dirty="0" err="1">
                <a:solidFill>
                  <a:srgbClr val="404040"/>
                </a:solidFill>
                <a:latin typeface="맑은 고딕"/>
                <a:ea typeface="맑은 고딕"/>
              </a:rPr>
              <a:t>Inference의</a:t>
            </a:r>
            <a:r>
              <a:rPr sz="930" b="0" i="0" dirty="0">
                <a:solidFill>
                  <a:srgbClr val="404040"/>
                </a:solidFill>
                <a:latin typeface="맑은 고딕"/>
                <a:ea typeface="맑은 고딕"/>
              </a:rPr>
              <a:t> 99.9% </a:t>
            </a:r>
            <a:r>
              <a:rPr sz="930" b="0" i="0" dirty="0" err="1">
                <a:solidFill>
                  <a:srgbClr val="404040"/>
                </a:solidFill>
                <a:latin typeface="맑은 고딕"/>
                <a:ea typeface="맑은 고딕"/>
              </a:rPr>
              <a:t>정확도</a:t>
            </a:r>
            <a:r>
              <a:rPr sz="930" b="0" i="0" dirty="0">
                <a:solidFill>
                  <a:srgbClr val="404040"/>
                </a:solidFill>
                <a:latin typeface="맑은 고딕"/>
                <a:ea typeface="맑은 고딕"/>
              </a:rPr>
              <a:t> </a:t>
            </a:r>
            <a:r>
              <a:rPr sz="930" b="0" i="0" dirty="0" err="1">
                <a:solidFill>
                  <a:srgbClr val="404040"/>
                </a:solidFill>
                <a:latin typeface="맑은 고딕"/>
                <a:ea typeface="맑은 고딕"/>
              </a:rPr>
              <a:t>tier와</a:t>
            </a:r>
            <a:r>
              <a:rPr sz="930" b="0" i="0" dirty="0">
                <a:solidFill>
                  <a:srgbClr val="404040"/>
                </a:solidFill>
                <a:latin typeface="맑은 고딕"/>
                <a:ea typeface="맑은 고딕"/>
              </a:rPr>
              <a:t> </a:t>
            </a:r>
            <a:r>
              <a:rPr sz="930" b="0" i="0" dirty="0" err="1">
                <a:solidFill>
                  <a:srgbClr val="404040"/>
                </a:solidFill>
                <a:latin typeface="맑은 고딕"/>
                <a:ea typeface="맑은 고딕"/>
              </a:rPr>
              <a:t>같은</a:t>
            </a:r>
            <a:r>
              <a:rPr sz="930" b="0" i="0" dirty="0">
                <a:solidFill>
                  <a:srgbClr val="404040"/>
                </a:solidFill>
                <a:latin typeface="맑은 고딕"/>
                <a:ea typeface="맑은 고딕"/>
              </a:rPr>
              <a:t> </a:t>
            </a:r>
            <a:r>
              <a:rPr sz="930" b="0" i="0" dirty="0" err="1">
                <a:solidFill>
                  <a:srgbClr val="404040"/>
                </a:solidFill>
                <a:latin typeface="맑은 고딕"/>
                <a:ea typeface="맑은 고딕"/>
              </a:rPr>
              <a:t>수준</a:t>
            </a:r>
            <a:r>
              <a:rPr sz="930" b="0" i="0" dirty="0">
                <a:solidFill>
                  <a:srgbClr val="404040"/>
                </a:solidFill>
                <a:latin typeface="맑은 고딕"/>
                <a:ea typeface="맑은 고딕"/>
              </a:rPr>
              <a:t> — full </a:t>
            </a:r>
            <a:r>
              <a:rPr sz="930" b="0" i="0" dirty="0" err="1">
                <a:solidFill>
                  <a:srgbClr val="404040"/>
                </a:solidFill>
                <a:latin typeface="맑은 고딕"/>
                <a:ea typeface="맑은 고딕"/>
              </a:rPr>
              <a:t>recompute와</a:t>
            </a:r>
            <a:r>
              <a:rPr sz="930" b="0" i="0" dirty="0">
                <a:solidFill>
                  <a:srgbClr val="404040"/>
                </a:solidFill>
                <a:latin typeface="맑은 고딕"/>
                <a:ea typeface="맑은 고딕"/>
              </a:rPr>
              <a:t> </a:t>
            </a:r>
            <a:r>
              <a:rPr sz="930" b="0" i="0" dirty="0" err="1">
                <a:solidFill>
                  <a:srgbClr val="404040"/>
                </a:solidFill>
                <a:latin typeface="맑은 고딕"/>
                <a:ea typeface="맑은 고딕"/>
              </a:rPr>
              <a:t>사실상</a:t>
            </a:r>
            <a:r>
              <a:rPr sz="930" b="0" i="0" dirty="0">
                <a:solidFill>
                  <a:srgbClr val="404040"/>
                </a:solidFill>
                <a:latin typeface="맑은 고딕"/>
                <a:ea typeface="맑은 고딕"/>
              </a:rPr>
              <a:t> </a:t>
            </a:r>
            <a:r>
              <a:rPr sz="930" b="0" i="0" dirty="0" err="1">
                <a:solidFill>
                  <a:srgbClr val="404040"/>
                </a:solidFill>
                <a:latin typeface="맑은 고딕"/>
                <a:ea typeface="맑은 고딕"/>
              </a:rPr>
              <a:t>구분되지</a:t>
            </a:r>
            <a:r>
              <a:rPr sz="930" b="0" i="0" dirty="0">
                <a:solidFill>
                  <a:srgbClr val="404040"/>
                </a:solidFill>
                <a:latin typeface="맑은 고딕"/>
                <a:ea typeface="맑은 고딕"/>
              </a:rPr>
              <a:t> </a:t>
            </a:r>
            <a:r>
              <a:rPr sz="930" b="0" i="0" dirty="0" err="1">
                <a:solidFill>
                  <a:srgbClr val="404040"/>
                </a:solidFill>
                <a:latin typeface="맑은 고딕"/>
                <a:ea typeface="맑은 고딕"/>
              </a:rPr>
              <a:t>않는</a:t>
            </a:r>
            <a:r>
              <a:rPr sz="930" b="0" i="0" dirty="0">
                <a:solidFill>
                  <a:srgbClr val="404040"/>
                </a:solidFill>
                <a:latin typeface="맑은 고딕"/>
                <a:ea typeface="맑은 고딕"/>
              </a:rPr>
              <a:t> </a:t>
            </a:r>
            <a:r>
              <a:rPr sz="930" b="0" i="0" dirty="0" err="1">
                <a:solidFill>
                  <a:srgbClr val="404040"/>
                </a:solidFill>
                <a:latin typeface="맑은 고딕"/>
                <a:ea typeface="맑은 고딕"/>
              </a:rPr>
              <a:t>구간</a:t>
            </a:r>
            <a:endParaRPr sz="930" b="0" i="0" dirty="0">
              <a:solidFill>
                <a:srgbClr val="404040"/>
              </a:solidFill>
              <a:latin typeface="맑은 고딕"/>
              <a:ea typeface="맑은 고딕"/>
            </a:endParaRPr>
          </a:p>
        </p:txBody>
      </p:sp>
      <p:sp>
        <p:nvSpPr>
          <p:cNvPr id="97" name="Rectangle 23"/>
          <p:cNvSpPr/>
          <p:nvPr/>
        </p:nvSpPr>
        <p:spPr>
          <a:xfrm>
            <a:off x="2194023" y="3606895"/>
            <a:ext cx="402336"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r">
              <a:lnSpc>
                <a:spcPct val="95000"/>
              </a:lnSpc>
            </a:pPr>
            <a:r>
              <a:rPr sz="850" b="1" i="0" dirty="0">
                <a:solidFill>
                  <a:srgbClr val="C00000"/>
                </a:solidFill>
                <a:latin typeface="맑은 고딕"/>
                <a:ea typeface="맑은 고딕"/>
              </a:rPr>
              <a:t>(</a:t>
            </a:r>
            <a:r>
              <a:rPr sz="850" b="1" i="0" dirty="0" err="1">
                <a:solidFill>
                  <a:srgbClr val="C00000"/>
                </a:solidFill>
                <a:latin typeface="맑은 고딕"/>
                <a:ea typeface="맑은 고딕"/>
              </a:rPr>
              <a:t>최소</a:t>
            </a:r>
            <a:r>
              <a:rPr sz="850" b="1" i="0" dirty="0">
                <a:solidFill>
                  <a:srgbClr val="C00000"/>
                </a:solidFill>
                <a:latin typeface="맑은 고딕"/>
                <a:ea typeface="맑은 고딕"/>
              </a:rPr>
              <a:t>)</a:t>
            </a:r>
          </a:p>
        </p:txBody>
      </p:sp>
      <p:sp>
        <p:nvSpPr>
          <p:cNvPr id="98" name="TextBox 97"/>
          <p:cNvSpPr txBox="1"/>
          <p:nvPr/>
        </p:nvSpPr>
        <p:spPr>
          <a:xfrm>
            <a:off x="2692642" y="3644676"/>
            <a:ext cx="7863840" cy="143116"/>
          </a:xfrm>
          <a:prstGeom prst="rect">
            <a:avLst/>
          </a:prstGeom>
          <a:noFill/>
        </p:spPr>
        <p:txBody>
          <a:bodyPr wrap="square" lIns="0" tIns="0" rIns="0" bIns="0" anchor="ctr">
            <a:spAutoFit/>
          </a:bodyPr>
          <a:lstStyle/>
          <a:p>
            <a:pPr algn="l"/>
            <a:r>
              <a:rPr sz="930" b="0" i="0" dirty="0" err="1">
                <a:solidFill>
                  <a:srgbClr val="404040"/>
                </a:solidFill>
                <a:latin typeface="맑은 고딕"/>
                <a:ea typeface="맑은 고딕"/>
              </a:rPr>
              <a:t>MLPerf</a:t>
            </a:r>
            <a:r>
              <a:rPr sz="930" b="0" i="0" dirty="0">
                <a:solidFill>
                  <a:srgbClr val="404040"/>
                </a:solidFill>
                <a:latin typeface="맑은 고딕"/>
                <a:ea typeface="맑은 고딕"/>
              </a:rPr>
              <a:t> </a:t>
            </a:r>
            <a:r>
              <a:rPr sz="930" b="0" i="0" dirty="0" err="1">
                <a:solidFill>
                  <a:srgbClr val="404040"/>
                </a:solidFill>
                <a:latin typeface="맑은 고딕"/>
                <a:ea typeface="맑은 고딕"/>
              </a:rPr>
              <a:t>Inference의</a:t>
            </a:r>
            <a:r>
              <a:rPr sz="930" b="0" i="0" dirty="0">
                <a:solidFill>
                  <a:srgbClr val="404040"/>
                </a:solidFill>
                <a:latin typeface="맑은 고딕"/>
                <a:ea typeface="맑은 고딕"/>
              </a:rPr>
              <a:t> 99% </a:t>
            </a:r>
            <a:r>
              <a:rPr sz="930" b="0" i="0" dirty="0" err="1">
                <a:solidFill>
                  <a:srgbClr val="404040"/>
                </a:solidFill>
                <a:latin typeface="맑은 고딕"/>
                <a:ea typeface="맑은 고딕"/>
              </a:rPr>
              <a:t>정확도</a:t>
            </a:r>
            <a:r>
              <a:rPr sz="930" b="0" i="0" dirty="0">
                <a:solidFill>
                  <a:srgbClr val="404040"/>
                </a:solidFill>
                <a:latin typeface="맑은 고딕"/>
                <a:ea typeface="맑은 고딕"/>
              </a:rPr>
              <a:t> </a:t>
            </a:r>
            <a:r>
              <a:rPr sz="930" b="0" i="0" dirty="0" smtClean="0">
                <a:solidFill>
                  <a:srgbClr val="404040"/>
                </a:solidFill>
                <a:latin typeface="맑은 고딕"/>
                <a:ea typeface="맑은 고딕"/>
              </a:rPr>
              <a:t>tier</a:t>
            </a:r>
            <a:r>
              <a:rPr lang="en-US" sz="930" b="0" i="0" dirty="0" smtClean="0">
                <a:solidFill>
                  <a:srgbClr val="404040"/>
                </a:solidFill>
                <a:latin typeface="맑은 고딕"/>
                <a:ea typeface="맑은 고딕"/>
              </a:rPr>
              <a:t>, </a:t>
            </a:r>
            <a:r>
              <a:rPr sz="930" b="0" i="0" dirty="0" smtClean="0">
                <a:solidFill>
                  <a:srgbClr val="404040"/>
                </a:solidFill>
                <a:latin typeface="맑은 고딕"/>
                <a:ea typeface="맑은 고딕"/>
              </a:rPr>
              <a:t>LLM </a:t>
            </a:r>
            <a:r>
              <a:rPr sz="930" b="0" i="0" dirty="0">
                <a:solidFill>
                  <a:srgbClr val="404040"/>
                </a:solidFill>
                <a:latin typeface="맑은 고딕"/>
                <a:ea typeface="맑은 고딕"/>
              </a:rPr>
              <a:t>KV </a:t>
            </a:r>
            <a:r>
              <a:rPr sz="930" b="0" i="0" dirty="0" err="1">
                <a:solidFill>
                  <a:srgbClr val="404040"/>
                </a:solidFill>
                <a:latin typeface="맑은 고딕"/>
                <a:ea typeface="맑은 고딕"/>
              </a:rPr>
              <a:t>압축</a:t>
            </a:r>
            <a:r>
              <a:rPr sz="930" b="0" i="0" dirty="0">
                <a:solidFill>
                  <a:srgbClr val="404040"/>
                </a:solidFill>
                <a:latin typeface="맑은 고딕"/>
                <a:ea typeface="맑은 고딕"/>
              </a:rPr>
              <a:t> </a:t>
            </a:r>
            <a:r>
              <a:rPr sz="930" b="0" i="0" dirty="0" err="1">
                <a:solidFill>
                  <a:srgbClr val="404040"/>
                </a:solidFill>
                <a:latin typeface="맑은 고딕"/>
                <a:ea typeface="맑은 고딕"/>
              </a:rPr>
              <a:t>연구</a:t>
            </a:r>
            <a:r>
              <a:rPr sz="930" b="0" i="0" dirty="0">
                <a:solidFill>
                  <a:srgbClr val="404040"/>
                </a:solidFill>
                <a:latin typeface="맑은 고딕"/>
                <a:ea typeface="맑은 고딕"/>
              </a:rPr>
              <a:t> </a:t>
            </a:r>
            <a:r>
              <a:rPr sz="930" b="0" i="0" dirty="0" err="1">
                <a:solidFill>
                  <a:srgbClr val="404040"/>
                </a:solidFill>
                <a:latin typeface="맑은 고딕"/>
                <a:ea typeface="맑은 고딕"/>
              </a:rPr>
              <a:t>대부분이</a:t>
            </a:r>
            <a:r>
              <a:rPr sz="930" b="0" i="0" dirty="0">
                <a:solidFill>
                  <a:srgbClr val="404040"/>
                </a:solidFill>
                <a:latin typeface="맑은 고딕"/>
                <a:ea typeface="맑은 고딕"/>
              </a:rPr>
              <a:t> 1%를 </a:t>
            </a:r>
            <a:r>
              <a:rPr sz="930" b="0" i="0" dirty="0" err="1">
                <a:solidFill>
                  <a:srgbClr val="404040"/>
                </a:solidFill>
                <a:latin typeface="맑은 고딕"/>
                <a:ea typeface="맑은 고딕"/>
              </a:rPr>
              <a:t>제약으로</a:t>
            </a:r>
            <a:r>
              <a:rPr sz="930" b="0" i="0" dirty="0">
                <a:solidFill>
                  <a:srgbClr val="404040"/>
                </a:solidFill>
                <a:latin typeface="맑은 고딕"/>
                <a:ea typeface="맑은 고딕"/>
              </a:rPr>
              <a:t> </a:t>
            </a:r>
            <a:r>
              <a:rPr sz="930" b="0" i="0" dirty="0" err="1">
                <a:solidFill>
                  <a:srgbClr val="404040"/>
                </a:solidFill>
                <a:latin typeface="맑은 고딕"/>
                <a:ea typeface="맑은 고딕"/>
              </a:rPr>
              <a:t>사용</a:t>
            </a:r>
            <a:endParaRPr sz="930" b="0" i="0" dirty="0">
              <a:solidFill>
                <a:srgbClr val="404040"/>
              </a:solidFill>
              <a:latin typeface="맑은 고딕"/>
              <a:ea typeface="맑은 고딕"/>
            </a:endParaRPr>
          </a:p>
        </p:txBody>
      </p:sp>
      <p:sp>
        <p:nvSpPr>
          <p:cNvPr id="100" name="TextBox 99"/>
          <p:cNvSpPr txBox="1"/>
          <p:nvPr/>
        </p:nvSpPr>
        <p:spPr>
          <a:xfrm>
            <a:off x="1752096" y="1854936"/>
            <a:ext cx="457692" cy="161583"/>
          </a:xfrm>
          <a:prstGeom prst="rect">
            <a:avLst/>
          </a:prstGeom>
          <a:noFill/>
        </p:spPr>
        <p:txBody>
          <a:bodyPr wrap="square" lIns="0" tIns="0" rIns="0" bIns="0" anchor="ctr">
            <a:spAutoFit/>
          </a:bodyPr>
          <a:lstStyle/>
          <a:p>
            <a:pPr algn="l"/>
            <a:r>
              <a:rPr sz="1050" b="1" i="0" dirty="0" smtClean="0">
                <a:solidFill>
                  <a:srgbClr val="404040"/>
                </a:solidFill>
                <a:latin typeface="맑은 고딕"/>
                <a:ea typeface="맑은 고딕"/>
              </a:rPr>
              <a:t> </a:t>
            </a:r>
            <a:r>
              <a:rPr sz="1050" b="1" i="0" dirty="0">
                <a:solidFill>
                  <a:srgbClr val="404040"/>
                </a:solidFill>
                <a:latin typeface="맑은 고딕"/>
                <a:ea typeface="맑은 고딕"/>
              </a:rPr>
              <a:t>0.1%</a:t>
            </a:r>
          </a:p>
        </p:txBody>
      </p:sp>
      <p:sp>
        <p:nvSpPr>
          <p:cNvPr id="101" name="TextBox 100"/>
          <p:cNvSpPr txBox="1"/>
          <p:nvPr/>
        </p:nvSpPr>
        <p:spPr>
          <a:xfrm>
            <a:off x="1788681" y="2742149"/>
            <a:ext cx="564065" cy="161583"/>
          </a:xfrm>
          <a:prstGeom prst="rect">
            <a:avLst/>
          </a:prstGeom>
          <a:noFill/>
        </p:spPr>
        <p:txBody>
          <a:bodyPr wrap="square" lIns="0" tIns="0" rIns="0" bIns="0" anchor="ctr">
            <a:spAutoFit/>
          </a:bodyPr>
          <a:lstStyle/>
          <a:p>
            <a:pPr algn="l"/>
            <a:r>
              <a:rPr sz="1050" b="1" i="0" dirty="0" smtClean="0">
                <a:solidFill>
                  <a:srgbClr val="404040"/>
                </a:solidFill>
                <a:latin typeface="맑은 고딕"/>
                <a:ea typeface="맑은 고딕"/>
              </a:rPr>
              <a:t>0.</a:t>
            </a:r>
            <a:r>
              <a:rPr lang="en-US" sz="1050" b="1" i="0" dirty="0" smtClean="0">
                <a:solidFill>
                  <a:srgbClr val="404040"/>
                </a:solidFill>
                <a:latin typeface="맑은 고딕"/>
                <a:ea typeface="맑은 고딕"/>
              </a:rPr>
              <a:t>5</a:t>
            </a:r>
            <a:r>
              <a:rPr sz="1050" b="1" i="0" dirty="0" smtClean="0">
                <a:solidFill>
                  <a:srgbClr val="404040"/>
                </a:solidFill>
                <a:latin typeface="맑은 고딕"/>
                <a:ea typeface="맑은 고딕"/>
              </a:rPr>
              <a:t>%</a:t>
            </a:r>
            <a:endParaRPr sz="1050" b="1" i="0" dirty="0">
              <a:solidFill>
                <a:srgbClr val="404040"/>
              </a:solidFill>
              <a:latin typeface="맑은 고딕"/>
              <a:ea typeface="맑은 고딕"/>
            </a:endParaRPr>
          </a:p>
        </p:txBody>
      </p:sp>
      <p:sp>
        <p:nvSpPr>
          <p:cNvPr id="102" name="TextBox 101"/>
          <p:cNvSpPr txBox="1"/>
          <p:nvPr/>
        </p:nvSpPr>
        <p:spPr>
          <a:xfrm>
            <a:off x="1757083" y="3623155"/>
            <a:ext cx="1609344" cy="161583"/>
          </a:xfrm>
          <a:prstGeom prst="rect">
            <a:avLst/>
          </a:prstGeom>
          <a:noFill/>
        </p:spPr>
        <p:txBody>
          <a:bodyPr wrap="square" lIns="0" tIns="0" rIns="0" bIns="0" anchor="ctr">
            <a:spAutoFit/>
          </a:bodyPr>
          <a:lstStyle/>
          <a:p>
            <a:pPr algn="l"/>
            <a:r>
              <a:rPr lang="en-US" sz="1050" b="1" i="0" dirty="0" smtClean="0">
                <a:solidFill>
                  <a:srgbClr val="404040"/>
                </a:solidFill>
                <a:latin typeface="맑은 고딕"/>
                <a:ea typeface="맑은 고딕"/>
              </a:rPr>
              <a:t>1</a:t>
            </a:r>
            <a:r>
              <a:rPr sz="1050" b="1" i="0" dirty="0" smtClean="0">
                <a:solidFill>
                  <a:srgbClr val="404040"/>
                </a:solidFill>
                <a:latin typeface="맑은 고딕"/>
                <a:ea typeface="맑은 고딕"/>
              </a:rPr>
              <a:t>%</a:t>
            </a:r>
            <a:endParaRPr sz="1050" b="1" i="0" dirty="0">
              <a:solidFill>
                <a:srgbClr val="404040"/>
              </a:solidFill>
              <a:latin typeface="맑은 고딕"/>
              <a:ea typeface="맑은 고딕"/>
            </a:endParaRPr>
          </a:p>
        </p:txBody>
      </p:sp>
      <p:sp>
        <p:nvSpPr>
          <p:cNvPr id="103" name="TextBox 102"/>
          <p:cNvSpPr txBox="1"/>
          <p:nvPr/>
        </p:nvSpPr>
        <p:spPr>
          <a:xfrm>
            <a:off x="1782663" y="3203242"/>
            <a:ext cx="564065" cy="161583"/>
          </a:xfrm>
          <a:prstGeom prst="rect">
            <a:avLst/>
          </a:prstGeom>
          <a:noFill/>
        </p:spPr>
        <p:txBody>
          <a:bodyPr wrap="square" lIns="0" tIns="0" rIns="0" bIns="0" anchor="ctr">
            <a:spAutoFit/>
          </a:bodyPr>
          <a:lstStyle/>
          <a:p>
            <a:pPr algn="l"/>
            <a:r>
              <a:rPr lang="en-US" sz="1050" b="1" dirty="0" smtClean="0">
                <a:solidFill>
                  <a:srgbClr val="404040"/>
                </a:solidFill>
                <a:latin typeface="맑은 고딕"/>
                <a:ea typeface="맑은 고딕"/>
              </a:rPr>
              <a:t>0.75</a:t>
            </a:r>
            <a:r>
              <a:rPr sz="1050" b="1" i="0" dirty="0" smtClean="0">
                <a:solidFill>
                  <a:srgbClr val="404040"/>
                </a:solidFill>
                <a:latin typeface="맑은 고딕"/>
                <a:ea typeface="맑은 고딕"/>
              </a:rPr>
              <a:t>%</a:t>
            </a:r>
            <a:endParaRPr sz="1050" b="1" i="0" dirty="0">
              <a:solidFill>
                <a:srgbClr val="404040"/>
              </a:solidFill>
              <a:latin typeface="맑은 고딕"/>
              <a:ea typeface="맑은 고딕"/>
            </a:endParaRPr>
          </a:p>
        </p:txBody>
      </p:sp>
      <p:sp>
        <p:nvSpPr>
          <p:cNvPr id="104" name="TextBox 103"/>
          <p:cNvSpPr txBox="1"/>
          <p:nvPr/>
        </p:nvSpPr>
        <p:spPr>
          <a:xfrm>
            <a:off x="1782663" y="2288186"/>
            <a:ext cx="564065" cy="161583"/>
          </a:xfrm>
          <a:prstGeom prst="rect">
            <a:avLst/>
          </a:prstGeom>
          <a:noFill/>
        </p:spPr>
        <p:txBody>
          <a:bodyPr wrap="square" lIns="0" tIns="0" rIns="0" bIns="0" anchor="ctr">
            <a:spAutoFit/>
          </a:bodyPr>
          <a:lstStyle/>
          <a:p>
            <a:pPr algn="l"/>
            <a:r>
              <a:rPr lang="en-US" sz="1050" b="1" dirty="0" smtClean="0">
                <a:solidFill>
                  <a:srgbClr val="404040"/>
                </a:solidFill>
                <a:latin typeface="맑은 고딕"/>
                <a:ea typeface="맑은 고딕"/>
              </a:rPr>
              <a:t>0.25</a:t>
            </a:r>
            <a:r>
              <a:rPr sz="1050" b="1" i="0" dirty="0" smtClean="0">
                <a:solidFill>
                  <a:srgbClr val="404040"/>
                </a:solidFill>
                <a:latin typeface="맑은 고딕"/>
                <a:ea typeface="맑은 고딕"/>
              </a:rPr>
              <a:t>%</a:t>
            </a:r>
            <a:endParaRPr sz="1050" b="1" i="0" dirty="0">
              <a:solidFill>
                <a:srgbClr val="404040"/>
              </a:solidFill>
              <a:latin typeface="맑은 고딕"/>
              <a:ea typeface="맑은 고딕"/>
            </a:endParaRPr>
          </a:p>
        </p:txBody>
      </p:sp>
    </p:spTree>
    <p:extLst>
      <p:ext uri="{BB962C8B-B14F-4D97-AF65-F5344CB8AC3E}">
        <p14:creationId xmlns:p14="http://schemas.microsoft.com/office/powerpoint/2010/main" val="33891992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품질 요구사항</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46888" y="603504"/>
            <a:ext cx="11704320" cy="411480"/>
          </a:xfrm>
          <a:prstGeom prst="rect">
            <a:avLst/>
          </a:prstGeom>
          <a:noFill/>
        </p:spPr>
        <p:txBody>
          <a:bodyPr wrap="square" lIns="45720" tIns="27432" rIns="45720" bIns="27432" anchor="ctr">
            <a:spAutoFit/>
          </a:bodyPr>
          <a:lstStyle/>
          <a:p>
            <a:pPr algn="l">
              <a:spcAft>
                <a:spcPts val="200"/>
              </a:spcAft>
            </a:pPr>
            <a:r>
              <a:rPr sz="1400" b="0">
                <a:solidFill>
                  <a:srgbClr val="000000"/>
                </a:solidFill>
                <a:latin typeface="맑은 고딕"/>
                <a:ea typeface="맑은 고딕"/>
                <a:cs typeface="맑은 고딕"/>
              </a:rPr>
              <a:t>QAW에서 도출된 품질 요구사항을 Utility Tree를 통해 핵심 품질 속성(H/H or H/M 이상) 선정</a:t>
            </a:r>
          </a:p>
        </p:txBody>
      </p:sp>
      <p:sp>
        <p:nvSpPr>
          <p:cNvPr id="11" name="Rectangle 10"/>
          <p:cNvSpPr/>
          <p:nvPr/>
        </p:nvSpPr>
        <p:spPr>
          <a:xfrm>
            <a:off x="91440" y="731520"/>
            <a:ext cx="12801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2" name="Table 11"/>
          <p:cNvGraphicFramePr>
            <a:graphicFrameLocks noGrp="1"/>
          </p:cNvGraphicFramePr>
          <p:nvPr/>
        </p:nvGraphicFramePr>
        <p:xfrm>
          <a:off x="128016" y="1051560"/>
          <a:ext cx="12060936" cy="4892040"/>
        </p:xfrm>
        <a:graphic>
          <a:graphicData uri="http://schemas.openxmlformats.org/drawingml/2006/table">
            <a:tbl>
              <a:tblPr>
                <a:tableStyleId>{2D5ABB26-0587-4C30-8999-92F81FD0307C}</a:tableStyleId>
              </a:tblPr>
              <a:tblGrid>
                <a:gridCol w="630936">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581912">
                  <a:extLst>
                    <a:ext uri="{9D8B030D-6E8A-4147-A177-3AD203B41FA5}">
                      <a16:colId xmlns:a16="http://schemas.microsoft.com/office/drawing/2014/main" val="20002"/>
                    </a:ext>
                  </a:extLst>
                </a:gridCol>
                <a:gridCol w="7150608">
                  <a:extLst>
                    <a:ext uri="{9D8B030D-6E8A-4147-A177-3AD203B41FA5}">
                      <a16:colId xmlns:a16="http://schemas.microsoft.com/office/drawing/2014/main" val="20003"/>
                    </a:ext>
                  </a:extLst>
                </a:gridCol>
                <a:gridCol w="576072">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448056">
                  <a:extLst>
                    <a:ext uri="{9D8B030D-6E8A-4147-A177-3AD203B41FA5}">
                      <a16:colId xmlns:a16="http://schemas.microsoft.com/office/drawing/2014/main" val="20006"/>
                    </a:ext>
                  </a:extLst>
                </a:gridCol>
              </a:tblGrid>
              <a:tr h="365760">
                <a:tc>
                  <a:txBody>
                    <a:bodyPr/>
                    <a:lstStyle/>
                    <a:p>
                      <a:pPr algn="ctr">
                        <a:spcAft>
                          <a:spcPts val="100"/>
                        </a:spcAft>
                      </a:pPr>
                      <a:r>
                        <a:rPr sz="950" b="1">
                          <a:solidFill>
                            <a:srgbClr val="FFFFFF"/>
                          </a:solidFill>
                          <a:latin typeface="맑은 고딕"/>
                          <a:ea typeface="맑은 고딕"/>
                          <a:cs typeface="맑은 고딕"/>
                        </a:rPr>
                        <a:t>번호</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spcAft>
                          <a:spcPts val="100"/>
                        </a:spcAft>
                      </a:pPr>
                      <a:r>
                        <a:rPr sz="950" b="1">
                          <a:solidFill>
                            <a:srgbClr val="FFFFFF"/>
                          </a:solidFill>
                          <a:latin typeface="맑은 고딕"/>
                          <a:ea typeface="맑은 고딕"/>
                          <a:cs typeface="맑은 고딕"/>
                        </a:rPr>
                        <a:t>QA</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spcAft>
                          <a:spcPts val="100"/>
                        </a:spcAft>
                      </a:pPr>
                      <a:r>
                        <a:rPr sz="950" b="1">
                          <a:solidFill>
                            <a:srgbClr val="FFFFFF"/>
                          </a:solidFill>
                          <a:latin typeface="맑은 고딕"/>
                          <a:ea typeface="맑은 고딕"/>
                          <a:cs typeface="맑은 고딕"/>
                        </a:rPr>
                        <a:t>Refinement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spcAft>
                          <a:spcPts val="100"/>
                        </a:spcAft>
                      </a:pPr>
                      <a:r>
                        <a:rPr sz="950" b="1">
                          <a:solidFill>
                            <a:srgbClr val="FFFFFF"/>
                          </a:solidFill>
                          <a:latin typeface="맑은 고딕"/>
                          <a:ea typeface="맑은 고딕"/>
                          <a:cs typeface="맑은 고딕"/>
                        </a:rPr>
                        <a:t>Scenario</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spcAft>
                          <a:spcPts val="100"/>
                        </a:spcAft>
                      </a:pPr>
                      <a:r>
                        <a:rPr sz="950" b="1">
                          <a:solidFill>
                            <a:srgbClr val="FFFFFF"/>
                          </a:solidFill>
                          <a:latin typeface="맑은 고딕"/>
                          <a:ea typeface="맑은 고딕"/>
                          <a:cs typeface="맑은 고딕"/>
                        </a:rPr>
                        <a:t>중요도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spcAft>
                          <a:spcPts val="100"/>
                        </a:spcAft>
                      </a:pPr>
                      <a:r>
                        <a:rPr sz="950" b="1">
                          <a:solidFill>
                            <a:srgbClr val="FFFFFF"/>
                          </a:solidFill>
                          <a:latin typeface="맑은 고딕"/>
                          <a:ea typeface="맑은 고딕"/>
                          <a:cs typeface="맑은 고딕"/>
                        </a:rPr>
                        <a:t>난이도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spcAft>
                          <a:spcPts val="100"/>
                        </a:spcAft>
                      </a:pPr>
                      <a:r>
                        <a:rPr sz="950" b="1">
                          <a:solidFill>
                            <a:srgbClr val="FFFFFF"/>
                          </a:solidFill>
                          <a:latin typeface="맑은 고딕"/>
                          <a:ea typeface="맑은 고딕"/>
                          <a:cs typeface="맑은 고딕"/>
                        </a:rPr>
                        <a:t>우선
순위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502920">
                <a:tc>
                  <a:txBody>
                    <a:bodyPr/>
                    <a:lstStyle/>
                    <a:p>
                      <a:pPr algn="ctr">
                        <a:spcAft>
                          <a:spcPts val="100"/>
                        </a:spcAft>
                      </a:pPr>
                      <a:r>
                        <a:rPr sz="950" b="0">
                          <a:solidFill>
                            <a:srgbClr val="000000"/>
                          </a:solidFill>
                          <a:latin typeface="맑은 고딕"/>
                          <a:ea typeface="맑은 고딕"/>
                          <a:cs typeface="맑은 고딕"/>
                        </a:rPr>
                        <a:t>QA-01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Performance</a:t>
                      </a:r>
                    </a:p>
                    <a:p>
                      <a:pPr algn="l">
                        <a:spcAft>
                          <a:spcPts val="100"/>
                        </a:spcAft>
                      </a:pPr>
                      <a:r>
                        <a:rPr sz="950" b="0">
                          <a:solidFill>
                            <a:srgbClr val="000000"/>
                          </a:solidFill>
                          <a:latin typeface="맑은 고딕"/>
                          <a:ea typeface="맑은 고딕"/>
                          <a:cs typeface="맑은 고딕"/>
                        </a:rPr>
                        <a:t>(Time behavior)</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서비스 수준 목표(SLO)를</a:t>
                      </a:r>
                    </a:p>
                    <a:p>
                      <a:pPr algn="l">
                        <a:spcAft>
                          <a:spcPts val="100"/>
                        </a:spcAft>
                      </a:pPr>
                      <a:r>
                        <a:rPr sz="950" b="0">
                          <a:solidFill>
                            <a:srgbClr val="000000"/>
                          </a:solidFill>
                          <a:latin typeface="맑은 고딕"/>
                          <a:ea typeface="맑은 고딕"/>
                          <a:cs typeface="맑은 고딕"/>
                        </a:rPr>
                        <a:t>만족하는 토큰 처리량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00" b="0" dirty="0" err="1">
                          <a:solidFill>
                            <a:srgbClr val="000000"/>
                          </a:solidFill>
                          <a:latin typeface="맑은 고딕"/>
                          <a:ea typeface="맑은 고딕"/>
                          <a:cs typeface="맑은 고딕"/>
                        </a:rPr>
                        <a:t>다수</a:t>
                      </a:r>
                      <a:r>
                        <a:rPr sz="900" b="0" dirty="0">
                          <a:solidFill>
                            <a:srgbClr val="000000"/>
                          </a:solidFill>
                          <a:latin typeface="맑은 고딕"/>
                          <a:ea typeface="맑은 고딕"/>
                          <a:cs typeface="맑은 고딕"/>
                        </a:rPr>
                        <a:t> agent </a:t>
                      </a:r>
                      <a:r>
                        <a:rPr sz="900" b="0" dirty="0" err="1">
                          <a:solidFill>
                            <a:srgbClr val="000000"/>
                          </a:solidFill>
                          <a:latin typeface="맑은 고딕"/>
                          <a:ea typeface="맑은 고딕"/>
                          <a:cs typeface="맑은 고딕"/>
                        </a:rPr>
                        <a:t>세션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동시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요청</a:t>
                      </a:r>
                      <a:r>
                        <a:rPr sz="900" b="0" dirty="0">
                          <a:solidFill>
                            <a:srgbClr val="000000"/>
                          </a:solidFill>
                          <a:latin typeface="맑은 고딕"/>
                          <a:ea typeface="맑은 고딕"/>
                          <a:cs typeface="맑은 고딕"/>
                        </a:rPr>
                        <a:t> 시 </a:t>
                      </a:r>
                      <a:r>
                        <a:rPr sz="900" b="0" dirty="0" err="1">
                          <a:solidFill>
                            <a:srgbClr val="000000"/>
                          </a:solidFill>
                          <a:latin typeface="맑은 고딕"/>
                          <a:ea typeface="맑은 고딕"/>
                          <a:cs typeface="맑은 고딕"/>
                        </a:rPr>
                        <a:t>지정</a:t>
                      </a:r>
                      <a:r>
                        <a:rPr sz="900" b="0" dirty="0">
                          <a:solidFill>
                            <a:srgbClr val="000000"/>
                          </a:solidFill>
                          <a:latin typeface="맑은 고딕"/>
                          <a:ea typeface="맑은 고딕"/>
                          <a:cs typeface="맑은 고딕"/>
                        </a:rPr>
                        <a:t> SLO*를 </a:t>
                      </a:r>
                      <a:r>
                        <a:rPr sz="900" b="0" dirty="0" err="1">
                          <a:solidFill>
                            <a:srgbClr val="000000"/>
                          </a:solidFill>
                          <a:latin typeface="맑은 고딕"/>
                          <a:ea typeface="맑은 고딕"/>
                          <a:cs typeface="맑은 고딕"/>
                        </a:rPr>
                        <a:t>만족하는</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최대</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요청량이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Baseline보다</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커야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 (*SLO: Service Level Objective)</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SLO </a:t>
                      </a:r>
                      <a:r>
                        <a:rPr sz="900" b="1" dirty="0" err="1">
                          <a:solidFill>
                            <a:srgbClr val="000000"/>
                          </a:solidFill>
                          <a:latin typeface="맑은 고딕"/>
                          <a:ea typeface="맑은 고딕"/>
                          <a:cs typeface="맑은 고딕"/>
                        </a:rPr>
                        <a:t>만족</a:t>
                      </a:r>
                      <a:r>
                        <a:rPr sz="900" b="1" dirty="0">
                          <a:solidFill>
                            <a:srgbClr val="000000"/>
                          </a:solidFill>
                          <a:latin typeface="맑은 고딕"/>
                          <a:ea typeface="맑은 고딕"/>
                          <a:cs typeface="맑은 고딕"/>
                        </a:rPr>
                        <a:t> Max </a:t>
                      </a:r>
                      <a:r>
                        <a:rPr sz="900" b="1" dirty="0" err="1">
                          <a:solidFill>
                            <a:srgbClr val="000000"/>
                          </a:solidFill>
                          <a:latin typeface="맑은 고딕"/>
                          <a:ea typeface="맑은 고딕"/>
                          <a:cs typeface="맑은 고딕"/>
                        </a:rPr>
                        <a:t>Goodput</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증가율</a:t>
                      </a:r>
                      <a:r>
                        <a:rPr sz="900" b="1" dirty="0">
                          <a:solidFill>
                            <a:srgbClr val="000000"/>
                          </a:solidFill>
                          <a:latin typeface="맑은 고딕"/>
                          <a:ea typeface="맑은 고딕"/>
                          <a:cs typeface="맑은 고딕"/>
                        </a:rPr>
                        <a:t> ★1.5x / ★★2.25x / ★★★3.0x (</a:t>
                      </a:r>
                      <a:r>
                        <a:rPr sz="900" b="1" dirty="0" err="1">
                          <a:solidFill>
                            <a:srgbClr val="000000"/>
                          </a:solidFill>
                          <a:latin typeface="맑은 고딕"/>
                          <a:ea typeface="맑은 고딕"/>
                          <a:cs typeface="맑은 고딕"/>
                        </a:rPr>
                        <a:t>Pensieve·KVFlow</a:t>
                      </a:r>
                      <a:r>
                        <a:rPr sz="900" b="1" dirty="0">
                          <a:solidFill>
                            <a:srgbClr val="000000"/>
                          </a:solidFill>
                          <a:latin typeface="맑은 고딕"/>
                          <a:ea typeface="맑은 고딕"/>
                          <a:cs typeface="맑은 고딕"/>
                        </a:rPr>
                        <a:t> 등 </a:t>
                      </a:r>
                      <a:r>
                        <a:rPr sz="900" b="1" dirty="0" err="1">
                          <a:solidFill>
                            <a:srgbClr val="000000"/>
                          </a:solidFill>
                          <a:latin typeface="맑은 고딕"/>
                          <a:ea typeface="맑은 고딕"/>
                          <a:cs typeface="맑은 고딕"/>
                        </a:rPr>
                        <a:t>문헌</a:t>
                      </a:r>
                      <a:r>
                        <a:rPr sz="900" b="1" dirty="0">
                          <a:solidFill>
                            <a:srgbClr val="000000"/>
                          </a:solidFill>
                          <a:latin typeface="맑은 고딕"/>
                          <a:ea typeface="맑은 고딕"/>
                          <a:cs typeface="맑은 고딕"/>
                        </a:rPr>
                        <a:t>), SLO: TTFT 2s, TPOT 2ms]</a:t>
                      </a:r>
                    </a:p>
                  </a:txBody>
                  <a:tcPr marL="54864" marR="457200"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1"/>
                  </a:ext>
                </a:extLst>
              </a:tr>
              <a:tr h="502920">
                <a:tc>
                  <a:txBody>
                    <a:bodyPr/>
                    <a:lstStyle/>
                    <a:p>
                      <a:pPr algn="ctr">
                        <a:spcAft>
                          <a:spcPts val="100"/>
                        </a:spcAft>
                      </a:pPr>
                      <a:r>
                        <a:rPr sz="950" b="0">
                          <a:solidFill>
                            <a:srgbClr val="000000"/>
                          </a:solidFill>
                          <a:latin typeface="맑은 고딕"/>
                          <a:ea typeface="맑은 고딕"/>
                          <a:cs typeface="맑은 고딕"/>
                        </a:rPr>
                        <a:t>QA-02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Resource</a:t>
                      </a:r>
                    </a:p>
                    <a:p>
                      <a:pPr algn="l">
                        <a:spcAft>
                          <a:spcPts val="100"/>
                        </a:spcAft>
                      </a:pPr>
                      <a:r>
                        <a:rPr sz="950" b="0">
                          <a:solidFill>
                            <a:srgbClr val="000000"/>
                          </a:solidFill>
                          <a:latin typeface="맑은 고딕"/>
                          <a:ea typeface="맑은 고딕"/>
                          <a:cs typeface="맑은 고딕"/>
                        </a:rPr>
                        <a:t>Efficiency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HBM 점유율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00" b="0" dirty="0" err="1">
                          <a:solidFill>
                            <a:srgbClr val="000000"/>
                          </a:solidFill>
                          <a:latin typeface="맑은 고딕"/>
                          <a:ea typeface="맑은 고딕"/>
                          <a:cs typeface="맑은 고딕"/>
                        </a:rPr>
                        <a:t>동일한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성능</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조건에서</a:t>
                      </a:r>
                      <a:r>
                        <a:rPr sz="900" b="0" dirty="0">
                          <a:solidFill>
                            <a:srgbClr val="000000"/>
                          </a:solidFill>
                          <a:latin typeface="맑은 고딕"/>
                          <a:ea typeface="맑은 고딕"/>
                          <a:cs typeface="맑은 고딕"/>
                        </a:rPr>
                        <a:t> HBM </a:t>
                      </a:r>
                      <a:r>
                        <a:rPr sz="900" b="0" dirty="0" err="1">
                          <a:solidFill>
                            <a:srgbClr val="000000"/>
                          </a:solidFill>
                          <a:latin typeface="맑은 고딕"/>
                          <a:ea typeface="맑은 고딕"/>
                          <a:cs typeface="맑은 고딕"/>
                        </a:rPr>
                        <a:t>점유율이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Baseline보다</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낮아야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HBM </a:t>
                      </a:r>
                      <a:r>
                        <a:rPr sz="900" b="1" dirty="0" err="1">
                          <a:solidFill>
                            <a:srgbClr val="000000"/>
                          </a:solidFill>
                          <a:latin typeface="맑은 고딕"/>
                          <a:ea typeface="맑은 고딕"/>
                          <a:cs typeface="맑은 고딕"/>
                        </a:rPr>
                        <a:t>점유율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감소율</a:t>
                      </a:r>
                      <a:r>
                        <a:rPr sz="900" b="1" dirty="0">
                          <a:solidFill>
                            <a:srgbClr val="000000"/>
                          </a:solidFill>
                          <a:latin typeface="맑은 고딕"/>
                          <a:ea typeface="맑은 고딕"/>
                          <a:cs typeface="맑은 고딕"/>
                        </a:rPr>
                        <a:t>(Baseline </a:t>
                      </a:r>
                      <a:r>
                        <a:rPr sz="900" b="1" dirty="0" err="1">
                          <a:solidFill>
                            <a:srgbClr val="000000"/>
                          </a:solidFill>
                          <a:latin typeface="맑은 고딕"/>
                          <a:ea typeface="맑은 고딕"/>
                          <a:cs typeface="맑은 고딕"/>
                        </a:rPr>
                        <a:t>대비</a:t>
                      </a:r>
                      <a:r>
                        <a:rPr sz="900" b="1" dirty="0">
                          <a:solidFill>
                            <a:srgbClr val="000000"/>
                          </a:solidFill>
                          <a:latin typeface="맑은 고딕"/>
                          <a:ea typeface="맑은 고딕"/>
                          <a:cs typeface="맑은 고딕"/>
                        </a:rPr>
                        <a:t>) ★20% / ★★47.5% / ★★★75% (KV </a:t>
                      </a:r>
                      <a:r>
                        <a:rPr sz="900" b="1" dirty="0" err="1">
                          <a:solidFill>
                            <a:srgbClr val="000000"/>
                          </a:solidFill>
                          <a:latin typeface="맑은 고딕"/>
                          <a:ea typeface="맑은 고딕"/>
                          <a:cs typeface="맑은 고딕"/>
                        </a:rPr>
                        <a:t>압축·offload</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문헌</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상한</a:t>
                      </a:r>
                      <a:r>
                        <a:rPr sz="900" b="1" dirty="0">
                          <a:solidFill>
                            <a:srgbClr val="000000"/>
                          </a:solidFill>
                          <a:latin typeface="맑은 고딕"/>
                          <a:ea typeface="맑은 고딕"/>
                          <a:cs typeface="맑은 고딕"/>
                        </a:rPr>
                        <a:t> 3~4x, </a:t>
                      </a:r>
                      <a:r>
                        <a:rPr sz="900" b="1" dirty="0" err="1">
                          <a:solidFill>
                            <a:srgbClr val="000000"/>
                          </a:solidFill>
                          <a:latin typeface="맑은 고딕"/>
                          <a:ea typeface="맑은 고딕"/>
                          <a:cs typeface="맑은 고딕"/>
                        </a:rPr>
                        <a:t>KVzip</a:t>
                      </a:r>
                      <a:r>
                        <a:rPr sz="900" b="1" dirty="0">
                          <a:solidFill>
                            <a:srgbClr val="000000"/>
                          </a:solidFill>
                          <a:latin typeface="맑은 고딕"/>
                          <a:ea typeface="맑은 고딕"/>
                          <a:cs typeface="맑은 고딕"/>
                        </a:rPr>
                        <a:t>)]</a:t>
                      </a:r>
                    </a:p>
                  </a:txBody>
                  <a:tcPr marL="54864" marR="457200"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2"/>
                  </a:ext>
                </a:extLst>
              </a:tr>
              <a:tr h="502920">
                <a:tc>
                  <a:txBody>
                    <a:bodyPr/>
                    <a:lstStyle/>
                    <a:p>
                      <a:pPr algn="ctr">
                        <a:spcAft>
                          <a:spcPts val="100"/>
                        </a:spcAft>
                      </a:pPr>
                      <a:r>
                        <a:rPr sz="950" b="0">
                          <a:solidFill>
                            <a:srgbClr val="000000"/>
                          </a:solidFill>
                          <a:latin typeface="맑은 고딕"/>
                          <a:ea typeface="맑은 고딕"/>
                          <a:cs typeface="맑은 고딕"/>
                        </a:rPr>
                        <a:t>QA-03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Modifiability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변경 용이성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00" b="0" dirty="0">
                          <a:solidFill>
                            <a:srgbClr val="000000"/>
                          </a:solidFill>
                          <a:latin typeface="맑은 고딕"/>
                          <a:ea typeface="맑은 고딕"/>
                          <a:cs typeface="맑은 고딕"/>
                        </a:rPr>
                        <a:t>새 </a:t>
                      </a:r>
                      <a:r>
                        <a:rPr sz="900" b="0" dirty="0" err="1">
                          <a:solidFill>
                            <a:srgbClr val="000000"/>
                          </a:solidFill>
                          <a:latin typeface="맑은 고딕"/>
                          <a:ea typeface="맑은 고딕"/>
                          <a:cs typeface="맑은 고딕"/>
                        </a:rPr>
                        <a:t>메모리</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tier·이동</a:t>
                      </a:r>
                      <a:r>
                        <a:rPr sz="900" b="0" dirty="0">
                          <a:solidFill>
                            <a:srgbClr val="000000"/>
                          </a:solidFill>
                          <a:latin typeface="맑은 고딕"/>
                          <a:ea typeface="맑은 고딕"/>
                          <a:cs typeface="맑은 고딕"/>
                        </a:rPr>
                        <a:t>/</a:t>
                      </a:r>
                      <a:r>
                        <a:rPr sz="900" b="0" dirty="0" err="1">
                          <a:solidFill>
                            <a:srgbClr val="000000"/>
                          </a:solidFill>
                          <a:latin typeface="맑은 고딕"/>
                          <a:ea typeface="맑은 고딕"/>
                          <a:cs typeface="맑은 고딕"/>
                        </a:rPr>
                        <a:t>배치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정책·데이터</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객체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유형을</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서빙</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경로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수정</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없이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반영할</a:t>
                      </a:r>
                      <a:r>
                        <a:rPr sz="900" b="0" dirty="0">
                          <a:solidFill>
                            <a:srgbClr val="000000"/>
                          </a:solidFill>
                          <a:latin typeface="맑은 고딕"/>
                          <a:ea typeface="맑은 고딕"/>
                          <a:cs typeface="맑은 고딕"/>
                        </a:rPr>
                        <a:t> 수 </a:t>
                      </a:r>
                      <a:r>
                        <a:rPr sz="900" b="0" dirty="0" err="1">
                          <a:solidFill>
                            <a:srgbClr val="000000"/>
                          </a:solidFill>
                          <a:latin typeface="맑은 고딕"/>
                          <a:ea typeface="맑은 고딕"/>
                          <a:cs typeface="맑은 고딕"/>
                        </a:rPr>
                        <a:t>있어야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토큰</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비용</a:t>
                      </a:r>
                      <a:r>
                        <a:rPr sz="900" b="1" dirty="0">
                          <a:solidFill>
                            <a:srgbClr val="000000"/>
                          </a:solidFill>
                          <a:latin typeface="맑은 고딕"/>
                          <a:ea typeface="맑은 고딕"/>
                          <a:cs typeface="맑은 고딕"/>
                        </a:rPr>
                        <a:t> ★&lt;0.7M ★★&lt;0.4M ★★★&lt;0.17M개, </a:t>
                      </a:r>
                      <a:r>
                        <a:rPr sz="900" b="1" dirty="0" err="1">
                          <a:solidFill>
                            <a:srgbClr val="000000"/>
                          </a:solidFill>
                          <a:latin typeface="맑은 고딕"/>
                          <a:ea typeface="맑은 고딕"/>
                          <a:cs typeface="맑은 고딕"/>
                        </a:rPr>
                        <a:t>공수</a:t>
                      </a:r>
                      <a:r>
                        <a:rPr sz="900" b="1" dirty="0">
                          <a:solidFill>
                            <a:srgbClr val="000000"/>
                          </a:solidFill>
                          <a:latin typeface="맑은 고딕"/>
                          <a:ea typeface="맑은 고딕"/>
                          <a:cs typeface="맑은 고딕"/>
                        </a:rPr>
                        <a:t> ★&lt;1.0 ★★&lt;0.75 ★★★&lt;0.5 MM (SWE-bench </a:t>
                      </a:r>
                      <a:r>
                        <a:rPr sz="900" b="1" dirty="0" err="1">
                          <a:solidFill>
                            <a:srgbClr val="000000"/>
                          </a:solidFill>
                          <a:latin typeface="맑은 고딕"/>
                          <a:ea typeface="맑은 고딕"/>
                          <a:cs typeface="맑은 고딕"/>
                        </a:rPr>
                        <a:t>평균</a:t>
                      </a:r>
                      <a:r>
                        <a:rPr sz="900" b="1" dirty="0">
                          <a:solidFill>
                            <a:srgbClr val="000000"/>
                          </a:solidFill>
                          <a:latin typeface="맑은 고딕"/>
                          <a:ea typeface="맑은 고딕"/>
                          <a:cs typeface="맑은 고딕"/>
                        </a:rPr>
                        <a:t> 1.7 file, </a:t>
                      </a:r>
                      <a:r>
                        <a:rPr sz="900" b="1" dirty="0" err="1">
                          <a:solidFill>
                            <a:srgbClr val="000000"/>
                          </a:solidFill>
                          <a:latin typeface="맑은 고딕"/>
                          <a:ea typeface="맑은 고딕"/>
                          <a:cs typeface="맑은 고딕"/>
                        </a:rPr>
                        <a:t>vLLM</a:t>
                      </a:r>
                      <a:r>
                        <a:rPr sz="900" b="1" dirty="0">
                          <a:solidFill>
                            <a:srgbClr val="000000"/>
                          </a:solidFill>
                          <a:latin typeface="맑은 고딕"/>
                          <a:ea typeface="맑은 고딕"/>
                          <a:cs typeface="맑은 고딕"/>
                        </a:rPr>
                        <a:t> connector </a:t>
                      </a:r>
                      <a:r>
                        <a:rPr sz="900" b="1" dirty="0" err="1">
                          <a:solidFill>
                            <a:srgbClr val="000000"/>
                          </a:solidFill>
                          <a:latin typeface="맑은 고딕"/>
                          <a:ea typeface="맑은 고딕"/>
                          <a:cs typeface="맑은 고딕"/>
                        </a:rPr>
                        <a:t>중앙값</a:t>
                      </a:r>
                      <a:r>
                        <a:rPr sz="900" b="1" dirty="0">
                          <a:solidFill>
                            <a:srgbClr val="000000"/>
                          </a:solidFill>
                          <a:latin typeface="맑은 고딕"/>
                          <a:ea typeface="맑은 고딕"/>
                          <a:cs typeface="맑은 고딕"/>
                        </a:rPr>
                        <a:t> 356 LOC)]</a:t>
                      </a:r>
                    </a:p>
                  </a:txBody>
                  <a:tcPr marL="54864" marR="457200"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3"/>
                  </a:ext>
                </a:extLst>
              </a:tr>
              <a:tr h="502920">
                <a:tc>
                  <a:txBody>
                    <a:bodyPr/>
                    <a:lstStyle/>
                    <a:p>
                      <a:pPr algn="ctr">
                        <a:spcAft>
                          <a:spcPts val="100"/>
                        </a:spcAft>
                      </a:pPr>
                      <a:r>
                        <a:rPr sz="950" b="0">
                          <a:solidFill>
                            <a:srgbClr val="000000"/>
                          </a:solidFill>
                          <a:latin typeface="맑은 고딕"/>
                          <a:ea typeface="맑은 고딕"/>
                          <a:cs typeface="맑은 고딕"/>
                        </a:rPr>
                        <a:t>QA-04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Scalability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확장성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00" b="0" dirty="0" err="1">
                          <a:solidFill>
                            <a:srgbClr val="000000"/>
                          </a:solidFill>
                          <a:latin typeface="맑은 고딕"/>
                          <a:ea typeface="맑은 고딕"/>
                          <a:cs typeface="맑은 고딕"/>
                        </a:rPr>
                        <a:t>실장</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환경을</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넘는</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규모로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노드·메모리</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type이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늘어도</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결정이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병목이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되지</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않고</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성능이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자원</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증가에</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비례해야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시뮬레이션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평가</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Scaling Efficiency(N=16) ★&gt;80% / ★★&gt;85% / ★★★&gt;90% (</a:t>
                      </a:r>
                      <a:r>
                        <a:rPr sz="900" b="1" dirty="0" err="1">
                          <a:solidFill>
                            <a:srgbClr val="000000"/>
                          </a:solidFill>
                          <a:latin typeface="맑은 고딕"/>
                          <a:ea typeface="맑은 고딕"/>
                          <a:cs typeface="맑은 고딕"/>
                        </a:rPr>
                        <a:t>대규모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병렬</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효율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보고</a:t>
                      </a:r>
                      <a:r>
                        <a:rPr sz="900" b="1" dirty="0">
                          <a:solidFill>
                            <a:srgbClr val="000000"/>
                          </a:solidFill>
                          <a:latin typeface="맑은 고딕"/>
                          <a:ea typeface="맑은 고딕"/>
                          <a:cs typeface="맑은 고딕"/>
                        </a:rPr>
                        <a:t> 80%, </a:t>
                      </a:r>
                      <a:r>
                        <a:rPr sz="900" b="1" dirty="0" err="1">
                          <a:solidFill>
                            <a:srgbClr val="000000"/>
                          </a:solidFill>
                          <a:latin typeface="맑은 고딕"/>
                          <a:ea typeface="맑은 고딕"/>
                          <a:cs typeface="맑은 고딕"/>
                        </a:rPr>
                        <a:t>조율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직렬</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비중</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환산</a:t>
                      </a:r>
                      <a:r>
                        <a:rPr sz="900" b="1" dirty="0">
                          <a:solidFill>
                            <a:srgbClr val="000000"/>
                          </a:solidFill>
                          <a:latin typeface="맑은 고딕"/>
                          <a:ea typeface="맑은 고딕"/>
                          <a:cs typeface="맑은 고딕"/>
                        </a:rPr>
                        <a:t>)]</a:t>
                      </a:r>
                    </a:p>
                  </a:txBody>
                  <a:tcPr marL="54864" marR="457200"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4"/>
                  </a:ext>
                </a:extLst>
              </a:tr>
              <a:tr h="502920">
                <a:tc>
                  <a:txBody>
                    <a:bodyPr/>
                    <a:lstStyle/>
                    <a:p>
                      <a:pPr algn="ctr">
                        <a:spcAft>
                          <a:spcPts val="100"/>
                        </a:spcAft>
                      </a:pPr>
                      <a:r>
                        <a:rPr sz="950" b="0">
                          <a:solidFill>
                            <a:srgbClr val="000000"/>
                          </a:solidFill>
                          <a:latin typeface="맑은 고딕"/>
                          <a:ea typeface="맑은 고딕"/>
                          <a:cs typeface="맑은 고딕"/>
                        </a:rPr>
                        <a:t>QA-05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Functional</a:t>
                      </a:r>
                    </a:p>
                    <a:p>
                      <a:pPr algn="l">
                        <a:spcAft>
                          <a:spcPts val="100"/>
                        </a:spcAft>
                      </a:pPr>
                      <a:r>
                        <a:rPr sz="950" b="0">
                          <a:solidFill>
                            <a:srgbClr val="000000"/>
                          </a:solidFill>
                          <a:latin typeface="맑은 고딕"/>
                          <a:ea typeface="맑은 고딕"/>
                          <a:cs typeface="맑은 고딕"/>
                        </a:rPr>
                        <a:t>Correctness</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50" b="0">
                          <a:solidFill>
                            <a:srgbClr val="000000"/>
                          </a:solidFill>
                          <a:latin typeface="맑은 고딕"/>
                          <a:ea typeface="맑은 고딕"/>
                          <a:cs typeface="맑은 고딕"/>
                        </a:rPr>
                        <a:t>모델 출력 정확도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l">
                        <a:spcAft>
                          <a:spcPts val="100"/>
                        </a:spcAft>
                      </a:pPr>
                      <a:r>
                        <a:rPr sz="900" b="0" dirty="0">
                          <a:solidFill>
                            <a:srgbClr val="000000"/>
                          </a:solidFill>
                          <a:latin typeface="맑은 고딕"/>
                          <a:ea typeface="맑은 고딕"/>
                          <a:cs typeface="맑은 고딕"/>
                        </a:rPr>
                        <a:t>LLM </a:t>
                      </a:r>
                      <a:r>
                        <a:rPr sz="900" b="0" dirty="0" err="1">
                          <a:solidFill>
                            <a:srgbClr val="000000"/>
                          </a:solidFill>
                          <a:latin typeface="맑은 고딕"/>
                          <a:ea typeface="맑은 고딕"/>
                          <a:cs typeface="맑은 고딕"/>
                        </a:rPr>
                        <a:t>모델</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출력의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정확도는</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보장되어야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LLM </a:t>
                      </a:r>
                      <a:r>
                        <a:rPr sz="900" b="1" dirty="0" err="1">
                          <a:solidFill>
                            <a:srgbClr val="000000"/>
                          </a:solidFill>
                          <a:latin typeface="맑은 고딕"/>
                          <a:ea typeface="맑은 고딕"/>
                          <a:cs typeface="맑은 고딕"/>
                        </a:rPr>
                        <a:t>출력</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정확도</a:t>
                      </a:r>
                      <a:r>
                        <a:rPr sz="900" b="1" dirty="0">
                          <a:solidFill>
                            <a:srgbClr val="000000"/>
                          </a:solidFill>
                          <a:latin typeface="맑은 고딕"/>
                          <a:ea typeface="맑은 고딕"/>
                          <a:cs typeface="맑은 고딕"/>
                        </a:rPr>
                        <a:t>(F1) Baseline </a:t>
                      </a:r>
                      <a:r>
                        <a:rPr sz="900" b="1" dirty="0" err="1">
                          <a:solidFill>
                            <a:srgbClr val="000000"/>
                          </a:solidFill>
                          <a:latin typeface="맑은 고딕"/>
                          <a:ea typeface="맑은 고딕"/>
                          <a:cs typeface="맑은 고딕"/>
                        </a:rPr>
                        <a:t>대비</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감소율</a:t>
                      </a:r>
                      <a:r>
                        <a:rPr sz="900" b="1" dirty="0">
                          <a:solidFill>
                            <a:srgbClr val="000000"/>
                          </a:solidFill>
                          <a:latin typeface="맑은 고딕"/>
                          <a:ea typeface="맑은 고딕"/>
                          <a:cs typeface="맑은 고딕"/>
                        </a:rPr>
                        <a:t> ★&lt;3% / ★★&lt;2% / ★★★&lt;1% (</a:t>
                      </a:r>
                      <a:r>
                        <a:rPr sz="900" b="1" dirty="0" err="1">
                          <a:solidFill>
                            <a:srgbClr val="000000"/>
                          </a:solidFill>
                          <a:latin typeface="맑은 고딕"/>
                          <a:ea typeface="맑은 고딕"/>
                          <a:cs typeface="맑은 고딕"/>
                        </a:rPr>
                        <a:t>소유자</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허용</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한도</a:t>
                      </a:r>
                      <a:r>
                        <a:rPr sz="900" b="1" dirty="0">
                          <a:solidFill>
                            <a:srgbClr val="000000"/>
                          </a:solidFill>
                          <a:latin typeface="맑은 고딕"/>
                          <a:ea typeface="맑은 고딕"/>
                          <a:cs typeface="맑은 고딕"/>
                        </a:rPr>
                        <a:t> 1%, KV </a:t>
                      </a:r>
                      <a:r>
                        <a:rPr sz="900" b="1" dirty="0" err="1">
                          <a:solidFill>
                            <a:srgbClr val="000000"/>
                          </a:solidFill>
                          <a:latin typeface="맑은 고딕"/>
                          <a:ea typeface="맑은 고딕"/>
                          <a:cs typeface="맑은 고딕"/>
                        </a:rPr>
                        <a:t>압축</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문헌</a:t>
                      </a:r>
                      <a:r>
                        <a:rPr sz="900" b="1" dirty="0">
                          <a:solidFill>
                            <a:srgbClr val="000000"/>
                          </a:solidFill>
                          <a:latin typeface="맑은 고딕"/>
                          <a:ea typeface="맑은 고딕"/>
                          <a:cs typeface="맑은 고딕"/>
                        </a:rPr>
                        <a:t>)]</a:t>
                      </a:r>
                    </a:p>
                  </a:txBody>
                  <a:tcPr marL="54864" marR="457200"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lgn="ctr">
                        <a:spcAft>
                          <a:spcPts val="100"/>
                        </a:spcAft>
                      </a:pPr>
                      <a:r>
                        <a:rPr sz="950" b="0">
                          <a:solidFill>
                            <a:srgbClr val="000000"/>
                          </a:solidFill>
                          <a:latin typeface="맑은 고딕"/>
                          <a:ea typeface="맑은 고딕"/>
                          <a:cs typeface="맑은 고딕"/>
                        </a:rPr>
                        <a:t>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extLst>
                  <a:ext uri="{0D108BD9-81ED-4DB2-BD59-A6C34878D82A}">
                    <a16:rowId xmlns:a16="http://schemas.microsoft.com/office/drawing/2014/main" val="10005"/>
                  </a:ext>
                </a:extLst>
              </a:tr>
              <a:tr h="402336">
                <a:tc>
                  <a:txBody>
                    <a:bodyPr/>
                    <a:lstStyle/>
                    <a:p>
                      <a:pPr algn="ctr">
                        <a:spcAft>
                          <a:spcPts val="100"/>
                        </a:spcAft>
                      </a:pPr>
                      <a:r>
                        <a:rPr sz="950" b="0">
                          <a:solidFill>
                            <a:srgbClr val="000000"/>
                          </a:solidFill>
                          <a:latin typeface="맑은 고딕"/>
                          <a:ea typeface="맑은 고딕"/>
                          <a:cs typeface="맑은 고딕"/>
                        </a:rPr>
                        <a:t>QA-06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Co-existence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이동 트래픽 공존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00" b="0">
                          <a:solidFill>
                            <a:srgbClr val="000000"/>
                          </a:solidFill>
                          <a:latin typeface="맑은 고딕"/>
                          <a:ea typeface="맑은 고딕"/>
                          <a:cs typeface="맑은 고딕"/>
                        </a:rPr>
                        <a:t>데이터 이동·복원 트래픽과 서빙 요청이 같은 자원을 동시에 쓰는 상황에서도 서빙 성능이 유지되어야 한다.</a:t>
                      </a:r>
                    </a:p>
                    <a:p>
                      <a:pPr algn="l">
                        <a:spcAft>
                          <a:spcPts val="100"/>
                        </a:spcAft>
                      </a:pPr>
                      <a:r>
                        <a:rPr sz="900" b="1">
                          <a:solidFill>
                            <a:srgbClr val="000000"/>
                          </a:solidFill>
                          <a:latin typeface="맑은 고딕"/>
                          <a:ea typeface="맑은 고딕"/>
                          <a:cs typeface="맑은 고딕"/>
                        </a:rPr>
                        <a:t>[측정: 서빙 TTFT·TPOT 증가율 &lt; 10% (SLO 대비 변동 마진, 가정)]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402336">
                <a:tc>
                  <a:txBody>
                    <a:bodyPr/>
                    <a:lstStyle/>
                    <a:p>
                      <a:pPr algn="ctr">
                        <a:spcAft>
                          <a:spcPts val="100"/>
                        </a:spcAft>
                      </a:pPr>
                      <a:r>
                        <a:rPr sz="950" b="0">
                          <a:solidFill>
                            <a:srgbClr val="000000"/>
                          </a:solidFill>
                          <a:latin typeface="맑은 고딕"/>
                          <a:ea typeface="맑은 고딕"/>
                          <a:cs typeface="맑은 고딕"/>
                        </a:rPr>
                        <a:t>QA-07</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Fault tolerance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전송·offload 실패 대체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00" b="0">
                          <a:solidFill>
                            <a:srgbClr val="000000"/>
                          </a:solidFill>
                          <a:latin typeface="맑은 고딕"/>
                          <a:ea typeface="맑은 고딕"/>
                          <a:cs typeface="맑은 고딕"/>
                        </a:rPr>
                        <a:t>KV 전송이나 offload가 실패하거나 시간 초과해도 재계산 등 대체 경로로 요청 처리를 이어가야 한다.</a:t>
                      </a:r>
                    </a:p>
                    <a:p>
                      <a:pPr algn="l">
                        <a:spcAft>
                          <a:spcPts val="100"/>
                        </a:spcAft>
                      </a:pPr>
                      <a:r>
                        <a:rPr sz="900" b="1">
                          <a:solidFill>
                            <a:srgbClr val="000000"/>
                          </a:solidFill>
                          <a:latin typeface="맑은 고딕"/>
                          <a:ea typeface="맑은 고딕"/>
                          <a:cs typeface="맑은 고딕"/>
                        </a:rPr>
                        <a:t>[측정: fallback 성공률 &gt; 99.9% (three nines, 월 다운타임 약 43분, 가정)]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7</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r h="402336">
                <a:tc>
                  <a:txBody>
                    <a:bodyPr/>
                    <a:lstStyle/>
                    <a:p>
                      <a:pPr algn="ctr">
                        <a:spcAft>
                          <a:spcPts val="100"/>
                        </a:spcAft>
                      </a:pPr>
                      <a:r>
                        <a:rPr sz="950" b="0">
                          <a:solidFill>
                            <a:srgbClr val="000000"/>
                          </a:solidFill>
                          <a:latin typeface="맑은 고딕"/>
                          <a:ea typeface="맑은 고딕"/>
                          <a:cs typeface="맑은 고딕"/>
                        </a:rPr>
                        <a:t>QA-08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Adaptability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워크로드 변화 적응</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00" b="0">
                          <a:solidFill>
                            <a:srgbClr val="000000"/>
                          </a:solidFill>
                          <a:latin typeface="맑은 고딕"/>
                          <a:ea typeface="맑은 고딕"/>
                          <a:cs typeface="맑은 고딕"/>
                        </a:rPr>
                        <a:t>입력 분포나 접근 패턴이 바뀌어도 접근 통계를 반영해 배치를 다시 맞추고 성능을 회복해야 한다.</a:t>
                      </a:r>
                    </a:p>
                    <a:p>
                      <a:pPr algn="l">
                        <a:spcAft>
                          <a:spcPts val="100"/>
                        </a:spcAft>
                      </a:pPr>
                      <a:r>
                        <a:rPr sz="900" b="1">
                          <a:solidFill>
                            <a:srgbClr val="000000"/>
                          </a:solidFill>
                          <a:latin typeface="맑은 고딕"/>
                          <a:ea typeface="맑은 고딕"/>
                          <a:cs typeface="맑은 고딕"/>
                        </a:rPr>
                        <a:t>[측정: 변화 감지 후 성능 회복 시간 &lt; 5분 (변화 전 성능의 90%, 가정)]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8"/>
                  </a:ext>
                </a:extLst>
              </a:tr>
              <a:tr h="402336">
                <a:tc>
                  <a:txBody>
                    <a:bodyPr/>
                    <a:lstStyle/>
                    <a:p>
                      <a:pPr algn="ctr">
                        <a:spcAft>
                          <a:spcPts val="100"/>
                        </a:spcAft>
                      </a:pPr>
                      <a:r>
                        <a:rPr sz="950" b="0">
                          <a:solidFill>
                            <a:srgbClr val="000000"/>
                          </a:solidFill>
                          <a:latin typeface="맑은 고딕"/>
                          <a:ea typeface="맑은 고딕"/>
                          <a:cs typeface="맑은 고딕"/>
                        </a:rPr>
                        <a:t>QA-09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Interoperability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외부 구성요소 연동</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00" b="0">
                          <a:solidFill>
                            <a:srgbClr val="000000"/>
                          </a:solidFill>
                          <a:latin typeface="맑은 고딕"/>
                          <a:ea typeface="맑은 고딕"/>
                          <a:cs typeface="맑은 고딕"/>
                        </a:rPr>
                        <a:t>vLLM, llm-d, NIXL 같은 외부 구성요소와 연동할 때 해당 구성요소의 소스를 수정하지 않아야 한다.</a:t>
                      </a:r>
                    </a:p>
                    <a:p>
                      <a:pPr algn="l">
                        <a:spcAft>
                          <a:spcPts val="100"/>
                        </a:spcAft>
                      </a:pPr>
                      <a:r>
                        <a:rPr sz="900" b="1">
                          <a:solidFill>
                            <a:srgbClr val="000000"/>
                          </a:solidFill>
                          <a:latin typeface="맑은 고딕"/>
                          <a:ea typeface="맑은 고딕"/>
                          <a:cs typeface="맑은 고딕"/>
                        </a:rPr>
                        <a:t>[측정: 무수정 연동 인터페이스 수 ≥ 3개 (대상 3종 전부, 가정)]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L</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9"/>
                  </a:ext>
                </a:extLst>
              </a:tr>
              <a:tr h="402336">
                <a:tc>
                  <a:txBody>
                    <a:bodyPr/>
                    <a:lstStyle/>
                    <a:p>
                      <a:pPr algn="ctr">
                        <a:spcAft>
                          <a:spcPts val="100"/>
                        </a:spcAft>
                      </a:pPr>
                      <a:r>
                        <a:rPr sz="950" b="0">
                          <a:solidFill>
                            <a:srgbClr val="000000"/>
                          </a:solidFill>
                          <a:latin typeface="맑은 고딕"/>
                          <a:ea typeface="맑은 고딕"/>
                          <a:cs typeface="맑은 고딕"/>
                        </a:rPr>
                        <a:t>QA-10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Analysability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50" b="0">
                          <a:solidFill>
                            <a:srgbClr val="000000"/>
                          </a:solidFill>
                          <a:latin typeface="맑은 고딕"/>
                          <a:ea typeface="맑은 고딕"/>
                          <a:cs typeface="맑은 고딕"/>
                        </a:rPr>
                        <a:t>결정 근거 진단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spcAft>
                          <a:spcPts val="100"/>
                        </a:spcAft>
                      </a:pPr>
                      <a:r>
                        <a:rPr sz="900" b="0">
                          <a:solidFill>
                            <a:srgbClr val="000000"/>
                          </a:solidFill>
                          <a:latin typeface="맑은 고딕"/>
                          <a:ea typeface="맑은 고딕"/>
                          <a:cs typeface="맑은 고딕"/>
                        </a:rPr>
                        <a:t>이동·배치·라우팅 결정이 기대와 다를 때 결정 입력과 근거 기록으로 원인을 찾을 수 있어야 한다.</a:t>
                      </a:r>
                    </a:p>
                    <a:p>
                      <a:pPr algn="l">
                        <a:spcAft>
                          <a:spcPts val="100"/>
                        </a:spcAft>
                      </a:pPr>
                      <a:r>
                        <a:rPr sz="900" b="1">
                          <a:solidFill>
                            <a:srgbClr val="000000"/>
                          </a:solidFill>
                          <a:latin typeface="맑은 고딕"/>
                          <a:ea typeface="맑은 고딕"/>
                          <a:cs typeface="맑은 고딕"/>
                        </a:rPr>
                        <a:t>[측정: 원인 파악 시간 &lt; 1시간 (개발자 1인, 결정 1건 기준, 가정)]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L</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a:solidFill>
                            <a:srgbClr val="000000"/>
                          </a:solidFill>
                          <a:latin typeface="맑은 고딕"/>
                          <a:ea typeface="맑은 고딕"/>
                          <a:cs typeface="맑은 고딕"/>
                        </a:rPr>
                        <a:t>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50" b="0" dirty="0">
                          <a:solidFill>
                            <a:srgbClr val="000000"/>
                          </a:solidFill>
                          <a:latin typeface="맑은 고딕"/>
                          <a:ea typeface="맑은 고딕"/>
                          <a:cs typeface="맑은 고딕"/>
                        </a:rPr>
                        <a:t>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10"/>
                  </a:ext>
                </a:extLst>
              </a:tr>
            </a:tbl>
          </a:graphicData>
        </a:graphic>
      </p:graphicFrame>
      <p:sp>
        <p:nvSpPr>
          <p:cNvPr id="13" name="Pentagon 12">
            <a:hlinkClick r:id="rId3" action="ppaction://hlinksldjump"/>
          </p:cNvPr>
          <p:cNvSpPr/>
          <p:nvPr/>
        </p:nvSpPr>
        <p:spPr>
          <a:xfrm>
            <a:off x="10186416" y="1586483"/>
            <a:ext cx="292608" cy="182880"/>
          </a:xfrm>
          <a:prstGeom prst="homePlat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entagon 13">
            <a:hlinkClick r:id="rId4" action="ppaction://hlinksldjump"/>
          </p:cNvPr>
          <p:cNvSpPr/>
          <p:nvPr/>
        </p:nvSpPr>
        <p:spPr>
          <a:xfrm>
            <a:off x="10186416" y="2089403"/>
            <a:ext cx="292608" cy="182880"/>
          </a:xfrm>
          <a:prstGeom prst="homePlat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entagon 14">
            <a:hlinkClick r:id="rId5" action="ppaction://hlinksldjump"/>
          </p:cNvPr>
          <p:cNvSpPr/>
          <p:nvPr/>
        </p:nvSpPr>
        <p:spPr>
          <a:xfrm>
            <a:off x="10186416" y="2592323"/>
            <a:ext cx="292608" cy="182880"/>
          </a:xfrm>
          <a:prstGeom prst="homePlat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entagon 15">
            <a:hlinkClick r:id="rId6" action="ppaction://hlinksldjump"/>
          </p:cNvPr>
          <p:cNvSpPr/>
          <p:nvPr/>
        </p:nvSpPr>
        <p:spPr>
          <a:xfrm>
            <a:off x="10186416" y="3095243"/>
            <a:ext cx="292608" cy="182880"/>
          </a:xfrm>
          <a:prstGeom prst="homePlat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entagon 16">
            <a:hlinkClick r:id="rId7" action="ppaction://hlinksldjump"/>
          </p:cNvPr>
          <p:cNvSpPr/>
          <p:nvPr/>
        </p:nvSpPr>
        <p:spPr>
          <a:xfrm>
            <a:off x="10186416" y="3598163"/>
            <a:ext cx="292608" cy="182880"/>
          </a:xfrm>
          <a:prstGeom prst="homePlate">
            <a:avLst/>
          </a:prstGeom>
          <a:solidFill>
            <a:srgbClr val="2E75B6"/>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28016" y="6053328"/>
            <a:ext cx="11795760" cy="457200"/>
          </a:xfrm>
          <a:prstGeom prst="rect">
            <a:avLst/>
          </a:prstGeom>
          <a:noFill/>
        </p:spPr>
        <p:txBody>
          <a:bodyPr wrap="square" lIns="45720" tIns="27432" rIns="45720" bIns="27432" anchor="t">
            <a:spAutoFit/>
          </a:bodyPr>
          <a:lstStyle/>
          <a:p>
            <a:pPr algn="l">
              <a:spcAft>
                <a:spcPts val="0"/>
              </a:spcAft>
            </a:pPr>
            <a:r>
              <a:rPr sz="800" b="0">
                <a:solidFill>
                  <a:srgbClr val="595959"/>
                </a:solidFill>
                <a:latin typeface="맑은 고딕"/>
                <a:ea typeface="맑은 고딕"/>
                <a:cs typeface="맑은 고딕"/>
              </a:rPr>
              <a:t>* ★ = 시나리오 충족(하한), ★★ = ★과 ★★★의 등분 중점, ★★★ = 상한(문헌·환산 근거). 하한 미달은 미충족(☆). 파란 화살표는 해당 QA의 근거 슬라이드로 이동.</a:t>
            </a:r>
          </a:p>
          <a:p>
            <a:pPr algn="l">
              <a:spcAft>
                <a:spcPts val="0"/>
              </a:spcAft>
            </a:pPr>
            <a:r>
              <a:rPr sz="800" b="0">
                <a:solidFill>
                  <a:srgbClr val="595959"/>
                </a:solidFill>
                <a:latin typeface="맑은 고딕"/>
                <a:ea typeface="맑은 고딕"/>
                <a:cs typeface="맑은 고딕"/>
              </a:rPr>
              <a:t>* QA-01~05 근거는 2~6장, 출처·검증 상태는 qa-star-criteria-evidence.md. QA-06~10은 임시 근거(가정)이며 QA-08 측정(복사 오류 정정)·QA-09 부등호(&gt; 3 → ≥ 3)를 수정함.</a:t>
            </a:r>
          </a:p>
        </p:txBody>
      </p:sp>
      <p:sp>
        <p:nvSpPr>
          <p:cNvPr id="19" name="TextBox 18"/>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1</a:t>
            </a:r>
          </a:p>
        </p:txBody>
      </p:sp>
    </p:spTree>
    <p:extLst>
      <p:ext uri="{BB962C8B-B14F-4D97-AF65-F5344CB8AC3E}">
        <p14:creationId xmlns:p14="http://schemas.microsoft.com/office/powerpoint/2010/main" val="3224260527"/>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QA-01. Performance (Time behavior) - 별 기준과 근거</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969264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SLO를 만족하는 Max Goodput이 Baseline의 몇 배일 때 ★ / ★★ / ★★★ 인가</a:t>
            </a:r>
          </a:p>
        </p:txBody>
      </p:sp>
      <p:sp>
        <p:nvSpPr>
          <p:cNvPr id="13" name="Rounded Rectangle 12"/>
          <p:cNvSpPr/>
          <p:nvPr/>
        </p:nvSpPr>
        <p:spPr>
          <a:xfrm>
            <a:off x="11073384" y="630936"/>
            <a:ext cx="786384"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QA-01</a:t>
            </a:r>
          </a:p>
        </p:txBody>
      </p:sp>
      <p:graphicFrame>
        <p:nvGraphicFramePr>
          <p:cNvPr id="14" name="Table 13"/>
          <p:cNvGraphicFramePr>
            <a:graphicFrameLocks noGrp="1"/>
          </p:cNvGraphicFramePr>
          <p:nvPr/>
        </p:nvGraphicFramePr>
        <p:xfrm>
          <a:off x="246888" y="1115568"/>
          <a:ext cx="5852160" cy="3776470"/>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74320">
                <a:tc>
                  <a:txBody>
                    <a:bodyPr/>
                    <a:lstStyle/>
                    <a:p>
                      <a:pPr algn="ctr">
                        <a:spcAft>
                          <a:spcPts val="100"/>
                        </a:spcAft>
                      </a:pPr>
                      <a:r>
                        <a:rPr sz="1050" b="0">
                          <a:solidFill>
                            <a:srgbClr val="000000"/>
                          </a:solidFill>
                          <a:latin typeface="맑은 고딕"/>
                          <a:ea typeface="맑은 고딕"/>
                          <a:cs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dirty="0" err="1">
                          <a:solidFill>
                            <a:srgbClr val="000000"/>
                          </a:solidFill>
                          <a:latin typeface="맑은 고딕"/>
                          <a:ea typeface="맑은 고딕"/>
                          <a:cs typeface="맑은 고딕"/>
                        </a:rPr>
                        <a:t>조건</a:t>
                      </a:r>
                      <a:r>
                        <a:rPr sz="1050" b="1" dirty="0">
                          <a:solidFill>
                            <a:srgbClr val="000000"/>
                          </a:solidFill>
                          <a:latin typeface="맑은 고딕"/>
                          <a:ea typeface="맑은 고딕"/>
                          <a:cs typeface="맑은 고딕"/>
                        </a:rPr>
                        <a:t> (R = </a:t>
                      </a:r>
                      <a:r>
                        <a:rPr sz="1050" b="1" dirty="0" err="1">
                          <a:solidFill>
                            <a:srgbClr val="000000"/>
                          </a:solidFill>
                          <a:latin typeface="맑은 고딕"/>
                          <a:ea typeface="맑은 고딕"/>
                          <a:cs typeface="맑은 고딕"/>
                        </a:rPr>
                        <a:t>후보</a:t>
                      </a:r>
                      <a:r>
                        <a:rPr sz="1050" b="1" dirty="0">
                          <a:solidFill>
                            <a:srgbClr val="000000"/>
                          </a:solidFill>
                          <a:latin typeface="맑은 고딕"/>
                          <a:ea typeface="맑은 고딕"/>
                          <a:cs typeface="맑은 고딕"/>
                        </a:rPr>
                        <a:t> ÷ Baseline)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596278">
                <a:tc>
                  <a:txBody>
                    <a:bodyPr/>
                    <a:lstStyle/>
                    <a:p>
                      <a:pPr algn="ctr">
                        <a:spcAft>
                          <a:spcPts val="100"/>
                        </a:spcAft>
                      </a:pPr>
                      <a:r>
                        <a:rPr sz="1050" b="0">
                          <a:solidFill>
                            <a:srgbClr val="000000"/>
                          </a:solidFill>
                          <a:latin typeface="맑은 고딕"/>
                          <a:ea typeface="맑은 고딕"/>
                          <a:cs typeface="맑은 고딕"/>
                        </a:rPr>
                        <a:t>☆ 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50" b="0" dirty="0">
                          <a:solidFill>
                            <a:srgbClr val="000000"/>
                          </a:solidFill>
                          <a:latin typeface="맑은 고딕"/>
                          <a:ea typeface="맑은 고딕"/>
                          <a:cs typeface="맑은 고딕"/>
                        </a:rPr>
                        <a:t>R &lt; 1.5x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시나리오 목표 미달. 같은 수요에 서버를 2/3로 줄이지 못함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930194">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50" b="0" dirty="0">
                          <a:solidFill>
                            <a:srgbClr val="000000"/>
                          </a:solidFill>
                          <a:latin typeface="맑은 고딕"/>
                          <a:ea typeface="맑은 고딕"/>
                          <a:cs typeface="맑은 고딕"/>
                        </a:rPr>
                        <a:t>R ≥ 1.5x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dirty="0" err="1">
                          <a:solidFill>
                            <a:srgbClr val="000000"/>
                          </a:solidFill>
                          <a:latin typeface="맑은 고딕"/>
                          <a:ea typeface="맑은 고딕"/>
                          <a:cs typeface="맑은 고딕"/>
                        </a:rPr>
                        <a:t>시나리오</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목표</a:t>
                      </a:r>
                      <a:r>
                        <a:rPr sz="1050" b="0" dirty="0">
                          <a:solidFill>
                            <a:srgbClr val="000000"/>
                          </a:solidFill>
                          <a:latin typeface="맑은 고딕"/>
                          <a:ea typeface="맑은 고딕"/>
                          <a:cs typeface="맑은 고딕"/>
                        </a:rPr>
                        <a:t>(</a:t>
                      </a:r>
                      <a:r>
                        <a:rPr sz="1050" b="0" dirty="0" err="1">
                          <a:solidFill>
                            <a:srgbClr val="000000"/>
                          </a:solidFill>
                          <a:latin typeface="맑은 고딕"/>
                          <a:ea typeface="맑은 고딕"/>
                          <a:cs typeface="맑은 고딕"/>
                        </a:rPr>
                        <a:t>하한</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서버</a:t>
                      </a:r>
                      <a:r>
                        <a:rPr sz="1050" b="0" dirty="0">
                          <a:solidFill>
                            <a:srgbClr val="000000"/>
                          </a:solidFill>
                          <a:latin typeface="맑은 고딕"/>
                          <a:ea typeface="맑은 고딕"/>
                          <a:cs typeface="맑은 고딕"/>
                        </a:rPr>
                        <a:t> 3대 중 1대 </a:t>
                      </a:r>
                      <a:r>
                        <a:rPr sz="1050" b="0" dirty="0" err="1">
                          <a:solidFill>
                            <a:srgbClr val="000000"/>
                          </a:solidFill>
                          <a:latin typeface="맑은 고딕"/>
                          <a:ea typeface="맑은 고딕"/>
                          <a:cs typeface="맑은 고딕"/>
                        </a:rPr>
                        <a:t>절감</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환산</a:t>
                      </a:r>
                      <a:r>
                        <a:rPr sz="1050" b="0" dirty="0">
                          <a:solidFill>
                            <a:srgbClr val="000000"/>
                          </a:solidFill>
                          <a:latin typeface="맑은 고딕"/>
                          <a:ea typeface="맑은 고딕"/>
                          <a:cs typeface="맑은 고딕"/>
                        </a:rPr>
                        <a:t> [C]. </a:t>
                      </a:r>
                      <a:r>
                        <a:rPr sz="1050" b="0" dirty="0" err="1">
                          <a:solidFill>
                            <a:srgbClr val="000000"/>
                          </a:solidFill>
                          <a:latin typeface="맑은 고딕"/>
                          <a:ea typeface="맑은 고딕"/>
                          <a:cs typeface="맑은 고딕"/>
                        </a:rPr>
                        <a:t>문헌</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하한대</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InferCept</a:t>
                      </a:r>
                      <a:r>
                        <a:rPr sz="1050" b="0" dirty="0">
                          <a:solidFill>
                            <a:srgbClr val="000000"/>
                          </a:solidFill>
                          <a:latin typeface="맑은 고딕"/>
                          <a:ea typeface="맑은 고딕"/>
                          <a:cs typeface="맑은 고딕"/>
                        </a:rPr>
                        <a:t> 1.6x, Mooncake </a:t>
                      </a:r>
                      <a:r>
                        <a:rPr sz="1050" b="0" dirty="0" err="1">
                          <a:solidFill>
                            <a:srgbClr val="000000"/>
                          </a:solidFill>
                          <a:latin typeface="맑은 고딕"/>
                          <a:ea typeface="맑은 고딕"/>
                          <a:cs typeface="맑은 고딕"/>
                        </a:rPr>
                        <a:t>실트래픽</a:t>
                      </a:r>
                      <a:r>
                        <a:rPr sz="1050" b="0" dirty="0">
                          <a:solidFill>
                            <a:srgbClr val="000000"/>
                          </a:solidFill>
                          <a:latin typeface="맑은 고딕"/>
                          <a:ea typeface="맑은 고딕"/>
                          <a:cs typeface="맑은 고딕"/>
                        </a:rPr>
                        <a:t> +75%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834789">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DEEBF7"/>
                    </a:solidFill>
                  </a:tcPr>
                </a:tc>
                <a:tc>
                  <a:txBody>
                    <a:bodyPr/>
                    <a:lstStyle/>
                    <a:p>
                      <a:pPr>
                        <a:spcAft>
                          <a:spcPts val="100"/>
                        </a:spcAft>
                      </a:pPr>
                      <a:r>
                        <a:rPr sz="1050" b="0">
                          <a:solidFill>
                            <a:srgbClr val="000000"/>
                          </a:solidFill>
                          <a:latin typeface="맑은 고딕"/>
                          <a:ea typeface="맑은 고딕"/>
                          <a:cs typeface="맑은 고딕"/>
                        </a:rPr>
                        <a:t>R ≥ 2.25x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dirty="0">
                          <a:solidFill>
                            <a:srgbClr val="000000"/>
                          </a:solidFill>
                          <a:latin typeface="맑은 고딕"/>
                          <a:ea typeface="맑은 고딕"/>
                          <a:cs typeface="맑은 고딕"/>
                        </a:rPr>
                        <a:t>★(1.5x)과 ★★★(3.0x)의 </a:t>
                      </a:r>
                      <a:r>
                        <a:rPr sz="1050" b="0" dirty="0" err="1">
                          <a:solidFill>
                            <a:srgbClr val="000000"/>
                          </a:solidFill>
                          <a:latin typeface="맑은 고딕"/>
                          <a:ea typeface="맑은 고딕"/>
                          <a:cs typeface="맑은 고딕"/>
                        </a:rPr>
                        <a:t>등분</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중점</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KVFlow</a:t>
                      </a:r>
                      <a:r>
                        <a:rPr sz="1050" b="0" dirty="0">
                          <a:solidFill>
                            <a:srgbClr val="000000"/>
                          </a:solidFill>
                          <a:latin typeface="맑은 고딕"/>
                          <a:ea typeface="맑은 고딕"/>
                          <a:cs typeface="맑은 고딕"/>
                        </a:rPr>
                        <a:t> 2.19x, </a:t>
                      </a:r>
                      <a:r>
                        <a:rPr sz="1050" b="0" dirty="0" err="1">
                          <a:solidFill>
                            <a:srgbClr val="000000"/>
                          </a:solidFill>
                          <a:latin typeface="맑은 고딕"/>
                          <a:ea typeface="맑은 고딕"/>
                          <a:cs typeface="맑은 고딕"/>
                        </a:rPr>
                        <a:t>InferCept</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상단</a:t>
                      </a:r>
                      <a:r>
                        <a:rPr sz="1050" b="0" dirty="0">
                          <a:solidFill>
                            <a:srgbClr val="000000"/>
                          </a:solidFill>
                          <a:latin typeface="맑은 고딕"/>
                          <a:ea typeface="맑은 고딕"/>
                          <a:cs typeface="맑은 고딕"/>
                        </a:rPr>
                        <a:t> 2x에 </a:t>
                      </a:r>
                      <a:r>
                        <a:rPr sz="1050" b="0" dirty="0" err="1">
                          <a:solidFill>
                            <a:srgbClr val="000000"/>
                          </a:solidFill>
                          <a:latin typeface="맑은 고딕"/>
                          <a:ea typeface="맑은 고딕"/>
                          <a:cs typeface="맑은 고딕"/>
                        </a:rPr>
                        <a:t>대응</a:t>
                      </a:r>
                      <a:endParaRPr sz="1050" b="0" dirty="0">
                        <a:solidFill>
                          <a:srgbClr val="000000"/>
                        </a:solidFill>
                        <a:latin typeface="맑은 고딕"/>
                        <a:ea typeface="맑은 고딕"/>
                        <a:cs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1049449">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spcAft>
                          <a:spcPts val="100"/>
                        </a:spcAft>
                      </a:pPr>
                      <a:r>
                        <a:rPr sz="1050" b="0" dirty="0">
                          <a:solidFill>
                            <a:srgbClr val="000000"/>
                          </a:solidFill>
                          <a:latin typeface="맑은 고딕"/>
                          <a:ea typeface="맑은 고딕"/>
                          <a:cs typeface="맑은 고딕"/>
                        </a:rPr>
                        <a:t>R ≥ 3.0x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dirty="0" err="1">
                          <a:solidFill>
                            <a:srgbClr val="000000"/>
                          </a:solidFill>
                          <a:latin typeface="맑은 고딕"/>
                          <a:ea typeface="맑은 고딕"/>
                          <a:cs typeface="맑은 고딕"/>
                        </a:rPr>
                        <a:t>상한</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vLLM·TensorRT-LLM</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대비</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실GPU</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다중</a:t>
                      </a:r>
                      <a:r>
                        <a:rPr sz="1050" b="0" dirty="0">
                          <a:solidFill>
                            <a:srgbClr val="000000"/>
                          </a:solidFill>
                          <a:latin typeface="맑은 고딕"/>
                          <a:ea typeface="맑은 고딕"/>
                          <a:cs typeface="맑은 고딕"/>
                        </a:rPr>
                        <a:t> 턴 </a:t>
                      </a:r>
                      <a:r>
                        <a:rPr sz="1050" b="0" dirty="0" err="1">
                          <a:solidFill>
                            <a:srgbClr val="000000"/>
                          </a:solidFill>
                          <a:latin typeface="맑은 고딕"/>
                          <a:ea typeface="맑은 고딕"/>
                          <a:cs typeface="맑은 고딕"/>
                        </a:rPr>
                        <a:t>서빙의</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보고</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상한</a:t>
                      </a:r>
                      <a:r>
                        <a:rPr sz="1050" b="0" dirty="0">
                          <a:solidFill>
                            <a:srgbClr val="000000"/>
                          </a:solidFill>
                          <a:latin typeface="맑은 고딕"/>
                          <a:ea typeface="맑은 고딕"/>
                          <a:cs typeface="맑은 고딕"/>
                        </a:rPr>
                        <a:t>(</a:t>
                      </a:r>
                      <a:r>
                        <a:rPr sz="1050" b="0" dirty="0" err="1">
                          <a:solidFill>
                            <a:srgbClr val="000000"/>
                          </a:solidFill>
                          <a:latin typeface="맑은 고딕"/>
                          <a:ea typeface="맑은 고딕"/>
                          <a:cs typeface="맑은 고딕"/>
                        </a:rPr>
                        <a:t>Pensieve</a:t>
                      </a:r>
                      <a:r>
                        <a:rPr sz="1050" b="0" dirty="0">
                          <a:solidFill>
                            <a:srgbClr val="000000"/>
                          </a:solidFill>
                          <a:latin typeface="맑은 고딕"/>
                          <a:ea typeface="맑은 고딕"/>
                          <a:cs typeface="맑은 고딕"/>
                        </a:rPr>
                        <a:t> 3.0x). 6~14x는 </a:t>
                      </a:r>
                      <a:r>
                        <a:rPr sz="1050" b="0" dirty="0" err="1">
                          <a:solidFill>
                            <a:srgbClr val="000000"/>
                          </a:solidFill>
                          <a:latin typeface="맑은 고딕"/>
                          <a:ea typeface="맑은 고딕"/>
                          <a:cs typeface="맑은 고딕"/>
                        </a:rPr>
                        <a:t>시뮬·조건부</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최대로</a:t>
                      </a:r>
                      <a:r>
                        <a:rPr sz="1050" b="0" dirty="0">
                          <a:solidFill>
                            <a:srgbClr val="000000"/>
                          </a:solidFill>
                          <a:latin typeface="맑은 고딕"/>
                          <a:ea typeface="맑은 고딕"/>
                          <a:cs typeface="맑은 고딕"/>
                        </a:rPr>
                        <a:t> </a:t>
                      </a:r>
                      <a:r>
                        <a:rPr sz="1050" b="0" dirty="0" err="1">
                          <a:solidFill>
                            <a:srgbClr val="000000"/>
                          </a:solidFill>
                          <a:latin typeface="맑은 고딕"/>
                          <a:ea typeface="맑은 고딕"/>
                          <a:cs typeface="맑은 고딕"/>
                        </a:rPr>
                        <a:t>제외</a:t>
                      </a:r>
                      <a:endParaRPr sz="1050" b="0" dirty="0">
                        <a:solidFill>
                          <a:srgbClr val="000000"/>
                        </a:solidFill>
                        <a:latin typeface="맑은 고딕"/>
                        <a:ea typeface="맑은 고딕"/>
                        <a:cs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15" name="Rectangle 14"/>
          <p:cNvSpPr/>
          <p:nvPr/>
        </p:nvSpPr>
        <p:spPr>
          <a:xfrm>
            <a:off x="246888" y="4892040"/>
            <a:ext cx="5852160" cy="868680"/>
          </a:xfrm>
          <a:prstGeom prst="rect">
            <a:avLst/>
          </a:prstGeom>
          <a:solidFill>
            <a:srgbClr val="F0F1F3"/>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lstStyle/>
          <a:p>
            <a:pPr algn="l">
              <a:spcAft>
                <a:spcPts val="200"/>
              </a:spcAft>
            </a:pPr>
            <a:r>
              <a:rPr sz="850" b="0" dirty="0" err="1">
                <a:solidFill>
                  <a:srgbClr val="404040"/>
                </a:solidFill>
                <a:latin typeface="맑은 고딕"/>
                <a:ea typeface="맑은 고딕"/>
                <a:cs typeface="맑은 고딕"/>
              </a:rPr>
              <a:t>지표</a:t>
            </a:r>
            <a:r>
              <a:rPr sz="850" b="0" dirty="0">
                <a:solidFill>
                  <a:srgbClr val="404040"/>
                </a:solidFill>
                <a:latin typeface="맑은 고딕"/>
                <a:ea typeface="맑은 고딕"/>
                <a:cs typeface="맑은 고딕"/>
              </a:rPr>
              <a:t>: SLO(TTFT ≤ 2 s, TPOT ≤ 2 </a:t>
            </a:r>
            <a:r>
              <a:rPr sz="850" b="0" dirty="0" err="1">
                <a:solidFill>
                  <a:srgbClr val="404040"/>
                </a:solidFill>
                <a:latin typeface="맑은 고딕"/>
                <a:ea typeface="맑은 고딕"/>
                <a:cs typeface="맑은 고딕"/>
              </a:rPr>
              <a:t>ms</a:t>
            </a:r>
            <a:r>
              <a:rPr sz="850" b="0" dirty="0">
                <a:solidFill>
                  <a:srgbClr val="404040"/>
                </a:solidFill>
                <a:latin typeface="맑은 고딕"/>
                <a:ea typeface="맑은 고딕"/>
                <a:cs typeface="맑은 고딕"/>
              </a:rPr>
              <a:t>*)를 </a:t>
            </a:r>
            <a:r>
              <a:rPr sz="850" b="0" dirty="0" err="1">
                <a:solidFill>
                  <a:srgbClr val="404040"/>
                </a:solidFill>
                <a:latin typeface="맑은 고딕"/>
                <a:ea typeface="맑은 고딕"/>
                <a:cs typeface="맑은 고딕"/>
              </a:rPr>
              <a:t>만족한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요청의</a:t>
            </a:r>
            <a:r>
              <a:rPr sz="850" b="0" dirty="0">
                <a:solidFill>
                  <a:srgbClr val="404040"/>
                </a:solidFill>
                <a:latin typeface="맑은 고딕"/>
                <a:ea typeface="맑은 고딕"/>
                <a:cs typeface="맑은 고딕"/>
              </a:rPr>
              <a:t> Max </a:t>
            </a:r>
            <a:r>
              <a:rPr sz="850" b="0" dirty="0" err="1">
                <a:solidFill>
                  <a:srgbClr val="404040"/>
                </a:solidFill>
                <a:latin typeface="맑은 고딕"/>
                <a:ea typeface="맑은 고딕"/>
                <a:cs typeface="맑은 고딕"/>
              </a:rPr>
              <a:t>Goodput을</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같은</a:t>
            </a:r>
            <a:r>
              <a:rPr sz="850" b="0" dirty="0">
                <a:solidFill>
                  <a:srgbClr val="404040"/>
                </a:solidFill>
                <a:latin typeface="맑은 고딕"/>
                <a:ea typeface="맑은 고딕"/>
                <a:cs typeface="맑은 고딕"/>
              </a:rPr>
              <a:t> DP </a:t>
            </a:r>
            <a:r>
              <a:rPr sz="850" b="0" dirty="0" err="1">
                <a:solidFill>
                  <a:srgbClr val="404040"/>
                </a:solidFill>
                <a:latin typeface="맑은 고딕"/>
                <a:ea typeface="맑은 고딕"/>
                <a:cs typeface="맑은 고딕"/>
              </a:rPr>
              <a:t>Baseline과</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비교한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배수</a:t>
            </a:r>
            <a:r>
              <a:rPr sz="850" b="0" dirty="0">
                <a:solidFill>
                  <a:srgbClr val="404040"/>
                </a:solidFill>
                <a:latin typeface="맑은 고딕"/>
                <a:ea typeface="맑은 고딕"/>
                <a:cs typeface="맑은 고딕"/>
              </a:rPr>
              <a:t> R. </a:t>
            </a:r>
            <a:r>
              <a:rPr sz="850" b="0" dirty="0" err="1">
                <a:solidFill>
                  <a:srgbClr val="404040"/>
                </a:solidFill>
                <a:latin typeface="맑은 고딕"/>
                <a:ea typeface="맑은 고딕"/>
                <a:cs typeface="맑은 고딕"/>
              </a:rPr>
              <a:t>시나리오·시스템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쌍별</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값의</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기하평균</a:t>
            </a:r>
            <a:r>
              <a:rPr sz="850" b="0" dirty="0">
                <a:solidFill>
                  <a:srgbClr val="404040"/>
                </a:solidFill>
                <a:latin typeface="맑은 고딕"/>
                <a:ea typeface="맑은 고딕"/>
                <a:cs typeface="맑은 고딕"/>
              </a:rPr>
              <a:t>(</a:t>
            </a:r>
            <a:r>
              <a:rPr sz="850" b="0" dirty="0" err="1">
                <a:solidFill>
                  <a:srgbClr val="404040"/>
                </a:solidFill>
                <a:latin typeface="맑은 고딕"/>
                <a:ea typeface="맑은 고딕"/>
                <a:cs typeface="맑은 고딕"/>
              </a:rPr>
              <a:t>공통</a:t>
            </a:r>
            <a:r>
              <a:rPr sz="850" b="0" dirty="0">
                <a:solidFill>
                  <a:srgbClr val="404040"/>
                </a:solidFill>
                <a:latin typeface="맑은 고딕"/>
                <a:ea typeface="맑은 고딕"/>
                <a:cs typeface="맑은 고딕"/>
              </a:rPr>
              <a:t> 룰). *TPOT 2 </a:t>
            </a:r>
            <a:r>
              <a:rPr sz="850" b="0" dirty="0" err="1">
                <a:solidFill>
                  <a:srgbClr val="404040"/>
                </a:solidFill>
                <a:latin typeface="맑은 고딕"/>
                <a:ea typeface="맑은 고딕"/>
                <a:cs typeface="맑은 고딕"/>
              </a:rPr>
              <a:t>ms는</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원문</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그대로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기존</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문서는</a:t>
            </a:r>
            <a:r>
              <a:rPr sz="850" b="0" dirty="0">
                <a:solidFill>
                  <a:srgbClr val="404040"/>
                </a:solidFill>
                <a:latin typeface="맑은 고딕"/>
                <a:ea typeface="맑은 고딕"/>
                <a:cs typeface="맑은 고딕"/>
              </a:rPr>
              <a:t> 50 </a:t>
            </a:r>
            <a:r>
              <a:rPr sz="850" b="0" dirty="0" err="1">
                <a:solidFill>
                  <a:srgbClr val="404040"/>
                </a:solidFill>
                <a:latin typeface="맑은 고딕"/>
                <a:ea typeface="맑은 고딕"/>
                <a:cs typeface="맑은 고딕"/>
              </a:rPr>
              <a:t>ms</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오타로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해석</a:t>
            </a:r>
            <a:r>
              <a:rPr sz="850" b="0" dirty="0">
                <a:solidFill>
                  <a:srgbClr val="404040"/>
                </a:solidFill>
                <a:latin typeface="맑은 고딕"/>
                <a:ea typeface="맑은 고딕"/>
                <a:cs typeface="맑은 고딕"/>
              </a:rPr>
              <a:t>(</a:t>
            </a:r>
            <a:r>
              <a:rPr sz="850" b="0" dirty="0" err="1">
                <a:solidFill>
                  <a:srgbClr val="404040"/>
                </a:solidFill>
                <a:latin typeface="맑은 고딕"/>
                <a:ea typeface="맑은 고딕"/>
                <a:cs typeface="맑은 고딕"/>
              </a:rPr>
              <a:t>확인</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필요</a:t>
            </a:r>
            <a:r>
              <a:rPr sz="850" b="0" dirty="0">
                <a:solidFill>
                  <a:srgbClr val="404040"/>
                </a:solidFill>
                <a:latin typeface="맑은 고딕"/>
                <a:ea typeface="맑은 고딕"/>
                <a:cs typeface="맑은 고딕"/>
              </a:rPr>
              <a:t>).</a:t>
            </a:r>
          </a:p>
        </p:txBody>
      </p:sp>
      <p:sp>
        <p:nvSpPr>
          <p:cNvPr id="16" name="TextBox 15"/>
          <p:cNvSpPr txBox="1"/>
          <p:nvPr/>
        </p:nvSpPr>
        <p:spPr>
          <a:xfrm>
            <a:off x="6263640" y="1078992"/>
            <a:ext cx="5715000" cy="237744"/>
          </a:xfrm>
          <a:prstGeom prst="rect">
            <a:avLst/>
          </a:prstGeom>
          <a:noFill/>
        </p:spPr>
        <p:txBody>
          <a:bodyPr wrap="square" lIns="45720" tIns="27432" rIns="45720" bIns="27432" anchor="t">
            <a:spAutoFit/>
          </a:bodyPr>
          <a:lstStyle/>
          <a:p>
            <a:pPr algn="l">
              <a:spcAft>
                <a:spcPts val="200"/>
              </a:spcAft>
            </a:pPr>
            <a:r>
              <a:rPr sz="1000" b="1">
                <a:solidFill>
                  <a:srgbClr val="000000"/>
                </a:solidFill>
                <a:latin typeface="맑은 고딕"/>
                <a:ea typeface="맑은 고딕"/>
                <a:cs typeface="맑은 고딕"/>
              </a:rPr>
              <a:t>Goodput·처리량 개선 배수 R (Baseline 대비)</a:t>
            </a:r>
          </a:p>
        </p:txBody>
      </p:sp>
      <p:sp>
        <p:nvSpPr>
          <p:cNvPr id="17" name="TextBox 16"/>
          <p:cNvSpPr txBox="1"/>
          <p:nvPr/>
        </p:nvSpPr>
        <p:spPr>
          <a:xfrm>
            <a:off x="8210549"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1.5x</a:t>
            </a:r>
          </a:p>
        </p:txBody>
      </p:sp>
      <p:cxnSp>
        <p:nvCxnSpPr>
          <p:cNvPr id="18" name="Connector 17"/>
          <p:cNvCxnSpPr/>
          <p:nvPr/>
        </p:nvCxnSpPr>
        <p:spPr>
          <a:xfrm>
            <a:off x="8759190" y="1499616"/>
            <a:ext cx="0" cy="1664208"/>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582025" y="149961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2.25x</a:t>
            </a:r>
          </a:p>
        </p:txBody>
      </p:sp>
      <p:cxnSp>
        <p:nvCxnSpPr>
          <p:cNvPr id="20" name="Connector 19"/>
          <p:cNvCxnSpPr/>
          <p:nvPr/>
        </p:nvCxnSpPr>
        <p:spPr>
          <a:xfrm>
            <a:off x="9130665" y="1682495"/>
            <a:ext cx="0" cy="1481329"/>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53500"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3.0x</a:t>
            </a:r>
          </a:p>
        </p:txBody>
      </p:sp>
      <p:cxnSp>
        <p:nvCxnSpPr>
          <p:cNvPr id="22" name="Connector 21"/>
          <p:cNvCxnSpPr/>
          <p:nvPr/>
        </p:nvCxnSpPr>
        <p:spPr>
          <a:xfrm>
            <a:off x="9502140" y="1499616"/>
            <a:ext cx="0" cy="1664208"/>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12480" y="3182112"/>
            <a:ext cx="3566160"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11539"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37219"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1x</a:t>
            </a:r>
          </a:p>
        </p:txBody>
      </p:sp>
      <p:cxnSp>
        <p:nvCxnSpPr>
          <p:cNvPr id="26" name="Connector 25"/>
          <p:cNvCxnSpPr/>
          <p:nvPr/>
        </p:nvCxnSpPr>
        <p:spPr>
          <a:xfrm>
            <a:off x="90068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32519"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2x</a:t>
            </a:r>
          </a:p>
        </p:txBody>
      </p:sp>
      <p:cxnSp>
        <p:nvCxnSpPr>
          <p:cNvPr id="28" name="Connector 27"/>
          <p:cNvCxnSpPr/>
          <p:nvPr/>
        </p:nvCxnSpPr>
        <p:spPr>
          <a:xfrm>
            <a:off x="95021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227819"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3x</a:t>
            </a:r>
          </a:p>
        </p:txBody>
      </p:sp>
      <p:cxnSp>
        <p:nvCxnSpPr>
          <p:cNvPr id="30" name="Connector 29"/>
          <p:cNvCxnSpPr/>
          <p:nvPr/>
        </p:nvCxnSpPr>
        <p:spPr>
          <a:xfrm>
            <a:off x="99974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723120"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4x</a:t>
            </a:r>
          </a:p>
        </p:txBody>
      </p:sp>
      <p:cxnSp>
        <p:nvCxnSpPr>
          <p:cNvPr id="32" name="Connector 31"/>
          <p:cNvCxnSpPr/>
          <p:nvPr/>
        </p:nvCxnSpPr>
        <p:spPr>
          <a:xfrm>
            <a:off x="104927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218419"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5x</a:t>
            </a:r>
          </a:p>
        </p:txBody>
      </p:sp>
      <p:cxnSp>
        <p:nvCxnSpPr>
          <p:cNvPr id="34" name="Connector 33"/>
          <p:cNvCxnSpPr/>
          <p:nvPr/>
        </p:nvCxnSpPr>
        <p:spPr>
          <a:xfrm>
            <a:off x="109880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13719"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6x</a:t>
            </a:r>
          </a:p>
        </p:txBody>
      </p:sp>
      <p:cxnSp>
        <p:nvCxnSpPr>
          <p:cNvPr id="36" name="Connector 35"/>
          <p:cNvCxnSpPr/>
          <p:nvPr/>
        </p:nvCxnSpPr>
        <p:spPr>
          <a:xfrm>
            <a:off x="114833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1209020"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7x</a:t>
            </a:r>
          </a:p>
        </p:txBody>
      </p:sp>
      <p:cxnSp>
        <p:nvCxnSpPr>
          <p:cNvPr id="38" name="Connector 37"/>
          <p:cNvCxnSpPr/>
          <p:nvPr/>
        </p:nvCxnSpPr>
        <p:spPr>
          <a:xfrm>
            <a:off x="11978640" y="3182112"/>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1704319" y="3209544"/>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8x</a:t>
            </a:r>
          </a:p>
        </p:txBody>
      </p:sp>
      <p:sp>
        <p:nvSpPr>
          <p:cNvPr id="40" name="TextBox 39"/>
          <p:cNvSpPr txBox="1"/>
          <p:nvPr/>
        </p:nvSpPr>
        <p:spPr>
          <a:xfrm>
            <a:off x="6263640" y="1764792"/>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InferCept (2402.01869)</a:t>
            </a:r>
          </a:p>
        </p:txBody>
      </p:sp>
      <p:sp>
        <p:nvSpPr>
          <p:cNvPr id="41" name="Rectangle 40"/>
          <p:cNvSpPr/>
          <p:nvPr/>
        </p:nvSpPr>
        <p:spPr>
          <a:xfrm>
            <a:off x="8808720" y="1810512"/>
            <a:ext cx="198120" cy="10058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089136" y="1764792"/>
            <a:ext cx="1097280" cy="173736"/>
          </a:xfrm>
          <a:prstGeom prst="rect">
            <a:avLst/>
          </a:prstGeom>
          <a:noFill/>
        </p:spPr>
        <p:txBody>
          <a:bodyPr wrap="square" lIns="0" tIns="27432" rIns="0" bIns="27432" anchor="ctr">
            <a:spAutoFit/>
          </a:bodyPr>
          <a:lstStyle/>
          <a:p>
            <a:pPr algn="l">
              <a:spcAft>
                <a:spcPts val="200"/>
              </a:spcAft>
            </a:pPr>
            <a:r>
              <a:rPr sz="800" b="1">
                <a:solidFill>
                  <a:srgbClr val="2E75B6"/>
                </a:solidFill>
                <a:latin typeface="맑은 고딕"/>
                <a:ea typeface="맑은 고딕"/>
                <a:cs typeface="맑은 고딕"/>
              </a:rPr>
              <a:t>1.6~2x</a:t>
            </a:r>
          </a:p>
        </p:txBody>
      </p:sp>
      <p:sp>
        <p:nvSpPr>
          <p:cNvPr id="43" name="TextBox 42"/>
          <p:cNvSpPr txBox="1"/>
          <p:nvPr/>
        </p:nvSpPr>
        <p:spPr>
          <a:xfrm>
            <a:off x="6263640" y="1938528"/>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Mooncake 실트래픽 (2407.00079)</a:t>
            </a:r>
          </a:p>
        </p:txBody>
      </p:sp>
      <p:sp>
        <p:nvSpPr>
          <p:cNvPr id="44" name="Oval 43"/>
          <p:cNvSpPr/>
          <p:nvPr/>
        </p:nvSpPr>
        <p:spPr>
          <a:xfrm>
            <a:off x="8828150" y="1979676"/>
            <a:ext cx="109728" cy="10972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11030" y="1938528"/>
            <a:ext cx="1097280" cy="173736"/>
          </a:xfrm>
          <a:prstGeom prst="rect">
            <a:avLst/>
          </a:prstGeom>
          <a:noFill/>
        </p:spPr>
        <p:txBody>
          <a:bodyPr wrap="square" lIns="0" tIns="27432" rIns="0" bIns="27432" anchor="ctr">
            <a:spAutoFit/>
          </a:bodyPr>
          <a:lstStyle/>
          <a:p>
            <a:pPr algn="l">
              <a:spcAft>
                <a:spcPts val="200"/>
              </a:spcAft>
            </a:pPr>
            <a:r>
              <a:rPr sz="800" b="1">
                <a:solidFill>
                  <a:srgbClr val="2E75B6"/>
                </a:solidFill>
                <a:latin typeface="맑은 고딕"/>
                <a:ea typeface="맑은 고딕"/>
                <a:cs typeface="맑은 고딕"/>
              </a:rPr>
              <a:t>+75%</a:t>
            </a:r>
          </a:p>
        </p:txBody>
      </p:sp>
      <p:sp>
        <p:nvSpPr>
          <p:cNvPr id="46" name="TextBox 45"/>
          <p:cNvSpPr txBox="1"/>
          <p:nvPr/>
        </p:nvSpPr>
        <p:spPr>
          <a:xfrm>
            <a:off x="6263640" y="2112264"/>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KVFlow (2507.07400)</a:t>
            </a:r>
          </a:p>
        </p:txBody>
      </p:sp>
      <p:sp>
        <p:nvSpPr>
          <p:cNvPr id="47" name="Rectangle 46"/>
          <p:cNvSpPr/>
          <p:nvPr/>
        </p:nvSpPr>
        <p:spPr>
          <a:xfrm>
            <a:off x="8922639" y="2157984"/>
            <a:ext cx="178307" cy="10058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183242" y="2112264"/>
            <a:ext cx="1097280" cy="173736"/>
          </a:xfrm>
          <a:prstGeom prst="rect">
            <a:avLst/>
          </a:prstGeom>
          <a:noFill/>
        </p:spPr>
        <p:txBody>
          <a:bodyPr wrap="square" lIns="0" tIns="27432" rIns="0" bIns="27432" anchor="ctr">
            <a:spAutoFit/>
          </a:bodyPr>
          <a:lstStyle/>
          <a:p>
            <a:pPr algn="l">
              <a:spcAft>
                <a:spcPts val="200"/>
              </a:spcAft>
            </a:pPr>
            <a:r>
              <a:rPr sz="800" b="1">
                <a:solidFill>
                  <a:srgbClr val="2E75B6"/>
                </a:solidFill>
                <a:latin typeface="맑은 고딕"/>
                <a:ea typeface="맑은 고딕"/>
                <a:cs typeface="맑은 고딕"/>
              </a:rPr>
              <a:t>1.83~2.19x</a:t>
            </a:r>
          </a:p>
        </p:txBody>
      </p:sp>
      <p:sp>
        <p:nvSpPr>
          <p:cNvPr id="49" name="TextBox 48"/>
          <p:cNvSpPr txBox="1"/>
          <p:nvPr/>
        </p:nvSpPr>
        <p:spPr>
          <a:xfrm>
            <a:off x="6263640" y="2286000"/>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Pensieve (2312.05516)</a:t>
            </a:r>
          </a:p>
        </p:txBody>
      </p:sp>
      <p:sp>
        <p:nvSpPr>
          <p:cNvPr id="50" name="Rectangle 49"/>
          <p:cNvSpPr/>
          <p:nvPr/>
        </p:nvSpPr>
        <p:spPr>
          <a:xfrm>
            <a:off x="8580881" y="2331720"/>
            <a:ext cx="921258" cy="10058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584435" y="2286000"/>
            <a:ext cx="1097280" cy="173736"/>
          </a:xfrm>
          <a:prstGeom prst="rect">
            <a:avLst/>
          </a:prstGeom>
          <a:noFill/>
        </p:spPr>
        <p:txBody>
          <a:bodyPr wrap="square" lIns="0" tIns="27432" rIns="0" bIns="27432" anchor="ctr">
            <a:spAutoFit/>
          </a:bodyPr>
          <a:lstStyle/>
          <a:p>
            <a:pPr algn="l">
              <a:spcAft>
                <a:spcPts val="200"/>
              </a:spcAft>
            </a:pPr>
            <a:r>
              <a:rPr sz="800" b="1">
                <a:solidFill>
                  <a:srgbClr val="2E75B6"/>
                </a:solidFill>
                <a:latin typeface="맑은 고딕"/>
                <a:ea typeface="맑은 고딕"/>
                <a:cs typeface="맑은 고딕"/>
              </a:rPr>
              <a:t>1.14~3.0x</a:t>
            </a:r>
          </a:p>
        </p:txBody>
      </p:sp>
      <p:sp>
        <p:nvSpPr>
          <p:cNvPr id="52" name="TextBox 51"/>
          <p:cNvSpPr txBox="1"/>
          <p:nvPr/>
        </p:nvSpPr>
        <p:spPr>
          <a:xfrm>
            <a:off x="6263640" y="2459736"/>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Mooncake 시뮬레이션</a:t>
            </a:r>
          </a:p>
        </p:txBody>
      </p:sp>
      <p:sp>
        <p:nvSpPr>
          <p:cNvPr id="53" name="Oval 52"/>
          <p:cNvSpPr/>
          <p:nvPr/>
        </p:nvSpPr>
        <p:spPr>
          <a:xfrm>
            <a:off x="11057000" y="2500884"/>
            <a:ext cx="109728" cy="109728"/>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0060304" y="2459736"/>
            <a:ext cx="960120" cy="173736"/>
          </a:xfrm>
          <a:prstGeom prst="rect">
            <a:avLst/>
          </a:prstGeom>
          <a:noFill/>
        </p:spPr>
        <p:txBody>
          <a:bodyPr wrap="square" lIns="0" tIns="27432" rIns="0" bIns="27432" anchor="ctr">
            <a:spAutoFit/>
          </a:bodyPr>
          <a:lstStyle/>
          <a:p>
            <a:pPr algn="r">
              <a:spcAft>
                <a:spcPts val="200"/>
              </a:spcAft>
            </a:pPr>
            <a:r>
              <a:rPr sz="800" b="1">
                <a:solidFill>
                  <a:srgbClr val="C55A11"/>
                </a:solidFill>
                <a:latin typeface="맑은 고딕"/>
                <a:ea typeface="맑은 고딕"/>
                <a:cs typeface="맑은 고딕"/>
              </a:rPr>
              <a:t>+525% (6.25x)</a:t>
            </a:r>
          </a:p>
        </p:txBody>
      </p:sp>
      <p:sp>
        <p:nvSpPr>
          <p:cNvPr id="55" name="TextBox 54"/>
          <p:cNvSpPr txBox="1"/>
          <p:nvPr/>
        </p:nvSpPr>
        <p:spPr>
          <a:xfrm>
            <a:off x="6263640" y="2633472"/>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DistServe (2401.09670)</a:t>
            </a:r>
          </a:p>
        </p:txBody>
      </p:sp>
      <p:sp>
        <p:nvSpPr>
          <p:cNvPr id="56" name="Oval 55"/>
          <p:cNvSpPr/>
          <p:nvPr/>
        </p:nvSpPr>
        <p:spPr>
          <a:xfrm>
            <a:off x="11626595" y="2674620"/>
            <a:ext cx="109728" cy="109728"/>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29899" y="2633472"/>
            <a:ext cx="960120" cy="173736"/>
          </a:xfrm>
          <a:prstGeom prst="rect">
            <a:avLst/>
          </a:prstGeom>
          <a:noFill/>
        </p:spPr>
        <p:txBody>
          <a:bodyPr wrap="square" lIns="0" tIns="27432" rIns="0" bIns="27432" anchor="ctr">
            <a:spAutoFit/>
          </a:bodyPr>
          <a:lstStyle/>
          <a:p>
            <a:pPr algn="r">
              <a:spcAft>
                <a:spcPts val="200"/>
              </a:spcAft>
            </a:pPr>
            <a:r>
              <a:rPr sz="800" b="1">
                <a:solidFill>
                  <a:srgbClr val="C55A11"/>
                </a:solidFill>
                <a:latin typeface="맑은 고딕"/>
                <a:ea typeface="맑은 고딕"/>
                <a:cs typeface="맑은 고딕"/>
              </a:rPr>
              <a:t>7.4x 요청 수</a:t>
            </a:r>
          </a:p>
        </p:txBody>
      </p:sp>
      <p:sp>
        <p:nvSpPr>
          <p:cNvPr id="58" name="TextBox 57"/>
          <p:cNvSpPr txBox="1"/>
          <p:nvPr/>
        </p:nvSpPr>
        <p:spPr>
          <a:xfrm>
            <a:off x="6263640" y="2807208"/>
            <a:ext cx="2103120" cy="173736"/>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LMCache (2510.09665)</a:t>
            </a:r>
          </a:p>
        </p:txBody>
      </p:sp>
      <p:sp>
        <p:nvSpPr>
          <p:cNvPr id="59" name="Rectangle 58"/>
          <p:cNvSpPr/>
          <p:nvPr/>
        </p:nvSpPr>
        <p:spPr>
          <a:xfrm>
            <a:off x="9155430" y="2852928"/>
            <a:ext cx="2823210" cy="100584"/>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1987784" y="2807208"/>
            <a:ext cx="182880" cy="173736"/>
          </a:xfrm>
          <a:prstGeom prst="rect">
            <a:avLst/>
          </a:prstGeom>
          <a:noFill/>
        </p:spPr>
        <p:txBody>
          <a:bodyPr wrap="square" lIns="0" tIns="27432" rIns="0" bIns="27432" anchor="ctr">
            <a:spAutoFit/>
          </a:bodyPr>
          <a:lstStyle/>
          <a:p>
            <a:pPr algn="l">
              <a:spcAft>
                <a:spcPts val="200"/>
              </a:spcAft>
            </a:pPr>
            <a:r>
              <a:rPr sz="800" b="0">
                <a:solidFill>
                  <a:srgbClr val="C55A11"/>
                </a:solidFill>
                <a:latin typeface="맑은 고딕"/>
                <a:ea typeface="맑은 고딕"/>
                <a:cs typeface="맑은 고딕"/>
              </a:rPr>
              <a:t>▶</a:t>
            </a:r>
          </a:p>
        </p:txBody>
      </p:sp>
      <p:sp>
        <p:nvSpPr>
          <p:cNvPr id="61" name="TextBox 60"/>
          <p:cNvSpPr txBox="1"/>
          <p:nvPr/>
        </p:nvSpPr>
        <p:spPr>
          <a:xfrm>
            <a:off x="9201150" y="2807208"/>
            <a:ext cx="1097280" cy="173736"/>
          </a:xfrm>
          <a:prstGeom prst="rect">
            <a:avLst/>
          </a:prstGeom>
          <a:noFill/>
        </p:spPr>
        <p:txBody>
          <a:bodyPr wrap="square" lIns="0" tIns="27432" rIns="0" bIns="27432" anchor="ctr">
            <a:spAutoFit/>
          </a:bodyPr>
          <a:lstStyle/>
          <a:p>
            <a:pPr algn="l">
              <a:spcAft>
                <a:spcPts val="200"/>
              </a:spcAft>
            </a:pPr>
            <a:r>
              <a:rPr sz="800" b="1">
                <a:solidFill>
                  <a:srgbClr val="FFFFFF"/>
                </a:solidFill>
                <a:latin typeface="맑은 고딕"/>
                <a:ea typeface="맑은 고딕"/>
                <a:cs typeface="맑은 고딕"/>
              </a:rPr>
              <a:t>2.3~14x</a:t>
            </a:r>
          </a:p>
        </p:txBody>
      </p:sp>
      <p:sp>
        <p:nvSpPr>
          <p:cNvPr id="62" name="TextBox 61"/>
          <p:cNvSpPr txBox="1"/>
          <p:nvPr/>
        </p:nvSpPr>
        <p:spPr>
          <a:xfrm>
            <a:off x="6263640" y="2980944"/>
            <a:ext cx="2103120" cy="173736"/>
          </a:xfrm>
          <a:prstGeom prst="rect">
            <a:avLst/>
          </a:prstGeom>
          <a:noFill/>
        </p:spPr>
        <p:txBody>
          <a:bodyPr wrap="square" lIns="18288" tIns="27432" rIns="18288" bIns="27432" anchor="ctr">
            <a:spAutoFit/>
          </a:bodyPr>
          <a:lstStyle/>
          <a:p>
            <a:pPr algn="r">
              <a:spcAft>
                <a:spcPts val="200"/>
              </a:spcAft>
            </a:pPr>
            <a:r>
              <a:rPr sz="800" b="0" dirty="0" err="1">
                <a:solidFill>
                  <a:srgbClr val="404040"/>
                </a:solidFill>
                <a:latin typeface="맑은 고딕"/>
                <a:ea typeface="맑은 고딕"/>
                <a:cs typeface="맑은 고딕"/>
              </a:rPr>
              <a:t>내부</a:t>
            </a:r>
            <a:r>
              <a:rPr sz="800" b="0" dirty="0">
                <a:solidFill>
                  <a:srgbClr val="404040"/>
                </a:solidFill>
                <a:latin typeface="맑은 고딕"/>
                <a:ea typeface="맑은 고딕"/>
                <a:cs typeface="맑은 고딕"/>
              </a:rPr>
              <a:t> DP1~4 </a:t>
            </a:r>
            <a:r>
              <a:rPr sz="800" b="0" dirty="0" err="1">
                <a:solidFill>
                  <a:srgbClr val="404040"/>
                </a:solidFill>
                <a:latin typeface="맑은 고딕"/>
                <a:ea typeface="맑은 고딕"/>
                <a:cs typeface="맑은 고딕"/>
              </a:rPr>
              <a:t>후보</a:t>
            </a:r>
            <a:r>
              <a:rPr sz="800" b="0" dirty="0">
                <a:solidFill>
                  <a:srgbClr val="404040"/>
                </a:solidFill>
                <a:latin typeface="맑은 고딕"/>
                <a:ea typeface="맑은 고딕"/>
                <a:cs typeface="맑은 고딕"/>
              </a:rPr>
              <a:t> R</a:t>
            </a:r>
          </a:p>
        </p:txBody>
      </p:sp>
      <p:sp>
        <p:nvSpPr>
          <p:cNvPr id="63" name="Rectangle 62"/>
          <p:cNvSpPr/>
          <p:nvPr/>
        </p:nvSpPr>
        <p:spPr>
          <a:xfrm>
            <a:off x="8506587" y="3026664"/>
            <a:ext cx="257555" cy="100584"/>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846439" y="2980944"/>
            <a:ext cx="1097280" cy="173736"/>
          </a:xfrm>
          <a:prstGeom prst="rect">
            <a:avLst/>
          </a:prstGeom>
          <a:noFill/>
        </p:spPr>
        <p:txBody>
          <a:bodyPr wrap="square" lIns="0" tIns="27432" rIns="0" bIns="27432" anchor="ctr">
            <a:spAutoFit/>
          </a:bodyPr>
          <a:lstStyle/>
          <a:p>
            <a:pPr algn="l">
              <a:spcAft>
                <a:spcPts val="200"/>
              </a:spcAft>
            </a:pPr>
            <a:r>
              <a:rPr sz="800" b="1">
                <a:solidFill>
                  <a:srgbClr val="548235"/>
                </a:solidFill>
                <a:latin typeface="맑은 고딕"/>
                <a:ea typeface="맑은 고딕"/>
                <a:cs typeface="맑은 고딕"/>
              </a:rPr>
              <a:t>0.99~1.51x</a:t>
            </a:r>
          </a:p>
        </p:txBody>
      </p:sp>
      <p:sp>
        <p:nvSpPr>
          <p:cNvPr id="65" name="Rectangle 64"/>
          <p:cNvSpPr/>
          <p:nvPr/>
        </p:nvSpPr>
        <p:spPr>
          <a:xfrm>
            <a:off x="6263640" y="3474720"/>
            <a:ext cx="109728" cy="9144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400800" y="3429000"/>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문헌: 실GPU·실트래픽</a:t>
            </a:r>
          </a:p>
        </p:txBody>
      </p:sp>
      <p:sp>
        <p:nvSpPr>
          <p:cNvPr id="67" name="Rectangle 66"/>
          <p:cNvSpPr/>
          <p:nvPr/>
        </p:nvSpPr>
        <p:spPr>
          <a:xfrm>
            <a:off x="7726679" y="3474720"/>
            <a:ext cx="109728" cy="9144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7863840" y="3429000"/>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문헌: 시뮬레이션·조건부 최대</a:t>
            </a:r>
          </a:p>
        </p:txBody>
      </p:sp>
      <p:sp>
        <p:nvSpPr>
          <p:cNvPr id="69" name="Rectangle 68"/>
          <p:cNvSpPr/>
          <p:nvPr/>
        </p:nvSpPr>
        <p:spPr>
          <a:xfrm>
            <a:off x="9464040" y="3474720"/>
            <a:ext cx="109728" cy="9144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9601200" y="3429000"/>
            <a:ext cx="1645920" cy="182880"/>
          </a:xfrm>
          <a:prstGeom prst="rect">
            <a:avLst/>
          </a:prstGeom>
          <a:noFill/>
        </p:spPr>
        <p:txBody>
          <a:bodyPr wrap="square" lIns="0" tIns="27432" rIns="0" bIns="27432" anchor="t">
            <a:spAutoFit/>
          </a:bodyPr>
          <a:lstStyle/>
          <a:p>
            <a:pPr algn="l">
              <a:spcAft>
                <a:spcPts val="200"/>
              </a:spcAft>
            </a:pPr>
            <a:r>
              <a:rPr sz="750" b="0" dirty="0" err="1">
                <a:solidFill>
                  <a:srgbClr val="595959"/>
                </a:solidFill>
                <a:latin typeface="맑은 고딕"/>
                <a:ea typeface="맑은 고딕"/>
                <a:cs typeface="맑은 고딕"/>
              </a:rPr>
              <a:t>내부</a:t>
            </a:r>
            <a:r>
              <a:rPr sz="750" b="0" dirty="0">
                <a:solidFill>
                  <a:srgbClr val="595959"/>
                </a:solidFill>
                <a:latin typeface="맑은 고딕"/>
                <a:ea typeface="맑은 고딕"/>
                <a:cs typeface="맑은 고딕"/>
              </a:rPr>
              <a:t> </a:t>
            </a:r>
            <a:r>
              <a:rPr sz="750" b="0" dirty="0" err="1">
                <a:solidFill>
                  <a:srgbClr val="595959"/>
                </a:solidFill>
                <a:latin typeface="맑은 고딕"/>
                <a:ea typeface="맑은 고딕"/>
                <a:cs typeface="맑은 고딕"/>
              </a:rPr>
              <a:t>시뮬레이션</a:t>
            </a:r>
            <a:r>
              <a:rPr sz="750" b="0" dirty="0">
                <a:solidFill>
                  <a:srgbClr val="595959"/>
                </a:solidFill>
                <a:latin typeface="맑은 고딕"/>
                <a:ea typeface="맑은 고딕"/>
                <a:cs typeface="맑은 고딕"/>
              </a:rPr>
              <a:t> [B+C]</a:t>
            </a:r>
          </a:p>
        </p:txBody>
      </p:sp>
      <p:graphicFrame>
        <p:nvGraphicFramePr>
          <p:cNvPr id="71" name="Table 70"/>
          <p:cNvGraphicFramePr>
            <a:graphicFrameLocks noGrp="1"/>
          </p:cNvGraphicFramePr>
          <p:nvPr/>
        </p:nvGraphicFramePr>
        <p:xfrm>
          <a:off x="6263640" y="3675887"/>
          <a:ext cx="5715000" cy="2103120"/>
        </p:xfrm>
        <a:graphic>
          <a:graphicData uri="http://schemas.openxmlformats.org/drawingml/2006/table">
            <a:tbl>
              <a:tblPr>
                <a:tableStyleId>{2D5ABB26-0587-4C30-8999-92F81FD0307C}</a:tableStyleId>
              </a:tblPr>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37744">
                <a:tc>
                  <a:txBody>
                    <a:bodyPr/>
                    <a:lstStyle/>
                    <a:p>
                      <a:pPr algn="ctr">
                        <a:spcAft>
                          <a:spcPts val="100"/>
                        </a:spcAft>
                      </a:pPr>
                      <a:r>
                        <a:rPr sz="750" b="0">
                          <a:solidFill>
                            <a:srgbClr val="000000"/>
                          </a:solidFill>
                          <a:latin typeface="맑은 고딕"/>
                          <a:ea typeface="맑은 고딕"/>
                          <a:cs typeface="맑은 고딕"/>
                        </a:rPr>
                        <a:t>문헌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지표·조건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값</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별 반영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65760">
                <a:tc>
                  <a:txBody>
                    <a:bodyPr/>
                    <a:lstStyle/>
                    <a:p>
                      <a:pPr algn="ctr">
                        <a:spcAft>
                          <a:spcPts val="100"/>
                        </a:spcAft>
                      </a:pPr>
                      <a:r>
                        <a:rPr sz="750" b="0">
                          <a:solidFill>
                            <a:srgbClr val="000000"/>
                          </a:solidFill>
                          <a:latin typeface="맑은 고딕"/>
                          <a:ea typeface="맑은 고딕"/>
                          <a:cs typeface="맑은 고딕"/>
                        </a:rPr>
                        <a:t>InferCept
arXiv 2402.01869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tool 호출(augmented LLM) 서빙, 최신 서빙 시스템 대비 처리량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1.6~2x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하한 / ★★ 상단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65760">
                <a:tc>
                  <a:txBody>
                    <a:bodyPr/>
                    <a:lstStyle/>
                    <a:p>
                      <a:pPr algn="ctr">
                        <a:spcAft>
                          <a:spcPts val="100"/>
                        </a:spcAft>
                      </a:pPr>
                      <a:r>
                        <a:rPr sz="750" b="0">
                          <a:solidFill>
                            <a:srgbClr val="000000"/>
                          </a:solidFill>
                          <a:latin typeface="맑은 고딕"/>
                          <a:ea typeface="맑은 고딕"/>
                          <a:cs typeface="맑은 고딕"/>
                        </a:rPr>
                        <a:t>Mooncake FAST'25
arXiv 2407.00079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KVCache 중심 분리 서빙, SLO 하 실트래픽(Kimi) 요청 처리</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하한대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365760">
                <a:tc>
                  <a:txBody>
                    <a:bodyPr/>
                    <a:lstStyle/>
                    <a:p>
                      <a:pPr algn="ctr">
                        <a:spcAft>
                          <a:spcPts val="100"/>
                        </a:spcAft>
                      </a:pPr>
                      <a:r>
                        <a:rPr sz="750" b="0">
                          <a:solidFill>
                            <a:srgbClr val="000000"/>
                          </a:solidFill>
                          <a:latin typeface="맑은 고딕"/>
                          <a:ea typeface="맑은 고딕"/>
                          <a:cs typeface="맑은 고딕"/>
                        </a:rPr>
                        <a:t>KVFlow
arXiv 2507.07400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멀티에이전트 워크플로 prefix cache, SGLang(HiCache) 대비 최대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1.83x / 2.19x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365760">
                <a:tc>
                  <a:txBody>
                    <a:bodyPr/>
                    <a:lstStyle/>
                    <a:p>
                      <a:pPr algn="ctr">
                        <a:spcAft>
                          <a:spcPts val="100"/>
                        </a:spcAft>
                      </a:pPr>
                      <a:r>
                        <a:rPr sz="750" b="0">
                          <a:solidFill>
                            <a:srgbClr val="000000"/>
                          </a:solidFill>
                          <a:latin typeface="맑은 고딕"/>
                          <a:ea typeface="맑은 고딕"/>
                          <a:cs typeface="맑은 고딕"/>
                        </a:rPr>
                        <a:t>Pensieve
arXiv 2312.05516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다중 턴 stateful 서빙, vLLM·TensorRT-LLM 대비 처리량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1.14~3.0x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상한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402336">
                <a:tc>
                  <a:txBody>
                    <a:bodyPr/>
                    <a:lstStyle/>
                    <a:p>
                      <a:pPr algn="ctr">
                        <a:spcAft>
                          <a:spcPts val="100"/>
                        </a:spcAft>
                      </a:pPr>
                      <a:r>
                        <a:rPr sz="750" b="0">
                          <a:solidFill>
                            <a:srgbClr val="000000"/>
                          </a:solidFill>
                          <a:latin typeface="맑은 고딕"/>
                          <a:ea typeface="맑은 고딕"/>
                          <a:cs typeface="맑은 고딕"/>
                        </a:rPr>
                        <a:t>시뮬·조건부 최대
(위 3종)</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Mooncake 시뮬 +525%, DistServe 7.4x, LMCache 최대 14x는 특정 trace·baseline·시뮬 조건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6.25~14x</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상한 제외</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72" name="Right Arrow 71"/>
          <p:cNvSpPr/>
          <p:nvPr/>
        </p:nvSpPr>
        <p:spPr>
          <a:xfrm>
            <a:off x="283464" y="5888736"/>
            <a:ext cx="365760"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94944" y="5852160"/>
            <a:ext cx="11247120" cy="310896"/>
          </a:xfrm>
          <a:prstGeom prst="rect">
            <a:avLst/>
          </a:prstGeom>
          <a:noFill/>
        </p:spPr>
        <p:txBody>
          <a:bodyPr wrap="square" lIns="45720" tIns="27432" rIns="45720" bIns="27432" anchor="ctr">
            <a:spAutoFit/>
          </a:bodyPr>
          <a:lstStyle/>
          <a:p>
            <a:pPr algn="l">
              <a:spcAft>
                <a:spcPts val="200"/>
              </a:spcAft>
            </a:pPr>
            <a:r>
              <a:rPr sz="1150" b="1">
                <a:solidFill>
                  <a:srgbClr val="0066FF"/>
                </a:solidFill>
                <a:latin typeface="맑은 고딕"/>
                <a:ea typeface="맑은 고딕"/>
                <a:cs typeface="맑은 고딕"/>
              </a:rPr>
              <a:t>★ 1.5x는 실GPU·실트래픽 보고의 하한대, ★★★ 3.0x는 실GPU 보고 상한. 시뮬·조건부 최대치(6~14x)는 상한에서 제외한다.</a:t>
            </a:r>
          </a:p>
        </p:txBody>
      </p:sp>
      <p:sp>
        <p:nvSpPr>
          <p:cNvPr id="74" name="TextBox 73"/>
          <p:cNvSpPr txBox="1"/>
          <p:nvPr/>
        </p:nvSpPr>
        <p:spPr>
          <a:xfrm>
            <a:off x="246888" y="6126480"/>
            <a:ext cx="11704320" cy="228600"/>
          </a:xfrm>
          <a:prstGeom prst="rect">
            <a:avLst/>
          </a:prstGeom>
          <a:noFill/>
        </p:spPr>
        <p:txBody>
          <a:bodyPr wrap="square" lIns="45720" tIns="27432" rIns="45720" bIns="27432" anchor="t">
            <a:spAutoFit/>
          </a:bodyPr>
          <a:lstStyle/>
          <a:p>
            <a:pPr algn="l">
              <a:spcAft>
                <a:spcPts val="0"/>
              </a:spcAft>
            </a:pPr>
            <a:r>
              <a:rPr sz="800" b="1">
                <a:solidFill>
                  <a:srgbClr val="C00000"/>
                </a:solidFill>
                <a:latin typeface="맑은 고딕"/>
                <a:ea typeface="맑은 고딕"/>
                <a:cs typeface="맑은 고딕"/>
              </a:rPr>
              <a:t>주의  </a:t>
            </a:r>
            <a:r>
              <a:rPr sz="800" b="0">
                <a:solidFill>
                  <a:srgbClr val="404040"/>
                </a:solidFill>
                <a:latin typeface="맑은 고딕"/>
                <a:ea typeface="맑은 고딕"/>
                <a:cs typeface="맑은 고딕"/>
              </a:rPr>
              <a:t>문헌 지표(처리량·요청 수·goodput)와 baseline·workload가 달라 직접 비교 불가 [문헌 인용]. 내부 시뮬 R 0.99~1.51 중 1.5x 이상은 DP3 C1(1.514)뿐. 기존 v3(★★★ = 4/3)와 기준이 다름.</a:t>
            </a:r>
          </a:p>
        </p:txBody>
      </p:sp>
      <p:sp>
        <p:nvSpPr>
          <p:cNvPr id="75" name="TextBox 74"/>
          <p:cNvSpPr txBox="1"/>
          <p:nvPr/>
        </p:nvSpPr>
        <p:spPr>
          <a:xfrm>
            <a:off x="274320" y="6382512"/>
            <a:ext cx="11612880" cy="274320"/>
          </a:xfrm>
          <a:prstGeom prst="rect">
            <a:avLst/>
          </a:prstGeom>
          <a:noFill/>
        </p:spPr>
        <p:txBody>
          <a:bodyPr wrap="square" lIns="45720" tIns="27432" rIns="45720" bIns="27432" anchor="t">
            <a:spAutoFit/>
          </a:bodyPr>
          <a:lstStyle/>
          <a:p>
            <a:pPr algn="l">
              <a:spcAft>
                <a:spcPts val="0"/>
              </a:spcAft>
            </a:pPr>
            <a:r>
              <a:rPr sz="750" b="0">
                <a:solidFill>
                  <a:srgbClr val="7F7F7F"/>
                </a:solidFill>
                <a:latin typeface="맑은 고딕"/>
                <a:ea typeface="맑은 고딕"/>
                <a:cs typeface="맑은 고딕"/>
              </a:rPr>
              <a:t>출처: arXiv 2402.01869, 2407.00079(FAST'25), 2507.07400, 2312.05516, 2401.09670(OSDI'24), 2510.09665(검색 요약 기준, 원문 미확인). 내부 값: doc-mk/Evaluation/unified_stars_check.md</a:t>
            </a:r>
          </a:p>
        </p:txBody>
      </p:sp>
      <p:sp>
        <p:nvSpPr>
          <p:cNvPr id="76" name="TextBox 75"/>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2</a:t>
            </a:r>
          </a:p>
        </p:txBody>
      </p:sp>
      <p:sp>
        <p:nvSpPr>
          <p:cNvPr id="77" name="실행 단추: 뒤로 또는 이전 76">
            <a:hlinkClick r:id="rId3" action="ppaction://hlinksldjump" highlightClick="1"/>
          </p:cNvPr>
          <p:cNvSpPr/>
          <p:nvPr/>
        </p:nvSpPr>
        <p:spPr>
          <a:xfrm>
            <a:off x="7132320" y="220980"/>
            <a:ext cx="243840" cy="2737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4896092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QA-02. Resource Efficiency - 별 기준과 근거</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969264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동일 성능 조건에서 HBM 점유율이 Baseline보다 몇 % 줄면 ★ / ★★ / ★★★ 인가</a:t>
            </a:r>
          </a:p>
        </p:txBody>
      </p:sp>
      <p:sp>
        <p:nvSpPr>
          <p:cNvPr id="13" name="Rounded Rectangle 12"/>
          <p:cNvSpPr/>
          <p:nvPr/>
        </p:nvSpPr>
        <p:spPr>
          <a:xfrm>
            <a:off x="11073384" y="630936"/>
            <a:ext cx="786384"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QA-02</a:t>
            </a:r>
          </a:p>
        </p:txBody>
      </p:sp>
      <p:graphicFrame>
        <p:nvGraphicFramePr>
          <p:cNvPr id="14" name="Table 13"/>
          <p:cNvGraphicFramePr>
            <a:graphicFrameLocks noGrp="1"/>
          </p:cNvGraphicFramePr>
          <p:nvPr/>
        </p:nvGraphicFramePr>
        <p:xfrm>
          <a:off x="246888" y="1115568"/>
          <a:ext cx="5852160" cy="3936490"/>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74320">
                <a:tc>
                  <a:txBody>
                    <a:bodyPr/>
                    <a:lstStyle/>
                    <a:p>
                      <a:pPr algn="ctr">
                        <a:spcAft>
                          <a:spcPts val="100"/>
                        </a:spcAft>
                      </a:pPr>
                      <a:r>
                        <a:rPr sz="1050" b="0">
                          <a:solidFill>
                            <a:srgbClr val="000000"/>
                          </a:solidFill>
                          <a:latin typeface="맑은 고딕"/>
                          <a:ea typeface="맑은 고딕"/>
                          <a:cs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조건 (감소율 = (Baseline − 후보) ÷ Baseline)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598370">
                <a:tc>
                  <a:txBody>
                    <a:bodyPr/>
                    <a:lstStyle/>
                    <a:p>
                      <a:pPr algn="ctr">
                        <a:spcAft>
                          <a:spcPts val="100"/>
                        </a:spcAft>
                      </a:pPr>
                      <a:r>
                        <a:rPr sz="1050" b="0">
                          <a:solidFill>
                            <a:srgbClr val="000000"/>
                          </a:solidFill>
                          <a:latin typeface="맑은 고딕"/>
                          <a:ea typeface="맑은 고딕"/>
                          <a:cs typeface="맑은 고딕"/>
                        </a:rPr>
                        <a:t>☆ 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50" b="0">
                          <a:solidFill>
                            <a:srgbClr val="000000"/>
                          </a:solidFill>
                          <a:latin typeface="맑은 고딕"/>
                          <a:ea typeface="맑은 고딕"/>
                          <a:cs typeface="맑은 고딕"/>
                        </a:rPr>
                        <a:t>감소율 &lt; 20%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시나리오 목표 미달. 음수는 후보가 HBM을 더 쓴 경우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957392">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50" b="0">
                          <a:solidFill>
                            <a:srgbClr val="000000"/>
                          </a:solidFill>
                          <a:latin typeface="맑은 고딕"/>
                          <a:ea typeface="맑은 고딕"/>
                          <a:cs typeface="맑은 고딕"/>
                        </a:rPr>
                        <a:t>감소율 ≥ 20%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시나리오 목표(하한). DP1 평균 146.6 GiB 중 약 29 GiB, Baseline 점유 잡음(±1.6%)의 12배 이상 [측정+환산]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718044">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DEEBF7"/>
                    </a:solidFill>
                  </a:tcPr>
                </a:tc>
                <a:tc>
                  <a:txBody>
                    <a:bodyPr/>
                    <a:lstStyle/>
                    <a:p>
                      <a:pPr>
                        <a:spcAft>
                          <a:spcPts val="100"/>
                        </a:spcAft>
                      </a:pPr>
                      <a:r>
                        <a:rPr sz="1050" b="0">
                          <a:solidFill>
                            <a:srgbClr val="000000"/>
                          </a:solidFill>
                          <a:latin typeface="맑은 고딕"/>
                          <a:ea typeface="맑은 고딕"/>
                          <a:cs typeface="맑은 고딕"/>
                        </a:rPr>
                        <a:t>감소율 ≥ 47.5%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★(20%)과 ★★★(75%)의 등분 중점. KV 약 1/2 수준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1136904">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spcAft>
                          <a:spcPts val="100"/>
                        </a:spcAft>
                      </a:pPr>
                      <a:r>
                        <a:rPr sz="1050" b="0">
                          <a:solidFill>
                            <a:srgbClr val="000000"/>
                          </a:solidFill>
                          <a:latin typeface="맑은 고딕"/>
                          <a:ea typeface="맑은 고딕"/>
                          <a:cs typeface="맑은 고딕"/>
                        </a:rPr>
                        <a:t>감소율 ≥ 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상한. KV 3~4x 축소가 성능 저하 없이 보고된 문헌 상한(KVzip). 그 이상(81~88%)은 저비트 환산이며 정확도(QA-05)와 trade-off</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15" name="Rectangle 14"/>
          <p:cNvSpPr/>
          <p:nvPr/>
        </p:nvSpPr>
        <p:spPr>
          <a:xfrm>
            <a:off x="246888" y="4892040"/>
            <a:ext cx="5852160" cy="868680"/>
          </a:xfrm>
          <a:prstGeom prst="rect">
            <a:avLst/>
          </a:prstGeom>
          <a:solidFill>
            <a:srgbClr val="F0F1F3"/>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lstStyle/>
          <a:p>
            <a:pPr algn="l">
              <a:spcAft>
                <a:spcPts val="200"/>
              </a:spcAft>
            </a:pPr>
            <a:r>
              <a:rPr sz="850" b="0">
                <a:solidFill>
                  <a:srgbClr val="404040"/>
                </a:solidFill>
                <a:latin typeface="맑은 고딕"/>
                <a:ea typeface="맑은 고딕"/>
                <a:cs typeface="맑은 고딕"/>
              </a:rPr>
              <a:t>지표: 측정 구간 동안 HBM에 올라와 있는 AI Data(KV·LoRA·expert 등, 모델 가중치·활성값 제외)의 시간 평균 크기(GiB)를 같은 DP Baseline과 비교한 감소율. 시나리오·시스템 쌍별 기하평균. 성능은 섞지 않고 SLO 통과를 전제로 한다.</a:t>
            </a:r>
          </a:p>
        </p:txBody>
      </p:sp>
      <p:sp>
        <p:nvSpPr>
          <p:cNvPr id="16" name="TextBox 15"/>
          <p:cNvSpPr txBox="1"/>
          <p:nvPr/>
        </p:nvSpPr>
        <p:spPr>
          <a:xfrm>
            <a:off x="6263640" y="1078992"/>
            <a:ext cx="5715000" cy="237744"/>
          </a:xfrm>
          <a:prstGeom prst="rect">
            <a:avLst/>
          </a:prstGeom>
          <a:noFill/>
        </p:spPr>
        <p:txBody>
          <a:bodyPr wrap="square" lIns="45720" tIns="27432" rIns="45720" bIns="27432" anchor="t">
            <a:spAutoFit/>
          </a:bodyPr>
          <a:lstStyle/>
          <a:p>
            <a:pPr algn="l">
              <a:spcAft>
                <a:spcPts val="200"/>
              </a:spcAft>
            </a:pPr>
            <a:r>
              <a:rPr sz="1000" b="1">
                <a:solidFill>
                  <a:srgbClr val="000000"/>
                </a:solidFill>
                <a:latin typeface="맑은 고딕"/>
                <a:ea typeface="맑은 고딕"/>
                <a:cs typeface="맑은 고딕"/>
              </a:rPr>
              <a:t>HBM 점유 감소율 (Baseline 대비, %)</a:t>
            </a:r>
          </a:p>
        </p:txBody>
      </p:sp>
      <p:sp>
        <p:nvSpPr>
          <p:cNvPr id="17" name="TextBox 16"/>
          <p:cNvSpPr txBox="1"/>
          <p:nvPr/>
        </p:nvSpPr>
        <p:spPr>
          <a:xfrm>
            <a:off x="9147657"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20%</a:t>
            </a:r>
          </a:p>
        </p:txBody>
      </p:sp>
      <p:cxnSp>
        <p:nvCxnSpPr>
          <p:cNvPr id="18" name="Connector 17"/>
          <p:cNvCxnSpPr/>
          <p:nvPr/>
        </p:nvCxnSpPr>
        <p:spPr>
          <a:xfrm>
            <a:off x="9696297" y="1499616"/>
            <a:ext cx="0" cy="137160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32212" y="149961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47.5%</a:t>
            </a:r>
          </a:p>
        </p:txBody>
      </p:sp>
      <p:cxnSp>
        <p:nvCxnSpPr>
          <p:cNvPr id="20" name="Connector 19"/>
          <p:cNvCxnSpPr/>
          <p:nvPr/>
        </p:nvCxnSpPr>
        <p:spPr>
          <a:xfrm>
            <a:off x="10480852" y="1682495"/>
            <a:ext cx="0" cy="1188721"/>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716768"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75%</a:t>
            </a:r>
          </a:p>
        </p:txBody>
      </p:sp>
      <p:cxnSp>
        <p:nvCxnSpPr>
          <p:cNvPr id="22" name="Connector 21"/>
          <p:cNvCxnSpPr/>
          <p:nvPr/>
        </p:nvCxnSpPr>
        <p:spPr>
          <a:xfrm>
            <a:off x="11265408" y="1499616"/>
            <a:ext cx="0" cy="137160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12480" y="2889504"/>
            <a:ext cx="3566160"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125711"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851391"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0%</a:t>
            </a:r>
          </a:p>
        </p:txBody>
      </p:sp>
      <p:cxnSp>
        <p:nvCxnSpPr>
          <p:cNvPr id="26" name="Connector 25"/>
          <p:cNvCxnSpPr/>
          <p:nvPr/>
        </p:nvCxnSpPr>
        <p:spPr>
          <a:xfrm>
            <a:off x="9838944"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4624"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25%</a:t>
            </a:r>
          </a:p>
        </p:txBody>
      </p:sp>
      <p:cxnSp>
        <p:nvCxnSpPr>
          <p:cNvPr id="28" name="Connector 27"/>
          <p:cNvCxnSpPr/>
          <p:nvPr/>
        </p:nvCxnSpPr>
        <p:spPr>
          <a:xfrm>
            <a:off x="10552176"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277855"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50%</a:t>
            </a:r>
          </a:p>
        </p:txBody>
      </p:sp>
      <p:cxnSp>
        <p:nvCxnSpPr>
          <p:cNvPr id="30" name="Connector 29"/>
          <p:cNvCxnSpPr/>
          <p:nvPr/>
        </p:nvCxnSpPr>
        <p:spPr>
          <a:xfrm>
            <a:off x="11265408"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991088"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75%</a:t>
            </a:r>
          </a:p>
        </p:txBody>
      </p:sp>
      <p:cxnSp>
        <p:nvCxnSpPr>
          <p:cNvPr id="32" name="Connector 31"/>
          <p:cNvCxnSpPr/>
          <p:nvPr/>
        </p:nvCxnSpPr>
        <p:spPr>
          <a:xfrm>
            <a:off x="11978640"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1704319"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100%</a:t>
            </a:r>
          </a:p>
        </p:txBody>
      </p:sp>
      <p:sp>
        <p:nvSpPr>
          <p:cNvPr id="34" name="TextBox 33"/>
          <p:cNvSpPr txBox="1"/>
          <p:nvPr/>
        </p:nvSpPr>
        <p:spPr>
          <a:xfrm>
            <a:off x="6263640" y="176479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KVzip (2505.23416) KV 3~4x 축소</a:t>
            </a:r>
          </a:p>
        </p:txBody>
      </p:sp>
      <p:sp>
        <p:nvSpPr>
          <p:cNvPr id="35" name="Rectangle 34"/>
          <p:cNvSpPr/>
          <p:nvPr/>
        </p:nvSpPr>
        <p:spPr>
          <a:xfrm>
            <a:off x="11028614" y="1810512"/>
            <a:ext cx="236793"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977054" y="1764792"/>
            <a:ext cx="960120" cy="182880"/>
          </a:xfrm>
          <a:prstGeom prst="rect">
            <a:avLst/>
          </a:prstGeom>
          <a:noFill/>
        </p:spPr>
        <p:txBody>
          <a:bodyPr wrap="square" lIns="0" tIns="27432" rIns="0" bIns="27432" anchor="ctr">
            <a:spAutoFit/>
          </a:bodyPr>
          <a:lstStyle/>
          <a:p>
            <a:pPr algn="r">
              <a:spcAft>
                <a:spcPts val="200"/>
              </a:spcAft>
            </a:pPr>
            <a:r>
              <a:rPr sz="800" b="1">
                <a:solidFill>
                  <a:srgbClr val="2E75B6"/>
                </a:solidFill>
                <a:latin typeface="맑은 고딕"/>
                <a:ea typeface="맑은 고딕"/>
                <a:cs typeface="맑은 고딕"/>
              </a:rPr>
              <a:t>67~75%</a:t>
            </a:r>
          </a:p>
        </p:txBody>
      </p:sp>
      <p:sp>
        <p:nvSpPr>
          <p:cNvPr id="37" name="TextBox 36"/>
          <p:cNvSpPr txBox="1"/>
          <p:nvPr/>
        </p:nvSpPr>
        <p:spPr>
          <a:xfrm>
            <a:off x="6263640" y="194767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KVQuant 3-bit (2401.18079) 환산</a:t>
            </a:r>
          </a:p>
        </p:txBody>
      </p:sp>
      <p:sp>
        <p:nvSpPr>
          <p:cNvPr id="38" name="Oval 37"/>
          <p:cNvSpPr/>
          <p:nvPr/>
        </p:nvSpPr>
        <p:spPr>
          <a:xfrm>
            <a:off x="11390278" y="199339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393582" y="1947672"/>
            <a:ext cx="960120" cy="182880"/>
          </a:xfrm>
          <a:prstGeom prst="rect">
            <a:avLst/>
          </a:prstGeom>
          <a:noFill/>
        </p:spPr>
        <p:txBody>
          <a:bodyPr wrap="square" lIns="0" tIns="27432" rIns="0" bIns="27432" anchor="ctr">
            <a:spAutoFit/>
          </a:bodyPr>
          <a:lstStyle/>
          <a:p>
            <a:pPr algn="r">
              <a:spcAft>
                <a:spcPts val="200"/>
              </a:spcAft>
            </a:pPr>
            <a:r>
              <a:rPr sz="800" b="1">
                <a:solidFill>
                  <a:srgbClr val="7F7F7F"/>
                </a:solidFill>
                <a:latin typeface="맑은 고딕"/>
                <a:ea typeface="맑은 고딕"/>
                <a:cs typeface="맑은 고딕"/>
              </a:rPr>
              <a:t>81% (16→3bit)</a:t>
            </a:r>
          </a:p>
        </p:txBody>
      </p:sp>
      <p:sp>
        <p:nvSpPr>
          <p:cNvPr id="40" name="TextBox 39"/>
          <p:cNvSpPr txBox="1"/>
          <p:nvPr/>
        </p:nvSpPr>
        <p:spPr>
          <a:xfrm>
            <a:off x="6263640" y="213055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KIVI 2-bit (2402.02750) 환산</a:t>
            </a:r>
          </a:p>
        </p:txBody>
      </p:sp>
      <p:sp>
        <p:nvSpPr>
          <p:cNvPr id="41" name="Oval 40"/>
          <p:cNvSpPr/>
          <p:nvPr/>
        </p:nvSpPr>
        <p:spPr>
          <a:xfrm>
            <a:off x="11567159" y="217627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570463" y="2130552"/>
            <a:ext cx="960120" cy="182880"/>
          </a:xfrm>
          <a:prstGeom prst="rect">
            <a:avLst/>
          </a:prstGeom>
          <a:noFill/>
        </p:spPr>
        <p:txBody>
          <a:bodyPr wrap="square" lIns="0" tIns="27432" rIns="0" bIns="27432" anchor="ctr">
            <a:spAutoFit/>
          </a:bodyPr>
          <a:lstStyle/>
          <a:p>
            <a:pPr algn="r">
              <a:spcAft>
                <a:spcPts val="200"/>
              </a:spcAft>
            </a:pPr>
            <a:r>
              <a:rPr sz="800" b="1">
                <a:solidFill>
                  <a:srgbClr val="7F7F7F"/>
                </a:solidFill>
                <a:latin typeface="맑은 고딕"/>
                <a:ea typeface="맑은 고딕"/>
                <a:cs typeface="맑은 고딕"/>
              </a:rPr>
              <a:t>88% (16→2bit)</a:t>
            </a:r>
          </a:p>
        </p:txBody>
      </p:sp>
      <p:sp>
        <p:nvSpPr>
          <p:cNvPr id="43" name="TextBox 42"/>
          <p:cNvSpPr txBox="1"/>
          <p:nvPr/>
        </p:nvSpPr>
        <p:spPr>
          <a:xfrm>
            <a:off x="6263640" y="231343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DP3 C1 (시뮬)</a:t>
            </a:r>
          </a:p>
        </p:txBody>
      </p:sp>
      <p:sp>
        <p:nvSpPr>
          <p:cNvPr id="44" name="Oval 43"/>
          <p:cNvSpPr/>
          <p:nvPr/>
        </p:nvSpPr>
        <p:spPr>
          <a:xfrm>
            <a:off x="11116397" y="2359152"/>
            <a:ext cx="109728" cy="10972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119701" y="2313432"/>
            <a:ext cx="960120" cy="182880"/>
          </a:xfrm>
          <a:prstGeom prst="rect">
            <a:avLst/>
          </a:prstGeom>
          <a:noFill/>
        </p:spPr>
        <p:txBody>
          <a:bodyPr wrap="square" lIns="0" tIns="27432" rIns="0" bIns="27432" anchor="ctr">
            <a:spAutoFit/>
          </a:bodyPr>
          <a:lstStyle/>
          <a:p>
            <a:pPr algn="r">
              <a:spcAft>
                <a:spcPts val="200"/>
              </a:spcAft>
            </a:pPr>
            <a:r>
              <a:rPr sz="800" b="1">
                <a:solidFill>
                  <a:srgbClr val="548235"/>
                </a:solidFill>
                <a:latin typeface="맑은 고딕"/>
                <a:ea typeface="맑은 고딕"/>
                <a:cs typeface="맑은 고딕"/>
              </a:rPr>
              <a:t>71.7%</a:t>
            </a:r>
          </a:p>
        </p:txBody>
      </p:sp>
      <p:sp>
        <p:nvSpPr>
          <p:cNvPr id="46" name="TextBox 45"/>
          <p:cNvSpPr txBox="1"/>
          <p:nvPr/>
        </p:nvSpPr>
        <p:spPr>
          <a:xfrm>
            <a:off x="6263640" y="249631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DP3 C2 (시뮬)</a:t>
            </a:r>
          </a:p>
        </p:txBody>
      </p:sp>
      <p:sp>
        <p:nvSpPr>
          <p:cNvPr id="47" name="Oval 46"/>
          <p:cNvSpPr/>
          <p:nvPr/>
        </p:nvSpPr>
        <p:spPr>
          <a:xfrm>
            <a:off x="9655698" y="2542032"/>
            <a:ext cx="109728" cy="10972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838578" y="2496312"/>
            <a:ext cx="1097280" cy="182880"/>
          </a:xfrm>
          <a:prstGeom prst="rect">
            <a:avLst/>
          </a:prstGeom>
          <a:noFill/>
        </p:spPr>
        <p:txBody>
          <a:bodyPr wrap="square" lIns="0" tIns="27432" rIns="0" bIns="27432" anchor="ctr">
            <a:spAutoFit/>
          </a:bodyPr>
          <a:lstStyle/>
          <a:p>
            <a:pPr algn="l">
              <a:spcAft>
                <a:spcPts val="200"/>
              </a:spcAft>
            </a:pPr>
            <a:r>
              <a:rPr sz="800" b="1">
                <a:solidFill>
                  <a:srgbClr val="548235"/>
                </a:solidFill>
                <a:latin typeface="맑은 고딕"/>
                <a:ea typeface="맑은 고딕"/>
                <a:cs typeface="맑은 고딕"/>
              </a:rPr>
              <a:t>20.5%</a:t>
            </a:r>
          </a:p>
        </p:txBody>
      </p:sp>
      <p:sp>
        <p:nvSpPr>
          <p:cNvPr id="49" name="TextBox 48"/>
          <p:cNvSpPr txBox="1"/>
          <p:nvPr/>
        </p:nvSpPr>
        <p:spPr>
          <a:xfrm>
            <a:off x="6263640" y="267919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DP1·DP2 후보 (시뮬)</a:t>
            </a:r>
          </a:p>
        </p:txBody>
      </p:sp>
      <p:sp>
        <p:nvSpPr>
          <p:cNvPr id="50" name="Rectangle 49"/>
          <p:cNvSpPr/>
          <p:nvPr/>
        </p:nvSpPr>
        <p:spPr>
          <a:xfrm>
            <a:off x="8515185" y="2724912"/>
            <a:ext cx="781702" cy="109728"/>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379183" y="2679192"/>
            <a:ext cx="1097280" cy="182880"/>
          </a:xfrm>
          <a:prstGeom prst="rect">
            <a:avLst/>
          </a:prstGeom>
          <a:noFill/>
        </p:spPr>
        <p:txBody>
          <a:bodyPr wrap="square" lIns="0" tIns="27432" rIns="0" bIns="27432" anchor="ctr">
            <a:spAutoFit/>
          </a:bodyPr>
          <a:lstStyle/>
          <a:p>
            <a:pPr algn="l">
              <a:spcAft>
                <a:spcPts val="200"/>
              </a:spcAft>
            </a:pPr>
            <a:r>
              <a:rPr sz="800" b="1">
                <a:solidFill>
                  <a:srgbClr val="548235"/>
                </a:solidFill>
                <a:latin typeface="맑은 고딕"/>
                <a:ea typeface="맑은 고딕"/>
                <a:cs typeface="맑은 고딕"/>
              </a:rPr>
              <a:t>-21.4~+6.0%</a:t>
            </a:r>
          </a:p>
        </p:txBody>
      </p:sp>
      <p:sp>
        <p:nvSpPr>
          <p:cNvPr id="52" name="Rectangle 51"/>
          <p:cNvSpPr/>
          <p:nvPr/>
        </p:nvSpPr>
        <p:spPr>
          <a:xfrm>
            <a:off x="6263640" y="3182112"/>
            <a:ext cx="109728" cy="9144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400800" y="313639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문헌: 실GPU·실트래픽</a:t>
            </a:r>
          </a:p>
        </p:txBody>
      </p:sp>
      <p:sp>
        <p:nvSpPr>
          <p:cNvPr id="54" name="Rectangle 53"/>
          <p:cNvSpPr/>
          <p:nvPr/>
        </p:nvSpPr>
        <p:spPr>
          <a:xfrm>
            <a:off x="7726679" y="3182112"/>
            <a:ext cx="109728" cy="9144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863840" y="313639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내부 시뮬레이션 [B+C]</a:t>
            </a:r>
          </a:p>
        </p:txBody>
      </p:sp>
      <p:sp>
        <p:nvSpPr>
          <p:cNvPr id="56" name="Rectangle 55"/>
          <p:cNvSpPr/>
          <p:nvPr/>
        </p:nvSpPr>
        <p:spPr>
          <a:xfrm>
            <a:off x="9281159" y="3182112"/>
            <a:ext cx="109728" cy="91440"/>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418319" y="313639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환산·원리</a:t>
            </a:r>
          </a:p>
        </p:txBody>
      </p:sp>
      <p:graphicFrame>
        <p:nvGraphicFramePr>
          <p:cNvPr id="58" name="Table 57"/>
          <p:cNvGraphicFramePr>
            <a:graphicFrameLocks noGrp="1"/>
          </p:cNvGraphicFramePr>
          <p:nvPr/>
        </p:nvGraphicFramePr>
        <p:xfrm>
          <a:off x="6263640" y="3383280"/>
          <a:ext cx="5715000" cy="2157984"/>
        </p:xfrm>
        <a:graphic>
          <a:graphicData uri="http://schemas.openxmlformats.org/drawingml/2006/table">
            <a:tbl>
              <a:tblPr>
                <a:tableStyleId>{2D5ABB26-0587-4C30-8999-92F81FD0307C}</a:tableStyleId>
              </a:tblPr>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37744">
                <a:tc>
                  <a:txBody>
                    <a:bodyPr/>
                    <a:lstStyle/>
                    <a:p>
                      <a:pPr algn="ctr">
                        <a:spcAft>
                          <a:spcPts val="100"/>
                        </a:spcAft>
                      </a:pPr>
                      <a:r>
                        <a:rPr sz="750" b="0">
                          <a:solidFill>
                            <a:srgbClr val="000000"/>
                          </a:solidFill>
                          <a:latin typeface="맑은 고딕"/>
                          <a:ea typeface="맑은 고딕"/>
                          <a:cs typeface="맑은 고딕"/>
                        </a:rPr>
                        <a:t>문헌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지표·조건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값</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별 반영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47472">
                <a:tc>
                  <a:txBody>
                    <a:bodyPr/>
                    <a:lstStyle/>
                    <a:p>
                      <a:pPr algn="ctr">
                        <a:spcAft>
                          <a:spcPts val="100"/>
                        </a:spcAft>
                      </a:pPr>
                      <a:r>
                        <a:rPr sz="750" b="0">
                          <a:solidFill>
                            <a:srgbClr val="000000"/>
                          </a:solidFill>
                          <a:latin typeface="맑은 고딕"/>
                          <a:ea typeface="맑은 고딕"/>
                          <a:cs typeface="맑은 고딕"/>
                        </a:rPr>
                        <a:t>KVzip
arXiv 2505.23416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KV 크기 3~4x 축소, 디코딩 지연 약 2x 감소, 성능 저하 "negligible"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3~4x
(67~75%)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상한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84048">
                <a:tc>
                  <a:txBody>
                    <a:bodyPr/>
                    <a:lstStyle/>
                    <a:p>
                      <a:pPr algn="ctr">
                        <a:spcAft>
                          <a:spcPts val="100"/>
                        </a:spcAft>
                      </a:pPr>
                      <a:r>
                        <a:rPr sz="750" b="0">
                          <a:solidFill>
                            <a:srgbClr val="000000"/>
                          </a:solidFill>
                          <a:latin typeface="맑은 고딕"/>
                          <a:ea typeface="맑은 고딕"/>
                          <a:cs typeface="맑은 고딕"/>
                        </a:rPr>
                        <a:t>KVQuant
arXiv 2401.18079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3-bit KV 양자화, Wikitext-2·C4 perplexity 저하 &lt; 0.1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bit 환산
81%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상한 초과(정확도 확인)</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384048">
                <a:tc>
                  <a:txBody>
                    <a:bodyPr/>
                    <a:lstStyle/>
                    <a:p>
                      <a:pPr algn="ctr">
                        <a:spcAft>
                          <a:spcPts val="100"/>
                        </a:spcAft>
                      </a:pPr>
                      <a:r>
                        <a:rPr sz="750" b="0">
                          <a:solidFill>
                            <a:srgbClr val="000000"/>
                          </a:solidFill>
                          <a:latin typeface="맑은 고딕"/>
                          <a:ea typeface="맑은 고딕"/>
                          <a:cs typeface="맑은 고딕"/>
                        </a:rPr>
                        <a:t>KIVI
arXiv 2402.02750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2-bit KV 양자화, peak memory 2.6x↓(가중치 포함), batch 4x↑, 품질 "거의 동일"</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2.6x
(총메모리)</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참고(정의 상이)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420624">
                <a:tc>
                  <a:txBody>
                    <a:bodyPr/>
                    <a:lstStyle/>
                    <a:p>
                      <a:pPr algn="ctr">
                        <a:spcAft>
                          <a:spcPts val="100"/>
                        </a:spcAft>
                      </a:pPr>
                      <a:r>
                        <a:rPr sz="750" b="0">
                          <a:solidFill>
                            <a:srgbClr val="000000"/>
                          </a:solidFill>
                          <a:latin typeface="맑은 고딕"/>
                          <a:ea typeface="맑은 고딕"/>
                          <a:cs typeface="맑은 고딕"/>
                        </a:rPr>
                        <a:t>vLLM PagedAttention
arXiv 2309.06180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기존 시스템은 KV 메모리 중 실제 토큰 상태 20.4~38.2%만 사용(단편화). vLLM이 이를 제거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낭비
62~80%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Baseline이 이미 제거 → 20%는 offload·압축 몫</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384048">
                <a:tc>
                  <a:txBody>
                    <a:bodyPr/>
                    <a:lstStyle/>
                    <a:p>
                      <a:pPr algn="ctr">
                        <a:spcAft>
                          <a:spcPts val="100"/>
                        </a:spcAft>
                      </a:pPr>
                      <a:r>
                        <a:rPr sz="750" b="0">
                          <a:solidFill>
                            <a:srgbClr val="000000"/>
                          </a:solidFill>
                          <a:latin typeface="맑은 고딕"/>
                          <a:ea typeface="맑은 고딕"/>
                          <a:cs typeface="맑은 고딕"/>
                        </a:rPr>
                        <a:t>InferCept
arXiv 2402.01869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tool 대기 중 KV 폐기·재계산이 forward 시간의 37~40%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37~40%
(시간)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UC-1: 유휴 KV 내리기 수요</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59" name="Right Arrow 58"/>
          <p:cNvSpPr/>
          <p:nvPr/>
        </p:nvSpPr>
        <p:spPr>
          <a:xfrm>
            <a:off x="283464" y="5888736"/>
            <a:ext cx="365760"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94944" y="5852160"/>
            <a:ext cx="11247120" cy="310896"/>
          </a:xfrm>
          <a:prstGeom prst="rect">
            <a:avLst/>
          </a:prstGeom>
          <a:noFill/>
        </p:spPr>
        <p:txBody>
          <a:bodyPr wrap="square" lIns="45720" tIns="27432" rIns="45720" bIns="27432" anchor="ctr">
            <a:spAutoFit/>
          </a:bodyPr>
          <a:lstStyle/>
          <a:p>
            <a:pPr algn="l">
              <a:spcAft>
                <a:spcPts val="200"/>
              </a:spcAft>
            </a:pPr>
            <a:r>
              <a:rPr sz="1150" b="1">
                <a:solidFill>
                  <a:srgbClr val="0066FF"/>
                </a:solidFill>
                <a:latin typeface="맑은 고딕"/>
                <a:ea typeface="맑은 고딕"/>
                <a:cs typeface="맑은 고딕"/>
              </a:rPr>
              <a:t>★ 20%는 정책 목표, ★★★ 75%는 "성능 저하 없는 KV 압축·축출" 문헌 상한(4x). 그 이상은 정확도 손실과 맞바꾼 영역이다.</a:t>
            </a:r>
          </a:p>
        </p:txBody>
      </p:sp>
      <p:sp>
        <p:nvSpPr>
          <p:cNvPr id="61" name="TextBox 60"/>
          <p:cNvSpPr txBox="1"/>
          <p:nvPr/>
        </p:nvSpPr>
        <p:spPr>
          <a:xfrm>
            <a:off x="246888" y="6126480"/>
            <a:ext cx="11704320" cy="228600"/>
          </a:xfrm>
          <a:prstGeom prst="rect">
            <a:avLst/>
          </a:prstGeom>
          <a:noFill/>
        </p:spPr>
        <p:txBody>
          <a:bodyPr wrap="square" lIns="45720" tIns="27432" rIns="45720" bIns="27432" anchor="t">
            <a:spAutoFit/>
          </a:bodyPr>
          <a:lstStyle/>
          <a:p>
            <a:pPr algn="l">
              <a:spcAft>
                <a:spcPts val="0"/>
              </a:spcAft>
            </a:pPr>
            <a:r>
              <a:rPr sz="800" b="1">
                <a:solidFill>
                  <a:srgbClr val="C00000"/>
                </a:solidFill>
                <a:latin typeface="맑은 고딕"/>
                <a:ea typeface="맑은 고딕"/>
                <a:cs typeface="맑은 고딕"/>
              </a:rPr>
              <a:t>주의  </a:t>
            </a:r>
            <a:r>
              <a:rPr sz="800" b="0">
                <a:solidFill>
                  <a:srgbClr val="404040"/>
                </a:solidFill>
                <a:latin typeface="맑은 고딕"/>
                <a:ea typeface="맑은 고딕"/>
                <a:cs typeface="맑은 고딕"/>
              </a:rPr>
              <a:t>상한 75%는 KV 바이트 기준 문헌 값이라 본 지표(AI Data 전체 평균 GiB)로 직접 환산해야 한다. 저비트 값은 스케일·outlier 오버헤드를 뺀 이론 환산. 기존 v3는 ★★★ = 20%로 정의했음.</a:t>
            </a:r>
          </a:p>
        </p:txBody>
      </p:sp>
      <p:sp>
        <p:nvSpPr>
          <p:cNvPr id="62" name="TextBox 61"/>
          <p:cNvSpPr txBox="1"/>
          <p:nvPr/>
        </p:nvSpPr>
        <p:spPr>
          <a:xfrm>
            <a:off x="274320" y="6382512"/>
            <a:ext cx="11612880" cy="274320"/>
          </a:xfrm>
          <a:prstGeom prst="rect">
            <a:avLst/>
          </a:prstGeom>
          <a:noFill/>
        </p:spPr>
        <p:txBody>
          <a:bodyPr wrap="square" lIns="45720" tIns="27432" rIns="45720" bIns="27432" anchor="t">
            <a:spAutoFit/>
          </a:bodyPr>
          <a:lstStyle/>
          <a:p>
            <a:pPr algn="l">
              <a:spcAft>
                <a:spcPts val="0"/>
              </a:spcAft>
            </a:pPr>
            <a:r>
              <a:rPr sz="750" b="0">
                <a:solidFill>
                  <a:srgbClr val="7F7F7F"/>
                </a:solidFill>
                <a:latin typeface="맑은 고딕"/>
                <a:ea typeface="맑은 고딕"/>
                <a:cs typeface="맑은 고딕"/>
              </a:rPr>
              <a:t>출처: arXiv 2505.23416(KVzip, NeurIPS'25), 2401.18079(KVQuant), 2402.02750(KIVI), 2309.06180(vLLM), 2402.01869(InferCept). 내부 값: doc-mk/Evaluation/unified_stars_check.md</a:t>
            </a:r>
          </a:p>
        </p:txBody>
      </p:sp>
      <p:sp>
        <p:nvSpPr>
          <p:cNvPr id="63" name="TextBox 62"/>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3</a:t>
            </a:r>
          </a:p>
        </p:txBody>
      </p:sp>
      <p:sp>
        <p:nvSpPr>
          <p:cNvPr id="64" name="실행 단추: 뒤로 또는 이전 63">
            <a:hlinkClick r:id="rId3" action="ppaction://hlinksldjump" highlightClick="1"/>
          </p:cNvPr>
          <p:cNvSpPr/>
          <p:nvPr/>
        </p:nvSpPr>
        <p:spPr>
          <a:xfrm>
            <a:off x="7132320" y="220980"/>
            <a:ext cx="243840" cy="2737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040081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QA-03. Modifiability - 별 기준과 근거</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969264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새 tier·정책·객체를 추가하는 변경 1건의 비용이 얼마 이하일 때 ★ / ★★ / ★★★ 인가 (AND 조건)</a:t>
            </a:r>
          </a:p>
        </p:txBody>
      </p:sp>
      <p:sp>
        <p:nvSpPr>
          <p:cNvPr id="13" name="Rounded Rectangle 12"/>
          <p:cNvSpPr/>
          <p:nvPr/>
        </p:nvSpPr>
        <p:spPr>
          <a:xfrm>
            <a:off x="11073384" y="630936"/>
            <a:ext cx="786384"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QA-03</a:t>
            </a:r>
          </a:p>
        </p:txBody>
      </p:sp>
      <p:graphicFrame>
        <p:nvGraphicFramePr>
          <p:cNvPr id="14" name="Table 13"/>
          <p:cNvGraphicFramePr>
            <a:graphicFrameLocks noGrp="1"/>
          </p:cNvGraphicFramePr>
          <p:nvPr/>
        </p:nvGraphicFramePr>
        <p:xfrm>
          <a:off x="246888" y="1115568"/>
          <a:ext cx="5852160" cy="3745991"/>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274320">
                <a:tc>
                  <a:txBody>
                    <a:bodyPr/>
                    <a:lstStyle/>
                    <a:p>
                      <a:pPr algn="ctr">
                        <a:spcAft>
                          <a:spcPts val="100"/>
                        </a:spcAft>
                      </a:pPr>
                      <a:r>
                        <a:rPr sz="950" b="0">
                          <a:solidFill>
                            <a:srgbClr val="000000"/>
                          </a:solidFill>
                          <a:latin typeface="맑은 고딕"/>
                          <a:ea typeface="맑은 고딕"/>
                          <a:cs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950" b="1">
                          <a:solidFill>
                            <a:srgbClr val="000000"/>
                          </a:solidFill>
                          <a:latin typeface="맑은 고딕"/>
                          <a:ea typeface="맑은 고딕"/>
                          <a:cs typeface="맑은 고딕"/>
                        </a:rPr>
                        <a:t>토큰 비용*</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950" b="1">
                          <a:solidFill>
                            <a:srgbClr val="000000"/>
                          </a:solidFill>
                          <a:latin typeface="맑은 고딕"/>
                          <a:ea typeface="맑은 고딕"/>
                          <a:cs typeface="맑은 고딕"/>
                        </a:rPr>
                        <a:t>공수(MM)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950" b="1">
                          <a:solidFill>
                            <a:srgbClr val="000000"/>
                          </a:solidFill>
                          <a:latin typeface="맑은 고딕"/>
                          <a:ea typeface="맑은 고딕"/>
                          <a:cs typeface="맑은 고딕"/>
                        </a:rPr>
                        <a:t>변경 module(보조)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950" b="1">
                          <a:solidFill>
                            <a:srgbClr val="000000"/>
                          </a:solidFill>
                          <a:latin typeface="맑은 고딕"/>
                          <a:ea typeface="맑은 고딕"/>
                          <a:cs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682142">
                <a:tc>
                  <a:txBody>
                    <a:bodyPr/>
                    <a:lstStyle/>
                    <a:p>
                      <a:pPr algn="ctr">
                        <a:spcAft>
                          <a:spcPts val="100"/>
                        </a:spcAft>
                      </a:pPr>
                      <a:r>
                        <a:rPr sz="950" b="0">
                          <a:solidFill>
                            <a:srgbClr val="000000"/>
                          </a:solidFill>
                          <a:latin typeface="맑은 고딕"/>
                          <a:ea typeface="맑은 고딕"/>
                          <a:cs typeface="맑은 고딕"/>
                        </a:rPr>
                        <a:t>☆ 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950" b="0">
                          <a:solidFill>
                            <a:srgbClr val="000000"/>
                          </a:solidFill>
                          <a:latin typeface="맑은 고딕"/>
                          <a:ea typeface="맑은 고딕"/>
                          <a:cs typeface="맑은 고딕"/>
                        </a:rPr>
                        <a:t>&gt; 0.7M개
(&gt;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&gt;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6 또는
major IF 변경</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한 항목이라도 ★ 기준을 넘으면 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1054220">
                <a:tc>
                  <a:txBody>
                    <a:bodyPr/>
                    <a:lstStyle/>
                    <a:p>
                      <a:pPr algn="ctr">
                        <a:spcAft>
                          <a:spcPts val="100"/>
                        </a:spcAft>
                      </a:pPr>
                      <a:r>
                        <a:rPr sz="9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950" b="0">
                          <a:solidFill>
                            <a:srgbClr val="000000"/>
                          </a:solidFill>
                          <a:latin typeface="맑은 고딕"/>
                          <a:ea typeface="맑은 고딕"/>
                          <a:cs typeface="맑은 고딕"/>
                        </a:rPr>
                        <a:t>≤ 0.7M개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1.0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시나리오 목표(하한). 1 MM = 1인 1개월(21 man-day) 로드맵 항목 수준. $2 ≈ 개발자 일 평균 비용의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620129">
                <a:tc>
                  <a:txBody>
                    <a:bodyPr/>
                    <a:lstStyle/>
                    <a:p>
                      <a:pPr algn="ctr">
                        <a:spcAft>
                          <a:spcPts val="100"/>
                        </a:spcAft>
                      </a:pPr>
                      <a:r>
                        <a:rPr sz="9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DEEBF7"/>
                    </a:solidFill>
                  </a:tcPr>
                </a:tc>
                <a:tc>
                  <a:txBody>
                    <a:bodyPr/>
                    <a:lstStyle/>
                    <a:p>
                      <a:pPr>
                        <a:spcAft>
                          <a:spcPts val="100"/>
                        </a:spcAft>
                      </a:pPr>
                      <a:r>
                        <a:rPr sz="950" b="0">
                          <a:solidFill>
                            <a:srgbClr val="000000"/>
                          </a:solidFill>
                          <a:latin typeface="맑은 고딕"/>
                          <a:ea typeface="맑은 고딕"/>
                          <a:cs typeface="맑은 고딕"/>
                        </a:rPr>
                        <a:t>≤ 0.4M개
($1.25)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0.75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3
(3.5 내림)</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★과 ★★★의 등분 중점</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1054220">
                <a:tc>
                  <a:txBody>
                    <a:bodyPr/>
                    <a:lstStyle/>
                    <a:p>
                      <a:pPr algn="ctr">
                        <a:spcAft>
                          <a:spcPts val="100"/>
                        </a:spcAft>
                      </a:pPr>
                      <a:r>
                        <a:rPr sz="9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spcAft>
                          <a:spcPts val="100"/>
                        </a:spcAft>
                      </a:pPr>
                      <a:r>
                        <a:rPr sz="950" b="0">
                          <a:solidFill>
                            <a:srgbClr val="000000"/>
                          </a:solidFill>
                          <a:latin typeface="맑은 고딕"/>
                          <a:ea typeface="맑은 고딕"/>
                          <a:cs typeface="맑은 고딕"/>
                        </a:rPr>
                        <a:t>≤ 0.17M개
($0.5)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0.5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상한. 0.5 MM = 1인 2주 sprint. 일상 변경 규모(SWE-bench 평균 1.7 file)와 같은 범위. $0.5 ≈ 일 평균의 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15" name="Rectangle 14"/>
          <p:cNvSpPr/>
          <p:nvPr/>
        </p:nvSpPr>
        <p:spPr>
          <a:xfrm>
            <a:off x="246888" y="4892040"/>
            <a:ext cx="5852160" cy="868680"/>
          </a:xfrm>
          <a:prstGeom prst="rect">
            <a:avLst/>
          </a:prstGeom>
          <a:solidFill>
            <a:srgbClr val="F0F1F3"/>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lstStyle/>
          <a:p>
            <a:pPr algn="l">
              <a:spcAft>
                <a:spcPts val="200"/>
              </a:spcAft>
            </a:pPr>
            <a:r>
              <a:rPr sz="850" b="0">
                <a:solidFill>
                  <a:srgbClr val="404040"/>
                </a:solidFill>
                <a:latin typeface="맑은 고딕"/>
                <a:ea typeface="맑은 고딕"/>
                <a:cs typeface="맑은 고딕"/>
              </a:rPr>
              <a:t>지표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변경</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시나리오</a:t>
            </a:r>
            <a:r>
              <a:rPr sz="850" b="0" dirty="0">
                <a:solidFill>
                  <a:srgbClr val="404040"/>
                </a:solidFill>
                <a:latin typeface="맑은 고딕"/>
                <a:ea typeface="맑은 고딕"/>
                <a:cs typeface="맑은 고딕"/>
              </a:rPr>
              <a:t>(</a:t>
            </a:r>
            <a:r>
              <a:rPr sz="850" b="0" dirty="0" err="1">
                <a:solidFill>
                  <a:srgbClr val="404040"/>
                </a:solidFill>
                <a:latin typeface="맑은 고딕"/>
                <a:ea typeface="맑은 고딕"/>
                <a:cs typeface="맑은 고딕"/>
              </a:rPr>
              <a:t>신규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tier·정책·객체</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유형</a:t>
            </a:r>
            <a:r>
              <a:rPr sz="850" b="0" dirty="0">
                <a:solidFill>
                  <a:srgbClr val="404040"/>
                </a:solidFill>
                <a:latin typeface="맑은 고딕"/>
                <a:ea typeface="맑은 고딕"/>
                <a:cs typeface="맑은 고딕"/>
              </a:rPr>
              <a:t>)를 </a:t>
            </a:r>
            <a:r>
              <a:rPr sz="850" b="0" dirty="0" err="1">
                <a:solidFill>
                  <a:srgbClr val="404040"/>
                </a:solidFill>
                <a:latin typeface="맑은 고딕"/>
                <a:ea typeface="맑은 고딕"/>
                <a:cs typeface="맑은 고딕"/>
              </a:rPr>
              <a:t>구현해</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시나리오마다</a:t>
            </a:r>
            <a:r>
              <a:rPr sz="850" b="0" dirty="0">
                <a:solidFill>
                  <a:srgbClr val="404040"/>
                </a:solidFill>
                <a:latin typeface="맑은 고딕"/>
                <a:ea typeface="맑은 고딕"/>
                <a:cs typeface="맑은 고딕"/>
              </a:rPr>
              <a:t> (M3) </a:t>
            </a:r>
            <a:r>
              <a:rPr sz="850" b="0" dirty="0" err="1">
                <a:solidFill>
                  <a:srgbClr val="404040"/>
                </a:solidFill>
                <a:latin typeface="맑은 고딕"/>
                <a:ea typeface="맑은 고딕"/>
                <a:cs typeface="맑은 고딕"/>
              </a:rPr>
              <a:t>코드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에이전트</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토큰</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비용</a:t>
            </a:r>
            <a:r>
              <a:rPr sz="850" b="0" dirty="0">
                <a:solidFill>
                  <a:srgbClr val="404040"/>
                </a:solidFill>
                <a:latin typeface="맑은 고딕"/>
                <a:ea typeface="맑은 고딕"/>
                <a:cs typeface="맑은 고딕"/>
              </a:rPr>
              <a:t>, (M2) </a:t>
            </a:r>
            <a:r>
              <a:rPr sz="850" b="0" dirty="0" err="1">
                <a:solidFill>
                  <a:srgbClr val="404040"/>
                </a:solidFill>
                <a:latin typeface="맑은 고딕"/>
                <a:ea typeface="맑은 고딕"/>
                <a:cs typeface="맑은 고딕"/>
              </a:rPr>
              <a:t>개발</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공수</a:t>
            </a:r>
            <a:r>
              <a:rPr sz="850" b="0" dirty="0">
                <a:solidFill>
                  <a:srgbClr val="404040"/>
                </a:solidFill>
                <a:latin typeface="맑은 고딕"/>
                <a:ea typeface="맑은 고딕"/>
                <a:cs typeface="맑은 고딕"/>
              </a:rPr>
              <a:t> MM(1 MM = 21 man-day), (M1) </a:t>
            </a:r>
            <a:r>
              <a:rPr sz="850" b="0" dirty="0" err="1">
                <a:solidFill>
                  <a:srgbClr val="404040"/>
                </a:solidFill>
                <a:latin typeface="맑은 고딕"/>
                <a:ea typeface="맑은 고딕"/>
                <a:cs typeface="맑은 고딕"/>
              </a:rPr>
              <a:t>변경</a:t>
            </a:r>
            <a:r>
              <a:rPr sz="850" b="0" dirty="0">
                <a:solidFill>
                  <a:srgbClr val="404040"/>
                </a:solidFill>
                <a:latin typeface="맑은 고딕"/>
                <a:ea typeface="맑은 고딕"/>
                <a:cs typeface="맑은 고딕"/>
              </a:rPr>
              <a:t> module </a:t>
            </a:r>
            <a:r>
              <a:rPr sz="850" b="0" dirty="0" err="1">
                <a:solidFill>
                  <a:srgbClr val="404040"/>
                </a:solidFill>
                <a:latin typeface="맑은 고딕"/>
                <a:ea typeface="맑은 고딕"/>
                <a:cs typeface="맑은 고딕"/>
              </a:rPr>
              <a:t>수를</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측정한다</a:t>
            </a:r>
            <a:r>
              <a:rPr sz="850" b="0" dirty="0">
                <a:solidFill>
                  <a:srgbClr val="404040"/>
                </a:solidFill>
                <a:latin typeface="맑은 고딕"/>
                <a:ea typeface="맑은 고딕"/>
                <a:cs typeface="맑은 고딕"/>
              </a:rPr>
              <a:t>. 세 </a:t>
            </a:r>
            <a:r>
              <a:rPr sz="850" b="0" dirty="0" err="1">
                <a:solidFill>
                  <a:srgbClr val="404040"/>
                </a:solidFill>
                <a:latin typeface="맑은 고딕"/>
                <a:ea typeface="맑은 고딕"/>
                <a:cs typeface="맑은 고딕"/>
              </a:rPr>
              <a:t>값이</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모두</a:t>
            </a:r>
            <a:r>
              <a:rPr sz="850" b="0" dirty="0">
                <a:solidFill>
                  <a:srgbClr val="404040"/>
                </a:solidFill>
                <a:latin typeface="맑은 고딕"/>
                <a:ea typeface="맑은 고딕"/>
                <a:cs typeface="맑은 고딕"/>
              </a:rPr>
              <a:t> 그 </a:t>
            </a:r>
            <a:r>
              <a:rPr sz="850" b="0" dirty="0" err="1">
                <a:solidFill>
                  <a:srgbClr val="404040"/>
                </a:solidFill>
                <a:latin typeface="맑은 고딕"/>
                <a:ea typeface="맑은 고딕"/>
                <a:cs typeface="맑은 고딕"/>
              </a:rPr>
              <a:t>별의</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기준을</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만족해야</a:t>
            </a:r>
            <a:r>
              <a:rPr sz="850" b="0" dirty="0">
                <a:solidFill>
                  <a:srgbClr val="404040"/>
                </a:solidFill>
                <a:latin typeface="맑은 고딕"/>
                <a:ea typeface="맑은 고딕"/>
                <a:cs typeface="맑은 고딕"/>
              </a:rPr>
              <a:t> 그 별(AND). *</a:t>
            </a:r>
            <a:r>
              <a:rPr sz="850" b="0" dirty="0" err="1">
                <a:solidFill>
                  <a:srgbClr val="404040"/>
                </a:solidFill>
                <a:latin typeface="맑은 고딕"/>
                <a:ea typeface="맑은 고딕"/>
                <a:cs typeface="맑은 고딕"/>
              </a:rPr>
              <a:t>토큰</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환산</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입력</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단가</a:t>
            </a:r>
            <a:r>
              <a:rPr sz="850" b="0" dirty="0">
                <a:solidFill>
                  <a:srgbClr val="404040"/>
                </a:solidFill>
                <a:latin typeface="맑은 고딕"/>
                <a:ea typeface="맑은 고딕"/>
                <a:cs typeface="맑은 고딕"/>
              </a:rPr>
              <a:t> $3/</a:t>
            </a:r>
            <a:r>
              <a:rPr sz="850" b="0" dirty="0" err="1">
                <a:solidFill>
                  <a:srgbClr val="404040"/>
                </a:solidFill>
                <a:latin typeface="맑은 고딕"/>
                <a:ea typeface="맑은 고딕"/>
                <a:cs typeface="맑은 고딕"/>
              </a:rPr>
              <a:t>MTok</a:t>
            </a:r>
            <a:r>
              <a:rPr sz="850" b="0" dirty="0">
                <a:solidFill>
                  <a:srgbClr val="404040"/>
                </a:solidFill>
                <a:latin typeface="맑은 고딕"/>
                <a:ea typeface="맑은 고딕"/>
                <a:cs typeface="맑은 고딕"/>
              </a:rPr>
              <a:t> </a:t>
            </a:r>
            <a:r>
              <a:rPr sz="850" b="0" dirty="0" err="1">
                <a:solidFill>
                  <a:srgbClr val="404040"/>
                </a:solidFill>
                <a:latin typeface="맑은 고딕"/>
                <a:ea typeface="맑은 고딕"/>
                <a:cs typeface="맑은 고딕"/>
              </a:rPr>
              <a:t>가정</a:t>
            </a:r>
            <a:r>
              <a:rPr sz="850" b="0" dirty="0">
                <a:solidFill>
                  <a:srgbClr val="404040"/>
                </a:solidFill>
                <a:latin typeface="맑은 고딕"/>
                <a:ea typeface="맑은 고딕"/>
                <a:cs typeface="맑은 고딕"/>
              </a:rPr>
              <a:t>(2차 </a:t>
            </a:r>
            <a:r>
              <a:rPr sz="850" b="0" dirty="0" err="1">
                <a:solidFill>
                  <a:srgbClr val="404040"/>
                </a:solidFill>
                <a:latin typeface="맑은 고딕"/>
                <a:ea typeface="맑은 고딕"/>
                <a:cs typeface="맑은 고딕"/>
              </a:rPr>
              <a:t>자료</a:t>
            </a:r>
            <a:r>
              <a:rPr sz="850" b="0" dirty="0">
                <a:solidFill>
                  <a:srgbClr val="404040"/>
                </a:solidFill>
                <a:latin typeface="맑은 고딕"/>
                <a:ea typeface="맑은 고딕"/>
                <a:cs typeface="맑은 고딕"/>
              </a:rPr>
              <a:t>).</a:t>
            </a:r>
          </a:p>
        </p:txBody>
      </p:sp>
      <p:sp>
        <p:nvSpPr>
          <p:cNvPr id="16" name="TextBox 15"/>
          <p:cNvSpPr txBox="1"/>
          <p:nvPr/>
        </p:nvSpPr>
        <p:spPr>
          <a:xfrm>
            <a:off x="6263640" y="1078992"/>
            <a:ext cx="5715000" cy="237744"/>
          </a:xfrm>
          <a:prstGeom prst="rect">
            <a:avLst/>
          </a:prstGeom>
          <a:noFill/>
        </p:spPr>
        <p:txBody>
          <a:bodyPr wrap="square" lIns="45720" tIns="27432" rIns="45720" bIns="27432" anchor="t">
            <a:spAutoFit/>
          </a:bodyPr>
          <a:lstStyle/>
          <a:p>
            <a:pPr algn="l">
              <a:spcAft>
                <a:spcPts val="200"/>
              </a:spcAft>
            </a:pPr>
            <a:r>
              <a:rPr sz="1000" b="1">
                <a:solidFill>
                  <a:srgbClr val="000000"/>
                </a:solidFill>
                <a:latin typeface="맑은 고딕"/>
                <a:ea typeface="맑은 고딕"/>
                <a:cs typeface="맑은 고딕"/>
              </a:rPr>
              <a:t>vLLM 저장소의 KV connector 코드량 (LOC, 이 저장소에서 직접 계수)</a:t>
            </a:r>
          </a:p>
        </p:txBody>
      </p:sp>
      <p:sp>
        <p:nvSpPr>
          <p:cNvPr id="17" name="TextBox 16"/>
          <p:cNvSpPr txBox="1"/>
          <p:nvPr/>
        </p:nvSpPr>
        <p:spPr>
          <a:xfrm>
            <a:off x="6263640" y="1362456"/>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offloading_connector</a:t>
            </a:r>
          </a:p>
        </p:txBody>
      </p:sp>
      <p:sp>
        <p:nvSpPr>
          <p:cNvPr id="18" name="Rectangle 17"/>
          <p:cNvSpPr/>
          <p:nvPr/>
        </p:nvSpPr>
        <p:spPr>
          <a:xfrm>
            <a:off x="7863840" y="1394460"/>
            <a:ext cx="158008"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58424" y="1362456"/>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192</a:t>
            </a:r>
          </a:p>
        </p:txBody>
      </p:sp>
      <p:sp>
        <p:nvSpPr>
          <p:cNvPr id="20" name="TextBox 19"/>
          <p:cNvSpPr txBox="1"/>
          <p:nvPr/>
        </p:nvSpPr>
        <p:spPr>
          <a:xfrm>
            <a:off x="6263640" y="1516075"/>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simple_cpu_offload</a:t>
            </a:r>
          </a:p>
        </p:txBody>
      </p:sp>
      <p:sp>
        <p:nvSpPr>
          <p:cNvPr id="21" name="Rectangle 20"/>
          <p:cNvSpPr/>
          <p:nvPr/>
        </p:nvSpPr>
        <p:spPr>
          <a:xfrm>
            <a:off x="7863840" y="1548079"/>
            <a:ext cx="203271"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03687" y="1516075"/>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247</a:t>
            </a:r>
          </a:p>
        </p:txBody>
      </p:sp>
      <p:sp>
        <p:nvSpPr>
          <p:cNvPr id="23" name="TextBox 22"/>
          <p:cNvSpPr txBox="1"/>
          <p:nvPr/>
        </p:nvSpPr>
        <p:spPr>
          <a:xfrm>
            <a:off x="6263640" y="1669694"/>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flexkv_connector</a:t>
            </a:r>
          </a:p>
        </p:txBody>
      </p:sp>
      <p:sp>
        <p:nvSpPr>
          <p:cNvPr id="24" name="Rectangle 23"/>
          <p:cNvSpPr/>
          <p:nvPr/>
        </p:nvSpPr>
        <p:spPr>
          <a:xfrm>
            <a:off x="7863840" y="1701698"/>
            <a:ext cx="213969"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14385" y="1669694"/>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260</a:t>
            </a:r>
          </a:p>
        </p:txBody>
      </p:sp>
      <p:sp>
        <p:nvSpPr>
          <p:cNvPr id="26" name="TextBox 25"/>
          <p:cNvSpPr txBox="1"/>
          <p:nvPr/>
        </p:nvSpPr>
        <p:spPr>
          <a:xfrm>
            <a:off x="6263640" y="1823313"/>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lmcache_connector</a:t>
            </a:r>
          </a:p>
        </p:txBody>
      </p:sp>
      <p:sp>
        <p:nvSpPr>
          <p:cNvPr id="27" name="Rectangle 26"/>
          <p:cNvSpPr/>
          <p:nvPr/>
        </p:nvSpPr>
        <p:spPr>
          <a:xfrm>
            <a:off x="7863840" y="1855317"/>
            <a:ext cx="291327"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191743" y="1823313"/>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354</a:t>
            </a:r>
          </a:p>
        </p:txBody>
      </p:sp>
      <p:sp>
        <p:nvSpPr>
          <p:cNvPr id="29" name="TextBox 28"/>
          <p:cNvSpPr txBox="1"/>
          <p:nvPr/>
        </p:nvSpPr>
        <p:spPr>
          <a:xfrm>
            <a:off x="6263640" y="1976932"/>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hidden_states(예시)</a:t>
            </a:r>
          </a:p>
        </p:txBody>
      </p:sp>
      <p:sp>
        <p:nvSpPr>
          <p:cNvPr id="30" name="Rectangle 29"/>
          <p:cNvSpPr/>
          <p:nvPr/>
        </p:nvSpPr>
        <p:spPr>
          <a:xfrm>
            <a:off x="7863840" y="2008936"/>
            <a:ext cx="292973"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193389" y="1976932"/>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356</a:t>
            </a:r>
          </a:p>
        </p:txBody>
      </p:sp>
      <p:sp>
        <p:nvSpPr>
          <p:cNvPr id="32" name="TextBox 31"/>
          <p:cNvSpPr txBox="1"/>
          <p:nvPr/>
        </p:nvSpPr>
        <p:spPr>
          <a:xfrm>
            <a:off x="6263640" y="2130552"/>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decode_bench</a:t>
            </a:r>
          </a:p>
        </p:txBody>
      </p:sp>
      <p:sp>
        <p:nvSpPr>
          <p:cNvPr id="33" name="Rectangle 32"/>
          <p:cNvSpPr/>
          <p:nvPr/>
        </p:nvSpPr>
        <p:spPr>
          <a:xfrm>
            <a:off x="7863840" y="2162556"/>
            <a:ext cx="344820"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45236" y="2130552"/>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419</a:t>
            </a:r>
          </a:p>
        </p:txBody>
      </p:sp>
      <p:sp>
        <p:nvSpPr>
          <p:cNvPr id="35" name="TextBox 34"/>
          <p:cNvSpPr txBox="1"/>
          <p:nvPr/>
        </p:nvSpPr>
        <p:spPr>
          <a:xfrm>
            <a:off x="6263640" y="2284171"/>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example_connector</a:t>
            </a:r>
          </a:p>
        </p:txBody>
      </p:sp>
      <p:sp>
        <p:nvSpPr>
          <p:cNvPr id="36" name="Rectangle 35"/>
          <p:cNvSpPr/>
          <p:nvPr/>
        </p:nvSpPr>
        <p:spPr>
          <a:xfrm>
            <a:off x="7863840" y="2316175"/>
            <a:ext cx="374446"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74862" y="2284171"/>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455</a:t>
            </a:r>
          </a:p>
        </p:txBody>
      </p:sp>
      <p:sp>
        <p:nvSpPr>
          <p:cNvPr id="38" name="TextBox 37"/>
          <p:cNvSpPr txBox="1"/>
          <p:nvPr/>
        </p:nvSpPr>
        <p:spPr>
          <a:xfrm>
            <a:off x="6263640" y="2437790"/>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multi_connector</a:t>
            </a:r>
          </a:p>
        </p:txBody>
      </p:sp>
      <p:sp>
        <p:nvSpPr>
          <p:cNvPr id="39" name="Rectangle 38"/>
          <p:cNvSpPr/>
          <p:nvPr/>
        </p:nvSpPr>
        <p:spPr>
          <a:xfrm>
            <a:off x="7863840" y="2469794"/>
            <a:ext cx="517641"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418057" y="2437790"/>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629</a:t>
            </a:r>
          </a:p>
        </p:txBody>
      </p:sp>
      <p:sp>
        <p:nvSpPr>
          <p:cNvPr id="41" name="TextBox 40"/>
          <p:cNvSpPr txBox="1"/>
          <p:nvPr/>
        </p:nvSpPr>
        <p:spPr>
          <a:xfrm>
            <a:off x="6263640" y="2591409"/>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lmcache_mp_connector</a:t>
            </a:r>
          </a:p>
        </p:txBody>
      </p:sp>
      <p:sp>
        <p:nvSpPr>
          <p:cNvPr id="42" name="Rectangle 41"/>
          <p:cNvSpPr/>
          <p:nvPr/>
        </p:nvSpPr>
        <p:spPr>
          <a:xfrm>
            <a:off x="7863840" y="2623413"/>
            <a:ext cx="979322" cy="107899"/>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879738" y="2591409"/>
            <a:ext cx="731520" cy="153619"/>
          </a:xfrm>
          <a:prstGeom prst="rect">
            <a:avLst/>
          </a:prstGeom>
          <a:noFill/>
        </p:spPr>
        <p:txBody>
          <a:bodyPr wrap="square" lIns="0" tIns="27432" rIns="0" bIns="27432" anchor="ctr">
            <a:spAutoFit/>
          </a:bodyPr>
          <a:lstStyle/>
          <a:p>
            <a:pPr algn="l">
              <a:spcAft>
                <a:spcPts val="200"/>
              </a:spcAft>
            </a:pPr>
            <a:r>
              <a:rPr sz="750" b="1">
                <a:solidFill>
                  <a:srgbClr val="2E75B6"/>
                </a:solidFill>
                <a:latin typeface="맑은 고딕"/>
                <a:ea typeface="맑은 고딕"/>
                <a:cs typeface="맑은 고딕"/>
              </a:rPr>
              <a:t>1,190</a:t>
            </a:r>
          </a:p>
        </p:txBody>
      </p:sp>
      <p:sp>
        <p:nvSpPr>
          <p:cNvPr id="44" name="TextBox 43"/>
          <p:cNvSpPr txBox="1"/>
          <p:nvPr/>
        </p:nvSpPr>
        <p:spPr>
          <a:xfrm>
            <a:off x="6263640" y="2898648"/>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p2p (패키지)</a:t>
            </a:r>
          </a:p>
        </p:txBody>
      </p:sp>
      <p:sp>
        <p:nvSpPr>
          <p:cNvPr id="45" name="Rectangle 44"/>
          <p:cNvSpPr/>
          <p:nvPr/>
        </p:nvSpPr>
        <p:spPr>
          <a:xfrm>
            <a:off x="7863840" y="2930652"/>
            <a:ext cx="1181770"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082186" y="2898648"/>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1,436</a:t>
            </a:r>
          </a:p>
        </p:txBody>
      </p:sp>
      <p:sp>
        <p:nvSpPr>
          <p:cNvPr id="47" name="TextBox 46"/>
          <p:cNvSpPr txBox="1"/>
          <p:nvPr/>
        </p:nvSpPr>
        <p:spPr>
          <a:xfrm>
            <a:off x="6263640" y="3052267"/>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offloading (패키지)</a:t>
            </a:r>
          </a:p>
        </p:txBody>
      </p:sp>
      <p:sp>
        <p:nvSpPr>
          <p:cNvPr id="48" name="Rectangle 47"/>
          <p:cNvSpPr/>
          <p:nvPr/>
        </p:nvSpPr>
        <p:spPr>
          <a:xfrm>
            <a:off x="7863840" y="3084271"/>
            <a:ext cx="1214688"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115104" y="3052267"/>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1,476</a:t>
            </a:r>
          </a:p>
        </p:txBody>
      </p:sp>
      <p:sp>
        <p:nvSpPr>
          <p:cNvPr id="50" name="TextBox 49"/>
          <p:cNvSpPr txBox="1"/>
          <p:nvPr/>
        </p:nvSpPr>
        <p:spPr>
          <a:xfrm>
            <a:off x="6263640" y="3205886"/>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mooncake (패키지)</a:t>
            </a:r>
          </a:p>
        </p:txBody>
      </p:sp>
      <p:sp>
        <p:nvSpPr>
          <p:cNvPr id="51" name="Rectangle 50"/>
          <p:cNvSpPr/>
          <p:nvPr/>
        </p:nvSpPr>
        <p:spPr>
          <a:xfrm>
            <a:off x="7863840" y="3237890"/>
            <a:ext cx="1580906"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481322" y="3205886"/>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1,921</a:t>
            </a:r>
          </a:p>
        </p:txBody>
      </p:sp>
      <p:sp>
        <p:nvSpPr>
          <p:cNvPr id="53" name="TextBox 52"/>
          <p:cNvSpPr txBox="1"/>
          <p:nvPr/>
        </p:nvSpPr>
        <p:spPr>
          <a:xfrm>
            <a:off x="6263640" y="3359505"/>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lmcache_integration (패키지)</a:t>
            </a:r>
          </a:p>
        </p:txBody>
      </p:sp>
      <p:sp>
        <p:nvSpPr>
          <p:cNvPr id="54" name="Rectangle 53"/>
          <p:cNvSpPr/>
          <p:nvPr/>
        </p:nvSpPr>
        <p:spPr>
          <a:xfrm>
            <a:off x="7863840" y="3391509"/>
            <a:ext cx="1971812"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872228" y="3359505"/>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2,396</a:t>
            </a:r>
          </a:p>
        </p:txBody>
      </p:sp>
      <p:sp>
        <p:nvSpPr>
          <p:cNvPr id="56" name="TextBox 55"/>
          <p:cNvSpPr txBox="1"/>
          <p:nvPr/>
        </p:nvSpPr>
        <p:spPr>
          <a:xfrm>
            <a:off x="6263640" y="3513124"/>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hf3fs (패키지)</a:t>
            </a:r>
          </a:p>
        </p:txBody>
      </p:sp>
      <p:sp>
        <p:nvSpPr>
          <p:cNvPr id="57" name="Rectangle 56"/>
          <p:cNvSpPr/>
          <p:nvPr/>
        </p:nvSpPr>
        <p:spPr>
          <a:xfrm>
            <a:off x="7863840" y="3545128"/>
            <a:ext cx="2125705"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0026121" y="3513124"/>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2,583</a:t>
            </a:r>
          </a:p>
        </p:txBody>
      </p:sp>
      <p:sp>
        <p:nvSpPr>
          <p:cNvPr id="59" name="TextBox 58"/>
          <p:cNvSpPr txBox="1"/>
          <p:nvPr/>
        </p:nvSpPr>
        <p:spPr>
          <a:xfrm>
            <a:off x="6263640" y="3666744"/>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moriio (패키지)</a:t>
            </a:r>
          </a:p>
        </p:txBody>
      </p:sp>
      <p:sp>
        <p:nvSpPr>
          <p:cNvPr id="60" name="Rectangle 59"/>
          <p:cNvSpPr/>
          <p:nvPr/>
        </p:nvSpPr>
        <p:spPr>
          <a:xfrm>
            <a:off x="7863840" y="3698748"/>
            <a:ext cx="2129820"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10030236" y="3666744"/>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2,588</a:t>
            </a:r>
          </a:p>
        </p:txBody>
      </p:sp>
      <p:sp>
        <p:nvSpPr>
          <p:cNvPr id="62" name="TextBox 61"/>
          <p:cNvSpPr txBox="1"/>
          <p:nvPr/>
        </p:nvSpPr>
        <p:spPr>
          <a:xfrm>
            <a:off x="6263640" y="3820363"/>
            <a:ext cx="1554480" cy="153619"/>
          </a:xfrm>
          <a:prstGeom prst="rect">
            <a:avLst/>
          </a:prstGeom>
          <a:noFill/>
        </p:spPr>
        <p:txBody>
          <a:bodyPr wrap="square" lIns="18288" tIns="27432" rIns="18288" bIns="27432" anchor="ctr">
            <a:spAutoFit/>
          </a:bodyPr>
          <a:lstStyle/>
          <a:p>
            <a:pPr algn="r">
              <a:spcAft>
                <a:spcPts val="200"/>
              </a:spcAft>
            </a:pPr>
            <a:r>
              <a:rPr sz="750" b="0">
                <a:solidFill>
                  <a:srgbClr val="404040"/>
                </a:solidFill>
                <a:latin typeface="맑은 고딕"/>
                <a:ea typeface="맑은 고딕"/>
                <a:cs typeface="맑은 고딕"/>
              </a:rPr>
              <a:t>nixl (패키지)</a:t>
            </a:r>
          </a:p>
        </p:txBody>
      </p:sp>
      <p:sp>
        <p:nvSpPr>
          <p:cNvPr id="63" name="Rectangle 62"/>
          <p:cNvSpPr/>
          <p:nvPr/>
        </p:nvSpPr>
        <p:spPr>
          <a:xfrm>
            <a:off x="7863840" y="3852367"/>
            <a:ext cx="3097621" cy="107899"/>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0998037" y="3820363"/>
            <a:ext cx="731520" cy="153619"/>
          </a:xfrm>
          <a:prstGeom prst="rect">
            <a:avLst/>
          </a:prstGeom>
          <a:noFill/>
        </p:spPr>
        <p:txBody>
          <a:bodyPr wrap="square" lIns="0" tIns="27432" rIns="0" bIns="27432" anchor="ctr">
            <a:spAutoFit/>
          </a:bodyPr>
          <a:lstStyle/>
          <a:p>
            <a:pPr algn="l">
              <a:spcAft>
                <a:spcPts val="200"/>
              </a:spcAft>
            </a:pPr>
            <a:r>
              <a:rPr sz="750" b="1">
                <a:solidFill>
                  <a:srgbClr val="C55A11"/>
                </a:solidFill>
                <a:latin typeface="맑은 고딕"/>
                <a:ea typeface="맑은 고딕"/>
                <a:cs typeface="맑은 고딕"/>
              </a:rPr>
              <a:t>3,764</a:t>
            </a:r>
          </a:p>
        </p:txBody>
      </p:sp>
      <p:cxnSp>
        <p:nvCxnSpPr>
          <p:cNvPr id="65" name="Connector 64"/>
          <p:cNvCxnSpPr/>
          <p:nvPr/>
        </p:nvCxnSpPr>
        <p:spPr>
          <a:xfrm>
            <a:off x="8156813" y="1335024"/>
            <a:ext cx="0" cy="1419148"/>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202533" y="2735884"/>
            <a:ext cx="2194560" cy="153619"/>
          </a:xfrm>
          <a:prstGeom prst="rect">
            <a:avLst/>
          </a:prstGeom>
          <a:noFill/>
        </p:spPr>
        <p:txBody>
          <a:bodyPr wrap="square" lIns="0" tIns="27432" rIns="0" bIns="27432" anchor="ctr">
            <a:spAutoFit/>
          </a:bodyPr>
          <a:lstStyle/>
          <a:p>
            <a:pPr algn="l">
              <a:spcAft>
                <a:spcPts val="200"/>
              </a:spcAft>
            </a:pPr>
            <a:r>
              <a:rPr sz="750" b="1">
                <a:solidFill>
                  <a:srgbClr val="C00000"/>
                </a:solidFill>
                <a:latin typeface="맑은 고딕"/>
                <a:ea typeface="맑은 고딕"/>
                <a:cs typeface="맑은 고딕"/>
              </a:rPr>
              <a:t>최상위 connector 파일 중앙값 356 LOC</a:t>
            </a:r>
          </a:p>
        </p:txBody>
      </p:sp>
      <p:cxnSp>
        <p:nvCxnSpPr>
          <p:cNvPr id="67" name="Connector 66"/>
          <p:cNvCxnSpPr/>
          <p:nvPr/>
        </p:nvCxnSpPr>
        <p:spPr>
          <a:xfrm>
            <a:off x="7863840" y="4001414"/>
            <a:ext cx="3291840"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263640" y="4028846"/>
            <a:ext cx="5715000" cy="201168"/>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파랑 = 최상위 connector 파일, 주황 = backend 패키지(하위 디렉터리 합). 파일 단위 LOC는 변경량이 아닌 규모 참고치</a:t>
            </a:r>
          </a:p>
        </p:txBody>
      </p:sp>
      <p:graphicFrame>
        <p:nvGraphicFramePr>
          <p:cNvPr id="69" name="Table 68"/>
          <p:cNvGraphicFramePr>
            <a:graphicFrameLocks noGrp="1"/>
          </p:cNvGraphicFramePr>
          <p:nvPr/>
        </p:nvGraphicFramePr>
        <p:xfrm>
          <a:off x="6263640" y="4275734"/>
          <a:ext cx="5715000" cy="969264"/>
        </p:xfrm>
        <a:graphic>
          <a:graphicData uri="http://schemas.openxmlformats.org/drawingml/2006/table">
            <a:tbl>
              <a:tblPr>
                <a:tableStyleId>{2D5ABB26-0587-4C30-8999-92F81FD0307C}</a:tableStyleId>
              </a:tblPr>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37744">
                <a:tc>
                  <a:txBody>
                    <a:bodyPr/>
                    <a:lstStyle/>
                    <a:p>
                      <a:pPr algn="ctr">
                        <a:spcAft>
                          <a:spcPts val="100"/>
                        </a:spcAft>
                      </a:pPr>
                      <a:r>
                        <a:rPr sz="750" b="0">
                          <a:solidFill>
                            <a:srgbClr val="000000"/>
                          </a:solidFill>
                          <a:latin typeface="맑은 고딕"/>
                          <a:ea typeface="맑은 고딕"/>
                          <a:cs typeface="맑은 고딕"/>
                        </a:rPr>
                        <a:t>문헌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지표·조건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값</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별 반영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65760">
                <a:tc>
                  <a:txBody>
                    <a:bodyPr/>
                    <a:lstStyle/>
                    <a:p>
                      <a:pPr algn="ctr">
                        <a:spcAft>
                          <a:spcPts val="100"/>
                        </a:spcAft>
                      </a:pPr>
                      <a:r>
                        <a:rPr sz="750" b="0">
                          <a:solidFill>
                            <a:srgbClr val="000000"/>
                          </a:solidFill>
                          <a:latin typeface="맑은 고딕"/>
                          <a:ea typeface="맑은 고딕"/>
                          <a:cs typeface="맑은 고딕"/>
                        </a:rPr>
                        <a:t>SWE-bench
arXiv 2310.06770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실제 GitHub issue 해결 패치(2,294건): 평균 수정 파일 1.7개, 수정 줄 32.8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1.7 file
32.8 line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module ≤ 2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65760">
                <a:tc>
                  <a:txBody>
                    <a:bodyPr/>
                    <a:lstStyle/>
                    <a:p>
                      <a:pPr algn="ctr">
                        <a:spcAft>
                          <a:spcPts val="100"/>
                        </a:spcAft>
                      </a:pPr>
                      <a:r>
                        <a:rPr sz="750" b="0">
                          <a:solidFill>
                            <a:srgbClr val="000000"/>
                          </a:solidFill>
                          <a:latin typeface="맑은 고딕"/>
                          <a:ea typeface="맑은 고딕"/>
                          <a:cs typeface="맑은 고딕"/>
                        </a:rPr>
                        <a:t>Claude Code 비용 문서
code.claude.com</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기업 평균 약 $13/개발자·활동일, 90%가 $30/일 미만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$13/일</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$2 ≈ 일 평균의 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bl>
          </a:graphicData>
        </a:graphic>
      </p:graphicFrame>
      <p:sp>
        <p:nvSpPr>
          <p:cNvPr id="70" name="Right Arrow 69"/>
          <p:cNvSpPr/>
          <p:nvPr/>
        </p:nvSpPr>
        <p:spPr>
          <a:xfrm>
            <a:off x="283464" y="5888736"/>
            <a:ext cx="365760"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94944" y="5852160"/>
            <a:ext cx="11247120" cy="310896"/>
          </a:xfrm>
          <a:prstGeom prst="rect">
            <a:avLst/>
          </a:prstGeom>
          <a:noFill/>
        </p:spPr>
        <p:txBody>
          <a:bodyPr wrap="square" lIns="45720" tIns="27432" rIns="45720" bIns="27432" anchor="ctr">
            <a:spAutoFit/>
          </a:bodyPr>
          <a:lstStyle/>
          <a:p>
            <a:pPr algn="l">
              <a:spcAft>
                <a:spcPts val="200"/>
              </a:spcAft>
            </a:pPr>
            <a:r>
              <a:rPr sz="1150" b="1">
                <a:solidFill>
                  <a:srgbClr val="0066FF"/>
                </a:solidFill>
                <a:latin typeface="맑은 고딕"/>
                <a:ea typeface="맑은 고딕"/>
                <a:cs typeface="맑은 고딕"/>
              </a:rPr>
              <a:t>★★★은 "일상적인 변경 한 건" 규모(≤ 2 module, 2주)로 새 tier·정책을 붙이는 것. 현재 vLLM에서 새 backend는 수백~수천 LOC다.</a:t>
            </a:r>
          </a:p>
        </p:txBody>
      </p:sp>
      <p:sp>
        <p:nvSpPr>
          <p:cNvPr id="72" name="TextBox 71"/>
          <p:cNvSpPr txBox="1"/>
          <p:nvPr/>
        </p:nvSpPr>
        <p:spPr>
          <a:xfrm>
            <a:off x="246888" y="6126480"/>
            <a:ext cx="11704320" cy="228600"/>
          </a:xfrm>
          <a:prstGeom prst="rect">
            <a:avLst/>
          </a:prstGeom>
          <a:noFill/>
        </p:spPr>
        <p:txBody>
          <a:bodyPr wrap="square" lIns="45720" tIns="27432" rIns="45720" bIns="27432" anchor="t">
            <a:spAutoFit/>
          </a:bodyPr>
          <a:lstStyle/>
          <a:p>
            <a:pPr algn="l">
              <a:spcAft>
                <a:spcPts val="0"/>
              </a:spcAft>
            </a:pPr>
            <a:r>
              <a:rPr sz="800" b="1">
                <a:solidFill>
                  <a:srgbClr val="C00000"/>
                </a:solidFill>
                <a:latin typeface="맑은 고딕"/>
                <a:ea typeface="맑은 고딕"/>
                <a:cs typeface="맑은 고딕"/>
              </a:rPr>
              <a:t>주의  </a:t>
            </a:r>
            <a:r>
              <a:rPr sz="800" b="0">
                <a:solidFill>
                  <a:srgbClr val="404040"/>
                </a:solidFill>
                <a:latin typeface="맑은 고딕"/>
                <a:ea typeface="맑은 고딕"/>
                <a:cs typeface="맑은 고딕"/>
              </a:rPr>
              <a:t>공수·비용은 구현 측정 × 가정 상수 [B+C]이며 실제 에이전트 세션 측정이 아니다. LOC는 변경 난이도의 대리 지표일 뿐 Baseline 변경량이 아님. module은 셀(표)에는 표기하지 않은 보조 지표.</a:t>
            </a:r>
          </a:p>
        </p:txBody>
      </p:sp>
      <p:sp>
        <p:nvSpPr>
          <p:cNvPr id="73" name="TextBox 72"/>
          <p:cNvSpPr txBox="1"/>
          <p:nvPr/>
        </p:nvSpPr>
        <p:spPr>
          <a:xfrm>
            <a:off x="274320" y="6382512"/>
            <a:ext cx="11612880" cy="274320"/>
          </a:xfrm>
          <a:prstGeom prst="rect">
            <a:avLst/>
          </a:prstGeom>
          <a:noFill/>
        </p:spPr>
        <p:txBody>
          <a:bodyPr wrap="square" lIns="45720" tIns="27432" rIns="45720" bIns="27432" anchor="t">
            <a:spAutoFit/>
          </a:bodyPr>
          <a:lstStyle/>
          <a:p>
            <a:pPr algn="l">
              <a:spcAft>
                <a:spcPts val="0"/>
              </a:spcAft>
            </a:pPr>
            <a:r>
              <a:rPr sz="750" b="0">
                <a:solidFill>
                  <a:srgbClr val="7F7F7F"/>
                </a:solidFill>
                <a:latin typeface="맑은 고딕"/>
                <a:ea typeface="맑은 고딕"/>
                <a:cs typeface="맑은 고딕"/>
              </a:rPr>
              <a:t>출처: arXiv 2310.06770(SWE-bench, 통계는 논문 Table), code.claude.com/docs/en/costs, 코드량은 vllm/distributed/kv_transfer/kv_connector/v1 직접 계수. 경계값 이력: doc-mk/Evaluation/qa-star-criteria-unified.md §3.4</a:t>
            </a:r>
          </a:p>
        </p:txBody>
      </p:sp>
      <p:sp>
        <p:nvSpPr>
          <p:cNvPr id="74" name="TextBox 73"/>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4</a:t>
            </a:r>
          </a:p>
        </p:txBody>
      </p:sp>
      <p:sp>
        <p:nvSpPr>
          <p:cNvPr id="75" name="실행 단추: 뒤로 또는 이전 74">
            <a:hlinkClick r:id="rId3" action="ppaction://hlinksldjump" highlightClick="1"/>
          </p:cNvPr>
          <p:cNvSpPr/>
          <p:nvPr/>
        </p:nvSpPr>
        <p:spPr>
          <a:xfrm>
            <a:off x="7132320" y="220980"/>
            <a:ext cx="243840" cy="2737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3124842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QA-04. Scalability - 별 기준과 근거</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969264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노드를 N배로 늘릴 때 처리량이 선형 대비 몇 % 유지되면 ★ / ★★ / ★★★ 인가</a:t>
            </a:r>
          </a:p>
        </p:txBody>
      </p:sp>
      <p:sp>
        <p:nvSpPr>
          <p:cNvPr id="13" name="Rounded Rectangle 12"/>
          <p:cNvSpPr/>
          <p:nvPr/>
        </p:nvSpPr>
        <p:spPr>
          <a:xfrm>
            <a:off x="11073384" y="630936"/>
            <a:ext cx="786384"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QA-04</a:t>
            </a:r>
          </a:p>
        </p:txBody>
      </p:sp>
      <p:graphicFrame>
        <p:nvGraphicFramePr>
          <p:cNvPr id="14" name="Table 13"/>
          <p:cNvGraphicFramePr>
            <a:graphicFrameLocks noGrp="1"/>
          </p:cNvGraphicFramePr>
          <p:nvPr/>
        </p:nvGraphicFramePr>
        <p:xfrm>
          <a:off x="246888" y="1115568"/>
          <a:ext cx="5852160" cy="4066030"/>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74320">
                <a:tc>
                  <a:txBody>
                    <a:bodyPr/>
                    <a:lstStyle/>
                    <a:p>
                      <a:pPr algn="ctr">
                        <a:spcAft>
                          <a:spcPts val="100"/>
                        </a:spcAft>
                      </a:pPr>
                      <a:r>
                        <a:rPr sz="1000" b="0">
                          <a:solidFill>
                            <a:srgbClr val="000000"/>
                          </a:solidFill>
                          <a:latin typeface="맑은 고딕"/>
                          <a:ea typeface="맑은 고딕"/>
                          <a:cs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00" b="1">
                          <a:solidFill>
                            <a:srgbClr val="000000"/>
                          </a:solidFill>
                          <a:latin typeface="맑은 고딕"/>
                          <a:ea typeface="맑은 고딕"/>
                          <a:cs typeface="맑은 고딕"/>
                        </a:rPr>
                        <a:t>조건 (SE(N=16) = Goodput(N) ÷ ((N/N0) · Goodput(N0)), N0=2)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00" b="1">
                          <a:solidFill>
                            <a:srgbClr val="000000"/>
                          </a:solidFill>
                          <a:latin typeface="맑은 고딕"/>
                          <a:ea typeface="맑은 고딕"/>
                          <a:cs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620129">
                <a:tc>
                  <a:txBody>
                    <a:bodyPr/>
                    <a:lstStyle/>
                    <a:p>
                      <a:pPr algn="ctr">
                        <a:spcAft>
                          <a:spcPts val="100"/>
                        </a:spcAft>
                      </a:pPr>
                      <a:r>
                        <a:rPr sz="1000" b="0">
                          <a:solidFill>
                            <a:srgbClr val="000000"/>
                          </a:solidFill>
                          <a:latin typeface="맑은 고딕"/>
                          <a:ea typeface="맑은 고딕"/>
                          <a:cs typeface="맑은 고딕"/>
                        </a:rPr>
                        <a:t>☆ 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SE ≤ 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증설 비용의 20% 초과가 조율 계층에서 손실. 시나리오 목표 미달</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967401">
                <a:tc>
                  <a:txBody>
                    <a:bodyPr/>
                    <a:lstStyle/>
                    <a:p>
                      <a:pPr algn="ctr">
                        <a:spcAft>
                          <a:spcPts val="100"/>
                        </a:spcAft>
                      </a:pPr>
                      <a:r>
                        <a:rPr sz="100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SE &gt; 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시나리오 목표(하한). 조율 직렬 비중 σ ≤ 1.67%. 65,536 GPU 학습 병렬 효율 80% 보고와 같은 수준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682142">
                <a:tc>
                  <a:txBody>
                    <a:bodyPr/>
                    <a:lstStyle/>
                    <a:p>
                      <a:pPr algn="ctr">
                        <a:spcAft>
                          <a:spcPts val="100"/>
                        </a:spcAft>
                      </a:pPr>
                      <a:r>
                        <a:rPr sz="100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DEEBF7"/>
                    </a:solidFill>
                  </a:tcPr>
                </a:tc>
                <a:tc>
                  <a:txBody>
                    <a:bodyPr/>
                    <a:lstStyle/>
                    <a:p>
                      <a:pPr>
                        <a:spcAft>
                          <a:spcPts val="100"/>
                        </a:spcAft>
                      </a:pPr>
                      <a:r>
                        <a:rPr sz="1000" b="0">
                          <a:solidFill>
                            <a:srgbClr val="000000"/>
                          </a:solidFill>
                          <a:latin typeface="맑은 고딕"/>
                          <a:ea typeface="맑은 고딕"/>
                          <a:cs typeface="맑은 고딕"/>
                        </a:rPr>
                        <a:t>SE &gt; 85%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★(80%)과 ★★★(90%)의 등분 중점. σ ≤ 1.18%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1141038">
                <a:tc>
                  <a:txBody>
                    <a:bodyPr/>
                    <a:lstStyle/>
                    <a:p>
                      <a:pPr algn="ctr">
                        <a:spcAft>
                          <a:spcPts val="100"/>
                        </a:spcAft>
                      </a:pPr>
                      <a:r>
                        <a:rPr sz="100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spcAft>
                          <a:spcPts val="100"/>
                        </a:spcAft>
                      </a:pPr>
                      <a:r>
                        <a:rPr sz="1000" b="0">
                          <a:solidFill>
                            <a:srgbClr val="000000"/>
                          </a:solidFill>
                          <a:latin typeface="맑은 고딕"/>
                          <a:ea typeface="맑은 고딕"/>
                          <a:cs typeface="맑은 고딕"/>
                        </a:rPr>
                        <a:t>SE &gt; 90%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상한. σ ≤ 0.74%(결정·라우팅 계층이 요청 처리 시간의 1% 미만). 병렬 효율 "효율적" 보고 관행. 이론 상한 100%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15" name="Rectangle 14"/>
          <p:cNvSpPr/>
          <p:nvPr/>
        </p:nvSpPr>
        <p:spPr>
          <a:xfrm>
            <a:off x="246888" y="4892040"/>
            <a:ext cx="5852160" cy="868680"/>
          </a:xfrm>
          <a:prstGeom prst="rect">
            <a:avLst/>
          </a:prstGeom>
          <a:solidFill>
            <a:srgbClr val="F0F1F3"/>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lstStyle/>
          <a:p>
            <a:pPr algn="l">
              <a:spcAft>
                <a:spcPts val="200"/>
              </a:spcAft>
            </a:pPr>
            <a:r>
              <a:rPr sz="850" b="0">
                <a:solidFill>
                  <a:srgbClr val="404040"/>
                </a:solidFill>
                <a:latin typeface="맑은 고딕"/>
                <a:ea typeface="맑은 고딕"/>
                <a:cs typeface="맑은 고딕"/>
              </a:rPr>
              <a:t>지표: N0 = 2 노드 기준 SE(N) = Goodput(N) ÷ ((N / N0) × Goodput(N0)), N_max = 16. N &gt; 2는 모델 외삽(시뮬레이션, 제약 C04). 별은 보완 설계(샤딩 등) 적용 전 기준. 확장성은 5개 증가 축(S1~S5)으로 정의되며 별 경계는 S2(노드 수) 축 SE에만 있고 나머지는 값 보고(Evaluation/qa-star-criteria-unified.md §3.6, D9).</a:t>
            </a:r>
          </a:p>
        </p:txBody>
      </p:sp>
      <p:sp>
        <p:nvSpPr>
          <p:cNvPr id="16" name="TextBox 15"/>
          <p:cNvSpPr txBox="1"/>
          <p:nvPr/>
        </p:nvSpPr>
        <p:spPr>
          <a:xfrm>
            <a:off x="6263640" y="1078992"/>
            <a:ext cx="5715000" cy="237744"/>
          </a:xfrm>
          <a:prstGeom prst="rect">
            <a:avLst/>
          </a:prstGeom>
          <a:noFill/>
        </p:spPr>
        <p:txBody>
          <a:bodyPr wrap="square" lIns="45720" tIns="27432" rIns="45720" bIns="27432" anchor="t">
            <a:spAutoFit/>
          </a:bodyPr>
          <a:lstStyle/>
          <a:p>
            <a:pPr algn="l">
              <a:spcAft>
                <a:spcPts val="200"/>
              </a:spcAft>
            </a:pPr>
            <a:r>
              <a:rPr sz="1000" b="1">
                <a:solidFill>
                  <a:srgbClr val="000000"/>
                </a:solidFill>
                <a:latin typeface="맑은 고딕"/>
                <a:ea typeface="맑은 고딕"/>
                <a:cs typeface="맑은 고딕"/>
              </a:rPr>
              <a:t>Scaling Efficiency SE(N=16) (%)</a:t>
            </a:r>
          </a:p>
        </p:txBody>
      </p:sp>
      <p:sp>
        <p:nvSpPr>
          <p:cNvPr id="17" name="TextBox 16"/>
          <p:cNvSpPr txBox="1"/>
          <p:nvPr/>
        </p:nvSpPr>
        <p:spPr>
          <a:xfrm>
            <a:off x="10003536"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80%</a:t>
            </a:r>
          </a:p>
        </p:txBody>
      </p:sp>
      <p:cxnSp>
        <p:nvCxnSpPr>
          <p:cNvPr id="18" name="Connector 17"/>
          <p:cNvCxnSpPr/>
          <p:nvPr/>
        </p:nvCxnSpPr>
        <p:spPr>
          <a:xfrm>
            <a:off x="10552176" y="1499616"/>
            <a:ext cx="0" cy="137160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360152" y="149961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85%</a:t>
            </a:r>
          </a:p>
        </p:txBody>
      </p:sp>
      <p:cxnSp>
        <p:nvCxnSpPr>
          <p:cNvPr id="20" name="Connector 19"/>
          <p:cNvCxnSpPr/>
          <p:nvPr/>
        </p:nvCxnSpPr>
        <p:spPr>
          <a:xfrm>
            <a:off x="10908792" y="1682495"/>
            <a:ext cx="0" cy="1188721"/>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716768"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90%</a:t>
            </a:r>
          </a:p>
        </p:txBody>
      </p:sp>
      <p:cxnSp>
        <p:nvCxnSpPr>
          <p:cNvPr id="22" name="Connector 21"/>
          <p:cNvCxnSpPr/>
          <p:nvPr/>
        </p:nvCxnSpPr>
        <p:spPr>
          <a:xfrm>
            <a:off x="11265408" y="1499616"/>
            <a:ext cx="0" cy="137160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12480" y="2889504"/>
            <a:ext cx="3566160"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12480"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38159"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50%</a:t>
            </a:r>
          </a:p>
        </p:txBody>
      </p:sp>
      <p:cxnSp>
        <p:nvCxnSpPr>
          <p:cNvPr id="26" name="Connector 25"/>
          <p:cNvCxnSpPr/>
          <p:nvPr/>
        </p:nvCxnSpPr>
        <p:spPr>
          <a:xfrm>
            <a:off x="9125711"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851391"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60%</a:t>
            </a:r>
          </a:p>
        </p:txBody>
      </p:sp>
      <p:cxnSp>
        <p:nvCxnSpPr>
          <p:cNvPr id="28" name="Connector 27"/>
          <p:cNvCxnSpPr/>
          <p:nvPr/>
        </p:nvCxnSpPr>
        <p:spPr>
          <a:xfrm>
            <a:off x="9838944"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564624"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70%</a:t>
            </a:r>
          </a:p>
        </p:txBody>
      </p:sp>
      <p:cxnSp>
        <p:nvCxnSpPr>
          <p:cNvPr id="30" name="Connector 29"/>
          <p:cNvCxnSpPr/>
          <p:nvPr/>
        </p:nvCxnSpPr>
        <p:spPr>
          <a:xfrm>
            <a:off x="10552176"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277855"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80%</a:t>
            </a:r>
          </a:p>
        </p:txBody>
      </p:sp>
      <p:cxnSp>
        <p:nvCxnSpPr>
          <p:cNvPr id="32" name="Connector 31"/>
          <p:cNvCxnSpPr/>
          <p:nvPr/>
        </p:nvCxnSpPr>
        <p:spPr>
          <a:xfrm>
            <a:off x="11265408"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991088"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90%</a:t>
            </a:r>
          </a:p>
        </p:txBody>
      </p:sp>
      <p:cxnSp>
        <p:nvCxnSpPr>
          <p:cNvPr id="34" name="Connector 33"/>
          <p:cNvCxnSpPr/>
          <p:nvPr/>
        </p:nvCxnSpPr>
        <p:spPr>
          <a:xfrm>
            <a:off x="11978640" y="288950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1704319" y="291693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100%</a:t>
            </a:r>
          </a:p>
        </p:txBody>
      </p:sp>
      <p:sp>
        <p:nvSpPr>
          <p:cNvPr id="36" name="TextBox 35"/>
          <p:cNvSpPr txBox="1"/>
          <p:nvPr/>
        </p:nvSpPr>
        <p:spPr>
          <a:xfrm>
            <a:off x="6263640" y="176479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arXiv 2409.16053, 65,536 GPU</a:t>
            </a:r>
          </a:p>
        </p:txBody>
      </p:sp>
      <p:sp>
        <p:nvSpPr>
          <p:cNvPr id="37" name="Oval 36"/>
          <p:cNvSpPr/>
          <p:nvPr/>
        </p:nvSpPr>
        <p:spPr>
          <a:xfrm>
            <a:off x="10497311" y="1810512"/>
            <a:ext cx="109728" cy="10972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680191" y="1764792"/>
            <a:ext cx="1097280" cy="182880"/>
          </a:xfrm>
          <a:prstGeom prst="rect">
            <a:avLst/>
          </a:prstGeom>
          <a:noFill/>
        </p:spPr>
        <p:txBody>
          <a:bodyPr wrap="square" lIns="0" tIns="27432" rIns="0" bIns="27432" anchor="ctr">
            <a:spAutoFit/>
          </a:bodyPr>
          <a:lstStyle/>
          <a:p>
            <a:pPr algn="l">
              <a:spcAft>
                <a:spcPts val="200"/>
              </a:spcAft>
            </a:pPr>
            <a:r>
              <a:rPr sz="800" b="1">
                <a:solidFill>
                  <a:srgbClr val="2E75B6"/>
                </a:solidFill>
                <a:latin typeface="맑은 고딕"/>
                <a:ea typeface="맑은 고딕"/>
                <a:cs typeface="맑은 고딕"/>
              </a:rPr>
              <a:t>80% (학습)</a:t>
            </a:r>
          </a:p>
        </p:txBody>
      </p:sp>
      <p:sp>
        <p:nvSpPr>
          <p:cNvPr id="39" name="TextBox 38"/>
          <p:cNvSpPr txBox="1"/>
          <p:nvPr/>
        </p:nvSpPr>
        <p:spPr>
          <a:xfrm>
            <a:off x="6263640" y="194767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DP4 후보1 (시뮬, N=16)</a:t>
            </a:r>
          </a:p>
        </p:txBody>
      </p:sp>
      <p:sp>
        <p:nvSpPr>
          <p:cNvPr id="40" name="Oval 39"/>
          <p:cNvSpPr/>
          <p:nvPr/>
        </p:nvSpPr>
        <p:spPr>
          <a:xfrm>
            <a:off x="11424513" y="1993392"/>
            <a:ext cx="109728" cy="10972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427817" y="1947672"/>
            <a:ext cx="960120" cy="182880"/>
          </a:xfrm>
          <a:prstGeom prst="rect">
            <a:avLst/>
          </a:prstGeom>
          <a:noFill/>
        </p:spPr>
        <p:txBody>
          <a:bodyPr wrap="square" lIns="0" tIns="27432" rIns="0" bIns="27432" anchor="ctr">
            <a:spAutoFit/>
          </a:bodyPr>
          <a:lstStyle/>
          <a:p>
            <a:pPr algn="r">
              <a:spcAft>
                <a:spcPts val="200"/>
              </a:spcAft>
            </a:pPr>
            <a:r>
              <a:rPr sz="800" b="1">
                <a:solidFill>
                  <a:srgbClr val="548235"/>
                </a:solidFill>
                <a:latin typeface="맑은 고딕"/>
                <a:ea typeface="맑은 고딕"/>
                <a:cs typeface="맑은 고딕"/>
              </a:rPr>
              <a:t>93%</a:t>
            </a:r>
          </a:p>
        </p:txBody>
      </p:sp>
      <p:sp>
        <p:nvSpPr>
          <p:cNvPr id="42" name="TextBox 41"/>
          <p:cNvSpPr txBox="1"/>
          <p:nvPr/>
        </p:nvSpPr>
        <p:spPr>
          <a:xfrm>
            <a:off x="6263640" y="213055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DP4 후보2 (시뮬, N=16)</a:t>
            </a:r>
          </a:p>
        </p:txBody>
      </p:sp>
      <p:sp>
        <p:nvSpPr>
          <p:cNvPr id="43" name="Oval 42"/>
          <p:cNvSpPr/>
          <p:nvPr/>
        </p:nvSpPr>
        <p:spPr>
          <a:xfrm>
            <a:off x="9356140" y="2176272"/>
            <a:ext cx="109728" cy="10972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539020" y="2130552"/>
            <a:ext cx="1097280" cy="182880"/>
          </a:xfrm>
          <a:prstGeom prst="rect">
            <a:avLst/>
          </a:prstGeom>
          <a:noFill/>
        </p:spPr>
        <p:txBody>
          <a:bodyPr wrap="square" lIns="0" tIns="27432" rIns="0" bIns="27432" anchor="ctr">
            <a:spAutoFit/>
          </a:bodyPr>
          <a:lstStyle/>
          <a:p>
            <a:pPr algn="l">
              <a:spcAft>
                <a:spcPts val="200"/>
              </a:spcAft>
            </a:pPr>
            <a:r>
              <a:rPr sz="800" b="1">
                <a:solidFill>
                  <a:srgbClr val="548235"/>
                </a:solidFill>
                <a:latin typeface="맑은 고딕"/>
                <a:ea typeface="맑은 고딕"/>
                <a:cs typeface="맑은 고딕"/>
              </a:rPr>
              <a:t>64%</a:t>
            </a:r>
          </a:p>
        </p:txBody>
      </p:sp>
      <p:sp>
        <p:nvSpPr>
          <p:cNvPr id="45" name="TextBox 44"/>
          <p:cNvSpPr txBox="1"/>
          <p:nvPr/>
        </p:nvSpPr>
        <p:spPr>
          <a:xfrm>
            <a:off x="6263640" y="231343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USL 환산 σ=1.67% (N=16)</a:t>
            </a:r>
          </a:p>
        </p:txBody>
      </p:sp>
      <p:sp>
        <p:nvSpPr>
          <p:cNvPr id="46" name="Oval 45"/>
          <p:cNvSpPr/>
          <p:nvPr/>
        </p:nvSpPr>
        <p:spPr>
          <a:xfrm>
            <a:off x="10497311" y="235915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0680191" y="2313432"/>
            <a:ext cx="1097280" cy="182880"/>
          </a:xfrm>
          <a:prstGeom prst="rect">
            <a:avLst/>
          </a:prstGeom>
          <a:noFill/>
        </p:spPr>
        <p:txBody>
          <a:bodyPr wrap="square" lIns="0" tIns="27432" rIns="0" bIns="27432" anchor="ctr">
            <a:spAutoFit/>
          </a:bodyPr>
          <a:lstStyle/>
          <a:p>
            <a:pPr algn="l">
              <a:spcAft>
                <a:spcPts val="200"/>
              </a:spcAft>
            </a:pPr>
            <a:r>
              <a:rPr sz="800" b="1">
                <a:solidFill>
                  <a:srgbClr val="7F7F7F"/>
                </a:solidFill>
                <a:latin typeface="맑은 고딕"/>
                <a:ea typeface="맑은 고딕"/>
                <a:cs typeface="맑은 고딕"/>
              </a:rPr>
              <a:t>σ 1.67%</a:t>
            </a:r>
          </a:p>
        </p:txBody>
      </p:sp>
      <p:sp>
        <p:nvSpPr>
          <p:cNvPr id="48" name="TextBox 47"/>
          <p:cNvSpPr txBox="1"/>
          <p:nvPr/>
        </p:nvSpPr>
        <p:spPr>
          <a:xfrm>
            <a:off x="6263640" y="249631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USL 환산 σ=1.18%</a:t>
            </a:r>
          </a:p>
        </p:txBody>
      </p:sp>
      <p:sp>
        <p:nvSpPr>
          <p:cNvPr id="49" name="Oval 48"/>
          <p:cNvSpPr/>
          <p:nvPr/>
        </p:nvSpPr>
        <p:spPr>
          <a:xfrm>
            <a:off x="10853928" y="254203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1036807" y="2496312"/>
            <a:ext cx="1097280" cy="182880"/>
          </a:xfrm>
          <a:prstGeom prst="rect">
            <a:avLst/>
          </a:prstGeom>
          <a:noFill/>
        </p:spPr>
        <p:txBody>
          <a:bodyPr wrap="square" lIns="0" tIns="27432" rIns="0" bIns="27432" anchor="ctr">
            <a:spAutoFit/>
          </a:bodyPr>
          <a:lstStyle/>
          <a:p>
            <a:pPr algn="l">
              <a:spcAft>
                <a:spcPts val="200"/>
              </a:spcAft>
            </a:pPr>
            <a:r>
              <a:rPr sz="800" b="1">
                <a:solidFill>
                  <a:srgbClr val="7F7F7F"/>
                </a:solidFill>
                <a:latin typeface="맑은 고딕"/>
                <a:ea typeface="맑은 고딕"/>
                <a:cs typeface="맑은 고딕"/>
              </a:rPr>
              <a:t>σ 1.18%</a:t>
            </a:r>
          </a:p>
        </p:txBody>
      </p:sp>
      <p:sp>
        <p:nvSpPr>
          <p:cNvPr id="51" name="TextBox 50"/>
          <p:cNvSpPr txBox="1"/>
          <p:nvPr/>
        </p:nvSpPr>
        <p:spPr>
          <a:xfrm>
            <a:off x="6263640" y="267919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USL 환산 σ=0.74%</a:t>
            </a:r>
          </a:p>
        </p:txBody>
      </p:sp>
      <p:sp>
        <p:nvSpPr>
          <p:cNvPr id="52" name="Oval 51"/>
          <p:cNvSpPr/>
          <p:nvPr/>
        </p:nvSpPr>
        <p:spPr>
          <a:xfrm>
            <a:off x="11210544" y="272491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213848" y="2679192"/>
            <a:ext cx="960120" cy="182880"/>
          </a:xfrm>
          <a:prstGeom prst="rect">
            <a:avLst/>
          </a:prstGeom>
          <a:noFill/>
        </p:spPr>
        <p:txBody>
          <a:bodyPr wrap="square" lIns="0" tIns="27432" rIns="0" bIns="27432" anchor="ctr">
            <a:spAutoFit/>
          </a:bodyPr>
          <a:lstStyle/>
          <a:p>
            <a:pPr algn="r">
              <a:spcAft>
                <a:spcPts val="200"/>
              </a:spcAft>
            </a:pPr>
            <a:r>
              <a:rPr sz="800" b="1">
                <a:solidFill>
                  <a:srgbClr val="7F7F7F"/>
                </a:solidFill>
                <a:latin typeface="맑은 고딕"/>
                <a:ea typeface="맑은 고딕"/>
                <a:cs typeface="맑은 고딕"/>
              </a:rPr>
              <a:t>σ 0.74%</a:t>
            </a:r>
          </a:p>
        </p:txBody>
      </p:sp>
      <p:sp>
        <p:nvSpPr>
          <p:cNvPr id="54" name="Rectangle 53"/>
          <p:cNvSpPr/>
          <p:nvPr/>
        </p:nvSpPr>
        <p:spPr>
          <a:xfrm>
            <a:off x="6263640" y="3182112"/>
            <a:ext cx="109728" cy="9144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00800" y="313639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문헌: 실GPU·실트래픽</a:t>
            </a:r>
          </a:p>
        </p:txBody>
      </p:sp>
      <p:sp>
        <p:nvSpPr>
          <p:cNvPr id="56" name="Rectangle 55"/>
          <p:cNvSpPr/>
          <p:nvPr/>
        </p:nvSpPr>
        <p:spPr>
          <a:xfrm>
            <a:off x="7726679" y="3182112"/>
            <a:ext cx="109728" cy="9144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863840" y="313639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내부 시뮬레이션 [B+C]</a:t>
            </a:r>
          </a:p>
        </p:txBody>
      </p:sp>
      <p:sp>
        <p:nvSpPr>
          <p:cNvPr id="58" name="Rectangle 57"/>
          <p:cNvSpPr/>
          <p:nvPr/>
        </p:nvSpPr>
        <p:spPr>
          <a:xfrm>
            <a:off x="9281159" y="3182112"/>
            <a:ext cx="109728" cy="91440"/>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418319" y="313639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환산·원리</a:t>
            </a:r>
          </a:p>
        </p:txBody>
      </p:sp>
      <p:graphicFrame>
        <p:nvGraphicFramePr>
          <p:cNvPr id="60" name="Table 59"/>
          <p:cNvGraphicFramePr>
            <a:graphicFrameLocks noGrp="1"/>
          </p:cNvGraphicFramePr>
          <p:nvPr/>
        </p:nvGraphicFramePr>
        <p:xfrm>
          <a:off x="6263640" y="3383280"/>
          <a:ext cx="5715000" cy="1700784"/>
        </p:xfrm>
        <a:graphic>
          <a:graphicData uri="http://schemas.openxmlformats.org/drawingml/2006/table">
            <a:tbl>
              <a:tblPr>
                <a:tableStyleId>{2D5ABB26-0587-4C30-8999-92F81FD0307C}</a:tableStyleId>
              </a:tblPr>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37744">
                <a:tc>
                  <a:txBody>
                    <a:bodyPr/>
                    <a:lstStyle/>
                    <a:p>
                      <a:pPr algn="ctr">
                        <a:spcAft>
                          <a:spcPts val="100"/>
                        </a:spcAft>
                      </a:pPr>
                      <a:r>
                        <a:rPr sz="750" b="0">
                          <a:solidFill>
                            <a:srgbClr val="000000"/>
                          </a:solidFill>
                          <a:latin typeface="맑은 고딕"/>
                          <a:ea typeface="맑은 고딕"/>
                          <a:cs typeface="맑은 고딕"/>
                        </a:rPr>
                        <a:t>문헌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지표·조건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값</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별 반영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65760">
                <a:tc>
                  <a:txBody>
                    <a:bodyPr/>
                    <a:lstStyle/>
                    <a:p>
                      <a:pPr algn="ctr">
                        <a:spcAft>
                          <a:spcPts val="100"/>
                        </a:spcAft>
                      </a:pPr>
                      <a:r>
                        <a:rPr sz="750" b="0">
                          <a:solidFill>
                            <a:srgbClr val="000000"/>
                          </a:solidFill>
                          <a:latin typeface="맑은 고딕"/>
                          <a:ea typeface="맑은 고딕"/>
                          <a:cs typeface="맑은 고딕"/>
                        </a:rPr>
                        <a:t>arXiv 2409.16053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AMD Frontier 65,536 GPU 병렬 효율(학습, weak scaling)</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80%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근거(유추)</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spcAft>
                          <a:spcPts val="100"/>
                        </a:spcAft>
                      </a:pPr>
                      <a:r>
                        <a:rPr sz="750" b="0">
                          <a:solidFill>
                            <a:srgbClr val="000000"/>
                          </a:solidFill>
                          <a:latin typeface="맑은 고딕"/>
                          <a:ea typeface="맑은 고딕"/>
                          <a:cs typeface="맑은 고딕"/>
                        </a:rPr>
                        <a:t>Amdahl(1967)
Gunther USL(2008)</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SE(N) = 1 / (1 + σ(N−1)), 조율·직렬 비중 σ. N=16에서 80% ⇒ σ ≤ 1.67%, 90% ⇒ σ ≤ 0.74%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σ 환산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상한 환산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spcAft>
                          <a:spcPts val="100"/>
                        </a:spcAft>
                      </a:pPr>
                      <a:r>
                        <a:rPr sz="750" b="0">
                          <a:solidFill>
                            <a:srgbClr val="000000"/>
                          </a:solidFill>
                          <a:latin typeface="맑은 고딕"/>
                          <a:ea typeface="맑은 고딕"/>
                          <a:cs typeface="맑은 고딕"/>
                        </a:rPr>
                        <a:t>HPC 보고 관행
(정책 선택)</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90% 이상이면 "효율적"으로 보고하는 관행. 이론 상한은 100% (요청 독립 replica는 조율 비용만 손실)</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90%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정책</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1" name="Right Arrow 60"/>
          <p:cNvSpPr/>
          <p:nvPr/>
        </p:nvSpPr>
        <p:spPr>
          <a:xfrm>
            <a:off x="283464" y="5888736"/>
            <a:ext cx="365760"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94944" y="5852160"/>
            <a:ext cx="11247120" cy="310896"/>
          </a:xfrm>
          <a:prstGeom prst="rect">
            <a:avLst/>
          </a:prstGeom>
          <a:noFill/>
        </p:spPr>
        <p:txBody>
          <a:bodyPr wrap="square" lIns="45720" tIns="27432" rIns="45720" bIns="27432" anchor="ctr">
            <a:spAutoFit/>
          </a:bodyPr>
          <a:lstStyle/>
          <a:p>
            <a:pPr algn="l">
              <a:spcAft>
                <a:spcPts val="200"/>
              </a:spcAft>
            </a:pPr>
            <a:r>
              <a:rPr sz="1150" b="1">
                <a:solidFill>
                  <a:srgbClr val="0066FF"/>
                </a:solidFill>
                <a:latin typeface="맑은 고딕"/>
                <a:ea typeface="맑은 고딕"/>
                <a:cs typeface="맑은 고딕"/>
              </a:rPr>
              <a:t>★ 80%는 대규모 병렬 보고 수준, ★★★ 90%는 조율 직렬 비중 0.74% 이하의 환산 값이다. 이론 상한은 100%.</a:t>
            </a:r>
          </a:p>
        </p:txBody>
      </p:sp>
      <p:sp>
        <p:nvSpPr>
          <p:cNvPr id="63" name="TextBox 62"/>
          <p:cNvSpPr txBox="1"/>
          <p:nvPr/>
        </p:nvSpPr>
        <p:spPr>
          <a:xfrm>
            <a:off x="246888" y="6126480"/>
            <a:ext cx="11704320" cy="228600"/>
          </a:xfrm>
          <a:prstGeom prst="rect">
            <a:avLst/>
          </a:prstGeom>
          <a:noFill/>
        </p:spPr>
        <p:txBody>
          <a:bodyPr wrap="square" lIns="45720" tIns="27432" rIns="45720" bIns="27432" anchor="t">
            <a:spAutoFit/>
          </a:bodyPr>
          <a:lstStyle/>
          <a:p>
            <a:pPr algn="l">
              <a:spcAft>
                <a:spcPts val="0"/>
              </a:spcAft>
            </a:pPr>
            <a:r>
              <a:rPr sz="800" b="1">
                <a:solidFill>
                  <a:srgbClr val="C00000"/>
                </a:solidFill>
                <a:latin typeface="맑은 고딕"/>
                <a:ea typeface="맑은 고딕"/>
                <a:cs typeface="맑은 고딕"/>
              </a:rPr>
              <a:t>주의  </a:t>
            </a:r>
            <a:r>
              <a:rPr sz="800" b="0">
                <a:solidFill>
                  <a:srgbClr val="404040"/>
                </a:solidFill>
                <a:latin typeface="맑은 고딕"/>
                <a:ea typeface="맑은 고딕"/>
                <a:cs typeface="맑은 고딕"/>
              </a:rPr>
              <a:t>문헌 80%는 학습(weak scaling) 보고라 서빙 SE와 의미가 다름 [유추]. 90%는 문헌 직접 확인 실패 → 정책 선택. 이전 문서가 인용한 arXiv 1704.03329는 분자동역학 코드 생성 논문으로 근거 부적합(교체).</a:t>
            </a:r>
          </a:p>
        </p:txBody>
      </p:sp>
      <p:sp>
        <p:nvSpPr>
          <p:cNvPr id="64" name="TextBox 63"/>
          <p:cNvSpPr txBox="1"/>
          <p:nvPr/>
        </p:nvSpPr>
        <p:spPr>
          <a:xfrm>
            <a:off x="274320" y="6382512"/>
            <a:ext cx="11612880" cy="274320"/>
          </a:xfrm>
          <a:prstGeom prst="rect">
            <a:avLst/>
          </a:prstGeom>
          <a:noFill/>
        </p:spPr>
        <p:txBody>
          <a:bodyPr wrap="square" lIns="45720" tIns="27432" rIns="45720" bIns="27432" anchor="t">
            <a:spAutoFit/>
          </a:bodyPr>
          <a:lstStyle/>
          <a:p>
            <a:pPr algn="l">
              <a:spcAft>
                <a:spcPts val="0"/>
              </a:spcAft>
            </a:pPr>
            <a:r>
              <a:rPr sz="750" b="0">
                <a:solidFill>
                  <a:srgbClr val="7F7F7F"/>
                </a:solidFill>
                <a:latin typeface="맑은 고딕"/>
                <a:ea typeface="맑은 고딕"/>
                <a:cs typeface="맑은 고딕"/>
              </a:rPr>
              <a:t>출처: arXiv 2409.16053(abstract), Amdahl 1967, Gunther 2008(USL, 원리). Cornell CVW 페이지는 90% 기준을 확인하지 못함. 내부 값: doc-mk/Evaluation/unified_stars_check.md</a:t>
            </a:r>
          </a:p>
        </p:txBody>
      </p:sp>
      <p:sp>
        <p:nvSpPr>
          <p:cNvPr id="65" name="TextBox 64"/>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5</a:t>
            </a:r>
          </a:p>
        </p:txBody>
      </p:sp>
      <p:sp>
        <p:nvSpPr>
          <p:cNvPr id="66" name="실행 단추: 뒤로 또는 이전 65">
            <a:hlinkClick r:id="rId3" action="ppaction://hlinksldjump" highlightClick="1"/>
          </p:cNvPr>
          <p:cNvSpPr/>
          <p:nvPr/>
        </p:nvSpPr>
        <p:spPr>
          <a:xfrm>
            <a:off x="7132320" y="220980"/>
            <a:ext cx="243840" cy="2737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690873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QA-05. Functional Correctness - 별 기준과 근거</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969264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LLM 출력 F1이 Baseline 대비 몇 % 이내로 유지되면 ★ / ★★ / ★★★ 인가</a:t>
            </a:r>
          </a:p>
        </p:txBody>
      </p:sp>
      <p:sp>
        <p:nvSpPr>
          <p:cNvPr id="13" name="Rounded Rectangle 12"/>
          <p:cNvSpPr/>
          <p:nvPr/>
        </p:nvSpPr>
        <p:spPr>
          <a:xfrm>
            <a:off x="11073384" y="630936"/>
            <a:ext cx="786384"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QA-05</a:t>
            </a:r>
          </a:p>
        </p:txBody>
      </p:sp>
      <p:graphicFrame>
        <p:nvGraphicFramePr>
          <p:cNvPr id="14" name="Table 13"/>
          <p:cNvGraphicFramePr>
            <a:graphicFrameLocks noGrp="1"/>
          </p:cNvGraphicFramePr>
          <p:nvPr/>
        </p:nvGraphicFramePr>
        <p:xfrm>
          <a:off x="246888" y="1115568"/>
          <a:ext cx="5852160" cy="3936490"/>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74320">
                <a:tc>
                  <a:txBody>
                    <a:bodyPr/>
                    <a:lstStyle/>
                    <a:p>
                      <a:pPr algn="ctr">
                        <a:spcAft>
                          <a:spcPts val="100"/>
                        </a:spcAft>
                      </a:pPr>
                      <a:r>
                        <a:rPr sz="1050" b="0">
                          <a:solidFill>
                            <a:srgbClr val="000000"/>
                          </a:solidFill>
                          <a:latin typeface="맑은 고딕"/>
                          <a:ea typeface="맑은 고딕"/>
                          <a:cs typeface="맑은 고딕"/>
                        </a:rPr>
                        <a:t>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조건 (F1 상대 하락률 = (Baseline − 후보) ÷ Baseline)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근거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650899">
                <a:tc>
                  <a:txBody>
                    <a:bodyPr/>
                    <a:lstStyle/>
                    <a:p>
                      <a:pPr algn="ctr">
                        <a:spcAft>
                          <a:spcPts val="100"/>
                        </a:spcAft>
                      </a:pPr>
                      <a:r>
                        <a:rPr sz="1050" b="0">
                          <a:solidFill>
                            <a:srgbClr val="000000"/>
                          </a:solidFill>
                          <a:latin typeface="맑은 고딕"/>
                          <a:ea typeface="맑은 고딕"/>
                          <a:cs typeface="맑은 고딕"/>
                        </a:rPr>
                        <a:t>☆ 미충족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50" b="0">
                          <a:solidFill>
                            <a:srgbClr val="000000"/>
                          </a:solidFill>
                          <a:latin typeface="맑은 고딕"/>
                          <a:ea typeface="맑은 고딕"/>
                          <a:cs typeface="맑은 고딕"/>
                        </a:rPr>
                        <a:t>하락 ≥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시나리오 목표 미달. 허용 한도의 3배 이상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937294">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50" b="0">
                          <a:solidFill>
                            <a:srgbClr val="000000"/>
                          </a:solidFill>
                          <a:latin typeface="맑은 고딕"/>
                          <a:ea typeface="맑은 고딕"/>
                          <a:cs typeface="맑은 고딕"/>
                        </a:rPr>
                        <a:t>하락 &lt; 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시나리오 목표(하한). 허용 한도 1%의 3배, 눈에 띄는 열화가 시작되는 구간 [정책]</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715989">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DEEBF7"/>
                    </a:solidFill>
                  </a:tcPr>
                </a:tc>
                <a:tc>
                  <a:txBody>
                    <a:bodyPr/>
                    <a:lstStyle/>
                    <a:p>
                      <a:pPr>
                        <a:spcAft>
                          <a:spcPts val="100"/>
                        </a:spcAft>
                      </a:pPr>
                      <a:r>
                        <a:rPr sz="1050" b="0">
                          <a:solidFill>
                            <a:srgbClr val="000000"/>
                          </a:solidFill>
                          <a:latin typeface="맑은 고딕"/>
                          <a:ea typeface="맑은 고딕"/>
                          <a:cs typeface="맑은 고딕"/>
                        </a:rPr>
                        <a:t>하락 &lt;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★(3%)과 ★★★(1%)의 등분 중점</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1106528">
                <a:tc>
                  <a:txBody>
                    <a:bodyPr/>
                    <a:lstStyle/>
                    <a:p>
                      <a:pPr algn="ctr">
                        <a:spcAft>
                          <a:spcPts val="100"/>
                        </a:spcAft>
                      </a:pPr>
                      <a:r>
                        <a:rPr sz="10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spcAft>
                          <a:spcPts val="100"/>
                        </a:spcAft>
                      </a:pPr>
                      <a:r>
                        <a:rPr sz="1050" b="0">
                          <a:solidFill>
                            <a:srgbClr val="000000"/>
                          </a:solidFill>
                          <a:latin typeface="맑은 고딕"/>
                          <a:ea typeface="맑은 고딕"/>
                          <a:cs typeface="맑은 고딕"/>
                        </a:rPr>
                        <a:t>하락 &lt;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상한. 소유자가 정한 허용 정확도 저하 한도. 손실 압축의 문헌 "negligible"과 같은 방향. 무손실 경로는 0%(bit-exact)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15" name="Rectangle 14"/>
          <p:cNvSpPr/>
          <p:nvPr/>
        </p:nvSpPr>
        <p:spPr>
          <a:xfrm>
            <a:off x="246888" y="4892040"/>
            <a:ext cx="5852160" cy="868680"/>
          </a:xfrm>
          <a:prstGeom prst="rect">
            <a:avLst/>
          </a:prstGeom>
          <a:solidFill>
            <a:srgbClr val="F0F1F3"/>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t"/>
          <a:lstStyle/>
          <a:p>
            <a:pPr algn="l">
              <a:spcAft>
                <a:spcPts val="200"/>
              </a:spcAft>
            </a:pPr>
            <a:r>
              <a:rPr sz="850" b="0">
                <a:solidFill>
                  <a:srgbClr val="404040"/>
                </a:solidFill>
                <a:latin typeface="맑은 고딕"/>
                <a:ea typeface="맑은 고딕"/>
                <a:cs typeface="맑은 고딕"/>
              </a:rPr>
              <a:t>지표: 같은 task·dataset·모델·precision에서 압축·재사용 전 + full recompute의 F1 대비 후보 F1의 상대 하락률. 데이터 이동·복원·재사용만 거친 경로(무손실)는 출력 bit-exact 확인으로 갈음한다.</a:t>
            </a:r>
          </a:p>
        </p:txBody>
      </p:sp>
      <p:sp>
        <p:nvSpPr>
          <p:cNvPr id="16" name="TextBox 15"/>
          <p:cNvSpPr txBox="1"/>
          <p:nvPr/>
        </p:nvSpPr>
        <p:spPr>
          <a:xfrm>
            <a:off x="6263640" y="1078992"/>
            <a:ext cx="5715000" cy="237744"/>
          </a:xfrm>
          <a:prstGeom prst="rect">
            <a:avLst/>
          </a:prstGeom>
          <a:noFill/>
        </p:spPr>
        <p:txBody>
          <a:bodyPr wrap="square" lIns="45720" tIns="27432" rIns="45720" bIns="27432" anchor="t">
            <a:spAutoFit/>
          </a:bodyPr>
          <a:lstStyle/>
          <a:p>
            <a:pPr algn="l">
              <a:spcAft>
                <a:spcPts val="200"/>
              </a:spcAft>
            </a:pPr>
            <a:r>
              <a:rPr sz="1000" b="1">
                <a:solidFill>
                  <a:srgbClr val="000000"/>
                </a:solidFill>
                <a:latin typeface="맑은 고딕"/>
                <a:ea typeface="맑은 고딕"/>
                <a:cs typeface="맑은 고딕"/>
              </a:rPr>
              <a:t>F1 상대 하락률 (압축·재사용 전 full recompute 대비, %)</a:t>
            </a:r>
          </a:p>
        </p:txBody>
      </p:sp>
      <p:sp>
        <p:nvSpPr>
          <p:cNvPr id="17" name="TextBox 16"/>
          <p:cNvSpPr txBox="1"/>
          <p:nvPr/>
        </p:nvSpPr>
        <p:spPr>
          <a:xfrm>
            <a:off x="8577072"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1%</a:t>
            </a:r>
          </a:p>
        </p:txBody>
      </p:sp>
      <p:cxnSp>
        <p:nvCxnSpPr>
          <p:cNvPr id="18" name="Connector 17"/>
          <p:cNvCxnSpPr/>
          <p:nvPr/>
        </p:nvCxnSpPr>
        <p:spPr>
          <a:xfrm>
            <a:off x="9125711" y="1499616"/>
            <a:ext cx="0" cy="100584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290304" y="149961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2%</a:t>
            </a:r>
          </a:p>
        </p:txBody>
      </p:sp>
      <p:cxnSp>
        <p:nvCxnSpPr>
          <p:cNvPr id="20" name="Connector 19"/>
          <p:cNvCxnSpPr/>
          <p:nvPr/>
        </p:nvCxnSpPr>
        <p:spPr>
          <a:xfrm>
            <a:off x="9838944" y="1682495"/>
            <a:ext cx="0" cy="822961"/>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003536" y="1316736"/>
            <a:ext cx="1097280" cy="182880"/>
          </a:xfrm>
          <a:prstGeom prst="rect">
            <a:avLst/>
          </a:prstGeom>
          <a:noFill/>
        </p:spPr>
        <p:txBody>
          <a:bodyPr wrap="square" lIns="0" tIns="27432" rIns="0" bIns="27432" anchor="t">
            <a:spAutoFit/>
          </a:bodyPr>
          <a:lstStyle/>
          <a:p>
            <a:pPr algn="ctr">
              <a:spcAft>
                <a:spcPts val="200"/>
              </a:spcAft>
            </a:pPr>
            <a:r>
              <a:rPr sz="850" b="1">
                <a:solidFill>
                  <a:srgbClr val="C00000"/>
                </a:solidFill>
                <a:latin typeface="맑은 고딕"/>
                <a:ea typeface="맑은 고딕"/>
                <a:cs typeface="맑은 고딕"/>
              </a:rPr>
              <a:t>★ 3%</a:t>
            </a:r>
          </a:p>
        </p:txBody>
      </p:sp>
      <p:cxnSp>
        <p:nvCxnSpPr>
          <p:cNvPr id="22" name="Connector 21"/>
          <p:cNvCxnSpPr/>
          <p:nvPr/>
        </p:nvCxnSpPr>
        <p:spPr>
          <a:xfrm>
            <a:off x="10552176" y="1499616"/>
            <a:ext cx="0" cy="1005840"/>
          </a:xfrm>
          <a:prstGeom prst="line">
            <a:avLst/>
          </a:prstGeom>
          <a:ln w="12700">
            <a:solidFill>
              <a:srgbClr val="C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12480" y="2523744"/>
            <a:ext cx="3566160"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12480" y="252374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38159" y="255117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0%</a:t>
            </a:r>
          </a:p>
        </p:txBody>
      </p:sp>
      <p:cxnSp>
        <p:nvCxnSpPr>
          <p:cNvPr id="26" name="Connector 25"/>
          <p:cNvCxnSpPr/>
          <p:nvPr/>
        </p:nvCxnSpPr>
        <p:spPr>
          <a:xfrm>
            <a:off x="9125711" y="252374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851391" y="255117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1%</a:t>
            </a:r>
          </a:p>
        </p:txBody>
      </p:sp>
      <p:cxnSp>
        <p:nvCxnSpPr>
          <p:cNvPr id="28" name="Connector 27"/>
          <p:cNvCxnSpPr/>
          <p:nvPr/>
        </p:nvCxnSpPr>
        <p:spPr>
          <a:xfrm>
            <a:off x="9838944" y="252374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564624" y="255117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2%</a:t>
            </a:r>
          </a:p>
        </p:txBody>
      </p:sp>
      <p:cxnSp>
        <p:nvCxnSpPr>
          <p:cNvPr id="30" name="Connector 29"/>
          <p:cNvCxnSpPr/>
          <p:nvPr/>
        </p:nvCxnSpPr>
        <p:spPr>
          <a:xfrm>
            <a:off x="10552176" y="252374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277855" y="255117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3%</a:t>
            </a:r>
          </a:p>
        </p:txBody>
      </p:sp>
      <p:cxnSp>
        <p:nvCxnSpPr>
          <p:cNvPr id="32" name="Connector 31"/>
          <p:cNvCxnSpPr/>
          <p:nvPr/>
        </p:nvCxnSpPr>
        <p:spPr>
          <a:xfrm>
            <a:off x="11265408" y="252374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991088" y="255117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4%</a:t>
            </a:r>
          </a:p>
        </p:txBody>
      </p:sp>
      <p:cxnSp>
        <p:nvCxnSpPr>
          <p:cNvPr id="34" name="Connector 33"/>
          <p:cNvCxnSpPr/>
          <p:nvPr/>
        </p:nvCxnSpPr>
        <p:spPr>
          <a:xfrm>
            <a:off x="11978640" y="2523744"/>
            <a:ext cx="0" cy="4572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1704319" y="2551176"/>
            <a:ext cx="548640" cy="182880"/>
          </a:xfrm>
          <a:prstGeom prst="rect">
            <a:avLst/>
          </a:prstGeom>
          <a:noFill/>
        </p:spPr>
        <p:txBody>
          <a:bodyPr wrap="square" lIns="0" tIns="27432" rIns="0" bIns="27432" anchor="t">
            <a:spAutoFit/>
          </a:bodyPr>
          <a:lstStyle/>
          <a:p>
            <a:pPr algn="ctr">
              <a:spcAft>
                <a:spcPts val="200"/>
              </a:spcAft>
            </a:pPr>
            <a:r>
              <a:rPr sz="800" b="0">
                <a:solidFill>
                  <a:srgbClr val="7F7F7F"/>
                </a:solidFill>
                <a:latin typeface="맑은 고딕"/>
                <a:ea typeface="맑은 고딕"/>
                <a:cs typeface="맑은 고딕"/>
              </a:rPr>
              <a:t>5%</a:t>
            </a:r>
          </a:p>
        </p:txBody>
      </p:sp>
      <p:sp>
        <p:nvSpPr>
          <p:cNvPr id="36" name="TextBox 35"/>
          <p:cNvSpPr txBox="1"/>
          <p:nvPr/>
        </p:nvSpPr>
        <p:spPr>
          <a:xfrm>
            <a:off x="6263640" y="176479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무손실 경로 (offload·전송·prefix 재사용)</a:t>
            </a:r>
          </a:p>
        </p:txBody>
      </p:sp>
      <p:sp>
        <p:nvSpPr>
          <p:cNvPr id="37" name="Oval 36"/>
          <p:cNvSpPr/>
          <p:nvPr/>
        </p:nvSpPr>
        <p:spPr>
          <a:xfrm>
            <a:off x="8357615" y="181051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40495" y="1764792"/>
            <a:ext cx="1097280" cy="182880"/>
          </a:xfrm>
          <a:prstGeom prst="rect">
            <a:avLst/>
          </a:prstGeom>
          <a:noFill/>
        </p:spPr>
        <p:txBody>
          <a:bodyPr wrap="square" lIns="0" tIns="27432" rIns="0" bIns="27432" anchor="ctr">
            <a:spAutoFit/>
          </a:bodyPr>
          <a:lstStyle/>
          <a:p>
            <a:pPr algn="l">
              <a:spcAft>
                <a:spcPts val="200"/>
              </a:spcAft>
            </a:pPr>
            <a:r>
              <a:rPr sz="800" b="1">
                <a:solidFill>
                  <a:srgbClr val="7F7F7F"/>
                </a:solidFill>
                <a:latin typeface="맑은 고딕"/>
                <a:ea typeface="맑은 고딕"/>
                <a:cs typeface="맑은 고딕"/>
              </a:rPr>
              <a:t>0% (bit-exact)</a:t>
            </a:r>
          </a:p>
        </p:txBody>
      </p:sp>
      <p:sp>
        <p:nvSpPr>
          <p:cNvPr id="39" name="TextBox 38"/>
          <p:cNvSpPr txBox="1"/>
          <p:nvPr/>
        </p:nvSpPr>
        <p:spPr>
          <a:xfrm>
            <a:off x="6263640" y="194767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소유자 허용 한도 (2026-10-09)</a:t>
            </a:r>
          </a:p>
        </p:txBody>
      </p:sp>
      <p:sp>
        <p:nvSpPr>
          <p:cNvPr id="40" name="Oval 39"/>
          <p:cNvSpPr/>
          <p:nvPr/>
        </p:nvSpPr>
        <p:spPr>
          <a:xfrm>
            <a:off x="9070847" y="1993392"/>
            <a:ext cx="109728" cy="10972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253727" y="1947672"/>
            <a:ext cx="1097280" cy="182880"/>
          </a:xfrm>
          <a:prstGeom prst="rect">
            <a:avLst/>
          </a:prstGeom>
          <a:noFill/>
        </p:spPr>
        <p:txBody>
          <a:bodyPr wrap="square" lIns="0" tIns="27432" rIns="0" bIns="27432" anchor="ctr">
            <a:spAutoFit/>
          </a:bodyPr>
          <a:lstStyle/>
          <a:p>
            <a:pPr algn="l">
              <a:spcAft>
                <a:spcPts val="200"/>
              </a:spcAft>
            </a:pPr>
            <a:r>
              <a:rPr sz="800" b="1">
                <a:solidFill>
                  <a:srgbClr val="7F7F7F"/>
                </a:solidFill>
                <a:latin typeface="맑은 고딕"/>
                <a:ea typeface="맑은 고딕"/>
                <a:cs typeface="맑은 고딕"/>
              </a:rPr>
              <a:t>1%</a:t>
            </a:r>
          </a:p>
        </p:txBody>
      </p:sp>
      <p:sp>
        <p:nvSpPr>
          <p:cNvPr id="42" name="TextBox 41"/>
          <p:cNvSpPr txBox="1"/>
          <p:nvPr/>
        </p:nvSpPr>
        <p:spPr>
          <a:xfrm>
            <a:off x="6263640" y="213055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DP3 C2 (실측 매핑)</a:t>
            </a:r>
          </a:p>
        </p:txBody>
      </p:sp>
      <p:sp>
        <p:nvSpPr>
          <p:cNvPr id="43" name="Oval 42"/>
          <p:cNvSpPr/>
          <p:nvPr/>
        </p:nvSpPr>
        <p:spPr>
          <a:xfrm>
            <a:off x="8357615" y="2176272"/>
            <a:ext cx="109728" cy="10972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540495" y="2130552"/>
            <a:ext cx="1097280" cy="182880"/>
          </a:xfrm>
          <a:prstGeom prst="rect">
            <a:avLst/>
          </a:prstGeom>
          <a:noFill/>
        </p:spPr>
        <p:txBody>
          <a:bodyPr wrap="square" lIns="0" tIns="27432" rIns="0" bIns="27432" anchor="ctr">
            <a:spAutoFit/>
          </a:bodyPr>
          <a:lstStyle/>
          <a:p>
            <a:pPr algn="l">
              <a:spcAft>
                <a:spcPts val="200"/>
              </a:spcAft>
            </a:pPr>
            <a:r>
              <a:rPr sz="800" b="1">
                <a:solidFill>
                  <a:srgbClr val="548235"/>
                </a:solidFill>
                <a:latin typeface="맑은 고딕"/>
                <a:ea typeface="맑은 고딕"/>
                <a:cs typeface="맑은 고딕"/>
              </a:rPr>
              <a:t>-1.99% (개선)</a:t>
            </a:r>
          </a:p>
        </p:txBody>
      </p:sp>
      <p:sp>
        <p:nvSpPr>
          <p:cNvPr id="45" name="TextBox 44"/>
          <p:cNvSpPr txBox="1"/>
          <p:nvPr/>
        </p:nvSpPr>
        <p:spPr>
          <a:xfrm>
            <a:off x="6263640" y="2313432"/>
            <a:ext cx="2103120" cy="182880"/>
          </a:xfrm>
          <a:prstGeom prst="rect">
            <a:avLst/>
          </a:prstGeom>
          <a:noFill/>
        </p:spPr>
        <p:txBody>
          <a:bodyPr wrap="square" lIns="18288" tIns="27432" rIns="18288" bIns="27432" anchor="ctr">
            <a:spAutoFit/>
          </a:bodyPr>
          <a:lstStyle/>
          <a:p>
            <a:pPr algn="r">
              <a:spcAft>
                <a:spcPts val="200"/>
              </a:spcAft>
            </a:pPr>
            <a:r>
              <a:rPr sz="800" b="0">
                <a:solidFill>
                  <a:srgbClr val="404040"/>
                </a:solidFill>
                <a:latin typeface="맑은 고딕"/>
                <a:ea typeface="맑은 고딕"/>
                <a:cs typeface="맑은 고딕"/>
              </a:rPr>
              <a:t>내부 DP3 C1 (손실 압축 설정)</a:t>
            </a:r>
          </a:p>
        </p:txBody>
      </p:sp>
      <p:sp>
        <p:nvSpPr>
          <p:cNvPr id="46" name="Rectangle 45"/>
          <p:cNvSpPr/>
          <p:nvPr/>
        </p:nvSpPr>
        <p:spPr>
          <a:xfrm>
            <a:off x="11978640" y="2359152"/>
            <a:ext cx="45720" cy="109728"/>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1987784" y="2313432"/>
            <a:ext cx="182880" cy="182880"/>
          </a:xfrm>
          <a:prstGeom prst="rect">
            <a:avLst/>
          </a:prstGeom>
          <a:noFill/>
        </p:spPr>
        <p:txBody>
          <a:bodyPr wrap="square" lIns="0" tIns="27432" rIns="0" bIns="27432" anchor="ctr">
            <a:spAutoFit/>
          </a:bodyPr>
          <a:lstStyle/>
          <a:p>
            <a:pPr algn="l">
              <a:spcAft>
                <a:spcPts val="200"/>
              </a:spcAft>
            </a:pPr>
            <a:r>
              <a:rPr sz="800" b="0">
                <a:solidFill>
                  <a:srgbClr val="548235"/>
                </a:solidFill>
                <a:latin typeface="맑은 고딕"/>
                <a:ea typeface="맑은 고딕"/>
                <a:cs typeface="맑은 고딕"/>
              </a:rPr>
              <a:t>▶</a:t>
            </a:r>
          </a:p>
        </p:txBody>
      </p:sp>
      <p:sp>
        <p:nvSpPr>
          <p:cNvPr id="48" name="TextBox 47"/>
          <p:cNvSpPr txBox="1"/>
          <p:nvPr/>
        </p:nvSpPr>
        <p:spPr>
          <a:xfrm>
            <a:off x="10835640" y="2313432"/>
            <a:ext cx="1097280" cy="182880"/>
          </a:xfrm>
          <a:prstGeom prst="rect">
            <a:avLst/>
          </a:prstGeom>
          <a:noFill/>
        </p:spPr>
        <p:txBody>
          <a:bodyPr wrap="square" lIns="0" tIns="27432" rIns="0" bIns="27432" anchor="ctr">
            <a:spAutoFit/>
          </a:bodyPr>
          <a:lstStyle/>
          <a:p>
            <a:pPr algn="r">
              <a:spcAft>
                <a:spcPts val="200"/>
              </a:spcAft>
            </a:pPr>
            <a:r>
              <a:rPr sz="800" b="1">
                <a:solidFill>
                  <a:srgbClr val="548235"/>
                </a:solidFill>
                <a:latin typeface="맑은 고딕"/>
                <a:ea typeface="맑은 고딕"/>
                <a:cs typeface="맑은 고딕"/>
              </a:rPr>
              <a:t>16.98%</a:t>
            </a:r>
          </a:p>
        </p:txBody>
      </p:sp>
      <p:sp>
        <p:nvSpPr>
          <p:cNvPr id="49" name="Rectangle 48"/>
          <p:cNvSpPr/>
          <p:nvPr/>
        </p:nvSpPr>
        <p:spPr>
          <a:xfrm>
            <a:off x="6263640" y="2816352"/>
            <a:ext cx="109728" cy="9144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00800" y="277063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내부 시뮬레이션 [B+C]</a:t>
            </a:r>
          </a:p>
        </p:txBody>
      </p:sp>
      <p:sp>
        <p:nvSpPr>
          <p:cNvPr id="51" name="Rectangle 50"/>
          <p:cNvSpPr/>
          <p:nvPr/>
        </p:nvSpPr>
        <p:spPr>
          <a:xfrm>
            <a:off x="7818119" y="2816352"/>
            <a:ext cx="109728" cy="91440"/>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955279" y="2770632"/>
            <a:ext cx="1645920" cy="182880"/>
          </a:xfrm>
          <a:prstGeom prst="rect">
            <a:avLst/>
          </a:prstGeom>
          <a:noFill/>
        </p:spPr>
        <p:txBody>
          <a:bodyPr wrap="square" lIns="0" tIns="27432" rIns="0" bIns="27432" anchor="t">
            <a:spAutoFit/>
          </a:bodyPr>
          <a:lstStyle/>
          <a:p>
            <a:pPr algn="l">
              <a:spcAft>
                <a:spcPts val="200"/>
              </a:spcAft>
            </a:pPr>
            <a:r>
              <a:rPr sz="750" b="0">
                <a:solidFill>
                  <a:srgbClr val="595959"/>
                </a:solidFill>
                <a:latin typeface="맑은 고딕"/>
                <a:ea typeface="맑은 고딕"/>
                <a:cs typeface="맑은 고딕"/>
              </a:rPr>
              <a:t>환산·원리</a:t>
            </a:r>
          </a:p>
        </p:txBody>
      </p:sp>
      <p:graphicFrame>
        <p:nvGraphicFramePr>
          <p:cNvPr id="53" name="Table 52"/>
          <p:cNvGraphicFramePr>
            <a:graphicFrameLocks noGrp="1"/>
          </p:cNvGraphicFramePr>
          <p:nvPr/>
        </p:nvGraphicFramePr>
        <p:xfrm>
          <a:off x="6263640" y="3017520"/>
          <a:ext cx="5715000" cy="2066544"/>
        </p:xfrm>
        <a:graphic>
          <a:graphicData uri="http://schemas.openxmlformats.org/drawingml/2006/table">
            <a:tbl>
              <a:tblPr>
                <a:tableStyleId>{2D5ABB26-0587-4C30-8999-92F81FD0307C}</a:tableStyleId>
              </a:tblPr>
              <a:tblGrid>
                <a:gridCol w="13258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237744">
                <a:tc>
                  <a:txBody>
                    <a:bodyPr/>
                    <a:lstStyle/>
                    <a:p>
                      <a:pPr algn="ctr">
                        <a:spcAft>
                          <a:spcPts val="100"/>
                        </a:spcAft>
                      </a:pPr>
                      <a:r>
                        <a:rPr sz="750" b="0">
                          <a:solidFill>
                            <a:srgbClr val="000000"/>
                          </a:solidFill>
                          <a:latin typeface="맑은 고딕"/>
                          <a:ea typeface="맑은 고딕"/>
                          <a:cs typeface="맑은 고딕"/>
                        </a:rPr>
                        <a:t>문헌</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지표·조건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값</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750" b="1">
                          <a:solidFill>
                            <a:srgbClr val="000000"/>
                          </a:solidFill>
                          <a:latin typeface="맑은 고딕"/>
                          <a:ea typeface="맑은 고딕"/>
                          <a:cs typeface="맑은 고딕"/>
                        </a:rPr>
                        <a:t>별 반영</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65760">
                <a:tc>
                  <a:txBody>
                    <a:bodyPr/>
                    <a:lstStyle/>
                    <a:p>
                      <a:pPr algn="ctr">
                        <a:spcAft>
                          <a:spcPts val="100"/>
                        </a:spcAft>
                      </a:pPr>
                      <a:r>
                        <a:rPr sz="750" b="0">
                          <a:solidFill>
                            <a:srgbClr val="000000"/>
                          </a:solidFill>
                          <a:latin typeface="맑은 고딕"/>
                          <a:ea typeface="맑은 고딕"/>
                          <a:cs typeface="맑은 고딕"/>
                        </a:rPr>
                        <a:t>KVzip
arXiv 2505.23416</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KV 3~4x 축소, QA·검색·추론·코드 이해에서 "negligible performance loss"</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정성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가능성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65760">
                <a:tc>
                  <a:txBody>
                    <a:bodyPr/>
                    <a:lstStyle/>
                    <a:p>
                      <a:pPr algn="ctr">
                        <a:spcAft>
                          <a:spcPts val="100"/>
                        </a:spcAft>
                      </a:pPr>
                      <a:r>
                        <a:rPr sz="750" b="0">
                          <a:solidFill>
                            <a:srgbClr val="000000"/>
                          </a:solidFill>
                          <a:latin typeface="맑은 고딕"/>
                          <a:ea typeface="맑은 고딕"/>
                          <a:cs typeface="맑은 고딕"/>
                        </a:rPr>
                        <a:t>KVQuant
arXiv 2401.18079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3-bit KV 양자화, perplexity 저하 &lt; 0.1 (Wikitext-2, C4)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ppl
&lt; 0.1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F1 아님(참고)</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365760">
                <a:tc>
                  <a:txBody>
                    <a:bodyPr/>
                    <a:lstStyle/>
                    <a:p>
                      <a:pPr algn="ctr">
                        <a:spcAft>
                          <a:spcPts val="100"/>
                        </a:spcAft>
                      </a:pPr>
                      <a:r>
                        <a:rPr sz="750" b="0">
                          <a:solidFill>
                            <a:srgbClr val="000000"/>
                          </a:solidFill>
                          <a:latin typeface="맑은 고딕"/>
                          <a:ea typeface="맑은 고딕"/>
                          <a:cs typeface="맑은 고딕"/>
                        </a:rPr>
                        <a:t>KIVI
arXiv 2402.02750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2-bit KV 양자화, 품질 "거의 동일" (수치는 본문 확인 필요)</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정성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참고</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365760">
                <a:tc>
                  <a:txBody>
                    <a:bodyPr/>
                    <a:lstStyle/>
                    <a:p>
                      <a:pPr algn="ctr">
                        <a:spcAft>
                          <a:spcPts val="100"/>
                        </a:spcAft>
                      </a:pPr>
                      <a:r>
                        <a:rPr sz="750" b="0">
                          <a:solidFill>
                            <a:srgbClr val="000000"/>
                          </a:solidFill>
                          <a:latin typeface="맑은 고딕"/>
                          <a:ea typeface="맑은 고딕"/>
                          <a:cs typeface="맑은 고딕"/>
                        </a:rPr>
                        <a:t>소유자 결정
(내부)</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압축 전 + full recompute 대비 F1 1% 이내(상대 비율) 허용 한도 확정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상한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365760">
                <a:tc>
                  <a:txBody>
                    <a:bodyPr/>
                    <a:lstStyle/>
                    <a:p>
                      <a:pPr algn="ctr">
                        <a:spcAft>
                          <a:spcPts val="100"/>
                        </a:spcAft>
                      </a:pPr>
                      <a:r>
                        <a:rPr sz="750" b="0">
                          <a:solidFill>
                            <a:srgbClr val="000000"/>
                          </a:solidFill>
                          <a:latin typeface="맑은 고딕"/>
                          <a:ea typeface="맑은 고딕"/>
                          <a:cs typeface="맑은 고딕"/>
                        </a:rPr>
                        <a:t>부재</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KV 압축의 F1 하락에 대한 일반 임계 문헌 없음 → 3%는 한도의 3배(정책)</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750" b="0">
                          <a:solidFill>
                            <a:srgbClr val="000000"/>
                          </a:solidFill>
                          <a:latin typeface="맑은 고딕"/>
                          <a:ea typeface="맑은 고딕"/>
                          <a:cs typeface="맑은 고딕"/>
                        </a:rPr>
                        <a:t>★ 하한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54" name="Right Arrow 53"/>
          <p:cNvSpPr/>
          <p:nvPr/>
        </p:nvSpPr>
        <p:spPr>
          <a:xfrm>
            <a:off x="283464" y="5888736"/>
            <a:ext cx="365760"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94944" y="5852160"/>
            <a:ext cx="11247120" cy="310896"/>
          </a:xfrm>
          <a:prstGeom prst="rect">
            <a:avLst/>
          </a:prstGeom>
          <a:noFill/>
        </p:spPr>
        <p:txBody>
          <a:bodyPr wrap="square" lIns="45720" tIns="27432" rIns="45720" bIns="27432" anchor="ctr">
            <a:spAutoFit/>
          </a:bodyPr>
          <a:lstStyle/>
          <a:p>
            <a:pPr algn="l">
              <a:spcAft>
                <a:spcPts val="200"/>
              </a:spcAft>
            </a:pPr>
            <a:r>
              <a:rPr sz="1150" b="1">
                <a:solidFill>
                  <a:srgbClr val="0066FF"/>
                </a:solidFill>
                <a:latin typeface="맑은 고딕"/>
                <a:ea typeface="맑은 고딕"/>
                <a:cs typeface="맑은 고딕"/>
              </a:rPr>
              <a:t>★★★ 1%는 소유자 허용 한도(상한), ★ 3%는 그 3배. 무손실 경로(offload·전송·prefix 재사용)는 이론 상한 0%다.</a:t>
            </a:r>
          </a:p>
        </p:txBody>
      </p:sp>
      <p:sp>
        <p:nvSpPr>
          <p:cNvPr id="56" name="TextBox 55"/>
          <p:cNvSpPr txBox="1"/>
          <p:nvPr/>
        </p:nvSpPr>
        <p:spPr>
          <a:xfrm>
            <a:off x="246888" y="6126480"/>
            <a:ext cx="11704320" cy="228600"/>
          </a:xfrm>
          <a:prstGeom prst="rect">
            <a:avLst/>
          </a:prstGeom>
          <a:noFill/>
        </p:spPr>
        <p:txBody>
          <a:bodyPr wrap="square" lIns="45720" tIns="27432" rIns="45720" bIns="27432" anchor="t">
            <a:spAutoFit/>
          </a:bodyPr>
          <a:lstStyle/>
          <a:p>
            <a:pPr algn="l">
              <a:spcAft>
                <a:spcPts val="0"/>
              </a:spcAft>
            </a:pPr>
            <a:r>
              <a:rPr sz="800" b="1">
                <a:solidFill>
                  <a:srgbClr val="C00000"/>
                </a:solidFill>
                <a:latin typeface="맑은 고딕"/>
                <a:ea typeface="맑은 고딕"/>
                <a:cs typeface="맑은 고딕"/>
              </a:rPr>
              <a:t>주의  </a:t>
            </a:r>
            <a:r>
              <a:rPr sz="800" b="0">
                <a:solidFill>
                  <a:srgbClr val="404040"/>
                </a:solidFill>
                <a:latin typeface="맑은 고딕"/>
                <a:ea typeface="맑은 고딕"/>
                <a:cs typeface="맑은 고딕"/>
              </a:rPr>
              <a:t>F1 하락의 일반 임계 문헌이 없고, 문헌은 perplexity·정성 표현이라 F1로 직접 환산 불가 → 소유자 한도 + 정책. 현재 DP3 C1(손실 압축) F1 하락 16.98%는 3% 초과로 미충족. 3% 경계는 task별 run-to-run F1 변동으로 확인 필요.</a:t>
            </a:r>
          </a:p>
        </p:txBody>
      </p:sp>
      <p:sp>
        <p:nvSpPr>
          <p:cNvPr id="57" name="TextBox 56"/>
          <p:cNvSpPr txBox="1"/>
          <p:nvPr/>
        </p:nvSpPr>
        <p:spPr>
          <a:xfrm>
            <a:off x="274320" y="6382512"/>
            <a:ext cx="11612880" cy="274320"/>
          </a:xfrm>
          <a:prstGeom prst="rect">
            <a:avLst/>
          </a:prstGeom>
          <a:noFill/>
        </p:spPr>
        <p:txBody>
          <a:bodyPr wrap="square" lIns="45720" tIns="27432" rIns="45720" bIns="27432" anchor="t">
            <a:spAutoFit/>
          </a:bodyPr>
          <a:lstStyle/>
          <a:p>
            <a:pPr algn="l">
              <a:spcAft>
                <a:spcPts val="0"/>
              </a:spcAft>
            </a:pPr>
            <a:r>
              <a:rPr sz="750" b="0">
                <a:solidFill>
                  <a:srgbClr val="7F7F7F"/>
                </a:solidFill>
                <a:latin typeface="맑은 고딕"/>
                <a:ea typeface="맑은 고딕"/>
                <a:cs typeface="맑은 고딕"/>
              </a:rPr>
              <a:t>출처: arXiv 2505.23416(KVzip), 2401.18079(KVQuant), 2402.02750(KIVI). 내부 값: doc-mk/Evaluation/unified_stars_check.md, 소유자 결정: doc-mk/Requirements/qa-status.md §4</a:t>
            </a:r>
          </a:p>
        </p:txBody>
      </p:sp>
      <p:sp>
        <p:nvSpPr>
          <p:cNvPr id="58" name="TextBox 57"/>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6</a:t>
            </a:r>
          </a:p>
        </p:txBody>
      </p:sp>
      <p:sp>
        <p:nvSpPr>
          <p:cNvPr id="59" name="실행 단추: 뒤로 또는 이전 58">
            <a:hlinkClick r:id="rId3" action="ppaction://hlinksldjump" highlightClick="1"/>
          </p:cNvPr>
          <p:cNvSpPr/>
          <p:nvPr/>
        </p:nvSpPr>
        <p:spPr>
          <a:xfrm>
            <a:off x="7132320" y="220980"/>
            <a:ext cx="243840" cy="27371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537446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800" b="1" dirty="0">
                <a:solidFill>
                  <a:prstClr val="black"/>
                </a:solidFill>
                <a:latin typeface="맑은 고딕" panose="020F0502020204030204"/>
                <a:ea typeface="맑은 고딕" panose="020B0503020000020004" pitchFamily="50" charset="-127"/>
              </a:rPr>
              <a:t>설계</a:t>
            </a:r>
            <a:r>
              <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Appendix</a:t>
            </a:r>
            <a:endPar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12008173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배경</a:t>
            </a:r>
          </a:p>
        </p:txBody>
      </p:sp>
      <p:sp>
        <p:nvSpPr>
          <p:cNvPr id="94" name="직사각형 93">
            <a:extLst>
              <a:ext uri="{FF2B5EF4-FFF2-40B4-BE49-F238E27FC236}">
                <a16:creationId xmlns:a16="http://schemas.microsoft.com/office/drawing/2014/main" id="{E3784E02-153A-49F1-A2CD-CE4252048DE7}"/>
              </a:ext>
            </a:extLst>
          </p:cNvPr>
          <p:cNvSpPr/>
          <p:nvPr/>
        </p:nvSpPr>
        <p:spPr>
          <a:xfrm>
            <a:off x="6306426" y="2054917"/>
            <a:ext cx="5581827" cy="3302391"/>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044361" y="1909388"/>
            <a:ext cx="4043238" cy="298539"/>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메모리 자원 및 데이터 특성 기반 데이터 </a:t>
            </a:r>
            <a:r>
              <a:rPr lang="ko-KR" altLang="en-US" sz="1200" b="1" dirty="0" err="1"/>
              <a:t>이동</a:t>
            </a:r>
            <a:r>
              <a:rPr lang="ko-KR" altLang="en-US" sz="1200" b="1" dirty="0" err="1">
                <a:latin typeface="맑은 고딕" panose="020B0503020000020004" pitchFamily="50" charset="-127"/>
                <a:ea typeface="맑은 고딕" panose="020B0503020000020004" pitchFamily="50" charset="-127"/>
              </a:rPr>
              <a:t>〮배치</a:t>
            </a:r>
            <a:endParaRPr lang="ko-KR" altLang="en-US" sz="1200" b="1" dirty="0"/>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378605" y="1884594"/>
            <a:ext cx="5507847" cy="3472713"/>
            <a:chOff x="211958" y="4887480"/>
            <a:chExt cx="6173883" cy="3742196"/>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5074719"/>
              <a:ext cx="6173883" cy="3554957"/>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850622" y="4887480"/>
              <a:ext cx="4896555"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이기종 메모리 환경의 데이터 </a:t>
              </a:r>
              <a:r>
                <a:rPr lang="en-US" altLang="ko-KR" sz="1200" b="1" dirty="0"/>
                <a:t>Migration </a:t>
              </a:r>
              <a:endParaRPr lang="ko-KR" altLang="en-US" sz="1200" b="1" dirty="0"/>
            </a:p>
          </p:txBody>
        </p:sp>
      </p:grpSp>
      <p:cxnSp>
        <p:nvCxnSpPr>
          <p:cNvPr id="25" name="직선 연결선 213">
            <a:extLst>
              <a:ext uri="{FF2B5EF4-FFF2-40B4-BE49-F238E27FC236}">
                <a16:creationId xmlns:a16="http://schemas.microsoft.com/office/drawing/2014/main" id="{D347CC1F-C875-48EF-95E9-5A6BFE49A593}"/>
              </a:ext>
            </a:extLst>
          </p:cNvPr>
          <p:cNvCxnSpPr>
            <a:stCxn id="69" idx="3"/>
            <a:endCxn id="35" idx="1"/>
          </p:cNvCxnSpPr>
          <p:nvPr/>
        </p:nvCxnSpPr>
        <p:spPr>
          <a:xfrm flipV="1">
            <a:off x="4093107" y="3683588"/>
            <a:ext cx="509288" cy="393619"/>
          </a:xfrm>
          <a:prstGeom prst="bentConnector3">
            <a:avLst>
              <a:gd name="adj1" fmla="val 50000"/>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29" name="그룹 28">
            <a:extLst>
              <a:ext uri="{FF2B5EF4-FFF2-40B4-BE49-F238E27FC236}">
                <a16:creationId xmlns:a16="http://schemas.microsoft.com/office/drawing/2014/main" id="{BA30552A-C82E-49ED-A81B-E6B60980A53D}"/>
              </a:ext>
            </a:extLst>
          </p:cNvPr>
          <p:cNvGrpSpPr/>
          <p:nvPr/>
        </p:nvGrpSpPr>
        <p:grpSpPr>
          <a:xfrm>
            <a:off x="2271184" y="2783566"/>
            <a:ext cx="3147137" cy="1816756"/>
            <a:chOff x="1384719" y="2126980"/>
            <a:chExt cx="3072915" cy="2081864"/>
          </a:xfrm>
        </p:grpSpPr>
        <p:sp>
          <p:nvSpPr>
            <p:cNvPr id="69" name="직사각형 68">
              <a:extLst>
                <a:ext uri="{FF2B5EF4-FFF2-40B4-BE49-F238E27FC236}">
                  <a16:creationId xmlns:a16="http://schemas.microsoft.com/office/drawing/2014/main" id="{0BCCC85D-1FBD-4C83-B4AF-2792CFF0B2AB}"/>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70" name="모서리가 둥근 직사각형 191">
              <a:extLst>
                <a:ext uri="{FF2B5EF4-FFF2-40B4-BE49-F238E27FC236}">
                  <a16:creationId xmlns:a16="http://schemas.microsoft.com/office/drawing/2014/main" id="{795925F7-5E48-4631-95C6-073E2EFCFB23}"/>
                </a:ext>
              </a:extLst>
            </p:cNvPr>
            <p:cNvSpPr/>
            <p:nvPr/>
          </p:nvSpPr>
          <p:spPr>
            <a:xfrm>
              <a:off x="2397566" y="3953185"/>
              <a:ext cx="804331"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SSD-PIM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71" name="모서리가 둥근 직사각형 192">
              <a:extLst>
                <a:ext uri="{FF2B5EF4-FFF2-40B4-BE49-F238E27FC236}">
                  <a16:creationId xmlns:a16="http://schemas.microsoft.com/office/drawing/2014/main" id="{36EA04E4-DB36-45E4-A5F7-44FA2EF7DFD9}"/>
                </a:ext>
              </a:extLst>
            </p:cNvPr>
            <p:cNvSpPr/>
            <p:nvPr/>
          </p:nvSpPr>
          <p:spPr>
            <a:xfrm>
              <a:off x="3664432" y="3659517"/>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72" name="직선 연결선 9">
              <a:extLst>
                <a:ext uri="{FF2B5EF4-FFF2-40B4-BE49-F238E27FC236}">
                  <a16:creationId xmlns:a16="http://schemas.microsoft.com/office/drawing/2014/main" id="{0C2B1A7B-490D-4C9D-B8ED-90DA508F84BF}"/>
                </a:ext>
              </a:extLst>
            </p:cNvPr>
            <p:cNvCxnSpPr>
              <a:stCxn id="76" idx="2"/>
              <a:endCxn id="69"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3" name="직선 연결선 72">
              <a:extLst>
                <a:ext uri="{FF2B5EF4-FFF2-40B4-BE49-F238E27FC236}">
                  <a16:creationId xmlns:a16="http://schemas.microsoft.com/office/drawing/2014/main" id="{C2183A2F-93CD-433A-ACCD-0495C8DC704A}"/>
                </a:ext>
              </a:extLst>
            </p:cNvPr>
            <p:cNvCxnSpPr>
              <a:stCxn id="69" idx="2"/>
              <a:endCxn id="70" idx="0"/>
            </p:cNvCxnSpPr>
            <p:nvPr/>
          </p:nvCxnSpPr>
          <p:spPr>
            <a:xfrm flipH="1">
              <a:off x="2799732"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74" name="그룹 73">
              <a:extLst>
                <a:ext uri="{FF2B5EF4-FFF2-40B4-BE49-F238E27FC236}">
                  <a16:creationId xmlns:a16="http://schemas.microsoft.com/office/drawing/2014/main" id="{EEF64109-7928-450D-9D6B-83692369E70C}"/>
                </a:ext>
              </a:extLst>
            </p:cNvPr>
            <p:cNvGrpSpPr/>
            <p:nvPr/>
          </p:nvGrpSpPr>
          <p:grpSpPr>
            <a:xfrm>
              <a:off x="2323241" y="2126980"/>
              <a:ext cx="959778" cy="1212050"/>
              <a:chOff x="2993906" y="2126755"/>
              <a:chExt cx="959778" cy="1212050"/>
            </a:xfrm>
          </p:grpSpPr>
          <p:sp>
            <p:nvSpPr>
              <p:cNvPr id="76" name="직사각형 75">
                <a:extLst>
                  <a:ext uri="{FF2B5EF4-FFF2-40B4-BE49-F238E27FC236}">
                    <a16:creationId xmlns:a16="http://schemas.microsoft.com/office/drawing/2014/main" id="{E2D72289-DFF2-4325-8858-FE9248524064}"/>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77" name="모서리가 둥근 직사각형 203">
                <a:extLst>
                  <a:ext uri="{FF2B5EF4-FFF2-40B4-BE49-F238E27FC236}">
                    <a16:creationId xmlns:a16="http://schemas.microsoft.com/office/drawing/2014/main" id="{EB81CB47-0F9C-4438-BAE0-E5E6FD1E3466}"/>
                  </a:ext>
                </a:extLst>
              </p:cNvPr>
              <p:cNvSpPr/>
              <p:nvPr/>
            </p:nvSpPr>
            <p:spPr>
              <a:xfrm>
                <a:off x="2993908" y="2540807"/>
                <a:ext cx="959776"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78" name="직선 연결선 77">
                <a:extLst>
                  <a:ext uri="{FF2B5EF4-FFF2-40B4-BE49-F238E27FC236}">
                    <a16:creationId xmlns:a16="http://schemas.microsoft.com/office/drawing/2014/main" id="{ADA754F7-D977-4FA1-BA67-909ACD5D2544}"/>
                  </a:ext>
                </a:extLst>
              </p:cNvPr>
              <p:cNvCxnSpPr>
                <a:stCxn id="77" idx="2"/>
                <a:endCxn id="76"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9" name="모서리가 둥근 직사각형 241">
                <a:extLst>
                  <a:ext uri="{FF2B5EF4-FFF2-40B4-BE49-F238E27FC236}">
                    <a16:creationId xmlns:a16="http://schemas.microsoft.com/office/drawing/2014/main" id="{98B2E97F-F017-423C-9323-1BC776B64476}"/>
                  </a:ext>
                </a:extLst>
              </p:cNvPr>
              <p:cNvSpPr/>
              <p:nvPr/>
            </p:nvSpPr>
            <p:spPr>
              <a:xfrm>
                <a:off x="2993906" y="2126755"/>
                <a:ext cx="959774" cy="232416"/>
              </a:xfrm>
              <a:prstGeom prst="roundRect">
                <a:avLst/>
              </a:prstGeom>
              <a:solidFill>
                <a:schemeClr val="accent2">
                  <a:lumMod val="20000"/>
                  <a:lumOff val="80000"/>
                </a:schemeClr>
              </a:solidFill>
              <a:ln>
                <a:prstDash val="solid"/>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HBF</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sp>
          <p:nvSpPr>
            <p:cNvPr id="75" name="모서리가 둥근 직사각형 240">
              <a:extLst>
                <a:ext uri="{FF2B5EF4-FFF2-40B4-BE49-F238E27FC236}">
                  <a16:creationId xmlns:a16="http://schemas.microsoft.com/office/drawing/2014/main" id="{449DBC07-FA70-4448-8EEA-509B451A505C}"/>
                </a:ext>
              </a:extLst>
            </p:cNvPr>
            <p:cNvSpPr/>
            <p:nvPr/>
          </p:nvSpPr>
          <p:spPr>
            <a:xfrm>
              <a:off x="1384719" y="3481563"/>
              <a:ext cx="842359"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CXL-PNM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cxnSp>
        <p:nvCxnSpPr>
          <p:cNvPr id="30" name="직선 연결선 29">
            <a:extLst>
              <a:ext uri="{FF2B5EF4-FFF2-40B4-BE49-F238E27FC236}">
                <a16:creationId xmlns:a16="http://schemas.microsoft.com/office/drawing/2014/main" id="{F0EDFE42-9E3C-4B44-9C17-E441AA365B76}"/>
              </a:ext>
            </a:extLst>
          </p:cNvPr>
          <p:cNvCxnSpPr>
            <a:stCxn id="75" idx="3"/>
            <a:endCxn id="69" idx="1"/>
          </p:cNvCxnSpPr>
          <p:nvPr/>
        </p:nvCxnSpPr>
        <p:spPr>
          <a:xfrm>
            <a:off x="3133888" y="4077207"/>
            <a:ext cx="220710"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직선 연결선 30">
            <a:extLst>
              <a:ext uri="{FF2B5EF4-FFF2-40B4-BE49-F238E27FC236}">
                <a16:creationId xmlns:a16="http://schemas.microsoft.com/office/drawing/2014/main" id="{F43BB615-F0A3-42DF-BF2D-4203D6E516AB}"/>
              </a:ext>
            </a:extLst>
          </p:cNvPr>
          <p:cNvCxnSpPr>
            <a:stCxn id="79" idx="2"/>
            <a:endCxn id="77" idx="0"/>
          </p:cNvCxnSpPr>
          <p:nvPr/>
        </p:nvCxnSpPr>
        <p:spPr>
          <a:xfrm>
            <a:off x="3723853" y="2986387"/>
            <a:ext cx="3" cy="15850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32" name="순서도: 자기 디스크 31">
            <a:extLst>
              <a:ext uri="{FF2B5EF4-FFF2-40B4-BE49-F238E27FC236}">
                <a16:creationId xmlns:a16="http://schemas.microsoft.com/office/drawing/2014/main" id="{B60E5847-1BBF-4D09-99AD-D48C86FB1CF9}"/>
              </a:ext>
            </a:extLst>
          </p:cNvPr>
          <p:cNvSpPr/>
          <p:nvPr/>
        </p:nvSpPr>
        <p:spPr>
          <a:xfrm>
            <a:off x="2965391" y="3090314"/>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grpSp>
        <p:nvGrpSpPr>
          <p:cNvPr id="34" name="그룹 33">
            <a:extLst>
              <a:ext uri="{FF2B5EF4-FFF2-40B4-BE49-F238E27FC236}">
                <a16:creationId xmlns:a16="http://schemas.microsoft.com/office/drawing/2014/main" id="{62DC0CEE-2DA3-476E-BB62-B5D9C5BC61FF}"/>
              </a:ext>
            </a:extLst>
          </p:cNvPr>
          <p:cNvGrpSpPr/>
          <p:nvPr/>
        </p:nvGrpSpPr>
        <p:grpSpPr>
          <a:xfrm>
            <a:off x="465858" y="2680841"/>
            <a:ext cx="1712141" cy="1624482"/>
            <a:chOff x="429779" y="2706833"/>
            <a:chExt cx="1687120" cy="1817828"/>
          </a:xfrm>
        </p:grpSpPr>
        <p:grpSp>
          <p:nvGrpSpPr>
            <p:cNvPr id="41" name="그룹 40">
              <a:extLst>
                <a:ext uri="{FF2B5EF4-FFF2-40B4-BE49-F238E27FC236}">
                  <a16:creationId xmlns:a16="http://schemas.microsoft.com/office/drawing/2014/main" id="{8002BEDB-1EE8-41BE-ABEB-777AD6C722D2}"/>
                </a:ext>
              </a:extLst>
            </p:cNvPr>
            <p:cNvGrpSpPr/>
            <p:nvPr/>
          </p:nvGrpSpPr>
          <p:grpSpPr>
            <a:xfrm>
              <a:off x="489941" y="3237748"/>
              <a:ext cx="797013" cy="253916"/>
              <a:chOff x="647355" y="4269583"/>
              <a:chExt cx="797013" cy="253916"/>
            </a:xfrm>
          </p:grpSpPr>
          <p:sp>
            <p:nvSpPr>
              <p:cNvPr id="66" name="모서리가 둥근 직사각형 235">
                <a:extLst>
                  <a:ext uri="{FF2B5EF4-FFF2-40B4-BE49-F238E27FC236}">
                    <a16:creationId xmlns:a16="http://schemas.microsoft.com/office/drawing/2014/main" id="{4C782C8E-3001-47D0-99C3-6AAE9A7F158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68" name="TextBox 67">
                <a:extLst>
                  <a:ext uri="{FF2B5EF4-FFF2-40B4-BE49-F238E27FC236}">
                    <a16:creationId xmlns:a16="http://schemas.microsoft.com/office/drawing/2014/main" id="{5FF0386B-ADF5-4388-8C24-8496BECCB2EE}"/>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42" name="직사각형 41">
              <a:extLst>
                <a:ext uri="{FF2B5EF4-FFF2-40B4-BE49-F238E27FC236}">
                  <a16:creationId xmlns:a16="http://schemas.microsoft.com/office/drawing/2014/main" id="{CF20F0B5-AE89-4B8D-B7C8-D3C108BAA476}"/>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43" name="TextBox 42">
              <a:extLst>
                <a:ext uri="{FF2B5EF4-FFF2-40B4-BE49-F238E27FC236}">
                  <a16:creationId xmlns:a16="http://schemas.microsoft.com/office/drawing/2014/main" id="{3201E123-549E-4895-99B4-30620C55E96F}"/>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44" name="그룹 43">
              <a:extLst>
                <a:ext uri="{FF2B5EF4-FFF2-40B4-BE49-F238E27FC236}">
                  <a16:creationId xmlns:a16="http://schemas.microsoft.com/office/drawing/2014/main" id="{DF78B081-B943-4ED8-B9CD-FED3C62BE9F5}"/>
                </a:ext>
              </a:extLst>
            </p:cNvPr>
            <p:cNvGrpSpPr/>
            <p:nvPr/>
          </p:nvGrpSpPr>
          <p:grpSpPr>
            <a:xfrm>
              <a:off x="489941" y="2997325"/>
              <a:ext cx="797013" cy="253916"/>
              <a:chOff x="647355" y="4269583"/>
              <a:chExt cx="797013" cy="253916"/>
            </a:xfrm>
          </p:grpSpPr>
          <p:sp>
            <p:nvSpPr>
              <p:cNvPr id="58" name="모서리가 둥근 직사각형 233">
                <a:extLst>
                  <a:ext uri="{FF2B5EF4-FFF2-40B4-BE49-F238E27FC236}">
                    <a16:creationId xmlns:a16="http://schemas.microsoft.com/office/drawing/2014/main" id="{6564B833-0767-4003-B556-6651C191AC8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65" name="TextBox 64">
                <a:extLst>
                  <a:ext uri="{FF2B5EF4-FFF2-40B4-BE49-F238E27FC236}">
                    <a16:creationId xmlns:a16="http://schemas.microsoft.com/office/drawing/2014/main" id="{B62003E2-245E-4E9C-A43A-AE30F0229791}"/>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45" name="그룹 44">
              <a:extLst>
                <a:ext uri="{FF2B5EF4-FFF2-40B4-BE49-F238E27FC236}">
                  <a16:creationId xmlns:a16="http://schemas.microsoft.com/office/drawing/2014/main" id="{27F3112F-9B9E-445E-930B-6B75186B9392}"/>
                </a:ext>
              </a:extLst>
            </p:cNvPr>
            <p:cNvGrpSpPr/>
            <p:nvPr/>
          </p:nvGrpSpPr>
          <p:grpSpPr>
            <a:xfrm>
              <a:off x="489941" y="3479840"/>
              <a:ext cx="797013" cy="253916"/>
              <a:chOff x="647355" y="4269583"/>
              <a:chExt cx="797013" cy="253916"/>
            </a:xfrm>
          </p:grpSpPr>
          <p:sp>
            <p:nvSpPr>
              <p:cNvPr id="56" name="모서리가 둥근 직사각형 231">
                <a:extLst>
                  <a:ext uri="{FF2B5EF4-FFF2-40B4-BE49-F238E27FC236}">
                    <a16:creationId xmlns:a16="http://schemas.microsoft.com/office/drawing/2014/main" id="{09148CD6-AAEB-4D4E-B9DF-11C6B9B5184A}"/>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57" name="TextBox 56">
                <a:extLst>
                  <a:ext uri="{FF2B5EF4-FFF2-40B4-BE49-F238E27FC236}">
                    <a16:creationId xmlns:a16="http://schemas.microsoft.com/office/drawing/2014/main" id="{349C797C-B670-470C-86A2-5B6F5D1AB591}"/>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46" name="그룹 45">
              <a:extLst>
                <a:ext uri="{FF2B5EF4-FFF2-40B4-BE49-F238E27FC236}">
                  <a16:creationId xmlns:a16="http://schemas.microsoft.com/office/drawing/2014/main" id="{2D8081D2-C12F-4E84-925C-ABAF65276E86}"/>
                </a:ext>
              </a:extLst>
            </p:cNvPr>
            <p:cNvGrpSpPr/>
            <p:nvPr/>
          </p:nvGrpSpPr>
          <p:grpSpPr>
            <a:xfrm>
              <a:off x="489941" y="3734968"/>
              <a:ext cx="797013" cy="253916"/>
              <a:chOff x="647355" y="4269583"/>
              <a:chExt cx="797013" cy="253916"/>
            </a:xfrm>
          </p:grpSpPr>
          <p:sp>
            <p:nvSpPr>
              <p:cNvPr id="54" name="모서리가 둥근 직사각형 229">
                <a:extLst>
                  <a:ext uri="{FF2B5EF4-FFF2-40B4-BE49-F238E27FC236}">
                    <a16:creationId xmlns:a16="http://schemas.microsoft.com/office/drawing/2014/main" id="{03ACE2DC-F464-41E2-AB0E-7F88ACE0B35D}"/>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55" name="TextBox 54">
                <a:extLst>
                  <a:ext uri="{FF2B5EF4-FFF2-40B4-BE49-F238E27FC236}">
                    <a16:creationId xmlns:a16="http://schemas.microsoft.com/office/drawing/2014/main" id="{3FE25738-9BE5-49D7-B255-69FFBB67736B}"/>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47" name="그룹 46">
              <a:extLst>
                <a:ext uri="{FF2B5EF4-FFF2-40B4-BE49-F238E27FC236}">
                  <a16:creationId xmlns:a16="http://schemas.microsoft.com/office/drawing/2014/main" id="{745FEE51-29B9-433D-AB8B-07B26990813C}"/>
                </a:ext>
              </a:extLst>
            </p:cNvPr>
            <p:cNvGrpSpPr/>
            <p:nvPr/>
          </p:nvGrpSpPr>
          <p:grpSpPr>
            <a:xfrm>
              <a:off x="489941" y="3980247"/>
              <a:ext cx="797013" cy="253916"/>
              <a:chOff x="647355" y="4269583"/>
              <a:chExt cx="797013" cy="253916"/>
            </a:xfrm>
          </p:grpSpPr>
          <p:sp>
            <p:nvSpPr>
              <p:cNvPr id="52" name="모서리가 둥근 직사각형 227">
                <a:extLst>
                  <a:ext uri="{FF2B5EF4-FFF2-40B4-BE49-F238E27FC236}">
                    <a16:creationId xmlns:a16="http://schemas.microsoft.com/office/drawing/2014/main" id="{4FF38D7F-7A41-4F4F-B363-076C41D7CE48}"/>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53" name="TextBox 52">
                <a:extLst>
                  <a:ext uri="{FF2B5EF4-FFF2-40B4-BE49-F238E27FC236}">
                    <a16:creationId xmlns:a16="http://schemas.microsoft.com/office/drawing/2014/main" id="{D532B14D-D796-4818-9173-A518D179414A}"/>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48" name="직선 화살표 연결선 47">
              <a:extLst>
                <a:ext uri="{FF2B5EF4-FFF2-40B4-BE49-F238E27FC236}">
                  <a16:creationId xmlns:a16="http://schemas.microsoft.com/office/drawing/2014/main" id="{CC6F8AD7-674C-420A-BA4D-9F0365B5AD1D}"/>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B361375F-FE80-48A8-8337-841D834CF66B}"/>
                </a:ext>
              </a:extLst>
            </p:cNvPr>
            <p:cNvSpPr txBox="1"/>
            <p:nvPr/>
          </p:nvSpPr>
          <p:spPr>
            <a:xfrm>
              <a:off x="1359966" y="3472535"/>
              <a:ext cx="756933" cy="284137"/>
            </a:xfrm>
            <a:prstGeom prst="rect">
              <a:avLst/>
            </a:prstGeom>
            <a:noFill/>
          </p:spPr>
          <p:txBody>
            <a:bodyPr wrap="none" rtlCol="0">
              <a:spAutoFit/>
            </a:bodyPr>
            <a:lstStyle/>
            <a:p>
              <a:r>
                <a:rPr lang="en-US" altLang="ko-KR" sz="1050" dirty="0"/>
                <a:t>Tool </a:t>
              </a:r>
              <a:r>
                <a:rPr lang="ko-KR" altLang="en-US" sz="1050" dirty="0"/>
                <a:t>호출</a:t>
              </a:r>
            </a:p>
          </p:txBody>
        </p:sp>
        <p:cxnSp>
          <p:nvCxnSpPr>
            <p:cNvPr id="50" name="직선 화살표 연결선 49">
              <a:extLst>
                <a:ext uri="{FF2B5EF4-FFF2-40B4-BE49-F238E27FC236}">
                  <a16:creationId xmlns:a16="http://schemas.microsoft.com/office/drawing/2014/main" id="{0399E6AF-8CE3-4E20-B31A-53478186EF6E}"/>
                </a:ext>
              </a:extLst>
            </p:cNvPr>
            <p:cNvCxnSpPr/>
            <p:nvPr/>
          </p:nvCxnSpPr>
          <p:spPr>
            <a:xfrm>
              <a:off x="1262757" y="3870467"/>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D758DD7F-522C-479B-8067-7B52AADCC004}"/>
                </a:ext>
              </a:extLst>
            </p:cNvPr>
            <p:cNvSpPr txBox="1"/>
            <p:nvPr/>
          </p:nvSpPr>
          <p:spPr>
            <a:xfrm>
              <a:off x="1359470" y="3744826"/>
              <a:ext cx="756933" cy="284137"/>
            </a:xfrm>
            <a:prstGeom prst="rect">
              <a:avLst/>
            </a:prstGeom>
            <a:noFill/>
          </p:spPr>
          <p:txBody>
            <a:bodyPr wrap="none" rtlCol="0">
              <a:spAutoFit/>
            </a:bodyPr>
            <a:lstStyle/>
            <a:p>
              <a:r>
                <a:rPr lang="en-US" altLang="ko-KR" sz="1050" dirty="0"/>
                <a:t>Tool </a:t>
              </a:r>
              <a:r>
                <a:rPr lang="ko-KR" altLang="en-US" sz="1050" dirty="0"/>
                <a:t>호출</a:t>
              </a:r>
            </a:p>
          </p:txBody>
        </p:sp>
      </p:grpSp>
      <p:sp>
        <p:nvSpPr>
          <p:cNvPr id="35" name="모서리가 둥근 직사각형 262">
            <a:extLst>
              <a:ext uri="{FF2B5EF4-FFF2-40B4-BE49-F238E27FC236}">
                <a16:creationId xmlns:a16="http://schemas.microsoft.com/office/drawing/2014/main" id="{B436E63D-6C11-442D-97FD-B86CE9582A8D}"/>
              </a:ext>
            </a:extLst>
          </p:cNvPr>
          <p:cNvSpPr/>
          <p:nvPr/>
        </p:nvSpPr>
        <p:spPr>
          <a:xfrm>
            <a:off x="4602395" y="3532557"/>
            <a:ext cx="919656" cy="302061"/>
          </a:xfrm>
          <a:prstGeom prst="roundRect">
            <a:avLst/>
          </a:prstGeom>
          <a:solidFill>
            <a:schemeClr val="accent2">
              <a:lumMod val="20000"/>
              <a:lumOff val="80000"/>
            </a:schemeClr>
          </a:solidFill>
          <a:ln>
            <a:prstDash val="solid"/>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200" b="1" dirty="0" err="1">
                <a:solidFill>
                  <a:srgbClr val="1F3864"/>
                </a:solidFill>
                <a:latin typeface="Malgun Gothic" pitchFamily="34" charset="0"/>
                <a:ea typeface="Malgun Gothic" pitchFamily="34" charset="-122"/>
                <a:cs typeface="Malgun Gothic" pitchFamily="34" charset="-120"/>
              </a:rPr>
              <a:t>ScHBM</a:t>
            </a:r>
            <a:endParaRPr lang="ko-KR" altLang="en-US" sz="1200" b="1" dirty="0">
              <a:solidFill>
                <a:srgbClr val="1F3864"/>
              </a:solidFill>
              <a:latin typeface="Malgun Gothic" pitchFamily="34" charset="0"/>
              <a:ea typeface="Malgun Gothic" pitchFamily="34" charset="-122"/>
              <a:cs typeface="Malgun Gothic" pitchFamily="34" charset="-120"/>
            </a:endParaRPr>
          </a:p>
        </p:txBody>
      </p:sp>
      <p:sp>
        <p:nvSpPr>
          <p:cNvPr id="36" name="순서도: 자기 디스크 35">
            <a:extLst>
              <a:ext uri="{FF2B5EF4-FFF2-40B4-BE49-F238E27FC236}">
                <a16:creationId xmlns:a16="http://schemas.microsoft.com/office/drawing/2014/main" id="{8B833563-F08F-465A-B3B1-B0A298AE100A}"/>
              </a:ext>
            </a:extLst>
          </p:cNvPr>
          <p:cNvSpPr/>
          <p:nvPr/>
        </p:nvSpPr>
        <p:spPr>
          <a:xfrm>
            <a:off x="2961401" y="3318743"/>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37" name="순서도: 자기 디스크 36">
            <a:extLst>
              <a:ext uri="{FF2B5EF4-FFF2-40B4-BE49-F238E27FC236}">
                <a16:creationId xmlns:a16="http://schemas.microsoft.com/office/drawing/2014/main" id="{F9CCDF6C-EC90-44CA-A217-D2CDB4F7D1AB}"/>
              </a:ext>
            </a:extLst>
          </p:cNvPr>
          <p:cNvSpPr/>
          <p:nvPr/>
        </p:nvSpPr>
        <p:spPr>
          <a:xfrm>
            <a:off x="4065051" y="3085877"/>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KV5</a:t>
            </a:r>
            <a:endParaRPr lang="ko-KR" altLang="en-US" sz="800" b="1" dirty="0"/>
          </a:p>
        </p:txBody>
      </p:sp>
      <p:sp>
        <p:nvSpPr>
          <p:cNvPr id="38" name="순서도: 자기 디스크 37">
            <a:extLst>
              <a:ext uri="{FF2B5EF4-FFF2-40B4-BE49-F238E27FC236}">
                <a16:creationId xmlns:a16="http://schemas.microsoft.com/office/drawing/2014/main" id="{78DE9643-1AF8-42FA-A516-0F925CD549F2}"/>
              </a:ext>
            </a:extLst>
          </p:cNvPr>
          <p:cNvSpPr/>
          <p:nvPr/>
        </p:nvSpPr>
        <p:spPr>
          <a:xfrm>
            <a:off x="3995579" y="4305354"/>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39" name="순서도: 자기 디스크 38">
            <a:extLst>
              <a:ext uri="{FF2B5EF4-FFF2-40B4-BE49-F238E27FC236}">
                <a16:creationId xmlns:a16="http://schemas.microsoft.com/office/drawing/2014/main" id="{AD3237B1-3522-4FA1-98DE-3114F707C892}"/>
              </a:ext>
            </a:extLst>
          </p:cNvPr>
          <p:cNvSpPr/>
          <p:nvPr/>
        </p:nvSpPr>
        <p:spPr>
          <a:xfrm>
            <a:off x="2863482" y="4154854"/>
            <a:ext cx="386234" cy="201802"/>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89" name="순서도: 자기 디스크 88">
            <a:extLst>
              <a:ext uri="{FF2B5EF4-FFF2-40B4-BE49-F238E27FC236}">
                <a16:creationId xmlns:a16="http://schemas.microsoft.com/office/drawing/2014/main" id="{16AFB98C-FD20-4E62-B6C9-2B7176AD9DE9}"/>
              </a:ext>
            </a:extLst>
          </p:cNvPr>
          <p:cNvSpPr/>
          <p:nvPr/>
        </p:nvSpPr>
        <p:spPr>
          <a:xfrm>
            <a:off x="4024172" y="3338140"/>
            <a:ext cx="386234" cy="201802"/>
          </a:xfrm>
          <a:prstGeom prst="flowChartMagneticDisk">
            <a:avLst/>
          </a:prstGeom>
          <a:ln>
            <a:solidFill>
              <a:srgbClr val="FF0000"/>
            </a:solidFill>
            <a:prstDash val="dash"/>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90" name="순서도: 자기 디스크 89">
            <a:extLst>
              <a:ext uri="{FF2B5EF4-FFF2-40B4-BE49-F238E27FC236}">
                <a16:creationId xmlns:a16="http://schemas.microsoft.com/office/drawing/2014/main" id="{696CAC2C-4D5B-4756-B24C-F6E6574B3626}"/>
              </a:ext>
            </a:extLst>
          </p:cNvPr>
          <p:cNvSpPr/>
          <p:nvPr/>
        </p:nvSpPr>
        <p:spPr>
          <a:xfrm>
            <a:off x="3527256" y="3351596"/>
            <a:ext cx="386234" cy="201802"/>
          </a:xfrm>
          <a:prstGeom prst="flowChartMagneticDisk">
            <a:avLst/>
          </a:prstGeom>
          <a:ln>
            <a:solidFill>
              <a:srgbClr val="FF0000"/>
            </a:solidFill>
            <a:prstDash val="dash"/>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cxnSp>
        <p:nvCxnSpPr>
          <p:cNvPr id="80" name="직선 연결선 221">
            <a:extLst>
              <a:ext uri="{FF2B5EF4-FFF2-40B4-BE49-F238E27FC236}">
                <a16:creationId xmlns:a16="http://schemas.microsoft.com/office/drawing/2014/main" id="{2BD88357-0182-4B7E-B446-564E4B8428DF}"/>
              </a:ext>
            </a:extLst>
          </p:cNvPr>
          <p:cNvCxnSpPr>
            <a:stCxn id="69" idx="3"/>
            <a:endCxn id="71" idx="1"/>
          </p:cNvCxnSpPr>
          <p:nvPr/>
        </p:nvCxnSpPr>
        <p:spPr>
          <a:xfrm>
            <a:off x="4093107" y="4077207"/>
            <a:ext cx="512853" cy="155292"/>
          </a:xfrm>
          <a:prstGeom prst="bentConnector3">
            <a:avLst>
              <a:gd name="adj1" fmla="val 50000"/>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81" name="모서리가 둥근 직사각형 192">
            <a:extLst>
              <a:ext uri="{FF2B5EF4-FFF2-40B4-BE49-F238E27FC236}">
                <a16:creationId xmlns:a16="http://schemas.microsoft.com/office/drawing/2014/main" id="{FCD63C2E-57BB-4395-BF39-EE45DC3D2ABB}"/>
              </a:ext>
            </a:extLst>
          </p:cNvPr>
          <p:cNvSpPr/>
          <p:nvPr/>
        </p:nvSpPr>
        <p:spPr>
          <a:xfrm>
            <a:off x="4908161" y="5015483"/>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82" name="모서리가 둥근 직사각형 192">
            <a:extLst>
              <a:ext uri="{FF2B5EF4-FFF2-40B4-BE49-F238E27FC236}">
                <a16:creationId xmlns:a16="http://schemas.microsoft.com/office/drawing/2014/main" id="{25934FFE-8773-4246-B5D3-741DE9E57005}"/>
              </a:ext>
            </a:extLst>
          </p:cNvPr>
          <p:cNvSpPr/>
          <p:nvPr/>
        </p:nvSpPr>
        <p:spPr>
          <a:xfrm>
            <a:off x="4908161" y="4755156"/>
            <a:ext cx="817052"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신규 메모리</a:t>
            </a:r>
          </a:p>
        </p:txBody>
      </p:sp>
      <p:sp>
        <p:nvSpPr>
          <p:cNvPr id="83" name="직사각형 82">
            <a:extLst>
              <a:ext uri="{FF2B5EF4-FFF2-40B4-BE49-F238E27FC236}">
                <a16:creationId xmlns:a16="http://schemas.microsoft.com/office/drawing/2014/main" id="{FACAAB8D-5B72-441F-856B-681B9E0FD6B1}"/>
              </a:ext>
            </a:extLst>
          </p:cNvPr>
          <p:cNvSpPr/>
          <p:nvPr/>
        </p:nvSpPr>
        <p:spPr>
          <a:xfrm>
            <a:off x="438066" y="2525538"/>
            <a:ext cx="5397519" cy="2713048"/>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4" name="TextBox 83">
            <a:extLst>
              <a:ext uri="{FF2B5EF4-FFF2-40B4-BE49-F238E27FC236}">
                <a16:creationId xmlns:a16="http://schemas.microsoft.com/office/drawing/2014/main" id="{4467D1D3-25DE-4A7C-8F0D-79C4EC3CD2D5}"/>
              </a:ext>
            </a:extLst>
          </p:cNvPr>
          <p:cNvSpPr txBox="1"/>
          <p:nvPr/>
        </p:nvSpPr>
        <p:spPr>
          <a:xfrm>
            <a:off x="2272373" y="2382562"/>
            <a:ext cx="1681871" cy="253916"/>
          </a:xfrm>
          <a:prstGeom prst="rect">
            <a:avLst/>
          </a:prstGeom>
          <a:solidFill>
            <a:schemeClr val="bg1"/>
          </a:solidFill>
        </p:spPr>
        <p:txBody>
          <a:bodyPr wrap="none" rtlCol="0">
            <a:spAutoFit/>
          </a:bodyPr>
          <a:lstStyle/>
          <a:p>
            <a:pPr algn="ctr"/>
            <a:r>
              <a:rPr lang="en-US" altLang="ko-KR" sz="1050" dirty="0"/>
              <a:t>&lt;</a:t>
            </a:r>
            <a:r>
              <a:rPr lang="ko-KR" altLang="en-US" sz="1050" dirty="0"/>
              <a:t>데이터 배치 시나리오</a:t>
            </a:r>
            <a:r>
              <a:rPr lang="en-US" altLang="ko-KR" sz="1050" dirty="0"/>
              <a:t>&gt;</a:t>
            </a:r>
            <a:endParaRPr lang="ko-KR" altLang="en-US" sz="1050" dirty="0"/>
          </a:p>
        </p:txBody>
      </p:sp>
      <p:sp>
        <p:nvSpPr>
          <p:cNvPr id="86" name="Text 22">
            <a:extLst>
              <a:ext uri="{FF2B5EF4-FFF2-40B4-BE49-F238E27FC236}">
                <a16:creationId xmlns:a16="http://schemas.microsoft.com/office/drawing/2014/main" id="{CFF18E5A-0B87-439D-BF5E-AD93088D656A}"/>
              </a:ext>
            </a:extLst>
          </p:cNvPr>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spcAft>
                <a:spcPts val="300"/>
              </a:spcAft>
              <a:buFontTx/>
              <a:buChar char="-"/>
            </a:pPr>
            <a:r>
              <a:rPr lang="en-US" altLang="ko-KR" sz="1200" dirty="0"/>
              <a:t>Agent</a:t>
            </a:r>
            <a:r>
              <a:rPr lang="ko-KR" altLang="en-US" sz="1200" dirty="0"/>
              <a:t>의 </a:t>
            </a:r>
            <a:r>
              <a:rPr lang="en-US" altLang="ko-KR" sz="1200" dirty="0"/>
              <a:t>Multi-turn </a:t>
            </a:r>
            <a:r>
              <a:rPr lang="ko-KR" altLang="en-US" sz="1200" dirty="0"/>
              <a:t>및 병렬 작업으로 </a:t>
            </a:r>
            <a:r>
              <a:rPr lang="en-US" altLang="ko-KR" sz="1200" dirty="0"/>
              <a:t>Context</a:t>
            </a:r>
            <a:r>
              <a:rPr lang="ko-KR" altLang="en-US" sz="1200" dirty="0"/>
              <a:t>와 동시 요청이 증가하여 </a:t>
            </a:r>
            <a:r>
              <a:rPr lang="en-US" altLang="ko-KR" sz="1200" b="1" dirty="0">
                <a:solidFill>
                  <a:srgbClr val="FF0000"/>
                </a:solidFill>
              </a:rPr>
              <a:t>KV </a:t>
            </a:r>
            <a:r>
              <a:rPr lang="ko-KR" altLang="en-US" sz="1200" b="1" dirty="0">
                <a:solidFill>
                  <a:srgbClr val="FF0000"/>
                </a:solidFill>
              </a:rPr>
              <a:t>캐시의 메모리 요구량 급증</a:t>
            </a:r>
            <a:endParaRPr lang="en-US" altLang="ko-KR" sz="1200" b="1" dirty="0">
              <a:solidFill>
                <a:srgbClr val="FF0000"/>
              </a:solidFill>
            </a:endParaRPr>
          </a:p>
          <a:p>
            <a:pPr marL="285750" indent="-285750">
              <a:lnSpc>
                <a:spcPct val="150000"/>
              </a:lnSpc>
              <a:spcAft>
                <a:spcPts val="300"/>
              </a:spcAft>
              <a:buFontTx/>
              <a:buChar char="-"/>
            </a:pPr>
            <a:r>
              <a:rPr lang="en-US" altLang="ko-KR" sz="1200" dirty="0"/>
              <a:t>Tool </a:t>
            </a:r>
            <a:r>
              <a:rPr lang="ko-KR" altLang="en-US" sz="1200" dirty="0"/>
              <a:t>실행 및 응답 대기 중인 </a:t>
            </a:r>
            <a:r>
              <a:rPr lang="en-US" altLang="ko-KR" sz="1200" dirty="0"/>
              <a:t>KV </a:t>
            </a:r>
            <a:r>
              <a:rPr lang="ko-KR" altLang="en-US" sz="1200" dirty="0"/>
              <a:t>캐시의 </a:t>
            </a:r>
            <a:r>
              <a:rPr lang="en-US" altLang="ko-KR" sz="1200" dirty="0"/>
              <a:t>HBM </a:t>
            </a:r>
            <a:r>
              <a:rPr lang="ko-KR" altLang="en-US" sz="1200" dirty="0"/>
              <a:t>상주로 </a:t>
            </a:r>
            <a:r>
              <a:rPr lang="ko-KR" altLang="en-US" sz="1200" b="1" dirty="0">
                <a:solidFill>
                  <a:srgbClr val="FF0000"/>
                </a:solidFill>
              </a:rPr>
              <a:t>메모리 활용 효율 저하</a:t>
            </a:r>
            <a:r>
              <a:rPr lang="ko-KR" altLang="en-US" sz="1200" dirty="0"/>
              <a:t> </a:t>
            </a:r>
            <a:r>
              <a:rPr lang="ko-KR" altLang="en-US" sz="1200" dirty="0">
                <a:latin typeface="맑은 고딕" panose="020B0503020000020004" pitchFamily="50" charset="-127"/>
                <a:ea typeface="맑은 고딕" panose="020B0503020000020004" pitchFamily="50" charset="-127"/>
              </a:rPr>
              <a:t>→ </a:t>
            </a:r>
            <a:r>
              <a:rPr lang="en-US" altLang="ko-KR" sz="1200" dirty="0"/>
              <a:t>DRAM, CXL-Memory </a:t>
            </a:r>
            <a:r>
              <a:rPr lang="ko-KR" altLang="en-US" sz="1200" dirty="0"/>
              <a:t>등 다양한 메모리 활용 필요</a:t>
            </a:r>
            <a:endParaRPr lang="en-US" altLang="ko-KR" sz="1200" dirty="0"/>
          </a:p>
          <a:p>
            <a:pPr marL="285750" indent="-285750">
              <a:lnSpc>
                <a:spcPct val="150000"/>
              </a:lnSpc>
              <a:spcAft>
                <a:spcPts val="300"/>
              </a:spcAft>
              <a:buFontTx/>
              <a:buChar char="-"/>
            </a:pPr>
            <a:r>
              <a:rPr lang="ko-KR" altLang="en-US" sz="1200" dirty="0"/>
              <a:t>자원 상태와 데이터 접근 특성을 고려하여 </a:t>
            </a:r>
            <a:r>
              <a:rPr lang="ko-KR" altLang="en-US" sz="1200" b="1" dirty="0">
                <a:solidFill>
                  <a:srgbClr val="0066FF"/>
                </a:solidFill>
              </a:rPr>
              <a:t>메모리 간 데이터 이동을 동적으로 결정하는 </a:t>
            </a:r>
            <a:r>
              <a:rPr lang="en-US" altLang="ko-KR" sz="1200" b="1" dirty="0">
                <a:solidFill>
                  <a:srgbClr val="0066FF"/>
                </a:solidFill>
              </a:rPr>
              <a:t>Migration </a:t>
            </a:r>
            <a:r>
              <a:rPr lang="ko-KR" altLang="en-US" sz="1200" b="1" dirty="0">
                <a:solidFill>
                  <a:srgbClr val="0066FF"/>
                </a:solidFill>
              </a:rPr>
              <a:t>구조 필요 </a:t>
            </a:r>
            <a:endParaRPr lang="en-US" altLang="ko-KR" sz="1200" b="1" dirty="0">
              <a:solidFill>
                <a:srgbClr val="0066FF"/>
              </a:solidFill>
            </a:endParaRPr>
          </a:p>
        </p:txBody>
      </p:sp>
      <p:cxnSp>
        <p:nvCxnSpPr>
          <p:cNvPr id="6" name="직선 화살표 연결선 5">
            <a:extLst>
              <a:ext uri="{FF2B5EF4-FFF2-40B4-BE49-F238E27FC236}">
                <a16:creationId xmlns:a16="http://schemas.microsoft.com/office/drawing/2014/main" id="{16B80118-F351-4EC8-8938-C7A54CF51D87}"/>
              </a:ext>
            </a:extLst>
          </p:cNvPr>
          <p:cNvCxnSpPr>
            <a:cxnSpLocks/>
            <a:stCxn id="90" idx="3"/>
            <a:endCxn id="39" idx="1"/>
          </p:cNvCxnSpPr>
          <p:nvPr/>
        </p:nvCxnSpPr>
        <p:spPr>
          <a:xfrm rot="5400000">
            <a:off x="3087758" y="3522239"/>
            <a:ext cx="601456" cy="663774"/>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6" name="직선 화살표 연결선 5">
            <a:extLst>
              <a:ext uri="{FF2B5EF4-FFF2-40B4-BE49-F238E27FC236}">
                <a16:creationId xmlns:a16="http://schemas.microsoft.com/office/drawing/2014/main" id="{A07ED061-B608-4349-9A33-84FBAFCB9792}"/>
              </a:ext>
            </a:extLst>
          </p:cNvPr>
          <p:cNvCxnSpPr>
            <a:cxnSpLocks/>
            <a:stCxn id="89" idx="3"/>
            <a:endCxn id="38" idx="0"/>
          </p:cNvCxnSpPr>
          <p:nvPr/>
        </p:nvCxnSpPr>
        <p:spPr>
          <a:xfrm rot="5400000">
            <a:off x="3786654" y="3941985"/>
            <a:ext cx="832679" cy="28593"/>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983B008F-1DC8-43BD-895C-C8438ED11E3F}"/>
              </a:ext>
            </a:extLst>
          </p:cNvPr>
          <p:cNvGrpSpPr/>
          <p:nvPr/>
        </p:nvGrpSpPr>
        <p:grpSpPr>
          <a:xfrm>
            <a:off x="6649014" y="2509571"/>
            <a:ext cx="4937759" cy="2633921"/>
            <a:chOff x="6400800" y="2391681"/>
            <a:chExt cx="5431537" cy="2897313"/>
          </a:xfrm>
        </p:grpSpPr>
        <p:sp>
          <p:nvSpPr>
            <p:cNvPr id="99" name="Rectangle 15">
              <a:extLst>
                <a:ext uri="{FF2B5EF4-FFF2-40B4-BE49-F238E27FC236}">
                  <a16:creationId xmlns:a16="http://schemas.microsoft.com/office/drawing/2014/main" id="{0CAD4253-4315-4ACD-BEB0-44A862F51B35}"/>
                </a:ext>
              </a:extLst>
            </p:cNvPr>
            <p:cNvSpPr/>
            <p:nvPr/>
          </p:nvSpPr>
          <p:spPr>
            <a:xfrm>
              <a:off x="6400800" y="2394282"/>
              <a:ext cx="5431535" cy="942258"/>
            </a:xfrm>
            <a:prstGeom prst="rect">
              <a:avLst/>
            </a:prstGeom>
            <a:solidFill>
              <a:schemeClr val="bg1"/>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spcAft>
                  <a:spcPts val="200"/>
                </a:spcAft>
              </a:pPr>
              <a:endParaRPr lang="ko-KR" altLang="en-US" sz="1400" b="1" dirty="0">
                <a:solidFill>
                  <a:schemeClr val="tx1"/>
                </a:solidFill>
                <a:latin typeface="+mn-ea"/>
                <a:cs typeface="맑은 고딕"/>
              </a:endParaRPr>
            </a:p>
          </p:txBody>
        </p:sp>
        <p:sp>
          <p:nvSpPr>
            <p:cNvPr id="100" name="Rectangle 16">
              <a:extLst>
                <a:ext uri="{FF2B5EF4-FFF2-40B4-BE49-F238E27FC236}">
                  <a16:creationId xmlns:a16="http://schemas.microsoft.com/office/drawing/2014/main" id="{5DD4830B-FEE5-44BD-A8C1-98A084F222F2}"/>
                </a:ext>
              </a:extLst>
            </p:cNvPr>
            <p:cNvSpPr/>
            <p:nvPr/>
          </p:nvSpPr>
          <p:spPr>
            <a:xfrm>
              <a:off x="6400800" y="2391681"/>
              <a:ext cx="5431537" cy="25060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1" dirty="0">
                  <a:solidFill>
                    <a:srgbClr val="FFFFFF"/>
                  </a:solidFill>
                  <a:latin typeface="+mn-ea"/>
                  <a:cs typeface="맑은 고딕"/>
                </a:rPr>
                <a:t>Control Plane</a:t>
              </a:r>
              <a:r>
                <a:rPr lang="en-US" sz="1000" b="1" dirty="0">
                  <a:solidFill>
                    <a:srgbClr val="FFFFFF"/>
                  </a:solidFill>
                  <a:latin typeface="+mn-ea"/>
                  <a:cs typeface="맑은 고딕"/>
                </a:rPr>
                <a:t>  (</a:t>
              </a:r>
              <a:r>
                <a:rPr lang="ko-KR" altLang="en-US" sz="1000" b="1" dirty="0">
                  <a:solidFill>
                    <a:srgbClr val="FFFFFF"/>
                  </a:solidFill>
                  <a:latin typeface="+mn-ea"/>
                  <a:cs typeface="맑은 고딕"/>
                </a:rPr>
                <a:t>결정</a:t>
              </a:r>
              <a:r>
                <a:rPr lang="en-US" altLang="ko-KR" sz="1000" b="1" dirty="0">
                  <a:solidFill>
                    <a:srgbClr val="FFFFFF"/>
                  </a:solidFill>
                  <a:latin typeface="+mn-ea"/>
                  <a:cs typeface="맑은 고딕"/>
                </a:rPr>
                <a:t> – </a:t>
              </a:r>
              <a:r>
                <a:rPr lang="ko-KR" altLang="en-US" sz="1000" b="1" dirty="0">
                  <a:solidFill>
                    <a:srgbClr val="FFFFFF"/>
                  </a:solidFill>
                  <a:latin typeface="+mn-ea"/>
                  <a:cs typeface="맑은 고딕"/>
                </a:rPr>
                <a:t>언제</a:t>
              </a:r>
              <a:r>
                <a:rPr lang="en-US" altLang="ko-KR" sz="1000" b="1" dirty="0">
                  <a:solidFill>
                    <a:srgbClr val="FFFFFF"/>
                  </a:solidFill>
                  <a:latin typeface="+mn-ea"/>
                  <a:cs typeface="맑은 고딕"/>
                </a:rPr>
                <a:t>, </a:t>
              </a:r>
              <a:r>
                <a:rPr lang="ko-KR" altLang="en-US" sz="1000" b="1" dirty="0">
                  <a:solidFill>
                    <a:srgbClr val="FFFFFF"/>
                  </a:solidFill>
                  <a:latin typeface="+mn-ea"/>
                  <a:cs typeface="맑은 고딕"/>
                </a:rPr>
                <a:t>무엇을</a:t>
              </a:r>
              <a:r>
                <a:rPr lang="en-US" altLang="ko-KR" sz="1000" b="1" dirty="0">
                  <a:solidFill>
                    <a:srgbClr val="FFFFFF"/>
                  </a:solidFill>
                  <a:latin typeface="+mn-ea"/>
                  <a:cs typeface="맑은 고딕"/>
                </a:rPr>
                <a:t>, </a:t>
              </a:r>
              <a:r>
                <a:rPr lang="ko-KR" altLang="en-US" sz="1000" b="1" dirty="0">
                  <a:solidFill>
                    <a:srgbClr val="FFFFFF"/>
                  </a:solidFill>
                  <a:latin typeface="+mn-ea"/>
                  <a:cs typeface="맑은 고딕"/>
                </a:rPr>
                <a:t>어디로 이동할지 판단</a:t>
              </a:r>
              <a:r>
                <a:rPr lang="en-US" altLang="ko-KR" sz="1000" b="1" dirty="0">
                  <a:solidFill>
                    <a:srgbClr val="FFFFFF"/>
                  </a:solidFill>
                  <a:latin typeface="+mn-ea"/>
                  <a:cs typeface="맑은 고딕"/>
                </a:rPr>
                <a:t>)</a:t>
              </a:r>
              <a:endParaRPr sz="1000" b="1" dirty="0">
                <a:solidFill>
                  <a:srgbClr val="FFFFFF"/>
                </a:solidFill>
                <a:latin typeface="+mn-ea"/>
                <a:cs typeface="맑은 고딕"/>
              </a:endParaRPr>
            </a:p>
          </p:txBody>
        </p:sp>
        <p:sp>
          <p:nvSpPr>
            <p:cNvPr id="102" name="Rectangle 17">
              <a:extLst>
                <a:ext uri="{FF2B5EF4-FFF2-40B4-BE49-F238E27FC236}">
                  <a16:creationId xmlns:a16="http://schemas.microsoft.com/office/drawing/2014/main" id="{E2C96EF8-C086-418E-9E86-29F0263710E4}"/>
                </a:ext>
              </a:extLst>
            </p:cNvPr>
            <p:cNvSpPr/>
            <p:nvPr/>
          </p:nvSpPr>
          <p:spPr>
            <a:xfrm>
              <a:off x="6567802" y="2744753"/>
              <a:ext cx="2690621" cy="446551"/>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lang="en-US" sz="1000" b="1" dirty="0">
                  <a:solidFill>
                    <a:srgbClr val="000000"/>
                  </a:solidFill>
                  <a:latin typeface="+mn-ea"/>
                  <a:cs typeface="맑은 고딕"/>
                </a:rPr>
                <a:t>Trend Analyzer</a:t>
              </a:r>
            </a:p>
            <a:p>
              <a:pPr algn="ctr">
                <a:spcAft>
                  <a:spcPts val="100"/>
                </a:spcAft>
              </a:pPr>
              <a:r>
                <a:rPr lang="ko-KR" altLang="en-US" sz="800" b="1" dirty="0">
                  <a:solidFill>
                    <a:schemeClr val="bg1">
                      <a:lumMod val="50000"/>
                    </a:schemeClr>
                  </a:solidFill>
                  <a:latin typeface="+mn-ea"/>
                  <a:cs typeface="맑은 고딕"/>
                </a:rPr>
                <a:t>메모리 자원 및 데이터 특성을 분석</a:t>
              </a:r>
            </a:p>
          </p:txBody>
        </p:sp>
        <p:sp>
          <p:nvSpPr>
            <p:cNvPr id="103" name="Rectangle 18">
              <a:extLst>
                <a:ext uri="{FF2B5EF4-FFF2-40B4-BE49-F238E27FC236}">
                  <a16:creationId xmlns:a16="http://schemas.microsoft.com/office/drawing/2014/main" id="{6E33DB3B-5B16-44D1-ADB5-AADC1B2579E1}"/>
                </a:ext>
              </a:extLst>
            </p:cNvPr>
            <p:cNvSpPr/>
            <p:nvPr/>
          </p:nvSpPr>
          <p:spPr>
            <a:xfrm>
              <a:off x="9411896" y="2744753"/>
              <a:ext cx="2115966" cy="44655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1000" b="1" dirty="0">
                  <a:solidFill>
                    <a:srgbClr val="000000"/>
                  </a:solidFill>
                  <a:latin typeface="+mn-ea"/>
                  <a:cs typeface="맑은 고딕"/>
                </a:rPr>
                <a:t>Migration Policy Engine</a:t>
              </a:r>
              <a:endParaRPr lang="en-US" sz="1000" b="1" dirty="0">
                <a:solidFill>
                  <a:srgbClr val="000000"/>
                </a:solidFill>
                <a:latin typeface="+mn-ea"/>
                <a:cs typeface="맑은 고딕"/>
              </a:endParaRPr>
            </a:p>
            <a:p>
              <a:pPr algn="ctr">
                <a:spcAft>
                  <a:spcPts val="100"/>
                </a:spcAft>
              </a:pPr>
              <a:r>
                <a:rPr lang="ko-KR" altLang="en-US" sz="800" b="1" dirty="0">
                  <a:solidFill>
                    <a:schemeClr val="bg1">
                      <a:lumMod val="50000"/>
                    </a:schemeClr>
                  </a:solidFill>
                  <a:latin typeface="+mn-ea"/>
                  <a:cs typeface="맑은 고딕"/>
                </a:rPr>
                <a:t>이동할 데이터</a:t>
              </a:r>
              <a:r>
                <a:rPr lang="en-US" altLang="ko-KR" sz="800" b="1" dirty="0">
                  <a:solidFill>
                    <a:schemeClr val="bg1">
                      <a:lumMod val="50000"/>
                    </a:schemeClr>
                  </a:solidFill>
                  <a:latin typeface="+mn-ea"/>
                  <a:cs typeface="맑은 고딕"/>
                </a:rPr>
                <a:t>, </a:t>
              </a:r>
              <a:r>
                <a:rPr lang="ko-KR" altLang="en-US" sz="800" b="1" dirty="0">
                  <a:solidFill>
                    <a:schemeClr val="bg1">
                      <a:lumMod val="50000"/>
                    </a:schemeClr>
                  </a:solidFill>
                  <a:latin typeface="+mn-ea"/>
                  <a:cs typeface="맑은 고딕"/>
                </a:rPr>
                <a:t>경로를 결정</a:t>
              </a:r>
              <a:endParaRPr sz="800" b="1" dirty="0">
                <a:solidFill>
                  <a:schemeClr val="bg1">
                    <a:lumMod val="50000"/>
                  </a:schemeClr>
                </a:solidFill>
                <a:latin typeface="+mn-ea"/>
                <a:cs typeface="맑은 고딕"/>
              </a:endParaRPr>
            </a:p>
          </p:txBody>
        </p:sp>
        <p:sp>
          <p:nvSpPr>
            <p:cNvPr id="104" name="Rectangle 19">
              <a:extLst>
                <a:ext uri="{FF2B5EF4-FFF2-40B4-BE49-F238E27FC236}">
                  <a16:creationId xmlns:a16="http://schemas.microsoft.com/office/drawing/2014/main" id="{9BAAD033-D78F-4AD6-8298-188175DA6E96}"/>
                </a:ext>
              </a:extLst>
            </p:cNvPr>
            <p:cNvSpPr/>
            <p:nvPr/>
          </p:nvSpPr>
          <p:spPr>
            <a:xfrm>
              <a:off x="6479425" y="3694176"/>
              <a:ext cx="2410691" cy="1188720"/>
            </a:xfrm>
            <a:prstGeom prst="rect">
              <a:avLst/>
            </a:prstGeom>
            <a:solidFill>
              <a:schemeClr val="bg1"/>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mn-ea"/>
              </a:endParaRPr>
            </a:p>
          </p:txBody>
        </p:sp>
        <p:sp>
          <p:nvSpPr>
            <p:cNvPr id="105" name="Rectangle 20">
              <a:extLst>
                <a:ext uri="{FF2B5EF4-FFF2-40B4-BE49-F238E27FC236}">
                  <a16:creationId xmlns:a16="http://schemas.microsoft.com/office/drawing/2014/main" id="{CDED3603-9ACB-42D2-B24D-8FA2C4791773}"/>
                </a:ext>
              </a:extLst>
            </p:cNvPr>
            <p:cNvSpPr/>
            <p:nvPr/>
          </p:nvSpPr>
          <p:spPr>
            <a:xfrm>
              <a:off x="6479425" y="3671131"/>
              <a:ext cx="2410691" cy="265542"/>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1" dirty="0">
                  <a:solidFill>
                    <a:srgbClr val="FFFFFF"/>
                  </a:solidFill>
                  <a:latin typeface="+mn-ea"/>
                  <a:cs typeface="맑은 고딕"/>
                </a:rPr>
                <a:t>Resource Plane </a:t>
              </a:r>
              <a:r>
                <a:rPr lang="en-US" sz="1000" b="1" dirty="0">
                  <a:solidFill>
                    <a:srgbClr val="FFFFFF"/>
                  </a:solidFill>
                  <a:latin typeface="+mn-ea"/>
                  <a:cs typeface="맑은 고딕"/>
                </a:rPr>
                <a:t>(</a:t>
              </a:r>
              <a:r>
                <a:rPr lang="ko-KR" altLang="en-US" sz="1000" b="1" dirty="0">
                  <a:solidFill>
                    <a:srgbClr val="FFFFFF"/>
                  </a:solidFill>
                  <a:latin typeface="+mn-ea"/>
                  <a:cs typeface="맑은 고딕"/>
                </a:rPr>
                <a:t>상태 관리</a:t>
              </a:r>
              <a:r>
                <a:rPr lang="en-US" altLang="ko-KR" sz="1000" b="1" dirty="0">
                  <a:solidFill>
                    <a:srgbClr val="FFFFFF"/>
                  </a:solidFill>
                  <a:latin typeface="+mn-ea"/>
                  <a:cs typeface="맑은 고딕"/>
                </a:rPr>
                <a:t>)</a:t>
              </a:r>
              <a:endParaRPr sz="1000" b="1" dirty="0">
                <a:solidFill>
                  <a:srgbClr val="FFFFFF"/>
                </a:solidFill>
                <a:latin typeface="+mn-ea"/>
                <a:cs typeface="맑은 고딕"/>
              </a:endParaRPr>
            </a:p>
          </p:txBody>
        </p:sp>
        <p:sp>
          <p:nvSpPr>
            <p:cNvPr id="106" name="Rectangle 21">
              <a:extLst>
                <a:ext uri="{FF2B5EF4-FFF2-40B4-BE49-F238E27FC236}">
                  <a16:creationId xmlns:a16="http://schemas.microsoft.com/office/drawing/2014/main" id="{736640EE-40F2-40EF-BFE6-44CD0F0BD4BE}"/>
                </a:ext>
              </a:extLst>
            </p:cNvPr>
            <p:cNvSpPr/>
            <p:nvPr/>
          </p:nvSpPr>
          <p:spPr>
            <a:xfrm>
              <a:off x="6664572" y="4007663"/>
              <a:ext cx="2040396" cy="347623"/>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1000" b="1" dirty="0">
                  <a:solidFill>
                    <a:srgbClr val="000000"/>
                  </a:solidFill>
                  <a:latin typeface="+mn-ea"/>
                  <a:cs typeface="맑은 고딕"/>
                </a:rPr>
                <a:t>Telemetry Collector</a:t>
              </a:r>
              <a:endParaRPr lang="en-US" sz="1000" b="1" dirty="0">
                <a:solidFill>
                  <a:srgbClr val="000000"/>
                </a:solidFill>
                <a:latin typeface="+mn-ea"/>
                <a:cs typeface="맑은 고딕"/>
              </a:endParaRPr>
            </a:p>
            <a:p>
              <a:pPr algn="ctr">
                <a:spcAft>
                  <a:spcPts val="100"/>
                </a:spcAft>
              </a:pPr>
              <a:r>
                <a:rPr lang="ko-KR" altLang="en-US" sz="800" b="1" dirty="0">
                  <a:solidFill>
                    <a:schemeClr val="bg1">
                      <a:lumMod val="50000"/>
                    </a:schemeClr>
                  </a:solidFill>
                  <a:latin typeface="+mn-ea"/>
                  <a:cs typeface="맑은 고딕"/>
                </a:rPr>
                <a:t>자원 상태 수집 </a:t>
              </a:r>
            </a:p>
          </p:txBody>
        </p:sp>
        <p:sp>
          <p:nvSpPr>
            <p:cNvPr id="109" name="Rectangle 22">
              <a:extLst>
                <a:ext uri="{FF2B5EF4-FFF2-40B4-BE49-F238E27FC236}">
                  <a16:creationId xmlns:a16="http://schemas.microsoft.com/office/drawing/2014/main" id="{C6718A2C-9F14-459C-8D95-409CDE89CC7C}"/>
                </a:ext>
              </a:extLst>
            </p:cNvPr>
            <p:cNvSpPr/>
            <p:nvPr/>
          </p:nvSpPr>
          <p:spPr>
            <a:xfrm>
              <a:off x="6664572" y="4447483"/>
              <a:ext cx="2040396" cy="382385"/>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1000" b="1" dirty="0">
                  <a:solidFill>
                    <a:srgbClr val="000000"/>
                  </a:solidFill>
                  <a:latin typeface="+mn-ea"/>
                  <a:cs typeface="맑은 고딕"/>
                </a:rPr>
                <a:t>Memory Registry</a:t>
              </a:r>
              <a:endParaRPr lang="en-US" sz="1000" b="1" dirty="0">
                <a:solidFill>
                  <a:srgbClr val="000000"/>
                </a:solidFill>
                <a:latin typeface="+mn-ea"/>
                <a:cs typeface="맑은 고딕"/>
              </a:endParaRPr>
            </a:p>
            <a:p>
              <a:pPr algn="ctr">
                <a:spcAft>
                  <a:spcPts val="100"/>
                </a:spcAft>
              </a:pPr>
              <a:r>
                <a:rPr lang="ko-KR" altLang="en-US" sz="800" b="1" dirty="0">
                  <a:solidFill>
                    <a:schemeClr val="bg1">
                      <a:lumMod val="50000"/>
                    </a:schemeClr>
                  </a:solidFill>
                  <a:latin typeface="+mn-ea"/>
                  <a:cs typeface="맑은 고딕"/>
                </a:rPr>
                <a:t>데이터 객체의 메모리 위치 저장</a:t>
              </a:r>
            </a:p>
          </p:txBody>
        </p:sp>
        <p:sp>
          <p:nvSpPr>
            <p:cNvPr id="111" name="Rectangle 23">
              <a:extLst>
                <a:ext uri="{FF2B5EF4-FFF2-40B4-BE49-F238E27FC236}">
                  <a16:creationId xmlns:a16="http://schemas.microsoft.com/office/drawing/2014/main" id="{7EF15546-1064-4A1A-B308-317A7B8F168B}"/>
                </a:ext>
              </a:extLst>
            </p:cNvPr>
            <p:cNvSpPr/>
            <p:nvPr/>
          </p:nvSpPr>
          <p:spPr>
            <a:xfrm>
              <a:off x="9343021" y="3694176"/>
              <a:ext cx="2410691" cy="1188720"/>
            </a:xfrm>
            <a:prstGeom prst="rect">
              <a:avLst/>
            </a:prstGeom>
            <a:solidFill>
              <a:schemeClr val="bg1"/>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mn-ea"/>
              </a:endParaRPr>
            </a:p>
          </p:txBody>
        </p:sp>
        <p:sp>
          <p:nvSpPr>
            <p:cNvPr id="112" name="Rectangle 24">
              <a:extLst>
                <a:ext uri="{FF2B5EF4-FFF2-40B4-BE49-F238E27FC236}">
                  <a16:creationId xmlns:a16="http://schemas.microsoft.com/office/drawing/2014/main" id="{1DD7EE10-2D83-49FD-AF55-320B01EF012A}"/>
                </a:ext>
              </a:extLst>
            </p:cNvPr>
            <p:cNvSpPr/>
            <p:nvPr/>
          </p:nvSpPr>
          <p:spPr>
            <a:xfrm>
              <a:off x="9343022" y="3671133"/>
              <a:ext cx="2410691" cy="265542"/>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1" dirty="0">
                  <a:solidFill>
                    <a:srgbClr val="FFFFFF"/>
                  </a:solidFill>
                  <a:latin typeface="+mn-ea"/>
                  <a:cs typeface="맑은 고딕"/>
                </a:rPr>
                <a:t>Data Plane </a:t>
              </a:r>
              <a:r>
                <a:rPr lang="en-US" sz="1000" b="1" dirty="0">
                  <a:solidFill>
                    <a:srgbClr val="FFFFFF"/>
                  </a:solidFill>
                  <a:latin typeface="+mn-ea"/>
                  <a:cs typeface="맑은 고딕"/>
                </a:rPr>
                <a:t>(</a:t>
              </a:r>
              <a:r>
                <a:rPr lang="ko-KR" altLang="en-US" sz="1000" b="1" dirty="0">
                  <a:solidFill>
                    <a:srgbClr val="FFFFFF"/>
                  </a:solidFill>
                  <a:latin typeface="+mn-ea"/>
                  <a:cs typeface="맑은 고딕"/>
                </a:rPr>
                <a:t>이동 관리</a:t>
              </a:r>
              <a:r>
                <a:rPr lang="en-US" altLang="ko-KR" sz="1000" b="1" dirty="0">
                  <a:solidFill>
                    <a:srgbClr val="FFFFFF"/>
                  </a:solidFill>
                  <a:latin typeface="+mn-ea"/>
                  <a:cs typeface="맑은 고딕"/>
                </a:rPr>
                <a:t>)</a:t>
              </a:r>
              <a:endParaRPr sz="1000" b="1" dirty="0">
                <a:solidFill>
                  <a:srgbClr val="FFFFFF"/>
                </a:solidFill>
                <a:latin typeface="+mn-ea"/>
                <a:cs typeface="맑은 고딕"/>
              </a:endParaRPr>
            </a:p>
          </p:txBody>
        </p:sp>
        <p:sp>
          <p:nvSpPr>
            <p:cNvPr id="113" name="Rectangle 25">
              <a:extLst>
                <a:ext uri="{FF2B5EF4-FFF2-40B4-BE49-F238E27FC236}">
                  <a16:creationId xmlns:a16="http://schemas.microsoft.com/office/drawing/2014/main" id="{23F94F59-A9E4-43E2-AB71-BDE098E61E51}"/>
                </a:ext>
              </a:extLst>
            </p:cNvPr>
            <p:cNvSpPr/>
            <p:nvPr/>
          </p:nvSpPr>
          <p:spPr>
            <a:xfrm>
              <a:off x="9426148" y="3990282"/>
              <a:ext cx="2244436" cy="382385"/>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1000" b="1" dirty="0">
                  <a:solidFill>
                    <a:srgbClr val="000000"/>
                  </a:solidFill>
                  <a:latin typeface="+mn-ea"/>
                  <a:cs typeface="맑은 고딕"/>
                </a:rPr>
                <a:t>Migration Executor</a:t>
              </a:r>
              <a:endParaRPr lang="en-US" sz="1000" b="1" dirty="0">
                <a:solidFill>
                  <a:srgbClr val="000000"/>
                </a:solidFill>
                <a:latin typeface="+mn-ea"/>
                <a:cs typeface="맑은 고딕"/>
              </a:endParaRPr>
            </a:p>
            <a:p>
              <a:pPr algn="ctr">
                <a:spcAft>
                  <a:spcPts val="100"/>
                </a:spcAft>
              </a:pPr>
              <a:r>
                <a:rPr lang="ko-KR" altLang="en-US" sz="800" b="1" dirty="0">
                  <a:solidFill>
                    <a:schemeClr val="bg1">
                      <a:lumMod val="50000"/>
                    </a:schemeClr>
                  </a:solidFill>
                  <a:latin typeface="+mn-ea"/>
                  <a:cs typeface="맑은 고딕"/>
                </a:rPr>
                <a:t>데이터 복사 실행</a:t>
              </a:r>
            </a:p>
          </p:txBody>
        </p:sp>
        <p:sp>
          <p:nvSpPr>
            <p:cNvPr id="116" name="Rectangle 26">
              <a:extLst>
                <a:ext uri="{FF2B5EF4-FFF2-40B4-BE49-F238E27FC236}">
                  <a16:creationId xmlns:a16="http://schemas.microsoft.com/office/drawing/2014/main" id="{04F79F9A-7A02-42B5-8F01-F978CFD59BB7}"/>
                </a:ext>
              </a:extLst>
            </p:cNvPr>
            <p:cNvSpPr/>
            <p:nvPr/>
          </p:nvSpPr>
          <p:spPr>
            <a:xfrm>
              <a:off x="9426148" y="4447483"/>
              <a:ext cx="2244436" cy="382385"/>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1000" b="1" dirty="0">
                  <a:solidFill>
                    <a:srgbClr val="000000"/>
                  </a:solidFill>
                  <a:latin typeface="+mn-ea"/>
                  <a:cs typeface="맑은 고딕"/>
                </a:rPr>
                <a:t>Transfer Handler</a:t>
              </a:r>
              <a:endParaRPr lang="en-US" sz="1000" b="1" dirty="0">
                <a:solidFill>
                  <a:srgbClr val="000000"/>
                </a:solidFill>
                <a:latin typeface="+mn-ea"/>
                <a:cs typeface="맑은 고딕"/>
              </a:endParaRPr>
            </a:p>
            <a:p>
              <a:pPr algn="ctr">
                <a:spcAft>
                  <a:spcPts val="100"/>
                </a:spcAft>
              </a:pPr>
              <a:r>
                <a:rPr lang="ko-KR" altLang="en-US" sz="800" b="1" dirty="0">
                  <a:solidFill>
                    <a:schemeClr val="bg1">
                      <a:lumMod val="50000"/>
                    </a:schemeClr>
                  </a:solidFill>
                  <a:latin typeface="+mn-ea"/>
                  <a:cs typeface="맑은 고딕"/>
                </a:rPr>
                <a:t>복사 실행 </a:t>
              </a:r>
              <a:r>
                <a:rPr lang="en-US" altLang="ko-KR" sz="800" b="1" dirty="0">
                  <a:solidFill>
                    <a:schemeClr val="bg1">
                      <a:lumMod val="50000"/>
                    </a:schemeClr>
                  </a:solidFill>
                  <a:latin typeface="+mn-ea"/>
                  <a:cs typeface="맑은 고딕"/>
                </a:rPr>
                <a:t>Interface </a:t>
              </a:r>
              <a:r>
                <a:rPr lang="ko-KR" altLang="en-US" sz="800" b="1" dirty="0">
                  <a:solidFill>
                    <a:schemeClr val="bg1">
                      <a:lumMod val="50000"/>
                    </a:schemeClr>
                  </a:solidFill>
                  <a:latin typeface="+mn-ea"/>
                  <a:cs typeface="맑은 고딕"/>
                </a:rPr>
                <a:t>호출</a:t>
              </a:r>
            </a:p>
          </p:txBody>
        </p:sp>
        <p:sp>
          <p:nvSpPr>
            <p:cNvPr id="117" name="Rectangle 27">
              <a:extLst>
                <a:ext uri="{FF2B5EF4-FFF2-40B4-BE49-F238E27FC236}">
                  <a16:creationId xmlns:a16="http://schemas.microsoft.com/office/drawing/2014/main" id="{5596CB98-D442-4ABC-B142-C234E7E0C17A}"/>
                </a:ext>
              </a:extLst>
            </p:cNvPr>
            <p:cNvSpPr/>
            <p:nvPr/>
          </p:nvSpPr>
          <p:spPr>
            <a:xfrm>
              <a:off x="6400800" y="5023267"/>
              <a:ext cx="5431536" cy="265727"/>
            </a:xfrm>
            <a:prstGeom prst="rect">
              <a:avLst/>
            </a:prstGeom>
            <a:solidFill>
              <a:schemeClr val="bg1">
                <a:lumMod val="75000"/>
              </a:schemeClr>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dirty="0">
                  <a:solidFill>
                    <a:schemeClr val="tx1"/>
                  </a:solidFill>
                  <a:latin typeface="+mn-ea"/>
                  <a:cs typeface="맑은 고딕"/>
                </a:rPr>
                <a:t>Common Memory Backend Interface  </a:t>
              </a:r>
            </a:p>
          </p:txBody>
        </p:sp>
        <p:cxnSp>
          <p:nvCxnSpPr>
            <p:cNvPr id="118" name="Connector 28">
              <a:extLst>
                <a:ext uri="{FF2B5EF4-FFF2-40B4-BE49-F238E27FC236}">
                  <a16:creationId xmlns:a16="http://schemas.microsoft.com/office/drawing/2014/main" id="{FBE76CA9-79EF-4311-98E1-A9AC1B6CE12D}"/>
                </a:ext>
              </a:extLst>
            </p:cNvPr>
            <p:cNvCxnSpPr>
              <a:cxnSpLocks/>
            </p:cNvCxnSpPr>
            <p:nvPr/>
          </p:nvCxnSpPr>
          <p:spPr>
            <a:xfrm flipV="1">
              <a:off x="7635240" y="3337732"/>
              <a:ext cx="0" cy="340726"/>
            </a:xfrm>
            <a:prstGeom prst="line">
              <a:avLst/>
            </a:prstGeom>
            <a:ln w="1524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19" name="TextBox 118">
              <a:extLst>
                <a:ext uri="{FF2B5EF4-FFF2-40B4-BE49-F238E27FC236}">
                  <a16:creationId xmlns:a16="http://schemas.microsoft.com/office/drawing/2014/main" id="{BA548140-91EA-4040-996A-DCCF26958FA9}"/>
                </a:ext>
              </a:extLst>
            </p:cNvPr>
            <p:cNvSpPr txBox="1"/>
            <p:nvPr/>
          </p:nvSpPr>
          <p:spPr>
            <a:xfrm>
              <a:off x="7680960" y="3429000"/>
              <a:ext cx="1463040" cy="213289"/>
            </a:xfrm>
            <a:prstGeom prst="rect">
              <a:avLst/>
            </a:prstGeom>
            <a:noFill/>
          </p:spPr>
          <p:txBody>
            <a:bodyPr wrap="square" lIns="45720" tIns="27432" rIns="45720" bIns="27432" anchor="t">
              <a:spAutoFit/>
            </a:bodyPr>
            <a:lstStyle/>
            <a:p>
              <a:pPr algn="l">
                <a:spcAft>
                  <a:spcPts val="200"/>
                </a:spcAft>
              </a:pPr>
              <a:r>
                <a:rPr sz="900" b="0" dirty="0" err="1">
                  <a:solidFill>
                    <a:srgbClr val="595959"/>
                  </a:solidFill>
                  <a:latin typeface="+mn-ea"/>
                  <a:cs typeface="맑은 고딕"/>
                </a:rPr>
                <a:t>상태</a:t>
              </a:r>
              <a:r>
                <a:rPr sz="900" b="0" dirty="0">
                  <a:solidFill>
                    <a:srgbClr val="595959"/>
                  </a:solidFill>
                  <a:latin typeface="+mn-ea"/>
                  <a:cs typeface="맑은 고딕"/>
                </a:rPr>
                <a:t> </a:t>
              </a:r>
              <a:r>
                <a:rPr sz="900" b="0" dirty="0" err="1">
                  <a:solidFill>
                    <a:srgbClr val="595959"/>
                  </a:solidFill>
                  <a:latin typeface="+mn-ea"/>
                  <a:cs typeface="맑은 고딕"/>
                </a:rPr>
                <a:t>조회</a:t>
              </a:r>
              <a:r>
                <a:rPr sz="900" b="0" dirty="0">
                  <a:solidFill>
                    <a:srgbClr val="595959"/>
                  </a:solidFill>
                  <a:latin typeface="+mn-ea"/>
                  <a:cs typeface="맑은 고딕"/>
                </a:rPr>
                <a:t> · event</a:t>
              </a:r>
            </a:p>
          </p:txBody>
        </p:sp>
        <p:cxnSp>
          <p:nvCxnSpPr>
            <p:cNvPr id="120" name="Connector 30">
              <a:extLst>
                <a:ext uri="{FF2B5EF4-FFF2-40B4-BE49-F238E27FC236}">
                  <a16:creationId xmlns:a16="http://schemas.microsoft.com/office/drawing/2014/main" id="{94741109-810E-4F6E-AA9B-6DF0D59EAFCB}"/>
                </a:ext>
              </a:extLst>
            </p:cNvPr>
            <p:cNvCxnSpPr>
              <a:cxnSpLocks/>
            </p:cNvCxnSpPr>
            <p:nvPr/>
          </p:nvCxnSpPr>
          <p:spPr>
            <a:xfrm>
              <a:off x="10469880" y="3353450"/>
              <a:ext cx="0" cy="340726"/>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a:extLst>
                <a:ext uri="{FF2B5EF4-FFF2-40B4-BE49-F238E27FC236}">
                  <a16:creationId xmlns:a16="http://schemas.microsoft.com/office/drawing/2014/main" id="{809B909B-870A-4494-9D9B-D9A85A0EF4F4}"/>
                </a:ext>
              </a:extLst>
            </p:cNvPr>
            <p:cNvSpPr txBox="1"/>
            <p:nvPr/>
          </p:nvSpPr>
          <p:spPr>
            <a:xfrm>
              <a:off x="10515600" y="3429000"/>
              <a:ext cx="1280160" cy="213289"/>
            </a:xfrm>
            <a:prstGeom prst="rect">
              <a:avLst/>
            </a:prstGeom>
            <a:noFill/>
          </p:spPr>
          <p:txBody>
            <a:bodyPr wrap="square" lIns="45720" tIns="27432" rIns="45720" bIns="27432" anchor="t">
              <a:spAutoFit/>
            </a:bodyPr>
            <a:lstStyle/>
            <a:p>
              <a:pPr algn="l">
                <a:spcAft>
                  <a:spcPts val="200"/>
                </a:spcAft>
              </a:pPr>
              <a:r>
                <a:rPr sz="900" b="1" dirty="0" err="1">
                  <a:solidFill>
                    <a:srgbClr val="C55A11"/>
                  </a:solidFill>
                  <a:latin typeface="+mn-ea"/>
                  <a:cs typeface="맑은 고딕"/>
                </a:rPr>
                <a:t>MigrationIntent</a:t>
              </a:r>
              <a:endParaRPr sz="900" b="1" dirty="0">
                <a:solidFill>
                  <a:srgbClr val="C55A11"/>
                </a:solidFill>
                <a:latin typeface="+mn-ea"/>
                <a:cs typeface="맑은 고딕"/>
              </a:endParaRPr>
            </a:p>
          </p:txBody>
        </p:sp>
        <p:cxnSp>
          <p:nvCxnSpPr>
            <p:cNvPr id="122" name="Connector 32">
              <a:extLst>
                <a:ext uri="{FF2B5EF4-FFF2-40B4-BE49-F238E27FC236}">
                  <a16:creationId xmlns:a16="http://schemas.microsoft.com/office/drawing/2014/main" id="{8AFF133C-5335-489D-B990-B83FE43AF1BA}"/>
                </a:ext>
              </a:extLst>
            </p:cNvPr>
            <p:cNvCxnSpPr>
              <a:cxnSpLocks/>
            </p:cNvCxnSpPr>
            <p:nvPr/>
          </p:nvCxnSpPr>
          <p:spPr>
            <a:xfrm flipH="1">
              <a:off x="8895593" y="4197096"/>
              <a:ext cx="441950" cy="0"/>
            </a:xfrm>
            <a:prstGeom prst="line">
              <a:avLst/>
            </a:prstGeom>
            <a:ln w="1524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23" name="TextBox 122">
              <a:extLst>
                <a:ext uri="{FF2B5EF4-FFF2-40B4-BE49-F238E27FC236}">
                  <a16:creationId xmlns:a16="http://schemas.microsoft.com/office/drawing/2014/main" id="{6E47B605-4C79-4DD8-844C-736182629F9D}"/>
                </a:ext>
              </a:extLst>
            </p:cNvPr>
            <p:cNvSpPr txBox="1"/>
            <p:nvPr/>
          </p:nvSpPr>
          <p:spPr>
            <a:xfrm>
              <a:off x="8915400" y="4270248"/>
              <a:ext cx="457200" cy="393852"/>
            </a:xfrm>
            <a:prstGeom prst="rect">
              <a:avLst/>
            </a:prstGeom>
            <a:noFill/>
          </p:spPr>
          <p:txBody>
            <a:bodyPr wrap="square" lIns="45720" tIns="27432" rIns="45720" bIns="27432" anchor="t">
              <a:spAutoFit/>
            </a:bodyPr>
            <a:lstStyle/>
            <a:p>
              <a:pPr algn="ctr">
                <a:spcAft>
                  <a:spcPts val="200"/>
                </a:spcAft>
              </a:pPr>
              <a:r>
                <a:rPr sz="900" b="0" dirty="0" err="1">
                  <a:solidFill>
                    <a:srgbClr val="595959"/>
                  </a:solidFill>
                  <a:latin typeface="+mn-ea"/>
                  <a:cs typeface="맑은 고딕"/>
                </a:rPr>
                <a:t>결과</a:t>
              </a:r>
              <a:r>
                <a:rPr sz="900" b="0" dirty="0">
                  <a:solidFill>
                    <a:srgbClr val="595959"/>
                  </a:solidFill>
                  <a:latin typeface="+mn-ea"/>
                  <a:cs typeface="맑은 고딕"/>
                </a:rPr>
                <a:t>
</a:t>
              </a:r>
              <a:r>
                <a:rPr sz="900" b="0" dirty="0" err="1">
                  <a:solidFill>
                    <a:srgbClr val="595959"/>
                  </a:solidFill>
                  <a:latin typeface="+mn-ea"/>
                  <a:cs typeface="맑은 고딕"/>
                </a:rPr>
                <a:t>갱신</a:t>
              </a:r>
              <a:endParaRPr sz="900" b="0" dirty="0">
                <a:solidFill>
                  <a:srgbClr val="595959"/>
                </a:solidFill>
                <a:latin typeface="+mn-ea"/>
                <a:cs typeface="맑은 고딕"/>
              </a:endParaRPr>
            </a:p>
          </p:txBody>
        </p:sp>
      </p:grpSp>
      <p:sp>
        <p:nvSpPr>
          <p:cNvPr id="127" name="TextBox 126">
            <a:extLst>
              <a:ext uri="{FF2B5EF4-FFF2-40B4-BE49-F238E27FC236}">
                <a16:creationId xmlns:a16="http://schemas.microsoft.com/office/drawing/2014/main" id="{D758DD7F-522C-479B-8067-7B52AADCC004}"/>
              </a:ext>
            </a:extLst>
          </p:cNvPr>
          <p:cNvSpPr txBox="1"/>
          <p:nvPr/>
        </p:nvSpPr>
        <p:spPr>
          <a:xfrm>
            <a:off x="553162" y="4595248"/>
            <a:ext cx="2973891" cy="738664"/>
          </a:xfrm>
          <a:prstGeom prst="rect">
            <a:avLst/>
          </a:prstGeom>
          <a:noFill/>
        </p:spPr>
        <p:txBody>
          <a:bodyPr wrap="none" rtlCol="0">
            <a:spAutoFit/>
          </a:bodyPr>
          <a:lstStyle/>
          <a:p>
            <a:r>
              <a:rPr lang="en-US" altLang="ko-KR" sz="1050" dirty="0"/>
              <a:t>Tool </a:t>
            </a:r>
            <a:r>
              <a:rPr lang="ko-KR" altLang="en-US" sz="1050" dirty="0"/>
              <a:t>호출 시 </a:t>
            </a:r>
            <a:endParaRPr lang="en-US" altLang="ko-KR" sz="1050" dirty="0"/>
          </a:p>
          <a:p>
            <a:r>
              <a:rPr lang="en-US" altLang="ko-KR" sz="1050" dirty="0">
                <a:latin typeface="맑은 고딕" panose="020B0503020000020004" pitchFamily="50" charset="-127"/>
                <a:ea typeface="맑은 고딕" panose="020B0503020000020004" pitchFamily="50" charset="-127"/>
              </a:rPr>
              <a:t>→</a:t>
            </a:r>
            <a:r>
              <a:rPr lang="en-US" altLang="ko-KR" sz="1050" dirty="0"/>
              <a:t> LLM </a:t>
            </a:r>
            <a:r>
              <a:rPr lang="ko-KR" altLang="en-US" sz="1050" dirty="0"/>
              <a:t>연산을 하던 </a:t>
            </a:r>
            <a:r>
              <a:rPr lang="en-US" altLang="ko-KR" sz="1050" dirty="0"/>
              <a:t>GPU </a:t>
            </a:r>
            <a:r>
              <a:rPr lang="ko-KR" altLang="en-US" sz="1050" dirty="0"/>
              <a:t>반환하고 </a:t>
            </a:r>
            <a:r>
              <a:rPr lang="en-US" altLang="ko-KR" sz="1050" dirty="0"/>
              <a:t>CPU </a:t>
            </a:r>
            <a:r>
              <a:rPr lang="ko-KR" altLang="en-US" sz="1050" dirty="0"/>
              <a:t>호출 </a:t>
            </a:r>
            <a:endParaRPr lang="en-US" altLang="ko-KR" sz="1050" dirty="0"/>
          </a:p>
          <a:p>
            <a:r>
              <a:rPr lang="en-US" altLang="ko-KR" sz="1050" dirty="0">
                <a:latin typeface="맑은 고딕" panose="020B0503020000020004" pitchFamily="50" charset="-127"/>
              </a:rPr>
              <a:t>→</a:t>
            </a:r>
            <a:r>
              <a:rPr lang="en-US" altLang="ko-KR" sz="1050" dirty="0"/>
              <a:t> HBM</a:t>
            </a:r>
            <a:r>
              <a:rPr lang="ko-KR" altLang="en-US" sz="1050" dirty="0"/>
              <a:t>에 상주하는</a:t>
            </a:r>
            <a:r>
              <a:rPr lang="en-US" altLang="ko-KR" sz="1050" dirty="0"/>
              <a:t> KV </a:t>
            </a:r>
            <a:r>
              <a:rPr lang="ko-KR" altLang="en-US" sz="1050" dirty="0"/>
              <a:t>캐시는 </a:t>
            </a:r>
            <a:r>
              <a:rPr lang="en-US" altLang="ko-KR" sz="1050" dirty="0"/>
              <a:t>idle </a:t>
            </a:r>
            <a:r>
              <a:rPr lang="ko-KR" altLang="en-US" sz="1050" dirty="0"/>
              <a:t>상태가 됨</a:t>
            </a:r>
            <a:endParaRPr lang="en-US" altLang="ko-KR" sz="1050" dirty="0"/>
          </a:p>
          <a:p>
            <a:endParaRPr lang="ko-KR" altLang="en-US" sz="1050" dirty="0"/>
          </a:p>
        </p:txBody>
      </p:sp>
      <p:grpSp>
        <p:nvGrpSpPr>
          <p:cNvPr id="2" name="그룹 1"/>
          <p:cNvGrpSpPr/>
          <p:nvPr/>
        </p:nvGrpSpPr>
        <p:grpSpPr>
          <a:xfrm>
            <a:off x="583210" y="5869540"/>
            <a:ext cx="10141395" cy="325343"/>
            <a:chOff x="465858" y="5727372"/>
            <a:chExt cx="10141395" cy="325343"/>
          </a:xfrm>
        </p:grpSpPr>
        <p:sp>
          <p:nvSpPr>
            <p:cNvPr id="128" name="Text 22">
              <a:extLst>
                <a:ext uri="{FF2B5EF4-FFF2-40B4-BE49-F238E27FC236}">
                  <a16:creationId xmlns:a16="http://schemas.microsoft.com/office/drawing/2014/main" id="{6E4C06FB-5661-411C-992A-C3DD21D98412}"/>
                </a:ext>
              </a:extLst>
            </p:cNvPr>
            <p:cNvSpPr/>
            <p:nvPr/>
          </p:nvSpPr>
          <p:spPr>
            <a:xfrm>
              <a:off x="922542" y="5727372"/>
              <a:ext cx="9684711" cy="325343"/>
            </a:xfrm>
            <a:prstGeom prst="rect">
              <a:avLst/>
            </a:prstGeom>
            <a:noFill/>
            <a:ln/>
          </p:spPr>
          <p:txBody>
            <a:bodyPr wrap="square" lIns="0" tIns="0" rIns="0" bIns="0" rtlCol="0" anchor="t"/>
            <a:lstStyle/>
            <a:p>
              <a:pPr>
                <a:lnSpc>
                  <a:spcPct val="150000"/>
                </a:lnSpc>
              </a:pPr>
              <a:r>
                <a:rPr lang="ko-KR" altLang="en-US" sz="1600" b="1" dirty="0">
                  <a:solidFill>
                    <a:srgbClr val="0066FF"/>
                  </a:solidFill>
                  <a:sym typeface="Wingdings" panose="05000000000000000000" pitchFamily="2" charset="2"/>
                </a:rPr>
                <a:t>이기종 메모리의 자원 상태 및 데이터의 접근 특성을 인지한 데이터 이동 스케줄링 구조 설계 필요</a:t>
              </a:r>
              <a:endParaRPr lang="en-US" altLang="ko-KR" sz="1600" b="1" dirty="0">
                <a:solidFill>
                  <a:srgbClr val="0066FF"/>
                </a:solidFill>
                <a:sym typeface="Wingdings" panose="05000000000000000000" pitchFamily="2" charset="2"/>
              </a:endParaRPr>
            </a:p>
          </p:txBody>
        </p:sp>
        <p:sp>
          <p:nvSpPr>
            <p:cNvPr id="129" name="오른쪽 화살표 39">
              <a:extLst>
                <a:ext uri="{FF2B5EF4-FFF2-40B4-BE49-F238E27FC236}">
                  <a16:creationId xmlns:a16="http://schemas.microsoft.com/office/drawing/2014/main" id="{54EC47CE-2C51-4E80-9454-E8A1DE43DF59}"/>
                </a:ext>
              </a:extLst>
            </p:cNvPr>
            <p:cNvSpPr/>
            <p:nvPr/>
          </p:nvSpPr>
          <p:spPr>
            <a:xfrm>
              <a:off x="465858" y="5797701"/>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38707131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a:xfrm>
            <a:off x="234948" y="137379"/>
            <a:ext cx="4389303" cy="365125"/>
          </a:xfrm>
        </p:spPr>
        <p:txBody>
          <a:bodyPr/>
          <a:lstStyle/>
          <a:p>
            <a:r>
              <a:rPr lang="ko-KR" altLang="en-US" dirty="0"/>
              <a:t>배경 지식 </a:t>
            </a:r>
            <a:r>
              <a:rPr lang="en-US" altLang="ko-KR" dirty="0"/>
              <a:t>(KV </a:t>
            </a:r>
            <a:r>
              <a:rPr lang="ko-KR" altLang="en-US" dirty="0"/>
              <a:t>캐시</a:t>
            </a:r>
            <a:r>
              <a:rPr lang="en-US" altLang="ko-KR" dirty="0"/>
              <a:t>, Prefill/Decode)</a:t>
            </a:r>
          </a:p>
        </p:txBody>
      </p:sp>
      <p:sp>
        <p:nvSpPr>
          <p:cNvPr id="18" name="Rounded Rectangle 101">
            <a:extLst>
              <a:ext uri="{FF2B5EF4-FFF2-40B4-BE49-F238E27FC236}">
                <a16:creationId xmlns:a16="http://schemas.microsoft.com/office/drawing/2014/main" id="{87115B3D-1AEC-4478-8FDE-6F2875423998}"/>
              </a:ext>
            </a:extLst>
          </p:cNvPr>
          <p:cNvSpPr/>
          <p:nvPr/>
        </p:nvSpPr>
        <p:spPr>
          <a:xfrm>
            <a:off x="361681" y="775224"/>
            <a:ext cx="1519370" cy="410721"/>
          </a:xfrm>
          <a:prstGeom prst="roundRect">
            <a:avLst>
              <a:gd name="adj" fmla="val 16000"/>
            </a:avLst>
          </a:prstGeom>
          <a:solidFill>
            <a:srgbClr val="A8C6E8"/>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0"/>
              </a:spcAft>
            </a:pPr>
            <a:r>
              <a:rPr sz="1150" b="1" i="0" dirty="0">
                <a:solidFill>
                  <a:srgbClr val="1F3864"/>
                </a:solidFill>
                <a:latin typeface="맑은 고딕"/>
                <a:ea typeface="맑은 고딕"/>
                <a:cs typeface="맑은 고딕"/>
              </a:rPr>
              <a:t>KV </a:t>
            </a:r>
            <a:r>
              <a:rPr sz="1150" b="1" i="0" dirty="0" err="1">
                <a:solidFill>
                  <a:srgbClr val="1F3864"/>
                </a:solidFill>
                <a:latin typeface="맑은 고딕"/>
                <a:ea typeface="맑은 고딕"/>
                <a:cs typeface="맑은 고딕"/>
              </a:rPr>
              <a:t>캐시란</a:t>
            </a:r>
            <a:r>
              <a:rPr sz="1150" b="1" i="0" dirty="0">
                <a:solidFill>
                  <a:srgbClr val="1F3864"/>
                </a:solidFill>
                <a:latin typeface="맑은 고딕"/>
                <a:ea typeface="맑은 고딕"/>
                <a:cs typeface="맑은 고딕"/>
              </a:rPr>
              <a:t>?</a:t>
            </a:r>
            <a:endParaRPr lang="en-US" sz="1150" b="1" i="0" dirty="0">
              <a:solidFill>
                <a:srgbClr val="1F3864"/>
              </a:solidFill>
              <a:latin typeface="맑은 고딕"/>
              <a:ea typeface="맑은 고딕"/>
              <a:cs typeface="맑은 고딕"/>
            </a:endParaRPr>
          </a:p>
          <a:p>
            <a:pPr algn="ctr">
              <a:lnSpc>
                <a:spcPct val="100000"/>
              </a:lnSpc>
              <a:spcAft>
                <a:spcPts val="0"/>
              </a:spcAft>
            </a:pPr>
            <a:r>
              <a:rPr lang="en-US" sz="900" b="1" dirty="0">
                <a:solidFill>
                  <a:srgbClr val="1F3864"/>
                </a:solidFill>
                <a:latin typeface="맑은 고딕"/>
                <a:ea typeface="맑은 고딕"/>
                <a:cs typeface="맑은 고딕"/>
              </a:rPr>
              <a:t>(Key-Value Cache)</a:t>
            </a:r>
            <a:endParaRPr sz="900" b="1" i="0" dirty="0">
              <a:solidFill>
                <a:srgbClr val="1F3864"/>
              </a:solidFill>
              <a:latin typeface="맑은 고딕"/>
              <a:ea typeface="맑은 고딕"/>
              <a:cs typeface="맑은 고딕"/>
            </a:endParaRPr>
          </a:p>
        </p:txBody>
      </p:sp>
      <p:sp>
        <p:nvSpPr>
          <p:cNvPr id="173" name="Definition box"/>
          <p:cNvSpPr/>
          <p:nvPr/>
        </p:nvSpPr>
        <p:spPr>
          <a:xfrm>
            <a:off x="1986709" y="850561"/>
            <a:ext cx="8264197" cy="302480"/>
          </a:xfrm>
          <a:prstGeom prst="roundRect">
            <a:avLst>
              <a:gd name="adj" fmla="val 12821"/>
            </a:avLst>
          </a:prstGeom>
          <a:solidFill>
            <a:srgbClr val="EAF1FD"/>
          </a:solidFill>
          <a:ln/>
        </p:spPr>
        <p:txBody>
          <a:bodyPr/>
          <a:lstStyle/>
          <a:p>
            <a:pPr lvl="0"/>
            <a:r>
              <a:rPr lang="ko-KR" altLang="en-US" sz="1200" b="1" dirty="0">
                <a:solidFill>
                  <a:srgbClr val="2E75B6"/>
                </a:solidFill>
                <a:ea typeface="맑은 고딕"/>
                <a:cs typeface="맑은 고딕"/>
              </a:rPr>
              <a:t>앞서 처리한 토큰의 정보</a:t>
            </a:r>
            <a:r>
              <a:rPr lang="en-US" altLang="ko-KR" sz="1200" b="1" dirty="0">
                <a:solidFill>
                  <a:srgbClr val="2E75B6"/>
                </a:solidFill>
                <a:ea typeface="맑은 고딕"/>
                <a:cs typeface="맑은 고딕"/>
              </a:rPr>
              <a:t>(Key, Value)</a:t>
            </a:r>
            <a:r>
              <a:rPr lang="ko-KR" altLang="en-US" sz="1200" b="1" dirty="0">
                <a:solidFill>
                  <a:srgbClr val="2E75B6"/>
                </a:solidFill>
                <a:ea typeface="맑은 고딕"/>
                <a:cs typeface="맑은 고딕"/>
              </a:rPr>
              <a:t>를 저장해</a:t>
            </a:r>
            <a:r>
              <a:rPr lang="en-US" altLang="ko-KR" sz="1200" b="1" dirty="0">
                <a:solidFill>
                  <a:srgbClr val="2E75B6"/>
                </a:solidFill>
                <a:ea typeface="맑은 고딕"/>
                <a:cs typeface="맑은 고딕"/>
              </a:rPr>
              <a:t>, </a:t>
            </a:r>
            <a:r>
              <a:rPr lang="ko-KR" altLang="en-US" sz="1200" b="1" dirty="0">
                <a:solidFill>
                  <a:srgbClr val="2E75B6"/>
                </a:solidFill>
                <a:ea typeface="맑은 고딕"/>
                <a:cs typeface="맑은 고딕"/>
              </a:rPr>
              <a:t>다음 토큰을 생성할 때 다시 계산하지 않고 이를 재사용하는 메모리 </a:t>
            </a:r>
          </a:p>
        </p:txBody>
      </p:sp>
      <p:grpSp>
        <p:nvGrpSpPr>
          <p:cNvPr id="3" name="그룹 2"/>
          <p:cNvGrpSpPr/>
          <p:nvPr/>
        </p:nvGrpSpPr>
        <p:grpSpPr>
          <a:xfrm>
            <a:off x="336866" y="1728023"/>
            <a:ext cx="9802846" cy="3301627"/>
            <a:chOff x="548640" y="2194560"/>
            <a:chExt cx="10186461" cy="4370832"/>
          </a:xfrm>
        </p:grpSpPr>
        <p:sp>
          <p:nvSpPr>
            <p:cNvPr id="177" name="Cache caption"/>
            <p:cNvSpPr txBox="1"/>
            <p:nvPr/>
          </p:nvSpPr>
          <p:spPr>
            <a:xfrm>
              <a:off x="5351038" y="2962976"/>
              <a:ext cx="5212080" cy="27432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4B5563"/>
                  </a:solidFill>
                  <a:effectLst/>
                  <a:uLnTx/>
                  <a:uFillTx/>
                </a:rPr>
                <a:t>KV 캐시: 토큰마다 </a:t>
              </a:r>
              <a:r>
                <a:rPr kumimoji="0" lang="en-US" sz="1050" b="0" i="0" u="none" strike="noStrike" kern="0" cap="none" spc="0" normalizeH="0" baseline="0" noProof="0" dirty="0" err="1">
                  <a:ln>
                    <a:noFill/>
                  </a:ln>
                  <a:solidFill>
                    <a:srgbClr val="4B5563"/>
                  </a:solidFill>
                  <a:effectLst/>
                  <a:uLnTx/>
                  <a:uFillTx/>
                </a:rPr>
                <a:t>Key·Value가</a:t>
              </a:r>
              <a:r>
                <a:rPr kumimoji="0" lang="en-US" sz="1050" b="0" i="0" u="none" strike="noStrike" kern="0" cap="none" spc="0" normalizeH="0" baseline="0" noProof="0" dirty="0">
                  <a:ln>
                    <a:noFill/>
                  </a:ln>
                  <a:solidFill>
                    <a:srgbClr val="4B5563"/>
                  </a:solidFill>
                  <a:effectLst/>
                  <a:uLnTx/>
                  <a:uFillTx/>
                </a:rPr>
                <a:t>  칸씩 쌓임</a:t>
              </a:r>
              <a:endParaRPr kumimoji="0" lang="en-US" sz="1050" b="0" i="0" u="none" strike="noStrike" kern="0" cap="none" spc="0" normalizeH="0" baseline="0" noProof="0" dirty="0">
                <a:ln>
                  <a:noFill/>
                </a:ln>
                <a:solidFill>
                  <a:srgbClr val="1F2937"/>
                </a:solidFill>
                <a:effectLst/>
                <a:uLnTx/>
                <a:uFillTx/>
              </a:endParaRPr>
            </a:p>
          </p:txBody>
        </p:sp>
        <p:sp>
          <p:nvSpPr>
            <p:cNvPr id="178" name="Prefill badge"/>
            <p:cNvSpPr/>
            <p:nvPr/>
          </p:nvSpPr>
          <p:spPr>
            <a:xfrm>
              <a:off x="548640" y="2194560"/>
              <a:ext cx="2011680" cy="914400"/>
            </a:xfrm>
            <a:prstGeom prst="roundRect">
              <a:avLst>
                <a:gd name="adj" fmla="val 10000"/>
              </a:avLst>
            </a:prstGeom>
            <a:solidFill>
              <a:srgbClr val="1D4ED8"/>
            </a:solidFill>
            <a:ln/>
          </p:spPr>
        </p:sp>
        <p:sp>
          <p:nvSpPr>
            <p:cNvPr id="179" name="Prefill badge text"/>
            <p:cNvSpPr txBox="1"/>
            <p:nvPr/>
          </p:nvSpPr>
          <p:spPr>
            <a:xfrm>
              <a:off x="548640" y="2194560"/>
              <a:ext cx="2011680" cy="914400"/>
            </a:xfrm>
            <a:prstGeom prst="rect">
              <a:avLst/>
            </a:prstGeom>
            <a:noFill/>
            <a:ln/>
          </p:spPr>
          <p:txBody>
            <a:bodyPr wrap="square" lIns="0" tIns="0" rIns="0" bIns="0" rtlCol="0" anchor="ctr"/>
            <a:lstStyle/>
            <a:p>
              <a:pPr marL="0" marR="0" lvl="0" indent="0" algn="ctr" defTabSz="914400" eaLnBrk="1" fontAlgn="auto" latinLnBrk="0" hangingPunct="1">
                <a:spcBef>
                  <a:spcPts val="0"/>
                </a:spcBef>
                <a:spcAft>
                  <a:spcPts val="0"/>
                </a:spcAft>
                <a:buClrTx/>
                <a:buSzTx/>
                <a:buFontTx/>
                <a:buNone/>
                <a:tabLst/>
                <a:defRPr/>
              </a:pPr>
              <a:r>
                <a:rPr kumimoji="0" lang="en-US" sz="1600" b="1" i="0" u="none" strike="noStrike" kern="0" cap="none" spc="0" normalizeH="0" baseline="0" noProof="0" dirty="0">
                  <a:ln>
                    <a:noFill/>
                  </a:ln>
                  <a:solidFill>
                    <a:srgbClr val="FFFFFF"/>
                  </a:solidFill>
                  <a:effectLst/>
                  <a:uLnTx/>
                  <a:uFillTx/>
                </a:rPr>
                <a:t>Prefill </a:t>
              </a:r>
              <a:r>
                <a:rPr kumimoji="0" lang="ko-KR" altLang="en-US" sz="1600" b="1" i="0" u="none" strike="noStrike" kern="0" cap="none" spc="0" normalizeH="0" baseline="0" noProof="0" dirty="0">
                  <a:ln>
                    <a:noFill/>
                  </a:ln>
                  <a:solidFill>
                    <a:srgbClr val="FFFFFF"/>
                  </a:solidFill>
                  <a:effectLst/>
                  <a:uLnTx/>
                  <a:uFillTx/>
                </a:rPr>
                <a:t>단계</a:t>
              </a:r>
              <a:endParaRPr kumimoji="0" lang="en-US" sz="1600" b="0" i="0" u="none" strike="noStrike" kern="0" cap="none" spc="0" normalizeH="0" baseline="0" noProof="0" dirty="0">
                <a:ln>
                  <a:noFill/>
                </a:ln>
                <a:solidFill>
                  <a:srgbClr val="1F2937"/>
                </a:solidFill>
                <a:effectLst/>
                <a:uLnTx/>
                <a:uFillTx/>
              </a:endParaRPr>
            </a:p>
            <a:p>
              <a:pPr marL="0" marR="0" lvl="0" indent="0" algn="ctr" defTabSz="914400" eaLnBrk="1" fontAlgn="auto" latinLnBrk="0" hangingPunct="1">
                <a:spcBef>
                  <a:spcPts val="0"/>
                </a:spcBef>
                <a:spcAft>
                  <a:spcPts val="0"/>
                </a:spcAft>
                <a:buClrTx/>
                <a:buSzTx/>
                <a:buFontTx/>
                <a:buNone/>
                <a:tabLst/>
                <a:defRPr/>
              </a:pPr>
              <a:r>
                <a:rPr kumimoji="0" lang="en-US" sz="1050" b="0" i="0" u="none" strike="noStrike" kern="0" cap="none" spc="0" normalizeH="0" baseline="0" noProof="0" dirty="0">
                  <a:ln>
                    <a:noFill/>
                  </a:ln>
                  <a:solidFill>
                    <a:srgbClr val="FFFFFF"/>
                  </a:solidFill>
                  <a:effectLst/>
                  <a:uLnTx/>
                  <a:uFillTx/>
                </a:rPr>
                <a:t>입력 </a:t>
              </a:r>
              <a:r>
                <a:rPr kumimoji="0" lang="en-US" sz="1050" b="0" i="0" u="none" strike="noStrike" kern="0" cap="none" spc="0" normalizeH="0" baseline="0" noProof="0" dirty="0" err="1">
                  <a:ln>
                    <a:noFill/>
                  </a:ln>
                  <a:solidFill>
                    <a:srgbClr val="FFFFFF"/>
                  </a:solidFill>
                  <a:effectLst/>
                  <a:uLnTx/>
                  <a:uFillTx/>
                </a:rPr>
                <a:t>프롬프트</a:t>
              </a:r>
              <a:r>
                <a:rPr kumimoji="0" lang="en-US" sz="1050" b="0" i="0" u="none" strike="noStrike" kern="0" cap="none" spc="0" normalizeH="0" baseline="0" noProof="0" dirty="0">
                  <a:ln>
                    <a:noFill/>
                  </a:ln>
                  <a:solidFill>
                    <a:srgbClr val="FFFFFF"/>
                  </a:solidFill>
                  <a:effectLst/>
                  <a:uLnTx/>
                  <a:uFillTx/>
                </a:rPr>
                <a:t> </a:t>
              </a:r>
              <a:r>
                <a:rPr kumimoji="0" lang="en-US" sz="1050" b="0" i="0" u="none" strike="noStrike" kern="0" cap="none" spc="0" normalizeH="0" baseline="0" noProof="0" dirty="0" err="1">
                  <a:ln>
                    <a:noFill/>
                  </a:ln>
                  <a:solidFill>
                    <a:srgbClr val="FFFFFF"/>
                  </a:solidFill>
                  <a:effectLst/>
                  <a:uLnTx/>
                  <a:uFillTx/>
                </a:rPr>
                <a:t>연산</a:t>
              </a:r>
              <a:endParaRPr kumimoji="0" lang="en-US" sz="1050" b="0" i="0" u="none" strike="noStrike" kern="0" cap="none" spc="0" normalizeH="0" baseline="0" noProof="0" dirty="0">
                <a:ln>
                  <a:noFill/>
                </a:ln>
                <a:solidFill>
                  <a:srgbClr val="FFFFFF"/>
                </a:solidFill>
                <a:effectLst/>
                <a:uLnTx/>
                <a:uFillTx/>
              </a:endParaRPr>
            </a:p>
            <a:p>
              <a:pPr marL="0" marR="0" lvl="0" indent="0" algn="ctr" defTabSz="914400" eaLnBrk="1" fontAlgn="auto" latinLnBrk="0" hangingPunct="1">
                <a:spcBef>
                  <a:spcPts val="0"/>
                </a:spcBef>
                <a:spcAft>
                  <a:spcPts val="0"/>
                </a:spcAft>
                <a:buClrTx/>
                <a:buSzTx/>
                <a:buFontTx/>
                <a:buNone/>
                <a:tabLst/>
                <a:defRPr/>
              </a:pPr>
              <a:r>
                <a:rPr lang="en-US" sz="1050" kern="0" dirty="0">
                  <a:solidFill>
                    <a:srgbClr val="FFFFFF"/>
                  </a:solidFill>
                </a:rPr>
                <a:t>-&gt; KV </a:t>
              </a:r>
              <a:r>
                <a:rPr lang="ko-KR" altLang="en-US" sz="1050" kern="0" dirty="0">
                  <a:solidFill>
                    <a:srgbClr val="FFFFFF"/>
                  </a:solidFill>
                </a:rPr>
                <a:t>캐시 생성</a:t>
              </a:r>
              <a:endParaRPr kumimoji="0" lang="en-US" sz="1050" b="0" i="0" u="none" strike="noStrike" kern="0" cap="none" spc="0" normalizeH="0" baseline="0" noProof="0" dirty="0">
                <a:ln>
                  <a:noFill/>
                </a:ln>
                <a:solidFill>
                  <a:srgbClr val="FFFFFF"/>
                </a:solidFill>
                <a:effectLst/>
                <a:uLnTx/>
                <a:uFillTx/>
              </a:endParaRPr>
            </a:p>
          </p:txBody>
        </p:sp>
        <p:sp>
          <p:nvSpPr>
            <p:cNvPr id="180" name="Decode badge"/>
            <p:cNvSpPr/>
            <p:nvPr/>
          </p:nvSpPr>
          <p:spPr>
            <a:xfrm>
              <a:off x="548640" y="3200400"/>
              <a:ext cx="2011680" cy="2926080"/>
            </a:xfrm>
            <a:prstGeom prst="roundRect">
              <a:avLst>
                <a:gd name="adj" fmla="val 4545"/>
              </a:avLst>
            </a:prstGeom>
            <a:solidFill>
              <a:srgbClr val="F59E0B"/>
            </a:solidFill>
            <a:ln/>
          </p:spPr>
        </p:sp>
        <p:sp>
          <p:nvSpPr>
            <p:cNvPr id="181" name="Decode badge text"/>
            <p:cNvSpPr txBox="1"/>
            <p:nvPr/>
          </p:nvSpPr>
          <p:spPr>
            <a:xfrm>
              <a:off x="548640" y="3200400"/>
              <a:ext cx="2011680" cy="2926080"/>
            </a:xfrm>
            <a:prstGeom prst="rect">
              <a:avLst/>
            </a:prstGeom>
            <a:noFill/>
            <a:ln/>
          </p:spPr>
          <p:txBody>
            <a:bodyPr wrap="square"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1F2937"/>
                  </a:solidFill>
                  <a:effectLst/>
                  <a:uLnTx/>
                  <a:uFillTx/>
                </a:rPr>
                <a:t>Decode </a:t>
              </a:r>
              <a:r>
                <a:rPr kumimoji="0" lang="ko-KR" altLang="en-US" sz="1600" b="1" i="0" u="none" strike="noStrike" kern="0" cap="none" spc="0" normalizeH="0" baseline="0" noProof="0" dirty="0">
                  <a:ln>
                    <a:noFill/>
                  </a:ln>
                  <a:solidFill>
                    <a:srgbClr val="1F2937"/>
                  </a:solidFill>
                  <a:effectLst/>
                  <a:uLnTx/>
                  <a:uFillTx/>
                </a:rPr>
                <a:t>단계</a:t>
              </a:r>
              <a:endParaRPr kumimoji="0" lang="en-US" sz="1600" b="0" i="0" u="none" strike="noStrike" kern="0" cap="none" spc="0" normalizeH="0" baseline="0" noProof="0" dirty="0">
                <a:ln>
                  <a:noFill/>
                </a:ln>
                <a:solidFill>
                  <a:srgbClr val="1F2937"/>
                </a:solidFill>
                <a:effectLst/>
                <a:uLnTx/>
                <a:uFillTx/>
              </a:endParaRPr>
            </a:p>
            <a:p>
              <a:pPr lvl="0" algn="ctr" latinLnBrk="0">
                <a:lnSpc>
                  <a:spcPct val="150000"/>
                </a:lnSpc>
                <a:defRPr/>
              </a:pPr>
              <a:r>
                <a:rPr kumimoji="0" lang="en-US" altLang="ko-KR" sz="1100" b="0" i="0" u="none" strike="noStrike" kern="0" cap="none" spc="0" normalizeH="0" baseline="0" noProof="0" dirty="0">
                  <a:ln>
                    <a:noFill/>
                  </a:ln>
                  <a:solidFill>
                    <a:srgbClr val="1F2937"/>
                  </a:solidFill>
                  <a:effectLst/>
                  <a:uLnTx/>
                  <a:uFillTx/>
                </a:rPr>
                <a:t>1 </a:t>
              </a:r>
              <a:r>
                <a:rPr lang="en-US" altLang="ko-KR" sz="1100" kern="0" dirty="0">
                  <a:solidFill>
                    <a:srgbClr val="1F2937"/>
                  </a:solidFill>
                </a:rPr>
                <a:t>step </a:t>
              </a:r>
              <a:r>
                <a:rPr lang="ko-KR" altLang="en-US" sz="1100" kern="0" dirty="0">
                  <a:solidFill>
                    <a:srgbClr val="1F2937"/>
                  </a:solidFill>
                </a:rPr>
                <a:t>당 출력 토큰 </a:t>
              </a:r>
              <a:r>
                <a:rPr lang="en-US" altLang="ko-KR" sz="1100" kern="0" dirty="0">
                  <a:solidFill>
                    <a:srgbClr val="1F2937"/>
                  </a:solidFill>
                </a:rPr>
                <a:t>1개 </a:t>
              </a:r>
              <a:r>
                <a:rPr kumimoji="0" lang="en-US" sz="1100" b="0" i="0" u="none" strike="noStrike" kern="0" cap="none" spc="0" normalizeH="0" baseline="0" noProof="0" dirty="0" err="1">
                  <a:ln>
                    <a:noFill/>
                  </a:ln>
                  <a:solidFill>
                    <a:srgbClr val="1F2937"/>
                  </a:solidFill>
                  <a:effectLst/>
                  <a:uLnTx/>
                  <a:uFillTx/>
                </a:rPr>
                <a:t>생성</a:t>
              </a:r>
              <a:endParaRPr kumimoji="0" lang="en-US" sz="1100" b="0" i="0" u="none" strike="noStrike" kern="0" cap="none" spc="0" normalizeH="0" baseline="0" noProof="0" dirty="0">
                <a:ln>
                  <a:noFill/>
                </a:ln>
                <a:solidFill>
                  <a:srgbClr val="1F2937"/>
                </a:solidFill>
                <a:effectLst/>
                <a:uLnTx/>
                <a:uFillTx/>
              </a:endParaRPr>
            </a:p>
            <a:p>
              <a:pPr marL="0" marR="0" lvl="0" indent="0" algn="ctr" defTabSz="914400" eaLnBrk="1" fontAlgn="auto" latinLnBrk="0" hangingPunct="1">
                <a:lnSpc>
                  <a:spcPct val="150000"/>
                </a:lnSpc>
                <a:spcBef>
                  <a:spcPts val="0"/>
                </a:spcBef>
                <a:spcAft>
                  <a:spcPts val="0"/>
                </a:spcAft>
                <a:buClrTx/>
                <a:buSzTx/>
                <a:buFontTx/>
                <a:buNone/>
                <a:tabLst/>
                <a:defRPr/>
              </a:pPr>
              <a:r>
                <a:rPr lang="en-US" sz="1100" kern="0" dirty="0">
                  <a:solidFill>
                    <a:srgbClr val="1F2937"/>
                  </a:solidFill>
                </a:rPr>
                <a:t>-&gt; </a:t>
              </a:r>
              <a:r>
                <a:rPr lang="ko-KR" altLang="en-US" sz="1100" kern="0" dirty="0">
                  <a:solidFill>
                    <a:srgbClr val="1F2937"/>
                  </a:solidFill>
                </a:rPr>
                <a:t>새 토큰의 </a:t>
              </a:r>
              <a:r>
                <a:rPr lang="en-US" altLang="ko-KR" sz="1100" kern="0" dirty="0">
                  <a:solidFill>
                    <a:srgbClr val="1F2937"/>
                  </a:solidFill>
                </a:rPr>
                <a:t>KV </a:t>
              </a:r>
              <a:r>
                <a:rPr lang="ko-KR" altLang="en-US" sz="1100" kern="0" dirty="0">
                  <a:solidFill>
                    <a:srgbClr val="1F2937"/>
                  </a:solidFill>
                </a:rPr>
                <a:t>캐시만 생성해서 기존 </a:t>
              </a:r>
              <a:r>
                <a:rPr lang="en-US" altLang="ko-KR" sz="1100" kern="0" dirty="0">
                  <a:solidFill>
                    <a:srgbClr val="1F2937"/>
                  </a:solidFill>
                </a:rPr>
                <a:t>KV </a:t>
              </a:r>
              <a:r>
                <a:rPr lang="ko-KR" altLang="en-US" sz="1100" kern="0" dirty="0">
                  <a:solidFill>
                    <a:srgbClr val="1F2937"/>
                  </a:solidFill>
                </a:rPr>
                <a:t>캐시에 </a:t>
              </a:r>
              <a:r>
                <a:rPr lang="en-US" altLang="ko-KR" sz="1100" kern="0" dirty="0">
                  <a:solidFill>
                    <a:srgbClr val="1F2937"/>
                  </a:solidFill>
                </a:rPr>
                <a:t>append</a:t>
              </a:r>
              <a:endParaRPr kumimoji="0" lang="en-US" sz="1100" b="0" i="0" u="none" strike="noStrike" kern="0" cap="none" spc="0" normalizeH="0" baseline="0" noProof="0" dirty="0">
                <a:ln>
                  <a:noFill/>
                </a:ln>
                <a:solidFill>
                  <a:srgbClr val="1F2937"/>
                </a:solidFill>
                <a:effectLst/>
                <a:uLnTx/>
                <a:uFillTx/>
              </a:endParaRPr>
            </a:p>
          </p:txBody>
        </p:sp>
        <p:sp>
          <p:nvSpPr>
            <p:cNvPr id="182" name="Cell r0 c0"/>
            <p:cNvSpPr/>
            <p:nvPr/>
          </p:nvSpPr>
          <p:spPr>
            <a:xfrm>
              <a:off x="2743200" y="2286000"/>
              <a:ext cx="777240" cy="731520"/>
            </a:xfrm>
            <a:prstGeom prst="roundRect">
              <a:avLst>
                <a:gd name="adj" fmla="val 10000"/>
              </a:avLst>
            </a:prstGeom>
            <a:solidFill>
              <a:srgbClr val="1D4ED8"/>
            </a:solidFill>
            <a:ln/>
          </p:spPr>
        </p:sp>
        <p:sp>
          <p:nvSpPr>
            <p:cNvPr id="183" name="Cell text r0 c0"/>
            <p:cNvSpPr txBox="1"/>
            <p:nvPr/>
          </p:nvSpPr>
          <p:spPr>
            <a:xfrm>
              <a:off x="2743200"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solidFill>
                  <a:effectLst/>
                  <a:uLnTx/>
                  <a:uFillTx/>
                </a:rPr>
                <a:t>오늘의</a:t>
              </a:r>
              <a:endParaRPr kumimoji="0" lang="en-US" sz="1200" b="0" i="0" u="none" strike="noStrike" kern="0" cap="none" spc="0" normalizeH="0" baseline="0" noProof="0" dirty="0">
                <a:ln>
                  <a:noFill/>
                </a:ln>
                <a:solidFill>
                  <a:srgbClr val="1F2937"/>
                </a:solidFill>
                <a:effectLst/>
                <a:uLnTx/>
                <a:uFillTx/>
              </a:endParaRPr>
            </a:p>
          </p:txBody>
        </p:sp>
        <p:sp>
          <p:nvSpPr>
            <p:cNvPr id="184" name="Cell r0 c1"/>
            <p:cNvSpPr/>
            <p:nvPr/>
          </p:nvSpPr>
          <p:spPr>
            <a:xfrm>
              <a:off x="3593592" y="2286000"/>
              <a:ext cx="777240" cy="731520"/>
            </a:xfrm>
            <a:prstGeom prst="roundRect">
              <a:avLst>
                <a:gd name="adj" fmla="val 10000"/>
              </a:avLst>
            </a:prstGeom>
            <a:solidFill>
              <a:srgbClr val="1D4ED8"/>
            </a:solidFill>
            <a:ln/>
          </p:spPr>
        </p:sp>
        <p:sp>
          <p:nvSpPr>
            <p:cNvPr id="185" name="Cell text r0 c1"/>
            <p:cNvSpPr txBox="1"/>
            <p:nvPr/>
          </p:nvSpPr>
          <p:spPr>
            <a:xfrm>
              <a:off x="3593592"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solidFill>
                  <a:effectLst/>
                  <a:uLnTx/>
                  <a:uFillTx/>
                </a:rPr>
                <a:t>날씨</a:t>
              </a:r>
              <a:endParaRPr kumimoji="0" lang="en-US" sz="1200" b="0" i="0" u="none" strike="noStrike" kern="0" cap="none" spc="0" normalizeH="0" baseline="0" noProof="0" dirty="0">
                <a:ln>
                  <a:noFill/>
                </a:ln>
                <a:solidFill>
                  <a:srgbClr val="1F2937"/>
                </a:solidFill>
                <a:effectLst/>
                <a:uLnTx/>
                <a:uFillTx/>
              </a:endParaRPr>
            </a:p>
          </p:txBody>
        </p:sp>
        <p:sp>
          <p:nvSpPr>
            <p:cNvPr id="186" name="Cell r0 c2"/>
            <p:cNvSpPr/>
            <p:nvPr/>
          </p:nvSpPr>
          <p:spPr>
            <a:xfrm>
              <a:off x="4443984" y="2286000"/>
              <a:ext cx="777240" cy="731520"/>
            </a:xfrm>
            <a:prstGeom prst="roundRect">
              <a:avLst>
                <a:gd name="adj" fmla="val 10000"/>
              </a:avLst>
            </a:prstGeom>
            <a:solidFill>
              <a:srgbClr val="1D4ED8"/>
            </a:solidFill>
            <a:ln/>
          </p:spPr>
        </p:sp>
        <p:sp>
          <p:nvSpPr>
            <p:cNvPr id="187" name="Cell text r0 c2"/>
            <p:cNvSpPr txBox="1"/>
            <p:nvPr/>
          </p:nvSpPr>
          <p:spPr>
            <a:xfrm>
              <a:off x="4443984"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solidFill>
                  <a:effectLst/>
                  <a:uLnTx/>
                  <a:uFillTx/>
                </a:rPr>
                <a:t>는</a:t>
              </a:r>
              <a:endParaRPr kumimoji="0" lang="en-US" sz="1200" b="0" i="0" u="none" strike="noStrike" kern="0" cap="none" spc="0" normalizeH="0" baseline="0" noProof="0" dirty="0">
                <a:ln>
                  <a:noFill/>
                </a:ln>
                <a:solidFill>
                  <a:srgbClr val="1F2937"/>
                </a:solidFill>
                <a:effectLst/>
                <a:uLnTx/>
                <a:uFillTx/>
              </a:endParaRPr>
            </a:p>
          </p:txBody>
        </p:sp>
        <p:sp>
          <p:nvSpPr>
            <p:cNvPr id="188" name="Row desc 0"/>
            <p:cNvSpPr txBox="1"/>
            <p:nvPr/>
          </p:nvSpPr>
          <p:spPr>
            <a:xfrm>
              <a:off x="8299366" y="2194560"/>
              <a:ext cx="2435735" cy="91440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1F2937"/>
                  </a:solidFill>
                  <a:effectLst/>
                  <a:uLnTx/>
                  <a:uFillTx/>
                </a:rPr>
                <a:t>프롬프트 3개를 </a:t>
              </a:r>
              <a:r>
                <a:rPr kumimoji="0" lang="en-US" sz="1200" b="1" i="0" u="none" strike="noStrike" kern="0" cap="none" spc="0" normalizeH="0" baseline="0" noProof="0" dirty="0">
                  <a:ln>
                    <a:noFill/>
                  </a:ln>
                  <a:solidFill>
                    <a:srgbClr val="1F2937"/>
                  </a:solidFill>
                  <a:effectLst/>
                  <a:uLnTx/>
                  <a:uFillTx/>
                </a:rPr>
                <a:t>한 번에 연산</a:t>
              </a:r>
              <a:endParaRPr kumimoji="0" lang="en-US" sz="12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1F2937"/>
                  </a:solidFill>
                  <a:effectLst/>
                  <a:uLnTx/>
                  <a:uFillTx/>
                </a:rPr>
                <a:t>→ 첫 토큰 '맑' 생성</a:t>
              </a:r>
            </a:p>
          </p:txBody>
        </p:sp>
        <p:sp>
          <p:nvSpPr>
            <p:cNvPr id="189" name="Cell r1 c0"/>
            <p:cNvSpPr/>
            <p:nvPr/>
          </p:nvSpPr>
          <p:spPr>
            <a:xfrm>
              <a:off x="2743200" y="3291840"/>
              <a:ext cx="777240" cy="731520"/>
            </a:xfrm>
            <a:prstGeom prst="roundRect">
              <a:avLst>
                <a:gd name="adj" fmla="val 10000"/>
              </a:avLst>
            </a:prstGeom>
            <a:solidFill>
              <a:srgbClr val="E5E7EB"/>
            </a:solidFill>
            <a:ln/>
          </p:spPr>
        </p:sp>
        <p:sp>
          <p:nvSpPr>
            <p:cNvPr id="190" name="Cell text r1 c0"/>
            <p:cNvSpPr txBox="1"/>
            <p:nvPr/>
          </p:nvSpPr>
          <p:spPr>
            <a:xfrm>
              <a:off x="2743200"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오늘의</a:t>
              </a:r>
              <a:endParaRPr kumimoji="0" lang="en-US" sz="1200" b="0" i="0" u="none" strike="noStrike" kern="0" cap="none" spc="0" normalizeH="0" baseline="0" noProof="0" dirty="0">
                <a:ln>
                  <a:noFill/>
                </a:ln>
                <a:solidFill>
                  <a:srgbClr val="1F2937"/>
                </a:solidFill>
                <a:effectLst/>
                <a:uLnTx/>
                <a:uFillTx/>
              </a:endParaRPr>
            </a:p>
          </p:txBody>
        </p:sp>
        <p:sp>
          <p:nvSpPr>
            <p:cNvPr id="191" name="Cell r1 c1"/>
            <p:cNvSpPr/>
            <p:nvPr/>
          </p:nvSpPr>
          <p:spPr>
            <a:xfrm>
              <a:off x="3593592" y="3291840"/>
              <a:ext cx="777240" cy="731520"/>
            </a:xfrm>
            <a:prstGeom prst="roundRect">
              <a:avLst>
                <a:gd name="adj" fmla="val 10000"/>
              </a:avLst>
            </a:prstGeom>
            <a:solidFill>
              <a:srgbClr val="E5E7EB"/>
            </a:solidFill>
            <a:ln/>
          </p:spPr>
        </p:sp>
        <p:sp>
          <p:nvSpPr>
            <p:cNvPr id="192" name="Cell text r1 c1"/>
            <p:cNvSpPr txBox="1"/>
            <p:nvPr/>
          </p:nvSpPr>
          <p:spPr>
            <a:xfrm>
              <a:off x="3593592"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날씨</a:t>
              </a:r>
              <a:endParaRPr kumimoji="0" lang="en-US" sz="1200" b="0" i="0" u="none" strike="noStrike" kern="0" cap="none" spc="0" normalizeH="0" baseline="0" noProof="0" dirty="0">
                <a:ln>
                  <a:noFill/>
                </a:ln>
                <a:solidFill>
                  <a:srgbClr val="1F2937"/>
                </a:solidFill>
                <a:effectLst/>
                <a:uLnTx/>
                <a:uFillTx/>
              </a:endParaRPr>
            </a:p>
          </p:txBody>
        </p:sp>
        <p:sp>
          <p:nvSpPr>
            <p:cNvPr id="193" name="Cell r1 c2"/>
            <p:cNvSpPr/>
            <p:nvPr/>
          </p:nvSpPr>
          <p:spPr>
            <a:xfrm>
              <a:off x="4443984" y="3291840"/>
              <a:ext cx="777240" cy="731520"/>
            </a:xfrm>
            <a:prstGeom prst="roundRect">
              <a:avLst>
                <a:gd name="adj" fmla="val 10000"/>
              </a:avLst>
            </a:prstGeom>
            <a:solidFill>
              <a:srgbClr val="E5E7EB"/>
            </a:solidFill>
            <a:ln/>
          </p:spPr>
        </p:sp>
        <p:sp>
          <p:nvSpPr>
            <p:cNvPr id="194" name="Cell text r1 c2"/>
            <p:cNvSpPr txBox="1"/>
            <p:nvPr/>
          </p:nvSpPr>
          <p:spPr>
            <a:xfrm>
              <a:off x="4443984"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는</a:t>
              </a:r>
              <a:endParaRPr kumimoji="0" lang="en-US" sz="1200" b="0" i="0" u="none" strike="noStrike" kern="0" cap="none" spc="0" normalizeH="0" baseline="0" noProof="0" dirty="0">
                <a:ln>
                  <a:noFill/>
                </a:ln>
                <a:solidFill>
                  <a:srgbClr val="1F2937"/>
                </a:solidFill>
                <a:effectLst/>
                <a:uLnTx/>
                <a:uFillTx/>
              </a:endParaRPr>
            </a:p>
          </p:txBody>
        </p:sp>
        <p:sp>
          <p:nvSpPr>
            <p:cNvPr id="195" name="Cell r1 c3"/>
            <p:cNvSpPr/>
            <p:nvPr/>
          </p:nvSpPr>
          <p:spPr>
            <a:xfrm>
              <a:off x="5294376" y="3291840"/>
              <a:ext cx="777240" cy="731520"/>
            </a:xfrm>
            <a:prstGeom prst="roundRect">
              <a:avLst>
                <a:gd name="adj" fmla="val 10000"/>
              </a:avLst>
            </a:prstGeom>
            <a:solidFill>
              <a:srgbClr val="F59E0B"/>
            </a:solidFill>
            <a:ln/>
          </p:spPr>
        </p:sp>
        <p:sp>
          <p:nvSpPr>
            <p:cNvPr id="196" name="Cell text r1 c3"/>
            <p:cNvSpPr txBox="1"/>
            <p:nvPr/>
          </p:nvSpPr>
          <p:spPr>
            <a:xfrm>
              <a:off x="5294376"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F2937"/>
                  </a:solidFill>
                  <a:effectLst/>
                  <a:uLnTx/>
                  <a:uFillTx/>
                </a:rPr>
                <a:t>맑</a:t>
              </a:r>
              <a:endParaRPr kumimoji="0" lang="en-US" sz="1200" b="0" i="0" u="none" strike="noStrike" kern="0" cap="none" spc="0" normalizeH="0" baseline="0" noProof="0" dirty="0">
                <a:ln>
                  <a:noFill/>
                </a:ln>
                <a:solidFill>
                  <a:srgbClr val="1F2937"/>
                </a:solidFill>
                <a:effectLst/>
                <a:uLnTx/>
                <a:uFillTx/>
              </a:endParaRPr>
            </a:p>
          </p:txBody>
        </p:sp>
        <p:sp>
          <p:nvSpPr>
            <p:cNvPr id="197" name="Row desc 1"/>
            <p:cNvSpPr txBox="1"/>
            <p:nvPr/>
          </p:nvSpPr>
          <p:spPr>
            <a:xfrm>
              <a:off x="8299366" y="3200400"/>
              <a:ext cx="2435735" cy="91440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F2937"/>
                  </a:solidFill>
                  <a:effectLst/>
                  <a:uLnTx/>
                  <a:uFillTx/>
                </a:rPr>
                <a:t>'맑' 1개만 연산</a:t>
              </a:r>
              <a:endParaRPr kumimoji="0" lang="en-US" sz="12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1F2937"/>
                  </a:solidFill>
                  <a:effectLst/>
                  <a:uLnTx/>
                  <a:uFillTx/>
                </a:rPr>
                <a:t>→ '고' 생성</a:t>
              </a:r>
            </a:p>
          </p:txBody>
        </p:sp>
        <p:sp>
          <p:nvSpPr>
            <p:cNvPr id="198" name="Cell r2 c0"/>
            <p:cNvSpPr/>
            <p:nvPr/>
          </p:nvSpPr>
          <p:spPr>
            <a:xfrm>
              <a:off x="2743200" y="4297680"/>
              <a:ext cx="777240" cy="731520"/>
            </a:xfrm>
            <a:prstGeom prst="roundRect">
              <a:avLst>
                <a:gd name="adj" fmla="val 10000"/>
              </a:avLst>
            </a:prstGeom>
            <a:solidFill>
              <a:srgbClr val="E5E7EB"/>
            </a:solidFill>
            <a:ln/>
          </p:spPr>
        </p:sp>
        <p:sp>
          <p:nvSpPr>
            <p:cNvPr id="199" name="Cell text r2 c0"/>
            <p:cNvSpPr txBox="1"/>
            <p:nvPr/>
          </p:nvSpPr>
          <p:spPr>
            <a:xfrm>
              <a:off x="2743200"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오늘의</a:t>
              </a:r>
              <a:endParaRPr kumimoji="0" lang="en-US" sz="1200" b="0" i="0" u="none" strike="noStrike" kern="0" cap="none" spc="0" normalizeH="0" baseline="0" noProof="0" dirty="0">
                <a:ln>
                  <a:noFill/>
                </a:ln>
                <a:solidFill>
                  <a:srgbClr val="1F2937"/>
                </a:solidFill>
                <a:effectLst/>
                <a:uLnTx/>
                <a:uFillTx/>
              </a:endParaRPr>
            </a:p>
          </p:txBody>
        </p:sp>
        <p:sp>
          <p:nvSpPr>
            <p:cNvPr id="200" name="Cell r2 c1"/>
            <p:cNvSpPr/>
            <p:nvPr/>
          </p:nvSpPr>
          <p:spPr>
            <a:xfrm>
              <a:off x="3593592" y="4297680"/>
              <a:ext cx="777240" cy="731520"/>
            </a:xfrm>
            <a:prstGeom prst="roundRect">
              <a:avLst>
                <a:gd name="adj" fmla="val 10000"/>
              </a:avLst>
            </a:prstGeom>
            <a:solidFill>
              <a:srgbClr val="E5E7EB"/>
            </a:solidFill>
            <a:ln/>
          </p:spPr>
        </p:sp>
        <p:sp>
          <p:nvSpPr>
            <p:cNvPr id="201" name="Cell text r2 c1"/>
            <p:cNvSpPr txBox="1"/>
            <p:nvPr/>
          </p:nvSpPr>
          <p:spPr>
            <a:xfrm>
              <a:off x="3593592"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날씨</a:t>
              </a:r>
              <a:endParaRPr kumimoji="0" lang="en-US" sz="1200" b="0" i="0" u="none" strike="noStrike" kern="0" cap="none" spc="0" normalizeH="0" baseline="0" noProof="0" dirty="0">
                <a:ln>
                  <a:noFill/>
                </a:ln>
                <a:solidFill>
                  <a:srgbClr val="1F2937"/>
                </a:solidFill>
                <a:effectLst/>
                <a:uLnTx/>
                <a:uFillTx/>
              </a:endParaRPr>
            </a:p>
          </p:txBody>
        </p:sp>
        <p:sp>
          <p:nvSpPr>
            <p:cNvPr id="202" name="Cell r2 c2"/>
            <p:cNvSpPr/>
            <p:nvPr/>
          </p:nvSpPr>
          <p:spPr>
            <a:xfrm>
              <a:off x="4443984" y="4297680"/>
              <a:ext cx="777240" cy="731520"/>
            </a:xfrm>
            <a:prstGeom prst="roundRect">
              <a:avLst>
                <a:gd name="adj" fmla="val 10000"/>
              </a:avLst>
            </a:prstGeom>
            <a:solidFill>
              <a:srgbClr val="E5E7EB"/>
            </a:solidFill>
            <a:ln/>
          </p:spPr>
        </p:sp>
        <p:sp>
          <p:nvSpPr>
            <p:cNvPr id="203" name="Cell text r2 c2"/>
            <p:cNvSpPr txBox="1"/>
            <p:nvPr/>
          </p:nvSpPr>
          <p:spPr>
            <a:xfrm>
              <a:off x="4443984"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는</a:t>
              </a:r>
              <a:endParaRPr kumimoji="0" lang="en-US" sz="1200" b="0" i="0" u="none" strike="noStrike" kern="0" cap="none" spc="0" normalizeH="0" baseline="0" noProof="0" dirty="0">
                <a:ln>
                  <a:noFill/>
                </a:ln>
                <a:solidFill>
                  <a:srgbClr val="1F2937"/>
                </a:solidFill>
                <a:effectLst/>
                <a:uLnTx/>
                <a:uFillTx/>
              </a:endParaRPr>
            </a:p>
          </p:txBody>
        </p:sp>
        <p:sp>
          <p:nvSpPr>
            <p:cNvPr id="204" name="Cell r2 c3"/>
            <p:cNvSpPr/>
            <p:nvPr/>
          </p:nvSpPr>
          <p:spPr>
            <a:xfrm>
              <a:off x="5294376" y="4297680"/>
              <a:ext cx="777240" cy="731520"/>
            </a:xfrm>
            <a:prstGeom prst="roundRect">
              <a:avLst>
                <a:gd name="adj" fmla="val 10000"/>
              </a:avLst>
            </a:prstGeom>
            <a:solidFill>
              <a:srgbClr val="E5E7EB"/>
            </a:solidFill>
            <a:ln/>
          </p:spPr>
        </p:sp>
        <p:sp>
          <p:nvSpPr>
            <p:cNvPr id="205" name="Cell text r2 c3"/>
            <p:cNvSpPr txBox="1"/>
            <p:nvPr/>
          </p:nvSpPr>
          <p:spPr>
            <a:xfrm>
              <a:off x="5294376"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맑</a:t>
              </a:r>
              <a:endParaRPr kumimoji="0" lang="en-US" sz="1200" b="0" i="0" u="none" strike="noStrike" kern="0" cap="none" spc="0" normalizeH="0" baseline="0" noProof="0" dirty="0">
                <a:ln>
                  <a:noFill/>
                </a:ln>
                <a:solidFill>
                  <a:srgbClr val="1F2937"/>
                </a:solidFill>
                <a:effectLst/>
                <a:uLnTx/>
                <a:uFillTx/>
              </a:endParaRPr>
            </a:p>
          </p:txBody>
        </p:sp>
        <p:sp>
          <p:nvSpPr>
            <p:cNvPr id="206" name="Cell r2 c4"/>
            <p:cNvSpPr/>
            <p:nvPr/>
          </p:nvSpPr>
          <p:spPr>
            <a:xfrm>
              <a:off x="6144768" y="4297680"/>
              <a:ext cx="777240" cy="731520"/>
            </a:xfrm>
            <a:prstGeom prst="roundRect">
              <a:avLst>
                <a:gd name="adj" fmla="val 10000"/>
              </a:avLst>
            </a:prstGeom>
            <a:solidFill>
              <a:srgbClr val="F59E0B"/>
            </a:solidFill>
            <a:ln/>
          </p:spPr>
        </p:sp>
        <p:sp>
          <p:nvSpPr>
            <p:cNvPr id="207" name="Cell text r2 c4"/>
            <p:cNvSpPr txBox="1"/>
            <p:nvPr/>
          </p:nvSpPr>
          <p:spPr>
            <a:xfrm>
              <a:off x="6144768"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F2937"/>
                  </a:solidFill>
                  <a:effectLst/>
                  <a:uLnTx/>
                  <a:uFillTx/>
                </a:rPr>
                <a:t>고</a:t>
              </a:r>
              <a:endParaRPr kumimoji="0" lang="en-US" sz="1200" b="0" i="0" u="none" strike="noStrike" kern="0" cap="none" spc="0" normalizeH="0" baseline="0" noProof="0" dirty="0">
                <a:ln>
                  <a:noFill/>
                </a:ln>
                <a:solidFill>
                  <a:srgbClr val="1F2937"/>
                </a:solidFill>
                <a:effectLst/>
                <a:uLnTx/>
                <a:uFillTx/>
              </a:endParaRPr>
            </a:p>
          </p:txBody>
        </p:sp>
        <p:sp>
          <p:nvSpPr>
            <p:cNvPr id="208" name="Row desc 2"/>
            <p:cNvSpPr txBox="1"/>
            <p:nvPr/>
          </p:nvSpPr>
          <p:spPr>
            <a:xfrm>
              <a:off x="8299366" y="4206241"/>
              <a:ext cx="2435735" cy="91440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F2937"/>
                  </a:solidFill>
                  <a:effectLst/>
                  <a:uLnTx/>
                  <a:uFillTx/>
                </a:rPr>
                <a:t>'고' 1개만 연산</a:t>
              </a:r>
              <a:endParaRPr kumimoji="0" lang="en-US" sz="12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1F2937"/>
                  </a:solidFill>
                  <a:effectLst/>
                  <a:uLnTx/>
                  <a:uFillTx/>
                </a:rPr>
                <a:t>→ '바' 생성</a:t>
              </a:r>
            </a:p>
          </p:txBody>
        </p:sp>
        <p:sp>
          <p:nvSpPr>
            <p:cNvPr id="209" name="Cell r3 c0"/>
            <p:cNvSpPr/>
            <p:nvPr/>
          </p:nvSpPr>
          <p:spPr>
            <a:xfrm>
              <a:off x="2743200" y="5303520"/>
              <a:ext cx="777240" cy="731520"/>
            </a:xfrm>
            <a:prstGeom prst="roundRect">
              <a:avLst>
                <a:gd name="adj" fmla="val 10000"/>
              </a:avLst>
            </a:prstGeom>
            <a:solidFill>
              <a:srgbClr val="E5E7EB"/>
            </a:solidFill>
            <a:ln/>
          </p:spPr>
        </p:sp>
        <p:sp>
          <p:nvSpPr>
            <p:cNvPr id="210" name="Cell text r3 c0"/>
            <p:cNvSpPr txBox="1"/>
            <p:nvPr/>
          </p:nvSpPr>
          <p:spPr>
            <a:xfrm>
              <a:off x="2743200"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오늘의</a:t>
              </a:r>
              <a:endParaRPr kumimoji="0" lang="en-US" sz="1200" b="0" i="0" u="none" strike="noStrike" kern="0" cap="none" spc="0" normalizeH="0" baseline="0" noProof="0" dirty="0">
                <a:ln>
                  <a:noFill/>
                </a:ln>
                <a:solidFill>
                  <a:srgbClr val="1F2937"/>
                </a:solidFill>
                <a:effectLst/>
                <a:uLnTx/>
                <a:uFillTx/>
              </a:endParaRPr>
            </a:p>
          </p:txBody>
        </p:sp>
        <p:sp>
          <p:nvSpPr>
            <p:cNvPr id="211" name="Cell r3 c1"/>
            <p:cNvSpPr/>
            <p:nvPr/>
          </p:nvSpPr>
          <p:spPr>
            <a:xfrm>
              <a:off x="3593592" y="5303520"/>
              <a:ext cx="777240" cy="731520"/>
            </a:xfrm>
            <a:prstGeom prst="roundRect">
              <a:avLst>
                <a:gd name="adj" fmla="val 10000"/>
              </a:avLst>
            </a:prstGeom>
            <a:solidFill>
              <a:srgbClr val="E5E7EB"/>
            </a:solidFill>
            <a:ln/>
          </p:spPr>
        </p:sp>
        <p:sp>
          <p:nvSpPr>
            <p:cNvPr id="212" name="Cell text r3 c1"/>
            <p:cNvSpPr txBox="1"/>
            <p:nvPr/>
          </p:nvSpPr>
          <p:spPr>
            <a:xfrm>
              <a:off x="3593592"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날씨</a:t>
              </a:r>
              <a:endParaRPr kumimoji="0" lang="en-US" sz="1200" b="0" i="0" u="none" strike="noStrike" kern="0" cap="none" spc="0" normalizeH="0" baseline="0" noProof="0" dirty="0">
                <a:ln>
                  <a:noFill/>
                </a:ln>
                <a:solidFill>
                  <a:srgbClr val="1F2937"/>
                </a:solidFill>
                <a:effectLst/>
                <a:uLnTx/>
                <a:uFillTx/>
              </a:endParaRPr>
            </a:p>
          </p:txBody>
        </p:sp>
        <p:sp>
          <p:nvSpPr>
            <p:cNvPr id="213" name="Cell r3 c2"/>
            <p:cNvSpPr/>
            <p:nvPr/>
          </p:nvSpPr>
          <p:spPr>
            <a:xfrm>
              <a:off x="4443984" y="5303520"/>
              <a:ext cx="777240" cy="731520"/>
            </a:xfrm>
            <a:prstGeom prst="roundRect">
              <a:avLst>
                <a:gd name="adj" fmla="val 10000"/>
              </a:avLst>
            </a:prstGeom>
            <a:solidFill>
              <a:srgbClr val="E5E7EB"/>
            </a:solidFill>
            <a:ln/>
          </p:spPr>
        </p:sp>
        <p:sp>
          <p:nvSpPr>
            <p:cNvPr id="214" name="Cell text r3 c2"/>
            <p:cNvSpPr txBox="1"/>
            <p:nvPr/>
          </p:nvSpPr>
          <p:spPr>
            <a:xfrm>
              <a:off x="4443984"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는</a:t>
              </a:r>
              <a:endParaRPr kumimoji="0" lang="en-US" sz="1200" b="0" i="0" u="none" strike="noStrike" kern="0" cap="none" spc="0" normalizeH="0" baseline="0" noProof="0" dirty="0">
                <a:ln>
                  <a:noFill/>
                </a:ln>
                <a:solidFill>
                  <a:srgbClr val="1F2937"/>
                </a:solidFill>
                <a:effectLst/>
                <a:uLnTx/>
                <a:uFillTx/>
              </a:endParaRPr>
            </a:p>
          </p:txBody>
        </p:sp>
        <p:sp>
          <p:nvSpPr>
            <p:cNvPr id="215" name="Cell r3 c3"/>
            <p:cNvSpPr/>
            <p:nvPr/>
          </p:nvSpPr>
          <p:spPr>
            <a:xfrm>
              <a:off x="5294376" y="5303520"/>
              <a:ext cx="777240" cy="731520"/>
            </a:xfrm>
            <a:prstGeom prst="roundRect">
              <a:avLst>
                <a:gd name="adj" fmla="val 10000"/>
              </a:avLst>
            </a:prstGeom>
            <a:solidFill>
              <a:srgbClr val="E5E7EB"/>
            </a:solidFill>
            <a:ln/>
          </p:spPr>
        </p:sp>
        <p:sp>
          <p:nvSpPr>
            <p:cNvPr id="216" name="Cell text r3 c3"/>
            <p:cNvSpPr txBox="1"/>
            <p:nvPr/>
          </p:nvSpPr>
          <p:spPr>
            <a:xfrm>
              <a:off x="5294376"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맑</a:t>
              </a:r>
              <a:endParaRPr kumimoji="0" lang="en-US" sz="1200" b="0" i="0" u="none" strike="noStrike" kern="0" cap="none" spc="0" normalizeH="0" baseline="0" noProof="0" dirty="0">
                <a:ln>
                  <a:noFill/>
                </a:ln>
                <a:solidFill>
                  <a:srgbClr val="1F2937"/>
                </a:solidFill>
                <a:effectLst/>
                <a:uLnTx/>
                <a:uFillTx/>
              </a:endParaRPr>
            </a:p>
          </p:txBody>
        </p:sp>
        <p:sp>
          <p:nvSpPr>
            <p:cNvPr id="217" name="Cell r3 c4"/>
            <p:cNvSpPr/>
            <p:nvPr/>
          </p:nvSpPr>
          <p:spPr>
            <a:xfrm>
              <a:off x="6144768" y="5303520"/>
              <a:ext cx="777240" cy="731520"/>
            </a:xfrm>
            <a:prstGeom prst="roundRect">
              <a:avLst>
                <a:gd name="adj" fmla="val 10000"/>
              </a:avLst>
            </a:prstGeom>
            <a:solidFill>
              <a:srgbClr val="E5E7EB"/>
            </a:solidFill>
            <a:ln/>
          </p:spPr>
        </p:sp>
        <p:sp>
          <p:nvSpPr>
            <p:cNvPr id="218" name="Cell text r3 c4"/>
            <p:cNvSpPr txBox="1"/>
            <p:nvPr/>
          </p:nvSpPr>
          <p:spPr>
            <a:xfrm>
              <a:off x="6144768"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4B5563"/>
                  </a:solidFill>
                  <a:effectLst/>
                  <a:uLnTx/>
                  <a:uFillTx/>
                </a:rPr>
                <a:t>고</a:t>
              </a:r>
              <a:endParaRPr kumimoji="0" lang="en-US" sz="1200" b="0" i="0" u="none" strike="noStrike" kern="0" cap="none" spc="0" normalizeH="0" baseline="0" noProof="0" dirty="0">
                <a:ln>
                  <a:noFill/>
                </a:ln>
                <a:solidFill>
                  <a:srgbClr val="1F2937"/>
                </a:solidFill>
                <a:effectLst/>
                <a:uLnTx/>
                <a:uFillTx/>
              </a:endParaRPr>
            </a:p>
          </p:txBody>
        </p:sp>
        <p:sp>
          <p:nvSpPr>
            <p:cNvPr id="219" name="Cell r3 c5"/>
            <p:cNvSpPr/>
            <p:nvPr/>
          </p:nvSpPr>
          <p:spPr>
            <a:xfrm>
              <a:off x="6995160" y="5303520"/>
              <a:ext cx="777240" cy="731520"/>
            </a:xfrm>
            <a:prstGeom prst="roundRect">
              <a:avLst>
                <a:gd name="adj" fmla="val 10000"/>
              </a:avLst>
            </a:prstGeom>
            <a:solidFill>
              <a:srgbClr val="F59E0B"/>
            </a:solidFill>
            <a:ln/>
          </p:spPr>
        </p:sp>
        <p:sp>
          <p:nvSpPr>
            <p:cNvPr id="220" name="Cell text r3 c5"/>
            <p:cNvSpPr txBox="1"/>
            <p:nvPr/>
          </p:nvSpPr>
          <p:spPr>
            <a:xfrm>
              <a:off x="6995160"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F2937"/>
                  </a:solidFill>
                  <a:effectLst/>
                  <a:uLnTx/>
                  <a:uFillTx/>
                </a:rPr>
                <a:t>바</a:t>
              </a:r>
              <a:endParaRPr kumimoji="0" lang="en-US" sz="1200" b="0" i="0" u="none" strike="noStrike" kern="0" cap="none" spc="0" normalizeH="0" baseline="0" noProof="0" dirty="0">
                <a:ln>
                  <a:noFill/>
                </a:ln>
                <a:solidFill>
                  <a:srgbClr val="1F2937"/>
                </a:solidFill>
                <a:effectLst/>
                <a:uLnTx/>
                <a:uFillTx/>
              </a:endParaRPr>
            </a:p>
          </p:txBody>
        </p:sp>
        <p:sp>
          <p:nvSpPr>
            <p:cNvPr id="221" name="Row desc 3"/>
            <p:cNvSpPr txBox="1"/>
            <p:nvPr/>
          </p:nvSpPr>
          <p:spPr>
            <a:xfrm>
              <a:off x="8299366" y="5212081"/>
              <a:ext cx="2435735" cy="91440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F2937"/>
                  </a:solidFill>
                  <a:effectLst/>
                  <a:uLnTx/>
                  <a:uFillTx/>
                </a:rPr>
                <a:t>'바' 1개만 연산</a:t>
              </a:r>
              <a:endParaRPr kumimoji="0" lang="en-US" sz="12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1F2937"/>
                  </a:solidFill>
                  <a:effectLst/>
                  <a:uLnTx/>
                  <a:uFillTx/>
                </a:rPr>
                <a:t>→ 다음 토큰 생성</a:t>
              </a:r>
            </a:p>
          </p:txBody>
        </p:sp>
        <p:sp>
          <p:nvSpPr>
            <p:cNvPr id="222" name="Legend swatch 0"/>
            <p:cNvSpPr/>
            <p:nvPr/>
          </p:nvSpPr>
          <p:spPr>
            <a:xfrm>
              <a:off x="548640" y="6291072"/>
              <a:ext cx="274320" cy="219456"/>
            </a:xfrm>
            <a:prstGeom prst="roundRect">
              <a:avLst>
                <a:gd name="adj" fmla="val 16667"/>
              </a:avLst>
            </a:prstGeom>
            <a:solidFill>
              <a:srgbClr val="1D4ED8"/>
            </a:solidFill>
            <a:ln/>
          </p:spPr>
        </p:sp>
        <p:sp>
          <p:nvSpPr>
            <p:cNvPr id="223" name="Legend text 0"/>
            <p:cNvSpPr txBox="1"/>
            <p:nvPr/>
          </p:nvSpPr>
          <p:spPr>
            <a:xfrm>
              <a:off x="914400" y="6236208"/>
              <a:ext cx="356616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ko-KR" altLang="en-US" sz="1100" b="0" i="0" u="none" strike="noStrike" kern="0" cap="none" spc="0" normalizeH="0" baseline="0" noProof="0" dirty="0">
                  <a:ln>
                    <a:noFill/>
                  </a:ln>
                  <a:solidFill>
                    <a:srgbClr val="4B5563"/>
                  </a:solidFill>
                  <a:effectLst/>
                  <a:uLnTx/>
                  <a:uFillTx/>
                </a:rPr>
                <a:t>입력 토큰에 해당하는 </a:t>
              </a:r>
              <a:r>
                <a:rPr kumimoji="0" lang="en-US" sz="1100" b="0" i="0" u="none" strike="noStrike" kern="0" cap="none" spc="0" normalizeH="0" baseline="0" noProof="0" dirty="0">
                  <a:ln>
                    <a:noFill/>
                  </a:ln>
                  <a:solidFill>
                    <a:srgbClr val="4B5563"/>
                  </a:solidFill>
                  <a:effectLst/>
                  <a:uLnTx/>
                  <a:uFillTx/>
                </a:rPr>
                <a:t>KV </a:t>
              </a:r>
              <a:r>
                <a:rPr kumimoji="0" lang="en-US" sz="1100" b="0" i="0" u="none" strike="noStrike" kern="0" cap="none" spc="0" normalizeH="0" baseline="0" noProof="0" dirty="0" err="1">
                  <a:ln>
                    <a:noFill/>
                  </a:ln>
                  <a:solidFill>
                    <a:srgbClr val="4B5563"/>
                  </a:solidFill>
                  <a:effectLst/>
                  <a:uLnTx/>
                  <a:uFillTx/>
                </a:rPr>
                <a:t>캐시</a:t>
              </a:r>
              <a:r>
                <a:rPr lang="ko-KR" altLang="en-US" sz="1100" kern="0" dirty="0">
                  <a:solidFill>
                    <a:srgbClr val="4B5563"/>
                  </a:solidFill>
                </a:rPr>
                <a:t>를 생성</a:t>
              </a:r>
              <a:endParaRPr kumimoji="0" lang="en-US" sz="1100" b="0" i="0" u="none" strike="noStrike" kern="0" cap="none" spc="0" normalizeH="0" baseline="0" noProof="0" dirty="0">
                <a:ln>
                  <a:noFill/>
                </a:ln>
                <a:solidFill>
                  <a:srgbClr val="1F2937"/>
                </a:solidFill>
                <a:effectLst/>
                <a:uLnTx/>
                <a:uFillTx/>
              </a:endParaRPr>
            </a:p>
          </p:txBody>
        </p:sp>
        <p:sp>
          <p:nvSpPr>
            <p:cNvPr id="224" name="Legend swatch 1"/>
            <p:cNvSpPr/>
            <p:nvPr/>
          </p:nvSpPr>
          <p:spPr>
            <a:xfrm>
              <a:off x="3658303" y="6291072"/>
              <a:ext cx="274320" cy="219456"/>
            </a:xfrm>
            <a:prstGeom prst="roundRect">
              <a:avLst>
                <a:gd name="adj" fmla="val 16667"/>
              </a:avLst>
            </a:prstGeom>
            <a:solidFill>
              <a:srgbClr val="E5E7EB"/>
            </a:solidFill>
            <a:ln/>
          </p:spPr>
        </p:sp>
        <p:sp>
          <p:nvSpPr>
            <p:cNvPr id="225" name="Legend text 1"/>
            <p:cNvSpPr txBox="1"/>
            <p:nvPr/>
          </p:nvSpPr>
          <p:spPr>
            <a:xfrm>
              <a:off x="4024064" y="6236208"/>
              <a:ext cx="265176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srgbClr val="4B5563"/>
                  </a:solidFill>
                  <a:effectLst/>
                  <a:uLnTx/>
                  <a:uFillTx/>
                </a:rPr>
                <a:t>KV 캐시에서 읽어 재사용</a:t>
              </a:r>
              <a:endParaRPr kumimoji="0" lang="en-US" sz="1100" b="0" i="0" u="none" strike="noStrike" kern="0" cap="none" spc="0" normalizeH="0" baseline="0" noProof="0" dirty="0">
                <a:ln>
                  <a:noFill/>
                </a:ln>
                <a:solidFill>
                  <a:srgbClr val="1F2937"/>
                </a:solidFill>
                <a:effectLst/>
                <a:uLnTx/>
                <a:uFillTx/>
              </a:endParaRPr>
            </a:p>
          </p:txBody>
        </p:sp>
        <p:sp>
          <p:nvSpPr>
            <p:cNvPr id="226" name="Legend swatch 2"/>
            <p:cNvSpPr/>
            <p:nvPr/>
          </p:nvSpPr>
          <p:spPr>
            <a:xfrm>
              <a:off x="5999529" y="6291072"/>
              <a:ext cx="274320" cy="219456"/>
            </a:xfrm>
            <a:prstGeom prst="roundRect">
              <a:avLst>
                <a:gd name="adj" fmla="val 16667"/>
              </a:avLst>
            </a:prstGeom>
            <a:solidFill>
              <a:srgbClr val="F59E0B"/>
            </a:solidFill>
            <a:ln/>
          </p:spPr>
        </p:sp>
        <p:sp>
          <p:nvSpPr>
            <p:cNvPr id="227" name="Legend text 2"/>
            <p:cNvSpPr txBox="1"/>
            <p:nvPr/>
          </p:nvSpPr>
          <p:spPr>
            <a:xfrm>
              <a:off x="6365289" y="6236208"/>
              <a:ext cx="329184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srgbClr val="4B5563"/>
                  </a:solidFill>
                  <a:effectLst/>
                  <a:uLnTx/>
                  <a:uFillTx/>
                </a:rPr>
                <a:t>새 토큰만 계산해 캐시에 append</a:t>
              </a:r>
              <a:endParaRPr kumimoji="0" lang="en-US" sz="1100" b="0" i="0" u="none" strike="noStrike" kern="0" cap="none" spc="0" normalizeH="0" baseline="0" noProof="0" dirty="0">
                <a:ln>
                  <a:noFill/>
                </a:ln>
                <a:solidFill>
                  <a:srgbClr val="1F2937"/>
                </a:solidFill>
                <a:effectLst/>
                <a:uLnTx/>
                <a:uFillTx/>
              </a:endParaRPr>
            </a:p>
          </p:txBody>
        </p:sp>
      </p:grpSp>
      <p:sp>
        <p:nvSpPr>
          <p:cNvPr id="228" name="TextBox 227">
            <a:extLst>
              <a:ext uri="{FF2B5EF4-FFF2-40B4-BE49-F238E27FC236}">
                <a16:creationId xmlns:a16="http://schemas.microsoft.com/office/drawing/2014/main" id="{2EC42A33-9893-4D8E-910B-050395EAAA28}"/>
              </a:ext>
            </a:extLst>
          </p:cNvPr>
          <p:cNvSpPr txBox="1"/>
          <p:nvPr/>
        </p:nvSpPr>
        <p:spPr>
          <a:xfrm>
            <a:off x="6263985" y="5513748"/>
            <a:ext cx="4931414" cy="253812"/>
          </a:xfrm>
          <a:prstGeom prst="rect">
            <a:avLst/>
          </a:prstGeom>
          <a:noFill/>
        </p:spPr>
        <p:txBody>
          <a:bodyPr wrap="square" lIns="0" tIns="0" rIns="0" bIns="0" anchor="t">
            <a:spAutoFit/>
          </a:bodyPr>
          <a:lstStyle/>
          <a:p>
            <a:pPr algn="l">
              <a:lnSpc>
                <a:spcPct val="118000"/>
              </a:lnSpc>
              <a:spcAft>
                <a:spcPts val="0"/>
              </a:spcAft>
            </a:pPr>
            <a:r>
              <a:rPr lang="en-US" altLang="ko-KR" sz="1050" b="1" dirty="0">
                <a:solidFill>
                  <a:srgbClr val="000000"/>
                </a:solidFill>
                <a:latin typeface="맑은 고딕"/>
                <a:ea typeface="맑은 고딕"/>
                <a:cs typeface="맑은 고딕"/>
              </a:rPr>
              <a:t>Context</a:t>
            </a:r>
            <a:r>
              <a:rPr lang="ko-KR" altLang="en-US" sz="1050" b="1" dirty="0">
                <a:solidFill>
                  <a:srgbClr val="000000"/>
                </a:solidFill>
                <a:latin typeface="맑은 고딕"/>
                <a:ea typeface="맑은 고딕"/>
                <a:cs typeface="맑은 고딕"/>
              </a:rPr>
              <a:t>가 길어질수록 </a:t>
            </a:r>
            <a:r>
              <a:rPr lang="en-US" sz="1050" dirty="0">
                <a:solidFill>
                  <a:srgbClr val="595959"/>
                </a:solidFill>
                <a:latin typeface="맑은 고딕"/>
                <a:ea typeface="맑은 고딕"/>
                <a:cs typeface="맑은 고딕"/>
              </a:rPr>
              <a:t>KV </a:t>
            </a:r>
            <a:r>
              <a:rPr lang="ko-KR" altLang="en-US" sz="1050" dirty="0">
                <a:solidFill>
                  <a:srgbClr val="595959"/>
                </a:solidFill>
                <a:latin typeface="맑은 고딕"/>
                <a:ea typeface="맑은 고딕"/>
                <a:cs typeface="맑은 고딕"/>
              </a:rPr>
              <a:t>캐시는 </a:t>
            </a:r>
            <a:r>
              <a:rPr sz="1050" b="0" i="0" dirty="0" err="1">
                <a:solidFill>
                  <a:srgbClr val="595959"/>
                </a:solidFill>
                <a:latin typeface="맑은 고딕"/>
                <a:ea typeface="맑은 고딕"/>
                <a:cs typeface="맑은 고딕"/>
              </a:rPr>
              <a:t>정비례</a:t>
            </a:r>
            <a:r>
              <a:rPr lang="ko-KR" altLang="en-US" sz="1050" b="0" i="0" dirty="0">
                <a:solidFill>
                  <a:srgbClr val="595959"/>
                </a:solidFill>
                <a:latin typeface="맑은 고딕"/>
                <a:ea typeface="맑은 고딕"/>
                <a:cs typeface="맑은 고딕"/>
              </a:rPr>
              <a:t>해</a:t>
            </a:r>
            <a:r>
              <a:rPr sz="1050" b="0" i="0" dirty="0">
                <a:solidFill>
                  <a:srgbClr val="595959"/>
                </a:solidFill>
                <a:latin typeface="맑은 고딕"/>
                <a:ea typeface="맑은 고딕"/>
                <a:cs typeface="맑은 고딕"/>
              </a:rPr>
              <a:t> </a:t>
            </a:r>
            <a:r>
              <a:rPr lang="ko-KR" altLang="en-US" sz="1050" b="0" i="0" dirty="0">
                <a:solidFill>
                  <a:srgbClr val="595959"/>
                </a:solidFill>
                <a:latin typeface="맑은 고딕"/>
                <a:ea typeface="맑은 고딕"/>
                <a:cs typeface="맑은 고딕"/>
              </a:rPr>
              <a:t>커짐</a:t>
            </a:r>
            <a:endParaRPr sz="1050" b="0" i="0" dirty="0">
              <a:solidFill>
                <a:srgbClr val="595959"/>
              </a:solidFill>
              <a:latin typeface="맑은 고딕"/>
              <a:ea typeface="맑은 고딕"/>
              <a:cs typeface="맑은 고딕"/>
            </a:endParaRPr>
          </a:p>
        </p:txBody>
      </p:sp>
      <p:grpSp>
        <p:nvGrpSpPr>
          <p:cNvPr id="229" name="그룹 228">
            <a:extLst>
              <a:ext uri="{FF2B5EF4-FFF2-40B4-BE49-F238E27FC236}">
                <a16:creationId xmlns:a16="http://schemas.microsoft.com/office/drawing/2014/main" id="{2E92557A-B2D0-4101-8495-BA4801300065}"/>
              </a:ext>
            </a:extLst>
          </p:cNvPr>
          <p:cNvGrpSpPr/>
          <p:nvPr/>
        </p:nvGrpSpPr>
        <p:grpSpPr>
          <a:xfrm>
            <a:off x="9523491" y="5059735"/>
            <a:ext cx="2394065" cy="1578182"/>
            <a:chOff x="8961120" y="4013799"/>
            <a:chExt cx="2633472" cy="1185712"/>
          </a:xfrm>
        </p:grpSpPr>
        <p:sp>
          <p:nvSpPr>
            <p:cNvPr id="230" name="Rectangle 187">
              <a:extLst>
                <a:ext uri="{FF2B5EF4-FFF2-40B4-BE49-F238E27FC236}">
                  <a16:creationId xmlns:a16="http://schemas.microsoft.com/office/drawing/2014/main" id="{3554DD70-8403-4263-9973-C17BD23FFA3F}"/>
                </a:ext>
              </a:extLst>
            </p:cNvPr>
            <p:cNvSpPr/>
            <p:nvPr/>
          </p:nvSpPr>
          <p:spPr>
            <a:xfrm>
              <a:off x="9079992" y="4928199"/>
              <a:ext cx="420624"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800"/>
            </a:p>
          </p:txBody>
        </p:sp>
        <p:sp>
          <p:nvSpPr>
            <p:cNvPr id="231" name="TextBox 230">
              <a:extLst>
                <a:ext uri="{FF2B5EF4-FFF2-40B4-BE49-F238E27FC236}">
                  <a16:creationId xmlns:a16="http://schemas.microsoft.com/office/drawing/2014/main" id="{A7F23AF5-CE5C-497E-97EE-C02FCD224F87}"/>
                </a:ext>
              </a:extLst>
            </p:cNvPr>
            <p:cNvSpPr txBox="1"/>
            <p:nvPr/>
          </p:nvSpPr>
          <p:spPr>
            <a:xfrm>
              <a:off x="9062398" y="4745319"/>
              <a:ext cx="455814" cy="161583"/>
            </a:xfrm>
            <a:prstGeom prst="rect">
              <a:avLst/>
            </a:prstGeom>
            <a:noFill/>
          </p:spPr>
          <p:txBody>
            <a:bodyPr wrap="none" lIns="0" tIns="0" rIns="0" bIns="0" anchor="t">
              <a:spAutoFit/>
            </a:bodyPr>
            <a:lstStyle/>
            <a:p>
              <a:pPr algn="ctr">
                <a:lnSpc>
                  <a:spcPct val="100000"/>
                </a:lnSpc>
                <a:spcAft>
                  <a:spcPts val="0"/>
                </a:spcAft>
              </a:pPr>
              <a:r>
                <a:rPr sz="1050" b="1" i="0">
                  <a:solidFill>
                    <a:srgbClr val="1F3864"/>
                  </a:solidFill>
                  <a:latin typeface="맑은 고딕"/>
                  <a:ea typeface="맑은 고딕"/>
                  <a:cs typeface="맑은 고딕"/>
                </a:rPr>
                <a:t>1.3GB</a:t>
              </a:r>
            </a:p>
          </p:txBody>
        </p:sp>
        <p:sp>
          <p:nvSpPr>
            <p:cNvPr id="232" name="TextBox 231">
              <a:extLst>
                <a:ext uri="{FF2B5EF4-FFF2-40B4-BE49-F238E27FC236}">
                  <a16:creationId xmlns:a16="http://schemas.microsoft.com/office/drawing/2014/main" id="{8B28B620-8E76-4B12-AF79-8A2E8F41DBC3}"/>
                </a:ext>
              </a:extLst>
            </p:cNvPr>
            <p:cNvSpPr txBox="1"/>
            <p:nvPr/>
          </p:nvSpPr>
          <p:spPr>
            <a:xfrm>
              <a:off x="9197203" y="5037928"/>
              <a:ext cx="186204" cy="161583"/>
            </a:xfrm>
            <a:prstGeom prst="rect">
              <a:avLst/>
            </a:prstGeom>
            <a:noFill/>
          </p:spPr>
          <p:txBody>
            <a:bodyPr wrap="none" lIns="0" tIns="0" rIns="0" bIns="0" anchor="t">
              <a:spAutoFit/>
            </a:bodyPr>
            <a:lstStyle/>
            <a:p>
              <a:pPr algn="ctr">
                <a:lnSpc>
                  <a:spcPct val="100000"/>
                </a:lnSpc>
                <a:spcAft>
                  <a:spcPts val="0"/>
                </a:spcAft>
              </a:pPr>
              <a:r>
                <a:rPr sz="1050" b="0" i="0">
                  <a:solidFill>
                    <a:srgbClr val="595959"/>
                  </a:solidFill>
                  <a:latin typeface="맑은 고딕"/>
                  <a:ea typeface="맑은 고딕"/>
                  <a:cs typeface="맑은 고딕"/>
                </a:rPr>
                <a:t>4K</a:t>
              </a:r>
            </a:p>
          </p:txBody>
        </p:sp>
        <p:sp>
          <p:nvSpPr>
            <p:cNvPr id="233" name="Rectangle 190">
              <a:extLst>
                <a:ext uri="{FF2B5EF4-FFF2-40B4-BE49-F238E27FC236}">
                  <a16:creationId xmlns:a16="http://schemas.microsoft.com/office/drawing/2014/main" id="{9CA69AF3-4AD3-4314-89D1-BDB170B741BD}"/>
                </a:ext>
              </a:extLst>
            </p:cNvPr>
            <p:cNvSpPr/>
            <p:nvPr/>
          </p:nvSpPr>
          <p:spPr>
            <a:xfrm>
              <a:off x="9921240" y="4800184"/>
              <a:ext cx="420624" cy="20116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800"/>
            </a:p>
          </p:txBody>
        </p:sp>
        <p:sp>
          <p:nvSpPr>
            <p:cNvPr id="234" name="TextBox 233">
              <a:extLst>
                <a:ext uri="{FF2B5EF4-FFF2-40B4-BE49-F238E27FC236}">
                  <a16:creationId xmlns:a16="http://schemas.microsoft.com/office/drawing/2014/main" id="{C4873768-2636-4231-82A6-ECE495E5C0F7}"/>
                </a:ext>
              </a:extLst>
            </p:cNvPr>
            <p:cNvSpPr txBox="1"/>
            <p:nvPr/>
          </p:nvSpPr>
          <p:spPr>
            <a:xfrm>
              <a:off x="9924981" y="4617303"/>
              <a:ext cx="413142" cy="161583"/>
            </a:xfrm>
            <a:prstGeom prst="rect">
              <a:avLst/>
            </a:prstGeom>
            <a:noFill/>
          </p:spPr>
          <p:txBody>
            <a:bodyPr wrap="none" lIns="0" tIns="0" rIns="0" bIns="0" anchor="t">
              <a:spAutoFit/>
            </a:bodyPr>
            <a:lstStyle/>
            <a:p>
              <a:pPr algn="ctr">
                <a:lnSpc>
                  <a:spcPct val="100000"/>
                </a:lnSpc>
                <a:spcAft>
                  <a:spcPts val="0"/>
                </a:spcAft>
              </a:pPr>
              <a:r>
                <a:rPr sz="1050" b="1" i="0">
                  <a:solidFill>
                    <a:srgbClr val="1F3864"/>
                  </a:solidFill>
                  <a:latin typeface="맑은 고딕"/>
                  <a:ea typeface="맑은 고딕"/>
                  <a:cs typeface="맑은 고딕"/>
                </a:rPr>
                <a:t>10GB</a:t>
              </a:r>
            </a:p>
          </p:txBody>
        </p:sp>
        <p:sp>
          <p:nvSpPr>
            <p:cNvPr id="235" name="TextBox 234">
              <a:extLst>
                <a:ext uri="{FF2B5EF4-FFF2-40B4-BE49-F238E27FC236}">
                  <a16:creationId xmlns:a16="http://schemas.microsoft.com/office/drawing/2014/main" id="{A5A98EF3-7D41-47D6-B9BA-026D65CB3BE9}"/>
                </a:ext>
              </a:extLst>
            </p:cNvPr>
            <p:cNvSpPr txBox="1"/>
            <p:nvPr/>
          </p:nvSpPr>
          <p:spPr>
            <a:xfrm>
              <a:off x="9993838" y="5037928"/>
              <a:ext cx="275429" cy="161583"/>
            </a:xfrm>
            <a:prstGeom prst="rect">
              <a:avLst/>
            </a:prstGeom>
            <a:noFill/>
          </p:spPr>
          <p:txBody>
            <a:bodyPr wrap="none" lIns="0" tIns="0" rIns="0" bIns="0" anchor="t">
              <a:spAutoFit/>
            </a:bodyPr>
            <a:lstStyle/>
            <a:p>
              <a:pPr algn="ctr">
                <a:lnSpc>
                  <a:spcPct val="100000"/>
                </a:lnSpc>
                <a:spcAft>
                  <a:spcPts val="0"/>
                </a:spcAft>
              </a:pPr>
              <a:r>
                <a:rPr sz="1050" b="0" i="0" dirty="0">
                  <a:solidFill>
                    <a:srgbClr val="595959"/>
                  </a:solidFill>
                  <a:latin typeface="맑은 고딕"/>
                  <a:ea typeface="맑은 고딕"/>
                  <a:cs typeface="맑은 고딕"/>
                </a:rPr>
                <a:t>32K</a:t>
              </a:r>
            </a:p>
          </p:txBody>
        </p:sp>
        <p:sp>
          <p:nvSpPr>
            <p:cNvPr id="236" name="Rectangle 193">
              <a:extLst>
                <a:ext uri="{FF2B5EF4-FFF2-40B4-BE49-F238E27FC236}">
                  <a16:creationId xmlns:a16="http://schemas.microsoft.com/office/drawing/2014/main" id="{FECE394F-A6E3-490F-825E-7063A4D9B6B2}"/>
                </a:ext>
              </a:extLst>
            </p:cNvPr>
            <p:cNvSpPr/>
            <p:nvPr/>
          </p:nvSpPr>
          <p:spPr>
            <a:xfrm>
              <a:off x="10762488" y="4196679"/>
              <a:ext cx="420624"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800"/>
            </a:p>
          </p:txBody>
        </p:sp>
        <p:sp>
          <p:nvSpPr>
            <p:cNvPr id="237" name="TextBox 236">
              <a:extLst>
                <a:ext uri="{FF2B5EF4-FFF2-40B4-BE49-F238E27FC236}">
                  <a16:creationId xmlns:a16="http://schemas.microsoft.com/office/drawing/2014/main" id="{63F01EB6-6E32-4269-B423-B22982A6625B}"/>
                </a:ext>
              </a:extLst>
            </p:cNvPr>
            <p:cNvSpPr txBox="1"/>
            <p:nvPr/>
          </p:nvSpPr>
          <p:spPr>
            <a:xfrm>
              <a:off x="10766228" y="4013799"/>
              <a:ext cx="413142" cy="161583"/>
            </a:xfrm>
            <a:prstGeom prst="rect">
              <a:avLst/>
            </a:prstGeom>
            <a:noFill/>
          </p:spPr>
          <p:txBody>
            <a:bodyPr wrap="none" lIns="0" tIns="0" rIns="0" bIns="0" anchor="t">
              <a:spAutoFit/>
            </a:bodyPr>
            <a:lstStyle/>
            <a:p>
              <a:pPr algn="ctr">
                <a:lnSpc>
                  <a:spcPct val="100000"/>
                </a:lnSpc>
                <a:spcAft>
                  <a:spcPts val="0"/>
                </a:spcAft>
              </a:pPr>
              <a:r>
                <a:rPr sz="1050" b="1" i="0">
                  <a:solidFill>
                    <a:srgbClr val="1F3864"/>
                  </a:solidFill>
                  <a:latin typeface="맑은 고딕"/>
                  <a:ea typeface="맑은 고딕"/>
                  <a:cs typeface="맑은 고딕"/>
                </a:rPr>
                <a:t>40GB</a:t>
              </a:r>
            </a:p>
          </p:txBody>
        </p:sp>
        <p:sp>
          <p:nvSpPr>
            <p:cNvPr id="238" name="TextBox 237">
              <a:extLst>
                <a:ext uri="{FF2B5EF4-FFF2-40B4-BE49-F238E27FC236}">
                  <a16:creationId xmlns:a16="http://schemas.microsoft.com/office/drawing/2014/main" id="{DF502650-A627-4B3C-ABCE-776E3007C308}"/>
                </a:ext>
              </a:extLst>
            </p:cNvPr>
            <p:cNvSpPr txBox="1"/>
            <p:nvPr/>
          </p:nvSpPr>
          <p:spPr>
            <a:xfrm>
              <a:off x="10598451" y="5037928"/>
              <a:ext cx="748698" cy="161583"/>
            </a:xfrm>
            <a:prstGeom prst="rect">
              <a:avLst/>
            </a:prstGeom>
            <a:noFill/>
          </p:spPr>
          <p:txBody>
            <a:bodyPr wrap="none" lIns="0" tIns="0" rIns="0" bIns="0" anchor="t">
              <a:spAutoFit/>
            </a:bodyPr>
            <a:lstStyle/>
            <a:p>
              <a:pPr algn="ctr">
                <a:lnSpc>
                  <a:spcPct val="100000"/>
                </a:lnSpc>
                <a:spcAft>
                  <a:spcPts val="0"/>
                </a:spcAft>
              </a:pPr>
              <a:r>
                <a:rPr sz="1050" b="0" i="0">
                  <a:solidFill>
                    <a:srgbClr val="595959"/>
                  </a:solidFill>
                  <a:latin typeface="맑은 고딕"/>
                  <a:ea typeface="맑은 고딕"/>
                  <a:cs typeface="맑은 고딕"/>
                </a:rPr>
                <a:t>128K 토큰</a:t>
              </a:r>
            </a:p>
          </p:txBody>
        </p:sp>
        <p:cxnSp>
          <p:nvCxnSpPr>
            <p:cNvPr id="239" name="Connector 196">
              <a:extLst>
                <a:ext uri="{FF2B5EF4-FFF2-40B4-BE49-F238E27FC236}">
                  <a16:creationId xmlns:a16="http://schemas.microsoft.com/office/drawing/2014/main" id="{8210EAAC-3DB8-4AF3-9056-E3380CA80491}"/>
                </a:ext>
              </a:extLst>
            </p:cNvPr>
            <p:cNvCxnSpPr/>
            <p:nvPr/>
          </p:nvCxnSpPr>
          <p:spPr>
            <a:xfrm>
              <a:off x="8961120" y="5001352"/>
              <a:ext cx="2633472"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grpSp>
      <p:sp>
        <p:nvSpPr>
          <p:cNvPr id="240" name="TextBox 239">
            <a:extLst>
              <a:ext uri="{FF2B5EF4-FFF2-40B4-BE49-F238E27FC236}">
                <a16:creationId xmlns:a16="http://schemas.microsoft.com/office/drawing/2014/main" id="{957C4FF7-4342-467E-8D12-90AC80E9DD0C}"/>
              </a:ext>
            </a:extLst>
          </p:cNvPr>
          <p:cNvSpPr txBox="1"/>
          <p:nvPr/>
        </p:nvSpPr>
        <p:spPr>
          <a:xfrm>
            <a:off x="6233305" y="5914133"/>
            <a:ext cx="3363542" cy="426720"/>
          </a:xfrm>
          <a:prstGeom prst="rect">
            <a:avLst/>
          </a:prstGeom>
          <a:noFill/>
        </p:spPr>
        <p:txBody>
          <a:bodyPr wrap="square" lIns="0" tIns="0" rIns="0" bIns="0" anchor="t">
            <a:spAutoFit/>
          </a:bodyPr>
          <a:lstStyle/>
          <a:p>
            <a:pPr algn="l">
              <a:lnSpc>
                <a:spcPct val="100000"/>
              </a:lnSpc>
              <a:spcAft>
                <a:spcPts val="100"/>
              </a:spcAft>
            </a:pPr>
            <a:r>
              <a:rPr sz="1000" b="0" i="0" dirty="0">
                <a:solidFill>
                  <a:srgbClr val="808080"/>
                </a:solidFill>
                <a:latin typeface="맑은 고딕"/>
                <a:ea typeface="맑은 고딕"/>
                <a:cs typeface="맑은 고딕"/>
              </a:rPr>
              <a:t>※ 70B급 모델·FP16 </a:t>
            </a:r>
            <a:r>
              <a:rPr sz="1000" b="0" i="0" dirty="0" err="1">
                <a:solidFill>
                  <a:srgbClr val="808080"/>
                </a:solidFill>
                <a:latin typeface="맑은 고딕"/>
                <a:ea typeface="맑은 고딕"/>
                <a:cs typeface="맑은 고딕"/>
              </a:rPr>
              <a:t>기준</a:t>
            </a:r>
            <a:r>
              <a:rPr sz="1000" b="0" i="0" dirty="0">
                <a:solidFill>
                  <a:srgbClr val="808080"/>
                </a:solidFill>
                <a:latin typeface="맑은 고딕"/>
                <a:ea typeface="맑은 고딕"/>
                <a:cs typeface="맑은 고딕"/>
              </a:rPr>
              <a:t> </a:t>
            </a:r>
            <a:r>
              <a:rPr sz="1000" b="0" i="0" dirty="0" err="1">
                <a:solidFill>
                  <a:srgbClr val="808080"/>
                </a:solidFill>
                <a:latin typeface="맑은 고딕"/>
                <a:ea typeface="맑은 고딕"/>
                <a:cs typeface="맑은 고딕"/>
              </a:rPr>
              <a:t>개략치</a:t>
            </a:r>
            <a:endParaRPr sz="1000" b="0" i="0" dirty="0">
              <a:solidFill>
                <a:srgbClr val="808080"/>
              </a:solidFill>
              <a:latin typeface="맑은 고딕"/>
              <a:ea typeface="맑은 고딕"/>
              <a:cs typeface="맑은 고딕"/>
            </a:endParaRPr>
          </a:p>
          <a:p>
            <a:pPr algn="l">
              <a:lnSpc>
                <a:spcPct val="100000"/>
              </a:lnSpc>
              <a:spcAft>
                <a:spcPts val="0"/>
              </a:spcAft>
            </a:pPr>
            <a:r>
              <a:rPr sz="1000" b="0" i="0" dirty="0">
                <a:solidFill>
                  <a:srgbClr val="808080"/>
                </a:solidFill>
                <a:latin typeface="맑은 고딕"/>
                <a:ea typeface="맑은 고딕"/>
                <a:cs typeface="맑은 고딕"/>
              </a:rPr>
              <a:t>※ </a:t>
            </a:r>
            <a:r>
              <a:rPr sz="1000" b="0" i="0" dirty="0" err="1">
                <a:solidFill>
                  <a:srgbClr val="808080"/>
                </a:solidFill>
                <a:latin typeface="맑은 고딕"/>
                <a:ea typeface="맑은 고딕"/>
                <a:cs typeface="맑은 고딕"/>
              </a:rPr>
              <a:t>서비스</a:t>
            </a:r>
            <a:r>
              <a:rPr sz="1000" b="0" i="0" dirty="0">
                <a:solidFill>
                  <a:srgbClr val="808080"/>
                </a:solidFill>
                <a:latin typeface="맑은 고딕"/>
                <a:ea typeface="맑은 고딕"/>
                <a:cs typeface="맑은 고딕"/>
              </a:rPr>
              <a:t> </a:t>
            </a:r>
            <a:r>
              <a:rPr sz="1000" b="0" i="0" dirty="0" err="1">
                <a:solidFill>
                  <a:srgbClr val="808080"/>
                </a:solidFill>
                <a:latin typeface="맑은 고딕"/>
                <a:ea typeface="맑은 고딕"/>
                <a:cs typeface="맑은 고딕"/>
              </a:rPr>
              <a:t>필요</a:t>
            </a:r>
            <a:r>
              <a:rPr sz="1000" b="0" i="0" dirty="0">
                <a:solidFill>
                  <a:srgbClr val="808080"/>
                </a:solidFill>
                <a:latin typeface="맑은 고딕"/>
                <a:ea typeface="맑은 고딕"/>
                <a:cs typeface="맑은 고딕"/>
              </a:rPr>
              <a:t> </a:t>
            </a:r>
            <a:r>
              <a:rPr sz="1000" b="0" i="0" dirty="0" err="1">
                <a:solidFill>
                  <a:srgbClr val="808080"/>
                </a:solidFill>
                <a:latin typeface="맑은 고딕"/>
                <a:ea typeface="맑은 고딕"/>
                <a:cs typeface="맑은 고딕"/>
              </a:rPr>
              <a:t>용량</a:t>
            </a:r>
            <a:r>
              <a:rPr sz="1000" b="0" i="0" dirty="0">
                <a:solidFill>
                  <a:srgbClr val="808080"/>
                </a:solidFill>
                <a:latin typeface="맑은 고딕"/>
                <a:ea typeface="맑은 고딕"/>
                <a:cs typeface="맑은 고딕"/>
              </a:rPr>
              <a:t> = </a:t>
            </a:r>
            <a:r>
              <a:rPr sz="1000" b="1" i="0" dirty="0" err="1">
                <a:solidFill>
                  <a:srgbClr val="C00000"/>
                </a:solidFill>
                <a:latin typeface="맑은 고딕"/>
                <a:ea typeface="맑은 고딕"/>
                <a:cs typeface="맑은 고딕"/>
              </a:rPr>
              <a:t>문맥</a:t>
            </a:r>
            <a:r>
              <a:rPr sz="1000" b="1" i="0" dirty="0">
                <a:solidFill>
                  <a:srgbClr val="C00000"/>
                </a:solidFill>
                <a:latin typeface="맑은 고딕"/>
                <a:ea typeface="맑은 고딕"/>
                <a:cs typeface="맑은 고딕"/>
              </a:rPr>
              <a:t> </a:t>
            </a:r>
            <a:r>
              <a:rPr sz="1000" b="1" i="0" dirty="0" err="1">
                <a:solidFill>
                  <a:srgbClr val="C00000"/>
                </a:solidFill>
                <a:latin typeface="맑은 고딕"/>
                <a:ea typeface="맑은 고딕"/>
                <a:cs typeface="맑은 고딕"/>
              </a:rPr>
              <a:t>길이</a:t>
            </a:r>
            <a:r>
              <a:rPr sz="1000" b="1" i="0" dirty="0">
                <a:solidFill>
                  <a:srgbClr val="C00000"/>
                </a:solidFill>
                <a:latin typeface="맑은 고딕"/>
                <a:ea typeface="맑은 고딕"/>
                <a:cs typeface="맑은 고딕"/>
              </a:rPr>
              <a:t> × </a:t>
            </a:r>
            <a:r>
              <a:rPr sz="1000" b="1" i="0" dirty="0" err="1">
                <a:solidFill>
                  <a:srgbClr val="C00000"/>
                </a:solidFill>
                <a:latin typeface="맑은 고딕"/>
                <a:ea typeface="맑은 고딕"/>
                <a:cs typeface="맑은 고딕"/>
              </a:rPr>
              <a:t>동시</a:t>
            </a:r>
            <a:r>
              <a:rPr sz="1000" b="1" i="0" dirty="0">
                <a:solidFill>
                  <a:srgbClr val="C00000"/>
                </a:solidFill>
                <a:latin typeface="맑은 고딕"/>
                <a:ea typeface="맑은 고딕"/>
                <a:cs typeface="맑은 고딕"/>
              </a:rPr>
              <a:t> </a:t>
            </a:r>
            <a:r>
              <a:rPr sz="1000" b="1" i="0" dirty="0" err="1">
                <a:solidFill>
                  <a:srgbClr val="C00000"/>
                </a:solidFill>
                <a:latin typeface="맑은 고딕"/>
                <a:ea typeface="맑은 고딕"/>
                <a:cs typeface="맑은 고딕"/>
              </a:rPr>
              <a:t>사용자</a:t>
            </a:r>
            <a:r>
              <a:rPr sz="1000" b="1" i="0" dirty="0">
                <a:solidFill>
                  <a:srgbClr val="C00000"/>
                </a:solidFill>
                <a:latin typeface="맑은 고딕"/>
                <a:ea typeface="맑은 고딕"/>
                <a:cs typeface="맑은 고딕"/>
              </a:rPr>
              <a:t> 수</a:t>
            </a:r>
          </a:p>
        </p:txBody>
      </p:sp>
      <p:sp>
        <p:nvSpPr>
          <p:cNvPr id="6" name="순서도: 자기 디스크 5"/>
          <p:cNvSpPr/>
          <p:nvPr/>
        </p:nvSpPr>
        <p:spPr>
          <a:xfrm>
            <a:off x="10393431" y="1852110"/>
            <a:ext cx="1270000" cy="342089"/>
          </a:xfrm>
          <a:prstGeom prst="flowChartMagneticDisk">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900" b="1" dirty="0"/>
              <a:t>오늘의 날씨는 </a:t>
            </a:r>
          </a:p>
        </p:txBody>
      </p:sp>
      <p:grpSp>
        <p:nvGrpSpPr>
          <p:cNvPr id="2" name="그룹 1"/>
          <p:cNvGrpSpPr/>
          <p:nvPr/>
        </p:nvGrpSpPr>
        <p:grpSpPr>
          <a:xfrm>
            <a:off x="10393431" y="2562394"/>
            <a:ext cx="1270000" cy="429936"/>
            <a:chOff x="10393431" y="2203845"/>
            <a:chExt cx="1270000" cy="429936"/>
          </a:xfrm>
        </p:grpSpPr>
        <p:sp>
          <p:nvSpPr>
            <p:cNvPr id="242" name="순서도: 자기 디스크 241"/>
            <p:cNvSpPr/>
            <p:nvPr/>
          </p:nvSpPr>
          <p:spPr>
            <a:xfrm>
              <a:off x="10393431" y="2203845"/>
              <a:ext cx="1270000" cy="339135"/>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900" b="1" dirty="0">
                  <a:solidFill>
                    <a:prstClr val="white"/>
                  </a:solidFill>
                </a:rPr>
                <a:t>오늘의 날씨는</a:t>
              </a:r>
            </a:p>
          </p:txBody>
        </p:sp>
        <p:sp>
          <p:nvSpPr>
            <p:cNvPr id="243" name="순서도: 자기 디스크 242"/>
            <p:cNvSpPr/>
            <p:nvPr/>
          </p:nvSpPr>
          <p:spPr>
            <a:xfrm>
              <a:off x="10393431" y="2460845"/>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900" b="1" kern="0" dirty="0">
                  <a:solidFill>
                    <a:srgbClr val="1F2937"/>
                  </a:solidFill>
                </a:rPr>
                <a:t>맑</a:t>
              </a:r>
            </a:p>
          </p:txBody>
        </p:sp>
      </p:grpSp>
      <p:grpSp>
        <p:nvGrpSpPr>
          <p:cNvPr id="5" name="그룹 4"/>
          <p:cNvGrpSpPr/>
          <p:nvPr/>
        </p:nvGrpSpPr>
        <p:grpSpPr>
          <a:xfrm>
            <a:off x="10393431" y="3266252"/>
            <a:ext cx="1270000" cy="500405"/>
            <a:chOff x="10393431" y="3007371"/>
            <a:chExt cx="1270000" cy="500405"/>
          </a:xfrm>
        </p:grpSpPr>
        <p:sp>
          <p:nvSpPr>
            <p:cNvPr id="245" name="순서도: 자기 디스크 244"/>
            <p:cNvSpPr/>
            <p:nvPr/>
          </p:nvSpPr>
          <p:spPr>
            <a:xfrm>
              <a:off x="10393431" y="3007371"/>
              <a:ext cx="1270000" cy="429755"/>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900" b="1" dirty="0">
                  <a:solidFill>
                    <a:prstClr val="white"/>
                  </a:solidFill>
                </a:rPr>
                <a:t>오늘의 날씨는 맑</a:t>
              </a:r>
            </a:p>
          </p:txBody>
        </p:sp>
        <p:sp>
          <p:nvSpPr>
            <p:cNvPr id="246" name="순서도: 자기 디스크 245"/>
            <p:cNvSpPr/>
            <p:nvPr/>
          </p:nvSpPr>
          <p:spPr>
            <a:xfrm>
              <a:off x="10393431" y="3334840"/>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900" b="1" kern="0" dirty="0">
                  <a:solidFill>
                    <a:srgbClr val="1F2937"/>
                  </a:solidFill>
                </a:rPr>
                <a:t>고</a:t>
              </a:r>
            </a:p>
          </p:txBody>
        </p:sp>
      </p:grpSp>
      <p:grpSp>
        <p:nvGrpSpPr>
          <p:cNvPr id="7" name="그룹 6"/>
          <p:cNvGrpSpPr/>
          <p:nvPr/>
        </p:nvGrpSpPr>
        <p:grpSpPr>
          <a:xfrm>
            <a:off x="10393431" y="4022234"/>
            <a:ext cx="1270000" cy="633428"/>
            <a:chOff x="10393431" y="3824085"/>
            <a:chExt cx="1270000" cy="633428"/>
          </a:xfrm>
        </p:grpSpPr>
        <p:sp>
          <p:nvSpPr>
            <p:cNvPr id="248" name="순서도: 자기 디스크 247"/>
            <p:cNvSpPr/>
            <p:nvPr/>
          </p:nvSpPr>
          <p:spPr>
            <a:xfrm>
              <a:off x="10393431" y="3824085"/>
              <a:ext cx="1270000" cy="552022"/>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900" b="1" dirty="0"/>
                <a:t>오늘의 날씨는 맑고</a:t>
              </a:r>
            </a:p>
          </p:txBody>
        </p:sp>
        <p:sp>
          <p:nvSpPr>
            <p:cNvPr id="250" name="순서도: 자기 디스크 249"/>
            <p:cNvSpPr/>
            <p:nvPr/>
          </p:nvSpPr>
          <p:spPr>
            <a:xfrm>
              <a:off x="10393431" y="4284577"/>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900" b="1" kern="0" dirty="0">
                  <a:solidFill>
                    <a:srgbClr val="1F2937"/>
                  </a:solidFill>
                </a:rPr>
                <a:t>바</a:t>
              </a:r>
            </a:p>
          </p:txBody>
        </p:sp>
      </p:grpSp>
      <p:sp>
        <p:nvSpPr>
          <p:cNvPr id="8" name="실행 단추: 앞으로 또는 다음 7">
            <a:hlinkClick r:id="rId3" action="ppaction://hlinksldjump" highlightClick="1"/>
          </p:cNvPr>
          <p:cNvSpPr/>
          <p:nvPr/>
        </p:nvSpPr>
        <p:spPr>
          <a:xfrm>
            <a:off x="5934464" y="235131"/>
            <a:ext cx="205079" cy="20247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TextBox 8"/>
          <p:cNvSpPr txBox="1"/>
          <p:nvPr/>
        </p:nvSpPr>
        <p:spPr>
          <a:xfrm>
            <a:off x="4957356" y="220433"/>
            <a:ext cx="1021433" cy="261610"/>
          </a:xfrm>
          <a:prstGeom prst="rect">
            <a:avLst/>
          </a:prstGeom>
          <a:noFill/>
        </p:spPr>
        <p:txBody>
          <a:bodyPr wrap="none" rtlCol="0">
            <a:spAutoFit/>
          </a:bodyPr>
          <a:lstStyle/>
          <a:p>
            <a:r>
              <a:rPr lang="en-US" altLang="ko-KR" sz="1100" dirty="0"/>
              <a:t>KV </a:t>
            </a:r>
            <a:r>
              <a:rPr lang="ko-KR" altLang="en-US" sz="1100" dirty="0"/>
              <a:t>캐시 상세</a:t>
            </a:r>
          </a:p>
        </p:txBody>
      </p:sp>
      <p:sp>
        <p:nvSpPr>
          <p:cNvPr id="93" name="실행 단추: 앞으로 또는 다음 92">
            <a:hlinkClick r:id="rId4" action="ppaction://hlinksldjump" highlightClick="1"/>
          </p:cNvPr>
          <p:cNvSpPr/>
          <p:nvPr/>
        </p:nvSpPr>
        <p:spPr>
          <a:xfrm>
            <a:off x="7705820" y="235131"/>
            <a:ext cx="205079" cy="20247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p:cNvSpPr txBox="1"/>
          <p:nvPr/>
        </p:nvSpPr>
        <p:spPr>
          <a:xfrm>
            <a:off x="6311895" y="220433"/>
            <a:ext cx="1458134" cy="261610"/>
          </a:xfrm>
          <a:prstGeom prst="rect">
            <a:avLst/>
          </a:prstGeom>
          <a:noFill/>
        </p:spPr>
        <p:txBody>
          <a:bodyPr wrap="square" rtlCol="0">
            <a:spAutoFit/>
          </a:bodyPr>
          <a:lstStyle/>
          <a:p>
            <a:r>
              <a:rPr lang="en-US" altLang="ko-KR" sz="1100"/>
              <a:t>Prefill/Decode </a:t>
            </a:r>
            <a:r>
              <a:rPr lang="ko-KR" altLang="en-US" sz="1100" dirty="0"/>
              <a:t>상세</a:t>
            </a:r>
          </a:p>
        </p:txBody>
      </p:sp>
      <p:sp>
        <p:nvSpPr>
          <p:cNvPr id="10" name="직사각형 9">
            <a:extLst>
              <a:ext uri="{FF2B5EF4-FFF2-40B4-BE49-F238E27FC236}">
                <a16:creationId xmlns:a16="http://schemas.microsoft.com/office/drawing/2014/main" id="{E5E0CF57-9340-4D57-A83C-A639E5B3FED4}"/>
              </a:ext>
            </a:extLst>
          </p:cNvPr>
          <p:cNvSpPr/>
          <p:nvPr/>
        </p:nvSpPr>
        <p:spPr>
          <a:xfrm>
            <a:off x="468860" y="5540780"/>
            <a:ext cx="4510731" cy="8162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t>기존 </a:t>
            </a:r>
            <a:r>
              <a:rPr lang="en-US" altLang="ko-KR" sz="1200" dirty="0" err="1"/>
              <a:t>architcture</a:t>
            </a:r>
            <a:r>
              <a:rPr lang="ko-KR" altLang="en-US" sz="1200" dirty="0"/>
              <a:t>의 문제점 </a:t>
            </a:r>
            <a:r>
              <a:rPr lang="en-US" altLang="ko-KR" sz="1200" dirty="0"/>
              <a:t>– KV</a:t>
            </a:r>
            <a:r>
              <a:rPr lang="ko-KR" altLang="en-US" sz="1200" dirty="0"/>
              <a:t>가 왜 문제인지</a:t>
            </a:r>
            <a:r>
              <a:rPr lang="en-US" altLang="ko-KR" sz="1200" dirty="0"/>
              <a:t>, HBM only </a:t>
            </a:r>
            <a:r>
              <a:rPr lang="ko-KR" altLang="en-US" sz="1200" dirty="0"/>
              <a:t>의 문제점 </a:t>
            </a:r>
            <a:r>
              <a:rPr lang="en-US" altLang="ko-KR" sz="1200" dirty="0"/>
              <a:t>-&gt; </a:t>
            </a:r>
          </a:p>
          <a:p>
            <a:pPr algn="ctr"/>
            <a:r>
              <a:rPr lang="en-US" altLang="ko-KR" sz="1200" dirty="0"/>
              <a:t>KV</a:t>
            </a:r>
            <a:r>
              <a:rPr lang="ko-KR" altLang="en-US" sz="1200" dirty="0"/>
              <a:t>가 </a:t>
            </a:r>
            <a:r>
              <a:rPr lang="en-US" altLang="ko-KR" sz="1200" dirty="0"/>
              <a:t>HBM </a:t>
            </a:r>
            <a:r>
              <a:rPr lang="ko-KR" altLang="en-US" sz="1200" dirty="0"/>
              <a:t>에서 빠르지만 </a:t>
            </a:r>
            <a:r>
              <a:rPr lang="en-US" altLang="ko-KR" sz="1200" dirty="0"/>
              <a:t>cap</a:t>
            </a:r>
            <a:r>
              <a:rPr lang="ko-KR" altLang="en-US" sz="1200" dirty="0"/>
              <a:t>가 문제다</a:t>
            </a:r>
            <a:endParaRPr lang="en-US" altLang="ko-KR" sz="1200" dirty="0"/>
          </a:p>
        </p:txBody>
      </p:sp>
      <p:sp>
        <p:nvSpPr>
          <p:cNvPr id="85" name="직사각형 84">
            <a:extLst>
              <a:ext uri="{FF2B5EF4-FFF2-40B4-BE49-F238E27FC236}">
                <a16:creationId xmlns:a16="http://schemas.microsoft.com/office/drawing/2014/main" id="{F4BF7F99-AA85-4AA9-956C-E014C5CA9521}"/>
              </a:ext>
            </a:extLst>
          </p:cNvPr>
          <p:cNvSpPr/>
          <p:nvPr/>
        </p:nvSpPr>
        <p:spPr>
          <a:xfrm>
            <a:off x="4015601" y="1319157"/>
            <a:ext cx="4714091" cy="1492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t>이전 문제점</a:t>
            </a:r>
            <a:r>
              <a:rPr lang="en-US" altLang="ko-KR" sz="1200" dirty="0"/>
              <a:t>, </a:t>
            </a:r>
            <a:r>
              <a:rPr lang="ko-KR" altLang="en-US" sz="1200" dirty="0" err="1"/>
              <a:t>어떤걸</a:t>
            </a:r>
            <a:r>
              <a:rPr lang="ko-KR" altLang="en-US" sz="1200" dirty="0"/>
              <a:t> </a:t>
            </a:r>
            <a:r>
              <a:rPr lang="ko-KR" altLang="en-US" sz="1200" dirty="0" err="1"/>
              <a:t>고민하겠다를</a:t>
            </a:r>
            <a:r>
              <a:rPr lang="ko-KR" altLang="en-US" sz="1200" dirty="0"/>
              <a:t> 표현</a:t>
            </a:r>
            <a:endParaRPr lang="en-US" altLang="ko-KR" sz="1200" dirty="0"/>
          </a:p>
        </p:txBody>
      </p:sp>
    </p:spTree>
    <p:extLst>
      <p:ext uri="{BB962C8B-B14F-4D97-AF65-F5344CB8AC3E}">
        <p14:creationId xmlns:p14="http://schemas.microsoft.com/office/powerpoint/2010/main" val="59882774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a:xfrm>
            <a:off x="234948" y="137379"/>
            <a:ext cx="5736183" cy="365125"/>
          </a:xfrm>
        </p:spPr>
        <p:txBody>
          <a:bodyPr/>
          <a:lstStyle/>
          <a:p>
            <a:r>
              <a:rPr lang="ko-KR" altLang="en-US" dirty="0"/>
              <a:t>배경 지식 </a:t>
            </a:r>
            <a:r>
              <a:rPr lang="en-US" altLang="ko-KR" dirty="0"/>
              <a:t>(Agent, KV </a:t>
            </a:r>
            <a:r>
              <a:rPr lang="ko-KR" altLang="en-US" dirty="0"/>
              <a:t>캐시</a:t>
            </a:r>
            <a:r>
              <a:rPr lang="en-US" altLang="ko-KR" dirty="0"/>
              <a:t>, Prefill/Decode)</a:t>
            </a:r>
          </a:p>
        </p:txBody>
      </p:sp>
      <p:sp>
        <p:nvSpPr>
          <p:cNvPr id="8" name="실행 단추: 앞으로 또는 다음 7">
            <a:hlinkClick r:id="rId3" action="ppaction://hlinksldjump" highlightClick="1"/>
          </p:cNvPr>
          <p:cNvSpPr/>
          <p:nvPr/>
        </p:nvSpPr>
        <p:spPr>
          <a:xfrm>
            <a:off x="7773876" y="55711"/>
            <a:ext cx="169486" cy="16733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 name="TextBox 8"/>
          <p:cNvSpPr txBox="1"/>
          <p:nvPr/>
        </p:nvSpPr>
        <p:spPr>
          <a:xfrm>
            <a:off x="6867609" y="46145"/>
            <a:ext cx="944489" cy="246221"/>
          </a:xfrm>
          <a:prstGeom prst="rect">
            <a:avLst/>
          </a:prstGeom>
          <a:noFill/>
        </p:spPr>
        <p:txBody>
          <a:bodyPr wrap="none" rtlCol="0">
            <a:spAutoFit/>
          </a:bodyPr>
          <a:lstStyle/>
          <a:p>
            <a:r>
              <a:rPr lang="en-US" altLang="ko-KR" sz="1000" dirty="0"/>
              <a:t>KV </a:t>
            </a:r>
            <a:r>
              <a:rPr lang="ko-KR" altLang="en-US" sz="1000" dirty="0"/>
              <a:t>캐시 상세</a:t>
            </a:r>
          </a:p>
        </p:txBody>
      </p:sp>
      <p:sp>
        <p:nvSpPr>
          <p:cNvPr id="93" name="실행 단추: 앞으로 또는 다음 92">
            <a:hlinkClick r:id="rId4" action="ppaction://hlinksldjump" highlightClick="1"/>
          </p:cNvPr>
          <p:cNvSpPr/>
          <p:nvPr/>
        </p:nvSpPr>
        <p:spPr>
          <a:xfrm>
            <a:off x="7770562" y="302853"/>
            <a:ext cx="169486" cy="16733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4" name="TextBox 93"/>
          <p:cNvSpPr txBox="1"/>
          <p:nvPr/>
        </p:nvSpPr>
        <p:spPr>
          <a:xfrm>
            <a:off x="6512646" y="282460"/>
            <a:ext cx="1364930" cy="246221"/>
          </a:xfrm>
          <a:prstGeom prst="rect">
            <a:avLst/>
          </a:prstGeom>
          <a:noFill/>
        </p:spPr>
        <p:txBody>
          <a:bodyPr wrap="square" rtlCol="0">
            <a:spAutoFit/>
          </a:bodyPr>
          <a:lstStyle/>
          <a:p>
            <a:r>
              <a:rPr lang="en-US" altLang="ko-KR" sz="1000" dirty="0"/>
              <a:t>Prefill/Decode </a:t>
            </a:r>
            <a:r>
              <a:rPr lang="ko-KR" altLang="en-US" sz="1000" dirty="0"/>
              <a:t>상세</a:t>
            </a:r>
          </a:p>
        </p:txBody>
      </p:sp>
      <p:sp>
        <p:nvSpPr>
          <p:cNvPr id="86" name="Shape 4"/>
          <p:cNvSpPr/>
          <p:nvPr/>
        </p:nvSpPr>
        <p:spPr>
          <a:xfrm>
            <a:off x="6024999" y="647700"/>
            <a:ext cx="5894729" cy="5982058"/>
          </a:xfrm>
          <a:prstGeom prst="roundRect">
            <a:avLst>
              <a:gd name="adj" fmla="val 1572"/>
            </a:avLst>
          </a:prstGeom>
          <a:solidFill>
            <a:srgbClr val="051B2F">
              <a:alpha val="0"/>
            </a:srgbClr>
          </a:solidFill>
          <a:ln w="12700">
            <a:solidFill>
              <a:srgbClr val="FF0000"/>
            </a:solidFill>
            <a:prstDash val="solid"/>
          </a:ln>
        </p:spPr>
        <p:txBody>
          <a:bodyPr/>
          <a:lstStyle/>
          <a:p>
            <a:endParaRPr lang="ko-KR" altLang="en-US" dirty="0"/>
          </a:p>
        </p:txBody>
      </p:sp>
      <p:sp>
        <p:nvSpPr>
          <p:cNvPr id="87" name="Shape 4"/>
          <p:cNvSpPr/>
          <p:nvPr/>
        </p:nvSpPr>
        <p:spPr>
          <a:xfrm>
            <a:off x="172658" y="1669906"/>
            <a:ext cx="5323958" cy="4032409"/>
          </a:xfrm>
          <a:prstGeom prst="roundRect">
            <a:avLst>
              <a:gd name="adj" fmla="val 1572"/>
            </a:avLst>
          </a:prstGeom>
          <a:solidFill>
            <a:srgbClr val="051B2F">
              <a:alpha val="0"/>
            </a:srgbClr>
          </a:solidFill>
          <a:ln w="12700">
            <a:solidFill>
              <a:schemeClr val="bg1">
                <a:lumMod val="85000"/>
              </a:schemeClr>
            </a:solidFill>
            <a:prstDash val="solid"/>
          </a:ln>
        </p:spPr>
        <p:txBody>
          <a:bodyPr/>
          <a:lstStyle/>
          <a:p>
            <a:endParaRPr lang="ko-KR" altLang="en-US" sz="900" dirty="0"/>
          </a:p>
        </p:txBody>
      </p:sp>
      <p:cxnSp>
        <p:nvCxnSpPr>
          <p:cNvPr id="88" name="꺾인 연결선 87"/>
          <p:cNvCxnSpPr>
            <a:stCxn id="127" idx="1"/>
            <a:endCxn id="145" idx="1"/>
          </p:cNvCxnSpPr>
          <p:nvPr/>
        </p:nvCxnSpPr>
        <p:spPr>
          <a:xfrm rot="16200000" flipV="1">
            <a:off x="2251364" y="3847140"/>
            <a:ext cx="1544953" cy="297180"/>
          </a:xfrm>
          <a:prstGeom prst="bentConnector4">
            <a:avLst>
              <a:gd name="adj1" fmla="val 11455"/>
              <a:gd name="adj2" fmla="val 177829"/>
            </a:avLst>
          </a:prstGeom>
          <a:ln w="127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꺾인 연결선 88"/>
          <p:cNvCxnSpPr>
            <a:stCxn id="127" idx="4"/>
            <a:endCxn id="159" idx="1"/>
          </p:cNvCxnSpPr>
          <p:nvPr/>
        </p:nvCxnSpPr>
        <p:spPr>
          <a:xfrm flipH="1" flipV="1">
            <a:off x="4163641" y="3219304"/>
            <a:ext cx="343521" cy="1930303"/>
          </a:xfrm>
          <a:prstGeom prst="bentConnector5">
            <a:avLst>
              <a:gd name="adj1" fmla="val -66546"/>
              <a:gd name="adj2" fmla="val 24491"/>
              <a:gd name="adj3" fmla="val 152201"/>
            </a:avLst>
          </a:prstGeom>
          <a:ln w="127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꺾인 연결선 89"/>
          <p:cNvCxnSpPr>
            <a:stCxn id="127" idx="2"/>
            <a:endCxn id="131" idx="1"/>
          </p:cNvCxnSpPr>
          <p:nvPr/>
        </p:nvCxnSpPr>
        <p:spPr>
          <a:xfrm rot="10800000">
            <a:off x="1518976" y="3223253"/>
            <a:ext cx="318722" cy="1926354"/>
          </a:xfrm>
          <a:prstGeom prst="bentConnector3">
            <a:avLst>
              <a:gd name="adj1" fmla="val 171724"/>
            </a:avLst>
          </a:prstGeom>
          <a:ln w="635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1" name="Shape 4"/>
          <p:cNvSpPr/>
          <p:nvPr/>
        </p:nvSpPr>
        <p:spPr>
          <a:xfrm>
            <a:off x="1371279" y="2204801"/>
            <a:ext cx="1208544" cy="2223928"/>
          </a:xfrm>
          <a:prstGeom prst="roundRect">
            <a:avLst>
              <a:gd name="adj" fmla="val 1572"/>
            </a:avLst>
          </a:prstGeom>
          <a:solidFill>
            <a:srgbClr val="051B2F">
              <a:alpha val="0"/>
            </a:srgbClr>
          </a:solidFill>
          <a:ln w="12700">
            <a:solidFill>
              <a:schemeClr val="bg1">
                <a:lumMod val="75000"/>
              </a:schemeClr>
            </a:solidFill>
            <a:prstDash val="solid"/>
          </a:ln>
        </p:spPr>
        <p:txBody>
          <a:bodyPr/>
          <a:lstStyle/>
          <a:p>
            <a:endParaRPr lang="ko-KR" altLang="en-US" dirty="0"/>
          </a:p>
        </p:txBody>
      </p:sp>
      <p:sp>
        <p:nvSpPr>
          <p:cNvPr id="92" name="Shape 4"/>
          <p:cNvSpPr/>
          <p:nvPr/>
        </p:nvSpPr>
        <p:spPr>
          <a:xfrm>
            <a:off x="2728502" y="2207481"/>
            <a:ext cx="1178246" cy="2223928"/>
          </a:xfrm>
          <a:prstGeom prst="roundRect">
            <a:avLst>
              <a:gd name="adj" fmla="val 1572"/>
            </a:avLst>
          </a:prstGeom>
          <a:noFill/>
          <a:ln w="12700">
            <a:solidFill>
              <a:schemeClr val="bg1">
                <a:lumMod val="75000"/>
              </a:schemeClr>
            </a:solidFill>
            <a:prstDash val="solid"/>
          </a:ln>
        </p:spPr>
        <p:txBody>
          <a:bodyPr/>
          <a:lstStyle/>
          <a:p>
            <a:endParaRPr lang="ko-KR" altLang="en-US" dirty="0"/>
          </a:p>
        </p:txBody>
      </p:sp>
      <p:sp>
        <p:nvSpPr>
          <p:cNvPr id="95" name="Shape 4"/>
          <p:cNvSpPr/>
          <p:nvPr/>
        </p:nvSpPr>
        <p:spPr>
          <a:xfrm>
            <a:off x="4053637" y="2207585"/>
            <a:ext cx="1208544" cy="2223928"/>
          </a:xfrm>
          <a:prstGeom prst="roundRect">
            <a:avLst>
              <a:gd name="adj" fmla="val 1572"/>
            </a:avLst>
          </a:prstGeom>
          <a:noFill/>
          <a:ln w="12700">
            <a:solidFill>
              <a:schemeClr val="bg1">
                <a:lumMod val="75000"/>
              </a:schemeClr>
            </a:solidFill>
            <a:prstDash val="solid"/>
          </a:ln>
        </p:spPr>
        <p:txBody>
          <a:bodyPr/>
          <a:lstStyle/>
          <a:p>
            <a:endParaRPr lang="ko-KR" altLang="en-US" dirty="0"/>
          </a:p>
        </p:txBody>
      </p:sp>
      <p:sp>
        <p:nvSpPr>
          <p:cNvPr id="96" name="TextBox 95"/>
          <p:cNvSpPr txBox="1"/>
          <p:nvPr/>
        </p:nvSpPr>
        <p:spPr>
          <a:xfrm>
            <a:off x="1471057" y="1303543"/>
            <a:ext cx="3106941" cy="307777"/>
          </a:xfrm>
          <a:prstGeom prst="rect">
            <a:avLst/>
          </a:prstGeom>
          <a:noFill/>
        </p:spPr>
        <p:txBody>
          <a:bodyPr wrap="none" rtlCol="0">
            <a:spAutoFit/>
          </a:bodyPr>
          <a:lstStyle/>
          <a:p>
            <a:r>
              <a:rPr lang="en-US" altLang="ko-KR" sz="1400" b="1" dirty="0"/>
              <a:t>Agent</a:t>
            </a:r>
            <a:r>
              <a:rPr lang="ko-KR" altLang="en-US" sz="1400" b="1" dirty="0"/>
              <a:t>가 다양한 모델</a:t>
            </a:r>
            <a:r>
              <a:rPr lang="en-US" altLang="ko-KR" sz="1400" b="1" dirty="0"/>
              <a:t>/SW </a:t>
            </a:r>
            <a:r>
              <a:rPr lang="ko-KR" altLang="en-US" sz="1400" b="1" dirty="0"/>
              <a:t>요청 제어</a:t>
            </a:r>
          </a:p>
        </p:txBody>
      </p:sp>
      <p:cxnSp>
        <p:nvCxnSpPr>
          <p:cNvPr id="124" name="직선 연결선 123"/>
          <p:cNvCxnSpPr/>
          <p:nvPr/>
        </p:nvCxnSpPr>
        <p:spPr>
          <a:xfrm>
            <a:off x="4969268" y="3353790"/>
            <a:ext cx="1001863" cy="3234652"/>
          </a:xfrm>
          <a:prstGeom prst="line">
            <a:avLst/>
          </a:prstGeom>
          <a:ln w="12700">
            <a:solidFill>
              <a:srgbClr val="FF0000"/>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직선 연결선 124"/>
          <p:cNvCxnSpPr/>
          <p:nvPr/>
        </p:nvCxnSpPr>
        <p:spPr>
          <a:xfrm flipV="1">
            <a:off x="4961291" y="793350"/>
            <a:ext cx="916366" cy="2275299"/>
          </a:xfrm>
          <a:prstGeom prst="line">
            <a:avLst/>
          </a:prstGeom>
          <a:ln w="12700">
            <a:solidFill>
              <a:srgbClr val="FF0000"/>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6" name="Shape 11"/>
          <p:cNvSpPr/>
          <p:nvPr/>
        </p:nvSpPr>
        <p:spPr>
          <a:xfrm>
            <a:off x="1565642" y="4070622"/>
            <a:ext cx="684741" cy="245963"/>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r>
              <a:rPr lang="ko-KR" altLang="en-US" sz="800" dirty="0"/>
              <a:t>검색</a:t>
            </a:r>
            <a:r>
              <a:rPr lang="en-US" altLang="ko-KR" sz="800" dirty="0"/>
              <a:t> </a:t>
            </a:r>
            <a:r>
              <a:rPr lang="ko-KR" altLang="en-US" sz="800" dirty="0"/>
              <a:t>결과</a:t>
            </a:r>
          </a:p>
        </p:txBody>
      </p:sp>
      <p:sp>
        <p:nvSpPr>
          <p:cNvPr id="127" name="원통 126"/>
          <p:cNvSpPr/>
          <p:nvPr/>
        </p:nvSpPr>
        <p:spPr>
          <a:xfrm>
            <a:off x="1837698" y="4768206"/>
            <a:ext cx="2669464" cy="762801"/>
          </a:xfrm>
          <a:prstGeom prst="can">
            <a:avLst/>
          </a:prstGeom>
          <a:solidFill>
            <a:schemeClr val="bg1">
              <a:lumMod val="95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ko-KR" altLang="en-US" sz="1200" b="1" dirty="0"/>
          </a:p>
        </p:txBody>
      </p:sp>
      <p:grpSp>
        <p:nvGrpSpPr>
          <p:cNvPr id="128" name="그룹 127"/>
          <p:cNvGrpSpPr/>
          <p:nvPr/>
        </p:nvGrpSpPr>
        <p:grpSpPr>
          <a:xfrm>
            <a:off x="290411" y="2698056"/>
            <a:ext cx="949185" cy="465260"/>
            <a:chOff x="619582" y="2559145"/>
            <a:chExt cx="1795838" cy="309499"/>
          </a:xfrm>
        </p:grpSpPr>
        <p:sp>
          <p:nvSpPr>
            <p:cNvPr id="129" name="Shape 48"/>
            <p:cNvSpPr/>
            <p:nvPr/>
          </p:nvSpPr>
          <p:spPr>
            <a:xfrm>
              <a:off x="619582" y="2559145"/>
              <a:ext cx="1795838" cy="309499"/>
            </a:xfrm>
            <a:prstGeom prst="roundRect">
              <a:avLst>
                <a:gd name="adj" fmla="val 20000"/>
              </a:avLst>
            </a:prstGeom>
            <a:solidFill>
              <a:schemeClr val="accent2">
                <a:lumMod val="20000"/>
                <a:lumOff val="80000"/>
              </a:schemeClr>
            </a:solidFill>
            <a:ln w="15240">
              <a:noFill/>
              <a:prstDash val="solid"/>
            </a:ln>
          </p:spPr>
        </p:sp>
        <p:sp>
          <p:nvSpPr>
            <p:cNvPr id="130" name="Text 49"/>
            <p:cNvSpPr/>
            <p:nvPr/>
          </p:nvSpPr>
          <p:spPr>
            <a:xfrm>
              <a:off x="673324" y="2572553"/>
              <a:ext cx="1664574" cy="294024"/>
            </a:xfrm>
            <a:prstGeom prst="rect">
              <a:avLst/>
            </a:prstGeom>
            <a:noFill/>
            <a:ln>
              <a:noFill/>
            </a:ln>
          </p:spPr>
          <p:txBody>
            <a:bodyPr wrap="square" lIns="0" tIns="0" rIns="0" bIns="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700" kern="0" noProof="0" dirty="0">
                  <a:ea typeface="Malgun Gothic" pitchFamily="34" charset="-122"/>
                </a:rPr>
                <a:t>“</a:t>
              </a:r>
              <a:r>
                <a:rPr lang="ko-KR" altLang="en-US" sz="700" kern="0" noProof="0" dirty="0">
                  <a:ea typeface="Malgun Gothic" pitchFamily="34" charset="-122"/>
                </a:rPr>
                <a:t>개발 문서 </a:t>
              </a:r>
              <a:endParaRPr lang="en-US" altLang="ko-KR" sz="700" kern="0" noProof="0" dirty="0">
                <a:ea typeface="Malgun Gothic"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ko-KR" altLang="en-US" sz="700" kern="0" noProof="0" dirty="0">
                  <a:ea typeface="Malgun Gothic" pitchFamily="34" charset="-122"/>
                </a:rPr>
                <a:t>찾아서 읽고 </a:t>
              </a:r>
              <a:endParaRPr lang="en-US" altLang="ko-KR" sz="700" kern="0" noProof="0" dirty="0">
                <a:ea typeface="Malgun Gothic"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ko-KR" altLang="en-US" sz="700" kern="0" noProof="0" dirty="0">
                  <a:ea typeface="Malgun Gothic" pitchFamily="34" charset="-122"/>
                </a:rPr>
                <a:t>코드 수정해줘</a:t>
              </a:r>
              <a:r>
                <a:rPr lang="en-US" altLang="ko-KR" sz="700" kern="0" noProof="0" dirty="0">
                  <a:ea typeface="Malgun Gothic" pitchFamily="34" charset="-122"/>
                </a:rPr>
                <a:t>”</a:t>
              </a:r>
              <a:endParaRPr kumimoji="0" lang="en-US" sz="700" i="0" u="none" strike="noStrike" kern="0" cap="none" spc="0" normalizeH="0" baseline="0" noProof="0" dirty="0">
                <a:ln>
                  <a:noFill/>
                </a:ln>
                <a:effectLst/>
                <a:uLnTx/>
                <a:uFillTx/>
              </a:endParaRPr>
            </a:p>
          </p:txBody>
        </p:sp>
      </p:grpSp>
      <p:sp>
        <p:nvSpPr>
          <p:cNvPr id="131" name="모서리가 둥근 직사각형 130"/>
          <p:cNvSpPr/>
          <p:nvPr/>
        </p:nvSpPr>
        <p:spPr>
          <a:xfrm>
            <a:off x="1518976" y="3072598"/>
            <a:ext cx="793071" cy="301309"/>
          </a:xfrm>
          <a:prstGeom prst="roundRect">
            <a:avLst/>
          </a:prstGeom>
          <a:solidFill>
            <a:schemeClr val="bg1">
              <a:lumMod val="95000"/>
            </a:schemeClr>
          </a:solidFill>
          <a:ln>
            <a:solidFill>
              <a:schemeClr val="tx1"/>
            </a:solidFill>
          </a:ln>
        </p:spPr>
        <p:style>
          <a:lnRef idx="3">
            <a:schemeClr val="lt1"/>
          </a:lnRef>
          <a:fillRef idx="1">
            <a:schemeClr val="dk1"/>
          </a:fillRef>
          <a:effectRef idx="1">
            <a:schemeClr val="dk1"/>
          </a:effectRef>
          <a:fontRef idx="minor">
            <a:schemeClr val="lt1"/>
          </a:fontRef>
        </p:style>
        <p:txBody>
          <a:bodyPr rtlCol="0" anchor="ctr"/>
          <a:lstStyle/>
          <a:p>
            <a:pPr algn="ctr"/>
            <a:r>
              <a:rPr lang="en-US" altLang="ko-KR" sz="1200" dirty="0">
                <a:solidFill>
                  <a:schemeClr val="tx1"/>
                </a:solidFill>
              </a:rPr>
              <a:t>LLM</a:t>
            </a:r>
            <a:endParaRPr lang="ko-KR" altLang="en-US" sz="1600" dirty="0">
              <a:solidFill>
                <a:schemeClr val="tx1"/>
              </a:solidFill>
            </a:endParaRPr>
          </a:p>
        </p:txBody>
      </p:sp>
      <p:sp>
        <p:nvSpPr>
          <p:cNvPr id="132" name="모서리가 둥근 직사각형 131"/>
          <p:cNvSpPr/>
          <p:nvPr/>
        </p:nvSpPr>
        <p:spPr>
          <a:xfrm>
            <a:off x="1521535" y="3620368"/>
            <a:ext cx="790513" cy="378089"/>
          </a:xfrm>
          <a:prstGeom prst="roundRect">
            <a:avLst/>
          </a:prstGeom>
          <a:ln>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t>Web Search</a:t>
            </a:r>
            <a:endParaRPr lang="ko-KR" altLang="en-US" sz="900" dirty="0"/>
          </a:p>
        </p:txBody>
      </p:sp>
      <p:cxnSp>
        <p:nvCxnSpPr>
          <p:cNvPr id="133" name="직선 화살표 연결선 132"/>
          <p:cNvCxnSpPr/>
          <p:nvPr/>
        </p:nvCxnSpPr>
        <p:spPr>
          <a:xfrm>
            <a:off x="1915511" y="3387601"/>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34" name="그룹 133"/>
          <p:cNvGrpSpPr/>
          <p:nvPr/>
        </p:nvGrpSpPr>
        <p:grpSpPr>
          <a:xfrm>
            <a:off x="1549307" y="2437593"/>
            <a:ext cx="717501" cy="396335"/>
            <a:chOff x="229017" y="2606169"/>
            <a:chExt cx="846286" cy="396335"/>
          </a:xfrm>
        </p:grpSpPr>
        <p:sp>
          <p:nvSpPr>
            <p:cNvPr id="135" name="순서도: 문서 134"/>
            <p:cNvSpPr/>
            <p:nvPr/>
          </p:nvSpPr>
          <p:spPr>
            <a:xfrm>
              <a:off x="229017" y="2606169"/>
              <a:ext cx="846286" cy="396335"/>
            </a:xfrm>
            <a:prstGeom prst="flowChart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36" name="Shape 11"/>
            <p:cNvSpPr/>
            <p:nvPr/>
          </p:nvSpPr>
          <p:spPr>
            <a:xfrm>
              <a:off x="277725" y="266780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137" name="Shape 11"/>
            <p:cNvSpPr/>
            <p:nvPr/>
          </p:nvSpPr>
          <p:spPr>
            <a:xfrm>
              <a:off x="277725" y="279460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grpSp>
      <p:sp>
        <p:nvSpPr>
          <p:cNvPr id="138" name="TextBox 137"/>
          <p:cNvSpPr txBox="1"/>
          <p:nvPr/>
        </p:nvSpPr>
        <p:spPr>
          <a:xfrm>
            <a:off x="1325835" y="3386151"/>
            <a:ext cx="628698" cy="230832"/>
          </a:xfrm>
          <a:prstGeom prst="rect">
            <a:avLst/>
          </a:prstGeom>
          <a:noFill/>
        </p:spPr>
        <p:txBody>
          <a:bodyPr wrap="none" rtlCol="0">
            <a:spAutoFit/>
          </a:bodyPr>
          <a:lstStyle/>
          <a:p>
            <a:r>
              <a:rPr lang="en-US" altLang="ko-KR" sz="900" dirty="0"/>
              <a:t>SW </a:t>
            </a:r>
            <a:r>
              <a:rPr lang="ko-KR" altLang="en-US" sz="900" dirty="0"/>
              <a:t>호출</a:t>
            </a:r>
          </a:p>
        </p:txBody>
      </p:sp>
      <p:cxnSp>
        <p:nvCxnSpPr>
          <p:cNvPr id="139" name="직선 화살표 연결선 138"/>
          <p:cNvCxnSpPr/>
          <p:nvPr/>
        </p:nvCxnSpPr>
        <p:spPr>
          <a:xfrm>
            <a:off x="1915511" y="2848910"/>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40" name="TextBox 139"/>
          <p:cNvSpPr txBox="1"/>
          <p:nvPr/>
        </p:nvSpPr>
        <p:spPr>
          <a:xfrm>
            <a:off x="1572780" y="2217215"/>
            <a:ext cx="581951" cy="230832"/>
          </a:xfrm>
          <a:prstGeom prst="rect">
            <a:avLst/>
          </a:prstGeom>
          <a:noFill/>
        </p:spPr>
        <p:txBody>
          <a:bodyPr wrap="none" rtlCol="0">
            <a:spAutoFit/>
          </a:bodyPr>
          <a:lstStyle/>
          <a:p>
            <a:r>
              <a:rPr lang="ko-KR" altLang="en-US" sz="900" dirty="0"/>
              <a:t>입력 토큰</a:t>
            </a:r>
          </a:p>
        </p:txBody>
      </p:sp>
      <p:cxnSp>
        <p:nvCxnSpPr>
          <p:cNvPr id="141" name="직선 화살표 연결선 140"/>
          <p:cNvCxnSpPr>
            <a:stCxn id="241" idx="3"/>
            <a:endCxn id="136" idx="1"/>
          </p:cNvCxnSpPr>
          <p:nvPr/>
        </p:nvCxnSpPr>
        <p:spPr>
          <a:xfrm>
            <a:off x="1219955" y="2326164"/>
            <a:ext cx="370648" cy="227334"/>
          </a:xfrm>
          <a:prstGeom prst="straightConnector1">
            <a:avLst/>
          </a:prstGeom>
          <a:ln w="127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2" name="직선 화살표 연결선 141"/>
          <p:cNvCxnSpPr>
            <a:stCxn id="129" idx="3"/>
            <a:endCxn id="137" idx="1"/>
          </p:cNvCxnSpPr>
          <p:nvPr/>
        </p:nvCxnSpPr>
        <p:spPr>
          <a:xfrm flipV="1">
            <a:off x="1239596" y="2680295"/>
            <a:ext cx="351007" cy="250391"/>
          </a:xfrm>
          <a:prstGeom prst="straightConnector1">
            <a:avLst/>
          </a:prstGeom>
          <a:ln w="127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43" name="TextBox 142"/>
          <p:cNvSpPr txBox="1"/>
          <p:nvPr/>
        </p:nvSpPr>
        <p:spPr>
          <a:xfrm>
            <a:off x="2199731" y="2492316"/>
            <a:ext cx="393056" cy="230832"/>
          </a:xfrm>
          <a:prstGeom prst="rect">
            <a:avLst/>
          </a:prstGeom>
          <a:noFill/>
        </p:spPr>
        <p:txBody>
          <a:bodyPr wrap="none" rtlCol="0">
            <a:spAutoFit/>
          </a:bodyPr>
          <a:lstStyle/>
          <a:p>
            <a:r>
              <a:rPr lang="en-US" altLang="ko-KR" sz="900" b="1" dirty="0">
                <a:solidFill>
                  <a:srgbClr val="0000FF"/>
                </a:solidFill>
              </a:rPr>
              <a:t>10K</a:t>
            </a:r>
            <a:endParaRPr lang="ko-KR" altLang="en-US" sz="900" b="1" dirty="0">
              <a:solidFill>
                <a:srgbClr val="0000FF"/>
              </a:solidFill>
            </a:endParaRPr>
          </a:p>
        </p:txBody>
      </p:sp>
      <p:sp>
        <p:nvSpPr>
          <p:cNvPr id="144" name="TextBox 143"/>
          <p:cNvSpPr txBox="1"/>
          <p:nvPr/>
        </p:nvSpPr>
        <p:spPr>
          <a:xfrm>
            <a:off x="2174242" y="4063851"/>
            <a:ext cx="393056" cy="230832"/>
          </a:xfrm>
          <a:prstGeom prst="rect">
            <a:avLst/>
          </a:prstGeom>
          <a:noFill/>
        </p:spPr>
        <p:txBody>
          <a:bodyPr wrap="none" rtlCol="0">
            <a:spAutoFit/>
          </a:bodyPr>
          <a:lstStyle/>
          <a:p>
            <a:r>
              <a:rPr lang="en-US" altLang="ko-KR" sz="900" b="1" dirty="0">
                <a:solidFill>
                  <a:srgbClr val="0000FF"/>
                </a:solidFill>
              </a:rPr>
              <a:t>30K</a:t>
            </a:r>
            <a:endParaRPr lang="ko-KR" altLang="en-US" sz="900" b="1" dirty="0">
              <a:solidFill>
                <a:srgbClr val="0000FF"/>
              </a:solidFill>
            </a:endParaRPr>
          </a:p>
        </p:txBody>
      </p:sp>
      <p:sp>
        <p:nvSpPr>
          <p:cNvPr id="145" name="모서리가 둥근 직사각형 144"/>
          <p:cNvSpPr/>
          <p:nvPr/>
        </p:nvSpPr>
        <p:spPr>
          <a:xfrm>
            <a:off x="2875250" y="3072598"/>
            <a:ext cx="793071" cy="301309"/>
          </a:xfrm>
          <a:prstGeom prst="roundRect">
            <a:avLst/>
          </a:prstGeom>
          <a:solidFill>
            <a:schemeClr val="bg1">
              <a:lumMod val="95000"/>
            </a:schemeClr>
          </a:solidFill>
          <a:ln>
            <a:solidFill>
              <a:schemeClr val="tx1"/>
            </a:solidFill>
          </a:ln>
        </p:spPr>
        <p:style>
          <a:lnRef idx="3">
            <a:schemeClr val="lt1"/>
          </a:lnRef>
          <a:fillRef idx="1">
            <a:schemeClr val="dk1"/>
          </a:fillRef>
          <a:effectRef idx="1">
            <a:schemeClr val="dk1"/>
          </a:effectRef>
          <a:fontRef idx="minor">
            <a:schemeClr val="lt1"/>
          </a:fontRef>
        </p:style>
        <p:txBody>
          <a:bodyPr rtlCol="0" anchor="ctr"/>
          <a:lstStyle/>
          <a:p>
            <a:pPr algn="ctr"/>
            <a:r>
              <a:rPr lang="en-US" altLang="ko-KR" sz="1200" dirty="0">
                <a:solidFill>
                  <a:schemeClr val="tx1"/>
                </a:solidFill>
              </a:rPr>
              <a:t>LLM</a:t>
            </a:r>
            <a:endParaRPr lang="ko-KR" altLang="en-US" sz="1600" dirty="0">
              <a:solidFill>
                <a:schemeClr val="tx1"/>
              </a:solidFill>
            </a:endParaRPr>
          </a:p>
        </p:txBody>
      </p:sp>
      <p:sp>
        <p:nvSpPr>
          <p:cNvPr id="146" name="모서리가 둥근 직사각형 145"/>
          <p:cNvSpPr/>
          <p:nvPr/>
        </p:nvSpPr>
        <p:spPr>
          <a:xfrm>
            <a:off x="2877809" y="3620368"/>
            <a:ext cx="790513" cy="378089"/>
          </a:xfrm>
          <a:prstGeom prst="roundRect">
            <a:avLst/>
          </a:prstGeom>
          <a:ln>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t>Code </a:t>
            </a:r>
            <a:r>
              <a:rPr lang="ko-KR" altLang="en-US" sz="900" dirty="0"/>
              <a:t>수정</a:t>
            </a:r>
          </a:p>
        </p:txBody>
      </p:sp>
      <p:cxnSp>
        <p:nvCxnSpPr>
          <p:cNvPr id="147" name="직선 화살표 연결선 146"/>
          <p:cNvCxnSpPr/>
          <p:nvPr/>
        </p:nvCxnSpPr>
        <p:spPr>
          <a:xfrm>
            <a:off x="3271785" y="3387601"/>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48" name="그룹 147"/>
          <p:cNvGrpSpPr/>
          <p:nvPr/>
        </p:nvGrpSpPr>
        <p:grpSpPr>
          <a:xfrm>
            <a:off x="2905581" y="2437593"/>
            <a:ext cx="717501" cy="396335"/>
            <a:chOff x="229017" y="2606169"/>
            <a:chExt cx="846286" cy="396335"/>
          </a:xfrm>
        </p:grpSpPr>
        <p:sp>
          <p:nvSpPr>
            <p:cNvPr id="149" name="순서도: 문서 148"/>
            <p:cNvSpPr/>
            <p:nvPr/>
          </p:nvSpPr>
          <p:spPr>
            <a:xfrm>
              <a:off x="229017" y="2606169"/>
              <a:ext cx="846286" cy="396335"/>
            </a:xfrm>
            <a:prstGeom prst="flowChart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50" name="Shape 11"/>
            <p:cNvSpPr/>
            <p:nvPr/>
          </p:nvSpPr>
          <p:spPr>
            <a:xfrm>
              <a:off x="277725" y="266780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151" name="Shape 11"/>
            <p:cNvSpPr/>
            <p:nvPr/>
          </p:nvSpPr>
          <p:spPr>
            <a:xfrm>
              <a:off x="277725" y="279460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grpSp>
      <p:cxnSp>
        <p:nvCxnSpPr>
          <p:cNvPr id="152" name="직선 화살표 연결선 151"/>
          <p:cNvCxnSpPr/>
          <p:nvPr/>
        </p:nvCxnSpPr>
        <p:spPr>
          <a:xfrm>
            <a:off x="3271785" y="2848910"/>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53" name="TextBox 152"/>
          <p:cNvSpPr txBox="1"/>
          <p:nvPr/>
        </p:nvSpPr>
        <p:spPr>
          <a:xfrm>
            <a:off x="2929054" y="2217215"/>
            <a:ext cx="581951" cy="230832"/>
          </a:xfrm>
          <a:prstGeom prst="rect">
            <a:avLst/>
          </a:prstGeom>
          <a:noFill/>
        </p:spPr>
        <p:txBody>
          <a:bodyPr wrap="none" rtlCol="0">
            <a:spAutoFit/>
          </a:bodyPr>
          <a:lstStyle/>
          <a:p>
            <a:r>
              <a:rPr lang="ko-KR" altLang="en-US" sz="900" dirty="0"/>
              <a:t>입력 토큰</a:t>
            </a:r>
          </a:p>
        </p:txBody>
      </p:sp>
      <p:sp>
        <p:nvSpPr>
          <p:cNvPr id="154" name="TextBox 153"/>
          <p:cNvSpPr txBox="1"/>
          <p:nvPr/>
        </p:nvSpPr>
        <p:spPr>
          <a:xfrm>
            <a:off x="3556005" y="2492316"/>
            <a:ext cx="393056" cy="230832"/>
          </a:xfrm>
          <a:prstGeom prst="rect">
            <a:avLst/>
          </a:prstGeom>
          <a:noFill/>
        </p:spPr>
        <p:txBody>
          <a:bodyPr wrap="none" rtlCol="0">
            <a:spAutoFit/>
          </a:bodyPr>
          <a:lstStyle/>
          <a:p>
            <a:r>
              <a:rPr lang="en-US" altLang="ko-KR" sz="900" b="1" dirty="0">
                <a:solidFill>
                  <a:srgbClr val="0000FF"/>
                </a:solidFill>
              </a:rPr>
              <a:t>40K</a:t>
            </a:r>
            <a:endParaRPr lang="ko-KR" altLang="en-US" sz="900" b="1" dirty="0">
              <a:solidFill>
                <a:srgbClr val="0000FF"/>
              </a:solidFill>
            </a:endParaRPr>
          </a:p>
        </p:txBody>
      </p:sp>
      <p:sp>
        <p:nvSpPr>
          <p:cNvPr id="155" name="TextBox 154"/>
          <p:cNvSpPr txBox="1"/>
          <p:nvPr/>
        </p:nvSpPr>
        <p:spPr>
          <a:xfrm>
            <a:off x="3602714" y="4061197"/>
            <a:ext cx="393056" cy="230832"/>
          </a:xfrm>
          <a:prstGeom prst="rect">
            <a:avLst/>
          </a:prstGeom>
          <a:noFill/>
        </p:spPr>
        <p:txBody>
          <a:bodyPr wrap="none" rtlCol="0">
            <a:spAutoFit/>
          </a:bodyPr>
          <a:lstStyle/>
          <a:p>
            <a:r>
              <a:rPr lang="en-US" altLang="ko-KR" sz="900" b="1" dirty="0">
                <a:solidFill>
                  <a:srgbClr val="0000FF"/>
                </a:solidFill>
              </a:rPr>
              <a:t>20K</a:t>
            </a:r>
            <a:endParaRPr lang="ko-KR" altLang="en-US" sz="900" b="1" dirty="0">
              <a:solidFill>
                <a:srgbClr val="0000FF"/>
              </a:solidFill>
            </a:endParaRPr>
          </a:p>
        </p:txBody>
      </p:sp>
      <p:sp>
        <p:nvSpPr>
          <p:cNvPr id="156" name="직사각형 155"/>
          <p:cNvSpPr/>
          <p:nvPr/>
        </p:nvSpPr>
        <p:spPr>
          <a:xfrm>
            <a:off x="1928982" y="4967987"/>
            <a:ext cx="721672" cy="253916"/>
          </a:xfrm>
          <a:prstGeom prst="rect">
            <a:avLst/>
          </a:prstGeom>
        </p:spPr>
        <p:txBody>
          <a:bodyPr wrap="none">
            <a:spAutoFit/>
          </a:bodyPr>
          <a:lstStyle/>
          <a:p>
            <a:pPr algn="ctr"/>
            <a:r>
              <a:rPr lang="en-US" altLang="ko-KR" sz="1050" b="1" dirty="0" err="1"/>
              <a:t>KVcache</a:t>
            </a:r>
            <a:endParaRPr lang="ko-KR" altLang="en-US" sz="1050" b="1" dirty="0"/>
          </a:p>
        </p:txBody>
      </p:sp>
      <p:sp>
        <p:nvSpPr>
          <p:cNvPr id="157" name="Shape 11"/>
          <p:cNvSpPr/>
          <p:nvPr/>
        </p:nvSpPr>
        <p:spPr>
          <a:xfrm>
            <a:off x="3240771" y="2496002"/>
            <a:ext cx="287430" cy="107804"/>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158" name="Shape 11"/>
          <p:cNvSpPr/>
          <p:nvPr/>
        </p:nvSpPr>
        <p:spPr>
          <a:xfrm>
            <a:off x="2854657" y="4063676"/>
            <a:ext cx="822448" cy="245963"/>
          </a:xfrm>
          <a:prstGeom prst="roundRect">
            <a:avLst/>
          </a:prstGeom>
          <a:solidFill>
            <a:schemeClr val="accent4">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r>
              <a:rPr lang="ko-KR" altLang="en-US" sz="800" dirty="0"/>
              <a:t>수정된 </a:t>
            </a:r>
            <a:r>
              <a:rPr lang="en-US" altLang="ko-KR" sz="800" dirty="0"/>
              <a:t>Code</a:t>
            </a:r>
            <a:endParaRPr lang="ko-KR" altLang="en-US" sz="800" dirty="0"/>
          </a:p>
        </p:txBody>
      </p:sp>
      <p:sp>
        <p:nvSpPr>
          <p:cNvPr id="159" name="모서리가 둥근 직사각형 158"/>
          <p:cNvSpPr/>
          <p:nvPr/>
        </p:nvSpPr>
        <p:spPr>
          <a:xfrm>
            <a:off x="4163641" y="3068649"/>
            <a:ext cx="793071" cy="301309"/>
          </a:xfrm>
          <a:prstGeom prst="roundRect">
            <a:avLst/>
          </a:prstGeom>
          <a:solidFill>
            <a:schemeClr val="bg1">
              <a:lumMod val="95000"/>
            </a:schemeClr>
          </a:solidFill>
          <a:ln>
            <a:solidFill>
              <a:schemeClr val="tx1"/>
            </a:solidFill>
          </a:ln>
        </p:spPr>
        <p:style>
          <a:lnRef idx="3">
            <a:schemeClr val="lt1"/>
          </a:lnRef>
          <a:fillRef idx="1">
            <a:schemeClr val="dk1"/>
          </a:fillRef>
          <a:effectRef idx="1">
            <a:schemeClr val="dk1"/>
          </a:effectRef>
          <a:fontRef idx="minor">
            <a:schemeClr val="lt1"/>
          </a:fontRef>
        </p:style>
        <p:txBody>
          <a:bodyPr rtlCol="0" anchor="ctr"/>
          <a:lstStyle/>
          <a:p>
            <a:pPr algn="ctr"/>
            <a:r>
              <a:rPr lang="en-US" altLang="ko-KR" sz="1200" dirty="0">
                <a:solidFill>
                  <a:schemeClr val="tx1"/>
                </a:solidFill>
              </a:rPr>
              <a:t>LLM</a:t>
            </a:r>
            <a:endParaRPr lang="ko-KR" altLang="en-US" sz="1600" dirty="0">
              <a:solidFill>
                <a:schemeClr val="tx1"/>
              </a:solidFill>
            </a:endParaRPr>
          </a:p>
        </p:txBody>
      </p:sp>
      <p:sp>
        <p:nvSpPr>
          <p:cNvPr id="160" name="모서리가 둥근 직사각형 159"/>
          <p:cNvSpPr/>
          <p:nvPr/>
        </p:nvSpPr>
        <p:spPr>
          <a:xfrm>
            <a:off x="4166200" y="3616419"/>
            <a:ext cx="790513" cy="378089"/>
          </a:xfrm>
          <a:prstGeom prst="roundRect">
            <a:avLst/>
          </a:prstGeom>
          <a:ln>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900" dirty="0"/>
              <a:t>컴파일러</a:t>
            </a:r>
            <a:r>
              <a:rPr lang="en-US" altLang="ko-KR" sz="900" dirty="0"/>
              <a:t> </a:t>
            </a:r>
            <a:r>
              <a:rPr lang="ko-KR" altLang="en-US" sz="900" dirty="0"/>
              <a:t>수행</a:t>
            </a:r>
          </a:p>
        </p:txBody>
      </p:sp>
      <p:cxnSp>
        <p:nvCxnSpPr>
          <p:cNvPr id="161" name="직선 화살표 연결선 160"/>
          <p:cNvCxnSpPr/>
          <p:nvPr/>
        </p:nvCxnSpPr>
        <p:spPr>
          <a:xfrm>
            <a:off x="4560176" y="3383652"/>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62" name="그룹 161"/>
          <p:cNvGrpSpPr/>
          <p:nvPr/>
        </p:nvGrpSpPr>
        <p:grpSpPr>
          <a:xfrm>
            <a:off x="4193972" y="2433644"/>
            <a:ext cx="717501" cy="396335"/>
            <a:chOff x="229017" y="2606169"/>
            <a:chExt cx="846286" cy="396335"/>
          </a:xfrm>
        </p:grpSpPr>
        <p:sp>
          <p:nvSpPr>
            <p:cNvPr id="163" name="순서도: 문서 162"/>
            <p:cNvSpPr/>
            <p:nvPr/>
          </p:nvSpPr>
          <p:spPr>
            <a:xfrm>
              <a:off x="229017" y="2606169"/>
              <a:ext cx="846286" cy="396335"/>
            </a:xfrm>
            <a:prstGeom prst="flowChart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64" name="Shape 11"/>
            <p:cNvSpPr/>
            <p:nvPr/>
          </p:nvSpPr>
          <p:spPr>
            <a:xfrm>
              <a:off x="277725" y="266780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165" name="Shape 11"/>
            <p:cNvSpPr/>
            <p:nvPr/>
          </p:nvSpPr>
          <p:spPr>
            <a:xfrm>
              <a:off x="277725" y="279460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grpSp>
      <p:cxnSp>
        <p:nvCxnSpPr>
          <p:cNvPr id="166" name="직선 화살표 연결선 165"/>
          <p:cNvCxnSpPr/>
          <p:nvPr/>
        </p:nvCxnSpPr>
        <p:spPr>
          <a:xfrm>
            <a:off x="4560176" y="2844961"/>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67" name="TextBox 166"/>
          <p:cNvSpPr txBox="1"/>
          <p:nvPr/>
        </p:nvSpPr>
        <p:spPr>
          <a:xfrm>
            <a:off x="4217445" y="2213266"/>
            <a:ext cx="581951" cy="230832"/>
          </a:xfrm>
          <a:prstGeom prst="rect">
            <a:avLst/>
          </a:prstGeom>
          <a:noFill/>
        </p:spPr>
        <p:txBody>
          <a:bodyPr wrap="none" rtlCol="0">
            <a:spAutoFit/>
          </a:bodyPr>
          <a:lstStyle/>
          <a:p>
            <a:r>
              <a:rPr lang="ko-KR" altLang="en-US" sz="900" dirty="0"/>
              <a:t>입력 토큰</a:t>
            </a:r>
          </a:p>
        </p:txBody>
      </p:sp>
      <p:sp>
        <p:nvSpPr>
          <p:cNvPr id="168" name="TextBox 167"/>
          <p:cNvSpPr txBox="1"/>
          <p:nvPr/>
        </p:nvSpPr>
        <p:spPr>
          <a:xfrm>
            <a:off x="4844396" y="2488367"/>
            <a:ext cx="393056" cy="230832"/>
          </a:xfrm>
          <a:prstGeom prst="rect">
            <a:avLst/>
          </a:prstGeom>
          <a:noFill/>
        </p:spPr>
        <p:txBody>
          <a:bodyPr wrap="none" rtlCol="0">
            <a:spAutoFit/>
          </a:bodyPr>
          <a:lstStyle/>
          <a:p>
            <a:r>
              <a:rPr lang="en-US" altLang="ko-KR" sz="900" b="1" dirty="0">
                <a:solidFill>
                  <a:srgbClr val="0000FF"/>
                </a:solidFill>
              </a:rPr>
              <a:t>60K</a:t>
            </a:r>
            <a:endParaRPr lang="ko-KR" altLang="en-US" sz="900" b="1" dirty="0">
              <a:solidFill>
                <a:srgbClr val="0000FF"/>
              </a:solidFill>
            </a:endParaRPr>
          </a:p>
        </p:txBody>
      </p:sp>
      <p:sp>
        <p:nvSpPr>
          <p:cNvPr id="169" name="TextBox 168"/>
          <p:cNvSpPr txBox="1"/>
          <p:nvPr/>
        </p:nvSpPr>
        <p:spPr>
          <a:xfrm>
            <a:off x="4913005" y="4057248"/>
            <a:ext cx="393056" cy="230832"/>
          </a:xfrm>
          <a:prstGeom prst="rect">
            <a:avLst/>
          </a:prstGeom>
          <a:noFill/>
        </p:spPr>
        <p:txBody>
          <a:bodyPr wrap="none" rtlCol="0">
            <a:spAutoFit/>
          </a:bodyPr>
          <a:lstStyle/>
          <a:p>
            <a:r>
              <a:rPr lang="en-US" altLang="ko-KR" sz="900" b="1" dirty="0">
                <a:solidFill>
                  <a:srgbClr val="0000FF"/>
                </a:solidFill>
              </a:rPr>
              <a:t>10K</a:t>
            </a:r>
            <a:endParaRPr lang="ko-KR" altLang="en-US" sz="900" b="1" dirty="0">
              <a:solidFill>
                <a:srgbClr val="0000FF"/>
              </a:solidFill>
            </a:endParaRPr>
          </a:p>
        </p:txBody>
      </p:sp>
      <p:sp>
        <p:nvSpPr>
          <p:cNvPr id="170" name="Shape 11"/>
          <p:cNvSpPr/>
          <p:nvPr/>
        </p:nvSpPr>
        <p:spPr>
          <a:xfrm>
            <a:off x="4523687" y="2492053"/>
            <a:ext cx="287430" cy="107804"/>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171" name="Shape 11"/>
          <p:cNvSpPr/>
          <p:nvPr/>
        </p:nvSpPr>
        <p:spPr>
          <a:xfrm>
            <a:off x="4164591" y="4065789"/>
            <a:ext cx="822448" cy="245963"/>
          </a:xfrm>
          <a:prstGeom prst="roundRect">
            <a:avLst/>
          </a:prstGeom>
          <a:solidFill>
            <a:schemeClr val="accent5">
              <a:lumMod val="20000"/>
              <a:lumOff val="80000"/>
            </a:schemeClr>
          </a:solidFill>
          <a:ln/>
        </p:spPr>
        <p:style>
          <a:lnRef idx="2">
            <a:schemeClr val="dk1"/>
          </a:lnRef>
          <a:fillRef idx="1">
            <a:schemeClr val="lt1"/>
          </a:fillRef>
          <a:effectRef idx="0">
            <a:schemeClr val="dk1"/>
          </a:effectRef>
          <a:fontRef idx="minor">
            <a:schemeClr val="dk1"/>
          </a:fontRef>
        </p:style>
        <p:txBody>
          <a:bodyPr/>
          <a:lstStyle/>
          <a:p>
            <a:pPr algn="ctr"/>
            <a:r>
              <a:rPr lang="ko-KR" altLang="en-US" sz="800" dirty="0"/>
              <a:t>결과 로그</a:t>
            </a:r>
          </a:p>
        </p:txBody>
      </p:sp>
      <p:sp>
        <p:nvSpPr>
          <p:cNvPr id="172" name="Shape 11"/>
          <p:cNvSpPr/>
          <p:nvPr/>
        </p:nvSpPr>
        <p:spPr>
          <a:xfrm>
            <a:off x="4521980" y="2618816"/>
            <a:ext cx="287430" cy="107804"/>
          </a:xfrm>
          <a:prstGeom prst="roundRect">
            <a:avLst/>
          </a:prstGeom>
          <a:solidFill>
            <a:schemeClr val="accent4">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grpSp>
        <p:nvGrpSpPr>
          <p:cNvPr id="174" name="그룹 173"/>
          <p:cNvGrpSpPr/>
          <p:nvPr/>
        </p:nvGrpSpPr>
        <p:grpSpPr>
          <a:xfrm>
            <a:off x="290411" y="2074512"/>
            <a:ext cx="929544" cy="503298"/>
            <a:chOff x="564349" y="2954709"/>
            <a:chExt cx="929544" cy="503298"/>
          </a:xfrm>
        </p:grpSpPr>
        <p:grpSp>
          <p:nvGrpSpPr>
            <p:cNvPr id="175" name="그룹 174"/>
            <p:cNvGrpSpPr/>
            <p:nvPr/>
          </p:nvGrpSpPr>
          <p:grpSpPr>
            <a:xfrm>
              <a:off x="564349" y="2954709"/>
              <a:ext cx="929544" cy="503298"/>
              <a:chOff x="4672019" y="5565493"/>
              <a:chExt cx="2162985" cy="886402"/>
            </a:xfrm>
          </p:grpSpPr>
          <p:sp>
            <p:nvSpPr>
              <p:cNvPr id="241" name="Shape 11"/>
              <p:cNvSpPr/>
              <p:nvPr/>
            </p:nvSpPr>
            <p:spPr>
              <a:xfrm>
                <a:off x="4672019" y="5565493"/>
                <a:ext cx="2162985" cy="886402"/>
              </a:xfrm>
              <a:prstGeom prst="roundRect">
                <a:avLst/>
              </a:prstGeom>
              <a:solidFill>
                <a:schemeClr val="accent1">
                  <a:lumMod val="60000"/>
                  <a:lumOff val="4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700" dirty="0"/>
              </a:p>
            </p:txBody>
          </p:sp>
          <p:sp>
            <p:nvSpPr>
              <p:cNvPr id="244" name="모서리가 둥근 직사각형 243"/>
              <p:cNvSpPr/>
              <p:nvPr/>
            </p:nvSpPr>
            <p:spPr>
              <a:xfrm>
                <a:off x="4793935" y="5701940"/>
                <a:ext cx="1154414" cy="312183"/>
              </a:xfrm>
              <a:prstGeom prst="roundRect">
                <a:avLst/>
              </a:prstGeom>
              <a:solidFill>
                <a:schemeClr val="bg1"/>
              </a:solidFill>
              <a:ln>
                <a:noFill/>
                <a:prstDash val="sysDash"/>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600" b="1" dirty="0">
                    <a:solidFill>
                      <a:schemeClr val="tx1"/>
                    </a:solidFill>
                  </a:rPr>
                  <a:t>Sys. Prompt</a:t>
                </a:r>
                <a:endParaRPr lang="ko-KR" altLang="en-US" sz="600" b="1" dirty="0">
                  <a:solidFill>
                    <a:schemeClr val="tx1"/>
                  </a:solidFill>
                </a:endParaRPr>
              </a:p>
            </p:txBody>
          </p:sp>
          <p:sp>
            <p:nvSpPr>
              <p:cNvPr id="247" name="직사각형 246"/>
              <p:cNvSpPr/>
              <p:nvPr/>
            </p:nvSpPr>
            <p:spPr>
              <a:xfrm>
                <a:off x="5052079" y="6045358"/>
                <a:ext cx="1339845" cy="352334"/>
              </a:xfrm>
              <a:prstGeom prst="rect">
                <a:avLst/>
              </a:prstGeom>
            </p:spPr>
            <p:txBody>
              <a:bodyPr wrap="none">
                <a:spAutoFit/>
              </a:bodyPr>
              <a:lstStyle/>
              <a:p>
                <a:pPr algn="ctr"/>
                <a:r>
                  <a:rPr lang="ko-KR" altLang="en-US" sz="700" dirty="0"/>
                  <a:t>공통 입력</a:t>
                </a:r>
              </a:p>
            </p:txBody>
          </p:sp>
          <p:sp>
            <p:nvSpPr>
              <p:cNvPr id="249" name="모서리가 둥근 직사각형 248"/>
              <p:cNvSpPr/>
              <p:nvPr/>
            </p:nvSpPr>
            <p:spPr>
              <a:xfrm>
                <a:off x="6034147" y="5696511"/>
                <a:ext cx="648457" cy="312183"/>
              </a:xfrm>
              <a:prstGeom prst="roundRect">
                <a:avLst/>
              </a:prstGeom>
              <a:solidFill>
                <a:schemeClr val="bg1"/>
              </a:solidFill>
              <a:ln>
                <a:no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sz="600" dirty="0">
                  <a:solidFill>
                    <a:schemeClr val="tx1"/>
                  </a:solidFill>
                </a:endParaRPr>
              </a:p>
            </p:txBody>
          </p:sp>
        </p:grpSp>
        <p:sp>
          <p:nvSpPr>
            <p:cNvPr id="176" name="직사각형 175"/>
            <p:cNvSpPr/>
            <p:nvPr/>
          </p:nvSpPr>
          <p:spPr>
            <a:xfrm>
              <a:off x="1123792" y="3018581"/>
              <a:ext cx="330540" cy="184666"/>
            </a:xfrm>
            <a:prstGeom prst="rect">
              <a:avLst/>
            </a:prstGeom>
          </p:spPr>
          <p:txBody>
            <a:bodyPr wrap="none">
              <a:spAutoFit/>
            </a:bodyPr>
            <a:lstStyle/>
            <a:p>
              <a:pPr algn="ctr"/>
              <a:r>
                <a:rPr lang="en-US" altLang="ko-KR" sz="600" b="1" dirty="0"/>
                <a:t>tool</a:t>
              </a:r>
              <a:endParaRPr lang="ko-KR" altLang="en-US" sz="600" b="1" dirty="0"/>
            </a:p>
          </p:txBody>
        </p:sp>
      </p:grpSp>
      <p:sp>
        <p:nvSpPr>
          <p:cNvPr id="251" name="순서도: 다중 문서 250"/>
          <p:cNvSpPr/>
          <p:nvPr/>
        </p:nvSpPr>
        <p:spPr>
          <a:xfrm>
            <a:off x="3544095" y="5065167"/>
            <a:ext cx="736040" cy="358013"/>
          </a:xfrm>
          <a:prstGeom prst="flowChartMultidocument">
            <a:avLst/>
          </a:prstGeom>
          <a:solidFill>
            <a:schemeClr val="bg1">
              <a:lumMod val="75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900" dirty="0"/>
              <a:t>중간</a:t>
            </a:r>
            <a:endParaRPr lang="en-US" altLang="ko-KR" sz="900" dirty="0"/>
          </a:p>
          <a:p>
            <a:pPr algn="ctr"/>
            <a:r>
              <a:rPr lang="ko-KR" altLang="en-US" sz="900" dirty="0"/>
              <a:t>기억</a:t>
            </a:r>
          </a:p>
        </p:txBody>
      </p:sp>
      <p:sp>
        <p:nvSpPr>
          <p:cNvPr id="252" name="TextBox 251"/>
          <p:cNvSpPr txBox="1"/>
          <p:nvPr/>
        </p:nvSpPr>
        <p:spPr>
          <a:xfrm>
            <a:off x="2700515" y="3390274"/>
            <a:ext cx="628698" cy="230832"/>
          </a:xfrm>
          <a:prstGeom prst="rect">
            <a:avLst/>
          </a:prstGeom>
          <a:noFill/>
        </p:spPr>
        <p:txBody>
          <a:bodyPr wrap="none" rtlCol="0">
            <a:spAutoFit/>
          </a:bodyPr>
          <a:lstStyle/>
          <a:p>
            <a:r>
              <a:rPr lang="en-US" altLang="ko-KR" sz="900" dirty="0"/>
              <a:t>SW </a:t>
            </a:r>
            <a:r>
              <a:rPr lang="ko-KR" altLang="en-US" sz="900" dirty="0"/>
              <a:t>호출</a:t>
            </a:r>
          </a:p>
        </p:txBody>
      </p:sp>
      <p:sp>
        <p:nvSpPr>
          <p:cNvPr id="253" name="TextBox 252"/>
          <p:cNvSpPr txBox="1"/>
          <p:nvPr/>
        </p:nvSpPr>
        <p:spPr>
          <a:xfrm>
            <a:off x="3997251" y="3384668"/>
            <a:ext cx="628698" cy="230832"/>
          </a:xfrm>
          <a:prstGeom prst="rect">
            <a:avLst/>
          </a:prstGeom>
          <a:noFill/>
        </p:spPr>
        <p:txBody>
          <a:bodyPr wrap="none" rtlCol="0">
            <a:spAutoFit/>
          </a:bodyPr>
          <a:lstStyle/>
          <a:p>
            <a:r>
              <a:rPr lang="en-US" altLang="ko-KR" sz="900" dirty="0"/>
              <a:t>SW </a:t>
            </a:r>
            <a:r>
              <a:rPr lang="ko-KR" altLang="en-US" sz="900" dirty="0"/>
              <a:t>호출</a:t>
            </a:r>
          </a:p>
        </p:txBody>
      </p:sp>
      <p:sp>
        <p:nvSpPr>
          <p:cNvPr id="254" name="Shape 11"/>
          <p:cNvSpPr/>
          <p:nvPr/>
        </p:nvSpPr>
        <p:spPr>
          <a:xfrm>
            <a:off x="2815571" y="514208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255" name="Shape 11"/>
          <p:cNvSpPr/>
          <p:nvPr/>
        </p:nvSpPr>
        <p:spPr>
          <a:xfrm>
            <a:off x="2815571" y="526888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256" name="Shape 11"/>
          <p:cNvSpPr/>
          <p:nvPr/>
        </p:nvSpPr>
        <p:spPr>
          <a:xfrm>
            <a:off x="3168391" y="5142029"/>
            <a:ext cx="287430" cy="107804"/>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257" name="Shape 11"/>
          <p:cNvSpPr/>
          <p:nvPr/>
        </p:nvSpPr>
        <p:spPr>
          <a:xfrm>
            <a:off x="3166433" y="5271932"/>
            <a:ext cx="287430" cy="107804"/>
          </a:xfrm>
          <a:prstGeom prst="roundRect">
            <a:avLst/>
          </a:prstGeom>
          <a:solidFill>
            <a:schemeClr val="accent4">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258" name="모서리가 둥근 직사각형 257"/>
          <p:cNvSpPr/>
          <p:nvPr/>
        </p:nvSpPr>
        <p:spPr>
          <a:xfrm>
            <a:off x="2050589" y="1781246"/>
            <a:ext cx="2370622" cy="254319"/>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200" dirty="0"/>
              <a:t>Agent Controller</a:t>
            </a:r>
            <a:endParaRPr lang="ko-KR" altLang="en-US" sz="1200" dirty="0"/>
          </a:p>
        </p:txBody>
      </p:sp>
      <p:sp>
        <p:nvSpPr>
          <p:cNvPr id="259" name="TextBox 258"/>
          <p:cNvSpPr txBox="1"/>
          <p:nvPr/>
        </p:nvSpPr>
        <p:spPr>
          <a:xfrm>
            <a:off x="1338619" y="2020905"/>
            <a:ext cx="364202" cy="307777"/>
          </a:xfrm>
          <a:prstGeom prst="rect">
            <a:avLst/>
          </a:prstGeom>
          <a:noFill/>
        </p:spPr>
        <p:txBody>
          <a:bodyPr wrap="none" rtlCol="0">
            <a:spAutoFit/>
          </a:bodyPr>
          <a:lstStyle/>
          <a:p>
            <a:r>
              <a:rPr lang="ko-KR" altLang="en-US" sz="1400" dirty="0"/>
              <a:t>①</a:t>
            </a:r>
          </a:p>
        </p:txBody>
      </p:sp>
      <p:sp>
        <p:nvSpPr>
          <p:cNvPr id="260" name="직사각형 259"/>
          <p:cNvSpPr/>
          <p:nvPr/>
        </p:nvSpPr>
        <p:spPr>
          <a:xfrm>
            <a:off x="2679927" y="2024651"/>
            <a:ext cx="364202" cy="307777"/>
          </a:xfrm>
          <a:prstGeom prst="rect">
            <a:avLst/>
          </a:prstGeom>
        </p:spPr>
        <p:txBody>
          <a:bodyPr wrap="none">
            <a:spAutoFit/>
          </a:bodyPr>
          <a:lstStyle/>
          <a:p>
            <a:r>
              <a:rPr lang="ko-KR" altLang="en-US" sz="1400" dirty="0"/>
              <a:t>②</a:t>
            </a:r>
          </a:p>
        </p:txBody>
      </p:sp>
      <p:sp>
        <p:nvSpPr>
          <p:cNvPr id="261" name="직사각형 260"/>
          <p:cNvSpPr/>
          <p:nvPr/>
        </p:nvSpPr>
        <p:spPr>
          <a:xfrm>
            <a:off x="4015288" y="2042430"/>
            <a:ext cx="364202" cy="307777"/>
          </a:xfrm>
          <a:prstGeom prst="rect">
            <a:avLst/>
          </a:prstGeom>
        </p:spPr>
        <p:txBody>
          <a:bodyPr wrap="none">
            <a:spAutoFit/>
          </a:bodyPr>
          <a:lstStyle/>
          <a:p>
            <a:r>
              <a:rPr lang="ko-KR" altLang="en-US" sz="1400" dirty="0"/>
              <a:t>③</a:t>
            </a:r>
          </a:p>
        </p:txBody>
      </p:sp>
      <p:sp>
        <p:nvSpPr>
          <p:cNvPr id="262" name="TextBox 261"/>
          <p:cNvSpPr txBox="1"/>
          <p:nvPr/>
        </p:nvSpPr>
        <p:spPr>
          <a:xfrm>
            <a:off x="5206270" y="2984458"/>
            <a:ext cx="356188" cy="369332"/>
          </a:xfrm>
          <a:prstGeom prst="rect">
            <a:avLst/>
          </a:prstGeom>
          <a:noFill/>
        </p:spPr>
        <p:txBody>
          <a:bodyPr wrap="none" rtlCol="0">
            <a:spAutoFit/>
          </a:bodyPr>
          <a:lstStyle/>
          <a:p>
            <a:pPr algn="ctr"/>
            <a:r>
              <a:rPr lang="en-US" altLang="ko-KR" dirty="0"/>
              <a:t>…</a:t>
            </a:r>
            <a:endParaRPr lang="ko-KR" altLang="en-US" dirty="0"/>
          </a:p>
        </p:txBody>
      </p:sp>
      <p:sp>
        <p:nvSpPr>
          <p:cNvPr id="344" name="TextBox 343"/>
          <p:cNvSpPr txBox="1"/>
          <p:nvPr/>
        </p:nvSpPr>
        <p:spPr>
          <a:xfrm>
            <a:off x="6235259" y="681476"/>
            <a:ext cx="5557932" cy="507831"/>
          </a:xfrm>
          <a:prstGeom prst="rect">
            <a:avLst/>
          </a:prstGeom>
          <a:noFill/>
        </p:spPr>
        <p:txBody>
          <a:bodyPr wrap="none" rtlCol="0">
            <a:spAutoFit/>
          </a:bodyPr>
          <a:lstStyle/>
          <a:p>
            <a:pPr>
              <a:lnSpc>
                <a:spcPct val="150000"/>
              </a:lnSpc>
            </a:pPr>
            <a:r>
              <a:rPr lang="en-US" altLang="ko-KR" sz="900" b="1" dirty="0"/>
              <a:t>KV Cache</a:t>
            </a:r>
            <a:r>
              <a:rPr lang="ko-KR" altLang="en-US" sz="900" b="1" dirty="0"/>
              <a:t>란</a:t>
            </a:r>
            <a:r>
              <a:rPr lang="en-US" altLang="ko-KR" sz="900" b="1" dirty="0"/>
              <a:t>? </a:t>
            </a:r>
            <a:r>
              <a:rPr lang="en-US" altLang="ko-KR" sz="1000" b="1" dirty="0"/>
              <a:t> </a:t>
            </a:r>
          </a:p>
          <a:p>
            <a:pPr>
              <a:lnSpc>
                <a:spcPct val="150000"/>
              </a:lnSpc>
            </a:pPr>
            <a:r>
              <a:rPr lang="ko-KR" altLang="en-US" sz="800" b="1" dirty="0">
                <a:solidFill>
                  <a:srgbClr val="2E75B6"/>
                </a:solidFill>
                <a:ea typeface="맑은 고딕"/>
                <a:cs typeface="맑은 고딕"/>
              </a:rPr>
              <a:t>앞서 처리한 토큰의 정보</a:t>
            </a:r>
            <a:r>
              <a:rPr lang="en-US" altLang="ko-KR" sz="800" b="1" dirty="0">
                <a:solidFill>
                  <a:srgbClr val="2E75B6"/>
                </a:solidFill>
                <a:ea typeface="맑은 고딕"/>
                <a:cs typeface="맑은 고딕"/>
              </a:rPr>
              <a:t>(Key, Value)</a:t>
            </a:r>
            <a:r>
              <a:rPr lang="ko-KR" altLang="en-US" sz="800" b="1" dirty="0">
                <a:solidFill>
                  <a:srgbClr val="2E75B6"/>
                </a:solidFill>
                <a:ea typeface="맑은 고딕"/>
                <a:cs typeface="맑은 고딕"/>
              </a:rPr>
              <a:t>를 저장해</a:t>
            </a:r>
            <a:r>
              <a:rPr lang="en-US" altLang="ko-KR" sz="800" b="1" dirty="0">
                <a:solidFill>
                  <a:srgbClr val="2E75B6"/>
                </a:solidFill>
                <a:ea typeface="맑은 고딕"/>
                <a:cs typeface="맑은 고딕"/>
              </a:rPr>
              <a:t>, </a:t>
            </a:r>
            <a:r>
              <a:rPr lang="ko-KR" altLang="en-US" sz="800" b="1" dirty="0">
                <a:solidFill>
                  <a:srgbClr val="2E75B6"/>
                </a:solidFill>
                <a:ea typeface="맑은 고딕"/>
                <a:cs typeface="맑은 고딕"/>
              </a:rPr>
              <a:t>다음 토큰을 생성할 때 다시 계산하지 않고 이를 재사용하는 메모리 </a:t>
            </a:r>
          </a:p>
        </p:txBody>
      </p:sp>
      <p:sp>
        <p:nvSpPr>
          <p:cNvPr id="349" name="TextBox 348">
            <a:extLst>
              <a:ext uri="{FF2B5EF4-FFF2-40B4-BE49-F238E27FC236}">
                <a16:creationId xmlns:a16="http://schemas.microsoft.com/office/drawing/2014/main" id="{2EC42A33-9893-4D8E-910B-050395EAAA28}"/>
              </a:ext>
            </a:extLst>
          </p:cNvPr>
          <p:cNvSpPr txBox="1"/>
          <p:nvPr/>
        </p:nvSpPr>
        <p:spPr>
          <a:xfrm>
            <a:off x="6842933" y="3484613"/>
            <a:ext cx="3153336" cy="163443"/>
          </a:xfrm>
          <a:prstGeom prst="rect">
            <a:avLst/>
          </a:prstGeom>
          <a:noFill/>
        </p:spPr>
        <p:txBody>
          <a:bodyPr wrap="square" lIns="0" tIns="0" rIns="0" bIns="0" anchor="t">
            <a:spAutoFit/>
          </a:bodyPr>
          <a:lstStyle/>
          <a:p>
            <a:pPr algn="l">
              <a:lnSpc>
                <a:spcPct val="118000"/>
              </a:lnSpc>
              <a:spcAft>
                <a:spcPts val="0"/>
              </a:spcAft>
            </a:pPr>
            <a:r>
              <a:rPr lang="en-US" altLang="ko-KR" sz="900" b="1" dirty="0">
                <a:solidFill>
                  <a:srgbClr val="000000"/>
                </a:solidFill>
                <a:latin typeface="맑은 고딕"/>
                <a:ea typeface="맑은 고딕"/>
                <a:cs typeface="맑은 고딕"/>
              </a:rPr>
              <a:t>Context</a:t>
            </a:r>
            <a:r>
              <a:rPr lang="ko-KR" altLang="en-US" sz="900" b="1" dirty="0">
                <a:solidFill>
                  <a:srgbClr val="000000"/>
                </a:solidFill>
                <a:latin typeface="맑은 고딕"/>
                <a:ea typeface="맑은 고딕"/>
                <a:cs typeface="맑은 고딕"/>
              </a:rPr>
              <a:t>가 길어질수록 </a:t>
            </a:r>
            <a:r>
              <a:rPr lang="en-US" sz="900" dirty="0">
                <a:solidFill>
                  <a:srgbClr val="595959"/>
                </a:solidFill>
                <a:latin typeface="맑은 고딕"/>
                <a:ea typeface="맑은 고딕"/>
                <a:cs typeface="맑은 고딕"/>
              </a:rPr>
              <a:t>KV </a:t>
            </a:r>
            <a:r>
              <a:rPr lang="ko-KR" altLang="en-US" sz="900" dirty="0">
                <a:solidFill>
                  <a:srgbClr val="595959"/>
                </a:solidFill>
                <a:latin typeface="맑은 고딕"/>
                <a:ea typeface="맑은 고딕"/>
                <a:cs typeface="맑은 고딕"/>
              </a:rPr>
              <a:t>캐시는 </a:t>
            </a:r>
            <a:r>
              <a:rPr sz="900" b="0" i="0" dirty="0" err="1">
                <a:solidFill>
                  <a:srgbClr val="595959"/>
                </a:solidFill>
                <a:latin typeface="맑은 고딕"/>
                <a:ea typeface="맑은 고딕"/>
                <a:cs typeface="맑은 고딕"/>
              </a:rPr>
              <a:t>정비례</a:t>
            </a:r>
            <a:r>
              <a:rPr lang="ko-KR" altLang="en-US" sz="900" b="0" i="0" dirty="0">
                <a:solidFill>
                  <a:srgbClr val="595959"/>
                </a:solidFill>
                <a:latin typeface="맑은 고딕"/>
                <a:ea typeface="맑은 고딕"/>
                <a:cs typeface="맑은 고딕"/>
              </a:rPr>
              <a:t>해</a:t>
            </a:r>
            <a:r>
              <a:rPr sz="900" b="0" i="0" dirty="0">
                <a:solidFill>
                  <a:srgbClr val="595959"/>
                </a:solidFill>
                <a:latin typeface="맑은 고딕"/>
                <a:ea typeface="맑은 고딕"/>
                <a:cs typeface="맑은 고딕"/>
              </a:rPr>
              <a:t> </a:t>
            </a:r>
            <a:r>
              <a:rPr lang="ko-KR" altLang="en-US" sz="900" b="0" i="0" dirty="0">
                <a:solidFill>
                  <a:srgbClr val="595959"/>
                </a:solidFill>
                <a:latin typeface="맑은 고딕"/>
                <a:ea typeface="맑은 고딕"/>
                <a:cs typeface="맑은 고딕"/>
              </a:rPr>
              <a:t>커짐</a:t>
            </a:r>
            <a:endParaRPr sz="900" b="0" i="0" dirty="0">
              <a:solidFill>
                <a:srgbClr val="595959"/>
              </a:solidFill>
              <a:latin typeface="맑은 고딕"/>
              <a:ea typeface="맑은 고딕"/>
              <a:cs typeface="맑은 고딕"/>
            </a:endParaRPr>
          </a:p>
        </p:txBody>
      </p:sp>
      <p:grpSp>
        <p:nvGrpSpPr>
          <p:cNvPr id="350" name="그룹 349">
            <a:extLst>
              <a:ext uri="{FF2B5EF4-FFF2-40B4-BE49-F238E27FC236}">
                <a16:creationId xmlns:a16="http://schemas.microsoft.com/office/drawing/2014/main" id="{2E92557A-B2D0-4101-8495-BA4801300065}"/>
              </a:ext>
            </a:extLst>
          </p:cNvPr>
          <p:cNvGrpSpPr/>
          <p:nvPr/>
        </p:nvGrpSpPr>
        <p:grpSpPr>
          <a:xfrm>
            <a:off x="9206612" y="3169497"/>
            <a:ext cx="1798696" cy="1054138"/>
            <a:chOff x="8961120" y="4013799"/>
            <a:chExt cx="2633472" cy="1159551"/>
          </a:xfrm>
        </p:grpSpPr>
        <p:sp>
          <p:nvSpPr>
            <p:cNvPr id="351" name="Rectangle 187">
              <a:extLst>
                <a:ext uri="{FF2B5EF4-FFF2-40B4-BE49-F238E27FC236}">
                  <a16:creationId xmlns:a16="http://schemas.microsoft.com/office/drawing/2014/main" id="{3554DD70-8403-4263-9973-C17BD23FFA3F}"/>
                </a:ext>
              </a:extLst>
            </p:cNvPr>
            <p:cNvSpPr/>
            <p:nvPr/>
          </p:nvSpPr>
          <p:spPr>
            <a:xfrm>
              <a:off x="9079992" y="4928199"/>
              <a:ext cx="420624"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52" name="TextBox 351">
              <a:extLst>
                <a:ext uri="{FF2B5EF4-FFF2-40B4-BE49-F238E27FC236}">
                  <a16:creationId xmlns:a16="http://schemas.microsoft.com/office/drawing/2014/main" id="{A7F23AF5-CE5C-497E-97EE-C02FCD224F87}"/>
                </a:ext>
              </a:extLst>
            </p:cNvPr>
            <p:cNvSpPr txBox="1"/>
            <p:nvPr/>
          </p:nvSpPr>
          <p:spPr>
            <a:xfrm>
              <a:off x="9081425" y="4745318"/>
              <a:ext cx="417759" cy="135422"/>
            </a:xfrm>
            <a:prstGeom prst="rect">
              <a:avLst/>
            </a:prstGeom>
            <a:noFill/>
          </p:spPr>
          <p:txBody>
            <a:bodyPr wrap="none" lIns="0" tIns="0" rIns="0" bIns="0" anchor="t">
              <a:spAutoFit/>
            </a:bodyPr>
            <a:lstStyle/>
            <a:p>
              <a:pPr algn="ctr">
                <a:lnSpc>
                  <a:spcPct val="100000"/>
                </a:lnSpc>
                <a:spcAft>
                  <a:spcPts val="0"/>
                </a:spcAft>
              </a:pPr>
              <a:r>
                <a:rPr sz="800" b="1" i="0">
                  <a:solidFill>
                    <a:srgbClr val="1F3864"/>
                  </a:solidFill>
                  <a:latin typeface="맑은 고딕"/>
                  <a:ea typeface="맑은 고딕"/>
                  <a:cs typeface="맑은 고딕"/>
                </a:rPr>
                <a:t>1.3GB</a:t>
              </a:r>
            </a:p>
          </p:txBody>
        </p:sp>
        <p:sp>
          <p:nvSpPr>
            <p:cNvPr id="353" name="TextBox 352">
              <a:extLst>
                <a:ext uri="{FF2B5EF4-FFF2-40B4-BE49-F238E27FC236}">
                  <a16:creationId xmlns:a16="http://schemas.microsoft.com/office/drawing/2014/main" id="{8B28B620-8E76-4B12-AF79-8A2E8F41DBC3}"/>
                </a:ext>
              </a:extLst>
            </p:cNvPr>
            <p:cNvSpPr txBox="1"/>
            <p:nvPr/>
          </p:nvSpPr>
          <p:spPr>
            <a:xfrm>
              <a:off x="9204639" y="5037928"/>
              <a:ext cx="171329" cy="135422"/>
            </a:xfrm>
            <a:prstGeom prst="rect">
              <a:avLst/>
            </a:prstGeom>
            <a:noFill/>
          </p:spPr>
          <p:txBody>
            <a:bodyPr wrap="none" lIns="0" tIns="0" rIns="0" bIns="0" anchor="t">
              <a:spAutoFit/>
            </a:bodyPr>
            <a:lstStyle/>
            <a:p>
              <a:pPr algn="ctr">
                <a:lnSpc>
                  <a:spcPct val="100000"/>
                </a:lnSpc>
                <a:spcAft>
                  <a:spcPts val="0"/>
                </a:spcAft>
              </a:pPr>
              <a:r>
                <a:rPr sz="800" b="0" i="0" dirty="0">
                  <a:solidFill>
                    <a:srgbClr val="595959"/>
                  </a:solidFill>
                  <a:latin typeface="맑은 고딕"/>
                  <a:ea typeface="맑은 고딕"/>
                  <a:cs typeface="맑은 고딕"/>
                </a:rPr>
                <a:t>4K</a:t>
              </a:r>
            </a:p>
          </p:txBody>
        </p:sp>
        <p:sp>
          <p:nvSpPr>
            <p:cNvPr id="354" name="Rectangle 190">
              <a:extLst>
                <a:ext uri="{FF2B5EF4-FFF2-40B4-BE49-F238E27FC236}">
                  <a16:creationId xmlns:a16="http://schemas.microsoft.com/office/drawing/2014/main" id="{9CA69AF3-4AD3-4314-89D1-BDB170B741BD}"/>
                </a:ext>
              </a:extLst>
            </p:cNvPr>
            <p:cNvSpPr/>
            <p:nvPr/>
          </p:nvSpPr>
          <p:spPr>
            <a:xfrm>
              <a:off x="9921240" y="4800184"/>
              <a:ext cx="420624" cy="20116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55" name="TextBox 354">
              <a:extLst>
                <a:ext uri="{FF2B5EF4-FFF2-40B4-BE49-F238E27FC236}">
                  <a16:creationId xmlns:a16="http://schemas.microsoft.com/office/drawing/2014/main" id="{C4873768-2636-4231-82A6-ECE495E5C0F7}"/>
                </a:ext>
              </a:extLst>
            </p:cNvPr>
            <p:cNvSpPr txBox="1"/>
            <p:nvPr/>
          </p:nvSpPr>
          <p:spPr>
            <a:xfrm>
              <a:off x="9942622" y="4617303"/>
              <a:ext cx="377859" cy="135422"/>
            </a:xfrm>
            <a:prstGeom prst="rect">
              <a:avLst/>
            </a:prstGeom>
            <a:noFill/>
          </p:spPr>
          <p:txBody>
            <a:bodyPr wrap="none" lIns="0" tIns="0" rIns="0" bIns="0" anchor="t">
              <a:spAutoFit/>
            </a:bodyPr>
            <a:lstStyle/>
            <a:p>
              <a:pPr algn="ctr">
                <a:lnSpc>
                  <a:spcPct val="100000"/>
                </a:lnSpc>
                <a:spcAft>
                  <a:spcPts val="0"/>
                </a:spcAft>
              </a:pPr>
              <a:r>
                <a:rPr sz="800" b="1" i="0">
                  <a:solidFill>
                    <a:srgbClr val="1F3864"/>
                  </a:solidFill>
                  <a:latin typeface="맑은 고딕"/>
                  <a:ea typeface="맑은 고딕"/>
                  <a:cs typeface="맑은 고딕"/>
                </a:rPr>
                <a:t>10GB</a:t>
              </a:r>
            </a:p>
          </p:txBody>
        </p:sp>
        <p:sp>
          <p:nvSpPr>
            <p:cNvPr id="356" name="TextBox 355">
              <a:extLst>
                <a:ext uri="{FF2B5EF4-FFF2-40B4-BE49-F238E27FC236}">
                  <a16:creationId xmlns:a16="http://schemas.microsoft.com/office/drawing/2014/main" id="{A5A98EF3-7D41-47D6-B9BA-026D65CB3BE9}"/>
                </a:ext>
              </a:extLst>
            </p:cNvPr>
            <p:cNvSpPr txBox="1"/>
            <p:nvPr/>
          </p:nvSpPr>
          <p:spPr>
            <a:xfrm>
              <a:off x="10004817" y="5037928"/>
              <a:ext cx="253471" cy="135422"/>
            </a:xfrm>
            <a:prstGeom prst="rect">
              <a:avLst/>
            </a:prstGeom>
            <a:noFill/>
          </p:spPr>
          <p:txBody>
            <a:bodyPr wrap="none" lIns="0" tIns="0" rIns="0" bIns="0" anchor="t">
              <a:spAutoFit/>
            </a:bodyPr>
            <a:lstStyle/>
            <a:p>
              <a:pPr algn="ctr">
                <a:lnSpc>
                  <a:spcPct val="100000"/>
                </a:lnSpc>
                <a:spcAft>
                  <a:spcPts val="0"/>
                </a:spcAft>
              </a:pPr>
              <a:r>
                <a:rPr sz="800" b="0" i="0" dirty="0">
                  <a:solidFill>
                    <a:srgbClr val="595959"/>
                  </a:solidFill>
                  <a:latin typeface="맑은 고딕"/>
                  <a:ea typeface="맑은 고딕"/>
                  <a:cs typeface="맑은 고딕"/>
                </a:rPr>
                <a:t>32K</a:t>
              </a:r>
            </a:p>
          </p:txBody>
        </p:sp>
        <p:sp>
          <p:nvSpPr>
            <p:cNvPr id="357" name="Rectangle 193">
              <a:extLst>
                <a:ext uri="{FF2B5EF4-FFF2-40B4-BE49-F238E27FC236}">
                  <a16:creationId xmlns:a16="http://schemas.microsoft.com/office/drawing/2014/main" id="{FECE394F-A6E3-490F-825E-7063A4D9B6B2}"/>
                </a:ext>
              </a:extLst>
            </p:cNvPr>
            <p:cNvSpPr/>
            <p:nvPr/>
          </p:nvSpPr>
          <p:spPr>
            <a:xfrm>
              <a:off x="10762488" y="4196679"/>
              <a:ext cx="420624"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58" name="TextBox 357">
              <a:extLst>
                <a:ext uri="{FF2B5EF4-FFF2-40B4-BE49-F238E27FC236}">
                  <a16:creationId xmlns:a16="http://schemas.microsoft.com/office/drawing/2014/main" id="{63F01EB6-6E32-4269-B423-B22982A6625B}"/>
                </a:ext>
              </a:extLst>
            </p:cNvPr>
            <p:cNvSpPr txBox="1"/>
            <p:nvPr/>
          </p:nvSpPr>
          <p:spPr>
            <a:xfrm>
              <a:off x="10783868" y="4013799"/>
              <a:ext cx="377859" cy="135422"/>
            </a:xfrm>
            <a:prstGeom prst="rect">
              <a:avLst/>
            </a:prstGeom>
            <a:noFill/>
          </p:spPr>
          <p:txBody>
            <a:bodyPr wrap="none" lIns="0" tIns="0" rIns="0" bIns="0" anchor="t">
              <a:spAutoFit/>
            </a:bodyPr>
            <a:lstStyle/>
            <a:p>
              <a:pPr algn="ctr">
                <a:lnSpc>
                  <a:spcPct val="100000"/>
                </a:lnSpc>
                <a:spcAft>
                  <a:spcPts val="0"/>
                </a:spcAft>
              </a:pPr>
              <a:r>
                <a:rPr sz="800" b="1" i="0" dirty="0">
                  <a:solidFill>
                    <a:srgbClr val="1F3864"/>
                  </a:solidFill>
                  <a:latin typeface="맑은 고딕"/>
                  <a:ea typeface="맑은 고딕"/>
                  <a:cs typeface="맑은 고딕"/>
                </a:rPr>
                <a:t>40GB</a:t>
              </a:r>
            </a:p>
          </p:txBody>
        </p:sp>
        <p:sp>
          <p:nvSpPr>
            <p:cNvPr id="359" name="TextBox 358">
              <a:extLst>
                <a:ext uri="{FF2B5EF4-FFF2-40B4-BE49-F238E27FC236}">
                  <a16:creationId xmlns:a16="http://schemas.microsoft.com/office/drawing/2014/main" id="{DF502650-A627-4B3C-ABCE-776E3007C308}"/>
                </a:ext>
              </a:extLst>
            </p:cNvPr>
            <p:cNvSpPr txBox="1"/>
            <p:nvPr/>
          </p:nvSpPr>
          <p:spPr>
            <a:xfrm>
              <a:off x="10627798" y="5037928"/>
              <a:ext cx="690007" cy="135422"/>
            </a:xfrm>
            <a:prstGeom prst="rect">
              <a:avLst/>
            </a:prstGeom>
            <a:noFill/>
          </p:spPr>
          <p:txBody>
            <a:bodyPr wrap="none" lIns="0" tIns="0" rIns="0" bIns="0" anchor="t">
              <a:spAutoFit/>
            </a:bodyPr>
            <a:lstStyle/>
            <a:p>
              <a:pPr algn="ctr">
                <a:lnSpc>
                  <a:spcPct val="100000"/>
                </a:lnSpc>
                <a:spcAft>
                  <a:spcPts val="0"/>
                </a:spcAft>
              </a:pPr>
              <a:r>
                <a:rPr sz="800" b="0" i="0" dirty="0">
                  <a:solidFill>
                    <a:srgbClr val="595959"/>
                  </a:solidFill>
                  <a:latin typeface="맑은 고딕"/>
                  <a:ea typeface="맑은 고딕"/>
                  <a:cs typeface="맑은 고딕"/>
                </a:rPr>
                <a:t>128K </a:t>
              </a:r>
              <a:r>
                <a:rPr sz="800" b="0" i="0" dirty="0" err="1">
                  <a:solidFill>
                    <a:srgbClr val="595959"/>
                  </a:solidFill>
                  <a:latin typeface="맑은 고딕"/>
                  <a:ea typeface="맑은 고딕"/>
                  <a:cs typeface="맑은 고딕"/>
                </a:rPr>
                <a:t>토큰</a:t>
              </a:r>
              <a:endParaRPr sz="800" b="0" i="0" dirty="0">
                <a:solidFill>
                  <a:srgbClr val="595959"/>
                </a:solidFill>
                <a:latin typeface="맑은 고딕"/>
                <a:ea typeface="맑은 고딕"/>
                <a:cs typeface="맑은 고딕"/>
              </a:endParaRPr>
            </a:p>
          </p:txBody>
        </p:sp>
        <p:cxnSp>
          <p:nvCxnSpPr>
            <p:cNvPr id="360" name="Connector 196">
              <a:extLst>
                <a:ext uri="{FF2B5EF4-FFF2-40B4-BE49-F238E27FC236}">
                  <a16:creationId xmlns:a16="http://schemas.microsoft.com/office/drawing/2014/main" id="{8210EAAC-3DB8-4AF3-9056-E3380CA80491}"/>
                </a:ext>
              </a:extLst>
            </p:cNvPr>
            <p:cNvCxnSpPr/>
            <p:nvPr/>
          </p:nvCxnSpPr>
          <p:spPr>
            <a:xfrm>
              <a:off x="8961120" y="5001352"/>
              <a:ext cx="2633472"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grpSp>
      <p:grpSp>
        <p:nvGrpSpPr>
          <p:cNvPr id="11" name="그룹 10"/>
          <p:cNvGrpSpPr/>
          <p:nvPr/>
        </p:nvGrpSpPr>
        <p:grpSpPr>
          <a:xfrm>
            <a:off x="6267353" y="1148361"/>
            <a:ext cx="5321176" cy="1945079"/>
            <a:chOff x="336866" y="1583823"/>
            <a:chExt cx="11406415" cy="3445827"/>
          </a:xfrm>
        </p:grpSpPr>
        <p:grpSp>
          <p:nvGrpSpPr>
            <p:cNvPr id="282" name="그룹 281"/>
            <p:cNvGrpSpPr/>
            <p:nvPr/>
          </p:nvGrpSpPr>
          <p:grpSpPr>
            <a:xfrm>
              <a:off x="336866" y="1583823"/>
              <a:ext cx="11406415" cy="3445827"/>
              <a:chOff x="548640" y="2003662"/>
              <a:chExt cx="11852783" cy="4561730"/>
            </a:xfrm>
          </p:grpSpPr>
          <p:sp>
            <p:nvSpPr>
              <p:cNvPr id="284" name="Prefill badge"/>
              <p:cNvSpPr/>
              <p:nvPr/>
            </p:nvSpPr>
            <p:spPr>
              <a:xfrm>
                <a:off x="548640" y="2194560"/>
                <a:ext cx="2011680" cy="914400"/>
              </a:xfrm>
              <a:prstGeom prst="roundRect">
                <a:avLst>
                  <a:gd name="adj" fmla="val 10000"/>
                </a:avLst>
              </a:prstGeom>
              <a:solidFill>
                <a:srgbClr val="1D4ED8"/>
              </a:solidFill>
              <a:ln/>
            </p:spPr>
          </p:sp>
          <p:sp>
            <p:nvSpPr>
              <p:cNvPr id="285" name="Prefill badge text"/>
              <p:cNvSpPr txBox="1"/>
              <p:nvPr/>
            </p:nvSpPr>
            <p:spPr>
              <a:xfrm>
                <a:off x="548640" y="2194560"/>
                <a:ext cx="2011680" cy="914400"/>
              </a:xfrm>
              <a:prstGeom prst="rect">
                <a:avLst/>
              </a:prstGeom>
              <a:noFill/>
              <a:ln/>
            </p:spPr>
            <p:txBody>
              <a:bodyPr wrap="square"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rPr>
                  <a:t>Prefill </a:t>
                </a:r>
                <a:r>
                  <a:rPr kumimoji="0" lang="ko-KR" altLang="en-US" sz="900" b="1" i="0" u="none" strike="noStrike" kern="0" cap="none" spc="0" normalizeH="0" baseline="0" noProof="0" dirty="0">
                    <a:ln>
                      <a:noFill/>
                    </a:ln>
                    <a:solidFill>
                      <a:srgbClr val="FFFFFF"/>
                    </a:solidFill>
                    <a:effectLst/>
                    <a:uLnTx/>
                    <a:uFillTx/>
                  </a:rPr>
                  <a:t>단계</a:t>
                </a:r>
                <a:endParaRPr kumimoji="0" lang="en-US" sz="900" b="0" i="0" u="none" strike="noStrike" kern="0" cap="none" spc="0" normalizeH="0" baseline="0" noProof="0" dirty="0">
                  <a:ln>
                    <a:noFill/>
                  </a:ln>
                  <a:solidFill>
                    <a:srgbClr val="1F2937"/>
                  </a:solidFill>
                  <a:effectLst/>
                  <a:uLnTx/>
                  <a:uFillTx/>
                </a:endParaRPr>
              </a:p>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500" b="0" i="0" u="none" strike="noStrike" kern="0" cap="none" spc="0" normalizeH="0" baseline="0" noProof="0" dirty="0">
                    <a:ln>
                      <a:noFill/>
                    </a:ln>
                    <a:solidFill>
                      <a:srgbClr val="FFFFFF"/>
                    </a:solidFill>
                    <a:effectLst/>
                    <a:uLnTx/>
                    <a:uFillTx/>
                  </a:rPr>
                  <a:t>입력 </a:t>
                </a:r>
                <a:r>
                  <a:rPr kumimoji="0" lang="en-US" sz="500" b="0" i="0" u="none" strike="noStrike" kern="0" cap="none" spc="0" normalizeH="0" baseline="0" noProof="0" dirty="0" err="1">
                    <a:ln>
                      <a:noFill/>
                    </a:ln>
                    <a:solidFill>
                      <a:srgbClr val="FFFFFF"/>
                    </a:solidFill>
                    <a:effectLst/>
                    <a:uLnTx/>
                    <a:uFillTx/>
                  </a:rPr>
                  <a:t>프롬프트</a:t>
                </a:r>
                <a:r>
                  <a:rPr kumimoji="0" lang="en-US" sz="500" b="0" i="0" u="none" strike="noStrike" kern="0" cap="none" spc="0" normalizeH="0" baseline="0" noProof="0" dirty="0">
                    <a:ln>
                      <a:noFill/>
                    </a:ln>
                    <a:solidFill>
                      <a:srgbClr val="FFFFFF"/>
                    </a:solidFill>
                    <a:effectLst/>
                    <a:uLnTx/>
                    <a:uFillTx/>
                  </a:rPr>
                  <a:t> </a:t>
                </a:r>
                <a:r>
                  <a:rPr kumimoji="0" lang="en-US" sz="500" b="0" i="0" u="none" strike="noStrike" kern="0" cap="none" spc="0" normalizeH="0" baseline="0" noProof="0" dirty="0" err="1">
                    <a:ln>
                      <a:noFill/>
                    </a:ln>
                    <a:solidFill>
                      <a:srgbClr val="FFFFFF"/>
                    </a:solidFill>
                    <a:effectLst/>
                    <a:uLnTx/>
                    <a:uFillTx/>
                  </a:rPr>
                  <a:t>연산</a:t>
                </a:r>
                <a:endParaRPr kumimoji="0" lang="en-US" sz="500" b="0" i="0" u="none" strike="noStrike" kern="0" cap="none" spc="0" normalizeH="0" baseline="0" noProof="0" dirty="0">
                  <a:ln>
                    <a:noFill/>
                  </a:ln>
                  <a:solidFill>
                    <a:srgbClr val="FFFFFF"/>
                  </a:solidFill>
                  <a:effectLst/>
                  <a:uLnTx/>
                  <a:uFillTx/>
                </a:endParaRPr>
              </a:p>
            </p:txBody>
          </p:sp>
          <p:sp>
            <p:nvSpPr>
              <p:cNvPr id="286" name="Decode badge"/>
              <p:cNvSpPr/>
              <p:nvPr/>
            </p:nvSpPr>
            <p:spPr>
              <a:xfrm>
                <a:off x="548640" y="3200400"/>
                <a:ext cx="2011680" cy="2926080"/>
              </a:xfrm>
              <a:prstGeom prst="roundRect">
                <a:avLst>
                  <a:gd name="adj" fmla="val 4545"/>
                </a:avLst>
              </a:prstGeom>
              <a:solidFill>
                <a:srgbClr val="F59E0B"/>
              </a:solidFill>
              <a:ln/>
            </p:spPr>
          </p:sp>
          <p:sp>
            <p:nvSpPr>
              <p:cNvPr id="287" name="Decode badge text"/>
              <p:cNvSpPr txBox="1"/>
              <p:nvPr/>
            </p:nvSpPr>
            <p:spPr>
              <a:xfrm>
                <a:off x="548640" y="3200400"/>
                <a:ext cx="2011680" cy="2926080"/>
              </a:xfrm>
              <a:prstGeom prst="rect">
                <a:avLst/>
              </a:prstGeom>
              <a:noFill/>
              <a:ln/>
            </p:spPr>
            <p:txBody>
              <a:bodyPr wrap="square"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1F2937"/>
                    </a:solidFill>
                    <a:effectLst/>
                    <a:uLnTx/>
                    <a:uFillTx/>
                  </a:rPr>
                  <a:t>Decode </a:t>
                </a:r>
                <a:r>
                  <a:rPr kumimoji="0" lang="ko-KR" altLang="en-US" sz="900" b="1" i="0" u="none" strike="noStrike" kern="0" cap="none" spc="0" normalizeH="0" baseline="0" noProof="0" dirty="0">
                    <a:ln>
                      <a:noFill/>
                    </a:ln>
                    <a:solidFill>
                      <a:srgbClr val="1F2937"/>
                    </a:solidFill>
                    <a:effectLst/>
                    <a:uLnTx/>
                    <a:uFillTx/>
                  </a:rPr>
                  <a:t>단계</a:t>
                </a:r>
                <a:endParaRPr kumimoji="0" lang="en-US" sz="900" b="0" i="0" u="none" strike="noStrike" kern="0" cap="none" spc="0" normalizeH="0" baseline="0" noProof="0" dirty="0">
                  <a:ln>
                    <a:noFill/>
                  </a:ln>
                  <a:solidFill>
                    <a:srgbClr val="1F2937"/>
                  </a:solidFill>
                  <a:effectLst/>
                  <a:uLnTx/>
                  <a:uFillTx/>
                </a:endParaRPr>
              </a:p>
              <a:p>
                <a:pPr lvl="0" algn="ctr" latinLnBrk="0">
                  <a:lnSpc>
                    <a:spcPct val="150000"/>
                  </a:lnSpc>
                  <a:defRPr/>
                </a:pPr>
                <a:r>
                  <a:rPr lang="ko-KR" altLang="en-US" sz="600" kern="0" dirty="0">
                    <a:solidFill>
                      <a:srgbClr val="1F2937"/>
                    </a:solidFill>
                  </a:rPr>
                  <a:t>출력 토큰 생성</a:t>
                </a:r>
                <a:endParaRPr kumimoji="0" lang="en-US" sz="600" b="0" i="0" u="none" strike="noStrike" kern="0" cap="none" spc="0" normalizeH="0" baseline="0" noProof="0" dirty="0">
                  <a:ln>
                    <a:noFill/>
                  </a:ln>
                  <a:solidFill>
                    <a:srgbClr val="1F2937"/>
                  </a:solidFill>
                  <a:effectLst/>
                  <a:uLnTx/>
                  <a:uFillTx/>
                </a:endParaRPr>
              </a:p>
            </p:txBody>
          </p:sp>
          <p:sp>
            <p:nvSpPr>
              <p:cNvPr id="288" name="Cell r0 c0"/>
              <p:cNvSpPr/>
              <p:nvPr/>
            </p:nvSpPr>
            <p:spPr>
              <a:xfrm>
                <a:off x="2743200" y="2286000"/>
                <a:ext cx="777240" cy="731520"/>
              </a:xfrm>
              <a:prstGeom prst="roundRect">
                <a:avLst>
                  <a:gd name="adj" fmla="val 10000"/>
                </a:avLst>
              </a:prstGeom>
              <a:solidFill>
                <a:srgbClr val="1D4ED8"/>
              </a:solidFill>
              <a:ln/>
            </p:spPr>
          </p:sp>
          <p:sp>
            <p:nvSpPr>
              <p:cNvPr id="289" name="Cell text r0 c0"/>
              <p:cNvSpPr txBox="1"/>
              <p:nvPr/>
            </p:nvSpPr>
            <p:spPr>
              <a:xfrm>
                <a:off x="2743200"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290" name="Cell r0 c1"/>
              <p:cNvSpPr/>
              <p:nvPr/>
            </p:nvSpPr>
            <p:spPr>
              <a:xfrm>
                <a:off x="3593592" y="2286000"/>
                <a:ext cx="777240" cy="731520"/>
              </a:xfrm>
              <a:prstGeom prst="roundRect">
                <a:avLst>
                  <a:gd name="adj" fmla="val 10000"/>
                </a:avLst>
              </a:prstGeom>
              <a:solidFill>
                <a:srgbClr val="1D4ED8"/>
              </a:solidFill>
              <a:ln/>
            </p:spPr>
          </p:sp>
          <p:sp>
            <p:nvSpPr>
              <p:cNvPr id="291" name="Cell text r0 c1"/>
              <p:cNvSpPr txBox="1"/>
              <p:nvPr/>
            </p:nvSpPr>
            <p:spPr>
              <a:xfrm>
                <a:off x="3593592"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292" name="Cell r0 c2"/>
              <p:cNvSpPr/>
              <p:nvPr/>
            </p:nvSpPr>
            <p:spPr>
              <a:xfrm>
                <a:off x="4443984" y="2286000"/>
                <a:ext cx="777240" cy="731520"/>
              </a:xfrm>
              <a:prstGeom prst="roundRect">
                <a:avLst>
                  <a:gd name="adj" fmla="val 10000"/>
                </a:avLst>
              </a:prstGeom>
              <a:solidFill>
                <a:srgbClr val="1D4ED8"/>
              </a:solidFill>
              <a:ln/>
            </p:spPr>
          </p:sp>
          <p:sp>
            <p:nvSpPr>
              <p:cNvPr id="293" name="Cell text r0 c2"/>
              <p:cNvSpPr txBox="1"/>
              <p:nvPr/>
            </p:nvSpPr>
            <p:spPr>
              <a:xfrm>
                <a:off x="4443984"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294" name="Row desc 0"/>
              <p:cNvSpPr txBox="1"/>
              <p:nvPr/>
            </p:nvSpPr>
            <p:spPr>
              <a:xfrm>
                <a:off x="8017132" y="2194560"/>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프롬프트 3개를 </a:t>
                </a:r>
                <a:r>
                  <a:rPr kumimoji="0" lang="en-US" sz="700" b="1" i="0" u="none" strike="noStrike" kern="0" cap="none" spc="0" normalizeH="0" baseline="0" noProof="0" dirty="0">
                    <a:ln>
                      <a:noFill/>
                    </a:ln>
                    <a:solidFill>
                      <a:srgbClr val="1F2937"/>
                    </a:solidFill>
                    <a:effectLst/>
                    <a:uLnTx/>
                    <a:uFillTx/>
                  </a:rPr>
                  <a:t>한 번에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첫 토큰 '맑' 생성</a:t>
                </a:r>
              </a:p>
            </p:txBody>
          </p:sp>
          <p:sp>
            <p:nvSpPr>
              <p:cNvPr id="295" name="Cell r1 c0"/>
              <p:cNvSpPr/>
              <p:nvPr/>
            </p:nvSpPr>
            <p:spPr>
              <a:xfrm>
                <a:off x="2743200" y="3291840"/>
                <a:ext cx="777240" cy="731520"/>
              </a:xfrm>
              <a:prstGeom prst="roundRect">
                <a:avLst>
                  <a:gd name="adj" fmla="val 10000"/>
                </a:avLst>
              </a:prstGeom>
              <a:solidFill>
                <a:srgbClr val="E5E7EB"/>
              </a:solidFill>
              <a:ln/>
            </p:spPr>
          </p:sp>
          <p:sp>
            <p:nvSpPr>
              <p:cNvPr id="296" name="Cell text r1 c0"/>
              <p:cNvSpPr txBox="1"/>
              <p:nvPr/>
            </p:nvSpPr>
            <p:spPr>
              <a:xfrm>
                <a:off x="2743200"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297" name="Cell r1 c1"/>
              <p:cNvSpPr/>
              <p:nvPr/>
            </p:nvSpPr>
            <p:spPr>
              <a:xfrm>
                <a:off x="3593592" y="3291840"/>
                <a:ext cx="777240" cy="731520"/>
              </a:xfrm>
              <a:prstGeom prst="roundRect">
                <a:avLst>
                  <a:gd name="adj" fmla="val 10000"/>
                </a:avLst>
              </a:prstGeom>
              <a:solidFill>
                <a:srgbClr val="E5E7EB"/>
              </a:solidFill>
              <a:ln/>
            </p:spPr>
          </p:sp>
          <p:sp>
            <p:nvSpPr>
              <p:cNvPr id="298" name="Cell text r1 c1"/>
              <p:cNvSpPr txBox="1"/>
              <p:nvPr/>
            </p:nvSpPr>
            <p:spPr>
              <a:xfrm>
                <a:off x="3593592"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299" name="Cell r1 c2"/>
              <p:cNvSpPr/>
              <p:nvPr/>
            </p:nvSpPr>
            <p:spPr>
              <a:xfrm>
                <a:off x="4443984" y="3291840"/>
                <a:ext cx="777240" cy="731520"/>
              </a:xfrm>
              <a:prstGeom prst="roundRect">
                <a:avLst>
                  <a:gd name="adj" fmla="val 10000"/>
                </a:avLst>
              </a:prstGeom>
              <a:solidFill>
                <a:srgbClr val="E5E7EB"/>
              </a:solidFill>
              <a:ln/>
            </p:spPr>
          </p:sp>
          <p:sp>
            <p:nvSpPr>
              <p:cNvPr id="300" name="Cell text r1 c2"/>
              <p:cNvSpPr txBox="1"/>
              <p:nvPr/>
            </p:nvSpPr>
            <p:spPr>
              <a:xfrm>
                <a:off x="4443984"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301" name="Cell r1 c3"/>
              <p:cNvSpPr/>
              <p:nvPr/>
            </p:nvSpPr>
            <p:spPr>
              <a:xfrm>
                <a:off x="5294376" y="3291840"/>
                <a:ext cx="777240" cy="731520"/>
              </a:xfrm>
              <a:prstGeom prst="roundRect">
                <a:avLst>
                  <a:gd name="adj" fmla="val 10000"/>
                </a:avLst>
              </a:prstGeom>
              <a:solidFill>
                <a:srgbClr val="F59E0B"/>
              </a:solidFill>
              <a:ln/>
            </p:spPr>
          </p:sp>
          <p:sp>
            <p:nvSpPr>
              <p:cNvPr id="302" name="Cell text r1 c3"/>
              <p:cNvSpPr txBox="1"/>
              <p:nvPr/>
            </p:nvSpPr>
            <p:spPr>
              <a:xfrm>
                <a:off x="5294376"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맑</a:t>
                </a:r>
                <a:endParaRPr kumimoji="0" lang="en-US" sz="700" b="0" i="0" u="none" strike="noStrike" kern="0" cap="none" spc="0" normalizeH="0" baseline="0" noProof="0" dirty="0">
                  <a:ln>
                    <a:noFill/>
                  </a:ln>
                  <a:solidFill>
                    <a:srgbClr val="1F2937"/>
                  </a:solidFill>
                  <a:effectLst/>
                  <a:uLnTx/>
                  <a:uFillTx/>
                </a:endParaRPr>
              </a:p>
            </p:txBody>
          </p:sp>
          <p:sp>
            <p:nvSpPr>
              <p:cNvPr id="303" name="Row desc 1"/>
              <p:cNvSpPr txBox="1"/>
              <p:nvPr/>
            </p:nvSpPr>
            <p:spPr>
              <a:xfrm>
                <a:off x="8017132" y="3200400"/>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'맑' 1개만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'고' 생성</a:t>
                </a:r>
              </a:p>
            </p:txBody>
          </p:sp>
          <p:sp>
            <p:nvSpPr>
              <p:cNvPr id="304" name="Cell r2 c0"/>
              <p:cNvSpPr/>
              <p:nvPr/>
            </p:nvSpPr>
            <p:spPr>
              <a:xfrm>
                <a:off x="2743200" y="4297680"/>
                <a:ext cx="777240" cy="731520"/>
              </a:xfrm>
              <a:prstGeom prst="roundRect">
                <a:avLst>
                  <a:gd name="adj" fmla="val 10000"/>
                </a:avLst>
              </a:prstGeom>
              <a:solidFill>
                <a:srgbClr val="E5E7EB"/>
              </a:solidFill>
              <a:ln/>
            </p:spPr>
          </p:sp>
          <p:sp>
            <p:nvSpPr>
              <p:cNvPr id="305" name="Cell text r2 c0"/>
              <p:cNvSpPr txBox="1"/>
              <p:nvPr/>
            </p:nvSpPr>
            <p:spPr>
              <a:xfrm>
                <a:off x="2743200"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306" name="Cell r2 c1"/>
              <p:cNvSpPr/>
              <p:nvPr/>
            </p:nvSpPr>
            <p:spPr>
              <a:xfrm>
                <a:off x="3593592" y="4297680"/>
                <a:ext cx="777240" cy="731520"/>
              </a:xfrm>
              <a:prstGeom prst="roundRect">
                <a:avLst>
                  <a:gd name="adj" fmla="val 10000"/>
                </a:avLst>
              </a:prstGeom>
              <a:solidFill>
                <a:srgbClr val="E5E7EB"/>
              </a:solidFill>
              <a:ln/>
            </p:spPr>
          </p:sp>
          <p:sp>
            <p:nvSpPr>
              <p:cNvPr id="307" name="Cell text r2 c1"/>
              <p:cNvSpPr txBox="1"/>
              <p:nvPr/>
            </p:nvSpPr>
            <p:spPr>
              <a:xfrm>
                <a:off x="3593592"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308" name="Cell r2 c2"/>
              <p:cNvSpPr/>
              <p:nvPr/>
            </p:nvSpPr>
            <p:spPr>
              <a:xfrm>
                <a:off x="4443984" y="4297680"/>
                <a:ext cx="777240" cy="731520"/>
              </a:xfrm>
              <a:prstGeom prst="roundRect">
                <a:avLst>
                  <a:gd name="adj" fmla="val 10000"/>
                </a:avLst>
              </a:prstGeom>
              <a:solidFill>
                <a:srgbClr val="E5E7EB"/>
              </a:solidFill>
              <a:ln/>
            </p:spPr>
          </p:sp>
          <p:sp>
            <p:nvSpPr>
              <p:cNvPr id="309" name="Cell text r2 c2"/>
              <p:cNvSpPr txBox="1"/>
              <p:nvPr/>
            </p:nvSpPr>
            <p:spPr>
              <a:xfrm>
                <a:off x="4443984"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310" name="Cell r2 c3"/>
              <p:cNvSpPr/>
              <p:nvPr/>
            </p:nvSpPr>
            <p:spPr>
              <a:xfrm>
                <a:off x="5294376" y="4297680"/>
                <a:ext cx="777240" cy="731520"/>
              </a:xfrm>
              <a:prstGeom prst="roundRect">
                <a:avLst>
                  <a:gd name="adj" fmla="val 10000"/>
                </a:avLst>
              </a:prstGeom>
              <a:solidFill>
                <a:srgbClr val="E5E7EB"/>
              </a:solidFill>
              <a:ln/>
            </p:spPr>
          </p:sp>
          <p:sp>
            <p:nvSpPr>
              <p:cNvPr id="311" name="Cell text r2 c3"/>
              <p:cNvSpPr txBox="1"/>
              <p:nvPr/>
            </p:nvSpPr>
            <p:spPr>
              <a:xfrm>
                <a:off x="5294376"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맑</a:t>
                </a:r>
                <a:endParaRPr kumimoji="0" lang="en-US" sz="700" b="0" i="0" u="none" strike="noStrike" kern="0" cap="none" spc="0" normalizeH="0" baseline="0" noProof="0" dirty="0">
                  <a:ln>
                    <a:noFill/>
                  </a:ln>
                  <a:solidFill>
                    <a:srgbClr val="1F2937"/>
                  </a:solidFill>
                  <a:effectLst/>
                  <a:uLnTx/>
                  <a:uFillTx/>
                </a:endParaRPr>
              </a:p>
            </p:txBody>
          </p:sp>
          <p:sp>
            <p:nvSpPr>
              <p:cNvPr id="312" name="Cell r2 c4"/>
              <p:cNvSpPr/>
              <p:nvPr/>
            </p:nvSpPr>
            <p:spPr>
              <a:xfrm>
                <a:off x="6144768" y="4297680"/>
                <a:ext cx="777240" cy="731520"/>
              </a:xfrm>
              <a:prstGeom prst="roundRect">
                <a:avLst>
                  <a:gd name="adj" fmla="val 10000"/>
                </a:avLst>
              </a:prstGeom>
              <a:solidFill>
                <a:srgbClr val="F59E0B"/>
              </a:solidFill>
              <a:ln/>
            </p:spPr>
          </p:sp>
          <p:sp>
            <p:nvSpPr>
              <p:cNvPr id="313" name="Cell text r2 c4"/>
              <p:cNvSpPr txBox="1"/>
              <p:nvPr/>
            </p:nvSpPr>
            <p:spPr>
              <a:xfrm>
                <a:off x="6144768"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고</a:t>
                </a:r>
                <a:endParaRPr kumimoji="0" lang="en-US" sz="700" b="0" i="0" u="none" strike="noStrike" kern="0" cap="none" spc="0" normalizeH="0" baseline="0" noProof="0" dirty="0">
                  <a:ln>
                    <a:noFill/>
                  </a:ln>
                  <a:solidFill>
                    <a:srgbClr val="1F2937"/>
                  </a:solidFill>
                  <a:effectLst/>
                  <a:uLnTx/>
                  <a:uFillTx/>
                </a:endParaRPr>
              </a:p>
            </p:txBody>
          </p:sp>
          <p:sp>
            <p:nvSpPr>
              <p:cNvPr id="314" name="Row desc 2"/>
              <p:cNvSpPr txBox="1"/>
              <p:nvPr/>
            </p:nvSpPr>
            <p:spPr>
              <a:xfrm>
                <a:off x="8017132" y="4206241"/>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'고' 1개만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'바' 생성</a:t>
                </a:r>
              </a:p>
            </p:txBody>
          </p:sp>
          <p:sp>
            <p:nvSpPr>
              <p:cNvPr id="315" name="Cell r3 c0"/>
              <p:cNvSpPr/>
              <p:nvPr/>
            </p:nvSpPr>
            <p:spPr>
              <a:xfrm>
                <a:off x="2743200" y="5303520"/>
                <a:ext cx="777240" cy="731520"/>
              </a:xfrm>
              <a:prstGeom prst="roundRect">
                <a:avLst>
                  <a:gd name="adj" fmla="val 10000"/>
                </a:avLst>
              </a:prstGeom>
              <a:solidFill>
                <a:srgbClr val="E5E7EB"/>
              </a:solidFill>
              <a:ln/>
            </p:spPr>
          </p:sp>
          <p:sp>
            <p:nvSpPr>
              <p:cNvPr id="316" name="Cell text r3 c0"/>
              <p:cNvSpPr txBox="1"/>
              <p:nvPr/>
            </p:nvSpPr>
            <p:spPr>
              <a:xfrm>
                <a:off x="2743200"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317" name="Cell r3 c1"/>
              <p:cNvSpPr/>
              <p:nvPr/>
            </p:nvSpPr>
            <p:spPr>
              <a:xfrm>
                <a:off x="3593592" y="5303520"/>
                <a:ext cx="777240" cy="731520"/>
              </a:xfrm>
              <a:prstGeom prst="roundRect">
                <a:avLst>
                  <a:gd name="adj" fmla="val 10000"/>
                </a:avLst>
              </a:prstGeom>
              <a:solidFill>
                <a:srgbClr val="E5E7EB"/>
              </a:solidFill>
              <a:ln/>
            </p:spPr>
          </p:sp>
          <p:sp>
            <p:nvSpPr>
              <p:cNvPr id="318" name="Cell text r3 c1"/>
              <p:cNvSpPr txBox="1"/>
              <p:nvPr/>
            </p:nvSpPr>
            <p:spPr>
              <a:xfrm>
                <a:off x="3593592"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319" name="Cell r3 c2"/>
              <p:cNvSpPr/>
              <p:nvPr/>
            </p:nvSpPr>
            <p:spPr>
              <a:xfrm>
                <a:off x="4443984" y="5303520"/>
                <a:ext cx="777240" cy="731520"/>
              </a:xfrm>
              <a:prstGeom prst="roundRect">
                <a:avLst>
                  <a:gd name="adj" fmla="val 10000"/>
                </a:avLst>
              </a:prstGeom>
              <a:solidFill>
                <a:srgbClr val="E5E7EB"/>
              </a:solidFill>
              <a:ln/>
            </p:spPr>
          </p:sp>
          <p:sp>
            <p:nvSpPr>
              <p:cNvPr id="320" name="Cell text r3 c2"/>
              <p:cNvSpPr txBox="1"/>
              <p:nvPr/>
            </p:nvSpPr>
            <p:spPr>
              <a:xfrm>
                <a:off x="4443984"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321" name="Cell r3 c3"/>
              <p:cNvSpPr/>
              <p:nvPr/>
            </p:nvSpPr>
            <p:spPr>
              <a:xfrm>
                <a:off x="5294376" y="5303520"/>
                <a:ext cx="777240" cy="731520"/>
              </a:xfrm>
              <a:prstGeom prst="roundRect">
                <a:avLst>
                  <a:gd name="adj" fmla="val 10000"/>
                </a:avLst>
              </a:prstGeom>
              <a:solidFill>
                <a:srgbClr val="E5E7EB"/>
              </a:solidFill>
              <a:ln/>
            </p:spPr>
          </p:sp>
          <p:sp>
            <p:nvSpPr>
              <p:cNvPr id="322" name="Cell text r3 c3"/>
              <p:cNvSpPr txBox="1"/>
              <p:nvPr/>
            </p:nvSpPr>
            <p:spPr>
              <a:xfrm>
                <a:off x="5294376"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맑</a:t>
                </a:r>
                <a:endParaRPr kumimoji="0" lang="en-US" sz="700" b="0" i="0" u="none" strike="noStrike" kern="0" cap="none" spc="0" normalizeH="0" baseline="0" noProof="0" dirty="0">
                  <a:ln>
                    <a:noFill/>
                  </a:ln>
                  <a:solidFill>
                    <a:srgbClr val="1F2937"/>
                  </a:solidFill>
                  <a:effectLst/>
                  <a:uLnTx/>
                  <a:uFillTx/>
                </a:endParaRPr>
              </a:p>
            </p:txBody>
          </p:sp>
          <p:sp>
            <p:nvSpPr>
              <p:cNvPr id="323" name="Cell r3 c4"/>
              <p:cNvSpPr/>
              <p:nvPr/>
            </p:nvSpPr>
            <p:spPr>
              <a:xfrm>
                <a:off x="6144768" y="5303520"/>
                <a:ext cx="777240" cy="731520"/>
              </a:xfrm>
              <a:prstGeom prst="roundRect">
                <a:avLst>
                  <a:gd name="adj" fmla="val 10000"/>
                </a:avLst>
              </a:prstGeom>
              <a:solidFill>
                <a:srgbClr val="E5E7EB"/>
              </a:solidFill>
              <a:ln/>
            </p:spPr>
          </p:sp>
          <p:sp>
            <p:nvSpPr>
              <p:cNvPr id="324" name="Cell text r3 c4"/>
              <p:cNvSpPr txBox="1"/>
              <p:nvPr/>
            </p:nvSpPr>
            <p:spPr>
              <a:xfrm>
                <a:off x="6144768"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고</a:t>
                </a:r>
                <a:endParaRPr kumimoji="0" lang="en-US" sz="700" b="0" i="0" u="none" strike="noStrike" kern="0" cap="none" spc="0" normalizeH="0" baseline="0" noProof="0" dirty="0">
                  <a:ln>
                    <a:noFill/>
                  </a:ln>
                  <a:solidFill>
                    <a:srgbClr val="1F2937"/>
                  </a:solidFill>
                  <a:effectLst/>
                  <a:uLnTx/>
                  <a:uFillTx/>
                </a:endParaRPr>
              </a:p>
            </p:txBody>
          </p:sp>
          <p:sp>
            <p:nvSpPr>
              <p:cNvPr id="325" name="Cell r3 c5"/>
              <p:cNvSpPr/>
              <p:nvPr/>
            </p:nvSpPr>
            <p:spPr>
              <a:xfrm>
                <a:off x="6995160" y="5303520"/>
                <a:ext cx="777240" cy="731520"/>
              </a:xfrm>
              <a:prstGeom prst="roundRect">
                <a:avLst>
                  <a:gd name="adj" fmla="val 10000"/>
                </a:avLst>
              </a:prstGeom>
              <a:solidFill>
                <a:srgbClr val="F59E0B"/>
              </a:solidFill>
              <a:ln/>
            </p:spPr>
          </p:sp>
          <p:sp>
            <p:nvSpPr>
              <p:cNvPr id="326" name="Cell text r3 c5"/>
              <p:cNvSpPr txBox="1"/>
              <p:nvPr/>
            </p:nvSpPr>
            <p:spPr>
              <a:xfrm>
                <a:off x="6995160"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바</a:t>
                </a:r>
                <a:endParaRPr kumimoji="0" lang="en-US" sz="700" b="0" i="0" u="none" strike="noStrike" kern="0" cap="none" spc="0" normalizeH="0" baseline="0" noProof="0" dirty="0">
                  <a:ln>
                    <a:noFill/>
                  </a:ln>
                  <a:solidFill>
                    <a:srgbClr val="1F2937"/>
                  </a:solidFill>
                  <a:effectLst/>
                  <a:uLnTx/>
                  <a:uFillTx/>
                </a:endParaRPr>
              </a:p>
            </p:txBody>
          </p:sp>
          <p:sp>
            <p:nvSpPr>
              <p:cNvPr id="327" name="Row desc 3"/>
              <p:cNvSpPr txBox="1"/>
              <p:nvPr/>
            </p:nvSpPr>
            <p:spPr>
              <a:xfrm>
                <a:off x="8017132" y="5212081"/>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'바' 1개만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다음 토큰 생성</a:t>
                </a:r>
              </a:p>
            </p:txBody>
          </p:sp>
          <p:sp>
            <p:nvSpPr>
              <p:cNvPr id="328" name="Legend swatch 0"/>
              <p:cNvSpPr/>
              <p:nvPr/>
            </p:nvSpPr>
            <p:spPr>
              <a:xfrm>
                <a:off x="548640" y="6291072"/>
                <a:ext cx="274320" cy="219456"/>
              </a:xfrm>
              <a:prstGeom prst="roundRect">
                <a:avLst>
                  <a:gd name="adj" fmla="val 16667"/>
                </a:avLst>
              </a:prstGeom>
              <a:solidFill>
                <a:srgbClr val="1D4ED8"/>
              </a:solidFill>
              <a:ln/>
            </p:spPr>
          </p:sp>
          <p:sp>
            <p:nvSpPr>
              <p:cNvPr id="329" name="Legend text 0"/>
              <p:cNvSpPr txBox="1"/>
              <p:nvPr/>
            </p:nvSpPr>
            <p:spPr>
              <a:xfrm>
                <a:off x="914400" y="6236208"/>
                <a:ext cx="356616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ko-KR" altLang="en-US" sz="600" b="0" i="0" u="none" strike="noStrike" kern="0" cap="none" spc="0" normalizeH="0" baseline="0" noProof="0" dirty="0">
                    <a:ln>
                      <a:noFill/>
                    </a:ln>
                    <a:solidFill>
                      <a:srgbClr val="4B5563"/>
                    </a:solidFill>
                    <a:effectLst/>
                    <a:uLnTx/>
                    <a:uFillTx/>
                  </a:rPr>
                  <a:t>입력 토큰에 해당하는 </a:t>
                </a:r>
                <a:r>
                  <a:rPr kumimoji="0" lang="en-US" sz="600" b="0" i="0" u="none" strike="noStrike" kern="0" cap="none" spc="0" normalizeH="0" baseline="0" noProof="0" dirty="0">
                    <a:ln>
                      <a:noFill/>
                    </a:ln>
                    <a:solidFill>
                      <a:srgbClr val="4B5563"/>
                    </a:solidFill>
                    <a:effectLst/>
                    <a:uLnTx/>
                    <a:uFillTx/>
                  </a:rPr>
                  <a:t>KV </a:t>
                </a:r>
                <a:r>
                  <a:rPr kumimoji="0" lang="en-US" sz="600" b="0" i="0" u="none" strike="noStrike" kern="0" cap="none" spc="0" normalizeH="0" baseline="0" noProof="0" dirty="0" err="1">
                    <a:ln>
                      <a:noFill/>
                    </a:ln>
                    <a:solidFill>
                      <a:srgbClr val="4B5563"/>
                    </a:solidFill>
                    <a:effectLst/>
                    <a:uLnTx/>
                    <a:uFillTx/>
                  </a:rPr>
                  <a:t>캐시</a:t>
                </a:r>
                <a:r>
                  <a:rPr lang="ko-KR" altLang="en-US" sz="600" kern="0" dirty="0">
                    <a:solidFill>
                      <a:srgbClr val="4B5563"/>
                    </a:solidFill>
                  </a:rPr>
                  <a:t>를 생성</a:t>
                </a:r>
                <a:endParaRPr kumimoji="0" lang="en-US" sz="600" b="0" i="0" u="none" strike="noStrike" kern="0" cap="none" spc="0" normalizeH="0" baseline="0" noProof="0" dirty="0">
                  <a:ln>
                    <a:noFill/>
                  </a:ln>
                  <a:solidFill>
                    <a:srgbClr val="1F2937"/>
                  </a:solidFill>
                  <a:effectLst/>
                  <a:uLnTx/>
                  <a:uFillTx/>
                </a:endParaRPr>
              </a:p>
            </p:txBody>
          </p:sp>
          <p:sp>
            <p:nvSpPr>
              <p:cNvPr id="330" name="Legend swatch 1"/>
              <p:cNvSpPr/>
              <p:nvPr/>
            </p:nvSpPr>
            <p:spPr>
              <a:xfrm>
                <a:off x="4186331" y="6291073"/>
                <a:ext cx="274320" cy="219456"/>
              </a:xfrm>
              <a:prstGeom prst="roundRect">
                <a:avLst>
                  <a:gd name="adj" fmla="val 16667"/>
                </a:avLst>
              </a:prstGeom>
              <a:solidFill>
                <a:srgbClr val="E5E7EB"/>
              </a:solidFill>
              <a:ln/>
            </p:spPr>
          </p:sp>
          <p:sp>
            <p:nvSpPr>
              <p:cNvPr id="331" name="Legend text 1"/>
              <p:cNvSpPr txBox="1"/>
              <p:nvPr/>
            </p:nvSpPr>
            <p:spPr>
              <a:xfrm>
                <a:off x="4552091" y="6236208"/>
                <a:ext cx="2651759"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600" b="0" i="0" u="none" strike="noStrike" kern="0" cap="none" spc="0" normalizeH="0" baseline="0" noProof="0" dirty="0">
                    <a:ln>
                      <a:noFill/>
                    </a:ln>
                    <a:solidFill>
                      <a:srgbClr val="4B5563"/>
                    </a:solidFill>
                    <a:effectLst/>
                    <a:uLnTx/>
                    <a:uFillTx/>
                  </a:rPr>
                  <a:t>KV 캐시에서 읽어 재사용</a:t>
                </a:r>
                <a:endParaRPr kumimoji="0" lang="en-US" sz="600" b="0" i="0" u="none" strike="noStrike" kern="0" cap="none" spc="0" normalizeH="0" baseline="0" noProof="0" dirty="0">
                  <a:ln>
                    <a:noFill/>
                  </a:ln>
                  <a:solidFill>
                    <a:srgbClr val="1F2937"/>
                  </a:solidFill>
                  <a:effectLst/>
                  <a:uLnTx/>
                  <a:uFillTx/>
                </a:endParaRPr>
              </a:p>
            </p:txBody>
          </p:sp>
          <p:sp>
            <p:nvSpPr>
              <p:cNvPr id="332" name="Legend swatch 2"/>
              <p:cNvSpPr/>
              <p:nvPr/>
            </p:nvSpPr>
            <p:spPr>
              <a:xfrm>
                <a:off x="6720840" y="6291073"/>
                <a:ext cx="274320" cy="219456"/>
              </a:xfrm>
              <a:prstGeom prst="roundRect">
                <a:avLst>
                  <a:gd name="adj" fmla="val 16667"/>
                </a:avLst>
              </a:prstGeom>
              <a:solidFill>
                <a:srgbClr val="F59E0B"/>
              </a:solidFill>
              <a:ln/>
            </p:spPr>
          </p:sp>
          <p:sp>
            <p:nvSpPr>
              <p:cNvPr id="333" name="Legend text 2"/>
              <p:cNvSpPr txBox="1"/>
              <p:nvPr/>
            </p:nvSpPr>
            <p:spPr>
              <a:xfrm>
                <a:off x="7086600" y="6236208"/>
                <a:ext cx="329184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600" b="0" i="0" u="none" strike="noStrike" kern="0" cap="none" spc="0" normalizeH="0" baseline="0" noProof="0" dirty="0">
                    <a:ln>
                      <a:noFill/>
                    </a:ln>
                    <a:solidFill>
                      <a:srgbClr val="4B5563"/>
                    </a:solidFill>
                    <a:effectLst/>
                    <a:uLnTx/>
                    <a:uFillTx/>
                  </a:rPr>
                  <a:t>새 토큰만 계산해 캐시에 append</a:t>
                </a:r>
                <a:endParaRPr kumimoji="0" lang="en-US" sz="600" b="0" i="0" u="none" strike="noStrike" kern="0" cap="none" spc="0" normalizeH="0" baseline="0" noProof="0" dirty="0">
                  <a:ln>
                    <a:noFill/>
                  </a:ln>
                  <a:solidFill>
                    <a:srgbClr val="1F2937"/>
                  </a:solidFill>
                  <a:effectLst/>
                  <a:uLnTx/>
                  <a:uFillTx/>
                </a:endParaRPr>
              </a:p>
            </p:txBody>
          </p:sp>
          <p:sp>
            <p:nvSpPr>
              <p:cNvPr id="345" name="Row desc 0"/>
              <p:cNvSpPr txBox="1"/>
              <p:nvPr/>
            </p:nvSpPr>
            <p:spPr>
              <a:xfrm>
                <a:off x="11065669" y="2003662"/>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en-US" sz="700" b="1" kern="0" dirty="0">
                    <a:solidFill>
                      <a:srgbClr val="1F2937"/>
                    </a:solidFill>
                  </a:rPr>
                  <a:t>KV </a:t>
                </a:r>
                <a:r>
                  <a:rPr lang="ko-KR" altLang="en-US" sz="700" b="1" kern="0" dirty="0">
                    <a:solidFill>
                      <a:srgbClr val="1F2937"/>
                    </a:solidFill>
                  </a:rPr>
                  <a:t>캐시 생성</a:t>
                </a:r>
                <a:endParaRPr kumimoji="0" lang="en-US" sz="700" b="1" i="0" u="none" strike="noStrike" kern="0" cap="none" spc="0" normalizeH="0" baseline="0" noProof="0" dirty="0">
                  <a:ln>
                    <a:noFill/>
                  </a:ln>
                  <a:solidFill>
                    <a:srgbClr val="1F2937"/>
                  </a:solidFill>
                  <a:effectLst/>
                  <a:uLnTx/>
                  <a:uFillTx/>
                </a:endParaRPr>
              </a:p>
            </p:txBody>
          </p:sp>
          <p:sp>
            <p:nvSpPr>
              <p:cNvPr id="346" name="Row desc 0"/>
              <p:cNvSpPr txBox="1"/>
              <p:nvPr/>
            </p:nvSpPr>
            <p:spPr>
              <a:xfrm>
                <a:off x="11065669" y="2927561"/>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ko-KR" altLang="en-US" sz="700" b="1" kern="0" noProof="0">
                    <a:solidFill>
                      <a:srgbClr val="1F2937"/>
                    </a:solidFill>
                  </a:rPr>
                  <a:t>추가 쓰기</a:t>
                </a:r>
                <a:endParaRPr kumimoji="0" lang="en-US" sz="700" b="1" i="0" u="none" strike="noStrike" kern="0" cap="none" spc="0" normalizeH="0" baseline="0" noProof="0" dirty="0">
                  <a:ln>
                    <a:noFill/>
                  </a:ln>
                  <a:solidFill>
                    <a:srgbClr val="1F2937"/>
                  </a:solidFill>
                  <a:effectLst/>
                  <a:uLnTx/>
                  <a:uFillTx/>
                </a:endParaRPr>
              </a:p>
            </p:txBody>
          </p:sp>
          <p:sp>
            <p:nvSpPr>
              <p:cNvPr id="347" name="Row desc 0"/>
              <p:cNvSpPr txBox="1"/>
              <p:nvPr/>
            </p:nvSpPr>
            <p:spPr>
              <a:xfrm>
                <a:off x="11065669" y="3894841"/>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ko-KR" altLang="en-US" sz="700" b="1" kern="0" noProof="0">
                    <a:solidFill>
                      <a:srgbClr val="1F2937"/>
                    </a:solidFill>
                  </a:rPr>
                  <a:t>추가 쓰기</a:t>
                </a:r>
                <a:endParaRPr kumimoji="0" lang="en-US" sz="700" b="1" i="0" u="none" strike="noStrike" kern="0" cap="none" spc="0" normalizeH="0" baseline="0" noProof="0" dirty="0">
                  <a:ln>
                    <a:noFill/>
                  </a:ln>
                  <a:solidFill>
                    <a:srgbClr val="1F2937"/>
                  </a:solidFill>
                  <a:effectLst/>
                  <a:uLnTx/>
                  <a:uFillTx/>
                </a:endParaRPr>
              </a:p>
            </p:txBody>
          </p:sp>
          <p:sp>
            <p:nvSpPr>
              <p:cNvPr id="348" name="Row desc 0"/>
              <p:cNvSpPr txBox="1"/>
              <p:nvPr/>
            </p:nvSpPr>
            <p:spPr>
              <a:xfrm>
                <a:off x="11065669" y="4910919"/>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ko-KR" altLang="en-US" sz="700" b="1" kern="0" noProof="0">
                    <a:solidFill>
                      <a:srgbClr val="1F2937"/>
                    </a:solidFill>
                  </a:rPr>
                  <a:t>추가 쓰기</a:t>
                </a:r>
                <a:endParaRPr kumimoji="0" lang="en-US" sz="700" b="1" i="0" u="none" strike="noStrike" kern="0" cap="none" spc="0" normalizeH="0" baseline="0" noProof="0" dirty="0">
                  <a:ln>
                    <a:noFill/>
                  </a:ln>
                  <a:solidFill>
                    <a:srgbClr val="1F2937"/>
                  </a:solidFill>
                  <a:effectLst/>
                  <a:uLnTx/>
                  <a:uFillTx/>
                </a:endParaRPr>
              </a:p>
            </p:txBody>
          </p:sp>
        </p:grpSp>
        <p:sp>
          <p:nvSpPr>
            <p:cNvPr id="334" name="순서도: 자기 디스크 333"/>
            <p:cNvSpPr/>
            <p:nvPr/>
          </p:nvSpPr>
          <p:spPr>
            <a:xfrm>
              <a:off x="10393431" y="1852110"/>
              <a:ext cx="1269999" cy="342089"/>
            </a:xfrm>
            <a:prstGeom prst="flowChartMagneticDisk">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500" b="1" dirty="0"/>
                <a:t>오늘의 날씨는 </a:t>
              </a:r>
            </a:p>
          </p:txBody>
        </p:sp>
        <p:grpSp>
          <p:nvGrpSpPr>
            <p:cNvPr id="335" name="그룹 334"/>
            <p:cNvGrpSpPr/>
            <p:nvPr/>
          </p:nvGrpSpPr>
          <p:grpSpPr>
            <a:xfrm>
              <a:off x="10393431" y="2562394"/>
              <a:ext cx="1270000" cy="429936"/>
              <a:chOff x="10393431" y="2203845"/>
              <a:chExt cx="1270000" cy="429936"/>
            </a:xfrm>
          </p:grpSpPr>
          <p:sp>
            <p:nvSpPr>
              <p:cNvPr id="336" name="순서도: 자기 디스크 335"/>
              <p:cNvSpPr/>
              <p:nvPr/>
            </p:nvSpPr>
            <p:spPr>
              <a:xfrm>
                <a:off x="10393431" y="2203845"/>
                <a:ext cx="1270000" cy="339135"/>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500" b="1" dirty="0">
                    <a:solidFill>
                      <a:prstClr val="white"/>
                    </a:solidFill>
                  </a:rPr>
                  <a:t>오늘의 날씨는</a:t>
                </a:r>
              </a:p>
            </p:txBody>
          </p:sp>
          <p:sp>
            <p:nvSpPr>
              <p:cNvPr id="337" name="순서도: 자기 디스크 336"/>
              <p:cNvSpPr/>
              <p:nvPr/>
            </p:nvSpPr>
            <p:spPr>
              <a:xfrm>
                <a:off x="10393431" y="2460845"/>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500" b="1" kern="0" dirty="0">
                    <a:solidFill>
                      <a:srgbClr val="1F2937"/>
                    </a:solidFill>
                  </a:rPr>
                  <a:t>맑</a:t>
                </a:r>
              </a:p>
            </p:txBody>
          </p:sp>
        </p:grpSp>
        <p:grpSp>
          <p:nvGrpSpPr>
            <p:cNvPr id="338" name="그룹 337"/>
            <p:cNvGrpSpPr/>
            <p:nvPr/>
          </p:nvGrpSpPr>
          <p:grpSpPr>
            <a:xfrm>
              <a:off x="10393431" y="3266252"/>
              <a:ext cx="1270000" cy="500405"/>
              <a:chOff x="10393431" y="3007371"/>
              <a:chExt cx="1270000" cy="500405"/>
            </a:xfrm>
          </p:grpSpPr>
          <p:sp>
            <p:nvSpPr>
              <p:cNvPr id="339" name="순서도: 자기 디스크 338"/>
              <p:cNvSpPr/>
              <p:nvPr/>
            </p:nvSpPr>
            <p:spPr>
              <a:xfrm>
                <a:off x="10393431" y="3007371"/>
                <a:ext cx="1270000" cy="429755"/>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500" b="1" dirty="0">
                    <a:solidFill>
                      <a:prstClr val="white"/>
                    </a:solidFill>
                  </a:rPr>
                  <a:t>오늘의 날씨는 맑</a:t>
                </a:r>
              </a:p>
            </p:txBody>
          </p:sp>
          <p:sp>
            <p:nvSpPr>
              <p:cNvPr id="340" name="순서도: 자기 디스크 339"/>
              <p:cNvSpPr/>
              <p:nvPr/>
            </p:nvSpPr>
            <p:spPr>
              <a:xfrm>
                <a:off x="10393431" y="3334840"/>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500" b="1" kern="0" dirty="0">
                    <a:solidFill>
                      <a:srgbClr val="1F2937"/>
                    </a:solidFill>
                  </a:rPr>
                  <a:t>고</a:t>
                </a:r>
              </a:p>
            </p:txBody>
          </p:sp>
        </p:grpSp>
        <p:grpSp>
          <p:nvGrpSpPr>
            <p:cNvPr id="341" name="그룹 340"/>
            <p:cNvGrpSpPr/>
            <p:nvPr/>
          </p:nvGrpSpPr>
          <p:grpSpPr>
            <a:xfrm>
              <a:off x="10393431" y="4022234"/>
              <a:ext cx="1270000" cy="633428"/>
              <a:chOff x="10393431" y="3824085"/>
              <a:chExt cx="1270000" cy="633428"/>
            </a:xfrm>
          </p:grpSpPr>
          <p:sp>
            <p:nvSpPr>
              <p:cNvPr id="342" name="순서도: 자기 디스크 341"/>
              <p:cNvSpPr/>
              <p:nvPr/>
            </p:nvSpPr>
            <p:spPr>
              <a:xfrm>
                <a:off x="10393431" y="3824085"/>
                <a:ext cx="1270000" cy="552023"/>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500" b="1" dirty="0"/>
                  <a:t>오늘의 날씨는 맑고</a:t>
                </a:r>
              </a:p>
            </p:txBody>
          </p:sp>
          <p:sp>
            <p:nvSpPr>
              <p:cNvPr id="343" name="순서도: 자기 디스크 342"/>
              <p:cNvSpPr/>
              <p:nvPr/>
            </p:nvSpPr>
            <p:spPr>
              <a:xfrm>
                <a:off x="10393431" y="4284577"/>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500" b="1" kern="0" dirty="0">
                    <a:solidFill>
                      <a:srgbClr val="1F2937"/>
                    </a:solidFill>
                  </a:rPr>
                  <a:t>바</a:t>
                </a:r>
              </a:p>
            </p:txBody>
          </p:sp>
        </p:grpSp>
      </p:grpSp>
      <p:sp>
        <p:nvSpPr>
          <p:cNvPr id="363" name="모서리가 둥근 직사각형 116">
            <a:extLst>
              <a:ext uri="{FF2B5EF4-FFF2-40B4-BE49-F238E27FC236}">
                <a16:creationId xmlns:a16="http://schemas.microsoft.com/office/drawing/2014/main" id="{D9D1E32B-3E06-4207-A46B-A6558444A1BC}"/>
              </a:ext>
            </a:extLst>
          </p:cNvPr>
          <p:cNvSpPr/>
          <p:nvPr/>
        </p:nvSpPr>
        <p:spPr>
          <a:xfrm>
            <a:off x="6268054" y="4780761"/>
            <a:ext cx="4960113" cy="1693012"/>
          </a:xfrm>
          <a:prstGeom prst="roundRect">
            <a:avLst>
              <a:gd name="adj" fmla="val 5842"/>
            </a:avLst>
          </a:prstGeom>
          <a:solidFill>
            <a:schemeClr val="bg1"/>
          </a:solidFill>
        </p:spPr>
        <p:style>
          <a:lnRef idx="0">
            <a:schemeClr val="accent5"/>
          </a:lnRef>
          <a:fillRef idx="3">
            <a:schemeClr val="accent5"/>
          </a:fillRef>
          <a:effectRef idx="3">
            <a:schemeClr val="accent5"/>
          </a:effectRef>
          <a:fontRef idx="minor">
            <a:schemeClr val="lt1"/>
          </a:fontRef>
        </p:style>
        <p:txBody>
          <a:bodyPr rtlCol="0" anchor="ctr"/>
          <a:lstStyle/>
          <a:p>
            <a:pPr marL="0" marR="0" lvl="0" indent="0" algn="ctr" defTabSz="1219170" rtl="0" eaLnBrk="1" fontAlgn="auto" latinLnBrk="1" hangingPunct="1">
              <a:lnSpc>
                <a:spcPct val="100000"/>
              </a:lnSpc>
              <a:spcBef>
                <a:spcPts val="0"/>
              </a:spcBef>
              <a:spcAft>
                <a:spcPts val="0"/>
              </a:spcAft>
              <a:buClrTx/>
              <a:buSzTx/>
              <a:buFontTx/>
              <a:buNone/>
              <a:tabLst/>
              <a:defRPr/>
            </a:pPr>
            <a:endParaRPr kumimoji="0" lang="ko-KR" altLang="en-US" sz="16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364" name="자유형 363"/>
          <p:cNvSpPr/>
          <p:nvPr/>
        </p:nvSpPr>
        <p:spPr>
          <a:xfrm rot="205096">
            <a:off x="6854059" y="5272633"/>
            <a:ext cx="3979339" cy="692193"/>
          </a:xfrm>
          <a:custGeom>
            <a:avLst/>
            <a:gdLst>
              <a:gd name="connsiteX0" fmla="*/ 0 w 7688062"/>
              <a:gd name="connsiteY0" fmla="*/ 1510998 h 1510998"/>
              <a:gd name="connsiteX1" fmla="*/ 4403324 w 7688062"/>
              <a:gd name="connsiteY1" fmla="*/ 241491 h 1510998"/>
              <a:gd name="connsiteX2" fmla="*/ 7688062 w 7688062"/>
              <a:gd name="connsiteY2" fmla="*/ 1794 h 1510998"/>
            </a:gdLst>
            <a:ahLst/>
            <a:cxnLst>
              <a:cxn ang="0">
                <a:pos x="connsiteX0" y="connsiteY0"/>
              </a:cxn>
              <a:cxn ang="0">
                <a:pos x="connsiteX1" y="connsiteY1"/>
              </a:cxn>
              <a:cxn ang="0">
                <a:pos x="connsiteX2" y="connsiteY2"/>
              </a:cxn>
            </a:cxnLst>
            <a:rect l="l" t="t" r="r" b="b"/>
            <a:pathLst>
              <a:path w="7688062" h="1510998">
                <a:moveTo>
                  <a:pt x="0" y="1510998"/>
                </a:moveTo>
                <a:cubicBezTo>
                  <a:pt x="1560990" y="1002011"/>
                  <a:pt x="3121980" y="493025"/>
                  <a:pt x="4403324" y="241491"/>
                </a:cubicBezTo>
                <a:cubicBezTo>
                  <a:pt x="5684668" y="-10043"/>
                  <a:pt x="6686365" y="-4125"/>
                  <a:pt x="7688062" y="1794"/>
                </a:cubicBezTo>
              </a:path>
            </a:pathLst>
          </a:custGeom>
          <a:noFill/>
          <a:ln w="635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65" name="직사각형 364"/>
          <p:cNvSpPr/>
          <p:nvPr/>
        </p:nvSpPr>
        <p:spPr>
          <a:xfrm>
            <a:off x="9379124" y="6337311"/>
            <a:ext cx="1813978" cy="169277"/>
          </a:xfrm>
          <a:prstGeom prst="rect">
            <a:avLst/>
          </a:prstGeom>
        </p:spPr>
        <p:txBody>
          <a:bodyPr wrap="square">
            <a:spAutoFit/>
          </a:bodyPr>
          <a:lstStyle/>
          <a:p>
            <a:r>
              <a:rPr lang="en-US" altLang="ko-KR" sz="500" dirty="0"/>
              <a:t>DRAM </a:t>
            </a:r>
            <a:r>
              <a:rPr lang="ko-KR" altLang="en-US" sz="500" dirty="0"/>
              <a:t>및 </a:t>
            </a:r>
            <a:r>
              <a:rPr lang="en-US" altLang="ko-KR" sz="500" dirty="0"/>
              <a:t>NAND </a:t>
            </a:r>
            <a:r>
              <a:rPr lang="ko-KR" altLang="en-US" sz="500" dirty="0"/>
              <a:t>데이터 </a:t>
            </a:r>
            <a:r>
              <a:rPr lang="en-US" altLang="ko-KR" sz="500" dirty="0"/>
              <a:t>- Gartner Forecast </a:t>
            </a:r>
            <a:r>
              <a:rPr lang="ko-KR" altLang="en-US" sz="500" dirty="0"/>
              <a:t>문서 참고</a:t>
            </a:r>
          </a:p>
        </p:txBody>
      </p:sp>
      <p:cxnSp>
        <p:nvCxnSpPr>
          <p:cNvPr id="366" name="직선 연결선 365"/>
          <p:cNvCxnSpPr/>
          <p:nvPr/>
        </p:nvCxnSpPr>
        <p:spPr>
          <a:xfrm>
            <a:off x="6596223" y="5684020"/>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직선 연결선 366"/>
          <p:cNvCxnSpPr/>
          <p:nvPr/>
        </p:nvCxnSpPr>
        <p:spPr>
          <a:xfrm>
            <a:off x="6596223" y="5859285"/>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직선 연결선 367"/>
          <p:cNvCxnSpPr/>
          <p:nvPr/>
        </p:nvCxnSpPr>
        <p:spPr>
          <a:xfrm flipV="1">
            <a:off x="6596223" y="6032093"/>
            <a:ext cx="4267092" cy="2456"/>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9" name="직선 연결선 368"/>
          <p:cNvCxnSpPr/>
          <p:nvPr/>
        </p:nvCxnSpPr>
        <p:spPr>
          <a:xfrm>
            <a:off x="6596223" y="6209815"/>
            <a:ext cx="4267092" cy="0"/>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0" name="직선 연결선 369"/>
          <p:cNvCxnSpPr/>
          <p:nvPr/>
        </p:nvCxnSpPr>
        <p:spPr>
          <a:xfrm>
            <a:off x="6625681" y="5066928"/>
            <a:ext cx="0" cy="1142887"/>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직선 연결선 370"/>
          <p:cNvCxnSpPr/>
          <p:nvPr/>
        </p:nvCxnSpPr>
        <p:spPr>
          <a:xfrm>
            <a:off x="7156379"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직선 연결선 371"/>
          <p:cNvCxnSpPr/>
          <p:nvPr/>
        </p:nvCxnSpPr>
        <p:spPr>
          <a:xfrm>
            <a:off x="7687106"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직선 연결선 372"/>
          <p:cNvCxnSpPr/>
          <p:nvPr/>
        </p:nvCxnSpPr>
        <p:spPr>
          <a:xfrm>
            <a:off x="8219319"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직선 연결선 373"/>
          <p:cNvCxnSpPr/>
          <p:nvPr/>
        </p:nvCxnSpPr>
        <p:spPr>
          <a:xfrm>
            <a:off x="8745877"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직선 연결선 374"/>
          <p:cNvCxnSpPr/>
          <p:nvPr/>
        </p:nvCxnSpPr>
        <p:spPr>
          <a:xfrm>
            <a:off x="9277041"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직선 연결선 375"/>
          <p:cNvCxnSpPr/>
          <p:nvPr/>
        </p:nvCxnSpPr>
        <p:spPr>
          <a:xfrm>
            <a:off x="9807115"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직선 연결선 376"/>
          <p:cNvCxnSpPr/>
          <p:nvPr/>
        </p:nvCxnSpPr>
        <p:spPr>
          <a:xfrm>
            <a:off x="10335174"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78" name="TextBox 377"/>
          <p:cNvSpPr txBox="1"/>
          <p:nvPr/>
        </p:nvSpPr>
        <p:spPr>
          <a:xfrm>
            <a:off x="6758608" y="6198450"/>
            <a:ext cx="377302" cy="203878"/>
          </a:xfrm>
          <a:prstGeom prst="rect">
            <a:avLst/>
          </a:prstGeom>
          <a:noFill/>
        </p:spPr>
        <p:txBody>
          <a:bodyPr wrap="none" rtlCol="0">
            <a:spAutoFit/>
          </a:bodyPr>
          <a:lstStyle/>
          <a:p>
            <a:r>
              <a:rPr lang="en-US" altLang="ko-KR" sz="600" b="1" dirty="0"/>
              <a:t>2023</a:t>
            </a:r>
            <a:endParaRPr lang="ko-KR" altLang="en-US" sz="600" b="1" dirty="0"/>
          </a:p>
        </p:txBody>
      </p:sp>
      <p:sp>
        <p:nvSpPr>
          <p:cNvPr id="379" name="TextBox 378"/>
          <p:cNvSpPr txBox="1"/>
          <p:nvPr/>
        </p:nvSpPr>
        <p:spPr>
          <a:xfrm>
            <a:off x="7289321" y="6198450"/>
            <a:ext cx="377302" cy="203878"/>
          </a:xfrm>
          <a:prstGeom prst="rect">
            <a:avLst/>
          </a:prstGeom>
          <a:noFill/>
        </p:spPr>
        <p:txBody>
          <a:bodyPr wrap="none" rtlCol="0">
            <a:spAutoFit/>
          </a:bodyPr>
          <a:lstStyle/>
          <a:p>
            <a:r>
              <a:rPr lang="en-US" altLang="ko-KR" sz="600" b="1" dirty="0"/>
              <a:t>2024</a:t>
            </a:r>
            <a:endParaRPr lang="ko-KR" altLang="en-US" sz="600" b="1" dirty="0"/>
          </a:p>
        </p:txBody>
      </p:sp>
      <p:sp>
        <p:nvSpPr>
          <p:cNvPr id="380" name="TextBox 379"/>
          <p:cNvSpPr txBox="1"/>
          <p:nvPr/>
        </p:nvSpPr>
        <p:spPr>
          <a:xfrm>
            <a:off x="7820790" y="6198450"/>
            <a:ext cx="377302" cy="203878"/>
          </a:xfrm>
          <a:prstGeom prst="rect">
            <a:avLst/>
          </a:prstGeom>
          <a:noFill/>
        </p:spPr>
        <p:txBody>
          <a:bodyPr wrap="none" rtlCol="0">
            <a:spAutoFit/>
          </a:bodyPr>
          <a:lstStyle/>
          <a:p>
            <a:r>
              <a:rPr lang="en-US" altLang="ko-KR" sz="600" b="1" dirty="0"/>
              <a:t>2025</a:t>
            </a:r>
            <a:endParaRPr lang="ko-KR" altLang="en-US" sz="600" b="1" dirty="0"/>
          </a:p>
        </p:txBody>
      </p:sp>
      <p:sp>
        <p:nvSpPr>
          <p:cNvPr id="381" name="TextBox 380"/>
          <p:cNvSpPr txBox="1"/>
          <p:nvPr/>
        </p:nvSpPr>
        <p:spPr>
          <a:xfrm>
            <a:off x="8350176" y="6198450"/>
            <a:ext cx="377302" cy="203878"/>
          </a:xfrm>
          <a:prstGeom prst="rect">
            <a:avLst/>
          </a:prstGeom>
          <a:noFill/>
        </p:spPr>
        <p:txBody>
          <a:bodyPr wrap="none" rtlCol="0">
            <a:spAutoFit/>
          </a:bodyPr>
          <a:lstStyle/>
          <a:p>
            <a:r>
              <a:rPr lang="en-US" altLang="ko-KR" sz="600" b="1" dirty="0"/>
              <a:t>2026</a:t>
            </a:r>
            <a:endParaRPr lang="ko-KR" altLang="en-US" sz="600" b="1" dirty="0"/>
          </a:p>
        </p:txBody>
      </p:sp>
      <p:sp>
        <p:nvSpPr>
          <p:cNvPr id="382" name="TextBox 381"/>
          <p:cNvSpPr txBox="1"/>
          <p:nvPr/>
        </p:nvSpPr>
        <p:spPr>
          <a:xfrm>
            <a:off x="8879037" y="6198450"/>
            <a:ext cx="377302" cy="203878"/>
          </a:xfrm>
          <a:prstGeom prst="rect">
            <a:avLst/>
          </a:prstGeom>
          <a:noFill/>
        </p:spPr>
        <p:txBody>
          <a:bodyPr wrap="none" rtlCol="0">
            <a:spAutoFit/>
          </a:bodyPr>
          <a:lstStyle/>
          <a:p>
            <a:r>
              <a:rPr lang="en-US" altLang="ko-KR" sz="600" b="1" dirty="0"/>
              <a:t>2027</a:t>
            </a:r>
            <a:endParaRPr lang="ko-KR" altLang="en-US" sz="600" b="1" dirty="0"/>
          </a:p>
        </p:txBody>
      </p:sp>
      <p:sp>
        <p:nvSpPr>
          <p:cNvPr id="383" name="TextBox 382"/>
          <p:cNvSpPr txBox="1"/>
          <p:nvPr/>
        </p:nvSpPr>
        <p:spPr>
          <a:xfrm>
            <a:off x="9409911" y="6198450"/>
            <a:ext cx="377302" cy="203878"/>
          </a:xfrm>
          <a:prstGeom prst="rect">
            <a:avLst/>
          </a:prstGeom>
          <a:noFill/>
        </p:spPr>
        <p:txBody>
          <a:bodyPr wrap="none" rtlCol="0">
            <a:spAutoFit/>
          </a:bodyPr>
          <a:lstStyle/>
          <a:p>
            <a:r>
              <a:rPr lang="en-US" altLang="ko-KR" sz="600" b="1" dirty="0"/>
              <a:t>2028</a:t>
            </a:r>
            <a:endParaRPr lang="ko-KR" altLang="en-US" sz="600" b="1" dirty="0"/>
          </a:p>
        </p:txBody>
      </p:sp>
      <p:sp>
        <p:nvSpPr>
          <p:cNvPr id="384" name="TextBox 383"/>
          <p:cNvSpPr txBox="1"/>
          <p:nvPr/>
        </p:nvSpPr>
        <p:spPr>
          <a:xfrm>
            <a:off x="9938722" y="6198450"/>
            <a:ext cx="377302" cy="203878"/>
          </a:xfrm>
          <a:prstGeom prst="rect">
            <a:avLst/>
          </a:prstGeom>
          <a:noFill/>
        </p:spPr>
        <p:txBody>
          <a:bodyPr wrap="none" rtlCol="0">
            <a:spAutoFit/>
          </a:bodyPr>
          <a:lstStyle/>
          <a:p>
            <a:r>
              <a:rPr lang="en-US" altLang="ko-KR" sz="600" b="1" dirty="0"/>
              <a:t>2029</a:t>
            </a:r>
            <a:endParaRPr lang="ko-KR" altLang="en-US" sz="600" b="1" dirty="0"/>
          </a:p>
        </p:txBody>
      </p:sp>
      <p:sp>
        <p:nvSpPr>
          <p:cNvPr id="385" name="TextBox 384"/>
          <p:cNvSpPr txBox="1"/>
          <p:nvPr/>
        </p:nvSpPr>
        <p:spPr>
          <a:xfrm>
            <a:off x="10468232" y="6198450"/>
            <a:ext cx="377302" cy="203878"/>
          </a:xfrm>
          <a:prstGeom prst="rect">
            <a:avLst/>
          </a:prstGeom>
          <a:noFill/>
        </p:spPr>
        <p:txBody>
          <a:bodyPr wrap="none" rtlCol="0">
            <a:spAutoFit/>
          </a:bodyPr>
          <a:lstStyle/>
          <a:p>
            <a:r>
              <a:rPr lang="en-US" altLang="ko-KR" sz="600" b="1" dirty="0"/>
              <a:t>2030</a:t>
            </a:r>
            <a:endParaRPr lang="ko-KR" altLang="en-US" sz="600" b="1" dirty="0"/>
          </a:p>
        </p:txBody>
      </p:sp>
      <p:sp>
        <p:nvSpPr>
          <p:cNvPr id="386" name="TextBox 385"/>
          <p:cNvSpPr txBox="1"/>
          <p:nvPr/>
        </p:nvSpPr>
        <p:spPr>
          <a:xfrm flipV="1">
            <a:off x="6235558" y="5388128"/>
            <a:ext cx="276999" cy="555600"/>
          </a:xfrm>
          <a:prstGeom prst="rect">
            <a:avLst/>
          </a:prstGeom>
          <a:noFill/>
        </p:spPr>
        <p:txBody>
          <a:bodyPr vert="eaVert" wrap="none" rtlCol="0">
            <a:spAutoFit/>
          </a:bodyPr>
          <a:lstStyle/>
          <a:p>
            <a:r>
              <a:rPr lang="en-US" altLang="ko-KR" sz="600" dirty="0" err="1">
                <a:solidFill>
                  <a:schemeClr val="accent1">
                    <a:lumMod val="75000"/>
                  </a:schemeClr>
                </a:solidFill>
              </a:rPr>
              <a:t>Exabytes</a:t>
            </a:r>
            <a:r>
              <a:rPr lang="en-US" altLang="ko-KR" sz="600" dirty="0">
                <a:solidFill>
                  <a:schemeClr val="accent1">
                    <a:lumMod val="75000"/>
                  </a:schemeClr>
                </a:solidFill>
              </a:rPr>
              <a:t> (EB)</a:t>
            </a:r>
            <a:endParaRPr lang="ko-KR" altLang="en-US" sz="600" dirty="0">
              <a:solidFill>
                <a:schemeClr val="accent1">
                  <a:lumMod val="75000"/>
                </a:schemeClr>
              </a:solidFill>
            </a:endParaRPr>
          </a:p>
        </p:txBody>
      </p:sp>
      <p:sp>
        <p:nvSpPr>
          <p:cNvPr id="387" name="TextBox 386"/>
          <p:cNvSpPr txBox="1"/>
          <p:nvPr/>
        </p:nvSpPr>
        <p:spPr>
          <a:xfrm>
            <a:off x="6312496" y="5100782"/>
            <a:ext cx="320839" cy="203878"/>
          </a:xfrm>
          <a:prstGeom prst="rect">
            <a:avLst/>
          </a:prstGeom>
          <a:noFill/>
        </p:spPr>
        <p:txBody>
          <a:bodyPr wrap="none" rtlCol="0">
            <a:spAutoFit/>
          </a:bodyPr>
          <a:lstStyle/>
          <a:p>
            <a:pPr algn="r"/>
            <a:r>
              <a:rPr lang="en-US" altLang="ko-KR" sz="600" dirty="0">
                <a:solidFill>
                  <a:schemeClr val="accent1">
                    <a:lumMod val="75000"/>
                  </a:schemeClr>
                </a:solidFill>
              </a:rPr>
              <a:t>120</a:t>
            </a:r>
            <a:endParaRPr lang="ko-KR" altLang="en-US" sz="600" dirty="0">
              <a:solidFill>
                <a:schemeClr val="accent1">
                  <a:lumMod val="75000"/>
                </a:schemeClr>
              </a:solidFill>
            </a:endParaRPr>
          </a:p>
        </p:txBody>
      </p:sp>
      <p:sp>
        <p:nvSpPr>
          <p:cNvPr id="388" name="TextBox 387"/>
          <p:cNvSpPr txBox="1"/>
          <p:nvPr/>
        </p:nvSpPr>
        <p:spPr>
          <a:xfrm>
            <a:off x="6312496" y="5282383"/>
            <a:ext cx="320839" cy="203878"/>
          </a:xfrm>
          <a:prstGeom prst="rect">
            <a:avLst/>
          </a:prstGeom>
          <a:noFill/>
        </p:spPr>
        <p:txBody>
          <a:bodyPr wrap="none" rtlCol="0">
            <a:spAutoFit/>
          </a:bodyPr>
          <a:lstStyle/>
          <a:p>
            <a:pPr algn="r"/>
            <a:r>
              <a:rPr lang="en-US" altLang="ko-KR" sz="600" dirty="0">
                <a:solidFill>
                  <a:schemeClr val="accent1">
                    <a:lumMod val="75000"/>
                  </a:schemeClr>
                </a:solidFill>
              </a:rPr>
              <a:t>100</a:t>
            </a:r>
            <a:endParaRPr lang="ko-KR" altLang="en-US" sz="600" dirty="0">
              <a:solidFill>
                <a:schemeClr val="accent1">
                  <a:lumMod val="75000"/>
                </a:schemeClr>
              </a:solidFill>
            </a:endParaRPr>
          </a:p>
        </p:txBody>
      </p:sp>
      <p:sp>
        <p:nvSpPr>
          <p:cNvPr id="389" name="TextBox 388"/>
          <p:cNvSpPr txBox="1"/>
          <p:nvPr/>
        </p:nvSpPr>
        <p:spPr>
          <a:xfrm>
            <a:off x="6355673" y="5455882"/>
            <a:ext cx="277662" cy="203878"/>
          </a:xfrm>
          <a:prstGeom prst="rect">
            <a:avLst/>
          </a:prstGeom>
          <a:noFill/>
        </p:spPr>
        <p:txBody>
          <a:bodyPr wrap="none" rtlCol="0">
            <a:spAutoFit/>
          </a:bodyPr>
          <a:lstStyle/>
          <a:p>
            <a:pPr algn="r"/>
            <a:r>
              <a:rPr lang="en-US" altLang="ko-KR" sz="600" dirty="0">
                <a:solidFill>
                  <a:schemeClr val="accent1">
                    <a:lumMod val="75000"/>
                  </a:schemeClr>
                </a:solidFill>
              </a:rPr>
              <a:t>80</a:t>
            </a:r>
            <a:endParaRPr lang="ko-KR" altLang="en-US" sz="600" dirty="0">
              <a:solidFill>
                <a:schemeClr val="accent1">
                  <a:lumMod val="75000"/>
                </a:schemeClr>
              </a:solidFill>
            </a:endParaRPr>
          </a:p>
        </p:txBody>
      </p:sp>
      <p:sp>
        <p:nvSpPr>
          <p:cNvPr id="390" name="TextBox 389"/>
          <p:cNvSpPr txBox="1"/>
          <p:nvPr/>
        </p:nvSpPr>
        <p:spPr>
          <a:xfrm>
            <a:off x="6355672" y="5629382"/>
            <a:ext cx="277662" cy="203878"/>
          </a:xfrm>
          <a:prstGeom prst="rect">
            <a:avLst/>
          </a:prstGeom>
          <a:noFill/>
        </p:spPr>
        <p:txBody>
          <a:bodyPr wrap="none" rtlCol="0">
            <a:spAutoFit/>
          </a:bodyPr>
          <a:lstStyle/>
          <a:p>
            <a:pPr algn="r"/>
            <a:r>
              <a:rPr lang="en-US" altLang="ko-KR" sz="600" dirty="0">
                <a:solidFill>
                  <a:schemeClr val="accent1">
                    <a:lumMod val="75000"/>
                  </a:schemeClr>
                </a:solidFill>
              </a:rPr>
              <a:t>60</a:t>
            </a:r>
            <a:endParaRPr lang="ko-KR" altLang="en-US" sz="600" dirty="0">
              <a:solidFill>
                <a:schemeClr val="accent1">
                  <a:lumMod val="75000"/>
                </a:schemeClr>
              </a:solidFill>
            </a:endParaRPr>
          </a:p>
        </p:txBody>
      </p:sp>
      <p:sp>
        <p:nvSpPr>
          <p:cNvPr id="391" name="TextBox 390"/>
          <p:cNvSpPr txBox="1"/>
          <p:nvPr/>
        </p:nvSpPr>
        <p:spPr>
          <a:xfrm>
            <a:off x="6355673" y="5806413"/>
            <a:ext cx="277662" cy="203878"/>
          </a:xfrm>
          <a:prstGeom prst="rect">
            <a:avLst/>
          </a:prstGeom>
          <a:noFill/>
        </p:spPr>
        <p:txBody>
          <a:bodyPr wrap="none" rtlCol="0">
            <a:spAutoFit/>
          </a:bodyPr>
          <a:lstStyle/>
          <a:p>
            <a:pPr algn="r"/>
            <a:r>
              <a:rPr lang="en-US" altLang="ko-KR" sz="600" dirty="0">
                <a:solidFill>
                  <a:schemeClr val="accent1">
                    <a:lumMod val="75000"/>
                  </a:schemeClr>
                </a:solidFill>
              </a:rPr>
              <a:t>40</a:t>
            </a:r>
            <a:endParaRPr lang="ko-KR" altLang="en-US" sz="600" dirty="0">
              <a:solidFill>
                <a:schemeClr val="accent1">
                  <a:lumMod val="75000"/>
                </a:schemeClr>
              </a:solidFill>
            </a:endParaRPr>
          </a:p>
        </p:txBody>
      </p:sp>
      <p:sp>
        <p:nvSpPr>
          <p:cNvPr id="392" name="TextBox 391"/>
          <p:cNvSpPr txBox="1"/>
          <p:nvPr/>
        </p:nvSpPr>
        <p:spPr>
          <a:xfrm>
            <a:off x="6355673" y="5983466"/>
            <a:ext cx="277662" cy="203878"/>
          </a:xfrm>
          <a:prstGeom prst="rect">
            <a:avLst/>
          </a:prstGeom>
          <a:noFill/>
        </p:spPr>
        <p:txBody>
          <a:bodyPr wrap="none" rtlCol="0">
            <a:spAutoFit/>
          </a:bodyPr>
          <a:lstStyle/>
          <a:p>
            <a:pPr algn="r"/>
            <a:r>
              <a:rPr lang="en-US" altLang="ko-KR" sz="600" dirty="0">
                <a:solidFill>
                  <a:schemeClr val="accent1">
                    <a:lumMod val="75000"/>
                  </a:schemeClr>
                </a:solidFill>
              </a:rPr>
              <a:t>20</a:t>
            </a:r>
            <a:endParaRPr lang="ko-KR" altLang="en-US" sz="600" dirty="0">
              <a:solidFill>
                <a:schemeClr val="accent1">
                  <a:lumMod val="75000"/>
                </a:schemeClr>
              </a:solidFill>
            </a:endParaRPr>
          </a:p>
        </p:txBody>
      </p:sp>
      <p:sp>
        <p:nvSpPr>
          <p:cNvPr id="393" name="직사각형 392"/>
          <p:cNvSpPr/>
          <p:nvPr/>
        </p:nvSpPr>
        <p:spPr>
          <a:xfrm>
            <a:off x="6699049" y="5961971"/>
            <a:ext cx="189662" cy="24784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4" name="직사각형 393"/>
          <p:cNvSpPr/>
          <p:nvPr/>
        </p:nvSpPr>
        <p:spPr>
          <a:xfrm>
            <a:off x="6893350" y="5813263"/>
            <a:ext cx="189662" cy="396553"/>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5" name="직사각형 394"/>
          <p:cNvSpPr/>
          <p:nvPr/>
        </p:nvSpPr>
        <p:spPr>
          <a:xfrm>
            <a:off x="7229747" y="5942335"/>
            <a:ext cx="189662" cy="2674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6" name="직사각형 395"/>
          <p:cNvSpPr/>
          <p:nvPr/>
        </p:nvSpPr>
        <p:spPr>
          <a:xfrm>
            <a:off x="7424077" y="5788524"/>
            <a:ext cx="189662" cy="42129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7" name="직사각형 396"/>
          <p:cNvSpPr/>
          <p:nvPr/>
        </p:nvSpPr>
        <p:spPr>
          <a:xfrm>
            <a:off x="7760474" y="5871429"/>
            <a:ext cx="189662" cy="338385"/>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8" name="직사각형 397"/>
          <p:cNvSpPr/>
          <p:nvPr/>
        </p:nvSpPr>
        <p:spPr>
          <a:xfrm>
            <a:off x="7956289" y="5733012"/>
            <a:ext cx="189662" cy="476802"/>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9" name="직사각형 398"/>
          <p:cNvSpPr/>
          <p:nvPr/>
        </p:nvSpPr>
        <p:spPr>
          <a:xfrm>
            <a:off x="8292687" y="5826341"/>
            <a:ext cx="189662" cy="38347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0" name="직사각형 399"/>
          <p:cNvSpPr/>
          <p:nvPr/>
        </p:nvSpPr>
        <p:spPr>
          <a:xfrm>
            <a:off x="8482848" y="5654034"/>
            <a:ext cx="189662" cy="55578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1" name="직사각형 400"/>
          <p:cNvSpPr/>
          <p:nvPr/>
        </p:nvSpPr>
        <p:spPr>
          <a:xfrm>
            <a:off x="8819245" y="5771747"/>
            <a:ext cx="189662" cy="438067"/>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2" name="직사각형 401"/>
          <p:cNvSpPr/>
          <p:nvPr/>
        </p:nvSpPr>
        <p:spPr>
          <a:xfrm>
            <a:off x="9014012" y="5611805"/>
            <a:ext cx="189662" cy="59801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3" name="직사각형 402"/>
          <p:cNvSpPr/>
          <p:nvPr/>
        </p:nvSpPr>
        <p:spPr>
          <a:xfrm>
            <a:off x="9350664" y="5711437"/>
            <a:ext cx="189662" cy="49837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4" name="직사각형 403"/>
          <p:cNvSpPr/>
          <p:nvPr/>
        </p:nvSpPr>
        <p:spPr>
          <a:xfrm>
            <a:off x="9544340" y="5583555"/>
            <a:ext cx="189662" cy="62626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5" name="직사각형 404"/>
          <p:cNvSpPr/>
          <p:nvPr/>
        </p:nvSpPr>
        <p:spPr>
          <a:xfrm>
            <a:off x="9880482" y="5670889"/>
            <a:ext cx="189662" cy="538926"/>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6" name="직사각형 405"/>
          <p:cNvSpPr/>
          <p:nvPr/>
        </p:nvSpPr>
        <p:spPr>
          <a:xfrm>
            <a:off x="10072144" y="5488603"/>
            <a:ext cx="189662" cy="72121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7" name="직사각형 406"/>
          <p:cNvSpPr/>
          <p:nvPr/>
        </p:nvSpPr>
        <p:spPr>
          <a:xfrm>
            <a:off x="10408541" y="5632935"/>
            <a:ext cx="189662" cy="5768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8" name="직사각형 407"/>
          <p:cNvSpPr/>
          <p:nvPr/>
        </p:nvSpPr>
        <p:spPr>
          <a:xfrm>
            <a:off x="10603106" y="5460457"/>
            <a:ext cx="189663" cy="749358"/>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cxnSp>
        <p:nvCxnSpPr>
          <p:cNvPr id="409" name="직선 화살표 연결선 408"/>
          <p:cNvCxnSpPr/>
          <p:nvPr/>
        </p:nvCxnSpPr>
        <p:spPr>
          <a:xfrm flipH="1">
            <a:off x="6625255" y="6004450"/>
            <a:ext cx="132202"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10" name="직선 연결선 409"/>
          <p:cNvCxnSpPr/>
          <p:nvPr/>
        </p:nvCxnSpPr>
        <p:spPr>
          <a:xfrm>
            <a:off x="10866135"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1" name="TextBox 410"/>
          <p:cNvSpPr txBox="1"/>
          <p:nvPr/>
        </p:nvSpPr>
        <p:spPr>
          <a:xfrm>
            <a:off x="10840211" y="5457665"/>
            <a:ext cx="295930" cy="203878"/>
          </a:xfrm>
          <a:prstGeom prst="rect">
            <a:avLst/>
          </a:prstGeom>
          <a:noFill/>
        </p:spPr>
        <p:txBody>
          <a:bodyPr wrap="none" rtlCol="0">
            <a:spAutoFit/>
          </a:bodyPr>
          <a:lstStyle/>
          <a:p>
            <a:r>
              <a:rPr lang="en-US" altLang="ko-KR" sz="600" dirty="0">
                <a:solidFill>
                  <a:schemeClr val="accent6">
                    <a:lumMod val="75000"/>
                  </a:schemeClr>
                </a:solidFill>
              </a:rPr>
              <a:t>1.6</a:t>
            </a:r>
            <a:endParaRPr lang="ko-KR" altLang="en-US" sz="600" dirty="0">
              <a:solidFill>
                <a:schemeClr val="accent6">
                  <a:lumMod val="75000"/>
                </a:schemeClr>
              </a:solidFill>
            </a:endParaRPr>
          </a:p>
        </p:txBody>
      </p:sp>
      <p:sp>
        <p:nvSpPr>
          <p:cNvPr id="412" name="TextBox 411"/>
          <p:cNvSpPr txBox="1"/>
          <p:nvPr/>
        </p:nvSpPr>
        <p:spPr>
          <a:xfrm>
            <a:off x="10840211" y="5627267"/>
            <a:ext cx="295930" cy="203878"/>
          </a:xfrm>
          <a:prstGeom prst="rect">
            <a:avLst/>
          </a:prstGeom>
          <a:noFill/>
        </p:spPr>
        <p:txBody>
          <a:bodyPr wrap="none" rtlCol="0">
            <a:spAutoFit/>
          </a:bodyPr>
          <a:lstStyle/>
          <a:p>
            <a:r>
              <a:rPr lang="en-US" altLang="ko-KR" sz="600" dirty="0">
                <a:solidFill>
                  <a:schemeClr val="accent6">
                    <a:lumMod val="75000"/>
                  </a:schemeClr>
                </a:solidFill>
              </a:rPr>
              <a:t>1.2</a:t>
            </a:r>
            <a:endParaRPr lang="ko-KR" altLang="en-US" sz="600" dirty="0">
              <a:solidFill>
                <a:schemeClr val="accent6">
                  <a:lumMod val="75000"/>
                </a:schemeClr>
              </a:solidFill>
            </a:endParaRPr>
          </a:p>
        </p:txBody>
      </p:sp>
      <p:sp>
        <p:nvSpPr>
          <p:cNvPr id="413" name="TextBox 412"/>
          <p:cNvSpPr txBox="1"/>
          <p:nvPr/>
        </p:nvSpPr>
        <p:spPr>
          <a:xfrm>
            <a:off x="10840211" y="5805507"/>
            <a:ext cx="295930" cy="203878"/>
          </a:xfrm>
          <a:prstGeom prst="rect">
            <a:avLst/>
          </a:prstGeom>
          <a:noFill/>
        </p:spPr>
        <p:txBody>
          <a:bodyPr wrap="none" rtlCol="0">
            <a:spAutoFit/>
          </a:bodyPr>
          <a:lstStyle/>
          <a:p>
            <a:r>
              <a:rPr lang="en-US" altLang="ko-KR" sz="600" dirty="0">
                <a:solidFill>
                  <a:schemeClr val="accent6">
                    <a:lumMod val="75000"/>
                  </a:schemeClr>
                </a:solidFill>
              </a:rPr>
              <a:t>0.8</a:t>
            </a:r>
            <a:endParaRPr lang="ko-KR" altLang="en-US" sz="600" dirty="0">
              <a:solidFill>
                <a:schemeClr val="accent6">
                  <a:lumMod val="75000"/>
                </a:schemeClr>
              </a:solidFill>
            </a:endParaRPr>
          </a:p>
        </p:txBody>
      </p:sp>
      <p:sp>
        <p:nvSpPr>
          <p:cNvPr id="414" name="TextBox 413"/>
          <p:cNvSpPr txBox="1"/>
          <p:nvPr/>
        </p:nvSpPr>
        <p:spPr>
          <a:xfrm>
            <a:off x="10840211" y="5979220"/>
            <a:ext cx="295930" cy="203878"/>
          </a:xfrm>
          <a:prstGeom prst="rect">
            <a:avLst/>
          </a:prstGeom>
          <a:noFill/>
        </p:spPr>
        <p:txBody>
          <a:bodyPr wrap="none" rtlCol="0">
            <a:spAutoFit/>
          </a:bodyPr>
          <a:lstStyle/>
          <a:p>
            <a:r>
              <a:rPr lang="en-US" altLang="ko-KR" sz="600" dirty="0">
                <a:solidFill>
                  <a:schemeClr val="accent6">
                    <a:lumMod val="75000"/>
                  </a:schemeClr>
                </a:solidFill>
              </a:rPr>
              <a:t>0.4</a:t>
            </a:r>
            <a:endParaRPr lang="ko-KR" altLang="en-US" sz="600" dirty="0">
              <a:solidFill>
                <a:schemeClr val="accent6">
                  <a:lumMod val="75000"/>
                </a:schemeClr>
              </a:solidFill>
            </a:endParaRPr>
          </a:p>
        </p:txBody>
      </p:sp>
      <p:sp>
        <p:nvSpPr>
          <p:cNvPr id="415" name="TextBox 414"/>
          <p:cNvSpPr txBox="1"/>
          <p:nvPr/>
        </p:nvSpPr>
        <p:spPr>
          <a:xfrm>
            <a:off x="10992114" y="5357822"/>
            <a:ext cx="276999" cy="626133"/>
          </a:xfrm>
          <a:prstGeom prst="rect">
            <a:avLst/>
          </a:prstGeom>
          <a:noFill/>
        </p:spPr>
        <p:txBody>
          <a:bodyPr vert="eaVert" wrap="none" rtlCol="0">
            <a:spAutoFit/>
          </a:bodyPr>
          <a:lstStyle/>
          <a:p>
            <a:r>
              <a:rPr lang="en-US" altLang="ko-KR" sz="600" dirty="0">
                <a:solidFill>
                  <a:schemeClr val="accent6">
                    <a:lumMod val="75000"/>
                  </a:schemeClr>
                </a:solidFill>
              </a:rPr>
              <a:t>Zettabytes (ZB)</a:t>
            </a:r>
            <a:endParaRPr lang="ko-KR" altLang="en-US" sz="600" dirty="0">
              <a:solidFill>
                <a:schemeClr val="accent6">
                  <a:lumMod val="75000"/>
                </a:schemeClr>
              </a:solidFill>
            </a:endParaRPr>
          </a:p>
        </p:txBody>
      </p:sp>
      <p:cxnSp>
        <p:nvCxnSpPr>
          <p:cNvPr id="416" name="직선 연결선 415"/>
          <p:cNvCxnSpPr/>
          <p:nvPr/>
        </p:nvCxnSpPr>
        <p:spPr>
          <a:xfrm>
            <a:off x="6596223" y="5158227"/>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직선 연결선 416"/>
          <p:cNvCxnSpPr/>
          <p:nvPr/>
        </p:nvCxnSpPr>
        <p:spPr>
          <a:xfrm>
            <a:off x="6596223" y="5333491"/>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직선 연결선 417"/>
          <p:cNvCxnSpPr/>
          <p:nvPr/>
        </p:nvCxnSpPr>
        <p:spPr>
          <a:xfrm>
            <a:off x="6596223" y="5508756"/>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9" name="타원 418"/>
          <p:cNvSpPr/>
          <p:nvPr/>
        </p:nvSpPr>
        <p:spPr>
          <a:xfrm flipH="1">
            <a:off x="6872397" y="5469328"/>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0" name="타원 419"/>
          <p:cNvSpPr/>
          <p:nvPr/>
        </p:nvSpPr>
        <p:spPr>
          <a:xfrm flipH="1">
            <a:off x="7403109" y="5464917"/>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1" name="타원 420"/>
          <p:cNvSpPr/>
          <p:nvPr/>
        </p:nvSpPr>
        <p:spPr>
          <a:xfrm flipH="1">
            <a:off x="8463715" y="5344203"/>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2" name="타원 421"/>
          <p:cNvSpPr/>
          <p:nvPr/>
        </p:nvSpPr>
        <p:spPr>
          <a:xfrm flipH="1">
            <a:off x="8992826" y="5279525"/>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3" name="타원 422"/>
          <p:cNvSpPr/>
          <p:nvPr/>
        </p:nvSpPr>
        <p:spPr>
          <a:xfrm flipH="1">
            <a:off x="9523699" y="5210822"/>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4" name="타원 423"/>
          <p:cNvSpPr/>
          <p:nvPr/>
        </p:nvSpPr>
        <p:spPr>
          <a:xfrm flipH="1">
            <a:off x="10052510" y="5114943"/>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5" name="타원 424"/>
          <p:cNvSpPr/>
          <p:nvPr/>
        </p:nvSpPr>
        <p:spPr>
          <a:xfrm flipH="1">
            <a:off x="10582021" y="5055971"/>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cxnSp>
        <p:nvCxnSpPr>
          <p:cNvPr id="426" name="직선 연결선 425"/>
          <p:cNvCxnSpPr/>
          <p:nvPr/>
        </p:nvCxnSpPr>
        <p:spPr>
          <a:xfrm flipV="1">
            <a:off x="6909664" y="5484192"/>
            <a:ext cx="493445" cy="441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직선 연결선 426"/>
          <p:cNvCxnSpPr/>
          <p:nvPr/>
        </p:nvCxnSpPr>
        <p:spPr>
          <a:xfrm flipV="1">
            <a:off x="7440376" y="5441033"/>
            <a:ext cx="494203" cy="43159"/>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직선 연결선 427"/>
          <p:cNvCxnSpPr/>
          <p:nvPr/>
        </p:nvCxnSpPr>
        <p:spPr>
          <a:xfrm flipV="1">
            <a:off x="9030093" y="5230098"/>
            <a:ext cx="493606" cy="68703"/>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직선 연결선 428"/>
          <p:cNvCxnSpPr/>
          <p:nvPr/>
        </p:nvCxnSpPr>
        <p:spPr>
          <a:xfrm flipV="1">
            <a:off x="8500982" y="5298800"/>
            <a:ext cx="491843" cy="64678"/>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직선 연결선 429"/>
          <p:cNvCxnSpPr/>
          <p:nvPr/>
        </p:nvCxnSpPr>
        <p:spPr>
          <a:xfrm flipV="1">
            <a:off x="7971846" y="5363478"/>
            <a:ext cx="491869" cy="77555"/>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직선 연결선 430"/>
          <p:cNvCxnSpPr/>
          <p:nvPr/>
        </p:nvCxnSpPr>
        <p:spPr>
          <a:xfrm flipV="1">
            <a:off x="10089778" y="5075246"/>
            <a:ext cx="492244" cy="5897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직선 연결선 431"/>
          <p:cNvCxnSpPr/>
          <p:nvPr/>
        </p:nvCxnSpPr>
        <p:spPr>
          <a:xfrm flipV="1">
            <a:off x="9560967" y="5134218"/>
            <a:ext cx="491544" cy="95880"/>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3" name="TextBox 432"/>
          <p:cNvSpPr txBox="1"/>
          <p:nvPr/>
        </p:nvSpPr>
        <p:spPr>
          <a:xfrm>
            <a:off x="6727778" y="5297059"/>
            <a:ext cx="574921" cy="237858"/>
          </a:xfrm>
          <a:prstGeom prst="rect">
            <a:avLst/>
          </a:prstGeom>
          <a:noFill/>
        </p:spPr>
        <p:txBody>
          <a:bodyPr wrap="none" rtlCol="0">
            <a:spAutoFit/>
          </a:bodyPr>
          <a:lstStyle/>
          <a:p>
            <a:r>
              <a:rPr lang="en-US" altLang="ko-KR" sz="800" b="1" dirty="0">
                <a:solidFill>
                  <a:srgbClr val="7030A0"/>
                </a:solidFill>
              </a:rPr>
              <a:t>0.51 ZB</a:t>
            </a:r>
            <a:endParaRPr lang="ko-KR" altLang="en-US" sz="800" b="1" dirty="0">
              <a:solidFill>
                <a:srgbClr val="7030A0"/>
              </a:solidFill>
            </a:endParaRPr>
          </a:p>
        </p:txBody>
      </p:sp>
      <p:sp>
        <p:nvSpPr>
          <p:cNvPr id="434" name="TextBox 433"/>
          <p:cNvSpPr txBox="1"/>
          <p:nvPr/>
        </p:nvSpPr>
        <p:spPr>
          <a:xfrm>
            <a:off x="7245751" y="5291665"/>
            <a:ext cx="574921" cy="237858"/>
          </a:xfrm>
          <a:prstGeom prst="rect">
            <a:avLst/>
          </a:prstGeom>
          <a:noFill/>
        </p:spPr>
        <p:txBody>
          <a:bodyPr wrap="none" rtlCol="0">
            <a:spAutoFit/>
          </a:bodyPr>
          <a:lstStyle/>
          <a:p>
            <a:r>
              <a:rPr lang="en-US" altLang="ko-KR" sz="800" b="1" dirty="0">
                <a:solidFill>
                  <a:srgbClr val="7030A0"/>
                </a:solidFill>
              </a:rPr>
              <a:t>1.28 ZB</a:t>
            </a:r>
            <a:endParaRPr lang="ko-KR" altLang="en-US" sz="800" b="1" dirty="0">
              <a:solidFill>
                <a:srgbClr val="7030A0"/>
              </a:solidFill>
            </a:endParaRPr>
          </a:p>
        </p:txBody>
      </p:sp>
      <p:sp>
        <p:nvSpPr>
          <p:cNvPr id="435" name="TextBox 434"/>
          <p:cNvSpPr txBox="1"/>
          <p:nvPr/>
        </p:nvSpPr>
        <p:spPr>
          <a:xfrm>
            <a:off x="7803358" y="5238378"/>
            <a:ext cx="513477" cy="237858"/>
          </a:xfrm>
          <a:prstGeom prst="rect">
            <a:avLst/>
          </a:prstGeom>
          <a:noFill/>
        </p:spPr>
        <p:txBody>
          <a:bodyPr wrap="none" rtlCol="0">
            <a:spAutoFit/>
          </a:bodyPr>
          <a:lstStyle/>
          <a:p>
            <a:r>
              <a:rPr lang="en-US" altLang="ko-KR" sz="800" b="1" dirty="0">
                <a:solidFill>
                  <a:srgbClr val="7030A0"/>
                </a:solidFill>
              </a:rPr>
              <a:t>3.2 ZB</a:t>
            </a:r>
            <a:endParaRPr lang="ko-KR" altLang="en-US" sz="800" b="1" dirty="0">
              <a:solidFill>
                <a:srgbClr val="7030A0"/>
              </a:solidFill>
            </a:endParaRPr>
          </a:p>
        </p:txBody>
      </p:sp>
      <p:sp>
        <p:nvSpPr>
          <p:cNvPr id="436" name="TextBox 435"/>
          <p:cNvSpPr txBox="1"/>
          <p:nvPr/>
        </p:nvSpPr>
        <p:spPr>
          <a:xfrm>
            <a:off x="8870373" y="5097533"/>
            <a:ext cx="485246" cy="237858"/>
          </a:xfrm>
          <a:prstGeom prst="rect">
            <a:avLst/>
          </a:prstGeom>
          <a:noFill/>
        </p:spPr>
        <p:txBody>
          <a:bodyPr wrap="none" rtlCol="0">
            <a:spAutoFit/>
          </a:bodyPr>
          <a:lstStyle/>
          <a:p>
            <a:r>
              <a:rPr lang="en-US" altLang="ko-KR" sz="800" b="1" dirty="0">
                <a:solidFill>
                  <a:srgbClr val="7030A0"/>
                </a:solidFill>
              </a:rPr>
              <a:t>20 ZB</a:t>
            </a:r>
            <a:endParaRPr lang="ko-KR" altLang="en-US" sz="800" b="1" dirty="0">
              <a:solidFill>
                <a:srgbClr val="7030A0"/>
              </a:solidFill>
            </a:endParaRPr>
          </a:p>
        </p:txBody>
      </p:sp>
      <p:sp>
        <p:nvSpPr>
          <p:cNvPr id="437" name="TextBox 436"/>
          <p:cNvSpPr txBox="1"/>
          <p:nvPr/>
        </p:nvSpPr>
        <p:spPr>
          <a:xfrm>
            <a:off x="9397607" y="5024579"/>
            <a:ext cx="485246" cy="237858"/>
          </a:xfrm>
          <a:prstGeom prst="rect">
            <a:avLst/>
          </a:prstGeom>
          <a:noFill/>
        </p:spPr>
        <p:txBody>
          <a:bodyPr wrap="none" rtlCol="0">
            <a:spAutoFit/>
          </a:bodyPr>
          <a:lstStyle/>
          <a:p>
            <a:r>
              <a:rPr lang="en-US" altLang="ko-KR" sz="800" b="1" dirty="0">
                <a:solidFill>
                  <a:srgbClr val="7030A0"/>
                </a:solidFill>
              </a:rPr>
              <a:t>50 ZB</a:t>
            </a:r>
            <a:endParaRPr lang="ko-KR" altLang="en-US" sz="800" b="1" dirty="0">
              <a:solidFill>
                <a:srgbClr val="7030A0"/>
              </a:solidFill>
            </a:endParaRPr>
          </a:p>
        </p:txBody>
      </p:sp>
      <p:sp>
        <p:nvSpPr>
          <p:cNvPr id="438" name="TextBox 437"/>
          <p:cNvSpPr txBox="1"/>
          <p:nvPr/>
        </p:nvSpPr>
        <p:spPr>
          <a:xfrm>
            <a:off x="9895699" y="4946117"/>
            <a:ext cx="546690" cy="237858"/>
          </a:xfrm>
          <a:prstGeom prst="rect">
            <a:avLst/>
          </a:prstGeom>
          <a:noFill/>
        </p:spPr>
        <p:txBody>
          <a:bodyPr wrap="none" rtlCol="0">
            <a:spAutoFit/>
          </a:bodyPr>
          <a:lstStyle/>
          <a:p>
            <a:r>
              <a:rPr lang="en-US" altLang="ko-KR" sz="800" b="1" dirty="0">
                <a:solidFill>
                  <a:srgbClr val="7030A0"/>
                </a:solidFill>
              </a:rPr>
              <a:t>125 ZB</a:t>
            </a:r>
            <a:endParaRPr lang="ko-KR" altLang="en-US" sz="800" b="1" dirty="0">
              <a:solidFill>
                <a:srgbClr val="7030A0"/>
              </a:solidFill>
            </a:endParaRPr>
          </a:p>
        </p:txBody>
      </p:sp>
      <p:sp>
        <p:nvSpPr>
          <p:cNvPr id="439" name="TextBox 438"/>
          <p:cNvSpPr txBox="1"/>
          <p:nvPr/>
        </p:nvSpPr>
        <p:spPr>
          <a:xfrm>
            <a:off x="10401392" y="4873681"/>
            <a:ext cx="636366" cy="237858"/>
          </a:xfrm>
          <a:prstGeom prst="rect">
            <a:avLst/>
          </a:prstGeom>
          <a:noFill/>
        </p:spPr>
        <p:txBody>
          <a:bodyPr wrap="none" rtlCol="0">
            <a:spAutoFit/>
          </a:bodyPr>
          <a:lstStyle/>
          <a:p>
            <a:r>
              <a:rPr lang="en-US" altLang="ko-KR" sz="800" b="1" dirty="0">
                <a:solidFill>
                  <a:srgbClr val="7030A0"/>
                </a:solidFill>
              </a:rPr>
              <a:t>312.5 ZB</a:t>
            </a:r>
            <a:endParaRPr lang="ko-KR" altLang="en-US" sz="800" b="1" dirty="0">
              <a:solidFill>
                <a:srgbClr val="7030A0"/>
              </a:solidFill>
            </a:endParaRPr>
          </a:p>
        </p:txBody>
      </p:sp>
      <p:sp>
        <p:nvSpPr>
          <p:cNvPr id="440" name="TextBox 439"/>
          <p:cNvSpPr txBox="1"/>
          <p:nvPr/>
        </p:nvSpPr>
        <p:spPr>
          <a:xfrm>
            <a:off x="8362900" y="5163732"/>
            <a:ext cx="423800" cy="237858"/>
          </a:xfrm>
          <a:prstGeom prst="rect">
            <a:avLst/>
          </a:prstGeom>
          <a:noFill/>
        </p:spPr>
        <p:txBody>
          <a:bodyPr wrap="none" rtlCol="0">
            <a:spAutoFit/>
          </a:bodyPr>
          <a:lstStyle/>
          <a:p>
            <a:r>
              <a:rPr lang="en-US" altLang="ko-KR" sz="800" b="1" dirty="0">
                <a:solidFill>
                  <a:srgbClr val="7030A0"/>
                </a:solidFill>
              </a:rPr>
              <a:t>8 ZB</a:t>
            </a:r>
            <a:endParaRPr lang="ko-KR" altLang="en-US" sz="800" b="1" dirty="0">
              <a:solidFill>
                <a:srgbClr val="7030A0"/>
              </a:solidFill>
            </a:endParaRPr>
          </a:p>
        </p:txBody>
      </p:sp>
      <p:cxnSp>
        <p:nvCxnSpPr>
          <p:cNvPr id="441" name="직선 화살표 연결선 440"/>
          <p:cNvCxnSpPr/>
          <p:nvPr/>
        </p:nvCxnSpPr>
        <p:spPr>
          <a:xfrm>
            <a:off x="10742370" y="5475565"/>
            <a:ext cx="132202" cy="0"/>
          </a:xfrm>
          <a:prstGeom prst="straightConnector1">
            <a:avLst/>
          </a:prstGeom>
          <a:ln w="19050">
            <a:tailEnd type="triangle"/>
          </a:ln>
        </p:spPr>
        <p:style>
          <a:lnRef idx="1">
            <a:schemeClr val="accent6"/>
          </a:lnRef>
          <a:fillRef idx="0">
            <a:schemeClr val="accent6"/>
          </a:fillRef>
          <a:effectRef idx="0">
            <a:schemeClr val="accent6"/>
          </a:effectRef>
          <a:fontRef idx="minor">
            <a:schemeClr val="tx1"/>
          </a:fontRef>
        </p:style>
      </p:cxnSp>
      <p:sp>
        <p:nvSpPr>
          <p:cNvPr id="442" name="TextBox 441"/>
          <p:cNvSpPr txBox="1"/>
          <p:nvPr/>
        </p:nvSpPr>
        <p:spPr>
          <a:xfrm>
            <a:off x="10840211" y="5100782"/>
            <a:ext cx="295930" cy="203878"/>
          </a:xfrm>
          <a:prstGeom prst="rect">
            <a:avLst/>
          </a:prstGeom>
          <a:noFill/>
        </p:spPr>
        <p:txBody>
          <a:bodyPr wrap="none" rtlCol="0">
            <a:spAutoFit/>
          </a:bodyPr>
          <a:lstStyle/>
          <a:p>
            <a:r>
              <a:rPr lang="en-US" altLang="ko-KR" sz="600" dirty="0">
                <a:solidFill>
                  <a:schemeClr val="accent6">
                    <a:lumMod val="75000"/>
                  </a:schemeClr>
                </a:solidFill>
              </a:rPr>
              <a:t>2.4</a:t>
            </a:r>
            <a:endParaRPr lang="ko-KR" altLang="en-US" sz="600" dirty="0">
              <a:solidFill>
                <a:schemeClr val="accent6">
                  <a:lumMod val="75000"/>
                </a:schemeClr>
              </a:solidFill>
            </a:endParaRPr>
          </a:p>
        </p:txBody>
      </p:sp>
      <p:sp>
        <p:nvSpPr>
          <p:cNvPr id="443" name="TextBox 442"/>
          <p:cNvSpPr txBox="1"/>
          <p:nvPr/>
        </p:nvSpPr>
        <p:spPr>
          <a:xfrm>
            <a:off x="10840211" y="5278832"/>
            <a:ext cx="295930" cy="203878"/>
          </a:xfrm>
          <a:prstGeom prst="rect">
            <a:avLst/>
          </a:prstGeom>
          <a:noFill/>
        </p:spPr>
        <p:txBody>
          <a:bodyPr wrap="none" rtlCol="0">
            <a:spAutoFit/>
          </a:bodyPr>
          <a:lstStyle/>
          <a:p>
            <a:r>
              <a:rPr lang="en-US" altLang="ko-KR" sz="600" dirty="0">
                <a:solidFill>
                  <a:schemeClr val="accent6">
                    <a:lumMod val="75000"/>
                  </a:schemeClr>
                </a:solidFill>
              </a:rPr>
              <a:t>2.0</a:t>
            </a:r>
            <a:endParaRPr lang="ko-KR" altLang="en-US" sz="600" dirty="0">
              <a:solidFill>
                <a:schemeClr val="accent6">
                  <a:lumMod val="75000"/>
                </a:schemeClr>
              </a:solidFill>
            </a:endParaRPr>
          </a:p>
        </p:txBody>
      </p:sp>
      <p:grpSp>
        <p:nvGrpSpPr>
          <p:cNvPr id="444" name="그룹 443"/>
          <p:cNvGrpSpPr/>
          <p:nvPr/>
        </p:nvGrpSpPr>
        <p:grpSpPr>
          <a:xfrm>
            <a:off x="6713929" y="4758947"/>
            <a:ext cx="2119250" cy="301902"/>
            <a:chOff x="1945564" y="2880508"/>
            <a:chExt cx="4094381" cy="659026"/>
          </a:xfrm>
        </p:grpSpPr>
        <p:sp>
          <p:nvSpPr>
            <p:cNvPr id="448" name="직사각형 447"/>
            <p:cNvSpPr/>
            <p:nvPr/>
          </p:nvSpPr>
          <p:spPr>
            <a:xfrm>
              <a:off x="1945564" y="3027859"/>
              <a:ext cx="108000" cy="10800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49" name="직사각형 448"/>
            <p:cNvSpPr/>
            <p:nvPr/>
          </p:nvSpPr>
          <p:spPr>
            <a:xfrm>
              <a:off x="1945564" y="3221475"/>
              <a:ext cx="108000" cy="10800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50" name="TextBox 449"/>
            <p:cNvSpPr txBox="1"/>
            <p:nvPr/>
          </p:nvSpPr>
          <p:spPr>
            <a:xfrm>
              <a:off x="2008785" y="2905210"/>
              <a:ext cx="1821653" cy="403110"/>
            </a:xfrm>
            <a:prstGeom prst="rect">
              <a:avLst/>
            </a:prstGeom>
            <a:noFill/>
          </p:spPr>
          <p:txBody>
            <a:bodyPr wrap="none" rtlCol="0">
              <a:spAutoFit/>
            </a:bodyPr>
            <a:lstStyle/>
            <a:p>
              <a:r>
                <a:rPr lang="en-US" altLang="ko-KR" sz="600" dirty="0"/>
                <a:t>DRAM Total Supplied</a:t>
              </a:r>
              <a:endParaRPr lang="ko-KR" altLang="en-US" sz="600" dirty="0"/>
            </a:p>
          </p:txBody>
        </p:sp>
        <p:sp>
          <p:nvSpPr>
            <p:cNvPr id="451" name="TextBox 450"/>
            <p:cNvSpPr txBox="1"/>
            <p:nvPr/>
          </p:nvSpPr>
          <p:spPr>
            <a:xfrm>
              <a:off x="2008785" y="3103514"/>
              <a:ext cx="1824748" cy="403110"/>
            </a:xfrm>
            <a:prstGeom prst="rect">
              <a:avLst/>
            </a:prstGeom>
            <a:noFill/>
          </p:spPr>
          <p:txBody>
            <a:bodyPr wrap="none" rtlCol="0">
              <a:spAutoFit/>
            </a:bodyPr>
            <a:lstStyle/>
            <a:p>
              <a:r>
                <a:rPr lang="en-US" altLang="ko-KR" sz="600" dirty="0"/>
                <a:t>NAND Total Supplied</a:t>
              </a:r>
              <a:endParaRPr lang="ko-KR" altLang="en-US" sz="600" dirty="0"/>
            </a:p>
          </p:txBody>
        </p:sp>
        <p:sp>
          <p:nvSpPr>
            <p:cNvPr id="452" name="타원 451"/>
            <p:cNvSpPr/>
            <p:nvPr/>
          </p:nvSpPr>
          <p:spPr>
            <a:xfrm flipH="1">
              <a:off x="3847065" y="3008608"/>
              <a:ext cx="111930" cy="152481"/>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453" name="TextBox 452"/>
            <p:cNvSpPr txBox="1"/>
            <p:nvPr/>
          </p:nvSpPr>
          <p:spPr>
            <a:xfrm>
              <a:off x="3900330" y="2880508"/>
              <a:ext cx="2127985" cy="403110"/>
            </a:xfrm>
            <a:prstGeom prst="rect">
              <a:avLst/>
            </a:prstGeom>
            <a:noFill/>
          </p:spPr>
          <p:txBody>
            <a:bodyPr wrap="square" rtlCol="0">
              <a:spAutoFit/>
            </a:bodyPr>
            <a:lstStyle/>
            <a:p>
              <a:r>
                <a:rPr lang="en-US" altLang="ko-KR" sz="600" dirty="0" err="1"/>
                <a:t>KVcache</a:t>
              </a:r>
              <a:r>
                <a:rPr lang="en-US" altLang="ko-KR" sz="600" dirty="0"/>
                <a:t> Demand (x2.5/Y)</a:t>
              </a:r>
              <a:endParaRPr lang="ko-KR" altLang="en-US" sz="600" dirty="0"/>
            </a:p>
          </p:txBody>
        </p:sp>
        <p:sp>
          <p:nvSpPr>
            <p:cNvPr id="454" name="직사각형 453"/>
            <p:cNvSpPr/>
            <p:nvPr/>
          </p:nvSpPr>
          <p:spPr>
            <a:xfrm>
              <a:off x="3829221" y="3216441"/>
              <a:ext cx="192510" cy="209031"/>
            </a:xfrm>
            <a:prstGeom prst="rect">
              <a:avLst/>
            </a:prstGeom>
            <a:solidFill>
              <a:schemeClr val="bg1">
                <a:lumMod val="9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55" name="TextBox 454"/>
            <p:cNvSpPr txBox="1"/>
            <p:nvPr/>
          </p:nvSpPr>
          <p:spPr>
            <a:xfrm>
              <a:off x="3883817" y="3102831"/>
              <a:ext cx="2156128" cy="436703"/>
            </a:xfrm>
            <a:prstGeom prst="rect">
              <a:avLst/>
            </a:prstGeom>
            <a:noFill/>
          </p:spPr>
          <p:txBody>
            <a:bodyPr wrap="none" rtlCol="0">
              <a:spAutoFit/>
            </a:bodyPr>
            <a:lstStyle/>
            <a:p>
              <a:r>
                <a:rPr lang="en-US" altLang="ko-KR" sz="700" dirty="0"/>
                <a:t>model</a:t>
              </a:r>
              <a:r>
                <a:rPr lang="ko-KR" altLang="en-US" sz="700" dirty="0"/>
                <a:t> </a:t>
              </a:r>
              <a:r>
                <a:rPr lang="en-US" altLang="ko-KR" sz="700" dirty="0"/>
                <a:t>size (saturation)</a:t>
              </a:r>
              <a:endParaRPr lang="ko-KR" altLang="en-US" sz="700" dirty="0"/>
            </a:p>
          </p:txBody>
        </p:sp>
      </p:grpSp>
      <p:sp>
        <p:nvSpPr>
          <p:cNvPr id="445" name="타원 444"/>
          <p:cNvSpPr/>
          <p:nvPr/>
        </p:nvSpPr>
        <p:spPr>
          <a:xfrm flipH="1">
            <a:off x="7934020" y="5419876"/>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46" name="TextBox 445"/>
          <p:cNvSpPr txBox="1"/>
          <p:nvPr/>
        </p:nvSpPr>
        <p:spPr>
          <a:xfrm>
            <a:off x="10574712" y="5285223"/>
            <a:ext cx="388928" cy="186888"/>
          </a:xfrm>
          <a:prstGeom prst="rect">
            <a:avLst/>
          </a:prstGeom>
          <a:noFill/>
        </p:spPr>
        <p:txBody>
          <a:bodyPr wrap="none" rtlCol="0">
            <a:spAutoFit/>
          </a:bodyPr>
          <a:lstStyle/>
          <a:p>
            <a:r>
              <a:rPr lang="en-US" altLang="ko-KR" sz="500" b="1" dirty="0">
                <a:solidFill>
                  <a:schemeClr val="accent6">
                    <a:lumMod val="75000"/>
                  </a:schemeClr>
                </a:solidFill>
              </a:rPr>
              <a:t>1.7 ZB</a:t>
            </a:r>
            <a:endParaRPr lang="ko-KR" altLang="en-US" sz="500" b="1" dirty="0">
              <a:solidFill>
                <a:schemeClr val="accent6">
                  <a:lumMod val="75000"/>
                </a:schemeClr>
              </a:solidFill>
            </a:endParaRPr>
          </a:p>
        </p:txBody>
      </p:sp>
      <p:sp>
        <p:nvSpPr>
          <p:cNvPr id="447" name="TextBox 446"/>
          <p:cNvSpPr txBox="1"/>
          <p:nvPr/>
        </p:nvSpPr>
        <p:spPr>
          <a:xfrm>
            <a:off x="10387971" y="5534207"/>
            <a:ext cx="368999" cy="186888"/>
          </a:xfrm>
          <a:prstGeom prst="rect">
            <a:avLst/>
          </a:prstGeom>
          <a:noFill/>
        </p:spPr>
        <p:txBody>
          <a:bodyPr wrap="none" rtlCol="0">
            <a:spAutoFit/>
          </a:bodyPr>
          <a:lstStyle/>
          <a:p>
            <a:r>
              <a:rPr lang="en-US" altLang="ko-KR" sz="500" b="1" dirty="0">
                <a:solidFill>
                  <a:schemeClr val="accent1">
                    <a:lumMod val="75000"/>
                  </a:schemeClr>
                </a:solidFill>
              </a:rPr>
              <a:t>66 EB</a:t>
            </a:r>
            <a:endParaRPr lang="ko-KR" altLang="en-US" sz="500" b="1" dirty="0">
              <a:solidFill>
                <a:schemeClr val="accent1">
                  <a:lumMod val="75000"/>
                </a:schemeClr>
              </a:solidFill>
            </a:endParaRPr>
          </a:p>
        </p:txBody>
      </p:sp>
      <p:sp>
        <p:nvSpPr>
          <p:cNvPr id="456" name="직사각형 455"/>
          <p:cNvSpPr/>
          <p:nvPr/>
        </p:nvSpPr>
        <p:spPr>
          <a:xfrm>
            <a:off x="11548066" y="5101283"/>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ZB</a:t>
            </a:r>
          </a:p>
          <a:p>
            <a:pPr algn="ctr"/>
            <a:r>
              <a:rPr lang="en-US" altLang="ko-KR" sz="400" dirty="0"/>
              <a:t>(10</a:t>
            </a:r>
            <a:r>
              <a:rPr lang="en-US" altLang="ko-KR" sz="400" baseline="30000" dirty="0"/>
              <a:t>21</a:t>
            </a:r>
            <a:r>
              <a:rPr lang="en-US" altLang="ko-KR" sz="400" dirty="0"/>
              <a:t>)</a:t>
            </a:r>
            <a:endParaRPr lang="ko-KR" altLang="en-US" sz="400" dirty="0"/>
          </a:p>
        </p:txBody>
      </p:sp>
      <p:sp>
        <p:nvSpPr>
          <p:cNvPr id="457" name="직사각형 456"/>
          <p:cNvSpPr/>
          <p:nvPr/>
        </p:nvSpPr>
        <p:spPr>
          <a:xfrm>
            <a:off x="11548066" y="5378951"/>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EB</a:t>
            </a:r>
            <a:br>
              <a:rPr lang="en-US" altLang="ko-KR" sz="900" dirty="0"/>
            </a:br>
            <a:r>
              <a:rPr lang="en-US" altLang="ko-KR" sz="400" dirty="0"/>
              <a:t>(10</a:t>
            </a:r>
            <a:r>
              <a:rPr lang="en-US" altLang="ko-KR" sz="400" baseline="30000" dirty="0"/>
              <a:t>18</a:t>
            </a:r>
            <a:r>
              <a:rPr lang="en-US" altLang="ko-KR" sz="400" dirty="0"/>
              <a:t>)</a:t>
            </a:r>
            <a:endParaRPr lang="ko-KR" altLang="en-US" sz="400" dirty="0"/>
          </a:p>
        </p:txBody>
      </p:sp>
      <p:sp>
        <p:nvSpPr>
          <p:cNvPr id="458" name="직사각형 457"/>
          <p:cNvSpPr/>
          <p:nvPr/>
        </p:nvSpPr>
        <p:spPr>
          <a:xfrm>
            <a:off x="11548066" y="5656035"/>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PB</a:t>
            </a:r>
          </a:p>
          <a:p>
            <a:pPr algn="ctr"/>
            <a:r>
              <a:rPr lang="en-US" altLang="ko-KR" sz="400" dirty="0"/>
              <a:t>(10</a:t>
            </a:r>
            <a:r>
              <a:rPr lang="en-US" altLang="ko-KR" sz="400" baseline="30000" dirty="0"/>
              <a:t>15</a:t>
            </a:r>
            <a:r>
              <a:rPr lang="en-US" altLang="ko-KR" sz="400" dirty="0"/>
              <a:t>)</a:t>
            </a:r>
            <a:endParaRPr lang="ko-KR" altLang="en-US" sz="400" dirty="0"/>
          </a:p>
        </p:txBody>
      </p:sp>
      <p:sp>
        <p:nvSpPr>
          <p:cNvPr id="459" name="직사각형 458"/>
          <p:cNvSpPr/>
          <p:nvPr/>
        </p:nvSpPr>
        <p:spPr>
          <a:xfrm>
            <a:off x="11548066" y="5933196"/>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TB</a:t>
            </a:r>
          </a:p>
          <a:p>
            <a:pPr algn="ctr"/>
            <a:r>
              <a:rPr lang="en-US" altLang="ko-KR" sz="300" dirty="0"/>
              <a:t>(10</a:t>
            </a:r>
            <a:r>
              <a:rPr lang="en-US" altLang="ko-KR" sz="300" baseline="30000" dirty="0"/>
              <a:t>12</a:t>
            </a:r>
            <a:r>
              <a:rPr lang="en-US" altLang="ko-KR" sz="300" dirty="0"/>
              <a:t>)</a:t>
            </a:r>
            <a:endParaRPr lang="ko-KR" altLang="en-US" sz="300" dirty="0"/>
          </a:p>
        </p:txBody>
      </p:sp>
      <p:cxnSp>
        <p:nvCxnSpPr>
          <p:cNvPr id="460" name="구부러진 연결선 459"/>
          <p:cNvCxnSpPr>
            <a:stCxn id="459" idx="1"/>
            <a:endCxn id="458" idx="1"/>
          </p:cNvCxnSpPr>
          <p:nvPr/>
        </p:nvCxnSpPr>
        <p:spPr>
          <a:xfrm rot="10800000">
            <a:off x="11548066" y="5793867"/>
            <a:ext cx="12700" cy="277161"/>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61" name="구부러진 연결선 460"/>
          <p:cNvCxnSpPr>
            <a:stCxn id="458" idx="1"/>
            <a:endCxn id="457" idx="1"/>
          </p:cNvCxnSpPr>
          <p:nvPr/>
        </p:nvCxnSpPr>
        <p:spPr>
          <a:xfrm rot="10800000">
            <a:off x="11548066" y="5516782"/>
            <a:ext cx="12700" cy="277084"/>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62" name="구부러진 연결선 461"/>
          <p:cNvCxnSpPr>
            <a:stCxn id="457" idx="1"/>
            <a:endCxn id="456" idx="1"/>
          </p:cNvCxnSpPr>
          <p:nvPr/>
        </p:nvCxnSpPr>
        <p:spPr>
          <a:xfrm rot="10800000">
            <a:off x="11548066" y="5239114"/>
            <a:ext cx="12700" cy="277668"/>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sp>
        <p:nvSpPr>
          <p:cNvPr id="463" name="TextBox 462"/>
          <p:cNvSpPr txBox="1"/>
          <p:nvPr/>
        </p:nvSpPr>
        <p:spPr>
          <a:xfrm>
            <a:off x="11271645" y="5359014"/>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64" name="TextBox 463"/>
          <p:cNvSpPr txBox="1"/>
          <p:nvPr/>
        </p:nvSpPr>
        <p:spPr>
          <a:xfrm>
            <a:off x="11278113" y="5636370"/>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65" name="TextBox 464"/>
          <p:cNvSpPr txBox="1"/>
          <p:nvPr/>
        </p:nvSpPr>
        <p:spPr>
          <a:xfrm>
            <a:off x="11278615" y="5927066"/>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24" name="직사각형 23"/>
          <p:cNvSpPr/>
          <p:nvPr/>
        </p:nvSpPr>
        <p:spPr>
          <a:xfrm>
            <a:off x="6775829" y="3774869"/>
            <a:ext cx="3128212" cy="320601"/>
          </a:xfrm>
          <a:prstGeom prst="rect">
            <a:avLst/>
          </a:prstGeom>
        </p:spPr>
        <p:txBody>
          <a:bodyPr>
            <a:spAutoFit/>
          </a:bodyPr>
          <a:lstStyle/>
          <a:p>
            <a:pPr lvl="0">
              <a:spcAft>
                <a:spcPts val="100"/>
              </a:spcAft>
            </a:pPr>
            <a:r>
              <a:rPr lang="en-US" altLang="ko-KR" sz="700" dirty="0">
                <a:solidFill>
                  <a:srgbClr val="808080"/>
                </a:solidFill>
                <a:ea typeface="맑은 고딕"/>
                <a:cs typeface="맑은 고딕"/>
              </a:rPr>
              <a:t>※ 70B</a:t>
            </a:r>
            <a:r>
              <a:rPr lang="ko-KR" altLang="en-US" sz="700" dirty="0">
                <a:solidFill>
                  <a:srgbClr val="808080"/>
                </a:solidFill>
                <a:ea typeface="맑은 고딕"/>
                <a:cs typeface="맑은 고딕"/>
              </a:rPr>
              <a:t>급 모델</a:t>
            </a:r>
            <a:r>
              <a:rPr lang="en-US" altLang="ko-KR" sz="700" dirty="0">
                <a:solidFill>
                  <a:srgbClr val="808080"/>
                </a:solidFill>
                <a:ea typeface="맑은 고딕"/>
                <a:cs typeface="맑은 고딕"/>
              </a:rPr>
              <a:t>, FP16 </a:t>
            </a:r>
            <a:r>
              <a:rPr lang="ko-KR" altLang="en-US" sz="700" dirty="0">
                <a:solidFill>
                  <a:srgbClr val="808080"/>
                </a:solidFill>
                <a:ea typeface="맑은 고딕"/>
                <a:cs typeface="맑은 고딕"/>
              </a:rPr>
              <a:t>기준 </a:t>
            </a:r>
            <a:endParaRPr lang="en-US" altLang="ko-KR" sz="700" dirty="0">
              <a:solidFill>
                <a:srgbClr val="808080"/>
              </a:solidFill>
              <a:ea typeface="맑은 고딕"/>
              <a:cs typeface="맑은 고딕"/>
            </a:endParaRPr>
          </a:p>
          <a:p>
            <a:pPr lvl="0">
              <a:spcAft>
                <a:spcPts val="100"/>
              </a:spcAft>
            </a:pPr>
            <a:r>
              <a:rPr lang="en-US" altLang="ko-KR" sz="700" dirty="0">
                <a:solidFill>
                  <a:srgbClr val="808080"/>
                </a:solidFill>
                <a:ea typeface="맑은 고딕"/>
                <a:cs typeface="맑은 고딕"/>
              </a:rPr>
              <a:t>※ </a:t>
            </a:r>
            <a:r>
              <a:rPr lang="ko-KR" altLang="en-US" sz="700" dirty="0">
                <a:solidFill>
                  <a:srgbClr val="808080"/>
                </a:solidFill>
                <a:ea typeface="맑은 고딕"/>
                <a:cs typeface="맑은 고딕"/>
              </a:rPr>
              <a:t>서비스 필요 용량 </a:t>
            </a:r>
            <a:r>
              <a:rPr lang="en-US" altLang="ko-KR" sz="700" dirty="0">
                <a:solidFill>
                  <a:srgbClr val="808080"/>
                </a:solidFill>
                <a:ea typeface="맑은 고딕"/>
                <a:cs typeface="맑은 고딕"/>
              </a:rPr>
              <a:t>= </a:t>
            </a:r>
            <a:r>
              <a:rPr lang="ko-KR" altLang="en-US" sz="700" b="1" dirty="0">
                <a:solidFill>
                  <a:srgbClr val="C00000"/>
                </a:solidFill>
                <a:ea typeface="맑은 고딕"/>
                <a:cs typeface="맑은 고딕"/>
              </a:rPr>
              <a:t>문맥 길이 </a:t>
            </a:r>
            <a:r>
              <a:rPr lang="en-US" altLang="ko-KR" sz="700" b="1" dirty="0">
                <a:solidFill>
                  <a:srgbClr val="C00000"/>
                </a:solidFill>
                <a:ea typeface="맑은 고딕"/>
                <a:cs typeface="맑은 고딕"/>
              </a:rPr>
              <a:t>× </a:t>
            </a:r>
            <a:r>
              <a:rPr lang="ko-KR" altLang="en-US" sz="700" b="1" dirty="0">
                <a:solidFill>
                  <a:srgbClr val="C00000"/>
                </a:solidFill>
                <a:ea typeface="맑은 고딕"/>
                <a:cs typeface="맑은 고딕"/>
              </a:rPr>
              <a:t>동시 사용자 수</a:t>
            </a:r>
          </a:p>
        </p:txBody>
      </p:sp>
      <p:sp>
        <p:nvSpPr>
          <p:cNvPr id="26" name="직사각형 25"/>
          <p:cNvSpPr/>
          <p:nvPr/>
        </p:nvSpPr>
        <p:spPr>
          <a:xfrm>
            <a:off x="6285848" y="4478556"/>
            <a:ext cx="4883260" cy="246221"/>
          </a:xfrm>
          <a:prstGeom prst="rect">
            <a:avLst/>
          </a:prstGeom>
        </p:spPr>
        <p:txBody>
          <a:bodyPr wrap="square">
            <a:spAutoFit/>
          </a:bodyPr>
          <a:lstStyle/>
          <a:p>
            <a:pPr lvl="0"/>
            <a:r>
              <a:rPr lang="en-US" altLang="ko-KR" sz="1000" b="1" dirty="0" err="1">
                <a:solidFill>
                  <a:prstClr val="black"/>
                </a:solidFill>
              </a:rPr>
              <a:t>KVcache</a:t>
            </a:r>
            <a:r>
              <a:rPr lang="en-US" altLang="ko-KR" sz="1000" b="1" dirty="0">
                <a:solidFill>
                  <a:prstClr val="black"/>
                </a:solidFill>
              </a:rPr>
              <a:t> size(‘30</a:t>
            </a:r>
            <a:r>
              <a:rPr lang="ko-KR" altLang="en-US" sz="1000" b="1" dirty="0">
                <a:solidFill>
                  <a:prstClr val="black"/>
                </a:solidFill>
              </a:rPr>
              <a:t>년</a:t>
            </a:r>
            <a:r>
              <a:rPr lang="en-US" altLang="ko-KR" sz="1000" b="1" dirty="0">
                <a:solidFill>
                  <a:prstClr val="black"/>
                </a:solidFill>
              </a:rPr>
              <a:t>,312 ZB),</a:t>
            </a:r>
            <a:r>
              <a:rPr lang="ko-KR" altLang="en-US" sz="1000" b="1" dirty="0">
                <a:solidFill>
                  <a:prstClr val="black"/>
                </a:solidFill>
              </a:rPr>
              <a:t> 총 </a:t>
            </a:r>
            <a:r>
              <a:rPr lang="en-US" altLang="ko-KR" sz="1000" b="1" dirty="0">
                <a:solidFill>
                  <a:prstClr val="black"/>
                </a:solidFill>
              </a:rPr>
              <a:t>NAND </a:t>
            </a:r>
            <a:r>
              <a:rPr lang="ko-KR" altLang="en-US" sz="1000" b="1" dirty="0">
                <a:solidFill>
                  <a:prstClr val="black"/>
                </a:solidFill>
              </a:rPr>
              <a:t>예상 공급</a:t>
            </a:r>
            <a:r>
              <a:rPr lang="en-US" altLang="ko-KR" sz="1000" b="1" dirty="0">
                <a:solidFill>
                  <a:prstClr val="black"/>
                </a:solidFill>
              </a:rPr>
              <a:t>(1.76 ZB) </a:t>
            </a:r>
            <a:r>
              <a:rPr lang="ko-KR" altLang="en-US" sz="1000" b="1" dirty="0">
                <a:solidFill>
                  <a:prstClr val="black"/>
                </a:solidFill>
              </a:rPr>
              <a:t>대비</a:t>
            </a:r>
            <a:r>
              <a:rPr lang="en-US" altLang="ko-KR" sz="1000" b="1" dirty="0">
                <a:solidFill>
                  <a:prstClr val="black"/>
                </a:solidFill>
              </a:rPr>
              <a:t> 177</a:t>
            </a:r>
            <a:r>
              <a:rPr lang="ko-KR" altLang="en-US" sz="1000" b="1" dirty="0">
                <a:solidFill>
                  <a:prstClr val="black"/>
                </a:solidFill>
              </a:rPr>
              <a:t>배 필요 </a:t>
            </a:r>
            <a:endParaRPr lang="en-US" altLang="ko-KR" sz="400" b="1" dirty="0">
              <a:solidFill>
                <a:prstClr val="black"/>
              </a:solidFill>
            </a:endParaRPr>
          </a:p>
        </p:txBody>
      </p:sp>
      <p:sp>
        <p:nvSpPr>
          <p:cNvPr id="467" name="직사각형 466"/>
          <p:cNvSpPr/>
          <p:nvPr/>
        </p:nvSpPr>
        <p:spPr>
          <a:xfrm>
            <a:off x="10755818" y="3483207"/>
            <a:ext cx="1112332" cy="320601"/>
          </a:xfrm>
          <a:prstGeom prst="rect">
            <a:avLst/>
          </a:prstGeom>
        </p:spPr>
        <p:txBody>
          <a:bodyPr wrap="square">
            <a:spAutoFit/>
          </a:bodyPr>
          <a:lstStyle/>
          <a:p>
            <a:pPr lvl="0">
              <a:spcAft>
                <a:spcPts val="100"/>
              </a:spcAft>
            </a:pPr>
            <a:r>
              <a:rPr lang="en-US" altLang="ko-KR" sz="700" dirty="0">
                <a:solidFill>
                  <a:srgbClr val="808080"/>
                </a:solidFill>
                <a:ea typeface="맑은 고딕"/>
                <a:cs typeface="맑은 고딕"/>
              </a:rPr>
              <a:t>128K </a:t>
            </a:r>
            <a:r>
              <a:rPr lang="ko-KR" altLang="en-US" sz="700" dirty="0">
                <a:solidFill>
                  <a:srgbClr val="808080"/>
                </a:solidFill>
                <a:ea typeface="맑은 고딕"/>
                <a:cs typeface="맑은 고딕"/>
              </a:rPr>
              <a:t>토큰</a:t>
            </a:r>
            <a:r>
              <a:rPr lang="en-US" altLang="ko-KR" sz="700" dirty="0">
                <a:solidFill>
                  <a:srgbClr val="808080"/>
                </a:solidFill>
                <a:ea typeface="맑은 고딕"/>
                <a:cs typeface="맑은 고딕"/>
              </a:rPr>
              <a:t>: </a:t>
            </a:r>
          </a:p>
          <a:p>
            <a:pPr lvl="0">
              <a:spcAft>
                <a:spcPts val="100"/>
              </a:spcAft>
            </a:pPr>
            <a:r>
              <a:rPr lang="ko-KR" altLang="en-US" sz="700" dirty="0">
                <a:solidFill>
                  <a:srgbClr val="808080"/>
                </a:solidFill>
                <a:ea typeface="맑은 고딕"/>
                <a:cs typeface="맑은 고딕"/>
              </a:rPr>
              <a:t>소설책 약 </a:t>
            </a:r>
            <a:r>
              <a:rPr lang="en-US" altLang="ko-KR" sz="700" dirty="0">
                <a:solidFill>
                  <a:srgbClr val="808080"/>
                </a:solidFill>
                <a:ea typeface="맑은 고딕"/>
                <a:cs typeface="맑은 고딕"/>
              </a:rPr>
              <a:t>1~2</a:t>
            </a:r>
            <a:r>
              <a:rPr lang="ko-KR" altLang="en-US" sz="700" dirty="0">
                <a:solidFill>
                  <a:srgbClr val="808080"/>
                </a:solidFill>
                <a:ea typeface="맑은 고딕"/>
                <a:cs typeface="맑은 고딕"/>
              </a:rPr>
              <a:t>권 길이</a:t>
            </a:r>
            <a:endParaRPr lang="en-US" altLang="ko-KR" sz="700" dirty="0">
              <a:solidFill>
                <a:srgbClr val="808080"/>
              </a:solidFill>
              <a:ea typeface="맑은 고딕"/>
              <a:cs typeface="맑은 고딕"/>
            </a:endParaRPr>
          </a:p>
        </p:txBody>
      </p:sp>
      <p:sp>
        <p:nvSpPr>
          <p:cNvPr id="468" name="Cache caption"/>
          <p:cNvSpPr txBox="1"/>
          <p:nvPr/>
        </p:nvSpPr>
        <p:spPr>
          <a:xfrm>
            <a:off x="8422936" y="1528041"/>
            <a:ext cx="943696" cy="207215"/>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600" b="0" i="0" u="none" strike="noStrike" kern="0" cap="none" spc="0" normalizeH="0" baseline="0" noProof="0" dirty="0">
                <a:ln>
                  <a:noFill/>
                </a:ln>
                <a:solidFill>
                  <a:srgbClr val="4B5563"/>
                </a:solidFill>
                <a:effectLst/>
                <a:uLnTx/>
                <a:uFillTx/>
              </a:rPr>
              <a:t>1step</a:t>
            </a:r>
            <a:r>
              <a:rPr kumimoji="0" lang="ko-KR" altLang="en-US" sz="600" b="0" i="0" u="none" strike="noStrike" kern="0" cap="none" spc="0" normalizeH="0" baseline="0" noProof="0" dirty="0">
                <a:ln>
                  <a:noFill/>
                </a:ln>
                <a:solidFill>
                  <a:srgbClr val="4B5563"/>
                </a:solidFill>
                <a:effectLst/>
                <a:uLnTx/>
                <a:uFillTx/>
              </a:rPr>
              <a:t>에 한 </a:t>
            </a:r>
            <a:r>
              <a:rPr kumimoji="0" lang="ko-KR" altLang="en-US" sz="600" b="0" i="0" u="none" strike="noStrike" kern="0" cap="none" spc="0" normalizeH="0" baseline="0" noProof="0" dirty="0" err="1">
                <a:ln>
                  <a:noFill/>
                </a:ln>
                <a:solidFill>
                  <a:srgbClr val="4B5563"/>
                </a:solidFill>
                <a:effectLst/>
                <a:uLnTx/>
                <a:uFillTx/>
              </a:rPr>
              <a:t>토큰씩</a:t>
            </a:r>
            <a:r>
              <a:rPr kumimoji="0" lang="ko-KR" altLang="en-US" sz="600" b="0" i="0" u="none" strike="noStrike" kern="0" cap="none" spc="0" normalizeH="0" baseline="0" noProof="0" dirty="0">
                <a:ln>
                  <a:noFill/>
                </a:ln>
                <a:solidFill>
                  <a:srgbClr val="4B5563"/>
                </a:solidFill>
                <a:effectLst/>
                <a:uLnTx/>
                <a:uFillTx/>
              </a:rPr>
              <a:t> 생성</a:t>
            </a:r>
            <a:endParaRPr kumimoji="0" lang="en-US" sz="600" b="0" i="0" u="none" strike="noStrike" kern="0" cap="none" spc="0" normalizeH="0" baseline="0" noProof="0" dirty="0">
              <a:ln>
                <a:noFill/>
              </a:ln>
              <a:solidFill>
                <a:srgbClr val="1F2937"/>
              </a:solidFill>
              <a:effectLst/>
              <a:uLnTx/>
              <a:uFillTx/>
            </a:endParaRPr>
          </a:p>
        </p:txBody>
      </p:sp>
    </p:spTree>
    <p:extLst>
      <p:ext uri="{BB962C8B-B14F-4D97-AF65-F5344CB8AC3E}">
        <p14:creationId xmlns:p14="http://schemas.microsoft.com/office/powerpoint/2010/main" val="188481516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Architecture </a:t>
            </a:r>
            <a:r>
              <a:rPr lang="ko-KR" altLang="en-US" dirty="0"/>
              <a:t>분석 </a:t>
            </a:r>
            <a:r>
              <a:rPr lang="en-US" altLang="ko-KR" dirty="0"/>
              <a:t>– ASR</a:t>
            </a:r>
            <a:r>
              <a:rPr lang="ko-KR" altLang="en-US" dirty="0"/>
              <a:t>과 </a:t>
            </a:r>
            <a:r>
              <a:rPr lang="en-US" altLang="ko-KR" dirty="0"/>
              <a:t>DP </a:t>
            </a:r>
            <a:r>
              <a:rPr lang="ko-KR" altLang="en-US" dirty="0"/>
              <a:t>간의 연결성</a:t>
            </a:r>
          </a:p>
        </p:txBody>
      </p:sp>
      <p:sp>
        <p:nvSpPr>
          <p:cNvPr id="93" name="DP2 9001">
            <a:extLst>
              <a:ext uri="{FF2B5EF4-FFF2-40B4-BE49-F238E27FC236}">
                <a16:creationId xmlns:a16="http://schemas.microsoft.com/office/drawing/2014/main" id="{7CA6CCB6-F8B1-4DE6-B029-37A2E6B43850}"/>
              </a:ext>
            </a:extLst>
          </p:cNvPr>
          <p:cNvSpPr/>
          <p:nvPr/>
        </p:nvSpPr>
        <p:spPr>
          <a:xfrm>
            <a:off x="4732488" y="719407"/>
            <a:ext cx="2889304" cy="361505"/>
          </a:xfrm>
          <a:prstGeom prst="round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wrap="square" lIns="27432" tIns="7315" rIns="27432" bIns="7315" anchor="ctr">
            <a:noAutofit/>
          </a:bodyPr>
          <a:lstStyle/>
          <a:p>
            <a:pPr algn="ctr">
              <a:lnSpc>
                <a:spcPct val="120000"/>
              </a:lnSpc>
            </a:pPr>
            <a:r>
              <a:rPr lang="en-US" altLang="ko-KR" sz="1000" b="1" dirty="0">
                <a:solidFill>
                  <a:srgbClr val="1F3864"/>
                </a:solidFill>
                <a:latin typeface="맑은 고딕" panose="020B0503020000020004" pitchFamily="50" charset="-127"/>
                <a:ea typeface="맑은 고딕" panose="020B0503020000020004" pitchFamily="50" charset="-127"/>
              </a:rPr>
              <a:t>KV </a:t>
            </a:r>
            <a:r>
              <a:rPr lang="ko-KR" altLang="en-US" sz="1000" b="1" dirty="0">
                <a:solidFill>
                  <a:srgbClr val="1F3864"/>
                </a:solidFill>
                <a:latin typeface="맑은 고딕" panose="020B0503020000020004" pitchFamily="50" charset="-127"/>
                <a:ea typeface="맑은 고딕" panose="020B0503020000020004" pitchFamily="50" charset="-127"/>
              </a:rPr>
              <a:t>캐시의 크기가 점점 커진다</a:t>
            </a:r>
            <a:endParaRPr lang="en-US" altLang="ko-KR" sz="1000" b="1" i="0" dirty="0">
              <a:solidFill>
                <a:schemeClr val="tx1">
                  <a:lumMod val="50000"/>
                  <a:lumOff val="50000"/>
                </a:schemeClr>
              </a:solidFill>
              <a:latin typeface="맑은 고딕" panose="020B0503020000020004" pitchFamily="50" charset="-127"/>
              <a:ea typeface="맑은 고딕" panose="020B0503020000020004" pitchFamily="50" charset="-127"/>
            </a:endParaRPr>
          </a:p>
        </p:txBody>
      </p:sp>
      <p:cxnSp>
        <p:nvCxnSpPr>
          <p:cNvPr id="94" name="꺾인 연결선 7">
            <a:extLst>
              <a:ext uri="{FF2B5EF4-FFF2-40B4-BE49-F238E27FC236}">
                <a16:creationId xmlns:a16="http://schemas.microsoft.com/office/drawing/2014/main" id="{9CB709F5-2C9D-43AD-A069-8DC36D6D325B}"/>
              </a:ext>
            </a:extLst>
          </p:cNvPr>
          <p:cNvCxnSpPr>
            <a:cxnSpLocks/>
            <a:stCxn id="93" idx="2"/>
            <a:endCxn id="21" idx="0"/>
          </p:cNvCxnSpPr>
          <p:nvPr/>
        </p:nvCxnSpPr>
        <p:spPr>
          <a:xfrm>
            <a:off x="6177140" y="1080912"/>
            <a:ext cx="0" cy="22998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꺾인 연결선 335">
            <a:extLst>
              <a:ext uri="{FF2B5EF4-FFF2-40B4-BE49-F238E27FC236}">
                <a16:creationId xmlns:a16="http://schemas.microsoft.com/office/drawing/2014/main" id="{CA95B265-D511-4FE2-B652-6105286CE775}"/>
              </a:ext>
            </a:extLst>
          </p:cNvPr>
          <p:cNvCxnSpPr>
            <a:cxnSpLocks/>
            <a:stCxn id="4" idx="2"/>
            <a:endCxn id="26" idx="0"/>
          </p:cNvCxnSpPr>
          <p:nvPr/>
        </p:nvCxnSpPr>
        <p:spPr>
          <a:xfrm flipH="1">
            <a:off x="3569834" y="4095693"/>
            <a:ext cx="3170" cy="75175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 name="모서리가 둥근 직사각형 3"/>
          <p:cNvSpPr/>
          <p:nvPr/>
        </p:nvSpPr>
        <p:spPr>
          <a:xfrm>
            <a:off x="1839318" y="2422422"/>
            <a:ext cx="3467371" cy="1673271"/>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ko-KR" altLang="en-US" dirty="0"/>
              <a:t>이기종 메모리 환경에서 </a:t>
            </a:r>
            <a:endParaRPr lang="en-US" altLang="ko-KR" dirty="0"/>
          </a:p>
          <a:p>
            <a:pPr algn="ctr">
              <a:lnSpc>
                <a:spcPct val="125000"/>
              </a:lnSpc>
            </a:pPr>
            <a:r>
              <a:rPr lang="ko-KR" altLang="en-US" dirty="0"/>
              <a:t>어떤 데이터를 언제</a:t>
            </a:r>
            <a:r>
              <a:rPr lang="en-US" altLang="ko-KR" dirty="0"/>
              <a:t>, </a:t>
            </a:r>
            <a:r>
              <a:rPr lang="ko-KR" altLang="en-US" dirty="0"/>
              <a:t>어디에 </a:t>
            </a:r>
            <a:endParaRPr lang="en-US" altLang="ko-KR" dirty="0"/>
          </a:p>
          <a:p>
            <a:pPr algn="ctr">
              <a:lnSpc>
                <a:spcPct val="125000"/>
              </a:lnSpc>
            </a:pPr>
            <a:r>
              <a:rPr lang="ko-KR" altLang="en-US" dirty="0"/>
              <a:t>위치할 것인가</a:t>
            </a:r>
            <a:r>
              <a:rPr lang="en-US" altLang="ko-KR" dirty="0"/>
              <a:t>? </a:t>
            </a:r>
          </a:p>
          <a:p>
            <a:pPr algn="ctr">
              <a:lnSpc>
                <a:spcPct val="125000"/>
              </a:lnSpc>
            </a:pPr>
            <a:r>
              <a:rPr lang="en-US" altLang="ko-KR" b="1" dirty="0">
                <a:solidFill>
                  <a:schemeClr val="accent1"/>
                </a:solidFill>
              </a:rPr>
              <a:t>(DP1)</a:t>
            </a:r>
            <a:endParaRPr lang="ko-KR" altLang="en-US" b="1" dirty="0">
              <a:solidFill>
                <a:schemeClr val="accent1"/>
              </a:solidFill>
            </a:endParaRPr>
          </a:p>
        </p:txBody>
      </p:sp>
      <p:sp>
        <p:nvSpPr>
          <p:cNvPr id="26" name="모서리가 둥근 직사각형 25"/>
          <p:cNvSpPr/>
          <p:nvPr/>
        </p:nvSpPr>
        <p:spPr>
          <a:xfrm>
            <a:off x="1836148" y="4847448"/>
            <a:ext cx="3467371" cy="1673271"/>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ko-KR" altLang="en-US" dirty="0"/>
              <a:t>이기종 메모리 환경에서</a:t>
            </a:r>
            <a:endParaRPr lang="en-US" altLang="ko-KR" dirty="0"/>
          </a:p>
          <a:p>
            <a:pPr algn="ctr">
              <a:lnSpc>
                <a:spcPct val="125000"/>
              </a:lnSpc>
            </a:pPr>
            <a:r>
              <a:rPr lang="en-US" altLang="ko-KR" dirty="0"/>
              <a:t>Prefill/Decode </a:t>
            </a:r>
            <a:r>
              <a:rPr lang="ko-KR" altLang="en-US" dirty="0"/>
              <a:t>연산을 </a:t>
            </a:r>
            <a:endParaRPr lang="en-US" altLang="ko-KR" dirty="0"/>
          </a:p>
          <a:p>
            <a:pPr algn="ctr">
              <a:lnSpc>
                <a:spcPct val="125000"/>
              </a:lnSpc>
            </a:pPr>
            <a:r>
              <a:rPr lang="ko-KR" altLang="en-US" dirty="0"/>
              <a:t>어디서 수행할 것인가</a:t>
            </a:r>
            <a:r>
              <a:rPr lang="en-US" altLang="ko-KR" dirty="0"/>
              <a:t>? </a:t>
            </a:r>
          </a:p>
          <a:p>
            <a:pPr algn="ctr">
              <a:lnSpc>
                <a:spcPct val="125000"/>
              </a:lnSpc>
            </a:pPr>
            <a:r>
              <a:rPr lang="en-US" altLang="ko-KR" b="1" dirty="0">
                <a:solidFill>
                  <a:schemeClr val="accent1"/>
                </a:solidFill>
              </a:rPr>
              <a:t>(DP2)</a:t>
            </a:r>
          </a:p>
        </p:txBody>
      </p:sp>
      <p:sp>
        <p:nvSpPr>
          <p:cNvPr id="27" name="모서리가 둥근 직사각형 26"/>
          <p:cNvSpPr/>
          <p:nvPr/>
        </p:nvSpPr>
        <p:spPr>
          <a:xfrm>
            <a:off x="6892814" y="2411003"/>
            <a:ext cx="3466235" cy="173196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en-US" altLang="ko-KR" dirty="0"/>
              <a:t>KV </a:t>
            </a:r>
            <a:r>
              <a:rPr lang="ko-KR" altLang="en-US" dirty="0"/>
              <a:t>캐시를 생성하지 않고 </a:t>
            </a:r>
            <a:endParaRPr lang="en-US" altLang="ko-KR" dirty="0"/>
          </a:p>
          <a:p>
            <a:pPr algn="ctr">
              <a:lnSpc>
                <a:spcPct val="125000"/>
              </a:lnSpc>
            </a:pPr>
            <a:r>
              <a:rPr lang="ko-KR" altLang="en-US" dirty="0"/>
              <a:t>기존 보유한 </a:t>
            </a:r>
            <a:r>
              <a:rPr lang="en-US" altLang="ko-KR" dirty="0"/>
              <a:t>KV</a:t>
            </a:r>
            <a:r>
              <a:rPr lang="ko-KR" altLang="en-US" dirty="0"/>
              <a:t>의 </a:t>
            </a:r>
            <a:r>
              <a:rPr lang="ko-KR" altLang="en-US" dirty="0" err="1"/>
              <a:t>재사용률을</a:t>
            </a:r>
            <a:r>
              <a:rPr lang="ko-KR" altLang="en-US" dirty="0"/>
              <a:t> </a:t>
            </a:r>
            <a:endParaRPr lang="en-US" altLang="ko-KR" dirty="0"/>
          </a:p>
          <a:p>
            <a:pPr algn="ctr">
              <a:lnSpc>
                <a:spcPct val="125000"/>
              </a:lnSpc>
            </a:pPr>
            <a:r>
              <a:rPr lang="ko-KR" altLang="en-US" dirty="0"/>
              <a:t>높여 해결할 수 있을까</a:t>
            </a:r>
            <a:r>
              <a:rPr lang="en-US" altLang="ko-KR" dirty="0"/>
              <a:t>? </a:t>
            </a:r>
          </a:p>
          <a:p>
            <a:pPr algn="ctr">
              <a:lnSpc>
                <a:spcPct val="125000"/>
              </a:lnSpc>
            </a:pPr>
            <a:r>
              <a:rPr lang="en-US" altLang="ko-KR" b="1" dirty="0">
                <a:solidFill>
                  <a:schemeClr val="accent1"/>
                </a:solidFill>
              </a:rPr>
              <a:t>(DP3)</a:t>
            </a:r>
          </a:p>
        </p:txBody>
      </p:sp>
      <p:cxnSp>
        <p:nvCxnSpPr>
          <p:cNvPr id="6" name="직선 화살표 연결선 5"/>
          <p:cNvCxnSpPr>
            <a:stCxn id="21" idx="2"/>
            <a:endCxn id="27" idx="0"/>
          </p:cNvCxnSpPr>
          <p:nvPr/>
        </p:nvCxnSpPr>
        <p:spPr>
          <a:xfrm rot="16200000" flipH="1">
            <a:off x="7032236" y="817306"/>
            <a:ext cx="738601" cy="2448792"/>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모서리가 둥근 직사각형 36"/>
          <p:cNvSpPr/>
          <p:nvPr/>
        </p:nvSpPr>
        <p:spPr>
          <a:xfrm>
            <a:off x="6900333" y="4847448"/>
            <a:ext cx="3458716" cy="1673271"/>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lnSpc>
                <a:spcPct val="125000"/>
              </a:lnSpc>
            </a:pPr>
            <a:r>
              <a:rPr lang="ko-KR" altLang="en-US" dirty="0"/>
              <a:t>서버 간 </a:t>
            </a:r>
            <a:r>
              <a:rPr lang="en-US" altLang="ko-KR" dirty="0"/>
              <a:t>KV </a:t>
            </a:r>
            <a:r>
              <a:rPr lang="ko-KR" altLang="en-US" dirty="0"/>
              <a:t>전송 비용을 </a:t>
            </a:r>
            <a:endParaRPr lang="en-US" altLang="ko-KR" dirty="0"/>
          </a:p>
          <a:p>
            <a:pPr algn="ctr">
              <a:lnSpc>
                <a:spcPct val="125000"/>
              </a:lnSpc>
            </a:pPr>
            <a:r>
              <a:rPr lang="ko-KR" altLang="en-US" dirty="0"/>
              <a:t>줄이기 위해 공유 메모리 </a:t>
            </a:r>
            <a:endParaRPr lang="en-US" altLang="ko-KR" dirty="0"/>
          </a:p>
          <a:p>
            <a:pPr algn="ctr">
              <a:lnSpc>
                <a:spcPct val="125000"/>
              </a:lnSpc>
            </a:pPr>
            <a:r>
              <a:rPr lang="ko-KR" altLang="en-US" dirty="0"/>
              <a:t>구조를 둘 수 있을까</a:t>
            </a:r>
            <a:r>
              <a:rPr lang="en-US" altLang="ko-KR" dirty="0"/>
              <a:t>?</a:t>
            </a:r>
          </a:p>
          <a:p>
            <a:pPr algn="ctr">
              <a:lnSpc>
                <a:spcPct val="125000"/>
              </a:lnSpc>
            </a:pPr>
            <a:r>
              <a:rPr lang="en-US" altLang="ko-KR" b="1" dirty="0">
                <a:solidFill>
                  <a:schemeClr val="accent1"/>
                </a:solidFill>
              </a:rPr>
              <a:t>(DP4)</a:t>
            </a:r>
          </a:p>
        </p:txBody>
      </p:sp>
      <p:cxnSp>
        <p:nvCxnSpPr>
          <p:cNvPr id="41" name="직선 화살표 연결선 40"/>
          <p:cNvCxnSpPr>
            <a:cxnSpLocks/>
            <a:stCxn id="26" idx="3"/>
            <a:endCxn id="37" idx="1"/>
          </p:cNvCxnSpPr>
          <p:nvPr/>
        </p:nvCxnSpPr>
        <p:spPr>
          <a:xfrm>
            <a:off x="5303519" y="5684084"/>
            <a:ext cx="1596814"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85CD19AA-B1AF-4EB1-8EBE-F63058DB88AE}"/>
              </a:ext>
            </a:extLst>
          </p:cNvPr>
          <p:cNvSpPr txBox="1"/>
          <p:nvPr/>
        </p:nvSpPr>
        <p:spPr>
          <a:xfrm>
            <a:off x="5354766" y="5253196"/>
            <a:ext cx="1494320" cy="430887"/>
          </a:xfrm>
          <a:prstGeom prst="rect">
            <a:avLst/>
          </a:prstGeom>
          <a:noFill/>
        </p:spPr>
        <p:txBody>
          <a:bodyPr wrap="none" rtlCol="0">
            <a:spAutoFit/>
          </a:bodyPr>
          <a:lstStyle/>
          <a:p>
            <a:pPr algn="ctr"/>
            <a:r>
              <a:rPr lang="ko-KR" altLang="en-US" sz="1100" dirty="0"/>
              <a:t>그럼에도 여전히 </a:t>
            </a:r>
            <a:endParaRPr lang="en-US" altLang="ko-KR" sz="1100" dirty="0"/>
          </a:p>
          <a:p>
            <a:pPr algn="ctr"/>
            <a:r>
              <a:rPr lang="en-US" altLang="ko-KR" sz="1100" dirty="0"/>
              <a:t>KV</a:t>
            </a:r>
            <a:r>
              <a:rPr lang="ko-KR" altLang="en-US" sz="1100" dirty="0"/>
              <a:t> 캐시 전송이 병목</a:t>
            </a:r>
          </a:p>
        </p:txBody>
      </p:sp>
      <p:sp>
        <p:nvSpPr>
          <p:cNvPr id="7" name="직사각형 6"/>
          <p:cNvSpPr/>
          <p:nvPr/>
        </p:nvSpPr>
        <p:spPr>
          <a:xfrm>
            <a:off x="3349004" y="1927324"/>
            <a:ext cx="1215247" cy="51881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tx1"/>
                </a:solidFill>
              </a:rPr>
              <a:t>분산 배치</a:t>
            </a:r>
          </a:p>
        </p:txBody>
      </p:sp>
      <p:sp>
        <p:nvSpPr>
          <p:cNvPr id="23" name="직사각형 22"/>
          <p:cNvSpPr/>
          <p:nvPr/>
        </p:nvSpPr>
        <p:spPr>
          <a:xfrm>
            <a:off x="3184169" y="4313680"/>
            <a:ext cx="2137105" cy="3463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tx1"/>
                </a:solidFill>
              </a:rPr>
              <a:t>여러 메모리 자원에 </a:t>
            </a:r>
            <a:endParaRPr lang="en-US" altLang="ko-KR" sz="1100" dirty="0">
              <a:solidFill>
                <a:schemeClr val="tx1"/>
              </a:solidFill>
            </a:endParaRPr>
          </a:p>
          <a:p>
            <a:pPr algn="ctr"/>
            <a:r>
              <a:rPr lang="ko-KR" altLang="en-US" sz="1100" dirty="0">
                <a:solidFill>
                  <a:schemeClr val="tx1"/>
                </a:solidFill>
              </a:rPr>
              <a:t>분산 배치된 </a:t>
            </a:r>
            <a:r>
              <a:rPr lang="en-US" altLang="ko-KR" sz="1100" dirty="0">
                <a:solidFill>
                  <a:schemeClr val="tx1"/>
                </a:solidFill>
              </a:rPr>
              <a:t>KV </a:t>
            </a:r>
            <a:r>
              <a:rPr lang="ko-KR" altLang="en-US" sz="1100" dirty="0">
                <a:solidFill>
                  <a:schemeClr val="tx1"/>
                </a:solidFill>
              </a:rPr>
              <a:t>캐시</a:t>
            </a:r>
            <a:endParaRPr lang="en-US" altLang="ko-KR" sz="1100" dirty="0">
              <a:solidFill>
                <a:schemeClr val="tx1"/>
              </a:solidFill>
            </a:endParaRPr>
          </a:p>
        </p:txBody>
      </p:sp>
      <p:sp>
        <p:nvSpPr>
          <p:cNvPr id="40" name="직사각형 39"/>
          <p:cNvSpPr/>
          <p:nvPr/>
        </p:nvSpPr>
        <p:spPr>
          <a:xfrm>
            <a:off x="7726643" y="2049429"/>
            <a:ext cx="1007588" cy="2746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tx1"/>
                </a:solidFill>
              </a:rPr>
              <a:t>Data reuse</a:t>
            </a:r>
            <a:endParaRPr lang="ko-KR" altLang="en-US" sz="1100" dirty="0">
              <a:solidFill>
                <a:schemeClr val="tx1"/>
              </a:solidFill>
            </a:endParaRPr>
          </a:p>
        </p:txBody>
      </p:sp>
      <p:sp>
        <p:nvSpPr>
          <p:cNvPr id="21" name="DP2 9001">
            <a:extLst>
              <a:ext uri="{FF2B5EF4-FFF2-40B4-BE49-F238E27FC236}">
                <a16:creationId xmlns:a16="http://schemas.microsoft.com/office/drawing/2014/main" id="{BF099738-C647-467A-8848-BF9CDE6B359C}"/>
              </a:ext>
            </a:extLst>
          </p:cNvPr>
          <p:cNvSpPr/>
          <p:nvPr/>
        </p:nvSpPr>
        <p:spPr>
          <a:xfrm>
            <a:off x="4732488" y="1310897"/>
            <a:ext cx="2889303" cy="361505"/>
          </a:xfrm>
          <a:prstGeom prst="roundRect">
            <a:avLst/>
          </a:prstGeom>
          <a:solidFill>
            <a:schemeClr val="accent2">
              <a:lumMod val="20000"/>
              <a:lumOff val="80000"/>
            </a:schemeClr>
          </a:solidFill>
          <a:ln/>
        </p:spPr>
        <p:style>
          <a:lnRef idx="2">
            <a:schemeClr val="dk1"/>
          </a:lnRef>
          <a:fillRef idx="1">
            <a:schemeClr val="lt1"/>
          </a:fillRef>
          <a:effectRef idx="0">
            <a:schemeClr val="dk1"/>
          </a:effectRef>
          <a:fontRef idx="minor">
            <a:schemeClr val="dk1"/>
          </a:fontRef>
        </p:style>
        <p:txBody>
          <a:bodyPr wrap="square" lIns="27432" tIns="7315" rIns="27432" bIns="7315" anchor="ctr">
            <a:noAutofit/>
          </a:bodyPr>
          <a:lstStyle/>
          <a:p>
            <a:pPr algn="ctr">
              <a:lnSpc>
                <a:spcPct val="120000"/>
              </a:lnSpc>
            </a:pPr>
            <a:r>
              <a:rPr lang="ko-KR" altLang="en-US" sz="1000" b="1" i="0" dirty="0">
                <a:solidFill>
                  <a:srgbClr val="1F3864"/>
                </a:solidFill>
                <a:latin typeface="맑은 고딕" panose="020B0503020000020004" pitchFamily="50" charset="-127"/>
                <a:ea typeface="맑은 고딕" panose="020B0503020000020004" pitchFamily="50" charset="-127"/>
              </a:rPr>
              <a:t>이기종 메모리 활용해서 해결하자</a:t>
            </a:r>
            <a:endParaRPr lang="en-US" altLang="ko-KR" sz="1000" b="1" i="0" dirty="0">
              <a:solidFill>
                <a:schemeClr val="tx1">
                  <a:lumMod val="50000"/>
                  <a:lumOff val="50000"/>
                </a:schemeClr>
              </a:solidFill>
              <a:latin typeface="맑은 고딕" panose="020B0503020000020004" pitchFamily="50" charset="-127"/>
              <a:ea typeface="맑은 고딕" panose="020B0503020000020004" pitchFamily="50" charset="-127"/>
            </a:endParaRPr>
          </a:p>
        </p:txBody>
      </p:sp>
      <p:sp>
        <p:nvSpPr>
          <p:cNvPr id="17" name="직사각형 16"/>
          <p:cNvSpPr/>
          <p:nvPr/>
        </p:nvSpPr>
        <p:spPr>
          <a:xfrm>
            <a:off x="4145280" y="762673"/>
            <a:ext cx="620996" cy="2662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b="1" dirty="0">
                <a:solidFill>
                  <a:schemeClr val="tx1"/>
                </a:solidFill>
              </a:rPr>
              <a:t>문제</a:t>
            </a:r>
            <a:endParaRPr lang="en-US" altLang="ko-KR" sz="1100" b="1" dirty="0">
              <a:solidFill>
                <a:schemeClr val="tx1"/>
              </a:solidFill>
            </a:endParaRPr>
          </a:p>
        </p:txBody>
      </p:sp>
      <p:sp>
        <p:nvSpPr>
          <p:cNvPr id="58" name="직사각형 57"/>
          <p:cNvSpPr/>
          <p:nvPr/>
        </p:nvSpPr>
        <p:spPr>
          <a:xfrm>
            <a:off x="3404455" y="1381408"/>
            <a:ext cx="1361821" cy="2662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b="1" dirty="0">
                <a:solidFill>
                  <a:schemeClr val="tx1"/>
                </a:solidFill>
              </a:rPr>
              <a:t>비즈니스 드라이버</a:t>
            </a:r>
          </a:p>
        </p:txBody>
      </p:sp>
      <p:cxnSp>
        <p:nvCxnSpPr>
          <p:cNvPr id="63" name="직선 화살표 연결선 5"/>
          <p:cNvCxnSpPr>
            <a:stCxn id="21" idx="2"/>
            <a:endCxn id="4" idx="0"/>
          </p:cNvCxnSpPr>
          <p:nvPr/>
        </p:nvCxnSpPr>
        <p:spPr>
          <a:xfrm rot="5400000">
            <a:off x="4500062" y="745344"/>
            <a:ext cx="750020" cy="260413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6957173"/>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Architecture </a:t>
            </a:r>
            <a:r>
              <a:rPr lang="ko-KR" altLang="en-US" dirty="0"/>
              <a:t>분석 </a:t>
            </a:r>
            <a:r>
              <a:rPr lang="en-US" altLang="ko-KR" dirty="0"/>
              <a:t>– (DP </a:t>
            </a:r>
            <a:r>
              <a:rPr lang="ko-KR" altLang="en-US" dirty="0"/>
              <a:t>연결성</a:t>
            </a:r>
            <a:r>
              <a:rPr lang="en-US" altLang="ko-KR" dirty="0"/>
              <a:t>, ASR</a:t>
            </a:r>
            <a:r>
              <a:rPr lang="ko-KR" altLang="en-US" dirty="0"/>
              <a:t>관점</a:t>
            </a:r>
            <a:r>
              <a:rPr lang="en-US" altLang="ko-KR" dirty="0"/>
              <a:t>, Biz driver)</a:t>
            </a:r>
            <a:endParaRPr lang="ko-KR" altLang="en-US" dirty="0"/>
          </a:p>
        </p:txBody>
      </p:sp>
      <p:sp>
        <p:nvSpPr>
          <p:cNvPr id="93" name="DP2 9001">
            <a:extLst>
              <a:ext uri="{FF2B5EF4-FFF2-40B4-BE49-F238E27FC236}">
                <a16:creationId xmlns:a16="http://schemas.microsoft.com/office/drawing/2014/main" id="{7CA6CCB6-F8B1-4DE6-B029-37A2E6B43850}"/>
              </a:ext>
            </a:extLst>
          </p:cNvPr>
          <p:cNvSpPr/>
          <p:nvPr/>
        </p:nvSpPr>
        <p:spPr>
          <a:xfrm>
            <a:off x="55601" y="3456118"/>
            <a:ext cx="1248822" cy="397655"/>
          </a:xfrm>
          <a:prstGeom prst="roundRect">
            <a:avLst/>
          </a:prstGeom>
          <a:ln/>
        </p:spPr>
        <p:style>
          <a:lnRef idx="2">
            <a:schemeClr val="dk1"/>
          </a:lnRef>
          <a:fillRef idx="1">
            <a:schemeClr val="lt1"/>
          </a:fillRef>
          <a:effectRef idx="0">
            <a:schemeClr val="dk1"/>
          </a:effectRef>
          <a:fontRef idx="minor">
            <a:schemeClr val="dk1"/>
          </a:fontRef>
        </p:style>
        <p:txBody>
          <a:bodyPr wrap="square" lIns="27432" tIns="7315" rIns="27432" bIns="7315" anchor="ctr">
            <a:noAutofit/>
          </a:bodyPr>
          <a:lstStyle/>
          <a:p>
            <a:pPr algn="ctr">
              <a:lnSpc>
                <a:spcPct val="120000"/>
              </a:lnSpc>
            </a:pPr>
            <a:r>
              <a:rPr lang="en-US" altLang="ko-KR" sz="1000" b="1" dirty="0">
                <a:solidFill>
                  <a:srgbClr val="1F3864"/>
                </a:solidFill>
                <a:latin typeface="맑은 고딕" panose="020B0503020000020004" pitchFamily="50" charset="-127"/>
                <a:ea typeface="맑은 고딕" panose="020B0503020000020004" pitchFamily="50" charset="-127"/>
              </a:rPr>
              <a:t>KV </a:t>
            </a:r>
            <a:r>
              <a:rPr lang="ko-KR" altLang="en-US" sz="1000" b="1" dirty="0">
                <a:solidFill>
                  <a:srgbClr val="1F3864"/>
                </a:solidFill>
                <a:latin typeface="맑은 고딕" panose="020B0503020000020004" pitchFamily="50" charset="-127"/>
                <a:ea typeface="맑은 고딕" panose="020B0503020000020004" pitchFamily="50" charset="-127"/>
              </a:rPr>
              <a:t>캐시의 크기가 점점 커진다</a:t>
            </a:r>
            <a:endParaRPr lang="en-US" altLang="ko-KR" sz="1000" b="1" i="0" dirty="0">
              <a:solidFill>
                <a:schemeClr val="tx1">
                  <a:lumMod val="50000"/>
                  <a:lumOff val="50000"/>
                </a:schemeClr>
              </a:solidFill>
              <a:latin typeface="맑은 고딕" panose="020B0503020000020004" pitchFamily="50" charset="-127"/>
              <a:ea typeface="맑은 고딕" panose="020B0503020000020004" pitchFamily="50" charset="-127"/>
            </a:endParaRPr>
          </a:p>
        </p:txBody>
      </p:sp>
      <p:cxnSp>
        <p:nvCxnSpPr>
          <p:cNvPr id="94" name="꺾인 연결선 7">
            <a:extLst>
              <a:ext uri="{FF2B5EF4-FFF2-40B4-BE49-F238E27FC236}">
                <a16:creationId xmlns:a16="http://schemas.microsoft.com/office/drawing/2014/main" id="{9CB709F5-2C9D-43AD-A069-8DC36D6D325B}"/>
              </a:ext>
            </a:extLst>
          </p:cNvPr>
          <p:cNvCxnSpPr>
            <a:cxnSpLocks/>
            <a:stCxn id="93" idx="3"/>
            <a:endCxn id="4" idx="1"/>
          </p:cNvCxnSpPr>
          <p:nvPr/>
        </p:nvCxnSpPr>
        <p:spPr>
          <a:xfrm flipV="1">
            <a:off x="1304423" y="1714934"/>
            <a:ext cx="1525496" cy="1940012"/>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꺾인 연결선 335">
            <a:extLst>
              <a:ext uri="{FF2B5EF4-FFF2-40B4-BE49-F238E27FC236}">
                <a16:creationId xmlns:a16="http://schemas.microsoft.com/office/drawing/2014/main" id="{CA95B265-D511-4FE2-B652-6105286CE775}"/>
              </a:ext>
            </a:extLst>
          </p:cNvPr>
          <p:cNvCxnSpPr>
            <a:cxnSpLocks/>
            <a:stCxn id="4" idx="3"/>
            <a:endCxn id="26" idx="1"/>
          </p:cNvCxnSpPr>
          <p:nvPr/>
        </p:nvCxnSpPr>
        <p:spPr>
          <a:xfrm>
            <a:off x="6068665" y="1714934"/>
            <a:ext cx="1822268"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 name="모서리가 둥근 직사각형 3"/>
          <p:cNvSpPr/>
          <p:nvPr/>
        </p:nvSpPr>
        <p:spPr>
          <a:xfrm>
            <a:off x="2829919" y="794635"/>
            <a:ext cx="3238746" cy="1840598"/>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ltLang="ko-KR" b="1" dirty="0">
                <a:solidFill>
                  <a:schemeClr val="accent1"/>
                </a:solidFill>
              </a:rPr>
              <a:t>DP1</a:t>
            </a:r>
          </a:p>
          <a:p>
            <a:pPr algn="ctr"/>
            <a:r>
              <a:rPr lang="ko-KR" altLang="en-US" dirty="0"/>
              <a:t>이기종 메모리 환경에서 </a:t>
            </a:r>
            <a:endParaRPr lang="en-US" altLang="ko-KR" dirty="0"/>
          </a:p>
          <a:p>
            <a:pPr algn="ctr"/>
            <a:r>
              <a:rPr lang="ko-KR" altLang="en-US" dirty="0"/>
              <a:t>어떤 데이터를 언제</a:t>
            </a:r>
            <a:r>
              <a:rPr lang="en-US" altLang="ko-KR" dirty="0"/>
              <a:t>, </a:t>
            </a:r>
            <a:r>
              <a:rPr lang="ko-KR" altLang="en-US" dirty="0"/>
              <a:t>어디에 위치할 것인가</a:t>
            </a:r>
            <a:r>
              <a:rPr lang="en-US" altLang="ko-KR" dirty="0"/>
              <a:t>? </a:t>
            </a:r>
            <a:endParaRPr lang="ko-KR" altLang="en-US" dirty="0"/>
          </a:p>
        </p:txBody>
      </p:sp>
      <p:sp>
        <p:nvSpPr>
          <p:cNvPr id="26" name="모서리가 둥근 직사각형 25"/>
          <p:cNvSpPr/>
          <p:nvPr/>
        </p:nvSpPr>
        <p:spPr>
          <a:xfrm>
            <a:off x="7890933" y="794635"/>
            <a:ext cx="3238746" cy="184059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ko-KR" b="1" dirty="0">
                <a:solidFill>
                  <a:schemeClr val="accent1"/>
                </a:solidFill>
              </a:rPr>
              <a:t>DP2</a:t>
            </a:r>
          </a:p>
          <a:p>
            <a:pPr algn="ctr"/>
            <a:r>
              <a:rPr lang="ko-KR" altLang="en-US" dirty="0"/>
              <a:t>이기종 메모리 환경에서</a:t>
            </a:r>
            <a:endParaRPr lang="en-US" altLang="ko-KR" dirty="0"/>
          </a:p>
          <a:p>
            <a:pPr algn="ctr"/>
            <a:r>
              <a:rPr lang="en-US" altLang="ko-KR" dirty="0"/>
              <a:t>Prefill/Decode </a:t>
            </a:r>
            <a:r>
              <a:rPr lang="ko-KR" altLang="en-US" dirty="0"/>
              <a:t>연산을 </a:t>
            </a:r>
            <a:endParaRPr lang="en-US" altLang="ko-KR" dirty="0"/>
          </a:p>
          <a:p>
            <a:pPr algn="ctr"/>
            <a:r>
              <a:rPr lang="ko-KR" altLang="en-US" dirty="0"/>
              <a:t>어디서 수행할 것인가</a:t>
            </a:r>
            <a:r>
              <a:rPr lang="en-US" altLang="ko-KR" dirty="0"/>
              <a:t>? </a:t>
            </a:r>
          </a:p>
        </p:txBody>
      </p:sp>
      <p:sp>
        <p:nvSpPr>
          <p:cNvPr id="27" name="모서리가 둥근 직사각형 26"/>
          <p:cNvSpPr/>
          <p:nvPr/>
        </p:nvSpPr>
        <p:spPr>
          <a:xfrm>
            <a:off x="2829919" y="4465894"/>
            <a:ext cx="3812858" cy="184059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ko-KR" b="1" dirty="0">
                <a:solidFill>
                  <a:schemeClr val="accent1"/>
                </a:solidFill>
              </a:rPr>
              <a:t>DP3</a:t>
            </a:r>
          </a:p>
          <a:p>
            <a:pPr algn="ctr"/>
            <a:r>
              <a:rPr lang="en-US" altLang="ko-KR" dirty="0"/>
              <a:t>KV </a:t>
            </a:r>
            <a:r>
              <a:rPr lang="ko-KR" altLang="en-US" dirty="0"/>
              <a:t>캐시를 생성하지 않고 </a:t>
            </a:r>
            <a:endParaRPr lang="en-US" altLang="ko-KR" dirty="0"/>
          </a:p>
          <a:p>
            <a:pPr algn="ctr"/>
            <a:r>
              <a:rPr lang="ko-KR" altLang="en-US" dirty="0"/>
              <a:t>기존 보유한 </a:t>
            </a:r>
            <a:r>
              <a:rPr lang="en-US" altLang="ko-KR" dirty="0"/>
              <a:t>KV</a:t>
            </a:r>
            <a:r>
              <a:rPr lang="ko-KR" altLang="en-US" dirty="0"/>
              <a:t>의 </a:t>
            </a:r>
            <a:r>
              <a:rPr lang="ko-KR" altLang="en-US" dirty="0" err="1"/>
              <a:t>재사용률을</a:t>
            </a:r>
            <a:r>
              <a:rPr lang="ko-KR" altLang="en-US" dirty="0"/>
              <a:t> </a:t>
            </a:r>
            <a:endParaRPr lang="en-US" altLang="ko-KR" dirty="0"/>
          </a:p>
          <a:p>
            <a:pPr algn="ctr"/>
            <a:r>
              <a:rPr lang="ko-KR" altLang="en-US" dirty="0"/>
              <a:t>높여 해결할 수 있을까</a:t>
            </a:r>
            <a:r>
              <a:rPr lang="en-US" altLang="ko-KR" dirty="0"/>
              <a:t>? </a:t>
            </a:r>
            <a:endParaRPr lang="ko-KR" altLang="en-US" dirty="0"/>
          </a:p>
        </p:txBody>
      </p:sp>
      <p:cxnSp>
        <p:nvCxnSpPr>
          <p:cNvPr id="6" name="직선 화살표 연결선 5"/>
          <p:cNvCxnSpPr>
            <a:stCxn id="93" idx="3"/>
            <a:endCxn id="27" idx="1"/>
          </p:cNvCxnSpPr>
          <p:nvPr/>
        </p:nvCxnSpPr>
        <p:spPr>
          <a:xfrm>
            <a:off x="1304423" y="3654946"/>
            <a:ext cx="1525496" cy="1731247"/>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모서리가 둥근 직사각형 36"/>
          <p:cNvSpPr/>
          <p:nvPr/>
        </p:nvSpPr>
        <p:spPr>
          <a:xfrm>
            <a:off x="7890933" y="4498573"/>
            <a:ext cx="3238746" cy="1840598"/>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ltLang="ko-KR" b="1" dirty="0">
                <a:solidFill>
                  <a:schemeClr val="accent1"/>
                </a:solidFill>
              </a:rPr>
              <a:t>DP4</a:t>
            </a:r>
          </a:p>
          <a:p>
            <a:pPr algn="ctr"/>
            <a:r>
              <a:rPr lang="ko-KR" altLang="en-US" dirty="0"/>
              <a:t>서버 간 </a:t>
            </a:r>
            <a:r>
              <a:rPr lang="en-US" altLang="ko-KR" dirty="0"/>
              <a:t>KV </a:t>
            </a:r>
            <a:r>
              <a:rPr lang="ko-KR" altLang="en-US" dirty="0"/>
              <a:t>캐시 공유 구조 </a:t>
            </a:r>
            <a:endParaRPr lang="en-US" altLang="ko-KR" dirty="0"/>
          </a:p>
          <a:p>
            <a:pPr algn="ctr"/>
            <a:r>
              <a:rPr lang="en-US" altLang="ko-KR" dirty="0"/>
              <a:t>?</a:t>
            </a:r>
          </a:p>
        </p:txBody>
      </p:sp>
      <p:cxnSp>
        <p:nvCxnSpPr>
          <p:cNvPr id="41" name="직선 화살표 연결선 40"/>
          <p:cNvCxnSpPr>
            <a:cxnSpLocks/>
            <a:stCxn id="26" idx="2"/>
            <a:endCxn id="37" idx="0"/>
          </p:cNvCxnSpPr>
          <p:nvPr/>
        </p:nvCxnSpPr>
        <p:spPr>
          <a:xfrm>
            <a:off x="9510306" y="2635233"/>
            <a:ext cx="0" cy="186334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85CD19AA-B1AF-4EB1-8EBE-F63058DB88AE}"/>
              </a:ext>
            </a:extLst>
          </p:cNvPr>
          <p:cNvSpPr txBox="1"/>
          <p:nvPr/>
        </p:nvSpPr>
        <p:spPr>
          <a:xfrm>
            <a:off x="9510306" y="3456118"/>
            <a:ext cx="1494320" cy="430887"/>
          </a:xfrm>
          <a:prstGeom prst="rect">
            <a:avLst/>
          </a:prstGeom>
          <a:noFill/>
        </p:spPr>
        <p:txBody>
          <a:bodyPr wrap="none" rtlCol="0">
            <a:spAutoFit/>
          </a:bodyPr>
          <a:lstStyle/>
          <a:p>
            <a:pPr algn="ctr"/>
            <a:r>
              <a:rPr lang="ko-KR" altLang="en-US" sz="1100" dirty="0"/>
              <a:t>그럼에도 여전히 </a:t>
            </a:r>
            <a:endParaRPr lang="en-US" altLang="ko-KR" sz="1100" dirty="0"/>
          </a:p>
          <a:p>
            <a:pPr algn="ctr"/>
            <a:r>
              <a:rPr lang="en-US" altLang="ko-KR" sz="1100" dirty="0"/>
              <a:t>KV</a:t>
            </a:r>
            <a:r>
              <a:rPr lang="ko-KR" altLang="en-US" sz="1100" dirty="0"/>
              <a:t> 캐시 전송이 병목</a:t>
            </a:r>
          </a:p>
        </p:txBody>
      </p:sp>
      <p:sp>
        <p:nvSpPr>
          <p:cNvPr id="7" name="직사각형 6"/>
          <p:cNvSpPr/>
          <p:nvPr/>
        </p:nvSpPr>
        <p:spPr>
          <a:xfrm>
            <a:off x="1062321" y="2166122"/>
            <a:ext cx="1215247" cy="51881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tx1"/>
                </a:solidFill>
              </a:rPr>
              <a:t>분산 배치</a:t>
            </a:r>
          </a:p>
        </p:txBody>
      </p:sp>
      <p:sp>
        <p:nvSpPr>
          <p:cNvPr id="23" name="직사각형 22"/>
          <p:cNvSpPr/>
          <p:nvPr/>
        </p:nvSpPr>
        <p:spPr>
          <a:xfrm>
            <a:off x="5602415" y="1313452"/>
            <a:ext cx="2137105" cy="3463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a:solidFill>
                  <a:schemeClr val="tx1"/>
                </a:solidFill>
              </a:rPr>
              <a:t>여러 메모리 자원에 </a:t>
            </a:r>
            <a:endParaRPr lang="en-US" altLang="ko-KR" sz="1100" dirty="0">
              <a:solidFill>
                <a:schemeClr val="tx1"/>
              </a:solidFill>
            </a:endParaRPr>
          </a:p>
          <a:p>
            <a:pPr algn="ctr"/>
            <a:r>
              <a:rPr lang="ko-KR" altLang="en-US" sz="1100" dirty="0">
                <a:solidFill>
                  <a:schemeClr val="tx1"/>
                </a:solidFill>
              </a:rPr>
              <a:t>분산 배치된 </a:t>
            </a:r>
            <a:r>
              <a:rPr lang="en-US" altLang="ko-KR" sz="1100" dirty="0">
                <a:solidFill>
                  <a:schemeClr val="tx1"/>
                </a:solidFill>
              </a:rPr>
              <a:t>KV </a:t>
            </a:r>
            <a:r>
              <a:rPr lang="ko-KR" altLang="en-US" sz="1100" dirty="0">
                <a:solidFill>
                  <a:schemeClr val="tx1"/>
                </a:solidFill>
              </a:rPr>
              <a:t>캐시</a:t>
            </a:r>
            <a:endParaRPr lang="en-US" altLang="ko-KR" sz="1100" dirty="0">
              <a:solidFill>
                <a:schemeClr val="tx1"/>
              </a:solidFill>
            </a:endParaRPr>
          </a:p>
        </p:txBody>
      </p:sp>
      <p:sp>
        <p:nvSpPr>
          <p:cNvPr id="40" name="직사각형 39"/>
          <p:cNvSpPr/>
          <p:nvPr/>
        </p:nvSpPr>
        <p:spPr>
          <a:xfrm>
            <a:off x="973612" y="4335492"/>
            <a:ext cx="1619252" cy="990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tx1"/>
                </a:solidFill>
              </a:rPr>
              <a:t>Data reuse</a:t>
            </a:r>
            <a:endParaRPr lang="ko-KR" altLang="en-US" sz="1100" dirty="0">
              <a:solidFill>
                <a:schemeClr val="tx1"/>
              </a:solidFill>
            </a:endParaRPr>
          </a:p>
        </p:txBody>
      </p:sp>
      <p:sp>
        <p:nvSpPr>
          <p:cNvPr id="21" name="DP2 9001">
            <a:extLst>
              <a:ext uri="{FF2B5EF4-FFF2-40B4-BE49-F238E27FC236}">
                <a16:creationId xmlns:a16="http://schemas.microsoft.com/office/drawing/2014/main" id="{BF099738-C647-467A-8848-BF9CDE6B359C}"/>
              </a:ext>
            </a:extLst>
          </p:cNvPr>
          <p:cNvSpPr/>
          <p:nvPr/>
        </p:nvSpPr>
        <p:spPr>
          <a:xfrm>
            <a:off x="1581098" y="3456118"/>
            <a:ext cx="1248822" cy="397655"/>
          </a:xfrm>
          <a:prstGeom prst="roundRect">
            <a:avLst/>
          </a:prstGeom>
          <a:ln/>
        </p:spPr>
        <p:style>
          <a:lnRef idx="2">
            <a:schemeClr val="dk1"/>
          </a:lnRef>
          <a:fillRef idx="1">
            <a:schemeClr val="lt1"/>
          </a:fillRef>
          <a:effectRef idx="0">
            <a:schemeClr val="dk1"/>
          </a:effectRef>
          <a:fontRef idx="minor">
            <a:schemeClr val="dk1"/>
          </a:fontRef>
        </p:style>
        <p:txBody>
          <a:bodyPr wrap="square" lIns="27432" tIns="7315" rIns="27432" bIns="7315" anchor="ctr">
            <a:noAutofit/>
          </a:bodyPr>
          <a:lstStyle/>
          <a:p>
            <a:pPr algn="ctr">
              <a:lnSpc>
                <a:spcPct val="120000"/>
              </a:lnSpc>
            </a:pPr>
            <a:r>
              <a:rPr lang="ko-KR" altLang="en-US" sz="1000" b="1" i="0" dirty="0">
                <a:solidFill>
                  <a:srgbClr val="1F3864"/>
                </a:solidFill>
                <a:latin typeface="맑은 고딕" panose="020B0503020000020004" pitchFamily="50" charset="-127"/>
                <a:ea typeface="맑은 고딕" panose="020B0503020000020004" pitchFamily="50" charset="-127"/>
              </a:rPr>
              <a:t>이기종 메모리 활용</a:t>
            </a:r>
            <a:endParaRPr lang="en-US" altLang="ko-KR" sz="1000" b="1" i="0" dirty="0">
              <a:solidFill>
                <a:schemeClr val="tx1">
                  <a:lumMod val="50000"/>
                  <a:lumOff val="50000"/>
                </a:schemeClr>
              </a:solidFill>
              <a:latin typeface="맑은 고딕" panose="020B0503020000020004" pitchFamily="50" charset="-127"/>
              <a:ea typeface="맑은 고딕" panose="020B0503020000020004" pitchFamily="50" charset="-127"/>
            </a:endParaRPr>
          </a:p>
        </p:txBody>
      </p:sp>
      <p:sp>
        <p:nvSpPr>
          <p:cNvPr id="17" name="직사각형 16"/>
          <p:cNvSpPr/>
          <p:nvPr/>
        </p:nvSpPr>
        <p:spPr>
          <a:xfrm>
            <a:off x="289486" y="3166659"/>
            <a:ext cx="781052" cy="2662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a:solidFill>
                  <a:schemeClr val="tx1"/>
                </a:solidFill>
              </a:rPr>
              <a:t>문제</a:t>
            </a:r>
            <a:endParaRPr lang="ko-KR" altLang="en-US" sz="1100" dirty="0">
              <a:solidFill>
                <a:schemeClr val="tx1"/>
              </a:solidFill>
            </a:endParaRPr>
          </a:p>
        </p:txBody>
      </p:sp>
    </p:spTree>
    <p:extLst>
      <p:ext uri="{BB962C8B-B14F-4D97-AF65-F5344CB8AC3E}">
        <p14:creationId xmlns:p14="http://schemas.microsoft.com/office/powerpoint/2010/main" val="33173066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요청 처리 기본 경로 – Class / Sequence (vLLM 기준선)</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22</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21792"/>
            <a:ext cx="8138160" cy="329184"/>
          </a:xfrm>
          <a:prstGeom prst="rect">
            <a:avLst/>
          </a:prstGeom>
          <a:noFill/>
        </p:spPr>
        <p:txBody>
          <a:bodyPr wrap="square" lIns="36576" tIns="18288" rIns="36576" bIns="18288" anchor="ctr">
            <a:spAutoFit/>
          </a:bodyPr>
          <a:lstStyle/>
          <a:p>
            <a:pPr algn="l">
              <a:spcAft>
                <a:spcPts val="0"/>
              </a:spcAft>
            </a:pPr>
            <a:r>
              <a:rPr sz="1200" b="1" i="0">
                <a:solidFill>
                  <a:srgbClr val="FFFFFF"/>
                </a:solidFill>
                <a:latin typeface="맑은 고딕"/>
                <a:ea typeface="맑은 고딕"/>
                <a:cs typeface="맑은 고딕"/>
              </a:rPr>
              <a:t>요청 처리 기본 경로 (vLLM 기준선)</a:t>
            </a:r>
          </a:p>
        </p:txBody>
      </p:sp>
      <p:sp>
        <p:nvSpPr>
          <p:cNvPr id="7" name="Rounded Rectangle 6"/>
          <p:cNvSpPr/>
          <p:nvPr/>
        </p:nvSpPr>
        <p:spPr>
          <a:xfrm>
            <a:off x="11466576"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8" name="Rounded Rectangle 7"/>
          <p:cNvSpPr/>
          <p:nvPr/>
        </p:nvSpPr>
        <p:spPr>
          <a:xfrm>
            <a:off x="11000232"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FR03</a:t>
            </a:r>
          </a:p>
        </p:txBody>
      </p:sp>
      <p:sp>
        <p:nvSpPr>
          <p:cNvPr id="9" name="Rounded Rectangle 8"/>
          <p:cNvSpPr/>
          <p:nvPr/>
        </p:nvSpPr>
        <p:spPr>
          <a:xfrm>
            <a:off x="10533888"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FR02</a:t>
            </a:r>
          </a:p>
        </p:txBody>
      </p:sp>
      <p:sp>
        <p:nvSpPr>
          <p:cNvPr id="10" name="Rounded Rectangle 9"/>
          <p:cNvSpPr/>
          <p:nvPr/>
        </p:nvSpPr>
        <p:spPr>
          <a:xfrm>
            <a:off x="10067544"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FR01</a:t>
            </a:r>
          </a:p>
        </p:txBody>
      </p:sp>
      <p:sp>
        <p:nvSpPr>
          <p:cNvPr id="11" name="Rectangle 10"/>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Class Diagram: 요청 처리 기본 경로 (vLLM 기준선)</a:t>
            </a:r>
          </a:p>
        </p:txBody>
      </p:sp>
      <p:sp>
        <p:nvSpPr>
          <p:cNvPr id="12" name="Rectangle 11"/>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Sequence Diagram: 요청 처리 기본 경로 (vLLM 기준선)</a:t>
            </a:r>
          </a:p>
        </p:txBody>
      </p:sp>
      <p:sp>
        <p:nvSpPr>
          <p:cNvPr id="13" name="Rectangle 12"/>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65760" y="150876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AsyncLLM</a:t>
            </a:r>
          </a:p>
        </p:txBody>
      </p:sp>
      <p:sp>
        <p:nvSpPr>
          <p:cNvPr id="16" name="Rectangle 15"/>
          <p:cNvSpPr/>
          <p:nvPr/>
        </p:nvSpPr>
        <p:spPr>
          <a:xfrm>
            <a:off x="365760" y="1691639"/>
            <a:ext cx="1600200" cy="369417"/>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input_processor</a:t>
            </a:r>
          </a:p>
          <a:p>
            <a:pPr algn="l">
              <a:spcAft>
                <a:spcPts val="0"/>
              </a:spcAft>
            </a:pPr>
            <a:r>
              <a:rPr sz="650" b="0" i="0">
                <a:solidFill>
                  <a:srgbClr val="000000"/>
                </a:solidFill>
                <a:latin typeface="맑은 고딕"/>
                <a:ea typeface="맑은 고딕"/>
                <a:cs typeface="맑은 고딕"/>
              </a:rPr>
              <a:t>output_processor</a:t>
            </a:r>
          </a:p>
          <a:p>
            <a:pPr algn="l">
              <a:spcAft>
                <a:spcPts val="0"/>
              </a:spcAft>
            </a:pPr>
            <a:r>
              <a:rPr sz="650" b="0" i="0">
                <a:solidFill>
                  <a:srgbClr val="000000"/>
                </a:solidFill>
                <a:latin typeface="맑은 고딕"/>
                <a:ea typeface="맑은 고딕"/>
                <a:cs typeface="맑은 고딕"/>
              </a:rPr>
              <a:t>engine_core: EngineCoreClient</a:t>
            </a:r>
          </a:p>
        </p:txBody>
      </p:sp>
      <p:sp>
        <p:nvSpPr>
          <p:cNvPr id="17" name="Rectangle 16"/>
          <p:cNvSpPr/>
          <p:nvPr/>
        </p:nvSpPr>
        <p:spPr>
          <a:xfrm>
            <a:off x="365760" y="2061057"/>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generate(prompt, params)</a:t>
            </a:r>
          </a:p>
          <a:p>
            <a:pPr algn="l">
              <a:spcAft>
                <a:spcPts val="0"/>
              </a:spcAft>
            </a:pPr>
            <a:r>
              <a:rPr sz="650" b="0" i="0">
                <a:solidFill>
                  <a:srgbClr val="000000"/>
                </a:solidFill>
                <a:latin typeface="맑은 고딕"/>
                <a:ea typeface="맑은 고딕"/>
                <a:cs typeface="맑은 고딕"/>
              </a:rPr>
              <a:t>add_request(...)</a:t>
            </a:r>
          </a:p>
        </p:txBody>
      </p:sp>
      <p:sp>
        <p:nvSpPr>
          <p:cNvPr id="18" name="Rectangle 17"/>
          <p:cNvSpPr/>
          <p:nvPr/>
        </p:nvSpPr>
        <p:spPr>
          <a:xfrm>
            <a:off x="2267712" y="150876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InputProcessor</a:t>
            </a:r>
          </a:p>
        </p:txBody>
      </p:sp>
      <p:sp>
        <p:nvSpPr>
          <p:cNvPr id="19" name="Rectangle 18"/>
          <p:cNvSpPr/>
          <p:nvPr/>
        </p:nvSpPr>
        <p:spPr>
          <a:xfrm>
            <a:off x="2267712" y="1691639"/>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267712" y="173736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process_inputs(...): EngineCoreRequest</a:t>
            </a:r>
          </a:p>
        </p:txBody>
      </p:sp>
      <p:sp>
        <p:nvSpPr>
          <p:cNvPr id="21" name="Rectangle 20"/>
          <p:cNvSpPr/>
          <p:nvPr/>
        </p:nvSpPr>
        <p:spPr>
          <a:xfrm>
            <a:off x="4169663" y="150876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OutputProcessor</a:t>
            </a:r>
          </a:p>
        </p:txBody>
      </p:sp>
      <p:sp>
        <p:nvSpPr>
          <p:cNvPr id="22" name="Rectangle 21"/>
          <p:cNvSpPr/>
          <p:nvPr/>
        </p:nvSpPr>
        <p:spPr>
          <a:xfrm>
            <a:off x="4169663" y="1691639"/>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request_states</a:t>
            </a:r>
          </a:p>
        </p:txBody>
      </p:sp>
      <p:sp>
        <p:nvSpPr>
          <p:cNvPr id="23" name="Rectangle 22"/>
          <p:cNvSpPr/>
          <p:nvPr/>
        </p:nvSpPr>
        <p:spPr>
          <a:xfrm>
            <a:off x="4169663" y="1845259"/>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add_request(...)</a:t>
            </a:r>
          </a:p>
          <a:p>
            <a:pPr algn="l">
              <a:spcAft>
                <a:spcPts val="0"/>
              </a:spcAft>
            </a:pPr>
            <a:r>
              <a:rPr sz="650" b="0" i="0">
                <a:solidFill>
                  <a:srgbClr val="000000"/>
                </a:solidFill>
                <a:latin typeface="맑은 고딕"/>
                <a:ea typeface="맑은 고딕"/>
                <a:cs typeface="맑은 고딕"/>
              </a:rPr>
              <a:t>process_outputs(...)</a:t>
            </a:r>
          </a:p>
        </p:txBody>
      </p:sp>
      <p:sp>
        <p:nvSpPr>
          <p:cNvPr id="24" name="Rectangle 23"/>
          <p:cNvSpPr/>
          <p:nvPr/>
        </p:nvSpPr>
        <p:spPr>
          <a:xfrm>
            <a:off x="365760" y="2971800"/>
            <a:ext cx="1600200" cy="27432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«AsyncMPClient»</a:t>
            </a:r>
          </a:p>
          <a:p>
            <a:pPr algn="ctr">
              <a:spcAft>
                <a:spcPts val="0"/>
              </a:spcAft>
            </a:pPr>
            <a:r>
              <a:rPr sz="750" b="1" i="0">
                <a:solidFill>
                  <a:srgbClr val="000000"/>
                </a:solidFill>
                <a:latin typeface="맑은 고딕"/>
                <a:ea typeface="맑은 고딕"/>
                <a:cs typeface="맑은 고딕"/>
              </a:rPr>
              <a:t>EngineCoreClient</a:t>
            </a:r>
          </a:p>
        </p:txBody>
      </p:sp>
      <p:sp>
        <p:nvSpPr>
          <p:cNvPr id="25" name="Rectangle 24"/>
          <p:cNvSpPr/>
          <p:nvPr/>
        </p:nvSpPr>
        <p:spPr>
          <a:xfrm>
            <a:off x="365760" y="324612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365760" y="3291839"/>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add_request_async(request)</a:t>
            </a:r>
          </a:p>
          <a:p>
            <a:pPr algn="l">
              <a:spcAft>
                <a:spcPts val="0"/>
              </a:spcAft>
            </a:pPr>
            <a:r>
              <a:rPr sz="650" b="0" i="0">
                <a:solidFill>
                  <a:srgbClr val="000000"/>
                </a:solidFill>
                <a:latin typeface="맑은 고딕"/>
                <a:ea typeface="맑은 고딕"/>
                <a:cs typeface="맑은 고딕"/>
              </a:rPr>
              <a:t>get_output_async()</a:t>
            </a:r>
          </a:p>
        </p:txBody>
      </p:sp>
      <p:sp>
        <p:nvSpPr>
          <p:cNvPr id="27" name="Rectangle 26"/>
          <p:cNvSpPr/>
          <p:nvPr/>
        </p:nvSpPr>
        <p:spPr>
          <a:xfrm>
            <a:off x="2267712" y="297180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EngineCore</a:t>
            </a:r>
          </a:p>
        </p:txBody>
      </p:sp>
      <p:sp>
        <p:nvSpPr>
          <p:cNvPr id="28" name="Rectangle 27"/>
          <p:cNvSpPr/>
          <p:nvPr/>
        </p:nvSpPr>
        <p:spPr>
          <a:xfrm>
            <a:off x="2267712" y="3154680"/>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scheduler</a:t>
            </a:r>
          </a:p>
          <a:p>
            <a:pPr algn="l">
              <a:spcAft>
                <a:spcPts val="0"/>
              </a:spcAft>
            </a:pPr>
            <a:r>
              <a:rPr sz="650" b="0" i="0">
                <a:solidFill>
                  <a:srgbClr val="000000"/>
                </a:solidFill>
                <a:latin typeface="맑은 고딕"/>
                <a:ea typeface="맑은 고딕"/>
                <a:cs typeface="맑은 고딕"/>
              </a:rPr>
              <a:t>model_executor</a:t>
            </a:r>
          </a:p>
        </p:txBody>
      </p:sp>
      <p:sp>
        <p:nvSpPr>
          <p:cNvPr id="29" name="Rectangle 28"/>
          <p:cNvSpPr/>
          <p:nvPr/>
        </p:nvSpPr>
        <p:spPr>
          <a:xfrm>
            <a:off x="2267712" y="3416198"/>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step()</a:t>
            </a:r>
          </a:p>
          <a:p>
            <a:pPr algn="l">
              <a:spcAft>
                <a:spcPts val="0"/>
              </a:spcAft>
            </a:pPr>
            <a:r>
              <a:rPr sz="650" b="0" i="0">
                <a:solidFill>
                  <a:srgbClr val="000000"/>
                </a:solidFill>
                <a:latin typeface="맑은 고딕"/>
                <a:ea typeface="맑은 고딕"/>
                <a:cs typeface="맑은 고딕"/>
              </a:rPr>
              <a:t>add_request(request)</a:t>
            </a:r>
          </a:p>
        </p:txBody>
      </p:sp>
      <p:sp>
        <p:nvSpPr>
          <p:cNvPr id="30" name="Rectangle 29"/>
          <p:cNvSpPr/>
          <p:nvPr/>
        </p:nvSpPr>
        <p:spPr>
          <a:xfrm>
            <a:off x="4169663" y="29718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31" name="Rectangle 30"/>
          <p:cNvSpPr/>
          <p:nvPr/>
        </p:nvSpPr>
        <p:spPr>
          <a:xfrm>
            <a:off x="4169663" y="31546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kv_cache_manager</a:t>
            </a:r>
          </a:p>
        </p:txBody>
      </p:sp>
      <p:sp>
        <p:nvSpPr>
          <p:cNvPr id="32" name="Rectangle 31"/>
          <p:cNvSpPr/>
          <p:nvPr/>
        </p:nvSpPr>
        <p:spPr>
          <a:xfrm>
            <a:off x="4169663" y="330829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 SchedulerOutput</a:t>
            </a:r>
          </a:p>
          <a:p>
            <a:pPr algn="l">
              <a:spcAft>
                <a:spcPts val="0"/>
              </a:spcAft>
            </a:pPr>
            <a:r>
              <a:rPr sz="650" b="0" i="0">
                <a:solidFill>
                  <a:srgbClr val="000000"/>
                </a:solidFill>
                <a:latin typeface="맑은 고딕"/>
                <a:ea typeface="맑은 고딕"/>
                <a:cs typeface="맑은 고딕"/>
              </a:rPr>
              <a:t>update_from_output(...)</a:t>
            </a:r>
          </a:p>
        </p:txBody>
      </p:sp>
      <p:sp>
        <p:nvSpPr>
          <p:cNvPr id="33" name="Rectangle 32"/>
          <p:cNvSpPr/>
          <p:nvPr/>
        </p:nvSpPr>
        <p:spPr>
          <a:xfrm>
            <a:off x="365760" y="4434840"/>
            <a:ext cx="1600200" cy="27432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«abstract»</a:t>
            </a:r>
          </a:p>
          <a:p>
            <a:pPr algn="ctr">
              <a:spcAft>
                <a:spcPts val="0"/>
              </a:spcAft>
            </a:pPr>
            <a:r>
              <a:rPr sz="750" b="1" i="0">
                <a:solidFill>
                  <a:srgbClr val="000000"/>
                </a:solidFill>
                <a:latin typeface="맑은 고딕"/>
                <a:ea typeface="맑은 고딕"/>
                <a:cs typeface="맑은 고딕"/>
              </a:rPr>
              <a:t>Executor</a:t>
            </a:r>
          </a:p>
        </p:txBody>
      </p:sp>
      <p:sp>
        <p:nvSpPr>
          <p:cNvPr id="34" name="Rectangle 33"/>
          <p:cNvSpPr/>
          <p:nvPr/>
        </p:nvSpPr>
        <p:spPr>
          <a:xfrm>
            <a:off x="365760" y="4709159"/>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365760" y="4754879"/>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execute_model(SchedulerOutput)</a:t>
            </a:r>
          </a:p>
        </p:txBody>
      </p:sp>
      <p:sp>
        <p:nvSpPr>
          <p:cNvPr id="36" name="Rectangle 35"/>
          <p:cNvSpPr/>
          <p:nvPr/>
        </p:nvSpPr>
        <p:spPr>
          <a:xfrm>
            <a:off x="2267712" y="443484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Worker</a:t>
            </a:r>
          </a:p>
        </p:txBody>
      </p:sp>
      <p:sp>
        <p:nvSpPr>
          <p:cNvPr id="37" name="Rectangle 36"/>
          <p:cNvSpPr/>
          <p:nvPr/>
        </p:nvSpPr>
        <p:spPr>
          <a:xfrm>
            <a:off x="2267712" y="461772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model_runner: GPUModelRunner</a:t>
            </a:r>
          </a:p>
        </p:txBody>
      </p:sp>
      <p:sp>
        <p:nvSpPr>
          <p:cNvPr id="38" name="Rectangle 37"/>
          <p:cNvSpPr/>
          <p:nvPr/>
        </p:nvSpPr>
        <p:spPr>
          <a:xfrm>
            <a:off x="2267712" y="4771339"/>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execute_model(...)</a:t>
            </a:r>
          </a:p>
          <a:p>
            <a:pPr algn="l">
              <a:spcAft>
                <a:spcPts val="0"/>
              </a:spcAft>
            </a:pPr>
            <a:r>
              <a:rPr sz="650" b="0" i="0">
                <a:solidFill>
                  <a:srgbClr val="000000"/>
                </a:solidFill>
                <a:latin typeface="맑은 고딕"/>
                <a:ea typeface="맑은 고딕"/>
                <a:cs typeface="맑은 고딕"/>
              </a:rPr>
              <a:t>sample_tokens(...)</a:t>
            </a:r>
          </a:p>
        </p:txBody>
      </p:sp>
      <p:sp>
        <p:nvSpPr>
          <p:cNvPr id="39" name="Rectangle 38"/>
          <p:cNvSpPr/>
          <p:nvPr/>
        </p:nvSpPr>
        <p:spPr>
          <a:xfrm>
            <a:off x="4169663" y="443484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KVCacheManager</a:t>
            </a:r>
          </a:p>
        </p:txBody>
      </p:sp>
      <p:sp>
        <p:nvSpPr>
          <p:cNvPr id="40" name="Rectangle 39"/>
          <p:cNvSpPr/>
          <p:nvPr/>
        </p:nvSpPr>
        <p:spPr>
          <a:xfrm>
            <a:off x="4169663" y="461772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block_pool</a:t>
            </a:r>
          </a:p>
        </p:txBody>
      </p:sp>
      <p:sp>
        <p:nvSpPr>
          <p:cNvPr id="41" name="Rectangle 40"/>
          <p:cNvSpPr/>
          <p:nvPr/>
        </p:nvSpPr>
        <p:spPr>
          <a:xfrm>
            <a:off x="4169663" y="4771339"/>
            <a:ext cx="1600200" cy="369417"/>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get_computed_blocks(request)</a:t>
            </a:r>
          </a:p>
          <a:p>
            <a:pPr algn="l">
              <a:spcAft>
                <a:spcPts val="0"/>
              </a:spcAft>
            </a:pPr>
            <a:r>
              <a:rPr sz="650" b="0" i="0">
                <a:solidFill>
                  <a:srgbClr val="000000"/>
                </a:solidFill>
                <a:latin typeface="맑은 고딕"/>
                <a:ea typeface="맑은 고딕"/>
                <a:cs typeface="맑은 고딕"/>
              </a:rPr>
              <a:t>allocate_slots(...)</a:t>
            </a:r>
          </a:p>
          <a:p>
            <a:pPr algn="l">
              <a:spcAft>
                <a:spcPts val="0"/>
              </a:spcAft>
            </a:pPr>
            <a:r>
              <a:rPr sz="650" b="0" i="0">
                <a:solidFill>
                  <a:srgbClr val="000000"/>
                </a:solidFill>
                <a:latin typeface="맑은 고딕"/>
                <a:ea typeface="맑은 고딕"/>
                <a:cs typeface="맑은 고딕"/>
              </a:rPr>
              <a:t>free(request)</a:t>
            </a:r>
          </a:p>
        </p:txBody>
      </p:sp>
      <p:cxnSp>
        <p:nvCxnSpPr>
          <p:cNvPr id="42" name="Connector 41"/>
          <p:cNvCxnSpPr/>
          <p:nvPr/>
        </p:nvCxnSpPr>
        <p:spPr>
          <a:xfrm flipV="1">
            <a:off x="1965960" y="1699869"/>
            <a:ext cx="301752" cy="215798"/>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65860" y="2322576"/>
            <a:ext cx="0" cy="64922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04011" y="257403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uses</a:t>
            </a:r>
          </a:p>
        </p:txBody>
      </p:sp>
      <p:cxnSp>
        <p:nvCxnSpPr>
          <p:cNvPr id="45" name="Connector 44"/>
          <p:cNvCxnSpPr/>
          <p:nvPr/>
        </p:nvCxnSpPr>
        <p:spPr>
          <a:xfrm>
            <a:off x="1965960" y="3262579"/>
            <a:ext cx="301752" cy="6217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867912" y="3270808"/>
            <a:ext cx="301751" cy="53950"/>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969764" y="3569817"/>
            <a:ext cx="0" cy="86502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784598" y="3929176"/>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alloc</a:t>
            </a:r>
          </a:p>
        </p:txBody>
      </p:sp>
      <p:cxnSp>
        <p:nvCxnSpPr>
          <p:cNvPr id="49" name="Connector 48"/>
          <p:cNvCxnSpPr/>
          <p:nvPr/>
        </p:nvCxnSpPr>
        <p:spPr>
          <a:xfrm flipH="1">
            <a:off x="1645920" y="3677716"/>
            <a:ext cx="941832" cy="75712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954987" y="398312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exec</a:t>
            </a:r>
          </a:p>
        </p:txBody>
      </p:sp>
      <p:cxnSp>
        <p:nvCxnSpPr>
          <p:cNvPr id="51" name="Connector 50"/>
          <p:cNvCxnSpPr/>
          <p:nvPr/>
        </p:nvCxnSpPr>
        <p:spPr>
          <a:xfrm>
            <a:off x="1965960" y="4671669"/>
            <a:ext cx="301752" cy="6217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65760" y="5806440"/>
            <a:ext cx="5486400" cy="64008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기존 vLLM v1 경로. 노란색 Scheduler는 DP2(Plan 검증)·DP3(Admission)·DP1(Connector)이 schedule() 안에서 호출되는 확장점</a:t>
            </a:r>
          </a:p>
          <a:p>
            <a:pPr algn="l">
              <a:spcAft>
                <a:spcPts val="0"/>
              </a:spcAft>
            </a:pPr>
            <a:r>
              <a:rPr sz="600" b="0" i="0">
                <a:solidFill>
                  <a:srgbClr val="7F7F7F"/>
                </a:solidFill>
                <a:latin typeface="맑은 고딕"/>
                <a:ea typeface="맑은 고딕"/>
                <a:cs typeface="맑은 고딕"/>
              </a:rPr>
              <a:t>• 근거: vllm/v1/engine/{async_llm,core,core_client}.py, core/sched/scheduler.py, executor/abstract.py</a:t>
            </a:r>
          </a:p>
        </p:txBody>
      </p:sp>
      <p:sp>
        <p:nvSpPr>
          <p:cNvPr id="53" name="Rectangle 52"/>
          <p:cNvSpPr/>
          <p:nvPr/>
        </p:nvSpPr>
        <p:spPr>
          <a:xfrm>
            <a:off x="6208776" y="1463040"/>
            <a:ext cx="749808" cy="310896"/>
          </a:xfrm>
          <a:prstGeom prst="rect">
            <a:avLst/>
          </a:prstGeom>
          <a:solidFill>
            <a:srgbClr val="F2F2F2"/>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Client</a:t>
            </a:r>
          </a:p>
        </p:txBody>
      </p:sp>
      <p:cxnSp>
        <p:nvCxnSpPr>
          <p:cNvPr id="54" name="Connector 53"/>
          <p:cNvCxnSpPr/>
          <p:nvPr/>
        </p:nvCxnSpPr>
        <p:spPr>
          <a:xfrm>
            <a:off x="658368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703173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AsyncLLM</a:t>
            </a:r>
          </a:p>
          <a:p>
            <a:pPr algn="ctr">
              <a:spcAft>
                <a:spcPts val="0"/>
              </a:spcAft>
            </a:pPr>
            <a:r>
              <a:rPr sz="650" b="1" i="0">
                <a:solidFill>
                  <a:srgbClr val="000000"/>
                </a:solidFill>
                <a:latin typeface="맑은 고딕"/>
                <a:ea typeface="맑은 고딕"/>
                <a:cs typeface="맑은 고딕"/>
              </a:rPr>
              <a:t>(+I/O Proc)</a:t>
            </a:r>
          </a:p>
        </p:txBody>
      </p:sp>
      <p:cxnSp>
        <p:nvCxnSpPr>
          <p:cNvPr id="56" name="Connector 55"/>
          <p:cNvCxnSpPr/>
          <p:nvPr/>
        </p:nvCxnSpPr>
        <p:spPr>
          <a:xfrm>
            <a:off x="740664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785469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EngineCore</a:t>
            </a:r>
          </a:p>
          <a:p>
            <a:pPr algn="ctr">
              <a:spcAft>
                <a:spcPts val="0"/>
              </a:spcAft>
            </a:pPr>
            <a:r>
              <a:rPr sz="650" b="1" i="0">
                <a:solidFill>
                  <a:srgbClr val="000000"/>
                </a:solidFill>
                <a:latin typeface="맑은 고딕"/>
                <a:ea typeface="맑은 고딕"/>
                <a:cs typeface="맑은 고딕"/>
              </a:rPr>
              <a:t>Client</a:t>
            </a:r>
          </a:p>
        </p:txBody>
      </p:sp>
      <p:cxnSp>
        <p:nvCxnSpPr>
          <p:cNvPr id="58" name="Connector 57"/>
          <p:cNvCxnSpPr/>
          <p:nvPr/>
        </p:nvCxnSpPr>
        <p:spPr>
          <a:xfrm>
            <a:off x="822960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867765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EngineCore</a:t>
            </a:r>
          </a:p>
        </p:txBody>
      </p:sp>
      <p:cxnSp>
        <p:nvCxnSpPr>
          <p:cNvPr id="60" name="Connector 59"/>
          <p:cNvCxnSpPr/>
          <p:nvPr/>
        </p:nvCxnSpPr>
        <p:spPr>
          <a:xfrm>
            <a:off x="905256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950061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Scheduler</a:t>
            </a:r>
          </a:p>
        </p:txBody>
      </p:sp>
      <p:cxnSp>
        <p:nvCxnSpPr>
          <p:cNvPr id="62" name="Connector 61"/>
          <p:cNvCxnSpPr/>
          <p:nvPr/>
        </p:nvCxnSpPr>
        <p:spPr>
          <a:xfrm>
            <a:off x="987552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1032357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KVCache</a:t>
            </a:r>
          </a:p>
          <a:p>
            <a:pPr algn="ctr">
              <a:spcAft>
                <a:spcPts val="0"/>
              </a:spcAft>
            </a:pPr>
            <a:r>
              <a:rPr sz="650" b="1" i="0">
                <a:solidFill>
                  <a:srgbClr val="000000"/>
                </a:solidFill>
                <a:latin typeface="맑은 고딕"/>
                <a:ea typeface="맑은 고딕"/>
                <a:cs typeface="맑은 고딕"/>
              </a:rPr>
              <a:t>Manager</a:t>
            </a:r>
          </a:p>
        </p:txBody>
      </p:sp>
      <p:cxnSp>
        <p:nvCxnSpPr>
          <p:cNvPr id="64" name="Connector 63"/>
          <p:cNvCxnSpPr/>
          <p:nvPr/>
        </p:nvCxnSpPr>
        <p:spPr>
          <a:xfrm>
            <a:off x="1069848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1114653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Executor</a:t>
            </a:r>
          </a:p>
          <a:p>
            <a:pPr algn="ctr">
              <a:spcAft>
                <a:spcPts val="0"/>
              </a:spcAft>
            </a:pPr>
            <a:r>
              <a:rPr sz="650" b="1" i="0">
                <a:solidFill>
                  <a:srgbClr val="000000"/>
                </a:solidFill>
                <a:latin typeface="맑은 고딕"/>
                <a:ea typeface="맑은 고딕"/>
                <a:cs typeface="맑은 고딕"/>
              </a:rPr>
              <a:t>→ Worker</a:t>
            </a:r>
          </a:p>
        </p:txBody>
      </p:sp>
      <p:cxnSp>
        <p:nvCxnSpPr>
          <p:cNvPr id="66" name="Connector 65"/>
          <p:cNvCxnSpPr/>
          <p:nvPr/>
        </p:nvCxnSpPr>
        <p:spPr>
          <a:xfrm>
            <a:off x="11521440" y="1773936"/>
            <a:ext cx="0" cy="4389120"/>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8706916" y="3296412"/>
            <a:ext cx="3160166" cy="1837944"/>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8706916" y="3296412"/>
            <a:ext cx="100584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loop: engine step</a:t>
            </a:r>
          </a:p>
        </p:txBody>
      </p:sp>
      <p:cxnSp>
        <p:nvCxnSpPr>
          <p:cNvPr id="69" name="Connector 68"/>
          <p:cNvCxnSpPr/>
          <p:nvPr/>
        </p:nvCxnSpPr>
        <p:spPr>
          <a:xfrm>
            <a:off x="6583680" y="210312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368796" y="1947672"/>
            <a:ext cx="1252728"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generate(prompt, params)</a:t>
            </a:r>
          </a:p>
        </p:txBody>
      </p:sp>
      <p:cxnSp>
        <p:nvCxnSpPr>
          <p:cNvPr id="71" name="Connector 70"/>
          <p:cNvCxnSpPr/>
          <p:nvPr/>
        </p:nvCxnSpPr>
        <p:spPr>
          <a:xfrm>
            <a:off x="7406640" y="2290572"/>
            <a:ext cx="256031"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62671" y="2290572"/>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7406640" y="2455164"/>
            <a:ext cx="25603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7699248" y="2253996"/>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process_inputs()</a:t>
            </a:r>
          </a:p>
        </p:txBody>
      </p:sp>
      <p:cxnSp>
        <p:nvCxnSpPr>
          <p:cNvPr id="75" name="Connector 74"/>
          <p:cNvCxnSpPr/>
          <p:nvPr/>
        </p:nvCxnSpPr>
        <p:spPr>
          <a:xfrm>
            <a:off x="7406640" y="2715768"/>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236333" y="2560320"/>
            <a:ext cx="1163574"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add_request_async(req)</a:t>
            </a:r>
          </a:p>
        </p:txBody>
      </p:sp>
      <p:cxnSp>
        <p:nvCxnSpPr>
          <p:cNvPr id="77" name="Connector 76"/>
          <p:cNvCxnSpPr/>
          <p:nvPr/>
        </p:nvCxnSpPr>
        <p:spPr>
          <a:xfrm>
            <a:off x="8229600" y="2976372"/>
            <a:ext cx="82296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8059292" y="2820924"/>
            <a:ext cx="1163574"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ZMQ: EngineCoreRequest</a:t>
            </a:r>
          </a:p>
        </p:txBody>
      </p:sp>
      <p:cxnSp>
        <p:nvCxnSpPr>
          <p:cNvPr id="79" name="Connector 78"/>
          <p:cNvCxnSpPr/>
          <p:nvPr/>
        </p:nvCxnSpPr>
        <p:spPr>
          <a:xfrm>
            <a:off x="9052560" y="323697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9015984" y="3081528"/>
            <a:ext cx="896112"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add_request(req)</a:t>
            </a:r>
          </a:p>
        </p:txBody>
      </p:sp>
      <p:cxnSp>
        <p:nvCxnSpPr>
          <p:cNvPr id="81" name="Connector 80"/>
          <p:cNvCxnSpPr/>
          <p:nvPr/>
        </p:nvCxnSpPr>
        <p:spPr>
          <a:xfrm>
            <a:off x="9052560" y="371703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9052560" y="3561588"/>
            <a:ext cx="82296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schedule()</a:t>
            </a:r>
          </a:p>
        </p:txBody>
      </p:sp>
      <p:cxnSp>
        <p:nvCxnSpPr>
          <p:cNvPr id="83" name="Connector 82"/>
          <p:cNvCxnSpPr/>
          <p:nvPr/>
        </p:nvCxnSpPr>
        <p:spPr>
          <a:xfrm>
            <a:off x="9875520" y="397764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393174" y="3822192"/>
            <a:ext cx="1787651"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get_computed_blocks / allocate_slots</a:t>
            </a:r>
          </a:p>
        </p:txBody>
      </p:sp>
      <p:cxnSp>
        <p:nvCxnSpPr>
          <p:cNvPr id="85" name="Connector 84"/>
          <p:cNvCxnSpPr/>
          <p:nvPr/>
        </p:nvCxnSpPr>
        <p:spPr>
          <a:xfrm flipH="1">
            <a:off x="9052560" y="4238244"/>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9038272" y="4082796"/>
            <a:ext cx="851534"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SchedulerOutput</a:t>
            </a:r>
          </a:p>
        </p:txBody>
      </p:sp>
      <p:cxnSp>
        <p:nvCxnSpPr>
          <p:cNvPr id="87" name="Connector 86"/>
          <p:cNvCxnSpPr/>
          <p:nvPr/>
        </p:nvCxnSpPr>
        <p:spPr>
          <a:xfrm>
            <a:off x="9052560" y="4498848"/>
            <a:ext cx="246888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052559" y="4343400"/>
            <a:ext cx="246888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execute_model(output)</a:t>
            </a:r>
          </a:p>
        </p:txBody>
      </p:sp>
      <p:cxnSp>
        <p:nvCxnSpPr>
          <p:cNvPr id="89" name="Connector 88"/>
          <p:cNvCxnSpPr/>
          <p:nvPr/>
        </p:nvCxnSpPr>
        <p:spPr>
          <a:xfrm flipH="1">
            <a:off x="9052560" y="4759452"/>
            <a:ext cx="246888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9052559" y="4604004"/>
            <a:ext cx="246888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ModelRunnerOutput</a:t>
            </a:r>
          </a:p>
        </p:txBody>
      </p:sp>
      <p:cxnSp>
        <p:nvCxnSpPr>
          <p:cNvPr id="91" name="Connector 90"/>
          <p:cNvCxnSpPr/>
          <p:nvPr/>
        </p:nvCxnSpPr>
        <p:spPr>
          <a:xfrm>
            <a:off x="9052560" y="502005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8926830" y="4864608"/>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update_from_output()</a:t>
            </a:r>
          </a:p>
        </p:txBody>
      </p:sp>
      <p:cxnSp>
        <p:nvCxnSpPr>
          <p:cNvPr id="93" name="Connector 92"/>
          <p:cNvCxnSpPr/>
          <p:nvPr/>
        </p:nvCxnSpPr>
        <p:spPr>
          <a:xfrm flipH="1">
            <a:off x="8229600" y="5390388"/>
            <a:ext cx="82296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8059292" y="5234940"/>
            <a:ext cx="1163574"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ZMQ: EngineCoreOutputs</a:t>
            </a:r>
          </a:p>
        </p:txBody>
      </p:sp>
      <p:cxnSp>
        <p:nvCxnSpPr>
          <p:cNvPr id="95" name="Connector 94"/>
          <p:cNvCxnSpPr/>
          <p:nvPr/>
        </p:nvCxnSpPr>
        <p:spPr>
          <a:xfrm>
            <a:off x="7406640" y="5577840"/>
            <a:ext cx="256031"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7662671" y="5577840"/>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7406640" y="5742432"/>
            <a:ext cx="25603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699248" y="5541264"/>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process_outputs() / detokenize</a:t>
            </a:r>
          </a:p>
        </p:txBody>
      </p:sp>
      <p:cxnSp>
        <p:nvCxnSpPr>
          <p:cNvPr id="99" name="Connector 98"/>
          <p:cNvCxnSpPr/>
          <p:nvPr/>
        </p:nvCxnSpPr>
        <p:spPr>
          <a:xfrm flipH="1">
            <a:off x="6583680" y="6003036"/>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6457950" y="5847588"/>
            <a:ext cx="107442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stream RequestOutput</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DP1 Data Migration </a:t>
            </a:r>
            <a:r>
              <a:rPr dirty="0" err="1"/>
              <a:t>결정</a:t>
            </a:r>
            <a:r>
              <a:rPr dirty="0"/>
              <a:t> – 1안 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24</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pPr algn="l">
              <a:spcAft>
                <a:spcPts val="0"/>
              </a:spcAft>
            </a:pPr>
            <a:r>
              <a:rPr sz="1200" b="1" i="0" dirty="0">
                <a:solidFill>
                  <a:srgbClr val="FFFFFF"/>
                </a:solidFill>
                <a:latin typeface="맑은 고딕"/>
                <a:ea typeface="맑은 고딕"/>
                <a:cs typeface="맑은 고딕"/>
              </a:rPr>
              <a:t>DP1. </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1안</a:t>
            </a:r>
            <a:r>
              <a:rPr lang="en-US" sz="1200" b="1"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상태</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관측·이동</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결정</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통합</a:t>
            </a:r>
            <a:endParaRPr sz="1200" b="1" i="0" dirty="0">
              <a:solidFill>
                <a:srgbClr val="FFFFFF"/>
              </a:solidFill>
              <a:latin typeface="맑은 고딕"/>
              <a:ea typeface="맑은 고딕"/>
              <a:cs typeface="맑은 고딕"/>
            </a:endParaRP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QA-05</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QA-02</a:t>
            </a:r>
          </a:p>
        </p:txBody>
      </p:sp>
      <p:sp>
        <p:nvSpPr>
          <p:cNvPr id="10" name="Rounded Rectangle 9"/>
          <p:cNvSpPr/>
          <p:nvPr/>
        </p:nvSpPr>
        <p:spPr>
          <a:xfrm>
            <a:off x="9793223"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1" name="Rounded Rectangle 10"/>
          <p:cNvSpPr/>
          <p:nvPr/>
        </p:nvSpPr>
        <p:spPr>
          <a:xfrm>
            <a:off x="932687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TelemetryCollector</a:t>
            </a:r>
          </a:p>
        </p:txBody>
      </p:sp>
      <p:sp>
        <p:nvSpPr>
          <p:cNvPr id="17" name="Rectangle 16"/>
          <p:cNvSpPr/>
          <p:nvPr/>
        </p:nvSpPr>
        <p:spPr>
          <a:xfrm>
            <a:off x="365760" y="1691639"/>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17373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collect(): MemoryTelemetry</a:t>
            </a:r>
          </a:p>
        </p:txBody>
      </p:sp>
      <p:sp>
        <p:nvSpPr>
          <p:cNvPr id="19" name="Rectangle 18"/>
          <p:cNvSpPr/>
          <p:nvPr/>
        </p:nvSpPr>
        <p:spPr>
          <a:xfrm>
            <a:off x="2267712"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StateMonitor</a:t>
            </a:r>
          </a:p>
        </p:txBody>
      </p:sp>
      <p:sp>
        <p:nvSpPr>
          <p:cNvPr id="20" name="Rectangle 19"/>
          <p:cNvSpPr/>
          <p:nvPr/>
        </p:nvSpPr>
        <p:spPr>
          <a:xfrm>
            <a:off x="2267712"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usage per tier</a:t>
            </a:r>
          </a:p>
        </p:txBody>
      </p:sp>
      <p:sp>
        <p:nvSpPr>
          <p:cNvPr id="21" name="Rectangle 20"/>
          <p:cNvSpPr/>
          <p:nvPr/>
        </p:nvSpPr>
        <p:spPr>
          <a:xfrm>
            <a:off x="2267712"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observe(): usage, bw_util</a:t>
            </a:r>
          </a:p>
        </p:txBody>
      </p:sp>
      <p:sp>
        <p:nvSpPr>
          <p:cNvPr id="22" name="Rectangle 21"/>
          <p:cNvSpPr/>
          <p:nvPr/>
        </p:nvSpPr>
        <p:spPr>
          <a:xfrm>
            <a:off x="4169663"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ThresholdTrigger</a:t>
            </a:r>
          </a:p>
        </p:txBody>
      </p:sp>
      <p:sp>
        <p:nvSpPr>
          <p:cNvPr id="23" name="Rectangle 22"/>
          <p:cNvSpPr/>
          <p:nvPr/>
        </p:nvSpPr>
        <p:spPr>
          <a:xfrm>
            <a:off x="4169663"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watermark_high/low</a:t>
            </a:r>
          </a:p>
        </p:txBody>
      </p:sp>
      <p:sp>
        <p:nvSpPr>
          <p:cNvPr id="24" name="Rectangle 23"/>
          <p:cNvSpPr/>
          <p:nvPr/>
        </p:nvSpPr>
        <p:spPr>
          <a:xfrm>
            <a:off x="4169663" y="184525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on_usage(usage)</a:t>
            </a:r>
          </a:p>
          <a:p>
            <a:pPr algn="l">
              <a:spcAft>
                <a:spcPts val="0"/>
              </a:spcAft>
            </a:pPr>
            <a:r>
              <a:rPr sz="650" b="0" i="0">
                <a:solidFill>
                  <a:srgbClr val="000000"/>
                </a:solidFill>
                <a:latin typeface="맑은 고딕"/>
                <a:ea typeface="맑은 고딕"/>
                <a:cs typeface="맑은 고딕"/>
              </a:rPr>
              <a:t>// 임계치 교차 시 판단 기동</a:t>
            </a:r>
          </a:p>
        </p:txBody>
      </p:sp>
      <p:sp>
        <p:nvSpPr>
          <p:cNvPr id="25" name="Rectangle 24"/>
          <p:cNvSpPr/>
          <p:nvPr/>
        </p:nvSpPr>
        <p:spPr>
          <a:xfrm>
            <a:off x="365760" y="27432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StateLockManager</a:t>
            </a:r>
          </a:p>
        </p:txBody>
      </p:sp>
      <p:sp>
        <p:nvSpPr>
          <p:cNvPr id="26" name="Rectangle 25"/>
          <p:cNvSpPr/>
          <p:nvPr/>
        </p:nvSpPr>
        <p:spPr>
          <a:xfrm>
            <a:off x="365760" y="29260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lock</a:t>
            </a:r>
          </a:p>
        </p:txBody>
      </p:sp>
      <p:sp>
        <p:nvSpPr>
          <p:cNvPr id="27" name="Rectangle 26"/>
          <p:cNvSpPr/>
          <p:nvPr/>
        </p:nvSpPr>
        <p:spPr>
          <a:xfrm>
            <a:off x="365760" y="307969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acquire(state)</a:t>
            </a:r>
          </a:p>
          <a:p>
            <a:pPr algn="l">
              <a:spcAft>
                <a:spcPts val="0"/>
              </a:spcAft>
            </a:pPr>
            <a:r>
              <a:rPr sz="650" b="0" i="0">
                <a:solidFill>
                  <a:srgbClr val="000000"/>
                </a:solidFill>
                <a:latin typeface="맑은 고딕"/>
                <a:ea typeface="맑은 고딕"/>
                <a:cs typeface="맑은 고딕"/>
              </a:rPr>
              <a:t>release()</a:t>
            </a:r>
          </a:p>
        </p:txBody>
      </p:sp>
      <p:sp>
        <p:nvSpPr>
          <p:cNvPr id="28" name="Rectangle 27"/>
          <p:cNvSpPr/>
          <p:nvPr/>
        </p:nvSpPr>
        <p:spPr>
          <a:xfrm>
            <a:off x="2267712" y="27432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TrendAnalyzer</a:t>
            </a:r>
          </a:p>
        </p:txBody>
      </p:sp>
      <p:sp>
        <p:nvSpPr>
          <p:cNvPr id="29" name="Rectangle 28"/>
          <p:cNvSpPr/>
          <p:nvPr/>
        </p:nvSpPr>
        <p:spPr>
          <a:xfrm>
            <a:off x="2267712" y="292608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267712" y="297180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analyze(state): ResourceState</a:t>
            </a:r>
          </a:p>
        </p:txBody>
      </p:sp>
      <p:sp>
        <p:nvSpPr>
          <p:cNvPr id="31" name="Rectangle 30"/>
          <p:cNvSpPr/>
          <p:nvPr/>
        </p:nvSpPr>
        <p:spPr>
          <a:xfrm>
            <a:off x="4169663" y="27432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AffinityMapper</a:t>
            </a:r>
          </a:p>
        </p:txBody>
      </p:sp>
      <p:sp>
        <p:nvSpPr>
          <p:cNvPr id="32" name="Rectangle 31"/>
          <p:cNvSpPr/>
          <p:nvPr/>
        </p:nvSpPr>
        <p:spPr>
          <a:xfrm>
            <a:off x="4169663" y="29260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hints</a:t>
            </a:r>
          </a:p>
        </p:txBody>
      </p:sp>
      <p:sp>
        <p:nvSpPr>
          <p:cNvPr id="33" name="Rectangle 32"/>
          <p:cNvSpPr/>
          <p:nvPr/>
        </p:nvSpPr>
        <p:spPr>
          <a:xfrm>
            <a:off x="4169663" y="307969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map(object, state)</a:t>
            </a:r>
          </a:p>
        </p:txBody>
      </p:sp>
      <p:sp>
        <p:nvSpPr>
          <p:cNvPr id="34" name="Rectangle 33"/>
          <p:cNvSpPr/>
          <p:nvPr/>
        </p:nvSpPr>
        <p:spPr>
          <a:xfrm>
            <a:off x="365760" y="3977639"/>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PolicyEngine</a:t>
            </a:r>
          </a:p>
        </p:txBody>
      </p:sp>
      <p:sp>
        <p:nvSpPr>
          <p:cNvPr id="35" name="Rectangle 34"/>
          <p:cNvSpPr/>
          <p:nvPr/>
        </p:nvSpPr>
        <p:spPr>
          <a:xfrm>
            <a:off x="365760" y="4160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65760" y="42062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decide(...): list[Decision]</a:t>
            </a:r>
          </a:p>
        </p:txBody>
      </p:sp>
      <p:sp>
        <p:nvSpPr>
          <p:cNvPr id="37" name="Rectangle 36"/>
          <p:cNvSpPr/>
          <p:nvPr/>
        </p:nvSpPr>
        <p:spPr>
          <a:xfrm>
            <a:off x="4169663" y="3977639"/>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DataObjectRegistry</a:t>
            </a:r>
          </a:p>
        </p:txBody>
      </p:sp>
      <p:sp>
        <p:nvSpPr>
          <p:cNvPr id="38" name="Rectangle 37"/>
          <p:cNvSpPr/>
          <p:nvPr/>
        </p:nvSpPr>
        <p:spPr>
          <a:xfrm>
            <a:off x="4169663" y="4160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169663" y="420624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move(object, tier)</a:t>
            </a:r>
          </a:p>
          <a:p>
            <a:pPr algn="l">
              <a:spcAft>
                <a:spcPts val="0"/>
              </a:spcAft>
            </a:pPr>
            <a:r>
              <a:rPr sz="650" b="0" i="0">
                <a:solidFill>
                  <a:srgbClr val="000000"/>
                </a:solidFill>
                <a:latin typeface="맑은 고딕"/>
                <a:ea typeface="맑은 고딕"/>
                <a:cs typeface="맑은 고딕"/>
              </a:rPr>
              <a:t>get(object_id)</a:t>
            </a:r>
          </a:p>
        </p:txBody>
      </p:sp>
      <p:sp>
        <p:nvSpPr>
          <p:cNvPr id="40" name="Rectangle 39"/>
          <p:cNvSpPr/>
          <p:nvPr/>
        </p:nvSpPr>
        <p:spPr>
          <a:xfrm>
            <a:off x="2267712" y="3977639"/>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MigrationExecutor</a:t>
            </a:r>
          </a:p>
        </p:txBody>
      </p:sp>
      <p:sp>
        <p:nvSpPr>
          <p:cNvPr id="41" name="Rectangle 40"/>
          <p:cNvSpPr/>
          <p:nvPr/>
        </p:nvSpPr>
        <p:spPr>
          <a:xfrm>
            <a:off x="2267712" y="4160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267712" y="42062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execute(command)</a:t>
            </a:r>
          </a:p>
        </p:txBody>
      </p:sp>
      <p:sp>
        <p:nvSpPr>
          <p:cNvPr id="43" name="Rectangle 42"/>
          <p:cNvSpPr/>
          <p:nvPr/>
        </p:nvSpPr>
        <p:spPr>
          <a:xfrm>
            <a:off x="4169663" y="521208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«interface»</a:t>
            </a:r>
          </a:p>
          <a:p>
            <a:pPr algn="ctr">
              <a:spcAft>
                <a:spcPts val="0"/>
              </a:spcAft>
            </a:pPr>
            <a:r>
              <a:rPr sz="750" b="1" i="0">
                <a:solidFill>
                  <a:srgbClr val="000000"/>
                </a:solidFill>
                <a:latin typeface="맑은 고딕"/>
                <a:ea typeface="맑은 고딕"/>
                <a:cs typeface="맑은 고딕"/>
              </a:rPr>
              <a:t>MemoryBackend</a:t>
            </a:r>
          </a:p>
        </p:txBody>
      </p:sp>
      <p:sp>
        <p:nvSpPr>
          <p:cNvPr id="44" name="Rectangle 43"/>
          <p:cNvSpPr/>
          <p:nvPr/>
        </p:nvSpPr>
        <p:spPr>
          <a:xfrm>
            <a:off x="4169663" y="548640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169663" y="553212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export_async / import_async</a:t>
            </a:r>
          </a:p>
        </p:txBody>
      </p:sp>
      <p:sp>
        <p:nvSpPr>
          <p:cNvPr id="46" name="Rectangle 45"/>
          <p:cNvSpPr/>
          <p:nvPr/>
        </p:nvSpPr>
        <p:spPr>
          <a:xfrm>
            <a:off x="2267712" y="521208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«OffloadingHandler»</a:t>
            </a:r>
          </a:p>
          <a:p>
            <a:pPr algn="ctr">
              <a:spcAft>
                <a:spcPts val="0"/>
              </a:spcAft>
            </a:pPr>
            <a:r>
              <a:rPr sz="750" b="1" i="0">
                <a:solidFill>
                  <a:srgbClr val="000000"/>
                </a:solidFill>
                <a:latin typeface="맑은 고딕"/>
                <a:ea typeface="맑은 고딕"/>
                <a:cs typeface="맑은 고딕"/>
              </a:rPr>
              <a:t>TransferHandler</a:t>
            </a:r>
          </a:p>
        </p:txBody>
      </p:sp>
      <p:sp>
        <p:nvSpPr>
          <p:cNvPr id="47" name="Rectangle 46"/>
          <p:cNvSpPr/>
          <p:nvPr/>
        </p:nvSpPr>
        <p:spPr>
          <a:xfrm>
            <a:off x="2267712" y="548640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2267712" y="553212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transfer_async(job, spec)</a:t>
            </a:r>
          </a:p>
        </p:txBody>
      </p:sp>
      <p:cxnSp>
        <p:nvCxnSpPr>
          <p:cNvPr id="49" name="Connector 48"/>
          <p:cNvCxnSpPr/>
          <p:nvPr/>
        </p:nvCxnSpPr>
        <p:spPr>
          <a:xfrm>
            <a:off x="1965960" y="1699869"/>
            <a:ext cx="301752"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867912" y="1753819"/>
            <a:ext cx="301751"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1645920" y="2106777"/>
            <a:ext cx="2843783" cy="63642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969764" y="2106777"/>
            <a:ext cx="0" cy="63642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3867912" y="2934309"/>
            <a:ext cx="30175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165860" y="3341217"/>
            <a:ext cx="0" cy="636422"/>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965960" y="4168749"/>
            <a:ext cx="30175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867912" y="4168749"/>
            <a:ext cx="30175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067812" y="4359859"/>
            <a:ext cx="0" cy="852221"/>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867912" y="5448909"/>
            <a:ext cx="30175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365760" y="5806440"/>
            <a:ext cx="5486400" cy="236988"/>
          </a:xfrm>
          <a:prstGeom prst="rect">
            <a:avLst/>
          </a:prstGeom>
          <a:noFill/>
        </p:spPr>
        <p:txBody>
          <a:bodyPr wrap="square" lIns="36576" tIns="18288" rIns="36576" bIns="18288" anchor="t">
            <a:spAutoFit/>
          </a:bodyPr>
          <a:lstStyle/>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관측</a:t>
            </a:r>
            <a:r>
              <a:rPr sz="650" b="0" i="0" dirty="0">
                <a:solidFill>
                  <a:srgbClr val="000000"/>
                </a:solidFill>
                <a:latin typeface="맑은 고딕"/>
                <a:ea typeface="맑은 고딕"/>
                <a:cs typeface="맑은 고딕"/>
              </a:rPr>
              <a:t>(Resource)과 </a:t>
            </a:r>
            <a:r>
              <a:rPr sz="650" b="0" i="0" dirty="0" err="1">
                <a:solidFill>
                  <a:srgbClr val="000000"/>
                </a:solidFill>
                <a:latin typeface="맑은 고딕"/>
                <a:ea typeface="맑은 고딕"/>
                <a:cs typeface="맑은 고딕"/>
              </a:rPr>
              <a:t>결정</a:t>
            </a:r>
            <a:r>
              <a:rPr sz="650" b="0" i="0" dirty="0">
                <a:solidFill>
                  <a:srgbClr val="000000"/>
                </a:solidFill>
                <a:latin typeface="맑은 고딕"/>
                <a:ea typeface="맑은 고딕"/>
                <a:cs typeface="맑은 고딕"/>
              </a:rPr>
              <a:t>(Control)이 한 Plane. Threshold </a:t>
            </a:r>
            <a:r>
              <a:rPr sz="650" b="0" i="0" dirty="0" err="1">
                <a:solidFill>
                  <a:srgbClr val="000000"/>
                </a:solidFill>
                <a:latin typeface="맑은 고딕"/>
                <a:ea typeface="맑은 고딕"/>
                <a:cs typeface="맑은 고딕"/>
              </a:rPr>
              <a:t>trigger가</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즉시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판단을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기동</a:t>
            </a:r>
            <a:r>
              <a:rPr sz="650" b="0" i="0" dirty="0">
                <a:solidFill>
                  <a:srgbClr val="000000"/>
                </a:solidFill>
                <a:latin typeface="맑은 고딕"/>
                <a:ea typeface="맑은 고딕"/>
                <a:cs typeface="맑은 고딕"/>
              </a:rPr>
              <a:t>, State </a:t>
            </a:r>
            <a:r>
              <a:rPr sz="650" b="0" i="0" dirty="0" err="1">
                <a:solidFill>
                  <a:srgbClr val="000000"/>
                </a:solidFill>
                <a:latin typeface="맑은 고딕"/>
                <a:ea typeface="맑은 고딕"/>
                <a:cs typeface="맑은 고딕"/>
              </a:rPr>
              <a:t>Lock으로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일관</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상태를</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잡고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동기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처리</a:t>
            </a:r>
            <a:endParaRPr sz="650" b="0" i="0" dirty="0">
              <a:solidFill>
                <a:srgbClr val="000000"/>
              </a:solidFill>
              <a:latin typeface="맑은 고딕"/>
              <a:ea typeface="맑은 고딕"/>
              <a:cs typeface="맑은 고딕"/>
            </a:endParaRP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약점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같은</a:t>
            </a:r>
            <a:r>
              <a:rPr sz="650" b="0" i="0" dirty="0">
                <a:solidFill>
                  <a:srgbClr val="000000"/>
                </a:solidFill>
                <a:latin typeface="맑은 고딕"/>
                <a:ea typeface="맑은 고딕"/>
                <a:cs typeface="맑은 고딕"/>
              </a:rPr>
              <a:t> resource </a:t>
            </a:r>
            <a:r>
              <a:rPr sz="650" b="0" i="0" dirty="0" err="1">
                <a:solidFill>
                  <a:srgbClr val="000000"/>
                </a:solidFill>
                <a:latin typeface="맑은 고딕"/>
                <a:ea typeface="맑은 고딕"/>
                <a:cs typeface="맑은 고딕"/>
              </a:rPr>
              <a:t>state에서</a:t>
            </a:r>
            <a:r>
              <a:rPr sz="650" b="0" i="0" dirty="0">
                <a:solidFill>
                  <a:srgbClr val="000000"/>
                </a:solidFill>
                <a:latin typeface="맑은 고딕"/>
                <a:ea typeface="맑은 고딕"/>
                <a:cs typeface="맑은 고딕"/>
              </a:rPr>
              <a:t> data access </a:t>
            </a:r>
            <a:r>
              <a:rPr sz="650" b="0" i="0" dirty="0" err="1">
                <a:solidFill>
                  <a:srgbClr val="000000"/>
                </a:solidFill>
                <a:latin typeface="맑은 고딕"/>
                <a:ea typeface="맑은 고딕"/>
                <a:cs typeface="맑은 고딕"/>
              </a:rPr>
              <a:t>pattern을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구분하기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어려움</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판단이</a:t>
            </a:r>
            <a:r>
              <a:rPr sz="650" b="0" i="0" dirty="0">
                <a:solidFill>
                  <a:srgbClr val="000000"/>
                </a:solidFill>
                <a:latin typeface="맑은 고딕"/>
                <a:ea typeface="맑은 고딕"/>
                <a:cs typeface="맑은 고딕"/>
              </a:rPr>
              <a:t> Plane </a:t>
            </a:r>
            <a:r>
              <a:rPr sz="650" b="0" i="0" dirty="0" err="1">
                <a:solidFill>
                  <a:srgbClr val="000000"/>
                </a:solidFill>
                <a:latin typeface="맑은 고딕"/>
                <a:ea typeface="맑은 고딕"/>
                <a:cs typeface="맑은 고딕"/>
              </a:rPr>
              <a:t>안에서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직렬화</a:t>
            </a:r>
            <a:endParaRPr sz="650" b="0" i="0" dirty="0">
              <a:solidFill>
                <a:srgbClr val="000000"/>
              </a:solidFill>
              <a:latin typeface="맑은 고딕"/>
              <a:ea typeface="맑은 고딕"/>
              <a:cs typeface="맑은 고딕"/>
            </a:endParaRPr>
          </a:p>
        </p:txBody>
      </p:sp>
      <p:sp>
        <p:nvSpPr>
          <p:cNvPr id="60" name="Rectangle 59"/>
          <p:cNvSpPr/>
          <p:nvPr/>
        </p:nvSpPr>
        <p:spPr>
          <a:xfrm>
            <a:off x="62087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State Monitor</a:t>
            </a:r>
          </a:p>
          <a:p>
            <a:pPr algn="ctr">
              <a:spcAft>
                <a:spcPts val="0"/>
              </a:spcAft>
            </a:pPr>
            <a:r>
              <a:rPr sz="650" b="1" i="0">
                <a:solidFill>
                  <a:srgbClr val="000000"/>
                </a:solidFill>
                <a:latin typeface="맑은 고딕"/>
                <a:ea typeface="맑은 고딕"/>
                <a:cs typeface="맑은 고딕"/>
              </a:rPr>
              <a:t>+ Telemetry</a:t>
            </a:r>
          </a:p>
        </p:txBody>
      </p:sp>
      <p:cxnSp>
        <p:nvCxnSpPr>
          <p:cNvPr id="61" name="Connector 60"/>
          <p:cNvCxnSpPr/>
          <p:nvPr/>
        </p:nvCxnSpPr>
        <p:spPr>
          <a:xfrm>
            <a:off x="658368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70317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Threshold</a:t>
            </a:r>
          </a:p>
          <a:p>
            <a:pPr algn="ctr">
              <a:spcAft>
                <a:spcPts val="0"/>
              </a:spcAft>
            </a:pPr>
            <a:r>
              <a:rPr sz="650" b="1" i="0">
                <a:solidFill>
                  <a:srgbClr val="000000"/>
                </a:solidFill>
                <a:latin typeface="맑은 고딕"/>
                <a:ea typeface="맑은 고딕"/>
                <a:cs typeface="맑은 고딕"/>
              </a:rPr>
              <a:t>Trigger</a:t>
            </a:r>
          </a:p>
        </p:txBody>
      </p:sp>
      <p:cxnSp>
        <p:nvCxnSpPr>
          <p:cNvPr id="63" name="Connector 62"/>
          <p:cNvCxnSpPr/>
          <p:nvPr/>
        </p:nvCxnSpPr>
        <p:spPr>
          <a:xfrm>
            <a:off x="740664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785469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State Lock</a:t>
            </a:r>
          </a:p>
          <a:p>
            <a:pPr algn="ctr">
              <a:spcAft>
                <a:spcPts val="0"/>
              </a:spcAft>
            </a:pPr>
            <a:r>
              <a:rPr sz="650" b="1" i="0">
                <a:solidFill>
                  <a:srgbClr val="000000"/>
                </a:solidFill>
                <a:latin typeface="맑은 고딕"/>
                <a:ea typeface="맑은 고딕"/>
                <a:cs typeface="맑은 고딕"/>
              </a:rPr>
              <a:t>Manager</a:t>
            </a:r>
          </a:p>
        </p:txBody>
      </p:sp>
      <p:cxnSp>
        <p:nvCxnSpPr>
          <p:cNvPr id="65" name="Connector 64"/>
          <p:cNvCxnSpPr/>
          <p:nvPr/>
        </p:nvCxnSpPr>
        <p:spPr>
          <a:xfrm>
            <a:off x="822960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867765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Trend→Affinity</a:t>
            </a:r>
          </a:p>
          <a:p>
            <a:pPr algn="ctr">
              <a:spcAft>
                <a:spcPts val="0"/>
              </a:spcAft>
            </a:pPr>
            <a:r>
              <a:rPr sz="650" b="1" i="0">
                <a:solidFill>
                  <a:srgbClr val="000000"/>
                </a:solidFill>
                <a:latin typeface="맑은 고딕"/>
                <a:ea typeface="맑은 고딕"/>
                <a:cs typeface="맑은 고딕"/>
              </a:rPr>
              <a:t>→Policy</a:t>
            </a:r>
          </a:p>
        </p:txBody>
      </p:sp>
      <p:cxnSp>
        <p:nvCxnSpPr>
          <p:cNvPr id="67" name="Connector 66"/>
          <p:cNvCxnSpPr/>
          <p:nvPr/>
        </p:nvCxnSpPr>
        <p:spPr>
          <a:xfrm>
            <a:off x="905256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950061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Migration</a:t>
            </a:r>
          </a:p>
          <a:p>
            <a:pPr algn="ctr">
              <a:spcAft>
                <a:spcPts val="0"/>
              </a:spcAft>
            </a:pPr>
            <a:r>
              <a:rPr sz="650" b="1" i="0">
                <a:solidFill>
                  <a:srgbClr val="000000"/>
                </a:solidFill>
                <a:latin typeface="맑은 고딕"/>
                <a:ea typeface="맑은 고딕"/>
                <a:cs typeface="맑은 고딕"/>
              </a:rPr>
              <a:t>Executor</a:t>
            </a:r>
          </a:p>
        </p:txBody>
      </p:sp>
      <p:cxnSp>
        <p:nvCxnSpPr>
          <p:cNvPr id="69" name="Connector 68"/>
          <p:cNvCxnSpPr/>
          <p:nvPr/>
        </p:nvCxnSpPr>
        <p:spPr>
          <a:xfrm>
            <a:off x="987552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03235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Memory</a:t>
            </a:r>
          </a:p>
          <a:p>
            <a:pPr algn="ctr">
              <a:spcAft>
                <a:spcPts val="0"/>
              </a:spcAft>
            </a:pPr>
            <a:r>
              <a:rPr sz="650" b="1" i="0">
                <a:solidFill>
                  <a:srgbClr val="000000"/>
                </a:solidFill>
                <a:latin typeface="맑은 고딕"/>
                <a:ea typeface="맑은 고딕"/>
                <a:cs typeface="맑은 고딕"/>
              </a:rPr>
              <a:t>Backend</a:t>
            </a:r>
          </a:p>
        </p:txBody>
      </p:sp>
      <p:cxnSp>
        <p:nvCxnSpPr>
          <p:cNvPr id="71" name="Connector 70"/>
          <p:cNvCxnSpPr/>
          <p:nvPr/>
        </p:nvCxnSpPr>
        <p:spPr>
          <a:xfrm>
            <a:off x="1069848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111465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Registry</a:t>
            </a:r>
          </a:p>
        </p:txBody>
      </p:sp>
      <p:cxnSp>
        <p:nvCxnSpPr>
          <p:cNvPr id="73" name="Connector 72"/>
          <p:cNvCxnSpPr/>
          <p:nvPr/>
        </p:nvCxnSpPr>
        <p:spPr>
          <a:xfrm>
            <a:off x="1152144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4" name="Rectangle 73"/>
          <p:cNvSpPr/>
          <p:nvPr/>
        </p:nvSpPr>
        <p:spPr>
          <a:xfrm>
            <a:off x="7060996" y="3035808"/>
            <a:ext cx="2337206" cy="795528"/>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7060996" y="3035808"/>
            <a:ext cx="11887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동기 판단 (같은 Plane)</a:t>
            </a:r>
          </a:p>
        </p:txBody>
      </p:sp>
      <p:cxnSp>
        <p:nvCxnSpPr>
          <p:cNvPr id="76" name="Connector 75"/>
          <p:cNvCxnSpPr/>
          <p:nvPr/>
        </p:nvCxnSpPr>
        <p:spPr>
          <a:xfrm>
            <a:off x="6583680" y="2103120"/>
            <a:ext cx="82296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6391084" y="1947672"/>
            <a:ext cx="120815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event (usage↑ / access)</a:t>
            </a:r>
          </a:p>
        </p:txBody>
      </p:sp>
      <p:cxnSp>
        <p:nvCxnSpPr>
          <p:cNvPr id="78" name="Connector 77"/>
          <p:cNvCxnSpPr/>
          <p:nvPr/>
        </p:nvCxnSpPr>
        <p:spPr>
          <a:xfrm>
            <a:off x="7406640" y="2290572"/>
            <a:ext cx="256031"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662671" y="2290572"/>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7406640" y="2455164"/>
            <a:ext cx="25603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699248" y="2253996"/>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임계치 교차 → 판단 기동</a:t>
            </a:r>
          </a:p>
        </p:txBody>
      </p:sp>
      <p:cxnSp>
        <p:nvCxnSpPr>
          <p:cNvPr id="82" name="Connector 81"/>
          <p:cNvCxnSpPr/>
          <p:nvPr/>
        </p:nvCxnSpPr>
        <p:spPr>
          <a:xfrm>
            <a:off x="7406640" y="2715768"/>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7406640" y="2560320"/>
            <a:ext cx="82296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acquire(state)</a:t>
            </a:r>
          </a:p>
        </p:txBody>
      </p:sp>
      <p:cxnSp>
        <p:nvCxnSpPr>
          <p:cNvPr id="84" name="Connector 83"/>
          <p:cNvCxnSpPr/>
          <p:nvPr/>
        </p:nvCxnSpPr>
        <p:spPr>
          <a:xfrm flipH="1">
            <a:off x="7406640" y="297637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7406640" y="2820924"/>
            <a:ext cx="82296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locked (일관 상태)</a:t>
            </a:r>
          </a:p>
        </p:txBody>
      </p:sp>
      <p:cxnSp>
        <p:nvCxnSpPr>
          <p:cNvPr id="86" name="Connector 85"/>
          <p:cNvCxnSpPr/>
          <p:nvPr/>
        </p:nvCxnSpPr>
        <p:spPr>
          <a:xfrm>
            <a:off x="7406640" y="3456432"/>
            <a:ext cx="16459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7406640" y="3300984"/>
            <a:ext cx="16459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analyze → map → decide</a:t>
            </a:r>
          </a:p>
        </p:txBody>
      </p:sp>
      <p:cxnSp>
        <p:nvCxnSpPr>
          <p:cNvPr id="88" name="Connector 87"/>
          <p:cNvCxnSpPr/>
          <p:nvPr/>
        </p:nvCxnSpPr>
        <p:spPr>
          <a:xfrm flipH="1">
            <a:off x="7406640" y="3717036"/>
            <a:ext cx="164592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7406640" y="3561588"/>
            <a:ext cx="164592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MigrationDecision[]</a:t>
            </a:r>
          </a:p>
        </p:txBody>
      </p:sp>
      <p:cxnSp>
        <p:nvCxnSpPr>
          <p:cNvPr id="90" name="Connector 89"/>
          <p:cNvCxnSpPr/>
          <p:nvPr/>
        </p:nvCxnSpPr>
        <p:spPr>
          <a:xfrm>
            <a:off x="7406640" y="4087368"/>
            <a:ext cx="246888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7406639" y="3931920"/>
            <a:ext cx="246888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execute(command)</a:t>
            </a:r>
          </a:p>
        </p:txBody>
      </p:sp>
      <p:cxnSp>
        <p:nvCxnSpPr>
          <p:cNvPr id="92" name="Connector 91"/>
          <p:cNvCxnSpPr/>
          <p:nvPr/>
        </p:nvCxnSpPr>
        <p:spPr>
          <a:xfrm>
            <a:off x="9875520" y="4347972"/>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9616059" y="4192524"/>
            <a:ext cx="1341881"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transfer_async(job)  [DMA]</a:t>
            </a:r>
          </a:p>
        </p:txBody>
      </p:sp>
      <p:cxnSp>
        <p:nvCxnSpPr>
          <p:cNvPr id="94" name="Connector 93"/>
          <p:cNvCxnSpPr/>
          <p:nvPr/>
        </p:nvCxnSpPr>
        <p:spPr>
          <a:xfrm flipH="1">
            <a:off x="9875520" y="4608576"/>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9875520" y="4453128"/>
            <a:ext cx="822959"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TransferResult</a:t>
            </a:r>
          </a:p>
        </p:txBody>
      </p:sp>
      <p:cxnSp>
        <p:nvCxnSpPr>
          <p:cNvPr id="96" name="Connector 95"/>
          <p:cNvCxnSpPr/>
          <p:nvPr/>
        </p:nvCxnSpPr>
        <p:spPr>
          <a:xfrm>
            <a:off x="9875520" y="4869180"/>
            <a:ext cx="16459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9875520" y="4713732"/>
            <a:ext cx="16459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move(object, tier)</a:t>
            </a:r>
          </a:p>
        </p:txBody>
      </p:sp>
      <p:cxnSp>
        <p:nvCxnSpPr>
          <p:cNvPr id="98" name="Connector 97"/>
          <p:cNvCxnSpPr/>
          <p:nvPr/>
        </p:nvCxnSpPr>
        <p:spPr>
          <a:xfrm flipH="1">
            <a:off x="8229600" y="5129784"/>
            <a:ext cx="16459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8229600" y="4974336"/>
            <a:ext cx="16459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release()</a:t>
            </a:r>
          </a:p>
        </p:txBody>
      </p:sp>
      <p:sp>
        <p:nvSpPr>
          <p:cNvPr id="100" name="실행 단추: 뒤로 또는 앞으로 이동 104">
            <a:hlinkClick r:id="rId3" action="ppaction://hlinksldjump" highlightClick="1"/>
            <a:extLst>
              <a:ext uri="{FF2B5EF4-FFF2-40B4-BE49-F238E27FC236}">
                <a16:creationId xmlns:a16="http://schemas.microsoft.com/office/drawing/2014/main" id="{D4ACBD71-C54D-497F-B9B3-F5A2E6405E77}"/>
              </a:ext>
            </a:extLst>
          </p:cNvPr>
          <p:cNvSpPr/>
          <p:nvPr/>
        </p:nvSpPr>
        <p:spPr>
          <a:xfrm>
            <a:off x="7559421" y="181355"/>
            <a:ext cx="295275" cy="246888"/>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07261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DP1 Data Migration </a:t>
            </a:r>
            <a:r>
              <a:rPr dirty="0" err="1"/>
              <a:t>결정</a:t>
            </a:r>
            <a:r>
              <a:rPr dirty="0"/>
              <a:t> – </a:t>
            </a:r>
            <a:r>
              <a:rPr lang="en-US" dirty="0"/>
              <a:t>2</a:t>
            </a:r>
            <a:r>
              <a:rPr lang="ko-KR" altLang="en-US" dirty="0"/>
              <a:t>안 </a:t>
            </a:r>
            <a:r>
              <a:rPr dirty="0"/>
              <a:t>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23</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r>
              <a:rPr lang="en-US" altLang="ko-KR" sz="1200" b="1" dirty="0">
                <a:solidFill>
                  <a:srgbClr val="FFFFFF"/>
                </a:solidFill>
                <a:ea typeface="맑은 고딕"/>
                <a:cs typeface="맑은 고딕"/>
              </a:rPr>
              <a:t>DP1. (2</a:t>
            </a:r>
            <a:r>
              <a:rPr lang="ko-KR" altLang="en-US" sz="1200" b="1" dirty="0">
                <a:solidFill>
                  <a:srgbClr val="FFFFFF"/>
                </a:solidFill>
                <a:ea typeface="맑은 고딕"/>
                <a:cs typeface="맑은 고딕"/>
              </a:rPr>
              <a:t>안</a:t>
            </a:r>
            <a:r>
              <a:rPr lang="en-US" altLang="ko-KR" sz="1200" b="1" dirty="0">
                <a:solidFill>
                  <a:srgbClr val="FFFFFF"/>
                </a:solidFill>
                <a:ea typeface="맑은 고딕"/>
                <a:cs typeface="맑은 고딕"/>
              </a:rPr>
              <a:t>) </a:t>
            </a:r>
            <a:r>
              <a:rPr lang="ko-KR" altLang="en-US" sz="1200" b="1" dirty="0">
                <a:solidFill>
                  <a:srgbClr val="FFFFFF"/>
                </a:solidFill>
                <a:ea typeface="맑은 고딕"/>
                <a:cs typeface="맑은 고딕"/>
              </a:rPr>
              <a:t>상태 관측과 이동 결정을 분리 </a:t>
            </a: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QA-05</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QA-02</a:t>
            </a:r>
          </a:p>
        </p:txBody>
      </p:sp>
      <p:sp>
        <p:nvSpPr>
          <p:cNvPr id="10" name="Rounded Rectangle 9"/>
          <p:cNvSpPr/>
          <p:nvPr/>
        </p:nvSpPr>
        <p:spPr>
          <a:xfrm>
            <a:off x="9793223"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1" name="Rounded Rectangle 10"/>
          <p:cNvSpPr/>
          <p:nvPr/>
        </p:nvSpPr>
        <p:spPr>
          <a:xfrm>
            <a:off x="932687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463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DecisionScheduler</a:t>
            </a:r>
          </a:p>
        </p:txBody>
      </p:sp>
      <p:sp>
        <p:nvSpPr>
          <p:cNvPr id="17" name="Rectangle 16"/>
          <p:cNvSpPr/>
          <p:nvPr/>
        </p:nvSpPr>
        <p:spPr>
          <a:xfrm>
            <a:off x="365760" y="1645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169164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on_event(event)</a:t>
            </a:r>
          </a:p>
          <a:p>
            <a:pPr algn="l">
              <a:spcAft>
                <a:spcPts val="0"/>
              </a:spcAft>
            </a:pPr>
            <a:r>
              <a:rPr sz="650" b="0" i="0">
                <a:solidFill>
                  <a:srgbClr val="000000"/>
                </a:solidFill>
                <a:latin typeface="맑은 고딕"/>
                <a:ea typeface="맑은 고딕"/>
                <a:cs typeface="맑은 고딕"/>
              </a:rPr>
              <a:t>tick()</a:t>
            </a:r>
          </a:p>
        </p:txBody>
      </p:sp>
      <p:sp>
        <p:nvSpPr>
          <p:cNvPr id="19" name="Rectangle 18"/>
          <p:cNvSpPr/>
          <p:nvPr/>
        </p:nvSpPr>
        <p:spPr>
          <a:xfrm>
            <a:off x="2267712" y="1463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TrendAnalyzer</a:t>
            </a:r>
          </a:p>
        </p:txBody>
      </p:sp>
      <p:sp>
        <p:nvSpPr>
          <p:cNvPr id="20" name="Rectangle 19"/>
          <p:cNvSpPr/>
          <p:nvPr/>
        </p:nvSpPr>
        <p:spPr>
          <a:xfrm>
            <a:off x="2267712" y="1645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267712" y="16916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analyze(snapshot)</a:t>
            </a:r>
          </a:p>
        </p:txBody>
      </p:sp>
      <p:sp>
        <p:nvSpPr>
          <p:cNvPr id="22" name="Rectangle 21"/>
          <p:cNvSpPr/>
          <p:nvPr/>
        </p:nvSpPr>
        <p:spPr>
          <a:xfrm>
            <a:off x="4169663" y="1463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AffinityMapper</a:t>
            </a:r>
          </a:p>
        </p:txBody>
      </p:sp>
      <p:sp>
        <p:nvSpPr>
          <p:cNvPr id="23" name="Rectangle 22"/>
          <p:cNvSpPr/>
          <p:nvPr/>
        </p:nvSpPr>
        <p:spPr>
          <a:xfrm>
            <a:off x="4169663" y="1645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169663" y="16916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map(object, state)</a:t>
            </a:r>
          </a:p>
        </p:txBody>
      </p:sp>
      <p:sp>
        <p:nvSpPr>
          <p:cNvPr id="25" name="Rectangle 24"/>
          <p:cNvSpPr/>
          <p:nvPr/>
        </p:nvSpPr>
        <p:spPr>
          <a:xfrm>
            <a:off x="365760" y="2606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TelemetryCollector</a:t>
            </a:r>
          </a:p>
        </p:txBody>
      </p:sp>
      <p:sp>
        <p:nvSpPr>
          <p:cNvPr id="26" name="Rectangle 25"/>
          <p:cNvSpPr/>
          <p:nvPr/>
        </p:nvSpPr>
        <p:spPr>
          <a:xfrm>
            <a:off x="365760" y="2788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65760" y="28346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collect(): MemoryTelemetry</a:t>
            </a:r>
          </a:p>
        </p:txBody>
      </p:sp>
      <p:sp>
        <p:nvSpPr>
          <p:cNvPr id="28" name="Rectangle 27"/>
          <p:cNvSpPr/>
          <p:nvPr/>
        </p:nvSpPr>
        <p:spPr>
          <a:xfrm>
            <a:off x="2267712" y="2606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StateSnapshotBuilder</a:t>
            </a:r>
          </a:p>
        </p:txBody>
      </p:sp>
      <p:sp>
        <p:nvSpPr>
          <p:cNvPr id="29" name="Rectangle 28"/>
          <p:cNvSpPr/>
          <p:nvPr/>
        </p:nvSpPr>
        <p:spPr>
          <a:xfrm>
            <a:off x="2267712" y="2788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267712" y="28346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build(): ResourceSnapshot</a:t>
            </a:r>
          </a:p>
        </p:txBody>
      </p:sp>
      <p:sp>
        <p:nvSpPr>
          <p:cNvPr id="31" name="Rectangle 30"/>
          <p:cNvSpPr/>
          <p:nvPr/>
        </p:nvSpPr>
        <p:spPr>
          <a:xfrm>
            <a:off x="4169663" y="2606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PolicyEngine</a:t>
            </a:r>
          </a:p>
        </p:txBody>
      </p:sp>
      <p:sp>
        <p:nvSpPr>
          <p:cNvPr id="32" name="Rectangle 31"/>
          <p:cNvSpPr/>
          <p:nvPr/>
        </p:nvSpPr>
        <p:spPr>
          <a:xfrm>
            <a:off x="4169663" y="2788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169663" y="28346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decide(...): list[Decision]</a:t>
            </a:r>
          </a:p>
        </p:txBody>
      </p:sp>
      <p:sp>
        <p:nvSpPr>
          <p:cNvPr id="34" name="Rectangle 33"/>
          <p:cNvSpPr/>
          <p:nvPr/>
        </p:nvSpPr>
        <p:spPr>
          <a:xfrm>
            <a:off x="4169663" y="3749039"/>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MigrationCommandQueue</a:t>
            </a:r>
          </a:p>
        </p:txBody>
      </p:sp>
      <p:sp>
        <p:nvSpPr>
          <p:cNvPr id="35" name="Rectangle 34"/>
          <p:cNvSpPr/>
          <p:nvPr/>
        </p:nvSpPr>
        <p:spPr>
          <a:xfrm>
            <a:off x="4169663" y="3931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169663" y="3977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enqueue / dequeue</a:t>
            </a:r>
          </a:p>
        </p:txBody>
      </p:sp>
      <p:sp>
        <p:nvSpPr>
          <p:cNvPr id="37" name="Rectangle 36"/>
          <p:cNvSpPr/>
          <p:nvPr/>
        </p:nvSpPr>
        <p:spPr>
          <a:xfrm>
            <a:off x="2267712" y="3749039"/>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MigrationExecutor</a:t>
            </a:r>
          </a:p>
        </p:txBody>
      </p:sp>
      <p:sp>
        <p:nvSpPr>
          <p:cNvPr id="38" name="Rectangle 37"/>
          <p:cNvSpPr/>
          <p:nvPr/>
        </p:nvSpPr>
        <p:spPr>
          <a:xfrm>
            <a:off x="2267712" y="3931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267712" y="3977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execute(command)</a:t>
            </a:r>
          </a:p>
        </p:txBody>
      </p:sp>
      <p:sp>
        <p:nvSpPr>
          <p:cNvPr id="40" name="Rectangle 39"/>
          <p:cNvSpPr/>
          <p:nvPr/>
        </p:nvSpPr>
        <p:spPr>
          <a:xfrm>
            <a:off x="365760" y="3749039"/>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DataObjectRegistry</a:t>
            </a:r>
          </a:p>
        </p:txBody>
      </p:sp>
      <p:sp>
        <p:nvSpPr>
          <p:cNvPr id="41" name="Rectangle 40"/>
          <p:cNvSpPr/>
          <p:nvPr/>
        </p:nvSpPr>
        <p:spPr>
          <a:xfrm>
            <a:off x="365760" y="3931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65760" y="397763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move(object, tier)</a:t>
            </a:r>
          </a:p>
          <a:p>
            <a:pPr algn="l">
              <a:spcAft>
                <a:spcPts val="0"/>
              </a:spcAft>
            </a:pPr>
            <a:r>
              <a:rPr sz="650" b="0" i="0">
                <a:solidFill>
                  <a:srgbClr val="000000"/>
                </a:solidFill>
                <a:latin typeface="맑은 고딕"/>
                <a:ea typeface="맑은 고딕"/>
                <a:cs typeface="맑은 고딕"/>
              </a:rPr>
              <a:t>drop_to_replica(obj)</a:t>
            </a:r>
          </a:p>
        </p:txBody>
      </p:sp>
      <p:sp>
        <p:nvSpPr>
          <p:cNvPr id="43" name="Rectangle 42"/>
          <p:cNvSpPr/>
          <p:nvPr/>
        </p:nvSpPr>
        <p:spPr>
          <a:xfrm>
            <a:off x="2267712" y="4892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TransferHandler</a:t>
            </a:r>
          </a:p>
        </p:txBody>
      </p:sp>
      <p:sp>
        <p:nvSpPr>
          <p:cNvPr id="44" name="Rectangle 43"/>
          <p:cNvSpPr/>
          <p:nvPr/>
        </p:nvSpPr>
        <p:spPr>
          <a:xfrm>
            <a:off x="2267712" y="5074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2267712" y="512064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transfer_async(job, spec)</a:t>
            </a:r>
          </a:p>
          <a:p>
            <a:pPr algn="l">
              <a:spcAft>
                <a:spcPts val="0"/>
              </a:spcAft>
            </a:pPr>
            <a:r>
              <a:rPr sz="650" b="0" i="0">
                <a:solidFill>
                  <a:srgbClr val="000000"/>
                </a:solidFill>
                <a:latin typeface="맑은 고딕"/>
                <a:ea typeface="맑은 고딕"/>
                <a:cs typeface="맑은 고딕"/>
              </a:rPr>
              <a:t>get_finished()</a:t>
            </a:r>
          </a:p>
        </p:txBody>
      </p:sp>
      <p:sp>
        <p:nvSpPr>
          <p:cNvPr id="46" name="Rectangle 45"/>
          <p:cNvSpPr/>
          <p:nvPr/>
        </p:nvSpPr>
        <p:spPr>
          <a:xfrm>
            <a:off x="4169663" y="489204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«interface»</a:t>
            </a:r>
          </a:p>
          <a:p>
            <a:pPr algn="ctr">
              <a:spcAft>
                <a:spcPts val="0"/>
              </a:spcAft>
            </a:pPr>
            <a:r>
              <a:rPr sz="750" b="1" i="0">
                <a:solidFill>
                  <a:srgbClr val="000000"/>
                </a:solidFill>
                <a:latin typeface="맑은 고딕"/>
                <a:ea typeface="맑은 고딕"/>
                <a:cs typeface="맑은 고딕"/>
              </a:rPr>
              <a:t>MemoryBackend</a:t>
            </a:r>
          </a:p>
        </p:txBody>
      </p:sp>
      <p:sp>
        <p:nvSpPr>
          <p:cNvPr id="47" name="Rectangle 46"/>
          <p:cNvSpPr/>
          <p:nvPr/>
        </p:nvSpPr>
        <p:spPr>
          <a:xfrm>
            <a:off x="4169663" y="5166359"/>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4169663" y="521207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export_async / import_async</a:t>
            </a:r>
          </a:p>
        </p:txBody>
      </p:sp>
      <p:sp>
        <p:nvSpPr>
          <p:cNvPr id="49" name="Rectangle 48"/>
          <p:cNvSpPr/>
          <p:nvPr/>
        </p:nvSpPr>
        <p:spPr>
          <a:xfrm>
            <a:off x="365760" y="48920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LeaseTimer</a:t>
            </a:r>
          </a:p>
        </p:txBody>
      </p:sp>
      <p:sp>
        <p:nvSpPr>
          <p:cNvPr id="50" name="Rectangle 49"/>
          <p:cNvSpPr/>
          <p:nvPr/>
        </p:nvSpPr>
        <p:spPr>
          <a:xfrm>
            <a:off x="365760" y="50749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365760" y="512064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arm(object, ttl)</a:t>
            </a:r>
          </a:p>
          <a:p>
            <a:pPr algn="l">
              <a:spcAft>
                <a:spcPts val="0"/>
              </a:spcAft>
            </a:pPr>
            <a:r>
              <a:rPr sz="650" b="0" i="0">
                <a:solidFill>
                  <a:srgbClr val="000000"/>
                </a:solidFill>
                <a:latin typeface="맑은 고딕"/>
                <a:ea typeface="맑은 고딕"/>
                <a:cs typeface="맑은 고딕"/>
              </a:rPr>
              <a:t>on_expire(): Event</a:t>
            </a:r>
          </a:p>
        </p:txBody>
      </p:sp>
      <p:cxnSp>
        <p:nvCxnSpPr>
          <p:cNvPr id="52" name="Connector 51"/>
          <p:cNvCxnSpPr/>
          <p:nvPr/>
        </p:nvCxnSpPr>
        <p:spPr>
          <a:xfrm flipV="1">
            <a:off x="1965960" y="1654149"/>
            <a:ext cx="301752"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867912" y="1654149"/>
            <a:ext cx="30175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165860" y="1953158"/>
            <a:ext cx="0" cy="652882"/>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965960" y="2797149"/>
            <a:ext cx="30175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969764" y="1845259"/>
            <a:ext cx="0" cy="760781"/>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969764" y="2988259"/>
            <a:ext cx="0" cy="76078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737963" y="3295497"/>
            <a:ext cx="463600"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enqueue</a:t>
            </a:r>
          </a:p>
        </p:txBody>
      </p:sp>
      <p:cxnSp>
        <p:nvCxnSpPr>
          <p:cNvPr id="59" name="Connector 58"/>
          <p:cNvCxnSpPr/>
          <p:nvPr/>
        </p:nvCxnSpPr>
        <p:spPr>
          <a:xfrm flipH="1">
            <a:off x="3867912" y="3940149"/>
            <a:ext cx="30175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1965960" y="3940149"/>
            <a:ext cx="301752"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067812" y="4131259"/>
            <a:ext cx="0" cy="760781"/>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812694" y="4438497"/>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dispatch</a:t>
            </a:r>
          </a:p>
        </p:txBody>
      </p:sp>
      <p:cxnSp>
        <p:nvCxnSpPr>
          <p:cNvPr id="63" name="Connector 62"/>
          <p:cNvCxnSpPr/>
          <p:nvPr/>
        </p:nvCxnSpPr>
        <p:spPr>
          <a:xfrm flipV="1">
            <a:off x="3867912" y="5128869"/>
            <a:ext cx="301751" cy="823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165860" y="4239158"/>
            <a:ext cx="0" cy="652882"/>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1027328" y="4492447"/>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arm</a:t>
            </a:r>
          </a:p>
        </p:txBody>
      </p:sp>
      <p:sp>
        <p:nvSpPr>
          <p:cNvPr id="66" name="TextBox 65"/>
          <p:cNvSpPr txBox="1"/>
          <p:nvPr/>
        </p:nvSpPr>
        <p:spPr>
          <a:xfrm>
            <a:off x="365760" y="6126480"/>
            <a:ext cx="5486400" cy="365760"/>
          </a:xfrm>
          <a:prstGeom prst="rect">
            <a:avLst/>
          </a:prstGeom>
          <a:noFill/>
        </p:spPr>
        <p:txBody>
          <a:bodyPr wrap="square" lIns="36576" tIns="18288" rIns="36576" bIns="18288" anchor="t">
            <a:spAutoFit/>
          </a:bodyPr>
          <a:lstStyle/>
          <a:p>
            <a:pPr algn="l">
              <a:spcAft>
                <a:spcPts val="0"/>
              </a:spcAft>
            </a:pPr>
            <a:r>
              <a:rPr sz="600" b="0" i="0">
                <a:solidFill>
                  <a:srgbClr val="7F7F7F"/>
                </a:solidFill>
                <a:latin typeface="맑은 고딕"/>
                <a:ea typeface="맑은 고딕"/>
                <a:cs typeface="맑은 고딕"/>
              </a:rPr>
              <a:t>• Lease 만료 Event → DecisionScheduler 재평가 (stale 보정). 근거: 슬라이드 4~5p, doc-mk/DP1/dp1-vllm-uml.md §4b·§4c</a:t>
            </a:r>
          </a:p>
        </p:txBody>
      </p:sp>
      <p:sp>
        <p:nvSpPr>
          <p:cNvPr id="67" name="Rectangle 66"/>
          <p:cNvSpPr/>
          <p:nvPr/>
        </p:nvSpPr>
        <p:spPr>
          <a:xfrm>
            <a:off x="62087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Telemetry</a:t>
            </a:r>
          </a:p>
          <a:p>
            <a:pPr algn="ctr">
              <a:spcAft>
                <a:spcPts val="0"/>
              </a:spcAft>
            </a:pPr>
            <a:r>
              <a:rPr sz="650" b="1" i="0">
                <a:solidFill>
                  <a:srgbClr val="000000"/>
                </a:solidFill>
                <a:latin typeface="맑은 고딕"/>
                <a:ea typeface="맑은 고딕"/>
                <a:cs typeface="맑은 고딕"/>
              </a:rPr>
              <a:t>Collector</a:t>
            </a:r>
          </a:p>
        </p:txBody>
      </p:sp>
      <p:cxnSp>
        <p:nvCxnSpPr>
          <p:cNvPr id="68" name="Connector 67"/>
          <p:cNvCxnSpPr/>
          <p:nvPr/>
        </p:nvCxnSpPr>
        <p:spPr>
          <a:xfrm>
            <a:off x="658368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0317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Decision</a:t>
            </a:r>
          </a:p>
          <a:p>
            <a:pPr algn="ctr">
              <a:spcAft>
                <a:spcPts val="0"/>
              </a:spcAft>
            </a:pPr>
            <a:r>
              <a:rPr sz="650" b="1" i="0">
                <a:solidFill>
                  <a:srgbClr val="000000"/>
                </a:solidFill>
                <a:latin typeface="맑은 고딕"/>
                <a:ea typeface="맑은 고딕"/>
                <a:cs typeface="맑은 고딕"/>
              </a:rPr>
              <a:t>Scheduler</a:t>
            </a:r>
          </a:p>
        </p:txBody>
      </p:sp>
      <p:cxnSp>
        <p:nvCxnSpPr>
          <p:cNvPr id="70" name="Connector 69"/>
          <p:cNvCxnSpPr/>
          <p:nvPr/>
        </p:nvCxnSpPr>
        <p:spPr>
          <a:xfrm>
            <a:off x="740664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785469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Trend→Affinity</a:t>
            </a:r>
          </a:p>
          <a:p>
            <a:pPr algn="ctr">
              <a:spcAft>
                <a:spcPts val="0"/>
              </a:spcAft>
            </a:pPr>
            <a:r>
              <a:rPr sz="650" b="1" i="0">
                <a:solidFill>
                  <a:srgbClr val="000000"/>
                </a:solidFill>
                <a:latin typeface="맑은 고딕"/>
                <a:ea typeface="맑은 고딕"/>
                <a:cs typeface="맑은 고딕"/>
              </a:rPr>
              <a:t>→Policy</a:t>
            </a:r>
          </a:p>
        </p:txBody>
      </p:sp>
      <p:cxnSp>
        <p:nvCxnSpPr>
          <p:cNvPr id="72" name="Connector 71"/>
          <p:cNvCxnSpPr/>
          <p:nvPr/>
        </p:nvCxnSpPr>
        <p:spPr>
          <a:xfrm>
            <a:off x="822960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867765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Command</a:t>
            </a:r>
          </a:p>
          <a:p>
            <a:pPr algn="ctr">
              <a:spcAft>
                <a:spcPts val="0"/>
              </a:spcAft>
            </a:pPr>
            <a:r>
              <a:rPr sz="650" b="1" i="0">
                <a:solidFill>
                  <a:srgbClr val="000000"/>
                </a:solidFill>
                <a:latin typeface="맑은 고딕"/>
                <a:ea typeface="맑은 고딕"/>
                <a:cs typeface="맑은 고딕"/>
              </a:rPr>
              <a:t>Queue</a:t>
            </a:r>
          </a:p>
        </p:txBody>
      </p:sp>
      <p:cxnSp>
        <p:nvCxnSpPr>
          <p:cNvPr id="74" name="Connector 73"/>
          <p:cNvCxnSpPr/>
          <p:nvPr/>
        </p:nvCxnSpPr>
        <p:spPr>
          <a:xfrm>
            <a:off x="905256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950061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Migration</a:t>
            </a:r>
          </a:p>
          <a:p>
            <a:pPr algn="ctr">
              <a:spcAft>
                <a:spcPts val="0"/>
              </a:spcAft>
            </a:pPr>
            <a:r>
              <a:rPr sz="650" b="1" i="0">
                <a:solidFill>
                  <a:srgbClr val="000000"/>
                </a:solidFill>
                <a:latin typeface="맑은 고딕"/>
                <a:ea typeface="맑은 고딕"/>
                <a:cs typeface="맑은 고딕"/>
              </a:rPr>
              <a:t>Executor</a:t>
            </a:r>
          </a:p>
        </p:txBody>
      </p:sp>
      <p:cxnSp>
        <p:nvCxnSpPr>
          <p:cNvPr id="76" name="Connector 75"/>
          <p:cNvCxnSpPr/>
          <p:nvPr/>
        </p:nvCxnSpPr>
        <p:spPr>
          <a:xfrm>
            <a:off x="987552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103235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Memory</a:t>
            </a:r>
          </a:p>
          <a:p>
            <a:pPr algn="ctr">
              <a:spcAft>
                <a:spcPts val="0"/>
              </a:spcAft>
            </a:pPr>
            <a:r>
              <a:rPr sz="650" b="1" i="0">
                <a:solidFill>
                  <a:srgbClr val="000000"/>
                </a:solidFill>
                <a:latin typeface="맑은 고딕"/>
                <a:ea typeface="맑은 고딕"/>
                <a:cs typeface="맑은 고딕"/>
              </a:rPr>
              <a:t>Backend</a:t>
            </a:r>
          </a:p>
        </p:txBody>
      </p:sp>
      <p:cxnSp>
        <p:nvCxnSpPr>
          <p:cNvPr id="78" name="Connector 77"/>
          <p:cNvCxnSpPr/>
          <p:nvPr/>
        </p:nvCxnSpPr>
        <p:spPr>
          <a:xfrm>
            <a:off x="1069848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79" name="Rectangle 78"/>
          <p:cNvSpPr/>
          <p:nvPr/>
        </p:nvSpPr>
        <p:spPr>
          <a:xfrm>
            <a:off x="111465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Registry /</a:t>
            </a:r>
          </a:p>
          <a:p>
            <a:pPr algn="ctr">
              <a:spcAft>
                <a:spcPts val="0"/>
              </a:spcAft>
            </a:pPr>
            <a:r>
              <a:rPr sz="650" b="1" i="0">
                <a:solidFill>
                  <a:srgbClr val="000000"/>
                </a:solidFill>
                <a:latin typeface="맑은 고딕"/>
                <a:ea typeface="맑은 고딕"/>
                <a:cs typeface="맑은 고딕"/>
              </a:rPr>
              <a:t>LeaseTimer</a:t>
            </a:r>
          </a:p>
        </p:txBody>
      </p:sp>
      <p:cxnSp>
        <p:nvCxnSpPr>
          <p:cNvPr id="80" name="Connector 79"/>
          <p:cNvCxnSpPr/>
          <p:nvPr/>
        </p:nvCxnSpPr>
        <p:spPr>
          <a:xfrm>
            <a:off x="11521440" y="1773936"/>
            <a:ext cx="0" cy="43113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9529876" y="4338828"/>
            <a:ext cx="2337206" cy="1330452"/>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9529876" y="4338828"/>
            <a:ext cx="5029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alt: 성공 / 실패</a:t>
            </a:r>
          </a:p>
        </p:txBody>
      </p:sp>
      <p:cxnSp>
        <p:nvCxnSpPr>
          <p:cNvPr id="83" name="Connector 82"/>
          <p:cNvCxnSpPr/>
          <p:nvPr/>
        </p:nvCxnSpPr>
        <p:spPr>
          <a:xfrm>
            <a:off x="6583680" y="2103120"/>
            <a:ext cx="82296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391084" y="1947672"/>
            <a:ext cx="120815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event (usage↑ / access)</a:t>
            </a:r>
          </a:p>
        </p:txBody>
      </p:sp>
      <p:cxnSp>
        <p:nvCxnSpPr>
          <p:cNvPr id="85" name="Connector 84"/>
          <p:cNvCxnSpPr/>
          <p:nvPr/>
        </p:nvCxnSpPr>
        <p:spPr>
          <a:xfrm>
            <a:off x="7406640" y="2290572"/>
            <a:ext cx="256031"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62671" y="2290572"/>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a:off x="7406640" y="2455164"/>
            <a:ext cx="25603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699248" y="2253996"/>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tick (독립 판단 주기)</a:t>
            </a:r>
          </a:p>
        </p:txBody>
      </p:sp>
      <p:cxnSp>
        <p:nvCxnSpPr>
          <p:cNvPr id="89" name="Connector 88"/>
          <p:cNvCxnSpPr/>
          <p:nvPr/>
        </p:nvCxnSpPr>
        <p:spPr>
          <a:xfrm flipH="1">
            <a:off x="6583680" y="2715768"/>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6583680" y="2560320"/>
            <a:ext cx="82295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build snapshot</a:t>
            </a:r>
          </a:p>
        </p:txBody>
      </p:sp>
      <p:cxnSp>
        <p:nvCxnSpPr>
          <p:cNvPr id="91" name="Connector 90"/>
          <p:cNvCxnSpPr/>
          <p:nvPr/>
        </p:nvCxnSpPr>
        <p:spPr>
          <a:xfrm>
            <a:off x="6583680" y="297637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6547104" y="2820924"/>
            <a:ext cx="896112"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ResourceSnapshot</a:t>
            </a:r>
          </a:p>
        </p:txBody>
      </p:sp>
      <p:cxnSp>
        <p:nvCxnSpPr>
          <p:cNvPr id="93" name="Connector 92"/>
          <p:cNvCxnSpPr/>
          <p:nvPr/>
        </p:nvCxnSpPr>
        <p:spPr>
          <a:xfrm>
            <a:off x="7406640" y="323697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236333" y="3081528"/>
            <a:ext cx="1163574"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analyze → map → decide</a:t>
            </a:r>
          </a:p>
        </p:txBody>
      </p:sp>
      <p:cxnSp>
        <p:nvCxnSpPr>
          <p:cNvPr id="95" name="Connector 94"/>
          <p:cNvCxnSpPr/>
          <p:nvPr/>
        </p:nvCxnSpPr>
        <p:spPr>
          <a:xfrm flipH="1">
            <a:off x="7406640" y="3497580"/>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303198" y="3342132"/>
            <a:ext cx="1029843"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MigrationDecision[]</a:t>
            </a:r>
          </a:p>
        </p:txBody>
      </p:sp>
      <p:cxnSp>
        <p:nvCxnSpPr>
          <p:cNvPr id="97" name="Connector 96"/>
          <p:cNvCxnSpPr/>
          <p:nvPr/>
        </p:nvCxnSpPr>
        <p:spPr>
          <a:xfrm>
            <a:off x="7406640" y="3758184"/>
            <a:ext cx="164592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406640" y="3602736"/>
            <a:ext cx="164592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enqueue(decision)</a:t>
            </a:r>
          </a:p>
        </p:txBody>
      </p:sp>
      <p:cxnSp>
        <p:nvCxnSpPr>
          <p:cNvPr id="99" name="Connector 98"/>
          <p:cNvCxnSpPr/>
          <p:nvPr/>
        </p:nvCxnSpPr>
        <p:spPr>
          <a:xfrm flipH="1">
            <a:off x="9052560" y="4018788"/>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9052560" y="3863340"/>
            <a:ext cx="82296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dequeue()</a:t>
            </a:r>
          </a:p>
        </p:txBody>
      </p:sp>
      <p:cxnSp>
        <p:nvCxnSpPr>
          <p:cNvPr id="101" name="Connector 100"/>
          <p:cNvCxnSpPr/>
          <p:nvPr/>
        </p:nvCxnSpPr>
        <p:spPr>
          <a:xfrm>
            <a:off x="9875520" y="4279392"/>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9616059" y="4123944"/>
            <a:ext cx="1341881"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transfer_async(job)  [DMA]</a:t>
            </a:r>
          </a:p>
        </p:txBody>
      </p:sp>
      <p:cxnSp>
        <p:nvCxnSpPr>
          <p:cNvPr id="103" name="Connector 102"/>
          <p:cNvCxnSpPr/>
          <p:nvPr/>
        </p:nvCxnSpPr>
        <p:spPr>
          <a:xfrm flipH="1">
            <a:off x="9875520" y="475945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9682924" y="4604004"/>
            <a:ext cx="120815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TransferResult(success)</a:t>
            </a:r>
          </a:p>
        </p:txBody>
      </p:sp>
      <p:cxnSp>
        <p:nvCxnSpPr>
          <p:cNvPr id="105" name="Connector 104"/>
          <p:cNvCxnSpPr/>
          <p:nvPr/>
        </p:nvCxnSpPr>
        <p:spPr>
          <a:xfrm>
            <a:off x="9875520" y="5020056"/>
            <a:ext cx="16459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9875520" y="4864608"/>
            <a:ext cx="16459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move(object, tier) + arm lease</a:t>
            </a:r>
          </a:p>
        </p:txBody>
      </p:sp>
      <p:cxnSp>
        <p:nvCxnSpPr>
          <p:cNvPr id="107" name="Connector 106"/>
          <p:cNvCxnSpPr/>
          <p:nvPr/>
        </p:nvCxnSpPr>
        <p:spPr>
          <a:xfrm>
            <a:off x="9529876" y="5170932"/>
            <a:ext cx="2337207" cy="0"/>
          </a:xfrm>
          <a:prstGeom prst="line">
            <a:avLst/>
          </a:prstGeom>
          <a:ln w="952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557308" y="5170932"/>
            <a:ext cx="1463040" cy="146304"/>
          </a:xfrm>
          <a:prstGeom prst="rect">
            <a:avLst/>
          </a:prstGeom>
          <a:noFill/>
        </p:spPr>
        <p:txBody>
          <a:bodyPr wrap="none" lIns="0" tIns="18288" rIns="0" bIns="18288" anchor="t">
            <a:spAutoFit/>
          </a:bodyPr>
          <a:lstStyle/>
          <a:p>
            <a:pPr algn="l">
              <a:spcAft>
                <a:spcPts val="0"/>
              </a:spcAft>
            </a:pPr>
            <a:r>
              <a:rPr sz="600" b="1" i="0">
                <a:solidFill>
                  <a:srgbClr val="000000"/>
                </a:solidFill>
                <a:latin typeface="맑은 고딕"/>
                <a:ea typeface="맑은 고딕"/>
                <a:cs typeface="맑은 고딕"/>
              </a:rPr>
              <a:t>실패 / timeout → 대체 경로</a:t>
            </a:r>
          </a:p>
        </p:txBody>
      </p:sp>
      <p:cxnSp>
        <p:nvCxnSpPr>
          <p:cNvPr id="109" name="Connector 108"/>
          <p:cNvCxnSpPr/>
          <p:nvPr/>
        </p:nvCxnSpPr>
        <p:spPr>
          <a:xfrm>
            <a:off x="9875520" y="5390388"/>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0131552" y="5390388"/>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9875520" y="5554980"/>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0168128" y="5353812"/>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rollback, 재계산 경로</a:t>
            </a:r>
          </a:p>
        </p:txBody>
      </p:sp>
      <p:cxnSp>
        <p:nvCxnSpPr>
          <p:cNvPr id="113" name="Connector 112"/>
          <p:cNvCxnSpPr/>
          <p:nvPr/>
        </p:nvCxnSpPr>
        <p:spPr>
          <a:xfrm flipH="1">
            <a:off x="7406640" y="5925312"/>
            <a:ext cx="411480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7406640" y="5769864"/>
            <a:ext cx="411480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Event(Lease Expired) → 재평가</a:t>
            </a:r>
          </a:p>
        </p:txBody>
      </p:sp>
      <p:sp>
        <p:nvSpPr>
          <p:cNvPr id="115" name="실행 단추: 뒤로 또는 앞으로 이동 104">
            <a:hlinkClick r:id="rId3" action="ppaction://hlinksldjump" highlightClick="1"/>
            <a:extLst>
              <a:ext uri="{FF2B5EF4-FFF2-40B4-BE49-F238E27FC236}">
                <a16:creationId xmlns:a16="http://schemas.microsoft.com/office/drawing/2014/main" id="{D4ACBD71-C54D-497F-B9B3-F5A2E6405E77}"/>
              </a:ext>
            </a:extLst>
          </p:cNvPr>
          <p:cNvSpPr/>
          <p:nvPr/>
        </p:nvSpPr>
        <p:spPr>
          <a:xfrm>
            <a:off x="7559421" y="181355"/>
            <a:ext cx="295275" cy="246888"/>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DP2 </a:t>
            </a:r>
            <a:r>
              <a:rPr dirty="0" err="1"/>
              <a:t>연산</a:t>
            </a:r>
            <a:r>
              <a:rPr dirty="0"/>
              <a:t> </a:t>
            </a:r>
            <a:r>
              <a:rPr dirty="0" err="1"/>
              <a:t>실행</a:t>
            </a:r>
            <a:r>
              <a:rPr dirty="0"/>
              <a:t> </a:t>
            </a:r>
            <a:r>
              <a:rPr dirty="0" err="1"/>
              <a:t>위치</a:t>
            </a:r>
            <a:r>
              <a:rPr dirty="0"/>
              <a:t> </a:t>
            </a:r>
            <a:r>
              <a:rPr dirty="0" err="1"/>
              <a:t>결정</a:t>
            </a:r>
            <a:r>
              <a:rPr dirty="0"/>
              <a:t> – 1안 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26</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pPr algn="l">
              <a:spcAft>
                <a:spcPts val="0"/>
              </a:spcAft>
            </a:pPr>
            <a:r>
              <a:rPr sz="1200" b="1" i="0" dirty="0">
                <a:solidFill>
                  <a:srgbClr val="FFFFFF"/>
                </a:solidFill>
                <a:latin typeface="맑은 고딕"/>
                <a:ea typeface="맑은 고딕"/>
                <a:cs typeface="맑은 고딕"/>
              </a:rPr>
              <a:t>DP2. </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1안</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스케줄링</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시점</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결정</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Plan+Decision</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동시</a:t>
            </a:r>
            <a:r>
              <a:rPr sz="1200" b="1" i="0" dirty="0">
                <a:solidFill>
                  <a:srgbClr val="FFFFFF"/>
                </a:solidFill>
                <a:latin typeface="맑은 고딕"/>
                <a:ea typeface="맑은 고딕"/>
                <a:cs typeface="맑은 고딕"/>
              </a:rPr>
              <a:t>)</a:t>
            </a: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QA-04</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0" name="Rounded Rectangle 9"/>
          <p:cNvSpPr/>
          <p:nvPr/>
        </p:nvSpPr>
        <p:spPr>
          <a:xfrm>
            <a:off x="9861803"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FR03</a:t>
            </a:r>
          </a:p>
        </p:txBody>
      </p:sp>
      <p:sp>
        <p:nvSpPr>
          <p:cNvPr id="11" name="Rounded Rectangle 10"/>
          <p:cNvSpPr/>
          <p:nvPr/>
        </p:nvSpPr>
        <p:spPr>
          <a:xfrm>
            <a:off x="939545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FR02</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endParaRPr lang="ko-KR" altLang="en-US" sz="1100" b="1" dirty="0">
              <a:solidFill>
                <a:srgbClr val="FFFFFF"/>
              </a:solidFill>
              <a:ea typeface="맑은 고딕"/>
              <a:cs typeface="맑은 고딕"/>
            </a:endParaRP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17" name="Rectangle 16"/>
          <p:cNvSpPr/>
          <p:nvPr/>
        </p:nvSpPr>
        <p:spPr>
          <a:xfrm>
            <a:off x="365760"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planner</a:t>
            </a:r>
          </a:p>
        </p:txBody>
      </p:sp>
      <p:sp>
        <p:nvSpPr>
          <p:cNvPr id="18" name="Rectangle 17"/>
          <p:cNvSpPr/>
          <p:nvPr/>
        </p:nvSpPr>
        <p:spPr>
          <a:xfrm>
            <a:off x="365760"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 SchedulerOutput</a:t>
            </a:r>
          </a:p>
        </p:txBody>
      </p:sp>
      <p:sp>
        <p:nvSpPr>
          <p:cNvPr id="19" name="Rectangle 18"/>
          <p:cNvSpPr/>
          <p:nvPr/>
        </p:nvSpPr>
        <p:spPr>
          <a:xfrm>
            <a:off x="2267712"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ExecutionPlanner</a:t>
            </a:r>
          </a:p>
        </p:txBody>
      </p:sp>
      <p:sp>
        <p:nvSpPr>
          <p:cNvPr id="20" name="Rectangle 19"/>
          <p:cNvSpPr/>
          <p:nvPr/>
        </p:nvSpPr>
        <p:spPr>
          <a:xfrm>
            <a:off x="2267712" y="169163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evaluator</a:t>
            </a:r>
          </a:p>
          <a:p>
            <a:pPr algn="l">
              <a:spcAft>
                <a:spcPts val="0"/>
              </a:spcAft>
            </a:pPr>
            <a:r>
              <a:rPr sz="650" b="0" i="0">
                <a:solidFill>
                  <a:srgbClr val="000000"/>
                </a:solidFill>
                <a:latin typeface="맑은 고딕"/>
                <a:ea typeface="맑은 고딕"/>
                <a:cs typeface="맑은 고딕"/>
              </a:rPr>
              <a:t>router</a:t>
            </a:r>
          </a:p>
        </p:txBody>
      </p:sp>
      <p:sp>
        <p:nvSpPr>
          <p:cNvPr id="21" name="Rectangle 20"/>
          <p:cNvSpPr/>
          <p:nvPr/>
        </p:nvSpPr>
        <p:spPr>
          <a:xfrm>
            <a:off x="2267712" y="195315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plan_batch(ctxs): list[Plan]</a:t>
            </a:r>
          </a:p>
          <a:p>
            <a:pPr algn="l">
              <a:spcAft>
                <a:spcPts val="0"/>
              </a:spcAft>
            </a:pPr>
            <a:r>
              <a:rPr sz="650" b="0" i="0">
                <a:solidFill>
                  <a:srgbClr val="000000"/>
                </a:solidFill>
                <a:latin typeface="맑은 고딕"/>
                <a:ea typeface="맑은 고딕"/>
                <a:cs typeface="맑은 고딕"/>
              </a:rPr>
              <a:t>// 스케줄링 시점에 계산</a:t>
            </a:r>
          </a:p>
        </p:txBody>
      </p:sp>
      <p:sp>
        <p:nvSpPr>
          <p:cNvPr id="22" name="Rectangle 21"/>
          <p:cNvSpPr/>
          <p:nvPr/>
        </p:nvSpPr>
        <p:spPr>
          <a:xfrm>
            <a:off x="4169663"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a:t>
            </a:r>
          </a:p>
        </p:txBody>
      </p:sp>
      <p:sp>
        <p:nvSpPr>
          <p:cNvPr id="23" name="Rectangle 22"/>
          <p:cNvSpPr/>
          <p:nvPr/>
        </p:nvSpPr>
        <p:spPr>
          <a:xfrm>
            <a:off x="4169663" y="1691639"/>
            <a:ext cx="1600200"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prefill_resource</a:t>
            </a:r>
          </a:p>
          <a:p>
            <a:pPr algn="l">
              <a:spcAft>
                <a:spcPts val="0"/>
              </a:spcAft>
            </a:pPr>
            <a:r>
              <a:rPr sz="650" b="0" i="0">
                <a:solidFill>
                  <a:srgbClr val="000000"/>
                </a:solidFill>
                <a:latin typeface="맑은 고딕"/>
                <a:ea typeface="맑은 고딕"/>
                <a:cs typeface="맑은 고딕"/>
              </a:rPr>
              <a:t>decode_start_resource</a:t>
            </a:r>
          </a:p>
          <a:p>
            <a:pPr algn="l">
              <a:spcAft>
                <a:spcPts val="0"/>
              </a:spcAft>
            </a:pPr>
            <a:r>
              <a:rPr sz="650" b="0" i="0">
                <a:solidFill>
                  <a:srgbClr val="000000"/>
                </a:solidFill>
                <a:latin typeface="맑은 고딕"/>
                <a:ea typeface="맑은 고딕"/>
                <a:cs typeface="맑은 고딕"/>
              </a:rPr>
              <a:t>data_moves</a:t>
            </a:r>
          </a:p>
        </p:txBody>
      </p:sp>
      <p:sp>
        <p:nvSpPr>
          <p:cNvPr id="24" name="Rectangle 23"/>
          <p:cNvSpPr/>
          <p:nvPr/>
        </p:nvSpPr>
        <p:spPr>
          <a:xfrm>
            <a:off x="4169663" y="2061057"/>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267712" y="28346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CostEvaluator</a:t>
            </a:r>
          </a:p>
        </p:txBody>
      </p:sp>
      <p:sp>
        <p:nvSpPr>
          <p:cNvPr id="26" name="Rectangle 25"/>
          <p:cNvSpPr/>
          <p:nvPr/>
        </p:nvSpPr>
        <p:spPr>
          <a:xfrm>
            <a:off x="2267712" y="301752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model</a:t>
            </a:r>
          </a:p>
        </p:txBody>
      </p:sp>
      <p:sp>
        <p:nvSpPr>
          <p:cNvPr id="27" name="Rectangle 26"/>
          <p:cNvSpPr/>
          <p:nvPr/>
        </p:nvSpPr>
        <p:spPr>
          <a:xfrm>
            <a:off x="2267712" y="31711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evaluate(ctx, cands, snap)</a:t>
            </a:r>
          </a:p>
        </p:txBody>
      </p:sp>
      <p:sp>
        <p:nvSpPr>
          <p:cNvPr id="28" name="Rectangle 27"/>
          <p:cNvSpPr/>
          <p:nvPr/>
        </p:nvSpPr>
        <p:spPr>
          <a:xfrm>
            <a:off x="4169663" y="283464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«interface»</a:t>
            </a:r>
          </a:p>
          <a:p>
            <a:pPr algn="ctr">
              <a:spcAft>
                <a:spcPts val="0"/>
              </a:spcAft>
            </a:pPr>
            <a:r>
              <a:rPr sz="750" b="1" i="0">
                <a:solidFill>
                  <a:srgbClr val="000000"/>
                </a:solidFill>
                <a:latin typeface="맑은 고딕"/>
                <a:ea typeface="맑은 고딕"/>
                <a:cs typeface="맑은 고딕"/>
              </a:rPr>
              <a:t>ExecutionCostModel</a:t>
            </a:r>
          </a:p>
        </p:txBody>
      </p:sp>
      <p:sp>
        <p:nvSpPr>
          <p:cNvPr id="29" name="Rectangle 28"/>
          <p:cNvSpPr/>
          <p:nvPr/>
        </p:nvSpPr>
        <p:spPr>
          <a:xfrm>
            <a:off x="4169663" y="310896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69663" y="31546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estimate(ctx, cand, snap)</a:t>
            </a:r>
          </a:p>
        </p:txBody>
      </p:sp>
      <p:sp>
        <p:nvSpPr>
          <p:cNvPr id="31" name="Rectangle 30"/>
          <p:cNvSpPr/>
          <p:nvPr/>
        </p:nvSpPr>
        <p:spPr>
          <a:xfrm>
            <a:off x="365760" y="28346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ResourceStateMonitor</a:t>
            </a:r>
          </a:p>
        </p:txBody>
      </p:sp>
      <p:sp>
        <p:nvSpPr>
          <p:cNvPr id="32" name="Rectangle 31"/>
          <p:cNvSpPr/>
          <p:nvPr/>
        </p:nvSpPr>
        <p:spPr>
          <a:xfrm>
            <a:off x="365760" y="3017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365760" y="30632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snapshot(): RuntimeState</a:t>
            </a:r>
          </a:p>
        </p:txBody>
      </p:sp>
      <p:sp>
        <p:nvSpPr>
          <p:cNvPr id="34" name="Rectangle 33"/>
          <p:cNvSpPr/>
          <p:nvPr/>
        </p:nvSpPr>
        <p:spPr>
          <a:xfrm>
            <a:off x="365760" y="416052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KVStateMonitor</a:t>
            </a:r>
          </a:p>
        </p:txBody>
      </p:sp>
      <p:sp>
        <p:nvSpPr>
          <p:cNvPr id="35" name="Rectangle 34"/>
          <p:cNvSpPr/>
          <p:nvPr/>
        </p:nvSpPr>
        <p:spPr>
          <a:xfrm>
            <a:off x="365760" y="434340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65760" y="438912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kv_location(request_id)</a:t>
            </a:r>
          </a:p>
        </p:txBody>
      </p:sp>
      <p:sp>
        <p:nvSpPr>
          <p:cNvPr id="37" name="Rectangle 36"/>
          <p:cNvSpPr/>
          <p:nvPr/>
        </p:nvSpPr>
        <p:spPr>
          <a:xfrm>
            <a:off x="2267712" y="416052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ExecutionRouter</a:t>
            </a:r>
          </a:p>
        </p:txBody>
      </p:sp>
      <p:sp>
        <p:nvSpPr>
          <p:cNvPr id="38" name="Rectangle 37"/>
          <p:cNvSpPr/>
          <p:nvPr/>
        </p:nvSpPr>
        <p:spPr>
          <a:xfrm>
            <a:off x="2267712" y="434340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workers</a:t>
            </a:r>
          </a:p>
        </p:txBody>
      </p:sp>
      <p:sp>
        <p:nvSpPr>
          <p:cNvPr id="39" name="Rectangle 38"/>
          <p:cNvSpPr/>
          <p:nvPr/>
        </p:nvSpPr>
        <p:spPr>
          <a:xfrm>
            <a:off x="2267712" y="449701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dispatch(plan, output)</a:t>
            </a:r>
          </a:p>
        </p:txBody>
      </p:sp>
      <p:sp>
        <p:nvSpPr>
          <p:cNvPr id="40" name="Rectangle 39"/>
          <p:cNvSpPr/>
          <p:nvPr/>
        </p:nvSpPr>
        <p:spPr>
          <a:xfrm>
            <a:off x="4169663" y="416052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Worker</a:t>
            </a:r>
          </a:p>
        </p:txBody>
      </p:sp>
      <p:sp>
        <p:nvSpPr>
          <p:cNvPr id="41" name="Rectangle 40"/>
          <p:cNvSpPr/>
          <p:nvPr/>
        </p:nvSpPr>
        <p:spPr>
          <a:xfrm>
            <a:off x="4169663" y="434340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169663" y="438912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execute_model(...)</a:t>
            </a:r>
          </a:p>
        </p:txBody>
      </p:sp>
      <p:cxnSp>
        <p:nvCxnSpPr>
          <p:cNvPr id="43" name="Connector 42"/>
          <p:cNvCxnSpPr/>
          <p:nvPr/>
        </p:nvCxnSpPr>
        <p:spPr>
          <a:xfrm>
            <a:off x="1965960" y="1753819"/>
            <a:ext cx="301752" cy="10789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867912" y="1807768"/>
            <a:ext cx="30175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3067812" y="2214676"/>
            <a:ext cx="0" cy="61996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867912" y="3071469"/>
            <a:ext cx="301751" cy="823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1965960" y="3025749"/>
            <a:ext cx="301752" cy="5395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65860" y="3216859"/>
            <a:ext cx="0" cy="943661"/>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3547872" y="2106777"/>
            <a:ext cx="941831" cy="2053743"/>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867912" y="4351629"/>
            <a:ext cx="30175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65760" y="5577840"/>
            <a:ext cx="5486400" cy="236988"/>
          </a:xfrm>
          <a:prstGeom prst="rect">
            <a:avLst/>
          </a:prstGeom>
          <a:noFill/>
        </p:spPr>
        <p:txBody>
          <a:bodyPr wrap="square" lIns="36576" tIns="18288" rIns="36576" bIns="18288" anchor="t">
            <a:spAutoFit/>
          </a:bodyPr>
          <a:lstStyle/>
          <a:p>
            <a:pPr algn="l">
              <a:spcAft>
                <a:spcPts val="0"/>
              </a:spcAft>
            </a:pPr>
            <a:r>
              <a:rPr sz="650" b="0" i="0" dirty="0">
                <a:solidFill>
                  <a:srgbClr val="000000"/>
                </a:solidFill>
                <a:latin typeface="맑은 고딕"/>
                <a:ea typeface="맑은 고딕"/>
                <a:cs typeface="맑은 고딕"/>
              </a:rPr>
              <a:t>• Plan </a:t>
            </a:r>
            <a:r>
              <a:rPr sz="650" b="0" i="0" dirty="0" err="1">
                <a:solidFill>
                  <a:srgbClr val="000000"/>
                </a:solidFill>
                <a:latin typeface="맑은 고딕"/>
                <a:ea typeface="맑은 고딕"/>
                <a:cs typeface="맑은 고딕"/>
              </a:rPr>
              <a:t>Cache·Validator</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없음</a:t>
            </a:r>
            <a:r>
              <a:rPr sz="650" b="0" i="0" dirty="0">
                <a:solidFill>
                  <a:srgbClr val="000000"/>
                </a:solidFill>
                <a:latin typeface="맑은 고딕"/>
                <a:ea typeface="맑은 고딕"/>
                <a:cs typeface="맑은 고딕"/>
              </a:rPr>
              <a:t>. schedule() </a:t>
            </a:r>
            <a:r>
              <a:rPr sz="650" b="0" i="0" dirty="0" err="1">
                <a:solidFill>
                  <a:srgbClr val="000000"/>
                </a:solidFill>
                <a:latin typeface="맑은 고딕"/>
                <a:ea typeface="맑은 고딕"/>
                <a:cs typeface="맑은 고딕"/>
              </a:rPr>
              <a:t>안에서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최신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상태로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Cost를</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계산하고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바로</a:t>
            </a:r>
            <a:r>
              <a:rPr sz="650" b="0" i="0" dirty="0">
                <a:solidFill>
                  <a:srgbClr val="000000"/>
                </a:solidFill>
                <a:latin typeface="맑은 고딕"/>
                <a:ea typeface="맑은 고딕"/>
                <a:cs typeface="맑은 고딕"/>
              </a:rPr>
              <a:t> dispatch</a:t>
            </a: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장점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실시간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부하·자원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상태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반영</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약점</a:t>
            </a:r>
            <a:r>
              <a:rPr sz="650" b="0" i="0" dirty="0">
                <a:solidFill>
                  <a:srgbClr val="000000"/>
                </a:solidFill>
                <a:latin typeface="맑은 고딕"/>
                <a:ea typeface="맑은 고딕"/>
                <a:cs typeface="맑은 고딕"/>
              </a:rPr>
              <a:t>: Cost </a:t>
            </a:r>
            <a:r>
              <a:rPr sz="650" b="0" i="0" dirty="0" err="1">
                <a:solidFill>
                  <a:srgbClr val="000000"/>
                </a:solidFill>
                <a:latin typeface="맑은 고딕"/>
                <a:ea typeface="맑은 고딕"/>
                <a:cs typeface="맑은 고딕"/>
              </a:rPr>
              <a:t>계산이</a:t>
            </a:r>
            <a:r>
              <a:rPr sz="650" b="0" i="0" dirty="0">
                <a:solidFill>
                  <a:srgbClr val="000000"/>
                </a:solidFill>
                <a:latin typeface="맑은 고딕"/>
                <a:ea typeface="맑은 고딕"/>
                <a:cs typeface="맑은 고딕"/>
              </a:rPr>
              <a:t> critical </a:t>
            </a:r>
            <a:r>
              <a:rPr sz="650" b="0" i="0" dirty="0" err="1">
                <a:solidFill>
                  <a:srgbClr val="000000"/>
                </a:solidFill>
                <a:latin typeface="맑은 고딕"/>
                <a:ea typeface="맑은 고딕"/>
                <a:cs typeface="맑은 고딕"/>
              </a:rPr>
              <a:t>path에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포함</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자원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종류</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증가</a:t>
            </a:r>
            <a:r>
              <a:rPr sz="650" b="0" i="0" dirty="0">
                <a:solidFill>
                  <a:srgbClr val="000000"/>
                </a:solidFill>
                <a:latin typeface="맑은 고딕"/>
                <a:ea typeface="맑은 고딕"/>
                <a:cs typeface="맑은 고딕"/>
              </a:rPr>
              <a:t> 시 monitoring </a:t>
            </a:r>
            <a:r>
              <a:rPr sz="650" b="0" i="0" dirty="0" err="1">
                <a:solidFill>
                  <a:srgbClr val="000000"/>
                </a:solidFill>
                <a:latin typeface="맑은 고딕"/>
                <a:ea typeface="맑은 고딕"/>
                <a:cs typeface="맑은 고딕"/>
              </a:rPr>
              <a:t>비용</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증가</a:t>
            </a:r>
            <a:endParaRPr sz="650" b="0" i="0" dirty="0">
              <a:solidFill>
                <a:srgbClr val="000000"/>
              </a:solidFill>
              <a:latin typeface="맑은 고딕"/>
              <a:ea typeface="맑은 고딕"/>
              <a:cs typeface="맑은 고딕"/>
            </a:endParaRPr>
          </a:p>
        </p:txBody>
      </p:sp>
      <p:sp>
        <p:nvSpPr>
          <p:cNvPr id="52" name="Rectangle 51"/>
          <p:cNvSpPr/>
          <p:nvPr/>
        </p:nvSpPr>
        <p:spPr>
          <a:xfrm>
            <a:off x="6208776" y="1463040"/>
            <a:ext cx="1078992"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EngineCore</a:t>
            </a:r>
          </a:p>
        </p:txBody>
      </p:sp>
      <p:cxnSp>
        <p:nvCxnSpPr>
          <p:cNvPr id="53" name="Connector 52"/>
          <p:cNvCxnSpPr/>
          <p:nvPr/>
        </p:nvCxnSpPr>
        <p:spPr>
          <a:xfrm>
            <a:off x="6748272" y="1773936"/>
            <a:ext cx="0" cy="325526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7360920" y="1463040"/>
            <a:ext cx="1078992"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Scheduler</a:t>
            </a:r>
          </a:p>
        </p:txBody>
      </p:sp>
      <p:cxnSp>
        <p:nvCxnSpPr>
          <p:cNvPr id="55" name="Connector 54"/>
          <p:cNvCxnSpPr/>
          <p:nvPr/>
        </p:nvCxnSpPr>
        <p:spPr>
          <a:xfrm>
            <a:off x="7900416" y="1773936"/>
            <a:ext cx="0" cy="325526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513064" y="1463040"/>
            <a:ext cx="1078992"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Execution</a:t>
            </a:r>
          </a:p>
          <a:p>
            <a:pPr algn="ctr">
              <a:spcAft>
                <a:spcPts val="0"/>
              </a:spcAft>
            </a:pPr>
            <a:r>
              <a:rPr sz="650" b="1" i="0">
                <a:solidFill>
                  <a:srgbClr val="000000"/>
                </a:solidFill>
                <a:latin typeface="맑은 고딕"/>
                <a:ea typeface="맑은 고딕"/>
                <a:cs typeface="맑은 고딕"/>
              </a:rPr>
              <a:t>Planner</a:t>
            </a:r>
          </a:p>
        </p:txBody>
      </p:sp>
      <p:cxnSp>
        <p:nvCxnSpPr>
          <p:cNvPr id="57" name="Connector 56"/>
          <p:cNvCxnSpPr/>
          <p:nvPr/>
        </p:nvCxnSpPr>
        <p:spPr>
          <a:xfrm>
            <a:off x="9052560" y="1773936"/>
            <a:ext cx="0" cy="325526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9665208" y="1463040"/>
            <a:ext cx="1078992"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CostEval /</a:t>
            </a:r>
          </a:p>
          <a:p>
            <a:pPr algn="ctr">
              <a:spcAft>
                <a:spcPts val="0"/>
              </a:spcAft>
            </a:pPr>
            <a:r>
              <a:rPr sz="650" b="1" i="0">
                <a:solidFill>
                  <a:srgbClr val="000000"/>
                </a:solidFill>
                <a:latin typeface="맑은 고딕"/>
                <a:ea typeface="맑은 고딕"/>
                <a:cs typeface="맑은 고딕"/>
              </a:rPr>
              <a:t>StateMonitor</a:t>
            </a:r>
          </a:p>
        </p:txBody>
      </p:sp>
      <p:cxnSp>
        <p:nvCxnSpPr>
          <p:cNvPr id="59" name="Connector 58"/>
          <p:cNvCxnSpPr/>
          <p:nvPr/>
        </p:nvCxnSpPr>
        <p:spPr>
          <a:xfrm>
            <a:off x="10204704" y="1773936"/>
            <a:ext cx="0" cy="325526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10817352" y="1463040"/>
            <a:ext cx="1078992"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Execution</a:t>
            </a:r>
          </a:p>
          <a:p>
            <a:pPr algn="ctr">
              <a:spcAft>
                <a:spcPts val="0"/>
              </a:spcAft>
            </a:pPr>
            <a:r>
              <a:rPr sz="650" b="1" i="0">
                <a:solidFill>
                  <a:srgbClr val="000000"/>
                </a:solidFill>
                <a:latin typeface="맑은 고딕"/>
                <a:ea typeface="맑은 고딕"/>
                <a:cs typeface="맑은 고딕"/>
              </a:rPr>
              <a:t>Router→Worker</a:t>
            </a:r>
          </a:p>
        </p:txBody>
      </p:sp>
      <p:cxnSp>
        <p:nvCxnSpPr>
          <p:cNvPr id="61" name="Connector 60"/>
          <p:cNvCxnSpPr/>
          <p:nvPr/>
        </p:nvCxnSpPr>
        <p:spPr>
          <a:xfrm>
            <a:off x="11356848" y="1773936"/>
            <a:ext cx="0" cy="325526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7416515" y="2514600"/>
            <a:ext cx="3272088" cy="1316736"/>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7416515" y="2514600"/>
            <a:ext cx="1874519"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critical path (Cost 계산 포함)</a:t>
            </a:r>
          </a:p>
        </p:txBody>
      </p:sp>
      <p:cxnSp>
        <p:nvCxnSpPr>
          <p:cNvPr id="64" name="Connector 63"/>
          <p:cNvCxnSpPr/>
          <p:nvPr/>
        </p:nvCxnSpPr>
        <p:spPr>
          <a:xfrm>
            <a:off x="6748272" y="2103120"/>
            <a:ext cx="1152144"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748271" y="1947672"/>
            <a:ext cx="1152144"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schedule()</a:t>
            </a:r>
          </a:p>
        </p:txBody>
      </p:sp>
      <p:cxnSp>
        <p:nvCxnSpPr>
          <p:cNvPr id="66" name="Connector 65"/>
          <p:cNvCxnSpPr/>
          <p:nvPr/>
        </p:nvCxnSpPr>
        <p:spPr>
          <a:xfrm>
            <a:off x="7900416" y="2290572"/>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156448" y="2290572"/>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7900416" y="2455164"/>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8193024" y="2253996"/>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request 선택 + token budget 확정</a:t>
            </a:r>
          </a:p>
        </p:txBody>
      </p:sp>
      <p:cxnSp>
        <p:nvCxnSpPr>
          <p:cNvPr id="70" name="Connector 69"/>
          <p:cNvCxnSpPr/>
          <p:nvPr/>
        </p:nvCxnSpPr>
        <p:spPr>
          <a:xfrm>
            <a:off x="7900416" y="2935224"/>
            <a:ext cx="1152144"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900416" y="2779776"/>
            <a:ext cx="1152143"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plan_batch(ctxs)</a:t>
            </a:r>
          </a:p>
        </p:txBody>
      </p:sp>
      <p:cxnSp>
        <p:nvCxnSpPr>
          <p:cNvPr id="72" name="Connector 71"/>
          <p:cNvCxnSpPr/>
          <p:nvPr/>
        </p:nvCxnSpPr>
        <p:spPr>
          <a:xfrm>
            <a:off x="9052560" y="3195828"/>
            <a:ext cx="1152144"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868537" y="3040380"/>
            <a:ext cx="152018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latest snapshot() + estimate()</a:t>
            </a:r>
          </a:p>
        </p:txBody>
      </p:sp>
      <p:cxnSp>
        <p:nvCxnSpPr>
          <p:cNvPr id="74" name="Connector 73"/>
          <p:cNvCxnSpPr/>
          <p:nvPr/>
        </p:nvCxnSpPr>
        <p:spPr>
          <a:xfrm flipH="1">
            <a:off x="9052560" y="3456432"/>
            <a:ext cx="1152144"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9052560" y="3300984"/>
            <a:ext cx="1152143"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CostEstimate × n</a:t>
            </a:r>
          </a:p>
        </p:txBody>
      </p:sp>
      <p:cxnSp>
        <p:nvCxnSpPr>
          <p:cNvPr id="76" name="Connector 75"/>
          <p:cNvCxnSpPr/>
          <p:nvPr/>
        </p:nvCxnSpPr>
        <p:spPr>
          <a:xfrm flipH="1">
            <a:off x="7900416" y="3717036"/>
            <a:ext cx="1152144"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7900416" y="3561588"/>
            <a:ext cx="1152143"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ExecutionPlan[]</a:t>
            </a:r>
          </a:p>
        </p:txBody>
      </p:sp>
      <p:cxnSp>
        <p:nvCxnSpPr>
          <p:cNvPr id="78" name="Connector 77"/>
          <p:cNvCxnSpPr/>
          <p:nvPr/>
        </p:nvCxnSpPr>
        <p:spPr>
          <a:xfrm flipH="1">
            <a:off x="6748272" y="4087368"/>
            <a:ext cx="1152144"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720268" y="3931920"/>
            <a:ext cx="120815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SchedulerOutput + plans</a:t>
            </a:r>
          </a:p>
        </p:txBody>
      </p:sp>
      <p:cxnSp>
        <p:nvCxnSpPr>
          <p:cNvPr id="80" name="Connector 79"/>
          <p:cNvCxnSpPr/>
          <p:nvPr/>
        </p:nvCxnSpPr>
        <p:spPr>
          <a:xfrm>
            <a:off x="6748272" y="4347972"/>
            <a:ext cx="4608576"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748272" y="4192524"/>
            <a:ext cx="4608576"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dispatch(plans)</a:t>
            </a:r>
          </a:p>
        </p:txBody>
      </p:sp>
      <p:cxnSp>
        <p:nvCxnSpPr>
          <p:cNvPr id="82" name="Connector 81"/>
          <p:cNvCxnSpPr/>
          <p:nvPr/>
        </p:nvCxnSpPr>
        <p:spPr>
          <a:xfrm flipH="1">
            <a:off x="6748272" y="4608576"/>
            <a:ext cx="4608576"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748272" y="4453128"/>
            <a:ext cx="4608576"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ModelRunnerOutput</a:t>
            </a:r>
          </a:p>
        </p:txBody>
      </p:sp>
      <p:cxnSp>
        <p:nvCxnSpPr>
          <p:cNvPr id="84" name="Connector 83"/>
          <p:cNvCxnSpPr/>
          <p:nvPr/>
        </p:nvCxnSpPr>
        <p:spPr>
          <a:xfrm>
            <a:off x="6748272" y="4869180"/>
            <a:ext cx="1152144"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6748271" y="4713732"/>
            <a:ext cx="1152144"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update_from_output()</a:t>
            </a:r>
          </a:p>
        </p:txBody>
      </p:sp>
      <p:sp>
        <p:nvSpPr>
          <p:cNvPr id="86" name="실행 단추: 뒤로 또는 앞으로 이동 104">
            <a:hlinkClick r:id="rId3" action="ppaction://hlinksldjump" highlightClick="1"/>
            <a:extLst>
              <a:ext uri="{FF2B5EF4-FFF2-40B4-BE49-F238E27FC236}">
                <a16:creationId xmlns:a16="http://schemas.microsoft.com/office/drawing/2014/main" id="{D4ACBD71-C54D-497F-B9B3-F5A2E6405E77}"/>
              </a:ext>
            </a:extLst>
          </p:cNvPr>
          <p:cNvSpPr/>
          <p:nvPr/>
        </p:nvSpPr>
        <p:spPr>
          <a:xfrm>
            <a:off x="7559421" y="181355"/>
            <a:ext cx="295275" cy="246888"/>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00379537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DP2 </a:t>
            </a:r>
            <a:r>
              <a:rPr dirty="0" err="1"/>
              <a:t>연산</a:t>
            </a:r>
            <a:r>
              <a:rPr dirty="0"/>
              <a:t> </a:t>
            </a:r>
            <a:r>
              <a:rPr dirty="0" err="1"/>
              <a:t>실행</a:t>
            </a:r>
            <a:r>
              <a:rPr dirty="0"/>
              <a:t> </a:t>
            </a:r>
            <a:r>
              <a:rPr dirty="0" err="1"/>
              <a:t>위치</a:t>
            </a:r>
            <a:r>
              <a:rPr dirty="0"/>
              <a:t> </a:t>
            </a:r>
            <a:r>
              <a:rPr dirty="0" err="1"/>
              <a:t>결정</a:t>
            </a:r>
            <a:r>
              <a:rPr dirty="0"/>
              <a:t> –</a:t>
            </a:r>
            <a:r>
              <a:rPr lang="en-US" dirty="0"/>
              <a:t> 2</a:t>
            </a:r>
            <a:r>
              <a:rPr lang="ko-KR" altLang="en-US" dirty="0"/>
              <a:t>안</a:t>
            </a:r>
            <a:r>
              <a:rPr dirty="0"/>
              <a:t> 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24</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r>
              <a:rPr lang="en-US" altLang="ko-KR" sz="1200" b="1" dirty="0">
                <a:solidFill>
                  <a:srgbClr val="FFFFFF"/>
                </a:solidFill>
                <a:ea typeface="맑은 고딕"/>
                <a:cs typeface="맑은 고딕"/>
              </a:rPr>
              <a:t>DP2. (2</a:t>
            </a:r>
            <a:r>
              <a:rPr lang="ko-KR" altLang="en-US" sz="1200" b="1" dirty="0">
                <a:solidFill>
                  <a:srgbClr val="FFFFFF"/>
                </a:solidFill>
                <a:ea typeface="맑은 고딕"/>
                <a:cs typeface="맑은 고딕"/>
              </a:rPr>
              <a:t>안</a:t>
            </a:r>
            <a:r>
              <a:rPr lang="en-US" altLang="ko-KR" sz="1200" b="1" dirty="0">
                <a:solidFill>
                  <a:srgbClr val="FFFFFF"/>
                </a:solidFill>
                <a:ea typeface="맑은 고딕"/>
                <a:cs typeface="맑은 고딕"/>
              </a:rPr>
              <a:t>) </a:t>
            </a:r>
            <a:r>
              <a:rPr lang="ko-KR" altLang="en-US" sz="1200" b="1" dirty="0">
                <a:solidFill>
                  <a:srgbClr val="FFFFFF"/>
                </a:solidFill>
                <a:ea typeface="맑은 고딕"/>
                <a:cs typeface="맑은 고딕"/>
              </a:rPr>
              <a:t>사전 계획 결정 </a:t>
            </a:r>
            <a:r>
              <a:rPr lang="en-US" altLang="ko-KR" sz="1200" b="1" dirty="0">
                <a:solidFill>
                  <a:srgbClr val="FFFFFF"/>
                </a:solidFill>
                <a:ea typeface="맑은 고딕"/>
                <a:cs typeface="맑은 고딕"/>
              </a:rPr>
              <a:t>(Plan/Decision </a:t>
            </a:r>
            <a:r>
              <a:rPr lang="ko-KR" altLang="en-US" sz="1200" b="1" dirty="0">
                <a:solidFill>
                  <a:srgbClr val="FFFFFF"/>
                </a:solidFill>
                <a:ea typeface="맑은 고딕"/>
                <a:cs typeface="맑은 고딕"/>
              </a:rPr>
              <a:t>분리 구조</a:t>
            </a:r>
            <a:r>
              <a:rPr lang="en-US" altLang="ko-KR" sz="1200" b="1" dirty="0">
                <a:solidFill>
                  <a:srgbClr val="FFFFFF"/>
                </a:solidFill>
                <a:ea typeface="맑은 고딕"/>
                <a:cs typeface="맑은 고딕"/>
              </a:rPr>
              <a:t>)</a:t>
            </a:r>
            <a:endParaRPr lang="ko-KR" altLang="en-US" sz="1200" b="1" dirty="0">
              <a:solidFill>
                <a:srgbClr val="FFFFFF"/>
              </a:solidFill>
              <a:ea typeface="맑은 고딕"/>
              <a:cs typeface="맑은 고딕"/>
            </a:endParaRP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QA-04</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0" name="Rounded Rectangle 9"/>
          <p:cNvSpPr/>
          <p:nvPr/>
        </p:nvSpPr>
        <p:spPr>
          <a:xfrm>
            <a:off x="9861803"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FR03</a:t>
            </a:r>
          </a:p>
        </p:txBody>
      </p:sp>
      <p:sp>
        <p:nvSpPr>
          <p:cNvPr id="11" name="Rounded Rectangle 10"/>
          <p:cNvSpPr/>
          <p:nvPr/>
        </p:nvSpPr>
        <p:spPr>
          <a:xfrm>
            <a:off x="939545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FR02</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17" name="Rectangle 16"/>
          <p:cNvSpPr/>
          <p:nvPr/>
        </p:nvSpPr>
        <p:spPr>
          <a:xfrm>
            <a:off x="365760" y="169163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planner</a:t>
            </a:r>
          </a:p>
          <a:p>
            <a:pPr algn="l">
              <a:spcAft>
                <a:spcPts val="0"/>
              </a:spcAft>
            </a:pPr>
            <a:r>
              <a:rPr sz="650" b="0" i="0">
                <a:solidFill>
                  <a:srgbClr val="000000"/>
                </a:solidFill>
                <a:latin typeface="맑은 고딕"/>
                <a:ea typeface="맑은 고딕"/>
                <a:cs typeface="맑은 고딕"/>
              </a:rPr>
              <a:t>plan_validator</a:t>
            </a:r>
          </a:p>
        </p:txBody>
      </p:sp>
      <p:sp>
        <p:nvSpPr>
          <p:cNvPr id="18" name="Rectangle 17"/>
          <p:cNvSpPr/>
          <p:nvPr/>
        </p:nvSpPr>
        <p:spPr>
          <a:xfrm>
            <a:off x="365760" y="1953158"/>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 SchedulerOutput</a:t>
            </a:r>
          </a:p>
        </p:txBody>
      </p:sp>
      <p:sp>
        <p:nvSpPr>
          <p:cNvPr id="19" name="Rectangle 18"/>
          <p:cNvSpPr/>
          <p:nvPr/>
        </p:nvSpPr>
        <p:spPr>
          <a:xfrm>
            <a:off x="2267712"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PlanLookupValidator</a:t>
            </a:r>
          </a:p>
        </p:txBody>
      </p:sp>
      <p:sp>
        <p:nvSpPr>
          <p:cNvPr id="20" name="Rectangle 19"/>
          <p:cNvSpPr/>
          <p:nvPr/>
        </p:nvSpPr>
        <p:spPr>
          <a:xfrm>
            <a:off x="2267712"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max_plan_age = W·t̄</a:t>
            </a:r>
          </a:p>
        </p:txBody>
      </p:sp>
      <p:sp>
        <p:nvSpPr>
          <p:cNvPr id="21" name="Rectangle 20"/>
          <p:cNvSpPr/>
          <p:nvPr/>
        </p:nvSpPr>
        <p:spPr>
          <a:xfrm>
            <a:off x="2267712" y="1845259"/>
            <a:ext cx="1600200"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lookup(request_id)</a:t>
            </a:r>
          </a:p>
          <a:p>
            <a:pPr algn="l">
              <a:spcAft>
                <a:spcPts val="0"/>
              </a:spcAft>
            </a:pPr>
            <a:r>
              <a:rPr sz="650" b="0" i="0">
                <a:solidFill>
                  <a:srgbClr val="000000"/>
                </a:solidFill>
                <a:latin typeface="맑은 고딕"/>
                <a:ea typeface="맑은 고딕"/>
                <a:cs typeface="맑은 고딕"/>
              </a:rPr>
              <a:t>validate(plan, state)</a:t>
            </a:r>
          </a:p>
          <a:p>
            <a:pPr algn="l">
              <a:spcAft>
                <a:spcPts val="0"/>
              </a:spcAft>
            </a:pPr>
            <a:r>
              <a:rPr sz="650" b="0" i="0">
                <a:solidFill>
                  <a:srgbClr val="000000"/>
                </a:solidFill>
                <a:latin typeface="맑은 고딕"/>
                <a:ea typeface="맑은 고딕"/>
                <a:cs typeface="맑은 고딕"/>
              </a:rPr>
              <a:t>next_candidate(plan, k)</a:t>
            </a:r>
          </a:p>
        </p:txBody>
      </p:sp>
      <p:sp>
        <p:nvSpPr>
          <p:cNvPr id="22" name="Rectangle 21"/>
          <p:cNvSpPr/>
          <p:nvPr/>
        </p:nvSpPr>
        <p:spPr>
          <a:xfrm>
            <a:off x="4169663"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ExecutionPlanCache</a:t>
            </a:r>
          </a:p>
        </p:txBody>
      </p:sp>
      <p:sp>
        <p:nvSpPr>
          <p:cNvPr id="23" name="Rectangle 22"/>
          <p:cNvSpPr/>
          <p:nvPr/>
        </p:nvSpPr>
        <p:spPr>
          <a:xfrm>
            <a:off x="4169663"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entries: dict</a:t>
            </a:r>
          </a:p>
        </p:txBody>
      </p:sp>
      <p:sp>
        <p:nvSpPr>
          <p:cNvPr id="24" name="Rectangle 23"/>
          <p:cNvSpPr/>
          <p:nvPr/>
        </p:nvSpPr>
        <p:spPr>
          <a:xfrm>
            <a:off x="4169663" y="184525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put(plan)</a:t>
            </a:r>
          </a:p>
          <a:p>
            <a:pPr algn="l">
              <a:spcAft>
                <a:spcPts val="0"/>
              </a:spcAft>
            </a:pPr>
            <a:r>
              <a:rPr sz="650" b="0" i="0">
                <a:solidFill>
                  <a:srgbClr val="000000"/>
                </a:solidFill>
                <a:latin typeface="맑은 고딕"/>
                <a:ea typeface="맑은 고딕"/>
                <a:cs typeface="맑은 고딕"/>
              </a:rPr>
              <a:t>get(request_id)</a:t>
            </a:r>
          </a:p>
        </p:txBody>
      </p:sp>
      <p:sp>
        <p:nvSpPr>
          <p:cNvPr id="25" name="Rectangle 24"/>
          <p:cNvSpPr/>
          <p:nvPr/>
        </p:nvSpPr>
        <p:spPr>
          <a:xfrm>
            <a:off x="365760"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ExecutionPlanner</a:t>
            </a:r>
          </a:p>
        </p:txBody>
      </p:sp>
      <p:sp>
        <p:nvSpPr>
          <p:cNvPr id="26" name="Rectangle 25"/>
          <p:cNvSpPr/>
          <p:nvPr/>
        </p:nvSpPr>
        <p:spPr>
          <a:xfrm>
            <a:off x="365760" y="310896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evaluator</a:t>
            </a:r>
          </a:p>
          <a:p>
            <a:pPr algn="l">
              <a:spcAft>
                <a:spcPts val="0"/>
              </a:spcAft>
            </a:pPr>
            <a:r>
              <a:rPr sz="650" b="0" i="0">
                <a:solidFill>
                  <a:srgbClr val="000000"/>
                </a:solidFill>
                <a:latin typeface="맑은 고딕"/>
                <a:ea typeface="맑은 고딕"/>
                <a:cs typeface="맑은 고딕"/>
              </a:rPr>
              <a:t>publisher</a:t>
            </a:r>
          </a:p>
        </p:txBody>
      </p:sp>
      <p:sp>
        <p:nvSpPr>
          <p:cNvPr id="27" name="Rectangle 26"/>
          <p:cNvSpPr/>
          <p:nvPr/>
        </p:nvSpPr>
        <p:spPr>
          <a:xfrm>
            <a:off x="365760" y="337047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plan(ctx): ExecutionPlan</a:t>
            </a:r>
          </a:p>
          <a:p>
            <a:pPr algn="l">
              <a:spcAft>
                <a:spcPts val="0"/>
              </a:spcAft>
            </a:pPr>
            <a:r>
              <a:rPr sz="650" b="0" i="0">
                <a:solidFill>
                  <a:srgbClr val="000000"/>
                </a:solidFill>
                <a:latin typeface="맑은 고딕"/>
                <a:ea typeface="맑은 고딕"/>
                <a:cs typeface="맑은 고딕"/>
              </a:rPr>
              <a:t>replan(ctx, state)</a:t>
            </a:r>
          </a:p>
        </p:txBody>
      </p:sp>
      <p:sp>
        <p:nvSpPr>
          <p:cNvPr id="28" name="Rectangle 27"/>
          <p:cNvSpPr/>
          <p:nvPr/>
        </p:nvSpPr>
        <p:spPr>
          <a:xfrm>
            <a:off x="4169663"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PlanPublisher</a:t>
            </a:r>
          </a:p>
        </p:txBody>
      </p:sp>
      <p:sp>
        <p:nvSpPr>
          <p:cNvPr id="29" name="Rectangle 28"/>
          <p:cNvSpPr/>
          <p:nvPr/>
        </p:nvSpPr>
        <p:spPr>
          <a:xfrm>
            <a:off x="4169663" y="310896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69663" y="31546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publish(plan)  // async</a:t>
            </a:r>
          </a:p>
        </p:txBody>
      </p:sp>
      <p:sp>
        <p:nvSpPr>
          <p:cNvPr id="31" name="Rectangle 30"/>
          <p:cNvSpPr/>
          <p:nvPr/>
        </p:nvSpPr>
        <p:spPr>
          <a:xfrm>
            <a:off x="2267712"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a:t>
            </a:r>
          </a:p>
        </p:txBody>
      </p:sp>
      <p:sp>
        <p:nvSpPr>
          <p:cNvPr id="32" name="Rectangle 31"/>
          <p:cNvSpPr/>
          <p:nvPr/>
        </p:nvSpPr>
        <p:spPr>
          <a:xfrm>
            <a:off x="2267712" y="3108960"/>
            <a:ext cx="1600200"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prefill_resource</a:t>
            </a:r>
          </a:p>
          <a:p>
            <a:pPr algn="l">
              <a:spcAft>
                <a:spcPts val="0"/>
              </a:spcAft>
            </a:pPr>
            <a:r>
              <a:rPr sz="650" b="0" i="0">
                <a:solidFill>
                  <a:srgbClr val="000000"/>
                </a:solidFill>
                <a:latin typeface="맑은 고딕"/>
                <a:ea typeface="맑은 고딕"/>
                <a:cs typeface="맑은 고딕"/>
              </a:rPr>
              <a:t>decode_start_resource</a:t>
            </a:r>
          </a:p>
          <a:p>
            <a:pPr algn="l">
              <a:spcAft>
                <a:spcPts val="0"/>
              </a:spcAft>
            </a:pPr>
            <a:r>
              <a:rPr sz="650" b="0" i="0">
                <a:solidFill>
                  <a:srgbClr val="000000"/>
                </a:solidFill>
                <a:latin typeface="맑은 고딕"/>
                <a:ea typeface="맑은 고딕"/>
                <a:cs typeface="맑은 고딕"/>
              </a:rPr>
              <a:t>candidates (1순위..k)</a:t>
            </a:r>
          </a:p>
        </p:txBody>
      </p:sp>
      <p:sp>
        <p:nvSpPr>
          <p:cNvPr id="33" name="Rectangle 32"/>
          <p:cNvSpPr/>
          <p:nvPr/>
        </p:nvSpPr>
        <p:spPr>
          <a:xfrm>
            <a:off x="2267712" y="3478377"/>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365760" y="43434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CostEvaluator</a:t>
            </a:r>
          </a:p>
        </p:txBody>
      </p:sp>
      <p:sp>
        <p:nvSpPr>
          <p:cNvPr id="35" name="Rectangle 34"/>
          <p:cNvSpPr/>
          <p:nvPr/>
        </p:nvSpPr>
        <p:spPr>
          <a:xfrm>
            <a:off x="365760" y="45262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model: ExecutionCostModel</a:t>
            </a:r>
          </a:p>
        </p:txBody>
      </p:sp>
      <p:sp>
        <p:nvSpPr>
          <p:cNvPr id="36" name="Rectangle 35"/>
          <p:cNvSpPr/>
          <p:nvPr/>
        </p:nvSpPr>
        <p:spPr>
          <a:xfrm>
            <a:off x="365760" y="467989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evaluate(ctx, cands, snap)</a:t>
            </a:r>
          </a:p>
        </p:txBody>
      </p:sp>
      <p:sp>
        <p:nvSpPr>
          <p:cNvPr id="37" name="Rectangle 36"/>
          <p:cNvSpPr/>
          <p:nvPr/>
        </p:nvSpPr>
        <p:spPr>
          <a:xfrm>
            <a:off x="2267712" y="43434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ResourceStateMonitor</a:t>
            </a:r>
          </a:p>
        </p:txBody>
      </p:sp>
      <p:sp>
        <p:nvSpPr>
          <p:cNvPr id="38" name="Rectangle 37"/>
          <p:cNvSpPr/>
          <p:nvPr/>
        </p:nvSpPr>
        <p:spPr>
          <a:xfrm>
            <a:off x="2267712" y="452628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267712" y="457200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snapshot(): RuntimeState</a:t>
            </a:r>
          </a:p>
        </p:txBody>
      </p:sp>
      <p:sp>
        <p:nvSpPr>
          <p:cNvPr id="40" name="Rectangle 39"/>
          <p:cNvSpPr/>
          <p:nvPr/>
        </p:nvSpPr>
        <p:spPr>
          <a:xfrm>
            <a:off x="4169663" y="43434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ExecutionRouter</a:t>
            </a:r>
          </a:p>
        </p:txBody>
      </p:sp>
      <p:sp>
        <p:nvSpPr>
          <p:cNvPr id="41" name="Rectangle 40"/>
          <p:cNvSpPr/>
          <p:nvPr/>
        </p:nvSpPr>
        <p:spPr>
          <a:xfrm>
            <a:off x="4169663" y="45262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workers</a:t>
            </a:r>
          </a:p>
        </p:txBody>
      </p:sp>
      <p:sp>
        <p:nvSpPr>
          <p:cNvPr id="42" name="Rectangle 41"/>
          <p:cNvSpPr/>
          <p:nvPr/>
        </p:nvSpPr>
        <p:spPr>
          <a:xfrm>
            <a:off x="4169663" y="467989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dispatch(plan, output)</a:t>
            </a:r>
          </a:p>
          <a:p>
            <a:pPr algn="l">
              <a:spcAft>
                <a:spcPts val="0"/>
              </a:spcAft>
            </a:pPr>
            <a:r>
              <a:rPr sz="650" b="0" i="0">
                <a:solidFill>
                  <a:srgbClr val="000000"/>
                </a:solidFill>
                <a:latin typeface="맑은 고딕"/>
                <a:ea typeface="맑은 고딕"/>
                <a:cs typeface="맑은 고딕"/>
              </a:rPr>
              <a:t>fallback(plan)</a:t>
            </a:r>
          </a:p>
        </p:txBody>
      </p:sp>
      <p:cxnSp>
        <p:nvCxnSpPr>
          <p:cNvPr id="43" name="Connector 42"/>
          <p:cNvCxnSpPr/>
          <p:nvPr/>
        </p:nvCxnSpPr>
        <p:spPr>
          <a:xfrm>
            <a:off x="1965960" y="1807768"/>
            <a:ext cx="301752"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867912" y="1807768"/>
            <a:ext cx="30175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965960" y="3225088"/>
            <a:ext cx="301752"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969764" y="2106777"/>
            <a:ext cx="0" cy="81930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831232" y="2443276"/>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put</a:t>
            </a:r>
          </a:p>
        </p:txBody>
      </p:sp>
      <p:cxnSp>
        <p:nvCxnSpPr>
          <p:cNvPr id="48" name="Connector 47"/>
          <p:cNvCxnSpPr/>
          <p:nvPr/>
        </p:nvCxnSpPr>
        <p:spPr>
          <a:xfrm>
            <a:off x="1165860" y="3631996"/>
            <a:ext cx="0" cy="71140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04011" y="391454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eval</a:t>
            </a:r>
          </a:p>
        </p:txBody>
      </p:sp>
      <p:cxnSp>
        <p:nvCxnSpPr>
          <p:cNvPr id="50" name="Connector 49"/>
          <p:cNvCxnSpPr/>
          <p:nvPr/>
        </p:nvCxnSpPr>
        <p:spPr>
          <a:xfrm flipV="1">
            <a:off x="1965960" y="4534509"/>
            <a:ext cx="301752" cy="5395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1645920" y="2214676"/>
            <a:ext cx="941832" cy="711404"/>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8352" y="2497226"/>
            <a:ext cx="41696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replan</a:t>
            </a:r>
          </a:p>
        </p:txBody>
      </p:sp>
      <p:cxnSp>
        <p:nvCxnSpPr>
          <p:cNvPr id="53" name="Connector 52"/>
          <p:cNvCxnSpPr/>
          <p:nvPr/>
        </p:nvCxnSpPr>
        <p:spPr>
          <a:xfrm>
            <a:off x="3067812" y="3524097"/>
            <a:ext cx="1421891" cy="819303"/>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65760" y="5806440"/>
            <a:ext cx="5486400" cy="64008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Plan 생성은 critical path 밖(비동기), Validator·Router만 critical path 안</a:t>
            </a:r>
          </a:p>
          <a:p>
            <a:pPr algn="l">
              <a:spcAft>
                <a:spcPts val="0"/>
              </a:spcAft>
            </a:pPr>
            <a:r>
              <a:rPr sz="650" b="0" i="0">
                <a:solidFill>
                  <a:srgbClr val="000000"/>
                </a:solidFill>
                <a:latin typeface="맑은 고딕"/>
                <a:ea typeface="맑은 고딕"/>
                <a:cs typeface="맑은 고딕"/>
              </a:rPr>
              <a:t>• Mismatch 시 Cost 재계산 없이 순위 후보 k를 순차 조회, Load↑ → plan 구간 W↓ k↑ (7p 보완)</a:t>
            </a:r>
          </a:p>
          <a:p>
            <a:pPr algn="l">
              <a:spcAft>
                <a:spcPts val="0"/>
              </a:spcAft>
            </a:pPr>
            <a:r>
              <a:rPr sz="600" b="0" i="0">
                <a:solidFill>
                  <a:srgbClr val="7F7F7F"/>
                </a:solidFill>
                <a:latin typeface="맑은 고딕"/>
                <a:ea typeface="맑은 고딕"/>
                <a:cs typeface="맑은 고딕"/>
              </a:rPr>
              <a:t>• 근거: doc-mk/DP2/vllm-cost-model-...-architecture.md §4, §9.2</a:t>
            </a:r>
          </a:p>
        </p:txBody>
      </p:sp>
      <p:sp>
        <p:nvSpPr>
          <p:cNvPr id="55" name="Rectangle 54"/>
          <p:cNvSpPr/>
          <p:nvPr/>
        </p:nvSpPr>
        <p:spPr>
          <a:xfrm>
            <a:off x="620877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EngineCore</a:t>
            </a:r>
          </a:p>
        </p:txBody>
      </p:sp>
      <p:cxnSp>
        <p:nvCxnSpPr>
          <p:cNvPr id="56" name="Connector 55"/>
          <p:cNvCxnSpPr/>
          <p:nvPr/>
        </p:nvCxnSpPr>
        <p:spPr>
          <a:xfrm>
            <a:off x="658368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70317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Execution</a:t>
            </a:r>
          </a:p>
          <a:p>
            <a:pPr algn="ctr">
              <a:spcAft>
                <a:spcPts val="0"/>
              </a:spcAft>
            </a:pPr>
            <a:r>
              <a:rPr sz="650" b="1" i="0">
                <a:solidFill>
                  <a:srgbClr val="000000"/>
                </a:solidFill>
                <a:latin typeface="맑은 고딕"/>
                <a:ea typeface="맑은 고딕"/>
                <a:cs typeface="맑은 고딕"/>
              </a:rPr>
              <a:t>Planner</a:t>
            </a:r>
          </a:p>
        </p:txBody>
      </p:sp>
      <p:cxnSp>
        <p:nvCxnSpPr>
          <p:cNvPr id="58" name="Connector 57"/>
          <p:cNvCxnSpPr/>
          <p:nvPr/>
        </p:nvCxnSpPr>
        <p:spPr>
          <a:xfrm>
            <a:off x="740664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785469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CostEval /</a:t>
            </a:r>
          </a:p>
          <a:p>
            <a:pPr algn="ctr">
              <a:spcAft>
                <a:spcPts val="0"/>
              </a:spcAft>
            </a:pPr>
            <a:r>
              <a:rPr sz="650" b="1" i="0">
                <a:solidFill>
                  <a:srgbClr val="000000"/>
                </a:solidFill>
                <a:latin typeface="맑은 고딕"/>
                <a:ea typeface="맑은 고딕"/>
                <a:cs typeface="맑은 고딕"/>
              </a:rPr>
              <a:t>StateMonitor</a:t>
            </a:r>
          </a:p>
        </p:txBody>
      </p:sp>
      <p:cxnSp>
        <p:nvCxnSpPr>
          <p:cNvPr id="60" name="Connector 59"/>
          <p:cNvCxnSpPr/>
          <p:nvPr/>
        </p:nvCxnSpPr>
        <p:spPr>
          <a:xfrm>
            <a:off x="822960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867765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Plan</a:t>
            </a:r>
          </a:p>
          <a:p>
            <a:pPr algn="ctr">
              <a:spcAft>
                <a:spcPts val="0"/>
              </a:spcAft>
            </a:pPr>
            <a:r>
              <a:rPr sz="650" b="1" i="0">
                <a:solidFill>
                  <a:srgbClr val="000000"/>
                </a:solidFill>
                <a:latin typeface="맑은 고딕"/>
                <a:ea typeface="맑은 고딕"/>
                <a:cs typeface="맑은 고딕"/>
              </a:rPr>
              <a:t>Cache</a:t>
            </a:r>
          </a:p>
        </p:txBody>
      </p:sp>
      <p:cxnSp>
        <p:nvCxnSpPr>
          <p:cNvPr id="62" name="Connector 61"/>
          <p:cNvCxnSpPr/>
          <p:nvPr/>
        </p:nvCxnSpPr>
        <p:spPr>
          <a:xfrm>
            <a:off x="905256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950061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Scheduler</a:t>
            </a:r>
          </a:p>
        </p:txBody>
      </p:sp>
      <p:cxnSp>
        <p:nvCxnSpPr>
          <p:cNvPr id="64" name="Connector 63"/>
          <p:cNvCxnSpPr/>
          <p:nvPr/>
        </p:nvCxnSpPr>
        <p:spPr>
          <a:xfrm>
            <a:off x="987552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103235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PlanLookup</a:t>
            </a:r>
          </a:p>
          <a:p>
            <a:pPr algn="ctr">
              <a:spcAft>
                <a:spcPts val="0"/>
              </a:spcAft>
            </a:pPr>
            <a:r>
              <a:rPr sz="650" b="1" i="0">
                <a:solidFill>
                  <a:srgbClr val="000000"/>
                </a:solidFill>
                <a:latin typeface="맑은 고딕"/>
                <a:ea typeface="맑은 고딕"/>
                <a:cs typeface="맑은 고딕"/>
              </a:rPr>
              <a:t>Validator</a:t>
            </a:r>
          </a:p>
        </p:txBody>
      </p:sp>
      <p:cxnSp>
        <p:nvCxnSpPr>
          <p:cNvPr id="66" name="Connector 65"/>
          <p:cNvCxnSpPr/>
          <p:nvPr/>
        </p:nvCxnSpPr>
        <p:spPr>
          <a:xfrm>
            <a:off x="1069848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111465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Execution</a:t>
            </a:r>
          </a:p>
          <a:p>
            <a:pPr algn="ctr">
              <a:spcAft>
                <a:spcPts val="0"/>
              </a:spcAft>
            </a:pPr>
            <a:r>
              <a:rPr sz="650" b="1" i="0">
                <a:solidFill>
                  <a:srgbClr val="000000"/>
                </a:solidFill>
                <a:latin typeface="맑은 고딕"/>
                <a:ea typeface="맑은 고딕"/>
                <a:cs typeface="맑은 고딕"/>
              </a:rPr>
              <a:t>Router→Worker</a:t>
            </a:r>
          </a:p>
        </p:txBody>
      </p:sp>
      <p:cxnSp>
        <p:nvCxnSpPr>
          <p:cNvPr id="68" name="Connector 67"/>
          <p:cNvCxnSpPr/>
          <p:nvPr/>
        </p:nvCxnSpPr>
        <p:spPr>
          <a:xfrm>
            <a:off x="11521440" y="1773936"/>
            <a:ext cx="0" cy="4809744"/>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6238036" y="1901952"/>
            <a:ext cx="3160166" cy="1316736"/>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6238036" y="1901952"/>
            <a:ext cx="5029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async: plan</a:t>
            </a:r>
          </a:p>
        </p:txBody>
      </p:sp>
      <p:sp>
        <p:nvSpPr>
          <p:cNvPr id="71" name="Rectangle 70"/>
          <p:cNvSpPr/>
          <p:nvPr/>
        </p:nvSpPr>
        <p:spPr>
          <a:xfrm>
            <a:off x="6238036" y="3273552"/>
            <a:ext cx="5629046" cy="3154680"/>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6238036" y="3273552"/>
            <a:ext cx="5029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critical path</a:t>
            </a:r>
          </a:p>
        </p:txBody>
      </p:sp>
      <p:cxnSp>
        <p:nvCxnSpPr>
          <p:cNvPr id="73" name="Connector 72"/>
          <p:cNvCxnSpPr/>
          <p:nvPr/>
        </p:nvCxnSpPr>
        <p:spPr>
          <a:xfrm>
            <a:off x="6583680" y="232257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57950" y="2167128"/>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plan(ctx)  [waiting]</a:t>
            </a:r>
          </a:p>
        </p:txBody>
      </p:sp>
      <p:cxnSp>
        <p:nvCxnSpPr>
          <p:cNvPr id="75" name="Connector 74"/>
          <p:cNvCxnSpPr/>
          <p:nvPr/>
        </p:nvCxnSpPr>
        <p:spPr>
          <a:xfrm>
            <a:off x="7406640" y="258318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214044" y="2427732"/>
            <a:ext cx="120815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snapshot() + estimate()</a:t>
            </a:r>
          </a:p>
        </p:txBody>
      </p:sp>
      <p:cxnSp>
        <p:nvCxnSpPr>
          <p:cNvPr id="77" name="Connector 76"/>
          <p:cNvCxnSpPr/>
          <p:nvPr/>
        </p:nvCxnSpPr>
        <p:spPr>
          <a:xfrm flipH="1">
            <a:off x="7406640" y="2843784"/>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370064" y="2688336"/>
            <a:ext cx="896112"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CostEstimate × k</a:t>
            </a:r>
          </a:p>
        </p:txBody>
      </p:sp>
      <p:cxnSp>
        <p:nvCxnSpPr>
          <p:cNvPr id="79" name="Connector 78"/>
          <p:cNvCxnSpPr/>
          <p:nvPr/>
        </p:nvCxnSpPr>
        <p:spPr>
          <a:xfrm>
            <a:off x="7406640" y="3104388"/>
            <a:ext cx="164592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7406640" y="2948940"/>
            <a:ext cx="164592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publish(ranked plan)</a:t>
            </a:r>
          </a:p>
        </p:txBody>
      </p:sp>
      <p:cxnSp>
        <p:nvCxnSpPr>
          <p:cNvPr id="81" name="Connector 80"/>
          <p:cNvCxnSpPr/>
          <p:nvPr/>
        </p:nvCxnSpPr>
        <p:spPr>
          <a:xfrm>
            <a:off x="6583680" y="3694176"/>
            <a:ext cx="329184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6583679" y="3538728"/>
            <a:ext cx="329184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schedule()</a:t>
            </a:r>
          </a:p>
        </p:txBody>
      </p:sp>
      <p:cxnSp>
        <p:nvCxnSpPr>
          <p:cNvPr id="83" name="Connector 82"/>
          <p:cNvCxnSpPr/>
          <p:nvPr/>
        </p:nvCxnSpPr>
        <p:spPr>
          <a:xfrm>
            <a:off x="9875520" y="395478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526905" y="3799332"/>
            <a:ext cx="152018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lookup + validate(plan, state)</a:t>
            </a:r>
          </a:p>
        </p:txBody>
      </p:sp>
      <p:cxnSp>
        <p:nvCxnSpPr>
          <p:cNvPr id="85" name="Connector 84"/>
          <p:cNvCxnSpPr/>
          <p:nvPr/>
        </p:nvCxnSpPr>
        <p:spPr>
          <a:xfrm flipH="1">
            <a:off x="9052560" y="4215384"/>
            <a:ext cx="16459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9052560" y="4059936"/>
            <a:ext cx="164591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get(request_id)</a:t>
            </a:r>
          </a:p>
        </p:txBody>
      </p:sp>
      <p:cxnSp>
        <p:nvCxnSpPr>
          <p:cNvPr id="87" name="Connector 86"/>
          <p:cNvCxnSpPr/>
          <p:nvPr/>
        </p:nvCxnSpPr>
        <p:spPr>
          <a:xfrm>
            <a:off x="9052560" y="4475988"/>
            <a:ext cx="164592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052560" y="4320540"/>
            <a:ext cx="1645919"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ExecutionPlan</a:t>
            </a:r>
          </a:p>
        </p:txBody>
      </p:sp>
      <p:cxnSp>
        <p:nvCxnSpPr>
          <p:cNvPr id="89" name="Connector 88"/>
          <p:cNvCxnSpPr/>
          <p:nvPr/>
        </p:nvCxnSpPr>
        <p:spPr>
          <a:xfrm>
            <a:off x="6238036" y="4626864"/>
            <a:ext cx="5629047" cy="0"/>
          </a:xfrm>
          <a:prstGeom prst="line">
            <a:avLst/>
          </a:prstGeom>
          <a:ln w="952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6265468" y="4626864"/>
            <a:ext cx="1463040" cy="146304"/>
          </a:xfrm>
          <a:prstGeom prst="rect">
            <a:avLst/>
          </a:prstGeom>
          <a:noFill/>
        </p:spPr>
        <p:txBody>
          <a:bodyPr wrap="none" lIns="0" tIns="18288" rIns="0" bIns="18288" anchor="t">
            <a:spAutoFit/>
          </a:bodyPr>
          <a:lstStyle/>
          <a:p>
            <a:pPr algn="l">
              <a:spcAft>
                <a:spcPts val="0"/>
              </a:spcAft>
            </a:pPr>
            <a:r>
              <a:rPr sz="600" b="1" i="0">
                <a:solidFill>
                  <a:srgbClr val="000000"/>
                </a:solidFill>
                <a:latin typeface="맑은 고딕"/>
                <a:ea typeface="맑은 고딕"/>
                <a:cs typeface="맑은 고딕"/>
              </a:rPr>
              <a:t>alt match / mismatch</a:t>
            </a:r>
          </a:p>
        </p:txBody>
      </p:sp>
      <p:cxnSp>
        <p:nvCxnSpPr>
          <p:cNvPr id="91" name="Connector 90"/>
          <p:cNvCxnSpPr/>
          <p:nvPr/>
        </p:nvCxnSpPr>
        <p:spPr>
          <a:xfrm flipH="1">
            <a:off x="9875520" y="491947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838944" y="4764024"/>
            <a:ext cx="896112"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match → 1순위 plan</a:t>
            </a:r>
          </a:p>
        </p:txBody>
      </p:sp>
      <p:cxnSp>
        <p:nvCxnSpPr>
          <p:cNvPr id="93" name="Connector 92"/>
          <p:cNvCxnSpPr/>
          <p:nvPr/>
        </p:nvCxnSpPr>
        <p:spPr>
          <a:xfrm flipH="1">
            <a:off x="10442448" y="5106924"/>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442448" y="5106924"/>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0442448" y="5271516"/>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8759951" y="5070348"/>
            <a:ext cx="1645920" cy="182880"/>
          </a:xfrm>
          <a:prstGeom prst="rect">
            <a:avLst/>
          </a:prstGeom>
          <a:noFill/>
        </p:spPr>
        <p:txBody>
          <a:bodyPr wrap="none" lIns="0" tIns="18288" rIns="0" bIns="18288" anchor="t">
            <a:spAutoFit/>
          </a:bodyPr>
          <a:lstStyle/>
          <a:p>
            <a:pPr algn="r">
              <a:spcAft>
                <a:spcPts val="0"/>
              </a:spcAft>
            </a:pPr>
            <a:r>
              <a:rPr sz="650" b="0" i="0">
                <a:solidFill>
                  <a:srgbClr val="000000"/>
                </a:solidFill>
                <a:latin typeface="맑은 고딕"/>
                <a:ea typeface="맑은 고딕"/>
                <a:cs typeface="맑은 고딕"/>
              </a:rPr>
              <a:t>mismatch → next_candidate(k)</a:t>
            </a:r>
          </a:p>
        </p:txBody>
      </p:sp>
      <p:cxnSp>
        <p:nvCxnSpPr>
          <p:cNvPr id="97" name="Connector 96"/>
          <p:cNvCxnSpPr/>
          <p:nvPr/>
        </p:nvCxnSpPr>
        <p:spPr>
          <a:xfrm flipH="1">
            <a:off x="7406640" y="5532120"/>
            <a:ext cx="246888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406639" y="5376672"/>
            <a:ext cx="246888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async replan (k 소진 시)</a:t>
            </a:r>
          </a:p>
        </p:txBody>
      </p:sp>
      <p:cxnSp>
        <p:nvCxnSpPr>
          <p:cNvPr id="99" name="Connector 98"/>
          <p:cNvCxnSpPr/>
          <p:nvPr/>
        </p:nvCxnSpPr>
        <p:spPr>
          <a:xfrm flipH="1">
            <a:off x="6583680" y="5792724"/>
            <a:ext cx="329184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6583679" y="5637276"/>
            <a:ext cx="329184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SchedulerOutput + plan</a:t>
            </a:r>
          </a:p>
        </p:txBody>
      </p:sp>
      <p:cxnSp>
        <p:nvCxnSpPr>
          <p:cNvPr id="101" name="Connector 100"/>
          <p:cNvCxnSpPr/>
          <p:nvPr/>
        </p:nvCxnSpPr>
        <p:spPr>
          <a:xfrm>
            <a:off x="6583680" y="6053328"/>
            <a:ext cx="49377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583679" y="5897880"/>
            <a:ext cx="493776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dispatch(plan)</a:t>
            </a:r>
          </a:p>
        </p:txBody>
      </p:sp>
      <p:cxnSp>
        <p:nvCxnSpPr>
          <p:cNvPr id="103" name="Connector 102"/>
          <p:cNvCxnSpPr/>
          <p:nvPr/>
        </p:nvCxnSpPr>
        <p:spPr>
          <a:xfrm flipH="1">
            <a:off x="6583680" y="6313932"/>
            <a:ext cx="49377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6583679" y="6158484"/>
            <a:ext cx="493776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ModelRunnerOutput</a:t>
            </a:r>
          </a:p>
        </p:txBody>
      </p:sp>
      <p:sp>
        <p:nvSpPr>
          <p:cNvPr id="105" name="실행 단추: 뒤로 또는 앞으로 이동 104">
            <a:hlinkClick r:id="rId3" action="ppaction://hlinksldjump" highlightClick="1"/>
            <a:extLst>
              <a:ext uri="{FF2B5EF4-FFF2-40B4-BE49-F238E27FC236}">
                <a16:creationId xmlns:a16="http://schemas.microsoft.com/office/drawing/2014/main" id="{D4ACBD71-C54D-497F-B9B3-F5A2E6405E77}"/>
              </a:ext>
            </a:extLst>
          </p:cNvPr>
          <p:cNvSpPr/>
          <p:nvPr/>
        </p:nvSpPr>
        <p:spPr>
          <a:xfrm>
            <a:off x="7559421" y="181355"/>
            <a:ext cx="295275" cy="246888"/>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DP3 KV </a:t>
            </a:r>
            <a:r>
              <a:rPr dirty="0" err="1"/>
              <a:t>캐시</a:t>
            </a:r>
            <a:r>
              <a:rPr dirty="0"/>
              <a:t> </a:t>
            </a:r>
            <a:r>
              <a:rPr dirty="0" err="1"/>
              <a:t>재사용</a:t>
            </a:r>
            <a:r>
              <a:rPr dirty="0"/>
              <a:t> – 1안 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28</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pPr algn="l">
              <a:spcAft>
                <a:spcPts val="0"/>
              </a:spcAft>
            </a:pPr>
            <a:r>
              <a:rPr sz="1200" b="1" i="0" dirty="0">
                <a:solidFill>
                  <a:srgbClr val="FFFFFF"/>
                </a:solidFill>
                <a:latin typeface="맑은 고딕"/>
                <a:ea typeface="맑은 고딕"/>
                <a:cs typeface="맑은 고딕"/>
              </a:rPr>
              <a:t>DP3. </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1안</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 Pipe-and-Filter (</a:t>
            </a:r>
            <a:r>
              <a:rPr sz="1200" b="1" i="0" dirty="0" err="1">
                <a:solidFill>
                  <a:srgbClr val="FFFFFF"/>
                </a:solidFill>
                <a:latin typeface="맑은 고딕"/>
                <a:ea typeface="맑은 고딕"/>
                <a:cs typeface="맑은 고딕"/>
              </a:rPr>
              <a:t>요청마다</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체인</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실행</a:t>
            </a:r>
            <a:r>
              <a:rPr sz="1200" b="1" i="0" dirty="0">
                <a:solidFill>
                  <a:srgbClr val="FFFFFF"/>
                </a:solidFill>
                <a:latin typeface="맑은 고딕"/>
                <a:ea typeface="맑은 고딕"/>
                <a:cs typeface="맑은 고딕"/>
              </a:rPr>
              <a:t>)</a:t>
            </a: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QA-02</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0" name="Rounded Rectangle 9"/>
          <p:cNvSpPr/>
          <p:nvPr/>
        </p:nvSpPr>
        <p:spPr>
          <a:xfrm>
            <a:off x="9930383" y="667512"/>
            <a:ext cx="361188" cy="246888"/>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C02</a:t>
            </a:r>
          </a:p>
        </p:txBody>
      </p:sp>
      <p:sp>
        <p:nvSpPr>
          <p:cNvPr id="11" name="Rounded Rectangle 10"/>
          <p:cNvSpPr/>
          <p:nvPr/>
        </p:nvSpPr>
        <p:spPr>
          <a:xfrm>
            <a:off x="946403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17" name="Rectangle 16"/>
          <p:cNvSpPr/>
          <p:nvPr/>
        </p:nvSpPr>
        <p:spPr>
          <a:xfrm>
            <a:off x="365760"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reuse_pipeline</a:t>
            </a:r>
          </a:p>
        </p:txBody>
      </p:sp>
      <p:sp>
        <p:nvSpPr>
          <p:cNvPr id="18" name="Rectangle 17"/>
          <p:cNvSpPr/>
          <p:nvPr/>
        </p:nvSpPr>
        <p:spPr>
          <a:xfrm>
            <a:off x="365760"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 SchedulerOutput</a:t>
            </a:r>
          </a:p>
        </p:txBody>
      </p:sp>
      <p:sp>
        <p:nvSpPr>
          <p:cNvPr id="19" name="Rectangle 18"/>
          <p:cNvSpPr/>
          <p:nvPr/>
        </p:nvSpPr>
        <p:spPr>
          <a:xfrm>
            <a:off x="2267712"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ReusePipeline</a:t>
            </a:r>
          </a:p>
        </p:txBody>
      </p:sp>
      <p:sp>
        <p:nvSpPr>
          <p:cNvPr id="20" name="Rectangle 19"/>
          <p:cNvSpPr/>
          <p:nvPr/>
        </p:nvSpPr>
        <p:spPr>
          <a:xfrm>
            <a:off x="2267712"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filters: list[Filter]</a:t>
            </a:r>
          </a:p>
        </p:txBody>
      </p:sp>
      <p:sp>
        <p:nvSpPr>
          <p:cNvPr id="21" name="Rectangle 20"/>
          <p:cNvSpPr/>
          <p:nvPr/>
        </p:nvSpPr>
        <p:spPr>
          <a:xfrm>
            <a:off x="2267712" y="184525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run(request): ReuseResult</a:t>
            </a:r>
          </a:p>
          <a:p>
            <a:pPr algn="l">
              <a:spcAft>
                <a:spcPts val="0"/>
              </a:spcAft>
            </a:pPr>
            <a:r>
              <a:rPr sz="650" b="0" i="0">
                <a:solidFill>
                  <a:srgbClr val="000000"/>
                </a:solidFill>
                <a:latin typeface="맑은 고딕"/>
                <a:ea typeface="맑은 고딕"/>
                <a:cs typeface="맑은 고딕"/>
              </a:rPr>
              <a:t>// 요청마다 체인 실행</a:t>
            </a:r>
          </a:p>
        </p:txBody>
      </p:sp>
      <p:sp>
        <p:nvSpPr>
          <p:cNvPr id="22" name="Rectangle 21"/>
          <p:cNvSpPr/>
          <p:nvPr/>
        </p:nvSpPr>
        <p:spPr>
          <a:xfrm>
            <a:off x="4169663" y="150876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«interface»</a:t>
            </a:r>
          </a:p>
          <a:p>
            <a:pPr algn="ctr">
              <a:spcAft>
                <a:spcPts val="0"/>
              </a:spcAft>
            </a:pPr>
            <a:r>
              <a:rPr sz="750" b="1" i="0">
                <a:solidFill>
                  <a:srgbClr val="000000"/>
                </a:solidFill>
                <a:latin typeface="맑은 고딕"/>
                <a:ea typeface="맑은 고딕"/>
                <a:cs typeface="맑은 고딕"/>
              </a:rPr>
              <a:t>Filter</a:t>
            </a:r>
          </a:p>
        </p:txBody>
      </p:sp>
      <p:sp>
        <p:nvSpPr>
          <p:cNvPr id="23" name="Rectangle 22"/>
          <p:cNvSpPr/>
          <p:nvPr/>
        </p:nvSpPr>
        <p:spPr>
          <a:xfrm>
            <a:off x="4169663" y="178308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169663" y="182880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process(in): out</a:t>
            </a:r>
          </a:p>
        </p:txBody>
      </p:sp>
      <p:sp>
        <p:nvSpPr>
          <p:cNvPr id="25" name="Rectangle 24"/>
          <p:cNvSpPr/>
          <p:nvPr/>
        </p:nvSpPr>
        <p:spPr>
          <a:xfrm>
            <a:off x="365760" y="283464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AttentionManager</a:t>
            </a:r>
          </a:p>
        </p:txBody>
      </p:sp>
      <p:sp>
        <p:nvSpPr>
          <p:cNvPr id="26" name="Rectangle 25"/>
          <p:cNvSpPr/>
          <p:nvPr/>
        </p:nvSpPr>
        <p:spPr>
          <a:xfrm>
            <a:off x="365760" y="301752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65760" y="306324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similarity(query, context_kv)</a:t>
            </a:r>
          </a:p>
        </p:txBody>
      </p:sp>
      <p:sp>
        <p:nvSpPr>
          <p:cNvPr id="28" name="Rectangle 27"/>
          <p:cNvSpPr/>
          <p:nvPr/>
        </p:nvSpPr>
        <p:spPr>
          <a:xfrm>
            <a:off x="2267712" y="28346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KVSampler</a:t>
            </a:r>
          </a:p>
        </p:txBody>
      </p:sp>
      <p:sp>
        <p:nvSpPr>
          <p:cNvPr id="29" name="Rectangle 28"/>
          <p:cNvSpPr/>
          <p:nvPr/>
        </p:nvSpPr>
        <p:spPr>
          <a:xfrm>
            <a:off x="2267712" y="3017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267712" y="30632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select_reuse(scores)</a:t>
            </a:r>
          </a:p>
        </p:txBody>
      </p:sp>
      <p:sp>
        <p:nvSpPr>
          <p:cNvPr id="31" name="Rectangle 30"/>
          <p:cNvSpPr/>
          <p:nvPr/>
        </p:nvSpPr>
        <p:spPr>
          <a:xfrm>
            <a:off x="4169663" y="28346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RecomputeTokenSelector</a:t>
            </a:r>
          </a:p>
        </p:txBody>
      </p:sp>
      <p:sp>
        <p:nvSpPr>
          <p:cNvPr id="32" name="Rectangle 31"/>
          <p:cNvSpPr/>
          <p:nvPr/>
        </p:nvSpPr>
        <p:spPr>
          <a:xfrm>
            <a:off x="4169663" y="3017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169663" y="30632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select(scores)</a:t>
            </a:r>
          </a:p>
        </p:txBody>
      </p:sp>
      <p:sp>
        <p:nvSpPr>
          <p:cNvPr id="34" name="Rectangle 33"/>
          <p:cNvSpPr/>
          <p:nvPr/>
        </p:nvSpPr>
        <p:spPr>
          <a:xfrm>
            <a:off x="365760" y="416052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SelectiveRecomputer</a:t>
            </a:r>
          </a:p>
        </p:txBody>
      </p:sp>
      <p:sp>
        <p:nvSpPr>
          <p:cNvPr id="35" name="Rectangle 34"/>
          <p:cNvSpPr/>
          <p:nvPr/>
        </p:nvSpPr>
        <p:spPr>
          <a:xfrm>
            <a:off x="365760" y="434340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65760" y="438912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recompute(tokens)</a:t>
            </a:r>
          </a:p>
        </p:txBody>
      </p:sp>
      <p:sp>
        <p:nvSpPr>
          <p:cNvPr id="37" name="Rectangle 36"/>
          <p:cNvSpPr/>
          <p:nvPr/>
        </p:nvSpPr>
        <p:spPr>
          <a:xfrm>
            <a:off x="2267712" y="416052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KVCacheManager</a:t>
            </a:r>
          </a:p>
        </p:txBody>
      </p:sp>
      <p:sp>
        <p:nvSpPr>
          <p:cNvPr id="38" name="Rectangle 37"/>
          <p:cNvSpPr/>
          <p:nvPr/>
        </p:nvSpPr>
        <p:spPr>
          <a:xfrm>
            <a:off x="2267712" y="434340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267712" y="4389120"/>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allocate_slots(...)</a:t>
            </a:r>
          </a:p>
          <a:p>
            <a:pPr algn="l">
              <a:spcAft>
                <a:spcPts val="0"/>
              </a:spcAft>
            </a:pPr>
            <a:r>
              <a:rPr sz="650" b="0" i="0">
                <a:solidFill>
                  <a:srgbClr val="000000"/>
                </a:solidFill>
                <a:latin typeface="맑은 고딕"/>
                <a:ea typeface="맑은 고딕"/>
                <a:cs typeface="맑은 고딕"/>
              </a:rPr>
              <a:t>free(request)</a:t>
            </a:r>
          </a:p>
        </p:txBody>
      </p:sp>
      <p:cxnSp>
        <p:nvCxnSpPr>
          <p:cNvPr id="40" name="Connector 39"/>
          <p:cNvCxnSpPr/>
          <p:nvPr/>
        </p:nvCxnSpPr>
        <p:spPr>
          <a:xfrm>
            <a:off x="1965960" y="1753819"/>
            <a:ext cx="301752"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867912" y="1745589"/>
            <a:ext cx="301751" cy="62179"/>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69764" y="1982419"/>
            <a:ext cx="0" cy="852221"/>
          </a:xfrm>
          <a:prstGeom prst="line">
            <a:avLst/>
          </a:prstGeom>
          <a:ln w="11430">
            <a:solidFill>
              <a:srgbClr val="59595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3867912" y="3025749"/>
            <a:ext cx="301751"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1965960" y="3025749"/>
            <a:ext cx="301752"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65860" y="3216859"/>
            <a:ext cx="0" cy="943661"/>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65960" y="4351629"/>
            <a:ext cx="301752"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365760" y="5486400"/>
            <a:ext cx="5486400" cy="337015"/>
          </a:xfrm>
          <a:prstGeom prst="rect">
            <a:avLst/>
          </a:prstGeom>
          <a:noFill/>
        </p:spPr>
        <p:txBody>
          <a:bodyPr wrap="square" lIns="36576" tIns="18288" rIns="36576" bIns="18288" anchor="t">
            <a:spAutoFit/>
          </a:bodyPr>
          <a:lstStyle/>
          <a:p>
            <a:pPr algn="l">
              <a:spcAft>
                <a:spcPts val="0"/>
              </a:spcAft>
            </a:pPr>
            <a:r>
              <a:rPr sz="650" b="0" i="0" dirty="0">
                <a:solidFill>
                  <a:srgbClr val="000000"/>
                </a:solidFill>
                <a:latin typeface="맑은 고딕"/>
                <a:ea typeface="맑은 고딕"/>
                <a:cs typeface="맑은 고딕"/>
              </a:rPr>
              <a:t>• 3개 filter(</a:t>
            </a:r>
            <a:r>
              <a:rPr sz="650" b="0" i="0" dirty="0" err="1">
                <a:solidFill>
                  <a:srgbClr val="000000"/>
                </a:solidFill>
                <a:latin typeface="맑은 고딕"/>
                <a:ea typeface="맑은 고딕"/>
                <a:cs typeface="맑은 고딕"/>
              </a:rPr>
              <a:t>유사도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계산</a:t>
            </a:r>
            <a:r>
              <a:rPr sz="650" b="0" i="0" dirty="0">
                <a:solidFill>
                  <a:srgbClr val="000000"/>
                </a:solidFill>
                <a:latin typeface="맑은 고딕"/>
                <a:ea typeface="맑은 고딕"/>
                <a:cs typeface="맑은 고딕"/>
              </a:rPr>
              <a:t> → </a:t>
            </a:r>
            <a:r>
              <a:rPr sz="650" b="0" i="0" dirty="0" err="1">
                <a:solidFill>
                  <a:srgbClr val="000000"/>
                </a:solidFill>
                <a:latin typeface="맑은 고딕"/>
                <a:ea typeface="맑은 고딕"/>
                <a:cs typeface="맑은 고딕"/>
              </a:rPr>
              <a:t>재사용</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토큰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선정</a:t>
            </a:r>
            <a:r>
              <a:rPr sz="650" b="0" i="0" dirty="0">
                <a:solidFill>
                  <a:srgbClr val="000000"/>
                </a:solidFill>
                <a:latin typeface="맑은 고딕"/>
                <a:ea typeface="맑은 고딕"/>
                <a:cs typeface="맑은 고딕"/>
              </a:rPr>
              <a:t> → </a:t>
            </a:r>
            <a:r>
              <a:rPr sz="650" b="0" i="0" dirty="0" err="1">
                <a:solidFill>
                  <a:srgbClr val="000000"/>
                </a:solidFill>
                <a:latin typeface="맑은 고딕"/>
                <a:ea typeface="맑은 고딕"/>
                <a:cs typeface="맑은 고딕"/>
              </a:rPr>
              <a:t>재연산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토큰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선정</a:t>
            </a:r>
            <a:r>
              <a:rPr sz="650" b="0" i="0" dirty="0">
                <a:solidFill>
                  <a:srgbClr val="000000"/>
                </a:solidFill>
                <a:latin typeface="맑은 고딕"/>
                <a:ea typeface="맑은 고딕"/>
                <a:cs typeface="맑은 고딕"/>
              </a:rPr>
              <a:t>) + </a:t>
            </a:r>
            <a:r>
              <a:rPr sz="650" b="0" i="0" dirty="0" err="1">
                <a:solidFill>
                  <a:srgbClr val="000000"/>
                </a:solidFill>
                <a:latin typeface="맑은 고딕"/>
                <a:ea typeface="맑은 고딕"/>
                <a:cs typeface="맑은 고딕"/>
              </a:rPr>
              <a:t>선택적</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재계산을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요청마다</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반복</a:t>
            </a:r>
            <a:endParaRPr sz="650" b="0" i="0" dirty="0">
              <a:solidFill>
                <a:srgbClr val="000000"/>
              </a:solidFill>
              <a:latin typeface="맑은 고딕"/>
              <a:ea typeface="맑은 고딕"/>
              <a:cs typeface="맑은 고딕"/>
            </a:endParaRP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재사용</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대상은</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요청</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종료</a:t>
            </a:r>
            <a:r>
              <a:rPr sz="650" b="0" i="0" dirty="0">
                <a:solidFill>
                  <a:srgbClr val="000000"/>
                </a:solidFill>
                <a:latin typeface="맑은 고딕"/>
                <a:ea typeface="맑은 고딕"/>
                <a:cs typeface="맑은 고딕"/>
              </a:rPr>
              <a:t> 시 </a:t>
            </a:r>
            <a:r>
              <a:rPr sz="650" b="0" i="0" dirty="0" err="1">
                <a:solidFill>
                  <a:srgbClr val="000000"/>
                </a:solidFill>
                <a:latin typeface="맑은 고딕"/>
                <a:ea typeface="맑은 고딕"/>
                <a:cs typeface="맑은 고딕"/>
              </a:rPr>
              <a:t>소멸</a:t>
            </a:r>
            <a:r>
              <a:rPr sz="650" b="0" i="0" dirty="0">
                <a:solidFill>
                  <a:srgbClr val="000000"/>
                </a:solidFill>
                <a:latin typeface="맑은 고딕"/>
                <a:ea typeface="맑은 고딕"/>
                <a:cs typeface="맑은 고딕"/>
              </a:rPr>
              <a:t> → stale </a:t>
            </a:r>
            <a:r>
              <a:rPr sz="650" b="0" i="0" dirty="0" err="1">
                <a:solidFill>
                  <a:srgbClr val="000000"/>
                </a:solidFill>
                <a:latin typeface="맑은 고딕"/>
                <a:ea typeface="맑은 고딕"/>
                <a:cs typeface="맑은 고딕"/>
              </a:rPr>
              <a:t>위험</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낮음</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입력</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Query에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맞는</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KV만</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보유</a:t>
            </a:r>
            <a:r>
              <a:rPr sz="650" b="0" i="0" dirty="0">
                <a:solidFill>
                  <a:srgbClr val="000000"/>
                </a:solidFill>
                <a:latin typeface="맑은 고딕"/>
                <a:ea typeface="맑은 고딕"/>
                <a:cs typeface="맑은 고딕"/>
              </a:rPr>
              <a:t>(HBM </a:t>
            </a:r>
            <a:r>
              <a:rPr sz="650" b="0" i="0" dirty="0" err="1">
                <a:solidFill>
                  <a:srgbClr val="000000"/>
                </a:solidFill>
                <a:latin typeface="맑은 고딕"/>
                <a:ea typeface="맑은 고딕"/>
                <a:cs typeface="맑은 고딕"/>
              </a:rPr>
              <a:t>유리</a:t>
            </a:r>
            <a:r>
              <a:rPr sz="650" b="0" i="0" dirty="0">
                <a:solidFill>
                  <a:srgbClr val="000000"/>
                </a:solidFill>
                <a:latin typeface="맑은 고딕"/>
                <a:ea typeface="맑은 고딕"/>
                <a:cs typeface="맑은 고딕"/>
              </a:rPr>
              <a:t>)</a:t>
            </a: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약점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동일</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Query도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체인</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재실행</a:t>
            </a:r>
            <a:r>
              <a:rPr sz="650" b="0" i="0" dirty="0">
                <a:solidFill>
                  <a:srgbClr val="000000"/>
                </a:solidFill>
                <a:latin typeface="맑은 고딕"/>
                <a:ea typeface="맑은 고딕"/>
                <a:cs typeface="맑은 고딕"/>
              </a:rPr>
              <a:t>(</a:t>
            </a:r>
            <a:r>
              <a:rPr sz="650" b="0" i="0" dirty="0" err="1">
                <a:solidFill>
                  <a:srgbClr val="000000"/>
                </a:solidFill>
                <a:latin typeface="맑은 고딕"/>
                <a:ea typeface="맑은 고딕"/>
                <a:cs typeface="맑은 고딕"/>
              </a:rPr>
              <a:t>중복</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계산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고부하</a:t>
            </a:r>
            <a:r>
              <a:rPr sz="650" b="0" i="0" dirty="0">
                <a:solidFill>
                  <a:srgbClr val="000000"/>
                </a:solidFill>
                <a:latin typeface="맑은 고딕"/>
                <a:ea typeface="맑은 고딕"/>
                <a:cs typeface="맑은 고딕"/>
              </a:rPr>
              <a:t> 시 </a:t>
            </a:r>
            <a:r>
              <a:rPr sz="650" b="0" i="0" dirty="0" err="1">
                <a:solidFill>
                  <a:srgbClr val="000000"/>
                </a:solidFill>
                <a:latin typeface="맑은 고딕"/>
                <a:ea typeface="맑은 고딕"/>
                <a:cs typeface="맑은 고딕"/>
              </a:rPr>
              <a:t>체인</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지연이</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큐잉과</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겹쳐</a:t>
            </a:r>
            <a:r>
              <a:rPr sz="650" b="0" i="0" dirty="0">
                <a:solidFill>
                  <a:srgbClr val="000000"/>
                </a:solidFill>
                <a:latin typeface="맑은 고딕"/>
                <a:ea typeface="맑은 고딕"/>
                <a:cs typeface="맑은 고딕"/>
              </a:rPr>
              <a:t> tail latency </a:t>
            </a:r>
            <a:r>
              <a:rPr sz="650" b="0" i="0" dirty="0" err="1">
                <a:solidFill>
                  <a:srgbClr val="000000"/>
                </a:solidFill>
                <a:latin typeface="맑은 고딕"/>
                <a:ea typeface="맑은 고딕"/>
                <a:cs typeface="맑은 고딕"/>
              </a:rPr>
              <a:t>증가</a:t>
            </a:r>
            <a:endParaRPr sz="650" b="0" i="0" dirty="0">
              <a:solidFill>
                <a:srgbClr val="000000"/>
              </a:solidFill>
              <a:latin typeface="맑은 고딕"/>
              <a:ea typeface="맑은 고딕"/>
              <a:cs typeface="맑은 고딕"/>
            </a:endParaRPr>
          </a:p>
        </p:txBody>
      </p:sp>
      <p:sp>
        <p:nvSpPr>
          <p:cNvPr id="48" name="Rectangle 47"/>
          <p:cNvSpPr/>
          <p:nvPr/>
        </p:nvSpPr>
        <p:spPr>
          <a:xfrm>
            <a:off x="62087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Scheduler</a:t>
            </a:r>
          </a:p>
        </p:txBody>
      </p:sp>
      <p:cxnSp>
        <p:nvCxnSpPr>
          <p:cNvPr id="49" name="Connector 48"/>
          <p:cNvCxnSpPr/>
          <p:nvPr/>
        </p:nvCxnSpPr>
        <p:spPr>
          <a:xfrm>
            <a:off x="658368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0317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Reuse</a:t>
            </a:r>
          </a:p>
          <a:p>
            <a:pPr algn="ctr">
              <a:spcAft>
                <a:spcPts val="0"/>
              </a:spcAft>
            </a:pPr>
            <a:r>
              <a:rPr sz="650" b="1" i="0">
                <a:solidFill>
                  <a:srgbClr val="000000"/>
                </a:solidFill>
                <a:latin typeface="맑은 고딕"/>
                <a:ea typeface="맑은 고딕"/>
                <a:cs typeface="맑은 고딕"/>
              </a:rPr>
              <a:t>Pipeline</a:t>
            </a:r>
          </a:p>
        </p:txBody>
      </p:sp>
      <p:cxnSp>
        <p:nvCxnSpPr>
          <p:cNvPr id="51" name="Connector 50"/>
          <p:cNvCxnSpPr/>
          <p:nvPr/>
        </p:nvCxnSpPr>
        <p:spPr>
          <a:xfrm>
            <a:off x="740664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785469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Attention</a:t>
            </a:r>
          </a:p>
          <a:p>
            <a:pPr algn="ctr">
              <a:spcAft>
                <a:spcPts val="0"/>
              </a:spcAft>
            </a:pPr>
            <a:r>
              <a:rPr sz="650" b="1" i="0">
                <a:solidFill>
                  <a:srgbClr val="000000"/>
                </a:solidFill>
                <a:latin typeface="맑은 고딕"/>
                <a:ea typeface="맑은 고딕"/>
                <a:cs typeface="맑은 고딕"/>
              </a:rPr>
              <a:t>Manager</a:t>
            </a:r>
          </a:p>
        </p:txBody>
      </p:sp>
      <p:cxnSp>
        <p:nvCxnSpPr>
          <p:cNvPr id="53" name="Connector 52"/>
          <p:cNvCxnSpPr/>
          <p:nvPr/>
        </p:nvCxnSpPr>
        <p:spPr>
          <a:xfrm>
            <a:off x="822960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867765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KV</a:t>
            </a:r>
          </a:p>
          <a:p>
            <a:pPr algn="ctr">
              <a:spcAft>
                <a:spcPts val="0"/>
              </a:spcAft>
            </a:pPr>
            <a:r>
              <a:rPr sz="650" b="1" i="0">
                <a:solidFill>
                  <a:srgbClr val="000000"/>
                </a:solidFill>
                <a:latin typeface="맑은 고딕"/>
                <a:ea typeface="맑은 고딕"/>
                <a:cs typeface="맑은 고딕"/>
              </a:rPr>
              <a:t>Sampler</a:t>
            </a:r>
          </a:p>
        </p:txBody>
      </p:sp>
      <p:cxnSp>
        <p:nvCxnSpPr>
          <p:cNvPr id="55" name="Connector 54"/>
          <p:cNvCxnSpPr/>
          <p:nvPr/>
        </p:nvCxnSpPr>
        <p:spPr>
          <a:xfrm>
            <a:off x="905256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950061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Recompute</a:t>
            </a:r>
          </a:p>
          <a:p>
            <a:pPr algn="ctr">
              <a:spcAft>
                <a:spcPts val="0"/>
              </a:spcAft>
            </a:pPr>
            <a:r>
              <a:rPr sz="650" b="1" i="0">
                <a:solidFill>
                  <a:srgbClr val="000000"/>
                </a:solidFill>
                <a:latin typeface="맑은 고딕"/>
                <a:ea typeface="맑은 고딕"/>
                <a:cs typeface="맑은 고딕"/>
              </a:rPr>
              <a:t>TokenSelector</a:t>
            </a:r>
          </a:p>
        </p:txBody>
      </p:sp>
      <p:cxnSp>
        <p:nvCxnSpPr>
          <p:cNvPr id="57" name="Connector 56"/>
          <p:cNvCxnSpPr/>
          <p:nvPr/>
        </p:nvCxnSpPr>
        <p:spPr>
          <a:xfrm>
            <a:off x="987552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1032357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Selective</a:t>
            </a:r>
          </a:p>
          <a:p>
            <a:pPr algn="ctr">
              <a:spcAft>
                <a:spcPts val="0"/>
              </a:spcAft>
            </a:pPr>
            <a:r>
              <a:rPr sz="650" b="1" i="0">
                <a:solidFill>
                  <a:srgbClr val="000000"/>
                </a:solidFill>
                <a:latin typeface="맑은 고딕"/>
                <a:ea typeface="맑은 고딕"/>
                <a:cs typeface="맑은 고딕"/>
              </a:rPr>
              <a:t>Recomputer</a:t>
            </a:r>
          </a:p>
        </p:txBody>
      </p:sp>
      <p:cxnSp>
        <p:nvCxnSpPr>
          <p:cNvPr id="59" name="Connector 58"/>
          <p:cNvCxnSpPr/>
          <p:nvPr/>
        </p:nvCxnSpPr>
        <p:spPr>
          <a:xfrm>
            <a:off x="1069848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1114653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KVCache</a:t>
            </a:r>
          </a:p>
          <a:p>
            <a:pPr algn="ctr">
              <a:spcAft>
                <a:spcPts val="0"/>
              </a:spcAft>
            </a:pPr>
            <a:r>
              <a:rPr sz="650" b="1" i="0">
                <a:solidFill>
                  <a:srgbClr val="000000"/>
                </a:solidFill>
                <a:latin typeface="맑은 고딕"/>
                <a:ea typeface="맑은 고딕"/>
                <a:cs typeface="맑은 고딕"/>
              </a:rPr>
              <a:t>Manager</a:t>
            </a:r>
          </a:p>
        </p:txBody>
      </p:sp>
      <p:cxnSp>
        <p:nvCxnSpPr>
          <p:cNvPr id="61" name="Connector 60"/>
          <p:cNvCxnSpPr/>
          <p:nvPr/>
        </p:nvCxnSpPr>
        <p:spPr>
          <a:xfrm>
            <a:off x="11521440" y="1773936"/>
            <a:ext cx="0" cy="351586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6238036" y="1901952"/>
            <a:ext cx="5629046" cy="3232404"/>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6238036" y="1901952"/>
            <a:ext cx="166878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loop: 요청마다 반복 (요청 1..N)</a:t>
            </a:r>
          </a:p>
        </p:txBody>
      </p:sp>
      <p:cxnSp>
        <p:nvCxnSpPr>
          <p:cNvPr id="64" name="Connector 63"/>
          <p:cNvCxnSpPr/>
          <p:nvPr/>
        </p:nvCxnSpPr>
        <p:spPr>
          <a:xfrm>
            <a:off x="6583680" y="232257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583680" y="2167128"/>
            <a:ext cx="82295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run(request)</a:t>
            </a:r>
          </a:p>
        </p:txBody>
      </p:sp>
      <p:cxnSp>
        <p:nvCxnSpPr>
          <p:cNvPr id="66" name="Connector 65"/>
          <p:cNvCxnSpPr/>
          <p:nvPr/>
        </p:nvCxnSpPr>
        <p:spPr>
          <a:xfrm>
            <a:off x="7406640" y="258318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080313" y="2427732"/>
            <a:ext cx="1475612"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similarity(query, context KV)</a:t>
            </a:r>
          </a:p>
        </p:txBody>
      </p:sp>
      <p:cxnSp>
        <p:nvCxnSpPr>
          <p:cNvPr id="68" name="Connector 67"/>
          <p:cNvCxnSpPr/>
          <p:nvPr/>
        </p:nvCxnSpPr>
        <p:spPr>
          <a:xfrm flipH="1">
            <a:off x="7406640" y="2843784"/>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406640" y="2688336"/>
            <a:ext cx="82296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scores</a:t>
            </a:r>
          </a:p>
        </p:txBody>
      </p:sp>
      <p:cxnSp>
        <p:nvCxnSpPr>
          <p:cNvPr id="70" name="Connector 69"/>
          <p:cNvCxnSpPr/>
          <p:nvPr/>
        </p:nvCxnSpPr>
        <p:spPr>
          <a:xfrm>
            <a:off x="7406640" y="3104388"/>
            <a:ext cx="16459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406640" y="2948940"/>
            <a:ext cx="16459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select_reuse(scores)</a:t>
            </a:r>
          </a:p>
        </p:txBody>
      </p:sp>
      <p:cxnSp>
        <p:nvCxnSpPr>
          <p:cNvPr id="72" name="Connector 71"/>
          <p:cNvCxnSpPr/>
          <p:nvPr/>
        </p:nvCxnSpPr>
        <p:spPr>
          <a:xfrm flipH="1">
            <a:off x="7406640" y="3364992"/>
            <a:ext cx="164592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406640" y="3209544"/>
            <a:ext cx="164592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reuse token_ids</a:t>
            </a:r>
          </a:p>
        </p:txBody>
      </p:sp>
      <p:cxnSp>
        <p:nvCxnSpPr>
          <p:cNvPr id="74" name="Connector 73"/>
          <p:cNvCxnSpPr/>
          <p:nvPr/>
        </p:nvCxnSpPr>
        <p:spPr>
          <a:xfrm>
            <a:off x="7406640" y="3625596"/>
            <a:ext cx="246888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406639" y="3470148"/>
            <a:ext cx="246888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select(scores)</a:t>
            </a:r>
          </a:p>
        </p:txBody>
      </p:sp>
      <p:cxnSp>
        <p:nvCxnSpPr>
          <p:cNvPr id="76" name="Connector 75"/>
          <p:cNvCxnSpPr/>
          <p:nvPr/>
        </p:nvCxnSpPr>
        <p:spPr>
          <a:xfrm flipH="1">
            <a:off x="7406640" y="3886200"/>
            <a:ext cx="246888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7406639" y="3730752"/>
            <a:ext cx="246888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recompute positions</a:t>
            </a:r>
          </a:p>
        </p:txBody>
      </p:sp>
      <p:cxnSp>
        <p:nvCxnSpPr>
          <p:cNvPr id="78" name="Connector 77"/>
          <p:cNvCxnSpPr/>
          <p:nvPr/>
        </p:nvCxnSpPr>
        <p:spPr>
          <a:xfrm>
            <a:off x="7406640" y="4146804"/>
            <a:ext cx="329184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7406639" y="3991356"/>
            <a:ext cx="329183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recompute(tokens)</a:t>
            </a:r>
          </a:p>
        </p:txBody>
      </p:sp>
      <p:cxnSp>
        <p:nvCxnSpPr>
          <p:cNvPr id="80" name="Connector 79"/>
          <p:cNvCxnSpPr/>
          <p:nvPr/>
        </p:nvCxnSpPr>
        <p:spPr>
          <a:xfrm>
            <a:off x="10698480" y="4407408"/>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10461307" y="4251960"/>
            <a:ext cx="1297305"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allocate_slots / write KV</a:t>
            </a:r>
          </a:p>
        </p:txBody>
      </p:sp>
      <p:cxnSp>
        <p:nvCxnSpPr>
          <p:cNvPr id="82" name="Connector 81"/>
          <p:cNvCxnSpPr/>
          <p:nvPr/>
        </p:nvCxnSpPr>
        <p:spPr>
          <a:xfrm flipH="1">
            <a:off x="6583680" y="466801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413373" y="4512564"/>
            <a:ext cx="1163574"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reused KV + recomputed</a:t>
            </a:r>
          </a:p>
        </p:txBody>
      </p:sp>
      <p:cxnSp>
        <p:nvCxnSpPr>
          <p:cNvPr id="84" name="Connector 83"/>
          <p:cNvCxnSpPr/>
          <p:nvPr/>
        </p:nvCxnSpPr>
        <p:spPr>
          <a:xfrm>
            <a:off x="7406640" y="4855464"/>
            <a:ext cx="256031"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662671" y="4855464"/>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7406640" y="5020056"/>
            <a:ext cx="25603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7699248" y="4818888"/>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요청 종료 시 재계산 위치 소멸</a:t>
            </a:r>
          </a:p>
        </p:txBody>
      </p:sp>
      <p:sp>
        <p:nvSpPr>
          <p:cNvPr id="88" name="실행 단추: 뒤로 또는 앞으로 이동 100">
            <a:hlinkClick r:id="rId3" action="ppaction://hlinksldjump" highlightClick="1"/>
            <a:extLst>
              <a:ext uri="{FF2B5EF4-FFF2-40B4-BE49-F238E27FC236}">
                <a16:creationId xmlns:a16="http://schemas.microsoft.com/office/drawing/2014/main" id="{C7EA3020-7974-4362-9224-55676618D122}"/>
              </a:ext>
            </a:extLst>
          </p:cNvPr>
          <p:cNvSpPr/>
          <p:nvPr/>
        </p:nvSpPr>
        <p:spPr>
          <a:xfrm>
            <a:off x="7510346" y="196544"/>
            <a:ext cx="241936" cy="25581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9539854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DP3 KV </a:t>
            </a:r>
            <a:r>
              <a:rPr dirty="0" err="1"/>
              <a:t>캐시</a:t>
            </a:r>
            <a:r>
              <a:rPr dirty="0"/>
              <a:t> </a:t>
            </a:r>
            <a:r>
              <a:rPr dirty="0" err="1"/>
              <a:t>재사용</a:t>
            </a:r>
            <a:r>
              <a:rPr dirty="0"/>
              <a:t> – </a:t>
            </a:r>
            <a:r>
              <a:rPr lang="en-US" dirty="0"/>
              <a:t>2</a:t>
            </a:r>
            <a:r>
              <a:rPr lang="ko-KR" altLang="en-US" dirty="0"/>
              <a:t>안 </a:t>
            </a:r>
            <a:r>
              <a:rPr dirty="0"/>
              <a:t>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25</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r>
              <a:rPr lang="en-US" altLang="ko-KR" sz="1200" b="1" dirty="0">
                <a:solidFill>
                  <a:srgbClr val="FFFFFF"/>
                </a:solidFill>
                <a:ea typeface="맑은 고딕"/>
                <a:cs typeface="맑은 고딕"/>
              </a:rPr>
              <a:t>DP3. (2</a:t>
            </a:r>
            <a:r>
              <a:rPr lang="ko-KR" altLang="en-US" sz="1200" b="1" dirty="0">
                <a:solidFill>
                  <a:srgbClr val="FFFFFF"/>
                </a:solidFill>
                <a:ea typeface="맑은 고딕"/>
                <a:cs typeface="맑은 고딕"/>
              </a:rPr>
              <a:t>안</a:t>
            </a:r>
            <a:r>
              <a:rPr lang="en-US" altLang="ko-KR" sz="1200" b="1" dirty="0">
                <a:solidFill>
                  <a:srgbClr val="FFFFFF"/>
                </a:solidFill>
                <a:ea typeface="맑은 고딕"/>
                <a:cs typeface="맑은 고딕"/>
              </a:rPr>
              <a:t>) Repository </a:t>
            </a:r>
            <a:r>
              <a:rPr lang="ko-KR" altLang="en-US" sz="1200" b="1" dirty="0">
                <a:solidFill>
                  <a:srgbClr val="FFFFFF"/>
                </a:solidFill>
                <a:ea typeface="맑은 고딕"/>
                <a:cs typeface="맑은 고딕"/>
              </a:rPr>
              <a:t>구조</a:t>
            </a:r>
            <a:r>
              <a:rPr lang="en-US" altLang="ko-KR" sz="1200" b="1" dirty="0">
                <a:solidFill>
                  <a:srgbClr val="FFFFFF"/>
                </a:solidFill>
                <a:ea typeface="맑은 고딕"/>
                <a:cs typeface="맑은 고딕"/>
              </a:rPr>
              <a:t>: </a:t>
            </a:r>
            <a:r>
              <a:rPr lang="ko-KR" altLang="en-US" sz="1200" b="1" dirty="0">
                <a:solidFill>
                  <a:srgbClr val="FFFFFF"/>
                </a:solidFill>
                <a:ea typeface="맑은 고딕"/>
                <a:cs typeface="맑은 고딕"/>
              </a:rPr>
              <a:t>분석 </a:t>
            </a:r>
            <a:r>
              <a:rPr lang="en-US" altLang="ko-KR" sz="1200" b="1" dirty="0">
                <a:solidFill>
                  <a:srgbClr val="FFFFFF"/>
                </a:solidFill>
                <a:ea typeface="맑은 고딕"/>
                <a:cs typeface="맑은 고딕"/>
              </a:rPr>
              <a:t>1</a:t>
            </a:r>
            <a:r>
              <a:rPr lang="ko-KR" altLang="en-US" sz="1200" b="1" dirty="0">
                <a:solidFill>
                  <a:srgbClr val="FFFFFF"/>
                </a:solidFill>
                <a:ea typeface="맑은 고딕"/>
                <a:cs typeface="맑은 고딕"/>
              </a:rPr>
              <a:t>회 </a:t>
            </a:r>
            <a:r>
              <a:rPr lang="en-US" altLang="ko-KR" sz="1200" b="1" dirty="0">
                <a:solidFill>
                  <a:srgbClr val="FFFFFF"/>
                </a:solidFill>
                <a:ea typeface="맑은 고딕"/>
                <a:cs typeface="맑은 고딕"/>
              </a:rPr>
              <a:t>+ </a:t>
            </a:r>
            <a:r>
              <a:rPr lang="ko-KR" altLang="en-US" sz="1200" b="1" dirty="0" err="1">
                <a:solidFill>
                  <a:srgbClr val="FFFFFF"/>
                </a:solidFill>
                <a:ea typeface="맑은 고딕"/>
                <a:cs typeface="맑은 고딕"/>
              </a:rPr>
              <a:t>요청마다</a:t>
            </a:r>
            <a:r>
              <a:rPr lang="ko-KR" altLang="en-US" sz="1200" b="1" dirty="0">
                <a:solidFill>
                  <a:srgbClr val="FFFFFF"/>
                </a:solidFill>
                <a:ea typeface="맑은 고딕"/>
                <a:cs typeface="맑은 고딕"/>
              </a:rPr>
              <a:t> 조회 </a:t>
            </a: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QA-02</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0" name="Rounded Rectangle 9"/>
          <p:cNvSpPr/>
          <p:nvPr/>
        </p:nvSpPr>
        <p:spPr>
          <a:xfrm>
            <a:off x="9930383" y="667512"/>
            <a:ext cx="361188" cy="246888"/>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C02</a:t>
            </a:r>
          </a:p>
        </p:txBody>
      </p:sp>
      <p:sp>
        <p:nvSpPr>
          <p:cNvPr id="11" name="Rounded Rectangle 10"/>
          <p:cNvSpPr/>
          <p:nvPr/>
        </p:nvSpPr>
        <p:spPr>
          <a:xfrm>
            <a:off x="946403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OfflineAnalyzer</a:t>
            </a:r>
          </a:p>
        </p:txBody>
      </p:sp>
      <p:sp>
        <p:nvSpPr>
          <p:cNvPr id="17" name="Rectangle 16"/>
          <p:cNvSpPr/>
          <p:nvPr/>
        </p:nvSpPr>
        <p:spPr>
          <a:xfrm>
            <a:off x="365760"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sampler, attention, selector</a:t>
            </a:r>
          </a:p>
        </p:txBody>
      </p:sp>
      <p:sp>
        <p:nvSpPr>
          <p:cNvPr id="18" name="Rectangle 17"/>
          <p:cNvSpPr/>
          <p:nvPr/>
        </p:nvSpPr>
        <p:spPr>
          <a:xfrm>
            <a:off x="365760"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analyze(workload): ReusePlan</a:t>
            </a:r>
          </a:p>
        </p:txBody>
      </p:sp>
      <p:sp>
        <p:nvSpPr>
          <p:cNvPr id="19" name="Rectangle 18"/>
          <p:cNvSpPr/>
          <p:nvPr/>
        </p:nvSpPr>
        <p:spPr>
          <a:xfrm>
            <a:off x="2267712" y="150876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«repository»</a:t>
            </a:r>
          </a:p>
          <a:p>
            <a:pPr algn="ctr">
              <a:spcAft>
                <a:spcPts val="0"/>
              </a:spcAft>
            </a:pPr>
            <a:r>
              <a:rPr sz="750" b="1" i="0">
                <a:solidFill>
                  <a:srgbClr val="000000"/>
                </a:solidFill>
                <a:latin typeface="맑은 고딕"/>
                <a:ea typeface="맑은 고딕"/>
                <a:cs typeface="맑은 고딕"/>
              </a:rPr>
              <a:t>PlanStore</a:t>
            </a:r>
          </a:p>
        </p:txBody>
      </p:sp>
      <p:sp>
        <p:nvSpPr>
          <p:cNvPr id="20" name="Rectangle 19"/>
          <p:cNvSpPr/>
          <p:nvPr/>
        </p:nvSpPr>
        <p:spPr>
          <a:xfrm>
            <a:off x="2267712" y="178308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plans: dict[context_id]</a:t>
            </a:r>
          </a:p>
          <a:p>
            <a:pPr algn="l">
              <a:spcAft>
                <a:spcPts val="0"/>
              </a:spcAft>
            </a:pPr>
            <a:r>
              <a:rPr sz="650" b="0" i="0">
                <a:solidFill>
                  <a:srgbClr val="000000"/>
                </a:solidFill>
                <a:latin typeface="맑은 고딕"/>
                <a:ea typeface="맑은 고딕"/>
                <a:cs typeface="맑은 고딕"/>
              </a:rPr>
              <a:t>context_kv</a:t>
            </a:r>
          </a:p>
        </p:txBody>
      </p:sp>
      <p:sp>
        <p:nvSpPr>
          <p:cNvPr id="21" name="Rectangle 20"/>
          <p:cNvSpPr/>
          <p:nvPr/>
        </p:nvSpPr>
        <p:spPr>
          <a:xfrm>
            <a:off x="2267712" y="204459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write(plan)  // 1회</a:t>
            </a:r>
          </a:p>
          <a:p>
            <a:pPr algn="l">
              <a:spcAft>
                <a:spcPts val="0"/>
              </a:spcAft>
            </a:pPr>
            <a:r>
              <a:rPr sz="650" b="0" i="0">
                <a:solidFill>
                  <a:srgbClr val="000000"/>
                </a:solidFill>
                <a:latin typeface="맑은 고딕"/>
                <a:ea typeface="맑은 고딕"/>
                <a:cs typeface="맑은 고딕"/>
              </a:rPr>
              <a:t>read(context_id)</a:t>
            </a:r>
          </a:p>
        </p:txBody>
      </p:sp>
      <p:sp>
        <p:nvSpPr>
          <p:cNvPr id="22" name="Rectangle 21"/>
          <p:cNvSpPr/>
          <p:nvPr/>
        </p:nvSpPr>
        <p:spPr>
          <a:xfrm>
            <a:off x="4169663"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Validator</a:t>
            </a:r>
          </a:p>
        </p:txBody>
      </p:sp>
      <p:sp>
        <p:nvSpPr>
          <p:cNvPr id="23" name="Rectangle 22"/>
          <p:cNvSpPr/>
          <p:nvPr/>
        </p:nvSpPr>
        <p:spPr>
          <a:xfrm>
            <a:off x="4169663" y="1691639"/>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169663" y="173736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validate(plan, result)</a:t>
            </a:r>
          </a:p>
          <a:p>
            <a:pPr algn="l">
              <a:spcAft>
                <a:spcPts val="0"/>
              </a:spcAft>
            </a:pPr>
            <a:r>
              <a:rPr sz="650" b="0" i="0">
                <a:solidFill>
                  <a:srgbClr val="000000"/>
                </a:solidFill>
                <a:latin typeface="맑은 고딕"/>
                <a:ea typeface="맑은 고딕"/>
                <a:cs typeface="맑은 고딕"/>
              </a:rPr>
              <a:t>update(plan)  // stale 보완</a:t>
            </a:r>
          </a:p>
        </p:txBody>
      </p:sp>
      <p:sp>
        <p:nvSpPr>
          <p:cNvPr id="25" name="Rectangle 24"/>
          <p:cNvSpPr/>
          <p:nvPr/>
        </p:nvSpPr>
        <p:spPr>
          <a:xfrm>
            <a:off x="365760"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26" name="Rectangle 25"/>
          <p:cNvSpPr/>
          <p:nvPr/>
        </p:nvSpPr>
        <p:spPr>
          <a:xfrm>
            <a:off x="365760" y="31089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admission</a:t>
            </a:r>
          </a:p>
        </p:txBody>
      </p:sp>
      <p:sp>
        <p:nvSpPr>
          <p:cNvPr id="27" name="Rectangle 26"/>
          <p:cNvSpPr/>
          <p:nvPr/>
        </p:nvSpPr>
        <p:spPr>
          <a:xfrm>
            <a:off x="365760" y="326257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 SchedulerOutput</a:t>
            </a:r>
          </a:p>
        </p:txBody>
      </p:sp>
      <p:sp>
        <p:nvSpPr>
          <p:cNvPr id="28" name="Rectangle 27"/>
          <p:cNvSpPr/>
          <p:nvPr/>
        </p:nvSpPr>
        <p:spPr>
          <a:xfrm>
            <a:off x="2267712"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PlanAwareAdmissionController</a:t>
            </a:r>
          </a:p>
        </p:txBody>
      </p:sp>
      <p:sp>
        <p:nvSpPr>
          <p:cNvPr id="29" name="Rectangle 28"/>
          <p:cNvSpPr/>
          <p:nvPr/>
        </p:nvSpPr>
        <p:spPr>
          <a:xfrm>
            <a:off x="2267712" y="31089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hbm_budget</a:t>
            </a:r>
          </a:p>
        </p:txBody>
      </p:sp>
      <p:sp>
        <p:nvSpPr>
          <p:cNvPr id="30" name="Rectangle 29"/>
          <p:cNvSpPr/>
          <p:nvPr/>
        </p:nvSpPr>
        <p:spPr>
          <a:xfrm>
            <a:off x="2267712" y="326257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required_hbm(plan)</a:t>
            </a:r>
          </a:p>
          <a:p>
            <a:pPr algn="l">
              <a:spcAft>
                <a:spcPts val="0"/>
              </a:spcAft>
            </a:pPr>
            <a:r>
              <a:rPr sz="650" b="0" i="0">
                <a:solidFill>
                  <a:srgbClr val="000000"/>
                </a:solidFill>
                <a:latin typeface="맑은 고딕"/>
                <a:ea typeface="맑은 고딕"/>
                <a:cs typeface="맑은 고딕"/>
              </a:rPr>
              <a:t>admit(request): bool</a:t>
            </a:r>
          </a:p>
        </p:txBody>
      </p:sp>
      <p:sp>
        <p:nvSpPr>
          <p:cNvPr id="31" name="Rectangle 30"/>
          <p:cNvSpPr/>
          <p:nvPr/>
        </p:nvSpPr>
        <p:spPr>
          <a:xfrm>
            <a:off x="4169663"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KVLayoutManager</a:t>
            </a:r>
          </a:p>
        </p:txBody>
      </p:sp>
      <p:sp>
        <p:nvSpPr>
          <p:cNvPr id="32" name="Rectangle 31"/>
          <p:cNvSpPr/>
          <p:nvPr/>
        </p:nvSpPr>
        <p:spPr>
          <a:xfrm>
            <a:off x="4169663" y="310896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base_refcount</a:t>
            </a:r>
          </a:p>
          <a:p>
            <a:pPr algn="l">
              <a:spcAft>
                <a:spcPts val="0"/>
              </a:spcAft>
            </a:pPr>
            <a:r>
              <a:rPr sz="650" b="0" i="0">
                <a:solidFill>
                  <a:srgbClr val="000000"/>
                </a:solidFill>
                <a:latin typeface="맑은 고딕"/>
                <a:ea typeface="맑은 고딕"/>
                <a:cs typeface="맑은 고딕"/>
              </a:rPr>
              <a:t>delta per request</a:t>
            </a:r>
          </a:p>
        </p:txBody>
      </p:sp>
      <p:sp>
        <p:nvSpPr>
          <p:cNvPr id="33" name="Rectangle 32"/>
          <p:cNvSpPr/>
          <p:nvPr/>
        </p:nvSpPr>
        <p:spPr>
          <a:xfrm>
            <a:off x="4169663" y="337047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share_base(context_id)</a:t>
            </a:r>
          </a:p>
          <a:p>
            <a:pPr algn="l">
              <a:spcAft>
                <a:spcPts val="0"/>
              </a:spcAft>
            </a:pPr>
            <a:r>
              <a:rPr sz="650" b="0" i="0">
                <a:solidFill>
                  <a:srgbClr val="000000"/>
                </a:solidFill>
                <a:latin typeface="맑은 고딕"/>
                <a:ea typeface="맑은 고딕"/>
                <a:cs typeface="맑은 고딕"/>
              </a:rPr>
              <a:t>allocate_delta(req, ρ)</a:t>
            </a:r>
          </a:p>
        </p:txBody>
      </p:sp>
      <p:sp>
        <p:nvSpPr>
          <p:cNvPr id="34" name="Rectangle 33"/>
          <p:cNvSpPr/>
          <p:nvPr/>
        </p:nvSpPr>
        <p:spPr>
          <a:xfrm>
            <a:off x="365760" y="434340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SelectiveRecomputer</a:t>
            </a:r>
          </a:p>
        </p:txBody>
      </p:sp>
      <p:sp>
        <p:nvSpPr>
          <p:cNvPr id="35" name="Rectangle 34"/>
          <p:cNvSpPr/>
          <p:nvPr/>
        </p:nvSpPr>
        <p:spPr>
          <a:xfrm>
            <a:off x="365760" y="452628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65760" y="457200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recompute(tokens, base+delta)</a:t>
            </a:r>
          </a:p>
        </p:txBody>
      </p:sp>
      <p:sp>
        <p:nvSpPr>
          <p:cNvPr id="37" name="Rectangle 36"/>
          <p:cNvSpPr/>
          <p:nvPr/>
        </p:nvSpPr>
        <p:spPr>
          <a:xfrm>
            <a:off x="2267712" y="434340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KVCacheManager</a:t>
            </a:r>
          </a:p>
        </p:txBody>
      </p:sp>
      <p:sp>
        <p:nvSpPr>
          <p:cNvPr id="38" name="Rectangle 37"/>
          <p:cNvSpPr/>
          <p:nvPr/>
        </p:nvSpPr>
        <p:spPr>
          <a:xfrm>
            <a:off x="2267712" y="452628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block_pool</a:t>
            </a:r>
          </a:p>
        </p:txBody>
      </p:sp>
      <p:sp>
        <p:nvSpPr>
          <p:cNvPr id="39" name="Rectangle 38"/>
          <p:cNvSpPr/>
          <p:nvPr/>
        </p:nvSpPr>
        <p:spPr>
          <a:xfrm>
            <a:off x="2267712" y="4679899"/>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allocate_slots(...)</a:t>
            </a:r>
          </a:p>
          <a:p>
            <a:pPr algn="l">
              <a:spcAft>
                <a:spcPts val="0"/>
              </a:spcAft>
            </a:pPr>
            <a:r>
              <a:rPr sz="650" b="0" i="0">
                <a:solidFill>
                  <a:srgbClr val="000000"/>
                </a:solidFill>
                <a:latin typeface="맑은 고딕"/>
                <a:ea typeface="맑은 고딕"/>
                <a:cs typeface="맑은 고딕"/>
              </a:rPr>
              <a:t>free(request)</a:t>
            </a:r>
          </a:p>
        </p:txBody>
      </p:sp>
      <p:sp>
        <p:nvSpPr>
          <p:cNvPr id="40" name="Rectangle 39"/>
          <p:cNvSpPr/>
          <p:nvPr/>
        </p:nvSpPr>
        <p:spPr>
          <a:xfrm>
            <a:off x="4169663" y="434340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BlockPool</a:t>
            </a:r>
          </a:p>
        </p:txBody>
      </p:sp>
      <p:sp>
        <p:nvSpPr>
          <p:cNvPr id="41" name="Rectangle 40"/>
          <p:cNvSpPr/>
          <p:nvPr/>
        </p:nvSpPr>
        <p:spPr>
          <a:xfrm>
            <a:off x="4169663" y="452628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ref_cnt per block</a:t>
            </a:r>
          </a:p>
        </p:txBody>
      </p:sp>
      <p:sp>
        <p:nvSpPr>
          <p:cNvPr id="42" name="Rectangle 41"/>
          <p:cNvSpPr/>
          <p:nvPr/>
        </p:nvSpPr>
        <p:spPr>
          <a:xfrm>
            <a:off x="4169663" y="4679899"/>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get_new_blocks(n)</a:t>
            </a:r>
          </a:p>
          <a:p>
            <a:pPr algn="l">
              <a:spcAft>
                <a:spcPts val="0"/>
              </a:spcAft>
            </a:pPr>
            <a:r>
              <a:rPr sz="650" b="0" i="0">
                <a:solidFill>
                  <a:srgbClr val="000000"/>
                </a:solidFill>
                <a:latin typeface="맑은 고딕"/>
                <a:ea typeface="맑은 고딕"/>
                <a:cs typeface="맑은 고딕"/>
              </a:rPr>
              <a:t>free_blocks(...)</a:t>
            </a:r>
          </a:p>
        </p:txBody>
      </p:sp>
      <p:cxnSp>
        <p:nvCxnSpPr>
          <p:cNvPr id="43" name="Connector 42"/>
          <p:cNvCxnSpPr/>
          <p:nvPr/>
        </p:nvCxnSpPr>
        <p:spPr>
          <a:xfrm>
            <a:off x="1965960" y="1753819"/>
            <a:ext cx="301752" cy="15361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867912" y="1753819"/>
            <a:ext cx="301751" cy="153619"/>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965960" y="3171139"/>
            <a:ext cx="301752"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3867912" y="3225088"/>
            <a:ext cx="30175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067812" y="2306116"/>
            <a:ext cx="0" cy="619964"/>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905963" y="254294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plan</a:t>
            </a:r>
          </a:p>
        </p:txBody>
      </p:sp>
      <p:cxnSp>
        <p:nvCxnSpPr>
          <p:cNvPr id="49" name="Connector 48"/>
          <p:cNvCxnSpPr/>
          <p:nvPr/>
        </p:nvCxnSpPr>
        <p:spPr>
          <a:xfrm flipH="1">
            <a:off x="3547872" y="3631996"/>
            <a:ext cx="941831" cy="71140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833622" y="3914546"/>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alloc</a:t>
            </a:r>
          </a:p>
        </p:txBody>
      </p:sp>
      <p:cxnSp>
        <p:nvCxnSpPr>
          <p:cNvPr id="51" name="Connector 50"/>
          <p:cNvCxnSpPr/>
          <p:nvPr/>
        </p:nvCxnSpPr>
        <p:spPr>
          <a:xfrm>
            <a:off x="3867912" y="4642408"/>
            <a:ext cx="301751" cy="0"/>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165860" y="3416198"/>
            <a:ext cx="0" cy="927202"/>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27328" y="3806647"/>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run</a:t>
            </a:r>
          </a:p>
        </p:txBody>
      </p:sp>
      <p:sp>
        <p:nvSpPr>
          <p:cNvPr id="54" name="TextBox 53"/>
          <p:cNvSpPr txBox="1"/>
          <p:nvPr/>
        </p:nvSpPr>
        <p:spPr>
          <a:xfrm>
            <a:off x="365760" y="5806440"/>
            <a:ext cx="5486400" cy="64008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사전: 대표 Query로 재사용/재계산 위치를 PlanStore에 1회 기록. 서빙: PlanStore 조회 1회 + Base 공유(refcount) + Delta만 할당</a:t>
            </a:r>
          </a:p>
          <a:p>
            <a:pPr algn="l">
              <a:spcAft>
                <a:spcPts val="0"/>
              </a:spcAft>
            </a:pPr>
            <a:r>
              <a:rPr sz="650" b="0" i="0">
                <a:solidFill>
                  <a:srgbClr val="000000"/>
                </a:solidFill>
                <a:latin typeface="맑은 고딕"/>
                <a:ea typeface="맑은 고딕"/>
                <a:cs typeface="맑은 고딕"/>
              </a:rPr>
              <a:t>• HBM = (1−ρ)·L + N·ρ·L vs N·L  (N=3, ρ=0.15 가정 시 3.0L → 1.3L) — 가정 예시, 실측 아님</a:t>
            </a:r>
          </a:p>
          <a:p>
            <a:pPr algn="l">
              <a:spcAft>
                <a:spcPts val="0"/>
              </a:spcAft>
            </a:pPr>
            <a:r>
              <a:rPr sz="600" b="0" i="0">
                <a:solidFill>
                  <a:srgbClr val="7F7F7F"/>
                </a:solidFill>
                <a:latin typeface="맑은 고딕"/>
                <a:ea typeface="맑은 고딕"/>
                <a:cs typeface="맑은 고딕"/>
              </a:rPr>
              <a:t>• 근거: 슬라이드 8~9p, doc-mk/DP3/dp3-kv-compression-reuse-structure-draft.md</a:t>
            </a:r>
          </a:p>
        </p:txBody>
      </p:sp>
      <p:sp>
        <p:nvSpPr>
          <p:cNvPr id="55" name="Rectangle 54"/>
          <p:cNvSpPr/>
          <p:nvPr/>
        </p:nvSpPr>
        <p:spPr>
          <a:xfrm>
            <a:off x="620877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Offline</a:t>
            </a:r>
          </a:p>
          <a:p>
            <a:pPr algn="ctr">
              <a:spcAft>
                <a:spcPts val="0"/>
              </a:spcAft>
            </a:pPr>
            <a:r>
              <a:rPr sz="650" b="1" i="0">
                <a:solidFill>
                  <a:srgbClr val="000000"/>
                </a:solidFill>
                <a:latin typeface="맑은 고딕"/>
                <a:ea typeface="맑은 고딕"/>
                <a:cs typeface="맑은 고딕"/>
              </a:rPr>
              <a:t>Analyzer</a:t>
            </a:r>
          </a:p>
        </p:txBody>
      </p:sp>
      <p:cxnSp>
        <p:nvCxnSpPr>
          <p:cNvPr id="56" name="Connector 55"/>
          <p:cNvCxnSpPr/>
          <p:nvPr/>
        </p:nvCxnSpPr>
        <p:spPr>
          <a:xfrm>
            <a:off x="658368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70317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PlanStore</a:t>
            </a:r>
          </a:p>
        </p:txBody>
      </p:sp>
      <p:cxnSp>
        <p:nvCxnSpPr>
          <p:cNvPr id="58" name="Connector 57"/>
          <p:cNvCxnSpPr/>
          <p:nvPr/>
        </p:nvCxnSpPr>
        <p:spPr>
          <a:xfrm>
            <a:off x="740664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785469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Scheduler</a:t>
            </a:r>
          </a:p>
        </p:txBody>
      </p:sp>
      <p:cxnSp>
        <p:nvCxnSpPr>
          <p:cNvPr id="60" name="Connector 59"/>
          <p:cNvCxnSpPr/>
          <p:nvPr/>
        </p:nvCxnSpPr>
        <p:spPr>
          <a:xfrm>
            <a:off x="822960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867765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Admission</a:t>
            </a:r>
          </a:p>
          <a:p>
            <a:pPr algn="ctr">
              <a:spcAft>
                <a:spcPts val="0"/>
              </a:spcAft>
            </a:pPr>
            <a:r>
              <a:rPr sz="650" b="1" i="0">
                <a:solidFill>
                  <a:srgbClr val="000000"/>
                </a:solidFill>
                <a:latin typeface="맑은 고딕"/>
                <a:ea typeface="맑은 고딕"/>
                <a:cs typeface="맑은 고딕"/>
              </a:rPr>
              <a:t>Controller</a:t>
            </a:r>
          </a:p>
        </p:txBody>
      </p:sp>
      <p:cxnSp>
        <p:nvCxnSpPr>
          <p:cNvPr id="62" name="Connector 61"/>
          <p:cNvCxnSpPr/>
          <p:nvPr/>
        </p:nvCxnSpPr>
        <p:spPr>
          <a:xfrm>
            <a:off x="905256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950061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KVLayout</a:t>
            </a:r>
          </a:p>
          <a:p>
            <a:pPr algn="ctr">
              <a:spcAft>
                <a:spcPts val="0"/>
              </a:spcAft>
            </a:pPr>
            <a:r>
              <a:rPr sz="650" b="1" i="0">
                <a:solidFill>
                  <a:srgbClr val="000000"/>
                </a:solidFill>
                <a:latin typeface="맑은 고딕"/>
                <a:ea typeface="맑은 고딕"/>
                <a:cs typeface="맑은 고딕"/>
              </a:rPr>
              <a:t>Manager</a:t>
            </a:r>
          </a:p>
        </p:txBody>
      </p:sp>
      <p:cxnSp>
        <p:nvCxnSpPr>
          <p:cNvPr id="64" name="Connector 63"/>
          <p:cNvCxnSpPr/>
          <p:nvPr/>
        </p:nvCxnSpPr>
        <p:spPr>
          <a:xfrm>
            <a:off x="987552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10323576" y="1463040"/>
            <a:ext cx="749808"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Selective</a:t>
            </a:r>
          </a:p>
          <a:p>
            <a:pPr algn="ctr">
              <a:spcAft>
                <a:spcPts val="0"/>
              </a:spcAft>
            </a:pPr>
            <a:r>
              <a:rPr sz="650" b="1" i="0">
                <a:solidFill>
                  <a:srgbClr val="000000"/>
                </a:solidFill>
                <a:latin typeface="맑은 고딕"/>
                <a:ea typeface="맑은 고딕"/>
                <a:cs typeface="맑은 고딕"/>
              </a:rPr>
              <a:t>Recomputer</a:t>
            </a:r>
          </a:p>
        </p:txBody>
      </p:sp>
      <p:cxnSp>
        <p:nvCxnSpPr>
          <p:cNvPr id="66" name="Connector 65"/>
          <p:cNvCxnSpPr/>
          <p:nvPr/>
        </p:nvCxnSpPr>
        <p:spPr>
          <a:xfrm>
            <a:off x="1069848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11146536" y="1463040"/>
            <a:ext cx="74980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Validator</a:t>
            </a:r>
          </a:p>
        </p:txBody>
      </p:sp>
      <p:cxnSp>
        <p:nvCxnSpPr>
          <p:cNvPr id="68" name="Connector 67"/>
          <p:cNvCxnSpPr/>
          <p:nvPr/>
        </p:nvCxnSpPr>
        <p:spPr>
          <a:xfrm>
            <a:off x="11521440" y="1773936"/>
            <a:ext cx="0" cy="419709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6238036" y="1901952"/>
            <a:ext cx="1514246" cy="886967"/>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6238036" y="1901952"/>
            <a:ext cx="100584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사전 (offline, 1회)</a:t>
            </a:r>
          </a:p>
        </p:txBody>
      </p:sp>
      <p:sp>
        <p:nvSpPr>
          <p:cNvPr id="71" name="Rectangle 70"/>
          <p:cNvSpPr/>
          <p:nvPr/>
        </p:nvSpPr>
        <p:spPr>
          <a:xfrm>
            <a:off x="7060996" y="2843784"/>
            <a:ext cx="4806086" cy="2971800"/>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7060996" y="2843784"/>
            <a:ext cx="5029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서빙 (요청마다)</a:t>
            </a:r>
          </a:p>
        </p:txBody>
      </p:sp>
      <p:cxnSp>
        <p:nvCxnSpPr>
          <p:cNvPr id="73" name="Connector 72"/>
          <p:cNvCxnSpPr/>
          <p:nvPr/>
        </p:nvCxnSpPr>
        <p:spPr>
          <a:xfrm>
            <a:off x="6583680" y="2249424"/>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839712" y="2249424"/>
            <a:ext cx="0" cy="164591"/>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a:off x="6583680" y="2414015"/>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76288" y="2212848"/>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대표 Query → 재계산 위치 선정</a:t>
            </a:r>
          </a:p>
        </p:txBody>
      </p:sp>
      <p:cxnSp>
        <p:nvCxnSpPr>
          <p:cNvPr id="77" name="Connector 76"/>
          <p:cNvCxnSpPr/>
          <p:nvPr/>
        </p:nvCxnSpPr>
        <p:spPr>
          <a:xfrm>
            <a:off x="6583680" y="267462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6583680" y="2519172"/>
            <a:ext cx="82295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write(plan)</a:t>
            </a:r>
          </a:p>
        </p:txBody>
      </p:sp>
      <p:cxnSp>
        <p:nvCxnSpPr>
          <p:cNvPr id="79" name="Connector 78"/>
          <p:cNvCxnSpPr/>
          <p:nvPr/>
        </p:nvCxnSpPr>
        <p:spPr>
          <a:xfrm flipH="1">
            <a:off x="7406640" y="3264408"/>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7370064" y="3108960"/>
            <a:ext cx="896112"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read(context_id)</a:t>
            </a:r>
          </a:p>
        </p:txBody>
      </p:sp>
      <p:cxnSp>
        <p:nvCxnSpPr>
          <p:cNvPr id="81" name="Connector 80"/>
          <p:cNvCxnSpPr/>
          <p:nvPr/>
        </p:nvCxnSpPr>
        <p:spPr>
          <a:xfrm>
            <a:off x="7406640" y="352501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7406640" y="3369564"/>
            <a:ext cx="82296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ReusePlan</a:t>
            </a:r>
          </a:p>
        </p:txBody>
      </p:sp>
      <p:cxnSp>
        <p:nvCxnSpPr>
          <p:cNvPr id="83" name="Connector 82"/>
          <p:cNvCxnSpPr/>
          <p:nvPr/>
        </p:nvCxnSpPr>
        <p:spPr>
          <a:xfrm>
            <a:off x="8229600" y="3785616"/>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8103869" y="3630168"/>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admit(request, plan)</a:t>
            </a:r>
          </a:p>
        </p:txBody>
      </p:sp>
      <p:cxnSp>
        <p:nvCxnSpPr>
          <p:cNvPr id="85" name="Connector 84"/>
          <p:cNvCxnSpPr/>
          <p:nvPr/>
        </p:nvCxnSpPr>
        <p:spPr>
          <a:xfrm>
            <a:off x="9052560" y="3973068"/>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308592" y="3973068"/>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a:off x="9052560" y="4137660"/>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345168" y="3936492"/>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required_hbm(plan)</a:t>
            </a:r>
          </a:p>
        </p:txBody>
      </p:sp>
      <p:cxnSp>
        <p:nvCxnSpPr>
          <p:cNvPr id="89" name="Connector 88"/>
          <p:cNvCxnSpPr/>
          <p:nvPr/>
        </p:nvCxnSpPr>
        <p:spPr>
          <a:xfrm>
            <a:off x="9052560" y="4398264"/>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8770810" y="4242816"/>
            <a:ext cx="138645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share_base / allocate_delta</a:t>
            </a:r>
          </a:p>
        </p:txBody>
      </p:sp>
      <p:cxnSp>
        <p:nvCxnSpPr>
          <p:cNvPr id="91" name="Connector 90"/>
          <p:cNvCxnSpPr/>
          <p:nvPr/>
        </p:nvCxnSpPr>
        <p:spPr>
          <a:xfrm flipH="1">
            <a:off x="9052560" y="4658868"/>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8748522" y="4503420"/>
            <a:ext cx="1431036"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Base refcount↑, Delta blocks</a:t>
            </a:r>
          </a:p>
        </p:txBody>
      </p:sp>
      <p:cxnSp>
        <p:nvCxnSpPr>
          <p:cNvPr id="93" name="Connector 92"/>
          <p:cNvCxnSpPr/>
          <p:nvPr/>
        </p:nvCxnSpPr>
        <p:spPr>
          <a:xfrm flipH="1">
            <a:off x="8229600" y="4919472"/>
            <a:ext cx="82296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8229600" y="4764024"/>
            <a:ext cx="82296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admit / defer</a:t>
            </a:r>
          </a:p>
        </p:txBody>
      </p:sp>
      <p:cxnSp>
        <p:nvCxnSpPr>
          <p:cNvPr id="95" name="Connector 94"/>
          <p:cNvCxnSpPr/>
          <p:nvPr/>
        </p:nvCxnSpPr>
        <p:spPr>
          <a:xfrm>
            <a:off x="8229600" y="5180076"/>
            <a:ext cx="246888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8229600" y="5024628"/>
            <a:ext cx="2468879"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recompute(plan tokens)</a:t>
            </a:r>
          </a:p>
        </p:txBody>
      </p:sp>
      <p:cxnSp>
        <p:nvCxnSpPr>
          <p:cNvPr id="97" name="Connector 96"/>
          <p:cNvCxnSpPr/>
          <p:nvPr/>
        </p:nvCxnSpPr>
        <p:spPr>
          <a:xfrm>
            <a:off x="10698480" y="5440680"/>
            <a:ext cx="8229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0528173" y="5285232"/>
            <a:ext cx="1163574"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validate(plan, result)</a:t>
            </a:r>
          </a:p>
        </p:txBody>
      </p:sp>
      <p:cxnSp>
        <p:nvCxnSpPr>
          <p:cNvPr id="99" name="Connector 98"/>
          <p:cNvCxnSpPr/>
          <p:nvPr/>
        </p:nvCxnSpPr>
        <p:spPr>
          <a:xfrm flipH="1">
            <a:off x="7406640" y="5701284"/>
            <a:ext cx="411480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406640" y="5545836"/>
            <a:ext cx="411480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update(plan)  // stale 보완</a:t>
            </a:r>
          </a:p>
        </p:txBody>
      </p:sp>
      <p:sp>
        <p:nvSpPr>
          <p:cNvPr id="101" name="실행 단추: 뒤로 또는 앞으로 이동 100">
            <a:hlinkClick r:id="rId3" action="ppaction://hlinksldjump" highlightClick="1"/>
            <a:extLst>
              <a:ext uri="{FF2B5EF4-FFF2-40B4-BE49-F238E27FC236}">
                <a16:creationId xmlns:a16="http://schemas.microsoft.com/office/drawing/2014/main" id="{C7EA3020-7974-4362-9224-55676618D122}"/>
              </a:ext>
            </a:extLst>
          </p:cNvPr>
          <p:cNvSpPr/>
          <p:nvPr/>
        </p:nvSpPr>
        <p:spPr>
          <a:xfrm>
            <a:off x="7510346" y="196544"/>
            <a:ext cx="241936" cy="25581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DP4 </a:t>
            </a:r>
            <a:r>
              <a:rPr dirty="0" err="1"/>
              <a:t>서버</a:t>
            </a:r>
            <a:r>
              <a:rPr dirty="0"/>
              <a:t> 간 KV </a:t>
            </a:r>
            <a:r>
              <a:rPr dirty="0" err="1"/>
              <a:t>캐시</a:t>
            </a:r>
            <a:r>
              <a:rPr dirty="0"/>
              <a:t> </a:t>
            </a:r>
            <a:r>
              <a:rPr dirty="0" err="1"/>
              <a:t>공유</a:t>
            </a:r>
            <a:r>
              <a:rPr dirty="0"/>
              <a:t> – </a:t>
            </a:r>
            <a:r>
              <a:rPr lang="en-US" dirty="0"/>
              <a:t>1</a:t>
            </a:r>
            <a:r>
              <a:rPr lang="ko-KR" altLang="en-US" dirty="0"/>
              <a:t>안 </a:t>
            </a:r>
            <a:r>
              <a:rPr dirty="0"/>
              <a:t>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26</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r>
              <a:rPr lang="en-US" altLang="ko-KR" sz="1200" b="1" dirty="0">
                <a:solidFill>
                  <a:srgbClr val="FFFFFF"/>
                </a:solidFill>
                <a:ea typeface="맑은 고딕"/>
                <a:cs typeface="맑은 고딕"/>
              </a:rPr>
              <a:t>DP4. (1</a:t>
            </a:r>
            <a:r>
              <a:rPr lang="ko-KR" altLang="en-US" sz="1200" b="1" dirty="0">
                <a:solidFill>
                  <a:srgbClr val="FFFFFF"/>
                </a:solidFill>
                <a:ea typeface="맑은 고딕"/>
                <a:cs typeface="맑은 고딕"/>
              </a:rPr>
              <a:t>안</a:t>
            </a:r>
            <a:r>
              <a:rPr lang="en-US" altLang="ko-KR" sz="1200" b="1" dirty="0">
                <a:solidFill>
                  <a:srgbClr val="FFFFFF"/>
                </a:solidFill>
                <a:ea typeface="맑은 고딕"/>
                <a:cs typeface="맑은 고딕"/>
              </a:rPr>
              <a:t>) </a:t>
            </a:r>
            <a:r>
              <a:rPr lang="ko-KR" altLang="en-US" sz="1200" b="1" dirty="0">
                <a:solidFill>
                  <a:srgbClr val="FFFFFF"/>
                </a:solidFill>
                <a:ea typeface="맑은 고딕"/>
                <a:cs typeface="맑은 고딕"/>
              </a:rPr>
              <a:t>중앙 서버 중재 구조 </a:t>
            </a: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QA-07</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QA-04</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10" name="Rounded Rectangle 9"/>
          <p:cNvSpPr/>
          <p:nvPr/>
        </p:nvSpPr>
        <p:spPr>
          <a:xfrm>
            <a:off x="9793223"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1" name="Rounded Rectangle 10"/>
          <p:cNvSpPr/>
          <p:nvPr/>
        </p:nvSpPr>
        <p:spPr>
          <a:xfrm>
            <a:off x="932687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MigrationExecutor</a:t>
            </a:r>
          </a:p>
        </p:txBody>
      </p:sp>
      <p:sp>
        <p:nvSpPr>
          <p:cNvPr id="17" name="Rectangle 16"/>
          <p:cNvSpPr/>
          <p:nvPr/>
        </p:nvSpPr>
        <p:spPr>
          <a:xfrm>
            <a:off x="365760"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client: MetadataClient</a:t>
            </a:r>
          </a:p>
        </p:txBody>
      </p:sp>
      <p:sp>
        <p:nvSpPr>
          <p:cNvPr id="18" name="Rectangle 17"/>
          <p:cNvSpPr/>
          <p:nvPr/>
        </p:nvSpPr>
        <p:spPr>
          <a:xfrm>
            <a:off x="365760"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execute(command)</a:t>
            </a:r>
          </a:p>
        </p:txBody>
      </p:sp>
      <p:sp>
        <p:nvSpPr>
          <p:cNvPr id="19" name="Rectangle 18"/>
          <p:cNvSpPr/>
          <p:nvPr/>
        </p:nvSpPr>
        <p:spPr>
          <a:xfrm>
            <a:off x="2267712"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MetadataClient</a:t>
            </a:r>
          </a:p>
        </p:txBody>
      </p:sp>
      <p:sp>
        <p:nvSpPr>
          <p:cNvPr id="20" name="Rectangle 19"/>
          <p:cNvSpPr/>
          <p:nvPr/>
        </p:nvSpPr>
        <p:spPr>
          <a:xfrm>
            <a:off x="2267712" y="169163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server_addr</a:t>
            </a:r>
          </a:p>
          <a:p>
            <a:pPr algn="l">
              <a:spcAft>
                <a:spcPts val="0"/>
              </a:spcAft>
            </a:pPr>
            <a:r>
              <a:rPr sz="650" b="0" i="0">
                <a:solidFill>
                  <a:srgbClr val="000000"/>
                </a:solidFill>
                <a:latin typeface="맑은 고딕"/>
                <a:ea typeface="맑은 고딕"/>
                <a:cs typeface="맑은 고딕"/>
              </a:rPr>
              <a:t>slot: request/response</a:t>
            </a:r>
          </a:p>
        </p:txBody>
      </p:sp>
      <p:sp>
        <p:nvSpPr>
          <p:cNvPr id="21" name="Rectangle 20"/>
          <p:cNvSpPr/>
          <p:nvPr/>
        </p:nvSpPr>
        <p:spPr>
          <a:xfrm>
            <a:off x="2267712" y="195315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request(op, key): Response</a:t>
            </a:r>
          </a:p>
          <a:p>
            <a:pPr algn="l">
              <a:spcAft>
                <a:spcPts val="0"/>
              </a:spcAft>
            </a:pPr>
            <a:r>
              <a:rPr sz="650" b="0" i="0">
                <a:solidFill>
                  <a:srgbClr val="000000"/>
                </a:solidFill>
                <a:latin typeface="맑은 고딕"/>
                <a:ea typeface="맑은 고딕"/>
                <a:cs typeface="맑은 고딕"/>
              </a:rPr>
              <a:t>// 캐시 우회, polling</a:t>
            </a:r>
          </a:p>
        </p:txBody>
      </p:sp>
      <p:sp>
        <p:nvSpPr>
          <p:cNvPr id="22" name="Rectangle 21"/>
          <p:cNvSpPr/>
          <p:nvPr/>
        </p:nvSpPr>
        <p:spPr>
          <a:xfrm>
            <a:off x="365760" y="292608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«store»</a:t>
            </a:r>
          </a:p>
          <a:p>
            <a:pPr algn="ctr">
              <a:spcAft>
                <a:spcPts val="0"/>
              </a:spcAft>
            </a:pPr>
            <a:r>
              <a:rPr sz="750" b="1" i="0">
                <a:solidFill>
                  <a:srgbClr val="000000"/>
                </a:solidFill>
                <a:latin typeface="맑은 고딕"/>
                <a:ea typeface="맑은 고딕"/>
                <a:cs typeface="맑은 고딕"/>
              </a:rPr>
              <a:t>CxlSharedPool</a:t>
            </a:r>
          </a:p>
        </p:txBody>
      </p:sp>
      <p:sp>
        <p:nvSpPr>
          <p:cNvPr id="23" name="Rectangle 22"/>
          <p:cNvSpPr/>
          <p:nvPr/>
        </p:nvSpPr>
        <p:spPr>
          <a:xfrm>
            <a:off x="365760" y="320040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kv_data (non-coherent)</a:t>
            </a:r>
          </a:p>
        </p:txBody>
      </p:sp>
      <p:sp>
        <p:nvSpPr>
          <p:cNvPr id="24" name="Rectangle 23"/>
          <p:cNvSpPr/>
          <p:nvPr/>
        </p:nvSpPr>
        <p:spPr>
          <a:xfrm>
            <a:off x="365760" y="335401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read(addr, n)</a:t>
            </a:r>
          </a:p>
          <a:p>
            <a:pPr algn="l">
              <a:spcAft>
                <a:spcPts val="0"/>
              </a:spcAft>
            </a:pPr>
            <a:r>
              <a:rPr sz="650" b="0" i="0">
                <a:solidFill>
                  <a:srgbClr val="000000"/>
                </a:solidFill>
                <a:latin typeface="맑은 고딕"/>
                <a:ea typeface="맑은 고딕"/>
                <a:cs typeface="맑은 고딕"/>
              </a:rPr>
              <a:t>write(addr, n)</a:t>
            </a:r>
          </a:p>
        </p:txBody>
      </p:sp>
      <p:sp>
        <p:nvSpPr>
          <p:cNvPr id="25" name="Rectangle 24"/>
          <p:cNvSpPr/>
          <p:nvPr/>
        </p:nvSpPr>
        <p:spPr>
          <a:xfrm>
            <a:off x="2267712" y="29260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ShardRouter</a:t>
            </a:r>
          </a:p>
        </p:txBody>
      </p:sp>
      <p:sp>
        <p:nvSpPr>
          <p:cNvPr id="26" name="Rectangle 25"/>
          <p:cNvSpPr/>
          <p:nvPr/>
        </p:nvSpPr>
        <p:spPr>
          <a:xfrm>
            <a:off x="2267712" y="31089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workers</a:t>
            </a:r>
          </a:p>
        </p:txBody>
      </p:sp>
      <p:sp>
        <p:nvSpPr>
          <p:cNvPr id="27" name="Rectangle 26"/>
          <p:cNvSpPr/>
          <p:nvPr/>
        </p:nvSpPr>
        <p:spPr>
          <a:xfrm>
            <a:off x="2267712" y="326257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route(object_id): ShardWorker</a:t>
            </a:r>
          </a:p>
          <a:p>
            <a:pPr algn="l">
              <a:spcAft>
                <a:spcPts val="0"/>
              </a:spcAft>
            </a:pPr>
            <a:r>
              <a:rPr sz="650" b="0" i="0">
                <a:solidFill>
                  <a:srgbClr val="000000"/>
                </a:solidFill>
                <a:latin typeface="맑은 고딕"/>
                <a:ea typeface="맑은 고딕"/>
                <a:cs typeface="맑은 고딕"/>
              </a:rPr>
              <a:t>// hash(Data Object ID)</a:t>
            </a:r>
          </a:p>
        </p:txBody>
      </p:sp>
      <p:sp>
        <p:nvSpPr>
          <p:cNvPr id="28" name="Rectangle 27"/>
          <p:cNvSpPr/>
          <p:nvPr/>
        </p:nvSpPr>
        <p:spPr>
          <a:xfrm>
            <a:off x="2267712" y="43434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ShardWorker</a:t>
            </a:r>
          </a:p>
        </p:txBody>
      </p:sp>
      <p:sp>
        <p:nvSpPr>
          <p:cNvPr id="29" name="Rectangle 28"/>
          <p:cNvSpPr/>
          <p:nvPr/>
        </p:nvSpPr>
        <p:spPr>
          <a:xfrm>
            <a:off x="2267712" y="45262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shard: MetadataShard</a:t>
            </a:r>
          </a:p>
        </p:txBody>
      </p:sp>
      <p:sp>
        <p:nvSpPr>
          <p:cNvPr id="30" name="Rectangle 29"/>
          <p:cNvSpPr/>
          <p:nvPr/>
        </p:nvSpPr>
        <p:spPr>
          <a:xfrm>
            <a:off x="2267712" y="467989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lookup / insert / evict(key)</a:t>
            </a:r>
          </a:p>
        </p:txBody>
      </p:sp>
      <p:sp>
        <p:nvSpPr>
          <p:cNvPr id="31" name="Rectangle 30"/>
          <p:cNvSpPr/>
          <p:nvPr/>
        </p:nvSpPr>
        <p:spPr>
          <a:xfrm>
            <a:off x="4169663" y="43434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MetadataShard</a:t>
            </a:r>
          </a:p>
        </p:txBody>
      </p:sp>
      <p:sp>
        <p:nvSpPr>
          <p:cNvPr id="32" name="Rectangle 31"/>
          <p:cNvSpPr/>
          <p:nvPr/>
        </p:nvSpPr>
        <p:spPr>
          <a:xfrm>
            <a:off x="4169663" y="4526280"/>
            <a:ext cx="1600200"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hash_table</a:t>
            </a:r>
          </a:p>
          <a:p>
            <a:pPr algn="l">
              <a:spcAft>
                <a:spcPts val="0"/>
              </a:spcAft>
            </a:pPr>
            <a:r>
              <a:rPr sz="650" b="0" i="0">
                <a:solidFill>
                  <a:srgbClr val="000000"/>
                </a:solidFill>
                <a:latin typeface="맑은 고딕"/>
                <a:ea typeface="맑은 고딕"/>
                <a:cs typeface="맑은 고딕"/>
              </a:rPr>
              <a:t>allocator</a:t>
            </a:r>
          </a:p>
          <a:p>
            <a:pPr algn="l">
              <a:spcAft>
                <a:spcPts val="0"/>
              </a:spcAft>
            </a:pPr>
            <a:r>
              <a:rPr sz="650" b="0" i="0">
                <a:solidFill>
                  <a:srgbClr val="000000"/>
                </a:solidFill>
                <a:latin typeface="맑은 고딕"/>
                <a:ea typeface="맑은 고딕"/>
                <a:cs typeface="맑은 고딕"/>
              </a:rPr>
              <a:t>lru</a:t>
            </a:r>
          </a:p>
        </p:txBody>
      </p:sp>
      <p:sp>
        <p:nvSpPr>
          <p:cNvPr id="33" name="Rectangle 32"/>
          <p:cNvSpPr/>
          <p:nvPr/>
        </p:nvSpPr>
        <p:spPr>
          <a:xfrm>
            <a:off x="4169663" y="4895697"/>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 / put / free(key)</a:t>
            </a:r>
          </a:p>
        </p:txBody>
      </p:sp>
      <p:sp>
        <p:nvSpPr>
          <p:cNvPr id="34" name="Rectangle 33"/>
          <p:cNvSpPr/>
          <p:nvPr/>
        </p:nvSpPr>
        <p:spPr>
          <a:xfrm>
            <a:off x="4169663"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FallbackPolicy</a:t>
            </a:r>
          </a:p>
        </p:txBody>
      </p:sp>
      <p:sp>
        <p:nvSpPr>
          <p:cNvPr id="35" name="Rectangle 34"/>
          <p:cNvSpPr/>
          <p:nvPr/>
        </p:nvSpPr>
        <p:spPr>
          <a:xfrm>
            <a:off x="4169663"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timeout</a:t>
            </a:r>
          </a:p>
        </p:txBody>
      </p:sp>
      <p:sp>
        <p:nvSpPr>
          <p:cNvPr id="36" name="Rectangle 35"/>
          <p:cNvSpPr/>
          <p:nvPr/>
        </p:nvSpPr>
        <p:spPr>
          <a:xfrm>
            <a:off x="4169663"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on_failure(request): recompute</a:t>
            </a:r>
          </a:p>
        </p:txBody>
      </p:sp>
      <p:cxnSp>
        <p:nvCxnSpPr>
          <p:cNvPr id="37" name="Connector 36"/>
          <p:cNvCxnSpPr/>
          <p:nvPr/>
        </p:nvCxnSpPr>
        <p:spPr>
          <a:xfrm>
            <a:off x="1965960" y="1753819"/>
            <a:ext cx="301752" cy="10789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867912" y="1753819"/>
            <a:ext cx="301751" cy="107899"/>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067812" y="2214676"/>
            <a:ext cx="0" cy="71140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929280" y="2497226"/>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RPC</a:t>
            </a:r>
          </a:p>
        </p:txBody>
      </p:sp>
      <p:cxnSp>
        <p:nvCxnSpPr>
          <p:cNvPr id="41" name="Connector 40"/>
          <p:cNvCxnSpPr/>
          <p:nvPr/>
        </p:nvCxnSpPr>
        <p:spPr>
          <a:xfrm>
            <a:off x="3067812" y="3524097"/>
            <a:ext cx="0" cy="81930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905963" y="386059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hash</a:t>
            </a:r>
          </a:p>
        </p:txBody>
      </p:sp>
      <p:cxnSp>
        <p:nvCxnSpPr>
          <p:cNvPr id="43" name="Connector 42"/>
          <p:cNvCxnSpPr/>
          <p:nvPr/>
        </p:nvCxnSpPr>
        <p:spPr>
          <a:xfrm>
            <a:off x="3867912" y="4588459"/>
            <a:ext cx="301751" cy="107899"/>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165860" y="1998878"/>
            <a:ext cx="0" cy="927202"/>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04011" y="2389327"/>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data</a:t>
            </a:r>
          </a:p>
        </p:txBody>
      </p:sp>
      <p:sp>
        <p:nvSpPr>
          <p:cNvPr id="46" name="TextBox 45"/>
          <p:cNvSpPr txBox="1"/>
          <p:nvPr/>
        </p:nvSpPr>
        <p:spPr>
          <a:xfrm>
            <a:off x="365760" y="5806440"/>
            <a:ext cx="5486400" cy="64008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메타데이터는 hash(Data Object ID)로 Shard Worker에 분산, 데이터는 CXL 공유 풀에 직접 read/write</a:t>
            </a:r>
          </a:p>
          <a:p>
            <a:pPr algn="l">
              <a:spcAft>
                <a:spcPts val="0"/>
              </a:spcAft>
            </a:pPr>
            <a:r>
              <a:rPr sz="650" b="0" i="0">
                <a:solidFill>
                  <a:srgbClr val="000000"/>
                </a:solidFill>
                <a:latin typeface="맑은 고딕"/>
                <a:ea typeface="맑은 고딕"/>
                <a:cs typeface="맑은 고딕"/>
              </a:rPr>
              <a:t>• 실패·timeout 시 재계산으로 대체(QA-07). 서버 간 대역폭 상한은 PCIe 64GB/s(GC-9)</a:t>
            </a:r>
          </a:p>
          <a:p>
            <a:pPr algn="l">
              <a:spcAft>
                <a:spcPts val="0"/>
              </a:spcAft>
            </a:pPr>
            <a:r>
              <a:rPr sz="600" b="0" i="0">
                <a:solidFill>
                  <a:srgbClr val="7F7F7F"/>
                </a:solidFill>
                <a:latin typeface="맑은 고딕"/>
                <a:ea typeface="맑은 고딕"/>
                <a:cs typeface="맑은 고딕"/>
              </a:rPr>
              <a:t>• 근거: 슬라이드 10~11p, doc-mk/DP6/dp4-inter-node-kv-sharing-structure-draft.md</a:t>
            </a:r>
          </a:p>
        </p:txBody>
      </p:sp>
      <p:sp>
        <p:nvSpPr>
          <p:cNvPr id="47" name="Rectangle 46"/>
          <p:cNvSpPr/>
          <p:nvPr/>
        </p:nvSpPr>
        <p:spPr>
          <a:xfrm>
            <a:off x="620877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P 노드</a:t>
            </a:r>
          </a:p>
          <a:p>
            <a:pPr algn="ctr">
              <a:spcAft>
                <a:spcPts val="0"/>
              </a:spcAft>
            </a:pPr>
            <a:r>
              <a:rPr sz="650" b="1" i="0">
                <a:solidFill>
                  <a:srgbClr val="000000"/>
                </a:solidFill>
                <a:latin typeface="맑은 고딕"/>
                <a:ea typeface="맑은 고딕"/>
                <a:cs typeface="맑은 고딕"/>
              </a:rPr>
              <a:t>Executor</a:t>
            </a:r>
          </a:p>
        </p:txBody>
      </p:sp>
      <p:cxnSp>
        <p:nvCxnSpPr>
          <p:cNvPr id="48" name="Connector 47"/>
          <p:cNvCxnSpPr/>
          <p:nvPr/>
        </p:nvCxnSpPr>
        <p:spPr>
          <a:xfrm>
            <a:off x="6652260" y="1773936"/>
            <a:ext cx="0" cy="437997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7168895"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Metadata</a:t>
            </a:r>
          </a:p>
          <a:p>
            <a:pPr algn="ctr">
              <a:spcAft>
                <a:spcPts val="0"/>
              </a:spcAft>
            </a:pPr>
            <a:r>
              <a:rPr sz="650" b="1" i="0">
                <a:solidFill>
                  <a:srgbClr val="000000"/>
                </a:solidFill>
                <a:latin typeface="맑은 고딕"/>
                <a:ea typeface="맑은 고딕"/>
                <a:cs typeface="맑은 고딕"/>
              </a:rPr>
              <a:t>Client</a:t>
            </a:r>
          </a:p>
        </p:txBody>
      </p:sp>
      <p:cxnSp>
        <p:nvCxnSpPr>
          <p:cNvPr id="50" name="Connector 49"/>
          <p:cNvCxnSpPr/>
          <p:nvPr/>
        </p:nvCxnSpPr>
        <p:spPr>
          <a:xfrm>
            <a:off x="7612379" y="1773936"/>
            <a:ext cx="0" cy="437997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12901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Shard</a:t>
            </a:r>
          </a:p>
          <a:p>
            <a:pPr algn="ctr">
              <a:spcAft>
                <a:spcPts val="0"/>
              </a:spcAft>
            </a:pPr>
            <a:r>
              <a:rPr sz="650" b="1" i="0">
                <a:solidFill>
                  <a:srgbClr val="000000"/>
                </a:solidFill>
                <a:latin typeface="맑은 고딕"/>
                <a:ea typeface="맑은 고딕"/>
                <a:cs typeface="맑은 고딕"/>
              </a:rPr>
              <a:t>Router</a:t>
            </a:r>
          </a:p>
        </p:txBody>
      </p:sp>
      <p:cxnSp>
        <p:nvCxnSpPr>
          <p:cNvPr id="52" name="Connector 51"/>
          <p:cNvCxnSpPr/>
          <p:nvPr/>
        </p:nvCxnSpPr>
        <p:spPr>
          <a:xfrm>
            <a:off x="8572500" y="1773936"/>
            <a:ext cx="0" cy="437997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908913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Shard</a:t>
            </a:r>
          </a:p>
          <a:p>
            <a:pPr algn="ctr">
              <a:spcAft>
                <a:spcPts val="0"/>
              </a:spcAft>
            </a:pPr>
            <a:r>
              <a:rPr sz="650" b="1" i="0">
                <a:solidFill>
                  <a:srgbClr val="000000"/>
                </a:solidFill>
                <a:latin typeface="맑은 고딕"/>
                <a:ea typeface="맑은 고딕"/>
                <a:cs typeface="맑은 고딕"/>
              </a:rPr>
              <a:t>Worker k</a:t>
            </a:r>
          </a:p>
        </p:txBody>
      </p:sp>
      <p:cxnSp>
        <p:nvCxnSpPr>
          <p:cNvPr id="54" name="Connector 53"/>
          <p:cNvCxnSpPr/>
          <p:nvPr/>
        </p:nvCxnSpPr>
        <p:spPr>
          <a:xfrm>
            <a:off x="9532620" y="1773936"/>
            <a:ext cx="0" cy="437997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10049256" y="1463040"/>
            <a:ext cx="886968" cy="310896"/>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CXL</a:t>
            </a:r>
          </a:p>
          <a:p>
            <a:pPr algn="ctr">
              <a:spcAft>
                <a:spcPts val="0"/>
              </a:spcAft>
            </a:pPr>
            <a:r>
              <a:rPr sz="650" b="1" i="0">
                <a:solidFill>
                  <a:srgbClr val="000000"/>
                </a:solidFill>
                <a:latin typeface="맑은 고딕"/>
                <a:ea typeface="맑은 고딕"/>
                <a:cs typeface="맑은 고딕"/>
              </a:rPr>
              <a:t>공유 풀</a:t>
            </a:r>
          </a:p>
        </p:txBody>
      </p:sp>
      <p:cxnSp>
        <p:nvCxnSpPr>
          <p:cNvPr id="56" name="Connector 55"/>
          <p:cNvCxnSpPr/>
          <p:nvPr/>
        </p:nvCxnSpPr>
        <p:spPr>
          <a:xfrm>
            <a:off x="10492740" y="1773936"/>
            <a:ext cx="0" cy="437997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1100937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D 노드</a:t>
            </a:r>
          </a:p>
          <a:p>
            <a:pPr algn="ctr">
              <a:spcAft>
                <a:spcPts val="0"/>
              </a:spcAft>
            </a:pPr>
            <a:r>
              <a:rPr sz="650" b="1" i="0">
                <a:solidFill>
                  <a:srgbClr val="000000"/>
                </a:solidFill>
                <a:latin typeface="맑은 고딕"/>
                <a:ea typeface="맑은 고딕"/>
                <a:cs typeface="맑은 고딕"/>
              </a:rPr>
              <a:t>Executor</a:t>
            </a:r>
          </a:p>
        </p:txBody>
      </p:sp>
      <p:cxnSp>
        <p:nvCxnSpPr>
          <p:cNvPr id="58" name="Connector 57"/>
          <p:cNvCxnSpPr/>
          <p:nvPr/>
        </p:nvCxnSpPr>
        <p:spPr>
          <a:xfrm>
            <a:off x="11452860" y="1773936"/>
            <a:ext cx="0" cy="4379976"/>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6249009" y="1901952"/>
            <a:ext cx="4646980" cy="2189988"/>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6249009" y="1901952"/>
            <a:ext cx="5029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put (P 노드)</a:t>
            </a:r>
          </a:p>
        </p:txBody>
      </p:sp>
      <p:sp>
        <p:nvSpPr>
          <p:cNvPr id="61" name="Rectangle 60"/>
          <p:cNvSpPr/>
          <p:nvPr/>
        </p:nvSpPr>
        <p:spPr>
          <a:xfrm>
            <a:off x="8169249" y="4146804"/>
            <a:ext cx="3686860" cy="1851660"/>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8169249" y="4146804"/>
            <a:ext cx="5029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get (D 노드)</a:t>
            </a:r>
          </a:p>
        </p:txBody>
      </p:sp>
      <p:cxnSp>
        <p:nvCxnSpPr>
          <p:cNvPr id="63" name="Connector 62"/>
          <p:cNvCxnSpPr/>
          <p:nvPr/>
        </p:nvCxnSpPr>
        <p:spPr>
          <a:xfrm>
            <a:off x="6652260" y="2322576"/>
            <a:ext cx="960119"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595109" y="2167128"/>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put(block_key, size)</a:t>
            </a:r>
          </a:p>
        </p:txBody>
      </p:sp>
      <p:cxnSp>
        <p:nvCxnSpPr>
          <p:cNvPr id="65" name="Connector 64"/>
          <p:cNvCxnSpPr/>
          <p:nvPr/>
        </p:nvCxnSpPr>
        <p:spPr>
          <a:xfrm>
            <a:off x="7612379" y="2583180"/>
            <a:ext cx="960121"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7354633" y="2427732"/>
            <a:ext cx="1475612"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RPC: alloc(key)  [slot write]</a:t>
            </a:r>
          </a:p>
        </p:txBody>
      </p:sp>
      <p:cxnSp>
        <p:nvCxnSpPr>
          <p:cNvPr id="67" name="Connector 66"/>
          <p:cNvCxnSpPr/>
          <p:nvPr/>
        </p:nvCxnSpPr>
        <p:spPr>
          <a:xfrm>
            <a:off x="8572500" y="2843784"/>
            <a:ext cx="9601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8515350" y="2688336"/>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hash(key) → worker k</a:t>
            </a:r>
          </a:p>
        </p:txBody>
      </p:sp>
      <p:cxnSp>
        <p:nvCxnSpPr>
          <p:cNvPr id="69" name="Connector 68"/>
          <p:cNvCxnSpPr/>
          <p:nvPr/>
        </p:nvCxnSpPr>
        <p:spPr>
          <a:xfrm>
            <a:off x="9532620" y="3031236"/>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788652" y="3031236"/>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9532620" y="3195828"/>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825228" y="2994660"/>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allocate + LRU/metadata 갱신</a:t>
            </a:r>
          </a:p>
        </p:txBody>
      </p:sp>
      <p:cxnSp>
        <p:nvCxnSpPr>
          <p:cNvPr id="73" name="Connector 72"/>
          <p:cNvCxnSpPr/>
          <p:nvPr/>
        </p:nvCxnSpPr>
        <p:spPr>
          <a:xfrm flipH="1">
            <a:off x="7612379" y="3456432"/>
            <a:ext cx="1920241"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7612379" y="3300984"/>
            <a:ext cx="1920240"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addr, version</a:t>
            </a:r>
          </a:p>
        </p:txBody>
      </p:sp>
      <p:cxnSp>
        <p:nvCxnSpPr>
          <p:cNvPr id="75" name="Connector 74"/>
          <p:cNvCxnSpPr/>
          <p:nvPr/>
        </p:nvCxnSpPr>
        <p:spPr>
          <a:xfrm>
            <a:off x="6652260" y="3717036"/>
            <a:ext cx="384048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652259" y="3561588"/>
            <a:ext cx="384048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write KV data (캐시 우회)</a:t>
            </a:r>
          </a:p>
        </p:txBody>
      </p:sp>
      <p:cxnSp>
        <p:nvCxnSpPr>
          <p:cNvPr id="77" name="Connector 76"/>
          <p:cNvCxnSpPr/>
          <p:nvPr/>
        </p:nvCxnSpPr>
        <p:spPr>
          <a:xfrm>
            <a:off x="7612379" y="3977640"/>
            <a:ext cx="1920241"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612379" y="3822192"/>
            <a:ext cx="1920240"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commit(key)</a:t>
            </a:r>
          </a:p>
        </p:txBody>
      </p:sp>
      <p:cxnSp>
        <p:nvCxnSpPr>
          <p:cNvPr id="79" name="Connector 78"/>
          <p:cNvCxnSpPr/>
          <p:nvPr/>
        </p:nvCxnSpPr>
        <p:spPr>
          <a:xfrm flipH="1">
            <a:off x="8572500" y="4567428"/>
            <a:ext cx="288036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8572500" y="4411980"/>
            <a:ext cx="288036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lookup(key)  [Client Library]</a:t>
            </a:r>
          </a:p>
        </p:txBody>
      </p:sp>
      <p:cxnSp>
        <p:nvCxnSpPr>
          <p:cNvPr id="81" name="Connector 80"/>
          <p:cNvCxnSpPr/>
          <p:nvPr/>
        </p:nvCxnSpPr>
        <p:spPr>
          <a:xfrm>
            <a:off x="8572500" y="4828032"/>
            <a:ext cx="9601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8572500" y="4672584"/>
            <a:ext cx="9601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route(hash)</a:t>
            </a:r>
          </a:p>
        </p:txBody>
      </p:sp>
      <p:cxnSp>
        <p:nvCxnSpPr>
          <p:cNvPr id="83" name="Connector 82"/>
          <p:cNvCxnSpPr/>
          <p:nvPr/>
        </p:nvCxnSpPr>
        <p:spPr>
          <a:xfrm>
            <a:off x="9532620" y="5088636"/>
            <a:ext cx="1920240"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532620" y="4933188"/>
            <a:ext cx="1920239"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addr, version</a:t>
            </a:r>
          </a:p>
        </p:txBody>
      </p:sp>
      <p:cxnSp>
        <p:nvCxnSpPr>
          <p:cNvPr id="85" name="Connector 84"/>
          <p:cNvCxnSpPr/>
          <p:nvPr/>
        </p:nvCxnSpPr>
        <p:spPr>
          <a:xfrm flipH="1">
            <a:off x="10492740" y="5349240"/>
            <a:ext cx="9601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0435590" y="5193792"/>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read KV data (캐시 우회)</a:t>
            </a:r>
          </a:p>
        </p:txBody>
      </p:sp>
      <p:cxnSp>
        <p:nvCxnSpPr>
          <p:cNvPr id="87" name="Connector 86"/>
          <p:cNvCxnSpPr/>
          <p:nvPr/>
        </p:nvCxnSpPr>
        <p:spPr>
          <a:xfrm>
            <a:off x="8169249" y="5500116"/>
            <a:ext cx="3686861" cy="0"/>
          </a:xfrm>
          <a:prstGeom prst="line">
            <a:avLst/>
          </a:prstGeom>
          <a:ln w="9525">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8196681" y="5500116"/>
            <a:ext cx="1463040" cy="146304"/>
          </a:xfrm>
          <a:prstGeom prst="rect">
            <a:avLst/>
          </a:prstGeom>
          <a:noFill/>
        </p:spPr>
        <p:txBody>
          <a:bodyPr wrap="none" lIns="0" tIns="18288" rIns="0" bIns="18288" anchor="t">
            <a:spAutoFit/>
          </a:bodyPr>
          <a:lstStyle/>
          <a:p>
            <a:pPr algn="l">
              <a:spcAft>
                <a:spcPts val="0"/>
              </a:spcAft>
            </a:pPr>
            <a:r>
              <a:rPr sz="600" b="1" i="0">
                <a:solidFill>
                  <a:srgbClr val="000000"/>
                </a:solidFill>
                <a:latin typeface="맑은 고딕"/>
                <a:ea typeface="맑은 고딕"/>
                <a:cs typeface="맑은 고딕"/>
              </a:rPr>
              <a:t>timeout / 실패 (QA-07)</a:t>
            </a:r>
          </a:p>
        </p:txBody>
      </p:sp>
      <p:cxnSp>
        <p:nvCxnSpPr>
          <p:cNvPr id="89" name="Connector 88"/>
          <p:cNvCxnSpPr/>
          <p:nvPr/>
        </p:nvCxnSpPr>
        <p:spPr>
          <a:xfrm flipH="1">
            <a:off x="11196828" y="5719572"/>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1196828" y="5719572"/>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1196828" y="5884164"/>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514332" y="5682996"/>
            <a:ext cx="1645920" cy="182880"/>
          </a:xfrm>
          <a:prstGeom prst="rect">
            <a:avLst/>
          </a:prstGeom>
          <a:noFill/>
        </p:spPr>
        <p:txBody>
          <a:bodyPr wrap="none" lIns="0" tIns="18288" rIns="0" bIns="18288" anchor="t">
            <a:spAutoFit/>
          </a:bodyPr>
          <a:lstStyle/>
          <a:p>
            <a:pPr algn="r">
              <a:spcAft>
                <a:spcPts val="0"/>
              </a:spcAft>
            </a:pPr>
            <a:r>
              <a:rPr sz="650" b="0" i="0">
                <a:solidFill>
                  <a:srgbClr val="000000"/>
                </a:solidFill>
                <a:latin typeface="맑은 고딕"/>
                <a:ea typeface="맑은 고딕"/>
                <a:cs typeface="맑은 고딕"/>
              </a:rPr>
              <a:t>재계산 fallback</a:t>
            </a:r>
          </a:p>
        </p:txBody>
      </p:sp>
      <p:sp>
        <p:nvSpPr>
          <p:cNvPr id="94" name="실행 단추: 뒤로 또는 앞으로 이동 93">
            <a:hlinkClick r:id="rId3" action="ppaction://hlinksldjump" highlightClick="1"/>
            <a:extLst>
              <a:ext uri="{FF2B5EF4-FFF2-40B4-BE49-F238E27FC236}">
                <a16:creationId xmlns:a16="http://schemas.microsoft.com/office/drawing/2014/main" id="{691B6F1B-E2A3-48DB-9435-42B6A11A6AAB}"/>
              </a:ext>
            </a:extLst>
          </p:cNvPr>
          <p:cNvSpPr/>
          <p:nvPr/>
        </p:nvSpPr>
        <p:spPr>
          <a:xfrm>
            <a:off x="7612379" y="209550"/>
            <a:ext cx="278554" cy="25679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DP4 </a:t>
            </a:r>
            <a:r>
              <a:rPr dirty="0" err="1"/>
              <a:t>서버</a:t>
            </a:r>
            <a:r>
              <a:rPr dirty="0"/>
              <a:t> 간 KV </a:t>
            </a:r>
            <a:r>
              <a:rPr dirty="0" err="1"/>
              <a:t>캐시</a:t>
            </a:r>
            <a:r>
              <a:rPr dirty="0"/>
              <a:t> </a:t>
            </a:r>
            <a:r>
              <a:rPr dirty="0" err="1"/>
              <a:t>공유</a:t>
            </a:r>
            <a:r>
              <a:rPr dirty="0"/>
              <a:t> – 2안 Class / Sequence</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30</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75584"/>
            <a:ext cx="8138160" cy="221599"/>
          </a:xfrm>
          <a:prstGeom prst="rect">
            <a:avLst/>
          </a:prstGeom>
          <a:noFill/>
        </p:spPr>
        <p:txBody>
          <a:bodyPr wrap="square" lIns="36576" tIns="18288" rIns="36576" bIns="18288" anchor="ctr">
            <a:spAutoFit/>
          </a:bodyPr>
          <a:lstStyle/>
          <a:p>
            <a:pPr algn="l">
              <a:spcAft>
                <a:spcPts val="0"/>
              </a:spcAft>
            </a:pPr>
            <a:r>
              <a:rPr sz="1200" b="1" i="0" dirty="0">
                <a:solidFill>
                  <a:srgbClr val="FFFFFF"/>
                </a:solidFill>
                <a:latin typeface="맑은 고딕"/>
                <a:ea typeface="맑은 고딕"/>
                <a:cs typeface="맑은 고딕"/>
              </a:rPr>
              <a:t>DP4. </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2안</a:t>
            </a:r>
            <a:r>
              <a:rPr lang="en-US" sz="1200" b="1" i="0" dirty="0">
                <a:solidFill>
                  <a:srgbClr val="FFFFFF"/>
                </a:solidFill>
                <a:latin typeface="맑은 고딕"/>
                <a:ea typeface="맑은 고딕"/>
                <a:cs typeface="맑은 고딕"/>
              </a:rPr>
              <a:t>)</a:t>
            </a:r>
            <a:r>
              <a:rPr sz="1200" b="1" i="0" dirty="0">
                <a:solidFill>
                  <a:srgbClr val="FFFFFF"/>
                </a:solidFill>
                <a:latin typeface="맑은 고딕"/>
                <a:ea typeface="맑은 고딕"/>
                <a:cs typeface="맑은 고딕"/>
              </a:rPr>
              <a:t> 락 </a:t>
            </a:r>
            <a:r>
              <a:rPr sz="1200" b="1" i="0" dirty="0" err="1">
                <a:solidFill>
                  <a:srgbClr val="FFFFFF"/>
                </a:solidFill>
                <a:latin typeface="맑은 고딕"/>
                <a:ea typeface="맑은 고딕"/>
                <a:cs typeface="맑은 고딕"/>
              </a:rPr>
              <a:t>기반</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직접</a:t>
            </a:r>
            <a:r>
              <a:rPr sz="1200" b="1" i="0" dirty="0">
                <a:solidFill>
                  <a:srgbClr val="FFFFFF"/>
                </a:solidFill>
                <a:latin typeface="맑은 고딕"/>
                <a:ea typeface="맑은 고딕"/>
                <a:cs typeface="맑은 고딕"/>
              </a:rPr>
              <a:t> </a:t>
            </a:r>
            <a:r>
              <a:rPr sz="1200" b="1" i="0" dirty="0" err="1">
                <a:solidFill>
                  <a:srgbClr val="FFFFFF"/>
                </a:solidFill>
                <a:latin typeface="맑은 고딕"/>
                <a:ea typeface="맑은 고딕"/>
                <a:cs typeface="맑은 고딕"/>
              </a:rPr>
              <a:t>접근</a:t>
            </a:r>
            <a:endParaRPr sz="1200" b="1" i="0" dirty="0">
              <a:solidFill>
                <a:srgbClr val="FFFFFF"/>
              </a:solidFill>
              <a:latin typeface="맑은 고딕"/>
              <a:ea typeface="맑은 고딕"/>
              <a:cs typeface="맑은 고딕"/>
            </a:endParaRPr>
          </a:p>
        </p:txBody>
      </p:sp>
      <p:sp>
        <p:nvSpPr>
          <p:cNvPr id="7" name="Rounded Rectangle 6"/>
          <p:cNvSpPr/>
          <p:nvPr/>
        </p:nvSpPr>
        <p:spPr>
          <a:xfrm>
            <a:off x="11397996"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QA-07</a:t>
            </a:r>
          </a:p>
        </p:txBody>
      </p:sp>
      <p:sp>
        <p:nvSpPr>
          <p:cNvPr id="8" name="Rounded Rectangle 7"/>
          <p:cNvSpPr/>
          <p:nvPr/>
        </p:nvSpPr>
        <p:spPr>
          <a:xfrm>
            <a:off x="10863072"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QA-04</a:t>
            </a:r>
          </a:p>
        </p:txBody>
      </p:sp>
      <p:sp>
        <p:nvSpPr>
          <p:cNvPr id="9" name="Rounded Rectangle 8"/>
          <p:cNvSpPr/>
          <p:nvPr/>
        </p:nvSpPr>
        <p:spPr>
          <a:xfrm>
            <a:off x="10328147"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QA-03</a:t>
            </a:r>
          </a:p>
        </p:txBody>
      </p:sp>
      <p:sp>
        <p:nvSpPr>
          <p:cNvPr id="10" name="Rounded Rectangle 9"/>
          <p:cNvSpPr/>
          <p:nvPr/>
        </p:nvSpPr>
        <p:spPr>
          <a:xfrm>
            <a:off x="9793223" y="667512"/>
            <a:ext cx="498348" cy="246888"/>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QA-01</a:t>
            </a:r>
          </a:p>
        </p:txBody>
      </p:sp>
      <p:sp>
        <p:nvSpPr>
          <p:cNvPr id="11" name="Rounded Rectangle 10"/>
          <p:cNvSpPr/>
          <p:nvPr/>
        </p:nvSpPr>
        <p:spPr>
          <a:xfrm>
            <a:off x="9326879" y="667512"/>
            <a:ext cx="429768" cy="246888"/>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FR04</a:t>
            </a:r>
          </a:p>
        </p:txBody>
      </p:sp>
      <p:sp>
        <p:nvSpPr>
          <p:cNvPr id="12" name="Rectangle 11"/>
          <p:cNvSpPr/>
          <p:nvPr/>
        </p:nvSpPr>
        <p:spPr>
          <a:xfrm>
            <a:off x="274320" y="109728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Class Diagram</a:t>
            </a:r>
          </a:p>
        </p:txBody>
      </p:sp>
      <p:sp>
        <p:nvSpPr>
          <p:cNvPr id="13" name="Rectangle 12"/>
          <p:cNvSpPr/>
          <p:nvPr/>
        </p:nvSpPr>
        <p:spPr>
          <a:xfrm>
            <a:off x="6126480" y="109728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a:solidFill>
                  <a:srgbClr val="FFFFFF"/>
                </a:solidFill>
                <a:latin typeface="맑은 고딕"/>
                <a:ea typeface="맑은 고딕"/>
                <a:cs typeface="맑은 고딕"/>
              </a:rPr>
              <a:t>Sequence Diagram</a:t>
            </a:r>
          </a:p>
        </p:txBody>
      </p:sp>
      <p:sp>
        <p:nvSpPr>
          <p:cNvPr id="14" name="Rectangle 13"/>
          <p:cNvSpPr/>
          <p:nvPr/>
        </p:nvSpPr>
        <p:spPr>
          <a:xfrm>
            <a:off x="274320" y="1371600"/>
            <a:ext cx="566928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371600"/>
            <a:ext cx="5852160" cy="5074920"/>
          </a:xfrm>
          <a:prstGeom prst="rect">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MigrationExecutor</a:t>
            </a:r>
          </a:p>
        </p:txBody>
      </p:sp>
      <p:sp>
        <p:nvSpPr>
          <p:cNvPr id="17" name="Rectangle 16"/>
          <p:cNvSpPr/>
          <p:nvPr/>
        </p:nvSpPr>
        <p:spPr>
          <a:xfrm>
            <a:off x="365760"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client: ClientLibrary</a:t>
            </a:r>
          </a:p>
        </p:txBody>
      </p:sp>
      <p:sp>
        <p:nvSpPr>
          <p:cNvPr id="18" name="Rectangle 17"/>
          <p:cNvSpPr/>
          <p:nvPr/>
        </p:nvSpPr>
        <p:spPr>
          <a:xfrm>
            <a:off x="365760" y="184525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execute(command)</a:t>
            </a:r>
          </a:p>
        </p:txBody>
      </p:sp>
      <p:sp>
        <p:nvSpPr>
          <p:cNvPr id="19" name="Rectangle 18"/>
          <p:cNvSpPr/>
          <p:nvPr/>
        </p:nvSpPr>
        <p:spPr>
          <a:xfrm>
            <a:off x="2267712" y="150876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ClientLibrary</a:t>
            </a:r>
          </a:p>
        </p:txBody>
      </p:sp>
      <p:sp>
        <p:nvSpPr>
          <p:cNvPr id="20" name="Rectangle 19"/>
          <p:cNvSpPr/>
          <p:nvPr/>
        </p:nvSpPr>
        <p:spPr>
          <a:xfrm>
            <a:off x="2267712" y="169163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node_local_lock (DRAM)</a:t>
            </a:r>
          </a:p>
        </p:txBody>
      </p:sp>
      <p:sp>
        <p:nvSpPr>
          <p:cNvPr id="21" name="Rectangle 20"/>
          <p:cNvSpPr/>
          <p:nvPr/>
        </p:nvSpPr>
        <p:spPr>
          <a:xfrm>
            <a:off x="2267712" y="184525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put / get / pin(key)</a:t>
            </a:r>
          </a:p>
          <a:p>
            <a:pPr algn="l">
              <a:spcAft>
                <a:spcPts val="0"/>
              </a:spcAft>
            </a:pPr>
            <a:r>
              <a:rPr sz="650" b="0" i="0">
                <a:solidFill>
                  <a:srgbClr val="000000"/>
                </a:solidFill>
                <a:latin typeface="맑은 고딕"/>
                <a:ea typeface="맑은 고딕"/>
                <a:cs typeface="맑은 고딕"/>
              </a:rPr>
              <a:t>// 락 획득 후 메타데이터 직접 갱신</a:t>
            </a:r>
          </a:p>
        </p:txBody>
      </p:sp>
      <p:sp>
        <p:nvSpPr>
          <p:cNvPr id="22" name="Rectangle 21"/>
          <p:cNvSpPr/>
          <p:nvPr/>
        </p:nvSpPr>
        <p:spPr>
          <a:xfrm>
            <a:off x="4169663" y="150876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«shared»</a:t>
            </a:r>
          </a:p>
          <a:p>
            <a:pPr algn="ctr">
              <a:spcAft>
                <a:spcPts val="0"/>
              </a:spcAft>
            </a:pPr>
            <a:r>
              <a:rPr sz="750" b="1" i="0">
                <a:solidFill>
                  <a:srgbClr val="000000"/>
                </a:solidFill>
                <a:latin typeface="맑은 고딕"/>
                <a:ea typeface="맑은 고딕"/>
                <a:cs typeface="맑은 고딕"/>
              </a:rPr>
              <a:t>GlobalLockArray</a:t>
            </a:r>
          </a:p>
        </p:txBody>
      </p:sp>
      <p:sp>
        <p:nvSpPr>
          <p:cNvPr id="23" name="Rectangle 22"/>
          <p:cNvSpPr/>
          <p:nvPr/>
        </p:nvSpPr>
        <p:spPr>
          <a:xfrm>
            <a:off x="4169663" y="17830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slots[node]: I / W / L</a:t>
            </a:r>
          </a:p>
        </p:txBody>
      </p:sp>
      <p:sp>
        <p:nvSpPr>
          <p:cNvPr id="24" name="Rectangle 23"/>
          <p:cNvSpPr/>
          <p:nvPr/>
        </p:nvSpPr>
        <p:spPr>
          <a:xfrm>
            <a:off x="4169663" y="193669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request(node)</a:t>
            </a:r>
          </a:p>
          <a:p>
            <a:pPr algn="l">
              <a:spcAft>
                <a:spcPts val="0"/>
              </a:spcAft>
            </a:pPr>
            <a:r>
              <a:rPr sz="650" b="0" i="0">
                <a:solidFill>
                  <a:srgbClr val="000000"/>
                </a:solidFill>
                <a:latin typeface="맑은 고딕"/>
                <a:ea typeface="맑은 고딕"/>
                <a:cs typeface="맑은 고딕"/>
              </a:rPr>
              <a:t>grant(node)</a:t>
            </a:r>
          </a:p>
        </p:txBody>
      </p:sp>
      <p:sp>
        <p:nvSpPr>
          <p:cNvPr id="25" name="Rectangle 24"/>
          <p:cNvSpPr/>
          <p:nvPr/>
        </p:nvSpPr>
        <p:spPr>
          <a:xfrm>
            <a:off x="4169663" y="283464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LockManagerThread</a:t>
            </a:r>
          </a:p>
        </p:txBody>
      </p:sp>
      <p:sp>
        <p:nvSpPr>
          <p:cNvPr id="26" name="Rectangle 25"/>
          <p:cNvSpPr/>
          <p:nvPr/>
        </p:nvSpPr>
        <p:spPr>
          <a:xfrm>
            <a:off x="4169663" y="301752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169663" y="306324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scan(): slot → LOCKED grant</a:t>
            </a:r>
          </a:p>
        </p:txBody>
      </p:sp>
      <p:sp>
        <p:nvSpPr>
          <p:cNvPr id="28" name="Rectangle 27"/>
          <p:cNvSpPr/>
          <p:nvPr/>
        </p:nvSpPr>
        <p:spPr>
          <a:xfrm>
            <a:off x="2267712" y="283464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«shared»</a:t>
            </a:r>
          </a:p>
          <a:p>
            <a:pPr algn="ctr">
              <a:spcAft>
                <a:spcPts val="0"/>
              </a:spcAft>
            </a:pPr>
            <a:r>
              <a:rPr sz="750" b="1" i="0">
                <a:solidFill>
                  <a:srgbClr val="000000"/>
                </a:solidFill>
                <a:latin typeface="맑은 고딕"/>
                <a:ea typeface="맑은 고딕"/>
                <a:cs typeface="맑은 고딕"/>
              </a:rPr>
              <a:t>SharedMetadata</a:t>
            </a:r>
          </a:p>
        </p:txBody>
      </p:sp>
      <p:sp>
        <p:nvSpPr>
          <p:cNvPr id="29" name="Rectangle 28"/>
          <p:cNvSpPr/>
          <p:nvPr/>
        </p:nvSpPr>
        <p:spPr>
          <a:xfrm>
            <a:off x="2267712" y="3108960"/>
            <a:ext cx="1600200"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hash_table</a:t>
            </a:r>
          </a:p>
          <a:p>
            <a:pPr algn="l">
              <a:spcAft>
                <a:spcPts val="0"/>
              </a:spcAft>
            </a:pPr>
            <a:r>
              <a:rPr sz="650" b="0" i="0">
                <a:solidFill>
                  <a:srgbClr val="000000"/>
                </a:solidFill>
                <a:latin typeface="맑은 고딕"/>
                <a:ea typeface="맑은 고딕"/>
                <a:cs typeface="맑은 고딕"/>
              </a:rPr>
              <a:t>refcount, LRU</a:t>
            </a:r>
          </a:p>
          <a:p>
            <a:pPr algn="l">
              <a:spcAft>
                <a:spcPts val="0"/>
              </a:spcAft>
            </a:pPr>
            <a:r>
              <a:rPr sz="650" b="0" i="0">
                <a:solidFill>
                  <a:srgbClr val="000000"/>
                </a:solidFill>
                <a:latin typeface="맑은 고딕"/>
                <a:ea typeface="맑은 고딕"/>
                <a:cs typeface="맑은 고딕"/>
              </a:rPr>
              <a:t>allocator</a:t>
            </a:r>
          </a:p>
        </p:txBody>
      </p:sp>
      <p:sp>
        <p:nvSpPr>
          <p:cNvPr id="30" name="Rectangle 29"/>
          <p:cNvSpPr/>
          <p:nvPr/>
        </p:nvSpPr>
        <p:spPr>
          <a:xfrm>
            <a:off x="2267712" y="3478377"/>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lookup / insert / evict(key)</a:t>
            </a:r>
          </a:p>
        </p:txBody>
      </p:sp>
      <p:sp>
        <p:nvSpPr>
          <p:cNvPr id="31" name="Rectangle 30"/>
          <p:cNvSpPr/>
          <p:nvPr/>
        </p:nvSpPr>
        <p:spPr>
          <a:xfrm>
            <a:off x="365760" y="283464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«store»</a:t>
            </a:r>
          </a:p>
          <a:p>
            <a:pPr algn="ctr">
              <a:spcAft>
                <a:spcPts val="0"/>
              </a:spcAft>
            </a:pPr>
            <a:r>
              <a:rPr sz="750" b="1" i="0">
                <a:solidFill>
                  <a:srgbClr val="000000"/>
                </a:solidFill>
                <a:latin typeface="맑은 고딕"/>
                <a:ea typeface="맑은 고딕"/>
                <a:cs typeface="맑은 고딕"/>
              </a:rPr>
              <a:t>CxlSharedPool</a:t>
            </a:r>
          </a:p>
        </p:txBody>
      </p:sp>
      <p:sp>
        <p:nvSpPr>
          <p:cNvPr id="32" name="Rectangle 31"/>
          <p:cNvSpPr/>
          <p:nvPr/>
        </p:nvSpPr>
        <p:spPr>
          <a:xfrm>
            <a:off x="365760" y="31089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kv_data (non-coherent)</a:t>
            </a:r>
          </a:p>
        </p:txBody>
      </p:sp>
      <p:sp>
        <p:nvSpPr>
          <p:cNvPr id="33" name="Rectangle 32"/>
          <p:cNvSpPr/>
          <p:nvPr/>
        </p:nvSpPr>
        <p:spPr>
          <a:xfrm>
            <a:off x="365760" y="326257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read(addr, n)</a:t>
            </a:r>
          </a:p>
          <a:p>
            <a:pPr algn="l">
              <a:spcAft>
                <a:spcPts val="0"/>
              </a:spcAft>
            </a:pPr>
            <a:r>
              <a:rPr sz="650" b="0" i="0">
                <a:solidFill>
                  <a:srgbClr val="000000"/>
                </a:solidFill>
                <a:latin typeface="맑은 고딕"/>
                <a:ea typeface="맑은 고딕"/>
                <a:cs typeface="맑은 고딕"/>
              </a:rPr>
              <a:t>write(addr, n)</a:t>
            </a:r>
          </a:p>
        </p:txBody>
      </p:sp>
      <p:sp>
        <p:nvSpPr>
          <p:cNvPr id="34" name="Rectangle 33"/>
          <p:cNvSpPr/>
          <p:nvPr/>
        </p:nvSpPr>
        <p:spPr>
          <a:xfrm>
            <a:off x="365760" y="416052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FlushPolicy</a:t>
            </a:r>
          </a:p>
        </p:txBody>
      </p:sp>
      <p:sp>
        <p:nvSpPr>
          <p:cNvPr id="35" name="Rectangle 34"/>
          <p:cNvSpPr/>
          <p:nvPr/>
        </p:nvSpPr>
        <p:spPr>
          <a:xfrm>
            <a:off x="365760" y="434340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65760" y="438912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clflush 후 read</a:t>
            </a:r>
          </a:p>
          <a:p>
            <a:pPr algn="l">
              <a:spcAft>
                <a:spcPts val="0"/>
              </a:spcAft>
            </a:pPr>
            <a:r>
              <a:rPr sz="650" b="0" i="0">
                <a:solidFill>
                  <a:srgbClr val="000000"/>
                </a:solidFill>
                <a:latin typeface="맑은 고딕"/>
                <a:ea typeface="맑은 고딕"/>
                <a:cs typeface="맑은 고딕"/>
              </a:rPr>
              <a:t>write 후 clflush</a:t>
            </a:r>
          </a:p>
        </p:txBody>
      </p:sp>
      <p:cxnSp>
        <p:nvCxnSpPr>
          <p:cNvPr id="37" name="Connector 36"/>
          <p:cNvCxnSpPr/>
          <p:nvPr/>
        </p:nvCxnSpPr>
        <p:spPr>
          <a:xfrm>
            <a:off x="1965960" y="1753819"/>
            <a:ext cx="301752"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67912" y="1807768"/>
            <a:ext cx="301751" cy="4572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969764" y="2198217"/>
            <a:ext cx="0" cy="636423"/>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067812" y="2106777"/>
            <a:ext cx="0"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65860" y="1998878"/>
            <a:ext cx="0" cy="835762"/>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65860" y="3524097"/>
            <a:ext cx="0" cy="636423"/>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65760" y="5394960"/>
            <a:ext cx="5486400" cy="337015"/>
          </a:xfrm>
          <a:prstGeom prst="rect">
            <a:avLst/>
          </a:prstGeom>
          <a:noFill/>
        </p:spPr>
        <p:txBody>
          <a:bodyPr wrap="square" lIns="36576" tIns="18288" rIns="36576" bIns="18288" anchor="t">
            <a:spAutoFit/>
          </a:bodyPr>
          <a:lstStyle/>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서버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없이</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모든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노드가</a:t>
            </a:r>
            <a:r>
              <a:rPr sz="650" b="0" i="0" dirty="0">
                <a:solidFill>
                  <a:srgbClr val="000000"/>
                </a:solidFill>
                <a:latin typeface="맑은 고딕"/>
                <a:ea typeface="맑은 고딕"/>
                <a:cs typeface="맑은 고딕"/>
              </a:rPr>
              <a:t> CXL </a:t>
            </a:r>
            <a:r>
              <a:rPr sz="650" b="0" i="0" dirty="0" err="1">
                <a:solidFill>
                  <a:srgbClr val="000000"/>
                </a:solidFill>
                <a:latin typeface="맑은 고딕"/>
                <a:ea typeface="맑은 고딕"/>
                <a:cs typeface="맑은 고딕"/>
              </a:rPr>
              <a:t>공유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메모리의</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메타데이터를</a:t>
            </a:r>
            <a:r>
              <a:rPr sz="650" b="0" i="0" dirty="0">
                <a:solidFill>
                  <a:srgbClr val="000000"/>
                </a:solidFill>
                <a:latin typeface="맑은 고딕"/>
                <a:ea typeface="맑은 고딕"/>
                <a:cs typeface="맑은 고딕"/>
              </a:rPr>
              <a:t> 2단 락(</a:t>
            </a:r>
            <a:r>
              <a:rPr sz="650" b="0" i="0" dirty="0" err="1">
                <a:solidFill>
                  <a:srgbClr val="000000"/>
                </a:solidFill>
                <a:latin typeface="맑은 고딕"/>
                <a:ea typeface="맑은 고딕"/>
                <a:cs typeface="맑은 고딕"/>
              </a:rPr>
              <a:t>노드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로컬</a:t>
            </a:r>
            <a:r>
              <a:rPr sz="650" b="0" i="0" dirty="0">
                <a:solidFill>
                  <a:srgbClr val="000000"/>
                </a:solidFill>
                <a:latin typeface="맑은 고딕"/>
                <a:ea typeface="맑은 고딕"/>
                <a:cs typeface="맑은 고딕"/>
              </a:rPr>
              <a:t> 락 + </a:t>
            </a:r>
            <a:r>
              <a:rPr sz="650" b="0" i="0" dirty="0" err="1">
                <a:solidFill>
                  <a:srgbClr val="000000"/>
                </a:solidFill>
                <a:latin typeface="맑은 고딕"/>
                <a:ea typeface="맑은 고딕"/>
                <a:cs typeface="맑은 고딕"/>
              </a:rPr>
              <a:t>전역</a:t>
            </a:r>
            <a:r>
              <a:rPr sz="650" b="0" i="0" dirty="0">
                <a:solidFill>
                  <a:srgbClr val="000000"/>
                </a:solidFill>
                <a:latin typeface="맑은 고딕"/>
                <a:ea typeface="맑은 고딕"/>
                <a:cs typeface="맑은 고딕"/>
              </a:rPr>
              <a:t> 락 </a:t>
            </a:r>
            <a:r>
              <a:rPr sz="650" b="0" i="0" dirty="0" err="1">
                <a:solidFill>
                  <a:srgbClr val="000000"/>
                </a:solidFill>
                <a:latin typeface="맑은 고딕"/>
                <a:ea typeface="맑은 고딕"/>
                <a:cs typeface="맑은 고딕"/>
              </a:rPr>
              <a:t>배열</a:t>
            </a:r>
            <a:r>
              <a:rPr sz="650" b="0" i="0" dirty="0">
                <a:solidFill>
                  <a:srgbClr val="000000"/>
                </a:solidFill>
                <a:latin typeface="맑은 고딕"/>
                <a:ea typeface="맑은 고딕"/>
                <a:cs typeface="맑은 고딕"/>
              </a:rPr>
              <a:t>)</a:t>
            </a:r>
            <a:r>
              <a:rPr sz="650" b="0" i="0" dirty="0" err="1">
                <a:solidFill>
                  <a:srgbClr val="000000"/>
                </a:solidFill>
                <a:latin typeface="맑은 고딕"/>
                <a:ea typeface="맑은 고딕"/>
                <a:cs typeface="맑은 고딕"/>
              </a:rPr>
              <a:t>으로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직접</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갱신</a:t>
            </a:r>
            <a:endParaRPr sz="650" b="0" i="0" dirty="0">
              <a:solidFill>
                <a:srgbClr val="000000"/>
              </a:solidFill>
              <a:latin typeface="맑은 고딕"/>
              <a:ea typeface="맑은 고딕"/>
              <a:cs typeface="맑은 고딕"/>
            </a:endParaRP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장점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중앙</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병목</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없음</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노드별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분산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처리로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수평</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확장에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유리</a:t>
            </a:r>
            <a:endParaRPr sz="650" b="0" i="0" dirty="0">
              <a:solidFill>
                <a:srgbClr val="000000"/>
              </a:solidFill>
              <a:latin typeface="맑은 고딕"/>
              <a:ea typeface="맑은 고딕"/>
              <a:cs typeface="맑은 고딕"/>
            </a:endParaRP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약점</a:t>
            </a:r>
            <a:r>
              <a:rPr sz="650" b="0" i="0" dirty="0">
                <a:solidFill>
                  <a:srgbClr val="000000"/>
                </a:solidFill>
                <a:latin typeface="맑은 고딕"/>
                <a:ea typeface="맑은 고딕"/>
                <a:cs typeface="맑은 고딕"/>
              </a:rPr>
              <a:t>: 락 </a:t>
            </a:r>
            <a:r>
              <a:rPr sz="650" b="0" i="0" dirty="0" err="1">
                <a:solidFill>
                  <a:srgbClr val="000000"/>
                </a:solidFill>
                <a:latin typeface="맑은 고딕"/>
                <a:ea typeface="맑은 고딕"/>
                <a:cs typeface="맑은 고딕"/>
              </a:rPr>
              <a:t>획득·flush</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오버헤드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고부하</a:t>
            </a:r>
            <a:r>
              <a:rPr sz="650" b="0" i="0" dirty="0">
                <a:solidFill>
                  <a:srgbClr val="000000"/>
                </a:solidFill>
                <a:latin typeface="맑은 고딕"/>
                <a:ea typeface="맑은 고딕"/>
                <a:cs typeface="맑은 고딕"/>
              </a:rPr>
              <a:t> 시 락 </a:t>
            </a:r>
            <a:r>
              <a:rPr sz="650" b="0" i="0" dirty="0" err="1">
                <a:solidFill>
                  <a:srgbClr val="000000"/>
                </a:solidFill>
                <a:latin typeface="맑은 고딕"/>
                <a:ea typeface="맑은 고딕"/>
                <a:cs typeface="맑은 고딕"/>
              </a:rPr>
              <a:t>경합으로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지연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편차</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확대</a:t>
            </a:r>
            <a:r>
              <a:rPr sz="650" b="0" i="0" dirty="0">
                <a:solidFill>
                  <a:srgbClr val="000000"/>
                </a:solidFill>
                <a:latin typeface="맑은 고딕"/>
                <a:ea typeface="맑은 고딕"/>
                <a:cs typeface="맑은 고딕"/>
              </a:rPr>
              <a:t>, 락 </a:t>
            </a:r>
            <a:r>
              <a:rPr sz="650" b="0" i="0" dirty="0" err="1">
                <a:solidFill>
                  <a:srgbClr val="000000"/>
                </a:solidFill>
                <a:latin typeface="맑은 고딕"/>
                <a:ea typeface="맑은 고딕"/>
                <a:cs typeface="맑은 고딕"/>
              </a:rPr>
              <a:t>보유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노드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장애</a:t>
            </a:r>
            <a:r>
              <a:rPr sz="650" b="0" i="0" dirty="0">
                <a:solidFill>
                  <a:srgbClr val="000000"/>
                </a:solidFill>
                <a:latin typeface="맑은 고딕"/>
                <a:ea typeface="맑은 고딕"/>
                <a:cs typeface="맑은 고딕"/>
              </a:rPr>
              <a:t> 시 락 </a:t>
            </a:r>
            <a:r>
              <a:rPr sz="650" b="0" i="0" dirty="0" err="1">
                <a:solidFill>
                  <a:srgbClr val="000000"/>
                </a:solidFill>
                <a:latin typeface="맑은 고딕"/>
                <a:ea typeface="맑은 고딕"/>
                <a:cs typeface="맑은 고딕"/>
              </a:rPr>
              <a:t>고착</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위험</a:t>
            </a:r>
            <a:endParaRPr sz="650" b="0" i="0" dirty="0">
              <a:solidFill>
                <a:srgbClr val="000000"/>
              </a:solidFill>
              <a:latin typeface="맑은 고딕"/>
              <a:ea typeface="맑은 고딕"/>
              <a:cs typeface="맑은 고딕"/>
            </a:endParaRPr>
          </a:p>
        </p:txBody>
      </p:sp>
      <p:sp>
        <p:nvSpPr>
          <p:cNvPr id="44" name="Rectangle 43"/>
          <p:cNvSpPr/>
          <p:nvPr/>
        </p:nvSpPr>
        <p:spPr>
          <a:xfrm>
            <a:off x="620877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P 노드</a:t>
            </a:r>
          </a:p>
          <a:p>
            <a:pPr algn="ctr">
              <a:spcAft>
                <a:spcPts val="0"/>
              </a:spcAft>
            </a:pPr>
            <a:r>
              <a:rPr sz="650" b="1" i="0">
                <a:solidFill>
                  <a:srgbClr val="000000"/>
                </a:solidFill>
                <a:latin typeface="맑은 고딕"/>
                <a:ea typeface="맑은 고딕"/>
                <a:cs typeface="맑은 고딕"/>
              </a:rPr>
              <a:t>Executor</a:t>
            </a:r>
          </a:p>
        </p:txBody>
      </p:sp>
      <p:cxnSp>
        <p:nvCxnSpPr>
          <p:cNvPr id="45" name="Connector 44"/>
          <p:cNvCxnSpPr/>
          <p:nvPr/>
        </p:nvCxnSpPr>
        <p:spPr>
          <a:xfrm>
            <a:off x="6652260" y="1773936"/>
            <a:ext cx="0" cy="367588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168895"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Client</a:t>
            </a:r>
          </a:p>
          <a:p>
            <a:pPr algn="ctr">
              <a:spcAft>
                <a:spcPts val="0"/>
              </a:spcAft>
            </a:pPr>
            <a:r>
              <a:rPr sz="650" b="1" i="0">
                <a:solidFill>
                  <a:srgbClr val="000000"/>
                </a:solidFill>
                <a:latin typeface="맑은 고딕"/>
                <a:ea typeface="맑은 고딕"/>
                <a:cs typeface="맑은 고딕"/>
              </a:rPr>
              <a:t>Library</a:t>
            </a:r>
          </a:p>
        </p:txBody>
      </p:sp>
      <p:cxnSp>
        <p:nvCxnSpPr>
          <p:cNvPr id="47" name="Connector 46"/>
          <p:cNvCxnSpPr/>
          <p:nvPr/>
        </p:nvCxnSpPr>
        <p:spPr>
          <a:xfrm>
            <a:off x="7612379" y="1773936"/>
            <a:ext cx="0" cy="367588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812901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Global</a:t>
            </a:r>
          </a:p>
          <a:p>
            <a:pPr algn="ctr">
              <a:spcAft>
                <a:spcPts val="0"/>
              </a:spcAft>
            </a:pPr>
            <a:r>
              <a:rPr sz="650" b="1" i="0">
                <a:solidFill>
                  <a:srgbClr val="000000"/>
                </a:solidFill>
                <a:latin typeface="맑은 고딕"/>
                <a:ea typeface="맑은 고딕"/>
                <a:cs typeface="맑은 고딕"/>
              </a:rPr>
              <a:t>Lock Array</a:t>
            </a:r>
          </a:p>
        </p:txBody>
      </p:sp>
      <p:cxnSp>
        <p:nvCxnSpPr>
          <p:cNvPr id="49" name="Connector 48"/>
          <p:cNvCxnSpPr/>
          <p:nvPr/>
        </p:nvCxnSpPr>
        <p:spPr>
          <a:xfrm>
            <a:off x="8572500" y="1773936"/>
            <a:ext cx="0" cy="367588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908913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Lock Manager</a:t>
            </a:r>
          </a:p>
          <a:p>
            <a:pPr algn="ctr">
              <a:spcAft>
                <a:spcPts val="0"/>
              </a:spcAft>
            </a:pPr>
            <a:r>
              <a:rPr sz="650" b="1" i="0">
                <a:solidFill>
                  <a:srgbClr val="000000"/>
                </a:solidFill>
                <a:latin typeface="맑은 고딕"/>
                <a:ea typeface="맑은 고딕"/>
                <a:cs typeface="맑은 고딕"/>
              </a:rPr>
              <a:t>Thread</a:t>
            </a:r>
          </a:p>
        </p:txBody>
      </p:sp>
      <p:cxnSp>
        <p:nvCxnSpPr>
          <p:cNvPr id="51" name="Connector 50"/>
          <p:cNvCxnSpPr/>
          <p:nvPr/>
        </p:nvCxnSpPr>
        <p:spPr>
          <a:xfrm>
            <a:off x="9532620" y="1773936"/>
            <a:ext cx="0" cy="367588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0049256" y="1463040"/>
            <a:ext cx="886968" cy="310896"/>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Shared</a:t>
            </a:r>
          </a:p>
          <a:p>
            <a:pPr algn="ctr">
              <a:spcAft>
                <a:spcPts val="0"/>
              </a:spcAft>
            </a:pPr>
            <a:r>
              <a:rPr sz="650" b="1" i="0">
                <a:solidFill>
                  <a:srgbClr val="000000"/>
                </a:solidFill>
                <a:latin typeface="맑은 고딕"/>
                <a:ea typeface="맑은 고딕"/>
                <a:cs typeface="맑은 고딕"/>
              </a:rPr>
              <a:t>Metadata</a:t>
            </a:r>
          </a:p>
        </p:txBody>
      </p:sp>
      <p:cxnSp>
        <p:nvCxnSpPr>
          <p:cNvPr id="53" name="Connector 52"/>
          <p:cNvCxnSpPr/>
          <p:nvPr/>
        </p:nvCxnSpPr>
        <p:spPr>
          <a:xfrm>
            <a:off x="10492740" y="1773936"/>
            <a:ext cx="0" cy="367588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11009376" y="1463040"/>
            <a:ext cx="886968" cy="310896"/>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1" i="0">
                <a:solidFill>
                  <a:srgbClr val="000000"/>
                </a:solidFill>
                <a:latin typeface="맑은 고딕"/>
                <a:ea typeface="맑은 고딕"/>
                <a:cs typeface="맑은 고딕"/>
              </a:rPr>
              <a:t>CXL</a:t>
            </a:r>
          </a:p>
          <a:p>
            <a:pPr algn="ctr">
              <a:spcAft>
                <a:spcPts val="0"/>
              </a:spcAft>
            </a:pPr>
            <a:r>
              <a:rPr sz="650" b="1" i="0">
                <a:solidFill>
                  <a:srgbClr val="000000"/>
                </a:solidFill>
                <a:latin typeface="맑은 고딕"/>
                <a:ea typeface="맑은 고딕"/>
                <a:cs typeface="맑은 고딕"/>
              </a:rPr>
              <a:t>KV 데이터</a:t>
            </a:r>
          </a:p>
        </p:txBody>
      </p:sp>
      <p:cxnSp>
        <p:nvCxnSpPr>
          <p:cNvPr id="55" name="Connector 54"/>
          <p:cNvCxnSpPr/>
          <p:nvPr/>
        </p:nvCxnSpPr>
        <p:spPr>
          <a:xfrm>
            <a:off x="11452860" y="1773936"/>
            <a:ext cx="0" cy="3675888"/>
          </a:xfrm>
          <a:prstGeom prst="line">
            <a:avLst/>
          </a:prstGeom>
          <a:ln w="9525">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7209129" y="3557016"/>
            <a:ext cx="3686860" cy="534924"/>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7209129" y="3557016"/>
            <a:ext cx="118872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critical section</a:t>
            </a:r>
          </a:p>
        </p:txBody>
      </p:sp>
      <p:sp>
        <p:nvSpPr>
          <p:cNvPr id="58" name="Rectangle 57"/>
          <p:cNvSpPr/>
          <p:nvPr/>
        </p:nvSpPr>
        <p:spPr>
          <a:xfrm>
            <a:off x="6249009" y="4668012"/>
            <a:ext cx="5607100" cy="626363"/>
          </a:xfrm>
          <a:prstGeom prst="rect">
            <a:avLst/>
          </a:prstGeom>
          <a:no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249009" y="4668012"/>
            <a:ext cx="1051560" cy="146304"/>
          </a:xfrm>
          <a:prstGeom prst="rect">
            <a:avLst/>
          </a:prstGeom>
          <a:solidFill>
            <a:srgbClr val="F2F2F2"/>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27432" tIns="18288" rIns="27432" bIns="18288" rtlCol="0" anchor="ctr"/>
          <a:lstStyle/>
          <a:p>
            <a:pPr algn="l">
              <a:spcAft>
                <a:spcPts val="0"/>
              </a:spcAft>
            </a:pPr>
            <a:r>
              <a:rPr sz="600" b="1" i="0">
                <a:solidFill>
                  <a:srgbClr val="000000"/>
                </a:solidFill>
                <a:latin typeface="맑은 고딕"/>
                <a:ea typeface="맑은 고딕"/>
                <a:cs typeface="맑은 고딕"/>
              </a:rPr>
              <a:t>alt: 락 timeout</a:t>
            </a:r>
          </a:p>
        </p:txBody>
      </p:sp>
      <p:cxnSp>
        <p:nvCxnSpPr>
          <p:cNvPr id="60" name="Connector 59"/>
          <p:cNvCxnSpPr/>
          <p:nvPr/>
        </p:nvCxnSpPr>
        <p:spPr>
          <a:xfrm>
            <a:off x="6652260" y="2103120"/>
            <a:ext cx="960119"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595109" y="1947672"/>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put(block_key, size)</a:t>
            </a:r>
          </a:p>
        </p:txBody>
      </p:sp>
      <p:cxnSp>
        <p:nvCxnSpPr>
          <p:cNvPr id="62" name="Connector 61"/>
          <p:cNvCxnSpPr/>
          <p:nvPr/>
        </p:nvCxnSpPr>
        <p:spPr>
          <a:xfrm>
            <a:off x="7612379" y="2290572"/>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868411" y="2290572"/>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7612379" y="2455164"/>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7904988" y="2253996"/>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노드 로컬 락 획득 (DRAM)</a:t>
            </a:r>
          </a:p>
        </p:txBody>
      </p:sp>
      <p:cxnSp>
        <p:nvCxnSpPr>
          <p:cNvPr id="66" name="Connector 65"/>
          <p:cNvCxnSpPr/>
          <p:nvPr/>
        </p:nvCxnSpPr>
        <p:spPr>
          <a:xfrm>
            <a:off x="7612379" y="2715768"/>
            <a:ext cx="96012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43787" y="2560320"/>
            <a:ext cx="1297305"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slot = WAITING  [ntstore]</a:t>
            </a:r>
          </a:p>
        </p:txBody>
      </p:sp>
      <p:cxnSp>
        <p:nvCxnSpPr>
          <p:cNvPr id="68" name="Connector 67"/>
          <p:cNvCxnSpPr/>
          <p:nvPr/>
        </p:nvCxnSpPr>
        <p:spPr>
          <a:xfrm flipH="1">
            <a:off x="8572500" y="2976372"/>
            <a:ext cx="96012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8515350" y="2820924"/>
            <a:ext cx="107442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scan slots (polling)</a:t>
            </a:r>
          </a:p>
        </p:txBody>
      </p:sp>
      <p:cxnSp>
        <p:nvCxnSpPr>
          <p:cNvPr id="70" name="Connector 69"/>
          <p:cNvCxnSpPr/>
          <p:nvPr/>
        </p:nvCxnSpPr>
        <p:spPr>
          <a:xfrm flipH="1">
            <a:off x="8572500" y="3236976"/>
            <a:ext cx="960120" cy="0"/>
          </a:xfrm>
          <a:prstGeom prst="line">
            <a:avLst/>
          </a:prstGeom>
          <a:ln w="11430">
            <a:solidFill>
              <a:srgbClr val="2E75B6"/>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537638" y="3081528"/>
            <a:ext cx="1029843" cy="155448"/>
          </a:xfrm>
          <a:prstGeom prst="rect">
            <a:avLst/>
          </a:prstGeom>
          <a:noFill/>
        </p:spPr>
        <p:txBody>
          <a:bodyPr wrap="none" lIns="0" tIns="18288" rIns="0" bIns="18288" anchor="t">
            <a:spAutoFit/>
          </a:bodyPr>
          <a:lstStyle/>
          <a:p>
            <a:pPr algn="ctr">
              <a:spcAft>
                <a:spcPts val="0"/>
              </a:spcAft>
            </a:pPr>
            <a:r>
              <a:rPr sz="650" b="0" i="0">
                <a:solidFill>
                  <a:srgbClr val="2E75B6"/>
                </a:solidFill>
                <a:latin typeface="맑은 고딕"/>
                <a:ea typeface="맑은 고딕"/>
                <a:cs typeface="맑은 고딕"/>
              </a:rPr>
              <a:t>grant LOCKED (한 노드)</a:t>
            </a:r>
          </a:p>
        </p:txBody>
      </p:sp>
      <p:cxnSp>
        <p:nvCxnSpPr>
          <p:cNvPr id="72" name="Connector 71"/>
          <p:cNvCxnSpPr/>
          <p:nvPr/>
        </p:nvCxnSpPr>
        <p:spPr>
          <a:xfrm flipH="1">
            <a:off x="7612379" y="3497580"/>
            <a:ext cx="960121"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577518" y="3342132"/>
            <a:ext cx="1029843" cy="155448"/>
          </a:xfrm>
          <a:prstGeom prst="rect">
            <a:avLst/>
          </a:prstGeom>
          <a:noFill/>
        </p:spPr>
        <p:txBody>
          <a:bodyPr wrap="none" lIns="0" tIns="18288" rIns="0" bIns="18288" anchor="t">
            <a:spAutoFit/>
          </a:bodyPr>
          <a:lstStyle/>
          <a:p>
            <a:pPr algn="ctr">
              <a:spcAft>
                <a:spcPts val="0"/>
              </a:spcAft>
            </a:pPr>
            <a:r>
              <a:rPr sz="650" b="0" i="1">
                <a:solidFill>
                  <a:srgbClr val="000000"/>
                </a:solidFill>
                <a:latin typeface="맑은 고딕"/>
                <a:ea typeface="맑은 고딕"/>
                <a:cs typeface="맑은 고딕"/>
              </a:rPr>
              <a:t>LOCKED 확인 (polling)</a:t>
            </a:r>
          </a:p>
        </p:txBody>
      </p:sp>
      <p:cxnSp>
        <p:nvCxnSpPr>
          <p:cNvPr id="74" name="Connector 73"/>
          <p:cNvCxnSpPr/>
          <p:nvPr/>
        </p:nvCxnSpPr>
        <p:spPr>
          <a:xfrm>
            <a:off x="7612379" y="3977640"/>
            <a:ext cx="288036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612379" y="3822192"/>
            <a:ext cx="288036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clflush → alloc / LRU 갱신 → flush</a:t>
            </a:r>
          </a:p>
        </p:txBody>
      </p:sp>
      <p:cxnSp>
        <p:nvCxnSpPr>
          <p:cNvPr id="76" name="Connector 75"/>
          <p:cNvCxnSpPr/>
          <p:nvPr/>
        </p:nvCxnSpPr>
        <p:spPr>
          <a:xfrm>
            <a:off x="7612379" y="4347972"/>
            <a:ext cx="960121"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7532941" y="4192524"/>
            <a:ext cx="1118997"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slot = IDLE (release)</a:t>
            </a:r>
          </a:p>
        </p:txBody>
      </p:sp>
      <p:cxnSp>
        <p:nvCxnSpPr>
          <p:cNvPr id="78" name="Connector 77"/>
          <p:cNvCxnSpPr/>
          <p:nvPr/>
        </p:nvCxnSpPr>
        <p:spPr>
          <a:xfrm>
            <a:off x="6652260" y="4608576"/>
            <a:ext cx="4800600"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652260" y="4453128"/>
            <a:ext cx="4800600" cy="155448"/>
          </a:xfrm>
          <a:prstGeom prst="rect">
            <a:avLst/>
          </a:prstGeom>
          <a:noFill/>
        </p:spPr>
        <p:txBody>
          <a:bodyPr wrap="none" lIns="0" tIns="18288" rIns="0" bIns="18288" anchor="t">
            <a:spAutoFit/>
          </a:bodyPr>
          <a:lstStyle/>
          <a:p>
            <a:pPr algn="ctr">
              <a:spcAft>
                <a:spcPts val="0"/>
              </a:spcAft>
            </a:pPr>
            <a:r>
              <a:rPr sz="650" b="0" i="0">
                <a:solidFill>
                  <a:srgbClr val="000000"/>
                </a:solidFill>
                <a:latin typeface="맑은 고딕"/>
                <a:ea typeface="맑은 고딕"/>
                <a:cs typeface="맑은 고딕"/>
              </a:rPr>
              <a:t>write KV data (DMA)</a:t>
            </a:r>
          </a:p>
        </p:txBody>
      </p:sp>
      <p:cxnSp>
        <p:nvCxnSpPr>
          <p:cNvPr id="80" name="Connector 79"/>
          <p:cNvCxnSpPr/>
          <p:nvPr/>
        </p:nvCxnSpPr>
        <p:spPr>
          <a:xfrm>
            <a:off x="6652260" y="5015484"/>
            <a:ext cx="256032" cy="0"/>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6908292" y="5015484"/>
            <a:ext cx="0" cy="164592"/>
          </a:xfrm>
          <a:prstGeom prst="line">
            <a:avLst/>
          </a:prstGeom>
          <a:ln w="1143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6652260" y="5180076"/>
            <a:ext cx="256032"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944868" y="4978908"/>
            <a:ext cx="1645920" cy="182880"/>
          </a:xfrm>
          <a:prstGeom prst="rect">
            <a:avLst/>
          </a:prstGeom>
          <a:noFill/>
        </p:spPr>
        <p:txBody>
          <a:bodyPr wrap="none" lIns="0" tIns="18288" rIns="0" bIns="18288" anchor="t">
            <a:spAutoFit/>
          </a:bodyPr>
          <a:lstStyle/>
          <a:p>
            <a:pPr algn="l">
              <a:spcAft>
                <a:spcPts val="0"/>
              </a:spcAft>
            </a:pPr>
            <a:r>
              <a:rPr sz="650" b="0" i="0">
                <a:solidFill>
                  <a:srgbClr val="000000"/>
                </a:solidFill>
                <a:latin typeface="맑은 고딕"/>
                <a:ea typeface="맑은 고딕"/>
                <a:cs typeface="맑은 고딕"/>
              </a:rPr>
              <a:t>재계산 fallback (QA-07)</a:t>
            </a:r>
          </a:p>
        </p:txBody>
      </p:sp>
      <p:sp>
        <p:nvSpPr>
          <p:cNvPr id="84" name="실행 단추: 뒤로 또는 앞으로 이동 93">
            <a:hlinkClick r:id="rId3" action="ppaction://hlinksldjump" highlightClick="1"/>
            <a:extLst>
              <a:ext uri="{FF2B5EF4-FFF2-40B4-BE49-F238E27FC236}">
                <a16:creationId xmlns:a16="http://schemas.microsoft.com/office/drawing/2014/main" id="{691B6F1B-E2A3-48DB-9435-42B6A11A6AAB}"/>
              </a:ext>
            </a:extLst>
          </p:cNvPr>
          <p:cNvSpPr/>
          <p:nvPr/>
        </p:nvSpPr>
        <p:spPr>
          <a:xfrm>
            <a:off x="7612379" y="209550"/>
            <a:ext cx="278554" cy="25679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82711248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45834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5436054">
                  <a:extLst>
                    <a:ext uri="{9D8B030D-6E8A-4147-A177-3AD203B41FA5}">
                      <a16:colId xmlns:a16="http://schemas.microsoft.com/office/drawing/2014/main" val="5654497"/>
                    </a:ext>
                  </a:extLst>
                </a:gridCol>
                <a:gridCol w="5436054">
                  <a:extLst>
                    <a:ext uri="{9D8B030D-6E8A-4147-A177-3AD203B41FA5}">
                      <a16:colId xmlns:a16="http://schemas.microsoft.com/office/drawing/2014/main" val="3070054508"/>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Resource State driven Migration </a:t>
                      </a:r>
                      <a:r>
                        <a:rPr lang="ko-KR" altLang="en-US" sz="1200" b="1" strike="noStrike" baseline="0" dirty="0"/>
                        <a:t>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833014303"/>
                  </a:ext>
                </a:extLst>
              </a:tr>
              <a:tr h="5136587">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90915045"/>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121</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sp>
      <p:sp>
        <p:nvSpPr>
          <p:cNvPr id="235" name="Shape 37">
            <a:extLst>
              <a:ext uri="{FF2B5EF4-FFF2-40B4-BE49-F238E27FC236}">
                <a16:creationId xmlns:a16="http://schemas.microsoft.com/office/drawing/2014/main" id="{306B7634-9A5E-4F0E-A947-927E7282352F}"/>
              </a:ext>
            </a:extLst>
          </p:cNvPr>
          <p:cNvSpPr/>
          <p:nvPr/>
        </p:nvSpPr>
        <p:spPr>
          <a:xfrm>
            <a:off x="8660389" y="2256335"/>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583258"/>
            <a:ext cx="0" cy="161733"/>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0504" y="4305657"/>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flipH="1">
            <a:off x="9235219" y="4126305"/>
            <a:ext cx="859" cy="179352"/>
          </a:xfrm>
          <a:prstGeom prst="straightConnector1">
            <a:avLst/>
          </a:prstGeom>
          <a:noFill/>
          <a:ln w="12700">
            <a:solidFill>
              <a:srgbClr val="C76E3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lvl="0" algn="ctr"/>
            <a:r>
              <a:rPr lang="en-US" altLang="ko-KR" sz="900" b="1" dirty="0">
                <a:solidFill>
                  <a:prstClr val="white">
                    <a:lumMod val="65000"/>
                  </a:prstClr>
                </a:solidFill>
                <a:latin typeface="Malgun Gothic" pitchFamily="34" charset="0"/>
                <a:ea typeface="Malgun Gothic" pitchFamily="34" charset="-122"/>
                <a:cs typeface="Malgun Gothic" pitchFamily="34" charset="-120"/>
              </a:rPr>
              <a:t>KV Cache </a:t>
            </a:r>
          </a:p>
          <a:p>
            <a:pPr lvl="0" algn="ctr"/>
            <a:r>
              <a:rPr lang="en-US" altLang="ko-KR" sz="600" b="1" dirty="0">
                <a:solidFill>
                  <a:prstClr val="white">
                    <a:lumMod val="65000"/>
                  </a:prstClr>
                </a:solidFill>
                <a:latin typeface="Malgun Gothic" pitchFamily="34" charset="0"/>
                <a:ea typeface="Malgun Gothic" pitchFamily="34" charset="-122"/>
                <a:cs typeface="Malgun Gothic" pitchFamily="34" charset="-120"/>
              </a:rPr>
              <a:t>(Agent Memory)</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a:p>
            <a:pPr algn="ctr"/>
            <a:r>
              <a:rPr lang="en-US" altLang="ko-KR" sz="600" b="1" dirty="0">
                <a:solidFill>
                  <a:schemeClr val="bg1">
                    <a:lumMod val="65000"/>
                  </a:schemeClr>
                </a:solidFill>
                <a:latin typeface="Malgun Gothic" pitchFamily="34" charset="0"/>
                <a:ea typeface="Malgun Gothic" pitchFamily="34" charset="-122"/>
                <a:cs typeface="Malgun Gothic" pitchFamily="34" charset="-120"/>
              </a:rPr>
              <a:t>(System Prompt)</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flipV="1">
            <a:off x="9808331" y="2110187"/>
            <a:ext cx="624545" cy="309610"/>
          </a:xfrm>
          <a:prstGeom prst="bentConnector3">
            <a:avLst>
              <a:gd name="adj1" fmla="val 50000"/>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74499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22357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 Predictor</a:t>
            </a:r>
          </a:p>
        </p:txBody>
      </p:sp>
      <p:sp>
        <p:nvSpPr>
          <p:cNvPr id="421" name="Shape 37">
            <a:extLst>
              <a:ext uri="{FF2B5EF4-FFF2-40B4-BE49-F238E27FC236}">
                <a16:creationId xmlns:a16="http://schemas.microsoft.com/office/drawing/2014/main" id="{306B7634-9A5E-4F0E-A947-927E7282352F}"/>
              </a:ext>
            </a:extLst>
          </p:cNvPr>
          <p:cNvSpPr/>
          <p:nvPr/>
        </p:nvSpPr>
        <p:spPr>
          <a:xfrm>
            <a:off x="8662107"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Policy Engine</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3071914"/>
            <a:ext cx="0" cy="151657"/>
          </a:xfrm>
          <a:prstGeom prst="straightConnector1">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a:off x="9234360" y="3550494"/>
            <a:ext cx="1718" cy="248888"/>
          </a:xfrm>
          <a:prstGeom prst="straightConnector1">
            <a:avLst/>
          </a:prstGeom>
          <a:noFill/>
          <a:ln w="12700">
            <a:solidFill>
              <a:srgbClr val="C76E31"/>
            </a:solidFill>
            <a:prstDash val="solid"/>
            <a:headEnd type="none"/>
            <a:tailEnd type="triangle"/>
          </a:ln>
        </p:spPr>
      </p:cxnSp>
      <p:grpSp>
        <p:nvGrpSpPr>
          <p:cNvPr id="525" name="그룹 524"/>
          <p:cNvGrpSpPr/>
          <p:nvPr/>
        </p:nvGrpSpPr>
        <p:grpSpPr>
          <a:xfrm>
            <a:off x="10984429" y="3705534"/>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grpSp>
        <p:nvGrpSpPr>
          <p:cNvPr id="110" name="그룹 109"/>
          <p:cNvGrpSpPr/>
          <p:nvPr/>
        </p:nvGrpSpPr>
        <p:grpSpPr>
          <a:xfrm>
            <a:off x="7388916" y="1883914"/>
            <a:ext cx="2442530" cy="372421"/>
            <a:chOff x="7388916" y="1883914"/>
            <a:chExt cx="2442530" cy="372421"/>
          </a:xfrm>
        </p:grpSpPr>
        <p:sp>
          <p:nvSpPr>
            <p:cNvPr id="146" name="직사각형 145">
              <a:extLst>
                <a:ext uri="{FF2B5EF4-FFF2-40B4-BE49-F238E27FC236}">
                  <a16:creationId xmlns:a16="http://schemas.microsoft.com/office/drawing/2014/main" id="{1F732118-666E-4542-8530-F6AD2A384259}"/>
                </a:ext>
              </a:extLst>
            </p:cNvPr>
            <p:cNvSpPr/>
            <p:nvPr/>
          </p:nvSpPr>
          <p:spPr>
            <a:xfrm>
              <a:off x="7388916" y="1901995"/>
              <a:ext cx="994316"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41" name="직선 화살표 연결선 185">
              <a:extLst>
                <a:ext uri="{FF2B5EF4-FFF2-40B4-BE49-F238E27FC236}">
                  <a16:creationId xmlns:a16="http://schemas.microsoft.com/office/drawing/2014/main" id="{C77B044C-CFD5-4C99-9B08-C9CDFDD38AC5}"/>
                </a:ext>
              </a:extLst>
            </p:cNvPr>
            <p:cNvCxnSpPr>
              <a:cxnSpLocks/>
              <a:stCxn id="235" idx="0"/>
              <a:endCxn id="259" idx="2"/>
            </p:cNvCxnSpPr>
            <p:nvPr/>
          </p:nvCxnSpPr>
          <p:spPr>
            <a:xfrm flipV="1">
              <a:off x="9234360" y="2102824"/>
              <a:ext cx="1500" cy="153511"/>
            </a:xfrm>
            <a:prstGeom prst="straightConnector1">
              <a:avLst/>
            </a:prstGeom>
            <a:noFill/>
            <a:ln w="6350">
              <a:solidFill>
                <a:srgbClr val="888C91"/>
              </a:solidFill>
              <a:prstDash val="solid"/>
              <a:headEnd type="triangle" w="med" len="med"/>
              <a:tailEnd type="none" w="med" len="med"/>
            </a:ln>
          </p:spPr>
        </p:cxnSp>
        <p:cxnSp>
          <p:nvCxnSpPr>
            <p:cNvPr id="247" name="직선 화살표 연결선 185">
              <a:extLst>
                <a:ext uri="{FF2B5EF4-FFF2-40B4-BE49-F238E27FC236}">
                  <a16:creationId xmlns:a16="http://schemas.microsoft.com/office/drawing/2014/main" id="{C77B044C-CFD5-4C99-9B08-C9CDFDD38AC5}"/>
                </a:ext>
              </a:extLst>
            </p:cNvPr>
            <p:cNvCxnSpPr>
              <a:cxnSpLocks/>
              <a:stCxn id="259" idx="1"/>
              <a:endCxn id="146" idx="3"/>
            </p:cNvCxnSpPr>
            <p:nvPr/>
          </p:nvCxnSpPr>
          <p:spPr>
            <a:xfrm flipH="1">
              <a:off x="8383232" y="1993369"/>
              <a:ext cx="257042" cy="2013"/>
            </a:xfrm>
            <a:prstGeom prst="straightConnector1">
              <a:avLst/>
            </a:prstGeom>
            <a:noFill/>
            <a:ln w="6350">
              <a:solidFill>
                <a:srgbClr val="888C91"/>
              </a:solidFill>
              <a:prstDash val="solid"/>
              <a:headEnd type="triangle" w="med" len="med"/>
              <a:tailEnd type="none" w="med" len="med"/>
            </a:ln>
          </p:spPr>
        </p:cxnSp>
        <p:sp>
          <p:nvSpPr>
            <p:cNvPr id="259" name="직사각형 258">
              <a:extLst>
                <a:ext uri="{FF2B5EF4-FFF2-40B4-BE49-F238E27FC236}">
                  <a16:creationId xmlns:a16="http://schemas.microsoft.com/office/drawing/2014/main" id="{1F732118-666E-4542-8530-F6AD2A384259}"/>
                </a:ext>
              </a:extLst>
            </p:cNvPr>
            <p:cNvSpPr/>
            <p:nvPr/>
          </p:nvSpPr>
          <p:spPr>
            <a:xfrm>
              <a:off x="8640274"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
        <p:nvSpPr>
          <p:cNvPr id="129" name="Shape 56">
            <a:extLst>
              <a:ext uri="{FF2B5EF4-FFF2-40B4-BE49-F238E27FC236}">
                <a16:creationId xmlns:a16="http://schemas.microsoft.com/office/drawing/2014/main" id="{33C7046D-072B-4A63-B8E3-E6FE269F4E83}"/>
              </a:ext>
            </a:extLst>
          </p:cNvPr>
          <p:cNvSpPr/>
          <p:nvPr/>
        </p:nvSpPr>
        <p:spPr>
          <a:xfrm>
            <a:off x="3790728" y="3767797"/>
            <a:ext cx="0" cy="0"/>
          </a:xfrm>
          <a:prstGeom prst="line">
            <a:avLst/>
          </a:prstGeom>
          <a:noFill/>
          <a:ln w="16510">
            <a:solidFill>
              <a:srgbClr val="4D7EA8"/>
            </a:solidFill>
            <a:prstDash val="solid"/>
            <a:headEnd type="none"/>
            <a:tailEnd type="none"/>
          </a:ln>
        </p:spPr>
      </p:sp>
      <p:sp>
        <p:nvSpPr>
          <p:cNvPr id="130" name="Shape 39">
            <a:extLst>
              <a:ext uri="{FF2B5EF4-FFF2-40B4-BE49-F238E27FC236}">
                <a16:creationId xmlns:a16="http://schemas.microsoft.com/office/drawing/2014/main" id="{F7D82DE9-0B6E-4CB1-A5F0-9E4D7591B816}"/>
              </a:ext>
            </a:extLst>
          </p:cNvPr>
          <p:cNvSpPr/>
          <p:nvPr/>
        </p:nvSpPr>
        <p:spPr>
          <a:xfrm>
            <a:off x="2602193" y="2918368"/>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31" name="Shape 37">
            <a:extLst>
              <a:ext uri="{FF2B5EF4-FFF2-40B4-BE49-F238E27FC236}">
                <a16:creationId xmlns:a16="http://schemas.microsoft.com/office/drawing/2014/main" id="{306B7634-9A5E-4F0E-A947-927E7282352F}"/>
              </a:ext>
            </a:extLst>
          </p:cNvPr>
          <p:cNvSpPr/>
          <p:nvPr/>
        </p:nvSpPr>
        <p:spPr>
          <a:xfrm>
            <a:off x="3274382" y="2235462"/>
            <a:ext cx="1147942" cy="326923"/>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32" name="직선 화살표 연결선 185">
            <a:extLst>
              <a:ext uri="{FF2B5EF4-FFF2-40B4-BE49-F238E27FC236}">
                <a16:creationId xmlns:a16="http://schemas.microsoft.com/office/drawing/2014/main" id="{63055888-A989-4681-8232-E5AD42EA4D88}"/>
              </a:ext>
            </a:extLst>
          </p:cNvPr>
          <p:cNvCxnSpPr>
            <a:cxnSpLocks/>
            <a:stCxn id="131" idx="2"/>
            <a:endCxn id="130" idx="0"/>
          </p:cNvCxnSpPr>
          <p:nvPr/>
        </p:nvCxnSpPr>
        <p:spPr>
          <a:xfrm rot="5400000">
            <a:off x="3334640" y="2404654"/>
            <a:ext cx="355983" cy="671445"/>
          </a:xfrm>
          <a:prstGeom prst="bentConnector3">
            <a:avLst>
              <a:gd name="adj1" fmla="val 50000"/>
            </a:avLst>
          </a:prstGeom>
          <a:noFill/>
          <a:ln w="11430">
            <a:solidFill>
              <a:schemeClr val="accent1"/>
            </a:solidFill>
            <a:prstDash val="solid"/>
            <a:headEnd type="none" w="med" len="med"/>
            <a:tailEnd type="triangle" w="med" len="med"/>
          </a:ln>
        </p:spPr>
      </p:cxnSp>
      <p:sp>
        <p:nvSpPr>
          <p:cNvPr id="136" name="Shape 39">
            <a:extLst>
              <a:ext uri="{FF2B5EF4-FFF2-40B4-BE49-F238E27FC236}">
                <a16:creationId xmlns:a16="http://schemas.microsoft.com/office/drawing/2014/main" id="{F7D82DE9-0B6E-4CB1-A5F0-9E4D7591B816}"/>
              </a:ext>
            </a:extLst>
          </p:cNvPr>
          <p:cNvSpPr/>
          <p:nvPr/>
        </p:nvSpPr>
        <p:spPr>
          <a:xfrm>
            <a:off x="3273639" y="4247297"/>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sp>
        <p:nvSpPr>
          <p:cNvPr id="138" name="Shape 39">
            <a:extLst>
              <a:ext uri="{FF2B5EF4-FFF2-40B4-BE49-F238E27FC236}">
                <a16:creationId xmlns:a16="http://schemas.microsoft.com/office/drawing/2014/main" id="{F7D82DE9-0B6E-4CB1-A5F0-9E4D7591B816}"/>
              </a:ext>
            </a:extLst>
          </p:cNvPr>
          <p:cNvSpPr/>
          <p:nvPr/>
        </p:nvSpPr>
        <p:spPr>
          <a:xfrm>
            <a:off x="3937532" y="2916939"/>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39" name="직선 화살표 연결선 185">
            <a:extLst>
              <a:ext uri="{FF2B5EF4-FFF2-40B4-BE49-F238E27FC236}">
                <a16:creationId xmlns:a16="http://schemas.microsoft.com/office/drawing/2014/main" id="{978083D3-9687-40FB-9182-FF0D3D8D7808}"/>
              </a:ext>
            </a:extLst>
          </p:cNvPr>
          <p:cNvCxnSpPr>
            <a:cxnSpLocks/>
            <a:stCxn id="138" idx="2"/>
            <a:endCxn id="141" idx="0"/>
          </p:cNvCxnSpPr>
          <p:nvPr/>
        </p:nvCxnSpPr>
        <p:spPr>
          <a:xfrm rot="5400000">
            <a:off x="3968682" y="3134101"/>
            <a:ext cx="421899" cy="665233"/>
          </a:xfrm>
          <a:prstGeom prst="bentConnector3">
            <a:avLst>
              <a:gd name="adj1" fmla="val 50000"/>
            </a:avLst>
          </a:prstGeom>
          <a:noFill/>
          <a:ln w="11430">
            <a:solidFill>
              <a:schemeClr val="accent1"/>
            </a:solidFill>
            <a:prstDash val="solid"/>
            <a:headEnd type="none"/>
            <a:tailEnd type="triangle"/>
          </a:ln>
        </p:spPr>
      </p:cxnSp>
      <p:cxnSp>
        <p:nvCxnSpPr>
          <p:cNvPr id="140" name="직선 화살표 연결선 185">
            <a:extLst>
              <a:ext uri="{FF2B5EF4-FFF2-40B4-BE49-F238E27FC236}">
                <a16:creationId xmlns:a16="http://schemas.microsoft.com/office/drawing/2014/main" id="{63055888-A989-4681-8232-E5AD42EA4D88}"/>
              </a:ext>
            </a:extLst>
          </p:cNvPr>
          <p:cNvCxnSpPr>
            <a:cxnSpLocks/>
            <a:stCxn id="131" idx="2"/>
            <a:endCxn id="138" idx="0"/>
          </p:cNvCxnSpPr>
          <p:nvPr/>
        </p:nvCxnSpPr>
        <p:spPr>
          <a:xfrm rot="16200000" flipH="1">
            <a:off x="4003023" y="2407715"/>
            <a:ext cx="354554" cy="663894"/>
          </a:xfrm>
          <a:prstGeom prst="bentConnector3">
            <a:avLst>
              <a:gd name="adj1" fmla="val 50000"/>
            </a:avLst>
          </a:prstGeom>
          <a:noFill/>
          <a:ln w="11430">
            <a:solidFill>
              <a:schemeClr val="accent1"/>
            </a:solidFill>
            <a:prstDash val="solid"/>
            <a:headEnd type="none" w="med" len="med"/>
            <a:tailEnd type="triangle" w="med" len="med"/>
          </a:ln>
        </p:spPr>
      </p:cxnSp>
      <p:sp>
        <p:nvSpPr>
          <p:cNvPr id="141" name="Shape 39">
            <a:extLst>
              <a:ext uri="{FF2B5EF4-FFF2-40B4-BE49-F238E27FC236}">
                <a16:creationId xmlns:a16="http://schemas.microsoft.com/office/drawing/2014/main" id="{F7D82DE9-0B6E-4CB1-A5F0-9E4D7591B816}"/>
              </a:ext>
            </a:extLst>
          </p:cNvPr>
          <p:cNvSpPr/>
          <p:nvPr/>
        </p:nvSpPr>
        <p:spPr>
          <a:xfrm>
            <a:off x="3272299" y="367766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Policy Engine</a:t>
            </a:r>
          </a:p>
        </p:txBody>
      </p:sp>
      <p:cxnSp>
        <p:nvCxnSpPr>
          <p:cNvPr id="142" name="직선 화살표 연결선 185">
            <a:extLst>
              <a:ext uri="{FF2B5EF4-FFF2-40B4-BE49-F238E27FC236}">
                <a16:creationId xmlns:a16="http://schemas.microsoft.com/office/drawing/2014/main" id="{63055888-A989-4681-8232-E5AD42EA4D88}"/>
              </a:ext>
            </a:extLst>
          </p:cNvPr>
          <p:cNvCxnSpPr>
            <a:cxnSpLocks/>
            <a:stCxn id="130" idx="2"/>
            <a:endCxn id="141" idx="0"/>
          </p:cNvCxnSpPr>
          <p:nvPr/>
        </p:nvCxnSpPr>
        <p:spPr>
          <a:xfrm rot="16200000" flipH="1">
            <a:off x="3301726" y="3132379"/>
            <a:ext cx="420470" cy="670106"/>
          </a:xfrm>
          <a:prstGeom prst="bentConnector3">
            <a:avLst>
              <a:gd name="adj1" fmla="val 50000"/>
            </a:avLst>
          </a:prstGeom>
          <a:noFill/>
          <a:ln w="11430">
            <a:solidFill>
              <a:schemeClr val="accent1"/>
            </a:solidFill>
            <a:prstDash val="solid"/>
            <a:headEnd type="none" w="med" len="med"/>
            <a:tailEnd type="triangle" w="med" len="med"/>
          </a:ln>
        </p:spPr>
      </p:cxnSp>
      <p:sp>
        <p:nvSpPr>
          <p:cNvPr id="145" name="Shape 37">
            <a:extLst>
              <a:ext uri="{FF2B5EF4-FFF2-40B4-BE49-F238E27FC236}">
                <a16:creationId xmlns:a16="http://schemas.microsoft.com/office/drawing/2014/main" id="{306B7634-9A5E-4F0E-A947-927E7282352F}"/>
              </a:ext>
            </a:extLst>
          </p:cNvPr>
          <p:cNvSpPr/>
          <p:nvPr/>
        </p:nvSpPr>
        <p:spPr>
          <a:xfrm>
            <a:off x="5511657" y="1991799"/>
            <a:ext cx="948713" cy="359615"/>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Data Object Registry</a:t>
            </a:r>
          </a:p>
        </p:txBody>
      </p:sp>
      <p:cxnSp>
        <p:nvCxnSpPr>
          <p:cNvPr id="147" name="직선 화살표 연결선 185">
            <a:extLst>
              <a:ext uri="{FF2B5EF4-FFF2-40B4-BE49-F238E27FC236}">
                <a16:creationId xmlns:a16="http://schemas.microsoft.com/office/drawing/2014/main" id="{978083D3-9687-40FB-9182-FF0D3D8D7808}"/>
              </a:ext>
            </a:extLst>
          </p:cNvPr>
          <p:cNvCxnSpPr>
            <a:cxnSpLocks/>
            <a:stCxn id="138" idx="3"/>
            <a:endCxn id="145" idx="1"/>
          </p:cNvCxnSpPr>
          <p:nvPr/>
        </p:nvCxnSpPr>
        <p:spPr>
          <a:xfrm flipV="1">
            <a:off x="5086961" y="2171607"/>
            <a:ext cx="424696" cy="914747"/>
          </a:xfrm>
          <a:prstGeom prst="bentConnector3">
            <a:avLst>
              <a:gd name="adj1" fmla="val 50000"/>
            </a:avLst>
          </a:prstGeom>
          <a:noFill/>
          <a:ln w="11430">
            <a:solidFill>
              <a:schemeClr val="accent1"/>
            </a:solidFill>
            <a:prstDash val="solid"/>
            <a:headEnd type="none"/>
            <a:tailEnd type="triangle"/>
          </a:ln>
        </p:spPr>
      </p:cxnSp>
      <p:sp>
        <p:nvSpPr>
          <p:cNvPr id="148" name="직사각형 147">
            <a:extLst>
              <a:ext uri="{FF2B5EF4-FFF2-40B4-BE49-F238E27FC236}">
                <a16:creationId xmlns:a16="http://schemas.microsoft.com/office/drawing/2014/main" id="{1F732118-666E-4542-8530-F6AD2A384259}"/>
              </a:ext>
            </a:extLst>
          </p:cNvPr>
          <p:cNvSpPr/>
          <p:nvPr/>
        </p:nvSpPr>
        <p:spPr>
          <a:xfrm>
            <a:off x="5514583" y="2386723"/>
            <a:ext cx="941068" cy="186773"/>
          </a:xfrm>
          <a:prstGeom prst="rect">
            <a:avLst/>
          </a:prstGeom>
          <a:noFill/>
          <a:ln w="12700">
            <a:noFill/>
            <a:prstDash val="dash"/>
          </a:ln>
        </p:spPr>
        <p:txBody>
          <a:bodyPr rtlCol="0" anchor="ctr"/>
          <a:lstStyle/>
          <a:p>
            <a:r>
              <a:rPr lang="ko-KR" altLang="en-US" sz="700" dirty="0" err="1">
                <a:solidFill>
                  <a:schemeClr val="bg1">
                    <a:lumMod val="50000"/>
                  </a:schemeClr>
                </a:solidFill>
              </a:rPr>
              <a:t>위치∙크기</a:t>
            </a:r>
            <a:r>
              <a:rPr lang="ko-KR" altLang="en-US" sz="700" dirty="0">
                <a:solidFill>
                  <a:schemeClr val="bg1">
                    <a:lumMod val="50000"/>
                  </a:schemeClr>
                </a:solidFill>
              </a:rPr>
              <a:t>∙</a:t>
            </a:r>
            <a:r>
              <a:rPr lang="en-US" altLang="ko-KR" sz="700" dirty="0">
                <a:solidFill>
                  <a:schemeClr val="bg1">
                    <a:lumMod val="50000"/>
                  </a:schemeClr>
                </a:solidFill>
              </a:rPr>
              <a:t>tier </a:t>
            </a:r>
            <a:r>
              <a:rPr lang="ko-KR" altLang="en-US" sz="700" dirty="0">
                <a:solidFill>
                  <a:schemeClr val="bg1">
                    <a:lumMod val="50000"/>
                  </a:schemeClr>
                </a:solidFill>
              </a:rPr>
              <a:t>조회</a:t>
            </a:r>
            <a:endParaRPr lang="en-US" altLang="ko-KR" sz="700" dirty="0">
              <a:solidFill>
                <a:schemeClr val="bg1">
                  <a:lumMod val="50000"/>
                </a:schemeClr>
              </a:solidFill>
            </a:endParaRPr>
          </a:p>
        </p:txBody>
      </p:sp>
      <p:cxnSp>
        <p:nvCxnSpPr>
          <p:cNvPr id="158" name="직선 화살표 연결선 185">
            <a:extLst>
              <a:ext uri="{FF2B5EF4-FFF2-40B4-BE49-F238E27FC236}">
                <a16:creationId xmlns:a16="http://schemas.microsoft.com/office/drawing/2014/main" id="{C77B044C-CFD5-4C99-9B08-C9CDFDD38AC5}"/>
              </a:ext>
            </a:extLst>
          </p:cNvPr>
          <p:cNvCxnSpPr>
            <a:cxnSpLocks/>
            <a:stCxn id="131" idx="0"/>
            <a:endCxn id="162" idx="2"/>
          </p:cNvCxnSpPr>
          <p:nvPr/>
        </p:nvCxnSpPr>
        <p:spPr>
          <a:xfrm flipH="1" flipV="1">
            <a:off x="3847014" y="2057965"/>
            <a:ext cx="1339" cy="177497"/>
          </a:xfrm>
          <a:prstGeom prst="straightConnector1">
            <a:avLst/>
          </a:prstGeom>
          <a:noFill/>
          <a:ln w="6350">
            <a:solidFill>
              <a:srgbClr val="888C91"/>
            </a:solidFill>
            <a:prstDash val="solid"/>
            <a:headEnd type="triangle" w="med" len="med"/>
            <a:tailEnd type="none" w="med" len="med"/>
          </a:ln>
        </p:spPr>
      </p:cxnSp>
      <p:grpSp>
        <p:nvGrpSpPr>
          <p:cNvPr id="159" name="그룹 158"/>
          <p:cNvGrpSpPr/>
          <p:nvPr/>
        </p:nvGrpSpPr>
        <p:grpSpPr>
          <a:xfrm>
            <a:off x="2023777" y="1839055"/>
            <a:ext cx="2418823" cy="218910"/>
            <a:chOff x="1960252" y="1883914"/>
            <a:chExt cx="2418823" cy="218910"/>
          </a:xfrm>
        </p:grpSpPr>
        <p:sp>
          <p:nvSpPr>
            <p:cNvPr id="160" name="직사각형 159">
              <a:extLst>
                <a:ext uri="{FF2B5EF4-FFF2-40B4-BE49-F238E27FC236}">
                  <a16:creationId xmlns:a16="http://schemas.microsoft.com/office/drawing/2014/main" id="{1F732118-666E-4542-8530-F6AD2A384259}"/>
                </a:ext>
              </a:extLst>
            </p:cNvPr>
            <p:cNvSpPr/>
            <p:nvPr/>
          </p:nvSpPr>
          <p:spPr>
            <a:xfrm>
              <a:off x="1960252" y="1901995"/>
              <a:ext cx="970609"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161" name="직선 화살표 연결선 185">
              <a:extLst>
                <a:ext uri="{FF2B5EF4-FFF2-40B4-BE49-F238E27FC236}">
                  <a16:creationId xmlns:a16="http://schemas.microsoft.com/office/drawing/2014/main" id="{C77B044C-CFD5-4C99-9B08-C9CDFDD38AC5}"/>
                </a:ext>
              </a:extLst>
            </p:cNvPr>
            <p:cNvCxnSpPr>
              <a:cxnSpLocks/>
              <a:stCxn id="162" idx="1"/>
              <a:endCxn id="160" idx="3"/>
            </p:cNvCxnSpPr>
            <p:nvPr/>
          </p:nvCxnSpPr>
          <p:spPr>
            <a:xfrm flipH="1">
              <a:off x="2930861" y="1993369"/>
              <a:ext cx="257042" cy="2013"/>
            </a:xfrm>
            <a:prstGeom prst="straightConnector1">
              <a:avLst/>
            </a:prstGeom>
            <a:noFill/>
            <a:ln w="6350">
              <a:solidFill>
                <a:srgbClr val="888C91"/>
              </a:solidFill>
              <a:prstDash val="solid"/>
              <a:headEnd type="triangle" w="med" len="med"/>
              <a:tailEnd type="none" w="med" len="med"/>
            </a:ln>
          </p:spPr>
        </p:cxnSp>
        <p:sp>
          <p:nvSpPr>
            <p:cNvPr id="162" name="직사각형 161">
              <a:extLst>
                <a:ext uri="{FF2B5EF4-FFF2-40B4-BE49-F238E27FC236}">
                  <a16:creationId xmlns:a16="http://schemas.microsoft.com/office/drawing/2014/main" id="{1F732118-666E-4542-8530-F6AD2A384259}"/>
                </a:ext>
              </a:extLst>
            </p:cNvPr>
            <p:cNvSpPr/>
            <p:nvPr/>
          </p:nvSpPr>
          <p:spPr>
            <a:xfrm>
              <a:off x="3187903"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grpSp>
        <p:nvGrpSpPr>
          <p:cNvPr id="19" name="그룹 18"/>
          <p:cNvGrpSpPr/>
          <p:nvPr/>
        </p:nvGrpSpPr>
        <p:grpSpPr>
          <a:xfrm>
            <a:off x="1284257" y="4784469"/>
            <a:ext cx="4816141" cy="1609534"/>
            <a:chOff x="1284257" y="4784469"/>
            <a:chExt cx="4816141" cy="1609534"/>
          </a:xfrm>
        </p:grpSpPr>
        <p:grpSp>
          <p:nvGrpSpPr>
            <p:cNvPr id="478" name="그룹 477"/>
            <p:cNvGrpSpPr/>
            <p:nvPr/>
          </p:nvGrpSpPr>
          <p:grpSpPr>
            <a:xfrm>
              <a:off x="1284257" y="4784469"/>
              <a:ext cx="2620937" cy="525030"/>
              <a:chOff x="728891" y="2419508"/>
              <a:chExt cx="1684791" cy="698815"/>
            </a:xfrm>
          </p:grpSpPr>
          <p:sp>
            <p:nvSpPr>
              <p:cNvPr id="577" name="Shape 59">
                <a:extLst>
                  <a:ext uri="{FF2B5EF4-FFF2-40B4-BE49-F238E27FC236}">
                    <a16:creationId xmlns:a16="http://schemas.microsoft.com/office/drawing/2014/main" id="{67748352-D195-48A3-8563-9385B634D68C}"/>
                  </a:ext>
                </a:extLst>
              </p:cNvPr>
              <p:cNvSpPr/>
              <p:nvPr/>
            </p:nvSpPr>
            <p:spPr>
              <a:xfrm>
                <a:off x="728891" y="2419508"/>
                <a:ext cx="1684791" cy="698815"/>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566" name="Shape 35">
                <a:extLst>
                  <a:ext uri="{FF2B5EF4-FFF2-40B4-BE49-F238E27FC236}">
                    <a16:creationId xmlns:a16="http://schemas.microsoft.com/office/drawing/2014/main" id="{2AF637AF-E433-47AC-BA4E-9F7E3C334277}"/>
                  </a:ext>
                </a:extLst>
              </p:cNvPr>
              <p:cNvSpPr/>
              <p:nvPr/>
            </p:nvSpPr>
            <p:spPr>
              <a:xfrm>
                <a:off x="1613701" y="2727693"/>
                <a:ext cx="748696" cy="263920"/>
              </a:xfrm>
              <a:prstGeom prst="rect">
                <a:avLst/>
              </a:prstGeom>
              <a:solidFill>
                <a:srgbClr val="F0F1F3"/>
              </a:solidFill>
              <a:ln w="12700">
                <a:solidFill>
                  <a:srgbClr val="888C91"/>
                </a:solidFill>
                <a:prstDash val="solid"/>
              </a:ln>
            </p:spPr>
            <p:txBody>
              <a:bodyPr anchor="ctr"/>
              <a:lstStyle/>
              <a:p>
                <a:pPr lvl="0" algn="ctr"/>
                <a:r>
                  <a:rPr lang="en-US" altLang="ko-KR" sz="800" dirty="0">
                    <a:solidFill>
                      <a:srgbClr val="1A1A1A"/>
                    </a:solidFill>
                    <a:latin typeface="Malgun Gothic" pitchFamily="34" charset="0"/>
                    <a:ea typeface="Malgun Gothic" pitchFamily="34" charset="-122"/>
                    <a:cs typeface="Malgun Gothic" pitchFamily="34" charset="-120"/>
                  </a:rPr>
                  <a:t>Memory Registry</a:t>
                </a:r>
                <a:endParaRPr lang="en-US" altLang="ko-KR" sz="800" dirty="0">
                  <a:solidFill>
                    <a:prstClr val="black"/>
                  </a:solidFill>
                </a:endParaRPr>
              </a:p>
            </p:txBody>
          </p:sp>
          <p:sp>
            <p:nvSpPr>
              <p:cNvPr id="195" name="Shape 37">
                <a:extLst>
                  <a:ext uri="{FF2B5EF4-FFF2-40B4-BE49-F238E27FC236}">
                    <a16:creationId xmlns:a16="http://schemas.microsoft.com/office/drawing/2014/main" id="{306B7634-9A5E-4F0E-A947-927E7282352F}"/>
                  </a:ext>
                </a:extLst>
              </p:cNvPr>
              <p:cNvSpPr/>
              <p:nvPr/>
            </p:nvSpPr>
            <p:spPr>
              <a:xfrm>
                <a:off x="806265" y="2728006"/>
                <a:ext cx="761643" cy="27018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grpSp>
          <p:nvGrpSpPr>
            <p:cNvPr id="10" name="그룹 9"/>
            <p:cNvGrpSpPr/>
            <p:nvPr/>
          </p:nvGrpSpPr>
          <p:grpSpPr>
            <a:xfrm>
              <a:off x="1304330" y="5602951"/>
              <a:ext cx="4796068" cy="478731"/>
              <a:chOff x="539999" y="4126607"/>
              <a:chExt cx="4796068" cy="579265"/>
            </a:xfrm>
          </p:grpSpPr>
          <p:sp>
            <p:nvSpPr>
              <p:cNvPr id="610" name="MemIF_C1_bar"/>
              <p:cNvSpPr/>
              <p:nvPr/>
            </p:nvSpPr>
            <p:spPr>
              <a:xfrm>
                <a:off x="539999" y="4126607"/>
                <a:ext cx="4796068" cy="579265"/>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b"/>
              <a:lstStyle/>
              <a:p>
                <a:pPr algn="ctr"/>
                <a:r>
                  <a:rPr sz="650" b="1" dirty="0" err="1">
                    <a:solidFill>
                      <a:srgbClr val="FFFFFF"/>
                    </a:solidFill>
                    <a:latin typeface="맑은 고딕"/>
                    <a:ea typeface="맑은 고딕"/>
                  </a:rPr>
                  <a:t>공통</a:t>
                </a:r>
                <a:r>
                  <a:rPr sz="650" b="1" dirty="0">
                    <a:solidFill>
                      <a:srgbClr val="FFFFFF"/>
                    </a:solidFill>
                    <a:latin typeface="맑은 고딕"/>
                    <a:ea typeface="맑은 고딕"/>
                  </a:rPr>
                  <a:t> Memory Backend I/F (Plug-in)</a:t>
                </a:r>
              </a:p>
            </p:txBody>
          </p:sp>
          <p:sp>
            <p:nvSpPr>
              <p:cNvPr id="611" name="MemIF_C1_face1"/>
              <p:cNvSpPr/>
              <p:nvPr/>
            </p:nvSpPr>
            <p:spPr>
              <a:xfrm>
                <a:off x="606073" y="4188386"/>
                <a:ext cx="1305303" cy="320863"/>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dirty="0">
                    <a:solidFill>
                      <a:srgbClr val="1A1A1A"/>
                    </a:solidFill>
                    <a:latin typeface="맑은 고딕"/>
                    <a:ea typeface="맑은 고딕"/>
                  </a:rPr>
                  <a:t>Telemetry</a:t>
                </a:r>
                <a:endParaRPr sz="580" b="1" dirty="0">
                  <a:solidFill>
                    <a:srgbClr val="1A1A1A"/>
                  </a:solidFill>
                  <a:latin typeface="맑은 고딕"/>
                  <a:ea typeface="맑은 고딕"/>
                </a:endParaRPr>
              </a:p>
              <a:p>
                <a:pPr algn="ctr"/>
                <a:r>
                  <a:rPr lang="en-US" sz="580" b="0" dirty="0">
                    <a:solidFill>
                      <a:srgbClr val="1A1A1A"/>
                    </a:solidFill>
                    <a:latin typeface="맑은 고딕"/>
                    <a:ea typeface="맑은 고딕"/>
                  </a:rPr>
                  <a:t>Used./free, BW, queue, link </a:t>
                </a:r>
                <a:r>
                  <a:rPr lang="en-US" sz="580" b="0" dirty="0" err="1">
                    <a:solidFill>
                      <a:srgbClr val="1A1A1A"/>
                    </a:solidFill>
                    <a:latin typeface="맑은 고딕"/>
                    <a:ea typeface="맑은 고딕"/>
                  </a:rPr>
                  <a:t>util</a:t>
                </a:r>
                <a:endParaRPr sz="580" b="0" dirty="0">
                  <a:solidFill>
                    <a:srgbClr val="1A1A1A"/>
                  </a:solidFill>
                  <a:latin typeface="맑은 고딕"/>
                  <a:ea typeface="맑은 고딕"/>
                </a:endParaRPr>
              </a:p>
            </p:txBody>
          </p:sp>
          <p:sp>
            <p:nvSpPr>
              <p:cNvPr id="612" name="MemIF_C1_face2"/>
              <p:cNvSpPr/>
              <p:nvPr/>
            </p:nvSpPr>
            <p:spPr>
              <a:xfrm>
                <a:off x="2248839" y="4195634"/>
                <a:ext cx="1305303" cy="320863"/>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lang="en-US" sz="700" b="1" dirty="0">
                    <a:solidFill>
                      <a:srgbClr val="1A1A1A"/>
                    </a:solidFill>
                    <a:latin typeface="맑은 고딕"/>
                    <a:ea typeface="맑은 고딕"/>
                  </a:rPr>
                  <a:t>Memory </a:t>
                </a:r>
                <a:r>
                  <a:rPr sz="700" b="1" dirty="0">
                    <a:solidFill>
                      <a:srgbClr val="1A1A1A"/>
                    </a:solidFill>
                    <a:latin typeface="맑은 고딕"/>
                    <a:ea typeface="맑은 고딕"/>
                  </a:rPr>
                  <a:t>Desc</a:t>
                </a:r>
                <a:r>
                  <a:rPr lang="en-US" sz="700" b="1" dirty="0">
                    <a:solidFill>
                      <a:srgbClr val="1A1A1A"/>
                    </a:solidFill>
                    <a:latin typeface="맑은 고딕"/>
                    <a:ea typeface="맑은 고딕"/>
                  </a:rPr>
                  <a:t>riptor</a:t>
                </a:r>
                <a:endParaRPr sz="700" b="1" dirty="0">
                  <a:solidFill>
                    <a:srgbClr val="1A1A1A"/>
                  </a:solidFill>
                  <a:latin typeface="맑은 고딕"/>
                  <a:ea typeface="맑은 고딕"/>
                </a:endParaRPr>
              </a:p>
              <a:p>
                <a:pPr algn="ctr"/>
                <a:r>
                  <a:rPr lang="en-US" sz="580" b="0" dirty="0">
                    <a:solidFill>
                      <a:srgbClr val="1A1A1A"/>
                    </a:solidFill>
                    <a:latin typeface="맑은 고딕"/>
                    <a:ea typeface="맑은 고딕"/>
                  </a:rPr>
                  <a:t>C</a:t>
                </a:r>
                <a:r>
                  <a:rPr sz="580" b="0" dirty="0">
                    <a:solidFill>
                      <a:srgbClr val="1A1A1A"/>
                    </a:solidFill>
                    <a:latin typeface="맑은 고딕"/>
                    <a:ea typeface="맑은 고딕"/>
                  </a:rPr>
                  <a:t>apability</a:t>
                </a:r>
                <a:r>
                  <a:rPr lang="en-US" sz="580" b="0" dirty="0">
                    <a:solidFill>
                      <a:srgbClr val="1A1A1A"/>
                    </a:solidFill>
                    <a:latin typeface="맑은 고딕"/>
                    <a:ea typeface="맑은 고딕"/>
                  </a:rPr>
                  <a:t>, </a:t>
                </a:r>
                <a:r>
                  <a:rPr lang="en-US" sz="580" dirty="0">
                    <a:solidFill>
                      <a:srgbClr val="1A1A1A"/>
                    </a:solidFill>
                    <a:latin typeface="맑은 고딕"/>
                    <a:ea typeface="맑은 고딕"/>
                  </a:rPr>
                  <a:t>BW</a:t>
                </a:r>
                <a:r>
                  <a:rPr lang="en-US" sz="580" dirty="0">
                    <a:solidFill>
                      <a:srgbClr val="1A1A1A"/>
                    </a:solidFill>
                    <a:ea typeface="맑은 고딕"/>
                  </a:rPr>
                  <a:t>, </a:t>
                </a:r>
                <a:r>
                  <a:rPr lang="en-US" altLang="ko-KR" sz="580" dirty="0">
                    <a:solidFill>
                      <a:srgbClr val="1A1A1A"/>
                    </a:solidFill>
                    <a:ea typeface="맑은 고딕"/>
                  </a:rPr>
                  <a:t>latency, flags</a:t>
                </a:r>
                <a:endParaRPr sz="580" b="0" dirty="0">
                  <a:solidFill>
                    <a:srgbClr val="1A1A1A"/>
                  </a:solidFill>
                  <a:latin typeface="맑은 고딕"/>
                  <a:ea typeface="맑은 고딕"/>
                </a:endParaRPr>
              </a:p>
            </p:txBody>
          </p:sp>
          <p:sp>
            <p:nvSpPr>
              <p:cNvPr id="133" name="MemIF_C1_face2"/>
              <p:cNvSpPr/>
              <p:nvPr/>
            </p:nvSpPr>
            <p:spPr>
              <a:xfrm>
                <a:off x="3856644" y="4188386"/>
                <a:ext cx="1313660" cy="320863"/>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dirty="0">
                    <a:solidFill>
                      <a:srgbClr val="1A1A1A"/>
                    </a:solidFill>
                    <a:latin typeface="맑은 고딕"/>
                    <a:ea typeface="맑은 고딕"/>
                  </a:rPr>
                  <a:t>Binding</a:t>
                </a:r>
              </a:p>
              <a:p>
                <a:pPr algn="ctr"/>
                <a:r>
                  <a:rPr lang="en-US" sz="580" b="0" dirty="0" err="1">
                    <a:solidFill>
                      <a:srgbClr val="1A1A1A"/>
                    </a:solidFill>
                    <a:latin typeface="맑은 고딕"/>
                    <a:ea typeface="맑은 고딕"/>
                  </a:rPr>
                  <a:t>Handler_key</a:t>
                </a:r>
                <a:r>
                  <a:rPr lang="en-US" sz="580" dirty="0">
                    <a:solidFill>
                      <a:srgbClr val="1A1A1A"/>
                    </a:solidFill>
                    <a:latin typeface="맑은 고딕"/>
                    <a:ea typeface="맑은 고딕"/>
                  </a:rPr>
                  <a:t>, est. </a:t>
                </a:r>
                <a:r>
                  <a:rPr lang="en-US" sz="580" b="0" dirty="0">
                    <a:solidFill>
                      <a:srgbClr val="1A1A1A"/>
                    </a:solidFill>
                    <a:latin typeface="맑은 고딕"/>
                    <a:ea typeface="맑은 고딕"/>
                  </a:rPr>
                  <a:t>transfer</a:t>
                </a:r>
                <a:r>
                  <a:rPr lang="en-US" sz="580" dirty="0">
                    <a:solidFill>
                      <a:srgbClr val="1A1A1A"/>
                    </a:solidFill>
                    <a:latin typeface="맑은 고딕"/>
                    <a:ea typeface="맑은 고딕"/>
                  </a:rPr>
                  <a:t> cost</a:t>
                </a:r>
                <a:endParaRPr sz="580" b="0" dirty="0">
                  <a:solidFill>
                    <a:srgbClr val="1A1A1A"/>
                  </a:solidFill>
                  <a:latin typeface="맑은 고딕"/>
                  <a:ea typeface="맑은 고딕"/>
                </a:endParaRPr>
              </a:p>
            </p:txBody>
          </p:sp>
        </p:grpSp>
        <p:cxnSp>
          <p:nvCxnSpPr>
            <p:cNvPr id="613" name="MemIF_C1_link"/>
            <p:cNvCxnSpPr>
              <a:stCxn id="195" idx="2"/>
              <a:endCxn id="611" idx="0"/>
            </p:cNvCxnSpPr>
            <p:nvPr/>
          </p:nvCxnSpPr>
          <p:spPr>
            <a:xfrm rot="16200000" flipH="1">
              <a:off x="1792669" y="5423619"/>
              <a:ext cx="434764" cy="26010"/>
            </a:xfrm>
            <a:prstGeom prst="bentConnector3">
              <a:avLst>
                <a:gd name="adj1" fmla="val 50000"/>
              </a:avLst>
            </a:prstGeom>
            <a:ln w="12700">
              <a:solidFill>
                <a:schemeClr val="tx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103" name="Shape 56">
              <a:extLst>
                <a:ext uri="{FF2B5EF4-FFF2-40B4-BE49-F238E27FC236}">
                  <a16:creationId xmlns:a16="http://schemas.microsoft.com/office/drawing/2014/main" id="{33C7046D-072B-4A63-B8E3-E6FE269F4E83}"/>
                </a:ext>
              </a:extLst>
            </p:cNvPr>
            <p:cNvSpPr/>
            <p:nvPr/>
          </p:nvSpPr>
          <p:spPr>
            <a:xfrm>
              <a:off x="3770175" y="5487544"/>
              <a:ext cx="0" cy="0"/>
            </a:xfrm>
            <a:prstGeom prst="line">
              <a:avLst/>
            </a:prstGeom>
            <a:noFill/>
            <a:ln w="16510">
              <a:solidFill>
                <a:srgbClr val="4D7EA8"/>
              </a:solidFill>
              <a:prstDash val="solid"/>
              <a:headEnd type="none"/>
              <a:tailEnd type="none"/>
            </a:ln>
          </p:spPr>
        </p:sp>
        <p:cxnSp>
          <p:nvCxnSpPr>
            <p:cNvPr id="174" name="MemIF_C1_link"/>
            <p:cNvCxnSpPr>
              <a:stCxn id="566" idx="2"/>
              <a:endCxn id="612" idx="0"/>
            </p:cNvCxnSpPr>
            <p:nvPr/>
          </p:nvCxnSpPr>
          <p:spPr>
            <a:xfrm rot="16200000" flipH="1">
              <a:off x="3231593" y="5225767"/>
              <a:ext cx="445696" cy="422762"/>
            </a:xfrm>
            <a:prstGeom prst="bentConnector3">
              <a:avLst>
                <a:gd name="adj1" fmla="val 50000"/>
              </a:avLst>
            </a:prstGeom>
            <a:ln w="12700">
              <a:solidFill>
                <a:schemeClr val="tx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cxnSp>
          <p:nvCxnSpPr>
            <p:cNvPr id="178" name="MemIF_C1_link"/>
            <p:cNvCxnSpPr>
              <a:stCxn id="566" idx="2"/>
              <a:endCxn id="133" idx="0"/>
            </p:cNvCxnSpPr>
            <p:nvPr/>
          </p:nvCxnSpPr>
          <p:spPr>
            <a:xfrm rot="16200000" flipH="1">
              <a:off x="4040579" y="4416780"/>
              <a:ext cx="439706" cy="2034745"/>
            </a:xfrm>
            <a:prstGeom prst="bentConnector3">
              <a:avLst>
                <a:gd name="adj1" fmla="val 50000"/>
              </a:avLst>
            </a:prstGeom>
            <a:ln w="12700">
              <a:solidFill>
                <a:schemeClr val="tx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196" name="Rectangle 57"/>
            <p:cNvSpPr/>
            <p:nvPr/>
          </p:nvSpPr>
          <p:spPr>
            <a:xfrm>
              <a:off x="1360607" y="6201643"/>
              <a:ext cx="409343"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HBM</a:t>
              </a:r>
            </a:p>
          </p:txBody>
        </p:sp>
        <p:sp>
          <p:nvSpPr>
            <p:cNvPr id="197" name="Rectangle 59"/>
            <p:cNvSpPr/>
            <p:nvPr/>
          </p:nvSpPr>
          <p:spPr>
            <a:xfrm>
              <a:off x="1929351" y="6201643"/>
              <a:ext cx="678903"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err="1">
                  <a:solidFill>
                    <a:srgbClr val="1A1A1A"/>
                  </a:solidFill>
                  <a:latin typeface="Malgun Gothic"/>
                  <a:ea typeface="Malgun Gothic"/>
                </a:rPr>
                <a:t>ScHBM</a:t>
              </a:r>
              <a:r>
                <a:rPr sz="700" b="1" dirty="0">
                  <a:solidFill>
                    <a:srgbClr val="1A1A1A"/>
                  </a:solidFill>
                  <a:latin typeface="Malgun Gothic"/>
                  <a:ea typeface="Malgun Gothic"/>
                </a:rPr>
                <a:t>/</a:t>
              </a:r>
              <a:r>
                <a:rPr lang="en-US" sz="700" b="1" dirty="0" err="1">
                  <a:solidFill>
                    <a:srgbClr val="1A1A1A"/>
                  </a:solidFill>
                  <a:latin typeface="Malgun Gothic"/>
                  <a:ea typeface="Malgun Gothic"/>
                </a:rPr>
                <a:t>c</a:t>
              </a:r>
              <a:r>
                <a:rPr sz="700" b="1" dirty="0" err="1">
                  <a:solidFill>
                    <a:srgbClr val="1A1A1A"/>
                  </a:solidFill>
                  <a:latin typeface="Malgun Gothic"/>
                  <a:ea typeface="Malgun Gothic"/>
                </a:rPr>
                <a:t>HBM</a:t>
              </a:r>
              <a:endParaRPr sz="700" b="1" dirty="0">
                <a:solidFill>
                  <a:srgbClr val="1A1A1A"/>
                </a:solidFill>
                <a:latin typeface="Malgun Gothic"/>
                <a:ea typeface="Malgun Gothic"/>
              </a:endParaRPr>
            </a:p>
          </p:txBody>
        </p:sp>
        <p:sp>
          <p:nvSpPr>
            <p:cNvPr id="199" name="Rectangle 61"/>
            <p:cNvSpPr/>
            <p:nvPr/>
          </p:nvSpPr>
          <p:spPr>
            <a:xfrm>
              <a:off x="2767655" y="6201643"/>
              <a:ext cx="450277"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DRAM</a:t>
              </a:r>
            </a:p>
          </p:txBody>
        </p:sp>
        <p:sp>
          <p:nvSpPr>
            <p:cNvPr id="200" name="Rectangle 63"/>
            <p:cNvSpPr/>
            <p:nvPr/>
          </p:nvSpPr>
          <p:spPr>
            <a:xfrm>
              <a:off x="3377333" y="6201643"/>
              <a:ext cx="544836"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CXL-PNM</a:t>
              </a:r>
            </a:p>
          </p:txBody>
        </p:sp>
        <p:sp>
          <p:nvSpPr>
            <p:cNvPr id="202" name="Rectangle 67"/>
            <p:cNvSpPr/>
            <p:nvPr/>
          </p:nvSpPr>
          <p:spPr>
            <a:xfrm>
              <a:off x="4081570" y="6201643"/>
              <a:ext cx="797695"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SSD / SSD-PIM</a:t>
              </a:r>
            </a:p>
          </p:txBody>
        </p:sp>
        <p:sp>
          <p:nvSpPr>
            <p:cNvPr id="203" name="Rectangle 69"/>
            <p:cNvSpPr/>
            <p:nvPr/>
          </p:nvSpPr>
          <p:spPr>
            <a:xfrm>
              <a:off x="5038665" y="6201643"/>
              <a:ext cx="1061733" cy="192360"/>
            </a:xfrm>
            <a:prstGeom prst="rect">
              <a:avLst/>
            </a:prstGeom>
            <a:solidFill>
              <a:srgbClr val="FFFFFF"/>
            </a:solidFill>
            <a:ln w="12700">
              <a:solidFill>
                <a:srgbClr val="888C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 New (</a:t>
              </a:r>
              <a:r>
                <a:rPr sz="700" b="1" dirty="0" err="1">
                  <a:solidFill>
                    <a:srgbClr val="1A1A1A"/>
                  </a:solidFill>
                  <a:latin typeface="Malgun Gothic"/>
                  <a:ea typeface="Malgun Gothic"/>
                </a:rPr>
                <a:t>신규</a:t>
              </a:r>
              <a:r>
                <a:rPr sz="700" b="1" dirty="0">
                  <a:solidFill>
                    <a:srgbClr val="1A1A1A"/>
                  </a:solidFill>
                  <a:latin typeface="Malgun Gothic"/>
                  <a:ea typeface="Malgun Gothic"/>
                </a:rPr>
                <a:t> memory)</a:t>
              </a:r>
            </a:p>
          </p:txBody>
        </p:sp>
        <p:cxnSp>
          <p:nvCxnSpPr>
            <p:cNvPr id="205" name="Connector 58"/>
            <p:cNvCxnSpPr/>
            <p:nvPr/>
          </p:nvCxnSpPr>
          <p:spPr>
            <a:xfrm flipV="1">
              <a:off x="1565278"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6" name="Connector 58"/>
            <p:cNvCxnSpPr/>
            <p:nvPr/>
          </p:nvCxnSpPr>
          <p:spPr>
            <a:xfrm flipV="1">
              <a:off x="2268802"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7" name="Connector 58"/>
            <p:cNvCxnSpPr/>
            <p:nvPr/>
          </p:nvCxnSpPr>
          <p:spPr>
            <a:xfrm flipV="1">
              <a:off x="2983964"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8" name="Connector 58"/>
            <p:cNvCxnSpPr/>
            <p:nvPr/>
          </p:nvCxnSpPr>
          <p:spPr>
            <a:xfrm flipV="1">
              <a:off x="3651371"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9" name="Connector 58"/>
            <p:cNvCxnSpPr/>
            <p:nvPr/>
          </p:nvCxnSpPr>
          <p:spPr>
            <a:xfrm flipV="1">
              <a:off x="4480417"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0" name="Connector 58"/>
            <p:cNvCxnSpPr/>
            <p:nvPr/>
          </p:nvCxnSpPr>
          <p:spPr>
            <a:xfrm flipV="1">
              <a:off x="5545972"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165" name="직사각형 164">
              <a:extLst>
                <a:ext uri="{FF2B5EF4-FFF2-40B4-BE49-F238E27FC236}">
                  <a16:creationId xmlns:a16="http://schemas.microsoft.com/office/drawing/2014/main" id="{1F732118-666E-4542-8530-F6AD2A384259}"/>
                </a:ext>
              </a:extLst>
            </p:cNvPr>
            <p:cNvSpPr/>
            <p:nvPr/>
          </p:nvSpPr>
          <p:spPr>
            <a:xfrm>
              <a:off x="1997045" y="5390538"/>
              <a:ext cx="485693" cy="186773"/>
            </a:xfrm>
            <a:prstGeom prst="rect">
              <a:avLst/>
            </a:prstGeom>
            <a:noFill/>
            <a:ln w="12700">
              <a:noFill/>
              <a:prstDash val="dash"/>
            </a:ln>
          </p:spPr>
          <p:txBody>
            <a:bodyPr rtlCol="0" anchor="ctr"/>
            <a:lstStyle/>
            <a:p>
              <a:r>
                <a:rPr lang="en-US" altLang="ko-KR" sz="700" dirty="0">
                  <a:solidFill>
                    <a:schemeClr val="bg1">
                      <a:lumMod val="50000"/>
                    </a:schemeClr>
                  </a:solidFill>
                </a:rPr>
                <a:t>collect()</a:t>
              </a:r>
            </a:p>
          </p:txBody>
        </p:sp>
        <p:sp>
          <p:nvSpPr>
            <p:cNvPr id="167" name="직사각형 166">
              <a:extLst>
                <a:ext uri="{FF2B5EF4-FFF2-40B4-BE49-F238E27FC236}">
                  <a16:creationId xmlns:a16="http://schemas.microsoft.com/office/drawing/2014/main" id="{1F732118-666E-4542-8530-F6AD2A384259}"/>
                </a:ext>
              </a:extLst>
            </p:cNvPr>
            <p:cNvSpPr/>
            <p:nvPr/>
          </p:nvSpPr>
          <p:spPr>
            <a:xfrm>
              <a:off x="2892739" y="5427462"/>
              <a:ext cx="587688" cy="186773"/>
            </a:xfrm>
            <a:prstGeom prst="rect">
              <a:avLst/>
            </a:prstGeom>
            <a:noFill/>
            <a:ln w="12700">
              <a:noFill/>
              <a:prstDash val="dash"/>
            </a:ln>
          </p:spPr>
          <p:txBody>
            <a:bodyPr rtlCol="0" anchor="ctr"/>
            <a:lstStyle/>
            <a:p>
              <a:r>
                <a:rPr lang="en-US" altLang="ko-KR" sz="700" dirty="0">
                  <a:solidFill>
                    <a:schemeClr val="bg1">
                      <a:lumMod val="50000"/>
                    </a:schemeClr>
                  </a:solidFill>
                </a:rPr>
                <a:t>register()</a:t>
              </a:r>
            </a:p>
          </p:txBody>
        </p:sp>
        <p:sp>
          <p:nvSpPr>
            <p:cNvPr id="168" name="직사각형 167">
              <a:extLst>
                <a:ext uri="{FF2B5EF4-FFF2-40B4-BE49-F238E27FC236}">
                  <a16:creationId xmlns:a16="http://schemas.microsoft.com/office/drawing/2014/main" id="{1F732118-666E-4542-8530-F6AD2A384259}"/>
                </a:ext>
              </a:extLst>
            </p:cNvPr>
            <p:cNvSpPr/>
            <p:nvPr/>
          </p:nvSpPr>
          <p:spPr>
            <a:xfrm>
              <a:off x="4570867" y="5427462"/>
              <a:ext cx="694910" cy="186773"/>
            </a:xfrm>
            <a:prstGeom prst="rect">
              <a:avLst/>
            </a:prstGeom>
            <a:noFill/>
            <a:ln w="12700">
              <a:noFill/>
              <a:prstDash val="dash"/>
            </a:ln>
          </p:spPr>
          <p:txBody>
            <a:bodyPr rtlCol="0" anchor="ctr"/>
            <a:lstStyle/>
            <a:p>
              <a:r>
                <a:rPr lang="en-US" altLang="ko-KR" sz="700" dirty="0" err="1">
                  <a:solidFill>
                    <a:schemeClr val="bg1">
                      <a:lumMod val="50000"/>
                    </a:schemeClr>
                  </a:solidFill>
                </a:rPr>
                <a:t>get_binding</a:t>
              </a:r>
              <a:r>
                <a:rPr lang="en-US" altLang="ko-KR" sz="700" dirty="0">
                  <a:solidFill>
                    <a:schemeClr val="bg1">
                      <a:lumMod val="50000"/>
                    </a:schemeClr>
                  </a:solidFill>
                </a:rPr>
                <a:t>()</a:t>
              </a:r>
            </a:p>
          </p:txBody>
        </p:sp>
      </p:grpSp>
      <p:sp>
        <p:nvSpPr>
          <p:cNvPr id="169" name="직사각형 168">
            <a:extLst>
              <a:ext uri="{FF2B5EF4-FFF2-40B4-BE49-F238E27FC236}">
                <a16:creationId xmlns:a16="http://schemas.microsoft.com/office/drawing/2014/main" id="{1F732118-666E-4542-8530-F6AD2A384259}"/>
              </a:ext>
            </a:extLst>
          </p:cNvPr>
          <p:cNvSpPr/>
          <p:nvPr/>
        </p:nvSpPr>
        <p:spPr>
          <a:xfrm>
            <a:off x="1475688" y="3337560"/>
            <a:ext cx="712415" cy="186773"/>
          </a:xfrm>
          <a:prstGeom prst="rect">
            <a:avLst/>
          </a:prstGeom>
          <a:noFill/>
          <a:ln w="12700">
            <a:noFill/>
            <a:prstDash val="dash"/>
          </a:ln>
        </p:spPr>
        <p:txBody>
          <a:bodyPr rtlCol="0" anchor="ctr"/>
          <a:lstStyle/>
          <a:p>
            <a:r>
              <a:rPr lang="en-US" altLang="ko-KR" sz="700" dirty="0">
                <a:solidFill>
                  <a:schemeClr val="bg1">
                    <a:lumMod val="50000"/>
                  </a:schemeClr>
                </a:solidFill>
              </a:rPr>
              <a:t>capacity, </a:t>
            </a:r>
          </a:p>
          <a:p>
            <a:r>
              <a:rPr lang="en-US" altLang="ko-KR" sz="700" dirty="0">
                <a:solidFill>
                  <a:schemeClr val="bg1">
                    <a:lumMod val="50000"/>
                  </a:schemeClr>
                </a:solidFill>
              </a:rPr>
              <a:t>BW, load</a:t>
            </a:r>
          </a:p>
        </p:txBody>
      </p:sp>
      <p:sp>
        <p:nvSpPr>
          <p:cNvPr id="170" name="직사각형 169">
            <a:extLst>
              <a:ext uri="{FF2B5EF4-FFF2-40B4-BE49-F238E27FC236}">
                <a16:creationId xmlns:a16="http://schemas.microsoft.com/office/drawing/2014/main" id="{1F732118-666E-4542-8530-F6AD2A384259}"/>
              </a:ext>
            </a:extLst>
          </p:cNvPr>
          <p:cNvSpPr/>
          <p:nvPr/>
        </p:nvSpPr>
        <p:spPr>
          <a:xfrm>
            <a:off x="2330719" y="4162263"/>
            <a:ext cx="712415" cy="186773"/>
          </a:xfrm>
          <a:prstGeom prst="rect">
            <a:avLst/>
          </a:prstGeom>
          <a:noFill/>
          <a:ln w="12700">
            <a:noFill/>
            <a:prstDash val="dash"/>
          </a:ln>
        </p:spPr>
        <p:txBody>
          <a:bodyPr rtlCol="0" anchor="ctr"/>
          <a:lstStyle/>
          <a:p>
            <a:r>
              <a:rPr lang="en-US" altLang="ko-KR" sz="700" dirty="0">
                <a:solidFill>
                  <a:schemeClr val="bg1">
                    <a:lumMod val="50000"/>
                  </a:schemeClr>
                </a:solidFill>
              </a:rPr>
              <a:t>transfer cost, </a:t>
            </a:r>
          </a:p>
          <a:p>
            <a:r>
              <a:rPr lang="en-US" altLang="ko-KR" sz="700" dirty="0">
                <a:solidFill>
                  <a:schemeClr val="bg1">
                    <a:lumMod val="50000"/>
                  </a:schemeClr>
                </a:solidFill>
              </a:rPr>
              <a:t>capability</a:t>
            </a:r>
          </a:p>
        </p:txBody>
      </p:sp>
      <p:grpSp>
        <p:nvGrpSpPr>
          <p:cNvPr id="175" name="그룹 174"/>
          <p:cNvGrpSpPr/>
          <p:nvPr/>
        </p:nvGrpSpPr>
        <p:grpSpPr>
          <a:xfrm>
            <a:off x="6735929" y="4784469"/>
            <a:ext cx="4816141" cy="1609534"/>
            <a:chOff x="1284257" y="4784469"/>
            <a:chExt cx="4816141" cy="1609534"/>
          </a:xfrm>
        </p:grpSpPr>
        <p:grpSp>
          <p:nvGrpSpPr>
            <p:cNvPr id="176" name="그룹 175"/>
            <p:cNvGrpSpPr/>
            <p:nvPr/>
          </p:nvGrpSpPr>
          <p:grpSpPr>
            <a:xfrm>
              <a:off x="1284257" y="4784469"/>
              <a:ext cx="2620937" cy="525030"/>
              <a:chOff x="728891" y="2419508"/>
              <a:chExt cx="1684791" cy="698815"/>
            </a:xfrm>
          </p:grpSpPr>
          <p:sp>
            <p:nvSpPr>
              <p:cNvPr id="219" name="Shape 59">
                <a:extLst>
                  <a:ext uri="{FF2B5EF4-FFF2-40B4-BE49-F238E27FC236}">
                    <a16:creationId xmlns:a16="http://schemas.microsoft.com/office/drawing/2014/main" id="{67748352-D195-48A3-8563-9385B634D68C}"/>
                  </a:ext>
                </a:extLst>
              </p:cNvPr>
              <p:cNvSpPr/>
              <p:nvPr/>
            </p:nvSpPr>
            <p:spPr>
              <a:xfrm>
                <a:off x="728891" y="2419508"/>
                <a:ext cx="1684791" cy="698815"/>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220" name="Shape 35">
                <a:extLst>
                  <a:ext uri="{FF2B5EF4-FFF2-40B4-BE49-F238E27FC236}">
                    <a16:creationId xmlns:a16="http://schemas.microsoft.com/office/drawing/2014/main" id="{2AF637AF-E433-47AC-BA4E-9F7E3C334277}"/>
                  </a:ext>
                </a:extLst>
              </p:cNvPr>
              <p:cNvSpPr/>
              <p:nvPr/>
            </p:nvSpPr>
            <p:spPr>
              <a:xfrm>
                <a:off x="1613701" y="2727693"/>
                <a:ext cx="748696" cy="263920"/>
              </a:xfrm>
              <a:prstGeom prst="rect">
                <a:avLst/>
              </a:prstGeom>
              <a:solidFill>
                <a:srgbClr val="F0F1F3"/>
              </a:solidFill>
              <a:ln w="12700">
                <a:solidFill>
                  <a:srgbClr val="888C91"/>
                </a:solidFill>
                <a:prstDash val="solid"/>
              </a:ln>
            </p:spPr>
            <p:txBody>
              <a:bodyPr anchor="ctr"/>
              <a:lstStyle/>
              <a:p>
                <a:pPr lvl="0" algn="ctr"/>
                <a:r>
                  <a:rPr lang="en-US" altLang="ko-KR" sz="800" dirty="0">
                    <a:solidFill>
                      <a:srgbClr val="1A1A1A"/>
                    </a:solidFill>
                    <a:latin typeface="Malgun Gothic" pitchFamily="34" charset="0"/>
                    <a:ea typeface="Malgun Gothic" pitchFamily="34" charset="-122"/>
                    <a:cs typeface="Malgun Gothic" pitchFamily="34" charset="-120"/>
                  </a:rPr>
                  <a:t>Memory Registry</a:t>
                </a:r>
                <a:endParaRPr lang="en-US" altLang="ko-KR" sz="800" dirty="0">
                  <a:solidFill>
                    <a:prstClr val="black"/>
                  </a:solidFill>
                </a:endParaRPr>
              </a:p>
            </p:txBody>
          </p:sp>
          <p:sp>
            <p:nvSpPr>
              <p:cNvPr id="221" name="Shape 37">
                <a:extLst>
                  <a:ext uri="{FF2B5EF4-FFF2-40B4-BE49-F238E27FC236}">
                    <a16:creationId xmlns:a16="http://schemas.microsoft.com/office/drawing/2014/main" id="{306B7634-9A5E-4F0E-A947-927E7282352F}"/>
                  </a:ext>
                </a:extLst>
              </p:cNvPr>
              <p:cNvSpPr/>
              <p:nvPr/>
            </p:nvSpPr>
            <p:spPr>
              <a:xfrm>
                <a:off x="806265" y="2728006"/>
                <a:ext cx="761643" cy="27018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grpSp>
          <p:nvGrpSpPr>
            <p:cNvPr id="177" name="그룹 176"/>
            <p:cNvGrpSpPr/>
            <p:nvPr/>
          </p:nvGrpSpPr>
          <p:grpSpPr>
            <a:xfrm>
              <a:off x="1304330" y="5602951"/>
              <a:ext cx="4796068" cy="478731"/>
              <a:chOff x="539999" y="4126607"/>
              <a:chExt cx="4796068" cy="579265"/>
            </a:xfrm>
          </p:grpSpPr>
          <p:sp>
            <p:nvSpPr>
              <p:cNvPr id="215" name="MemIF_C1_bar"/>
              <p:cNvSpPr/>
              <p:nvPr/>
            </p:nvSpPr>
            <p:spPr>
              <a:xfrm>
                <a:off x="539999" y="4126607"/>
                <a:ext cx="4796068" cy="579265"/>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b"/>
              <a:lstStyle/>
              <a:p>
                <a:pPr algn="ctr"/>
                <a:r>
                  <a:rPr sz="650" b="1" dirty="0" err="1">
                    <a:solidFill>
                      <a:srgbClr val="FFFFFF"/>
                    </a:solidFill>
                    <a:latin typeface="맑은 고딕"/>
                    <a:ea typeface="맑은 고딕"/>
                  </a:rPr>
                  <a:t>공통</a:t>
                </a:r>
                <a:r>
                  <a:rPr sz="650" b="1" dirty="0">
                    <a:solidFill>
                      <a:srgbClr val="FFFFFF"/>
                    </a:solidFill>
                    <a:latin typeface="맑은 고딕"/>
                    <a:ea typeface="맑은 고딕"/>
                  </a:rPr>
                  <a:t> Memory Backend I/F (Plug-in)</a:t>
                </a:r>
              </a:p>
            </p:txBody>
          </p:sp>
          <p:sp>
            <p:nvSpPr>
              <p:cNvPr id="216" name="MemIF_C1_face1"/>
              <p:cNvSpPr/>
              <p:nvPr/>
            </p:nvSpPr>
            <p:spPr>
              <a:xfrm>
                <a:off x="606073" y="4188386"/>
                <a:ext cx="1305303" cy="320863"/>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dirty="0">
                    <a:solidFill>
                      <a:srgbClr val="1A1A1A"/>
                    </a:solidFill>
                    <a:latin typeface="맑은 고딕"/>
                    <a:ea typeface="맑은 고딕"/>
                  </a:rPr>
                  <a:t>Telemetry</a:t>
                </a:r>
                <a:endParaRPr sz="580" b="1" dirty="0">
                  <a:solidFill>
                    <a:srgbClr val="1A1A1A"/>
                  </a:solidFill>
                  <a:latin typeface="맑은 고딕"/>
                  <a:ea typeface="맑은 고딕"/>
                </a:endParaRPr>
              </a:p>
              <a:p>
                <a:pPr algn="ctr"/>
                <a:r>
                  <a:rPr lang="en-US" sz="580" b="0" dirty="0">
                    <a:solidFill>
                      <a:srgbClr val="1A1A1A"/>
                    </a:solidFill>
                    <a:latin typeface="맑은 고딕"/>
                    <a:ea typeface="맑은 고딕"/>
                  </a:rPr>
                  <a:t>Used./free, BW, queue, link </a:t>
                </a:r>
                <a:r>
                  <a:rPr lang="en-US" sz="580" b="0" dirty="0" err="1">
                    <a:solidFill>
                      <a:srgbClr val="1A1A1A"/>
                    </a:solidFill>
                    <a:latin typeface="맑은 고딕"/>
                    <a:ea typeface="맑은 고딕"/>
                  </a:rPr>
                  <a:t>util</a:t>
                </a:r>
                <a:endParaRPr sz="580" b="0" dirty="0">
                  <a:solidFill>
                    <a:srgbClr val="1A1A1A"/>
                  </a:solidFill>
                  <a:latin typeface="맑은 고딕"/>
                  <a:ea typeface="맑은 고딕"/>
                </a:endParaRPr>
              </a:p>
            </p:txBody>
          </p:sp>
          <p:sp>
            <p:nvSpPr>
              <p:cNvPr id="217" name="MemIF_C1_face2"/>
              <p:cNvSpPr/>
              <p:nvPr/>
            </p:nvSpPr>
            <p:spPr>
              <a:xfrm>
                <a:off x="2248839" y="4195634"/>
                <a:ext cx="1305303" cy="320863"/>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lang="en-US" sz="700" b="1" dirty="0">
                    <a:solidFill>
                      <a:srgbClr val="1A1A1A"/>
                    </a:solidFill>
                    <a:latin typeface="맑은 고딕"/>
                    <a:ea typeface="맑은 고딕"/>
                  </a:rPr>
                  <a:t>Memory </a:t>
                </a:r>
                <a:r>
                  <a:rPr sz="700" b="1" dirty="0">
                    <a:solidFill>
                      <a:srgbClr val="1A1A1A"/>
                    </a:solidFill>
                    <a:latin typeface="맑은 고딕"/>
                    <a:ea typeface="맑은 고딕"/>
                  </a:rPr>
                  <a:t>Desc</a:t>
                </a:r>
                <a:r>
                  <a:rPr lang="en-US" sz="700" b="1" dirty="0">
                    <a:solidFill>
                      <a:srgbClr val="1A1A1A"/>
                    </a:solidFill>
                    <a:latin typeface="맑은 고딕"/>
                    <a:ea typeface="맑은 고딕"/>
                  </a:rPr>
                  <a:t>riptor</a:t>
                </a:r>
                <a:endParaRPr sz="700" b="1" dirty="0">
                  <a:solidFill>
                    <a:srgbClr val="1A1A1A"/>
                  </a:solidFill>
                  <a:latin typeface="맑은 고딕"/>
                  <a:ea typeface="맑은 고딕"/>
                </a:endParaRPr>
              </a:p>
              <a:p>
                <a:pPr algn="ctr"/>
                <a:r>
                  <a:rPr lang="en-US" sz="580" b="0" dirty="0">
                    <a:solidFill>
                      <a:srgbClr val="1A1A1A"/>
                    </a:solidFill>
                    <a:latin typeface="맑은 고딕"/>
                    <a:ea typeface="맑은 고딕"/>
                  </a:rPr>
                  <a:t>C</a:t>
                </a:r>
                <a:r>
                  <a:rPr sz="580" b="0" dirty="0">
                    <a:solidFill>
                      <a:srgbClr val="1A1A1A"/>
                    </a:solidFill>
                    <a:latin typeface="맑은 고딕"/>
                    <a:ea typeface="맑은 고딕"/>
                  </a:rPr>
                  <a:t>apability</a:t>
                </a:r>
                <a:r>
                  <a:rPr lang="en-US" sz="580" b="0" dirty="0">
                    <a:solidFill>
                      <a:srgbClr val="1A1A1A"/>
                    </a:solidFill>
                    <a:latin typeface="맑은 고딕"/>
                    <a:ea typeface="맑은 고딕"/>
                  </a:rPr>
                  <a:t>, </a:t>
                </a:r>
                <a:r>
                  <a:rPr lang="en-US" sz="580" dirty="0">
                    <a:solidFill>
                      <a:srgbClr val="1A1A1A"/>
                    </a:solidFill>
                    <a:latin typeface="맑은 고딕"/>
                    <a:ea typeface="맑은 고딕"/>
                  </a:rPr>
                  <a:t>BW</a:t>
                </a:r>
                <a:r>
                  <a:rPr lang="en-US" sz="580" dirty="0">
                    <a:solidFill>
                      <a:srgbClr val="1A1A1A"/>
                    </a:solidFill>
                    <a:ea typeface="맑은 고딕"/>
                  </a:rPr>
                  <a:t>, </a:t>
                </a:r>
                <a:r>
                  <a:rPr lang="en-US" altLang="ko-KR" sz="580" dirty="0">
                    <a:solidFill>
                      <a:srgbClr val="1A1A1A"/>
                    </a:solidFill>
                    <a:ea typeface="맑은 고딕"/>
                  </a:rPr>
                  <a:t>latency, flags</a:t>
                </a:r>
                <a:endParaRPr sz="580" b="0" dirty="0">
                  <a:solidFill>
                    <a:srgbClr val="1A1A1A"/>
                  </a:solidFill>
                  <a:latin typeface="맑은 고딕"/>
                  <a:ea typeface="맑은 고딕"/>
                </a:endParaRPr>
              </a:p>
            </p:txBody>
          </p:sp>
          <p:sp>
            <p:nvSpPr>
              <p:cNvPr id="218" name="MemIF_C1_face2"/>
              <p:cNvSpPr/>
              <p:nvPr/>
            </p:nvSpPr>
            <p:spPr>
              <a:xfrm>
                <a:off x="3856644" y="4188386"/>
                <a:ext cx="1313660" cy="320863"/>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dirty="0">
                    <a:solidFill>
                      <a:srgbClr val="1A1A1A"/>
                    </a:solidFill>
                    <a:latin typeface="맑은 고딕"/>
                    <a:ea typeface="맑은 고딕"/>
                  </a:rPr>
                  <a:t>Binding</a:t>
                </a:r>
              </a:p>
              <a:p>
                <a:pPr algn="ctr"/>
                <a:r>
                  <a:rPr lang="en-US" sz="580" b="0" dirty="0" err="1">
                    <a:solidFill>
                      <a:srgbClr val="1A1A1A"/>
                    </a:solidFill>
                    <a:latin typeface="맑은 고딕"/>
                    <a:ea typeface="맑은 고딕"/>
                  </a:rPr>
                  <a:t>Handler_key</a:t>
                </a:r>
                <a:r>
                  <a:rPr lang="en-US" sz="580" dirty="0">
                    <a:solidFill>
                      <a:srgbClr val="1A1A1A"/>
                    </a:solidFill>
                    <a:latin typeface="맑은 고딕"/>
                    <a:ea typeface="맑은 고딕"/>
                  </a:rPr>
                  <a:t>, est. </a:t>
                </a:r>
                <a:r>
                  <a:rPr lang="en-US" sz="580" b="0" dirty="0">
                    <a:solidFill>
                      <a:srgbClr val="1A1A1A"/>
                    </a:solidFill>
                    <a:latin typeface="맑은 고딕"/>
                    <a:ea typeface="맑은 고딕"/>
                  </a:rPr>
                  <a:t>transfer</a:t>
                </a:r>
                <a:r>
                  <a:rPr lang="en-US" sz="580" dirty="0">
                    <a:solidFill>
                      <a:srgbClr val="1A1A1A"/>
                    </a:solidFill>
                    <a:latin typeface="맑은 고딕"/>
                    <a:ea typeface="맑은 고딕"/>
                  </a:rPr>
                  <a:t> cost</a:t>
                </a:r>
                <a:endParaRPr sz="580" b="0" dirty="0">
                  <a:solidFill>
                    <a:srgbClr val="1A1A1A"/>
                  </a:solidFill>
                  <a:latin typeface="맑은 고딕"/>
                  <a:ea typeface="맑은 고딕"/>
                </a:endParaRPr>
              </a:p>
            </p:txBody>
          </p:sp>
        </p:grpSp>
        <p:cxnSp>
          <p:nvCxnSpPr>
            <p:cNvPr id="179" name="MemIF_C1_link"/>
            <p:cNvCxnSpPr>
              <a:stCxn id="221" idx="2"/>
              <a:endCxn id="216" idx="0"/>
            </p:cNvCxnSpPr>
            <p:nvPr/>
          </p:nvCxnSpPr>
          <p:spPr>
            <a:xfrm rot="16200000" flipH="1">
              <a:off x="1792669" y="5423619"/>
              <a:ext cx="434764" cy="26010"/>
            </a:xfrm>
            <a:prstGeom prst="bentConnector3">
              <a:avLst>
                <a:gd name="adj1" fmla="val 50000"/>
              </a:avLst>
            </a:prstGeom>
            <a:ln w="12700">
              <a:solidFill>
                <a:schemeClr val="tx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180" name="Shape 56">
              <a:extLst>
                <a:ext uri="{FF2B5EF4-FFF2-40B4-BE49-F238E27FC236}">
                  <a16:creationId xmlns:a16="http://schemas.microsoft.com/office/drawing/2014/main" id="{33C7046D-072B-4A63-B8E3-E6FE269F4E83}"/>
                </a:ext>
              </a:extLst>
            </p:cNvPr>
            <p:cNvSpPr/>
            <p:nvPr/>
          </p:nvSpPr>
          <p:spPr>
            <a:xfrm>
              <a:off x="3770175" y="5487544"/>
              <a:ext cx="0" cy="0"/>
            </a:xfrm>
            <a:prstGeom prst="line">
              <a:avLst/>
            </a:prstGeom>
            <a:noFill/>
            <a:ln w="16510">
              <a:solidFill>
                <a:srgbClr val="4D7EA8"/>
              </a:solidFill>
              <a:prstDash val="solid"/>
              <a:headEnd type="none"/>
              <a:tailEnd type="none"/>
            </a:ln>
          </p:spPr>
        </p:sp>
        <p:cxnSp>
          <p:nvCxnSpPr>
            <p:cNvPr id="181" name="MemIF_C1_link"/>
            <p:cNvCxnSpPr>
              <a:stCxn id="220" idx="2"/>
              <a:endCxn id="217" idx="0"/>
            </p:cNvCxnSpPr>
            <p:nvPr/>
          </p:nvCxnSpPr>
          <p:spPr>
            <a:xfrm rot="16200000" flipH="1">
              <a:off x="3231593" y="5225767"/>
              <a:ext cx="445696" cy="422762"/>
            </a:xfrm>
            <a:prstGeom prst="bentConnector3">
              <a:avLst>
                <a:gd name="adj1" fmla="val 50000"/>
              </a:avLst>
            </a:prstGeom>
            <a:ln w="12700">
              <a:solidFill>
                <a:schemeClr val="tx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cxnSp>
          <p:nvCxnSpPr>
            <p:cNvPr id="182" name="MemIF_C1_link"/>
            <p:cNvCxnSpPr>
              <a:stCxn id="220" idx="2"/>
              <a:endCxn id="218" idx="0"/>
            </p:cNvCxnSpPr>
            <p:nvPr/>
          </p:nvCxnSpPr>
          <p:spPr>
            <a:xfrm rot="16200000" flipH="1">
              <a:off x="4040579" y="4416780"/>
              <a:ext cx="439706" cy="2034745"/>
            </a:xfrm>
            <a:prstGeom prst="bentConnector3">
              <a:avLst>
                <a:gd name="adj1" fmla="val 50000"/>
              </a:avLst>
            </a:prstGeom>
            <a:ln w="12700">
              <a:solidFill>
                <a:schemeClr val="tx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183" name="Rectangle 57"/>
            <p:cNvSpPr/>
            <p:nvPr/>
          </p:nvSpPr>
          <p:spPr>
            <a:xfrm>
              <a:off x="1360607" y="6201643"/>
              <a:ext cx="409343"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HBM</a:t>
              </a:r>
            </a:p>
          </p:txBody>
        </p:sp>
        <p:sp>
          <p:nvSpPr>
            <p:cNvPr id="184" name="Rectangle 59"/>
            <p:cNvSpPr/>
            <p:nvPr/>
          </p:nvSpPr>
          <p:spPr>
            <a:xfrm>
              <a:off x="1929351" y="6201643"/>
              <a:ext cx="678903"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err="1">
                  <a:solidFill>
                    <a:srgbClr val="1A1A1A"/>
                  </a:solidFill>
                  <a:latin typeface="Malgun Gothic"/>
                  <a:ea typeface="Malgun Gothic"/>
                </a:rPr>
                <a:t>ScHBM</a:t>
              </a:r>
              <a:r>
                <a:rPr sz="700" b="1" dirty="0">
                  <a:solidFill>
                    <a:srgbClr val="1A1A1A"/>
                  </a:solidFill>
                  <a:latin typeface="Malgun Gothic"/>
                  <a:ea typeface="Malgun Gothic"/>
                </a:rPr>
                <a:t>/</a:t>
              </a:r>
              <a:r>
                <a:rPr lang="en-US" sz="700" b="1" dirty="0" err="1">
                  <a:solidFill>
                    <a:srgbClr val="1A1A1A"/>
                  </a:solidFill>
                  <a:latin typeface="Malgun Gothic"/>
                  <a:ea typeface="Malgun Gothic"/>
                </a:rPr>
                <a:t>c</a:t>
              </a:r>
              <a:r>
                <a:rPr sz="700" b="1" dirty="0" err="1">
                  <a:solidFill>
                    <a:srgbClr val="1A1A1A"/>
                  </a:solidFill>
                  <a:latin typeface="Malgun Gothic"/>
                  <a:ea typeface="Malgun Gothic"/>
                </a:rPr>
                <a:t>HBM</a:t>
              </a:r>
              <a:endParaRPr sz="700" b="1" dirty="0">
                <a:solidFill>
                  <a:srgbClr val="1A1A1A"/>
                </a:solidFill>
                <a:latin typeface="Malgun Gothic"/>
                <a:ea typeface="Malgun Gothic"/>
              </a:endParaRPr>
            </a:p>
          </p:txBody>
        </p:sp>
        <p:sp>
          <p:nvSpPr>
            <p:cNvPr id="185" name="Rectangle 61"/>
            <p:cNvSpPr/>
            <p:nvPr/>
          </p:nvSpPr>
          <p:spPr>
            <a:xfrm>
              <a:off x="2767655" y="6201643"/>
              <a:ext cx="450277"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DRAM</a:t>
              </a:r>
            </a:p>
          </p:txBody>
        </p:sp>
        <p:sp>
          <p:nvSpPr>
            <p:cNvPr id="187" name="Rectangle 63"/>
            <p:cNvSpPr/>
            <p:nvPr/>
          </p:nvSpPr>
          <p:spPr>
            <a:xfrm>
              <a:off x="3377333" y="6201643"/>
              <a:ext cx="544836"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CXL-PNM</a:t>
              </a:r>
            </a:p>
          </p:txBody>
        </p:sp>
        <p:sp>
          <p:nvSpPr>
            <p:cNvPr id="188" name="Rectangle 67"/>
            <p:cNvSpPr/>
            <p:nvPr/>
          </p:nvSpPr>
          <p:spPr>
            <a:xfrm>
              <a:off x="4081570" y="6201643"/>
              <a:ext cx="797695" cy="192360"/>
            </a:xfrm>
            <a:prstGeom prst="rect">
              <a:avLst/>
            </a:prstGeom>
            <a:solidFill>
              <a:srgbClr val="EDEDED"/>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SSD / SSD-PIM</a:t>
              </a:r>
            </a:p>
          </p:txBody>
        </p:sp>
        <p:sp>
          <p:nvSpPr>
            <p:cNvPr id="191" name="Rectangle 69"/>
            <p:cNvSpPr/>
            <p:nvPr/>
          </p:nvSpPr>
          <p:spPr>
            <a:xfrm>
              <a:off x="5038665" y="6201643"/>
              <a:ext cx="1061733" cy="192360"/>
            </a:xfrm>
            <a:prstGeom prst="rect">
              <a:avLst/>
            </a:prstGeom>
            <a:solidFill>
              <a:srgbClr val="FFFFFF"/>
            </a:solidFill>
            <a:ln w="12700">
              <a:solidFill>
                <a:srgbClr val="888C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700" b="1" dirty="0">
                  <a:solidFill>
                    <a:srgbClr val="1A1A1A"/>
                  </a:solidFill>
                  <a:latin typeface="Malgun Gothic"/>
                  <a:ea typeface="Malgun Gothic"/>
                </a:rPr>
                <a:t>+ New (</a:t>
              </a:r>
              <a:r>
                <a:rPr sz="700" b="1" dirty="0" err="1">
                  <a:solidFill>
                    <a:srgbClr val="1A1A1A"/>
                  </a:solidFill>
                  <a:latin typeface="Malgun Gothic"/>
                  <a:ea typeface="Malgun Gothic"/>
                </a:rPr>
                <a:t>신규</a:t>
              </a:r>
              <a:r>
                <a:rPr sz="700" b="1" dirty="0">
                  <a:solidFill>
                    <a:srgbClr val="1A1A1A"/>
                  </a:solidFill>
                  <a:latin typeface="Malgun Gothic"/>
                  <a:ea typeface="Malgun Gothic"/>
                </a:rPr>
                <a:t> memory)</a:t>
              </a:r>
            </a:p>
          </p:txBody>
        </p:sp>
        <p:cxnSp>
          <p:nvCxnSpPr>
            <p:cNvPr id="192" name="Connector 58"/>
            <p:cNvCxnSpPr/>
            <p:nvPr/>
          </p:nvCxnSpPr>
          <p:spPr>
            <a:xfrm flipV="1">
              <a:off x="1565278"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3" name="Connector 58"/>
            <p:cNvCxnSpPr/>
            <p:nvPr/>
          </p:nvCxnSpPr>
          <p:spPr>
            <a:xfrm flipV="1">
              <a:off x="2268802"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8" name="Connector 58"/>
            <p:cNvCxnSpPr/>
            <p:nvPr/>
          </p:nvCxnSpPr>
          <p:spPr>
            <a:xfrm flipV="1">
              <a:off x="2983964"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1" name="Connector 58"/>
            <p:cNvCxnSpPr/>
            <p:nvPr/>
          </p:nvCxnSpPr>
          <p:spPr>
            <a:xfrm flipV="1">
              <a:off x="3651371"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4" name="Connector 58"/>
            <p:cNvCxnSpPr/>
            <p:nvPr/>
          </p:nvCxnSpPr>
          <p:spPr>
            <a:xfrm flipV="1">
              <a:off x="4480417"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1" name="Connector 58"/>
            <p:cNvCxnSpPr/>
            <p:nvPr/>
          </p:nvCxnSpPr>
          <p:spPr>
            <a:xfrm flipV="1">
              <a:off x="5545972" y="6086167"/>
              <a:ext cx="0" cy="113213"/>
            </a:xfrm>
            <a:prstGeom prst="line">
              <a:avLst/>
            </a:prstGeom>
            <a:ln w="1016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212" name="직사각형 211">
              <a:extLst>
                <a:ext uri="{FF2B5EF4-FFF2-40B4-BE49-F238E27FC236}">
                  <a16:creationId xmlns:a16="http://schemas.microsoft.com/office/drawing/2014/main" id="{1F732118-666E-4542-8530-F6AD2A384259}"/>
                </a:ext>
              </a:extLst>
            </p:cNvPr>
            <p:cNvSpPr/>
            <p:nvPr/>
          </p:nvSpPr>
          <p:spPr>
            <a:xfrm>
              <a:off x="1997045" y="5390538"/>
              <a:ext cx="485693" cy="186773"/>
            </a:xfrm>
            <a:prstGeom prst="rect">
              <a:avLst/>
            </a:prstGeom>
            <a:noFill/>
            <a:ln w="12700">
              <a:noFill/>
              <a:prstDash val="dash"/>
            </a:ln>
          </p:spPr>
          <p:txBody>
            <a:bodyPr rtlCol="0" anchor="ctr"/>
            <a:lstStyle/>
            <a:p>
              <a:r>
                <a:rPr lang="en-US" altLang="ko-KR" sz="700" dirty="0">
                  <a:solidFill>
                    <a:schemeClr val="bg1">
                      <a:lumMod val="50000"/>
                    </a:schemeClr>
                  </a:solidFill>
                </a:rPr>
                <a:t>collect()</a:t>
              </a:r>
            </a:p>
          </p:txBody>
        </p:sp>
        <p:sp>
          <p:nvSpPr>
            <p:cNvPr id="213" name="직사각형 212">
              <a:extLst>
                <a:ext uri="{FF2B5EF4-FFF2-40B4-BE49-F238E27FC236}">
                  <a16:creationId xmlns:a16="http://schemas.microsoft.com/office/drawing/2014/main" id="{1F732118-666E-4542-8530-F6AD2A384259}"/>
                </a:ext>
              </a:extLst>
            </p:cNvPr>
            <p:cNvSpPr/>
            <p:nvPr/>
          </p:nvSpPr>
          <p:spPr>
            <a:xfrm>
              <a:off x="2892739" y="5427462"/>
              <a:ext cx="587688" cy="186773"/>
            </a:xfrm>
            <a:prstGeom prst="rect">
              <a:avLst/>
            </a:prstGeom>
            <a:noFill/>
            <a:ln w="12700">
              <a:noFill/>
              <a:prstDash val="dash"/>
            </a:ln>
          </p:spPr>
          <p:txBody>
            <a:bodyPr rtlCol="0" anchor="ctr"/>
            <a:lstStyle/>
            <a:p>
              <a:r>
                <a:rPr lang="en-US" altLang="ko-KR" sz="700" dirty="0">
                  <a:solidFill>
                    <a:schemeClr val="bg1">
                      <a:lumMod val="50000"/>
                    </a:schemeClr>
                  </a:solidFill>
                </a:rPr>
                <a:t>register()</a:t>
              </a:r>
            </a:p>
          </p:txBody>
        </p:sp>
        <p:sp>
          <p:nvSpPr>
            <p:cNvPr id="214" name="직사각형 213">
              <a:extLst>
                <a:ext uri="{FF2B5EF4-FFF2-40B4-BE49-F238E27FC236}">
                  <a16:creationId xmlns:a16="http://schemas.microsoft.com/office/drawing/2014/main" id="{1F732118-666E-4542-8530-F6AD2A384259}"/>
                </a:ext>
              </a:extLst>
            </p:cNvPr>
            <p:cNvSpPr/>
            <p:nvPr/>
          </p:nvSpPr>
          <p:spPr>
            <a:xfrm>
              <a:off x="4570867" y="5427462"/>
              <a:ext cx="694910" cy="186773"/>
            </a:xfrm>
            <a:prstGeom prst="rect">
              <a:avLst/>
            </a:prstGeom>
            <a:noFill/>
            <a:ln w="12700">
              <a:noFill/>
              <a:prstDash val="dash"/>
            </a:ln>
          </p:spPr>
          <p:txBody>
            <a:bodyPr rtlCol="0" anchor="ctr"/>
            <a:lstStyle/>
            <a:p>
              <a:r>
                <a:rPr lang="en-US" altLang="ko-KR" sz="700" dirty="0" err="1">
                  <a:solidFill>
                    <a:schemeClr val="bg1">
                      <a:lumMod val="50000"/>
                    </a:schemeClr>
                  </a:solidFill>
                </a:rPr>
                <a:t>get_binding</a:t>
              </a:r>
              <a:r>
                <a:rPr lang="en-US" altLang="ko-KR" sz="700" dirty="0">
                  <a:solidFill>
                    <a:schemeClr val="bg1">
                      <a:lumMod val="50000"/>
                    </a:schemeClr>
                  </a:solidFill>
                </a:rPr>
                <a:t>()</a:t>
              </a:r>
            </a:p>
          </p:txBody>
        </p:sp>
      </p:grpSp>
      <p:cxnSp>
        <p:nvCxnSpPr>
          <p:cNvPr id="222" name="직선 화살표 연결선 185">
            <a:extLst>
              <a:ext uri="{FF2B5EF4-FFF2-40B4-BE49-F238E27FC236}">
                <a16:creationId xmlns:a16="http://schemas.microsoft.com/office/drawing/2014/main" id="{C77B044C-CFD5-4C99-9B08-C9CDFDD38AC5}"/>
              </a:ext>
            </a:extLst>
          </p:cNvPr>
          <p:cNvCxnSpPr>
            <a:cxnSpLocks/>
            <a:stCxn id="421" idx="1"/>
            <a:endCxn id="220" idx="0"/>
          </p:cNvCxnSpPr>
          <p:nvPr/>
        </p:nvCxnSpPr>
        <p:spPr>
          <a:xfrm rot="10800000" flipH="1" flipV="1">
            <a:off x="8662106" y="3962843"/>
            <a:ext cx="32625" cy="1053169"/>
          </a:xfrm>
          <a:prstGeom prst="bentConnector4">
            <a:avLst>
              <a:gd name="adj1" fmla="val -700690"/>
              <a:gd name="adj2" fmla="val 57760"/>
            </a:avLst>
          </a:prstGeom>
          <a:noFill/>
          <a:ln w="6350">
            <a:solidFill>
              <a:srgbClr val="888C91"/>
            </a:solidFill>
            <a:prstDash val="solid"/>
            <a:headEnd type="none"/>
            <a:tailEnd type="triangle"/>
          </a:ln>
        </p:spPr>
      </p:cxnSp>
      <p:cxnSp>
        <p:nvCxnSpPr>
          <p:cNvPr id="223" name="직선 화살표 연결선 185">
            <a:extLst>
              <a:ext uri="{FF2B5EF4-FFF2-40B4-BE49-F238E27FC236}">
                <a16:creationId xmlns:a16="http://schemas.microsoft.com/office/drawing/2014/main" id="{C77B044C-CFD5-4C99-9B08-C9CDFDD38AC5}"/>
              </a:ext>
            </a:extLst>
          </p:cNvPr>
          <p:cNvCxnSpPr>
            <a:cxnSpLocks/>
            <a:stCxn id="421" idx="1"/>
            <a:endCxn id="221" idx="0"/>
          </p:cNvCxnSpPr>
          <p:nvPr/>
        </p:nvCxnSpPr>
        <p:spPr>
          <a:xfrm rot="10800000" flipV="1">
            <a:off x="7448719" y="3962844"/>
            <a:ext cx="1213389" cy="1053404"/>
          </a:xfrm>
          <a:prstGeom prst="bentConnector2">
            <a:avLst/>
          </a:prstGeom>
          <a:noFill/>
          <a:ln w="6350">
            <a:solidFill>
              <a:srgbClr val="888C91"/>
            </a:solidFill>
            <a:prstDash val="solid"/>
            <a:headEnd type="none"/>
            <a:tailEnd type="triangle"/>
          </a:ln>
        </p:spPr>
      </p:cxnSp>
      <p:sp>
        <p:nvSpPr>
          <p:cNvPr id="224" name="직사각형 223"/>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24" name="실행 단추: 뒤로 또는 이전 23">
            <a:hlinkClick r:id="rId3" action="ppaction://hlinksldjump" highlightClick="1"/>
          </p:cNvPr>
          <p:cNvSpPr/>
          <p:nvPr/>
        </p:nvSpPr>
        <p:spPr>
          <a:xfrm>
            <a:off x="11486723" y="645764"/>
            <a:ext cx="245746" cy="2721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화살표 연결선 185">
            <a:extLst>
              <a:ext uri="{FF2B5EF4-FFF2-40B4-BE49-F238E27FC236}">
                <a16:creationId xmlns:a16="http://schemas.microsoft.com/office/drawing/2014/main" id="{978083D3-9687-40FB-9182-FF0D3D8D7808}"/>
              </a:ext>
            </a:extLst>
          </p:cNvPr>
          <p:cNvCxnSpPr>
            <a:cxnSpLocks/>
            <a:stCxn id="141" idx="2"/>
            <a:endCxn id="136" idx="0"/>
          </p:cNvCxnSpPr>
          <p:nvPr/>
        </p:nvCxnSpPr>
        <p:spPr>
          <a:xfrm>
            <a:off x="3847014" y="4016496"/>
            <a:ext cx="1340" cy="230801"/>
          </a:xfrm>
          <a:prstGeom prst="straightConnector1">
            <a:avLst/>
          </a:prstGeom>
          <a:noFill/>
          <a:ln w="11430">
            <a:solidFill>
              <a:schemeClr val="accent1"/>
            </a:solidFill>
            <a:prstDash val="solid"/>
            <a:headEnd type="none"/>
            <a:tailEnd type="triangle"/>
          </a:ln>
        </p:spPr>
      </p:cxnSp>
      <p:cxnSp>
        <p:nvCxnSpPr>
          <p:cNvPr id="156" name="직선 화살표 연결선 185">
            <a:extLst>
              <a:ext uri="{FF2B5EF4-FFF2-40B4-BE49-F238E27FC236}">
                <a16:creationId xmlns:a16="http://schemas.microsoft.com/office/drawing/2014/main" id="{C77B044C-CFD5-4C99-9B08-C9CDFDD38AC5}"/>
              </a:ext>
            </a:extLst>
          </p:cNvPr>
          <p:cNvCxnSpPr>
            <a:cxnSpLocks/>
            <a:stCxn id="141" idx="1"/>
          </p:cNvCxnSpPr>
          <p:nvPr/>
        </p:nvCxnSpPr>
        <p:spPr>
          <a:xfrm rot="10800000" flipV="1">
            <a:off x="3003783" y="3847082"/>
            <a:ext cx="268517" cy="1184930"/>
          </a:xfrm>
          <a:prstGeom prst="bentConnector2">
            <a:avLst/>
          </a:prstGeom>
          <a:noFill/>
          <a:ln w="6350">
            <a:solidFill>
              <a:srgbClr val="888C91"/>
            </a:solidFill>
            <a:prstDash val="solid"/>
            <a:headEnd type="none"/>
            <a:tailEnd type="triangle"/>
          </a:ln>
        </p:spPr>
      </p:cxnSp>
      <p:cxnSp>
        <p:nvCxnSpPr>
          <p:cNvPr id="155" name="직선 화살표 연결선 185">
            <a:extLst>
              <a:ext uri="{FF2B5EF4-FFF2-40B4-BE49-F238E27FC236}">
                <a16:creationId xmlns:a16="http://schemas.microsoft.com/office/drawing/2014/main" id="{C77B044C-CFD5-4C99-9B08-C9CDFDD38AC5}"/>
              </a:ext>
            </a:extLst>
          </p:cNvPr>
          <p:cNvCxnSpPr>
            <a:cxnSpLocks/>
            <a:stCxn id="131" idx="1"/>
            <a:endCxn id="195" idx="0"/>
          </p:cNvCxnSpPr>
          <p:nvPr/>
        </p:nvCxnSpPr>
        <p:spPr>
          <a:xfrm rot="10800000" flipV="1">
            <a:off x="1997046" y="2398924"/>
            <a:ext cx="1277336" cy="2617324"/>
          </a:xfrm>
          <a:prstGeom prst="bentConnector2">
            <a:avLst/>
          </a:prstGeom>
          <a:noFill/>
          <a:ln w="6350">
            <a:solidFill>
              <a:srgbClr val="888C91"/>
            </a:solidFill>
            <a:prstDash val="solid"/>
            <a:headEnd type="none"/>
            <a:tailEnd type="triangle"/>
          </a:ln>
        </p:spPr>
      </p:cxnSp>
    </p:spTree>
    <p:extLst>
      <p:ext uri="{BB962C8B-B14F-4D97-AF65-F5344CB8AC3E}">
        <p14:creationId xmlns:p14="http://schemas.microsoft.com/office/powerpoint/2010/main" val="274255909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1488220-8958-463F-98FA-BB3C8FFA0A07}"/>
              </a:ext>
            </a:extLst>
          </p:cNvPr>
          <p:cNvSpPr>
            <a:spLocks noGrp="1"/>
          </p:cNvSpPr>
          <p:nvPr>
            <p:ph type="title"/>
          </p:nvPr>
        </p:nvSpPr>
        <p:spPr/>
        <p:txBody>
          <a:bodyPr/>
          <a:lstStyle/>
          <a:p>
            <a:r>
              <a:rPr lang="en-US" altLang="ko-KR" dirty="0"/>
              <a:t>DP1. </a:t>
            </a:r>
            <a:r>
              <a:rPr lang="en-US" altLang="ko-KR" dirty="0" err="1"/>
              <a:t>이기종</a:t>
            </a:r>
            <a:r>
              <a:rPr lang="en-US" altLang="ko-KR" dirty="0"/>
              <a:t> </a:t>
            </a:r>
            <a:r>
              <a:rPr lang="en-US" altLang="ko-KR" dirty="0" err="1"/>
              <a:t>메모리</a:t>
            </a:r>
            <a:r>
              <a:rPr lang="en-US" altLang="ko-KR" dirty="0"/>
              <a:t> </a:t>
            </a:r>
            <a:r>
              <a:rPr lang="en-US" altLang="ko-KR" dirty="0" err="1"/>
              <a:t>기반</a:t>
            </a:r>
            <a:r>
              <a:rPr lang="en-US" altLang="ko-KR" dirty="0"/>
              <a:t> Data Migration </a:t>
            </a:r>
            <a:r>
              <a:rPr lang="ko-KR" altLang="en-US" dirty="0"/>
              <a:t>결정 </a:t>
            </a:r>
            <a:r>
              <a:rPr lang="en-US" altLang="ko-KR" dirty="0" err="1"/>
              <a:t>구조</a:t>
            </a:r>
            <a:r>
              <a:rPr lang="en-US" altLang="ko-KR" dirty="0"/>
              <a:t> – 1</a:t>
            </a:r>
            <a:r>
              <a:rPr lang="ko-KR" altLang="en-US" dirty="0"/>
              <a:t>안 상세</a:t>
            </a:r>
          </a:p>
        </p:txBody>
      </p:sp>
      <p:pic>
        <p:nvPicPr>
          <p:cNvPr id="9" name="그림 8">
            <a:extLst>
              <a:ext uri="{FF2B5EF4-FFF2-40B4-BE49-F238E27FC236}">
                <a16:creationId xmlns:a16="http://schemas.microsoft.com/office/drawing/2014/main" id="{E012E624-0174-4637-B3B5-BA00E840E832}"/>
              </a:ext>
            </a:extLst>
          </p:cNvPr>
          <p:cNvPicPr>
            <a:picLocks noChangeAspect="1"/>
          </p:cNvPicPr>
          <p:nvPr/>
        </p:nvPicPr>
        <p:blipFill>
          <a:blip r:embed="rId3"/>
          <a:stretch>
            <a:fillRect/>
          </a:stretch>
        </p:blipFill>
        <p:spPr>
          <a:xfrm>
            <a:off x="0" y="690217"/>
            <a:ext cx="12192000" cy="5477565"/>
          </a:xfrm>
          <a:prstGeom prst="rect">
            <a:avLst/>
          </a:prstGeom>
        </p:spPr>
      </p:pic>
      <p:sp>
        <p:nvSpPr>
          <p:cNvPr id="4" name="실행 단추: 뒤로 또는 이전 3">
            <a:hlinkClick r:id="rId4" action="ppaction://hlinksldjump" highlightClick="1"/>
          </p:cNvPr>
          <p:cNvSpPr/>
          <p:nvPr/>
        </p:nvSpPr>
        <p:spPr>
          <a:xfrm>
            <a:off x="7484074" y="183891"/>
            <a:ext cx="245746" cy="2721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129301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DP1. </a:t>
            </a:r>
            <a:r>
              <a:rPr lang="en-US" altLang="ko-KR" dirty="0" err="1"/>
              <a:t>이기종</a:t>
            </a:r>
            <a:r>
              <a:rPr lang="en-US" altLang="ko-KR" dirty="0"/>
              <a:t> </a:t>
            </a:r>
            <a:r>
              <a:rPr lang="en-US" altLang="ko-KR" dirty="0" err="1"/>
              <a:t>메모리</a:t>
            </a:r>
            <a:r>
              <a:rPr lang="en-US" altLang="ko-KR" dirty="0"/>
              <a:t> </a:t>
            </a:r>
            <a:r>
              <a:rPr lang="en-US" altLang="ko-KR" dirty="0" err="1"/>
              <a:t>기반</a:t>
            </a:r>
            <a:r>
              <a:rPr lang="en-US" altLang="ko-KR" dirty="0"/>
              <a:t> Data Migration </a:t>
            </a:r>
            <a:r>
              <a:rPr lang="ko-KR" altLang="en-US" dirty="0"/>
              <a:t>결정</a:t>
            </a:r>
            <a:r>
              <a:rPr lang="en-US" altLang="ko-KR" dirty="0"/>
              <a:t> </a:t>
            </a:r>
            <a:r>
              <a:rPr lang="en-US" altLang="ko-KR" dirty="0" err="1"/>
              <a:t>구조</a:t>
            </a:r>
            <a:r>
              <a:rPr lang="en-US" altLang="ko-KR" dirty="0"/>
              <a:t> – 2</a:t>
            </a:r>
            <a:r>
              <a:rPr lang="ko-KR" altLang="en-US" dirty="0"/>
              <a:t>안 상세</a:t>
            </a:r>
            <a:endParaRPr lang="en-US" altLang="ko-KR"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11430000" cy="307777"/>
          </a:xfrm>
          <a:prstGeom prst="rect">
            <a:avLst/>
          </a:prstGeom>
          <a:noFill/>
        </p:spPr>
        <p:txBody>
          <a:bodyPr wrap="square" rtlCol="0">
            <a:spAutoFit/>
          </a:bodyPr>
          <a:lstStyle/>
          <a:p>
            <a:pPr lvl="0">
              <a:defRPr/>
            </a:pPr>
            <a:r>
              <a:rPr lang="ko-KR" altLang="en-US" sz="1400" b="1" dirty="0">
                <a:solidFill>
                  <a:schemeClr val="bg1"/>
                </a:solidFill>
              </a:rPr>
              <a:t>C2 AI Data Behavior-driven — Sequence</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123</a:t>
            </a:fld>
            <a:endParaRPr lang="ko-KR" altLang="en-US" dirty="0"/>
          </a:p>
        </p:txBody>
      </p:sp>
      <p:sp>
        <p:nvSpPr>
          <p:cNvPr id="58" name="Rectangle 57"/>
          <p:cNvSpPr/>
          <p:nvPr/>
        </p:nvSpPr>
        <p:spPr>
          <a:xfrm>
            <a:off x="411480" y="1143000"/>
            <a:ext cx="11384280"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900" b="0">
                <a:solidFill>
                  <a:srgbClr val="404040"/>
                </a:solidFill>
                <a:latin typeface="맑은 고딕"/>
                <a:ea typeface="맑은 고딕"/>
              </a:rPr>
              <a:t>사전(boot / 상시, decision 경로 밖):  Backend → Memory Registry (①③ 등록·캐시),  Backend → Telemetry Collector (② 상시 수집)</a:t>
            </a:r>
          </a:p>
        </p:txBody>
      </p:sp>
      <p:sp>
        <p:nvSpPr>
          <p:cNvPr id="59" name="Rectangle 58"/>
          <p:cNvSpPr/>
          <p:nvPr/>
        </p:nvSpPr>
        <p:spPr>
          <a:xfrm>
            <a:off x="448055" y="1600200"/>
            <a:ext cx="961782" cy="384048"/>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FFFFFF"/>
                </a:solidFill>
                <a:latin typeface="맑은 고딕"/>
                <a:ea typeface="맑은 고딕"/>
              </a:rPr>
              <a:t>Event Source</a:t>
            </a:r>
          </a:p>
        </p:txBody>
      </p:sp>
      <p:cxnSp>
        <p:nvCxnSpPr>
          <p:cNvPr id="60" name="Connector 59"/>
          <p:cNvCxnSpPr/>
          <p:nvPr/>
        </p:nvCxnSpPr>
        <p:spPr>
          <a:xfrm>
            <a:off x="928947"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1482990" y="1600200"/>
            <a:ext cx="961782" cy="384048"/>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FFFFFF"/>
                </a:solidFill>
                <a:latin typeface="맑은 고딕"/>
                <a:ea typeface="맑은 고딕"/>
              </a:rPr>
              <a:t>Migration</a:t>
            </a:r>
          </a:p>
          <a:p>
            <a:pPr algn="ctr"/>
            <a:r>
              <a:rPr sz="800" b="0">
                <a:solidFill>
                  <a:srgbClr val="FFFFFF"/>
                </a:solidFill>
                <a:latin typeface="맑은 고딕"/>
                <a:ea typeface="맑은 고딕"/>
              </a:rPr>
              <a:t>Scheduler</a:t>
            </a:r>
          </a:p>
        </p:txBody>
      </p:sp>
      <p:cxnSp>
        <p:nvCxnSpPr>
          <p:cNvPr id="62" name="Connector 61"/>
          <p:cNvCxnSpPr/>
          <p:nvPr/>
        </p:nvCxnSpPr>
        <p:spPr>
          <a:xfrm>
            <a:off x="1963881"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2517925" y="1600200"/>
            <a:ext cx="961782" cy="384048"/>
          </a:xfrm>
          <a:prstGeom prst="rect">
            <a:avLst/>
          </a:prstGeom>
          <a:solidFill>
            <a:srgbClr val="E6E0F4"/>
          </a:solidFill>
          <a:ln w="12700">
            <a:solidFill>
              <a:srgbClr val="7B66B0"/>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Data Behavior</a:t>
            </a:r>
          </a:p>
          <a:p>
            <a:pPr algn="ctr"/>
            <a:r>
              <a:rPr sz="800" b="0">
                <a:solidFill>
                  <a:srgbClr val="1A1A1A"/>
                </a:solidFill>
                <a:latin typeface="맑은 고딕"/>
                <a:ea typeface="맑은 고딕"/>
              </a:rPr>
              <a:t>Monitor</a:t>
            </a:r>
          </a:p>
        </p:txBody>
      </p:sp>
      <p:cxnSp>
        <p:nvCxnSpPr>
          <p:cNvPr id="64" name="Connector 63"/>
          <p:cNvCxnSpPr/>
          <p:nvPr/>
        </p:nvCxnSpPr>
        <p:spPr>
          <a:xfrm>
            <a:off x="2998816"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552859" y="1600200"/>
            <a:ext cx="961782" cy="384048"/>
          </a:xfrm>
          <a:prstGeom prst="rect">
            <a:avLst/>
          </a:prstGeom>
          <a:solidFill>
            <a:srgbClr val="E3F1E3"/>
          </a:solidFill>
          <a:ln w="12700">
            <a:solidFill>
              <a:srgbClr val="5B9B5B"/>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Data Object</a:t>
            </a:r>
          </a:p>
          <a:p>
            <a:pPr algn="ctr"/>
            <a:r>
              <a:rPr sz="800" b="0">
                <a:solidFill>
                  <a:srgbClr val="1A1A1A"/>
                </a:solidFill>
                <a:latin typeface="맑은 고딕"/>
                <a:ea typeface="맑은 고딕"/>
              </a:rPr>
              <a:t>Registry</a:t>
            </a:r>
          </a:p>
        </p:txBody>
      </p:sp>
      <p:cxnSp>
        <p:nvCxnSpPr>
          <p:cNvPr id="66" name="Connector 65"/>
          <p:cNvCxnSpPr/>
          <p:nvPr/>
        </p:nvCxnSpPr>
        <p:spPr>
          <a:xfrm>
            <a:off x="4033750"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4587794" y="1600200"/>
            <a:ext cx="961782" cy="384048"/>
          </a:xfrm>
          <a:prstGeom prst="rect">
            <a:avLst/>
          </a:prstGeom>
          <a:solidFill>
            <a:srgbClr val="E6E0F4"/>
          </a:solidFill>
          <a:ln w="12700">
            <a:solidFill>
              <a:srgbClr val="7B66B0"/>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Behavior Trend</a:t>
            </a:r>
          </a:p>
          <a:p>
            <a:pPr algn="ctr"/>
            <a:r>
              <a:rPr sz="800" b="0">
                <a:solidFill>
                  <a:srgbClr val="1A1A1A"/>
                </a:solidFill>
                <a:latin typeface="맑은 고딕"/>
                <a:ea typeface="맑은 고딕"/>
              </a:rPr>
              <a:t>Analyzer</a:t>
            </a:r>
          </a:p>
        </p:txBody>
      </p:sp>
      <p:cxnSp>
        <p:nvCxnSpPr>
          <p:cNvPr id="68" name="Connector 67"/>
          <p:cNvCxnSpPr/>
          <p:nvPr/>
        </p:nvCxnSpPr>
        <p:spPr>
          <a:xfrm>
            <a:off x="5068685"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5622728" y="1600200"/>
            <a:ext cx="961782" cy="384048"/>
          </a:xfrm>
          <a:prstGeom prst="rect">
            <a:avLst/>
          </a:prstGeom>
          <a:solidFill>
            <a:srgbClr val="E6E0F4"/>
          </a:solidFill>
          <a:ln w="12700">
            <a:solidFill>
              <a:srgbClr val="7B66B0"/>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Future Behavior</a:t>
            </a:r>
          </a:p>
          <a:p>
            <a:pPr algn="ctr"/>
            <a:r>
              <a:rPr sz="800" b="0">
                <a:solidFill>
                  <a:srgbClr val="1A1A1A"/>
                </a:solidFill>
                <a:latin typeface="맑은 고딕"/>
                <a:ea typeface="맑은 고딕"/>
              </a:rPr>
              <a:t>Predictor</a:t>
            </a:r>
          </a:p>
        </p:txBody>
      </p:sp>
      <p:cxnSp>
        <p:nvCxnSpPr>
          <p:cNvPr id="70" name="Connector 69"/>
          <p:cNvCxnSpPr/>
          <p:nvPr/>
        </p:nvCxnSpPr>
        <p:spPr>
          <a:xfrm>
            <a:off x="6103620"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6657663" y="1600200"/>
            <a:ext cx="961782" cy="384048"/>
          </a:xfrm>
          <a:prstGeom prst="rect">
            <a:avLst/>
          </a:prstGeom>
          <a:solidFill>
            <a:srgbClr val="E6E0F4"/>
          </a:solidFill>
          <a:ln w="12700">
            <a:solidFill>
              <a:srgbClr val="7B66B0"/>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Migration Data</a:t>
            </a:r>
          </a:p>
          <a:p>
            <a:pPr algn="ctr"/>
            <a:r>
              <a:rPr sz="800" b="0">
                <a:solidFill>
                  <a:srgbClr val="1A1A1A"/>
                </a:solidFill>
                <a:latin typeface="맑은 고딕"/>
                <a:ea typeface="맑은 고딕"/>
              </a:rPr>
              <a:t>Selector</a:t>
            </a:r>
          </a:p>
        </p:txBody>
      </p:sp>
      <p:cxnSp>
        <p:nvCxnSpPr>
          <p:cNvPr id="72" name="Connector 71"/>
          <p:cNvCxnSpPr/>
          <p:nvPr/>
        </p:nvCxnSpPr>
        <p:spPr>
          <a:xfrm>
            <a:off x="7138554"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7692597" y="1600200"/>
            <a:ext cx="961782" cy="384048"/>
          </a:xfrm>
          <a:prstGeom prst="rect">
            <a:avLst/>
          </a:prstGeom>
          <a:solidFill>
            <a:srgbClr val="FDEBD3"/>
          </a:solidFill>
          <a:ln w="12700">
            <a:solidFill>
              <a:srgbClr val="C98A3C"/>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Telemetry</a:t>
            </a:r>
          </a:p>
          <a:p>
            <a:pPr algn="ctr"/>
            <a:r>
              <a:rPr sz="800" b="0">
                <a:solidFill>
                  <a:srgbClr val="1A1A1A"/>
                </a:solidFill>
                <a:latin typeface="맑은 고딕"/>
                <a:ea typeface="맑은 고딕"/>
              </a:rPr>
              <a:t>Collector</a:t>
            </a:r>
          </a:p>
        </p:txBody>
      </p:sp>
      <p:cxnSp>
        <p:nvCxnSpPr>
          <p:cNvPr id="74" name="Connector 73"/>
          <p:cNvCxnSpPr/>
          <p:nvPr/>
        </p:nvCxnSpPr>
        <p:spPr>
          <a:xfrm>
            <a:off x="8173489"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8727532" y="1600200"/>
            <a:ext cx="961782" cy="384048"/>
          </a:xfrm>
          <a:prstGeom prst="rect">
            <a:avLst/>
          </a:prstGeom>
          <a:solidFill>
            <a:srgbClr val="E6E0F4"/>
          </a:solidFill>
          <a:ln w="12700">
            <a:solidFill>
              <a:srgbClr val="7B66B0"/>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Destination Tier</a:t>
            </a:r>
          </a:p>
          <a:p>
            <a:pPr algn="ctr"/>
            <a:r>
              <a:rPr sz="800" b="0">
                <a:solidFill>
                  <a:srgbClr val="1A1A1A"/>
                </a:solidFill>
                <a:latin typeface="맑은 고딕"/>
                <a:ea typeface="맑은 고딕"/>
              </a:rPr>
              <a:t>Selector</a:t>
            </a:r>
          </a:p>
        </p:txBody>
      </p:sp>
      <p:cxnSp>
        <p:nvCxnSpPr>
          <p:cNvPr id="76" name="Connector 75"/>
          <p:cNvCxnSpPr/>
          <p:nvPr/>
        </p:nvCxnSpPr>
        <p:spPr>
          <a:xfrm>
            <a:off x="9208423"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9762466" y="1600200"/>
            <a:ext cx="961782" cy="384048"/>
          </a:xfrm>
          <a:prstGeom prst="rect">
            <a:avLst/>
          </a:prstGeom>
          <a:solidFill>
            <a:srgbClr val="FDEBD3"/>
          </a:solidFill>
          <a:ln w="12700">
            <a:solidFill>
              <a:srgbClr val="C98A3C"/>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Memory</a:t>
            </a:r>
          </a:p>
          <a:p>
            <a:pPr algn="ctr"/>
            <a:r>
              <a:rPr sz="800" b="0">
                <a:solidFill>
                  <a:srgbClr val="1A1A1A"/>
                </a:solidFill>
                <a:latin typeface="맑은 고딕"/>
                <a:ea typeface="맑은 고딕"/>
              </a:rPr>
              <a:t>Registry</a:t>
            </a:r>
          </a:p>
        </p:txBody>
      </p:sp>
      <p:cxnSp>
        <p:nvCxnSpPr>
          <p:cNvPr id="78" name="Connector 77"/>
          <p:cNvCxnSpPr/>
          <p:nvPr/>
        </p:nvCxnSpPr>
        <p:spPr>
          <a:xfrm>
            <a:off x="10243358"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sp>
        <p:nvSpPr>
          <p:cNvPr id="79" name="Rectangle 78"/>
          <p:cNvSpPr/>
          <p:nvPr/>
        </p:nvSpPr>
        <p:spPr>
          <a:xfrm>
            <a:off x="10797401" y="1600200"/>
            <a:ext cx="961782" cy="384048"/>
          </a:xfrm>
          <a:prstGeom prst="rect">
            <a:avLst/>
          </a:prstGeom>
          <a:solidFill>
            <a:srgbClr val="F0F1F3"/>
          </a:solidFill>
          <a:ln w="12700">
            <a:solidFill>
              <a:srgbClr val="888C91"/>
            </a:solid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ctr"/>
            <a:r>
              <a:rPr sz="800" b="1">
                <a:solidFill>
                  <a:srgbClr val="1A1A1A"/>
                </a:solidFill>
                <a:latin typeface="맑은 고딕"/>
                <a:ea typeface="맑은 고딕"/>
              </a:rPr>
              <a:t>Migration</a:t>
            </a:r>
          </a:p>
          <a:p>
            <a:pPr algn="ctr"/>
            <a:r>
              <a:rPr sz="800" b="0">
                <a:solidFill>
                  <a:srgbClr val="1A1A1A"/>
                </a:solidFill>
                <a:latin typeface="맑은 고딕"/>
                <a:ea typeface="맑은 고딕"/>
              </a:rPr>
              <a:t>Executor</a:t>
            </a:r>
          </a:p>
        </p:txBody>
      </p:sp>
      <p:cxnSp>
        <p:nvCxnSpPr>
          <p:cNvPr id="80" name="Connector 79"/>
          <p:cNvCxnSpPr/>
          <p:nvPr/>
        </p:nvCxnSpPr>
        <p:spPr>
          <a:xfrm>
            <a:off x="11278292" y="1984248"/>
            <a:ext cx="0" cy="4370832"/>
          </a:xfrm>
          <a:prstGeom prst="line">
            <a:avLst/>
          </a:prstGeom>
          <a:ln w="8890">
            <a:solidFill>
              <a:srgbClr val="A6A6A6"/>
            </a:solidFill>
            <a:prstDash val="sysDash"/>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28947" y="2148840"/>
            <a:ext cx="1034934"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750294" y="1975104"/>
            <a:ext cx="1392241"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1. Migration / behavior event</a:t>
            </a:r>
          </a:p>
        </p:txBody>
      </p:sp>
      <p:cxnSp>
        <p:nvCxnSpPr>
          <p:cNvPr id="83" name="Connector 82"/>
          <p:cNvCxnSpPr/>
          <p:nvPr/>
        </p:nvCxnSpPr>
        <p:spPr>
          <a:xfrm>
            <a:off x="1963881" y="2459736"/>
            <a:ext cx="1034935" cy="0"/>
          </a:xfrm>
          <a:prstGeom prst="line">
            <a:avLst/>
          </a:prstGeom>
          <a:ln w="12700">
            <a:solidFill>
              <a:srgbClr val="404040"/>
            </a:solidFill>
            <a:prstDash val="sysDash"/>
            <a:tailEnd type="triangle" w="sm" len="sm"/>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2010451" y="2286000"/>
            <a:ext cx="941796"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2. async event push</a:t>
            </a:r>
          </a:p>
        </p:txBody>
      </p:sp>
      <p:cxnSp>
        <p:nvCxnSpPr>
          <p:cNvPr id="85" name="Connector 84"/>
          <p:cNvCxnSpPr/>
          <p:nvPr/>
        </p:nvCxnSpPr>
        <p:spPr>
          <a:xfrm>
            <a:off x="2998816" y="2770632"/>
            <a:ext cx="1034934"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2963631" y="2596896"/>
            <a:ext cx="1105304"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3. object / class lookup</a:t>
            </a:r>
          </a:p>
        </p:txBody>
      </p:sp>
      <p:cxnSp>
        <p:nvCxnSpPr>
          <p:cNvPr id="87" name="Connector 86"/>
          <p:cNvCxnSpPr/>
          <p:nvPr/>
        </p:nvCxnSpPr>
        <p:spPr>
          <a:xfrm flipH="1">
            <a:off x="2998816" y="3081528"/>
            <a:ext cx="1034934" cy="0"/>
          </a:xfrm>
          <a:prstGeom prst="line">
            <a:avLst/>
          </a:prstGeom>
          <a:ln w="12700">
            <a:solidFill>
              <a:srgbClr val="404040"/>
            </a:solidFill>
            <a:prstDash val="sysDash"/>
            <a:tailEnd type="triangle" w="sm" len="sm"/>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2889092" y="2907792"/>
            <a:ext cx="1254382"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4. object + class metadata</a:t>
            </a:r>
          </a:p>
        </p:txBody>
      </p:sp>
      <p:cxnSp>
        <p:nvCxnSpPr>
          <p:cNvPr id="89" name="Connector 88"/>
          <p:cNvCxnSpPr/>
          <p:nvPr/>
        </p:nvCxnSpPr>
        <p:spPr>
          <a:xfrm>
            <a:off x="2998816" y="3392424"/>
            <a:ext cx="2069869"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3445031" y="3218688"/>
            <a:ext cx="1177438"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5. behavior / affinity info</a:t>
            </a:r>
          </a:p>
        </p:txBody>
      </p:sp>
      <p:cxnSp>
        <p:nvCxnSpPr>
          <p:cNvPr id="91" name="Connector 90"/>
          <p:cNvCxnSpPr/>
          <p:nvPr/>
        </p:nvCxnSpPr>
        <p:spPr>
          <a:xfrm>
            <a:off x="5068685" y="3703320"/>
            <a:ext cx="1034935"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5176168" y="3529584"/>
            <a:ext cx="819969"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6. behavior trend</a:t>
            </a:r>
          </a:p>
        </p:txBody>
      </p:sp>
      <p:cxnSp>
        <p:nvCxnSpPr>
          <p:cNvPr id="93" name="Connector 92"/>
          <p:cNvCxnSpPr/>
          <p:nvPr/>
        </p:nvCxnSpPr>
        <p:spPr>
          <a:xfrm>
            <a:off x="6103620" y="3959352"/>
            <a:ext cx="320039" cy="0"/>
          </a:xfrm>
          <a:prstGeom prst="line">
            <a:avLst/>
          </a:prstGeom>
          <a:ln w="1270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423659" y="3959352"/>
            <a:ext cx="0" cy="146304"/>
          </a:xfrm>
          <a:prstGeom prst="line">
            <a:avLst/>
          </a:prstGeom>
          <a:ln w="1270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6103620" y="4105656"/>
            <a:ext cx="320039"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6469380" y="3922776"/>
            <a:ext cx="1491627" cy="123111"/>
          </a:xfrm>
          <a:prstGeom prst="rect">
            <a:avLst/>
          </a:prstGeom>
          <a:solidFill>
            <a:srgbClr val="FFFFFF"/>
          </a:solidFill>
        </p:spPr>
        <p:txBody>
          <a:bodyPr wrap="none" lIns="9144" tIns="0" rIns="9144" bIns="0">
            <a:spAutoFit/>
          </a:bodyPr>
          <a:lstStyle/>
          <a:p>
            <a:pPr algn="l"/>
            <a:r>
              <a:rPr sz="800" b="0">
                <a:solidFill>
                  <a:srgbClr val="404040"/>
                </a:solidFill>
                <a:latin typeface="맑은 고딕"/>
                <a:ea typeface="맑은 고딕"/>
              </a:rPr>
              <a:t>7. predict reuse·lifetime·hotness</a:t>
            </a:r>
          </a:p>
        </p:txBody>
      </p:sp>
      <p:cxnSp>
        <p:nvCxnSpPr>
          <p:cNvPr id="97" name="Connector 96"/>
          <p:cNvCxnSpPr/>
          <p:nvPr/>
        </p:nvCxnSpPr>
        <p:spPr>
          <a:xfrm>
            <a:off x="6103620" y="4325112"/>
            <a:ext cx="1034934"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6114923" y="4151376"/>
            <a:ext cx="1012329"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8. predicted behavior</a:t>
            </a:r>
          </a:p>
        </p:txBody>
      </p:sp>
      <p:cxnSp>
        <p:nvCxnSpPr>
          <p:cNvPr id="99" name="Connector 98"/>
          <p:cNvCxnSpPr/>
          <p:nvPr/>
        </p:nvCxnSpPr>
        <p:spPr>
          <a:xfrm>
            <a:off x="6103620" y="4636008"/>
            <a:ext cx="3104803"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49857" y="4462272"/>
            <a:ext cx="1012329"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9. predicted behavior</a:t>
            </a:r>
          </a:p>
        </p:txBody>
      </p:sp>
      <p:cxnSp>
        <p:nvCxnSpPr>
          <p:cNvPr id="101" name="Connector 100"/>
          <p:cNvCxnSpPr/>
          <p:nvPr/>
        </p:nvCxnSpPr>
        <p:spPr>
          <a:xfrm>
            <a:off x="8173489" y="4946904"/>
            <a:ext cx="1034934"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8136701" y="4773168"/>
            <a:ext cx="1108510"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10. ② capacity·BW·load</a:t>
            </a:r>
          </a:p>
        </p:txBody>
      </p:sp>
      <p:cxnSp>
        <p:nvCxnSpPr>
          <p:cNvPr id="103" name="Connector 102"/>
          <p:cNvCxnSpPr/>
          <p:nvPr/>
        </p:nvCxnSpPr>
        <p:spPr>
          <a:xfrm>
            <a:off x="9208423" y="5257800"/>
            <a:ext cx="1034935"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9033778" y="5084064"/>
            <a:ext cx="1384226"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11. ①③ capability·cost query</a:t>
            </a:r>
          </a:p>
        </p:txBody>
      </p:sp>
      <p:cxnSp>
        <p:nvCxnSpPr>
          <p:cNvPr id="105" name="Connector 104"/>
          <p:cNvCxnSpPr/>
          <p:nvPr/>
        </p:nvCxnSpPr>
        <p:spPr>
          <a:xfrm flipH="1">
            <a:off x="9208423" y="5568696"/>
            <a:ext cx="1034935" cy="0"/>
          </a:xfrm>
          <a:prstGeom prst="line">
            <a:avLst/>
          </a:prstGeom>
          <a:ln w="12700">
            <a:solidFill>
              <a:srgbClr val="404040"/>
            </a:solidFill>
            <a:prstDash val="sysDash"/>
            <a:tailEnd type="triangle" w="sm" len="sm"/>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8957635" y="5394959"/>
            <a:ext cx="1536511"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12. feasible mem + transfer cost</a:t>
            </a:r>
          </a:p>
        </p:txBody>
      </p:sp>
      <p:cxnSp>
        <p:nvCxnSpPr>
          <p:cNvPr id="107" name="Connector 106"/>
          <p:cNvCxnSpPr/>
          <p:nvPr/>
        </p:nvCxnSpPr>
        <p:spPr>
          <a:xfrm>
            <a:off x="9208423" y="5879592"/>
            <a:ext cx="2069869"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793298" y="5705855"/>
            <a:ext cx="900118"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13. target resource</a:t>
            </a:r>
          </a:p>
        </p:txBody>
      </p:sp>
      <p:cxnSp>
        <p:nvCxnSpPr>
          <p:cNvPr id="109" name="Connector 108"/>
          <p:cNvCxnSpPr/>
          <p:nvPr/>
        </p:nvCxnSpPr>
        <p:spPr>
          <a:xfrm>
            <a:off x="7138554" y="6190488"/>
            <a:ext cx="4139738" cy="0"/>
          </a:xfrm>
          <a:prstGeom prst="line">
            <a:avLst/>
          </a:prstGeom>
          <a:ln w="1270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8518714" y="6016751"/>
            <a:ext cx="1379417" cy="123111"/>
          </a:xfrm>
          <a:prstGeom prst="rect">
            <a:avLst/>
          </a:prstGeom>
          <a:solidFill>
            <a:srgbClr val="FFFFFF"/>
          </a:solidFill>
        </p:spPr>
        <p:txBody>
          <a:bodyPr wrap="none" lIns="9144" tIns="0" rIns="9144" bIns="0">
            <a:spAutoFit/>
          </a:bodyPr>
          <a:lstStyle/>
          <a:p>
            <a:pPr algn="ctr"/>
            <a:r>
              <a:rPr sz="800" b="0">
                <a:solidFill>
                  <a:srgbClr val="404040"/>
                </a:solidFill>
                <a:latin typeface="맑은 고딕"/>
                <a:ea typeface="맑은 고딕"/>
              </a:rPr>
              <a:t>14. selected objects → Intent</a:t>
            </a:r>
          </a:p>
        </p:txBody>
      </p:sp>
      <p:sp>
        <p:nvSpPr>
          <p:cNvPr id="111" name="실행 단추: 뒤로 또는 이전 110">
            <a:hlinkClick r:id="rId3" action="ppaction://hlinksldjump" highlightClick="1"/>
          </p:cNvPr>
          <p:cNvSpPr/>
          <p:nvPr/>
        </p:nvSpPr>
        <p:spPr>
          <a:xfrm>
            <a:off x="7569724" y="180901"/>
            <a:ext cx="245746" cy="2721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3844606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ctr">
            <a:spAutoFit/>
          </a:bodyPr>
          <a:lstStyle/>
          <a:p>
            <a:pPr algn="l">
              <a:spcAft>
                <a:spcPts val="250"/>
              </a:spcAft>
            </a:pPr>
            <a:r>
              <a:rPr sz="2200" b="1" dirty="0">
                <a:solidFill>
                  <a:srgbClr val="2F5597"/>
                </a:solidFill>
                <a:latin typeface="맑은 고딕"/>
                <a:ea typeface="맑은 고딕"/>
              </a:rPr>
              <a:t>DP1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결과</a:t>
            </a:r>
            <a:r>
              <a:rPr sz="2200" b="1" dirty="0">
                <a:solidFill>
                  <a:srgbClr val="2F5597"/>
                </a:solidFill>
                <a:latin typeface="맑은 고딕"/>
                <a:ea typeface="맑은 고딕"/>
              </a:rPr>
              <a:t> — </a:t>
            </a:r>
            <a:r>
              <a:rPr sz="2200" b="1" dirty="0" err="1">
                <a:solidFill>
                  <a:srgbClr val="2F5597"/>
                </a:solidFill>
                <a:latin typeface="맑은 고딕"/>
                <a:ea typeface="맑은 고딕"/>
              </a:rPr>
              <a:t>공통</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r>
              <a:rPr sz="2200" b="1" dirty="0">
                <a:solidFill>
                  <a:srgbClr val="2F5597"/>
                </a:solidFill>
                <a:latin typeface="맑은 고딕"/>
                <a:ea typeface="맑은 고딕"/>
              </a:rPr>
              <a:t> v3 (H100 + B200 </a:t>
            </a:r>
            <a:r>
              <a:rPr sz="2200" b="1" dirty="0" err="1">
                <a:solidFill>
                  <a:srgbClr val="2F5597"/>
                </a:solidFill>
                <a:latin typeface="맑은 고딕"/>
                <a:ea typeface="맑은 고딕"/>
              </a:rPr>
              <a:t>통합</a:t>
            </a:r>
            <a:r>
              <a:rPr sz="2200" b="1" dirty="0">
                <a:solidFill>
                  <a:srgbClr val="2F5597"/>
                </a:solidFill>
                <a:latin typeface="맑은 고딕"/>
                <a:ea typeface="맑은 고딕"/>
              </a:rPr>
              <a:t>)</a:t>
            </a:r>
          </a:p>
        </p:txBody>
      </p:sp>
      <p:sp>
        <p:nvSpPr>
          <p:cNvPr id="3" name="subtitle"/>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50"/>
              </a:spcAft>
            </a:pPr>
            <a:r>
              <a:rPr sz="1100" b="0" dirty="0">
                <a:solidFill>
                  <a:srgbClr val="404040"/>
                </a:solidFill>
                <a:latin typeface="맑은 고딕"/>
                <a:ea typeface="맑은 고딕"/>
              </a:rPr>
              <a:t>C1 </a:t>
            </a:r>
            <a:r>
              <a:rPr sz="1100" b="0" dirty="0" err="1">
                <a:solidFill>
                  <a:srgbClr val="404040"/>
                </a:solidFill>
                <a:latin typeface="맑은 고딕"/>
                <a:ea typeface="맑은 고딕"/>
              </a:rPr>
              <a:t>자원</a:t>
            </a:r>
            <a:r>
              <a:rPr sz="1100" b="0" dirty="0">
                <a:solidFill>
                  <a:srgbClr val="404040"/>
                </a:solidFill>
                <a:latin typeface="맑은 고딕"/>
                <a:ea typeface="맑은 고딕"/>
              </a:rPr>
              <a:t> </a:t>
            </a:r>
            <a:r>
              <a:rPr sz="1100" b="0" dirty="0" err="1">
                <a:solidFill>
                  <a:srgbClr val="404040"/>
                </a:solidFill>
                <a:latin typeface="맑은 고딕"/>
                <a:ea typeface="맑은 고딕"/>
              </a:rPr>
              <a:t>상태</a:t>
            </a:r>
            <a:r>
              <a:rPr sz="1100" b="0" dirty="0">
                <a:solidFill>
                  <a:srgbClr val="404040"/>
                </a:solidFill>
                <a:latin typeface="맑은 고딕"/>
                <a:ea typeface="맑은 고딕"/>
              </a:rPr>
              <a:t> </a:t>
            </a:r>
            <a:r>
              <a:rPr sz="1100" b="0" dirty="0" err="1">
                <a:solidFill>
                  <a:srgbClr val="404040"/>
                </a:solidFill>
                <a:latin typeface="맑은 고딕"/>
                <a:ea typeface="맑은 고딕"/>
              </a:rPr>
              <a:t>기반</a:t>
            </a:r>
            <a:r>
              <a:rPr sz="1100" b="0" dirty="0">
                <a:solidFill>
                  <a:srgbClr val="404040"/>
                </a:solidFill>
                <a:latin typeface="맑은 고딕"/>
                <a:ea typeface="맑은 고딕"/>
              </a:rPr>
              <a:t>(+ Data-Memory Affinity) vs C2 AI Data </a:t>
            </a:r>
            <a:r>
              <a:rPr sz="1100" b="0" dirty="0" err="1">
                <a:solidFill>
                  <a:srgbClr val="404040"/>
                </a:solidFill>
                <a:latin typeface="맑은 고딕"/>
                <a:ea typeface="맑은 고딕"/>
              </a:rPr>
              <a:t>특성</a:t>
            </a:r>
            <a:r>
              <a:rPr sz="1100" b="0" dirty="0">
                <a:solidFill>
                  <a:srgbClr val="404040"/>
                </a:solidFill>
                <a:latin typeface="맑은 고딕"/>
                <a:ea typeface="맑은 고딕"/>
              </a:rPr>
              <a:t> </a:t>
            </a:r>
            <a:r>
              <a:rPr sz="1100" b="0" dirty="0" err="1">
                <a:solidFill>
                  <a:srgbClr val="404040"/>
                </a:solidFill>
                <a:latin typeface="맑은 고딕"/>
                <a:ea typeface="맑은 고딕"/>
              </a:rPr>
              <a:t>기반</a:t>
            </a:r>
            <a:r>
              <a:rPr sz="1100" b="0" dirty="0">
                <a:solidFill>
                  <a:srgbClr val="404040"/>
                </a:solidFill>
                <a:latin typeface="맑은 고딕"/>
                <a:ea typeface="맑은 고딕"/>
              </a:rPr>
              <a:t> · </a:t>
            </a:r>
            <a:r>
              <a:rPr sz="1100" b="0" dirty="0" err="1">
                <a:solidFill>
                  <a:srgbClr val="404040"/>
                </a:solidFill>
                <a:latin typeface="맑은 고딕"/>
                <a:ea typeface="맑은 고딕"/>
              </a:rPr>
              <a:t>괄호</a:t>
            </a:r>
            <a:r>
              <a:rPr sz="1100" b="0" dirty="0">
                <a:solidFill>
                  <a:srgbClr val="404040"/>
                </a:solidFill>
                <a:latin typeface="맑은 고딕"/>
                <a:ea typeface="맑은 고딕"/>
              </a:rPr>
              <a:t> =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 Baseline(</a:t>
            </a:r>
            <a:r>
              <a:rPr sz="1100" b="0" dirty="0" err="1">
                <a:solidFill>
                  <a:srgbClr val="404040"/>
                </a:solidFill>
                <a:latin typeface="맑은 고딕"/>
                <a:ea typeface="맑은 고딕"/>
              </a:rPr>
              <a:t>이동</a:t>
            </a:r>
            <a:r>
              <a:rPr sz="1100" b="0" dirty="0">
                <a:solidFill>
                  <a:srgbClr val="404040"/>
                </a:solidFill>
                <a:latin typeface="맑은 고딕"/>
                <a:ea typeface="맑은 고딕"/>
              </a:rPr>
              <a:t> </a:t>
            </a:r>
            <a:r>
              <a:rPr sz="1100" b="0" dirty="0" err="1">
                <a:solidFill>
                  <a:srgbClr val="404040"/>
                </a:solidFill>
                <a:latin typeface="맑은 고딕"/>
                <a:ea typeface="맑은 고딕"/>
              </a:rPr>
              <a:t>없는</a:t>
            </a:r>
            <a:r>
              <a:rPr sz="1100" b="0" dirty="0">
                <a:solidFill>
                  <a:srgbClr val="404040"/>
                </a:solidFill>
                <a:latin typeface="맑은 고딕"/>
                <a:ea typeface="맑은 고딕"/>
              </a:rPr>
              <a:t> </a:t>
            </a:r>
            <a:r>
              <a:rPr sz="1100" b="0" dirty="0" err="1">
                <a:solidFill>
                  <a:srgbClr val="404040"/>
                </a:solidFill>
                <a:latin typeface="맑은 고딕"/>
                <a:ea typeface="맑은 고딕"/>
              </a:rPr>
              <a:t>정적</a:t>
            </a:r>
            <a:r>
              <a:rPr sz="1100" b="0" dirty="0">
                <a:solidFill>
                  <a:srgbClr val="404040"/>
                </a:solidFill>
                <a:latin typeface="맑은 고딕"/>
                <a:ea typeface="맑은 고딕"/>
              </a:rPr>
              <a:t> </a:t>
            </a:r>
            <a:r>
              <a:rPr sz="1100" b="0" dirty="0" err="1">
                <a:solidFill>
                  <a:srgbClr val="404040"/>
                </a:solidFill>
                <a:latin typeface="맑은 고딕"/>
                <a:ea typeface="맑은 고딕"/>
              </a:rPr>
              <a:t>배치</a:t>
            </a:r>
            <a:r>
              <a:rPr sz="1100" b="0" dirty="0">
                <a:solidFill>
                  <a:srgbClr val="404040"/>
                </a:solidFill>
                <a:latin typeface="맑은 고딕"/>
                <a:ea typeface="맑은 고딕"/>
              </a:rPr>
              <a:t>) · </a:t>
            </a:r>
            <a:r>
              <a:rPr sz="1100" b="0" dirty="0" err="1">
                <a:solidFill>
                  <a:srgbClr val="404040"/>
                </a:solidFill>
                <a:latin typeface="맑은 고딕"/>
                <a:ea typeface="맑은 고딕"/>
              </a:rPr>
              <a:t>비교</a:t>
            </a:r>
            <a:r>
              <a:rPr sz="1100" b="0" dirty="0">
                <a:solidFill>
                  <a:srgbClr val="404040"/>
                </a:solidFill>
                <a:latin typeface="맑은 고딕"/>
                <a:ea typeface="맑은 고딕"/>
              </a:rPr>
              <a:t> </a:t>
            </a:r>
            <a:r>
              <a:rPr sz="1100" b="0" dirty="0" err="1">
                <a:solidFill>
                  <a:srgbClr val="404040"/>
                </a:solidFill>
                <a:latin typeface="맑은 고딕"/>
                <a:ea typeface="맑은 고딕"/>
              </a:rPr>
              <a:t>가능</a:t>
            </a:r>
            <a:r>
              <a:rPr sz="1100" b="0" dirty="0">
                <a:solidFill>
                  <a:srgbClr val="404040"/>
                </a:solidFill>
                <a:latin typeface="맑은 고딕"/>
                <a:ea typeface="맑은 고딕"/>
              </a:rPr>
              <a:t> 21쌍 </a:t>
            </a:r>
            <a:r>
              <a:rPr sz="1100" b="0" dirty="0" err="1">
                <a:solidFill>
                  <a:srgbClr val="404040"/>
                </a:solidFill>
                <a:latin typeface="맑은 고딕"/>
                <a:ea typeface="맑은 고딕"/>
              </a:rPr>
              <a:t>기하평균</a:t>
            </a:r>
            <a:r>
              <a:rPr sz="1100" b="0" dirty="0">
                <a:solidFill>
                  <a:srgbClr val="404040"/>
                </a:solidFill>
                <a:latin typeface="맑은 고딕"/>
                <a:ea typeface="맑은 고딕"/>
              </a:rPr>
              <a:t> · </a:t>
            </a:r>
            <a:r>
              <a:rPr sz="1100" b="0" dirty="0" err="1">
                <a:solidFill>
                  <a:srgbClr val="404040"/>
                </a:solidFill>
                <a:latin typeface="맑은 고딕"/>
                <a:ea typeface="맑은 고딕"/>
              </a:rPr>
              <a:t>시뮬레이션</a:t>
            </a:r>
            <a:r>
              <a:rPr sz="1100" b="0" dirty="0">
                <a:solidFill>
                  <a:srgbClr val="404040"/>
                </a:solidFill>
                <a:latin typeface="맑은 고딕"/>
                <a:ea typeface="맑은 고딕"/>
              </a:rPr>
              <a:t>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footnote"/>
          <p:cNvSpPr txBox="1"/>
          <p:nvPr/>
        </p:nvSpPr>
        <p:spPr>
          <a:xfrm>
            <a:off x="365760" y="6400800"/>
            <a:ext cx="11430000" cy="274320"/>
          </a:xfrm>
          <a:prstGeom prst="rect">
            <a:avLst/>
          </a:prstGeom>
          <a:noFill/>
        </p:spPr>
        <p:txBody>
          <a:bodyPr wrap="square" lIns="73152" tIns="36576" rIns="73152" bIns="36576" anchor="t">
            <a:spAutoFit/>
          </a:bodyPr>
          <a:lstStyle/>
          <a:p>
            <a:pPr algn="l">
              <a:spcAft>
                <a:spcPts val="250"/>
              </a:spcAft>
            </a:pPr>
            <a:r>
              <a:rPr sz="850" b="0">
                <a:solidFill>
                  <a:srgbClr val="404040"/>
                </a:solidFill>
                <a:latin typeface="맑은 고딕"/>
                <a:ea typeface="맑은 고딕"/>
              </a:rPr>
              <a:t>※ DP1은 Baseline 실측이 없어 모든 값이 [B+C]다. 근거: DP1/results/2026-10-02_dp1-qa-evaluation.md, 별은 tools/unified_stars.py(v3).</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267919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Baseline (정적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384048">
                <a:tc>
                  <a:txBody>
                    <a:bodyPr/>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436 (×1.298)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478 (×1.423)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1"/>
                  </a:ext>
                </a:extLst>
              </a:tr>
              <a:tr h="384048">
                <a:tc>
                  <a:txBody>
                    <a:bodyPr/>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2"/>
                  </a:ext>
                </a:extLst>
              </a:tr>
              <a:tr h="384048">
                <a:tc>
                  <a:txBody>
                    <a:bodyPr/>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18.3 (×1.07)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16.0 (×0.94)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3"/>
                  </a:ext>
                </a:extLst>
              </a:tr>
              <a:tr h="384048">
                <a:tc>
                  <a:txBody>
                    <a:bodyPr/>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(r=0.95,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(r=1.21,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4"/>
                  </a:ext>
                </a:extLst>
              </a:tr>
              <a:tr h="384048">
                <a:tc>
                  <a:txBody>
                    <a:bodyPr/>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HBM AI Data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146.6 GiB (용량의 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142.7 GiB (용량의 50%, 감소율 +2.6%)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178.0 GiB (용량의 62%, 감소율 -21.5%)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5"/>
                  </a:ext>
                </a:extLst>
              </a:tr>
              <a:tr h="384048">
                <a:tc>
                  <a:txBody>
                    <a:bodyPr/>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$0.39 / 0.38 / 1.75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$0.49 / 0.51 / 2.50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6"/>
                  </a:ext>
                </a:extLst>
              </a:tr>
              <a:tr h="384048">
                <a:tc>
                  <a:txBody>
                    <a:bodyPr/>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7" name="l"/>
          <p:cNvSpPr txBox="1"/>
          <p:nvPr/>
        </p:nvSpPr>
        <p:spPr>
          <a:xfrm>
            <a:off x="365760" y="4160520"/>
            <a:ext cx="5596128" cy="2240280"/>
          </a:xfrm>
          <a:prstGeom prst="rect">
            <a:avLst/>
          </a:prstGeom>
          <a:noFill/>
        </p:spPr>
        <p:txBody>
          <a:bodyPr wrap="square" lIns="73152" tIns="36576" rIns="73152"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9 대 9 동점 → QA 우선순위(QA1 &gt; QA2 &gt; QA3 &gt; QA4)에서 C2. C2는 처리량(×1.42)·지연(TTFT P99 ×0.72)이 좋고, C1은 HBM 점유와 변경 용이성이 낫다.</a:t>
            </a:r>
          </a:p>
          <a:p>
            <a:pPr algn="l">
              <a:spcAft>
                <a:spcPts val="250"/>
              </a:spcAft>
            </a:pPr>
            <a:r>
              <a:rPr sz="950" b="0">
                <a:solidFill>
                  <a:srgbClr val="000000"/>
                </a:solidFill>
                <a:latin typeface="맑은 고딕"/>
                <a:ea typeface="맑은 고딕"/>
              </a:rPr>
              <a:t>• C2는 데이터별 접근 패턴으로 hot 데이터를 미리 HBM에 올려 TTFT·처리량이 좋다. 대가로 HBM 점유가 62%(C1 50%)이고 이동량(1,339 대 138 GiB)·결정 연산이 크다(부록 해석 장).</a:t>
            </a:r>
          </a:p>
          <a:p>
            <a:pPr algn="l">
              <a:spcAft>
                <a:spcPts val="250"/>
              </a:spcAft>
            </a:pPr>
            <a:r>
              <a:rPr sz="950" b="0">
                <a:solidFill>
                  <a:srgbClr val="000000"/>
                </a:solidFill>
                <a:latin typeface="맑은 고딕"/>
                <a:ea typeface="맑은 고딕"/>
              </a:rPr>
              <a:t>• Affinity 없는 C1(1안)은 ×1.054, TTFT ×1.27, 합계 8로 보완 전 버전이다.</a:t>
            </a:r>
          </a:p>
        </p:txBody>
      </p:sp>
      <p:sp>
        <p:nvSpPr>
          <p:cNvPr id="8" name="r"/>
          <p:cNvSpPr txBox="1"/>
          <p:nvPr/>
        </p:nvSpPr>
        <p:spPr>
          <a:xfrm>
            <a:off x="6199632" y="4160520"/>
            <a:ext cx="5596128" cy="2240280"/>
          </a:xfrm>
          <a:prstGeom prst="rect">
            <a:avLst/>
          </a:prstGeom>
          <a:noFill/>
        </p:spPr>
        <p:txBody>
          <a:bodyPr wrap="square" lIns="73152" tIns="36576" rIns="73152"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QA1 C1 ×1.298은 ★★★ 경계 4/3(≈1.33) 아래 2.7%, C2 ×1.423은 위 6.7%다. 별 차이가 이 경계에 의존한다.</a:t>
            </a:r>
          </a:p>
          <a:p>
            <a:pPr algn="l">
              <a:spcAft>
                <a:spcPts val="250"/>
              </a:spcAft>
            </a:pPr>
            <a:r>
              <a:rPr sz="950" b="0">
                <a:solidFill>
                  <a:srgbClr val="000000"/>
                </a:solidFill>
                <a:latin typeface="맑은 고딕"/>
                <a:ea typeface="맑은 고딕"/>
              </a:rPr>
              <a:t>• QA2 C1은 TTFT P99가 Baseline보다 ×1.04 나쁘고(P50은 ×0.44로 좋음) r = 0.95라 ★★다.</a:t>
            </a:r>
          </a:p>
          <a:p>
            <a:pPr algn="l">
              <a:spcAft>
                <a:spcPts val="250"/>
              </a:spcAft>
            </a:pPr>
            <a:r>
              <a:rPr sz="950" b="0">
                <a:solidFill>
                  <a:srgbClr val="000000"/>
                </a:solidFill>
                <a:latin typeface="맑은 고딕"/>
                <a:ea typeface="맑은 고딕"/>
              </a:rPr>
              <a:t>• QA3는 HBM에 올라간 모든 AI Data(KV·LoRA·MoE·RAG 등)의 평균이다. 비교 가능 21쌍 중 Dynamic 시나리오가 이득을 끌어올리고, 공통 3개는 포화(×1.00)다.</a:t>
            </a:r>
          </a:p>
        </p:txBody>
      </p:sp>
      <p:sp>
        <p:nvSpPr>
          <p:cNvPr id="9" name="실행 단추: 뒤로 또는 앞으로 이동 8">
            <a:hlinkClick r:id="rId3" action="ppaction://hlinksldjump" highlightClick="1"/>
            <a:extLst>
              <a:ext uri="{FF2B5EF4-FFF2-40B4-BE49-F238E27FC236}">
                <a16:creationId xmlns:a16="http://schemas.microsoft.com/office/drawing/2014/main" id="{3F9BCC75-09A9-4B9C-AFAC-0C83C79D7339}"/>
              </a:ext>
            </a:extLst>
          </p:cNvPr>
          <p:cNvSpPr/>
          <p:nvPr/>
        </p:nvSpPr>
        <p:spPr>
          <a:xfrm>
            <a:off x="11387667" y="201168"/>
            <a:ext cx="287866" cy="32004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a:extLst>
              <a:ext uri="{FF2B5EF4-FFF2-40B4-BE49-F238E27FC236}">
                <a16:creationId xmlns:a16="http://schemas.microsoft.com/office/drawing/2014/main" id="{B319D6E5-10D5-446B-B7F5-D6A7888B790D}"/>
              </a:ext>
            </a:extLst>
          </p:cNvPr>
          <p:cNvSpPr txBox="1"/>
          <p:nvPr/>
        </p:nvSpPr>
        <p:spPr>
          <a:xfrm>
            <a:off x="8176592" y="190500"/>
            <a:ext cx="1733167" cy="369332"/>
          </a:xfrm>
          <a:prstGeom prst="rect">
            <a:avLst/>
          </a:prstGeom>
          <a:noFill/>
        </p:spPr>
        <p:txBody>
          <a:bodyPr wrap="none" rtlCol="0">
            <a:spAutoFit/>
          </a:bodyPr>
          <a:lstStyle/>
          <a:p>
            <a:r>
              <a:rPr lang="ko-KR" altLang="en-US" dirty="0"/>
              <a:t>평가 시나리오 </a:t>
            </a:r>
          </a:p>
        </p:txBody>
      </p:sp>
      <p:sp>
        <p:nvSpPr>
          <p:cNvPr id="12" name="실행 단추: 앞으로 또는 다음으로 이동 11">
            <a:hlinkClick r:id="rId4" action="ppaction://hlinksldjump" highlightClick="1"/>
            <a:extLst>
              <a:ext uri="{FF2B5EF4-FFF2-40B4-BE49-F238E27FC236}">
                <a16:creationId xmlns:a16="http://schemas.microsoft.com/office/drawing/2014/main" id="{AF445C1F-01D0-423D-82F3-A34CD65408F3}"/>
              </a:ext>
            </a:extLst>
          </p:cNvPr>
          <p:cNvSpPr/>
          <p:nvPr/>
        </p:nvSpPr>
        <p:spPr>
          <a:xfrm>
            <a:off x="9765826" y="225528"/>
            <a:ext cx="287866" cy="2916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9822542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DP2 평가 결과 — 공통 기준 v3 (노드 내 결정, H100 + B200 통합)</a:t>
            </a:r>
          </a:p>
        </p:txBody>
      </p:sp>
      <p:sp>
        <p:nvSpPr>
          <p:cNvPr id="3" name="subtitle"/>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1안 중앙 Dispatcher(스케줄링 시점) vs 2안 Blackboard · 한 노드 안의 결정 · 괄호 = 후보 ÷ Baseline ·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footnote"/>
          <p:cNvSpPr txBox="1"/>
          <p:nvPr/>
        </p:nvSpPr>
        <p:spPr>
          <a:xfrm>
            <a:off x="365760" y="6400800"/>
            <a:ext cx="11430000" cy="274320"/>
          </a:xfrm>
          <a:prstGeom prst="rect">
            <a:avLst/>
          </a:prstGeom>
          <a:noFill/>
        </p:spPr>
        <p:txBody>
          <a:bodyPr wrap="square" lIns="73152" tIns="36576" rIns="73152" bIns="36576" anchor="t">
            <a:spAutoFit/>
          </a:bodyPr>
          <a:lstStyle/>
          <a:p>
            <a:pPr algn="l">
              <a:spcAft>
                <a:spcPts val="250"/>
              </a:spcAft>
            </a:pPr>
            <a:r>
              <a:rPr sz="850" b="0">
                <a:solidFill>
                  <a:srgbClr val="404040"/>
                </a:solidFill>
                <a:latin typeface="맑은 고딕"/>
                <a:ea typeface="맑은 고딕"/>
              </a:rPr>
              <a:t>※ 선정 QA: QA1, QA2, QA3(HBM 점유), QA4(변경 용이성, 소유자 요청으로 추가). 근거: DP2/results/2026-10-10_dp2-arch-styles.md, 별은 tools/unified_stars.py(v3)</a:t>
            </a:r>
          </a:p>
        </p:txBody>
      </p:sp>
      <p:graphicFrame>
        <p:nvGraphicFramePr>
          <p:cNvPr id="6" name="tbl"/>
          <p:cNvGraphicFramePr>
            <a:graphicFrameLocks noGrp="1"/>
          </p:cNvGraphicFramePr>
          <p:nvPr/>
        </p:nvGraphicFramePr>
        <p:xfrm>
          <a:off x="365760" y="1188720"/>
          <a:ext cx="11457432" cy="289560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Baseline-GPU-local (vLLM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365760">
                <a:tc>
                  <a:txBody>
                    <a:bodyPr/>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1,155 (×1.07)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1,081 (×1.00)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1"/>
                  </a:ext>
                </a:extLst>
              </a:tr>
              <a:tr h="365760">
                <a:tc>
                  <a:txBody>
                    <a:bodyPr/>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1,995 (×0.57)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4,053 (×1.15)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2"/>
                  </a:ext>
                </a:extLst>
              </a:tr>
              <a:tr h="365760">
                <a:tc>
                  <a:txBody>
                    <a:bodyPr/>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14.5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19.5 (×1.34)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15.1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3"/>
                  </a:ext>
                </a:extLst>
              </a:tr>
              <a:tr h="365760">
                <a:tc>
                  <a:txBody>
                    <a:bodyPr/>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(r=1.15, SLO 충족)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(r=0.91, TTFT &gt; 2 s → ★)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4"/>
                  </a:ext>
                </a:extLst>
              </a:tr>
              <a:tr h="365760">
                <a:tc>
                  <a:txBody>
                    <a:bodyPr/>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HBM KV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605 GiB (용량의 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586 GiB (용량의 29%, 감소율 +6.0%, 20쌍)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692 GiB (용량의 36%, 감소율 -5.0%, 14쌍)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5"/>
                  </a:ext>
                </a:extLst>
              </a:tr>
              <a:tr h="365760">
                <a:tc>
                  <a:txBody>
                    <a:bodyPr/>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$0.39 / 0.31 / 1.75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$0.32 / 0.22 / 1.25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6"/>
                  </a:ext>
                </a:extLst>
              </a:tr>
              <a:tr h="365760">
                <a:tc>
                  <a:txBody>
                    <a:bodyPr/>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7" name="l"/>
          <p:cNvSpPr txBox="1"/>
          <p:nvPr/>
        </p:nvSpPr>
        <p:spPr>
          <a:xfrm>
            <a:off x="365760" y="4297680"/>
            <a:ext cx="5596128" cy="2103120"/>
          </a:xfrm>
          <a:prstGeom prst="rect">
            <a:avLst/>
          </a:prstGeom>
          <a:noFill/>
        </p:spPr>
        <p:txBody>
          <a:bodyPr wrap="square" lIns="73152" tIns="36576" rIns="73152" bIns="36576" anchor="t">
            <a:spAutoFit/>
          </a:bodyPr>
          <a:lstStyle/>
          <a:p>
            <a:pPr algn="l">
              <a:spcAft>
                <a:spcPts val="250"/>
              </a:spcAft>
            </a:pPr>
            <a:r>
              <a:rPr sz="1000" b="1">
                <a:solidFill>
                  <a:srgbClr val="2F5597"/>
                </a:solidFill>
                <a:latin typeface="맑은 고딕"/>
                <a:ea typeface="맑은 고딕"/>
              </a:rPr>
              <a:t>두 구조의 차이</a:t>
            </a:r>
          </a:p>
          <a:p>
            <a:pPr algn="l">
              <a:spcAft>
                <a:spcPts val="250"/>
              </a:spcAft>
            </a:pPr>
            <a:r>
              <a:rPr sz="900" b="0">
                <a:solidFill>
                  <a:srgbClr val="000000"/>
                </a:solidFill>
                <a:latin typeface="맑은 고딕"/>
                <a:ea typeface="맑은 고딕"/>
              </a:rPr>
              <a:t>• 1안(스케줄링 시점 결정): 노드 상태(telemetry)와 Cost 모델로 Turn 시작 때 실행 위치를 정한다. HBM 기회비용 항을 포함해 HBM을 덜 쓰고(감소율 6%) TTFT P99를 줄이며(×0.57) 처리량이 오른다(×1.07).</a:t>
            </a:r>
          </a:p>
          <a:p>
            <a:pPr algn="l">
              <a:spcAft>
                <a:spcPts val="250"/>
              </a:spcAft>
            </a:pPr>
            <a:r>
              <a:rPr sz="900" b="0">
                <a:solidFill>
                  <a:srgbClr val="000000"/>
                </a:solidFill>
                <a:latin typeface="맑은 고딕"/>
                <a:ea typeface="맑은 고딕"/>
              </a:rPr>
              <a:t>• 대가: TPOT P99가 ×1.34 나빠진다(snapshot 주기 50 ms 사이에 쌓인 부하를 Cost 모델이 못 봄). Cost 추정 오차 σ ≥ 0.4에서는 Baseline 아래로 내려간다.</a:t>
            </a:r>
          </a:p>
          <a:p>
            <a:pPr algn="l">
              <a:spcAft>
                <a:spcPts val="250"/>
              </a:spcAft>
            </a:pPr>
            <a:r>
              <a:rPr sz="900" b="0">
                <a:solidFill>
                  <a:srgbClr val="000000"/>
                </a:solidFill>
                <a:latin typeface="맑은 고딕"/>
                <a:ea typeface="맑은 고딕"/>
              </a:rPr>
              <a:t>• 2안(Blackboard): 공유 Task Board에 게시하고 Tier agent가 라이브 측정으로 claim. 신호가 없으면 Baseline과 같은 결정을 하고(×1.00), HBM 압박 시 admission이 요청을 큐에 잡아 TTFT 꼬리가 길어진다(×1.15).</a:t>
            </a:r>
          </a:p>
          <a:p>
            <a:pPr algn="l">
              <a:spcAft>
                <a:spcPts val="250"/>
              </a:spcAft>
            </a:pPr>
            <a:r>
              <a:rPr sz="900" b="0">
                <a:solidFill>
                  <a:srgbClr val="000000"/>
                </a:solidFill>
                <a:latin typeface="맑은 고딕"/>
                <a:ea typeface="맑은 고딕"/>
              </a:rPr>
              <a:t>• QA1·QA3·QA4는 두 후보가 같은 별이다(QA4 두 후보 ★★★: 2안이 module 1.25 대 1.75, 비용 $0.32 대 $0.39로 더 작다). 후보를 가르는 것은 QA2(1안 ★★, 2안 ★)로 합계 9 대 8이다.</a:t>
            </a:r>
          </a:p>
        </p:txBody>
      </p:sp>
      <p:sp>
        <p:nvSpPr>
          <p:cNvPr id="8" name="r"/>
          <p:cNvSpPr txBox="1"/>
          <p:nvPr/>
        </p:nvSpPr>
        <p:spPr>
          <a:xfrm>
            <a:off x="6199632" y="4297680"/>
            <a:ext cx="5596128" cy="2103120"/>
          </a:xfrm>
          <a:prstGeom prst="rect">
            <a:avLst/>
          </a:prstGeom>
          <a:noFill/>
        </p:spPr>
        <p:txBody>
          <a:bodyPr wrap="square" lIns="73152" tIns="36576" rIns="73152"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1안 TTFT P99 1,995 ms는 SLO 2 s를 5 ms 아래다. 경계 바로 아래라 별이 한 번에 두 단계 바뀌는 구간이다(2 s를 넘으면 ★).</a:t>
            </a:r>
          </a:p>
          <a:p>
            <a:pPr algn="l">
              <a:spcAft>
                <a:spcPts val="250"/>
              </a:spcAft>
            </a:pPr>
            <a:r>
              <a:rPr sz="900" b="0">
                <a:solidFill>
                  <a:srgbClr val="000000"/>
                </a:solidFill>
                <a:latin typeface="맑은 고딕"/>
                <a:ea typeface="맑은 고딕"/>
              </a:rPr>
              <a:t>• trade-off는 별에서는 QA2 하나로만 나뉜다: 1안은 TTFT·HBM·처리량을 얻고 TPOT 꼬리(×1.34 대 ×1.05)를 내며, 2안은 변경이 더 쉽다(별은 같음).</a:t>
            </a:r>
          </a:p>
          <a:p>
            <a:pPr algn="l">
              <a:spcAft>
                <a:spcPts val="250"/>
              </a:spcAft>
            </a:pPr>
            <a:r>
              <a:rPr sz="900" b="0">
                <a:solidFill>
                  <a:srgbClr val="000000"/>
                </a:solidFill>
                <a:latin typeface="맑은 고딕"/>
                <a:ea typeface="맑은 고딕"/>
              </a:rPr>
              <a:t>• QA3는 SLO 달성률이 Baseline − 1pp 이상인 쌍만 쓴다(1안 20쌍, 2안 14쌍). 별 집계 비교 가능 21쌍, saturated 11쌍.</a:t>
            </a:r>
          </a:p>
          <a:p>
            <a:pPr algn="l">
              <a:spcAft>
                <a:spcPts val="250"/>
              </a:spcAft>
            </a:pPr>
            <a:r>
              <a:rPr sz="900" b="0">
                <a:solidFill>
                  <a:srgbClr val="000000"/>
                </a:solidFill>
                <a:latin typeface="맑은 고딕"/>
                <a:ea typeface="맑은 고딕"/>
              </a:rPr>
              <a:t>• Cost 추정 오차 σ = 0, telemetry 50 ms, 결정 지연·게시 지연(0.5 ms)은 ASSUMED. KV 외 AI Data(LoRA·MoE)는 고정 배치다.</a:t>
            </a:r>
          </a:p>
        </p:txBody>
      </p:sp>
      <p:sp>
        <p:nvSpPr>
          <p:cNvPr id="9" name="실행 단추: 뒤로 또는 앞으로 이동 8">
            <a:hlinkClick r:id="rId3" action="ppaction://hlinksldjump" highlightClick="1"/>
            <a:extLst>
              <a:ext uri="{FF2B5EF4-FFF2-40B4-BE49-F238E27FC236}">
                <a16:creationId xmlns:a16="http://schemas.microsoft.com/office/drawing/2014/main" id="{3F9BCC75-09A9-4B9C-AFAC-0C83C79D7339}"/>
              </a:ext>
            </a:extLst>
          </p:cNvPr>
          <p:cNvSpPr/>
          <p:nvPr/>
        </p:nvSpPr>
        <p:spPr>
          <a:xfrm>
            <a:off x="11387667" y="201168"/>
            <a:ext cx="287866" cy="32004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9701376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DP3 평가 결과 — 시뮬레이션 [B+C] (H100 + B200 통합)</a:t>
            </a:r>
          </a:p>
        </p:txBody>
      </p:sp>
      <p:sp>
        <p:nvSpPr>
          <p:cNvPr id="3" name="subtitle"/>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C1 Offline(Query-agnostic) vs C2 Online(Query-aware) · 괄호 = 후보 ÷ Baseline(As-Is, 전체 KV 재사용) · 비교 가능 32쌍 기하평균 · 사전 등록 후 실행</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footnote"/>
          <p:cNvSpPr txBox="1"/>
          <p:nvPr/>
        </p:nvSpPr>
        <p:spPr>
          <a:xfrm>
            <a:off x="365760" y="6400800"/>
            <a:ext cx="11430000" cy="274320"/>
          </a:xfrm>
          <a:prstGeom prst="rect">
            <a:avLst/>
          </a:prstGeom>
          <a:noFill/>
        </p:spPr>
        <p:txBody>
          <a:bodyPr wrap="square" lIns="73152" tIns="36576" rIns="73152" bIns="36576" anchor="t">
            <a:spAutoFit/>
          </a:bodyPr>
          <a:lstStyle/>
          <a:p>
            <a:pPr algn="l">
              <a:spcAft>
                <a:spcPts val="250"/>
              </a:spcAft>
            </a:pPr>
            <a:r>
              <a:rPr sz="850" b="0">
                <a:solidFill>
                  <a:srgbClr val="404040"/>
                </a:solidFill>
                <a:latin typeface="맑은 고딕"/>
                <a:ea typeface="맑은 고딕"/>
              </a:rPr>
              <a:t>※ 정확도는 시뮬레이터 밖이다: 소형 모델 eviction 실측(93개) + 매핑 [A 소형 + C]. 근거: DP3/results/2026-10-11_dp3-qa-evaluation.md · DP3/simulation-plan.md(r=0.30, rho=0.15 사전 등록)</a:t>
            </a:r>
          </a:p>
        </p:txBody>
      </p:sp>
      <p:graphicFrame>
        <p:nvGraphicFramePr>
          <p:cNvPr id="6" name="tbl"/>
          <p:cNvGraphicFramePr>
            <a:graphicFrameLocks noGrp="1"/>
          </p:cNvGraphicFramePr>
          <p:nvPr/>
        </p:nvGraphicFramePr>
        <p:xfrm>
          <a:off x="365760" y="1188720"/>
          <a:ext cx="11457432" cy="2679192"/>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Baseline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338328">
                <a:tc>
                  <a:txBody>
                    <a:bodyPr/>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1,357 (×1.51)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885 (×0.99)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1"/>
                  </a:ext>
                </a:extLst>
              </a:tr>
              <a:tr h="338328">
                <a:tc>
                  <a:txBody>
                    <a:bodyPr/>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268 (×0.47)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693 (×1.21)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2"/>
                  </a:ext>
                </a:extLst>
              </a:tr>
              <a:tr h="338328">
                <a:tc>
                  <a:txBody>
                    <a:bodyPr/>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8.1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8.4 (×1.02)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8.7 (×1.06)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3"/>
                  </a:ext>
                </a:extLst>
              </a:tr>
              <a:tr h="338328">
                <a:tc>
                  <a:txBody>
                    <a:bodyPr/>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(r=1.44,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(r=0.88,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4"/>
                  </a:ext>
                </a:extLst>
              </a:tr>
              <a:tr h="338328">
                <a:tc>
                  <a:txBody>
                    <a:bodyPr/>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HBM KV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107.1 GiB (용량의 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30.3 GiB (용량의 6%, 감소율 +71.7%)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85.1 GiB (용량의 16%, 감소율 +20.6%)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5"/>
                  </a:ext>
                </a:extLst>
              </a:tr>
              <a:tr h="338328">
                <a:tc>
                  <a:txBody>
                    <a:bodyPr/>
                    <a:lstStyle/>
                    <a:p>
                      <a:pPr algn="l"/>
                      <a:r>
                        <a:rPr sz="95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F1 상대 하락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0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F1 하락 17.0%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F1 하락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6"/>
                  </a:ext>
                </a:extLst>
              </a:tr>
              <a:tr h="338328">
                <a:tc>
                  <a:txBody>
                    <a:bodyPr/>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QA1 + QA2 + QA3 + 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7" name="l"/>
          <p:cNvSpPr txBox="1"/>
          <p:nvPr/>
        </p:nvSpPr>
        <p:spPr>
          <a:xfrm>
            <a:off x="365760" y="4114800"/>
            <a:ext cx="5596128" cy="2286000"/>
          </a:xfrm>
          <a:prstGeom prst="rect">
            <a:avLst/>
          </a:prstGeom>
          <a:noFill/>
        </p:spPr>
        <p:txBody>
          <a:bodyPr wrap="square" lIns="73152" tIns="36576" rIns="73152" bIns="36576" anchor="t">
            <a:spAutoFit/>
          </a:bodyPr>
          <a:lstStyle/>
          <a:p>
            <a:pPr algn="l">
              <a:spcAft>
                <a:spcPts val="250"/>
              </a:spcAft>
            </a:pPr>
            <a:r>
              <a:rPr sz="100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C1은 HBM을 C2보다 훨씬 적게 쓴다: 압축한 Comp.KV(유지 비율 r = 0.30)만 상주시켜 Baseline의 28%, C2는 80%다. TTFT도 줄인다(28/32쌍).</a:t>
            </a:r>
          </a:p>
          <a:p>
            <a:pPr algn="l">
              <a:spcAft>
                <a:spcPts val="250"/>
              </a:spcAft>
            </a:pPr>
            <a:r>
              <a:rPr sz="900" b="0">
                <a:solidFill>
                  <a:srgbClr val="000000"/>
                </a:solidFill>
                <a:latin typeface="맑은 고딕"/>
                <a:ea typeface="맑은 고딕"/>
              </a:rPr>
              <a:t>• C2는 전체 KV를 적재해 상주 객체가 줄지 않고, 점수 계산 뒤 요청의 작업 사본만 줄어든다(HBM 감소율 21%). TTFT는 Baseline보다 나쁘다(32쌍 중 2쌍만 이김).</a:t>
            </a:r>
          </a:p>
          <a:p>
            <a:pPr algn="l">
              <a:spcAft>
                <a:spcPts val="250"/>
              </a:spcAft>
            </a:pPr>
            <a:r>
              <a:rPr sz="900" b="0">
                <a:solidFill>
                  <a:srgbClr val="000000"/>
                </a:solidFill>
                <a:latin typeface="맑은 고딕"/>
                <a:ea typeface="맑은 고딕"/>
              </a:rPr>
              <a:t>• 처리량(QA1)도 C1이 낫다(×1.51 대 ×0.99): 압축으로 요청당 적재·attention이 줄어 SLO를 지키는 도착률이 올라간다. 일부 쌍(CB-3 등)은 도착률이 포화에 못 닿아 ×1.00이다.</a:t>
            </a:r>
          </a:p>
          <a:p>
            <a:pPr algn="l">
              <a:spcAft>
                <a:spcPts val="250"/>
              </a:spcAft>
            </a:pPr>
            <a:r>
              <a:rPr sz="900" b="0">
                <a:solidFill>
                  <a:srgbClr val="000000"/>
                </a:solidFill>
                <a:latin typeface="맑은 고딕"/>
                <a:ea typeface="맑은 고딕"/>
              </a:rPr>
              <a:t>• 정확도는 반대로 C2가 낫다: C2(실제 질의로 점수) F1이 full과 구분되지 않고, C1(대표 질의)은 질의가 멀수록 크게 떨어진다. 이것이 DP3의 trade-off다.</a:t>
            </a:r>
          </a:p>
          <a:p>
            <a:pPr algn="l">
              <a:spcAft>
                <a:spcPts val="250"/>
              </a:spcAft>
            </a:pPr>
            <a:r>
              <a:rPr sz="900" b="0">
                <a:solidFill>
                  <a:srgbClr val="000000"/>
                </a:solidFill>
                <a:latin typeface="맑은 고딕"/>
                <a:ea typeface="맑은 고딕"/>
              </a:rPr>
              <a:t>• Baseline이 못 끝내는 시나리오(ST-11, DY-03 H100)에서 C1은 끝낸다.</a:t>
            </a:r>
          </a:p>
        </p:txBody>
      </p:sp>
      <p:sp>
        <p:nvSpPr>
          <p:cNvPr id="8" name="r"/>
          <p:cNvSpPr txBox="1"/>
          <p:nvPr/>
        </p:nvSpPr>
        <p:spPr>
          <a:xfrm>
            <a:off x="6199632" y="4114800"/>
            <a:ext cx="5596128" cy="2286000"/>
          </a:xfrm>
          <a:prstGeom prst="rect">
            <a:avLst/>
          </a:prstGeom>
          <a:noFill/>
        </p:spPr>
        <p:txBody>
          <a:bodyPr wrap="square" lIns="73152" tIns="36576" rIns="73152"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HBF처럼 GPU가 직접 읽는 tier(ST-06)에서는 Baseline이 적재 비용 없이 서빙해 C1·C2 모두 TTFT가 ×0.09~0.14로 진다. 선택 재계산이 원인이다.</a:t>
            </a:r>
          </a:p>
          <a:p>
            <a:pPr algn="l">
              <a:spcAft>
                <a:spcPts val="250"/>
              </a:spcAft>
            </a:pPr>
            <a:r>
              <a:rPr sz="900" b="0">
                <a:solidFill>
                  <a:srgbClr val="000000"/>
                </a:solidFill>
                <a:latin typeface="맑은 고딕"/>
                <a:ea typeface="맑은 고딕"/>
              </a:rPr>
              <a:t>• 결과는 유지 비율 r = 0.30 가정에 의존한다. r = 0.5이면 H100에서 C1 TTFT 이득이 사라진다(×0.60).</a:t>
            </a:r>
          </a:p>
          <a:p>
            <a:pPr algn="l">
              <a:spcAft>
                <a:spcPts val="250"/>
              </a:spcAft>
            </a:pPr>
            <a:r>
              <a:rPr sz="900" b="0">
                <a:solidFill>
                  <a:srgbClr val="000000"/>
                </a:solidFill>
                <a:latin typeface="맑은 고딕"/>
                <a:ea typeface="맑은 고딕"/>
              </a:rPr>
              <a:t>• C1 사전 압축 비용·저장 공간은 모델링하지 않았다(C1에 유리). C2의 선택 복사 비용도 0으로 뒀다(C2에 유리).</a:t>
            </a:r>
          </a:p>
          <a:p>
            <a:pPr algn="l">
              <a:spcAft>
                <a:spcPts val="250"/>
              </a:spcAft>
            </a:pPr>
            <a:r>
              <a:rPr sz="900" b="0">
                <a:solidFill>
                  <a:srgbClr val="000000"/>
                </a:solidFill>
                <a:latin typeface="맑은 고딕"/>
                <a:ea typeface="맑은 고딕"/>
              </a:rPr>
              <a:t>• QA5는 소형 모델(1.5B)·1.4K token·재계산 없음이라 가정 의존이다. 신뢰구간이 넓다(C1 ±9.5%p).</a:t>
            </a:r>
          </a:p>
        </p:txBody>
      </p:sp>
    </p:spTree>
    <p:extLst>
      <p:ext uri="{BB962C8B-B14F-4D97-AF65-F5344CB8AC3E}">
        <p14:creationId xmlns:p14="http://schemas.microsoft.com/office/powerpoint/2010/main" val="53796370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DP4 평가 결과 — 공통 기준 v3 (2노드 × 8 GPU 실측 Baseline + 시뮬레이터)</a:t>
            </a:r>
          </a:p>
        </p:txBody>
      </p:sp>
      <p:sp>
        <p:nvSpPr>
          <p:cNvPr id="3" name="subtitle"/>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후보 1 OSS 확장 vs 후보 2 자체 구현 · 괄호 = 후보 ÷ Baseline · QA1·QA2·QA6 [A+C], QA4 [C]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footnote"/>
          <p:cNvSpPr txBox="1"/>
          <p:nvPr/>
        </p:nvSpPr>
        <p:spPr>
          <a:xfrm>
            <a:off x="365760" y="6400800"/>
            <a:ext cx="11430000" cy="274320"/>
          </a:xfrm>
          <a:prstGeom prst="rect">
            <a:avLst/>
          </a:prstGeom>
          <a:noFill/>
        </p:spPr>
        <p:txBody>
          <a:bodyPr wrap="square" lIns="73152" tIns="36576" rIns="73152" bIns="36576" anchor="t">
            <a:spAutoFit/>
          </a:bodyPr>
          <a:lstStyle/>
          <a:p>
            <a:pPr algn="l">
              <a:spcAft>
                <a:spcPts val="250"/>
              </a:spcAft>
            </a:pPr>
            <a:r>
              <a:rPr sz="850" b="0">
                <a:solidFill>
                  <a:srgbClr val="404040"/>
                </a:solidFill>
                <a:latin typeface="맑은 고딕"/>
                <a:ea typeface="맑은 고딕"/>
              </a:rPr>
              <a:t>※ 근거: PPT DP4 26~31장. QA4 값은 변경 시나리오 6개의 단순 평균(DP4 가중 S2~S4 ×2를 쓰면 후보2 module 1.9, 후보2 QA4 ★★★).</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Baseline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후보 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a:lstStyle/>
                    <a:p>
                      <a:pPr algn="ctr"/>
                      <a:r>
                        <a:rPr sz="950" b="1">
                          <a:solidFill>
                            <a:srgbClr val="FFFFFF"/>
                          </a:solidFill>
                          <a:latin typeface="맑은 고딕"/>
                          <a:ea typeface="맑은 고딕"/>
                        </a:rPr>
                        <a:t>후보 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extLst>
                  <a:ext uri="{0D108BD9-81ED-4DB2-BD59-A6C34878D82A}">
                    <a16:rowId xmlns:a16="http://schemas.microsoft.com/office/drawing/2014/main" val="10000"/>
                  </a:ext>
                </a:extLst>
              </a:tr>
              <a:tr h="365760">
                <a:tc>
                  <a:txBody>
                    <a:bodyPr/>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3,360 (×1.05)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3,340 (×1.04)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1"/>
                  </a:ext>
                </a:extLst>
              </a:tr>
              <a:tr h="365760">
                <a:tc>
                  <a:txBody>
                    <a:bodyPr/>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2,060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1,940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2"/>
                  </a:ext>
                </a:extLst>
              </a:tr>
              <a:tr h="365760">
                <a:tc>
                  <a:txBody>
                    <a:bodyPr/>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53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3"/>
                  </a:ext>
                </a:extLst>
              </a:tr>
              <a:tr h="365760">
                <a:tc>
                  <a:txBody>
                    <a:bodyPr/>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(r=1.11, TTFT &gt; 2 s → ★)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(r=1.14, SLO 충족)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4"/>
                  </a:ext>
                </a:extLst>
              </a:tr>
              <a:tr h="365760">
                <a:tc>
                  <a:txBody>
                    <a:bodyPr/>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$1.02 / 0.16 / 2.7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$0.48 / 0.15 / 2.3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5"/>
                  </a:ext>
                </a:extLst>
              </a:tr>
              <a:tr h="365760">
                <a:tc>
                  <a:txBody>
                    <a:bodyPr/>
                    <a:lstStyle/>
                    <a:p>
                      <a:pPr algn="l"/>
                      <a:r>
                        <a:rPr sz="95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SE(N=16) (%) ↑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93%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  64%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6"/>
                  </a:ext>
                </a:extLst>
              </a:tr>
              <a:tr h="365760">
                <a:tc>
                  <a:txBody>
                    <a:bodyPr/>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l"/>
                      <a:r>
                        <a:rPr sz="950" b="0">
                          <a:solidFill>
                            <a:srgbClr val="000000"/>
                          </a:solidFill>
                          <a:latin typeface="맑은 고딕"/>
                          <a:ea typeface="맑은 고딕"/>
                        </a:rPr>
                        <a:t>QA1 + QA2 + QA4 + 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a:lstStyle/>
                    <a:p>
                      <a:pPr algn="ctr"/>
                      <a:r>
                        <a:rPr sz="95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7" name="l"/>
          <p:cNvSpPr txBox="1"/>
          <p:nvPr/>
        </p:nvSpPr>
        <p:spPr>
          <a:xfrm>
            <a:off x="365760" y="4160520"/>
            <a:ext cx="5596128" cy="2240280"/>
          </a:xfrm>
          <a:prstGeom prst="rect">
            <a:avLst/>
          </a:prstGeom>
          <a:noFill/>
        </p:spPr>
        <p:txBody>
          <a:bodyPr wrap="square" lIns="73152" tIns="36576" rIns="73152"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8 대 7 → 후보 1. 후보 2는 결정 hop이 없어 TTFT가 낮고(1,940 ms) 변경 비용이 작지만, 레플리카가 상태를 공유하지 않아 서버 16대에서 SE가 64%로 떨어진다.</a:t>
            </a:r>
          </a:p>
          <a:p>
            <a:pPr algn="l">
              <a:spcAft>
                <a:spcPts val="250"/>
              </a:spcAft>
            </a:pPr>
            <a:r>
              <a:rPr sz="950" b="0">
                <a:solidFill>
                  <a:srgbClr val="000000"/>
                </a:solidFill>
                <a:latin typeface="맑은 고딕"/>
                <a:ea typeface="맑은 고딕"/>
              </a:rPr>
              <a:t>• 후보 1은 OSS 확장이라 확장성이 좋고(SE 93%) 설정·plugin으로 처리되는 변경(S1·S5·S6)이 싸다. 대가로 P/D 경로 hop 때문에 TTFT가 약 120 ms 높다(가설).</a:t>
            </a:r>
          </a:p>
          <a:p>
            <a:pPr algn="l">
              <a:spcAft>
                <a:spcPts val="250"/>
              </a:spcAft>
            </a:pPr>
            <a:r>
              <a:rPr sz="950" b="0">
                <a:solidFill>
                  <a:srgbClr val="000000"/>
                </a:solidFill>
                <a:latin typeface="맑은 고딕"/>
                <a:ea typeface="맑은 고딕"/>
              </a:rPr>
              <a:t>• QA1은 정책이 prefix 재사용을 통제한 공통 부하에서 이득이 작아(×1.04~1.05) 두 후보 모두 ★★다.</a:t>
            </a:r>
          </a:p>
        </p:txBody>
      </p:sp>
      <p:sp>
        <p:nvSpPr>
          <p:cNvPr id="8" name="r"/>
          <p:cNvSpPr txBox="1"/>
          <p:nvPr/>
        </p:nvSpPr>
        <p:spPr>
          <a:xfrm>
            <a:off x="6199632" y="4160520"/>
            <a:ext cx="5596128" cy="2240280"/>
          </a:xfrm>
          <a:prstGeom prst="rect">
            <a:avLst/>
          </a:prstGeom>
          <a:noFill/>
        </p:spPr>
        <p:txBody>
          <a:bodyPr wrap="square" lIns="73152" tIns="36576" rIns="73152"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후보 1 TTFT P99 2,060 ms는 2 s를 3% 넘어 개선 r = 1.11인데도 QA2 ★로 강등된다(별 두 단계 차이).</a:t>
            </a:r>
          </a:p>
          <a:p>
            <a:pPr algn="l">
              <a:spcAft>
                <a:spcPts val="250"/>
              </a:spcAft>
            </a:pPr>
            <a:r>
              <a:rPr sz="950" b="0">
                <a:solidFill>
                  <a:srgbClr val="000000"/>
                </a:solidFill>
                <a:latin typeface="맑은 고딕"/>
                <a:ea typeface="맑은 고딕"/>
              </a:rPr>
              <a:t>• 후보 2 QA4는 module 2.30이 ★★★ 경계 2를 넘어 ★★이다(비용·공수는 ★★★). DP4 시나리오 가중을 쓰면 ★★★이 되어 합계 8 대 8, QA2에서 후보 2가 앞선다.</a:t>
            </a:r>
          </a:p>
          <a:p>
            <a:pPr algn="l">
              <a:spcAft>
                <a:spcPts val="250"/>
              </a:spcAft>
            </a:pPr>
            <a:r>
              <a:rPr sz="950" b="0">
                <a:solidFill>
                  <a:srgbClr val="000000"/>
                </a:solidFill>
                <a:latin typeface="맑은 고딕"/>
                <a:ea typeface="맑은 고딕"/>
              </a:rPr>
              <a:t>• N &gt; 2 서버 확장과 후보 2는 실측이 아니라 모델이다. 후보 2의 ★(SE)은 샤딩 보완 전 기준이다.</a:t>
            </a:r>
          </a:p>
        </p:txBody>
      </p:sp>
    </p:spTree>
    <p:extLst>
      <p:ext uri="{BB962C8B-B14F-4D97-AF65-F5344CB8AC3E}">
        <p14:creationId xmlns:p14="http://schemas.microsoft.com/office/powerpoint/2010/main" val="2100274674"/>
      </p:ext>
    </p:extLst>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937875-1709-4628-8CA5-A052EFC159E0}"/>
              </a:ext>
            </a:extLst>
          </p:cNvPr>
          <p:cNvSpPr>
            <a:spLocks noGrp="1"/>
          </p:cNvSpPr>
          <p:nvPr>
            <p:ph type="title"/>
          </p:nvPr>
        </p:nvSpPr>
        <p:spPr/>
        <p:txBody>
          <a:bodyPr/>
          <a:lstStyle/>
          <a:p>
            <a:r>
              <a:rPr lang="ko-KR" altLang="en-US" b="1" i="0" dirty="0">
                <a:solidFill>
                  <a:srgbClr val="202020"/>
                </a:solidFill>
                <a:effectLst/>
                <a:latin typeface="-apple-system"/>
              </a:rPr>
              <a:t> </a:t>
            </a:r>
            <a:r>
              <a:rPr lang="en-US" altLang="ko-KR" b="1" i="0" dirty="0">
                <a:solidFill>
                  <a:srgbClr val="202020"/>
                </a:solidFill>
                <a:effectLst/>
                <a:latin typeface="-apple-system"/>
              </a:rPr>
              <a:t>C1 — </a:t>
            </a:r>
            <a:r>
              <a:rPr lang="ko-KR" altLang="en-US" b="1" i="0" dirty="0">
                <a:solidFill>
                  <a:srgbClr val="202020"/>
                </a:solidFill>
                <a:effectLst/>
                <a:latin typeface="-apple-system"/>
              </a:rPr>
              <a:t>스케줄링 시점 결정</a:t>
            </a:r>
            <a:endParaRPr lang="ko-KR" altLang="en-US" dirty="0"/>
          </a:p>
        </p:txBody>
      </p:sp>
      <p:pic>
        <p:nvPicPr>
          <p:cNvPr id="8" name="그림 7">
            <a:extLst>
              <a:ext uri="{FF2B5EF4-FFF2-40B4-BE49-F238E27FC236}">
                <a16:creationId xmlns:a16="http://schemas.microsoft.com/office/drawing/2014/main" id="{2FC50825-3A12-41B0-B2D8-E44DBF7B9E93}"/>
              </a:ext>
            </a:extLst>
          </p:cNvPr>
          <p:cNvPicPr>
            <a:picLocks noChangeAspect="1"/>
          </p:cNvPicPr>
          <p:nvPr/>
        </p:nvPicPr>
        <p:blipFill rotWithShape="1">
          <a:blip r:embed="rId3"/>
          <a:srcRect l="22292" t="11757" r="5555" b="11240"/>
          <a:stretch/>
        </p:blipFill>
        <p:spPr>
          <a:xfrm>
            <a:off x="993165" y="681567"/>
            <a:ext cx="9896474" cy="5676900"/>
          </a:xfrm>
          <a:prstGeom prst="rect">
            <a:avLst/>
          </a:prstGeom>
        </p:spPr>
      </p:pic>
      <p:sp>
        <p:nvSpPr>
          <p:cNvPr id="4" name="실행 단추: 뒤로 또는 이전 3">
            <a:hlinkClick r:id="rId4" action="ppaction://hlinksldjump" highlightClick="1"/>
          </p:cNvPr>
          <p:cNvSpPr/>
          <p:nvPr/>
        </p:nvSpPr>
        <p:spPr>
          <a:xfrm>
            <a:off x="7569724" y="180901"/>
            <a:ext cx="245746" cy="2721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27286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0B98EAC-CA81-48B1-90D4-603AD9D77165}"/>
              </a:ext>
            </a:extLst>
          </p:cNvPr>
          <p:cNvSpPr>
            <a:spLocks noGrp="1"/>
          </p:cNvSpPr>
          <p:nvPr>
            <p:ph type="title"/>
          </p:nvPr>
        </p:nvSpPr>
        <p:spPr/>
        <p:txBody>
          <a:bodyPr/>
          <a:lstStyle/>
          <a:p>
            <a:r>
              <a:rPr lang="en-US" altLang="ko-KR" b="1" i="0" dirty="0">
                <a:solidFill>
                  <a:srgbClr val="202020"/>
                </a:solidFill>
                <a:effectLst/>
                <a:latin typeface="-apple-system"/>
              </a:rPr>
              <a:t>C2 — </a:t>
            </a:r>
            <a:r>
              <a:rPr lang="ko-KR" altLang="en-US" b="1" i="0" dirty="0">
                <a:solidFill>
                  <a:srgbClr val="202020"/>
                </a:solidFill>
                <a:effectLst/>
                <a:latin typeface="-apple-system"/>
              </a:rPr>
              <a:t>사전 계획 결정</a:t>
            </a:r>
            <a:endParaRPr lang="ko-KR" altLang="en-US" dirty="0"/>
          </a:p>
        </p:txBody>
      </p:sp>
      <p:pic>
        <p:nvPicPr>
          <p:cNvPr id="30" name="그림 29">
            <a:extLst>
              <a:ext uri="{FF2B5EF4-FFF2-40B4-BE49-F238E27FC236}">
                <a16:creationId xmlns:a16="http://schemas.microsoft.com/office/drawing/2014/main" id="{44993E6F-C37C-4B7B-8492-74D9D3177BB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7554" y="592667"/>
            <a:ext cx="10399180" cy="5908990"/>
          </a:xfrm>
          <a:prstGeom prst="rect">
            <a:avLst/>
          </a:prstGeom>
        </p:spPr>
      </p:pic>
      <p:sp>
        <p:nvSpPr>
          <p:cNvPr id="4" name="실행 단추: 뒤로 또는 이전 3">
            <a:hlinkClick r:id="rId4" action="ppaction://hlinksldjump" highlightClick="1"/>
          </p:cNvPr>
          <p:cNvSpPr/>
          <p:nvPr/>
        </p:nvSpPr>
        <p:spPr>
          <a:xfrm>
            <a:off x="7569724" y="180901"/>
            <a:ext cx="245746" cy="2721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82071538"/>
      </p:ext>
    </p:extLst>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QA List - ISO/IEC 25010:2023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3000338456"/>
              </p:ext>
            </p:extLst>
          </p:nvPr>
        </p:nvGraphicFramePr>
        <p:xfrm>
          <a:off x="322106" y="728914"/>
          <a:ext cx="5903433" cy="4777248"/>
        </p:xfrm>
        <a:graphic>
          <a:graphicData uri="http://schemas.openxmlformats.org/drawingml/2006/table">
            <a:tbl>
              <a:tblPr/>
              <a:tblGrid>
                <a:gridCol w="416106">
                  <a:extLst>
                    <a:ext uri="{9D8B030D-6E8A-4147-A177-3AD203B41FA5}">
                      <a16:colId xmlns:a16="http://schemas.microsoft.com/office/drawing/2014/main" val="1351384445"/>
                    </a:ext>
                  </a:extLst>
                </a:gridCol>
                <a:gridCol w="2424088">
                  <a:extLst>
                    <a:ext uri="{9D8B030D-6E8A-4147-A177-3AD203B41FA5}">
                      <a16:colId xmlns:a16="http://schemas.microsoft.com/office/drawing/2014/main" val="1332030031"/>
                    </a:ext>
                  </a:extLst>
                </a:gridCol>
                <a:gridCol w="3063239">
                  <a:extLst>
                    <a:ext uri="{9D8B030D-6E8A-4147-A177-3AD203B41FA5}">
                      <a16:colId xmlns:a16="http://schemas.microsoft.com/office/drawing/2014/main" val="3058625661"/>
                    </a:ext>
                  </a:extLst>
                </a:gridCol>
              </a:tblGrid>
              <a:tr h="197788">
                <a:tc>
                  <a:txBody>
                    <a:bodyPr/>
                    <a:lstStyle/>
                    <a:p>
                      <a:pPr algn="ctr"/>
                      <a:r>
                        <a:rPr lang="en-US" altLang="ko-KR" sz="1400" b="1" dirty="0"/>
                        <a:t>#</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a:r>
                        <a:rPr lang="en-US" sz="1400" b="1" dirty="0"/>
                        <a:t>Quality Characteristic</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a:r>
                        <a:rPr lang="en-US" sz="1400" b="1" dirty="0"/>
                        <a:t>Sub-characteristics</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218836844"/>
                  </a:ext>
                </a:extLst>
              </a:tr>
              <a:tr h="494470">
                <a:tc>
                  <a:txBody>
                    <a:bodyPr/>
                    <a:lstStyle/>
                    <a:p>
                      <a:pPr algn="r"/>
                      <a:r>
                        <a:rPr lang="en-US" altLang="ko-KR" sz="1400" b="1"/>
                        <a:t>1</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Functional suitability</a:t>
                      </a:r>
                      <a:endParaRPr 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Functional completeness</a:t>
                      </a:r>
                    </a:p>
                    <a:p>
                      <a:r>
                        <a:rPr lang="en-US" sz="1400" b="1" dirty="0">
                          <a:solidFill>
                            <a:srgbClr val="0000FF"/>
                          </a:solidFill>
                        </a:rPr>
                        <a:t>• Functional correctness</a:t>
                      </a:r>
                    </a:p>
                    <a:p>
                      <a:r>
                        <a:rPr lang="en-US" sz="1400" dirty="0"/>
                        <a:t>• Functional appropriateness</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46625354"/>
                  </a:ext>
                </a:extLst>
              </a:tr>
              <a:tr h="346129">
                <a:tc>
                  <a:txBody>
                    <a:bodyPr/>
                    <a:lstStyle/>
                    <a:p>
                      <a:pPr algn="r"/>
                      <a:r>
                        <a:rPr lang="en-US" altLang="ko-KR" sz="1400" b="1"/>
                        <a:t>2</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Performance efficiency</a:t>
                      </a:r>
                      <a:endParaRPr 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solidFill>
                            <a:srgbClr val="0000FF"/>
                          </a:solidFill>
                        </a:rPr>
                        <a:t>• Time behavior</a:t>
                      </a:r>
                    </a:p>
                    <a:p>
                      <a:r>
                        <a:rPr lang="en-US" sz="1400" b="0" dirty="0">
                          <a:solidFill>
                            <a:schemeClr val="tx1"/>
                          </a:solidFill>
                        </a:rPr>
                        <a:t>• Resource utilization</a:t>
                      </a:r>
                    </a:p>
                    <a:p>
                      <a:r>
                        <a:rPr lang="en-US" sz="1400" b="0" dirty="0">
                          <a:solidFill>
                            <a:schemeClr val="tx1"/>
                          </a:solidFill>
                        </a:rPr>
                        <a:t>• Capacity</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959409129"/>
                  </a:ext>
                </a:extLst>
              </a:tr>
              <a:tr h="197788">
                <a:tc>
                  <a:txBody>
                    <a:bodyPr/>
                    <a:lstStyle/>
                    <a:p>
                      <a:pPr algn="r"/>
                      <a:r>
                        <a:rPr lang="en-US" altLang="ko-KR" sz="1400" b="1"/>
                        <a:t>3</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Compatibility</a:t>
                      </a:r>
                      <a:endParaRPr 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Co-existence</a:t>
                      </a:r>
                    </a:p>
                    <a:p>
                      <a:r>
                        <a:rPr lang="en-US" sz="1400" dirty="0"/>
                        <a:t>• Interoperability</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816285175"/>
                  </a:ext>
                </a:extLst>
              </a:tr>
              <a:tr h="939493">
                <a:tc>
                  <a:txBody>
                    <a:bodyPr/>
                    <a:lstStyle/>
                    <a:p>
                      <a:pPr algn="r"/>
                      <a:r>
                        <a:rPr lang="en-US" altLang="ko-KR" sz="1400" b="1"/>
                        <a:t>4</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Interaction capability</a:t>
                      </a:r>
                      <a:r>
                        <a:rPr lang="en-US" sz="1400" dirty="0"/>
                        <a:t> </a:t>
                      </a:r>
                      <a:r>
                        <a:rPr lang="ko-KR" altLang="en-US" sz="1400" dirty="0" smtClean="0"/>
                        <a:t>🟡</a:t>
                      </a:r>
                      <a:endParaRPr lang="en-US" altLang="ko-KR" sz="1400" dirty="0" smtClean="0"/>
                    </a:p>
                    <a:p>
                      <a:r>
                        <a:rPr lang="en-US" altLang="ko-KR" sz="1400" dirty="0" smtClean="0"/>
                        <a:t>(</a:t>
                      </a:r>
                      <a:r>
                        <a:rPr lang="ko-KR" altLang="en-US" sz="1400" dirty="0" smtClean="0"/>
                        <a:t>구</a:t>
                      </a:r>
                      <a:r>
                        <a:rPr lang="ko-KR" altLang="en-US" sz="1400" baseline="0" dirty="0" smtClean="0"/>
                        <a:t> </a:t>
                      </a:r>
                      <a:r>
                        <a:rPr lang="en-US" altLang="ko-KR" sz="1400" dirty="0" smtClean="0"/>
                        <a:t>Usability)</a:t>
                      </a:r>
                      <a:endParaRPr lang="ko-KR" alt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Appropriateness </a:t>
                      </a:r>
                      <a:r>
                        <a:rPr lang="en-US" sz="1400" dirty="0" err="1"/>
                        <a:t>recognizability</a:t>
                      </a:r>
                      <a:endParaRPr lang="en-US" sz="1400" dirty="0"/>
                    </a:p>
                    <a:p>
                      <a:r>
                        <a:rPr lang="en-US" sz="1400" dirty="0"/>
                        <a:t>• </a:t>
                      </a:r>
                      <a:r>
                        <a:rPr lang="en-US" sz="1400" dirty="0" smtClean="0"/>
                        <a:t>Learnability</a:t>
                      </a:r>
                    </a:p>
                    <a:p>
                      <a:r>
                        <a:rPr lang="en-US" sz="1400" dirty="0" smtClean="0"/>
                        <a:t>• </a:t>
                      </a:r>
                      <a:r>
                        <a:rPr lang="en-US" sz="1400" dirty="0"/>
                        <a:t>Operability</a:t>
                      </a:r>
                    </a:p>
                    <a:p>
                      <a:r>
                        <a:rPr lang="en-US" sz="1400" dirty="0"/>
                        <a:t>• User error protection</a:t>
                      </a:r>
                    </a:p>
                    <a:p>
                      <a:r>
                        <a:rPr lang="en-US" sz="1400" dirty="0"/>
                        <a:t>• User engagement </a:t>
                      </a:r>
                      <a:r>
                        <a:rPr lang="ko-KR" altLang="en-US" sz="1400" dirty="0"/>
                        <a:t>🟡</a:t>
                      </a:r>
                      <a:endParaRPr lang="en-US" altLang="ko-KR" sz="1400" dirty="0"/>
                    </a:p>
                    <a:p>
                      <a:r>
                        <a:rPr lang="en-US" altLang="ko-KR" sz="1400" dirty="0"/>
                        <a:t>• </a:t>
                      </a:r>
                      <a:r>
                        <a:rPr lang="en-US" sz="1400" dirty="0"/>
                        <a:t>Inclusivity </a:t>
                      </a:r>
                      <a:r>
                        <a:rPr lang="ko-KR" altLang="en-US" sz="1400" dirty="0"/>
                        <a:t>🔵</a:t>
                      </a:r>
                      <a:endParaRPr lang="en-US" altLang="ko-KR" sz="1400" dirty="0"/>
                    </a:p>
                    <a:p>
                      <a:r>
                        <a:rPr lang="en-US" altLang="ko-KR" sz="1400" dirty="0"/>
                        <a:t>• </a:t>
                      </a:r>
                      <a:r>
                        <a:rPr lang="en-US" sz="1400" dirty="0"/>
                        <a:t>User assistance </a:t>
                      </a:r>
                      <a:r>
                        <a:rPr lang="ko-KR" altLang="en-US" sz="1400" dirty="0"/>
                        <a:t>🔵</a:t>
                      </a:r>
                      <a:endParaRPr lang="en-US" altLang="ko-KR" sz="1400" dirty="0"/>
                    </a:p>
                    <a:p>
                      <a:r>
                        <a:rPr lang="en-US" altLang="ko-KR" sz="1400" dirty="0"/>
                        <a:t>• </a:t>
                      </a:r>
                      <a:r>
                        <a:rPr lang="en-US" sz="1400" dirty="0"/>
                        <a:t>Self-descriptiveness</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416251662"/>
                  </a:ext>
                </a:extLst>
              </a:tr>
              <a:tr h="346129">
                <a:tc>
                  <a:txBody>
                    <a:bodyPr/>
                    <a:lstStyle/>
                    <a:p>
                      <a:pPr algn="r"/>
                      <a:r>
                        <a:rPr lang="en-US" altLang="ko-KR" sz="1400" b="1"/>
                        <a:t>5</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Reliability</a:t>
                      </a:r>
                      <a:endParaRPr 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Faultlessness 🟡</a:t>
                      </a:r>
                    </a:p>
                    <a:p>
                      <a:r>
                        <a:rPr lang="en-US" sz="1400" dirty="0"/>
                        <a:t>• Availability</a:t>
                      </a:r>
                    </a:p>
                    <a:p>
                      <a:r>
                        <a:rPr lang="en-US" sz="1400" dirty="0"/>
                        <a:t>• Fault tolerance</a:t>
                      </a:r>
                    </a:p>
                    <a:p>
                      <a:r>
                        <a:rPr lang="en-US" sz="1400" dirty="0"/>
                        <a:t>• Recoverability</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46668749"/>
                  </a:ext>
                </a:extLst>
              </a:tr>
            </a:tbl>
          </a:graphicData>
        </a:graphic>
      </p:graphicFrame>
      <p:graphicFrame>
        <p:nvGraphicFramePr>
          <p:cNvPr id="7" name="표 6"/>
          <p:cNvGraphicFramePr>
            <a:graphicFrameLocks noGrp="1"/>
          </p:cNvGraphicFramePr>
          <p:nvPr>
            <p:extLst>
              <p:ext uri="{D42A27DB-BD31-4B8C-83A1-F6EECF244321}">
                <p14:modId xmlns:p14="http://schemas.microsoft.com/office/powerpoint/2010/main" val="1261735866"/>
              </p:ext>
            </p:extLst>
          </p:nvPr>
        </p:nvGraphicFramePr>
        <p:xfrm>
          <a:off x="6616227" y="728914"/>
          <a:ext cx="5418764" cy="4727800"/>
        </p:xfrm>
        <a:graphic>
          <a:graphicData uri="http://schemas.openxmlformats.org/drawingml/2006/table">
            <a:tbl>
              <a:tblPr/>
              <a:tblGrid>
                <a:gridCol w="381944">
                  <a:extLst>
                    <a:ext uri="{9D8B030D-6E8A-4147-A177-3AD203B41FA5}">
                      <a16:colId xmlns:a16="http://schemas.microsoft.com/office/drawing/2014/main" val="1351384445"/>
                    </a:ext>
                  </a:extLst>
                </a:gridCol>
                <a:gridCol w="2229649">
                  <a:extLst>
                    <a:ext uri="{9D8B030D-6E8A-4147-A177-3AD203B41FA5}">
                      <a16:colId xmlns:a16="http://schemas.microsoft.com/office/drawing/2014/main" val="1332030031"/>
                    </a:ext>
                  </a:extLst>
                </a:gridCol>
                <a:gridCol w="2807171">
                  <a:extLst>
                    <a:ext uri="{9D8B030D-6E8A-4147-A177-3AD203B41FA5}">
                      <a16:colId xmlns:a16="http://schemas.microsoft.com/office/drawing/2014/main" val="3058625661"/>
                    </a:ext>
                  </a:extLst>
                </a:gridCol>
              </a:tblGrid>
              <a:tr h="197788">
                <a:tc>
                  <a:txBody>
                    <a:bodyPr/>
                    <a:lstStyle/>
                    <a:p>
                      <a:pPr algn="ctr"/>
                      <a:r>
                        <a:rPr lang="en-US" altLang="ko-KR" sz="1400" b="1" dirty="0"/>
                        <a:t>#</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a:r>
                        <a:rPr lang="en-US" sz="1400" b="1" dirty="0"/>
                        <a:t>Quality Characteristic</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a:r>
                        <a:rPr lang="en-US" sz="1400" b="1" dirty="0"/>
                        <a:t>Sub-characteristics</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218836844"/>
                  </a:ext>
                </a:extLst>
              </a:tr>
              <a:tr h="494470">
                <a:tc>
                  <a:txBody>
                    <a:bodyPr/>
                    <a:lstStyle/>
                    <a:p>
                      <a:pPr algn="r"/>
                      <a:r>
                        <a:rPr lang="en-US" altLang="ko-KR" sz="1400" b="1" dirty="0"/>
                        <a:t>6</a:t>
                      </a:r>
                      <a:endParaRPr lang="ko-KR" alt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Security</a:t>
                      </a:r>
                      <a:endParaRPr 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Confidentiality</a:t>
                      </a:r>
                    </a:p>
                    <a:p>
                      <a:r>
                        <a:rPr lang="en-US" sz="1400" dirty="0"/>
                        <a:t>• Integrity</a:t>
                      </a:r>
                    </a:p>
                    <a:p>
                      <a:r>
                        <a:rPr lang="en-US" sz="1400" dirty="0"/>
                        <a:t>• Non-repudiation</a:t>
                      </a:r>
                    </a:p>
                    <a:p>
                      <a:r>
                        <a:rPr lang="en-US" sz="1400" dirty="0"/>
                        <a:t>• Accountability</a:t>
                      </a:r>
                    </a:p>
                    <a:p>
                      <a:r>
                        <a:rPr lang="en-US" sz="1400" dirty="0"/>
                        <a:t>• Authenticity</a:t>
                      </a:r>
                    </a:p>
                    <a:p>
                      <a:r>
                        <a:rPr lang="en-US" sz="1400" dirty="0"/>
                        <a:t>• Resistance 🔴</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178808634"/>
                  </a:ext>
                </a:extLst>
              </a:tr>
              <a:tr h="494470">
                <a:tc>
                  <a:txBody>
                    <a:bodyPr/>
                    <a:lstStyle/>
                    <a:p>
                      <a:pPr algn="r"/>
                      <a:r>
                        <a:rPr lang="en-US" altLang="ko-KR" sz="1400" b="1"/>
                        <a:t>7</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a:t>Maintainability</a:t>
                      </a:r>
                      <a:endParaRPr 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Modularity</a:t>
                      </a:r>
                    </a:p>
                    <a:p>
                      <a:r>
                        <a:rPr lang="en-US" sz="1400" dirty="0"/>
                        <a:t>• Reusability</a:t>
                      </a:r>
                    </a:p>
                    <a:p>
                      <a:r>
                        <a:rPr lang="en-US" sz="1400" dirty="0"/>
                        <a:t>• </a:t>
                      </a:r>
                      <a:r>
                        <a:rPr lang="en-US" sz="1400" dirty="0" err="1"/>
                        <a:t>Analysability</a:t>
                      </a:r>
                      <a:endParaRPr lang="en-US" sz="1400" dirty="0"/>
                    </a:p>
                    <a:p>
                      <a:r>
                        <a:rPr lang="en-US" sz="1400" b="1" dirty="0">
                          <a:solidFill>
                            <a:srgbClr val="0000FF"/>
                          </a:solidFill>
                        </a:rPr>
                        <a:t>• Modifiability</a:t>
                      </a:r>
                    </a:p>
                    <a:p>
                      <a:r>
                        <a:rPr lang="en-US" sz="1400" dirty="0"/>
                        <a:t>• Testability</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664317995"/>
                  </a:ext>
                </a:extLst>
              </a:tr>
              <a:tr h="346129">
                <a:tc>
                  <a:txBody>
                    <a:bodyPr/>
                    <a:lstStyle/>
                    <a:p>
                      <a:pPr algn="r"/>
                      <a:r>
                        <a:rPr lang="en-US" altLang="ko-KR" sz="1400" b="1"/>
                        <a:t>8</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dirty="0"/>
                        <a:t>Flexibility</a:t>
                      </a:r>
                      <a:r>
                        <a:rPr lang="en-US" sz="1400" dirty="0"/>
                        <a:t> </a:t>
                      </a:r>
                      <a:r>
                        <a:rPr lang="ko-KR" altLang="en-US" sz="1400" dirty="0" smtClean="0"/>
                        <a:t>🟡</a:t>
                      </a:r>
                      <a:endParaRPr lang="en-US" altLang="ko-KR" sz="1400" dirty="0" smtClean="0"/>
                    </a:p>
                    <a:p>
                      <a:r>
                        <a:rPr lang="en-US" altLang="ko-KR" sz="1400" dirty="0" smtClean="0"/>
                        <a:t>(</a:t>
                      </a:r>
                      <a:r>
                        <a:rPr lang="ko-KR" altLang="en-US" sz="1400" dirty="0" smtClean="0"/>
                        <a:t>구 </a:t>
                      </a:r>
                      <a:r>
                        <a:rPr lang="en-US" altLang="ko-KR" sz="1400" dirty="0" smtClean="0"/>
                        <a:t>Portability)</a:t>
                      </a:r>
                      <a:endParaRPr lang="ko-KR" alt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Adaptability</a:t>
                      </a:r>
                    </a:p>
                    <a:p>
                      <a:r>
                        <a:rPr lang="en-US" sz="1400" b="1" dirty="0">
                          <a:solidFill>
                            <a:srgbClr val="0000FF"/>
                          </a:solidFill>
                        </a:rPr>
                        <a:t>• Scalability 🔴</a:t>
                      </a:r>
                    </a:p>
                    <a:p>
                      <a:r>
                        <a:rPr lang="en-US" sz="1400" dirty="0"/>
                        <a:t>• </a:t>
                      </a:r>
                      <a:r>
                        <a:rPr lang="en-US" sz="1400" dirty="0" err="1"/>
                        <a:t>Installability</a:t>
                      </a:r>
                      <a:endParaRPr lang="en-US" sz="1400" dirty="0"/>
                    </a:p>
                    <a:p>
                      <a:r>
                        <a:rPr lang="en-US" sz="1400" dirty="0"/>
                        <a:t>• </a:t>
                      </a:r>
                      <a:r>
                        <a:rPr lang="en-US" sz="1400" dirty="0" err="1"/>
                        <a:t>Replaceability</a:t>
                      </a:r>
                      <a:endParaRPr lang="en-US" sz="1400" dirty="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43509131"/>
                  </a:ext>
                </a:extLst>
              </a:tr>
              <a:tr h="494470">
                <a:tc>
                  <a:txBody>
                    <a:bodyPr/>
                    <a:lstStyle/>
                    <a:p>
                      <a:pPr algn="r"/>
                      <a:r>
                        <a:rPr lang="en-US" altLang="ko-KR" sz="1400" b="1"/>
                        <a:t>9</a:t>
                      </a:r>
                      <a:endParaRPr lang="ko-KR" altLang="en-US" sz="1400"/>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b="1"/>
                        <a:t>Safety</a:t>
                      </a:r>
                      <a:r>
                        <a:rPr lang="en-US" sz="1400"/>
                        <a:t> </a:t>
                      </a:r>
                      <a:r>
                        <a:rPr lang="ko-KR" altLang="en-US" sz="1400"/>
                        <a:t>🔴</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tc>
                  <a:txBody>
                    <a:bodyPr/>
                    <a:lstStyle/>
                    <a:p>
                      <a:r>
                        <a:rPr lang="en-US" sz="1400" dirty="0"/>
                        <a:t>• Operational constraint</a:t>
                      </a:r>
                    </a:p>
                    <a:p>
                      <a:r>
                        <a:rPr lang="en-US" sz="1400" dirty="0"/>
                        <a:t>• Risk identification</a:t>
                      </a:r>
                    </a:p>
                    <a:p>
                      <a:r>
                        <a:rPr lang="en-US" sz="1400" dirty="0"/>
                        <a:t>• Fail safe</a:t>
                      </a:r>
                    </a:p>
                    <a:p>
                      <a:r>
                        <a:rPr lang="en-US" sz="1400" dirty="0"/>
                        <a:t>• Hazard warning</a:t>
                      </a:r>
                    </a:p>
                    <a:p>
                      <a:r>
                        <a:rPr lang="en-US" sz="1400" dirty="0"/>
                        <a:t>• Safe integration</a:t>
                      </a:r>
                    </a:p>
                  </a:txBody>
                  <a:tcPr marL="49447" marR="49447" marT="24724" marB="24724"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487319210"/>
                  </a:ext>
                </a:extLst>
              </a:tr>
            </a:tbl>
          </a:graphicData>
        </a:graphic>
      </p:graphicFrame>
      <p:sp>
        <p:nvSpPr>
          <p:cNvPr id="8" name="직사각형 7"/>
          <p:cNvSpPr/>
          <p:nvPr/>
        </p:nvSpPr>
        <p:spPr>
          <a:xfrm>
            <a:off x="541020" y="5803315"/>
            <a:ext cx="8374380" cy="307777"/>
          </a:xfrm>
          <a:prstGeom prst="rect">
            <a:avLst/>
          </a:prstGeom>
        </p:spPr>
        <p:txBody>
          <a:bodyPr wrap="square">
            <a:spAutoFit/>
          </a:bodyPr>
          <a:lstStyle/>
          <a:p>
            <a:r>
              <a:rPr lang="ko-KR" altLang="en-US" sz="1400" b="1" dirty="0"/>
              <a:t>범례</a:t>
            </a:r>
            <a:r>
              <a:rPr lang="en-US" altLang="ko-KR" sz="1400" b="1" dirty="0"/>
              <a:t>:</a:t>
            </a:r>
            <a:r>
              <a:rPr lang="ko-KR" altLang="en-US" sz="1400" dirty="0"/>
              <a:t> 🟡 </a:t>
            </a:r>
            <a:r>
              <a:rPr lang="en-US" altLang="ko-KR" sz="1400" b="1" dirty="0"/>
              <a:t>Renamed</a:t>
            </a:r>
            <a:r>
              <a:rPr lang="en-US" altLang="ko-KR" sz="1400" dirty="0"/>
              <a:t> · </a:t>
            </a:r>
            <a:r>
              <a:rPr lang="ko-KR" altLang="en-US" sz="1400" dirty="0"/>
              <a:t>🔴 </a:t>
            </a:r>
            <a:r>
              <a:rPr lang="en-US" altLang="ko-KR" sz="1400" b="1" dirty="0"/>
              <a:t>Added (New)</a:t>
            </a:r>
            <a:r>
              <a:rPr lang="en-US" altLang="ko-KR" sz="1400" dirty="0"/>
              <a:t> · </a:t>
            </a:r>
            <a:r>
              <a:rPr lang="ko-KR" altLang="en-US" sz="1400" dirty="0"/>
              <a:t>🔵 </a:t>
            </a:r>
            <a:r>
              <a:rPr lang="en-US" altLang="ko-KR" sz="1400" b="1" dirty="0"/>
              <a:t>Split and Renamed</a:t>
            </a:r>
            <a:endParaRPr lang="ko-KR" altLang="en-US" sz="1400" dirty="0"/>
          </a:p>
        </p:txBody>
      </p:sp>
      <p:sp>
        <p:nvSpPr>
          <p:cNvPr id="3" name="실행 단추: 뒤로 또는 이전 2">
            <a:hlinkClick r:id="rId3" action="ppaction://hlinksldjump" highlightClick="1"/>
          </p:cNvPr>
          <p:cNvSpPr/>
          <p:nvPr/>
        </p:nvSpPr>
        <p:spPr>
          <a:xfrm>
            <a:off x="7477125" y="137379"/>
            <a:ext cx="304800" cy="28172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30133112"/>
      </p:ext>
    </p:extLst>
  </p:cSld>
  <p:clrMapOvr>
    <a:masterClrMapping/>
  </p:clrMapOvr>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요구사항 분석 </a:t>
            </a:r>
            <a:r>
              <a:rPr lang="en-US" altLang="ko-KR" dirty="0"/>
              <a:t>– </a:t>
            </a:r>
            <a:r>
              <a:rPr lang="ko-KR" altLang="en-US" dirty="0"/>
              <a:t>배경 지식 </a:t>
            </a:r>
            <a:r>
              <a:rPr lang="en-US" altLang="ko-KR" dirty="0"/>
              <a:t>(</a:t>
            </a:r>
            <a:r>
              <a:rPr lang="en-US" altLang="ko-KR" dirty="0" err="1"/>
              <a:t>vLLM</a:t>
            </a:r>
            <a:r>
              <a:rPr lang="en-US" altLang="ko-KR" dirty="0"/>
              <a:t> Framework)</a:t>
            </a:r>
            <a:endParaRPr lang="ko-KR" altLang="en-US" dirty="0"/>
          </a:p>
        </p:txBody>
      </p:sp>
      <p:sp>
        <p:nvSpPr>
          <p:cNvPr id="3" name="TextBox 2"/>
          <p:cNvSpPr txBox="1"/>
          <p:nvPr/>
        </p:nvSpPr>
        <p:spPr>
          <a:xfrm>
            <a:off x="274320" y="588018"/>
            <a:ext cx="182880" cy="237744"/>
          </a:xfrm>
          <a:prstGeom prst="rect">
            <a:avLst/>
          </a:prstGeom>
          <a:noFill/>
        </p:spPr>
        <p:txBody>
          <a:bodyPr wrap="square" lIns="0" tIns="0" rIns="0" bIns="0" anchor="t">
            <a:spAutoFit/>
          </a:bodyPr>
          <a:lstStyle/>
          <a:p>
            <a:pPr algn="l"/>
            <a:r>
              <a:rPr sz="1100" b="0" i="0">
                <a:solidFill>
                  <a:srgbClr val="404040"/>
                </a:solidFill>
                <a:latin typeface="맑은 고딕"/>
                <a:ea typeface="맑은 고딕"/>
              </a:rPr>
              <a:t>-</a:t>
            </a:r>
          </a:p>
        </p:txBody>
      </p:sp>
      <p:sp>
        <p:nvSpPr>
          <p:cNvPr id="4" name="TextBox 3"/>
          <p:cNvSpPr txBox="1"/>
          <p:nvPr/>
        </p:nvSpPr>
        <p:spPr>
          <a:xfrm>
            <a:off x="566928" y="588018"/>
            <a:ext cx="11338560" cy="475488"/>
          </a:xfrm>
          <a:prstGeom prst="rect">
            <a:avLst/>
          </a:prstGeom>
          <a:noFill/>
        </p:spPr>
        <p:txBody>
          <a:bodyPr wrap="square" lIns="0" tIns="0" rIns="0" bIns="0" anchor="t">
            <a:spAutoFit/>
          </a:bodyPr>
          <a:lstStyle/>
          <a:p>
            <a:pPr algn="l">
              <a:lnSpc>
                <a:spcPct val="112000"/>
              </a:lnSpc>
            </a:pPr>
            <a:r>
              <a:rPr sz="1050" b="0" i="0">
                <a:solidFill>
                  <a:srgbClr val="262626"/>
                </a:solidFill>
                <a:latin typeface="맑은 고딕"/>
                <a:ea typeface="맑은 고딕"/>
              </a:rPr>
              <a:t>vLLM = LLM 추론·서빙 전용 오픈소스 런타임. 모델 가중치와 KV 캐시를 가속기 메모리에 상주시킨 뒤, 여러 요청을 하나의 엔진</a:t>
            </a:r>
          </a:p>
          <a:p>
            <a:pPr algn="l">
              <a:lnSpc>
                <a:spcPct val="112000"/>
              </a:lnSpc>
            </a:pPr>
            <a:r>
              <a:rPr sz="1050" b="0" i="0">
                <a:solidFill>
                  <a:srgbClr val="262626"/>
                </a:solidFill>
                <a:latin typeface="맑은 고딕"/>
                <a:ea typeface="맑은 고딕"/>
              </a:rPr>
              <a:t>루프에서 한 배치로 모아 실행해 가속기 활용률과 throughput을 끌어올리는 것이 설계 목표</a:t>
            </a:r>
          </a:p>
        </p:txBody>
      </p:sp>
      <p:sp>
        <p:nvSpPr>
          <p:cNvPr id="5" name="TextBox 4"/>
          <p:cNvSpPr txBox="1"/>
          <p:nvPr/>
        </p:nvSpPr>
        <p:spPr>
          <a:xfrm>
            <a:off x="274320" y="1100082"/>
            <a:ext cx="182880" cy="237744"/>
          </a:xfrm>
          <a:prstGeom prst="rect">
            <a:avLst/>
          </a:prstGeom>
          <a:noFill/>
        </p:spPr>
        <p:txBody>
          <a:bodyPr wrap="square" lIns="0" tIns="0" rIns="0" bIns="0" anchor="t">
            <a:spAutoFit/>
          </a:bodyPr>
          <a:lstStyle/>
          <a:p>
            <a:pPr algn="l"/>
            <a:r>
              <a:rPr sz="1100" b="0" i="0">
                <a:solidFill>
                  <a:srgbClr val="404040"/>
                </a:solidFill>
                <a:latin typeface="맑은 고딕"/>
                <a:ea typeface="맑은 고딕"/>
              </a:rPr>
              <a:t>-</a:t>
            </a:r>
          </a:p>
        </p:txBody>
      </p:sp>
      <p:sp>
        <p:nvSpPr>
          <p:cNvPr id="6" name="TextBox 5"/>
          <p:cNvSpPr txBox="1"/>
          <p:nvPr/>
        </p:nvSpPr>
        <p:spPr>
          <a:xfrm>
            <a:off x="566928" y="1100082"/>
            <a:ext cx="11338560" cy="237744"/>
          </a:xfrm>
          <a:prstGeom prst="rect">
            <a:avLst/>
          </a:prstGeom>
          <a:noFill/>
        </p:spPr>
        <p:txBody>
          <a:bodyPr wrap="square" lIns="0" tIns="0" rIns="0" bIns="0" anchor="t">
            <a:spAutoFit/>
          </a:bodyPr>
          <a:lstStyle/>
          <a:p>
            <a:pPr algn="l">
              <a:lnSpc>
                <a:spcPct val="112000"/>
              </a:lnSpc>
            </a:pPr>
            <a:r>
              <a:rPr sz="1050" b="0" i="0">
                <a:solidFill>
                  <a:srgbClr val="262626"/>
                </a:solidFill>
                <a:latin typeface="맑은 고딕"/>
                <a:ea typeface="맑은 고딕"/>
              </a:rPr>
              <a:t>사실상의 표준 서빙 스택 — HuggingFace 모델 즉시 로드 · OpenAI 호환 API · TP/PP/EP 분산 실행 · 다중 백엔드(NVIDIA·AMD·Intel·TPU) · Apache-2.0</a:t>
            </a:r>
          </a:p>
        </p:txBody>
      </p:sp>
      <p:sp>
        <p:nvSpPr>
          <p:cNvPr id="7" name="TextBox 6"/>
          <p:cNvSpPr txBox="1"/>
          <p:nvPr/>
        </p:nvSpPr>
        <p:spPr>
          <a:xfrm>
            <a:off x="274320" y="1301250"/>
            <a:ext cx="11704320" cy="256032"/>
          </a:xfrm>
          <a:prstGeom prst="rect">
            <a:avLst/>
          </a:prstGeom>
          <a:noFill/>
        </p:spPr>
        <p:txBody>
          <a:bodyPr wrap="square" lIns="0" tIns="0" rIns="0" bIns="0" anchor="ctr">
            <a:spAutoFit/>
          </a:bodyPr>
          <a:lstStyle/>
          <a:p>
            <a:pPr algn="l"/>
            <a:r>
              <a:rPr sz="1150" b="1" i="0">
                <a:solidFill>
                  <a:srgbClr val="1F4E79"/>
                </a:solidFill>
                <a:latin typeface="맑은 고딕"/>
                <a:ea typeface="맑은 고딕"/>
              </a:rPr>
              <a:t>→ 따라서 본 과제의 DP1~DP4는 ‘엔진을 새로 만드는 설계’가 아니라, vLLM V1의 특정 모듈을 교체·확장하는 설계 결정</a:t>
            </a:r>
          </a:p>
        </p:txBody>
      </p:sp>
      <p:sp>
        <p:nvSpPr>
          <p:cNvPr id="8" name="Rectangle 7"/>
          <p:cNvSpPr/>
          <p:nvPr/>
        </p:nvSpPr>
        <p:spPr>
          <a:xfrm>
            <a:off x="219456" y="1648722"/>
            <a:ext cx="7004304" cy="34747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 name="Rectangle 8"/>
          <p:cNvSpPr/>
          <p:nvPr/>
        </p:nvSpPr>
        <p:spPr>
          <a:xfrm>
            <a:off x="7370064" y="1648722"/>
            <a:ext cx="4599432" cy="34747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0" name="Rectangle 9"/>
          <p:cNvSpPr/>
          <p:nvPr/>
        </p:nvSpPr>
        <p:spPr>
          <a:xfrm>
            <a:off x="219456" y="1648722"/>
            <a:ext cx="7004304" cy="256032"/>
          </a:xfrm>
          <a:prstGeom prst="rect">
            <a:avLst/>
          </a:prstGeom>
          <a:solidFill>
            <a:srgbClr val="1F6FB5"/>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FFFFFF"/>
                </a:solidFill>
                <a:latin typeface="맑은 고딕"/>
                <a:ea typeface="맑은 고딕"/>
              </a:rPr>
              <a:t>① vLLM V1 구조 — 하나의 요청이 거치는 경로</a:t>
            </a:r>
          </a:p>
        </p:txBody>
      </p:sp>
      <p:sp>
        <p:nvSpPr>
          <p:cNvPr id="11" name="Rectangle 10"/>
          <p:cNvSpPr/>
          <p:nvPr/>
        </p:nvSpPr>
        <p:spPr>
          <a:xfrm>
            <a:off x="347472" y="2032770"/>
            <a:ext cx="6748272" cy="29260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404040"/>
                </a:solidFill>
                <a:latin typeface="맑은 고딕"/>
                <a:ea typeface="맑은 고딕"/>
              </a:rPr>
              <a:t>Entrypoint  ·  OpenAI 호환 API 서버 / LLM 클래스 — 요청을 토큰화해 엔진에 제출</a:t>
            </a:r>
          </a:p>
        </p:txBody>
      </p:sp>
      <p:cxnSp>
        <p:nvCxnSpPr>
          <p:cNvPr id="12" name="Connector 11"/>
          <p:cNvCxnSpPr/>
          <p:nvPr/>
        </p:nvCxnSpPr>
        <p:spPr>
          <a:xfrm>
            <a:off x="3721608" y="2343666"/>
            <a:ext cx="0" cy="146304"/>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347472" y="2489970"/>
            <a:ext cx="6748272" cy="969264"/>
          </a:xfrm>
          <a:prstGeom prst="rect">
            <a:avLst/>
          </a:prstGeom>
          <a:solidFill>
            <a:srgbClr val="FCFCFC"/>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4" name="Rectangle 13"/>
          <p:cNvSpPr/>
          <p:nvPr/>
        </p:nvSpPr>
        <p:spPr>
          <a:xfrm>
            <a:off x="347472" y="2489970"/>
            <a:ext cx="6748272" cy="237744"/>
          </a:xfrm>
          <a:prstGeom prst="rect">
            <a:avLst/>
          </a:prstGeom>
          <a:solidFill>
            <a:srgbClr val="2E75B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FFFFFF"/>
                </a:solidFill>
                <a:latin typeface="맑은 고딕"/>
                <a:ea typeface="맑은 고딕"/>
              </a:rPr>
              <a:t>EngineCore 엔진 루프  ·  step() 한 번에 활성 요청 전체를 함께 전진</a:t>
            </a:r>
          </a:p>
        </p:txBody>
      </p:sp>
      <p:sp>
        <p:nvSpPr>
          <p:cNvPr id="15" name="Rectangle 14"/>
          <p:cNvSpPr/>
          <p:nvPr/>
        </p:nvSpPr>
        <p:spPr>
          <a:xfrm>
            <a:off x="457200" y="2782578"/>
            <a:ext cx="3255264" cy="62179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 name="TextBox 15"/>
          <p:cNvSpPr txBox="1"/>
          <p:nvPr/>
        </p:nvSpPr>
        <p:spPr>
          <a:xfrm>
            <a:off x="521208" y="2828298"/>
            <a:ext cx="3127248" cy="146304"/>
          </a:xfrm>
          <a:prstGeom prst="rect">
            <a:avLst/>
          </a:prstGeom>
          <a:noFill/>
        </p:spPr>
        <p:txBody>
          <a:bodyPr wrap="square" lIns="0" tIns="0" rIns="0" bIns="0" anchor="t">
            <a:spAutoFit/>
          </a:bodyPr>
          <a:lstStyle/>
          <a:p>
            <a:pPr algn="l"/>
            <a:r>
              <a:rPr sz="800" b="1" i="0">
                <a:solidFill>
                  <a:srgbClr val="2E75B6"/>
                </a:solidFill>
                <a:latin typeface="맑은 고딕"/>
                <a:ea typeface="맑은 고딕"/>
              </a:rPr>
              <a:t>Scheduler  (v1/core/sched)</a:t>
            </a:r>
          </a:p>
        </p:txBody>
      </p:sp>
      <p:sp>
        <p:nvSpPr>
          <p:cNvPr id="17" name="TextBox 16"/>
          <p:cNvSpPr txBox="1"/>
          <p:nvPr/>
        </p:nvSpPr>
        <p:spPr>
          <a:xfrm>
            <a:off x="521208" y="3002034"/>
            <a:ext cx="3127248" cy="347472"/>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이 step에 어떤 요청을 몇 토큰까지</a:t>
            </a:r>
          </a:p>
          <a:p>
            <a:pPr algn="l">
              <a:lnSpc>
                <a:spcPct val="114000"/>
              </a:lnSpc>
            </a:pPr>
            <a:r>
              <a:rPr sz="750" b="0" i="0">
                <a:solidFill>
                  <a:srgbClr val="404040"/>
                </a:solidFill>
                <a:latin typeface="맑은 고딕"/>
                <a:ea typeface="맑은 고딕"/>
              </a:rPr>
              <a:t>실행할지 결정 — Continuous Batching</a:t>
            </a:r>
          </a:p>
        </p:txBody>
      </p:sp>
      <p:sp>
        <p:nvSpPr>
          <p:cNvPr id="18" name="Rectangle 17"/>
          <p:cNvSpPr/>
          <p:nvPr/>
        </p:nvSpPr>
        <p:spPr>
          <a:xfrm>
            <a:off x="3803904" y="2782578"/>
            <a:ext cx="3255264" cy="62179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 name="TextBox 18"/>
          <p:cNvSpPr txBox="1"/>
          <p:nvPr/>
        </p:nvSpPr>
        <p:spPr>
          <a:xfrm>
            <a:off x="3867912" y="2828298"/>
            <a:ext cx="3127248" cy="146304"/>
          </a:xfrm>
          <a:prstGeom prst="rect">
            <a:avLst/>
          </a:prstGeom>
          <a:noFill/>
        </p:spPr>
        <p:txBody>
          <a:bodyPr wrap="square" lIns="0" tIns="0" rIns="0" bIns="0" anchor="t">
            <a:spAutoFit/>
          </a:bodyPr>
          <a:lstStyle/>
          <a:p>
            <a:pPr algn="l"/>
            <a:r>
              <a:rPr sz="800" b="1" i="0">
                <a:solidFill>
                  <a:srgbClr val="2E75B6"/>
                </a:solidFill>
                <a:latin typeface="맑은 고딕"/>
                <a:ea typeface="맑은 고딕"/>
              </a:rPr>
              <a:t>KV Cache Manager · Block Pool</a:t>
            </a:r>
          </a:p>
        </p:txBody>
      </p:sp>
      <p:sp>
        <p:nvSpPr>
          <p:cNvPr id="20" name="TextBox 19"/>
          <p:cNvSpPr txBox="1"/>
          <p:nvPr/>
        </p:nvSpPr>
        <p:spPr>
          <a:xfrm>
            <a:off x="3867912" y="3002034"/>
            <a:ext cx="3127248" cy="347472"/>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KV 블록 할당·해제·공유, prefix 해시</a:t>
            </a:r>
          </a:p>
          <a:p>
            <a:pPr algn="l">
              <a:lnSpc>
                <a:spcPct val="114000"/>
              </a:lnSpc>
            </a:pPr>
            <a:r>
              <a:rPr sz="750" b="0" i="0">
                <a:solidFill>
                  <a:srgbClr val="404040"/>
                </a:solidFill>
                <a:latin typeface="맑은 고딕"/>
                <a:ea typeface="맑은 고딕"/>
              </a:rPr>
              <a:t>조회 (v1/core/kv_cache_manager.py)</a:t>
            </a:r>
          </a:p>
        </p:txBody>
      </p:sp>
      <p:cxnSp>
        <p:nvCxnSpPr>
          <p:cNvPr id="21" name="Connector 20"/>
          <p:cNvCxnSpPr/>
          <p:nvPr/>
        </p:nvCxnSpPr>
        <p:spPr>
          <a:xfrm>
            <a:off x="3721608" y="3477522"/>
            <a:ext cx="0" cy="146304"/>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47472" y="3623826"/>
            <a:ext cx="6748272" cy="969264"/>
          </a:xfrm>
          <a:prstGeom prst="rect">
            <a:avLst/>
          </a:prstGeom>
          <a:solidFill>
            <a:srgbClr val="FCFCFC"/>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3" name="Rectangle 22"/>
          <p:cNvSpPr/>
          <p:nvPr/>
        </p:nvSpPr>
        <p:spPr>
          <a:xfrm>
            <a:off x="347472" y="3623826"/>
            <a:ext cx="6748272" cy="237744"/>
          </a:xfrm>
          <a:prstGeom prst="rect">
            <a:avLst/>
          </a:prstGeom>
          <a:solidFill>
            <a:srgbClr val="2E75B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FFFFFF"/>
                </a:solidFill>
                <a:latin typeface="맑은 고딕"/>
                <a:ea typeface="맑은 고딕"/>
              </a:rPr>
              <a:t>Executor → Worker  ·  가속기 1개 = Worker 1개, TP/PP로 분산</a:t>
            </a:r>
          </a:p>
        </p:txBody>
      </p:sp>
      <p:sp>
        <p:nvSpPr>
          <p:cNvPr id="24" name="Rectangle 23"/>
          <p:cNvSpPr/>
          <p:nvPr/>
        </p:nvSpPr>
        <p:spPr>
          <a:xfrm>
            <a:off x="457200" y="3916434"/>
            <a:ext cx="3255264" cy="62179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5" name="TextBox 24"/>
          <p:cNvSpPr txBox="1"/>
          <p:nvPr/>
        </p:nvSpPr>
        <p:spPr>
          <a:xfrm>
            <a:off x="521208" y="3962153"/>
            <a:ext cx="3127248" cy="146304"/>
          </a:xfrm>
          <a:prstGeom prst="rect">
            <a:avLst/>
          </a:prstGeom>
          <a:noFill/>
        </p:spPr>
        <p:txBody>
          <a:bodyPr wrap="square" lIns="0" tIns="0" rIns="0" bIns="0" anchor="t">
            <a:spAutoFit/>
          </a:bodyPr>
          <a:lstStyle/>
          <a:p>
            <a:pPr algn="l"/>
            <a:r>
              <a:rPr sz="800" b="1" i="0">
                <a:solidFill>
                  <a:srgbClr val="2E75B6"/>
                </a:solidFill>
                <a:latin typeface="맑은 고딕"/>
                <a:ea typeface="맑은 고딕"/>
              </a:rPr>
              <a:t>Model Runner  (v1/worker)</a:t>
            </a:r>
          </a:p>
        </p:txBody>
      </p:sp>
      <p:sp>
        <p:nvSpPr>
          <p:cNvPr id="26" name="TextBox 25"/>
          <p:cNvSpPr txBox="1"/>
          <p:nvPr/>
        </p:nvSpPr>
        <p:spPr>
          <a:xfrm>
            <a:off x="521208" y="4135890"/>
            <a:ext cx="3127248" cy="347472"/>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배치 입력을 구성해 forward 실행</a:t>
            </a:r>
          </a:p>
          <a:p>
            <a:pPr algn="l">
              <a:lnSpc>
                <a:spcPct val="114000"/>
              </a:lnSpc>
            </a:pPr>
            <a:r>
              <a:rPr sz="750" b="0" i="0">
                <a:solidFill>
                  <a:srgbClr val="404040"/>
                </a:solidFill>
                <a:latin typeface="맑은 고딕"/>
                <a:ea typeface="맑은 고딕"/>
              </a:rPr>
              <a:t>CUDA Graph로 런치 오버헤드 제거</a:t>
            </a:r>
          </a:p>
        </p:txBody>
      </p:sp>
      <p:sp>
        <p:nvSpPr>
          <p:cNvPr id="27" name="Rectangle 26"/>
          <p:cNvSpPr/>
          <p:nvPr/>
        </p:nvSpPr>
        <p:spPr>
          <a:xfrm>
            <a:off x="3803904" y="3916434"/>
            <a:ext cx="3255264" cy="62179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8" name="TextBox 27"/>
          <p:cNvSpPr txBox="1"/>
          <p:nvPr/>
        </p:nvSpPr>
        <p:spPr>
          <a:xfrm>
            <a:off x="3867912" y="3962153"/>
            <a:ext cx="3127248" cy="146304"/>
          </a:xfrm>
          <a:prstGeom prst="rect">
            <a:avLst/>
          </a:prstGeom>
          <a:noFill/>
        </p:spPr>
        <p:txBody>
          <a:bodyPr wrap="square" lIns="0" tIns="0" rIns="0" bIns="0" anchor="t">
            <a:spAutoFit/>
          </a:bodyPr>
          <a:lstStyle/>
          <a:p>
            <a:pPr algn="l"/>
            <a:r>
              <a:rPr sz="800" b="1" i="0">
                <a:solidFill>
                  <a:srgbClr val="2E75B6"/>
                </a:solidFill>
                <a:latin typeface="맑은 고딕"/>
                <a:ea typeface="맑은 고딕"/>
              </a:rPr>
              <a:t>Attention Backend  (v1/attention)</a:t>
            </a:r>
          </a:p>
        </p:txBody>
      </p:sp>
      <p:sp>
        <p:nvSpPr>
          <p:cNvPr id="29" name="TextBox 28"/>
          <p:cNvSpPr txBox="1"/>
          <p:nvPr/>
        </p:nvSpPr>
        <p:spPr>
          <a:xfrm>
            <a:off x="3867912" y="4135890"/>
            <a:ext cx="3127248" cy="347472"/>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FlashAttention / FlashInfer —</a:t>
            </a:r>
          </a:p>
          <a:p>
            <a:pPr algn="l">
              <a:lnSpc>
                <a:spcPct val="114000"/>
              </a:lnSpc>
            </a:pPr>
            <a:r>
              <a:rPr sz="750" b="0" i="0">
                <a:solidFill>
                  <a:srgbClr val="404040"/>
                </a:solidFill>
                <a:latin typeface="맑은 고딕"/>
                <a:ea typeface="맑은 고딕"/>
              </a:rPr>
              <a:t>block table을 따라 KV를 읽어 계산</a:t>
            </a:r>
          </a:p>
        </p:txBody>
      </p:sp>
      <p:cxnSp>
        <p:nvCxnSpPr>
          <p:cNvPr id="30" name="Connector 29"/>
          <p:cNvCxnSpPr/>
          <p:nvPr/>
        </p:nvCxnSpPr>
        <p:spPr>
          <a:xfrm>
            <a:off x="3721608" y="4611378"/>
            <a:ext cx="0" cy="146304"/>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7472" y="4757682"/>
            <a:ext cx="6748272" cy="292608"/>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1F4E79"/>
                </a:solidFill>
                <a:latin typeface="맑은 고딕"/>
                <a:ea typeface="맑은 고딕"/>
              </a:rPr>
              <a:t>가속기 메모리(HBM)  ·  모델 가중치 + KV Cache Block Pool (고정 크기 블록 배열)</a:t>
            </a:r>
          </a:p>
        </p:txBody>
      </p:sp>
      <p:sp>
        <p:nvSpPr>
          <p:cNvPr id="32" name="Rectangle 31"/>
          <p:cNvSpPr/>
          <p:nvPr/>
        </p:nvSpPr>
        <p:spPr>
          <a:xfrm>
            <a:off x="7370064" y="1648722"/>
            <a:ext cx="4599432" cy="256032"/>
          </a:xfrm>
          <a:prstGeom prst="rect">
            <a:avLst/>
          </a:prstGeom>
          <a:solidFill>
            <a:srgbClr val="1F6FB5"/>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FFFFFF"/>
                </a:solidFill>
                <a:latin typeface="맑은 고딕"/>
                <a:ea typeface="맑은 고딕"/>
              </a:rPr>
              <a:t>② 핵심 메커니즘 3가지</a:t>
            </a:r>
          </a:p>
        </p:txBody>
      </p:sp>
      <p:sp>
        <p:nvSpPr>
          <p:cNvPr id="33" name="Rectangle 32"/>
          <p:cNvSpPr/>
          <p:nvPr/>
        </p:nvSpPr>
        <p:spPr>
          <a:xfrm>
            <a:off x="7498079" y="1977906"/>
            <a:ext cx="1481328" cy="2011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PagedAttention</a:t>
            </a:r>
          </a:p>
        </p:txBody>
      </p:sp>
      <p:sp>
        <p:nvSpPr>
          <p:cNvPr id="34" name="TextBox 33"/>
          <p:cNvSpPr txBox="1"/>
          <p:nvPr/>
        </p:nvSpPr>
        <p:spPr>
          <a:xfrm>
            <a:off x="7498079" y="2233938"/>
            <a:ext cx="548640" cy="182880"/>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논리 KV</a:t>
            </a:r>
          </a:p>
        </p:txBody>
      </p:sp>
      <p:sp>
        <p:nvSpPr>
          <p:cNvPr id="35" name="Rectangle 34"/>
          <p:cNvSpPr/>
          <p:nvPr/>
        </p:nvSpPr>
        <p:spPr>
          <a:xfrm>
            <a:off x="8083296"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 name="Rectangle 35"/>
          <p:cNvSpPr/>
          <p:nvPr/>
        </p:nvSpPr>
        <p:spPr>
          <a:xfrm>
            <a:off x="8194852"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 name="Rectangle 36"/>
          <p:cNvSpPr/>
          <p:nvPr/>
        </p:nvSpPr>
        <p:spPr>
          <a:xfrm>
            <a:off x="8306409"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 name="Rectangle 37"/>
          <p:cNvSpPr/>
          <p:nvPr/>
        </p:nvSpPr>
        <p:spPr>
          <a:xfrm>
            <a:off x="8417966"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 name="Rectangle 38"/>
          <p:cNvSpPr/>
          <p:nvPr/>
        </p:nvSpPr>
        <p:spPr>
          <a:xfrm>
            <a:off x="8529523"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0" name="Rectangle 39"/>
          <p:cNvSpPr/>
          <p:nvPr/>
        </p:nvSpPr>
        <p:spPr>
          <a:xfrm>
            <a:off x="8641080"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1" name="Rectangle 40"/>
          <p:cNvSpPr/>
          <p:nvPr/>
        </p:nvSpPr>
        <p:spPr>
          <a:xfrm>
            <a:off x="8752636"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2" name="Rectangle 41"/>
          <p:cNvSpPr/>
          <p:nvPr/>
        </p:nvSpPr>
        <p:spPr>
          <a:xfrm>
            <a:off x="8864193"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cxnSp>
        <p:nvCxnSpPr>
          <p:cNvPr id="43" name="Connector 42"/>
          <p:cNvCxnSpPr/>
          <p:nvPr/>
        </p:nvCxnSpPr>
        <p:spPr>
          <a:xfrm>
            <a:off x="9107424" y="2316234"/>
            <a:ext cx="201168" cy="0"/>
          </a:xfrm>
          <a:prstGeom prst="line">
            <a:avLst/>
          </a:prstGeom>
          <a:ln w="15875">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363455" y="2233938"/>
            <a:ext cx="603504" cy="182880"/>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물리 풀</a:t>
            </a:r>
          </a:p>
        </p:txBody>
      </p:sp>
      <p:sp>
        <p:nvSpPr>
          <p:cNvPr id="45" name="Rectangle 44"/>
          <p:cNvSpPr/>
          <p:nvPr/>
        </p:nvSpPr>
        <p:spPr>
          <a:xfrm>
            <a:off x="9966959"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6" name="Rectangle 45"/>
          <p:cNvSpPr/>
          <p:nvPr/>
        </p:nvSpPr>
        <p:spPr>
          <a:xfrm>
            <a:off x="10078516" y="2233938"/>
            <a:ext cx="98755" cy="164592"/>
          </a:xfrm>
          <a:prstGeom prst="rect">
            <a:avLst/>
          </a:prstGeom>
          <a:solidFill>
            <a:srgbClr val="D9D9D9"/>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7" name="Rectangle 46"/>
          <p:cNvSpPr/>
          <p:nvPr/>
        </p:nvSpPr>
        <p:spPr>
          <a:xfrm>
            <a:off x="10190073"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8" name="Rectangle 47"/>
          <p:cNvSpPr/>
          <p:nvPr/>
        </p:nvSpPr>
        <p:spPr>
          <a:xfrm>
            <a:off x="10301630"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9" name="Rectangle 48"/>
          <p:cNvSpPr/>
          <p:nvPr/>
        </p:nvSpPr>
        <p:spPr>
          <a:xfrm>
            <a:off x="10413187" y="2233938"/>
            <a:ext cx="98755" cy="164592"/>
          </a:xfrm>
          <a:prstGeom prst="rect">
            <a:avLst/>
          </a:prstGeom>
          <a:solidFill>
            <a:srgbClr val="D9D9D9"/>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0" name="Rectangle 49"/>
          <p:cNvSpPr/>
          <p:nvPr/>
        </p:nvSpPr>
        <p:spPr>
          <a:xfrm>
            <a:off x="10524743"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1" name="Rectangle 50"/>
          <p:cNvSpPr/>
          <p:nvPr/>
        </p:nvSpPr>
        <p:spPr>
          <a:xfrm>
            <a:off x="10636300" y="2233938"/>
            <a:ext cx="98755" cy="164592"/>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2" name="Rectangle 51"/>
          <p:cNvSpPr/>
          <p:nvPr/>
        </p:nvSpPr>
        <p:spPr>
          <a:xfrm>
            <a:off x="10747857" y="2233938"/>
            <a:ext cx="98755" cy="164592"/>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3" name="TextBox 52"/>
          <p:cNvSpPr txBox="1"/>
          <p:nvPr/>
        </p:nvSpPr>
        <p:spPr>
          <a:xfrm>
            <a:off x="7498079" y="2453394"/>
            <a:ext cx="4343400" cy="365760"/>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KV 캐시를 토큰 N개 단위 고정 크기 블록으로 쪼개 비연속 배치 — 가변 길이</a:t>
            </a:r>
          </a:p>
          <a:p>
            <a:pPr algn="l">
              <a:lnSpc>
                <a:spcPct val="114000"/>
              </a:lnSpc>
            </a:pPr>
            <a:r>
              <a:rPr sz="750" b="0" i="0">
                <a:solidFill>
                  <a:srgbClr val="404040"/>
                </a:solidFill>
                <a:latin typeface="맑은 고딕"/>
                <a:ea typeface="맑은 고딕"/>
              </a:rPr>
              <a:t>요청의 메모리 단편화를 제거하고, 블록을 요청 간에 공유할 수 있게 함</a:t>
            </a:r>
          </a:p>
        </p:txBody>
      </p:sp>
      <p:sp>
        <p:nvSpPr>
          <p:cNvPr id="54" name="Rectangle 53"/>
          <p:cNvSpPr/>
          <p:nvPr/>
        </p:nvSpPr>
        <p:spPr>
          <a:xfrm>
            <a:off x="7498079" y="3002034"/>
            <a:ext cx="1737360" cy="2011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Continuous Batching</a:t>
            </a:r>
          </a:p>
        </p:txBody>
      </p:sp>
      <p:sp>
        <p:nvSpPr>
          <p:cNvPr id="55" name="TextBox 54"/>
          <p:cNvSpPr txBox="1"/>
          <p:nvPr/>
        </p:nvSpPr>
        <p:spPr>
          <a:xfrm>
            <a:off x="7498079" y="3258066"/>
            <a:ext cx="274320" cy="128016"/>
          </a:xfrm>
          <a:prstGeom prst="rect">
            <a:avLst/>
          </a:prstGeom>
          <a:noFill/>
        </p:spPr>
        <p:txBody>
          <a:bodyPr wrap="square" lIns="0" tIns="0" rIns="0" bIns="0" anchor="ctr">
            <a:spAutoFit/>
          </a:bodyPr>
          <a:lstStyle/>
          <a:p>
            <a:pPr algn="l"/>
            <a:r>
              <a:rPr sz="650" b="0" i="0">
                <a:solidFill>
                  <a:srgbClr val="808080"/>
                </a:solidFill>
                <a:latin typeface="맑은 고딕"/>
                <a:ea typeface="맑은 고딕"/>
              </a:rPr>
              <a:t>R1</a:t>
            </a:r>
          </a:p>
        </p:txBody>
      </p:sp>
      <p:sp>
        <p:nvSpPr>
          <p:cNvPr id="56" name="Rectangle 55"/>
          <p:cNvSpPr/>
          <p:nvPr/>
        </p:nvSpPr>
        <p:spPr>
          <a:xfrm>
            <a:off x="7790688" y="3258066"/>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7" name="Rectangle 56"/>
          <p:cNvSpPr/>
          <p:nvPr/>
        </p:nvSpPr>
        <p:spPr>
          <a:xfrm>
            <a:off x="7893100" y="3258066"/>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8" name="Rectangle 57"/>
          <p:cNvSpPr/>
          <p:nvPr/>
        </p:nvSpPr>
        <p:spPr>
          <a:xfrm>
            <a:off x="7995513" y="3258066"/>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9" name="Rectangle 58"/>
          <p:cNvSpPr/>
          <p:nvPr/>
        </p:nvSpPr>
        <p:spPr>
          <a:xfrm>
            <a:off x="8097926" y="3258066"/>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0" name="Rectangle 59"/>
          <p:cNvSpPr/>
          <p:nvPr/>
        </p:nvSpPr>
        <p:spPr>
          <a:xfrm>
            <a:off x="8200339" y="3258066"/>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1" name="TextBox 60"/>
          <p:cNvSpPr txBox="1"/>
          <p:nvPr/>
        </p:nvSpPr>
        <p:spPr>
          <a:xfrm>
            <a:off x="7498079" y="3404370"/>
            <a:ext cx="274320" cy="128016"/>
          </a:xfrm>
          <a:prstGeom prst="rect">
            <a:avLst/>
          </a:prstGeom>
          <a:noFill/>
        </p:spPr>
        <p:txBody>
          <a:bodyPr wrap="square" lIns="0" tIns="0" rIns="0" bIns="0" anchor="ctr">
            <a:spAutoFit/>
          </a:bodyPr>
          <a:lstStyle/>
          <a:p>
            <a:pPr algn="l"/>
            <a:r>
              <a:rPr sz="650" b="0" i="0">
                <a:solidFill>
                  <a:srgbClr val="808080"/>
                </a:solidFill>
                <a:latin typeface="맑은 고딕"/>
                <a:ea typeface="맑은 고딕"/>
              </a:rPr>
              <a:t>R2</a:t>
            </a:r>
          </a:p>
        </p:txBody>
      </p:sp>
      <p:sp>
        <p:nvSpPr>
          <p:cNvPr id="62" name="Rectangle 61"/>
          <p:cNvSpPr/>
          <p:nvPr/>
        </p:nvSpPr>
        <p:spPr>
          <a:xfrm>
            <a:off x="7790688" y="3404370"/>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3" name="Rectangle 62"/>
          <p:cNvSpPr/>
          <p:nvPr/>
        </p:nvSpPr>
        <p:spPr>
          <a:xfrm>
            <a:off x="7893100" y="3404370"/>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4" name="Rectangle 63"/>
          <p:cNvSpPr/>
          <p:nvPr/>
        </p:nvSpPr>
        <p:spPr>
          <a:xfrm>
            <a:off x="7995513" y="3404370"/>
            <a:ext cx="89611" cy="109728"/>
          </a:xfrm>
          <a:prstGeom prst="rect">
            <a:avLst/>
          </a:prstGeom>
          <a:solidFill>
            <a:srgbClr val="9DC3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5" name="TextBox 64"/>
          <p:cNvSpPr txBox="1"/>
          <p:nvPr/>
        </p:nvSpPr>
        <p:spPr>
          <a:xfrm>
            <a:off x="7498079" y="3550674"/>
            <a:ext cx="274320" cy="128016"/>
          </a:xfrm>
          <a:prstGeom prst="rect">
            <a:avLst/>
          </a:prstGeom>
          <a:noFill/>
        </p:spPr>
        <p:txBody>
          <a:bodyPr wrap="square" lIns="0" tIns="0" rIns="0" bIns="0" anchor="ctr">
            <a:spAutoFit/>
          </a:bodyPr>
          <a:lstStyle/>
          <a:p>
            <a:pPr algn="l"/>
            <a:r>
              <a:rPr sz="650" b="0" i="0">
                <a:solidFill>
                  <a:srgbClr val="808080"/>
                </a:solidFill>
                <a:latin typeface="맑은 고딕"/>
                <a:ea typeface="맑은 고딕"/>
              </a:rPr>
              <a:t>R3</a:t>
            </a:r>
          </a:p>
        </p:txBody>
      </p:sp>
      <p:sp>
        <p:nvSpPr>
          <p:cNvPr id="66" name="Rectangle 65"/>
          <p:cNvSpPr/>
          <p:nvPr/>
        </p:nvSpPr>
        <p:spPr>
          <a:xfrm>
            <a:off x="8174736" y="3550674"/>
            <a:ext cx="89611" cy="109728"/>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7" name="Rectangle 66"/>
          <p:cNvSpPr/>
          <p:nvPr/>
        </p:nvSpPr>
        <p:spPr>
          <a:xfrm>
            <a:off x="8277148" y="3550674"/>
            <a:ext cx="89611" cy="109728"/>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8" name="Rectangle 67"/>
          <p:cNvSpPr/>
          <p:nvPr/>
        </p:nvSpPr>
        <p:spPr>
          <a:xfrm>
            <a:off x="8379561" y="3550674"/>
            <a:ext cx="89611" cy="109728"/>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9" name="Rectangle 68"/>
          <p:cNvSpPr/>
          <p:nvPr/>
        </p:nvSpPr>
        <p:spPr>
          <a:xfrm>
            <a:off x="8481974" y="3550674"/>
            <a:ext cx="89611" cy="109728"/>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0" name="TextBox 69"/>
          <p:cNvSpPr txBox="1"/>
          <p:nvPr/>
        </p:nvSpPr>
        <p:spPr>
          <a:xfrm>
            <a:off x="8705088" y="3532386"/>
            <a:ext cx="2926080" cy="146304"/>
          </a:xfrm>
          <a:prstGeom prst="rect">
            <a:avLst/>
          </a:prstGeom>
          <a:noFill/>
        </p:spPr>
        <p:txBody>
          <a:bodyPr wrap="square" lIns="0" tIns="0" rIns="0" bIns="0" anchor="t">
            <a:spAutoFit/>
          </a:bodyPr>
          <a:lstStyle/>
          <a:p>
            <a:pPr algn="l"/>
            <a:r>
              <a:rPr sz="650" b="0" i="0">
                <a:solidFill>
                  <a:srgbClr val="C55A11"/>
                </a:solidFill>
                <a:latin typeface="맑은 고딕"/>
                <a:ea typeface="맑은 고딕"/>
              </a:rPr>
              <a:t>R2 종료 → 같은 슬롯에 R3 즉시 투입</a:t>
            </a:r>
          </a:p>
        </p:txBody>
      </p:sp>
      <p:sp>
        <p:nvSpPr>
          <p:cNvPr id="71" name="TextBox 70"/>
          <p:cNvSpPr txBox="1"/>
          <p:nvPr/>
        </p:nvSpPr>
        <p:spPr>
          <a:xfrm>
            <a:off x="7498079" y="3715266"/>
            <a:ext cx="4343400" cy="365760"/>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step마다 배치를 다시 구성 — 끝난 요청의 슬롯에 새 요청을 바로 넣어</a:t>
            </a:r>
          </a:p>
          <a:p>
            <a:pPr algn="l">
              <a:lnSpc>
                <a:spcPct val="114000"/>
              </a:lnSpc>
            </a:pPr>
            <a:r>
              <a:rPr sz="750" b="0" i="0">
                <a:solidFill>
                  <a:srgbClr val="404040"/>
                </a:solidFill>
                <a:latin typeface="맑은 고딕"/>
                <a:ea typeface="맑은 고딕"/>
              </a:rPr>
              <a:t>배치 전체가 끝나기를 기다리지 않음 (GPU 유휴 구간 제거)</a:t>
            </a:r>
          </a:p>
        </p:txBody>
      </p:sp>
      <p:sp>
        <p:nvSpPr>
          <p:cNvPr id="72" name="Rectangle 71"/>
          <p:cNvSpPr/>
          <p:nvPr/>
        </p:nvSpPr>
        <p:spPr>
          <a:xfrm>
            <a:off x="7498079" y="4026162"/>
            <a:ext cx="1316736" cy="2011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Prefix Caching</a:t>
            </a:r>
          </a:p>
        </p:txBody>
      </p:sp>
      <p:sp>
        <p:nvSpPr>
          <p:cNvPr id="73" name="TextBox 72"/>
          <p:cNvSpPr txBox="1"/>
          <p:nvPr/>
        </p:nvSpPr>
        <p:spPr>
          <a:xfrm>
            <a:off x="7498079" y="4282194"/>
            <a:ext cx="384048" cy="164592"/>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Req1</a:t>
            </a:r>
          </a:p>
        </p:txBody>
      </p:sp>
      <p:sp>
        <p:nvSpPr>
          <p:cNvPr id="74" name="Rectangle 73"/>
          <p:cNvSpPr/>
          <p:nvPr/>
        </p:nvSpPr>
        <p:spPr>
          <a:xfrm>
            <a:off x="7918704" y="4282194"/>
            <a:ext cx="98755" cy="146304"/>
          </a:xfrm>
          <a:prstGeom prst="rect">
            <a:avLst/>
          </a:prstGeom>
          <a:solidFill>
            <a:srgbClr val="A9D18E"/>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5" name="Rectangle 74"/>
          <p:cNvSpPr/>
          <p:nvPr/>
        </p:nvSpPr>
        <p:spPr>
          <a:xfrm>
            <a:off x="8030260" y="4282194"/>
            <a:ext cx="98755" cy="146304"/>
          </a:xfrm>
          <a:prstGeom prst="rect">
            <a:avLst/>
          </a:prstGeom>
          <a:solidFill>
            <a:srgbClr val="A9D18E"/>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6" name="Rectangle 75"/>
          <p:cNvSpPr/>
          <p:nvPr/>
        </p:nvSpPr>
        <p:spPr>
          <a:xfrm>
            <a:off x="8141817" y="4282194"/>
            <a:ext cx="98755" cy="146304"/>
          </a:xfrm>
          <a:prstGeom prst="rect">
            <a:avLst/>
          </a:prstGeom>
          <a:solidFill>
            <a:srgbClr val="A9D18E"/>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7" name="Rectangle 76"/>
          <p:cNvSpPr/>
          <p:nvPr/>
        </p:nvSpPr>
        <p:spPr>
          <a:xfrm>
            <a:off x="8253374" y="4282194"/>
            <a:ext cx="98755" cy="146304"/>
          </a:xfrm>
          <a:prstGeom prst="rect">
            <a:avLst/>
          </a:prstGeom>
          <a:solidFill>
            <a:srgbClr val="D9D9D9"/>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8" name="Rectangle 77"/>
          <p:cNvSpPr/>
          <p:nvPr/>
        </p:nvSpPr>
        <p:spPr>
          <a:xfrm>
            <a:off x="8364931" y="4282194"/>
            <a:ext cx="98755" cy="146304"/>
          </a:xfrm>
          <a:prstGeom prst="rect">
            <a:avLst/>
          </a:prstGeom>
          <a:solidFill>
            <a:srgbClr val="D9D9D9"/>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9" name="Rectangle 78"/>
          <p:cNvSpPr/>
          <p:nvPr/>
        </p:nvSpPr>
        <p:spPr>
          <a:xfrm>
            <a:off x="8476488" y="4282194"/>
            <a:ext cx="98755" cy="146304"/>
          </a:xfrm>
          <a:prstGeom prst="rect">
            <a:avLst/>
          </a:prstGeom>
          <a:solidFill>
            <a:srgbClr val="D9D9D9"/>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0" name="TextBox 79"/>
          <p:cNvSpPr txBox="1"/>
          <p:nvPr/>
        </p:nvSpPr>
        <p:spPr>
          <a:xfrm>
            <a:off x="7498079" y="4465074"/>
            <a:ext cx="384048" cy="164592"/>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Req2</a:t>
            </a:r>
          </a:p>
        </p:txBody>
      </p:sp>
      <p:sp>
        <p:nvSpPr>
          <p:cNvPr id="81" name="Rectangle 80"/>
          <p:cNvSpPr/>
          <p:nvPr/>
        </p:nvSpPr>
        <p:spPr>
          <a:xfrm>
            <a:off x="7918704" y="4465074"/>
            <a:ext cx="98755" cy="146304"/>
          </a:xfrm>
          <a:prstGeom prst="rect">
            <a:avLst/>
          </a:prstGeom>
          <a:solidFill>
            <a:srgbClr val="A9D18E"/>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2" name="Rectangle 81"/>
          <p:cNvSpPr/>
          <p:nvPr/>
        </p:nvSpPr>
        <p:spPr>
          <a:xfrm>
            <a:off x="8030260" y="4465074"/>
            <a:ext cx="98755" cy="146304"/>
          </a:xfrm>
          <a:prstGeom prst="rect">
            <a:avLst/>
          </a:prstGeom>
          <a:solidFill>
            <a:srgbClr val="A9D18E"/>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3" name="Rectangle 82"/>
          <p:cNvSpPr/>
          <p:nvPr/>
        </p:nvSpPr>
        <p:spPr>
          <a:xfrm>
            <a:off x="8141817" y="4465074"/>
            <a:ext cx="98755" cy="146304"/>
          </a:xfrm>
          <a:prstGeom prst="rect">
            <a:avLst/>
          </a:prstGeom>
          <a:solidFill>
            <a:srgbClr val="A9D18E"/>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4" name="Rectangle 83"/>
          <p:cNvSpPr/>
          <p:nvPr/>
        </p:nvSpPr>
        <p:spPr>
          <a:xfrm>
            <a:off x="8253374" y="4465074"/>
            <a:ext cx="98755" cy="146304"/>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5" name="Rectangle 84"/>
          <p:cNvSpPr/>
          <p:nvPr/>
        </p:nvSpPr>
        <p:spPr>
          <a:xfrm>
            <a:off x="8364931" y="4465074"/>
            <a:ext cx="98755" cy="146304"/>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6" name="Rectangle 85"/>
          <p:cNvSpPr/>
          <p:nvPr/>
        </p:nvSpPr>
        <p:spPr>
          <a:xfrm>
            <a:off x="8476488" y="4465074"/>
            <a:ext cx="98755" cy="146304"/>
          </a:xfrm>
          <a:prstGeom prst="rect">
            <a:avLst/>
          </a:prstGeom>
          <a:solidFill>
            <a:srgbClr val="F4B183"/>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7" name="TextBox 86"/>
          <p:cNvSpPr txBox="1"/>
          <p:nvPr/>
        </p:nvSpPr>
        <p:spPr>
          <a:xfrm>
            <a:off x="8650224" y="4282194"/>
            <a:ext cx="3108960" cy="164592"/>
          </a:xfrm>
          <a:prstGeom prst="rect">
            <a:avLst/>
          </a:prstGeom>
          <a:noFill/>
        </p:spPr>
        <p:txBody>
          <a:bodyPr wrap="square" lIns="0" tIns="0" rIns="0" bIns="0" anchor="ctr">
            <a:spAutoFit/>
          </a:bodyPr>
          <a:lstStyle/>
          <a:p>
            <a:pPr algn="l"/>
            <a:r>
              <a:rPr sz="650" b="0" i="0">
                <a:solidFill>
                  <a:srgbClr val="548235"/>
                </a:solidFill>
                <a:latin typeface="맑은 고딕"/>
                <a:ea typeface="맑은 고딕"/>
              </a:rPr>
              <a:t>■ 해시 일치 → KV 재사용 (prefill skip)</a:t>
            </a:r>
          </a:p>
        </p:txBody>
      </p:sp>
      <p:sp>
        <p:nvSpPr>
          <p:cNvPr id="88" name="TextBox 87"/>
          <p:cNvSpPr txBox="1"/>
          <p:nvPr/>
        </p:nvSpPr>
        <p:spPr>
          <a:xfrm>
            <a:off x="8650224" y="4465074"/>
            <a:ext cx="3108960" cy="164592"/>
          </a:xfrm>
          <a:prstGeom prst="rect">
            <a:avLst/>
          </a:prstGeom>
          <a:noFill/>
        </p:spPr>
        <p:txBody>
          <a:bodyPr wrap="square" lIns="0" tIns="0" rIns="0" bIns="0" anchor="ctr">
            <a:spAutoFit/>
          </a:bodyPr>
          <a:lstStyle/>
          <a:p>
            <a:pPr algn="l"/>
            <a:r>
              <a:rPr sz="650" b="0" i="0">
                <a:solidFill>
                  <a:srgbClr val="C55A11"/>
                </a:solidFill>
                <a:latin typeface="맑은 고딕"/>
                <a:ea typeface="맑은 고딕"/>
              </a:rPr>
              <a:t>■ 새 토큰만 계산</a:t>
            </a:r>
          </a:p>
        </p:txBody>
      </p:sp>
      <p:sp>
        <p:nvSpPr>
          <p:cNvPr id="89" name="TextBox 88"/>
          <p:cNvSpPr txBox="1"/>
          <p:nvPr/>
        </p:nvSpPr>
        <p:spPr>
          <a:xfrm>
            <a:off x="7498079" y="4666242"/>
            <a:ext cx="4343400" cy="365760"/>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블록 해시가 같은 prefix는 이미 계산해 둔 KV를 그대로 재사용 —</a:t>
            </a:r>
          </a:p>
          <a:p>
            <a:pPr algn="l">
              <a:lnSpc>
                <a:spcPct val="114000"/>
              </a:lnSpc>
            </a:pPr>
            <a:r>
              <a:rPr sz="750" b="0" i="0">
                <a:solidFill>
                  <a:srgbClr val="404040"/>
                </a:solidFill>
                <a:latin typeface="맑은 고딕"/>
                <a:ea typeface="맑은 고딕"/>
              </a:rPr>
              <a:t>시스템 프롬프트·멀티턴 대화에서 TTFT를 크게 줄이는 경로</a:t>
            </a:r>
          </a:p>
        </p:txBody>
      </p:sp>
      <p:sp>
        <p:nvSpPr>
          <p:cNvPr id="90" name="TextBox 89"/>
          <p:cNvSpPr txBox="1"/>
          <p:nvPr/>
        </p:nvSpPr>
        <p:spPr>
          <a:xfrm>
            <a:off x="219456" y="5233170"/>
            <a:ext cx="7315200" cy="219456"/>
          </a:xfrm>
          <a:prstGeom prst="rect">
            <a:avLst/>
          </a:prstGeom>
          <a:noFill/>
        </p:spPr>
        <p:txBody>
          <a:bodyPr wrap="square" lIns="0" tIns="0" rIns="0" bIns="0" anchor="ctr">
            <a:spAutoFit/>
          </a:bodyPr>
          <a:lstStyle/>
          <a:p>
            <a:pPr algn="l"/>
            <a:r>
              <a:rPr sz="1050" b="1" i="0">
                <a:solidFill>
                  <a:srgbClr val="262626"/>
                </a:solidFill>
                <a:latin typeface="맑은 고딕"/>
                <a:ea typeface="맑은 고딕"/>
              </a:rPr>
              <a:t>③ vLLM 모듈 ↔ 본 과제 설계 결정(DP) — 각 DP가 손대는 지점</a:t>
            </a:r>
          </a:p>
        </p:txBody>
      </p:sp>
      <p:sp>
        <p:nvSpPr>
          <p:cNvPr id="91" name="Rectangle 90"/>
          <p:cNvSpPr/>
          <p:nvPr/>
        </p:nvSpPr>
        <p:spPr>
          <a:xfrm>
            <a:off x="219456" y="5507490"/>
            <a:ext cx="2825496" cy="1005840"/>
          </a:xfrm>
          <a:prstGeom prst="rect">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2" name="Rectangle 91"/>
          <p:cNvSpPr/>
          <p:nvPr/>
        </p:nvSpPr>
        <p:spPr>
          <a:xfrm>
            <a:off x="219456" y="5507490"/>
            <a:ext cx="2825496" cy="237744"/>
          </a:xfrm>
          <a:prstGeom prst="rect">
            <a:avLst/>
          </a:prstGeom>
          <a:solidFill>
            <a:srgbClr val="2E75B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DP1. 데이터 배치·마이그레이션</a:t>
            </a:r>
          </a:p>
        </p:txBody>
      </p:sp>
      <p:sp>
        <p:nvSpPr>
          <p:cNvPr id="93" name="TextBox 92"/>
          <p:cNvSpPr txBox="1"/>
          <p:nvPr/>
        </p:nvSpPr>
        <p:spPr>
          <a:xfrm>
            <a:off x="274320" y="5800098"/>
            <a:ext cx="2715768" cy="146304"/>
          </a:xfrm>
          <a:prstGeom prst="rect">
            <a:avLst/>
          </a:prstGeom>
          <a:noFill/>
        </p:spPr>
        <p:txBody>
          <a:bodyPr wrap="square" lIns="0" tIns="0" rIns="0" bIns="0" anchor="t">
            <a:spAutoFit/>
          </a:bodyPr>
          <a:lstStyle/>
          <a:p>
            <a:pPr algn="l"/>
            <a:r>
              <a:rPr sz="700" b="1" i="0">
                <a:solidFill>
                  <a:srgbClr val="1F4E79"/>
                </a:solidFill>
                <a:latin typeface="맑은 고딕"/>
                <a:ea typeface="맑은 고딕"/>
              </a:rPr>
              <a:t>확장 지점 : KV Cache Manager · Block Pool · kv_offload</a:t>
            </a:r>
          </a:p>
        </p:txBody>
      </p:sp>
      <p:sp>
        <p:nvSpPr>
          <p:cNvPr id="94" name="TextBox 93"/>
          <p:cNvSpPr txBox="1"/>
          <p:nvPr/>
        </p:nvSpPr>
        <p:spPr>
          <a:xfrm>
            <a:off x="274320" y="5982978"/>
            <a:ext cx="2715768" cy="493776"/>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KV 블록의 할당·이동 대상을 HBM 밖</a:t>
            </a:r>
          </a:p>
          <a:p>
            <a:pPr algn="l">
              <a:lnSpc>
                <a:spcPct val="114000"/>
              </a:lnSpc>
            </a:pPr>
            <a:r>
              <a:rPr sz="750" b="0" i="0">
                <a:solidFill>
                  <a:srgbClr val="404040"/>
                </a:solidFill>
                <a:latin typeface="맑은 고딕"/>
                <a:ea typeface="맑은 고딕"/>
              </a:rPr>
              <a:t>tier(DRAM·CXL·SSD)까지 확대 — 언제</a:t>
            </a:r>
          </a:p>
          <a:p>
            <a:pPr algn="l">
              <a:lnSpc>
                <a:spcPct val="114000"/>
              </a:lnSpc>
            </a:pPr>
            <a:r>
              <a:rPr sz="750" b="0" i="0">
                <a:solidFill>
                  <a:srgbClr val="404040"/>
                </a:solidFill>
                <a:latin typeface="맑은 고딕"/>
                <a:ea typeface="맑은 고딕"/>
              </a:rPr>
              <a:t>어디로 옮길지의 정책을 새로 정의</a:t>
            </a:r>
          </a:p>
        </p:txBody>
      </p:sp>
      <p:sp>
        <p:nvSpPr>
          <p:cNvPr id="95" name="Rectangle 94"/>
          <p:cNvSpPr/>
          <p:nvPr/>
        </p:nvSpPr>
        <p:spPr>
          <a:xfrm>
            <a:off x="3191256" y="5507490"/>
            <a:ext cx="2825496" cy="1005840"/>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6" name="Rectangle 95"/>
          <p:cNvSpPr/>
          <p:nvPr/>
        </p:nvSpPr>
        <p:spPr>
          <a:xfrm>
            <a:off x="3191256" y="5507490"/>
            <a:ext cx="2825496" cy="237744"/>
          </a:xfrm>
          <a:prstGeom prst="rect">
            <a:avLst/>
          </a:prstGeom>
          <a:solidFill>
            <a:srgbClr val="C55A11"/>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DP2. 연산 실행 위치 분리</a:t>
            </a:r>
          </a:p>
        </p:txBody>
      </p:sp>
      <p:sp>
        <p:nvSpPr>
          <p:cNvPr id="97" name="TextBox 96"/>
          <p:cNvSpPr txBox="1"/>
          <p:nvPr/>
        </p:nvSpPr>
        <p:spPr>
          <a:xfrm>
            <a:off x="3246120" y="5800098"/>
            <a:ext cx="2715768" cy="146304"/>
          </a:xfrm>
          <a:prstGeom prst="rect">
            <a:avLst/>
          </a:prstGeom>
          <a:noFill/>
        </p:spPr>
        <p:txBody>
          <a:bodyPr wrap="square" lIns="0" tIns="0" rIns="0" bIns="0" anchor="t">
            <a:spAutoFit/>
          </a:bodyPr>
          <a:lstStyle/>
          <a:p>
            <a:pPr algn="l"/>
            <a:r>
              <a:rPr sz="700" b="1" i="0">
                <a:solidFill>
                  <a:srgbClr val="C55A11"/>
                </a:solidFill>
                <a:latin typeface="맑은 고딕"/>
                <a:ea typeface="맑은 고딕"/>
              </a:rPr>
              <a:t>확장 지점 : Scheduler · Executor / Worker</a:t>
            </a:r>
          </a:p>
        </p:txBody>
      </p:sp>
      <p:sp>
        <p:nvSpPr>
          <p:cNvPr id="98" name="TextBox 97"/>
          <p:cNvSpPr txBox="1"/>
          <p:nvPr/>
        </p:nvSpPr>
        <p:spPr>
          <a:xfrm>
            <a:off x="3246120" y="5982978"/>
            <a:ext cx="2715768" cy="493776"/>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Prefill·Decode를 서로 다른 실행 자원에</a:t>
            </a:r>
          </a:p>
          <a:p>
            <a:pPr algn="l">
              <a:lnSpc>
                <a:spcPct val="114000"/>
              </a:lnSpc>
            </a:pPr>
            <a:r>
              <a:rPr sz="750" b="0" i="0">
                <a:solidFill>
                  <a:srgbClr val="404040"/>
                </a:solidFill>
                <a:latin typeface="맑은 고딕"/>
                <a:ea typeface="맑은 고딕"/>
              </a:rPr>
              <a:t>배치하고, tier별 준비 상태를 step 배치</a:t>
            </a:r>
          </a:p>
          <a:p>
            <a:pPr algn="l">
              <a:lnSpc>
                <a:spcPct val="114000"/>
              </a:lnSpc>
            </a:pPr>
            <a:r>
              <a:rPr sz="750" b="0" i="0">
                <a:solidFill>
                  <a:srgbClr val="404040"/>
                </a:solidFill>
                <a:latin typeface="맑은 고딕"/>
                <a:ea typeface="맑은 고딕"/>
              </a:rPr>
              <a:t>결정에 반영</a:t>
            </a:r>
          </a:p>
        </p:txBody>
      </p:sp>
      <p:sp>
        <p:nvSpPr>
          <p:cNvPr id="99" name="Rectangle 98"/>
          <p:cNvSpPr/>
          <p:nvPr/>
        </p:nvSpPr>
        <p:spPr>
          <a:xfrm>
            <a:off x="6163056" y="5507490"/>
            <a:ext cx="2825496" cy="1005840"/>
          </a:xfrm>
          <a:prstGeom prst="rect">
            <a:avLst/>
          </a:prstGeom>
          <a:solidFill>
            <a:srgbClr val="FFFFFF"/>
          </a:solidFill>
          <a:ln w="1587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00" name="Rectangle 99"/>
          <p:cNvSpPr/>
          <p:nvPr/>
        </p:nvSpPr>
        <p:spPr>
          <a:xfrm>
            <a:off x="6163056" y="5507490"/>
            <a:ext cx="2825496" cy="237744"/>
          </a:xfrm>
          <a:prstGeom prst="rect">
            <a:avLst/>
          </a:prstGeom>
          <a:solidFill>
            <a:srgbClr val="548235"/>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DP3. KV 압축·재사용</a:t>
            </a:r>
          </a:p>
        </p:txBody>
      </p:sp>
      <p:sp>
        <p:nvSpPr>
          <p:cNvPr id="101" name="TextBox 100"/>
          <p:cNvSpPr txBox="1"/>
          <p:nvPr/>
        </p:nvSpPr>
        <p:spPr>
          <a:xfrm>
            <a:off x="6217920" y="5800098"/>
            <a:ext cx="2715768" cy="146304"/>
          </a:xfrm>
          <a:prstGeom prst="rect">
            <a:avLst/>
          </a:prstGeom>
          <a:noFill/>
        </p:spPr>
        <p:txBody>
          <a:bodyPr wrap="square" lIns="0" tIns="0" rIns="0" bIns="0" anchor="t">
            <a:spAutoFit/>
          </a:bodyPr>
          <a:lstStyle/>
          <a:p>
            <a:pPr algn="l"/>
            <a:r>
              <a:rPr sz="700" b="1" i="0">
                <a:solidFill>
                  <a:srgbClr val="375623"/>
                </a:solidFill>
                <a:latin typeface="맑은 고딕"/>
                <a:ea typeface="맑은 고딕"/>
              </a:rPr>
              <a:t>확장 지점 : Prefix Caching(block hash) · Attention Backend</a:t>
            </a:r>
          </a:p>
        </p:txBody>
      </p:sp>
      <p:sp>
        <p:nvSpPr>
          <p:cNvPr id="102" name="TextBox 101"/>
          <p:cNvSpPr txBox="1"/>
          <p:nvPr/>
        </p:nvSpPr>
        <p:spPr>
          <a:xfrm>
            <a:off x="6217920" y="5982978"/>
            <a:ext cx="2715768" cy="493776"/>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토큰 eviction·선택 재계산을 블록 단위</a:t>
            </a:r>
          </a:p>
          <a:p>
            <a:pPr algn="l">
              <a:lnSpc>
                <a:spcPct val="114000"/>
              </a:lnSpc>
            </a:pPr>
            <a:r>
              <a:rPr sz="750" b="0" i="0">
                <a:solidFill>
                  <a:srgbClr val="404040"/>
                </a:solidFill>
                <a:latin typeface="맑은 고딕"/>
                <a:ea typeface="맑은 고딕"/>
              </a:rPr>
              <a:t>경로에 삽입 — tier 간 이동 bytes를</a:t>
            </a:r>
          </a:p>
          <a:p>
            <a:pPr algn="l">
              <a:lnSpc>
                <a:spcPct val="114000"/>
              </a:lnSpc>
            </a:pPr>
            <a:r>
              <a:rPr sz="750" b="0" i="0">
                <a:solidFill>
                  <a:srgbClr val="404040"/>
                </a:solidFill>
                <a:latin typeface="맑은 고딕"/>
                <a:ea typeface="맑은 고딕"/>
              </a:rPr>
              <a:t>줄이면서 Accuracy 유지</a:t>
            </a:r>
          </a:p>
        </p:txBody>
      </p:sp>
      <p:sp>
        <p:nvSpPr>
          <p:cNvPr id="103" name="Rectangle 102"/>
          <p:cNvSpPr/>
          <p:nvPr/>
        </p:nvSpPr>
        <p:spPr>
          <a:xfrm>
            <a:off x="9134856" y="5507490"/>
            <a:ext cx="2825496" cy="1005840"/>
          </a:xfrm>
          <a:prstGeom prst="rect">
            <a:avLst/>
          </a:prstGeom>
          <a:solidFill>
            <a:srgbClr val="FFFFFF"/>
          </a:solidFill>
          <a:ln w="1587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04" name="Rectangle 103"/>
          <p:cNvSpPr/>
          <p:nvPr/>
        </p:nvSpPr>
        <p:spPr>
          <a:xfrm>
            <a:off x="9134856" y="5507490"/>
            <a:ext cx="2825496" cy="237744"/>
          </a:xfrm>
          <a:prstGeom prst="rect">
            <a:avLst/>
          </a:prstGeom>
          <a:solidFill>
            <a:srgbClr val="BF8F00"/>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DP4. 가상화·위치 투명성</a:t>
            </a:r>
          </a:p>
        </p:txBody>
      </p:sp>
      <p:sp>
        <p:nvSpPr>
          <p:cNvPr id="105" name="TextBox 104"/>
          <p:cNvSpPr txBox="1"/>
          <p:nvPr/>
        </p:nvSpPr>
        <p:spPr>
          <a:xfrm>
            <a:off x="9189720" y="5800098"/>
            <a:ext cx="2715768" cy="146304"/>
          </a:xfrm>
          <a:prstGeom prst="rect">
            <a:avLst/>
          </a:prstGeom>
          <a:noFill/>
        </p:spPr>
        <p:txBody>
          <a:bodyPr wrap="square" lIns="0" tIns="0" rIns="0" bIns="0" anchor="t">
            <a:spAutoFit/>
          </a:bodyPr>
          <a:lstStyle/>
          <a:p>
            <a:pPr algn="l"/>
            <a:r>
              <a:rPr sz="700" b="1" i="0">
                <a:solidFill>
                  <a:srgbClr val="7F5F00"/>
                </a:solidFill>
                <a:latin typeface="맑은 고딕"/>
                <a:ea typeface="맑은 고딕"/>
              </a:rPr>
              <a:t>확장 지점 : Block Table 주소 변환 계층</a:t>
            </a:r>
          </a:p>
        </p:txBody>
      </p:sp>
      <p:sp>
        <p:nvSpPr>
          <p:cNvPr id="106" name="TextBox 105"/>
          <p:cNvSpPr txBox="1"/>
          <p:nvPr/>
        </p:nvSpPr>
        <p:spPr>
          <a:xfrm>
            <a:off x="9189720" y="5982978"/>
            <a:ext cx="2715768" cy="493776"/>
          </a:xfrm>
          <a:prstGeom prst="rect">
            <a:avLst/>
          </a:prstGeom>
          <a:noFill/>
        </p:spPr>
        <p:txBody>
          <a:bodyPr wrap="square" lIns="0" tIns="0" rIns="0" bIns="0" anchor="t">
            <a:spAutoFit/>
          </a:bodyPr>
          <a:lstStyle/>
          <a:p>
            <a:pPr algn="l">
              <a:lnSpc>
                <a:spcPct val="114000"/>
              </a:lnSpc>
            </a:pPr>
            <a:r>
              <a:rPr sz="750" b="0" i="0">
                <a:solidFill>
                  <a:srgbClr val="404040"/>
                </a:solidFill>
                <a:latin typeface="맑은 고딕"/>
                <a:ea typeface="맑은 고딕"/>
              </a:rPr>
              <a:t>물리 토폴로지를 은닉해 코어(어텐션·</a:t>
            </a:r>
          </a:p>
          <a:p>
            <a:pPr algn="l">
              <a:lnSpc>
                <a:spcPct val="114000"/>
              </a:lnSpc>
            </a:pPr>
            <a:r>
              <a:rPr sz="750" b="0" i="0">
                <a:solidFill>
                  <a:srgbClr val="404040"/>
                </a:solidFill>
                <a:latin typeface="맑은 고딕"/>
                <a:ea typeface="맑은 고딕"/>
              </a:rPr>
              <a:t>스케줄러) 수정 없이 신규 메모리를</a:t>
            </a:r>
          </a:p>
          <a:p>
            <a:pPr algn="l">
              <a:lnSpc>
                <a:spcPct val="114000"/>
              </a:lnSpc>
            </a:pPr>
            <a:r>
              <a:rPr sz="750" b="0" i="0">
                <a:solidFill>
                  <a:srgbClr val="404040"/>
                </a:solidFill>
                <a:latin typeface="맑은 고딕"/>
                <a:ea typeface="맑은 고딕"/>
              </a:rPr>
              <a:t>플러그인으로 수용 — QA2 변경용이성</a:t>
            </a:r>
          </a:p>
        </p:txBody>
      </p:sp>
      <p:sp>
        <p:nvSpPr>
          <p:cNvPr id="108" name="실행 단추: 뒤로 또는 이전 107">
            <a:hlinkClick r:id="rId3" action="ppaction://hlinksldjump" highlightClick="1"/>
          </p:cNvPr>
          <p:cNvSpPr/>
          <p:nvPr/>
        </p:nvSpPr>
        <p:spPr>
          <a:xfrm>
            <a:off x="7477125" y="137379"/>
            <a:ext cx="304800" cy="28172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25436609"/>
      </p:ext>
    </p:extLst>
  </p:cSld>
  <p:clrMapOvr>
    <a:masterClrMapping/>
  </p:clrMapOvr>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D01C89E-A9E6-4B7B-B285-7440B3BA82F3}"/>
              </a:ext>
            </a:extLst>
          </p:cNvPr>
          <p:cNvSpPr>
            <a:spLocks noGrp="1"/>
          </p:cNvSpPr>
          <p:nvPr>
            <p:ph type="title"/>
          </p:nvPr>
        </p:nvSpPr>
        <p:spPr/>
        <p:txBody>
          <a:bodyPr/>
          <a:lstStyle/>
          <a:p>
            <a:r>
              <a:rPr lang="en-US" altLang="ko-KR" dirty="0" err="1"/>
              <a:t>vLLM</a:t>
            </a:r>
            <a:r>
              <a:rPr lang="en-US" altLang="ko-KR" dirty="0"/>
              <a:t> – </a:t>
            </a:r>
            <a:r>
              <a:rPr lang="ko-KR" altLang="en-US" dirty="0"/>
              <a:t>모듈 별 역할</a:t>
            </a:r>
          </a:p>
        </p:txBody>
      </p:sp>
      <p:graphicFrame>
        <p:nvGraphicFramePr>
          <p:cNvPr id="3" name="표 2">
            <a:extLst>
              <a:ext uri="{FF2B5EF4-FFF2-40B4-BE49-F238E27FC236}">
                <a16:creationId xmlns:a16="http://schemas.microsoft.com/office/drawing/2014/main" id="{D369F8D4-2C24-4D46-993A-DD500027E5B3}"/>
              </a:ext>
            </a:extLst>
          </p:cNvPr>
          <p:cNvGraphicFramePr>
            <a:graphicFrameLocks noGrp="1"/>
          </p:cNvGraphicFramePr>
          <p:nvPr/>
        </p:nvGraphicFramePr>
        <p:xfrm>
          <a:off x="364670" y="928915"/>
          <a:ext cx="11239501" cy="4794402"/>
        </p:xfrm>
        <a:graphic>
          <a:graphicData uri="http://schemas.openxmlformats.org/drawingml/2006/table">
            <a:tbl>
              <a:tblPr/>
              <a:tblGrid>
                <a:gridCol w="2792187">
                  <a:extLst>
                    <a:ext uri="{9D8B030D-6E8A-4147-A177-3AD203B41FA5}">
                      <a16:colId xmlns:a16="http://schemas.microsoft.com/office/drawing/2014/main" val="3702690456"/>
                    </a:ext>
                  </a:extLst>
                </a:gridCol>
                <a:gridCol w="2917372">
                  <a:extLst>
                    <a:ext uri="{9D8B030D-6E8A-4147-A177-3AD203B41FA5}">
                      <a16:colId xmlns:a16="http://schemas.microsoft.com/office/drawing/2014/main" val="3824790766"/>
                    </a:ext>
                  </a:extLst>
                </a:gridCol>
                <a:gridCol w="5529942">
                  <a:extLst>
                    <a:ext uri="{9D8B030D-6E8A-4147-A177-3AD203B41FA5}">
                      <a16:colId xmlns:a16="http://schemas.microsoft.com/office/drawing/2014/main" val="3742079229"/>
                    </a:ext>
                  </a:extLst>
                </a:gridCol>
              </a:tblGrid>
              <a:tr h="354974">
                <a:tc>
                  <a:txBody>
                    <a:bodyPr/>
                    <a:lstStyle/>
                    <a:p>
                      <a:pPr algn="ctr"/>
                      <a:r>
                        <a:rPr lang="ko-KR" altLang="en-US" sz="1600" b="1" dirty="0"/>
                        <a:t>영역</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ko-KR" altLang="en-US" sz="1600" b="1" dirty="0"/>
                        <a:t>모듈</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ko-KR" altLang="en-US" sz="1600" b="1" dirty="0"/>
                        <a:t>역할</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76851129"/>
                  </a:ext>
                </a:extLst>
              </a:tr>
              <a:tr h="448167">
                <a:tc rowSpan="5">
                  <a:txBody>
                    <a:bodyPr/>
                    <a:lstStyle/>
                    <a:p>
                      <a:r>
                        <a:rPr lang="en-US" sz="1600" dirty="0"/>
                        <a:t>Generation - </a:t>
                      </a:r>
                      <a:r>
                        <a:rPr lang="ko-KR" altLang="en-US" sz="1600" dirty="0"/>
                        <a:t>요청</a:t>
                      </a:r>
                      <a:r>
                        <a:rPr lang="en-US" altLang="ko-KR" sz="1600" dirty="0"/>
                        <a:t>·</a:t>
                      </a:r>
                      <a:r>
                        <a:rPr lang="ko-KR" altLang="en-US" sz="1600" dirty="0"/>
                        <a:t>생성 흐름 제어</a:t>
                      </a:r>
                      <a:endParaRPr lang="en-US" sz="1600" dirty="0"/>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600" dirty="0"/>
                        <a:t>Scheduler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a:t>이번 스텝에서 처리할 요청과 토큰 수 결정</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6797935"/>
                  </a:ext>
                </a:extLst>
              </a:tr>
              <a:tr h="448167">
                <a:tc vMerge="1">
                  <a:txBody>
                    <a:bodyPr/>
                    <a:lstStyle/>
                    <a:p>
                      <a:r>
                        <a:rPr lang="en-US" sz="1200" dirty="0"/>
                        <a:t>Generation</a:t>
                      </a:r>
                    </a:p>
                  </a:txBody>
                  <a:tcPr marL="61286" marR="61286" marT="30643" marB="30643" anchor="ctr">
                    <a:lnL>
                      <a:noFill/>
                    </a:lnL>
                    <a:lnR>
                      <a:noFill/>
                    </a:lnR>
                    <a:lnT>
                      <a:noFill/>
                    </a:lnT>
                    <a:lnB>
                      <a:noFill/>
                    </a:lnB>
                  </a:tcPr>
                </a:tc>
                <a:tc>
                  <a:txBody>
                    <a:bodyPr/>
                    <a:lstStyle/>
                    <a:p>
                      <a:r>
                        <a:rPr lang="en-US" sz="1600" dirty="0"/>
                        <a:t>Engine Core</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dirty="0"/>
                        <a:t>스케줄링 → 실행 → 결과 반영의 반복 루프 제어</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77403827"/>
                  </a:ext>
                </a:extLst>
              </a:tr>
              <a:tr h="448167">
                <a:tc vMerge="1">
                  <a:txBody>
                    <a:bodyPr/>
                    <a:lstStyle/>
                    <a:p>
                      <a:r>
                        <a:rPr lang="en-US" sz="1200" dirty="0"/>
                        <a:t>Generation</a:t>
                      </a:r>
                    </a:p>
                  </a:txBody>
                  <a:tcPr marL="61286" marR="61286" marT="30643" marB="30643" anchor="ctr">
                    <a:lnL>
                      <a:noFill/>
                    </a:lnL>
                    <a:lnR>
                      <a:noFill/>
                    </a:lnR>
                    <a:lnT>
                      <a:noFill/>
                    </a:lnT>
                    <a:lnB>
                      <a:noFill/>
                    </a:lnB>
                  </a:tcPr>
                </a:tc>
                <a:tc>
                  <a:txBody>
                    <a:bodyPr/>
                    <a:lstStyle/>
                    <a:p>
                      <a:r>
                        <a:rPr lang="en-US" sz="1600" dirty="0"/>
                        <a:t>Executor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dirty="0"/>
                        <a:t>실행 명령을 </a:t>
                      </a:r>
                      <a:r>
                        <a:rPr lang="en-US" altLang="ko-KR" sz="1600" dirty="0"/>
                        <a:t>Worker</a:t>
                      </a:r>
                      <a:r>
                        <a:rPr lang="ko-KR" altLang="en-US" sz="1600" dirty="0"/>
                        <a:t>에 전달하고 결과 수집</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19084613"/>
                  </a:ext>
                </a:extLst>
              </a:tr>
              <a:tr h="448167">
                <a:tc vMerge="1">
                  <a:txBody>
                    <a:bodyPr/>
                    <a:lstStyle/>
                    <a:p>
                      <a:r>
                        <a:rPr lang="en-US" sz="1200" dirty="0"/>
                        <a:t>Generation</a:t>
                      </a:r>
                    </a:p>
                  </a:txBody>
                  <a:tcPr marL="61286" marR="61286" marT="30643" marB="30643" anchor="ctr">
                    <a:lnL>
                      <a:noFill/>
                    </a:lnL>
                    <a:lnR>
                      <a:noFill/>
                    </a:lnR>
                    <a:lnT>
                      <a:noFill/>
                    </a:lnT>
                    <a:lnB>
                      <a:noFill/>
                    </a:lnB>
                  </a:tcPr>
                </a:tc>
                <a:tc>
                  <a:txBody>
                    <a:bodyPr/>
                    <a:lstStyle/>
                    <a:p>
                      <a:r>
                        <a:rPr lang="en-US" sz="1600" dirty="0"/>
                        <a:t>Engine Core Client</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dirty="0" err="1"/>
                        <a:t>프론트엔드</a:t>
                      </a:r>
                      <a:r>
                        <a:rPr lang="ko-KR" altLang="en-US" sz="1600" dirty="0"/>
                        <a:t> ↔ </a:t>
                      </a:r>
                      <a:r>
                        <a:rPr lang="en-US" altLang="ko-KR" sz="1600" dirty="0"/>
                        <a:t>Engine Core </a:t>
                      </a:r>
                      <a:r>
                        <a:rPr lang="ko-KR" altLang="en-US" sz="1600" dirty="0"/>
                        <a:t>요청</a:t>
                      </a:r>
                      <a:r>
                        <a:rPr lang="en-US" altLang="ko-KR" sz="1600" dirty="0"/>
                        <a:t>·</a:t>
                      </a:r>
                      <a:r>
                        <a:rPr lang="ko-KR" altLang="en-US" sz="1600" dirty="0"/>
                        <a:t>결과 전달</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19451956"/>
                  </a:ext>
                </a:extLst>
              </a:tr>
              <a:tr h="448167">
                <a:tc vMerge="1">
                  <a:txBody>
                    <a:bodyPr/>
                    <a:lstStyle/>
                    <a:p>
                      <a:r>
                        <a:rPr lang="en-US" sz="1200" dirty="0"/>
                        <a:t>Generation</a:t>
                      </a:r>
                    </a:p>
                  </a:txBody>
                  <a:tcPr marL="61286" marR="61286" marT="30643" marB="30643" anchor="ctr">
                    <a:lnL>
                      <a:noFill/>
                    </a:lnL>
                    <a:lnR>
                      <a:noFill/>
                    </a:lnR>
                    <a:lnT>
                      <a:noFill/>
                    </a:lnT>
                    <a:lnB>
                      <a:noFill/>
                    </a:lnB>
                  </a:tcPr>
                </a:tc>
                <a:tc>
                  <a:txBody>
                    <a:bodyPr/>
                    <a:lstStyle/>
                    <a:p>
                      <a:r>
                        <a:rPr lang="en-US" sz="1600" dirty="0"/>
                        <a:t>Input / Output Processor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a:t>요청 입력 변환</a:t>
                      </a:r>
                      <a:r>
                        <a:rPr lang="en-US" altLang="ko-KR" sz="1600"/>
                        <a:t>, </a:t>
                      </a:r>
                      <a:r>
                        <a:rPr lang="ko-KR" altLang="en-US" sz="1600"/>
                        <a:t>출력 토큰의 텍스트 변환</a:t>
                      </a:r>
                      <a:r>
                        <a:rPr lang="en-US" altLang="ko-KR" sz="1600"/>
                        <a:t>·</a:t>
                      </a:r>
                      <a:r>
                        <a:rPr lang="ko-KR" altLang="en-US" sz="1600"/>
                        <a:t>응답 처리</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7833106"/>
                  </a:ext>
                </a:extLst>
              </a:tr>
              <a:tr h="448167">
                <a:tc rowSpan="5">
                  <a:txBody>
                    <a:bodyPr/>
                    <a:lstStyle/>
                    <a:p>
                      <a:r>
                        <a:rPr lang="en-US" sz="1600" dirty="0"/>
                        <a:t>Compute - </a:t>
                      </a:r>
                      <a:r>
                        <a:rPr lang="ko-KR" altLang="en-US" sz="1600" dirty="0"/>
                        <a:t>모델 연산 실행</a:t>
                      </a:r>
                      <a:endParaRPr lang="en-US" sz="1600" dirty="0"/>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600"/>
                        <a:t>Worker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dirty="0"/>
                        <a:t>디바이스 초기화 및 모델 로드</a:t>
                      </a:r>
                      <a:r>
                        <a:rPr lang="en-US" altLang="ko-KR" sz="1600" dirty="0"/>
                        <a:t>·</a:t>
                      </a:r>
                      <a:r>
                        <a:rPr lang="ko-KR" altLang="en-US" sz="1600" dirty="0"/>
                        <a:t>실행 </a:t>
                      </a:r>
                      <a:r>
                        <a:rPr lang="ko-KR" altLang="en-US" sz="1600" dirty="0" err="1"/>
                        <a:t>진입점</a:t>
                      </a:r>
                      <a:endParaRPr lang="ko-KR" altLang="en-US" sz="1600" dirty="0"/>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24561655"/>
                  </a:ext>
                </a:extLst>
              </a:tr>
              <a:tr h="448167">
                <a:tc vMerge="1">
                  <a:txBody>
                    <a:bodyPr/>
                    <a:lstStyle/>
                    <a:p>
                      <a:r>
                        <a:rPr lang="en-US" sz="1200" dirty="0"/>
                        <a:t>Compute</a:t>
                      </a:r>
                    </a:p>
                  </a:txBody>
                  <a:tcPr marL="61286" marR="61286" marT="30643" marB="30643" anchor="ctr">
                    <a:lnL>
                      <a:noFill/>
                    </a:lnL>
                    <a:lnR>
                      <a:noFill/>
                    </a:lnR>
                    <a:lnT>
                      <a:noFill/>
                    </a:lnT>
                    <a:lnB>
                      <a:noFill/>
                    </a:lnB>
                  </a:tcPr>
                </a:tc>
                <a:tc>
                  <a:txBody>
                    <a:bodyPr/>
                    <a:lstStyle/>
                    <a:p>
                      <a:r>
                        <a:rPr lang="en-US" sz="1600" dirty="0"/>
                        <a:t>Model Runner </a:t>
                      </a:r>
                    </a:p>
                    <a:p>
                      <a:r>
                        <a:rPr lang="en-US" sz="1600" dirty="0"/>
                        <a:t>(</a:t>
                      </a:r>
                      <a:r>
                        <a:rPr lang="en-US" sz="1600" dirty="0" err="1"/>
                        <a:t>GPUModelRunner</a:t>
                      </a:r>
                      <a:r>
                        <a:rPr lang="en-US" sz="1600" dirty="0"/>
                        <a:t>)</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dirty="0"/>
                        <a:t>입력 </a:t>
                      </a:r>
                      <a:r>
                        <a:rPr lang="ko-KR" altLang="en-US" sz="1600" dirty="0" err="1"/>
                        <a:t>텐서</a:t>
                      </a:r>
                      <a:r>
                        <a:rPr lang="en-US" altLang="ko-KR" sz="1600" dirty="0"/>
                        <a:t>·</a:t>
                      </a:r>
                      <a:r>
                        <a:rPr lang="ko-KR" altLang="en-US" sz="1600" dirty="0"/>
                        <a:t>실행 메타데이터 준비</a:t>
                      </a:r>
                      <a:r>
                        <a:rPr lang="en-US" altLang="ko-KR" sz="1600" dirty="0"/>
                        <a:t>, </a:t>
                      </a:r>
                      <a:r>
                        <a:rPr lang="ko-KR" altLang="en-US" sz="1600" dirty="0"/>
                        <a:t>모델 실행과 샘플링 호출</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54158149"/>
                  </a:ext>
                </a:extLst>
              </a:tr>
              <a:tr h="448167">
                <a:tc vMerge="1">
                  <a:txBody>
                    <a:bodyPr/>
                    <a:lstStyle/>
                    <a:p>
                      <a:r>
                        <a:rPr lang="en-US" sz="1200" dirty="0"/>
                        <a:t>Compute</a:t>
                      </a:r>
                    </a:p>
                  </a:txBody>
                  <a:tcPr marL="61286" marR="61286" marT="30643" marB="30643" anchor="ctr">
                    <a:lnL>
                      <a:noFill/>
                    </a:lnL>
                    <a:lnR>
                      <a:noFill/>
                    </a:lnR>
                    <a:lnT>
                      <a:noFill/>
                    </a:lnT>
                    <a:lnB>
                      <a:noFill/>
                    </a:lnB>
                  </a:tcPr>
                </a:tc>
                <a:tc>
                  <a:txBody>
                    <a:bodyPr/>
                    <a:lstStyle/>
                    <a:p>
                      <a:r>
                        <a:rPr lang="en-US" sz="1600"/>
                        <a:t>Model / Layers</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ko-KR" altLang="en-US" sz="1600" dirty="0"/>
                        <a:t>모델의 </a:t>
                      </a:r>
                      <a:r>
                        <a:rPr lang="en-US" altLang="ko-KR" sz="1600" dirty="0" err="1"/>
                        <a:t>Attention·MLP·MoE</a:t>
                      </a:r>
                      <a:r>
                        <a:rPr lang="en-US" altLang="ko-KR" sz="1600" dirty="0"/>
                        <a:t> </a:t>
                      </a:r>
                      <a:r>
                        <a:rPr lang="ko-KR" altLang="en-US" sz="1600" dirty="0"/>
                        <a:t>등 레이어 연산</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9777064"/>
                  </a:ext>
                </a:extLst>
              </a:tr>
              <a:tr h="448167">
                <a:tc vMerge="1">
                  <a:txBody>
                    <a:bodyPr/>
                    <a:lstStyle/>
                    <a:p>
                      <a:r>
                        <a:rPr lang="en-US" sz="1200" dirty="0"/>
                        <a:t>Compute</a:t>
                      </a:r>
                    </a:p>
                  </a:txBody>
                  <a:tcPr marL="61286" marR="61286" marT="30643" marB="30643" anchor="ctr">
                    <a:lnL>
                      <a:noFill/>
                    </a:lnL>
                    <a:lnR>
                      <a:noFill/>
                    </a:lnR>
                    <a:lnT>
                      <a:noFill/>
                    </a:lnT>
                    <a:lnB>
                      <a:noFill/>
                    </a:lnB>
                  </a:tcPr>
                </a:tc>
                <a:tc>
                  <a:txBody>
                    <a:bodyPr/>
                    <a:lstStyle/>
                    <a:p>
                      <a:r>
                        <a:rPr lang="en-US" sz="1600"/>
                        <a:t>Attention Backend</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ko-KR" sz="1600" dirty="0"/>
                        <a:t>Attention </a:t>
                      </a:r>
                      <a:r>
                        <a:rPr lang="ko-KR" altLang="en-US" sz="1600" dirty="0"/>
                        <a:t>구현과 커널 실행</a:t>
                      </a:r>
                      <a:r>
                        <a:rPr lang="en-US" altLang="ko-KR" sz="1600" dirty="0"/>
                        <a:t>, </a:t>
                      </a:r>
                      <a:r>
                        <a:rPr lang="ko-KR" altLang="en-US" sz="1600" dirty="0"/>
                        <a:t>실제 </a:t>
                      </a:r>
                      <a:r>
                        <a:rPr lang="en-US" altLang="ko-KR" sz="1600" dirty="0"/>
                        <a:t>KV </a:t>
                      </a:r>
                      <a:r>
                        <a:rPr lang="ko-KR" altLang="en-US" sz="1600" dirty="0" err="1"/>
                        <a:t>텐서</a:t>
                      </a:r>
                      <a:r>
                        <a:rPr lang="ko-KR" altLang="en-US" sz="1600" dirty="0"/>
                        <a:t> 읽기</a:t>
                      </a:r>
                      <a:r>
                        <a:rPr lang="en-US" altLang="ko-KR" sz="1600" dirty="0"/>
                        <a:t>·</a:t>
                      </a:r>
                      <a:r>
                        <a:rPr lang="ko-KR" altLang="en-US" sz="1600" dirty="0"/>
                        <a:t>쓰기</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39156084"/>
                  </a:ext>
                </a:extLst>
              </a:tr>
              <a:tr h="256096">
                <a:tc vMerge="1">
                  <a:txBody>
                    <a:bodyPr/>
                    <a:lstStyle/>
                    <a:p>
                      <a:r>
                        <a:rPr lang="en-US" sz="1200" dirty="0"/>
                        <a:t>Compute</a:t>
                      </a:r>
                    </a:p>
                  </a:txBody>
                  <a:tcPr marL="61286" marR="61286" marT="30643" marB="30643" anchor="ctr">
                    <a:lnL>
                      <a:noFill/>
                    </a:lnL>
                    <a:lnR>
                      <a:noFill/>
                    </a:lnR>
                    <a:lnT>
                      <a:noFill/>
                    </a:lnT>
                    <a:lnB>
                      <a:noFill/>
                    </a:lnB>
                  </a:tcPr>
                </a:tc>
                <a:tc>
                  <a:txBody>
                    <a:bodyPr/>
                    <a:lstStyle/>
                    <a:p>
                      <a:r>
                        <a:rPr lang="en-US" sz="1600"/>
                        <a:t>Sampler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ko-KR" sz="1600" dirty="0"/>
                        <a:t>logits</a:t>
                      </a:r>
                      <a:r>
                        <a:rPr lang="ko-KR" altLang="en-US" sz="1600" dirty="0"/>
                        <a:t>에서 다음 토큰 선택</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8942910"/>
                  </a:ext>
                </a:extLst>
              </a:tr>
            </a:tbl>
          </a:graphicData>
        </a:graphic>
      </p:graphicFrame>
      <p:sp>
        <p:nvSpPr>
          <p:cNvPr id="4" name="실행 단추: 뒤로 또는 이전 3">
            <a:hlinkClick r:id="" action="ppaction://hlinkshowjump?jump=previousslide" highlightClick="1"/>
          </p:cNvPr>
          <p:cNvSpPr/>
          <p:nvPr/>
        </p:nvSpPr>
        <p:spPr>
          <a:xfrm>
            <a:off x="7528560" y="213360"/>
            <a:ext cx="304800" cy="21336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2108300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KV </a:t>
            </a:r>
            <a:r>
              <a:rPr lang="ko-KR" altLang="en-US" dirty="0"/>
              <a:t>캐시를 활용한 </a:t>
            </a:r>
            <a:r>
              <a:rPr lang="en-US" altLang="ko-KR" dirty="0"/>
              <a:t>Attention </a:t>
            </a:r>
            <a:r>
              <a:rPr lang="ko-KR" altLang="en-US" dirty="0"/>
              <a:t>연산 과정 상세</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pic>
        <p:nvPicPr>
          <p:cNvPr id="72" name="Picture 10" descr="https://miro.medium.com/v2/resize:fit:690/0*6D_17aytq215gMcF.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940" y="740780"/>
            <a:ext cx="4697296" cy="2695840"/>
          </a:xfrm>
          <a:prstGeom prst="rect">
            <a:avLst/>
          </a:prstGeom>
          <a:noFill/>
          <a:extLst>
            <a:ext uri="{909E8E84-426E-40DD-AFC4-6F175D3DCCD1}">
              <a14:hiddenFill xmlns:a14="http://schemas.microsoft.com/office/drawing/2010/main">
                <a:solidFill>
                  <a:srgbClr val="FFFFFF"/>
                </a:solidFill>
              </a14:hiddenFill>
            </a:ext>
          </a:extLst>
        </p:spPr>
      </p:pic>
      <p:grpSp>
        <p:nvGrpSpPr>
          <p:cNvPr id="76" name="그룹 75"/>
          <p:cNvGrpSpPr/>
          <p:nvPr/>
        </p:nvGrpSpPr>
        <p:grpSpPr>
          <a:xfrm>
            <a:off x="4624711" y="863887"/>
            <a:ext cx="3758520" cy="4102371"/>
            <a:chOff x="5098100" y="2820285"/>
            <a:chExt cx="3224886" cy="3831336"/>
          </a:xfrm>
        </p:grpSpPr>
        <p:sp>
          <p:nvSpPr>
            <p:cNvPr id="77" name="Text 19"/>
            <p:cNvSpPr/>
            <p:nvPr/>
          </p:nvSpPr>
          <p:spPr>
            <a:xfrm>
              <a:off x="5415265" y="2820285"/>
              <a:ext cx="2496069" cy="168953"/>
            </a:xfrm>
            <a:prstGeom prst="rect">
              <a:avLst/>
            </a:prstGeom>
            <a:noFill/>
            <a:ln/>
          </p:spPr>
          <p:txBody>
            <a:bodyPr wrap="square" lIns="0" tIns="0" rIns="0" bIns="0" rtlCol="0" anchor="t"/>
            <a:lstStyle/>
            <a:p>
              <a:pPr algn="ctr">
                <a:spcAft>
                  <a:spcPts val="600"/>
                </a:spcAft>
                <a:buSzPct val="100000"/>
              </a:pPr>
              <a:r>
                <a:rPr lang="en-US" sz="1050" dirty="0"/>
                <a:t>Attention </a:t>
              </a:r>
              <a:r>
                <a:rPr lang="ko-KR" altLang="en-US" sz="1050" dirty="0"/>
                <a:t>연산 과정 </a:t>
              </a:r>
              <a:r>
                <a:rPr lang="en-US" altLang="ko-KR" sz="1050" b="1" dirty="0">
                  <a:solidFill>
                    <a:srgbClr val="FF0000"/>
                  </a:solidFill>
                </a:rPr>
                <a:t>w/o KV </a:t>
              </a:r>
              <a:r>
                <a:rPr lang="ko-KR" altLang="en-US" sz="1050" b="1" dirty="0">
                  <a:solidFill>
                    <a:srgbClr val="FF0000"/>
                  </a:solidFill>
                </a:rPr>
                <a:t>캐시</a:t>
              </a:r>
              <a:endParaRPr lang="en-US" altLang="ko-KR" sz="1050" b="1" dirty="0">
                <a:solidFill>
                  <a:srgbClr val="FF0000"/>
                </a:solidFill>
              </a:endParaRPr>
            </a:p>
          </p:txBody>
        </p:sp>
        <p:grpSp>
          <p:nvGrpSpPr>
            <p:cNvPr id="78" name="그룹 77"/>
            <p:cNvGrpSpPr/>
            <p:nvPr/>
          </p:nvGrpSpPr>
          <p:grpSpPr>
            <a:xfrm>
              <a:off x="5098100" y="3080429"/>
              <a:ext cx="3224886" cy="3571192"/>
              <a:chOff x="5274917" y="2881215"/>
              <a:chExt cx="3238915" cy="3561447"/>
            </a:xfrm>
          </p:grpSpPr>
          <p:pic>
            <p:nvPicPr>
              <p:cNvPr id="79" name="그림 78"/>
              <p:cNvPicPr>
                <a:picLocks noChangeAspect="1"/>
              </p:cNvPicPr>
              <p:nvPr/>
            </p:nvPicPr>
            <p:blipFill rotWithShape="1">
              <a:blip r:embed="rId4"/>
              <a:srcRect b="53380"/>
              <a:stretch/>
            </p:blipFill>
            <p:spPr>
              <a:xfrm>
                <a:off x="5279589" y="5455177"/>
                <a:ext cx="3229570" cy="839164"/>
              </a:xfrm>
              <a:prstGeom prst="rect">
                <a:avLst/>
              </a:prstGeom>
            </p:spPr>
          </p:pic>
          <p:pic>
            <p:nvPicPr>
              <p:cNvPr id="80" name="그림 79"/>
              <p:cNvPicPr>
                <a:picLocks noChangeAspect="1"/>
              </p:cNvPicPr>
              <p:nvPr/>
            </p:nvPicPr>
            <p:blipFill rotWithShape="1">
              <a:blip r:embed="rId5"/>
              <a:srcRect b="51169"/>
              <a:stretch/>
            </p:blipFill>
            <p:spPr>
              <a:xfrm>
                <a:off x="5285281" y="4587712"/>
                <a:ext cx="3216716" cy="878967"/>
              </a:xfrm>
              <a:prstGeom prst="rect">
                <a:avLst/>
              </a:prstGeom>
            </p:spPr>
          </p:pic>
          <p:pic>
            <p:nvPicPr>
              <p:cNvPr id="81" name="그림 80"/>
              <p:cNvPicPr>
                <a:picLocks noChangeAspect="1"/>
              </p:cNvPicPr>
              <p:nvPr/>
            </p:nvPicPr>
            <p:blipFill rotWithShape="1">
              <a:blip r:embed="rId6"/>
              <a:srcRect b="51968"/>
              <a:stretch/>
            </p:blipFill>
            <p:spPr>
              <a:xfrm>
                <a:off x="5274917" y="3725536"/>
                <a:ext cx="3238915" cy="864567"/>
              </a:xfrm>
              <a:prstGeom prst="rect">
                <a:avLst/>
              </a:prstGeom>
            </p:spPr>
          </p:pic>
          <p:pic>
            <p:nvPicPr>
              <p:cNvPr id="89" name="그림 88"/>
              <p:cNvPicPr>
                <a:picLocks noChangeAspect="1"/>
              </p:cNvPicPr>
              <p:nvPr/>
            </p:nvPicPr>
            <p:blipFill rotWithShape="1">
              <a:blip r:embed="rId7"/>
              <a:srcRect t="1363" b="50467"/>
              <a:stretch/>
            </p:blipFill>
            <p:spPr>
              <a:xfrm>
                <a:off x="5280099" y="2881215"/>
                <a:ext cx="3227080" cy="879043"/>
              </a:xfrm>
              <a:prstGeom prst="rect">
                <a:avLst/>
              </a:prstGeom>
            </p:spPr>
          </p:pic>
          <p:pic>
            <p:nvPicPr>
              <p:cNvPr id="90" name="그림 89"/>
              <p:cNvPicPr>
                <a:picLocks noChangeAspect="1"/>
              </p:cNvPicPr>
              <p:nvPr/>
            </p:nvPicPr>
            <p:blipFill rotWithShape="1">
              <a:blip r:embed="rId7"/>
              <a:srcRect l="19926" t="93633" r="55944" b="536"/>
              <a:stretch/>
            </p:blipFill>
            <p:spPr>
              <a:xfrm>
                <a:off x="6431414" y="6288559"/>
                <a:ext cx="1127492" cy="154103"/>
              </a:xfrm>
              <a:prstGeom prst="rect">
                <a:avLst/>
              </a:prstGeom>
            </p:spPr>
          </p:pic>
        </p:grpSp>
      </p:grpSp>
      <p:grpSp>
        <p:nvGrpSpPr>
          <p:cNvPr id="91" name="그룹 90"/>
          <p:cNvGrpSpPr/>
          <p:nvPr/>
        </p:nvGrpSpPr>
        <p:grpSpPr>
          <a:xfrm>
            <a:off x="8433067" y="813358"/>
            <a:ext cx="3694006" cy="4152900"/>
            <a:chOff x="8667492" y="2799191"/>
            <a:chExt cx="3363579" cy="3815739"/>
          </a:xfrm>
        </p:grpSpPr>
        <p:grpSp>
          <p:nvGrpSpPr>
            <p:cNvPr id="92" name="그룹 91"/>
            <p:cNvGrpSpPr/>
            <p:nvPr/>
          </p:nvGrpSpPr>
          <p:grpSpPr>
            <a:xfrm>
              <a:off x="8667492" y="3038882"/>
              <a:ext cx="3363579" cy="3576048"/>
              <a:chOff x="8570456" y="2687686"/>
              <a:chExt cx="3589700" cy="3803728"/>
            </a:xfrm>
          </p:grpSpPr>
          <p:pic>
            <p:nvPicPr>
              <p:cNvPr id="94" name="그림 93"/>
              <p:cNvPicPr>
                <a:picLocks noChangeAspect="1"/>
              </p:cNvPicPr>
              <p:nvPr/>
            </p:nvPicPr>
            <p:blipFill rotWithShape="1">
              <a:blip r:embed="rId6"/>
              <a:srcRect t="48868" b="5961"/>
              <a:stretch/>
            </p:blipFill>
            <p:spPr>
              <a:xfrm>
                <a:off x="8601598" y="3631193"/>
                <a:ext cx="3515888" cy="882607"/>
              </a:xfrm>
              <a:prstGeom prst="rect">
                <a:avLst/>
              </a:prstGeom>
            </p:spPr>
          </p:pic>
          <p:pic>
            <p:nvPicPr>
              <p:cNvPr id="95" name="그림 94"/>
              <p:cNvPicPr>
                <a:picLocks noChangeAspect="1"/>
              </p:cNvPicPr>
              <p:nvPr/>
            </p:nvPicPr>
            <p:blipFill rotWithShape="1">
              <a:blip r:embed="rId4"/>
              <a:srcRect t="48666" b="5356"/>
              <a:stretch/>
            </p:blipFill>
            <p:spPr>
              <a:xfrm>
                <a:off x="8570456" y="5420381"/>
                <a:ext cx="3565770" cy="913744"/>
              </a:xfrm>
              <a:prstGeom prst="rect">
                <a:avLst/>
              </a:prstGeom>
            </p:spPr>
          </p:pic>
          <p:pic>
            <p:nvPicPr>
              <p:cNvPr id="96" name="그림 95"/>
              <p:cNvPicPr>
                <a:picLocks noChangeAspect="1"/>
              </p:cNvPicPr>
              <p:nvPr/>
            </p:nvPicPr>
            <p:blipFill rotWithShape="1">
              <a:blip r:embed="rId7"/>
              <a:srcRect t="1363" b="50467"/>
              <a:stretch/>
            </p:blipFill>
            <p:spPr>
              <a:xfrm>
                <a:off x="8570456" y="2687686"/>
                <a:ext cx="3589700" cy="963104"/>
              </a:xfrm>
              <a:prstGeom prst="rect">
                <a:avLst/>
              </a:prstGeom>
            </p:spPr>
          </p:pic>
          <p:pic>
            <p:nvPicPr>
              <p:cNvPr id="99" name="그림 98"/>
              <p:cNvPicPr>
                <a:picLocks noChangeAspect="1"/>
              </p:cNvPicPr>
              <p:nvPr/>
            </p:nvPicPr>
            <p:blipFill rotWithShape="1">
              <a:blip r:embed="rId6"/>
              <a:srcRect r="91897" b="91911"/>
              <a:stretch/>
            </p:blipFill>
            <p:spPr>
              <a:xfrm>
                <a:off x="8614845" y="3704438"/>
                <a:ext cx="291939" cy="159514"/>
              </a:xfrm>
              <a:prstGeom prst="rect">
                <a:avLst/>
              </a:prstGeom>
            </p:spPr>
          </p:pic>
          <p:pic>
            <p:nvPicPr>
              <p:cNvPr id="100" name="그림 99"/>
              <p:cNvPicPr>
                <a:picLocks noChangeAspect="1"/>
              </p:cNvPicPr>
              <p:nvPr/>
            </p:nvPicPr>
            <p:blipFill rotWithShape="1">
              <a:blip r:embed="rId5"/>
              <a:srcRect t="51355" b="7238"/>
              <a:stretch/>
            </p:blipFill>
            <p:spPr>
              <a:xfrm>
                <a:off x="8576243" y="4543500"/>
                <a:ext cx="3547030" cy="809497"/>
              </a:xfrm>
              <a:prstGeom prst="rect">
                <a:avLst/>
              </a:prstGeom>
            </p:spPr>
          </p:pic>
          <p:pic>
            <p:nvPicPr>
              <p:cNvPr id="102" name="그림 101"/>
              <p:cNvPicPr>
                <a:picLocks noChangeAspect="1"/>
              </p:cNvPicPr>
              <p:nvPr/>
            </p:nvPicPr>
            <p:blipFill rotWithShape="1">
              <a:blip r:embed="rId5"/>
              <a:srcRect r="91768" b="91610"/>
              <a:stretch/>
            </p:blipFill>
            <p:spPr>
              <a:xfrm>
                <a:off x="8605395" y="4558188"/>
                <a:ext cx="294555" cy="165467"/>
              </a:xfrm>
              <a:prstGeom prst="rect">
                <a:avLst/>
              </a:prstGeom>
            </p:spPr>
          </p:pic>
          <p:pic>
            <p:nvPicPr>
              <p:cNvPr id="103" name="그림 102"/>
              <p:cNvPicPr>
                <a:picLocks noChangeAspect="1"/>
              </p:cNvPicPr>
              <p:nvPr/>
            </p:nvPicPr>
            <p:blipFill rotWithShape="1">
              <a:blip r:embed="rId4"/>
              <a:srcRect r="91141" b="91969"/>
              <a:stretch/>
            </p:blipFill>
            <p:spPr>
              <a:xfrm>
                <a:off x="8578422" y="5466812"/>
                <a:ext cx="318249" cy="158386"/>
              </a:xfrm>
              <a:prstGeom prst="rect">
                <a:avLst/>
              </a:prstGeom>
            </p:spPr>
          </p:pic>
          <p:pic>
            <p:nvPicPr>
              <p:cNvPr id="104" name="그림 103"/>
              <p:cNvPicPr>
                <a:picLocks noChangeAspect="1"/>
              </p:cNvPicPr>
              <p:nvPr/>
            </p:nvPicPr>
            <p:blipFill>
              <a:blip r:embed="rId8"/>
              <a:stretch>
                <a:fillRect/>
              </a:stretch>
            </p:blipFill>
            <p:spPr>
              <a:xfrm flipV="1">
                <a:off x="8637400" y="4463628"/>
                <a:ext cx="3492000" cy="92360"/>
              </a:xfrm>
              <a:prstGeom prst="rect">
                <a:avLst/>
              </a:prstGeom>
            </p:spPr>
          </p:pic>
          <p:pic>
            <p:nvPicPr>
              <p:cNvPr id="105" name="그림 104"/>
              <p:cNvPicPr>
                <a:picLocks noChangeAspect="1"/>
              </p:cNvPicPr>
              <p:nvPr/>
            </p:nvPicPr>
            <p:blipFill>
              <a:blip r:embed="rId8"/>
              <a:stretch>
                <a:fillRect/>
              </a:stretch>
            </p:blipFill>
            <p:spPr>
              <a:xfrm flipV="1">
                <a:off x="8637400" y="5350154"/>
                <a:ext cx="3492000" cy="92360"/>
              </a:xfrm>
              <a:prstGeom prst="rect">
                <a:avLst/>
              </a:prstGeom>
            </p:spPr>
          </p:pic>
          <p:pic>
            <p:nvPicPr>
              <p:cNvPr id="106" name="그림 105"/>
              <p:cNvPicPr>
                <a:picLocks noChangeAspect="1"/>
              </p:cNvPicPr>
              <p:nvPr/>
            </p:nvPicPr>
            <p:blipFill>
              <a:blip r:embed="rId9"/>
              <a:stretch>
                <a:fillRect/>
              </a:stretch>
            </p:blipFill>
            <p:spPr>
              <a:xfrm>
                <a:off x="9927107" y="6346676"/>
                <a:ext cx="1327277" cy="144738"/>
              </a:xfrm>
              <a:prstGeom prst="rect">
                <a:avLst/>
              </a:prstGeom>
            </p:spPr>
          </p:pic>
        </p:grpSp>
        <p:sp>
          <p:nvSpPr>
            <p:cNvPr id="93" name="Text 19"/>
            <p:cNvSpPr/>
            <p:nvPr/>
          </p:nvSpPr>
          <p:spPr>
            <a:xfrm>
              <a:off x="9146743" y="2799191"/>
              <a:ext cx="2496069" cy="168953"/>
            </a:xfrm>
            <a:prstGeom prst="rect">
              <a:avLst/>
            </a:prstGeom>
            <a:noFill/>
            <a:ln/>
          </p:spPr>
          <p:txBody>
            <a:bodyPr wrap="square" lIns="0" tIns="0" rIns="0" bIns="0" rtlCol="0" anchor="t"/>
            <a:lstStyle/>
            <a:p>
              <a:pPr algn="ctr">
                <a:spcAft>
                  <a:spcPts val="600"/>
                </a:spcAft>
                <a:buSzPct val="100000"/>
              </a:pPr>
              <a:r>
                <a:rPr lang="en-US" sz="1050" dirty="0"/>
                <a:t>Attention </a:t>
              </a:r>
              <a:r>
                <a:rPr lang="ko-KR" altLang="en-US" sz="1050" dirty="0"/>
                <a:t>연산 과정 </a:t>
              </a:r>
              <a:r>
                <a:rPr lang="en-US" altLang="ko-KR" sz="1050" b="1" dirty="0">
                  <a:solidFill>
                    <a:srgbClr val="0000FF"/>
                  </a:solidFill>
                </a:rPr>
                <a:t>w/ KV </a:t>
              </a:r>
              <a:r>
                <a:rPr lang="ko-KR" altLang="en-US" sz="1050" b="1" dirty="0">
                  <a:solidFill>
                    <a:srgbClr val="0000FF"/>
                  </a:solidFill>
                </a:rPr>
                <a:t>캐시</a:t>
              </a:r>
              <a:endParaRPr lang="en-US" altLang="ko-KR" sz="1050" b="1" dirty="0">
                <a:solidFill>
                  <a:srgbClr val="0000FF"/>
                </a:solidFill>
              </a:endParaRPr>
            </a:p>
          </p:txBody>
        </p:sp>
      </p:grpSp>
      <p:grpSp>
        <p:nvGrpSpPr>
          <p:cNvPr id="4" name="그룹 3"/>
          <p:cNvGrpSpPr/>
          <p:nvPr/>
        </p:nvGrpSpPr>
        <p:grpSpPr>
          <a:xfrm>
            <a:off x="1041119" y="3704190"/>
            <a:ext cx="2706938" cy="1946832"/>
            <a:chOff x="1368878" y="4456166"/>
            <a:chExt cx="2322144" cy="1674148"/>
          </a:xfrm>
        </p:grpSpPr>
        <p:pic>
          <p:nvPicPr>
            <p:cNvPr id="73" name="그림 72"/>
            <p:cNvPicPr>
              <a:picLocks noChangeAspect="1"/>
            </p:cNvPicPr>
            <p:nvPr/>
          </p:nvPicPr>
          <p:blipFill>
            <a:blip r:embed="rId10"/>
            <a:stretch>
              <a:fillRect/>
            </a:stretch>
          </p:blipFill>
          <p:spPr>
            <a:xfrm>
              <a:off x="1368878" y="4456166"/>
              <a:ext cx="2322144" cy="455689"/>
            </a:xfrm>
            <a:prstGeom prst="rect">
              <a:avLst/>
            </a:prstGeom>
          </p:spPr>
        </p:pic>
        <p:pic>
          <p:nvPicPr>
            <p:cNvPr id="74" name="그림 73"/>
            <p:cNvPicPr>
              <a:picLocks noChangeAspect="1"/>
            </p:cNvPicPr>
            <p:nvPr/>
          </p:nvPicPr>
          <p:blipFill>
            <a:blip r:embed="rId11"/>
            <a:stretch>
              <a:fillRect/>
            </a:stretch>
          </p:blipFill>
          <p:spPr>
            <a:xfrm>
              <a:off x="1450277" y="5005950"/>
              <a:ext cx="1988113" cy="1124364"/>
            </a:xfrm>
            <a:prstGeom prst="rect">
              <a:avLst/>
            </a:prstGeom>
          </p:spPr>
        </p:pic>
        <p:sp>
          <p:nvSpPr>
            <p:cNvPr id="107" name="직사각형 106"/>
            <p:cNvSpPr/>
            <p:nvPr/>
          </p:nvSpPr>
          <p:spPr>
            <a:xfrm>
              <a:off x="1368878" y="5384980"/>
              <a:ext cx="2200075" cy="745334"/>
            </a:xfrm>
            <a:prstGeom prst="rect">
              <a:avLst/>
            </a:prstGeom>
            <a:noFill/>
            <a:ln w="28575">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6" name="직선 연결선 5"/>
          <p:cNvCxnSpPr/>
          <p:nvPr/>
        </p:nvCxnSpPr>
        <p:spPr>
          <a:xfrm>
            <a:off x="4331651" y="3118016"/>
            <a:ext cx="341633" cy="1626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직선 연결선 107"/>
          <p:cNvCxnSpPr/>
          <p:nvPr/>
        </p:nvCxnSpPr>
        <p:spPr>
          <a:xfrm flipV="1">
            <a:off x="4304757" y="1056783"/>
            <a:ext cx="311505" cy="872615"/>
          </a:xfrm>
          <a:prstGeom prst="line">
            <a:avLst/>
          </a:prstGeom>
        </p:spPr>
        <p:style>
          <a:lnRef idx="1">
            <a:schemeClr val="accent1"/>
          </a:lnRef>
          <a:fillRef idx="0">
            <a:schemeClr val="accent1"/>
          </a:fillRef>
          <a:effectRef idx="0">
            <a:schemeClr val="accent1"/>
          </a:effectRef>
          <a:fontRef idx="minor">
            <a:schemeClr val="tx1"/>
          </a:fontRef>
        </p:style>
      </p:cxnSp>
      <p:sp>
        <p:nvSpPr>
          <p:cNvPr id="14" name="실행 단추: 뒤로 또는 이전 13">
            <a:hlinkClick r:id="rId12" action="ppaction://hlinksldjump" highlightClick="1"/>
          </p:cNvPr>
          <p:cNvSpPr/>
          <p:nvPr/>
        </p:nvSpPr>
        <p:spPr>
          <a:xfrm>
            <a:off x="6762151" y="202405"/>
            <a:ext cx="238408" cy="227209"/>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TextBox 1"/>
          <p:cNvSpPr txBox="1"/>
          <p:nvPr/>
        </p:nvSpPr>
        <p:spPr>
          <a:xfrm>
            <a:off x="5966740" y="180488"/>
            <a:ext cx="795411" cy="261610"/>
          </a:xfrm>
          <a:prstGeom prst="rect">
            <a:avLst/>
          </a:prstGeom>
          <a:noFill/>
        </p:spPr>
        <p:txBody>
          <a:bodyPr wrap="none" rtlCol="0">
            <a:spAutoFit/>
          </a:bodyPr>
          <a:lstStyle/>
          <a:p>
            <a:r>
              <a:rPr lang="en-US" altLang="ko-KR" sz="1100" dirty="0"/>
              <a:t>KV Cache</a:t>
            </a:r>
            <a:endParaRPr lang="ko-KR" altLang="en-US" sz="1100" dirty="0"/>
          </a:p>
        </p:txBody>
      </p:sp>
      <p:sp>
        <p:nvSpPr>
          <p:cNvPr id="5" name="실행 단추: 뒤로 또는 이전 4">
            <a:hlinkClick r:id="rId13" action="ppaction://hlinksldjump" highlightClick="1"/>
          </p:cNvPr>
          <p:cNvSpPr/>
          <p:nvPr/>
        </p:nvSpPr>
        <p:spPr>
          <a:xfrm>
            <a:off x="7672421" y="195482"/>
            <a:ext cx="253265" cy="248918"/>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TextBox 43"/>
          <p:cNvSpPr txBox="1"/>
          <p:nvPr/>
        </p:nvSpPr>
        <p:spPr>
          <a:xfrm>
            <a:off x="7230917" y="180488"/>
            <a:ext cx="442750" cy="261610"/>
          </a:xfrm>
          <a:prstGeom prst="rect">
            <a:avLst/>
          </a:prstGeom>
          <a:noFill/>
        </p:spPr>
        <p:txBody>
          <a:bodyPr wrap="none" rtlCol="0">
            <a:spAutoFit/>
          </a:bodyPr>
          <a:lstStyle/>
          <a:p>
            <a:r>
              <a:rPr lang="en-US" altLang="ko-KR" sz="1100" dirty="0"/>
              <a:t>DP2</a:t>
            </a:r>
            <a:endParaRPr lang="ko-KR" altLang="en-US" sz="1100" dirty="0"/>
          </a:p>
        </p:txBody>
      </p:sp>
    </p:spTree>
    <p:extLst>
      <p:ext uri="{BB962C8B-B14F-4D97-AF65-F5344CB8AC3E}">
        <p14:creationId xmlns:p14="http://schemas.microsoft.com/office/powerpoint/2010/main" val="63785524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별 </a:t>
            </a:r>
            <a:r>
              <a:rPr lang="en-US" altLang="ko-KR" dirty="0"/>
              <a:t>QA</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1721401089"/>
              </p:ext>
            </p:extLst>
          </p:nvPr>
        </p:nvGraphicFramePr>
        <p:xfrm>
          <a:off x="970030" y="829372"/>
          <a:ext cx="10504660" cy="2656778"/>
        </p:xfrm>
        <a:graphic>
          <a:graphicData uri="http://schemas.openxmlformats.org/drawingml/2006/table">
            <a:tbl>
              <a:tblPr firstRow="1" bandRow="1">
                <a:tableStyleId>{5C22544A-7EE6-4342-B048-85BDC9FD1C3A}</a:tableStyleId>
              </a:tblPr>
              <a:tblGrid>
                <a:gridCol w="891292">
                  <a:extLst>
                    <a:ext uri="{9D8B030D-6E8A-4147-A177-3AD203B41FA5}">
                      <a16:colId xmlns:a16="http://schemas.microsoft.com/office/drawing/2014/main" val="608747143"/>
                    </a:ext>
                  </a:extLst>
                </a:gridCol>
                <a:gridCol w="2403342">
                  <a:extLst>
                    <a:ext uri="{9D8B030D-6E8A-4147-A177-3AD203B41FA5}">
                      <a16:colId xmlns:a16="http://schemas.microsoft.com/office/drawing/2014/main" val="3801349448"/>
                    </a:ext>
                  </a:extLst>
                </a:gridCol>
                <a:gridCol w="2403342">
                  <a:extLst>
                    <a:ext uri="{9D8B030D-6E8A-4147-A177-3AD203B41FA5}">
                      <a16:colId xmlns:a16="http://schemas.microsoft.com/office/drawing/2014/main" val="39305247"/>
                    </a:ext>
                  </a:extLst>
                </a:gridCol>
                <a:gridCol w="2403342">
                  <a:extLst>
                    <a:ext uri="{9D8B030D-6E8A-4147-A177-3AD203B41FA5}">
                      <a16:colId xmlns:a16="http://schemas.microsoft.com/office/drawing/2014/main" val="1206807920"/>
                    </a:ext>
                  </a:extLst>
                </a:gridCol>
                <a:gridCol w="2403342">
                  <a:extLst>
                    <a:ext uri="{9D8B030D-6E8A-4147-A177-3AD203B41FA5}">
                      <a16:colId xmlns:a16="http://schemas.microsoft.com/office/drawing/2014/main" val="1743668983"/>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ko-KR" altLang="en-US" sz="1200" strike="noStrike" kern="1200" dirty="0">
                          <a:solidFill>
                            <a:srgbClr val="0066FF"/>
                          </a:solidFill>
                          <a:latin typeface="+mn-lt"/>
                          <a:ea typeface="+mn-ea"/>
                          <a:cs typeface="+mn-cs"/>
                        </a:rPr>
                        <a:t>연산</a:t>
                      </a:r>
                      <a:r>
                        <a:rPr lang="en-US" altLang="ko-KR" sz="1200" strike="noStrike" kern="1200" dirty="0">
                          <a:solidFill>
                            <a:srgbClr val="0066FF"/>
                          </a:solidFill>
                          <a:latin typeface="+mn-lt"/>
                          <a:ea typeface="+mn-ea"/>
                          <a:cs typeface="+mn-cs"/>
                        </a:rPr>
                        <a:t>(Prefill/Decode)</a:t>
                      </a:r>
                      <a:r>
                        <a:rPr lang="en-US" altLang="ko-KR" sz="1200" strike="noStrike" kern="1200" baseline="0" dirty="0">
                          <a:solidFill>
                            <a:srgbClr val="0066FF"/>
                          </a:solidFill>
                          <a:latin typeface="+mn-lt"/>
                          <a:ea typeface="+mn-ea"/>
                          <a:cs typeface="+mn-cs"/>
                        </a:rPr>
                        <a:t>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t>
                      </a:r>
                      <a:r>
                        <a:rPr lang="ko-KR" altLang="en-US" sz="1200" strike="noStrike" kern="1200" dirty="0">
                          <a:solidFill>
                            <a:prstClr val="black"/>
                          </a:solidFill>
                          <a:latin typeface="+mn-lt"/>
                          <a:ea typeface="+mn-ea"/>
                          <a:cs typeface="+mn-cs"/>
                        </a:rPr>
                        <a:t>서버 간 </a:t>
                      </a:r>
                      <a:r>
                        <a:rPr lang="en-US" altLang="ko-KR" sz="1200" b="1" strike="noStrike" kern="1200" dirty="0">
                          <a:solidFill>
                            <a:srgbClr val="0066FF"/>
                          </a:solidFill>
                          <a:latin typeface="+mn-lt"/>
                          <a:ea typeface="+mn-ea"/>
                          <a:cs typeface="+mn-cs"/>
                        </a:rPr>
                        <a:t>KV </a:t>
                      </a:r>
                      <a:r>
                        <a:rPr lang="ko-KR" altLang="en-US" sz="1200" b="1" strike="noStrike" kern="1200" dirty="0">
                          <a:solidFill>
                            <a:srgbClr val="0066FF"/>
                          </a:solidFill>
                          <a:latin typeface="+mn-lt"/>
                          <a:ea typeface="+mn-ea"/>
                          <a:cs typeface="+mn-cs"/>
                        </a:rPr>
                        <a:t>캐시 공유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Efficiency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Efficiency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Efficiency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315425974"/>
                  </a:ext>
                </a:extLst>
              </a:tr>
            </a:tbl>
          </a:graphicData>
        </a:graphic>
      </p:graphicFrame>
    </p:spTree>
    <p:extLst>
      <p:ext uri="{BB962C8B-B14F-4D97-AF65-F5344CB8AC3E}">
        <p14:creationId xmlns:p14="http://schemas.microsoft.com/office/powerpoint/2010/main" val="404516170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800" b="1" dirty="0" smtClean="0">
                <a:solidFill>
                  <a:prstClr val="black"/>
                </a:solidFill>
                <a:latin typeface="맑은 고딕" panose="020F0502020204030204"/>
                <a:ea typeface="맑은 고딕" panose="020B0503020000020004" pitchFamily="50" charset="-127"/>
              </a:rPr>
              <a:t>설계</a:t>
            </a:r>
            <a:r>
              <a:rPr kumimoji="0" lang="en-US" altLang="ko-KR" sz="8800" b="1"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–DP1 Appendix</a:t>
            </a:r>
            <a:endPar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2553255798"/>
      </p:ext>
    </p:extLst>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nvPr>
        </p:nvGraphicFramePr>
        <p:xfrm>
          <a:off x="249035" y="1044054"/>
          <a:ext cx="11747501" cy="5233192"/>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2618081">
                  <a:extLst>
                    <a:ext uri="{9D8B030D-6E8A-4147-A177-3AD203B41FA5}">
                      <a16:colId xmlns:a16="http://schemas.microsoft.com/office/drawing/2014/main" val="5654497"/>
                    </a:ext>
                  </a:extLst>
                </a:gridCol>
                <a:gridCol w="619941">
                  <a:extLst>
                    <a:ext uri="{9D8B030D-6E8A-4147-A177-3AD203B41FA5}">
                      <a16:colId xmlns:a16="http://schemas.microsoft.com/office/drawing/2014/main" val="1488648967"/>
                    </a:ext>
                  </a:extLst>
                </a:gridCol>
                <a:gridCol w="2198032">
                  <a:extLst>
                    <a:ext uri="{9D8B030D-6E8A-4147-A177-3AD203B41FA5}">
                      <a16:colId xmlns:a16="http://schemas.microsoft.com/office/drawing/2014/main" val="2953438935"/>
                    </a:ext>
                  </a:extLst>
                </a:gridCol>
                <a:gridCol w="2792524">
                  <a:extLst>
                    <a:ext uri="{9D8B030D-6E8A-4147-A177-3AD203B41FA5}">
                      <a16:colId xmlns:a16="http://schemas.microsoft.com/office/drawing/2014/main" val="3070054508"/>
                    </a:ext>
                  </a:extLst>
                </a:gridCol>
                <a:gridCol w="476794">
                  <a:extLst>
                    <a:ext uri="{9D8B030D-6E8A-4147-A177-3AD203B41FA5}">
                      <a16:colId xmlns:a16="http://schemas.microsoft.com/office/drawing/2014/main" val="4076489270"/>
                    </a:ext>
                  </a:extLst>
                </a:gridCol>
                <a:gridCol w="2166736">
                  <a:extLst>
                    <a:ext uri="{9D8B030D-6E8A-4147-A177-3AD203B41FA5}">
                      <a16:colId xmlns:a16="http://schemas.microsoft.com/office/drawing/2014/main" val="3101495520"/>
                    </a:ext>
                  </a:extLst>
                </a:gridCol>
              </a:tblGrid>
              <a:tr h="335904">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메모리 자원 상태에 우선한 이동 결정</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데이터 특성에 우선한 이동 결정</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33014303"/>
                  </a:ext>
                </a:extLst>
              </a:tr>
              <a:tr h="3272130">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90915045"/>
                  </a:ext>
                </a:extLst>
              </a:tr>
              <a:tr h="477299">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chemeClr val="tx1"/>
                          </a:solidFill>
                          <a:latin typeface="+mn-lt"/>
                          <a:ea typeface="맑은 고딕"/>
                        </a:rPr>
                        <a:t>Threshold trigger</a:t>
                      </a:r>
                      <a:r>
                        <a:rPr lang="ko-KR" altLang="en-US" sz="1200" b="0" i="0" dirty="0">
                          <a:solidFill>
                            <a:schemeClr val="tx1"/>
                          </a:solidFill>
                          <a:latin typeface="+mn-lt"/>
                          <a:ea typeface="맑은 고딕"/>
                        </a:rPr>
                        <a:t>가 즉시 판단을 기동해 </a:t>
                      </a:r>
                      <a:r>
                        <a:rPr lang="en-US" altLang="ko-KR" sz="1200" b="0" i="0" dirty="0">
                          <a:solidFill>
                            <a:schemeClr val="tx1"/>
                          </a:solidFill>
                          <a:latin typeface="+mn-lt"/>
                          <a:ea typeface="맑은 고딕"/>
                        </a:rPr>
                        <a:t>HBM </a:t>
                      </a:r>
                      <a:r>
                        <a:rPr lang="ko-KR" altLang="en-US" sz="1200" b="0" i="0" dirty="0">
                          <a:solidFill>
                            <a:schemeClr val="tx1"/>
                          </a:solidFill>
                          <a:latin typeface="+mn-lt"/>
                          <a:ea typeface="맑은 고딕"/>
                        </a:rPr>
                        <a:t>압박 구간이 짧음 </a:t>
                      </a:r>
                      <a:r>
                        <a:rPr lang="en-US" altLang="ko-KR" sz="1200" b="0" i="0" dirty="0">
                          <a:solidFill>
                            <a:schemeClr val="tx1"/>
                          </a:solidFill>
                          <a:latin typeface="+mn-lt"/>
                          <a:ea typeface="맑은 고딕"/>
                        </a:rPr>
                        <a:t>(</a:t>
                      </a:r>
                      <a:r>
                        <a:rPr lang="en-US" altLang="ko-KR" sz="1200" b="0" i="0" dirty="0" smtClean="0">
                          <a:solidFill>
                            <a:schemeClr val="tx1"/>
                          </a:solidFill>
                          <a:latin typeface="+mn-lt"/>
                          <a:ea typeface="맑은 고딕"/>
                        </a:rPr>
                        <a:t>Q2) </a:t>
                      </a:r>
                      <a:endParaRPr lang="en-US" altLang="ko-KR" sz="1200" b="0" i="0" dirty="0">
                        <a:solidFill>
                          <a:schemeClr val="tx1"/>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자원 중심 판단 구조로 신규 워크로드 특성 추가 시 변경 영향 적음 </a:t>
                      </a:r>
                      <a:r>
                        <a:rPr lang="en-US" altLang="ko-KR" sz="1200" dirty="0"/>
                        <a:t>(</a:t>
                      </a:r>
                      <a:r>
                        <a:rPr lang="en-US" altLang="ko-KR" sz="1200" dirty="0" smtClean="0"/>
                        <a:t>Q4)</a:t>
                      </a:r>
                      <a:endParaRPr lang="en-US" altLang="ko-KR" sz="1200" dirty="0">
                        <a:solidFill>
                          <a:schemeClr val="tx1"/>
                        </a:solidFill>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(Q1)</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72501578"/>
                  </a:ext>
                </a:extLst>
              </a:tr>
              <a:tr h="477299">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자원 상태에서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(Q1)</a:t>
                      </a:r>
                      <a:endParaRPr lang="en-US" altLang="ko-KR" sz="1200"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chemeClr val="tx1"/>
                          </a:solidFill>
                          <a:latin typeface="+mn-lt"/>
                          <a:ea typeface="맑은 고딕"/>
                        </a:rPr>
                        <a:t>Snapshot age </a:t>
                      </a:r>
                      <a:r>
                        <a:rPr lang="ko-KR" altLang="en-US" sz="1200" b="0" i="0" dirty="0">
                          <a:solidFill>
                            <a:schemeClr val="tx1"/>
                          </a:solidFill>
                          <a:latin typeface="+mn-lt"/>
                          <a:ea typeface="맑은 고딕"/>
                        </a:rPr>
                        <a:t>만큼 </a:t>
                      </a:r>
                      <a:r>
                        <a:rPr lang="en-US" altLang="ko-KR" sz="1200" b="0" i="0" dirty="0">
                          <a:solidFill>
                            <a:schemeClr val="tx1"/>
                          </a:solidFill>
                          <a:latin typeface="+mn-lt"/>
                          <a:ea typeface="맑은 고딕"/>
                        </a:rPr>
                        <a:t>stale → HBM </a:t>
                      </a:r>
                      <a:r>
                        <a:rPr lang="ko-KR" altLang="en-US" sz="1200" b="0" i="0" dirty="0">
                          <a:solidFill>
                            <a:schemeClr val="tx1"/>
                          </a:solidFill>
                          <a:latin typeface="+mn-lt"/>
                          <a:ea typeface="맑은 고딕"/>
                        </a:rPr>
                        <a:t>확보 지연으로 </a:t>
                      </a:r>
                      <a:r>
                        <a:rPr lang="en-US" altLang="ko-KR" sz="1200" b="0" i="0" dirty="0">
                          <a:solidFill>
                            <a:schemeClr val="tx1"/>
                          </a:solidFill>
                          <a:latin typeface="+mn-lt"/>
                          <a:ea typeface="맑은 고딕"/>
                        </a:rPr>
                        <a:t>tail</a:t>
                      </a:r>
                      <a:r>
                        <a:rPr lang="ko-KR" altLang="en-US" sz="1200" b="0" i="0" dirty="0">
                          <a:solidFill>
                            <a:schemeClr val="tx1"/>
                          </a:solidFill>
                          <a:latin typeface="+mn-lt"/>
                          <a:ea typeface="맑은 고딕"/>
                        </a:rPr>
                        <a:t> </a:t>
                      </a:r>
                      <a:r>
                        <a:rPr lang="en-US" altLang="ko-KR" sz="1200" b="0" i="0" dirty="0">
                          <a:solidFill>
                            <a:schemeClr val="tx1"/>
                          </a:solidFill>
                          <a:latin typeface="+mn-lt"/>
                          <a:ea typeface="맑은 고딕"/>
                        </a:rPr>
                        <a:t>latency</a:t>
                      </a:r>
                      <a:r>
                        <a:rPr lang="ko-KR" altLang="en-US" sz="1200" b="0" i="0" dirty="0">
                          <a:solidFill>
                            <a:schemeClr val="tx1"/>
                          </a:solidFill>
                          <a:latin typeface="+mn-lt"/>
                          <a:ea typeface="맑은 고딕"/>
                        </a:rPr>
                        <a:t> 지연 </a:t>
                      </a:r>
                      <a:r>
                        <a:rPr lang="en-US" altLang="ko-KR" sz="1200" b="0" i="0" dirty="0">
                          <a:solidFill>
                            <a:schemeClr val="tx1"/>
                          </a:solidFill>
                          <a:latin typeface="+mn-lt"/>
                          <a:ea typeface="맑은 고딕"/>
                        </a:rPr>
                        <a:t>(</a:t>
                      </a:r>
                      <a:r>
                        <a:rPr lang="en-US" altLang="ko-KR" sz="1200" b="0" i="0" dirty="0" smtClean="0">
                          <a:solidFill>
                            <a:schemeClr val="tx1"/>
                          </a:solidFill>
                          <a:latin typeface="+mn-lt"/>
                          <a:ea typeface="맑은 고딕"/>
                        </a:rPr>
                        <a:t>Q2)</a:t>
                      </a:r>
                      <a:endParaRPr lang="en-US" altLang="ko-KR" sz="1200" b="0" i="0" dirty="0">
                        <a:solidFill>
                          <a:schemeClr val="tx1"/>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신규 데이터 특성 추가 시 관련 모듈 변경 범위 확대 </a:t>
                      </a:r>
                      <a:r>
                        <a:rPr lang="en-US" altLang="ko-KR" sz="1200" dirty="0"/>
                        <a:t>(</a:t>
                      </a:r>
                      <a:r>
                        <a:rPr lang="en-US" altLang="ko-KR" sz="1200" dirty="0" smtClean="0"/>
                        <a:t>Q4)</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82029663"/>
                  </a:ext>
                </a:extLst>
              </a:tr>
              <a:tr h="668219">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Q4.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Modifiability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1.76→3.7 q/s (2.1x)</a:t>
                      </a:r>
                      <a:endParaRPr lang="en-US" altLang="ko-KR" sz="1200" b="0" dirty="0" smtClean="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a:t>
                      </a:r>
                      <a:r>
                        <a:rPr kumimoji="0" lang="en-US" altLang="ko-KR" sz="1400" b="0" i="0" u="none" strike="noStrike" kern="1200" cap="none" spc="0" normalizeH="0" baseline="0" noProof="0" dirty="0" smtClean="0">
                          <a:ln>
                            <a:noFill/>
                          </a:ln>
                          <a:solidFill>
                            <a:srgbClr val="4472C4"/>
                          </a:solidFill>
                          <a:effectLst/>
                          <a:uLnTx/>
                          <a:uFillTx/>
                          <a:latin typeface="맑은 고딕" panose="020B0503020000020004" pitchFamily="50" charset="-127"/>
                          <a:ea typeface="+mn-ea"/>
                          <a:cs typeface="+mn-cs"/>
                        </a:rPr>
                        <a:t>○</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 7.6→3.42 s (-55%)</a:t>
                      </a:r>
                      <a:endParaRPr lang="en-US" altLang="ko-KR" sz="1400" b="0" dirty="0" smtClean="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schemeClr val="accent5"/>
                          </a:solidFill>
                          <a:effectLst/>
                          <a:uLnTx/>
                          <a:uFillTx/>
                          <a:latin typeface="맑은 고딕" panose="020B0503020000020004" pitchFamily="50" charset="-127"/>
                          <a:ea typeface="+mn-ea"/>
                          <a:cs typeface="+mn-cs"/>
                        </a:rPr>
                        <a:t>●</a:t>
                      </a: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2.25m</a:t>
                      </a:r>
                      <a:endParaRPr kumimoji="0" lang="en-US" altLang="ko-KR" sz="14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Q4.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Modifiability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1.76→5.8 q/s (3.3x)</a:t>
                      </a:r>
                      <a:endParaRPr lang="en-US" altLang="ko-KR" sz="1200" b="0" dirty="0" smtClean="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a:t>
                      </a: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7.6→4.4 s (-42%)</a:t>
                      </a:r>
                      <a:endParaRPr kumimoji="0" lang="en-US" altLang="ko-KR" sz="14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smtClean="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smtClean="0">
                          <a:ln>
                            <a:noFill/>
                          </a:ln>
                          <a:solidFill>
                            <a:srgbClr val="404040"/>
                          </a:solidFill>
                          <a:effectLst/>
                          <a:uLnTx/>
                          <a:uFillTx/>
                          <a:latin typeface="+mn-lt"/>
                          <a:ea typeface="맑은 고딕"/>
                          <a:cs typeface="+mn-cs"/>
                        </a:rPr>
                        <a:t>3.5m</a:t>
                      </a:r>
                      <a:endParaRPr kumimoji="0" lang="en-US" altLang="ko-KR" sz="14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처리량</a:t>
            </a:r>
            <a:r>
              <a:rPr lang="en-US" altLang="ko-KR" sz="1400" b="1" dirty="0">
                <a:solidFill>
                  <a:schemeClr val="bg1"/>
                </a:solidFill>
              </a:rPr>
              <a:t>, </a:t>
            </a:r>
            <a:r>
              <a:rPr lang="ko-KR" altLang="en-US" sz="1400" b="1" dirty="0">
                <a:solidFill>
                  <a:schemeClr val="bg1"/>
                </a:solidFill>
              </a:rPr>
              <a:t>지연</a:t>
            </a:r>
            <a:r>
              <a:rPr lang="en-US" altLang="ko-KR" sz="1400" b="1" dirty="0">
                <a:solidFill>
                  <a:schemeClr val="bg1"/>
                </a:solidFill>
              </a:rPr>
              <a:t>, </a:t>
            </a:r>
            <a:r>
              <a:rPr lang="ko-KR" altLang="en-US" sz="1400" b="1" dirty="0">
                <a:solidFill>
                  <a:schemeClr val="bg1"/>
                </a:solidFill>
              </a:rPr>
              <a:t>변경 용이성을 고려한 데이터 이동</a:t>
            </a:r>
            <a:r>
              <a:rPr lang="en-US" altLang="ko-KR" sz="1400" b="1" dirty="0">
                <a:solidFill>
                  <a:schemeClr val="bg1"/>
                </a:solidFill>
              </a:rPr>
              <a:t> </a:t>
            </a:r>
            <a:r>
              <a:rPr lang="ko-KR" altLang="en-US" sz="1400" b="1" dirty="0">
                <a:solidFill>
                  <a:schemeClr val="bg1"/>
                </a:solidFill>
              </a:rPr>
              <a:t>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94755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Q2 </a:t>
            </a:r>
            <a:r>
              <a:rPr lang="ko-KR" altLang="en-US" sz="700" dirty="0">
                <a:latin typeface="맑은 고딕" panose="020B0503020000020004" pitchFamily="50" charset="-127"/>
              </a:rPr>
              <a:t>고부하 성능 </a:t>
            </a:r>
          </a:p>
        </p:txBody>
      </p:sp>
      <p:sp>
        <p:nvSpPr>
          <p:cNvPr id="102" name="실행 단추: 앞으로 또는 다음 101">
            <a:hlinkClick r:id="rId3"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7855986" y="801875"/>
            <a:ext cx="110413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smtClean="0">
                <a:latin typeface="맑은 고딕" panose="020B0503020000020004" pitchFamily="50" charset="-127"/>
              </a:rPr>
              <a:t>C2 </a:t>
            </a:r>
            <a:r>
              <a:rPr lang="ko-KR" altLang="en-US" sz="700" dirty="0" smtClean="0">
                <a:latin typeface="맑은 고딕" panose="020B0503020000020004" pitchFamily="50" charset="-127"/>
              </a:rPr>
              <a:t>모델 </a:t>
            </a:r>
            <a:r>
              <a:rPr lang="en-US" altLang="ko-KR" sz="700" dirty="0" smtClean="0">
                <a:latin typeface="맑은 고딕" panose="020B0503020000020004" pitchFamily="50" charset="-127"/>
              </a:rPr>
              <a:t>Context </a:t>
            </a:r>
            <a:r>
              <a:rPr lang="ko-KR" altLang="en-US" sz="700" dirty="0" smtClean="0">
                <a:latin typeface="맑은 고딕" panose="020B0503020000020004" pitchFamily="50" charset="-127"/>
              </a:rPr>
              <a:t>길이</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smtClean="0">
                <a:latin typeface="맑은 고딕" panose="020B0503020000020004" pitchFamily="50" charset="-127"/>
              </a:rPr>
              <a:t>Q4 </a:t>
            </a:r>
            <a:r>
              <a:rPr lang="ko-KR" altLang="en-US" sz="700" dirty="0" err="1">
                <a:latin typeface="맑은 고딕" panose="020B0503020000020004" pitchFamily="50" charset="-127"/>
              </a:rPr>
              <a:t>변경용이성</a:t>
            </a:r>
            <a:endParaRPr lang="ko-KR" altLang="en-US" sz="700" dirty="0">
              <a:latin typeface="맑은 고딕" panose="020B0503020000020004" pitchFamily="50" charset="-127"/>
            </a:endParaRPr>
          </a:p>
        </p:txBody>
      </p:sp>
      <p:sp>
        <p:nvSpPr>
          <p:cNvPr id="311" name="Rectangle 73"/>
          <p:cNvSpPr/>
          <p:nvPr/>
        </p:nvSpPr>
        <p:spPr>
          <a:xfrm>
            <a:off x="6721606" y="1761935"/>
            <a:ext cx="1317565"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Decision Scheduler</a:t>
            </a:r>
          </a:p>
          <a:p>
            <a:pPr algn="ctr">
              <a:lnSpc>
                <a:spcPct val="125000"/>
              </a:lnSpc>
            </a:pP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주기</a:t>
            </a:r>
            <a:r>
              <a:rPr sz="800" b="0" i="0" dirty="0">
                <a:solidFill>
                  <a:srgbClr val="7F5F00"/>
                </a:solidFill>
                <a:latin typeface="맑은 고딕"/>
                <a:ea typeface="맑은 고딕"/>
              </a:rPr>
              <a:t> </a:t>
            </a:r>
            <a:r>
              <a:rPr lang="ko-KR" altLang="en-US" sz="800" b="0" i="0" dirty="0">
                <a:solidFill>
                  <a:srgbClr val="7F5F00"/>
                </a:solidFill>
                <a:latin typeface="맑은 고딕"/>
                <a:ea typeface="맑은 고딕"/>
              </a:rPr>
              <a:t>독립 </a:t>
            </a:r>
            <a:r>
              <a:rPr sz="800" b="0" i="0" dirty="0" err="1">
                <a:solidFill>
                  <a:srgbClr val="7F5F00"/>
                </a:solidFill>
                <a:latin typeface="맑은 고딕"/>
                <a:ea typeface="맑은 고딕"/>
              </a:rPr>
              <a:t>보유</a:t>
            </a:r>
            <a:endParaRPr sz="800" b="0" i="0" dirty="0">
              <a:solidFill>
                <a:srgbClr val="7F5F00"/>
              </a:solidFill>
              <a:latin typeface="맑은 고딕"/>
              <a:ea typeface="맑은 고딕"/>
            </a:endParaRPr>
          </a:p>
        </p:txBody>
      </p:sp>
      <p:sp>
        <p:nvSpPr>
          <p:cNvPr id="312" name="Rectangle 74"/>
          <p:cNvSpPr/>
          <p:nvPr/>
        </p:nvSpPr>
        <p:spPr>
          <a:xfrm>
            <a:off x="8197115" y="1761935"/>
            <a:ext cx="951807"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lang="ko-KR" altLang="en-US" sz="700" dirty="0">
                <a:solidFill>
                  <a:srgbClr val="404040"/>
                </a:solidFill>
                <a:latin typeface="맑은 고딕"/>
                <a:ea typeface="맑은 고딕"/>
              </a:rPr>
              <a:t>데이터</a:t>
            </a:r>
            <a:r>
              <a:rPr lang="en-US" altLang="ko-KR" sz="700" dirty="0">
                <a:solidFill>
                  <a:srgbClr val="404040"/>
                </a:solidFill>
                <a:latin typeface="맑은 고딕"/>
                <a:ea typeface="맑은 고딕"/>
              </a:rPr>
              <a:t>,</a:t>
            </a:r>
            <a:r>
              <a:rPr lang="ko-KR" altLang="en-US" sz="700" dirty="0">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13" name="Rectangle 75"/>
          <p:cNvSpPr/>
          <p:nvPr/>
        </p:nvSpPr>
        <p:spPr>
          <a:xfrm>
            <a:off x="9281927" y="1761935"/>
            <a:ext cx="1163782"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a:t>
            </a:r>
            <a:r>
              <a:rPr lang="en-US" sz="700" dirty="0">
                <a:solidFill>
                  <a:srgbClr val="404040"/>
                </a:solidFill>
                <a:latin typeface="맑은 고딕"/>
                <a:ea typeface="맑은 고딕"/>
              </a:rPr>
              <a:t>. </a:t>
            </a:r>
            <a:r>
              <a:rPr sz="700" dirty="0" err="1">
                <a:solidFill>
                  <a:srgbClr val="404040"/>
                </a:solidFill>
                <a:latin typeface="맑은 고딕"/>
                <a:ea typeface="맑은 고딕"/>
              </a:rPr>
              <a:t>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14" name="Rectangle 76"/>
          <p:cNvSpPr/>
          <p:nvPr/>
        </p:nvSpPr>
        <p:spPr>
          <a:xfrm>
            <a:off x="10578712" y="1761935"/>
            <a:ext cx="1163782"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15" name="Connector 77"/>
          <p:cNvCxnSpPr/>
          <p:nvPr/>
        </p:nvCxnSpPr>
        <p:spPr>
          <a:xfrm>
            <a:off x="8047485" y="1990535"/>
            <a:ext cx="149630"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8047485" y="2019933"/>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7" name="Connector 79"/>
          <p:cNvCxnSpPr/>
          <p:nvPr/>
        </p:nvCxnSpPr>
        <p:spPr>
          <a:xfrm>
            <a:off x="9125295" y="2002696"/>
            <a:ext cx="133004"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5709" y="1990535"/>
            <a:ext cx="133004"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1" name="Rectangle 83"/>
          <p:cNvSpPr/>
          <p:nvPr/>
        </p:nvSpPr>
        <p:spPr>
          <a:xfrm>
            <a:off x="6729920" y="2597144"/>
            <a:ext cx="2327564" cy="4702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State Snapshot Builder</a:t>
            </a:r>
          </a:p>
          <a:p>
            <a:pPr algn="ctr">
              <a:lnSpc>
                <a:spcPct val="125000"/>
              </a:lnSpc>
            </a:pPr>
            <a:r>
              <a:rPr sz="800" b="0" i="0" dirty="0" err="1">
                <a:solidFill>
                  <a:srgbClr val="7F5F00"/>
                </a:solidFill>
                <a:latin typeface="맑은 고딕"/>
                <a:ea typeface="맑은 고딕"/>
              </a:rPr>
              <a:t>일관</a:t>
            </a:r>
            <a:r>
              <a:rPr sz="800" b="0" i="0" dirty="0">
                <a:solidFill>
                  <a:srgbClr val="7F5F00"/>
                </a:solidFill>
                <a:latin typeface="맑은 고딕"/>
                <a:ea typeface="맑은 고딕"/>
              </a:rPr>
              <a:t> </a:t>
            </a:r>
            <a:r>
              <a:rPr sz="800" b="0" i="0" dirty="0" err="1">
                <a:solidFill>
                  <a:srgbClr val="7F5F00"/>
                </a:solidFill>
                <a:latin typeface="맑은 고딕"/>
                <a:ea typeface="맑은 고딕"/>
              </a:rPr>
              <a:t>복사본</a:t>
            </a:r>
            <a:r>
              <a:rPr sz="800" b="0" i="0" dirty="0">
                <a:solidFill>
                  <a:srgbClr val="7F5F00"/>
                </a:solidFill>
                <a:latin typeface="맑은 고딕"/>
                <a:ea typeface="맑은 고딕"/>
              </a:rPr>
              <a:t> </a:t>
            </a:r>
            <a:r>
              <a:rPr sz="800" b="0" i="0" dirty="0" err="1">
                <a:solidFill>
                  <a:srgbClr val="7F5F00"/>
                </a:solidFill>
                <a:latin typeface="맑은 고딕"/>
                <a:ea typeface="맑은 고딕"/>
              </a:rPr>
              <a:t>생성</a:t>
            </a:r>
            <a:r>
              <a:rPr sz="800" b="0" i="0" dirty="0">
                <a:solidFill>
                  <a:srgbClr val="7F5F00"/>
                </a:solidFill>
                <a:latin typeface="맑은 고딕"/>
                <a:ea typeface="맑은 고딕"/>
              </a:rPr>
              <a:t> · object 수 </a:t>
            </a:r>
            <a:r>
              <a:rPr sz="800" b="0" i="0" dirty="0" err="1">
                <a:solidFill>
                  <a:srgbClr val="7F5F00"/>
                </a:solidFill>
                <a:latin typeface="맑은 고딕"/>
                <a:ea typeface="맑은 고딕"/>
              </a:rPr>
              <a:t>비례</a:t>
            </a:r>
            <a:r>
              <a:rPr sz="800" b="0" i="0" dirty="0">
                <a:solidFill>
                  <a:srgbClr val="7F5F00"/>
                </a:solidFill>
                <a:latin typeface="맑은 고딕"/>
                <a:ea typeface="맑은 고딕"/>
              </a:rPr>
              <a:t> </a:t>
            </a:r>
            <a:r>
              <a:rPr sz="800" b="0" i="0" dirty="0" err="1">
                <a:solidFill>
                  <a:srgbClr val="7F5F00"/>
                </a:solidFill>
                <a:latin typeface="맑은 고딕"/>
                <a:ea typeface="맑은 고딕"/>
              </a:rPr>
              <a:t>비용</a:t>
            </a:r>
            <a:endParaRPr sz="800" b="0" i="0" dirty="0">
              <a:solidFill>
                <a:srgbClr val="7F5F00"/>
              </a:solidFill>
              <a:latin typeface="맑은 고딕"/>
              <a:ea typeface="맑은 고딕"/>
            </a:endParaRPr>
          </a:p>
        </p:txBody>
      </p:sp>
      <p:sp>
        <p:nvSpPr>
          <p:cNvPr id="322" name="Rectangle 84"/>
          <p:cNvSpPr/>
          <p:nvPr/>
        </p:nvSpPr>
        <p:spPr>
          <a:xfrm>
            <a:off x="6721607" y="3379688"/>
            <a:ext cx="111390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Telemetry Collector</a:t>
            </a:r>
          </a:p>
        </p:txBody>
      </p:sp>
      <p:sp>
        <p:nvSpPr>
          <p:cNvPr id="323" name="Rectangle 85"/>
          <p:cNvSpPr/>
          <p:nvPr/>
        </p:nvSpPr>
        <p:spPr>
          <a:xfrm>
            <a:off x="7935265" y="3379688"/>
            <a:ext cx="111390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State Monitor</a:t>
            </a:r>
          </a:p>
        </p:txBody>
      </p:sp>
      <p:sp>
        <p:nvSpPr>
          <p:cNvPr id="324" name="Rectangle 86"/>
          <p:cNvSpPr/>
          <p:nvPr/>
        </p:nvSpPr>
        <p:spPr>
          <a:xfrm>
            <a:off x="6721607" y="3791167"/>
            <a:ext cx="2327564"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dirty="0">
                <a:solidFill>
                  <a:srgbClr val="404040"/>
                </a:solidFill>
                <a:latin typeface="맑은 고딕"/>
                <a:ea typeface="맑은 고딕"/>
              </a:rPr>
              <a:t>Memory</a:t>
            </a:r>
            <a:r>
              <a:rPr lang="en-US" sz="900" dirty="0">
                <a:solidFill>
                  <a:srgbClr val="404040"/>
                </a:solidFill>
                <a:latin typeface="맑은 고딕"/>
                <a:ea typeface="맑은 고딕"/>
              </a:rPr>
              <a:t> </a:t>
            </a:r>
            <a:r>
              <a:rPr sz="900" dirty="0">
                <a:solidFill>
                  <a:srgbClr val="404040"/>
                </a:solidFill>
                <a:latin typeface="맑은 고딕"/>
                <a:ea typeface="맑은 고딕"/>
              </a:rPr>
              <a:t>Registry</a:t>
            </a:r>
          </a:p>
        </p:txBody>
      </p:sp>
      <p:cxnSp>
        <p:nvCxnSpPr>
          <p:cNvPr id="325" name="Connector 87"/>
          <p:cNvCxnSpPr>
            <a:stCxn id="322" idx="0"/>
          </p:cNvCxnSpPr>
          <p:nvPr/>
        </p:nvCxnSpPr>
        <p:spPr>
          <a:xfrm flipH="1" flipV="1">
            <a:off x="7275443" y="3090157"/>
            <a:ext cx="3117" cy="289531"/>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a:stCxn id="323" idx="0"/>
          </p:cNvCxnSpPr>
          <p:nvPr/>
        </p:nvCxnSpPr>
        <p:spPr>
          <a:xfrm flipV="1">
            <a:off x="8492218" y="3064644"/>
            <a:ext cx="0" cy="31504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a:endCxn id="321" idx="2"/>
          </p:cNvCxnSpPr>
          <p:nvPr/>
        </p:nvCxnSpPr>
        <p:spPr>
          <a:xfrm flipV="1">
            <a:off x="7890933" y="3067396"/>
            <a:ext cx="2769" cy="70101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7814731" y="3088003"/>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329" name="Connector 91"/>
          <p:cNvCxnSpPr>
            <a:endCxn id="312" idx="2"/>
          </p:cNvCxnSpPr>
          <p:nvPr/>
        </p:nvCxnSpPr>
        <p:spPr>
          <a:xfrm flipV="1">
            <a:off x="8673019" y="2219135"/>
            <a:ext cx="0" cy="37800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602360" y="2307010"/>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③</a:t>
            </a:r>
          </a:p>
        </p:txBody>
      </p:sp>
      <p:sp>
        <p:nvSpPr>
          <p:cNvPr id="333" name="Rectangle 95"/>
          <p:cNvSpPr/>
          <p:nvPr/>
        </p:nvSpPr>
        <p:spPr>
          <a:xfrm>
            <a:off x="9547934" y="2708931"/>
            <a:ext cx="2103120" cy="470961"/>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Migration Command Queue</a:t>
            </a:r>
          </a:p>
          <a:p>
            <a:pPr algn="ctr">
              <a:lnSpc>
                <a:spcPct val="125000"/>
              </a:lnSpc>
            </a:pPr>
            <a:r>
              <a:rPr sz="800" b="0" i="0" dirty="0" err="1">
                <a:solidFill>
                  <a:srgbClr val="7F5F00"/>
                </a:solidFill>
                <a:latin typeface="맑은 고딕"/>
                <a:ea typeface="맑은 고딕"/>
              </a:rPr>
              <a:t>비동기</a:t>
            </a:r>
            <a:r>
              <a:rPr sz="800" b="0" i="0" dirty="0">
                <a:solidFill>
                  <a:srgbClr val="7F5F00"/>
                </a:solidFill>
                <a:latin typeface="맑은 고딕"/>
                <a:ea typeface="맑은 고딕"/>
              </a:rPr>
              <a:t> </a:t>
            </a: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결과</a:t>
            </a:r>
            <a:r>
              <a:rPr sz="800" b="0" i="0" dirty="0">
                <a:solidFill>
                  <a:srgbClr val="7F5F00"/>
                </a:solidFill>
                <a:latin typeface="맑은 고딕"/>
                <a:ea typeface="맑은 고딕"/>
              </a:rPr>
              <a:t> </a:t>
            </a:r>
            <a:r>
              <a:rPr sz="800" b="0" i="0" dirty="0" err="1">
                <a:solidFill>
                  <a:srgbClr val="7F5F00"/>
                </a:solidFill>
                <a:latin typeface="맑은 고딕"/>
                <a:ea typeface="맑은 고딕"/>
              </a:rPr>
              <a:t>버퍼</a:t>
            </a:r>
            <a:r>
              <a:rPr sz="800" b="0" i="0" dirty="0">
                <a:solidFill>
                  <a:srgbClr val="7F5F00"/>
                </a:solidFill>
                <a:latin typeface="맑은 고딕"/>
                <a:ea typeface="맑은 고딕"/>
              </a:rPr>
              <a:t> · </a:t>
            </a:r>
            <a:r>
              <a:rPr sz="800" b="0" i="0" dirty="0" err="1">
                <a:solidFill>
                  <a:srgbClr val="7F5F00"/>
                </a:solidFill>
                <a:latin typeface="맑은 고딕"/>
                <a:ea typeface="맑은 고딕"/>
              </a:rPr>
              <a:t>순서</a:t>
            </a:r>
            <a:r>
              <a:rPr sz="800" b="0" i="0" dirty="0">
                <a:solidFill>
                  <a:srgbClr val="7F5F00"/>
                </a:solidFill>
                <a:latin typeface="맑은 고딕"/>
                <a:ea typeface="맑은 고딕"/>
              </a:rPr>
              <a:t> </a:t>
            </a:r>
            <a:r>
              <a:rPr sz="800" b="0" i="0" dirty="0" err="1">
                <a:solidFill>
                  <a:srgbClr val="7F5F00"/>
                </a:solidFill>
                <a:latin typeface="맑은 고딕"/>
                <a:ea typeface="맑은 고딕"/>
              </a:rPr>
              <a:t>보장</a:t>
            </a:r>
            <a:endParaRPr sz="800" b="0" i="0" dirty="0">
              <a:solidFill>
                <a:srgbClr val="7F5F00"/>
              </a:solidFill>
              <a:latin typeface="맑은 고딕"/>
              <a:ea typeface="맑은 고딕"/>
            </a:endParaRPr>
          </a:p>
        </p:txBody>
      </p:sp>
      <p:sp>
        <p:nvSpPr>
          <p:cNvPr id="334" name="Rectangle 96"/>
          <p:cNvSpPr/>
          <p:nvPr/>
        </p:nvSpPr>
        <p:spPr>
          <a:xfrm>
            <a:off x="9547934" y="3657221"/>
            <a:ext cx="2103120" cy="248537"/>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Migration Executor</a:t>
            </a:r>
          </a:p>
        </p:txBody>
      </p:sp>
      <p:sp>
        <p:nvSpPr>
          <p:cNvPr id="335" name="Rectangle 97"/>
          <p:cNvSpPr/>
          <p:nvPr/>
        </p:nvSpPr>
        <p:spPr>
          <a:xfrm>
            <a:off x="9547934" y="4197942"/>
            <a:ext cx="2103120"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36" name="Connector 98"/>
          <p:cNvCxnSpPr>
            <a:stCxn id="333" idx="2"/>
            <a:endCxn id="334" idx="0"/>
          </p:cNvCxnSpPr>
          <p:nvPr/>
        </p:nvCxnSpPr>
        <p:spPr>
          <a:xfrm>
            <a:off x="10599494" y="3179892"/>
            <a:ext cx="0" cy="477329"/>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528836" y="3301703"/>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⑤</a:t>
            </a:r>
          </a:p>
        </p:txBody>
      </p:sp>
      <p:cxnSp>
        <p:nvCxnSpPr>
          <p:cNvPr id="338" name="Connector 100"/>
          <p:cNvCxnSpPr>
            <a:stCxn id="334" idx="2"/>
            <a:endCxn id="335" idx="0"/>
          </p:cNvCxnSpPr>
          <p:nvPr/>
        </p:nvCxnSpPr>
        <p:spPr>
          <a:xfrm>
            <a:off x="10599494" y="3905758"/>
            <a:ext cx="0" cy="29218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528836" y="3936041"/>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⑥</a:t>
            </a:r>
          </a:p>
        </p:txBody>
      </p:sp>
      <p:cxnSp>
        <p:nvCxnSpPr>
          <p:cNvPr id="340" name="Connector 102"/>
          <p:cNvCxnSpPr/>
          <p:nvPr/>
        </p:nvCxnSpPr>
        <p:spPr>
          <a:xfrm flipH="1">
            <a:off x="11157265" y="2217117"/>
            <a:ext cx="3338" cy="49181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1094102" y="2353413"/>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④</a:t>
            </a:r>
          </a:p>
        </p:txBody>
      </p:sp>
      <p:sp>
        <p:nvSpPr>
          <p:cNvPr id="347" name="Rectangle 109"/>
          <p:cNvSpPr/>
          <p:nvPr/>
        </p:nvSpPr>
        <p:spPr>
          <a:xfrm>
            <a:off x="6621855" y="4191953"/>
            <a:ext cx="252706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sp>
        <p:nvSpPr>
          <p:cNvPr id="360" name="Rectangle 39"/>
          <p:cNvSpPr/>
          <p:nvPr/>
        </p:nvSpPr>
        <p:spPr>
          <a:xfrm>
            <a:off x="1517841"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Trend Analyzer</a:t>
            </a:r>
          </a:p>
          <a:p>
            <a:pPr algn="ctr">
              <a:lnSpc>
                <a:spcPct val="125000"/>
              </a:lnSpc>
            </a:pPr>
            <a:r>
              <a:rPr sz="800" dirty="0" err="1">
                <a:solidFill>
                  <a:srgbClr val="404040"/>
                </a:solidFill>
                <a:latin typeface="맑은 고딕"/>
                <a:ea typeface="맑은 고딕"/>
              </a:rPr>
              <a:t>자원</a:t>
            </a:r>
            <a:r>
              <a:rPr sz="800" dirty="0">
                <a:solidFill>
                  <a:srgbClr val="404040"/>
                </a:solidFill>
                <a:latin typeface="맑은 고딕"/>
                <a:ea typeface="맑은 고딕"/>
              </a:rPr>
              <a:t> </a:t>
            </a:r>
            <a:r>
              <a:rPr sz="800" dirty="0" err="1">
                <a:solidFill>
                  <a:srgbClr val="404040"/>
                </a:solidFill>
                <a:latin typeface="맑은 고딕"/>
                <a:ea typeface="맑은 고딕"/>
              </a:rPr>
              <a:t>추세</a:t>
            </a:r>
            <a:r>
              <a:rPr sz="800" dirty="0">
                <a:solidFill>
                  <a:srgbClr val="404040"/>
                </a:solidFill>
                <a:latin typeface="맑은 고딕"/>
                <a:ea typeface="맑은 고딕"/>
              </a:rPr>
              <a:t> </a:t>
            </a:r>
            <a:r>
              <a:rPr sz="800" dirty="0" err="1">
                <a:solidFill>
                  <a:srgbClr val="404040"/>
                </a:solidFill>
                <a:latin typeface="맑은 고딕"/>
                <a:ea typeface="맑은 고딕"/>
              </a:rPr>
              <a:t>판단</a:t>
            </a:r>
            <a:endParaRPr sz="800" dirty="0">
              <a:solidFill>
                <a:srgbClr val="404040"/>
              </a:solidFill>
              <a:latin typeface="맑은 고딕"/>
              <a:ea typeface="맑은 고딕"/>
            </a:endParaRPr>
          </a:p>
        </p:txBody>
      </p:sp>
      <p:sp>
        <p:nvSpPr>
          <p:cNvPr id="361" name="Rectangle 40"/>
          <p:cNvSpPr/>
          <p:nvPr/>
        </p:nvSpPr>
        <p:spPr>
          <a:xfrm>
            <a:off x="3070130"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Affinity Mapper</a:t>
            </a:r>
          </a:p>
          <a:p>
            <a:pPr algn="ctr">
              <a:lnSpc>
                <a:spcPct val="125000"/>
              </a:lnSpc>
            </a:pPr>
            <a:r>
              <a:rPr sz="800" dirty="0" err="1">
                <a:solidFill>
                  <a:srgbClr val="404040"/>
                </a:solidFill>
                <a:latin typeface="맑은 고딕"/>
                <a:ea typeface="맑은 고딕"/>
              </a:rPr>
              <a:t>데이터·메모리</a:t>
            </a:r>
            <a:r>
              <a:rPr sz="800" dirty="0">
                <a:solidFill>
                  <a:srgbClr val="404040"/>
                </a:solidFill>
                <a:latin typeface="맑은 고딕"/>
                <a:ea typeface="맑은 고딕"/>
              </a:rPr>
              <a:t> </a:t>
            </a:r>
            <a:r>
              <a:rPr sz="800" dirty="0" err="1">
                <a:solidFill>
                  <a:srgbClr val="404040"/>
                </a:solidFill>
                <a:latin typeface="맑은 고딕"/>
                <a:ea typeface="맑은 고딕"/>
              </a:rPr>
              <a:t>적합도</a:t>
            </a:r>
            <a:endParaRPr sz="800" dirty="0">
              <a:solidFill>
                <a:srgbClr val="404040"/>
              </a:solidFill>
              <a:latin typeface="맑은 고딕"/>
              <a:ea typeface="맑은 고딕"/>
            </a:endParaRPr>
          </a:p>
        </p:txBody>
      </p:sp>
      <p:sp>
        <p:nvSpPr>
          <p:cNvPr id="362" name="Rectangle 41"/>
          <p:cNvSpPr/>
          <p:nvPr/>
        </p:nvSpPr>
        <p:spPr>
          <a:xfrm>
            <a:off x="4622419"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800" dirty="0" err="1">
                <a:solidFill>
                  <a:srgbClr val="404040"/>
                </a:solidFill>
                <a:latin typeface="맑은 고딕"/>
                <a:ea typeface="맑은 고딕"/>
              </a:rPr>
              <a:t>이동</a:t>
            </a:r>
            <a:r>
              <a:rPr sz="800" dirty="0">
                <a:solidFill>
                  <a:srgbClr val="404040"/>
                </a:solidFill>
                <a:latin typeface="맑은 고딕"/>
                <a:ea typeface="맑은 고딕"/>
              </a:rPr>
              <a:t> </a:t>
            </a:r>
            <a:r>
              <a:rPr sz="800" dirty="0" err="1">
                <a:solidFill>
                  <a:srgbClr val="404040"/>
                </a:solidFill>
                <a:latin typeface="맑은 고딕"/>
                <a:ea typeface="맑은 고딕"/>
              </a:rPr>
              <a:t>명령</a:t>
            </a:r>
            <a:r>
              <a:rPr sz="800" dirty="0">
                <a:solidFill>
                  <a:srgbClr val="404040"/>
                </a:solidFill>
                <a:latin typeface="맑은 고딕"/>
                <a:ea typeface="맑은 고딕"/>
              </a:rPr>
              <a:t> </a:t>
            </a:r>
            <a:r>
              <a:rPr sz="800" dirty="0" err="1">
                <a:solidFill>
                  <a:srgbClr val="404040"/>
                </a:solidFill>
                <a:latin typeface="맑은 고딕"/>
                <a:ea typeface="맑은 고딕"/>
              </a:rPr>
              <a:t>확정</a:t>
            </a:r>
            <a:endParaRPr sz="800" dirty="0">
              <a:solidFill>
                <a:srgbClr val="404040"/>
              </a:solidFill>
              <a:latin typeface="맑은 고딕"/>
              <a:ea typeface="맑은 고딕"/>
            </a:endParaRPr>
          </a:p>
        </p:txBody>
      </p:sp>
      <p:cxnSp>
        <p:nvCxnSpPr>
          <p:cNvPr id="363" name="Connector 42"/>
          <p:cNvCxnSpPr>
            <a:endCxn id="361" idx="1"/>
          </p:cNvCxnSpPr>
          <p:nvPr/>
        </p:nvCxnSpPr>
        <p:spPr>
          <a:xfrm>
            <a:off x="2651697" y="1986735"/>
            <a:ext cx="418433"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a:stCxn id="361" idx="3"/>
            <a:endCxn id="362" idx="1"/>
          </p:cNvCxnSpPr>
          <p:nvPr/>
        </p:nvCxnSpPr>
        <p:spPr>
          <a:xfrm>
            <a:off x="4203986" y="1986735"/>
            <a:ext cx="418433"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2776627" y="193211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②</a:t>
            </a:r>
          </a:p>
        </p:txBody>
      </p:sp>
      <p:sp>
        <p:nvSpPr>
          <p:cNvPr id="367" name="Rectangle 45"/>
          <p:cNvSpPr/>
          <p:nvPr/>
        </p:nvSpPr>
        <p:spPr>
          <a:xfrm>
            <a:off x="1398786" y="2453701"/>
            <a:ext cx="1371966" cy="455184"/>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Threshold Trigger</a:t>
            </a:r>
          </a:p>
          <a:p>
            <a:pPr algn="ctr">
              <a:lnSpc>
                <a:spcPct val="125000"/>
              </a:lnSpc>
            </a:pPr>
            <a:r>
              <a:rPr sz="800" b="0" i="0" dirty="0" err="1">
                <a:solidFill>
                  <a:srgbClr val="7F5F00"/>
                </a:solidFill>
                <a:latin typeface="맑은 고딕"/>
                <a:ea typeface="맑은 고딕"/>
              </a:rPr>
              <a:t>임계치</a:t>
            </a:r>
            <a:r>
              <a:rPr sz="800" b="0" i="0" dirty="0">
                <a:solidFill>
                  <a:srgbClr val="7F5F00"/>
                </a:solidFill>
                <a:latin typeface="맑은 고딕"/>
                <a:ea typeface="맑은 고딕"/>
              </a:rPr>
              <a:t> </a:t>
            </a:r>
            <a:r>
              <a:rPr sz="800" b="0" i="0" dirty="0" err="1">
                <a:solidFill>
                  <a:srgbClr val="7F5F00"/>
                </a:solidFill>
                <a:latin typeface="맑은 고딕"/>
                <a:ea typeface="맑은 고딕"/>
              </a:rPr>
              <a:t>교차</a:t>
            </a:r>
            <a:r>
              <a:rPr sz="800" b="0" i="0" dirty="0">
                <a:solidFill>
                  <a:srgbClr val="7F5F00"/>
                </a:solidFill>
                <a:latin typeface="맑은 고딕"/>
                <a:ea typeface="맑은 고딕"/>
              </a:rPr>
              <a:t> 시 </a:t>
            </a: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기동</a:t>
            </a:r>
            <a:endParaRPr sz="800" b="0" i="0" dirty="0">
              <a:solidFill>
                <a:srgbClr val="7F5F00"/>
              </a:solidFill>
              <a:latin typeface="맑은 고딕"/>
              <a:ea typeface="맑은 고딕"/>
            </a:endParaRPr>
          </a:p>
        </p:txBody>
      </p:sp>
      <p:cxnSp>
        <p:nvCxnSpPr>
          <p:cNvPr id="368" name="Connector 46"/>
          <p:cNvCxnSpPr>
            <a:stCxn id="367" idx="0"/>
          </p:cNvCxnSpPr>
          <p:nvPr/>
        </p:nvCxnSpPr>
        <p:spPr>
          <a:xfrm flipV="1">
            <a:off x="2084769" y="2197049"/>
            <a:ext cx="0" cy="25665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159421" y="228372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①</a:t>
            </a:r>
          </a:p>
        </p:txBody>
      </p:sp>
      <p:sp>
        <p:nvSpPr>
          <p:cNvPr id="370" name="Rectangle 48"/>
          <p:cNvSpPr/>
          <p:nvPr/>
        </p:nvSpPr>
        <p:spPr>
          <a:xfrm>
            <a:off x="1462977" y="3165539"/>
            <a:ext cx="2523744" cy="909830"/>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1517841" y="3220404"/>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State Monitor</a:t>
            </a:r>
          </a:p>
        </p:txBody>
      </p:sp>
      <p:sp>
        <p:nvSpPr>
          <p:cNvPr id="372" name="Rectangle 50"/>
          <p:cNvSpPr/>
          <p:nvPr/>
        </p:nvSpPr>
        <p:spPr>
          <a:xfrm>
            <a:off x="1517841" y="3618407"/>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Telemetry Collector</a:t>
            </a:r>
          </a:p>
        </p:txBody>
      </p:sp>
      <p:sp>
        <p:nvSpPr>
          <p:cNvPr id="373" name="Rectangle 51"/>
          <p:cNvSpPr/>
          <p:nvPr/>
        </p:nvSpPr>
        <p:spPr>
          <a:xfrm>
            <a:off x="2779713" y="3221809"/>
            <a:ext cx="1133856" cy="254628"/>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Memory Registry</a:t>
            </a:r>
          </a:p>
        </p:txBody>
      </p:sp>
      <p:sp>
        <p:nvSpPr>
          <p:cNvPr id="374" name="TextBox 373"/>
          <p:cNvSpPr txBox="1"/>
          <p:nvPr/>
        </p:nvSpPr>
        <p:spPr>
          <a:xfrm>
            <a:off x="2953033" y="3919990"/>
            <a:ext cx="1133856" cy="137160"/>
          </a:xfrm>
          <a:prstGeom prst="rect">
            <a:avLst/>
          </a:prstGeom>
          <a:noFill/>
        </p:spPr>
        <p:txBody>
          <a:bodyPr wrap="square" lIns="0" tIns="0" rIns="0" bIns="0" anchor="ctr">
            <a:spAutoFit/>
          </a:bodyPr>
          <a:lstStyle/>
          <a:p>
            <a:pPr algn="ctr"/>
            <a:r>
              <a:rPr sz="620" b="1" i="0" dirty="0">
                <a:solidFill>
                  <a:srgbClr val="7F5F00"/>
                </a:solidFill>
                <a:latin typeface="맑은 고딕"/>
                <a:ea typeface="맑은 고딕"/>
              </a:rPr>
              <a:t>State Lock Manager</a:t>
            </a:r>
          </a:p>
        </p:txBody>
      </p:sp>
      <p:cxnSp>
        <p:nvCxnSpPr>
          <p:cNvPr id="375" name="Connector 53"/>
          <p:cNvCxnSpPr/>
          <p:nvPr/>
        </p:nvCxnSpPr>
        <p:spPr>
          <a:xfrm flipV="1">
            <a:off x="2084769" y="3486654"/>
            <a:ext cx="0" cy="12936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a:stCxn id="371" idx="0"/>
            <a:endCxn id="367" idx="2"/>
          </p:cNvCxnSpPr>
          <p:nvPr/>
        </p:nvCxnSpPr>
        <p:spPr>
          <a:xfrm flipV="1">
            <a:off x="2084769" y="2908885"/>
            <a:ext cx="0" cy="311519"/>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a:stCxn id="373" idx="0"/>
          </p:cNvCxnSpPr>
          <p:nvPr/>
        </p:nvCxnSpPr>
        <p:spPr>
          <a:xfrm flipV="1">
            <a:off x="3346641" y="2197047"/>
            <a:ext cx="0" cy="102476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3273489" y="269695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③</a:t>
            </a:r>
          </a:p>
        </p:txBody>
      </p:sp>
      <p:sp>
        <p:nvSpPr>
          <p:cNvPr id="381" name="Rectangle 59"/>
          <p:cNvSpPr/>
          <p:nvPr/>
        </p:nvSpPr>
        <p:spPr>
          <a:xfrm>
            <a:off x="4170566" y="3605088"/>
            <a:ext cx="2030800"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Migration Executor</a:t>
            </a:r>
          </a:p>
        </p:txBody>
      </p:sp>
      <p:sp>
        <p:nvSpPr>
          <p:cNvPr id="382" name="Rectangle 60"/>
          <p:cNvSpPr/>
          <p:nvPr/>
        </p:nvSpPr>
        <p:spPr>
          <a:xfrm>
            <a:off x="4172046" y="4152078"/>
            <a:ext cx="2030800"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a:stCxn id="381" idx="2"/>
            <a:endCxn id="382" idx="0"/>
          </p:cNvCxnSpPr>
          <p:nvPr/>
        </p:nvCxnSpPr>
        <p:spPr>
          <a:xfrm>
            <a:off x="5185966" y="3833688"/>
            <a:ext cx="1480" cy="31839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127478" y="387443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⑥</a:t>
            </a:r>
          </a:p>
        </p:txBody>
      </p:sp>
      <p:cxnSp>
        <p:nvCxnSpPr>
          <p:cNvPr id="385" name="Connector 63"/>
          <p:cNvCxnSpPr>
            <a:stCxn id="362" idx="2"/>
            <a:endCxn id="381" idx="0"/>
          </p:cNvCxnSpPr>
          <p:nvPr/>
        </p:nvCxnSpPr>
        <p:spPr>
          <a:xfrm flipH="1">
            <a:off x="5185966" y="2197047"/>
            <a:ext cx="3381" cy="1408041"/>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124733" y="273217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8" name="Connector 66"/>
          <p:cNvCxnSpPr>
            <a:stCxn id="381" idx="1"/>
            <a:endCxn id="373" idx="2"/>
          </p:cNvCxnSpPr>
          <p:nvPr/>
        </p:nvCxnSpPr>
        <p:spPr>
          <a:xfrm rot="10800000">
            <a:off x="3346642" y="3476438"/>
            <a:ext cx="823925" cy="242951"/>
          </a:xfrm>
          <a:prstGeom prst="bentConnector2">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763851" y="366909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⑤</a:t>
            </a:r>
          </a:p>
        </p:txBody>
      </p:sp>
      <p:sp>
        <p:nvSpPr>
          <p:cNvPr id="390" name="Rectangle 68"/>
          <p:cNvSpPr/>
          <p:nvPr/>
        </p:nvSpPr>
        <p:spPr>
          <a:xfrm>
            <a:off x="1261809" y="4153092"/>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dirty="0">
                <a:solidFill>
                  <a:srgbClr val="FFFFFF"/>
                </a:solidFill>
                <a:latin typeface="맑은 고딕"/>
                <a:ea typeface="맑은 고딕"/>
              </a:rPr>
              <a:t>Common Memory Backend Interface</a:t>
            </a:r>
          </a:p>
        </p:txBody>
      </p:sp>
      <p:cxnSp>
        <p:nvCxnSpPr>
          <p:cNvPr id="391" name="Connector 69"/>
          <p:cNvCxnSpPr>
            <a:endCxn id="372" idx="2"/>
          </p:cNvCxnSpPr>
          <p:nvPr/>
        </p:nvCxnSpPr>
        <p:spPr>
          <a:xfrm flipV="1">
            <a:off x="2084769" y="3874439"/>
            <a:ext cx="0" cy="278653"/>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grpSp>
        <p:nvGrpSpPr>
          <p:cNvPr id="7" name="그룹 6"/>
          <p:cNvGrpSpPr/>
          <p:nvPr/>
        </p:nvGrpSpPr>
        <p:grpSpPr>
          <a:xfrm>
            <a:off x="311665" y="3341561"/>
            <a:ext cx="768096" cy="1115568"/>
            <a:chOff x="292545" y="3435232"/>
            <a:chExt cx="768096" cy="1115568"/>
          </a:xfrm>
        </p:grpSpPr>
        <p:sp>
          <p:nvSpPr>
            <p:cNvPr id="392"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
        <p:nvSpPr>
          <p:cNvPr id="113" name="모서리가 둥근 직사각형 112"/>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105" name="실행 단추: 앞으로 또는 다음으로 이동 104">
            <a:hlinkClick r:id="rId4" action="ppaction://hlinksldjump" highlightClick="1"/>
            <a:extLst>
              <a:ext uri="{FF2B5EF4-FFF2-40B4-BE49-F238E27FC236}">
                <a16:creationId xmlns:a16="http://schemas.microsoft.com/office/drawing/2014/main" id="{2FD9E54B-85A4-4F54-B55B-7E511F28F739}"/>
              </a:ext>
            </a:extLst>
          </p:cNvPr>
          <p:cNvSpPr/>
          <p:nvPr/>
        </p:nvSpPr>
        <p:spPr>
          <a:xfrm>
            <a:off x="595831" y="603413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10" name="실행 단추: 앞으로 또는 다음 109">
            <a:hlinkClick r:id="rId5" action="ppaction://hlinksldjump" highlightClick="1"/>
          </p:cNvPr>
          <p:cNvSpPr/>
          <p:nvPr/>
        </p:nvSpPr>
        <p:spPr>
          <a:xfrm>
            <a:off x="6236437"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6" name="Connector 66"/>
          <p:cNvCxnSpPr>
            <a:stCxn id="334" idx="1"/>
            <a:endCxn id="324" idx="3"/>
          </p:cNvCxnSpPr>
          <p:nvPr/>
        </p:nvCxnSpPr>
        <p:spPr>
          <a:xfrm rot="10800000" flipV="1">
            <a:off x="9049172" y="3781489"/>
            <a:ext cx="498763" cy="137693"/>
          </a:xfrm>
          <a:prstGeom prst="bentConnector3">
            <a:avLst>
              <a:gd name="adj1" fmla="val 50000"/>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9254941" y="3730818"/>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⑦</a:t>
            </a:r>
          </a:p>
        </p:txBody>
      </p:sp>
      <p:cxnSp>
        <p:nvCxnSpPr>
          <p:cNvPr id="157" name="Connector 69"/>
          <p:cNvCxnSpPr>
            <a:endCxn id="322" idx="1"/>
          </p:cNvCxnSpPr>
          <p:nvPr/>
        </p:nvCxnSpPr>
        <p:spPr>
          <a:xfrm rot="5400000" flipH="1" flipV="1">
            <a:off x="6273926" y="3873063"/>
            <a:ext cx="813040" cy="82322"/>
          </a:xfrm>
          <a:prstGeom prst="bentConnector2">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A19DE7E3-9727-4AAE-AF79-40DA077862EE}"/>
              </a:ext>
            </a:extLst>
          </p:cNvPr>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이동</a:t>
            </a:r>
            <a:r>
              <a:rPr lang="en-US" altLang="ko-KR" sz="1100" dirty="0"/>
              <a:t>“</a:t>
            </a:r>
          </a:p>
        </p:txBody>
      </p:sp>
      <p:sp>
        <p:nvSpPr>
          <p:cNvPr id="92" name="TextBox 91">
            <a:extLst>
              <a:ext uri="{FF2B5EF4-FFF2-40B4-BE49-F238E27FC236}">
                <a16:creationId xmlns:a16="http://schemas.microsoft.com/office/drawing/2014/main" id="{6808D04C-22A5-4934-B199-257B712E586E}"/>
              </a:ext>
            </a:extLst>
          </p:cNvPr>
          <p:cNvSpPr txBox="1"/>
          <p:nvPr/>
        </p:nvSpPr>
        <p:spPr>
          <a:xfrm>
            <a:off x="6534149" y="1383052"/>
            <a:ext cx="5448301" cy="261610"/>
          </a:xfrm>
          <a:prstGeom prst="rect">
            <a:avLst/>
          </a:prstGeom>
          <a:noFill/>
        </p:spPr>
        <p:txBody>
          <a:bodyPr wrap="square" rtlCol="0">
            <a:spAutoFit/>
          </a:bodyPr>
          <a:lstStyle/>
          <a:p>
            <a:r>
              <a:rPr lang="en-US" altLang="ko-KR" sz="1100" dirty="0"/>
              <a:t>“</a:t>
            </a:r>
            <a:r>
              <a:rPr lang="ko-KR" altLang="en-US" sz="1100" dirty="0">
                <a:solidFill>
                  <a:srgbClr val="0066FF"/>
                </a:solidFill>
              </a:rPr>
              <a:t>데이터 특성</a:t>
            </a:r>
            <a:r>
              <a:rPr lang="en-US" altLang="ko-KR" sz="1100" dirty="0">
                <a:solidFill>
                  <a:srgbClr val="0066FF"/>
                </a:solidFill>
              </a:rPr>
              <a:t>(KV</a:t>
            </a:r>
            <a:r>
              <a:rPr lang="ko-KR" altLang="en-US" sz="1100" dirty="0">
                <a:solidFill>
                  <a:srgbClr val="0066FF"/>
                </a:solidFill>
              </a:rPr>
              <a:t> </a:t>
            </a:r>
            <a:r>
              <a:rPr lang="en-US" altLang="ko-KR" sz="1100" dirty="0">
                <a:solidFill>
                  <a:srgbClr val="0066FF"/>
                </a:solidFill>
              </a:rPr>
              <a:t>Hotness/Agent Tool Info </a:t>
            </a:r>
            <a:r>
              <a:rPr lang="ko-KR" altLang="en-US" sz="1100" dirty="0">
                <a:solidFill>
                  <a:srgbClr val="0066FF"/>
                </a:solidFill>
              </a:rPr>
              <a:t>등</a:t>
            </a:r>
            <a:r>
              <a:rPr lang="en-US" altLang="ko-KR" sz="1100" dirty="0">
                <a:solidFill>
                  <a:srgbClr val="0066FF"/>
                </a:solidFill>
              </a:rPr>
              <a:t>)</a:t>
            </a:r>
            <a:r>
              <a:rPr lang="ko-KR" altLang="en-US" sz="1100" dirty="0"/>
              <a:t>에 우선한 이동</a:t>
            </a:r>
            <a:r>
              <a:rPr lang="en-US" altLang="ko-KR" sz="1100" dirty="0"/>
              <a:t>“</a:t>
            </a:r>
            <a:endParaRPr lang="ko-KR" altLang="en-US" sz="1100" dirty="0"/>
          </a:p>
        </p:txBody>
      </p:sp>
      <p:sp>
        <p:nvSpPr>
          <p:cNvPr id="87" name="직사각형 86">
            <a:extLst>
              <a:ext uri="{FF2B5EF4-FFF2-40B4-BE49-F238E27FC236}">
                <a16:creationId xmlns:a16="http://schemas.microsoft.com/office/drawing/2014/main" id="{6E2B7273-A609-42E8-9B1D-ED211C704AFC}"/>
              </a:ext>
            </a:extLst>
          </p:cNvPr>
          <p:cNvSpPr/>
          <p:nvPr/>
        </p:nvSpPr>
        <p:spPr>
          <a:xfrm>
            <a:off x="6534148" y="1053935"/>
            <a:ext cx="5580545" cy="536210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37">
            <a:extLst>
              <a:ext uri="{FF2B5EF4-FFF2-40B4-BE49-F238E27FC236}">
                <a16:creationId xmlns:a16="http://schemas.microsoft.com/office/drawing/2014/main" id="{476B6E1C-7561-417D-A669-4DEFCE610223}"/>
              </a:ext>
            </a:extLst>
          </p:cNvPr>
          <p:cNvSpPr/>
          <p:nvPr/>
        </p:nvSpPr>
        <p:spPr>
          <a:xfrm>
            <a:off x="7872631" y="589692"/>
            <a:ext cx="82955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smtClean="0">
                <a:latin typeface="맑은 고딕" panose="020B0503020000020004" pitchFamily="50" charset="-127"/>
              </a:rPr>
              <a:t> </a:t>
            </a:r>
            <a:r>
              <a:rPr lang="ko-KR" altLang="en-US" sz="700" dirty="0">
                <a:latin typeface="맑은 고딕" panose="020B0503020000020004" pitchFamily="50" charset="-127"/>
              </a:rPr>
              <a:t>개발 환경</a:t>
            </a:r>
          </a:p>
        </p:txBody>
      </p:sp>
    </p:spTree>
    <p:extLst>
      <p:ext uri="{BB962C8B-B14F-4D97-AF65-F5344CB8AC3E}">
        <p14:creationId xmlns:p14="http://schemas.microsoft.com/office/powerpoint/2010/main" val="3023915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640755847"/>
              </p:ext>
            </p:extLst>
          </p:nvPr>
        </p:nvGraphicFramePr>
        <p:xfrm>
          <a:off x="249035" y="1044054"/>
          <a:ext cx="11747501" cy="537634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2618081">
                  <a:extLst>
                    <a:ext uri="{9D8B030D-6E8A-4147-A177-3AD203B41FA5}">
                      <a16:colId xmlns:a16="http://schemas.microsoft.com/office/drawing/2014/main" val="5654497"/>
                    </a:ext>
                  </a:extLst>
                </a:gridCol>
                <a:gridCol w="619941">
                  <a:extLst>
                    <a:ext uri="{9D8B030D-6E8A-4147-A177-3AD203B41FA5}">
                      <a16:colId xmlns:a16="http://schemas.microsoft.com/office/drawing/2014/main" val="1488648967"/>
                    </a:ext>
                  </a:extLst>
                </a:gridCol>
                <a:gridCol w="2198032">
                  <a:extLst>
                    <a:ext uri="{9D8B030D-6E8A-4147-A177-3AD203B41FA5}">
                      <a16:colId xmlns:a16="http://schemas.microsoft.com/office/drawing/2014/main" val="2953438935"/>
                    </a:ext>
                  </a:extLst>
                </a:gridCol>
                <a:gridCol w="2792524">
                  <a:extLst>
                    <a:ext uri="{9D8B030D-6E8A-4147-A177-3AD203B41FA5}">
                      <a16:colId xmlns:a16="http://schemas.microsoft.com/office/drawing/2014/main" val="3070054508"/>
                    </a:ext>
                  </a:extLst>
                </a:gridCol>
                <a:gridCol w="476794">
                  <a:extLst>
                    <a:ext uri="{9D8B030D-6E8A-4147-A177-3AD203B41FA5}">
                      <a16:colId xmlns:a16="http://schemas.microsoft.com/office/drawing/2014/main" val="4076489270"/>
                    </a:ext>
                  </a:extLst>
                </a:gridCol>
                <a:gridCol w="21667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메모리 자원 상태에 우선한 이동 결정</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데이터 특성에 우선한 이동 결정</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33014303"/>
                  </a:ext>
                </a:extLst>
              </a:tr>
              <a:tr h="3134341">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Threshold trigger</a:t>
                      </a:r>
                      <a:r>
                        <a:rPr lang="ko-KR" altLang="en-US" sz="1200" b="0" i="0" dirty="0">
                          <a:solidFill>
                            <a:srgbClr val="404040"/>
                          </a:solidFill>
                          <a:latin typeface="+mn-lt"/>
                          <a:ea typeface="맑은 고딕"/>
                        </a:rPr>
                        <a:t>가 즉시 판단을 기동해 </a:t>
                      </a:r>
                      <a:r>
                        <a:rPr lang="en-US" altLang="ko-KR" sz="1200" b="0" i="0" dirty="0">
                          <a:solidFill>
                            <a:srgbClr val="404040"/>
                          </a:solidFill>
                          <a:latin typeface="+mn-lt"/>
                          <a:ea typeface="맑은 고딕"/>
                        </a:rPr>
                        <a:t>HBM </a:t>
                      </a:r>
                      <a:r>
                        <a:rPr lang="ko-KR" altLang="en-US" sz="1200" b="0" i="0" dirty="0">
                          <a:solidFill>
                            <a:srgbClr val="404040"/>
                          </a:solidFill>
                          <a:latin typeface="+mn-lt"/>
                          <a:ea typeface="맑은 고딕"/>
                        </a:rPr>
                        <a:t>압박 구간이 짧음 </a:t>
                      </a:r>
                      <a:r>
                        <a:rPr lang="en-US" altLang="ko-KR" sz="1200" b="0" i="0" dirty="0">
                          <a:solidFill>
                            <a:srgbClr val="404040"/>
                          </a:solidFill>
                          <a:latin typeface="+mn-lt"/>
                          <a:ea typeface="맑은 고딕"/>
                        </a:rPr>
                        <a:t>(Q2) </a:t>
                      </a:r>
                      <a:endParaRPr lang="ko-KR" altLang="en-US" sz="1200" b="0" i="0" dirty="0">
                        <a:solidFill>
                          <a:srgbClr val="404040"/>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Plane</a:t>
                      </a:r>
                      <a:r>
                        <a:rPr lang="en-US" altLang="ko-KR" sz="1200" b="0" i="0" baseline="0" dirty="0">
                          <a:solidFill>
                            <a:srgbClr val="404040"/>
                          </a:solidFill>
                          <a:latin typeface="+mn-lt"/>
                          <a:ea typeface="맑은 고딕"/>
                        </a:rPr>
                        <a:t> </a:t>
                      </a:r>
                      <a:r>
                        <a:rPr lang="ko-KR" altLang="en-US" sz="1200" b="0" i="0" dirty="0">
                          <a:solidFill>
                            <a:srgbClr val="404040"/>
                          </a:solidFill>
                          <a:latin typeface="+mn-lt"/>
                          <a:ea typeface="맑은 고딕"/>
                        </a:rPr>
                        <a:t>간 인터페이스 호출이 없어 정책 수정</a:t>
                      </a:r>
                      <a:r>
                        <a:rPr lang="ko-KR" altLang="en-US" sz="1200" b="0" i="0" baseline="0" dirty="0">
                          <a:solidFill>
                            <a:srgbClr val="404040"/>
                          </a:solidFill>
                          <a:latin typeface="+mn-lt"/>
                          <a:ea typeface="맑은 고딕"/>
                        </a:rPr>
                        <a:t> 범위 제한 </a:t>
                      </a:r>
                      <a:r>
                        <a:rPr lang="en-US" altLang="ko-KR" sz="1200" b="0" i="0" baseline="0" dirty="0">
                          <a:solidFill>
                            <a:srgbClr val="404040"/>
                          </a:solidFill>
                          <a:latin typeface="+mn-lt"/>
                          <a:ea typeface="맑은 고딕"/>
                        </a:rPr>
                        <a:t>(Q5)</a:t>
                      </a:r>
                      <a:endParaRPr lang="en-US" altLang="ko-KR" sz="1200" strike="noStrike" baseline="0" dirty="0">
                        <a:solidFill>
                          <a:schemeClr val="tx1"/>
                        </a:solidFill>
                        <a:effectLst/>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 </a:t>
                      </a:r>
                      <a:r>
                        <a:rPr lang="en-US" altLang="ko-KR" sz="1200" b="0" i="0" dirty="0">
                          <a:solidFill>
                            <a:srgbClr val="404040"/>
                          </a:solidFill>
                          <a:latin typeface="+mn-lt"/>
                          <a:ea typeface="맑은 고딕"/>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t>
                      </a:r>
                      <a:r>
                        <a:rPr lang="ko-KR" altLang="en-US" sz="1200" b="0" i="0" dirty="0">
                          <a:solidFill>
                            <a:srgbClr val="404040"/>
                          </a:solidFill>
                          <a:latin typeface="+mn-lt"/>
                          <a:ea typeface="맑은 고딕"/>
                        </a:rPr>
                        <a:t>스키마</a:t>
                      </a:r>
                      <a:r>
                        <a:rPr lang="en-US" altLang="ko-KR" sz="1200" b="0" i="0" dirty="0">
                          <a:solidFill>
                            <a:srgbClr val="404040"/>
                          </a:solidFill>
                          <a:latin typeface="+mn-lt"/>
                          <a:ea typeface="맑은 고딕"/>
                        </a:rPr>
                        <a:t>,</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Command Queue </a:t>
                      </a:r>
                      <a:r>
                        <a:rPr lang="ko-KR" altLang="en-US" sz="1200" b="0" i="0" dirty="0">
                          <a:solidFill>
                            <a:srgbClr val="404040"/>
                          </a:solidFill>
                          <a:latin typeface="+mn-lt"/>
                          <a:ea typeface="맑은 고딕"/>
                        </a:rPr>
                        <a:t>인터페이스가 바뀌면 </a:t>
                      </a:r>
                      <a:r>
                        <a:rPr lang="en-US" altLang="ko-KR" sz="1200" b="0" i="0" dirty="0">
                          <a:solidFill>
                            <a:srgbClr val="404040"/>
                          </a:solidFill>
                          <a:latin typeface="+mn-lt"/>
                          <a:ea typeface="맑은 고딕"/>
                        </a:rPr>
                        <a:t>Resource,</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Data</a:t>
                      </a:r>
                      <a:r>
                        <a:rPr lang="ko-KR" altLang="en-US" sz="1200" b="0" i="0" dirty="0">
                          <a:solidFill>
                            <a:srgbClr val="404040"/>
                          </a:solidFill>
                          <a:latin typeface="+mn-lt"/>
                          <a:ea typeface="맑은 고딕"/>
                        </a:rPr>
                        <a:t> </a:t>
                      </a: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동반 수정 필요 </a:t>
                      </a:r>
                      <a:r>
                        <a:rPr lang="en-US" altLang="ko-KR" sz="1200" b="0" i="0" dirty="0">
                          <a:solidFill>
                            <a:srgbClr val="404040"/>
                          </a:solidFill>
                          <a:latin typeface="+mn-lt"/>
                          <a:ea typeface="맑은 고딕"/>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tx1"/>
                          </a:solidFill>
                          <a:latin typeface="맑은 고딕" panose="020B0503020000020004" pitchFamily="50" charset="-127"/>
                          <a:ea typeface="+mn-ea"/>
                        </a:rPr>
                        <a:t>●</a:t>
                      </a:r>
                      <a:r>
                        <a:rPr lang="en-US" altLang="ko-KR" sz="1200" b="0" dirty="0" smtClean="0">
                          <a:solidFill>
                            <a:schemeClr val="tx1"/>
                          </a:solidFill>
                          <a:latin typeface="맑은 고딕" panose="020B0503020000020004" pitchFamily="50" charset="-127"/>
                          <a:ea typeface="맑은 고딕" panose="020B0503020000020004" pitchFamily="50" charset="-127"/>
                        </a:rPr>
                        <a:t>◐</a:t>
                      </a:r>
                      <a:r>
                        <a:rPr lang="en-US" altLang="ko-KR" sz="1200" b="0" dirty="0" smtClean="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1.76→5.63 q/s (3.2x)</a:t>
                      </a:r>
                      <a:endParaRPr lang="en-US" altLang="ko-KR" sz="18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HBM 425→238 GB (-44%) </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TTFT</a:t>
                      </a:r>
                      <a:r>
                        <a:rPr kumimoji="0" lang="ko-KR" altLang="en-US" sz="900" b="0" i="0" u="none" strike="noStrike" kern="1200" cap="none" spc="0" normalizeH="0" baseline="0" noProof="0" dirty="0">
                          <a:ln>
                            <a:noFill/>
                          </a:ln>
                          <a:solidFill>
                            <a:srgbClr val="404040"/>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1.89→1.29 s (-32%) </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3.3m</a:t>
                      </a:r>
                      <a:endParaRPr lang="en-US" altLang="ko-KR" sz="1400" b="0" dirty="0">
                        <a:solidFill>
                          <a:schemeClr val="tx1"/>
                        </a:solidFill>
                        <a:latin typeface="맑은 고딕" panose="020B0503020000020004" pitchFamily="50" charset="-127"/>
                        <a:ea typeface="+mn-ea"/>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chemeClr val="accent5"/>
                          </a:solidFill>
                          <a:latin typeface="맑은 고딕" panose="020B0503020000020004" pitchFamily="50" charset="-127"/>
                          <a:ea typeface="+mn-ea"/>
                        </a:rPr>
                        <a:t>●●○</a:t>
                      </a:r>
                      <a:r>
                        <a:rPr lang="ko-KR" altLang="en-US" sz="1200" strike="noStrike" dirty="0" smtClean="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1.76→7.57 q/s (4.3x)</a:t>
                      </a:r>
                      <a:endParaRPr kumimoji="0" lang="en-US" altLang="ko-KR" sz="1800" b="0" i="0" u="none" strike="noStrike" kern="1200" cap="none" spc="0" normalizeH="0" baseline="0" noProof="0" dirty="0">
                        <a:ln>
                          <a:noFill/>
                        </a:ln>
                        <a:solidFill>
                          <a:prstClr val="black"/>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HBM 425→318 GB (-25%) </a:t>
                      </a:r>
                      <a:endParaRPr lang="en-US" altLang="ko-KR" sz="14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TTFT</a:t>
                      </a:r>
                      <a:r>
                        <a:rPr kumimoji="0" lang="ko-KR" altLang="en-US" sz="900" b="0" i="0" u="none" strike="noStrike" kern="1200" cap="none" spc="0" normalizeH="0" baseline="0" noProof="0" dirty="0">
                          <a:ln>
                            <a:noFill/>
                          </a:ln>
                          <a:solidFill>
                            <a:srgbClr val="404040"/>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1.89→0.87 s(-54%) </a:t>
                      </a:r>
                      <a:endParaRPr lang="en-US" altLang="ko-KR" sz="14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3.6m</a:t>
                      </a:r>
                      <a:endParaRPr lang="en-US" altLang="ko-KR" sz="1400" b="0" dirty="0">
                        <a:solidFill>
                          <a:srgbClr val="0070C0"/>
                        </a:solidFill>
                        <a:latin typeface="+mn-lt"/>
                        <a:ea typeface="맑은 고딕"/>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a:t>
            </a:r>
            <a:r>
              <a:rPr lang="en-US" altLang="ko-KR" sz="1400" b="1" dirty="0">
                <a:solidFill>
                  <a:schemeClr val="bg1"/>
                </a:solidFill>
              </a:rPr>
              <a:t>, </a:t>
            </a:r>
            <a:r>
              <a:rPr lang="ko-KR" altLang="en-US" sz="1400" b="1" dirty="0">
                <a:solidFill>
                  <a:schemeClr val="bg1"/>
                </a:solidFill>
              </a:rPr>
              <a:t>변경 용이성을 고려한 데이터 이동</a:t>
            </a:r>
            <a:r>
              <a:rPr lang="en-US" altLang="ko-KR" sz="1400" b="1" dirty="0">
                <a:solidFill>
                  <a:schemeClr val="bg1"/>
                </a:solidFill>
              </a:rPr>
              <a:t> </a:t>
            </a:r>
            <a:r>
              <a:rPr lang="ko-KR" altLang="en-US" sz="1400" b="1" dirty="0">
                <a:solidFill>
                  <a:schemeClr val="bg1"/>
                </a:solidFill>
              </a:rPr>
              <a:t>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이동</a:t>
            </a:r>
            <a:r>
              <a:rPr lang="en-US" altLang="ko-KR" sz="1100" dirty="0"/>
              <a:t>“</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KV </a:t>
            </a:r>
            <a:r>
              <a:rPr lang="ko-KR" altLang="en-US" sz="1100" dirty="0">
                <a:solidFill>
                  <a:srgbClr val="0066FF"/>
                </a:solidFill>
              </a:rPr>
              <a:t>특성</a:t>
            </a:r>
            <a:r>
              <a:rPr lang="en-US" altLang="ko-KR" sz="1100" dirty="0">
                <a:solidFill>
                  <a:srgbClr val="0066FF"/>
                </a:solidFill>
              </a:rPr>
              <a:t>(Hotness/Agent Tool Info </a:t>
            </a:r>
            <a:r>
              <a:rPr lang="ko-KR" altLang="en-US" sz="1100" dirty="0">
                <a:solidFill>
                  <a:srgbClr val="0066FF"/>
                </a:solidFill>
              </a:rPr>
              <a:t>등</a:t>
            </a:r>
            <a:r>
              <a:rPr lang="en-US" altLang="ko-KR" sz="1100" dirty="0">
                <a:solidFill>
                  <a:srgbClr val="0066FF"/>
                </a:solidFill>
              </a:rPr>
              <a:t>)</a:t>
            </a:r>
            <a:r>
              <a:rPr lang="ko-KR" altLang="en-US" sz="1100" dirty="0"/>
              <a:t>에 우선한 이동</a:t>
            </a:r>
            <a:r>
              <a:rPr lang="en-US" altLang="ko-KR" sz="1100" dirty="0"/>
              <a:t>“</a:t>
            </a:r>
            <a:endParaRPr lang="ko-KR" altLang="en-US" sz="1100" dirty="0"/>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102" name="실행 단추: 앞으로 또는 다음 101">
            <a:hlinkClick r:id="rId3"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err="1">
                <a:latin typeface="맑은 고딕" panose="020B0503020000020004" pitchFamily="50" charset="-127"/>
              </a:rPr>
              <a:t>변경용이성</a:t>
            </a:r>
            <a:endParaRPr lang="ko-KR" altLang="en-US" sz="700" dirty="0">
              <a:latin typeface="맑은 고딕" panose="020B0503020000020004" pitchFamily="50" charset="-127"/>
            </a:endParaRPr>
          </a:p>
        </p:txBody>
      </p:sp>
      <p:sp>
        <p:nvSpPr>
          <p:cNvPr id="311" name="Rectangle 73"/>
          <p:cNvSpPr/>
          <p:nvPr/>
        </p:nvSpPr>
        <p:spPr>
          <a:xfrm>
            <a:off x="6721606" y="1761935"/>
            <a:ext cx="1317565"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Decision Scheduler</a:t>
            </a:r>
          </a:p>
          <a:p>
            <a:pPr algn="ctr">
              <a:lnSpc>
                <a:spcPct val="125000"/>
              </a:lnSpc>
            </a:pP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주기</a:t>
            </a:r>
            <a:r>
              <a:rPr sz="800" b="0" i="0" dirty="0">
                <a:solidFill>
                  <a:srgbClr val="7F5F00"/>
                </a:solidFill>
                <a:latin typeface="맑은 고딕"/>
                <a:ea typeface="맑은 고딕"/>
              </a:rPr>
              <a:t> </a:t>
            </a:r>
            <a:r>
              <a:rPr lang="ko-KR" altLang="en-US" sz="800" b="0" i="0" dirty="0">
                <a:solidFill>
                  <a:srgbClr val="7F5F00"/>
                </a:solidFill>
                <a:latin typeface="맑은 고딕"/>
                <a:ea typeface="맑은 고딕"/>
              </a:rPr>
              <a:t>독립 </a:t>
            </a:r>
            <a:r>
              <a:rPr sz="800" b="0" i="0" dirty="0" err="1">
                <a:solidFill>
                  <a:srgbClr val="7F5F00"/>
                </a:solidFill>
                <a:latin typeface="맑은 고딕"/>
                <a:ea typeface="맑은 고딕"/>
              </a:rPr>
              <a:t>보유</a:t>
            </a:r>
            <a:endParaRPr sz="800" b="0" i="0" dirty="0">
              <a:solidFill>
                <a:srgbClr val="7F5F00"/>
              </a:solidFill>
              <a:latin typeface="맑은 고딕"/>
              <a:ea typeface="맑은 고딕"/>
            </a:endParaRPr>
          </a:p>
        </p:txBody>
      </p:sp>
      <p:sp>
        <p:nvSpPr>
          <p:cNvPr id="312" name="Rectangle 74"/>
          <p:cNvSpPr/>
          <p:nvPr/>
        </p:nvSpPr>
        <p:spPr>
          <a:xfrm>
            <a:off x="8197115" y="1761935"/>
            <a:ext cx="951807"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lang="ko-KR" altLang="en-US" sz="700" dirty="0">
                <a:solidFill>
                  <a:srgbClr val="404040"/>
                </a:solidFill>
                <a:latin typeface="맑은 고딕"/>
                <a:ea typeface="맑은 고딕"/>
              </a:rPr>
              <a:t>데이터</a:t>
            </a:r>
            <a:r>
              <a:rPr lang="en-US" altLang="ko-KR" sz="700" dirty="0">
                <a:solidFill>
                  <a:srgbClr val="404040"/>
                </a:solidFill>
                <a:latin typeface="맑은 고딕"/>
                <a:ea typeface="맑은 고딕"/>
              </a:rPr>
              <a:t>,</a:t>
            </a:r>
            <a:r>
              <a:rPr lang="ko-KR" altLang="en-US" sz="700" dirty="0">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13" name="Rectangle 75"/>
          <p:cNvSpPr/>
          <p:nvPr/>
        </p:nvSpPr>
        <p:spPr>
          <a:xfrm>
            <a:off x="9281927" y="1761935"/>
            <a:ext cx="1163782"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a:t>
            </a:r>
            <a:r>
              <a:rPr lang="en-US" sz="700" dirty="0">
                <a:solidFill>
                  <a:srgbClr val="404040"/>
                </a:solidFill>
                <a:latin typeface="맑은 고딕"/>
                <a:ea typeface="맑은 고딕"/>
              </a:rPr>
              <a:t>. </a:t>
            </a:r>
            <a:r>
              <a:rPr sz="700" dirty="0" err="1">
                <a:solidFill>
                  <a:srgbClr val="404040"/>
                </a:solidFill>
                <a:latin typeface="맑은 고딕"/>
                <a:ea typeface="맑은 고딕"/>
              </a:rPr>
              <a:t>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14" name="Rectangle 76"/>
          <p:cNvSpPr/>
          <p:nvPr/>
        </p:nvSpPr>
        <p:spPr>
          <a:xfrm>
            <a:off x="10578712" y="1761935"/>
            <a:ext cx="1163782"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15" name="Connector 77"/>
          <p:cNvCxnSpPr/>
          <p:nvPr/>
        </p:nvCxnSpPr>
        <p:spPr>
          <a:xfrm>
            <a:off x="8047485" y="1990535"/>
            <a:ext cx="149630"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8047485" y="2019933"/>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7" name="Connector 79"/>
          <p:cNvCxnSpPr/>
          <p:nvPr/>
        </p:nvCxnSpPr>
        <p:spPr>
          <a:xfrm>
            <a:off x="9125295" y="2002696"/>
            <a:ext cx="133004"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5709" y="1990535"/>
            <a:ext cx="133004"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1" name="Rectangle 83"/>
          <p:cNvSpPr/>
          <p:nvPr/>
        </p:nvSpPr>
        <p:spPr>
          <a:xfrm>
            <a:off x="6729920" y="2597144"/>
            <a:ext cx="2327564" cy="4702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State Snapshot Builder</a:t>
            </a:r>
          </a:p>
          <a:p>
            <a:pPr algn="ctr">
              <a:lnSpc>
                <a:spcPct val="125000"/>
              </a:lnSpc>
            </a:pPr>
            <a:r>
              <a:rPr sz="800" b="0" i="0" dirty="0" err="1">
                <a:solidFill>
                  <a:srgbClr val="7F5F00"/>
                </a:solidFill>
                <a:latin typeface="맑은 고딕"/>
                <a:ea typeface="맑은 고딕"/>
              </a:rPr>
              <a:t>일관</a:t>
            </a:r>
            <a:r>
              <a:rPr sz="800" b="0" i="0" dirty="0">
                <a:solidFill>
                  <a:srgbClr val="7F5F00"/>
                </a:solidFill>
                <a:latin typeface="맑은 고딕"/>
                <a:ea typeface="맑은 고딕"/>
              </a:rPr>
              <a:t> </a:t>
            </a:r>
            <a:r>
              <a:rPr sz="800" b="0" i="0" dirty="0" err="1">
                <a:solidFill>
                  <a:srgbClr val="7F5F00"/>
                </a:solidFill>
                <a:latin typeface="맑은 고딕"/>
                <a:ea typeface="맑은 고딕"/>
              </a:rPr>
              <a:t>복사본</a:t>
            </a:r>
            <a:r>
              <a:rPr sz="800" b="0" i="0" dirty="0">
                <a:solidFill>
                  <a:srgbClr val="7F5F00"/>
                </a:solidFill>
                <a:latin typeface="맑은 고딕"/>
                <a:ea typeface="맑은 고딕"/>
              </a:rPr>
              <a:t> </a:t>
            </a:r>
            <a:r>
              <a:rPr sz="800" b="0" i="0" dirty="0" err="1">
                <a:solidFill>
                  <a:srgbClr val="7F5F00"/>
                </a:solidFill>
                <a:latin typeface="맑은 고딕"/>
                <a:ea typeface="맑은 고딕"/>
              </a:rPr>
              <a:t>생성</a:t>
            </a:r>
            <a:r>
              <a:rPr sz="800" b="0" i="0" dirty="0">
                <a:solidFill>
                  <a:srgbClr val="7F5F00"/>
                </a:solidFill>
                <a:latin typeface="맑은 고딕"/>
                <a:ea typeface="맑은 고딕"/>
              </a:rPr>
              <a:t> · object 수 </a:t>
            </a:r>
            <a:r>
              <a:rPr sz="800" b="0" i="0" dirty="0" err="1">
                <a:solidFill>
                  <a:srgbClr val="7F5F00"/>
                </a:solidFill>
                <a:latin typeface="맑은 고딕"/>
                <a:ea typeface="맑은 고딕"/>
              </a:rPr>
              <a:t>비례</a:t>
            </a:r>
            <a:r>
              <a:rPr sz="800" b="0" i="0" dirty="0">
                <a:solidFill>
                  <a:srgbClr val="7F5F00"/>
                </a:solidFill>
                <a:latin typeface="맑은 고딕"/>
                <a:ea typeface="맑은 고딕"/>
              </a:rPr>
              <a:t> </a:t>
            </a:r>
            <a:r>
              <a:rPr sz="800" b="0" i="0" dirty="0" err="1">
                <a:solidFill>
                  <a:srgbClr val="7F5F00"/>
                </a:solidFill>
                <a:latin typeface="맑은 고딕"/>
                <a:ea typeface="맑은 고딕"/>
              </a:rPr>
              <a:t>비용</a:t>
            </a:r>
            <a:endParaRPr sz="800" b="0" i="0" dirty="0">
              <a:solidFill>
                <a:srgbClr val="7F5F00"/>
              </a:solidFill>
              <a:latin typeface="맑은 고딕"/>
              <a:ea typeface="맑은 고딕"/>
            </a:endParaRPr>
          </a:p>
        </p:txBody>
      </p:sp>
      <p:sp>
        <p:nvSpPr>
          <p:cNvPr id="322" name="Rectangle 84"/>
          <p:cNvSpPr/>
          <p:nvPr/>
        </p:nvSpPr>
        <p:spPr>
          <a:xfrm>
            <a:off x="6721607" y="3379688"/>
            <a:ext cx="111390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Telemetry Collector</a:t>
            </a:r>
          </a:p>
        </p:txBody>
      </p:sp>
      <p:sp>
        <p:nvSpPr>
          <p:cNvPr id="323" name="Rectangle 85"/>
          <p:cNvSpPr/>
          <p:nvPr/>
        </p:nvSpPr>
        <p:spPr>
          <a:xfrm>
            <a:off x="7935265" y="3379688"/>
            <a:ext cx="111390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State Monitor</a:t>
            </a:r>
          </a:p>
        </p:txBody>
      </p:sp>
      <p:sp>
        <p:nvSpPr>
          <p:cNvPr id="324" name="Rectangle 86"/>
          <p:cNvSpPr/>
          <p:nvPr/>
        </p:nvSpPr>
        <p:spPr>
          <a:xfrm>
            <a:off x="6721607" y="3791167"/>
            <a:ext cx="2327564"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dirty="0">
                <a:solidFill>
                  <a:srgbClr val="404040"/>
                </a:solidFill>
                <a:latin typeface="맑은 고딕"/>
                <a:ea typeface="맑은 고딕"/>
              </a:rPr>
              <a:t>Memory</a:t>
            </a:r>
            <a:r>
              <a:rPr lang="en-US" sz="900" dirty="0">
                <a:solidFill>
                  <a:srgbClr val="404040"/>
                </a:solidFill>
                <a:latin typeface="맑은 고딕"/>
                <a:ea typeface="맑은 고딕"/>
              </a:rPr>
              <a:t> </a:t>
            </a:r>
            <a:r>
              <a:rPr sz="900" dirty="0">
                <a:solidFill>
                  <a:srgbClr val="404040"/>
                </a:solidFill>
                <a:latin typeface="맑은 고딕"/>
                <a:ea typeface="맑은 고딕"/>
              </a:rPr>
              <a:t>Registry</a:t>
            </a:r>
          </a:p>
        </p:txBody>
      </p:sp>
      <p:cxnSp>
        <p:nvCxnSpPr>
          <p:cNvPr id="325" name="Connector 87"/>
          <p:cNvCxnSpPr>
            <a:stCxn id="322" idx="0"/>
          </p:cNvCxnSpPr>
          <p:nvPr/>
        </p:nvCxnSpPr>
        <p:spPr>
          <a:xfrm flipH="1" flipV="1">
            <a:off x="7275443" y="3090157"/>
            <a:ext cx="3117" cy="289531"/>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a:stCxn id="323" idx="0"/>
          </p:cNvCxnSpPr>
          <p:nvPr/>
        </p:nvCxnSpPr>
        <p:spPr>
          <a:xfrm flipV="1">
            <a:off x="8492218" y="3064644"/>
            <a:ext cx="0" cy="31504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a:endCxn id="321" idx="2"/>
          </p:cNvCxnSpPr>
          <p:nvPr/>
        </p:nvCxnSpPr>
        <p:spPr>
          <a:xfrm flipV="1">
            <a:off x="7890933" y="3067396"/>
            <a:ext cx="2769" cy="70101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7814731" y="3088003"/>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329" name="Connector 91"/>
          <p:cNvCxnSpPr>
            <a:endCxn id="312" idx="2"/>
          </p:cNvCxnSpPr>
          <p:nvPr/>
        </p:nvCxnSpPr>
        <p:spPr>
          <a:xfrm flipV="1">
            <a:off x="8673019" y="2219135"/>
            <a:ext cx="0" cy="37800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602360" y="2307010"/>
            <a:ext cx="141316"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③</a:t>
            </a:r>
          </a:p>
        </p:txBody>
      </p:sp>
      <p:sp>
        <p:nvSpPr>
          <p:cNvPr id="333" name="Rectangle 95"/>
          <p:cNvSpPr/>
          <p:nvPr/>
        </p:nvSpPr>
        <p:spPr>
          <a:xfrm>
            <a:off x="9547934" y="2708931"/>
            <a:ext cx="2103120" cy="470961"/>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Migration Command Queue</a:t>
            </a:r>
          </a:p>
          <a:p>
            <a:pPr algn="ctr">
              <a:lnSpc>
                <a:spcPct val="125000"/>
              </a:lnSpc>
            </a:pPr>
            <a:r>
              <a:rPr sz="800" b="0" i="0" dirty="0" err="1">
                <a:solidFill>
                  <a:srgbClr val="7F5F00"/>
                </a:solidFill>
                <a:latin typeface="맑은 고딕"/>
                <a:ea typeface="맑은 고딕"/>
              </a:rPr>
              <a:t>비동기</a:t>
            </a:r>
            <a:r>
              <a:rPr sz="800" b="0" i="0" dirty="0">
                <a:solidFill>
                  <a:srgbClr val="7F5F00"/>
                </a:solidFill>
                <a:latin typeface="맑은 고딕"/>
                <a:ea typeface="맑은 고딕"/>
              </a:rPr>
              <a:t> </a:t>
            </a: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결과</a:t>
            </a:r>
            <a:r>
              <a:rPr sz="800" b="0" i="0" dirty="0">
                <a:solidFill>
                  <a:srgbClr val="7F5F00"/>
                </a:solidFill>
                <a:latin typeface="맑은 고딕"/>
                <a:ea typeface="맑은 고딕"/>
              </a:rPr>
              <a:t> </a:t>
            </a:r>
            <a:r>
              <a:rPr sz="800" b="0" i="0" dirty="0" err="1">
                <a:solidFill>
                  <a:srgbClr val="7F5F00"/>
                </a:solidFill>
                <a:latin typeface="맑은 고딕"/>
                <a:ea typeface="맑은 고딕"/>
              </a:rPr>
              <a:t>버퍼</a:t>
            </a:r>
            <a:r>
              <a:rPr sz="800" b="0" i="0" dirty="0">
                <a:solidFill>
                  <a:srgbClr val="7F5F00"/>
                </a:solidFill>
                <a:latin typeface="맑은 고딕"/>
                <a:ea typeface="맑은 고딕"/>
              </a:rPr>
              <a:t> · </a:t>
            </a:r>
            <a:r>
              <a:rPr sz="800" b="0" i="0" dirty="0" err="1">
                <a:solidFill>
                  <a:srgbClr val="7F5F00"/>
                </a:solidFill>
                <a:latin typeface="맑은 고딕"/>
                <a:ea typeface="맑은 고딕"/>
              </a:rPr>
              <a:t>순서</a:t>
            </a:r>
            <a:r>
              <a:rPr sz="800" b="0" i="0" dirty="0">
                <a:solidFill>
                  <a:srgbClr val="7F5F00"/>
                </a:solidFill>
                <a:latin typeface="맑은 고딕"/>
                <a:ea typeface="맑은 고딕"/>
              </a:rPr>
              <a:t> </a:t>
            </a:r>
            <a:r>
              <a:rPr sz="800" b="0" i="0" dirty="0" err="1">
                <a:solidFill>
                  <a:srgbClr val="7F5F00"/>
                </a:solidFill>
                <a:latin typeface="맑은 고딕"/>
                <a:ea typeface="맑은 고딕"/>
              </a:rPr>
              <a:t>보장</a:t>
            </a:r>
            <a:endParaRPr sz="800" b="0" i="0" dirty="0">
              <a:solidFill>
                <a:srgbClr val="7F5F00"/>
              </a:solidFill>
              <a:latin typeface="맑은 고딕"/>
              <a:ea typeface="맑은 고딕"/>
            </a:endParaRPr>
          </a:p>
        </p:txBody>
      </p:sp>
      <p:sp>
        <p:nvSpPr>
          <p:cNvPr id="334" name="Rectangle 96"/>
          <p:cNvSpPr/>
          <p:nvPr/>
        </p:nvSpPr>
        <p:spPr>
          <a:xfrm>
            <a:off x="9547934" y="3657221"/>
            <a:ext cx="2103120" cy="248537"/>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Migration Executor</a:t>
            </a:r>
          </a:p>
        </p:txBody>
      </p:sp>
      <p:sp>
        <p:nvSpPr>
          <p:cNvPr id="335" name="Rectangle 97"/>
          <p:cNvSpPr/>
          <p:nvPr/>
        </p:nvSpPr>
        <p:spPr>
          <a:xfrm>
            <a:off x="9547934" y="4197942"/>
            <a:ext cx="2103120"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36" name="Connector 98"/>
          <p:cNvCxnSpPr>
            <a:stCxn id="333" idx="2"/>
            <a:endCxn id="334" idx="0"/>
          </p:cNvCxnSpPr>
          <p:nvPr/>
        </p:nvCxnSpPr>
        <p:spPr>
          <a:xfrm>
            <a:off x="10599494" y="3179892"/>
            <a:ext cx="0" cy="477329"/>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528836" y="3301703"/>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⑤</a:t>
            </a:r>
          </a:p>
        </p:txBody>
      </p:sp>
      <p:cxnSp>
        <p:nvCxnSpPr>
          <p:cNvPr id="338" name="Connector 100"/>
          <p:cNvCxnSpPr>
            <a:stCxn id="334" idx="2"/>
            <a:endCxn id="335" idx="0"/>
          </p:cNvCxnSpPr>
          <p:nvPr/>
        </p:nvCxnSpPr>
        <p:spPr>
          <a:xfrm>
            <a:off x="10599494" y="3905758"/>
            <a:ext cx="0" cy="29218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528836" y="3936041"/>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⑥</a:t>
            </a:r>
          </a:p>
        </p:txBody>
      </p:sp>
      <p:cxnSp>
        <p:nvCxnSpPr>
          <p:cNvPr id="340" name="Connector 102"/>
          <p:cNvCxnSpPr/>
          <p:nvPr/>
        </p:nvCxnSpPr>
        <p:spPr>
          <a:xfrm flipH="1">
            <a:off x="11157265" y="2217117"/>
            <a:ext cx="3338" cy="49181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1094102" y="2353413"/>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④</a:t>
            </a:r>
          </a:p>
        </p:txBody>
      </p:sp>
      <p:sp>
        <p:nvSpPr>
          <p:cNvPr id="347" name="Rectangle 109"/>
          <p:cNvSpPr/>
          <p:nvPr/>
        </p:nvSpPr>
        <p:spPr>
          <a:xfrm>
            <a:off x="6621855" y="4191953"/>
            <a:ext cx="252706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sp>
        <p:nvSpPr>
          <p:cNvPr id="360" name="Rectangle 39"/>
          <p:cNvSpPr/>
          <p:nvPr/>
        </p:nvSpPr>
        <p:spPr>
          <a:xfrm>
            <a:off x="1517841"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Trend Analyzer</a:t>
            </a:r>
          </a:p>
          <a:p>
            <a:pPr algn="ctr">
              <a:lnSpc>
                <a:spcPct val="125000"/>
              </a:lnSpc>
            </a:pPr>
            <a:r>
              <a:rPr sz="800" dirty="0" err="1">
                <a:solidFill>
                  <a:srgbClr val="404040"/>
                </a:solidFill>
                <a:latin typeface="맑은 고딕"/>
                <a:ea typeface="맑은 고딕"/>
              </a:rPr>
              <a:t>자원</a:t>
            </a:r>
            <a:r>
              <a:rPr sz="800" dirty="0">
                <a:solidFill>
                  <a:srgbClr val="404040"/>
                </a:solidFill>
                <a:latin typeface="맑은 고딕"/>
                <a:ea typeface="맑은 고딕"/>
              </a:rPr>
              <a:t> </a:t>
            </a:r>
            <a:r>
              <a:rPr sz="800" dirty="0" err="1">
                <a:solidFill>
                  <a:srgbClr val="404040"/>
                </a:solidFill>
                <a:latin typeface="맑은 고딕"/>
                <a:ea typeface="맑은 고딕"/>
              </a:rPr>
              <a:t>추세</a:t>
            </a:r>
            <a:r>
              <a:rPr sz="800" dirty="0">
                <a:solidFill>
                  <a:srgbClr val="404040"/>
                </a:solidFill>
                <a:latin typeface="맑은 고딕"/>
                <a:ea typeface="맑은 고딕"/>
              </a:rPr>
              <a:t> </a:t>
            </a:r>
            <a:r>
              <a:rPr sz="800" dirty="0" err="1">
                <a:solidFill>
                  <a:srgbClr val="404040"/>
                </a:solidFill>
                <a:latin typeface="맑은 고딕"/>
                <a:ea typeface="맑은 고딕"/>
              </a:rPr>
              <a:t>판단</a:t>
            </a:r>
            <a:endParaRPr sz="800" dirty="0">
              <a:solidFill>
                <a:srgbClr val="404040"/>
              </a:solidFill>
              <a:latin typeface="맑은 고딕"/>
              <a:ea typeface="맑은 고딕"/>
            </a:endParaRPr>
          </a:p>
        </p:txBody>
      </p:sp>
      <p:sp>
        <p:nvSpPr>
          <p:cNvPr id="361" name="Rectangle 40"/>
          <p:cNvSpPr/>
          <p:nvPr/>
        </p:nvSpPr>
        <p:spPr>
          <a:xfrm>
            <a:off x="3070130"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Affinity Mapper</a:t>
            </a:r>
          </a:p>
          <a:p>
            <a:pPr algn="ctr">
              <a:lnSpc>
                <a:spcPct val="125000"/>
              </a:lnSpc>
            </a:pPr>
            <a:r>
              <a:rPr sz="800" dirty="0" err="1">
                <a:solidFill>
                  <a:srgbClr val="404040"/>
                </a:solidFill>
                <a:latin typeface="맑은 고딕"/>
                <a:ea typeface="맑은 고딕"/>
              </a:rPr>
              <a:t>데이터·메모리</a:t>
            </a:r>
            <a:r>
              <a:rPr sz="800" dirty="0">
                <a:solidFill>
                  <a:srgbClr val="404040"/>
                </a:solidFill>
                <a:latin typeface="맑은 고딕"/>
                <a:ea typeface="맑은 고딕"/>
              </a:rPr>
              <a:t> </a:t>
            </a:r>
            <a:r>
              <a:rPr sz="800" dirty="0" err="1">
                <a:solidFill>
                  <a:srgbClr val="404040"/>
                </a:solidFill>
                <a:latin typeface="맑은 고딕"/>
                <a:ea typeface="맑은 고딕"/>
              </a:rPr>
              <a:t>적합도</a:t>
            </a:r>
            <a:endParaRPr sz="800" dirty="0">
              <a:solidFill>
                <a:srgbClr val="404040"/>
              </a:solidFill>
              <a:latin typeface="맑은 고딕"/>
              <a:ea typeface="맑은 고딕"/>
            </a:endParaRPr>
          </a:p>
        </p:txBody>
      </p:sp>
      <p:sp>
        <p:nvSpPr>
          <p:cNvPr id="362" name="Rectangle 41"/>
          <p:cNvSpPr/>
          <p:nvPr/>
        </p:nvSpPr>
        <p:spPr>
          <a:xfrm>
            <a:off x="4622419" y="177642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800" dirty="0" err="1">
                <a:solidFill>
                  <a:srgbClr val="404040"/>
                </a:solidFill>
                <a:latin typeface="맑은 고딕"/>
                <a:ea typeface="맑은 고딕"/>
              </a:rPr>
              <a:t>이동</a:t>
            </a:r>
            <a:r>
              <a:rPr sz="800" dirty="0">
                <a:solidFill>
                  <a:srgbClr val="404040"/>
                </a:solidFill>
                <a:latin typeface="맑은 고딕"/>
                <a:ea typeface="맑은 고딕"/>
              </a:rPr>
              <a:t> </a:t>
            </a:r>
            <a:r>
              <a:rPr sz="800" dirty="0" err="1">
                <a:solidFill>
                  <a:srgbClr val="404040"/>
                </a:solidFill>
                <a:latin typeface="맑은 고딕"/>
                <a:ea typeface="맑은 고딕"/>
              </a:rPr>
              <a:t>명령</a:t>
            </a:r>
            <a:r>
              <a:rPr sz="800" dirty="0">
                <a:solidFill>
                  <a:srgbClr val="404040"/>
                </a:solidFill>
                <a:latin typeface="맑은 고딕"/>
                <a:ea typeface="맑은 고딕"/>
              </a:rPr>
              <a:t> </a:t>
            </a:r>
            <a:r>
              <a:rPr sz="800" dirty="0" err="1">
                <a:solidFill>
                  <a:srgbClr val="404040"/>
                </a:solidFill>
                <a:latin typeface="맑은 고딕"/>
                <a:ea typeface="맑은 고딕"/>
              </a:rPr>
              <a:t>확정</a:t>
            </a:r>
            <a:endParaRPr sz="800" dirty="0">
              <a:solidFill>
                <a:srgbClr val="404040"/>
              </a:solidFill>
              <a:latin typeface="맑은 고딕"/>
              <a:ea typeface="맑은 고딕"/>
            </a:endParaRPr>
          </a:p>
        </p:txBody>
      </p:sp>
      <p:cxnSp>
        <p:nvCxnSpPr>
          <p:cNvPr id="363" name="Connector 42"/>
          <p:cNvCxnSpPr>
            <a:endCxn id="361" idx="1"/>
          </p:cNvCxnSpPr>
          <p:nvPr/>
        </p:nvCxnSpPr>
        <p:spPr>
          <a:xfrm>
            <a:off x="2651697" y="1986735"/>
            <a:ext cx="418433"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a:stCxn id="361" idx="3"/>
            <a:endCxn id="362" idx="1"/>
          </p:cNvCxnSpPr>
          <p:nvPr/>
        </p:nvCxnSpPr>
        <p:spPr>
          <a:xfrm>
            <a:off x="4203986" y="1986735"/>
            <a:ext cx="418433"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2776627" y="193211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②</a:t>
            </a:r>
          </a:p>
        </p:txBody>
      </p:sp>
      <p:sp>
        <p:nvSpPr>
          <p:cNvPr id="367" name="Rectangle 45"/>
          <p:cNvSpPr/>
          <p:nvPr/>
        </p:nvSpPr>
        <p:spPr>
          <a:xfrm>
            <a:off x="1398786" y="2453701"/>
            <a:ext cx="1371966" cy="455184"/>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i="0" dirty="0">
                <a:solidFill>
                  <a:srgbClr val="7F5F00"/>
                </a:solidFill>
                <a:latin typeface="맑은 고딕"/>
                <a:ea typeface="맑은 고딕"/>
              </a:rPr>
              <a:t>Threshold Trigger</a:t>
            </a:r>
          </a:p>
          <a:p>
            <a:pPr algn="ctr">
              <a:lnSpc>
                <a:spcPct val="125000"/>
              </a:lnSpc>
            </a:pPr>
            <a:r>
              <a:rPr sz="800" b="0" i="0" dirty="0" err="1">
                <a:solidFill>
                  <a:srgbClr val="7F5F00"/>
                </a:solidFill>
                <a:latin typeface="맑은 고딕"/>
                <a:ea typeface="맑은 고딕"/>
              </a:rPr>
              <a:t>임계치</a:t>
            </a:r>
            <a:r>
              <a:rPr sz="800" b="0" i="0" dirty="0">
                <a:solidFill>
                  <a:srgbClr val="7F5F00"/>
                </a:solidFill>
                <a:latin typeface="맑은 고딕"/>
                <a:ea typeface="맑은 고딕"/>
              </a:rPr>
              <a:t> </a:t>
            </a:r>
            <a:r>
              <a:rPr sz="800" b="0" i="0" dirty="0" err="1">
                <a:solidFill>
                  <a:srgbClr val="7F5F00"/>
                </a:solidFill>
                <a:latin typeface="맑은 고딕"/>
                <a:ea typeface="맑은 고딕"/>
              </a:rPr>
              <a:t>교차</a:t>
            </a:r>
            <a:r>
              <a:rPr sz="800" b="0" i="0" dirty="0">
                <a:solidFill>
                  <a:srgbClr val="7F5F00"/>
                </a:solidFill>
                <a:latin typeface="맑은 고딕"/>
                <a:ea typeface="맑은 고딕"/>
              </a:rPr>
              <a:t> 시 </a:t>
            </a:r>
            <a:r>
              <a:rPr sz="800" b="0" i="0" dirty="0" err="1">
                <a:solidFill>
                  <a:srgbClr val="7F5F00"/>
                </a:solidFill>
                <a:latin typeface="맑은 고딕"/>
                <a:ea typeface="맑은 고딕"/>
              </a:rPr>
              <a:t>판단</a:t>
            </a:r>
            <a:r>
              <a:rPr sz="800" b="0" i="0" dirty="0">
                <a:solidFill>
                  <a:srgbClr val="7F5F00"/>
                </a:solidFill>
                <a:latin typeface="맑은 고딕"/>
                <a:ea typeface="맑은 고딕"/>
              </a:rPr>
              <a:t> </a:t>
            </a:r>
            <a:r>
              <a:rPr sz="800" b="0" i="0" dirty="0" err="1">
                <a:solidFill>
                  <a:srgbClr val="7F5F00"/>
                </a:solidFill>
                <a:latin typeface="맑은 고딕"/>
                <a:ea typeface="맑은 고딕"/>
              </a:rPr>
              <a:t>기동</a:t>
            </a:r>
            <a:endParaRPr sz="800" b="0" i="0" dirty="0">
              <a:solidFill>
                <a:srgbClr val="7F5F00"/>
              </a:solidFill>
              <a:latin typeface="맑은 고딕"/>
              <a:ea typeface="맑은 고딕"/>
            </a:endParaRPr>
          </a:p>
        </p:txBody>
      </p:sp>
      <p:cxnSp>
        <p:nvCxnSpPr>
          <p:cNvPr id="368" name="Connector 46"/>
          <p:cNvCxnSpPr>
            <a:stCxn id="367" idx="0"/>
          </p:cNvCxnSpPr>
          <p:nvPr/>
        </p:nvCxnSpPr>
        <p:spPr>
          <a:xfrm flipV="1">
            <a:off x="2084769" y="2197049"/>
            <a:ext cx="0" cy="25665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159421" y="228372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①</a:t>
            </a:r>
          </a:p>
        </p:txBody>
      </p:sp>
      <p:sp>
        <p:nvSpPr>
          <p:cNvPr id="370" name="Rectangle 48"/>
          <p:cNvSpPr/>
          <p:nvPr/>
        </p:nvSpPr>
        <p:spPr>
          <a:xfrm>
            <a:off x="1462977" y="3165539"/>
            <a:ext cx="2523744" cy="909830"/>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1517841" y="3220404"/>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State Monitor</a:t>
            </a:r>
          </a:p>
        </p:txBody>
      </p:sp>
      <p:sp>
        <p:nvSpPr>
          <p:cNvPr id="372" name="Rectangle 50"/>
          <p:cNvSpPr/>
          <p:nvPr/>
        </p:nvSpPr>
        <p:spPr>
          <a:xfrm>
            <a:off x="1517841" y="3618407"/>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Telemetry Collector</a:t>
            </a:r>
          </a:p>
        </p:txBody>
      </p:sp>
      <p:sp>
        <p:nvSpPr>
          <p:cNvPr id="373" name="Rectangle 51"/>
          <p:cNvSpPr/>
          <p:nvPr/>
        </p:nvSpPr>
        <p:spPr>
          <a:xfrm>
            <a:off x="2779713" y="3221809"/>
            <a:ext cx="1133856" cy="254628"/>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Memory Registry</a:t>
            </a:r>
          </a:p>
        </p:txBody>
      </p:sp>
      <p:sp>
        <p:nvSpPr>
          <p:cNvPr id="374" name="TextBox 373"/>
          <p:cNvSpPr txBox="1"/>
          <p:nvPr/>
        </p:nvSpPr>
        <p:spPr>
          <a:xfrm>
            <a:off x="2953033" y="3919990"/>
            <a:ext cx="1133856" cy="137160"/>
          </a:xfrm>
          <a:prstGeom prst="rect">
            <a:avLst/>
          </a:prstGeom>
          <a:noFill/>
        </p:spPr>
        <p:txBody>
          <a:bodyPr wrap="square" lIns="0" tIns="0" rIns="0" bIns="0" anchor="ctr">
            <a:spAutoFit/>
          </a:bodyPr>
          <a:lstStyle/>
          <a:p>
            <a:pPr algn="ctr"/>
            <a:r>
              <a:rPr sz="620" b="1" i="0" dirty="0">
                <a:solidFill>
                  <a:srgbClr val="7F5F00"/>
                </a:solidFill>
                <a:latin typeface="맑은 고딕"/>
                <a:ea typeface="맑은 고딕"/>
              </a:rPr>
              <a:t>State Lock Manager</a:t>
            </a:r>
          </a:p>
        </p:txBody>
      </p:sp>
      <p:cxnSp>
        <p:nvCxnSpPr>
          <p:cNvPr id="375" name="Connector 53"/>
          <p:cNvCxnSpPr/>
          <p:nvPr/>
        </p:nvCxnSpPr>
        <p:spPr>
          <a:xfrm flipV="1">
            <a:off x="2084769" y="3486654"/>
            <a:ext cx="0" cy="12936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a:stCxn id="371" idx="0"/>
            <a:endCxn id="367" idx="2"/>
          </p:cNvCxnSpPr>
          <p:nvPr/>
        </p:nvCxnSpPr>
        <p:spPr>
          <a:xfrm flipV="1">
            <a:off x="2084769" y="2908885"/>
            <a:ext cx="0" cy="311519"/>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a:stCxn id="373" idx="0"/>
          </p:cNvCxnSpPr>
          <p:nvPr/>
        </p:nvCxnSpPr>
        <p:spPr>
          <a:xfrm flipV="1">
            <a:off x="3346641" y="2197047"/>
            <a:ext cx="0" cy="102476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3273489" y="269695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③</a:t>
            </a:r>
          </a:p>
        </p:txBody>
      </p:sp>
      <p:sp>
        <p:nvSpPr>
          <p:cNvPr id="381" name="Rectangle 59"/>
          <p:cNvSpPr/>
          <p:nvPr/>
        </p:nvSpPr>
        <p:spPr>
          <a:xfrm>
            <a:off x="4170566" y="3605088"/>
            <a:ext cx="2030800"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dirty="0">
                <a:solidFill>
                  <a:srgbClr val="404040"/>
                </a:solidFill>
                <a:latin typeface="맑은 고딕"/>
                <a:ea typeface="맑은 고딕"/>
              </a:rPr>
              <a:t>Migration Executor</a:t>
            </a:r>
          </a:p>
        </p:txBody>
      </p:sp>
      <p:sp>
        <p:nvSpPr>
          <p:cNvPr id="382" name="Rectangle 60"/>
          <p:cNvSpPr/>
          <p:nvPr/>
        </p:nvSpPr>
        <p:spPr>
          <a:xfrm>
            <a:off x="4172046" y="4152078"/>
            <a:ext cx="2030800"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a:stCxn id="381" idx="2"/>
            <a:endCxn id="382" idx="0"/>
          </p:cNvCxnSpPr>
          <p:nvPr/>
        </p:nvCxnSpPr>
        <p:spPr>
          <a:xfrm>
            <a:off x="5185966" y="3833688"/>
            <a:ext cx="1480" cy="31839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127478" y="387443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⑥</a:t>
            </a:r>
          </a:p>
        </p:txBody>
      </p:sp>
      <p:cxnSp>
        <p:nvCxnSpPr>
          <p:cNvPr id="385" name="Connector 63"/>
          <p:cNvCxnSpPr>
            <a:stCxn id="362" idx="2"/>
            <a:endCxn id="381" idx="0"/>
          </p:cNvCxnSpPr>
          <p:nvPr/>
        </p:nvCxnSpPr>
        <p:spPr>
          <a:xfrm flipH="1">
            <a:off x="5185966" y="2197047"/>
            <a:ext cx="3381" cy="1408041"/>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124733" y="2732179"/>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8" name="Connector 66"/>
          <p:cNvCxnSpPr>
            <a:stCxn id="381" idx="1"/>
            <a:endCxn id="373" idx="2"/>
          </p:cNvCxnSpPr>
          <p:nvPr/>
        </p:nvCxnSpPr>
        <p:spPr>
          <a:xfrm rot="10800000">
            <a:off x="3346642" y="3476438"/>
            <a:ext cx="823925" cy="242951"/>
          </a:xfrm>
          <a:prstGeom prst="bentConnector2">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763851" y="366909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dirty="0">
                <a:solidFill>
                  <a:srgbClr val="FFFFFF"/>
                </a:solidFill>
                <a:latin typeface="맑은 고딕"/>
                <a:ea typeface="맑은 고딕"/>
              </a:rPr>
              <a:t>⑤</a:t>
            </a:r>
          </a:p>
        </p:txBody>
      </p:sp>
      <p:sp>
        <p:nvSpPr>
          <p:cNvPr id="390" name="Rectangle 68"/>
          <p:cNvSpPr/>
          <p:nvPr/>
        </p:nvSpPr>
        <p:spPr>
          <a:xfrm>
            <a:off x="1261809" y="4153092"/>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dirty="0">
                <a:solidFill>
                  <a:srgbClr val="FFFFFF"/>
                </a:solidFill>
                <a:latin typeface="맑은 고딕"/>
                <a:ea typeface="맑은 고딕"/>
              </a:rPr>
              <a:t>Common Memory Backend Interface</a:t>
            </a:r>
          </a:p>
        </p:txBody>
      </p:sp>
      <p:cxnSp>
        <p:nvCxnSpPr>
          <p:cNvPr id="391" name="Connector 69"/>
          <p:cNvCxnSpPr>
            <a:endCxn id="372" idx="2"/>
          </p:cNvCxnSpPr>
          <p:nvPr/>
        </p:nvCxnSpPr>
        <p:spPr>
          <a:xfrm flipV="1">
            <a:off x="2084769" y="3874439"/>
            <a:ext cx="0" cy="278653"/>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grpSp>
        <p:nvGrpSpPr>
          <p:cNvPr id="7" name="그룹 6"/>
          <p:cNvGrpSpPr/>
          <p:nvPr/>
        </p:nvGrpSpPr>
        <p:grpSpPr>
          <a:xfrm>
            <a:off x="311665" y="3341561"/>
            <a:ext cx="768096" cy="1115568"/>
            <a:chOff x="292545" y="3435232"/>
            <a:chExt cx="768096" cy="1115568"/>
          </a:xfrm>
        </p:grpSpPr>
        <p:sp>
          <p:nvSpPr>
            <p:cNvPr id="392"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
        <p:nvSpPr>
          <p:cNvPr id="113" name="모서리가 둥근 직사각형 112"/>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105" name="실행 단추: 앞으로 또는 다음으로 이동 104">
            <a:hlinkClick r:id="rId4" action="ppaction://hlinksldjump" highlightClick="1"/>
            <a:extLst>
              <a:ext uri="{FF2B5EF4-FFF2-40B4-BE49-F238E27FC236}">
                <a16:creationId xmlns:a16="http://schemas.microsoft.com/office/drawing/2014/main" id="{2FD9E54B-85A4-4F54-B55B-7E511F28F739}"/>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7" name="TextBox 106">
            <a:extLst>
              <a:ext uri="{FF2B5EF4-FFF2-40B4-BE49-F238E27FC236}">
                <a16:creationId xmlns:a16="http://schemas.microsoft.com/office/drawing/2014/main" id="{2C9610E8-E3B8-4B0A-A2C5-4B7C92B53C95}"/>
              </a:ext>
            </a:extLst>
          </p:cNvPr>
          <p:cNvSpPr txBox="1"/>
          <p:nvPr/>
        </p:nvSpPr>
        <p:spPr>
          <a:xfrm>
            <a:off x="7756132" y="6220738"/>
            <a:ext cx="2205575" cy="184666"/>
          </a:xfrm>
          <a:prstGeom prst="rect">
            <a:avLst/>
          </a:prstGeom>
          <a:noFill/>
        </p:spPr>
        <p:txBody>
          <a:bodyPr wrap="square" rtlCol="0">
            <a:spAutoFit/>
          </a:bodyPr>
          <a:lstStyle/>
          <a:p>
            <a:r>
              <a:rPr lang="ko-KR" altLang="en-US" sz="600" dirty="0">
                <a:solidFill>
                  <a:srgbClr val="0000FF"/>
                </a:solidFill>
              </a:rPr>
              <a:t>새 메모리 추가</a:t>
            </a:r>
            <a:r>
              <a:rPr lang="en-US" altLang="ko-KR" sz="600" dirty="0">
                <a:solidFill>
                  <a:srgbClr val="0000FF"/>
                </a:solidFill>
              </a:rPr>
              <a:t>, </a:t>
            </a:r>
            <a:r>
              <a:rPr lang="ko-KR" altLang="en-US" sz="600" dirty="0">
                <a:solidFill>
                  <a:srgbClr val="0000FF"/>
                </a:solidFill>
              </a:rPr>
              <a:t>이동 정책</a:t>
            </a:r>
            <a:r>
              <a:rPr lang="en-US" altLang="ko-KR" sz="600" dirty="0">
                <a:solidFill>
                  <a:srgbClr val="0000FF"/>
                </a:solidFill>
              </a:rPr>
              <a:t> </a:t>
            </a:r>
            <a:r>
              <a:rPr lang="ko-KR" altLang="en-US" sz="600" dirty="0">
                <a:solidFill>
                  <a:srgbClr val="0000FF"/>
                </a:solidFill>
              </a:rPr>
              <a:t>변경에 따른 변경 비용차 적음</a:t>
            </a:r>
          </a:p>
        </p:txBody>
      </p:sp>
      <p:sp>
        <p:nvSpPr>
          <p:cNvPr id="110" name="실행 단추: 앞으로 또는 다음 109">
            <a:hlinkClick r:id="rId5" action="ppaction://hlinksldjump" highlightClick="1"/>
          </p:cNvPr>
          <p:cNvSpPr/>
          <p:nvPr/>
        </p:nvSpPr>
        <p:spPr>
          <a:xfrm>
            <a:off x="6236437"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6" name="Connector 66"/>
          <p:cNvCxnSpPr>
            <a:stCxn id="334" idx="1"/>
            <a:endCxn id="324" idx="3"/>
          </p:cNvCxnSpPr>
          <p:nvPr/>
        </p:nvCxnSpPr>
        <p:spPr>
          <a:xfrm rot="10800000" flipV="1">
            <a:off x="9049172" y="3781489"/>
            <a:ext cx="498763" cy="137693"/>
          </a:xfrm>
          <a:prstGeom prst="bentConnector3">
            <a:avLst>
              <a:gd name="adj1" fmla="val 50000"/>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9254941" y="3730818"/>
            <a:ext cx="141316"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⑦</a:t>
            </a:r>
          </a:p>
        </p:txBody>
      </p:sp>
      <p:cxnSp>
        <p:nvCxnSpPr>
          <p:cNvPr id="157" name="Connector 69"/>
          <p:cNvCxnSpPr>
            <a:endCxn id="322" idx="1"/>
          </p:cNvCxnSpPr>
          <p:nvPr/>
        </p:nvCxnSpPr>
        <p:spPr>
          <a:xfrm rot="5400000" flipH="1" flipV="1">
            <a:off x="6273926" y="3873063"/>
            <a:ext cx="813040" cy="82322"/>
          </a:xfrm>
          <a:prstGeom prst="bentConnector2">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5811204"/>
      </p:ext>
    </p:extLst>
  </p:cSld>
  <p:clrMapOvr>
    <a:masterClrMapping/>
  </p:clrMapOvr>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7634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2618081">
                  <a:extLst>
                    <a:ext uri="{9D8B030D-6E8A-4147-A177-3AD203B41FA5}">
                      <a16:colId xmlns:a16="http://schemas.microsoft.com/office/drawing/2014/main" val="5654497"/>
                    </a:ext>
                  </a:extLst>
                </a:gridCol>
                <a:gridCol w="619941">
                  <a:extLst>
                    <a:ext uri="{9D8B030D-6E8A-4147-A177-3AD203B41FA5}">
                      <a16:colId xmlns:a16="http://schemas.microsoft.com/office/drawing/2014/main" val="1488648967"/>
                    </a:ext>
                  </a:extLst>
                </a:gridCol>
                <a:gridCol w="2198032">
                  <a:extLst>
                    <a:ext uri="{9D8B030D-6E8A-4147-A177-3AD203B41FA5}">
                      <a16:colId xmlns:a16="http://schemas.microsoft.com/office/drawing/2014/main" val="2953438935"/>
                    </a:ext>
                  </a:extLst>
                </a:gridCol>
                <a:gridCol w="2792524">
                  <a:extLst>
                    <a:ext uri="{9D8B030D-6E8A-4147-A177-3AD203B41FA5}">
                      <a16:colId xmlns:a16="http://schemas.microsoft.com/office/drawing/2014/main" val="3070054508"/>
                    </a:ext>
                  </a:extLst>
                </a:gridCol>
                <a:gridCol w="476794">
                  <a:extLst>
                    <a:ext uri="{9D8B030D-6E8A-4147-A177-3AD203B41FA5}">
                      <a16:colId xmlns:a16="http://schemas.microsoft.com/office/drawing/2014/main" val="4076489270"/>
                    </a:ext>
                  </a:extLst>
                </a:gridCol>
                <a:gridCol w="21667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baseline="0" dirty="0"/>
                        <a:t>상태 관측과 이동 결정을 한 곳에서 </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33014303"/>
                  </a:ext>
                </a:extLst>
              </a:tr>
              <a:tr h="3134341">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Threshold trigger</a:t>
                      </a:r>
                      <a:r>
                        <a:rPr lang="ko-KR" altLang="en-US" sz="1200" b="0" i="0" dirty="0">
                          <a:solidFill>
                            <a:srgbClr val="404040"/>
                          </a:solidFill>
                          <a:latin typeface="+mn-lt"/>
                          <a:ea typeface="맑은 고딕"/>
                        </a:rPr>
                        <a:t>가 즉시 판단을 기동해 </a:t>
                      </a:r>
                      <a:r>
                        <a:rPr lang="en-US" altLang="ko-KR" sz="1200" b="0" i="0" dirty="0">
                          <a:solidFill>
                            <a:srgbClr val="404040"/>
                          </a:solidFill>
                          <a:latin typeface="+mn-lt"/>
                          <a:ea typeface="맑은 고딕"/>
                        </a:rPr>
                        <a:t>HBM </a:t>
                      </a:r>
                      <a:r>
                        <a:rPr lang="ko-KR" altLang="en-US" sz="1200" b="0" i="0" dirty="0">
                          <a:solidFill>
                            <a:srgbClr val="404040"/>
                          </a:solidFill>
                          <a:latin typeface="+mn-lt"/>
                          <a:ea typeface="맑은 고딕"/>
                        </a:rPr>
                        <a:t>압박 구간이 짧음 </a:t>
                      </a:r>
                      <a:r>
                        <a:rPr lang="en-US" altLang="ko-KR" sz="1200" b="0" i="0" dirty="0">
                          <a:solidFill>
                            <a:srgbClr val="404040"/>
                          </a:solidFill>
                          <a:latin typeface="+mn-lt"/>
                          <a:ea typeface="맑은 고딕"/>
                        </a:rPr>
                        <a:t>(Q2) </a:t>
                      </a:r>
                      <a:endParaRPr lang="ko-KR" altLang="en-US" sz="1200" b="0" i="0" dirty="0">
                        <a:solidFill>
                          <a:srgbClr val="404040"/>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Plane</a:t>
                      </a:r>
                      <a:r>
                        <a:rPr lang="en-US" altLang="ko-KR" sz="1200" b="0" i="0" baseline="0" dirty="0">
                          <a:solidFill>
                            <a:srgbClr val="404040"/>
                          </a:solidFill>
                          <a:latin typeface="+mn-lt"/>
                          <a:ea typeface="맑은 고딕"/>
                        </a:rPr>
                        <a:t> </a:t>
                      </a:r>
                      <a:r>
                        <a:rPr lang="ko-KR" altLang="en-US" sz="1200" b="0" i="0" dirty="0">
                          <a:solidFill>
                            <a:srgbClr val="404040"/>
                          </a:solidFill>
                          <a:latin typeface="+mn-lt"/>
                          <a:ea typeface="맑은 고딕"/>
                        </a:rPr>
                        <a:t>간 인터페이스 호출이 없어 정책 수정</a:t>
                      </a:r>
                      <a:r>
                        <a:rPr lang="ko-KR" altLang="en-US" sz="1200" b="0" i="0" baseline="0" dirty="0">
                          <a:solidFill>
                            <a:srgbClr val="404040"/>
                          </a:solidFill>
                          <a:latin typeface="+mn-lt"/>
                          <a:ea typeface="맑은 고딕"/>
                        </a:rPr>
                        <a:t> 범위 제한 </a:t>
                      </a:r>
                      <a:r>
                        <a:rPr lang="en-US" altLang="ko-KR" sz="1200" b="0" i="0" baseline="0" dirty="0">
                          <a:solidFill>
                            <a:srgbClr val="404040"/>
                          </a:solidFill>
                          <a:latin typeface="+mn-lt"/>
                          <a:ea typeface="맑은 고딕"/>
                        </a:rPr>
                        <a:t>(Q5)</a:t>
                      </a:r>
                      <a:endParaRPr lang="en-US" altLang="ko-KR" sz="1200" strike="noStrike" baseline="0" dirty="0">
                        <a:solidFill>
                          <a:schemeClr val="tx1"/>
                        </a:solidFill>
                        <a:effectLst/>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 </a:t>
                      </a:r>
                      <a:r>
                        <a:rPr lang="en-US" altLang="ko-KR" sz="1200" b="0" i="0" dirty="0">
                          <a:solidFill>
                            <a:srgbClr val="404040"/>
                          </a:solidFill>
                          <a:latin typeface="+mn-lt"/>
                          <a:ea typeface="맑은 고딕"/>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t>
                      </a:r>
                      <a:r>
                        <a:rPr lang="ko-KR" altLang="en-US" sz="1200" b="0" i="0" dirty="0">
                          <a:solidFill>
                            <a:srgbClr val="404040"/>
                          </a:solidFill>
                          <a:latin typeface="+mn-lt"/>
                          <a:ea typeface="맑은 고딕"/>
                        </a:rPr>
                        <a:t>스키마</a:t>
                      </a:r>
                      <a:r>
                        <a:rPr lang="en-US" altLang="ko-KR" sz="1200" b="0" i="0" dirty="0">
                          <a:solidFill>
                            <a:srgbClr val="404040"/>
                          </a:solidFill>
                          <a:latin typeface="+mn-lt"/>
                          <a:ea typeface="맑은 고딕"/>
                        </a:rPr>
                        <a:t>,</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Command Queue </a:t>
                      </a:r>
                      <a:r>
                        <a:rPr lang="ko-KR" altLang="en-US" sz="1200" b="0" i="0" dirty="0">
                          <a:solidFill>
                            <a:srgbClr val="404040"/>
                          </a:solidFill>
                          <a:latin typeface="+mn-lt"/>
                          <a:ea typeface="맑은 고딕"/>
                        </a:rPr>
                        <a:t>인터페이스가 바뀌면 </a:t>
                      </a:r>
                      <a:r>
                        <a:rPr lang="en-US" altLang="ko-KR" sz="1200" b="0" i="0" dirty="0">
                          <a:solidFill>
                            <a:srgbClr val="404040"/>
                          </a:solidFill>
                          <a:latin typeface="+mn-lt"/>
                          <a:ea typeface="맑은 고딕"/>
                        </a:rPr>
                        <a:t>Resource,</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Data</a:t>
                      </a:r>
                      <a:r>
                        <a:rPr lang="ko-KR" altLang="en-US" sz="1200" b="0" i="0" dirty="0">
                          <a:solidFill>
                            <a:srgbClr val="404040"/>
                          </a:solidFill>
                          <a:latin typeface="+mn-lt"/>
                          <a:ea typeface="맑은 고딕"/>
                        </a:rPr>
                        <a:t> </a:t>
                      </a: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동반 수정 필요 </a:t>
                      </a:r>
                      <a:r>
                        <a:rPr lang="en-US" altLang="ko-KR" sz="1200" b="0" i="0" dirty="0">
                          <a:solidFill>
                            <a:srgbClr val="404040"/>
                          </a:solidFill>
                          <a:latin typeface="+mn-lt"/>
                          <a:ea typeface="맑은 고딕"/>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맑은 고딕" panose="020B0503020000020004" pitchFamily="50" charset="-127"/>
                        </a:rPr>
                        <a:t>◐</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1.76→5.63 q/s (3.2x)</a:t>
                      </a:r>
                      <a:endParaRPr lang="en-US" altLang="ko-KR" sz="18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HBM 425→238 GB (-44%) </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TTFT</a:t>
                      </a:r>
                      <a:r>
                        <a:rPr kumimoji="0" lang="ko-KR" altLang="en-US" sz="900" b="0" i="0" u="none" strike="noStrike" kern="1200" cap="none" spc="0" normalizeH="0" baseline="0" noProof="0" dirty="0">
                          <a:ln>
                            <a:noFill/>
                          </a:ln>
                          <a:solidFill>
                            <a:srgbClr val="404040"/>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1.89→1.29 s (-32%) </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3.3m</a:t>
                      </a:r>
                      <a:endParaRPr lang="en-US" altLang="ko-KR" sz="1400" b="0" dirty="0">
                        <a:solidFill>
                          <a:schemeClr val="tx1"/>
                        </a:solidFill>
                        <a:latin typeface="맑은 고딕" panose="020B0503020000020004" pitchFamily="50" charset="-127"/>
                        <a:ea typeface="+mn-ea"/>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endParaRPr lang="en-US" altLang="ko-KR" sz="1000" b="0" strike="noStrike" dirty="0">
                        <a:solidFill>
                          <a:schemeClr val="tx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ko-KR" altLang="en-US" sz="1200" strike="noStrike"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1.76→7.57 q/s (4.3x)</a:t>
                      </a:r>
                      <a:endParaRPr kumimoji="0" lang="en-US" altLang="ko-KR" sz="1800" b="0" i="0" u="none" strike="noStrike" kern="1200" cap="none" spc="0" normalizeH="0" baseline="0" noProof="0" dirty="0">
                        <a:ln>
                          <a:noFill/>
                        </a:ln>
                        <a:solidFill>
                          <a:prstClr val="black"/>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HBM 425→318 GB (-25%) </a:t>
                      </a:r>
                      <a:endParaRPr lang="en-US" altLang="ko-KR" sz="14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TTFT</a:t>
                      </a:r>
                      <a:r>
                        <a:rPr kumimoji="0" lang="ko-KR" altLang="en-US" sz="900" b="0" i="0" u="none" strike="noStrike" kern="1200" cap="none" spc="0" normalizeH="0" baseline="0" noProof="0" dirty="0">
                          <a:ln>
                            <a:noFill/>
                          </a:ln>
                          <a:solidFill>
                            <a:srgbClr val="404040"/>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1.89→0.87 s(-54%) </a:t>
                      </a:r>
                      <a:endParaRPr lang="en-US" altLang="ko-KR" sz="14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3.6m</a:t>
                      </a:r>
                      <a:endParaRPr lang="en-US" altLang="ko-KR" sz="1400" b="0" dirty="0">
                        <a:solidFill>
                          <a:srgbClr val="0070C0"/>
                        </a:solidFill>
                        <a:latin typeface="+mn-lt"/>
                        <a:ea typeface="맑은 고딕"/>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a:t>
            </a:r>
            <a:r>
              <a:rPr lang="en-US" altLang="ko-KR" sz="1400" b="1" dirty="0">
                <a:solidFill>
                  <a:schemeClr val="bg1"/>
                </a:solidFill>
              </a:rPr>
              <a:t>, </a:t>
            </a:r>
            <a:r>
              <a:rPr lang="ko-KR" altLang="en-US" sz="1400" b="1" dirty="0">
                <a:solidFill>
                  <a:schemeClr val="bg1"/>
                </a:solidFill>
              </a:rPr>
              <a:t>변경 용이성을 고려한 데이터 이동</a:t>
            </a:r>
            <a:r>
              <a:rPr lang="en-US" altLang="ko-KR" sz="1400" b="1" dirty="0">
                <a:solidFill>
                  <a:schemeClr val="bg1"/>
                </a:solidFill>
              </a:rPr>
              <a:t> </a:t>
            </a:r>
            <a:r>
              <a:rPr lang="ko-KR" altLang="en-US" sz="1400" b="1" dirty="0">
                <a:solidFill>
                  <a:schemeClr val="bg1"/>
                </a:solidFill>
              </a:rPr>
              <a:t>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자원 상태에 우선한 이동 결정</a:t>
            </a:r>
            <a:r>
              <a:rPr lang="en-US" altLang="ko-KR" sz="1100" dirty="0"/>
              <a:t>“ </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ko-KR" altLang="en-US" sz="1100" dirty="0"/>
              <a:t>데이터 특성에 우선한 이동 결정</a:t>
            </a:r>
            <a:r>
              <a:rPr lang="en-US" altLang="ko-KR" sz="1100" dirty="0"/>
              <a:t>”</a:t>
            </a:r>
            <a:endParaRPr lang="en-US" altLang="ko-KR" sz="1100" strike="sngStrike" dirty="0"/>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102" name="실행 단추: 앞으로 또는 다음 101">
            <a:hlinkClick r:id="rId3"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err="1">
                <a:latin typeface="맑은 고딕" panose="020B0503020000020004" pitchFamily="50" charset="-127"/>
              </a:rPr>
              <a:t>변경용이성</a:t>
            </a:r>
            <a:endParaRPr lang="ko-KR" altLang="en-US" sz="700" dirty="0">
              <a:latin typeface="맑은 고딕" panose="020B0503020000020004" pitchFamily="50" charset="-127"/>
            </a:endParaRPr>
          </a:p>
        </p:txBody>
      </p:sp>
      <p:grpSp>
        <p:nvGrpSpPr>
          <p:cNvPr id="84" name="그룹 83"/>
          <p:cNvGrpSpPr/>
          <p:nvPr/>
        </p:nvGrpSpPr>
        <p:grpSpPr>
          <a:xfrm>
            <a:off x="6621854" y="1744599"/>
            <a:ext cx="5128953" cy="2685098"/>
            <a:chOff x="6236208" y="1758886"/>
            <a:chExt cx="5641848" cy="2685098"/>
          </a:xfrm>
        </p:grpSpPr>
        <p:sp>
          <p:nvSpPr>
            <p:cNvPr id="309" name="Rectangle 71"/>
            <p:cNvSpPr/>
            <p:nvPr/>
          </p:nvSpPr>
          <p:spPr>
            <a:xfrm>
              <a:off x="6236208" y="1758886"/>
              <a:ext cx="5641848" cy="819721"/>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0" name="TextBox 309"/>
            <p:cNvSpPr txBox="1"/>
            <p:nvPr/>
          </p:nvSpPr>
          <p:spPr>
            <a:xfrm>
              <a:off x="6236208" y="1800440"/>
              <a:ext cx="5641848" cy="146194"/>
            </a:xfrm>
            <a:prstGeom prst="rect">
              <a:avLst/>
            </a:prstGeom>
            <a:noFill/>
          </p:spPr>
          <p:txBody>
            <a:bodyPr wrap="square" lIns="0" tIns="0" rIns="0" bIns="0" anchor="ctr">
              <a:spAutoFit/>
            </a:bodyPr>
            <a:lstStyle/>
            <a:p>
              <a:pPr algn="ctr"/>
              <a:r>
                <a:rPr lang="en-US" altLang="ko-KR" sz="950" b="1" i="0" dirty="0">
                  <a:solidFill>
                    <a:srgbClr val="1F4E79"/>
                  </a:solidFill>
                  <a:latin typeface="맑은 고딕"/>
                  <a:ea typeface="맑은 고딕"/>
                </a:rPr>
                <a:t>Control Plane</a:t>
              </a:r>
              <a:endParaRPr sz="950" b="1" i="0" dirty="0">
                <a:solidFill>
                  <a:srgbClr val="1F4E79"/>
                </a:solidFill>
                <a:latin typeface="맑은 고딕"/>
                <a:ea typeface="맑은 고딕"/>
              </a:endParaRPr>
            </a:p>
          </p:txBody>
        </p:sp>
        <p:sp>
          <p:nvSpPr>
            <p:cNvPr id="311" name="Rectangle 73"/>
            <p:cNvSpPr/>
            <p:nvPr/>
          </p:nvSpPr>
          <p:spPr>
            <a:xfrm>
              <a:off x="6345935" y="2011680"/>
              <a:ext cx="1449321"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rgbClr val="7F5F00"/>
                  </a:solidFill>
                  <a:latin typeface="맑은 고딕"/>
                  <a:ea typeface="맑은 고딕"/>
                </a:rPr>
                <a:t>Decision Scheduler</a:t>
              </a:r>
            </a:p>
            <a:p>
              <a:pPr algn="ctr">
                <a:lnSpc>
                  <a:spcPct val="125000"/>
                </a:lnSpc>
              </a:pP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주기</a:t>
              </a:r>
              <a:r>
                <a:rPr sz="650" b="0" i="0" dirty="0">
                  <a:solidFill>
                    <a:srgbClr val="7F5F00"/>
                  </a:solidFill>
                  <a:latin typeface="맑은 고딕"/>
                  <a:ea typeface="맑은 고딕"/>
                </a:rPr>
                <a:t> </a:t>
              </a:r>
              <a:r>
                <a:rPr lang="ko-KR" altLang="en-US" sz="650" b="0" i="0" dirty="0">
                  <a:solidFill>
                    <a:srgbClr val="7F5F00"/>
                  </a:solidFill>
                  <a:latin typeface="맑은 고딕"/>
                  <a:ea typeface="맑은 고딕"/>
                </a:rPr>
                <a:t>독립 </a:t>
              </a:r>
              <a:r>
                <a:rPr sz="650" b="0" i="0" dirty="0" err="1">
                  <a:solidFill>
                    <a:srgbClr val="7F5F00"/>
                  </a:solidFill>
                  <a:latin typeface="맑은 고딕"/>
                  <a:ea typeface="맑은 고딕"/>
                </a:rPr>
                <a:t>보유</a:t>
              </a:r>
              <a:endParaRPr sz="650" b="0" i="0" dirty="0">
                <a:solidFill>
                  <a:srgbClr val="7F5F00"/>
                </a:solidFill>
                <a:latin typeface="맑은 고딕"/>
                <a:ea typeface="맑은 고딕"/>
              </a:endParaRPr>
            </a:p>
          </p:txBody>
        </p:sp>
        <p:sp>
          <p:nvSpPr>
            <p:cNvPr id="312" name="Rectangle 74"/>
            <p:cNvSpPr/>
            <p:nvPr/>
          </p:nvSpPr>
          <p:spPr>
            <a:xfrm>
              <a:off x="7968995" y="2011680"/>
              <a:ext cx="1046988"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lang="ko-KR" altLang="en-US" sz="700" dirty="0">
                  <a:solidFill>
                    <a:srgbClr val="404040"/>
                  </a:solidFill>
                  <a:latin typeface="맑은 고딕"/>
                  <a:ea typeface="맑은 고딕"/>
                </a:rPr>
                <a:t>데이터</a:t>
              </a:r>
              <a:r>
                <a:rPr lang="en-US" altLang="ko-KR" sz="700" dirty="0">
                  <a:solidFill>
                    <a:srgbClr val="404040"/>
                  </a:solidFill>
                  <a:latin typeface="맑은 고딕"/>
                  <a:ea typeface="맑은 고딕"/>
                </a:rPr>
                <a:t>,</a:t>
              </a:r>
              <a:r>
                <a:rPr lang="ko-KR" altLang="en-US" sz="700" dirty="0">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13" name="Rectangle 75"/>
            <p:cNvSpPr/>
            <p:nvPr/>
          </p:nvSpPr>
          <p:spPr>
            <a:xfrm>
              <a:off x="9162288" y="2011680"/>
              <a:ext cx="1280160"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14" name="Rectangle 76"/>
            <p:cNvSpPr/>
            <p:nvPr/>
          </p:nvSpPr>
          <p:spPr>
            <a:xfrm>
              <a:off x="10588752" y="2011680"/>
              <a:ext cx="1280160"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15" name="Connector 77"/>
            <p:cNvCxnSpPr/>
            <p:nvPr/>
          </p:nvCxnSpPr>
          <p:spPr>
            <a:xfrm>
              <a:off x="7804402" y="2240280"/>
              <a:ext cx="164593"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7774975" y="2318004"/>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7" name="Connector 79"/>
            <p:cNvCxnSpPr/>
            <p:nvPr/>
          </p:nvCxnSpPr>
          <p:spPr>
            <a:xfrm>
              <a:off x="9015984"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2448"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9" name="Rectangle 81"/>
            <p:cNvSpPr/>
            <p:nvPr/>
          </p:nvSpPr>
          <p:spPr>
            <a:xfrm>
              <a:off x="6236208" y="2775204"/>
              <a:ext cx="2779776" cy="1266444"/>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20" name="TextBox 319"/>
            <p:cNvSpPr txBox="1"/>
            <p:nvPr/>
          </p:nvSpPr>
          <p:spPr>
            <a:xfrm>
              <a:off x="6236208" y="2807263"/>
              <a:ext cx="2779776" cy="146194"/>
            </a:xfrm>
            <a:prstGeom prst="rect">
              <a:avLst/>
            </a:prstGeom>
            <a:noFill/>
          </p:spPr>
          <p:txBody>
            <a:bodyPr wrap="square" lIns="0" tIns="0" rIns="0" bIns="0" anchor="ctr">
              <a:spAutoFit/>
            </a:bodyPr>
            <a:lstStyle/>
            <a:p>
              <a:pPr algn="ctr"/>
              <a:r>
                <a:rPr lang="en-US" altLang="ko-KR" sz="950" b="1" i="0" dirty="0">
                  <a:solidFill>
                    <a:srgbClr val="1F4E79"/>
                  </a:solidFill>
                  <a:latin typeface="맑은 고딕"/>
                  <a:ea typeface="맑은 고딕"/>
                </a:rPr>
                <a:t>Resource Plane</a:t>
              </a:r>
              <a:endParaRPr sz="950" b="1" i="0" dirty="0">
                <a:solidFill>
                  <a:srgbClr val="1F4E79"/>
                </a:solidFill>
                <a:latin typeface="맑은 고딕"/>
                <a:ea typeface="맑은 고딕"/>
              </a:endParaRPr>
            </a:p>
          </p:txBody>
        </p:sp>
        <p:sp>
          <p:nvSpPr>
            <p:cNvPr id="321" name="Rectangle 83"/>
            <p:cNvSpPr/>
            <p:nvPr/>
          </p:nvSpPr>
          <p:spPr>
            <a:xfrm>
              <a:off x="6345936" y="3035808"/>
              <a:ext cx="2560320"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dirty="0">
                  <a:solidFill>
                    <a:srgbClr val="7F5F00"/>
                  </a:solidFill>
                  <a:latin typeface="맑은 고딕"/>
                  <a:ea typeface="맑은 고딕"/>
                </a:rPr>
                <a:t>State Snapshot Builder</a:t>
              </a:r>
            </a:p>
            <a:p>
              <a:pPr algn="ctr">
                <a:lnSpc>
                  <a:spcPct val="125000"/>
                </a:lnSpc>
              </a:pPr>
              <a:r>
                <a:rPr sz="650" b="0" i="0" dirty="0" err="1">
                  <a:solidFill>
                    <a:srgbClr val="7F5F00"/>
                  </a:solidFill>
                  <a:latin typeface="맑은 고딕"/>
                  <a:ea typeface="맑은 고딕"/>
                </a:rPr>
                <a:t>일관</a:t>
              </a:r>
              <a:r>
                <a:rPr sz="650" b="0" i="0" dirty="0">
                  <a:solidFill>
                    <a:srgbClr val="7F5F00"/>
                  </a:solidFill>
                  <a:latin typeface="맑은 고딕"/>
                  <a:ea typeface="맑은 고딕"/>
                </a:rPr>
                <a:t> </a:t>
              </a:r>
              <a:r>
                <a:rPr sz="650" b="0" i="0" dirty="0" err="1">
                  <a:solidFill>
                    <a:srgbClr val="7F5F00"/>
                  </a:solidFill>
                  <a:latin typeface="맑은 고딕"/>
                  <a:ea typeface="맑은 고딕"/>
                </a:rPr>
                <a:t>복사본</a:t>
              </a:r>
              <a:r>
                <a:rPr sz="650" b="0" i="0" dirty="0">
                  <a:solidFill>
                    <a:srgbClr val="7F5F00"/>
                  </a:solidFill>
                  <a:latin typeface="맑은 고딕"/>
                  <a:ea typeface="맑은 고딕"/>
                </a:rPr>
                <a:t> </a:t>
              </a:r>
              <a:r>
                <a:rPr sz="650" b="0" i="0" dirty="0" err="1">
                  <a:solidFill>
                    <a:srgbClr val="7F5F00"/>
                  </a:solidFill>
                  <a:latin typeface="맑은 고딕"/>
                  <a:ea typeface="맑은 고딕"/>
                </a:rPr>
                <a:t>생성</a:t>
              </a:r>
              <a:r>
                <a:rPr sz="650" b="0" i="0" dirty="0">
                  <a:solidFill>
                    <a:srgbClr val="7F5F00"/>
                  </a:solidFill>
                  <a:latin typeface="맑은 고딕"/>
                  <a:ea typeface="맑은 고딕"/>
                </a:rPr>
                <a:t> · object 수 </a:t>
              </a:r>
              <a:r>
                <a:rPr sz="650" b="0" i="0" dirty="0" err="1">
                  <a:solidFill>
                    <a:srgbClr val="7F5F00"/>
                  </a:solidFill>
                  <a:latin typeface="맑은 고딕"/>
                  <a:ea typeface="맑은 고딕"/>
                </a:rPr>
                <a:t>비례</a:t>
              </a:r>
              <a:r>
                <a:rPr sz="650" b="0" i="0" dirty="0">
                  <a:solidFill>
                    <a:srgbClr val="7F5F00"/>
                  </a:solidFill>
                  <a:latin typeface="맑은 고딕"/>
                  <a:ea typeface="맑은 고딕"/>
                </a:rPr>
                <a:t> </a:t>
              </a:r>
              <a:r>
                <a:rPr sz="650" b="0" i="0" dirty="0" err="1">
                  <a:solidFill>
                    <a:srgbClr val="7F5F00"/>
                  </a:solidFill>
                  <a:latin typeface="맑은 고딕"/>
                  <a:ea typeface="맑은 고딕"/>
                </a:rPr>
                <a:t>비용</a:t>
              </a:r>
              <a:endParaRPr sz="650" b="0" i="0" dirty="0">
                <a:solidFill>
                  <a:srgbClr val="7F5F00"/>
                </a:solidFill>
                <a:latin typeface="맑은 고딕"/>
                <a:ea typeface="맑은 고딕"/>
              </a:endParaRPr>
            </a:p>
          </p:txBody>
        </p:sp>
        <p:sp>
          <p:nvSpPr>
            <p:cNvPr id="322" name="Rectangle 84"/>
            <p:cNvSpPr/>
            <p:nvPr/>
          </p:nvSpPr>
          <p:spPr>
            <a:xfrm>
              <a:off x="6345936" y="3364992"/>
              <a:ext cx="122529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323" name="Rectangle 85"/>
            <p:cNvSpPr/>
            <p:nvPr/>
          </p:nvSpPr>
          <p:spPr>
            <a:xfrm>
              <a:off x="7680960" y="3364992"/>
              <a:ext cx="122529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24" name="Rectangle 86"/>
            <p:cNvSpPr/>
            <p:nvPr/>
          </p:nvSpPr>
          <p:spPr>
            <a:xfrm>
              <a:off x="6345936" y="3675887"/>
              <a:ext cx="2560320"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Memory·Data Object Registry</a:t>
              </a:r>
            </a:p>
          </p:txBody>
        </p:sp>
        <p:cxnSp>
          <p:nvCxnSpPr>
            <p:cNvPr id="325" name="Connector 87"/>
            <p:cNvCxnSpPr/>
            <p:nvPr/>
          </p:nvCxnSpPr>
          <p:spPr>
            <a:xfrm flipV="1">
              <a:off x="6958584"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p:nvPr/>
          </p:nvCxnSpPr>
          <p:spPr>
            <a:xfrm flipV="1">
              <a:off x="8293608"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p:nvPr/>
          </p:nvCxnSpPr>
          <p:spPr>
            <a:xfrm flipV="1">
              <a:off x="7626096" y="3310128"/>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7548371" y="343357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329" name="Connector 91"/>
            <p:cNvCxnSpPr/>
            <p:nvPr/>
          </p:nvCxnSpPr>
          <p:spPr>
            <a:xfrm flipV="1">
              <a:off x="8686800" y="2468880"/>
              <a:ext cx="0" cy="566928"/>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773667" y="2647188"/>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③</a:t>
              </a:r>
            </a:p>
          </p:txBody>
        </p:sp>
        <p:sp>
          <p:nvSpPr>
            <p:cNvPr id="331" name="Rectangle 93"/>
            <p:cNvSpPr/>
            <p:nvPr/>
          </p:nvSpPr>
          <p:spPr>
            <a:xfrm>
              <a:off x="9345168" y="2816352"/>
              <a:ext cx="2532888" cy="12252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2" name="TextBox 331"/>
            <p:cNvSpPr txBox="1"/>
            <p:nvPr/>
          </p:nvSpPr>
          <p:spPr>
            <a:xfrm>
              <a:off x="9345168" y="2852928"/>
              <a:ext cx="2532888"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33" name="Rectangle 95"/>
            <p:cNvSpPr/>
            <p:nvPr/>
          </p:nvSpPr>
          <p:spPr>
            <a:xfrm>
              <a:off x="9454896" y="3035808"/>
              <a:ext cx="2313432"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Migration Command Queue</a:t>
              </a:r>
            </a:p>
            <a:p>
              <a:pPr algn="ctr">
                <a:lnSpc>
                  <a:spcPct val="125000"/>
                </a:lnSpc>
              </a:pPr>
              <a:r>
                <a:rPr sz="650" b="0" i="0">
                  <a:solidFill>
                    <a:srgbClr val="7F5F00"/>
                  </a:solidFill>
                  <a:latin typeface="맑은 고딕"/>
                  <a:ea typeface="맑은 고딕"/>
                </a:rPr>
                <a:t>비동기 판단 결과 버퍼 · 순서 보장</a:t>
              </a:r>
            </a:p>
          </p:txBody>
        </p:sp>
        <p:sp>
          <p:nvSpPr>
            <p:cNvPr id="334" name="Rectangle 96"/>
            <p:cNvSpPr/>
            <p:nvPr/>
          </p:nvSpPr>
          <p:spPr>
            <a:xfrm>
              <a:off x="9454896" y="3401568"/>
              <a:ext cx="2313432" cy="23774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35" name="Rectangle 97"/>
            <p:cNvSpPr/>
            <p:nvPr/>
          </p:nvSpPr>
          <p:spPr>
            <a:xfrm>
              <a:off x="9454896" y="3694176"/>
              <a:ext cx="2313432"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36" name="Connector 98"/>
            <p:cNvCxnSpPr/>
            <p:nvPr/>
          </p:nvCxnSpPr>
          <p:spPr>
            <a:xfrm>
              <a:off x="10616184" y="3328416"/>
              <a:ext cx="0" cy="73152"/>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703051" y="328726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⑤</a:t>
              </a:r>
            </a:p>
          </p:txBody>
        </p:sp>
        <p:cxnSp>
          <p:nvCxnSpPr>
            <p:cNvPr id="338" name="Connector 100"/>
            <p:cNvCxnSpPr/>
            <p:nvPr/>
          </p:nvCxnSpPr>
          <p:spPr>
            <a:xfrm>
              <a:off x="10616184" y="3639312"/>
              <a:ext cx="0" cy="5486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703051" y="3589020"/>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⑥</a:t>
              </a:r>
            </a:p>
          </p:txBody>
        </p:sp>
        <p:cxnSp>
          <p:nvCxnSpPr>
            <p:cNvPr id="340" name="Connector 102"/>
            <p:cNvCxnSpPr/>
            <p:nvPr/>
          </p:nvCxnSpPr>
          <p:spPr>
            <a:xfrm>
              <a:off x="11228832" y="2468880"/>
              <a:ext cx="0" cy="5669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1315700" y="26654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④</a:t>
              </a:r>
            </a:p>
          </p:txBody>
        </p:sp>
        <p:cxnSp>
          <p:nvCxnSpPr>
            <p:cNvPr id="342" name="Connector 104"/>
            <p:cNvCxnSpPr/>
            <p:nvPr/>
          </p:nvCxnSpPr>
          <p:spPr>
            <a:xfrm flipH="1">
              <a:off x="9125712" y="3520440"/>
              <a:ext cx="329184"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3" name="Connector 105"/>
            <p:cNvCxnSpPr/>
            <p:nvPr/>
          </p:nvCxnSpPr>
          <p:spPr>
            <a:xfrm>
              <a:off x="9125712" y="3520440"/>
              <a:ext cx="0" cy="59436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4" name="Connector 106"/>
            <p:cNvCxnSpPr/>
            <p:nvPr/>
          </p:nvCxnSpPr>
          <p:spPr>
            <a:xfrm flipH="1">
              <a:off x="6958584" y="4114800"/>
              <a:ext cx="2167128"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5" name="Connector 107"/>
            <p:cNvCxnSpPr/>
            <p:nvPr/>
          </p:nvCxnSpPr>
          <p:spPr>
            <a:xfrm flipV="1">
              <a:off x="6958584" y="3931920"/>
              <a:ext cx="0" cy="18288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7968996" y="40370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⑦</a:t>
              </a:r>
            </a:p>
          </p:txBody>
        </p:sp>
        <p:sp>
          <p:nvSpPr>
            <p:cNvPr id="347" name="Rectangle 109"/>
            <p:cNvSpPr/>
            <p:nvPr/>
          </p:nvSpPr>
          <p:spPr>
            <a:xfrm>
              <a:off x="6236208" y="4206240"/>
              <a:ext cx="564184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grpSp>
      <p:grpSp>
        <p:nvGrpSpPr>
          <p:cNvPr id="85" name="그룹 84"/>
          <p:cNvGrpSpPr/>
          <p:nvPr/>
        </p:nvGrpSpPr>
        <p:grpSpPr>
          <a:xfrm>
            <a:off x="1408113" y="1686551"/>
            <a:ext cx="4919472" cy="2708716"/>
            <a:chOff x="2178826" y="3859237"/>
            <a:chExt cx="4919472" cy="2708716"/>
          </a:xfrm>
        </p:grpSpPr>
        <p:sp>
          <p:nvSpPr>
            <p:cNvPr id="357" name="Rectangle 37"/>
            <p:cNvSpPr/>
            <p:nvPr/>
          </p:nvSpPr>
          <p:spPr>
            <a:xfrm>
              <a:off x="2178826" y="3859237"/>
              <a:ext cx="3785615" cy="1904043"/>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8" name="TextBox 357"/>
            <p:cNvSpPr txBox="1"/>
            <p:nvPr/>
          </p:nvSpPr>
          <p:spPr>
            <a:xfrm>
              <a:off x="2178826" y="3872870"/>
              <a:ext cx="3785615" cy="146194"/>
            </a:xfrm>
            <a:prstGeom prst="rect">
              <a:avLst/>
            </a:prstGeom>
            <a:noFill/>
          </p:spPr>
          <p:txBody>
            <a:bodyPr wrap="square" lIns="0" tIns="0" rIns="0" bIns="0" anchor="ctr">
              <a:spAutoFit/>
            </a:bodyPr>
            <a:lstStyle/>
            <a:p>
              <a:pPr algn="ctr"/>
              <a:r>
                <a:rPr lang="en-US" sz="950" b="1" dirty="0">
                  <a:solidFill>
                    <a:srgbClr val="1F4E79"/>
                  </a:solidFill>
                  <a:latin typeface="맑은 고딕"/>
                  <a:ea typeface="맑은 고딕"/>
                </a:rPr>
                <a:t>Resource + Control Plane</a:t>
              </a:r>
              <a:endParaRPr sz="950" b="1" i="0" dirty="0">
                <a:solidFill>
                  <a:srgbClr val="1F4E79"/>
                </a:solidFill>
                <a:latin typeface="맑은 고딕"/>
                <a:ea typeface="맑은 고딕"/>
              </a:endParaRPr>
            </a:p>
          </p:txBody>
        </p:sp>
        <p:sp>
          <p:nvSpPr>
            <p:cNvPr id="360" name="Rectangle 39"/>
            <p:cNvSpPr/>
            <p:nvPr/>
          </p:nvSpPr>
          <p:spPr>
            <a:xfrm>
              <a:off x="2288554"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sz="700" dirty="0" err="1">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61" name="Rectangle 40"/>
            <p:cNvSpPr/>
            <p:nvPr/>
          </p:nvSpPr>
          <p:spPr>
            <a:xfrm>
              <a:off x="3532138"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62" name="Rectangle 41"/>
            <p:cNvSpPr/>
            <p:nvPr/>
          </p:nvSpPr>
          <p:spPr>
            <a:xfrm>
              <a:off x="4775722"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63" name="Connector 42"/>
            <p:cNvCxnSpPr/>
            <p:nvPr/>
          </p:nvCxnSpPr>
          <p:spPr>
            <a:xfrm>
              <a:off x="3422410"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p:nvPr/>
          </p:nvCxnSpPr>
          <p:spPr>
            <a:xfrm>
              <a:off x="4665994"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3399550" y="423166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367" name="Rectangle 45"/>
            <p:cNvSpPr/>
            <p:nvPr/>
          </p:nvSpPr>
          <p:spPr>
            <a:xfrm>
              <a:off x="2288554" y="4629425"/>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dirty="0">
                  <a:solidFill>
                    <a:srgbClr val="7F5F00"/>
                  </a:solidFill>
                  <a:latin typeface="맑은 고딕"/>
                  <a:ea typeface="맑은 고딕"/>
                </a:rPr>
                <a:t>Threshold Trigger</a:t>
              </a:r>
            </a:p>
            <a:p>
              <a:pPr algn="ctr">
                <a:lnSpc>
                  <a:spcPct val="125000"/>
                </a:lnSpc>
              </a:pPr>
              <a:r>
                <a:rPr sz="650" b="0" i="0" dirty="0" err="1">
                  <a:solidFill>
                    <a:srgbClr val="7F5F00"/>
                  </a:solidFill>
                  <a:latin typeface="맑은 고딕"/>
                  <a:ea typeface="맑은 고딕"/>
                </a:rPr>
                <a:t>임계치</a:t>
              </a:r>
              <a:r>
                <a:rPr sz="650" b="0" i="0" dirty="0">
                  <a:solidFill>
                    <a:srgbClr val="7F5F00"/>
                  </a:solidFill>
                  <a:latin typeface="맑은 고딕"/>
                  <a:ea typeface="맑은 고딕"/>
                </a:rPr>
                <a:t> </a:t>
              </a:r>
              <a:r>
                <a:rPr sz="650" b="0" i="0" dirty="0" err="1">
                  <a:solidFill>
                    <a:srgbClr val="7F5F00"/>
                  </a:solidFill>
                  <a:latin typeface="맑은 고딕"/>
                  <a:ea typeface="맑은 고딕"/>
                </a:rPr>
                <a:t>교차</a:t>
              </a:r>
              <a:r>
                <a:rPr sz="650" b="0" i="0" dirty="0">
                  <a:solidFill>
                    <a:srgbClr val="7F5F00"/>
                  </a:solidFill>
                  <a:latin typeface="맑은 고딕"/>
                  <a:ea typeface="맑은 고딕"/>
                </a:rPr>
                <a:t> 시 </a:t>
              </a: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기동</a:t>
              </a:r>
              <a:endParaRPr sz="650" b="0" i="0" dirty="0">
                <a:solidFill>
                  <a:srgbClr val="7F5F00"/>
                </a:solidFill>
                <a:latin typeface="맑은 고딕"/>
                <a:ea typeface="맑은 고딕"/>
              </a:endParaRPr>
            </a:p>
          </p:txBody>
        </p:sp>
        <p:cxnSp>
          <p:nvCxnSpPr>
            <p:cNvPr id="368" name="Connector 46"/>
            <p:cNvCxnSpPr/>
            <p:nvPr/>
          </p:nvCxnSpPr>
          <p:spPr>
            <a:xfrm flipV="1">
              <a:off x="2855482" y="4519697"/>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942350" y="4496837"/>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370" name="Rectangle 48"/>
            <p:cNvSpPr/>
            <p:nvPr/>
          </p:nvSpPr>
          <p:spPr>
            <a:xfrm>
              <a:off x="2233690" y="4995185"/>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2288554" y="5050049"/>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72" name="Rectangle 50"/>
            <p:cNvSpPr/>
            <p:nvPr/>
          </p:nvSpPr>
          <p:spPr>
            <a:xfrm>
              <a:off x="2288554" y="5360945"/>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373" name="Rectangle 51"/>
            <p:cNvSpPr/>
            <p:nvPr/>
          </p:nvSpPr>
          <p:spPr>
            <a:xfrm>
              <a:off x="3550426" y="5104913"/>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dirty="0" err="1">
                  <a:solidFill>
                    <a:srgbClr val="404040"/>
                  </a:solidFill>
                  <a:latin typeface="맑은 고딕"/>
                  <a:ea typeface="맑은 고딕"/>
                </a:rPr>
                <a:t>Memory·Data</a:t>
              </a:r>
              <a:endParaRPr sz="800" b="0" i="0" dirty="0">
                <a:solidFill>
                  <a:srgbClr val="404040"/>
                </a:solidFill>
                <a:latin typeface="맑은 고딕"/>
                <a:ea typeface="맑은 고딕"/>
              </a:endParaRPr>
            </a:p>
            <a:p>
              <a:pPr algn="ctr">
                <a:lnSpc>
                  <a:spcPct val="95000"/>
                </a:lnSpc>
              </a:pPr>
              <a:r>
                <a:rPr sz="800" b="0" i="0" dirty="0">
                  <a:solidFill>
                    <a:srgbClr val="404040"/>
                  </a:solidFill>
                  <a:latin typeface="맑은 고딕"/>
                  <a:ea typeface="맑은 고딕"/>
                </a:rPr>
                <a:t>Object Registry</a:t>
              </a:r>
            </a:p>
          </p:txBody>
        </p:sp>
        <p:sp>
          <p:nvSpPr>
            <p:cNvPr id="374" name="TextBox 373"/>
            <p:cNvSpPr txBox="1"/>
            <p:nvPr/>
          </p:nvSpPr>
          <p:spPr>
            <a:xfrm>
              <a:off x="3550426" y="5488961"/>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375" name="Connector 53"/>
            <p:cNvCxnSpPr/>
            <p:nvPr/>
          </p:nvCxnSpPr>
          <p:spPr>
            <a:xfrm flipV="1">
              <a:off x="2855482" y="5306081"/>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p:nvPr/>
          </p:nvCxnSpPr>
          <p:spPr>
            <a:xfrm flipV="1">
              <a:off x="2855482" y="4940321"/>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p:nvPr/>
          </p:nvCxnSpPr>
          <p:spPr>
            <a:xfrm flipV="1">
              <a:off x="4117354" y="4519697"/>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4204222" y="473458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379" name="Rectangle 57"/>
            <p:cNvSpPr/>
            <p:nvPr/>
          </p:nvSpPr>
          <p:spPr>
            <a:xfrm>
              <a:off x="4190506" y="5854721"/>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0" name="TextBox 379"/>
            <p:cNvSpPr txBox="1"/>
            <p:nvPr/>
          </p:nvSpPr>
          <p:spPr>
            <a:xfrm>
              <a:off x="4190506" y="5891297"/>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81" name="Rectangle 59"/>
            <p:cNvSpPr/>
            <p:nvPr/>
          </p:nvSpPr>
          <p:spPr>
            <a:xfrm>
              <a:off x="4300234" y="6092465"/>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82" name="Rectangle 60"/>
            <p:cNvSpPr/>
            <p:nvPr/>
          </p:nvSpPr>
          <p:spPr>
            <a:xfrm>
              <a:off x="4300234" y="6330209"/>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p:nvPr/>
          </p:nvCxnSpPr>
          <p:spPr>
            <a:xfrm>
              <a:off x="5644402" y="6321065"/>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731270" y="62524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385" name="Connector 63"/>
            <p:cNvCxnSpPr/>
            <p:nvPr/>
          </p:nvCxnSpPr>
          <p:spPr>
            <a:xfrm>
              <a:off x="5342650" y="4519697"/>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429518" y="5155205"/>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7" name="Connector 65"/>
            <p:cNvCxnSpPr/>
            <p:nvPr/>
          </p:nvCxnSpPr>
          <p:spPr>
            <a:xfrm flipH="1">
              <a:off x="4117354" y="6202193"/>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88" name="Connector 66"/>
            <p:cNvCxnSpPr/>
            <p:nvPr/>
          </p:nvCxnSpPr>
          <p:spPr>
            <a:xfrm flipV="1">
              <a:off x="4117354" y="5452385"/>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875038" y="57952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390" name="Rectangle 68"/>
            <p:cNvSpPr/>
            <p:nvPr/>
          </p:nvSpPr>
          <p:spPr>
            <a:xfrm>
              <a:off x="2178826" y="5982737"/>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391" name="Connector 69"/>
            <p:cNvCxnSpPr/>
            <p:nvPr/>
          </p:nvCxnSpPr>
          <p:spPr>
            <a:xfrm flipV="1">
              <a:off x="2855482" y="5616977"/>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7" name="그룹 6"/>
          <p:cNvGrpSpPr/>
          <p:nvPr/>
        </p:nvGrpSpPr>
        <p:grpSpPr>
          <a:xfrm>
            <a:off x="311665" y="3341561"/>
            <a:ext cx="768096" cy="1115568"/>
            <a:chOff x="292545" y="3435232"/>
            <a:chExt cx="768096" cy="1115568"/>
          </a:xfrm>
        </p:grpSpPr>
        <p:sp>
          <p:nvSpPr>
            <p:cNvPr id="392"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
        <p:nvSpPr>
          <p:cNvPr id="113" name="모서리가 둥근 직사각형 112"/>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105" name="실행 단추: 앞으로 또는 다음으로 이동 104">
            <a:hlinkClick r:id="rId4" action="ppaction://hlinksldjump" highlightClick="1"/>
            <a:extLst>
              <a:ext uri="{FF2B5EF4-FFF2-40B4-BE49-F238E27FC236}">
                <a16:creationId xmlns:a16="http://schemas.microsoft.com/office/drawing/2014/main" id="{2FD9E54B-85A4-4F54-B55B-7E511F28F739}"/>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7" name="TextBox 106">
            <a:extLst>
              <a:ext uri="{FF2B5EF4-FFF2-40B4-BE49-F238E27FC236}">
                <a16:creationId xmlns:a16="http://schemas.microsoft.com/office/drawing/2014/main" id="{2C9610E8-E3B8-4B0A-A2C5-4B7C92B53C95}"/>
              </a:ext>
            </a:extLst>
          </p:cNvPr>
          <p:cNvSpPr txBox="1"/>
          <p:nvPr/>
        </p:nvSpPr>
        <p:spPr>
          <a:xfrm>
            <a:off x="7756132" y="6220738"/>
            <a:ext cx="2205575" cy="184666"/>
          </a:xfrm>
          <a:prstGeom prst="rect">
            <a:avLst/>
          </a:prstGeom>
          <a:noFill/>
        </p:spPr>
        <p:txBody>
          <a:bodyPr wrap="square" rtlCol="0">
            <a:spAutoFit/>
          </a:bodyPr>
          <a:lstStyle/>
          <a:p>
            <a:r>
              <a:rPr lang="ko-KR" altLang="en-US" sz="600" dirty="0">
                <a:solidFill>
                  <a:srgbClr val="0000FF"/>
                </a:solidFill>
              </a:rPr>
              <a:t>새 메모리 추가</a:t>
            </a:r>
            <a:r>
              <a:rPr lang="en-US" altLang="ko-KR" sz="600" dirty="0">
                <a:solidFill>
                  <a:srgbClr val="0000FF"/>
                </a:solidFill>
              </a:rPr>
              <a:t>, </a:t>
            </a:r>
            <a:r>
              <a:rPr lang="ko-KR" altLang="en-US" sz="600" dirty="0">
                <a:solidFill>
                  <a:srgbClr val="0000FF"/>
                </a:solidFill>
              </a:rPr>
              <a:t>이동 정책</a:t>
            </a:r>
            <a:r>
              <a:rPr lang="en-US" altLang="ko-KR" sz="600" dirty="0">
                <a:solidFill>
                  <a:srgbClr val="0000FF"/>
                </a:solidFill>
              </a:rPr>
              <a:t> </a:t>
            </a:r>
            <a:r>
              <a:rPr lang="ko-KR" altLang="en-US" sz="600" dirty="0">
                <a:solidFill>
                  <a:srgbClr val="0000FF"/>
                </a:solidFill>
              </a:rPr>
              <a:t>변경에 따른 변경 비용차 적음</a:t>
            </a:r>
          </a:p>
        </p:txBody>
      </p:sp>
      <p:sp>
        <p:nvSpPr>
          <p:cNvPr id="110" name="실행 단추: 앞으로 또는 다음 109">
            <a:hlinkClick r:id="rId5" action="ppaction://hlinksldjump" highlightClick="1"/>
          </p:cNvPr>
          <p:cNvSpPr/>
          <p:nvPr/>
        </p:nvSpPr>
        <p:spPr>
          <a:xfrm>
            <a:off x="6236437"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602128537"/>
      </p:ext>
    </p:extLst>
  </p:cSld>
  <p:clrMapOvr>
    <a:masterClrMapping/>
  </p:clrMapOvr>
  <p:timing>
    <p:tnLst>
      <p:par>
        <p:cT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176591162"/>
              </p:ext>
            </p:extLst>
          </p:nvPr>
        </p:nvGraphicFramePr>
        <p:xfrm>
          <a:off x="249035" y="1044054"/>
          <a:ext cx="11747501" cy="537634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418997">
                  <a:extLst>
                    <a:ext uri="{9D8B030D-6E8A-4147-A177-3AD203B41FA5}">
                      <a16:colId xmlns:a16="http://schemas.microsoft.com/office/drawing/2014/main" val="5654497"/>
                    </a:ext>
                  </a:extLst>
                </a:gridCol>
                <a:gridCol w="2017057">
                  <a:extLst>
                    <a:ext uri="{9D8B030D-6E8A-4147-A177-3AD203B41FA5}">
                      <a16:colId xmlns:a16="http://schemas.microsoft.com/office/drawing/2014/main" val="2953438935"/>
                    </a:ext>
                  </a:extLst>
                </a:gridCol>
                <a:gridCol w="3364568">
                  <a:extLst>
                    <a:ext uri="{9D8B030D-6E8A-4147-A177-3AD203B41FA5}">
                      <a16:colId xmlns:a16="http://schemas.microsoft.com/office/drawing/2014/main" val="3070054508"/>
                    </a:ext>
                  </a:extLst>
                </a:gridCol>
                <a:gridCol w="20714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baseline="0" dirty="0"/>
                        <a:t>상태 관측과 이동 결정을 한 곳에서 </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r>
                        <a:rPr lang="en-US" altLang="ko-KR" sz="1200" b="1" strike="noStrike" baseline="0" dirty="0"/>
                        <a:t>+</a:t>
                      </a:r>
                      <a:r>
                        <a:rPr lang="en-US" altLang="ko-KR" sz="1200" b="1" strike="noStrike" baseline="0" dirty="0">
                          <a:solidFill>
                            <a:srgbClr val="0000FF"/>
                          </a:solidFill>
                        </a:rPr>
                        <a:t> </a:t>
                      </a:r>
                      <a:r>
                        <a:rPr lang="en-US" altLang="ko-KR" sz="1200" dirty="0">
                          <a:solidFill>
                            <a:srgbClr val="0000FF"/>
                          </a:solidFill>
                        </a:rPr>
                        <a:t>HBM </a:t>
                      </a:r>
                      <a:r>
                        <a:rPr lang="ko-KR" altLang="en-US" sz="1200" dirty="0">
                          <a:solidFill>
                            <a:srgbClr val="0000FF"/>
                          </a:solidFill>
                        </a:rPr>
                        <a:t>점유 기한</a:t>
                      </a:r>
                      <a:r>
                        <a:rPr lang="en-US" altLang="ko-KR" sz="1200" dirty="0">
                          <a:solidFill>
                            <a:srgbClr val="0000FF"/>
                          </a:solidFill>
                        </a:rPr>
                        <a:t>(Lease) </a:t>
                      </a:r>
                      <a:r>
                        <a:rPr lang="ko-KR" altLang="en-US" sz="1200" dirty="0">
                          <a:solidFill>
                            <a:srgbClr val="0000FF"/>
                          </a:solidFill>
                        </a:rPr>
                        <a:t>제어 </a:t>
                      </a:r>
                      <a:endParaRPr lang="ko-KR" altLang="en-US" sz="1200" b="1" strike="noStrike" dirty="0">
                        <a:solidFill>
                          <a:srgbClr val="0000FF"/>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134341">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Threshold trigger</a:t>
                      </a:r>
                      <a:r>
                        <a:rPr lang="ko-KR" altLang="en-US" sz="1200" b="0" i="0" dirty="0">
                          <a:solidFill>
                            <a:srgbClr val="404040"/>
                          </a:solidFill>
                          <a:latin typeface="+mn-lt"/>
                          <a:ea typeface="맑은 고딕"/>
                        </a:rPr>
                        <a:t>가 즉시 판단을 기동해 </a:t>
                      </a:r>
                      <a:r>
                        <a:rPr lang="en-US" altLang="ko-KR" sz="1200" b="0" i="0" dirty="0">
                          <a:solidFill>
                            <a:srgbClr val="404040"/>
                          </a:solidFill>
                          <a:latin typeface="+mn-lt"/>
                          <a:ea typeface="맑은 고딕"/>
                        </a:rPr>
                        <a:t>HBM </a:t>
                      </a:r>
                      <a:r>
                        <a:rPr lang="ko-KR" altLang="en-US" sz="1200" b="0" i="0" dirty="0">
                          <a:solidFill>
                            <a:srgbClr val="404040"/>
                          </a:solidFill>
                          <a:latin typeface="+mn-lt"/>
                          <a:ea typeface="맑은 고딕"/>
                        </a:rPr>
                        <a:t>압박 구간이 짧음 </a:t>
                      </a:r>
                      <a:r>
                        <a:rPr lang="en-US" altLang="ko-KR" sz="1200" b="0" i="0" dirty="0">
                          <a:solidFill>
                            <a:srgbClr val="404040"/>
                          </a:solidFill>
                          <a:latin typeface="+mn-lt"/>
                          <a:ea typeface="맑은 고딕"/>
                        </a:rPr>
                        <a:t>(Q2) </a:t>
                      </a:r>
                      <a:endParaRPr lang="ko-KR" altLang="en-US" sz="1200" b="0" i="0" dirty="0">
                        <a:solidFill>
                          <a:srgbClr val="404040"/>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Plane</a:t>
                      </a:r>
                      <a:r>
                        <a:rPr lang="en-US" altLang="ko-KR" sz="1200" b="0" i="0" baseline="0" dirty="0">
                          <a:solidFill>
                            <a:srgbClr val="404040"/>
                          </a:solidFill>
                          <a:latin typeface="+mn-lt"/>
                          <a:ea typeface="맑은 고딕"/>
                        </a:rPr>
                        <a:t> </a:t>
                      </a:r>
                      <a:r>
                        <a:rPr lang="ko-KR" altLang="en-US" sz="1200" b="0" i="0" dirty="0">
                          <a:solidFill>
                            <a:srgbClr val="404040"/>
                          </a:solidFill>
                          <a:latin typeface="+mn-lt"/>
                          <a:ea typeface="맑은 고딕"/>
                        </a:rPr>
                        <a:t>간 인터페이스 호출이 없어 정책 수정</a:t>
                      </a:r>
                      <a:r>
                        <a:rPr lang="ko-KR" altLang="en-US" sz="1200" b="0" i="0" baseline="0" dirty="0">
                          <a:solidFill>
                            <a:srgbClr val="404040"/>
                          </a:solidFill>
                          <a:latin typeface="+mn-lt"/>
                          <a:ea typeface="맑은 고딕"/>
                        </a:rPr>
                        <a:t> 범위 제한 </a:t>
                      </a:r>
                      <a:r>
                        <a:rPr lang="en-US" altLang="ko-KR" sz="1200" b="0" i="0" baseline="0" dirty="0">
                          <a:solidFill>
                            <a:srgbClr val="404040"/>
                          </a:solidFill>
                          <a:latin typeface="+mn-lt"/>
                          <a:ea typeface="맑은 고딕"/>
                        </a:rPr>
                        <a:t>(Q4)</a:t>
                      </a:r>
                      <a:endParaRPr lang="en-US" altLang="ko-KR" sz="1200" strike="noStrike" baseline="0" dirty="0">
                        <a:solidFill>
                          <a:schemeClr val="tx1"/>
                        </a:solidFill>
                        <a:effectLst/>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 </a:t>
                      </a:r>
                      <a:r>
                        <a:rPr lang="en-US" altLang="ko-KR" sz="1200" b="0" i="0" dirty="0">
                          <a:solidFill>
                            <a:srgbClr val="404040"/>
                          </a:solidFill>
                          <a:latin typeface="+mn-lt"/>
                          <a:ea typeface="맑은 고딕"/>
                        </a:rPr>
                        <a:t>(Q2)</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baseline="0" dirty="0">
                          <a:solidFill>
                            <a:srgbClr val="0000FF"/>
                          </a:solidFill>
                          <a:effectLst/>
                          <a:latin typeface="맑은 고딕" panose="020B0503020000020004" pitchFamily="50" charset="-127"/>
                          <a:ea typeface="+mn-ea"/>
                        </a:rPr>
                        <a:t>→ HBM stage-in </a:t>
                      </a:r>
                      <a:r>
                        <a:rPr lang="ko-KR" altLang="en-US" sz="1200" b="0" strike="noStrike" baseline="0" dirty="0">
                          <a:solidFill>
                            <a:srgbClr val="0000FF"/>
                          </a:solidFill>
                          <a:effectLst/>
                          <a:latin typeface="맑은 고딕" panose="020B0503020000020004" pitchFamily="50" charset="-127"/>
                          <a:ea typeface="+mn-ea"/>
                        </a:rPr>
                        <a:t>시 </a:t>
                      </a:r>
                      <a:r>
                        <a:rPr lang="en-US" altLang="ko-KR" sz="1200" b="0" strike="noStrike" baseline="0" dirty="0">
                          <a:solidFill>
                            <a:srgbClr val="0000FF"/>
                          </a:solidFill>
                          <a:effectLst/>
                          <a:latin typeface="맑은 고딕" panose="020B0503020000020004" pitchFamily="50" charset="-127"/>
                          <a:ea typeface="+mn-ea"/>
                        </a:rPr>
                        <a:t>lease</a:t>
                      </a:r>
                      <a:r>
                        <a:rPr lang="ko-KR" altLang="en-US" sz="1200" b="0" strike="noStrike" baseline="0" dirty="0">
                          <a:solidFill>
                            <a:srgbClr val="0000FF"/>
                          </a:solidFill>
                          <a:effectLst/>
                          <a:latin typeface="맑은 고딕" panose="020B0503020000020004" pitchFamily="50" charset="-127"/>
                          <a:ea typeface="+mn-ea"/>
                        </a:rPr>
                        <a:t>를 부여하여 주기적 </a:t>
                      </a:r>
                      <a:r>
                        <a:rPr lang="en-US" altLang="ko-KR" sz="1200" b="0" strike="noStrike" baseline="0" dirty="0">
                          <a:solidFill>
                            <a:srgbClr val="0000FF"/>
                          </a:solidFill>
                          <a:effectLst/>
                          <a:latin typeface="맑은 고딕" panose="020B0503020000020004" pitchFamily="50" charset="-127"/>
                          <a:ea typeface="+mn-ea"/>
                        </a:rPr>
                        <a:t>migration </a:t>
                      </a:r>
                      <a:r>
                        <a:rPr lang="ko-KR" altLang="en-US" sz="1200" b="0" strike="noStrike" baseline="0" dirty="0">
                          <a:solidFill>
                            <a:srgbClr val="0000FF"/>
                          </a:solidFill>
                          <a:effectLst/>
                          <a:latin typeface="맑은 고딕" panose="020B0503020000020004" pitchFamily="50" charset="-127"/>
                          <a:ea typeface="+mn-ea"/>
                        </a:rPr>
                        <a:t>재평가</a:t>
                      </a:r>
                      <a:endParaRPr lang="en-US" altLang="ko-KR" sz="1200" b="0" strike="noStrike" baseline="0" dirty="0">
                        <a:solidFill>
                          <a:srgbClr val="0000FF"/>
                        </a:solidFill>
                        <a:effectLst/>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baseline="0" dirty="0">
                          <a:solidFill>
                            <a:srgbClr val="0000FF"/>
                          </a:solidFill>
                          <a:effectLst/>
                          <a:latin typeface="맑은 고딕" panose="020B0503020000020004" pitchFamily="50" charset="-127"/>
                          <a:ea typeface="+mn-ea"/>
                        </a:rPr>
                        <a:t>→ </a:t>
                      </a:r>
                      <a:r>
                        <a:rPr lang="ko-KR" altLang="en-US" sz="1200" b="0" strike="noStrike" baseline="0" dirty="0">
                          <a:solidFill>
                            <a:srgbClr val="0000FF"/>
                          </a:solidFill>
                          <a:effectLst/>
                          <a:latin typeface="맑은 고딕" panose="020B0503020000020004" pitchFamily="50" charset="-127"/>
                          <a:ea typeface="+mn-ea"/>
                        </a:rPr>
                        <a:t>최신 </a:t>
                      </a:r>
                      <a:r>
                        <a:rPr lang="en-US" altLang="ko-KR" sz="1200" b="0" strike="noStrike" baseline="0" dirty="0">
                          <a:solidFill>
                            <a:srgbClr val="0000FF"/>
                          </a:solidFill>
                          <a:effectLst/>
                          <a:latin typeface="맑은 고딕" panose="020B0503020000020004" pitchFamily="50" charset="-127"/>
                          <a:ea typeface="+mn-ea"/>
                        </a:rPr>
                        <a:t>behavior </a:t>
                      </a:r>
                      <a:r>
                        <a:rPr lang="ko-KR" altLang="en-US" sz="1200" b="0" strike="noStrike" baseline="0" dirty="0">
                          <a:solidFill>
                            <a:srgbClr val="0000FF"/>
                          </a:solidFill>
                          <a:effectLst/>
                          <a:latin typeface="맑은 고딕" panose="020B0503020000020004" pitchFamily="50" charset="-127"/>
                          <a:ea typeface="+mn-ea"/>
                        </a:rPr>
                        <a:t>기반으로 </a:t>
                      </a:r>
                      <a:r>
                        <a:rPr lang="en-US" altLang="ko-KR" sz="1200" b="0" strike="noStrike" baseline="0" dirty="0">
                          <a:solidFill>
                            <a:srgbClr val="0000FF"/>
                          </a:solidFill>
                          <a:effectLst/>
                          <a:latin typeface="맑은 고딕" panose="020B0503020000020004" pitchFamily="50" charset="-127"/>
                          <a:ea typeface="+mn-ea"/>
                        </a:rPr>
                        <a:t>lease </a:t>
                      </a:r>
                      <a:r>
                        <a:rPr lang="ko-KR" altLang="en-US" sz="1200" b="0" strike="noStrike" baseline="0" dirty="0">
                          <a:solidFill>
                            <a:srgbClr val="0000FF"/>
                          </a:solidFill>
                          <a:effectLst/>
                          <a:latin typeface="맑은 고딕" panose="020B0503020000020004" pitchFamily="50" charset="-127"/>
                          <a:ea typeface="+mn-ea"/>
                        </a:rPr>
                        <a:t>연장</a:t>
                      </a:r>
                      <a:r>
                        <a:rPr lang="en-US" altLang="ko-KR" sz="1200" b="0" strike="noStrike" baseline="0" dirty="0">
                          <a:solidFill>
                            <a:srgbClr val="0000FF"/>
                          </a:solidFill>
                          <a:effectLst/>
                          <a:latin typeface="맑은 고딕" panose="020B0503020000020004" pitchFamily="50" charset="-127"/>
                          <a:ea typeface="+mn-ea"/>
                        </a:rPr>
                        <a:t>/</a:t>
                      </a:r>
                      <a:r>
                        <a:rPr lang="ko-KR" altLang="en-US" sz="1200" b="0" strike="noStrike" baseline="0" dirty="0">
                          <a:solidFill>
                            <a:srgbClr val="0000FF"/>
                          </a:solidFill>
                          <a:effectLst/>
                          <a:latin typeface="맑은 고딕" panose="020B0503020000020004" pitchFamily="50" charset="-127"/>
                          <a:ea typeface="+mn-ea"/>
                        </a:rPr>
                        <a:t>축소하여 </a:t>
                      </a:r>
                      <a:r>
                        <a:rPr lang="en-US" altLang="ko-KR" sz="1200" b="0" strike="noStrike" baseline="0" dirty="0">
                          <a:solidFill>
                            <a:srgbClr val="0000FF"/>
                          </a:solidFill>
                          <a:effectLst/>
                          <a:latin typeface="맑은 고딕" panose="020B0503020000020004" pitchFamily="50" charset="-127"/>
                          <a:ea typeface="+mn-ea"/>
                        </a:rPr>
                        <a:t>HBM </a:t>
                      </a:r>
                      <a:r>
                        <a:rPr lang="ko-KR" altLang="en-US" sz="1200" b="0" strike="noStrike" baseline="0" dirty="0">
                          <a:solidFill>
                            <a:srgbClr val="0000FF"/>
                          </a:solidFill>
                          <a:effectLst/>
                          <a:latin typeface="맑은 고딕" panose="020B0503020000020004" pitchFamily="50" charset="-127"/>
                          <a:ea typeface="+mn-ea"/>
                        </a:rPr>
                        <a:t>점유 제어</a:t>
                      </a:r>
                      <a:endParaRPr lang="en-US" altLang="ko-KR" sz="1200" b="0" i="0" dirty="0">
                        <a:solidFill>
                          <a:srgbClr val="0000FF"/>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a:t>
                      </a:r>
                      <a:r>
                        <a:rPr lang="en-US" altLang="ko-KR" sz="1200" b="0" strike="noStrike" baseline="0" dirty="0">
                          <a:solidFill>
                            <a:schemeClr val="tx1"/>
                          </a:solidFill>
                        </a:rPr>
                        <a:t> </a:t>
                      </a:r>
                      <a:r>
                        <a:rPr lang="en-US" altLang="ko-KR" sz="1200" b="0" strike="noStrike" dirty="0">
                          <a:solidFill>
                            <a:schemeClr val="tx1"/>
                          </a:solidFill>
                        </a:rPr>
                        <a:t>Performance </a:t>
                      </a:r>
                      <a:r>
                        <a:rPr lang="ko-KR" altLang="en-US" sz="1200" b="0" strike="noStrike" dirty="0">
                          <a:solidFill>
                            <a:schemeClr val="tx1"/>
                          </a:solidFill>
                        </a:rPr>
                        <a:t>처리량</a:t>
                      </a:r>
                      <a:endParaRPr lang="en-US" altLang="ko-KR" sz="10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1.76→5.63 q/s (3.2x)</a:t>
                      </a:r>
                      <a:endParaRPr kumimoji="0" lang="en-US" altLang="ko-KR" sz="1800" b="0" i="0" u="none" strike="noStrike" kern="1200" cap="none" spc="0" normalizeH="0" baseline="0" noProof="0" dirty="0">
                        <a:ln>
                          <a:noFill/>
                        </a:ln>
                        <a:solidFill>
                          <a:prstClr val="black"/>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HBM 425→238 GB (-44%) </a:t>
                      </a: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TTFT</a:t>
                      </a:r>
                      <a:r>
                        <a:rPr kumimoji="0" lang="ko-KR" altLang="en-US" sz="900" b="0" i="0" u="none" strike="noStrike" kern="1200" cap="none" spc="0" normalizeH="0" baseline="0" noProof="0" dirty="0">
                          <a:ln>
                            <a:noFill/>
                          </a:ln>
                          <a:solidFill>
                            <a:srgbClr val="404040"/>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1.89→1.29 s (-32%) </a:t>
                      </a: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3.3m</a:t>
                      </a:r>
                      <a:endPar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ko-KR" altLang="en-US"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FF0000"/>
                          </a:solidFill>
                          <a:effectLst/>
                          <a:uLnTx/>
                          <a:uFillTx/>
                          <a:latin typeface="+mn-lt"/>
                          <a:ea typeface="맑은 고딕"/>
                          <a:cs typeface="+mn-cs"/>
                        </a:rPr>
                        <a:t>1.76→7.2 q/s (4.1x)</a:t>
                      </a:r>
                      <a:endParaRPr kumimoji="0" lang="en-US" altLang="ko-KR" sz="1800" b="0" i="0" u="none" strike="noStrike" kern="1200" cap="none" spc="0" normalizeH="0" baseline="0" noProof="0" dirty="0">
                        <a:ln>
                          <a:noFill/>
                        </a:ln>
                        <a:solidFill>
                          <a:srgbClr val="FF0000"/>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0000FF"/>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0000FF"/>
                          </a:solidFill>
                          <a:effectLst/>
                          <a:uLnTx/>
                          <a:uFillTx/>
                          <a:latin typeface="+mn-lt"/>
                          <a:ea typeface="맑은 고딕"/>
                          <a:cs typeface="+mn-cs"/>
                        </a:rPr>
                        <a:t>HBM 425→246 GB (-42%) </a:t>
                      </a:r>
                      <a:endParaRPr kumimoji="0" lang="en-US" altLang="ko-KR" sz="1400" b="0" i="0" u="none" strike="noStrike" kern="1200" cap="none" spc="0" normalizeH="0" baseline="0" noProof="0" dirty="0">
                        <a:ln>
                          <a:noFill/>
                        </a:ln>
                        <a:solidFill>
                          <a:srgbClr val="0000FF"/>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FF0000"/>
                          </a:solidFill>
                          <a:effectLst/>
                          <a:uLnTx/>
                          <a:uFillTx/>
                          <a:latin typeface="+mn-lt"/>
                          <a:ea typeface="맑은 고딕"/>
                          <a:cs typeface="+mn-cs"/>
                        </a:rPr>
                        <a:t>TTFT</a:t>
                      </a:r>
                      <a:r>
                        <a:rPr kumimoji="0" lang="ko-KR" altLang="en-US" sz="900" b="0" i="0" u="none" strike="noStrike" kern="1200" cap="none" spc="0" normalizeH="0" baseline="0" noProof="0" dirty="0">
                          <a:ln>
                            <a:noFill/>
                          </a:ln>
                          <a:solidFill>
                            <a:srgbClr val="FF0000"/>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FF0000"/>
                          </a:solidFill>
                          <a:effectLst/>
                          <a:uLnTx/>
                          <a:uFillTx/>
                          <a:latin typeface="+mn-lt"/>
                          <a:ea typeface="맑은 고딕"/>
                          <a:cs typeface="+mn-cs"/>
                        </a:rPr>
                        <a:t>1.89→0.92 s (-51%) </a:t>
                      </a:r>
                      <a:endParaRPr kumimoji="0" lang="en-US" altLang="ko-KR" sz="1400" b="0" i="0" u="none" strike="noStrike" kern="1200" cap="none" spc="0" normalizeH="0" baseline="0" noProof="0" dirty="0">
                        <a:ln>
                          <a:noFill/>
                        </a:ln>
                        <a:solidFill>
                          <a:srgbClr val="FF0000"/>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404040"/>
                          </a:solidFill>
                          <a:effectLst/>
                          <a:uLnTx/>
                          <a:uFillTx/>
                          <a:latin typeface="+mn-lt"/>
                          <a:ea typeface="맑은 고딕"/>
                          <a:cs typeface="+mn-cs"/>
                        </a:rPr>
                        <a:t>3.6m</a:t>
                      </a:r>
                      <a:endParaRPr kumimoji="0" lang="en-US" altLang="ko-KR" sz="1400" b="0" i="0" u="none" strike="noStrike" kern="1200" cap="none" spc="0" normalizeH="0" baseline="0" noProof="0" dirty="0">
                        <a:ln>
                          <a:noFill/>
                        </a:ln>
                        <a:solidFill>
                          <a:srgbClr val="0070C0"/>
                        </a:solidFill>
                        <a:effectLst/>
                        <a:uLnTx/>
                        <a:uFillTx/>
                        <a:latin typeface="+mn-lt"/>
                        <a:ea typeface="맑은 고딕"/>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solidFill>
                  <a:srgbClr val="0000FF"/>
                </a:solidFill>
              </a:rPr>
              <a:t>보완 </a:t>
            </a:r>
            <a:r>
              <a:rPr lang="en-US" altLang="ko-KR" dirty="0">
                <a:solidFill>
                  <a:srgbClr val="0000FF"/>
                </a:solidFill>
              </a:rPr>
              <a:t>Tactic </a:t>
            </a:r>
            <a:endParaRPr lang="ko-KR" altLang="en-US" dirty="0">
              <a:solidFill>
                <a:srgbClr val="0000FF"/>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a:t>
            </a:r>
            <a:r>
              <a:rPr lang="en-US" altLang="ko-KR" sz="1400" b="1" dirty="0">
                <a:solidFill>
                  <a:schemeClr val="bg1"/>
                </a:solidFill>
              </a:rPr>
              <a:t>, </a:t>
            </a:r>
            <a:r>
              <a:rPr lang="ko-KR" altLang="en-US" sz="1400" b="1" dirty="0">
                <a:solidFill>
                  <a:schemeClr val="bg1"/>
                </a:solidFill>
              </a:rPr>
              <a:t>변경 용이성을 고려한 데이터 이동</a:t>
            </a:r>
            <a:r>
              <a:rPr lang="en-US" altLang="ko-KR" sz="1400" b="1" dirty="0">
                <a:solidFill>
                  <a:schemeClr val="bg1"/>
                </a:solidFill>
              </a:rPr>
              <a:t> </a:t>
            </a:r>
            <a:r>
              <a:rPr lang="ko-KR" altLang="en-US" sz="1400" b="1" dirty="0">
                <a:solidFill>
                  <a:schemeClr val="bg1"/>
                </a:solidFill>
              </a:rPr>
              <a:t>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자원 상태에 우선한 이동 결정</a:t>
            </a:r>
            <a:r>
              <a:rPr lang="en-US" altLang="ko-KR" sz="1100" dirty="0"/>
              <a:t>“ </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a:t>
            </a:r>
            <a:r>
              <a:rPr lang="en-US" altLang="ko-KR" sz="1200" dirty="0">
                <a:solidFill>
                  <a:srgbClr val="FF0000"/>
                </a:solidFill>
              </a:rPr>
              <a:t>8</a:t>
            </a:r>
            <a:r>
              <a:rPr lang="ko-KR" altLang="en-US" sz="1200" dirty="0"/>
              <a:t>점</a:t>
            </a:r>
          </a:p>
        </p:txBody>
      </p:sp>
      <p:grpSp>
        <p:nvGrpSpPr>
          <p:cNvPr id="85" name="그룹 84"/>
          <p:cNvGrpSpPr/>
          <p:nvPr/>
        </p:nvGrpSpPr>
        <p:grpSpPr>
          <a:xfrm>
            <a:off x="1408113" y="1686551"/>
            <a:ext cx="4919472" cy="2708716"/>
            <a:chOff x="2178826" y="3859237"/>
            <a:chExt cx="4919472" cy="2708716"/>
          </a:xfrm>
        </p:grpSpPr>
        <p:sp>
          <p:nvSpPr>
            <p:cNvPr id="357" name="Rectangle 37"/>
            <p:cNvSpPr/>
            <p:nvPr/>
          </p:nvSpPr>
          <p:spPr>
            <a:xfrm>
              <a:off x="2178826" y="3859237"/>
              <a:ext cx="3785615" cy="1904043"/>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8" name="TextBox 357"/>
            <p:cNvSpPr txBox="1"/>
            <p:nvPr/>
          </p:nvSpPr>
          <p:spPr>
            <a:xfrm>
              <a:off x="2178826" y="3872870"/>
              <a:ext cx="3785615" cy="146194"/>
            </a:xfrm>
            <a:prstGeom prst="rect">
              <a:avLst/>
            </a:prstGeom>
            <a:noFill/>
          </p:spPr>
          <p:txBody>
            <a:bodyPr wrap="square" lIns="0" tIns="0" rIns="0" bIns="0" anchor="ctr">
              <a:spAutoFit/>
            </a:bodyPr>
            <a:lstStyle/>
            <a:p>
              <a:pPr algn="ctr"/>
              <a:r>
                <a:rPr lang="en-US" sz="950" b="1" dirty="0">
                  <a:solidFill>
                    <a:srgbClr val="1F4E79"/>
                  </a:solidFill>
                  <a:latin typeface="맑은 고딕"/>
                  <a:ea typeface="맑은 고딕"/>
                </a:rPr>
                <a:t>Resource + Control Plane</a:t>
              </a:r>
              <a:endParaRPr sz="950" b="1" i="0" dirty="0">
                <a:solidFill>
                  <a:srgbClr val="1F4E79"/>
                </a:solidFill>
                <a:latin typeface="맑은 고딕"/>
                <a:ea typeface="맑은 고딕"/>
              </a:endParaRPr>
            </a:p>
          </p:txBody>
        </p:sp>
        <p:sp>
          <p:nvSpPr>
            <p:cNvPr id="360" name="Rectangle 39"/>
            <p:cNvSpPr/>
            <p:nvPr/>
          </p:nvSpPr>
          <p:spPr>
            <a:xfrm>
              <a:off x="2288554"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sz="700" dirty="0" err="1">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61" name="Rectangle 40"/>
            <p:cNvSpPr/>
            <p:nvPr/>
          </p:nvSpPr>
          <p:spPr>
            <a:xfrm>
              <a:off x="3532138"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62" name="Rectangle 41"/>
            <p:cNvSpPr/>
            <p:nvPr/>
          </p:nvSpPr>
          <p:spPr>
            <a:xfrm>
              <a:off x="4775722"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63" name="Connector 42"/>
            <p:cNvCxnSpPr/>
            <p:nvPr/>
          </p:nvCxnSpPr>
          <p:spPr>
            <a:xfrm>
              <a:off x="3422410"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p:nvPr/>
          </p:nvCxnSpPr>
          <p:spPr>
            <a:xfrm>
              <a:off x="4665994"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3399550" y="423166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367" name="Rectangle 45"/>
            <p:cNvSpPr/>
            <p:nvPr/>
          </p:nvSpPr>
          <p:spPr>
            <a:xfrm>
              <a:off x="2288554" y="4629425"/>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dirty="0">
                  <a:solidFill>
                    <a:srgbClr val="7F5F00"/>
                  </a:solidFill>
                  <a:latin typeface="맑은 고딕"/>
                  <a:ea typeface="맑은 고딕"/>
                </a:rPr>
                <a:t>Threshold Trigger</a:t>
              </a:r>
            </a:p>
            <a:p>
              <a:pPr algn="ctr">
                <a:lnSpc>
                  <a:spcPct val="125000"/>
                </a:lnSpc>
              </a:pPr>
              <a:r>
                <a:rPr sz="650" b="0" i="0" dirty="0" err="1">
                  <a:solidFill>
                    <a:srgbClr val="7F5F00"/>
                  </a:solidFill>
                  <a:latin typeface="맑은 고딕"/>
                  <a:ea typeface="맑은 고딕"/>
                </a:rPr>
                <a:t>임계치</a:t>
              </a:r>
              <a:r>
                <a:rPr sz="650" b="0" i="0" dirty="0">
                  <a:solidFill>
                    <a:srgbClr val="7F5F00"/>
                  </a:solidFill>
                  <a:latin typeface="맑은 고딕"/>
                  <a:ea typeface="맑은 고딕"/>
                </a:rPr>
                <a:t> </a:t>
              </a:r>
              <a:r>
                <a:rPr sz="650" b="0" i="0" dirty="0" err="1">
                  <a:solidFill>
                    <a:srgbClr val="7F5F00"/>
                  </a:solidFill>
                  <a:latin typeface="맑은 고딕"/>
                  <a:ea typeface="맑은 고딕"/>
                </a:rPr>
                <a:t>교차</a:t>
              </a:r>
              <a:r>
                <a:rPr sz="650" b="0" i="0" dirty="0">
                  <a:solidFill>
                    <a:srgbClr val="7F5F00"/>
                  </a:solidFill>
                  <a:latin typeface="맑은 고딕"/>
                  <a:ea typeface="맑은 고딕"/>
                </a:rPr>
                <a:t> 시 </a:t>
              </a: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기동</a:t>
              </a:r>
              <a:endParaRPr sz="650" b="0" i="0" dirty="0">
                <a:solidFill>
                  <a:srgbClr val="7F5F00"/>
                </a:solidFill>
                <a:latin typeface="맑은 고딕"/>
                <a:ea typeface="맑은 고딕"/>
              </a:endParaRPr>
            </a:p>
          </p:txBody>
        </p:sp>
        <p:cxnSp>
          <p:nvCxnSpPr>
            <p:cNvPr id="368" name="Connector 46"/>
            <p:cNvCxnSpPr/>
            <p:nvPr/>
          </p:nvCxnSpPr>
          <p:spPr>
            <a:xfrm flipV="1">
              <a:off x="2855482" y="4519697"/>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942350" y="4496837"/>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370" name="Rectangle 48"/>
            <p:cNvSpPr/>
            <p:nvPr/>
          </p:nvSpPr>
          <p:spPr>
            <a:xfrm>
              <a:off x="2233690" y="4995185"/>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2288554" y="5050049"/>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72" name="Rectangle 50"/>
            <p:cNvSpPr/>
            <p:nvPr/>
          </p:nvSpPr>
          <p:spPr>
            <a:xfrm>
              <a:off x="2288554" y="5360945"/>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373" name="Rectangle 51"/>
            <p:cNvSpPr/>
            <p:nvPr/>
          </p:nvSpPr>
          <p:spPr>
            <a:xfrm>
              <a:off x="3550426" y="5104913"/>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dirty="0" err="1">
                  <a:solidFill>
                    <a:srgbClr val="404040"/>
                  </a:solidFill>
                  <a:latin typeface="맑은 고딕"/>
                  <a:ea typeface="맑은 고딕"/>
                </a:rPr>
                <a:t>Memory·Data</a:t>
              </a:r>
              <a:endParaRPr sz="800" b="0" i="0" dirty="0">
                <a:solidFill>
                  <a:srgbClr val="404040"/>
                </a:solidFill>
                <a:latin typeface="맑은 고딕"/>
                <a:ea typeface="맑은 고딕"/>
              </a:endParaRPr>
            </a:p>
            <a:p>
              <a:pPr algn="ctr">
                <a:lnSpc>
                  <a:spcPct val="95000"/>
                </a:lnSpc>
              </a:pPr>
              <a:r>
                <a:rPr sz="800" b="0" i="0" dirty="0">
                  <a:solidFill>
                    <a:srgbClr val="404040"/>
                  </a:solidFill>
                  <a:latin typeface="맑은 고딕"/>
                  <a:ea typeface="맑은 고딕"/>
                </a:rPr>
                <a:t>Object Registry</a:t>
              </a:r>
            </a:p>
          </p:txBody>
        </p:sp>
        <p:sp>
          <p:nvSpPr>
            <p:cNvPr id="374" name="TextBox 373"/>
            <p:cNvSpPr txBox="1"/>
            <p:nvPr/>
          </p:nvSpPr>
          <p:spPr>
            <a:xfrm>
              <a:off x="3550426" y="5488961"/>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375" name="Connector 53"/>
            <p:cNvCxnSpPr/>
            <p:nvPr/>
          </p:nvCxnSpPr>
          <p:spPr>
            <a:xfrm flipV="1">
              <a:off x="2855482" y="5306081"/>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p:nvPr/>
          </p:nvCxnSpPr>
          <p:spPr>
            <a:xfrm flipV="1">
              <a:off x="2855482" y="4940321"/>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p:nvPr/>
          </p:nvCxnSpPr>
          <p:spPr>
            <a:xfrm flipV="1">
              <a:off x="4117354" y="4519697"/>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4204222" y="473458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379" name="Rectangle 57"/>
            <p:cNvSpPr/>
            <p:nvPr/>
          </p:nvSpPr>
          <p:spPr>
            <a:xfrm>
              <a:off x="4190506" y="5854721"/>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0" name="TextBox 379"/>
            <p:cNvSpPr txBox="1"/>
            <p:nvPr/>
          </p:nvSpPr>
          <p:spPr>
            <a:xfrm>
              <a:off x="4190506" y="5891297"/>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81" name="Rectangle 59"/>
            <p:cNvSpPr/>
            <p:nvPr/>
          </p:nvSpPr>
          <p:spPr>
            <a:xfrm>
              <a:off x="4300234" y="6092465"/>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82" name="Rectangle 60"/>
            <p:cNvSpPr/>
            <p:nvPr/>
          </p:nvSpPr>
          <p:spPr>
            <a:xfrm>
              <a:off x="4300234" y="6330209"/>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p:nvPr/>
          </p:nvCxnSpPr>
          <p:spPr>
            <a:xfrm>
              <a:off x="5644402" y="6321065"/>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731270" y="62524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385" name="Connector 63"/>
            <p:cNvCxnSpPr/>
            <p:nvPr/>
          </p:nvCxnSpPr>
          <p:spPr>
            <a:xfrm>
              <a:off x="5342650" y="4519697"/>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429518" y="5155205"/>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7" name="Connector 65"/>
            <p:cNvCxnSpPr/>
            <p:nvPr/>
          </p:nvCxnSpPr>
          <p:spPr>
            <a:xfrm flipH="1">
              <a:off x="4117354" y="6202193"/>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88" name="Connector 66"/>
            <p:cNvCxnSpPr/>
            <p:nvPr/>
          </p:nvCxnSpPr>
          <p:spPr>
            <a:xfrm flipV="1">
              <a:off x="4117354" y="5452385"/>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875038" y="57952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390" name="Rectangle 68"/>
            <p:cNvSpPr/>
            <p:nvPr/>
          </p:nvSpPr>
          <p:spPr>
            <a:xfrm>
              <a:off x="2178826" y="5982737"/>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391" name="Connector 69"/>
            <p:cNvCxnSpPr/>
            <p:nvPr/>
          </p:nvCxnSpPr>
          <p:spPr>
            <a:xfrm flipV="1">
              <a:off x="2855482" y="5616977"/>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sp>
        <p:nvSpPr>
          <p:cNvPr id="112" name="Rectangle 71"/>
          <p:cNvSpPr/>
          <p:nvPr/>
        </p:nvSpPr>
        <p:spPr>
          <a:xfrm>
            <a:off x="6621854" y="1492132"/>
            <a:ext cx="5128953" cy="93268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13" name="TextBox 112"/>
          <p:cNvSpPr txBox="1"/>
          <p:nvPr/>
        </p:nvSpPr>
        <p:spPr>
          <a:xfrm>
            <a:off x="6621854" y="1528708"/>
            <a:ext cx="5128953"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Control Plane</a:t>
            </a:r>
          </a:p>
        </p:txBody>
      </p:sp>
      <p:sp>
        <p:nvSpPr>
          <p:cNvPr id="114" name="Rectangle 73"/>
          <p:cNvSpPr/>
          <p:nvPr/>
        </p:nvSpPr>
        <p:spPr>
          <a:xfrm>
            <a:off x="6721606" y="1674917"/>
            <a:ext cx="1317565" cy="343501"/>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rgbClr val="7F5F00"/>
                </a:solidFill>
                <a:latin typeface="맑은 고딕"/>
                <a:ea typeface="맑은 고딕"/>
              </a:rPr>
              <a:t>Decision Scheduler</a:t>
            </a:r>
          </a:p>
          <a:p>
            <a:pPr algn="ctr">
              <a:lnSpc>
                <a:spcPct val="125000"/>
              </a:lnSpc>
            </a:pP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주기</a:t>
            </a:r>
            <a:r>
              <a:rPr sz="650" b="0" i="0" dirty="0">
                <a:solidFill>
                  <a:srgbClr val="7F5F00"/>
                </a:solidFill>
                <a:latin typeface="맑은 고딕"/>
                <a:ea typeface="맑은 고딕"/>
              </a:rPr>
              <a:t> </a:t>
            </a:r>
            <a:r>
              <a:rPr lang="ko-KR" altLang="en-US" sz="650" b="0" i="0" dirty="0">
                <a:solidFill>
                  <a:srgbClr val="7F5F00"/>
                </a:solidFill>
                <a:latin typeface="맑은 고딕"/>
                <a:ea typeface="맑은 고딕"/>
              </a:rPr>
              <a:t>독립 </a:t>
            </a:r>
            <a:r>
              <a:rPr sz="650" b="0" i="0" dirty="0" err="1">
                <a:solidFill>
                  <a:srgbClr val="7F5F00"/>
                </a:solidFill>
                <a:latin typeface="맑은 고딕"/>
                <a:ea typeface="맑은 고딕"/>
              </a:rPr>
              <a:t>보유</a:t>
            </a:r>
            <a:endParaRPr sz="650" b="0" i="0" dirty="0">
              <a:solidFill>
                <a:srgbClr val="7F5F00"/>
              </a:solidFill>
              <a:latin typeface="맑은 고딕"/>
              <a:ea typeface="맑은 고딕"/>
            </a:endParaRPr>
          </a:p>
        </p:txBody>
      </p:sp>
      <p:sp>
        <p:nvSpPr>
          <p:cNvPr id="115" name="Rectangle 74"/>
          <p:cNvSpPr/>
          <p:nvPr/>
        </p:nvSpPr>
        <p:spPr>
          <a:xfrm>
            <a:off x="8197115" y="1752531"/>
            <a:ext cx="951807" cy="343501"/>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Trend Analyzer</a:t>
            </a:r>
          </a:p>
          <a:p>
            <a:pPr algn="ctr">
              <a:lnSpc>
                <a:spcPct val="125000"/>
              </a:lnSpc>
            </a:pPr>
            <a:r>
              <a:rPr sz="680" b="0" i="0" dirty="0" err="1">
                <a:solidFill>
                  <a:schemeClr val="tx1"/>
                </a:solidFill>
                <a:latin typeface="맑은 고딕"/>
                <a:ea typeface="맑은 고딕"/>
              </a:rPr>
              <a:t>자원</a:t>
            </a:r>
            <a:r>
              <a:rPr sz="680" b="0" i="0" dirty="0">
                <a:solidFill>
                  <a:schemeClr val="tx1"/>
                </a:solidFill>
                <a:latin typeface="맑은 고딕"/>
                <a:ea typeface="맑은 고딕"/>
              </a:rPr>
              <a:t> </a:t>
            </a:r>
            <a:r>
              <a:rPr sz="680" b="0" i="0" dirty="0" err="1">
                <a:solidFill>
                  <a:schemeClr val="tx1"/>
                </a:solidFill>
                <a:latin typeface="맑은 고딕"/>
                <a:ea typeface="맑은 고딕"/>
              </a:rPr>
              <a:t>추세</a:t>
            </a:r>
            <a:r>
              <a:rPr sz="680" b="0" i="0" dirty="0">
                <a:solidFill>
                  <a:schemeClr val="tx1"/>
                </a:solidFill>
                <a:latin typeface="맑은 고딕"/>
                <a:ea typeface="맑은 고딕"/>
              </a:rPr>
              <a:t> </a:t>
            </a:r>
            <a:r>
              <a:rPr sz="680" b="0" i="0" dirty="0" err="1">
                <a:solidFill>
                  <a:schemeClr val="tx1"/>
                </a:solidFill>
                <a:latin typeface="맑은 고딕"/>
                <a:ea typeface="맑은 고딕"/>
              </a:rPr>
              <a:t>판단</a:t>
            </a:r>
            <a:endParaRPr sz="680" b="0" i="0" dirty="0">
              <a:solidFill>
                <a:schemeClr val="tx1"/>
              </a:solidFill>
              <a:latin typeface="맑은 고딕"/>
              <a:ea typeface="맑은 고딕"/>
            </a:endParaRPr>
          </a:p>
        </p:txBody>
      </p:sp>
      <p:sp>
        <p:nvSpPr>
          <p:cNvPr id="116" name="Rectangle 75"/>
          <p:cNvSpPr/>
          <p:nvPr/>
        </p:nvSpPr>
        <p:spPr>
          <a:xfrm>
            <a:off x="9281927" y="1752531"/>
            <a:ext cx="1163782" cy="343501"/>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a:solidFill>
                  <a:schemeClr val="tx1"/>
                </a:solidFill>
                <a:latin typeface="맑은 고딕"/>
                <a:ea typeface="맑은 고딕"/>
              </a:rPr>
              <a:t>Affinity Mapper</a:t>
            </a:r>
          </a:p>
          <a:p>
            <a:pPr algn="ctr">
              <a:lnSpc>
                <a:spcPct val="125000"/>
              </a:lnSpc>
            </a:pPr>
            <a:r>
              <a:rPr sz="680" b="0" i="0">
                <a:solidFill>
                  <a:schemeClr val="tx1"/>
                </a:solidFill>
                <a:latin typeface="맑은 고딕"/>
                <a:ea typeface="맑은 고딕"/>
              </a:rPr>
              <a:t>데이터·메모리 적합도</a:t>
            </a:r>
          </a:p>
        </p:txBody>
      </p:sp>
      <p:sp>
        <p:nvSpPr>
          <p:cNvPr id="117" name="Rectangle 76"/>
          <p:cNvSpPr/>
          <p:nvPr/>
        </p:nvSpPr>
        <p:spPr>
          <a:xfrm>
            <a:off x="10578712" y="1667809"/>
            <a:ext cx="1163782" cy="647283"/>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t"/>
          <a:lstStyle/>
          <a:p>
            <a:pPr algn="ctr">
              <a:lnSpc>
                <a:spcPct val="125000"/>
              </a:lnSpc>
            </a:pPr>
            <a:r>
              <a:rPr sz="850" b="1" i="0" dirty="0">
                <a:solidFill>
                  <a:schemeClr val="tx1"/>
                </a:solidFill>
                <a:latin typeface="맑은 고딕"/>
                <a:ea typeface="맑은 고딕"/>
              </a:rPr>
              <a:t>Policy Engine</a:t>
            </a:r>
          </a:p>
          <a:p>
            <a:pPr algn="ctr">
              <a:lnSpc>
                <a:spcPct val="125000"/>
              </a:lnSpc>
            </a:pPr>
            <a:r>
              <a:rPr sz="680" b="0" i="0" dirty="0" err="1">
                <a:solidFill>
                  <a:schemeClr val="tx1"/>
                </a:solidFill>
                <a:latin typeface="맑은 고딕"/>
                <a:ea typeface="맑은 고딕"/>
              </a:rPr>
              <a:t>이동</a:t>
            </a:r>
            <a:r>
              <a:rPr sz="680" b="0" i="0" dirty="0">
                <a:solidFill>
                  <a:schemeClr val="tx1"/>
                </a:solidFill>
                <a:latin typeface="맑은 고딕"/>
                <a:ea typeface="맑은 고딕"/>
              </a:rPr>
              <a:t> </a:t>
            </a:r>
            <a:r>
              <a:rPr sz="680" b="0" i="0" dirty="0" err="1">
                <a:solidFill>
                  <a:schemeClr val="tx1"/>
                </a:solidFill>
                <a:latin typeface="맑은 고딕"/>
                <a:ea typeface="맑은 고딕"/>
              </a:rPr>
              <a:t>명령</a:t>
            </a:r>
            <a:r>
              <a:rPr sz="680" b="0" i="0" dirty="0">
                <a:solidFill>
                  <a:schemeClr val="tx1"/>
                </a:solidFill>
                <a:latin typeface="맑은 고딕"/>
                <a:ea typeface="맑은 고딕"/>
              </a:rPr>
              <a:t> </a:t>
            </a:r>
            <a:r>
              <a:rPr sz="680" b="0" i="0" dirty="0" err="1">
                <a:solidFill>
                  <a:schemeClr val="tx1"/>
                </a:solidFill>
                <a:latin typeface="맑은 고딕"/>
                <a:ea typeface="맑은 고딕"/>
              </a:rPr>
              <a:t>확정</a:t>
            </a:r>
            <a:endParaRPr sz="680" b="0" i="0" dirty="0">
              <a:solidFill>
                <a:schemeClr val="tx1"/>
              </a:solidFill>
              <a:latin typeface="맑은 고딕"/>
              <a:ea typeface="맑은 고딕"/>
            </a:endParaRPr>
          </a:p>
        </p:txBody>
      </p:sp>
      <p:cxnSp>
        <p:nvCxnSpPr>
          <p:cNvPr id="118" name="Connector 77"/>
          <p:cNvCxnSpPr/>
          <p:nvPr/>
        </p:nvCxnSpPr>
        <p:spPr>
          <a:xfrm>
            <a:off x="8047485" y="1924281"/>
            <a:ext cx="149630"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79"/>
          <p:cNvCxnSpPr/>
          <p:nvPr/>
        </p:nvCxnSpPr>
        <p:spPr>
          <a:xfrm>
            <a:off x="9148923" y="1924281"/>
            <a:ext cx="1330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80"/>
          <p:cNvCxnSpPr/>
          <p:nvPr/>
        </p:nvCxnSpPr>
        <p:spPr>
          <a:xfrm>
            <a:off x="10445709" y="1924281"/>
            <a:ext cx="1330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ectangle 81"/>
          <p:cNvSpPr/>
          <p:nvPr/>
        </p:nvSpPr>
        <p:spPr>
          <a:xfrm>
            <a:off x="6621854" y="2662564"/>
            <a:ext cx="2527069" cy="1225296"/>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2" name="TextBox 121"/>
          <p:cNvSpPr txBox="1"/>
          <p:nvPr/>
        </p:nvSpPr>
        <p:spPr>
          <a:xfrm>
            <a:off x="6621854" y="2699140"/>
            <a:ext cx="2527069"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123" name="Rectangle 83"/>
          <p:cNvSpPr/>
          <p:nvPr/>
        </p:nvSpPr>
        <p:spPr>
          <a:xfrm>
            <a:off x="6721607" y="2882020"/>
            <a:ext cx="2327564"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State Snapshot Builder</a:t>
            </a:r>
          </a:p>
          <a:p>
            <a:pPr algn="ctr">
              <a:lnSpc>
                <a:spcPct val="125000"/>
              </a:lnSpc>
            </a:pPr>
            <a:r>
              <a:rPr sz="650" b="0" i="0">
                <a:solidFill>
                  <a:srgbClr val="7F5F00"/>
                </a:solidFill>
                <a:latin typeface="맑은 고딕"/>
                <a:ea typeface="맑은 고딕"/>
              </a:rPr>
              <a:t>일관 복사본 생성 · object 수 비례 비용</a:t>
            </a:r>
          </a:p>
        </p:txBody>
      </p:sp>
      <p:sp>
        <p:nvSpPr>
          <p:cNvPr id="124" name="Rectangle 84"/>
          <p:cNvSpPr/>
          <p:nvPr/>
        </p:nvSpPr>
        <p:spPr>
          <a:xfrm>
            <a:off x="6721607" y="3211204"/>
            <a:ext cx="111390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125" name="Rectangle 85"/>
          <p:cNvSpPr/>
          <p:nvPr/>
        </p:nvSpPr>
        <p:spPr>
          <a:xfrm>
            <a:off x="7935265" y="3211204"/>
            <a:ext cx="111390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126" name="Rectangle 86"/>
          <p:cNvSpPr/>
          <p:nvPr/>
        </p:nvSpPr>
        <p:spPr>
          <a:xfrm>
            <a:off x="6721607" y="3522098"/>
            <a:ext cx="2327564" cy="347473"/>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t"/>
          <a:lstStyle/>
          <a:p>
            <a:pPr algn="ctr">
              <a:lnSpc>
                <a:spcPct val="95000"/>
              </a:lnSpc>
            </a:pPr>
            <a:r>
              <a:rPr sz="800" b="0" i="0" dirty="0" err="1">
                <a:solidFill>
                  <a:srgbClr val="404040"/>
                </a:solidFill>
                <a:latin typeface="맑은 고딕"/>
                <a:ea typeface="맑은 고딕"/>
              </a:rPr>
              <a:t>Memory·Data</a:t>
            </a:r>
            <a:r>
              <a:rPr sz="800" b="0" i="0" dirty="0">
                <a:solidFill>
                  <a:srgbClr val="404040"/>
                </a:solidFill>
                <a:latin typeface="맑은 고딕"/>
                <a:ea typeface="맑은 고딕"/>
              </a:rPr>
              <a:t> Object Registry</a:t>
            </a:r>
            <a:endParaRPr lang="en-US" sz="800" b="0" i="0" dirty="0">
              <a:solidFill>
                <a:srgbClr val="404040"/>
              </a:solidFill>
              <a:latin typeface="맑은 고딕"/>
              <a:ea typeface="맑은 고딕"/>
            </a:endParaRPr>
          </a:p>
          <a:p>
            <a:pPr algn="ctr">
              <a:lnSpc>
                <a:spcPct val="95000"/>
              </a:lnSpc>
            </a:pPr>
            <a:endParaRPr sz="800" b="0" i="0" dirty="0">
              <a:solidFill>
                <a:srgbClr val="404040"/>
              </a:solidFill>
              <a:latin typeface="맑은 고딕"/>
              <a:ea typeface="맑은 고딕"/>
            </a:endParaRPr>
          </a:p>
        </p:txBody>
      </p:sp>
      <p:cxnSp>
        <p:nvCxnSpPr>
          <p:cNvPr id="127" name="Connector 87"/>
          <p:cNvCxnSpPr/>
          <p:nvPr/>
        </p:nvCxnSpPr>
        <p:spPr>
          <a:xfrm flipV="1">
            <a:off x="7278559" y="3156340"/>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Connector 88"/>
          <p:cNvCxnSpPr/>
          <p:nvPr/>
        </p:nvCxnSpPr>
        <p:spPr>
          <a:xfrm flipV="1">
            <a:off x="8492218" y="3156340"/>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9" name="Connector 89"/>
          <p:cNvCxnSpPr/>
          <p:nvPr/>
        </p:nvCxnSpPr>
        <p:spPr>
          <a:xfrm flipV="1">
            <a:off x="7885389" y="3156340"/>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Rectangle 109"/>
          <p:cNvSpPr/>
          <p:nvPr/>
        </p:nvSpPr>
        <p:spPr>
          <a:xfrm>
            <a:off x="6621854" y="4052452"/>
            <a:ext cx="5128953"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sp>
        <p:nvSpPr>
          <p:cNvPr id="131" name="KV Cache Manager">
            <a:extLst>
              <a:ext uri="{FF2B5EF4-FFF2-40B4-BE49-F238E27FC236}">
                <a16:creationId xmlns:a16="http://schemas.microsoft.com/office/drawing/2014/main" id="{B18B6AEF-CA0B-409D-820C-810CFB582295}"/>
              </a:ext>
            </a:extLst>
          </p:cNvPr>
          <p:cNvSpPr/>
          <p:nvPr/>
        </p:nvSpPr>
        <p:spPr>
          <a:xfrm>
            <a:off x="6841608" y="2175624"/>
            <a:ext cx="960355" cy="206575"/>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Lease</a:t>
            </a:r>
            <a:r>
              <a:rPr lang="ko-KR" altLang="en-US" sz="900" b="1" dirty="0">
                <a:solidFill>
                  <a:schemeClr val="tx1"/>
                </a:solidFill>
              </a:rPr>
              <a:t> </a:t>
            </a:r>
            <a:r>
              <a:rPr lang="en-US" altLang="ko-KR" sz="900" b="1" dirty="0">
                <a:solidFill>
                  <a:schemeClr val="tx1"/>
                </a:solidFill>
              </a:rPr>
              <a:t>Timer</a:t>
            </a:r>
            <a:endParaRPr lang="ko-KR" altLang="en-US" sz="900" b="1" dirty="0">
              <a:solidFill>
                <a:schemeClr val="tx1"/>
              </a:solidFill>
            </a:endParaRPr>
          </a:p>
        </p:txBody>
      </p:sp>
      <p:sp>
        <p:nvSpPr>
          <p:cNvPr id="132" name="KV Cache Manager">
            <a:extLst>
              <a:ext uri="{FF2B5EF4-FFF2-40B4-BE49-F238E27FC236}">
                <a16:creationId xmlns:a16="http://schemas.microsoft.com/office/drawing/2014/main" id="{0AC675B6-EBCF-4411-982A-606F1B39DD1C}"/>
              </a:ext>
            </a:extLst>
          </p:cNvPr>
          <p:cNvSpPr/>
          <p:nvPr/>
        </p:nvSpPr>
        <p:spPr>
          <a:xfrm>
            <a:off x="10637394" y="2014610"/>
            <a:ext cx="1056391" cy="261419"/>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HBM Lease Granter</a:t>
            </a:r>
            <a:endParaRPr lang="ko-KR" altLang="en-US" sz="900" b="1" dirty="0">
              <a:solidFill>
                <a:schemeClr val="tx1"/>
              </a:solidFill>
            </a:endParaRPr>
          </a:p>
        </p:txBody>
      </p:sp>
      <p:cxnSp>
        <p:nvCxnSpPr>
          <p:cNvPr id="133" name="① Event">
            <a:extLst>
              <a:ext uri="{FF2B5EF4-FFF2-40B4-BE49-F238E27FC236}">
                <a16:creationId xmlns:a16="http://schemas.microsoft.com/office/drawing/2014/main" id="{AA6A60D7-3F4D-4197-A43E-5FBE2A7B70E4}"/>
              </a:ext>
            </a:extLst>
          </p:cNvPr>
          <p:cNvCxnSpPr>
            <a:cxnSpLocks/>
            <a:stCxn id="132" idx="1"/>
            <a:endCxn id="131" idx="3"/>
          </p:cNvCxnSpPr>
          <p:nvPr/>
        </p:nvCxnSpPr>
        <p:spPr>
          <a:xfrm rot="10800000" flipV="1">
            <a:off x="7801964" y="2145320"/>
            <a:ext cx="2835431" cy="133592"/>
          </a:xfrm>
          <a:prstGeom prst="bentConnector3">
            <a:avLst>
              <a:gd name="adj1" fmla="val 50000"/>
            </a:avLst>
          </a:prstGeom>
          <a:ln w="9525">
            <a:solidFill>
              <a:srgbClr val="FF0000"/>
            </a:solidFill>
            <a:prstDash val="dash"/>
            <a:tailEnd type="arrow"/>
          </a:ln>
        </p:spPr>
      </p:cxnSp>
      <p:cxnSp>
        <p:nvCxnSpPr>
          <p:cNvPr id="134" name="① Event">
            <a:extLst>
              <a:ext uri="{FF2B5EF4-FFF2-40B4-BE49-F238E27FC236}">
                <a16:creationId xmlns:a16="http://schemas.microsoft.com/office/drawing/2014/main" id="{393EDD8C-32BA-4528-8222-186C12CC2266}"/>
              </a:ext>
            </a:extLst>
          </p:cNvPr>
          <p:cNvCxnSpPr>
            <a:cxnSpLocks/>
            <a:endCxn id="135" idx="3"/>
          </p:cNvCxnSpPr>
          <p:nvPr/>
        </p:nvCxnSpPr>
        <p:spPr>
          <a:xfrm rot="10800000" flipV="1">
            <a:off x="8436224" y="2138122"/>
            <a:ext cx="2201179" cy="1633875"/>
          </a:xfrm>
          <a:prstGeom prst="bentConnector3">
            <a:avLst>
              <a:gd name="adj1" fmla="val 64713"/>
            </a:avLst>
          </a:prstGeom>
          <a:ln w="9525">
            <a:solidFill>
              <a:srgbClr val="FF0000"/>
            </a:solidFill>
            <a:prstDash val="dash"/>
            <a:tailEnd type="arrow"/>
          </a:ln>
        </p:spPr>
      </p:cxnSp>
      <p:sp>
        <p:nvSpPr>
          <p:cNvPr id="135" name="KV Cache Manager">
            <a:extLst>
              <a:ext uri="{FF2B5EF4-FFF2-40B4-BE49-F238E27FC236}">
                <a16:creationId xmlns:a16="http://schemas.microsoft.com/office/drawing/2014/main" id="{B18B6AEF-CA0B-409D-820C-810CFB582295}"/>
              </a:ext>
            </a:extLst>
          </p:cNvPr>
          <p:cNvSpPr/>
          <p:nvPr/>
        </p:nvSpPr>
        <p:spPr>
          <a:xfrm>
            <a:off x="7475868" y="3686636"/>
            <a:ext cx="960355" cy="170723"/>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Metadata</a:t>
            </a:r>
            <a:endParaRPr lang="ko-KR" altLang="en-US" sz="900" b="1" dirty="0">
              <a:solidFill>
                <a:schemeClr val="tx1"/>
              </a:solidFill>
            </a:endParaRPr>
          </a:p>
        </p:txBody>
      </p:sp>
      <p:cxnSp>
        <p:nvCxnSpPr>
          <p:cNvPr id="136" name="① Event">
            <a:extLst>
              <a:ext uri="{FF2B5EF4-FFF2-40B4-BE49-F238E27FC236}">
                <a16:creationId xmlns:a16="http://schemas.microsoft.com/office/drawing/2014/main" id="{4612F9B8-78D5-4DE5-B2DC-45A405916D8A}"/>
              </a:ext>
            </a:extLst>
          </p:cNvPr>
          <p:cNvCxnSpPr>
            <a:cxnSpLocks/>
          </p:cNvCxnSpPr>
          <p:nvPr/>
        </p:nvCxnSpPr>
        <p:spPr>
          <a:xfrm flipH="1" flipV="1">
            <a:off x="7014297" y="2018259"/>
            <a:ext cx="2453" cy="166391"/>
          </a:xfrm>
          <a:prstGeom prst="straightConnector1">
            <a:avLst/>
          </a:prstGeom>
          <a:ln w="9525">
            <a:solidFill>
              <a:srgbClr val="FF0000"/>
            </a:solidFill>
            <a:prstDash val="dash"/>
            <a:tailEnd type="arrow"/>
          </a:ln>
        </p:spPr>
      </p:cxnSp>
      <p:sp>
        <p:nvSpPr>
          <p:cNvPr id="137" name="직사각형 136">
            <a:extLst>
              <a:ext uri="{FF2B5EF4-FFF2-40B4-BE49-F238E27FC236}">
                <a16:creationId xmlns:a16="http://schemas.microsoft.com/office/drawing/2014/main" id="{3471A210-CDF4-4BA3-84BD-F653298D9DEF}"/>
              </a:ext>
            </a:extLst>
          </p:cNvPr>
          <p:cNvSpPr/>
          <p:nvPr/>
        </p:nvSpPr>
        <p:spPr>
          <a:xfrm>
            <a:off x="7012988" y="2004682"/>
            <a:ext cx="1042191" cy="200055"/>
          </a:xfrm>
          <a:prstGeom prst="rect">
            <a:avLst/>
          </a:prstGeom>
          <a:noFill/>
          <a:ln w="12700">
            <a:noFill/>
            <a:prstDash val="dash"/>
          </a:ln>
        </p:spPr>
        <p:txBody>
          <a:bodyPr rtlCol="0" anchor="ctr"/>
          <a:lstStyle/>
          <a:p>
            <a:r>
              <a:rPr lang="en-US" altLang="ko-KR" sz="700" dirty="0">
                <a:solidFill>
                  <a:srgbClr val="FF0000"/>
                </a:solidFill>
              </a:rPr>
              <a:t>Event (Lease Expired)</a:t>
            </a:r>
          </a:p>
        </p:txBody>
      </p:sp>
      <p:grpSp>
        <p:nvGrpSpPr>
          <p:cNvPr id="138" name="그룹 137">
            <a:extLst>
              <a:ext uri="{FF2B5EF4-FFF2-40B4-BE49-F238E27FC236}">
                <a16:creationId xmlns:a16="http://schemas.microsoft.com/office/drawing/2014/main" id="{83407551-4922-4346-9CDE-2770BEA53886}"/>
              </a:ext>
            </a:extLst>
          </p:cNvPr>
          <p:cNvGrpSpPr/>
          <p:nvPr/>
        </p:nvGrpSpPr>
        <p:grpSpPr>
          <a:xfrm>
            <a:off x="10877540" y="3314931"/>
            <a:ext cx="886133" cy="491780"/>
            <a:chOff x="11056831" y="3583489"/>
            <a:chExt cx="886133" cy="491780"/>
          </a:xfrm>
        </p:grpSpPr>
        <p:sp>
          <p:nvSpPr>
            <p:cNvPr id="139" name="KV Cache Manager">
              <a:extLst>
                <a:ext uri="{FF2B5EF4-FFF2-40B4-BE49-F238E27FC236}">
                  <a16:creationId xmlns:a16="http://schemas.microsoft.com/office/drawing/2014/main" id="{98E078A6-320E-4FDE-982D-DB32947602AA}"/>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140" name="직사각형 139">
              <a:extLst>
                <a:ext uri="{FF2B5EF4-FFF2-40B4-BE49-F238E27FC236}">
                  <a16:creationId xmlns:a16="http://schemas.microsoft.com/office/drawing/2014/main" id="{0B9F48D5-E468-4CDF-978E-9BCF5DF01EFF}"/>
                </a:ext>
              </a:extLst>
            </p:cNvPr>
            <p:cNvSpPr/>
            <p:nvPr/>
          </p:nvSpPr>
          <p:spPr>
            <a:xfrm>
              <a:off x="11056831" y="3583489"/>
              <a:ext cx="886133" cy="491780"/>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cxnSp>
        <p:nvCxnSpPr>
          <p:cNvPr id="141" name="Connector 91"/>
          <p:cNvCxnSpPr/>
          <p:nvPr/>
        </p:nvCxnSpPr>
        <p:spPr>
          <a:xfrm flipV="1">
            <a:off x="8721012" y="2111395"/>
            <a:ext cx="0" cy="731623"/>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6" name="직사각형 105">
            <a:extLst>
              <a:ext uri="{FF2B5EF4-FFF2-40B4-BE49-F238E27FC236}">
                <a16:creationId xmlns:a16="http://schemas.microsoft.com/office/drawing/2014/main" id="{6E2B7273-A609-42E8-9B1D-ED211C704AFC}"/>
              </a:ext>
            </a:extLst>
          </p:cNvPr>
          <p:cNvSpPr/>
          <p:nvPr/>
        </p:nvSpPr>
        <p:spPr>
          <a:xfrm>
            <a:off x="6584187" y="1044054"/>
            <a:ext cx="5510377" cy="581394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모서리가 둥근 직사각형 106"/>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148"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149"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5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5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52"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53"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err="1">
                <a:latin typeface="맑은 고딕" panose="020B0503020000020004" pitchFamily="50" charset="-127"/>
              </a:rPr>
              <a:t>변경용이성</a:t>
            </a:r>
            <a:endParaRPr lang="ko-KR" altLang="en-US" sz="700" dirty="0">
              <a:latin typeface="맑은 고딕" panose="020B0503020000020004" pitchFamily="50" charset="-127"/>
            </a:endParaRPr>
          </a:p>
        </p:txBody>
      </p:sp>
      <p:sp>
        <p:nvSpPr>
          <p:cNvPr id="154" name="모서리가 둥근 직사각형 153"/>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grpSp>
        <p:nvGrpSpPr>
          <p:cNvPr id="155" name="그룹 154"/>
          <p:cNvGrpSpPr/>
          <p:nvPr/>
        </p:nvGrpSpPr>
        <p:grpSpPr>
          <a:xfrm>
            <a:off x="311665" y="3341561"/>
            <a:ext cx="768096" cy="1115568"/>
            <a:chOff x="292545" y="3435232"/>
            <a:chExt cx="768096" cy="1115568"/>
          </a:xfrm>
        </p:grpSpPr>
        <p:sp>
          <p:nvSpPr>
            <p:cNvPr id="156"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7" name="TextBox 156"/>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158"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159"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160"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161"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
        <p:nvSpPr>
          <p:cNvPr id="93" name="실행 단추: 앞으로 또는 다음 101">
            <a:hlinkClick r:id="rId3" action="ppaction://hlinksldjump" highlightClick="1"/>
            <a:extLst>
              <a:ext uri="{FF2B5EF4-FFF2-40B4-BE49-F238E27FC236}">
                <a16:creationId xmlns:a16="http://schemas.microsoft.com/office/drawing/2014/main" id="{D8073DBD-B7B0-4835-9411-B26440E3603B}"/>
              </a:ext>
            </a:extLst>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실행 단추: 앞으로 또는 다음 91">
            <a:hlinkClick r:id="rId4" action="ppaction://hlinksldjump" highlightClick="1"/>
          </p:cNvPr>
          <p:cNvSpPr/>
          <p:nvPr/>
        </p:nvSpPr>
        <p:spPr>
          <a:xfrm>
            <a:off x="6236437"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110013648"/>
      </p:ext>
    </p:extLst>
  </p:cSld>
  <p:clrMapOvr>
    <a:masterClrMapping/>
  </p:clrMapOvr>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dirty="0"/>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800" b="1" dirty="0" smtClean="0">
                <a:solidFill>
                  <a:prstClr val="black"/>
                </a:solidFill>
                <a:latin typeface="맑은 고딕" panose="020F0502020204030204"/>
                <a:ea typeface="맑은 고딕" panose="020B0503020000020004" pitchFamily="50" charset="-127"/>
              </a:rPr>
              <a:t>설계</a:t>
            </a:r>
            <a:r>
              <a:rPr kumimoji="0" lang="en-US" altLang="ko-KR" sz="8800" b="1"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–DP2 Appendix</a:t>
            </a:r>
            <a:endPar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3197512085"/>
      </p:ext>
    </p:extLst>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304992" y="1061955"/>
          <a:ext cx="11759184" cy="551439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2893884">
                  <a:extLst>
                    <a:ext uri="{9D8B030D-6E8A-4147-A177-3AD203B41FA5}">
                      <a16:colId xmlns:a16="http://schemas.microsoft.com/office/drawing/2014/main" val="5654497"/>
                    </a:ext>
                  </a:extLst>
                </a:gridCol>
                <a:gridCol w="2546796">
                  <a:extLst>
                    <a:ext uri="{9D8B030D-6E8A-4147-A177-3AD203B41FA5}">
                      <a16:colId xmlns:a16="http://schemas.microsoft.com/office/drawing/2014/main" val="2953438935"/>
                    </a:ext>
                  </a:extLst>
                </a:gridCol>
                <a:gridCol w="3196779">
                  <a:extLst>
                    <a:ext uri="{9D8B030D-6E8A-4147-A177-3AD203B41FA5}">
                      <a16:colId xmlns:a16="http://schemas.microsoft.com/office/drawing/2014/main" val="3070054508"/>
                    </a:ext>
                  </a:extLst>
                </a:gridCol>
                <a:gridCol w="2243901">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(Plan + Decision</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동시 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(Plan, Decision </a:t>
                      </a:r>
                      <a:r>
                        <a:rPr lang="ko-KR" altLang="en-US" sz="1050" b="1" kern="1200" baseline="0" dirty="0">
                          <a:solidFill>
                            <a:schemeClr val="bg1">
                              <a:lumMod val="50000"/>
                            </a:schemeClr>
                          </a:solidFill>
                          <a:latin typeface="+mn-lt"/>
                          <a:ea typeface="+mn-ea"/>
                          <a:cs typeface="+mn-cs"/>
                        </a:rPr>
                        <a:t>분리 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실시간 부하</a:t>
                      </a:r>
                      <a:r>
                        <a:rPr lang="en-US" altLang="ko-KR" sz="1200" strike="noStrike" dirty="0">
                          <a:solidFill>
                            <a:schemeClr val="tx1"/>
                          </a:solidFill>
                          <a:effectLst/>
                          <a:latin typeface="맑은 고딕" panose="020B0503020000020004" pitchFamily="50" charset="-127"/>
                          <a:ea typeface="+mn-ea"/>
                        </a:rPr>
                        <a:t>∙</a:t>
                      </a:r>
                      <a:r>
                        <a:rPr lang="ko-KR" altLang="en-US" sz="1200" strike="noStrike" kern="1200" baseline="0" dirty="0">
                          <a:solidFill>
                            <a:schemeClr val="tx1"/>
                          </a:solidFill>
                          <a:effectLst/>
                          <a:latin typeface="+mn-lt"/>
                          <a:ea typeface="+mn-ea"/>
                          <a:cs typeface="+mn-cs"/>
                        </a:rPr>
                        <a:t>리소스 상태를 반영하여 메모리 압력에 대응하기 유리 </a:t>
                      </a:r>
                      <a:r>
                        <a:rPr lang="en-US" altLang="ko-KR" sz="1200" strike="noStrike" kern="1200" baseline="0" dirty="0">
                          <a:solidFill>
                            <a:schemeClr val="tx1"/>
                          </a:solidFill>
                          <a:effectLst/>
                          <a:latin typeface="+mn-lt"/>
                          <a:ea typeface="+mn-ea"/>
                          <a:cs typeface="+mn-cs"/>
                        </a:rPr>
                        <a:t>(Q2)</a:t>
                      </a:r>
                      <a:endParaRPr lang="ko-KR" altLang="en-US"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계획 확정 후 즉시 실행하여</a:t>
                      </a:r>
                      <a:r>
                        <a:rPr lang="en-US" altLang="ko-KR" sz="1200" strike="noStrike" kern="1200" baseline="0" dirty="0">
                          <a:solidFill>
                            <a:schemeClr val="tx1"/>
                          </a:solidFill>
                          <a:effectLst/>
                          <a:latin typeface="+mn-lt"/>
                          <a:ea typeface="+mn-ea"/>
                          <a:cs typeface="+mn-cs"/>
                        </a:rPr>
                        <a:t> tail latency </a:t>
                      </a:r>
                      <a:r>
                        <a:rPr lang="ko-KR" altLang="en-US" sz="1200" strike="noStrike" kern="1200" baseline="0" dirty="0">
                          <a:solidFill>
                            <a:schemeClr val="tx1"/>
                          </a:solidFill>
                          <a:effectLst/>
                          <a:latin typeface="+mn-lt"/>
                          <a:ea typeface="+mn-ea"/>
                          <a:cs typeface="+mn-cs"/>
                        </a:rPr>
                        <a:t>완화 </a:t>
                      </a:r>
                      <a:r>
                        <a:rPr lang="en-US" altLang="ko-KR" sz="1200" strike="noStrike" kern="1200" baseline="0" dirty="0">
                          <a:solidFill>
                            <a:schemeClr val="tx1"/>
                          </a:solidFill>
                          <a:effectLst/>
                          <a:latin typeface="+mn-lt"/>
                          <a:ea typeface="+mn-ea"/>
                          <a:cs typeface="+mn-cs"/>
                        </a:rPr>
                        <a:t>(Q3)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연산 위치 결정을 </a:t>
                      </a:r>
                      <a:r>
                        <a:rPr lang="en-US" altLang="ko-KR" sz="1200" strike="noStrike" dirty="0">
                          <a:solidFill>
                            <a:schemeClr val="tx1"/>
                          </a:solidFill>
                          <a:effectLst/>
                        </a:rPr>
                        <a:t>critical path </a:t>
                      </a:r>
                      <a:r>
                        <a:rPr lang="ko-KR" altLang="en-US" sz="1200" strike="noStrike" dirty="0">
                          <a:solidFill>
                            <a:schemeClr val="tx1"/>
                          </a:solidFill>
                          <a:effectLst/>
                        </a:rPr>
                        <a:t>밖으로 분리하여 </a:t>
                      </a:r>
                      <a:r>
                        <a:rPr lang="en-US" altLang="ko-KR" sz="1200" strike="noStrike" dirty="0">
                          <a:solidFill>
                            <a:schemeClr val="tx1"/>
                          </a:solidFill>
                          <a:effectLst/>
                        </a:rPr>
                        <a:t>latency </a:t>
                      </a:r>
                      <a:r>
                        <a:rPr lang="ko-KR" altLang="en-US" sz="1200" strike="noStrike" dirty="0">
                          <a:solidFill>
                            <a:schemeClr val="tx1"/>
                          </a:solidFill>
                          <a:effectLst/>
                        </a:rPr>
                        <a:t>절감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연산 자원 증가 시 계획 </a:t>
                      </a:r>
                      <a:r>
                        <a:rPr lang="en-US" altLang="ko-KR" sz="1200" strike="noStrike" dirty="0">
                          <a:solidFill>
                            <a:schemeClr val="tx1"/>
                          </a:solidFill>
                          <a:effectLst/>
                        </a:rPr>
                        <a:t>worker, batch evaluation </a:t>
                      </a:r>
                      <a:r>
                        <a:rPr lang="ko-KR" altLang="en-US" sz="1200" strike="noStrike" dirty="0">
                          <a:solidFill>
                            <a:schemeClr val="tx1"/>
                          </a:solidFill>
                          <a:effectLst/>
                        </a:rPr>
                        <a:t>등으로 계획 컴포넌트를 독립 확장 가능 </a:t>
                      </a:r>
                      <a:r>
                        <a:rPr lang="en-US" altLang="ko-KR" sz="1200" strike="noStrike" dirty="0">
                          <a:solidFill>
                            <a:schemeClr val="tx1"/>
                          </a:solidFill>
                          <a:effectLst/>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위치에 인한 </a:t>
                      </a:r>
                      <a:r>
                        <a:rPr lang="en-US" altLang="ko-KR" sz="1200" strike="noStrike" baseline="0" dirty="0">
                          <a:solidFill>
                            <a:schemeClr val="tx1"/>
                          </a:solidFill>
                          <a:effectLst/>
                        </a:rPr>
                        <a:t>decision latency</a:t>
                      </a:r>
                      <a:r>
                        <a:rPr lang="ko-KR" altLang="en-US" sz="1200" strike="noStrike" baseline="0" dirty="0">
                          <a:solidFill>
                            <a:schemeClr val="tx1"/>
                          </a:solidFill>
                          <a:effectLst/>
                        </a:rPr>
                        <a:t>가 </a:t>
                      </a:r>
                      <a:r>
                        <a:rPr lang="en-US" altLang="ko-KR" sz="1200" strike="noStrike" baseline="0" dirty="0">
                          <a:solidFill>
                            <a:schemeClr val="tx1"/>
                          </a:solidFill>
                          <a:effectLst/>
                        </a:rPr>
                        <a:t>critical path</a:t>
                      </a:r>
                      <a:r>
                        <a:rPr lang="ko-KR" altLang="en-US" sz="1200" strike="noStrike" baseline="0" dirty="0">
                          <a:solidFill>
                            <a:schemeClr val="tx1"/>
                          </a:solidFill>
                          <a:effectLst/>
                        </a:rPr>
                        <a:t>에 포함 </a:t>
                      </a:r>
                      <a:r>
                        <a:rPr lang="en-US" altLang="ko-KR" sz="1200" strike="noStrike" baseline="0"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자원 종류 증가 시 </a:t>
                      </a:r>
                      <a:r>
                        <a:rPr lang="en-US" altLang="ko-KR" sz="1200" strike="noStrike" baseline="0" dirty="0">
                          <a:solidFill>
                            <a:schemeClr val="tx1"/>
                          </a:solidFill>
                          <a:effectLst/>
                        </a:rPr>
                        <a:t>monitoring </a:t>
                      </a:r>
                      <a:r>
                        <a:rPr lang="ko-KR" altLang="en-US" sz="1200" strike="noStrike" baseline="0" dirty="0">
                          <a:solidFill>
                            <a:schemeClr val="tx1"/>
                          </a:solidFill>
                          <a:effectLst/>
                        </a:rPr>
                        <a:t>비용이 증가 해 스케줄링 병목 위험 </a:t>
                      </a:r>
                      <a:r>
                        <a:rPr lang="en-US" altLang="ko-KR" sz="1200" strike="noStrike" baseline="0" dirty="0">
                          <a:solidFill>
                            <a:schemeClr val="tx1"/>
                          </a:solidFill>
                          <a:effectLst/>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Mismatch</a:t>
                      </a:r>
                      <a:r>
                        <a:rPr lang="ko-KR" altLang="en-US" sz="1200" strike="noStrike" baseline="0" dirty="0">
                          <a:solidFill>
                            <a:schemeClr val="tx1"/>
                          </a:solidFill>
                          <a:effectLst/>
                        </a:rPr>
                        <a:t>로 인한 </a:t>
                      </a:r>
                      <a:r>
                        <a:rPr lang="en-US" altLang="ko-KR" sz="1200" strike="noStrike" baseline="0" dirty="0">
                          <a:solidFill>
                            <a:schemeClr val="tx1"/>
                          </a:solidFill>
                          <a:effectLst/>
                        </a:rPr>
                        <a:t>re-plan </a:t>
                      </a:r>
                      <a:r>
                        <a:rPr lang="ko-KR" altLang="en-US" sz="1200" strike="noStrike" baseline="0" dirty="0">
                          <a:solidFill>
                            <a:schemeClr val="tx1"/>
                          </a:solidFill>
                          <a:effectLst/>
                        </a:rPr>
                        <a:t>발생 시 기존 </a:t>
                      </a:r>
                      <a:r>
                        <a:rPr lang="en-US" altLang="ko-KR" sz="1200" strike="noStrike" baseline="0" dirty="0">
                          <a:solidFill>
                            <a:schemeClr val="tx1"/>
                          </a:solidFill>
                          <a:effectLst/>
                        </a:rPr>
                        <a:t>Execution Planner</a:t>
                      </a:r>
                      <a:r>
                        <a:rPr lang="ko-KR" altLang="en-US" sz="1200" strike="noStrike" baseline="0" dirty="0">
                          <a:solidFill>
                            <a:schemeClr val="tx1"/>
                          </a:solidFill>
                          <a:effectLst/>
                        </a:rPr>
                        <a:t>의 작업 완료 대기로 </a:t>
                      </a:r>
                      <a:r>
                        <a:rPr lang="ko-KR" altLang="en-US" sz="1200" strike="noStrike" baseline="0" dirty="0" err="1">
                          <a:solidFill>
                            <a:schemeClr val="tx1"/>
                          </a:solidFill>
                          <a:effectLst/>
                        </a:rPr>
                        <a:t>재계획</a:t>
                      </a:r>
                      <a:r>
                        <a:rPr lang="ko-KR" altLang="en-US" sz="1200" strike="noStrike" baseline="0" dirty="0">
                          <a:solidFill>
                            <a:schemeClr val="tx1"/>
                          </a:solidFill>
                          <a:effectLst/>
                        </a:rPr>
                        <a:t> 지연 발생 </a:t>
                      </a:r>
                      <a:r>
                        <a:rPr lang="en-US" altLang="ko-KR" sz="1200" strike="noStrike" baseline="0" dirty="0">
                          <a:solidFill>
                            <a:schemeClr val="tx1"/>
                          </a:solidFill>
                          <a:effectLst/>
                        </a:rPr>
                        <a:t>(Q3)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a:t>
                      </a:r>
                      <a:r>
                        <a:rPr lang="en-US" altLang="ko-KR" sz="1200" b="0" strike="noStrike" baseline="0" dirty="0">
                          <a:solidFill>
                            <a:schemeClr val="tx1"/>
                          </a:solidFill>
                        </a:rPr>
                        <a:t> </a:t>
                      </a:r>
                      <a:r>
                        <a:rPr lang="en-US" altLang="ko-KR" sz="1200" b="0" strike="noStrike" dirty="0">
                          <a:solidFill>
                            <a:schemeClr val="tx1"/>
                          </a:solidFill>
                        </a:rPr>
                        <a:t>Resource Efficiency</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chemeClr val="bg1">
                              <a:lumMod val="50000"/>
                            </a:schemeClr>
                          </a:solidFill>
                          <a:effectLst/>
                          <a:uLnTx/>
                          <a:uFillTx/>
                          <a:latin typeface="+mn-lt"/>
                          <a:ea typeface="맑은 고딕"/>
                          <a:cs typeface="+mn-cs"/>
                        </a:rPr>
                        <a:t>3.5→9.85 q/s (2.8x)</a:t>
                      </a:r>
                      <a:endParaRPr lang="en-US" altLang="ko-KR" sz="900" b="0" dirty="0">
                        <a:solidFill>
                          <a:schemeClr val="tx1"/>
                        </a:solidFill>
                        <a:latin typeface="+mn-lt"/>
                        <a:ea typeface="맑은 고딕"/>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a:t>
                      </a:r>
                      <a:r>
                        <a:rPr kumimoji="0" lang="ko-KR" altLang="en-US" sz="900" b="0" i="0" u="none" strike="noStrike" kern="1200" cap="none" spc="0" normalizeH="0" baseline="0" noProof="0" dirty="0">
                          <a:ln>
                            <a:noFill/>
                          </a:ln>
                          <a:solidFill>
                            <a:prstClr val="white">
                              <a:lumMod val="50000"/>
                            </a:prstClr>
                          </a:solidFill>
                          <a:effectLst/>
                          <a:uLnTx/>
                          <a:uFillTx/>
                          <a:latin typeface="+mn-lt"/>
                          <a:ea typeface="맑은 고딕"/>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850→459 GB (-46%)</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1.73→0.79 (-54%)</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chemeClr val="bg1">
                              <a:lumMod val="50000"/>
                            </a:schemeClr>
                          </a:solidFill>
                          <a:effectLst/>
                          <a:uLnTx/>
                          <a:uFillTx/>
                          <a:latin typeface="+mn-lt"/>
                          <a:ea typeface="맑은 고딕"/>
                          <a:cs typeface="+mn-cs"/>
                        </a:rPr>
                        <a:t>94%</a:t>
                      </a:r>
                      <a:endParaRPr lang="en-US" altLang="ko-KR" sz="1400" b="0" dirty="0">
                        <a:solidFill>
                          <a:schemeClr val="bg1">
                            <a:lumMod val="50000"/>
                          </a:schemeClr>
                        </a:solidFill>
                        <a:latin typeface="+mn-lt"/>
                        <a:ea typeface="맑은 고딕"/>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Q2. Resource Efficiency</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3.5→15.4 q/s (4.4x)</a:t>
                      </a:r>
                      <a:endParaRPr lang="en-US" altLang="ko-KR" sz="1100" b="0" dirty="0">
                        <a:solidFill>
                          <a:schemeClr val="tx1"/>
                        </a:solidFill>
                        <a:latin typeface="맑은 고딕" panose="020B0503020000020004" pitchFamily="50" charset="-127"/>
                        <a:ea typeface="+mn-ea"/>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맑은 고딕" panose="020B0503020000020004" pitchFamily="50" charset="-127"/>
                        </a:rPr>
                        <a:t>◐</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 850→536 GB (-37%)</a:t>
                      </a:r>
                      <a:endParaRPr lang="en-US" altLang="ko-KR" sz="1100" b="0" dirty="0">
                        <a:solidFill>
                          <a:schemeClr val="tx1"/>
                        </a:solidFill>
                        <a:latin typeface="맑은 고딕" panose="020B0503020000020004" pitchFamily="50" charset="-127"/>
                        <a:ea typeface="+mn-ea"/>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1.73→1.09 (-37%)</a:t>
                      </a:r>
                      <a:endParaRPr lang="en-US" altLang="ko-KR" sz="1100" b="0" dirty="0">
                        <a:solidFill>
                          <a:schemeClr val="tx1"/>
                        </a:solidFill>
                        <a:latin typeface="맑은 고딕" panose="020B0503020000020004" pitchFamily="50" charset="-127"/>
                        <a:ea typeface="+mn-ea"/>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kumimoji="0" lang="en-US" altLang="ko-KR" sz="1000" b="0" i="0" u="none" strike="noStrike" kern="1200" cap="none" spc="0" normalizeH="0" baseline="0" noProof="0" dirty="0">
                          <a:ln>
                            <a:noFill/>
                          </a:ln>
                          <a:solidFill>
                            <a:prstClr val="white">
                              <a:lumMod val="50000"/>
                            </a:prstClr>
                          </a:solidFill>
                          <a:effectLst/>
                          <a:uLnTx/>
                          <a:uFillTx/>
                          <a:latin typeface="+mn-lt"/>
                          <a:ea typeface="맑은 고딕"/>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97%</a:t>
                      </a:r>
                      <a:endParaRPr kumimoji="0" lang="en-US" altLang="ko-KR" sz="1400" b="0" i="0" u="none" strike="noStrike" kern="1200" cap="none" spc="0" normalizeH="0" baseline="0" noProof="0" dirty="0">
                        <a:ln>
                          <a:noFill/>
                        </a:ln>
                        <a:solidFill>
                          <a:prstClr val="white">
                            <a:lumMod val="50000"/>
                          </a:prstClr>
                        </a:solidFill>
                        <a:effectLst/>
                        <a:uLnTx/>
                        <a:uFillTx/>
                        <a:latin typeface="+mn-lt"/>
                        <a:ea typeface="맑은 고딕"/>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DP2. </a:t>
            </a:r>
            <a:r>
              <a:rPr lang="ko-KR" altLang="en-US" dirty="0"/>
              <a:t>연산</a:t>
            </a:r>
            <a:r>
              <a:rPr lang="en-US" altLang="ko-KR" dirty="0"/>
              <a:t>(Prefill/Decode)</a:t>
            </a:r>
            <a:r>
              <a:rPr lang="ko-KR" altLang="en-US" dirty="0"/>
              <a:t> 실행 위치 결정 시점 최적화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a:t>
            </a:r>
            <a:r>
              <a:rPr lang="en-US" altLang="ko-KR" sz="1400" b="1" dirty="0">
                <a:solidFill>
                  <a:schemeClr val="bg1"/>
                </a:solidFill>
              </a:rPr>
              <a:t>, </a:t>
            </a:r>
            <a:r>
              <a:rPr lang="ko-KR" altLang="en-US" sz="1400" b="1" dirty="0">
                <a:solidFill>
                  <a:schemeClr val="bg1"/>
                </a:solidFill>
              </a:rPr>
              <a:t>시스템 확장성을 고려한 연산 실행 위치 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62983"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연산 실행 위치 결정 </a:t>
            </a:r>
            <a:r>
              <a:rPr lang="en-US" altLang="ko-KR" sz="1100" dirty="0"/>
              <a:t>“</a:t>
            </a:r>
          </a:p>
        </p:txBody>
      </p:sp>
      <p:sp>
        <p:nvSpPr>
          <p:cNvPr id="106" name="TextBox 105"/>
          <p:cNvSpPr txBox="1"/>
          <p:nvPr/>
        </p:nvSpPr>
        <p:spPr>
          <a:xfrm>
            <a:off x="6657051" y="1383052"/>
            <a:ext cx="4953001" cy="261610"/>
          </a:xfrm>
          <a:prstGeom prst="rect">
            <a:avLst/>
          </a:prstGeom>
          <a:noFill/>
        </p:spPr>
        <p:txBody>
          <a:bodyPr wrap="square" rtlCol="0">
            <a:spAutoFit/>
          </a:bodyPr>
          <a:lstStyle/>
          <a:p>
            <a:r>
              <a:rPr lang="en-US" altLang="ko-KR" sz="1100" dirty="0"/>
              <a:t>“</a:t>
            </a:r>
            <a:r>
              <a:rPr lang="ko-KR" altLang="en-US" sz="1100" dirty="0"/>
              <a:t>스케줄링 시점과 연산 실행 시점을 분리</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sp>
        <p:nvSpPr>
          <p:cNvPr id="112" name="Shape 31">
            <a:extLst>
              <a:ext uri="{FF2B5EF4-FFF2-40B4-BE49-F238E27FC236}">
                <a16:creationId xmlns:a16="http://schemas.microsoft.com/office/drawing/2014/main" id="{823D7D32-6771-4AA4-9581-77C6BEA03C53}"/>
              </a:ext>
            </a:extLst>
          </p:cNvPr>
          <p:cNvSpPr/>
          <p:nvPr/>
        </p:nvSpPr>
        <p:spPr>
          <a:xfrm>
            <a:off x="2862635" y="1853692"/>
            <a:ext cx="1411795" cy="292607"/>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44" idx="0"/>
          </p:cNvCxnSpPr>
          <p:nvPr/>
        </p:nvCxnSpPr>
        <p:spPr>
          <a:xfrm>
            <a:off x="3568533" y="2146299"/>
            <a:ext cx="1889" cy="289506"/>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2394012"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25" name="Shape 31">
            <a:extLst>
              <a:ext uri="{FF2B5EF4-FFF2-40B4-BE49-F238E27FC236}">
                <a16:creationId xmlns:a16="http://schemas.microsoft.com/office/drawing/2014/main" id="{823D7D32-6771-4AA4-9581-77C6BEA03C53}"/>
              </a:ext>
            </a:extLst>
          </p:cNvPr>
          <p:cNvSpPr/>
          <p:nvPr/>
        </p:nvSpPr>
        <p:spPr>
          <a:xfrm>
            <a:off x="1434016"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26" name="Shape 31">
            <a:extLst>
              <a:ext uri="{FF2B5EF4-FFF2-40B4-BE49-F238E27FC236}">
                <a16:creationId xmlns:a16="http://schemas.microsoft.com/office/drawing/2014/main" id="{823D7D32-6771-4AA4-9581-77C6BEA03C53}"/>
              </a:ext>
            </a:extLst>
          </p:cNvPr>
          <p:cNvSpPr/>
          <p:nvPr/>
        </p:nvSpPr>
        <p:spPr>
          <a:xfrm>
            <a:off x="3337592" y="4212297"/>
            <a:ext cx="875450"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51" idx="2"/>
            <a:endCxn id="125" idx="0"/>
          </p:cNvCxnSpPr>
          <p:nvPr/>
        </p:nvCxnSpPr>
        <p:spPr>
          <a:xfrm rot="5400000">
            <a:off x="2567161" y="3209036"/>
            <a:ext cx="268048" cy="1738474"/>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51" idx="2"/>
            <a:endCxn id="126" idx="0"/>
          </p:cNvCxnSpPr>
          <p:nvPr/>
        </p:nvCxnSpPr>
        <p:spPr>
          <a:xfrm rot="16200000" flipH="1">
            <a:off x="3538845" y="3975825"/>
            <a:ext cx="268048" cy="204895"/>
          </a:xfrm>
          <a:prstGeom prst="bentConnector3">
            <a:avLst>
              <a:gd name="adj1" fmla="val 50000"/>
            </a:avLst>
          </a:prstGeom>
          <a:noFill/>
          <a:ln w="11430">
            <a:solidFill>
              <a:srgbClr val="888C91"/>
            </a:solidFill>
            <a:prstDash val="solid"/>
            <a:headEnd type="none"/>
            <a:tailEnd type="triangle"/>
          </a:ln>
        </p:spPr>
      </p:cxnSp>
      <p:sp>
        <p:nvSpPr>
          <p:cNvPr id="77" name="TextBox 76"/>
          <p:cNvSpPr txBox="1"/>
          <p:nvPr/>
        </p:nvSpPr>
        <p:spPr>
          <a:xfrm>
            <a:off x="4482797" y="3231336"/>
            <a:ext cx="1600000" cy="276999"/>
          </a:xfrm>
          <a:prstGeom prst="rect">
            <a:avLst/>
          </a:prstGeom>
          <a:noFill/>
        </p:spPr>
        <p:txBody>
          <a:bodyPr wrap="square" lIns="0" tIns="0" rIns="0" bIns="0" anchor="ctr">
            <a:spAutoFit/>
          </a:bodyPr>
          <a:lstStyle/>
          <a:p>
            <a:pPr algn="l">
              <a:lnSpc>
                <a:spcPct val="100000"/>
              </a:lnSpc>
            </a:pPr>
            <a:r>
              <a:rPr lang="en-US" altLang="ko-KR" sz="900" b="0" i="0" dirty="0">
                <a:solidFill>
                  <a:srgbClr val="808080"/>
                </a:solidFill>
                <a:latin typeface="맑은 고딕"/>
                <a:ea typeface="맑은 고딕"/>
              </a:rPr>
              <a:t>Cost </a:t>
            </a:r>
            <a:r>
              <a:rPr lang="ko-KR" altLang="en-US" sz="900" b="0" i="0" dirty="0">
                <a:solidFill>
                  <a:srgbClr val="808080"/>
                </a:solidFill>
                <a:latin typeface="맑은 고딕"/>
                <a:ea typeface="맑은 고딕"/>
              </a:rPr>
              <a:t>계산이</a:t>
            </a:r>
          </a:p>
          <a:p>
            <a:pPr algn="l">
              <a:lnSpc>
                <a:spcPct val="100000"/>
              </a:lnSpc>
            </a:pPr>
            <a:r>
              <a:rPr lang="en-US" altLang="ko-KR" sz="900" b="0" i="0" dirty="0">
                <a:solidFill>
                  <a:srgbClr val="808080"/>
                </a:solidFill>
                <a:latin typeface="맑은 고딕"/>
                <a:ea typeface="맑은 고딕"/>
              </a:rPr>
              <a:t>critical path  </a:t>
            </a:r>
            <a:r>
              <a:rPr lang="ko-KR" altLang="en-US" sz="900" b="0" i="0" dirty="0">
                <a:solidFill>
                  <a:srgbClr val="808080"/>
                </a:solidFill>
                <a:latin typeface="맑은 고딕"/>
                <a:ea typeface="맑은 고딕"/>
              </a:rPr>
              <a:t>내부</a:t>
            </a:r>
          </a:p>
        </p:txBody>
      </p:sp>
      <p:sp>
        <p:nvSpPr>
          <p:cNvPr id="87" name="TextBox 86">
            <a:extLst>
              <a:ext uri="{FF2B5EF4-FFF2-40B4-BE49-F238E27FC236}">
                <a16:creationId xmlns:a16="http://schemas.microsoft.com/office/drawing/2014/main" id="{E4B7B1EF-FC16-4E50-A15A-074EA647B636}"/>
              </a:ext>
            </a:extLst>
          </p:cNvPr>
          <p:cNvSpPr txBox="1"/>
          <p:nvPr/>
        </p:nvSpPr>
        <p:spPr>
          <a:xfrm>
            <a:off x="5999943" y="6524910"/>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88" name="TextBox 87">
            <a:extLst>
              <a:ext uri="{FF2B5EF4-FFF2-40B4-BE49-F238E27FC236}">
                <a16:creationId xmlns:a16="http://schemas.microsoft.com/office/drawing/2014/main" id="{44A952AB-42E1-41D1-AF63-055E8135DA99}"/>
              </a:ext>
            </a:extLst>
          </p:cNvPr>
          <p:cNvSpPr txBox="1"/>
          <p:nvPr/>
        </p:nvSpPr>
        <p:spPr>
          <a:xfrm>
            <a:off x="11253522" y="6525007"/>
            <a:ext cx="750526" cy="276999"/>
          </a:xfrm>
          <a:prstGeom prst="rect">
            <a:avLst/>
          </a:prstGeom>
          <a:noFill/>
        </p:spPr>
        <p:txBody>
          <a:bodyPr wrap="none" rtlCol="0">
            <a:spAutoFit/>
          </a:bodyPr>
          <a:lstStyle/>
          <a:p>
            <a:r>
              <a:rPr lang="ko-KR" altLang="en-US" sz="1200" dirty="0"/>
              <a:t>총</a:t>
            </a:r>
            <a:r>
              <a:rPr lang="en-US" altLang="ko-KR" sz="1200" dirty="0"/>
              <a:t> 7.5</a:t>
            </a:r>
            <a:r>
              <a:rPr lang="ko-KR" altLang="en-US" sz="1200" dirty="0"/>
              <a:t>점</a:t>
            </a:r>
          </a:p>
        </p:txBody>
      </p:sp>
      <p:sp>
        <p:nvSpPr>
          <p:cNvPr id="136" name="Shape 37">
            <a:extLst>
              <a:ext uri="{FF2B5EF4-FFF2-40B4-BE49-F238E27FC236}">
                <a16:creationId xmlns:a16="http://schemas.microsoft.com/office/drawing/2014/main" id="{7F2072DD-19B6-48CA-BD3D-876E8DDC9C60}"/>
              </a:ext>
            </a:extLst>
          </p:cNvPr>
          <p:cNvSpPr/>
          <p:nvPr/>
        </p:nvSpPr>
        <p:spPr>
          <a:xfrm>
            <a:off x="4737207" y="2129473"/>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43" name="직선 화살표 연결선 185">
            <a:extLst>
              <a:ext uri="{FF2B5EF4-FFF2-40B4-BE49-F238E27FC236}">
                <a16:creationId xmlns:a16="http://schemas.microsoft.com/office/drawing/2014/main" id="{BA0CBBE8-3F10-4B7D-B934-710047CDD61C}"/>
              </a:ext>
            </a:extLst>
          </p:cNvPr>
          <p:cNvCxnSpPr>
            <a:cxnSpLocks/>
            <a:stCxn id="144" idx="3"/>
            <a:endCxn id="136" idx="1"/>
          </p:cNvCxnSpPr>
          <p:nvPr/>
        </p:nvCxnSpPr>
        <p:spPr>
          <a:xfrm flipV="1">
            <a:off x="4324906" y="2292936"/>
            <a:ext cx="412301" cy="322679"/>
          </a:xfrm>
          <a:prstGeom prst="bentConnector3">
            <a:avLst>
              <a:gd name="adj1" fmla="val 50000"/>
            </a:avLst>
          </a:prstGeom>
          <a:noFill/>
          <a:ln w="9525">
            <a:solidFill>
              <a:schemeClr val="tx1"/>
            </a:solidFill>
            <a:prstDash val="solid"/>
            <a:headEnd type="none" w="med" len="med"/>
            <a:tailEnd type="triangle" w="med" len="med"/>
          </a:ln>
        </p:spPr>
      </p:cxnSp>
      <p:sp>
        <p:nvSpPr>
          <p:cNvPr id="144" name="Shape 37">
            <a:extLst>
              <a:ext uri="{FF2B5EF4-FFF2-40B4-BE49-F238E27FC236}">
                <a16:creationId xmlns:a16="http://schemas.microsoft.com/office/drawing/2014/main" id="{70E92FE8-4878-4154-BB88-F90E93B7B850}"/>
              </a:ext>
            </a:extLst>
          </p:cNvPr>
          <p:cNvSpPr/>
          <p:nvPr/>
        </p:nvSpPr>
        <p:spPr>
          <a:xfrm>
            <a:off x="2815938" y="2435805"/>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a:t>
            </a:r>
          </a:p>
          <a:p>
            <a:pPr algn="ctr"/>
            <a:r>
              <a:rPr lang="en-US" altLang="ko-KR" sz="900" b="1" dirty="0">
                <a:solidFill>
                  <a:schemeClr val="accent2">
                    <a:lumMod val="75000"/>
                  </a:schemeClr>
                </a:solidFill>
              </a:rPr>
              <a:t>(Plan)</a:t>
            </a:r>
          </a:p>
        </p:txBody>
      </p:sp>
      <p:sp>
        <p:nvSpPr>
          <p:cNvPr id="145" name="Shape 37">
            <a:extLst>
              <a:ext uri="{FF2B5EF4-FFF2-40B4-BE49-F238E27FC236}">
                <a16:creationId xmlns:a16="http://schemas.microsoft.com/office/drawing/2014/main" id="{7EA846FB-2BF9-4A17-B933-665E6BCC5A1E}"/>
              </a:ext>
            </a:extLst>
          </p:cNvPr>
          <p:cNvSpPr/>
          <p:nvPr/>
        </p:nvSpPr>
        <p:spPr>
          <a:xfrm>
            <a:off x="4737207" y="2582530"/>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a:solidFill>
                  <a:srgbClr val="1A1A1A"/>
                </a:solidFill>
                <a:latin typeface="Malgun Gothic" pitchFamily="34" charset="0"/>
                <a:ea typeface="Malgun Gothic" pitchFamily="34" charset="-122"/>
                <a:cs typeface="Malgun Gothic" pitchFamily="34" charset="-120"/>
              </a:rPr>
              <a:t>Resource State</a:t>
            </a:r>
          </a:p>
          <a:p>
            <a:pPr algn="ctr"/>
            <a:r>
              <a:rPr lang="en-US" altLang="ko-KR" sz="1000">
                <a:solidFill>
                  <a:srgbClr val="1A1A1A"/>
                </a:solidFill>
                <a:latin typeface="Malgun Gothic" pitchFamily="34" charset="0"/>
                <a:ea typeface="Malgun Gothic" pitchFamily="34" charset="-122"/>
                <a:cs typeface="Malgun Gothic" pitchFamily="34" charset="-120"/>
              </a:rPr>
              <a:t>Monitor</a:t>
            </a:r>
            <a:endParaRPr lang="en-US" altLang="ko-KR" sz="1000" dirty="0">
              <a:solidFill>
                <a:srgbClr val="1A1A1A"/>
              </a:solidFill>
              <a:latin typeface="Malgun Gothic" pitchFamily="34" charset="0"/>
              <a:ea typeface="Malgun Gothic" pitchFamily="34" charset="-122"/>
              <a:cs typeface="Malgun Gothic" pitchFamily="34" charset="-120"/>
            </a:endParaRPr>
          </a:p>
        </p:txBody>
      </p:sp>
      <p:cxnSp>
        <p:nvCxnSpPr>
          <p:cNvPr id="146" name="직선 화살표 연결선 185">
            <a:extLst>
              <a:ext uri="{FF2B5EF4-FFF2-40B4-BE49-F238E27FC236}">
                <a16:creationId xmlns:a16="http://schemas.microsoft.com/office/drawing/2014/main" id="{866738E6-B5E2-485B-BCC3-7AB7D686059C}"/>
              </a:ext>
            </a:extLst>
          </p:cNvPr>
          <p:cNvCxnSpPr>
            <a:cxnSpLocks/>
            <a:stCxn id="144" idx="3"/>
            <a:endCxn id="145" idx="1"/>
          </p:cNvCxnSpPr>
          <p:nvPr/>
        </p:nvCxnSpPr>
        <p:spPr>
          <a:xfrm>
            <a:off x="4324906" y="2615615"/>
            <a:ext cx="412301" cy="130378"/>
          </a:xfrm>
          <a:prstGeom prst="bentConnector3">
            <a:avLst>
              <a:gd name="adj1" fmla="val 50000"/>
            </a:avLst>
          </a:prstGeom>
          <a:noFill/>
          <a:ln w="9525">
            <a:solidFill>
              <a:schemeClr val="tx1"/>
            </a:solidFill>
            <a:prstDash val="solid"/>
            <a:headEnd type="none" w="med" len="med"/>
            <a:tailEnd type="triangle" w="med" len="med"/>
          </a:ln>
        </p:spPr>
      </p:cxnSp>
      <p:sp>
        <p:nvSpPr>
          <p:cNvPr id="149" name="Shape 37">
            <a:extLst>
              <a:ext uri="{FF2B5EF4-FFF2-40B4-BE49-F238E27FC236}">
                <a16:creationId xmlns:a16="http://schemas.microsoft.com/office/drawing/2014/main" id="{D29B8A49-AE77-46A5-BF3C-C5FFF88BE9D4}"/>
              </a:ext>
            </a:extLst>
          </p:cNvPr>
          <p:cNvSpPr/>
          <p:nvPr/>
        </p:nvSpPr>
        <p:spPr>
          <a:xfrm>
            <a:off x="2815938" y="3112583"/>
            <a:ext cx="1508968" cy="297205"/>
          </a:xfrm>
          <a:prstGeom prst="rect">
            <a:avLst/>
          </a:prstGeom>
          <a:solidFill>
            <a:srgbClr val="FFFFFF"/>
          </a:solidFill>
          <a:ln w="9525">
            <a:solidFill>
              <a:schemeClr val="tx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Cost Evaluator</a:t>
            </a:r>
            <a:endParaRPr lang="en-US" altLang="ko-KR" sz="1000" b="1" dirty="0">
              <a:solidFill>
                <a:srgbClr val="1A1A1A"/>
              </a:solidFill>
              <a:latin typeface="Malgun Gothic" pitchFamily="34" charset="0"/>
              <a:ea typeface="Malgun Gothic" pitchFamily="34" charset="-122"/>
            </a:endParaRPr>
          </a:p>
        </p:txBody>
      </p:sp>
      <p:cxnSp>
        <p:nvCxnSpPr>
          <p:cNvPr id="150" name="직선 화살표 연결선 185">
            <a:extLst>
              <a:ext uri="{FF2B5EF4-FFF2-40B4-BE49-F238E27FC236}">
                <a16:creationId xmlns:a16="http://schemas.microsoft.com/office/drawing/2014/main" id="{EFEBEDC4-80EE-4735-B71E-6C1DFDD6FCDC}"/>
              </a:ext>
            </a:extLst>
          </p:cNvPr>
          <p:cNvCxnSpPr>
            <a:cxnSpLocks/>
            <a:stCxn id="144" idx="2"/>
            <a:endCxn id="149" idx="0"/>
          </p:cNvCxnSpPr>
          <p:nvPr/>
        </p:nvCxnSpPr>
        <p:spPr>
          <a:xfrm>
            <a:off x="3570422" y="2795424"/>
            <a:ext cx="0" cy="317159"/>
          </a:xfrm>
          <a:prstGeom prst="straightConnector1">
            <a:avLst/>
          </a:prstGeom>
          <a:noFill/>
          <a:ln w="9525">
            <a:solidFill>
              <a:schemeClr val="tx1"/>
            </a:solidFill>
            <a:prstDash val="solid"/>
            <a:headEnd type="none" w="med" len="med"/>
            <a:tailEnd type="triangle" w="med" len="med"/>
          </a:ln>
        </p:spPr>
      </p:cxnSp>
      <p:sp>
        <p:nvSpPr>
          <p:cNvPr id="151" name="Shape 37">
            <a:extLst>
              <a:ext uri="{FF2B5EF4-FFF2-40B4-BE49-F238E27FC236}">
                <a16:creationId xmlns:a16="http://schemas.microsoft.com/office/drawing/2014/main" id="{1AFCAFB9-F8C0-41A8-8E3E-3B7ACC234BE6}"/>
              </a:ext>
            </a:extLst>
          </p:cNvPr>
          <p:cNvSpPr/>
          <p:nvPr/>
        </p:nvSpPr>
        <p:spPr>
          <a:xfrm>
            <a:off x="2815938" y="3584630"/>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algn="ctr"/>
            <a:r>
              <a:rPr lang="en-US" altLang="ko-KR" sz="900" b="1" dirty="0">
                <a:solidFill>
                  <a:schemeClr val="accent2">
                    <a:lumMod val="75000"/>
                  </a:schemeClr>
                </a:solidFill>
                <a:latin typeface="Malgun Gothic" pitchFamily="34" charset="0"/>
                <a:ea typeface="Malgun Gothic" pitchFamily="34" charset="-122"/>
              </a:rPr>
              <a:t>(Decision)</a:t>
            </a:r>
          </a:p>
        </p:txBody>
      </p:sp>
      <p:cxnSp>
        <p:nvCxnSpPr>
          <p:cNvPr id="152" name="직선 화살표 연결선 185">
            <a:extLst>
              <a:ext uri="{FF2B5EF4-FFF2-40B4-BE49-F238E27FC236}">
                <a16:creationId xmlns:a16="http://schemas.microsoft.com/office/drawing/2014/main" id="{A5D1AF10-B4E4-4F84-8D33-8BACD09A70C2}"/>
              </a:ext>
            </a:extLst>
          </p:cNvPr>
          <p:cNvCxnSpPr>
            <a:cxnSpLocks/>
            <a:stCxn id="149" idx="2"/>
            <a:endCxn id="151" idx="0"/>
          </p:cNvCxnSpPr>
          <p:nvPr/>
        </p:nvCxnSpPr>
        <p:spPr>
          <a:xfrm>
            <a:off x="3570422" y="3409788"/>
            <a:ext cx="0" cy="174842"/>
          </a:xfrm>
          <a:prstGeom prst="straightConnector1">
            <a:avLst/>
          </a:prstGeom>
          <a:noFill/>
          <a:ln w="11430">
            <a:solidFill>
              <a:srgbClr val="888C91"/>
            </a:solidFill>
            <a:prstDash val="solid"/>
            <a:headEnd type="none"/>
            <a:tailEnd type="triangle"/>
          </a:ln>
        </p:spPr>
      </p:cxnSp>
      <p:cxnSp>
        <p:nvCxnSpPr>
          <p:cNvPr id="153" name="직선 화살표 연결선 185">
            <a:extLst>
              <a:ext uri="{FF2B5EF4-FFF2-40B4-BE49-F238E27FC236}">
                <a16:creationId xmlns:a16="http://schemas.microsoft.com/office/drawing/2014/main" id="{667011A0-7D9C-4D04-BD0D-206D0F921C23}"/>
              </a:ext>
            </a:extLst>
          </p:cNvPr>
          <p:cNvCxnSpPr>
            <a:cxnSpLocks/>
            <a:stCxn id="151" idx="2"/>
            <a:endCxn id="124" idx="0"/>
          </p:cNvCxnSpPr>
          <p:nvPr/>
        </p:nvCxnSpPr>
        <p:spPr>
          <a:xfrm rot="5400000">
            <a:off x="3047159" y="3689034"/>
            <a:ext cx="268048" cy="778478"/>
          </a:xfrm>
          <a:prstGeom prst="bentConnector3">
            <a:avLst>
              <a:gd name="adj1" fmla="val 50000"/>
            </a:avLst>
          </a:prstGeom>
          <a:noFill/>
          <a:ln w="11430">
            <a:solidFill>
              <a:srgbClr val="888C91"/>
            </a:solidFill>
            <a:prstDash val="solid"/>
            <a:headEnd type="none"/>
            <a:tailEnd type="triangle"/>
          </a:ln>
        </p:spPr>
      </p:cxnSp>
      <p:sp>
        <p:nvSpPr>
          <p:cNvPr id="155" name="Shape 31">
            <a:extLst>
              <a:ext uri="{FF2B5EF4-FFF2-40B4-BE49-F238E27FC236}">
                <a16:creationId xmlns:a16="http://schemas.microsoft.com/office/drawing/2014/main" id="{C0494BB5-740B-474B-8EDE-7DEE62853B08}"/>
              </a:ext>
            </a:extLst>
          </p:cNvPr>
          <p:cNvSpPr/>
          <p:nvPr/>
        </p:nvSpPr>
        <p:spPr>
          <a:xfrm>
            <a:off x="4393753" y="4212297"/>
            <a:ext cx="87545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57" name="직선 화살표 연결선 185">
            <a:extLst>
              <a:ext uri="{FF2B5EF4-FFF2-40B4-BE49-F238E27FC236}">
                <a16:creationId xmlns:a16="http://schemas.microsoft.com/office/drawing/2014/main" id="{D2EDFE24-B445-4346-8805-83EFFC8CB053}"/>
              </a:ext>
            </a:extLst>
          </p:cNvPr>
          <p:cNvCxnSpPr>
            <a:cxnSpLocks/>
            <a:stCxn id="151" idx="2"/>
            <a:endCxn id="155" idx="0"/>
          </p:cNvCxnSpPr>
          <p:nvPr/>
        </p:nvCxnSpPr>
        <p:spPr>
          <a:xfrm rot="16200000" flipH="1">
            <a:off x="4066926" y="3447745"/>
            <a:ext cx="268048" cy="1261056"/>
          </a:xfrm>
          <a:prstGeom prst="bentConnector3">
            <a:avLst>
              <a:gd name="adj1" fmla="val 50000"/>
            </a:avLst>
          </a:prstGeom>
          <a:noFill/>
          <a:ln w="11430">
            <a:solidFill>
              <a:srgbClr val="888C91"/>
            </a:solidFill>
            <a:prstDash val="dash"/>
            <a:headEnd type="none"/>
            <a:tailEnd type="triangle"/>
          </a:ln>
        </p:spPr>
      </p:cxnSp>
      <p:sp>
        <p:nvSpPr>
          <p:cNvPr id="1271" name="C1 Critical path boundary"/>
          <p:cNvSpPr/>
          <p:nvPr/>
        </p:nvSpPr>
        <p:spPr>
          <a:xfrm>
            <a:off x="2695773" y="1800000"/>
            <a:ext cx="3420000" cy="2185000"/>
          </a:xfrm>
          <a:prstGeom prst="rect">
            <a:avLst/>
          </a:prstGeom>
          <a:noFill/>
          <a:ln w="12700">
            <a:solidFill>
              <a:srgbClr val="C76E31"/>
            </a:solidFill>
            <a:prstDash val="dash"/>
          </a:ln>
        </p:spPr>
        <p:txBody>
          <a:bodyPr rtlCol="0" anchor="ctr"/>
          <a:lstStyle/>
          <a:p>
            <a:pPr algn="ctr"/>
            <a:endParaRPr lang="en-US" altLang="ko-KR" sz="900" dirty="0">
              <a:solidFill>
                <a:schemeClr val="bg1">
                  <a:lumMod val="50000"/>
                </a:schemeClr>
              </a:solidFill>
            </a:endParaRPr>
          </a:p>
        </p:txBody>
      </p:sp>
      <p:sp>
        <p:nvSpPr>
          <p:cNvPr id="2293" name="C1 Critical path label"/>
          <p:cNvSpPr/>
          <p:nvPr/>
        </p:nvSpPr>
        <p:spPr>
          <a:xfrm>
            <a:off x="4330000" y="1815000"/>
            <a:ext cx="1440000" cy="250000"/>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 + Decision</a:t>
            </a:r>
          </a:p>
        </p:txBody>
      </p:sp>
      <p:grpSp>
        <p:nvGrpSpPr>
          <p:cNvPr id="130" name="그룹 129">
            <a:extLst>
              <a:ext uri="{FF2B5EF4-FFF2-40B4-BE49-F238E27FC236}">
                <a16:creationId xmlns:a16="http://schemas.microsoft.com/office/drawing/2014/main" id="{CA2D3743-1992-478F-B82E-9DE9B085B94D}"/>
              </a:ext>
            </a:extLst>
          </p:cNvPr>
          <p:cNvGrpSpPr/>
          <p:nvPr/>
        </p:nvGrpSpPr>
        <p:grpSpPr>
          <a:xfrm>
            <a:off x="334761" y="3538083"/>
            <a:ext cx="822008" cy="1106192"/>
            <a:chOff x="269738" y="3554621"/>
            <a:chExt cx="822008" cy="1106192"/>
          </a:xfrm>
        </p:grpSpPr>
        <p:sp>
          <p:nvSpPr>
            <p:cNvPr id="131" name="KV Cache Manager">
              <a:extLst>
                <a:ext uri="{FF2B5EF4-FFF2-40B4-BE49-F238E27FC236}">
                  <a16:creationId xmlns:a16="http://schemas.microsoft.com/office/drawing/2014/main" id="{97729FA2-8208-495A-88B5-6AB9793CB4B9}"/>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2" name="KV Cache Manager">
              <a:extLst>
                <a:ext uri="{FF2B5EF4-FFF2-40B4-BE49-F238E27FC236}">
                  <a16:creationId xmlns:a16="http://schemas.microsoft.com/office/drawing/2014/main" id="{5E4E7F90-5323-48ED-A793-E537EC85E83D}"/>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4" name="KV Cache Manager">
              <a:extLst>
                <a:ext uri="{FF2B5EF4-FFF2-40B4-BE49-F238E27FC236}">
                  <a16:creationId xmlns:a16="http://schemas.microsoft.com/office/drawing/2014/main" id="{F1372DCD-DBB8-422B-8D97-E7C565A45741}"/>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bg1"/>
                  </a:solidFill>
                </a:rPr>
                <a:t>타</a:t>
              </a:r>
              <a:r>
                <a:rPr lang="en-US" altLang="ko-KR" sz="800" b="1" dirty="0">
                  <a:solidFill>
                    <a:schemeClr val="bg1"/>
                  </a:solidFill>
                </a:rPr>
                <a:t> </a:t>
              </a:r>
              <a:r>
                <a:rPr lang="ko-KR" altLang="en-US" sz="800" b="1" dirty="0">
                  <a:solidFill>
                    <a:schemeClr val="bg1"/>
                  </a:solidFill>
                </a:rPr>
                <a:t>모듈</a:t>
              </a:r>
              <a:r>
                <a:rPr lang="en-US" altLang="ko-KR" sz="800" b="1" dirty="0">
                  <a:solidFill>
                    <a:schemeClr val="bg1"/>
                  </a:solidFill>
                </a:rPr>
                <a:t> I/F</a:t>
              </a:r>
              <a:endParaRPr lang="ko-KR" altLang="en-US" sz="800" b="1" dirty="0">
                <a:solidFill>
                  <a:schemeClr val="bg1"/>
                </a:solidFill>
              </a:endParaRPr>
            </a:p>
          </p:txBody>
        </p:sp>
        <p:sp>
          <p:nvSpPr>
            <p:cNvPr id="135" name="직사각형 134">
              <a:extLst>
                <a:ext uri="{FF2B5EF4-FFF2-40B4-BE49-F238E27FC236}">
                  <a16:creationId xmlns:a16="http://schemas.microsoft.com/office/drawing/2014/main" id="{33666AC1-1D1F-4D44-8ABD-9FC7C996F49A}"/>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7" name="KV Cache Manager">
              <a:extLst>
                <a:ext uri="{FF2B5EF4-FFF2-40B4-BE49-F238E27FC236}">
                  <a16:creationId xmlns:a16="http://schemas.microsoft.com/office/drawing/2014/main" id="{3DAC31F2-953F-4F50-9270-4AC41B0280B9}"/>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cxnSp>
        <p:nvCxnSpPr>
          <p:cNvPr id="120" name="직선 화살표 연결선 185">
            <a:extLst>
              <a:ext uri="{FF2B5EF4-FFF2-40B4-BE49-F238E27FC236}">
                <a16:creationId xmlns:a16="http://schemas.microsoft.com/office/drawing/2014/main" id="{6B405AD3-50C7-4140-923C-39C9EC62E997}"/>
              </a:ext>
            </a:extLst>
          </p:cNvPr>
          <p:cNvCxnSpPr>
            <a:cxnSpLocks/>
            <a:stCxn id="149" idx="1"/>
            <a:endCxn id="123" idx="0"/>
          </p:cNvCxnSpPr>
          <p:nvPr/>
        </p:nvCxnSpPr>
        <p:spPr>
          <a:xfrm rot="10800000" flipV="1">
            <a:off x="1977484" y="3261185"/>
            <a:ext cx="838455" cy="122381"/>
          </a:xfrm>
          <a:prstGeom prst="bentConnector2">
            <a:avLst/>
          </a:prstGeom>
          <a:noFill/>
          <a:ln w="9525">
            <a:solidFill>
              <a:schemeClr val="tx1"/>
            </a:solidFill>
            <a:prstDash val="solid"/>
            <a:headEnd type="none" w="med" len="med"/>
            <a:tailEnd type="triangle" w="med" len="med"/>
          </a:ln>
        </p:spPr>
      </p:cxnSp>
      <p:sp>
        <p:nvSpPr>
          <p:cNvPr id="123" name="KV Cache Manager">
            <a:extLst>
              <a:ext uri="{FF2B5EF4-FFF2-40B4-BE49-F238E27FC236}">
                <a16:creationId xmlns:a16="http://schemas.microsoft.com/office/drawing/2014/main" id="{AF50C5FD-82D2-49A4-BB8D-5B9CCB95E6F0}"/>
              </a:ext>
            </a:extLst>
          </p:cNvPr>
          <p:cNvSpPr/>
          <p:nvPr/>
        </p:nvSpPr>
        <p:spPr>
          <a:xfrm>
            <a:off x="1422351" y="3383567"/>
            <a:ext cx="1110263" cy="28409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grpSp>
        <p:nvGrpSpPr>
          <p:cNvPr id="2260" name="그룹 2259">
            <a:extLst>
              <a:ext uri="{FF2B5EF4-FFF2-40B4-BE49-F238E27FC236}">
                <a16:creationId xmlns:a16="http://schemas.microsoft.com/office/drawing/2014/main" id="{2D332D0F-0324-46B1-B1F2-8FDFA83DC440}"/>
              </a:ext>
            </a:extLst>
          </p:cNvPr>
          <p:cNvGrpSpPr/>
          <p:nvPr/>
        </p:nvGrpSpPr>
        <p:grpSpPr>
          <a:xfrm>
            <a:off x="6650290" y="1792641"/>
            <a:ext cx="5377940" cy="2718256"/>
            <a:chOff x="6650290" y="1836885"/>
            <a:chExt cx="5377940" cy="2718256"/>
          </a:xfrm>
        </p:grpSpPr>
        <p:sp>
          <p:nvSpPr>
            <p:cNvPr id="122" name="Shape 31">
              <a:extLst>
                <a:ext uri="{FF2B5EF4-FFF2-40B4-BE49-F238E27FC236}">
                  <a16:creationId xmlns:a16="http://schemas.microsoft.com/office/drawing/2014/main" id="{2CB8AAFC-DFAB-4056-A6EA-BB95D28E11E9}"/>
                </a:ext>
              </a:extLst>
            </p:cNvPr>
            <p:cNvSpPr/>
            <p:nvPr/>
          </p:nvSpPr>
          <p:spPr>
            <a:xfrm>
              <a:off x="6968158" y="222990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52643" y="4250503"/>
              <a:ext cx="1106485" cy="301105"/>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64" name="직선 화살표 연결선 185">
              <a:extLst>
                <a:ext uri="{FF2B5EF4-FFF2-40B4-BE49-F238E27FC236}">
                  <a16:creationId xmlns:a16="http://schemas.microsoft.com/office/drawing/2014/main" id="{D76D373A-AD73-4958-8644-743AF962871F}"/>
                </a:ext>
              </a:extLst>
            </p:cNvPr>
            <p:cNvCxnSpPr>
              <a:cxnSpLocks/>
            </p:cNvCxnSpPr>
            <p:nvPr/>
          </p:nvCxnSpPr>
          <p:spPr>
            <a:xfrm flipH="1">
              <a:off x="7585118" y="3976053"/>
              <a:ext cx="127" cy="242833"/>
            </a:xfrm>
            <a:prstGeom prst="straightConnector1">
              <a:avLst/>
            </a:prstGeom>
            <a:noFill/>
            <a:ln w="12700">
              <a:solidFill>
                <a:srgbClr val="C76E31"/>
              </a:solidFill>
              <a:prstDash val="solid"/>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flipH="1">
              <a:off x="10700123" y="2548568"/>
              <a:ext cx="1" cy="359667"/>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1966" y="1864405"/>
              <a:ext cx="2152357"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a:t>
              </a:r>
              <a:r>
                <a:rPr lang="en-US" altLang="ko-KR" sz="900" dirty="0">
                  <a:solidFill>
                    <a:srgbClr val="FF0000"/>
                  </a:solidFill>
                </a:rPr>
                <a:t> -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rgbClr val="FF0000"/>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58398" y="2282562"/>
              <a:ext cx="1283450" cy="1629131"/>
              <a:chOff x="13158709" y="2383427"/>
              <a:chExt cx="1283450" cy="1629131"/>
            </a:xfrm>
          </p:grpSpPr>
          <p:sp>
            <p:nvSpPr>
              <p:cNvPr id="186" name="Shape 31">
                <a:extLst>
                  <a:ext uri="{FF2B5EF4-FFF2-40B4-BE49-F238E27FC236}">
                    <a16:creationId xmlns:a16="http://schemas.microsoft.com/office/drawing/2014/main" id="{2CB8AAFC-DFAB-4056-A6EA-BB95D28E11E9}"/>
                  </a:ext>
                </a:extLst>
              </p:cNvPr>
              <p:cNvSpPr/>
              <p:nvPr/>
            </p:nvSpPr>
            <p:spPr>
              <a:xfrm>
                <a:off x="132170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158709" y="3009100"/>
                <a:ext cx="1283450" cy="324035"/>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Validator</a:t>
                </a:r>
              </a:p>
            </p:txBody>
          </p:sp>
          <p:sp>
            <p:nvSpPr>
              <p:cNvPr id="188" name="Shape 31">
                <a:extLst>
                  <a:ext uri="{FF2B5EF4-FFF2-40B4-BE49-F238E27FC236}">
                    <a16:creationId xmlns:a16="http://schemas.microsoft.com/office/drawing/2014/main" id="{2CB8AAFC-DFAB-4056-A6EA-BB95D28E11E9}"/>
                  </a:ext>
                </a:extLst>
              </p:cNvPr>
              <p:cNvSpPr/>
              <p:nvPr/>
            </p:nvSpPr>
            <p:spPr>
              <a:xfrm>
                <a:off x="13158709" y="3623097"/>
                <a:ext cx="1283450" cy="38946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lvl="0" algn="ctr"/>
                <a:r>
                  <a:rPr lang="en-US" altLang="ko-KR" sz="900" b="1" dirty="0">
                    <a:solidFill>
                      <a:schemeClr val="accent2">
                        <a:lumMod val="75000"/>
                      </a:schemeClr>
                    </a:solidFill>
                    <a:latin typeface="Malgun Gothic" pitchFamily="34" charset="0"/>
                    <a:ea typeface="Malgun Gothic" pitchFamily="34" charset="-122"/>
                    <a:cs typeface="Malgun Gothic" pitchFamily="34" charset="-120"/>
                  </a:rPr>
                  <a:t>(Decision)</a:t>
                </a:r>
                <a:endParaRPr lang="ko-KR" altLang="en-US" sz="900" b="1" dirty="0">
                  <a:solidFill>
                    <a:schemeClr val="accent2">
                      <a:lumMod val="75000"/>
                    </a:schemeClr>
                  </a:solidFill>
                  <a:latin typeface="Malgun Gothic" pitchFamily="34" charset="0"/>
                  <a:ea typeface="Malgun Gothic" pitchFamily="34" charset="-122"/>
                  <a:cs typeface="Malgun Gothic" pitchFamily="34" charset="-120"/>
                </a:endParaRPr>
              </a:p>
            </p:txBody>
          </p:sp>
        </p:grp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188" idx="0"/>
            </p:cNvCxnSpPr>
            <p:nvPr/>
          </p:nvCxnSpPr>
          <p:spPr>
            <a:xfrm>
              <a:off x="10700123" y="3232270"/>
              <a:ext cx="0" cy="289962"/>
            </a:xfrm>
            <a:prstGeom prst="straightConnector1">
              <a:avLst/>
            </a:prstGeom>
            <a:noFill/>
            <a:ln w="11430">
              <a:solidFill>
                <a:srgbClr val="888C91"/>
              </a:solidFill>
              <a:prstDash val="solid"/>
              <a:headEnd type="none"/>
              <a:tailEnd type="triangle"/>
            </a:ln>
          </p:spPr>
        </p:cxnSp>
        <p:cxnSp>
          <p:nvCxnSpPr>
            <p:cNvPr id="99" name="직선 화살표 연결선 185">
              <a:extLst>
                <a:ext uri="{FF2B5EF4-FFF2-40B4-BE49-F238E27FC236}">
                  <a16:creationId xmlns:a16="http://schemas.microsoft.com/office/drawing/2014/main" id="{D76D373A-AD73-4958-8644-743AF962871F}"/>
                </a:ext>
              </a:extLst>
            </p:cNvPr>
            <p:cNvCxnSpPr>
              <a:cxnSpLocks/>
            </p:cNvCxnSpPr>
            <p:nvPr/>
          </p:nvCxnSpPr>
          <p:spPr>
            <a:xfrm rot="10800000">
              <a:off x="8164462" y="2717377"/>
              <a:ext cx="1893937" cy="259939"/>
            </a:xfrm>
            <a:prstGeom prst="bentConnector3">
              <a:avLst>
                <a:gd name="adj1" fmla="val 30143"/>
              </a:avLst>
            </a:prstGeom>
            <a:noFill/>
            <a:ln w="9525">
              <a:solidFill>
                <a:srgbClr val="C76E31"/>
              </a:solidFill>
              <a:prstDash val="dash"/>
              <a:headEnd type="none" w="med" len="med"/>
              <a:tailEnd type="triangle" w="med" len="med"/>
            </a:ln>
          </p:spPr>
        </p:cxn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92" idx="0"/>
            </p:cNvCxnSpPr>
            <p:nvPr/>
          </p:nvCxnSpPr>
          <p:spPr>
            <a:xfrm rot="5400000">
              <a:off x="10094192" y="3627684"/>
              <a:ext cx="321923" cy="88994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95" idx="0"/>
            </p:cNvCxnSpPr>
            <p:nvPr/>
          </p:nvCxnSpPr>
          <p:spPr>
            <a:xfrm rot="16200000" flipH="1">
              <a:off x="11038780" y="3573035"/>
              <a:ext cx="321923" cy="999237"/>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91" idx="0"/>
            </p:cNvCxnSpPr>
            <p:nvPr/>
          </p:nvCxnSpPr>
          <p:spPr>
            <a:xfrm rot="5400000">
              <a:off x="10386001" y="3919493"/>
              <a:ext cx="321923" cy="306322"/>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9" idx="0"/>
            </p:cNvCxnSpPr>
            <p:nvPr/>
          </p:nvCxnSpPr>
          <p:spPr>
            <a:xfrm>
              <a:off x="7634416" y="2429761"/>
              <a:ext cx="2" cy="231001"/>
            </a:xfrm>
            <a:prstGeom prst="straightConnector1">
              <a:avLst/>
            </a:prstGeom>
            <a:noFill/>
            <a:ln w="11430">
              <a:solidFill>
                <a:srgbClr val="888C91"/>
              </a:solidFill>
              <a:prstDash val="solid"/>
              <a:headEnd type="none"/>
              <a:tailEnd type="triangle"/>
            </a:ln>
          </p:spPr>
        </p:cxnSp>
        <p:sp>
          <p:nvSpPr>
            <p:cNvPr id="78" name="TextBox 77"/>
            <p:cNvSpPr txBox="1"/>
            <p:nvPr/>
          </p:nvSpPr>
          <p:spPr>
            <a:xfrm>
              <a:off x="8406016" y="2555570"/>
              <a:ext cx="827393" cy="138499"/>
            </a:xfrm>
            <a:prstGeom prst="rect">
              <a:avLst/>
            </a:prstGeom>
            <a:noFill/>
          </p:spPr>
          <p:txBody>
            <a:bodyPr wrap="square" lIns="0" tIns="0" rIns="0" bIns="0" anchor="ctr">
              <a:spAutoFit/>
            </a:bodyPr>
            <a:lstStyle/>
            <a:p>
              <a:pPr algn="l">
                <a:lnSpc>
                  <a:spcPct val="100000"/>
                </a:lnSpc>
              </a:pPr>
              <a:r>
                <a:rPr sz="900" b="0" i="0" dirty="0">
                  <a:solidFill>
                    <a:srgbClr val="C55A11"/>
                  </a:solidFill>
                  <a:latin typeface="맑은 고딕"/>
                  <a:ea typeface="맑은 고딕"/>
                </a:rPr>
                <a:t>Async</a:t>
              </a:r>
              <a:r>
                <a:rPr lang="en-US" sz="900" b="0" i="0" dirty="0">
                  <a:solidFill>
                    <a:srgbClr val="C55A11"/>
                  </a:solidFill>
                  <a:latin typeface="맑은 고딕"/>
                  <a:ea typeface="맑은 고딕"/>
                </a:rPr>
                <a:t> </a:t>
              </a:r>
              <a:r>
                <a:rPr sz="900" b="0" i="0" dirty="0">
                  <a:solidFill>
                    <a:srgbClr val="C55A11"/>
                  </a:solidFill>
                  <a:latin typeface="맑은 고딕"/>
                  <a:ea typeface="맑은 고딕"/>
                </a:rPr>
                <a:t>re-plan</a:t>
              </a: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Decision</a:t>
              </a:r>
              <a:r>
                <a:rPr lang="en-US" altLang="ko-KR" sz="900" dirty="0">
                  <a:solidFill>
                    <a:srgbClr val="FF0000"/>
                  </a:solidFill>
                </a:rPr>
                <a:t> - </a:t>
              </a:r>
              <a:r>
                <a:rPr lang="en-US" altLang="ko-KR" sz="900" dirty="0">
                  <a:solidFill>
                    <a:schemeClr val="bg1">
                      <a:lumMod val="50000"/>
                    </a:schemeClr>
                  </a:solidFill>
                </a:rPr>
                <a:t>Critical path </a:t>
              </a:r>
              <a:r>
                <a:rPr lang="ko-KR" altLang="en-US" sz="900" dirty="0">
                  <a:solidFill>
                    <a:schemeClr val="bg1">
                      <a:lumMod val="50000"/>
                    </a:schemeClr>
                  </a:solidFill>
                </a:rPr>
                <a:t>내</a:t>
              </a:r>
              <a:endParaRPr lang="en-US" altLang="ko-KR" sz="900" dirty="0">
                <a:solidFill>
                  <a:srgbClr val="FF0000"/>
                </a:solidFill>
              </a:endParaRPr>
            </a:p>
          </p:txBody>
        </p:sp>
        <p:grpSp>
          <p:nvGrpSpPr>
            <p:cNvPr id="55" name="그룹 54">
              <a:extLst>
                <a:ext uri="{FF2B5EF4-FFF2-40B4-BE49-F238E27FC236}">
                  <a16:creationId xmlns:a16="http://schemas.microsoft.com/office/drawing/2014/main" id="{20247864-5FE1-4F69-9F2A-D6FA572B779B}"/>
                </a:ext>
              </a:extLst>
            </p:cNvPr>
            <p:cNvGrpSpPr/>
            <p:nvPr/>
          </p:nvGrpSpPr>
          <p:grpSpPr>
            <a:xfrm>
              <a:off x="6959257" y="2660762"/>
              <a:ext cx="2250800" cy="1353122"/>
              <a:chOff x="6334829" y="2532795"/>
              <a:chExt cx="3029193" cy="1637279"/>
            </a:xfrm>
          </p:grpSpPr>
          <p:sp>
            <p:nvSpPr>
              <p:cNvPr id="167" name="Shape 37">
                <a:extLst>
                  <a:ext uri="{FF2B5EF4-FFF2-40B4-BE49-F238E27FC236}">
                    <a16:creationId xmlns:a16="http://schemas.microsoft.com/office/drawing/2014/main" id="{90DAE390-C546-4459-96AF-4143F55DB1B8}"/>
                  </a:ext>
                </a:extLst>
              </p:cNvPr>
              <p:cNvSpPr/>
              <p:nvPr/>
            </p:nvSpPr>
            <p:spPr>
              <a:xfrm>
                <a:off x="8340414" y="2718034"/>
                <a:ext cx="1023608" cy="395581"/>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68" name="직선 화살표 연결선 185">
                <a:extLst>
                  <a:ext uri="{FF2B5EF4-FFF2-40B4-BE49-F238E27FC236}">
                    <a16:creationId xmlns:a16="http://schemas.microsoft.com/office/drawing/2014/main" id="{5147715F-B5AF-48FB-9317-FF7DCBEA214E}"/>
                  </a:ext>
                </a:extLst>
              </p:cNvPr>
              <p:cNvCxnSpPr>
                <a:cxnSpLocks/>
                <a:stCxn id="169" idx="3"/>
                <a:endCxn id="167" idx="1"/>
              </p:cNvCxnSpPr>
              <p:nvPr/>
            </p:nvCxnSpPr>
            <p:spPr>
              <a:xfrm>
                <a:off x="7929375" y="2750365"/>
                <a:ext cx="411039" cy="165459"/>
              </a:xfrm>
              <a:prstGeom prst="bentConnector3">
                <a:avLst>
                  <a:gd name="adj1" fmla="val 50000"/>
                </a:avLst>
              </a:prstGeom>
              <a:noFill/>
              <a:ln w="9525">
                <a:solidFill>
                  <a:schemeClr val="tx1"/>
                </a:solidFill>
                <a:prstDash val="solid"/>
                <a:headEnd type="none" w="med" len="med"/>
                <a:tailEnd type="triangle" w="med" len="med"/>
              </a:ln>
            </p:spPr>
          </p:cxnSp>
          <p:sp>
            <p:nvSpPr>
              <p:cNvPr id="169" name="Shape 37">
                <a:extLst>
                  <a:ext uri="{FF2B5EF4-FFF2-40B4-BE49-F238E27FC236}">
                    <a16:creationId xmlns:a16="http://schemas.microsoft.com/office/drawing/2014/main" id="{5A9E902C-C762-43E4-8FBB-2BC7D8D934DC}"/>
                  </a:ext>
                </a:extLst>
              </p:cNvPr>
              <p:cNvSpPr/>
              <p:nvPr/>
            </p:nvSpPr>
            <p:spPr>
              <a:xfrm>
                <a:off x="6557585" y="2532795"/>
                <a:ext cx="1371789" cy="43514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 </a:t>
                </a:r>
                <a:r>
                  <a:rPr lang="en-US" altLang="ko-KR" sz="900" b="1" dirty="0">
                    <a:solidFill>
                      <a:schemeClr val="accent2">
                        <a:lumMod val="75000"/>
                      </a:schemeClr>
                    </a:solidFill>
                  </a:rPr>
                  <a:t>(Plan)</a:t>
                </a:r>
              </a:p>
            </p:txBody>
          </p:sp>
          <p:sp>
            <p:nvSpPr>
              <p:cNvPr id="170" name="Shape 37">
                <a:extLst>
                  <a:ext uri="{FF2B5EF4-FFF2-40B4-BE49-F238E27FC236}">
                    <a16:creationId xmlns:a16="http://schemas.microsoft.com/office/drawing/2014/main" id="{6CC00633-A2ED-4E85-98F5-915767F01623}"/>
                  </a:ext>
                </a:extLst>
              </p:cNvPr>
              <p:cNvSpPr/>
              <p:nvPr/>
            </p:nvSpPr>
            <p:spPr>
              <a:xfrm>
                <a:off x="8340407" y="3195654"/>
                <a:ext cx="1023610" cy="55548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dirty="0">
                    <a:solidFill>
                      <a:srgbClr val="1A1A1A"/>
                    </a:solidFill>
                    <a:latin typeface="Malgun Gothic" pitchFamily="34" charset="0"/>
                    <a:ea typeface="Malgun Gothic" pitchFamily="34" charset="-122"/>
                    <a:cs typeface="Malgun Gothic" pitchFamily="34" charset="-120"/>
                  </a:rPr>
                  <a:t>Monitor</a:t>
                </a:r>
              </a:p>
            </p:txBody>
          </p:sp>
          <p:cxnSp>
            <p:nvCxnSpPr>
              <p:cNvPr id="171" name="직선 화살표 연결선 185">
                <a:extLst>
                  <a:ext uri="{FF2B5EF4-FFF2-40B4-BE49-F238E27FC236}">
                    <a16:creationId xmlns:a16="http://schemas.microsoft.com/office/drawing/2014/main" id="{A10F8AFC-DE84-4F55-A9D7-1E2452D3B196}"/>
                  </a:ext>
                </a:extLst>
              </p:cNvPr>
              <p:cNvCxnSpPr>
                <a:cxnSpLocks/>
                <a:stCxn id="169" idx="3"/>
                <a:endCxn id="170" idx="1"/>
              </p:cNvCxnSpPr>
              <p:nvPr/>
            </p:nvCxnSpPr>
            <p:spPr>
              <a:xfrm>
                <a:off x="7929375" y="2750365"/>
                <a:ext cx="411032" cy="723032"/>
              </a:xfrm>
              <a:prstGeom prst="bentConnector3">
                <a:avLst>
                  <a:gd name="adj1" fmla="val 50000"/>
                </a:avLst>
              </a:prstGeom>
              <a:noFill/>
              <a:ln w="9525">
                <a:solidFill>
                  <a:schemeClr val="tx1"/>
                </a:solidFill>
                <a:prstDash val="solid"/>
                <a:headEnd type="none" w="med" len="med"/>
                <a:tailEnd type="triangle" w="med" len="med"/>
              </a:ln>
            </p:spPr>
          </p:cxnSp>
          <p:sp>
            <p:nvSpPr>
              <p:cNvPr id="172" name="Shape 37">
                <a:extLst>
                  <a:ext uri="{FF2B5EF4-FFF2-40B4-BE49-F238E27FC236}">
                    <a16:creationId xmlns:a16="http://schemas.microsoft.com/office/drawing/2014/main" id="{70B458B8-8383-4A34-B3D0-8FE89C2B733A}"/>
                  </a:ext>
                </a:extLst>
              </p:cNvPr>
              <p:cNvSpPr/>
              <p:nvPr/>
            </p:nvSpPr>
            <p:spPr>
              <a:xfrm>
                <a:off x="6561862" y="3253418"/>
                <a:ext cx="1371789" cy="359618"/>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Cost Evaluator</a:t>
                </a:r>
              </a:p>
            </p:txBody>
          </p:sp>
          <p:cxnSp>
            <p:nvCxnSpPr>
              <p:cNvPr id="173" name="직선 화살표 연결선 185">
                <a:extLst>
                  <a:ext uri="{FF2B5EF4-FFF2-40B4-BE49-F238E27FC236}">
                    <a16:creationId xmlns:a16="http://schemas.microsoft.com/office/drawing/2014/main" id="{95D5E7CF-8934-4F6E-B767-D7C6E910F7F6}"/>
                  </a:ext>
                </a:extLst>
              </p:cNvPr>
              <p:cNvCxnSpPr>
                <a:cxnSpLocks/>
                <a:stCxn id="169" idx="2"/>
                <a:endCxn id="172" idx="0"/>
              </p:cNvCxnSpPr>
              <p:nvPr/>
            </p:nvCxnSpPr>
            <p:spPr>
              <a:xfrm>
                <a:off x="7243481" y="2967936"/>
                <a:ext cx="4277" cy="285483"/>
              </a:xfrm>
              <a:prstGeom prst="straightConnector1">
                <a:avLst/>
              </a:prstGeom>
              <a:noFill/>
              <a:ln w="9525">
                <a:solidFill>
                  <a:schemeClr val="tx1"/>
                </a:solidFill>
                <a:prstDash val="solid"/>
                <a:headEnd type="none" w="med" len="med"/>
                <a:tailEnd type="triangle" w="med" len="med"/>
              </a:ln>
            </p:spPr>
          </p:cxnSp>
          <p:sp>
            <p:nvSpPr>
              <p:cNvPr id="174" name="Shape 37">
                <a:extLst>
                  <a:ext uri="{FF2B5EF4-FFF2-40B4-BE49-F238E27FC236}">
                    <a16:creationId xmlns:a16="http://schemas.microsoft.com/office/drawing/2014/main" id="{F35F2B03-9D6C-46EF-9020-017926F86EEA}"/>
                  </a:ext>
                </a:extLst>
              </p:cNvPr>
              <p:cNvSpPr/>
              <p:nvPr/>
            </p:nvSpPr>
            <p:spPr>
              <a:xfrm>
                <a:off x="6334829" y="3810455"/>
                <a:ext cx="1825852" cy="359619"/>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Publisher</a:t>
                </a:r>
              </a:p>
            </p:txBody>
          </p:sp>
          <p:cxnSp>
            <p:nvCxnSpPr>
              <p:cNvPr id="175" name="직선 화살표 연결선 185">
                <a:extLst>
                  <a:ext uri="{FF2B5EF4-FFF2-40B4-BE49-F238E27FC236}">
                    <a16:creationId xmlns:a16="http://schemas.microsoft.com/office/drawing/2014/main" id="{68BFF503-4C29-43B1-9353-9A83B9332F63}"/>
                  </a:ext>
                </a:extLst>
              </p:cNvPr>
              <p:cNvCxnSpPr>
                <a:cxnSpLocks/>
                <a:stCxn id="172" idx="2"/>
                <a:endCxn id="174" idx="0"/>
              </p:cNvCxnSpPr>
              <p:nvPr/>
            </p:nvCxnSpPr>
            <p:spPr>
              <a:xfrm flipH="1">
                <a:off x="7247755" y="3613036"/>
                <a:ext cx="3" cy="197419"/>
              </a:xfrm>
              <a:prstGeom prst="straightConnector1">
                <a:avLst/>
              </a:prstGeom>
              <a:noFill/>
              <a:ln w="11430">
                <a:solidFill>
                  <a:srgbClr val="888C91"/>
                </a:solidFill>
                <a:prstDash val="solid"/>
                <a:headEnd type="none"/>
                <a:tailEnd type="triangle"/>
              </a:ln>
            </p:spPr>
          </p:cxnSp>
        </p:grpSp>
        <p:sp>
          <p:nvSpPr>
            <p:cNvPr id="191" name="Shape 31">
              <a:extLst>
                <a:ext uri="{FF2B5EF4-FFF2-40B4-BE49-F238E27FC236}">
                  <a16:creationId xmlns:a16="http://schemas.microsoft.com/office/drawing/2014/main" id="{7AB93E39-C877-4F6E-91E3-4818D5AD8143}"/>
                </a:ext>
              </a:extLst>
            </p:cNvPr>
            <p:cNvSpPr/>
            <p:nvPr/>
          </p:nvSpPr>
          <p:spPr>
            <a:xfrm>
              <a:off x="10122008"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92" name="Shape 31">
              <a:extLst>
                <a:ext uri="{FF2B5EF4-FFF2-40B4-BE49-F238E27FC236}">
                  <a16:creationId xmlns:a16="http://schemas.microsoft.com/office/drawing/2014/main" id="{0FE145B6-CE91-4FE8-9E63-351A03D67391}"/>
                </a:ext>
              </a:extLst>
            </p:cNvPr>
            <p:cNvSpPr/>
            <p:nvPr/>
          </p:nvSpPr>
          <p:spPr>
            <a:xfrm>
              <a:off x="9538389"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94" name="Shape 31">
              <a:extLst>
                <a:ext uri="{FF2B5EF4-FFF2-40B4-BE49-F238E27FC236}">
                  <a16:creationId xmlns:a16="http://schemas.microsoft.com/office/drawing/2014/main" id="{9355122B-B076-4AD6-8266-92347533977C}"/>
                </a:ext>
              </a:extLst>
            </p:cNvPr>
            <p:cNvSpPr/>
            <p:nvPr/>
          </p:nvSpPr>
          <p:spPr>
            <a:xfrm>
              <a:off x="10723037" y="4233616"/>
              <a:ext cx="597945"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sp>
          <p:nvSpPr>
            <p:cNvPr id="195" name="Shape 31">
              <a:extLst>
                <a:ext uri="{FF2B5EF4-FFF2-40B4-BE49-F238E27FC236}">
                  <a16:creationId xmlns:a16="http://schemas.microsoft.com/office/drawing/2014/main" id="{5B34D1C2-0536-47F9-A4E3-D0D324ADCE23}"/>
                </a:ext>
              </a:extLst>
            </p:cNvPr>
            <p:cNvSpPr/>
            <p:nvPr/>
          </p:nvSpPr>
          <p:spPr>
            <a:xfrm>
              <a:off x="11370490" y="4233616"/>
              <a:ext cx="65774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96" name="직선 화살표 연결선 185">
              <a:extLst>
                <a:ext uri="{FF2B5EF4-FFF2-40B4-BE49-F238E27FC236}">
                  <a16:creationId xmlns:a16="http://schemas.microsoft.com/office/drawing/2014/main" id="{64718AD8-8AEE-402C-9432-118EAEC37816}"/>
                </a:ext>
              </a:extLst>
            </p:cNvPr>
            <p:cNvCxnSpPr>
              <a:cxnSpLocks/>
              <a:stCxn id="188" idx="2"/>
              <a:endCxn id="194" idx="0"/>
            </p:cNvCxnSpPr>
            <p:nvPr/>
          </p:nvCxnSpPr>
          <p:spPr>
            <a:xfrm rot="16200000" flipH="1">
              <a:off x="10700105" y="3911710"/>
              <a:ext cx="321923" cy="321887"/>
            </a:xfrm>
            <a:prstGeom prst="bentConnector3">
              <a:avLst>
                <a:gd name="adj1" fmla="val 50000"/>
              </a:avLst>
            </a:prstGeom>
            <a:noFill/>
            <a:ln w="11430">
              <a:solidFill>
                <a:srgbClr val="888C91"/>
              </a:solidFill>
              <a:prstDash val="solid"/>
              <a:headEnd type="none"/>
              <a:tailEnd type="triangle"/>
            </a:ln>
          </p:spPr>
        </p:cxnSp>
        <p:sp>
          <p:nvSpPr>
            <p:cNvPr id="3310" name="C2 freshness note"/>
            <p:cNvSpPr txBox="1"/>
            <p:nvPr/>
          </p:nvSpPr>
          <p:spPr>
            <a:xfrm>
              <a:off x="7679898" y="4028093"/>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10" name="C2 freshness note">
              <a:extLst>
                <a:ext uri="{FF2B5EF4-FFF2-40B4-BE49-F238E27FC236}">
                  <a16:creationId xmlns:a16="http://schemas.microsoft.com/office/drawing/2014/main" id="{127B7BA2-AF32-48BD-B4B6-6292B5DF4C0B}"/>
                </a:ext>
              </a:extLst>
            </p:cNvPr>
            <p:cNvSpPr txBox="1"/>
            <p:nvPr/>
          </p:nvSpPr>
          <p:spPr>
            <a:xfrm>
              <a:off x="10762871" y="3300036"/>
              <a:ext cx="542659"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13" name="TextBox 112">
              <a:extLst>
                <a:ext uri="{FF2B5EF4-FFF2-40B4-BE49-F238E27FC236}">
                  <a16:creationId xmlns:a16="http://schemas.microsoft.com/office/drawing/2014/main" id="{21A4406A-848C-40A9-8F3E-43EAB95C7998}"/>
                </a:ext>
              </a:extLst>
            </p:cNvPr>
            <p:cNvSpPr txBox="1"/>
            <p:nvPr/>
          </p:nvSpPr>
          <p:spPr>
            <a:xfrm>
              <a:off x="9528263" y="2716734"/>
              <a:ext cx="640080" cy="138499"/>
            </a:xfrm>
            <a:prstGeom prst="rect">
              <a:avLst/>
            </a:prstGeom>
            <a:noFill/>
          </p:spPr>
          <p:txBody>
            <a:bodyPr wrap="square" lIns="0" tIns="0" rIns="0" bIns="0" anchor="ctr">
              <a:spAutoFit/>
            </a:bodyPr>
            <a:lstStyle/>
            <a:p>
              <a:pPr algn="ctr">
                <a:lnSpc>
                  <a:spcPct val="100000"/>
                </a:lnSpc>
              </a:pPr>
              <a:r>
                <a:rPr lang="en-US" sz="900" b="0" i="0" dirty="0">
                  <a:solidFill>
                    <a:srgbClr val="C55A11"/>
                  </a:solidFill>
                  <a:latin typeface="맑은 고딕"/>
                  <a:ea typeface="맑은 고딕"/>
                </a:rPr>
                <a:t>If </a:t>
              </a:r>
              <a:r>
                <a:rPr lang="en-US" sz="900" dirty="0">
                  <a:solidFill>
                    <a:srgbClr val="C55A11"/>
                  </a:solidFill>
                  <a:latin typeface="맑은 고딕"/>
                  <a:ea typeface="맑은 고딕"/>
                </a:rPr>
                <a:t>m</a:t>
              </a:r>
              <a:r>
                <a:rPr lang="en-US" sz="900" b="0" i="0" dirty="0">
                  <a:solidFill>
                    <a:srgbClr val="C55A11"/>
                  </a:solidFill>
                  <a:latin typeface="맑은 고딕"/>
                  <a:ea typeface="맑은 고딕"/>
                </a:rPr>
                <a:t>ismatch</a:t>
              </a:r>
              <a:endParaRPr sz="900" b="0" i="0" dirty="0">
                <a:solidFill>
                  <a:srgbClr val="C55A11"/>
                </a:solidFill>
                <a:latin typeface="맑은 고딕"/>
                <a:ea typeface="맑은 고딕"/>
              </a:endParaRPr>
            </a:p>
          </p:txBody>
        </p:sp>
        <p:sp>
          <p:nvSpPr>
            <p:cNvPr id="162" name="Rectangle 9065">
              <a:extLst>
                <a:ext uri="{FF2B5EF4-FFF2-40B4-BE49-F238E27FC236}">
                  <a16:creationId xmlns:a16="http://schemas.microsoft.com/office/drawing/2014/main" id="{DC0FC1D3-B7E6-42CE-84E0-E28CE1ED44E9}"/>
                </a:ext>
              </a:extLst>
            </p:cNvPr>
            <p:cNvSpPr/>
            <p:nvPr/>
          </p:nvSpPr>
          <p:spPr>
            <a:xfrm>
              <a:off x="6650290" y="2283984"/>
              <a:ext cx="265546" cy="112170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eaVert" lIns="36000" tIns="18000" rIns="36000" bIns="18000" rtlCol="0" anchor="ctr">
              <a:noAutofit/>
            </a:bodyPr>
            <a:lstStyle/>
            <a:p>
              <a:pPr algn="ctr"/>
              <a:r>
                <a:rPr lang="en-US" sz="900" dirty="0">
                  <a:solidFill>
                    <a:schemeClr val="bg1"/>
                  </a:solidFill>
                </a:rPr>
                <a:t>Common Memory</a:t>
              </a:r>
            </a:p>
            <a:p>
              <a:pPr algn="ctr"/>
              <a:r>
                <a:rPr lang="en-US" sz="900" dirty="0">
                  <a:solidFill>
                    <a:schemeClr val="bg1"/>
                  </a:solidFill>
                </a:rPr>
                <a:t> Backend Interface</a:t>
              </a:r>
            </a:p>
          </p:txBody>
        </p:sp>
        <p:cxnSp>
          <p:nvCxnSpPr>
            <p:cNvPr id="177" name="직선 화살표 연결선 185">
              <a:extLst>
                <a:ext uri="{FF2B5EF4-FFF2-40B4-BE49-F238E27FC236}">
                  <a16:creationId xmlns:a16="http://schemas.microsoft.com/office/drawing/2014/main" id="{643E492D-CE08-4786-9B0D-A7E6F1A63A29}"/>
                </a:ext>
              </a:extLst>
            </p:cNvPr>
            <p:cNvCxnSpPr>
              <a:cxnSpLocks/>
              <a:stCxn id="162" idx="3"/>
              <a:endCxn id="169" idx="1"/>
            </p:cNvCxnSpPr>
            <p:nvPr/>
          </p:nvCxnSpPr>
          <p:spPr>
            <a:xfrm flipV="1">
              <a:off x="6915836" y="2840572"/>
              <a:ext cx="208937" cy="4265"/>
            </a:xfrm>
            <a:prstGeom prst="straightConnector1">
              <a:avLst/>
            </a:prstGeom>
            <a:noFill/>
            <a:ln w="11430">
              <a:solidFill>
                <a:srgbClr val="888C91"/>
              </a:solidFill>
              <a:prstDash val="solid"/>
              <a:headEnd type="none"/>
              <a:tailEnd type="triangle"/>
            </a:ln>
          </p:spPr>
        </p:cxnSp>
      </p:grpSp>
      <p:cxnSp>
        <p:nvCxnSpPr>
          <p:cNvPr id="14" name="직선 연결선 13"/>
          <p:cNvCxnSpPr/>
          <p:nvPr/>
        </p:nvCxnSpPr>
        <p:spPr>
          <a:xfrm>
            <a:off x="9348289" y="1809408"/>
            <a:ext cx="0" cy="2790583"/>
          </a:xfrm>
          <a:prstGeom prst="line">
            <a:avLst/>
          </a:prstGeom>
          <a:noFill/>
          <a:ln w="12700">
            <a:solidFill>
              <a:srgbClr val="C76E31"/>
            </a:solidFill>
            <a:prstDash val="dash"/>
          </a:ln>
        </p:spPr>
      </p:cxnSp>
      <p:sp>
        <p:nvSpPr>
          <p:cNvPr id="114" name="TextBox 113"/>
          <p:cNvSpPr txBox="1"/>
          <p:nvPr/>
        </p:nvSpPr>
        <p:spPr>
          <a:xfrm>
            <a:off x="8315931" y="5949844"/>
            <a:ext cx="1687520" cy="276999"/>
          </a:xfrm>
          <a:prstGeom prst="rect">
            <a:avLst/>
          </a:prstGeom>
          <a:noFill/>
        </p:spPr>
        <p:txBody>
          <a:bodyPr wrap="square" rtlCol="0">
            <a:spAutoFit/>
          </a:bodyPr>
          <a:lstStyle/>
          <a:p>
            <a:r>
              <a:rPr lang="en-US" altLang="ko-KR" sz="600" dirty="0">
                <a:solidFill>
                  <a:srgbClr val="0000FF"/>
                </a:solidFill>
              </a:rPr>
              <a:t>Re-plan</a:t>
            </a:r>
            <a:r>
              <a:rPr lang="ko-KR" altLang="en-US" sz="600" dirty="0">
                <a:solidFill>
                  <a:srgbClr val="0000FF"/>
                </a:solidFill>
              </a:rPr>
              <a:t>으로 인한 메모리 압박 대응 지연의 영향이 적음</a:t>
            </a:r>
          </a:p>
        </p:txBody>
      </p:sp>
      <p:sp>
        <p:nvSpPr>
          <p:cNvPr id="115" name="모서리가 둥근 직사각형 114"/>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F2 </a:t>
            </a:r>
            <a:r>
              <a:rPr lang="ko-KR" altLang="en-US" sz="700" dirty="0">
                <a:latin typeface="맑은 고딕" panose="020B0503020000020004" pitchFamily="50" charset="-127"/>
              </a:rPr>
              <a:t>추론 스케줄링</a:t>
            </a:r>
          </a:p>
        </p:txBody>
      </p:sp>
      <p:sp>
        <p:nvSpPr>
          <p:cNvPr id="11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17"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18"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19"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21"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27"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29" name="모서리가 둥근 직사각형 128"/>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추론 요청 관리</a:t>
            </a:r>
          </a:p>
        </p:txBody>
      </p:sp>
      <p:sp>
        <p:nvSpPr>
          <p:cNvPr id="91" name="실행 단추: 앞으로 또는 다음으로 이동 90">
            <a:hlinkClick r:id="rId3" action="ppaction://hlinksldjump" highlightClick="1"/>
            <a:extLst>
              <a:ext uri="{FF2B5EF4-FFF2-40B4-BE49-F238E27FC236}">
                <a16:creationId xmlns:a16="http://schemas.microsoft.com/office/drawing/2014/main" id="{2F781E54-C2A9-4CF1-9D95-4CC4378F6989}"/>
              </a:ext>
            </a:extLst>
          </p:cNvPr>
          <p:cNvSpPr/>
          <p:nvPr/>
        </p:nvSpPr>
        <p:spPr>
          <a:xfrm>
            <a:off x="645883" y="6347694"/>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2" name="실행 단추: 앞으로 또는 다음 101">
            <a:hlinkClick r:id="rId4" action="ppaction://hlinksldjump" highlightClick="1"/>
            <a:extLst>
              <a:ext uri="{FF2B5EF4-FFF2-40B4-BE49-F238E27FC236}">
                <a16:creationId xmlns:a16="http://schemas.microsoft.com/office/drawing/2014/main" id="{C663284F-7CC3-4744-A191-35C2BE755D86}"/>
              </a:ext>
            </a:extLst>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실행 단추: 앞으로 또는 다음 107">
            <a:hlinkClick r:id="rId5" action="ppaction://hlinksldjump" highlightClick="1"/>
            <a:extLst>
              <a:ext uri="{FF2B5EF4-FFF2-40B4-BE49-F238E27FC236}">
                <a16:creationId xmlns:a16="http://schemas.microsoft.com/office/drawing/2014/main" id="{0C2D7D3F-4CBE-42CC-9639-D4412922C7D0}"/>
              </a:ext>
            </a:extLst>
          </p:cNvPr>
          <p:cNvSpPr/>
          <p:nvPr/>
        </p:nvSpPr>
        <p:spPr>
          <a:xfrm>
            <a:off x="941498" y="1937279"/>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CEDBF6B3-F433-4953-8A1F-84DEA8B576C3}"/>
              </a:ext>
            </a:extLst>
          </p:cNvPr>
          <p:cNvSpPr txBox="1"/>
          <p:nvPr/>
        </p:nvSpPr>
        <p:spPr>
          <a:xfrm>
            <a:off x="298437" y="1948684"/>
            <a:ext cx="730531" cy="230832"/>
          </a:xfrm>
          <a:prstGeom prst="rect">
            <a:avLst/>
          </a:prstGeom>
          <a:noFill/>
        </p:spPr>
        <p:txBody>
          <a:bodyPr wrap="square" rtlCol="0">
            <a:spAutoFit/>
          </a:bodyPr>
          <a:lstStyle>
            <a:defPPr>
              <a:defRPr lang="ko-KR"/>
            </a:defPPr>
            <a:lvl1pPr>
              <a:defRPr sz="1100"/>
            </a:lvl1pPr>
          </a:lstStyle>
          <a:p>
            <a:r>
              <a:rPr lang="en-US" sz="900" dirty="0"/>
              <a:t>Cost </a:t>
            </a:r>
            <a:r>
              <a:rPr lang="ko-KR" altLang="en-US" sz="900" dirty="0"/>
              <a:t>참고</a:t>
            </a:r>
            <a:endParaRPr lang="en-US" sz="900" dirty="0"/>
          </a:p>
        </p:txBody>
      </p:sp>
      <p:sp>
        <p:nvSpPr>
          <p:cNvPr id="97" name="실행 단추: 앞으로 또는 다음 101">
            <a:hlinkClick r:id="rId6" action="ppaction://hlinksldjump" highlightClick="1"/>
            <a:extLst>
              <a:ext uri="{FF2B5EF4-FFF2-40B4-BE49-F238E27FC236}">
                <a16:creationId xmlns:a16="http://schemas.microsoft.com/office/drawing/2014/main" id="{C663284F-7CC3-4744-A191-35C2BE755D86}"/>
              </a:ext>
            </a:extLst>
          </p:cNvPr>
          <p:cNvSpPr/>
          <p:nvPr/>
        </p:nvSpPr>
        <p:spPr>
          <a:xfrm>
            <a:off x="6315895"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648358858"/>
      </p:ext>
    </p:extLst>
  </p:cSld>
  <p:clrMapOvr>
    <a:masterClrMapping/>
  </p:clrMapOvr>
  <p:timing>
    <p:tnLst>
      <p:par>
        <p:cTn id="1" dur="indefinite" restart="never" nodeType="tmRoot"/>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nvPr>
        </p:nvGraphicFramePr>
        <p:xfrm>
          <a:off x="304992" y="1061955"/>
          <a:ext cx="11759184" cy="5586495"/>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2836734">
                  <a:extLst>
                    <a:ext uri="{9D8B030D-6E8A-4147-A177-3AD203B41FA5}">
                      <a16:colId xmlns:a16="http://schemas.microsoft.com/office/drawing/2014/main" val="5654497"/>
                    </a:ext>
                  </a:extLst>
                </a:gridCol>
                <a:gridCol w="2165350">
                  <a:extLst>
                    <a:ext uri="{9D8B030D-6E8A-4147-A177-3AD203B41FA5}">
                      <a16:colId xmlns:a16="http://schemas.microsoft.com/office/drawing/2014/main" val="2953438935"/>
                    </a:ext>
                  </a:extLst>
                </a:gridCol>
                <a:gridCol w="3559175">
                  <a:extLst>
                    <a:ext uri="{9D8B030D-6E8A-4147-A177-3AD203B41FA5}">
                      <a16:colId xmlns:a16="http://schemas.microsoft.com/office/drawing/2014/main" val="3070054508"/>
                    </a:ext>
                  </a:extLst>
                </a:gridCol>
                <a:gridCol w="2320101">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(Plan + Decision</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동시 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200" b="1" kern="1200" baseline="0" noProof="0" dirty="0">
                          <a:solidFill>
                            <a:schemeClr val="bg1">
                              <a:lumMod val="50000"/>
                            </a:schemeClr>
                          </a:solidFill>
                          <a:latin typeface="+mn-lt"/>
                          <a:ea typeface="+mn-ea"/>
                          <a:cs typeface="+mn-cs"/>
                        </a:rPr>
                        <a:t>(Plan, Decision </a:t>
                      </a:r>
                      <a:r>
                        <a:rPr lang="ko-KR" altLang="en-US" sz="1200" b="1" kern="1200" baseline="0" noProof="0" dirty="0">
                          <a:solidFill>
                            <a:schemeClr val="bg1">
                              <a:lumMod val="50000"/>
                            </a:schemeClr>
                          </a:solidFill>
                          <a:latin typeface="+mn-lt"/>
                          <a:ea typeface="+mn-ea"/>
                          <a:cs typeface="+mn-cs"/>
                        </a:rPr>
                        <a:t>분리 구조</a:t>
                      </a:r>
                      <a:r>
                        <a:rPr lang="en-US" altLang="ko-KR" sz="1200" b="1" kern="1200" baseline="0" noProof="0" dirty="0">
                          <a:solidFill>
                            <a:schemeClr val="bg1">
                              <a:lumMod val="50000"/>
                            </a:schemeClr>
                          </a:solidFill>
                          <a:latin typeface="+mn-lt"/>
                          <a:ea typeface="+mn-ea"/>
                          <a:cs typeface="+mn-cs"/>
                        </a:rPr>
                        <a:t>)</a:t>
                      </a:r>
                      <a:r>
                        <a:rPr lang="ko-KR" altLang="en-US" sz="1200" b="1" strike="noStrike" baseline="0" dirty="0"/>
                        <a:t> </a:t>
                      </a:r>
                      <a:r>
                        <a:rPr lang="en-US" altLang="ko-KR" sz="1200" b="1" strike="noStrike" kern="1200" baseline="0" noProof="0" dirty="0">
                          <a:solidFill>
                            <a:srgbClr val="0000FF"/>
                          </a:solidFill>
                          <a:latin typeface="+mn-lt"/>
                          <a:ea typeface="+mn-ea"/>
                          <a:cs typeface="+mn-cs"/>
                        </a:rPr>
                        <a:t>+ </a:t>
                      </a:r>
                      <a:r>
                        <a:rPr kumimoji="0" lang="ko-KR" altLang="en-US" sz="1200" b="1" i="0" u="none" strike="noStrike" kern="1200" cap="none" spc="0" normalizeH="0" baseline="0" noProof="0" dirty="0">
                          <a:ln>
                            <a:noFill/>
                          </a:ln>
                          <a:solidFill>
                            <a:srgbClr val="0000FF"/>
                          </a:solidFill>
                          <a:effectLst/>
                          <a:uLnTx/>
                          <a:uFillTx/>
                          <a:latin typeface="+mn-lt"/>
                          <a:ea typeface="맑은 고딕"/>
                          <a:cs typeface="+mn-cs"/>
                        </a:rPr>
                        <a:t>저비용 검증 </a:t>
                      </a:r>
                      <a:endParaRPr lang="en-US" altLang="ko-KR" sz="1050" b="1" kern="1200" baseline="0" noProof="0" dirty="0">
                        <a:solidFill>
                          <a:srgbClr val="0000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2927936">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실시간 부하</a:t>
                      </a:r>
                      <a:r>
                        <a:rPr lang="en-US" altLang="ko-KR" sz="1200" strike="noStrike" dirty="0">
                          <a:solidFill>
                            <a:schemeClr val="tx1"/>
                          </a:solidFill>
                          <a:effectLst/>
                          <a:latin typeface="맑은 고딕" panose="020B0503020000020004" pitchFamily="50" charset="-127"/>
                          <a:ea typeface="+mn-ea"/>
                        </a:rPr>
                        <a:t>∙</a:t>
                      </a:r>
                      <a:r>
                        <a:rPr lang="ko-KR" altLang="en-US" sz="1200" strike="noStrike" kern="1200" baseline="0" dirty="0">
                          <a:solidFill>
                            <a:schemeClr val="tx1"/>
                          </a:solidFill>
                          <a:effectLst/>
                          <a:latin typeface="+mn-lt"/>
                          <a:ea typeface="+mn-ea"/>
                          <a:cs typeface="+mn-cs"/>
                        </a:rPr>
                        <a:t>리소스 상태를 반영하여 메모리 압력에 대응하기 유리 </a:t>
                      </a:r>
                      <a:r>
                        <a:rPr lang="en-US" altLang="ko-KR" sz="1200" strike="noStrike" kern="1200" baseline="0" dirty="0">
                          <a:solidFill>
                            <a:schemeClr val="tx1"/>
                          </a:solidFill>
                          <a:effectLst/>
                          <a:latin typeface="+mn-lt"/>
                          <a:ea typeface="+mn-ea"/>
                          <a:cs typeface="+mn-cs"/>
                        </a:rPr>
                        <a:t>(Q2)</a:t>
                      </a:r>
                      <a:endParaRPr lang="ko-KR" altLang="en-US"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계획 확정 후 즉시 실행하여</a:t>
                      </a:r>
                      <a:r>
                        <a:rPr lang="en-US" altLang="ko-KR" sz="1200" strike="noStrike" kern="1200" baseline="0" dirty="0">
                          <a:solidFill>
                            <a:schemeClr val="tx1"/>
                          </a:solidFill>
                          <a:effectLst/>
                          <a:latin typeface="+mn-lt"/>
                          <a:ea typeface="+mn-ea"/>
                          <a:cs typeface="+mn-cs"/>
                        </a:rPr>
                        <a:t> tail latency </a:t>
                      </a:r>
                      <a:r>
                        <a:rPr lang="ko-KR" altLang="en-US" sz="1200" strike="noStrike" kern="1200" baseline="0" dirty="0">
                          <a:solidFill>
                            <a:schemeClr val="tx1"/>
                          </a:solidFill>
                          <a:effectLst/>
                          <a:latin typeface="+mn-lt"/>
                          <a:ea typeface="+mn-ea"/>
                          <a:cs typeface="+mn-cs"/>
                        </a:rPr>
                        <a:t>완화 </a:t>
                      </a:r>
                      <a:r>
                        <a:rPr lang="en-US" altLang="ko-KR" sz="1200" strike="noStrike" kern="1200" baseline="0" dirty="0">
                          <a:solidFill>
                            <a:schemeClr val="tx1"/>
                          </a:solidFill>
                          <a:effectLst/>
                          <a:latin typeface="+mn-lt"/>
                          <a:ea typeface="+mn-ea"/>
                          <a:cs typeface="+mn-cs"/>
                        </a:rPr>
                        <a:t>(Q3)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연산 위치 결정을 </a:t>
                      </a:r>
                      <a:r>
                        <a:rPr lang="en-US" altLang="ko-KR" sz="1200" strike="noStrike" dirty="0">
                          <a:solidFill>
                            <a:schemeClr val="tx1"/>
                          </a:solidFill>
                          <a:effectLst/>
                        </a:rPr>
                        <a:t>critical path </a:t>
                      </a:r>
                      <a:r>
                        <a:rPr lang="ko-KR" altLang="en-US" sz="1200" strike="noStrike" dirty="0">
                          <a:solidFill>
                            <a:schemeClr val="tx1"/>
                          </a:solidFill>
                          <a:effectLst/>
                        </a:rPr>
                        <a:t>밖으로 분리하여 </a:t>
                      </a:r>
                      <a:r>
                        <a:rPr lang="en-US" altLang="ko-KR" sz="1200" strike="noStrike" dirty="0">
                          <a:solidFill>
                            <a:schemeClr val="tx1"/>
                          </a:solidFill>
                          <a:effectLst/>
                        </a:rPr>
                        <a:t>latency </a:t>
                      </a:r>
                      <a:r>
                        <a:rPr lang="ko-KR" altLang="en-US" sz="1200" strike="noStrike" dirty="0">
                          <a:solidFill>
                            <a:schemeClr val="tx1"/>
                          </a:solidFill>
                          <a:effectLst/>
                        </a:rPr>
                        <a:t>절감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요청</a:t>
                      </a:r>
                      <a:r>
                        <a:rPr lang="en-US" altLang="ko-KR" sz="1200" strike="noStrike" dirty="0">
                          <a:solidFill>
                            <a:schemeClr val="tx1"/>
                          </a:solidFill>
                          <a:effectLst/>
                          <a:latin typeface="맑은 고딕" panose="020B0503020000020004" pitchFamily="50" charset="-127"/>
                          <a:ea typeface="맑은 고딕" panose="020B0503020000020004" pitchFamily="50" charset="-127"/>
                        </a:rPr>
                        <a:t>∙</a:t>
                      </a:r>
                      <a:r>
                        <a:rPr lang="ko-KR" altLang="en-US" sz="1200" strike="noStrike" dirty="0">
                          <a:solidFill>
                            <a:schemeClr val="tx1"/>
                          </a:solidFill>
                          <a:effectLst/>
                        </a:rPr>
                        <a:t>연산 자원 증가 시 계획 </a:t>
                      </a:r>
                      <a:r>
                        <a:rPr lang="en-US" altLang="ko-KR" sz="1200" strike="noStrike" dirty="0">
                          <a:solidFill>
                            <a:schemeClr val="tx1"/>
                          </a:solidFill>
                          <a:effectLst/>
                        </a:rPr>
                        <a:t>worker, batch evaluation </a:t>
                      </a:r>
                      <a:r>
                        <a:rPr lang="ko-KR" altLang="en-US" sz="1200" strike="noStrike" dirty="0">
                          <a:solidFill>
                            <a:schemeClr val="tx1"/>
                          </a:solidFill>
                          <a:effectLst/>
                        </a:rPr>
                        <a:t>등으로 계획 컴포넌트를 독립 확장 가능 </a:t>
                      </a:r>
                      <a:r>
                        <a:rPr lang="en-US" altLang="ko-KR" sz="1200" strike="noStrike" dirty="0">
                          <a:solidFill>
                            <a:schemeClr val="tx1"/>
                          </a:solidFill>
                          <a:effectLst/>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위치에 대한 </a:t>
                      </a:r>
                      <a:r>
                        <a:rPr lang="en-US" altLang="ko-KR" sz="1200" strike="noStrike" baseline="0" dirty="0">
                          <a:solidFill>
                            <a:schemeClr val="tx1"/>
                          </a:solidFill>
                          <a:effectLst/>
                        </a:rPr>
                        <a:t>decision latency</a:t>
                      </a:r>
                      <a:r>
                        <a:rPr lang="ko-KR" altLang="en-US" sz="1200" strike="noStrike" baseline="0" dirty="0">
                          <a:solidFill>
                            <a:schemeClr val="tx1"/>
                          </a:solidFill>
                          <a:effectLst/>
                        </a:rPr>
                        <a:t>가 </a:t>
                      </a:r>
                      <a:r>
                        <a:rPr lang="en-US" altLang="ko-KR" sz="1200" strike="noStrike" baseline="0" dirty="0">
                          <a:solidFill>
                            <a:schemeClr val="tx1"/>
                          </a:solidFill>
                          <a:effectLst/>
                        </a:rPr>
                        <a:t>critical path</a:t>
                      </a:r>
                      <a:r>
                        <a:rPr lang="ko-KR" altLang="en-US" sz="1200" strike="noStrike" baseline="0" dirty="0">
                          <a:solidFill>
                            <a:schemeClr val="tx1"/>
                          </a:solidFill>
                          <a:effectLst/>
                        </a:rPr>
                        <a:t>에 포함 </a:t>
                      </a:r>
                      <a:r>
                        <a:rPr lang="en-US" altLang="ko-KR" sz="1200" strike="noStrike" baseline="0"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자원 종류 증가 시 </a:t>
                      </a:r>
                      <a:r>
                        <a:rPr lang="en-US" altLang="ko-KR" sz="1200" strike="noStrike" baseline="0" dirty="0">
                          <a:solidFill>
                            <a:schemeClr val="tx1"/>
                          </a:solidFill>
                          <a:effectLst/>
                        </a:rPr>
                        <a:t>monitoring </a:t>
                      </a:r>
                      <a:r>
                        <a:rPr lang="ko-KR" altLang="en-US" sz="1200" strike="noStrike" baseline="0" dirty="0">
                          <a:solidFill>
                            <a:schemeClr val="tx1"/>
                          </a:solidFill>
                          <a:effectLst/>
                        </a:rPr>
                        <a:t>비용이 증가 해 스케줄링 병목 위험 </a:t>
                      </a:r>
                      <a:r>
                        <a:rPr lang="en-US" altLang="ko-KR" sz="1200" strike="noStrike" baseline="0" dirty="0">
                          <a:solidFill>
                            <a:schemeClr val="tx1"/>
                          </a:solidFill>
                          <a:effectLst/>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대규모 고부하 시 계획·실행 상태 Mismatch로 Re-plan 발생 높음 </a:t>
                      </a:r>
                      <a:r>
                        <a:rPr lang="en-US" altLang="ko-KR" sz="1200" strike="noStrike" baseline="0" dirty="0">
                          <a:solidFill>
                            <a:schemeClr val="tx1"/>
                          </a:solidFill>
                          <a:effectLst/>
                        </a:rPr>
                        <a:t>(Q3) </a:t>
                      </a:r>
                    </a:p>
                    <a:p>
                      <a:pPr marL="228600" indent="-228600">
                        <a:lnSpc>
                          <a:spcPct val="100000"/>
                        </a:lnSpc>
                        <a:spcAft>
                          <a:spcPts val="200"/>
                        </a:spcAft>
                        <a:buFont typeface="Arial" pitchFamily="34" charset="0"/>
                        <a:buAutoNum type="arabicPeriod"/>
                      </a:pPr>
                      <a:r>
                        <a:rPr lang="ko-KR" altLang="en-US" sz="1200" dirty="0">
                          <a:solidFill>
                            <a:srgbClr val="0000FF"/>
                          </a:solidFill>
                          <a:latin typeface="+mn-lt"/>
                          <a:ea typeface="맑은 고딕"/>
                        </a:rPr>
                        <a:t>여러 안을 계획해서 </a:t>
                      </a:r>
                      <a:r>
                        <a:rPr lang="en-US" altLang="ko-KR" sz="1200" dirty="0">
                          <a:solidFill>
                            <a:srgbClr val="0000FF"/>
                          </a:solidFill>
                          <a:latin typeface="+mn-lt"/>
                          <a:ea typeface="맑은 고딕"/>
                        </a:rPr>
                        <a:t>Mismatch</a:t>
                      </a:r>
                      <a:r>
                        <a:rPr lang="ko-KR" altLang="en-US" sz="1200" dirty="0">
                          <a:solidFill>
                            <a:srgbClr val="0000FF"/>
                          </a:solidFill>
                          <a:latin typeface="+mn-lt"/>
                          <a:ea typeface="맑은 고딕"/>
                        </a:rPr>
                        <a:t>시 </a:t>
                      </a:r>
                      <a:r>
                        <a:rPr lang="en-US" altLang="ko-KR" sz="1200" dirty="0">
                          <a:solidFill>
                            <a:srgbClr val="0000FF"/>
                          </a:solidFill>
                          <a:latin typeface="+mn-lt"/>
                          <a:ea typeface="맑은 고딕"/>
                        </a:rPr>
                        <a:t>Cost </a:t>
                      </a:r>
                      <a:r>
                        <a:rPr lang="ko-KR" altLang="en-US" sz="1200" dirty="0">
                          <a:solidFill>
                            <a:srgbClr val="0000FF"/>
                          </a:solidFill>
                          <a:latin typeface="+mn-lt"/>
                          <a:ea typeface="맑은 고딕"/>
                        </a:rPr>
                        <a:t>재계산 없이 순차적 구간 조회 </a:t>
                      </a:r>
                      <a:r>
                        <a:rPr lang="en-US" altLang="ko-KR" sz="1200" dirty="0">
                          <a:solidFill>
                            <a:srgbClr val="0000FF"/>
                          </a:solidFill>
                          <a:latin typeface="+mn-lt"/>
                          <a:ea typeface="맑은 고딕"/>
                        </a:rPr>
                        <a:t>(k)</a:t>
                      </a:r>
                    </a:p>
                    <a:p>
                      <a:pPr marL="228600" indent="-228600">
                        <a:lnSpc>
                          <a:spcPct val="100000"/>
                        </a:lnSpc>
                        <a:spcAft>
                          <a:spcPts val="200"/>
                        </a:spcAft>
                        <a:buFont typeface="Arial" pitchFamily="34" charset="0"/>
                        <a:buAutoNum type="arabicPeriod"/>
                      </a:pPr>
                      <a:r>
                        <a:rPr lang="ko-KR" altLang="en-US" sz="1200" dirty="0">
                          <a:solidFill>
                            <a:srgbClr val="0000FF"/>
                          </a:solidFill>
                          <a:latin typeface="+mn-lt"/>
                          <a:ea typeface="맑은 고딕"/>
                        </a:rPr>
                        <a:t>요청이 </a:t>
                      </a:r>
                      <a:r>
                        <a:rPr lang="en-US" altLang="ko-KR" sz="1200" b="0" i="0" dirty="0">
                          <a:solidFill>
                            <a:srgbClr val="0000FF"/>
                          </a:solidFill>
                          <a:latin typeface="+mn-lt"/>
                          <a:ea typeface="맑은 고딕"/>
                        </a:rPr>
                        <a:t>Queue</a:t>
                      </a:r>
                      <a:r>
                        <a:rPr lang="ko-KR" altLang="en-US" sz="1200" b="0" i="0" dirty="0">
                          <a:solidFill>
                            <a:srgbClr val="0000FF"/>
                          </a:solidFill>
                          <a:latin typeface="+mn-lt"/>
                          <a:ea typeface="맑은 고딕"/>
                        </a:rPr>
                        <a:t>에 </a:t>
                      </a:r>
                      <a:r>
                        <a:rPr lang="ko-KR" altLang="en-US" sz="1200" dirty="0">
                          <a:solidFill>
                            <a:srgbClr val="0000FF"/>
                          </a:solidFill>
                          <a:latin typeface="+mn-lt"/>
                          <a:ea typeface="맑은 고딕"/>
                        </a:rPr>
                        <a:t>도착 즉시가 아니라 </a:t>
                      </a:r>
                      <a:r>
                        <a:rPr lang="en-US" altLang="ko-KR" sz="1200" dirty="0">
                          <a:solidFill>
                            <a:srgbClr val="0000FF"/>
                          </a:solidFill>
                          <a:latin typeface="+mn-lt"/>
                          <a:ea typeface="맑은 고딕"/>
                        </a:rPr>
                        <a:t>head</a:t>
                      </a:r>
                      <a:r>
                        <a:rPr lang="ko-KR" altLang="en-US" sz="1200" dirty="0">
                          <a:solidFill>
                            <a:srgbClr val="0000FF"/>
                          </a:solidFill>
                          <a:latin typeface="+mn-lt"/>
                          <a:ea typeface="맑은 고딕"/>
                        </a:rPr>
                        <a:t>로부터 </a:t>
                      </a:r>
                      <a:r>
                        <a:rPr lang="en-US" altLang="ko-KR" sz="1200" dirty="0">
                          <a:solidFill>
                            <a:srgbClr val="0000FF"/>
                          </a:solidFill>
                          <a:latin typeface="+mn-lt"/>
                          <a:ea typeface="맑은 고딕"/>
                        </a:rPr>
                        <a:t>W </a:t>
                      </a:r>
                      <a:r>
                        <a:rPr lang="ko-KR" altLang="en-US" sz="1200" dirty="0">
                          <a:solidFill>
                            <a:srgbClr val="0000FF"/>
                          </a:solidFill>
                          <a:latin typeface="+mn-lt"/>
                          <a:ea typeface="맑은 고딕"/>
                        </a:rPr>
                        <a:t>슬롯 안에 들어올 때 계획 </a:t>
                      </a:r>
                      <a:endParaRPr lang="en-US" altLang="ko-KR" sz="1200" dirty="0">
                        <a:solidFill>
                          <a:srgbClr val="0000FF"/>
                        </a:solidFill>
                        <a:latin typeface="+mn-lt"/>
                        <a:ea typeface="맑은 고딕"/>
                      </a:endParaRPr>
                    </a:p>
                    <a:p>
                      <a:pPr marL="228600" indent="-228600">
                        <a:lnSpc>
                          <a:spcPct val="100000"/>
                        </a:lnSpc>
                        <a:spcAft>
                          <a:spcPts val="200"/>
                        </a:spcAft>
                        <a:buFont typeface="Arial" pitchFamily="34" charset="0"/>
                        <a:buAutoNum type="arabicPeriod"/>
                      </a:pPr>
                      <a:r>
                        <a:rPr lang="en-US" altLang="ko-KR" sz="1200" dirty="0">
                          <a:solidFill>
                            <a:srgbClr val="0000FF"/>
                          </a:solidFill>
                          <a:latin typeface="+mn-lt"/>
                          <a:ea typeface="맑은 고딕"/>
                        </a:rPr>
                        <a:t>L</a:t>
                      </a:r>
                      <a:r>
                        <a:rPr lang="en-US" altLang="ko-KR" sz="1200" b="0" i="0" dirty="0">
                          <a:solidFill>
                            <a:srgbClr val="0000FF"/>
                          </a:solidFill>
                          <a:latin typeface="+mn-lt"/>
                          <a:ea typeface="맑은 고딕"/>
                        </a:rPr>
                        <a:t>oad</a:t>
                      </a:r>
                      <a:r>
                        <a:rPr lang="ko-KR" altLang="en-US" sz="1200" b="0" i="0" dirty="0">
                          <a:solidFill>
                            <a:srgbClr val="0000FF"/>
                          </a:solidFill>
                          <a:latin typeface="+mn-lt"/>
                          <a:ea typeface="맑은 고딕"/>
                        </a:rPr>
                        <a:t>↑ → </a:t>
                      </a:r>
                      <a:r>
                        <a:rPr lang="en-US" altLang="ko-KR" sz="1200" b="0" i="0" dirty="0" err="1">
                          <a:solidFill>
                            <a:srgbClr val="0000FF"/>
                          </a:solidFill>
                          <a:latin typeface="+mn-lt"/>
                          <a:ea typeface="맑은 고딕"/>
                        </a:rPr>
                        <a:t>W↓k</a:t>
                      </a:r>
                      <a:r>
                        <a:rPr lang="ko-KR" altLang="en-US" sz="1200" b="0" i="0" dirty="0">
                          <a:solidFill>
                            <a:srgbClr val="0000FF"/>
                          </a:solidFill>
                          <a:latin typeface="+mn-lt"/>
                          <a:ea typeface="맑은 고딕"/>
                        </a:rPr>
                        <a:t>↑</a:t>
                      </a:r>
                      <a:r>
                        <a:rPr lang="en-US" altLang="ko-KR" sz="1200" b="0" i="0" dirty="0">
                          <a:solidFill>
                            <a:srgbClr val="0000FF"/>
                          </a:solidFill>
                          <a:latin typeface="+mn-lt"/>
                          <a:ea typeface="맑은 고딕"/>
                        </a:rPr>
                        <a:t>(</a:t>
                      </a:r>
                      <a:r>
                        <a:rPr lang="ko-KR" altLang="en-US" sz="1200" b="0" i="0" dirty="0">
                          <a:solidFill>
                            <a:srgbClr val="0000FF"/>
                          </a:solidFill>
                          <a:latin typeface="+mn-lt"/>
                          <a:ea typeface="맑은 고딕"/>
                        </a:rPr>
                        <a:t>계획을 짧고 넓게</a:t>
                      </a:r>
                      <a:r>
                        <a:rPr lang="en-US" altLang="ko-KR" sz="1200" b="0" i="0" dirty="0">
                          <a:solidFill>
                            <a:srgbClr val="0000FF"/>
                          </a:solidFill>
                          <a:latin typeface="+mn-lt"/>
                          <a:ea typeface="맑은 고딕"/>
                        </a:rPr>
                        <a:t>), Load</a:t>
                      </a:r>
                      <a:r>
                        <a:rPr lang="ko-KR" altLang="en-US" sz="1200" b="0" i="0" dirty="0">
                          <a:solidFill>
                            <a:srgbClr val="0000FF"/>
                          </a:solidFill>
                          <a:latin typeface="+mn-lt"/>
                          <a:ea typeface="맑은 고딕"/>
                        </a:rPr>
                        <a:t>↓ → </a:t>
                      </a:r>
                      <a:r>
                        <a:rPr lang="en-US" altLang="ko-KR" sz="1200" dirty="0" err="1">
                          <a:solidFill>
                            <a:srgbClr val="0000FF"/>
                          </a:solidFill>
                          <a:latin typeface="+mn-lt"/>
                          <a:ea typeface="맑은 고딕"/>
                        </a:rPr>
                        <a:t>W↑k</a:t>
                      </a:r>
                      <a:r>
                        <a:rPr lang="ko-KR" altLang="en-US" sz="1200" dirty="0">
                          <a:solidFill>
                            <a:srgbClr val="0000FF"/>
                          </a:solidFill>
                          <a:latin typeface="+mn-lt"/>
                          <a:ea typeface="맑은 고딕"/>
                        </a:rPr>
                        <a:t>↓</a:t>
                      </a:r>
                      <a:r>
                        <a:rPr lang="en-US" altLang="ko-KR" sz="1200" dirty="0">
                          <a:solidFill>
                            <a:srgbClr val="0000FF"/>
                          </a:solidFill>
                          <a:latin typeface="+mn-lt"/>
                          <a:ea typeface="맑은 고딕"/>
                        </a:rPr>
                        <a:t>(</a:t>
                      </a:r>
                      <a:r>
                        <a:rPr lang="ko-KR" altLang="en-US" sz="1200" dirty="0">
                          <a:solidFill>
                            <a:srgbClr val="0000FF"/>
                          </a:solidFill>
                          <a:latin typeface="+mn-lt"/>
                          <a:ea typeface="맑은 고딕"/>
                        </a:rPr>
                        <a:t>완전 사전 계획</a:t>
                      </a:r>
                      <a:r>
                        <a:rPr lang="en-US" altLang="ko-KR" sz="1200" dirty="0">
                          <a:solidFill>
                            <a:srgbClr val="0000FF"/>
                          </a:solidFill>
                          <a:latin typeface="+mn-lt"/>
                          <a:ea typeface="맑은 고딕"/>
                        </a:rPr>
                        <a:t>)</a:t>
                      </a:r>
                      <a:endParaRPr lang="ko-KR" altLang="en-US" sz="1200" b="0" i="0" dirty="0">
                        <a:solidFill>
                          <a:srgbClr val="0000FF"/>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a:t>
                      </a:r>
                      <a:r>
                        <a:rPr lang="en-US" altLang="ko-KR" sz="1200" b="0" strike="noStrike" baseline="0" dirty="0">
                          <a:solidFill>
                            <a:schemeClr val="tx1"/>
                          </a:solidFill>
                        </a:rPr>
                        <a:t> </a:t>
                      </a:r>
                      <a:r>
                        <a:rPr lang="en-US" altLang="ko-KR" sz="1200" b="0" strike="noStrike" dirty="0">
                          <a:solidFill>
                            <a:schemeClr val="tx1"/>
                          </a:solidFill>
                        </a:rPr>
                        <a:t>Resource Efficiency</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3.5→9.85 q/s (2.8x)</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 850→459 GB (-46%)</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1.73→0.79 (-54%)</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94%</a:t>
                      </a:r>
                      <a:endParaRPr lang="en-US" altLang="ko-KR" sz="1100" b="0" dirty="0">
                        <a:solidFill>
                          <a:schemeClr val="tx1"/>
                        </a:solidFill>
                        <a:latin typeface="+mn-lt"/>
                        <a:ea typeface="맑은 고딕"/>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Q2. Resource Efficiency</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rgbClr val="FF0000"/>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chemeClr val="bg1">
                              <a:lumMod val="50000"/>
                            </a:schemeClr>
                          </a:solidFill>
                          <a:effectLst/>
                          <a:uLnTx/>
                          <a:uFillTx/>
                          <a:latin typeface="+mn-lt"/>
                          <a:ea typeface="맑은 고딕"/>
                          <a:cs typeface="+mn-cs"/>
                        </a:rPr>
                        <a:t>3.5→15.4 q/s (4.4x)</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맑은 고딕" panose="020B0503020000020004" pitchFamily="50" charset="-127"/>
                        </a:rPr>
                        <a:t>◐</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 850→536 GB (-37%)</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rgbClr val="0000FF"/>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srgbClr val="0000FF"/>
                          </a:solidFill>
                          <a:effectLst/>
                          <a:uLnTx/>
                          <a:uFillTx/>
                          <a:latin typeface="+mn-lt"/>
                          <a:ea typeface="맑은 고딕"/>
                          <a:cs typeface="+mn-cs"/>
                        </a:rPr>
                        <a:t>TTFT 1.73→0.83 (-52%)</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97%</a:t>
                      </a:r>
                      <a:endParaRPr kumimoji="0" lang="en-US" altLang="ko-KR" sz="1400" b="0" i="0" u="none" strike="noStrike" kern="1200" cap="none" spc="0" normalizeH="0" baseline="0" noProof="0" dirty="0">
                        <a:ln>
                          <a:noFill/>
                        </a:ln>
                        <a:solidFill>
                          <a:prstClr val="white">
                            <a:lumMod val="50000"/>
                          </a:prstClr>
                        </a:solidFill>
                        <a:effectLst/>
                        <a:uLnTx/>
                        <a:uFillTx/>
                        <a:latin typeface="+mn-lt"/>
                        <a:ea typeface="맑은 고딕"/>
                        <a:cs typeface="+mn-cs"/>
                      </a:endParaRPr>
                    </a:p>
                  </a:txBody>
                  <a:tcPr anchor="ctr">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8108381" cy="365125"/>
          </a:xfrm>
        </p:spPr>
        <p:txBody>
          <a:bodyPr/>
          <a:lstStyle/>
          <a:p>
            <a:r>
              <a:rPr lang="en-US" altLang="ko-KR" dirty="0"/>
              <a:t>DP2. </a:t>
            </a:r>
            <a:r>
              <a:rPr lang="ko-KR" altLang="en-US" dirty="0"/>
              <a:t>연산</a:t>
            </a:r>
            <a:r>
              <a:rPr lang="en-US" altLang="ko-KR" dirty="0"/>
              <a:t>(Prefill/Decode)</a:t>
            </a:r>
            <a:r>
              <a:rPr lang="ko-KR" altLang="en-US" dirty="0"/>
              <a:t> 실행 위치 결정 시점 최적화 </a:t>
            </a:r>
            <a:r>
              <a:rPr lang="en-US" altLang="ko-KR" dirty="0"/>
              <a:t>– </a:t>
            </a:r>
            <a:r>
              <a:rPr lang="ko-KR" altLang="en-US" dirty="0">
                <a:solidFill>
                  <a:srgbClr val="0000FF"/>
                </a:solidFill>
              </a:rPr>
              <a:t>보완 </a:t>
            </a:r>
            <a:r>
              <a:rPr lang="en-US" altLang="ko-KR" dirty="0">
                <a:solidFill>
                  <a:srgbClr val="0000FF"/>
                </a:solidFill>
              </a:rPr>
              <a:t>Tactic </a:t>
            </a:r>
            <a:endParaRPr lang="ko-KR" altLang="en-US" dirty="0">
              <a:solidFill>
                <a:srgbClr val="0000FF"/>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a:t>
            </a:r>
            <a:r>
              <a:rPr lang="en-US" altLang="ko-KR" sz="1400" b="1" dirty="0">
                <a:solidFill>
                  <a:schemeClr val="bg1"/>
                </a:solidFill>
              </a:rPr>
              <a:t>, </a:t>
            </a:r>
            <a:r>
              <a:rPr lang="ko-KR" altLang="en-US" sz="1400" b="1" dirty="0">
                <a:solidFill>
                  <a:schemeClr val="bg1"/>
                </a:solidFill>
              </a:rPr>
              <a:t>시스템 확장성을 고려한 연산 실행 위치 결정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62983"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연산 실행 위치 결정 </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sp>
        <p:nvSpPr>
          <p:cNvPr id="87" name="TextBox 86">
            <a:extLst>
              <a:ext uri="{FF2B5EF4-FFF2-40B4-BE49-F238E27FC236}">
                <a16:creationId xmlns:a16="http://schemas.microsoft.com/office/drawing/2014/main" id="{E4B7B1EF-FC16-4E50-A15A-074EA647B636}"/>
              </a:ext>
            </a:extLst>
          </p:cNvPr>
          <p:cNvSpPr txBox="1"/>
          <p:nvPr/>
        </p:nvSpPr>
        <p:spPr>
          <a:xfrm>
            <a:off x="3583035" y="6528474"/>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88" name="TextBox 87">
            <a:extLst>
              <a:ext uri="{FF2B5EF4-FFF2-40B4-BE49-F238E27FC236}">
                <a16:creationId xmlns:a16="http://schemas.microsoft.com/office/drawing/2014/main" id="{44A952AB-42E1-41D1-AF63-055E8135DA99}"/>
              </a:ext>
            </a:extLst>
          </p:cNvPr>
          <p:cNvSpPr txBox="1"/>
          <p:nvPr/>
        </p:nvSpPr>
        <p:spPr>
          <a:xfrm>
            <a:off x="11270180" y="6532716"/>
            <a:ext cx="631904" cy="276999"/>
          </a:xfrm>
          <a:prstGeom prst="rect">
            <a:avLst/>
          </a:prstGeom>
          <a:noFill/>
        </p:spPr>
        <p:txBody>
          <a:bodyPr wrap="none" rtlCol="0">
            <a:spAutoFit/>
          </a:bodyPr>
          <a:lstStyle/>
          <a:p>
            <a:r>
              <a:rPr lang="ko-KR" altLang="en-US" sz="1200" dirty="0"/>
              <a:t>총</a:t>
            </a:r>
            <a:r>
              <a:rPr lang="en-US" altLang="ko-KR" sz="1200" dirty="0"/>
              <a:t> </a:t>
            </a:r>
            <a:r>
              <a:rPr lang="en-US" altLang="ko-KR" sz="1200" dirty="0">
                <a:solidFill>
                  <a:srgbClr val="FF0000"/>
                </a:solidFill>
              </a:rPr>
              <a:t>8</a:t>
            </a:r>
            <a:r>
              <a:rPr lang="ko-KR" altLang="en-US" sz="1200" dirty="0"/>
              <a:t>점</a:t>
            </a:r>
          </a:p>
        </p:txBody>
      </p:sp>
      <p:grpSp>
        <p:nvGrpSpPr>
          <p:cNvPr id="130" name="그룹 129">
            <a:extLst>
              <a:ext uri="{FF2B5EF4-FFF2-40B4-BE49-F238E27FC236}">
                <a16:creationId xmlns:a16="http://schemas.microsoft.com/office/drawing/2014/main" id="{CA2D3743-1992-478F-B82E-9DE9B085B94D}"/>
              </a:ext>
            </a:extLst>
          </p:cNvPr>
          <p:cNvGrpSpPr/>
          <p:nvPr/>
        </p:nvGrpSpPr>
        <p:grpSpPr>
          <a:xfrm>
            <a:off x="334761" y="3136866"/>
            <a:ext cx="822008" cy="1106192"/>
            <a:chOff x="269738" y="3554621"/>
            <a:chExt cx="822008" cy="1106192"/>
          </a:xfrm>
        </p:grpSpPr>
        <p:sp>
          <p:nvSpPr>
            <p:cNvPr id="131" name="KV Cache Manager">
              <a:extLst>
                <a:ext uri="{FF2B5EF4-FFF2-40B4-BE49-F238E27FC236}">
                  <a16:creationId xmlns:a16="http://schemas.microsoft.com/office/drawing/2014/main" id="{97729FA2-8208-495A-88B5-6AB9793CB4B9}"/>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2" name="KV Cache Manager">
              <a:extLst>
                <a:ext uri="{FF2B5EF4-FFF2-40B4-BE49-F238E27FC236}">
                  <a16:creationId xmlns:a16="http://schemas.microsoft.com/office/drawing/2014/main" id="{5E4E7F90-5323-48ED-A793-E537EC85E83D}"/>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4" name="KV Cache Manager">
              <a:extLst>
                <a:ext uri="{FF2B5EF4-FFF2-40B4-BE49-F238E27FC236}">
                  <a16:creationId xmlns:a16="http://schemas.microsoft.com/office/drawing/2014/main" id="{F1372DCD-DBB8-422B-8D97-E7C565A45741}"/>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bg1"/>
                  </a:solidFill>
                </a:rPr>
                <a:t>타</a:t>
              </a:r>
              <a:r>
                <a:rPr lang="en-US" altLang="ko-KR" sz="800" b="1" dirty="0">
                  <a:solidFill>
                    <a:schemeClr val="bg1"/>
                  </a:solidFill>
                </a:rPr>
                <a:t> </a:t>
              </a:r>
              <a:r>
                <a:rPr lang="ko-KR" altLang="en-US" sz="800" b="1" dirty="0">
                  <a:solidFill>
                    <a:schemeClr val="bg1"/>
                  </a:solidFill>
                </a:rPr>
                <a:t>모듈</a:t>
              </a:r>
              <a:r>
                <a:rPr lang="en-US" altLang="ko-KR" sz="800" b="1" dirty="0">
                  <a:solidFill>
                    <a:schemeClr val="bg1"/>
                  </a:solidFill>
                </a:rPr>
                <a:t> I/F</a:t>
              </a:r>
              <a:endParaRPr lang="ko-KR" altLang="en-US" sz="800" b="1" dirty="0">
                <a:solidFill>
                  <a:schemeClr val="bg1"/>
                </a:solidFill>
              </a:endParaRPr>
            </a:p>
          </p:txBody>
        </p:sp>
        <p:sp>
          <p:nvSpPr>
            <p:cNvPr id="135" name="직사각형 134">
              <a:extLst>
                <a:ext uri="{FF2B5EF4-FFF2-40B4-BE49-F238E27FC236}">
                  <a16:creationId xmlns:a16="http://schemas.microsoft.com/office/drawing/2014/main" id="{33666AC1-1D1F-4D44-8ABD-9FC7C996F49A}"/>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7" name="KV Cache Manager">
              <a:extLst>
                <a:ext uri="{FF2B5EF4-FFF2-40B4-BE49-F238E27FC236}">
                  <a16:creationId xmlns:a16="http://schemas.microsoft.com/office/drawing/2014/main" id="{3DAC31F2-953F-4F50-9270-4AC41B0280B9}"/>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5" name="직사각형 114">
            <a:extLst>
              <a:ext uri="{FF2B5EF4-FFF2-40B4-BE49-F238E27FC236}">
                <a16:creationId xmlns:a16="http://schemas.microsoft.com/office/drawing/2014/main" id="{6E2B7273-A609-42E8-9B1D-ED211C704AFC}"/>
              </a:ext>
            </a:extLst>
          </p:cNvPr>
          <p:cNvSpPr/>
          <p:nvPr/>
        </p:nvSpPr>
        <p:spPr>
          <a:xfrm>
            <a:off x="6125252" y="1053935"/>
            <a:ext cx="5989442" cy="57094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p:cNvGrpSpPr/>
          <p:nvPr/>
        </p:nvGrpSpPr>
        <p:grpSpPr>
          <a:xfrm>
            <a:off x="6236792" y="1589059"/>
            <a:ext cx="5760721" cy="2680725"/>
            <a:chOff x="6783687" y="1726402"/>
            <a:chExt cx="5237019" cy="2789573"/>
          </a:xfrm>
        </p:grpSpPr>
        <p:sp>
          <p:nvSpPr>
            <p:cNvPr id="116" name="Shape 31">
              <a:extLst>
                <a:ext uri="{FF2B5EF4-FFF2-40B4-BE49-F238E27FC236}">
                  <a16:creationId xmlns:a16="http://schemas.microsoft.com/office/drawing/2014/main" id="{76AB0CFB-9315-4F87-BDDA-11D011BB00D3}"/>
                </a:ext>
              </a:extLst>
            </p:cNvPr>
            <p:cNvSpPr/>
            <p:nvPr/>
          </p:nvSpPr>
          <p:spPr>
            <a:xfrm>
              <a:off x="7519638" y="201536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117" name="원통 5">
              <a:extLst>
                <a:ext uri="{FF2B5EF4-FFF2-40B4-BE49-F238E27FC236}">
                  <a16:creationId xmlns:a16="http://schemas.microsoft.com/office/drawing/2014/main" id="{607D3B1A-A13D-4B9F-A6DE-E266ED68AFC3}"/>
                </a:ext>
              </a:extLst>
            </p:cNvPr>
            <p:cNvSpPr/>
            <p:nvPr/>
          </p:nvSpPr>
          <p:spPr>
            <a:xfrm>
              <a:off x="7954418" y="3861869"/>
              <a:ext cx="1005895" cy="273732"/>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18" name="직선 화살표 연결선 185">
              <a:extLst>
                <a:ext uri="{FF2B5EF4-FFF2-40B4-BE49-F238E27FC236}">
                  <a16:creationId xmlns:a16="http://schemas.microsoft.com/office/drawing/2014/main" id="{7AFE4BD9-002D-4D76-9079-6287254D9FC3}"/>
                </a:ext>
              </a:extLst>
            </p:cNvPr>
            <p:cNvCxnSpPr>
              <a:cxnSpLocks/>
            </p:cNvCxnSpPr>
            <p:nvPr/>
          </p:nvCxnSpPr>
          <p:spPr>
            <a:xfrm flipH="1">
              <a:off x="8136598" y="3609825"/>
              <a:ext cx="127" cy="242833"/>
            </a:xfrm>
            <a:prstGeom prst="straightConnector1">
              <a:avLst/>
            </a:prstGeom>
            <a:noFill/>
            <a:ln w="12700">
              <a:solidFill>
                <a:srgbClr val="C76E31"/>
              </a:solidFill>
              <a:prstDash val="solid"/>
              <a:headEnd type="none" w="med" len="med"/>
              <a:tailEnd type="triangle" w="med" len="med"/>
            </a:ln>
          </p:spPr>
        </p:cxnSp>
        <p:cxnSp>
          <p:nvCxnSpPr>
            <p:cNvPr id="119" name="직선 화살표 연결선 185">
              <a:extLst>
                <a:ext uri="{FF2B5EF4-FFF2-40B4-BE49-F238E27FC236}">
                  <a16:creationId xmlns:a16="http://schemas.microsoft.com/office/drawing/2014/main" id="{73E7D81B-6FBE-4226-ADD7-0FFEA572F57E}"/>
                </a:ext>
              </a:extLst>
            </p:cNvPr>
            <p:cNvCxnSpPr>
              <a:cxnSpLocks/>
              <a:stCxn id="129" idx="2"/>
              <a:endCxn id="138" idx="0"/>
            </p:cNvCxnSpPr>
            <p:nvPr/>
          </p:nvCxnSpPr>
          <p:spPr>
            <a:xfrm flipH="1">
              <a:off x="10602968" y="2410565"/>
              <a:ext cx="1" cy="242828"/>
            </a:xfrm>
            <a:prstGeom prst="straightConnector1">
              <a:avLst/>
            </a:prstGeom>
            <a:noFill/>
            <a:ln w="11430">
              <a:solidFill>
                <a:srgbClr val="888C91"/>
              </a:solidFill>
              <a:prstDash val="solid"/>
              <a:headEnd type="none"/>
              <a:tailEnd type="triangle"/>
            </a:ln>
          </p:spPr>
        </p:cxnSp>
        <p:sp>
          <p:nvSpPr>
            <p:cNvPr id="121" name="직사각형 120">
              <a:extLst>
                <a:ext uri="{FF2B5EF4-FFF2-40B4-BE49-F238E27FC236}">
                  <a16:creationId xmlns:a16="http://schemas.microsoft.com/office/drawing/2014/main" id="{3A6C8762-AA1E-48D6-AFE6-B4BC62313E1E}"/>
                </a:ext>
              </a:extLst>
            </p:cNvPr>
            <p:cNvSpPr/>
            <p:nvPr/>
          </p:nvSpPr>
          <p:spPr>
            <a:xfrm>
              <a:off x="7520870" y="1726402"/>
              <a:ext cx="1383184"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a:t>
              </a:r>
            </a:p>
          </p:txBody>
        </p:sp>
        <p:grpSp>
          <p:nvGrpSpPr>
            <p:cNvPr id="127" name="그룹 126">
              <a:extLst>
                <a:ext uri="{FF2B5EF4-FFF2-40B4-BE49-F238E27FC236}">
                  <a16:creationId xmlns:a16="http://schemas.microsoft.com/office/drawing/2014/main" id="{D9478518-0083-431B-895B-C1BB81DDE028}"/>
                </a:ext>
              </a:extLst>
            </p:cNvPr>
            <p:cNvGrpSpPr/>
            <p:nvPr/>
          </p:nvGrpSpPr>
          <p:grpSpPr>
            <a:xfrm>
              <a:off x="9748834" y="2144559"/>
              <a:ext cx="1708273" cy="2126181"/>
              <a:chOff x="12508587" y="2383427"/>
              <a:chExt cx="1879100" cy="2126181"/>
            </a:xfrm>
          </p:grpSpPr>
          <p:sp>
            <p:nvSpPr>
              <p:cNvPr id="129" name="Shape 31">
                <a:extLst>
                  <a:ext uri="{FF2B5EF4-FFF2-40B4-BE49-F238E27FC236}">
                    <a16:creationId xmlns:a16="http://schemas.microsoft.com/office/drawing/2014/main" id="{F355C5E5-D60B-4572-9D91-2061BF7DD83A}"/>
                  </a:ext>
                </a:extLst>
              </p:cNvPr>
              <p:cNvSpPr/>
              <p:nvPr/>
            </p:nvSpPr>
            <p:spPr>
              <a:xfrm>
                <a:off x="128647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535199C9-9527-4091-AD95-AB60C112E9D7}"/>
                  </a:ext>
                </a:extLst>
              </p:cNvPr>
              <p:cNvSpPr/>
              <p:nvPr/>
            </p:nvSpPr>
            <p:spPr>
              <a:xfrm>
                <a:off x="12508587" y="2892261"/>
                <a:ext cx="1879100" cy="962972"/>
              </a:xfrm>
              <a:prstGeom prst="rect">
                <a:avLst/>
              </a:prstGeom>
              <a:solidFill>
                <a:schemeClr val="accent4">
                  <a:lumMod val="20000"/>
                  <a:lumOff val="80000"/>
                </a:schemeClr>
              </a:solidFill>
              <a:ln w="12700">
                <a:solidFill>
                  <a:srgbClr val="C76E31"/>
                </a:solidFill>
                <a:prstDash val="solid"/>
              </a:ln>
            </p:spPr>
            <p:txBody>
              <a:bodyPr anchor="t"/>
              <a:lstStyle/>
              <a:p>
                <a:pPr algn="ctr"/>
                <a:r>
                  <a:rPr lang="en-US" altLang="ko-KR" sz="900" b="1" dirty="0">
                    <a:solidFill>
                      <a:srgbClr val="1A1A1A"/>
                    </a:solidFill>
                    <a:latin typeface="Malgun Gothic" pitchFamily="34" charset="0"/>
                    <a:ea typeface="Malgun Gothic" pitchFamily="34" charset="-122"/>
                    <a:cs typeface="Malgun Gothic" pitchFamily="34" charset="-120"/>
                  </a:rPr>
                  <a:t>Plan Lookup Validator</a:t>
                </a:r>
                <a:endParaRPr lang="ko-KR" altLang="en-US" sz="900" b="1" dirty="0">
                  <a:solidFill>
                    <a:srgbClr val="1A1A1A"/>
                  </a:solidFill>
                  <a:latin typeface="Malgun Gothic" pitchFamily="34" charset="0"/>
                  <a:ea typeface="Malgun Gothic" pitchFamily="34" charset="-122"/>
                  <a:cs typeface="Malgun Gothic" pitchFamily="34" charset="-120"/>
                </a:endParaRPr>
              </a:p>
            </p:txBody>
          </p:sp>
          <p:sp>
            <p:nvSpPr>
              <p:cNvPr id="139" name="Shape 31">
                <a:extLst>
                  <a:ext uri="{FF2B5EF4-FFF2-40B4-BE49-F238E27FC236}">
                    <a16:creationId xmlns:a16="http://schemas.microsoft.com/office/drawing/2014/main" id="{BD56F8F3-399D-40F7-9849-206895CDE16B}"/>
                  </a:ext>
                </a:extLst>
              </p:cNvPr>
              <p:cNvSpPr/>
              <p:nvPr/>
            </p:nvSpPr>
            <p:spPr>
              <a:xfrm>
                <a:off x="12806409" y="4243602"/>
                <a:ext cx="1283450" cy="266006"/>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endParaRPr lang="ko-KR" altLang="en-US" sz="1000" b="1" dirty="0">
                  <a:solidFill>
                    <a:srgbClr val="1A1A1A"/>
                  </a:solidFill>
                  <a:latin typeface="Malgun Gothic" pitchFamily="34" charset="0"/>
                  <a:ea typeface="Malgun Gothic" pitchFamily="34" charset="-122"/>
                </a:endParaRPr>
              </a:p>
            </p:txBody>
          </p:sp>
        </p:grpSp>
        <p:cxnSp>
          <p:nvCxnSpPr>
            <p:cNvPr id="142" name="직선 화살표 연결선 185">
              <a:extLst>
                <a:ext uri="{FF2B5EF4-FFF2-40B4-BE49-F238E27FC236}">
                  <a16:creationId xmlns:a16="http://schemas.microsoft.com/office/drawing/2014/main" id="{03ABB882-11D6-4845-A2A5-4FDFAA1E6339}"/>
                </a:ext>
              </a:extLst>
            </p:cNvPr>
            <p:cNvCxnSpPr>
              <a:cxnSpLocks/>
              <a:stCxn id="138" idx="2"/>
              <a:endCxn id="139" idx="0"/>
            </p:cNvCxnSpPr>
            <p:nvPr/>
          </p:nvCxnSpPr>
          <p:spPr>
            <a:xfrm>
              <a:off x="10602968" y="3616365"/>
              <a:ext cx="0" cy="388369"/>
            </a:xfrm>
            <a:prstGeom prst="straightConnector1">
              <a:avLst/>
            </a:prstGeom>
            <a:noFill/>
            <a:ln w="11430">
              <a:solidFill>
                <a:srgbClr val="888C91"/>
              </a:solidFill>
              <a:prstDash val="solid"/>
              <a:headEnd type="none"/>
              <a:tailEnd type="triangle"/>
            </a:ln>
          </p:spPr>
        </p:cxnSp>
        <p:cxnSp>
          <p:nvCxnSpPr>
            <p:cNvPr id="147" name="직선 화살표 연결선 185">
              <a:extLst>
                <a:ext uri="{FF2B5EF4-FFF2-40B4-BE49-F238E27FC236}">
                  <a16:creationId xmlns:a16="http://schemas.microsoft.com/office/drawing/2014/main" id="{0B056F2D-FE29-4725-A3F3-CA2EBC006FB4}"/>
                </a:ext>
              </a:extLst>
            </p:cNvPr>
            <p:cNvCxnSpPr>
              <a:cxnSpLocks/>
            </p:cNvCxnSpPr>
            <p:nvPr/>
          </p:nvCxnSpPr>
          <p:spPr>
            <a:xfrm>
              <a:off x="7923737" y="2215221"/>
              <a:ext cx="2" cy="201448"/>
            </a:xfrm>
            <a:prstGeom prst="straightConnector1">
              <a:avLst/>
            </a:prstGeom>
            <a:noFill/>
            <a:ln w="11430">
              <a:solidFill>
                <a:srgbClr val="888C91"/>
              </a:solidFill>
              <a:prstDash val="solid"/>
              <a:headEnd type="none"/>
              <a:tailEnd type="triangle"/>
            </a:ln>
          </p:spPr>
        </p:cxnSp>
        <p:sp>
          <p:nvSpPr>
            <p:cNvPr id="154" name="직사각형 153">
              <a:extLst>
                <a:ext uri="{FF2B5EF4-FFF2-40B4-BE49-F238E27FC236}">
                  <a16:creationId xmlns:a16="http://schemas.microsoft.com/office/drawing/2014/main" id="{362F8D9F-BDB3-4426-BE60-50824CFD8181}"/>
                </a:ext>
              </a:extLst>
            </p:cNvPr>
            <p:cNvSpPr/>
            <p:nvPr/>
          </p:nvSpPr>
          <p:spPr>
            <a:xfrm>
              <a:off x="9763641" y="1763109"/>
              <a:ext cx="1746648" cy="271459"/>
            </a:xfrm>
            <a:prstGeom prst="rect">
              <a:avLst/>
            </a:prstGeom>
            <a:noFill/>
            <a:ln w="12700">
              <a:noFill/>
              <a:prstDash val="dash"/>
            </a:ln>
          </p:spPr>
          <p:txBody>
            <a:bodyPr rtlCol="0" anchor="ctr"/>
            <a:lstStyle/>
            <a:p>
              <a:pPr algn="ctr"/>
              <a:r>
                <a:rPr lang="en-US" altLang="ko-KR" sz="900" dirty="0">
                  <a:solidFill>
                    <a:schemeClr val="accent2">
                      <a:lumMod val="75000"/>
                    </a:schemeClr>
                  </a:solidFill>
                </a:rPr>
                <a:t>Decision</a:t>
              </a:r>
            </a:p>
          </p:txBody>
        </p:sp>
        <p:grpSp>
          <p:nvGrpSpPr>
            <p:cNvPr id="156" name="그룹 155">
              <a:extLst>
                <a:ext uri="{FF2B5EF4-FFF2-40B4-BE49-F238E27FC236}">
                  <a16:creationId xmlns:a16="http://schemas.microsoft.com/office/drawing/2014/main" id="{66104227-632F-4532-A15F-A94E4AD0E570}"/>
                </a:ext>
              </a:extLst>
            </p:cNvPr>
            <p:cNvGrpSpPr/>
            <p:nvPr/>
          </p:nvGrpSpPr>
          <p:grpSpPr>
            <a:xfrm>
              <a:off x="7507561" y="2416669"/>
              <a:ext cx="1359852" cy="1199696"/>
              <a:chOff x="6330553" y="2404429"/>
              <a:chExt cx="1830129" cy="1451634"/>
            </a:xfrm>
          </p:grpSpPr>
          <p:sp>
            <p:nvSpPr>
              <p:cNvPr id="158" name="Shape 37">
                <a:extLst>
                  <a:ext uri="{FF2B5EF4-FFF2-40B4-BE49-F238E27FC236}">
                    <a16:creationId xmlns:a16="http://schemas.microsoft.com/office/drawing/2014/main" id="{4BEDC545-66DD-4655-A68A-E3E610279C82}"/>
                  </a:ext>
                </a:extLst>
              </p:cNvPr>
              <p:cNvSpPr/>
              <p:nvPr/>
            </p:nvSpPr>
            <p:spPr>
              <a:xfrm>
                <a:off x="6330553" y="2404429"/>
                <a:ext cx="1825852" cy="395582"/>
              </a:xfrm>
              <a:prstGeom prst="rect">
                <a:avLst/>
              </a:prstGeom>
              <a:solidFill>
                <a:srgbClr val="FFFFFF"/>
              </a:solidFill>
              <a:ln w="9525">
                <a:solidFill>
                  <a:schemeClr val="tx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Prefill/Decode Execution Planner</a:t>
                </a:r>
              </a:p>
            </p:txBody>
          </p:sp>
          <p:sp>
            <p:nvSpPr>
              <p:cNvPr id="159" name="Shape 37">
                <a:extLst>
                  <a:ext uri="{FF2B5EF4-FFF2-40B4-BE49-F238E27FC236}">
                    <a16:creationId xmlns:a16="http://schemas.microsoft.com/office/drawing/2014/main" id="{3B719E66-F236-4D8A-A4DD-359F1145DC18}"/>
                  </a:ext>
                </a:extLst>
              </p:cNvPr>
              <p:cNvSpPr/>
              <p:nvPr/>
            </p:nvSpPr>
            <p:spPr>
              <a:xfrm>
                <a:off x="6561862" y="2908105"/>
                <a:ext cx="1371789" cy="270187"/>
              </a:xfrm>
              <a:prstGeom prst="rect">
                <a:avLst/>
              </a:prstGeom>
              <a:solidFill>
                <a:srgbClr val="FFFFFF"/>
              </a:solidFill>
              <a:ln w="9525">
                <a:solidFill>
                  <a:schemeClr val="tx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Cost Evaluator</a:t>
                </a:r>
              </a:p>
            </p:txBody>
          </p:sp>
          <p:cxnSp>
            <p:nvCxnSpPr>
              <p:cNvPr id="160" name="직선 화살표 연결선 185">
                <a:extLst>
                  <a:ext uri="{FF2B5EF4-FFF2-40B4-BE49-F238E27FC236}">
                    <a16:creationId xmlns:a16="http://schemas.microsoft.com/office/drawing/2014/main" id="{7DF56018-1135-4C31-BF01-C43F9DB53B8F}"/>
                  </a:ext>
                </a:extLst>
              </p:cNvPr>
              <p:cNvCxnSpPr>
                <a:cxnSpLocks/>
                <a:stCxn id="158" idx="2"/>
                <a:endCxn id="159" idx="0"/>
              </p:cNvCxnSpPr>
              <p:nvPr/>
            </p:nvCxnSpPr>
            <p:spPr>
              <a:xfrm>
                <a:off x="7243479" y="2800011"/>
                <a:ext cx="4278" cy="108094"/>
              </a:xfrm>
              <a:prstGeom prst="straightConnector1">
                <a:avLst/>
              </a:prstGeom>
              <a:noFill/>
              <a:ln w="9525">
                <a:solidFill>
                  <a:schemeClr val="tx1"/>
                </a:solidFill>
                <a:prstDash val="solid"/>
                <a:headEnd type="none" w="med" len="med"/>
                <a:tailEnd type="triangle" w="med" len="med"/>
              </a:ln>
            </p:spPr>
          </p:cxnSp>
          <p:sp>
            <p:nvSpPr>
              <p:cNvPr id="161" name="Shape 37">
                <a:extLst>
                  <a:ext uri="{FF2B5EF4-FFF2-40B4-BE49-F238E27FC236}">
                    <a16:creationId xmlns:a16="http://schemas.microsoft.com/office/drawing/2014/main" id="{2A62CB42-EEB8-43B7-BCDD-BC501C1BDA1F}"/>
                  </a:ext>
                </a:extLst>
              </p:cNvPr>
              <p:cNvSpPr/>
              <p:nvPr/>
            </p:nvSpPr>
            <p:spPr>
              <a:xfrm>
                <a:off x="6334829" y="3329544"/>
                <a:ext cx="1825853" cy="526519"/>
              </a:xfrm>
              <a:prstGeom prst="rect">
                <a:avLst/>
              </a:prstGeom>
              <a:solidFill>
                <a:schemeClr val="accent4">
                  <a:lumMod val="20000"/>
                  <a:lumOff val="80000"/>
                </a:schemeClr>
              </a:solidFill>
              <a:ln w="12700">
                <a:solidFill>
                  <a:srgbClr val="C76E31"/>
                </a:solidFill>
                <a:prstDash val="solid"/>
              </a:ln>
            </p:spPr>
            <p:txBody>
              <a:bodyPr anchor="t"/>
              <a:lstStyle/>
              <a:p>
                <a:pPr algn="ctr"/>
                <a:r>
                  <a:rPr lang="en-US" altLang="ko-KR" sz="900" b="1" dirty="0">
                    <a:solidFill>
                      <a:srgbClr val="1A1A1A"/>
                    </a:solidFill>
                    <a:latin typeface="Malgun Gothic" pitchFamily="34" charset="0"/>
                    <a:ea typeface="Malgun Gothic" pitchFamily="34" charset="-122"/>
                  </a:rPr>
                  <a:t>Plan</a:t>
                </a:r>
                <a:r>
                  <a:rPr lang="ko-KR" altLang="en-US" sz="900" b="1" dirty="0">
                    <a:solidFill>
                      <a:srgbClr val="1A1A1A"/>
                    </a:solidFill>
                    <a:latin typeface="Malgun Gothic" pitchFamily="34" charset="0"/>
                    <a:ea typeface="Malgun Gothic" pitchFamily="34" charset="-122"/>
                  </a:rPr>
                  <a:t> </a:t>
                </a:r>
                <a:r>
                  <a:rPr lang="en-US" altLang="ko-KR" sz="900" b="1" dirty="0">
                    <a:solidFill>
                      <a:srgbClr val="1A1A1A"/>
                    </a:solidFill>
                    <a:latin typeface="Malgun Gothic" pitchFamily="34" charset="0"/>
                    <a:ea typeface="Malgun Gothic" pitchFamily="34" charset="-122"/>
                  </a:rPr>
                  <a:t>Publisher</a:t>
                </a:r>
              </a:p>
            </p:txBody>
          </p:sp>
          <p:cxnSp>
            <p:nvCxnSpPr>
              <p:cNvPr id="165" name="직선 화살표 연결선 185">
                <a:extLst>
                  <a:ext uri="{FF2B5EF4-FFF2-40B4-BE49-F238E27FC236}">
                    <a16:creationId xmlns:a16="http://schemas.microsoft.com/office/drawing/2014/main" id="{2D8BFBA6-054C-465C-BB99-DA2EF692189C}"/>
                  </a:ext>
                </a:extLst>
              </p:cNvPr>
              <p:cNvCxnSpPr>
                <a:cxnSpLocks/>
                <a:stCxn id="159" idx="2"/>
                <a:endCxn id="161" idx="0"/>
              </p:cNvCxnSpPr>
              <p:nvPr/>
            </p:nvCxnSpPr>
            <p:spPr>
              <a:xfrm flipH="1">
                <a:off x="7247756" y="3178293"/>
                <a:ext cx="1" cy="151251"/>
              </a:xfrm>
              <a:prstGeom prst="straightConnector1">
                <a:avLst/>
              </a:prstGeom>
              <a:noFill/>
              <a:ln w="11430">
                <a:solidFill>
                  <a:srgbClr val="888C91"/>
                </a:solidFill>
                <a:prstDash val="solid"/>
                <a:headEnd type="none"/>
                <a:tailEnd type="triangle"/>
              </a:ln>
            </p:spPr>
          </p:cxnSp>
        </p:grpSp>
        <p:sp>
          <p:nvSpPr>
            <p:cNvPr id="166" name="C2 freshness note">
              <a:extLst>
                <a:ext uri="{FF2B5EF4-FFF2-40B4-BE49-F238E27FC236}">
                  <a16:creationId xmlns:a16="http://schemas.microsoft.com/office/drawing/2014/main" id="{6CDBB823-D88F-4179-AF8F-A7BA5D43B7BC}"/>
                </a:ext>
              </a:extLst>
            </p:cNvPr>
            <p:cNvSpPr txBox="1"/>
            <p:nvPr/>
          </p:nvSpPr>
          <p:spPr>
            <a:xfrm>
              <a:off x="8231378" y="3680819"/>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76" name="C2 freshness note">
              <a:extLst>
                <a:ext uri="{FF2B5EF4-FFF2-40B4-BE49-F238E27FC236}">
                  <a16:creationId xmlns:a16="http://schemas.microsoft.com/office/drawing/2014/main" id="{1BC6499B-FF93-4BF7-AC46-B40964266EDA}"/>
                </a:ext>
              </a:extLst>
            </p:cNvPr>
            <p:cNvSpPr txBox="1"/>
            <p:nvPr/>
          </p:nvSpPr>
          <p:spPr>
            <a:xfrm>
              <a:off x="10720148" y="3720694"/>
              <a:ext cx="493326"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78" name="Rectangle 72">
              <a:extLst>
                <a:ext uri="{FF2B5EF4-FFF2-40B4-BE49-F238E27FC236}">
                  <a16:creationId xmlns:a16="http://schemas.microsoft.com/office/drawing/2014/main" id="{B1580EF9-18C1-4398-A6A7-79BDE5FB0E99}"/>
                </a:ext>
              </a:extLst>
            </p:cNvPr>
            <p:cNvSpPr/>
            <p:nvPr/>
          </p:nvSpPr>
          <p:spPr>
            <a:xfrm>
              <a:off x="6783687" y="1980022"/>
              <a:ext cx="687999" cy="292609"/>
            </a:xfrm>
            <a:prstGeom prst="rect">
              <a:avLst/>
            </a:prstGeom>
            <a:solidFill>
              <a:schemeClr val="accent2">
                <a:lumMod val="20000"/>
                <a:lumOff val="80000"/>
              </a:schemeClr>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ko-KR" altLang="en-US" sz="900" b="1" dirty="0">
                  <a:solidFill>
                    <a:schemeClr val="tx1"/>
                  </a:solidFill>
                  <a:latin typeface="맑은 고딕"/>
                  <a:ea typeface="맑은 고딕"/>
                </a:rPr>
                <a:t>②</a:t>
              </a:r>
              <a:r>
                <a:rPr sz="900" b="1" i="0" dirty="0">
                  <a:solidFill>
                    <a:schemeClr val="tx1"/>
                  </a:solidFill>
                  <a:latin typeface="맑은 고딕"/>
                  <a:ea typeface="맑은 고딕"/>
                </a:rPr>
                <a:t> </a:t>
              </a:r>
              <a:r>
                <a:rPr lang="en-US" sz="900" b="1" i="0" dirty="0">
                  <a:solidFill>
                    <a:schemeClr val="tx1"/>
                  </a:solidFill>
                  <a:latin typeface="맑은 고딕"/>
                  <a:ea typeface="맑은 고딕"/>
                </a:rPr>
                <a:t>Plan age </a:t>
              </a:r>
              <a:r>
                <a:rPr lang="ko-KR" altLang="en-US" sz="900" b="1" i="0" dirty="0">
                  <a:solidFill>
                    <a:schemeClr val="tx1"/>
                  </a:solidFill>
                  <a:latin typeface="맑은 고딕"/>
                  <a:ea typeface="맑은 고딕"/>
                </a:rPr>
                <a:t>조절</a:t>
              </a:r>
              <a:endParaRPr sz="900" b="1" i="0" dirty="0">
                <a:solidFill>
                  <a:schemeClr val="tx1"/>
                </a:solidFill>
                <a:latin typeface="맑은 고딕"/>
                <a:ea typeface="맑은 고딕"/>
              </a:endParaRPr>
            </a:p>
          </p:txBody>
        </p:sp>
        <p:cxnSp>
          <p:nvCxnSpPr>
            <p:cNvPr id="179" name="Connector 73">
              <a:extLst>
                <a:ext uri="{FF2B5EF4-FFF2-40B4-BE49-F238E27FC236}">
                  <a16:creationId xmlns:a16="http://schemas.microsoft.com/office/drawing/2014/main" id="{36B8346B-263D-4054-9586-665ED38BBD97}"/>
                </a:ext>
              </a:extLst>
            </p:cNvPr>
            <p:cNvCxnSpPr>
              <a:cxnSpLocks/>
              <a:stCxn id="178" idx="3"/>
            </p:cNvCxnSpPr>
            <p:nvPr/>
          </p:nvCxnSpPr>
          <p:spPr>
            <a:xfrm>
              <a:off x="7471686" y="2126327"/>
              <a:ext cx="249313" cy="0"/>
            </a:xfrm>
            <a:prstGeom prst="line">
              <a:avLst/>
            </a:prstGeom>
            <a:ln w="12700">
              <a:solidFill>
                <a:schemeClr val="accent6">
                  <a:lumMod val="75000"/>
                </a:schemeClr>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0" name="TextBox 179">
              <a:extLst>
                <a:ext uri="{FF2B5EF4-FFF2-40B4-BE49-F238E27FC236}">
                  <a16:creationId xmlns:a16="http://schemas.microsoft.com/office/drawing/2014/main" id="{3836ECBB-F50B-4462-AF0B-785DCB30583C}"/>
                </a:ext>
              </a:extLst>
            </p:cNvPr>
            <p:cNvSpPr txBox="1"/>
            <p:nvPr/>
          </p:nvSpPr>
          <p:spPr>
            <a:xfrm>
              <a:off x="8012029" y="2239351"/>
              <a:ext cx="1704411" cy="124173"/>
            </a:xfrm>
            <a:prstGeom prst="rect">
              <a:avLst/>
            </a:prstGeom>
            <a:noFill/>
          </p:spPr>
          <p:txBody>
            <a:bodyPr wrap="square" lIns="0" tIns="0" rIns="0" bIns="0" anchor="ctr">
              <a:spAutoFit/>
            </a:bodyPr>
            <a:lstStyle/>
            <a:p>
              <a:pPr>
                <a:lnSpc>
                  <a:spcPct val="105000"/>
                </a:lnSpc>
              </a:pPr>
              <a:r>
                <a:rPr lang="en-US" altLang="ko-KR" sz="800" dirty="0">
                  <a:solidFill>
                    <a:srgbClr val="0000FF"/>
                  </a:solidFill>
                  <a:ea typeface="맑은 고딕"/>
                </a:rPr>
                <a:t>plan age ≤ W × </a:t>
              </a:r>
              <a:r>
                <a:rPr lang="ko-KR" altLang="en-US" sz="800" dirty="0">
                  <a:solidFill>
                    <a:srgbClr val="0000FF"/>
                  </a:solidFill>
                  <a:ea typeface="맑은 고딕"/>
                </a:rPr>
                <a:t>평균 </a:t>
              </a:r>
              <a:r>
                <a:rPr lang="ko-KR" altLang="en-US" sz="800" dirty="0" err="1">
                  <a:solidFill>
                    <a:srgbClr val="0000FF"/>
                  </a:solidFill>
                  <a:ea typeface="맑은 고딕"/>
                </a:rPr>
                <a:t>서비스시간</a:t>
              </a:r>
              <a:endParaRPr sz="650" b="0" i="0" dirty="0">
                <a:solidFill>
                  <a:srgbClr val="0000FF"/>
                </a:solidFill>
                <a:latin typeface="맑은 고딕"/>
                <a:ea typeface="맑은 고딕"/>
              </a:endParaRPr>
            </a:p>
          </p:txBody>
        </p:sp>
        <p:sp>
          <p:nvSpPr>
            <p:cNvPr id="181" name="Rectangle 90">
              <a:extLst>
                <a:ext uri="{FF2B5EF4-FFF2-40B4-BE49-F238E27FC236}">
                  <a16:creationId xmlns:a16="http://schemas.microsoft.com/office/drawing/2014/main" id="{393AF082-229B-4EA1-B973-529F7E5939CD}"/>
                </a:ext>
              </a:extLst>
            </p:cNvPr>
            <p:cNvSpPr/>
            <p:nvPr/>
          </p:nvSpPr>
          <p:spPr>
            <a:xfrm>
              <a:off x="7397563" y="4243058"/>
              <a:ext cx="2194560" cy="262988"/>
            </a:xfrm>
            <a:prstGeom prst="rect">
              <a:avLst/>
            </a:prstGeom>
            <a:solidFill>
              <a:schemeClr val="accent2">
                <a:lumMod val="20000"/>
                <a:lumOff val="80000"/>
              </a:schemeClr>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lang="ko-KR" altLang="en-US" sz="900" b="1" dirty="0">
                  <a:solidFill>
                    <a:schemeClr val="tx1"/>
                  </a:solidFill>
                  <a:latin typeface="맑은 고딕"/>
                  <a:ea typeface="맑은 고딕"/>
                </a:rPr>
                <a:t>③</a:t>
              </a:r>
              <a:r>
                <a:rPr sz="900" b="1" i="0" dirty="0">
                  <a:solidFill>
                    <a:schemeClr val="tx1"/>
                  </a:solidFill>
                  <a:latin typeface="맑은 고딕"/>
                  <a:ea typeface="맑은 고딕"/>
                </a:rPr>
                <a:t> </a:t>
              </a:r>
              <a:r>
                <a:rPr lang="en-US" sz="900" b="1" dirty="0">
                  <a:solidFill>
                    <a:schemeClr val="tx1"/>
                  </a:solidFill>
                  <a:latin typeface="맑은 고딕"/>
                  <a:ea typeface="맑은 고딕"/>
                </a:rPr>
                <a:t>Load</a:t>
              </a:r>
              <a:r>
                <a:rPr lang="ko-KR" altLang="en-US" sz="900" b="1" dirty="0">
                  <a:solidFill>
                    <a:schemeClr val="tx1"/>
                  </a:solidFill>
                  <a:latin typeface="맑은 고딕"/>
                  <a:ea typeface="맑은 고딕"/>
                </a:rPr>
                <a:t>에 따라 </a:t>
              </a:r>
              <a:r>
                <a:rPr lang="en-US" altLang="ko-KR" sz="900" b="1" dirty="0">
                  <a:solidFill>
                    <a:schemeClr val="tx1"/>
                  </a:solidFill>
                  <a:latin typeface="맑은 고딕"/>
                  <a:ea typeface="맑은 고딕"/>
                </a:rPr>
                <a:t>plan age, </a:t>
              </a:r>
              <a:r>
                <a:rPr lang="ko-KR" altLang="en-US" sz="900" b="1" dirty="0">
                  <a:solidFill>
                    <a:schemeClr val="tx1"/>
                  </a:solidFill>
                  <a:latin typeface="맑은 고딕"/>
                  <a:ea typeface="맑은 고딕"/>
                </a:rPr>
                <a:t>구간 조절</a:t>
              </a:r>
              <a:endParaRPr sz="900" b="1" i="0" dirty="0">
                <a:solidFill>
                  <a:schemeClr val="tx1"/>
                </a:solidFill>
                <a:latin typeface="맑은 고딕"/>
                <a:ea typeface="맑은 고딕"/>
              </a:endParaRPr>
            </a:p>
          </p:txBody>
        </p:sp>
        <p:cxnSp>
          <p:nvCxnSpPr>
            <p:cNvPr id="182" name="Connector 91">
              <a:extLst>
                <a:ext uri="{FF2B5EF4-FFF2-40B4-BE49-F238E27FC236}">
                  <a16:creationId xmlns:a16="http://schemas.microsoft.com/office/drawing/2014/main" id="{CA4C1222-DD39-4CB4-9CC3-03ED0A73CBF2}"/>
                </a:ext>
              </a:extLst>
            </p:cNvPr>
            <p:cNvCxnSpPr>
              <a:cxnSpLocks/>
            </p:cNvCxnSpPr>
            <p:nvPr/>
          </p:nvCxnSpPr>
          <p:spPr>
            <a:xfrm flipV="1">
              <a:off x="7596343" y="3586363"/>
              <a:ext cx="0" cy="660487"/>
            </a:xfrm>
            <a:prstGeom prst="line">
              <a:avLst/>
            </a:prstGeom>
            <a:ln w="12700">
              <a:solidFill>
                <a:schemeClr val="accent6">
                  <a:lumMod val="75000"/>
                </a:schemeClr>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3" name="Rectangle 99">
              <a:extLst>
                <a:ext uri="{FF2B5EF4-FFF2-40B4-BE49-F238E27FC236}">
                  <a16:creationId xmlns:a16="http://schemas.microsoft.com/office/drawing/2014/main" id="{DEC58700-628A-46D6-8DB4-59853C5D7B6E}"/>
                </a:ext>
              </a:extLst>
            </p:cNvPr>
            <p:cNvSpPr/>
            <p:nvPr/>
          </p:nvSpPr>
          <p:spPr>
            <a:xfrm>
              <a:off x="9840834" y="2926911"/>
              <a:ext cx="1493409" cy="543913"/>
            </a:xfrm>
            <a:prstGeom prst="rect">
              <a:avLst/>
            </a:prstGeom>
            <a:solidFill>
              <a:schemeClr val="accent2">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800" b="1" i="0" dirty="0">
                  <a:solidFill>
                    <a:srgbClr val="404040"/>
                  </a:solidFill>
                  <a:latin typeface="맑은 고딕"/>
                  <a:ea typeface="맑은 고딕"/>
                </a:rPr>
                <a:t>① </a:t>
              </a:r>
              <a:r>
                <a:rPr lang="en-US" sz="800" b="1" i="0" dirty="0">
                  <a:solidFill>
                    <a:srgbClr val="404040"/>
                  </a:solidFill>
                  <a:latin typeface="맑은 고딕"/>
                  <a:ea typeface="맑은 고딕"/>
                </a:rPr>
                <a:t>Mismatch </a:t>
              </a:r>
              <a:r>
                <a:rPr lang="ko-KR" altLang="en-US" sz="800" b="1" i="0" dirty="0">
                  <a:solidFill>
                    <a:srgbClr val="404040"/>
                  </a:solidFill>
                  <a:latin typeface="맑은 고딕"/>
                  <a:ea typeface="맑은 고딕"/>
                </a:rPr>
                <a:t>시 구간</a:t>
              </a:r>
              <a:r>
                <a:rPr lang="en-US" altLang="ko-KR" sz="800" b="1" i="0" dirty="0">
                  <a:solidFill>
                    <a:srgbClr val="404040"/>
                  </a:solidFill>
                  <a:latin typeface="맑은 고딕"/>
                  <a:ea typeface="맑은 고딕"/>
                </a:rPr>
                <a:t>(</a:t>
              </a:r>
              <a:r>
                <a:rPr lang="en-US" altLang="ko-KR" sz="800" b="1" dirty="0">
                  <a:solidFill>
                    <a:srgbClr val="404040"/>
                  </a:solidFill>
                  <a:latin typeface="맑은 고딕"/>
                  <a:ea typeface="맑은 고딕"/>
                </a:rPr>
                <a:t>k)</a:t>
              </a:r>
              <a:r>
                <a:rPr lang="ko-KR" altLang="en-US" sz="800" b="1" i="0" dirty="0">
                  <a:solidFill>
                    <a:srgbClr val="404040"/>
                  </a:solidFill>
                  <a:latin typeface="맑은 고딕"/>
                  <a:ea typeface="맑은 고딕"/>
                </a:rPr>
                <a:t> 조회</a:t>
              </a:r>
              <a:endParaRPr lang="en-US" altLang="ko-KR" sz="800" b="1" dirty="0">
                <a:solidFill>
                  <a:srgbClr val="404040"/>
                </a:solidFill>
                <a:latin typeface="맑은 고딕"/>
                <a:ea typeface="맑은 고딕"/>
              </a:endParaRPr>
            </a:p>
            <a:p>
              <a:pPr algn="ctr">
                <a:lnSpc>
                  <a:spcPct val="150000"/>
                </a:lnSpc>
              </a:pPr>
              <a:r>
                <a:rPr lang="en-US" altLang="ko-KR" sz="800" b="1" dirty="0">
                  <a:solidFill>
                    <a:srgbClr val="404040"/>
                  </a:solidFill>
                  <a:latin typeface="맑은 고딕"/>
                  <a:ea typeface="맑은 고딕"/>
                </a:rPr>
                <a:t>1</a:t>
              </a:r>
              <a:r>
                <a:rPr lang="ko-KR" altLang="en-US" sz="800" b="1" dirty="0">
                  <a:solidFill>
                    <a:srgbClr val="404040"/>
                  </a:solidFill>
                  <a:latin typeface="맑은 고딕"/>
                  <a:ea typeface="맑은 고딕"/>
                </a:rPr>
                <a:t>순위 </a:t>
              </a:r>
              <a:r>
                <a:rPr lang="en-US" altLang="ko-KR" sz="800" b="1" dirty="0">
                  <a:solidFill>
                    <a:srgbClr val="404040"/>
                  </a:solidFill>
                  <a:latin typeface="맑은 고딕"/>
                  <a:ea typeface="맑은 고딕"/>
                </a:rPr>
                <a:t>fail → 2</a:t>
              </a:r>
              <a:r>
                <a:rPr lang="ko-KR" altLang="en-US" sz="800" b="1" dirty="0">
                  <a:solidFill>
                    <a:srgbClr val="404040"/>
                  </a:solidFill>
                  <a:latin typeface="맑은 고딕"/>
                  <a:ea typeface="맑은 고딕"/>
                </a:rPr>
                <a:t>순위 선택</a:t>
              </a:r>
            </a:p>
          </p:txBody>
        </p:sp>
        <p:sp>
          <p:nvSpPr>
            <p:cNvPr id="184" name="Rectangle 99">
              <a:extLst>
                <a:ext uri="{FF2B5EF4-FFF2-40B4-BE49-F238E27FC236}">
                  <a16:creationId xmlns:a16="http://schemas.microsoft.com/office/drawing/2014/main" id="{AC7EA8DB-BC4B-4D91-B691-7CA48A2BFA88}"/>
                </a:ext>
              </a:extLst>
            </p:cNvPr>
            <p:cNvSpPr/>
            <p:nvPr/>
          </p:nvSpPr>
          <p:spPr>
            <a:xfrm>
              <a:off x="7705229" y="3373532"/>
              <a:ext cx="973633" cy="167992"/>
            </a:xfrm>
            <a:prstGeom prst="rect">
              <a:avLst/>
            </a:prstGeom>
            <a:solidFill>
              <a:schemeClr val="accent2">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lang="en-US" sz="800" b="1" dirty="0">
                  <a:solidFill>
                    <a:srgbClr val="404040"/>
                  </a:solidFill>
                  <a:latin typeface="맑은 고딕"/>
                  <a:ea typeface="맑은 고딕"/>
                </a:rPr>
                <a:t>Plan </a:t>
              </a:r>
              <a:r>
                <a:rPr lang="ko-KR" altLang="en-US" sz="800" b="1" dirty="0">
                  <a:solidFill>
                    <a:srgbClr val="404040"/>
                  </a:solidFill>
                  <a:latin typeface="맑은 고딕"/>
                  <a:ea typeface="맑은 고딕"/>
                </a:rPr>
                <a:t>구간 가변</a:t>
              </a:r>
            </a:p>
          </p:txBody>
        </p:sp>
        <p:grpSp>
          <p:nvGrpSpPr>
            <p:cNvPr id="185" name="그룹 184">
              <a:extLst>
                <a:ext uri="{FF2B5EF4-FFF2-40B4-BE49-F238E27FC236}">
                  <a16:creationId xmlns:a16="http://schemas.microsoft.com/office/drawing/2014/main" id="{010BE734-ED4C-4304-B91C-30745AE9AA7F}"/>
                </a:ext>
              </a:extLst>
            </p:cNvPr>
            <p:cNvGrpSpPr/>
            <p:nvPr/>
          </p:nvGrpSpPr>
          <p:grpSpPr>
            <a:xfrm>
              <a:off x="11288365" y="4027657"/>
              <a:ext cx="732341" cy="488318"/>
              <a:chOff x="11056831" y="3583489"/>
              <a:chExt cx="886133" cy="488318"/>
            </a:xfrm>
          </p:grpSpPr>
          <p:sp>
            <p:nvSpPr>
              <p:cNvPr id="189" name="KV Cache Manager">
                <a:extLst>
                  <a:ext uri="{FF2B5EF4-FFF2-40B4-BE49-F238E27FC236}">
                    <a16:creationId xmlns:a16="http://schemas.microsoft.com/office/drawing/2014/main" id="{7193BC83-981B-478E-BB00-B0CCD220C611}"/>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190" name="직사각형 189">
                <a:extLst>
                  <a:ext uri="{FF2B5EF4-FFF2-40B4-BE49-F238E27FC236}">
                    <a16:creationId xmlns:a16="http://schemas.microsoft.com/office/drawing/2014/main" id="{C84C114C-72C6-4726-8195-A62CCA108A92}"/>
                  </a:ext>
                </a:extLst>
              </p:cNvPr>
              <p:cNvSpPr/>
              <p:nvPr/>
            </p:nvSpPr>
            <p:spPr>
              <a:xfrm>
                <a:off x="11056831" y="3583489"/>
                <a:ext cx="886133" cy="488318"/>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cxnSp>
          <p:nvCxnSpPr>
            <p:cNvPr id="197" name="직선 연결선 196"/>
            <p:cNvCxnSpPr/>
            <p:nvPr/>
          </p:nvCxnSpPr>
          <p:spPr>
            <a:xfrm>
              <a:off x="9628991" y="1977996"/>
              <a:ext cx="0" cy="2536897"/>
            </a:xfrm>
            <a:prstGeom prst="line">
              <a:avLst/>
            </a:prstGeom>
            <a:noFill/>
            <a:ln w="12700">
              <a:solidFill>
                <a:srgbClr val="C76E31"/>
              </a:solidFill>
              <a:prstDash val="dash"/>
            </a:ln>
          </p:spPr>
        </p:cxnSp>
      </p:grpSp>
      <p:grpSp>
        <p:nvGrpSpPr>
          <p:cNvPr id="4" name="그룹 3"/>
          <p:cNvGrpSpPr/>
          <p:nvPr/>
        </p:nvGrpSpPr>
        <p:grpSpPr>
          <a:xfrm>
            <a:off x="1513665" y="1714715"/>
            <a:ext cx="4266747" cy="2485293"/>
            <a:chOff x="1422351" y="1800000"/>
            <a:chExt cx="4693422" cy="2733822"/>
          </a:xfrm>
        </p:grpSpPr>
        <p:sp>
          <p:nvSpPr>
            <p:cNvPr id="112" name="Shape 31">
              <a:extLst>
                <a:ext uri="{FF2B5EF4-FFF2-40B4-BE49-F238E27FC236}">
                  <a16:creationId xmlns:a16="http://schemas.microsoft.com/office/drawing/2014/main" id="{823D7D32-6771-4AA4-9581-77C6BEA03C53}"/>
                </a:ext>
              </a:extLst>
            </p:cNvPr>
            <p:cNvSpPr/>
            <p:nvPr/>
          </p:nvSpPr>
          <p:spPr>
            <a:xfrm>
              <a:off x="2862635" y="1853692"/>
              <a:ext cx="1411795" cy="292607"/>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44" idx="0"/>
            </p:cNvCxnSpPr>
            <p:nvPr/>
          </p:nvCxnSpPr>
          <p:spPr>
            <a:xfrm>
              <a:off x="3568533" y="2146299"/>
              <a:ext cx="1889" cy="289506"/>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2394012"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25" name="Shape 31">
              <a:extLst>
                <a:ext uri="{FF2B5EF4-FFF2-40B4-BE49-F238E27FC236}">
                  <a16:creationId xmlns:a16="http://schemas.microsoft.com/office/drawing/2014/main" id="{823D7D32-6771-4AA4-9581-77C6BEA03C53}"/>
                </a:ext>
              </a:extLst>
            </p:cNvPr>
            <p:cNvSpPr/>
            <p:nvPr/>
          </p:nvSpPr>
          <p:spPr>
            <a:xfrm>
              <a:off x="1434016"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26" name="Shape 31">
              <a:extLst>
                <a:ext uri="{FF2B5EF4-FFF2-40B4-BE49-F238E27FC236}">
                  <a16:creationId xmlns:a16="http://schemas.microsoft.com/office/drawing/2014/main" id="{823D7D32-6771-4AA4-9581-77C6BEA03C53}"/>
                </a:ext>
              </a:extLst>
            </p:cNvPr>
            <p:cNvSpPr/>
            <p:nvPr/>
          </p:nvSpPr>
          <p:spPr>
            <a:xfrm>
              <a:off x="3337592" y="4212297"/>
              <a:ext cx="875450"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51" idx="2"/>
              <a:endCxn id="125" idx="0"/>
            </p:cNvCxnSpPr>
            <p:nvPr/>
          </p:nvCxnSpPr>
          <p:spPr>
            <a:xfrm rot="5400000">
              <a:off x="2567161" y="3209036"/>
              <a:ext cx="268048" cy="1738474"/>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51" idx="2"/>
              <a:endCxn id="126" idx="0"/>
            </p:cNvCxnSpPr>
            <p:nvPr/>
          </p:nvCxnSpPr>
          <p:spPr>
            <a:xfrm rot="16200000" flipH="1">
              <a:off x="3538845" y="3975825"/>
              <a:ext cx="268048" cy="204895"/>
            </a:xfrm>
            <a:prstGeom prst="bentConnector3">
              <a:avLst>
                <a:gd name="adj1" fmla="val 50000"/>
              </a:avLst>
            </a:prstGeom>
            <a:noFill/>
            <a:ln w="11430">
              <a:solidFill>
                <a:srgbClr val="888C91"/>
              </a:solidFill>
              <a:prstDash val="solid"/>
              <a:headEnd type="none"/>
              <a:tailEnd type="triangle"/>
            </a:ln>
          </p:spPr>
        </p:cxnSp>
        <p:sp>
          <p:nvSpPr>
            <p:cNvPr id="77" name="TextBox 76"/>
            <p:cNvSpPr txBox="1"/>
            <p:nvPr/>
          </p:nvSpPr>
          <p:spPr>
            <a:xfrm>
              <a:off x="4482797" y="3231336"/>
              <a:ext cx="1600000" cy="276999"/>
            </a:xfrm>
            <a:prstGeom prst="rect">
              <a:avLst/>
            </a:prstGeom>
            <a:noFill/>
          </p:spPr>
          <p:txBody>
            <a:bodyPr wrap="square" lIns="0" tIns="0" rIns="0" bIns="0" anchor="ctr">
              <a:spAutoFit/>
            </a:bodyPr>
            <a:lstStyle/>
            <a:p>
              <a:pPr algn="l">
                <a:lnSpc>
                  <a:spcPct val="100000"/>
                </a:lnSpc>
              </a:pPr>
              <a:r>
                <a:rPr lang="en-US" altLang="ko-KR" sz="900" b="0" i="0" dirty="0">
                  <a:solidFill>
                    <a:srgbClr val="808080"/>
                  </a:solidFill>
                  <a:latin typeface="맑은 고딕"/>
                  <a:ea typeface="맑은 고딕"/>
                </a:rPr>
                <a:t>Cost </a:t>
              </a:r>
              <a:r>
                <a:rPr lang="ko-KR" altLang="en-US" sz="900" b="0" i="0" dirty="0">
                  <a:solidFill>
                    <a:srgbClr val="808080"/>
                  </a:solidFill>
                  <a:latin typeface="맑은 고딕"/>
                  <a:ea typeface="맑은 고딕"/>
                </a:rPr>
                <a:t>계산이</a:t>
              </a:r>
            </a:p>
            <a:p>
              <a:pPr algn="l">
                <a:lnSpc>
                  <a:spcPct val="100000"/>
                </a:lnSpc>
              </a:pPr>
              <a:r>
                <a:rPr lang="en-US" altLang="ko-KR" sz="900" b="0" i="0" dirty="0">
                  <a:solidFill>
                    <a:srgbClr val="808080"/>
                  </a:solidFill>
                  <a:latin typeface="맑은 고딕"/>
                  <a:ea typeface="맑은 고딕"/>
                </a:rPr>
                <a:t>critical path  </a:t>
              </a:r>
              <a:r>
                <a:rPr lang="ko-KR" altLang="en-US" sz="900" b="0" i="0" dirty="0">
                  <a:solidFill>
                    <a:srgbClr val="808080"/>
                  </a:solidFill>
                  <a:latin typeface="맑은 고딕"/>
                  <a:ea typeface="맑은 고딕"/>
                </a:rPr>
                <a:t>내부</a:t>
              </a:r>
            </a:p>
          </p:txBody>
        </p:sp>
        <p:sp>
          <p:nvSpPr>
            <p:cNvPr id="136" name="Shape 37">
              <a:extLst>
                <a:ext uri="{FF2B5EF4-FFF2-40B4-BE49-F238E27FC236}">
                  <a16:creationId xmlns:a16="http://schemas.microsoft.com/office/drawing/2014/main" id="{7F2072DD-19B6-48CA-BD3D-876E8DDC9C60}"/>
                </a:ext>
              </a:extLst>
            </p:cNvPr>
            <p:cNvSpPr/>
            <p:nvPr/>
          </p:nvSpPr>
          <p:spPr>
            <a:xfrm>
              <a:off x="4737207" y="2129473"/>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43" name="직선 화살표 연결선 185">
              <a:extLst>
                <a:ext uri="{FF2B5EF4-FFF2-40B4-BE49-F238E27FC236}">
                  <a16:creationId xmlns:a16="http://schemas.microsoft.com/office/drawing/2014/main" id="{BA0CBBE8-3F10-4B7D-B934-710047CDD61C}"/>
                </a:ext>
              </a:extLst>
            </p:cNvPr>
            <p:cNvCxnSpPr>
              <a:cxnSpLocks/>
              <a:stCxn id="144" idx="3"/>
              <a:endCxn id="136" idx="1"/>
            </p:cNvCxnSpPr>
            <p:nvPr/>
          </p:nvCxnSpPr>
          <p:spPr>
            <a:xfrm flipV="1">
              <a:off x="4324906" y="2292936"/>
              <a:ext cx="412301" cy="322679"/>
            </a:xfrm>
            <a:prstGeom prst="bentConnector3">
              <a:avLst>
                <a:gd name="adj1" fmla="val 50000"/>
              </a:avLst>
            </a:prstGeom>
            <a:noFill/>
            <a:ln w="9525">
              <a:solidFill>
                <a:schemeClr val="tx1"/>
              </a:solidFill>
              <a:prstDash val="solid"/>
              <a:headEnd type="none" w="med" len="med"/>
              <a:tailEnd type="triangle" w="med" len="med"/>
            </a:ln>
          </p:spPr>
        </p:cxnSp>
        <p:sp>
          <p:nvSpPr>
            <p:cNvPr id="144" name="Shape 37">
              <a:extLst>
                <a:ext uri="{FF2B5EF4-FFF2-40B4-BE49-F238E27FC236}">
                  <a16:creationId xmlns:a16="http://schemas.microsoft.com/office/drawing/2014/main" id="{70E92FE8-4878-4154-BB88-F90E93B7B850}"/>
                </a:ext>
              </a:extLst>
            </p:cNvPr>
            <p:cNvSpPr/>
            <p:nvPr/>
          </p:nvSpPr>
          <p:spPr>
            <a:xfrm>
              <a:off x="2815938" y="2435805"/>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a:t>
              </a:r>
            </a:p>
            <a:p>
              <a:pPr algn="ctr"/>
              <a:r>
                <a:rPr lang="en-US" altLang="ko-KR" sz="900" b="1" dirty="0">
                  <a:solidFill>
                    <a:schemeClr val="accent2">
                      <a:lumMod val="75000"/>
                    </a:schemeClr>
                  </a:solidFill>
                </a:rPr>
                <a:t>(Plan)</a:t>
              </a:r>
            </a:p>
          </p:txBody>
        </p:sp>
        <p:sp>
          <p:nvSpPr>
            <p:cNvPr id="145" name="Shape 37">
              <a:extLst>
                <a:ext uri="{FF2B5EF4-FFF2-40B4-BE49-F238E27FC236}">
                  <a16:creationId xmlns:a16="http://schemas.microsoft.com/office/drawing/2014/main" id="{7EA846FB-2BF9-4A17-B933-665E6BCC5A1E}"/>
                </a:ext>
              </a:extLst>
            </p:cNvPr>
            <p:cNvSpPr/>
            <p:nvPr/>
          </p:nvSpPr>
          <p:spPr>
            <a:xfrm>
              <a:off x="4737207" y="2582530"/>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a:solidFill>
                    <a:srgbClr val="1A1A1A"/>
                  </a:solidFill>
                  <a:latin typeface="Malgun Gothic" pitchFamily="34" charset="0"/>
                  <a:ea typeface="Malgun Gothic" pitchFamily="34" charset="-122"/>
                  <a:cs typeface="Malgun Gothic" pitchFamily="34" charset="-120"/>
                </a:rPr>
                <a:t>Resource State</a:t>
              </a:r>
            </a:p>
            <a:p>
              <a:pPr algn="ctr"/>
              <a:r>
                <a:rPr lang="en-US" altLang="ko-KR" sz="1000">
                  <a:solidFill>
                    <a:srgbClr val="1A1A1A"/>
                  </a:solidFill>
                  <a:latin typeface="Malgun Gothic" pitchFamily="34" charset="0"/>
                  <a:ea typeface="Malgun Gothic" pitchFamily="34" charset="-122"/>
                  <a:cs typeface="Malgun Gothic" pitchFamily="34" charset="-120"/>
                </a:rPr>
                <a:t>Monitor</a:t>
              </a:r>
              <a:endParaRPr lang="en-US" altLang="ko-KR" sz="1000" dirty="0">
                <a:solidFill>
                  <a:srgbClr val="1A1A1A"/>
                </a:solidFill>
                <a:latin typeface="Malgun Gothic" pitchFamily="34" charset="0"/>
                <a:ea typeface="Malgun Gothic" pitchFamily="34" charset="-122"/>
                <a:cs typeface="Malgun Gothic" pitchFamily="34" charset="-120"/>
              </a:endParaRPr>
            </a:p>
          </p:txBody>
        </p:sp>
        <p:cxnSp>
          <p:nvCxnSpPr>
            <p:cNvPr id="146" name="직선 화살표 연결선 185">
              <a:extLst>
                <a:ext uri="{FF2B5EF4-FFF2-40B4-BE49-F238E27FC236}">
                  <a16:creationId xmlns:a16="http://schemas.microsoft.com/office/drawing/2014/main" id="{866738E6-B5E2-485B-BCC3-7AB7D686059C}"/>
                </a:ext>
              </a:extLst>
            </p:cNvPr>
            <p:cNvCxnSpPr>
              <a:cxnSpLocks/>
              <a:stCxn id="144" idx="3"/>
              <a:endCxn id="145" idx="1"/>
            </p:cNvCxnSpPr>
            <p:nvPr/>
          </p:nvCxnSpPr>
          <p:spPr>
            <a:xfrm>
              <a:off x="4324906" y="2615615"/>
              <a:ext cx="412301" cy="130378"/>
            </a:xfrm>
            <a:prstGeom prst="bentConnector3">
              <a:avLst>
                <a:gd name="adj1" fmla="val 50000"/>
              </a:avLst>
            </a:prstGeom>
            <a:noFill/>
            <a:ln w="9525">
              <a:solidFill>
                <a:schemeClr val="tx1"/>
              </a:solidFill>
              <a:prstDash val="solid"/>
              <a:headEnd type="none" w="med" len="med"/>
              <a:tailEnd type="triangle" w="med" len="med"/>
            </a:ln>
          </p:spPr>
        </p:cxnSp>
        <p:sp>
          <p:nvSpPr>
            <p:cNvPr id="149" name="Shape 37">
              <a:extLst>
                <a:ext uri="{FF2B5EF4-FFF2-40B4-BE49-F238E27FC236}">
                  <a16:creationId xmlns:a16="http://schemas.microsoft.com/office/drawing/2014/main" id="{D29B8A49-AE77-46A5-BF3C-C5FFF88BE9D4}"/>
                </a:ext>
              </a:extLst>
            </p:cNvPr>
            <p:cNvSpPr/>
            <p:nvPr/>
          </p:nvSpPr>
          <p:spPr>
            <a:xfrm>
              <a:off x="2815938" y="3112583"/>
              <a:ext cx="1508968" cy="297205"/>
            </a:xfrm>
            <a:prstGeom prst="rect">
              <a:avLst/>
            </a:prstGeom>
            <a:solidFill>
              <a:srgbClr val="FFFFFF"/>
            </a:solidFill>
            <a:ln w="9525">
              <a:solidFill>
                <a:schemeClr val="tx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Cost Evaluator</a:t>
              </a:r>
              <a:endParaRPr lang="en-US" altLang="ko-KR" sz="1000" b="1" dirty="0">
                <a:solidFill>
                  <a:srgbClr val="1A1A1A"/>
                </a:solidFill>
                <a:latin typeface="Malgun Gothic" pitchFamily="34" charset="0"/>
                <a:ea typeface="Malgun Gothic" pitchFamily="34" charset="-122"/>
              </a:endParaRPr>
            </a:p>
          </p:txBody>
        </p:sp>
        <p:cxnSp>
          <p:nvCxnSpPr>
            <p:cNvPr id="150" name="직선 화살표 연결선 185">
              <a:extLst>
                <a:ext uri="{FF2B5EF4-FFF2-40B4-BE49-F238E27FC236}">
                  <a16:creationId xmlns:a16="http://schemas.microsoft.com/office/drawing/2014/main" id="{EFEBEDC4-80EE-4735-B71E-6C1DFDD6FCDC}"/>
                </a:ext>
              </a:extLst>
            </p:cNvPr>
            <p:cNvCxnSpPr>
              <a:cxnSpLocks/>
              <a:stCxn id="144" idx="2"/>
              <a:endCxn id="149" idx="0"/>
            </p:cNvCxnSpPr>
            <p:nvPr/>
          </p:nvCxnSpPr>
          <p:spPr>
            <a:xfrm>
              <a:off x="3570422" y="2795424"/>
              <a:ext cx="0" cy="317159"/>
            </a:xfrm>
            <a:prstGeom prst="straightConnector1">
              <a:avLst/>
            </a:prstGeom>
            <a:noFill/>
            <a:ln w="9525">
              <a:solidFill>
                <a:schemeClr val="tx1"/>
              </a:solidFill>
              <a:prstDash val="solid"/>
              <a:headEnd type="none" w="med" len="med"/>
              <a:tailEnd type="triangle" w="med" len="med"/>
            </a:ln>
          </p:spPr>
        </p:cxnSp>
        <p:sp>
          <p:nvSpPr>
            <p:cNvPr id="151" name="Shape 37">
              <a:extLst>
                <a:ext uri="{FF2B5EF4-FFF2-40B4-BE49-F238E27FC236}">
                  <a16:creationId xmlns:a16="http://schemas.microsoft.com/office/drawing/2014/main" id="{1AFCAFB9-F8C0-41A8-8E3E-3B7ACC234BE6}"/>
                </a:ext>
              </a:extLst>
            </p:cNvPr>
            <p:cNvSpPr/>
            <p:nvPr/>
          </p:nvSpPr>
          <p:spPr>
            <a:xfrm>
              <a:off x="2815938" y="3584630"/>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algn="ctr"/>
              <a:r>
                <a:rPr lang="en-US" altLang="ko-KR" sz="900" b="1" dirty="0">
                  <a:solidFill>
                    <a:schemeClr val="accent2">
                      <a:lumMod val="75000"/>
                    </a:schemeClr>
                  </a:solidFill>
                  <a:latin typeface="Malgun Gothic" pitchFamily="34" charset="0"/>
                  <a:ea typeface="Malgun Gothic" pitchFamily="34" charset="-122"/>
                </a:rPr>
                <a:t>(Decision)</a:t>
              </a:r>
            </a:p>
          </p:txBody>
        </p:sp>
        <p:cxnSp>
          <p:nvCxnSpPr>
            <p:cNvPr id="152" name="직선 화살표 연결선 185">
              <a:extLst>
                <a:ext uri="{FF2B5EF4-FFF2-40B4-BE49-F238E27FC236}">
                  <a16:creationId xmlns:a16="http://schemas.microsoft.com/office/drawing/2014/main" id="{A5D1AF10-B4E4-4F84-8D33-8BACD09A70C2}"/>
                </a:ext>
              </a:extLst>
            </p:cNvPr>
            <p:cNvCxnSpPr>
              <a:cxnSpLocks/>
              <a:stCxn id="149" idx="2"/>
              <a:endCxn id="151" idx="0"/>
            </p:cNvCxnSpPr>
            <p:nvPr/>
          </p:nvCxnSpPr>
          <p:spPr>
            <a:xfrm>
              <a:off x="3570422" y="3409788"/>
              <a:ext cx="0" cy="174842"/>
            </a:xfrm>
            <a:prstGeom prst="straightConnector1">
              <a:avLst/>
            </a:prstGeom>
            <a:noFill/>
            <a:ln w="11430">
              <a:solidFill>
                <a:srgbClr val="888C91"/>
              </a:solidFill>
              <a:prstDash val="solid"/>
              <a:headEnd type="none"/>
              <a:tailEnd type="triangle"/>
            </a:ln>
          </p:spPr>
        </p:cxnSp>
        <p:cxnSp>
          <p:nvCxnSpPr>
            <p:cNvPr id="153" name="직선 화살표 연결선 185">
              <a:extLst>
                <a:ext uri="{FF2B5EF4-FFF2-40B4-BE49-F238E27FC236}">
                  <a16:creationId xmlns:a16="http://schemas.microsoft.com/office/drawing/2014/main" id="{667011A0-7D9C-4D04-BD0D-206D0F921C23}"/>
                </a:ext>
              </a:extLst>
            </p:cNvPr>
            <p:cNvCxnSpPr>
              <a:cxnSpLocks/>
              <a:stCxn id="151" idx="2"/>
              <a:endCxn id="124" idx="0"/>
            </p:cNvCxnSpPr>
            <p:nvPr/>
          </p:nvCxnSpPr>
          <p:spPr>
            <a:xfrm rot="5400000">
              <a:off x="3047159" y="3689034"/>
              <a:ext cx="268048" cy="778478"/>
            </a:xfrm>
            <a:prstGeom prst="bentConnector3">
              <a:avLst>
                <a:gd name="adj1" fmla="val 50000"/>
              </a:avLst>
            </a:prstGeom>
            <a:noFill/>
            <a:ln w="11430">
              <a:solidFill>
                <a:srgbClr val="888C91"/>
              </a:solidFill>
              <a:prstDash val="solid"/>
              <a:headEnd type="none"/>
              <a:tailEnd type="triangle"/>
            </a:ln>
          </p:spPr>
        </p:cxnSp>
        <p:sp>
          <p:nvSpPr>
            <p:cNvPr id="155" name="Shape 31">
              <a:extLst>
                <a:ext uri="{FF2B5EF4-FFF2-40B4-BE49-F238E27FC236}">
                  <a16:creationId xmlns:a16="http://schemas.microsoft.com/office/drawing/2014/main" id="{C0494BB5-740B-474B-8EDE-7DEE62853B08}"/>
                </a:ext>
              </a:extLst>
            </p:cNvPr>
            <p:cNvSpPr/>
            <p:nvPr/>
          </p:nvSpPr>
          <p:spPr>
            <a:xfrm>
              <a:off x="4393753" y="4212297"/>
              <a:ext cx="87545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57" name="직선 화살표 연결선 185">
              <a:extLst>
                <a:ext uri="{FF2B5EF4-FFF2-40B4-BE49-F238E27FC236}">
                  <a16:creationId xmlns:a16="http://schemas.microsoft.com/office/drawing/2014/main" id="{D2EDFE24-B445-4346-8805-83EFFC8CB053}"/>
                </a:ext>
              </a:extLst>
            </p:cNvPr>
            <p:cNvCxnSpPr>
              <a:cxnSpLocks/>
              <a:stCxn id="151" idx="2"/>
              <a:endCxn id="155" idx="0"/>
            </p:cNvCxnSpPr>
            <p:nvPr/>
          </p:nvCxnSpPr>
          <p:spPr>
            <a:xfrm rot="16200000" flipH="1">
              <a:off x="4066926" y="3447745"/>
              <a:ext cx="268048" cy="1261056"/>
            </a:xfrm>
            <a:prstGeom prst="bentConnector3">
              <a:avLst>
                <a:gd name="adj1" fmla="val 50000"/>
              </a:avLst>
            </a:prstGeom>
            <a:noFill/>
            <a:ln w="11430">
              <a:solidFill>
                <a:srgbClr val="888C91"/>
              </a:solidFill>
              <a:prstDash val="dash"/>
              <a:headEnd type="none"/>
              <a:tailEnd type="triangle"/>
            </a:ln>
          </p:spPr>
        </p:cxnSp>
        <p:sp>
          <p:nvSpPr>
            <p:cNvPr id="1271" name="C1 Critical path boundary"/>
            <p:cNvSpPr/>
            <p:nvPr/>
          </p:nvSpPr>
          <p:spPr>
            <a:xfrm>
              <a:off x="2695773" y="1800000"/>
              <a:ext cx="3420000" cy="2185000"/>
            </a:xfrm>
            <a:prstGeom prst="rect">
              <a:avLst/>
            </a:prstGeom>
            <a:noFill/>
            <a:ln w="12700">
              <a:solidFill>
                <a:srgbClr val="C76E31"/>
              </a:solidFill>
              <a:prstDash val="dash"/>
            </a:ln>
          </p:spPr>
          <p:txBody>
            <a:bodyPr rtlCol="0" anchor="ctr"/>
            <a:lstStyle/>
            <a:p>
              <a:pPr algn="ctr"/>
              <a:endParaRPr lang="en-US" altLang="ko-KR" sz="900" dirty="0">
                <a:solidFill>
                  <a:schemeClr val="bg1">
                    <a:lumMod val="50000"/>
                  </a:schemeClr>
                </a:solidFill>
              </a:endParaRPr>
            </a:p>
          </p:txBody>
        </p:sp>
        <p:sp>
          <p:nvSpPr>
            <p:cNvPr id="2293" name="C1 Critical path label"/>
            <p:cNvSpPr/>
            <p:nvPr/>
          </p:nvSpPr>
          <p:spPr>
            <a:xfrm>
              <a:off x="4330000" y="1815000"/>
              <a:ext cx="1440000" cy="250000"/>
            </a:xfrm>
            <a:prstGeom prst="rect">
              <a:avLst/>
            </a:prstGeom>
            <a:noFill/>
            <a:ln w="12700">
              <a:noFill/>
              <a:prstDash val="dash"/>
            </a:ln>
          </p:spPr>
          <p:txBody>
            <a:bodyPr rtlCol="0" anchor="ctr"/>
            <a:lstStyle/>
            <a:p>
              <a:pPr algn="ctr"/>
              <a:r>
                <a:rPr lang="en-US" altLang="ko-KR" sz="900" dirty="0">
                  <a:solidFill>
                    <a:schemeClr val="accent2">
                      <a:lumMod val="75000"/>
                    </a:schemeClr>
                  </a:solidFill>
                </a:rPr>
                <a:t>Plan + Decision</a:t>
              </a:r>
            </a:p>
          </p:txBody>
        </p:sp>
        <p:cxnSp>
          <p:nvCxnSpPr>
            <p:cNvPr id="120" name="직선 화살표 연결선 185">
              <a:extLst>
                <a:ext uri="{FF2B5EF4-FFF2-40B4-BE49-F238E27FC236}">
                  <a16:creationId xmlns:a16="http://schemas.microsoft.com/office/drawing/2014/main" id="{6B405AD3-50C7-4140-923C-39C9EC62E997}"/>
                </a:ext>
              </a:extLst>
            </p:cNvPr>
            <p:cNvCxnSpPr>
              <a:cxnSpLocks/>
              <a:stCxn id="149" idx="1"/>
              <a:endCxn id="123" idx="0"/>
            </p:cNvCxnSpPr>
            <p:nvPr/>
          </p:nvCxnSpPr>
          <p:spPr>
            <a:xfrm rot="10800000" flipV="1">
              <a:off x="1977484" y="3261185"/>
              <a:ext cx="838455" cy="122381"/>
            </a:xfrm>
            <a:prstGeom prst="bentConnector2">
              <a:avLst/>
            </a:prstGeom>
            <a:noFill/>
            <a:ln w="9525">
              <a:solidFill>
                <a:schemeClr val="tx1"/>
              </a:solidFill>
              <a:prstDash val="solid"/>
              <a:headEnd type="none" w="med" len="med"/>
              <a:tailEnd type="triangle" w="med" len="med"/>
            </a:ln>
          </p:spPr>
        </p:cxnSp>
        <p:sp>
          <p:nvSpPr>
            <p:cNvPr id="123" name="KV Cache Manager">
              <a:extLst>
                <a:ext uri="{FF2B5EF4-FFF2-40B4-BE49-F238E27FC236}">
                  <a16:creationId xmlns:a16="http://schemas.microsoft.com/office/drawing/2014/main" id="{AF50C5FD-82D2-49A4-BB8D-5B9CCB95E6F0}"/>
                </a:ext>
              </a:extLst>
            </p:cNvPr>
            <p:cNvSpPr/>
            <p:nvPr/>
          </p:nvSpPr>
          <p:spPr>
            <a:xfrm>
              <a:off x="1422351" y="3383568"/>
              <a:ext cx="1110263" cy="46576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grpSp>
      <p:sp>
        <p:nvSpPr>
          <p:cNvPr id="198" name="모서리가 둥근 직사각형 197"/>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F2 </a:t>
            </a:r>
            <a:r>
              <a:rPr lang="ko-KR" altLang="en-US" sz="700" dirty="0">
                <a:latin typeface="맑은 고딕" panose="020B0503020000020004" pitchFamily="50" charset="-127"/>
              </a:rPr>
              <a:t>추론 스케줄링</a:t>
            </a:r>
          </a:p>
        </p:txBody>
      </p:sp>
      <p:sp>
        <p:nvSpPr>
          <p:cNvPr id="199"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200"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201"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202"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204"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205"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206" name="모서리가 둥근 직사각형 205"/>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추론 요청 관리</a:t>
            </a:r>
          </a:p>
        </p:txBody>
      </p:sp>
      <p:sp>
        <p:nvSpPr>
          <p:cNvPr id="207" name="TextBox 206"/>
          <p:cNvSpPr txBox="1"/>
          <p:nvPr/>
        </p:nvSpPr>
        <p:spPr>
          <a:xfrm>
            <a:off x="6184584" y="1397170"/>
            <a:ext cx="6263640" cy="261610"/>
          </a:xfrm>
          <a:prstGeom prst="rect">
            <a:avLst/>
          </a:prstGeom>
          <a:noFill/>
        </p:spPr>
        <p:txBody>
          <a:bodyPr wrap="square" rtlCol="0">
            <a:spAutoFit/>
          </a:bodyPr>
          <a:lstStyle>
            <a:defPPr>
              <a:defRPr lang="ko-KR"/>
            </a:defPPr>
            <a:lvl1pPr>
              <a:defRPr sz="1100"/>
            </a:lvl1pPr>
          </a:lstStyle>
          <a:p>
            <a:r>
              <a:rPr dirty="0"/>
              <a:t>“</a:t>
            </a:r>
            <a:r>
              <a:rPr lang="ko-KR" altLang="en-US" dirty="0"/>
              <a:t>계획의 구간을 확장하고</a:t>
            </a:r>
            <a:r>
              <a:rPr lang="en-US" altLang="ko-KR" dirty="0"/>
              <a:t>, Queue</a:t>
            </a:r>
            <a:r>
              <a:rPr lang="ko-KR" altLang="en-US" dirty="0"/>
              <a:t>의 크기를 보고 계획 시점을 조율</a:t>
            </a:r>
            <a:r>
              <a:rPr lang="en-US" altLang="ko-KR" dirty="0"/>
              <a:t>”</a:t>
            </a:r>
            <a:endParaRPr lang="en-US" dirty="0"/>
          </a:p>
        </p:txBody>
      </p:sp>
      <p:sp>
        <p:nvSpPr>
          <p:cNvPr id="85" name="실행 단추: 앞으로 또는 다음 101">
            <a:hlinkClick r:id="rId3" action="ppaction://hlinksldjump" highlightClick="1"/>
            <a:extLst>
              <a:ext uri="{FF2B5EF4-FFF2-40B4-BE49-F238E27FC236}">
                <a16:creationId xmlns:a16="http://schemas.microsoft.com/office/drawing/2014/main" id="{0769863F-A187-437D-8436-48DD90BD0A20}"/>
              </a:ext>
            </a:extLst>
          </p:cNvPr>
          <p:cNvSpPr/>
          <p:nvPr/>
        </p:nvSpPr>
        <p:spPr>
          <a:xfrm>
            <a:off x="11789792"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실행 단추: 앞으로 또는 다음 107">
            <a:hlinkClick r:id="rId4" action="ppaction://hlinksldjump" highlightClick="1"/>
            <a:extLst>
              <a:ext uri="{FF2B5EF4-FFF2-40B4-BE49-F238E27FC236}">
                <a16:creationId xmlns:a16="http://schemas.microsoft.com/office/drawing/2014/main" id="{533DDD3B-0393-4D1F-8934-2A4BED6AD700}"/>
              </a:ext>
            </a:extLst>
          </p:cNvPr>
          <p:cNvSpPr/>
          <p:nvPr/>
        </p:nvSpPr>
        <p:spPr>
          <a:xfrm>
            <a:off x="943029" y="1864079"/>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EA6B3DAC-C1A0-4671-8D94-3321E9CF568C}"/>
              </a:ext>
            </a:extLst>
          </p:cNvPr>
          <p:cNvSpPr txBox="1"/>
          <p:nvPr/>
        </p:nvSpPr>
        <p:spPr>
          <a:xfrm>
            <a:off x="299968" y="1875484"/>
            <a:ext cx="730531" cy="230832"/>
          </a:xfrm>
          <a:prstGeom prst="rect">
            <a:avLst/>
          </a:prstGeom>
          <a:noFill/>
        </p:spPr>
        <p:txBody>
          <a:bodyPr wrap="square" rtlCol="0">
            <a:spAutoFit/>
          </a:bodyPr>
          <a:lstStyle>
            <a:defPPr>
              <a:defRPr lang="ko-KR"/>
            </a:defPPr>
            <a:lvl1pPr>
              <a:defRPr sz="1100"/>
            </a:lvl1pPr>
          </a:lstStyle>
          <a:p>
            <a:r>
              <a:rPr lang="en-US" sz="900" dirty="0"/>
              <a:t>Cost </a:t>
            </a:r>
            <a:r>
              <a:rPr lang="ko-KR" altLang="en-US" sz="900" dirty="0"/>
              <a:t>참고</a:t>
            </a:r>
            <a:endParaRPr lang="en-US" sz="900" dirty="0"/>
          </a:p>
        </p:txBody>
      </p:sp>
      <p:sp>
        <p:nvSpPr>
          <p:cNvPr id="91" name="실행 단추: 앞으로 또는 다음 101">
            <a:hlinkClick r:id="rId5" action="ppaction://hlinksldjump" highlightClick="1"/>
            <a:extLst>
              <a:ext uri="{FF2B5EF4-FFF2-40B4-BE49-F238E27FC236}">
                <a16:creationId xmlns:a16="http://schemas.microsoft.com/office/drawing/2014/main" id="{C663284F-7CC3-4744-A191-35C2BE755D86}"/>
              </a:ext>
            </a:extLst>
          </p:cNvPr>
          <p:cNvSpPr/>
          <p:nvPr/>
        </p:nvSpPr>
        <p:spPr>
          <a:xfrm>
            <a:off x="5858699"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05574743"/>
      </p:ext>
    </p:extLst>
  </p:cSld>
  <p:clrMapOvr>
    <a:masterClrMapping/>
  </p:clrMapOvr>
  <p:timing>
    <p:tnLst>
      <p:par>
        <p:cTn id="1" dur="indefinite" restart="never" nodeType="tmRoot"/>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dirty="0"/>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800" b="1" dirty="0" smtClean="0">
                <a:solidFill>
                  <a:prstClr val="black"/>
                </a:solidFill>
                <a:latin typeface="맑은 고딕" panose="020F0502020204030204"/>
                <a:ea typeface="맑은 고딕" panose="020B0503020000020004" pitchFamily="50" charset="-127"/>
              </a:rPr>
              <a:t>설계</a:t>
            </a:r>
            <a:r>
              <a:rPr kumimoji="0" lang="en-US" altLang="ko-KR" sz="8800" b="1"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–DP3 Appendix</a:t>
            </a:r>
            <a:endPar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586799459"/>
      </p:ext>
    </p:extLst>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3699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049652">
                  <a:extLst>
                    <a:ext uri="{9D8B030D-6E8A-4147-A177-3AD203B41FA5}">
                      <a16:colId xmlns:a16="http://schemas.microsoft.com/office/drawing/2014/main" val="5654497"/>
                    </a:ext>
                  </a:extLst>
                </a:gridCol>
                <a:gridCol w="2391028">
                  <a:extLst>
                    <a:ext uri="{9D8B030D-6E8A-4147-A177-3AD203B41FA5}">
                      <a16:colId xmlns:a16="http://schemas.microsoft.com/office/drawing/2014/main" val="4114062400"/>
                    </a:ext>
                  </a:extLst>
                </a:gridCol>
                <a:gridCol w="3038222">
                  <a:extLst>
                    <a:ext uri="{9D8B030D-6E8A-4147-A177-3AD203B41FA5}">
                      <a16:colId xmlns:a16="http://schemas.microsoft.com/office/drawing/2014/main" val="3070054508"/>
                    </a:ext>
                  </a:extLst>
                </a:gridCol>
                <a:gridCol w="2402458">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a:t>구조</a:t>
                      </a:r>
                      <a:r>
                        <a:rPr lang="en-US" altLang="ko-KR" sz="1200" b="1" baseline="0" dirty="0"/>
                        <a:t>: </a:t>
                      </a:r>
                      <a:r>
                        <a:rPr lang="ko-KR" altLang="en-US" sz="1200" b="1" baseline="0" dirty="0" err="1">
                          <a:solidFill>
                            <a:srgbClr val="7030A0"/>
                          </a:solidFill>
                        </a:rPr>
                        <a:t>요청마다</a:t>
                      </a:r>
                      <a:r>
                        <a:rPr lang="ko-KR" altLang="en-US" sz="1200" b="1" baseline="0" dirty="0">
                          <a:solidFill>
                            <a:srgbClr val="7030A0"/>
                          </a:solidFill>
                        </a:rPr>
                        <a:t> 전체 체인 실행</a:t>
                      </a:r>
                      <a:endParaRPr lang="en-US" altLang="ko-KR" sz="1050" b="1" kern="1200" baseline="0" dirty="0">
                        <a:solidFill>
                          <a:srgbClr val="7030A0"/>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a:t>
                      </a:r>
                      <a:r>
                        <a:rPr lang="en-US" altLang="ko-KR" sz="1200" b="1" baseline="0" dirty="0"/>
                        <a:t> </a:t>
                      </a:r>
                      <a:r>
                        <a:rPr lang="ko-KR" altLang="en-US" sz="1200" b="1" baseline="0" dirty="0">
                          <a:solidFill>
                            <a:schemeClr val="accent2"/>
                          </a:solidFill>
                        </a:rPr>
                        <a:t>분석 </a:t>
                      </a:r>
                      <a:r>
                        <a:rPr lang="en-US" altLang="ko-KR" sz="1200" b="1" baseline="0" dirty="0">
                          <a:solidFill>
                            <a:schemeClr val="accent2"/>
                          </a:solidFill>
                        </a:rPr>
                        <a:t>1</a:t>
                      </a:r>
                      <a:r>
                        <a:rPr lang="ko-KR" altLang="en-US" sz="1200" b="1" baseline="0" dirty="0">
                          <a:solidFill>
                            <a:schemeClr val="accent2"/>
                          </a:solidFill>
                        </a:rPr>
                        <a:t>회 </a:t>
                      </a:r>
                      <a:r>
                        <a:rPr lang="en-US" altLang="ko-KR" sz="1200" b="1" baseline="0" dirty="0">
                          <a:solidFill>
                            <a:schemeClr val="accent2"/>
                          </a:solidFill>
                        </a:rPr>
                        <a:t>+ </a:t>
                      </a:r>
                      <a:r>
                        <a:rPr lang="ko-KR" altLang="en-US" sz="1200" b="1" baseline="0" dirty="0" err="1">
                          <a:solidFill>
                            <a:schemeClr val="accent2"/>
                          </a:solidFill>
                        </a:rPr>
                        <a:t>요청마다</a:t>
                      </a:r>
                      <a:r>
                        <a:rPr lang="ko-KR" altLang="en-US" sz="1200" b="1" baseline="0" dirty="0">
                          <a:solidFill>
                            <a:schemeClr val="accent2"/>
                          </a:solidFill>
                        </a:rPr>
                        <a:t> 조회 </a:t>
                      </a:r>
                      <a:endParaRPr lang="ko-KR" altLang="en-US" sz="1200" b="1" dirty="0">
                        <a:solidFill>
                          <a:schemeClr val="accent2"/>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573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입력 </a:t>
                      </a:r>
                      <a:r>
                        <a:rPr lang="en-US" altLang="ko-KR" sz="1200" strike="noStrike" baseline="0" dirty="0">
                          <a:effectLst/>
                        </a:rPr>
                        <a:t>Query</a:t>
                      </a:r>
                      <a:r>
                        <a:rPr lang="ko-KR" altLang="en-US" sz="1200" strike="noStrike" baseline="0" dirty="0">
                          <a:effectLst/>
                        </a:rPr>
                        <a:t>에 맞게 재사용할 </a:t>
                      </a:r>
                      <a:r>
                        <a:rPr lang="en-US" altLang="ko-KR" sz="1200" strike="noStrike" baseline="0" dirty="0">
                          <a:effectLst/>
                        </a:rPr>
                        <a:t>KV </a:t>
                      </a:r>
                      <a:r>
                        <a:rPr lang="ko-KR" altLang="en-US" sz="1200" strike="noStrike" baseline="0" dirty="0">
                          <a:effectLst/>
                        </a:rPr>
                        <a:t>캐시만 보유 </a:t>
                      </a:r>
                      <a:r>
                        <a:rPr lang="en-US" altLang="ko-KR" sz="1200" strike="noStrike" baseline="0" dirty="0">
                          <a:effectLst/>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effectLst/>
                        </a:rPr>
                        <a:t>Filter</a:t>
                      </a:r>
                      <a:r>
                        <a:rPr lang="ko-KR" altLang="en-US" sz="1200" strike="noStrike" baseline="0" dirty="0">
                          <a:effectLst/>
                        </a:rPr>
                        <a:t>별 병렬 실행으로 요청 간 경합을 분산 </a:t>
                      </a:r>
                      <a:r>
                        <a:rPr lang="en-US" altLang="ko-KR" sz="1200" strike="noStrike" baseline="0" dirty="0">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절감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처리량 유리 </a:t>
                      </a:r>
                      <a:r>
                        <a:rPr lang="en-US" altLang="ko-KR" sz="1200" b="0" i="0" dirty="0">
                          <a:solidFill>
                            <a:srgbClr val="404040"/>
                          </a:solidFill>
                          <a:latin typeface="+mn-lt"/>
                          <a:ea typeface="맑은 고딕"/>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Critical</a:t>
                      </a:r>
                      <a:r>
                        <a:rPr lang="en-US" altLang="ko-KR" sz="1200" b="0" i="0" baseline="0" dirty="0">
                          <a:solidFill>
                            <a:srgbClr val="404040"/>
                          </a:solidFill>
                          <a:latin typeface="+mn-lt"/>
                          <a:ea typeface="맑은 고딕"/>
                        </a:rPr>
                        <a:t> path</a:t>
                      </a:r>
                      <a:r>
                        <a:rPr lang="ko-KR" altLang="en-US" sz="1200" b="0" i="0" baseline="0" dirty="0">
                          <a:solidFill>
                            <a:srgbClr val="404040"/>
                          </a:solidFill>
                          <a:latin typeface="+mn-lt"/>
                          <a:ea typeface="맑은 고딕"/>
                        </a:rPr>
                        <a:t>가 </a:t>
                      </a:r>
                      <a:r>
                        <a:rPr lang="en-US" altLang="ko-KR" sz="1200" b="0" i="0" baseline="0" dirty="0">
                          <a:solidFill>
                            <a:srgbClr val="404040"/>
                          </a:solidFill>
                          <a:latin typeface="+mn-lt"/>
                          <a:ea typeface="맑은 고딕"/>
                        </a:rPr>
                        <a:t>SR </a:t>
                      </a:r>
                      <a:r>
                        <a:rPr lang="ko-KR" altLang="en-US" sz="1200" b="0" i="0" baseline="0" dirty="0">
                          <a:solidFill>
                            <a:srgbClr val="404040"/>
                          </a:solidFill>
                          <a:latin typeface="+mn-lt"/>
                          <a:ea typeface="맑은 고딕"/>
                        </a:rPr>
                        <a:t>조회 </a:t>
                      </a:r>
                      <a:r>
                        <a:rPr lang="en-US" altLang="ko-KR" sz="1200" b="0" i="0" baseline="0" dirty="0">
                          <a:solidFill>
                            <a:srgbClr val="404040"/>
                          </a:solidFill>
                          <a:latin typeface="+mn-lt"/>
                          <a:ea typeface="맑은 고딕"/>
                        </a:rPr>
                        <a:t>1</a:t>
                      </a:r>
                      <a:r>
                        <a:rPr lang="ko-KR" altLang="en-US" sz="1200" b="0" i="0" baseline="0" dirty="0">
                          <a:solidFill>
                            <a:srgbClr val="404040"/>
                          </a:solidFill>
                          <a:latin typeface="+mn-lt"/>
                          <a:ea typeface="맑은 고딕"/>
                        </a:rPr>
                        <a:t>회 뿐 </a:t>
                      </a:r>
                      <a:r>
                        <a:rPr lang="ko-KR" altLang="en-US" sz="1200" strike="noStrike" baseline="0" dirty="0">
                          <a:effectLst/>
                          <a:latin typeface="맑은 고딕" panose="020B0503020000020004" pitchFamily="50" charset="-127"/>
                          <a:ea typeface="+mn-ea"/>
                        </a:rPr>
                        <a:t>→</a:t>
                      </a:r>
                      <a:r>
                        <a:rPr lang="en-US" altLang="ko-KR" sz="1200" b="0" i="0" baseline="0" dirty="0">
                          <a:solidFill>
                            <a:srgbClr val="404040"/>
                          </a:solidFill>
                          <a:latin typeface="+mn-lt"/>
                          <a:ea typeface="맑은 고딕"/>
                        </a:rPr>
                        <a:t> </a:t>
                      </a:r>
                      <a:r>
                        <a:rPr lang="ko-KR" altLang="en-US" sz="1200" b="0" i="0" baseline="0" dirty="0">
                          <a:solidFill>
                            <a:srgbClr val="404040"/>
                          </a:solidFill>
                          <a:latin typeface="+mn-lt"/>
                          <a:ea typeface="맑은 고딕"/>
                        </a:rPr>
                        <a:t>부하가 올라도 </a:t>
                      </a:r>
                      <a:r>
                        <a:rPr lang="en-US" altLang="ko-KR" sz="1200" b="0" i="0" baseline="0" dirty="0">
                          <a:solidFill>
                            <a:srgbClr val="404040"/>
                          </a:solidFill>
                          <a:latin typeface="+mn-lt"/>
                          <a:ea typeface="맑은 고딕"/>
                        </a:rPr>
                        <a:t>tail latency </a:t>
                      </a:r>
                      <a:r>
                        <a:rPr lang="ko-KR" altLang="en-US" sz="1200" b="0" i="0" baseline="0" dirty="0">
                          <a:solidFill>
                            <a:srgbClr val="404040"/>
                          </a:solidFill>
                          <a:latin typeface="+mn-lt"/>
                          <a:ea typeface="맑은 고딕"/>
                        </a:rPr>
                        <a:t>평탄 </a:t>
                      </a:r>
                      <a:r>
                        <a:rPr lang="en-US" altLang="ko-KR" sz="1200" b="0" i="0" baseline="0" dirty="0">
                          <a:solidFill>
                            <a:srgbClr val="404040"/>
                          </a:solidFill>
                          <a:latin typeface="+mn-lt"/>
                          <a:ea typeface="맑은 고딕"/>
                        </a:rPr>
                        <a:t>(Q3)</a:t>
                      </a:r>
                      <a:endParaRPr lang="en-US" altLang="ko-KR" sz="120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발생 우려</a:t>
                      </a:r>
                      <a:r>
                        <a:rPr lang="en-US" altLang="ko-KR" sz="1200" strike="noStrike" baseline="0" dirty="0">
                          <a:effectLst/>
                        </a:rPr>
                        <a:t>, </a:t>
                      </a:r>
                      <a:r>
                        <a:rPr lang="ko-KR" altLang="en-US" sz="1200" strike="noStrike" baseline="0" dirty="0">
                          <a:effectLst/>
                        </a:rPr>
                        <a:t>처리량 불리 </a:t>
                      </a:r>
                      <a:r>
                        <a:rPr lang="en-US" altLang="ko-KR" sz="1200" strike="noStrike" baseline="0" dirty="0">
                          <a:effectLst/>
                        </a:rPr>
                        <a:t>(Q1)</a:t>
                      </a:r>
                    </a:p>
                    <a:p>
                      <a:pPr marL="228600" indent="-228600" latinLnBrk="1">
                        <a:lnSpc>
                          <a:spcPct val="100000"/>
                        </a:lnSpc>
                        <a:buFont typeface="Wingdings" panose="05000000000000000000" pitchFamily="2" charset="2"/>
                        <a:buChar char="§"/>
                      </a:pPr>
                      <a:r>
                        <a:rPr lang="ko-KR" altLang="en-US" sz="1200" strike="noStrike" baseline="0" dirty="0">
                          <a:effectLst/>
                        </a:rPr>
                        <a:t>고부하 시 체인 지연이 </a:t>
                      </a:r>
                      <a:r>
                        <a:rPr lang="ko-KR" altLang="en-US" sz="1200" strike="noStrike" baseline="0" dirty="0" err="1">
                          <a:effectLst/>
                        </a:rPr>
                        <a:t>큐잉과</a:t>
                      </a:r>
                      <a:r>
                        <a:rPr lang="ko-KR" altLang="en-US" sz="1200" strike="noStrike" baseline="0" dirty="0">
                          <a:effectLst/>
                        </a:rPr>
                        <a:t> 겹쳐 </a:t>
                      </a:r>
                      <a:r>
                        <a:rPr lang="en-US" altLang="ko-KR" sz="1200" strike="noStrike" baseline="0" dirty="0">
                          <a:effectLst/>
                        </a:rPr>
                        <a:t>tail latency </a:t>
                      </a:r>
                      <a:r>
                        <a:rPr lang="ko-KR" altLang="en-US" sz="1200" strike="noStrike" baseline="0" dirty="0">
                          <a:effectLst/>
                        </a:rPr>
                        <a:t>발산 </a:t>
                      </a:r>
                      <a:r>
                        <a:rPr lang="en-US" altLang="ko-KR" sz="1200" strike="noStrike" baseline="0" dirty="0">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재사용 </a:t>
                      </a:r>
                      <a:r>
                        <a:rPr lang="en-US" altLang="ko-KR" sz="1200" strike="noStrike" baseline="0" dirty="0">
                          <a:effectLst/>
                        </a:rPr>
                        <a:t>KV </a:t>
                      </a:r>
                      <a:r>
                        <a:rPr lang="ko-KR" altLang="en-US" sz="1200" strike="noStrike" baseline="0" dirty="0">
                          <a:effectLst/>
                        </a:rPr>
                        <a:t>캐시 및 재계산 위치를 사전에 보유 </a:t>
                      </a:r>
                      <a:r>
                        <a:rPr lang="ko-KR" altLang="en-US" sz="1200" strike="noStrike" baseline="0" dirty="0">
                          <a:effectLst/>
                          <a:latin typeface="맑은 고딕" panose="020B0503020000020004" pitchFamily="50" charset="-127"/>
                          <a:ea typeface="맑은 고딕" panose="020B0503020000020004" pitchFamily="50" charset="-127"/>
                        </a:rPr>
                        <a:t>→ </a:t>
                      </a:r>
                      <a:r>
                        <a:rPr lang="ko-KR" altLang="en-US" sz="1200" strike="noStrike" baseline="0" dirty="0">
                          <a:effectLst/>
                        </a:rPr>
                        <a:t>메모리 점유 증가</a:t>
                      </a:r>
                      <a:r>
                        <a:rPr lang="en-US" altLang="ko-KR" sz="1200" strike="noStrike" baseline="0" dirty="0">
                          <a:effectLst/>
                        </a:rPr>
                        <a:t>(Q2)</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Q2.</a:t>
                      </a:r>
                      <a:r>
                        <a:rPr lang="en-US" altLang="ko-KR" sz="1200" b="0" strike="noStrike" baseline="0" dirty="0">
                          <a:solidFill>
                            <a:schemeClr val="tx1"/>
                          </a:solidFill>
                        </a:rPr>
                        <a:t> </a:t>
                      </a:r>
                      <a:r>
                        <a:rPr lang="en-US" altLang="ko-KR" sz="1200" b="0" strike="noStrike" dirty="0">
                          <a:solidFill>
                            <a:schemeClr val="tx1"/>
                          </a:solidFill>
                        </a:rPr>
                        <a:t>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1.76→4.2 q/s (2.4x)</a:t>
                      </a:r>
                      <a:endParaRPr lang="en-US" altLang="ko-KR" sz="1100" b="0"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mn-ea"/>
                        </a:rPr>
                        <a:t>○</a:t>
                      </a: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 425→246 GB (-42%)</a:t>
                      </a:r>
                      <a:endParaRPr lang="en-US" altLang="ko-KR" sz="11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1.89→1.29 s (-32%)</a:t>
                      </a:r>
                      <a:endParaRPr lang="en-US" altLang="ko-KR" sz="1200" b="0" dirty="0">
                        <a:solidFill>
                          <a:schemeClr val="accent5"/>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Q2. Resource Efficiency</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mn-ea"/>
                        </a:rPr>
                        <a:t>○</a:t>
                      </a: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1.76→5.28 q/s (3.0x)</a:t>
                      </a:r>
                      <a:endParaRPr lang="en-US" altLang="ko-KR" sz="1100" b="0"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 425→280 GB (-34%)</a:t>
                      </a:r>
                      <a:endParaRPr lang="en-US" altLang="ko-KR" sz="11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mn-ea"/>
                        </a:rPr>
                        <a:t>○</a:t>
                      </a:r>
                      <a:r>
                        <a:rPr lang="en-US" altLang="ko-KR" sz="1200" b="0" dirty="0">
                          <a:solidFill>
                            <a:schemeClr val="accent5"/>
                          </a:solidFill>
                          <a:latin typeface="맑은 고딕" panose="020B0503020000020004" pitchFamily="50" charset="-127"/>
                          <a:ea typeface="+mn-ea"/>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1.89→0.85 s (-55%)</a:t>
                      </a:r>
                      <a:endParaRPr kumimoji="0" lang="en-US" altLang="ko-KR" sz="1100" b="0" i="0" u="none" strike="noStrike" kern="1200" cap="none" spc="0" normalizeH="0" baseline="0" noProof="0" dirty="0">
                        <a:ln>
                          <a:noFill/>
                        </a:ln>
                        <a:solidFill>
                          <a:srgbClr val="4472C4"/>
                        </a:solidFill>
                        <a:effectLst/>
                        <a:uLnTx/>
                        <a:uFillTx/>
                        <a:latin typeface="+mn-lt"/>
                        <a:ea typeface="맑은 고딕"/>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용량을 고려하여 </a:t>
            </a:r>
            <a:r>
              <a:rPr lang="en-US" altLang="ko-KR" sz="1400" b="1" dirty="0">
                <a:solidFill>
                  <a:schemeClr val="bg1"/>
                </a:solidFill>
              </a:rPr>
              <a:t>KV </a:t>
            </a:r>
            <a:r>
              <a:rPr lang="ko-KR" altLang="en-US" sz="1400" b="1" dirty="0" err="1">
                <a:solidFill>
                  <a:schemeClr val="bg1"/>
                </a:solidFill>
              </a:rPr>
              <a:t>재사용률을</a:t>
            </a:r>
            <a:r>
              <a:rPr lang="ko-KR" altLang="en-US" sz="1400" b="1" dirty="0">
                <a:solidFill>
                  <a:schemeClr val="bg1"/>
                </a:solidFill>
              </a:rPr>
              <a:t> 높이는 구조 설계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a:t>
            </a:r>
            <a:r>
              <a:rPr lang="ko-KR" altLang="en-US" sz="1100" dirty="0" err="1"/>
              <a:t>요청마다</a:t>
            </a:r>
            <a:r>
              <a:rPr lang="ko-KR" altLang="en-US" sz="1100" dirty="0"/>
              <a:t> 입력되는 </a:t>
            </a:r>
            <a:r>
              <a:rPr lang="en-US" altLang="ko-KR" sz="1100" dirty="0"/>
              <a:t>Query</a:t>
            </a:r>
            <a:r>
              <a:rPr lang="ko-KR" altLang="en-US" sz="1100" dirty="0"/>
              <a:t>에 맞게 재사용</a:t>
            </a:r>
            <a:r>
              <a:rPr lang="en-US" altLang="ko-KR" sz="1100" dirty="0"/>
              <a:t>/</a:t>
            </a:r>
            <a:r>
              <a:rPr lang="ko-KR" altLang="en-US" sz="1100" dirty="0"/>
              <a:t>재계산 토큰 위치를 선정하는 구조</a:t>
            </a:r>
            <a:r>
              <a:rPr lang="en-US" altLang="ko-KR" sz="1100" dirty="0"/>
              <a:t>＂</a:t>
            </a:r>
          </a:p>
        </p:txBody>
      </p:sp>
      <p:sp>
        <p:nvSpPr>
          <p:cNvPr id="138" name="TextBox 137"/>
          <p:cNvSpPr txBox="1"/>
          <p:nvPr/>
        </p:nvSpPr>
        <p:spPr>
          <a:xfrm>
            <a:off x="6534149" y="1416420"/>
            <a:ext cx="5143327" cy="261610"/>
          </a:xfrm>
          <a:prstGeom prst="rect">
            <a:avLst/>
          </a:prstGeom>
          <a:noFill/>
        </p:spPr>
        <p:txBody>
          <a:bodyPr wrap="square" rtlCol="0">
            <a:spAutoFit/>
          </a:bodyPr>
          <a:lstStyle/>
          <a:p>
            <a:r>
              <a:rPr lang="en-US" altLang="ko-KR" sz="1100" dirty="0"/>
              <a:t>“</a:t>
            </a:r>
            <a:r>
              <a:rPr lang="ko-KR" altLang="en-US" sz="1100" dirty="0"/>
              <a:t>사전에 재사용</a:t>
            </a:r>
            <a:r>
              <a:rPr lang="en-US" altLang="ko-KR" sz="1100" dirty="0"/>
              <a:t>/</a:t>
            </a:r>
            <a:r>
              <a:rPr lang="ko-KR" altLang="en-US" sz="1100" dirty="0"/>
              <a:t>재계산 토큰 위치를 선정하고</a:t>
            </a:r>
            <a:r>
              <a:rPr lang="en-US" altLang="ko-KR" sz="1100" dirty="0"/>
              <a:t>, </a:t>
            </a:r>
            <a:r>
              <a:rPr lang="ko-KR" altLang="en-US" sz="1100" dirty="0"/>
              <a:t>요청은 이를 활용</a:t>
            </a:r>
            <a:r>
              <a:rPr lang="en-US" altLang="ko-KR" sz="1100" dirty="0"/>
              <a:t>＂</a:t>
            </a:r>
          </a:p>
        </p:txBody>
      </p:sp>
      <p:sp>
        <p:nvSpPr>
          <p:cNvPr id="239" name="TextBox 238">
            <a:extLst>
              <a:ext uri="{FF2B5EF4-FFF2-40B4-BE49-F238E27FC236}">
                <a16:creationId xmlns:a16="http://schemas.microsoft.com/office/drawing/2014/main" id="{5EDBAE0C-74A5-43A7-8D12-CE3C549C093E}"/>
              </a:ext>
            </a:extLst>
          </p:cNvPr>
          <p:cNvSpPr txBox="1"/>
          <p:nvPr/>
        </p:nvSpPr>
        <p:spPr>
          <a:xfrm>
            <a:off x="4711271" y="6397263"/>
            <a:ext cx="631904" cy="276999"/>
          </a:xfrm>
          <a:prstGeom prst="rect">
            <a:avLst/>
          </a:prstGeom>
          <a:noFill/>
        </p:spPr>
        <p:txBody>
          <a:bodyPr wrap="none" rtlCol="0">
            <a:spAutoFit/>
          </a:bodyPr>
          <a:lstStyle/>
          <a:p>
            <a:r>
              <a:rPr lang="ko-KR" altLang="en-US" sz="1200" dirty="0"/>
              <a:t>총</a:t>
            </a:r>
            <a:r>
              <a:rPr lang="en-US" altLang="ko-KR" sz="1200" dirty="0"/>
              <a:t> 4</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10204983" y="6418143"/>
            <a:ext cx="631904" cy="276999"/>
          </a:xfrm>
          <a:prstGeom prst="rect">
            <a:avLst/>
          </a:prstGeom>
          <a:noFill/>
        </p:spPr>
        <p:txBody>
          <a:bodyPr wrap="none" rtlCol="0">
            <a:spAutoFit/>
          </a:bodyPr>
          <a:lstStyle/>
          <a:p>
            <a:r>
              <a:rPr lang="ko-KR" altLang="en-US" sz="1200" dirty="0"/>
              <a:t>총</a:t>
            </a:r>
            <a:r>
              <a:rPr lang="en-US" altLang="ko-KR" sz="1200" dirty="0"/>
              <a:t> 5</a:t>
            </a:r>
            <a:r>
              <a:rPr lang="ko-KR" altLang="en-US" sz="1200" dirty="0"/>
              <a:t>점</a:t>
            </a:r>
          </a:p>
        </p:txBody>
      </p:sp>
      <p:sp>
        <p:nvSpPr>
          <p:cNvPr id="103" name="TextBox 102"/>
          <p:cNvSpPr txBox="1"/>
          <p:nvPr/>
        </p:nvSpPr>
        <p:spPr>
          <a:xfrm>
            <a:off x="1192849" y="2077239"/>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104" name="Rectangle 19"/>
          <p:cNvSpPr/>
          <p:nvPr/>
        </p:nvSpPr>
        <p:spPr>
          <a:xfrm>
            <a:off x="1611630" y="2004178"/>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cxnSp>
        <p:nvCxnSpPr>
          <p:cNvPr id="105" name="Connector 20"/>
          <p:cNvCxnSpPr/>
          <p:nvPr/>
        </p:nvCxnSpPr>
        <p:spPr>
          <a:xfrm>
            <a:off x="2271947"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06" name="Rectangle 21"/>
          <p:cNvSpPr/>
          <p:nvPr/>
        </p:nvSpPr>
        <p:spPr>
          <a:xfrm>
            <a:off x="2445714" y="2004178"/>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cxnSp>
        <p:nvCxnSpPr>
          <p:cNvPr id="107" name="Connector 22"/>
          <p:cNvCxnSpPr/>
          <p:nvPr/>
        </p:nvCxnSpPr>
        <p:spPr>
          <a:xfrm>
            <a:off x="3106033"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3" name="Rectangle 23"/>
          <p:cNvSpPr/>
          <p:nvPr/>
        </p:nvSpPr>
        <p:spPr>
          <a:xfrm>
            <a:off x="3279801" y="2004178"/>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err="1">
                <a:solidFill>
                  <a:srgbClr val="000000"/>
                </a:solidFill>
                <a:latin typeface="맑은 고딕"/>
                <a:ea typeface="맑은 고딕"/>
                <a:cs typeface="맑은 고딕"/>
              </a:rPr>
              <a:t>재연산</a:t>
            </a:r>
            <a:r>
              <a:rPr lang="ko-KR" altLang="en-US" sz="800" b="1" dirty="0">
                <a:solidFill>
                  <a:srgbClr val="000000"/>
                </a:solidFill>
                <a:latin typeface="맑은 고딕"/>
                <a:ea typeface="맑은 고딕"/>
                <a:cs typeface="맑은 고딕"/>
              </a:rPr>
              <a:t> 토큰 선정</a:t>
            </a:r>
            <a:endParaRPr sz="800" b="1" dirty="0">
              <a:solidFill>
                <a:srgbClr val="000000"/>
              </a:solidFill>
              <a:latin typeface="맑은 고딕"/>
              <a:ea typeface="맑은 고딕"/>
              <a:cs typeface="맑은 고딕"/>
            </a:endParaRPr>
          </a:p>
        </p:txBody>
      </p:sp>
      <p:cxnSp>
        <p:nvCxnSpPr>
          <p:cNvPr id="115" name="Connector 24"/>
          <p:cNvCxnSpPr/>
          <p:nvPr/>
        </p:nvCxnSpPr>
        <p:spPr>
          <a:xfrm>
            <a:off x="3940118"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7" name="Rectangle 25"/>
          <p:cNvSpPr/>
          <p:nvPr/>
        </p:nvSpPr>
        <p:spPr>
          <a:xfrm>
            <a:off x="4113885" y="2004177"/>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선택적 </a:t>
            </a:r>
            <a:endParaRPr lang="en-US" altLang="ko-KR" sz="800" b="1" dirty="0">
              <a:solidFill>
                <a:srgbClr val="000000"/>
              </a:solidFill>
              <a:latin typeface="맑은 고딕"/>
              <a:ea typeface="맑은 고딕"/>
              <a:cs typeface="맑은 고딕"/>
            </a:endParaRPr>
          </a:p>
          <a:p>
            <a:pPr algn="ctr">
              <a:spcAft>
                <a:spcPts val="200"/>
              </a:spcAft>
            </a:pPr>
            <a:r>
              <a:rPr lang="ko-KR" altLang="en-US" sz="800" b="1" dirty="0">
                <a:solidFill>
                  <a:srgbClr val="000000"/>
                </a:solidFill>
                <a:latin typeface="맑은 고딕"/>
                <a:ea typeface="맑은 고딕"/>
                <a:cs typeface="맑은 고딕"/>
              </a:rPr>
              <a:t>재계산</a:t>
            </a:r>
            <a:endParaRPr sz="800" b="1" dirty="0">
              <a:solidFill>
                <a:srgbClr val="000000"/>
              </a:solidFill>
              <a:latin typeface="맑은 고딕"/>
              <a:ea typeface="맑은 고딕"/>
              <a:cs typeface="맑은 고딕"/>
            </a:endParaRPr>
          </a:p>
        </p:txBody>
      </p:sp>
      <p:sp>
        <p:nvSpPr>
          <p:cNvPr id="118" name="TextBox 117"/>
          <p:cNvSpPr txBox="1"/>
          <p:nvPr/>
        </p:nvSpPr>
        <p:spPr>
          <a:xfrm>
            <a:off x="1192849" y="2567182"/>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120" name="Rectangle 27"/>
          <p:cNvSpPr/>
          <p:nvPr/>
        </p:nvSpPr>
        <p:spPr>
          <a:xfrm>
            <a:off x="2444860" y="2494121"/>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32" name="Connector 28"/>
          <p:cNvCxnSpPr/>
          <p:nvPr/>
        </p:nvCxnSpPr>
        <p:spPr>
          <a:xfrm>
            <a:off x="3105177"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29"/>
          <p:cNvSpPr/>
          <p:nvPr/>
        </p:nvSpPr>
        <p:spPr>
          <a:xfrm>
            <a:off x="3278944" y="2494121"/>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36" name="Connector 30"/>
          <p:cNvCxnSpPr/>
          <p:nvPr/>
        </p:nvCxnSpPr>
        <p:spPr>
          <a:xfrm>
            <a:off x="3939263"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4" name="Rectangle 31"/>
          <p:cNvSpPr/>
          <p:nvPr/>
        </p:nvSpPr>
        <p:spPr>
          <a:xfrm>
            <a:off x="4113031" y="2494121"/>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45" name="Connector 32"/>
          <p:cNvCxnSpPr/>
          <p:nvPr/>
        </p:nvCxnSpPr>
        <p:spPr>
          <a:xfrm>
            <a:off x="4773348"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7" name="Rectangle 33"/>
          <p:cNvSpPr/>
          <p:nvPr/>
        </p:nvSpPr>
        <p:spPr>
          <a:xfrm>
            <a:off x="4947115" y="2494121"/>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48" name="TextBox 147"/>
          <p:cNvSpPr txBox="1"/>
          <p:nvPr/>
        </p:nvSpPr>
        <p:spPr>
          <a:xfrm>
            <a:off x="1192849" y="3057126"/>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50" name="Rectangle 35"/>
          <p:cNvSpPr/>
          <p:nvPr/>
        </p:nvSpPr>
        <p:spPr>
          <a:xfrm>
            <a:off x="3272288" y="2984064"/>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53" name="Connector 36"/>
          <p:cNvCxnSpPr/>
          <p:nvPr/>
        </p:nvCxnSpPr>
        <p:spPr>
          <a:xfrm>
            <a:off x="3932605"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4" name="Rectangle 37"/>
          <p:cNvSpPr/>
          <p:nvPr/>
        </p:nvSpPr>
        <p:spPr>
          <a:xfrm>
            <a:off x="4106372" y="2984064"/>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55" name="Connector 38"/>
          <p:cNvCxnSpPr/>
          <p:nvPr/>
        </p:nvCxnSpPr>
        <p:spPr>
          <a:xfrm>
            <a:off x="4766691"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7" name="Rectangle 39"/>
          <p:cNvSpPr/>
          <p:nvPr/>
        </p:nvSpPr>
        <p:spPr>
          <a:xfrm>
            <a:off x="4940459" y="2984064"/>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58" name="Connector 40"/>
          <p:cNvCxnSpPr/>
          <p:nvPr/>
        </p:nvCxnSpPr>
        <p:spPr>
          <a:xfrm>
            <a:off x="5600776"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41"/>
          <p:cNvSpPr/>
          <p:nvPr/>
        </p:nvSpPr>
        <p:spPr>
          <a:xfrm>
            <a:off x="5774543" y="2984065"/>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61" name="TextBox 160"/>
          <p:cNvSpPr txBox="1"/>
          <p:nvPr/>
        </p:nvSpPr>
        <p:spPr>
          <a:xfrm>
            <a:off x="1645785" y="1718927"/>
            <a:ext cx="1503466" cy="186205"/>
          </a:xfrm>
          <a:prstGeom prst="rect">
            <a:avLst/>
          </a:prstGeom>
          <a:noFill/>
        </p:spPr>
        <p:txBody>
          <a:bodyPr wrap="square" lIns="45720" tIns="27432" rIns="45720" bIns="27432" anchor="t">
            <a:spAutoFit/>
          </a:bodyPr>
          <a:lstStyle/>
          <a:p>
            <a:pPr algn="l">
              <a:spcAft>
                <a:spcPts val="200"/>
              </a:spcAft>
            </a:pPr>
            <a:r>
              <a:rPr sz="850" b="1" dirty="0" err="1">
                <a:solidFill>
                  <a:schemeClr val="accent2">
                    <a:lumMod val="50000"/>
                  </a:schemeClr>
                </a:solidFill>
                <a:latin typeface="맑은 고딕"/>
                <a:ea typeface="맑은 고딕"/>
                <a:cs typeface="맑은 고딕"/>
              </a:rPr>
              <a:t>요청마다</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분석</a:t>
            </a:r>
            <a:r>
              <a:rPr lang="en-US" sz="850" b="1" dirty="0">
                <a:solidFill>
                  <a:schemeClr val="accent2">
                    <a:lumMod val="50000"/>
                  </a:schemeClr>
                </a:solidFill>
                <a:latin typeface="맑은 고딕"/>
                <a:ea typeface="맑은 고딕"/>
                <a:cs typeface="맑은 고딕"/>
              </a:rPr>
              <a:t> </a:t>
            </a:r>
            <a:r>
              <a:rPr sz="850" b="1" dirty="0">
                <a:solidFill>
                  <a:schemeClr val="accent2">
                    <a:lumMod val="50000"/>
                  </a:schemeClr>
                </a:solidFill>
                <a:latin typeface="맑은 고딕"/>
                <a:ea typeface="맑은 고딕"/>
                <a:cs typeface="맑은 고딕"/>
              </a:rPr>
              <a:t>3단계 </a:t>
            </a:r>
            <a:r>
              <a:rPr sz="850" b="1" dirty="0" err="1">
                <a:solidFill>
                  <a:schemeClr val="accent2">
                    <a:lumMod val="50000"/>
                  </a:schemeClr>
                </a:solidFill>
                <a:latin typeface="맑은 고딕"/>
                <a:ea typeface="맑은 고딕"/>
                <a:cs typeface="맑은 고딕"/>
              </a:rPr>
              <a:t>반복</a:t>
            </a:r>
            <a:endParaRPr sz="850" b="1" dirty="0">
              <a:solidFill>
                <a:schemeClr val="accent2">
                  <a:lumMod val="50000"/>
                </a:schemeClr>
              </a:solidFill>
              <a:latin typeface="맑은 고딕"/>
              <a:ea typeface="맑은 고딕"/>
              <a:cs typeface="맑은 고딕"/>
            </a:endParaRPr>
          </a:p>
        </p:txBody>
      </p:sp>
      <p:sp>
        <p:nvSpPr>
          <p:cNvPr id="163" name="TextBox 162"/>
          <p:cNvSpPr txBox="1"/>
          <p:nvPr/>
        </p:nvSpPr>
        <p:spPr>
          <a:xfrm>
            <a:off x="6534149" y="2047236"/>
            <a:ext cx="410082" cy="243433"/>
          </a:xfrm>
          <a:prstGeom prst="rect">
            <a:avLst/>
          </a:prstGeom>
          <a:noFill/>
        </p:spPr>
        <p:txBody>
          <a:bodyPr wrap="square" lIns="45720" tIns="27432" rIns="45720" bIns="27432" anchor="t">
            <a:spAutoFit/>
          </a:bodyPr>
          <a:lstStyle/>
          <a:p>
            <a:pPr algn="l">
              <a:spcAft>
                <a:spcPts val="200"/>
              </a:spcAft>
            </a:pPr>
            <a:r>
              <a:rPr sz="900" b="1">
                <a:solidFill>
                  <a:srgbClr val="C55A11"/>
                </a:solidFill>
                <a:latin typeface="맑은 고딕"/>
                <a:ea typeface="맑은 고딕"/>
                <a:cs typeface="맑은 고딕"/>
              </a:rPr>
              <a:t>사전</a:t>
            </a:r>
          </a:p>
        </p:txBody>
      </p:sp>
      <p:sp>
        <p:nvSpPr>
          <p:cNvPr id="164" name="Rectangle 45"/>
          <p:cNvSpPr/>
          <p:nvPr/>
        </p:nvSpPr>
        <p:spPr>
          <a:xfrm>
            <a:off x="6944231" y="2006664"/>
            <a:ext cx="671043" cy="32457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대표 쿼리 추출</a:t>
            </a:r>
            <a:endParaRPr sz="800" b="1" dirty="0">
              <a:solidFill>
                <a:srgbClr val="000000"/>
              </a:solidFill>
              <a:latin typeface="맑은 고딕"/>
              <a:ea typeface="맑은 고딕"/>
              <a:cs typeface="맑은 고딕"/>
            </a:endParaRPr>
          </a:p>
        </p:txBody>
      </p:sp>
      <p:cxnSp>
        <p:nvCxnSpPr>
          <p:cNvPr id="165" name="Connector 46"/>
          <p:cNvCxnSpPr/>
          <p:nvPr/>
        </p:nvCxnSpPr>
        <p:spPr>
          <a:xfrm>
            <a:off x="7615274"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6" name="Rectangle 47"/>
          <p:cNvSpPr/>
          <p:nvPr/>
        </p:nvSpPr>
        <p:spPr>
          <a:xfrm>
            <a:off x="7801674" y="2006664"/>
            <a:ext cx="671043" cy="32457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7" name="Connector 48"/>
          <p:cNvCxnSpPr/>
          <p:nvPr/>
        </p:nvCxnSpPr>
        <p:spPr>
          <a:xfrm>
            <a:off x="8472717"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8" name="Rectangle 49"/>
          <p:cNvSpPr/>
          <p:nvPr/>
        </p:nvSpPr>
        <p:spPr>
          <a:xfrm>
            <a:off x="8659117" y="2006664"/>
            <a:ext cx="671043" cy="324578"/>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9" name="Connector 50"/>
          <p:cNvCxnSpPr/>
          <p:nvPr/>
        </p:nvCxnSpPr>
        <p:spPr>
          <a:xfrm>
            <a:off x="9330160"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Rectangle 51"/>
          <p:cNvSpPr/>
          <p:nvPr/>
        </p:nvSpPr>
        <p:spPr>
          <a:xfrm>
            <a:off x="9516561" y="2006664"/>
            <a:ext cx="671043" cy="324578"/>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sp>
        <p:nvSpPr>
          <p:cNvPr id="201" name="TextBox 200"/>
          <p:cNvSpPr txBox="1"/>
          <p:nvPr/>
        </p:nvSpPr>
        <p:spPr>
          <a:xfrm>
            <a:off x="9316765" y="2385506"/>
            <a:ext cx="560312"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write 1회</a:t>
            </a:r>
          </a:p>
        </p:txBody>
      </p:sp>
      <p:sp>
        <p:nvSpPr>
          <p:cNvPr id="230" name="TextBox 229"/>
          <p:cNvSpPr txBox="1"/>
          <p:nvPr/>
        </p:nvSpPr>
        <p:spPr>
          <a:xfrm>
            <a:off x="10485000" y="1731969"/>
            <a:ext cx="1473198" cy="186205"/>
          </a:xfrm>
          <a:prstGeom prst="rect">
            <a:avLst/>
          </a:prstGeom>
          <a:noFill/>
        </p:spPr>
        <p:txBody>
          <a:bodyPr wrap="square" lIns="45720" tIns="27432" rIns="45720" bIns="27432" anchor="t">
            <a:spAutoFit/>
          </a:bodyPr>
          <a:lstStyle/>
          <a:p>
            <a:pPr algn="l">
              <a:spcAft>
                <a:spcPts val="100"/>
              </a:spcAft>
            </a:pPr>
            <a:r>
              <a:rPr sz="850" b="1" dirty="0" err="1">
                <a:solidFill>
                  <a:schemeClr val="accent2">
                    <a:lumMod val="50000"/>
                  </a:schemeClr>
                </a:solidFill>
                <a:latin typeface="맑은 고딕"/>
                <a:ea typeface="맑은 고딕"/>
                <a:cs typeface="맑은 고딕"/>
              </a:rPr>
              <a:t>서빙</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경로에는</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SR만</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남음</a:t>
            </a:r>
            <a:endParaRPr sz="850" b="1" dirty="0">
              <a:solidFill>
                <a:schemeClr val="accent2">
                  <a:lumMod val="50000"/>
                </a:schemeClr>
              </a:solidFill>
              <a:latin typeface="맑은 고딕"/>
              <a:ea typeface="맑은 고딕"/>
              <a:cs typeface="맑은 고딕"/>
            </a:endParaRPr>
          </a:p>
        </p:txBody>
      </p:sp>
      <p:sp>
        <p:nvSpPr>
          <p:cNvPr id="16" name="실행 단추: 앞으로 또는 다음 15">
            <a:hlinkClick r:id="rId3" action="ppaction://hlinksldjump" highlightClick="1"/>
          </p:cNvPr>
          <p:cNvSpPr/>
          <p:nvPr/>
        </p:nvSpPr>
        <p:spPr>
          <a:xfrm>
            <a:off x="561954" y="3168086"/>
            <a:ext cx="213360" cy="18435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Rectangle 51"/>
          <p:cNvSpPr/>
          <p:nvPr/>
        </p:nvSpPr>
        <p:spPr>
          <a:xfrm>
            <a:off x="11244427" y="2005839"/>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98" name="Rectangle 51"/>
          <p:cNvSpPr/>
          <p:nvPr/>
        </p:nvSpPr>
        <p:spPr>
          <a:xfrm>
            <a:off x="11244427" y="2449551"/>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108" name="Rectangle 51"/>
          <p:cNvSpPr/>
          <p:nvPr/>
        </p:nvSpPr>
        <p:spPr>
          <a:xfrm>
            <a:off x="11244427" y="2896448"/>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ea typeface="맑은 고딕"/>
                <a:cs typeface="맑은 고딕"/>
              </a:rPr>
              <a:t>선택적 </a:t>
            </a:r>
          </a:p>
          <a:p>
            <a:pPr algn="ctr">
              <a:spcAft>
                <a:spcPts val="200"/>
              </a:spcAft>
            </a:pPr>
            <a:r>
              <a:rPr lang="ko-KR" altLang="en-US" sz="800" b="1" dirty="0">
                <a:solidFill>
                  <a:srgbClr val="000000"/>
                </a:solidFill>
                <a:ea typeface="맑은 고딕"/>
                <a:cs typeface="맑은 고딕"/>
              </a:rPr>
              <a:t>재계산</a:t>
            </a:r>
          </a:p>
        </p:txBody>
      </p:sp>
      <p:sp>
        <p:nvSpPr>
          <p:cNvPr id="96" name="Rectangle 52"/>
          <p:cNvSpPr/>
          <p:nvPr/>
        </p:nvSpPr>
        <p:spPr>
          <a:xfrm>
            <a:off x="8521409" y="2544126"/>
            <a:ext cx="1836041" cy="355375"/>
          </a:xfrm>
          <a:prstGeom prst="rect">
            <a:avLst/>
          </a:prstGeom>
          <a:solidFill>
            <a:schemeClr val="bg1"/>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800" b="1" dirty="0">
                <a:solidFill>
                  <a:srgbClr val="000000"/>
                </a:solidFill>
                <a:latin typeface="맑은 고딕"/>
                <a:ea typeface="맑은 고딕"/>
                <a:cs typeface="맑은 고딕"/>
              </a:rPr>
              <a:t>Shared </a:t>
            </a:r>
            <a:r>
              <a:rPr sz="800" b="1" dirty="0">
                <a:solidFill>
                  <a:srgbClr val="000000"/>
                </a:solidFill>
                <a:latin typeface="맑은 고딕"/>
                <a:ea typeface="맑은 고딕"/>
                <a:cs typeface="맑은 고딕"/>
              </a:rPr>
              <a:t>Repository </a:t>
            </a:r>
            <a:endParaRPr lang="en-US" sz="800" b="1" dirty="0">
              <a:solidFill>
                <a:srgbClr val="000000"/>
              </a:solidFill>
              <a:latin typeface="맑은 고딕"/>
              <a:ea typeface="맑은 고딕"/>
              <a:cs typeface="맑은 고딕"/>
            </a:endParaRPr>
          </a:p>
          <a:p>
            <a:pPr algn="ctr">
              <a:spcAft>
                <a:spcPts val="200"/>
              </a:spcAft>
            </a:pPr>
            <a:r>
              <a:rPr lang="ko-KR" altLang="en-US" sz="700" b="1" dirty="0">
                <a:solidFill>
                  <a:schemeClr val="bg1">
                    <a:lumMod val="50000"/>
                  </a:schemeClr>
                </a:solidFill>
                <a:latin typeface="맑은 고딕"/>
                <a:ea typeface="맑은 고딕"/>
                <a:cs typeface="맑은 고딕"/>
              </a:rPr>
              <a:t>재사용 </a:t>
            </a:r>
            <a:r>
              <a:rPr lang="en-US" altLang="ko-KR" sz="700" b="1" dirty="0">
                <a:solidFill>
                  <a:schemeClr val="bg1">
                    <a:lumMod val="50000"/>
                  </a:schemeClr>
                </a:solidFill>
                <a:latin typeface="맑은 고딕"/>
                <a:ea typeface="맑은 고딕"/>
                <a:cs typeface="맑은 고딕"/>
              </a:rPr>
              <a:t>KV </a:t>
            </a:r>
            <a:r>
              <a:rPr lang="ko-KR" altLang="en-US" sz="700" b="1" dirty="0">
                <a:solidFill>
                  <a:schemeClr val="bg1">
                    <a:lumMod val="50000"/>
                  </a:schemeClr>
                </a:solidFill>
                <a:latin typeface="맑은 고딕"/>
                <a:ea typeface="맑은 고딕"/>
                <a:cs typeface="맑은 고딕"/>
              </a:rPr>
              <a:t>캐시</a:t>
            </a:r>
            <a:r>
              <a:rPr lang="en-US" altLang="ko-KR" sz="700" b="1" dirty="0">
                <a:solidFill>
                  <a:schemeClr val="bg1">
                    <a:lumMod val="50000"/>
                  </a:schemeClr>
                </a:solidFill>
                <a:latin typeface="맑은 고딕"/>
                <a:ea typeface="맑은 고딕"/>
                <a:cs typeface="맑은 고딕"/>
              </a:rPr>
              <a:t>, </a:t>
            </a:r>
            <a:r>
              <a:rPr sz="700" b="1" dirty="0" err="1">
                <a:solidFill>
                  <a:schemeClr val="bg1">
                    <a:lumMod val="50000"/>
                  </a:schemeClr>
                </a:solidFill>
                <a:latin typeface="맑은 고딕"/>
                <a:ea typeface="맑은 고딕"/>
                <a:cs typeface="맑은 고딕"/>
              </a:rPr>
              <a:t>재계산</a:t>
            </a:r>
            <a:r>
              <a:rPr lang="ko-KR" altLang="en-US" sz="700" b="1" dirty="0">
                <a:solidFill>
                  <a:schemeClr val="bg1">
                    <a:lumMod val="50000"/>
                  </a:schemeClr>
                </a:solidFill>
                <a:latin typeface="맑은 고딕"/>
                <a:ea typeface="맑은 고딕"/>
                <a:cs typeface="맑은 고딕"/>
              </a:rPr>
              <a:t> 토큰 </a:t>
            </a:r>
            <a:r>
              <a:rPr sz="700" b="1" dirty="0" err="1">
                <a:solidFill>
                  <a:schemeClr val="bg1">
                    <a:lumMod val="50000"/>
                  </a:schemeClr>
                </a:solidFill>
                <a:latin typeface="맑은 고딕"/>
                <a:ea typeface="맑은 고딕"/>
                <a:cs typeface="맑은 고딕"/>
              </a:rPr>
              <a:t>위치</a:t>
            </a:r>
            <a:r>
              <a:rPr lang="en-US" sz="700" b="1" dirty="0">
                <a:solidFill>
                  <a:schemeClr val="bg1">
                    <a:lumMod val="50000"/>
                  </a:schemeClr>
                </a:solidFill>
                <a:latin typeface="맑은 고딕"/>
                <a:ea typeface="맑은 고딕"/>
                <a:cs typeface="맑은 고딕"/>
              </a:rPr>
              <a:t> </a:t>
            </a:r>
            <a:r>
              <a:rPr sz="700" b="1" dirty="0">
                <a:solidFill>
                  <a:schemeClr val="bg1">
                    <a:lumMod val="50000"/>
                  </a:schemeClr>
                </a:solidFill>
                <a:latin typeface="맑은 고딕"/>
                <a:ea typeface="맑은 고딕"/>
                <a:cs typeface="맑은 고딕"/>
              </a:rPr>
              <a:t> </a:t>
            </a:r>
          </a:p>
        </p:txBody>
      </p:sp>
      <p:cxnSp>
        <p:nvCxnSpPr>
          <p:cNvPr id="99" name="Connector 50"/>
          <p:cNvCxnSpPr/>
          <p:nvPr/>
        </p:nvCxnSpPr>
        <p:spPr>
          <a:xfrm flipH="1">
            <a:off x="9849482" y="2331242"/>
            <a:ext cx="2602" cy="222995"/>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 name="Connector 60"/>
          <p:cNvCxnSpPr/>
          <p:nvPr/>
        </p:nvCxnSpPr>
        <p:spPr>
          <a:xfrm flipV="1">
            <a:off x="10401111" y="2207098"/>
            <a:ext cx="322303" cy="397681"/>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Connector 60"/>
          <p:cNvCxnSpPr/>
          <p:nvPr/>
        </p:nvCxnSpPr>
        <p:spPr>
          <a:xfrm flipV="1">
            <a:off x="10421066" y="2684381"/>
            <a:ext cx="302348" cy="37890"/>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Connector 60"/>
          <p:cNvCxnSpPr/>
          <p:nvPr/>
        </p:nvCxnSpPr>
        <p:spPr>
          <a:xfrm>
            <a:off x="10402923" y="2795475"/>
            <a:ext cx="310995" cy="275207"/>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10354138" y="1963078"/>
            <a:ext cx="501541"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read × N</a:t>
            </a:r>
          </a:p>
        </p:txBody>
      </p:sp>
      <p:sp>
        <p:nvSpPr>
          <p:cNvPr id="128" name="Rectangle 55"/>
          <p:cNvSpPr/>
          <p:nvPr/>
        </p:nvSpPr>
        <p:spPr>
          <a:xfrm>
            <a:off x="7556409" y="2550682"/>
            <a:ext cx="662975" cy="339501"/>
          </a:xfrm>
          <a:prstGeom prst="rect">
            <a:avLst/>
          </a:prstGeom>
          <a:solidFill>
            <a:srgbClr val="F0D8FA"/>
          </a:solidFill>
          <a:ln w="15240">
            <a:solidFill>
              <a:schemeClr val="bg1">
                <a:lumMod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800" dirty="0">
                <a:solidFill>
                  <a:schemeClr val="tx1"/>
                </a:solidFill>
                <a:ea typeface="맑은 고딕"/>
                <a:cs typeface="맑은 고딕"/>
              </a:rPr>
              <a:t>Validator</a:t>
            </a:r>
            <a:endParaRPr sz="800" b="1" dirty="0">
              <a:solidFill>
                <a:schemeClr val="tx1"/>
              </a:solidFill>
              <a:latin typeface="맑은 고딕"/>
              <a:ea typeface="맑은 고딕"/>
              <a:cs typeface="맑은 고딕"/>
            </a:endParaRPr>
          </a:p>
        </p:txBody>
      </p:sp>
      <p:cxnSp>
        <p:nvCxnSpPr>
          <p:cNvPr id="129" name="Connector 46"/>
          <p:cNvCxnSpPr>
            <a:stCxn id="128" idx="3"/>
            <a:endCxn id="96" idx="1"/>
          </p:cNvCxnSpPr>
          <p:nvPr/>
        </p:nvCxnSpPr>
        <p:spPr>
          <a:xfrm>
            <a:off x="8219384" y="2720433"/>
            <a:ext cx="302025" cy="1381"/>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grpSp>
        <p:nvGrpSpPr>
          <p:cNvPr id="4" name="그룹 3"/>
          <p:cNvGrpSpPr/>
          <p:nvPr/>
        </p:nvGrpSpPr>
        <p:grpSpPr>
          <a:xfrm>
            <a:off x="1390821" y="3556351"/>
            <a:ext cx="10286655" cy="885231"/>
            <a:chOff x="1190992" y="3862952"/>
            <a:chExt cx="10286655" cy="885231"/>
          </a:xfrm>
        </p:grpSpPr>
        <p:sp>
          <p:nvSpPr>
            <p:cNvPr id="15" name="직사각형 14"/>
            <p:cNvSpPr/>
            <p:nvPr/>
          </p:nvSpPr>
          <p:spPr>
            <a:xfrm>
              <a:off x="1190992" y="3862952"/>
              <a:ext cx="10286655" cy="885231"/>
            </a:xfrm>
            <a:prstGeom prst="rect">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1" name="TextBox 300"/>
            <p:cNvSpPr txBox="1"/>
            <p:nvPr/>
          </p:nvSpPr>
          <p:spPr>
            <a:xfrm>
              <a:off x="1887027" y="3952198"/>
              <a:ext cx="3149522" cy="314445"/>
            </a:xfrm>
            <a:prstGeom prst="rect">
              <a:avLst/>
            </a:prstGeom>
            <a:solidFill>
              <a:schemeClr val="accent3">
                <a:lumMod val="20000"/>
                <a:lumOff val="80000"/>
              </a:schemeClr>
            </a:solidFill>
          </p:spPr>
          <p:txBody>
            <a:bodyPr wrap="square" lIns="45720" tIns="27432" rIns="45720" bIns="27432" anchor="ctr">
              <a:spAutoFit/>
            </a:bodyPr>
            <a:lstStyle/>
            <a:p>
              <a:pPr>
                <a:spcAft>
                  <a:spcPts val="100"/>
                </a:spcAft>
              </a:pPr>
              <a:r>
                <a:rPr lang="ko-KR" altLang="en-US" sz="800" b="1" dirty="0">
                  <a:latin typeface="맑은 고딕"/>
                  <a:ea typeface="맑은 고딕"/>
                  <a:cs typeface="맑은 고딕"/>
                </a:rPr>
                <a:t>유사도 계산</a:t>
              </a:r>
              <a:r>
                <a:rPr lang="en-US" sz="800" b="1" dirty="0">
                  <a:latin typeface="맑은 고딕"/>
                  <a:ea typeface="맑은 고딕"/>
                  <a:cs typeface="맑은 고딕"/>
                </a:rPr>
                <a:t>: Query</a:t>
              </a:r>
              <a:r>
                <a:rPr lang="ko-KR" altLang="en-US" sz="800" b="1" dirty="0">
                  <a:latin typeface="맑은 고딕"/>
                  <a:ea typeface="맑은 고딕"/>
                  <a:cs typeface="맑은 고딕"/>
                </a:rPr>
                <a:t>와 </a:t>
              </a:r>
              <a:r>
                <a:rPr lang="en-US" altLang="ko-KR" sz="800" b="1" dirty="0">
                  <a:latin typeface="맑은 고딕"/>
                  <a:ea typeface="맑은 고딕"/>
                  <a:cs typeface="맑은 고딕"/>
                </a:rPr>
                <a:t>KV </a:t>
              </a:r>
              <a:r>
                <a:rPr lang="ko-KR" altLang="en-US" sz="800" b="1" dirty="0">
                  <a:latin typeface="맑은 고딕"/>
                  <a:ea typeface="맑은 고딕"/>
                  <a:cs typeface="맑은 고딕"/>
                </a:rPr>
                <a:t>캐시 간의 </a:t>
              </a:r>
              <a:r>
                <a:rPr lang="ko-KR" altLang="en-US" sz="800" b="1" dirty="0" err="1">
                  <a:latin typeface="맑은 고딕"/>
                  <a:ea typeface="맑은 고딕"/>
                  <a:cs typeface="맑은 고딕"/>
                </a:rPr>
                <a:t>유사도를</a:t>
              </a:r>
              <a:r>
                <a:rPr lang="ko-KR" altLang="en-US" sz="800" b="1" dirty="0">
                  <a:latin typeface="맑은 고딕"/>
                  <a:ea typeface="맑은 고딕"/>
                  <a:cs typeface="맑은 고딕"/>
                </a:rPr>
                <a:t> 계산</a:t>
              </a:r>
              <a:endParaRPr lang="en-US" altLang="ko-KR" sz="800" b="1" dirty="0">
                <a:latin typeface="맑은 고딕"/>
                <a:ea typeface="맑은 고딕"/>
                <a:cs typeface="맑은 고딕"/>
              </a:endParaRPr>
            </a:p>
            <a:p>
              <a:pPr>
                <a:spcAft>
                  <a:spcPts val="100"/>
                </a:spcAft>
              </a:pPr>
              <a:r>
                <a:rPr lang="en-US" altLang="ko-KR" sz="800" b="1" dirty="0">
                  <a:latin typeface="맑은 고딕"/>
                  <a:ea typeface="맑은 고딕"/>
                  <a:cs typeface="맑은 고딕"/>
                </a:rPr>
                <a:t>(</a:t>
              </a:r>
              <a:r>
                <a:rPr lang="en-US" sz="800" b="1" dirty="0">
                  <a:latin typeface="맑은 고딕"/>
                  <a:ea typeface="맑은 고딕"/>
                  <a:cs typeface="맑은 고딕"/>
                </a:rPr>
                <a:t>Attention Manager)</a:t>
              </a:r>
              <a:endParaRPr sz="800" b="0" dirty="0">
                <a:latin typeface="맑은 고딕"/>
                <a:ea typeface="맑은 고딕"/>
                <a:cs typeface="맑은 고딕"/>
              </a:endParaRPr>
            </a:p>
          </p:txBody>
        </p:sp>
        <p:sp>
          <p:nvSpPr>
            <p:cNvPr id="302" name="TextBox 301"/>
            <p:cNvSpPr txBox="1"/>
            <p:nvPr/>
          </p:nvSpPr>
          <p:spPr>
            <a:xfrm>
              <a:off x="1887027" y="4353852"/>
              <a:ext cx="3149522" cy="314445"/>
            </a:xfrm>
            <a:prstGeom prst="rect">
              <a:avLst/>
            </a:prstGeom>
            <a:solidFill>
              <a:schemeClr val="accent1">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재사용 토큰 선정</a:t>
              </a:r>
              <a:r>
                <a:rPr lang="en-US" altLang="ko-KR" sz="800" b="1" dirty="0">
                  <a:ea typeface="맑은 고딕"/>
                  <a:cs typeface="맑은 고딕"/>
                </a:rPr>
                <a:t>: </a:t>
              </a:r>
              <a:r>
                <a:rPr lang="ko-KR" altLang="en-US" sz="800" b="1" dirty="0">
                  <a:ea typeface="맑은 고딕"/>
                  <a:cs typeface="맑은 고딕"/>
                </a:rPr>
                <a:t>유사도 점수로 재사용할 토큰 선정 </a:t>
              </a:r>
              <a:endParaRPr lang="en-US" altLang="ko-KR" sz="800" b="1" dirty="0">
                <a:ea typeface="맑은 고딕"/>
                <a:cs typeface="맑은 고딕"/>
              </a:endParaRPr>
            </a:p>
            <a:p>
              <a:pPr>
                <a:spcAft>
                  <a:spcPts val="100"/>
                </a:spcAft>
              </a:pPr>
              <a:r>
                <a:rPr lang="en-US" altLang="ko-KR" sz="800" b="1" dirty="0">
                  <a:ea typeface="맑은 고딕"/>
                  <a:cs typeface="맑은 고딕"/>
                </a:rPr>
                <a:t>(KV Sampler)</a:t>
              </a:r>
            </a:p>
          </p:txBody>
        </p:sp>
        <p:sp>
          <p:nvSpPr>
            <p:cNvPr id="303" name="TextBox 302"/>
            <p:cNvSpPr txBox="1"/>
            <p:nvPr/>
          </p:nvSpPr>
          <p:spPr>
            <a:xfrm>
              <a:off x="5093777" y="3954047"/>
              <a:ext cx="3149522" cy="314445"/>
            </a:xfrm>
            <a:prstGeom prst="rect">
              <a:avLst/>
            </a:prstGeom>
            <a:solidFill>
              <a:schemeClr val="accent6">
                <a:lumMod val="20000"/>
                <a:lumOff val="80000"/>
              </a:schemeClr>
            </a:solidFill>
          </p:spPr>
          <p:txBody>
            <a:bodyPr wrap="square" lIns="45720" tIns="27432" rIns="45720" bIns="27432" anchor="ctr">
              <a:spAutoFit/>
            </a:bodyPr>
            <a:lstStyle/>
            <a:p>
              <a:pPr lvl="0">
                <a:spcAft>
                  <a:spcPts val="100"/>
                </a:spcAft>
              </a:pPr>
              <a:r>
                <a:rPr lang="ko-KR" altLang="en-US" sz="800" b="1" dirty="0" err="1">
                  <a:solidFill>
                    <a:prstClr val="black"/>
                  </a:solidFill>
                  <a:ea typeface="맑은 고딕"/>
                  <a:cs typeface="맑은 고딕"/>
                </a:rPr>
                <a:t>재연산</a:t>
              </a:r>
              <a:r>
                <a:rPr lang="ko-KR" altLang="en-US" sz="800" b="1" dirty="0">
                  <a:solidFill>
                    <a:prstClr val="black"/>
                  </a:solidFill>
                  <a:ea typeface="맑은 고딕"/>
                  <a:cs typeface="맑은 고딕"/>
                </a:rPr>
                <a:t> 토큰 선정</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재계산할 토큰 선정</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a:t>
              </a:r>
              <a:r>
                <a:rPr lang="en-US" altLang="ko-KR" sz="800" b="1" dirty="0" err="1">
                  <a:solidFill>
                    <a:prstClr val="black"/>
                  </a:solidFill>
                  <a:ea typeface="맑은 고딕"/>
                  <a:cs typeface="맑은 고딕"/>
                </a:rPr>
                <a:t>Recompute</a:t>
              </a:r>
              <a:r>
                <a:rPr lang="en-US" altLang="ko-KR" sz="800" b="1" dirty="0">
                  <a:solidFill>
                    <a:prstClr val="black"/>
                  </a:solidFill>
                  <a:ea typeface="맑은 고딕"/>
                  <a:cs typeface="맑은 고딕"/>
                </a:rPr>
                <a:t>-Token Selector)</a:t>
              </a:r>
            </a:p>
          </p:txBody>
        </p:sp>
        <p:sp>
          <p:nvSpPr>
            <p:cNvPr id="304" name="TextBox 303"/>
            <p:cNvSpPr txBox="1"/>
            <p:nvPr/>
          </p:nvSpPr>
          <p:spPr>
            <a:xfrm>
              <a:off x="5093777" y="4366396"/>
              <a:ext cx="3149522" cy="316242"/>
            </a:xfrm>
            <a:prstGeom prst="rect">
              <a:avLst/>
            </a:prstGeom>
            <a:solidFill>
              <a:schemeClr val="accent4">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선택적 재계산</a:t>
              </a:r>
              <a:r>
                <a:rPr lang="en-US" altLang="ko-KR" sz="800" b="1" dirty="0">
                  <a:ea typeface="맑은 고딕"/>
                  <a:cs typeface="맑은 고딕"/>
                </a:rPr>
                <a:t>: </a:t>
              </a:r>
              <a:r>
                <a:rPr lang="ko-KR" altLang="en-US" sz="800" b="1" dirty="0">
                  <a:ea typeface="맑은 고딕"/>
                  <a:cs typeface="맑은 고딕"/>
                </a:rPr>
                <a:t>선정한 토큰만 재계산</a:t>
              </a:r>
              <a:endParaRPr lang="en-US" altLang="ko-KR" sz="800" b="1" dirty="0">
                <a:ea typeface="맑은 고딕"/>
                <a:cs typeface="맑은 고딕"/>
              </a:endParaRPr>
            </a:p>
            <a:p>
              <a:pPr>
                <a:spcAft>
                  <a:spcPts val="100"/>
                </a:spcAft>
              </a:pPr>
              <a:r>
                <a:rPr lang="en-US" altLang="ko-KR" sz="800" b="1" dirty="0">
                  <a:ea typeface="맑은 고딕"/>
                  <a:cs typeface="맑은 고딕"/>
                </a:rPr>
                <a:t>(Selective </a:t>
              </a:r>
              <a:r>
                <a:rPr lang="en-US" altLang="ko-KR" sz="800" b="1" dirty="0" err="1">
                  <a:ea typeface="맑은 고딕"/>
                  <a:cs typeface="맑은 고딕"/>
                </a:rPr>
                <a:t>Recomputer</a:t>
              </a:r>
              <a:r>
                <a:rPr lang="en-US" altLang="ko-KR" sz="800" b="1" dirty="0">
                  <a:ea typeface="맑은 고딕"/>
                  <a:cs typeface="맑은 고딕"/>
                </a:rPr>
                <a:t>)</a:t>
              </a:r>
              <a:endParaRPr lang="en-US" altLang="ko-KR" sz="800" dirty="0">
                <a:ea typeface="맑은 고딕"/>
                <a:cs typeface="맑은 고딕"/>
              </a:endParaRPr>
            </a:p>
          </p:txBody>
        </p:sp>
        <p:sp>
          <p:nvSpPr>
            <p:cNvPr id="305" name="TextBox 304"/>
            <p:cNvSpPr txBox="1"/>
            <p:nvPr/>
          </p:nvSpPr>
          <p:spPr>
            <a:xfrm>
              <a:off x="8352247" y="3952198"/>
              <a:ext cx="2863202" cy="314445"/>
            </a:xfrm>
            <a:prstGeom prst="rect">
              <a:avLst/>
            </a:prstGeom>
            <a:solidFill>
              <a:schemeClr val="accent2">
                <a:lumMod val="20000"/>
                <a:lumOff val="80000"/>
              </a:schemeClr>
            </a:solidFill>
          </p:spPr>
          <p:txBody>
            <a:bodyPr wrap="square" lIns="45720" tIns="27432" rIns="45720" bIns="27432" anchor="ctr">
              <a:spAutoFit/>
            </a:bodyPr>
            <a:lstStyle/>
            <a:p>
              <a:pPr lvl="0">
                <a:spcAft>
                  <a:spcPts val="100"/>
                </a:spcAft>
              </a:pPr>
              <a:r>
                <a:rPr lang="ko-KR" altLang="en-US" sz="800" b="1" dirty="0">
                  <a:solidFill>
                    <a:prstClr val="black"/>
                  </a:solidFill>
                  <a:ea typeface="맑은 고딕"/>
                  <a:cs typeface="맑은 고딕"/>
                </a:rPr>
                <a:t>대표 쿼리 추출 </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워크로드 별 대표 </a:t>
              </a:r>
              <a:r>
                <a:rPr lang="en-US" altLang="ko-KR" sz="800" b="1" dirty="0">
                  <a:solidFill>
                    <a:prstClr val="black"/>
                  </a:solidFill>
                  <a:ea typeface="맑은 고딕"/>
                  <a:cs typeface="맑은 고딕"/>
                </a:rPr>
                <a:t>Query </a:t>
              </a:r>
              <a:r>
                <a:rPr lang="ko-KR" altLang="en-US" sz="800" b="1" dirty="0">
                  <a:solidFill>
                    <a:prstClr val="black"/>
                  </a:solidFill>
                  <a:ea typeface="맑은 고딕"/>
                  <a:cs typeface="맑은 고딕"/>
                </a:rPr>
                <a:t>추출 </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(Query Sampler)</a:t>
              </a:r>
            </a:p>
          </p:txBody>
        </p:sp>
        <p:sp>
          <p:nvSpPr>
            <p:cNvPr id="18" name="직사각형 17"/>
            <p:cNvSpPr/>
            <p:nvPr/>
          </p:nvSpPr>
          <p:spPr>
            <a:xfrm>
              <a:off x="1238713" y="4256303"/>
              <a:ext cx="587020" cy="230832"/>
            </a:xfrm>
            <a:prstGeom prst="rect">
              <a:avLst/>
            </a:prstGeom>
          </p:spPr>
          <p:txBody>
            <a:bodyPr wrap="none" anchor="ctr">
              <a:spAutoFit/>
            </a:bodyPr>
            <a:lstStyle/>
            <a:p>
              <a:r>
                <a:rPr lang="en-US" altLang="ko-KR" sz="900" b="1" dirty="0">
                  <a:solidFill>
                    <a:prstClr val="black"/>
                  </a:solidFill>
                </a:rPr>
                <a:t>Legend</a:t>
              </a:r>
              <a:endParaRPr lang="ko-KR" altLang="en-US" sz="2000" dirty="0"/>
            </a:p>
          </p:txBody>
        </p:sp>
        <p:sp>
          <p:nvSpPr>
            <p:cNvPr id="135" name="TextBox 134"/>
            <p:cNvSpPr txBox="1"/>
            <p:nvPr/>
          </p:nvSpPr>
          <p:spPr>
            <a:xfrm>
              <a:off x="8352247" y="4360264"/>
              <a:ext cx="2863202" cy="301621"/>
            </a:xfrm>
            <a:prstGeom prst="rect">
              <a:avLst/>
            </a:prstGeom>
            <a:solidFill>
              <a:srgbClr val="F0D8FA"/>
            </a:solidFill>
          </p:spPr>
          <p:txBody>
            <a:bodyPr wrap="square" lIns="45720" tIns="27432" rIns="45720" bIns="27432" anchor="ctr">
              <a:spAutoFit/>
            </a:bodyPr>
            <a:lstStyle/>
            <a:p>
              <a:pPr lvl="0">
                <a:spcAft>
                  <a:spcPts val="100"/>
                </a:spcAft>
              </a:pPr>
              <a:r>
                <a:rPr lang="en-US" altLang="ko-KR" sz="800" b="1" dirty="0">
                  <a:solidFill>
                    <a:prstClr val="black"/>
                  </a:solidFill>
                  <a:ea typeface="맑은 고딕"/>
                  <a:cs typeface="맑은 고딕"/>
                </a:rPr>
                <a:t>Validator: </a:t>
              </a:r>
              <a:r>
                <a:rPr lang="ko-KR" altLang="en-US" sz="800" b="1" dirty="0">
                  <a:solidFill>
                    <a:prstClr val="black"/>
                  </a:solidFill>
                  <a:ea typeface="맑은 고딕"/>
                  <a:cs typeface="맑은 고딕"/>
                </a:rPr>
                <a:t>사전에 계산한 재계산 토큰 위치를 업데이트 함으로써 </a:t>
              </a:r>
              <a:r>
                <a:rPr lang="en-US" altLang="ko-KR" sz="800" b="1" dirty="0">
                  <a:solidFill>
                    <a:prstClr val="black"/>
                  </a:solidFill>
                  <a:ea typeface="맑은 고딕"/>
                  <a:cs typeface="맑은 고딕"/>
                </a:rPr>
                <a:t>stale </a:t>
              </a:r>
              <a:r>
                <a:rPr lang="ko-KR" altLang="en-US" sz="800" b="1" dirty="0">
                  <a:solidFill>
                    <a:prstClr val="black"/>
                  </a:solidFill>
                  <a:ea typeface="맑은 고딕"/>
                  <a:cs typeface="맑은 고딕"/>
                </a:rPr>
                <a:t>정보 보완</a:t>
              </a:r>
              <a:endParaRPr lang="en-US" altLang="ko-KR" sz="800" b="1" dirty="0">
                <a:solidFill>
                  <a:prstClr val="black"/>
                </a:solidFill>
                <a:ea typeface="맑은 고딕"/>
                <a:cs typeface="맑은 고딕"/>
              </a:endParaRPr>
            </a:p>
          </p:txBody>
        </p:sp>
      </p:grpSp>
      <p:sp>
        <p:nvSpPr>
          <p:cNvPr id="78" name="모서리가 둥근 직사각형 37">
            <a:extLst>
              <a:ext uri="{FF2B5EF4-FFF2-40B4-BE49-F238E27FC236}">
                <a16:creationId xmlns:a16="http://schemas.microsoft.com/office/drawing/2014/main" id="{476B6E1C-7561-417D-A669-4DEFCE610223}"/>
              </a:ext>
            </a:extLst>
          </p:cNvPr>
          <p:cNvSpPr/>
          <p:nvPr/>
        </p:nvSpPr>
        <p:spPr>
          <a:xfrm>
            <a:off x="7784892" y="619129"/>
            <a:ext cx="1095752"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추론 정확도 보장</a:t>
            </a:r>
          </a:p>
        </p:txBody>
      </p:sp>
      <p:sp>
        <p:nvSpPr>
          <p:cNvPr id="82" name="모서리가 둥근 직사각형 81"/>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3"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4" name="모서리가 둥근 직사각형 37">
            <a:extLst>
              <a:ext uri="{FF2B5EF4-FFF2-40B4-BE49-F238E27FC236}">
                <a16:creationId xmlns:a16="http://schemas.microsoft.com/office/drawing/2014/main" id="{E99FD0CC-4F44-40AB-8E8E-E5E878FDD956}"/>
              </a:ext>
            </a:extLst>
          </p:cNvPr>
          <p:cNvSpPr/>
          <p:nvPr/>
        </p:nvSpPr>
        <p:spPr>
          <a:xfrm>
            <a:off x="9430793" y="808072"/>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5" name="모서리가 둥근 직사각형 37">
            <a:extLst>
              <a:ext uri="{FF2B5EF4-FFF2-40B4-BE49-F238E27FC236}">
                <a16:creationId xmlns:a16="http://schemas.microsoft.com/office/drawing/2014/main" id="{63E127C8-1374-4049-8A7A-84E9B191F365}"/>
              </a:ext>
            </a:extLst>
          </p:cNvPr>
          <p:cNvSpPr/>
          <p:nvPr/>
        </p:nvSpPr>
        <p:spPr>
          <a:xfrm>
            <a:off x="10320379" y="815469"/>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86" name="모서리가 둥근 직사각형 37">
            <a:extLst>
              <a:ext uri="{FF2B5EF4-FFF2-40B4-BE49-F238E27FC236}">
                <a16:creationId xmlns:a16="http://schemas.microsoft.com/office/drawing/2014/main" id="{8B476E63-C72E-465A-98C8-0CB6FC0C7249}"/>
              </a:ext>
            </a:extLst>
          </p:cNvPr>
          <p:cNvSpPr/>
          <p:nvPr/>
        </p:nvSpPr>
        <p:spPr>
          <a:xfrm>
            <a:off x="11209965" y="808072"/>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a:t>
            </a:r>
          </a:p>
        </p:txBody>
      </p:sp>
      <p:sp>
        <p:nvSpPr>
          <p:cNvPr id="88" name="모서리가 둥근 직사각형 87"/>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2" name="직사각형 1"/>
          <p:cNvSpPr/>
          <p:nvPr/>
        </p:nvSpPr>
        <p:spPr>
          <a:xfrm>
            <a:off x="1583025" y="1946905"/>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직사각형 88"/>
          <p:cNvSpPr/>
          <p:nvPr/>
        </p:nvSpPr>
        <p:spPr>
          <a:xfrm>
            <a:off x="7748353" y="1954240"/>
            <a:ext cx="2519397"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직사각형 89"/>
          <p:cNvSpPr/>
          <p:nvPr/>
        </p:nvSpPr>
        <p:spPr>
          <a:xfrm>
            <a:off x="2397518" y="2426770"/>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직사각형 90"/>
          <p:cNvSpPr/>
          <p:nvPr/>
        </p:nvSpPr>
        <p:spPr>
          <a:xfrm>
            <a:off x="3241867" y="2937037"/>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실행 단추: 앞으로 또는 다음으로 이동 78">
            <a:hlinkClick r:id="rId4" action="ppaction://hlinksldjump" highlightClick="1"/>
            <a:extLst>
              <a:ext uri="{FF2B5EF4-FFF2-40B4-BE49-F238E27FC236}">
                <a16:creationId xmlns:a16="http://schemas.microsoft.com/office/drawing/2014/main" id="{A9B537F6-0E71-4836-9264-18FD8A2D820D}"/>
              </a:ext>
            </a:extLst>
          </p:cNvPr>
          <p:cNvSpPr/>
          <p:nvPr/>
        </p:nvSpPr>
        <p:spPr>
          <a:xfrm>
            <a:off x="579340" y="617316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0" name="실행 단추: 앞으로 또는 다음 101">
            <a:hlinkClick r:id="rId5" action="ppaction://hlinksldjump" highlightClick="1"/>
            <a:extLst>
              <a:ext uri="{FF2B5EF4-FFF2-40B4-BE49-F238E27FC236}">
                <a16:creationId xmlns:a16="http://schemas.microsoft.com/office/drawing/2014/main" id="{2A1DD19D-8AA6-4544-B268-22B864A70D6E}"/>
              </a:ext>
            </a:extLst>
          </p:cNvPr>
          <p:cNvSpPr/>
          <p:nvPr/>
        </p:nvSpPr>
        <p:spPr>
          <a:xfrm>
            <a:off x="11686730"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실행 단추: 앞으로 또는 다음 101">
            <a:hlinkClick r:id="rId6" action="ppaction://hlinksldjump" highlightClick="1"/>
            <a:extLst>
              <a:ext uri="{FF2B5EF4-FFF2-40B4-BE49-F238E27FC236}">
                <a16:creationId xmlns:a16="http://schemas.microsoft.com/office/drawing/2014/main" id="{2A1DD19D-8AA6-4544-B268-22B864A70D6E}"/>
              </a:ext>
            </a:extLst>
          </p:cNvPr>
          <p:cNvSpPr/>
          <p:nvPr/>
        </p:nvSpPr>
        <p:spPr>
          <a:xfrm>
            <a:off x="6235098"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TextBox 91"/>
          <p:cNvSpPr txBox="1"/>
          <p:nvPr/>
        </p:nvSpPr>
        <p:spPr>
          <a:xfrm>
            <a:off x="10813929" y="2004177"/>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93" name="TextBox 92"/>
          <p:cNvSpPr txBox="1"/>
          <p:nvPr/>
        </p:nvSpPr>
        <p:spPr>
          <a:xfrm>
            <a:off x="10813929" y="2494120"/>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94" name="TextBox 93"/>
          <p:cNvSpPr txBox="1"/>
          <p:nvPr/>
        </p:nvSpPr>
        <p:spPr>
          <a:xfrm>
            <a:off x="10813929" y="2984064"/>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Tree>
    <p:extLst>
      <p:ext uri="{BB962C8B-B14F-4D97-AF65-F5344CB8AC3E}">
        <p14:creationId xmlns:p14="http://schemas.microsoft.com/office/powerpoint/2010/main" val="1596347588"/>
      </p:ext>
    </p:extLst>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1834954613"/>
              </p:ext>
            </p:extLst>
          </p:nvPr>
        </p:nvGraphicFramePr>
        <p:xfrm>
          <a:off x="234948" y="1054901"/>
          <a:ext cx="11759184" cy="5621793"/>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163953">
                  <a:extLst>
                    <a:ext uri="{9D8B030D-6E8A-4147-A177-3AD203B41FA5}">
                      <a16:colId xmlns:a16="http://schemas.microsoft.com/office/drawing/2014/main" val="5654497"/>
                    </a:ext>
                  </a:extLst>
                </a:gridCol>
                <a:gridCol w="2276727">
                  <a:extLst>
                    <a:ext uri="{9D8B030D-6E8A-4147-A177-3AD203B41FA5}">
                      <a16:colId xmlns:a16="http://schemas.microsoft.com/office/drawing/2014/main" val="4114062400"/>
                    </a:ext>
                  </a:extLst>
                </a:gridCol>
                <a:gridCol w="3123948">
                  <a:extLst>
                    <a:ext uri="{9D8B030D-6E8A-4147-A177-3AD203B41FA5}">
                      <a16:colId xmlns:a16="http://schemas.microsoft.com/office/drawing/2014/main" val="3070054508"/>
                    </a:ext>
                  </a:extLst>
                </a:gridCol>
                <a:gridCol w="2316732">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a:t>구조</a:t>
                      </a:r>
                      <a:r>
                        <a:rPr lang="en-US" altLang="ko-KR" sz="1200" b="1" baseline="0" dirty="0">
                          <a:solidFill>
                            <a:schemeClr val="tx1"/>
                          </a:solidFill>
                        </a:rPr>
                        <a:t>: </a:t>
                      </a:r>
                      <a:r>
                        <a:rPr lang="ko-KR" altLang="en-US" sz="1200" b="1" baseline="0" dirty="0" err="1">
                          <a:solidFill>
                            <a:schemeClr val="tx1"/>
                          </a:solidFill>
                        </a:rPr>
                        <a:t>요청마다</a:t>
                      </a:r>
                      <a:r>
                        <a:rPr lang="ko-KR" altLang="en-US" sz="1200" b="1" baseline="0" dirty="0">
                          <a:solidFill>
                            <a:schemeClr val="tx1"/>
                          </a:solidFill>
                        </a:rPr>
                        <a:t> 전체 체인 실행</a:t>
                      </a:r>
                      <a:endParaRPr lang="en-US" altLang="ko-KR" sz="1050" b="1" kern="1200" baseline="0" dirty="0">
                        <a:solidFill>
                          <a:schemeClr val="tx1"/>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 </a:t>
                      </a:r>
                      <a:r>
                        <a:rPr lang="en-US" altLang="ko-KR" sz="1200" b="1" dirty="0">
                          <a:solidFill>
                            <a:srgbClr val="0000FF"/>
                          </a:solidFill>
                        </a:rPr>
                        <a:t>+</a:t>
                      </a:r>
                      <a:r>
                        <a:rPr lang="en-US" altLang="ko-KR" sz="1200" b="1" baseline="0" dirty="0">
                          <a:solidFill>
                            <a:srgbClr val="0000FF"/>
                          </a:solidFill>
                        </a:rPr>
                        <a:t> Base </a:t>
                      </a:r>
                      <a:r>
                        <a:rPr lang="ko-KR" altLang="en-US" sz="1200" b="1" baseline="0" dirty="0">
                          <a:solidFill>
                            <a:srgbClr val="0000FF"/>
                          </a:solidFill>
                        </a:rPr>
                        <a:t>공유</a:t>
                      </a:r>
                      <a:r>
                        <a:rPr lang="en-US" altLang="ko-KR" sz="1200" b="1" baseline="0" dirty="0">
                          <a:solidFill>
                            <a:srgbClr val="0000FF"/>
                          </a:solidFill>
                        </a:rPr>
                        <a:t>, Delta</a:t>
                      </a:r>
                      <a:r>
                        <a:rPr lang="ko-KR" altLang="en-US" sz="1200" b="1" baseline="0" dirty="0">
                          <a:solidFill>
                            <a:srgbClr val="0000FF"/>
                          </a:solidFill>
                        </a:rPr>
                        <a:t>만 할당</a:t>
                      </a:r>
                      <a:endParaRPr lang="ko-KR" altLang="en-US" sz="1200" b="1" dirty="0">
                        <a:solidFill>
                          <a:srgbClr val="0000FF"/>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509198">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요청이 끝나면 재계산 위치를 소멸하여 </a:t>
                      </a:r>
                      <a:r>
                        <a:rPr lang="en-US" altLang="ko-KR" sz="1200" strike="noStrike" baseline="0" dirty="0">
                          <a:effectLst/>
                        </a:rPr>
                        <a:t>Stale </a:t>
                      </a:r>
                      <a:r>
                        <a:rPr lang="ko-KR" altLang="en-US" sz="1200" strike="noStrike" baseline="0" dirty="0">
                          <a:effectLst/>
                        </a:rPr>
                        <a:t>데이터 발생 방지 </a:t>
                      </a:r>
                      <a:r>
                        <a:rPr lang="en-US" altLang="ko-KR" sz="1200" strike="noStrike" baseline="0" dirty="0">
                          <a:effectLst/>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effectLst/>
                        </a:rPr>
                        <a:t>Filter</a:t>
                      </a:r>
                      <a:r>
                        <a:rPr lang="ko-KR" altLang="en-US" sz="1200" strike="noStrike" baseline="0" dirty="0">
                          <a:effectLst/>
                        </a:rPr>
                        <a:t>별 병렬 실행으로 요청 간 경합을 분산 </a:t>
                      </a:r>
                      <a:r>
                        <a:rPr lang="en-US" altLang="ko-KR" sz="1200" strike="noStrike" baseline="0" dirty="0">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절감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처리량 유리 </a:t>
                      </a:r>
                      <a:r>
                        <a:rPr lang="en-US" altLang="ko-KR" sz="1200" b="0" i="0" dirty="0">
                          <a:solidFill>
                            <a:srgbClr val="404040"/>
                          </a:solidFill>
                          <a:latin typeface="+mn-lt"/>
                          <a:ea typeface="맑은 고딕"/>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Critical</a:t>
                      </a:r>
                      <a:r>
                        <a:rPr lang="en-US" altLang="ko-KR" sz="1200" b="0" i="0" baseline="0" dirty="0">
                          <a:solidFill>
                            <a:srgbClr val="404040"/>
                          </a:solidFill>
                          <a:latin typeface="+mn-lt"/>
                          <a:ea typeface="맑은 고딕"/>
                        </a:rPr>
                        <a:t> path</a:t>
                      </a:r>
                      <a:r>
                        <a:rPr lang="ko-KR" altLang="en-US" sz="1200" b="0" i="0" baseline="0" dirty="0">
                          <a:solidFill>
                            <a:srgbClr val="404040"/>
                          </a:solidFill>
                          <a:latin typeface="+mn-lt"/>
                          <a:ea typeface="맑은 고딕"/>
                        </a:rPr>
                        <a:t>가 </a:t>
                      </a:r>
                      <a:r>
                        <a:rPr lang="en-US" altLang="ko-KR" sz="1200" b="0" i="0" baseline="0" dirty="0">
                          <a:solidFill>
                            <a:srgbClr val="404040"/>
                          </a:solidFill>
                          <a:latin typeface="+mn-lt"/>
                          <a:ea typeface="맑은 고딕"/>
                        </a:rPr>
                        <a:t>SR </a:t>
                      </a:r>
                      <a:r>
                        <a:rPr lang="ko-KR" altLang="en-US" sz="1200" b="0" i="0" baseline="0" dirty="0">
                          <a:solidFill>
                            <a:srgbClr val="404040"/>
                          </a:solidFill>
                          <a:latin typeface="+mn-lt"/>
                          <a:ea typeface="맑은 고딕"/>
                        </a:rPr>
                        <a:t>조회 </a:t>
                      </a:r>
                      <a:r>
                        <a:rPr lang="en-US" altLang="ko-KR" sz="1200" b="0" i="0" baseline="0" dirty="0">
                          <a:solidFill>
                            <a:srgbClr val="404040"/>
                          </a:solidFill>
                          <a:latin typeface="+mn-lt"/>
                          <a:ea typeface="맑은 고딕"/>
                        </a:rPr>
                        <a:t>1</a:t>
                      </a:r>
                      <a:r>
                        <a:rPr lang="ko-KR" altLang="en-US" sz="1200" b="0" i="0" baseline="0" dirty="0">
                          <a:solidFill>
                            <a:srgbClr val="404040"/>
                          </a:solidFill>
                          <a:latin typeface="+mn-lt"/>
                          <a:ea typeface="맑은 고딕"/>
                        </a:rPr>
                        <a:t>회 뿐 </a:t>
                      </a:r>
                      <a:r>
                        <a:rPr lang="ko-KR" altLang="en-US" sz="1200" strike="noStrike" baseline="0" dirty="0">
                          <a:effectLst/>
                          <a:latin typeface="맑은 고딕" panose="020B0503020000020004" pitchFamily="50" charset="-127"/>
                          <a:ea typeface="+mn-ea"/>
                        </a:rPr>
                        <a:t>→</a:t>
                      </a:r>
                      <a:r>
                        <a:rPr lang="en-US" altLang="ko-KR" sz="1200" b="0" i="0" baseline="0" dirty="0">
                          <a:solidFill>
                            <a:srgbClr val="404040"/>
                          </a:solidFill>
                          <a:latin typeface="+mn-lt"/>
                          <a:ea typeface="맑은 고딕"/>
                        </a:rPr>
                        <a:t> </a:t>
                      </a:r>
                      <a:r>
                        <a:rPr lang="ko-KR" altLang="en-US" sz="1200" b="0" i="0" baseline="0" dirty="0">
                          <a:solidFill>
                            <a:srgbClr val="404040"/>
                          </a:solidFill>
                          <a:latin typeface="+mn-lt"/>
                          <a:ea typeface="맑은 고딕"/>
                        </a:rPr>
                        <a:t>부하가 올라도 </a:t>
                      </a:r>
                      <a:r>
                        <a:rPr lang="en-US" altLang="ko-KR" sz="1200" b="0" i="0" baseline="0" dirty="0">
                          <a:solidFill>
                            <a:srgbClr val="404040"/>
                          </a:solidFill>
                          <a:latin typeface="+mn-lt"/>
                          <a:ea typeface="맑은 고딕"/>
                        </a:rPr>
                        <a:t>tail latency </a:t>
                      </a:r>
                      <a:r>
                        <a:rPr lang="ko-KR" altLang="en-US" sz="1200" b="0" i="0" baseline="0" dirty="0">
                          <a:solidFill>
                            <a:srgbClr val="404040"/>
                          </a:solidFill>
                          <a:latin typeface="+mn-lt"/>
                          <a:ea typeface="맑은 고딕"/>
                        </a:rPr>
                        <a:t>평탄 </a:t>
                      </a:r>
                      <a:r>
                        <a:rPr lang="en-US" altLang="ko-KR" sz="1200" b="0" i="0" baseline="0" dirty="0">
                          <a:solidFill>
                            <a:srgbClr val="404040"/>
                          </a:solidFill>
                          <a:latin typeface="+mn-lt"/>
                          <a:ea typeface="맑은 고딕"/>
                        </a:rPr>
                        <a:t>(Q3)</a:t>
                      </a:r>
                      <a:endParaRPr lang="en-US" altLang="ko-KR" sz="120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발생 우려</a:t>
                      </a:r>
                      <a:r>
                        <a:rPr lang="en-US" altLang="ko-KR" sz="1200" strike="noStrike" baseline="0" dirty="0">
                          <a:effectLst/>
                        </a:rPr>
                        <a:t>, </a:t>
                      </a:r>
                      <a:r>
                        <a:rPr lang="ko-KR" altLang="en-US" sz="1200" strike="noStrike" baseline="0" dirty="0">
                          <a:effectLst/>
                        </a:rPr>
                        <a:t>처리량 불리 </a:t>
                      </a:r>
                      <a:r>
                        <a:rPr lang="en-US" altLang="ko-KR" sz="1200" strike="noStrike" baseline="0" dirty="0">
                          <a:effectLst/>
                        </a:rPr>
                        <a:t>(Q1)</a:t>
                      </a:r>
                    </a:p>
                    <a:p>
                      <a:pPr marL="228600" indent="-228600" latinLnBrk="1">
                        <a:lnSpc>
                          <a:spcPct val="100000"/>
                        </a:lnSpc>
                        <a:buFont typeface="Wingdings" panose="05000000000000000000" pitchFamily="2" charset="2"/>
                        <a:buChar char="§"/>
                      </a:pPr>
                      <a:r>
                        <a:rPr lang="ko-KR" altLang="en-US" sz="1200" strike="noStrike" baseline="0" dirty="0">
                          <a:effectLst/>
                        </a:rPr>
                        <a:t>고부하 시 체인 지연이 </a:t>
                      </a:r>
                      <a:r>
                        <a:rPr lang="ko-KR" altLang="en-US" sz="1200" strike="noStrike" baseline="0" dirty="0" err="1">
                          <a:effectLst/>
                        </a:rPr>
                        <a:t>큐잉과</a:t>
                      </a:r>
                      <a:r>
                        <a:rPr lang="ko-KR" altLang="en-US" sz="1200" strike="noStrike" baseline="0" dirty="0">
                          <a:effectLst/>
                        </a:rPr>
                        <a:t> 겹쳐 </a:t>
                      </a:r>
                      <a:r>
                        <a:rPr lang="en-US" altLang="ko-KR" sz="1200" strike="noStrike" baseline="0" dirty="0">
                          <a:effectLst/>
                        </a:rPr>
                        <a:t>tail latency </a:t>
                      </a:r>
                      <a:r>
                        <a:rPr lang="ko-KR" altLang="en-US" sz="1200" strike="noStrike" baseline="0" dirty="0">
                          <a:effectLst/>
                        </a:rPr>
                        <a:t>발산 </a:t>
                      </a:r>
                      <a:r>
                        <a:rPr lang="en-US" altLang="ko-KR" sz="1200" strike="noStrike" baseline="0" dirty="0">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대표 </a:t>
                      </a:r>
                      <a:r>
                        <a:rPr lang="en-US" altLang="ko-KR" sz="1200" strike="noStrike" baseline="0" dirty="0">
                          <a:effectLst/>
                        </a:rPr>
                        <a:t>Query</a:t>
                      </a:r>
                      <a:r>
                        <a:rPr lang="en-US" altLang="ko-KR" sz="1200" strike="noStrike" baseline="0" dirty="0">
                          <a:effectLst/>
                          <a:latin typeface="맑은 고딕" panose="020B0503020000020004" pitchFamily="50" charset="-127"/>
                          <a:ea typeface="+mn-ea"/>
                        </a:rPr>
                        <a:t> </a:t>
                      </a:r>
                      <a:r>
                        <a:rPr lang="ko-KR" altLang="en-US" sz="1200" strike="noStrike" baseline="0" dirty="0">
                          <a:effectLst/>
                          <a:latin typeface="맑은 고딕" panose="020B0503020000020004" pitchFamily="50" charset="-127"/>
                          <a:ea typeface="+mn-ea"/>
                        </a:rPr>
                        <a:t>및 </a:t>
                      </a:r>
                      <a:r>
                        <a:rPr lang="ko-KR" altLang="en-US" sz="1200" strike="noStrike" baseline="0" dirty="0">
                          <a:effectLst/>
                        </a:rPr>
                        <a:t>재계산 위치를 별도 저장하므로 메모리 </a:t>
                      </a:r>
                      <a:r>
                        <a:rPr lang="ko-KR" altLang="en-US" sz="1200" strike="noStrike" baseline="0" dirty="0" err="1">
                          <a:effectLst/>
                        </a:rPr>
                        <a:t>점유량</a:t>
                      </a:r>
                      <a:r>
                        <a:rPr lang="ko-KR" altLang="en-US" sz="1200" strike="noStrike" baseline="0" dirty="0">
                          <a:effectLst/>
                        </a:rPr>
                        <a:t> 증가 </a:t>
                      </a:r>
                      <a:r>
                        <a:rPr lang="en-US" altLang="ko-KR" sz="1200" strike="noStrike" baseline="0" dirty="0">
                          <a:effectLst/>
                        </a:rPr>
                        <a:t>(Q2)</a:t>
                      </a:r>
                    </a:p>
                    <a:p>
                      <a:pPr marL="0" marR="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0000FF"/>
                          </a:solidFill>
                          <a:effectLst/>
                        </a:rPr>
                        <a:t>-&gt; </a:t>
                      </a:r>
                      <a:r>
                        <a:rPr lang="ko-KR" altLang="en-US" sz="1200" strike="noStrike" baseline="0" dirty="0">
                          <a:solidFill>
                            <a:srgbClr val="0000FF"/>
                          </a:solidFill>
                          <a:effectLst/>
                        </a:rPr>
                        <a:t>공통 </a:t>
                      </a:r>
                      <a:r>
                        <a:rPr lang="en-US" altLang="ko-KR" sz="1200" strike="noStrike" baseline="0" dirty="0">
                          <a:solidFill>
                            <a:srgbClr val="0000FF"/>
                          </a:solidFill>
                          <a:effectLst/>
                        </a:rPr>
                        <a:t>KV</a:t>
                      </a:r>
                      <a:r>
                        <a:rPr lang="ko-KR" altLang="en-US" sz="1200" strike="noStrike" baseline="0" dirty="0">
                          <a:solidFill>
                            <a:srgbClr val="0000FF"/>
                          </a:solidFill>
                          <a:effectLst/>
                        </a:rPr>
                        <a:t>는 요청 간 공유하고 요청 별로 새로 쓰는 </a:t>
                      </a:r>
                      <a:r>
                        <a:rPr lang="en-US" altLang="ko-KR" sz="1200" strike="noStrike" baseline="0" dirty="0">
                          <a:solidFill>
                            <a:srgbClr val="0000FF"/>
                          </a:solidFill>
                          <a:effectLst/>
                        </a:rPr>
                        <a:t>KV(Delta)</a:t>
                      </a:r>
                      <a:r>
                        <a:rPr lang="ko-KR" altLang="en-US" sz="1200" strike="noStrike" baseline="0" dirty="0">
                          <a:solidFill>
                            <a:srgbClr val="0000FF"/>
                          </a:solidFill>
                          <a:effectLst/>
                        </a:rPr>
                        <a:t>만 </a:t>
                      </a:r>
                      <a:r>
                        <a:rPr lang="en-US" altLang="ko-KR" sz="1200" strike="noStrike" baseline="0" dirty="0">
                          <a:solidFill>
                            <a:srgbClr val="0000FF"/>
                          </a:solidFill>
                          <a:effectLst/>
                        </a:rPr>
                        <a:t>Append</a:t>
                      </a:r>
                      <a:r>
                        <a:rPr lang="ko-KR" altLang="en-US" sz="1200" strike="noStrike" baseline="0" dirty="0">
                          <a:solidFill>
                            <a:srgbClr val="0000FF"/>
                          </a:solidFill>
                          <a:effectLst/>
                        </a:rPr>
                        <a:t>하게 </a:t>
                      </a:r>
                      <a:r>
                        <a:rPr lang="en-US" altLang="ko-KR" sz="1200" strike="noStrike" baseline="0" dirty="0">
                          <a:solidFill>
                            <a:srgbClr val="0000FF"/>
                          </a:solidFill>
                          <a:effectLst/>
                        </a:rPr>
                        <a:t>Layout</a:t>
                      </a:r>
                      <a:r>
                        <a:rPr lang="ko-KR" altLang="en-US" sz="1200" strike="noStrike" baseline="0" dirty="0">
                          <a:solidFill>
                            <a:srgbClr val="0000FF"/>
                          </a:solidFill>
                          <a:effectLst/>
                        </a:rPr>
                        <a:t>을 조절하여 </a:t>
                      </a:r>
                      <a:r>
                        <a:rPr lang="en-US" altLang="ko-KR" sz="1200" strike="noStrike" baseline="0" dirty="0">
                          <a:solidFill>
                            <a:srgbClr val="0000FF"/>
                          </a:solidFill>
                          <a:effectLst/>
                        </a:rPr>
                        <a:t>HBM </a:t>
                      </a:r>
                      <a:r>
                        <a:rPr lang="ko-KR" altLang="en-US" sz="1200" strike="noStrike" baseline="0" dirty="0" err="1">
                          <a:solidFill>
                            <a:srgbClr val="0000FF"/>
                          </a:solidFill>
                          <a:effectLst/>
                        </a:rPr>
                        <a:t>점유량</a:t>
                      </a:r>
                      <a:r>
                        <a:rPr lang="ko-KR" altLang="en-US" sz="1200" strike="noStrike" baseline="0" dirty="0">
                          <a:solidFill>
                            <a:srgbClr val="0000FF"/>
                          </a:solidFill>
                          <a:effectLst/>
                        </a:rPr>
                        <a:t> 제어 </a:t>
                      </a:r>
                      <a:endParaRPr lang="en-US" altLang="ko-KR" sz="1200" strike="noStrike" baseline="0" dirty="0">
                        <a:solidFill>
                          <a:srgbClr val="0000FF"/>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Q2.</a:t>
                      </a:r>
                      <a:r>
                        <a:rPr lang="en-US" altLang="ko-KR" sz="1200" b="0" strike="noStrike" baseline="0" dirty="0">
                          <a:solidFill>
                            <a:schemeClr val="tx1"/>
                          </a:solidFill>
                        </a:rPr>
                        <a:t> </a:t>
                      </a:r>
                      <a:r>
                        <a:rPr lang="en-US" altLang="ko-KR" sz="1200" b="0" strike="noStrike" dirty="0">
                          <a:solidFill>
                            <a:schemeClr val="tx1"/>
                          </a:solidFill>
                        </a:rPr>
                        <a:t>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1.76→4.2 q/s (2.4x)</a:t>
                      </a:r>
                      <a:endParaRPr kumimoji="0" lang="en-US" altLang="ko-KR" sz="11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HBM 425→246 GB (-42%)</a:t>
                      </a:r>
                      <a:endParaRPr kumimoji="0" lang="en-US" altLang="ko-KR" sz="1100" b="0" i="0" u="none" strike="noStrike" kern="1200" cap="none" spc="0" normalizeH="0" baseline="0" noProof="0" dirty="0">
                        <a:ln>
                          <a:noFill/>
                        </a:ln>
                        <a:solidFill>
                          <a:srgbClr val="4472C4"/>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1.89→1.29 s (-32%)</a:t>
                      </a:r>
                      <a:endParaRPr kumimoji="0" lang="en-US" altLang="ko-KR" sz="1200" b="0" i="0" u="none" strike="noStrike" kern="1200" cap="none" spc="0" normalizeH="0" baseline="0" noProof="0" dirty="0">
                        <a:ln>
                          <a:noFill/>
                        </a:ln>
                        <a:solidFill>
                          <a:srgbClr val="4472C4"/>
                        </a:solidFill>
                        <a:effectLst/>
                        <a:uLnTx/>
                        <a:uFillTx/>
                        <a:latin typeface="+mn-lt"/>
                        <a:ea typeface="맑은 고딕"/>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Q2. Resource Efficiency</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FF0000"/>
                          </a:solidFill>
                          <a:effectLst/>
                          <a:uLnTx/>
                          <a:uFillTx/>
                          <a:latin typeface="+mn-lt"/>
                          <a:ea typeface="맑은 고딕"/>
                          <a:cs typeface="+mn-cs"/>
                        </a:rPr>
                        <a:t>1.76→5.12 q/s (2.9x)</a:t>
                      </a:r>
                      <a:endParaRPr kumimoji="0" lang="en-US" altLang="ko-KR" sz="1100" b="0" i="0" u="none" strike="noStrike" kern="1200" cap="none" spc="0" normalizeH="0" baseline="0" noProof="0" dirty="0">
                        <a:ln>
                          <a:noFill/>
                        </a:ln>
                        <a:solidFill>
                          <a:srgbClr val="FF0000"/>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0000FF"/>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srgbClr val="0000FF"/>
                          </a:solidFill>
                          <a:effectLst/>
                          <a:uLnTx/>
                          <a:uFillTx/>
                          <a:latin typeface="+mn-lt"/>
                          <a:ea typeface="맑은 고딕"/>
                          <a:cs typeface="+mn-cs"/>
                        </a:rPr>
                        <a:t>HBM 425→233 GB (-55%)</a:t>
                      </a:r>
                      <a:endParaRPr kumimoji="0" lang="en-US" altLang="ko-KR" sz="1100" b="0" i="0" u="none" strike="noStrike" kern="1200" cap="none" spc="0" normalizeH="0" baseline="0" noProof="0" dirty="0">
                        <a:ln>
                          <a:noFill/>
                        </a:ln>
                        <a:solidFill>
                          <a:srgbClr val="0000FF"/>
                        </a:solidFill>
                        <a:effectLst/>
                        <a:uLnTx/>
                        <a:uFillTx/>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4472C4"/>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1.89→0.72 s (-62%)</a:t>
                      </a:r>
                      <a:endParaRPr kumimoji="0" lang="en-US" altLang="ko-KR" sz="1100" b="0" i="0" u="none" strike="noStrike" kern="1200" cap="none" spc="0" normalizeH="0" baseline="0" noProof="0" dirty="0">
                        <a:ln>
                          <a:noFill/>
                        </a:ln>
                        <a:solidFill>
                          <a:srgbClr val="4472C4"/>
                        </a:solidFill>
                        <a:effectLst/>
                        <a:uLnTx/>
                        <a:uFillTx/>
                        <a:latin typeface="+mn-lt"/>
                        <a:ea typeface="맑은 고딕"/>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solidFill>
                  <a:srgbClr val="0000FF"/>
                </a:solidFill>
              </a:rPr>
              <a:t>보완 </a:t>
            </a:r>
            <a:r>
              <a:rPr lang="en-US" altLang="ko-KR" dirty="0">
                <a:solidFill>
                  <a:srgbClr val="0000FF"/>
                </a:solidFill>
              </a:rPr>
              <a:t>Tactic</a:t>
            </a:r>
            <a:r>
              <a:rPr lang="ko-KR" altLang="en-US" dirty="0">
                <a:solidFill>
                  <a:srgbClr val="0000FF"/>
                </a:solidFill>
              </a:rPr>
              <a:t> </a:t>
            </a:r>
            <a:endParaRPr lang="ko-KR" altLang="en-US" strike="sngStrike" dirty="0">
              <a:solidFill>
                <a:srgbClr val="0000FF"/>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처리 용량을 고려하여 </a:t>
            </a:r>
            <a:r>
              <a:rPr lang="en-US" altLang="ko-KR" sz="1400" b="1" dirty="0">
                <a:solidFill>
                  <a:schemeClr val="bg1"/>
                </a:solidFill>
              </a:rPr>
              <a:t>KV </a:t>
            </a:r>
            <a:r>
              <a:rPr lang="ko-KR" altLang="en-US" sz="1400" b="1" dirty="0" err="1">
                <a:solidFill>
                  <a:schemeClr val="bg1"/>
                </a:solidFill>
              </a:rPr>
              <a:t>재사용률을</a:t>
            </a:r>
            <a:r>
              <a:rPr lang="ko-KR" altLang="en-US" sz="1400" b="1" dirty="0">
                <a:solidFill>
                  <a:schemeClr val="bg1"/>
                </a:solidFill>
              </a:rPr>
              <a:t> 높이는 구조 설계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430887"/>
          </a:xfrm>
          <a:prstGeom prst="rect">
            <a:avLst/>
          </a:prstGeom>
          <a:noFill/>
        </p:spPr>
        <p:txBody>
          <a:bodyPr wrap="square" rtlCol="0">
            <a:spAutoFit/>
          </a:bodyPr>
          <a:lstStyle/>
          <a:p>
            <a:r>
              <a:rPr lang="en-US" altLang="ko-KR" sz="1100" dirty="0"/>
              <a:t>“</a:t>
            </a:r>
            <a:r>
              <a:rPr lang="ko-KR" altLang="en-US" sz="1100" dirty="0" err="1"/>
              <a:t>요청마다</a:t>
            </a:r>
            <a:r>
              <a:rPr lang="ko-KR" altLang="en-US" sz="1100" dirty="0"/>
              <a:t> </a:t>
            </a:r>
            <a:r>
              <a:rPr lang="ko-KR" altLang="en-US" sz="1100" dirty="0" err="1"/>
              <a:t>서빙</a:t>
            </a:r>
            <a:r>
              <a:rPr lang="ko-KR" altLang="en-US" sz="1100" dirty="0"/>
              <a:t> 경로 내에서 재계산 대상 토큰을 동적으로 선정하고</a:t>
            </a:r>
            <a:r>
              <a:rPr lang="en-US" altLang="ko-KR" sz="1100" dirty="0"/>
              <a:t>, </a:t>
            </a:r>
            <a:r>
              <a:rPr lang="ko-KR" altLang="en-US" sz="1100" dirty="0"/>
              <a:t>선택적 재계산을 수행하는 구조</a:t>
            </a:r>
            <a:r>
              <a:rPr lang="en-US" altLang="ko-KR" sz="1100" dirty="0"/>
              <a:t>＂</a:t>
            </a:r>
          </a:p>
        </p:txBody>
      </p:sp>
      <p:sp>
        <p:nvSpPr>
          <p:cNvPr id="138" name="TextBox 137"/>
          <p:cNvSpPr txBox="1"/>
          <p:nvPr/>
        </p:nvSpPr>
        <p:spPr>
          <a:xfrm>
            <a:off x="6534149" y="1416420"/>
            <a:ext cx="5543551" cy="430887"/>
          </a:xfrm>
          <a:prstGeom prst="rect">
            <a:avLst/>
          </a:prstGeom>
          <a:noFill/>
        </p:spPr>
        <p:txBody>
          <a:bodyPr wrap="square" rtlCol="0">
            <a:spAutoFit/>
          </a:bodyPr>
          <a:lstStyle/>
          <a:p>
            <a:r>
              <a:rPr lang="en-US" altLang="ko-KR" sz="1100" dirty="0"/>
              <a:t>“</a:t>
            </a:r>
            <a:r>
              <a:rPr lang="ko-KR" altLang="en-US" sz="1100" dirty="0"/>
              <a:t>재사용 </a:t>
            </a:r>
            <a:r>
              <a:rPr lang="en-US" altLang="ko-KR" sz="1100" dirty="0"/>
              <a:t>KV</a:t>
            </a:r>
            <a:r>
              <a:rPr lang="ko-KR" altLang="en-US" sz="1100" dirty="0"/>
              <a:t>는 요청 간 공유</a:t>
            </a:r>
            <a:r>
              <a:rPr lang="en-US" altLang="ko-KR" sz="1100" dirty="0"/>
              <a:t>(Base)</a:t>
            </a:r>
            <a:r>
              <a:rPr lang="ko-KR" altLang="en-US" sz="1100" dirty="0"/>
              <a:t>하고 </a:t>
            </a:r>
            <a:r>
              <a:rPr lang="ko-KR" altLang="en-US" sz="1100" dirty="0" err="1"/>
              <a:t>재계산분만</a:t>
            </a:r>
            <a:r>
              <a:rPr lang="ko-KR" altLang="en-US" sz="1100" dirty="0"/>
              <a:t> </a:t>
            </a:r>
            <a:r>
              <a:rPr lang="ko-KR" altLang="en-US" sz="1100" dirty="0" err="1"/>
              <a:t>요청별</a:t>
            </a:r>
            <a:r>
              <a:rPr lang="en-US" altLang="ko-KR" sz="1100" dirty="0"/>
              <a:t>(Delta)</a:t>
            </a:r>
            <a:r>
              <a:rPr lang="ko-KR" altLang="en-US" sz="1100" dirty="0"/>
              <a:t>로 두며 </a:t>
            </a:r>
            <a:r>
              <a:rPr lang="en-US" altLang="ko-KR" sz="1100" dirty="0"/>
              <a:t>HBM </a:t>
            </a:r>
            <a:r>
              <a:rPr lang="ko-KR" altLang="en-US" sz="1100" dirty="0"/>
              <a:t>예산을 입장 전에 계산</a:t>
            </a:r>
            <a:r>
              <a:rPr lang="en-US" altLang="ko-KR" sz="1100" dirty="0"/>
              <a:t>”</a:t>
            </a:r>
            <a:endParaRPr lang="ko-KR" altLang="en-US" sz="1100" dirty="0"/>
          </a:p>
        </p:txBody>
      </p:sp>
      <p:sp>
        <p:nvSpPr>
          <p:cNvPr id="239" name="TextBox 238">
            <a:extLst>
              <a:ext uri="{FF2B5EF4-FFF2-40B4-BE49-F238E27FC236}">
                <a16:creationId xmlns:a16="http://schemas.microsoft.com/office/drawing/2014/main" id="{5EDBAE0C-74A5-43A7-8D12-CE3C549C093E}"/>
              </a:ext>
            </a:extLst>
          </p:cNvPr>
          <p:cNvSpPr txBox="1"/>
          <p:nvPr/>
        </p:nvSpPr>
        <p:spPr>
          <a:xfrm>
            <a:off x="3628759" y="6635134"/>
            <a:ext cx="631904" cy="276999"/>
          </a:xfrm>
          <a:prstGeom prst="rect">
            <a:avLst/>
          </a:prstGeom>
          <a:noFill/>
        </p:spPr>
        <p:txBody>
          <a:bodyPr wrap="none" rtlCol="0">
            <a:spAutoFit/>
          </a:bodyPr>
          <a:lstStyle/>
          <a:p>
            <a:r>
              <a:rPr lang="ko-KR" altLang="en-US" sz="1200" dirty="0"/>
              <a:t>총</a:t>
            </a:r>
            <a:r>
              <a:rPr lang="en-US" altLang="ko-KR" sz="1200" dirty="0"/>
              <a:t> 4</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9094304" y="6589330"/>
            <a:ext cx="750526" cy="276999"/>
          </a:xfrm>
          <a:prstGeom prst="rect">
            <a:avLst/>
          </a:prstGeom>
          <a:noFill/>
        </p:spPr>
        <p:txBody>
          <a:bodyPr wrap="none" rtlCol="0">
            <a:spAutoFit/>
          </a:bodyPr>
          <a:lstStyle/>
          <a:p>
            <a:r>
              <a:rPr lang="ko-KR" altLang="en-US" sz="1200" dirty="0"/>
              <a:t>총</a:t>
            </a:r>
            <a:r>
              <a:rPr lang="en-US" altLang="ko-KR" sz="1200" dirty="0"/>
              <a:t> </a:t>
            </a:r>
            <a:r>
              <a:rPr lang="en-US" altLang="ko-KR" sz="1200" dirty="0">
                <a:solidFill>
                  <a:srgbClr val="0000FF"/>
                </a:solidFill>
              </a:rPr>
              <a:t>5.5</a:t>
            </a:r>
            <a:r>
              <a:rPr lang="ko-KR" altLang="en-US" sz="1200" dirty="0"/>
              <a:t>점</a:t>
            </a:r>
          </a:p>
        </p:txBody>
      </p:sp>
      <p:grpSp>
        <p:nvGrpSpPr>
          <p:cNvPr id="2" name="그룹 1"/>
          <p:cNvGrpSpPr/>
          <p:nvPr/>
        </p:nvGrpSpPr>
        <p:grpSpPr>
          <a:xfrm>
            <a:off x="6663658" y="1846644"/>
            <a:ext cx="5155915" cy="1618145"/>
            <a:chOff x="320040" y="1783080"/>
            <a:chExt cx="6400800" cy="2606040"/>
          </a:xfrm>
        </p:grpSpPr>
        <p:sp>
          <p:nvSpPr>
            <p:cNvPr id="70" name="Rectangle 17"/>
            <p:cNvSpPr/>
            <p:nvPr/>
          </p:nvSpPr>
          <p:spPr>
            <a:xfrm>
              <a:off x="411480" y="1928537"/>
              <a:ext cx="2834640" cy="608533"/>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Offline Analyzer (</a:t>
              </a:r>
              <a:r>
                <a:rPr sz="850" b="1" dirty="0" err="1">
                  <a:solidFill>
                    <a:srgbClr val="000000"/>
                  </a:solidFill>
                  <a:latin typeface="맑은 고딕"/>
                  <a:ea typeface="맑은 고딕"/>
                  <a:cs typeface="맑은 고딕"/>
                </a:rPr>
                <a:t>사전</a:t>
              </a:r>
              <a:r>
                <a:rPr sz="850" b="1" dirty="0">
                  <a:solidFill>
                    <a:srgbClr val="000000"/>
                  </a:solidFill>
                  <a:latin typeface="맑은 고딕"/>
                  <a:ea typeface="맑은 고딕"/>
                  <a:cs typeface="맑은 고딕"/>
                </a:rPr>
                <a:t>)</a:t>
              </a:r>
            </a:p>
            <a:p>
              <a:pPr algn="ctr">
                <a:spcAft>
                  <a:spcPts val="0"/>
                </a:spcAft>
              </a:pPr>
              <a:r>
                <a:rPr sz="700" b="1" dirty="0" err="1">
                  <a:solidFill>
                    <a:srgbClr val="000000"/>
                  </a:solidFill>
                  <a:latin typeface="맑은 고딕"/>
                  <a:ea typeface="맑은 고딕"/>
                  <a:cs typeface="맑은 고딕"/>
                </a:rPr>
                <a:t>대표</a:t>
              </a:r>
              <a:r>
                <a:rPr sz="700" b="1" dirty="0">
                  <a:solidFill>
                    <a:srgbClr val="000000"/>
                  </a:solidFill>
                  <a:latin typeface="맑은 고딕"/>
                  <a:ea typeface="맑은 고딕"/>
                  <a:cs typeface="맑은 고딕"/>
                </a:rPr>
                <a:t> Query → </a:t>
              </a:r>
              <a:r>
                <a:rPr sz="700" b="1" dirty="0" err="1">
                  <a:solidFill>
                    <a:srgbClr val="000000"/>
                  </a:solidFill>
                  <a:latin typeface="맑은 고딕"/>
                  <a:ea typeface="맑은 고딕"/>
                  <a:cs typeface="맑은 고딕"/>
                </a:rPr>
                <a:t>재계산</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위치</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선정</a:t>
              </a:r>
              <a:endParaRPr sz="700" b="1" dirty="0">
                <a:solidFill>
                  <a:srgbClr val="000000"/>
                </a:solidFill>
                <a:latin typeface="맑은 고딕"/>
                <a:ea typeface="맑은 고딕"/>
                <a:cs typeface="맑은 고딕"/>
              </a:endParaRPr>
            </a:p>
          </p:txBody>
        </p:sp>
        <p:sp>
          <p:nvSpPr>
            <p:cNvPr id="71" name="Rectangle 18"/>
            <p:cNvSpPr/>
            <p:nvPr/>
          </p:nvSpPr>
          <p:spPr>
            <a:xfrm>
              <a:off x="320040" y="3017520"/>
              <a:ext cx="3154680" cy="1005840"/>
            </a:xfrm>
            <a:prstGeom prst="rect">
              <a:avLst/>
            </a:prstGeom>
            <a:solidFill>
              <a:srgbClr val="F7FAFD"/>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65760" y="3026665"/>
              <a:ext cx="2743200" cy="287492"/>
            </a:xfrm>
            <a:prstGeom prst="rect">
              <a:avLst/>
            </a:prstGeom>
            <a:noFill/>
            <a:ln w="9525">
              <a:noFill/>
            </a:ln>
          </p:spPr>
          <p:txBody>
            <a:bodyPr wrap="square" lIns="45720" tIns="27432" rIns="45720" bIns="27432" anchor="t">
              <a:spAutoFit/>
            </a:bodyPr>
            <a:lstStyle/>
            <a:p>
              <a:pPr algn="l">
                <a:spcAft>
                  <a:spcPts val="200"/>
                </a:spcAft>
              </a:pPr>
              <a:r>
                <a:rPr sz="800" b="1" dirty="0">
                  <a:solidFill>
                    <a:srgbClr val="404040"/>
                  </a:solidFill>
                  <a:latin typeface="맑은 고딕"/>
                  <a:ea typeface="맑은 고딕"/>
                  <a:cs typeface="맑은 고딕"/>
                </a:rPr>
                <a:t>KV Repository</a:t>
              </a:r>
            </a:p>
          </p:txBody>
        </p:sp>
        <p:sp>
          <p:nvSpPr>
            <p:cNvPr id="73" name="Rectangle 20"/>
            <p:cNvSpPr/>
            <p:nvPr/>
          </p:nvSpPr>
          <p:spPr>
            <a:xfrm>
              <a:off x="411480" y="3383280"/>
              <a:ext cx="1371600" cy="457200"/>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Context KV</a:t>
              </a:r>
            </a:p>
          </p:txBody>
        </p:sp>
        <p:sp>
          <p:nvSpPr>
            <p:cNvPr id="74" name="Rectangle 21"/>
            <p:cNvSpPr/>
            <p:nvPr/>
          </p:nvSpPr>
          <p:spPr>
            <a:xfrm>
              <a:off x="1965960" y="3383280"/>
              <a:ext cx="1417320" cy="457200"/>
            </a:xfrm>
            <a:prstGeom prst="rect">
              <a:avLst/>
            </a:prstGeom>
            <a:solidFill>
              <a:schemeClr val="accent4">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Plan Store</a:t>
              </a:r>
            </a:p>
            <a:p>
              <a:pPr algn="ctr">
                <a:spcAft>
                  <a:spcPts val="0"/>
                </a:spcAft>
              </a:pPr>
              <a:r>
                <a:rPr sz="700" b="1" dirty="0" err="1">
                  <a:solidFill>
                    <a:srgbClr val="000000"/>
                  </a:solidFill>
                  <a:latin typeface="맑은 고딕"/>
                  <a:ea typeface="맑은 고딕"/>
                  <a:cs typeface="맑은 고딕"/>
                </a:rPr>
                <a:t>재계산</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위치</a:t>
              </a:r>
              <a:endParaRPr sz="700" b="1" dirty="0">
                <a:solidFill>
                  <a:srgbClr val="000000"/>
                </a:solidFill>
                <a:latin typeface="맑은 고딕"/>
                <a:ea typeface="맑은 고딕"/>
                <a:cs typeface="맑은 고딕"/>
              </a:endParaRPr>
            </a:p>
          </p:txBody>
        </p:sp>
        <p:cxnSp>
          <p:nvCxnSpPr>
            <p:cNvPr id="75" name="Connector 22"/>
            <p:cNvCxnSpPr/>
            <p:nvPr/>
          </p:nvCxnSpPr>
          <p:spPr>
            <a:xfrm>
              <a:off x="2651760" y="2513693"/>
              <a:ext cx="0" cy="869587"/>
            </a:xfrm>
            <a:prstGeom prst="line">
              <a:avLst/>
            </a:prstGeom>
            <a:ln w="9525">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2697480" y="2697480"/>
              <a:ext cx="640080" cy="182880"/>
            </a:xfrm>
            <a:prstGeom prst="rect">
              <a:avLst/>
            </a:prstGeom>
            <a:noFill/>
            <a:ln w="9525">
              <a:noFill/>
            </a:ln>
          </p:spPr>
          <p:txBody>
            <a:bodyPr wrap="square" lIns="45720" tIns="27432" rIns="45720" bIns="27432" anchor="t">
              <a:spAutoFit/>
            </a:bodyPr>
            <a:lstStyle/>
            <a:p>
              <a:pPr algn="l">
                <a:spcAft>
                  <a:spcPts val="200"/>
                </a:spcAft>
              </a:pPr>
              <a:r>
                <a:rPr sz="750" b="0">
                  <a:solidFill>
                    <a:srgbClr val="C55A11"/>
                  </a:solidFill>
                  <a:latin typeface="맑은 고딕"/>
                  <a:ea typeface="맑은 고딕"/>
                  <a:cs typeface="맑은 고딕"/>
                </a:rPr>
                <a:t>write</a:t>
              </a:r>
            </a:p>
          </p:txBody>
        </p:sp>
        <p:sp>
          <p:nvSpPr>
            <p:cNvPr id="79" name="Rectangle 26"/>
            <p:cNvSpPr/>
            <p:nvPr/>
          </p:nvSpPr>
          <p:spPr>
            <a:xfrm>
              <a:off x="3886200" y="1783080"/>
              <a:ext cx="2834640" cy="2606040"/>
            </a:xfrm>
            <a:prstGeom prst="rect">
              <a:avLst/>
            </a:prstGeom>
            <a:solidFill>
              <a:srgbClr val="FEF4EC"/>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3931920" y="1792224"/>
              <a:ext cx="2743200" cy="287492"/>
            </a:xfrm>
            <a:prstGeom prst="rect">
              <a:avLst/>
            </a:prstGeom>
            <a:noFill/>
            <a:ln w="9525">
              <a:noFill/>
            </a:ln>
          </p:spPr>
          <p:txBody>
            <a:bodyPr wrap="square" lIns="45720" tIns="27432" rIns="45720" bIns="27432" anchor="t">
              <a:spAutoFit/>
            </a:bodyPr>
            <a:lstStyle/>
            <a:p>
              <a:pPr algn="l">
                <a:spcAft>
                  <a:spcPts val="200"/>
                </a:spcAft>
              </a:pPr>
              <a:r>
                <a:rPr sz="800" b="1" dirty="0" err="1">
                  <a:solidFill>
                    <a:srgbClr val="C55A11"/>
                  </a:solidFill>
                  <a:latin typeface="맑은 고딕"/>
                  <a:ea typeface="맑은 고딕"/>
                  <a:cs typeface="맑은 고딕"/>
                </a:rPr>
                <a:t>서빙</a:t>
              </a:r>
              <a:r>
                <a:rPr sz="800" b="1" dirty="0">
                  <a:solidFill>
                    <a:srgbClr val="C55A11"/>
                  </a:solidFill>
                  <a:latin typeface="맑은 고딕"/>
                  <a:ea typeface="맑은 고딕"/>
                  <a:cs typeface="맑은 고딕"/>
                </a:rPr>
                <a:t> </a:t>
              </a:r>
              <a:r>
                <a:rPr sz="800" b="1" dirty="0" err="1">
                  <a:solidFill>
                    <a:srgbClr val="C55A11"/>
                  </a:solidFill>
                  <a:latin typeface="맑은 고딕"/>
                  <a:ea typeface="맑은 고딕"/>
                  <a:cs typeface="맑은 고딕"/>
                </a:rPr>
                <a:t>경로</a:t>
              </a:r>
              <a:r>
                <a:rPr sz="800" b="1" dirty="0">
                  <a:solidFill>
                    <a:srgbClr val="C55A11"/>
                  </a:solidFill>
                  <a:latin typeface="맑은 고딕"/>
                  <a:ea typeface="맑은 고딕"/>
                  <a:cs typeface="맑은 고딕"/>
                </a:rPr>
                <a:t> </a:t>
              </a:r>
            </a:p>
          </p:txBody>
        </p:sp>
        <p:sp>
          <p:nvSpPr>
            <p:cNvPr id="82" name="Rectangle 28"/>
            <p:cNvSpPr/>
            <p:nvPr/>
          </p:nvSpPr>
          <p:spPr>
            <a:xfrm>
              <a:off x="4023360" y="2128520"/>
              <a:ext cx="2560320" cy="390650"/>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900" b="1" dirty="0">
                  <a:solidFill>
                    <a:srgbClr val="000000"/>
                  </a:solidFill>
                  <a:latin typeface="맑은 고딕"/>
                  <a:ea typeface="맑은 고딕"/>
                  <a:cs typeface="맑은 고딕"/>
                </a:rPr>
                <a:t>Selective </a:t>
              </a:r>
              <a:r>
                <a:rPr sz="900" b="1" dirty="0" err="1">
                  <a:solidFill>
                    <a:srgbClr val="000000"/>
                  </a:solidFill>
                  <a:latin typeface="맑은 고딕"/>
                  <a:ea typeface="맑은 고딕"/>
                  <a:cs typeface="맑은 고딕"/>
                </a:rPr>
                <a:t>Recomputer</a:t>
              </a:r>
              <a:endParaRPr lang="en-US" sz="900" b="1" dirty="0">
                <a:solidFill>
                  <a:srgbClr val="000000"/>
                </a:solidFill>
                <a:latin typeface="맑은 고딕"/>
                <a:ea typeface="맑은 고딕"/>
                <a:cs typeface="맑은 고딕"/>
              </a:endParaRPr>
            </a:p>
          </p:txBody>
        </p:sp>
        <p:sp>
          <p:nvSpPr>
            <p:cNvPr id="83" name="Rectangle 29"/>
            <p:cNvSpPr/>
            <p:nvPr/>
          </p:nvSpPr>
          <p:spPr>
            <a:xfrm>
              <a:off x="4023360" y="2858094"/>
              <a:ext cx="2560320" cy="519446"/>
            </a:xfrm>
            <a:prstGeom prst="rect">
              <a:avLst/>
            </a:prstGeom>
            <a:solidFill>
              <a:srgbClr val="FFF2CC"/>
            </a:solidFill>
            <a:ln w="952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KV Layout Manager</a:t>
              </a:r>
            </a:p>
            <a:p>
              <a:pPr algn="ctr">
                <a:spcAft>
                  <a:spcPts val="0"/>
                </a:spcAft>
              </a:pPr>
              <a:r>
                <a:rPr sz="700" b="1" dirty="0">
                  <a:solidFill>
                    <a:srgbClr val="000000"/>
                  </a:solidFill>
                  <a:latin typeface="맑은 고딕"/>
                  <a:ea typeface="맑은 고딕"/>
                  <a:cs typeface="맑은 고딕"/>
                </a:rPr>
                <a:t>Base </a:t>
              </a:r>
              <a:r>
                <a:rPr sz="700" b="1" dirty="0" err="1">
                  <a:solidFill>
                    <a:srgbClr val="000000"/>
                  </a:solidFill>
                  <a:latin typeface="맑은 고딕"/>
                  <a:ea typeface="맑은 고딕"/>
                  <a:cs typeface="맑은 고딕"/>
                </a:rPr>
                <a:t>공유</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refcount</a:t>
              </a:r>
              <a:r>
                <a:rPr sz="700" b="1" dirty="0">
                  <a:solidFill>
                    <a:srgbClr val="000000"/>
                  </a:solidFill>
                  <a:latin typeface="맑은 고딕"/>
                  <a:ea typeface="맑은 고딕"/>
                  <a:cs typeface="맑은 고딕"/>
                </a:rPr>
                <a:t>) + Delta </a:t>
              </a:r>
              <a:r>
                <a:rPr sz="700" b="1" dirty="0" err="1">
                  <a:solidFill>
                    <a:srgbClr val="000000"/>
                  </a:solidFill>
                  <a:latin typeface="맑은 고딕"/>
                  <a:ea typeface="맑은 고딕"/>
                  <a:cs typeface="맑은 고딕"/>
                </a:rPr>
                <a:t>요청별</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할당</a:t>
              </a:r>
              <a:endParaRPr sz="700" b="1" dirty="0">
                <a:solidFill>
                  <a:srgbClr val="000000"/>
                </a:solidFill>
                <a:latin typeface="맑은 고딕"/>
                <a:ea typeface="맑은 고딕"/>
                <a:cs typeface="맑은 고딕"/>
              </a:endParaRPr>
            </a:p>
          </p:txBody>
        </p:sp>
        <p:sp>
          <p:nvSpPr>
            <p:cNvPr id="84" name="Rectangle 30"/>
            <p:cNvSpPr/>
            <p:nvPr/>
          </p:nvSpPr>
          <p:spPr>
            <a:xfrm>
              <a:off x="4023360" y="3790187"/>
              <a:ext cx="2560320" cy="502921"/>
            </a:xfrm>
            <a:prstGeom prst="rect">
              <a:avLst/>
            </a:prstGeom>
            <a:solidFill>
              <a:srgbClr val="FFF2CC"/>
            </a:solidFill>
            <a:ln w="952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Plan-aware Admission Controller</a:t>
              </a:r>
            </a:p>
            <a:p>
              <a:pPr algn="ctr">
                <a:spcAft>
                  <a:spcPts val="0"/>
                </a:spcAft>
              </a:pPr>
              <a:r>
                <a:rPr sz="700" b="1" dirty="0" err="1">
                  <a:solidFill>
                    <a:srgbClr val="000000"/>
                  </a:solidFill>
                  <a:latin typeface="맑은 고딕"/>
                  <a:ea typeface="맑은 고딕"/>
                  <a:cs typeface="맑은 고딕"/>
                </a:rPr>
                <a:t>plan으로</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요청별</a:t>
              </a:r>
              <a:r>
                <a:rPr sz="700" b="1" dirty="0">
                  <a:solidFill>
                    <a:srgbClr val="000000"/>
                  </a:solidFill>
                  <a:latin typeface="맑은 고딕"/>
                  <a:ea typeface="맑은 고딕"/>
                  <a:cs typeface="맑은 고딕"/>
                </a:rPr>
                <a:t> HBM </a:t>
              </a:r>
              <a:r>
                <a:rPr sz="700" b="1" dirty="0" err="1">
                  <a:solidFill>
                    <a:srgbClr val="000000"/>
                  </a:solidFill>
                  <a:latin typeface="맑은 고딕"/>
                  <a:ea typeface="맑은 고딕"/>
                  <a:cs typeface="맑은 고딕"/>
                </a:rPr>
                <a:t>소요</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계산</a:t>
              </a:r>
              <a:r>
                <a:rPr sz="700" b="1" dirty="0">
                  <a:solidFill>
                    <a:srgbClr val="000000"/>
                  </a:solidFill>
                  <a:latin typeface="맑은 고딕"/>
                  <a:ea typeface="맑은 고딕"/>
                  <a:cs typeface="맑은 고딕"/>
                </a:rPr>
                <a:t> </a:t>
              </a:r>
            </a:p>
          </p:txBody>
        </p:sp>
        <p:cxnSp>
          <p:nvCxnSpPr>
            <p:cNvPr id="85" name="Connector 31"/>
            <p:cNvCxnSpPr/>
            <p:nvPr/>
          </p:nvCxnSpPr>
          <p:spPr>
            <a:xfrm flipV="1">
              <a:off x="5303520" y="3406142"/>
              <a:ext cx="0" cy="320037"/>
            </a:xfrm>
            <a:prstGeom prst="line">
              <a:avLst/>
            </a:prstGeom>
            <a:ln w="952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6" name="Connector 32"/>
            <p:cNvCxnSpPr/>
            <p:nvPr/>
          </p:nvCxnSpPr>
          <p:spPr>
            <a:xfrm flipV="1">
              <a:off x="5303520" y="2553018"/>
              <a:ext cx="0" cy="228601"/>
            </a:xfrm>
            <a:prstGeom prst="line">
              <a:avLst/>
            </a:prstGeom>
            <a:ln w="952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349240" y="3496027"/>
              <a:ext cx="1280160" cy="182880"/>
            </a:xfrm>
            <a:prstGeom prst="rect">
              <a:avLst/>
            </a:prstGeom>
            <a:noFill/>
            <a:ln w="9525">
              <a:noFill/>
            </a:ln>
          </p:spPr>
          <p:txBody>
            <a:bodyPr wrap="square" lIns="45720" tIns="27432" rIns="45720" bIns="27432" anchor="t">
              <a:spAutoFit/>
            </a:bodyPr>
            <a:lstStyle/>
            <a:p>
              <a:pPr algn="l">
                <a:spcAft>
                  <a:spcPts val="200"/>
                </a:spcAft>
              </a:pPr>
              <a:r>
                <a:rPr sz="750" b="0" dirty="0">
                  <a:solidFill>
                    <a:srgbClr val="595959"/>
                  </a:solidFill>
                  <a:latin typeface="맑은 고딕"/>
                  <a:ea typeface="맑은 고딕"/>
                  <a:cs typeface="맑은 고딕"/>
                </a:rPr>
                <a:t>admit</a:t>
              </a:r>
            </a:p>
          </p:txBody>
        </p:sp>
        <p:sp>
          <p:nvSpPr>
            <p:cNvPr id="88" name="TextBox 87"/>
            <p:cNvSpPr txBox="1"/>
            <p:nvPr/>
          </p:nvSpPr>
          <p:spPr>
            <a:xfrm>
              <a:off x="5349240" y="2577203"/>
              <a:ext cx="1280160" cy="182880"/>
            </a:xfrm>
            <a:prstGeom prst="rect">
              <a:avLst/>
            </a:prstGeom>
            <a:noFill/>
            <a:ln w="9525">
              <a:noFill/>
            </a:ln>
          </p:spPr>
          <p:txBody>
            <a:bodyPr wrap="square" lIns="45720" tIns="27432" rIns="45720" bIns="27432" anchor="t">
              <a:spAutoFit/>
            </a:bodyPr>
            <a:lstStyle/>
            <a:p>
              <a:pPr algn="l">
                <a:spcAft>
                  <a:spcPts val="200"/>
                </a:spcAft>
              </a:pPr>
              <a:r>
                <a:rPr sz="750" b="0" dirty="0">
                  <a:solidFill>
                    <a:srgbClr val="595959"/>
                  </a:solidFill>
                  <a:latin typeface="맑은 고딕"/>
                  <a:ea typeface="맑은 고딕"/>
                  <a:cs typeface="맑은 고딕"/>
                </a:rPr>
                <a:t>Delta </a:t>
              </a:r>
              <a:r>
                <a:rPr sz="750" b="0" dirty="0" err="1">
                  <a:solidFill>
                    <a:srgbClr val="595959"/>
                  </a:solidFill>
                  <a:latin typeface="맑은 고딕"/>
                  <a:ea typeface="맑은 고딕"/>
                  <a:cs typeface="맑은 고딕"/>
                </a:rPr>
                <a:t>할당</a:t>
              </a:r>
              <a:endParaRPr sz="750" b="0" dirty="0">
                <a:solidFill>
                  <a:srgbClr val="595959"/>
                </a:solidFill>
                <a:latin typeface="맑은 고딕"/>
                <a:ea typeface="맑은 고딕"/>
                <a:cs typeface="맑은 고딕"/>
              </a:endParaRPr>
            </a:p>
          </p:txBody>
        </p:sp>
        <p:cxnSp>
          <p:nvCxnSpPr>
            <p:cNvPr id="89" name="Connector 35"/>
            <p:cNvCxnSpPr/>
            <p:nvPr/>
          </p:nvCxnSpPr>
          <p:spPr>
            <a:xfrm>
              <a:off x="3383280" y="3703319"/>
              <a:ext cx="640079" cy="251335"/>
            </a:xfrm>
            <a:prstGeom prst="line">
              <a:avLst/>
            </a:prstGeom>
            <a:ln w="952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3456432" y="3474720"/>
              <a:ext cx="457200" cy="182880"/>
            </a:xfrm>
            <a:prstGeom prst="rect">
              <a:avLst/>
            </a:prstGeom>
            <a:noFill/>
            <a:ln w="9525">
              <a:noFill/>
            </a:ln>
          </p:spPr>
          <p:txBody>
            <a:bodyPr wrap="square" lIns="45720" tIns="27432" rIns="45720" bIns="27432" anchor="t">
              <a:spAutoFit/>
            </a:bodyPr>
            <a:lstStyle/>
            <a:p>
              <a:pPr algn="ctr">
                <a:spcAft>
                  <a:spcPts val="200"/>
                </a:spcAft>
              </a:pPr>
              <a:r>
                <a:rPr sz="700" b="0">
                  <a:solidFill>
                    <a:srgbClr val="C55A11"/>
                  </a:solidFill>
                  <a:latin typeface="맑은 고딕"/>
                  <a:ea typeface="맑은 고딕"/>
                  <a:cs typeface="맑은 고딕"/>
                </a:rPr>
                <a:t>plan</a:t>
              </a:r>
            </a:p>
          </p:txBody>
        </p:sp>
        <p:cxnSp>
          <p:nvCxnSpPr>
            <p:cNvPr id="91" name="Connector 37"/>
            <p:cNvCxnSpPr/>
            <p:nvPr/>
          </p:nvCxnSpPr>
          <p:spPr>
            <a:xfrm flipV="1">
              <a:off x="3474720" y="3017520"/>
              <a:ext cx="548640" cy="91440"/>
            </a:xfrm>
            <a:prstGeom prst="line">
              <a:avLst/>
            </a:prstGeom>
            <a:ln w="9525">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3456432" y="2834640"/>
              <a:ext cx="457200" cy="182880"/>
            </a:xfrm>
            <a:prstGeom prst="rect">
              <a:avLst/>
            </a:prstGeom>
            <a:noFill/>
            <a:ln w="9525">
              <a:noFill/>
            </a:ln>
          </p:spPr>
          <p:txBody>
            <a:bodyPr wrap="square" lIns="45720" tIns="27432" rIns="45720" bIns="27432" anchor="t">
              <a:spAutoFit/>
            </a:bodyPr>
            <a:lstStyle/>
            <a:p>
              <a:pPr algn="ctr">
                <a:spcAft>
                  <a:spcPts val="200"/>
                </a:spcAft>
              </a:pPr>
              <a:r>
                <a:rPr sz="700" b="0">
                  <a:solidFill>
                    <a:srgbClr val="595959"/>
                  </a:solidFill>
                  <a:latin typeface="맑은 고딕"/>
                  <a:ea typeface="맑은 고딕"/>
                  <a:cs typeface="맑은 고딕"/>
                </a:rPr>
                <a:t>Base</a:t>
              </a:r>
            </a:p>
          </p:txBody>
        </p:sp>
      </p:grpSp>
      <p:grpSp>
        <p:nvGrpSpPr>
          <p:cNvPr id="11" name="그룹 10"/>
          <p:cNvGrpSpPr/>
          <p:nvPr/>
        </p:nvGrpSpPr>
        <p:grpSpPr>
          <a:xfrm>
            <a:off x="6847294" y="3808443"/>
            <a:ext cx="5074920" cy="718584"/>
            <a:chOff x="6847294" y="3507797"/>
            <a:chExt cx="5074920" cy="1273015"/>
          </a:xfrm>
        </p:grpSpPr>
        <p:sp>
          <p:nvSpPr>
            <p:cNvPr id="93" name="TextBox 92"/>
            <p:cNvSpPr txBox="1"/>
            <p:nvPr/>
          </p:nvSpPr>
          <p:spPr>
            <a:xfrm>
              <a:off x="6847294" y="3887257"/>
              <a:ext cx="822960" cy="274320"/>
            </a:xfrm>
            <a:prstGeom prst="rect">
              <a:avLst/>
            </a:prstGeom>
            <a:noFill/>
          </p:spPr>
          <p:txBody>
            <a:bodyPr wrap="square" lIns="45720" tIns="27432" rIns="45720" bIns="27432" anchor="t">
              <a:spAutoFit/>
            </a:bodyPr>
            <a:lstStyle/>
            <a:p>
              <a:pPr algn="l">
                <a:spcAft>
                  <a:spcPts val="200"/>
                </a:spcAft>
              </a:pPr>
              <a:r>
                <a:rPr sz="900" b="1">
                  <a:solidFill>
                    <a:srgbClr val="595959"/>
                  </a:solidFill>
                  <a:latin typeface="맑은 고딕"/>
                  <a:ea typeface="맑은 고딕"/>
                  <a:cs typeface="맑은 고딕"/>
                </a:rPr>
                <a:t>보완 전</a:t>
              </a:r>
            </a:p>
          </p:txBody>
        </p:sp>
        <p:sp>
          <p:nvSpPr>
            <p:cNvPr id="94" name="Rectangle 41"/>
            <p:cNvSpPr/>
            <p:nvPr/>
          </p:nvSpPr>
          <p:spPr>
            <a:xfrm>
              <a:off x="7715974" y="3782049"/>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95" name="Rectangle 42"/>
            <p:cNvSpPr/>
            <p:nvPr/>
          </p:nvSpPr>
          <p:spPr>
            <a:xfrm>
              <a:off x="8765248" y="3782049"/>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96" name="TextBox 95"/>
            <p:cNvSpPr txBox="1"/>
            <p:nvPr/>
          </p:nvSpPr>
          <p:spPr>
            <a:xfrm>
              <a:off x="7715974" y="3507797"/>
              <a:ext cx="1234440" cy="288981"/>
            </a:xfrm>
            <a:prstGeom prst="rect">
              <a:avLst/>
            </a:prstGeom>
            <a:noFill/>
          </p:spPr>
          <p:txBody>
            <a:bodyPr wrap="square" lIns="45720" tIns="27432" rIns="45720" bIns="27432" anchor="t">
              <a:spAutoFit/>
            </a:bodyPr>
            <a:lstStyle/>
            <a:p>
              <a:pPr algn="ctr">
                <a:spcAft>
                  <a:spcPts val="200"/>
                </a:spcAft>
              </a:pPr>
              <a:r>
                <a:rPr sz="700" b="0" dirty="0">
                  <a:solidFill>
                    <a:srgbClr val="595959"/>
                  </a:solidFill>
                  <a:latin typeface="맑은 고딕"/>
                  <a:ea typeface="맑은 고딕"/>
                  <a:cs typeface="맑은 고딕"/>
                </a:rPr>
                <a:t>R1 (</a:t>
              </a:r>
              <a:r>
                <a:rPr sz="700" b="0" dirty="0" err="1">
                  <a:solidFill>
                    <a:srgbClr val="595959"/>
                  </a:solidFill>
                  <a:latin typeface="맑은 고딕"/>
                  <a:ea typeface="맑은 고딕"/>
                  <a:cs typeface="맑은 고딕"/>
                </a:rPr>
                <a:t>전체</a:t>
              </a:r>
              <a:r>
                <a:rPr sz="700" b="0" dirty="0">
                  <a:solidFill>
                    <a:srgbClr val="595959"/>
                  </a:solidFill>
                  <a:latin typeface="맑은 고딕"/>
                  <a:ea typeface="맑은 고딕"/>
                  <a:cs typeface="맑은 고딕"/>
                </a:rPr>
                <a:t> L </a:t>
              </a:r>
              <a:r>
                <a:rPr sz="700" b="0" dirty="0" err="1">
                  <a:solidFill>
                    <a:srgbClr val="595959"/>
                  </a:solidFill>
                  <a:latin typeface="맑은 고딕"/>
                  <a:ea typeface="맑은 고딕"/>
                  <a:cs typeface="맑은 고딕"/>
                </a:rPr>
                <a:t>복사</a:t>
              </a:r>
              <a:r>
                <a:rPr sz="700" b="0" dirty="0">
                  <a:solidFill>
                    <a:srgbClr val="595959"/>
                  </a:solidFill>
                  <a:latin typeface="맑은 고딕"/>
                  <a:ea typeface="맑은 고딕"/>
                  <a:cs typeface="맑은 고딕"/>
                </a:rPr>
                <a:t>)</a:t>
              </a:r>
            </a:p>
          </p:txBody>
        </p:sp>
        <p:sp>
          <p:nvSpPr>
            <p:cNvPr id="97" name="Rectangle 44"/>
            <p:cNvSpPr/>
            <p:nvPr/>
          </p:nvSpPr>
          <p:spPr>
            <a:xfrm>
              <a:off x="8950414" y="3782049"/>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98" name="Rectangle 45"/>
            <p:cNvSpPr/>
            <p:nvPr/>
          </p:nvSpPr>
          <p:spPr>
            <a:xfrm>
              <a:off x="9999688" y="3782049"/>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99" name="TextBox 98"/>
            <p:cNvSpPr txBox="1"/>
            <p:nvPr/>
          </p:nvSpPr>
          <p:spPr>
            <a:xfrm>
              <a:off x="8950414" y="3507797"/>
              <a:ext cx="1234440" cy="288981"/>
            </a:xfrm>
            <a:prstGeom prst="rect">
              <a:avLst/>
            </a:prstGeom>
            <a:noFill/>
          </p:spPr>
          <p:txBody>
            <a:bodyPr wrap="square" lIns="45720" tIns="27432" rIns="45720" bIns="27432" anchor="t">
              <a:spAutoFit/>
            </a:bodyPr>
            <a:lstStyle/>
            <a:p>
              <a:pPr algn="ctr">
                <a:spcAft>
                  <a:spcPts val="200"/>
                </a:spcAft>
              </a:pPr>
              <a:r>
                <a:rPr sz="700" b="0">
                  <a:solidFill>
                    <a:srgbClr val="595959"/>
                  </a:solidFill>
                  <a:latin typeface="맑은 고딕"/>
                  <a:ea typeface="맑은 고딕"/>
                  <a:cs typeface="맑은 고딕"/>
                </a:rPr>
                <a:t>R2 (전체 L 복사)</a:t>
              </a:r>
            </a:p>
          </p:txBody>
        </p:sp>
        <p:sp>
          <p:nvSpPr>
            <p:cNvPr id="100" name="Rectangle 47"/>
            <p:cNvSpPr/>
            <p:nvPr/>
          </p:nvSpPr>
          <p:spPr>
            <a:xfrm>
              <a:off x="10184854" y="3782049"/>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101" name="Rectangle 48"/>
            <p:cNvSpPr/>
            <p:nvPr/>
          </p:nvSpPr>
          <p:spPr>
            <a:xfrm>
              <a:off x="11234128" y="3782049"/>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102" name="TextBox 101"/>
            <p:cNvSpPr txBox="1"/>
            <p:nvPr/>
          </p:nvSpPr>
          <p:spPr>
            <a:xfrm>
              <a:off x="10184854" y="3507797"/>
              <a:ext cx="1234440" cy="288981"/>
            </a:xfrm>
            <a:prstGeom prst="rect">
              <a:avLst/>
            </a:prstGeom>
            <a:noFill/>
          </p:spPr>
          <p:txBody>
            <a:bodyPr wrap="square" lIns="45720" tIns="27432" rIns="45720" bIns="27432" anchor="t">
              <a:spAutoFit/>
            </a:bodyPr>
            <a:lstStyle/>
            <a:p>
              <a:pPr algn="ctr">
                <a:spcAft>
                  <a:spcPts val="200"/>
                </a:spcAft>
              </a:pPr>
              <a:r>
                <a:rPr sz="700" b="0">
                  <a:solidFill>
                    <a:srgbClr val="595959"/>
                  </a:solidFill>
                  <a:latin typeface="맑은 고딕"/>
                  <a:ea typeface="맑은 고딕"/>
                  <a:cs typeface="맑은 고딕"/>
                </a:rPr>
                <a:t>R3 (전체 L 복사)</a:t>
              </a:r>
            </a:p>
          </p:txBody>
        </p:sp>
        <p:sp>
          <p:nvSpPr>
            <p:cNvPr id="108" name="TextBox 107"/>
            <p:cNvSpPr txBox="1"/>
            <p:nvPr/>
          </p:nvSpPr>
          <p:spPr>
            <a:xfrm>
              <a:off x="11465014" y="3827769"/>
              <a:ext cx="457200" cy="274320"/>
            </a:xfrm>
            <a:prstGeom prst="rect">
              <a:avLst/>
            </a:prstGeom>
            <a:noFill/>
          </p:spPr>
          <p:txBody>
            <a:bodyPr wrap="square" lIns="45720" tIns="27432" rIns="45720" bIns="27432" anchor="t">
              <a:spAutoFit/>
            </a:bodyPr>
            <a:lstStyle/>
            <a:p>
              <a:pPr algn="l">
                <a:spcAft>
                  <a:spcPts val="200"/>
                </a:spcAft>
              </a:pPr>
              <a:r>
                <a:rPr sz="950" b="1" dirty="0">
                  <a:solidFill>
                    <a:srgbClr val="FF0000"/>
                  </a:solidFill>
                  <a:latin typeface="맑은 고딕"/>
                  <a:ea typeface="맑은 고딕"/>
                  <a:cs typeface="맑은 고딕"/>
                </a:rPr>
                <a:t>3.0 L</a:t>
              </a:r>
            </a:p>
          </p:txBody>
        </p:sp>
        <p:sp>
          <p:nvSpPr>
            <p:cNvPr id="109" name="TextBox 108"/>
            <p:cNvSpPr txBox="1"/>
            <p:nvPr/>
          </p:nvSpPr>
          <p:spPr>
            <a:xfrm>
              <a:off x="6847294" y="4474946"/>
              <a:ext cx="822960" cy="274320"/>
            </a:xfrm>
            <a:prstGeom prst="rect">
              <a:avLst/>
            </a:prstGeom>
            <a:noFill/>
          </p:spPr>
          <p:txBody>
            <a:bodyPr wrap="square" lIns="45720" tIns="27432" rIns="45720" bIns="27432" anchor="t">
              <a:spAutoFit/>
            </a:bodyPr>
            <a:lstStyle/>
            <a:p>
              <a:pPr algn="l">
                <a:spcAft>
                  <a:spcPts val="200"/>
                </a:spcAft>
              </a:pPr>
              <a:r>
                <a:rPr sz="900" b="1" dirty="0" err="1">
                  <a:solidFill>
                    <a:srgbClr val="C55A11"/>
                  </a:solidFill>
                  <a:latin typeface="맑은 고딕"/>
                  <a:ea typeface="맑은 고딕"/>
                  <a:cs typeface="맑은 고딕"/>
                </a:rPr>
                <a:t>보완</a:t>
              </a:r>
              <a:r>
                <a:rPr sz="900" b="1" dirty="0">
                  <a:solidFill>
                    <a:srgbClr val="C55A11"/>
                  </a:solidFill>
                  <a:latin typeface="맑은 고딕"/>
                  <a:ea typeface="맑은 고딕"/>
                  <a:cs typeface="맑은 고딕"/>
                </a:rPr>
                <a:t> 후</a:t>
              </a:r>
            </a:p>
          </p:txBody>
        </p:sp>
        <p:sp>
          <p:nvSpPr>
            <p:cNvPr id="110" name="Rectangle 52"/>
            <p:cNvSpPr/>
            <p:nvPr/>
          </p:nvSpPr>
          <p:spPr>
            <a:xfrm>
              <a:off x="7715974" y="4377956"/>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 (공유 ×3)</a:t>
              </a:r>
            </a:p>
          </p:txBody>
        </p:sp>
        <p:sp>
          <p:nvSpPr>
            <p:cNvPr id="111" name="Rectangle 53"/>
            <p:cNvSpPr/>
            <p:nvPr/>
          </p:nvSpPr>
          <p:spPr>
            <a:xfrm>
              <a:off x="8765248" y="4377956"/>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d1</a:t>
              </a:r>
            </a:p>
          </p:txBody>
        </p:sp>
        <p:sp>
          <p:nvSpPr>
            <p:cNvPr id="112" name="Rectangle 54"/>
            <p:cNvSpPr/>
            <p:nvPr/>
          </p:nvSpPr>
          <p:spPr>
            <a:xfrm>
              <a:off x="8950414" y="4377956"/>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d2</a:t>
              </a:r>
            </a:p>
          </p:txBody>
        </p:sp>
        <p:sp>
          <p:nvSpPr>
            <p:cNvPr id="114" name="Rectangle 55"/>
            <p:cNvSpPr/>
            <p:nvPr/>
          </p:nvSpPr>
          <p:spPr>
            <a:xfrm>
              <a:off x="9135580" y="4377956"/>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d3</a:t>
              </a:r>
            </a:p>
          </p:txBody>
        </p:sp>
        <p:sp>
          <p:nvSpPr>
            <p:cNvPr id="116" name="TextBox 115"/>
            <p:cNvSpPr txBox="1"/>
            <p:nvPr/>
          </p:nvSpPr>
          <p:spPr>
            <a:xfrm>
              <a:off x="8765248" y="4135201"/>
              <a:ext cx="1371600" cy="288981"/>
            </a:xfrm>
            <a:prstGeom prst="rect">
              <a:avLst/>
            </a:prstGeom>
            <a:noFill/>
          </p:spPr>
          <p:txBody>
            <a:bodyPr wrap="square" lIns="45720" tIns="27432" rIns="45720" bIns="27432" anchor="t">
              <a:spAutoFit/>
            </a:bodyPr>
            <a:lstStyle/>
            <a:p>
              <a:pPr algn="l">
                <a:spcAft>
                  <a:spcPts val="200"/>
                </a:spcAft>
              </a:pPr>
              <a:r>
                <a:rPr sz="700" b="0" dirty="0">
                  <a:solidFill>
                    <a:srgbClr val="C55A11"/>
                  </a:solidFill>
                  <a:latin typeface="맑은 고딕"/>
                  <a:ea typeface="맑은 고딕"/>
                  <a:cs typeface="맑은 고딕"/>
                </a:rPr>
                <a:t>Delta (</a:t>
              </a:r>
              <a:r>
                <a:rPr sz="700" b="0" dirty="0" err="1">
                  <a:solidFill>
                    <a:srgbClr val="C55A11"/>
                  </a:solidFill>
                  <a:latin typeface="맑은 고딕"/>
                  <a:ea typeface="맑은 고딕"/>
                  <a:cs typeface="맑은 고딕"/>
                </a:rPr>
                <a:t>요청별</a:t>
              </a:r>
              <a:r>
                <a:rPr sz="700" b="0" dirty="0">
                  <a:solidFill>
                    <a:srgbClr val="C55A11"/>
                  </a:solidFill>
                  <a:latin typeface="맑은 고딕"/>
                  <a:ea typeface="맑은 고딕"/>
                  <a:cs typeface="맑은 고딕"/>
                </a:rPr>
                <a:t>)</a:t>
              </a:r>
            </a:p>
          </p:txBody>
        </p:sp>
        <p:sp>
          <p:nvSpPr>
            <p:cNvPr id="119" name="TextBox 118"/>
            <p:cNvSpPr txBox="1"/>
            <p:nvPr/>
          </p:nvSpPr>
          <p:spPr>
            <a:xfrm>
              <a:off x="9407614" y="4423676"/>
              <a:ext cx="731520" cy="357136"/>
            </a:xfrm>
            <a:prstGeom prst="rect">
              <a:avLst/>
            </a:prstGeom>
            <a:noFill/>
          </p:spPr>
          <p:txBody>
            <a:bodyPr wrap="square" lIns="45720" tIns="27432" rIns="45720" bIns="27432" anchor="t">
              <a:spAutoFit/>
            </a:bodyPr>
            <a:lstStyle/>
            <a:p>
              <a:pPr algn="l">
                <a:spcAft>
                  <a:spcPts val="200"/>
                </a:spcAft>
              </a:pPr>
              <a:r>
                <a:rPr sz="950" b="1" dirty="0">
                  <a:solidFill>
                    <a:srgbClr val="0000FF"/>
                  </a:solidFill>
                  <a:latin typeface="맑은 고딕"/>
                  <a:ea typeface="맑은 고딕"/>
                  <a:cs typeface="맑은 고딕"/>
                </a:rPr>
                <a:t>1.3 L</a:t>
              </a:r>
            </a:p>
          </p:txBody>
        </p:sp>
      </p:grpSp>
      <p:sp>
        <p:nvSpPr>
          <p:cNvPr id="121" name="직사각형 120">
            <a:extLst>
              <a:ext uri="{FF2B5EF4-FFF2-40B4-BE49-F238E27FC236}">
                <a16:creationId xmlns:a16="http://schemas.microsoft.com/office/drawing/2014/main" id="{4E780B97-B2C1-448F-BF73-FB8F18044673}"/>
              </a:ext>
            </a:extLst>
          </p:cNvPr>
          <p:cNvSpPr/>
          <p:nvPr/>
        </p:nvSpPr>
        <p:spPr>
          <a:xfrm>
            <a:off x="6514419" y="1037703"/>
            <a:ext cx="5492576" cy="5607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Rectangle 39"/>
          <p:cNvSpPr/>
          <p:nvPr/>
        </p:nvSpPr>
        <p:spPr>
          <a:xfrm>
            <a:off x="6755917" y="3621597"/>
            <a:ext cx="5029200" cy="181686"/>
          </a:xfrm>
          <a:prstGeom prst="rect">
            <a:avLst/>
          </a:prstGeom>
          <a:solidFill>
            <a:srgbClr val="F2F2F2"/>
          </a:solidFill>
          <a:ln w="10160">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dirty="0">
                <a:solidFill>
                  <a:srgbClr val="000000"/>
                </a:solidFill>
                <a:latin typeface="맑은 고딕"/>
                <a:ea typeface="맑은 고딕"/>
                <a:cs typeface="맑은 고딕"/>
              </a:rPr>
              <a:t>HBM </a:t>
            </a:r>
            <a:r>
              <a:rPr sz="900" b="1" dirty="0" err="1">
                <a:solidFill>
                  <a:srgbClr val="000000"/>
                </a:solidFill>
                <a:latin typeface="맑은 고딕"/>
                <a:ea typeface="맑은 고딕"/>
                <a:cs typeface="맑은 고딕"/>
              </a:rPr>
              <a:t>레이아웃</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동시</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요청</a:t>
            </a:r>
            <a:r>
              <a:rPr sz="900" b="1" dirty="0">
                <a:solidFill>
                  <a:srgbClr val="000000"/>
                </a:solidFill>
                <a:latin typeface="맑은 고딕"/>
                <a:ea typeface="맑은 고딕"/>
                <a:cs typeface="맑은 고딕"/>
              </a:rPr>
              <a:t> N=3, ρ=0.15 </a:t>
            </a:r>
            <a:r>
              <a:rPr sz="900" b="1" dirty="0" err="1">
                <a:solidFill>
                  <a:srgbClr val="000000"/>
                </a:solidFill>
                <a:latin typeface="맑은 고딕"/>
                <a:ea typeface="맑은 고딕"/>
                <a:cs typeface="맑은 고딕"/>
              </a:rPr>
              <a:t>가정</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예시</a:t>
            </a:r>
            <a:r>
              <a:rPr sz="900" b="1" dirty="0">
                <a:solidFill>
                  <a:srgbClr val="000000"/>
                </a:solidFill>
                <a:latin typeface="맑은 고딕"/>
                <a:ea typeface="맑은 고딕"/>
                <a:cs typeface="맑은 고딕"/>
              </a:rPr>
              <a:t>)</a:t>
            </a:r>
          </a:p>
        </p:txBody>
      </p:sp>
      <p:sp>
        <p:nvSpPr>
          <p:cNvPr id="19" name="직사각형 18"/>
          <p:cNvSpPr/>
          <p:nvPr/>
        </p:nvSpPr>
        <p:spPr>
          <a:xfrm>
            <a:off x="6790473" y="4534699"/>
            <a:ext cx="4580015" cy="379591"/>
          </a:xfrm>
          <a:prstGeom prst="rect">
            <a:avLst/>
          </a:prstGeom>
        </p:spPr>
        <p:txBody>
          <a:bodyPr>
            <a:spAutoFit/>
          </a:bodyPr>
          <a:lstStyle/>
          <a:p>
            <a:pPr lvl="0">
              <a:spcAft>
                <a:spcPts val="200"/>
              </a:spcAft>
            </a:pPr>
            <a:r>
              <a:rPr lang="en-US" altLang="ko-KR" sz="850" b="1" dirty="0">
                <a:solidFill>
                  <a:srgbClr val="404040"/>
                </a:solidFill>
                <a:ea typeface="맑은 고딕"/>
                <a:cs typeface="맑은 고딕"/>
              </a:rPr>
              <a:t>HBM = (1−ρ)·L + </a:t>
            </a:r>
            <a:r>
              <a:rPr lang="en-US" altLang="ko-KR" sz="850" b="1" dirty="0" err="1">
                <a:solidFill>
                  <a:srgbClr val="404040"/>
                </a:solidFill>
                <a:ea typeface="맑은 고딕"/>
                <a:cs typeface="맑은 고딕"/>
              </a:rPr>
              <a:t>N·ρ·L</a:t>
            </a:r>
            <a:r>
              <a:rPr lang="ko-KR" altLang="en-US" sz="850" b="1" dirty="0">
                <a:solidFill>
                  <a:srgbClr val="404040"/>
                </a:solidFill>
                <a:ea typeface="맑은 고딕"/>
                <a:cs typeface="맑은 고딕"/>
              </a:rPr>
              <a:t>  </a:t>
            </a:r>
            <a:r>
              <a:rPr lang="en-US" altLang="ko-KR" sz="850" b="1" dirty="0">
                <a:solidFill>
                  <a:srgbClr val="404040"/>
                </a:solidFill>
                <a:ea typeface="맑은 고딕"/>
                <a:cs typeface="맑은 고딕"/>
              </a:rPr>
              <a:t>vs  N·L  → N=3, ρ=0.15</a:t>
            </a:r>
            <a:r>
              <a:rPr lang="ko-KR" altLang="en-US" sz="850" b="1" dirty="0">
                <a:solidFill>
                  <a:srgbClr val="404040"/>
                </a:solidFill>
                <a:ea typeface="맑은 고딕"/>
                <a:cs typeface="맑은 고딕"/>
              </a:rPr>
              <a:t>에서 </a:t>
            </a:r>
            <a:r>
              <a:rPr lang="en-US" altLang="ko-KR" sz="850" b="1" dirty="0">
                <a:solidFill>
                  <a:srgbClr val="404040"/>
                </a:solidFill>
                <a:ea typeface="맑은 고딕"/>
                <a:cs typeface="맑은 고딕"/>
              </a:rPr>
              <a:t>3.0 L → 1.3 L (−57%)</a:t>
            </a:r>
          </a:p>
          <a:p>
            <a:pPr lvl="0">
              <a:spcAft>
                <a:spcPts val="200"/>
              </a:spcAft>
            </a:pPr>
            <a:r>
              <a:rPr lang="en-US" altLang="ko-KR" sz="850" dirty="0">
                <a:solidFill>
                  <a:srgbClr val="595959"/>
                </a:solidFill>
                <a:ea typeface="맑은 고딕"/>
                <a:cs typeface="맑은 고딕"/>
              </a:rPr>
              <a:t>N</a:t>
            </a:r>
            <a:r>
              <a:rPr lang="ko-KR" altLang="en-US" sz="850" dirty="0">
                <a:solidFill>
                  <a:srgbClr val="595959"/>
                </a:solidFill>
                <a:ea typeface="맑은 고딕"/>
                <a:cs typeface="맑은 고딕"/>
              </a:rPr>
              <a:t>이 커질수록 요청당 </a:t>
            </a:r>
            <a:r>
              <a:rPr lang="en-US" altLang="ko-KR" sz="850" dirty="0" err="1">
                <a:solidFill>
                  <a:srgbClr val="595959"/>
                </a:solidFill>
                <a:ea typeface="맑은 고딕"/>
                <a:cs typeface="맑은 고딕"/>
              </a:rPr>
              <a:t>ρ·L</a:t>
            </a:r>
            <a:r>
              <a:rPr lang="ko-KR" altLang="en-US" sz="850" dirty="0">
                <a:solidFill>
                  <a:srgbClr val="595959"/>
                </a:solidFill>
                <a:ea typeface="맑은 고딕"/>
                <a:cs typeface="맑은 고딕"/>
              </a:rPr>
              <a:t>에 수렴</a:t>
            </a:r>
            <a:r>
              <a:rPr lang="en-US" altLang="ko-KR" sz="850" dirty="0">
                <a:solidFill>
                  <a:srgbClr val="595959"/>
                </a:solidFill>
                <a:ea typeface="맑은 고딕"/>
                <a:cs typeface="맑은 고딕"/>
              </a:rPr>
              <a:t>. </a:t>
            </a:r>
            <a:r>
              <a:rPr lang="ko-KR" altLang="en-US" sz="850" dirty="0">
                <a:solidFill>
                  <a:srgbClr val="595959"/>
                </a:solidFill>
                <a:ea typeface="맑은 고딕"/>
                <a:cs typeface="맑은 고딕"/>
              </a:rPr>
              <a:t>재사용이 분산돼 </a:t>
            </a:r>
            <a:r>
              <a:rPr lang="en-US" altLang="ko-KR" sz="850" dirty="0">
                <a:solidFill>
                  <a:srgbClr val="595959"/>
                </a:solidFill>
                <a:ea typeface="맑은 고딕"/>
                <a:cs typeface="맑은 고딕"/>
              </a:rPr>
              <a:t>N≈1</a:t>
            </a:r>
            <a:r>
              <a:rPr lang="ko-KR" altLang="en-US" sz="850" dirty="0">
                <a:solidFill>
                  <a:srgbClr val="595959"/>
                </a:solidFill>
                <a:ea typeface="맑은 고딕"/>
                <a:cs typeface="맑은 고딕"/>
              </a:rPr>
              <a:t>이면 이득 없음</a:t>
            </a:r>
          </a:p>
        </p:txBody>
      </p:sp>
      <p:sp>
        <p:nvSpPr>
          <p:cNvPr id="129" name="TextBox 128"/>
          <p:cNvSpPr txBox="1"/>
          <p:nvPr/>
        </p:nvSpPr>
        <p:spPr>
          <a:xfrm>
            <a:off x="1192849" y="2332514"/>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130" name="Rectangle 19"/>
          <p:cNvSpPr/>
          <p:nvPr/>
        </p:nvSpPr>
        <p:spPr>
          <a:xfrm>
            <a:off x="1611630" y="2259453"/>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cxnSp>
        <p:nvCxnSpPr>
          <p:cNvPr id="131" name="Connector 20"/>
          <p:cNvCxnSpPr/>
          <p:nvPr/>
        </p:nvCxnSpPr>
        <p:spPr>
          <a:xfrm>
            <a:off x="2271947"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4" name="Rectangle 21"/>
          <p:cNvSpPr/>
          <p:nvPr/>
        </p:nvSpPr>
        <p:spPr>
          <a:xfrm>
            <a:off x="2445714" y="2259453"/>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cxnSp>
        <p:nvCxnSpPr>
          <p:cNvPr id="135" name="Connector 22"/>
          <p:cNvCxnSpPr/>
          <p:nvPr/>
        </p:nvCxnSpPr>
        <p:spPr>
          <a:xfrm>
            <a:off x="3106033"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9" name="Rectangle 23"/>
          <p:cNvSpPr/>
          <p:nvPr/>
        </p:nvSpPr>
        <p:spPr>
          <a:xfrm>
            <a:off x="3279801" y="2259453"/>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err="1">
                <a:solidFill>
                  <a:srgbClr val="000000"/>
                </a:solidFill>
                <a:latin typeface="맑은 고딕"/>
                <a:ea typeface="맑은 고딕"/>
                <a:cs typeface="맑은 고딕"/>
              </a:rPr>
              <a:t>재연산</a:t>
            </a:r>
            <a:r>
              <a:rPr lang="ko-KR" altLang="en-US" sz="800" b="1" dirty="0">
                <a:solidFill>
                  <a:srgbClr val="000000"/>
                </a:solidFill>
                <a:latin typeface="맑은 고딕"/>
                <a:ea typeface="맑은 고딕"/>
                <a:cs typeface="맑은 고딕"/>
              </a:rPr>
              <a:t> 토큰 선정</a:t>
            </a:r>
            <a:endParaRPr sz="800" b="1" dirty="0">
              <a:solidFill>
                <a:srgbClr val="000000"/>
              </a:solidFill>
              <a:latin typeface="맑은 고딕"/>
              <a:ea typeface="맑은 고딕"/>
              <a:cs typeface="맑은 고딕"/>
            </a:endParaRPr>
          </a:p>
        </p:txBody>
      </p:sp>
      <p:cxnSp>
        <p:nvCxnSpPr>
          <p:cNvPr id="140" name="Connector 24"/>
          <p:cNvCxnSpPr/>
          <p:nvPr/>
        </p:nvCxnSpPr>
        <p:spPr>
          <a:xfrm>
            <a:off x="3940118"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1" name="Rectangle 25"/>
          <p:cNvSpPr/>
          <p:nvPr/>
        </p:nvSpPr>
        <p:spPr>
          <a:xfrm>
            <a:off x="4113885" y="2259452"/>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선택적 </a:t>
            </a:r>
            <a:endParaRPr lang="en-US" altLang="ko-KR" sz="800" b="1" dirty="0">
              <a:solidFill>
                <a:srgbClr val="000000"/>
              </a:solidFill>
              <a:latin typeface="맑은 고딕"/>
              <a:ea typeface="맑은 고딕"/>
              <a:cs typeface="맑은 고딕"/>
            </a:endParaRPr>
          </a:p>
          <a:p>
            <a:pPr algn="ctr">
              <a:spcAft>
                <a:spcPts val="200"/>
              </a:spcAft>
            </a:pPr>
            <a:r>
              <a:rPr lang="ko-KR" altLang="en-US" sz="800" b="1" dirty="0">
                <a:solidFill>
                  <a:srgbClr val="000000"/>
                </a:solidFill>
                <a:latin typeface="맑은 고딕"/>
                <a:ea typeface="맑은 고딕"/>
                <a:cs typeface="맑은 고딕"/>
              </a:rPr>
              <a:t>재계산</a:t>
            </a:r>
            <a:endParaRPr sz="800" b="1" dirty="0">
              <a:solidFill>
                <a:srgbClr val="000000"/>
              </a:solidFill>
              <a:latin typeface="맑은 고딕"/>
              <a:ea typeface="맑은 고딕"/>
              <a:cs typeface="맑은 고딕"/>
            </a:endParaRPr>
          </a:p>
        </p:txBody>
      </p:sp>
      <p:sp>
        <p:nvSpPr>
          <p:cNvPr id="142" name="TextBox 141"/>
          <p:cNvSpPr txBox="1"/>
          <p:nvPr/>
        </p:nvSpPr>
        <p:spPr>
          <a:xfrm>
            <a:off x="1192849" y="2822457"/>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143" name="Rectangle 27"/>
          <p:cNvSpPr/>
          <p:nvPr/>
        </p:nvSpPr>
        <p:spPr>
          <a:xfrm>
            <a:off x="2444860" y="2749396"/>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46" name="Connector 28"/>
          <p:cNvCxnSpPr/>
          <p:nvPr/>
        </p:nvCxnSpPr>
        <p:spPr>
          <a:xfrm>
            <a:off x="3105177"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9" name="Rectangle 29"/>
          <p:cNvSpPr/>
          <p:nvPr/>
        </p:nvSpPr>
        <p:spPr>
          <a:xfrm>
            <a:off x="3278944" y="2749396"/>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51" name="Connector 30"/>
          <p:cNvCxnSpPr/>
          <p:nvPr/>
        </p:nvCxnSpPr>
        <p:spPr>
          <a:xfrm>
            <a:off x="3939263"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2" name="Rectangle 31"/>
          <p:cNvSpPr/>
          <p:nvPr/>
        </p:nvSpPr>
        <p:spPr>
          <a:xfrm>
            <a:off x="4113031" y="2749396"/>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56" name="Connector 32"/>
          <p:cNvCxnSpPr/>
          <p:nvPr/>
        </p:nvCxnSpPr>
        <p:spPr>
          <a:xfrm>
            <a:off x="4773348"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9" name="Rectangle 33"/>
          <p:cNvSpPr/>
          <p:nvPr/>
        </p:nvSpPr>
        <p:spPr>
          <a:xfrm>
            <a:off x="4947115" y="2749396"/>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62" name="TextBox 161"/>
          <p:cNvSpPr txBox="1"/>
          <p:nvPr/>
        </p:nvSpPr>
        <p:spPr>
          <a:xfrm>
            <a:off x="1192849" y="3312401"/>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63" name="Rectangle 35"/>
          <p:cNvSpPr/>
          <p:nvPr/>
        </p:nvSpPr>
        <p:spPr>
          <a:xfrm>
            <a:off x="3272288" y="3239339"/>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4" name="Connector 36"/>
          <p:cNvCxnSpPr/>
          <p:nvPr/>
        </p:nvCxnSpPr>
        <p:spPr>
          <a:xfrm>
            <a:off x="3932605"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5" name="Rectangle 37"/>
          <p:cNvSpPr/>
          <p:nvPr/>
        </p:nvSpPr>
        <p:spPr>
          <a:xfrm>
            <a:off x="4106372" y="3239339"/>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6" name="Connector 38"/>
          <p:cNvCxnSpPr/>
          <p:nvPr/>
        </p:nvCxnSpPr>
        <p:spPr>
          <a:xfrm>
            <a:off x="4766691"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7" name="Rectangle 39"/>
          <p:cNvSpPr/>
          <p:nvPr/>
        </p:nvSpPr>
        <p:spPr>
          <a:xfrm>
            <a:off x="4940459" y="3239339"/>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68" name="Connector 40"/>
          <p:cNvCxnSpPr/>
          <p:nvPr/>
        </p:nvCxnSpPr>
        <p:spPr>
          <a:xfrm>
            <a:off x="5600776"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9" name="Rectangle 41"/>
          <p:cNvSpPr/>
          <p:nvPr/>
        </p:nvSpPr>
        <p:spPr>
          <a:xfrm>
            <a:off x="5774543" y="3239340"/>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70" name="TextBox 169"/>
          <p:cNvSpPr txBox="1"/>
          <p:nvPr/>
        </p:nvSpPr>
        <p:spPr>
          <a:xfrm>
            <a:off x="1271552" y="1944788"/>
            <a:ext cx="1503466" cy="186205"/>
          </a:xfrm>
          <a:prstGeom prst="rect">
            <a:avLst/>
          </a:prstGeom>
          <a:noFill/>
        </p:spPr>
        <p:txBody>
          <a:bodyPr wrap="square" lIns="45720" tIns="27432" rIns="45720" bIns="27432" anchor="t">
            <a:spAutoFit/>
          </a:bodyPr>
          <a:lstStyle/>
          <a:p>
            <a:pPr algn="l">
              <a:spcAft>
                <a:spcPts val="200"/>
              </a:spcAft>
            </a:pPr>
            <a:r>
              <a:rPr sz="850" b="1" dirty="0" err="1">
                <a:solidFill>
                  <a:schemeClr val="accent2">
                    <a:lumMod val="50000"/>
                  </a:schemeClr>
                </a:solidFill>
                <a:latin typeface="맑은 고딕"/>
                <a:ea typeface="맑은 고딕"/>
                <a:cs typeface="맑은 고딕"/>
              </a:rPr>
              <a:t>요청마다</a:t>
            </a:r>
            <a:r>
              <a:rPr sz="850" b="1" dirty="0">
                <a:solidFill>
                  <a:schemeClr val="accent2">
                    <a:lumMod val="50000"/>
                  </a:schemeClr>
                </a:solidFill>
                <a:latin typeface="맑은 고딕"/>
                <a:ea typeface="맑은 고딕"/>
                <a:cs typeface="맑은 고딕"/>
              </a:rPr>
              <a:t> </a:t>
            </a:r>
            <a:r>
              <a:rPr sz="850" b="1" dirty="0" err="1">
                <a:solidFill>
                  <a:schemeClr val="accent2">
                    <a:lumMod val="50000"/>
                  </a:schemeClr>
                </a:solidFill>
                <a:latin typeface="맑은 고딕"/>
                <a:ea typeface="맑은 고딕"/>
                <a:cs typeface="맑은 고딕"/>
              </a:rPr>
              <a:t>분석</a:t>
            </a:r>
            <a:r>
              <a:rPr lang="en-US" sz="850" b="1" dirty="0">
                <a:solidFill>
                  <a:schemeClr val="accent2">
                    <a:lumMod val="50000"/>
                  </a:schemeClr>
                </a:solidFill>
                <a:latin typeface="맑은 고딕"/>
                <a:ea typeface="맑은 고딕"/>
                <a:cs typeface="맑은 고딕"/>
              </a:rPr>
              <a:t> </a:t>
            </a:r>
            <a:r>
              <a:rPr sz="850" b="1" dirty="0">
                <a:solidFill>
                  <a:schemeClr val="accent2">
                    <a:lumMod val="50000"/>
                  </a:schemeClr>
                </a:solidFill>
                <a:latin typeface="맑은 고딕"/>
                <a:ea typeface="맑은 고딕"/>
                <a:cs typeface="맑은 고딕"/>
              </a:rPr>
              <a:t>3단계 </a:t>
            </a:r>
            <a:r>
              <a:rPr sz="850" b="1" dirty="0" err="1">
                <a:solidFill>
                  <a:schemeClr val="accent2">
                    <a:lumMod val="50000"/>
                  </a:schemeClr>
                </a:solidFill>
                <a:latin typeface="맑은 고딕"/>
                <a:ea typeface="맑은 고딕"/>
                <a:cs typeface="맑은 고딕"/>
              </a:rPr>
              <a:t>반복</a:t>
            </a:r>
            <a:endParaRPr sz="850" b="1" dirty="0">
              <a:solidFill>
                <a:schemeClr val="accent2">
                  <a:lumMod val="50000"/>
                </a:schemeClr>
              </a:solidFill>
              <a:latin typeface="맑은 고딕"/>
              <a:ea typeface="맑은 고딕"/>
              <a:cs typeface="맑은 고딕"/>
            </a:endParaRPr>
          </a:p>
        </p:txBody>
      </p:sp>
      <p:sp>
        <p:nvSpPr>
          <p:cNvPr id="171" name="실행 단추: 앞으로 또는 다음 170">
            <a:hlinkClick r:id="rId3" action="ppaction://hlinksldjump" highlightClick="1"/>
          </p:cNvPr>
          <p:cNvSpPr/>
          <p:nvPr/>
        </p:nvSpPr>
        <p:spPr>
          <a:xfrm>
            <a:off x="569407" y="3283938"/>
            <a:ext cx="213360" cy="18435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KV Cache Manager">
            <a:extLst>
              <a:ext uri="{FF2B5EF4-FFF2-40B4-BE49-F238E27FC236}">
                <a16:creationId xmlns:a16="http://schemas.microsoft.com/office/drawing/2014/main" id="{7193BC83-981B-478E-BB00-B0CCD220C611}"/>
              </a:ext>
            </a:extLst>
          </p:cNvPr>
          <p:cNvSpPr/>
          <p:nvPr/>
        </p:nvSpPr>
        <p:spPr>
          <a:xfrm>
            <a:off x="11185692" y="4590767"/>
            <a:ext cx="713111" cy="186465"/>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132" name="직사각형 131">
            <a:extLst>
              <a:ext uri="{FF2B5EF4-FFF2-40B4-BE49-F238E27FC236}">
                <a16:creationId xmlns:a16="http://schemas.microsoft.com/office/drawing/2014/main" id="{C84C114C-72C6-4726-8195-A62CCA108A92}"/>
              </a:ext>
            </a:extLst>
          </p:cNvPr>
          <p:cNvSpPr/>
          <p:nvPr/>
        </p:nvSpPr>
        <p:spPr>
          <a:xfrm>
            <a:off x="11121927" y="4366417"/>
            <a:ext cx="805575" cy="469264"/>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3" name="모서리가 둥근 직사각형 37">
            <a:extLst>
              <a:ext uri="{FF2B5EF4-FFF2-40B4-BE49-F238E27FC236}">
                <a16:creationId xmlns:a16="http://schemas.microsoft.com/office/drawing/2014/main" id="{476B6E1C-7561-417D-A669-4DEFCE610223}"/>
              </a:ext>
            </a:extLst>
          </p:cNvPr>
          <p:cNvSpPr/>
          <p:nvPr/>
        </p:nvSpPr>
        <p:spPr>
          <a:xfrm>
            <a:off x="7784892" y="619129"/>
            <a:ext cx="1095752"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추론 정확도 보장</a:t>
            </a:r>
          </a:p>
        </p:txBody>
      </p:sp>
      <p:sp>
        <p:nvSpPr>
          <p:cNvPr id="136" name="모서리가 둥근 직사각형 135"/>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144"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145" name="모서리가 둥근 직사각형 37">
            <a:extLst>
              <a:ext uri="{FF2B5EF4-FFF2-40B4-BE49-F238E27FC236}">
                <a16:creationId xmlns:a16="http://schemas.microsoft.com/office/drawing/2014/main" id="{E99FD0CC-4F44-40AB-8E8E-E5E878FDD956}"/>
              </a:ext>
            </a:extLst>
          </p:cNvPr>
          <p:cNvSpPr/>
          <p:nvPr/>
        </p:nvSpPr>
        <p:spPr>
          <a:xfrm>
            <a:off x="9430793" y="808072"/>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47" name="모서리가 둥근 직사각형 37">
            <a:extLst>
              <a:ext uri="{FF2B5EF4-FFF2-40B4-BE49-F238E27FC236}">
                <a16:creationId xmlns:a16="http://schemas.microsoft.com/office/drawing/2014/main" id="{63E127C8-1374-4049-8A7A-84E9B191F365}"/>
              </a:ext>
            </a:extLst>
          </p:cNvPr>
          <p:cNvSpPr/>
          <p:nvPr/>
        </p:nvSpPr>
        <p:spPr>
          <a:xfrm>
            <a:off x="10320379" y="815469"/>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48" name="모서리가 둥근 직사각형 37">
            <a:extLst>
              <a:ext uri="{FF2B5EF4-FFF2-40B4-BE49-F238E27FC236}">
                <a16:creationId xmlns:a16="http://schemas.microsoft.com/office/drawing/2014/main" id="{8B476E63-C72E-465A-98C8-0CB6FC0C7249}"/>
              </a:ext>
            </a:extLst>
          </p:cNvPr>
          <p:cNvSpPr/>
          <p:nvPr/>
        </p:nvSpPr>
        <p:spPr>
          <a:xfrm>
            <a:off x="11209965" y="808072"/>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a:t>
            </a:r>
          </a:p>
        </p:txBody>
      </p:sp>
      <p:sp>
        <p:nvSpPr>
          <p:cNvPr id="150" name="모서리가 둥근 직사각형 149"/>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6" name="실행 단추: 앞으로 또는 다음 5">
            <a:hlinkClick r:id="rId4" action="ppaction://hlinksldjump" highlightClick="1"/>
          </p:cNvPr>
          <p:cNvSpPr/>
          <p:nvPr/>
        </p:nvSpPr>
        <p:spPr>
          <a:xfrm>
            <a:off x="12813620" y="1539788"/>
            <a:ext cx="230962" cy="18415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실행 단추: 앞으로 또는 다음 101">
            <a:hlinkClick r:id="rId5" action="ppaction://hlinksldjump" highlightClick="1"/>
            <a:extLst>
              <a:ext uri="{FF2B5EF4-FFF2-40B4-BE49-F238E27FC236}">
                <a16:creationId xmlns:a16="http://schemas.microsoft.com/office/drawing/2014/main" id="{EA77DDAA-B2EC-4554-B66C-2B9C497B1904}"/>
              </a:ext>
            </a:extLst>
          </p:cNvPr>
          <p:cNvSpPr/>
          <p:nvPr/>
        </p:nvSpPr>
        <p:spPr>
          <a:xfrm>
            <a:off x="11628384" y="1131751"/>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실행 단추: 앞으로 또는 다음 101">
            <a:hlinkClick r:id="rId6" action="ppaction://hlinksldjump" highlightClick="1"/>
            <a:extLst>
              <a:ext uri="{FF2B5EF4-FFF2-40B4-BE49-F238E27FC236}">
                <a16:creationId xmlns:a16="http://schemas.microsoft.com/office/drawing/2014/main" id="{2A1DD19D-8AA6-4544-B268-22B864A70D6E}"/>
              </a:ext>
            </a:extLst>
          </p:cNvPr>
          <p:cNvSpPr/>
          <p:nvPr/>
        </p:nvSpPr>
        <p:spPr>
          <a:xfrm>
            <a:off x="6235098"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5774543" y="2669911"/>
            <a:ext cx="3430245" cy="8933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앞서 설계와의 </a:t>
            </a:r>
            <a:r>
              <a:rPr lang="en-US" altLang="ko-KR" dirty="0"/>
              <a:t>Delta</a:t>
            </a:r>
            <a:r>
              <a:rPr lang="ko-KR" altLang="en-US" dirty="0"/>
              <a:t>를 한눈에 보이게</a:t>
            </a:r>
          </a:p>
        </p:txBody>
      </p:sp>
    </p:spTree>
    <p:extLst>
      <p:ext uri="{BB962C8B-B14F-4D97-AF65-F5344CB8AC3E}">
        <p14:creationId xmlns:p14="http://schemas.microsoft.com/office/powerpoint/2010/main" val="1899437005"/>
      </p:ext>
    </p:extLst>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dirty="0"/>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800" b="1" dirty="0" smtClean="0">
                <a:solidFill>
                  <a:prstClr val="black"/>
                </a:solidFill>
                <a:latin typeface="맑은 고딕" panose="020F0502020204030204"/>
                <a:ea typeface="맑은 고딕" panose="020B0503020000020004" pitchFamily="50" charset="-127"/>
              </a:rPr>
              <a:t>설계</a:t>
            </a:r>
            <a:r>
              <a:rPr kumimoji="0" lang="en-US" altLang="ko-KR" sz="8800" b="1" i="0" u="none" strike="noStrike" kern="1200" cap="none" spc="0" normalizeH="0" baseline="0" noProof="0" dirty="0" smtClean="0">
                <a:ln>
                  <a:noFill/>
                </a:ln>
                <a:solidFill>
                  <a:prstClr val="black"/>
                </a:solidFill>
                <a:effectLst/>
                <a:uLnTx/>
                <a:uFillTx/>
                <a:latin typeface="맑은 고딕" panose="020F0502020204030204"/>
                <a:ea typeface="맑은 고딕" panose="020B0503020000020004" pitchFamily="50" charset="-127"/>
                <a:cs typeface="+mn-cs"/>
              </a:rPr>
              <a:t>–DP4 Appendix</a:t>
            </a:r>
            <a:endParaRPr kumimoji="0" lang="ko-KR" altLang="en-US" sz="88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837880346"/>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3918820979"/>
              </p:ext>
            </p:extLst>
          </p:nvPr>
        </p:nvGraphicFramePr>
        <p:xfrm>
          <a:off x="234949" y="1032440"/>
          <a:ext cx="11747501" cy="552569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2937783">
                  <a:extLst>
                    <a:ext uri="{9D8B030D-6E8A-4147-A177-3AD203B41FA5}">
                      <a16:colId xmlns:a16="http://schemas.microsoft.com/office/drawing/2014/main" val="5654497"/>
                    </a:ext>
                  </a:extLst>
                </a:gridCol>
                <a:gridCol w="2498271">
                  <a:extLst>
                    <a:ext uri="{9D8B030D-6E8A-4147-A177-3AD203B41FA5}">
                      <a16:colId xmlns:a16="http://schemas.microsoft.com/office/drawing/2014/main" val="4114062400"/>
                    </a:ext>
                  </a:extLst>
                </a:gridCol>
                <a:gridCol w="3435804">
                  <a:extLst>
                    <a:ext uri="{9D8B030D-6E8A-4147-A177-3AD203B41FA5}">
                      <a16:colId xmlns:a16="http://schemas.microsoft.com/office/drawing/2014/main" val="3070054508"/>
                    </a:ext>
                  </a:extLst>
                </a:gridCol>
                <a:gridCol w="2000250">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중앙 서버 중재 구조 </a:t>
                      </a:r>
                      <a:r>
                        <a:rPr lang="en-US" altLang="ko-KR" sz="1200" b="1" dirty="0">
                          <a:solidFill>
                            <a:srgbClr val="0000FF"/>
                          </a:solidFill>
                        </a:rPr>
                        <a:t>+ </a:t>
                      </a:r>
                      <a:r>
                        <a:rPr lang="en-US" altLang="ko-KR" sz="1200" b="1" dirty="0" err="1">
                          <a:solidFill>
                            <a:srgbClr val="0000FF"/>
                          </a:solidFill>
                        </a:rPr>
                        <a:t>Sharding</a:t>
                      </a:r>
                      <a:r>
                        <a:rPr lang="ko-KR" altLang="en-US" sz="1200" b="1" dirty="0">
                          <a:solidFill>
                            <a:srgbClr val="0000FF"/>
                          </a:solidFill>
                        </a:rPr>
                        <a:t> 구조 </a:t>
                      </a:r>
                      <a:endParaRPr lang="ko-KR" altLang="en-US" sz="1050" b="1" kern="1200" baseline="0" dirty="0">
                        <a:solidFill>
                          <a:srgbClr val="0000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락 </a:t>
                      </a:r>
                      <a:r>
                        <a:rPr lang="ko-KR" altLang="en-US" sz="1200" b="1" dirty="0"/>
                        <a:t>기반 직접 접근 </a:t>
                      </a:r>
                      <a:r>
                        <a:rPr lang="en-US" altLang="ko-KR" sz="1200" b="1" dirty="0" err="1"/>
                        <a:t>구조</a:t>
                      </a:r>
                      <a:endParaRPr lang="en-US" altLang="ko-KR"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29910">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50218">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중앙에서 동기화를 일괄 처리하여 요청당 동기화 오버헤드가 작음 </a:t>
                      </a:r>
                      <a:r>
                        <a:rPr lang="en-US" altLang="ko-KR" sz="1200" dirty="0"/>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중앙에서 요청 순서와 동시 처리량을 제어하여 경합 관리에 유리 </a:t>
                      </a:r>
                      <a:r>
                        <a:rPr lang="en-US" altLang="ko-KR" sz="1200" dirty="0"/>
                        <a:t>(</a:t>
                      </a:r>
                      <a:r>
                        <a:rPr lang="en-US" altLang="ko-KR" sz="1200" dirty="0" smtClean="0"/>
                        <a:t>Q2)</a:t>
                      </a:r>
                      <a:endParaRPr lang="en-US" altLang="ko-KR" sz="1200" dirty="0"/>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병목은 회피 및 분산 병렬 처리에 유리</a:t>
                      </a:r>
                      <a:r>
                        <a:rPr lang="en-US" altLang="ko-KR" sz="1200" dirty="0"/>
                        <a:t>(Q1,</a:t>
                      </a:r>
                      <a:r>
                        <a:rPr lang="en-US" altLang="ko-KR" sz="1200" baseline="0" dirty="0"/>
                        <a:t> </a:t>
                      </a:r>
                      <a:r>
                        <a:rPr lang="en-US" altLang="ko-KR" sz="1200" baseline="0" dirty="0" smtClean="0"/>
                        <a:t>Q2</a:t>
                      </a:r>
                      <a:r>
                        <a:rPr lang="en-US" altLang="ko-KR" sz="1200" dirty="0" smtClean="0"/>
                        <a:t>)</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노드별</a:t>
                      </a:r>
                      <a:r>
                        <a:rPr lang="ko-KR" altLang="en-US" sz="1200" dirty="0"/>
                        <a:t> 분산 처리로 </a:t>
                      </a:r>
                      <a:r>
                        <a:rPr lang="ko-KR" altLang="en-US" sz="1200" dirty="0" err="1"/>
                        <a:t>병렬성</a:t>
                      </a:r>
                      <a:r>
                        <a:rPr lang="ko-KR" altLang="en-US" sz="1200" dirty="0"/>
                        <a:t> 확보 및 수평 확장에 유리 </a:t>
                      </a:r>
                      <a:r>
                        <a:rPr lang="en-US" altLang="ko-KR" sz="1200" dirty="0"/>
                        <a:t>(</a:t>
                      </a:r>
                      <a:r>
                        <a:rPr lang="en-US" altLang="ko-KR" sz="1200" dirty="0" smtClean="0"/>
                        <a:t>Q3)</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1629304399"/>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노드 증가 시 중앙 서버의 처리 용량이 확장 한계로 작용</a:t>
                      </a:r>
                      <a:r>
                        <a:rPr lang="en-US" altLang="ko-KR" sz="1200" dirty="0"/>
                        <a:t>(</a:t>
                      </a:r>
                      <a:r>
                        <a:rPr lang="en-US" altLang="ko-KR" sz="1200" dirty="0" smtClean="0"/>
                        <a:t>Q3)</a:t>
                      </a:r>
                      <a:endParaRPr lang="en-US" altLang="ko-KR" sz="1200" dirty="0"/>
                    </a:p>
                    <a:p>
                      <a:r>
                        <a:rPr lang="en-US" altLang="ko-KR" sz="1200" dirty="0">
                          <a:solidFill>
                            <a:srgbClr val="0000FF"/>
                          </a:solidFill>
                        </a:rPr>
                        <a:t>1. </a:t>
                      </a:r>
                      <a:r>
                        <a:rPr lang="ko-KR" altLang="en-US" sz="1200" dirty="0">
                          <a:solidFill>
                            <a:srgbClr val="0000FF"/>
                          </a:solidFill>
                        </a:rPr>
                        <a:t>메타데이터 요청의 병렬 처리로 서버 처리량 증가</a:t>
                      </a:r>
                    </a:p>
                    <a:p>
                      <a:r>
                        <a:rPr lang="en-US" altLang="ko-KR" sz="1200" dirty="0">
                          <a:solidFill>
                            <a:srgbClr val="0000FF"/>
                          </a:solidFill>
                        </a:rPr>
                        <a:t>2. </a:t>
                      </a:r>
                      <a:r>
                        <a:rPr lang="ko-KR" altLang="en-US" sz="1200" dirty="0">
                          <a:solidFill>
                            <a:srgbClr val="0000FF"/>
                          </a:solidFill>
                        </a:rPr>
                        <a:t>중앙 관리 인터페이스를 유지하면서 노드 확장성 개선</a:t>
                      </a:r>
                      <a:endParaRPr lang="en-US" altLang="ko-KR" sz="1200" dirty="0">
                        <a:solidFill>
                          <a:srgbClr val="0000FF"/>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락</a:t>
                      </a:r>
                      <a:r>
                        <a:rPr lang="ko-KR" altLang="en-US" sz="1200" dirty="0"/>
                        <a:t> 획득 및 공유 데이터 접근에 따른 동기화 오버헤드 발생</a:t>
                      </a:r>
                      <a:r>
                        <a:rPr lang="en-US" altLang="ko-KR" sz="1200" baseline="0" dirty="0"/>
                        <a:t> (Q1)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고부하 시 </a:t>
                      </a:r>
                      <a:r>
                        <a:rPr lang="ko-KR" altLang="en-US" sz="1200" dirty="0" err="1"/>
                        <a:t>락</a:t>
                      </a:r>
                      <a:r>
                        <a:rPr lang="ko-KR" altLang="en-US" sz="1200" dirty="0"/>
                        <a:t> 경합 및 대기시간 증가로 지연 편차 확대 </a:t>
                      </a:r>
                      <a:r>
                        <a:rPr lang="en-US" altLang="ko-KR" sz="1200" dirty="0"/>
                        <a:t>(</a:t>
                      </a:r>
                      <a:r>
                        <a:rPr lang="en-US" altLang="ko-KR" sz="1200" dirty="0" smtClean="0"/>
                        <a:t>Q2)</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1429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en-US" altLang="ko-KR" sz="1200" b="0" i="0" u="none" strike="noStrike" kern="1200" cap="none" spc="0" normalizeH="0" baseline="0" noProof="0" dirty="0">
                          <a:ln>
                            <a:noFill/>
                          </a:ln>
                          <a:solidFill>
                            <a:srgbClr val="0066FF"/>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1.76→11.4 q/s (6.4x)</a:t>
                      </a:r>
                      <a:endParaRPr kumimoji="0" lang="en-US" altLang="ko-KR" sz="1100" b="0" i="0" u="none" strike="noStrike" kern="1200" cap="none" spc="0" normalizeH="0" baseline="0" noProof="0" dirty="0">
                        <a:ln>
                          <a:noFill/>
                        </a:ln>
                        <a:solidFill>
                          <a:srgbClr val="0066FF"/>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ko-KR" altLang="en-US" sz="1200" b="0" i="0" u="none" strike="noStrike" kern="1200" cap="none" spc="0" normalizeH="0" baseline="0" noProof="0" dirty="0">
                          <a:ln>
                            <a:noFill/>
                          </a:ln>
                          <a:solidFill>
                            <a:srgbClr val="0066FF"/>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1.89→0.83 (-56%)</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1200" b="0" i="0" u="none" strike="noStrike" kern="1200" cap="none" spc="0" normalizeH="0" baseline="0" noProof="0" dirty="0">
                          <a:ln>
                            <a:noFill/>
                          </a:ln>
                          <a:solidFill>
                            <a:srgbClr val="0000FF"/>
                          </a:solidFill>
                          <a:effectLst/>
                          <a:uLnTx/>
                          <a:uFillTx/>
                          <a:latin typeface="맑은 고딕" panose="020B0503020000020004" pitchFamily="50" charset="-127"/>
                          <a:ea typeface="+mn-ea"/>
                          <a:cs typeface="+mn-cs"/>
                        </a:rPr>
                        <a:t>●</a:t>
                      </a:r>
                      <a:r>
                        <a:rPr kumimoji="0" lang="en-US" altLang="ko-KR" sz="1000" b="0" i="0" u="none" strike="noStrike" kern="1200" cap="none" spc="0" normalizeH="0" baseline="0" noProof="0" dirty="0">
                          <a:ln>
                            <a:noFill/>
                          </a:ln>
                          <a:solidFill>
                            <a:srgbClr val="0000FF"/>
                          </a:solidFill>
                          <a:effectLst/>
                          <a:uLnTx/>
                          <a:uFillTx/>
                          <a:latin typeface="+mn-lt"/>
                          <a:ea typeface="맑은 고딕"/>
                          <a:cs typeface="+mn-cs"/>
                        </a:rPr>
                        <a:t> </a:t>
                      </a:r>
                      <a:r>
                        <a:rPr kumimoji="0" lang="en-US" altLang="ko-KR" sz="900" b="0" i="0" u="none" strike="noStrike" kern="1200" cap="none" spc="0" normalizeH="0" baseline="0" noProof="0" dirty="0">
                          <a:ln>
                            <a:noFill/>
                          </a:ln>
                          <a:solidFill>
                            <a:srgbClr val="0000FF"/>
                          </a:solidFill>
                          <a:effectLst/>
                          <a:uLnTx/>
                          <a:uFillTx/>
                          <a:latin typeface="+mn-lt"/>
                          <a:ea typeface="맑은 고딕"/>
                          <a:cs typeface="+mn-cs"/>
                        </a:rPr>
                        <a:t>97%</a:t>
                      </a:r>
                      <a:endParaRPr kumimoji="0" lang="en-US" altLang="ko-KR" sz="1100" b="0" i="0" u="none" strike="noStrike" kern="1200" cap="none" spc="0" normalizeH="0" baseline="0" noProof="0" dirty="0">
                        <a:ln>
                          <a:noFill/>
                        </a:ln>
                        <a:solidFill>
                          <a:srgbClr val="0000FF"/>
                        </a:solidFill>
                        <a:effectLst/>
                        <a:uLnTx/>
                        <a:uFillTx/>
                        <a:latin typeface="맑은 고딕" panose="020B0503020000020004" pitchFamily="50" charset="-127"/>
                        <a:ea typeface="+mn-ea"/>
                        <a:cs typeface="+mn-cs"/>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Q2.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smtClean="0">
                          <a:ln>
                            <a:noFill/>
                          </a:ln>
                          <a:solidFill>
                            <a:prstClr val="black"/>
                          </a:solidFill>
                          <a:effectLst/>
                          <a:uLnTx/>
                          <a:uFillTx/>
                          <a:latin typeface="+mn-lt"/>
                          <a:ea typeface="+mn-ea"/>
                          <a:cs typeface="+mn-cs"/>
                        </a:rPr>
                        <a:t>Q3.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1.76→10 q/s (5.7x)</a:t>
                      </a:r>
                      <a:endParaRPr kumimoji="0" lang="ko-KR" altLang="en-US" sz="1100" b="0" i="0" u="none" strike="noStrike" kern="1200" cap="none" spc="0" normalizeH="0" baseline="0" noProof="0" dirty="0">
                        <a:ln>
                          <a:noFill/>
                        </a:ln>
                        <a:solidFill>
                          <a:srgbClr val="0066FF"/>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12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TTFT 1.89→1.04 (-45%)</a:t>
                      </a:r>
                      <a:endParaRPr kumimoji="0" lang="ko-KR" altLang="en-US" sz="1100" b="0" i="0" u="none" strike="noStrike" kern="1200" cap="none" spc="0" normalizeH="0" baseline="0" noProof="0" dirty="0">
                        <a:ln>
                          <a:noFill/>
                        </a:ln>
                        <a:solidFill>
                          <a:srgbClr val="0066FF"/>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1200" b="0" i="0" u="none" strike="noStrike" kern="1200" cap="none" spc="0" normalizeH="0" baseline="0" noProof="0" dirty="0">
                          <a:ln>
                            <a:noFill/>
                          </a:ln>
                          <a:solidFill>
                            <a:schemeClr val="tx1"/>
                          </a:solidFill>
                          <a:effectLst/>
                          <a:uLnTx/>
                          <a:uFillTx/>
                          <a:latin typeface="맑은 고딕" panose="020B0503020000020004" pitchFamily="50" charset="-127"/>
                          <a:ea typeface="+mn-ea"/>
                          <a:cs typeface="+mn-cs"/>
                        </a:rPr>
                        <a:t>●●●</a:t>
                      </a:r>
                      <a:r>
                        <a:rPr kumimoji="0" lang="ko-KR" altLang="en-US" sz="1200" b="0" i="0" u="none" strike="noStrike" kern="1200" cap="none" spc="0" normalizeH="0" baseline="0" noProof="0" dirty="0">
                          <a:ln>
                            <a:noFill/>
                          </a:ln>
                          <a:solidFill>
                            <a:srgbClr val="0066FF"/>
                          </a:solidFill>
                          <a:effectLst/>
                          <a:uLnTx/>
                          <a:uFillTx/>
                          <a:latin typeface="맑은 고딕" panose="020B0503020000020004" pitchFamily="50" charset="-127"/>
                          <a:ea typeface="+mn-ea"/>
                          <a:cs typeface="+mn-cs"/>
                        </a:rPr>
                        <a:t> </a:t>
                      </a:r>
                      <a:r>
                        <a:rPr kumimoji="0" lang="en-US" altLang="ko-KR" sz="900" b="0" i="0" u="none" strike="noStrike" kern="1200" cap="none" spc="0" normalizeH="0" baseline="0" noProof="0" dirty="0">
                          <a:ln>
                            <a:noFill/>
                          </a:ln>
                          <a:solidFill>
                            <a:prstClr val="white">
                              <a:lumMod val="50000"/>
                            </a:prstClr>
                          </a:solidFill>
                          <a:effectLst/>
                          <a:uLnTx/>
                          <a:uFillTx/>
                          <a:latin typeface="+mn-lt"/>
                          <a:ea typeface="맑은 고딕"/>
                          <a:cs typeface="+mn-cs"/>
                        </a:rPr>
                        <a:t>99%</a:t>
                      </a:r>
                      <a:endParaRPr lang="en-US" altLang="ko-KR" sz="1100" b="0" dirty="0">
                        <a:solidFill>
                          <a:srgbClr val="0066FF"/>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029256"/>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029256"/>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lang="ko-KR" altLang="en-US" sz="700" b="1" dirty="0">
                <a:solidFill>
                  <a:srgbClr val="FFFFFF"/>
                </a:solidFill>
                <a:ea typeface="맑은 고딕"/>
              </a:rPr>
              <a:t>공유 메모리 풀</a:t>
            </a:r>
          </a:p>
        </p:txBody>
      </p:sp>
      <p:sp>
        <p:nvSpPr>
          <p:cNvPr id="184" name="Rectangle 183"/>
          <p:cNvSpPr/>
          <p:nvPr/>
        </p:nvSpPr>
        <p:spPr>
          <a:xfrm>
            <a:off x="8361103" y="2349296"/>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ea typeface="맑은 고딕"/>
              </a:rPr>
              <a:t>공유 데이터</a:t>
            </a:r>
            <a:endParaRPr lang="en-US" altLang="ko-KR" sz="900" dirty="0">
              <a:solidFill>
                <a:schemeClr val="tx1"/>
              </a:solidFill>
              <a:ea typeface="맑은 고딕"/>
            </a:endParaRPr>
          </a:p>
        </p:txBody>
      </p:sp>
      <p:sp>
        <p:nvSpPr>
          <p:cNvPr id="185" name="Rectangle 184"/>
          <p:cNvSpPr/>
          <p:nvPr/>
        </p:nvSpPr>
        <p:spPr>
          <a:xfrm>
            <a:off x="8361103" y="2733344"/>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195993"/>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3" name="제목 2"/>
          <p:cNvSpPr>
            <a:spLocks noGrp="1"/>
          </p:cNvSpPr>
          <p:nvPr>
            <p:ph type="title"/>
          </p:nvPr>
        </p:nvSpPr>
        <p:spPr/>
        <p:txBody>
          <a:bodyPr/>
          <a:lstStyle/>
          <a:p>
            <a:r>
              <a:rPr lang="en-US" altLang="ko-KR" dirty="0"/>
              <a:t>DP4. </a:t>
            </a:r>
            <a:r>
              <a:rPr lang="ko-KR" altLang="en-US" dirty="0"/>
              <a:t>서버</a:t>
            </a:r>
            <a:r>
              <a:rPr lang="en-US" altLang="ko-KR" dirty="0"/>
              <a:t> 간 KV </a:t>
            </a:r>
            <a:r>
              <a:rPr lang="ko-KR" altLang="en-US" dirty="0"/>
              <a:t>캐시 </a:t>
            </a:r>
            <a:r>
              <a:rPr lang="en-US" altLang="ko-KR" dirty="0" err="1"/>
              <a:t>공유</a:t>
            </a:r>
            <a:r>
              <a:rPr lang="ko-KR" altLang="en-US" dirty="0"/>
              <a:t>를 위한 일관성 관리 </a:t>
            </a:r>
            <a:r>
              <a:rPr lang="en-US" altLang="ko-KR" dirty="0" err="1"/>
              <a:t>구조</a:t>
            </a:r>
            <a:r>
              <a:rPr lang="en-US" altLang="ko-KR" dirty="0"/>
              <a:t> – </a:t>
            </a:r>
            <a:r>
              <a:rPr lang="ko-KR" altLang="en-US" dirty="0">
                <a:solidFill>
                  <a:srgbClr val="0000FF"/>
                </a:solidFill>
              </a:rPr>
              <a:t>보완 </a:t>
            </a:r>
            <a:r>
              <a:rPr lang="en-US" altLang="ko-KR" dirty="0">
                <a:solidFill>
                  <a:srgbClr val="0000FF"/>
                </a:solidFill>
              </a:rPr>
              <a:t>Tactic</a:t>
            </a:r>
            <a:endParaRPr lang="ko-KR" altLang="en-US" strike="sngStrike" dirty="0">
              <a:solidFill>
                <a:srgbClr val="0000FF"/>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성능</a:t>
            </a:r>
            <a:r>
              <a:rPr lang="en-US" altLang="ko-KR" sz="1400" b="1" dirty="0">
                <a:solidFill>
                  <a:schemeClr val="bg1"/>
                </a:solidFill>
              </a:rPr>
              <a:t> </a:t>
            </a:r>
            <a:r>
              <a:rPr lang="ko-KR" altLang="en-US" sz="1400" b="1" dirty="0">
                <a:solidFill>
                  <a:schemeClr val="bg1"/>
                </a:solidFill>
              </a:rPr>
              <a:t>및 시스템 확장성을 고려하여 공유 메모리 풀의 일관성 관리 최적화 구조 설계</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“KV </a:t>
            </a:r>
            <a:r>
              <a:rPr lang="ko-KR" altLang="en-US" sz="1100" dirty="0"/>
              <a:t>해시 기반 </a:t>
            </a:r>
            <a:r>
              <a:rPr lang="en-US" altLang="ko-KR" sz="1100" dirty="0"/>
              <a:t>Metadata </a:t>
            </a:r>
            <a:r>
              <a:rPr lang="en-US" altLang="ko-KR" sz="1100" dirty="0" err="1"/>
              <a:t>Sharding</a:t>
            </a:r>
            <a:r>
              <a:rPr lang="en-US" altLang="ko-KR" sz="1100" dirty="0"/>
              <a:t> </a:t>
            </a:r>
            <a:r>
              <a:rPr lang="ko-KR" altLang="en-US" sz="1100" dirty="0"/>
              <a:t>및 </a:t>
            </a:r>
            <a:r>
              <a:rPr lang="en-US" altLang="ko-KR" sz="1100" dirty="0"/>
              <a:t>Shard</a:t>
            </a:r>
            <a:r>
              <a:rPr lang="ko-KR" altLang="en-US" sz="1100" dirty="0"/>
              <a:t>별 독립 </a:t>
            </a:r>
            <a:r>
              <a:rPr lang="en-US" altLang="ko-KR" sz="1100" dirty="0"/>
              <a:t>Worker </a:t>
            </a:r>
            <a:r>
              <a:rPr lang="ko-KR" altLang="en-US" sz="1100" dirty="0"/>
              <a:t>구성</a:t>
            </a:r>
            <a:r>
              <a:rPr lang="en-US" altLang="ko-KR" sz="1100" dirty="0"/>
              <a:t> ”</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노드가 2단 락으로 </a:t>
            </a:r>
            <a:r>
              <a:rPr lang="en-US" altLang="ko-KR" sz="1100" dirty="0" err="1"/>
              <a:t>직접</a:t>
            </a:r>
            <a:r>
              <a:rPr lang="en-US" altLang="ko-KR" sz="1100" dirty="0"/>
              <a:t> </a:t>
            </a:r>
            <a:r>
              <a:rPr lang="en-US" altLang="ko-KR" sz="1100" dirty="0" err="1"/>
              <a:t>갱신</a:t>
            </a:r>
            <a:r>
              <a:rPr lang="en-US" altLang="ko-KR" sz="1100" dirty="0"/>
              <a:t>”</a:t>
            </a:r>
          </a:p>
        </p:txBody>
      </p:sp>
      <p:sp>
        <p:nvSpPr>
          <p:cNvPr id="170" name="Rectangle 169"/>
          <p:cNvSpPr/>
          <p:nvPr/>
        </p:nvSpPr>
        <p:spPr>
          <a:xfrm>
            <a:off x="6675120" y="2120696"/>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120696"/>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grpSp>
        <p:nvGrpSpPr>
          <p:cNvPr id="44" name="그룹 43"/>
          <p:cNvGrpSpPr/>
          <p:nvPr/>
        </p:nvGrpSpPr>
        <p:grpSpPr>
          <a:xfrm>
            <a:off x="8327898" y="3851498"/>
            <a:ext cx="1737360" cy="438382"/>
            <a:chOff x="8412480" y="3948814"/>
            <a:chExt cx="1737360" cy="482220"/>
          </a:xfrm>
        </p:grpSpPr>
        <p:sp>
          <p:nvSpPr>
            <p:cNvPr id="187" name="Rectangle 186"/>
            <p:cNvSpPr/>
            <p:nvPr/>
          </p:nvSpPr>
          <p:spPr>
            <a:xfrm>
              <a:off x="8458200" y="3948814"/>
              <a:ext cx="1691640" cy="4822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sp>
          <p:nvSpPr>
            <p:cNvPr id="188" name="Rectangle 187"/>
            <p:cNvSpPr/>
            <p:nvPr/>
          </p:nvSpPr>
          <p:spPr>
            <a:xfrm>
              <a:off x="8412480" y="4003678"/>
              <a:ext cx="91440" cy="50292"/>
            </a:xfrm>
            <a:prstGeom prst="rect">
              <a:avLst/>
            </a:prstGeom>
            <a:solidFill>
              <a:srgbClr val="FDECEA"/>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grpSp>
      <p:cxnSp>
        <p:nvCxnSpPr>
          <p:cNvPr id="190" name="Connector 189"/>
          <p:cNvCxnSpPr/>
          <p:nvPr/>
        </p:nvCxnSpPr>
        <p:spPr>
          <a:xfrm>
            <a:off x="7986148" y="254132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4635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605795"/>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411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254552"/>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1768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286920"/>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1024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6" name="C2 lock-manager link"/>
          <p:cNvCxnSpPr/>
          <p:nvPr/>
        </p:nvCxnSpPr>
        <p:spPr>
          <a:xfrm>
            <a:off x="9304020" y="3556764"/>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618501"/>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208" name="Rectangle 35"/>
          <p:cNvSpPr/>
          <p:nvPr/>
        </p:nvSpPr>
        <p:spPr>
          <a:xfrm>
            <a:off x="6784848" y="2865932"/>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2865932"/>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grpSp>
        <p:nvGrpSpPr>
          <p:cNvPr id="4" name="그룹 3">
            <a:extLst>
              <a:ext uri="{FF2B5EF4-FFF2-40B4-BE49-F238E27FC236}">
                <a16:creationId xmlns:a16="http://schemas.microsoft.com/office/drawing/2014/main" id="{80A9BCA1-FAEA-4612-92CB-05CCBDD3F489}"/>
              </a:ext>
            </a:extLst>
          </p:cNvPr>
          <p:cNvGrpSpPr/>
          <p:nvPr/>
        </p:nvGrpSpPr>
        <p:grpSpPr>
          <a:xfrm>
            <a:off x="1448656" y="1847396"/>
            <a:ext cx="4668457" cy="1771105"/>
            <a:chOff x="1261872" y="2029255"/>
            <a:chExt cx="5135303" cy="2143037"/>
          </a:xfrm>
        </p:grpSpPr>
        <p:sp>
          <p:nvSpPr>
            <p:cNvPr id="140" name="Rectangle 139"/>
            <p:cNvSpPr/>
            <p:nvPr/>
          </p:nvSpPr>
          <p:spPr>
            <a:xfrm>
              <a:off x="1261872" y="2120695"/>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endParaRPr sz="700" b="1" i="0" dirty="0">
                <a:solidFill>
                  <a:schemeClr val="tx1"/>
                </a:solidFill>
                <a:latin typeface="맑은 고딕"/>
                <a:ea typeface="맑은 고딕"/>
              </a:endParaRPr>
            </a:p>
          </p:txBody>
        </p:sp>
        <p:sp>
          <p:nvSpPr>
            <p:cNvPr id="142" name="Rectangle 141"/>
            <p:cNvSpPr/>
            <p:nvPr/>
          </p:nvSpPr>
          <p:spPr>
            <a:xfrm>
              <a:off x="1371600"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120696"/>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5"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endParaRPr sz="700" b="1" dirty="0">
                <a:solidFill>
                  <a:schemeClr val="tx1"/>
                </a:solidFill>
                <a:latin typeface="맑은 고딕"/>
                <a:ea typeface="맑은 고딕"/>
              </a:endParaRPr>
            </a:p>
          </p:txBody>
        </p:sp>
        <p:sp>
          <p:nvSpPr>
            <p:cNvPr id="148" name="Rectangle 147"/>
            <p:cNvSpPr/>
            <p:nvPr/>
          </p:nvSpPr>
          <p:spPr>
            <a:xfrm>
              <a:off x="5089583"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029255"/>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029256"/>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lang="ko-KR" altLang="en-US" sz="700" b="1" dirty="0">
                  <a:solidFill>
                    <a:srgbClr val="FFFFFF"/>
                  </a:solidFill>
                  <a:ea typeface="맑은 고딕"/>
                </a:rPr>
                <a:t>공유 메모리 풀</a:t>
              </a:r>
            </a:p>
          </p:txBody>
        </p:sp>
        <p:sp>
          <p:nvSpPr>
            <p:cNvPr id="154" name="Rectangle 153"/>
            <p:cNvSpPr/>
            <p:nvPr/>
          </p:nvSpPr>
          <p:spPr>
            <a:xfrm>
              <a:off x="3124504" y="2373264"/>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latin typeface="맑은 고딕"/>
                  <a:ea typeface="맑은 고딕"/>
                </a:rPr>
                <a:t>공유 데이터</a:t>
              </a:r>
              <a:endParaRPr sz="900" dirty="0">
                <a:solidFill>
                  <a:schemeClr val="tx1"/>
                </a:solidFill>
                <a:latin typeface="맑은 고딕"/>
                <a:ea typeface="맑은 고딕"/>
              </a:endParaRPr>
            </a:p>
          </p:txBody>
        </p:sp>
        <p:cxnSp>
          <p:nvCxnSpPr>
            <p:cNvPr id="159" name="Connector 158"/>
            <p:cNvCxnSpPr/>
            <p:nvPr/>
          </p:nvCxnSpPr>
          <p:spPr>
            <a:xfrm>
              <a:off x="2549632" y="3344010"/>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24303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285858"/>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1885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04" name="C1 slot-server link"/>
            <p:cNvCxnSpPr>
              <a:cxnSpLocks/>
            </p:cNvCxnSpPr>
            <p:nvPr/>
          </p:nvCxnSpPr>
          <p:spPr>
            <a:xfrm>
              <a:off x="3890772" y="3573688"/>
              <a:ext cx="0" cy="5986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630728"/>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sp>
          <p:nvSpPr>
            <p:cNvPr id="130" name="Rectangle 35"/>
            <p:cNvSpPr/>
            <p:nvPr/>
          </p:nvSpPr>
          <p:spPr>
            <a:xfrm>
              <a:off x="1368310"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a:t>
              </a:r>
              <a:r>
                <a:rPr lang="ko-KR" altLang="en-US" sz="700" dirty="0">
                  <a:solidFill>
                    <a:schemeClr val="tx1"/>
                  </a:solidFill>
                  <a:ea typeface="맑은 고딕"/>
                </a:rPr>
                <a:t>캐시 우회</a:t>
              </a:r>
              <a:r>
                <a:rPr lang="en-US" altLang="ko-KR" sz="700" dirty="0">
                  <a:solidFill>
                    <a:schemeClr val="tx1"/>
                  </a:solidFill>
                  <a:ea typeface="맑은 고딕"/>
                </a:rPr>
                <a:t>)</a:t>
              </a:r>
            </a:p>
            <a:p>
              <a:pPr algn="ctr"/>
              <a:r>
                <a:rPr lang="ko-KR" altLang="en-US" sz="700" dirty="0">
                  <a:solidFill>
                    <a:schemeClr val="tx1"/>
                  </a:solidFill>
                  <a:ea typeface="맑은 고딕"/>
                </a:rPr>
                <a:t>응답 읽기</a:t>
              </a:r>
            </a:p>
          </p:txBody>
        </p:sp>
        <p:sp>
          <p:nvSpPr>
            <p:cNvPr id="132" name="Rectangle 35"/>
            <p:cNvSpPr/>
            <p:nvPr/>
          </p:nvSpPr>
          <p:spPr>
            <a:xfrm>
              <a:off x="5090865"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a:t>
              </a:r>
              <a:r>
                <a:rPr lang="ko-KR" altLang="en-US" sz="700" dirty="0">
                  <a:solidFill>
                    <a:schemeClr val="tx1"/>
                  </a:solidFill>
                  <a:ea typeface="맑은 고딕"/>
                </a:rPr>
                <a:t>캐시 우회</a:t>
              </a:r>
              <a:r>
                <a:rPr lang="en-US" altLang="ko-KR" sz="700" dirty="0">
                  <a:solidFill>
                    <a:schemeClr val="tx1"/>
                  </a:solidFill>
                  <a:ea typeface="맑은 고딕"/>
                </a:rPr>
                <a:t>)</a:t>
              </a:r>
            </a:p>
            <a:p>
              <a:pPr algn="ctr"/>
              <a:r>
                <a:rPr lang="ko-KR" altLang="en-US" sz="700" dirty="0">
                  <a:solidFill>
                    <a:schemeClr val="tx1"/>
                  </a:solidFill>
                  <a:ea typeface="맑은 고딕"/>
                </a:rPr>
                <a:t>응답 읽기</a:t>
              </a:r>
            </a:p>
          </p:txBody>
        </p:sp>
        <p:sp>
          <p:nvSpPr>
            <p:cNvPr id="135" name="Rectangle 37"/>
            <p:cNvSpPr/>
            <p:nvPr/>
          </p:nvSpPr>
          <p:spPr>
            <a:xfrm>
              <a:off x="1399032" y="371974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3726096"/>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13" name="Rectangle 48"/>
            <p:cNvSpPr/>
            <p:nvPr/>
          </p:nvSpPr>
          <p:spPr>
            <a:xfrm>
              <a:off x="3110754" y="2891678"/>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p:txBody>
        </p:sp>
        <p:sp>
          <p:nvSpPr>
            <p:cNvPr id="214" name="Oval 159"/>
            <p:cNvSpPr/>
            <p:nvPr/>
          </p:nvSpPr>
          <p:spPr>
            <a:xfrm>
              <a:off x="3667251" y="362504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078856"/>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297788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51956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427509"/>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046260"/>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29452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62281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519568"/>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427509"/>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cxnSp>
        <p:nvCxnSpPr>
          <p:cNvPr id="229" name="Connector 189"/>
          <p:cNvCxnSpPr/>
          <p:nvPr/>
        </p:nvCxnSpPr>
        <p:spPr>
          <a:xfrm>
            <a:off x="7379970" y="3424292"/>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4239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6020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430701"/>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4084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298900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29112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63089" y="3002880"/>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281842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6020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1255880" y="4222474"/>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50169" y="4010261"/>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381265"/>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381265"/>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sp>
        <p:nvSpPr>
          <p:cNvPr id="120" name="직사각형 119">
            <a:extLst>
              <a:ext uri="{FF2B5EF4-FFF2-40B4-BE49-F238E27FC236}">
                <a16:creationId xmlns:a16="http://schemas.microsoft.com/office/drawing/2014/main" id="{AB71E37E-1E20-4358-BCBA-5681E2D81FAD}"/>
              </a:ext>
            </a:extLst>
          </p:cNvPr>
          <p:cNvSpPr/>
          <p:nvPr/>
        </p:nvSpPr>
        <p:spPr>
          <a:xfrm>
            <a:off x="1100826" y="982690"/>
            <a:ext cx="5492576" cy="56149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grpSp>
        <p:nvGrpSpPr>
          <p:cNvPr id="2" name="그룹 1">
            <a:extLst>
              <a:ext uri="{FF2B5EF4-FFF2-40B4-BE49-F238E27FC236}">
                <a16:creationId xmlns:a16="http://schemas.microsoft.com/office/drawing/2014/main" id="{C7DD5F2C-51E6-4D74-83EF-A4160F72D0A7}"/>
              </a:ext>
            </a:extLst>
          </p:cNvPr>
          <p:cNvGrpSpPr/>
          <p:nvPr/>
        </p:nvGrpSpPr>
        <p:grpSpPr>
          <a:xfrm>
            <a:off x="2279209" y="3673870"/>
            <a:ext cx="3027586" cy="1114973"/>
            <a:chOff x="7360920" y="3300984"/>
            <a:chExt cx="3977639" cy="1407513"/>
          </a:xfrm>
        </p:grpSpPr>
        <p:sp>
          <p:nvSpPr>
            <p:cNvPr id="107" name="Rectangle 323">
              <a:extLst>
                <a:ext uri="{FF2B5EF4-FFF2-40B4-BE49-F238E27FC236}">
                  <a16:creationId xmlns:a16="http://schemas.microsoft.com/office/drawing/2014/main" id="{F3EF4309-C200-4C7D-A2E0-E20290214D3B}"/>
                </a:ext>
              </a:extLst>
            </p:cNvPr>
            <p:cNvSpPr/>
            <p:nvPr/>
          </p:nvSpPr>
          <p:spPr>
            <a:xfrm>
              <a:off x="7360920" y="3300984"/>
              <a:ext cx="3977639" cy="1189411"/>
            </a:xfrm>
            <a:prstGeom prst="rect">
              <a:avLst/>
            </a:prstGeom>
            <a:solidFill>
              <a:srgbClr val="FFFFFF"/>
            </a:solidFill>
            <a:ln w="9525">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a:extLst>
                <a:ext uri="{FF2B5EF4-FFF2-40B4-BE49-F238E27FC236}">
                  <a16:creationId xmlns:a16="http://schemas.microsoft.com/office/drawing/2014/main" id="{825F9BE9-7BDB-4B08-86A4-D6EEB192A0F4}"/>
                </a:ext>
              </a:extLst>
            </p:cNvPr>
            <p:cNvSpPr txBox="1"/>
            <p:nvPr/>
          </p:nvSpPr>
          <p:spPr>
            <a:xfrm>
              <a:off x="7389801" y="3308854"/>
              <a:ext cx="3938257" cy="210792"/>
            </a:xfrm>
            <a:prstGeom prst="rect">
              <a:avLst/>
            </a:prstGeom>
            <a:solidFill>
              <a:schemeClr val="accent2">
                <a:lumMod val="20000"/>
                <a:lumOff val="80000"/>
              </a:schemeClr>
            </a:solidFill>
          </p:spPr>
          <p:txBody>
            <a:bodyPr wrap="square" lIns="32004" tIns="10972" rIns="32004" bIns="10972" anchor="ctr">
              <a:noAutofit/>
            </a:bodyPr>
            <a:lstStyle/>
            <a:p>
              <a:pPr algn="ctr">
                <a:lnSpc>
                  <a:spcPct val="112000"/>
                </a:lnSpc>
                <a:spcBef>
                  <a:spcPts val="0"/>
                </a:spcBef>
                <a:spcAft>
                  <a:spcPts val="0"/>
                </a:spcAft>
              </a:pPr>
              <a:r>
                <a:rPr sz="919" b="1" i="0" dirty="0">
                  <a:latin typeface="맑은 고딕"/>
                </a:rPr>
                <a:t>Central Metadata Service</a:t>
              </a:r>
            </a:p>
          </p:txBody>
        </p:sp>
        <p:sp>
          <p:nvSpPr>
            <p:cNvPr id="110" name="Rectangle 326">
              <a:extLst>
                <a:ext uri="{FF2B5EF4-FFF2-40B4-BE49-F238E27FC236}">
                  <a16:creationId xmlns:a16="http://schemas.microsoft.com/office/drawing/2014/main" id="{DDE1E66E-F345-4106-907C-07940FC245C6}"/>
                </a:ext>
              </a:extLst>
            </p:cNvPr>
            <p:cNvSpPr/>
            <p:nvPr/>
          </p:nvSpPr>
          <p:spPr>
            <a:xfrm>
              <a:off x="7443216" y="3593592"/>
              <a:ext cx="3822192" cy="246888"/>
            </a:xfrm>
            <a:prstGeom prst="rect">
              <a:avLst/>
            </a:prstGeom>
            <a:solidFill>
              <a:schemeClr val="bg1"/>
            </a:solidFill>
            <a:ln w="11430">
              <a:solidFill>
                <a:srgbClr val="888C91"/>
              </a:solidFill>
            </a:ln>
          </p:spPr>
          <p:style>
            <a:lnRef idx="1">
              <a:schemeClr val="accent1"/>
            </a:lnRef>
            <a:fillRef idx="3">
              <a:schemeClr val="accent1"/>
            </a:fillRef>
            <a:effectRef idx="2">
              <a:schemeClr val="accent1"/>
            </a:effectRef>
            <a:fontRef idx="minor">
              <a:schemeClr val="lt1"/>
            </a:fontRef>
          </p:style>
          <p:txBody>
            <a:bodyPr wrap="square" lIns="32004" tIns="10972" rIns="32004" bIns="10972" rtlCol="0" anchor="ctr">
              <a:noAutofit/>
            </a:bodyPr>
            <a:lstStyle/>
            <a:p>
              <a:pPr algn="ctr">
                <a:lnSpc>
                  <a:spcPct val="112000"/>
                </a:lnSpc>
                <a:spcBef>
                  <a:spcPts val="0"/>
                </a:spcBef>
                <a:spcAft>
                  <a:spcPts val="0"/>
                </a:spcAft>
              </a:pPr>
              <a:r>
                <a:rPr sz="900" i="0" dirty="0">
                  <a:solidFill>
                    <a:srgbClr val="1C1C1C"/>
                  </a:solidFill>
                  <a:latin typeface="맑은 고딕"/>
                </a:rPr>
                <a:t>Shard Router  |  hash(</a:t>
              </a:r>
              <a:r>
                <a:rPr lang="en-US" sz="900" i="0" dirty="0">
                  <a:solidFill>
                    <a:srgbClr val="1C1C1C"/>
                  </a:solidFill>
                  <a:latin typeface="맑은 고딕"/>
                </a:rPr>
                <a:t>Data Object ID</a:t>
              </a:r>
              <a:r>
                <a:rPr sz="900" i="0" dirty="0">
                  <a:solidFill>
                    <a:srgbClr val="1C1C1C"/>
                  </a:solidFill>
                  <a:latin typeface="맑은 고딕"/>
                </a:rPr>
                <a:t>) → Worker</a:t>
              </a:r>
            </a:p>
          </p:txBody>
        </p:sp>
        <p:sp>
          <p:nvSpPr>
            <p:cNvPr id="111" name="Rectangle 327">
              <a:extLst>
                <a:ext uri="{FF2B5EF4-FFF2-40B4-BE49-F238E27FC236}">
                  <a16:creationId xmlns:a16="http://schemas.microsoft.com/office/drawing/2014/main" id="{20542A6F-E606-48F9-9328-78C58F84D5E8}"/>
                </a:ext>
              </a:extLst>
            </p:cNvPr>
            <p:cNvSpPr/>
            <p:nvPr/>
          </p:nvSpPr>
          <p:spPr>
            <a:xfrm>
              <a:off x="7498079" y="4023360"/>
              <a:ext cx="1170432" cy="411480"/>
            </a:xfrm>
            <a:prstGeom prst="rect">
              <a:avLst/>
            </a:prstGeom>
            <a:solidFill>
              <a:schemeClr val="bg1"/>
            </a:solidFill>
            <a:ln w="10160">
              <a:solidFill>
                <a:srgbClr val="1C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a:extLst>
                <a:ext uri="{FF2B5EF4-FFF2-40B4-BE49-F238E27FC236}">
                  <a16:creationId xmlns:a16="http://schemas.microsoft.com/office/drawing/2014/main" id="{0746786E-0A9A-486C-9581-CE210FB844D6}"/>
                </a:ext>
              </a:extLst>
            </p:cNvPr>
            <p:cNvSpPr txBox="1"/>
            <p:nvPr/>
          </p:nvSpPr>
          <p:spPr>
            <a:xfrm>
              <a:off x="7498079" y="4041648"/>
              <a:ext cx="1170432" cy="164592"/>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860" b="1" i="0" dirty="0">
                  <a:solidFill>
                    <a:srgbClr val="1C1C1C"/>
                  </a:solidFill>
                  <a:latin typeface="맑은 고딕"/>
                </a:rPr>
                <a:t>Worker 0</a:t>
              </a:r>
            </a:p>
          </p:txBody>
        </p:sp>
        <p:sp>
          <p:nvSpPr>
            <p:cNvPr id="113" name="TextBox 112">
              <a:extLst>
                <a:ext uri="{FF2B5EF4-FFF2-40B4-BE49-F238E27FC236}">
                  <a16:creationId xmlns:a16="http://schemas.microsoft.com/office/drawing/2014/main" id="{EF307C70-7FFF-42E0-A240-365C21BA9626}"/>
                </a:ext>
              </a:extLst>
            </p:cNvPr>
            <p:cNvSpPr txBox="1"/>
            <p:nvPr/>
          </p:nvSpPr>
          <p:spPr>
            <a:xfrm>
              <a:off x="7498079" y="4242816"/>
              <a:ext cx="1170432" cy="146304"/>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740" b="0" i="0" dirty="0">
                  <a:solidFill>
                    <a:srgbClr val="373737"/>
                  </a:solidFill>
                  <a:latin typeface="맑은 고딕"/>
                </a:rPr>
                <a:t>Shard S0 · LRU</a:t>
              </a:r>
            </a:p>
          </p:txBody>
        </p:sp>
        <p:sp>
          <p:nvSpPr>
            <p:cNvPr id="114" name="Rectangle 330">
              <a:extLst>
                <a:ext uri="{FF2B5EF4-FFF2-40B4-BE49-F238E27FC236}">
                  <a16:creationId xmlns:a16="http://schemas.microsoft.com/office/drawing/2014/main" id="{5C372C1C-0123-47D4-A750-C3F0E0BCEB87}"/>
                </a:ext>
              </a:extLst>
            </p:cNvPr>
            <p:cNvSpPr/>
            <p:nvPr/>
          </p:nvSpPr>
          <p:spPr>
            <a:xfrm>
              <a:off x="8769096" y="4023360"/>
              <a:ext cx="1170432" cy="411480"/>
            </a:xfrm>
            <a:prstGeom prst="rect">
              <a:avLst/>
            </a:prstGeom>
            <a:solidFill>
              <a:schemeClr val="bg1"/>
            </a:solidFill>
            <a:ln w="10160">
              <a:solidFill>
                <a:srgbClr val="1C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a:extLst>
                <a:ext uri="{FF2B5EF4-FFF2-40B4-BE49-F238E27FC236}">
                  <a16:creationId xmlns:a16="http://schemas.microsoft.com/office/drawing/2014/main" id="{0CCE53D9-4E12-4163-BA6A-EE177F9A9AA6}"/>
                </a:ext>
              </a:extLst>
            </p:cNvPr>
            <p:cNvSpPr txBox="1"/>
            <p:nvPr/>
          </p:nvSpPr>
          <p:spPr>
            <a:xfrm>
              <a:off x="8769096" y="4041648"/>
              <a:ext cx="1170432" cy="164592"/>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860" b="1" i="0">
                  <a:solidFill>
                    <a:srgbClr val="1C1C1C"/>
                  </a:solidFill>
                  <a:latin typeface="맑은 고딕"/>
                </a:rPr>
                <a:t>Worker 1</a:t>
              </a:r>
            </a:p>
          </p:txBody>
        </p:sp>
        <p:sp>
          <p:nvSpPr>
            <p:cNvPr id="116" name="TextBox 115">
              <a:extLst>
                <a:ext uri="{FF2B5EF4-FFF2-40B4-BE49-F238E27FC236}">
                  <a16:creationId xmlns:a16="http://schemas.microsoft.com/office/drawing/2014/main" id="{E34D97CF-8C50-4A89-AC10-66F126BAAB27}"/>
                </a:ext>
              </a:extLst>
            </p:cNvPr>
            <p:cNvSpPr txBox="1"/>
            <p:nvPr/>
          </p:nvSpPr>
          <p:spPr>
            <a:xfrm>
              <a:off x="8769096" y="4242816"/>
              <a:ext cx="1170432" cy="146304"/>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740" b="0" i="0">
                  <a:solidFill>
                    <a:srgbClr val="373737"/>
                  </a:solidFill>
                  <a:latin typeface="맑은 고딕"/>
                </a:rPr>
                <a:t>Shard S1 · LRU</a:t>
              </a:r>
            </a:p>
          </p:txBody>
        </p:sp>
        <p:sp>
          <p:nvSpPr>
            <p:cNvPr id="117" name="Rectangle 333">
              <a:extLst>
                <a:ext uri="{FF2B5EF4-FFF2-40B4-BE49-F238E27FC236}">
                  <a16:creationId xmlns:a16="http://schemas.microsoft.com/office/drawing/2014/main" id="{3478BB35-EDD9-4AF8-B638-6F739C780025}"/>
                </a:ext>
              </a:extLst>
            </p:cNvPr>
            <p:cNvSpPr/>
            <p:nvPr/>
          </p:nvSpPr>
          <p:spPr>
            <a:xfrm>
              <a:off x="10040112" y="4023360"/>
              <a:ext cx="1170432" cy="411480"/>
            </a:xfrm>
            <a:prstGeom prst="rect">
              <a:avLst/>
            </a:prstGeom>
            <a:solidFill>
              <a:schemeClr val="bg1"/>
            </a:solidFill>
            <a:ln w="10160">
              <a:solidFill>
                <a:srgbClr val="1C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8A476709-D627-400C-AD76-E4C93A32EBE2}"/>
                </a:ext>
              </a:extLst>
            </p:cNvPr>
            <p:cNvSpPr txBox="1"/>
            <p:nvPr/>
          </p:nvSpPr>
          <p:spPr>
            <a:xfrm>
              <a:off x="10040112" y="4041648"/>
              <a:ext cx="1170432" cy="164592"/>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860" b="1" i="0">
                  <a:solidFill>
                    <a:srgbClr val="1C1C1C"/>
                  </a:solidFill>
                  <a:latin typeface="맑은 고딕"/>
                </a:rPr>
                <a:t>Worker 2</a:t>
              </a:r>
            </a:p>
          </p:txBody>
        </p:sp>
        <p:sp>
          <p:nvSpPr>
            <p:cNvPr id="119" name="TextBox 118">
              <a:extLst>
                <a:ext uri="{FF2B5EF4-FFF2-40B4-BE49-F238E27FC236}">
                  <a16:creationId xmlns:a16="http://schemas.microsoft.com/office/drawing/2014/main" id="{730905E6-94BD-4C11-BE84-78501AF0A6AB}"/>
                </a:ext>
              </a:extLst>
            </p:cNvPr>
            <p:cNvSpPr txBox="1"/>
            <p:nvPr/>
          </p:nvSpPr>
          <p:spPr>
            <a:xfrm>
              <a:off x="10040112" y="4242816"/>
              <a:ext cx="1170432" cy="146304"/>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740" b="0" i="0" dirty="0">
                  <a:solidFill>
                    <a:srgbClr val="373737"/>
                  </a:solidFill>
                  <a:latin typeface="맑은 고딕"/>
                </a:rPr>
                <a:t>Shard S2 · LRU</a:t>
              </a:r>
            </a:p>
          </p:txBody>
        </p:sp>
        <p:cxnSp>
          <p:nvCxnSpPr>
            <p:cNvPr id="127" name="Connector 337">
              <a:extLst>
                <a:ext uri="{FF2B5EF4-FFF2-40B4-BE49-F238E27FC236}">
                  <a16:creationId xmlns:a16="http://schemas.microsoft.com/office/drawing/2014/main" id="{E4A9BD72-EC30-4BA7-8048-5E9667C4236B}"/>
                </a:ext>
              </a:extLst>
            </p:cNvPr>
            <p:cNvCxnSpPr/>
            <p:nvPr/>
          </p:nvCxnSpPr>
          <p:spPr>
            <a:xfrm>
              <a:off x="9317736" y="3840480"/>
              <a:ext cx="0" cy="91440"/>
            </a:xfrm>
            <a:prstGeom prst="line">
              <a:avLst/>
            </a:prstGeom>
            <a:ln w="16510">
              <a:solidFill>
                <a:srgbClr val="2D5794"/>
              </a:solidFill>
            </a:ln>
          </p:spPr>
          <p:style>
            <a:lnRef idx="2">
              <a:schemeClr val="accent1"/>
            </a:lnRef>
            <a:fillRef idx="0">
              <a:schemeClr val="accent1"/>
            </a:fillRef>
            <a:effectRef idx="1">
              <a:schemeClr val="accent1"/>
            </a:effectRef>
            <a:fontRef idx="minor">
              <a:schemeClr val="tx1"/>
            </a:fontRef>
          </p:style>
        </p:cxnSp>
        <p:cxnSp>
          <p:nvCxnSpPr>
            <p:cNvPr id="131" name="Connector 338">
              <a:extLst>
                <a:ext uri="{FF2B5EF4-FFF2-40B4-BE49-F238E27FC236}">
                  <a16:creationId xmlns:a16="http://schemas.microsoft.com/office/drawing/2014/main" id="{FC0EE07D-7E24-4865-8965-B09EEEEF11F7}"/>
                </a:ext>
              </a:extLst>
            </p:cNvPr>
            <p:cNvCxnSpPr/>
            <p:nvPr/>
          </p:nvCxnSpPr>
          <p:spPr>
            <a:xfrm>
              <a:off x="8074152" y="3931920"/>
              <a:ext cx="2523744" cy="0"/>
            </a:xfrm>
            <a:prstGeom prst="line">
              <a:avLst/>
            </a:prstGeom>
            <a:ln w="15875">
              <a:solidFill>
                <a:srgbClr val="2D5794"/>
              </a:solidFill>
            </a:ln>
          </p:spPr>
          <p:style>
            <a:lnRef idx="2">
              <a:schemeClr val="accent1"/>
            </a:lnRef>
            <a:fillRef idx="0">
              <a:schemeClr val="accent1"/>
            </a:fillRef>
            <a:effectRef idx="1">
              <a:schemeClr val="accent1"/>
            </a:effectRef>
            <a:fontRef idx="minor">
              <a:schemeClr val="tx1"/>
            </a:fontRef>
          </p:style>
        </p:cxnSp>
        <p:cxnSp>
          <p:nvCxnSpPr>
            <p:cNvPr id="133" name="Connector 339">
              <a:extLst>
                <a:ext uri="{FF2B5EF4-FFF2-40B4-BE49-F238E27FC236}">
                  <a16:creationId xmlns:a16="http://schemas.microsoft.com/office/drawing/2014/main" id="{0E26A8A2-AA32-472C-BFEB-3E8765219CFD}"/>
                </a:ext>
              </a:extLst>
            </p:cNvPr>
            <p:cNvCxnSpPr/>
            <p:nvPr/>
          </p:nvCxnSpPr>
          <p:spPr>
            <a:xfrm>
              <a:off x="8083296" y="3931920"/>
              <a:ext cx="0" cy="91440"/>
            </a:xfrm>
            <a:prstGeom prst="line">
              <a:avLst/>
            </a:prstGeom>
            <a:ln w="15875">
              <a:solidFill>
                <a:srgbClr val="2D579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4" name="Connector 340">
              <a:extLst>
                <a:ext uri="{FF2B5EF4-FFF2-40B4-BE49-F238E27FC236}">
                  <a16:creationId xmlns:a16="http://schemas.microsoft.com/office/drawing/2014/main" id="{0E952D8A-2E31-4377-9C4D-B444607E7A66}"/>
                </a:ext>
              </a:extLst>
            </p:cNvPr>
            <p:cNvCxnSpPr/>
            <p:nvPr/>
          </p:nvCxnSpPr>
          <p:spPr>
            <a:xfrm>
              <a:off x="9354312" y="3931920"/>
              <a:ext cx="0" cy="91440"/>
            </a:xfrm>
            <a:prstGeom prst="line">
              <a:avLst/>
            </a:prstGeom>
            <a:ln w="15875">
              <a:solidFill>
                <a:srgbClr val="2D579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9" name="Connector 341">
              <a:extLst>
                <a:ext uri="{FF2B5EF4-FFF2-40B4-BE49-F238E27FC236}">
                  <a16:creationId xmlns:a16="http://schemas.microsoft.com/office/drawing/2014/main" id="{23FDAB63-4F84-4566-8E6A-C291A10BA8ED}"/>
                </a:ext>
              </a:extLst>
            </p:cNvPr>
            <p:cNvCxnSpPr/>
            <p:nvPr/>
          </p:nvCxnSpPr>
          <p:spPr>
            <a:xfrm>
              <a:off x="10625328" y="3931920"/>
              <a:ext cx="0" cy="91440"/>
            </a:xfrm>
            <a:prstGeom prst="line">
              <a:avLst/>
            </a:prstGeom>
            <a:ln w="15875">
              <a:solidFill>
                <a:srgbClr val="2D5794"/>
              </a:solidFill>
              <a:tailEnd type="triangle" w="sm" len="sm"/>
            </a:ln>
          </p:spPr>
          <p:style>
            <a:lnRef idx="2">
              <a:schemeClr val="accent1"/>
            </a:lnRef>
            <a:fillRef idx="0">
              <a:schemeClr val="accent1"/>
            </a:fillRef>
            <a:effectRef idx="1">
              <a:schemeClr val="accent1"/>
            </a:effectRef>
            <a:fontRef idx="minor">
              <a:schemeClr val="tx1"/>
            </a:fontRef>
          </p:style>
        </p:cxnSp>
        <p:sp>
          <p:nvSpPr>
            <p:cNvPr id="143" name="TextBox 142">
              <a:extLst>
                <a:ext uri="{FF2B5EF4-FFF2-40B4-BE49-F238E27FC236}">
                  <a16:creationId xmlns:a16="http://schemas.microsoft.com/office/drawing/2014/main" id="{9747C3D2-2124-4271-B457-FF6FCE5D8717}"/>
                </a:ext>
              </a:extLst>
            </p:cNvPr>
            <p:cNvSpPr txBox="1"/>
            <p:nvPr/>
          </p:nvSpPr>
          <p:spPr>
            <a:xfrm>
              <a:off x="7413267" y="4553049"/>
              <a:ext cx="3749039" cy="155448"/>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lang="en-US" sz="810" b="1" dirty="0">
                  <a:solidFill>
                    <a:srgbClr val="2D5794"/>
                  </a:solidFill>
                  <a:latin typeface="맑은 고딕"/>
                </a:rPr>
                <a:t>Shard </a:t>
              </a:r>
              <a:r>
                <a:rPr sz="810" b="1" i="0" dirty="0">
                  <a:solidFill>
                    <a:srgbClr val="2D5794"/>
                  </a:solidFill>
                  <a:latin typeface="맑은 고딕"/>
                </a:rPr>
                <a:t>별 Metadata / Allocator / LRU </a:t>
              </a:r>
              <a:r>
                <a:rPr sz="810" b="1" i="0" dirty="0" err="1">
                  <a:solidFill>
                    <a:srgbClr val="2D5794"/>
                  </a:solidFill>
                  <a:latin typeface="맑은 고딕"/>
                </a:rPr>
                <a:t>독립</a:t>
              </a:r>
              <a:r>
                <a:rPr sz="810" b="1" i="0" dirty="0">
                  <a:solidFill>
                    <a:srgbClr val="2D5794"/>
                  </a:solidFill>
                  <a:latin typeface="맑은 고딕"/>
                </a:rPr>
                <a:t> </a:t>
              </a:r>
              <a:r>
                <a:rPr sz="810" b="1" i="0" dirty="0" err="1">
                  <a:solidFill>
                    <a:srgbClr val="2D5794"/>
                  </a:solidFill>
                  <a:latin typeface="맑은 고딕"/>
                </a:rPr>
                <a:t>관리</a:t>
              </a:r>
              <a:endParaRPr sz="810" b="1" i="0" dirty="0">
                <a:solidFill>
                  <a:srgbClr val="2D5794"/>
                </a:solidFill>
                <a:latin typeface="맑은 고딕"/>
              </a:endParaRPr>
            </a:p>
          </p:txBody>
        </p:sp>
      </p:grpSp>
      <p:grpSp>
        <p:nvGrpSpPr>
          <p:cNvPr id="151" name="그룹 150">
            <a:extLst>
              <a:ext uri="{FF2B5EF4-FFF2-40B4-BE49-F238E27FC236}">
                <a16:creationId xmlns:a16="http://schemas.microsoft.com/office/drawing/2014/main" id="{7B264FE8-2CB7-4D4E-92C7-8C589E53BFE5}"/>
              </a:ext>
            </a:extLst>
          </p:cNvPr>
          <p:cNvGrpSpPr/>
          <p:nvPr/>
        </p:nvGrpSpPr>
        <p:grpSpPr>
          <a:xfrm>
            <a:off x="5634885" y="4080458"/>
            <a:ext cx="805575" cy="488318"/>
            <a:chOff x="11056831" y="3583489"/>
            <a:chExt cx="886133" cy="488318"/>
          </a:xfrm>
        </p:grpSpPr>
        <p:sp>
          <p:nvSpPr>
            <p:cNvPr id="155" name="KV Cache Manager">
              <a:extLst>
                <a:ext uri="{FF2B5EF4-FFF2-40B4-BE49-F238E27FC236}">
                  <a16:creationId xmlns:a16="http://schemas.microsoft.com/office/drawing/2014/main" id="{F89BBB6F-0E43-46F5-B240-620E3C4C25D4}"/>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QA4 </a:t>
              </a:r>
              <a:r>
                <a:rPr lang="ko-KR" altLang="en-US" sz="800" b="1" dirty="0">
                  <a:solidFill>
                    <a:schemeClr val="tx1"/>
                  </a:solidFill>
                </a:rPr>
                <a:t>보완</a:t>
              </a:r>
              <a:endParaRPr lang="en-US" altLang="ko-KR" sz="800" b="1" dirty="0">
                <a:solidFill>
                  <a:schemeClr val="tx1"/>
                </a:solidFill>
              </a:endParaRPr>
            </a:p>
          </p:txBody>
        </p:sp>
        <p:sp>
          <p:nvSpPr>
            <p:cNvPr id="157" name="직사각형 156">
              <a:extLst>
                <a:ext uri="{FF2B5EF4-FFF2-40B4-BE49-F238E27FC236}">
                  <a16:creationId xmlns:a16="http://schemas.microsoft.com/office/drawing/2014/main" id="{EC34CC24-7BF3-4713-95E8-2A090762D893}"/>
                </a:ext>
              </a:extLst>
            </p:cNvPr>
            <p:cNvSpPr/>
            <p:nvPr/>
          </p:nvSpPr>
          <p:spPr>
            <a:xfrm>
              <a:off x="11056831" y="3583489"/>
              <a:ext cx="886133" cy="488318"/>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sp>
        <p:nvSpPr>
          <p:cNvPr id="164" name="모서리가 둥근 직사각형 37">
            <a:extLst>
              <a:ext uri="{FF2B5EF4-FFF2-40B4-BE49-F238E27FC236}">
                <a16:creationId xmlns:a16="http://schemas.microsoft.com/office/drawing/2014/main" id="{824F5705-7E02-467A-970F-D2A9FCD95DC7}"/>
              </a:ext>
            </a:extLst>
          </p:cNvPr>
          <p:cNvSpPr/>
          <p:nvPr/>
        </p:nvSpPr>
        <p:spPr>
          <a:xfrm>
            <a:off x="9930631"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65" name="모서리가 둥근 직사각형 37">
            <a:extLst>
              <a:ext uri="{FF2B5EF4-FFF2-40B4-BE49-F238E27FC236}">
                <a16:creationId xmlns:a16="http://schemas.microsoft.com/office/drawing/2014/main" id="{E99FD0CC-4F44-40AB-8E8E-E5E878FDD956}"/>
              </a:ext>
            </a:extLst>
          </p:cNvPr>
          <p:cNvSpPr/>
          <p:nvPr/>
        </p:nvSpPr>
        <p:spPr>
          <a:xfrm>
            <a:off x="9509777"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67"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68" name="모서리가 둥근 직사각형 37">
            <a:extLst>
              <a:ext uri="{FF2B5EF4-FFF2-40B4-BE49-F238E27FC236}">
                <a16:creationId xmlns:a16="http://schemas.microsoft.com/office/drawing/2014/main" id="{476B6E1C-7561-417D-A669-4DEFCE610223}"/>
              </a:ext>
            </a:extLst>
          </p:cNvPr>
          <p:cNvSpPr/>
          <p:nvPr/>
        </p:nvSpPr>
        <p:spPr>
          <a:xfrm>
            <a:off x="8858120"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69"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73" name="모서리가 둥근 직사각형 37">
            <a:extLst>
              <a:ext uri="{FF2B5EF4-FFF2-40B4-BE49-F238E27FC236}">
                <a16:creationId xmlns:a16="http://schemas.microsoft.com/office/drawing/2014/main" id="{824F5705-7E02-467A-970F-D2A9FCD95DC7}"/>
              </a:ext>
            </a:extLst>
          </p:cNvPr>
          <p:cNvSpPr/>
          <p:nvPr/>
        </p:nvSpPr>
        <p:spPr>
          <a:xfrm>
            <a:off x="1099507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F4 KV </a:t>
            </a:r>
            <a:r>
              <a:rPr lang="ko-KR" altLang="en-US" sz="700" dirty="0">
                <a:latin typeface="맑은 고딕" panose="020B0503020000020004" pitchFamily="50" charset="-127"/>
              </a:rPr>
              <a:t>캐시 관리</a:t>
            </a:r>
          </a:p>
        </p:txBody>
      </p:sp>
      <p:sp>
        <p:nvSpPr>
          <p:cNvPr id="144" name="실행 단추: 앞으로 또는 다음 101">
            <a:hlinkClick r:id="rId3" action="ppaction://hlinksldjump" highlightClick="1"/>
            <a:extLst>
              <a:ext uri="{FF2B5EF4-FFF2-40B4-BE49-F238E27FC236}">
                <a16:creationId xmlns:a16="http://schemas.microsoft.com/office/drawing/2014/main" id="{783A6776-A29A-49B2-9156-A9608579C8A8}"/>
              </a:ext>
            </a:extLst>
          </p:cNvPr>
          <p:cNvSpPr/>
          <p:nvPr/>
        </p:nvSpPr>
        <p:spPr>
          <a:xfrm>
            <a:off x="6197485"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실행 단추: 앞으로 또는 다음 101">
            <a:hlinkClick r:id="rId4" action="ppaction://hlinksldjump" highlightClick="1"/>
            <a:extLst>
              <a:ext uri="{FF2B5EF4-FFF2-40B4-BE49-F238E27FC236}">
                <a16:creationId xmlns:a16="http://schemas.microsoft.com/office/drawing/2014/main" id="{CF145F10-B91D-4167-9ECA-6E45A565033E}"/>
              </a:ext>
            </a:extLst>
          </p:cNvPr>
          <p:cNvSpPr/>
          <p:nvPr/>
        </p:nvSpPr>
        <p:spPr>
          <a:xfrm>
            <a:off x="11712438" y="1093130"/>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직사각형 148"/>
          <p:cNvSpPr/>
          <p:nvPr/>
        </p:nvSpPr>
        <p:spPr>
          <a:xfrm>
            <a:off x="5774543" y="2669911"/>
            <a:ext cx="3430245" cy="8933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개선에 따른 다른 </a:t>
            </a:r>
            <a:r>
              <a:rPr lang="en-US" altLang="ko-KR" dirty="0"/>
              <a:t>QA </a:t>
            </a:r>
            <a:r>
              <a:rPr lang="ko-KR" altLang="en-US" dirty="0"/>
              <a:t>저하 체크</a:t>
            </a:r>
          </a:p>
        </p:txBody>
      </p:sp>
    </p:spTree>
    <p:extLst>
      <p:ext uri="{BB962C8B-B14F-4D97-AF65-F5344CB8AC3E}">
        <p14:creationId xmlns:p14="http://schemas.microsoft.com/office/powerpoint/2010/main" val="304020884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9456" y="73152"/>
            <a:ext cx="10058400" cy="365760"/>
          </a:xfrm>
          <a:prstGeom prst="rect">
            <a:avLst/>
          </a:prstGeom>
          <a:noFill/>
        </p:spPr>
        <p:txBody>
          <a:bodyPr wrap="square" lIns="0" tIns="0" rIns="0" bIns="0" anchor="ctr">
            <a:spAutoFit/>
          </a:bodyPr>
          <a:lstStyle/>
          <a:p>
            <a:pPr algn="l"/>
            <a:r>
              <a:rPr sz="1900" b="1" i="0">
                <a:solidFill>
                  <a:srgbClr val="262626"/>
                </a:solidFill>
                <a:latin typeface="맑은 고딕"/>
                <a:ea typeface="맑은 고딕"/>
              </a:rPr>
              <a:t>DP3. Long Context를 위한 KV 캐시 재사용 구조 - 2안 보완 설계</a:t>
            </a:r>
          </a:p>
        </p:txBody>
      </p:sp>
      <p:sp>
        <p:nvSpPr>
          <p:cNvPr id="3" name="Rectangle 2"/>
          <p:cNvSpPr/>
          <p:nvPr/>
        </p:nvSpPr>
        <p:spPr>
          <a:xfrm>
            <a:off x="0" y="548640"/>
            <a:ext cx="11987784" cy="32918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 name="Rectangle 3"/>
          <p:cNvSpPr/>
          <p:nvPr/>
        </p:nvSpPr>
        <p:spPr>
          <a:xfrm>
            <a:off x="237744" y="598932"/>
            <a:ext cx="45720"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 name="TextBox 4"/>
          <p:cNvSpPr txBox="1"/>
          <p:nvPr/>
        </p:nvSpPr>
        <p:spPr>
          <a:xfrm>
            <a:off x="365760" y="548640"/>
            <a:ext cx="7863840" cy="329184"/>
          </a:xfrm>
          <a:prstGeom prst="rect">
            <a:avLst/>
          </a:prstGeom>
          <a:noFill/>
        </p:spPr>
        <p:txBody>
          <a:bodyPr wrap="square" lIns="0" tIns="0" rIns="0" bIns="0" anchor="ctr">
            <a:spAutoFit/>
          </a:bodyPr>
          <a:lstStyle/>
          <a:p>
            <a:pPr algn="l"/>
            <a:r>
              <a:rPr sz="1250" b="1" i="0">
                <a:solidFill>
                  <a:srgbClr val="FFFFFF"/>
                </a:solidFill>
                <a:latin typeface="맑은 고딕"/>
                <a:ea typeface="맑은 고딕"/>
              </a:rPr>
              <a:t>정확도 제약은 그대로 지키면서, 2안의 TTFT·확장성 약점을 보완하는 구조</a:t>
            </a:r>
          </a:p>
        </p:txBody>
      </p:sp>
      <p:sp>
        <p:nvSpPr>
          <p:cNvPr id="6" name="Rectangle 5"/>
          <p:cNvSpPr/>
          <p:nvPr/>
        </p:nvSpPr>
        <p:spPr>
          <a:xfrm>
            <a:off x="7964423" y="553212"/>
            <a:ext cx="731520" cy="3200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FFFFFF"/>
                </a:solidFill>
                <a:latin typeface="맑은 고딕"/>
                <a:ea typeface="맑은 고딕"/>
              </a:rPr>
              <a:t>F3</a:t>
            </a:r>
          </a:p>
        </p:txBody>
      </p:sp>
      <p:sp>
        <p:nvSpPr>
          <p:cNvPr id="7" name="Rectangle 6"/>
          <p:cNvSpPr/>
          <p:nvPr/>
        </p:nvSpPr>
        <p:spPr>
          <a:xfrm>
            <a:off x="8750807" y="553212"/>
            <a:ext cx="731520" cy="32004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FFFFFF"/>
                </a:solidFill>
                <a:latin typeface="맑은 고딕"/>
                <a:ea typeface="맑은 고딕"/>
              </a:rPr>
              <a:t>F7</a:t>
            </a:r>
          </a:p>
        </p:txBody>
      </p:sp>
      <p:sp>
        <p:nvSpPr>
          <p:cNvPr id="8" name="Rectangle 7"/>
          <p:cNvSpPr/>
          <p:nvPr/>
        </p:nvSpPr>
        <p:spPr>
          <a:xfrm>
            <a:off x="9537191" y="553212"/>
            <a:ext cx="731520" cy="32004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FFFFFF"/>
                </a:solidFill>
                <a:latin typeface="맑은 고딕"/>
                <a:ea typeface="맑은 고딕"/>
              </a:rPr>
              <a:t>Q2</a:t>
            </a:r>
          </a:p>
        </p:txBody>
      </p:sp>
      <p:sp>
        <p:nvSpPr>
          <p:cNvPr id="9" name="Rectangle 8"/>
          <p:cNvSpPr/>
          <p:nvPr/>
        </p:nvSpPr>
        <p:spPr>
          <a:xfrm>
            <a:off x="10323575" y="553212"/>
            <a:ext cx="731520" cy="320040"/>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FFFFFF"/>
                </a:solidFill>
                <a:latin typeface="맑은 고딕"/>
                <a:ea typeface="맑은 고딕"/>
              </a:rPr>
              <a:t>Q3</a:t>
            </a:r>
          </a:p>
        </p:txBody>
      </p:sp>
      <p:sp>
        <p:nvSpPr>
          <p:cNvPr id="10" name="Rectangle 9"/>
          <p:cNvSpPr/>
          <p:nvPr/>
        </p:nvSpPr>
        <p:spPr>
          <a:xfrm>
            <a:off x="11109959" y="553212"/>
            <a:ext cx="731520" cy="320040"/>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FFFFFF"/>
                </a:solidFill>
                <a:latin typeface="맑은 고딕"/>
                <a:ea typeface="맑은 고딕"/>
              </a:rPr>
              <a:t>C1</a:t>
            </a:r>
          </a:p>
        </p:txBody>
      </p:sp>
      <p:sp>
        <p:nvSpPr>
          <p:cNvPr id="11" name="Rectangle 10"/>
          <p:cNvSpPr/>
          <p:nvPr/>
        </p:nvSpPr>
        <p:spPr>
          <a:xfrm>
            <a:off x="201168" y="950976"/>
            <a:ext cx="731520" cy="310896"/>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808080"/>
                </a:solidFill>
                <a:latin typeface="맑은 고딕"/>
                <a:ea typeface="맑은 고딕"/>
              </a:rPr>
              <a:t>설계 안</a:t>
            </a:r>
          </a:p>
        </p:txBody>
      </p:sp>
      <p:sp>
        <p:nvSpPr>
          <p:cNvPr id="12" name="Rectangle 11"/>
          <p:cNvSpPr/>
          <p:nvPr/>
        </p:nvSpPr>
        <p:spPr>
          <a:xfrm>
            <a:off x="932688" y="950976"/>
            <a:ext cx="3840480" cy="3108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3" name="Rectangle 12"/>
          <p:cNvSpPr/>
          <p:nvPr/>
        </p:nvSpPr>
        <p:spPr>
          <a:xfrm>
            <a:off x="4773168" y="950976"/>
            <a:ext cx="7214616" cy="3108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4" name="Rectangle 13"/>
          <p:cNvSpPr/>
          <p:nvPr/>
        </p:nvSpPr>
        <p:spPr>
          <a:xfrm>
            <a:off x="201168" y="1261872"/>
            <a:ext cx="731520" cy="3529584"/>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808080"/>
                </a:solidFill>
                <a:latin typeface="맑은 고딕"/>
                <a:ea typeface="맑은 고딕"/>
              </a:rPr>
              <a:t>구조</a:t>
            </a:r>
          </a:p>
        </p:txBody>
      </p:sp>
      <p:sp>
        <p:nvSpPr>
          <p:cNvPr id="15" name="Rectangle 14"/>
          <p:cNvSpPr/>
          <p:nvPr/>
        </p:nvSpPr>
        <p:spPr>
          <a:xfrm>
            <a:off x="932688" y="1261872"/>
            <a:ext cx="3840480" cy="352958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 name="Rectangle 15"/>
          <p:cNvSpPr/>
          <p:nvPr/>
        </p:nvSpPr>
        <p:spPr>
          <a:xfrm>
            <a:off x="4773168" y="1261872"/>
            <a:ext cx="7214616" cy="352958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 name="Rectangle 16"/>
          <p:cNvSpPr/>
          <p:nvPr/>
        </p:nvSpPr>
        <p:spPr>
          <a:xfrm>
            <a:off x="201168" y="4791456"/>
            <a:ext cx="731520" cy="82296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808080"/>
                </a:solidFill>
                <a:latin typeface="맑은 고딕"/>
                <a:ea typeface="맑은 고딕"/>
              </a:rPr>
              <a:t>장점</a:t>
            </a:r>
          </a:p>
        </p:txBody>
      </p:sp>
      <p:sp>
        <p:nvSpPr>
          <p:cNvPr id="18" name="Rectangle 17"/>
          <p:cNvSpPr/>
          <p:nvPr/>
        </p:nvSpPr>
        <p:spPr>
          <a:xfrm>
            <a:off x="932688" y="4791456"/>
            <a:ext cx="3840480" cy="82296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 name="Rectangle 18"/>
          <p:cNvSpPr/>
          <p:nvPr/>
        </p:nvSpPr>
        <p:spPr>
          <a:xfrm>
            <a:off x="4773168" y="4791456"/>
            <a:ext cx="7214616" cy="82296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0" name="Rectangle 19"/>
          <p:cNvSpPr/>
          <p:nvPr/>
        </p:nvSpPr>
        <p:spPr>
          <a:xfrm>
            <a:off x="201168" y="5614416"/>
            <a:ext cx="731520" cy="475488"/>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808080"/>
                </a:solidFill>
                <a:latin typeface="맑은 고딕"/>
                <a:ea typeface="맑은 고딕"/>
              </a:rPr>
              <a:t>단점 / 대가</a:t>
            </a:r>
          </a:p>
        </p:txBody>
      </p:sp>
      <p:sp>
        <p:nvSpPr>
          <p:cNvPr id="21" name="Rectangle 20"/>
          <p:cNvSpPr/>
          <p:nvPr/>
        </p:nvSpPr>
        <p:spPr>
          <a:xfrm>
            <a:off x="932688" y="5614416"/>
            <a:ext cx="3840480" cy="47548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2" name="Rectangle 21"/>
          <p:cNvSpPr/>
          <p:nvPr/>
        </p:nvSpPr>
        <p:spPr>
          <a:xfrm>
            <a:off x="4773168" y="5614416"/>
            <a:ext cx="7214616" cy="47548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3" name="Rectangle 22"/>
          <p:cNvSpPr/>
          <p:nvPr/>
        </p:nvSpPr>
        <p:spPr>
          <a:xfrm>
            <a:off x="201168" y="6089904"/>
            <a:ext cx="731520" cy="713232"/>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808080"/>
                </a:solidFill>
                <a:latin typeface="맑은 고딕"/>
                <a:ea typeface="맑은 고딕"/>
              </a:rPr>
              <a:t>Tradeoff</a:t>
            </a:r>
          </a:p>
        </p:txBody>
      </p:sp>
      <p:sp>
        <p:nvSpPr>
          <p:cNvPr id="24" name="Rectangle 23"/>
          <p:cNvSpPr/>
          <p:nvPr/>
        </p:nvSpPr>
        <p:spPr>
          <a:xfrm>
            <a:off x="932688" y="6089904"/>
            <a:ext cx="3840480"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5" name="Rectangle 24"/>
          <p:cNvSpPr/>
          <p:nvPr/>
        </p:nvSpPr>
        <p:spPr>
          <a:xfrm>
            <a:off x="4773168" y="6089904"/>
            <a:ext cx="7214616"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6" name="TextBox 25"/>
          <p:cNvSpPr txBox="1"/>
          <p:nvPr/>
        </p:nvSpPr>
        <p:spPr>
          <a:xfrm>
            <a:off x="1042416" y="969264"/>
            <a:ext cx="3621024" cy="274320"/>
          </a:xfrm>
          <a:prstGeom prst="rect">
            <a:avLst/>
          </a:prstGeom>
          <a:noFill/>
        </p:spPr>
        <p:txBody>
          <a:bodyPr wrap="square" lIns="0" tIns="0" rIns="0" bIns="0" anchor="t">
            <a:spAutoFit/>
          </a:bodyPr>
          <a:lstStyle/>
          <a:p>
            <a:pPr algn="l">
              <a:lnSpc>
                <a:spcPct val="100000"/>
              </a:lnSpc>
            </a:pPr>
            <a:r>
              <a:rPr sz="1050" b="1" i="0">
                <a:solidFill>
                  <a:srgbClr val="262626"/>
                </a:solidFill>
                <a:latin typeface="맑은 고딕"/>
                <a:ea typeface="맑은 고딕"/>
              </a:rPr>
              <a:t>(2안) 요청 시 Blend 구조 — 원안</a:t>
            </a:r>
          </a:p>
          <a:p>
            <a:pPr algn="l">
              <a:lnSpc>
                <a:spcPct val="100000"/>
              </a:lnSpc>
            </a:pPr>
            <a:r>
              <a:rPr sz="850" b="0" i="0">
                <a:solidFill>
                  <a:srgbClr val="C55A11"/>
                </a:solidFill>
                <a:latin typeface="맑은 고딕"/>
                <a:ea typeface="맑은 고딕"/>
              </a:rPr>
              <a:t>Pipe-and-Filter</a:t>
            </a:r>
          </a:p>
        </p:txBody>
      </p:sp>
      <p:sp>
        <p:nvSpPr>
          <p:cNvPr id="27" name="TextBox 26"/>
          <p:cNvSpPr txBox="1"/>
          <p:nvPr/>
        </p:nvSpPr>
        <p:spPr>
          <a:xfrm>
            <a:off x="4882896" y="969264"/>
            <a:ext cx="6995159" cy="274320"/>
          </a:xfrm>
          <a:prstGeom prst="rect">
            <a:avLst/>
          </a:prstGeom>
          <a:noFill/>
        </p:spPr>
        <p:txBody>
          <a:bodyPr wrap="square" lIns="0" tIns="0" rIns="0" bIns="0" anchor="t">
            <a:spAutoFit/>
          </a:bodyPr>
          <a:lstStyle/>
          <a:p>
            <a:pPr algn="l">
              <a:lnSpc>
                <a:spcPct val="100000"/>
              </a:lnSpc>
            </a:pPr>
            <a:r>
              <a:rPr sz="1050" b="1" i="0">
                <a:solidFill>
                  <a:srgbClr val="262626"/>
                </a:solidFill>
                <a:latin typeface="맑은 고딕"/>
                <a:ea typeface="맑은 고딕"/>
              </a:rPr>
              <a:t>(2안-보완) 예산 기반 적응형 Blending</a:t>
            </a:r>
          </a:p>
          <a:p>
            <a:pPr algn="l">
              <a:lnSpc>
                <a:spcPct val="100000"/>
              </a:lnSpc>
            </a:pPr>
            <a:r>
              <a:rPr sz="850" b="0" i="0">
                <a:solidFill>
                  <a:srgbClr val="C55A11"/>
                </a:solidFill>
                <a:latin typeface="맑은 고딕"/>
                <a:ea typeface="맑은 고딕"/>
              </a:rPr>
              <a:t>Pipe-and-Filter  +  Feedback Control  +  Score Cache</a:t>
            </a:r>
          </a:p>
        </p:txBody>
      </p:sp>
      <p:sp>
        <p:nvSpPr>
          <p:cNvPr id="28" name="Rectangle 27"/>
          <p:cNvSpPr/>
          <p:nvPr/>
        </p:nvSpPr>
        <p:spPr>
          <a:xfrm>
            <a:off x="4773168" y="950976"/>
            <a:ext cx="7214616" cy="5852160"/>
          </a:xfrm>
          <a:prstGeom prst="rect">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9" name="TextBox 28"/>
          <p:cNvSpPr txBox="1"/>
          <p:nvPr/>
        </p:nvSpPr>
        <p:spPr>
          <a:xfrm>
            <a:off x="1042416" y="1298448"/>
            <a:ext cx="3621024" cy="155448"/>
          </a:xfrm>
          <a:prstGeom prst="rect">
            <a:avLst/>
          </a:prstGeom>
          <a:noFill/>
        </p:spPr>
        <p:txBody>
          <a:bodyPr wrap="square" lIns="0" tIns="0" rIns="0" bIns="0" anchor="ctr">
            <a:spAutoFit/>
          </a:bodyPr>
          <a:lstStyle/>
          <a:p>
            <a:pPr algn="l"/>
            <a:r>
              <a:rPr sz="850" b="0" i="0">
                <a:solidFill>
                  <a:srgbClr val="404040"/>
                </a:solidFill>
                <a:latin typeface="맑은 고딕"/>
                <a:ea typeface="맑은 고딕"/>
              </a:rPr>
              <a:t>“실제 Query 기준으로 재계산 토큰을 고르고, 그 자리에서 계산”</a:t>
            </a:r>
          </a:p>
        </p:txBody>
      </p:sp>
      <p:sp>
        <p:nvSpPr>
          <p:cNvPr id="30" name="Rectangle 29"/>
          <p:cNvSpPr/>
          <p:nvPr/>
        </p:nvSpPr>
        <p:spPr>
          <a:xfrm>
            <a:off x="1042415" y="1517904"/>
            <a:ext cx="3621024" cy="162763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 name="Rectangle 30"/>
          <p:cNvSpPr/>
          <p:nvPr/>
        </p:nvSpPr>
        <p:spPr>
          <a:xfrm>
            <a:off x="1042415" y="1517904"/>
            <a:ext cx="3621024" cy="182880"/>
          </a:xfrm>
          <a:prstGeom prst="rect">
            <a:avLst/>
          </a:prstGeom>
          <a:solidFill>
            <a:srgbClr val="C55A11"/>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«pipe-and-filter»  요청별 Blend 파이프라인 · 요청 경로 안</a:t>
            </a:r>
          </a:p>
        </p:txBody>
      </p:sp>
      <p:sp>
        <p:nvSpPr>
          <p:cNvPr id="32" name="Rectangle 31"/>
          <p:cNvSpPr/>
          <p:nvPr/>
        </p:nvSpPr>
        <p:spPr>
          <a:xfrm>
            <a:off x="1152144" y="1755648"/>
            <a:ext cx="3401568" cy="292608"/>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User Query Manager</a:t>
            </a:r>
          </a:p>
          <a:p>
            <a:pPr algn="ctr">
              <a:lnSpc>
                <a:spcPct val="92000"/>
              </a:lnSpc>
            </a:pPr>
            <a:r>
              <a:rPr sz="680" b="0" i="0">
                <a:solidFill>
                  <a:srgbClr val="808080"/>
                </a:solidFill>
                <a:latin typeface="맑은 고딕"/>
                <a:ea typeface="맑은 고딕"/>
              </a:rPr>
              <a:t>실제 Query (요청 시점)</a:t>
            </a:r>
          </a:p>
        </p:txBody>
      </p:sp>
      <p:sp>
        <p:nvSpPr>
          <p:cNvPr id="33" name="Rectangle 32"/>
          <p:cNvSpPr/>
          <p:nvPr/>
        </p:nvSpPr>
        <p:spPr>
          <a:xfrm>
            <a:off x="1152144" y="2084831"/>
            <a:ext cx="3401568" cy="292608"/>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Attention Manager</a:t>
            </a:r>
          </a:p>
          <a:p>
            <a:pPr algn="ctr">
              <a:lnSpc>
                <a:spcPct val="92000"/>
              </a:lnSpc>
            </a:pPr>
            <a:r>
              <a:rPr sz="680" b="0" i="0">
                <a:solidFill>
                  <a:srgbClr val="808080"/>
                </a:solidFill>
                <a:latin typeface="맑은 고딕"/>
                <a:ea typeface="맑은 고딕"/>
              </a:rPr>
              <a:t>실제 q × KV Attention</a:t>
            </a:r>
          </a:p>
        </p:txBody>
      </p:sp>
      <p:cxnSp>
        <p:nvCxnSpPr>
          <p:cNvPr id="34" name="Connector 33"/>
          <p:cNvCxnSpPr/>
          <p:nvPr/>
        </p:nvCxnSpPr>
        <p:spPr>
          <a:xfrm>
            <a:off x="2852928" y="2048255"/>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1152144" y="2414015"/>
            <a:ext cx="3401568" cy="292608"/>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Recompute Token Selector</a:t>
            </a:r>
          </a:p>
          <a:p>
            <a:pPr algn="ctr">
              <a:lnSpc>
                <a:spcPct val="92000"/>
              </a:lnSpc>
            </a:pPr>
            <a:r>
              <a:rPr sz="680" b="0" i="0">
                <a:solidFill>
                  <a:srgbClr val="808080"/>
                </a:solidFill>
                <a:latin typeface="맑은 고딕"/>
                <a:ea typeface="맑은 고딕"/>
              </a:rPr>
              <a:t>deviation 상위 k 개 선정</a:t>
            </a:r>
          </a:p>
        </p:txBody>
      </p:sp>
      <p:cxnSp>
        <p:nvCxnSpPr>
          <p:cNvPr id="36" name="Connector 35"/>
          <p:cNvCxnSpPr/>
          <p:nvPr/>
        </p:nvCxnSpPr>
        <p:spPr>
          <a:xfrm>
            <a:off x="2852928" y="2377439"/>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152144" y="2743200"/>
            <a:ext cx="3401568" cy="292608"/>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Selective Recomputer</a:t>
            </a:r>
          </a:p>
          <a:p>
            <a:pPr algn="ctr">
              <a:lnSpc>
                <a:spcPct val="92000"/>
              </a:lnSpc>
            </a:pPr>
            <a:r>
              <a:rPr sz="680" b="0" i="0">
                <a:solidFill>
                  <a:srgbClr val="808080"/>
                </a:solidFill>
                <a:latin typeface="맑은 고딕"/>
                <a:ea typeface="맑은 고딕"/>
              </a:rPr>
              <a:t>선정 토큰 k 개만 재계산</a:t>
            </a:r>
          </a:p>
        </p:txBody>
      </p:sp>
      <p:cxnSp>
        <p:nvCxnSpPr>
          <p:cNvPr id="38" name="Connector 37"/>
          <p:cNvCxnSpPr/>
          <p:nvPr/>
        </p:nvCxnSpPr>
        <p:spPr>
          <a:xfrm>
            <a:off x="2852928" y="2706624"/>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133087" y="2756916"/>
            <a:ext cx="384048" cy="15544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80" b="1" i="0">
                <a:solidFill>
                  <a:srgbClr val="FFFFFF"/>
                </a:solidFill>
                <a:latin typeface="맑은 고딕"/>
                <a:ea typeface="맑은 고딕"/>
              </a:rPr>
              <a:t>DP2</a:t>
            </a:r>
          </a:p>
        </p:txBody>
      </p:sp>
      <p:sp>
        <p:nvSpPr>
          <p:cNvPr id="40" name="Rectangle 39"/>
          <p:cNvSpPr/>
          <p:nvPr/>
        </p:nvSpPr>
        <p:spPr>
          <a:xfrm>
            <a:off x="1042415" y="3255264"/>
            <a:ext cx="3621024" cy="237744"/>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«repository»  KV Store   —   Context KV 원본 1부만</a:t>
            </a:r>
          </a:p>
        </p:txBody>
      </p:sp>
      <p:sp>
        <p:nvSpPr>
          <p:cNvPr id="41" name="Rectangle 40"/>
          <p:cNvSpPr/>
          <p:nvPr/>
        </p:nvSpPr>
        <p:spPr>
          <a:xfrm>
            <a:off x="4206240" y="3278124"/>
            <a:ext cx="384048" cy="15544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80" b="1" i="0">
                <a:solidFill>
                  <a:srgbClr val="FFFFFF"/>
                </a:solidFill>
                <a:latin typeface="맑은 고딕"/>
                <a:ea typeface="맑은 고딕"/>
              </a:rPr>
              <a:t>DP1</a:t>
            </a:r>
          </a:p>
        </p:txBody>
      </p:sp>
      <p:sp>
        <p:nvSpPr>
          <p:cNvPr id="42" name="Rectangle 41"/>
          <p:cNvSpPr/>
          <p:nvPr/>
        </p:nvSpPr>
        <p:spPr>
          <a:xfrm>
            <a:off x="1042415" y="3602736"/>
            <a:ext cx="3621024" cy="1024128"/>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14000"/>
              </a:lnSpc>
            </a:pPr>
            <a:r>
              <a:rPr sz="800" b="0" i="0">
                <a:solidFill>
                  <a:srgbClr val="7B1A1A"/>
                </a:solidFill>
                <a:latin typeface="맑은 고딕"/>
                <a:ea typeface="맑은 고딕"/>
              </a:rPr>
              <a:t>약점 ① 재계산이 매 요청 critical path 에 상주</a:t>
            </a:r>
          </a:p>
          <a:p>
            <a:pPr algn="l">
              <a:lnSpc>
                <a:spcPct val="114000"/>
              </a:lnSpc>
            </a:pPr>
            <a:r>
              <a:rPr sz="800" b="0" i="0">
                <a:solidFill>
                  <a:srgbClr val="7B1A1A"/>
                </a:solidFill>
                <a:latin typeface="맑은 고딕"/>
                <a:ea typeface="맑은 고딕"/>
              </a:rPr>
              <a:t>   k ↓ → 정확도 제약 위험,  k ↑ → TTFT 악화</a:t>
            </a:r>
          </a:p>
          <a:p>
            <a:pPr algn="l">
              <a:lnSpc>
                <a:spcPct val="114000"/>
              </a:lnSpc>
            </a:pPr>
            <a:r>
              <a:rPr sz="800" b="0" i="0">
                <a:solidFill>
                  <a:srgbClr val="7B1A1A"/>
                </a:solidFill>
                <a:latin typeface="맑은 고딕"/>
                <a:ea typeface="맑은 고딕"/>
              </a:rPr>
              <a:t>   예산 개념이 없어 균형점을 런타임에 잡지 못함</a:t>
            </a:r>
          </a:p>
          <a:p>
            <a:pPr algn="l">
              <a:lnSpc>
                <a:spcPct val="114000"/>
              </a:lnSpc>
            </a:pPr>
            <a:r>
              <a:rPr sz="800" b="0" i="0">
                <a:solidFill>
                  <a:srgbClr val="7B1A1A"/>
                </a:solidFill>
                <a:latin typeface="맑은 고딕"/>
                <a:ea typeface="맑은 고딕"/>
              </a:rPr>
              <a:t>약점 ② 동시 요청 ↑ → 재계산이 Decode 와 연산 경합</a:t>
            </a:r>
          </a:p>
          <a:p>
            <a:pPr algn="l">
              <a:lnSpc>
                <a:spcPct val="114000"/>
              </a:lnSpc>
            </a:pPr>
            <a:r>
              <a:rPr sz="800" b="0" i="0">
                <a:solidFill>
                  <a:srgbClr val="7B1A1A"/>
                </a:solidFill>
                <a:latin typeface="맑은 고딕"/>
                <a:ea typeface="맑은 고딕"/>
              </a:rPr>
              <a:t>   과부하 시 TTFT 선형 악화, degrade 수단 없음</a:t>
            </a:r>
          </a:p>
        </p:txBody>
      </p:sp>
      <p:sp>
        <p:nvSpPr>
          <p:cNvPr id="43" name="TextBox 42"/>
          <p:cNvSpPr txBox="1"/>
          <p:nvPr/>
        </p:nvSpPr>
        <p:spPr>
          <a:xfrm>
            <a:off x="4882896" y="1298448"/>
            <a:ext cx="6995159" cy="155448"/>
          </a:xfrm>
          <a:prstGeom prst="rect">
            <a:avLst/>
          </a:prstGeom>
          <a:noFill/>
        </p:spPr>
        <p:txBody>
          <a:bodyPr wrap="square" lIns="0" tIns="0" rIns="0" bIns="0" anchor="ctr">
            <a:spAutoFit/>
          </a:bodyPr>
          <a:lstStyle/>
          <a:p>
            <a:pPr algn="l"/>
            <a:r>
              <a:rPr sz="850" b="0" i="0">
                <a:solidFill>
                  <a:srgbClr val="404040"/>
                </a:solidFill>
                <a:latin typeface="맑은 고딕"/>
                <a:ea typeface="맑은 고딕"/>
              </a:rPr>
              <a:t>“재계산량을 SLO 예산 안에서 적응적으로 정하고, 선정 비용만 캐시한다 — KV 사전 저장은 하지 않는다”</a:t>
            </a:r>
          </a:p>
        </p:txBody>
      </p:sp>
      <p:sp>
        <p:nvSpPr>
          <p:cNvPr id="44" name="Rectangle 43"/>
          <p:cNvSpPr/>
          <p:nvPr/>
        </p:nvSpPr>
        <p:spPr>
          <a:xfrm>
            <a:off x="4882896" y="1517904"/>
            <a:ext cx="4480560" cy="40233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10000"/>
              </a:lnSpc>
            </a:pPr>
            <a:r>
              <a:rPr sz="800" b="1" i="0">
                <a:solidFill>
                  <a:srgbClr val="7F5F00"/>
                </a:solidFill>
                <a:latin typeface="맑은 고딕"/>
                <a:ea typeface="맑은 고딕"/>
              </a:rPr>
              <a:t>① Recompute Budget Controller   —   TTFT SLO · 현재 큐 깊이 → 예산 k_max 역산</a:t>
            </a:r>
          </a:p>
          <a:p>
            <a:pPr algn="l">
              <a:lnSpc>
                <a:spcPct val="110000"/>
              </a:lnSpc>
            </a:pPr>
            <a:r>
              <a:rPr sz="800" b="1" i="0">
                <a:solidFill>
                  <a:srgbClr val="7F5F00"/>
                </a:solidFill>
                <a:latin typeface="맑은 고딕"/>
                <a:ea typeface="맑은 고딕"/>
              </a:rPr>
              <a:t>재계산량의 상한을 요청 단위로 결정 (과부하 시 자동 축소 = graceful degradation)</a:t>
            </a:r>
          </a:p>
        </p:txBody>
      </p:sp>
      <p:sp>
        <p:nvSpPr>
          <p:cNvPr id="45" name="Rectangle 44"/>
          <p:cNvSpPr/>
          <p:nvPr/>
        </p:nvSpPr>
        <p:spPr>
          <a:xfrm>
            <a:off x="9637776" y="1517904"/>
            <a:ext cx="2203704" cy="402336"/>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10000"/>
              </a:lnSpc>
            </a:pPr>
            <a:r>
              <a:rPr sz="800" b="1" i="0">
                <a:solidFill>
                  <a:srgbClr val="375623"/>
                </a:solidFill>
                <a:latin typeface="맑은 고딕"/>
                <a:ea typeface="맑은 고딕"/>
              </a:rPr>
              <a:t>⑤ Accuracy Guard</a:t>
            </a:r>
          </a:p>
          <a:p>
            <a:pPr algn="l">
              <a:lnSpc>
                <a:spcPct val="110000"/>
              </a:lnSpc>
            </a:pPr>
            <a:r>
              <a:rPr sz="800" b="1" i="0">
                <a:solidFill>
                  <a:srgbClr val="375623"/>
                </a:solidFill>
                <a:latin typeface="맑은 고딕"/>
                <a:ea typeface="맑은 고딕"/>
              </a:rPr>
              <a:t>샘플 요청만 full-prefill 대조</a:t>
            </a:r>
          </a:p>
          <a:p>
            <a:pPr algn="l">
              <a:lnSpc>
                <a:spcPct val="110000"/>
              </a:lnSpc>
            </a:pPr>
            <a:r>
              <a:rPr sz="800" b="1" i="0">
                <a:solidFill>
                  <a:srgbClr val="375623"/>
                </a:solidFill>
                <a:latin typeface="맑은 고딕"/>
                <a:ea typeface="맑은 고딕"/>
              </a:rPr>
              <a:t>→ 실측 drop 추정 → τ 조정</a:t>
            </a:r>
          </a:p>
        </p:txBody>
      </p:sp>
      <p:sp>
        <p:nvSpPr>
          <p:cNvPr id="46" name="Rectangle 45"/>
          <p:cNvSpPr/>
          <p:nvPr/>
        </p:nvSpPr>
        <p:spPr>
          <a:xfrm>
            <a:off x="4882896" y="2066543"/>
            <a:ext cx="4480560" cy="17556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7" name="Rectangle 46"/>
          <p:cNvSpPr/>
          <p:nvPr/>
        </p:nvSpPr>
        <p:spPr>
          <a:xfrm>
            <a:off x="4882896" y="2066543"/>
            <a:ext cx="4480560" cy="182880"/>
          </a:xfrm>
          <a:prstGeom prst="rect">
            <a:avLst/>
          </a:prstGeom>
          <a:solidFill>
            <a:srgbClr val="C55A11"/>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«pipe-and-filter»  서빙 경로   —   예산 안에서 적응적 선택</a:t>
            </a:r>
          </a:p>
        </p:txBody>
      </p:sp>
      <p:sp>
        <p:nvSpPr>
          <p:cNvPr id="48" name="Rectangle 47"/>
          <p:cNvSpPr/>
          <p:nvPr/>
        </p:nvSpPr>
        <p:spPr>
          <a:xfrm>
            <a:off x="4992624" y="2304288"/>
            <a:ext cx="4261104" cy="292608"/>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User Query Manager</a:t>
            </a:r>
          </a:p>
          <a:p>
            <a:pPr algn="ctr">
              <a:lnSpc>
                <a:spcPct val="92000"/>
              </a:lnSpc>
            </a:pPr>
            <a:r>
              <a:rPr sz="680" b="0" i="0">
                <a:solidFill>
                  <a:srgbClr val="808080"/>
                </a:solidFill>
                <a:latin typeface="맑은 고딕"/>
                <a:ea typeface="맑은 고딕"/>
              </a:rPr>
              <a:t>실제 Query (요청 시점)</a:t>
            </a:r>
          </a:p>
        </p:txBody>
      </p:sp>
      <p:sp>
        <p:nvSpPr>
          <p:cNvPr id="49" name="Rectangle 48"/>
          <p:cNvSpPr/>
          <p:nvPr/>
        </p:nvSpPr>
        <p:spPr>
          <a:xfrm>
            <a:off x="4992624" y="2651760"/>
            <a:ext cx="4261104" cy="329184"/>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Attention Manager</a:t>
            </a:r>
          </a:p>
          <a:p>
            <a:pPr algn="ctr">
              <a:lnSpc>
                <a:spcPct val="92000"/>
              </a:lnSpc>
            </a:pPr>
            <a:r>
              <a:rPr sz="680" b="0" i="0">
                <a:solidFill>
                  <a:srgbClr val="808080"/>
                </a:solidFill>
                <a:latin typeface="맑은 고딕"/>
                <a:ea typeface="맑은 고딕"/>
              </a:rPr>
              <a:t>실제 q × KV Attention   ·   ③ Score Cache hit 시 이 단계 skip</a:t>
            </a:r>
          </a:p>
        </p:txBody>
      </p:sp>
      <p:sp>
        <p:nvSpPr>
          <p:cNvPr id="50" name="Rectangle 49"/>
          <p:cNvSpPr/>
          <p:nvPr/>
        </p:nvSpPr>
        <p:spPr>
          <a:xfrm>
            <a:off x="4992624" y="3035808"/>
            <a:ext cx="4261104" cy="329184"/>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② Deviation Early-Stop Selector</a:t>
            </a:r>
          </a:p>
          <a:p>
            <a:pPr algn="ctr">
              <a:lnSpc>
                <a:spcPct val="92000"/>
              </a:lnSpc>
            </a:pPr>
            <a:r>
              <a:rPr sz="680" b="0" i="0">
                <a:solidFill>
                  <a:srgbClr val="808080"/>
                </a:solidFill>
                <a:latin typeface="맑은 고딕"/>
                <a:ea typeface="맑은 고딕"/>
              </a:rPr>
              <a:t>deviation 내림차순 누적 ρ ≥ τ 에서 중단 → 평균 k ≪ k_max</a:t>
            </a:r>
          </a:p>
        </p:txBody>
      </p:sp>
      <p:sp>
        <p:nvSpPr>
          <p:cNvPr id="51" name="Rectangle 50"/>
          <p:cNvSpPr/>
          <p:nvPr/>
        </p:nvSpPr>
        <p:spPr>
          <a:xfrm>
            <a:off x="4992624" y="3419856"/>
            <a:ext cx="4261104" cy="292608"/>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19" b="1" i="0">
                <a:solidFill>
                  <a:srgbClr val="404040"/>
                </a:solidFill>
                <a:latin typeface="맑은 고딕"/>
                <a:ea typeface="맑은 고딕"/>
              </a:rPr>
              <a:t>④ Overlapped Recomputer</a:t>
            </a:r>
          </a:p>
          <a:p>
            <a:pPr algn="ctr">
              <a:lnSpc>
                <a:spcPct val="92000"/>
              </a:lnSpc>
            </a:pPr>
            <a:r>
              <a:rPr sz="680" b="0" i="0">
                <a:solidFill>
                  <a:srgbClr val="808080"/>
                </a:solidFill>
                <a:latin typeface="맑은 고딕"/>
                <a:ea typeface="맑은 고딕"/>
              </a:rPr>
              <a:t>KV chunk 전송과 재계산을 겹쳐 수행 → 재계산을 전송 지연에 숨김</a:t>
            </a:r>
          </a:p>
        </p:txBody>
      </p:sp>
      <p:sp>
        <p:nvSpPr>
          <p:cNvPr id="52" name="Rectangle 51"/>
          <p:cNvSpPr/>
          <p:nvPr/>
        </p:nvSpPr>
        <p:spPr>
          <a:xfrm>
            <a:off x="8869680" y="3442716"/>
            <a:ext cx="384048" cy="15544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80" b="1" i="0">
                <a:solidFill>
                  <a:srgbClr val="FFFFFF"/>
                </a:solidFill>
                <a:latin typeface="맑은 고딕"/>
                <a:ea typeface="맑은 고딕"/>
              </a:rPr>
              <a:t>DP2</a:t>
            </a:r>
          </a:p>
        </p:txBody>
      </p:sp>
      <p:cxnSp>
        <p:nvCxnSpPr>
          <p:cNvPr id="53" name="Connector 52"/>
          <p:cNvCxnSpPr/>
          <p:nvPr/>
        </p:nvCxnSpPr>
        <p:spPr>
          <a:xfrm>
            <a:off x="7123176" y="2596896"/>
            <a:ext cx="0" cy="54864"/>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123176" y="2980944"/>
            <a:ext cx="0" cy="54864"/>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123176" y="3364992"/>
            <a:ext cx="0" cy="54864"/>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9637776" y="2066543"/>
            <a:ext cx="2203704" cy="182880"/>
          </a:xfrm>
          <a:prstGeom prst="rect">
            <a:avLst/>
          </a:prstGeom>
          <a:solidFill>
            <a:srgbClr val="1F6FB5"/>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«repository»  KV Store</a:t>
            </a:r>
          </a:p>
        </p:txBody>
      </p:sp>
      <p:sp>
        <p:nvSpPr>
          <p:cNvPr id="57" name="Rectangle 56"/>
          <p:cNvSpPr/>
          <p:nvPr/>
        </p:nvSpPr>
        <p:spPr>
          <a:xfrm>
            <a:off x="11393424" y="2080260"/>
            <a:ext cx="384048" cy="15544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680" b="1" i="0">
                <a:solidFill>
                  <a:srgbClr val="FFFFFF"/>
                </a:solidFill>
                <a:latin typeface="맑은 고딕"/>
                <a:ea typeface="맑은 고딕"/>
              </a:rPr>
              <a:t>DP1</a:t>
            </a:r>
          </a:p>
        </p:txBody>
      </p:sp>
      <p:sp>
        <p:nvSpPr>
          <p:cNvPr id="58" name="Rectangle 57"/>
          <p:cNvSpPr/>
          <p:nvPr/>
        </p:nvSpPr>
        <p:spPr>
          <a:xfrm>
            <a:off x="9747503" y="2304288"/>
            <a:ext cx="1984248" cy="237744"/>
          </a:xfrm>
          <a:prstGeom prst="rect">
            <a:avLst/>
          </a:prstGeom>
          <a:solidFill>
            <a:srgbClr val="DAE8F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1F4E79"/>
                </a:solidFill>
                <a:latin typeface="맑은 고딕"/>
                <a:ea typeface="맑은 고딕"/>
              </a:rPr>
              <a:t>Context KV 원본 1부만</a:t>
            </a:r>
          </a:p>
        </p:txBody>
      </p:sp>
      <p:sp>
        <p:nvSpPr>
          <p:cNvPr id="59" name="Rectangle 58"/>
          <p:cNvSpPr/>
          <p:nvPr/>
        </p:nvSpPr>
        <p:spPr>
          <a:xfrm>
            <a:off x="9637776" y="2688336"/>
            <a:ext cx="2203704" cy="676656"/>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112000"/>
              </a:lnSpc>
            </a:pPr>
            <a:r>
              <a:rPr sz="780" b="1" i="0">
                <a:solidFill>
                  <a:srgbClr val="C55A11"/>
                </a:solidFill>
                <a:latin typeface="맑은 고딕"/>
                <a:ea typeface="맑은 고딕"/>
              </a:rPr>
              <a:t>③ Score Cache</a:t>
            </a:r>
          </a:p>
          <a:p>
            <a:pPr algn="l">
              <a:lnSpc>
                <a:spcPct val="112000"/>
              </a:lnSpc>
            </a:pPr>
            <a:r>
              <a:rPr sz="780" b="1" i="0">
                <a:solidFill>
                  <a:srgbClr val="C55A11"/>
                </a:solidFill>
                <a:latin typeface="맑은 고딕"/>
                <a:ea typeface="맑은 고딕"/>
              </a:rPr>
              <a:t>(Context chunk × Query cluster)</a:t>
            </a:r>
          </a:p>
          <a:p>
            <a:pPr algn="l">
              <a:lnSpc>
                <a:spcPct val="112000"/>
              </a:lnSpc>
            </a:pPr>
            <a:r>
              <a:rPr sz="780" b="1" i="0">
                <a:solidFill>
                  <a:srgbClr val="C55A11"/>
                </a:solidFill>
                <a:latin typeface="맑은 고딕"/>
                <a:ea typeface="맑은 고딕"/>
              </a:rPr>
              <a:t>→ deviation 점수 벡터만 보관</a:t>
            </a:r>
          </a:p>
          <a:p>
            <a:pPr algn="l">
              <a:lnSpc>
                <a:spcPct val="112000"/>
              </a:lnSpc>
            </a:pPr>
            <a:r>
              <a:rPr sz="780" b="1" i="0">
                <a:solidFill>
                  <a:srgbClr val="C55A11"/>
                </a:solidFill>
                <a:latin typeface="맑은 고딕"/>
                <a:ea typeface="맑은 고딕"/>
              </a:rPr>
              <a:t>토큰당 scalar — KV 대비 ~1/1000</a:t>
            </a:r>
          </a:p>
        </p:txBody>
      </p:sp>
      <p:sp>
        <p:nvSpPr>
          <p:cNvPr id="60" name="TextBox 59"/>
          <p:cNvSpPr txBox="1"/>
          <p:nvPr/>
        </p:nvSpPr>
        <p:spPr>
          <a:xfrm>
            <a:off x="9637776" y="3419856"/>
            <a:ext cx="2203704" cy="292608"/>
          </a:xfrm>
          <a:prstGeom prst="rect">
            <a:avLst/>
          </a:prstGeom>
          <a:noFill/>
        </p:spPr>
        <p:txBody>
          <a:bodyPr wrap="square" lIns="0" tIns="0" rIns="0" bIns="0" anchor="t">
            <a:spAutoFit/>
          </a:bodyPr>
          <a:lstStyle/>
          <a:p>
            <a:pPr algn="l">
              <a:lnSpc>
                <a:spcPct val="108000"/>
              </a:lnSpc>
            </a:pPr>
            <a:r>
              <a:rPr sz="700" b="0" i="0">
                <a:solidFill>
                  <a:srgbClr val="808080"/>
                </a:solidFill>
                <a:latin typeface="맑은 고딕"/>
                <a:ea typeface="맑은 고딕"/>
              </a:rPr>
              <a:t>miss → 그 자리에서 online 산출</a:t>
            </a:r>
          </a:p>
          <a:p>
            <a:pPr algn="l">
              <a:lnSpc>
                <a:spcPct val="108000"/>
              </a:lnSpc>
            </a:pPr>
            <a:r>
              <a:rPr sz="700" b="0" i="0">
                <a:solidFill>
                  <a:srgbClr val="808080"/>
                </a:solidFill>
                <a:latin typeface="맑은 고딕"/>
                <a:ea typeface="맑은 고딕"/>
              </a:rPr>
              <a:t>(tail latency 없음 · 1안 fallback 과 다름)</a:t>
            </a:r>
          </a:p>
        </p:txBody>
      </p:sp>
      <p:cxnSp>
        <p:nvCxnSpPr>
          <p:cNvPr id="61" name="Connector 60"/>
          <p:cNvCxnSpPr/>
          <p:nvPr/>
        </p:nvCxnSpPr>
        <p:spPr>
          <a:xfrm flipH="1">
            <a:off x="9363456" y="2414016"/>
            <a:ext cx="274320"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363456" y="2779776"/>
            <a:ext cx="274320" cy="0"/>
          </a:xfrm>
          <a:prstGeom prst="line">
            <a:avLst/>
          </a:prstGeom>
          <a:ln w="12700">
            <a:solidFill>
              <a:srgbClr val="C55A11"/>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9363456" y="2907792"/>
            <a:ext cx="274320" cy="0"/>
          </a:xfrm>
          <a:prstGeom prst="line">
            <a:avLst/>
          </a:prstGeom>
          <a:ln w="12700">
            <a:solidFill>
              <a:srgbClr val="C55A11"/>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992624" y="3913632"/>
            <a:ext cx="1371600" cy="29260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404040"/>
                </a:solidFill>
                <a:latin typeface="맑은 고딕"/>
                <a:ea typeface="맑은 고딕"/>
              </a:rPr>
              <a:t>Decode</a:t>
            </a:r>
          </a:p>
          <a:p>
            <a:pPr algn="ctr">
              <a:lnSpc>
                <a:spcPct val="92000"/>
              </a:lnSpc>
            </a:pPr>
            <a:r>
              <a:rPr sz="700" b="0" i="0">
                <a:solidFill>
                  <a:srgbClr val="808080"/>
                </a:solidFill>
                <a:latin typeface="맑은 고딕"/>
                <a:ea typeface="맑은 고딕"/>
              </a:rPr>
              <a:t>응답</a:t>
            </a:r>
          </a:p>
        </p:txBody>
      </p:sp>
      <p:cxnSp>
        <p:nvCxnSpPr>
          <p:cNvPr id="65" name="Connector 64"/>
          <p:cNvCxnSpPr/>
          <p:nvPr/>
        </p:nvCxnSpPr>
        <p:spPr>
          <a:xfrm>
            <a:off x="5678424" y="3822191"/>
            <a:ext cx="0" cy="91441"/>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6419088" y="3913632"/>
            <a:ext cx="2944368" cy="292608"/>
          </a:xfrm>
          <a:prstGeom prst="rect">
            <a:avLst/>
          </a:prstGeom>
          <a:solidFill>
            <a:srgbClr val="E2EFDA"/>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780" b="1" i="0">
                <a:solidFill>
                  <a:srgbClr val="375623"/>
                </a:solidFill>
                <a:latin typeface="맑은 고딕"/>
                <a:ea typeface="맑은 고딕"/>
              </a:rPr>
              <a:t>TTFT = 전송 + Attention + 예산 내 재계산</a:t>
            </a:r>
          </a:p>
          <a:p>
            <a:pPr algn="ctr">
              <a:lnSpc>
                <a:spcPct val="105000"/>
              </a:lnSpc>
            </a:pPr>
            <a:r>
              <a:rPr sz="780" b="1" i="0">
                <a:solidFill>
                  <a:srgbClr val="375623"/>
                </a:solidFill>
                <a:latin typeface="맑은 고딕"/>
                <a:ea typeface="맑은 고딕"/>
              </a:rPr>
              <a:t>→ 상한이 구조적으로 결정</a:t>
            </a:r>
          </a:p>
        </p:txBody>
      </p:sp>
      <p:cxnSp>
        <p:nvCxnSpPr>
          <p:cNvPr id="67" name="Connector 66"/>
          <p:cNvCxnSpPr/>
          <p:nvPr/>
        </p:nvCxnSpPr>
        <p:spPr>
          <a:xfrm>
            <a:off x="9363456" y="4059936"/>
            <a:ext cx="137160" cy="0"/>
          </a:xfrm>
          <a:prstGeom prst="line">
            <a:avLst/>
          </a:prstGeom>
          <a:ln w="12700">
            <a:solidFill>
              <a:srgbClr val="548235"/>
            </a:solidFill>
            <a:prstDash val="dash"/>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500616" y="1938528"/>
            <a:ext cx="0" cy="2121408"/>
          </a:xfrm>
          <a:prstGeom prst="line">
            <a:avLst/>
          </a:prstGeom>
          <a:ln w="12700">
            <a:solidFill>
              <a:srgbClr val="5482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882896" y="4297680"/>
            <a:ext cx="6949440" cy="292608"/>
          </a:xfrm>
          <a:prstGeom prst="rect">
            <a:avLst/>
          </a:prstGeom>
          <a:noFill/>
        </p:spPr>
        <p:txBody>
          <a:bodyPr wrap="square" lIns="0" tIns="0" rIns="0" bIns="0" anchor="t">
            <a:spAutoFit/>
          </a:bodyPr>
          <a:lstStyle/>
          <a:p>
            <a:pPr algn="l">
              <a:lnSpc>
                <a:spcPct val="105000"/>
              </a:lnSpc>
            </a:pPr>
            <a:r>
              <a:rPr sz="680" b="0" i="0">
                <a:solidFill>
                  <a:srgbClr val="808080"/>
                </a:solidFill>
                <a:latin typeface="맑은 고딕"/>
                <a:ea typeface="맑은 고딕"/>
              </a:rPr>
              <a:t>── ▶  요청 경로        - - ▶  점수 조회 · 비동기 피드백</a:t>
            </a:r>
          </a:p>
          <a:p>
            <a:pPr algn="l">
              <a:lnSpc>
                <a:spcPct val="105000"/>
              </a:lnSpc>
            </a:pPr>
            <a:r>
              <a:rPr sz="680" b="0" i="0">
                <a:solidFill>
                  <a:srgbClr val="808080"/>
                </a:solidFill>
                <a:latin typeface="맑은 고딕"/>
                <a:ea typeface="맑은 고딕"/>
              </a:rPr>
              <a:t>DP1 : 원본 KV · Score Cache 의 tier 배치 결정        DP2 : 재계산 실행 자원 결정 (예산 k_max 의 물리적 근거)</a:t>
            </a:r>
          </a:p>
        </p:txBody>
      </p:sp>
      <p:sp>
        <p:nvSpPr>
          <p:cNvPr id="70" name="TextBox 69"/>
          <p:cNvSpPr txBox="1"/>
          <p:nvPr/>
        </p:nvSpPr>
        <p:spPr>
          <a:xfrm>
            <a:off x="1078992" y="4846320"/>
            <a:ext cx="3566160" cy="731520"/>
          </a:xfrm>
          <a:prstGeom prst="rect">
            <a:avLst/>
          </a:prstGeom>
          <a:noFill/>
        </p:spPr>
        <p:txBody>
          <a:bodyPr wrap="square" lIns="0" tIns="0" rIns="0" bIns="0" anchor="t">
            <a:spAutoFit/>
          </a:bodyPr>
          <a:lstStyle/>
          <a:p>
            <a:pPr marL="137160" indent="-137160">
              <a:lnSpc>
                <a:spcPct val="108000"/>
              </a:lnSpc>
              <a:spcAft>
                <a:spcPts val="200"/>
              </a:spcAft>
              <a:buFont typeface="Arial" pitchFamily="34" charset="0"/>
              <a:buChar char="▪"/>
            </a:pPr>
            <a:r>
              <a:rPr sz="850" b="0" i="0">
                <a:solidFill>
                  <a:srgbClr val="404040"/>
                </a:solidFill>
                <a:latin typeface="맑은 고딕"/>
                <a:ea typeface="맑은 고딕"/>
              </a:rPr>
              <a:t>실제 Query 기준 재계산 → 정확도 제약을 구조적으로 만족</a:t>
            </a:r>
          </a:p>
          <a:p>
            <a:pPr marL="137160" indent="-137160">
              <a:lnSpc>
                <a:spcPct val="108000"/>
              </a:lnSpc>
              <a:spcAft>
                <a:spcPts val="200"/>
              </a:spcAft>
              <a:buFont typeface="Arial" pitchFamily="34" charset="0"/>
              <a:buChar char="▪"/>
            </a:pPr>
            <a:r>
              <a:rPr sz="850" b="0" i="0">
                <a:solidFill>
                  <a:srgbClr val="404040"/>
                </a:solidFill>
                <a:latin typeface="맑은 고딕"/>
                <a:ea typeface="맑은 고딕"/>
              </a:rPr>
              <a:t>원본 1부만 보관 → 저장 효율 우수, stale 없음</a:t>
            </a:r>
          </a:p>
        </p:txBody>
      </p:sp>
      <p:sp>
        <p:nvSpPr>
          <p:cNvPr id="71" name="TextBox 70"/>
          <p:cNvSpPr txBox="1"/>
          <p:nvPr/>
        </p:nvSpPr>
        <p:spPr>
          <a:xfrm>
            <a:off x="4919472" y="4846320"/>
            <a:ext cx="6940296" cy="731520"/>
          </a:xfrm>
          <a:prstGeom prst="rect">
            <a:avLst/>
          </a:prstGeom>
          <a:noFill/>
        </p:spPr>
        <p:txBody>
          <a:bodyPr wrap="square" lIns="0" tIns="0" rIns="0" bIns="0" anchor="t">
            <a:spAutoFit/>
          </a:bodyPr>
          <a:lstStyle/>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① SLO·큐 깊이에서 k_max 를 역산 → TTFT 에 구조적 상한 확보, 과부하 시 자동 축소 (약점 ①② 해소)</a:t>
            </a:r>
          </a:p>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② 누적 deviation ρ ≥ τ 에서 중단 → 평균 재계산량이 k_max 보다 작아져 상한을 쓰지 않고도 TTFT 절감</a:t>
            </a:r>
          </a:p>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③ Score Cache 로 Attention 단계를 skip — 저장하는 것은 KV 가 아닌 선정 점수이므로 1안의 용량 증가·stale 위험 없음</a:t>
            </a:r>
          </a:p>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④ KV chunk 전송과 재계산을 겹쳐 재계산 시간을 전송 지연에 숨김 → critical path 실효 길이 단축</a:t>
            </a:r>
          </a:p>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⑤ 샘플 대조로 실측 drop 을 추정해 τ 를 자동 조정 → 1% 제약을 런타임에 유지 (설계 시 1회 결정이 아님)</a:t>
            </a:r>
          </a:p>
        </p:txBody>
      </p:sp>
      <p:sp>
        <p:nvSpPr>
          <p:cNvPr id="72" name="TextBox 71"/>
          <p:cNvSpPr txBox="1"/>
          <p:nvPr/>
        </p:nvSpPr>
        <p:spPr>
          <a:xfrm>
            <a:off x="1078992" y="5669279"/>
            <a:ext cx="3566160" cy="384048"/>
          </a:xfrm>
          <a:prstGeom prst="rect">
            <a:avLst/>
          </a:prstGeom>
          <a:noFill/>
        </p:spPr>
        <p:txBody>
          <a:bodyPr wrap="square" lIns="0" tIns="0" rIns="0" bIns="0" anchor="t">
            <a:spAutoFit/>
          </a:bodyPr>
          <a:lstStyle/>
          <a:p>
            <a:pPr marL="137160" indent="-137160">
              <a:lnSpc>
                <a:spcPct val="108000"/>
              </a:lnSpc>
              <a:spcAft>
                <a:spcPts val="200"/>
              </a:spcAft>
              <a:buFont typeface="Arial" pitchFamily="34" charset="0"/>
              <a:buChar char="▪"/>
            </a:pPr>
            <a:r>
              <a:rPr sz="850" b="0" i="0">
                <a:solidFill>
                  <a:srgbClr val="404040"/>
                </a:solidFill>
                <a:latin typeface="맑은 고딕"/>
                <a:ea typeface="맑은 고딕"/>
              </a:rPr>
              <a:t>재계산이 매 요청 critical path 에 상주 → TTFT 절감률 낮음</a:t>
            </a:r>
          </a:p>
          <a:p>
            <a:pPr marL="137160" indent="-137160">
              <a:lnSpc>
                <a:spcPct val="108000"/>
              </a:lnSpc>
              <a:spcAft>
                <a:spcPts val="200"/>
              </a:spcAft>
              <a:buFont typeface="Arial" pitchFamily="34" charset="0"/>
              <a:buChar char="▪"/>
            </a:pPr>
            <a:r>
              <a:rPr sz="850" b="0" i="0">
                <a:solidFill>
                  <a:srgbClr val="404040"/>
                </a:solidFill>
                <a:latin typeface="맑은 고딕"/>
                <a:ea typeface="맑은 고딕"/>
              </a:rPr>
              <a:t>동시 요청 증가 시 재계산 경합 → 확장 여유 제한</a:t>
            </a:r>
          </a:p>
        </p:txBody>
      </p:sp>
      <p:sp>
        <p:nvSpPr>
          <p:cNvPr id="73" name="TextBox 72"/>
          <p:cNvSpPr txBox="1"/>
          <p:nvPr/>
        </p:nvSpPr>
        <p:spPr>
          <a:xfrm>
            <a:off x="4919472" y="5669279"/>
            <a:ext cx="6940296" cy="384048"/>
          </a:xfrm>
          <a:prstGeom prst="rect">
            <a:avLst/>
          </a:prstGeom>
          <a:noFill/>
        </p:spPr>
        <p:txBody>
          <a:bodyPr wrap="square" lIns="0" tIns="0" rIns="0" bIns="0" anchor="t">
            <a:spAutoFit/>
          </a:bodyPr>
          <a:lstStyle/>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τ · k_max · 클러스터 갱신 주기 등 튜닝 파라미터 증가 → Modifiability / Testability ↓, 재현을 위한 freeze 모드 필요</a:t>
            </a:r>
          </a:p>
          <a:p>
            <a:pPr marL="137160" indent="-137160">
              <a:lnSpc>
                <a:spcPct val="108000"/>
              </a:lnSpc>
              <a:spcAft>
                <a:spcPts val="200"/>
              </a:spcAft>
              <a:buFont typeface="Arial" pitchFamily="34" charset="0"/>
              <a:buChar char="▪"/>
            </a:pPr>
            <a:r>
              <a:rPr sz="800" b="0" i="0">
                <a:solidFill>
                  <a:srgbClr val="404040"/>
                </a:solidFill>
                <a:latin typeface="맑은 고딕"/>
                <a:ea typeface="맑은 고딕"/>
              </a:rPr>
              <a:t>적응형 예산으로 요청별 재계산량이 달라짐 → latency 분산(jitter) 증가, Score Cache 갱신·Guard 샘플링 비용 추가</a:t>
            </a:r>
          </a:p>
        </p:txBody>
      </p:sp>
      <p:sp>
        <p:nvSpPr>
          <p:cNvPr id="74" name="TextBox 73"/>
          <p:cNvSpPr txBox="1"/>
          <p:nvPr/>
        </p:nvSpPr>
        <p:spPr>
          <a:xfrm>
            <a:off x="1078992" y="6163056"/>
            <a:ext cx="2157984" cy="164592"/>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  Performance 시간 (ms-TTFT, TPOT)</a:t>
            </a:r>
          </a:p>
        </p:txBody>
      </p:sp>
      <p:sp>
        <p:nvSpPr>
          <p:cNvPr id="75" name="TextBox 74"/>
          <p:cNvSpPr txBox="1"/>
          <p:nvPr/>
        </p:nvSpPr>
        <p:spPr>
          <a:xfrm>
            <a:off x="3273552" y="6144768"/>
            <a:ext cx="694944" cy="182880"/>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76" name="TextBox 75"/>
          <p:cNvSpPr txBox="1"/>
          <p:nvPr/>
        </p:nvSpPr>
        <p:spPr>
          <a:xfrm>
            <a:off x="1078992" y="6345936"/>
            <a:ext cx="2157984" cy="164592"/>
          </a:xfrm>
          <a:prstGeom prst="rect">
            <a:avLst/>
          </a:prstGeom>
          <a:noFill/>
        </p:spPr>
        <p:txBody>
          <a:bodyPr wrap="square" lIns="0" tIns="0" rIns="0" bIns="0" anchor="ctr">
            <a:spAutoFit/>
          </a:bodyPr>
          <a:lstStyle/>
          <a:p>
            <a:pPr algn="l"/>
            <a:r>
              <a:rPr sz="800" b="0" i="0" dirty="0">
                <a:solidFill>
                  <a:srgbClr val="404040"/>
                </a:solidFill>
                <a:latin typeface="맑은 고딕"/>
                <a:ea typeface="맑은 고딕"/>
              </a:rPr>
              <a:t>▪  Resource Utilization (</a:t>
            </a:r>
            <a:r>
              <a:rPr sz="800" b="0" i="0" dirty="0" err="1">
                <a:solidFill>
                  <a:srgbClr val="404040"/>
                </a:solidFill>
                <a:latin typeface="맑은 고딕"/>
                <a:ea typeface="맑은 고딕"/>
              </a:rPr>
              <a:t>저장</a:t>
            </a:r>
            <a:r>
              <a:rPr sz="800" b="0" i="0" dirty="0">
                <a:solidFill>
                  <a:srgbClr val="404040"/>
                </a:solidFill>
                <a:latin typeface="맑은 고딕"/>
                <a:ea typeface="맑은 고딕"/>
              </a:rPr>
              <a:t> </a:t>
            </a:r>
            <a:r>
              <a:rPr sz="800" b="0" i="0" dirty="0" err="1">
                <a:solidFill>
                  <a:srgbClr val="404040"/>
                </a:solidFill>
                <a:latin typeface="맑은 고딕"/>
                <a:ea typeface="맑은 고딕"/>
              </a:rPr>
              <a:t>용량</a:t>
            </a:r>
            <a:r>
              <a:rPr sz="800" b="0" i="0" dirty="0">
                <a:solidFill>
                  <a:srgbClr val="404040"/>
                </a:solidFill>
                <a:latin typeface="맑은 고딕"/>
                <a:ea typeface="맑은 고딕"/>
              </a:rPr>
              <a:t> · I/O)</a:t>
            </a:r>
          </a:p>
        </p:txBody>
      </p:sp>
      <p:sp>
        <p:nvSpPr>
          <p:cNvPr id="77" name="TextBox 76"/>
          <p:cNvSpPr txBox="1"/>
          <p:nvPr/>
        </p:nvSpPr>
        <p:spPr>
          <a:xfrm>
            <a:off x="3273552" y="6327648"/>
            <a:ext cx="694944" cy="182880"/>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78" name="TextBox 77"/>
          <p:cNvSpPr txBox="1"/>
          <p:nvPr/>
        </p:nvSpPr>
        <p:spPr>
          <a:xfrm>
            <a:off x="1078992" y="6528816"/>
            <a:ext cx="2157984" cy="164592"/>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  Scalability (동시 요청 · Context 길이)</a:t>
            </a:r>
          </a:p>
        </p:txBody>
      </p:sp>
      <p:sp>
        <p:nvSpPr>
          <p:cNvPr id="79" name="TextBox 78"/>
          <p:cNvSpPr txBox="1"/>
          <p:nvPr/>
        </p:nvSpPr>
        <p:spPr>
          <a:xfrm>
            <a:off x="3273552" y="6510528"/>
            <a:ext cx="694944" cy="182880"/>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80" name="TextBox 79"/>
          <p:cNvSpPr txBox="1"/>
          <p:nvPr/>
        </p:nvSpPr>
        <p:spPr>
          <a:xfrm>
            <a:off x="4919472" y="6163056"/>
            <a:ext cx="2734056" cy="164592"/>
          </a:xfrm>
          <a:prstGeom prst="rect">
            <a:avLst/>
          </a:prstGeom>
          <a:noFill/>
        </p:spPr>
        <p:txBody>
          <a:bodyPr wrap="square" lIns="0" tIns="0" rIns="0" bIns="0" anchor="ctr">
            <a:spAutoFit/>
          </a:bodyPr>
          <a:lstStyle/>
          <a:p>
            <a:pPr algn="l"/>
            <a:r>
              <a:rPr sz="850" b="0" i="0">
                <a:solidFill>
                  <a:srgbClr val="404040"/>
                </a:solidFill>
                <a:latin typeface="맑은 고딕"/>
                <a:ea typeface="맑은 고딕"/>
              </a:rPr>
              <a:t>▪  Performance 시간 (ms-TTFT, TPOT)</a:t>
            </a:r>
          </a:p>
        </p:txBody>
      </p:sp>
      <p:sp>
        <p:nvSpPr>
          <p:cNvPr id="81" name="TextBox 80"/>
          <p:cNvSpPr txBox="1"/>
          <p:nvPr/>
        </p:nvSpPr>
        <p:spPr>
          <a:xfrm>
            <a:off x="7690104" y="6144768"/>
            <a:ext cx="694944" cy="182880"/>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82" name="TextBox 81"/>
          <p:cNvSpPr txBox="1"/>
          <p:nvPr/>
        </p:nvSpPr>
        <p:spPr>
          <a:xfrm>
            <a:off x="4919472" y="6345936"/>
            <a:ext cx="2734056" cy="164592"/>
          </a:xfrm>
          <a:prstGeom prst="rect">
            <a:avLst/>
          </a:prstGeom>
          <a:noFill/>
        </p:spPr>
        <p:txBody>
          <a:bodyPr wrap="square" lIns="0" tIns="0" rIns="0" bIns="0" anchor="ctr">
            <a:spAutoFit/>
          </a:bodyPr>
          <a:lstStyle/>
          <a:p>
            <a:pPr algn="l"/>
            <a:r>
              <a:rPr sz="850" b="0" i="0" dirty="0">
                <a:solidFill>
                  <a:srgbClr val="404040"/>
                </a:solidFill>
                <a:latin typeface="맑은 고딕"/>
                <a:ea typeface="맑은 고딕"/>
              </a:rPr>
              <a:t>▪  Resource Utilization (</a:t>
            </a:r>
            <a:r>
              <a:rPr sz="850" b="0" i="0" dirty="0" err="1">
                <a:solidFill>
                  <a:srgbClr val="404040"/>
                </a:solidFill>
                <a:latin typeface="맑은 고딕"/>
                <a:ea typeface="맑은 고딕"/>
              </a:rPr>
              <a:t>저장</a:t>
            </a:r>
            <a:r>
              <a:rPr sz="850" b="0" i="0" dirty="0">
                <a:solidFill>
                  <a:srgbClr val="404040"/>
                </a:solidFill>
                <a:latin typeface="맑은 고딕"/>
                <a:ea typeface="맑은 고딕"/>
              </a:rPr>
              <a:t> </a:t>
            </a:r>
            <a:r>
              <a:rPr sz="850" b="0" i="0" dirty="0" err="1">
                <a:solidFill>
                  <a:srgbClr val="404040"/>
                </a:solidFill>
                <a:latin typeface="맑은 고딕"/>
                <a:ea typeface="맑은 고딕"/>
              </a:rPr>
              <a:t>용량</a:t>
            </a:r>
            <a:r>
              <a:rPr sz="850" b="0" i="0" dirty="0">
                <a:solidFill>
                  <a:srgbClr val="404040"/>
                </a:solidFill>
                <a:latin typeface="맑은 고딕"/>
                <a:ea typeface="맑은 고딕"/>
              </a:rPr>
              <a:t> · I/O)</a:t>
            </a:r>
          </a:p>
        </p:txBody>
      </p:sp>
      <p:sp>
        <p:nvSpPr>
          <p:cNvPr id="83" name="TextBox 82"/>
          <p:cNvSpPr txBox="1"/>
          <p:nvPr/>
        </p:nvSpPr>
        <p:spPr>
          <a:xfrm>
            <a:off x="7690104" y="6327648"/>
            <a:ext cx="694944" cy="182880"/>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84" name="TextBox 83"/>
          <p:cNvSpPr txBox="1"/>
          <p:nvPr/>
        </p:nvSpPr>
        <p:spPr>
          <a:xfrm>
            <a:off x="4919472" y="6528816"/>
            <a:ext cx="2734056" cy="164592"/>
          </a:xfrm>
          <a:prstGeom prst="rect">
            <a:avLst/>
          </a:prstGeom>
          <a:noFill/>
        </p:spPr>
        <p:txBody>
          <a:bodyPr wrap="square" lIns="0" tIns="0" rIns="0" bIns="0" anchor="ctr">
            <a:spAutoFit/>
          </a:bodyPr>
          <a:lstStyle/>
          <a:p>
            <a:pPr algn="l"/>
            <a:r>
              <a:rPr sz="850" b="0" i="0">
                <a:solidFill>
                  <a:srgbClr val="404040"/>
                </a:solidFill>
                <a:latin typeface="맑은 고딕"/>
                <a:ea typeface="맑은 고딕"/>
              </a:rPr>
              <a:t>▪  Scalability (동시 요청 · Context 길이)</a:t>
            </a:r>
          </a:p>
        </p:txBody>
      </p:sp>
      <p:sp>
        <p:nvSpPr>
          <p:cNvPr id="85" name="TextBox 84"/>
          <p:cNvSpPr txBox="1"/>
          <p:nvPr/>
        </p:nvSpPr>
        <p:spPr>
          <a:xfrm>
            <a:off x="7690104" y="6510528"/>
            <a:ext cx="694944" cy="182880"/>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86" name="TextBox 85"/>
          <p:cNvSpPr txBox="1"/>
          <p:nvPr/>
        </p:nvSpPr>
        <p:spPr>
          <a:xfrm>
            <a:off x="4023360" y="6528816"/>
            <a:ext cx="621792" cy="182880"/>
          </a:xfrm>
          <a:prstGeom prst="rect">
            <a:avLst/>
          </a:prstGeom>
          <a:noFill/>
        </p:spPr>
        <p:txBody>
          <a:bodyPr wrap="square" lIns="0" tIns="0" rIns="0" bIns="0" anchor="ctr">
            <a:spAutoFit/>
          </a:bodyPr>
          <a:lstStyle/>
          <a:p>
            <a:pPr algn="r"/>
            <a:r>
              <a:rPr sz="850" b="1" i="0">
                <a:solidFill>
                  <a:srgbClr val="262626"/>
                </a:solidFill>
                <a:latin typeface="맑은 고딕"/>
                <a:ea typeface="맑은 고딕"/>
              </a:rPr>
              <a:t>총 7점</a:t>
            </a:r>
          </a:p>
        </p:txBody>
      </p:sp>
      <p:sp>
        <p:nvSpPr>
          <p:cNvPr id="87" name="TextBox 86"/>
          <p:cNvSpPr txBox="1"/>
          <p:nvPr/>
        </p:nvSpPr>
        <p:spPr>
          <a:xfrm>
            <a:off x="11201400" y="6565392"/>
            <a:ext cx="658368" cy="182880"/>
          </a:xfrm>
          <a:prstGeom prst="rect">
            <a:avLst/>
          </a:prstGeom>
          <a:noFill/>
        </p:spPr>
        <p:txBody>
          <a:bodyPr wrap="square" lIns="0" tIns="0" rIns="0" bIns="0" anchor="ctr">
            <a:spAutoFit/>
          </a:bodyPr>
          <a:lstStyle/>
          <a:p>
            <a:pPr algn="r"/>
            <a:r>
              <a:rPr sz="900" b="1" i="0">
                <a:solidFill>
                  <a:srgbClr val="C00000"/>
                </a:solidFill>
                <a:latin typeface="맑은 고딕"/>
                <a:ea typeface="맑은 고딕"/>
              </a:rPr>
              <a:t>총 9점</a:t>
            </a:r>
          </a:p>
        </p:txBody>
      </p:sp>
      <p:sp>
        <p:nvSpPr>
          <p:cNvPr id="88" name="TextBox 87"/>
          <p:cNvSpPr txBox="1"/>
          <p:nvPr/>
        </p:nvSpPr>
        <p:spPr>
          <a:xfrm>
            <a:off x="8522208" y="6144768"/>
            <a:ext cx="2834640" cy="603504"/>
          </a:xfrm>
          <a:prstGeom prst="rect">
            <a:avLst/>
          </a:prstGeom>
          <a:noFill/>
        </p:spPr>
        <p:txBody>
          <a:bodyPr wrap="square" lIns="0" tIns="0" rIns="0" bIns="0" anchor="t">
            <a:spAutoFit/>
          </a:bodyPr>
          <a:lstStyle/>
          <a:p>
            <a:pPr algn="l">
              <a:lnSpc>
                <a:spcPct val="110000"/>
              </a:lnSpc>
            </a:pPr>
            <a:r>
              <a:rPr sz="700" b="0" i="0">
                <a:solidFill>
                  <a:srgbClr val="2E75B6"/>
                </a:solidFill>
                <a:latin typeface="맑은 고딕"/>
                <a:ea typeface="맑은 고딕"/>
              </a:rPr>
              <a:t>원안 대비 개선 지점</a:t>
            </a:r>
          </a:p>
          <a:p>
            <a:pPr algn="l">
              <a:lnSpc>
                <a:spcPct val="110000"/>
              </a:lnSpc>
            </a:pPr>
            <a:r>
              <a:rPr sz="700" b="0" i="0">
                <a:solidFill>
                  <a:srgbClr val="2E75B6"/>
                </a:solidFill>
                <a:latin typeface="맑은 고딕"/>
                <a:ea typeface="맑은 고딕"/>
              </a:rPr>
              <a:t>· Performance : ①②④ 로 TTFT 상한 + 평균 모두 개선</a:t>
            </a:r>
          </a:p>
          <a:p>
            <a:pPr algn="l">
              <a:lnSpc>
                <a:spcPct val="110000"/>
              </a:lnSpc>
            </a:pPr>
            <a:r>
              <a:rPr sz="700" b="0" i="0">
                <a:solidFill>
                  <a:srgbClr val="2E75B6"/>
                </a:solidFill>
                <a:latin typeface="맑은 고딕"/>
                <a:ea typeface="맑은 고딕"/>
              </a:rPr>
              <a:t>· Scalability : ① 이 큐 깊이에 반응 → 경합 시 자동 degrade</a:t>
            </a:r>
          </a:p>
          <a:p>
            <a:pPr algn="l">
              <a:lnSpc>
                <a:spcPct val="110000"/>
              </a:lnSpc>
            </a:pPr>
            <a:r>
              <a:rPr sz="700" b="0" i="0">
                <a:solidFill>
                  <a:srgbClr val="2E75B6"/>
                </a:solidFill>
                <a:latin typeface="맑은 고딕"/>
                <a:ea typeface="맑은 고딕"/>
              </a:rPr>
              <a:t>· 정확도 제약은 ⑤ 로 런타임 유지 (타협 없음)</a:t>
            </a:r>
          </a:p>
        </p:txBody>
      </p:sp>
    </p:spTree>
    <p:extLst>
      <p:ext uri="{BB962C8B-B14F-4D97-AF65-F5344CB8AC3E}">
        <p14:creationId xmlns:p14="http://schemas.microsoft.com/office/powerpoint/2010/main" val="245600330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3050431403"/>
              </p:ext>
            </p:extLst>
          </p:nvPr>
        </p:nvGraphicFramePr>
        <p:xfrm>
          <a:off x="234949" y="1032440"/>
          <a:ext cx="11759184" cy="5535337"/>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1716533">
                  <a:extLst>
                    <a:ext uri="{9D8B030D-6E8A-4147-A177-3AD203B41FA5}">
                      <a16:colId xmlns:a16="http://schemas.microsoft.com/office/drawing/2014/main" val="4114062400"/>
                    </a:ext>
                  </a:extLst>
                </a:gridCol>
                <a:gridCol w="3907027">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Query Aware</a:t>
                      </a:r>
                      <a:r>
                        <a:rPr lang="en-US" altLang="ko-KR" sz="1200" b="1" baseline="0" dirty="0"/>
                        <a:t> </a:t>
                      </a:r>
                      <a:r>
                        <a:rPr lang="ko-KR" altLang="en-US" sz="1200" b="1" baseline="0" dirty="0"/>
                        <a:t>재사용 구조 </a:t>
                      </a:r>
                      <a:r>
                        <a:rPr lang="en-US" altLang="ko-KR" sz="1200" b="1" baseline="0" dirty="0"/>
                        <a:t>(Online) </a:t>
                      </a:r>
                      <a:r>
                        <a:rPr lang="en-US" altLang="ko-KR" sz="1050" b="1" kern="1200" baseline="0" dirty="0">
                          <a:solidFill>
                            <a:schemeClr val="bg1">
                              <a:lumMod val="50000"/>
                            </a:schemeClr>
                          </a:solidFill>
                          <a:latin typeface="+mn-lt"/>
                          <a:ea typeface="+mn-ea"/>
                          <a:cs typeface="+mn-cs"/>
                        </a:rPr>
                        <a:t>(Pipe-and-Filter)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1200" b="1" i="0" u="none" strike="noStrike" kern="1200" cap="none" spc="0" normalizeH="0" baseline="0" noProof="0" dirty="0">
                          <a:ln>
                            <a:noFill/>
                          </a:ln>
                          <a:solidFill>
                            <a:schemeClr val="tx1"/>
                          </a:solidFill>
                          <a:effectLst/>
                          <a:uLnTx/>
                          <a:uFillTx/>
                          <a:latin typeface="+mn-lt"/>
                          <a:ea typeface="맑은 고딕"/>
                          <a:cs typeface="+mn-cs"/>
                        </a:rPr>
                        <a:t>(1</a:t>
                      </a:r>
                      <a:r>
                        <a:rPr kumimoji="0" lang="ko-KR" altLang="en-US" sz="1200" b="1" i="0" u="none" strike="noStrike" kern="1200" cap="none" spc="0" normalizeH="0" baseline="0" noProof="0" dirty="0">
                          <a:ln>
                            <a:noFill/>
                          </a:ln>
                          <a:solidFill>
                            <a:schemeClr val="tx1"/>
                          </a:solidFill>
                          <a:effectLst/>
                          <a:uLnTx/>
                          <a:uFillTx/>
                          <a:latin typeface="+mn-lt"/>
                          <a:ea typeface="맑은 고딕"/>
                          <a:cs typeface="+mn-cs"/>
                        </a:rPr>
                        <a:t>안 보완</a:t>
                      </a:r>
                      <a:r>
                        <a:rPr kumimoji="0" lang="en-US" altLang="ko-KR" sz="1200" b="1" i="0" u="none" strike="noStrike" kern="1200" cap="none" spc="0" normalizeH="0" baseline="0" noProof="0" dirty="0">
                          <a:ln>
                            <a:noFill/>
                          </a:ln>
                          <a:solidFill>
                            <a:schemeClr val="tx1"/>
                          </a:solidFill>
                          <a:effectLst/>
                          <a:uLnTx/>
                          <a:uFillTx/>
                          <a:latin typeface="+mn-lt"/>
                          <a:ea typeface="맑은 고딕"/>
                          <a:cs typeface="+mn-cs"/>
                        </a:rPr>
                        <a:t>)</a:t>
                      </a:r>
                      <a:r>
                        <a:rPr kumimoji="0" lang="en-US" altLang="ko-KR" sz="1200" b="1" i="0" u="none" strike="noStrike" kern="1200" cap="none" spc="0" normalizeH="0" baseline="0" noProof="0" dirty="0">
                          <a:ln>
                            <a:noFill/>
                          </a:ln>
                          <a:solidFill>
                            <a:srgbClr val="C00000"/>
                          </a:solidFill>
                          <a:effectLst/>
                          <a:uLnTx/>
                          <a:uFillTx/>
                          <a:latin typeface="+mn-lt"/>
                          <a:ea typeface="맑은 고딕"/>
                          <a:cs typeface="+mn-cs"/>
                        </a:rPr>
                        <a:t> </a:t>
                      </a:r>
                      <a:r>
                        <a:rPr kumimoji="0" lang="en-US" altLang="ko-KR" sz="1200" b="1" i="0" u="none" strike="noStrike" kern="1200" cap="none" spc="0" normalizeH="0" baseline="0" noProof="0" dirty="0">
                          <a:ln>
                            <a:noFill/>
                          </a:ln>
                          <a:solidFill>
                            <a:srgbClr val="FF0000"/>
                          </a:solidFill>
                          <a:effectLst/>
                          <a:uLnTx/>
                          <a:uFillTx/>
                          <a:latin typeface="+mn-lt"/>
                          <a:ea typeface="맑은 고딕"/>
                          <a:cs typeface="+mn-cs"/>
                        </a:rPr>
                        <a:t>+ </a:t>
                      </a:r>
                      <a:r>
                        <a:rPr kumimoji="0" lang="ko-KR" altLang="en-US" sz="1200" b="1" i="0" u="none" strike="noStrike" kern="1200" cap="none" spc="0" normalizeH="0" baseline="0" noProof="0" dirty="0">
                          <a:ln>
                            <a:noFill/>
                          </a:ln>
                          <a:solidFill>
                            <a:srgbClr val="FF0000"/>
                          </a:solidFill>
                          <a:effectLst/>
                          <a:uLnTx/>
                          <a:uFillTx/>
                          <a:latin typeface="+mn-lt"/>
                          <a:ea typeface="맑은 고딕"/>
                          <a:cs typeface="+mn-cs"/>
                        </a:rPr>
                        <a:t>저비용 선정 </a:t>
                      </a:r>
                      <a:r>
                        <a:rPr kumimoji="0" lang="en-US" altLang="ko-KR" sz="1200" b="1" i="0" u="none" strike="noStrike" kern="1200" cap="none" spc="0" normalizeH="0" baseline="0" noProof="0" dirty="0">
                          <a:ln>
                            <a:noFill/>
                          </a:ln>
                          <a:solidFill>
                            <a:srgbClr val="FF0000"/>
                          </a:solidFill>
                          <a:effectLst/>
                          <a:uLnTx/>
                          <a:uFillTx/>
                          <a:latin typeface="+mn-lt"/>
                          <a:ea typeface="맑은 고딕"/>
                          <a:cs typeface="+mn-cs"/>
                        </a:rPr>
                        <a:t>· </a:t>
                      </a:r>
                      <a:r>
                        <a:rPr kumimoji="0" lang="ko-KR" altLang="en-US" sz="1200" b="1" i="0" u="none" strike="noStrike" kern="1200" cap="none" spc="0" normalizeH="0" baseline="0" noProof="0" dirty="0">
                          <a:ln>
                            <a:noFill/>
                          </a:ln>
                          <a:solidFill>
                            <a:srgbClr val="FF0000"/>
                          </a:solidFill>
                          <a:effectLst/>
                          <a:uLnTx/>
                          <a:uFillTx/>
                          <a:latin typeface="+mn-lt"/>
                          <a:ea typeface="맑은 고딕"/>
                          <a:cs typeface="+mn-cs"/>
                        </a:rPr>
                        <a:t>예산 제어 </a:t>
                      </a:r>
                      <a:r>
                        <a:rPr lang="en-US" altLang="ko-KR" sz="1050" b="1" kern="1200" baseline="0" noProof="0" dirty="0">
                          <a:solidFill>
                            <a:schemeClr val="bg1">
                              <a:lumMod val="50000"/>
                            </a:schemeClr>
                          </a:solidFill>
                          <a:latin typeface="+mn-lt"/>
                          <a:ea typeface="+mn-ea"/>
                          <a:cs typeface="+mn-cs"/>
                        </a:rPr>
                        <a:t>(+ Hierarchical Index + Feedback Control </a:t>
                      </a:r>
                      <a:r>
                        <a:rPr lang="ko-KR" altLang="en-US" sz="1050" b="1" kern="1200" baseline="0" noProof="0" dirty="0">
                          <a:solidFill>
                            <a:schemeClr val="bg1">
                              <a:lumMod val="50000"/>
                            </a:schemeClr>
                          </a:solidFill>
                          <a:latin typeface="+mn-lt"/>
                          <a:ea typeface="+mn-ea"/>
                          <a:cs typeface="+mn-cs"/>
                        </a:rPr>
                        <a:t>구조</a:t>
                      </a:r>
                      <a:r>
                        <a:rPr lang="en-US" altLang="ko-KR" sz="1050" b="1" kern="1200" baseline="0" noProof="0" dirty="0">
                          <a:solidFill>
                            <a:schemeClr val="bg1">
                              <a:lumMod val="50000"/>
                            </a:schemeClr>
                          </a:solidFill>
                          <a:latin typeface="+mn-lt"/>
                          <a:ea typeface="+mn-ea"/>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165236">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실제 </a:t>
                      </a:r>
                      <a:r>
                        <a:rPr lang="en-US" altLang="ko-KR" sz="1200" strike="noStrike" baseline="0" dirty="0">
                          <a:effectLst/>
                        </a:rPr>
                        <a:t>Query </a:t>
                      </a:r>
                      <a:r>
                        <a:rPr lang="ko-KR" altLang="en-US" sz="1200" strike="noStrike" baseline="0" dirty="0">
                          <a:effectLst/>
                        </a:rPr>
                        <a:t>기준 재계산 → 정확도 마진이 구조적으로 확보</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원본 </a:t>
                      </a:r>
                      <a:r>
                        <a:rPr lang="en-US" altLang="ko-KR" sz="1200" strike="noStrike" baseline="0" dirty="0">
                          <a:effectLst/>
                        </a:rPr>
                        <a:t>1</a:t>
                      </a:r>
                      <a:r>
                        <a:rPr lang="ko-KR" altLang="en-US" sz="1200" strike="noStrike" baseline="0" dirty="0">
                          <a:effectLst/>
                        </a:rPr>
                        <a:t>부만 보관 → 저장 효율 우수</a:t>
                      </a:r>
                      <a:r>
                        <a:rPr lang="en-US" altLang="ko-KR" sz="1200" strike="noStrike" baseline="0" dirty="0">
                          <a:effectLst/>
                        </a:rPr>
                        <a:t>, stale </a:t>
                      </a:r>
                      <a:r>
                        <a:rPr lang="ko-KR" altLang="en-US" sz="1200" strike="noStrike" baseline="0" dirty="0">
                          <a:effectLst/>
                        </a:rPr>
                        <a:t>없음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rowSpan="2" gridSpan="2">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ko-KR" altLang="en-US" sz="1200" b="0" i="0" dirty="0">
                          <a:solidFill>
                            <a:srgbClr val="C00000"/>
                          </a:solidFill>
                          <a:latin typeface="+mn-lt"/>
                          <a:ea typeface="맑은 고딕"/>
                        </a:rPr>
                        <a:t>개선점</a:t>
                      </a:r>
                      <a:endParaRPr lang="en-US" altLang="ko-KR" sz="1200" b="0" i="0" dirty="0">
                        <a:solidFill>
                          <a:srgbClr val="C00000"/>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AutoNum type="arabicPeriod"/>
                        <a:tabLst/>
                        <a:defRPr/>
                      </a:pPr>
                      <a:r>
                        <a:rPr lang="en-US" altLang="ko-KR" sz="1200" strike="noStrike" baseline="0" dirty="0" err="1">
                          <a:effectLst/>
                        </a:rPr>
                        <a:t>Query×KV</a:t>
                      </a:r>
                      <a:r>
                        <a:rPr lang="en-US" altLang="ko-KR" sz="1200" strike="noStrike" baseline="0" dirty="0">
                          <a:effectLst/>
                        </a:rPr>
                        <a:t> </a:t>
                      </a:r>
                      <a:r>
                        <a:rPr lang="ko-KR" altLang="en-US" sz="1200" strike="noStrike" baseline="0" dirty="0">
                          <a:effectLst/>
                        </a:rPr>
                        <a:t>전량 </a:t>
                      </a:r>
                      <a:r>
                        <a:rPr lang="en-US" altLang="ko-KR" sz="1200" strike="noStrike" baseline="0" dirty="0">
                          <a:effectLst/>
                        </a:rPr>
                        <a:t>Attention → digest(coarse) </a:t>
                      </a:r>
                      <a:r>
                        <a:rPr lang="ko-KR" altLang="en-US" sz="1200" strike="noStrike" baseline="0" dirty="0">
                          <a:effectLst/>
                        </a:rPr>
                        <a:t>후 상위 블록만 </a:t>
                      </a:r>
                      <a:r>
                        <a:rPr lang="en-US" altLang="ko-KR" sz="1200" strike="noStrike" baseline="0" dirty="0">
                          <a:effectLst/>
                        </a:rPr>
                        <a:t>fine, 2</a:t>
                      </a:r>
                      <a:r>
                        <a:rPr lang="ko-KR" altLang="en-US" sz="1200" strike="noStrike" baseline="0" dirty="0">
                          <a:effectLst/>
                        </a:rPr>
                        <a:t>단 </a:t>
                      </a:r>
                      <a:r>
                        <a:rPr lang="ko-KR" altLang="en-US" sz="1200" strike="noStrike" baseline="0" dirty="0" err="1">
                          <a:effectLst/>
                        </a:rPr>
                        <a:t>스코어링</a:t>
                      </a:r>
                      <a:r>
                        <a:rPr lang="ko-KR" altLang="en-US" sz="1200" strike="noStrike" baseline="0" dirty="0">
                          <a:effectLst/>
                        </a:rPr>
                        <a:t> </a:t>
                      </a:r>
                      <a:r>
                        <a:rPr lang="en-US" altLang="ko-KR" sz="1200" strike="noStrike" baseline="0" dirty="0">
                          <a:effectLst/>
                        </a:rPr>
                        <a:t>(M1) — </a:t>
                      </a:r>
                      <a:r>
                        <a:rPr lang="ko-KR" altLang="en-US" sz="1200" strike="noStrike" baseline="0" dirty="0">
                          <a:effectLst/>
                        </a:rPr>
                        <a:t>선정 비용 </a:t>
                      </a:r>
                      <a:r>
                        <a:rPr lang="en-US" altLang="ko-KR" sz="1200" strike="noStrike" baseline="0" dirty="0">
                          <a:effectLst/>
                        </a:rPr>
                        <a:t>O(N) → O(N/B + k)</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AutoNum type="arabicPeriod"/>
                        <a:tabLst/>
                        <a:defRPr/>
                      </a:pPr>
                      <a:r>
                        <a:rPr lang="ko-KR" altLang="en-US" sz="1200" strike="noStrike" baseline="0" dirty="0">
                          <a:effectLst/>
                        </a:rPr>
                        <a:t>재계산을 레이어 파이프라인으로 </a:t>
                      </a:r>
                      <a:r>
                        <a:rPr lang="en-US" altLang="ko-KR" sz="1200" strike="noStrike" baseline="0" dirty="0">
                          <a:effectLst/>
                        </a:rPr>
                        <a:t>KV load </a:t>
                      </a:r>
                      <a:r>
                        <a:rPr lang="ko-KR" altLang="en-US" sz="1200" strike="noStrike" baseline="0" dirty="0">
                          <a:effectLst/>
                        </a:rPr>
                        <a:t>와 중첩 </a:t>
                      </a:r>
                      <a:r>
                        <a:rPr lang="en-US" altLang="ko-KR" sz="1200" strike="noStrike" baseline="0" dirty="0">
                          <a:effectLst/>
                        </a:rPr>
                        <a:t>· </a:t>
                      </a:r>
                      <a:r>
                        <a:rPr lang="ko-KR" altLang="en-US" sz="1200" strike="noStrike" baseline="0" dirty="0">
                          <a:effectLst/>
                        </a:rPr>
                        <a:t>별도 </a:t>
                      </a:r>
                      <a:r>
                        <a:rPr lang="en-US" altLang="ko-KR" sz="1200" strike="noStrike" baseline="0" dirty="0">
                          <a:effectLst/>
                        </a:rPr>
                        <a:t>stream </a:t>
                      </a:r>
                      <a:r>
                        <a:rPr lang="ko-KR" altLang="en-US" sz="1200" strike="noStrike" baseline="0" dirty="0">
                          <a:effectLst/>
                        </a:rPr>
                        <a:t>으로 격리 </a:t>
                      </a:r>
                      <a:r>
                        <a:rPr lang="en-US" altLang="ko-KR" sz="1200" strike="noStrike" baseline="0" dirty="0">
                          <a:effectLst/>
                        </a:rPr>
                        <a:t>(M2) — critical path </a:t>
                      </a:r>
                      <a:r>
                        <a:rPr lang="ko-KR" altLang="en-US" sz="1200" strike="noStrike" baseline="0" dirty="0">
                          <a:effectLst/>
                        </a:rPr>
                        <a:t>단축</a:t>
                      </a:r>
                      <a:r>
                        <a:rPr lang="en-US" altLang="ko-KR" sz="1200" strike="noStrike" baseline="0" dirty="0">
                          <a:effectLst/>
                        </a:rPr>
                        <a:t>, Decode </a:t>
                      </a:r>
                      <a:r>
                        <a:rPr lang="ko-KR" altLang="en-US" sz="1200" strike="noStrike" baseline="0" dirty="0">
                          <a:effectLst/>
                        </a:rPr>
                        <a:t>경합 차단</a:t>
                      </a:r>
                      <a:endParaRPr lang="en-US" altLang="ko-KR" sz="1200" strike="noStrike" baseline="0" dirty="0">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AutoNum type="arabicPeriod"/>
                        <a:tabLst/>
                        <a:defRPr/>
                      </a:pPr>
                      <a:r>
                        <a:rPr lang="en-US" altLang="ko-KR" sz="1200" strike="noStrike" baseline="0" dirty="0">
                          <a:effectLst/>
                        </a:rPr>
                        <a:t>n </a:t>
                      </a:r>
                      <a:r>
                        <a:rPr lang="ko-KR" altLang="en-US" sz="1200" strike="noStrike" baseline="0" dirty="0">
                          <a:effectLst/>
                        </a:rPr>
                        <a:t>개 </a:t>
                      </a:r>
                      <a:r>
                        <a:rPr lang="en-US" altLang="ko-KR" sz="1200" strike="noStrike" baseline="0" dirty="0">
                          <a:effectLst/>
                        </a:rPr>
                        <a:t>Query </a:t>
                      </a:r>
                      <a:r>
                        <a:rPr lang="ko-KR" altLang="en-US" sz="1200" strike="noStrike" baseline="0" dirty="0">
                          <a:effectLst/>
                        </a:rPr>
                        <a:t>를 배치 윈도우로 </a:t>
                      </a:r>
                      <a:r>
                        <a:rPr lang="en-US" altLang="ko-KR" sz="1200" strike="noStrike" baseline="0" dirty="0">
                          <a:effectLst/>
                        </a:rPr>
                        <a:t>1</a:t>
                      </a:r>
                      <a:r>
                        <a:rPr lang="ko-KR" altLang="en-US" sz="1200" strike="noStrike" baseline="0" dirty="0">
                          <a:effectLst/>
                        </a:rPr>
                        <a:t>회 스캔 </a:t>
                      </a:r>
                      <a:r>
                        <a:rPr lang="en-US" altLang="ko-KR" sz="1200" strike="noStrike" baseline="0" dirty="0">
                          <a:effectLst/>
                        </a:rPr>
                        <a:t>(M3) + </a:t>
                      </a:r>
                      <a:r>
                        <a:rPr lang="ko-KR" altLang="en-US" sz="1200" strike="noStrike" baseline="0" dirty="0">
                          <a:effectLst/>
                        </a:rPr>
                        <a:t>예산 </a:t>
                      </a:r>
                      <a:r>
                        <a:rPr lang="en-US" altLang="ko-KR" sz="1200" strike="noStrike" baseline="0" dirty="0">
                          <a:effectLst/>
                        </a:rPr>
                        <a:t>B </a:t>
                      </a:r>
                      <a:r>
                        <a:rPr lang="ko-KR" altLang="en-US" sz="1200" strike="noStrike" baseline="0" dirty="0">
                          <a:effectLst/>
                        </a:rPr>
                        <a:t>내 </a:t>
                      </a:r>
                      <a:r>
                        <a:rPr lang="en-US" altLang="ko-KR" sz="1200" strike="noStrike" baseline="0" dirty="0">
                          <a:effectLst/>
                        </a:rPr>
                        <a:t>top-k · Gate </a:t>
                      </a:r>
                      <a:r>
                        <a:rPr lang="ko-KR" altLang="en-US" sz="1200" strike="noStrike" baseline="0" dirty="0">
                          <a:effectLst/>
                        </a:rPr>
                        <a:t>미달 시 </a:t>
                      </a:r>
                      <a:r>
                        <a:rPr lang="en-US" altLang="ko-KR" sz="1200" strike="noStrike" baseline="0" dirty="0">
                          <a:effectLst/>
                        </a:rPr>
                        <a:t>r↑ / Full Prefill (M4·M5) — </a:t>
                      </a:r>
                      <a:r>
                        <a:rPr lang="ko-KR" altLang="en-US" sz="1200" strike="noStrike" baseline="0" dirty="0">
                          <a:effectLst/>
                        </a:rPr>
                        <a:t>단계적 저하</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rowSpan="2"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재계산이 매 요청 </a:t>
                      </a:r>
                      <a:r>
                        <a:rPr lang="en-US" altLang="ko-KR" sz="1200" strike="noStrike" baseline="0" dirty="0">
                          <a:effectLst/>
                        </a:rPr>
                        <a:t>critical path </a:t>
                      </a:r>
                      <a:r>
                        <a:rPr lang="ko-KR" altLang="en-US" sz="1200" strike="noStrike" baseline="0" dirty="0">
                          <a:effectLst/>
                        </a:rPr>
                        <a:t>에 상주 →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p>
                      <a:pPr marL="228600" indent="-228600" latinLnBrk="1">
                        <a:lnSpc>
                          <a:spcPct val="100000"/>
                        </a:lnSpc>
                        <a:buFont typeface="Wingdings" panose="05000000000000000000" pitchFamily="2" charset="2"/>
                        <a:buChar char="§"/>
                      </a:pPr>
                      <a:r>
                        <a:rPr lang="ko-KR" altLang="en-US" sz="1200" strike="noStrike" baseline="0" dirty="0">
                          <a:effectLst/>
                        </a:rPr>
                        <a:t>동시 요청 증가 시 재계산 경합 → 확장 여유 제한</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vMerge="1">
                  <a:txBody>
                    <a:bodyPr/>
                    <a:lstStyle/>
                    <a:p>
                      <a:pPr marL="228600" indent="-228600" latinLnBrk="1">
                        <a:lnSpc>
                          <a:spcPct val="100000"/>
                        </a:lnSpc>
                        <a:buFont typeface="Wingdings" panose="05000000000000000000" pitchFamily="2" charset="2"/>
                        <a:buChar char="§"/>
                      </a:pPr>
                      <a:endParaRPr lang="ko-KR" altLang="en-US" sz="1200" strike="noStrike" baseline="0" dirty="0">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v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시간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ms</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QA3.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lang="en-US" altLang="ko-KR" sz="1000" b="0"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tx1"/>
                          </a:solidFill>
                          <a:latin typeface="+mn-lt"/>
                          <a:ea typeface="맑은 고딕"/>
                        </a:rPr>
                        <a:t>★★☆</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accent1"/>
                          </a:solidFill>
                          <a:latin typeface="+mn-lt"/>
                          <a:ea typeface="맑은 고딕"/>
                        </a:rPr>
                        <a:t>★★★</a:t>
                      </a:r>
                      <a:endParaRPr lang="en-US" altLang="ko-KR" sz="1000" b="0" dirty="0">
                        <a:solidFill>
                          <a:schemeClr val="accent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chemeClr val="tx1"/>
                          </a:solidFill>
                          <a:latin typeface="+mn-lt"/>
                          <a:ea typeface="맑은 고딕"/>
                        </a:rPr>
                        <a:t>★</a:t>
                      </a:r>
                      <a:r>
                        <a:rPr lang="ko-KR" altLang="en-US" sz="1000" b="0" dirty="0">
                          <a:solidFill>
                            <a:srgbClr val="1A1A1A"/>
                          </a:solidFill>
                          <a:latin typeface="+mn-lt"/>
                          <a:ea typeface="맑은 고딕"/>
                        </a:rPr>
                        <a:t>☆</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시간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ms</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QA3.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lang="en-US" altLang="ko-KR" sz="1000" b="0"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tx1"/>
                          </a:solidFill>
                          <a:latin typeface="+mn-lt"/>
                          <a:ea typeface="맑은 고딕"/>
                        </a:rPr>
                        <a:t>★★</a:t>
                      </a:r>
                      <a:r>
                        <a:rPr lang="ko-KR" altLang="en-US" sz="1000" b="0" dirty="0">
                          <a:solidFill>
                            <a:srgbClr val="FF0000"/>
                          </a:solidFill>
                          <a:latin typeface="+mn-lt"/>
                          <a:ea typeface="맑은 고딕"/>
                        </a:rPr>
                        <a:t>★</a:t>
                      </a:r>
                      <a:endParaRPr lang="en-US" altLang="ko-KR" sz="1050" strike="noStrike" dirty="0">
                        <a:solidFill>
                          <a:srgbClr val="FF000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accent1"/>
                          </a:solidFill>
                          <a:latin typeface="+mn-lt"/>
                          <a:ea typeface="맑은 고딕"/>
                        </a:rPr>
                        <a:t>★★★</a:t>
                      </a:r>
                      <a:endParaRPr lang="en-US" altLang="ko-KR" sz="1000" b="0" dirty="0">
                        <a:solidFill>
                          <a:schemeClr val="accent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chemeClr val="tx1"/>
                          </a:solidFill>
                          <a:latin typeface="+mn-lt"/>
                          <a:ea typeface="맑은 고딕"/>
                        </a:rPr>
                        <a:t>★</a:t>
                      </a:r>
                      <a:r>
                        <a:rPr lang="ko-KR" altLang="en-US" sz="1050" b="0" dirty="0">
                          <a:solidFill>
                            <a:srgbClr val="FF0000"/>
                          </a:solidFill>
                          <a:latin typeface="+mn-lt"/>
                          <a:ea typeface="맑은 고딕"/>
                        </a:rPr>
                        <a:t>★</a:t>
                      </a:r>
                      <a:endParaRPr lang="en-US" altLang="ko-KR" sz="1050" strike="noStrike" dirty="0">
                        <a:solidFill>
                          <a:srgbClr val="FF0000"/>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149</a:t>
            </a:fld>
            <a:endParaRPr lang="ko-KR" altLang="en-US" dirty="0"/>
          </a:p>
        </p:txBody>
      </p:sp>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solidFill>
                  <a:srgbClr val="FF0000"/>
                </a:solidFill>
              </a:rPr>
              <a:t>보완 설계 </a:t>
            </a:r>
            <a:endParaRPr lang="ko-KR" altLang="en-US" strike="sngStrike" dirty="0">
              <a:solidFill>
                <a:srgbClr val="FF0000"/>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ko-KR" altLang="en-US" sz="1400" b="1" dirty="0">
                <a:solidFill>
                  <a:schemeClr val="bg1"/>
                </a:solidFill>
              </a:rPr>
              <a:t>이기종 메모리 환경에서 </a:t>
            </a:r>
            <a:r>
              <a:rPr lang="en-US" altLang="ko-KR" sz="1400" b="1" dirty="0">
                <a:solidFill>
                  <a:schemeClr val="bg1"/>
                </a:solidFill>
              </a:rPr>
              <a:t>KV </a:t>
            </a:r>
            <a:r>
              <a:rPr lang="ko-KR" altLang="en-US" sz="1400" b="1" dirty="0">
                <a:solidFill>
                  <a:schemeClr val="bg1"/>
                </a:solidFill>
              </a:rPr>
              <a:t>재사용성을 높여 </a:t>
            </a:r>
            <a:r>
              <a:rPr lang="en-US" altLang="ko-KR" sz="1400" b="1" dirty="0">
                <a:solidFill>
                  <a:schemeClr val="bg1"/>
                </a:solidFill>
              </a:rPr>
              <a:t>LLM </a:t>
            </a:r>
            <a:r>
              <a:rPr lang="ko-KR" altLang="en-US" sz="1400" b="1" dirty="0">
                <a:solidFill>
                  <a:schemeClr val="bg1"/>
                </a:solidFill>
              </a:rPr>
              <a:t>응답 시간을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8" name="TextBox 137"/>
          <p:cNvSpPr txBox="1"/>
          <p:nvPr/>
        </p:nvSpPr>
        <p:spPr>
          <a:xfrm>
            <a:off x="1109627" y="1416420"/>
            <a:ext cx="3684624"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에 맞게 재계산할 토큰을 선정</a:t>
            </a:r>
            <a:r>
              <a:rPr lang="en-US" altLang="ko-KR" sz="1100" dirty="0"/>
              <a:t>＂</a:t>
            </a:r>
          </a:p>
        </p:txBody>
      </p:sp>
      <p:sp>
        <p:nvSpPr>
          <p:cNvPr id="239" name="TextBox 238">
            <a:extLst>
              <a:ext uri="{FF2B5EF4-FFF2-40B4-BE49-F238E27FC236}">
                <a16:creationId xmlns:a16="http://schemas.microsoft.com/office/drawing/2014/main" id="{5EDBAE0C-74A5-43A7-8D12-CE3C549C093E}"/>
              </a:ext>
            </a:extLst>
          </p:cNvPr>
          <p:cNvSpPr txBox="1"/>
          <p:nvPr/>
        </p:nvSpPr>
        <p:spPr>
          <a:xfrm>
            <a:off x="5307792" y="6212211"/>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11383409" y="6212211"/>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124" name="모서리가 둥근 직사각형 37">
            <a:extLst>
              <a:ext uri="{FF2B5EF4-FFF2-40B4-BE49-F238E27FC236}">
                <a16:creationId xmlns:a16="http://schemas.microsoft.com/office/drawing/2014/main" id="{6B693242-5EEF-4D32-8F09-9F360043D5FB}"/>
              </a:ext>
            </a:extLst>
          </p:cNvPr>
          <p:cNvSpPr/>
          <p:nvPr/>
        </p:nvSpPr>
        <p:spPr>
          <a:xfrm>
            <a:off x="10748621"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F5 KV </a:t>
            </a:r>
            <a:r>
              <a:rPr lang="ko-KR" altLang="en-US" sz="700" dirty="0">
                <a:latin typeface="맑은 고딕" panose="020B0503020000020004" pitchFamily="50" charset="-127"/>
                <a:ea typeface="맑은 고딕" panose="020B0503020000020004" pitchFamily="50" charset="-127"/>
              </a:rPr>
              <a:t>캐시 재사용</a:t>
            </a:r>
          </a:p>
        </p:txBody>
      </p:sp>
      <p:sp>
        <p:nvSpPr>
          <p:cNvPr id="125" name="모서리가 둥근 직사각형 37">
            <a:extLst>
              <a:ext uri="{FF2B5EF4-FFF2-40B4-BE49-F238E27FC236}">
                <a16:creationId xmlns:a16="http://schemas.microsoft.com/office/drawing/2014/main" id="{7D2F8ED5-0EFB-410C-A2C3-3568EEE141C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26" name="모서리가 둥근 직사각형 37">
            <a:extLst>
              <a:ext uri="{FF2B5EF4-FFF2-40B4-BE49-F238E27FC236}">
                <a16:creationId xmlns:a16="http://schemas.microsoft.com/office/drawing/2014/main" id="{D6402B05-EBC0-4E87-AEC1-F112EEA19579}"/>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127"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28" name="모서리가 둥근 직사각형 37">
            <a:extLst>
              <a:ext uri="{FF2B5EF4-FFF2-40B4-BE49-F238E27FC236}">
                <a16:creationId xmlns:a16="http://schemas.microsoft.com/office/drawing/2014/main" id="{943DD2A7-69DA-40E3-9733-EC321EE86A81}"/>
              </a:ext>
            </a:extLst>
          </p:cNvPr>
          <p:cNvSpPr/>
          <p:nvPr/>
        </p:nvSpPr>
        <p:spPr>
          <a:xfrm>
            <a:off x="9383599" y="619129"/>
            <a:ext cx="1303788"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LLM </a:t>
            </a:r>
            <a:r>
              <a:rPr lang="ko-KR" altLang="en-US" sz="700" dirty="0">
                <a:latin typeface="맑은 고딕" panose="020B0503020000020004" pitchFamily="50" charset="-127"/>
              </a:rPr>
              <a:t>출력 정확도 보장</a:t>
            </a:r>
          </a:p>
        </p:txBody>
      </p:sp>
      <p:grpSp>
        <p:nvGrpSpPr>
          <p:cNvPr id="10" name="그룹 9"/>
          <p:cNvGrpSpPr/>
          <p:nvPr/>
        </p:nvGrpSpPr>
        <p:grpSpPr>
          <a:xfrm>
            <a:off x="1201440" y="1929122"/>
            <a:ext cx="4738256" cy="2726228"/>
            <a:chOff x="6629400" y="2008632"/>
            <a:chExt cx="5212080" cy="2726228"/>
          </a:xfrm>
        </p:grpSpPr>
        <p:sp>
          <p:nvSpPr>
            <p:cNvPr id="194" name="Rectangle 193"/>
            <p:cNvSpPr/>
            <p:nvPr/>
          </p:nvSpPr>
          <p:spPr>
            <a:xfrm>
              <a:off x="7406640" y="2008632"/>
              <a:ext cx="137160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a:solidFill>
                    <a:srgbClr val="000000"/>
                  </a:solidFill>
                  <a:latin typeface="맑은 고딕"/>
                  <a:ea typeface="맑은 고딕"/>
                </a:rPr>
                <a:t>User Query Manager</a:t>
              </a:r>
            </a:p>
            <a:p>
              <a:pPr algn="ctr"/>
              <a:r>
                <a:rPr sz="800" b="0" i="0" dirty="0" err="1">
                  <a:solidFill>
                    <a:srgbClr val="000000"/>
                  </a:solidFill>
                  <a:latin typeface="맑은 고딕"/>
                  <a:ea typeface="맑은 고딕"/>
                </a:rPr>
                <a:t>실제</a:t>
              </a:r>
              <a:r>
                <a:rPr sz="800" b="0" i="0" dirty="0">
                  <a:solidFill>
                    <a:srgbClr val="000000"/>
                  </a:solidFill>
                  <a:latin typeface="맑은 고딕"/>
                  <a:ea typeface="맑은 고딕"/>
                </a:rPr>
                <a:t> Query (</a:t>
              </a:r>
              <a:r>
                <a:rPr sz="800" b="0" i="0" dirty="0" err="1">
                  <a:solidFill>
                    <a:srgbClr val="000000"/>
                  </a:solidFill>
                  <a:latin typeface="맑은 고딕"/>
                  <a:ea typeface="맑은 고딕"/>
                </a:rPr>
                <a:t>요청</a:t>
              </a:r>
              <a:r>
                <a:rPr sz="800" b="0" i="0" dirty="0">
                  <a:solidFill>
                    <a:srgbClr val="000000"/>
                  </a:solidFill>
                  <a:latin typeface="맑은 고딕"/>
                  <a:ea typeface="맑은 고딕"/>
                </a:rPr>
                <a:t> </a:t>
              </a:r>
              <a:r>
                <a:rPr sz="800" b="0" i="0" dirty="0" err="1">
                  <a:solidFill>
                    <a:srgbClr val="000000"/>
                  </a:solidFill>
                  <a:latin typeface="맑은 고딕"/>
                  <a:ea typeface="맑은 고딕"/>
                </a:rPr>
                <a:t>시점</a:t>
              </a:r>
              <a:r>
                <a:rPr sz="800" b="0" i="0" dirty="0">
                  <a:solidFill>
                    <a:srgbClr val="000000"/>
                  </a:solidFill>
                  <a:latin typeface="맑은 고딕"/>
                  <a:ea typeface="맑은 고딕"/>
                </a:rPr>
                <a:t>)</a:t>
              </a:r>
            </a:p>
          </p:txBody>
        </p:sp>
        <p:sp>
          <p:nvSpPr>
            <p:cNvPr id="195" name="Rectangle 194"/>
            <p:cNvSpPr/>
            <p:nvPr/>
          </p:nvSpPr>
          <p:spPr>
            <a:xfrm>
              <a:off x="6629400" y="248412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196" name="Rectangle 195"/>
            <p:cNvSpPr/>
            <p:nvPr/>
          </p:nvSpPr>
          <p:spPr>
            <a:xfrm>
              <a:off x="6629401" y="2484120"/>
              <a:ext cx="11403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800" b="1" i="0" dirty="0">
                  <a:solidFill>
                    <a:srgbClr val="FFFFFF"/>
                  </a:solidFill>
                  <a:latin typeface="맑은 고딕"/>
                  <a:ea typeface="맑은 고딕"/>
                </a:rPr>
                <a:t>«layer» </a:t>
              </a:r>
              <a:r>
                <a:rPr lang="en-US" altLang="ko-KR" sz="800" b="1" dirty="0">
                  <a:solidFill>
                    <a:srgbClr val="FFFFFF"/>
                  </a:solidFill>
                  <a:latin typeface="맑은 고딕"/>
                  <a:ea typeface="맑은 고딕"/>
                </a:rPr>
                <a:t>Generation</a:t>
              </a:r>
              <a:endParaRPr lang="en-US" altLang="ko-KR" sz="800" b="1" i="0" dirty="0">
                <a:solidFill>
                  <a:srgbClr val="FFFFFF"/>
                </a:solidFill>
                <a:latin typeface="맑은 고딕"/>
                <a:ea typeface="맑은 고딕"/>
              </a:endParaRPr>
            </a:p>
          </p:txBody>
        </p:sp>
        <p:sp>
          <p:nvSpPr>
            <p:cNvPr id="197" name="Rectangle 196"/>
            <p:cNvSpPr/>
            <p:nvPr/>
          </p:nvSpPr>
          <p:spPr>
            <a:xfrm>
              <a:off x="6857999" y="2849880"/>
              <a:ext cx="141732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Attention Manager</a:t>
              </a:r>
            </a:p>
            <a:p>
              <a:pPr algn="ctr"/>
              <a:r>
                <a:rPr sz="800" b="0" i="0" dirty="0">
                  <a:solidFill>
                    <a:srgbClr val="000000"/>
                  </a:solidFill>
                  <a:latin typeface="맑은 고딕"/>
                  <a:ea typeface="맑은 고딕"/>
                </a:rPr>
                <a:t>Query × KV Attention</a:t>
              </a:r>
            </a:p>
          </p:txBody>
        </p:sp>
        <p:sp>
          <p:nvSpPr>
            <p:cNvPr id="198" name="Rectangle 197"/>
            <p:cNvSpPr/>
            <p:nvPr/>
          </p:nvSpPr>
          <p:spPr>
            <a:xfrm>
              <a:off x="6812280" y="29047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199" name="Rectangle 198"/>
            <p:cNvSpPr/>
            <p:nvPr/>
          </p:nvSpPr>
          <p:spPr>
            <a:xfrm>
              <a:off x="6812280" y="299618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00" name="Rectangle 199"/>
            <p:cNvSpPr/>
            <p:nvPr/>
          </p:nvSpPr>
          <p:spPr>
            <a:xfrm>
              <a:off x="8595360" y="2849880"/>
              <a:ext cx="1455514"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Selective </a:t>
              </a:r>
              <a:r>
                <a:rPr sz="900" b="1" i="0" dirty="0" err="1">
                  <a:solidFill>
                    <a:srgbClr val="000000"/>
                  </a:solidFill>
                  <a:latin typeface="맑은 고딕"/>
                  <a:ea typeface="맑은 고딕"/>
                </a:rPr>
                <a:t>Recomputer</a:t>
              </a:r>
              <a:endParaRPr sz="900" b="1" i="0" dirty="0">
                <a:solidFill>
                  <a:srgbClr val="000000"/>
                </a:solidFill>
                <a:latin typeface="맑은 고딕"/>
                <a:ea typeface="맑은 고딕"/>
              </a:endParaRPr>
            </a:p>
            <a:p>
              <a:pPr algn="ctr"/>
              <a:r>
                <a:rPr sz="800" b="0" i="0" dirty="0" err="1">
                  <a:solidFill>
                    <a:srgbClr val="000000"/>
                  </a:solidFill>
                  <a:latin typeface="맑은 고딕"/>
                  <a:ea typeface="맑은 고딕"/>
                </a:rPr>
                <a:t>선정</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토큰만</a:t>
              </a:r>
              <a:r>
                <a:rPr sz="800" b="0" i="0" dirty="0">
                  <a:solidFill>
                    <a:srgbClr val="000000"/>
                  </a:solidFill>
                  <a:latin typeface="맑은 고딕"/>
                  <a:ea typeface="맑은 고딕"/>
                </a:rPr>
                <a:t> </a:t>
              </a:r>
              <a:r>
                <a:rPr sz="800" b="0" i="0" dirty="0" err="1">
                  <a:solidFill>
                    <a:srgbClr val="000000"/>
                  </a:solidFill>
                  <a:latin typeface="맑은 고딕"/>
                  <a:ea typeface="맑은 고딕"/>
                </a:rPr>
                <a:t>재계산</a:t>
              </a:r>
              <a:endParaRPr sz="800" b="0" i="0" dirty="0">
                <a:solidFill>
                  <a:srgbClr val="000000"/>
                </a:solidFill>
                <a:latin typeface="맑은 고딕"/>
                <a:ea typeface="맑은 고딕"/>
              </a:endParaRPr>
            </a:p>
          </p:txBody>
        </p:sp>
        <p:sp>
          <p:nvSpPr>
            <p:cNvPr id="201" name="Rectangle 200"/>
            <p:cNvSpPr/>
            <p:nvPr/>
          </p:nvSpPr>
          <p:spPr>
            <a:xfrm>
              <a:off x="8549640" y="29047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02" name="Rectangle 201"/>
            <p:cNvSpPr/>
            <p:nvPr/>
          </p:nvSpPr>
          <p:spPr>
            <a:xfrm>
              <a:off x="8549640" y="299618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03" name="Rounded Rectangle 202"/>
            <p:cNvSpPr/>
            <p:nvPr/>
          </p:nvSpPr>
          <p:spPr>
            <a:xfrm>
              <a:off x="9628632" y="27675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DP2</a:t>
              </a:r>
            </a:p>
          </p:txBody>
        </p:sp>
        <p:sp>
          <p:nvSpPr>
            <p:cNvPr id="205" name="Rectangle 204"/>
            <p:cNvSpPr/>
            <p:nvPr/>
          </p:nvSpPr>
          <p:spPr>
            <a:xfrm>
              <a:off x="6629400" y="348996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06" name="Rectangle 205"/>
            <p:cNvSpPr/>
            <p:nvPr/>
          </p:nvSpPr>
          <p:spPr>
            <a:xfrm>
              <a:off x="6629400" y="3489960"/>
              <a:ext cx="1037124"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900" b="1" i="0" dirty="0">
                  <a:solidFill>
                    <a:srgbClr val="FFFFFF"/>
                  </a:solidFill>
                  <a:latin typeface="맑은 고딕"/>
                  <a:ea typeface="맑은 고딕"/>
                </a:rPr>
                <a:t>«layer» Blend</a:t>
              </a:r>
            </a:p>
          </p:txBody>
        </p:sp>
        <p:sp>
          <p:nvSpPr>
            <p:cNvPr id="213" name="Rectangle 212"/>
            <p:cNvSpPr/>
            <p:nvPr/>
          </p:nvSpPr>
          <p:spPr>
            <a:xfrm>
              <a:off x="9143999" y="3810000"/>
              <a:ext cx="906875"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err="1">
                  <a:solidFill>
                    <a:srgbClr val="000000"/>
                  </a:solidFill>
                  <a:latin typeface="맑은 고딕"/>
                  <a:ea typeface="맑은 고딕"/>
                </a:rPr>
                <a:t>Recompute</a:t>
              </a:r>
              <a:r>
                <a:rPr sz="900" b="1" i="0" dirty="0">
                  <a:solidFill>
                    <a:srgbClr val="000000"/>
                  </a:solidFill>
                  <a:latin typeface="맑은 고딕"/>
                  <a:ea typeface="맑은 고딕"/>
                </a:rPr>
                <a:t> </a:t>
              </a:r>
              <a:endParaRPr lang="en-US" sz="900" b="1" i="0" dirty="0">
                <a:solidFill>
                  <a:srgbClr val="000000"/>
                </a:solidFill>
                <a:latin typeface="맑은 고딕"/>
                <a:ea typeface="맑은 고딕"/>
              </a:endParaRPr>
            </a:p>
            <a:p>
              <a:pPr algn="ctr"/>
              <a:r>
                <a:rPr sz="900" b="1" i="0" dirty="0">
                  <a:solidFill>
                    <a:srgbClr val="000000"/>
                  </a:solidFill>
                  <a:latin typeface="맑은 고딕"/>
                  <a:ea typeface="맑은 고딕"/>
                </a:rPr>
                <a:t>Token Selector</a:t>
              </a:r>
            </a:p>
          </p:txBody>
        </p:sp>
        <p:sp>
          <p:nvSpPr>
            <p:cNvPr id="214" name="Rectangle 213"/>
            <p:cNvSpPr/>
            <p:nvPr/>
          </p:nvSpPr>
          <p:spPr>
            <a:xfrm>
              <a:off x="9098280" y="386486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15" name="Rectangle 214"/>
            <p:cNvSpPr/>
            <p:nvPr/>
          </p:nvSpPr>
          <p:spPr>
            <a:xfrm>
              <a:off x="9098280" y="395630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16" name="Rectangle 215"/>
            <p:cNvSpPr/>
            <p:nvPr/>
          </p:nvSpPr>
          <p:spPr>
            <a:xfrm>
              <a:off x="10424160" y="2484120"/>
              <a:ext cx="1417320" cy="1179576"/>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17" name="Rectangle 216"/>
            <p:cNvSpPr/>
            <p:nvPr/>
          </p:nvSpPr>
          <p:spPr>
            <a:xfrm>
              <a:off x="10424160" y="248412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800" b="1" i="0" dirty="0">
                  <a:solidFill>
                    <a:srgbClr val="FFFFFF"/>
                  </a:solidFill>
                  <a:latin typeface="맑은 고딕"/>
                  <a:ea typeface="맑은 고딕"/>
                </a:rPr>
                <a:t>«store» KV </a:t>
              </a:r>
              <a:r>
                <a:rPr lang="en-US" sz="800" b="1" i="0" dirty="0">
                  <a:solidFill>
                    <a:srgbClr val="FFFFFF"/>
                  </a:solidFill>
                  <a:latin typeface="맑은 고딕"/>
                  <a:ea typeface="맑은 고딕"/>
                </a:rPr>
                <a:t>Store</a:t>
              </a:r>
              <a:endParaRPr sz="800" b="1" i="0" dirty="0">
                <a:solidFill>
                  <a:srgbClr val="FFFFFF"/>
                </a:solidFill>
                <a:latin typeface="맑은 고딕"/>
                <a:ea typeface="맑은 고딕"/>
              </a:endParaRPr>
            </a:p>
          </p:txBody>
        </p:sp>
        <p:sp>
          <p:nvSpPr>
            <p:cNvPr id="218" name="Rounded Rectangle 217"/>
            <p:cNvSpPr/>
            <p:nvPr/>
          </p:nvSpPr>
          <p:spPr>
            <a:xfrm>
              <a:off x="11475720" y="250240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DP1</a:t>
              </a:r>
            </a:p>
          </p:txBody>
        </p:sp>
        <p:sp>
          <p:nvSpPr>
            <p:cNvPr id="219" name="TextBox 218"/>
            <p:cNvSpPr txBox="1"/>
            <p:nvPr/>
          </p:nvSpPr>
          <p:spPr>
            <a:xfrm>
              <a:off x="10469881" y="2694432"/>
              <a:ext cx="1325880" cy="107722"/>
            </a:xfrm>
            <a:prstGeom prst="rect">
              <a:avLst/>
            </a:prstGeom>
            <a:noFill/>
          </p:spPr>
          <p:txBody>
            <a:bodyPr wrap="square" lIns="0" tIns="0" rIns="0" bIns="0" anchor="t">
              <a:spAutoFit/>
            </a:bodyPr>
            <a:lstStyle/>
            <a:p>
              <a:pPr algn="ctr"/>
              <a:r>
                <a:rPr sz="700" b="0" i="0" dirty="0">
                  <a:solidFill>
                    <a:srgbClr val="7F7F7F"/>
                  </a:solidFill>
                  <a:latin typeface="맑은 고딕"/>
                  <a:ea typeface="맑은 고딕"/>
                </a:rPr>
                <a:t>HBM · DRAM · CXL · SSD</a:t>
              </a:r>
            </a:p>
          </p:txBody>
        </p:sp>
        <p:sp>
          <p:nvSpPr>
            <p:cNvPr id="220" name="Rectangle 219"/>
            <p:cNvSpPr/>
            <p:nvPr/>
          </p:nvSpPr>
          <p:spPr>
            <a:xfrm>
              <a:off x="10515600" y="287731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0" i="0">
                  <a:solidFill>
                    <a:srgbClr val="000000"/>
                  </a:solidFill>
                  <a:latin typeface="맑은 고딕"/>
                  <a:ea typeface="맑은 고딕"/>
                </a:rPr>
                <a:t>Context KV 1</a:t>
              </a:r>
            </a:p>
          </p:txBody>
        </p:sp>
        <p:sp>
          <p:nvSpPr>
            <p:cNvPr id="221" name="Rectangle 220"/>
            <p:cNvSpPr/>
            <p:nvPr/>
          </p:nvSpPr>
          <p:spPr>
            <a:xfrm>
              <a:off x="10515600" y="316992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0" i="0">
                  <a:solidFill>
                    <a:srgbClr val="000000"/>
                  </a:solidFill>
                  <a:latin typeface="맑은 고딕"/>
                  <a:ea typeface="맑은 고딕"/>
                </a:rPr>
                <a:t>Context KV 2</a:t>
              </a:r>
            </a:p>
          </p:txBody>
        </p:sp>
        <p:cxnSp>
          <p:nvCxnSpPr>
            <p:cNvPr id="224" name="Connector 223"/>
            <p:cNvCxnSpPr/>
            <p:nvPr/>
          </p:nvCxnSpPr>
          <p:spPr>
            <a:xfrm>
              <a:off x="7909560" y="237439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7831836" y="2534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1</a:t>
              </a:r>
            </a:p>
          </p:txBody>
        </p:sp>
        <p:cxnSp>
          <p:nvCxnSpPr>
            <p:cNvPr id="226" name="Connector 225"/>
            <p:cNvCxnSpPr/>
            <p:nvPr/>
          </p:nvCxnSpPr>
          <p:spPr>
            <a:xfrm flipH="1">
              <a:off x="10104120" y="298704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7" name="Oval 226"/>
            <p:cNvSpPr/>
            <p:nvPr/>
          </p:nvSpPr>
          <p:spPr>
            <a:xfrm>
              <a:off x="10186416" y="290931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2</a:t>
              </a:r>
            </a:p>
          </p:txBody>
        </p:sp>
        <p:cxnSp>
          <p:nvCxnSpPr>
            <p:cNvPr id="228" name="Connector 227"/>
            <p:cNvCxnSpPr/>
            <p:nvPr/>
          </p:nvCxnSpPr>
          <p:spPr>
            <a:xfrm>
              <a:off x="7909560" y="3270504"/>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9" name="Oval 228"/>
            <p:cNvSpPr/>
            <p:nvPr/>
          </p:nvSpPr>
          <p:spPr>
            <a:xfrm>
              <a:off x="8037575" y="34625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3</a:t>
              </a:r>
            </a:p>
          </p:txBody>
        </p:sp>
        <p:cxnSp>
          <p:nvCxnSpPr>
            <p:cNvPr id="232" name="Connector 231"/>
            <p:cNvCxnSpPr/>
            <p:nvPr/>
          </p:nvCxnSpPr>
          <p:spPr>
            <a:xfrm>
              <a:off x="8823960" y="403860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326880" y="327050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4" name="Oval 233"/>
            <p:cNvSpPr/>
            <p:nvPr/>
          </p:nvSpPr>
          <p:spPr>
            <a:xfrm>
              <a:off x="9249155" y="34625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900" b="1" i="0" dirty="0">
                  <a:solidFill>
                    <a:srgbClr val="FFFFFF"/>
                  </a:solidFill>
                  <a:latin typeface="맑은 고딕"/>
                  <a:ea typeface="맑은 고딕"/>
                </a:rPr>
                <a:t>4</a:t>
              </a:r>
              <a:endParaRPr sz="900" b="1" i="0" dirty="0">
                <a:solidFill>
                  <a:srgbClr val="FFFFFF"/>
                </a:solidFill>
                <a:latin typeface="맑은 고딕"/>
                <a:ea typeface="맑은 고딕"/>
              </a:endParaRPr>
            </a:p>
          </p:txBody>
        </p:sp>
        <p:grpSp>
          <p:nvGrpSpPr>
            <p:cNvPr id="9" name="그룹 8">
              <a:extLst>
                <a:ext uri="{FF2B5EF4-FFF2-40B4-BE49-F238E27FC236}">
                  <a16:creationId xmlns:a16="http://schemas.microsoft.com/office/drawing/2014/main" id="{91836876-5FD3-4E66-B38B-43E19A9A12BB}"/>
                </a:ext>
              </a:extLst>
            </p:cNvPr>
            <p:cNvGrpSpPr/>
            <p:nvPr/>
          </p:nvGrpSpPr>
          <p:grpSpPr>
            <a:xfrm>
              <a:off x="6771617" y="4457861"/>
              <a:ext cx="1343682" cy="276999"/>
              <a:chOff x="6779192" y="4689663"/>
              <a:chExt cx="1009528" cy="276999"/>
            </a:xfrm>
          </p:grpSpPr>
          <p:cxnSp>
            <p:nvCxnSpPr>
              <p:cNvPr id="136" name="직선 연결선 135">
                <a:extLst>
                  <a:ext uri="{FF2B5EF4-FFF2-40B4-BE49-F238E27FC236}">
                    <a16:creationId xmlns:a16="http://schemas.microsoft.com/office/drawing/2014/main" id="{704963F3-B0DB-4923-BB3B-1D2732213670}"/>
                  </a:ext>
                </a:extLst>
              </p:cNvPr>
              <p:cNvCxnSpPr>
                <a:cxnSpLocks/>
              </p:cNvCxnSpPr>
              <p:nvPr/>
            </p:nvCxnSpPr>
            <p:spPr>
              <a:xfrm>
                <a:off x="677919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E8F293CD-188C-4877-99B3-D91646C7B15E}"/>
                  </a:ext>
                </a:extLst>
              </p:cNvPr>
              <p:cNvSpPr txBox="1"/>
              <p:nvPr/>
            </p:nvSpPr>
            <p:spPr>
              <a:xfrm>
                <a:off x="7027218" y="4689663"/>
                <a:ext cx="761502" cy="276999"/>
              </a:xfrm>
              <a:prstGeom prst="rect">
                <a:avLst/>
              </a:prstGeom>
              <a:noFill/>
            </p:spPr>
            <p:txBody>
              <a:bodyPr wrap="square" lIns="0" tIns="0" rIns="0" bIns="0" anchor="t">
                <a:spAutoFit/>
              </a:bodyPr>
              <a:lstStyle/>
              <a:p>
                <a:pPr algn="l"/>
                <a:r>
                  <a:rPr lang="ko-KR" altLang="en-US" sz="900" b="0" i="0" dirty="0">
                    <a:solidFill>
                      <a:srgbClr val="7F7F7F"/>
                    </a:solidFill>
                    <a:latin typeface="맑은 고딕"/>
                    <a:ea typeface="맑은 고딕"/>
                  </a:rPr>
                  <a:t>서빙 시</a:t>
                </a:r>
                <a:r>
                  <a:rPr lang="en-US" altLang="ko-KR" sz="900" b="0" i="0" dirty="0">
                    <a:solidFill>
                      <a:srgbClr val="7F7F7F"/>
                    </a:solidFill>
                    <a:latin typeface="맑은 고딕"/>
                    <a:ea typeface="맑은 고딕"/>
                  </a:rPr>
                  <a:t>(</a:t>
                </a:r>
                <a:r>
                  <a:rPr lang="ko-KR" altLang="en-US" sz="900" b="0" i="0" dirty="0">
                    <a:solidFill>
                      <a:srgbClr val="7F7F7F"/>
                    </a:solidFill>
                    <a:latin typeface="맑은 고딕"/>
                    <a:ea typeface="맑은 고딕"/>
                  </a:rPr>
                  <a:t>요청 경로</a:t>
                </a:r>
                <a:r>
                  <a:rPr lang="en-US" altLang="ko-KR" sz="900" b="0" i="0" dirty="0">
                    <a:solidFill>
                      <a:srgbClr val="7F7F7F"/>
                    </a:solidFill>
                    <a:latin typeface="맑은 고딕"/>
                    <a:ea typeface="맑은 고딕"/>
                  </a:rPr>
                  <a:t>)</a:t>
                </a:r>
                <a:endParaRPr sz="900" b="0" i="0" dirty="0">
                  <a:solidFill>
                    <a:srgbClr val="7F7F7F"/>
                  </a:solidFill>
                  <a:latin typeface="맑은 고딕"/>
                  <a:ea typeface="맑은 고딕"/>
                </a:endParaRPr>
              </a:p>
            </p:txBody>
          </p:sp>
        </p:grpSp>
        <p:sp>
          <p:nvSpPr>
            <p:cNvPr id="116" name="Rectangle 155"/>
            <p:cNvSpPr/>
            <p:nvPr/>
          </p:nvSpPr>
          <p:spPr>
            <a:xfrm>
              <a:off x="7764974" y="3810000"/>
              <a:ext cx="1054199"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KV Sampler</a:t>
              </a:r>
            </a:p>
            <a:p>
              <a:pPr algn="ctr">
                <a:lnSpc>
                  <a:spcPct val="150000"/>
                </a:lnSpc>
              </a:pPr>
              <a:r>
                <a:rPr sz="800" b="0" i="0" dirty="0" err="1">
                  <a:solidFill>
                    <a:srgbClr val="000000"/>
                  </a:solidFill>
                  <a:latin typeface="맑은 고딕"/>
                  <a:ea typeface="맑은 고딕"/>
                </a:rPr>
                <a:t>점수로</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a:t>
              </a:r>
              <a:r>
                <a:rPr sz="800" b="0" i="0" dirty="0">
                  <a:solidFill>
                    <a:srgbClr val="000000"/>
                  </a:solidFill>
                  <a:latin typeface="맑은 고딕"/>
                  <a:ea typeface="맑은 고딕"/>
                </a:rPr>
                <a:t> </a:t>
              </a:r>
              <a:r>
                <a:rPr sz="800" b="0" i="0" dirty="0" err="1">
                  <a:solidFill>
                    <a:srgbClr val="000000"/>
                  </a:solidFill>
                  <a:latin typeface="맑은 고딕"/>
                  <a:ea typeface="맑은 고딕"/>
                </a:rPr>
                <a:t>선정</a:t>
              </a:r>
              <a:endParaRPr sz="800" b="0" i="0" dirty="0">
                <a:solidFill>
                  <a:srgbClr val="000000"/>
                </a:solidFill>
                <a:latin typeface="맑은 고딕"/>
                <a:ea typeface="맑은 고딕"/>
              </a:endParaRPr>
            </a:p>
          </p:txBody>
        </p:sp>
        <p:sp>
          <p:nvSpPr>
            <p:cNvPr id="117" name="Rectangle 156"/>
            <p:cNvSpPr/>
            <p:nvPr/>
          </p:nvSpPr>
          <p:spPr>
            <a:xfrm>
              <a:off x="7717147" y="386486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118" name="Rectangle 157"/>
            <p:cNvSpPr/>
            <p:nvPr/>
          </p:nvSpPr>
          <p:spPr>
            <a:xfrm>
              <a:off x="7717147" y="395630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grpSp>
      <p:sp>
        <p:nvSpPr>
          <p:cNvPr id="279" name="Rectangle 193"/>
          <p:cNvSpPr/>
          <p:nvPr/>
        </p:nvSpPr>
        <p:spPr>
          <a:xfrm>
            <a:off x="6877503" y="1691035"/>
            <a:ext cx="2429874" cy="575092"/>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1000" b="1" i="0" dirty="0">
                <a:solidFill>
                  <a:srgbClr val="000000"/>
                </a:solidFill>
                <a:latin typeface="맑은 고딕"/>
                <a:ea typeface="맑은 고딕"/>
              </a:rPr>
              <a:t>User Query Manager</a:t>
            </a:r>
          </a:p>
          <a:p>
            <a:pPr algn="ctr">
              <a:lnSpc>
                <a:spcPct val="150000"/>
              </a:lnSpc>
            </a:pPr>
            <a:r>
              <a:rPr sz="900" b="0" i="0" dirty="0" err="1">
                <a:solidFill>
                  <a:srgbClr val="000000"/>
                </a:solidFill>
                <a:latin typeface="맑은 고딕"/>
                <a:ea typeface="맑은 고딕"/>
              </a:rPr>
              <a:t>실제</a:t>
            </a:r>
            <a:r>
              <a:rPr sz="900" b="0" i="0" dirty="0">
                <a:solidFill>
                  <a:srgbClr val="000000"/>
                </a:solidFill>
                <a:latin typeface="맑은 고딕"/>
                <a:ea typeface="맑은 고딕"/>
              </a:rPr>
              <a:t> Query (</a:t>
            </a:r>
            <a:r>
              <a:rPr sz="900" b="0" i="0" dirty="0" err="1">
                <a:solidFill>
                  <a:srgbClr val="000000"/>
                </a:solidFill>
                <a:latin typeface="맑은 고딕"/>
                <a:ea typeface="맑은 고딕"/>
              </a:rPr>
              <a:t>요청</a:t>
            </a:r>
            <a:r>
              <a:rPr sz="900" b="0" i="0" dirty="0">
                <a:solidFill>
                  <a:srgbClr val="000000"/>
                </a:solidFill>
                <a:latin typeface="맑은 고딕"/>
                <a:ea typeface="맑은 고딕"/>
              </a:rPr>
              <a:t> </a:t>
            </a:r>
            <a:r>
              <a:rPr sz="900" b="0" i="0" dirty="0" err="1">
                <a:solidFill>
                  <a:srgbClr val="000000"/>
                </a:solidFill>
                <a:latin typeface="맑은 고딕"/>
                <a:ea typeface="맑은 고딕"/>
              </a:rPr>
              <a:t>시점</a:t>
            </a:r>
            <a:r>
              <a:rPr sz="900" b="0" i="0" dirty="0">
                <a:solidFill>
                  <a:srgbClr val="000000"/>
                </a:solidFill>
                <a:latin typeface="맑은 고딕"/>
                <a:ea typeface="맑은 고딕"/>
              </a:rPr>
              <a:t>)</a:t>
            </a:r>
            <a:endParaRPr lang="en-US" sz="900" b="0" i="0" dirty="0">
              <a:solidFill>
                <a:srgbClr val="000000"/>
              </a:solidFill>
              <a:latin typeface="맑은 고딕"/>
              <a:ea typeface="맑은 고딕"/>
            </a:endParaRPr>
          </a:p>
          <a:p>
            <a:pPr algn="ctr"/>
            <a:r>
              <a:rPr lang="en-US" altLang="ko-KR" sz="900" b="1" dirty="0">
                <a:solidFill>
                  <a:srgbClr val="C00000"/>
                </a:solidFill>
                <a:ea typeface="맑은 고딕"/>
              </a:rPr>
              <a:t>+ Query </a:t>
            </a:r>
            <a:r>
              <a:rPr lang="ko-KR" altLang="en-US" sz="900" b="1" dirty="0">
                <a:solidFill>
                  <a:srgbClr val="C00000"/>
                </a:solidFill>
                <a:ea typeface="맑은 고딕"/>
              </a:rPr>
              <a:t>배치 윈도우 </a:t>
            </a:r>
            <a:r>
              <a:rPr lang="en-US" altLang="ko-KR" sz="900" b="1" dirty="0">
                <a:solidFill>
                  <a:srgbClr val="C00000"/>
                </a:solidFill>
                <a:ea typeface="맑은 고딕"/>
              </a:rPr>
              <a:t>(M3)</a:t>
            </a:r>
          </a:p>
        </p:txBody>
      </p:sp>
      <p:sp>
        <p:nvSpPr>
          <p:cNvPr id="280" name="Rectangle 194"/>
          <p:cNvSpPr/>
          <p:nvPr/>
        </p:nvSpPr>
        <p:spPr>
          <a:xfrm>
            <a:off x="6629400" y="240461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81" name="Rectangle 195"/>
          <p:cNvSpPr/>
          <p:nvPr/>
        </p:nvSpPr>
        <p:spPr>
          <a:xfrm>
            <a:off x="6629401" y="2404610"/>
            <a:ext cx="11403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900" b="1" i="0" dirty="0">
                <a:solidFill>
                  <a:srgbClr val="FFFFFF"/>
                </a:solidFill>
                <a:latin typeface="맑은 고딕"/>
                <a:ea typeface="맑은 고딕"/>
              </a:rPr>
              <a:t>«layer» G</a:t>
            </a:r>
            <a:r>
              <a:rPr lang="en-US" altLang="ko-KR" sz="900" b="1" dirty="0">
                <a:solidFill>
                  <a:srgbClr val="FFFFFF"/>
                </a:solidFill>
                <a:latin typeface="맑은 고딕"/>
                <a:ea typeface="맑은 고딕"/>
              </a:rPr>
              <a:t>eneration</a:t>
            </a:r>
            <a:endParaRPr lang="en-US" altLang="ko-KR" sz="900" b="1" i="0" dirty="0">
              <a:solidFill>
                <a:srgbClr val="FFFFFF"/>
              </a:solidFill>
              <a:latin typeface="맑은 고딕"/>
              <a:ea typeface="맑은 고딕"/>
            </a:endParaRPr>
          </a:p>
        </p:txBody>
      </p:sp>
      <p:sp>
        <p:nvSpPr>
          <p:cNvPr id="282" name="Rectangle 196"/>
          <p:cNvSpPr/>
          <p:nvPr/>
        </p:nvSpPr>
        <p:spPr>
          <a:xfrm>
            <a:off x="6858000" y="277037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Attention Manager</a:t>
            </a:r>
          </a:p>
          <a:p>
            <a:pPr algn="ctr"/>
            <a:r>
              <a:rPr sz="800" b="0" i="0" dirty="0">
                <a:solidFill>
                  <a:srgbClr val="000000"/>
                </a:solidFill>
                <a:latin typeface="맑은 고딕"/>
                <a:ea typeface="맑은 고딕"/>
              </a:rPr>
              <a:t>Query × KV Attention</a:t>
            </a:r>
          </a:p>
        </p:txBody>
      </p:sp>
      <p:sp>
        <p:nvSpPr>
          <p:cNvPr id="283" name="Rectangle 197"/>
          <p:cNvSpPr/>
          <p:nvPr/>
        </p:nvSpPr>
        <p:spPr>
          <a:xfrm>
            <a:off x="6812280" y="282523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84" name="Rectangle 198"/>
          <p:cNvSpPr/>
          <p:nvPr/>
        </p:nvSpPr>
        <p:spPr>
          <a:xfrm>
            <a:off x="6812280" y="291667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85" name="Rectangle 199"/>
          <p:cNvSpPr/>
          <p:nvPr/>
        </p:nvSpPr>
        <p:spPr>
          <a:xfrm>
            <a:off x="8595360" y="277037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Selective </a:t>
            </a:r>
            <a:r>
              <a:rPr sz="900" b="1" i="0" dirty="0" err="1">
                <a:solidFill>
                  <a:srgbClr val="000000"/>
                </a:solidFill>
                <a:latin typeface="맑은 고딕"/>
                <a:ea typeface="맑은 고딕"/>
              </a:rPr>
              <a:t>Recomputer</a:t>
            </a:r>
            <a:endParaRPr sz="900" b="1" i="0" dirty="0">
              <a:solidFill>
                <a:srgbClr val="000000"/>
              </a:solidFill>
              <a:latin typeface="맑은 고딕"/>
              <a:ea typeface="맑은 고딕"/>
            </a:endParaRPr>
          </a:p>
          <a:p>
            <a:pPr algn="ctr"/>
            <a:r>
              <a:rPr sz="800" b="0" i="0" dirty="0" err="1">
                <a:solidFill>
                  <a:srgbClr val="000000"/>
                </a:solidFill>
                <a:latin typeface="맑은 고딕"/>
                <a:ea typeface="맑은 고딕"/>
              </a:rPr>
              <a:t>선정</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토큰만</a:t>
            </a:r>
            <a:r>
              <a:rPr sz="800" b="0" i="0" dirty="0">
                <a:solidFill>
                  <a:srgbClr val="000000"/>
                </a:solidFill>
                <a:latin typeface="맑은 고딕"/>
                <a:ea typeface="맑은 고딕"/>
              </a:rPr>
              <a:t> </a:t>
            </a:r>
            <a:r>
              <a:rPr sz="800" b="0" i="0" dirty="0" err="1">
                <a:solidFill>
                  <a:srgbClr val="000000"/>
                </a:solidFill>
                <a:latin typeface="맑은 고딕"/>
                <a:ea typeface="맑은 고딕"/>
              </a:rPr>
              <a:t>재계산</a:t>
            </a:r>
            <a:endParaRPr sz="800" b="0" i="0" dirty="0">
              <a:solidFill>
                <a:srgbClr val="000000"/>
              </a:solidFill>
              <a:latin typeface="맑은 고딕"/>
              <a:ea typeface="맑은 고딕"/>
            </a:endParaRPr>
          </a:p>
        </p:txBody>
      </p:sp>
      <p:sp>
        <p:nvSpPr>
          <p:cNvPr id="286" name="Rectangle 200"/>
          <p:cNvSpPr/>
          <p:nvPr/>
        </p:nvSpPr>
        <p:spPr>
          <a:xfrm>
            <a:off x="8549640" y="282523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87" name="Rectangle 201"/>
          <p:cNvSpPr/>
          <p:nvPr/>
        </p:nvSpPr>
        <p:spPr>
          <a:xfrm>
            <a:off x="8549640" y="291667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88" name="Rounded Rectangle 202"/>
          <p:cNvSpPr/>
          <p:nvPr/>
        </p:nvSpPr>
        <p:spPr>
          <a:xfrm>
            <a:off x="9628632" y="268807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DP2</a:t>
            </a:r>
          </a:p>
        </p:txBody>
      </p:sp>
      <p:sp>
        <p:nvSpPr>
          <p:cNvPr id="289" name="Rectangle 204"/>
          <p:cNvSpPr/>
          <p:nvPr/>
        </p:nvSpPr>
        <p:spPr>
          <a:xfrm>
            <a:off x="6629400" y="341045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90" name="Rectangle 205"/>
          <p:cNvSpPr/>
          <p:nvPr/>
        </p:nvSpPr>
        <p:spPr>
          <a:xfrm>
            <a:off x="6629400" y="3410450"/>
            <a:ext cx="1037124"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900" b="1" i="0" dirty="0">
                <a:solidFill>
                  <a:srgbClr val="FFFFFF"/>
                </a:solidFill>
                <a:latin typeface="맑은 고딕"/>
                <a:ea typeface="맑은 고딕"/>
              </a:rPr>
              <a:t>«layer» Blend</a:t>
            </a:r>
          </a:p>
        </p:txBody>
      </p:sp>
      <p:sp>
        <p:nvSpPr>
          <p:cNvPr id="291" name="Rectangle 212"/>
          <p:cNvSpPr/>
          <p:nvPr/>
        </p:nvSpPr>
        <p:spPr>
          <a:xfrm>
            <a:off x="9143999" y="3730490"/>
            <a:ext cx="906875"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err="1">
                <a:solidFill>
                  <a:srgbClr val="000000"/>
                </a:solidFill>
                <a:latin typeface="맑은 고딕"/>
                <a:ea typeface="맑은 고딕"/>
              </a:rPr>
              <a:t>Recompute</a:t>
            </a:r>
            <a:r>
              <a:rPr sz="900" b="1" i="0" dirty="0">
                <a:solidFill>
                  <a:srgbClr val="000000"/>
                </a:solidFill>
                <a:latin typeface="맑은 고딕"/>
                <a:ea typeface="맑은 고딕"/>
              </a:rPr>
              <a:t> </a:t>
            </a:r>
            <a:endParaRPr lang="en-US" sz="900" b="1" i="0" dirty="0">
              <a:solidFill>
                <a:srgbClr val="000000"/>
              </a:solidFill>
              <a:latin typeface="맑은 고딕"/>
              <a:ea typeface="맑은 고딕"/>
            </a:endParaRPr>
          </a:p>
          <a:p>
            <a:pPr algn="ctr"/>
            <a:r>
              <a:rPr sz="900" b="1" i="0" dirty="0">
                <a:solidFill>
                  <a:srgbClr val="000000"/>
                </a:solidFill>
                <a:latin typeface="맑은 고딕"/>
                <a:ea typeface="맑은 고딕"/>
              </a:rPr>
              <a:t>Token Selector</a:t>
            </a:r>
          </a:p>
        </p:txBody>
      </p:sp>
      <p:sp>
        <p:nvSpPr>
          <p:cNvPr id="292" name="Rectangle 213"/>
          <p:cNvSpPr/>
          <p:nvPr/>
        </p:nvSpPr>
        <p:spPr>
          <a:xfrm>
            <a:off x="9098280" y="378535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93" name="Rectangle 214"/>
          <p:cNvSpPr/>
          <p:nvPr/>
        </p:nvSpPr>
        <p:spPr>
          <a:xfrm>
            <a:off x="9098280" y="387679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94" name="Rectangle 215"/>
          <p:cNvSpPr/>
          <p:nvPr/>
        </p:nvSpPr>
        <p:spPr>
          <a:xfrm>
            <a:off x="10424160" y="2404610"/>
            <a:ext cx="1417320" cy="1179576"/>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95" name="Rectangle 216"/>
          <p:cNvSpPr/>
          <p:nvPr/>
        </p:nvSpPr>
        <p:spPr>
          <a:xfrm>
            <a:off x="10424160" y="240461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900" b="1" i="0" dirty="0">
                <a:solidFill>
                  <a:srgbClr val="FFFFFF"/>
                </a:solidFill>
                <a:latin typeface="맑은 고딕"/>
                <a:ea typeface="맑은 고딕"/>
              </a:rPr>
              <a:t>«store» KV </a:t>
            </a:r>
            <a:r>
              <a:rPr lang="en-US" sz="900" b="1" i="0" dirty="0">
                <a:solidFill>
                  <a:srgbClr val="FFFFFF"/>
                </a:solidFill>
                <a:latin typeface="맑은 고딕"/>
                <a:ea typeface="맑은 고딕"/>
              </a:rPr>
              <a:t>Store</a:t>
            </a:r>
            <a:endParaRPr sz="900" b="1" i="0" dirty="0">
              <a:solidFill>
                <a:srgbClr val="FFFFFF"/>
              </a:solidFill>
              <a:latin typeface="맑은 고딕"/>
              <a:ea typeface="맑은 고딕"/>
            </a:endParaRPr>
          </a:p>
        </p:txBody>
      </p:sp>
      <p:sp>
        <p:nvSpPr>
          <p:cNvPr id="296" name="Rounded Rectangle 217"/>
          <p:cNvSpPr/>
          <p:nvPr/>
        </p:nvSpPr>
        <p:spPr>
          <a:xfrm>
            <a:off x="11475720" y="242289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DP1</a:t>
            </a:r>
          </a:p>
        </p:txBody>
      </p:sp>
      <p:sp>
        <p:nvSpPr>
          <p:cNvPr id="297" name="TextBox 296"/>
          <p:cNvSpPr txBox="1"/>
          <p:nvPr/>
        </p:nvSpPr>
        <p:spPr>
          <a:xfrm>
            <a:off x="10469880" y="2614922"/>
            <a:ext cx="1325880" cy="138499"/>
          </a:xfrm>
          <a:prstGeom prst="rect">
            <a:avLst/>
          </a:prstGeom>
          <a:noFill/>
        </p:spPr>
        <p:txBody>
          <a:bodyPr wrap="square" lIns="0" tIns="0" rIns="0" bIns="0" anchor="t">
            <a:spAutoFit/>
          </a:bodyPr>
          <a:lstStyle/>
          <a:p>
            <a:pPr algn="ctr"/>
            <a:r>
              <a:rPr sz="900" b="0" i="0">
                <a:solidFill>
                  <a:srgbClr val="7F7F7F"/>
                </a:solidFill>
                <a:latin typeface="맑은 고딕"/>
                <a:ea typeface="맑은 고딕"/>
              </a:rPr>
              <a:t>HBM · DRAM · CXL · SSD</a:t>
            </a:r>
          </a:p>
        </p:txBody>
      </p:sp>
      <p:sp>
        <p:nvSpPr>
          <p:cNvPr id="298" name="Rectangle 219"/>
          <p:cNvSpPr/>
          <p:nvPr/>
        </p:nvSpPr>
        <p:spPr>
          <a:xfrm>
            <a:off x="10515600" y="279780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0" i="0">
                <a:solidFill>
                  <a:srgbClr val="000000"/>
                </a:solidFill>
                <a:latin typeface="맑은 고딕"/>
                <a:ea typeface="맑은 고딕"/>
              </a:rPr>
              <a:t>Context KV 1</a:t>
            </a:r>
          </a:p>
        </p:txBody>
      </p:sp>
      <p:sp>
        <p:nvSpPr>
          <p:cNvPr id="299" name="Rectangle 220"/>
          <p:cNvSpPr/>
          <p:nvPr/>
        </p:nvSpPr>
        <p:spPr>
          <a:xfrm>
            <a:off x="10515600" y="309041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0" i="0">
                <a:solidFill>
                  <a:srgbClr val="000000"/>
                </a:solidFill>
                <a:latin typeface="맑은 고딕"/>
                <a:ea typeface="맑은 고딕"/>
              </a:rPr>
              <a:t>Context KV 2</a:t>
            </a:r>
          </a:p>
        </p:txBody>
      </p:sp>
      <p:cxnSp>
        <p:nvCxnSpPr>
          <p:cNvPr id="300" name="Connector 223"/>
          <p:cNvCxnSpPr/>
          <p:nvPr/>
        </p:nvCxnSpPr>
        <p:spPr>
          <a:xfrm>
            <a:off x="7909560" y="229488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301" name="Oval 224"/>
          <p:cNvSpPr/>
          <p:nvPr/>
        </p:nvSpPr>
        <p:spPr>
          <a:xfrm>
            <a:off x="7831836" y="245490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1</a:t>
            </a:r>
          </a:p>
        </p:txBody>
      </p:sp>
      <p:cxnSp>
        <p:nvCxnSpPr>
          <p:cNvPr id="302" name="Connector 225"/>
          <p:cNvCxnSpPr/>
          <p:nvPr/>
        </p:nvCxnSpPr>
        <p:spPr>
          <a:xfrm flipH="1">
            <a:off x="10104120" y="290753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303" name="Oval 226"/>
          <p:cNvSpPr/>
          <p:nvPr/>
        </p:nvSpPr>
        <p:spPr>
          <a:xfrm>
            <a:off x="10186416" y="282980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2</a:t>
            </a:r>
          </a:p>
        </p:txBody>
      </p:sp>
      <p:cxnSp>
        <p:nvCxnSpPr>
          <p:cNvPr id="304" name="Connector 227"/>
          <p:cNvCxnSpPr/>
          <p:nvPr/>
        </p:nvCxnSpPr>
        <p:spPr>
          <a:xfrm>
            <a:off x="7909560" y="3190994"/>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305" name="Oval 228"/>
          <p:cNvSpPr/>
          <p:nvPr/>
        </p:nvSpPr>
        <p:spPr>
          <a:xfrm>
            <a:off x="8037575" y="338301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3</a:t>
            </a:r>
          </a:p>
        </p:txBody>
      </p:sp>
      <p:cxnSp>
        <p:nvCxnSpPr>
          <p:cNvPr id="306" name="Connector 231"/>
          <p:cNvCxnSpPr/>
          <p:nvPr/>
        </p:nvCxnSpPr>
        <p:spPr>
          <a:xfrm>
            <a:off x="8823960" y="395909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307" name="Connector 232"/>
          <p:cNvCxnSpPr/>
          <p:nvPr/>
        </p:nvCxnSpPr>
        <p:spPr>
          <a:xfrm flipV="1">
            <a:off x="9326880" y="319099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308" name="Oval 233"/>
          <p:cNvSpPr/>
          <p:nvPr/>
        </p:nvSpPr>
        <p:spPr>
          <a:xfrm>
            <a:off x="9249155" y="338301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900" b="1" i="0" dirty="0">
                <a:solidFill>
                  <a:srgbClr val="FFFFFF"/>
                </a:solidFill>
                <a:latin typeface="맑은 고딕"/>
                <a:ea typeface="맑은 고딕"/>
              </a:rPr>
              <a:t>4</a:t>
            </a:r>
            <a:endParaRPr sz="900" b="1" i="0" dirty="0">
              <a:solidFill>
                <a:srgbClr val="FFFFFF"/>
              </a:solidFill>
              <a:latin typeface="맑은 고딕"/>
              <a:ea typeface="맑은 고딕"/>
            </a:endParaRPr>
          </a:p>
        </p:txBody>
      </p:sp>
      <p:grpSp>
        <p:nvGrpSpPr>
          <p:cNvPr id="309" name="그룹 308">
            <a:extLst>
              <a:ext uri="{FF2B5EF4-FFF2-40B4-BE49-F238E27FC236}">
                <a16:creationId xmlns:a16="http://schemas.microsoft.com/office/drawing/2014/main" id="{91836876-5FD3-4E66-B38B-43E19A9A12BB}"/>
              </a:ext>
            </a:extLst>
          </p:cNvPr>
          <p:cNvGrpSpPr/>
          <p:nvPr/>
        </p:nvGrpSpPr>
        <p:grpSpPr>
          <a:xfrm>
            <a:off x="6771617" y="4378351"/>
            <a:ext cx="1343682" cy="276999"/>
            <a:chOff x="6779192" y="4689663"/>
            <a:chExt cx="1009528" cy="276999"/>
          </a:xfrm>
        </p:grpSpPr>
        <p:cxnSp>
          <p:nvCxnSpPr>
            <p:cNvPr id="310" name="직선 연결선 309">
              <a:extLst>
                <a:ext uri="{FF2B5EF4-FFF2-40B4-BE49-F238E27FC236}">
                  <a16:creationId xmlns:a16="http://schemas.microsoft.com/office/drawing/2014/main" id="{704963F3-B0DB-4923-BB3B-1D2732213670}"/>
                </a:ext>
              </a:extLst>
            </p:cNvPr>
            <p:cNvCxnSpPr>
              <a:cxnSpLocks/>
            </p:cNvCxnSpPr>
            <p:nvPr/>
          </p:nvCxnSpPr>
          <p:spPr>
            <a:xfrm>
              <a:off x="677919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311" name="TextBox 310">
              <a:extLst>
                <a:ext uri="{FF2B5EF4-FFF2-40B4-BE49-F238E27FC236}">
                  <a16:creationId xmlns:a16="http://schemas.microsoft.com/office/drawing/2014/main" id="{E8F293CD-188C-4877-99B3-D91646C7B15E}"/>
                </a:ext>
              </a:extLst>
            </p:cNvPr>
            <p:cNvSpPr txBox="1"/>
            <p:nvPr/>
          </p:nvSpPr>
          <p:spPr>
            <a:xfrm>
              <a:off x="7027218" y="4689663"/>
              <a:ext cx="761502" cy="276999"/>
            </a:xfrm>
            <a:prstGeom prst="rect">
              <a:avLst/>
            </a:prstGeom>
            <a:noFill/>
          </p:spPr>
          <p:txBody>
            <a:bodyPr wrap="square" lIns="0" tIns="0" rIns="0" bIns="0" anchor="t">
              <a:spAutoFit/>
            </a:bodyPr>
            <a:lstStyle/>
            <a:p>
              <a:pPr algn="l"/>
              <a:r>
                <a:rPr lang="ko-KR" altLang="en-US" sz="900" b="0" i="0" dirty="0">
                  <a:solidFill>
                    <a:srgbClr val="7F7F7F"/>
                  </a:solidFill>
                  <a:latin typeface="맑은 고딕"/>
                  <a:ea typeface="맑은 고딕"/>
                </a:rPr>
                <a:t>서빙 시</a:t>
              </a:r>
              <a:r>
                <a:rPr lang="en-US" altLang="ko-KR" sz="900" b="0" i="0" dirty="0">
                  <a:solidFill>
                    <a:srgbClr val="7F7F7F"/>
                  </a:solidFill>
                  <a:latin typeface="맑은 고딕"/>
                  <a:ea typeface="맑은 고딕"/>
                </a:rPr>
                <a:t>(</a:t>
              </a:r>
              <a:r>
                <a:rPr lang="ko-KR" altLang="en-US" sz="900" b="0" i="0" dirty="0">
                  <a:solidFill>
                    <a:srgbClr val="7F7F7F"/>
                  </a:solidFill>
                  <a:latin typeface="맑은 고딕"/>
                  <a:ea typeface="맑은 고딕"/>
                </a:rPr>
                <a:t>요청 경로</a:t>
              </a:r>
              <a:r>
                <a:rPr lang="en-US" altLang="ko-KR" sz="900" b="0" i="0" dirty="0">
                  <a:solidFill>
                    <a:srgbClr val="7F7F7F"/>
                  </a:solidFill>
                  <a:latin typeface="맑은 고딕"/>
                  <a:ea typeface="맑은 고딕"/>
                </a:rPr>
                <a:t>)</a:t>
              </a:r>
              <a:endParaRPr sz="900" b="0" i="0" dirty="0">
                <a:solidFill>
                  <a:srgbClr val="7F7F7F"/>
                </a:solidFill>
                <a:latin typeface="맑은 고딕"/>
                <a:ea typeface="맑은 고딕"/>
              </a:endParaRPr>
            </a:p>
          </p:txBody>
        </p:sp>
      </p:grpSp>
      <p:sp>
        <p:nvSpPr>
          <p:cNvPr id="312" name="Rectangle 155"/>
          <p:cNvSpPr/>
          <p:nvPr/>
        </p:nvSpPr>
        <p:spPr>
          <a:xfrm>
            <a:off x="7764974" y="3730490"/>
            <a:ext cx="1054199"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KV Sampler</a:t>
            </a:r>
          </a:p>
          <a:p>
            <a:pPr algn="ctr">
              <a:lnSpc>
                <a:spcPct val="150000"/>
              </a:lnSpc>
            </a:pPr>
            <a:r>
              <a:rPr sz="800" b="0" i="0" dirty="0" err="1">
                <a:solidFill>
                  <a:srgbClr val="000000"/>
                </a:solidFill>
                <a:latin typeface="맑은 고딕"/>
                <a:ea typeface="맑은 고딕"/>
              </a:rPr>
              <a:t>점수로</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a:t>
            </a:r>
            <a:r>
              <a:rPr sz="800" b="0" i="0" dirty="0">
                <a:solidFill>
                  <a:srgbClr val="000000"/>
                </a:solidFill>
                <a:latin typeface="맑은 고딕"/>
                <a:ea typeface="맑은 고딕"/>
              </a:rPr>
              <a:t> </a:t>
            </a:r>
            <a:r>
              <a:rPr sz="800" b="0" i="0" dirty="0" err="1">
                <a:solidFill>
                  <a:srgbClr val="000000"/>
                </a:solidFill>
                <a:latin typeface="맑은 고딕"/>
                <a:ea typeface="맑은 고딕"/>
              </a:rPr>
              <a:t>선정</a:t>
            </a:r>
            <a:endParaRPr sz="800" b="0" i="0" dirty="0">
              <a:solidFill>
                <a:srgbClr val="000000"/>
              </a:solidFill>
              <a:latin typeface="맑은 고딕"/>
              <a:ea typeface="맑은 고딕"/>
            </a:endParaRPr>
          </a:p>
        </p:txBody>
      </p:sp>
      <p:sp>
        <p:nvSpPr>
          <p:cNvPr id="313" name="Rectangle 156"/>
          <p:cNvSpPr/>
          <p:nvPr/>
        </p:nvSpPr>
        <p:spPr>
          <a:xfrm>
            <a:off x="7717147" y="378535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314" name="Rectangle 157"/>
          <p:cNvSpPr/>
          <p:nvPr/>
        </p:nvSpPr>
        <p:spPr>
          <a:xfrm>
            <a:off x="7717147" y="387679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315" name="TextBox 314"/>
          <p:cNvSpPr txBox="1"/>
          <p:nvPr/>
        </p:nvSpPr>
        <p:spPr>
          <a:xfrm>
            <a:off x="6048620" y="1416420"/>
            <a:ext cx="5701420" cy="261610"/>
          </a:xfrm>
          <a:prstGeom prst="rect">
            <a:avLst/>
          </a:prstGeom>
          <a:noFill/>
        </p:spPr>
        <p:txBody>
          <a:bodyPr wrap="square" rtlCol="0">
            <a:spAutoFit/>
          </a:bodyPr>
          <a:lstStyle/>
          <a:p>
            <a:r>
              <a:rPr lang="ko-KR" altLang="en-US" sz="1100" dirty="0">
                <a:ea typeface="맑은 고딕"/>
              </a:rPr>
              <a:t>“전량 </a:t>
            </a:r>
            <a:r>
              <a:rPr lang="en-US" altLang="ko-KR" sz="1100" dirty="0">
                <a:ea typeface="맑은 고딕"/>
              </a:rPr>
              <a:t>Attention</a:t>
            </a:r>
            <a:r>
              <a:rPr lang="ko-KR" altLang="en-US" sz="1100" dirty="0">
                <a:ea typeface="맑은 고딕"/>
              </a:rPr>
              <a:t>을 </a:t>
            </a:r>
            <a:r>
              <a:rPr lang="en-US" altLang="ko-KR" sz="1100" dirty="0">
                <a:ea typeface="맑은 고딕"/>
              </a:rPr>
              <a:t>Digest </a:t>
            </a:r>
            <a:r>
              <a:rPr lang="ko-KR" altLang="en-US" sz="1100" dirty="0">
                <a:ea typeface="맑은 고딕"/>
              </a:rPr>
              <a:t>기반 </a:t>
            </a:r>
            <a:r>
              <a:rPr lang="en-US" altLang="ko-KR" sz="1100" dirty="0">
                <a:ea typeface="맑은 고딕"/>
              </a:rPr>
              <a:t>2</a:t>
            </a:r>
            <a:r>
              <a:rPr lang="ko-KR" altLang="en-US" sz="1100" dirty="0">
                <a:ea typeface="맑은 고딕"/>
              </a:rPr>
              <a:t>단 스코어링으로 줄이고</a:t>
            </a:r>
            <a:r>
              <a:rPr lang="en-US" altLang="ko-KR" sz="1100" dirty="0">
                <a:ea typeface="맑은 고딕"/>
              </a:rPr>
              <a:t>, </a:t>
            </a:r>
            <a:r>
              <a:rPr lang="ko-KR" altLang="en-US" sz="1100" dirty="0">
                <a:ea typeface="맑은 고딕"/>
              </a:rPr>
              <a:t>예산</a:t>
            </a:r>
            <a:r>
              <a:rPr lang="en-US" altLang="ko-KR" sz="1100" dirty="0">
                <a:ea typeface="맑은 고딕"/>
              </a:rPr>
              <a:t>·Gate</a:t>
            </a:r>
            <a:r>
              <a:rPr lang="ko-KR" altLang="en-US" sz="1100" dirty="0">
                <a:ea typeface="맑은 고딕"/>
              </a:rPr>
              <a:t>로 상한을 만든다”</a:t>
            </a:r>
          </a:p>
        </p:txBody>
      </p:sp>
    </p:spTree>
    <p:extLst>
      <p:ext uri="{BB962C8B-B14F-4D97-AF65-F5344CB8AC3E}">
        <p14:creationId xmlns:p14="http://schemas.microsoft.com/office/powerpoint/2010/main" val="152021604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DP3. Long Context를 위한 KV 캐시 재사용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2안(Query Aware, Online)의 두 단점을 구조로 어떻게 보완할 것인가</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C1</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Q5</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F3</a:t>
            </a:r>
          </a:p>
        </p:txBody>
      </p:sp>
      <p:sp>
        <p:nvSpPr>
          <p:cNvPr id="18" name="TextBox 17"/>
          <p:cNvSpPr txBox="1"/>
          <p:nvPr/>
        </p:nvSpPr>
        <p:spPr>
          <a:xfrm>
            <a:off x="356616" y="1097280"/>
            <a:ext cx="11612880" cy="457200"/>
          </a:xfrm>
          <a:prstGeom prst="rect">
            <a:avLst/>
          </a:prstGeom>
          <a:noFill/>
        </p:spPr>
        <p:txBody>
          <a:bodyPr wrap="square" lIns="45720" tIns="27432" rIns="45720" bIns="27432" anchor="t">
            <a:spAutoFit/>
          </a:bodyPr>
          <a:lstStyle/>
          <a:p>
            <a:pPr algn="l">
              <a:spcAft>
                <a:spcPts val="200"/>
              </a:spcAft>
            </a:pPr>
            <a:r>
              <a:rPr sz="1200" b="0">
                <a:solidFill>
                  <a:srgbClr val="404040"/>
                </a:solidFill>
                <a:latin typeface="맑은 고딕"/>
                <a:ea typeface="맑은 고딕"/>
                <a:cs typeface="맑은 고딕"/>
              </a:rPr>
              <a:t>- 2안은 원본 KV 1부만 보관하고 요청 시점의 실제 Query로 재계산 토큰을 고르므로 정확도 마진을 구조적으로 확보하지만, 그 선정과 재계산이 매 요청 경로에 올라감</a:t>
            </a:r>
          </a:p>
        </p:txBody>
      </p:sp>
      <p:sp>
        <p:nvSpPr>
          <p:cNvPr id="19" name="Rectangle 18"/>
          <p:cNvSpPr/>
          <p:nvPr/>
        </p:nvSpPr>
        <p:spPr>
          <a:xfrm>
            <a:off x="347472" y="1783080"/>
            <a:ext cx="11402568" cy="146304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128515" y="1627632"/>
            <a:ext cx="384048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요청 경로(TTFT)의 비용 분해  [개념식]</a:t>
            </a:r>
          </a:p>
        </p:txBody>
      </p:sp>
      <p:sp>
        <p:nvSpPr>
          <p:cNvPr id="21" name="Rectangle 20"/>
          <p:cNvSpPr/>
          <p:nvPr/>
        </p:nvSpPr>
        <p:spPr>
          <a:xfrm>
            <a:off x="594360" y="2103120"/>
            <a:ext cx="1920240" cy="566928"/>
          </a:xfrm>
          <a:prstGeom prst="rect">
            <a:avLst/>
          </a:prstGeom>
          <a:solidFill>
            <a:srgbClr val="E2F0D9"/>
          </a:solidFill>
          <a:ln w="1524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a:solidFill>
                  <a:srgbClr val="000000"/>
                </a:solidFill>
                <a:latin typeface="맑은 고딕"/>
                <a:ea typeface="맑은 고딕"/>
                <a:cs typeface="맑은 고딕"/>
              </a:rPr>
              <a:t>T_fetch</a:t>
            </a:r>
          </a:p>
          <a:p>
            <a:pPr algn="ctr">
              <a:spcAft>
                <a:spcPts val="200"/>
              </a:spcAft>
            </a:pPr>
            <a:r>
              <a:rPr sz="850" b="0">
                <a:solidFill>
                  <a:srgbClr val="000000"/>
                </a:solidFill>
                <a:latin typeface="맑은 고딕"/>
                <a:ea typeface="맑은 고딕"/>
                <a:cs typeface="맑은 고딕"/>
              </a:rPr>
              <a:t>tier → HBM KV 로드</a:t>
            </a:r>
          </a:p>
        </p:txBody>
      </p:sp>
      <p:sp>
        <p:nvSpPr>
          <p:cNvPr id="22" name="TextBox 21"/>
          <p:cNvSpPr txBox="1"/>
          <p:nvPr/>
        </p:nvSpPr>
        <p:spPr>
          <a:xfrm>
            <a:off x="594360" y="2697480"/>
            <a:ext cx="1920240" cy="274320"/>
          </a:xfrm>
          <a:prstGeom prst="rect">
            <a:avLst/>
          </a:prstGeom>
          <a:noFill/>
        </p:spPr>
        <p:txBody>
          <a:bodyPr wrap="square" lIns="45720" tIns="27432" rIns="45720" bIns="27432" anchor="t">
            <a:spAutoFit/>
          </a:bodyPr>
          <a:lstStyle/>
          <a:p>
            <a:pPr algn="ctr">
              <a:spcAft>
                <a:spcPts val="200"/>
              </a:spcAft>
            </a:pPr>
            <a:r>
              <a:rPr sz="900" b="1">
                <a:solidFill>
                  <a:srgbClr val="595959"/>
                </a:solidFill>
                <a:latin typeface="맑은 고딕"/>
                <a:ea typeface="맑은 고딕"/>
                <a:cs typeface="맑은 고딕"/>
              </a:rPr>
              <a:t>링크 대역폭</a:t>
            </a:r>
          </a:p>
        </p:txBody>
      </p:sp>
      <p:sp>
        <p:nvSpPr>
          <p:cNvPr id="23" name="TextBox 22"/>
          <p:cNvSpPr txBox="1"/>
          <p:nvPr/>
        </p:nvSpPr>
        <p:spPr>
          <a:xfrm>
            <a:off x="2496312" y="2176272"/>
            <a:ext cx="411480" cy="365760"/>
          </a:xfrm>
          <a:prstGeom prst="rect">
            <a:avLst/>
          </a:prstGeom>
          <a:noFill/>
        </p:spPr>
        <p:txBody>
          <a:bodyPr wrap="square" lIns="45720" tIns="27432" rIns="45720" bIns="27432" anchor="t">
            <a:spAutoFit/>
          </a:bodyPr>
          <a:lstStyle/>
          <a:p>
            <a:pPr algn="ctr">
              <a:spcAft>
                <a:spcPts val="200"/>
              </a:spcAft>
            </a:pPr>
            <a:r>
              <a:rPr sz="1600" b="1">
                <a:solidFill>
                  <a:srgbClr val="595959"/>
                </a:solidFill>
                <a:latin typeface="맑은 고딕"/>
                <a:ea typeface="맑은 고딕"/>
                <a:cs typeface="맑은 고딕"/>
              </a:rPr>
              <a:t>+</a:t>
            </a:r>
          </a:p>
        </p:txBody>
      </p:sp>
      <p:sp>
        <p:nvSpPr>
          <p:cNvPr id="24" name="Rectangle 23"/>
          <p:cNvSpPr/>
          <p:nvPr/>
        </p:nvSpPr>
        <p:spPr>
          <a:xfrm>
            <a:off x="2880360" y="2103120"/>
            <a:ext cx="1920240" cy="56692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a:solidFill>
                  <a:srgbClr val="000000"/>
                </a:solidFill>
                <a:latin typeface="맑은 고딕"/>
                <a:ea typeface="맑은 고딕"/>
                <a:cs typeface="맑은 고딕"/>
              </a:rPr>
              <a:t>T_score</a:t>
            </a:r>
          </a:p>
          <a:p>
            <a:pPr algn="ctr">
              <a:spcAft>
                <a:spcPts val="200"/>
              </a:spcAft>
            </a:pPr>
            <a:r>
              <a:rPr sz="850" b="0">
                <a:solidFill>
                  <a:srgbClr val="000000"/>
                </a:solidFill>
                <a:latin typeface="맑은 고딕"/>
                <a:ea typeface="맑은 고딕"/>
                <a:cs typeface="맑은 고딕"/>
              </a:rPr>
              <a:t>Query × KV Attention (Stage 1)</a:t>
            </a:r>
          </a:p>
        </p:txBody>
      </p:sp>
      <p:sp>
        <p:nvSpPr>
          <p:cNvPr id="25" name="TextBox 24"/>
          <p:cNvSpPr txBox="1"/>
          <p:nvPr/>
        </p:nvSpPr>
        <p:spPr>
          <a:xfrm>
            <a:off x="2880360" y="2697480"/>
            <a:ext cx="1920240" cy="274320"/>
          </a:xfrm>
          <a:prstGeom prst="rect">
            <a:avLst/>
          </a:prstGeom>
          <a:noFill/>
        </p:spPr>
        <p:txBody>
          <a:bodyPr wrap="square" lIns="45720" tIns="27432" rIns="45720" bIns="27432" anchor="t">
            <a:spAutoFit/>
          </a:bodyPr>
          <a:lstStyle/>
          <a:p>
            <a:pPr algn="ctr">
              <a:spcAft>
                <a:spcPts val="200"/>
              </a:spcAft>
            </a:pPr>
            <a:r>
              <a:rPr sz="900" b="1">
                <a:solidFill>
                  <a:srgbClr val="595959"/>
                </a:solidFill>
                <a:latin typeface="맑은 고딕"/>
                <a:ea typeface="맑은 고딕"/>
                <a:cs typeface="맑은 고딕"/>
              </a:rPr>
              <a:t>HBM 대역폭 (memory-bound)</a:t>
            </a:r>
          </a:p>
        </p:txBody>
      </p:sp>
      <p:sp>
        <p:nvSpPr>
          <p:cNvPr id="26" name="TextBox 25"/>
          <p:cNvSpPr txBox="1"/>
          <p:nvPr/>
        </p:nvSpPr>
        <p:spPr>
          <a:xfrm>
            <a:off x="4782312" y="2176272"/>
            <a:ext cx="411480" cy="365760"/>
          </a:xfrm>
          <a:prstGeom prst="rect">
            <a:avLst/>
          </a:prstGeom>
          <a:noFill/>
        </p:spPr>
        <p:txBody>
          <a:bodyPr wrap="square" lIns="45720" tIns="27432" rIns="45720" bIns="27432" anchor="t">
            <a:spAutoFit/>
          </a:bodyPr>
          <a:lstStyle/>
          <a:p>
            <a:pPr algn="ctr">
              <a:spcAft>
                <a:spcPts val="200"/>
              </a:spcAft>
            </a:pPr>
            <a:r>
              <a:rPr sz="1600" b="1">
                <a:solidFill>
                  <a:srgbClr val="595959"/>
                </a:solidFill>
                <a:latin typeface="맑은 고딕"/>
                <a:ea typeface="맑은 고딕"/>
                <a:cs typeface="맑은 고딕"/>
              </a:rPr>
              <a:t>+</a:t>
            </a:r>
          </a:p>
        </p:txBody>
      </p:sp>
      <p:sp>
        <p:nvSpPr>
          <p:cNvPr id="27" name="Rectangle 26"/>
          <p:cNvSpPr/>
          <p:nvPr/>
        </p:nvSpPr>
        <p:spPr>
          <a:xfrm>
            <a:off x="5166360" y="2103120"/>
            <a:ext cx="1920240" cy="56692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a:solidFill>
                  <a:srgbClr val="000000"/>
                </a:solidFill>
                <a:latin typeface="맑은 고딕"/>
                <a:ea typeface="맑은 고딕"/>
                <a:cs typeface="맑은 고딕"/>
              </a:rPr>
              <a:t>T_select</a:t>
            </a:r>
          </a:p>
          <a:p>
            <a:pPr algn="ctr">
              <a:spcAft>
                <a:spcPts val="200"/>
              </a:spcAft>
            </a:pPr>
            <a:r>
              <a:rPr sz="850" b="0">
                <a:solidFill>
                  <a:srgbClr val="000000"/>
                </a:solidFill>
                <a:latin typeface="맑은 고딕"/>
                <a:ea typeface="맑은 고딕"/>
                <a:cs typeface="맑은 고딕"/>
              </a:rPr>
              <a:t>점수 상위 토큰 선정</a:t>
            </a:r>
          </a:p>
        </p:txBody>
      </p:sp>
      <p:sp>
        <p:nvSpPr>
          <p:cNvPr id="28" name="TextBox 27"/>
          <p:cNvSpPr txBox="1"/>
          <p:nvPr/>
        </p:nvSpPr>
        <p:spPr>
          <a:xfrm>
            <a:off x="5166360" y="2697480"/>
            <a:ext cx="1920240" cy="274320"/>
          </a:xfrm>
          <a:prstGeom prst="rect">
            <a:avLst/>
          </a:prstGeom>
          <a:noFill/>
        </p:spPr>
        <p:txBody>
          <a:bodyPr wrap="square" lIns="45720" tIns="27432" rIns="45720" bIns="27432" anchor="t">
            <a:spAutoFit/>
          </a:bodyPr>
          <a:lstStyle/>
          <a:p>
            <a:pPr algn="ctr">
              <a:spcAft>
                <a:spcPts val="200"/>
              </a:spcAft>
            </a:pPr>
            <a:r>
              <a:rPr sz="900" b="1">
                <a:solidFill>
                  <a:srgbClr val="595959"/>
                </a:solidFill>
                <a:latin typeface="맑은 고딕"/>
                <a:ea typeface="맑은 고딕"/>
                <a:cs typeface="맑은 고딕"/>
              </a:rPr>
              <a:t>무시 가능</a:t>
            </a:r>
          </a:p>
        </p:txBody>
      </p:sp>
      <p:sp>
        <p:nvSpPr>
          <p:cNvPr id="29" name="TextBox 28"/>
          <p:cNvSpPr txBox="1"/>
          <p:nvPr/>
        </p:nvSpPr>
        <p:spPr>
          <a:xfrm>
            <a:off x="7068312" y="2176272"/>
            <a:ext cx="411480" cy="365760"/>
          </a:xfrm>
          <a:prstGeom prst="rect">
            <a:avLst/>
          </a:prstGeom>
          <a:noFill/>
        </p:spPr>
        <p:txBody>
          <a:bodyPr wrap="square" lIns="45720" tIns="27432" rIns="45720" bIns="27432" anchor="t">
            <a:spAutoFit/>
          </a:bodyPr>
          <a:lstStyle/>
          <a:p>
            <a:pPr algn="ctr">
              <a:spcAft>
                <a:spcPts val="200"/>
              </a:spcAft>
            </a:pPr>
            <a:r>
              <a:rPr sz="1600" b="1">
                <a:solidFill>
                  <a:srgbClr val="595959"/>
                </a:solidFill>
                <a:latin typeface="맑은 고딕"/>
                <a:ea typeface="맑은 고딕"/>
                <a:cs typeface="맑은 고딕"/>
              </a:rPr>
              <a:t>+</a:t>
            </a:r>
          </a:p>
        </p:txBody>
      </p:sp>
      <p:sp>
        <p:nvSpPr>
          <p:cNvPr id="30" name="Rectangle 29"/>
          <p:cNvSpPr/>
          <p:nvPr/>
        </p:nvSpPr>
        <p:spPr>
          <a:xfrm>
            <a:off x="7452360" y="2103120"/>
            <a:ext cx="1920240" cy="566928"/>
          </a:xfrm>
          <a:prstGeom prst="rect">
            <a:avLst/>
          </a:prstGeom>
          <a:solidFill>
            <a:srgbClr val="DEEBF7"/>
          </a:solidFill>
          <a:ln w="1524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a:solidFill>
                  <a:srgbClr val="000000"/>
                </a:solidFill>
                <a:latin typeface="맑은 고딕"/>
                <a:ea typeface="맑은 고딕"/>
                <a:cs typeface="맑은 고딕"/>
              </a:rPr>
              <a:t>T_recomp</a:t>
            </a:r>
          </a:p>
          <a:p>
            <a:pPr algn="ctr">
              <a:spcAft>
                <a:spcPts val="200"/>
              </a:spcAft>
            </a:pPr>
            <a:r>
              <a:rPr sz="850" b="0">
                <a:solidFill>
                  <a:srgbClr val="000000"/>
                </a:solidFill>
                <a:latin typeface="맑은 고딕"/>
                <a:ea typeface="맑은 고딕"/>
                <a:cs typeface="맑은 고딕"/>
              </a:rPr>
              <a:t>선택 토큰 layer별 재연산</a:t>
            </a:r>
          </a:p>
        </p:txBody>
      </p:sp>
      <p:sp>
        <p:nvSpPr>
          <p:cNvPr id="31" name="TextBox 30"/>
          <p:cNvSpPr txBox="1"/>
          <p:nvPr/>
        </p:nvSpPr>
        <p:spPr>
          <a:xfrm>
            <a:off x="7452360" y="2697480"/>
            <a:ext cx="1920240" cy="274320"/>
          </a:xfrm>
          <a:prstGeom prst="rect">
            <a:avLst/>
          </a:prstGeom>
          <a:noFill/>
        </p:spPr>
        <p:txBody>
          <a:bodyPr wrap="square" lIns="45720" tIns="27432" rIns="45720" bIns="27432" anchor="t">
            <a:spAutoFit/>
          </a:bodyPr>
          <a:lstStyle/>
          <a:p>
            <a:pPr algn="ctr">
              <a:spcAft>
                <a:spcPts val="200"/>
              </a:spcAft>
            </a:pPr>
            <a:r>
              <a:rPr sz="900" b="1">
                <a:solidFill>
                  <a:srgbClr val="595959"/>
                </a:solidFill>
                <a:latin typeface="맑은 고딕"/>
                <a:ea typeface="맑은 고딕"/>
                <a:cs typeface="맑은 고딕"/>
              </a:rPr>
              <a:t>SM (compute-bound)</a:t>
            </a:r>
          </a:p>
        </p:txBody>
      </p:sp>
      <p:sp>
        <p:nvSpPr>
          <p:cNvPr id="32" name="TextBox 31"/>
          <p:cNvSpPr txBox="1"/>
          <p:nvPr/>
        </p:nvSpPr>
        <p:spPr>
          <a:xfrm>
            <a:off x="9354312" y="2176272"/>
            <a:ext cx="411480" cy="365760"/>
          </a:xfrm>
          <a:prstGeom prst="rect">
            <a:avLst/>
          </a:prstGeom>
          <a:noFill/>
        </p:spPr>
        <p:txBody>
          <a:bodyPr wrap="square" lIns="45720" tIns="27432" rIns="45720" bIns="27432" anchor="t">
            <a:spAutoFit/>
          </a:bodyPr>
          <a:lstStyle/>
          <a:p>
            <a:pPr algn="ctr">
              <a:spcAft>
                <a:spcPts val="200"/>
              </a:spcAft>
            </a:pPr>
            <a:r>
              <a:rPr sz="1600" b="1">
                <a:solidFill>
                  <a:srgbClr val="595959"/>
                </a:solidFill>
                <a:latin typeface="맑은 고딕"/>
                <a:ea typeface="맑은 고딕"/>
                <a:cs typeface="맑은 고딕"/>
              </a:rPr>
              <a:t>+</a:t>
            </a:r>
          </a:p>
        </p:txBody>
      </p:sp>
      <p:sp>
        <p:nvSpPr>
          <p:cNvPr id="33" name="Rectangle 32"/>
          <p:cNvSpPr/>
          <p:nvPr/>
        </p:nvSpPr>
        <p:spPr>
          <a:xfrm>
            <a:off x="9738360" y="2103120"/>
            <a:ext cx="1920240" cy="56692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a:solidFill>
                  <a:srgbClr val="000000"/>
                </a:solidFill>
                <a:latin typeface="맑은 고딕"/>
                <a:ea typeface="맑은 고딕"/>
                <a:cs typeface="맑은 고딕"/>
              </a:rPr>
              <a:t>T_rest</a:t>
            </a:r>
          </a:p>
          <a:p>
            <a:pPr algn="ctr">
              <a:spcAft>
                <a:spcPts val="200"/>
              </a:spcAft>
            </a:pPr>
            <a:r>
              <a:rPr sz="850" b="0">
                <a:solidFill>
                  <a:srgbClr val="000000"/>
                </a:solidFill>
                <a:latin typeface="맑은 고딕"/>
                <a:ea typeface="맑은 고딕"/>
                <a:cs typeface="맑은 고딕"/>
              </a:rPr>
              <a:t>비재계산 구간 · Query suffix</a:t>
            </a:r>
          </a:p>
        </p:txBody>
      </p:sp>
      <p:sp>
        <p:nvSpPr>
          <p:cNvPr id="34" name="TextBox 33"/>
          <p:cNvSpPr txBox="1"/>
          <p:nvPr/>
        </p:nvSpPr>
        <p:spPr>
          <a:xfrm>
            <a:off x="9738360" y="2697480"/>
            <a:ext cx="1920240" cy="274320"/>
          </a:xfrm>
          <a:prstGeom prst="rect">
            <a:avLst/>
          </a:prstGeom>
          <a:noFill/>
        </p:spPr>
        <p:txBody>
          <a:bodyPr wrap="square" lIns="45720" tIns="27432" rIns="45720" bIns="27432" anchor="t">
            <a:spAutoFit/>
          </a:bodyPr>
          <a:lstStyle/>
          <a:p>
            <a:pPr algn="ctr">
              <a:spcAft>
                <a:spcPts val="200"/>
              </a:spcAft>
            </a:pPr>
            <a:r>
              <a:rPr sz="900" b="1">
                <a:solidFill>
                  <a:srgbClr val="595959"/>
                </a:solidFill>
                <a:latin typeface="맑은 고딕"/>
                <a:ea typeface="맑은 고딕"/>
                <a:cs typeface="맑은 고딕"/>
              </a:rPr>
              <a:t>—</a:t>
            </a:r>
          </a:p>
        </p:txBody>
      </p:sp>
      <p:sp>
        <p:nvSpPr>
          <p:cNvPr id="35" name="TextBox 34"/>
          <p:cNvSpPr txBox="1"/>
          <p:nvPr/>
        </p:nvSpPr>
        <p:spPr>
          <a:xfrm>
            <a:off x="457200" y="2926080"/>
            <a:ext cx="11155680" cy="274320"/>
          </a:xfrm>
          <a:prstGeom prst="rect">
            <a:avLst/>
          </a:prstGeom>
          <a:noFill/>
        </p:spPr>
        <p:txBody>
          <a:bodyPr wrap="square" lIns="45720" tIns="27432" rIns="45720" bIns="27432" anchor="t">
            <a:spAutoFit/>
          </a:bodyPr>
          <a:lstStyle/>
          <a:p>
            <a:pPr algn="l">
              <a:spcAft>
                <a:spcPts val="200"/>
              </a:spcAft>
            </a:pPr>
            <a:r>
              <a:rPr sz="1000" b="1">
                <a:solidFill>
                  <a:srgbClr val="404040"/>
                </a:solidFill>
                <a:latin typeface="맑은 고딕"/>
                <a:ea typeface="맑은 고딕"/>
                <a:cs typeface="맑은 고딕"/>
              </a:rPr>
              <a:t>TTFT(2안) ≈ T_fetch + T_score + T_select + T_recomp + T_rest  (단계 직렬 가정, 보완 설계가 공략하는 항: T_fetch · T_score · T_recomp)</a:t>
            </a:r>
          </a:p>
        </p:txBody>
      </p:sp>
      <p:graphicFrame>
        <p:nvGraphicFramePr>
          <p:cNvPr id="36" name="Table 35"/>
          <p:cNvGraphicFramePr>
            <a:graphicFrameLocks noGrp="1"/>
          </p:cNvGraphicFramePr>
          <p:nvPr/>
        </p:nvGraphicFramePr>
        <p:xfrm>
          <a:off x="246888" y="3429000"/>
          <a:ext cx="11750039" cy="2011680"/>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20000"/>
                    </a:ext>
                  </a:extLst>
                </a:gridCol>
                <a:gridCol w="3977639">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10896">
                <a:tc>
                  <a:txBody>
                    <a:bodyPr/>
                    <a:lstStyle/>
                    <a:p>
                      <a:pPr algn="ctr">
                        <a:spcAft>
                          <a:spcPts val="100"/>
                        </a:spcAft>
                      </a:pPr>
                      <a:r>
                        <a:rPr sz="1150" b="0">
                          <a:solidFill>
                            <a:srgbClr val="7F7F7F"/>
                          </a:solidFill>
                          <a:latin typeface="맑은 고딕"/>
                          <a:ea typeface="맑은 고딕"/>
                          <a:cs typeface="맑은 고딕"/>
                        </a:rPr>
                        <a:t>단점 (기존 슬라이드)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150" b="1">
                          <a:solidFill>
                            <a:srgbClr val="7F7F7F"/>
                          </a:solidFill>
                          <a:latin typeface="맑은 고딕"/>
                          <a:ea typeface="맑은 고딕"/>
                          <a:cs typeface="맑은 고딕"/>
                        </a:rPr>
                        <a:t>원인 항</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150" b="1">
                          <a:solidFill>
                            <a:srgbClr val="7F7F7F"/>
                          </a:solidFill>
                          <a:latin typeface="맑은 고딕"/>
                          <a:ea typeface="맑은 고딕"/>
                          <a:cs typeface="맑은 고딕"/>
                        </a:rPr>
                        <a:t>보완 기법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566928">
                <a:tc>
                  <a:txBody>
                    <a:bodyPr/>
                    <a:lstStyle/>
                    <a:p>
                      <a:pPr algn="ctr">
                        <a:spcAft>
                          <a:spcPts val="100"/>
                        </a:spcAft>
                      </a:pPr>
                      <a:r>
                        <a:rPr sz="1050" b="1">
                          <a:solidFill>
                            <a:srgbClr val="7F7F7F"/>
                          </a:solidFill>
                          <a:latin typeface="맑은 고딕"/>
                          <a:ea typeface="맑은 고딕"/>
                          <a:cs typeface="맑은 고딕"/>
                        </a:rPr>
                        <a:t>① 재계산이 매 요청 critical path에 상주</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T_score: 요청마다 전체 K를 스캔 / T_fetch → T_score → T_recomp 직렬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1">
                          <a:solidFill>
                            <a:srgbClr val="000000"/>
                          </a:solidFill>
                          <a:latin typeface="맑은 고딕"/>
                          <a:ea typeface="맑은 고딕"/>
                          <a:cs typeface="맑은 고딕"/>
                        </a:rPr>
                        <a:t>M1 Block Digest 계층 스코어링 + M2 레이어 파이프라인·load-hiding 재계산 예산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566928">
                <a:tc>
                  <a:txBody>
                    <a:bodyPr/>
                    <a:lstStyle/>
                    <a:p>
                      <a:pPr algn="ctr">
                        <a:spcAft>
                          <a:spcPts val="100"/>
                        </a:spcAft>
                      </a:pPr>
                      <a:r>
                        <a:rPr sz="1050" b="1">
                          <a:solidFill>
                            <a:srgbClr val="7F7F7F"/>
                          </a:solidFill>
                          <a:latin typeface="맑은 고딕"/>
                          <a:ea typeface="맑은 고딕"/>
                          <a:cs typeface="맑은 고딕"/>
                        </a:rPr>
                        <a:t>② 동시 요청 증가 시 재계산 경합 → 확장 여유 제한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n개 요청이 같은 Context KV를 각자 스캔 / 재계산이 Decode와 SM 경쟁</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1">
                          <a:solidFill>
                            <a:srgbClr val="000000"/>
                          </a:solidFill>
                          <a:latin typeface="맑은 고딕"/>
                          <a:ea typeface="맑은 고딕"/>
                          <a:cs typeface="맑은 고딕"/>
                        </a:rPr>
                        <a:t>M3 Shared-KV 배치 스코어링 + M4 예산 선정·단계적 저하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566928">
                <a:tc>
                  <a:txBody>
                    <a:bodyPr/>
                    <a:lstStyle/>
                    <a:p>
                      <a:pPr algn="ctr">
                        <a:spcAft>
                          <a:spcPts val="100"/>
                        </a:spcAft>
                      </a:pPr>
                      <a:r>
                        <a:rPr sz="1050" b="1">
                          <a:solidFill>
                            <a:srgbClr val="7F7F7F"/>
                          </a:solidFill>
                          <a:latin typeface="맑은 고딕"/>
                          <a:ea typeface="맑은 고딕"/>
                          <a:cs typeface="맑은 고딕"/>
                        </a:rPr>
                        <a:t>③ 보완이 만드는 새 위험: 정확도 저하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0">
                          <a:solidFill>
                            <a:srgbClr val="000000"/>
                          </a:solidFill>
                          <a:latin typeface="맑은 고딕"/>
                          <a:ea typeface="맑은 고딕"/>
                          <a:cs typeface="맑은 고딕"/>
                        </a:rPr>
                        <a:t>M1·M2·M4는 모두 정확도를 깎는 방향의 최적화 (제약 C1: 출력 정확도 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50" b="1">
                          <a:solidFill>
                            <a:srgbClr val="000000"/>
                          </a:solidFill>
                          <a:latin typeface="맑은 고딕"/>
                          <a:ea typeface="맑은 고딕"/>
                          <a:cs typeface="맑은 고딕"/>
                        </a:rPr>
                        <a:t>M5 Confidence Gate (신뢰도 미달 시 r 상향 / Full Prefill)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37" name="Right Arrow 36"/>
          <p:cNvSpPr/>
          <p:nvPr/>
        </p:nvSpPr>
        <p:spPr>
          <a:xfrm>
            <a:off x="283464" y="5760720"/>
            <a:ext cx="411480" cy="27432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31520" y="5742432"/>
            <a:ext cx="11155680" cy="310896"/>
          </a:xfrm>
          <a:prstGeom prst="rect">
            <a:avLst/>
          </a:prstGeom>
          <a:noFill/>
        </p:spPr>
        <p:txBody>
          <a:bodyPr wrap="square" lIns="45720" tIns="27432" rIns="45720" bIns="27432" anchor="ctr">
            <a:spAutoFit/>
          </a:bodyPr>
          <a:lstStyle/>
          <a:p>
            <a:pPr algn="l">
              <a:spcAft>
                <a:spcPts val="200"/>
              </a:spcAft>
            </a:pPr>
            <a:r>
              <a:rPr sz="1200" b="1">
                <a:solidFill>
                  <a:srgbClr val="0066FF"/>
                </a:solidFill>
                <a:latin typeface="맑은 고딕"/>
                <a:ea typeface="맑은 고딕"/>
                <a:cs typeface="맑은 고딕"/>
              </a:rPr>
              <a:t>보완 원칙: critical path를 없애지 않고 줄이고 숨긴다. 원본 KV 1부 보관(압축 없음)과 요청 시점 Query-aware 결정은 그대로 유지</a:t>
            </a:r>
          </a:p>
        </p:txBody>
      </p:sp>
      <p:sp>
        <p:nvSpPr>
          <p:cNvPr id="39" name="TextBox 38"/>
          <p:cNvSpPr txBox="1"/>
          <p:nvPr/>
        </p:nvSpPr>
        <p:spPr>
          <a:xfrm>
            <a:off x="384048" y="6071616"/>
            <a:ext cx="11430000" cy="548640"/>
          </a:xfrm>
          <a:prstGeom prst="rect">
            <a:avLst/>
          </a:prstGeom>
          <a:noFill/>
        </p:spPr>
        <p:txBody>
          <a:bodyPr wrap="square" lIns="45720" tIns="27432" rIns="45720" bIns="27432" anchor="t">
            <a:spAutoFit/>
          </a:bodyPr>
          <a:lstStyle/>
          <a:p>
            <a:pPr algn="l">
              <a:spcAft>
                <a:spcPts val="100"/>
              </a:spcAft>
            </a:pPr>
            <a:r>
              <a:rPr sz="1100" b="1">
                <a:solidFill>
                  <a:srgbClr val="000000"/>
                </a:solidFill>
                <a:latin typeface="맑은 고딕"/>
                <a:ea typeface="맑은 고딕"/>
                <a:cs typeface="맑은 고딕"/>
              </a:rPr>
              <a:t>설계 쟁점 1. 지연: Stage 1과 KV 로드를 재계산 뒤로 숨겨 TTFT 절감률을 높이는 구조</a:t>
            </a:r>
          </a:p>
          <a:p>
            <a:pPr algn="l">
              <a:spcAft>
                <a:spcPts val="100"/>
              </a:spcAft>
            </a:pPr>
            <a:r>
              <a:rPr sz="1100" b="1">
                <a:solidFill>
                  <a:srgbClr val="000000"/>
                </a:solidFill>
                <a:latin typeface="맑은 고딕"/>
                <a:ea typeface="맑은 고딕"/>
                <a:cs typeface="맑은 고딕"/>
              </a:rPr>
              <a:t>설계 쟁점 2. 확장성: 동시 요청이 늘어도 경합이 선형으로 증가하지 않고 정확도로 점진 저하되는 구조</a:t>
            </a:r>
          </a:p>
        </p:txBody>
      </p:sp>
      <p:sp>
        <p:nvSpPr>
          <p:cNvPr id="40" name="TextBox 39"/>
          <p:cNvSpPr txBox="1"/>
          <p:nvPr/>
        </p:nvSpPr>
        <p:spPr>
          <a:xfrm>
            <a:off x="274320" y="6601968"/>
            <a:ext cx="4983480" cy="228600"/>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출처: doc-mk/DP3/dp3-kv-compression-reuse-structure-draft.md. 효과는 모두 [가설], 문헌 [B]</a:t>
            </a:r>
          </a:p>
        </p:txBody>
      </p:sp>
      <p:sp>
        <p:nvSpPr>
          <p:cNvPr id="41" name="TextBox 40"/>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1</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DP3. Long Context를 위한 KV 캐시 재사용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2안 + 보완: 기존 모듈은 유지하고 세 곳을 확장한다</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C1</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Q5</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F3</a:t>
            </a:r>
          </a:p>
        </p:txBody>
      </p:sp>
      <p:sp>
        <p:nvSpPr>
          <p:cNvPr id="18" name="Rectangle 17"/>
          <p:cNvSpPr/>
          <p:nvPr/>
        </p:nvSpPr>
        <p:spPr>
          <a:xfrm>
            <a:off x="365760" y="1234440"/>
            <a:ext cx="2194560" cy="777240"/>
          </a:xfrm>
          <a:prstGeom prst="rect">
            <a:avLst/>
          </a:prstGeom>
          <a:solidFill>
            <a:srgbClr val="FFF2CC"/>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User Query Manager</a:t>
            </a:r>
          </a:p>
          <a:p>
            <a:pPr algn="ctr">
              <a:spcAft>
                <a:spcPts val="200"/>
              </a:spcAft>
            </a:pPr>
            <a:r>
              <a:rPr sz="850" b="0">
                <a:solidFill>
                  <a:srgbClr val="000000"/>
                </a:solidFill>
                <a:latin typeface="맑은 고딕"/>
                <a:ea typeface="맑은 고딕"/>
                <a:cs typeface="맑은 고딕"/>
              </a:rPr>
              <a:t>실제 Query (요청 시점)</a:t>
            </a:r>
          </a:p>
          <a:p>
            <a:pPr algn="ctr">
              <a:spcAft>
                <a:spcPts val="200"/>
              </a:spcAft>
            </a:pPr>
            <a:r>
              <a:rPr sz="850" b="1">
                <a:solidFill>
                  <a:srgbClr val="FF0000"/>
                </a:solidFill>
                <a:latin typeface="맑은 고딕"/>
                <a:ea typeface="맑은 고딕"/>
                <a:cs typeface="맑은 고딕"/>
              </a:rPr>
              <a:t>+ Query 배치 윈도우 (M3)</a:t>
            </a:r>
          </a:p>
        </p:txBody>
      </p:sp>
      <p:sp>
        <p:nvSpPr>
          <p:cNvPr id="19" name="Rectangle 18"/>
          <p:cNvSpPr/>
          <p:nvPr/>
        </p:nvSpPr>
        <p:spPr>
          <a:xfrm>
            <a:off x="274320" y="2331720"/>
            <a:ext cx="2514600" cy="3246120"/>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74320" y="2331720"/>
            <a:ext cx="251460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보완 기법</a:t>
            </a:r>
          </a:p>
        </p:txBody>
      </p:sp>
      <p:sp>
        <p:nvSpPr>
          <p:cNvPr id="21" name="TextBox 20"/>
          <p:cNvSpPr txBox="1"/>
          <p:nvPr/>
        </p:nvSpPr>
        <p:spPr>
          <a:xfrm>
            <a:off x="329184" y="2578608"/>
            <a:ext cx="2423160" cy="3017520"/>
          </a:xfrm>
          <a:prstGeom prst="rect">
            <a:avLst/>
          </a:prstGeom>
          <a:noFill/>
        </p:spPr>
        <p:txBody>
          <a:bodyPr wrap="square" lIns="45720" tIns="27432" rIns="45720" bIns="27432" anchor="t">
            <a:spAutoFit/>
          </a:bodyPr>
          <a:lstStyle/>
          <a:p>
            <a:pPr algn="l">
              <a:spcAft>
                <a:spcPts val="100"/>
              </a:spcAft>
            </a:pPr>
            <a:r>
              <a:rPr sz="800" b="1">
                <a:solidFill>
                  <a:srgbClr val="404040"/>
                </a:solidFill>
                <a:latin typeface="맑은 고딕"/>
                <a:ea typeface="맑은 고딕"/>
                <a:cs typeface="맑은 고딕"/>
              </a:rPr>
              <a:t>M1  Block Digest 계층 스코어링</a:t>
            </a:r>
          </a:p>
          <a:p>
            <a:pPr algn="l">
              <a:spcAft>
                <a:spcPts val="100"/>
              </a:spcAft>
            </a:pPr>
            <a:r>
              <a:rPr sz="800" b="0">
                <a:solidFill>
                  <a:srgbClr val="404040"/>
                </a:solidFill>
                <a:latin typeface="맑은 고딕"/>
                <a:ea typeface="맑은 고딕"/>
                <a:cs typeface="맑은 고딕"/>
              </a:rPr>
              <a:t>Query × digest(coarse) → 상위 블록만 Query × K(fine)</a:t>
            </a:r>
          </a:p>
          <a:p>
            <a:pPr algn="l">
              <a:spcAft>
                <a:spcPts val="100"/>
              </a:spcAft>
            </a:pPr>
            <a:r>
              <a:rPr sz="800" b="1">
                <a:solidFill>
                  <a:srgbClr val="404040"/>
                </a:solidFill>
                <a:latin typeface="맑은 고딕"/>
                <a:ea typeface="맑은 고딕"/>
                <a:cs typeface="맑은 고딕"/>
              </a:rPr>
              <a:t>M2  레이어 파이프라인</a:t>
            </a:r>
          </a:p>
          <a:p>
            <a:pPr algn="l">
              <a:spcAft>
                <a:spcPts val="100"/>
              </a:spcAft>
            </a:pPr>
            <a:r>
              <a:rPr sz="800" b="0">
                <a:solidFill>
                  <a:srgbClr val="404040"/>
                </a:solidFill>
                <a:latin typeface="맑은 고딕"/>
                <a:ea typeface="맑은 고딕"/>
                <a:cs typeface="맑은 고딕"/>
              </a:rPr>
              <a:t>recompute(l)과 load/score(l+1) 중첩, r* = max{r | T_recomp(r) ≤ T_fetch}</a:t>
            </a:r>
          </a:p>
          <a:p>
            <a:pPr algn="l">
              <a:spcAft>
                <a:spcPts val="100"/>
              </a:spcAft>
            </a:pPr>
            <a:r>
              <a:rPr sz="800" b="1">
                <a:solidFill>
                  <a:srgbClr val="404040"/>
                </a:solidFill>
                <a:latin typeface="맑은 고딕"/>
                <a:ea typeface="맑은 고딕"/>
                <a:cs typeface="맑은 고딕"/>
              </a:rPr>
              <a:t>M3  Shared-KV 배치 스코어링</a:t>
            </a:r>
          </a:p>
          <a:p>
            <a:pPr algn="l">
              <a:spcAft>
                <a:spcPts val="100"/>
              </a:spcAft>
            </a:pPr>
            <a:r>
              <a:rPr sz="800" b="0">
                <a:solidFill>
                  <a:srgbClr val="404040"/>
                </a:solidFill>
                <a:latin typeface="맑은 고딕"/>
                <a:ea typeface="맑은 고딕"/>
                <a:cs typeface="맑은 고딕"/>
              </a:rPr>
              <a:t>같은 Context의 n개 Query가 KV를 1회 스캔</a:t>
            </a:r>
          </a:p>
          <a:p>
            <a:pPr algn="l">
              <a:spcAft>
                <a:spcPts val="100"/>
              </a:spcAft>
            </a:pPr>
            <a:r>
              <a:rPr sz="800" b="1">
                <a:solidFill>
                  <a:srgbClr val="404040"/>
                </a:solidFill>
                <a:latin typeface="맑은 고딕"/>
                <a:ea typeface="맑은 고딕"/>
                <a:cs typeface="맑은 고딕"/>
              </a:rPr>
              <a:t>M4  예산 선정 · 단계적 저하</a:t>
            </a:r>
          </a:p>
          <a:p>
            <a:pPr algn="l">
              <a:spcAft>
                <a:spcPts val="100"/>
              </a:spcAft>
            </a:pPr>
            <a:r>
              <a:rPr sz="800" b="0">
                <a:solidFill>
                  <a:srgbClr val="404040"/>
                </a:solidFill>
                <a:latin typeface="맑은 고딕"/>
                <a:ea typeface="맑은 고딕"/>
                <a:cs typeface="맑은 고딕"/>
              </a:rPr>
              <a:t>DP2 예산 B 내 top-k, L0→L3</a:t>
            </a:r>
          </a:p>
          <a:p>
            <a:pPr algn="l">
              <a:spcAft>
                <a:spcPts val="100"/>
              </a:spcAft>
            </a:pPr>
            <a:r>
              <a:rPr sz="800" b="1">
                <a:solidFill>
                  <a:srgbClr val="404040"/>
                </a:solidFill>
                <a:latin typeface="맑은 고딕"/>
                <a:ea typeface="맑은 고딕"/>
                <a:cs typeface="맑은 고딕"/>
              </a:rPr>
              <a:t>M5  Confidence Gate</a:t>
            </a:r>
          </a:p>
          <a:p>
            <a:pPr algn="l">
              <a:spcAft>
                <a:spcPts val="100"/>
              </a:spcAft>
            </a:pPr>
            <a:r>
              <a:rPr sz="800" b="0">
                <a:solidFill>
                  <a:srgbClr val="404040"/>
                </a:solidFill>
                <a:latin typeface="맑은 고딕"/>
                <a:ea typeface="맑은 고딕"/>
                <a:cs typeface="맑은 고딕"/>
              </a:rPr>
              <a:t>커버리지 미달 시 r↑ / Full Prefill</a:t>
            </a:r>
          </a:p>
        </p:txBody>
      </p:sp>
      <p:sp>
        <p:nvSpPr>
          <p:cNvPr id="22" name="Rectangle 21"/>
          <p:cNvSpPr/>
          <p:nvPr/>
        </p:nvSpPr>
        <p:spPr>
          <a:xfrm>
            <a:off x="3017520" y="1188720"/>
            <a:ext cx="4846320" cy="160020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017520" y="1188720"/>
            <a:ext cx="48463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«layer» LLM generation (기존)</a:t>
            </a:r>
          </a:p>
        </p:txBody>
      </p:sp>
      <p:sp>
        <p:nvSpPr>
          <p:cNvPr id="24" name="Rectangle 23"/>
          <p:cNvSpPr/>
          <p:nvPr/>
        </p:nvSpPr>
        <p:spPr>
          <a:xfrm>
            <a:off x="3200400" y="1536192"/>
            <a:ext cx="2148840" cy="1097280"/>
          </a:xfrm>
          <a:prstGeom prst="rect">
            <a:avLst/>
          </a:prstGeom>
          <a:solidFill>
            <a:srgbClr val="FFFFFF"/>
          </a:solidFill>
          <a:ln w="1524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Attention Manager</a:t>
            </a:r>
          </a:p>
          <a:p>
            <a:pPr algn="ctr">
              <a:spcAft>
                <a:spcPts val="200"/>
              </a:spcAft>
            </a:pPr>
            <a:r>
              <a:rPr sz="850" b="0">
                <a:solidFill>
                  <a:srgbClr val="000000"/>
                </a:solidFill>
                <a:latin typeface="맑은 고딕"/>
                <a:ea typeface="맑은 고딕"/>
                <a:cs typeface="맑은 고딕"/>
              </a:rPr>
              <a:t>Query × KV Attention</a:t>
            </a:r>
          </a:p>
          <a:p>
            <a:pPr algn="ctr">
              <a:spcAft>
                <a:spcPts val="200"/>
              </a:spcAft>
            </a:pPr>
            <a:r>
              <a:rPr sz="850" b="1">
                <a:solidFill>
                  <a:srgbClr val="FF0000"/>
                </a:solidFill>
                <a:latin typeface="맑은 고딕"/>
                <a:ea typeface="맑은 고딕"/>
                <a:cs typeface="맑은 고딕"/>
              </a:rPr>
              <a:t>① Query × Digest (coarse)</a:t>
            </a:r>
          </a:p>
          <a:p>
            <a:pPr algn="ctr">
              <a:spcAft>
                <a:spcPts val="200"/>
              </a:spcAft>
            </a:pPr>
            <a:r>
              <a:rPr sz="850" b="1">
                <a:solidFill>
                  <a:srgbClr val="FF0000"/>
                </a:solidFill>
                <a:latin typeface="맑은 고딕"/>
                <a:ea typeface="맑은 고딕"/>
                <a:cs typeface="맑은 고딕"/>
              </a:rPr>
              <a:t>② Query × K (fine, 상위 블록)</a:t>
            </a:r>
          </a:p>
        </p:txBody>
      </p:sp>
      <p:sp>
        <p:nvSpPr>
          <p:cNvPr id="25" name="Rectangle 24"/>
          <p:cNvSpPr/>
          <p:nvPr/>
        </p:nvSpPr>
        <p:spPr>
          <a:xfrm>
            <a:off x="5532120" y="1536192"/>
            <a:ext cx="2148840" cy="1097280"/>
          </a:xfrm>
          <a:prstGeom prst="rect">
            <a:avLst/>
          </a:prstGeom>
          <a:solidFill>
            <a:srgbClr val="FFFFFF"/>
          </a:solidFill>
          <a:ln w="1524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Selective Recompute</a:t>
            </a:r>
          </a:p>
          <a:p>
            <a:pPr algn="ctr">
              <a:spcAft>
                <a:spcPts val="200"/>
              </a:spcAft>
            </a:pPr>
            <a:r>
              <a:rPr sz="850" b="0">
                <a:solidFill>
                  <a:srgbClr val="000000"/>
                </a:solidFill>
                <a:latin typeface="맑은 고딕"/>
                <a:ea typeface="맑은 고딕"/>
                <a:cs typeface="맑은 고딕"/>
              </a:rPr>
              <a:t>선정 토큰만 재연산</a:t>
            </a:r>
          </a:p>
          <a:p>
            <a:pPr algn="ctr">
              <a:spcAft>
                <a:spcPts val="200"/>
              </a:spcAft>
            </a:pPr>
            <a:r>
              <a:rPr sz="850" b="1">
                <a:solidFill>
                  <a:srgbClr val="FF0000"/>
                </a:solidFill>
                <a:latin typeface="맑은 고딕"/>
                <a:ea typeface="맑은 고딕"/>
                <a:cs typeface="맑은 고딕"/>
              </a:rPr>
              <a:t>+ 레이어 파이프라인 (M2)</a:t>
            </a:r>
          </a:p>
          <a:p>
            <a:pPr algn="ctr">
              <a:spcAft>
                <a:spcPts val="200"/>
              </a:spcAft>
            </a:pPr>
            <a:r>
              <a:rPr sz="850" b="1">
                <a:solidFill>
                  <a:srgbClr val="FF0000"/>
                </a:solidFill>
                <a:latin typeface="맑은 고딕"/>
                <a:ea typeface="맑은 고딕"/>
                <a:cs typeface="맑은 고딕"/>
              </a:rPr>
              <a:t>+ 별도 stream / 자원 클래스</a:t>
            </a:r>
          </a:p>
        </p:txBody>
      </p:sp>
      <p:sp>
        <p:nvSpPr>
          <p:cNvPr id="26" name="Rectangle 25"/>
          <p:cNvSpPr/>
          <p:nvPr/>
        </p:nvSpPr>
        <p:spPr>
          <a:xfrm>
            <a:off x="3017520" y="3154680"/>
            <a:ext cx="4846320" cy="242316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3017520" y="3154680"/>
            <a:ext cx="4846320" cy="219456"/>
          </a:xfrm>
          <a:prstGeom prst="rect">
            <a:avLst/>
          </a:prstGeom>
          <a:solidFill>
            <a:srgbClr val="C55A11"/>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«layer» Blend (DP3)</a:t>
            </a:r>
          </a:p>
        </p:txBody>
      </p:sp>
      <p:sp>
        <p:nvSpPr>
          <p:cNvPr id="28" name="Rectangle 27"/>
          <p:cNvSpPr/>
          <p:nvPr/>
        </p:nvSpPr>
        <p:spPr>
          <a:xfrm>
            <a:off x="3154680" y="3520440"/>
            <a:ext cx="1280160" cy="868680"/>
          </a:xfrm>
          <a:prstGeom prst="rect">
            <a:avLst/>
          </a:prstGeom>
          <a:solidFill>
            <a:srgbClr val="FFFFFF"/>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KV Sampler</a:t>
            </a:r>
          </a:p>
          <a:p>
            <a:pPr algn="ctr">
              <a:spcAft>
                <a:spcPts val="200"/>
              </a:spcAft>
            </a:pPr>
            <a:r>
              <a:rPr sz="850" b="0">
                <a:solidFill>
                  <a:srgbClr val="000000"/>
                </a:solidFill>
                <a:latin typeface="맑은 고딕"/>
                <a:ea typeface="맑은 고딕"/>
                <a:cs typeface="맑은 고딕"/>
              </a:rPr>
              <a:t>점수로 토큰 선정</a:t>
            </a:r>
          </a:p>
        </p:txBody>
      </p:sp>
      <p:sp>
        <p:nvSpPr>
          <p:cNvPr id="29" name="Rectangle 28"/>
          <p:cNvSpPr/>
          <p:nvPr/>
        </p:nvSpPr>
        <p:spPr>
          <a:xfrm>
            <a:off x="4617720" y="3520440"/>
            <a:ext cx="1600200" cy="868680"/>
          </a:xfrm>
          <a:prstGeom prst="rect">
            <a:avLst/>
          </a:prstGeom>
          <a:solidFill>
            <a:srgbClr val="FFF2CC"/>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Recompute Token Selector</a:t>
            </a:r>
          </a:p>
          <a:p>
            <a:pPr algn="ctr">
              <a:spcAft>
                <a:spcPts val="200"/>
              </a:spcAft>
            </a:pPr>
            <a:r>
              <a:rPr sz="850" b="1">
                <a:solidFill>
                  <a:srgbClr val="FF0000"/>
                </a:solidFill>
                <a:latin typeface="맑은 고딕"/>
                <a:ea typeface="맑은 고딕"/>
                <a:cs typeface="맑은 고딕"/>
              </a:rPr>
              <a:t>예산 B 내 top-k (M4)</a:t>
            </a:r>
          </a:p>
        </p:txBody>
      </p:sp>
      <p:sp>
        <p:nvSpPr>
          <p:cNvPr id="30" name="Rectangle 29"/>
          <p:cNvSpPr/>
          <p:nvPr/>
        </p:nvSpPr>
        <p:spPr>
          <a:xfrm>
            <a:off x="6400800" y="3520440"/>
            <a:ext cx="1325880" cy="868680"/>
          </a:xfrm>
          <a:prstGeom prst="rect">
            <a:avLst/>
          </a:prstGeom>
          <a:solidFill>
            <a:srgbClr val="FFF2CC"/>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Confidence Gate</a:t>
            </a:r>
          </a:p>
          <a:p>
            <a:pPr algn="ctr">
              <a:spcAft>
                <a:spcPts val="200"/>
              </a:spcAft>
            </a:pPr>
            <a:r>
              <a:rPr sz="850" b="1">
                <a:solidFill>
                  <a:srgbClr val="FF0000"/>
                </a:solidFill>
                <a:latin typeface="맑은 고딕"/>
                <a:ea typeface="맑은 고딕"/>
                <a:cs typeface="맑은 고딕"/>
              </a:rPr>
              <a:t>신규 (M5)</a:t>
            </a:r>
          </a:p>
        </p:txBody>
      </p:sp>
      <p:sp>
        <p:nvSpPr>
          <p:cNvPr id="31" name="TextBox 30"/>
          <p:cNvSpPr txBox="1"/>
          <p:nvPr/>
        </p:nvSpPr>
        <p:spPr>
          <a:xfrm>
            <a:off x="6126480" y="4407408"/>
            <a:ext cx="1737360" cy="457200"/>
          </a:xfrm>
          <a:prstGeom prst="rect">
            <a:avLst/>
          </a:prstGeom>
          <a:noFill/>
        </p:spPr>
        <p:txBody>
          <a:bodyPr wrap="square" lIns="45720" tIns="27432" rIns="45720" bIns="27432" anchor="t">
            <a:spAutoFit/>
          </a:bodyPr>
          <a:lstStyle/>
          <a:p>
            <a:pPr algn="ctr">
              <a:spcAft>
                <a:spcPts val="200"/>
              </a:spcAft>
            </a:pPr>
            <a:r>
              <a:rPr sz="800" b="1">
                <a:solidFill>
                  <a:srgbClr val="FF0000"/>
                </a:solidFill>
                <a:latin typeface="맑은 고딕"/>
                <a:ea typeface="맑은 고딕"/>
                <a:cs typeface="맑은 고딕"/>
              </a:rPr>
              <a:t>미달 → r↑ 또는 Full Prefill (L3)</a:t>
            </a:r>
          </a:p>
        </p:txBody>
      </p:sp>
      <p:sp>
        <p:nvSpPr>
          <p:cNvPr id="32" name="Rectangle 31"/>
          <p:cNvSpPr/>
          <p:nvPr/>
        </p:nvSpPr>
        <p:spPr>
          <a:xfrm>
            <a:off x="3154680" y="4937760"/>
            <a:ext cx="4572000" cy="502920"/>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a:solidFill>
                  <a:srgbClr val="000000"/>
                </a:solidFill>
                <a:latin typeface="맑은 고딕"/>
                <a:ea typeface="맑은 고딕"/>
                <a:cs typeface="맑은 고딕"/>
              </a:rPr>
              <a:t>DP2 → 예산 B · 자원 클래스(Stage 1 / 재계산 격리) · 우선순위</a:t>
            </a:r>
          </a:p>
        </p:txBody>
      </p:sp>
      <p:sp>
        <p:nvSpPr>
          <p:cNvPr id="33" name="Rectangle 32"/>
          <p:cNvSpPr/>
          <p:nvPr/>
        </p:nvSpPr>
        <p:spPr>
          <a:xfrm>
            <a:off x="8503920" y="1188720"/>
            <a:ext cx="3291840" cy="2834640"/>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8503920" y="1188720"/>
            <a:ext cx="329184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«store» KV Store (DP1)</a:t>
            </a:r>
          </a:p>
        </p:txBody>
      </p:sp>
      <p:sp>
        <p:nvSpPr>
          <p:cNvPr id="35" name="TextBox 34"/>
          <p:cNvSpPr txBox="1"/>
          <p:nvPr/>
        </p:nvSpPr>
        <p:spPr>
          <a:xfrm>
            <a:off x="8549640" y="1444752"/>
            <a:ext cx="3200400" cy="201168"/>
          </a:xfrm>
          <a:prstGeom prst="rect">
            <a:avLst/>
          </a:prstGeom>
          <a:noFill/>
        </p:spPr>
        <p:txBody>
          <a:bodyPr wrap="square" lIns="45720" tIns="27432" rIns="45720" bIns="27432" anchor="t">
            <a:spAutoFit/>
          </a:bodyPr>
          <a:lstStyle/>
          <a:p>
            <a:pPr algn="ctr">
              <a:spcAft>
                <a:spcPts val="200"/>
              </a:spcAft>
            </a:pPr>
            <a:r>
              <a:rPr sz="800" b="0">
                <a:solidFill>
                  <a:srgbClr val="7F7F7F"/>
                </a:solidFill>
                <a:latin typeface="맑은 고딕"/>
                <a:ea typeface="맑은 고딕"/>
                <a:cs typeface="맑은 고딕"/>
              </a:rPr>
              <a:t>HBM · DRAM · CXL · SSD</a:t>
            </a:r>
          </a:p>
        </p:txBody>
      </p:sp>
      <p:sp>
        <p:nvSpPr>
          <p:cNvPr id="36" name="Rectangle 35"/>
          <p:cNvSpPr/>
          <p:nvPr/>
        </p:nvSpPr>
        <p:spPr>
          <a:xfrm>
            <a:off x="8686800" y="1691640"/>
            <a:ext cx="2926080" cy="384048"/>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0">
                <a:solidFill>
                  <a:srgbClr val="000000"/>
                </a:solidFill>
                <a:latin typeface="맑은 고딕"/>
                <a:ea typeface="맑은 고딕"/>
                <a:cs typeface="맑은 고딕"/>
              </a:rPr>
              <a:t>Context KV 1</a:t>
            </a:r>
          </a:p>
        </p:txBody>
      </p:sp>
      <p:sp>
        <p:nvSpPr>
          <p:cNvPr id="37" name="Rectangle 36"/>
          <p:cNvSpPr/>
          <p:nvPr/>
        </p:nvSpPr>
        <p:spPr>
          <a:xfrm>
            <a:off x="8686800" y="2148840"/>
            <a:ext cx="2926080" cy="384048"/>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0">
                <a:solidFill>
                  <a:srgbClr val="000000"/>
                </a:solidFill>
                <a:latin typeface="맑은 고딕"/>
                <a:ea typeface="맑은 고딕"/>
                <a:cs typeface="맑은 고딕"/>
              </a:rPr>
              <a:t>Context KV 2</a:t>
            </a:r>
          </a:p>
        </p:txBody>
      </p:sp>
      <p:sp>
        <p:nvSpPr>
          <p:cNvPr id="38" name="Rectangle 37"/>
          <p:cNvSpPr/>
          <p:nvPr/>
        </p:nvSpPr>
        <p:spPr>
          <a:xfrm>
            <a:off x="8686800" y="2697480"/>
            <a:ext cx="2926080" cy="749808"/>
          </a:xfrm>
          <a:prstGeom prst="rect">
            <a:avLst/>
          </a:prstGeom>
          <a:solidFill>
            <a:srgbClr val="FFF2CC"/>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Block Digest (신규, M1)</a:t>
            </a:r>
          </a:p>
          <a:p>
            <a:pPr algn="ctr">
              <a:spcAft>
                <a:spcPts val="200"/>
              </a:spcAft>
            </a:pPr>
            <a:r>
              <a:rPr sz="850" b="0">
                <a:solidFill>
                  <a:srgbClr val="000000"/>
                </a:solidFill>
                <a:latin typeface="맑은 고딕"/>
                <a:ea typeface="맑은 고딕"/>
                <a:cs typeface="맑은 고딕"/>
              </a:rPr>
              <a:t>블록당 K 요약, 크기 ≈ KV의 1/B [추정]</a:t>
            </a:r>
          </a:p>
          <a:p>
            <a:pPr algn="ctr">
              <a:spcAft>
                <a:spcPts val="200"/>
              </a:spcAft>
            </a:pPr>
            <a:r>
              <a:rPr sz="850" b="0">
                <a:solidFill>
                  <a:srgbClr val="000000"/>
                </a:solidFill>
                <a:latin typeface="맑은 고딕"/>
                <a:ea typeface="맑은 고딕"/>
                <a:cs typeface="맑은 고딕"/>
              </a:rPr>
              <a:t>Context KV와 같거나 상위 tier에 co-pin</a:t>
            </a:r>
          </a:p>
        </p:txBody>
      </p:sp>
      <p:sp>
        <p:nvSpPr>
          <p:cNvPr id="39" name="TextBox 38"/>
          <p:cNvSpPr txBox="1"/>
          <p:nvPr/>
        </p:nvSpPr>
        <p:spPr>
          <a:xfrm>
            <a:off x="8595360" y="3493008"/>
            <a:ext cx="3108960" cy="457200"/>
          </a:xfrm>
          <a:prstGeom prst="rect">
            <a:avLst/>
          </a:prstGeom>
          <a:noFill/>
        </p:spPr>
        <p:txBody>
          <a:bodyPr wrap="square" lIns="45720" tIns="27432" rIns="45720" bIns="27432" anchor="t">
            <a:spAutoFit/>
          </a:bodyPr>
          <a:lstStyle/>
          <a:p>
            <a:pPr algn="ctr">
              <a:spcAft>
                <a:spcPts val="200"/>
              </a:spcAft>
            </a:pPr>
            <a:r>
              <a:rPr sz="800" b="0">
                <a:solidFill>
                  <a:srgbClr val="595959"/>
                </a:solidFill>
                <a:latin typeface="맑은 고딕"/>
                <a:ea typeface="맑은 고딕"/>
                <a:cs typeface="맑은 고딕"/>
              </a:rPr>
              <a:t>Context KV는 원본 1부만 보관, 요청 단위 산출물은 선정 토큰 목록뿐</a:t>
            </a:r>
          </a:p>
        </p:txBody>
      </p:sp>
      <p:sp>
        <p:nvSpPr>
          <p:cNvPr id="40" name="Rectangle 39"/>
          <p:cNvSpPr/>
          <p:nvPr/>
        </p:nvSpPr>
        <p:spPr>
          <a:xfrm>
            <a:off x="8503920" y="4251960"/>
            <a:ext cx="3291840" cy="1325880"/>
          </a:xfrm>
          <a:prstGeom prst="rect">
            <a:avLst/>
          </a:prstGeom>
          <a:solidFill>
            <a:srgbClr val="F0F1F3"/>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DP1 → DP3 계약</a:t>
            </a:r>
          </a:p>
          <a:p>
            <a:pPr algn="ctr">
              <a:spcAft>
                <a:spcPts val="200"/>
              </a:spcAft>
            </a:pPr>
            <a:r>
              <a:rPr sz="900" b="0">
                <a:solidFill>
                  <a:srgbClr val="000000"/>
                </a:solidFill>
                <a:latin typeface="맑은 고딕"/>
                <a:ea typeface="맑은 고딕"/>
                <a:cs typeface="맑은 고딕"/>
              </a:rPr>
              <a:t>tier별 load 지연 (M2의 r* 입력)</a:t>
            </a:r>
          </a:p>
          <a:p>
            <a:pPr algn="ctr">
              <a:spcAft>
                <a:spcPts val="200"/>
              </a:spcAft>
            </a:pPr>
            <a:r>
              <a:rPr sz="1000" b="1">
                <a:solidFill>
                  <a:srgbClr val="000000"/>
                </a:solidFill>
                <a:latin typeface="맑은 고딕"/>
                <a:ea typeface="맑은 고딕"/>
                <a:cs typeface="맑은 고딕"/>
              </a:rPr>
              <a:t>DP3 → DP1 계약</a:t>
            </a:r>
          </a:p>
          <a:p>
            <a:pPr algn="ctr">
              <a:spcAft>
                <a:spcPts val="200"/>
              </a:spcAft>
            </a:pPr>
            <a:r>
              <a:rPr sz="900" b="0">
                <a:solidFill>
                  <a:srgbClr val="000000"/>
                </a:solidFill>
                <a:latin typeface="맑은 고딕"/>
                <a:ea typeface="맑은 고딕"/>
                <a:cs typeface="맑은 고딕"/>
              </a:rPr>
              <a:t>digest co-pin 요청, Chunk 키·digest 버전</a:t>
            </a:r>
          </a:p>
        </p:txBody>
      </p:sp>
      <p:cxnSp>
        <p:nvCxnSpPr>
          <p:cNvPr id="41" name="Connector 40"/>
          <p:cNvCxnSpPr/>
          <p:nvPr/>
        </p:nvCxnSpPr>
        <p:spPr>
          <a:xfrm>
            <a:off x="2560320" y="1627632"/>
            <a:ext cx="640080" cy="384048"/>
          </a:xfrm>
          <a:prstGeom prst="line">
            <a:avLst/>
          </a:prstGeom>
          <a:ln w="1651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7863840" y="1783080"/>
            <a:ext cx="640080" cy="0"/>
          </a:xfrm>
          <a:prstGeom prst="line">
            <a:avLst/>
          </a:prstGeom>
          <a:ln w="1651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7863840" y="2377440"/>
            <a:ext cx="640080" cy="0"/>
          </a:xfrm>
          <a:prstGeom prst="line">
            <a:avLst/>
          </a:prstGeom>
          <a:ln w="1651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882127" y="1417320"/>
            <a:ext cx="640080" cy="320040"/>
          </a:xfrm>
          <a:prstGeom prst="rect">
            <a:avLst/>
          </a:prstGeom>
          <a:noFill/>
        </p:spPr>
        <p:txBody>
          <a:bodyPr wrap="square" lIns="45720" tIns="27432" rIns="45720" bIns="27432" anchor="t">
            <a:spAutoFit/>
          </a:bodyPr>
          <a:lstStyle/>
          <a:p>
            <a:pPr algn="ctr">
              <a:spcAft>
                <a:spcPts val="200"/>
              </a:spcAft>
            </a:pPr>
            <a:r>
              <a:rPr sz="750" b="1">
                <a:solidFill>
                  <a:srgbClr val="FF0000"/>
                </a:solidFill>
                <a:latin typeface="맑은 고딕"/>
                <a:ea typeface="맑은 고딕"/>
                <a:cs typeface="맑은 고딕"/>
              </a:rPr>
              <a:t>② digest</a:t>
            </a:r>
          </a:p>
        </p:txBody>
      </p:sp>
      <p:sp>
        <p:nvSpPr>
          <p:cNvPr id="45" name="TextBox 44"/>
          <p:cNvSpPr txBox="1"/>
          <p:nvPr/>
        </p:nvSpPr>
        <p:spPr>
          <a:xfrm>
            <a:off x="7882127" y="2395728"/>
            <a:ext cx="640080" cy="320040"/>
          </a:xfrm>
          <a:prstGeom prst="rect">
            <a:avLst/>
          </a:prstGeom>
          <a:noFill/>
        </p:spPr>
        <p:txBody>
          <a:bodyPr wrap="square" lIns="45720" tIns="27432" rIns="45720" bIns="27432" anchor="t">
            <a:spAutoFit/>
          </a:bodyPr>
          <a:lstStyle/>
          <a:p>
            <a:pPr algn="ctr">
              <a:spcAft>
                <a:spcPts val="200"/>
              </a:spcAft>
            </a:pPr>
            <a:r>
              <a:rPr sz="750" b="1">
                <a:solidFill>
                  <a:srgbClr val="FF0000"/>
                </a:solidFill>
                <a:latin typeface="맑은 고딕"/>
                <a:ea typeface="맑은 고딕"/>
                <a:cs typeface="맑은 고딕"/>
              </a:rPr>
              <a:t>②′ KV</a:t>
            </a:r>
          </a:p>
        </p:txBody>
      </p:sp>
      <p:cxnSp>
        <p:nvCxnSpPr>
          <p:cNvPr id="46" name="Connector 45"/>
          <p:cNvCxnSpPr/>
          <p:nvPr/>
        </p:nvCxnSpPr>
        <p:spPr>
          <a:xfrm flipH="1">
            <a:off x="3794760" y="2633472"/>
            <a:ext cx="320040" cy="886968"/>
          </a:xfrm>
          <a:prstGeom prst="line">
            <a:avLst/>
          </a:prstGeom>
          <a:ln w="1651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434840" y="3950208"/>
            <a:ext cx="182880" cy="0"/>
          </a:xfrm>
          <a:prstGeom prst="line">
            <a:avLst/>
          </a:prstGeom>
          <a:ln w="1651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217920" y="3950208"/>
            <a:ext cx="182880" cy="0"/>
          </a:xfrm>
          <a:prstGeom prst="line">
            <a:avLst/>
          </a:prstGeom>
          <a:ln w="1651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6675120" y="2633472"/>
            <a:ext cx="365760" cy="886968"/>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5394960" y="4389120"/>
            <a:ext cx="91440" cy="54864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2743200" y="1417320"/>
            <a:ext cx="219456" cy="219456"/>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1</a:t>
            </a:r>
          </a:p>
        </p:txBody>
      </p:sp>
      <p:sp>
        <p:nvSpPr>
          <p:cNvPr id="52" name="Oval 51"/>
          <p:cNvSpPr/>
          <p:nvPr/>
        </p:nvSpPr>
        <p:spPr>
          <a:xfrm>
            <a:off x="3749039" y="2926080"/>
            <a:ext cx="219456" cy="219456"/>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3</a:t>
            </a:r>
          </a:p>
        </p:txBody>
      </p:sp>
      <p:sp>
        <p:nvSpPr>
          <p:cNvPr id="53" name="Oval 52"/>
          <p:cNvSpPr/>
          <p:nvPr/>
        </p:nvSpPr>
        <p:spPr>
          <a:xfrm>
            <a:off x="6291072" y="3657600"/>
            <a:ext cx="219456" cy="219456"/>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4</a:t>
            </a:r>
          </a:p>
        </p:txBody>
      </p:sp>
      <p:sp>
        <p:nvSpPr>
          <p:cNvPr id="54" name="Oval 53"/>
          <p:cNvSpPr/>
          <p:nvPr/>
        </p:nvSpPr>
        <p:spPr>
          <a:xfrm>
            <a:off x="6949440" y="2926080"/>
            <a:ext cx="219456" cy="219456"/>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5</a:t>
            </a:r>
          </a:p>
        </p:txBody>
      </p:sp>
      <p:sp>
        <p:nvSpPr>
          <p:cNvPr id="55" name="TextBox 54"/>
          <p:cNvSpPr txBox="1"/>
          <p:nvPr/>
        </p:nvSpPr>
        <p:spPr>
          <a:xfrm>
            <a:off x="8503920" y="5669280"/>
            <a:ext cx="3291840" cy="274320"/>
          </a:xfrm>
          <a:prstGeom prst="rect">
            <a:avLst/>
          </a:prstGeom>
          <a:noFill/>
        </p:spPr>
        <p:txBody>
          <a:bodyPr wrap="square" lIns="45720" tIns="27432" rIns="45720" bIns="27432" anchor="t">
            <a:spAutoFit/>
          </a:bodyPr>
          <a:lstStyle/>
          <a:p>
            <a:pPr algn="l">
              <a:spcAft>
                <a:spcPts val="200"/>
              </a:spcAft>
            </a:pPr>
            <a:r>
              <a:rPr sz="800" b="0">
                <a:solidFill>
                  <a:srgbClr val="7F7F7F"/>
                </a:solidFill>
                <a:latin typeface="맑은 고딕"/>
                <a:ea typeface="맑은 고딕"/>
                <a:cs typeface="맑은 고딕"/>
              </a:rPr>
              <a:t>실선 = 서빙 경로 · 점선 = DP1/DP2 제어·계약</a:t>
            </a:r>
          </a:p>
        </p:txBody>
      </p:sp>
      <p:sp>
        <p:nvSpPr>
          <p:cNvPr id="56" name="Rectangle 55"/>
          <p:cNvSpPr/>
          <p:nvPr/>
        </p:nvSpPr>
        <p:spPr>
          <a:xfrm>
            <a:off x="365760" y="5806440"/>
            <a:ext cx="27432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endParaRPr/>
          </a:p>
        </p:txBody>
      </p:sp>
      <p:sp>
        <p:nvSpPr>
          <p:cNvPr id="57" name="TextBox 56"/>
          <p:cNvSpPr txBox="1"/>
          <p:nvPr/>
        </p:nvSpPr>
        <p:spPr>
          <a:xfrm>
            <a:off x="685800" y="5742432"/>
            <a:ext cx="4572000" cy="274320"/>
          </a:xfrm>
          <a:prstGeom prst="rect">
            <a:avLst/>
          </a:prstGeom>
          <a:noFill/>
        </p:spPr>
        <p:txBody>
          <a:bodyPr wrap="square" lIns="45720" tIns="27432" rIns="45720" bIns="27432" anchor="t">
            <a:spAutoFit/>
          </a:bodyPr>
          <a:lstStyle/>
          <a:p>
            <a:pPr algn="l">
              <a:spcAft>
                <a:spcPts val="200"/>
              </a:spcAft>
            </a:pPr>
            <a:r>
              <a:rPr sz="850" b="0">
                <a:solidFill>
                  <a:srgbClr val="404040"/>
                </a:solidFill>
                <a:latin typeface="맑은 고딕"/>
                <a:ea typeface="맑은 고딕"/>
                <a:cs typeface="맑은 고딕"/>
              </a:rPr>
              <a:t>노랑 = 보완으로 추가·확장되는 부분, 파랑 = 기존 모듈 (구조 변경 없음)</a:t>
            </a:r>
          </a:p>
        </p:txBody>
      </p:sp>
      <p:sp>
        <p:nvSpPr>
          <p:cNvPr id="58" name="Right Arrow 57"/>
          <p:cNvSpPr/>
          <p:nvPr/>
        </p:nvSpPr>
        <p:spPr>
          <a:xfrm>
            <a:off x="283464" y="5989320"/>
            <a:ext cx="411480" cy="27432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31520" y="5971032"/>
            <a:ext cx="11155680" cy="310896"/>
          </a:xfrm>
          <a:prstGeom prst="rect">
            <a:avLst/>
          </a:prstGeom>
          <a:noFill/>
        </p:spPr>
        <p:txBody>
          <a:bodyPr wrap="square" lIns="45720" tIns="27432" rIns="45720" bIns="27432" anchor="ctr">
            <a:spAutoFit/>
          </a:bodyPr>
          <a:lstStyle/>
          <a:p>
            <a:pPr algn="l">
              <a:spcAft>
                <a:spcPts val="200"/>
              </a:spcAft>
            </a:pPr>
            <a:r>
              <a:rPr sz="1200" b="1">
                <a:solidFill>
                  <a:srgbClr val="0066FF"/>
                </a:solidFill>
                <a:latin typeface="맑은 고딕"/>
                <a:ea typeface="맑은 고딕"/>
                <a:cs typeface="맑은 고딕"/>
              </a:rPr>
              <a:t>기존 모듈 이름과 역할은 유지하고, Digest(저장소) · Gate(Blend) · 예산/배치(입출력) 세 곳만 확장</a:t>
            </a:r>
          </a:p>
        </p:txBody>
      </p:sp>
      <p:sp>
        <p:nvSpPr>
          <p:cNvPr id="60" name="TextBox 59"/>
          <p:cNvSpPr txBox="1"/>
          <p:nvPr/>
        </p:nvSpPr>
        <p:spPr>
          <a:xfrm>
            <a:off x="384048" y="6300216"/>
            <a:ext cx="11430000" cy="548640"/>
          </a:xfrm>
          <a:prstGeom prst="rect">
            <a:avLst/>
          </a:prstGeom>
          <a:noFill/>
        </p:spPr>
        <p:txBody>
          <a:bodyPr wrap="square" lIns="45720" tIns="27432" rIns="45720" bIns="27432" anchor="t">
            <a:spAutoFit/>
          </a:bodyPr>
          <a:lstStyle/>
          <a:p>
            <a:pPr algn="l">
              <a:spcAft>
                <a:spcPts val="100"/>
              </a:spcAft>
            </a:pPr>
            <a:r>
              <a:rPr sz="1100" b="1">
                <a:solidFill>
                  <a:srgbClr val="000000"/>
                </a:solidFill>
                <a:latin typeface="맑은 고딕"/>
                <a:ea typeface="맑은 고딕"/>
                <a:cs typeface="맑은 고딕"/>
              </a:rPr>
              <a:t>Module / C&amp;C View: 서빙 시(요청 경로) 흐름만 표시, 번호는 호출 순서 (②′는 레이어 파이프라인으로 중첩)</a:t>
            </a:r>
          </a:p>
        </p:txBody>
      </p:sp>
      <p:sp>
        <p:nvSpPr>
          <p:cNvPr id="61" name="TextBox 60"/>
          <p:cNvSpPr txBox="1"/>
          <p:nvPr/>
        </p:nvSpPr>
        <p:spPr>
          <a:xfrm>
            <a:off x="274320" y="6601968"/>
            <a:ext cx="4983480" cy="228600"/>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출처: doc-mk/DP3/dp3-kv-compression-reuse-structure-draft.md. 효과는 모두 [가설], 문헌 [B]</a:t>
            </a:r>
          </a:p>
        </p:txBody>
      </p:sp>
      <p:sp>
        <p:nvSpPr>
          <p:cNvPr id="62" name="TextBox 61"/>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2</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DP3. Long Context를 위한 KV 캐시 재사용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보완 기법 상세: 지연은 숨기고(M1·M2), 확장성은 나눠 쓴다(M3·M4)</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C1</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Q5</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F3</a:t>
            </a:r>
          </a:p>
        </p:txBody>
      </p:sp>
      <p:sp>
        <p:nvSpPr>
          <p:cNvPr id="18" name="Rectangle 17"/>
          <p:cNvSpPr/>
          <p:nvPr/>
        </p:nvSpPr>
        <p:spPr>
          <a:xfrm>
            <a:off x="347472" y="1371600"/>
            <a:ext cx="5760720" cy="457200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124712" y="1216152"/>
            <a:ext cx="42062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지연: T_score · T_fetch를 재계산 뒤로 숨김</a:t>
            </a:r>
          </a:p>
        </p:txBody>
      </p:sp>
      <p:sp>
        <p:nvSpPr>
          <p:cNvPr id="20" name="TextBox 19"/>
          <p:cNvSpPr txBox="1"/>
          <p:nvPr/>
        </p:nvSpPr>
        <p:spPr>
          <a:xfrm>
            <a:off x="457200" y="1645920"/>
            <a:ext cx="5577840" cy="228600"/>
          </a:xfrm>
          <a:prstGeom prst="rect">
            <a:avLst/>
          </a:prstGeom>
          <a:noFill/>
        </p:spPr>
        <p:txBody>
          <a:bodyPr wrap="square" lIns="45720" tIns="27432" rIns="45720" bIns="27432" anchor="t">
            <a:spAutoFit/>
          </a:bodyPr>
          <a:lstStyle/>
          <a:p>
            <a:pPr algn="l">
              <a:spcAft>
                <a:spcPts val="200"/>
              </a:spcAft>
            </a:pPr>
            <a:r>
              <a:rPr sz="800" b="0">
                <a:solidFill>
                  <a:srgbClr val="7F7F7F"/>
                </a:solidFill>
                <a:latin typeface="맑은 고딕"/>
                <a:ea typeface="맑은 고딕"/>
                <a:cs typeface="맑은 고딕"/>
              </a:rPr>
              <a:t>[개념도, 축척 아님] 가로축 = 시간</a:t>
            </a:r>
          </a:p>
        </p:txBody>
      </p:sp>
      <p:sp>
        <p:nvSpPr>
          <p:cNvPr id="21" name="TextBox 20"/>
          <p:cNvSpPr txBox="1"/>
          <p:nvPr/>
        </p:nvSpPr>
        <p:spPr>
          <a:xfrm>
            <a:off x="457200" y="1920240"/>
            <a:ext cx="914400" cy="274320"/>
          </a:xfrm>
          <a:prstGeom prst="rect">
            <a:avLst/>
          </a:prstGeom>
          <a:noFill/>
        </p:spPr>
        <p:txBody>
          <a:bodyPr wrap="square" lIns="45720" tIns="27432" rIns="45720" bIns="27432" anchor="t">
            <a:spAutoFit/>
          </a:bodyPr>
          <a:lstStyle/>
          <a:p>
            <a:pPr algn="l">
              <a:spcAft>
                <a:spcPts val="200"/>
              </a:spcAft>
            </a:pPr>
            <a:r>
              <a:rPr sz="900" b="1">
                <a:solidFill>
                  <a:srgbClr val="000000"/>
                </a:solidFill>
                <a:latin typeface="맑은 고딕"/>
                <a:ea typeface="맑은 고딕"/>
                <a:cs typeface="맑은 고딕"/>
              </a:rPr>
              <a:t>2안 (직렬)</a:t>
            </a:r>
          </a:p>
        </p:txBody>
      </p:sp>
      <p:sp>
        <p:nvSpPr>
          <p:cNvPr id="22" name="Rectangle 21"/>
          <p:cNvSpPr/>
          <p:nvPr/>
        </p:nvSpPr>
        <p:spPr>
          <a:xfrm>
            <a:off x="1417320" y="1920240"/>
            <a:ext cx="1005840" cy="292608"/>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50" b="0">
                <a:solidFill>
                  <a:srgbClr val="000000"/>
                </a:solidFill>
                <a:latin typeface="맑은 고딕"/>
                <a:ea typeface="맑은 고딕"/>
                <a:cs typeface="맑은 고딕"/>
              </a:rPr>
              <a:t>fetch</a:t>
            </a:r>
          </a:p>
        </p:txBody>
      </p:sp>
      <p:sp>
        <p:nvSpPr>
          <p:cNvPr id="23" name="Rectangle 22"/>
          <p:cNvSpPr/>
          <p:nvPr/>
        </p:nvSpPr>
        <p:spPr>
          <a:xfrm>
            <a:off x="2423160" y="1920240"/>
            <a:ext cx="914400" cy="292608"/>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50" b="0">
                <a:solidFill>
                  <a:srgbClr val="000000"/>
                </a:solidFill>
                <a:latin typeface="맑은 고딕"/>
                <a:ea typeface="맑은 고딕"/>
                <a:cs typeface="맑은 고딕"/>
              </a:rPr>
              <a:t>score</a:t>
            </a:r>
          </a:p>
        </p:txBody>
      </p:sp>
      <p:sp>
        <p:nvSpPr>
          <p:cNvPr id="24" name="Rectangle 23"/>
          <p:cNvSpPr/>
          <p:nvPr/>
        </p:nvSpPr>
        <p:spPr>
          <a:xfrm>
            <a:off x="3337560" y="1920240"/>
            <a:ext cx="1188720" cy="292608"/>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50" b="0">
                <a:solidFill>
                  <a:srgbClr val="000000"/>
                </a:solidFill>
                <a:latin typeface="맑은 고딕"/>
                <a:ea typeface="맑은 고딕"/>
                <a:cs typeface="맑은 고딕"/>
              </a:rPr>
              <a:t>recompute</a:t>
            </a:r>
          </a:p>
        </p:txBody>
      </p:sp>
      <p:sp>
        <p:nvSpPr>
          <p:cNvPr id="25" name="Rectangle 24"/>
          <p:cNvSpPr/>
          <p:nvPr/>
        </p:nvSpPr>
        <p:spPr>
          <a:xfrm>
            <a:off x="4526280" y="1920240"/>
            <a:ext cx="731520" cy="292608"/>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50" b="0">
                <a:solidFill>
                  <a:srgbClr val="000000"/>
                </a:solidFill>
                <a:latin typeface="맑은 고딕"/>
                <a:ea typeface="맑은 고딕"/>
                <a:cs typeface="맑은 고딕"/>
              </a:rPr>
              <a:t>rest</a:t>
            </a:r>
          </a:p>
        </p:txBody>
      </p:sp>
      <p:sp>
        <p:nvSpPr>
          <p:cNvPr id="26" name="TextBox 25"/>
          <p:cNvSpPr txBox="1"/>
          <p:nvPr/>
        </p:nvSpPr>
        <p:spPr>
          <a:xfrm>
            <a:off x="457200" y="2395728"/>
            <a:ext cx="914400" cy="274320"/>
          </a:xfrm>
          <a:prstGeom prst="rect">
            <a:avLst/>
          </a:prstGeom>
          <a:noFill/>
        </p:spPr>
        <p:txBody>
          <a:bodyPr wrap="square" lIns="45720" tIns="27432" rIns="45720" bIns="27432" anchor="t">
            <a:spAutoFit/>
          </a:bodyPr>
          <a:lstStyle/>
          <a:p>
            <a:pPr algn="l">
              <a:spcAft>
                <a:spcPts val="200"/>
              </a:spcAft>
            </a:pPr>
            <a:r>
              <a:rPr sz="900" b="1">
                <a:solidFill>
                  <a:srgbClr val="000000"/>
                </a:solidFill>
                <a:latin typeface="맑은 고딕"/>
                <a:ea typeface="맑은 고딕"/>
                <a:cs typeface="맑은 고딕"/>
              </a:rPr>
              <a:t>보완 후</a:t>
            </a:r>
          </a:p>
        </p:txBody>
      </p:sp>
      <p:sp>
        <p:nvSpPr>
          <p:cNvPr id="27" name="TextBox 26"/>
          <p:cNvSpPr txBox="1"/>
          <p:nvPr/>
        </p:nvSpPr>
        <p:spPr>
          <a:xfrm>
            <a:off x="457200" y="2697480"/>
            <a:ext cx="914400" cy="228600"/>
          </a:xfrm>
          <a:prstGeom prst="rect">
            <a:avLst/>
          </a:prstGeom>
          <a:noFill/>
        </p:spPr>
        <p:txBody>
          <a:bodyPr wrap="square" lIns="45720" tIns="27432" rIns="45720" bIns="27432" anchor="t">
            <a:spAutoFit/>
          </a:bodyPr>
          <a:lstStyle/>
          <a:p>
            <a:pPr algn="l">
              <a:spcAft>
                <a:spcPts val="200"/>
              </a:spcAft>
            </a:pPr>
            <a:r>
              <a:rPr sz="800" b="0">
                <a:solidFill>
                  <a:srgbClr val="595959"/>
                </a:solidFill>
                <a:latin typeface="맑은 고딕"/>
                <a:ea typeface="맑은 고딕"/>
                <a:cs typeface="맑은 고딕"/>
              </a:rPr>
              <a:t>fetch</a:t>
            </a:r>
          </a:p>
        </p:txBody>
      </p:sp>
      <p:sp>
        <p:nvSpPr>
          <p:cNvPr id="28" name="TextBox 27"/>
          <p:cNvSpPr txBox="1"/>
          <p:nvPr/>
        </p:nvSpPr>
        <p:spPr>
          <a:xfrm>
            <a:off x="457200" y="3017520"/>
            <a:ext cx="914400" cy="228600"/>
          </a:xfrm>
          <a:prstGeom prst="rect">
            <a:avLst/>
          </a:prstGeom>
          <a:noFill/>
        </p:spPr>
        <p:txBody>
          <a:bodyPr wrap="square" lIns="45720" tIns="27432" rIns="45720" bIns="27432" anchor="t">
            <a:spAutoFit/>
          </a:bodyPr>
          <a:lstStyle/>
          <a:p>
            <a:pPr algn="l">
              <a:spcAft>
                <a:spcPts val="200"/>
              </a:spcAft>
            </a:pPr>
            <a:r>
              <a:rPr sz="800" b="0">
                <a:solidFill>
                  <a:srgbClr val="595959"/>
                </a:solidFill>
                <a:latin typeface="맑은 고딕"/>
                <a:ea typeface="맑은 고딕"/>
                <a:cs typeface="맑은 고딕"/>
              </a:rPr>
              <a:t>score</a:t>
            </a:r>
          </a:p>
        </p:txBody>
      </p:sp>
      <p:sp>
        <p:nvSpPr>
          <p:cNvPr id="29" name="TextBox 28"/>
          <p:cNvSpPr txBox="1"/>
          <p:nvPr/>
        </p:nvSpPr>
        <p:spPr>
          <a:xfrm>
            <a:off x="457200" y="3337560"/>
            <a:ext cx="914400" cy="228600"/>
          </a:xfrm>
          <a:prstGeom prst="rect">
            <a:avLst/>
          </a:prstGeom>
          <a:noFill/>
        </p:spPr>
        <p:txBody>
          <a:bodyPr wrap="square" lIns="45720" tIns="27432" rIns="45720" bIns="27432" anchor="t">
            <a:spAutoFit/>
          </a:bodyPr>
          <a:lstStyle/>
          <a:p>
            <a:pPr algn="l">
              <a:spcAft>
                <a:spcPts val="200"/>
              </a:spcAft>
            </a:pPr>
            <a:r>
              <a:rPr sz="800" b="0">
                <a:solidFill>
                  <a:srgbClr val="595959"/>
                </a:solidFill>
                <a:latin typeface="맑은 고딕"/>
                <a:ea typeface="맑은 고딕"/>
                <a:cs typeface="맑은 고딕"/>
              </a:rPr>
              <a:t>recompute</a:t>
            </a:r>
          </a:p>
        </p:txBody>
      </p:sp>
      <p:sp>
        <p:nvSpPr>
          <p:cNvPr id="30" name="Rectangle 29"/>
          <p:cNvSpPr/>
          <p:nvPr/>
        </p:nvSpPr>
        <p:spPr>
          <a:xfrm>
            <a:off x="1417320" y="2697480"/>
            <a:ext cx="1005840" cy="256032"/>
          </a:xfrm>
          <a:prstGeom prst="rect">
            <a:avLst/>
          </a:prstGeom>
          <a:solidFill>
            <a:srgbClr val="E2F0D9"/>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fetch (layer별)</a:t>
            </a:r>
          </a:p>
        </p:txBody>
      </p:sp>
      <p:sp>
        <p:nvSpPr>
          <p:cNvPr id="31" name="Rectangle 30"/>
          <p:cNvSpPr/>
          <p:nvPr/>
        </p:nvSpPr>
        <p:spPr>
          <a:xfrm>
            <a:off x="1417320" y="3017520"/>
            <a:ext cx="320040" cy="256032"/>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D</a:t>
            </a:r>
          </a:p>
        </p:txBody>
      </p:sp>
      <p:sp>
        <p:nvSpPr>
          <p:cNvPr id="32" name="Rectangle 31"/>
          <p:cNvSpPr/>
          <p:nvPr/>
        </p:nvSpPr>
        <p:spPr>
          <a:xfrm>
            <a:off x="1737360" y="3017520"/>
            <a:ext cx="320040" cy="256032"/>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F</a:t>
            </a:r>
          </a:p>
        </p:txBody>
      </p:sp>
      <p:sp>
        <p:nvSpPr>
          <p:cNvPr id="33" name="Rectangle 32"/>
          <p:cNvSpPr/>
          <p:nvPr/>
        </p:nvSpPr>
        <p:spPr>
          <a:xfrm>
            <a:off x="2057400" y="3337560"/>
            <a:ext cx="1188720" cy="256032"/>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recompute (layer별)</a:t>
            </a:r>
          </a:p>
        </p:txBody>
      </p:sp>
      <p:sp>
        <p:nvSpPr>
          <p:cNvPr id="34" name="Rectangle 33"/>
          <p:cNvSpPr/>
          <p:nvPr/>
        </p:nvSpPr>
        <p:spPr>
          <a:xfrm>
            <a:off x="3246120" y="3337560"/>
            <a:ext cx="731520" cy="256032"/>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rest</a:t>
            </a:r>
          </a:p>
        </p:txBody>
      </p:sp>
      <p:cxnSp>
        <p:nvCxnSpPr>
          <p:cNvPr id="35" name="Connector 34"/>
          <p:cNvCxnSpPr/>
          <p:nvPr/>
        </p:nvCxnSpPr>
        <p:spPr>
          <a:xfrm>
            <a:off x="1920240" y="2743200"/>
            <a:ext cx="365760" cy="594360"/>
          </a:xfrm>
          <a:prstGeom prst="line">
            <a:avLst/>
          </a:prstGeom>
          <a:ln w="1270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69080" y="2651760"/>
            <a:ext cx="2011680" cy="822960"/>
          </a:xfrm>
          <a:prstGeom prst="rect">
            <a:avLst/>
          </a:prstGeom>
          <a:noFill/>
        </p:spPr>
        <p:txBody>
          <a:bodyPr wrap="square" lIns="45720" tIns="27432" rIns="45720" bIns="27432" anchor="t">
            <a:spAutoFit/>
          </a:bodyPr>
          <a:lstStyle/>
          <a:p>
            <a:pPr algn="l">
              <a:spcAft>
                <a:spcPts val="200"/>
              </a:spcAft>
            </a:pPr>
            <a:r>
              <a:rPr sz="800" b="0">
                <a:solidFill>
                  <a:srgbClr val="404040"/>
                </a:solidFill>
                <a:latin typeface="맑은 고딕"/>
                <a:ea typeface="맑은 고딕"/>
                <a:cs typeface="맑은 고딕"/>
              </a:rPr>
              <a:t>D = digest 스코어링 (coarse)</a:t>
            </a:r>
          </a:p>
          <a:p>
            <a:pPr algn="l">
              <a:spcAft>
                <a:spcPts val="200"/>
              </a:spcAft>
            </a:pPr>
            <a:r>
              <a:rPr sz="800" b="0">
                <a:solidFill>
                  <a:srgbClr val="404040"/>
                </a:solidFill>
                <a:latin typeface="맑은 고딕"/>
                <a:ea typeface="맑은 고딕"/>
                <a:cs typeface="맑은 고딕"/>
              </a:rPr>
              <a:t>F = 상위 블록 fine 스코어링</a:t>
            </a:r>
          </a:p>
          <a:p>
            <a:pPr algn="l">
              <a:spcAft>
                <a:spcPts val="200"/>
              </a:spcAft>
            </a:pPr>
            <a:r>
              <a:rPr sz="800" b="1">
                <a:solidFill>
                  <a:srgbClr val="FF0000"/>
                </a:solidFill>
                <a:latin typeface="맑은 고딕"/>
                <a:ea typeface="맑은 고딕"/>
                <a:cs typeface="맑은 고딕"/>
              </a:rPr>
              <a:t>fetch · score가 recompute와 중첩</a:t>
            </a:r>
          </a:p>
        </p:txBody>
      </p:sp>
      <p:sp>
        <p:nvSpPr>
          <p:cNvPr id="37" name="TextBox 36"/>
          <p:cNvSpPr txBox="1"/>
          <p:nvPr/>
        </p:nvSpPr>
        <p:spPr>
          <a:xfrm>
            <a:off x="457200" y="3703320"/>
            <a:ext cx="5577840" cy="2194560"/>
          </a:xfrm>
          <a:prstGeom prst="rect">
            <a:avLst/>
          </a:prstGeom>
          <a:noFill/>
        </p:spPr>
        <p:txBody>
          <a:bodyPr wrap="square" lIns="45720" tIns="27432" rIns="45720" bIns="27432" anchor="t">
            <a:spAutoFit/>
          </a:bodyPr>
          <a:lstStyle/>
          <a:p>
            <a:pPr algn="l">
              <a:spcAft>
                <a:spcPts val="200"/>
              </a:spcAft>
            </a:pPr>
            <a:r>
              <a:rPr sz="1050" b="1">
                <a:solidFill>
                  <a:srgbClr val="2E75B6"/>
                </a:solidFill>
                <a:latin typeface="맑은 고딕"/>
                <a:ea typeface="맑은 고딕"/>
                <a:cs typeface="맑은 고딕"/>
              </a:rPr>
              <a:t>M1  Block Digest 계층 스코어링</a:t>
            </a:r>
          </a:p>
          <a:p>
            <a:pPr algn="l">
              <a:spcAft>
                <a:spcPts val="200"/>
              </a:spcAft>
            </a:pPr>
            <a:r>
              <a:rPr sz="900" b="0">
                <a:solidFill>
                  <a:srgbClr val="404040"/>
                </a:solidFill>
                <a:latin typeface="맑은 고딕"/>
                <a:ea typeface="맑은 고딕"/>
                <a:cs typeface="맑은 고딕"/>
              </a:rPr>
              <a:t>Stage 1 읽기량 O(L) → O(L/B + k·B). 결정은 여전히 실제 Query 기반이라 1안으로 퇴행하지 않음. digest 크기 ≈ KV의 1/B (K min/max 기준) [추정]. 요약 기반 블록 선택은 Quest 계열 [B]</a:t>
            </a:r>
          </a:p>
          <a:p>
            <a:pPr algn="l">
              <a:spcAft>
                <a:spcPts val="200"/>
              </a:spcAft>
            </a:pPr>
            <a:r>
              <a:rPr sz="1050" b="1">
                <a:solidFill>
                  <a:srgbClr val="2E75B6"/>
                </a:solidFill>
                <a:latin typeface="맑은 고딕"/>
                <a:ea typeface="맑은 고딕"/>
                <a:cs typeface="맑은 고딕"/>
              </a:rPr>
              <a:t>M2  레이어 파이프라인 + load-hiding 재계산 예산</a:t>
            </a:r>
          </a:p>
          <a:p>
            <a:pPr algn="l">
              <a:spcAft>
                <a:spcPts val="200"/>
              </a:spcAft>
            </a:pPr>
            <a:r>
              <a:rPr sz="900" b="0">
                <a:solidFill>
                  <a:srgbClr val="404040"/>
                </a:solidFill>
                <a:latin typeface="맑은 고딕"/>
                <a:ea typeface="맑은 고딕"/>
                <a:cs typeface="맑은 고딕"/>
              </a:rPr>
              <a:t>KV connector의 레이어 훅(wait_for_layer_load / save_kv_layer)으로 recompute(l)과 load(l+1) 중첩.  r* = max { r | T_recomp(r) ≤ T_fetch(tier) } → 이 구간의 재계산은 TTFT 추가 비용 0 [가설]. 선정을 일부 레이어에서만 수행해 재사용하는 방식은 CacheBlend 계열 [B], 레이어 간 랭킹 상관은 검증 대상</a:t>
            </a:r>
          </a:p>
          <a:p>
            <a:pPr algn="l">
              <a:spcAft>
                <a:spcPts val="200"/>
              </a:spcAft>
            </a:pPr>
            <a:r>
              <a:rPr sz="1050" b="1">
                <a:solidFill>
                  <a:srgbClr val="FF0000"/>
                </a:solidFill>
                <a:latin typeface="맑은 고딕"/>
                <a:ea typeface="맑은 고딕"/>
                <a:cs typeface="맑은 고딕"/>
              </a:rPr>
              <a:t>한계</a:t>
            </a:r>
          </a:p>
          <a:p>
            <a:pPr algn="l">
              <a:spcAft>
                <a:spcPts val="200"/>
              </a:spcAft>
            </a:pPr>
            <a:r>
              <a:rPr sz="900" b="0">
                <a:solidFill>
                  <a:srgbClr val="404040"/>
                </a:solidFill>
                <a:latin typeface="맑은 고딕"/>
                <a:ea typeface="맑은 고딕"/>
                <a:cs typeface="맑은 고딕"/>
              </a:rPr>
              <a:t>tier가 HBM이면 숨길 로드 시간이 없음. 이때 효과는 M1과 M3에서 나와야 함</a:t>
            </a:r>
          </a:p>
        </p:txBody>
      </p:sp>
      <p:sp>
        <p:nvSpPr>
          <p:cNvPr id="38" name="Rectangle 37"/>
          <p:cNvSpPr/>
          <p:nvPr/>
        </p:nvSpPr>
        <p:spPr>
          <a:xfrm>
            <a:off x="6309360" y="1371600"/>
            <a:ext cx="5486400" cy="457200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6949440" y="1216152"/>
            <a:ext cx="42062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확장성: 경합을 나눠 쓰고, 넘치면 점진 저하</a:t>
            </a:r>
          </a:p>
        </p:txBody>
      </p:sp>
      <p:sp>
        <p:nvSpPr>
          <p:cNvPr id="40" name="TextBox 39"/>
          <p:cNvSpPr txBox="1"/>
          <p:nvPr/>
        </p:nvSpPr>
        <p:spPr>
          <a:xfrm>
            <a:off x="6400800" y="1645920"/>
            <a:ext cx="5303520" cy="228600"/>
          </a:xfrm>
          <a:prstGeom prst="rect">
            <a:avLst/>
          </a:prstGeom>
          <a:noFill/>
        </p:spPr>
        <p:txBody>
          <a:bodyPr wrap="square" lIns="45720" tIns="27432" rIns="45720" bIns="27432" anchor="t">
            <a:spAutoFit/>
          </a:bodyPr>
          <a:lstStyle/>
          <a:p>
            <a:pPr algn="l">
              <a:spcAft>
                <a:spcPts val="200"/>
              </a:spcAft>
            </a:pPr>
            <a:r>
              <a:rPr sz="1050" b="1">
                <a:solidFill>
                  <a:srgbClr val="2E75B6"/>
                </a:solidFill>
                <a:latin typeface="맑은 고딕"/>
                <a:ea typeface="맑은 고딕"/>
                <a:cs typeface="맑은 고딕"/>
              </a:rPr>
              <a:t>M3  Shared-KV 배치 스코어링</a:t>
            </a:r>
          </a:p>
        </p:txBody>
      </p:sp>
      <p:sp>
        <p:nvSpPr>
          <p:cNvPr id="41" name="Rectangle 40"/>
          <p:cNvSpPr/>
          <p:nvPr/>
        </p:nvSpPr>
        <p:spPr>
          <a:xfrm>
            <a:off x="6446520" y="1920240"/>
            <a:ext cx="731520" cy="23774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Query 1</a:t>
            </a:r>
          </a:p>
        </p:txBody>
      </p:sp>
      <p:cxnSp>
        <p:nvCxnSpPr>
          <p:cNvPr id="42" name="Connector 41"/>
          <p:cNvCxnSpPr/>
          <p:nvPr/>
        </p:nvCxnSpPr>
        <p:spPr>
          <a:xfrm>
            <a:off x="7178040" y="2039112"/>
            <a:ext cx="457200" cy="246888"/>
          </a:xfrm>
          <a:prstGeom prst="line">
            <a:avLst/>
          </a:prstGeom>
          <a:ln w="1016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446520" y="2212848"/>
            <a:ext cx="731520" cy="23774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Query 2</a:t>
            </a:r>
          </a:p>
        </p:txBody>
      </p:sp>
      <p:cxnSp>
        <p:nvCxnSpPr>
          <p:cNvPr id="44" name="Connector 43"/>
          <p:cNvCxnSpPr/>
          <p:nvPr/>
        </p:nvCxnSpPr>
        <p:spPr>
          <a:xfrm flipV="1">
            <a:off x="7178040" y="2286000"/>
            <a:ext cx="457200" cy="45720"/>
          </a:xfrm>
          <a:prstGeom prst="line">
            <a:avLst/>
          </a:prstGeom>
          <a:ln w="1016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6446520" y="2505456"/>
            <a:ext cx="731520" cy="23774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0">
                <a:solidFill>
                  <a:srgbClr val="000000"/>
                </a:solidFill>
                <a:latin typeface="맑은 고딕"/>
                <a:ea typeface="맑은 고딕"/>
                <a:cs typeface="맑은 고딕"/>
              </a:rPr>
              <a:t>Query 3</a:t>
            </a:r>
          </a:p>
        </p:txBody>
      </p:sp>
      <p:cxnSp>
        <p:nvCxnSpPr>
          <p:cNvPr id="46" name="Connector 45"/>
          <p:cNvCxnSpPr/>
          <p:nvPr/>
        </p:nvCxnSpPr>
        <p:spPr>
          <a:xfrm flipV="1">
            <a:off x="7178040" y="2286000"/>
            <a:ext cx="457200" cy="338328"/>
          </a:xfrm>
          <a:prstGeom prst="line">
            <a:avLst/>
          </a:prstGeom>
          <a:ln w="1016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635240" y="1920240"/>
            <a:ext cx="1554480" cy="731520"/>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50" b="0">
                <a:solidFill>
                  <a:srgbClr val="000000"/>
                </a:solidFill>
                <a:latin typeface="맑은 고딕"/>
                <a:ea typeface="맑은 고딕"/>
                <a:cs typeface="맑은 고딕"/>
              </a:rPr>
              <a:t>Query 묶음 (n×d)</a:t>
            </a:r>
          </a:p>
          <a:p>
            <a:pPr algn="ctr">
              <a:spcAft>
                <a:spcPts val="200"/>
              </a:spcAft>
            </a:pPr>
            <a:r>
              <a:rPr sz="850" b="1">
                <a:solidFill>
                  <a:srgbClr val="000000"/>
                </a:solidFill>
                <a:latin typeface="맑은 고딕"/>
                <a:ea typeface="맑은 고딕"/>
                <a:cs typeface="맑은 고딕"/>
              </a:rPr>
              <a:t>× Context KV 1회 스캔</a:t>
            </a:r>
          </a:p>
        </p:txBody>
      </p:sp>
      <p:cxnSp>
        <p:nvCxnSpPr>
          <p:cNvPr id="48" name="Connector 47"/>
          <p:cNvCxnSpPr/>
          <p:nvPr/>
        </p:nvCxnSpPr>
        <p:spPr>
          <a:xfrm>
            <a:off x="9189720" y="2286000"/>
            <a:ext cx="411480"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9601200" y="1920240"/>
            <a:ext cx="2011680" cy="73152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0">
                <a:solidFill>
                  <a:srgbClr val="000000"/>
                </a:solidFill>
                <a:latin typeface="맑은 고딕"/>
                <a:ea typeface="맑은 고딕"/>
                <a:cs typeface="맑은 고딕"/>
              </a:rPr>
              <a:t>n개 점수 벡터</a:t>
            </a:r>
          </a:p>
          <a:p>
            <a:pPr algn="ctr">
              <a:spcAft>
                <a:spcPts val="200"/>
              </a:spcAft>
            </a:pPr>
            <a:r>
              <a:rPr sz="850" b="1">
                <a:solidFill>
                  <a:srgbClr val="FF0000"/>
                </a:solidFill>
                <a:latin typeface="맑은 고딕"/>
                <a:ea typeface="맑은 고딕"/>
                <a:cs typeface="맑은 고딕"/>
              </a:rPr>
              <a:t>KV 읽기 ×1 (as-is ×n)</a:t>
            </a:r>
          </a:p>
        </p:txBody>
      </p:sp>
      <p:sp>
        <p:nvSpPr>
          <p:cNvPr id="50" name="TextBox 49"/>
          <p:cNvSpPr txBox="1"/>
          <p:nvPr/>
        </p:nvSpPr>
        <p:spPr>
          <a:xfrm>
            <a:off x="6400800" y="2743200"/>
            <a:ext cx="5303520" cy="685800"/>
          </a:xfrm>
          <a:prstGeom prst="rect">
            <a:avLst/>
          </a:prstGeom>
          <a:noFill/>
        </p:spPr>
        <p:txBody>
          <a:bodyPr wrap="square" lIns="45720" tIns="27432" rIns="45720" bIns="27432" anchor="t">
            <a:spAutoFit/>
          </a:bodyPr>
          <a:lstStyle/>
          <a:p>
            <a:pPr algn="l">
              <a:spcAft>
                <a:spcPts val="200"/>
              </a:spcAft>
            </a:pPr>
            <a:r>
              <a:rPr sz="900" b="0">
                <a:solidFill>
                  <a:srgbClr val="404040"/>
                </a:solidFill>
                <a:latin typeface="맑은 고딕"/>
                <a:ea typeface="맑은 고딕"/>
                <a:cs typeface="맑은 고딕"/>
              </a:rPr>
              <a:t>memory-bound인 스코어링은 읽기 1회로 n개 Query를 처리해 연산 강도가 약 n배 (cascade / shared-prefix attention과 같은 원리) [가설]. 동시 요청이 많을수록 유리. 조건: 동일 Context 식별(Chunk 키)과 짧은 윈도우(지연 &lt; 이득)</a:t>
            </a:r>
          </a:p>
        </p:txBody>
      </p:sp>
      <p:sp>
        <p:nvSpPr>
          <p:cNvPr id="51" name="TextBox 50"/>
          <p:cNvSpPr txBox="1"/>
          <p:nvPr/>
        </p:nvSpPr>
        <p:spPr>
          <a:xfrm>
            <a:off x="6400800" y="3456432"/>
            <a:ext cx="5303520" cy="228600"/>
          </a:xfrm>
          <a:prstGeom prst="rect">
            <a:avLst/>
          </a:prstGeom>
          <a:noFill/>
        </p:spPr>
        <p:txBody>
          <a:bodyPr wrap="square" lIns="45720" tIns="27432" rIns="45720" bIns="27432" anchor="t">
            <a:spAutoFit/>
          </a:bodyPr>
          <a:lstStyle/>
          <a:p>
            <a:pPr algn="l">
              <a:spcAft>
                <a:spcPts val="200"/>
              </a:spcAft>
            </a:pPr>
            <a:r>
              <a:rPr sz="1050" b="1">
                <a:solidFill>
                  <a:srgbClr val="2E75B6"/>
                </a:solidFill>
                <a:latin typeface="맑은 고딕"/>
                <a:ea typeface="맑은 고딕"/>
                <a:cs typeface="맑은 고딕"/>
              </a:rPr>
              <a:t>M4  예산 선정 + 단계적 저하 (DP2 예산 B, vLLM token_budget에 편입)</a:t>
            </a:r>
          </a:p>
        </p:txBody>
      </p:sp>
      <p:graphicFrame>
        <p:nvGraphicFramePr>
          <p:cNvPr id="52" name="Table 51"/>
          <p:cNvGraphicFramePr>
            <a:graphicFrameLocks noGrp="1"/>
          </p:cNvGraphicFramePr>
          <p:nvPr/>
        </p:nvGraphicFramePr>
        <p:xfrm>
          <a:off x="6400800" y="3767328"/>
          <a:ext cx="5349240" cy="1234440"/>
        </p:xfrm>
        <a:graphic>
          <a:graphicData uri="http://schemas.openxmlformats.org/drawingml/2006/table">
            <a:tbl>
              <a:tblPr>
                <a:tableStyleId>{2D5ABB26-0587-4C30-8999-92F81FD0307C}</a:tableStyleId>
              </a:tblPr>
              <a:tblGrid>
                <a:gridCol w="5029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246888">
                <a:tc>
                  <a:txBody>
                    <a:bodyPr/>
                    <a:lstStyle/>
                    <a:p>
                      <a:pPr algn="ctr">
                        <a:spcAft>
                          <a:spcPts val="100"/>
                        </a:spcAft>
                      </a:pPr>
                      <a:r>
                        <a:rPr sz="1000" b="0">
                          <a:solidFill>
                            <a:srgbClr val="000000"/>
                          </a:solidFill>
                          <a:latin typeface="맑은 고딕"/>
                          <a:ea typeface="맑은 고딕"/>
                          <a:cs typeface="맑은 고딕"/>
                        </a:rPr>
                        <a:t>단계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000" b="1">
                          <a:solidFill>
                            <a:srgbClr val="000000"/>
                          </a:solidFill>
                          <a:latin typeface="맑은 고딕"/>
                          <a:ea typeface="맑은 고딕"/>
                          <a:cs typeface="맑은 고딕"/>
                        </a:rPr>
                        <a:t>조건</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000" b="1">
                          <a:solidFill>
                            <a:srgbClr val="000000"/>
                          </a:solidFill>
                          <a:latin typeface="맑은 고딕"/>
                          <a:ea typeface="맑은 고딕"/>
                          <a:cs typeface="맑은 고딕"/>
                        </a:rPr>
                        <a:t>동작</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0"/>
                  </a:ext>
                </a:extLst>
              </a:tr>
              <a:tr h="246888">
                <a:tc>
                  <a:txBody>
                    <a:bodyPr/>
                    <a:lstStyle/>
                    <a:p>
                      <a:pPr algn="ctr">
                        <a:spcAft>
                          <a:spcPts val="100"/>
                        </a:spcAft>
                      </a:pPr>
                      <a:r>
                        <a:rPr sz="900" b="0">
                          <a:solidFill>
                            <a:srgbClr val="000000"/>
                          </a:solidFill>
                          <a:latin typeface="맑은 고딕"/>
                          <a:ea typeface="맑은 고딕"/>
                          <a:cs typeface="맑은 고딕"/>
                        </a:rPr>
                        <a:t>L0</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여유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M2의 r* 그대로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ctr">
                        <a:spcAft>
                          <a:spcPts val="100"/>
                        </a:spcAft>
                      </a:pPr>
                      <a:r>
                        <a:rPr sz="900" b="0">
                          <a:solidFill>
                            <a:srgbClr val="000000"/>
                          </a:solidFill>
                          <a:latin typeface="맑은 고딕"/>
                          <a:ea typeface="맑은 고딕"/>
                          <a:cs typeface="맑은 고딕"/>
                        </a:rPr>
                        <a:t>L1</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부하 증가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r 축소 (점수 상위 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ctr">
                        <a:spcAft>
                          <a:spcPts val="100"/>
                        </a:spcAft>
                      </a:pPr>
                      <a:r>
                        <a:rPr sz="900" b="0">
                          <a:solidFill>
                            <a:srgbClr val="000000"/>
                          </a:solidFill>
                          <a:latin typeface="맑은 고딕"/>
                          <a:ea typeface="맑은 고딕"/>
                          <a:cs typeface="맑은 고딕"/>
                        </a:rPr>
                        <a:t>L2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포화</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재계산 생략(재사용만). 정확도 민감 클래스 제외</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ctr">
                        <a:spcAft>
                          <a:spcPts val="100"/>
                        </a:spcAft>
                      </a:pPr>
                      <a:r>
                        <a:rPr sz="900" b="0">
                          <a:solidFill>
                            <a:srgbClr val="000000"/>
                          </a:solidFill>
                          <a:latin typeface="맑은 고딕"/>
                          <a:ea typeface="맑은 고딕"/>
                          <a:cs typeface="맑은 고딕"/>
                        </a:rPr>
                        <a:t>L3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Gate 실패 (M5)</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해당 요청만 Full Prefill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53" name="TextBox 52"/>
          <p:cNvSpPr txBox="1"/>
          <p:nvPr/>
        </p:nvSpPr>
        <p:spPr>
          <a:xfrm>
            <a:off x="6400800" y="5166360"/>
            <a:ext cx="5303520" cy="731520"/>
          </a:xfrm>
          <a:prstGeom prst="rect">
            <a:avLst/>
          </a:prstGeom>
          <a:noFill/>
        </p:spPr>
        <p:txBody>
          <a:bodyPr wrap="square" lIns="45720" tIns="27432" rIns="45720" bIns="27432" anchor="t">
            <a:spAutoFit/>
          </a:bodyPr>
          <a:lstStyle/>
          <a:p>
            <a:pPr algn="l">
              <a:spcAft>
                <a:spcPts val="200"/>
              </a:spcAft>
            </a:pPr>
            <a:r>
              <a:rPr sz="900" b="0">
                <a:solidFill>
                  <a:srgbClr val="404040"/>
                </a:solidFill>
                <a:latin typeface="맑은 고딕"/>
                <a:ea typeface="맑은 고딕"/>
                <a:cs typeface="맑은 고딕"/>
              </a:rPr>
              <a:t>재계산은 별도 stream / 자원 클래스로 격리(우선순위는 DP2). 경합 한계가 사라지는 것이 아니라 '지연 폭증'이 '정확도 마진 소진'으로 바뀌는 완만한 저하 곡선 [가설]</a:t>
            </a:r>
          </a:p>
          <a:p>
            <a:pPr algn="l">
              <a:spcAft>
                <a:spcPts val="200"/>
              </a:spcAft>
            </a:pPr>
            <a:r>
              <a:rPr sz="900" b="1">
                <a:solidFill>
                  <a:srgbClr val="404040"/>
                </a:solidFill>
                <a:latin typeface="맑은 고딕"/>
                <a:ea typeface="맑은 고딕"/>
                <a:cs typeface="맑은 고딕"/>
              </a:rPr>
              <a:t>M5 Gate: 선정 토큰의 attention 질량 커버리지 / 점수 엔트로피로 판단, 신호는 스코어링 부산물이라 추가 비용 거의 없음</a:t>
            </a:r>
          </a:p>
        </p:txBody>
      </p:sp>
      <p:sp>
        <p:nvSpPr>
          <p:cNvPr id="54" name="TextBox 53"/>
          <p:cNvSpPr txBox="1"/>
          <p:nvPr/>
        </p:nvSpPr>
        <p:spPr>
          <a:xfrm>
            <a:off x="274320" y="6601968"/>
            <a:ext cx="4983480" cy="228600"/>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근거: kv_connector/v1/base.py(layer 훅), v1/core/sched/scheduler.py(token_budget). 효과 [가설]</a:t>
            </a:r>
          </a:p>
        </p:txBody>
      </p:sp>
      <p:sp>
        <p:nvSpPr>
          <p:cNvPr id="55" name="TextBox 54"/>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3</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DP3. Long Context를 위한 KV 캐시 재사용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보완이 DP1·DP2 계약과 QA Tradeoff를 어떻게 바꾸는가</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C1</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Q5</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F3</a:t>
            </a:r>
          </a:p>
        </p:txBody>
      </p:sp>
      <p:sp>
        <p:nvSpPr>
          <p:cNvPr id="18" name="Rectangle 17"/>
          <p:cNvSpPr/>
          <p:nvPr/>
        </p:nvSpPr>
        <p:spPr>
          <a:xfrm>
            <a:off x="347472" y="1371600"/>
            <a:ext cx="11402568" cy="228600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860036" y="1216152"/>
            <a:ext cx="23774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DP 간 계약 (제안 [C])</a:t>
            </a:r>
          </a:p>
        </p:txBody>
      </p:sp>
      <p:graphicFrame>
        <p:nvGraphicFramePr>
          <p:cNvPr id="20" name="Table 19"/>
          <p:cNvGraphicFramePr>
            <a:graphicFrameLocks noGrp="1"/>
          </p:cNvGraphicFramePr>
          <p:nvPr/>
        </p:nvGraphicFramePr>
        <p:xfrm>
          <a:off x="457200" y="1600200"/>
          <a:ext cx="11155680" cy="1664208"/>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274320">
                <a:tc>
                  <a:txBody>
                    <a:bodyPr/>
                    <a:lstStyle/>
                    <a:p>
                      <a:pPr algn="ctr">
                        <a:spcAft>
                          <a:spcPts val="100"/>
                        </a:spcAft>
                      </a:pPr>
                      <a:r>
                        <a:rPr sz="1050" b="0">
                          <a:solidFill>
                            <a:srgbClr val="000000"/>
                          </a:solidFill>
                          <a:latin typeface="맑은 고딕"/>
                          <a:ea typeface="맑은 고딕"/>
                          <a:cs typeface="맑은 고딕"/>
                        </a:rPr>
                        <a:t>방향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주고받는 것</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의미</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연결 기법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47472">
                <a:tc>
                  <a:txBody>
                    <a:bodyPr/>
                    <a:lstStyle/>
                    <a:p>
                      <a:pPr algn="ctr">
                        <a:spcAft>
                          <a:spcPts val="100"/>
                        </a:spcAft>
                      </a:pPr>
                      <a:r>
                        <a:rPr sz="950" b="0">
                          <a:solidFill>
                            <a:srgbClr val="000000"/>
                          </a:solidFill>
                          <a:latin typeface="맑은 고딕"/>
                          <a:ea typeface="맑은 고딕"/>
                          <a:cs typeface="맑은 고딕"/>
                        </a:rPr>
                        <a:t>DP3 → DP1</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Block Digest 객체, co-pin 요청, Chunk 키 · digest 버전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digest는 Context KV와 같거나 상위 tier에 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M1</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47472">
                <a:tc>
                  <a:txBody>
                    <a:bodyPr/>
                    <a:lstStyle/>
                    <a:p>
                      <a:pPr algn="ctr">
                        <a:spcAft>
                          <a:spcPts val="100"/>
                        </a:spcAft>
                      </a:pPr>
                      <a:r>
                        <a:rPr sz="950" b="0">
                          <a:solidFill>
                            <a:srgbClr val="000000"/>
                          </a:solidFill>
                          <a:latin typeface="맑은 고딕"/>
                          <a:ea typeface="맑은 고딕"/>
                          <a:cs typeface="맑은 고딕"/>
                        </a:rPr>
                        <a:t>DP1 → DP3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tier별 load 지연, 용량 압박 신호</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r* = max{r | T_recomp(r) ≤ T_fetch(tier)} 의 입력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M2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347472">
                <a:tc>
                  <a:txBody>
                    <a:bodyPr/>
                    <a:lstStyle/>
                    <a:p>
                      <a:pPr algn="ctr">
                        <a:spcAft>
                          <a:spcPts val="100"/>
                        </a:spcAft>
                      </a:pPr>
                      <a:r>
                        <a:rPr sz="950" b="0">
                          <a:solidFill>
                            <a:srgbClr val="000000"/>
                          </a:solidFill>
                          <a:latin typeface="맑은 고딕"/>
                          <a:ea typeface="맑은 고딕"/>
                          <a:cs typeface="맑은 고딕"/>
                        </a:rPr>
                        <a:t>DP3 → DP2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재계산 토큰 수 · 레이어 범위 · Stage 1 비용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digest 덕에 Stage 1 비용을 L과 거의 무관하게 예측 가능 [가설] → 계획 stale 완화</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M1, M4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347472">
                <a:tc>
                  <a:txBody>
                    <a:bodyPr/>
                    <a:lstStyle/>
                    <a:p>
                      <a:pPr algn="ctr">
                        <a:spcAft>
                          <a:spcPts val="100"/>
                        </a:spcAft>
                      </a:pPr>
                      <a:r>
                        <a:rPr sz="950" b="0">
                          <a:solidFill>
                            <a:srgbClr val="000000"/>
                          </a:solidFill>
                          <a:latin typeface="맑은 고딕"/>
                          <a:ea typeface="맑은 고딕"/>
                          <a:cs typeface="맑은 고딕"/>
                        </a:rPr>
                        <a:t>DP2 → DP3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예산 B, 자원 클래스, 우선순위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재계산을 Decode와 격리하고 부하별 L0~L3 결정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M4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1" name="TextBox 20"/>
          <p:cNvSpPr txBox="1"/>
          <p:nvPr/>
        </p:nvSpPr>
        <p:spPr>
          <a:xfrm>
            <a:off x="457200" y="3675887"/>
            <a:ext cx="11247120" cy="274320"/>
          </a:xfrm>
          <a:prstGeom prst="rect">
            <a:avLst/>
          </a:prstGeom>
          <a:noFill/>
        </p:spPr>
        <p:txBody>
          <a:bodyPr wrap="square" lIns="45720" tIns="27432" rIns="45720" bIns="27432" anchor="t">
            <a:spAutoFit/>
          </a:bodyPr>
          <a:lstStyle/>
          <a:p>
            <a:pPr algn="l">
              <a:spcAft>
                <a:spcPts val="200"/>
              </a:spcAft>
            </a:pPr>
            <a:r>
              <a:rPr sz="1100" b="1">
                <a:solidFill>
                  <a:srgbClr val="000000"/>
                </a:solidFill>
                <a:latin typeface="맑은 고딕"/>
                <a:ea typeface="맑은 고딕"/>
                <a:cs typeface="맑은 고딕"/>
              </a:rPr>
              <a:t>Tradeoff  (평가 전 가설 · 정량 구간 확정 전이라 별점 미사용)</a:t>
            </a:r>
          </a:p>
        </p:txBody>
      </p:sp>
      <p:graphicFrame>
        <p:nvGraphicFramePr>
          <p:cNvPr id="22" name="Table 21"/>
          <p:cNvGraphicFramePr>
            <a:graphicFrameLocks noGrp="1"/>
          </p:cNvGraphicFramePr>
          <p:nvPr/>
        </p:nvGraphicFramePr>
        <p:xfrm>
          <a:off x="246888" y="3977639"/>
          <a:ext cx="11750040" cy="1664208"/>
        </p:xfrm>
        <a:graphic>
          <a:graphicData uri="http://schemas.openxmlformats.org/drawingml/2006/table">
            <a:tbl>
              <a:tblPr>
                <a:tableStyleId>{2D5ABB26-0587-4C30-8999-92F81FD0307C}</a:tableStyleId>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274320">
                <a:tc>
                  <a:txBody>
                    <a:bodyPr/>
                    <a:lstStyle/>
                    <a:p>
                      <a:pPr algn="ctr">
                        <a:spcAft>
                          <a:spcPts val="100"/>
                        </a:spcAft>
                      </a:pPr>
                      <a:r>
                        <a:rPr sz="1050" b="0">
                          <a:solidFill>
                            <a:srgbClr val="7F7F7F"/>
                          </a:solidFill>
                          <a:latin typeface="맑은 고딕"/>
                          <a:ea typeface="맑은 고딕"/>
                          <a:cs typeface="맑은 고딕"/>
                        </a:rPr>
                        <a:t>QA / 제약</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2안 (현재)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2안 + 보완 [가설]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조건 · 잔존 위험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347472">
                <a:tc>
                  <a:txBody>
                    <a:bodyPr/>
                    <a:lstStyle/>
                    <a:p>
                      <a:pPr algn="ctr">
                        <a:spcAft>
                          <a:spcPts val="100"/>
                        </a:spcAft>
                      </a:pPr>
                      <a:r>
                        <a:rPr sz="950" b="0">
                          <a:solidFill>
                            <a:srgbClr val="7F7F7F"/>
                          </a:solidFill>
                          <a:latin typeface="맑은 고딕"/>
                          <a:ea typeface="맑은 고딕"/>
                          <a:cs typeface="맑은 고딕"/>
                        </a:rPr>
                        <a:t>Q2 Latency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Stage 1·재계산이 직렬 → TTFT 절감률 낮음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fetch·score를 recompute 뒤로 숨겨 TTFT 개선 (M1·M2)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FF0000"/>
                          </a:solidFill>
                          <a:latin typeface="맑은 고딕"/>
                          <a:ea typeface="맑은 고딕"/>
                          <a:cs typeface="맑은 고딕"/>
                        </a:rPr>
                        <a:t>HBM 상주 Context의 단일 요청은 효과 작음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47472">
                <a:tc>
                  <a:txBody>
                    <a:bodyPr/>
                    <a:lstStyle/>
                    <a:p>
                      <a:pPr algn="ctr">
                        <a:spcAft>
                          <a:spcPts val="100"/>
                        </a:spcAft>
                      </a:pPr>
                      <a:r>
                        <a:rPr sz="950" b="0">
                          <a:solidFill>
                            <a:srgbClr val="7F7F7F"/>
                          </a:solidFill>
                          <a:latin typeface="맑은 고딕"/>
                          <a:ea typeface="맑은 고딕"/>
                          <a:cs typeface="맑은 고딕"/>
                        </a:rPr>
                        <a:t>Q3 HBM 점유율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원본 1부, 요청 산출물은 토큰 목록뿐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동일 + digest ≈ KV의 1/B [추정]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digest 메모리 상주 비용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347472">
                <a:tc>
                  <a:txBody>
                    <a:bodyPr/>
                    <a:lstStyle/>
                    <a:p>
                      <a:pPr algn="ctr">
                        <a:spcAft>
                          <a:spcPts val="100"/>
                        </a:spcAft>
                      </a:pPr>
                      <a:r>
                        <a:rPr sz="950" b="0">
                          <a:solidFill>
                            <a:srgbClr val="7F7F7F"/>
                          </a:solidFill>
                          <a:latin typeface="맑은 고딕"/>
                          <a:ea typeface="맑은 고딕"/>
                          <a:cs typeface="맑은 고딕"/>
                        </a:rPr>
                        <a:t>Q5 확장성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동시 요청이 늘면 스코어링·재계산 경합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배치 스코어링 + 예산으로 경합 완화, 초과 시 점진 저하 (M3·M4)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FF0000"/>
                          </a:solidFill>
                          <a:latin typeface="맑은 고딕"/>
                          <a:ea typeface="맑은 고딕"/>
                          <a:cs typeface="맑은 고딕"/>
                        </a:rPr>
                        <a:t>동일 Context 요청 비율이 낮으면 M3 효과 작음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347472">
                <a:tc>
                  <a:txBody>
                    <a:bodyPr/>
                    <a:lstStyle/>
                    <a:p>
                      <a:pPr algn="ctr">
                        <a:spcAft>
                          <a:spcPts val="100"/>
                        </a:spcAft>
                      </a:pPr>
                      <a:r>
                        <a:rPr sz="950" b="0">
                          <a:solidFill>
                            <a:srgbClr val="7F7F7F"/>
                          </a:solidFill>
                          <a:latin typeface="맑은 고딕"/>
                          <a:ea typeface="맑은 고딕"/>
                          <a:cs typeface="맑은 고딕"/>
                        </a:rPr>
                        <a:t>C1 정확도 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Query-aware로 구조적 확보</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M1·M2·M4 손실을 Gate가 보상 (M5)</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Gate 오탐·미탐이 위험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3" name="TextBox 22"/>
          <p:cNvSpPr txBox="1"/>
          <p:nvPr/>
        </p:nvSpPr>
        <p:spPr>
          <a:xfrm>
            <a:off x="365760" y="6126480"/>
            <a:ext cx="11430000" cy="411480"/>
          </a:xfrm>
          <a:prstGeom prst="rect">
            <a:avLst/>
          </a:prstGeom>
          <a:noFill/>
        </p:spPr>
        <p:txBody>
          <a:bodyPr wrap="square" lIns="45720" tIns="27432" rIns="45720" bIns="27432" anchor="t">
            <a:spAutoFit/>
          </a:bodyPr>
          <a:lstStyle/>
          <a:p>
            <a:pPr algn="l">
              <a:spcAft>
                <a:spcPts val="200"/>
              </a:spcAft>
            </a:pPr>
            <a:r>
              <a:rPr sz="900" b="1">
                <a:solidFill>
                  <a:srgbClr val="0066FF"/>
                </a:solidFill>
                <a:latin typeface="맑은 고딕"/>
                <a:ea typeface="맑은 고딕"/>
                <a:cs typeface="맑은 고딕"/>
              </a:rPr>
              <a:t>※ 기존 슬라이드의 별점(2안 Performance ★★☆ / Resource ★★★ / Scalability ★★☆)은 보완 반영 시 재산정 대상. 같은 정량 구간 정의로 1안도 함께 재평가해야 공정함</a:t>
            </a:r>
          </a:p>
        </p:txBody>
      </p:sp>
      <p:sp>
        <p:nvSpPr>
          <p:cNvPr id="24" name="TextBox 23"/>
          <p:cNvSpPr txBox="1"/>
          <p:nvPr/>
        </p:nvSpPr>
        <p:spPr>
          <a:xfrm>
            <a:off x="274320" y="6601968"/>
            <a:ext cx="4983480" cy="228600"/>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출처: doc-mk/DP3/dp3-kv-compression-reuse-structure-draft.md. 효과는 모두 [가설], 문헌 [B]</a:t>
            </a:r>
          </a:p>
        </p:txBody>
      </p:sp>
      <p:sp>
        <p:nvSpPr>
          <p:cNvPr id="25" name="TextBox 24"/>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4</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DP3. Long Context를 위한 KV 캐시 재사용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보완 설계 검증 계획: 가정을 지표로 바꿔 하나씩 끈다(ablation)</a:t>
            </a:r>
          </a:p>
        </p:txBody>
      </p:sp>
      <p:sp>
        <p:nvSpPr>
          <p:cNvPr id="13" name="Rounded Rectangle 12"/>
          <p:cNvSpPr/>
          <p:nvPr/>
        </p:nvSpPr>
        <p:spPr>
          <a:xfrm>
            <a:off x="11146536"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C1</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Q5</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F3</a:t>
            </a:r>
          </a:p>
        </p:txBody>
      </p:sp>
      <p:graphicFrame>
        <p:nvGraphicFramePr>
          <p:cNvPr id="18" name="Table 17"/>
          <p:cNvGraphicFramePr>
            <a:graphicFrameLocks noGrp="1"/>
          </p:cNvGraphicFramePr>
          <p:nvPr/>
        </p:nvGraphicFramePr>
        <p:xfrm>
          <a:off x="246888" y="1143000"/>
          <a:ext cx="11750040" cy="2843784"/>
        </p:xfrm>
        <a:graphic>
          <a:graphicData uri="http://schemas.openxmlformats.org/drawingml/2006/table">
            <a:tbl>
              <a:tblPr>
                <a:tableStyleId>{2D5ABB26-0587-4C30-8999-92F81FD0307C}</a:tableStyleId>
              </a:tblPr>
              <a:tblGrid>
                <a:gridCol w="13716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329184">
                <a:tc>
                  <a:txBody>
                    <a:bodyPr/>
                    <a:lstStyle/>
                    <a:p>
                      <a:pPr algn="ctr">
                        <a:spcAft>
                          <a:spcPts val="100"/>
                        </a:spcAft>
                      </a:pPr>
                      <a:r>
                        <a:rPr sz="1050" b="0">
                          <a:solidFill>
                            <a:srgbClr val="000000"/>
                          </a:solidFill>
                          <a:latin typeface="맑은 고딕"/>
                          <a:ea typeface="맑은 고딕"/>
                          <a:cs typeface="맑은 고딕"/>
                        </a:rPr>
                        <a:t>기법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핵심 가정 (검증 대상)</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지표 (단위)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000000"/>
                          </a:solidFill>
                          <a:latin typeface="맑은 고딕"/>
                          <a:ea typeface="맑은 고딕"/>
                          <a:cs typeface="맑은 고딕"/>
                        </a:rPr>
                        <a:t>조건 · sweep</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502920">
                <a:tc>
                  <a:txBody>
                    <a:bodyPr/>
                    <a:lstStyle/>
                    <a:p>
                      <a:pPr algn="ctr">
                        <a:spcAft>
                          <a:spcPts val="100"/>
                        </a:spcAft>
                      </a:pPr>
                      <a:r>
                        <a:rPr sz="950" b="0">
                          <a:solidFill>
                            <a:srgbClr val="000000"/>
                          </a:solidFill>
                          <a:latin typeface="맑은 고딕"/>
                          <a:ea typeface="맑은 고딕"/>
                          <a:cs typeface="맑은 고딕"/>
                        </a:rPr>
                        <a:t>M1 Digest</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coarse→fine 선정이 full 스코어링 선정과 거의 일치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선정 일치율 top-k recall (%), Stage 1 시간 (ms)</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블록 크기 B, 상위 블록 수 k, Context 길이 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502920">
                <a:tc>
                  <a:txBody>
                    <a:bodyPr/>
                    <a:lstStyle/>
                    <a:p>
                      <a:pPr algn="ctr">
                        <a:spcAft>
                          <a:spcPts val="100"/>
                        </a:spcAft>
                      </a:pPr>
                      <a:r>
                        <a:rPr sz="950" b="0">
                          <a:solidFill>
                            <a:srgbClr val="000000"/>
                          </a:solidFill>
                          <a:latin typeface="맑은 고딕"/>
                          <a:ea typeface="맑은 고딕"/>
                          <a:cs typeface="맑은 고딕"/>
                        </a:rPr>
                        <a:t>M2 파이프라인</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load와 recompute가 실제로 중첩. 일부 레이어 선정이 전 레이어에 유효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TTFT P50 / P99 (ms), 선정 레이어 수별 정확도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tier(HBM / DRAM / CXL / SSD) × 재계산 비율 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502920">
                <a:tc>
                  <a:txBody>
                    <a:bodyPr/>
                    <a:lstStyle/>
                    <a:p>
                      <a:pPr algn="ctr">
                        <a:spcAft>
                          <a:spcPts val="100"/>
                        </a:spcAft>
                      </a:pPr>
                      <a:r>
                        <a:rPr sz="950" b="0">
                          <a:solidFill>
                            <a:srgbClr val="000000"/>
                          </a:solidFill>
                          <a:latin typeface="맑은 고딕"/>
                          <a:ea typeface="맑은 고딕"/>
                          <a:cs typeface="맑은 고딕"/>
                        </a:rPr>
                        <a:t>M3 배치 스코어링</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동일 Context에 몰리는 요청 비율이 충분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KV 읽기 바이트(GB), Stage 1 처리량, TTFT P99</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배치 윈도우(ms), 동일 Context 비율, 동시 요청 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502920">
                <a:tc>
                  <a:txBody>
                    <a:bodyPr/>
                    <a:lstStyle/>
                    <a:p>
                      <a:pPr algn="ctr">
                        <a:spcAft>
                          <a:spcPts val="100"/>
                        </a:spcAft>
                      </a:pPr>
                      <a:r>
                        <a:rPr sz="950" b="0">
                          <a:solidFill>
                            <a:srgbClr val="000000"/>
                          </a:solidFill>
                          <a:latin typeface="맑은 고딕"/>
                          <a:ea typeface="맑은 고딕"/>
                          <a:cs typeface="맑은 고딕"/>
                        </a:rPr>
                        <a:t>M4 예산 선정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예산 축소 시 정확도 저하가 완만하고 Decode 간섭 감소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SLO Goodput, TPOT P99 (ms), 정확도 지표 vs 부하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예산 B, 동시 요청 수, Decode 비율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502920">
                <a:tc>
                  <a:txBody>
                    <a:bodyPr/>
                    <a:lstStyle/>
                    <a:p>
                      <a:pPr algn="ctr">
                        <a:spcAft>
                          <a:spcPts val="100"/>
                        </a:spcAft>
                      </a:pPr>
                      <a:r>
                        <a:rPr sz="950" b="0">
                          <a:solidFill>
                            <a:srgbClr val="000000"/>
                          </a:solidFill>
                          <a:latin typeface="맑은 고딕"/>
                          <a:ea typeface="맑은 고딕"/>
                          <a:cs typeface="맑은 고딕"/>
                        </a:rPr>
                        <a:t>M5 Gate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신뢰도 신호가 정확도 저하 요청을 구분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Gate precision / recall (%), 출력 정확도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임계치, 질의 유형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19" name="Rectangle 18"/>
          <p:cNvSpPr/>
          <p:nvPr/>
        </p:nvSpPr>
        <p:spPr>
          <a:xfrm>
            <a:off x="347472" y="4343400"/>
            <a:ext cx="5577840" cy="178308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404872" y="4187952"/>
            <a:ext cx="14630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대조군</a:t>
            </a:r>
          </a:p>
        </p:txBody>
      </p:sp>
      <p:sp>
        <p:nvSpPr>
          <p:cNvPr id="21" name="TextBox 20"/>
          <p:cNvSpPr txBox="1"/>
          <p:nvPr/>
        </p:nvSpPr>
        <p:spPr>
          <a:xfrm>
            <a:off x="457200" y="4553712"/>
            <a:ext cx="5394960" cy="1554480"/>
          </a:xfrm>
          <a:prstGeom prst="rect">
            <a:avLst/>
          </a:prstGeom>
          <a:noFill/>
        </p:spPr>
        <p:txBody>
          <a:bodyPr wrap="square" lIns="45720" tIns="27432" rIns="45720" bIns="27432" anchor="t">
            <a:spAutoFit/>
          </a:bodyPr>
          <a:lstStyle/>
          <a:p>
            <a:pPr algn="l">
              <a:spcAft>
                <a:spcPts val="300"/>
              </a:spcAft>
            </a:pPr>
            <a:r>
              <a:rPr sz="1000" b="0">
                <a:solidFill>
                  <a:srgbClr val="404040"/>
                </a:solidFill>
                <a:latin typeface="맑은 고딕"/>
                <a:ea typeface="맑은 고딕"/>
                <a:cs typeface="맑은 고딕"/>
              </a:rPr>
              <a:t>• (a) 재사용 없이 Full Prefill</a:t>
            </a:r>
          </a:p>
          <a:p>
            <a:pPr algn="l">
              <a:spcAft>
                <a:spcPts val="300"/>
              </a:spcAft>
            </a:pPr>
            <a:r>
              <a:rPr sz="1000" b="0">
                <a:solidFill>
                  <a:srgbClr val="404040"/>
                </a:solidFill>
                <a:latin typeface="맑은 고딕"/>
                <a:ea typeface="맑은 고딕"/>
                <a:cs typeface="맑은 고딕"/>
              </a:rPr>
              <a:t>• (b) 2안 원형 (보완 없음)</a:t>
            </a:r>
          </a:p>
          <a:p>
            <a:pPr algn="l">
              <a:spcAft>
                <a:spcPts val="300"/>
              </a:spcAft>
            </a:pPr>
            <a:r>
              <a:rPr sz="1000" b="0">
                <a:solidFill>
                  <a:srgbClr val="404040"/>
                </a:solidFill>
                <a:latin typeface="맑은 고딕"/>
                <a:ea typeface="맑은 고딕"/>
                <a:cs typeface="맑은 고딕"/>
              </a:rPr>
              <a:t>• (c) 2안 + 보완 전체, 그리고 기법 하나씩 제거한 변형</a:t>
            </a:r>
          </a:p>
          <a:p>
            <a:pPr algn="l">
              <a:spcAft>
                <a:spcPts val="300"/>
              </a:spcAft>
            </a:pPr>
            <a:r>
              <a:rPr sz="1000" b="0">
                <a:solidFill>
                  <a:srgbClr val="404040"/>
                </a:solidFill>
                <a:latin typeface="맑은 고딕"/>
                <a:ea typeface="맑은 고딕"/>
                <a:cs typeface="맑은 고딕"/>
              </a:rPr>
              <a:t>• 실행 시점·DP1 구성을 고정해 병기 (원본 §2.3 원칙)</a:t>
            </a:r>
          </a:p>
        </p:txBody>
      </p:sp>
      <p:sp>
        <p:nvSpPr>
          <p:cNvPr id="22" name="Rectangle 21"/>
          <p:cNvSpPr/>
          <p:nvPr/>
        </p:nvSpPr>
        <p:spPr>
          <a:xfrm>
            <a:off x="6172200" y="4343400"/>
            <a:ext cx="5577840" cy="178308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589520" y="4187952"/>
            <a:ext cx="274320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남은 위험과 열린 질문</a:t>
            </a:r>
          </a:p>
        </p:txBody>
      </p:sp>
      <p:sp>
        <p:nvSpPr>
          <p:cNvPr id="24" name="TextBox 23"/>
          <p:cNvSpPr txBox="1"/>
          <p:nvPr/>
        </p:nvSpPr>
        <p:spPr>
          <a:xfrm>
            <a:off x="6281928" y="4553712"/>
            <a:ext cx="5394960" cy="1554480"/>
          </a:xfrm>
          <a:prstGeom prst="rect">
            <a:avLst/>
          </a:prstGeom>
          <a:noFill/>
        </p:spPr>
        <p:txBody>
          <a:bodyPr wrap="square" lIns="45720" tIns="27432" rIns="45720" bIns="27432" anchor="t">
            <a:spAutoFit/>
          </a:bodyPr>
          <a:lstStyle/>
          <a:p>
            <a:pPr algn="l">
              <a:spcAft>
                <a:spcPts val="300"/>
              </a:spcAft>
            </a:pPr>
            <a:r>
              <a:rPr sz="1000" b="0">
                <a:solidFill>
                  <a:srgbClr val="404040"/>
                </a:solidFill>
                <a:latin typeface="맑은 고딕"/>
                <a:ea typeface="맑은 고딕"/>
                <a:cs typeface="맑은 고딕"/>
              </a:rPr>
              <a:t>• HBM 상주 Context에서는 M2 효과가 거의 없음 → 효과 범위를 tier 구성별로 명시</a:t>
            </a:r>
          </a:p>
          <a:p>
            <a:pPr algn="l">
              <a:spcAft>
                <a:spcPts val="300"/>
              </a:spcAft>
            </a:pPr>
            <a:r>
              <a:rPr sz="1000" b="0">
                <a:solidFill>
                  <a:srgbClr val="404040"/>
                </a:solidFill>
                <a:latin typeface="맑은 고딕"/>
                <a:ea typeface="맑은 고딕"/>
                <a:cs typeface="맑은 고딕"/>
              </a:rPr>
              <a:t>• 레이어 간 선정 재사용 가정(M2)이 깨지면 정확도 손실</a:t>
            </a:r>
          </a:p>
          <a:p>
            <a:pPr algn="l">
              <a:spcAft>
                <a:spcPts val="300"/>
              </a:spcAft>
            </a:pPr>
            <a:r>
              <a:rPr sz="1000" b="0">
                <a:solidFill>
                  <a:srgbClr val="404040"/>
                </a:solidFill>
                <a:latin typeface="맑은 고딕"/>
                <a:ea typeface="맑은 고딕"/>
                <a:cs typeface="맑은 고딕"/>
              </a:rPr>
              <a:t>• 배치 윈도우 지연이 M3 이득을 상쇄할 수 있음</a:t>
            </a:r>
          </a:p>
          <a:p>
            <a:pPr algn="l">
              <a:spcAft>
                <a:spcPts val="300"/>
              </a:spcAft>
            </a:pPr>
            <a:r>
              <a:rPr sz="1000" b="0">
                <a:solidFill>
                  <a:srgbClr val="404040"/>
                </a:solidFill>
                <a:latin typeface="맑은 고딕"/>
                <a:ea typeface="맑은 고딕"/>
                <a:cs typeface="맑은 고딕"/>
              </a:rPr>
              <a:t>• Selection Memo(선정 결과 캐시)는 유사 Query ↔ 선정 일치율 상관이 미검증이라 기본 구성에서 제외</a:t>
            </a:r>
          </a:p>
        </p:txBody>
      </p:sp>
      <p:sp>
        <p:nvSpPr>
          <p:cNvPr id="25" name="TextBox 24"/>
          <p:cNvSpPr txBox="1"/>
          <p:nvPr/>
        </p:nvSpPr>
        <p:spPr>
          <a:xfrm>
            <a:off x="365760" y="6172200"/>
            <a:ext cx="11430000" cy="365760"/>
          </a:xfrm>
          <a:prstGeom prst="rect">
            <a:avLst/>
          </a:prstGeom>
          <a:noFill/>
        </p:spPr>
        <p:txBody>
          <a:bodyPr wrap="square" lIns="45720" tIns="27432" rIns="45720" bIns="27432" anchor="t">
            <a:spAutoFit/>
          </a:bodyPr>
          <a:lstStyle/>
          <a:p>
            <a:pPr algn="l">
              <a:spcAft>
                <a:spcPts val="200"/>
              </a:spcAft>
            </a:pPr>
            <a:r>
              <a:rPr sz="1000" b="1">
                <a:solidFill>
                  <a:srgbClr val="0066FF"/>
                </a:solidFill>
                <a:latin typeface="맑은 고딕"/>
                <a:ea typeface="맑은 고딕"/>
                <a:cs typeface="맑은 고딕"/>
              </a:rPr>
              <a:t>모든 항목은 구조 논증 [C]이며 prototype/시뮬레이션 전까지 가설. 수치 목표는 통합 단계에서 임계값 확정 후 기입</a:t>
            </a:r>
          </a:p>
        </p:txBody>
      </p:sp>
      <p:sp>
        <p:nvSpPr>
          <p:cNvPr id="26" name="TextBox 25"/>
          <p:cNvSpPr txBox="1"/>
          <p:nvPr/>
        </p:nvSpPr>
        <p:spPr>
          <a:xfrm>
            <a:off x="274320" y="6601968"/>
            <a:ext cx="4983480" cy="228600"/>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출처: doc-mk/DP3/dp3-kv-compression-reuse-structure-draft.md. 효과는 모두 [가설], 문헌 [B]</a:t>
            </a:r>
          </a:p>
        </p:txBody>
      </p:sp>
      <p:sp>
        <p:nvSpPr>
          <p:cNvPr id="27" name="TextBox 26"/>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5</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DP4. 비일관 CXL 공유 메모리의 KV 일관성 구조 – 배경</a:t>
            </a:r>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155</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0624" y="1920240"/>
            <a:ext cx="11338560" cy="274320"/>
          </a:xfrm>
          <a:prstGeom prst="rect">
            <a:avLst/>
          </a:prstGeom>
          <a:noFill/>
          <a:ln>
            <a:noFill/>
          </a:ln>
        </p:spPr>
        <p:txBody>
          <a:bodyPr wrap="square" lIns="9144" tIns="7315" rIns="9144" bIns="7315" anchor="ctr">
            <a:normAutofit/>
          </a:bodyPr>
          <a:lstStyle/>
          <a:p>
            <a:pPr algn="l">
              <a:lnSpc>
                <a:spcPct val="90000"/>
              </a:lnSpc>
            </a:pPr>
            <a:r>
              <a:rPr lang="ko-KR" sz="1200" b="1">
                <a:solidFill>
                  <a:srgbClr val="0066FF"/>
                </a:solidFill>
                <a:latin typeface="맑은 고딕"/>
              </a:rPr>
              <a:t>→ 공유 풀을 전제로 하면 남는 문제는 KV 블록·메타데이터의 일관성이며, 그 책임을 누가 지는가가 설계 쟁점</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67299"/>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68680"/>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DP2는 P/D 노드 선택을 비용으로 최적화하지만 노드 간 KV 전송 비용 자체는 줄이지 못함 (Turn마다 P↔D 왕복 누적)</a:t>
            </a:r>
          </a:p>
          <a:p>
            <a:pPr marL="285750" indent="-285750">
              <a:lnSpc>
                <a:spcPct val="150000"/>
              </a:lnSpc>
              <a:buFontTx/>
              <a:buChar char="-"/>
            </a:pPr>
            <a:r>
              <a:rPr lang="en-US" altLang="ko-KR" sz="1200" dirty="0">
                <a:solidFill>
                  <a:srgbClr val="404040"/>
                </a:solidFill>
                <a:latin typeface="맑은 고딕" panose="020B0503020000020004" pitchFamily="50" charset="-127"/>
              </a:rPr>
              <a:t>전송을 줄이는 방법은 점대점 전송과 공유 풀이 있고 성능은 구조보다 전송 매체가 좌우함: CXL 공유 풀(복사 대신 load/store)을 TraCT·Beluga가 보고 [B]</a:t>
            </a:r>
          </a:p>
          <a:p>
            <a:pPr marL="285750" indent="-285750">
              <a:lnSpc>
                <a:spcPct val="150000"/>
              </a:lnSpc>
              <a:buFontTx/>
              <a:buChar char="-"/>
            </a:pPr>
            <a:r>
              <a:rPr lang="en-US" altLang="ko-KR" sz="1200" dirty="0">
                <a:solidFill>
                  <a:srgbClr val="404040"/>
                </a:solidFill>
                <a:latin typeface="맑은 고딕" panose="020B0503020000020004" pitchFamily="50" charset="-127"/>
              </a:rPr>
              <a:t>그러나 CXL 2.0 공유 풀은 호스트 간 캐시 일관성도, cross-node atomic도 제공하지 않음: 한 노드의 쓰기가 다른 노드에 안 보이고 락도 못 잡음</a:t>
            </a:r>
          </a:p>
        </p:txBody>
      </p:sp>
      <p:sp>
        <p:nvSpPr>
          <p:cNvPr id="166" name="Text 22"/>
          <p:cNvSpPr/>
          <p:nvPr/>
        </p:nvSpPr>
        <p:spPr>
          <a:xfrm>
            <a:off x="383682" y="5989320"/>
            <a:ext cx="11312059" cy="594360"/>
          </a:xfrm>
          <a:prstGeom prst="rect">
            <a:avLst/>
          </a:prstGeom>
          <a:noFill/>
          <a:ln/>
        </p:spPr>
        <p:txBody>
          <a:bodyPr wrap="square" lIns="0" tIns="0" rIns="0" bIns="0" rtlCol="0" anchor="t"/>
          <a:lstStyle/>
          <a:p>
            <a:pPr marL="228600" indent="-228600">
              <a:lnSpc>
                <a:spcPct val="125000"/>
              </a:lnSpc>
              <a:buAutoNum type="arabicPeriod"/>
            </a:pPr>
            <a:r>
              <a:rPr lang="ko-KR" sz="1200">
                <a:solidFill>
                  <a:srgbClr val="404040"/>
                </a:solidFill>
                <a:latin typeface="맑은 고딕"/>
              </a:rPr>
              <a:t>비일관 CXL 공유 풀에서 prefix index·refcount·allocator 같은 메타데이터의 일관성 책임을 중앙 서버가 질 것인가, 분산 락으로 노드가 나눠 질 것인가?</a:t>
            </a:r>
            <a:endParaRPr lang="en-US" altLang="ko-KR" sz="1200" dirty="0"/>
          </a:p>
          <a:p>
            <a:pPr marL="228600" indent="-228600">
              <a:lnSpc>
                <a:spcPct val="125000"/>
              </a:lnSpc>
              <a:buAutoNum type="arabicPeriod"/>
            </a:pPr>
            <a:r>
              <a:rPr lang="ko-KR" sz="1200">
                <a:solidFill>
                  <a:srgbClr val="404040"/>
                </a:solidFill>
                <a:latin typeface="맑은 고딕"/>
              </a:rPr>
              <a:t>페이로드 가시성(DMA·flush)과 메타데이터 일관성을 어떻게 분리해 최소 비용으로 보장할 것인가?</a:t>
            </a:r>
            <a:endParaRPr lang="en-US" altLang="ko-KR" sz="1200" dirty="0"/>
          </a:p>
        </p:txBody>
      </p:sp>
      <p:sp>
        <p:nvSpPr>
          <p:cNvPr id="9062" name="Rectangle 9061"/>
          <p:cNvSpPr/>
          <p:nvPr/>
        </p:nvSpPr>
        <p:spPr>
          <a:xfrm>
            <a:off x="411480" y="2331720"/>
            <a:ext cx="5440680" cy="1920240"/>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ounded Rectangle 9062"/>
          <p:cNvSpPr/>
          <p:nvPr/>
        </p:nvSpPr>
        <p:spPr>
          <a:xfrm>
            <a:off x="521208" y="2404872"/>
            <a:ext cx="356616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a:solidFill>
                  <a:srgbClr val="FFFFFF"/>
                </a:solidFill>
                <a:latin typeface="맑은 고딕"/>
                <a:ea typeface="맑은 고딕"/>
              </a:rPr>
              <a:t>As-Is: 노드 간 KV 복사 (DP2의 한계)</a:t>
            </a:r>
          </a:p>
        </p:txBody>
      </p:sp>
      <p:sp>
        <p:nvSpPr>
          <p:cNvPr id="9064" name="Rectangle 9063"/>
          <p:cNvSpPr/>
          <p:nvPr/>
        </p:nvSpPr>
        <p:spPr>
          <a:xfrm>
            <a:off x="6355080" y="2331720"/>
            <a:ext cx="5440680" cy="1920240"/>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5" name="Rounded Rectangle 9064"/>
          <p:cNvSpPr/>
          <p:nvPr/>
        </p:nvSpPr>
        <p:spPr>
          <a:xfrm>
            <a:off x="6464808" y="2404872"/>
            <a:ext cx="3566160"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a:solidFill>
                  <a:srgbClr val="FFFFFF"/>
                </a:solidFill>
                <a:latin typeface="맑은 고딕"/>
                <a:ea typeface="맑은 고딕"/>
              </a:rPr>
              <a:t>공유 풀이 풀어도 남는 것: 비일관성</a:t>
            </a:r>
          </a:p>
        </p:txBody>
      </p:sp>
      <p:sp>
        <p:nvSpPr>
          <p:cNvPr id="9066" name="Right Arrow 9065"/>
          <p:cNvSpPr/>
          <p:nvPr/>
        </p:nvSpPr>
        <p:spPr>
          <a:xfrm>
            <a:off x="5943600" y="3063239"/>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594360" y="2834639"/>
            <a:ext cx="100584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1" i="0">
                <a:solidFill>
                  <a:srgbClr val="000000"/>
                </a:solidFill>
                <a:latin typeface="맑은 고딕"/>
                <a:ea typeface="맑은 고딕"/>
              </a:rPr>
              <a:t>P 노드</a:t>
            </a:r>
          </a:p>
          <a:p>
            <a:pPr algn="ctr"/>
            <a:r>
              <a:rPr sz="800" b="0" i="0">
                <a:solidFill>
                  <a:srgbClr val="000000"/>
                </a:solidFill>
                <a:latin typeface="맑은 고딕"/>
                <a:ea typeface="맑은 고딕"/>
              </a:rPr>
              <a:t>Prefill</a:t>
            </a:r>
          </a:p>
        </p:txBody>
      </p:sp>
      <p:sp>
        <p:nvSpPr>
          <p:cNvPr id="9068" name="Rectangle 9067"/>
          <p:cNvSpPr/>
          <p:nvPr/>
        </p:nvSpPr>
        <p:spPr>
          <a:xfrm>
            <a:off x="4526280" y="2834639"/>
            <a:ext cx="100584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1" i="0">
                <a:solidFill>
                  <a:srgbClr val="000000"/>
                </a:solidFill>
                <a:latin typeface="맑은 고딕"/>
                <a:ea typeface="맑은 고딕"/>
              </a:rPr>
              <a:t>D 노드</a:t>
            </a:r>
          </a:p>
          <a:p>
            <a:pPr algn="ctr"/>
            <a:r>
              <a:rPr sz="800" b="0" i="0">
                <a:solidFill>
                  <a:srgbClr val="000000"/>
                </a:solidFill>
                <a:latin typeface="맑은 고딕"/>
                <a:ea typeface="맑은 고딕"/>
              </a:rPr>
              <a:t>Decode</a:t>
            </a:r>
          </a:p>
        </p:txBody>
      </p:sp>
      <p:cxnSp>
        <p:nvCxnSpPr>
          <p:cNvPr id="9069" name="Connector 9068"/>
          <p:cNvCxnSpPr/>
          <p:nvPr/>
        </p:nvCxnSpPr>
        <p:spPr>
          <a:xfrm>
            <a:off x="1600200" y="2990087"/>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0" name="TextBox 9069"/>
          <p:cNvSpPr txBox="1"/>
          <p:nvPr/>
        </p:nvSpPr>
        <p:spPr>
          <a:xfrm>
            <a:off x="1645919" y="2880360"/>
            <a:ext cx="274320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Turn 1: KV 전송 (P→D)</a:t>
            </a:r>
          </a:p>
        </p:txBody>
      </p:sp>
      <p:cxnSp>
        <p:nvCxnSpPr>
          <p:cNvPr id="9071" name="Connector 9070"/>
          <p:cNvCxnSpPr/>
          <p:nvPr/>
        </p:nvCxnSpPr>
        <p:spPr>
          <a:xfrm flipH="1">
            <a:off x="1600200" y="3163823"/>
            <a:ext cx="292608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72" name="TextBox 9071"/>
          <p:cNvSpPr txBox="1"/>
          <p:nvPr/>
        </p:nvSpPr>
        <p:spPr>
          <a:xfrm>
            <a:off x="1645919" y="3054096"/>
            <a:ext cx="2743200" cy="128016"/>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Turn 2: History KV 전송 (D→P)</a:t>
            </a:r>
          </a:p>
        </p:txBody>
      </p:sp>
      <p:cxnSp>
        <p:nvCxnSpPr>
          <p:cNvPr id="9073" name="Connector 9072"/>
          <p:cNvCxnSpPr/>
          <p:nvPr/>
        </p:nvCxnSpPr>
        <p:spPr>
          <a:xfrm>
            <a:off x="1600200" y="3337559"/>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4" name="TextBox 9073"/>
          <p:cNvSpPr txBox="1"/>
          <p:nvPr/>
        </p:nvSpPr>
        <p:spPr>
          <a:xfrm>
            <a:off x="1645919" y="3227832"/>
            <a:ext cx="274320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Turn 2: 결과 KV 전송 (P→D)</a:t>
            </a:r>
          </a:p>
        </p:txBody>
      </p:sp>
      <p:sp>
        <p:nvSpPr>
          <p:cNvPr id="9075" name="TextBox 9074"/>
          <p:cNvSpPr txBox="1"/>
          <p:nvPr/>
        </p:nvSpPr>
        <p:spPr>
          <a:xfrm>
            <a:off x="594360" y="3547872"/>
            <a:ext cx="5029200" cy="146304"/>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누적 전송: Turn 1 → 1회, Turn 2 → 3회, Turn 3 → 5회 (DP2 슬라이드의 Turn 예시)</a:t>
            </a:r>
          </a:p>
        </p:txBody>
      </p:sp>
      <p:sp>
        <p:nvSpPr>
          <p:cNvPr id="9076" name="TextBox 9075"/>
          <p:cNvSpPr txBox="1"/>
          <p:nvPr/>
        </p:nvSpPr>
        <p:spPr>
          <a:xfrm>
            <a:off x="594360" y="3749039"/>
            <a:ext cx="5120640" cy="457200"/>
          </a:xfrm>
          <a:prstGeom prst="rect">
            <a:avLst/>
          </a:prstGeom>
          <a:noFill/>
        </p:spPr>
        <p:txBody>
          <a:bodyPr wrap="square" lIns="0" tIns="0" rIns="0" bIns="0" anchor="t">
            <a:spAutoFit/>
          </a:bodyPr>
          <a:lstStyle/>
          <a:p>
            <a:pPr algn="l"/>
            <a:r>
              <a:rPr sz="850" b="1" i="0">
                <a:solidFill>
                  <a:srgbClr val="C00000"/>
                </a:solidFill>
                <a:latin typeface="맑은 고딕"/>
                <a:ea typeface="맑은 고딕"/>
              </a:rPr>
              <a:t>Tmove 자체는 그대로, Turn과 History KV가 커질수록 누적</a:t>
            </a:r>
          </a:p>
          <a:p>
            <a:pPr algn="l"/>
            <a:r>
              <a:rPr sz="850" b="0" i="0">
                <a:solidFill>
                  <a:srgbClr val="404040"/>
                </a:solidFill>
                <a:latin typeface="맑은 고딕"/>
                <a:ea typeface="맑은 고딕"/>
              </a:rPr>
              <a:t>→ CXL 공유 풀은 복사 대신 load/store로 이 전송을 없앰 (문헌 [B])</a:t>
            </a:r>
          </a:p>
        </p:txBody>
      </p:sp>
      <p:sp>
        <p:nvSpPr>
          <p:cNvPr id="9077" name="Rectangle 9076"/>
          <p:cNvSpPr/>
          <p:nvPr/>
        </p:nvSpPr>
        <p:spPr>
          <a:xfrm>
            <a:off x="6492240" y="2834639"/>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1" i="0">
                <a:solidFill>
                  <a:srgbClr val="000000"/>
                </a:solidFill>
                <a:latin typeface="맑은 고딕"/>
                <a:ea typeface="맑은 고딕"/>
              </a:rPr>
              <a:t>노드 A</a:t>
            </a:r>
          </a:p>
          <a:p>
            <a:pPr algn="ctr"/>
            <a:r>
              <a:rPr sz="800" b="0" i="0">
                <a:solidFill>
                  <a:srgbClr val="000000"/>
                </a:solidFill>
                <a:latin typeface="맑은 고딕"/>
                <a:ea typeface="맑은 고딕"/>
              </a:rPr>
              <a:t>쓰기</a:t>
            </a:r>
          </a:p>
        </p:txBody>
      </p:sp>
      <p:sp>
        <p:nvSpPr>
          <p:cNvPr id="9078" name="Rectangle 9077"/>
          <p:cNvSpPr/>
          <p:nvPr/>
        </p:nvSpPr>
        <p:spPr>
          <a:xfrm>
            <a:off x="10515600" y="2834639"/>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1" i="0">
                <a:solidFill>
                  <a:srgbClr val="000000"/>
                </a:solidFill>
                <a:latin typeface="맑은 고딕"/>
                <a:ea typeface="맑은 고딕"/>
              </a:rPr>
              <a:t>노드 B</a:t>
            </a:r>
          </a:p>
          <a:p>
            <a:pPr algn="ctr"/>
            <a:r>
              <a:rPr sz="800" b="0" i="0">
                <a:solidFill>
                  <a:srgbClr val="000000"/>
                </a:solidFill>
                <a:latin typeface="맑은 고딕"/>
                <a:ea typeface="맑은 고딕"/>
              </a:rPr>
              <a:t>읽기</a:t>
            </a:r>
          </a:p>
        </p:txBody>
      </p:sp>
      <p:sp>
        <p:nvSpPr>
          <p:cNvPr id="9079" name="Rectangle 9078"/>
          <p:cNvSpPr/>
          <p:nvPr/>
        </p:nvSpPr>
        <p:spPr>
          <a:xfrm>
            <a:off x="8001000" y="2743199"/>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a:solidFill>
                  <a:srgbClr val="000000"/>
                </a:solidFill>
                <a:latin typeface="맑은 고딕"/>
                <a:ea typeface="맑은 고딕"/>
              </a:rPr>
              <a:t>CXL 공유 풀</a:t>
            </a:r>
          </a:p>
          <a:p>
            <a:pPr algn="ctr"/>
            <a:r>
              <a:rPr sz="650" b="0" i="0">
                <a:solidFill>
                  <a:srgbClr val="C00000"/>
                </a:solidFill>
                <a:latin typeface="맑은 고딕"/>
                <a:ea typeface="맑은 고딕"/>
              </a:rPr>
              <a:t>호스트 간 캐시 일관성 없음</a:t>
            </a:r>
          </a:p>
          <a:p>
            <a:pPr algn="ctr"/>
            <a:r>
              <a:rPr sz="650" b="0" i="0">
                <a:solidFill>
                  <a:srgbClr val="C00000"/>
                </a:solidFill>
                <a:latin typeface="맑은 고딕"/>
                <a:ea typeface="맑은 고딕"/>
              </a:rPr>
              <a:t>cross-node atomic 없음</a:t>
            </a:r>
          </a:p>
        </p:txBody>
      </p:sp>
      <p:cxnSp>
        <p:nvCxnSpPr>
          <p:cNvPr id="9080" name="Connector 9079"/>
          <p:cNvCxnSpPr/>
          <p:nvPr/>
        </p:nvCxnSpPr>
        <p:spPr>
          <a:xfrm>
            <a:off x="7315200" y="2971799"/>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9081" name="Connector 9080"/>
          <p:cNvCxnSpPr/>
          <p:nvPr/>
        </p:nvCxnSpPr>
        <p:spPr>
          <a:xfrm>
            <a:off x="9829800" y="2971799"/>
            <a:ext cx="68580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82" name="TextBox 9081"/>
          <p:cNvSpPr txBox="1"/>
          <p:nvPr/>
        </p:nvSpPr>
        <p:spPr>
          <a:xfrm>
            <a:off x="7315200" y="2807208"/>
            <a:ext cx="777240" cy="128016"/>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write</a:t>
            </a:r>
          </a:p>
        </p:txBody>
      </p:sp>
      <p:sp>
        <p:nvSpPr>
          <p:cNvPr id="9083" name="TextBox 9082"/>
          <p:cNvSpPr txBox="1"/>
          <p:nvPr/>
        </p:nvSpPr>
        <p:spPr>
          <a:xfrm>
            <a:off x="9829800" y="2807208"/>
            <a:ext cx="685800" cy="128016"/>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stale read?</a:t>
            </a:r>
          </a:p>
        </p:txBody>
      </p:sp>
      <p:sp>
        <p:nvSpPr>
          <p:cNvPr id="9084" name="TextBox 9083"/>
          <p:cNvSpPr txBox="1"/>
          <p:nvPr/>
        </p:nvSpPr>
        <p:spPr>
          <a:xfrm>
            <a:off x="6492240" y="3547872"/>
            <a:ext cx="5120640" cy="146304"/>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한 노드의 쓰기가 다른 노드 캐시에 자동으로 보이지 않고, 락도 하드웨어가 못 줌</a:t>
            </a:r>
          </a:p>
        </p:txBody>
      </p:sp>
      <p:sp>
        <p:nvSpPr>
          <p:cNvPr id="9085" name="TextBox 9084"/>
          <p:cNvSpPr txBox="1"/>
          <p:nvPr/>
        </p:nvSpPr>
        <p:spPr>
          <a:xfrm>
            <a:off x="6492240" y="3749039"/>
            <a:ext cx="5120640" cy="457200"/>
          </a:xfrm>
          <a:prstGeom prst="rect">
            <a:avLst/>
          </a:prstGeom>
          <a:noFill/>
        </p:spPr>
        <p:txBody>
          <a:bodyPr wrap="square" lIns="0" tIns="0" rIns="0" bIns="0" anchor="t">
            <a:spAutoFit/>
          </a:bodyPr>
          <a:lstStyle/>
          <a:p>
            <a:pPr algn="l"/>
            <a:r>
              <a:rPr sz="850" b="1" i="0">
                <a:solidFill>
                  <a:srgbClr val="375623"/>
                </a:solidFill>
                <a:latin typeface="맑은 고딕"/>
                <a:ea typeface="맑은 고딕"/>
              </a:rPr>
              <a:t>세 층: ① 페이로드 가시성  ② 메타데이터 일관성  ③ 상호 배제</a:t>
            </a:r>
          </a:p>
          <a:p>
            <a:pPr algn="l"/>
            <a:r>
              <a:rPr sz="850" b="0" i="0">
                <a:solidFill>
                  <a:srgbClr val="404040"/>
                </a:solidFill>
                <a:latin typeface="맑은 고딕"/>
                <a:ea typeface="맑은 고딕"/>
              </a:rPr>
              <a:t>→ ①은 두 논문이 거의 같게 풀었고, ②③ 책임 구조가 후보를 가름</a:t>
            </a:r>
          </a:p>
        </p:txBody>
      </p:sp>
      <p:sp>
        <p:nvSpPr>
          <p:cNvPr id="9086" name="TextBox 9085"/>
          <p:cNvSpPr txBox="1"/>
          <p:nvPr/>
        </p:nvSpPr>
        <p:spPr>
          <a:xfrm>
            <a:off x="411480" y="4370832"/>
            <a:ext cx="7315200" cy="164592"/>
          </a:xfrm>
          <a:prstGeom prst="rect">
            <a:avLst/>
          </a:prstGeom>
          <a:noFill/>
        </p:spPr>
        <p:txBody>
          <a:bodyPr wrap="square" lIns="0" tIns="0" rIns="0" bIns="0" anchor="t">
            <a:spAutoFit/>
          </a:bodyPr>
          <a:lstStyle/>
          <a:p>
            <a:pPr algn="l"/>
            <a:r>
              <a:rPr sz="850" b="1" i="0">
                <a:solidFill>
                  <a:srgbClr val="404040"/>
                </a:solidFill>
                <a:latin typeface="맑은 고딕"/>
                <a:ea typeface="맑은 고딕"/>
              </a:rPr>
              <a:t>KV 전송 한계를 푸는 세 가지 방법</a:t>
            </a:r>
          </a:p>
        </p:txBody>
      </p:sp>
      <p:sp>
        <p:nvSpPr>
          <p:cNvPr id="9087" name="Rounded Rectangle 9086"/>
          <p:cNvSpPr/>
          <p:nvPr/>
        </p:nvSpPr>
        <p:spPr>
          <a:xfrm>
            <a:off x="411480" y="4590288"/>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a:solidFill>
                  <a:srgbClr val="000000"/>
                </a:solidFill>
                <a:latin typeface="맑은 고딕"/>
                <a:ea typeface="맑은 고딕"/>
              </a:rPr>
              <a:t>DP3  바이트를 줄인다</a:t>
            </a:r>
          </a:p>
          <a:p>
            <a:pPr algn="ctr"/>
            <a:r>
              <a:rPr sz="750" b="0" i="0">
                <a:solidFill>
                  <a:srgbClr val="000000"/>
                </a:solidFill>
                <a:latin typeface="맑은 고딕"/>
                <a:ea typeface="맑은 고딕"/>
              </a:rPr>
              <a:t>KV 압축·재사용 (Comp.KV, 선택 재계산)</a:t>
            </a:r>
          </a:p>
        </p:txBody>
      </p:sp>
      <p:sp>
        <p:nvSpPr>
          <p:cNvPr id="9088" name="TextBox 9087"/>
          <p:cNvSpPr txBox="1"/>
          <p:nvPr/>
        </p:nvSpPr>
        <p:spPr>
          <a:xfrm>
            <a:off x="3813048" y="4736592"/>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89" name="Rounded Rectangle 9088"/>
          <p:cNvSpPr/>
          <p:nvPr/>
        </p:nvSpPr>
        <p:spPr>
          <a:xfrm>
            <a:off x="4251960" y="4590288"/>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a:solidFill>
                  <a:srgbClr val="000000"/>
                </a:solidFill>
                <a:latin typeface="맑은 고딕"/>
                <a:ea typeface="맑은 고딕"/>
              </a:rPr>
              <a:t>DP2  위치를 고른다</a:t>
            </a:r>
          </a:p>
          <a:p>
            <a:pPr algn="ctr"/>
            <a:r>
              <a:rPr sz="750" b="0" i="0">
                <a:solidFill>
                  <a:srgbClr val="000000"/>
                </a:solidFill>
                <a:latin typeface="맑은 고딕"/>
                <a:ea typeface="맑은 고딕"/>
              </a:rPr>
              <a:t>비용 기반 P/D 노드 선택</a:t>
            </a:r>
          </a:p>
        </p:txBody>
      </p:sp>
      <p:sp>
        <p:nvSpPr>
          <p:cNvPr id="9090" name="TextBox 9089"/>
          <p:cNvSpPr txBox="1"/>
          <p:nvPr/>
        </p:nvSpPr>
        <p:spPr>
          <a:xfrm>
            <a:off x="7653528" y="4736592"/>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91" name="Rounded Rectangle 9090"/>
          <p:cNvSpPr/>
          <p:nvPr/>
        </p:nvSpPr>
        <p:spPr>
          <a:xfrm>
            <a:off x="8092440" y="4590288"/>
            <a:ext cx="3383280" cy="566928"/>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a:solidFill>
                  <a:srgbClr val="000000"/>
                </a:solidFill>
                <a:latin typeface="맑은 고딕"/>
                <a:ea typeface="맑은 고딕"/>
              </a:rPr>
              <a:t>DP4  공유를 안전하게 한다</a:t>
            </a:r>
          </a:p>
          <a:p>
            <a:pPr algn="ctr"/>
            <a:r>
              <a:rPr sz="750" b="0" i="0">
                <a:solidFill>
                  <a:srgbClr val="000000"/>
                </a:solidFill>
                <a:latin typeface="맑은 고딕"/>
                <a:ea typeface="맑은 고딕"/>
              </a:rPr>
              <a:t>비일관 CXL 풀의 KV·메타데이터 일관성 (본 DP)</a:t>
            </a:r>
          </a:p>
        </p:txBody>
      </p:sp>
      <p:sp>
        <p:nvSpPr>
          <p:cNvPr id="9092" name="TextBox 9091"/>
          <p:cNvSpPr txBox="1"/>
          <p:nvPr/>
        </p:nvSpPr>
        <p:spPr>
          <a:xfrm>
            <a:off x="411480" y="5394960"/>
            <a:ext cx="11338560" cy="164592"/>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 현재 환경에는 CXL 공유 풀이 없어 시뮬레이션 + 구조 논증 + 프로토콜 모델 체크로 평가 (실측 [A] 아님, [B+C]). 락 상수 등은 가정 값이며 공개</a:t>
            </a:r>
          </a:p>
        </p:txBody>
      </p:sp>
      <p:sp>
        <p:nvSpPr>
          <p:cNvPr id="9093" name="TextBox 9092"/>
          <p:cNvSpPr txBox="1"/>
          <p:nvPr/>
        </p:nvSpPr>
        <p:spPr>
          <a:xfrm>
            <a:off x="411480" y="5230368"/>
            <a:ext cx="11338560" cy="164592"/>
          </a:xfrm>
          <a:prstGeom prst="rect">
            <a:avLst/>
          </a:prstGeom>
          <a:noFill/>
        </p:spPr>
        <p:txBody>
          <a:bodyPr wrap="square" lIns="0" tIns="0" rIns="0" bIns="0" anchor="t">
            <a:spAutoFit/>
          </a:bodyPr>
          <a:lstStyle/>
          <a:p>
            <a:pPr algn="l"/>
            <a:r>
              <a:rPr sz="700" b="0" i="0">
                <a:solidFill>
                  <a:srgbClr val="7F7F7F"/>
                </a:solidFill>
                <a:latin typeface="맑은 고딕"/>
                <a:ea typeface="맑은 고딕"/>
              </a:rPr>
              <a:t>(세 방법은 보완 관계: DP3로 전송량을 줄이고, DP2로 위치를 고르고, DP4로 공유 풀을 정확하게 만듦)</a:t>
            </a:r>
          </a:p>
        </p:txBody>
      </p:sp>
    </p:spTree>
    <p:extLst>
      <p:ext uri="{BB962C8B-B14F-4D97-AF65-F5344CB8AC3E}">
        <p14:creationId xmlns:p14="http://schemas.microsoft.com/office/powerpoint/2010/main" val="114308790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45510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(C1) 중앙 직렬화 구조 (Central Metadata Server)</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(C2) 분산 락 구조 (Distributed Lock)</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락·원자 연산이 필요 없어 정확성 논증이 단순</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메타데이터 연산이 한 곳에서 직렬화되어 인덱스·refcount 일관성이 자연스러움</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서버 한 곳을 거치지 않아 SPOF·병목이 없고 노드 수에 따른 확장 여지</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공유 메모리 직접 접근으로 control plane 지연이 작음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서버가 SPOF이자 확장 한계 (서버 처리량 상한), 장애 시 복구 설계 필요, CXL RPC는 신뢰성 보장이 약함</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락 매니저 스캔 비용이 노드·슬롯 수에 비례, 락 보유 노드 장애 시 정체, clflush 누락 같은 가시성 버그 위험</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Scalability</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Scalability</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DP4. 비일관 CXL 공유 메모리의 KV 일관성 구조 – 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메타데이터 일관성 책임을 누가 지는가: 중앙 직렬화 vs 분산 락</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99669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 </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10771632"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 </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294967295"/>
          </p:nvPr>
        </p:nvSpPr>
        <p:spPr>
          <a:xfrm>
            <a:off x="5620080" y="6670030"/>
            <a:ext cx="456466" cy="209550"/>
          </a:xfrm>
        </p:spPr>
        <p:txBody>
          <a:bodyPr/>
          <a:lstStyle/>
          <a:p>
            <a:fld id="{7F889C64-266A-4D07-AD8F-5B592E61CCE1}" type="slidenum">
              <a:rPr lang="ko-KR" altLang="en-US" smtClean="0"/>
              <a:pPr/>
              <a:t>156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모든 갱신을 직렬화하고, 노드는 CXL 슬롯 RPC로 요청 (Beluga 방식)”</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노드가 2단 락으로 직접 갱신 (TraCT 방식)”</a:t>
            </a:r>
          </a:p>
        </p:txBody>
      </p:sp>
      <p:sp>
        <p:nvSpPr>
          <p:cNvPr id="139" name="Rectangle 138"/>
          <p:cNvSpPr/>
          <p:nvPr/>
        </p:nvSpPr>
        <p:spPr>
          <a:xfrm>
            <a:off x="1993392" y="1764792"/>
            <a:ext cx="3566160" cy="31089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공통 전제</a:t>
            </a:r>
            <a:r>
              <a:rPr sz="700" b="0" i="0">
                <a:solidFill>
                  <a:srgbClr val="000000"/>
                </a:solidFill>
                <a:latin typeface="맑은 고딕"/>
                <a:ea typeface="맑은 고딕"/>
              </a:rPr>
              <a:t>: 페이로드는 DMA(캐시 우회) + publish를 가시성 경계로</a:t>
            </a:r>
          </a:p>
        </p:txBody>
      </p:sp>
      <p:sp>
        <p:nvSpPr>
          <p:cNvPr id="140" name="Rectangle 139"/>
          <p:cNvSpPr/>
          <p:nvPr/>
        </p:nvSpPr>
        <p:spPr>
          <a:xfrm>
            <a:off x="1261872"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«node» P 노드</a:t>
            </a:r>
          </a:p>
        </p:txBody>
      </p:sp>
      <p:sp>
        <p:nvSpPr>
          <p:cNvPr id="142" name="Rectangle 141"/>
          <p:cNvSpPr/>
          <p:nvPr/>
        </p:nvSpPr>
        <p:spPr>
          <a:xfrm>
            <a:off x="1371600"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 KV 커넥터</a:t>
            </a:r>
          </a:p>
        </p:txBody>
      </p:sp>
      <p:sp>
        <p:nvSpPr>
          <p:cNvPr id="143" name="Rectangle 142"/>
          <p:cNvSpPr/>
          <p:nvPr/>
        </p:nvSpPr>
        <p:spPr>
          <a:xfrm>
            <a:off x="1325880"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4" name="Rectangle 143"/>
          <p:cNvSpPr/>
          <p:nvPr/>
        </p:nvSpPr>
        <p:spPr>
          <a:xfrm>
            <a:off x="13258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5" name="Rectangle 144"/>
          <p:cNvSpPr/>
          <p:nvPr/>
        </p:nvSpPr>
        <p:spPr>
          <a:xfrm>
            <a:off x="1371600"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650" b="0" i="0">
                <a:solidFill>
                  <a:srgbClr val="000000"/>
                </a:solidFill>
                <a:latin typeface="맑은 고딕"/>
                <a:ea typeface="맑은 고딕"/>
              </a:rPr>
              <a:t>GPU DMA · CPU flush</a:t>
            </a:r>
          </a:p>
        </p:txBody>
      </p:sp>
      <p:sp>
        <p:nvSpPr>
          <p:cNvPr id="146" name="Rectangle 145"/>
          <p:cNvSpPr/>
          <p:nvPr/>
        </p:nvSpPr>
        <p:spPr>
          <a:xfrm>
            <a:off x="4919472"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4919472"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«node» D 노드</a:t>
            </a:r>
          </a:p>
        </p:txBody>
      </p:sp>
      <p:sp>
        <p:nvSpPr>
          <p:cNvPr id="148" name="Rectangle 147"/>
          <p:cNvSpPr/>
          <p:nvPr/>
        </p:nvSpPr>
        <p:spPr>
          <a:xfrm>
            <a:off x="5029200"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 KV 커넥터</a:t>
            </a:r>
          </a:p>
        </p:txBody>
      </p:sp>
      <p:sp>
        <p:nvSpPr>
          <p:cNvPr id="149" name="Rectangle 148"/>
          <p:cNvSpPr/>
          <p:nvPr/>
        </p:nvSpPr>
        <p:spPr>
          <a:xfrm>
            <a:off x="4983480"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49834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Rectangle 150"/>
          <p:cNvSpPr/>
          <p:nvPr/>
        </p:nvSpPr>
        <p:spPr>
          <a:xfrm>
            <a:off x="5029200"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650" b="0" i="0">
                <a:solidFill>
                  <a:srgbClr val="000000"/>
                </a:solidFill>
                <a:latin typeface="맑은 고딕"/>
                <a:ea typeface="맑은 고딕"/>
              </a:rPr>
              <a:t>GPU DMA · CPU flush</a:t>
            </a:r>
          </a:p>
        </p:txBody>
      </p:sp>
      <p:sp>
        <p:nvSpPr>
          <p:cNvPr id="152" name="Rectangle 151"/>
          <p:cNvSpPr/>
          <p:nvPr/>
        </p:nvSpPr>
        <p:spPr>
          <a:xfrm>
            <a:off x="2953512" y="2148840"/>
            <a:ext cx="1874519" cy="120000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2953512" y="2148840"/>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«store» 비일관 CXL 공유 풀</a:t>
            </a:r>
          </a:p>
        </p:txBody>
      </p:sp>
      <p:sp>
        <p:nvSpPr>
          <p:cNvPr id="154" name="Rectangle 153"/>
          <p:cNvSpPr/>
          <p:nvPr/>
        </p:nvSpPr>
        <p:spPr>
          <a:xfrm>
            <a:off x="3044952" y="2468880"/>
            <a:ext cx="1691640" cy="29260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KV 블록 (불변·해시 식별)</a:t>
            </a:r>
          </a:p>
        </p:txBody>
      </p:sp>
      <p:sp>
        <p:nvSpPr>
          <p:cNvPr id="155" name="Rectangle 154"/>
          <p:cNvSpPr/>
          <p:nvPr/>
        </p:nvSpPr>
        <p:spPr>
          <a:xfrm>
            <a:off x="3044952" y="2852928"/>
            <a:ext cx="1691640" cy="31089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요청/응답 슬롯 (flag)</a:t>
            </a:r>
          </a:p>
        </p:txBody>
      </p:sp>
      <p:sp>
        <p:nvSpPr>
          <p:cNvPr id="156" name="Rectangle 155"/>
          <p:cNvSpPr/>
          <p:nvPr/>
        </p:nvSpPr>
        <p:spPr>
          <a:xfrm>
            <a:off x="3044952" y="3545000"/>
            <a:ext cx="1691640" cy="560000"/>
          </a:xfrm>
          <a:prstGeom prst="rect">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«node» 메타데이터 서버 (단일)</a:t>
            </a:r>
          </a:p>
          <a:p>
            <a:pPr algn="ctr"/>
            <a:r>
              <a:rPr sz="700" b="0" i="0">
                <a:solidFill>
                  <a:srgbClr val="000000"/>
                </a:solidFill>
                <a:latin typeface="맑은 고딕"/>
                <a:ea typeface="맑은 고딕"/>
              </a:rPr>
              <a:t>prefix index · refcount</a:t>
            </a:r>
          </a:p>
          <a:p>
            <a:pPr algn="ctr"/>
            <a:r>
              <a:rPr sz="700" b="0" i="0">
                <a:solidFill>
                  <a:srgbClr val="000000"/>
                </a:solidFill>
                <a:latin typeface="맑은 고딕"/>
                <a:ea typeface="맑은 고딕"/>
              </a:rPr>
              <a:t>allocator · LRU 직렬화</a:t>
            </a:r>
          </a:p>
        </p:txBody>
      </p:sp>
      <p:sp>
        <p:nvSpPr>
          <p:cNvPr id="157" name="Rectangle 156"/>
          <p:cNvSpPr/>
          <p:nvPr/>
        </p:nvSpPr>
        <p:spPr>
          <a:xfrm>
            <a:off x="2999232" y="359986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2999232" y="369130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59" name="Connector 158"/>
          <p:cNvCxnSpPr/>
          <p:nvPr/>
        </p:nvCxnSpPr>
        <p:spPr>
          <a:xfrm>
            <a:off x="2679191" y="2926080"/>
            <a:ext cx="36576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8434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61" name="Connector 160"/>
          <p:cNvCxnSpPr/>
          <p:nvPr/>
        </p:nvCxnSpPr>
        <p:spPr>
          <a:xfrm flipH="1">
            <a:off x="4736592" y="2926080"/>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50307"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63" name="Rounded Rectangle 162"/>
          <p:cNvSpPr/>
          <p:nvPr/>
        </p:nvSpPr>
        <p:spPr>
          <a:xfrm>
            <a:off x="1243584" y="422452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64" name="TextBox 163"/>
          <p:cNvSpPr txBox="1"/>
          <p:nvPr/>
        </p:nvSpPr>
        <p:spPr>
          <a:xfrm>
            <a:off x="1627632" y="4206240"/>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KV 공유 풀이 있을 때 Tmove가 줄어드는 전제를 DP4가 안전하게 만듦</a:t>
            </a:r>
          </a:p>
        </p:txBody>
      </p:sp>
      <p:sp>
        <p:nvSpPr>
          <p:cNvPr id="165" name="Rounded Rectangle 164"/>
          <p:cNvSpPr/>
          <p:nvPr/>
        </p:nvSpPr>
        <p:spPr>
          <a:xfrm>
            <a:off x="1243584" y="44439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DP3</a:t>
            </a:r>
          </a:p>
        </p:txBody>
      </p:sp>
      <p:sp>
        <p:nvSpPr>
          <p:cNvPr id="166" name="TextBox 165"/>
          <p:cNvSpPr txBox="1"/>
          <p:nvPr/>
        </p:nvSpPr>
        <p:spPr>
          <a:xfrm>
            <a:off x="1627632" y="4425696"/>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Comp.KV도 같은 블록 의미(불변·해시)로 공유되어 같은 경로를 사용</a:t>
            </a:r>
          </a:p>
        </p:txBody>
      </p:sp>
      <p:sp>
        <p:nvSpPr>
          <p:cNvPr id="167" name="Rounded Rectangle 166"/>
          <p:cNvSpPr/>
          <p:nvPr/>
        </p:nvSpPr>
        <p:spPr>
          <a:xfrm>
            <a:off x="1243584" y="466344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168" name="TextBox 167"/>
          <p:cNvSpPr txBox="1"/>
          <p:nvPr/>
        </p:nvSpPr>
        <p:spPr>
          <a:xfrm>
            <a:off x="1627632" y="4645152"/>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풀 tier는 DP1 백엔드 인터페이스의 한 backend로 접근</a:t>
            </a:r>
          </a:p>
        </p:txBody>
      </p:sp>
      <p:sp>
        <p:nvSpPr>
          <p:cNvPr id="169" name="Rectangle 168"/>
          <p:cNvSpPr/>
          <p:nvPr/>
        </p:nvSpPr>
        <p:spPr>
          <a:xfrm>
            <a:off x="7406640" y="1764792"/>
            <a:ext cx="3566160" cy="31089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공통 전제</a:t>
            </a:r>
            <a:r>
              <a:rPr sz="700" b="0" i="0">
                <a:solidFill>
                  <a:srgbClr val="000000"/>
                </a:solidFill>
                <a:latin typeface="맑은 고딕"/>
                <a:ea typeface="맑은 고딕"/>
              </a:rPr>
              <a:t>: 페이로드는 DMA(캐시 우회) + publish를 가시성 경계로</a:t>
            </a:r>
          </a:p>
        </p:txBody>
      </p:sp>
      <p:sp>
        <p:nvSpPr>
          <p:cNvPr id="170" name="Rectangle 169"/>
          <p:cNvSpPr/>
          <p:nvPr/>
        </p:nvSpPr>
        <p:spPr>
          <a:xfrm>
            <a:off x="6675120"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«node» P 노드</a:t>
            </a:r>
          </a:p>
        </p:txBody>
      </p:sp>
      <p:sp>
        <p:nvSpPr>
          <p:cNvPr id="172" name="Rectangle 171"/>
          <p:cNvSpPr/>
          <p:nvPr/>
        </p:nvSpPr>
        <p:spPr>
          <a:xfrm>
            <a:off x="6784848"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 KV 커넥터</a:t>
            </a:r>
          </a:p>
        </p:txBody>
      </p:sp>
      <p:sp>
        <p:nvSpPr>
          <p:cNvPr id="173" name="Rectangle 172"/>
          <p:cNvSpPr/>
          <p:nvPr/>
        </p:nvSpPr>
        <p:spPr>
          <a:xfrm>
            <a:off x="6739128"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739128"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5" name="Rectangle 174"/>
          <p:cNvSpPr/>
          <p:nvPr/>
        </p:nvSpPr>
        <p:spPr>
          <a:xfrm>
            <a:off x="6784848"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650" b="0" i="0">
                <a:solidFill>
                  <a:srgbClr val="000000"/>
                </a:solidFill>
                <a:latin typeface="맑은 고딕"/>
                <a:ea typeface="맑은 고딕"/>
              </a:rPr>
              <a:t>GPU DMA · CPU flush</a:t>
            </a:r>
          </a:p>
        </p:txBody>
      </p:sp>
      <p:sp>
        <p:nvSpPr>
          <p:cNvPr id="176" name="Rectangle 175"/>
          <p:cNvSpPr/>
          <p:nvPr/>
        </p:nvSpPr>
        <p:spPr>
          <a:xfrm>
            <a:off x="10332720" y="2240280"/>
            <a:ext cx="1417320" cy="10972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240280"/>
            <a:ext cx="8229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«node» D 노드</a:t>
            </a:r>
          </a:p>
        </p:txBody>
      </p:sp>
      <p:sp>
        <p:nvSpPr>
          <p:cNvPr id="178" name="Rectangle 177"/>
          <p:cNvSpPr/>
          <p:nvPr/>
        </p:nvSpPr>
        <p:spPr>
          <a:xfrm>
            <a:off x="10442448" y="2514600"/>
            <a:ext cx="1188720" cy="36576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 KV 커넥터</a:t>
            </a:r>
          </a:p>
        </p:txBody>
      </p:sp>
      <p:sp>
        <p:nvSpPr>
          <p:cNvPr id="179" name="Rectangle 178"/>
          <p:cNvSpPr/>
          <p:nvPr/>
        </p:nvSpPr>
        <p:spPr>
          <a:xfrm>
            <a:off x="10396728" y="256946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0" name="Rectangle 179"/>
          <p:cNvSpPr/>
          <p:nvPr/>
        </p:nvSpPr>
        <p:spPr>
          <a:xfrm>
            <a:off x="10396728"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10442448" y="2953512"/>
            <a:ext cx="1188720" cy="27432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650" b="0" i="0">
                <a:solidFill>
                  <a:srgbClr val="000000"/>
                </a:solidFill>
                <a:latin typeface="맑은 고딕"/>
                <a:ea typeface="맑은 고딕"/>
              </a:rPr>
              <a:t>GPU DMA · CPU flush</a:t>
            </a:r>
          </a:p>
        </p:txBody>
      </p:sp>
      <p:sp>
        <p:nvSpPr>
          <p:cNvPr id="182" name="Rectangle 181"/>
          <p:cNvSpPr/>
          <p:nvPr/>
        </p:nvSpPr>
        <p:spPr>
          <a:xfrm>
            <a:off x="8366760" y="2148840"/>
            <a:ext cx="1874519" cy="145116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366760" y="2148840"/>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«store» 비일관 CXL 공유 풀</a:t>
            </a:r>
          </a:p>
        </p:txBody>
      </p:sp>
      <p:sp>
        <p:nvSpPr>
          <p:cNvPr id="184" name="Rectangle 183"/>
          <p:cNvSpPr/>
          <p:nvPr/>
        </p:nvSpPr>
        <p:spPr>
          <a:xfrm>
            <a:off x="8458200" y="2468880"/>
            <a:ext cx="1691640" cy="29260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KV 블록 (불변·해시 식별)</a:t>
            </a:r>
          </a:p>
        </p:txBody>
      </p:sp>
      <p:sp>
        <p:nvSpPr>
          <p:cNvPr id="185" name="Rectangle 184"/>
          <p:cNvSpPr/>
          <p:nvPr/>
        </p:nvSpPr>
        <p:spPr>
          <a:xfrm>
            <a:off x="8458200" y="2852928"/>
            <a:ext cx="1691640" cy="31089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메타데이터 (인덱스·refcount)</a:t>
            </a:r>
          </a:p>
        </p:txBody>
      </p:sp>
      <p:sp>
        <p:nvSpPr>
          <p:cNvPr id="186" name="Rectangle 185"/>
          <p:cNvSpPr/>
          <p:nvPr/>
        </p:nvSpPr>
        <p:spPr>
          <a:xfrm>
            <a:off x="8458200" y="3236976"/>
            <a:ext cx="1691640" cy="27432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전역 락 배열 (노드별 슬롯)</a:t>
            </a:r>
          </a:p>
        </p:txBody>
      </p:sp>
      <p:sp>
        <p:nvSpPr>
          <p:cNvPr id="187" name="Rectangle 186"/>
          <p:cNvSpPr/>
          <p:nvPr/>
        </p:nvSpPr>
        <p:spPr>
          <a:xfrm>
            <a:off x="8458200" y="3760000"/>
            <a:ext cx="1691640" cy="360000"/>
          </a:xfrm>
          <a:prstGeom prst="rect">
            <a:avLst/>
          </a:prstGeom>
          <a:solidFill>
            <a:srgbClr val="FDECEA"/>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락 매니저 스레드 (1노드)</a:t>
            </a:r>
          </a:p>
          <a:p>
            <a:pPr algn="ctr"/>
            <a:r>
              <a:rPr sz="700" b="0" i="0">
                <a:solidFill>
                  <a:srgbClr val="000000"/>
                </a:solidFill>
                <a:latin typeface="맑은 고딕"/>
                <a:ea typeface="맑은 고딕"/>
              </a:rPr>
              <a:t>슬롯 scan, 1노드에 grant</a:t>
            </a:r>
          </a:p>
        </p:txBody>
      </p:sp>
      <p:sp>
        <p:nvSpPr>
          <p:cNvPr id="188" name="Rectangle 187"/>
          <p:cNvSpPr/>
          <p:nvPr/>
        </p:nvSpPr>
        <p:spPr>
          <a:xfrm>
            <a:off x="8412480" y="381486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9" name="Rectangle 188"/>
          <p:cNvSpPr/>
          <p:nvPr/>
        </p:nvSpPr>
        <p:spPr>
          <a:xfrm>
            <a:off x="8412480" y="3906304"/>
            <a:ext cx="91440" cy="50292"/>
          </a:xfrm>
          <a:prstGeom prst="rect">
            <a:avLst/>
          </a:prstGeom>
          <a:solidFill>
            <a:srgbClr val="FDECEA"/>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90" name="Connector 189"/>
          <p:cNvCxnSpPr/>
          <p:nvPr/>
        </p:nvCxnSpPr>
        <p:spPr>
          <a:xfrm>
            <a:off x="8092440" y="2926080"/>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197596"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92" name="Connector 191"/>
          <p:cNvCxnSpPr/>
          <p:nvPr/>
        </p:nvCxnSpPr>
        <p:spPr>
          <a:xfrm flipH="1">
            <a:off x="10149840" y="2926080"/>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94" name="Connector 193"/>
          <p:cNvCxnSpPr/>
          <p:nvPr/>
        </p:nvCxnSpPr>
        <p:spPr>
          <a:xfrm>
            <a:off x="8092440" y="3374136"/>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197596" y="3296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149840" y="3374136"/>
            <a:ext cx="1828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29641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98" name="Rounded Rectangle 197"/>
          <p:cNvSpPr/>
          <p:nvPr/>
        </p:nvSpPr>
        <p:spPr>
          <a:xfrm>
            <a:off x="6656832" y="422452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99" name="TextBox 198"/>
          <p:cNvSpPr txBox="1"/>
          <p:nvPr/>
        </p:nvSpPr>
        <p:spPr>
          <a:xfrm>
            <a:off x="7040880" y="4206240"/>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KV 공유 풀이 있을 때 Tmove가 줄어드는 전제를 DP4가 안전하게 만듦</a:t>
            </a:r>
          </a:p>
        </p:txBody>
      </p:sp>
      <p:sp>
        <p:nvSpPr>
          <p:cNvPr id="200" name="Rounded Rectangle 199"/>
          <p:cNvSpPr/>
          <p:nvPr/>
        </p:nvSpPr>
        <p:spPr>
          <a:xfrm>
            <a:off x="6656832" y="444398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DP3</a:t>
            </a:r>
          </a:p>
        </p:txBody>
      </p:sp>
      <p:sp>
        <p:nvSpPr>
          <p:cNvPr id="201" name="TextBox 200"/>
          <p:cNvSpPr txBox="1"/>
          <p:nvPr/>
        </p:nvSpPr>
        <p:spPr>
          <a:xfrm>
            <a:off x="7040880" y="4425696"/>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Comp.KV도 같은 블록 의미(불변·해시)로 공유되어 같은 경로를 사용</a:t>
            </a:r>
          </a:p>
        </p:txBody>
      </p:sp>
      <p:sp>
        <p:nvSpPr>
          <p:cNvPr id="202" name="Rounded Rectangle 201"/>
          <p:cNvSpPr/>
          <p:nvPr/>
        </p:nvSpPr>
        <p:spPr>
          <a:xfrm>
            <a:off x="6656832" y="466344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03" name="TextBox 202"/>
          <p:cNvSpPr txBox="1"/>
          <p:nvPr/>
        </p:nvSpPr>
        <p:spPr>
          <a:xfrm>
            <a:off x="7040880" y="4645152"/>
            <a:ext cx="484632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풀 tier는 DP1 백엔드 인터페이스의 한 backend로 접근</a:t>
            </a:r>
          </a:p>
        </p:txBody>
      </p:sp>
      <p:cxnSp>
        <p:nvCxnSpPr>
          <p:cNvPr id="204" name="C1 slot-server link"/>
          <p:cNvCxnSpPr/>
          <p:nvPr/>
        </p:nvCxnSpPr>
        <p:spPr>
          <a:xfrm>
            <a:off x="3890772" y="3163824"/>
            <a:ext cx="0" cy="381176"/>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50000" y="3355000"/>
            <a:ext cx="880000" cy="150000"/>
          </a:xfrm>
          <a:prstGeom prst="rect">
            <a:avLst/>
          </a:prstGeom>
          <a:noFill/>
        </p:spPr>
        <p:txBody>
          <a:bodyPr wrap="square" lIns="0" tIns="0" rIns="0" bIns="0" anchor="t">
            <a:spAutoFit/>
          </a:bodyPr>
          <a:lstStyle/>
          <a:p>
            <a:pPr algn="l"/>
            <a:r>
              <a:rPr sz="650" b="0" i="0">
                <a:solidFill>
                  <a:srgbClr val="404040"/>
                </a:solidFill>
                <a:latin typeface="맑은 고딕"/>
                <a:ea typeface="맑은 고딕"/>
              </a:rPr>
              <a:t>슬롯 RPC</a:t>
            </a:r>
          </a:p>
        </p:txBody>
      </p:sp>
      <p:cxnSp>
        <p:nvCxnSpPr>
          <p:cNvPr id="206" name="C2 lock-manager link"/>
          <p:cNvCxnSpPr/>
          <p:nvPr/>
        </p:nvCxnSpPr>
        <p:spPr>
          <a:xfrm>
            <a:off x="9304020" y="3511296"/>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590000"/>
            <a:ext cx="880000" cy="150000"/>
          </a:xfrm>
          <a:prstGeom prst="rect">
            <a:avLst/>
          </a:prstGeom>
          <a:noFill/>
        </p:spPr>
        <p:txBody>
          <a:bodyPr wrap="square" lIns="0" tIns="0" rIns="0" bIns="0" anchor="t">
            <a:spAutoFit/>
          </a:bodyPr>
          <a:lstStyle/>
          <a:p>
            <a:pPr algn="l"/>
            <a:r>
              <a:rPr sz="650" b="0" i="0">
                <a:solidFill>
                  <a:srgbClr val="404040"/>
                </a:solidFill>
                <a:latin typeface="맑은 고딕"/>
                <a:ea typeface="맑은 고딕"/>
              </a:rPr>
              <a:t>슬롯 scan · grant</a:t>
            </a:r>
          </a:p>
        </p:txBody>
      </p:sp>
    </p:spTree>
    <p:extLst>
      <p:ext uri="{BB962C8B-B14F-4D97-AF65-F5344CB8AC3E}">
        <p14:creationId xmlns:p14="http://schemas.microsoft.com/office/powerpoint/2010/main" val="263881619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157</a:t>
            </a:fld>
            <a:endParaRPr lang="ko-KR" altLang="en-US" dirty="0"/>
          </a:p>
        </p:txBody>
      </p:sp>
      <p:sp>
        <p:nvSpPr>
          <p:cNvPr id="3" name="제목 2"/>
          <p:cNvSpPr>
            <a:spLocks noGrp="1"/>
          </p:cNvSpPr>
          <p:nvPr>
            <p:ph type="title"/>
          </p:nvPr>
        </p:nvSpPr>
        <p:spPr/>
        <p:txBody>
          <a:bodyPr/>
          <a:lstStyle/>
          <a:p>
            <a:r>
              <a:rPr lang="en-US" altLang="ko-KR" dirty="0"/>
              <a:t>DP4. 서버 간 KV </a:t>
            </a:r>
            <a:r>
              <a:rPr lang="ko-KR" altLang="en-US" dirty="0"/>
              <a:t>캐시 </a:t>
            </a:r>
            <a:r>
              <a:rPr lang="en-US" altLang="ko-KR" dirty="0" err="1"/>
              <a:t>공유</a:t>
            </a:r>
            <a:r>
              <a:rPr lang="en-US" altLang="ko-KR" dirty="0"/>
              <a:t> 구조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772272" y="5566927"/>
            <a:ext cx="11338560" cy="446076"/>
          </a:xfrm>
          <a:prstGeom prst="rect">
            <a:avLst/>
          </a:prstGeom>
          <a:noFill/>
          <a:ln>
            <a:noFill/>
          </a:ln>
        </p:spPr>
        <p:txBody>
          <a:bodyPr wrap="square" lIns="9144" tIns="7315" rIns="9144" bIns="7315" anchor="ctr">
            <a:normAutofit/>
          </a:bodyPr>
          <a:lstStyle/>
          <a:p>
            <a:pPr>
              <a:lnSpc>
                <a:spcPct val="90000"/>
              </a:lnSpc>
            </a:pPr>
            <a:r>
              <a:rPr lang="ko-KR" altLang="en-US" sz="1200" b="1" dirty="0">
                <a:solidFill>
                  <a:srgbClr val="0066FF"/>
                </a:solidFill>
                <a:latin typeface="맑은 고딕" panose="020B0503020000020004" pitchFamily="50" charset="-127"/>
              </a:rPr>
              <a:t> 실행 위치 결정 최적화</a:t>
            </a:r>
            <a:r>
              <a:rPr lang="en-US" altLang="ko-KR" sz="1200" b="1" dirty="0">
                <a:solidFill>
                  <a:srgbClr val="0066FF"/>
                </a:solidFill>
                <a:latin typeface="맑은 고딕" panose="020B0503020000020004" pitchFamily="50" charset="-127"/>
              </a:rPr>
              <a:t>(DP2)</a:t>
            </a:r>
            <a:r>
              <a:rPr lang="ko-KR" altLang="en-US" sz="1200" b="1" dirty="0">
                <a:solidFill>
                  <a:srgbClr val="0066FF"/>
                </a:solidFill>
                <a:latin typeface="맑은 고딕" panose="020B0503020000020004" pitchFamily="50" charset="-127"/>
              </a:rPr>
              <a:t>를 넘어</a:t>
            </a:r>
            <a:r>
              <a:rPr lang="en-US" altLang="ko-KR" sz="1200" b="1" dirty="0">
                <a:solidFill>
                  <a:srgbClr val="0066FF"/>
                </a:solidFill>
                <a:latin typeface="맑은 고딕" panose="020B0503020000020004" pitchFamily="50" charset="-127"/>
              </a:rPr>
              <a:t>, </a:t>
            </a:r>
            <a:r>
              <a:rPr lang="ko-KR" sz="1200" b="1" dirty="0">
                <a:solidFill>
                  <a:srgbClr val="0066FF"/>
                </a:solidFill>
                <a:latin typeface="맑은 고딕"/>
              </a:rPr>
              <a:t>KV 전송 비용과 서버 간 상태 공유를 구조적으로 푸는 설계가 필요</a:t>
            </a:r>
            <a:endParaRPr lang="en-US" altLang="ko-KR" sz="1200" b="1" dirty="0">
              <a:solidFill>
                <a:srgbClr val="0066FF"/>
              </a:solidFill>
              <a:latin typeface="맑은 고딕"/>
            </a:endParaRPr>
          </a:p>
        </p:txBody>
      </p:sp>
      <p:sp>
        <p:nvSpPr>
          <p:cNvPr id="79" name="Text 22"/>
          <p:cNvSpPr/>
          <p:nvPr/>
        </p:nvSpPr>
        <p:spPr>
          <a:xfrm>
            <a:off x="359582" y="648808"/>
            <a:ext cx="11687638" cy="1102267"/>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a:t>
            </a:r>
            <a:r>
              <a:rPr lang="ko-KR" altLang="en-US" sz="1200" dirty="0">
                <a:solidFill>
                  <a:srgbClr val="404040"/>
                </a:solidFill>
                <a:latin typeface="맑은 고딕" panose="020B0503020000020004" pitchFamily="50" charset="-127"/>
              </a:rPr>
              <a:t>의 실행 위치 최적화는 </a:t>
            </a:r>
            <a:r>
              <a:rPr lang="en-US" altLang="ko-KR" sz="1200" dirty="0">
                <a:solidFill>
                  <a:srgbClr val="404040"/>
                </a:solidFill>
                <a:latin typeface="맑은 고딕" panose="020B0503020000020004" pitchFamily="50" charset="-127"/>
              </a:rPr>
              <a:t>KV </a:t>
            </a:r>
            <a:r>
              <a:rPr lang="ko-KR" altLang="en-US" sz="1200" dirty="0">
                <a:solidFill>
                  <a:srgbClr val="404040"/>
                </a:solidFill>
                <a:latin typeface="맑은 고딕" panose="020B0503020000020004" pitchFamily="50" charset="-127"/>
              </a:rPr>
              <a:t>위치와 자원 상태를 고려하여 불필요한 이동을 줄일 수 있으나</a:t>
            </a:r>
            <a:r>
              <a:rPr lang="en-US" altLang="ko-KR" sz="1200" dirty="0">
                <a:solidFill>
                  <a:srgbClr val="404040"/>
                </a:solidFill>
                <a:latin typeface="맑은 고딕" panose="020B0503020000020004" pitchFamily="50" charset="-127"/>
              </a:rPr>
              <a:t>, </a:t>
            </a:r>
            <a:r>
              <a:rPr lang="ko-KR" altLang="en-US" sz="1200" dirty="0">
                <a:solidFill>
                  <a:srgbClr val="404040"/>
                </a:solidFill>
                <a:latin typeface="맑은 고딕" panose="020B0503020000020004" pitchFamily="50" charset="-127"/>
              </a:rPr>
              <a:t>서버 간 </a:t>
            </a:r>
            <a:r>
              <a:rPr lang="en-US" altLang="ko-KR" sz="1200" dirty="0">
                <a:solidFill>
                  <a:srgbClr val="404040"/>
                </a:solidFill>
                <a:latin typeface="맑은 고딕" panose="020B0503020000020004" pitchFamily="50" charset="-127"/>
              </a:rPr>
              <a:t>KV </a:t>
            </a:r>
            <a:r>
              <a:rPr lang="ko-KR" altLang="en-US" sz="1200" dirty="0">
                <a:solidFill>
                  <a:srgbClr val="404040"/>
                </a:solidFill>
                <a:latin typeface="맑은 고딕" panose="020B0503020000020004" pitchFamily="50" charset="-127"/>
              </a:rPr>
              <a:t>전송 비용 자체를 제거하지는 못함</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Agent</a:t>
            </a:r>
            <a:r>
              <a:rPr lang="ko-KR" altLang="en-US" sz="1200" dirty="0">
                <a:solidFill>
                  <a:srgbClr val="404040"/>
                </a:solidFill>
                <a:latin typeface="맑은 고딕" panose="020B0503020000020004" pitchFamily="50" charset="-127"/>
              </a:rPr>
              <a:t>의 </a:t>
            </a:r>
            <a:r>
              <a:rPr lang="en-US" altLang="ko-KR" sz="1200" dirty="0">
                <a:solidFill>
                  <a:srgbClr val="404040"/>
                </a:solidFill>
                <a:latin typeface="맑은 고딕" panose="020B0503020000020004" pitchFamily="50" charset="-127"/>
              </a:rPr>
              <a:t>Multi-turn </a:t>
            </a:r>
            <a:r>
              <a:rPr lang="ko-KR" altLang="en-US" sz="1200" dirty="0">
                <a:solidFill>
                  <a:srgbClr val="404040"/>
                </a:solidFill>
                <a:latin typeface="맑은 고딕" panose="020B0503020000020004" pitchFamily="50" charset="-127"/>
              </a:rPr>
              <a:t>및 서버 규모 확대에 따라 </a:t>
            </a:r>
            <a:r>
              <a:rPr lang="en-US" altLang="ko-KR" sz="1200" dirty="0">
                <a:solidFill>
                  <a:srgbClr val="404040"/>
                </a:solidFill>
                <a:latin typeface="맑은 고딕" panose="020B0503020000020004" pitchFamily="50" charset="-127"/>
              </a:rPr>
              <a:t>Prefill/Decode </a:t>
            </a:r>
            <a:r>
              <a:rPr lang="ko-KR" altLang="en-US" sz="1200" dirty="0">
                <a:solidFill>
                  <a:srgbClr val="404040"/>
                </a:solidFill>
                <a:latin typeface="맑은 고딕" panose="020B0503020000020004" pitchFamily="50" charset="-127"/>
              </a:rPr>
              <a:t>간 </a:t>
            </a:r>
            <a:r>
              <a:rPr lang="en-US" altLang="ko-KR" sz="1200" dirty="0">
                <a:solidFill>
                  <a:srgbClr val="404040"/>
                </a:solidFill>
                <a:latin typeface="맑은 고딕" panose="020B0503020000020004" pitchFamily="50" charset="-127"/>
              </a:rPr>
              <a:t>KV </a:t>
            </a:r>
            <a:r>
              <a:rPr lang="ko-KR" altLang="en-US" sz="1200" dirty="0">
                <a:solidFill>
                  <a:srgbClr val="404040"/>
                </a:solidFill>
                <a:latin typeface="맑은 고딕" panose="020B0503020000020004" pitchFamily="50" charset="-127"/>
              </a:rPr>
              <a:t>이동이 반복되고</a:t>
            </a:r>
            <a:r>
              <a:rPr lang="en-US" altLang="ko-KR" sz="1200" dirty="0">
                <a:solidFill>
                  <a:srgbClr val="404040"/>
                </a:solidFill>
                <a:latin typeface="맑은 고딕" panose="020B0503020000020004" pitchFamily="50" charset="-127"/>
              </a:rPr>
              <a:t>, </a:t>
            </a:r>
            <a:r>
              <a:rPr lang="ko-KR" altLang="en-US" sz="1200" dirty="0">
                <a:solidFill>
                  <a:srgbClr val="404040"/>
                </a:solidFill>
                <a:latin typeface="맑은 고딕" panose="020B0503020000020004" pitchFamily="50" charset="-127"/>
              </a:rPr>
              <a:t>서버 간 전송 트래픽 및 지연 부담 증가</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서버 규모 증가에 따른 분산 상태 관리 </a:t>
            </a:r>
            <a:r>
              <a:rPr lang="ko-KR" altLang="en-US" sz="1200" dirty="0" err="1">
                <a:solidFill>
                  <a:srgbClr val="404040"/>
                </a:solidFill>
                <a:latin typeface="맑은 고딕" panose="020B0503020000020004" pitchFamily="50" charset="-127"/>
              </a:rPr>
              <a:t>복잡화로</a:t>
            </a:r>
            <a:r>
              <a:rPr lang="ko-KR" altLang="en-US" sz="1200" dirty="0">
                <a:solidFill>
                  <a:srgbClr val="404040"/>
                </a:solidFill>
                <a:latin typeface="맑은 고딕" panose="020B0503020000020004" pitchFamily="50" charset="-127"/>
              </a:rPr>
              <a:t> </a:t>
            </a:r>
            <a:r>
              <a:rPr lang="en-US" altLang="ko-KR" sz="1200" dirty="0">
                <a:solidFill>
                  <a:srgbClr val="404040"/>
                </a:solidFill>
                <a:latin typeface="맑은 고딕" panose="020B0503020000020004" pitchFamily="50" charset="-127"/>
              </a:rPr>
              <a:t>KV </a:t>
            </a:r>
            <a:r>
              <a:rPr lang="ko-KR" altLang="en-US" sz="1200" dirty="0">
                <a:solidFill>
                  <a:srgbClr val="404040"/>
                </a:solidFill>
                <a:latin typeface="맑은 고딕" panose="020B0503020000020004" pitchFamily="50" charset="-127"/>
              </a:rPr>
              <a:t>위치 및 자원 상태의 최신성 유지가 어려워지고</a:t>
            </a:r>
            <a:r>
              <a:rPr lang="en-US" altLang="ko-KR" sz="1200" dirty="0">
                <a:solidFill>
                  <a:srgbClr val="404040"/>
                </a:solidFill>
                <a:latin typeface="맑은 고딕" panose="020B0503020000020004" pitchFamily="50" charset="-127"/>
              </a:rPr>
              <a:t>, Stale </a:t>
            </a:r>
            <a:r>
              <a:rPr lang="ko-KR" altLang="en-US" sz="1200" dirty="0">
                <a:solidFill>
                  <a:srgbClr val="404040"/>
                </a:solidFill>
                <a:latin typeface="맑은 고딕" panose="020B0503020000020004" pitchFamily="50" charset="-127"/>
              </a:rPr>
              <a:t>정보 기반의 잘못된 실행 위치 결정 가능성 증가</a:t>
            </a:r>
            <a:endParaRPr lang="en-US" altLang="ko-KR" sz="1200" dirty="0">
              <a:solidFill>
                <a:srgbClr val="404040"/>
              </a:solidFill>
              <a:latin typeface="맑은 고딕" panose="020B0503020000020004" pitchFamily="50" charset="-127"/>
            </a:endParaRPr>
          </a:p>
        </p:txBody>
      </p:sp>
      <p:sp>
        <p:nvSpPr>
          <p:cNvPr id="9062" name="Rectangle 9061"/>
          <p:cNvSpPr/>
          <p:nvPr/>
        </p:nvSpPr>
        <p:spPr>
          <a:xfrm>
            <a:off x="411480" y="1751075"/>
            <a:ext cx="5440680" cy="2341530"/>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ounded Rectangle 9062"/>
          <p:cNvSpPr/>
          <p:nvPr/>
        </p:nvSpPr>
        <p:spPr>
          <a:xfrm>
            <a:off x="1645919" y="1824228"/>
            <a:ext cx="329184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a:solidFill>
                  <a:srgbClr val="FFFFFF"/>
                </a:solidFill>
                <a:latin typeface="맑은 고딕"/>
                <a:ea typeface="맑은 고딕"/>
              </a:rPr>
              <a:t>As-Is:</a:t>
            </a:r>
            <a:r>
              <a:rPr lang="en-US" sz="900" b="1" i="0" dirty="0">
                <a:solidFill>
                  <a:srgbClr val="FFFFFF"/>
                </a:solidFill>
                <a:latin typeface="맑은 고딕"/>
                <a:ea typeface="맑은 고딕"/>
              </a:rPr>
              <a:t> </a:t>
            </a:r>
            <a:r>
              <a:rPr lang="ko-KR" altLang="en-US" sz="900" b="1" i="0" dirty="0">
                <a:solidFill>
                  <a:srgbClr val="FFFFFF"/>
                </a:solidFill>
                <a:latin typeface="맑은 고딕"/>
                <a:ea typeface="맑은 고딕"/>
              </a:rPr>
              <a:t>최적의 </a:t>
            </a:r>
            <a:r>
              <a:rPr lang="ko-KR" altLang="en-US" sz="900" b="1" dirty="0">
                <a:solidFill>
                  <a:srgbClr val="FFFFFF"/>
                </a:solidFill>
                <a:latin typeface="맑은 고딕"/>
                <a:ea typeface="맑은 고딕"/>
              </a:rPr>
              <a:t>연산 위치를 선택해도 </a:t>
            </a:r>
            <a:r>
              <a:rPr lang="en-US" altLang="ko-KR" sz="900" b="1" dirty="0">
                <a:solidFill>
                  <a:srgbClr val="FFFFFF"/>
                </a:solidFill>
                <a:latin typeface="맑은 고딕"/>
                <a:ea typeface="맑은 고딕"/>
              </a:rPr>
              <a:t>KV </a:t>
            </a:r>
            <a:r>
              <a:rPr lang="ko-KR" altLang="en-US" sz="900" b="1" dirty="0">
                <a:solidFill>
                  <a:srgbClr val="FFFFFF"/>
                </a:solidFill>
                <a:latin typeface="맑은 고딕"/>
                <a:ea typeface="맑은 고딕"/>
              </a:rPr>
              <a:t>전송은 누적</a:t>
            </a:r>
            <a:endParaRPr sz="900" b="1" i="0" dirty="0">
              <a:solidFill>
                <a:srgbClr val="FFFFFF"/>
              </a:solidFill>
              <a:latin typeface="맑은 고딕"/>
              <a:ea typeface="맑은 고딕"/>
            </a:endParaRPr>
          </a:p>
        </p:txBody>
      </p:sp>
      <p:sp>
        <p:nvSpPr>
          <p:cNvPr id="9064" name="Rectangle 9063"/>
          <p:cNvSpPr/>
          <p:nvPr/>
        </p:nvSpPr>
        <p:spPr>
          <a:xfrm>
            <a:off x="6355080" y="1751075"/>
            <a:ext cx="5440680" cy="2341529"/>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5" name="Rounded Rectangle 9064"/>
          <p:cNvSpPr/>
          <p:nvPr/>
        </p:nvSpPr>
        <p:spPr>
          <a:xfrm>
            <a:off x="7468781" y="1824228"/>
            <a:ext cx="3291840"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a:solidFill>
                  <a:srgbClr val="FFFFFF"/>
                </a:solidFill>
                <a:latin typeface="맑은 고딕"/>
                <a:ea typeface="맑은 고딕"/>
              </a:rPr>
              <a:t>To-Be: </a:t>
            </a:r>
            <a:r>
              <a:rPr sz="900" b="1" i="0" dirty="0" err="1">
                <a:solidFill>
                  <a:srgbClr val="FFFFFF"/>
                </a:solidFill>
                <a:latin typeface="맑은 고딕"/>
                <a:ea typeface="맑은 고딕"/>
              </a:rPr>
              <a:t>서버</a:t>
            </a:r>
            <a:r>
              <a:rPr sz="900" b="1" i="0" dirty="0">
                <a:solidFill>
                  <a:srgbClr val="FFFFFF"/>
                </a:solidFill>
                <a:latin typeface="맑은 고딕"/>
                <a:ea typeface="맑은 고딕"/>
              </a:rPr>
              <a:t> 간 KV </a:t>
            </a:r>
            <a:r>
              <a:rPr sz="900" b="1" i="0" dirty="0" err="1">
                <a:solidFill>
                  <a:srgbClr val="FFFFFF"/>
                </a:solidFill>
                <a:latin typeface="맑은 고딕"/>
                <a:ea typeface="맑은 고딕"/>
              </a:rPr>
              <a:t>공유</a:t>
            </a:r>
            <a:r>
              <a:rPr sz="900" b="1" i="0" dirty="0">
                <a:solidFill>
                  <a:srgbClr val="FFFFFF"/>
                </a:solidFill>
                <a:latin typeface="맑은 고딕"/>
                <a:ea typeface="맑은 고딕"/>
              </a:rPr>
              <a:t> </a:t>
            </a:r>
            <a:r>
              <a:rPr sz="900" b="1" i="0" dirty="0" err="1">
                <a:solidFill>
                  <a:srgbClr val="FFFFFF"/>
                </a:solidFill>
                <a:latin typeface="맑은 고딕"/>
                <a:ea typeface="맑은 고딕"/>
              </a:rPr>
              <a:t>구조</a:t>
            </a:r>
            <a:r>
              <a:rPr sz="900" b="1" i="0" dirty="0">
                <a:solidFill>
                  <a:srgbClr val="FFFFFF"/>
                </a:solidFill>
                <a:latin typeface="맑은 고딕"/>
                <a:ea typeface="맑은 고딕"/>
              </a:rPr>
              <a:t> </a:t>
            </a:r>
          </a:p>
        </p:txBody>
      </p:sp>
      <p:sp>
        <p:nvSpPr>
          <p:cNvPr id="9066" name="Right Arrow 9065"/>
          <p:cNvSpPr/>
          <p:nvPr/>
        </p:nvSpPr>
        <p:spPr>
          <a:xfrm>
            <a:off x="5943600" y="2613912"/>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594360" y="2393788"/>
            <a:ext cx="1005840" cy="7954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dirty="0">
                <a:solidFill>
                  <a:srgbClr val="000000"/>
                </a:solidFill>
                <a:latin typeface="맑은 고딕"/>
                <a:ea typeface="맑은 고딕"/>
              </a:rPr>
              <a:t>P </a:t>
            </a:r>
            <a:r>
              <a:rPr sz="1000" b="1" i="0" dirty="0" err="1">
                <a:solidFill>
                  <a:srgbClr val="000000"/>
                </a:solidFill>
                <a:latin typeface="맑은 고딕"/>
                <a:ea typeface="맑은 고딕"/>
              </a:rPr>
              <a:t>노드</a:t>
            </a:r>
            <a:endParaRPr sz="1000" b="1" i="0" dirty="0">
              <a:solidFill>
                <a:srgbClr val="000000"/>
              </a:solidFill>
              <a:latin typeface="맑은 고딕"/>
              <a:ea typeface="맑은 고딕"/>
            </a:endParaRPr>
          </a:p>
          <a:p>
            <a:pPr algn="ctr"/>
            <a:r>
              <a:rPr sz="1000" b="0" i="0" dirty="0">
                <a:solidFill>
                  <a:srgbClr val="000000"/>
                </a:solidFill>
                <a:latin typeface="맑은 고딕"/>
                <a:ea typeface="맑은 고딕"/>
              </a:rPr>
              <a:t>Prefill</a:t>
            </a:r>
          </a:p>
        </p:txBody>
      </p:sp>
      <p:sp>
        <p:nvSpPr>
          <p:cNvPr id="9068" name="Rectangle 9067"/>
          <p:cNvSpPr/>
          <p:nvPr/>
        </p:nvSpPr>
        <p:spPr>
          <a:xfrm>
            <a:off x="4526280" y="2393788"/>
            <a:ext cx="1005840" cy="7954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000000"/>
                </a:solidFill>
                <a:latin typeface="맑은 고딕"/>
                <a:ea typeface="맑은 고딕"/>
              </a:rPr>
              <a:t>D 노드</a:t>
            </a:r>
          </a:p>
          <a:p>
            <a:pPr algn="ctr"/>
            <a:r>
              <a:rPr sz="1000" b="0" i="0">
                <a:solidFill>
                  <a:srgbClr val="000000"/>
                </a:solidFill>
                <a:latin typeface="맑은 고딕"/>
                <a:ea typeface="맑은 고딕"/>
              </a:rPr>
              <a:t>Decode</a:t>
            </a:r>
          </a:p>
        </p:txBody>
      </p:sp>
      <p:cxnSp>
        <p:nvCxnSpPr>
          <p:cNvPr id="9069" name="Connector 9068"/>
          <p:cNvCxnSpPr/>
          <p:nvPr/>
        </p:nvCxnSpPr>
        <p:spPr>
          <a:xfrm>
            <a:off x="1600200" y="2548085"/>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0" name="TextBox 9069"/>
          <p:cNvSpPr txBox="1"/>
          <p:nvPr/>
        </p:nvSpPr>
        <p:spPr>
          <a:xfrm>
            <a:off x="2165864" y="2406219"/>
            <a:ext cx="1703311" cy="202776"/>
          </a:xfrm>
          <a:prstGeom prst="rect">
            <a:avLst/>
          </a:prstGeom>
          <a:noFill/>
        </p:spPr>
        <p:txBody>
          <a:bodyPr wrap="square" lIns="0" tIns="0" rIns="0" bIns="0" anchor="t">
            <a:spAutoFit/>
          </a:bodyPr>
          <a:lstStyle/>
          <a:p>
            <a:pPr algn="ctr"/>
            <a:r>
              <a:rPr sz="900" b="1" i="0" dirty="0">
                <a:solidFill>
                  <a:srgbClr val="2F5597"/>
                </a:solidFill>
                <a:latin typeface="맑은 고딕"/>
                <a:ea typeface="맑은 고딕"/>
              </a:rPr>
              <a:t>Turn 1: KV </a:t>
            </a:r>
            <a:r>
              <a:rPr sz="900" b="1" i="0" dirty="0" err="1">
                <a:solidFill>
                  <a:srgbClr val="2F5597"/>
                </a:solidFill>
                <a:latin typeface="맑은 고딕"/>
                <a:ea typeface="맑은 고딕"/>
              </a:rPr>
              <a:t>전송</a:t>
            </a:r>
            <a:r>
              <a:rPr sz="900" b="1" i="0" dirty="0">
                <a:solidFill>
                  <a:srgbClr val="2F5597"/>
                </a:solidFill>
                <a:latin typeface="맑은 고딕"/>
                <a:ea typeface="맑은 고딕"/>
              </a:rPr>
              <a:t> (P→D)</a:t>
            </a:r>
          </a:p>
        </p:txBody>
      </p:sp>
      <p:cxnSp>
        <p:nvCxnSpPr>
          <p:cNvPr id="9071" name="Connector 9070"/>
          <p:cNvCxnSpPr/>
          <p:nvPr/>
        </p:nvCxnSpPr>
        <p:spPr>
          <a:xfrm flipH="1">
            <a:off x="1600200" y="2819064"/>
            <a:ext cx="292608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9072" name="TextBox 9071"/>
          <p:cNvSpPr txBox="1"/>
          <p:nvPr/>
        </p:nvSpPr>
        <p:spPr>
          <a:xfrm>
            <a:off x="2080698" y="2677198"/>
            <a:ext cx="1873642" cy="202776"/>
          </a:xfrm>
          <a:prstGeom prst="rect">
            <a:avLst/>
          </a:prstGeom>
          <a:noFill/>
        </p:spPr>
        <p:txBody>
          <a:bodyPr wrap="square" lIns="0" tIns="0" rIns="0" bIns="0" anchor="t">
            <a:spAutoFit/>
          </a:bodyPr>
          <a:lstStyle/>
          <a:p>
            <a:pPr algn="ctr"/>
            <a:r>
              <a:rPr sz="900" b="1" i="0" dirty="0">
                <a:solidFill>
                  <a:srgbClr val="C00000"/>
                </a:solidFill>
                <a:latin typeface="맑은 고딕"/>
                <a:ea typeface="맑은 고딕"/>
              </a:rPr>
              <a:t>Turn 2: History KV </a:t>
            </a:r>
            <a:r>
              <a:rPr sz="900" b="1" i="0" dirty="0" err="1">
                <a:solidFill>
                  <a:srgbClr val="C00000"/>
                </a:solidFill>
                <a:latin typeface="맑은 고딕"/>
                <a:ea typeface="맑은 고딕"/>
              </a:rPr>
              <a:t>전송</a:t>
            </a:r>
            <a:r>
              <a:rPr sz="900" b="1" i="0" dirty="0">
                <a:solidFill>
                  <a:srgbClr val="C00000"/>
                </a:solidFill>
                <a:latin typeface="맑은 고딕"/>
                <a:ea typeface="맑은 고딕"/>
              </a:rPr>
              <a:t> (D→P)</a:t>
            </a:r>
          </a:p>
        </p:txBody>
      </p:sp>
      <p:cxnSp>
        <p:nvCxnSpPr>
          <p:cNvPr id="9073" name="Connector 9072"/>
          <p:cNvCxnSpPr/>
          <p:nvPr/>
        </p:nvCxnSpPr>
        <p:spPr>
          <a:xfrm>
            <a:off x="1600200" y="3096801"/>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74" name="TextBox 9073"/>
          <p:cNvSpPr txBox="1"/>
          <p:nvPr/>
        </p:nvSpPr>
        <p:spPr>
          <a:xfrm>
            <a:off x="1645919" y="2954935"/>
            <a:ext cx="2743200" cy="202776"/>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Turn 2: 결과 KV 전송 (P→D)</a:t>
            </a:r>
          </a:p>
        </p:txBody>
      </p:sp>
      <p:sp>
        <p:nvSpPr>
          <p:cNvPr id="9075" name="TextBox 9074"/>
          <p:cNvSpPr txBox="1"/>
          <p:nvPr/>
        </p:nvSpPr>
        <p:spPr>
          <a:xfrm>
            <a:off x="1191239" y="3293582"/>
            <a:ext cx="3837961" cy="461665"/>
          </a:xfrm>
          <a:prstGeom prst="rect">
            <a:avLst/>
          </a:prstGeom>
          <a:noFill/>
        </p:spPr>
        <p:txBody>
          <a:bodyPr wrap="square" lIns="0" tIns="0" rIns="0" bIns="0" anchor="t">
            <a:spAutoFit/>
          </a:bodyPr>
          <a:lstStyle/>
          <a:p>
            <a:pPr algn="ctr">
              <a:lnSpc>
                <a:spcPct val="150000"/>
              </a:lnSpc>
            </a:pPr>
            <a:r>
              <a:rPr lang="en-US" sz="1000" b="1" i="0" dirty="0">
                <a:solidFill>
                  <a:srgbClr val="C00000"/>
                </a:solidFill>
                <a:latin typeface="맑은 고딕"/>
                <a:ea typeface="맑은 고딕"/>
              </a:rPr>
              <a:t>P/D </a:t>
            </a:r>
            <a:r>
              <a:rPr lang="ko-KR" altLang="en-US" sz="1000" b="1" i="0" dirty="0">
                <a:solidFill>
                  <a:srgbClr val="C00000"/>
                </a:solidFill>
                <a:latin typeface="맑은 고딕"/>
                <a:ea typeface="맑은 고딕"/>
              </a:rPr>
              <a:t>분리 구조 시 </a:t>
            </a:r>
            <a:endParaRPr lang="en-US" sz="1000" b="1" i="0" dirty="0">
              <a:solidFill>
                <a:srgbClr val="C00000"/>
              </a:solidFill>
              <a:latin typeface="맑은 고딕"/>
              <a:ea typeface="맑은 고딕"/>
            </a:endParaRPr>
          </a:p>
          <a:p>
            <a:pPr algn="ctr">
              <a:lnSpc>
                <a:spcPct val="150000"/>
              </a:lnSpc>
            </a:pPr>
            <a:r>
              <a:rPr lang="ko-KR" altLang="en-US" sz="1000" b="1" i="0" dirty="0">
                <a:solidFill>
                  <a:srgbClr val="C00000"/>
                </a:solidFill>
                <a:latin typeface="맑은 고딕"/>
                <a:ea typeface="맑은 고딕"/>
              </a:rPr>
              <a:t>누적 </a:t>
            </a:r>
            <a:r>
              <a:rPr sz="1000" b="1" i="0" dirty="0" err="1">
                <a:solidFill>
                  <a:srgbClr val="C00000"/>
                </a:solidFill>
                <a:latin typeface="맑은 고딕"/>
                <a:ea typeface="맑은 고딕"/>
              </a:rPr>
              <a:t>전송</a:t>
            </a:r>
            <a:r>
              <a:rPr sz="1000" b="1" i="0" dirty="0">
                <a:solidFill>
                  <a:srgbClr val="C00000"/>
                </a:solidFill>
                <a:latin typeface="맑은 고딕"/>
                <a:ea typeface="맑은 고딕"/>
              </a:rPr>
              <a:t>: Turn 1 → 1회, Turn 2 → 3회, Turn 3 → 5회 </a:t>
            </a:r>
          </a:p>
        </p:txBody>
      </p:sp>
      <p:sp>
        <p:nvSpPr>
          <p:cNvPr id="9077" name="Rectangle 9076"/>
          <p:cNvSpPr/>
          <p:nvPr/>
        </p:nvSpPr>
        <p:spPr>
          <a:xfrm>
            <a:off x="6720840" y="2435035"/>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000000"/>
                </a:solidFill>
                <a:latin typeface="맑은 고딕"/>
                <a:ea typeface="맑은 고딕"/>
              </a:rPr>
              <a:t>P 노드</a:t>
            </a:r>
          </a:p>
          <a:p>
            <a:pPr algn="ctr"/>
            <a:r>
              <a:rPr sz="1000" b="0" i="0">
                <a:solidFill>
                  <a:srgbClr val="000000"/>
                </a:solidFill>
                <a:latin typeface="맑은 고딕"/>
                <a:ea typeface="맑은 고딕"/>
              </a:rPr>
              <a:t>Prefill</a:t>
            </a:r>
          </a:p>
        </p:txBody>
      </p:sp>
      <p:sp>
        <p:nvSpPr>
          <p:cNvPr id="9078" name="Rectangle 9077"/>
          <p:cNvSpPr/>
          <p:nvPr/>
        </p:nvSpPr>
        <p:spPr>
          <a:xfrm>
            <a:off x="10744200" y="2435035"/>
            <a:ext cx="822960" cy="56692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000000"/>
                </a:solidFill>
                <a:latin typeface="맑은 고딕"/>
                <a:ea typeface="맑은 고딕"/>
              </a:rPr>
              <a:t>D 노드</a:t>
            </a:r>
          </a:p>
          <a:p>
            <a:pPr algn="ctr"/>
            <a:r>
              <a:rPr sz="1000" b="0" i="0">
                <a:solidFill>
                  <a:srgbClr val="000000"/>
                </a:solidFill>
                <a:latin typeface="맑은 고딕"/>
                <a:ea typeface="맑은 고딕"/>
              </a:rPr>
              <a:t>Decode</a:t>
            </a:r>
          </a:p>
        </p:txBody>
      </p:sp>
      <p:sp>
        <p:nvSpPr>
          <p:cNvPr id="9079" name="Rectangle 9078"/>
          <p:cNvSpPr/>
          <p:nvPr/>
        </p:nvSpPr>
        <p:spPr>
          <a:xfrm>
            <a:off x="8229600" y="2343595"/>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err="1">
                <a:solidFill>
                  <a:srgbClr val="000000"/>
                </a:solidFill>
                <a:latin typeface="맑은 고딕"/>
                <a:ea typeface="맑은 고딕"/>
              </a:rPr>
              <a:t>공유</a:t>
            </a:r>
            <a:r>
              <a:rPr sz="1050" b="1" i="0" dirty="0">
                <a:solidFill>
                  <a:srgbClr val="000000"/>
                </a:solidFill>
                <a:latin typeface="맑은 고딕"/>
                <a:ea typeface="맑은 고딕"/>
              </a:rPr>
              <a:t> KV 풀</a:t>
            </a:r>
          </a:p>
          <a:p>
            <a:pPr algn="ctr"/>
            <a:r>
              <a:rPr sz="800" b="0" i="0" dirty="0">
                <a:solidFill>
                  <a:srgbClr val="000000"/>
                </a:solidFill>
                <a:latin typeface="맑은 고딕"/>
                <a:ea typeface="맑은 고딕"/>
              </a:rPr>
              <a:t>DRAM·SSD (</a:t>
            </a:r>
            <a:r>
              <a:rPr sz="800" b="0" i="0" dirty="0" err="1">
                <a:solidFill>
                  <a:srgbClr val="000000"/>
                </a:solidFill>
                <a:latin typeface="맑은 고딕"/>
                <a:ea typeface="맑은 고딕"/>
              </a:rPr>
              <a:t>CXL로</a:t>
            </a:r>
            <a:r>
              <a:rPr sz="800" b="0" i="0" dirty="0">
                <a:solidFill>
                  <a:srgbClr val="000000"/>
                </a:solidFill>
                <a:latin typeface="맑은 고딕"/>
                <a:ea typeface="맑은 고딕"/>
              </a:rPr>
              <a:t> </a:t>
            </a:r>
            <a:r>
              <a:rPr sz="800" b="0" i="0" dirty="0" err="1">
                <a:solidFill>
                  <a:srgbClr val="000000"/>
                </a:solidFill>
                <a:latin typeface="맑은 고딕"/>
                <a:ea typeface="맑은 고딕"/>
              </a:rPr>
              <a:t>교체</a:t>
            </a:r>
            <a:r>
              <a:rPr sz="800" b="0" i="0" dirty="0">
                <a:solidFill>
                  <a:srgbClr val="000000"/>
                </a:solidFill>
                <a:latin typeface="맑은 고딕"/>
                <a:ea typeface="맑은 고딕"/>
              </a:rPr>
              <a:t> </a:t>
            </a:r>
            <a:r>
              <a:rPr sz="800" b="0" i="0" dirty="0" err="1">
                <a:solidFill>
                  <a:srgbClr val="000000"/>
                </a:solidFill>
                <a:latin typeface="맑은 고딕"/>
                <a:ea typeface="맑은 고딕"/>
              </a:rPr>
              <a:t>가능</a:t>
            </a:r>
            <a:r>
              <a:rPr sz="800" b="0" i="0" dirty="0">
                <a:solidFill>
                  <a:srgbClr val="000000"/>
                </a:solidFill>
                <a:latin typeface="맑은 고딕"/>
                <a:ea typeface="맑은 고딕"/>
              </a:rPr>
              <a:t>)</a:t>
            </a:r>
          </a:p>
          <a:p>
            <a:pPr algn="ctr"/>
            <a:r>
              <a:rPr sz="800" b="0" i="0" dirty="0" err="1">
                <a:solidFill>
                  <a:srgbClr val="000000"/>
                </a:solidFill>
                <a:latin typeface="맑은 고딕"/>
                <a:ea typeface="맑은 고딕"/>
              </a:rPr>
              <a:t>위치·상태</a:t>
            </a:r>
            <a:r>
              <a:rPr sz="800" b="0" i="0" dirty="0">
                <a:solidFill>
                  <a:srgbClr val="000000"/>
                </a:solidFill>
                <a:latin typeface="맑은 고딕"/>
                <a:ea typeface="맑은 고딕"/>
              </a:rPr>
              <a:t> </a:t>
            </a:r>
            <a:r>
              <a:rPr sz="800" b="0" i="0" dirty="0" err="1">
                <a:solidFill>
                  <a:srgbClr val="000000"/>
                </a:solidFill>
                <a:latin typeface="맑은 고딕"/>
                <a:ea typeface="맑은 고딕"/>
              </a:rPr>
              <a:t>메타데이터</a:t>
            </a:r>
            <a:r>
              <a:rPr sz="800" b="0" i="0" dirty="0">
                <a:solidFill>
                  <a:srgbClr val="000000"/>
                </a:solidFill>
                <a:latin typeface="맑은 고딕"/>
                <a:ea typeface="맑은 고딕"/>
              </a:rPr>
              <a:t> </a:t>
            </a:r>
            <a:r>
              <a:rPr sz="800" b="0" i="0" dirty="0" err="1">
                <a:solidFill>
                  <a:srgbClr val="000000"/>
                </a:solidFill>
                <a:latin typeface="맑은 고딕"/>
                <a:ea typeface="맑은 고딕"/>
              </a:rPr>
              <a:t>포함</a:t>
            </a:r>
            <a:endParaRPr sz="800" b="0" i="0" dirty="0">
              <a:solidFill>
                <a:srgbClr val="000000"/>
              </a:solidFill>
              <a:latin typeface="맑은 고딕"/>
              <a:ea typeface="맑은 고딕"/>
            </a:endParaRPr>
          </a:p>
        </p:txBody>
      </p:sp>
      <p:cxnSp>
        <p:nvCxnSpPr>
          <p:cNvPr id="9080" name="Connector 9079"/>
          <p:cNvCxnSpPr/>
          <p:nvPr/>
        </p:nvCxnSpPr>
        <p:spPr>
          <a:xfrm>
            <a:off x="7543800" y="257219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9081" name="Connector 9080"/>
          <p:cNvCxnSpPr/>
          <p:nvPr/>
        </p:nvCxnSpPr>
        <p:spPr>
          <a:xfrm>
            <a:off x="10058400" y="257219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7543800" y="28922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9083" name="TextBox 9082"/>
          <p:cNvSpPr txBox="1"/>
          <p:nvPr/>
        </p:nvSpPr>
        <p:spPr>
          <a:xfrm>
            <a:off x="7543800" y="2407604"/>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publish</a:t>
            </a:r>
          </a:p>
        </p:txBody>
      </p:sp>
      <p:sp>
        <p:nvSpPr>
          <p:cNvPr id="9084" name="TextBox 9083"/>
          <p:cNvSpPr txBox="1"/>
          <p:nvPr/>
        </p:nvSpPr>
        <p:spPr>
          <a:xfrm>
            <a:off x="10058400" y="2407604"/>
            <a:ext cx="68580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a:t>
            </a:r>
          </a:p>
        </p:txBody>
      </p:sp>
      <p:sp>
        <p:nvSpPr>
          <p:cNvPr id="9085" name="TextBox 9084"/>
          <p:cNvSpPr txBox="1"/>
          <p:nvPr/>
        </p:nvSpPr>
        <p:spPr>
          <a:xfrm>
            <a:off x="7543800" y="2910523"/>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read(다음)</a:t>
            </a:r>
          </a:p>
        </p:txBody>
      </p:sp>
      <p:sp>
        <p:nvSpPr>
          <p:cNvPr id="9087" name="TextBox 9086"/>
          <p:cNvSpPr txBox="1"/>
          <p:nvPr/>
        </p:nvSpPr>
        <p:spPr>
          <a:xfrm>
            <a:off x="6629400" y="3331149"/>
            <a:ext cx="5120640" cy="431913"/>
          </a:xfrm>
          <a:prstGeom prst="rect">
            <a:avLst/>
          </a:prstGeom>
          <a:noFill/>
        </p:spPr>
        <p:txBody>
          <a:bodyPr wrap="square" lIns="0" tIns="0" rIns="0" bIns="0" anchor="t">
            <a:spAutoFit/>
          </a:bodyPr>
          <a:lstStyle/>
          <a:p>
            <a:pPr algn="ctr">
              <a:lnSpc>
                <a:spcPct val="150000"/>
              </a:lnSpc>
            </a:pPr>
            <a:r>
              <a:rPr sz="1000" b="1" i="0" dirty="0" err="1">
                <a:solidFill>
                  <a:srgbClr val="375623"/>
                </a:solidFill>
                <a:latin typeface="맑은 고딕"/>
                <a:ea typeface="맑은 고딕"/>
              </a:rPr>
              <a:t>위치가</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노드에</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묶이지</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않고</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요청</a:t>
            </a:r>
            <a:r>
              <a:rPr sz="1000" b="1" i="0" dirty="0">
                <a:solidFill>
                  <a:srgbClr val="375623"/>
                </a:solidFill>
                <a:latin typeface="맑은 고딕"/>
                <a:ea typeface="맑은 고딕"/>
              </a:rPr>
              <a:t> 간 </a:t>
            </a:r>
            <a:r>
              <a:rPr sz="1000" b="1" i="0" dirty="0" err="1">
                <a:solidFill>
                  <a:srgbClr val="375623"/>
                </a:solidFill>
                <a:latin typeface="맑은 고딕"/>
                <a:ea typeface="맑은 고딕"/>
              </a:rPr>
              <a:t>공유</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가능</a:t>
            </a:r>
            <a:r>
              <a:rPr sz="1000" b="1" i="0" dirty="0">
                <a:solidFill>
                  <a:srgbClr val="375623"/>
                </a:solidFill>
                <a:latin typeface="맑은 고딕"/>
                <a:ea typeface="맑은 고딕"/>
              </a:rPr>
              <a:t> </a:t>
            </a:r>
            <a:endParaRPr lang="en-US" sz="1000" b="1" i="0" dirty="0">
              <a:solidFill>
                <a:srgbClr val="375623"/>
              </a:solidFill>
              <a:latin typeface="맑은 고딕"/>
              <a:ea typeface="맑은 고딕"/>
            </a:endParaRPr>
          </a:p>
          <a:p>
            <a:pPr algn="ctr">
              <a:lnSpc>
                <a:spcPct val="150000"/>
              </a:lnSpc>
            </a:pPr>
            <a:r>
              <a:rPr sz="1000" b="1" i="0" dirty="0">
                <a:solidFill>
                  <a:srgbClr val="375623"/>
                </a:solidFill>
                <a:latin typeface="맑은 고딕"/>
                <a:ea typeface="맑은 고딕"/>
              </a:rPr>
              <a:t>→ </a:t>
            </a:r>
            <a:r>
              <a:rPr lang="ko-KR" altLang="en-US" sz="1000" b="1" i="0" dirty="0">
                <a:solidFill>
                  <a:srgbClr val="375623"/>
                </a:solidFill>
                <a:latin typeface="맑은 고딕"/>
                <a:ea typeface="맑은 고딕"/>
              </a:rPr>
              <a:t>전송 비용</a:t>
            </a:r>
            <a:r>
              <a:rPr lang="ko-KR" altLang="en-US" sz="1000" b="1" dirty="0">
                <a:solidFill>
                  <a:srgbClr val="375623"/>
                </a:solidFill>
                <a:latin typeface="맑은 고딕"/>
                <a:ea typeface="맑은 고딕"/>
              </a:rPr>
              <a:t>을</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균일하게·줄일</a:t>
            </a:r>
            <a:r>
              <a:rPr sz="1000" b="1" i="0" dirty="0">
                <a:solidFill>
                  <a:srgbClr val="375623"/>
                </a:solidFill>
                <a:latin typeface="맑은 고딕"/>
                <a:ea typeface="맑은 고딕"/>
              </a:rPr>
              <a:t> 수 </a:t>
            </a:r>
            <a:r>
              <a:rPr sz="1000" b="1" i="0" dirty="0" err="1">
                <a:solidFill>
                  <a:srgbClr val="375623"/>
                </a:solidFill>
                <a:latin typeface="맑은 고딕"/>
                <a:ea typeface="맑은 고딕"/>
              </a:rPr>
              <a:t>있는지가</a:t>
            </a:r>
            <a:r>
              <a:rPr sz="1000" b="1" i="0" dirty="0">
                <a:solidFill>
                  <a:srgbClr val="375623"/>
                </a:solidFill>
                <a:latin typeface="맑은 고딕"/>
                <a:ea typeface="맑은 고딕"/>
              </a:rPr>
              <a:t> </a:t>
            </a:r>
            <a:r>
              <a:rPr sz="1000" b="1" i="0" dirty="0" err="1">
                <a:solidFill>
                  <a:srgbClr val="375623"/>
                </a:solidFill>
                <a:latin typeface="맑은 고딕"/>
                <a:ea typeface="맑은 고딕"/>
              </a:rPr>
              <a:t>쟁점</a:t>
            </a:r>
            <a:endParaRPr sz="1000" b="1" i="0" dirty="0">
              <a:solidFill>
                <a:srgbClr val="375623"/>
              </a:solidFill>
              <a:latin typeface="맑은 고딕"/>
              <a:ea typeface="맑은 고딕"/>
            </a:endParaRPr>
          </a:p>
        </p:txBody>
      </p:sp>
      <p:sp>
        <p:nvSpPr>
          <p:cNvPr id="9088" name="TextBox 9087"/>
          <p:cNvSpPr txBox="1"/>
          <p:nvPr/>
        </p:nvSpPr>
        <p:spPr>
          <a:xfrm>
            <a:off x="411480" y="4509321"/>
            <a:ext cx="7315200" cy="153888"/>
          </a:xfrm>
          <a:prstGeom prst="rect">
            <a:avLst/>
          </a:prstGeom>
          <a:noFill/>
        </p:spPr>
        <p:txBody>
          <a:bodyPr wrap="square" lIns="0" tIns="0" rIns="0" bIns="0" anchor="t">
            <a:spAutoFit/>
          </a:bodyPr>
          <a:lstStyle/>
          <a:p>
            <a:pPr algn="l"/>
            <a:r>
              <a:rPr sz="1000" b="1" i="0" dirty="0">
                <a:solidFill>
                  <a:srgbClr val="404040"/>
                </a:solidFill>
                <a:latin typeface="맑은 고딕"/>
                <a:ea typeface="맑은 고딕"/>
              </a:rPr>
              <a:t>KV </a:t>
            </a:r>
            <a:r>
              <a:rPr sz="1000" b="1" i="0" dirty="0" err="1">
                <a:solidFill>
                  <a:srgbClr val="404040"/>
                </a:solidFill>
                <a:latin typeface="맑은 고딕"/>
                <a:ea typeface="맑은 고딕"/>
              </a:rPr>
              <a:t>전송</a:t>
            </a:r>
            <a:r>
              <a:rPr sz="1000" b="1" i="0" dirty="0">
                <a:solidFill>
                  <a:srgbClr val="404040"/>
                </a:solidFill>
                <a:latin typeface="맑은 고딕"/>
                <a:ea typeface="맑은 고딕"/>
              </a:rPr>
              <a:t> </a:t>
            </a:r>
            <a:r>
              <a:rPr sz="1000" b="1" i="0" dirty="0" err="1">
                <a:solidFill>
                  <a:srgbClr val="404040"/>
                </a:solidFill>
                <a:latin typeface="맑은 고딕"/>
                <a:ea typeface="맑은 고딕"/>
              </a:rPr>
              <a:t>한계를</a:t>
            </a:r>
            <a:r>
              <a:rPr sz="1000" b="1" i="0" dirty="0">
                <a:solidFill>
                  <a:srgbClr val="404040"/>
                </a:solidFill>
                <a:latin typeface="맑은 고딕"/>
                <a:ea typeface="맑은 고딕"/>
              </a:rPr>
              <a:t> </a:t>
            </a:r>
            <a:r>
              <a:rPr sz="1000" b="1" i="0" dirty="0" err="1">
                <a:solidFill>
                  <a:srgbClr val="404040"/>
                </a:solidFill>
                <a:latin typeface="맑은 고딕"/>
                <a:ea typeface="맑은 고딕"/>
              </a:rPr>
              <a:t>푸는</a:t>
            </a:r>
            <a:r>
              <a:rPr sz="1000" b="1" i="0" dirty="0">
                <a:solidFill>
                  <a:srgbClr val="404040"/>
                </a:solidFill>
                <a:latin typeface="맑은 고딕"/>
                <a:ea typeface="맑은 고딕"/>
              </a:rPr>
              <a:t> 세 </a:t>
            </a:r>
            <a:r>
              <a:rPr sz="1000" b="1" i="0" dirty="0" err="1">
                <a:solidFill>
                  <a:srgbClr val="404040"/>
                </a:solidFill>
                <a:latin typeface="맑은 고딕"/>
                <a:ea typeface="맑은 고딕"/>
              </a:rPr>
              <a:t>가지</a:t>
            </a:r>
            <a:r>
              <a:rPr sz="1000" b="1" i="0" dirty="0">
                <a:solidFill>
                  <a:srgbClr val="404040"/>
                </a:solidFill>
                <a:latin typeface="맑은 고딕"/>
                <a:ea typeface="맑은 고딕"/>
              </a:rPr>
              <a:t> </a:t>
            </a:r>
            <a:r>
              <a:rPr sz="1000" b="1" i="0" dirty="0" err="1">
                <a:solidFill>
                  <a:srgbClr val="404040"/>
                </a:solidFill>
                <a:latin typeface="맑은 고딕"/>
                <a:ea typeface="맑은 고딕"/>
              </a:rPr>
              <a:t>방법</a:t>
            </a:r>
            <a:endParaRPr sz="1000" b="1" i="0" dirty="0">
              <a:solidFill>
                <a:srgbClr val="404040"/>
              </a:solidFill>
              <a:latin typeface="맑은 고딕"/>
              <a:ea typeface="맑은 고딕"/>
            </a:endParaRPr>
          </a:p>
        </p:txBody>
      </p:sp>
      <p:sp>
        <p:nvSpPr>
          <p:cNvPr id="9089" name="Rounded Rectangle 9088"/>
          <p:cNvSpPr/>
          <p:nvPr/>
        </p:nvSpPr>
        <p:spPr>
          <a:xfrm>
            <a:off x="347472" y="4797037"/>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a:t>
            </a:r>
            <a:r>
              <a:rPr lang="en-US" sz="1050" b="1" i="0" dirty="0">
                <a:solidFill>
                  <a:srgbClr val="000000"/>
                </a:solidFill>
                <a:latin typeface="맑은 고딕"/>
                <a:ea typeface="맑은 고딕"/>
              </a:rPr>
              <a:t>1  </a:t>
            </a:r>
            <a:r>
              <a:rPr lang="ko-KR" altLang="en-US" sz="1050" b="1" dirty="0">
                <a:solidFill>
                  <a:srgbClr val="000000"/>
                </a:solidFill>
                <a:latin typeface="맑은 고딕"/>
                <a:ea typeface="맑은 고딕"/>
              </a:rPr>
              <a:t>적절한 곳에 배치한다</a:t>
            </a:r>
            <a:endParaRPr sz="1050" b="1" i="0" dirty="0">
              <a:solidFill>
                <a:srgbClr val="000000"/>
              </a:solidFill>
              <a:latin typeface="맑은 고딕"/>
              <a:ea typeface="맑은 고딕"/>
            </a:endParaRPr>
          </a:p>
          <a:p>
            <a:pPr algn="ctr"/>
            <a:r>
              <a:rPr lang="ko-KR" altLang="en-US" sz="900" b="0" i="0" dirty="0">
                <a:solidFill>
                  <a:srgbClr val="000000"/>
                </a:solidFill>
                <a:latin typeface="맑은 고딕"/>
                <a:ea typeface="맑은 고딕"/>
              </a:rPr>
              <a:t>데이터 특성</a:t>
            </a:r>
            <a:r>
              <a:rPr lang="en-US" altLang="ko-KR" sz="900" b="0" i="0" dirty="0">
                <a:solidFill>
                  <a:srgbClr val="000000"/>
                </a:solidFill>
                <a:latin typeface="맑은 고딕"/>
                <a:ea typeface="맑은 고딕"/>
              </a:rPr>
              <a:t>/</a:t>
            </a:r>
            <a:r>
              <a:rPr lang="ko-KR" altLang="en-US" sz="900" b="0" i="0" dirty="0">
                <a:solidFill>
                  <a:srgbClr val="000000"/>
                </a:solidFill>
                <a:latin typeface="맑은 고딕"/>
                <a:ea typeface="맑은 고딕"/>
              </a:rPr>
              <a:t>리소스 고려한 메모리에 배치</a:t>
            </a:r>
            <a:endParaRPr sz="900" b="0" i="0" dirty="0">
              <a:solidFill>
                <a:srgbClr val="000000"/>
              </a:solidFill>
              <a:latin typeface="맑은 고딕"/>
              <a:ea typeface="맑은 고딕"/>
            </a:endParaRPr>
          </a:p>
        </p:txBody>
      </p:sp>
      <p:sp>
        <p:nvSpPr>
          <p:cNvPr id="9090" name="TextBox 9089"/>
          <p:cNvSpPr txBox="1"/>
          <p:nvPr/>
        </p:nvSpPr>
        <p:spPr>
          <a:xfrm>
            <a:off x="3749040" y="4943341"/>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91" name="Rounded Rectangle 9090"/>
          <p:cNvSpPr/>
          <p:nvPr/>
        </p:nvSpPr>
        <p:spPr>
          <a:xfrm>
            <a:off x="4187952" y="4797037"/>
            <a:ext cx="3383280" cy="566928"/>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DP2 </a:t>
            </a:r>
            <a:r>
              <a:rPr lang="en-US" sz="1050" b="1" i="0" dirty="0">
                <a:solidFill>
                  <a:srgbClr val="000000"/>
                </a:solidFill>
                <a:latin typeface="맑은 고딕"/>
                <a:ea typeface="맑은 고딕"/>
              </a:rPr>
              <a:t> </a:t>
            </a:r>
            <a:r>
              <a:rPr lang="ko-KR" altLang="en-US" sz="1050" b="1" i="0" dirty="0">
                <a:solidFill>
                  <a:srgbClr val="000000"/>
                </a:solidFill>
                <a:latin typeface="맑은 고딕"/>
                <a:ea typeface="맑은 고딕"/>
              </a:rPr>
              <a:t>연산</a:t>
            </a:r>
            <a:r>
              <a:rPr sz="1050" b="1" i="0" dirty="0">
                <a:solidFill>
                  <a:srgbClr val="000000"/>
                </a:solidFill>
                <a:latin typeface="맑은 고딕"/>
                <a:ea typeface="맑은 고딕"/>
              </a:rPr>
              <a:t> </a:t>
            </a:r>
            <a:r>
              <a:rPr sz="1050" b="1" i="0" dirty="0" err="1">
                <a:solidFill>
                  <a:srgbClr val="000000"/>
                </a:solidFill>
                <a:latin typeface="맑은 고딕"/>
                <a:ea typeface="맑은 고딕"/>
              </a:rPr>
              <a:t>위치를</a:t>
            </a:r>
            <a:r>
              <a:rPr sz="1050" b="1" i="0" dirty="0">
                <a:solidFill>
                  <a:srgbClr val="000000"/>
                </a:solidFill>
                <a:latin typeface="맑은 고딕"/>
                <a:ea typeface="맑은 고딕"/>
              </a:rPr>
              <a:t> </a:t>
            </a:r>
            <a:r>
              <a:rPr sz="1050" b="1" i="0" dirty="0" err="1">
                <a:solidFill>
                  <a:srgbClr val="000000"/>
                </a:solidFill>
                <a:latin typeface="맑은 고딕"/>
                <a:ea typeface="맑은 고딕"/>
              </a:rPr>
              <a:t>고른다</a:t>
            </a:r>
            <a:endParaRPr sz="1050" b="1" i="0" dirty="0">
              <a:solidFill>
                <a:srgbClr val="000000"/>
              </a:solidFill>
              <a:latin typeface="맑은 고딕"/>
              <a:ea typeface="맑은 고딕"/>
            </a:endParaRPr>
          </a:p>
          <a:p>
            <a:pPr algn="ctr"/>
            <a:r>
              <a:rPr sz="900" b="0" i="0" dirty="0" err="1">
                <a:solidFill>
                  <a:srgbClr val="000000"/>
                </a:solidFill>
                <a:latin typeface="맑은 고딕"/>
                <a:ea typeface="맑은 고딕"/>
              </a:rPr>
              <a:t>비용</a:t>
            </a:r>
            <a:r>
              <a:rPr sz="900" b="0" i="0" dirty="0">
                <a:solidFill>
                  <a:srgbClr val="000000"/>
                </a:solidFill>
                <a:latin typeface="맑은 고딕"/>
                <a:ea typeface="맑은 고딕"/>
              </a:rPr>
              <a:t> </a:t>
            </a:r>
            <a:r>
              <a:rPr sz="900" b="0" i="0" dirty="0" err="1">
                <a:solidFill>
                  <a:srgbClr val="000000"/>
                </a:solidFill>
                <a:latin typeface="맑은 고딕"/>
                <a:ea typeface="맑은 고딕"/>
              </a:rPr>
              <a:t>기반</a:t>
            </a:r>
            <a:r>
              <a:rPr sz="900" b="0" i="0" dirty="0">
                <a:solidFill>
                  <a:srgbClr val="000000"/>
                </a:solidFill>
                <a:latin typeface="맑은 고딕"/>
                <a:ea typeface="맑은 고딕"/>
              </a:rPr>
              <a:t> P/D </a:t>
            </a:r>
            <a:r>
              <a:rPr sz="900" b="0" i="0" dirty="0" err="1">
                <a:solidFill>
                  <a:srgbClr val="000000"/>
                </a:solidFill>
                <a:latin typeface="맑은 고딕"/>
                <a:ea typeface="맑은 고딕"/>
              </a:rPr>
              <a:t>노드</a:t>
            </a:r>
            <a:r>
              <a:rPr sz="900" b="0" i="0" dirty="0">
                <a:solidFill>
                  <a:srgbClr val="000000"/>
                </a:solidFill>
                <a:latin typeface="맑은 고딕"/>
                <a:ea typeface="맑은 고딕"/>
              </a:rPr>
              <a:t> </a:t>
            </a:r>
            <a:r>
              <a:rPr sz="900" b="0" i="0" dirty="0" err="1">
                <a:solidFill>
                  <a:srgbClr val="000000"/>
                </a:solidFill>
                <a:latin typeface="맑은 고딕"/>
                <a:ea typeface="맑은 고딕"/>
              </a:rPr>
              <a:t>선택</a:t>
            </a:r>
            <a:endParaRPr sz="900" b="0" i="0" dirty="0">
              <a:solidFill>
                <a:srgbClr val="000000"/>
              </a:solidFill>
              <a:latin typeface="맑은 고딕"/>
              <a:ea typeface="맑은 고딕"/>
            </a:endParaRPr>
          </a:p>
        </p:txBody>
      </p:sp>
      <p:sp>
        <p:nvSpPr>
          <p:cNvPr id="9092" name="TextBox 9091"/>
          <p:cNvSpPr txBox="1"/>
          <p:nvPr/>
        </p:nvSpPr>
        <p:spPr>
          <a:xfrm>
            <a:off x="7589520" y="4943341"/>
            <a:ext cx="420624" cy="274320"/>
          </a:xfrm>
          <a:prstGeom prst="rect">
            <a:avLst/>
          </a:prstGeom>
          <a:noFill/>
        </p:spPr>
        <p:txBody>
          <a:bodyPr wrap="square" lIns="0" tIns="0" rIns="0" bIns="0" anchor="t">
            <a:spAutoFit/>
          </a:bodyPr>
          <a:lstStyle/>
          <a:p>
            <a:pPr algn="ctr"/>
            <a:r>
              <a:rPr sz="1400" b="1" i="0">
                <a:solidFill>
                  <a:srgbClr val="404040"/>
                </a:solidFill>
                <a:latin typeface="맑은 고딕"/>
                <a:ea typeface="맑은 고딕"/>
              </a:rPr>
              <a:t>+</a:t>
            </a:r>
          </a:p>
        </p:txBody>
      </p:sp>
      <p:sp>
        <p:nvSpPr>
          <p:cNvPr id="9093" name="Rounded Rectangle 9092"/>
          <p:cNvSpPr/>
          <p:nvPr/>
        </p:nvSpPr>
        <p:spPr>
          <a:xfrm>
            <a:off x="8028432" y="4797037"/>
            <a:ext cx="3383280" cy="566928"/>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DP4  </a:t>
            </a:r>
            <a:r>
              <a:rPr sz="1050" b="1" i="0" dirty="0" err="1">
                <a:solidFill>
                  <a:srgbClr val="000000"/>
                </a:solidFill>
                <a:latin typeface="맑은 고딕"/>
                <a:ea typeface="맑은 고딕"/>
              </a:rPr>
              <a:t>전송</a:t>
            </a:r>
            <a:r>
              <a:rPr sz="1050" b="1" i="0" dirty="0">
                <a:solidFill>
                  <a:srgbClr val="000000"/>
                </a:solidFill>
                <a:latin typeface="맑은 고딕"/>
                <a:ea typeface="맑은 고딕"/>
              </a:rPr>
              <a:t> </a:t>
            </a:r>
            <a:r>
              <a:rPr sz="1050" b="1" i="0" dirty="0" err="1">
                <a:solidFill>
                  <a:srgbClr val="000000"/>
                </a:solidFill>
                <a:latin typeface="맑은 고딕"/>
                <a:ea typeface="맑은 고딕"/>
              </a:rPr>
              <a:t>구조를</a:t>
            </a:r>
            <a:r>
              <a:rPr sz="1050" b="1" i="0" dirty="0">
                <a:solidFill>
                  <a:srgbClr val="000000"/>
                </a:solidFill>
                <a:latin typeface="맑은 고딕"/>
                <a:ea typeface="맑은 고딕"/>
              </a:rPr>
              <a:t> </a:t>
            </a:r>
            <a:r>
              <a:rPr sz="1050" b="1" i="0" dirty="0" err="1">
                <a:solidFill>
                  <a:srgbClr val="000000"/>
                </a:solidFill>
                <a:latin typeface="맑은 고딕"/>
                <a:ea typeface="맑은 고딕"/>
              </a:rPr>
              <a:t>바꾼다</a:t>
            </a:r>
            <a:endParaRPr sz="1050" b="1" i="0" dirty="0">
              <a:solidFill>
                <a:srgbClr val="000000"/>
              </a:solidFill>
              <a:latin typeface="맑은 고딕"/>
              <a:ea typeface="맑은 고딕"/>
            </a:endParaRPr>
          </a:p>
          <a:p>
            <a:pPr algn="ctr"/>
            <a:r>
              <a:rPr sz="900" b="0" i="0" dirty="0" err="1">
                <a:solidFill>
                  <a:srgbClr val="000000"/>
                </a:solidFill>
                <a:latin typeface="맑은 고딕"/>
                <a:ea typeface="맑은 고딕"/>
              </a:rPr>
              <a:t>서버</a:t>
            </a:r>
            <a:r>
              <a:rPr sz="900" b="0" i="0" dirty="0">
                <a:solidFill>
                  <a:srgbClr val="000000"/>
                </a:solidFill>
                <a:latin typeface="맑은 고딕"/>
                <a:ea typeface="맑은 고딕"/>
              </a:rPr>
              <a:t> 간 </a:t>
            </a:r>
            <a:r>
              <a:rPr sz="900" b="0" i="0" dirty="0" err="1">
                <a:solidFill>
                  <a:srgbClr val="000000"/>
                </a:solidFill>
                <a:latin typeface="맑은 고딕"/>
                <a:ea typeface="맑은 고딕"/>
              </a:rPr>
              <a:t>KV·상태</a:t>
            </a:r>
            <a:r>
              <a:rPr sz="900" b="0" i="0" dirty="0">
                <a:solidFill>
                  <a:srgbClr val="000000"/>
                </a:solidFill>
                <a:latin typeface="맑은 고딕"/>
                <a:ea typeface="맑은 고딕"/>
              </a:rPr>
              <a:t> </a:t>
            </a:r>
            <a:r>
              <a:rPr sz="900" b="0" i="0" dirty="0" err="1">
                <a:solidFill>
                  <a:srgbClr val="000000"/>
                </a:solidFill>
                <a:latin typeface="맑은 고딕"/>
                <a:ea typeface="맑은 고딕"/>
              </a:rPr>
              <a:t>공유</a:t>
            </a:r>
            <a:endParaRPr sz="900" b="0" i="0" dirty="0">
              <a:solidFill>
                <a:srgbClr val="000000"/>
              </a:solidFill>
              <a:latin typeface="맑은 고딕"/>
              <a:ea typeface="맑은 고딕"/>
            </a:endParaRPr>
          </a:p>
        </p:txBody>
      </p:sp>
      <p:sp>
        <p:nvSpPr>
          <p:cNvPr id="4" name="직사각형 3"/>
          <p:cNvSpPr/>
          <p:nvPr/>
        </p:nvSpPr>
        <p:spPr>
          <a:xfrm>
            <a:off x="476500" y="6023219"/>
            <a:ext cx="9805099" cy="553998"/>
          </a:xfrm>
          <a:prstGeom prst="rect">
            <a:avLst/>
          </a:prstGeom>
        </p:spPr>
        <p:txBody>
          <a:bodyPr wrap="square">
            <a:spAutoFit/>
          </a:bodyPr>
          <a:lstStyle/>
          <a:p>
            <a:pPr lvl="0">
              <a:lnSpc>
                <a:spcPct val="125000"/>
              </a:lnSpc>
            </a:pPr>
            <a:r>
              <a:rPr lang="ko-KR" altLang="en-US" sz="1200" b="1" dirty="0">
                <a:solidFill>
                  <a:srgbClr val="000000"/>
                </a:solidFill>
                <a:ea typeface="맑은 고딕"/>
              </a:rPr>
              <a:t>설계 쟁점 </a:t>
            </a:r>
            <a:r>
              <a:rPr lang="en-US" altLang="ko-KR" sz="1200" b="1" dirty="0">
                <a:solidFill>
                  <a:srgbClr val="000000"/>
                </a:solidFill>
                <a:ea typeface="맑은 고딕"/>
              </a:rPr>
              <a:t>1. </a:t>
            </a:r>
            <a:r>
              <a:rPr lang="ko-KR" altLang="en-US" sz="1200" dirty="0">
                <a:solidFill>
                  <a:srgbClr val="000000"/>
                </a:solidFill>
                <a:ea typeface="맑은 고딕"/>
              </a:rPr>
              <a:t>서버 간 </a:t>
            </a:r>
            <a:r>
              <a:rPr lang="en-US" altLang="ko-KR" sz="1200" dirty="0">
                <a:solidFill>
                  <a:srgbClr val="000000"/>
                </a:solidFill>
                <a:ea typeface="맑은 고딕"/>
              </a:rPr>
              <a:t>KV </a:t>
            </a:r>
            <a:r>
              <a:rPr lang="ko-KR" altLang="en-US" sz="1200" dirty="0">
                <a:solidFill>
                  <a:srgbClr val="000000"/>
                </a:solidFill>
                <a:ea typeface="맑은 고딕"/>
              </a:rPr>
              <a:t>전송 및 공유 방식 최적화를 통한 </a:t>
            </a:r>
            <a:r>
              <a:rPr lang="ko-KR" altLang="en-US" sz="1200" b="1" dirty="0">
                <a:solidFill>
                  <a:srgbClr val="0066FF"/>
                </a:solidFill>
                <a:ea typeface="맑은 고딕"/>
              </a:rPr>
              <a:t>추론 성능</a:t>
            </a:r>
            <a:r>
              <a:rPr lang="en-US" altLang="ko-KR" sz="1200" b="1" dirty="0">
                <a:solidFill>
                  <a:srgbClr val="0066FF"/>
                </a:solidFill>
                <a:ea typeface="맑은 고딕"/>
              </a:rPr>
              <a:t>(</a:t>
            </a:r>
            <a:r>
              <a:rPr lang="ko-KR" altLang="en-US" sz="1200" b="1" dirty="0">
                <a:solidFill>
                  <a:srgbClr val="0066FF"/>
                </a:solidFill>
                <a:ea typeface="맑은 고딕"/>
              </a:rPr>
              <a:t>처리량</a:t>
            </a:r>
            <a:r>
              <a:rPr lang="en-US" altLang="ko-KR" sz="1200" b="1" dirty="0">
                <a:solidFill>
                  <a:srgbClr val="0066FF"/>
                </a:solidFill>
                <a:ea typeface="맑은 고딕"/>
              </a:rPr>
              <a:t>, </a:t>
            </a:r>
            <a:r>
              <a:rPr lang="ko-KR" altLang="en-US" sz="1200" b="1" dirty="0">
                <a:solidFill>
                  <a:srgbClr val="0066FF"/>
                </a:solidFill>
                <a:ea typeface="맑은 고딕"/>
              </a:rPr>
              <a:t>지연시간</a:t>
            </a:r>
            <a:r>
              <a:rPr lang="en-US" altLang="ko-KR" sz="1200" b="1" dirty="0">
                <a:solidFill>
                  <a:srgbClr val="0066FF"/>
                </a:solidFill>
                <a:ea typeface="맑은 고딕"/>
              </a:rPr>
              <a:t>) </a:t>
            </a:r>
            <a:r>
              <a:rPr lang="ko-KR" altLang="en-US" sz="1200" b="1" dirty="0">
                <a:solidFill>
                  <a:srgbClr val="0066FF"/>
                </a:solidFill>
                <a:ea typeface="맑은 고딕"/>
              </a:rPr>
              <a:t>향상</a:t>
            </a:r>
            <a:endParaRPr lang="en-US" altLang="ko-KR" sz="1200" b="1" dirty="0">
              <a:solidFill>
                <a:srgbClr val="0066FF"/>
              </a:solidFill>
              <a:ea typeface="맑은 고딕"/>
            </a:endParaRPr>
          </a:p>
          <a:p>
            <a:pPr lvl="0">
              <a:lnSpc>
                <a:spcPct val="125000"/>
              </a:lnSpc>
            </a:pPr>
            <a:r>
              <a:rPr lang="ko-KR" altLang="en-US" sz="1200" b="1" dirty="0">
                <a:solidFill>
                  <a:srgbClr val="000000"/>
                </a:solidFill>
                <a:ea typeface="맑은 고딕"/>
              </a:rPr>
              <a:t>설계 쟁점 </a:t>
            </a:r>
            <a:r>
              <a:rPr lang="en-US" altLang="ko-KR" sz="1200" b="1" dirty="0">
                <a:solidFill>
                  <a:srgbClr val="000000"/>
                </a:solidFill>
                <a:ea typeface="맑은 고딕"/>
              </a:rPr>
              <a:t>2. </a:t>
            </a:r>
            <a:r>
              <a:rPr lang="ko-KR" altLang="en-US" sz="1200" dirty="0">
                <a:solidFill>
                  <a:srgbClr val="000000"/>
                </a:solidFill>
                <a:ea typeface="맑은 고딕"/>
              </a:rPr>
              <a:t>서버 규모 증가에 따른 </a:t>
            </a:r>
            <a:r>
              <a:rPr lang="en-US" altLang="ko-KR" sz="1200" dirty="0">
                <a:solidFill>
                  <a:srgbClr val="000000"/>
                </a:solidFill>
                <a:ea typeface="맑은 고딕"/>
              </a:rPr>
              <a:t>KV </a:t>
            </a:r>
            <a:r>
              <a:rPr lang="ko-KR" altLang="en-US" sz="1200" dirty="0">
                <a:solidFill>
                  <a:srgbClr val="000000"/>
                </a:solidFill>
                <a:ea typeface="맑은 고딕"/>
              </a:rPr>
              <a:t>공유 및 분산 상태 관리의 </a:t>
            </a:r>
            <a:r>
              <a:rPr lang="ko-KR" altLang="en-US" sz="1200" b="1" dirty="0">
                <a:solidFill>
                  <a:srgbClr val="000000"/>
                </a:solidFill>
                <a:ea typeface="맑은 고딕"/>
              </a:rPr>
              <a:t>확장성 확보</a:t>
            </a:r>
            <a:endParaRPr lang="en-US" altLang="ko-KR" sz="1200" b="1" dirty="0">
              <a:solidFill>
                <a:srgbClr val="0066FF"/>
              </a:solidFill>
              <a:ea typeface="맑은 고딕"/>
            </a:endParaRPr>
          </a:p>
        </p:txBody>
      </p:sp>
      <p:sp>
        <p:nvSpPr>
          <p:cNvPr id="56"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1598279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2099086541"/>
              </p:ext>
            </p:extLst>
          </p:nvPr>
        </p:nvGraphicFramePr>
        <p:xfrm>
          <a:off x="234949" y="1032440"/>
          <a:ext cx="11747501" cy="538048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(1안) 점대점 전송 구조 (Direct Transfer)</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(2안) 공유 KV 풀 구조 (Shared KV Pool)</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노드 </a:t>
                      </a:r>
                      <a:r>
                        <a:rPr lang="ko-KR" altLang="en-US" sz="1200" strike="noStrike" kern="1200" baseline="0" dirty="0" err="1">
                          <a:solidFill>
                            <a:schemeClr val="tx1"/>
                          </a:solidFill>
                          <a:effectLst/>
                          <a:latin typeface="+mn-lt"/>
                          <a:ea typeface="+mn-ea"/>
                          <a:cs typeface="+mn-cs"/>
                        </a:rPr>
                        <a:t>쌍별</a:t>
                      </a:r>
                      <a:r>
                        <a:rPr lang="ko-KR" altLang="en-US" sz="1200" strike="noStrike" kern="1200" baseline="0" dirty="0">
                          <a:solidFill>
                            <a:schemeClr val="tx1"/>
                          </a:solidFill>
                          <a:effectLst/>
                          <a:latin typeface="+mn-lt"/>
                          <a:ea typeface="+mn-ea"/>
                          <a:cs typeface="+mn-cs"/>
                        </a:rPr>
                        <a:t> 독립 대역폭으로</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동시 요청 증가에도 간섭 없음</a:t>
                      </a:r>
                      <a:endParaRPr lang="en-US" altLang="ko-KR" sz="1200" strike="noStrike" kern="1200" baseline="0" dirty="0">
                        <a:solidFill>
                          <a:schemeClr val="tx1"/>
                        </a:solidFill>
                        <a:effectLst/>
                        <a:latin typeface="+mn-lt"/>
                        <a:ea typeface="+mn-ea"/>
                        <a:cs typeface="+mn-cs"/>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kern="1200" baseline="0" dirty="0">
                          <a:solidFill>
                            <a:schemeClr val="tx1"/>
                          </a:solidFill>
                          <a:effectLst/>
                          <a:latin typeface="+mn-lt"/>
                          <a:ea typeface="+mn-ea"/>
                          <a:cs typeface="+mn-cs"/>
                        </a:rPr>
                        <a:t>공유 매체가 필요 없어 2노드 환경에서 바로 적용</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KV 위치가 노드에 독립적이라 전송 시간이 균일</a:t>
                      </a:r>
                      <a:endParaRPr lang="en-US" altLang="ko-KR" sz="1200" strike="noStrike" baseline="0" dirty="0">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요청 간 공유 용이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동일 </a:t>
                      </a:r>
                      <a:r>
                        <a:rPr lang="en-US" altLang="ko-KR" sz="1200" strike="noStrike" baseline="0" dirty="0">
                          <a:effectLst/>
                        </a:rPr>
                        <a:t>History KV</a:t>
                      </a:r>
                      <a:r>
                        <a:rPr lang="ko-KR" altLang="en-US" sz="1200" strike="noStrike" baseline="0" dirty="0">
                          <a:effectLst/>
                        </a:rPr>
                        <a:t>를 </a:t>
                      </a:r>
                      <a:r>
                        <a:rPr lang="ko-KR" altLang="en-US" sz="1200" strike="noStrike" baseline="0" dirty="0" err="1">
                          <a:effectLst/>
                        </a:rPr>
                        <a:t>노드마다</a:t>
                      </a:r>
                      <a:r>
                        <a:rPr lang="ko-KR" altLang="en-US" sz="1200" strike="noStrike" baseline="0" dirty="0">
                          <a:effectLst/>
                        </a:rPr>
                        <a:t> 중복 보관</a:t>
                      </a:r>
                      <a:endParaRPr lang="en-US" altLang="ko-KR" sz="1200" strike="noStrike" baseline="0" dirty="0">
                        <a:effectLst/>
                      </a:endParaRPr>
                    </a:p>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노드 증가 시 연결 복잡도 증가 </a:t>
                      </a:r>
                      <a:endParaRPr lang="en-US" altLang="ko-KR" sz="1200" strike="noStrike" baseline="0" dirty="0">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풀 접근도 전송이라 병목 가능 (네트워크 풀 기준 평가)</a:t>
                      </a:r>
                      <a:endParaRPr lang="en-US" altLang="ko-KR" sz="1200" strike="noStrike" baseline="0" dirty="0">
                        <a:effectLst/>
                      </a:endParaRPr>
                    </a:p>
                    <a:p>
                      <a:pPr marL="228600" indent="-228600" latinLnBrk="1">
                        <a:lnSpc>
                          <a:spcPct val="100000"/>
                        </a:lnSpc>
                        <a:buFont typeface="Wingdings" panose="05000000000000000000" pitchFamily="2" charset="2"/>
                        <a:buChar char="§"/>
                      </a:pPr>
                      <a:r>
                        <a:rPr lang="ko-KR" altLang="en-US" sz="1200" strike="noStrike" baseline="0" dirty="0">
                          <a:effectLst/>
                        </a:rPr>
                        <a:t>풀 일관성·장애 처리·관리 오버헤드</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QA2.</a:t>
                      </a:r>
                      <a:r>
                        <a:rPr lang="en-US" altLang="ko-KR" sz="1000" b="0" strike="noStrike" baseline="0" dirty="0">
                          <a:solidFill>
                            <a:schemeClr val="tx1"/>
                          </a:solidFill>
                        </a:rPr>
                        <a:t> </a:t>
                      </a: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QA3.</a:t>
                      </a:r>
                      <a:r>
                        <a:rPr lang="en-US" altLang="ko-KR" sz="1000" b="0" strike="noStrike" baseline="0" dirty="0">
                          <a:solidFill>
                            <a:schemeClr val="tx1"/>
                          </a:solidFill>
                        </a:rPr>
                        <a:t> </a:t>
                      </a:r>
                      <a:r>
                        <a:rPr lang="en-US" altLang="ko-KR" sz="1000" b="0" strike="noStrike" dirty="0">
                          <a:solidFill>
                            <a:schemeClr val="tx1"/>
                          </a:solidFill>
                        </a:rPr>
                        <a:t>Resource Efficiency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QA5.</a:t>
                      </a:r>
                      <a:r>
                        <a:rPr lang="en-US" altLang="ko-KR" sz="1000" b="0" strike="noStrike" baseline="0" dirty="0">
                          <a:solidFill>
                            <a:schemeClr val="tx1"/>
                          </a:solidFill>
                        </a:rPr>
                        <a:t> </a:t>
                      </a:r>
                      <a:r>
                        <a:rPr lang="en-US" altLang="ko-KR" sz="1000" b="0" strike="noStrike" dirty="0"/>
                        <a:t>Scalability</a:t>
                      </a:r>
                      <a:r>
                        <a:rPr lang="en-US" altLang="ko-KR" sz="1000" b="0" strike="noStrike" baseline="0" dirty="0"/>
                        <a:t> </a:t>
                      </a:r>
                      <a:r>
                        <a:rPr lang="en-US" altLang="ko-KR" sz="1000" b="0" strike="noStrike" dirty="0"/>
                        <a:t>(Scaling</a:t>
                      </a:r>
                      <a:r>
                        <a:rPr lang="en-US" altLang="ko-KR" sz="1000" b="0" strike="noStrike" baseline="0" dirty="0"/>
                        <a:t> Efficiency</a:t>
                      </a:r>
                      <a:r>
                        <a:rPr lang="en-US" altLang="ko-KR" sz="1000" b="0" strike="noStrike" dirty="0"/>
                        <a:t>)</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accent1"/>
                          </a:solidFill>
                          <a:latin typeface="+mn-lt"/>
                          <a:ea typeface="맑은 고딕"/>
                        </a:rPr>
                        <a:t>★★</a:t>
                      </a:r>
                      <a:r>
                        <a:rPr lang="ko-KR" altLang="en-US" sz="1050" b="0" dirty="0">
                          <a:solidFill>
                            <a:schemeClr val="accent1"/>
                          </a:solidFill>
                          <a:latin typeface="+mn-lt"/>
                          <a:ea typeface="맑은 고딕"/>
                        </a:rPr>
                        <a:t>★</a:t>
                      </a:r>
                      <a:endParaRPr lang="en-US" altLang="ko-KR" sz="1050" strike="noStrike" dirty="0">
                        <a:solidFill>
                          <a:schemeClr val="accent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1000" b="0" dirty="0">
                        <a:solidFill>
                          <a:schemeClr val="accent1"/>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QA2.</a:t>
                      </a:r>
                      <a:r>
                        <a:rPr lang="en-US" altLang="ko-KR" sz="1000" b="0" strike="noStrike" baseline="0" dirty="0">
                          <a:solidFill>
                            <a:schemeClr val="tx1"/>
                          </a:solidFill>
                        </a:rPr>
                        <a:t> </a:t>
                      </a: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QA3.</a:t>
                      </a:r>
                      <a:r>
                        <a:rPr lang="en-US" altLang="ko-KR" sz="1000" b="0" strike="noStrike" baseline="0" dirty="0">
                          <a:solidFill>
                            <a:schemeClr val="tx1"/>
                          </a:solidFill>
                        </a:rPr>
                        <a:t> </a:t>
                      </a:r>
                      <a:r>
                        <a:rPr lang="en-US" altLang="ko-KR" sz="1000" b="0" strike="noStrike" dirty="0">
                          <a:solidFill>
                            <a:schemeClr val="tx1"/>
                          </a:solidFill>
                        </a:rPr>
                        <a:t>Resource Efficiency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QA5.</a:t>
                      </a:r>
                      <a:r>
                        <a:rPr lang="en-US" altLang="ko-KR" sz="1000" b="0" strike="noStrike" baseline="0" dirty="0">
                          <a:solidFill>
                            <a:schemeClr val="tx1"/>
                          </a:solidFill>
                        </a:rPr>
                        <a:t> </a:t>
                      </a:r>
                      <a:r>
                        <a:rPr lang="en-US" altLang="ko-KR" sz="1000" b="0" strike="noStrike" dirty="0"/>
                        <a:t>Scalability</a:t>
                      </a:r>
                      <a:r>
                        <a:rPr lang="en-US" altLang="ko-KR" sz="1000" b="0" strike="noStrike" baseline="0" dirty="0"/>
                        <a:t> </a:t>
                      </a:r>
                      <a:r>
                        <a:rPr lang="en-US" altLang="ko-KR" sz="1000" b="0" strike="noStrike" dirty="0"/>
                        <a:t>(Scaling</a:t>
                      </a:r>
                      <a:r>
                        <a:rPr lang="en-US" altLang="ko-KR" sz="1000" b="0" strike="noStrike" baseline="0" dirty="0"/>
                        <a:t> Efficiency</a:t>
                      </a:r>
                      <a:r>
                        <a:rPr lang="en-US" altLang="ko-KR" sz="1000" b="0" strike="noStrike" dirty="0"/>
                        <a:t>)</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tx1"/>
                          </a:solidFill>
                          <a:latin typeface="+mn-lt"/>
                          <a:ea typeface="맑은 고딕"/>
                        </a:rPr>
                        <a:t>★★</a:t>
                      </a:r>
                      <a:r>
                        <a:rPr lang="ko-KR" altLang="en-US" sz="1050" b="0" kern="1200" dirty="0">
                          <a:solidFill>
                            <a:schemeClr val="tx1"/>
                          </a:solidFill>
                          <a:latin typeface="+mn-lt"/>
                          <a:ea typeface="맑은 고딕"/>
                          <a:cs typeface="+mn-cs"/>
                        </a:rPr>
                        <a:t>☆</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kern="1200" dirty="0">
                          <a:solidFill>
                            <a:schemeClr val="accent1"/>
                          </a:solidFill>
                          <a:latin typeface="+mn-lt"/>
                          <a:ea typeface="맑은 고딕"/>
                          <a:cs typeface="+mn-cs"/>
                        </a:rPr>
                        <a:t>★★☆</a:t>
                      </a:r>
                      <a:endParaRPr lang="en-US" altLang="ko-KR" sz="1000" b="0" kern="1200" dirty="0">
                        <a:solidFill>
                          <a:schemeClr val="accent1"/>
                        </a:solidFill>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chemeClr val="accent1"/>
                          </a:solidFill>
                          <a:latin typeface="+mn-lt"/>
                          <a:ea typeface="맑은 고딕"/>
                        </a:rPr>
                        <a:t>★★★</a:t>
                      </a:r>
                      <a:endParaRPr lang="en-US" altLang="ko-KR" sz="1000" b="0" dirty="0">
                        <a:solidFill>
                          <a:schemeClr val="accent1"/>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158</a:t>
            </a:fld>
            <a:endParaRPr lang="ko-KR" altLang="en-US" dirty="0"/>
          </a:p>
        </p:txBody>
      </p:sp>
      <p:sp>
        <p:nvSpPr>
          <p:cNvPr id="3" name="제목 2"/>
          <p:cNvSpPr>
            <a:spLocks noGrp="1"/>
          </p:cNvSpPr>
          <p:nvPr>
            <p:ph type="title"/>
          </p:nvPr>
        </p:nvSpPr>
        <p:spPr/>
        <p:txBody>
          <a:bodyPr/>
          <a:lstStyle/>
          <a:p>
            <a:r>
              <a:rPr lang="en-US" altLang="ko-KR" dirty="0"/>
              <a:t>DP4. 서버 간 KV </a:t>
            </a:r>
            <a:r>
              <a:rPr lang="ko-KR" altLang="en-US" dirty="0"/>
              <a:t>캐시 </a:t>
            </a:r>
            <a:r>
              <a:rPr lang="en-US" altLang="ko-KR" dirty="0" err="1"/>
              <a:t>공유</a:t>
            </a:r>
            <a:r>
              <a:rPr lang="en-US" altLang="ko-KR" dirty="0"/>
              <a:t> 구조 – 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서버 간 KV </a:t>
            </a:r>
            <a:r>
              <a:rPr lang="ko-KR" altLang="en-US" sz="1400" b="1" dirty="0">
                <a:solidFill>
                  <a:schemeClr val="bg1"/>
                </a:solidFill>
              </a:rPr>
              <a:t>캐시</a:t>
            </a:r>
            <a:r>
              <a:rPr lang="en-US" altLang="ko-KR" sz="1400" b="1" dirty="0">
                <a:solidFill>
                  <a:schemeClr val="bg1"/>
                </a:solidFill>
              </a:rPr>
              <a:t> 전송 비용을 줄이고 KV 상태를 공유하는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“필요할 때 P↔D 노드 간에 KV를 직접 전송하고, 위치는 중앙 인덱스로 추적”</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“공유 풀에 KV를 두고 모든 노드가 풀에서 읽으며, 위치는 풀 메타데이터로 관리”</a:t>
            </a:r>
          </a:p>
        </p:txBody>
      </p:sp>
      <p:sp>
        <p:nvSpPr>
          <p:cNvPr id="139" name="Rectangle 138"/>
          <p:cNvSpPr/>
          <p:nvPr/>
        </p:nvSpPr>
        <p:spPr>
          <a:xfrm>
            <a:off x="2359152" y="1764792"/>
            <a:ext cx="29260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900" b="1" i="0" dirty="0">
                <a:solidFill>
                  <a:srgbClr val="000000"/>
                </a:solidFill>
                <a:latin typeface="맑은 고딕"/>
                <a:ea typeface="맑은 고딕"/>
              </a:rPr>
              <a:t>Execution Planner</a:t>
            </a:r>
          </a:p>
          <a:p>
            <a:pPr algn="ctr"/>
            <a:r>
              <a:rPr lang="ko-KR" altLang="en-US" sz="700" b="0" i="0" dirty="0">
                <a:solidFill>
                  <a:srgbClr val="000000"/>
                </a:solidFill>
                <a:latin typeface="맑은 고딕"/>
                <a:ea typeface="맑은 고딕"/>
              </a:rPr>
              <a:t>전송</a:t>
            </a:r>
            <a:r>
              <a:rPr lang="ko-KR" altLang="en-US" sz="700" dirty="0">
                <a:solidFill>
                  <a:srgbClr val="000000"/>
                </a:solidFill>
                <a:latin typeface="맑은 고딕"/>
                <a:ea typeface="맑은 고딕"/>
              </a:rPr>
              <a:t> 시간</a:t>
            </a:r>
            <a:r>
              <a:rPr lang="en-US" altLang="ko-KR" sz="700" dirty="0">
                <a:solidFill>
                  <a:srgbClr val="000000"/>
                </a:solidFill>
                <a:latin typeface="맑은 고딕"/>
                <a:ea typeface="맑은 고딕"/>
              </a:rPr>
              <a:t>, </a:t>
            </a:r>
            <a:r>
              <a:rPr lang="ko-KR" altLang="en-US" sz="700" dirty="0">
                <a:solidFill>
                  <a:srgbClr val="000000"/>
                </a:solidFill>
                <a:latin typeface="맑은 고딕"/>
                <a:ea typeface="맑은 고딕"/>
              </a:rPr>
              <a:t>연산 시간</a:t>
            </a:r>
            <a:r>
              <a:rPr lang="en-US" altLang="ko-KR" sz="700" dirty="0">
                <a:solidFill>
                  <a:srgbClr val="000000"/>
                </a:solidFill>
                <a:latin typeface="맑은 고딕"/>
                <a:ea typeface="맑은 고딕"/>
              </a:rPr>
              <a:t>, </a:t>
            </a:r>
            <a:r>
              <a:rPr lang="ko-KR" altLang="en-US" sz="700" dirty="0">
                <a:solidFill>
                  <a:srgbClr val="000000"/>
                </a:solidFill>
                <a:latin typeface="맑은 고딕"/>
                <a:ea typeface="맑은 고딕"/>
              </a:rPr>
              <a:t>큐 대기시간 </a:t>
            </a:r>
            <a:r>
              <a:rPr sz="700" b="0" i="0" dirty="0" err="1">
                <a:solidFill>
                  <a:srgbClr val="000000"/>
                </a:solidFill>
                <a:latin typeface="맑은 고딕"/>
                <a:ea typeface="맑은 고딕"/>
              </a:rPr>
              <a:t>비용으로</a:t>
            </a:r>
            <a:r>
              <a:rPr sz="700" b="0" i="0" dirty="0">
                <a:solidFill>
                  <a:srgbClr val="000000"/>
                </a:solidFill>
                <a:latin typeface="맑은 고딕"/>
                <a:ea typeface="맑은 고딕"/>
              </a:rPr>
              <a:t> </a:t>
            </a:r>
            <a:r>
              <a:rPr lang="ko-KR" altLang="en-US" sz="700" b="0" i="0" dirty="0">
                <a:solidFill>
                  <a:srgbClr val="000000"/>
                </a:solidFill>
                <a:latin typeface="맑은 고딕"/>
                <a:ea typeface="맑은 고딕"/>
              </a:rPr>
              <a:t>실행 </a:t>
            </a:r>
            <a:r>
              <a:rPr sz="700" b="0" i="0" dirty="0" err="1">
                <a:solidFill>
                  <a:srgbClr val="000000"/>
                </a:solidFill>
                <a:latin typeface="맑은 고딕"/>
                <a:ea typeface="맑은 고딕"/>
              </a:rPr>
              <a:t>노드</a:t>
            </a:r>
            <a:r>
              <a:rPr sz="700" b="0" i="0" dirty="0">
                <a:solidFill>
                  <a:srgbClr val="000000"/>
                </a:solidFill>
                <a:latin typeface="맑은 고딕"/>
                <a:ea typeface="맑은 고딕"/>
              </a:rPr>
              <a:t> </a:t>
            </a:r>
            <a:r>
              <a:rPr sz="700" b="0" i="0" dirty="0" err="1">
                <a:solidFill>
                  <a:srgbClr val="000000"/>
                </a:solidFill>
                <a:latin typeface="맑은 고딕"/>
                <a:ea typeface="맑은 고딕"/>
              </a:rPr>
              <a:t>선택</a:t>
            </a:r>
            <a:endParaRPr sz="700" b="0" i="0" dirty="0">
              <a:solidFill>
                <a:srgbClr val="000000"/>
              </a:solidFill>
              <a:latin typeface="맑은 고딕"/>
              <a:ea typeface="맑은 고딕"/>
            </a:endParaRPr>
          </a:p>
        </p:txBody>
      </p:sp>
      <p:sp>
        <p:nvSpPr>
          <p:cNvPr id="140" name="Rounded Rectangle 139"/>
          <p:cNvSpPr/>
          <p:nvPr/>
        </p:nvSpPr>
        <p:spPr>
          <a:xfrm>
            <a:off x="5330952" y="178308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41" name="Rectangle 140"/>
          <p:cNvSpPr/>
          <p:nvPr/>
        </p:nvSpPr>
        <p:spPr>
          <a:xfrm>
            <a:off x="1216152" y="2286000"/>
            <a:ext cx="1737360" cy="169164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2" name="Rectangle 141"/>
          <p:cNvSpPr/>
          <p:nvPr/>
        </p:nvSpPr>
        <p:spPr>
          <a:xfrm>
            <a:off x="1216152" y="2286000"/>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a:t>
            </a:r>
            <a:r>
              <a:rPr lang="en-US" sz="700" b="1" dirty="0">
                <a:solidFill>
                  <a:srgbClr val="FFFFFF"/>
                </a:solidFill>
                <a:latin typeface="맑은 고딕"/>
                <a:ea typeface="맑은 고딕"/>
              </a:rPr>
              <a:t>node</a:t>
            </a:r>
            <a:r>
              <a:rPr sz="700" b="1" i="0" dirty="0">
                <a:solidFill>
                  <a:srgbClr val="FFFFFF"/>
                </a:solidFill>
                <a:latin typeface="맑은 고딕"/>
                <a:ea typeface="맑은 고딕"/>
              </a:rPr>
              <a:t>» P </a:t>
            </a:r>
            <a:r>
              <a:rPr sz="700" b="1" i="0" dirty="0" err="1">
                <a:solidFill>
                  <a:srgbClr val="FFFFFF"/>
                </a:solidFill>
                <a:latin typeface="맑은 고딕"/>
                <a:ea typeface="맑은 고딕"/>
              </a:rPr>
              <a:t>노드</a:t>
            </a:r>
            <a:r>
              <a:rPr sz="700" b="1" i="0" dirty="0">
                <a:solidFill>
                  <a:srgbClr val="FFFFFF"/>
                </a:solidFill>
                <a:latin typeface="맑은 고딕"/>
                <a:ea typeface="맑은 고딕"/>
              </a:rPr>
              <a:t> (Prefill)</a:t>
            </a:r>
          </a:p>
        </p:txBody>
      </p:sp>
      <p:sp>
        <p:nvSpPr>
          <p:cNvPr id="143" name="Rectangle 142"/>
          <p:cNvSpPr/>
          <p:nvPr/>
        </p:nvSpPr>
        <p:spPr>
          <a:xfrm>
            <a:off x="1399032" y="2578608"/>
            <a:ext cx="1417320" cy="45720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lang="en-US" sz="750" b="1" i="0" dirty="0">
                <a:solidFill>
                  <a:srgbClr val="000000"/>
                </a:solidFill>
                <a:latin typeface="맑은 고딕"/>
                <a:ea typeface="맑은 고딕"/>
              </a:rPr>
              <a:t>&lt;&lt;instance&gt;&gt;</a:t>
            </a:r>
          </a:p>
          <a:p>
            <a:pPr algn="ctr"/>
            <a:r>
              <a:rPr lang="en-US" sz="900" b="1" i="0" dirty="0">
                <a:solidFill>
                  <a:srgbClr val="000000"/>
                </a:solidFill>
                <a:latin typeface="맑은 고딕"/>
                <a:ea typeface="맑은 고딕"/>
              </a:rPr>
              <a:t>Inference Engine </a:t>
            </a:r>
          </a:p>
        </p:txBody>
      </p:sp>
      <p:sp>
        <p:nvSpPr>
          <p:cNvPr id="144" name="Rectangle 143"/>
          <p:cNvSpPr/>
          <p:nvPr/>
        </p:nvSpPr>
        <p:spPr>
          <a:xfrm>
            <a:off x="1353312" y="263347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5" name="Rectangle 144"/>
          <p:cNvSpPr/>
          <p:nvPr/>
        </p:nvSpPr>
        <p:spPr>
          <a:xfrm>
            <a:off x="1353312" y="272491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6" name="Rectangle 145"/>
          <p:cNvSpPr/>
          <p:nvPr/>
        </p:nvSpPr>
        <p:spPr>
          <a:xfrm>
            <a:off x="1399032" y="3200400"/>
            <a:ext cx="1371600" cy="45720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900" b="1" i="0" dirty="0" err="1">
                <a:solidFill>
                  <a:srgbClr val="000000"/>
                </a:solidFill>
                <a:latin typeface="맑은 고딕"/>
                <a:ea typeface="맑은 고딕"/>
              </a:rPr>
              <a:t>로컬</a:t>
            </a:r>
            <a:r>
              <a:rPr sz="900" b="1" i="0" dirty="0">
                <a:solidFill>
                  <a:srgbClr val="000000"/>
                </a:solidFill>
                <a:latin typeface="맑은 고딕"/>
                <a:ea typeface="맑은 고딕"/>
              </a:rPr>
              <a:t> KV </a:t>
            </a:r>
            <a:r>
              <a:rPr sz="900" b="1" i="0" dirty="0" err="1">
                <a:solidFill>
                  <a:srgbClr val="000000"/>
                </a:solidFill>
                <a:latin typeface="맑은 고딕"/>
                <a:ea typeface="맑은 고딕"/>
              </a:rPr>
              <a:t>계층</a:t>
            </a:r>
            <a:endParaRPr sz="900" b="1" i="0" dirty="0">
              <a:solidFill>
                <a:srgbClr val="000000"/>
              </a:solidFill>
              <a:latin typeface="맑은 고딕"/>
              <a:ea typeface="맑은 고딕"/>
            </a:endParaRPr>
          </a:p>
          <a:p>
            <a:pPr algn="ctr"/>
            <a:r>
              <a:rPr sz="700" b="0" i="0" dirty="0">
                <a:solidFill>
                  <a:srgbClr val="000000"/>
                </a:solidFill>
                <a:latin typeface="맑은 고딕"/>
                <a:ea typeface="맑은 고딕"/>
              </a:rPr>
              <a:t>HBM·DRAM·CXL·SSD</a:t>
            </a:r>
          </a:p>
        </p:txBody>
      </p:sp>
      <p:sp>
        <p:nvSpPr>
          <p:cNvPr id="147" name="Rectangle 146"/>
          <p:cNvSpPr/>
          <p:nvPr/>
        </p:nvSpPr>
        <p:spPr>
          <a:xfrm>
            <a:off x="4690872" y="2286000"/>
            <a:ext cx="1737360" cy="169164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8" name="Rectangle 147"/>
          <p:cNvSpPr/>
          <p:nvPr/>
        </p:nvSpPr>
        <p:spPr>
          <a:xfrm>
            <a:off x="4690872" y="2286000"/>
            <a:ext cx="1283817"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a:t>
            </a:r>
            <a:r>
              <a:rPr lang="en-US" sz="700" b="1" dirty="0">
                <a:solidFill>
                  <a:srgbClr val="FFFFFF"/>
                </a:solidFill>
                <a:latin typeface="맑은 고딕"/>
                <a:ea typeface="맑은 고딕"/>
              </a:rPr>
              <a:t>node</a:t>
            </a:r>
            <a:r>
              <a:rPr sz="700" b="1" i="0" dirty="0">
                <a:solidFill>
                  <a:srgbClr val="FFFFFF"/>
                </a:solidFill>
                <a:latin typeface="맑은 고딕"/>
                <a:ea typeface="맑은 고딕"/>
              </a:rPr>
              <a:t>» D </a:t>
            </a:r>
            <a:r>
              <a:rPr sz="700" b="1" i="0" dirty="0" err="1">
                <a:solidFill>
                  <a:srgbClr val="FFFFFF"/>
                </a:solidFill>
                <a:latin typeface="맑은 고딕"/>
                <a:ea typeface="맑은 고딕"/>
              </a:rPr>
              <a:t>노드</a:t>
            </a:r>
            <a:r>
              <a:rPr sz="700" b="1" i="0" dirty="0">
                <a:solidFill>
                  <a:srgbClr val="FFFFFF"/>
                </a:solidFill>
                <a:latin typeface="맑은 고딕"/>
                <a:ea typeface="맑은 고딕"/>
              </a:rPr>
              <a:t> (Decode)</a:t>
            </a:r>
          </a:p>
        </p:txBody>
      </p:sp>
      <p:sp>
        <p:nvSpPr>
          <p:cNvPr id="149" name="Rectangle 148"/>
          <p:cNvSpPr/>
          <p:nvPr/>
        </p:nvSpPr>
        <p:spPr>
          <a:xfrm>
            <a:off x="4873752" y="2578608"/>
            <a:ext cx="1417320" cy="45720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a:r>
              <a:rPr lang="en-US" altLang="ko-KR" sz="750" b="1" dirty="0">
                <a:solidFill>
                  <a:srgbClr val="000000"/>
                </a:solidFill>
                <a:ea typeface="맑은 고딕"/>
              </a:rPr>
              <a:t>&lt;&lt;instance&gt;&gt;</a:t>
            </a:r>
          </a:p>
          <a:p>
            <a:pPr lvl="0" algn="ctr"/>
            <a:r>
              <a:rPr lang="en-US" altLang="ko-KR" sz="900" b="1" dirty="0">
                <a:solidFill>
                  <a:srgbClr val="000000"/>
                </a:solidFill>
                <a:ea typeface="맑은 고딕"/>
              </a:rPr>
              <a:t>Inference Engine </a:t>
            </a:r>
          </a:p>
        </p:txBody>
      </p:sp>
      <p:sp>
        <p:nvSpPr>
          <p:cNvPr id="150" name="Rectangle 149"/>
          <p:cNvSpPr/>
          <p:nvPr/>
        </p:nvSpPr>
        <p:spPr>
          <a:xfrm>
            <a:off x="4828032" y="263347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Rectangle 150"/>
          <p:cNvSpPr/>
          <p:nvPr/>
        </p:nvSpPr>
        <p:spPr>
          <a:xfrm>
            <a:off x="4828032" y="272491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2" name="Rectangle 151"/>
          <p:cNvSpPr/>
          <p:nvPr/>
        </p:nvSpPr>
        <p:spPr>
          <a:xfrm>
            <a:off x="4873752" y="3200400"/>
            <a:ext cx="1371600" cy="45720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err="1">
                <a:solidFill>
                  <a:srgbClr val="000000"/>
                </a:solidFill>
                <a:latin typeface="맑은 고딕"/>
                <a:ea typeface="맑은 고딕"/>
              </a:rPr>
              <a:t>로컬</a:t>
            </a:r>
            <a:r>
              <a:rPr sz="900" b="1" i="0" dirty="0">
                <a:solidFill>
                  <a:srgbClr val="000000"/>
                </a:solidFill>
                <a:latin typeface="맑은 고딕"/>
                <a:ea typeface="맑은 고딕"/>
              </a:rPr>
              <a:t> KV </a:t>
            </a:r>
            <a:r>
              <a:rPr sz="900" b="1" i="0" dirty="0" err="1">
                <a:solidFill>
                  <a:srgbClr val="000000"/>
                </a:solidFill>
                <a:latin typeface="맑은 고딕"/>
                <a:ea typeface="맑은 고딕"/>
              </a:rPr>
              <a:t>계층</a:t>
            </a:r>
            <a:endParaRPr sz="900" b="1" i="0" dirty="0">
              <a:solidFill>
                <a:srgbClr val="000000"/>
              </a:solidFill>
              <a:latin typeface="맑은 고딕"/>
              <a:ea typeface="맑은 고딕"/>
            </a:endParaRPr>
          </a:p>
          <a:p>
            <a:pPr algn="ctr">
              <a:lnSpc>
                <a:spcPct val="150000"/>
              </a:lnSpc>
            </a:pPr>
            <a:r>
              <a:rPr sz="700" b="0" i="0" dirty="0">
                <a:solidFill>
                  <a:srgbClr val="000000"/>
                </a:solidFill>
                <a:latin typeface="맑은 고딕"/>
                <a:ea typeface="맑은 고딕"/>
              </a:rPr>
              <a:t>HBM·DRAM·CXL·SSD</a:t>
            </a:r>
          </a:p>
        </p:txBody>
      </p:sp>
      <p:sp>
        <p:nvSpPr>
          <p:cNvPr id="153" name="Rectangle 152"/>
          <p:cNvSpPr/>
          <p:nvPr/>
        </p:nvSpPr>
        <p:spPr>
          <a:xfrm>
            <a:off x="3273552" y="2331720"/>
            <a:ext cx="1097280" cy="59436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위치 인덱스</a:t>
            </a:r>
          </a:p>
          <a:p>
            <a:pPr algn="ctr"/>
            <a:r>
              <a:rPr sz="700" b="0" i="0">
                <a:solidFill>
                  <a:srgbClr val="000000"/>
                </a:solidFill>
                <a:latin typeface="맑은 고딕"/>
                <a:ea typeface="맑은 고딕"/>
              </a:rPr>
              <a:t>(중앙)</a:t>
            </a:r>
          </a:p>
          <a:p>
            <a:pPr algn="ctr"/>
            <a:r>
              <a:rPr sz="700" b="0" i="0">
                <a:solidFill>
                  <a:srgbClr val="000000"/>
                </a:solidFill>
                <a:latin typeface="맑은 고딕"/>
                <a:ea typeface="맑은 고딕"/>
              </a:rPr>
              <a:t>위치·부하 이벤트 수집</a:t>
            </a:r>
          </a:p>
        </p:txBody>
      </p:sp>
      <p:sp>
        <p:nvSpPr>
          <p:cNvPr id="154" name="Rectangle 153"/>
          <p:cNvSpPr/>
          <p:nvPr/>
        </p:nvSpPr>
        <p:spPr>
          <a:xfrm>
            <a:off x="3227832"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5" name="Rectangle 154"/>
          <p:cNvSpPr/>
          <p:nvPr/>
        </p:nvSpPr>
        <p:spPr>
          <a:xfrm>
            <a:off x="3227832" y="2478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56" name="Connector 155"/>
          <p:cNvCxnSpPr/>
          <p:nvPr/>
        </p:nvCxnSpPr>
        <p:spPr>
          <a:xfrm>
            <a:off x="3822191" y="2130552"/>
            <a:ext cx="0" cy="20116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7" name="Oval 156"/>
          <p:cNvSpPr/>
          <p:nvPr/>
        </p:nvSpPr>
        <p:spPr>
          <a:xfrm>
            <a:off x="3744468" y="2153412"/>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158" name="Connector 157"/>
          <p:cNvCxnSpPr/>
          <p:nvPr/>
        </p:nvCxnSpPr>
        <p:spPr>
          <a:xfrm>
            <a:off x="2953512" y="3383280"/>
            <a:ext cx="17373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59" name="Oval 158"/>
          <p:cNvSpPr/>
          <p:nvPr/>
        </p:nvSpPr>
        <p:spPr>
          <a:xfrm>
            <a:off x="3744468" y="33055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60" name="TextBox 159"/>
          <p:cNvSpPr txBox="1"/>
          <p:nvPr/>
        </p:nvSpPr>
        <p:spPr>
          <a:xfrm>
            <a:off x="2999232" y="3163824"/>
            <a:ext cx="1645920" cy="146304"/>
          </a:xfrm>
          <a:prstGeom prst="rect">
            <a:avLst/>
          </a:prstGeom>
          <a:noFill/>
        </p:spPr>
        <p:txBody>
          <a:bodyPr wrap="square" lIns="0" tIns="0" rIns="0" bIns="0" anchor="t">
            <a:spAutoFit/>
          </a:bodyPr>
          <a:lstStyle/>
          <a:p>
            <a:pPr algn="ctr"/>
            <a:r>
              <a:rPr sz="650" b="1" i="0">
                <a:solidFill>
                  <a:srgbClr val="2F5597"/>
                </a:solidFill>
                <a:latin typeface="맑은 고딕"/>
                <a:ea typeface="맑은 고딕"/>
              </a:rPr>
              <a:t>KV 전송 (P→D)</a:t>
            </a:r>
          </a:p>
        </p:txBody>
      </p:sp>
      <p:cxnSp>
        <p:nvCxnSpPr>
          <p:cNvPr id="161" name="Connector 160"/>
          <p:cNvCxnSpPr/>
          <p:nvPr/>
        </p:nvCxnSpPr>
        <p:spPr>
          <a:xfrm flipH="1">
            <a:off x="2953512" y="3703320"/>
            <a:ext cx="173736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3744468" y="3625596"/>
            <a:ext cx="155448" cy="155448"/>
          </a:xfrm>
          <a:prstGeom prst="ellipse">
            <a:avLst/>
          </a:prstGeom>
          <a:solidFill>
            <a:srgbClr val="C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63" name="TextBox 162"/>
          <p:cNvSpPr txBox="1"/>
          <p:nvPr/>
        </p:nvSpPr>
        <p:spPr>
          <a:xfrm>
            <a:off x="2999232" y="3831336"/>
            <a:ext cx="1645920" cy="146304"/>
          </a:xfrm>
          <a:prstGeom prst="rect">
            <a:avLst/>
          </a:prstGeom>
          <a:noFill/>
        </p:spPr>
        <p:txBody>
          <a:bodyPr wrap="square" lIns="0" tIns="0" rIns="0" bIns="0" anchor="t">
            <a:spAutoFit/>
          </a:bodyPr>
          <a:lstStyle/>
          <a:p>
            <a:pPr algn="ctr"/>
            <a:r>
              <a:rPr sz="650" b="1" i="0">
                <a:solidFill>
                  <a:srgbClr val="C00000"/>
                </a:solidFill>
                <a:latin typeface="맑은 고딕"/>
                <a:ea typeface="맑은 고딕"/>
              </a:rPr>
              <a:t>History KV 전송 (D→P, 다음 Turn)</a:t>
            </a:r>
          </a:p>
        </p:txBody>
      </p:sp>
      <p:sp>
        <p:nvSpPr>
          <p:cNvPr id="164" name="Rounded Rectangle 163"/>
          <p:cNvSpPr/>
          <p:nvPr/>
        </p:nvSpPr>
        <p:spPr>
          <a:xfrm>
            <a:off x="1243584" y="40873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165" name="TextBox 164"/>
          <p:cNvSpPr txBox="1"/>
          <p:nvPr/>
        </p:nvSpPr>
        <p:spPr>
          <a:xfrm>
            <a:off x="1627632" y="4069080"/>
            <a:ext cx="475488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노드 내 tier 배치(공유·전송 대상 KV 포함)는 DP1이 결정</a:t>
            </a:r>
          </a:p>
        </p:txBody>
      </p:sp>
      <p:sp>
        <p:nvSpPr>
          <p:cNvPr id="166" name="Rounded Rectangle 165"/>
          <p:cNvSpPr/>
          <p:nvPr/>
        </p:nvSpPr>
        <p:spPr>
          <a:xfrm>
            <a:off x="1243584" y="4325112"/>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67" name="TextBox 166"/>
          <p:cNvSpPr txBox="1"/>
          <p:nvPr/>
        </p:nvSpPr>
        <p:spPr>
          <a:xfrm>
            <a:off x="1627632" y="4306824"/>
            <a:ext cx="475488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Planner가 KV 위치·Tmove를 중앙 인덱스에서 조회</a:t>
            </a:r>
          </a:p>
        </p:txBody>
      </p:sp>
      <p:sp>
        <p:nvSpPr>
          <p:cNvPr id="168" name="Rounded Rectangle 167"/>
          <p:cNvSpPr/>
          <p:nvPr/>
        </p:nvSpPr>
        <p:spPr>
          <a:xfrm>
            <a:off x="1243584" y="4562856"/>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DP3</a:t>
            </a:r>
          </a:p>
        </p:txBody>
      </p:sp>
      <p:sp>
        <p:nvSpPr>
          <p:cNvPr id="169" name="TextBox 168"/>
          <p:cNvSpPr txBox="1"/>
          <p:nvPr/>
        </p:nvSpPr>
        <p:spPr>
          <a:xfrm>
            <a:off x="1627632" y="4544568"/>
            <a:ext cx="475488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압축된 Comp.KV를 전송 (전송량 감소)</a:t>
            </a:r>
          </a:p>
        </p:txBody>
      </p:sp>
      <p:sp>
        <p:nvSpPr>
          <p:cNvPr id="170" name="Rectangle 169"/>
          <p:cNvSpPr/>
          <p:nvPr/>
        </p:nvSpPr>
        <p:spPr>
          <a:xfrm>
            <a:off x="7772400" y="1764792"/>
            <a:ext cx="29260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900" b="1" i="0" dirty="0">
                <a:solidFill>
                  <a:srgbClr val="000000"/>
                </a:solidFill>
                <a:latin typeface="맑은 고딕"/>
                <a:ea typeface="맑은 고딕"/>
              </a:rPr>
              <a:t>Execution Planner</a:t>
            </a:r>
          </a:p>
          <a:p>
            <a:pPr algn="ctr"/>
            <a:r>
              <a:rPr lang="ko-KR" altLang="en-US" sz="700" dirty="0">
                <a:solidFill>
                  <a:srgbClr val="000000"/>
                </a:solidFill>
                <a:ea typeface="맑은 고딕"/>
              </a:rPr>
              <a:t>전송 시간</a:t>
            </a:r>
            <a:r>
              <a:rPr lang="en-US" altLang="ko-KR" sz="700" dirty="0">
                <a:solidFill>
                  <a:srgbClr val="000000"/>
                </a:solidFill>
                <a:ea typeface="맑은 고딕"/>
              </a:rPr>
              <a:t>, </a:t>
            </a:r>
            <a:r>
              <a:rPr lang="ko-KR" altLang="en-US" sz="700" dirty="0">
                <a:solidFill>
                  <a:srgbClr val="000000"/>
                </a:solidFill>
                <a:ea typeface="맑은 고딕"/>
              </a:rPr>
              <a:t>연산 시간</a:t>
            </a:r>
            <a:r>
              <a:rPr lang="en-US" altLang="ko-KR" sz="700" dirty="0">
                <a:solidFill>
                  <a:srgbClr val="000000"/>
                </a:solidFill>
                <a:ea typeface="맑은 고딕"/>
              </a:rPr>
              <a:t>, </a:t>
            </a:r>
            <a:r>
              <a:rPr lang="ko-KR" altLang="en-US" sz="700" dirty="0">
                <a:solidFill>
                  <a:srgbClr val="000000"/>
                </a:solidFill>
                <a:ea typeface="맑은 고딕"/>
              </a:rPr>
              <a:t>큐 대기시간 비용으로 실행 노드 선택</a:t>
            </a:r>
          </a:p>
        </p:txBody>
      </p:sp>
      <p:sp>
        <p:nvSpPr>
          <p:cNvPr id="171" name="Rounded Rectangle 170"/>
          <p:cNvSpPr/>
          <p:nvPr/>
        </p:nvSpPr>
        <p:spPr>
          <a:xfrm>
            <a:off x="10744200" y="178308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72" name="Rectangle 171"/>
          <p:cNvSpPr/>
          <p:nvPr/>
        </p:nvSpPr>
        <p:spPr>
          <a:xfrm>
            <a:off x="6629400" y="2286000"/>
            <a:ext cx="1737360" cy="169164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3" name="Rectangle 172"/>
          <p:cNvSpPr/>
          <p:nvPr/>
        </p:nvSpPr>
        <p:spPr>
          <a:xfrm>
            <a:off x="6629400" y="2286000"/>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«node» P 노드 (Prefill)</a:t>
            </a:r>
          </a:p>
        </p:txBody>
      </p:sp>
      <p:sp>
        <p:nvSpPr>
          <p:cNvPr id="174" name="Rectangle 173"/>
          <p:cNvSpPr/>
          <p:nvPr/>
        </p:nvSpPr>
        <p:spPr>
          <a:xfrm>
            <a:off x="6812280" y="2578608"/>
            <a:ext cx="1417320" cy="45720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a:r>
              <a:rPr lang="en-US" altLang="ko-KR" sz="750" b="1" dirty="0">
                <a:solidFill>
                  <a:srgbClr val="000000"/>
                </a:solidFill>
                <a:ea typeface="맑은 고딕"/>
              </a:rPr>
              <a:t>&lt;&lt;instance&gt;&gt;</a:t>
            </a:r>
          </a:p>
          <a:p>
            <a:pPr lvl="0" algn="ctr"/>
            <a:r>
              <a:rPr lang="en-US" altLang="ko-KR" sz="900" b="1" dirty="0">
                <a:solidFill>
                  <a:srgbClr val="000000"/>
                </a:solidFill>
                <a:ea typeface="맑은 고딕"/>
              </a:rPr>
              <a:t>Inference Engine </a:t>
            </a:r>
          </a:p>
        </p:txBody>
      </p:sp>
      <p:sp>
        <p:nvSpPr>
          <p:cNvPr id="175" name="Rectangle 174"/>
          <p:cNvSpPr/>
          <p:nvPr/>
        </p:nvSpPr>
        <p:spPr>
          <a:xfrm>
            <a:off x="6766560" y="263347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6" name="Rectangle 175"/>
          <p:cNvSpPr/>
          <p:nvPr/>
        </p:nvSpPr>
        <p:spPr>
          <a:xfrm>
            <a:off x="6766560" y="272491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6812280" y="3200400"/>
            <a:ext cx="1371600" cy="45720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900" b="1" i="0" dirty="0" err="1">
                <a:solidFill>
                  <a:srgbClr val="000000"/>
                </a:solidFill>
                <a:latin typeface="맑은 고딕"/>
                <a:ea typeface="맑은 고딕"/>
              </a:rPr>
              <a:t>로컬</a:t>
            </a:r>
            <a:r>
              <a:rPr sz="900" b="1" i="0" dirty="0">
                <a:solidFill>
                  <a:srgbClr val="000000"/>
                </a:solidFill>
                <a:latin typeface="맑은 고딕"/>
                <a:ea typeface="맑은 고딕"/>
              </a:rPr>
              <a:t> KV </a:t>
            </a:r>
            <a:r>
              <a:rPr sz="900" b="1" i="0" dirty="0" err="1">
                <a:solidFill>
                  <a:srgbClr val="000000"/>
                </a:solidFill>
                <a:latin typeface="맑은 고딕"/>
                <a:ea typeface="맑은 고딕"/>
              </a:rPr>
              <a:t>계층</a:t>
            </a:r>
            <a:endParaRPr sz="900" b="1" i="0" dirty="0">
              <a:solidFill>
                <a:srgbClr val="000000"/>
              </a:solidFill>
              <a:latin typeface="맑은 고딕"/>
              <a:ea typeface="맑은 고딕"/>
            </a:endParaRPr>
          </a:p>
          <a:p>
            <a:pPr algn="ctr">
              <a:lnSpc>
                <a:spcPct val="150000"/>
              </a:lnSpc>
            </a:pPr>
            <a:r>
              <a:rPr sz="700" b="0" i="0" dirty="0">
                <a:solidFill>
                  <a:srgbClr val="000000"/>
                </a:solidFill>
                <a:latin typeface="맑은 고딕"/>
                <a:ea typeface="맑은 고딕"/>
              </a:rPr>
              <a:t>HBM·DRAM·CXL·SSD</a:t>
            </a:r>
          </a:p>
        </p:txBody>
      </p:sp>
      <p:sp>
        <p:nvSpPr>
          <p:cNvPr id="178" name="Rectangle 177"/>
          <p:cNvSpPr/>
          <p:nvPr/>
        </p:nvSpPr>
        <p:spPr>
          <a:xfrm>
            <a:off x="10104120" y="2286000"/>
            <a:ext cx="1737360" cy="169164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Rectangle 178"/>
          <p:cNvSpPr/>
          <p:nvPr/>
        </p:nvSpPr>
        <p:spPr>
          <a:xfrm>
            <a:off x="10104120" y="2286000"/>
            <a:ext cx="1283817"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«node» D 노드 (Decode)</a:t>
            </a:r>
          </a:p>
        </p:txBody>
      </p:sp>
      <p:sp>
        <p:nvSpPr>
          <p:cNvPr id="180" name="Rectangle 179"/>
          <p:cNvSpPr/>
          <p:nvPr/>
        </p:nvSpPr>
        <p:spPr>
          <a:xfrm>
            <a:off x="10287000" y="2578608"/>
            <a:ext cx="1417320" cy="457200"/>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a:r>
              <a:rPr lang="en-US" altLang="ko-KR" sz="750" b="1" dirty="0">
                <a:solidFill>
                  <a:srgbClr val="000000"/>
                </a:solidFill>
                <a:ea typeface="맑은 고딕"/>
              </a:rPr>
              <a:t>&lt;&lt;instance&gt;&gt;</a:t>
            </a:r>
          </a:p>
          <a:p>
            <a:pPr lvl="0" algn="ctr"/>
            <a:r>
              <a:rPr lang="en-US" altLang="ko-KR" sz="900" b="1" dirty="0">
                <a:solidFill>
                  <a:srgbClr val="000000"/>
                </a:solidFill>
                <a:ea typeface="맑은 고딕"/>
              </a:rPr>
              <a:t>Inference Engine </a:t>
            </a:r>
          </a:p>
        </p:txBody>
      </p:sp>
      <p:sp>
        <p:nvSpPr>
          <p:cNvPr id="181" name="Rectangle 180"/>
          <p:cNvSpPr/>
          <p:nvPr/>
        </p:nvSpPr>
        <p:spPr>
          <a:xfrm>
            <a:off x="10241280" y="263347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Rectangle 181"/>
          <p:cNvSpPr/>
          <p:nvPr/>
        </p:nvSpPr>
        <p:spPr>
          <a:xfrm>
            <a:off x="10241280" y="272491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10287000" y="3200400"/>
            <a:ext cx="1371600" cy="457200"/>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900" b="1" i="0" dirty="0" err="1">
                <a:solidFill>
                  <a:srgbClr val="000000"/>
                </a:solidFill>
                <a:latin typeface="맑은 고딕"/>
                <a:ea typeface="맑은 고딕"/>
              </a:rPr>
              <a:t>로컬</a:t>
            </a:r>
            <a:r>
              <a:rPr sz="900" b="1" i="0" dirty="0">
                <a:solidFill>
                  <a:srgbClr val="000000"/>
                </a:solidFill>
                <a:latin typeface="맑은 고딕"/>
                <a:ea typeface="맑은 고딕"/>
              </a:rPr>
              <a:t> KV </a:t>
            </a:r>
            <a:r>
              <a:rPr sz="900" b="1" i="0" dirty="0" err="1">
                <a:solidFill>
                  <a:srgbClr val="000000"/>
                </a:solidFill>
                <a:latin typeface="맑은 고딕"/>
                <a:ea typeface="맑은 고딕"/>
              </a:rPr>
              <a:t>계층</a:t>
            </a:r>
            <a:endParaRPr sz="900" b="1" i="0" dirty="0">
              <a:solidFill>
                <a:srgbClr val="000000"/>
              </a:solidFill>
              <a:latin typeface="맑은 고딕"/>
              <a:ea typeface="맑은 고딕"/>
            </a:endParaRPr>
          </a:p>
          <a:p>
            <a:pPr algn="ctr">
              <a:lnSpc>
                <a:spcPct val="150000"/>
              </a:lnSpc>
            </a:pPr>
            <a:r>
              <a:rPr sz="700" b="0" i="0" dirty="0">
                <a:solidFill>
                  <a:srgbClr val="000000"/>
                </a:solidFill>
                <a:latin typeface="맑은 고딕"/>
                <a:ea typeface="맑은 고딕"/>
              </a:rPr>
              <a:t>HBM·DRAM·CXL·SSD</a:t>
            </a:r>
          </a:p>
        </p:txBody>
      </p:sp>
      <p:sp>
        <p:nvSpPr>
          <p:cNvPr id="184" name="Rectangle 183"/>
          <p:cNvSpPr/>
          <p:nvPr/>
        </p:nvSpPr>
        <p:spPr>
          <a:xfrm>
            <a:off x="8686800" y="2286000"/>
            <a:ext cx="1097280" cy="1691640"/>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Rectangle 184"/>
          <p:cNvSpPr/>
          <p:nvPr/>
        </p:nvSpPr>
        <p:spPr>
          <a:xfrm>
            <a:off x="8686800" y="2286000"/>
            <a:ext cx="841248"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dirty="0">
                <a:solidFill>
                  <a:srgbClr val="FFFFFF"/>
                </a:solidFill>
                <a:latin typeface="맑은 고딕"/>
                <a:ea typeface="맑은 고딕"/>
              </a:rPr>
              <a:t>Pool</a:t>
            </a:r>
            <a:endParaRPr sz="700" b="1" i="0" dirty="0">
              <a:solidFill>
                <a:srgbClr val="FFFFFF"/>
              </a:solidFill>
              <a:latin typeface="맑은 고딕"/>
              <a:ea typeface="맑은 고딕"/>
            </a:endParaRPr>
          </a:p>
        </p:txBody>
      </p:sp>
      <p:sp>
        <p:nvSpPr>
          <p:cNvPr id="186" name="Rectangle 185"/>
          <p:cNvSpPr/>
          <p:nvPr/>
        </p:nvSpPr>
        <p:spPr>
          <a:xfrm>
            <a:off x="8759952" y="2606041"/>
            <a:ext cx="950976"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en-US" sz="900" b="1" i="0" dirty="0">
                <a:solidFill>
                  <a:srgbClr val="000000"/>
                </a:solidFill>
                <a:latin typeface="맑은 고딕"/>
                <a:ea typeface="맑은 고딕"/>
              </a:rPr>
              <a:t>Pool Metadata</a:t>
            </a:r>
          </a:p>
          <a:p>
            <a:pPr algn="ctr"/>
            <a:r>
              <a:rPr sz="700" b="0" i="0" dirty="0">
                <a:solidFill>
                  <a:srgbClr val="000000"/>
                </a:solidFill>
                <a:latin typeface="맑은 고딕"/>
                <a:ea typeface="맑은 고딕"/>
              </a:rPr>
              <a:t>(</a:t>
            </a:r>
            <a:r>
              <a:rPr sz="700" b="0" i="0" dirty="0" err="1">
                <a:solidFill>
                  <a:srgbClr val="000000"/>
                </a:solidFill>
                <a:latin typeface="맑은 고딕"/>
                <a:ea typeface="맑은 고딕"/>
              </a:rPr>
              <a:t>위치·상태</a:t>
            </a:r>
            <a:r>
              <a:rPr sz="700" b="0" i="0" dirty="0">
                <a:solidFill>
                  <a:srgbClr val="000000"/>
                </a:solidFill>
                <a:latin typeface="맑은 고딕"/>
                <a:ea typeface="맑은 고딕"/>
              </a:rPr>
              <a:t>)</a:t>
            </a:r>
          </a:p>
        </p:txBody>
      </p:sp>
      <p:sp>
        <p:nvSpPr>
          <p:cNvPr id="187" name="Rectangle 186"/>
          <p:cNvSpPr/>
          <p:nvPr/>
        </p:nvSpPr>
        <p:spPr>
          <a:xfrm>
            <a:off x="8759952" y="3222432"/>
            <a:ext cx="950976" cy="37947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1" i="0" dirty="0">
                <a:solidFill>
                  <a:srgbClr val="000000"/>
                </a:solidFill>
                <a:latin typeface="맑은 고딕"/>
                <a:ea typeface="맑은 고딕"/>
              </a:rPr>
              <a:t>KV </a:t>
            </a:r>
            <a:r>
              <a:rPr sz="800" b="1" i="0" dirty="0" err="1">
                <a:solidFill>
                  <a:srgbClr val="000000"/>
                </a:solidFill>
                <a:latin typeface="맑은 고딕"/>
                <a:ea typeface="맑은 고딕"/>
              </a:rPr>
              <a:t>블록</a:t>
            </a:r>
            <a:r>
              <a:rPr sz="800" b="1" i="0" dirty="0">
                <a:solidFill>
                  <a:srgbClr val="000000"/>
                </a:solidFill>
                <a:latin typeface="맑은 고딕"/>
                <a:ea typeface="맑은 고딕"/>
              </a:rPr>
              <a:t> (</a:t>
            </a:r>
            <a:r>
              <a:rPr sz="800" b="1" i="0" dirty="0" err="1">
                <a:solidFill>
                  <a:srgbClr val="000000"/>
                </a:solidFill>
                <a:latin typeface="맑은 고딕"/>
                <a:ea typeface="맑은 고딕"/>
              </a:rPr>
              <a:t>공유</a:t>
            </a:r>
            <a:r>
              <a:rPr sz="800" b="1" i="0" dirty="0">
                <a:solidFill>
                  <a:srgbClr val="000000"/>
                </a:solidFill>
                <a:latin typeface="맑은 고딕"/>
                <a:ea typeface="맑은 고딕"/>
              </a:rPr>
              <a:t>)</a:t>
            </a:r>
          </a:p>
        </p:txBody>
      </p:sp>
      <p:sp>
        <p:nvSpPr>
          <p:cNvPr id="189" name="TextBox 188"/>
          <p:cNvSpPr txBox="1"/>
          <p:nvPr/>
        </p:nvSpPr>
        <p:spPr>
          <a:xfrm>
            <a:off x="8714232" y="3703320"/>
            <a:ext cx="1042415" cy="256032"/>
          </a:xfrm>
          <a:prstGeom prst="rect">
            <a:avLst/>
          </a:prstGeom>
          <a:noFill/>
        </p:spPr>
        <p:txBody>
          <a:bodyPr wrap="square" lIns="0" tIns="0" rIns="0" bIns="0" anchor="t">
            <a:spAutoFit/>
          </a:bodyPr>
          <a:lstStyle/>
          <a:p>
            <a:pPr algn="ctr"/>
            <a:r>
              <a:rPr sz="600" b="0" i="0" dirty="0">
                <a:solidFill>
                  <a:srgbClr val="C55A11"/>
                </a:solidFill>
                <a:latin typeface="맑은 고딕"/>
                <a:ea typeface="맑은 고딕"/>
              </a:rPr>
              <a:t>DRAM·SSD (CXL </a:t>
            </a:r>
            <a:r>
              <a:rPr sz="600" b="0" i="0" dirty="0" err="1">
                <a:solidFill>
                  <a:srgbClr val="C55A11"/>
                </a:solidFill>
                <a:latin typeface="맑은 고딕"/>
                <a:ea typeface="맑은 고딕"/>
              </a:rPr>
              <a:t>교체</a:t>
            </a:r>
            <a:r>
              <a:rPr sz="600" b="0" i="0" dirty="0">
                <a:solidFill>
                  <a:srgbClr val="C55A11"/>
                </a:solidFill>
                <a:latin typeface="맑은 고딕"/>
                <a:ea typeface="맑은 고딕"/>
              </a:rPr>
              <a:t> </a:t>
            </a:r>
            <a:r>
              <a:rPr sz="600" b="0" i="0" dirty="0" err="1">
                <a:solidFill>
                  <a:srgbClr val="C55A11"/>
                </a:solidFill>
                <a:latin typeface="맑은 고딕"/>
                <a:ea typeface="맑은 고딕"/>
              </a:rPr>
              <a:t>가능</a:t>
            </a:r>
            <a:r>
              <a:rPr sz="600" b="0" i="0" dirty="0">
                <a:solidFill>
                  <a:srgbClr val="C55A11"/>
                </a:solidFill>
                <a:latin typeface="맑은 고딕"/>
                <a:ea typeface="맑은 고딕"/>
              </a:rPr>
              <a:t>)</a:t>
            </a:r>
          </a:p>
        </p:txBody>
      </p:sp>
      <p:cxnSp>
        <p:nvCxnSpPr>
          <p:cNvPr id="190" name="Connector 189"/>
          <p:cNvCxnSpPr/>
          <p:nvPr/>
        </p:nvCxnSpPr>
        <p:spPr>
          <a:xfrm>
            <a:off x="9235440" y="2130552"/>
            <a:ext cx="0" cy="15544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9157715" y="2130552"/>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192" name="Connector 191"/>
          <p:cNvCxnSpPr/>
          <p:nvPr/>
        </p:nvCxnSpPr>
        <p:spPr>
          <a:xfrm>
            <a:off x="8366760" y="324612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8449055" y="31683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94" name="Connector 193"/>
          <p:cNvCxnSpPr/>
          <p:nvPr/>
        </p:nvCxnSpPr>
        <p:spPr>
          <a:xfrm>
            <a:off x="9784080" y="324612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9866376" y="31683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8366760" y="356616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8449055" y="348843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8" name="Rounded Rectangle 197"/>
          <p:cNvSpPr/>
          <p:nvPr/>
        </p:nvSpPr>
        <p:spPr>
          <a:xfrm>
            <a:off x="6656832" y="40873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199" name="TextBox 198"/>
          <p:cNvSpPr txBox="1"/>
          <p:nvPr/>
        </p:nvSpPr>
        <p:spPr>
          <a:xfrm>
            <a:off x="7040880" y="4069080"/>
            <a:ext cx="475488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노드 내 tier 배치(공유·전송 대상 KV 포함)는 DP1이 결정</a:t>
            </a:r>
          </a:p>
        </p:txBody>
      </p:sp>
      <p:sp>
        <p:nvSpPr>
          <p:cNvPr id="200" name="Rounded Rectangle 199"/>
          <p:cNvSpPr/>
          <p:nvPr/>
        </p:nvSpPr>
        <p:spPr>
          <a:xfrm>
            <a:off x="6656832" y="4325112"/>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01" name="TextBox 200"/>
          <p:cNvSpPr txBox="1"/>
          <p:nvPr/>
        </p:nvSpPr>
        <p:spPr>
          <a:xfrm>
            <a:off x="7040880" y="4306824"/>
            <a:ext cx="475488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Planner가 Tmove를 풀 메타데이터·접근 비용에서 조회</a:t>
            </a:r>
          </a:p>
        </p:txBody>
      </p:sp>
      <p:sp>
        <p:nvSpPr>
          <p:cNvPr id="202" name="Rounded Rectangle 201"/>
          <p:cNvSpPr/>
          <p:nvPr/>
        </p:nvSpPr>
        <p:spPr>
          <a:xfrm>
            <a:off x="6656832" y="4562856"/>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DP3</a:t>
            </a:r>
          </a:p>
        </p:txBody>
      </p:sp>
      <p:sp>
        <p:nvSpPr>
          <p:cNvPr id="203" name="TextBox 202"/>
          <p:cNvSpPr txBox="1"/>
          <p:nvPr/>
        </p:nvSpPr>
        <p:spPr>
          <a:xfrm>
            <a:off x="7040880" y="4544568"/>
            <a:ext cx="4754880" cy="18288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압축된 Comp.KV를 풀에 공유 (요청 간 재사용)</a:t>
            </a:r>
          </a:p>
        </p:txBody>
      </p:sp>
      <p:sp>
        <p:nvSpPr>
          <p:cNvPr id="89" name="직사각형 88">
            <a:extLst>
              <a:ext uri="{FF2B5EF4-FFF2-40B4-BE49-F238E27FC236}">
                <a16:creationId xmlns:a16="http://schemas.microsoft.com/office/drawing/2014/main" id="{4E780B97-B2C1-448F-BF73-FB8F18044673}"/>
              </a:ext>
            </a:extLst>
          </p:cNvPr>
          <p:cNvSpPr/>
          <p:nvPr/>
        </p:nvSpPr>
        <p:spPr>
          <a:xfrm>
            <a:off x="6512147" y="1037704"/>
            <a:ext cx="5492576" cy="544515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모서리가 둥근 직사각형 37">
            <a:extLst>
              <a:ext uri="{FF2B5EF4-FFF2-40B4-BE49-F238E27FC236}">
                <a16:creationId xmlns:a16="http://schemas.microsoft.com/office/drawing/2014/main" id="{6B693242-5EEF-4D32-8F09-9F360043D5FB}"/>
              </a:ext>
            </a:extLst>
          </p:cNvPr>
          <p:cNvSpPr/>
          <p:nvPr/>
        </p:nvSpPr>
        <p:spPr>
          <a:xfrm>
            <a:off x="10748621"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F6 </a:t>
            </a:r>
            <a:r>
              <a:rPr lang="ko-KR" altLang="en-US" sz="700" dirty="0">
                <a:latin typeface="맑은 고딕" panose="020B0503020000020004" pitchFamily="50" charset="-127"/>
                <a:ea typeface="맑은 고딕" panose="020B0503020000020004" pitchFamily="50" charset="-127"/>
              </a:rPr>
              <a:t>노드 간 </a:t>
            </a:r>
            <a:r>
              <a:rPr lang="en-US" altLang="ko-KR" sz="700" dirty="0">
                <a:latin typeface="맑은 고딕" panose="020B0503020000020004" pitchFamily="50" charset="-127"/>
                <a:ea typeface="맑은 고딕" panose="020B0503020000020004" pitchFamily="50" charset="-127"/>
              </a:rPr>
              <a:t>KV </a:t>
            </a:r>
            <a:r>
              <a:rPr lang="ko-KR" altLang="en-US" sz="700" dirty="0">
                <a:latin typeface="맑은 고딕" panose="020B0503020000020004" pitchFamily="50" charset="-127"/>
                <a:ea typeface="맑은 고딕" panose="020B0503020000020004" pitchFamily="50" charset="-127"/>
              </a:rPr>
              <a:t>캐시 공유</a:t>
            </a:r>
          </a:p>
        </p:txBody>
      </p:sp>
      <p:sp>
        <p:nvSpPr>
          <p:cNvPr id="88" name="모서리가 둥근 직사각형 37">
            <a:extLst>
              <a:ext uri="{FF2B5EF4-FFF2-40B4-BE49-F238E27FC236}">
                <a16:creationId xmlns:a16="http://schemas.microsoft.com/office/drawing/2014/main" id="{7D2F8ED5-0EFB-410C-A2C3-3568EEE141C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D6402B05-EBC0-4E87-AEC1-F112EEA19579}"/>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확장성</a:t>
            </a:r>
          </a:p>
        </p:txBody>
      </p:sp>
      <p:sp>
        <p:nvSpPr>
          <p:cNvPr id="92" name="TextBox 91">
            <a:extLst>
              <a:ext uri="{FF2B5EF4-FFF2-40B4-BE49-F238E27FC236}">
                <a16:creationId xmlns:a16="http://schemas.microsoft.com/office/drawing/2014/main" id="{5EDBAE0C-74A5-43A7-8D12-CE3C549C093E}"/>
              </a:ext>
            </a:extLst>
          </p:cNvPr>
          <p:cNvSpPr txBox="1"/>
          <p:nvPr/>
        </p:nvSpPr>
        <p:spPr>
          <a:xfrm>
            <a:off x="5939696" y="6212211"/>
            <a:ext cx="631904" cy="276999"/>
          </a:xfrm>
          <a:prstGeom prst="rect">
            <a:avLst/>
          </a:prstGeom>
          <a:noFill/>
        </p:spPr>
        <p:txBody>
          <a:bodyPr wrap="none" rtlCol="0">
            <a:spAutoFit/>
          </a:bodyPr>
          <a:lstStyle/>
          <a:p>
            <a:r>
              <a:rPr lang="ko-KR" altLang="en-US" sz="1200" dirty="0"/>
              <a:t>총</a:t>
            </a:r>
            <a:r>
              <a:rPr lang="en-US" altLang="ko-KR" sz="1200" dirty="0"/>
              <a:t> 6</a:t>
            </a:r>
            <a:r>
              <a:rPr lang="ko-KR" altLang="en-US" sz="1200" dirty="0"/>
              <a:t>점</a:t>
            </a:r>
          </a:p>
        </p:txBody>
      </p:sp>
      <p:sp>
        <p:nvSpPr>
          <p:cNvPr id="93" name="TextBox 92">
            <a:extLst>
              <a:ext uri="{FF2B5EF4-FFF2-40B4-BE49-F238E27FC236}">
                <a16:creationId xmlns:a16="http://schemas.microsoft.com/office/drawing/2014/main" id="{8E497195-BDD1-47C1-A342-40321C4585CB}"/>
              </a:ext>
            </a:extLst>
          </p:cNvPr>
          <p:cNvSpPr txBox="1"/>
          <p:nvPr/>
        </p:nvSpPr>
        <p:spPr>
          <a:xfrm>
            <a:off x="11383409" y="6212211"/>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Tree>
    <p:extLst>
      <p:ext uri="{BB962C8B-B14F-4D97-AF65-F5344CB8AC3E}">
        <p14:creationId xmlns:p14="http://schemas.microsoft.com/office/powerpoint/2010/main" val="264088570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0" name="Rounded Rectangle 6149"/>
          <p:cNvSpPr/>
          <p:nvPr/>
        </p:nvSpPr>
        <p:spPr>
          <a:xfrm>
            <a:off x="579410" y="698646"/>
            <a:ext cx="3872195"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1100" b="1" dirty="0">
                <a:solidFill>
                  <a:srgbClr val="000000"/>
                </a:solidFill>
                <a:latin typeface="맑은 고딕"/>
                <a:ea typeface="맑은 고딕"/>
              </a:rPr>
              <a:t>Prefill-Decode </a:t>
            </a:r>
            <a:r>
              <a:rPr sz="1100" b="1" dirty="0" err="1">
                <a:solidFill>
                  <a:srgbClr val="000000"/>
                </a:solidFill>
                <a:latin typeface="맑은 고딕"/>
                <a:ea typeface="맑은 고딕"/>
              </a:rPr>
              <a:t>분리</a:t>
            </a:r>
            <a:r>
              <a:rPr sz="1100" b="1" dirty="0">
                <a:solidFill>
                  <a:srgbClr val="000000"/>
                </a:solidFill>
                <a:latin typeface="맑은 고딕"/>
                <a:ea typeface="맑은 고딕"/>
              </a:rPr>
              <a:t> </a:t>
            </a:r>
            <a:r>
              <a:rPr sz="1100" b="1" dirty="0" err="1">
                <a:solidFill>
                  <a:srgbClr val="000000"/>
                </a:solidFill>
                <a:latin typeface="맑은 고딕"/>
                <a:ea typeface="맑은 고딕"/>
              </a:rPr>
              <a:t>실행</a:t>
            </a:r>
            <a:r>
              <a:rPr sz="1100" b="1" dirty="0">
                <a:solidFill>
                  <a:srgbClr val="000000"/>
                </a:solidFill>
                <a:latin typeface="맑은 고딕"/>
                <a:ea typeface="맑은 고딕"/>
              </a:rPr>
              <a:t> (P/D Disaggregation)</a:t>
            </a:r>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159</a:t>
            </a:fld>
            <a:endParaRPr lang="ko-KR" altLang="en-US" dirty="0"/>
          </a:p>
        </p:txBody>
      </p:sp>
      <p:sp>
        <p:nvSpPr>
          <p:cNvPr id="3" name="제목 2"/>
          <p:cNvSpPr>
            <a:spLocks noGrp="1"/>
          </p:cNvSpPr>
          <p:nvPr>
            <p:ph type="title"/>
          </p:nvPr>
        </p:nvSpPr>
        <p:spPr/>
        <p:txBody>
          <a:bodyPr/>
          <a:lstStyle/>
          <a:p>
            <a:r>
              <a:rPr lang="en-US" altLang="ko-KR" dirty="0"/>
              <a:t>DP5. </a:t>
            </a:r>
            <a:r>
              <a:rPr lang="ko-KR" altLang="en-US" dirty="0"/>
              <a:t>다중 서버 간 </a:t>
            </a:r>
            <a:r>
              <a:rPr lang="en-US" altLang="ko-KR" dirty="0" err="1"/>
              <a:t>요청</a:t>
            </a:r>
            <a:r>
              <a:rPr lang="en-US" altLang="ko-KR" dirty="0"/>
              <a:t> </a:t>
            </a:r>
            <a:r>
              <a:rPr lang="en-US" altLang="ko-KR" dirty="0" err="1"/>
              <a:t>조율</a:t>
            </a:r>
            <a:r>
              <a:rPr lang="en-US" altLang="ko-KR" dirty="0"/>
              <a:t> (Orchestration) </a:t>
            </a:r>
            <a:r>
              <a:rPr lang="ko-KR" altLang="en-US" dirty="0"/>
              <a:t>구조</a:t>
            </a:r>
            <a:r>
              <a:rPr lang="en-US" altLang="ko-KR" dirty="0"/>
              <a:t> - </a:t>
            </a:r>
            <a:r>
              <a:rPr lang="en-US" altLang="ko-KR" dirty="0" err="1"/>
              <a:t>배경</a:t>
            </a:r>
            <a:endParaRPr lang="en-US" altLang="ko-KR"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87" name="DP2 9014">
            <a:extLst>
              <a:ext uri="{FF2B5EF4-FFF2-40B4-BE49-F238E27FC236}">
                <a16:creationId xmlns:a16="http://schemas.microsoft.com/office/drawing/2014/main" id="{BAB6A9C5-DE6C-4B40-9E12-B57562177C2D}"/>
              </a:ext>
            </a:extLst>
          </p:cNvPr>
          <p:cNvSpPr/>
          <p:nvPr/>
        </p:nvSpPr>
        <p:spPr>
          <a:xfrm>
            <a:off x="787644" y="5190907"/>
            <a:ext cx="10972800" cy="256032"/>
          </a:xfrm>
          <a:prstGeom prst="rect">
            <a:avLst/>
          </a:prstGeom>
          <a:noFill/>
          <a:ln>
            <a:noFill/>
          </a:ln>
        </p:spPr>
        <p:txBody>
          <a:bodyPr wrap="square" lIns="9144" tIns="7315" rIns="9144" bIns="7315" anchor="ctr">
            <a:noAutofit/>
          </a:bodyPr>
          <a:lstStyle/>
          <a:p>
            <a:pPr>
              <a:lnSpc>
                <a:spcPct val="90000"/>
              </a:lnSpc>
            </a:pPr>
            <a:r>
              <a:rPr lang="en-US" altLang="ko-KR" sz="16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P/D </a:t>
            </a:r>
            <a:r>
              <a:rPr lang="en-US" altLang="ko-KR" sz="1600" b="1" dirty="0" err="1">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분리</a:t>
            </a:r>
            <a:r>
              <a:rPr lang="en-US" altLang="ko-KR" sz="16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6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실행은</a:t>
            </a:r>
            <a:r>
              <a:rPr lang="en-US" altLang="ko-KR" sz="16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단계 간 간섭을 없애지만, KV </a:t>
            </a:r>
            <a:r>
              <a:rPr lang="en-US" altLang="ko-KR" sz="1600" b="1" dirty="0" err="1">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캐시</a:t>
            </a:r>
            <a:r>
              <a:rPr lang="en-US" altLang="ko-KR" sz="16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6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이동 비용의 대가 존재 </a:t>
            </a:r>
            <a:endParaRPr lang="ko-KR" altLang="en-US" sz="1600" b="1" i="0" dirty="0">
              <a:solidFill>
                <a:srgbClr val="0066FF"/>
              </a:solidFill>
              <a:latin typeface="맑은 고딕" panose="020B0503020000020004" pitchFamily="50" charset="-127"/>
              <a:ea typeface="맑은 고딕" panose="020B0503020000020004" pitchFamily="50" charset="-127"/>
            </a:endParaRPr>
          </a:p>
        </p:txBody>
      </p:sp>
      <p:sp>
        <p:nvSpPr>
          <p:cNvPr id="6152" name="Rectangle 6151"/>
          <p:cNvSpPr/>
          <p:nvPr/>
        </p:nvSpPr>
        <p:spPr>
          <a:xfrm>
            <a:off x="1206105" y="1379923"/>
            <a:ext cx="3559923" cy="3213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(a) </a:t>
            </a:r>
            <a:r>
              <a:rPr sz="900" b="1" dirty="0" err="1">
                <a:solidFill>
                  <a:srgbClr val="262626"/>
                </a:solidFill>
                <a:latin typeface="맑은 고딕"/>
                <a:ea typeface="맑은 고딕"/>
              </a:rPr>
              <a:t>통합</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a:solidFill>
                  <a:srgbClr val="404040"/>
                </a:solidFill>
                <a:latin typeface="맑은 고딕"/>
                <a:ea typeface="맑은 고딕"/>
              </a:rPr>
              <a:t>한 </a:t>
            </a:r>
            <a:r>
              <a:rPr sz="900" b="0" dirty="0" err="1">
                <a:solidFill>
                  <a:srgbClr val="404040"/>
                </a:solidFill>
                <a:latin typeface="맑은 고딕"/>
                <a:ea typeface="맑은 고딕"/>
              </a:rPr>
              <a:t>GPU에서</a:t>
            </a:r>
            <a:r>
              <a:rPr sz="900" b="0" dirty="0">
                <a:solidFill>
                  <a:srgbClr val="404040"/>
                </a:solidFill>
                <a:latin typeface="맑은 고딕"/>
                <a:ea typeface="맑은 고딕"/>
              </a:rPr>
              <a:t> </a:t>
            </a:r>
            <a:r>
              <a:rPr sz="900" b="0" dirty="0" err="1">
                <a:solidFill>
                  <a:srgbClr val="404040"/>
                </a:solidFill>
                <a:latin typeface="맑은 고딕"/>
                <a:ea typeface="맑은 고딕"/>
              </a:rPr>
              <a:t>Prefill과</a:t>
            </a:r>
            <a:r>
              <a:rPr sz="900" b="0" dirty="0">
                <a:solidFill>
                  <a:srgbClr val="404040"/>
                </a:solidFill>
                <a:latin typeface="맑은 고딕"/>
                <a:ea typeface="맑은 고딕"/>
              </a:rPr>
              <a:t> </a:t>
            </a:r>
            <a:r>
              <a:rPr sz="900" b="0" dirty="0" err="1">
                <a:solidFill>
                  <a:srgbClr val="404040"/>
                </a:solidFill>
                <a:latin typeface="맑은 고딕"/>
                <a:ea typeface="맑은 고딕"/>
              </a:rPr>
              <a:t>Decode를</a:t>
            </a:r>
            <a:r>
              <a:rPr sz="900" b="0" dirty="0">
                <a:solidFill>
                  <a:srgbClr val="404040"/>
                </a:solidFill>
                <a:latin typeface="맑은 고딕"/>
                <a:ea typeface="맑은 고딕"/>
              </a:rPr>
              <a:t> </a:t>
            </a:r>
            <a:r>
              <a:rPr sz="900" b="0" dirty="0" err="1">
                <a:solidFill>
                  <a:srgbClr val="404040"/>
                </a:solidFill>
                <a:latin typeface="맑은 고딕"/>
                <a:ea typeface="맑은 고딕"/>
              </a:rPr>
              <a:t>섞어</a:t>
            </a:r>
            <a:r>
              <a:rPr sz="900" b="0" dirty="0">
                <a:solidFill>
                  <a:srgbClr val="404040"/>
                </a:solidFill>
                <a:latin typeface="맑은 고딕"/>
                <a:ea typeface="맑은 고딕"/>
              </a:rPr>
              <a:t> </a:t>
            </a:r>
            <a:r>
              <a:rPr sz="900" b="0" dirty="0" err="1">
                <a:solidFill>
                  <a:srgbClr val="404040"/>
                </a:solidFill>
                <a:latin typeface="맑은 고딕"/>
                <a:ea typeface="맑은 고딕"/>
              </a:rPr>
              <a:t>실행</a:t>
            </a:r>
            <a:endParaRPr sz="900" b="0" dirty="0">
              <a:solidFill>
                <a:srgbClr val="404040"/>
              </a:solidFill>
              <a:latin typeface="맑은 고딕"/>
              <a:ea typeface="맑은 고딕"/>
            </a:endParaRPr>
          </a:p>
        </p:txBody>
      </p:sp>
      <p:sp>
        <p:nvSpPr>
          <p:cNvPr id="6173" name="Right Arrow 6172"/>
          <p:cNvSpPr/>
          <p:nvPr/>
        </p:nvSpPr>
        <p:spPr>
          <a:xfrm>
            <a:off x="5571809" y="2549504"/>
            <a:ext cx="266007" cy="481957"/>
          </a:xfrm>
          <a:prstGeom prst="rightArrow">
            <a:avLst/>
          </a:prstGeom>
          <a:solidFill>
            <a:srgbClr val="FFD9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74" name="Rectangle 6173"/>
          <p:cNvSpPr/>
          <p:nvPr/>
        </p:nvSpPr>
        <p:spPr>
          <a:xfrm>
            <a:off x="5967432" y="1030665"/>
            <a:ext cx="4987636" cy="3213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(b) P/D </a:t>
            </a:r>
            <a:r>
              <a:rPr sz="900" b="1" dirty="0" err="1">
                <a:solidFill>
                  <a:srgbClr val="262626"/>
                </a:solidFill>
                <a:latin typeface="맑은 고딕"/>
                <a:ea typeface="맑은 고딕"/>
              </a:rPr>
              <a:t>분리</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lang="en-US" sz="900" dirty="0">
                <a:solidFill>
                  <a:srgbClr val="404040"/>
                </a:solidFill>
                <a:latin typeface="맑은 고딕"/>
                <a:ea typeface="맑은 고딕"/>
              </a:rPr>
              <a:t>Prefill</a:t>
            </a:r>
            <a:r>
              <a:rPr lang="ko-KR" altLang="en-US" sz="900" dirty="0">
                <a:solidFill>
                  <a:srgbClr val="404040"/>
                </a:solidFill>
                <a:latin typeface="맑은 고딕"/>
                <a:ea typeface="맑은 고딕"/>
              </a:rPr>
              <a:t>은 </a:t>
            </a:r>
            <a:r>
              <a:rPr lang="en-US" altLang="ko-KR" sz="900" dirty="0">
                <a:solidFill>
                  <a:srgbClr val="404040"/>
                </a:solidFill>
                <a:latin typeface="맑은 고딕"/>
                <a:ea typeface="맑은 고딕"/>
              </a:rPr>
              <a:t>Prefill </a:t>
            </a:r>
            <a:r>
              <a:rPr lang="ko-KR" altLang="en-US" sz="900" dirty="0">
                <a:solidFill>
                  <a:srgbClr val="404040"/>
                </a:solidFill>
                <a:latin typeface="맑은 고딕"/>
                <a:ea typeface="맑은 고딕"/>
              </a:rPr>
              <a:t>노드</a:t>
            </a:r>
            <a:r>
              <a:rPr lang="en-US" altLang="ko-KR" sz="900" dirty="0">
                <a:solidFill>
                  <a:srgbClr val="404040"/>
                </a:solidFill>
                <a:latin typeface="맑은 고딕"/>
                <a:ea typeface="맑은 고딕"/>
              </a:rPr>
              <a:t>(</a:t>
            </a:r>
            <a:r>
              <a:rPr lang="ko-KR" altLang="en-US" sz="900" dirty="0">
                <a:solidFill>
                  <a:srgbClr val="404040"/>
                </a:solidFill>
                <a:latin typeface="맑은 고딕"/>
                <a:ea typeface="맑은 고딕"/>
              </a:rPr>
              <a:t>서버</a:t>
            </a:r>
            <a:r>
              <a:rPr lang="en-US" altLang="ko-KR" sz="900" dirty="0">
                <a:solidFill>
                  <a:srgbClr val="404040"/>
                </a:solidFill>
                <a:latin typeface="맑은 고딕"/>
                <a:ea typeface="맑은 고딕"/>
              </a:rPr>
              <a:t>)</a:t>
            </a:r>
            <a:r>
              <a:rPr lang="ko-KR" altLang="en-US" sz="900" dirty="0">
                <a:solidFill>
                  <a:srgbClr val="404040"/>
                </a:solidFill>
                <a:latin typeface="맑은 고딕"/>
                <a:ea typeface="맑은 고딕"/>
              </a:rPr>
              <a:t>에서만</a:t>
            </a:r>
            <a:r>
              <a:rPr lang="en-US" altLang="ko-KR" sz="900" dirty="0">
                <a:solidFill>
                  <a:srgbClr val="404040"/>
                </a:solidFill>
                <a:latin typeface="맑은 고딕"/>
                <a:ea typeface="맑은 고딕"/>
              </a:rPr>
              <a:t>, Decode</a:t>
            </a:r>
            <a:r>
              <a:rPr lang="ko-KR" altLang="en-US" sz="900" dirty="0">
                <a:solidFill>
                  <a:srgbClr val="404040"/>
                </a:solidFill>
                <a:latin typeface="맑은 고딕"/>
                <a:ea typeface="맑은 고딕"/>
              </a:rPr>
              <a:t>는 </a:t>
            </a:r>
            <a:r>
              <a:rPr lang="en-US" altLang="ko-KR" sz="900" dirty="0">
                <a:solidFill>
                  <a:srgbClr val="404040"/>
                </a:solidFill>
                <a:latin typeface="맑은 고딕"/>
                <a:ea typeface="맑은 고딕"/>
              </a:rPr>
              <a:t>Decode </a:t>
            </a:r>
            <a:r>
              <a:rPr lang="ko-KR" altLang="en-US" sz="900" dirty="0">
                <a:solidFill>
                  <a:srgbClr val="404040"/>
                </a:solidFill>
                <a:latin typeface="맑은 고딕"/>
                <a:ea typeface="맑은 고딕"/>
              </a:rPr>
              <a:t>노드</a:t>
            </a:r>
            <a:r>
              <a:rPr lang="en-US" altLang="ko-KR" sz="900" dirty="0">
                <a:solidFill>
                  <a:srgbClr val="404040"/>
                </a:solidFill>
                <a:latin typeface="맑은 고딕"/>
                <a:ea typeface="맑은 고딕"/>
              </a:rPr>
              <a:t>(</a:t>
            </a:r>
            <a:r>
              <a:rPr lang="ko-KR" altLang="en-US" sz="900" dirty="0">
                <a:solidFill>
                  <a:srgbClr val="404040"/>
                </a:solidFill>
                <a:latin typeface="맑은 고딕"/>
                <a:ea typeface="맑은 고딕"/>
              </a:rPr>
              <a:t>서버</a:t>
            </a:r>
            <a:r>
              <a:rPr lang="en-US" altLang="ko-KR" sz="900" dirty="0">
                <a:solidFill>
                  <a:srgbClr val="404040"/>
                </a:solidFill>
                <a:latin typeface="맑은 고딕"/>
                <a:ea typeface="맑은 고딕"/>
              </a:rPr>
              <a:t>)</a:t>
            </a:r>
            <a:r>
              <a:rPr lang="ko-KR" altLang="en-US" sz="900" dirty="0">
                <a:solidFill>
                  <a:srgbClr val="404040"/>
                </a:solidFill>
                <a:latin typeface="맑은 고딕"/>
                <a:ea typeface="맑은 고딕"/>
              </a:rPr>
              <a:t>에서만 실행</a:t>
            </a:r>
            <a:endParaRPr sz="900" b="0" dirty="0">
              <a:solidFill>
                <a:srgbClr val="404040"/>
              </a:solidFill>
              <a:latin typeface="맑은 고딕"/>
              <a:ea typeface="맑은 고딕"/>
            </a:endParaRPr>
          </a:p>
        </p:txBody>
      </p:sp>
      <p:sp>
        <p:nvSpPr>
          <p:cNvPr id="6175" name="Rounded Rectangle 6174"/>
          <p:cNvSpPr/>
          <p:nvPr/>
        </p:nvSpPr>
        <p:spPr>
          <a:xfrm>
            <a:off x="10763370" y="2161349"/>
            <a:ext cx="1212802" cy="619597"/>
          </a:xfrm>
          <a:prstGeom prst="roundRect">
            <a:avLst>
              <a:gd name="adj" fmla="val 10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2E75B6"/>
                </a:solidFill>
                <a:latin typeface="맑은 고딕"/>
                <a:ea typeface="맑은 고딕"/>
              </a:rPr>
              <a:t>Prefill </a:t>
            </a:r>
            <a:r>
              <a:rPr lang="en-US" sz="800" b="1" dirty="0">
                <a:solidFill>
                  <a:srgbClr val="2E75B6"/>
                </a:solidFill>
                <a:latin typeface="맑은 고딕"/>
                <a:ea typeface="맑은 고딕"/>
              </a:rPr>
              <a:t>Node</a:t>
            </a:r>
            <a:endParaRPr sz="800" b="1" dirty="0">
              <a:solidFill>
                <a:srgbClr val="2E75B6"/>
              </a:solidFill>
              <a:latin typeface="맑은 고딕"/>
              <a:ea typeface="맑은 고딕"/>
            </a:endParaRPr>
          </a:p>
          <a:p>
            <a:pPr algn="l"/>
            <a:r>
              <a:rPr sz="800" b="0" dirty="0">
                <a:solidFill>
                  <a:srgbClr val="404040"/>
                </a:solidFill>
                <a:latin typeface="맑은 고딕"/>
                <a:ea typeface="맑은 고딕"/>
              </a:rPr>
              <a:t>TTFT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a:t>
            </a:r>
            <a:endParaRPr lang="en-US" sz="800" b="0" dirty="0">
              <a:solidFill>
                <a:srgbClr val="404040"/>
              </a:solidFill>
              <a:latin typeface="맑은 고딕"/>
              <a:ea typeface="맑은 고딕"/>
            </a:endParaRPr>
          </a:p>
          <a:p>
            <a:pPr algn="l"/>
            <a:r>
              <a:rPr lang="en-US" sz="800" b="0" dirty="0">
                <a:solidFill>
                  <a:srgbClr val="404040"/>
                </a:solidFill>
                <a:latin typeface="맑은 고딕"/>
                <a:ea typeface="맑은 고딕"/>
              </a:rPr>
              <a:t>Compute</a:t>
            </a:r>
            <a:r>
              <a:rPr lang="ko-KR" altLang="en-US" sz="800" b="0" dirty="0">
                <a:solidFill>
                  <a:srgbClr val="404040"/>
                </a:solidFill>
                <a:latin typeface="맑은 고딕"/>
                <a:ea typeface="맑은 고딕"/>
              </a:rPr>
              <a:t> </a:t>
            </a:r>
            <a:r>
              <a:rPr lang="en-US" altLang="ko-KR" sz="800" b="0" dirty="0">
                <a:solidFill>
                  <a:srgbClr val="404040"/>
                </a:solidFill>
                <a:latin typeface="맑은 고딕"/>
                <a:ea typeface="맑은 고딕"/>
              </a:rPr>
              <a:t>Bound</a:t>
            </a:r>
            <a:r>
              <a:rPr lang="ko-KR" altLang="en-US" sz="800" b="0" dirty="0">
                <a:solidFill>
                  <a:srgbClr val="404040"/>
                </a:solidFill>
                <a:latin typeface="맑은 고딕"/>
                <a:ea typeface="맑은 고딕"/>
              </a:rPr>
              <a:t> 연산</a:t>
            </a:r>
            <a:endParaRPr lang="en-US" sz="800" b="0" dirty="0">
              <a:solidFill>
                <a:srgbClr val="404040"/>
              </a:solidFill>
              <a:latin typeface="맑은 고딕"/>
              <a:ea typeface="맑은 고딕"/>
            </a:endParaRPr>
          </a:p>
        </p:txBody>
      </p:sp>
      <p:sp>
        <p:nvSpPr>
          <p:cNvPr id="6176" name="Rounded Rectangle 6175"/>
          <p:cNvSpPr/>
          <p:nvPr/>
        </p:nvSpPr>
        <p:spPr>
          <a:xfrm>
            <a:off x="10763370" y="2898606"/>
            <a:ext cx="1212802" cy="619597"/>
          </a:xfrm>
          <a:prstGeom prst="roundRect">
            <a:avLst>
              <a:gd name="adj" fmla="val 10000"/>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C55A11"/>
                </a:solidFill>
                <a:latin typeface="맑은 고딕"/>
                <a:ea typeface="맑은 고딕"/>
              </a:rPr>
              <a:t>Decod</a:t>
            </a:r>
            <a:r>
              <a:rPr lang="en-US" sz="800" b="1" dirty="0">
                <a:solidFill>
                  <a:srgbClr val="C55A11"/>
                </a:solidFill>
                <a:latin typeface="맑은 고딕"/>
                <a:ea typeface="맑은 고딕"/>
              </a:rPr>
              <a:t>e Node</a:t>
            </a:r>
            <a:endParaRPr sz="800" b="1" dirty="0">
              <a:solidFill>
                <a:srgbClr val="C55A11"/>
              </a:solidFill>
              <a:latin typeface="맑은 고딕"/>
              <a:ea typeface="맑은 고딕"/>
            </a:endParaRPr>
          </a:p>
          <a:p>
            <a:pPr algn="l"/>
            <a:r>
              <a:rPr sz="800" b="0" dirty="0">
                <a:solidFill>
                  <a:srgbClr val="404040"/>
                </a:solidFill>
                <a:latin typeface="맑은 고딕"/>
                <a:ea typeface="맑은 고딕"/>
              </a:rPr>
              <a:t>TPOT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a:t>
            </a:r>
            <a:endParaRPr lang="en-US" sz="800" b="0" dirty="0">
              <a:solidFill>
                <a:srgbClr val="404040"/>
              </a:solidFill>
              <a:latin typeface="맑은 고딕"/>
              <a:ea typeface="맑은 고딕"/>
            </a:endParaRPr>
          </a:p>
          <a:p>
            <a:pPr algn="l"/>
            <a:r>
              <a:rPr lang="en-US" sz="800" b="0" dirty="0">
                <a:solidFill>
                  <a:srgbClr val="404040"/>
                </a:solidFill>
                <a:latin typeface="맑은 고딕"/>
                <a:ea typeface="맑은 고딕"/>
              </a:rPr>
              <a:t>Memory BW Bound </a:t>
            </a:r>
            <a:r>
              <a:rPr lang="ko-KR" altLang="en-US" sz="800" b="0" dirty="0">
                <a:solidFill>
                  <a:srgbClr val="404040"/>
                </a:solidFill>
                <a:latin typeface="맑은 고딕"/>
                <a:ea typeface="맑은 고딕"/>
              </a:rPr>
              <a:t>연산</a:t>
            </a:r>
            <a:endParaRPr sz="800" b="0" dirty="0">
              <a:solidFill>
                <a:srgbClr val="404040"/>
              </a:solidFill>
              <a:latin typeface="맑은 고딕"/>
              <a:ea typeface="맑은 고딕"/>
            </a:endParaRPr>
          </a:p>
        </p:txBody>
      </p:sp>
      <p:sp>
        <p:nvSpPr>
          <p:cNvPr id="6177" name="Rounded Rectangle 6176"/>
          <p:cNvSpPr/>
          <p:nvPr/>
        </p:nvSpPr>
        <p:spPr>
          <a:xfrm>
            <a:off x="10763370" y="3651012"/>
            <a:ext cx="1212802" cy="619597"/>
          </a:xfrm>
          <a:prstGeom prst="roundRect">
            <a:avLst>
              <a:gd name="adj" fmla="val 10000"/>
            </a:avLst>
          </a:prstGeom>
          <a:solidFill>
            <a:srgbClr val="E2F0D9"/>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err="1">
                <a:solidFill>
                  <a:srgbClr val="548235"/>
                </a:solidFill>
                <a:latin typeface="맑은 고딕"/>
                <a:ea typeface="맑은 고딕"/>
              </a:rPr>
              <a:t>효과</a:t>
            </a:r>
            <a:endParaRPr sz="800" b="1" dirty="0">
              <a:solidFill>
                <a:srgbClr val="548235"/>
              </a:solidFill>
              <a:latin typeface="맑은 고딕"/>
              <a:ea typeface="맑은 고딕"/>
            </a:endParaRPr>
          </a:p>
          <a:p>
            <a:pPr algn="l"/>
            <a:r>
              <a:rPr sz="800" b="0" dirty="0" err="1">
                <a:solidFill>
                  <a:srgbClr val="404040"/>
                </a:solidFill>
                <a:latin typeface="맑은 고딕"/>
                <a:ea typeface="맑은 고딕"/>
              </a:rPr>
              <a:t>단계간</a:t>
            </a:r>
            <a:r>
              <a:rPr sz="800" b="0" dirty="0">
                <a:solidFill>
                  <a:srgbClr val="404040"/>
                </a:solidFill>
                <a:latin typeface="맑은 고딕"/>
                <a:ea typeface="맑은 고딕"/>
              </a:rPr>
              <a:t> </a:t>
            </a:r>
            <a:r>
              <a:rPr sz="800" b="0" dirty="0" err="1">
                <a:solidFill>
                  <a:srgbClr val="404040"/>
                </a:solidFill>
                <a:latin typeface="맑은 고딕"/>
                <a:ea typeface="맑은 고딕"/>
              </a:rPr>
              <a:t>간섭제거</a:t>
            </a:r>
            <a:r>
              <a:rPr sz="800" b="0" dirty="0">
                <a:solidFill>
                  <a:srgbClr val="404040"/>
                </a:solidFill>
                <a:latin typeface="맑은 고딕"/>
                <a:ea typeface="맑은 고딕"/>
              </a:rPr>
              <a:t> P:D </a:t>
            </a:r>
            <a:r>
              <a:rPr sz="800" b="0" dirty="0" err="1">
                <a:solidFill>
                  <a:srgbClr val="404040"/>
                </a:solidFill>
                <a:latin typeface="맑은 고딕"/>
                <a:ea typeface="맑은 고딕"/>
              </a:rPr>
              <a:t>독립</a:t>
            </a:r>
            <a:r>
              <a:rPr sz="800" b="0" dirty="0">
                <a:solidFill>
                  <a:srgbClr val="404040"/>
                </a:solidFill>
                <a:latin typeface="맑은 고딕"/>
                <a:ea typeface="맑은 고딕"/>
              </a:rPr>
              <a:t> scaling</a:t>
            </a:r>
          </a:p>
        </p:txBody>
      </p:sp>
      <p:grpSp>
        <p:nvGrpSpPr>
          <p:cNvPr id="2" name="그룹 1">
            <a:extLst>
              <a:ext uri="{FF2B5EF4-FFF2-40B4-BE49-F238E27FC236}">
                <a16:creationId xmlns:a16="http://schemas.microsoft.com/office/drawing/2014/main" id="{AB8A297E-CCEA-4417-8652-FE55EBFDD7FF}"/>
              </a:ext>
            </a:extLst>
          </p:cNvPr>
          <p:cNvGrpSpPr/>
          <p:nvPr/>
        </p:nvGrpSpPr>
        <p:grpSpPr>
          <a:xfrm>
            <a:off x="694078" y="1812610"/>
            <a:ext cx="4584795" cy="2256528"/>
            <a:chOff x="502920" y="4014215"/>
            <a:chExt cx="4700016" cy="1077429"/>
          </a:xfrm>
        </p:grpSpPr>
        <p:sp>
          <p:nvSpPr>
            <p:cNvPr id="155" name="Rectangle 6152">
              <a:extLst>
                <a:ext uri="{FF2B5EF4-FFF2-40B4-BE49-F238E27FC236}">
                  <a16:creationId xmlns:a16="http://schemas.microsoft.com/office/drawing/2014/main" id="{FF2D4AB9-0B43-4658-B6C0-7467620626F3}"/>
                </a:ext>
              </a:extLst>
            </p:cNvPr>
            <p:cNvSpPr/>
            <p:nvPr/>
          </p:nvSpPr>
          <p:spPr>
            <a:xfrm>
              <a:off x="502920" y="4041648"/>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R1 · Decode 중</a:t>
              </a:r>
            </a:p>
          </p:txBody>
        </p:sp>
        <p:sp>
          <p:nvSpPr>
            <p:cNvPr id="156" name="Rectangle 6153">
              <a:extLst>
                <a:ext uri="{FF2B5EF4-FFF2-40B4-BE49-F238E27FC236}">
                  <a16:creationId xmlns:a16="http://schemas.microsoft.com/office/drawing/2014/main" id="{ABAE4728-ABFA-4FDB-B7AC-1E5BA6247FB1}"/>
                </a:ext>
              </a:extLst>
            </p:cNvPr>
            <p:cNvSpPr/>
            <p:nvPr/>
          </p:nvSpPr>
          <p:spPr>
            <a:xfrm>
              <a:off x="502920" y="4215384"/>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R2 · Decode 중</a:t>
              </a:r>
            </a:p>
          </p:txBody>
        </p:sp>
        <p:sp>
          <p:nvSpPr>
            <p:cNvPr id="157" name="Rectangle 6154">
              <a:extLst>
                <a:ext uri="{FF2B5EF4-FFF2-40B4-BE49-F238E27FC236}">
                  <a16:creationId xmlns:a16="http://schemas.microsoft.com/office/drawing/2014/main" id="{EFB63F22-0161-4313-A52F-32F36FA85296}"/>
                </a:ext>
              </a:extLst>
            </p:cNvPr>
            <p:cNvSpPr/>
            <p:nvPr/>
          </p:nvSpPr>
          <p:spPr>
            <a:xfrm>
              <a:off x="502920" y="4389120"/>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R3 · 신규 Prefill</a:t>
              </a:r>
            </a:p>
          </p:txBody>
        </p:sp>
        <p:sp>
          <p:nvSpPr>
            <p:cNvPr id="158" name="Rectangle 6155">
              <a:extLst>
                <a:ext uri="{FF2B5EF4-FFF2-40B4-BE49-F238E27FC236}">
                  <a16:creationId xmlns:a16="http://schemas.microsoft.com/office/drawing/2014/main" id="{465185A4-B7E7-4398-9D60-5460DA1D8404}"/>
                </a:ext>
              </a:extLst>
            </p:cNvPr>
            <p:cNvSpPr/>
            <p:nvPr/>
          </p:nvSpPr>
          <p:spPr>
            <a:xfrm>
              <a:off x="502920" y="4562856"/>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R4 · 신규 Prefill</a:t>
              </a:r>
            </a:p>
          </p:txBody>
        </p:sp>
        <p:cxnSp>
          <p:nvCxnSpPr>
            <p:cNvPr id="159" name="Connector 6156">
              <a:extLst>
                <a:ext uri="{FF2B5EF4-FFF2-40B4-BE49-F238E27FC236}">
                  <a16:creationId xmlns:a16="http://schemas.microsoft.com/office/drawing/2014/main" id="{49D0AF00-80D0-4EAD-88CB-3C52C8CC6277}"/>
                </a:ext>
              </a:extLst>
            </p:cNvPr>
            <p:cNvCxnSpPr/>
            <p:nvPr/>
          </p:nvCxnSpPr>
          <p:spPr>
            <a:xfrm>
              <a:off x="1527048" y="4261104"/>
              <a:ext cx="164592"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6157">
              <a:extLst>
                <a:ext uri="{FF2B5EF4-FFF2-40B4-BE49-F238E27FC236}">
                  <a16:creationId xmlns:a16="http://schemas.microsoft.com/office/drawing/2014/main" id="{AC8C792D-22C6-40AE-BDCC-299FB23CD875}"/>
                </a:ext>
              </a:extLst>
            </p:cNvPr>
            <p:cNvSpPr/>
            <p:nvPr/>
          </p:nvSpPr>
          <p:spPr>
            <a:xfrm>
              <a:off x="1709928" y="4041648"/>
              <a:ext cx="365760" cy="667512"/>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a:solidFill>
                    <a:srgbClr val="000000"/>
                  </a:solidFill>
                  <a:latin typeface="맑은 고딕"/>
                  <a:ea typeface="맑은 고딕"/>
                </a:rPr>
                <a:t>GPU</a:t>
              </a:r>
            </a:p>
          </p:txBody>
        </p:sp>
        <p:sp>
          <p:nvSpPr>
            <p:cNvPr id="161" name="Rectangle 6158">
              <a:extLst>
                <a:ext uri="{FF2B5EF4-FFF2-40B4-BE49-F238E27FC236}">
                  <a16:creationId xmlns:a16="http://schemas.microsoft.com/office/drawing/2014/main" id="{BF280A27-50E4-4F2B-A278-BB3FA661D21A}"/>
                </a:ext>
              </a:extLst>
            </p:cNvPr>
            <p:cNvSpPr/>
            <p:nvPr/>
          </p:nvSpPr>
          <p:spPr>
            <a:xfrm>
              <a:off x="216712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2" name="Rectangle 6159">
              <a:extLst>
                <a:ext uri="{FF2B5EF4-FFF2-40B4-BE49-F238E27FC236}">
                  <a16:creationId xmlns:a16="http://schemas.microsoft.com/office/drawing/2014/main" id="{2FC09F91-1BDD-45F0-9B76-BE7958A4B6B3}"/>
                </a:ext>
              </a:extLst>
            </p:cNvPr>
            <p:cNvSpPr/>
            <p:nvPr/>
          </p:nvSpPr>
          <p:spPr>
            <a:xfrm>
              <a:off x="216712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163" name="Rectangle 6160">
              <a:extLst>
                <a:ext uri="{FF2B5EF4-FFF2-40B4-BE49-F238E27FC236}">
                  <a16:creationId xmlns:a16="http://schemas.microsoft.com/office/drawing/2014/main" id="{EEC437A7-E8BA-4249-9E7C-F17265ADE265}"/>
                </a:ext>
              </a:extLst>
            </p:cNvPr>
            <p:cNvSpPr/>
            <p:nvPr/>
          </p:nvSpPr>
          <p:spPr>
            <a:xfrm>
              <a:off x="248716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4" name="Rectangle 6161">
              <a:extLst>
                <a:ext uri="{FF2B5EF4-FFF2-40B4-BE49-F238E27FC236}">
                  <a16:creationId xmlns:a16="http://schemas.microsoft.com/office/drawing/2014/main" id="{2BFCB928-4B9E-4521-8F9B-0EB079BA983C}"/>
                </a:ext>
              </a:extLst>
            </p:cNvPr>
            <p:cNvSpPr/>
            <p:nvPr/>
          </p:nvSpPr>
          <p:spPr>
            <a:xfrm>
              <a:off x="2743200"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04" name="Rectangle 6162">
              <a:extLst>
                <a:ext uri="{FF2B5EF4-FFF2-40B4-BE49-F238E27FC236}">
                  <a16:creationId xmlns:a16="http://schemas.microsoft.com/office/drawing/2014/main" id="{D9DDD90B-9B09-417D-A222-FDB7E729E36C}"/>
                </a:ext>
              </a:extLst>
            </p:cNvPr>
            <p:cNvSpPr/>
            <p:nvPr/>
          </p:nvSpPr>
          <p:spPr>
            <a:xfrm>
              <a:off x="248716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05" name="Rectangle 6163">
              <a:extLst>
                <a:ext uri="{FF2B5EF4-FFF2-40B4-BE49-F238E27FC236}">
                  <a16:creationId xmlns:a16="http://schemas.microsoft.com/office/drawing/2014/main" id="{4D7FE4C2-F14F-4AF0-8A9A-B5F8C6DF1F11}"/>
                </a:ext>
              </a:extLst>
            </p:cNvPr>
            <p:cNvSpPr/>
            <p:nvPr/>
          </p:nvSpPr>
          <p:spPr>
            <a:xfrm>
              <a:off x="2743200"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40" name="Rectangle 6164">
              <a:extLst>
                <a:ext uri="{FF2B5EF4-FFF2-40B4-BE49-F238E27FC236}">
                  <a16:creationId xmlns:a16="http://schemas.microsoft.com/office/drawing/2014/main" id="{B44BACBA-DF71-4008-95E0-2CDFAC3F9A21}"/>
                </a:ext>
              </a:extLst>
            </p:cNvPr>
            <p:cNvSpPr/>
            <p:nvPr/>
          </p:nvSpPr>
          <p:spPr>
            <a:xfrm>
              <a:off x="2487168" y="4389120"/>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P3 (긴 프롬프트)</a:t>
              </a:r>
            </a:p>
          </p:txBody>
        </p:sp>
        <p:sp>
          <p:nvSpPr>
            <p:cNvPr id="273" name="Rectangle 6165">
              <a:extLst>
                <a:ext uri="{FF2B5EF4-FFF2-40B4-BE49-F238E27FC236}">
                  <a16:creationId xmlns:a16="http://schemas.microsoft.com/office/drawing/2014/main" id="{08BAC2FC-8327-4996-A348-B641F1D9FD62}"/>
                </a:ext>
              </a:extLst>
            </p:cNvPr>
            <p:cNvSpPr/>
            <p:nvPr/>
          </p:nvSpPr>
          <p:spPr>
            <a:xfrm>
              <a:off x="3621024"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4" name="Rectangle 6166">
              <a:extLst>
                <a:ext uri="{FF2B5EF4-FFF2-40B4-BE49-F238E27FC236}">
                  <a16:creationId xmlns:a16="http://schemas.microsoft.com/office/drawing/2014/main" id="{1AE420FD-892B-45C1-A2B1-32BBB5D1773D}"/>
                </a:ext>
              </a:extLst>
            </p:cNvPr>
            <p:cNvSpPr/>
            <p:nvPr/>
          </p:nvSpPr>
          <p:spPr>
            <a:xfrm>
              <a:off x="3621024"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5" name="Rectangle 6167">
              <a:extLst>
                <a:ext uri="{FF2B5EF4-FFF2-40B4-BE49-F238E27FC236}">
                  <a16:creationId xmlns:a16="http://schemas.microsoft.com/office/drawing/2014/main" id="{2990D454-12DA-4A42-9CF3-AC728D56B8DE}"/>
                </a:ext>
              </a:extLst>
            </p:cNvPr>
            <p:cNvSpPr/>
            <p:nvPr/>
          </p:nvSpPr>
          <p:spPr>
            <a:xfrm>
              <a:off x="3621024"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76" name="Rectangle 6168">
              <a:extLst>
                <a:ext uri="{FF2B5EF4-FFF2-40B4-BE49-F238E27FC236}">
                  <a16:creationId xmlns:a16="http://schemas.microsoft.com/office/drawing/2014/main" id="{27EDFEEA-A838-4303-B208-0FA0416B4C67}"/>
                </a:ext>
              </a:extLst>
            </p:cNvPr>
            <p:cNvSpPr/>
            <p:nvPr/>
          </p:nvSpPr>
          <p:spPr>
            <a:xfrm>
              <a:off x="3941063"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7" name="Rectangle 6169">
              <a:extLst>
                <a:ext uri="{FF2B5EF4-FFF2-40B4-BE49-F238E27FC236}">
                  <a16:creationId xmlns:a16="http://schemas.microsoft.com/office/drawing/2014/main" id="{8A4641AF-C7A1-4DF4-B54B-947039174740}"/>
                </a:ext>
              </a:extLst>
            </p:cNvPr>
            <p:cNvSpPr/>
            <p:nvPr/>
          </p:nvSpPr>
          <p:spPr>
            <a:xfrm>
              <a:off x="4197096"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78" name="Rectangle 6170">
              <a:extLst>
                <a:ext uri="{FF2B5EF4-FFF2-40B4-BE49-F238E27FC236}">
                  <a16:creationId xmlns:a16="http://schemas.microsoft.com/office/drawing/2014/main" id="{86651360-077B-4956-96B9-92C60C6B1719}"/>
                </a:ext>
              </a:extLst>
            </p:cNvPr>
            <p:cNvSpPr/>
            <p:nvPr/>
          </p:nvSpPr>
          <p:spPr>
            <a:xfrm>
              <a:off x="3941063"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9" name="Rectangle 6171">
              <a:extLst>
                <a:ext uri="{FF2B5EF4-FFF2-40B4-BE49-F238E27FC236}">
                  <a16:creationId xmlns:a16="http://schemas.microsoft.com/office/drawing/2014/main" id="{7D3942C4-82FB-4934-8FCB-4AB9DF48D245}"/>
                </a:ext>
              </a:extLst>
            </p:cNvPr>
            <p:cNvSpPr/>
            <p:nvPr/>
          </p:nvSpPr>
          <p:spPr>
            <a:xfrm>
              <a:off x="4197096"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0" name="Rectangle 6172">
              <a:extLst>
                <a:ext uri="{FF2B5EF4-FFF2-40B4-BE49-F238E27FC236}">
                  <a16:creationId xmlns:a16="http://schemas.microsoft.com/office/drawing/2014/main" id="{D501D629-6B33-438F-B52B-971D7815A36C}"/>
                </a:ext>
              </a:extLst>
            </p:cNvPr>
            <p:cNvSpPr/>
            <p:nvPr/>
          </p:nvSpPr>
          <p:spPr>
            <a:xfrm>
              <a:off x="3941063"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81" name="Rectangle 6173">
              <a:extLst>
                <a:ext uri="{FF2B5EF4-FFF2-40B4-BE49-F238E27FC236}">
                  <a16:creationId xmlns:a16="http://schemas.microsoft.com/office/drawing/2014/main" id="{7AB6576A-506F-46EB-9A2D-811BBDCEEC2A}"/>
                </a:ext>
              </a:extLst>
            </p:cNvPr>
            <p:cNvSpPr/>
            <p:nvPr/>
          </p:nvSpPr>
          <p:spPr>
            <a:xfrm>
              <a:off x="4197096" y="4389120"/>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2" name="Rectangle 6174">
              <a:extLst>
                <a:ext uri="{FF2B5EF4-FFF2-40B4-BE49-F238E27FC236}">
                  <a16:creationId xmlns:a16="http://schemas.microsoft.com/office/drawing/2014/main" id="{167FCFCD-3172-4654-AFED-F40CFC715162}"/>
                </a:ext>
              </a:extLst>
            </p:cNvPr>
            <p:cNvSpPr/>
            <p:nvPr/>
          </p:nvSpPr>
          <p:spPr>
            <a:xfrm>
              <a:off x="3941063" y="4562856"/>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P4 (긴 프롬프트)</a:t>
              </a:r>
            </a:p>
          </p:txBody>
        </p:sp>
        <p:cxnSp>
          <p:nvCxnSpPr>
            <p:cNvPr id="283" name="Connector 6175">
              <a:extLst>
                <a:ext uri="{FF2B5EF4-FFF2-40B4-BE49-F238E27FC236}">
                  <a16:creationId xmlns:a16="http://schemas.microsoft.com/office/drawing/2014/main" id="{70C43492-E8BB-4E0B-B41E-1AD3157DEDDB}"/>
                </a:ext>
              </a:extLst>
            </p:cNvPr>
            <p:cNvCxnSpPr/>
            <p:nvPr/>
          </p:nvCxnSpPr>
          <p:spPr>
            <a:xfrm>
              <a:off x="2450592"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4" name="Connector 6176">
              <a:extLst>
                <a:ext uri="{FF2B5EF4-FFF2-40B4-BE49-F238E27FC236}">
                  <a16:creationId xmlns:a16="http://schemas.microsoft.com/office/drawing/2014/main" id="{1A11478A-047E-4A62-8FA5-3F5DB15F43EF}"/>
                </a:ext>
              </a:extLst>
            </p:cNvPr>
            <p:cNvCxnSpPr/>
            <p:nvPr/>
          </p:nvCxnSpPr>
          <p:spPr>
            <a:xfrm>
              <a:off x="3584448"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5" name="Connector 6177">
              <a:extLst>
                <a:ext uri="{FF2B5EF4-FFF2-40B4-BE49-F238E27FC236}">
                  <a16:creationId xmlns:a16="http://schemas.microsoft.com/office/drawing/2014/main" id="{C3C3B8FC-1C22-4708-840B-4D778CF7E30E}"/>
                </a:ext>
              </a:extLst>
            </p:cNvPr>
            <p:cNvCxnSpPr/>
            <p:nvPr/>
          </p:nvCxnSpPr>
          <p:spPr>
            <a:xfrm>
              <a:off x="3904487"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6" name="Connector 6178">
              <a:extLst>
                <a:ext uri="{FF2B5EF4-FFF2-40B4-BE49-F238E27FC236}">
                  <a16:creationId xmlns:a16="http://schemas.microsoft.com/office/drawing/2014/main" id="{D3C3F233-D8E6-4760-8C29-11C141BA7257}"/>
                </a:ext>
              </a:extLst>
            </p:cNvPr>
            <p:cNvCxnSpPr/>
            <p:nvPr/>
          </p:nvCxnSpPr>
          <p:spPr>
            <a:xfrm>
              <a:off x="5038344"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7" name="Connector 6179">
              <a:extLst>
                <a:ext uri="{FF2B5EF4-FFF2-40B4-BE49-F238E27FC236}">
                  <a16:creationId xmlns:a16="http://schemas.microsoft.com/office/drawing/2014/main" id="{19063568-B70A-49AE-BB82-252280050E05}"/>
                </a:ext>
              </a:extLst>
            </p:cNvPr>
            <p:cNvCxnSpPr/>
            <p:nvPr/>
          </p:nvCxnSpPr>
          <p:spPr>
            <a:xfrm>
              <a:off x="4845242" y="4931793"/>
              <a:ext cx="237744"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288" name="Rectangle 6180">
              <a:extLst>
                <a:ext uri="{FF2B5EF4-FFF2-40B4-BE49-F238E27FC236}">
                  <a16:creationId xmlns:a16="http://schemas.microsoft.com/office/drawing/2014/main" id="{C03EBB96-B1CC-4189-9C82-F150FBA31156}"/>
                </a:ext>
              </a:extLst>
            </p:cNvPr>
            <p:cNvSpPr/>
            <p:nvPr/>
          </p:nvSpPr>
          <p:spPr>
            <a:xfrm>
              <a:off x="4764423" y="4927052"/>
              <a:ext cx="3657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err="1">
                  <a:solidFill>
                    <a:srgbClr val="404040"/>
                  </a:solidFill>
                  <a:latin typeface="맑은 고딕"/>
                  <a:ea typeface="맑은 고딕"/>
                </a:rPr>
                <a:t>시간</a:t>
              </a:r>
              <a:endParaRPr sz="800" b="0" dirty="0">
                <a:solidFill>
                  <a:srgbClr val="404040"/>
                </a:solidFill>
                <a:latin typeface="맑은 고딕"/>
                <a:ea typeface="맑은 고딕"/>
              </a:endParaRPr>
            </a:p>
          </p:txBody>
        </p:sp>
        <p:sp>
          <p:nvSpPr>
            <p:cNvPr id="289" name="Rectangle 6181">
              <a:extLst>
                <a:ext uri="{FF2B5EF4-FFF2-40B4-BE49-F238E27FC236}">
                  <a16:creationId xmlns:a16="http://schemas.microsoft.com/office/drawing/2014/main" id="{52A623D5-B822-4941-BD6E-9F1A62BAC1CF}"/>
                </a:ext>
              </a:extLst>
            </p:cNvPr>
            <p:cNvSpPr/>
            <p:nvPr/>
          </p:nvSpPr>
          <p:spPr>
            <a:xfrm>
              <a:off x="2286000"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00000"/>
                  </a:solidFill>
                  <a:latin typeface="맑은 고딕"/>
                  <a:ea typeface="맑은 고딕"/>
                </a:rPr>
                <a:t>Prefill이 iteration 시간 지배</a:t>
              </a:r>
            </a:p>
          </p:txBody>
        </p:sp>
        <p:sp>
          <p:nvSpPr>
            <p:cNvPr id="290" name="Rectangle 6182">
              <a:extLst>
                <a:ext uri="{FF2B5EF4-FFF2-40B4-BE49-F238E27FC236}">
                  <a16:creationId xmlns:a16="http://schemas.microsoft.com/office/drawing/2014/main" id="{F0120EE9-A51E-4361-9834-0B42F814F1B6}"/>
                </a:ext>
              </a:extLst>
            </p:cNvPr>
            <p:cNvSpPr/>
            <p:nvPr/>
          </p:nvSpPr>
          <p:spPr>
            <a:xfrm>
              <a:off x="3739896"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err="1">
                  <a:solidFill>
                    <a:srgbClr val="C00000"/>
                  </a:solidFill>
                  <a:latin typeface="맑은 고딕"/>
                  <a:ea typeface="맑은 고딕"/>
                </a:rPr>
                <a:t>Decode도</a:t>
              </a:r>
              <a:r>
                <a:rPr sz="800" b="1" dirty="0">
                  <a:solidFill>
                    <a:srgbClr val="C00000"/>
                  </a:solidFill>
                  <a:latin typeface="맑은 고딕"/>
                  <a:ea typeface="맑은 고딕"/>
                </a:rPr>
                <a:t> </a:t>
              </a:r>
              <a:r>
                <a:rPr sz="800" b="1" dirty="0" err="1">
                  <a:solidFill>
                    <a:srgbClr val="C00000"/>
                  </a:solidFill>
                  <a:latin typeface="맑은 고딕"/>
                  <a:ea typeface="맑은 고딕"/>
                </a:rPr>
                <a:t>함께</a:t>
              </a:r>
              <a:r>
                <a:rPr sz="800" b="1" dirty="0">
                  <a:solidFill>
                    <a:srgbClr val="C00000"/>
                  </a:solidFill>
                  <a:latin typeface="맑은 고딕"/>
                  <a:ea typeface="맑은 고딕"/>
                </a:rPr>
                <a:t> </a:t>
              </a:r>
              <a:r>
                <a:rPr sz="800" b="1" dirty="0" err="1">
                  <a:solidFill>
                    <a:srgbClr val="C00000"/>
                  </a:solidFill>
                  <a:latin typeface="맑은 고딕"/>
                  <a:ea typeface="맑은 고딕"/>
                </a:rPr>
                <a:t>대기</a:t>
              </a:r>
              <a:r>
                <a:rPr sz="800" b="1" dirty="0">
                  <a:solidFill>
                    <a:srgbClr val="C00000"/>
                  </a:solidFill>
                  <a:latin typeface="맑은 고딕"/>
                  <a:ea typeface="맑은 고딕"/>
                </a:rPr>
                <a:t> (TPOT↑)</a:t>
              </a:r>
            </a:p>
          </p:txBody>
        </p:sp>
      </p:grpSp>
      <p:sp>
        <p:nvSpPr>
          <p:cNvPr id="198" name="Rounded Rectangle 9037">
            <a:extLst>
              <a:ext uri="{FF2B5EF4-FFF2-40B4-BE49-F238E27FC236}">
                <a16:creationId xmlns:a16="http://schemas.microsoft.com/office/drawing/2014/main" id="{2FEEDDD2-6A07-4AD3-AB45-F107319D3735}"/>
              </a:ext>
            </a:extLst>
          </p:cNvPr>
          <p:cNvSpPr/>
          <p:nvPr/>
        </p:nvSpPr>
        <p:spPr>
          <a:xfrm>
            <a:off x="5975527" y="1344609"/>
            <a:ext cx="1200594" cy="362681"/>
          </a:xfrm>
          <a:prstGeom prst="roundRect">
            <a:avLst>
              <a:gd name="adj" fmla="val 50000"/>
            </a:avLst>
          </a:prstGeom>
          <a:solidFill>
            <a:srgbClr val="FFFFFF"/>
          </a:solidFill>
          <a:ln w="9525">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a:solidFill>
                  <a:srgbClr val="000000"/>
                </a:solidFill>
                <a:latin typeface="맑은 고딕"/>
                <a:ea typeface="맑은 고딕"/>
              </a:rPr>
              <a:t>Request (Turn N)</a:t>
            </a:r>
          </a:p>
        </p:txBody>
      </p:sp>
      <p:cxnSp>
        <p:nvCxnSpPr>
          <p:cNvPr id="199" name="Connector 9038">
            <a:extLst>
              <a:ext uri="{FF2B5EF4-FFF2-40B4-BE49-F238E27FC236}">
                <a16:creationId xmlns:a16="http://schemas.microsoft.com/office/drawing/2014/main" id="{ED6598B4-4698-4C1A-959C-5695693B614E}"/>
              </a:ext>
            </a:extLst>
          </p:cNvPr>
          <p:cNvCxnSpPr>
            <a:cxnSpLocks/>
            <a:stCxn id="198" idx="3"/>
            <a:endCxn id="291" idx="1"/>
          </p:cNvCxnSpPr>
          <p:nvPr/>
        </p:nvCxnSpPr>
        <p:spPr>
          <a:xfrm flipV="1">
            <a:off x="7176121" y="1523703"/>
            <a:ext cx="310884" cy="287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1" name="Rectangle 9039">
            <a:extLst>
              <a:ext uri="{FF2B5EF4-FFF2-40B4-BE49-F238E27FC236}">
                <a16:creationId xmlns:a16="http://schemas.microsoft.com/office/drawing/2014/main" id="{295BCE37-E870-4DB1-B7FF-C22F33B5AD01}"/>
              </a:ext>
            </a:extLst>
          </p:cNvPr>
          <p:cNvSpPr/>
          <p:nvPr/>
        </p:nvSpPr>
        <p:spPr>
          <a:xfrm>
            <a:off x="7487005" y="1353591"/>
            <a:ext cx="1820556" cy="341475"/>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a:solidFill>
                  <a:srgbClr val="000000"/>
                </a:solidFill>
                <a:latin typeface="맑은 고딕"/>
                <a:ea typeface="맑은 고딕"/>
              </a:rPr>
              <a:t>Request Scheduler / Router</a:t>
            </a:r>
          </a:p>
        </p:txBody>
      </p:sp>
      <p:sp>
        <p:nvSpPr>
          <p:cNvPr id="292" name="Rectangle 9040">
            <a:extLst>
              <a:ext uri="{FF2B5EF4-FFF2-40B4-BE49-F238E27FC236}">
                <a16:creationId xmlns:a16="http://schemas.microsoft.com/office/drawing/2014/main" id="{F205D4F6-8C8B-4D81-8CE1-A3E54BEEFE1F}"/>
              </a:ext>
            </a:extLst>
          </p:cNvPr>
          <p:cNvSpPr/>
          <p:nvPr/>
        </p:nvSpPr>
        <p:spPr>
          <a:xfrm>
            <a:off x="6202161" y="2095218"/>
            <a:ext cx="1463040" cy="584304"/>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lstStyle/>
          <a:p>
            <a:pPr algn="ctr"/>
            <a:endParaRPr/>
          </a:p>
        </p:txBody>
      </p:sp>
      <p:sp>
        <p:nvSpPr>
          <p:cNvPr id="293" name="Rectangle 9041">
            <a:extLst>
              <a:ext uri="{FF2B5EF4-FFF2-40B4-BE49-F238E27FC236}">
                <a16:creationId xmlns:a16="http://schemas.microsoft.com/office/drawing/2014/main" id="{5B335151-D95F-4C0E-A538-11A47DF1E443}"/>
              </a:ext>
            </a:extLst>
          </p:cNvPr>
          <p:cNvSpPr/>
          <p:nvPr/>
        </p:nvSpPr>
        <p:spPr>
          <a:xfrm>
            <a:off x="6202161" y="2165814"/>
            <a:ext cx="1463040" cy="25250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a:solidFill>
                  <a:srgbClr val="2E75B6"/>
                </a:solidFill>
                <a:latin typeface="맑은 고딕"/>
                <a:ea typeface="맑은 고딕"/>
              </a:rPr>
              <a:t>Prefill Node (P)</a:t>
            </a:r>
          </a:p>
        </p:txBody>
      </p:sp>
      <p:sp>
        <p:nvSpPr>
          <p:cNvPr id="294" name="Rectangle 9042">
            <a:extLst>
              <a:ext uri="{FF2B5EF4-FFF2-40B4-BE49-F238E27FC236}">
                <a16:creationId xmlns:a16="http://schemas.microsoft.com/office/drawing/2014/main" id="{6B04D9F5-2CE0-45E7-A28A-DA483BF41397}"/>
              </a:ext>
            </a:extLst>
          </p:cNvPr>
          <p:cNvSpPr/>
          <p:nvPr/>
        </p:nvSpPr>
        <p:spPr>
          <a:xfrm>
            <a:off x="6368416" y="2379001"/>
            <a:ext cx="1130531" cy="275455"/>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700" dirty="0">
                <a:solidFill>
                  <a:srgbClr val="000000"/>
                </a:solidFill>
                <a:latin typeface="맑은 고딕"/>
                <a:ea typeface="맑은 고딕"/>
              </a:rPr>
              <a:t>Input</a:t>
            </a:r>
            <a:r>
              <a:rPr lang="ko-KR" altLang="en-US" sz="700" dirty="0">
                <a:solidFill>
                  <a:srgbClr val="000000"/>
                </a:solidFill>
                <a:latin typeface="맑은 고딕"/>
                <a:ea typeface="맑은 고딕"/>
              </a:rPr>
              <a:t> </a:t>
            </a:r>
            <a:r>
              <a:rPr lang="en-US" altLang="ko-KR" sz="700" dirty="0">
                <a:solidFill>
                  <a:srgbClr val="000000"/>
                </a:solidFill>
                <a:latin typeface="맑은 고딕"/>
                <a:ea typeface="맑은 고딕"/>
              </a:rPr>
              <a:t>Prompt</a:t>
            </a:r>
            <a:r>
              <a:rPr lang="ko-KR" altLang="en-US" sz="700" dirty="0">
                <a:solidFill>
                  <a:srgbClr val="000000"/>
                </a:solidFill>
                <a:latin typeface="맑은 고딕"/>
                <a:ea typeface="맑은 고딕"/>
              </a:rPr>
              <a:t>의 </a:t>
            </a:r>
            <a:r>
              <a:rPr sz="700" b="0" dirty="0">
                <a:solidFill>
                  <a:srgbClr val="000000"/>
                </a:solidFill>
                <a:latin typeface="맑은 고딕"/>
                <a:ea typeface="맑은 고딕"/>
              </a:rPr>
              <a:t>KV </a:t>
            </a:r>
            <a:r>
              <a:rPr sz="700" b="0" dirty="0" err="1">
                <a:solidFill>
                  <a:srgbClr val="000000"/>
                </a:solidFill>
                <a:latin typeface="맑은 고딕"/>
                <a:ea typeface="맑은 고딕"/>
              </a:rPr>
              <a:t>생성</a:t>
            </a:r>
            <a:endParaRPr sz="700" b="0" dirty="0">
              <a:solidFill>
                <a:srgbClr val="000000"/>
              </a:solidFill>
              <a:latin typeface="맑은 고딕"/>
              <a:ea typeface="맑은 고딕"/>
            </a:endParaRPr>
          </a:p>
        </p:txBody>
      </p:sp>
      <p:sp>
        <p:nvSpPr>
          <p:cNvPr id="295" name="Rectangle 9043">
            <a:extLst>
              <a:ext uri="{FF2B5EF4-FFF2-40B4-BE49-F238E27FC236}">
                <a16:creationId xmlns:a16="http://schemas.microsoft.com/office/drawing/2014/main" id="{040A8536-AF95-454B-B2F4-A12342D58C2D}"/>
              </a:ext>
            </a:extLst>
          </p:cNvPr>
          <p:cNvSpPr/>
          <p:nvPr/>
        </p:nvSpPr>
        <p:spPr>
          <a:xfrm>
            <a:off x="9091665" y="2095218"/>
            <a:ext cx="1463040" cy="584304"/>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t"/>
          <a:lstStyle/>
          <a:p>
            <a:pPr algn="ctr"/>
            <a:endParaRPr dirty="0"/>
          </a:p>
        </p:txBody>
      </p:sp>
      <p:sp>
        <p:nvSpPr>
          <p:cNvPr id="296" name="Rectangle 9044">
            <a:extLst>
              <a:ext uri="{FF2B5EF4-FFF2-40B4-BE49-F238E27FC236}">
                <a16:creationId xmlns:a16="http://schemas.microsoft.com/office/drawing/2014/main" id="{011678FF-135E-4EA4-8CC9-D1002F1A8795}"/>
              </a:ext>
            </a:extLst>
          </p:cNvPr>
          <p:cNvSpPr/>
          <p:nvPr/>
        </p:nvSpPr>
        <p:spPr>
          <a:xfrm>
            <a:off x="9091665" y="2161349"/>
            <a:ext cx="1463040" cy="25250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a:solidFill>
                  <a:srgbClr val="C55A11"/>
                </a:solidFill>
                <a:latin typeface="맑은 고딕"/>
                <a:ea typeface="맑은 고딕"/>
              </a:rPr>
              <a:t>Decode Node (D)</a:t>
            </a:r>
          </a:p>
        </p:txBody>
      </p:sp>
      <p:sp>
        <p:nvSpPr>
          <p:cNvPr id="297" name="Rectangle 9045">
            <a:extLst>
              <a:ext uri="{FF2B5EF4-FFF2-40B4-BE49-F238E27FC236}">
                <a16:creationId xmlns:a16="http://schemas.microsoft.com/office/drawing/2014/main" id="{A7F3FAED-92DE-4FD7-96FA-C4070D7A417B}"/>
              </a:ext>
            </a:extLst>
          </p:cNvPr>
          <p:cNvSpPr/>
          <p:nvPr/>
        </p:nvSpPr>
        <p:spPr>
          <a:xfrm>
            <a:off x="9257920" y="2367780"/>
            <a:ext cx="1130531" cy="275455"/>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altLang="ko-KR" sz="700" dirty="0">
                <a:solidFill>
                  <a:srgbClr val="000000"/>
                </a:solidFill>
                <a:latin typeface="맑은 고딕"/>
                <a:ea typeface="맑은 고딕"/>
              </a:rPr>
              <a:t>Output</a:t>
            </a:r>
            <a:r>
              <a:rPr lang="ko-KR" altLang="en-US" sz="700" dirty="0">
                <a:solidFill>
                  <a:srgbClr val="000000"/>
                </a:solidFill>
                <a:latin typeface="맑은 고딕"/>
                <a:ea typeface="맑은 고딕"/>
              </a:rPr>
              <a:t>의 </a:t>
            </a:r>
            <a:r>
              <a:rPr lang="en-US" altLang="ko-KR" sz="700" b="0" dirty="0">
                <a:solidFill>
                  <a:srgbClr val="000000"/>
                </a:solidFill>
                <a:latin typeface="맑은 고딕"/>
                <a:ea typeface="맑은 고딕"/>
              </a:rPr>
              <a:t>KV </a:t>
            </a:r>
            <a:r>
              <a:rPr lang="ko-KR" altLang="en-US" sz="700" b="0" dirty="0">
                <a:solidFill>
                  <a:srgbClr val="000000"/>
                </a:solidFill>
                <a:latin typeface="맑은 고딕"/>
                <a:ea typeface="맑은 고딕"/>
              </a:rPr>
              <a:t>누적</a:t>
            </a:r>
          </a:p>
        </p:txBody>
      </p:sp>
      <p:cxnSp>
        <p:nvCxnSpPr>
          <p:cNvPr id="298" name="Connector 9046">
            <a:extLst>
              <a:ext uri="{FF2B5EF4-FFF2-40B4-BE49-F238E27FC236}">
                <a16:creationId xmlns:a16="http://schemas.microsoft.com/office/drawing/2014/main" id="{F3DF0431-7DC3-4348-95C8-538F50C4085A}"/>
              </a:ext>
            </a:extLst>
          </p:cNvPr>
          <p:cNvCxnSpPr>
            <a:cxnSpLocks/>
            <a:stCxn id="291" idx="2"/>
            <a:endCxn id="293" idx="0"/>
          </p:cNvCxnSpPr>
          <p:nvPr/>
        </p:nvCxnSpPr>
        <p:spPr>
          <a:xfrm flipH="1">
            <a:off x="6933681" y="1701332"/>
            <a:ext cx="1463602" cy="366585"/>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9" name="Connector 9047">
            <a:extLst>
              <a:ext uri="{FF2B5EF4-FFF2-40B4-BE49-F238E27FC236}">
                <a16:creationId xmlns:a16="http://schemas.microsoft.com/office/drawing/2014/main" id="{2149A0AB-99AB-414F-B498-2D6D6C9F5281}"/>
              </a:ext>
            </a:extLst>
          </p:cNvPr>
          <p:cNvCxnSpPr>
            <a:cxnSpLocks/>
            <a:stCxn id="291" idx="2"/>
            <a:endCxn id="296" idx="0"/>
          </p:cNvCxnSpPr>
          <p:nvPr/>
        </p:nvCxnSpPr>
        <p:spPr>
          <a:xfrm>
            <a:off x="8397283" y="1703053"/>
            <a:ext cx="1425903" cy="358676"/>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0" name="Connector 9048">
            <a:extLst>
              <a:ext uri="{FF2B5EF4-FFF2-40B4-BE49-F238E27FC236}">
                <a16:creationId xmlns:a16="http://schemas.microsoft.com/office/drawing/2014/main" id="{7CB4EC53-2E3E-4785-A6AE-46F299DE39CF}"/>
              </a:ext>
            </a:extLst>
          </p:cNvPr>
          <p:cNvCxnSpPr>
            <a:cxnSpLocks/>
          </p:cNvCxnSpPr>
          <p:nvPr/>
        </p:nvCxnSpPr>
        <p:spPr>
          <a:xfrm>
            <a:off x="7665201" y="2287599"/>
            <a:ext cx="1426464" cy="0"/>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1" name="Rectangle 9049">
            <a:extLst>
              <a:ext uri="{FF2B5EF4-FFF2-40B4-BE49-F238E27FC236}">
                <a16:creationId xmlns:a16="http://schemas.microsoft.com/office/drawing/2014/main" id="{D8F91298-846D-4CEA-B309-CB9B54207A77}"/>
              </a:ext>
            </a:extLst>
          </p:cNvPr>
          <p:cNvSpPr/>
          <p:nvPr/>
        </p:nvSpPr>
        <p:spPr>
          <a:xfrm>
            <a:off x="7665201" y="2075831"/>
            <a:ext cx="1426464" cy="25250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dirty="0">
                <a:solidFill>
                  <a:srgbClr val="2E75B6"/>
                </a:solidFill>
                <a:latin typeface="맑은 고딕"/>
                <a:ea typeface="맑은 고딕"/>
              </a:rPr>
              <a:t>KV </a:t>
            </a:r>
            <a:r>
              <a:rPr sz="650" b="0" dirty="0" err="1">
                <a:solidFill>
                  <a:srgbClr val="2E75B6"/>
                </a:solidFill>
                <a:latin typeface="맑은 고딕"/>
                <a:ea typeface="맑은 고딕"/>
              </a:rPr>
              <a:t>전송</a:t>
            </a:r>
            <a:r>
              <a:rPr sz="650" b="0" dirty="0">
                <a:solidFill>
                  <a:srgbClr val="2E75B6"/>
                </a:solidFill>
                <a:latin typeface="맑은 고딕"/>
                <a:ea typeface="맑은 고딕"/>
              </a:rPr>
              <a:t> (</a:t>
            </a:r>
            <a:r>
              <a:rPr lang="en-US" sz="650" dirty="0">
                <a:solidFill>
                  <a:srgbClr val="2E75B6"/>
                </a:solidFill>
                <a:latin typeface="맑은 고딕"/>
                <a:ea typeface="맑은 고딕"/>
              </a:rPr>
              <a:t>Turn N</a:t>
            </a:r>
            <a:r>
              <a:rPr sz="650" b="0" dirty="0">
                <a:solidFill>
                  <a:srgbClr val="2E75B6"/>
                </a:solidFill>
                <a:latin typeface="맑은 고딕"/>
                <a:ea typeface="맑은 고딕"/>
              </a:rPr>
              <a:t>)</a:t>
            </a:r>
          </a:p>
        </p:txBody>
      </p:sp>
      <p:cxnSp>
        <p:nvCxnSpPr>
          <p:cNvPr id="302" name="Connector 9050">
            <a:extLst>
              <a:ext uri="{FF2B5EF4-FFF2-40B4-BE49-F238E27FC236}">
                <a16:creationId xmlns:a16="http://schemas.microsoft.com/office/drawing/2014/main" id="{CF34D8D0-AA90-43FD-8A77-EFBB073E40CA}"/>
              </a:ext>
            </a:extLst>
          </p:cNvPr>
          <p:cNvCxnSpPr>
            <a:cxnSpLocks/>
          </p:cNvCxnSpPr>
          <p:nvPr/>
        </p:nvCxnSpPr>
        <p:spPr>
          <a:xfrm flipH="1">
            <a:off x="7665201" y="2472889"/>
            <a:ext cx="1426464" cy="0"/>
          </a:xfrm>
          <a:prstGeom prst="line">
            <a:avLst/>
          </a:prstGeom>
          <a:ln w="15875">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3" name="Rectangle 9051">
            <a:extLst>
              <a:ext uri="{FF2B5EF4-FFF2-40B4-BE49-F238E27FC236}">
                <a16:creationId xmlns:a16="http://schemas.microsoft.com/office/drawing/2014/main" id="{3A93B37E-5AC9-4FD6-A01D-3F82125F8410}"/>
              </a:ext>
            </a:extLst>
          </p:cNvPr>
          <p:cNvSpPr/>
          <p:nvPr/>
        </p:nvSpPr>
        <p:spPr>
          <a:xfrm>
            <a:off x="7665201" y="2417904"/>
            <a:ext cx="1426464" cy="25250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1" dirty="0">
                <a:solidFill>
                  <a:srgbClr val="C00000"/>
                </a:solidFill>
                <a:latin typeface="맑은 고딕"/>
                <a:ea typeface="맑은 고딕"/>
              </a:rPr>
              <a:t>KV </a:t>
            </a:r>
            <a:r>
              <a:rPr sz="650" b="1" dirty="0" err="1">
                <a:solidFill>
                  <a:srgbClr val="C00000"/>
                </a:solidFill>
                <a:latin typeface="맑은 고딕"/>
                <a:ea typeface="맑은 고딕"/>
              </a:rPr>
              <a:t>전송</a:t>
            </a:r>
            <a:r>
              <a:rPr sz="650" b="1" dirty="0">
                <a:solidFill>
                  <a:srgbClr val="C00000"/>
                </a:solidFill>
                <a:latin typeface="맑은 고딕"/>
                <a:ea typeface="맑은 고딕"/>
              </a:rPr>
              <a:t> (</a:t>
            </a:r>
            <a:r>
              <a:rPr lang="en-US" sz="650" b="1" dirty="0">
                <a:solidFill>
                  <a:srgbClr val="C00000"/>
                </a:solidFill>
                <a:latin typeface="맑은 고딕"/>
                <a:ea typeface="맑은 고딕"/>
              </a:rPr>
              <a:t>Turn N+1</a:t>
            </a:r>
            <a:r>
              <a:rPr sz="650" b="1" dirty="0">
                <a:solidFill>
                  <a:srgbClr val="C00000"/>
                </a:solidFill>
                <a:latin typeface="맑은 고딕"/>
                <a:ea typeface="맑은 고딕"/>
              </a:rPr>
              <a:t>)</a:t>
            </a:r>
          </a:p>
        </p:txBody>
      </p:sp>
      <p:sp>
        <p:nvSpPr>
          <p:cNvPr id="304" name="Rectangle 9049">
            <a:extLst>
              <a:ext uri="{FF2B5EF4-FFF2-40B4-BE49-F238E27FC236}">
                <a16:creationId xmlns:a16="http://schemas.microsoft.com/office/drawing/2014/main" id="{A8BF545A-8456-46D5-B044-EC69EF18C2A4}"/>
              </a:ext>
            </a:extLst>
          </p:cNvPr>
          <p:cNvSpPr/>
          <p:nvPr/>
        </p:nvSpPr>
        <p:spPr>
          <a:xfrm>
            <a:off x="7018296" y="1678845"/>
            <a:ext cx="412397" cy="25250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a:t>
            </a:r>
            <a:endParaRPr sz="650" b="0" dirty="0">
              <a:solidFill>
                <a:srgbClr val="FF0000"/>
              </a:solidFill>
              <a:latin typeface="맑은 고딕"/>
              <a:ea typeface="맑은 고딕"/>
            </a:endParaRPr>
          </a:p>
        </p:txBody>
      </p:sp>
      <p:sp>
        <p:nvSpPr>
          <p:cNvPr id="305" name="Rectangle 9049">
            <a:extLst>
              <a:ext uri="{FF2B5EF4-FFF2-40B4-BE49-F238E27FC236}">
                <a16:creationId xmlns:a16="http://schemas.microsoft.com/office/drawing/2014/main" id="{3EF9EAEF-6C29-4420-86D9-3C1EF5C5797F}"/>
              </a:ext>
            </a:extLst>
          </p:cNvPr>
          <p:cNvSpPr/>
          <p:nvPr/>
        </p:nvSpPr>
        <p:spPr>
          <a:xfrm>
            <a:off x="9447258" y="1788113"/>
            <a:ext cx="412397" cy="18855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Decode</a:t>
            </a:r>
            <a:endParaRPr sz="650" b="0" dirty="0">
              <a:solidFill>
                <a:srgbClr val="FF0000"/>
              </a:solidFill>
              <a:latin typeface="맑은 고딕"/>
              <a:ea typeface="맑은 고딕"/>
            </a:endParaRPr>
          </a:p>
        </p:txBody>
      </p:sp>
      <p:grpSp>
        <p:nvGrpSpPr>
          <p:cNvPr id="22" name="그룹 21">
            <a:extLst>
              <a:ext uri="{FF2B5EF4-FFF2-40B4-BE49-F238E27FC236}">
                <a16:creationId xmlns:a16="http://schemas.microsoft.com/office/drawing/2014/main" id="{2B687407-3258-416D-81C0-0555132A69C7}"/>
              </a:ext>
            </a:extLst>
          </p:cNvPr>
          <p:cNvGrpSpPr/>
          <p:nvPr/>
        </p:nvGrpSpPr>
        <p:grpSpPr>
          <a:xfrm>
            <a:off x="5975527" y="3349589"/>
            <a:ext cx="4509555" cy="1357683"/>
            <a:chOff x="6606964" y="4890532"/>
            <a:chExt cx="4634118" cy="1032200"/>
          </a:xfrm>
        </p:grpSpPr>
        <p:sp>
          <p:nvSpPr>
            <p:cNvPr id="307" name="Rectangle 9094">
              <a:extLst>
                <a:ext uri="{FF2B5EF4-FFF2-40B4-BE49-F238E27FC236}">
                  <a16:creationId xmlns:a16="http://schemas.microsoft.com/office/drawing/2014/main" id="{C877557F-8448-4948-8641-2733F1CF55AB}"/>
                </a:ext>
              </a:extLst>
            </p:cNvPr>
            <p:cNvSpPr/>
            <p:nvPr/>
          </p:nvSpPr>
          <p:spPr>
            <a:xfrm>
              <a:off x="7171306" y="5047497"/>
              <a:ext cx="3798457" cy="1167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000"/>
            </a:p>
          </p:txBody>
        </p:sp>
        <p:sp>
          <p:nvSpPr>
            <p:cNvPr id="308" name="Rectangle 9095">
              <a:extLst>
                <a:ext uri="{FF2B5EF4-FFF2-40B4-BE49-F238E27FC236}">
                  <a16:creationId xmlns:a16="http://schemas.microsoft.com/office/drawing/2014/main" id="{B9354BD9-24D0-455B-830C-8D89E6B31431}"/>
                </a:ext>
              </a:extLst>
            </p:cNvPr>
            <p:cNvSpPr/>
            <p:nvPr/>
          </p:nvSpPr>
          <p:spPr>
            <a:xfrm>
              <a:off x="7171306" y="5260862"/>
              <a:ext cx="3798457" cy="11675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000"/>
            </a:p>
          </p:txBody>
        </p:sp>
        <p:sp>
          <p:nvSpPr>
            <p:cNvPr id="309" name="Rectangle 9096">
              <a:extLst>
                <a:ext uri="{FF2B5EF4-FFF2-40B4-BE49-F238E27FC236}">
                  <a16:creationId xmlns:a16="http://schemas.microsoft.com/office/drawing/2014/main" id="{E9616A8A-6822-41FD-8525-11E9327B01C3}"/>
                </a:ext>
              </a:extLst>
            </p:cNvPr>
            <p:cNvSpPr/>
            <p:nvPr/>
          </p:nvSpPr>
          <p:spPr>
            <a:xfrm>
              <a:off x="6693786" y="5047497"/>
              <a:ext cx="455815"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900" b="1">
                  <a:solidFill>
                    <a:srgbClr val="2E75B6"/>
                  </a:solidFill>
                  <a:latin typeface="맑은 고딕"/>
                  <a:ea typeface="맑은 고딕"/>
                </a:rPr>
                <a:t>P</a:t>
              </a:r>
            </a:p>
          </p:txBody>
        </p:sp>
        <p:sp>
          <p:nvSpPr>
            <p:cNvPr id="310" name="Rectangle 9097">
              <a:extLst>
                <a:ext uri="{FF2B5EF4-FFF2-40B4-BE49-F238E27FC236}">
                  <a16:creationId xmlns:a16="http://schemas.microsoft.com/office/drawing/2014/main" id="{CA5592F5-F56F-44F4-A75F-81FAA1FB7ED3}"/>
                </a:ext>
              </a:extLst>
            </p:cNvPr>
            <p:cNvSpPr/>
            <p:nvPr/>
          </p:nvSpPr>
          <p:spPr>
            <a:xfrm>
              <a:off x="6693786" y="5260862"/>
              <a:ext cx="455815"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900" b="1">
                  <a:solidFill>
                    <a:srgbClr val="C55A11"/>
                  </a:solidFill>
                  <a:latin typeface="맑은 고딕"/>
                  <a:ea typeface="맑은 고딕"/>
                </a:rPr>
                <a:t>D</a:t>
              </a:r>
            </a:p>
          </p:txBody>
        </p:sp>
        <p:sp>
          <p:nvSpPr>
            <p:cNvPr id="311" name="Rectangle 9098">
              <a:extLst>
                <a:ext uri="{FF2B5EF4-FFF2-40B4-BE49-F238E27FC236}">
                  <a16:creationId xmlns:a16="http://schemas.microsoft.com/office/drawing/2014/main" id="{9C8F5EF7-804E-49EB-A03D-5795880BB4E9}"/>
                </a:ext>
              </a:extLst>
            </p:cNvPr>
            <p:cNvSpPr/>
            <p:nvPr/>
          </p:nvSpPr>
          <p:spPr>
            <a:xfrm>
              <a:off x="7214717" y="4890532"/>
              <a:ext cx="976746"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00" b="1">
                  <a:solidFill>
                    <a:srgbClr val="404040"/>
                  </a:solidFill>
                  <a:latin typeface="맑은 고딕"/>
                  <a:ea typeface="맑은 고딕"/>
                </a:rPr>
                <a:t>Turn 1</a:t>
              </a:r>
            </a:p>
          </p:txBody>
        </p:sp>
        <p:sp>
          <p:nvSpPr>
            <p:cNvPr id="312" name="Rectangle 9099">
              <a:extLst>
                <a:ext uri="{FF2B5EF4-FFF2-40B4-BE49-F238E27FC236}">
                  <a16:creationId xmlns:a16="http://schemas.microsoft.com/office/drawing/2014/main" id="{17293151-07A9-4099-B42C-D343342C4B50}"/>
                </a:ext>
              </a:extLst>
            </p:cNvPr>
            <p:cNvSpPr/>
            <p:nvPr/>
          </p:nvSpPr>
          <p:spPr>
            <a:xfrm>
              <a:off x="7214716" y="5047497"/>
              <a:ext cx="434110" cy="116750"/>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a:solidFill>
                    <a:srgbClr val="FFFFFF"/>
                  </a:solidFill>
                  <a:latin typeface="맑은 고딕"/>
                  <a:ea typeface="맑은 고딕"/>
                </a:rPr>
                <a:t>Prefill</a:t>
              </a:r>
            </a:p>
          </p:txBody>
        </p:sp>
        <p:cxnSp>
          <p:nvCxnSpPr>
            <p:cNvPr id="313" name="Connector 9100">
              <a:extLst>
                <a:ext uri="{FF2B5EF4-FFF2-40B4-BE49-F238E27FC236}">
                  <a16:creationId xmlns:a16="http://schemas.microsoft.com/office/drawing/2014/main" id="{5F7A7A58-5938-4E1F-846D-E73663B42EA4}"/>
                </a:ext>
              </a:extLst>
            </p:cNvPr>
            <p:cNvCxnSpPr/>
            <p:nvPr/>
          </p:nvCxnSpPr>
          <p:spPr>
            <a:xfrm>
              <a:off x="7648827" y="5186041"/>
              <a:ext cx="130233" cy="90805"/>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14" name="Rectangle 9101">
              <a:extLst>
                <a:ext uri="{FF2B5EF4-FFF2-40B4-BE49-F238E27FC236}">
                  <a16:creationId xmlns:a16="http://schemas.microsoft.com/office/drawing/2014/main" id="{FB21E5E7-E2AA-49F8-992E-400FFBAFD7B6}"/>
                </a:ext>
              </a:extLst>
            </p:cNvPr>
            <p:cNvSpPr/>
            <p:nvPr/>
          </p:nvSpPr>
          <p:spPr>
            <a:xfrm>
              <a:off x="7779059" y="5260862"/>
              <a:ext cx="455815" cy="116750"/>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a:solidFill>
                    <a:srgbClr val="FFFFFF"/>
                  </a:solidFill>
                  <a:latin typeface="맑은 고딕"/>
                  <a:ea typeface="맑은 고딕"/>
                </a:rPr>
                <a:t>Decode</a:t>
              </a:r>
            </a:p>
          </p:txBody>
        </p:sp>
        <p:cxnSp>
          <p:nvCxnSpPr>
            <p:cNvPr id="315" name="Connector 9102">
              <a:extLst>
                <a:ext uri="{FF2B5EF4-FFF2-40B4-BE49-F238E27FC236}">
                  <a16:creationId xmlns:a16="http://schemas.microsoft.com/office/drawing/2014/main" id="{033A37FD-60BE-4B74-B05E-9ED6CADE6C55}"/>
                </a:ext>
              </a:extLst>
            </p:cNvPr>
            <p:cNvCxnSpPr>
              <a:cxnSpLocks/>
            </p:cNvCxnSpPr>
            <p:nvPr/>
          </p:nvCxnSpPr>
          <p:spPr>
            <a:xfrm flipV="1">
              <a:off x="8234874" y="5186041"/>
              <a:ext cx="206202" cy="90805"/>
            </a:xfrm>
            <a:prstGeom prst="line">
              <a:avLst/>
            </a:prstGeom>
            <a:ln w="19050">
              <a:solidFill>
                <a:schemeClr val="accent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16" name="Rectangle 9103">
              <a:extLst>
                <a:ext uri="{FF2B5EF4-FFF2-40B4-BE49-F238E27FC236}">
                  <a16:creationId xmlns:a16="http://schemas.microsoft.com/office/drawing/2014/main" id="{B8704C79-CA37-4527-B3D0-682732A428FC}"/>
                </a:ext>
              </a:extLst>
            </p:cNvPr>
            <p:cNvSpPr/>
            <p:nvPr/>
          </p:nvSpPr>
          <p:spPr>
            <a:xfrm>
              <a:off x="8441076" y="4890532"/>
              <a:ext cx="976746"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00" b="1">
                  <a:solidFill>
                    <a:srgbClr val="404040"/>
                  </a:solidFill>
                  <a:latin typeface="맑은 고딕"/>
                  <a:ea typeface="맑은 고딕"/>
                </a:rPr>
                <a:t>Turn 2</a:t>
              </a:r>
            </a:p>
          </p:txBody>
        </p:sp>
        <p:sp>
          <p:nvSpPr>
            <p:cNvPr id="317" name="Rectangle 9104">
              <a:extLst>
                <a:ext uri="{FF2B5EF4-FFF2-40B4-BE49-F238E27FC236}">
                  <a16:creationId xmlns:a16="http://schemas.microsoft.com/office/drawing/2014/main" id="{CC58FE49-4DD1-47C8-88D0-8CC2952B40CC}"/>
                </a:ext>
              </a:extLst>
            </p:cNvPr>
            <p:cNvSpPr/>
            <p:nvPr/>
          </p:nvSpPr>
          <p:spPr>
            <a:xfrm>
              <a:off x="8441075" y="5047497"/>
              <a:ext cx="434110" cy="116750"/>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a:solidFill>
                    <a:srgbClr val="FFFFFF"/>
                  </a:solidFill>
                  <a:latin typeface="맑은 고딕"/>
                  <a:ea typeface="맑은 고딕"/>
                </a:rPr>
                <a:t>Prefill</a:t>
              </a:r>
            </a:p>
          </p:txBody>
        </p:sp>
        <p:cxnSp>
          <p:nvCxnSpPr>
            <p:cNvPr id="318" name="Connector 9105">
              <a:extLst>
                <a:ext uri="{FF2B5EF4-FFF2-40B4-BE49-F238E27FC236}">
                  <a16:creationId xmlns:a16="http://schemas.microsoft.com/office/drawing/2014/main" id="{EC53B073-F578-4E5A-8822-B4E86CC757C0}"/>
                </a:ext>
              </a:extLst>
            </p:cNvPr>
            <p:cNvCxnSpPr/>
            <p:nvPr/>
          </p:nvCxnSpPr>
          <p:spPr>
            <a:xfrm>
              <a:off x="8875186" y="5186041"/>
              <a:ext cx="130233" cy="90805"/>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19" name="Rectangle 9106">
              <a:extLst>
                <a:ext uri="{FF2B5EF4-FFF2-40B4-BE49-F238E27FC236}">
                  <a16:creationId xmlns:a16="http://schemas.microsoft.com/office/drawing/2014/main" id="{653BC3B9-9DDF-4289-9625-ED85A3D60DBA}"/>
                </a:ext>
              </a:extLst>
            </p:cNvPr>
            <p:cNvSpPr/>
            <p:nvPr/>
          </p:nvSpPr>
          <p:spPr>
            <a:xfrm>
              <a:off x="9005419" y="5260862"/>
              <a:ext cx="455815" cy="116750"/>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a:solidFill>
                    <a:srgbClr val="FFFFFF"/>
                  </a:solidFill>
                  <a:latin typeface="맑은 고딕"/>
                  <a:ea typeface="맑은 고딕"/>
                </a:rPr>
                <a:t>Decode</a:t>
              </a:r>
            </a:p>
          </p:txBody>
        </p:sp>
        <p:cxnSp>
          <p:nvCxnSpPr>
            <p:cNvPr id="320" name="Connector 9107">
              <a:extLst>
                <a:ext uri="{FF2B5EF4-FFF2-40B4-BE49-F238E27FC236}">
                  <a16:creationId xmlns:a16="http://schemas.microsoft.com/office/drawing/2014/main" id="{DA1DD794-A1FB-42EA-A732-F299425EBD90}"/>
                </a:ext>
              </a:extLst>
            </p:cNvPr>
            <p:cNvCxnSpPr/>
            <p:nvPr/>
          </p:nvCxnSpPr>
          <p:spPr>
            <a:xfrm flipV="1">
              <a:off x="9461233" y="5186041"/>
              <a:ext cx="206202" cy="90805"/>
            </a:xfrm>
            <a:prstGeom prst="line">
              <a:avLst/>
            </a:prstGeom>
            <a:ln w="19050">
              <a:solidFill>
                <a:schemeClr val="accent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21" name="Rectangle 9108">
              <a:extLst>
                <a:ext uri="{FF2B5EF4-FFF2-40B4-BE49-F238E27FC236}">
                  <a16:creationId xmlns:a16="http://schemas.microsoft.com/office/drawing/2014/main" id="{0BE2AF89-3271-4EF0-A32D-346FC0293663}"/>
                </a:ext>
              </a:extLst>
            </p:cNvPr>
            <p:cNvSpPr/>
            <p:nvPr/>
          </p:nvSpPr>
          <p:spPr>
            <a:xfrm>
              <a:off x="9667435" y="4890532"/>
              <a:ext cx="976746"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00" b="1">
                  <a:solidFill>
                    <a:srgbClr val="404040"/>
                  </a:solidFill>
                  <a:latin typeface="맑은 고딕"/>
                  <a:ea typeface="맑은 고딕"/>
                </a:rPr>
                <a:t>Turn 3</a:t>
              </a:r>
            </a:p>
          </p:txBody>
        </p:sp>
        <p:sp>
          <p:nvSpPr>
            <p:cNvPr id="322" name="Rectangle 9109">
              <a:extLst>
                <a:ext uri="{FF2B5EF4-FFF2-40B4-BE49-F238E27FC236}">
                  <a16:creationId xmlns:a16="http://schemas.microsoft.com/office/drawing/2014/main" id="{EC4CF85F-2FC9-4939-8884-2CE8C6A6BBBF}"/>
                </a:ext>
              </a:extLst>
            </p:cNvPr>
            <p:cNvSpPr/>
            <p:nvPr/>
          </p:nvSpPr>
          <p:spPr>
            <a:xfrm>
              <a:off x="9667434" y="5047497"/>
              <a:ext cx="434110" cy="116750"/>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a:solidFill>
                    <a:srgbClr val="FFFFFF"/>
                  </a:solidFill>
                  <a:latin typeface="맑은 고딕"/>
                  <a:ea typeface="맑은 고딕"/>
                </a:rPr>
                <a:t>Prefill</a:t>
              </a:r>
            </a:p>
          </p:txBody>
        </p:sp>
        <p:cxnSp>
          <p:nvCxnSpPr>
            <p:cNvPr id="323" name="Connector 9110">
              <a:extLst>
                <a:ext uri="{FF2B5EF4-FFF2-40B4-BE49-F238E27FC236}">
                  <a16:creationId xmlns:a16="http://schemas.microsoft.com/office/drawing/2014/main" id="{9285AE66-B1AE-4FA1-929C-881442C1FC3A}"/>
                </a:ext>
              </a:extLst>
            </p:cNvPr>
            <p:cNvCxnSpPr/>
            <p:nvPr/>
          </p:nvCxnSpPr>
          <p:spPr>
            <a:xfrm>
              <a:off x="10101544" y="5186041"/>
              <a:ext cx="130235" cy="90805"/>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4" name="Rectangle 9111">
              <a:extLst>
                <a:ext uri="{FF2B5EF4-FFF2-40B4-BE49-F238E27FC236}">
                  <a16:creationId xmlns:a16="http://schemas.microsoft.com/office/drawing/2014/main" id="{9ECF37F6-174E-4115-9386-5890807E781F}"/>
                </a:ext>
              </a:extLst>
            </p:cNvPr>
            <p:cNvSpPr/>
            <p:nvPr/>
          </p:nvSpPr>
          <p:spPr>
            <a:xfrm>
              <a:off x="10231778" y="5260862"/>
              <a:ext cx="455815" cy="116750"/>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a:solidFill>
                    <a:srgbClr val="FFFFFF"/>
                  </a:solidFill>
                  <a:latin typeface="맑은 고딕"/>
                  <a:ea typeface="맑은 고딕"/>
                </a:rPr>
                <a:t>Decode</a:t>
              </a:r>
            </a:p>
          </p:txBody>
        </p:sp>
        <p:cxnSp>
          <p:nvCxnSpPr>
            <p:cNvPr id="325" name="Connector 9112">
              <a:extLst>
                <a:ext uri="{FF2B5EF4-FFF2-40B4-BE49-F238E27FC236}">
                  <a16:creationId xmlns:a16="http://schemas.microsoft.com/office/drawing/2014/main" id="{0564067D-C37C-4054-9243-D6D7E4B35C8F}"/>
                </a:ext>
              </a:extLst>
            </p:cNvPr>
            <p:cNvCxnSpPr>
              <a:cxnSpLocks/>
            </p:cNvCxnSpPr>
            <p:nvPr/>
          </p:nvCxnSpPr>
          <p:spPr>
            <a:xfrm flipV="1">
              <a:off x="10677252" y="5171874"/>
              <a:ext cx="194836" cy="98509"/>
            </a:xfrm>
            <a:prstGeom prst="line">
              <a:avLst/>
            </a:prstGeom>
            <a:ln w="19050">
              <a:solidFill>
                <a:schemeClr val="accent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26" name="Rectangle 9113">
              <a:extLst>
                <a:ext uri="{FF2B5EF4-FFF2-40B4-BE49-F238E27FC236}">
                  <a16:creationId xmlns:a16="http://schemas.microsoft.com/office/drawing/2014/main" id="{97C29E6C-2B73-46B3-8944-B34DFD55E896}"/>
                </a:ext>
              </a:extLst>
            </p:cNvPr>
            <p:cNvSpPr/>
            <p:nvPr/>
          </p:nvSpPr>
          <p:spPr>
            <a:xfrm>
              <a:off x="10957184" y="5041882"/>
              <a:ext cx="202161"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7F7F7F"/>
                  </a:solidFill>
                  <a:latin typeface="맑은 고딕"/>
                  <a:ea typeface="맑은 고딕"/>
                </a:rPr>
                <a:t>…</a:t>
              </a:r>
            </a:p>
          </p:txBody>
        </p:sp>
        <p:sp>
          <p:nvSpPr>
            <p:cNvPr id="327" name="Rectangle 9114">
              <a:extLst>
                <a:ext uri="{FF2B5EF4-FFF2-40B4-BE49-F238E27FC236}">
                  <a16:creationId xmlns:a16="http://schemas.microsoft.com/office/drawing/2014/main" id="{7BB527EA-245E-45AF-BA2E-78731F72F57E}"/>
                </a:ext>
              </a:extLst>
            </p:cNvPr>
            <p:cNvSpPr/>
            <p:nvPr/>
          </p:nvSpPr>
          <p:spPr>
            <a:xfrm>
              <a:off x="10481391" y="4890532"/>
              <a:ext cx="759691" cy="116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000"/>
            </a:p>
          </p:txBody>
        </p:sp>
        <p:sp>
          <p:nvSpPr>
            <p:cNvPr id="334" name="Rectangle 9121">
              <a:extLst>
                <a:ext uri="{FF2B5EF4-FFF2-40B4-BE49-F238E27FC236}">
                  <a16:creationId xmlns:a16="http://schemas.microsoft.com/office/drawing/2014/main" id="{8075F778-B292-47F1-A7F1-E1A1D84453F9}"/>
                </a:ext>
              </a:extLst>
            </p:cNvPr>
            <p:cNvSpPr/>
            <p:nvPr/>
          </p:nvSpPr>
          <p:spPr>
            <a:xfrm>
              <a:off x="6606964" y="5521828"/>
              <a:ext cx="596900" cy="23544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700" b="1" dirty="0" err="1">
                  <a:solidFill>
                    <a:srgbClr val="C00000"/>
                  </a:solidFill>
                  <a:latin typeface="맑은 고딕"/>
                  <a:ea typeface="맑은 고딕"/>
                </a:rPr>
                <a:t>누적</a:t>
              </a:r>
              <a:endParaRPr sz="700" b="1" dirty="0">
                <a:solidFill>
                  <a:srgbClr val="C00000"/>
                </a:solidFill>
                <a:latin typeface="맑은 고딕"/>
                <a:ea typeface="맑은 고딕"/>
              </a:endParaRPr>
            </a:p>
            <a:p>
              <a:pPr algn="r"/>
              <a:r>
                <a:rPr sz="700" b="1" dirty="0" err="1">
                  <a:solidFill>
                    <a:srgbClr val="C00000"/>
                  </a:solidFill>
                  <a:latin typeface="맑은 고딕"/>
                  <a:ea typeface="맑은 고딕"/>
                </a:rPr>
                <a:t>전송</a:t>
              </a:r>
              <a:endParaRPr sz="700" b="1" dirty="0">
                <a:solidFill>
                  <a:srgbClr val="C00000"/>
                </a:solidFill>
                <a:latin typeface="맑은 고딕"/>
                <a:ea typeface="맑은 고딕"/>
              </a:endParaRPr>
            </a:p>
          </p:txBody>
        </p:sp>
        <p:grpSp>
          <p:nvGrpSpPr>
            <p:cNvPr id="21" name="그룹 20">
              <a:extLst>
                <a:ext uri="{FF2B5EF4-FFF2-40B4-BE49-F238E27FC236}">
                  <a16:creationId xmlns:a16="http://schemas.microsoft.com/office/drawing/2014/main" id="{83E4CB21-809B-4A48-8C1E-6E3880A9F4BF}"/>
                </a:ext>
              </a:extLst>
            </p:cNvPr>
            <p:cNvGrpSpPr/>
            <p:nvPr/>
          </p:nvGrpSpPr>
          <p:grpSpPr>
            <a:xfrm>
              <a:off x="7201361" y="5367195"/>
              <a:ext cx="3885278" cy="555537"/>
              <a:chOff x="7171306" y="5455117"/>
              <a:chExt cx="3885278" cy="459122"/>
            </a:xfrm>
          </p:grpSpPr>
          <p:sp>
            <p:nvSpPr>
              <p:cNvPr id="328" name="Rectangle 9115">
                <a:extLst>
                  <a:ext uri="{FF2B5EF4-FFF2-40B4-BE49-F238E27FC236}">
                    <a16:creationId xmlns:a16="http://schemas.microsoft.com/office/drawing/2014/main" id="{1DD6E5BB-F61D-4396-93DD-99A638D4AAC5}"/>
                  </a:ext>
                </a:extLst>
              </p:cNvPr>
              <p:cNvSpPr/>
              <p:nvPr/>
            </p:nvSpPr>
            <p:spPr>
              <a:xfrm>
                <a:off x="7214717" y="5745502"/>
                <a:ext cx="1172094" cy="43165"/>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000"/>
              </a:p>
            </p:txBody>
          </p:sp>
          <p:sp>
            <p:nvSpPr>
              <p:cNvPr id="329" name="Rectangle 9116">
                <a:extLst>
                  <a:ext uri="{FF2B5EF4-FFF2-40B4-BE49-F238E27FC236}">
                    <a16:creationId xmlns:a16="http://schemas.microsoft.com/office/drawing/2014/main" id="{CBBC075A-175B-4036-A592-02E5B2221645}"/>
                  </a:ext>
                </a:extLst>
              </p:cNvPr>
              <p:cNvSpPr/>
              <p:nvPr/>
            </p:nvSpPr>
            <p:spPr>
              <a:xfrm>
                <a:off x="7214717" y="5627779"/>
                <a:ext cx="1172094" cy="11772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dirty="0" err="1">
                    <a:solidFill>
                      <a:srgbClr val="C00000"/>
                    </a:solidFill>
                    <a:latin typeface="맑은 고딕"/>
                    <a:ea typeface="맑은 고딕"/>
                  </a:rPr>
                  <a:t>누적</a:t>
                </a:r>
                <a:r>
                  <a:rPr sz="700" b="1" dirty="0">
                    <a:solidFill>
                      <a:srgbClr val="C00000"/>
                    </a:solidFill>
                    <a:latin typeface="맑은 고딕"/>
                    <a:ea typeface="맑은 고딕"/>
                  </a:rPr>
                  <a:t> </a:t>
                </a:r>
                <a:r>
                  <a:rPr lang="en-US" sz="700" b="1" dirty="0">
                    <a:solidFill>
                      <a:srgbClr val="C00000"/>
                    </a:solidFill>
                    <a:latin typeface="맑은 고딕"/>
                    <a:ea typeface="맑은 고딕"/>
                  </a:rPr>
                  <a:t>2</a:t>
                </a:r>
                <a:r>
                  <a:rPr sz="700" b="1" dirty="0">
                    <a:solidFill>
                      <a:srgbClr val="C00000"/>
                    </a:solidFill>
                    <a:latin typeface="맑은 고딕"/>
                    <a:ea typeface="맑은 고딕"/>
                  </a:rPr>
                  <a:t>회</a:t>
                </a:r>
              </a:p>
            </p:txBody>
          </p:sp>
          <p:sp>
            <p:nvSpPr>
              <p:cNvPr id="330" name="Rectangle 9117">
                <a:extLst>
                  <a:ext uri="{FF2B5EF4-FFF2-40B4-BE49-F238E27FC236}">
                    <a16:creationId xmlns:a16="http://schemas.microsoft.com/office/drawing/2014/main" id="{F0B6181C-CB03-4849-89BA-826E425E094E}"/>
                  </a:ext>
                </a:extLst>
              </p:cNvPr>
              <p:cNvSpPr/>
              <p:nvPr/>
            </p:nvSpPr>
            <p:spPr>
              <a:xfrm>
                <a:off x="8441076" y="5659172"/>
                <a:ext cx="1172094" cy="129496"/>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000"/>
              </a:p>
            </p:txBody>
          </p:sp>
          <p:sp>
            <p:nvSpPr>
              <p:cNvPr id="331" name="Rectangle 9118">
                <a:extLst>
                  <a:ext uri="{FF2B5EF4-FFF2-40B4-BE49-F238E27FC236}">
                    <a16:creationId xmlns:a16="http://schemas.microsoft.com/office/drawing/2014/main" id="{191EFD47-89F1-47A1-B3E3-4E4C0D7154AF}"/>
                  </a:ext>
                </a:extLst>
              </p:cNvPr>
              <p:cNvSpPr/>
              <p:nvPr/>
            </p:nvSpPr>
            <p:spPr>
              <a:xfrm>
                <a:off x="8441076" y="5541448"/>
                <a:ext cx="1172094" cy="11772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dirty="0" err="1">
                    <a:solidFill>
                      <a:srgbClr val="C00000"/>
                    </a:solidFill>
                    <a:latin typeface="맑은 고딕"/>
                    <a:ea typeface="맑은 고딕"/>
                  </a:rPr>
                  <a:t>누적</a:t>
                </a:r>
                <a:r>
                  <a:rPr sz="700" b="1" dirty="0">
                    <a:solidFill>
                      <a:srgbClr val="C00000"/>
                    </a:solidFill>
                    <a:latin typeface="맑은 고딕"/>
                    <a:ea typeface="맑은 고딕"/>
                  </a:rPr>
                  <a:t> </a:t>
                </a:r>
                <a:r>
                  <a:rPr lang="en-US" sz="700" b="1" dirty="0">
                    <a:solidFill>
                      <a:srgbClr val="C00000"/>
                    </a:solidFill>
                    <a:latin typeface="맑은 고딕"/>
                    <a:ea typeface="맑은 고딕"/>
                  </a:rPr>
                  <a:t>4</a:t>
                </a:r>
                <a:r>
                  <a:rPr sz="700" b="1" dirty="0">
                    <a:solidFill>
                      <a:srgbClr val="C00000"/>
                    </a:solidFill>
                    <a:latin typeface="맑은 고딕"/>
                    <a:ea typeface="맑은 고딕"/>
                  </a:rPr>
                  <a:t>회</a:t>
                </a:r>
              </a:p>
            </p:txBody>
          </p:sp>
          <p:sp>
            <p:nvSpPr>
              <p:cNvPr id="332" name="Rectangle 9119">
                <a:extLst>
                  <a:ext uri="{FF2B5EF4-FFF2-40B4-BE49-F238E27FC236}">
                    <a16:creationId xmlns:a16="http://schemas.microsoft.com/office/drawing/2014/main" id="{0BB2ABC1-E8E4-4515-AA68-2C60B03AE2E9}"/>
                  </a:ext>
                </a:extLst>
              </p:cNvPr>
              <p:cNvSpPr/>
              <p:nvPr/>
            </p:nvSpPr>
            <p:spPr>
              <a:xfrm>
                <a:off x="9667435" y="5572841"/>
                <a:ext cx="1172094" cy="215826"/>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000"/>
              </a:p>
            </p:txBody>
          </p:sp>
          <p:sp>
            <p:nvSpPr>
              <p:cNvPr id="333" name="Rectangle 9120">
                <a:extLst>
                  <a:ext uri="{FF2B5EF4-FFF2-40B4-BE49-F238E27FC236}">
                    <a16:creationId xmlns:a16="http://schemas.microsoft.com/office/drawing/2014/main" id="{41104080-B4EA-4C45-91C6-FE6A6E382C90}"/>
                  </a:ext>
                </a:extLst>
              </p:cNvPr>
              <p:cNvSpPr/>
              <p:nvPr/>
            </p:nvSpPr>
            <p:spPr>
              <a:xfrm>
                <a:off x="9667435" y="5455117"/>
                <a:ext cx="1172094" cy="117723"/>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00" b="1" dirty="0" err="1">
                    <a:solidFill>
                      <a:srgbClr val="C00000"/>
                    </a:solidFill>
                    <a:latin typeface="맑은 고딕"/>
                    <a:ea typeface="맑은 고딕"/>
                  </a:rPr>
                  <a:t>누적</a:t>
                </a:r>
                <a:r>
                  <a:rPr sz="700" b="1" dirty="0">
                    <a:solidFill>
                      <a:srgbClr val="C00000"/>
                    </a:solidFill>
                    <a:latin typeface="맑은 고딕"/>
                    <a:ea typeface="맑은 고딕"/>
                  </a:rPr>
                  <a:t> </a:t>
                </a:r>
                <a:r>
                  <a:rPr lang="en-US" sz="700" b="1" dirty="0">
                    <a:solidFill>
                      <a:srgbClr val="C00000"/>
                    </a:solidFill>
                    <a:latin typeface="맑은 고딕"/>
                    <a:ea typeface="맑은 고딕"/>
                  </a:rPr>
                  <a:t>6</a:t>
                </a:r>
                <a:r>
                  <a:rPr sz="700" b="1" dirty="0">
                    <a:solidFill>
                      <a:srgbClr val="C00000"/>
                    </a:solidFill>
                    <a:latin typeface="맑은 고딕"/>
                    <a:ea typeface="맑은 고딕"/>
                  </a:rPr>
                  <a:t>회</a:t>
                </a:r>
              </a:p>
            </p:txBody>
          </p:sp>
          <p:cxnSp>
            <p:nvCxnSpPr>
              <p:cNvPr id="335" name="Connector 9122">
                <a:extLst>
                  <a:ext uri="{FF2B5EF4-FFF2-40B4-BE49-F238E27FC236}">
                    <a16:creationId xmlns:a16="http://schemas.microsoft.com/office/drawing/2014/main" id="{C7EC3CEB-3E7B-4710-A936-B6915E7C48AC}"/>
                  </a:ext>
                </a:extLst>
              </p:cNvPr>
              <p:cNvCxnSpPr/>
              <p:nvPr/>
            </p:nvCxnSpPr>
            <p:spPr>
              <a:xfrm>
                <a:off x="7171306" y="5788667"/>
                <a:ext cx="3885278" cy="0"/>
              </a:xfrm>
              <a:prstGeom prst="line">
                <a:avLst/>
              </a:prstGeom>
              <a:ln w="9525">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Connector 9123">
                <a:extLst>
                  <a:ext uri="{FF2B5EF4-FFF2-40B4-BE49-F238E27FC236}">
                    <a16:creationId xmlns:a16="http://schemas.microsoft.com/office/drawing/2014/main" id="{820126E4-C394-4835-88BC-952246F94EF0}"/>
                  </a:ext>
                </a:extLst>
              </p:cNvPr>
              <p:cNvCxnSpPr/>
              <p:nvPr/>
            </p:nvCxnSpPr>
            <p:spPr>
              <a:xfrm>
                <a:off x="7214717" y="5851453"/>
                <a:ext cx="238760" cy="0"/>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37" name="Rectangle 9124">
                <a:extLst>
                  <a:ext uri="{FF2B5EF4-FFF2-40B4-BE49-F238E27FC236}">
                    <a16:creationId xmlns:a16="http://schemas.microsoft.com/office/drawing/2014/main" id="{713C192A-2744-42E1-9D5E-294F8A61079A}"/>
                  </a:ext>
                </a:extLst>
              </p:cNvPr>
              <p:cNvSpPr/>
              <p:nvPr/>
            </p:nvSpPr>
            <p:spPr>
              <a:xfrm>
                <a:off x="7486036" y="5788667"/>
                <a:ext cx="813955" cy="1255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700" b="0">
                    <a:solidFill>
                      <a:srgbClr val="404040"/>
                    </a:solidFill>
                    <a:latin typeface="맑은 고딕"/>
                    <a:ea typeface="맑은 고딕"/>
                  </a:rPr>
                  <a:t>P→D 전송</a:t>
                </a:r>
              </a:p>
            </p:txBody>
          </p:sp>
          <p:cxnSp>
            <p:nvCxnSpPr>
              <p:cNvPr id="338" name="Connector 9125">
                <a:extLst>
                  <a:ext uri="{FF2B5EF4-FFF2-40B4-BE49-F238E27FC236}">
                    <a16:creationId xmlns:a16="http://schemas.microsoft.com/office/drawing/2014/main" id="{9F3D8571-2E88-4928-92CA-D209332B0793}"/>
                  </a:ext>
                </a:extLst>
              </p:cNvPr>
              <p:cNvCxnSpPr/>
              <p:nvPr/>
            </p:nvCxnSpPr>
            <p:spPr>
              <a:xfrm>
                <a:off x="8299991" y="5851453"/>
                <a:ext cx="238760" cy="0"/>
              </a:xfrm>
              <a:prstGeom prst="line">
                <a:avLst/>
              </a:prstGeom>
              <a:ln w="19050">
                <a:solidFill>
                  <a:schemeClr val="accent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39" name="Rectangle 9126">
                <a:extLst>
                  <a:ext uri="{FF2B5EF4-FFF2-40B4-BE49-F238E27FC236}">
                    <a16:creationId xmlns:a16="http://schemas.microsoft.com/office/drawing/2014/main" id="{16DC6C4D-CAB2-4F54-8DA7-318FA9EF01CE}"/>
                  </a:ext>
                </a:extLst>
              </p:cNvPr>
              <p:cNvSpPr/>
              <p:nvPr/>
            </p:nvSpPr>
            <p:spPr>
              <a:xfrm>
                <a:off x="8571309" y="5788667"/>
                <a:ext cx="1736438" cy="1255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700" b="0" dirty="0">
                    <a:solidFill>
                      <a:srgbClr val="404040"/>
                    </a:solidFill>
                    <a:latin typeface="맑은 고딕"/>
                    <a:ea typeface="맑은 고딕"/>
                  </a:rPr>
                  <a:t>D→P </a:t>
                </a:r>
                <a:r>
                  <a:rPr sz="700" b="0" dirty="0" err="1">
                    <a:solidFill>
                      <a:srgbClr val="404040"/>
                    </a:solidFill>
                    <a:latin typeface="맑은 고딕"/>
                    <a:ea typeface="맑은 고딕"/>
                  </a:rPr>
                  <a:t>전송</a:t>
                </a:r>
                <a:r>
                  <a:rPr sz="700" b="0" dirty="0">
                    <a:solidFill>
                      <a:srgbClr val="404040"/>
                    </a:solidFill>
                    <a:latin typeface="맑은 고딕"/>
                    <a:ea typeface="맑은 고딕"/>
                  </a:rPr>
                  <a:t> (</a:t>
                </a:r>
                <a:r>
                  <a:rPr sz="700" b="0" dirty="0" err="1">
                    <a:solidFill>
                      <a:srgbClr val="404040"/>
                    </a:solidFill>
                    <a:latin typeface="맑은 고딕"/>
                    <a:ea typeface="맑은 고딕"/>
                  </a:rPr>
                  <a:t>다음</a:t>
                </a:r>
                <a:r>
                  <a:rPr sz="700" b="0" dirty="0">
                    <a:solidFill>
                      <a:srgbClr val="404040"/>
                    </a:solidFill>
                    <a:latin typeface="맑은 고딕"/>
                    <a:ea typeface="맑은 고딕"/>
                  </a:rPr>
                  <a:t> </a:t>
                </a:r>
                <a:r>
                  <a:rPr sz="700" b="0" dirty="0" err="1">
                    <a:solidFill>
                      <a:srgbClr val="404040"/>
                    </a:solidFill>
                    <a:latin typeface="맑은 고딕"/>
                    <a:ea typeface="맑은 고딕"/>
                  </a:rPr>
                  <a:t>Turn용</a:t>
                </a:r>
                <a:r>
                  <a:rPr sz="700" b="0" dirty="0">
                    <a:solidFill>
                      <a:srgbClr val="404040"/>
                    </a:solidFill>
                    <a:latin typeface="맑은 고딕"/>
                    <a:ea typeface="맑은 고딕"/>
                  </a:rPr>
                  <a:t>)</a:t>
                </a:r>
              </a:p>
            </p:txBody>
          </p:sp>
        </p:grpSp>
      </p:grpSp>
      <p:sp>
        <p:nvSpPr>
          <p:cNvPr id="4" name="직사각형 3"/>
          <p:cNvSpPr/>
          <p:nvPr/>
        </p:nvSpPr>
        <p:spPr>
          <a:xfrm>
            <a:off x="6575824" y="39276"/>
            <a:ext cx="1335273" cy="46134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Extra DP</a:t>
            </a:r>
            <a:endParaRPr lang="ko-KR" altLang="en-US" dirty="0"/>
          </a:p>
        </p:txBody>
      </p:sp>
    </p:spTree>
    <p:extLst>
      <p:ext uri="{BB962C8B-B14F-4D97-AF65-F5344CB8AC3E}">
        <p14:creationId xmlns:p14="http://schemas.microsoft.com/office/powerpoint/2010/main" val="7940245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DP5. </a:t>
            </a:r>
            <a:r>
              <a:rPr lang="ko-KR" altLang="en-US" dirty="0"/>
              <a:t>다중 서버 간 </a:t>
            </a:r>
            <a:r>
              <a:rPr lang="en-US" altLang="ko-KR" dirty="0" err="1"/>
              <a:t>요청</a:t>
            </a:r>
            <a:r>
              <a:rPr lang="en-US" altLang="ko-KR" dirty="0"/>
              <a:t> </a:t>
            </a:r>
            <a:r>
              <a:rPr lang="en-US" altLang="ko-KR" dirty="0" err="1"/>
              <a:t>조율</a:t>
            </a:r>
            <a:r>
              <a:rPr lang="en-US" altLang="ko-KR" dirty="0"/>
              <a:t> (Orchestration) </a:t>
            </a:r>
            <a:r>
              <a:rPr lang="ko-KR" altLang="en-US" dirty="0"/>
              <a:t>구조</a:t>
            </a:r>
            <a:r>
              <a:rPr lang="en-US" altLang="ko-KR" dirty="0"/>
              <a:t> - </a:t>
            </a:r>
            <a:r>
              <a:rPr lang="en-US" altLang="ko-KR" dirty="0" err="1"/>
              <a:t>배경</a:t>
            </a:r>
            <a:endParaRPr lang="en-US" altLang="ko-KR"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361894"/>
          </a:xfrm>
          <a:prstGeom prst="rect">
            <a:avLst/>
          </a:prstGeom>
          <a:noFill/>
        </p:spPr>
        <p:txBody>
          <a:bodyPr wrap="square" lIns="0" tIns="0" rIns="0" bIns="0" anchor="t">
            <a:spAutoFit/>
          </a:bodyPr>
          <a:lstStyle/>
          <a:p>
            <a:pPr algn="l">
              <a:lnSpc>
                <a:spcPct val="112000"/>
              </a:lnSpc>
            </a:pPr>
            <a:r>
              <a:rPr sz="1050" b="1" i="0" dirty="0">
                <a:solidFill>
                  <a:srgbClr val="2E75B6"/>
                </a:solidFill>
                <a:latin typeface="맑은 고딕"/>
                <a:ea typeface="맑은 고딕"/>
              </a:rPr>
              <a:t>✓ </a:t>
            </a:r>
            <a:r>
              <a:rPr sz="1050" b="0" i="0" dirty="0" err="1">
                <a:solidFill>
                  <a:srgbClr val="404040"/>
                </a:solidFill>
                <a:latin typeface="맑은 고딕"/>
                <a:ea typeface="맑은 고딕"/>
              </a:rPr>
              <a:t>서버</a:t>
            </a:r>
            <a:r>
              <a:rPr sz="1050" b="0" i="0" dirty="0">
                <a:solidFill>
                  <a:srgbClr val="404040"/>
                </a:solidFill>
                <a:latin typeface="맑은 고딕"/>
                <a:ea typeface="맑은 고딕"/>
              </a:rPr>
              <a:t> 1대 </a:t>
            </a:r>
            <a:r>
              <a:rPr sz="1050" b="0" i="0" dirty="0" err="1">
                <a:solidFill>
                  <a:srgbClr val="404040"/>
                </a:solidFill>
                <a:latin typeface="맑은 고딕"/>
                <a:ea typeface="맑은 고딕"/>
              </a:rPr>
              <a:t>안에</a:t>
            </a:r>
            <a:r>
              <a:rPr sz="1050" b="0" i="0" dirty="0">
                <a:solidFill>
                  <a:srgbClr val="404040"/>
                </a:solidFill>
                <a:latin typeface="맑은 고딕"/>
                <a:ea typeface="맑은 고딕"/>
              </a:rPr>
              <a:t> </a:t>
            </a:r>
            <a:r>
              <a:rPr sz="1050" b="1" i="0" dirty="0" err="1">
                <a:solidFill>
                  <a:srgbClr val="2E75B6"/>
                </a:solidFill>
                <a:latin typeface="맑은 고딕"/>
                <a:ea typeface="맑은 고딕"/>
              </a:rPr>
              <a:t>속도·용량·기능이</a:t>
            </a:r>
            <a:r>
              <a:rPr sz="1050" b="1" i="0" dirty="0">
                <a:solidFill>
                  <a:srgbClr val="2E75B6"/>
                </a:solidFill>
                <a:latin typeface="맑은 고딕"/>
                <a:ea typeface="맑은 고딕"/>
              </a:rPr>
              <a:t> </a:t>
            </a:r>
            <a:r>
              <a:rPr sz="1050" b="1" i="0" dirty="0" err="1">
                <a:solidFill>
                  <a:srgbClr val="2E75B6"/>
                </a:solidFill>
                <a:latin typeface="맑은 고딕"/>
                <a:ea typeface="맑은 고딕"/>
              </a:rPr>
              <a:t>다른</a:t>
            </a:r>
            <a:r>
              <a:rPr sz="1050" b="1" i="0" dirty="0">
                <a:solidFill>
                  <a:srgbClr val="2E75B6"/>
                </a:solidFill>
                <a:latin typeface="맑은 고딕"/>
                <a:ea typeface="맑은 고딕"/>
              </a:rPr>
              <a:t> </a:t>
            </a:r>
            <a:r>
              <a:rPr sz="1050" b="1" i="0" dirty="0" err="1">
                <a:solidFill>
                  <a:srgbClr val="2E75B6"/>
                </a:solidFill>
                <a:latin typeface="맑은 고딕"/>
                <a:ea typeface="맑은 고딕"/>
              </a:rPr>
              <a:t>메모리가</a:t>
            </a:r>
            <a:r>
              <a:rPr sz="1050" b="1" i="0" dirty="0">
                <a:solidFill>
                  <a:srgbClr val="2E75B6"/>
                </a:solidFill>
                <a:latin typeface="맑은 고딕"/>
                <a:ea typeface="맑은 고딕"/>
              </a:rPr>
              <a:t> </a:t>
            </a:r>
            <a:r>
              <a:rPr sz="1050" b="1" i="0" dirty="0" err="1">
                <a:solidFill>
                  <a:srgbClr val="2E75B6"/>
                </a:solidFill>
                <a:latin typeface="맑은 고딕"/>
                <a:ea typeface="맑은 고딕"/>
              </a:rPr>
              <a:t>혼재</a:t>
            </a:r>
            <a:endParaRPr sz="1050" b="1" i="0" dirty="0">
              <a:solidFill>
                <a:srgbClr val="2E75B6"/>
              </a:solidFill>
              <a:latin typeface="맑은 고딕"/>
              <a:ea typeface="맑은 고딕"/>
            </a:endParaRPr>
          </a:p>
          <a:p>
            <a:pPr algn="l">
              <a:lnSpc>
                <a:spcPct val="112000"/>
              </a:lnSpc>
            </a:pPr>
            <a:r>
              <a:rPr sz="1050" b="1" i="0" dirty="0">
                <a:solidFill>
                  <a:srgbClr val="2E75B6"/>
                </a:solidFill>
                <a:latin typeface="맑은 고딕"/>
                <a:ea typeface="맑은 고딕"/>
              </a:rPr>
              <a:t>✓ </a:t>
            </a:r>
            <a:r>
              <a:rPr sz="1050" b="0" i="0" dirty="0">
                <a:solidFill>
                  <a:srgbClr val="404040"/>
                </a:solidFill>
                <a:latin typeface="맑은 고딕"/>
                <a:ea typeface="맑은 고딕"/>
              </a:rPr>
              <a:t>KV </a:t>
            </a:r>
            <a:r>
              <a:rPr sz="1050" b="0" i="0" dirty="0" err="1">
                <a:solidFill>
                  <a:srgbClr val="404040"/>
                </a:solidFill>
                <a:latin typeface="맑은 고딕"/>
                <a:ea typeface="맑은 고딕"/>
              </a:rPr>
              <a:t>캐시</a:t>
            </a:r>
            <a:r>
              <a:rPr sz="1050" b="0" i="0" dirty="0">
                <a:solidFill>
                  <a:srgbClr val="404040"/>
                </a:solidFill>
                <a:latin typeface="맑은 고딕"/>
                <a:ea typeface="맑은 고딕"/>
              </a:rPr>
              <a:t> 등 AI </a:t>
            </a:r>
            <a:r>
              <a:rPr sz="1050" b="0" i="0" dirty="0" err="1">
                <a:solidFill>
                  <a:srgbClr val="404040"/>
                </a:solidFill>
                <a:latin typeface="맑은 고딕"/>
                <a:ea typeface="맑은 고딕"/>
              </a:rPr>
              <a:t>데이터를</a:t>
            </a:r>
            <a:r>
              <a:rPr sz="1050" b="0" i="0" dirty="0">
                <a:solidFill>
                  <a:srgbClr val="404040"/>
                </a:solidFill>
                <a:latin typeface="맑은 고딕"/>
                <a:ea typeface="맑은 고딕"/>
              </a:rPr>
              <a:t> </a:t>
            </a:r>
            <a:r>
              <a:rPr sz="1050" b="1" i="0" dirty="0" err="1">
                <a:solidFill>
                  <a:srgbClr val="2E75B6"/>
                </a:solidFill>
                <a:latin typeface="맑은 고딕"/>
                <a:ea typeface="맑은 고딕"/>
              </a:rPr>
              <a:t>어느</a:t>
            </a:r>
            <a:r>
              <a:rPr sz="1050" b="1" i="0" dirty="0">
                <a:solidFill>
                  <a:srgbClr val="2E75B6"/>
                </a:solidFill>
                <a:latin typeface="맑은 고딕"/>
                <a:ea typeface="맑은 고딕"/>
              </a:rPr>
              <a:t> </a:t>
            </a:r>
            <a:r>
              <a:rPr sz="1050" b="1" i="0" dirty="0" err="1">
                <a:solidFill>
                  <a:srgbClr val="2E75B6"/>
                </a:solidFill>
                <a:latin typeface="맑은 고딕"/>
                <a:ea typeface="맑은 고딕"/>
              </a:rPr>
              <a:t>메모리에</a:t>
            </a:r>
            <a:r>
              <a:rPr sz="1050" b="1" i="0" dirty="0">
                <a:solidFill>
                  <a:srgbClr val="2E75B6"/>
                </a:solidFill>
                <a:latin typeface="맑은 고딕"/>
                <a:ea typeface="맑은 고딕"/>
              </a:rPr>
              <a:t> </a:t>
            </a:r>
            <a:r>
              <a:rPr sz="1050" b="1" i="0" dirty="0" err="1">
                <a:solidFill>
                  <a:srgbClr val="2E75B6"/>
                </a:solidFill>
                <a:latin typeface="맑은 고딕"/>
                <a:ea typeface="맑은 고딕"/>
              </a:rPr>
              <a:t>두느냐</a:t>
            </a:r>
            <a:r>
              <a:rPr sz="1050" b="0" i="0" dirty="0" err="1">
                <a:solidFill>
                  <a:srgbClr val="404040"/>
                </a:solidFill>
                <a:latin typeface="맑은 고딕"/>
                <a:ea typeface="맑은 고딕"/>
              </a:rPr>
              <a:t>가</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성능을</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좌우</a:t>
            </a:r>
            <a:endParaRPr sz="1050" b="0" i="0" dirty="0">
              <a:solidFill>
                <a:srgbClr val="404040"/>
              </a:solidFill>
              <a:latin typeface="맑은 고딕"/>
              <a:ea typeface="맑은 고딕"/>
            </a:endParaRP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582575" y="1938528"/>
            <a:ext cx="783523"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dirty="0" err="1">
                <a:solidFill>
                  <a:srgbClr val="C55A11"/>
                </a:solidFill>
                <a:latin typeface="맑은 고딕"/>
                <a:ea typeface="맑은 고딕"/>
              </a:rPr>
              <a:t>신규</a:t>
            </a:r>
            <a:r>
              <a:rPr sz="700" b="1" i="0" dirty="0">
                <a:solidFill>
                  <a:srgbClr val="C55A11"/>
                </a:solidFill>
                <a:latin typeface="맑은 고딕"/>
                <a:ea typeface="맑은 고딕"/>
              </a:rPr>
              <a:t> </a:t>
            </a:r>
            <a:r>
              <a:rPr sz="700" b="1" i="0" dirty="0" err="1">
                <a:solidFill>
                  <a:srgbClr val="C55A11"/>
                </a:solidFill>
                <a:latin typeface="맑은 고딕"/>
                <a:ea typeface="맑은 고딕"/>
              </a:rPr>
              <a:t>메모리</a:t>
            </a:r>
            <a:endParaRPr sz="700" b="1" i="0" dirty="0">
              <a:solidFill>
                <a:srgbClr val="C55A11"/>
              </a:solidFill>
              <a:latin typeface="맑은 고딕"/>
              <a:ea typeface="맑은 고딕"/>
            </a:endParaRP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lang="ko-KR" altLang="en-US" sz="750" b="1" i="0" dirty="0">
                <a:solidFill>
                  <a:srgbClr val="000000"/>
                </a:solidFill>
                <a:latin typeface="맑은 고딕"/>
                <a:ea typeface="맑은 고딕"/>
              </a:rPr>
              <a:t>추론 </a:t>
            </a:r>
            <a:r>
              <a:rPr sz="750" b="1" i="0" dirty="0" err="1">
                <a:solidFill>
                  <a:srgbClr val="000000"/>
                </a:solidFill>
                <a:latin typeface="맑은 고딕"/>
                <a:ea typeface="맑은 고딕"/>
              </a:rPr>
              <a:t>엔진</a:t>
            </a:r>
            <a:endParaRPr sz="750" b="1" i="0" dirty="0">
              <a:solidFill>
                <a:srgbClr val="000000"/>
              </a:solidFill>
              <a:latin typeface="맑은 고딕"/>
              <a:ea typeface="맑은 고딕"/>
            </a:endParaRP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321101"/>
            <a:ext cx="4937760" cy="155448"/>
          </a:xfrm>
          <a:prstGeom prst="rect">
            <a:avLst/>
          </a:prstGeom>
          <a:noFill/>
        </p:spPr>
        <p:txBody>
          <a:bodyPr wrap="square" lIns="0" tIns="0" rIns="0" bIns="0" anchor="t">
            <a:spAutoFit/>
          </a:bodyPr>
          <a:lstStyle/>
          <a:p>
            <a:pPr algn="l"/>
            <a:r>
              <a:rPr sz="700" b="0" i="0" dirty="0">
                <a:solidFill>
                  <a:srgbClr val="404040"/>
                </a:solidFill>
                <a:latin typeface="맑은 고딕"/>
                <a:ea typeface="맑은 고딕"/>
              </a:rPr>
              <a:t>④⑤ KV </a:t>
            </a:r>
            <a:r>
              <a:rPr sz="700" b="0" i="0" dirty="0" err="1">
                <a:solidFill>
                  <a:srgbClr val="404040"/>
                </a:solidFill>
                <a:latin typeface="맑은 고딕"/>
                <a:ea typeface="맑은 고딕"/>
              </a:rPr>
              <a:t>캐시가</a:t>
            </a:r>
            <a:r>
              <a:rPr sz="700" b="0" i="0" dirty="0">
                <a:solidFill>
                  <a:srgbClr val="404040"/>
                </a:solidFill>
                <a:latin typeface="맑은 고딕"/>
                <a:ea typeface="맑은 고딕"/>
              </a:rPr>
              <a:t> </a:t>
            </a:r>
            <a:r>
              <a:rPr sz="700" b="0" i="0" dirty="0" err="1">
                <a:solidFill>
                  <a:srgbClr val="404040"/>
                </a:solidFill>
                <a:latin typeface="맑은 고딕"/>
                <a:ea typeface="맑은 고딕"/>
              </a:rPr>
              <a:t>메모리</a:t>
            </a:r>
            <a:r>
              <a:rPr sz="700" b="0" i="0" dirty="0">
                <a:solidFill>
                  <a:srgbClr val="404040"/>
                </a:solidFill>
                <a:latin typeface="맑은 고딕"/>
                <a:ea typeface="맑은 고딕"/>
              </a:rPr>
              <a:t> </a:t>
            </a:r>
            <a:r>
              <a:rPr sz="700" b="0" i="0" dirty="0" err="1">
                <a:solidFill>
                  <a:srgbClr val="404040"/>
                </a:solidFill>
                <a:latin typeface="맑은 고딕"/>
                <a:ea typeface="맑은 고딕"/>
              </a:rPr>
              <a:t>계층</a:t>
            </a:r>
            <a:r>
              <a:rPr sz="700" b="0" i="0" dirty="0">
                <a:solidFill>
                  <a:srgbClr val="404040"/>
                </a:solidFill>
                <a:latin typeface="맑은 고딕"/>
                <a:ea typeface="맑은 고딕"/>
              </a:rPr>
              <a:t> </a:t>
            </a:r>
            <a:r>
              <a:rPr sz="700" b="0" i="0" dirty="0" err="1">
                <a:solidFill>
                  <a:srgbClr val="404040"/>
                </a:solidFill>
                <a:latin typeface="맑은 고딕"/>
                <a:ea typeface="맑은 고딕"/>
              </a:rPr>
              <a:t>사이를</a:t>
            </a:r>
            <a:r>
              <a:rPr sz="700" b="0" i="0" dirty="0">
                <a:solidFill>
                  <a:srgbClr val="404040"/>
                </a:solidFill>
                <a:latin typeface="맑은 고딕"/>
                <a:ea typeface="맑은 고딕"/>
              </a:rPr>
              <a:t> </a:t>
            </a:r>
            <a:r>
              <a:rPr sz="700" b="0" i="0" dirty="0" err="1">
                <a:solidFill>
                  <a:srgbClr val="404040"/>
                </a:solidFill>
                <a:latin typeface="맑은 고딕"/>
                <a:ea typeface="맑은 고딕"/>
              </a:rPr>
              <a:t>이동</a:t>
            </a:r>
            <a:r>
              <a:rPr sz="700" b="0" i="0" dirty="0">
                <a:solidFill>
                  <a:srgbClr val="404040"/>
                </a:solidFill>
                <a:latin typeface="맑은 고딕"/>
                <a:ea typeface="맑은 고딕"/>
              </a:rPr>
              <a:t> (</a:t>
            </a:r>
            <a:r>
              <a:rPr sz="700" b="0" i="0" dirty="0" err="1">
                <a:solidFill>
                  <a:srgbClr val="404040"/>
                </a:solidFill>
                <a:latin typeface="맑은 고딕"/>
                <a:ea typeface="맑은 고딕"/>
              </a:rPr>
              <a:t>자주</a:t>
            </a:r>
            <a:r>
              <a:rPr sz="700" b="0" i="0" dirty="0">
                <a:solidFill>
                  <a:srgbClr val="404040"/>
                </a:solidFill>
                <a:latin typeface="맑은 고딕"/>
                <a:ea typeface="맑은 고딕"/>
              </a:rPr>
              <a:t> </a:t>
            </a:r>
            <a:r>
              <a:rPr sz="700" b="0" i="0" dirty="0" err="1">
                <a:solidFill>
                  <a:srgbClr val="404040"/>
                </a:solidFill>
                <a:latin typeface="맑은 고딕"/>
                <a:ea typeface="맑은 고딕"/>
              </a:rPr>
              <a:t>쓰는</a:t>
            </a:r>
            <a:r>
              <a:rPr sz="700" b="0" i="0" dirty="0">
                <a:solidFill>
                  <a:srgbClr val="404040"/>
                </a:solidFill>
                <a:latin typeface="맑은 고딕"/>
                <a:ea typeface="맑은 고딕"/>
              </a:rPr>
              <a:t> </a:t>
            </a:r>
            <a:r>
              <a:rPr sz="700" b="0" i="0" dirty="0" err="1">
                <a:solidFill>
                  <a:srgbClr val="404040"/>
                </a:solidFill>
                <a:latin typeface="맑은 고딕"/>
                <a:ea typeface="맑은 고딕"/>
              </a:rPr>
              <a:t>것은</a:t>
            </a:r>
            <a:r>
              <a:rPr sz="700" b="0" i="0" dirty="0">
                <a:solidFill>
                  <a:srgbClr val="404040"/>
                </a:solidFill>
                <a:latin typeface="맑은 고딕"/>
                <a:ea typeface="맑은 고딕"/>
              </a:rPr>
              <a:t> </a:t>
            </a:r>
            <a:r>
              <a:rPr sz="700" b="0" i="0" dirty="0" err="1">
                <a:solidFill>
                  <a:srgbClr val="404040"/>
                </a:solidFill>
                <a:latin typeface="맑은 고딕"/>
                <a:ea typeface="맑은 고딕"/>
              </a:rPr>
              <a:t>위로</a:t>
            </a:r>
            <a:r>
              <a:rPr sz="700" b="0" i="0" dirty="0">
                <a:solidFill>
                  <a:srgbClr val="404040"/>
                </a:solidFill>
                <a:latin typeface="맑은 고딕"/>
                <a:ea typeface="맑은 고딕"/>
              </a:rPr>
              <a:t>, </a:t>
            </a:r>
            <a:r>
              <a:rPr sz="700" b="0" i="0" dirty="0" err="1">
                <a:solidFill>
                  <a:srgbClr val="404040"/>
                </a:solidFill>
                <a:latin typeface="맑은 고딕"/>
                <a:ea typeface="맑은 고딕"/>
              </a:rPr>
              <a:t>오래된</a:t>
            </a:r>
            <a:r>
              <a:rPr sz="700" b="0" i="0" dirty="0">
                <a:solidFill>
                  <a:srgbClr val="404040"/>
                </a:solidFill>
                <a:latin typeface="맑은 고딕"/>
                <a:ea typeface="맑은 고딕"/>
              </a:rPr>
              <a:t> </a:t>
            </a:r>
            <a:r>
              <a:rPr sz="700" b="0" i="0" dirty="0" err="1">
                <a:solidFill>
                  <a:srgbClr val="404040"/>
                </a:solidFill>
                <a:latin typeface="맑은 고딕"/>
                <a:ea typeface="맑은 고딕"/>
              </a:rPr>
              <a:t>것은</a:t>
            </a:r>
            <a:r>
              <a:rPr sz="700" b="0" i="0" dirty="0">
                <a:solidFill>
                  <a:srgbClr val="404040"/>
                </a:solidFill>
                <a:latin typeface="맑은 고딕"/>
                <a:ea typeface="맑은 고딕"/>
              </a:rPr>
              <a:t> </a:t>
            </a:r>
            <a:r>
              <a:rPr sz="700" b="0" i="0" dirty="0" err="1">
                <a:solidFill>
                  <a:srgbClr val="404040"/>
                </a:solidFill>
                <a:latin typeface="맑은 고딕"/>
                <a:ea typeface="맑은 고딕"/>
              </a:rPr>
              <a:t>아래로</a:t>
            </a:r>
            <a:r>
              <a:rPr sz="700" b="0" i="0" dirty="0">
                <a:solidFill>
                  <a:srgbClr val="404040"/>
                </a:solidFill>
                <a:latin typeface="맑은 고딕"/>
                <a:ea typeface="맑은 고딕"/>
              </a:rPr>
              <a:t>)</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dirty="0">
                <a:solidFill>
                  <a:srgbClr val="C55A11"/>
                </a:solidFill>
                <a:latin typeface="맑은 고딕"/>
                <a:ea typeface="맑은 고딕"/>
              </a:rPr>
              <a:t>✓ </a:t>
            </a:r>
            <a:r>
              <a:rPr sz="1050" b="0" i="0" dirty="0" err="1">
                <a:solidFill>
                  <a:srgbClr val="404040"/>
                </a:solidFill>
                <a:latin typeface="맑은 고딕"/>
                <a:ea typeface="맑은 고딕"/>
              </a:rPr>
              <a:t>서버·GPU가</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여러</a:t>
            </a:r>
            <a:r>
              <a:rPr sz="1050" b="0" i="0" dirty="0">
                <a:solidFill>
                  <a:srgbClr val="404040"/>
                </a:solidFill>
                <a:latin typeface="맑은 고딕"/>
                <a:ea typeface="맑은 고딕"/>
              </a:rPr>
              <a:t> 대 → </a:t>
            </a:r>
            <a:r>
              <a:rPr sz="1050" b="1" i="0" dirty="0" err="1">
                <a:solidFill>
                  <a:srgbClr val="C55A11"/>
                </a:solidFill>
                <a:latin typeface="맑은 고딕"/>
                <a:ea typeface="맑은 고딕"/>
              </a:rPr>
              <a:t>서버마다</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메모리</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사용</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상태·KV</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캐시</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보유</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상태가</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다름</a:t>
            </a:r>
            <a:endParaRPr sz="1050" b="1" i="0" dirty="0">
              <a:solidFill>
                <a:srgbClr val="C55A11"/>
              </a:solidFill>
              <a:latin typeface="맑은 고딕"/>
              <a:ea typeface="맑은 고딕"/>
            </a:endParaRPr>
          </a:p>
          <a:p>
            <a:pPr algn="l">
              <a:lnSpc>
                <a:spcPct val="112000"/>
              </a:lnSpc>
            </a:pPr>
            <a:r>
              <a:rPr sz="1050" b="1" i="0" dirty="0">
                <a:solidFill>
                  <a:srgbClr val="C55A11"/>
                </a:solidFill>
                <a:latin typeface="맑은 고딕"/>
                <a:ea typeface="맑은 고딕"/>
              </a:rPr>
              <a:t>✓ </a:t>
            </a:r>
            <a:r>
              <a:rPr sz="1050" b="0" i="0" dirty="0" err="1">
                <a:solidFill>
                  <a:srgbClr val="404040"/>
                </a:solidFill>
                <a:latin typeface="맑은 고딕"/>
                <a:ea typeface="맑은 고딕"/>
              </a:rPr>
              <a:t>같은</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요청도</a:t>
            </a:r>
            <a:r>
              <a:rPr sz="1050" b="0" i="0" dirty="0">
                <a:solidFill>
                  <a:srgbClr val="404040"/>
                </a:solidFill>
                <a:latin typeface="맑은 고딕"/>
                <a:ea typeface="맑은 고딕"/>
              </a:rPr>
              <a:t> </a:t>
            </a:r>
            <a:r>
              <a:rPr sz="1050" b="1" i="0" dirty="0" err="1">
                <a:solidFill>
                  <a:srgbClr val="C55A11"/>
                </a:solidFill>
                <a:latin typeface="맑은 고딕"/>
                <a:ea typeface="맑은 고딕"/>
              </a:rPr>
              <a:t>어느</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서버로</a:t>
            </a:r>
            <a:r>
              <a:rPr sz="1050" b="1" i="0" dirty="0">
                <a:solidFill>
                  <a:srgbClr val="C55A11"/>
                </a:solidFill>
                <a:latin typeface="맑은 고딕"/>
                <a:ea typeface="맑은 고딕"/>
              </a:rPr>
              <a:t> </a:t>
            </a:r>
            <a:r>
              <a:rPr sz="1050" b="1" i="0" dirty="0" err="1">
                <a:solidFill>
                  <a:srgbClr val="C55A11"/>
                </a:solidFill>
                <a:latin typeface="맑은 고딕"/>
                <a:ea typeface="맑은 고딕"/>
              </a:rPr>
              <a:t>보내느냐</a:t>
            </a:r>
            <a:r>
              <a:rPr sz="1050" b="0" i="0" dirty="0" err="1">
                <a:solidFill>
                  <a:srgbClr val="404040"/>
                </a:solidFill>
                <a:latin typeface="맑은 고딕"/>
                <a:ea typeface="맑은 고딕"/>
              </a:rPr>
              <a:t>에</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따라</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성능이</a:t>
            </a:r>
            <a:r>
              <a:rPr sz="1050" b="0" i="0" dirty="0">
                <a:solidFill>
                  <a:srgbClr val="404040"/>
                </a:solidFill>
                <a:latin typeface="맑은 고딕"/>
                <a:ea typeface="맑은 고딕"/>
              </a:rPr>
              <a:t> </a:t>
            </a:r>
            <a:r>
              <a:rPr sz="1050" b="0" i="0" dirty="0" err="1">
                <a:solidFill>
                  <a:srgbClr val="404040"/>
                </a:solidFill>
                <a:latin typeface="맑은 고딕"/>
                <a:ea typeface="맑은 고딕"/>
              </a:rPr>
              <a:t>달라짐</a:t>
            </a:r>
            <a:endParaRPr sz="1050" b="0" i="0" dirty="0">
              <a:solidFill>
                <a:srgbClr val="404040"/>
              </a:solidFill>
              <a:latin typeface="맑은 고딕"/>
              <a:ea typeface="맑은 고딕"/>
            </a:endParaRP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dirty="0" err="1">
                <a:solidFill>
                  <a:srgbClr val="C55A11"/>
                </a:solidFill>
                <a:latin typeface="맑은 고딕"/>
                <a:ea typeface="맑은 고딕"/>
              </a:rPr>
              <a:t>서버</a:t>
            </a:r>
            <a:r>
              <a:rPr sz="950" b="1" i="0" dirty="0">
                <a:solidFill>
                  <a:srgbClr val="C55A11"/>
                </a:solidFill>
                <a:latin typeface="맑은 고딕"/>
                <a:ea typeface="맑은 고딕"/>
              </a:rPr>
              <a:t> </a:t>
            </a:r>
            <a:r>
              <a:rPr sz="950" b="1" i="0" dirty="0" err="1">
                <a:solidFill>
                  <a:srgbClr val="C55A11"/>
                </a:solidFill>
                <a:latin typeface="맑은 고딕"/>
                <a:ea typeface="맑은 고딕"/>
              </a:rPr>
              <a:t>간에</a:t>
            </a:r>
            <a:r>
              <a:rPr sz="950" b="1" i="0" dirty="0">
                <a:solidFill>
                  <a:srgbClr val="C55A11"/>
                </a:solidFill>
                <a:latin typeface="맑은 고딕"/>
                <a:ea typeface="맑은 고딕"/>
              </a:rPr>
              <a:t> </a:t>
            </a:r>
            <a:r>
              <a:rPr sz="950" b="1" i="0" dirty="0" err="1">
                <a:solidFill>
                  <a:srgbClr val="C55A11"/>
                </a:solidFill>
                <a:latin typeface="맑은 고딕"/>
                <a:ea typeface="맑은 고딕"/>
              </a:rPr>
              <a:t>새로</a:t>
            </a:r>
            <a:r>
              <a:rPr sz="950" b="1" i="0" dirty="0">
                <a:solidFill>
                  <a:srgbClr val="C55A11"/>
                </a:solidFill>
                <a:latin typeface="맑은 고딕"/>
                <a:ea typeface="맑은 고딕"/>
              </a:rPr>
              <a:t> </a:t>
            </a:r>
            <a:r>
              <a:rPr sz="950" b="1" i="0" dirty="0" err="1">
                <a:solidFill>
                  <a:srgbClr val="C55A11"/>
                </a:solidFill>
                <a:latin typeface="맑은 고딕"/>
                <a:ea typeface="맑은 고딕"/>
              </a:rPr>
              <a:t>필요한</a:t>
            </a:r>
            <a:r>
              <a:rPr sz="950" b="1" i="0" dirty="0">
                <a:solidFill>
                  <a:srgbClr val="C55A11"/>
                </a:solidFill>
                <a:latin typeface="맑은 고딕"/>
                <a:ea typeface="맑은 고딕"/>
              </a:rPr>
              <a:t> </a:t>
            </a:r>
            <a:r>
              <a:rPr sz="950" b="1" i="0" dirty="0" err="1">
                <a:solidFill>
                  <a:srgbClr val="C55A11"/>
                </a:solidFill>
                <a:latin typeface="맑은 고딕"/>
                <a:ea typeface="맑은 고딕"/>
              </a:rPr>
              <a:t>결정</a:t>
            </a:r>
            <a:r>
              <a:rPr sz="950" b="1" i="0" dirty="0">
                <a:solidFill>
                  <a:srgbClr val="C55A11"/>
                </a:solidFill>
                <a:latin typeface="맑은 고딕"/>
                <a:ea typeface="맑은 고딕"/>
              </a:rPr>
              <a:t> (</a:t>
            </a:r>
            <a:r>
              <a:rPr sz="950" b="1" i="0" dirty="0" err="1">
                <a:solidFill>
                  <a:srgbClr val="C55A11"/>
                </a:solidFill>
                <a:latin typeface="맑은 고딕"/>
                <a:ea typeface="맑은 고딕"/>
              </a:rPr>
              <a:t>서버</a:t>
            </a:r>
            <a:r>
              <a:rPr sz="950" b="1" i="0" dirty="0">
                <a:solidFill>
                  <a:srgbClr val="C55A11"/>
                </a:solidFill>
                <a:latin typeface="맑은 고딕"/>
                <a:ea typeface="맑은 고딕"/>
              </a:rPr>
              <a:t> 간 </a:t>
            </a:r>
            <a:r>
              <a:rPr sz="950" b="1" i="0" dirty="0" err="1">
                <a:solidFill>
                  <a:srgbClr val="C55A11"/>
                </a:solidFill>
                <a:latin typeface="맑은 고딕"/>
                <a:ea typeface="맑은 고딕"/>
              </a:rPr>
              <a:t>결정</a:t>
            </a:r>
            <a:r>
              <a:rPr sz="950" b="1" i="0" dirty="0">
                <a:solidFill>
                  <a:srgbClr val="C55A11"/>
                </a:solidFill>
                <a:latin typeface="맑은 고딕"/>
                <a:ea typeface="맑은 고딕"/>
              </a:rPr>
              <a:t>)</a:t>
            </a:r>
          </a:p>
          <a:p>
            <a:pPr algn="l">
              <a:lnSpc>
                <a:spcPct val="110000"/>
              </a:lnSpc>
            </a:pPr>
            <a:r>
              <a:rPr sz="850" b="0" i="0" dirty="0">
                <a:solidFill>
                  <a:srgbClr val="404040"/>
                </a:solidFill>
                <a:latin typeface="맑은 고딕"/>
                <a:ea typeface="맑은 고딕"/>
              </a:rPr>
              <a:t>① 이 </a:t>
            </a:r>
            <a:r>
              <a:rPr sz="850" b="0" i="0" dirty="0" err="1">
                <a:solidFill>
                  <a:srgbClr val="404040"/>
                </a:solidFill>
                <a:latin typeface="맑은 고딕"/>
                <a:ea typeface="맑은 고딕"/>
              </a:rPr>
              <a:t>요청을</a:t>
            </a:r>
            <a:r>
              <a:rPr sz="850" b="0" i="0" dirty="0">
                <a:solidFill>
                  <a:srgbClr val="404040"/>
                </a:solidFill>
                <a:latin typeface="맑은 고딕"/>
                <a:ea typeface="맑은 고딕"/>
              </a:rPr>
              <a:t> </a:t>
            </a:r>
            <a:r>
              <a:rPr sz="850" b="0" i="0" dirty="0" err="1">
                <a:solidFill>
                  <a:srgbClr val="404040"/>
                </a:solidFill>
                <a:latin typeface="맑은 고딕"/>
                <a:ea typeface="맑은 고딕"/>
              </a:rPr>
              <a:t>어느</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서버로</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서버별</a:t>
            </a:r>
            <a:r>
              <a:rPr sz="850" b="0" i="0" dirty="0">
                <a:solidFill>
                  <a:srgbClr val="404040"/>
                </a:solidFill>
                <a:latin typeface="맑은 고딕"/>
                <a:ea typeface="맑은 고딕"/>
              </a:rPr>
              <a:t> KV </a:t>
            </a:r>
            <a:r>
              <a:rPr sz="850" b="0" i="0" dirty="0" err="1">
                <a:solidFill>
                  <a:srgbClr val="404040"/>
                </a:solidFill>
                <a:latin typeface="맑은 고딕"/>
                <a:ea typeface="맑은 고딕"/>
              </a:rPr>
              <a:t>캐시</a:t>
            </a:r>
            <a:r>
              <a:rPr sz="850" b="0" i="0" dirty="0">
                <a:solidFill>
                  <a:srgbClr val="404040"/>
                </a:solidFill>
                <a:latin typeface="맑은 고딕"/>
                <a:ea typeface="맑은 고딕"/>
              </a:rPr>
              <a:t> </a:t>
            </a:r>
            <a:r>
              <a:rPr sz="850" b="0" i="0" dirty="0" err="1">
                <a:solidFill>
                  <a:srgbClr val="404040"/>
                </a:solidFill>
                <a:latin typeface="맑은 고딕"/>
                <a:ea typeface="맑은 고딕"/>
              </a:rPr>
              <a:t>위치·메모리</a:t>
            </a:r>
            <a:r>
              <a:rPr sz="850" b="0" i="0" dirty="0">
                <a:solidFill>
                  <a:srgbClr val="404040"/>
                </a:solidFill>
                <a:latin typeface="맑은 고딕"/>
                <a:ea typeface="맑은 고딕"/>
              </a:rPr>
              <a:t> </a:t>
            </a:r>
            <a:r>
              <a:rPr sz="850" b="0" i="0" dirty="0" err="1">
                <a:solidFill>
                  <a:srgbClr val="404040"/>
                </a:solidFill>
                <a:latin typeface="맑은 고딕"/>
                <a:ea typeface="맑은 고딕"/>
              </a:rPr>
              <a:t>점유가</a:t>
            </a:r>
            <a:r>
              <a:rPr sz="850" b="0" i="0" dirty="0">
                <a:solidFill>
                  <a:srgbClr val="404040"/>
                </a:solidFill>
                <a:latin typeface="맑은 고딕"/>
                <a:ea typeface="맑은 고딕"/>
              </a:rPr>
              <a:t> </a:t>
            </a:r>
            <a:r>
              <a:rPr sz="850" b="0" i="0" dirty="0" err="1">
                <a:solidFill>
                  <a:srgbClr val="404040"/>
                </a:solidFill>
                <a:latin typeface="맑은 고딕"/>
                <a:ea typeface="맑은 고딕"/>
              </a:rPr>
              <a:t>상이</a:t>
            </a:r>
            <a:r>
              <a:rPr sz="850" b="0" i="0" dirty="0">
                <a:solidFill>
                  <a:srgbClr val="404040"/>
                </a:solidFill>
                <a:latin typeface="맑은 고딕"/>
                <a:ea typeface="맑은 고딕"/>
              </a:rPr>
              <a:t>)</a:t>
            </a:r>
          </a:p>
          <a:p>
            <a:pPr algn="l">
              <a:lnSpc>
                <a:spcPct val="110000"/>
              </a:lnSpc>
            </a:pPr>
            <a:r>
              <a:rPr sz="850" b="0" i="0" dirty="0">
                <a:solidFill>
                  <a:srgbClr val="404040"/>
                </a:solidFill>
                <a:latin typeface="맑은 고딕"/>
                <a:ea typeface="맑은 고딕"/>
              </a:rPr>
              <a:t>② Prefill/</a:t>
            </a:r>
            <a:r>
              <a:rPr sz="850" b="0" i="0" dirty="0" err="1">
                <a:solidFill>
                  <a:srgbClr val="404040"/>
                </a:solidFill>
                <a:latin typeface="맑은 고딕"/>
                <a:ea typeface="맑은 고딕"/>
              </a:rPr>
              <a:t>Decode를</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서버</a:t>
            </a:r>
            <a:r>
              <a:rPr sz="850" b="0" i="0" dirty="0">
                <a:solidFill>
                  <a:srgbClr val="404040"/>
                </a:solidFill>
                <a:latin typeface="맑은 고딕"/>
                <a:ea typeface="맑은 고딕"/>
              </a:rPr>
              <a:t> </a:t>
            </a:r>
            <a:r>
              <a:rPr sz="850" b="0" i="0" dirty="0" err="1">
                <a:solidFill>
                  <a:srgbClr val="404040"/>
                </a:solidFill>
                <a:latin typeface="맑은 고딕"/>
                <a:ea typeface="맑은 고딕"/>
              </a:rPr>
              <a:t>나눠</a:t>
            </a:r>
            <a:r>
              <a:rPr sz="850" b="0" i="0" dirty="0">
                <a:solidFill>
                  <a:srgbClr val="404040"/>
                </a:solidFill>
                <a:latin typeface="맑은 고딕"/>
                <a:ea typeface="맑은 고딕"/>
              </a:rPr>
              <a:t> </a:t>
            </a:r>
            <a:r>
              <a:rPr sz="850" b="0" i="0" dirty="0" err="1">
                <a:solidFill>
                  <a:srgbClr val="404040"/>
                </a:solidFill>
                <a:latin typeface="맑은 고딕"/>
                <a:ea typeface="맑은 고딕"/>
              </a:rPr>
              <a:t>실행할지</a:t>
            </a:r>
            <a:r>
              <a:rPr sz="850" b="0" i="0" dirty="0">
                <a:solidFill>
                  <a:srgbClr val="404040"/>
                </a:solidFill>
                <a:latin typeface="맑은 고딕"/>
                <a:ea typeface="맑은 고딕"/>
              </a:rPr>
              <a:t>, </a:t>
            </a:r>
            <a:r>
              <a:rPr sz="850" b="0" i="0" dirty="0" err="1">
                <a:solidFill>
                  <a:srgbClr val="404040"/>
                </a:solidFill>
                <a:latin typeface="맑은 고딕"/>
                <a:ea typeface="맑은 고딕"/>
              </a:rPr>
              <a:t>Prefill은</a:t>
            </a:r>
            <a:r>
              <a:rPr sz="850" b="0" i="0" dirty="0">
                <a:solidFill>
                  <a:srgbClr val="404040"/>
                </a:solidFill>
                <a:latin typeface="맑은 고딕"/>
                <a:ea typeface="맑은 고딕"/>
              </a:rPr>
              <a:t> </a:t>
            </a:r>
            <a:r>
              <a:rPr sz="850" b="0" i="0" dirty="0" err="1">
                <a:solidFill>
                  <a:srgbClr val="404040"/>
                </a:solidFill>
                <a:latin typeface="맑은 고딕"/>
                <a:ea typeface="맑은 고딕"/>
              </a:rPr>
              <a:t>어디서</a:t>
            </a:r>
            <a:r>
              <a:rPr sz="850" b="0" i="0" dirty="0">
                <a:solidFill>
                  <a:srgbClr val="404040"/>
                </a:solidFill>
                <a:latin typeface="맑은 고딕"/>
                <a:ea typeface="맑은 고딕"/>
              </a:rPr>
              <a:t>?  (KV </a:t>
            </a:r>
            <a:r>
              <a:rPr sz="850" b="0" i="0" dirty="0" err="1">
                <a:solidFill>
                  <a:srgbClr val="404040"/>
                </a:solidFill>
                <a:latin typeface="맑은 고딕"/>
                <a:ea typeface="맑은 고딕"/>
              </a:rPr>
              <a:t>전송</a:t>
            </a:r>
            <a:r>
              <a:rPr sz="850" b="0" i="0" dirty="0">
                <a:solidFill>
                  <a:srgbClr val="404040"/>
                </a:solidFill>
                <a:latin typeface="맑은 고딕"/>
                <a:ea typeface="맑은 고딕"/>
              </a:rPr>
              <a:t> </a:t>
            </a:r>
            <a:r>
              <a:rPr sz="850" b="0" i="0" dirty="0" err="1">
                <a:solidFill>
                  <a:srgbClr val="404040"/>
                </a:solidFill>
                <a:latin typeface="맑은 고딕"/>
                <a:ea typeface="맑은 고딕"/>
              </a:rPr>
              <a:t>비용</a:t>
            </a:r>
            <a:r>
              <a:rPr sz="850" b="0" i="0" dirty="0">
                <a:solidFill>
                  <a:srgbClr val="404040"/>
                </a:solidFill>
                <a:latin typeface="맑은 고딕"/>
                <a:ea typeface="맑은 고딕"/>
              </a:rPr>
              <a:t>)</a:t>
            </a:r>
          </a:p>
          <a:p>
            <a:pPr algn="l">
              <a:lnSpc>
                <a:spcPct val="110000"/>
              </a:lnSpc>
            </a:pPr>
            <a:r>
              <a:rPr sz="850" b="0" i="0" dirty="0">
                <a:solidFill>
                  <a:srgbClr val="404040"/>
                </a:solidFill>
                <a:latin typeface="맑은 고딕"/>
                <a:ea typeface="맑은 고딕"/>
              </a:rPr>
              <a:t>③ </a:t>
            </a:r>
            <a:r>
              <a:rPr sz="850" b="0" i="0" dirty="0" err="1">
                <a:solidFill>
                  <a:srgbClr val="404040"/>
                </a:solidFill>
                <a:latin typeface="맑은 고딕"/>
                <a:ea typeface="맑은 고딕"/>
              </a:rPr>
              <a:t>서버</a:t>
            </a:r>
            <a:r>
              <a:rPr sz="850" b="0" i="0" dirty="0">
                <a:solidFill>
                  <a:srgbClr val="404040"/>
                </a:solidFill>
                <a:latin typeface="맑은 고딕"/>
                <a:ea typeface="맑은 고딕"/>
              </a:rPr>
              <a:t> 간 KV </a:t>
            </a:r>
            <a:r>
              <a:rPr sz="850" b="0" i="0" dirty="0" err="1">
                <a:solidFill>
                  <a:srgbClr val="404040"/>
                </a:solidFill>
                <a:latin typeface="맑은 고딕"/>
                <a:ea typeface="맑은 고딕"/>
              </a:rPr>
              <a:t>공유·서버</a:t>
            </a:r>
            <a:r>
              <a:rPr sz="850" b="0" i="0" dirty="0">
                <a:solidFill>
                  <a:srgbClr val="404040"/>
                </a:solidFill>
                <a:latin typeface="맑은 고딕"/>
                <a:ea typeface="맑은 고딕"/>
              </a:rPr>
              <a:t> </a:t>
            </a:r>
            <a:r>
              <a:rPr sz="850" b="0" i="0" dirty="0" err="1">
                <a:solidFill>
                  <a:srgbClr val="404040"/>
                </a:solidFill>
                <a:latin typeface="맑은 고딕"/>
                <a:ea typeface="맑은 고딕"/>
              </a:rPr>
              <a:t>확장은</a:t>
            </a:r>
            <a:r>
              <a:rPr sz="850" b="0" i="0" dirty="0">
                <a:solidFill>
                  <a:srgbClr val="404040"/>
                </a:solidFill>
                <a:latin typeface="맑은 고딕"/>
                <a:ea typeface="맑은 고딕"/>
              </a:rPr>
              <a:t>?</a:t>
            </a:r>
          </a:p>
          <a:p>
            <a:pPr algn="l">
              <a:lnSpc>
                <a:spcPct val="110000"/>
              </a:lnSpc>
            </a:pPr>
            <a:r>
              <a:rPr sz="750" b="0" i="0" dirty="0" err="1">
                <a:solidFill>
                  <a:srgbClr val="404040"/>
                </a:solidFill>
                <a:latin typeface="맑은 고딕"/>
                <a:ea typeface="맑은 고딕"/>
              </a:rPr>
              <a:t>vLLM</a:t>
            </a:r>
            <a:r>
              <a:rPr sz="750" b="0" i="0" dirty="0">
                <a:solidFill>
                  <a:srgbClr val="404040"/>
                </a:solidFill>
                <a:latin typeface="맑은 고딕"/>
                <a:ea typeface="맑은 고딕"/>
              </a:rPr>
              <a:t> = </a:t>
            </a:r>
            <a:r>
              <a:rPr sz="750" b="0" i="0" dirty="0" err="1">
                <a:solidFill>
                  <a:srgbClr val="404040"/>
                </a:solidFill>
                <a:latin typeface="맑은 고딕"/>
                <a:ea typeface="맑은 고딕"/>
              </a:rPr>
              <a:t>서버</a:t>
            </a:r>
            <a:r>
              <a:rPr sz="750" b="0" i="0" dirty="0">
                <a:solidFill>
                  <a:srgbClr val="404040"/>
                </a:solidFill>
                <a:latin typeface="맑은 고딕"/>
                <a:ea typeface="맑은 고딕"/>
              </a:rPr>
              <a:t> </a:t>
            </a:r>
            <a:r>
              <a:rPr sz="750" b="0" i="0" dirty="0" err="1">
                <a:solidFill>
                  <a:srgbClr val="404040"/>
                </a:solidFill>
                <a:latin typeface="맑은 고딕"/>
                <a:ea typeface="맑은 고딕"/>
              </a:rPr>
              <a:t>내부</a:t>
            </a:r>
            <a:r>
              <a:rPr sz="750" b="0" i="0" dirty="0">
                <a:solidFill>
                  <a:srgbClr val="404040"/>
                </a:solidFill>
                <a:latin typeface="맑은 고딕"/>
                <a:ea typeface="맑은 고딕"/>
              </a:rPr>
              <a:t> </a:t>
            </a:r>
            <a:r>
              <a:rPr sz="750" b="0" i="0" dirty="0" err="1">
                <a:solidFill>
                  <a:srgbClr val="404040"/>
                </a:solidFill>
                <a:latin typeface="맑은 고딕"/>
                <a:ea typeface="맑은 고딕"/>
              </a:rPr>
              <a:t>병렬화</a:t>
            </a:r>
            <a:r>
              <a:rPr sz="750" b="0" i="0" dirty="0">
                <a:solidFill>
                  <a:srgbClr val="404040"/>
                </a:solidFill>
                <a:latin typeface="맑은 고딕"/>
                <a:ea typeface="맑은 고딕"/>
              </a:rPr>
              <a:t> / </a:t>
            </a:r>
            <a:r>
              <a:rPr sz="750" b="0" i="0" dirty="0" err="1">
                <a:solidFill>
                  <a:srgbClr val="404040"/>
                </a:solidFill>
                <a:latin typeface="맑은 고딕"/>
                <a:ea typeface="맑은 고딕"/>
              </a:rPr>
              <a:t>llm-d·Dynamo</a:t>
            </a:r>
            <a:r>
              <a:rPr sz="750" b="0" i="0" dirty="0">
                <a:solidFill>
                  <a:srgbClr val="404040"/>
                </a:solidFill>
                <a:latin typeface="맑은 고딕"/>
                <a:ea typeface="맑은 고딕"/>
              </a:rPr>
              <a:t> = </a:t>
            </a:r>
            <a:r>
              <a:rPr sz="750" b="0" i="0" dirty="0" err="1">
                <a:solidFill>
                  <a:srgbClr val="404040"/>
                </a:solidFill>
                <a:latin typeface="맑은 고딕"/>
                <a:ea typeface="맑은 고딕"/>
              </a:rPr>
              <a:t>서버들을</a:t>
            </a:r>
            <a:r>
              <a:rPr sz="750" b="0" i="0" dirty="0">
                <a:solidFill>
                  <a:srgbClr val="404040"/>
                </a:solidFill>
                <a:latin typeface="맑은 고딕"/>
                <a:ea typeface="맑은 고딕"/>
              </a:rPr>
              <a:t> </a:t>
            </a:r>
            <a:r>
              <a:rPr sz="750" b="0" i="0" dirty="0" err="1">
                <a:solidFill>
                  <a:srgbClr val="404040"/>
                </a:solidFill>
                <a:latin typeface="맑은 고딕"/>
                <a:ea typeface="맑은 고딕"/>
              </a:rPr>
              <a:t>묶는</a:t>
            </a:r>
            <a:r>
              <a:rPr sz="750" b="0" i="0" dirty="0">
                <a:solidFill>
                  <a:srgbClr val="404040"/>
                </a:solidFill>
                <a:latin typeface="맑은 고딕"/>
                <a:ea typeface="맑은 고딕"/>
              </a:rPr>
              <a:t> </a:t>
            </a:r>
            <a:r>
              <a:rPr sz="750" b="0" i="0" dirty="0" err="1">
                <a:solidFill>
                  <a:srgbClr val="404040"/>
                </a:solidFill>
                <a:latin typeface="맑은 고딕"/>
                <a:ea typeface="맑은 고딕"/>
              </a:rPr>
              <a:t>계층</a:t>
            </a:r>
            <a:r>
              <a:rPr sz="750" b="0" i="0" dirty="0">
                <a:solidFill>
                  <a:srgbClr val="404040"/>
                </a:solidFill>
                <a:latin typeface="맑은 고딕"/>
                <a:ea typeface="맑은 고딕"/>
              </a:rPr>
              <a:t> → </a:t>
            </a:r>
            <a:r>
              <a:rPr sz="750" b="0" i="0" dirty="0" err="1">
                <a:solidFill>
                  <a:srgbClr val="404040"/>
                </a:solidFill>
                <a:latin typeface="맑은 고딕"/>
                <a:ea typeface="맑은 고딕"/>
              </a:rPr>
              <a:t>다루는</a:t>
            </a:r>
            <a:r>
              <a:rPr sz="750" b="0" i="0" dirty="0">
                <a:solidFill>
                  <a:srgbClr val="404040"/>
                </a:solidFill>
                <a:latin typeface="맑은 고딕"/>
                <a:ea typeface="맑은 고딕"/>
              </a:rPr>
              <a:t> </a:t>
            </a:r>
            <a:r>
              <a:rPr sz="750" b="0" i="0" dirty="0" err="1">
                <a:solidFill>
                  <a:srgbClr val="404040"/>
                </a:solidFill>
                <a:latin typeface="맑은 고딕"/>
                <a:ea typeface="맑은 고딕"/>
              </a:rPr>
              <a:t>축이</a:t>
            </a:r>
            <a:r>
              <a:rPr sz="750" b="0" i="0" dirty="0">
                <a:solidFill>
                  <a:srgbClr val="404040"/>
                </a:solidFill>
                <a:latin typeface="맑은 고딕"/>
                <a:ea typeface="맑은 고딕"/>
              </a:rPr>
              <a:t> </a:t>
            </a:r>
            <a:r>
              <a:rPr sz="750" b="0" i="0" dirty="0" err="1">
                <a:solidFill>
                  <a:srgbClr val="404040"/>
                </a:solidFill>
                <a:latin typeface="맑은 고딕"/>
                <a:ea typeface="맑은 고딕"/>
              </a:rPr>
              <a:t>다름</a:t>
            </a:r>
            <a:endParaRPr sz="750" b="0" i="0" dirty="0">
              <a:solidFill>
                <a:srgbClr val="404040"/>
              </a:solidFill>
              <a:latin typeface="맑은 고딕"/>
              <a:ea typeface="맑은 고딕"/>
            </a:endParaRP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
        <p:nvSpPr>
          <p:cNvPr id="150" name="직사각형 149"/>
          <p:cNvSpPr/>
          <p:nvPr/>
        </p:nvSpPr>
        <p:spPr>
          <a:xfrm>
            <a:off x="6575824" y="39276"/>
            <a:ext cx="1335273" cy="46134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Extra DP</a:t>
            </a:r>
            <a:endParaRPr lang="ko-KR" altLang="en-US" dirty="0"/>
          </a:p>
        </p:txBody>
      </p:sp>
    </p:spTree>
    <p:extLst>
      <p:ext uri="{BB962C8B-B14F-4D97-AF65-F5344CB8AC3E}">
        <p14:creationId xmlns:p14="http://schemas.microsoft.com/office/powerpoint/2010/main" val="260144657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161</a:t>
            </a:fld>
            <a:endParaRPr lang="ko-KR" altLang="en-US" dirty="0"/>
          </a:p>
        </p:txBody>
      </p:sp>
      <p:sp>
        <p:nvSpPr>
          <p:cNvPr id="3" name="제목 2"/>
          <p:cNvSpPr>
            <a:spLocks noGrp="1"/>
          </p:cNvSpPr>
          <p:nvPr>
            <p:ph type="title"/>
          </p:nvPr>
        </p:nvSpPr>
        <p:spPr/>
        <p:txBody>
          <a:bodyPr/>
          <a:lstStyle/>
          <a:p>
            <a:r>
              <a:rPr lang="en-US" altLang="ko-KR" dirty="0"/>
              <a:t>DP5. </a:t>
            </a:r>
            <a:r>
              <a:rPr lang="ko-KR" altLang="en-US" dirty="0"/>
              <a:t>다중 서버 간 </a:t>
            </a:r>
            <a:r>
              <a:rPr lang="en-US" altLang="ko-KR" dirty="0" err="1"/>
              <a:t>요청</a:t>
            </a:r>
            <a:r>
              <a:rPr lang="en-US" altLang="ko-KR" dirty="0"/>
              <a:t> </a:t>
            </a:r>
            <a:r>
              <a:rPr lang="en-US" altLang="ko-KR" dirty="0" err="1"/>
              <a:t>조율</a:t>
            </a:r>
            <a:r>
              <a:rPr lang="en-US" altLang="ko-KR" dirty="0"/>
              <a:t> (Orchestration) </a:t>
            </a:r>
            <a:r>
              <a:rPr lang="ko-KR" altLang="en-US" dirty="0"/>
              <a:t>구조</a:t>
            </a:r>
            <a:r>
              <a:rPr lang="en-US" altLang="ko-KR" dirty="0"/>
              <a:t> - </a:t>
            </a:r>
            <a:r>
              <a:rPr lang="en-US" altLang="ko-KR" dirty="0" err="1"/>
              <a:t>배경</a:t>
            </a:r>
            <a:endParaRPr lang="en-US" altLang="ko-KR"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dirty="0" err="1">
                <a:solidFill>
                  <a:srgbClr val="000000"/>
                </a:solidFill>
                <a:latin typeface="맑은 고딕"/>
                <a:ea typeface="맑은 고딕"/>
              </a:rPr>
              <a:t>설계</a:t>
            </a:r>
            <a:r>
              <a:rPr sz="1200" b="1" i="0" dirty="0">
                <a:solidFill>
                  <a:srgbClr val="000000"/>
                </a:solidFill>
                <a:latin typeface="맑은 고딕"/>
                <a:ea typeface="맑은 고딕"/>
              </a:rPr>
              <a:t> </a:t>
            </a:r>
            <a:r>
              <a:rPr sz="1200" b="1" i="0" dirty="0" err="1">
                <a:solidFill>
                  <a:srgbClr val="000000"/>
                </a:solidFill>
                <a:latin typeface="맑은 고딕"/>
                <a:ea typeface="맑은 고딕"/>
              </a:rPr>
              <a:t>쟁점</a:t>
            </a:r>
            <a:r>
              <a:rPr sz="1200" b="1" i="0" dirty="0">
                <a:solidFill>
                  <a:srgbClr val="000000"/>
                </a:solidFill>
                <a:latin typeface="맑은 고딕"/>
                <a:ea typeface="맑은 고딕"/>
              </a:rPr>
              <a:t> 1. </a:t>
            </a:r>
            <a:r>
              <a:rPr sz="1200" b="0" i="0" dirty="0" err="1">
                <a:solidFill>
                  <a:srgbClr val="000000"/>
                </a:solidFill>
                <a:latin typeface="맑은 고딕"/>
                <a:ea typeface="맑은 고딕"/>
              </a:rPr>
              <a:t>서버</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내부</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메모리</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상태·비용을</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반영한</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요청</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배분으로</a:t>
            </a:r>
            <a:r>
              <a:rPr sz="1200" b="0" i="0" dirty="0">
                <a:solidFill>
                  <a:srgbClr val="000000"/>
                </a:solidFill>
                <a:latin typeface="맑은 고딕"/>
                <a:ea typeface="맑은 고딕"/>
              </a:rPr>
              <a:t> </a:t>
            </a:r>
            <a:r>
              <a:rPr sz="1200" b="1" i="0" dirty="0" err="1">
                <a:solidFill>
                  <a:srgbClr val="0066FF"/>
                </a:solidFill>
                <a:latin typeface="맑은 고딕"/>
                <a:ea typeface="맑은 고딕"/>
              </a:rPr>
              <a:t>처리량</a:t>
            </a:r>
            <a:r>
              <a:rPr sz="1200" b="1" i="0" dirty="0">
                <a:solidFill>
                  <a:srgbClr val="0066FF"/>
                </a:solidFill>
                <a:latin typeface="맑은 고딕"/>
                <a:ea typeface="맑은 고딕"/>
              </a:rPr>
              <a:t>(Throughput)·첫 </a:t>
            </a:r>
            <a:r>
              <a:rPr sz="1200" b="1" i="0" dirty="0" err="1">
                <a:solidFill>
                  <a:srgbClr val="0066FF"/>
                </a:solidFill>
                <a:latin typeface="맑은 고딕"/>
                <a:ea typeface="맑은 고딕"/>
              </a:rPr>
              <a:t>응답</a:t>
            </a:r>
            <a:r>
              <a:rPr sz="1200" b="1" i="0" dirty="0">
                <a:solidFill>
                  <a:srgbClr val="0066FF"/>
                </a:solidFill>
                <a:latin typeface="맑은 고딕"/>
                <a:ea typeface="맑은 고딕"/>
              </a:rPr>
              <a:t> </a:t>
            </a:r>
            <a:r>
              <a:rPr sz="1200" b="1" i="0" dirty="0" err="1">
                <a:solidFill>
                  <a:srgbClr val="0066FF"/>
                </a:solidFill>
                <a:latin typeface="맑은 고딕"/>
                <a:ea typeface="맑은 고딕"/>
              </a:rPr>
              <a:t>시간</a:t>
            </a:r>
            <a:r>
              <a:rPr sz="1200" b="1" i="0" dirty="0">
                <a:solidFill>
                  <a:srgbClr val="0066FF"/>
                </a:solidFill>
                <a:latin typeface="맑은 고딕"/>
                <a:ea typeface="맑은 고딕"/>
              </a:rPr>
              <a:t>(TTFT) </a:t>
            </a:r>
            <a:r>
              <a:rPr sz="1200" b="1" i="0" dirty="0" err="1">
                <a:solidFill>
                  <a:srgbClr val="0066FF"/>
                </a:solidFill>
                <a:latin typeface="맑은 고딕"/>
                <a:ea typeface="맑은 고딕"/>
              </a:rPr>
              <a:t>최적화</a:t>
            </a:r>
            <a:endParaRPr sz="1200" b="1" i="0" dirty="0">
              <a:solidFill>
                <a:srgbClr val="0066FF"/>
              </a:solidFill>
              <a:latin typeface="맑은 고딕"/>
              <a:ea typeface="맑은 고딕"/>
            </a:endParaRPr>
          </a:p>
          <a:p>
            <a:pPr>
              <a:lnSpc>
                <a:spcPct val="125000"/>
              </a:lnSpc>
            </a:pPr>
            <a:r>
              <a:rPr sz="1200" b="1" i="0" dirty="0" err="1">
                <a:solidFill>
                  <a:srgbClr val="000000"/>
                </a:solidFill>
                <a:latin typeface="맑은 고딕"/>
                <a:ea typeface="맑은 고딕"/>
              </a:rPr>
              <a:t>설계</a:t>
            </a:r>
            <a:r>
              <a:rPr sz="1200" b="1" i="0" dirty="0">
                <a:solidFill>
                  <a:srgbClr val="000000"/>
                </a:solidFill>
                <a:latin typeface="맑은 고딕"/>
                <a:ea typeface="맑은 고딕"/>
              </a:rPr>
              <a:t> </a:t>
            </a:r>
            <a:r>
              <a:rPr sz="1200" b="1" i="0" dirty="0" err="1">
                <a:solidFill>
                  <a:srgbClr val="000000"/>
                </a:solidFill>
                <a:latin typeface="맑은 고딕"/>
                <a:ea typeface="맑은 고딕"/>
              </a:rPr>
              <a:t>쟁점</a:t>
            </a:r>
            <a:r>
              <a:rPr sz="1200" b="1" i="0" dirty="0">
                <a:solidFill>
                  <a:srgbClr val="000000"/>
                </a:solidFill>
                <a:latin typeface="맑은 고딕"/>
                <a:ea typeface="맑은 고딕"/>
              </a:rPr>
              <a:t> 2. </a:t>
            </a:r>
            <a:r>
              <a:rPr sz="1200" b="0" i="0" dirty="0" err="1">
                <a:solidFill>
                  <a:srgbClr val="000000"/>
                </a:solidFill>
                <a:latin typeface="맑은 고딕"/>
                <a:ea typeface="맑은 고딕"/>
              </a:rPr>
              <a:t>신규</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메모리·정책</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추가</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서버</a:t>
            </a:r>
            <a:r>
              <a:rPr sz="1200" b="0" i="0" dirty="0">
                <a:solidFill>
                  <a:srgbClr val="000000"/>
                </a:solidFill>
                <a:latin typeface="맑은 고딕"/>
                <a:ea typeface="맑은 고딕"/>
              </a:rPr>
              <a:t> </a:t>
            </a:r>
            <a:r>
              <a:rPr sz="1200" b="0" i="0" dirty="0" err="1">
                <a:solidFill>
                  <a:srgbClr val="000000"/>
                </a:solidFill>
                <a:latin typeface="맑은 고딕"/>
                <a:ea typeface="맑은 고딕"/>
              </a:rPr>
              <a:t>증가</a:t>
            </a:r>
            <a:r>
              <a:rPr sz="1200" b="0" i="0" dirty="0">
                <a:solidFill>
                  <a:srgbClr val="000000"/>
                </a:solidFill>
                <a:latin typeface="맑은 고딕"/>
                <a:ea typeface="맑은 고딕"/>
              </a:rPr>
              <a:t> 시 </a:t>
            </a:r>
            <a:r>
              <a:rPr sz="1200" b="1" i="0" dirty="0" err="1">
                <a:solidFill>
                  <a:srgbClr val="0066FF"/>
                </a:solidFill>
                <a:latin typeface="맑은 고딕"/>
                <a:ea typeface="맑은 고딕"/>
              </a:rPr>
              <a:t>기존</a:t>
            </a:r>
            <a:r>
              <a:rPr sz="1200" b="1" i="0" dirty="0">
                <a:solidFill>
                  <a:srgbClr val="0066FF"/>
                </a:solidFill>
                <a:latin typeface="맑은 고딕"/>
                <a:ea typeface="맑은 고딕"/>
              </a:rPr>
              <a:t> </a:t>
            </a:r>
            <a:r>
              <a:rPr sz="1200" b="1" i="0" dirty="0" err="1">
                <a:solidFill>
                  <a:srgbClr val="0066FF"/>
                </a:solidFill>
                <a:latin typeface="맑은 고딕"/>
                <a:ea typeface="맑은 고딕"/>
              </a:rPr>
              <a:t>구조</a:t>
            </a:r>
            <a:r>
              <a:rPr sz="1200" b="1" i="0" dirty="0">
                <a:solidFill>
                  <a:srgbClr val="0066FF"/>
                </a:solidFill>
                <a:latin typeface="맑은 고딕"/>
                <a:ea typeface="맑은 고딕"/>
              </a:rPr>
              <a:t> </a:t>
            </a:r>
            <a:r>
              <a:rPr sz="1200" b="1" i="0" dirty="0" err="1">
                <a:solidFill>
                  <a:srgbClr val="0066FF"/>
                </a:solidFill>
                <a:latin typeface="맑은 고딕"/>
                <a:ea typeface="맑은 고딕"/>
              </a:rPr>
              <a:t>변경</a:t>
            </a:r>
            <a:r>
              <a:rPr sz="1200" b="1" i="0" dirty="0">
                <a:solidFill>
                  <a:srgbClr val="0066FF"/>
                </a:solidFill>
                <a:latin typeface="맑은 고딕"/>
                <a:ea typeface="맑은 고딕"/>
              </a:rPr>
              <a:t> </a:t>
            </a:r>
            <a:r>
              <a:rPr sz="1200" b="1" i="0" dirty="0" err="1">
                <a:solidFill>
                  <a:srgbClr val="0066FF"/>
                </a:solidFill>
                <a:latin typeface="맑은 고딕"/>
                <a:ea typeface="맑은 고딕"/>
              </a:rPr>
              <a:t>최소화</a:t>
            </a:r>
            <a:r>
              <a:rPr sz="1200" b="1" i="0" dirty="0">
                <a:solidFill>
                  <a:srgbClr val="0066FF"/>
                </a:solidFill>
                <a:latin typeface="맑은 고딕"/>
                <a:ea typeface="맑은 고딕"/>
              </a:rPr>
              <a:t>(Modifiability)·</a:t>
            </a:r>
            <a:r>
              <a:rPr sz="1200" b="1" i="0" dirty="0" err="1">
                <a:solidFill>
                  <a:srgbClr val="0066FF"/>
                </a:solidFill>
                <a:latin typeface="맑은 고딕"/>
                <a:ea typeface="맑은 고딕"/>
              </a:rPr>
              <a:t>확장성</a:t>
            </a:r>
            <a:r>
              <a:rPr sz="1200" b="1" i="0" dirty="0">
                <a:solidFill>
                  <a:srgbClr val="0066FF"/>
                </a:solidFill>
                <a:latin typeface="맑은 고딕"/>
                <a:ea typeface="맑은 고딕"/>
              </a:rPr>
              <a:t>(Scalability)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endParaRPr sz="750" b="1" i="0">
              <a:solidFill>
                <a:srgbClr val="000000"/>
              </a:solidFill>
              <a:latin typeface="맑은 고딕"/>
              <a:ea typeface="맑은 고딕"/>
            </a:endParaRP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endParaRPr sz="730" b="1" i="0">
              <a:solidFill>
                <a:srgbClr val="000000"/>
              </a:solidFill>
              <a:latin typeface="맑은 고딕"/>
              <a:ea typeface="맑은 고딕"/>
            </a:endParaRP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dirty="0">
                <a:solidFill>
                  <a:srgbClr val="C00000"/>
                </a:solidFill>
                <a:latin typeface="맑은 고딕"/>
                <a:ea typeface="맑은 고딕"/>
              </a:rPr>
              <a:t>① </a:t>
            </a:r>
            <a:r>
              <a:rPr sz="750" b="0" i="0" dirty="0" err="1">
                <a:solidFill>
                  <a:srgbClr val="404040"/>
                </a:solidFill>
                <a:latin typeface="맑은 고딕"/>
                <a:ea typeface="맑은 고딕"/>
              </a:rPr>
              <a:t>메모리</a:t>
            </a:r>
            <a:r>
              <a:rPr sz="750" b="0" i="0" dirty="0">
                <a:solidFill>
                  <a:srgbClr val="404040"/>
                </a:solidFill>
                <a:latin typeface="맑은 고딕"/>
                <a:ea typeface="맑은 고딕"/>
              </a:rPr>
              <a:t> </a:t>
            </a:r>
            <a:r>
              <a:rPr sz="750" b="0" i="0" dirty="0" err="1">
                <a:solidFill>
                  <a:srgbClr val="404040"/>
                </a:solidFill>
                <a:latin typeface="맑은 고딕"/>
                <a:ea typeface="맑은 고딕"/>
              </a:rPr>
              <a:t>점수가</a:t>
            </a:r>
            <a:r>
              <a:rPr sz="750" b="0" i="0" dirty="0">
                <a:solidFill>
                  <a:srgbClr val="404040"/>
                </a:solidFill>
                <a:latin typeface="맑은 고딕"/>
                <a:ea typeface="맑은 고딕"/>
              </a:rPr>
              <a:t> </a:t>
            </a:r>
            <a:r>
              <a:rPr sz="750" b="0" i="0" dirty="0" err="1">
                <a:solidFill>
                  <a:srgbClr val="404040"/>
                </a:solidFill>
                <a:latin typeface="맑은 고딕"/>
                <a:ea typeface="맑은 고딕"/>
              </a:rPr>
              <a:t>고정</a:t>
            </a:r>
            <a:r>
              <a:rPr sz="750" b="0" i="0" dirty="0">
                <a:solidFill>
                  <a:srgbClr val="404040"/>
                </a:solidFill>
                <a:latin typeface="맑은 고딕"/>
                <a:ea typeface="맑은 고딕"/>
              </a:rPr>
              <a:t> 값 → </a:t>
            </a:r>
            <a:r>
              <a:rPr sz="750" b="0" i="0" dirty="0" err="1">
                <a:solidFill>
                  <a:srgbClr val="404040"/>
                </a:solidFill>
                <a:latin typeface="맑은 고딕"/>
                <a:ea typeface="맑은 고딕"/>
              </a:rPr>
              <a:t>사용량·전송</a:t>
            </a:r>
            <a:r>
              <a:rPr sz="750" b="0" i="0" dirty="0">
                <a:solidFill>
                  <a:srgbClr val="404040"/>
                </a:solidFill>
                <a:latin typeface="맑은 고딕"/>
                <a:ea typeface="맑은 고딕"/>
              </a:rPr>
              <a:t> </a:t>
            </a:r>
            <a:r>
              <a:rPr sz="750" b="0" i="0" dirty="0" err="1">
                <a:solidFill>
                  <a:srgbClr val="404040"/>
                </a:solidFill>
                <a:latin typeface="맑은 고딕"/>
                <a:ea typeface="맑은 고딕"/>
              </a:rPr>
              <a:t>대기·신규</a:t>
            </a:r>
            <a:r>
              <a:rPr sz="750" b="0" i="0" dirty="0">
                <a:solidFill>
                  <a:srgbClr val="404040"/>
                </a:solidFill>
                <a:latin typeface="맑은 고딕"/>
                <a:ea typeface="맑은 고딕"/>
              </a:rPr>
              <a:t> </a:t>
            </a:r>
            <a:r>
              <a:rPr sz="750" b="0" i="0" dirty="0" err="1">
                <a:solidFill>
                  <a:srgbClr val="404040"/>
                </a:solidFill>
                <a:latin typeface="맑은 고딕"/>
                <a:ea typeface="맑은 고딕"/>
              </a:rPr>
              <a:t>메모리</a:t>
            </a:r>
            <a:r>
              <a:rPr sz="750" b="0" i="0" dirty="0">
                <a:solidFill>
                  <a:srgbClr val="404040"/>
                </a:solidFill>
                <a:latin typeface="맑은 고딕"/>
                <a:ea typeface="맑은 고딕"/>
              </a:rPr>
              <a:t>(CXL/HBF) </a:t>
            </a:r>
            <a:r>
              <a:rPr sz="750" b="0" i="0" dirty="0" err="1">
                <a:solidFill>
                  <a:srgbClr val="404040"/>
                </a:solidFill>
                <a:latin typeface="맑은 고딕"/>
                <a:ea typeface="맑은 고딕"/>
              </a:rPr>
              <a:t>미반영</a:t>
            </a:r>
            <a:endParaRPr sz="750" b="0" i="0" dirty="0">
              <a:solidFill>
                <a:srgbClr val="404040"/>
              </a:solidFill>
              <a:latin typeface="맑은 고딕"/>
              <a:ea typeface="맑은 고딕"/>
            </a:endParaRPr>
          </a:p>
          <a:p>
            <a:pPr algn="l">
              <a:lnSpc>
                <a:spcPct val="100000"/>
              </a:lnSpc>
            </a:pPr>
            <a:r>
              <a:rPr sz="750" b="1" i="0" dirty="0">
                <a:solidFill>
                  <a:srgbClr val="C00000"/>
                </a:solidFill>
                <a:latin typeface="맑은 고딕"/>
                <a:ea typeface="맑은 고딕"/>
              </a:rPr>
              <a:t>② </a:t>
            </a:r>
            <a:r>
              <a:rPr sz="750" b="0" i="0" dirty="0">
                <a:solidFill>
                  <a:srgbClr val="404040"/>
                </a:solidFill>
                <a:latin typeface="맑은 고딕"/>
                <a:ea typeface="맑은 고딕"/>
              </a:rPr>
              <a:t>Prefill/Decode </a:t>
            </a:r>
            <a:r>
              <a:rPr sz="750" b="0" i="0" dirty="0" err="1">
                <a:solidFill>
                  <a:srgbClr val="404040"/>
                </a:solidFill>
                <a:latin typeface="맑은 고딕"/>
                <a:ea typeface="맑은 고딕"/>
              </a:rPr>
              <a:t>분리가</a:t>
            </a:r>
            <a:r>
              <a:rPr sz="750" b="0" i="0" dirty="0">
                <a:solidFill>
                  <a:srgbClr val="404040"/>
                </a:solidFill>
                <a:latin typeface="맑은 고딕"/>
                <a:ea typeface="맑은 고딕"/>
              </a:rPr>
              <a:t> </a:t>
            </a:r>
            <a:r>
              <a:rPr sz="750" b="0" i="0" dirty="0" err="1">
                <a:solidFill>
                  <a:srgbClr val="404040"/>
                </a:solidFill>
                <a:latin typeface="맑은 고딕"/>
                <a:ea typeface="맑은 고딕"/>
              </a:rPr>
              <a:t>고정</a:t>
            </a:r>
            <a:r>
              <a:rPr sz="750" b="0" i="0" dirty="0">
                <a:solidFill>
                  <a:srgbClr val="404040"/>
                </a:solidFill>
                <a:latin typeface="맑은 고딕"/>
                <a:ea typeface="맑은 고딕"/>
              </a:rPr>
              <a:t> </a:t>
            </a:r>
            <a:r>
              <a:rPr sz="750" b="0" i="0" dirty="0" err="1">
                <a:solidFill>
                  <a:srgbClr val="404040"/>
                </a:solidFill>
                <a:latin typeface="맑은 고딕"/>
                <a:ea typeface="맑은 고딕"/>
              </a:rPr>
              <a:t>기준</a:t>
            </a:r>
            <a:r>
              <a:rPr sz="750" b="0" i="0" dirty="0">
                <a:solidFill>
                  <a:srgbClr val="404040"/>
                </a:solidFill>
                <a:latin typeface="맑은 고딕"/>
                <a:ea typeface="맑은 고딕"/>
              </a:rPr>
              <a:t> → KV </a:t>
            </a:r>
            <a:r>
              <a:rPr sz="750" b="0" i="0" dirty="0" err="1">
                <a:solidFill>
                  <a:srgbClr val="404040"/>
                </a:solidFill>
                <a:latin typeface="맑은 고딕"/>
                <a:ea typeface="맑은 고딕"/>
              </a:rPr>
              <a:t>캐시</a:t>
            </a:r>
            <a:r>
              <a:rPr sz="750" b="0" i="0" dirty="0">
                <a:solidFill>
                  <a:srgbClr val="404040"/>
                </a:solidFill>
                <a:latin typeface="맑은 고딕"/>
                <a:ea typeface="맑은 고딕"/>
              </a:rPr>
              <a:t> </a:t>
            </a:r>
            <a:r>
              <a:rPr sz="750" b="0" i="0" dirty="0" err="1">
                <a:solidFill>
                  <a:srgbClr val="404040"/>
                </a:solidFill>
                <a:latin typeface="맑은 고딕"/>
                <a:ea typeface="맑은 고딕"/>
              </a:rPr>
              <a:t>이동</a:t>
            </a:r>
            <a:r>
              <a:rPr sz="750" b="0" i="0" dirty="0">
                <a:solidFill>
                  <a:srgbClr val="404040"/>
                </a:solidFill>
                <a:latin typeface="맑은 고딕"/>
                <a:ea typeface="맑은 고딕"/>
              </a:rPr>
              <a:t> </a:t>
            </a:r>
            <a:r>
              <a:rPr sz="750" b="0" i="0" dirty="0" err="1">
                <a:solidFill>
                  <a:srgbClr val="404040"/>
                </a:solidFill>
                <a:latin typeface="맑은 고딕"/>
                <a:ea typeface="맑은 고딕"/>
              </a:rPr>
              <a:t>비용</a:t>
            </a:r>
            <a:r>
              <a:rPr sz="750" b="0" i="0" dirty="0">
                <a:solidFill>
                  <a:srgbClr val="404040"/>
                </a:solidFill>
                <a:latin typeface="맑은 고딕"/>
                <a:ea typeface="맑은 고딕"/>
              </a:rPr>
              <a:t> </a:t>
            </a:r>
            <a:r>
              <a:rPr sz="750" b="0" i="0" dirty="0" err="1">
                <a:solidFill>
                  <a:srgbClr val="404040"/>
                </a:solidFill>
                <a:latin typeface="맑은 고딕"/>
                <a:ea typeface="맑은 고딕"/>
              </a:rPr>
              <a:t>미고려</a:t>
            </a:r>
            <a:endParaRPr sz="750" b="0" i="0" dirty="0">
              <a:solidFill>
                <a:srgbClr val="404040"/>
              </a:solidFill>
              <a:latin typeface="맑은 고딕"/>
              <a:ea typeface="맑은 고딕"/>
            </a:endParaRPr>
          </a:p>
          <a:p>
            <a:pPr algn="l">
              <a:lnSpc>
                <a:spcPct val="100000"/>
              </a:lnSpc>
            </a:pPr>
            <a:r>
              <a:rPr sz="750" b="1" i="0" dirty="0">
                <a:solidFill>
                  <a:srgbClr val="C00000"/>
                </a:solidFill>
                <a:latin typeface="맑은 고딕"/>
                <a:ea typeface="맑은 고딕"/>
              </a:rPr>
              <a:t>③ </a:t>
            </a:r>
            <a:r>
              <a:rPr sz="750" b="0" i="0" dirty="0" err="1">
                <a:solidFill>
                  <a:srgbClr val="404040"/>
                </a:solidFill>
                <a:latin typeface="맑은 고딕"/>
                <a:ea typeface="맑은 고딕"/>
              </a:rPr>
              <a:t>서버별</a:t>
            </a:r>
            <a:r>
              <a:rPr sz="750" b="0" i="0" dirty="0">
                <a:solidFill>
                  <a:srgbClr val="404040"/>
                </a:solidFill>
                <a:latin typeface="맑은 고딕"/>
                <a:ea typeface="맑은 고딕"/>
              </a:rPr>
              <a:t> </a:t>
            </a:r>
            <a:r>
              <a:rPr sz="750" b="0" i="0" dirty="0" err="1">
                <a:solidFill>
                  <a:srgbClr val="404040"/>
                </a:solidFill>
                <a:latin typeface="맑은 고딕"/>
                <a:ea typeface="맑은 고딕"/>
              </a:rPr>
              <a:t>지시</a:t>
            </a:r>
            <a:r>
              <a:rPr sz="750" b="0" i="0" dirty="0">
                <a:solidFill>
                  <a:srgbClr val="404040"/>
                </a:solidFill>
                <a:latin typeface="맑은 고딕"/>
                <a:ea typeface="맑은 고딕"/>
              </a:rPr>
              <a:t>(</a:t>
            </a:r>
            <a:r>
              <a:rPr sz="750" b="0" i="0" dirty="0" err="1">
                <a:solidFill>
                  <a:srgbClr val="404040"/>
                </a:solidFill>
                <a:latin typeface="맑은 고딕"/>
                <a:ea typeface="맑은 고딕"/>
              </a:rPr>
              <a:t>kv_load_tiers</a:t>
            </a:r>
            <a:r>
              <a:rPr sz="750" b="0" i="0" dirty="0">
                <a:solidFill>
                  <a:srgbClr val="404040"/>
                </a:solidFill>
                <a:latin typeface="맑은 고딕"/>
                <a:ea typeface="맑은 고딕"/>
              </a:rPr>
              <a:t> 등)가 P/D </a:t>
            </a:r>
            <a:r>
              <a:rPr sz="750" b="0" i="0" dirty="0" err="1">
                <a:solidFill>
                  <a:srgbClr val="404040"/>
                </a:solidFill>
                <a:latin typeface="맑은 고딕"/>
                <a:ea typeface="맑은 고딕"/>
              </a:rPr>
              <a:t>경로에서</a:t>
            </a:r>
            <a:r>
              <a:rPr sz="750" b="0" i="0" dirty="0">
                <a:solidFill>
                  <a:srgbClr val="404040"/>
                </a:solidFill>
                <a:latin typeface="맑은 고딕"/>
                <a:ea typeface="맑은 고딕"/>
              </a:rPr>
              <a:t> </a:t>
            </a:r>
            <a:r>
              <a:rPr sz="750" b="0" i="0" dirty="0" err="1">
                <a:solidFill>
                  <a:srgbClr val="404040"/>
                </a:solidFill>
                <a:latin typeface="맑은 고딕"/>
                <a:ea typeface="맑은 고딕"/>
              </a:rPr>
              <a:t>덮어써지거나</a:t>
            </a:r>
            <a:r>
              <a:rPr sz="750" b="0" i="0" dirty="0">
                <a:solidFill>
                  <a:srgbClr val="404040"/>
                </a:solidFill>
                <a:latin typeface="맑은 고딕"/>
                <a:ea typeface="맑은 고딕"/>
              </a:rPr>
              <a:t> </a:t>
            </a:r>
            <a:r>
              <a:rPr sz="750" b="0" i="0" dirty="0" err="1">
                <a:solidFill>
                  <a:srgbClr val="404040"/>
                </a:solidFill>
                <a:latin typeface="맑은 고딕"/>
                <a:ea typeface="맑은 고딕"/>
              </a:rPr>
              <a:t>전달</a:t>
            </a:r>
            <a:r>
              <a:rPr sz="750" b="0" i="0" dirty="0">
                <a:solidFill>
                  <a:srgbClr val="404040"/>
                </a:solidFill>
                <a:latin typeface="맑은 고딕"/>
                <a:ea typeface="맑은 고딕"/>
              </a:rPr>
              <a:t> </a:t>
            </a:r>
            <a:r>
              <a:rPr sz="750" b="0" i="0" dirty="0" err="1">
                <a:solidFill>
                  <a:srgbClr val="404040"/>
                </a:solidFill>
                <a:latin typeface="맑은 고딕"/>
                <a:ea typeface="맑은 고딕"/>
              </a:rPr>
              <a:t>경로</a:t>
            </a:r>
            <a:r>
              <a:rPr sz="750" b="0" i="0" dirty="0">
                <a:solidFill>
                  <a:srgbClr val="404040"/>
                </a:solidFill>
                <a:latin typeface="맑은 고딕"/>
                <a:ea typeface="맑은 고딕"/>
              </a:rPr>
              <a:t> </a:t>
            </a:r>
            <a:r>
              <a:rPr sz="750" b="0" i="0" dirty="0" err="1">
                <a:solidFill>
                  <a:srgbClr val="404040"/>
                </a:solidFill>
                <a:latin typeface="맑은 고딕"/>
                <a:ea typeface="맑은 고딕"/>
              </a:rPr>
              <a:t>없음</a:t>
            </a:r>
            <a:endParaRPr sz="750" b="0" i="0" dirty="0">
              <a:solidFill>
                <a:srgbClr val="404040"/>
              </a:solidFill>
              <a:latin typeface="맑은 고딕"/>
              <a:ea typeface="맑은 고딕"/>
            </a:endParaRP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
        <p:nvSpPr>
          <p:cNvPr id="115" name="직사각형 114"/>
          <p:cNvSpPr/>
          <p:nvPr/>
        </p:nvSpPr>
        <p:spPr>
          <a:xfrm>
            <a:off x="6575824" y="39276"/>
            <a:ext cx="1335273" cy="46134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Extra DP</a:t>
            </a:r>
            <a:endParaRPr lang="ko-KR" altLang="en-US" dirty="0"/>
          </a:p>
        </p:txBody>
      </p:sp>
    </p:spTree>
    <p:extLst>
      <p:ext uri="{BB962C8B-B14F-4D97-AF65-F5344CB8AC3E}">
        <p14:creationId xmlns:p14="http://schemas.microsoft.com/office/powerpoint/2010/main" val="39878994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5166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254078">
                  <a:extLst>
                    <a:ext uri="{9D8B030D-6E8A-4147-A177-3AD203B41FA5}">
                      <a16:colId xmlns:a16="http://schemas.microsoft.com/office/drawing/2014/main" val="3070054508"/>
                    </a:ext>
                  </a:extLst>
                </a:gridCol>
                <a:gridCol w="218197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baseline="0" dirty="0"/>
                        <a:t>(1</a:t>
                      </a:r>
                      <a:r>
                        <a:rPr lang="ko-KR" altLang="en-US" sz="1200" b="1" strike="noStrike" baseline="0" dirty="0"/>
                        <a:t>안</a:t>
                      </a:r>
                      <a:r>
                        <a:rPr lang="en-US" altLang="ko-KR" sz="1200" b="1" strike="noStrike" baseline="0" dirty="0"/>
                        <a:t>) OSS </a:t>
                      </a:r>
                      <a:r>
                        <a:rPr lang="ko-KR" altLang="en-US" sz="1200" b="1" strike="noStrike" baseline="0" dirty="0"/>
                        <a:t>확장 구조 </a:t>
                      </a:r>
                      <a:r>
                        <a:rPr lang="en-US" altLang="ko-KR" sz="850" b="0" kern="1200" dirty="0">
                          <a:solidFill>
                            <a:srgbClr val="404040"/>
                          </a:solidFill>
                          <a:latin typeface="맑은 고딕"/>
                          <a:ea typeface="맑은 고딕"/>
                          <a:cs typeface="+mn-cs"/>
                        </a:rPr>
                        <a:t>(</a:t>
                      </a:r>
                      <a:r>
                        <a:rPr lang="en-US" altLang="ko-KR" sz="850" b="0" kern="1200" dirty="0" err="1">
                          <a:solidFill>
                            <a:srgbClr val="404040"/>
                          </a:solidFill>
                          <a:latin typeface="맑은 고딕"/>
                          <a:ea typeface="맑은 고딕"/>
                          <a:cs typeface="+mn-cs"/>
                        </a:rPr>
                        <a:t>llm</a:t>
                      </a:r>
                      <a:r>
                        <a:rPr lang="en-US" altLang="ko-KR" sz="850" b="0" kern="1200" dirty="0">
                          <a:solidFill>
                            <a:srgbClr val="404040"/>
                          </a:solidFill>
                          <a:latin typeface="맑은 고딕"/>
                          <a:ea typeface="맑은 고딕"/>
                          <a:cs typeface="+mn-cs"/>
                        </a:rPr>
                        <a:t>-d </a:t>
                      </a:r>
                      <a:r>
                        <a:rPr lang="ko-KR" altLang="en-US" sz="850" b="0" kern="1200" dirty="0">
                          <a:solidFill>
                            <a:srgbClr val="404040"/>
                          </a:solidFill>
                          <a:latin typeface="맑은 고딕"/>
                          <a:ea typeface="맑은 고딕"/>
                          <a:cs typeface="+mn-cs"/>
                        </a:rPr>
                        <a:t>기준</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기존 모듈 </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우리 확장</a:t>
                      </a:r>
                      <a:r>
                        <a:rPr lang="en-US" altLang="ko-KR" sz="850" b="0" kern="1200" dirty="0">
                          <a:solidFill>
                            <a:srgbClr val="404040"/>
                          </a:solidFill>
                          <a:latin typeface="맑은 고딕"/>
                          <a:ea typeface="맑은 고딕"/>
                          <a:cs typeface="+mn-cs"/>
                        </a:rPr>
                        <a:t>)</a:t>
                      </a:r>
                      <a:r>
                        <a:rPr lang="ko-KR" altLang="en-US" sz="850" b="0" kern="1200" dirty="0">
                          <a:solidFill>
                            <a:srgbClr val="404040"/>
                          </a:solidFill>
                          <a:latin typeface="맑은 고딕"/>
                          <a:ea typeface="맑은 고딕"/>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자체 구현 구조 </a:t>
                      </a:r>
                      <a:r>
                        <a:rPr lang="en-US" altLang="ko-KR" sz="850" b="0" kern="1200" dirty="0">
                          <a:solidFill>
                            <a:srgbClr val="404040"/>
                          </a:solidFill>
                          <a:latin typeface="맑은 고딕"/>
                          <a:ea typeface="맑은 고딕"/>
                          <a:cs typeface="+mn-cs"/>
                        </a:rPr>
                        <a:t>(Own Router: </a:t>
                      </a:r>
                      <a:r>
                        <a:rPr lang="ko-KR" altLang="en-US" sz="850" b="0" kern="1200" dirty="0" err="1">
                          <a:solidFill>
                            <a:srgbClr val="404040"/>
                          </a:solidFill>
                          <a:latin typeface="맑은 고딕"/>
                          <a:ea typeface="맑은 고딕"/>
                          <a:cs typeface="+mn-cs"/>
                        </a:rPr>
                        <a:t>계층형</a:t>
                      </a:r>
                      <a:r>
                        <a:rPr lang="ko-KR" altLang="en-US" sz="850" b="0" kern="1200" dirty="0">
                          <a:solidFill>
                            <a:srgbClr val="404040"/>
                          </a:solidFill>
                          <a:latin typeface="맑은 고딕"/>
                          <a:ea typeface="맑은 고딕"/>
                          <a:cs typeface="+mn-cs"/>
                        </a:rPr>
                        <a:t> </a:t>
                      </a:r>
                      <a:r>
                        <a:rPr lang="en-US" altLang="ko-KR" sz="850" b="0" kern="1200" dirty="0">
                          <a:solidFill>
                            <a:srgbClr val="404040"/>
                          </a:solidFill>
                          <a:latin typeface="맑은 고딕"/>
                          <a:ea typeface="맑은 고딕"/>
                          <a:cs typeface="+mn-cs"/>
                        </a:rPr>
                        <a:t>· </a:t>
                      </a:r>
                      <a:r>
                        <a:rPr lang="ko-KR" altLang="en-US" sz="850" b="0" kern="1200" dirty="0" err="1">
                          <a:solidFill>
                            <a:srgbClr val="404040"/>
                          </a:solidFill>
                          <a:latin typeface="맑은 고딕"/>
                          <a:ea typeface="맑은 고딕"/>
                          <a:cs typeface="+mn-cs"/>
                        </a:rPr>
                        <a:t>레플리카</a:t>
                      </a:r>
                      <a:r>
                        <a:rPr lang="ko-KR" altLang="en-US" sz="850" b="0" kern="1200" dirty="0">
                          <a:solidFill>
                            <a:srgbClr val="404040"/>
                          </a:solidFill>
                          <a:latin typeface="맑은 고딕"/>
                          <a:ea typeface="맑은 고딕"/>
                          <a:cs typeface="+mn-cs"/>
                        </a:rPr>
                        <a:t> 확장</a:t>
                      </a:r>
                      <a:r>
                        <a:rPr lang="en-US" altLang="ko-KR" sz="850" b="0" kern="1200" dirty="0">
                          <a:solidFill>
                            <a:srgbClr val="404040"/>
                          </a:solidFill>
                          <a:latin typeface="맑은 고딕"/>
                          <a:ea typeface="맑은 고딕"/>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383987">
                <a:tc>
                  <a:txBody>
                    <a:bodyPr/>
                    <a:lstStyle/>
                    <a:p>
                      <a:pPr algn="ctr" latinLnBrk="1"/>
                      <a:r>
                        <a:rPr lang="ko-KR" altLang="en-US" sz="1200">
                          <a:solidFill>
                            <a:schemeClr val="tx1">
                              <a:lumMod val="50000"/>
                              <a:lumOff val="50000"/>
                            </a:schemeClr>
                          </a:solidFill>
                        </a:rPr>
                        <a:t>구조</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검증된 </a:t>
                      </a:r>
                      <a:r>
                        <a:rPr lang="en-US" altLang="ko-KR" sz="1200" strike="noStrike" kern="1200" baseline="0" dirty="0">
                          <a:solidFill>
                            <a:schemeClr val="tx1"/>
                          </a:solidFill>
                          <a:effectLst/>
                          <a:latin typeface="+mn-lt"/>
                          <a:ea typeface="+mn-ea"/>
                          <a:cs typeface="+mn-cs"/>
                        </a:rPr>
                        <a:t>OSS </a:t>
                      </a:r>
                      <a:r>
                        <a:rPr lang="ko-KR" altLang="en-US" sz="1200" strike="noStrike" kern="1200" baseline="0" dirty="0">
                          <a:solidFill>
                            <a:schemeClr val="tx1"/>
                          </a:solidFill>
                          <a:effectLst/>
                          <a:latin typeface="+mn-lt"/>
                          <a:ea typeface="+mn-ea"/>
                          <a:cs typeface="+mn-cs"/>
                        </a:rPr>
                        <a:t>재사용</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경로</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인덱스</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흐름 제어</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구현</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유지 부담 적음</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신규 기능 재활용</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실제 서비스 관점 유리 </a:t>
                      </a:r>
                      <a:r>
                        <a:rPr lang="en-US" altLang="ko-KR" sz="1200" strike="noStrike" kern="1200" baseline="0" dirty="0">
                          <a:solidFill>
                            <a:schemeClr val="tx1"/>
                          </a:solidFill>
                          <a:effectLst/>
                          <a:latin typeface="+mn-lt"/>
                          <a:ea typeface="+mn-ea"/>
                          <a:cs typeface="+mn-cs"/>
                        </a:rPr>
                        <a:t>(Heavy </a:t>
                      </a:r>
                      <a:r>
                        <a:rPr lang="ko-KR" altLang="en-US" sz="1200" strike="noStrike" kern="1200" baseline="0" dirty="0">
                          <a:solidFill>
                            <a:schemeClr val="tx1"/>
                          </a:solidFill>
                          <a:effectLst/>
                          <a:latin typeface="+mn-lt"/>
                          <a:ea typeface="+mn-ea"/>
                          <a:cs typeface="+mn-cs"/>
                        </a:rPr>
                        <a:t>요청</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인증</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재시도 처리</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서버 증설 등 </a:t>
                      </a:r>
                      <a:r>
                        <a:rPr lang="en-US" altLang="ko-KR" sz="1200" strike="noStrike" kern="1200" baseline="0" dirty="0">
                          <a:solidFill>
                            <a:schemeClr val="tx1"/>
                          </a:solidFill>
                          <a:effectLst/>
                          <a:latin typeface="+mn-lt"/>
                          <a:ea typeface="+mn-ea"/>
                          <a:cs typeface="+mn-cs"/>
                        </a:rPr>
                        <a:t>)</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한 프로세스 내부 호출</a:t>
                      </a:r>
                      <a:r>
                        <a:rPr lang="en-US" altLang="ko-KR" sz="1200" strike="noStrike" baseline="0" dirty="0">
                          <a:solidFill>
                            <a:schemeClr val="tx1"/>
                          </a:solidFill>
                          <a:effectLst/>
                        </a:rPr>
                        <a:t> - </a:t>
                      </a:r>
                      <a:r>
                        <a:rPr lang="ko-KR" altLang="en-US" sz="1200" strike="noStrike" dirty="0">
                          <a:solidFill>
                            <a:schemeClr val="tx1"/>
                          </a:solidFill>
                          <a:effectLst/>
                        </a:rPr>
                        <a:t>원격 호출</a:t>
                      </a:r>
                      <a:r>
                        <a:rPr lang="en-US" altLang="ko-KR" sz="1200" strike="noStrike" dirty="0">
                          <a:solidFill>
                            <a:schemeClr val="tx1"/>
                          </a:solidFill>
                          <a:effectLst/>
                        </a:rPr>
                        <a:t>·</a:t>
                      </a:r>
                      <a:r>
                        <a:rPr lang="ko-KR" altLang="en-US" sz="1200" strike="noStrike" dirty="0">
                          <a:solidFill>
                            <a:schemeClr val="tx1"/>
                          </a:solidFill>
                          <a:effectLst/>
                        </a:rPr>
                        <a:t>보조 프로세스 경유 없음 </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비용 함수</a:t>
                      </a:r>
                      <a:r>
                        <a:rPr lang="en-US" altLang="ko-KR" sz="1200" strike="noStrike" dirty="0">
                          <a:solidFill>
                            <a:schemeClr val="tx1"/>
                          </a:solidFill>
                          <a:effectLst/>
                        </a:rPr>
                        <a:t>, P/D </a:t>
                      </a:r>
                      <a:r>
                        <a:rPr lang="ko-KR" altLang="en-US" sz="1200" strike="noStrike" dirty="0">
                          <a:solidFill>
                            <a:schemeClr val="tx1"/>
                          </a:solidFill>
                          <a:effectLst/>
                        </a:rPr>
                        <a:t>결정 정책 변경 용이</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시스템 </a:t>
                      </a:r>
                      <a:r>
                        <a:rPr lang="en-US" altLang="ko-KR" sz="1200" strike="noStrike" dirty="0">
                          <a:solidFill>
                            <a:schemeClr val="tx1"/>
                          </a:solidFill>
                          <a:effectLst/>
                        </a:rPr>
                        <a:t>POC </a:t>
                      </a:r>
                      <a:r>
                        <a:rPr lang="ko-KR" altLang="en-US" sz="1200" strike="noStrike" dirty="0">
                          <a:solidFill>
                            <a:schemeClr val="tx1"/>
                          </a:solidFill>
                          <a:effectLst/>
                        </a:rPr>
                        <a:t>관점 유리 </a:t>
                      </a:r>
                      <a:r>
                        <a:rPr lang="en-US" altLang="ko-KR" sz="1200" strike="noStrike" dirty="0">
                          <a:solidFill>
                            <a:schemeClr val="tx1"/>
                          </a:solidFill>
                          <a:effectLst/>
                        </a:rPr>
                        <a:t>(K8s·</a:t>
                      </a:r>
                      <a:r>
                        <a:rPr lang="ko-KR" altLang="en-US" sz="1200" strike="noStrike" dirty="0">
                          <a:solidFill>
                            <a:schemeClr val="tx1"/>
                          </a:solidFill>
                          <a:effectLst/>
                        </a:rPr>
                        <a:t>프록시 불필요</a:t>
                      </a:r>
                      <a:r>
                        <a:rPr lang="en-US" altLang="ko-KR" sz="1200" strike="noStrike" dirty="0">
                          <a:solidFill>
                            <a:schemeClr val="tx1"/>
                          </a:solidFill>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프로세스간 호출 및 경유를 통해 시간 증가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K8s, </a:t>
                      </a:r>
                      <a:r>
                        <a:rPr lang="ko-KR" altLang="en-US" sz="1200" strike="noStrike" baseline="0" dirty="0">
                          <a:solidFill>
                            <a:schemeClr val="tx1"/>
                          </a:solidFill>
                          <a:effectLst/>
                        </a:rPr>
                        <a:t>프록시로 인한 운영 부담</a:t>
                      </a:r>
                      <a:r>
                        <a:rPr lang="en-US" altLang="ko-KR" sz="1200" strike="noStrike" baseline="0" dirty="0">
                          <a:solidFill>
                            <a:schemeClr val="tx1"/>
                          </a:solidFill>
                          <a:effectLst/>
                        </a:rPr>
                        <a:t> </a:t>
                      </a:r>
                      <a:r>
                        <a:rPr lang="ko-KR" altLang="en-US" sz="1200" strike="noStrike" baseline="0" dirty="0">
                          <a:solidFill>
                            <a:schemeClr val="tx1"/>
                          </a:solidFill>
                          <a:effectLst/>
                        </a:rPr>
                        <a:t>및 </a:t>
                      </a:r>
                      <a:r>
                        <a:rPr lang="en-US" altLang="ko-KR" sz="1200" strike="noStrike" baseline="0" dirty="0">
                          <a:solidFill>
                            <a:schemeClr val="tx1"/>
                          </a:solidFill>
                          <a:effectLst/>
                        </a:rPr>
                        <a:t>OSS </a:t>
                      </a:r>
                      <a:r>
                        <a:rPr lang="ko-KR" altLang="en-US" sz="1200" strike="noStrike" baseline="0" dirty="0">
                          <a:solidFill>
                            <a:schemeClr val="tx1"/>
                          </a:solidFill>
                          <a:effectLst/>
                        </a:rPr>
                        <a:t>버전업 시 유지보수 부담</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Routing, Dispatching</a:t>
                      </a:r>
                      <a:r>
                        <a:rPr lang="ko-KR" altLang="en-US" sz="1200" strike="noStrike" baseline="0" dirty="0">
                          <a:solidFill>
                            <a:schemeClr val="tx1"/>
                          </a:solidFill>
                          <a:effectLst/>
                        </a:rPr>
                        <a:t>이 단일 프로세스 내 처리 </a:t>
                      </a:r>
                      <a:r>
                        <a:rPr lang="en-US" altLang="ko-KR" sz="1200" strike="noStrike" baseline="0" dirty="0">
                          <a:solidFill>
                            <a:schemeClr val="tx1"/>
                          </a:solidFill>
                          <a:effectLst/>
                        </a:rPr>
                        <a:t>-&gt; </a:t>
                      </a:r>
                      <a:r>
                        <a:rPr lang="ko-KR" altLang="en-US" sz="1200" strike="noStrike" baseline="0" dirty="0">
                          <a:solidFill>
                            <a:schemeClr val="tx1"/>
                          </a:solidFill>
                          <a:effectLst/>
                        </a:rPr>
                        <a:t>병목</a:t>
                      </a:r>
                      <a:r>
                        <a:rPr lang="en-US" altLang="ko-KR" sz="1200" strike="noStrike" baseline="0" dirty="0">
                          <a:solidFill>
                            <a:schemeClr val="tx1"/>
                          </a:solidFill>
                          <a:effectLst/>
                        </a:rPr>
                        <a:t>, </a:t>
                      </a:r>
                      <a:r>
                        <a:rPr lang="ko-KR" altLang="en-US" sz="1200" strike="noStrike" baseline="0" dirty="0">
                          <a:solidFill>
                            <a:schemeClr val="tx1"/>
                          </a:solidFill>
                          <a:effectLst/>
                        </a:rPr>
                        <a:t>장애</a:t>
                      </a:r>
                      <a:r>
                        <a:rPr lang="en-US" altLang="ko-KR" sz="1200" strike="noStrike" baseline="0" dirty="0">
                          <a:solidFill>
                            <a:schemeClr val="tx1"/>
                          </a:solidFill>
                          <a:effectLst/>
                        </a:rPr>
                        <a:t>(SPOF) </a:t>
                      </a:r>
                      <a:r>
                        <a:rPr lang="ko-KR" altLang="en-US" sz="1200" strike="noStrike" baseline="0" dirty="0">
                          <a:solidFill>
                            <a:schemeClr val="tx1"/>
                          </a:solidFill>
                          <a:effectLst/>
                        </a:rPr>
                        <a:t>위험</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각 </a:t>
                      </a:r>
                      <a:r>
                        <a:rPr lang="ko-KR" altLang="en-US" sz="1200" strike="noStrike" baseline="0" dirty="0" err="1">
                          <a:solidFill>
                            <a:schemeClr val="tx1"/>
                          </a:solidFill>
                          <a:effectLst/>
                        </a:rPr>
                        <a:t>레플리카가</a:t>
                      </a:r>
                      <a:r>
                        <a:rPr lang="ko-KR" altLang="en-US" sz="1200" strike="noStrike" baseline="0" dirty="0">
                          <a:solidFill>
                            <a:schemeClr val="tx1"/>
                          </a:solidFill>
                          <a:effectLst/>
                        </a:rPr>
                        <a:t> 전체 서버의 </a:t>
                      </a:r>
                      <a:r>
                        <a:rPr lang="en-US" altLang="ko-KR" sz="1200" strike="noStrike" baseline="0" dirty="0">
                          <a:solidFill>
                            <a:schemeClr val="tx1"/>
                          </a:solidFill>
                          <a:effectLst/>
                        </a:rPr>
                        <a:t>State</a:t>
                      </a:r>
                      <a:r>
                        <a:rPr lang="ko-KR" altLang="en-US" sz="1200" strike="noStrike" baseline="0" dirty="0">
                          <a:solidFill>
                            <a:schemeClr val="tx1"/>
                          </a:solidFill>
                          <a:effectLst/>
                        </a:rPr>
                        <a:t>를 처리하므로 서버 </a:t>
                      </a:r>
                      <a:r>
                        <a:rPr lang="ko-KR" altLang="en-US" sz="1200" strike="noStrike" baseline="0" dirty="0" err="1">
                          <a:solidFill>
                            <a:schemeClr val="tx1"/>
                          </a:solidFill>
                          <a:effectLst/>
                        </a:rPr>
                        <a:t>확장시</a:t>
                      </a:r>
                      <a:r>
                        <a:rPr lang="ko-KR" altLang="en-US" sz="1200" strike="noStrike" baseline="0" dirty="0">
                          <a:solidFill>
                            <a:schemeClr val="tx1"/>
                          </a:solidFill>
                          <a:effectLst/>
                        </a:rPr>
                        <a:t> 갱신 부하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 (Scaling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9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10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baseline="0"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8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10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162</a:t>
            </a:fld>
            <a:endParaRPr lang="ko-KR" altLang="en-US" dirty="0"/>
          </a:p>
        </p:txBody>
      </p:sp>
      <p:sp>
        <p:nvSpPr>
          <p:cNvPr id="3" name="제목 2"/>
          <p:cNvSpPr>
            <a:spLocks noGrp="1"/>
          </p:cNvSpPr>
          <p:nvPr>
            <p:ph type="title"/>
          </p:nvPr>
        </p:nvSpPr>
        <p:spPr/>
        <p:txBody>
          <a:bodyPr/>
          <a:lstStyle/>
          <a:p>
            <a:r>
              <a:rPr lang="en-US" altLang="ko-KR" dirty="0"/>
              <a:t>DP5. </a:t>
            </a:r>
            <a:r>
              <a:rPr lang="ko-KR" altLang="en-US" dirty="0"/>
              <a:t>다중 서버 간 </a:t>
            </a:r>
            <a:r>
              <a:rPr lang="en-US" altLang="ko-KR" dirty="0" err="1"/>
              <a:t>요청</a:t>
            </a:r>
            <a:r>
              <a:rPr lang="en-US" altLang="ko-KR" dirty="0"/>
              <a:t> </a:t>
            </a:r>
            <a:r>
              <a:rPr lang="en-US" altLang="ko-KR" dirty="0" err="1"/>
              <a:t>조율</a:t>
            </a:r>
            <a:r>
              <a:rPr lang="en-US" altLang="ko-KR" dirty="0"/>
              <a:t> (Orchestration) </a:t>
            </a:r>
            <a:r>
              <a:rPr lang="ko-KR" altLang="en-US" dirty="0"/>
              <a:t>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요청을 어떤 서버로 전달할 것인가</a:t>
            </a:r>
            <a:r>
              <a:rPr lang="en-US" altLang="ko-KR" sz="1400" b="1" dirty="0">
                <a:solidFill>
                  <a:schemeClr val="bg1"/>
                </a:solidFill>
              </a:rPr>
              <a:t>(</a:t>
            </a:r>
            <a:r>
              <a:rPr lang="ko-KR" altLang="en-US" sz="1400" b="1" dirty="0">
                <a:solidFill>
                  <a:schemeClr val="bg1"/>
                </a:solidFill>
              </a:rPr>
              <a:t>요청 조율</a:t>
            </a:r>
            <a:r>
              <a:rPr lang="en-US" altLang="ko-KR" sz="1400" b="1" dirty="0">
                <a:solidFill>
                  <a:schemeClr val="bg1"/>
                </a:solidFill>
              </a:rPr>
              <a:t>)</a:t>
            </a:r>
            <a:r>
              <a:rPr lang="ko-KR" altLang="en-US" sz="1400" b="1" dirty="0">
                <a:solidFill>
                  <a:schemeClr val="bg1"/>
                </a:solidFill>
              </a:rPr>
              <a:t>를 담당하는 계층 설계</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ko-KR" altLang="en-US" sz="1100" dirty="0">
                <a:solidFill>
                  <a:srgbClr val="404040"/>
                </a:solidFill>
                <a:ea typeface="맑은 고딕"/>
              </a:rPr>
              <a:t>“검증된 </a:t>
            </a:r>
            <a:r>
              <a:rPr lang="en-US" altLang="ko-KR" sz="1100" dirty="0">
                <a:solidFill>
                  <a:srgbClr val="404040"/>
                </a:solidFill>
                <a:ea typeface="맑은 고딕"/>
              </a:rPr>
              <a:t>OSS </a:t>
            </a:r>
            <a:r>
              <a:rPr lang="ko-KR" altLang="en-US" sz="1100" dirty="0">
                <a:solidFill>
                  <a:srgbClr val="404040"/>
                </a:solidFill>
                <a:ea typeface="맑은 고딕"/>
              </a:rPr>
              <a:t>위에 설정</a:t>
            </a:r>
            <a:r>
              <a:rPr lang="en-US" altLang="ko-KR" sz="1100" dirty="0">
                <a:solidFill>
                  <a:srgbClr val="404040"/>
                </a:solidFill>
                <a:ea typeface="맑은 고딕"/>
              </a:rPr>
              <a:t>·</a:t>
            </a:r>
            <a:r>
              <a:rPr lang="ko-KR" altLang="en-US" sz="1100" dirty="0">
                <a:solidFill>
                  <a:srgbClr val="404040"/>
                </a:solidFill>
                <a:ea typeface="맑은 고딕"/>
              </a:rPr>
              <a:t>확장 모듈</a:t>
            </a:r>
            <a:r>
              <a:rPr lang="en-US" altLang="ko-KR" sz="1100" dirty="0">
                <a:solidFill>
                  <a:srgbClr val="404040"/>
                </a:solidFill>
                <a:ea typeface="맑은 고딕"/>
              </a:rPr>
              <a:t>(plugin)</a:t>
            </a:r>
            <a:r>
              <a:rPr lang="ko-KR" altLang="en-US" sz="1100" dirty="0">
                <a:solidFill>
                  <a:srgbClr val="404040"/>
                </a:solidFill>
                <a:ea typeface="맑은 고딕"/>
              </a:rPr>
              <a:t>로 이기종 메모리 인지 정책을 얹는 구조”</a:t>
            </a:r>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ko-KR" altLang="en-US" sz="1100" dirty="0">
                <a:solidFill>
                  <a:srgbClr val="404040"/>
                </a:solidFill>
                <a:ea typeface="맑은 고딕"/>
              </a:rPr>
              <a:t>“</a:t>
            </a:r>
            <a:r>
              <a:rPr lang="en-US" altLang="ko-KR" sz="1100" dirty="0">
                <a:solidFill>
                  <a:srgbClr val="404040"/>
                </a:solidFill>
                <a:ea typeface="맑은 고딕"/>
              </a:rPr>
              <a:t>Routing, Dispatching</a:t>
            </a:r>
            <a:r>
              <a:rPr lang="ko-KR" altLang="en-US" sz="1100" dirty="0">
                <a:solidFill>
                  <a:srgbClr val="404040"/>
                </a:solidFill>
                <a:ea typeface="맑은 고딕"/>
              </a:rPr>
              <a:t>을 한 프로세스에 모아 호출 경로를 줄이고</a:t>
            </a:r>
            <a:r>
              <a:rPr lang="en-US" altLang="ko-KR" sz="1100" dirty="0">
                <a:solidFill>
                  <a:srgbClr val="404040"/>
                </a:solidFill>
                <a:ea typeface="맑은 고딕"/>
              </a:rPr>
              <a:t>, </a:t>
            </a:r>
            <a:r>
              <a:rPr lang="ko-KR" altLang="en-US" sz="1100" dirty="0" err="1">
                <a:solidFill>
                  <a:srgbClr val="404040"/>
                </a:solidFill>
                <a:ea typeface="맑은 고딕"/>
              </a:rPr>
              <a:t>레플리카로</a:t>
            </a:r>
            <a:r>
              <a:rPr lang="ko-KR" altLang="en-US" sz="1100" dirty="0">
                <a:solidFill>
                  <a:srgbClr val="404040"/>
                </a:solidFill>
                <a:ea typeface="맑은 고딕"/>
              </a:rPr>
              <a:t> 늘리는 구조”</a:t>
            </a:r>
          </a:p>
        </p:txBody>
      </p:sp>
      <p:sp>
        <p:nvSpPr>
          <p:cNvPr id="546" name="실행 단추: 앞으로 또는 다음 545">
            <a:hlinkClick r:id="rId3" action="ppaction://hlinksldjump" highlightClick="1"/>
          </p:cNvPr>
          <p:cNvSpPr/>
          <p:nvPr/>
        </p:nvSpPr>
        <p:spPr>
          <a:xfrm>
            <a:off x="508836" y="326921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Rectangle 172"/>
          <p:cNvSpPr/>
          <p:nvPr/>
        </p:nvSpPr>
        <p:spPr>
          <a:xfrm>
            <a:off x="7337372" y="1782134"/>
            <a:ext cx="3566160" cy="2570877"/>
          </a:xfrm>
          <a:prstGeom prst="rect">
            <a:avLst/>
          </a:prstGeom>
          <a:solidFill>
            <a:srgbClr val="FFFFFF"/>
          </a:solidFill>
          <a:ln w="19050">
            <a:solidFill>
              <a:srgbClr val="C55A11"/>
            </a:solidFill>
          </a:ln>
          <a:effectLst/>
        </p:spPr>
        <p:txBody>
          <a:bodyPr rtlCol="0" anchor="ctr"/>
          <a:lstStyle/>
          <a:p>
            <a:pPr algn="ctr"/>
            <a:endParaRPr/>
          </a:p>
        </p:txBody>
      </p:sp>
      <p:sp>
        <p:nvSpPr>
          <p:cNvPr id="87" name="Rectangle 172"/>
          <p:cNvSpPr/>
          <p:nvPr/>
        </p:nvSpPr>
        <p:spPr>
          <a:xfrm>
            <a:off x="7293028" y="1814280"/>
            <a:ext cx="3566160" cy="2598429"/>
          </a:xfrm>
          <a:prstGeom prst="rect">
            <a:avLst/>
          </a:prstGeom>
          <a:solidFill>
            <a:srgbClr val="FFFFFF"/>
          </a:solidFill>
          <a:ln w="19050">
            <a:solidFill>
              <a:srgbClr val="C55A11"/>
            </a:solidFill>
          </a:ln>
          <a:effectLst/>
        </p:spPr>
        <p:txBody>
          <a:bodyPr rtlCol="0" anchor="ctr"/>
          <a:lstStyle/>
          <a:p>
            <a:pPr algn="ctr"/>
            <a:endParaRPr/>
          </a:p>
        </p:txBody>
      </p:sp>
      <p:cxnSp>
        <p:nvCxnSpPr>
          <p:cNvPr id="88" name="Connector 111"/>
          <p:cNvCxnSpPr/>
          <p:nvPr/>
        </p:nvCxnSpPr>
        <p:spPr>
          <a:xfrm>
            <a:off x="2103120" y="2861199"/>
            <a:ext cx="2971800" cy="0"/>
          </a:xfrm>
          <a:prstGeom prst="line">
            <a:avLst/>
          </a:prstGeom>
          <a:ln w="12700">
            <a:solidFill>
              <a:srgbClr val="404040"/>
            </a:solidFill>
            <a:tailEnd type="triangle"/>
          </a:ln>
        </p:spPr>
      </p:cxnSp>
      <p:sp>
        <p:nvSpPr>
          <p:cNvPr id="89" name="Rectangle 112"/>
          <p:cNvSpPr/>
          <p:nvPr/>
        </p:nvSpPr>
        <p:spPr>
          <a:xfrm>
            <a:off x="1234440" y="182792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90" name="Rectangle 113"/>
          <p:cNvSpPr/>
          <p:nvPr/>
        </p:nvSpPr>
        <p:spPr>
          <a:xfrm>
            <a:off x="1188719" y="2312559"/>
            <a:ext cx="973835" cy="640080"/>
          </a:xfrm>
          <a:prstGeom prst="rect">
            <a:avLst/>
          </a:prstGeom>
          <a:solidFill>
            <a:srgbClr val="FFFFFF"/>
          </a:solidFill>
          <a:ln w="15875">
            <a:solidFill>
              <a:srgbClr val="2E75B6"/>
            </a:solidFill>
          </a:ln>
          <a:effectLst/>
        </p:spPr>
        <p:txBody>
          <a:bodyPr rtlCol="0" anchor="ctr"/>
          <a:lstStyle/>
          <a:p>
            <a:pPr algn="ctr"/>
            <a:endParaRPr/>
          </a:p>
        </p:txBody>
      </p:sp>
      <p:sp>
        <p:nvSpPr>
          <p:cNvPr id="91" name="Rectangle 114"/>
          <p:cNvSpPr/>
          <p:nvPr/>
        </p:nvSpPr>
        <p:spPr>
          <a:xfrm>
            <a:off x="1188720" y="2312559"/>
            <a:ext cx="96012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a:t>
            </a:r>
            <a:r>
              <a:rPr lang="en-US" sz="800" b="1" dirty="0">
                <a:solidFill>
                  <a:srgbClr val="FFFFFF"/>
                </a:solidFill>
                <a:latin typeface="맑은 고딕"/>
                <a:ea typeface="맑은 고딕"/>
              </a:rPr>
              <a:t>process</a:t>
            </a:r>
            <a:r>
              <a:rPr sz="800" b="1" dirty="0">
                <a:solidFill>
                  <a:srgbClr val="FFFFFF"/>
                </a:solidFill>
                <a:latin typeface="맑은 고딕"/>
                <a:ea typeface="맑은 고딕"/>
              </a:rPr>
              <a:t>» </a:t>
            </a:r>
            <a:r>
              <a:rPr sz="800" b="1" dirty="0" err="1">
                <a:solidFill>
                  <a:srgbClr val="FFFFFF"/>
                </a:solidFill>
                <a:latin typeface="맑은 고딕"/>
                <a:ea typeface="맑은 고딕"/>
              </a:rPr>
              <a:t>프록시</a:t>
            </a:r>
            <a:endParaRPr sz="800" b="1" dirty="0">
              <a:solidFill>
                <a:srgbClr val="FFFFFF"/>
              </a:solidFill>
              <a:latin typeface="맑은 고딕"/>
              <a:ea typeface="맑은 고딕"/>
            </a:endParaRPr>
          </a:p>
        </p:txBody>
      </p:sp>
      <p:sp>
        <p:nvSpPr>
          <p:cNvPr id="92" name="Rectangle 123"/>
          <p:cNvSpPr/>
          <p:nvPr/>
        </p:nvSpPr>
        <p:spPr>
          <a:xfrm>
            <a:off x="2395728" y="1855359"/>
            <a:ext cx="2395728" cy="2583351"/>
          </a:xfrm>
          <a:prstGeom prst="rect">
            <a:avLst/>
          </a:prstGeom>
          <a:solidFill>
            <a:srgbClr val="FFFFFF"/>
          </a:solidFill>
          <a:ln w="15875">
            <a:solidFill>
              <a:srgbClr val="2F5597"/>
            </a:solidFill>
          </a:ln>
          <a:effectLst/>
        </p:spPr>
        <p:txBody>
          <a:bodyPr rtlCol="0" anchor="ctr"/>
          <a:lstStyle/>
          <a:p>
            <a:pPr algn="ctr"/>
            <a:endParaRPr/>
          </a:p>
        </p:txBody>
      </p:sp>
      <p:sp>
        <p:nvSpPr>
          <p:cNvPr id="93" name="Rectangle 124"/>
          <p:cNvSpPr/>
          <p:nvPr/>
        </p:nvSpPr>
        <p:spPr>
          <a:xfrm>
            <a:off x="2395728" y="1855359"/>
            <a:ext cx="2395728" cy="173736"/>
          </a:xfrm>
          <a:prstGeom prst="rect">
            <a:avLst/>
          </a:prstGeom>
          <a:solidFill>
            <a:srgbClr val="2F5597"/>
          </a:solidFill>
          <a:ln w="12700">
            <a:solidFill>
              <a:srgbClr val="2F5597"/>
            </a:solidFill>
          </a:ln>
          <a:effectLst/>
        </p:spPr>
        <p:txBody>
          <a:bodyPr wrap="square" lIns="45720" tIns="0" rIns="18288" bIns="0" rtlCol="0" anchor="ctr"/>
          <a:lstStyle/>
          <a:p>
            <a:pPr algn="l"/>
            <a:r>
              <a:rPr sz="800" b="1" dirty="0">
                <a:solidFill>
                  <a:srgbClr val="FFFFFF"/>
                </a:solidFill>
                <a:latin typeface="맑은 고딕"/>
                <a:ea typeface="맑은 고딕"/>
              </a:rPr>
              <a:t>«process» Router  (</a:t>
            </a:r>
            <a:r>
              <a:rPr sz="800" b="1" dirty="0" err="1">
                <a:solidFill>
                  <a:srgbClr val="FFFFFF"/>
                </a:solidFill>
                <a:latin typeface="맑은 고딕"/>
                <a:ea typeface="맑은 고딕"/>
              </a:rPr>
              <a:t>llm</a:t>
            </a:r>
            <a:r>
              <a:rPr sz="800" b="1" dirty="0">
                <a:solidFill>
                  <a:srgbClr val="FFFFFF"/>
                </a:solidFill>
                <a:latin typeface="맑은 고딕"/>
                <a:ea typeface="맑은 고딕"/>
              </a:rPr>
              <a:t>-d </a:t>
            </a:r>
            <a:r>
              <a:rPr sz="800" b="1" dirty="0" err="1">
                <a:solidFill>
                  <a:srgbClr val="FFFFFF"/>
                </a:solidFill>
                <a:latin typeface="맑은 고딕"/>
                <a:ea typeface="맑은 고딕"/>
              </a:rPr>
              <a:t>기준</a:t>
            </a:r>
            <a:r>
              <a:rPr sz="800" b="1" dirty="0">
                <a:solidFill>
                  <a:srgbClr val="FFFFFF"/>
                </a:solidFill>
                <a:latin typeface="맑은 고딕"/>
                <a:ea typeface="맑은 고딕"/>
              </a:rPr>
              <a:t>)</a:t>
            </a:r>
          </a:p>
        </p:txBody>
      </p:sp>
      <p:sp>
        <p:nvSpPr>
          <p:cNvPr id="94" name="Rectangle 125"/>
          <p:cNvSpPr/>
          <p:nvPr/>
        </p:nvSpPr>
        <p:spPr>
          <a:xfrm>
            <a:off x="2619756" y="210224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핸들러</a:t>
            </a:r>
            <a:endParaRPr sz="750" b="1" dirty="0">
              <a:solidFill>
                <a:srgbClr val="000000"/>
              </a:solidFill>
              <a:latin typeface="맑은 고딕"/>
              <a:ea typeface="맑은 고딕"/>
            </a:endParaRPr>
          </a:p>
        </p:txBody>
      </p:sp>
      <p:sp>
        <p:nvSpPr>
          <p:cNvPr id="95" name="Rectangle 126"/>
          <p:cNvSpPr/>
          <p:nvPr/>
        </p:nvSpPr>
        <p:spPr>
          <a:xfrm>
            <a:off x="2574036" y="217905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6" name="Rectangle 127"/>
          <p:cNvSpPr/>
          <p:nvPr/>
        </p:nvSpPr>
        <p:spPr>
          <a:xfrm>
            <a:off x="2574036" y="229427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9" name="Rectangle 132"/>
          <p:cNvSpPr/>
          <p:nvPr/>
        </p:nvSpPr>
        <p:spPr>
          <a:xfrm>
            <a:off x="2468880" y="2632599"/>
            <a:ext cx="1426464" cy="1677957"/>
          </a:xfrm>
          <a:prstGeom prst="rect">
            <a:avLst/>
          </a:prstGeom>
          <a:solidFill>
            <a:srgbClr val="FFFFFF"/>
          </a:solidFill>
          <a:ln w="12700">
            <a:solidFill>
              <a:srgbClr val="2F5597"/>
            </a:solidFill>
          </a:ln>
          <a:effectLst/>
        </p:spPr>
        <p:txBody>
          <a:bodyPr rtlCol="0" anchor="ctr"/>
          <a:lstStyle/>
          <a:p>
            <a:pPr algn="ctr"/>
            <a:endParaRPr/>
          </a:p>
        </p:txBody>
      </p:sp>
      <p:sp>
        <p:nvSpPr>
          <p:cNvPr id="100" name="Rectangle 133"/>
          <p:cNvSpPr/>
          <p:nvPr/>
        </p:nvSpPr>
        <p:spPr>
          <a:xfrm>
            <a:off x="2468880" y="2632599"/>
            <a:ext cx="142646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Scheduler</a:t>
            </a:r>
          </a:p>
        </p:txBody>
      </p:sp>
      <p:sp>
        <p:nvSpPr>
          <p:cNvPr id="102" name="Rectangle 135"/>
          <p:cNvSpPr/>
          <p:nvPr/>
        </p:nvSpPr>
        <p:spPr>
          <a:xfrm>
            <a:off x="2542032" y="2898744"/>
            <a:ext cx="1280160" cy="38125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50" b="1" dirty="0">
                <a:solidFill>
                  <a:srgbClr val="000000"/>
                </a:solidFill>
                <a:latin typeface="맑은 고딕"/>
                <a:ea typeface="맑은 고딕"/>
              </a:rPr>
              <a:t>Score</a:t>
            </a:r>
            <a:r>
              <a:rPr lang="en-US" sz="750" b="1" dirty="0">
                <a:solidFill>
                  <a:srgbClr val="000000"/>
                </a:solidFill>
                <a:latin typeface="맑은 고딕"/>
                <a:ea typeface="맑은 고딕"/>
              </a:rPr>
              <a:t>r</a:t>
            </a:r>
          </a:p>
          <a:p>
            <a:pPr algn="ctr"/>
            <a:r>
              <a:rPr lang="ko-KR" altLang="en-US" sz="750" dirty="0">
                <a:solidFill>
                  <a:srgbClr val="000000"/>
                </a:solidFill>
                <a:ea typeface="맑은 고딕"/>
              </a:rPr>
              <a:t>비용 기반 점수</a:t>
            </a:r>
          </a:p>
        </p:txBody>
      </p:sp>
      <p:sp>
        <p:nvSpPr>
          <p:cNvPr id="103" name="Rectangle 136"/>
          <p:cNvSpPr/>
          <p:nvPr/>
        </p:nvSpPr>
        <p:spPr>
          <a:xfrm>
            <a:off x="2542032" y="3348646"/>
            <a:ext cx="1280160" cy="39296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ea typeface="맑은 고딕"/>
              </a:rPr>
              <a:t>P/D </a:t>
            </a:r>
            <a:r>
              <a:rPr lang="ko-KR" altLang="en-US" sz="750" b="1" dirty="0">
                <a:solidFill>
                  <a:srgbClr val="000000"/>
                </a:solidFill>
                <a:ea typeface="맑은 고딕"/>
              </a:rPr>
              <a:t>결정 모듈</a:t>
            </a:r>
            <a:endParaRPr lang="en-US" altLang="ko-KR" sz="750" b="1" dirty="0">
              <a:solidFill>
                <a:srgbClr val="000000"/>
              </a:solidFill>
              <a:ea typeface="맑은 고딕"/>
            </a:endParaRPr>
          </a:p>
          <a:p>
            <a:pPr algn="ctr"/>
            <a:r>
              <a:rPr lang="ko-KR" altLang="en-US" sz="750" dirty="0">
                <a:solidFill>
                  <a:srgbClr val="000000"/>
                </a:solidFill>
                <a:ea typeface="맑은 고딕"/>
              </a:rPr>
              <a:t>점수 기반 </a:t>
            </a:r>
            <a:r>
              <a:rPr lang="en-US" altLang="ko-KR" sz="750" dirty="0">
                <a:solidFill>
                  <a:srgbClr val="000000"/>
                </a:solidFill>
                <a:ea typeface="맑은 고딕"/>
              </a:rPr>
              <a:t>P/D </a:t>
            </a:r>
            <a:r>
              <a:rPr lang="ko-KR" altLang="en-US" sz="750" dirty="0">
                <a:solidFill>
                  <a:srgbClr val="000000"/>
                </a:solidFill>
                <a:ea typeface="맑은 고딕"/>
              </a:rPr>
              <a:t>결정</a:t>
            </a:r>
          </a:p>
        </p:txBody>
      </p:sp>
      <p:cxnSp>
        <p:nvCxnSpPr>
          <p:cNvPr id="104" name="Connector 138"/>
          <p:cNvCxnSpPr/>
          <p:nvPr/>
        </p:nvCxnSpPr>
        <p:spPr>
          <a:xfrm>
            <a:off x="3840480" y="2486295"/>
            <a:ext cx="0" cy="146304"/>
          </a:xfrm>
          <a:prstGeom prst="line">
            <a:avLst/>
          </a:prstGeom>
          <a:ln w="15875">
            <a:solidFill>
              <a:srgbClr val="404040"/>
            </a:solidFill>
            <a:tailEnd type="triangle"/>
          </a:ln>
        </p:spPr>
      </p:cxnSp>
      <p:sp>
        <p:nvSpPr>
          <p:cNvPr id="105" name="Rectangle 139"/>
          <p:cNvSpPr/>
          <p:nvPr/>
        </p:nvSpPr>
        <p:spPr>
          <a:xfrm>
            <a:off x="4023360" y="2632599"/>
            <a:ext cx="713232" cy="1677957"/>
          </a:xfrm>
          <a:prstGeom prst="rect">
            <a:avLst/>
          </a:prstGeom>
          <a:solidFill>
            <a:srgbClr val="FFFFFF"/>
          </a:solidFill>
          <a:ln w="12700">
            <a:solidFill>
              <a:srgbClr val="2F5597"/>
            </a:solidFill>
          </a:ln>
          <a:effectLst/>
        </p:spPr>
        <p:txBody>
          <a:bodyPr rtlCol="0" anchor="ctr"/>
          <a:lstStyle/>
          <a:p>
            <a:pPr algn="ctr"/>
            <a:endParaRPr/>
          </a:p>
        </p:txBody>
      </p:sp>
      <p:sp>
        <p:nvSpPr>
          <p:cNvPr id="107" name="Rectangle 140"/>
          <p:cNvSpPr/>
          <p:nvPr/>
        </p:nvSpPr>
        <p:spPr>
          <a:xfrm>
            <a:off x="4023360" y="2632599"/>
            <a:ext cx="713232" cy="173736"/>
          </a:xfrm>
          <a:prstGeom prst="rect">
            <a:avLst/>
          </a:prstGeom>
          <a:solidFill>
            <a:srgbClr val="2F5597"/>
          </a:solidFill>
          <a:ln w="12700">
            <a:solidFill>
              <a:srgbClr val="2F5597"/>
            </a:solidFill>
          </a:ln>
          <a:effectLst/>
        </p:spPr>
        <p:txBody>
          <a:bodyPr wrap="square" lIns="27432" tIns="0" rIns="0" bIns="0" rtlCol="0" anchor="ctr"/>
          <a:lstStyle/>
          <a:p>
            <a:pPr algn="l"/>
            <a:r>
              <a:rPr sz="700" b="1" dirty="0" err="1">
                <a:solidFill>
                  <a:srgbClr val="FFFFFF"/>
                </a:solidFill>
                <a:latin typeface="맑은 고딕"/>
                <a:ea typeface="맑은 고딕"/>
              </a:rPr>
              <a:t>상태</a:t>
            </a:r>
            <a:r>
              <a:rPr sz="700" b="1" dirty="0">
                <a:solidFill>
                  <a:srgbClr val="FFFFFF"/>
                </a:solidFill>
                <a:latin typeface="맑은 고딕"/>
                <a:ea typeface="맑은 고딕"/>
              </a:rPr>
              <a:t> </a:t>
            </a:r>
            <a:r>
              <a:rPr sz="700" b="1" dirty="0" err="1">
                <a:solidFill>
                  <a:srgbClr val="FFFFFF"/>
                </a:solidFill>
                <a:latin typeface="맑은 고딕"/>
                <a:ea typeface="맑은 고딕"/>
              </a:rPr>
              <a:t>계층</a:t>
            </a:r>
            <a:endParaRPr sz="700" b="1" dirty="0">
              <a:solidFill>
                <a:srgbClr val="FFFFFF"/>
              </a:solidFill>
              <a:latin typeface="맑은 고딕"/>
              <a:ea typeface="맑은 고딕"/>
            </a:endParaRPr>
          </a:p>
        </p:txBody>
      </p:sp>
      <p:sp>
        <p:nvSpPr>
          <p:cNvPr id="108" name="Rectangle 141"/>
          <p:cNvSpPr/>
          <p:nvPr/>
        </p:nvSpPr>
        <p:spPr>
          <a:xfrm>
            <a:off x="4069080" y="2900536"/>
            <a:ext cx="621792" cy="343501"/>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a:solidFill>
                  <a:srgbClr val="000000"/>
                </a:solidFill>
                <a:latin typeface="맑은 고딕"/>
                <a:ea typeface="맑은 고딕"/>
              </a:rPr>
              <a:t>KV Indexer</a:t>
            </a:r>
          </a:p>
        </p:txBody>
      </p:sp>
      <p:sp>
        <p:nvSpPr>
          <p:cNvPr id="109" name="Rectangle 142"/>
          <p:cNvSpPr/>
          <p:nvPr/>
        </p:nvSpPr>
        <p:spPr>
          <a:xfrm>
            <a:off x="4069080" y="333329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메모리</a:t>
            </a:r>
            <a:r>
              <a:rPr sz="650" b="0" dirty="0">
                <a:solidFill>
                  <a:srgbClr val="000000"/>
                </a:solidFill>
                <a:latin typeface="맑은 고딕"/>
                <a:ea typeface="맑은 고딕"/>
              </a:rPr>
              <a:t> </a:t>
            </a:r>
            <a:r>
              <a:rPr sz="650" b="0" dirty="0" err="1">
                <a:solidFill>
                  <a:srgbClr val="000000"/>
                </a:solidFill>
                <a:latin typeface="맑은 고딕"/>
                <a:ea typeface="맑은 고딕"/>
              </a:rPr>
              <a:t>종류</a:t>
            </a:r>
            <a:r>
              <a:rPr sz="650" b="0" dirty="0">
                <a:solidFill>
                  <a:srgbClr val="000000"/>
                </a:solidFill>
                <a:latin typeface="맑은 고딕"/>
                <a:ea typeface="맑은 고딕"/>
              </a:rPr>
              <a:t> </a:t>
            </a:r>
            <a:r>
              <a:rPr sz="650" b="0" dirty="0" err="1">
                <a:solidFill>
                  <a:srgbClr val="000000"/>
                </a:solidFill>
                <a:latin typeface="맑은 고딕"/>
                <a:ea typeface="맑은 고딕"/>
              </a:rPr>
              <a:t>가중치</a:t>
            </a:r>
            <a:endParaRPr sz="650" b="0" dirty="0">
              <a:solidFill>
                <a:srgbClr val="000000"/>
              </a:solidFill>
              <a:latin typeface="맑은 고딕"/>
              <a:ea typeface="맑은 고딕"/>
            </a:endParaRPr>
          </a:p>
        </p:txBody>
      </p:sp>
      <p:sp>
        <p:nvSpPr>
          <p:cNvPr id="110" name="Rectangle 143"/>
          <p:cNvSpPr/>
          <p:nvPr/>
        </p:nvSpPr>
        <p:spPr>
          <a:xfrm>
            <a:off x="4069080" y="382428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실시간</a:t>
            </a:r>
            <a:r>
              <a:rPr sz="650" b="0" dirty="0">
                <a:solidFill>
                  <a:srgbClr val="000000"/>
                </a:solidFill>
                <a:latin typeface="맑은 고딕"/>
                <a:ea typeface="맑은 고딕"/>
              </a:rPr>
              <a:t> </a:t>
            </a:r>
            <a:r>
              <a:rPr sz="650" b="0" dirty="0" err="1">
                <a:solidFill>
                  <a:srgbClr val="000000"/>
                </a:solidFill>
                <a:latin typeface="맑은 고딕"/>
                <a:ea typeface="맑은 고딕"/>
              </a:rPr>
              <a:t>상태</a:t>
            </a:r>
            <a:r>
              <a:rPr sz="650" b="0" dirty="0">
                <a:solidFill>
                  <a:srgbClr val="000000"/>
                </a:solidFill>
                <a:latin typeface="맑은 고딕"/>
                <a:ea typeface="맑은 고딕"/>
              </a:rPr>
              <a:t> </a:t>
            </a:r>
            <a:r>
              <a:rPr sz="650" b="0" dirty="0" err="1">
                <a:solidFill>
                  <a:srgbClr val="000000"/>
                </a:solidFill>
                <a:latin typeface="맑은 고딕"/>
                <a:ea typeface="맑은 고딕"/>
              </a:rPr>
              <a:t>수치</a:t>
            </a:r>
            <a:endParaRPr sz="650" b="0" dirty="0">
              <a:solidFill>
                <a:srgbClr val="000000"/>
              </a:solidFill>
              <a:latin typeface="맑은 고딕"/>
              <a:ea typeface="맑은 고딕"/>
            </a:endParaRPr>
          </a:p>
        </p:txBody>
      </p:sp>
      <p:cxnSp>
        <p:nvCxnSpPr>
          <p:cNvPr id="111" name="Connector 144"/>
          <p:cNvCxnSpPr/>
          <p:nvPr/>
        </p:nvCxnSpPr>
        <p:spPr>
          <a:xfrm flipH="1">
            <a:off x="3895344" y="3272679"/>
            <a:ext cx="128016" cy="0"/>
          </a:xfrm>
          <a:prstGeom prst="line">
            <a:avLst/>
          </a:prstGeom>
          <a:ln w="15875">
            <a:solidFill>
              <a:srgbClr val="404040"/>
            </a:solidFill>
            <a:tailEnd type="triangle"/>
          </a:ln>
        </p:spPr>
      </p:cxnSp>
      <p:cxnSp>
        <p:nvCxnSpPr>
          <p:cNvPr id="112" name="Connector 155"/>
          <p:cNvCxnSpPr/>
          <p:nvPr/>
        </p:nvCxnSpPr>
        <p:spPr>
          <a:xfrm>
            <a:off x="1517904" y="2083959"/>
            <a:ext cx="0" cy="228600"/>
          </a:xfrm>
          <a:prstGeom prst="line">
            <a:avLst/>
          </a:prstGeom>
          <a:ln w="15875">
            <a:solidFill>
              <a:srgbClr val="404040"/>
            </a:solidFill>
            <a:tailEnd type="triangle"/>
          </a:ln>
        </p:spPr>
      </p:cxnSp>
      <p:sp>
        <p:nvSpPr>
          <p:cNvPr id="113" name="Oval 156"/>
          <p:cNvSpPr/>
          <p:nvPr/>
        </p:nvSpPr>
        <p:spPr>
          <a:xfrm>
            <a:off x="1275588" y="2125107"/>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cxnSp>
        <p:nvCxnSpPr>
          <p:cNvPr id="120" name="Connector 157"/>
          <p:cNvCxnSpPr/>
          <p:nvPr/>
        </p:nvCxnSpPr>
        <p:spPr>
          <a:xfrm flipV="1">
            <a:off x="2103120" y="2294271"/>
            <a:ext cx="438912" cy="384048"/>
          </a:xfrm>
          <a:prstGeom prst="line">
            <a:avLst/>
          </a:prstGeom>
          <a:ln w="15875">
            <a:solidFill>
              <a:srgbClr val="404040"/>
            </a:solidFill>
            <a:headEnd type="triangle"/>
            <a:tailEnd type="triangle"/>
          </a:ln>
        </p:spPr>
      </p:cxnSp>
      <p:sp>
        <p:nvSpPr>
          <p:cNvPr id="121" name="Oval 158"/>
          <p:cNvSpPr/>
          <p:nvPr/>
        </p:nvSpPr>
        <p:spPr>
          <a:xfrm>
            <a:off x="2208276" y="2335419"/>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2</a:t>
            </a:r>
          </a:p>
        </p:txBody>
      </p:sp>
      <p:sp>
        <p:nvSpPr>
          <p:cNvPr id="125" name="Oval 159"/>
          <p:cNvSpPr/>
          <p:nvPr/>
        </p:nvSpPr>
        <p:spPr>
          <a:xfrm>
            <a:off x="4807959" y="2617141"/>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cxnSp>
        <p:nvCxnSpPr>
          <p:cNvPr id="126" name="Connector 163"/>
          <p:cNvCxnSpPr/>
          <p:nvPr/>
        </p:nvCxnSpPr>
        <p:spPr>
          <a:xfrm flipH="1">
            <a:off x="4736592" y="4278519"/>
            <a:ext cx="338328" cy="0"/>
          </a:xfrm>
          <a:prstGeom prst="line">
            <a:avLst/>
          </a:prstGeom>
          <a:ln w="15875">
            <a:solidFill>
              <a:srgbClr val="404040"/>
            </a:solidFill>
            <a:tailEnd type="triangle"/>
          </a:ln>
        </p:spPr>
      </p:cxnSp>
      <p:sp>
        <p:nvSpPr>
          <p:cNvPr id="131" name="Oval 164"/>
          <p:cNvSpPr/>
          <p:nvPr/>
        </p:nvSpPr>
        <p:spPr>
          <a:xfrm>
            <a:off x="4805172" y="4086495"/>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132" name="Rectangle 167"/>
          <p:cNvSpPr/>
          <p:nvPr/>
        </p:nvSpPr>
        <p:spPr>
          <a:xfrm>
            <a:off x="1188720" y="4518732"/>
            <a:ext cx="1261872" cy="1554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00" b="1" dirty="0" err="1">
                <a:solidFill>
                  <a:srgbClr val="000000"/>
                </a:solidFill>
                <a:latin typeface="맑은 고딕"/>
                <a:ea typeface="맑은 고딕"/>
              </a:rPr>
              <a:t>기존</a:t>
            </a:r>
            <a:r>
              <a:rPr sz="700" b="1" dirty="0">
                <a:solidFill>
                  <a:srgbClr val="000000"/>
                </a:solidFill>
                <a:latin typeface="맑은 고딕"/>
                <a:ea typeface="맑은 고딕"/>
              </a:rPr>
              <a:t> OSS </a:t>
            </a:r>
            <a:r>
              <a:rPr sz="700" b="1" dirty="0" err="1">
                <a:solidFill>
                  <a:srgbClr val="000000"/>
                </a:solidFill>
                <a:latin typeface="맑은 고딕"/>
                <a:ea typeface="맑은 고딕"/>
              </a:rPr>
              <a:t>그대로</a:t>
            </a:r>
            <a:endParaRPr sz="700" b="1" dirty="0">
              <a:solidFill>
                <a:srgbClr val="000000"/>
              </a:solidFill>
              <a:latin typeface="맑은 고딕"/>
              <a:ea typeface="맑은 고딕"/>
            </a:endParaRPr>
          </a:p>
        </p:txBody>
      </p:sp>
      <p:sp>
        <p:nvSpPr>
          <p:cNvPr id="133" name="Rectangle 168"/>
          <p:cNvSpPr/>
          <p:nvPr/>
        </p:nvSpPr>
        <p:spPr>
          <a:xfrm>
            <a:off x="2505456" y="4518732"/>
            <a:ext cx="1261872" cy="15544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확장</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(plugin)</a:t>
            </a:r>
          </a:p>
        </p:txBody>
      </p:sp>
      <p:sp>
        <p:nvSpPr>
          <p:cNvPr id="134" name="Rectangle 169"/>
          <p:cNvSpPr/>
          <p:nvPr/>
        </p:nvSpPr>
        <p:spPr>
          <a:xfrm>
            <a:off x="3822191" y="4518732"/>
            <a:ext cx="1261872" cy="155448"/>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700" b="1">
                <a:solidFill>
                  <a:srgbClr val="000000"/>
                </a:solidFill>
                <a:latin typeface="맑은 고딕"/>
                <a:ea typeface="맑은 고딕"/>
              </a:rPr>
              <a:t>★ 설정만 변경</a:t>
            </a:r>
          </a:p>
        </p:txBody>
      </p:sp>
      <p:sp>
        <p:nvSpPr>
          <p:cNvPr id="135" name="Rectangle 125"/>
          <p:cNvSpPr/>
          <p:nvPr/>
        </p:nvSpPr>
        <p:spPr>
          <a:xfrm>
            <a:off x="3636263" y="209589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750" b="1" dirty="0">
                <a:solidFill>
                  <a:srgbClr val="000000"/>
                </a:solidFill>
                <a:latin typeface="맑은 고딕"/>
                <a:ea typeface="맑은 고딕"/>
              </a:rPr>
              <a:t>큐</a:t>
            </a:r>
            <a:r>
              <a:rPr lang="en-US" altLang="ko-KR" sz="750" b="1" dirty="0">
                <a:solidFill>
                  <a:srgbClr val="000000"/>
                </a:solidFill>
                <a:latin typeface="맑은 고딕"/>
                <a:ea typeface="맑은 고딕"/>
              </a:rPr>
              <a:t>/Load</a:t>
            </a:r>
            <a:r>
              <a:rPr lang="ko-KR" altLang="en-US" sz="750" b="1" dirty="0">
                <a:solidFill>
                  <a:srgbClr val="000000"/>
                </a:solidFill>
                <a:latin typeface="맑은 고딕"/>
                <a:ea typeface="맑은 고딕"/>
              </a:rPr>
              <a:t> 제어</a:t>
            </a:r>
            <a:endParaRPr sz="750" b="1" dirty="0">
              <a:solidFill>
                <a:srgbClr val="000000"/>
              </a:solidFill>
              <a:latin typeface="맑은 고딕"/>
              <a:ea typeface="맑은 고딕"/>
            </a:endParaRPr>
          </a:p>
        </p:txBody>
      </p:sp>
      <p:sp>
        <p:nvSpPr>
          <p:cNvPr id="136" name="Rectangle 126"/>
          <p:cNvSpPr/>
          <p:nvPr/>
        </p:nvSpPr>
        <p:spPr>
          <a:xfrm>
            <a:off x="3590543" y="217270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8" name="Rectangle 127"/>
          <p:cNvSpPr/>
          <p:nvPr/>
        </p:nvSpPr>
        <p:spPr>
          <a:xfrm>
            <a:off x="3590543" y="228792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9" name="Rectangle 137"/>
          <p:cNvSpPr/>
          <p:nvPr/>
        </p:nvSpPr>
        <p:spPr>
          <a:xfrm>
            <a:off x="2542032" y="3812756"/>
            <a:ext cx="1280160" cy="38924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P/D </a:t>
            </a:r>
            <a:r>
              <a:rPr lang="ko-KR" altLang="en-US" sz="750" b="1" dirty="0">
                <a:solidFill>
                  <a:srgbClr val="000000"/>
                </a:solidFill>
                <a:latin typeface="맑은 고딕"/>
                <a:ea typeface="맑은 고딕"/>
              </a:rPr>
              <a:t>보조 </a:t>
            </a:r>
            <a:endParaRPr lang="en-US" altLang="ko-KR" sz="750" b="1" dirty="0">
              <a:solidFill>
                <a:srgbClr val="000000"/>
              </a:solidFill>
              <a:latin typeface="맑은 고딕"/>
              <a:ea typeface="맑은 고딕"/>
            </a:endParaRPr>
          </a:p>
          <a:p>
            <a:pPr algn="ctr"/>
            <a:r>
              <a:rPr lang="ko-KR" altLang="en-US" sz="750" b="1" dirty="0">
                <a:solidFill>
                  <a:srgbClr val="000000"/>
                </a:solidFill>
                <a:latin typeface="맑은 고딕"/>
                <a:ea typeface="맑은 고딕"/>
              </a:rPr>
              <a:t>프로세스 통신</a:t>
            </a:r>
            <a:endParaRPr sz="750" b="1" dirty="0">
              <a:solidFill>
                <a:srgbClr val="000000"/>
              </a:solidFill>
              <a:latin typeface="맑은 고딕"/>
              <a:ea typeface="맑은 고딕"/>
            </a:endParaRPr>
          </a:p>
        </p:txBody>
      </p:sp>
      <p:sp>
        <p:nvSpPr>
          <p:cNvPr id="141" name="Rectangle 120"/>
          <p:cNvSpPr/>
          <p:nvPr/>
        </p:nvSpPr>
        <p:spPr>
          <a:xfrm>
            <a:off x="1275588" y="2542683"/>
            <a:ext cx="804672" cy="327660"/>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850" b="1" dirty="0">
                <a:solidFill>
                  <a:srgbClr val="000000"/>
                </a:solidFill>
                <a:latin typeface="맑은 고딕"/>
                <a:ea typeface="맑은 고딕"/>
              </a:rPr>
              <a:t>요청 </a:t>
            </a:r>
            <a:endParaRPr lang="en-US" altLang="ko-KR" sz="850" b="1" dirty="0">
              <a:solidFill>
                <a:srgbClr val="000000"/>
              </a:solidFill>
              <a:latin typeface="맑은 고딕"/>
              <a:ea typeface="맑은 고딕"/>
            </a:endParaRPr>
          </a:p>
          <a:p>
            <a:pPr algn="ctr"/>
            <a:r>
              <a:rPr lang="ko-KR" altLang="en-US" sz="850" b="1" dirty="0">
                <a:solidFill>
                  <a:srgbClr val="000000"/>
                </a:solidFill>
                <a:latin typeface="맑은 고딕"/>
                <a:ea typeface="맑은 고딕"/>
              </a:rPr>
              <a:t>전달</a:t>
            </a:r>
            <a:r>
              <a:rPr lang="en-US" altLang="ko-KR" sz="850" b="1" dirty="0">
                <a:solidFill>
                  <a:srgbClr val="000000"/>
                </a:solidFill>
                <a:latin typeface="맑은 고딕"/>
                <a:ea typeface="맑은 고딕"/>
              </a:rPr>
              <a:t>/</a:t>
            </a:r>
            <a:r>
              <a:rPr lang="ko-KR" altLang="en-US" sz="850" b="1" dirty="0">
                <a:solidFill>
                  <a:srgbClr val="000000"/>
                </a:solidFill>
                <a:latin typeface="맑은 고딕"/>
                <a:ea typeface="맑은 고딕"/>
              </a:rPr>
              <a:t>응답</a:t>
            </a:r>
            <a:endParaRPr sz="750" b="0" dirty="0">
              <a:solidFill>
                <a:srgbClr val="000000"/>
              </a:solidFill>
              <a:latin typeface="맑은 고딕"/>
              <a:ea typeface="맑은 고딕"/>
            </a:endParaRPr>
          </a:p>
        </p:txBody>
      </p:sp>
      <p:sp>
        <p:nvSpPr>
          <p:cNvPr id="142" name="Rectangle 146"/>
          <p:cNvSpPr/>
          <p:nvPr/>
        </p:nvSpPr>
        <p:spPr>
          <a:xfrm>
            <a:off x="5010912" y="1855359"/>
            <a:ext cx="1371600" cy="1554480"/>
          </a:xfrm>
          <a:prstGeom prst="rect">
            <a:avLst/>
          </a:prstGeom>
          <a:solidFill>
            <a:srgbClr val="FFFFFF"/>
          </a:solidFill>
          <a:ln w="15875">
            <a:solidFill>
              <a:srgbClr val="2E75B6"/>
            </a:solidFill>
          </a:ln>
          <a:effectLst/>
        </p:spPr>
        <p:txBody>
          <a:bodyPr rtlCol="0" anchor="ctr"/>
          <a:lstStyle/>
          <a:p>
            <a:pPr algn="ctr"/>
            <a:endParaRPr/>
          </a:p>
        </p:txBody>
      </p:sp>
      <p:sp>
        <p:nvSpPr>
          <p:cNvPr id="143" name="Rectangle 147"/>
          <p:cNvSpPr/>
          <p:nvPr/>
        </p:nvSpPr>
        <p:spPr>
          <a:xfrm>
            <a:off x="5010912" y="1855359"/>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a:solidFill>
                  <a:srgbClr val="FFFFFF"/>
                </a:solidFill>
                <a:latin typeface="맑은 고딕"/>
                <a:ea typeface="맑은 고딕"/>
              </a:rPr>
              <a:t>«pod» Decode 서버</a:t>
            </a:r>
          </a:p>
        </p:txBody>
      </p:sp>
      <p:sp>
        <p:nvSpPr>
          <p:cNvPr id="144" name="Rectangle 148"/>
          <p:cNvSpPr/>
          <p:nvPr/>
        </p:nvSpPr>
        <p:spPr>
          <a:xfrm>
            <a:off x="5084063" y="2074815"/>
            <a:ext cx="1243584" cy="822960"/>
          </a:xfrm>
          <a:prstGeom prst="rect">
            <a:avLst/>
          </a:prstGeom>
          <a:solidFill>
            <a:srgbClr val="FFFFFF"/>
          </a:solidFill>
          <a:ln w="12700">
            <a:solidFill>
              <a:srgbClr val="2F5597"/>
            </a:solidFill>
          </a:ln>
          <a:effectLst/>
        </p:spPr>
        <p:txBody>
          <a:bodyPr rtlCol="0" anchor="ctr"/>
          <a:lstStyle/>
          <a:p>
            <a:pPr algn="ctr"/>
            <a:endParaRPr/>
          </a:p>
        </p:txBody>
      </p:sp>
      <p:sp>
        <p:nvSpPr>
          <p:cNvPr id="145" name="Rectangle 149"/>
          <p:cNvSpPr/>
          <p:nvPr/>
        </p:nvSpPr>
        <p:spPr>
          <a:xfrm>
            <a:off x="5074920" y="2083959"/>
            <a:ext cx="124358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P/D </a:t>
            </a:r>
            <a:r>
              <a:rPr sz="750" b="1" dirty="0" err="1">
                <a:solidFill>
                  <a:srgbClr val="FFFFFF"/>
                </a:solidFill>
                <a:latin typeface="맑은 고딕"/>
                <a:ea typeface="맑은 고딕"/>
              </a:rPr>
              <a:t>보조</a:t>
            </a:r>
            <a:r>
              <a:rPr sz="750" b="1" dirty="0">
                <a:solidFill>
                  <a:srgbClr val="FFFFFF"/>
                </a:solidFill>
                <a:latin typeface="맑은 고딕"/>
                <a:ea typeface="맑은 고딕"/>
              </a:rPr>
              <a:t> </a:t>
            </a:r>
            <a:r>
              <a:rPr sz="750" b="1" dirty="0" err="1">
                <a:solidFill>
                  <a:srgbClr val="FFFFFF"/>
                </a:solidFill>
                <a:latin typeface="맑은 고딕"/>
                <a:ea typeface="맑은 고딕"/>
              </a:rPr>
              <a:t>프로세스</a:t>
            </a:r>
            <a:endParaRPr sz="750" b="1" dirty="0">
              <a:solidFill>
                <a:srgbClr val="FFFFFF"/>
              </a:solidFill>
              <a:latin typeface="맑은 고딕"/>
              <a:ea typeface="맑은 고딕"/>
            </a:endParaRPr>
          </a:p>
        </p:txBody>
      </p:sp>
      <p:sp>
        <p:nvSpPr>
          <p:cNvPr id="146" name="Rectangle 150"/>
          <p:cNvSpPr/>
          <p:nvPr/>
        </p:nvSpPr>
        <p:spPr>
          <a:xfrm>
            <a:off x="5120640" y="2303415"/>
            <a:ext cx="1152144" cy="548640"/>
          </a:xfrm>
          <a:prstGeom prst="rect">
            <a:avLst/>
          </a:prstGeom>
          <a:solidFill>
            <a:srgbClr val="FFFFFF"/>
          </a:solidFill>
          <a:ln w="22225">
            <a:solidFill>
              <a:srgbClr val="C00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KV </a:t>
            </a:r>
            <a:r>
              <a:rPr lang="ko-KR" altLang="en-US" sz="750" b="1" dirty="0">
                <a:solidFill>
                  <a:srgbClr val="000000"/>
                </a:solidFill>
                <a:latin typeface="맑은 고딕"/>
                <a:ea typeface="맑은 고딕"/>
              </a:rPr>
              <a:t>정보 수정</a:t>
            </a:r>
            <a:endParaRPr lang="en-US" altLang="ko-KR" sz="750" b="1" dirty="0">
              <a:solidFill>
                <a:srgbClr val="000000"/>
              </a:solidFill>
              <a:latin typeface="맑은 고딕"/>
              <a:ea typeface="맑은 고딕"/>
            </a:endParaRPr>
          </a:p>
          <a:p>
            <a:pPr algn="ctr"/>
            <a:r>
              <a:rPr lang="en-US" altLang="ko-KR" sz="700" dirty="0">
                <a:solidFill>
                  <a:srgbClr val="000000"/>
                </a:solidFill>
                <a:latin typeface="맑은 고딕"/>
                <a:ea typeface="맑은 고딕"/>
              </a:rPr>
              <a:t>(</a:t>
            </a:r>
            <a:r>
              <a:rPr lang="ko-KR" altLang="en-US" sz="700" dirty="0">
                <a:solidFill>
                  <a:srgbClr val="000000"/>
                </a:solidFill>
                <a:latin typeface="맑은 고딕"/>
                <a:ea typeface="맑은 고딕"/>
              </a:rPr>
              <a:t>메모리 </a:t>
            </a:r>
            <a:r>
              <a:rPr lang="en-US" altLang="ko-KR" sz="700" dirty="0">
                <a:solidFill>
                  <a:srgbClr val="000000"/>
                </a:solidFill>
                <a:latin typeface="맑은 고딕"/>
                <a:ea typeface="맑은 고딕"/>
              </a:rPr>
              <a:t>tier</a:t>
            </a:r>
            <a:r>
              <a:rPr lang="ko-KR" altLang="en-US" sz="700" dirty="0">
                <a:solidFill>
                  <a:srgbClr val="000000"/>
                </a:solidFill>
                <a:latin typeface="맑은 고딕"/>
                <a:ea typeface="맑은 고딕"/>
              </a:rPr>
              <a:t> 위치</a:t>
            </a:r>
            <a:r>
              <a:rPr lang="en-US" altLang="ko-KR" sz="700" dirty="0">
                <a:solidFill>
                  <a:srgbClr val="000000"/>
                </a:solidFill>
                <a:latin typeface="맑은 고딕"/>
                <a:ea typeface="맑은 고딕"/>
              </a:rPr>
              <a:t>)</a:t>
            </a:r>
            <a:endParaRPr sz="700" b="0" dirty="0">
              <a:solidFill>
                <a:srgbClr val="000000"/>
              </a:solidFill>
              <a:latin typeface="맑은 고딕"/>
              <a:ea typeface="맑은 고딕"/>
            </a:endParaRPr>
          </a:p>
        </p:txBody>
      </p:sp>
      <p:sp>
        <p:nvSpPr>
          <p:cNvPr id="147" name="Rectangle 151"/>
          <p:cNvSpPr/>
          <p:nvPr/>
        </p:nvSpPr>
        <p:spPr>
          <a:xfrm>
            <a:off x="5074920" y="2998359"/>
            <a:ext cx="1243584" cy="347472"/>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(decode)</a:t>
            </a:r>
          </a:p>
        </p:txBody>
      </p:sp>
      <p:sp>
        <p:nvSpPr>
          <p:cNvPr id="148" name="Rectangle 152"/>
          <p:cNvSpPr/>
          <p:nvPr/>
        </p:nvSpPr>
        <p:spPr>
          <a:xfrm>
            <a:off x="5010912" y="3631216"/>
            <a:ext cx="1371600" cy="813816"/>
          </a:xfrm>
          <a:prstGeom prst="rect">
            <a:avLst/>
          </a:prstGeom>
          <a:solidFill>
            <a:srgbClr val="FFFFFF"/>
          </a:solidFill>
          <a:ln w="15875">
            <a:solidFill>
              <a:srgbClr val="2E75B6"/>
            </a:solidFill>
          </a:ln>
          <a:effectLst/>
        </p:spPr>
        <p:txBody>
          <a:bodyPr rtlCol="0" anchor="ctr"/>
          <a:lstStyle/>
          <a:p>
            <a:pPr algn="ctr"/>
            <a:endParaRPr/>
          </a:p>
        </p:txBody>
      </p:sp>
      <p:sp>
        <p:nvSpPr>
          <p:cNvPr id="149" name="Rectangle 153"/>
          <p:cNvSpPr/>
          <p:nvPr/>
        </p:nvSpPr>
        <p:spPr>
          <a:xfrm>
            <a:off x="5010912" y="3631216"/>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«pod» Prefill </a:t>
            </a:r>
            <a:r>
              <a:rPr sz="800" b="1" dirty="0" err="1">
                <a:solidFill>
                  <a:srgbClr val="FFFFFF"/>
                </a:solidFill>
                <a:latin typeface="맑은 고딕"/>
                <a:ea typeface="맑은 고딕"/>
              </a:rPr>
              <a:t>서버</a:t>
            </a:r>
            <a:endParaRPr sz="800" b="1" dirty="0">
              <a:solidFill>
                <a:srgbClr val="FFFFFF"/>
              </a:solidFill>
              <a:latin typeface="맑은 고딕"/>
              <a:ea typeface="맑은 고딕"/>
            </a:endParaRPr>
          </a:p>
        </p:txBody>
      </p:sp>
      <p:sp>
        <p:nvSpPr>
          <p:cNvPr id="150" name="Rectangle 154"/>
          <p:cNvSpPr/>
          <p:nvPr/>
        </p:nvSpPr>
        <p:spPr>
          <a:xfrm>
            <a:off x="5074920" y="3889845"/>
            <a:ext cx="1243584" cy="442861"/>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(prefill)</a:t>
            </a:r>
          </a:p>
        </p:txBody>
      </p:sp>
      <p:cxnSp>
        <p:nvCxnSpPr>
          <p:cNvPr id="151" name="Connector 160"/>
          <p:cNvCxnSpPr/>
          <p:nvPr/>
        </p:nvCxnSpPr>
        <p:spPr>
          <a:xfrm>
            <a:off x="6053328" y="3345831"/>
            <a:ext cx="0" cy="566928"/>
          </a:xfrm>
          <a:prstGeom prst="line">
            <a:avLst/>
          </a:prstGeom>
          <a:ln w="15875">
            <a:solidFill>
              <a:srgbClr val="404040"/>
            </a:solidFill>
            <a:headEnd type="triangle"/>
            <a:tailEnd type="triangle"/>
          </a:ln>
        </p:spPr>
      </p:cxnSp>
      <p:sp>
        <p:nvSpPr>
          <p:cNvPr id="152" name="Oval 161"/>
          <p:cNvSpPr/>
          <p:nvPr/>
        </p:nvSpPr>
        <p:spPr>
          <a:xfrm>
            <a:off x="5826150" y="3464703"/>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4</a:t>
            </a:r>
          </a:p>
        </p:txBody>
      </p:sp>
      <p:sp>
        <p:nvSpPr>
          <p:cNvPr id="153" name="Oval 162"/>
          <p:cNvSpPr/>
          <p:nvPr/>
        </p:nvSpPr>
        <p:spPr>
          <a:xfrm>
            <a:off x="6140196" y="345520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54" name="Rectangle 170"/>
          <p:cNvSpPr/>
          <p:nvPr/>
        </p:nvSpPr>
        <p:spPr>
          <a:xfrm>
            <a:off x="5138928" y="4518732"/>
            <a:ext cx="1261872" cy="155448"/>
          </a:xfrm>
          <a:prstGeom prst="rect">
            <a:avLst/>
          </a:prstGeom>
          <a:solidFill>
            <a:srgbClr val="FFFFFF"/>
          </a:solidFill>
          <a:ln w="22225">
            <a:solidFill>
              <a:srgbClr val="C00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기존</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 </a:t>
            </a:r>
            <a:r>
              <a:rPr sz="700" b="1" dirty="0" err="1">
                <a:solidFill>
                  <a:srgbClr val="000000"/>
                </a:solidFill>
                <a:latin typeface="맑은 고딕"/>
                <a:ea typeface="맑은 고딕"/>
              </a:rPr>
              <a:t>수정</a:t>
            </a:r>
            <a:r>
              <a:rPr sz="700" b="1" dirty="0">
                <a:solidFill>
                  <a:srgbClr val="000000"/>
                </a:solidFill>
                <a:latin typeface="맑은 고딕"/>
                <a:ea typeface="맑은 고딕"/>
              </a:rPr>
              <a:t>(patch)</a:t>
            </a:r>
          </a:p>
        </p:txBody>
      </p:sp>
      <p:sp>
        <p:nvSpPr>
          <p:cNvPr id="155" name="Rectangle 167"/>
          <p:cNvSpPr/>
          <p:nvPr/>
        </p:nvSpPr>
        <p:spPr>
          <a:xfrm>
            <a:off x="6583680" y="187364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156" name="Rectangle 168"/>
          <p:cNvSpPr/>
          <p:nvPr/>
        </p:nvSpPr>
        <p:spPr>
          <a:xfrm>
            <a:off x="6583680" y="2358279"/>
            <a:ext cx="566928" cy="384048"/>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en-US" sz="800" b="1" dirty="0">
                <a:solidFill>
                  <a:srgbClr val="000000"/>
                </a:solidFill>
                <a:latin typeface="맑은 고딕"/>
                <a:ea typeface="맑은 고딕"/>
              </a:rPr>
              <a:t>Load </a:t>
            </a:r>
          </a:p>
          <a:p>
            <a:pPr algn="ctr"/>
            <a:r>
              <a:rPr lang="en-US" sz="800" b="1" dirty="0">
                <a:solidFill>
                  <a:srgbClr val="000000"/>
                </a:solidFill>
                <a:latin typeface="맑은 고딕"/>
                <a:ea typeface="맑은 고딕"/>
              </a:rPr>
              <a:t>Balancer</a:t>
            </a:r>
            <a:endParaRPr sz="800" b="1" dirty="0">
              <a:solidFill>
                <a:srgbClr val="000000"/>
              </a:solidFill>
              <a:latin typeface="맑은 고딕"/>
              <a:ea typeface="맑은 고딕"/>
            </a:endParaRPr>
          </a:p>
        </p:txBody>
      </p:sp>
      <p:cxnSp>
        <p:nvCxnSpPr>
          <p:cNvPr id="157" name="Connector 169"/>
          <p:cNvCxnSpPr/>
          <p:nvPr/>
        </p:nvCxnSpPr>
        <p:spPr>
          <a:xfrm>
            <a:off x="6867144" y="2129679"/>
            <a:ext cx="0" cy="228600"/>
          </a:xfrm>
          <a:prstGeom prst="line">
            <a:avLst/>
          </a:prstGeom>
          <a:ln w="15875">
            <a:solidFill>
              <a:srgbClr val="404040"/>
            </a:solidFill>
            <a:tailEnd type="triangle"/>
          </a:ln>
        </p:spPr>
      </p:cxnSp>
      <p:sp>
        <p:nvSpPr>
          <p:cNvPr id="158" name="Oval 170"/>
          <p:cNvSpPr/>
          <p:nvPr/>
        </p:nvSpPr>
        <p:spPr>
          <a:xfrm>
            <a:off x="6643116" y="2161683"/>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sp>
        <p:nvSpPr>
          <p:cNvPr id="159" name="Rectangle 172"/>
          <p:cNvSpPr/>
          <p:nvPr/>
        </p:nvSpPr>
        <p:spPr>
          <a:xfrm>
            <a:off x="7242048" y="1855359"/>
            <a:ext cx="3566160" cy="2583351"/>
          </a:xfrm>
          <a:prstGeom prst="rect">
            <a:avLst/>
          </a:prstGeom>
          <a:solidFill>
            <a:srgbClr val="FFFFFF"/>
          </a:solidFill>
          <a:ln w="19050">
            <a:solidFill>
              <a:srgbClr val="C55A11"/>
            </a:solidFill>
          </a:ln>
          <a:effectLst/>
        </p:spPr>
        <p:txBody>
          <a:bodyPr rtlCol="0" anchor="ctr"/>
          <a:lstStyle/>
          <a:p>
            <a:pPr algn="ctr"/>
            <a:endParaRPr/>
          </a:p>
        </p:txBody>
      </p:sp>
      <p:sp>
        <p:nvSpPr>
          <p:cNvPr id="160" name="Rectangle 173"/>
          <p:cNvSpPr/>
          <p:nvPr/>
        </p:nvSpPr>
        <p:spPr>
          <a:xfrm>
            <a:off x="7242048" y="1855359"/>
            <a:ext cx="3566160" cy="164592"/>
          </a:xfrm>
          <a:prstGeom prst="rect">
            <a:avLst/>
          </a:prstGeom>
          <a:solidFill>
            <a:srgbClr val="C55A11"/>
          </a:solidFill>
          <a:ln w="12700">
            <a:solidFill>
              <a:srgbClr val="C55A11"/>
            </a:solidFill>
          </a:ln>
          <a:effectLst/>
        </p:spPr>
        <p:txBody>
          <a:bodyPr wrap="square" lIns="45720" tIns="0" rIns="0" bIns="0" rtlCol="0" anchor="ctr"/>
          <a:lstStyle/>
          <a:p>
            <a:pPr algn="l"/>
            <a:r>
              <a:rPr sz="700" b="1">
                <a:solidFill>
                  <a:srgbClr val="FFFFFF"/>
                </a:solidFill>
                <a:latin typeface="맑은 고딕"/>
                <a:ea typeface="맑은 고딕"/>
              </a:rPr>
              <a:t>«process» Own Router 레플리카 1개 (한 프로세스)</a:t>
            </a:r>
          </a:p>
        </p:txBody>
      </p:sp>
      <p:cxnSp>
        <p:nvCxnSpPr>
          <p:cNvPr id="161" name="Connector 174"/>
          <p:cNvCxnSpPr/>
          <p:nvPr/>
        </p:nvCxnSpPr>
        <p:spPr>
          <a:xfrm flipV="1">
            <a:off x="7150608" y="2312559"/>
            <a:ext cx="164592" cy="237744"/>
          </a:xfrm>
          <a:prstGeom prst="line">
            <a:avLst/>
          </a:prstGeom>
          <a:ln w="12700">
            <a:solidFill>
              <a:srgbClr val="404040"/>
            </a:solidFill>
            <a:tailEnd type="triangle"/>
          </a:ln>
        </p:spPr>
      </p:cxnSp>
      <p:sp>
        <p:nvSpPr>
          <p:cNvPr id="162" name="Rectangle 175"/>
          <p:cNvSpPr/>
          <p:nvPr/>
        </p:nvSpPr>
        <p:spPr>
          <a:xfrm>
            <a:off x="7333488" y="2156202"/>
            <a:ext cx="3383280" cy="187365"/>
          </a:xfrm>
          <a:prstGeom prst="rect">
            <a:avLst/>
          </a:prstGeom>
          <a:solidFill>
            <a:srgbClr val="FBE5D6"/>
          </a:solidFill>
          <a:ln w="1270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Ingress / API   </a:t>
            </a: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파싱</a:t>
            </a:r>
            <a:r>
              <a:rPr sz="750" b="1" dirty="0">
                <a:solidFill>
                  <a:srgbClr val="000000"/>
                </a:solidFill>
                <a:latin typeface="맑은 고딕"/>
                <a:ea typeface="맑은 고딕"/>
              </a:rPr>
              <a:t> · </a:t>
            </a:r>
            <a:r>
              <a:rPr sz="750" b="1" dirty="0" err="1">
                <a:solidFill>
                  <a:srgbClr val="000000"/>
                </a:solidFill>
                <a:latin typeface="맑은 고딕"/>
                <a:ea typeface="맑은 고딕"/>
              </a:rPr>
              <a:t>스트리밍</a:t>
            </a:r>
            <a:endParaRPr sz="750" b="1" dirty="0">
              <a:solidFill>
                <a:srgbClr val="000000"/>
              </a:solidFill>
              <a:latin typeface="맑은 고딕"/>
              <a:ea typeface="맑은 고딕"/>
            </a:endParaRPr>
          </a:p>
        </p:txBody>
      </p:sp>
      <p:sp>
        <p:nvSpPr>
          <p:cNvPr id="163" name="Rectangle 176"/>
          <p:cNvSpPr/>
          <p:nvPr/>
        </p:nvSpPr>
        <p:spPr>
          <a:xfrm>
            <a:off x="7333488" y="2626885"/>
            <a:ext cx="86868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Admission</a:t>
            </a:r>
          </a:p>
        </p:txBody>
      </p:sp>
      <p:sp>
        <p:nvSpPr>
          <p:cNvPr id="164" name="Rectangle 177"/>
          <p:cNvSpPr/>
          <p:nvPr/>
        </p:nvSpPr>
        <p:spPr>
          <a:xfrm>
            <a:off x="8321040" y="2626885"/>
            <a:ext cx="105156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en-US" sz="750" b="1" dirty="0">
                <a:solidFill>
                  <a:srgbClr val="000000"/>
                </a:solidFill>
                <a:latin typeface="맑은 고딕"/>
                <a:ea typeface="맑은 고딕"/>
              </a:rPr>
              <a:t>P/D</a:t>
            </a:r>
            <a:r>
              <a:rPr sz="750" b="1" dirty="0">
                <a:solidFill>
                  <a:srgbClr val="000000"/>
                </a:solidFill>
                <a:latin typeface="맑은 고딕"/>
                <a:ea typeface="맑은 고딕"/>
              </a:rPr>
              <a:t> Selector</a:t>
            </a:r>
          </a:p>
        </p:txBody>
      </p:sp>
      <p:sp>
        <p:nvSpPr>
          <p:cNvPr id="165" name="Rectangle 178"/>
          <p:cNvSpPr/>
          <p:nvPr/>
        </p:nvSpPr>
        <p:spPr>
          <a:xfrm>
            <a:off x="9491472" y="2626885"/>
            <a:ext cx="1225296"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Dispatcher</a:t>
            </a:r>
          </a:p>
        </p:txBody>
      </p:sp>
      <p:cxnSp>
        <p:nvCxnSpPr>
          <p:cNvPr id="166" name="Connector 179"/>
          <p:cNvCxnSpPr>
            <a:stCxn id="163" idx="3"/>
            <a:endCxn id="164" idx="1"/>
          </p:cNvCxnSpPr>
          <p:nvPr/>
        </p:nvCxnSpPr>
        <p:spPr>
          <a:xfrm>
            <a:off x="8202168" y="2745757"/>
            <a:ext cx="118872" cy="0"/>
          </a:xfrm>
          <a:prstGeom prst="line">
            <a:avLst/>
          </a:prstGeom>
          <a:ln w="15875">
            <a:solidFill>
              <a:srgbClr val="C55A11"/>
            </a:solidFill>
            <a:tailEnd type="triangle"/>
          </a:ln>
        </p:spPr>
      </p:cxnSp>
      <p:cxnSp>
        <p:nvCxnSpPr>
          <p:cNvPr id="167" name="Connector 180"/>
          <p:cNvCxnSpPr>
            <a:stCxn id="164" idx="3"/>
            <a:endCxn id="165" idx="1"/>
          </p:cNvCxnSpPr>
          <p:nvPr/>
        </p:nvCxnSpPr>
        <p:spPr>
          <a:xfrm>
            <a:off x="9372600" y="2745757"/>
            <a:ext cx="118872" cy="0"/>
          </a:xfrm>
          <a:prstGeom prst="line">
            <a:avLst/>
          </a:prstGeom>
          <a:ln w="15875">
            <a:solidFill>
              <a:srgbClr val="C55A11"/>
            </a:solidFill>
            <a:tailEnd type="triangle"/>
          </a:ln>
        </p:spPr>
      </p:cxnSp>
      <p:cxnSp>
        <p:nvCxnSpPr>
          <p:cNvPr id="170" name="Connector 181"/>
          <p:cNvCxnSpPr/>
          <p:nvPr/>
        </p:nvCxnSpPr>
        <p:spPr>
          <a:xfrm>
            <a:off x="7884414" y="2351422"/>
            <a:ext cx="0" cy="210312"/>
          </a:xfrm>
          <a:prstGeom prst="line">
            <a:avLst/>
          </a:prstGeom>
          <a:ln w="15875">
            <a:solidFill>
              <a:srgbClr val="C55A11"/>
            </a:solidFill>
            <a:tailEnd type="triangle"/>
          </a:ln>
        </p:spPr>
      </p:cxnSp>
      <p:sp>
        <p:nvSpPr>
          <p:cNvPr id="171" name="Rectangle 183"/>
          <p:cNvSpPr/>
          <p:nvPr/>
        </p:nvSpPr>
        <p:spPr>
          <a:xfrm>
            <a:off x="7333488" y="3084427"/>
            <a:ext cx="1600200"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a:t>
            </a:r>
            <a:r>
              <a:rPr sz="600" b="1" dirty="0" err="1">
                <a:solidFill>
                  <a:srgbClr val="5E35B1"/>
                </a:solidFill>
                <a:latin typeface="맑은 고딕"/>
                <a:ea typeface="맑은 고딕"/>
              </a:rPr>
              <a:t>점수</a:t>
            </a:r>
            <a:r>
              <a:rPr sz="600" b="1" dirty="0">
                <a:solidFill>
                  <a:srgbClr val="5E35B1"/>
                </a:solidFill>
                <a:latin typeface="맑은 고딕"/>
                <a:ea typeface="맑은 고딕"/>
              </a:rPr>
              <a:t> </a:t>
            </a:r>
            <a:r>
              <a:rPr sz="600" b="1" dirty="0" err="1">
                <a:solidFill>
                  <a:srgbClr val="5E35B1"/>
                </a:solidFill>
                <a:latin typeface="맑은 고딕"/>
                <a:ea typeface="맑은 고딕"/>
              </a:rPr>
              <a:t>정책</a:t>
            </a:r>
            <a:r>
              <a:rPr sz="600" b="1" dirty="0">
                <a:solidFill>
                  <a:srgbClr val="5E35B1"/>
                </a:solidFill>
                <a:latin typeface="맑은 고딕"/>
                <a:ea typeface="맑은 고딕"/>
              </a:rPr>
              <a:t> ↔ 1안 plugin </a:t>
            </a:r>
            <a:r>
              <a:rPr sz="600" b="1" dirty="0" err="1">
                <a:solidFill>
                  <a:srgbClr val="5E35B1"/>
                </a:solidFill>
                <a:latin typeface="맑은 고딕"/>
                <a:ea typeface="맑은 고딕"/>
              </a:rPr>
              <a:t>대응</a:t>
            </a:r>
            <a:endParaRPr sz="600" b="1" dirty="0">
              <a:solidFill>
                <a:srgbClr val="5E35B1"/>
              </a:solidFill>
              <a:latin typeface="맑은 고딕"/>
              <a:ea typeface="맑은 고딕"/>
            </a:endParaRPr>
          </a:p>
        </p:txBody>
      </p:sp>
      <p:sp>
        <p:nvSpPr>
          <p:cNvPr id="172" name="Rectangle 184"/>
          <p:cNvSpPr/>
          <p:nvPr/>
        </p:nvSpPr>
        <p:spPr>
          <a:xfrm>
            <a:off x="7333488" y="3239874"/>
            <a:ext cx="1783080" cy="281487"/>
          </a:xfrm>
          <a:prstGeom prst="rect">
            <a:avLst/>
          </a:prstGeom>
          <a:solidFill>
            <a:srgbClr val="FFFFFF"/>
          </a:solidFill>
          <a:ln w="15875">
            <a:solidFill>
              <a:srgbClr val="5E35B1"/>
            </a:solidFill>
          </a:ln>
          <a:effectLst/>
        </p:spPr>
        <p:txBody>
          <a:bodyPr rtlCol="0" anchor="ctr"/>
          <a:lstStyle/>
          <a:p>
            <a:pPr algn="ctr"/>
            <a:endParaRPr/>
          </a:p>
        </p:txBody>
      </p:sp>
      <p:sp>
        <p:nvSpPr>
          <p:cNvPr id="173" name="TextBox 172"/>
          <p:cNvSpPr txBox="1"/>
          <p:nvPr/>
        </p:nvSpPr>
        <p:spPr>
          <a:xfrm>
            <a:off x="7665475" y="3308835"/>
            <a:ext cx="1186641"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ScoreStrategy</a:t>
            </a:r>
            <a:endParaRPr sz="650" b="1" dirty="0">
              <a:solidFill>
                <a:srgbClr val="5E35B1"/>
              </a:solidFill>
              <a:latin typeface="맑은 고딕"/>
              <a:ea typeface="맑은 고딕"/>
            </a:endParaRPr>
          </a:p>
        </p:txBody>
      </p:sp>
      <p:cxnSp>
        <p:nvCxnSpPr>
          <p:cNvPr id="174" name="Connector 194"/>
          <p:cNvCxnSpPr/>
          <p:nvPr/>
        </p:nvCxnSpPr>
        <p:spPr>
          <a:xfrm>
            <a:off x="10408920" y="2888631"/>
            <a:ext cx="0" cy="201168"/>
          </a:xfrm>
          <a:prstGeom prst="line">
            <a:avLst/>
          </a:prstGeom>
          <a:ln w="15875">
            <a:solidFill>
              <a:srgbClr val="5E35B1"/>
            </a:solidFill>
            <a:tailEnd type="triangle"/>
          </a:ln>
        </p:spPr>
      </p:cxnSp>
      <p:sp>
        <p:nvSpPr>
          <p:cNvPr id="175" name="Rectangle 195"/>
          <p:cNvSpPr/>
          <p:nvPr/>
        </p:nvSpPr>
        <p:spPr>
          <a:xfrm>
            <a:off x="9217152" y="3391860"/>
            <a:ext cx="1536192"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«Decorator» </a:t>
            </a:r>
            <a:r>
              <a:rPr lang="ko-KR" altLang="en-US" sz="600" b="1" dirty="0">
                <a:solidFill>
                  <a:srgbClr val="5E35B1"/>
                </a:solidFill>
                <a:latin typeface="맑은 고딕"/>
                <a:ea typeface="맑은 고딕"/>
              </a:rPr>
              <a:t>메모리 </a:t>
            </a:r>
            <a:r>
              <a:rPr lang="en-US" altLang="ko-KR" sz="600" b="1" dirty="0">
                <a:solidFill>
                  <a:srgbClr val="5E35B1"/>
                </a:solidFill>
                <a:latin typeface="맑은 고딕"/>
                <a:ea typeface="맑은 고딕"/>
              </a:rPr>
              <a:t>tier</a:t>
            </a:r>
            <a:r>
              <a:rPr lang="ko-KR" altLang="en-US" sz="600" b="1" dirty="0">
                <a:solidFill>
                  <a:srgbClr val="5E35B1"/>
                </a:solidFill>
                <a:latin typeface="맑은 고딕"/>
                <a:ea typeface="맑은 고딕"/>
              </a:rPr>
              <a:t>별 비용</a:t>
            </a:r>
            <a:endParaRPr sz="600" b="1" dirty="0">
              <a:solidFill>
                <a:srgbClr val="5E35B1"/>
              </a:solidFill>
              <a:latin typeface="맑은 고딕"/>
              <a:ea typeface="맑은 고딕"/>
            </a:endParaRPr>
          </a:p>
        </p:txBody>
      </p:sp>
      <p:sp>
        <p:nvSpPr>
          <p:cNvPr id="176" name="Rectangle 196"/>
          <p:cNvSpPr/>
          <p:nvPr/>
        </p:nvSpPr>
        <p:spPr>
          <a:xfrm>
            <a:off x="9217152" y="3538164"/>
            <a:ext cx="1536192" cy="182880"/>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ko-KR" altLang="en-US" sz="650" dirty="0">
                <a:solidFill>
                  <a:srgbClr val="000000"/>
                </a:solidFill>
                <a:latin typeface="맑은 고딕"/>
                <a:ea typeface="맑은 고딕"/>
              </a:rPr>
              <a:t>메모리 </a:t>
            </a:r>
            <a:r>
              <a:rPr lang="en-US" altLang="ko-KR" sz="650" dirty="0">
                <a:solidFill>
                  <a:srgbClr val="000000"/>
                </a:solidFill>
                <a:latin typeface="맑은 고딕"/>
                <a:ea typeface="맑은 고딕"/>
              </a:rPr>
              <a:t>Tier</a:t>
            </a:r>
            <a:r>
              <a:rPr lang="ko-KR" altLang="en-US" sz="650" dirty="0">
                <a:solidFill>
                  <a:srgbClr val="000000"/>
                </a:solidFill>
                <a:latin typeface="맑은 고딕"/>
                <a:ea typeface="맑은 고딕"/>
              </a:rPr>
              <a:t>별 비용</a:t>
            </a:r>
            <a:endParaRPr sz="650" b="0" dirty="0">
              <a:solidFill>
                <a:srgbClr val="000000"/>
              </a:solidFill>
              <a:latin typeface="맑은 고딕"/>
              <a:ea typeface="맑은 고딕"/>
            </a:endParaRPr>
          </a:p>
        </p:txBody>
      </p:sp>
      <p:sp>
        <p:nvSpPr>
          <p:cNvPr id="177" name="Rectangle 197"/>
          <p:cNvSpPr/>
          <p:nvPr/>
        </p:nvSpPr>
        <p:spPr>
          <a:xfrm>
            <a:off x="7848674" y="3985863"/>
            <a:ext cx="77724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Event</a:t>
            </a:r>
          </a:p>
          <a:p>
            <a:pPr algn="ctr"/>
            <a:r>
              <a:rPr sz="700" b="1" dirty="0">
                <a:solidFill>
                  <a:srgbClr val="000000"/>
                </a:solidFill>
                <a:latin typeface="맑은 고딕"/>
                <a:ea typeface="맑은 고딕"/>
              </a:rPr>
              <a:t>Subscriber</a:t>
            </a:r>
          </a:p>
        </p:txBody>
      </p:sp>
      <p:sp>
        <p:nvSpPr>
          <p:cNvPr id="179" name="Rectangle 198"/>
          <p:cNvSpPr/>
          <p:nvPr/>
        </p:nvSpPr>
        <p:spPr>
          <a:xfrm>
            <a:off x="8744786" y="3932312"/>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dirty="0">
                <a:solidFill>
                  <a:srgbClr val="000000"/>
                </a:solidFill>
                <a:latin typeface="맑은 고딕"/>
                <a:ea typeface="맑은 고딕"/>
              </a:rPr>
              <a:t>KV Index </a:t>
            </a:r>
            <a:r>
              <a:rPr sz="650" b="1" dirty="0" err="1">
                <a:solidFill>
                  <a:srgbClr val="000000"/>
                </a:solidFill>
                <a:latin typeface="맑은 고딕"/>
                <a:ea typeface="맑은 고딕"/>
              </a:rPr>
              <a:t>갱신</a:t>
            </a:r>
            <a:endParaRPr sz="650" b="1" dirty="0">
              <a:solidFill>
                <a:srgbClr val="000000"/>
              </a:solidFill>
              <a:latin typeface="맑은 고딕"/>
              <a:ea typeface="맑은 고딕"/>
            </a:endParaRPr>
          </a:p>
        </p:txBody>
      </p:sp>
      <p:cxnSp>
        <p:nvCxnSpPr>
          <p:cNvPr id="180" name="Connector 199"/>
          <p:cNvCxnSpPr/>
          <p:nvPr/>
        </p:nvCxnSpPr>
        <p:spPr>
          <a:xfrm flipV="1">
            <a:off x="8625914" y="4023348"/>
            <a:ext cx="118872" cy="52898"/>
          </a:xfrm>
          <a:prstGeom prst="line">
            <a:avLst/>
          </a:prstGeom>
          <a:ln w="12700">
            <a:solidFill>
              <a:srgbClr val="C55A11"/>
            </a:solidFill>
            <a:tailEnd type="triangle"/>
          </a:ln>
        </p:spPr>
      </p:cxnSp>
      <p:sp>
        <p:nvSpPr>
          <p:cNvPr id="181" name="Rectangle 200"/>
          <p:cNvSpPr/>
          <p:nvPr/>
        </p:nvSpPr>
        <p:spPr>
          <a:xfrm>
            <a:off x="8744786" y="4179199"/>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a:solidFill>
                  <a:srgbClr val="000000"/>
                </a:solidFill>
                <a:latin typeface="맑은 고딕"/>
                <a:ea typeface="맑은 고딕"/>
              </a:rPr>
              <a:t>Metrics 스냅샷</a:t>
            </a:r>
          </a:p>
        </p:txBody>
      </p:sp>
      <p:cxnSp>
        <p:nvCxnSpPr>
          <p:cNvPr id="182" name="Connector 201"/>
          <p:cNvCxnSpPr/>
          <p:nvPr/>
        </p:nvCxnSpPr>
        <p:spPr>
          <a:xfrm>
            <a:off x="8625914" y="4222930"/>
            <a:ext cx="118872" cy="37785"/>
          </a:xfrm>
          <a:prstGeom prst="line">
            <a:avLst/>
          </a:prstGeom>
          <a:ln w="12700">
            <a:solidFill>
              <a:srgbClr val="C55A11"/>
            </a:solidFill>
            <a:tailEnd type="triangle"/>
          </a:ln>
        </p:spPr>
      </p:cxnSp>
      <p:sp>
        <p:nvSpPr>
          <p:cNvPr id="183" name="Rectangle 202"/>
          <p:cNvSpPr/>
          <p:nvPr/>
        </p:nvSpPr>
        <p:spPr>
          <a:xfrm>
            <a:off x="9732338" y="3985863"/>
            <a:ext cx="73152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State</a:t>
            </a:r>
            <a:r>
              <a:rPr lang="en-US" sz="700" b="1" dirty="0">
                <a:solidFill>
                  <a:srgbClr val="000000"/>
                </a:solidFill>
                <a:latin typeface="맑은 고딕"/>
                <a:ea typeface="맑은 고딕"/>
              </a:rPr>
              <a:t> </a:t>
            </a:r>
            <a:r>
              <a:rPr sz="700" b="1" dirty="0">
                <a:solidFill>
                  <a:srgbClr val="000000"/>
                </a:solidFill>
                <a:latin typeface="맑은 고딕"/>
                <a:ea typeface="맑은 고딕"/>
              </a:rPr>
              <a:t>View</a:t>
            </a:r>
          </a:p>
        </p:txBody>
      </p:sp>
      <p:cxnSp>
        <p:nvCxnSpPr>
          <p:cNvPr id="184" name="Connector 203"/>
          <p:cNvCxnSpPr/>
          <p:nvPr/>
        </p:nvCxnSpPr>
        <p:spPr>
          <a:xfrm>
            <a:off x="9614474" y="4147871"/>
            <a:ext cx="118872" cy="0"/>
          </a:xfrm>
          <a:prstGeom prst="line">
            <a:avLst/>
          </a:prstGeom>
          <a:ln w="12700">
            <a:solidFill>
              <a:srgbClr val="C55A11"/>
            </a:solidFill>
            <a:tailEnd type="triangle"/>
          </a:ln>
        </p:spPr>
      </p:cxnSp>
      <p:cxnSp>
        <p:nvCxnSpPr>
          <p:cNvPr id="185" name="Connector 204"/>
          <p:cNvCxnSpPr>
            <a:stCxn id="183" idx="0"/>
            <a:endCxn id="172" idx="2"/>
          </p:cNvCxnSpPr>
          <p:nvPr/>
        </p:nvCxnSpPr>
        <p:spPr>
          <a:xfrm rot="16200000" flipV="1">
            <a:off x="8929312" y="2817077"/>
            <a:ext cx="464502" cy="1873070"/>
          </a:xfrm>
          <a:prstGeom prst="bentConnector3">
            <a:avLst>
              <a:gd name="adj1" fmla="val 50000"/>
            </a:avLst>
          </a:prstGeom>
          <a:ln w="15875">
            <a:solidFill>
              <a:srgbClr val="C55A11"/>
            </a:solidFill>
            <a:tailEnd type="triangle"/>
          </a:ln>
        </p:spPr>
      </p:cxnSp>
      <p:sp>
        <p:nvSpPr>
          <p:cNvPr id="186" name="Rectangle 213"/>
          <p:cNvSpPr/>
          <p:nvPr/>
        </p:nvSpPr>
        <p:spPr>
          <a:xfrm>
            <a:off x="10954512" y="1855359"/>
            <a:ext cx="914400" cy="1097280"/>
          </a:xfrm>
          <a:prstGeom prst="rect">
            <a:avLst/>
          </a:prstGeom>
          <a:solidFill>
            <a:srgbClr val="FFFFFF"/>
          </a:solidFill>
          <a:ln w="15875">
            <a:solidFill>
              <a:srgbClr val="7F7F7F"/>
            </a:solidFill>
          </a:ln>
          <a:effectLst/>
        </p:spPr>
        <p:txBody>
          <a:bodyPr rtlCol="0" anchor="ctr"/>
          <a:lstStyle/>
          <a:p>
            <a:pPr algn="ctr"/>
            <a:endParaRPr/>
          </a:p>
        </p:txBody>
      </p:sp>
      <p:sp>
        <p:nvSpPr>
          <p:cNvPr id="187" name="Rectangle 214"/>
          <p:cNvSpPr/>
          <p:nvPr/>
        </p:nvSpPr>
        <p:spPr>
          <a:xfrm>
            <a:off x="10954512" y="185535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89" name="Rectangle 215"/>
          <p:cNvSpPr/>
          <p:nvPr/>
        </p:nvSpPr>
        <p:spPr>
          <a:xfrm>
            <a:off x="11009376" y="2102247"/>
            <a:ext cx="804672" cy="778374"/>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(decode)</a:t>
            </a:r>
          </a:p>
        </p:txBody>
      </p:sp>
      <p:sp>
        <p:nvSpPr>
          <p:cNvPr id="190" name="Rectangle 216"/>
          <p:cNvSpPr/>
          <p:nvPr/>
        </p:nvSpPr>
        <p:spPr>
          <a:xfrm>
            <a:off x="10954512" y="3318399"/>
            <a:ext cx="914400" cy="1120311"/>
          </a:xfrm>
          <a:prstGeom prst="rect">
            <a:avLst/>
          </a:prstGeom>
          <a:solidFill>
            <a:srgbClr val="FFFFFF"/>
          </a:solidFill>
          <a:ln w="15875">
            <a:solidFill>
              <a:srgbClr val="7F7F7F"/>
            </a:solidFill>
          </a:ln>
          <a:effectLst/>
        </p:spPr>
        <p:txBody>
          <a:bodyPr rtlCol="0" anchor="ctr"/>
          <a:lstStyle/>
          <a:p>
            <a:pPr algn="ctr"/>
            <a:endParaRPr/>
          </a:p>
        </p:txBody>
      </p:sp>
      <p:sp>
        <p:nvSpPr>
          <p:cNvPr id="191" name="Rectangle 217"/>
          <p:cNvSpPr/>
          <p:nvPr/>
        </p:nvSpPr>
        <p:spPr>
          <a:xfrm>
            <a:off x="10954512" y="331839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92" name="Rectangle 218"/>
          <p:cNvSpPr/>
          <p:nvPr/>
        </p:nvSpPr>
        <p:spPr>
          <a:xfrm>
            <a:off x="11009376" y="3581876"/>
            <a:ext cx="804672" cy="736966"/>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(prefill)</a:t>
            </a:r>
          </a:p>
        </p:txBody>
      </p:sp>
      <p:cxnSp>
        <p:nvCxnSpPr>
          <p:cNvPr id="193" name="Connector 219"/>
          <p:cNvCxnSpPr/>
          <p:nvPr/>
        </p:nvCxnSpPr>
        <p:spPr>
          <a:xfrm>
            <a:off x="11411712" y="2945781"/>
            <a:ext cx="0" cy="377851"/>
          </a:xfrm>
          <a:prstGeom prst="line">
            <a:avLst/>
          </a:prstGeom>
          <a:ln w="15875">
            <a:solidFill>
              <a:srgbClr val="404040"/>
            </a:solidFill>
            <a:headEnd type="triangle"/>
            <a:tailEnd type="triangle"/>
          </a:ln>
        </p:spPr>
      </p:cxnSp>
      <p:sp>
        <p:nvSpPr>
          <p:cNvPr id="194" name="Oval 220"/>
          <p:cNvSpPr/>
          <p:nvPr/>
        </p:nvSpPr>
        <p:spPr>
          <a:xfrm>
            <a:off x="11553443" y="311265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4</a:t>
            </a:r>
          </a:p>
        </p:txBody>
      </p:sp>
      <p:cxnSp>
        <p:nvCxnSpPr>
          <p:cNvPr id="195" name="Connector 221"/>
          <p:cNvCxnSpPr/>
          <p:nvPr/>
        </p:nvCxnSpPr>
        <p:spPr>
          <a:xfrm flipV="1">
            <a:off x="10716767" y="2513727"/>
            <a:ext cx="292609" cy="164592"/>
          </a:xfrm>
          <a:prstGeom prst="line">
            <a:avLst/>
          </a:prstGeom>
          <a:ln w="15875">
            <a:solidFill>
              <a:srgbClr val="404040"/>
            </a:solidFill>
            <a:tailEnd type="triangle"/>
          </a:ln>
        </p:spPr>
      </p:cxnSp>
      <p:cxnSp>
        <p:nvCxnSpPr>
          <p:cNvPr id="196" name="Connector 223"/>
          <p:cNvCxnSpPr/>
          <p:nvPr/>
        </p:nvCxnSpPr>
        <p:spPr>
          <a:xfrm flipH="1">
            <a:off x="10716767" y="4141358"/>
            <a:ext cx="292609" cy="0"/>
          </a:xfrm>
          <a:prstGeom prst="line">
            <a:avLst/>
          </a:prstGeom>
          <a:ln w="15875">
            <a:solidFill>
              <a:srgbClr val="404040"/>
            </a:solidFill>
            <a:prstDash val="solid"/>
            <a:tailEnd type="triangle"/>
          </a:ln>
        </p:spPr>
      </p:cxnSp>
      <p:sp>
        <p:nvSpPr>
          <p:cNvPr id="198" name="Oval 224"/>
          <p:cNvSpPr/>
          <p:nvPr/>
        </p:nvSpPr>
        <p:spPr>
          <a:xfrm>
            <a:off x="10785347" y="3917330"/>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99" name="Rectangle 229"/>
          <p:cNvSpPr/>
          <p:nvPr/>
        </p:nvSpPr>
        <p:spPr>
          <a:xfrm>
            <a:off x="9349052" y="4516373"/>
            <a:ext cx="1554480" cy="14630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ko-KR" altLang="en-US" sz="700" b="1" dirty="0">
                <a:solidFill>
                  <a:srgbClr val="000000"/>
                </a:solidFill>
                <a:latin typeface="맑은 고딕"/>
                <a:ea typeface="맑은 고딕"/>
              </a:rPr>
              <a:t>자체 </a:t>
            </a:r>
            <a:r>
              <a:rPr sz="700" b="1" dirty="0" err="1">
                <a:solidFill>
                  <a:srgbClr val="000000"/>
                </a:solidFill>
                <a:latin typeface="맑은 고딕"/>
                <a:ea typeface="맑은 고딕"/>
              </a:rPr>
              <a:t>개발</a:t>
            </a:r>
            <a:endParaRPr sz="700" b="1" dirty="0">
              <a:solidFill>
                <a:srgbClr val="000000"/>
              </a:solidFill>
              <a:latin typeface="맑은 고딕"/>
              <a:ea typeface="맑은 고딕"/>
            </a:endParaRPr>
          </a:p>
        </p:txBody>
      </p:sp>
      <p:sp>
        <p:nvSpPr>
          <p:cNvPr id="201" name="Rectangle 231"/>
          <p:cNvSpPr/>
          <p:nvPr/>
        </p:nvSpPr>
        <p:spPr>
          <a:xfrm>
            <a:off x="10972800" y="4523670"/>
            <a:ext cx="868680" cy="146304"/>
          </a:xfrm>
          <a:prstGeom prst="rect">
            <a:avLst/>
          </a:prstGeom>
          <a:solidFill>
            <a:srgbClr val="F2F2F2"/>
          </a:solidFill>
          <a:ln w="12700">
            <a:solidFill>
              <a:srgbClr val="7F7F7F"/>
            </a:solidFill>
          </a:ln>
          <a:effectLst/>
        </p:spPr>
        <p:txBody>
          <a:bodyPr wrap="square" lIns="36576" tIns="18288" rIns="36576" bIns="18288" rtlCol="0" anchor="ctr"/>
          <a:lstStyle/>
          <a:p>
            <a:pPr algn="ctr"/>
            <a:r>
              <a:rPr sz="700" b="1" dirty="0" err="1">
                <a:solidFill>
                  <a:srgbClr val="000000"/>
                </a:solidFill>
                <a:latin typeface="맑은 고딕"/>
                <a:ea typeface="맑은 고딕"/>
              </a:rPr>
              <a:t>외부</a:t>
            </a:r>
            <a:r>
              <a:rPr sz="700" b="1" dirty="0">
                <a:solidFill>
                  <a:srgbClr val="000000"/>
                </a:solidFill>
                <a:latin typeface="맑은 고딕"/>
                <a:ea typeface="맑은 고딕"/>
              </a:rPr>
              <a:t> </a:t>
            </a:r>
            <a:r>
              <a:rPr sz="700" b="1" dirty="0" err="1">
                <a:solidFill>
                  <a:srgbClr val="000000"/>
                </a:solidFill>
                <a:latin typeface="맑은 고딕"/>
                <a:ea typeface="맑은 고딕"/>
              </a:rPr>
              <a:t>고정</a:t>
            </a:r>
            <a:r>
              <a:rPr sz="700" b="1" dirty="0">
                <a:solidFill>
                  <a:srgbClr val="000000"/>
                </a:solidFill>
                <a:latin typeface="맑은 고딕"/>
                <a:ea typeface="맑은 고딕"/>
              </a:rPr>
              <a:t>(</a:t>
            </a:r>
            <a:r>
              <a:rPr sz="700" b="1" dirty="0" err="1">
                <a:solidFill>
                  <a:srgbClr val="000000"/>
                </a:solidFill>
                <a:latin typeface="맑은 고딕"/>
                <a:ea typeface="맑은 고딕"/>
              </a:rPr>
              <a:t>vLLM</a:t>
            </a:r>
            <a:r>
              <a:rPr sz="700" b="1" dirty="0">
                <a:solidFill>
                  <a:srgbClr val="000000"/>
                </a:solidFill>
                <a:latin typeface="맑은 고딕"/>
                <a:ea typeface="맑은 고딕"/>
              </a:rPr>
              <a:t>)</a:t>
            </a:r>
          </a:p>
        </p:txBody>
      </p:sp>
      <p:sp>
        <p:nvSpPr>
          <p:cNvPr id="202" name="Rectangle 186"/>
          <p:cNvSpPr/>
          <p:nvPr/>
        </p:nvSpPr>
        <p:spPr>
          <a:xfrm>
            <a:off x="7262121" y="2486295"/>
            <a:ext cx="3491223" cy="1295578"/>
          </a:xfrm>
          <a:prstGeom prst="rect">
            <a:avLst/>
          </a:prstGeom>
          <a:noFill/>
          <a:ln w="6350">
            <a:solidFill>
              <a:srgbClr val="C55A11"/>
            </a:solidFill>
            <a:prstDash val="dash"/>
          </a:ln>
          <a:effectLst/>
        </p:spPr>
        <p:txBody>
          <a:bodyPr rtlCol="0" anchor="ctr"/>
          <a:lstStyle/>
          <a:p>
            <a:pPr algn="ctr"/>
            <a:endParaRPr/>
          </a:p>
        </p:txBody>
      </p:sp>
      <p:sp>
        <p:nvSpPr>
          <p:cNvPr id="203" name="TextBox 202"/>
          <p:cNvSpPr txBox="1"/>
          <p:nvPr/>
        </p:nvSpPr>
        <p:spPr>
          <a:xfrm>
            <a:off x="7328917" y="2487130"/>
            <a:ext cx="441197" cy="100027"/>
          </a:xfrm>
          <a:prstGeom prst="rect">
            <a:avLst/>
          </a:prstGeom>
          <a:noFill/>
        </p:spPr>
        <p:txBody>
          <a:bodyPr wrap="square" lIns="0" tIns="0" rIns="0" bIns="0" anchor="t">
            <a:spAutoFit/>
          </a:bodyPr>
          <a:lstStyle/>
          <a:p>
            <a:pPr algn="l"/>
            <a:r>
              <a:rPr sz="650" b="1" dirty="0">
                <a:solidFill>
                  <a:srgbClr val="C55A11"/>
                </a:solidFill>
                <a:latin typeface="맑은 고딕"/>
                <a:ea typeface="맑은 고딕"/>
              </a:rPr>
              <a:t>Pipeline</a:t>
            </a:r>
          </a:p>
        </p:txBody>
      </p:sp>
      <p:sp>
        <p:nvSpPr>
          <p:cNvPr id="204" name="Rectangle 186"/>
          <p:cNvSpPr/>
          <p:nvPr/>
        </p:nvSpPr>
        <p:spPr>
          <a:xfrm>
            <a:off x="7262121" y="3873002"/>
            <a:ext cx="3491223" cy="511943"/>
          </a:xfrm>
          <a:prstGeom prst="rect">
            <a:avLst/>
          </a:prstGeom>
          <a:noFill/>
          <a:ln w="6350">
            <a:solidFill>
              <a:srgbClr val="C55A11"/>
            </a:solidFill>
            <a:prstDash val="dash"/>
          </a:ln>
          <a:effectLst/>
        </p:spPr>
        <p:txBody>
          <a:bodyPr rtlCol="0" anchor="ctr"/>
          <a:lstStyle/>
          <a:p>
            <a:pPr algn="ctr"/>
            <a:endParaRPr/>
          </a:p>
        </p:txBody>
      </p:sp>
      <p:sp>
        <p:nvSpPr>
          <p:cNvPr id="205" name="TextBox 204"/>
          <p:cNvSpPr txBox="1"/>
          <p:nvPr/>
        </p:nvSpPr>
        <p:spPr>
          <a:xfrm>
            <a:off x="7301483" y="3896606"/>
            <a:ext cx="1097280"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State Plane</a:t>
            </a:r>
            <a:endParaRPr sz="650" b="1" dirty="0">
              <a:solidFill>
                <a:srgbClr val="C55A11"/>
              </a:solidFill>
              <a:latin typeface="맑은 고딕"/>
              <a:ea typeface="맑은 고딕"/>
            </a:endParaRPr>
          </a:p>
        </p:txBody>
      </p:sp>
      <p:cxnSp>
        <p:nvCxnSpPr>
          <p:cNvPr id="206" name="Connector 194"/>
          <p:cNvCxnSpPr/>
          <p:nvPr/>
        </p:nvCxnSpPr>
        <p:spPr>
          <a:xfrm>
            <a:off x="9007383" y="2888631"/>
            <a:ext cx="0" cy="201168"/>
          </a:xfrm>
          <a:prstGeom prst="line">
            <a:avLst/>
          </a:prstGeom>
          <a:ln w="15875">
            <a:solidFill>
              <a:srgbClr val="5E35B1"/>
            </a:solidFill>
            <a:tailEnd type="triangle"/>
          </a:ln>
        </p:spPr>
      </p:cxnSp>
      <p:sp>
        <p:nvSpPr>
          <p:cNvPr id="207" name="Rectangle 186"/>
          <p:cNvSpPr/>
          <p:nvPr/>
        </p:nvSpPr>
        <p:spPr>
          <a:xfrm>
            <a:off x="7262121" y="2045307"/>
            <a:ext cx="3491223" cy="374525"/>
          </a:xfrm>
          <a:prstGeom prst="rect">
            <a:avLst/>
          </a:prstGeom>
          <a:noFill/>
          <a:ln w="6350">
            <a:solidFill>
              <a:srgbClr val="C55A11"/>
            </a:solidFill>
            <a:prstDash val="dash"/>
          </a:ln>
          <a:effectLst/>
        </p:spPr>
        <p:txBody>
          <a:bodyPr rtlCol="0" anchor="ctr"/>
          <a:lstStyle/>
          <a:p>
            <a:pPr algn="ctr"/>
            <a:endParaRPr/>
          </a:p>
        </p:txBody>
      </p:sp>
      <p:sp>
        <p:nvSpPr>
          <p:cNvPr id="208" name="TextBox 207"/>
          <p:cNvSpPr txBox="1"/>
          <p:nvPr/>
        </p:nvSpPr>
        <p:spPr>
          <a:xfrm>
            <a:off x="7328917" y="2045307"/>
            <a:ext cx="441197"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Ingress</a:t>
            </a:r>
            <a:endParaRPr sz="650" b="1" dirty="0">
              <a:solidFill>
                <a:srgbClr val="C55A11"/>
              </a:solidFill>
              <a:latin typeface="맑은 고딕"/>
              <a:ea typeface="맑은 고딕"/>
            </a:endParaRPr>
          </a:p>
        </p:txBody>
      </p:sp>
      <p:sp>
        <p:nvSpPr>
          <p:cNvPr id="209" name="Oval 166"/>
          <p:cNvSpPr/>
          <p:nvPr/>
        </p:nvSpPr>
        <p:spPr>
          <a:xfrm>
            <a:off x="3888485" y="307926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7</a:t>
            </a:r>
          </a:p>
        </p:txBody>
      </p:sp>
      <p:sp>
        <p:nvSpPr>
          <p:cNvPr id="210" name="Oval 182"/>
          <p:cNvSpPr/>
          <p:nvPr/>
        </p:nvSpPr>
        <p:spPr>
          <a:xfrm>
            <a:off x="7932419" y="2380307"/>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2</a:t>
            </a:r>
          </a:p>
        </p:txBody>
      </p:sp>
      <p:cxnSp>
        <p:nvCxnSpPr>
          <p:cNvPr id="211" name="Connector 221"/>
          <p:cNvCxnSpPr/>
          <p:nvPr/>
        </p:nvCxnSpPr>
        <p:spPr>
          <a:xfrm>
            <a:off x="10730484" y="2834930"/>
            <a:ext cx="233171" cy="809225"/>
          </a:xfrm>
          <a:prstGeom prst="line">
            <a:avLst/>
          </a:prstGeom>
          <a:ln w="15875">
            <a:solidFill>
              <a:srgbClr val="404040"/>
            </a:solidFill>
            <a:tailEnd type="triangle"/>
          </a:ln>
        </p:spPr>
      </p:cxnSp>
      <p:sp>
        <p:nvSpPr>
          <p:cNvPr id="212" name="Oval 222"/>
          <p:cNvSpPr/>
          <p:nvPr/>
        </p:nvSpPr>
        <p:spPr>
          <a:xfrm>
            <a:off x="10771632" y="270117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sp>
        <p:nvSpPr>
          <p:cNvPr id="213" name="Rectangle 190"/>
          <p:cNvSpPr/>
          <p:nvPr/>
        </p:nvSpPr>
        <p:spPr>
          <a:xfrm>
            <a:off x="9217152" y="2945781"/>
            <a:ext cx="1045464"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P/D </a:t>
            </a:r>
            <a:r>
              <a:rPr lang="ko-KR" altLang="en-US" sz="600" b="1" dirty="0">
                <a:solidFill>
                  <a:srgbClr val="5E35B1"/>
                </a:solidFill>
                <a:latin typeface="맑은 고딕"/>
                <a:ea typeface="맑은 고딕"/>
              </a:rPr>
              <a:t>결정 </a:t>
            </a:r>
            <a:r>
              <a:rPr sz="600" b="1" dirty="0" err="1">
                <a:solidFill>
                  <a:srgbClr val="5E35B1"/>
                </a:solidFill>
                <a:latin typeface="맑은 고딕"/>
                <a:ea typeface="맑은 고딕"/>
              </a:rPr>
              <a:t>정책</a:t>
            </a:r>
            <a:endParaRPr sz="600" b="1" dirty="0">
              <a:solidFill>
                <a:srgbClr val="5E35B1"/>
              </a:solidFill>
              <a:latin typeface="맑은 고딕"/>
              <a:ea typeface="맑은 고딕"/>
            </a:endParaRPr>
          </a:p>
        </p:txBody>
      </p:sp>
      <p:sp>
        <p:nvSpPr>
          <p:cNvPr id="214" name="Rectangle 191"/>
          <p:cNvSpPr/>
          <p:nvPr/>
        </p:nvSpPr>
        <p:spPr>
          <a:xfrm>
            <a:off x="9217152" y="3113929"/>
            <a:ext cx="1536192" cy="217170"/>
          </a:xfrm>
          <a:prstGeom prst="rect">
            <a:avLst/>
          </a:prstGeom>
          <a:solidFill>
            <a:srgbClr val="FFFFFF"/>
          </a:solidFill>
          <a:ln w="15875">
            <a:solidFill>
              <a:srgbClr val="5E35B1"/>
            </a:solidFill>
          </a:ln>
          <a:effectLst/>
        </p:spPr>
        <p:txBody>
          <a:bodyPr rtlCol="0" anchor="ctr"/>
          <a:lstStyle/>
          <a:p>
            <a:pPr algn="ctr"/>
            <a:endParaRPr/>
          </a:p>
        </p:txBody>
      </p:sp>
      <p:sp>
        <p:nvSpPr>
          <p:cNvPr id="215" name="TextBox 214"/>
          <p:cNvSpPr txBox="1"/>
          <p:nvPr/>
        </p:nvSpPr>
        <p:spPr>
          <a:xfrm>
            <a:off x="9424327" y="3162223"/>
            <a:ext cx="1209124"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PDPlanStrategy</a:t>
            </a:r>
            <a:endParaRPr sz="650" b="1" dirty="0">
              <a:solidFill>
                <a:srgbClr val="5E35B1"/>
              </a:solidFill>
              <a:latin typeface="맑은 고딕"/>
              <a:ea typeface="맑은 고딕"/>
            </a:endParaRPr>
          </a:p>
        </p:txBody>
      </p:sp>
      <p:sp>
        <p:nvSpPr>
          <p:cNvPr id="218" name="Oval 205"/>
          <p:cNvSpPr/>
          <p:nvPr/>
        </p:nvSpPr>
        <p:spPr>
          <a:xfrm>
            <a:off x="8508745" y="3721044"/>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226" name="실행 단추: 앞으로 또는 다음 225">
            <a:hlinkClick r:id="rId4" action="ppaction://hlinksldjump" highlightClick="1"/>
          </p:cNvPr>
          <p:cNvSpPr/>
          <p:nvPr/>
        </p:nvSpPr>
        <p:spPr>
          <a:xfrm>
            <a:off x="508836" y="6404267"/>
            <a:ext cx="250190" cy="1933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직사각형 23"/>
          <p:cNvSpPr/>
          <p:nvPr/>
        </p:nvSpPr>
        <p:spPr>
          <a:xfrm>
            <a:off x="6583680" y="1044054"/>
            <a:ext cx="5524500" cy="555359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모서리가 둥근 직사각형 37">
            <a:extLst>
              <a:ext uri="{FF2B5EF4-FFF2-40B4-BE49-F238E27FC236}">
                <a16:creationId xmlns:a16="http://schemas.microsoft.com/office/drawing/2014/main" id="{4BD11893-311E-4F63-BB6E-C521E78A166E}"/>
              </a:ext>
            </a:extLst>
          </p:cNvPr>
          <p:cNvSpPr/>
          <p:nvPr/>
        </p:nvSpPr>
        <p:spPr>
          <a:xfrm>
            <a:off x="8280123" y="617897"/>
            <a:ext cx="1333343"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Cluster-level </a:t>
            </a:r>
            <a:r>
              <a:rPr lang="ko-KR" altLang="en-US" sz="700" dirty="0">
                <a:latin typeface="맑은 고딕" panose="020B0503020000020004" pitchFamily="50" charset="-127"/>
                <a:ea typeface="맑은 고딕" panose="020B0503020000020004" pitchFamily="50" charset="-127"/>
              </a:rPr>
              <a:t>스케줄링</a:t>
            </a:r>
          </a:p>
        </p:txBody>
      </p:sp>
      <p:sp>
        <p:nvSpPr>
          <p:cNvPr id="168" name="모서리가 둥근 직사각형 37">
            <a:extLst>
              <a:ext uri="{FF2B5EF4-FFF2-40B4-BE49-F238E27FC236}">
                <a16:creationId xmlns:a16="http://schemas.microsoft.com/office/drawing/2014/main" id="{E7E38110-0CB7-47B4-8011-B921EB7B3995}"/>
              </a:ext>
            </a:extLst>
          </p:cNvPr>
          <p:cNvSpPr/>
          <p:nvPr/>
        </p:nvSpPr>
        <p:spPr>
          <a:xfrm>
            <a:off x="9689179"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169" name="모서리가 둥근 직사각형 37">
            <a:extLst>
              <a:ext uri="{FF2B5EF4-FFF2-40B4-BE49-F238E27FC236}">
                <a16:creationId xmlns:a16="http://schemas.microsoft.com/office/drawing/2014/main" id="{DE1BF968-FFA4-46B4-90C6-B1E8DB8C91AF}"/>
              </a:ext>
            </a:extLst>
          </p:cNvPr>
          <p:cNvSpPr/>
          <p:nvPr/>
        </p:nvSpPr>
        <p:spPr>
          <a:xfrm>
            <a:off x="862834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78" name="모서리가 둥근 직사각형 37">
            <a:extLst>
              <a:ext uri="{FF2B5EF4-FFF2-40B4-BE49-F238E27FC236}">
                <a16:creationId xmlns:a16="http://schemas.microsoft.com/office/drawing/2014/main" id="{2EE54A42-5B2F-4FE0-A422-DD03503EAEB5}"/>
              </a:ext>
            </a:extLst>
          </p:cNvPr>
          <p:cNvSpPr/>
          <p:nvPr/>
        </p:nvSpPr>
        <p:spPr>
          <a:xfrm>
            <a:off x="9537693"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88" name="모서리가 둥근 직사각형 37">
            <a:extLst>
              <a:ext uri="{FF2B5EF4-FFF2-40B4-BE49-F238E27FC236}">
                <a16:creationId xmlns:a16="http://schemas.microsoft.com/office/drawing/2014/main" id="{0BDF1551-12B4-4B01-B90A-B811ECD76107}"/>
              </a:ext>
            </a:extLst>
          </p:cNvPr>
          <p:cNvSpPr/>
          <p:nvPr/>
        </p:nvSpPr>
        <p:spPr>
          <a:xfrm>
            <a:off x="10207727"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197" name="모서리가 둥근 직사각형 37">
            <a:extLst>
              <a:ext uri="{FF2B5EF4-FFF2-40B4-BE49-F238E27FC236}">
                <a16:creationId xmlns:a16="http://schemas.microsoft.com/office/drawing/2014/main" id="{0119A226-F96E-4BEF-A47B-105FF8B1123E}"/>
              </a:ext>
            </a:extLst>
          </p:cNvPr>
          <p:cNvSpPr/>
          <p:nvPr/>
        </p:nvSpPr>
        <p:spPr>
          <a:xfrm>
            <a:off x="1109778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Q6 </a:t>
            </a:r>
            <a:r>
              <a:rPr lang="ko-KR" altLang="en-US" sz="700" dirty="0">
                <a:latin typeface="맑은 고딕" panose="020B0503020000020004" pitchFamily="50" charset="-127"/>
              </a:rPr>
              <a:t>시스템 확장성</a:t>
            </a:r>
          </a:p>
        </p:txBody>
      </p:sp>
      <p:sp>
        <p:nvSpPr>
          <p:cNvPr id="200" name="모서리가 둥근 직사각형 37">
            <a:extLst>
              <a:ext uri="{FF2B5EF4-FFF2-40B4-BE49-F238E27FC236}">
                <a16:creationId xmlns:a16="http://schemas.microsoft.com/office/drawing/2014/main" id="{68735780-5A6B-456E-A271-9CF53087EB62}"/>
              </a:ext>
            </a:extLst>
          </p:cNvPr>
          <p:cNvSpPr/>
          <p:nvPr/>
        </p:nvSpPr>
        <p:spPr>
          <a:xfrm>
            <a:off x="10585229" y="616927"/>
            <a:ext cx="134944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C3</a:t>
            </a:r>
            <a:r>
              <a:rPr lang="ko-KR" altLang="en-US" sz="700" dirty="0">
                <a:latin typeface="맑은 고딕" panose="020B0503020000020004" pitchFamily="50" charset="-127"/>
              </a:rPr>
              <a:t> 시스템 확장 </a:t>
            </a:r>
            <a:r>
              <a:rPr lang="en-US" altLang="ko-KR" sz="700" dirty="0">
                <a:latin typeface="맑은 고딕" panose="020B0503020000020004" pitchFamily="50" charset="-127"/>
              </a:rPr>
              <a:t>Simulation </a:t>
            </a:r>
            <a:endParaRPr lang="ko-KR" altLang="en-US" sz="700" dirty="0">
              <a:latin typeface="맑은 고딕" panose="020B0503020000020004" pitchFamily="50" charset="-127"/>
            </a:endParaRPr>
          </a:p>
        </p:txBody>
      </p:sp>
      <p:sp>
        <p:nvSpPr>
          <p:cNvPr id="140" name="TextBox 139">
            <a:extLst>
              <a:ext uri="{FF2B5EF4-FFF2-40B4-BE49-F238E27FC236}">
                <a16:creationId xmlns:a16="http://schemas.microsoft.com/office/drawing/2014/main" id="{35BDE469-E26D-49D5-A697-90B64472DEF7}"/>
              </a:ext>
            </a:extLst>
          </p:cNvPr>
          <p:cNvSpPr txBox="1"/>
          <p:nvPr/>
        </p:nvSpPr>
        <p:spPr>
          <a:xfrm>
            <a:off x="5939696" y="6212211"/>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216" name="TextBox 215">
            <a:extLst>
              <a:ext uri="{FF2B5EF4-FFF2-40B4-BE49-F238E27FC236}">
                <a16:creationId xmlns:a16="http://schemas.microsoft.com/office/drawing/2014/main" id="{CA05CC5B-3220-4A0F-80AE-5105E6ECA7EF}"/>
              </a:ext>
            </a:extLst>
          </p:cNvPr>
          <p:cNvSpPr txBox="1"/>
          <p:nvPr/>
        </p:nvSpPr>
        <p:spPr>
          <a:xfrm>
            <a:off x="11383409" y="6212211"/>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217" name="직사각형 216"/>
          <p:cNvSpPr/>
          <p:nvPr/>
        </p:nvSpPr>
        <p:spPr>
          <a:xfrm>
            <a:off x="6575824" y="39276"/>
            <a:ext cx="1335273" cy="46134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Extra DP</a:t>
            </a:r>
            <a:endParaRPr lang="ko-KR" altLang="en-US" dirty="0"/>
          </a:p>
        </p:txBody>
      </p:sp>
    </p:spTree>
    <p:extLst>
      <p:ext uri="{BB962C8B-B14F-4D97-AF65-F5344CB8AC3E}">
        <p14:creationId xmlns:p14="http://schemas.microsoft.com/office/powerpoint/2010/main" val="1305038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6"/>
            <a:ext cx="5844033" cy="5145914"/>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5145914"/>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6953409" y="1111613"/>
            <a:ext cx="4302132"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600" b="1" dirty="0">
                <a:latin typeface="+mj-ea"/>
                <a:ea typeface="+mj-ea"/>
              </a:rPr>
              <a:t>메모리 수요 급증과 고객 요구 변화</a:t>
            </a:r>
          </a:p>
        </p:txBody>
      </p:sp>
      <p:sp>
        <p:nvSpPr>
          <p:cNvPr id="75" name="직사각형 74"/>
          <p:cNvSpPr/>
          <p:nvPr/>
        </p:nvSpPr>
        <p:spPr>
          <a:xfrm>
            <a:off x="1089957" y="1111613"/>
            <a:ext cx="4302132"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600" b="1" dirty="0">
                <a:latin typeface="+mj-ea"/>
                <a:ea typeface="+mj-ea"/>
              </a:rPr>
              <a:t>Agentic AI</a:t>
            </a:r>
            <a:r>
              <a:rPr lang="ko-KR" altLang="en-US" sz="1600" b="1" dirty="0">
                <a:latin typeface="+mj-ea"/>
                <a:ea typeface="+mj-ea"/>
              </a:rPr>
              <a:t> 확산과 워크로드 변화</a:t>
            </a:r>
          </a:p>
        </p:txBody>
      </p:sp>
      <p:sp>
        <p:nvSpPr>
          <p:cNvPr id="13" name="Text 4">
            <a:extLst>
              <a:ext uri="{FF2B5EF4-FFF2-40B4-BE49-F238E27FC236}">
                <a16:creationId xmlns:a16="http://schemas.microsoft.com/office/drawing/2014/main" id="{C44DAA88-1E1D-424F-ACC1-EF63E87ABAB2}"/>
              </a:ext>
            </a:extLst>
          </p:cNvPr>
          <p:cNvSpPr/>
          <p:nvPr/>
        </p:nvSpPr>
        <p:spPr>
          <a:xfrm>
            <a:off x="552450" y="1610483"/>
            <a:ext cx="5389372"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222222"/>
                </a:solidFill>
                <a:latin typeface="+mj-ea"/>
                <a:ea typeface="+mj-ea"/>
                <a:cs typeface="Noto Sans KR" pitchFamily="34" charset="-120"/>
              </a:rPr>
              <a:t>① Context </a:t>
            </a:r>
            <a:r>
              <a:rPr lang="en-US" sz="1400" b="1" dirty="0" err="1">
                <a:solidFill>
                  <a:srgbClr val="222222"/>
                </a:solidFill>
                <a:latin typeface="+mj-ea"/>
                <a:ea typeface="+mj-ea"/>
                <a:cs typeface="Noto Sans KR" pitchFamily="34" charset="-120"/>
              </a:rPr>
              <a:t>누적</a:t>
            </a:r>
            <a:r>
              <a:rPr lang="en-US" sz="1400" b="1" dirty="0">
                <a:solidFill>
                  <a:srgbClr val="222222"/>
                </a:solidFill>
                <a:latin typeface="+mj-ea"/>
                <a:ea typeface="+mj-ea"/>
                <a:cs typeface="Noto Sans KR" pitchFamily="34" charset="-120"/>
              </a:rPr>
              <a:t> → </a:t>
            </a:r>
            <a:r>
              <a:rPr lang="ko-KR" altLang="en-US" sz="1400" b="1" dirty="0">
                <a:solidFill>
                  <a:srgbClr val="222222"/>
                </a:solidFill>
                <a:latin typeface="+mj-ea"/>
                <a:ea typeface="+mj-ea"/>
                <a:cs typeface="Noto Sans KR" pitchFamily="34" charset="-120"/>
              </a:rPr>
              <a:t>데이터 </a:t>
            </a:r>
            <a:r>
              <a:rPr lang="en-US" altLang="ko-KR" sz="1400" b="1" dirty="0">
                <a:solidFill>
                  <a:srgbClr val="222222"/>
                </a:solidFill>
                <a:latin typeface="+mj-ea"/>
                <a:ea typeface="+mj-ea"/>
                <a:cs typeface="Noto Sans KR" pitchFamily="34" charset="-120"/>
              </a:rPr>
              <a:t>(</a:t>
            </a:r>
            <a:r>
              <a:rPr lang="en-US" sz="1400" b="1" dirty="0">
                <a:solidFill>
                  <a:srgbClr val="222222"/>
                </a:solidFill>
                <a:latin typeface="+mj-ea"/>
                <a:ea typeface="+mj-ea"/>
                <a:cs typeface="Noto Sans KR" pitchFamily="34" charset="-120"/>
              </a:rPr>
              <a:t>KV cache) </a:t>
            </a:r>
            <a:r>
              <a:rPr lang="en-US" sz="1400" b="1" dirty="0" err="1">
                <a:solidFill>
                  <a:srgbClr val="222222"/>
                </a:solidFill>
                <a:latin typeface="+mj-ea"/>
                <a:ea typeface="+mj-ea"/>
                <a:cs typeface="Noto Sans KR" pitchFamily="34" charset="-120"/>
              </a:rPr>
              <a:t>폭증</a:t>
            </a:r>
            <a:endParaRPr lang="en-US" sz="1400" dirty="0">
              <a:latin typeface="+mj-ea"/>
              <a:ea typeface="+mj-ea"/>
            </a:endParaRPr>
          </a:p>
        </p:txBody>
      </p:sp>
      <p:sp>
        <p:nvSpPr>
          <p:cNvPr id="14" name="Shape 5">
            <a:extLst>
              <a:ext uri="{FF2B5EF4-FFF2-40B4-BE49-F238E27FC236}">
                <a16:creationId xmlns:a16="http://schemas.microsoft.com/office/drawing/2014/main" id="{528E0DA7-94ED-4866-AF11-F0E495B96E05}"/>
              </a:ext>
            </a:extLst>
          </p:cNvPr>
          <p:cNvSpPr/>
          <p:nvPr/>
        </p:nvSpPr>
        <p:spPr>
          <a:xfrm>
            <a:off x="552450" y="1892363"/>
            <a:ext cx="5232400" cy="777180"/>
          </a:xfrm>
          <a:prstGeom prst="roundRect">
            <a:avLst>
              <a:gd name="adj" fmla="val 11439"/>
            </a:avLst>
          </a:prstGeom>
          <a:solidFill>
            <a:srgbClr val="F4F7FB"/>
          </a:solidFill>
          <a:ln/>
        </p:spPr>
      </p:sp>
      <p:sp>
        <p:nvSpPr>
          <p:cNvPr id="15" name="Text 6">
            <a:extLst>
              <a:ext uri="{FF2B5EF4-FFF2-40B4-BE49-F238E27FC236}">
                <a16:creationId xmlns:a16="http://schemas.microsoft.com/office/drawing/2014/main" id="{04739E61-4A01-4E3C-81CF-A45B34ED8804}"/>
              </a:ext>
            </a:extLst>
          </p:cNvPr>
          <p:cNvSpPr/>
          <p:nvPr/>
        </p:nvSpPr>
        <p:spPr>
          <a:xfrm>
            <a:off x="654050" y="1955863"/>
            <a:ext cx="1962150"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채팅 · 1×</a:t>
            </a:r>
            <a:endParaRPr lang="en-US" sz="1200" dirty="0">
              <a:latin typeface="+mj-ea"/>
              <a:ea typeface="+mj-ea"/>
            </a:endParaRPr>
          </a:p>
        </p:txBody>
      </p:sp>
      <p:sp>
        <p:nvSpPr>
          <p:cNvPr id="16" name="Shape 7">
            <a:extLst>
              <a:ext uri="{FF2B5EF4-FFF2-40B4-BE49-F238E27FC236}">
                <a16:creationId xmlns:a16="http://schemas.microsoft.com/office/drawing/2014/main" id="{65285D05-4942-44BB-BC66-9135F6DC9894}"/>
              </a:ext>
            </a:extLst>
          </p:cNvPr>
          <p:cNvSpPr/>
          <p:nvPr/>
        </p:nvSpPr>
        <p:spPr>
          <a:xfrm>
            <a:off x="2635250" y="1964694"/>
            <a:ext cx="158750" cy="165100"/>
          </a:xfrm>
          <a:prstGeom prst="roundRect">
            <a:avLst>
              <a:gd name="adj" fmla="val 12000"/>
            </a:avLst>
          </a:prstGeom>
          <a:solidFill>
            <a:srgbClr val="C55A11"/>
          </a:solidFill>
          <a:ln/>
        </p:spPr>
      </p:sp>
      <p:sp>
        <p:nvSpPr>
          <p:cNvPr id="17" name="Text 8">
            <a:extLst>
              <a:ext uri="{FF2B5EF4-FFF2-40B4-BE49-F238E27FC236}">
                <a16:creationId xmlns:a16="http://schemas.microsoft.com/office/drawing/2014/main" id="{0293B86A-89EB-493F-8695-691318227451}"/>
              </a:ext>
            </a:extLst>
          </p:cNvPr>
          <p:cNvSpPr/>
          <p:nvPr/>
        </p:nvSpPr>
        <p:spPr>
          <a:xfrm>
            <a:off x="2870200" y="1955863"/>
            <a:ext cx="363617"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6GB</a:t>
            </a:r>
            <a:endParaRPr lang="en-US" sz="1200" dirty="0">
              <a:latin typeface="+mj-ea"/>
              <a:ea typeface="+mj-ea"/>
            </a:endParaRPr>
          </a:p>
        </p:txBody>
      </p:sp>
      <p:sp>
        <p:nvSpPr>
          <p:cNvPr id="18" name="Text 9">
            <a:extLst>
              <a:ext uri="{FF2B5EF4-FFF2-40B4-BE49-F238E27FC236}">
                <a16:creationId xmlns:a16="http://schemas.microsoft.com/office/drawing/2014/main" id="{F0B7BF44-E3C5-4EB9-944F-FA86377C59D0}"/>
              </a:ext>
            </a:extLst>
          </p:cNvPr>
          <p:cNvSpPr/>
          <p:nvPr/>
        </p:nvSpPr>
        <p:spPr>
          <a:xfrm>
            <a:off x="654050" y="2189523"/>
            <a:ext cx="1962150"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에이전트 · ≈4×</a:t>
            </a:r>
            <a:endParaRPr lang="en-US" sz="1200" dirty="0">
              <a:latin typeface="+mj-ea"/>
              <a:ea typeface="+mj-ea"/>
            </a:endParaRPr>
          </a:p>
        </p:txBody>
      </p:sp>
      <p:sp>
        <p:nvSpPr>
          <p:cNvPr id="19" name="Shape 10">
            <a:extLst>
              <a:ext uri="{FF2B5EF4-FFF2-40B4-BE49-F238E27FC236}">
                <a16:creationId xmlns:a16="http://schemas.microsoft.com/office/drawing/2014/main" id="{FC0FF624-419B-4532-BBC0-FC27007663FC}"/>
              </a:ext>
            </a:extLst>
          </p:cNvPr>
          <p:cNvSpPr/>
          <p:nvPr/>
        </p:nvSpPr>
        <p:spPr>
          <a:xfrm>
            <a:off x="2635250" y="2198354"/>
            <a:ext cx="654050" cy="165100"/>
          </a:xfrm>
          <a:prstGeom prst="roundRect">
            <a:avLst>
              <a:gd name="adj" fmla="val 11538"/>
            </a:avLst>
          </a:prstGeom>
          <a:solidFill>
            <a:srgbClr val="C55A11"/>
          </a:solidFill>
          <a:ln/>
        </p:spPr>
      </p:sp>
      <p:sp>
        <p:nvSpPr>
          <p:cNvPr id="20" name="Text 11">
            <a:extLst>
              <a:ext uri="{FF2B5EF4-FFF2-40B4-BE49-F238E27FC236}">
                <a16:creationId xmlns:a16="http://schemas.microsoft.com/office/drawing/2014/main" id="{6CAA1802-EBF2-4613-B8E1-0694D4128522}"/>
              </a:ext>
            </a:extLst>
          </p:cNvPr>
          <p:cNvSpPr/>
          <p:nvPr/>
        </p:nvSpPr>
        <p:spPr>
          <a:xfrm>
            <a:off x="3365500" y="2189523"/>
            <a:ext cx="471488"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25GB</a:t>
            </a:r>
            <a:endParaRPr lang="en-US" sz="1200" dirty="0">
              <a:latin typeface="+mj-ea"/>
              <a:ea typeface="+mj-ea"/>
            </a:endParaRPr>
          </a:p>
        </p:txBody>
      </p:sp>
      <p:sp>
        <p:nvSpPr>
          <p:cNvPr id="21" name="Text 12">
            <a:extLst>
              <a:ext uri="{FF2B5EF4-FFF2-40B4-BE49-F238E27FC236}">
                <a16:creationId xmlns:a16="http://schemas.microsoft.com/office/drawing/2014/main" id="{D7CE5DFB-B795-4A44-9BA0-73522FFBCD2C}"/>
              </a:ext>
            </a:extLst>
          </p:cNvPr>
          <p:cNvSpPr/>
          <p:nvPr/>
        </p:nvSpPr>
        <p:spPr>
          <a:xfrm>
            <a:off x="654050" y="2423184"/>
            <a:ext cx="1962150"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멀티에이전트 · ≈15×</a:t>
            </a:r>
            <a:endParaRPr lang="en-US" sz="1200" dirty="0">
              <a:latin typeface="+mj-ea"/>
              <a:ea typeface="+mj-ea"/>
            </a:endParaRPr>
          </a:p>
        </p:txBody>
      </p:sp>
      <p:sp>
        <p:nvSpPr>
          <p:cNvPr id="22" name="Shape 13">
            <a:extLst>
              <a:ext uri="{FF2B5EF4-FFF2-40B4-BE49-F238E27FC236}">
                <a16:creationId xmlns:a16="http://schemas.microsoft.com/office/drawing/2014/main" id="{8323BB89-727F-4440-B9AD-EB76898EC7AA}"/>
              </a:ext>
            </a:extLst>
          </p:cNvPr>
          <p:cNvSpPr/>
          <p:nvPr/>
        </p:nvSpPr>
        <p:spPr>
          <a:xfrm>
            <a:off x="2635250" y="2432014"/>
            <a:ext cx="2413000" cy="165100"/>
          </a:xfrm>
          <a:prstGeom prst="roundRect">
            <a:avLst>
              <a:gd name="adj" fmla="val 11538"/>
            </a:avLst>
          </a:prstGeom>
          <a:solidFill>
            <a:srgbClr val="C55A11"/>
          </a:solidFill>
          <a:ln/>
        </p:spPr>
      </p:sp>
      <p:sp>
        <p:nvSpPr>
          <p:cNvPr id="23" name="Text 14">
            <a:extLst>
              <a:ext uri="{FF2B5EF4-FFF2-40B4-BE49-F238E27FC236}">
                <a16:creationId xmlns:a16="http://schemas.microsoft.com/office/drawing/2014/main" id="{2BE43CBF-16B0-4AFC-97D7-EA4C26E1A752}"/>
              </a:ext>
            </a:extLst>
          </p:cNvPr>
          <p:cNvSpPr/>
          <p:nvPr/>
        </p:nvSpPr>
        <p:spPr>
          <a:xfrm>
            <a:off x="5124450" y="2423184"/>
            <a:ext cx="471488"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92GB</a:t>
            </a:r>
            <a:endParaRPr lang="en-US" sz="1200" dirty="0">
              <a:latin typeface="+mj-ea"/>
              <a:ea typeface="+mj-ea"/>
            </a:endParaRPr>
          </a:p>
        </p:txBody>
      </p:sp>
      <p:sp>
        <p:nvSpPr>
          <p:cNvPr id="24" name="Shape 15">
            <a:extLst>
              <a:ext uri="{FF2B5EF4-FFF2-40B4-BE49-F238E27FC236}">
                <a16:creationId xmlns:a16="http://schemas.microsoft.com/office/drawing/2014/main" id="{D8DB687D-B7B0-4A61-9578-ED0FFF526AE5}"/>
              </a:ext>
            </a:extLst>
          </p:cNvPr>
          <p:cNvSpPr/>
          <p:nvPr/>
        </p:nvSpPr>
        <p:spPr>
          <a:xfrm>
            <a:off x="4629150" y="1917763"/>
            <a:ext cx="19050" cy="726380"/>
          </a:xfrm>
          <a:prstGeom prst="rect">
            <a:avLst/>
          </a:prstGeom>
          <a:solidFill>
            <a:srgbClr val="B3261E"/>
          </a:solidFill>
          <a:ln/>
        </p:spPr>
      </p:sp>
      <p:sp>
        <p:nvSpPr>
          <p:cNvPr id="25" name="Text 16">
            <a:extLst>
              <a:ext uri="{FF2B5EF4-FFF2-40B4-BE49-F238E27FC236}">
                <a16:creationId xmlns:a16="http://schemas.microsoft.com/office/drawing/2014/main" id="{63CA2C0D-2CA5-49A5-BCDF-D14F84E813A1}"/>
              </a:ext>
            </a:extLst>
          </p:cNvPr>
          <p:cNvSpPr/>
          <p:nvPr/>
        </p:nvSpPr>
        <p:spPr>
          <a:xfrm>
            <a:off x="552450" y="2749678"/>
            <a:ext cx="5389372" cy="217026"/>
          </a:xfrm>
          <a:prstGeom prst="rect">
            <a:avLst/>
          </a:prstGeom>
          <a:noFill/>
          <a:ln/>
        </p:spPr>
        <p:txBody>
          <a:bodyPr wrap="square" lIns="0" tIns="0" rIns="0" bIns="0" rtlCol="0" anchor="t">
            <a:normAutofit/>
          </a:bodyPr>
          <a:lstStyle/>
          <a:p>
            <a:pPr marL="0" indent="0" algn="l">
              <a:lnSpc>
                <a:spcPts val="1560"/>
              </a:lnSpc>
              <a:buNone/>
            </a:pPr>
            <a:r>
              <a:rPr lang="en-US" sz="1050" b="1" dirty="0">
                <a:solidFill>
                  <a:srgbClr val="B3261E"/>
                </a:solidFill>
                <a:latin typeface="+mj-ea"/>
                <a:ea typeface="+mj-ea"/>
                <a:cs typeface="Noto Sans KR" pitchFamily="34" charset="-120"/>
              </a:rPr>
              <a:t>8×H100 동시 수용 ≈80→20→5 세션</a:t>
            </a:r>
            <a:endParaRPr lang="en-US" sz="1050" dirty="0">
              <a:latin typeface="+mj-ea"/>
              <a:ea typeface="+mj-ea"/>
            </a:endParaRPr>
          </a:p>
        </p:txBody>
      </p:sp>
      <p:sp>
        <p:nvSpPr>
          <p:cNvPr id="55" name="Text 46">
            <a:extLst>
              <a:ext uri="{FF2B5EF4-FFF2-40B4-BE49-F238E27FC236}">
                <a16:creationId xmlns:a16="http://schemas.microsoft.com/office/drawing/2014/main" id="{C8A28DF0-ABCC-48F5-9ED9-DE4811816B18}"/>
              </a:ext>
            </a:extLst>
          </p:cNvPr>
          <p:cNvSpPr/>
          <p:nvPr/>
        </p:nvSpPr>
        <p:spPr>
          <a:xfrm>
            <a:off x="6407150" y="1622157"/>
            <a:ext cx="5389372"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222222"/>
                </a:solidFill>
                <a:latin typeface="+mj-ea"/>
                <a:ea typeface="+mj-ea"/>
                <a:cs typeface="Noto Sans KR" pitchFamily="34" charset="-120"/>
              </a:rPr>
              <a:t>① </a:t>
            </a:r>
            <a:r>
              <a:rPr lang="en-US" sz="1400" b="1" dirty="0" err="1">
                <a:solidFill>
                  <a:srgbClr val="222222"/>
                </a:solidFill>
                <a:latin typeface="+mj-ea"/>
                <a:ea typeface="+mj-ea"/>
                <a:cs typeface="Noto Sans KR" pitchFamily="34" charset="-120"/>
              </a:rPr>
              <a:t>수요</a:t>
            </a:r>
            <a:r>
              <a:rPr lang="en-US" sz="1400" b="1" dirty="0">
                <a:solidFill>
                  <a:srgbClr val="222222"/>
                </a:solidFill>
                <a:latin typeface="+mj-ea"/>
                <a:ea typeface="+mj-ea"/>
                <a:cs typeface="Noto Sans KR" pitchFamily="34" charset="-120"/>
              </a:rPr>
              <a:t> 급증 → 시장 규모·가격 상승</a:t>
            </a:r>
            <a:endParaRPr lang="en-US" sz="1400" dirty="0">
              <a:latin typeface="+mj-ea"/>
              <a:ea typeface="+mj-ea"/>
            </a:endParaRPr>
          </a:p>
        </p:txBody>
      </p:sp>
      <mc:AlternateContent xmlns:mc="http://schemas.openxmlformats.org/markup-compatibility/2006" xmlns:a14="http://schemas.microsoft.com/office/drawing/2010/main">
        <mc:Choice Requires="a14">
          <p:sp>
            <p:nvSpPr>
              <p:cNvPr id="85" name="Text 72">
                <a:extLst>
                  <a:ext uri="{FF2B5EF4-FFF2-40B4-BE49-F238E27FC236}">
                    <a16:creationId xmlns:a16="http://schemas.microsoft.com/office/drawing/2014/main" id="{D907F967-3823-4F1E-8786-56273222550E}"/>
                  </a:ext>
                </a:extLst>
              </p:cNvPr>
              <p:cNvSpPr/>
              <p:nvPr/>
            </p:nvSpPr>
            <p:spPr>
              <a:xfrm>
                <a:off x="6407150" y="3301906"/>
                <a:ext cx="5389372"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55555"/>
                    </a:solidFill>
                    <a:latin typeface="+mj-ea"/>
                    <a:ea typeface="+mj-ea"/>
                    <a:cs typeface="Noto Sans KR" pitchFamily="34" charset="-120"/>
                  </a:rPr>
                  <a:t>공급 부족 지속, 대규모 증설은 ’27 말~’28 이후 전망 [5]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85" name="Text 72">
                <a:extLst>
                  <a:ext uri="{FF2B5EF4-FFF2-40B4-BE49-F238E27FC236}">
                    <a16:creationId xmlns:a16="http://schemas.microsoft.com/office/drawing/2014/main" id="{D907F967-3823-4F1E-8786-56273222550E}"/>
                  </a:ext>
                </a:extLst>
              </p:cNvPr>
              <p:cNvSpPr>
                <a:spLocks noRot="1" noChangeAspect="1" noMove="1" noResize="1" noEditPoints="1" noAdjustHandles="1" noChangeArrowheads="1" noChangeShapeType="1" noTextEdit="1"/>
              </p:cNvSpPr>
              <p:nvPr/>
            </p:nvSpPr>
            <p:spPr>
              <a:xfrm>
                <a:off x="6407150" y="3301906"/>
                <a:ext cx="5389372" cy="223441"/>
              </a:xfrm>
              <a:prstGeom prst="rect">
                <a:avLst/>
              </a:prstGeom>
              <a:blipFill>
                <a:blip r:embed="rId3"/>
                <a:stretch>
                  <a:fillRect l="-1697" t="-16667" b="-33333"/>
                </a:stretch>
              </a:blipFill>
              <a:ln/>
            </p:spPr>
            <p:txBody>
              <a:bodyPr/>
              <a:lstStyle/>
              <a:p>
                <a:r>
                  <a:rPr lang="ko-KR" altLang="en-US">
                    <a:noFill/>
                  </a:rPr>
                  <a:t> </a:t>
                </a:r>
              </a:p>
            </p:txBody>
          </p:sp>
        </mc:Fallback>
      </mc:AlternateContent>
      <p:sp>
        <p:nvSpPr>
          <p:cNvPr id="87" name="Text 74">
            <a:extLst>
              <a:ext uri="{FF2B5EF4-FFF2-40B4-BE49-F238E27FC236}">
                <a16:creationId xmlns:a16="http://schemas.microsoft.com/office/drawing/2014/main" id="{FE1D525B-39E4-4A95-ACDC-C992844478F0}"/>
              </a:ext>
            </a:extLst>
          </p:cNvPr>
          <p:cNvSpPr/>
          <p:nvPr/>
        </p:nvSpPr>
        <p:spPr>
          <a:xfrm>
            <a:off x="6407150" y="4024427"/>
            <a:ext cx="5389372"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222222"/>
                </a:solidFill>
                <a:latin typeface="+mj-ea"/>
                <a:ea typeface="+mj-ea"/>
                <a:cs typeface="Noto Sans KR" pitchFamily="34" charset="-120"/>
              </a:rPr>
              <a:t>② </a:t>
            </a:r>
            <a:r>
              <a:rPr lang="en-US" sz="1400" b="1" dirty="0" err="1">
                <a:solidFill>
                  <a:srgbClr val="222222"/>
                </a:solidFill>
                <a:latin typeface="+mj-ea"/>
                <a:ea typeface="+mj-ea"/>
                <a:cs typeface="Noto Sans KR" pitchFamily="34" charset="-120"/>
              </a:rPr>
              <a:t>고객이</a:t>
            </a:r>
            <a:r>
              <a:rPr lang="en-US" sz="1400" b="1" dirty="0">
                <a:solidFill>
                  <a:srgbClr val="222222"/>
                </a:solidFill>
                <a:latin typeface="+mj-ea"/>
                <a:ea typeface="+mj-ea"/>
                <a:cs typeface="Noto Sans KR" pitchFamily="34" charset="-120"/>
              </a:rPr>
              <a:t> 용도별로 다른 메모리를 요구</a:t>
            </a:r>
            <a:endParaRPr lang="en-US" sz="1400" dirty="0">
              <a:latin typeface="+mj-ea"/>
              <a:ea typeface="+mj-ea"/>
            </a:endParaRPr>
          </a:p>
        </p:txBody>
      </p:sp>
      <p:sp>
        <p:nvSpPr>
          <p:cNvPr id="88" name="Shape 75">
            <a:extLst>
              <a:ext uri="{FF2B5EF4-FFF2-40B4-BE49-F238E27FC236}">
                <a16:creationId xmlns:a16="http://schemas.microsoft.com/office/drawing/2014/main" id="{77C67412-091C-43CD-9077-F2619A58DD96}"/>
              </a:ext>
            </a:extLst>
          </p:cNvPr>
          <p:cNvSpPr/>
          <p:nvPr/>
        </p:nvSpPr>
        <p:spPr>
          <a:xfrm>
            <a:off x="6407150" y="4357013"/>
            <a:ext cx="5232400" cy="1447403"/>
          </a:xfrm>
          <a:prstGeom prst="roundRect">
            <a:avLst>
              <a:gd name="adj" fmla="val 6142"/>
            </a:avLst>
          </a:prstGeom>
          <a:solidFill>
            <a:srgbClr val="F4F7FB"/>
          </a:solidFill>
          <a:ln/>
        </p:spPr>
      </p:sp>
      <p:sp>
        <p:nvSpPr>
          <p:cNvPr id="89" name="Text 76">
            <a:extLst>
              <a:ext uri="{FF2B5EF4-FFF2-40B4-BE49-F238E27FC236}">
                <a16:creationId xmlns:a16="http://schemas.microsoft.com/office/drawing/2014/main" id="{4FB01726-B58B-4757-A1D3-60F1FA346A6D}"/>
              </a:ext>
            </a:extLst>
          </p:cNvPr>
          <p:cNvSpPr/>
          <p:nvPr/>
        </p:nvSpPr>
        <p:spPr>
          <a:xfrm>
            <a:off x="6502400" y="4414163"/>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200" b="1" dirty="0">
                <a:solidFill>
                  <a:srgbClr val="222222"/>
                </a:solidFill>
                <a:latin typeface="+mj-ea"/>
                <a:ea typeface="+mj-ea"/>
                <a:cs typeface="Noto Sans KR" pitchFamily="34" charset="-120"/>
              </a:rPr>
              <a:t>cHBM(커스텀 HBM)</a:t>
            </a:r>
            <a:endParaRPr lang="en-US" sz="1200" dirty="0">
              <a:latin typeface="+mj-ea"/>
              <a:ea typeface="+mj-ea"/>
            </a:endParaRPr>
          </a:p>
        </p:txBody>
      </p:sp>
      <mc:AlternateContent xmlns:mc="http://schemas.openxmlformats.org/markup-compatibility/2006" xmlns:a14="http://schemas.microsoft.com/office/drawing/2010/main">
        <mc:Choice Requires="a14">
          <p:sp>
            <p:nvSpPr>
              <p:cNvPr id="90" name="Text 77">
                <a:extLst>
                  <a:ext uri="{FF2B5EF4-FFF2-40B4-BE49-F238E27FC236}">
                    <a16:creationId xmlns:a16="http://schemas.microsoft.com/office/drawing/2014/main" id="{28FF1791-DF29-457E-B507-081E035A94F3}"/>
                  </a:ext>
                </a:extLst>
              </p:cNvPr>
              <p:cNvSpPr/>
              <p:nvPr/>
            </p:nvSpPr>
            <p:spPr>
              <a:xfrm>
                <a:off x="8147050" y="4433213"/>
                <a:ext cx="3505708"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222222"/>
                    </a:solidFill>
                    <a:latin typeface="+mj-ea"/>
                    <a:ea typeface="+mj-ea"/>
                    <a:cs typeface="Noto Sans KR" pitchFamily="34" charset="-120"/>
                  </a:rPr>
                  <a:t>가속기별 최적화 [6]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90" name="Text 77">
                <a:extLst>
                  <a:ext uri="{FF2B5EF4-FFF2-40B4-BE49-F238E27FC236}">
                    <a16:creationId xmlns:a16="http://schemas.microsoft.com/office/drawing/2014/main" id="{28FF1791-DF29-457E-B507-081E035A94F3}"/>
                  </a:ext>
                </a:extLst>
              </p:cNvPr>
              <p:cNvSpPr>
                <a:spLocks noRot="1" noChangeAspect="1" noMove="1" noResize="1" noEditPoints="1" noAdjustHandles="1" noChangeArrowheads="1" noChangeShapeType="1" noTextEdit="1"/>
              </p:cNvSpPr>
              <p:nvPr/>
            </p:nvSpPr>
            <p:spPr>
              <a:xfrm>
                <a:off x="8147050" y="4433213"/>
                <a:ext cx="3505708" cy="223441"/>
              </a:xfrm>
              <a:prstGeom prst="rect">
                <a:avLst/>
              </a:prstGeom>
              <a:blipFill>
                <a:blip r:embed="rId4"/>
                <a:stretch>
                  <a:fillRect l="-2604" t="-16216" b="-32432"/>
                </a:stretch>
              </a:blipFill>
              <a:ln/>
            </p:spPr>
            <p:txBody>
              <a:bodyPr/>
              <a:lstStyle/>
              <a:p>
                <a:r>
                  <a:rPr lang="ko-KR" altLang="en-US">
                    <a:noFill/>
                  </a:rPr>
                  <a:t> </a:t>
                </a:r>
              </a:p>
            </p:txBody>
          </p:sp>
        </mc:Fallback>
      </mc:AlternateContent>
      <p:sp>
        <p:nvSpPr>
          <p:cNvPr id="91" name="Text 78">
            <a:extLst>
              <a:ext uri="{FF2B5EF4-FFF2-40B4-BE49-F238E27FC236}">
                <a16:creationId xmlns:a16="http://schemas.microsoft.com/office/drawing/2014/main" id="{D33EC04A-7834-4B6D-B95F-F1C9D1C05C05}"/>
              </a:ext>
            </a:extLst>
          </p:cNvPr>
          <p:cNvSpPr/>
          <p:nvPr/>
        </p:nvSpPr>
        <p:spPr>
          <a:xfrm>
            <a:off x="6502400" y="4688403"/>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200" b="1" dirty="0">
                <a:solidFill>
                  <a:srgbClr val="222222"/>
                </a:solidFill>
                <a:latin typeface="+mj-ea"/>
                <a:ea typeface="+mj-ea"/>
                <a:cs typeface="Noto Sans KR" pitchFamily="34" charset="-120"/>
              </a:rPr>
              <a:t>HBF</a:t>
            </a:r>
            <a:endParaRPr lang="en-US" sz="1200" dirty="0">
              <a:latin typeface="+mj-ea"/>
              <a:ea typeface="+mj-ea"/>
            </a:endParaRPr>
          </a:p>
        </p:txBody>
      </p:sp>
      <mc:AlternateContent xmlns:mc="http://schemas.openxmlformats.org/markup-compatibility/2006" xmlns:a14="http://schemas.microsoft.com/office/drawing/2010/main">
        <mc:Choice Requires="a14">
          <p:sp>
            <p:nvSpPr>
              <p:cNvPr id="92" name="Text 79">
                <a:extLst>
                  <a:ext uri="{FF2B5EF4-FFF2-40B4-BE49-F238E27FC236}">
                    <a16:creationId xmlns:a16="http://schemas.microsoft.com/office/drawing/2014/main" id="{675313DF-148E-4AB0-8939-560DC9805112}"/>
                  </a:ext>
                </a:extLst>
              </p:cNvPr>
              <p:cNvSpPr/>
              <p:nvPr/>
            </p:nvSpPr>
            <p:spPr>
              <a:xfrm>
                <a:off x="8147050" y="4707453"/>
                <a:ext cx="3505708"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222222"/>
                    </a:solidFill>
                    <a:latin typeface="+mj-ea"/>
                    <a:ea typeface="+mj-ea"/>
                    <a:cs typeface="Noto Sans KR" pitchFamily="34" charset="-120"/>
                  </a:rPr>
                  <a:t>HBM급 읽기 대역폭, 용량 약 10배 [7]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92" name="Text 79">
                <a:extLst>
                  <a:ext uri="{FF2B5EF4-FFF2-40B4-BE49-F238E27FC236}">
                    <a16:creationId xmlns:a16="http://schemas.microsoft.com/office/drawing/2014/main" id="{675313DF-148E-4AB0-8939-560DC9805112}"/>
                  </a:ext>
                </a:extLst>
              </p:cNvPr>
              <p:cNvSpPr>
                <a:spLocks noRot="1" noChangeAspect="1" noMove="1" noResize="1" noEditPoints="1" noAdjustHandles="1" noChangeArrowheads="1" noChangeShapeType="1" noTextEdit="1"/>
              </p:cNvSpPr>
              <p:nvPr/>
            </p:nvSpPr>
            <p:spPr>
              <a:xfrm>
                <a:off x="8147050" y="4707453"/>
                <a:ext cx="3505708" cy="223441"/>
              </a:xfrm>
              <a:prstGeom prst="rect">
                <a:avLst/>
              </a:prstGeom>
              <a:blipFill>
                <a:blip r:embed="rId5"/>
                <a:stretch>
                  <a:fillRect l="-2604" t="-16216" b="-32432"/>
                </a:stretch>
              </a:blipFill>
              <a:ln/>
            </p:spPr>
            <p:txBody>
              <a:bodyPr/>
              <a:lstStyle/>
              <a:p>
                <a:r>
                  <a:rPr lang="ko-KR" altLang="en-US">
                    <a:noFill/>
                  </a:rPr>
                  <a:t> </a:t>
                </a:r>
              </a:p>
            </p:txBody>
          </p:sp>
        </mc:Fallback>
      </mc:AlternateContent>
      <p:sp>
        <p:nvSpPr>
          <p:cNvPr id="93" name="Text 80">
            <a:extLst>
              <a:ext uri="{FF2B5EF4-FFF2-40B4-BE49-F238E27FC236}">
                <a16:creationId xmlns:a16="http://schemas.microsoft.com/office/drawing/2014/main" id="{0C1AD13C-864B-4D96-A98A-5C0817A8689E}"/>
              </a:ext>
            </a:extLst>
          </p:cNvPr>
          <p:cNvSpPr/>
          <p:nvPr/>
        </p:nvSpPr>
        <p:spPr>
          <a:xfrm>
            <a:off x="6502400" y="4962644"/>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200" b="1" dirty="0">
                <a:solidFill>
                  <a:srgbClr val="222222"/>
                </a:solidFill>
                <a:latin typeface="+mj-ea"/>
                <a:ea typeface="+mj-ea"/>
                <a:cs typeface="Noto Sans KR" pitchFamily="34" charset="-120"/>
              </a:rPr>
              <a:t>CXL 메모리 풀</a:t>
            </a:r>
            <a:endParaRPr lang="en-US" sz="1200" dirty="0">
              <a:latin typeface="+mj-ea"/>
              <a:ea typeface="+mj-ea"/>
            </a:endParaRPr>
          </a:p>
        </p:txBody>
      </p:sp>
      <mc:AlternateContent xmlns:mc="http://schemas.openxmlformats.org/markup-compatibility/2006" xmlns:a14="http://schemas.microsoft.com/office/drawing/2010/main">
        <mc:Choice Requires="a14">
          <p:sp>
            <p:nvSpPr>
              <p:cNvPr id="94" name="Text 81">
                <a:extLst>
                  <a:ext uri="{FF2B5EF4-FFF2-40B4-BE49-F238E27FC236}">
                    <a16:creationId xmlns:a16="http://schemas.microsoft.com/office/drawing/2014/main" id="{22D6CEDB-D07C-4A19-9BB6-5EBF9827010F}"/>
                  </a:ext>
                </a:extLst>
              </p:cNvPr>
              <p:cNvSpPr/>
              <p:nvPr/>
            </p:nvSpPr>
            <p:spPr>
              <a:xfrm>
                <a:off x="8147050" y="4981694"/>
                <a:ext cx="3505708"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222222"/>
                    </a:solidFill>
                    <a:latin typeface="+mj-ea"/>
                    <a:ea typeface="+mj-ea"/>
                    <a:cs typeface="Noto Sans KR" pitchFamily="34" charset="-120"/>
                  </a:rPr>
                  <a:t>서버 단위 용량 확장·KV 공유 [8]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94" name="Text 81">
                <a:extLst>
                  <a:ext uri="{FF2B5EF4-FFF2-40B4-BE49-F238E27FC236}">
                    <a16:creationId xmlns:a16="http://schemas.microsoft.com/office/drawing/2014/main" id="{22D6CEDB-D07C-4A19-9BB6-5EBF9827010F}"/>
                  </a:ext>
                </a:extLst>
              </p:cNvPr>
              <p:cNvSpPr>
                <a:spLocks noRot="1" noChangeAspect="1" noMove="1" noResize="1" noEditPoints="1" noAdjustHandles="1" noChangeArrowheads="1" noChangeShapeType="1" noTextEdit="1"/>
              </p:cNvSpPr>
              <p:nvPr/>
            </p:nvSpPr>
            <p:spPr>
              <a:xfrm>
                <a:off x="8147050" y="4981694"/>
                <a:ext cx="3505708" cy="223441"/>
              </a:xfrm>
              <a:prstGeom prst="rect">
                <a:avLst/>
              </a:prstGeom>
              <a:blipFill>
                <a:blip r:embed="rId6"/>
                <a:stretch>
                  <a:fillRect l="-2604" t="-16216" b="-32432"/>
                </a:stretch>
              </a:blipFill>
              <a:ln/>
            </p:spPr>
            <p:txBody>
              <a:bodyPr/>
              <a:lstStyle/>
              <a:p>
                <a:r>
                  <a:rPr lang="ko-KR" altLang="en-US">
                    <a:noFill/>
                  </a:rPr>
                  <a:t> </a:t>
                </a:r>
              </a:p>
            </p:txBody>
          </p:sp>
        </mc:Fallback>
      </mc:AlternateContent>
      <p:sp>
        <p:nvSpPr>
          <p:cNvPr id="95" name="Text 82">
            <a:extLst>
              <a:ext uri="{FF2B5EF4-FFF2-40B4-BE49-F238E27FC236}">
                <a16:creationId xmlns:a16="http://schemas.microsoft.com/office/drawing/2014/main" id="{13940E19-D16E-46CC-B6D3-CCFFF181605C}"/>
              </a:ext>
            </a:extLst>
          </p:cNvPr>
          <p:cNvSpPr/>
          <p:nvPr/>
        </p:nvSpPr>
        <p:spPr>
          <a:xfrm>
            <a:off x="6502400" y="5236885"/>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200" b="1" dirty="0">
                <a:solidFill>
                  <a:srgbClr val="222222"/>
                </a:solidFill>
                <a:latin typeface="+mj-ea"/>
                <a:ea typeface="+mj-ea"/>
                <a:cs typeface="Noto Sans KR" pitchFamily="34" charset="-120"/>
              </a:rPr>
              <a:t>SOCAMM2·LPDDR</a:t>
            </a:r>
            <a:endParaRPr lang="en-US" sz="1200" dirty="0">
              <a:latin typeface="+mj-ea"/>
              <a:ea typeface="+mj-ea"/>
            </a:endParaRPr>
          </a:p>
        </p:txBody>
      </p:sp>
      <mc:AlternateContent xmlns:mc="http://schemas.openxmlformats.org/markup-compatibility/2006" xmlns:a14="http://schemas.microsoft.com/office/drawing/2010/main">
        <mc:Choice Requires="a14">
          <p:sp>
            <p:nvSpPr>
              <p:cNvPr id="96" name="Text 83">
                <a:extLst>
                  <a:ext uri="{FF2B5EF4-FFF2-40B4-BE49-F238E27FC236}">
                    <a16:creationId xmlns:a16="http://schemas.microsoft.com/office/drawing/2014/main" id="{6CE3C4F7-E9CC-4AF2-8638-743B38943BFE}"/>
                  </a:ext>
                </a:extLst>
              </p:cNvPr>
              <p:cNvSpPr/>
              <p:nvPr/>
            </p:nvSpPr>
            <p:spPr>
              <a:xfrm>
                <a:off x="8147050" y="5255935"/>
                <a:ext cx="3505708"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222222"/>
                    </a:solidFill>
                    <a:latin typeface="+mj-ea"/>
                    <a:ea typeface="+mj-ea"/>
                    <a:cs typeface="Noto Sans KR" pitchFamily="34" charset="-120"/>
                  </a:rPr>
                  <a:t>서버용 저전력·대용량 [6]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96" name="Text 83">
                <a:extLst>
                  <a:ext uri="{FF2B5EF4-FFF2-40B4-BE49-F238E27FC236}">
                    <a16:creationId xmlns:a16="http://schemas.microsoft.com/office/drawing/2014/main" id="{6CE3C4F7-E9CC-4AF2-8638-743B38943BFE}"/>
                  </a:ext>
                </a:extLst>
              </p:cNvPr>
              <p:cNvSpPr>
                <a:spLocks noRot="1" noChangeAspect="1" noMove="1" noResize="1" noEditPoints="1" noAdjustHandles="1" noChangeArrowheads="1" noChangeShapeType="1" noTextEdit="1"/>
              </p:cNvSpPr>
              <p:nvPr/>
            </p:nvSpPr>
            <p:spPr>
              <a:xfrm>
                <a:off x="8147050" y="5255935"/>
                <a:ext cx="3505708" cy="223441"/>
              </a:xfrm>
              <a:prstGeom prst="rect">
                <a:avLst/>
              </a:prstGeom>
              <a:blipFill>
                <a:blip r:embed="rId7"/>
                <a:stretch>
                  <a:fillRect l="-2604" t="-16216" b="-32432"/>
                </a:stretch>
              </a:blipFill>
              <a:ln/>
            </p:spPr>
            <p:txBody>
              <a:bodyPr/>
              <a:lstStyle/>
              <a:p>
                <a:r>
                  <a:rPr lang="ko-KR" altLang="en-US">
                    <a:noFill/>
                  </a:rPr>
                  <a:t> </a:t>
                </a:r>
              </a:p>
            </p:txBody>
          </p:sp>
        </mc:Fallback>
      </mc:AlternateContent>
      <p:sp>
        <p:nvSpPr>
          <p:cNvPr id="97" name="Text 84">
            <a:extLst>
              <a:ext uri="{FF2B5EF4-FFF2-40B4-BE49-F238E27FC236}">
                <a16:creationId xmlns:a16="http://schemas.microsoft.com/office/drawing/2014/main" id="{AFD5F8AB-70D5-4AB0-B25C-B18AD70216F7}"/>
              </a:ext>
            </a:extLst>
          </p:cNvPr>
          <p:cNvSpPr/>
          <p:nvPr/>
        </p:nvSpPr>
        <p:spPr>
          <a:xfrm>
            <a:off x="6502400" y="5511125"/>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200" b="1" dirty="0">
                <a:solidFill>
                  <a:srgbClr val="222222"/>
                </a:solidFill>
                <a:latin typeface="+mj-ea"/>
                <a:ea typeface="+mj-ea"/>
                <a:cs typeface="Noto Sans KR" pitchFamily="34" charset="-120"/>
              </a:rPr>
              <a:t>KV 전용 계층</a:t>
            </a:r>
            <a:endParaRPr lang="en-US" sz="1200" dirty="0">
              <a:latin typeface="+mj-ea"/>
              <a:ea typeface="+mj-ea"/>
            </a:endParaRPr>
          </a:p>
        </p:txBody>
      </p:sp>
      <mc:AlternateContent xmlns:mc="http://schemas.openxmlformats.org/markup-compatibility/2006" xmlns:a14="http://schemas.microsoft.com/office/drawing/2010/main">
        <mc:Choice Requires="a14">
          <p:sp>
            <p:nvSpPr>
              <p:cNvPr id="98" name="Text 85">
                <a:extLst>
                  <a:ext uri="{FF2B5EF4-FFF2-40B4-BE49-F238E27FC236}">
                    <a16:creationId xmlns:a16="http://schemas.microsoft.com/office/drawing/2014/main" id="{121C3D1A-2F75-4BD1-AE06-7A92B7CBBC26}"/>
                  </a:ext>
                </a:extLst>
              </p:cNvPr>
              <p:cNvSpPr/>
              <p:nvPr/>
            </p:nvSpPr>
            <p:spPr>
              <a:xfrm>
                <a:off x="8147050" y="5530175"/>
                <a:ext cx="3505708"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222222"/>
                    </a:solidFill>
                    <a:latin typeface="+mj-ea"/>
                    <a:ea typeface="+mj-ea"/>
                    <a:cs typeface="Noto Sans KR" pitchFamily="34" charset="-120"/>
                  </a:rPr>
                  <a:t>SSD·공유 스토리지 사이(NVIDIA CMX) [9]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98" name="Text 85">
                <a:extLst>
                  <a:ext uri="{FF2B5EF4-FFF2-40B4-BE49-F238E27FC236}">
                    <a16:creationId xmlns:a16="http://schemas.microsoft.com/office/drawing/2014/main" id="{121C3D1A-2F75-4BD1-AE06-7A92B7CBBC26}"/>
                  </a:ext>
                </a:extLst>
              </p:cNvPr>
              <p:cNvSpPr>
                <a:spLocks noRot="1" noChangeAspect="1" noMove="1" noResize="1" noEditPoints="1" noAdjustHandles="1" noChangeArrowheads="1" noChangeShapeType="1" noTextEdit="1"/>
              </p:cNvSpPr>
              <p:nvPr/>
            </p:nvSpPr>
            <p:spPr>
              <a:xfrm>
                <a:off x="8147050" y="5530175"/>
                <a:ext cx="3505708" cy="223441"/>
              </a:xfrm>
              <a:prstGeom prst="rect">
                <a:avLst/>
              </a:prstGeom>
              <a:blipFill>
                <a:blip r:embed="rId8"/>
                <a:stretch>
                  <a:fillRect l="-2604" t="-16216" b="-32432"/>
                </a:stretch>
              </a:blipFill>
              <a:ln/>
            </p:spPr>
            <p:txBody>
              <a:bodyPr/>
              <a:lstStyle/>
              <a:p>
                <a:r>
                  <a:rPr lang="ko-KR" altLang="en-US">
                    <a:noFill/>
                  </a:rPr>
                  <a:t> </a:t>
                </a:r>
              </a:p>
            </p:txBody>
          </p:sp>
        </mc:Fallback>
      </mc:AlternateContent>
      <p:sp>
        <p:nvSpPr>
          <p:cNvPr id="99" name="Text 86">
            <a:extLst>
              <a:ext uri="{FF2B5EF4-FFF2-40B4-BE49-F238E27FC236}">
                <a16:creationId xmlns:a16="http://schemas.microsoft.com/office/drawing/2014/main" id="{714AE158-7453-4BD6-9340-3B89E988BC32}"/>
              </a:ext>
            </a:extLst>
          </p:cNvPr>
          <p:cNvSpPr/>
          <p:nvPr/>
        </p:nvSpPr>
        <p:spPr>
          <a:xfrm>
            <a:off x="6407150" y="5842516"/>
            <a:ext cx="5232400" cy="274241"/>
          </a:xfrm>
          <a:prstGeom prst="roundRect">
            <a:avLst>
              <a:gd name="adj" fmla="val 23155"/>
            </a:avLst>
          </a:prstGeom>
          <a:solidFill>
            <a:srgbClr val="EAF1FA"/>
          </a:solidFill>
          <a:ln/>
        </p:spPr>
        <p:txBody>
          <a:bodyPr wrap="square" lIns="133801" tIns="19501" rIns="0" bIns="0" rtlCol="0" anchor="t">
            <a:normAutofit/>
          </a:bodyPr>
          <a:lstStyle/>
          <a:p>
            <a:pPr marL="0" indent="0" algn="l">
              <a:lnSpc>
                <a:spcPts val="1560"/>
              </a:lnSpc>
              <a:buNone/>
            </a:pPr>
            <a:r>
              <a:rPr lang="en-US" sz="1200" b="1" dirty="0">
                <a:solidFill>
                  <a:srgbClr val="1C3F6E"/>
                </a:solidFill>
                <a:latin typeface="+mj-ea"/>
                <a:ea typeface="+mj-ea"/>
                <a:cs typeface="Noto Sans KR" pitchFamily="34" charset="-120"/>
              </a:rPr>
              <a:t>HBM 단일 → 용도별 분화: 당사 포트폴리오 다변화의 배경</a:t>
            </a:r>
            <a:endParaRPr lang="en-US" sz="1200" dirty="0">
              <a:latin typeface="+mj-ea"/>
              <a:ea typeface="+mj-ea"/>
            </a:endParaRPr>
          </a:p>
        </p:txBody>
      </p:sp>
      <p:sp>
        <p:nvSpPr>
          <p:cNvPr id="100" name="Shape 87">
            <a:extLst>
              <a:ext uri="{FF2B5EF4-FFF2-40B4-BE49-F238E27FC236}">
                <a16:creationId xmlns:a16="http://schemas.microsoft.com/office/drawing/2014/main" id="{D0B5557A-B9F9-489F-9989-4CB9114C6952}"/>
              </a:ext>
            </a:extLst>
          </p:cNvPr>
          <p:cNvSpPr/>
          <p:nvPr/>
        </p:nvSpPr>
        <p:spPr>
          <a:xfrm>
            <a:off x="6407150" y="5842516"/>
            <a:ext cx="5232400" cy="274241"/>
          </a:xfrm>
          <a:custGeom>
            <a:avLst/>
            <a:gdLst/>
            <a:ahLst/>
            <a:cxnLst/>
            <a:rect l="l" t="t" r="r" b="b"/>
            <a:pathLst>
              <a:path w="5232400" h="274241">
                <a:moveTo>
                  <a:pt x="63500" y="274241"/>
                </a:moveTo>
                <a:lnTo>
                  <a:pt x="63500" y="274241"/>
                </a:lnTo>
                <a:arcTo wR="63500" hR="63500" stAng="5400000" swAng="5400000"/>
                <a:lnTo>
                  <a:pt x="0" y="63500"/>
                </a:lnTo>
                <a:arcTo wR="63500" hR="63500" stAng="10800000" swAng="5400000"/>
                <a:lnTo>
                  <a:pt x="63500" y="0"/>
                </a:lnTo>
                <a:arcTo wR="12700" hR="63500" stAng="16200000" swAng="-5400000"/>
                <a:lnTo>
                  <a:pt x="50800" y="210741"/>
                </a:lnTo>
                <a:arcTo wR="12700" hR="63500" stAng="10800000" swAng="-5400000"/>
                <a:close/>
              </a:path>
            </a:pathLst>
          </a:custGeom>
          <a:solidFill>
            <a:srgbClr val="2F6DB5"/>
          </a:solidFill>
          <a:ln/>
        </p:spPr>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0463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병목이</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연산에서</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메모리로</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이동하고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03" name="Text 18">
            <a:extLst>
              <a:ext uri="{FF2B5EF4-FFF2-40B4-BE49-F238E27FC236}">
                <a16:creationId xmlns:a16="http://schemas.microsoft.com/office/drawing/2014/main" id="{E24C63A6-CCFB-4DC0-A07E-4A5747974412}"/>
              </a:ext>
            </a:extLst>
          </p:cNvPr>
          <p:cNvSpPr/>
          <p:nvPr/>
        </p:nvSpPr>
        <p:spPr>
          <a:xfrm>
            <a:off x="552450" y="3413704"/>
            <a:ext cx="5389372"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222222"/>
                </a:solidFill>
                <a:latin typeface="+mj-ea"/>
                <a:ea typeface="+mj-ea"/>
                <a:cs typeface="Noto Sans KR" pitchFamily="34" charset="-120"/>
              </a:rPr>
              <a:t>② </a:t>
            </a:r>
            <a:r>
              <a:rPr lang="en-US" sz="1400" b="1" dirty="0" err="1">
                <a:solidFill>
                  <a:srgbClr val="222222"/>
                </a:solidFill>
                <a:latin typeface="+mj-ea"/>
                <a:ea typeface="+mj-ea"/>
                <a:cs typeface="Noto Sans KR" pitchFamily="34" charset="-120"/>
              </a:rPr>
              <a:t>채팅→에이전트</a:t>
            </a:r>
            <a:r>
              <a:rPr lang="en-US" sz="1400" b="1" dirty="0">
                <a:solidFill>
                  <a:srgbClr val="222222"/>
                </a:solidFill>
                <a:latin typeface="+mj-ea"/>
                <a:ea typeface="+mj-ea"/>
                <a:cs typeface="Noto Sans KR" pitchFamily="34" charset="-120"/>
              </a:rPr>
              <a:t>, 자원 수요가 복잡해짐</a:t>
            </a:r>
            <a:endParaRPr lang="en-US" sz="1400" dirty="0">
              <a:latin typeface="+mj-ea"/>
              <a:ea typeface="+mj-ea"/>
            </a:endParaRPr>
          </a:p>
        </p:txBody>
      </p:sp>
      <p:sp>
        <p:nvSpPr>
          <p:cNvPr id="104" name="Shape 19">
            <a:extLst>
              <a:ext uri="{FF2B5EF4-FFF2-40B4-BE49-F238E27FC236}">
                <a16:creationId xmlns:a16="http://schemas.microsoft.com/office/drawing/2014/main" id="{35E814E3-1068-42D9-90BA-4D8B0D8ADDE5}"/>
              </a:ext>
            </a:extLst>
          </p:cNvPr>
          <p:cNvSpPr/>
          <p:nvPr/>
        </p:nvSpPr>
        <p:spPr>
          <a:xfrm>
            <a:off x="552450" y="3728574"/>
            <a:ext cx="5232400" cy="1102221"/>
          </a:xfrm>
          <a:prstGeom prst="roundRect">
            <a:avLst>
              <a:gd name="adj" fmla="val 8066"/>
            </a:avLst>
          </a:prstGeom>
          <a:solidFill>
            <a:srgbClr val="F4F7FB"/>
          </a:solidFill>
          <a:ln/>
        </p:spPr>
      </p:sp>
      <p:sp>
        <p:nvSpPr>
          <p:cNvPr id="105" name="Text 20">
            <a:extLst>
              <a:ext uri="{FF2B5EF4-FFF2-40B4-BE49-F238E27FC236}">
                <a16:creationId xmlns:a16="http://schemas.microsoft.com/office/drawing/2014/main" id="{7BB7A2D8-1370-429A-BE69-216A219F53D7}"/>
              </a:ext>
            </a:extLst>
          </p:cNvPr>
          <p:cNvSpPr/>
          <p:nvPr/>
        </p:nvSpPr>
        <p:spPr>
          <a:xfrm>
            <a:off x="654050" y="3817474"/>
            <a:ext cx="685800"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채팅</a:t>
            </a:r>
            <a:endParaRPr lang="en-US" sz="1200" dirty="0">
              <a:latin typeface="+mj-ea"/>
              <a:ea typeface="+mj-ea"/>
            </a:endParaRPr>
          </a:p>
        </p:txBody>
      </p:sp>
      <p:sp>
        <p:nvSpPr>
          <p:cNvPr id="106" name="Text 21">
            <a:extLst>
              <a:ext uri="{FF2B5EF4-FFF2-40B4-BE49-F238E27FC236}">
                <a16:creationId xmlns:a16="http://schemas.microsoft.com/office/drawing/2014/main" id="{EC9AC58F-CF26-4EB6-955B-CC6C8E452E8F}"/>
              </a:ext>
            </a:extLst>
          </p:cNvPr>
          <p:cNvSpPr/>
          <p:nvPr/>
        </p:nvSpPr>
        <p:spPr>
          <a:xfrm>
            <a:off x="1339850" y="3792074"/>
            <a:ext cx="635000" cy="233660"/>
          </a:xfrm>
          <a:custGeom>
            <a:avLst/>
            <a:gdLst/>
            <a:ahLst/>
            <a:cxnLst/>
            <a:rect l="l" t="t" r="r" b="b"/>
            <a:pathLst>
              <a:path w="635000" h="233660">
                <a:moveTo>
                  <a:pt x="38100" y="0"/>
                </a:moveTo>
                <a:lnTo>
                  <a:pt x="596900" y="0"/>
                </a:lnTo>
                <a:arcTo wR="38100" hR="38100" stAng="16200000" swAng="5400000"/>
                <a:lnTo>
                  <a:pt x="635000" y="195560"/>
                </a:lnTo>
                <a:arcTo wR="38100" hR="38100" stAng="0" swAng="5400000"/>
                <a:lnTo>
                  <a:pt x="38100" y="233660"/>
                </a:lnTo>
                <a:arcTo wR="38100" hR="38100" stAng="5400000" swAng="5400000"/>
                <a:lnTo>
                  <a:pt x="0" y="38100"/>
                </a:lnTo>
                <a:arcTo wR="38100" hR="38100" stAng="10800000" swAng="5400000"/>
                <a:close/>
              </a:path>
            </a:pathLst>
          </a:custGeom>
          <a:solidFill>
            <a:srgbClr val="2F6DB5"/>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연산</a:t>
            </a:r>
            <a:endParaRPr lang="en-US" sz="1200" dirty="0">
              <a:latin typeface="+mj-ea"/>
              <a:ea typeface="+mj-ea"/>
            </a:endParaRPr>
          </a:p>
        </p:txBody>
      </p:sp>
      <p:sp>
        <p:nvSpPr>
          <p:cNvPr id="107" name="Text 22">
            <a:extLst>
              <a:ext uri="{FF2B5EF4-FFF2-40B4-BE49-F238E27FC236}">
                <a16:creationId xmlns:a16="http://schemas.microsoft.com/office/drawing/2014/main" id="{626F7E5C-3780-4647-A5E5-2769A7BCA3C5}"/>
              </a:ext>
            </a:extLst>
          </p:cNvPr>
          <p:cNvSpPr/>
          <p:nvPr/>
        </p:nvSpPr>
        <p:spPr>
          <a:xfrm>
            <a:off x="2025650" y="3792074"/>
            <a:ext cx="698500" cy="233660"/>
          </a:xfrm>
          <a:custGeom>
            <a:avLst/>
            <a:gdLst/>
            <a:ahLst/>
            <a:cxnLst/>
            <a:rect l="l" t="t" r="r" b="b"/>
            <a:pathLst>
              <a:path w="698500" h="233660">
                <a:moveTo>
                  <a:pt x="38100" y="0"/>
                </a:moveTo>
                <a:lnTo>
                  <a:pt x="660400" y="0"/>
                </a:lnTo>
                <a:arcTo wR="38100" hR="38100" stAng="16200000" swAng="5400000"/>
                <a:lnTo>
                  <a:pt x="698500" y="195560"/>
                </a:lnTo>
                <a:arcTo wR="38100" hR="38100" stAng="0" swAng="5400000"/>
                <a:lnTo>
                  <a:pt x="38100" y="233660"/>
                </a:lnTo>
                <a:arcTo wR="38100" hR="38100" stAng="5400000" swAng="5400000"/>
                <a:lnTo>
                  <a:pt x="0" y="38100"/>
                </a:lnTo>
                <a:arcTo wR="38100" hR="38100" stAng="10800000" swAng="5400000"/>
                <a:close/>
              </a:path>
            </a:pathLst>
          </a:custGeom>
          <a:solidFill>
            <a:srgbClr val="1F7A6D"/>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대역폭</a:t>
            </a:r>
            <a:endParaRPr lang="en-US" sz="1200" dirty="0">
              <a:latin typeface="+mj-ea"/>
              <a:ea typeface="+mj-ea"/>
            </a:endParaRPr>
          </a:p>
        </p:txBody>
      </p:sp>
      <p:sp>
        <p:nvSpPr>
          <p:cNvPr id="108" name="Text 23">
            <a:extLst>
              <a:ext uri="{FF2B5EF4-FFF2-40B4-BE49-F238E27FC236}">
                <a16:creationId xmlns:a16="http://schemas.microsoft.com/office/drawing/2014/main" id="{A49B4036-A56C-4BFB-9A98-D1C05211080F}"/>
              </a:ext>
            </a:extLst>
          </p:cNvPr>
          <p:cNvSpPr/>
          <p:nvPr/>
        </p:nvSpPr>
        <p:spPr>
          <a:xfrm>
            <a:off x="2825750" y="3817474"/>
            <a:ext cx="2016204" cy="208260"/>
          </a:xfrm>
          <a:prstGeom prst="rect">
            <a:avLst/>
          </a:prstGeom>
          <a:noFill/>
          <a:ln/>
        </p:spPr>
        <p:txBody>
          <a:bodyPr wrap="square" lIns="0" tIns="0" rIns="0" bIns="0" rtlCol="0" anchor="t">
            <a:normAutofit/>
          </a:bodyPr>
          <a:lstStyle/>
          <a:p>
            <a:pPr marL="0" indent="0" algn="l">
              <a:lnSpc>
                <a:spcPts val="1440"/>
              </a:lnSpc>
              <a:buNone/>
            </a:pPr>
            <a:r>
              <a:rPr lang="en-US" sz="1100" dirty="0">
                <a:solidFill>
                  <a:srgbClr val="555555"/>
                </a:solidFill>
                <a:latin typeface="+mj-ea"/>
                <a:ea typeface="+mj-ea"/>
                <a:cs typeface="Noto Sans KR" pitchFamily="34" charset="-120"/>
              </a:rPr>
              <a:t>응답 후 KV 폐기 · 1회 호출</a:t>
            </a:r>
            <a:endParaRPr lang="en-US" sz="1100" dirty="0">
              <a:latin typeface="+mj-ea"/>
              <a:ea typeface="+mj-ea"/>
            </a:endParaRPr>
          </a:p>
        </p:txBody>
      </p:sp>
      <p:pic>
        <p:nvPicPr>
          <p:cNvPr id="109" name="Image 0" descr="arrow-down">
            <a:extLst>
              <a:ext uri="{FF2B5EF4-FFF2-40B4-BE49-F238E27FC236}">
                <a16:creationId xmlns:a16="http://schemas.microsoft.com/office/drawing/2014/main" id="{9F3D64EA-1F42-43F4-9BC1-1B1522FE6BBE}"/>
              </a:ext>
            </a:extLst>
          </p:cNvPr>
          <p:cNvPicPr>
            <a:picLocks noChangeAspect="1"/>
          </p:cNvPicPr>
          <p:nvPr/>
        </p:nvPicPr>
        <p:blipFill>
          <a:blip r:embed="rId9"/>
          <a:srcRect/>
          <a:stretch/>
        </p:blipFill>
        <p:spPr>
          <a:xfrm>
            <a:off x="654050" y="4067605"/>
            <a:ext cx="177800" cy="228600"/>
          </a:xfrm>
          <a:prstGeom prst="rect">
            <a:avLst/>
          </a:prstGeom>
        </p:spPr>
      </p:pic>
      <p:sp>
        <p:nvSpPr>
          <p:cNvPr id="110" name="Text 24">
            <a:extLst>
              <a:ext uri="{FF2B5EF4-FFF2-40B4-BE49-F238E27FC236}">
                <a16:creationId xmlns:a16="http://schemas.microsoft.com/office/drawing/2014/main" id="{0C659355-DCBF-4C0B-A82C-8435B1EB32A5}"/>
              </a:ext>
            </a:extLst>
          </p:cNvPr>
          <p:cNvSpPr/>
          <p:nvPr/>
        </p:nvSpPr>
        <p:spPr>
          <a:xfrm>
            <a:off x="882650" y="4063834"/>
            <a:ext cx="1566267" cy="236141"/>
          </a:xfrm>
          <a:custGeom>
            <a:avLst/>
            <a:gdLst/>
            <a:ahLst/>
            <a:cxnLst/>
            <a:rect l="l" t="t" r="r" b="b"/>
            <a:pathLst>
              <a:path w="1566267" h="236141">
                <a:moveTo>
                  <a:pt x="114300" y="0"/>
                </a:moveTo>
                <a:lnTo>
                  <a:pt x="1451967" y="0"/>
                </a:lnTo>
                <a:arcTo wR="114300" hR="114300" stAng="16200000" swAng="5400000"/>
                <a:lnTo>
                  <a:pt x="1566267" y="121841"/>
                </a:lnTo>
                <a:arcTo wR="114300" hR="114300" stAng="0" swAng="5400000"/>
                <a:lnTo>
                  <a:pt x="114300" y="236141"/>
                </a:lnTo>
                <a:arcTo wR="114300" hR="114300" stAng="5400000" swAng="5400000"/>
                <a:lnTo>
                  <a:pt x="0" y="114300"/>
                </a:lnTo>
                <a:arcTo wR="114300" hR="114300" stAng="10800000" swAng="5400000"/>
                <a:close/>
              </a:path>
            </a:pathLst>
          </a:custGeom>
          <a:solidFill>
            <a:srgbClr val="FBEFE6"/>
          </a:solidFill>
          <a:ln/>
        </p:spPr>
        <p:txBody>
          <a:bodyPr wrap="square" lIns="25400" tIns="19050" rIns="25400" bIns="0" rtlCol="0" anchor="t">
            <a:normAutofit/>
          </a:bodyPr>
          <a:lstStyle/>
          <a:p>
            <a:pPr marL="0" indent="0" algn="ctr">
              <a:lnSpc>
                <a:spcPts val="1560"/>
              </a:lnSpc>
              <a:buNone/>
            </a:pPr>
            <a:r>
              <a:rPr lang="en-US" sz="1100" b="1" dirty="0">
                <a:solidFill>
                  <a:srgbClr val="7A3608"/>
                </a:solidFill>
                <a:latin typeface="+mj-ea"/>
                <a:ea typeface="+mj-ea"/>
                <a:cs typeface="Noto Sans KR" pitchFamily="34" charset="-120"/>
              </a:rPr>
              <a:t>호출 1회 → N회</a:t>
            </a:r>
            <a:endParaRPr lang="en-US" sz="1100" dirty="0">
              <a:latin typeface="+mj-ea"/>
              <a:ea typeface="+mj-ea"/>
            </a:endParaRPr>
          </a:p>
        </p:txBody>
      </p:sp>
      <p:sp>
        <p:nvSpPr>
          <p:cNvPr id="111" name="Text 25">
            <a:extLst>
              <a:ext uri="{FF2B5EF4-FFF2-40B4-BE49-F238E27FC236}">
                <a16:creationId xmlns:a16="http://schemas.microsoft.com/office/drawing/2014/main" id="{27C1232D-7F0B-4C54-AE4B-E7064B173777}"/>
              </a:ext>
            </a:extLst>
          </p:cNvPr>
          <p:cNvSpPr/>
          <p:nvPr/>
        </p:nvSpPr>
        <p:spPr>
          <a:xfrm>
            <a:off x="2499717" y="4063834"/>
            <a:ext cx="1566366" cy="236141"/>
          </a:xfrm>
          <a:custGeom>
            <a:avLst/>
            <a:gdLst/>
            <a:ahLst/>
            <a:cxnLst/>
            <a:rect l="l" t="t" r="r" b="b"/>
            <a:pathLst>
              <a:path w="1566366" h="236141">
                <a:moveTo>
                  <a:pt x="114300" y="0"/>
                </a:moveTo>
                <a:lnTo>
                  <a:pt x="1452066" y="0"/>
                </a:lnTo>
                <a:arcTo wR="114300" hR="114300" stAng="16200000" swAng="5400000"/>
                <a:lnTo>
                  <a:pt x="1566366" y="121841"/>
                </a:lnTo>
                <a:arcTo wR="114300" hR="114300" stAng="0" swAng="5400000"/>
                <a:lnTo>
                  <a:pt x="114300" y="236141"/>
                </a:lnTo>
                <a:arcTo wR="114300" hR="114300" stAng="5400000" swAng="5400000"/>
                <a:lnTo>
                  <a:pt x="0" y="114300"/>
                </a:lnTo>
                <a:arcTo wR="114300" hR="114300" stAng="10800000" swAng="5400000"/>
                <a:close/>
              </a:path>
            </a:pathLst>
          </a:custGeom>
          <a:solidFill>
            <a:srgbClr val="FBEFE6"/>
          </a:solidFill>
          <a:ln/>
        </p:spPr>
        <p:txBody>
          <a:bodyPr wrap="square" lIns="25400" tIns="19050" rIns="25400" bIns="0" rtlCol="0" anchor="t">
            <a:normAutofit/>
          </a:bodyPr>
          <a:lstStyle/>
          <a:p>
            <a:pPr marL="0" indent="0" algn="ctr">
              <a:lnSpc>
                <a:spcPts val="1560"/>
              </a:lnSpc>
              <a:buNone/>
            </a:pPr>
            <a:r>
              <a:rPr lang="en-US" sz="1100" b="1" dirty="0">
                <a:solidFill>
                  <a:srgbClr val="7A3608"/>
                </a:solidFill>
                <a:latin typeface="+mj-ea"/>
                <a:ea typeface="+mj-ea"/>
                <a:cs typeface="Noto Sans KR" pitchFamily="34" charset="-120"/>
              </a:rPr>
              <a:t>KV 폐기 → 상주</a:t>
            </a:r>
            <a:endParaRPr lang="en-US" sz="1100" dirty="0">
              <a:latin typeface="+mj-ea"/>
              <a:ea typeface="+mj-ea"/>
            </a:endParaRPr>
          </a:p>
        </p:txBody>
      </p:sp>
      <p:sp>
        <p:nvSpPr>
          <p:cNvPr id="112" name="Text 26">
            <a:extLst>
              <a:ext uri="{FF2B5EF4-FFF2-40B4-BE49-F238E27FC236}">
                <a16:creationId xmlns:a16="http://schemas.microsoft.com/office/drawing/2014/main" id="{E84323F1-3304-44C2-BA1F-B9B431689DDD}"/>
              </a:ext>
            </a:extLst>
          </p:cNvPr>
          <p:cNvSpPr/>
          <p:nvPr/>
        </p:nvSpPr>
        <p:spPr>
          <a:xfrm>
            <a:off x="4116884" y="4063834"/>
            <a:ext cx="1566366" cy="236141"/>
          </a:xfrm>
          <a:custGeom>
            <a:avLst/>
            <a:gdLst/>
            <a:ahLst/>
            <a:cxnLst/>
            <a:rect l="l" t="t" r="r" b="b"/>
            <a:pathLst>
              <a:path w="1566366" h="236141">
                <a:moveTo>
                  <a:pt x="114300" y="0"/>
                </a:moveTo>
                <a:lnTo>
                  <a:pt x="1452066" y="0"/>
                </a:lnTo>
                <a:arcTo wR="114300" hR="114300" stAng="16200000" swAng="5400000"/>
                <a:lnTo>
                  <a:pt x="1566366" y="121841"/>
                </a:lnTo>
                <a:arcTo wR="114300" hR="114300" stAng="0" swAng="5400000"/>
                <a:lnTo>
                  <a:pt x="114300" y="236141"/>
                </a:lnTo>
                <a:arcTo wR="114300" hR="114300" stAng="5400000" swAng="5400000"/>
                <a:lnTo>
                  <a:pt x="0" y="114300"/>
                </a:lnTo>
                <a:arcTo wR="114300" hR="114300" stAng="10800000" swAng="5400000"/>
                <a:close/>
              </a:path>
            </a:pathLst>
          </a:custGeom>
          <a:solidFill>
            <a:srgbClr val="FBEFE6"/>
          </a:solidFill>
          <a:ln/>
        </p:spPr>
        <p:txBody>
          <a:bodyPr wrap="square" lIns="25400" tIns="19050" rIns="25400" bIns="0" rtlCol="0" anchor="t">
            <a:normAutofit/>
          </a:bodyPr>
          <a:lstStyle/>
          <a:p>
            <a:pPr marL="0" indent="0" algn="ctr">
              <a:lnSpc>
                <a:spcPts val="1560"/>
              </a:lnSpc>
              <a:buNone/>
            </a:pPr>
            <a:r>
              <a:rPr lang="en-US" sz="1100" b="1" dirty="0">
                <a:solidFill>
                  <a:srgbClr val="7A3608"/>
                </a:solidFill>
                <a:latin typeface="+mj-ea"/>
                <a:ea typeface="+mj-ea"/>
                <a:cs typeface="Noto Sans KR" pitchFamily="34" charset="-120"/>
              </a:rPr>
              <a:t>병목 단일 → 교번</a:t>
            </a:r>
            <a:endParaRPr lang="en-US" sz="1100" dirty="0">
              <a:latin typeface="+mj-ea"/>
              <a:ea typeface="+mj-ea"/>
            </a:endParaRPr>
          </a:p>
        </p:txBody>
      </p:sp>
      <p:sp>
        <p:nvSpPr>
          <p:cNvPr id="113" name="Text 27">
            <a:extLst>
              <a:ext uri="{FF2B5EF4-FFF2-40B4-BE49-F238E27FC236}">
                <a16:creationId xmlns:a16="http://schemas.microsoft.com/office/drawing/2014/main" id="{2C919E3E-2B71-40F9-A836-D98020E54A21}"/>
              </a:ext>
            </a:extLst>
          </p:cNvPr>
          <p:cNvSpPr/>
          <p:nvPr/>
        </p:nvSpPr>
        <p:spPr>
          <a:xfrm>
            <a:off x="654050" y="4376175"/>
            <a:ext cx="685800"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222222"/>
                </a:solidFill>
                <a:latin typeface="+mj-ea"/>
                <a:ea typeface="+mj-ea"/>
                <a:cs typeface="Noto Sans KR" pitchFamily="34" charset="-120"/>
              </a:rPr>
              <a:t>에이전트</a:t>
            </a:r>
            <a:endParaRPr lang="en-US" sz="1200" dirty="0">
              <a:latin typeface="+mj-ea"/>
              <a:ea typeface="+mj-ea"/>
            </a:endParaRPr>
          </a:p>
        </p:txBody>
      </p:sp>
      <p:sp>
        <p:nvSpPr>
          <p:cNvPr id="114" name="Text 28">
            <a:extLst>
              <a:ext uri="{FF2B5EF4-FFF2-40B4-BE49-F238E27FC236}">
                <a16:creationId xmlns:a16="http://schemas.microsoft.com/office/drawing/2014/main" id="{3E500BCA-914E-407E-8135-1649B28C67D2}"/>
              </a:ext>
            </a:extLst>
          </p:cNvPr>
          <p:cNvSpPr/>
          <p:nvPr/>
        </p:nvSpPr>
        <p:spPr>
          <a:xfrm>
            <a:off x="1327150" y="4338075"/>
            <a:ext cx="635000" cy="233660"/>
          </a:xfrm>
          <a:custGeom>
            <a:avLst/>
            <a:gdLst/>
            <a:ahLst/>
            <a:cxnLst/>
            <a:rect l="l" t="t" r="r" b="b"/>
            <a:pathLst>
              <a:path w="635000" h="233660">
                <a:moveTo>
                  <a:pt x="38100" y="0"/>
                </a:moveTo>
                <a:lnTo>
                  <a:pt x="596900" y="0"/>
                </a:lnTo>
                <a:arcTo wR="38100" hR="38100" stAng="16200000" swAng="5400000"/>
                <a:lnTo>
                  <a:pt x="635000" y="195560"/>
                </a:lnTo>
                <a:arcTo wR="38100" hR="38100" stAng="0" swAng="5400000"/>
                <a:lnTo>
                  <a:pt x="38100" y="233660"/>
                </a:lnTo>
                <a:arcTo wR="38100" hR="38100" stAng="5400000" swAng="5400000"/>
                <a:lnTo>
                  <a:pt x="0" y="38100"/>
                </a:lnTo>
                <a:arcTo wR="38100" hR="38100" stAng="10800000" swAng="5400000"/>
                <a:close/>
              </a:path>
            </a:pathLst>
          </a:custGeom>
          <a:solidFill>
            <a:srgbClr val="2F6DB5"/>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연산</a:t>
            </a:r>
            <a:endParaRPr lang="en-US" sz="1200" dirty="0">
              <a:latin typeface="+mj-ea"/>
              <a:ea typeface="+mj-ea"/>
            </a:endParaRPr>
          </a:p>
        </p:txBody>
      </p:sp>
      <p:sp>
        <p:nvSpPr>
          <p:cNvPr id="115" name="Text 29">
            <a:extLst>
              <a:ext uri="{FF2B5EF4-FFF2-40B4-BE49-F238E27FC236}">
                <a16:creationId xmlns:a16="http://schemas.microsoft.com/office/drawing/2014/main" id="{8816B9BF-C7D8-49A4-AF68-255B81D12966}"/>
              </a:ext>
            </a:extLst>
          </p:cNvPr>
          <p:cNvSpPr/>
          <p:nvPr/>
        </p:nvSpPr>
        <p:spPr>
          <a:xfrm>
            <a:off x="1301750" y="4584435"/>
            <a:ext cx="685800" cy="208260"/>
          </a:xfrm>
          <a:prstGeom prst="rect">
            <a:avLst/>
          </a:prstGeom>
          <a:noFill/>
          <a:ln/>
        </p:spPr>
        <p:txBody>
          <a:bodyPr wrap="square" lIns="0" tIns="0" rIns="0" bIns="0" rtlCol="0" anchor="t">
            <a:normAutofit/>
          </a:bodyPr>
          <a:lstStyle/>
          <a:p>
            <a:pPr marL="0" indent="0" algn="ctr">
              <a:lnSpc>
                <a:spcPts val="1440"/>
              </a:lnSpc>
              <a:buNone/>
            </a:pPr>
            <a:r>
              <a:rPr lang="en-US" sz="1100" dirty="0">
                <a:solidFill>
                  <a:srgbClr val="555555"/>
                </a:solidFill>
                <a:latin typeface="+mj-ea"/>
                <a:ea typeface="+mj-ea"/>
                <a:cs typeface="Noto Sans KR" pitchFamily="34" charset="-120"/>
              </a:rPr>
              <a:t>prefill</a:t>
            </a:r>
            <a:endParaRPr lang="en-US" sz="1100" dirty="0">
              <a:latin typeface="+mj-ea"/>
              <a:ea typeface="+mj-ea"/>
            </a:endParaRPr>
          </a:p>
        </p:txBody>
      </p:sp>
      <p:sp>
        <p:nvSpPr>
          <p:cNvPr id="116" name="Text 30">
            <a:extLst>
              <a:ext uri="{FF2B5EF4-FFF2-40B4-BE49-F238E27FC236}">
                <a16:creationId xmlns:a16="http://schemas.microsoft.com/office/drawing/2014/main" id="{5A29EE65-9D24-4D92-ABC1-23106E556EF4}"/>
              </a:ext>
            </a:extLst>
          </p:cNvPr>
          <p:cNvSpPr/>
          <p:nvPr/>
        </p:nvSpPr>
        <p:spPr>
          <a:xfrm>
            <a:off x="2000250" y="4338075"/>
            <a:ext cx="698500" cy="233660"/>
          </a:xfrm>
          <a:custGeom>
            <a:avLst/>
            <a:gdLst/>
            <a:ahLst/>
            <a:cxnLst/>
            <a:rect l="l" t="t" r="r" b="b"/>
            <a:pathLst>
              <a:path w="698500" h="233660">
                <a:moveTo>
                  <a:pt x="38100" y="0"/>
                </a:moveTo>
                <a:lnTo>
                  <a:pt x="660400" y="0"/>
                </a:lnTo>
                <a:arcTo wR="38100" hR="38100" stAng="16200000" swAng="5400000"/>
                <a:lnTo>
                  <a:pt x="698500" y="195560"/>
                </a:lnTo>
                <a:arcTo wR="38100" hR="38100" stAng="0" swAng="5400000"/>
                <a:lnTo>
                  <a:pt x="38100" y="233660"/>
                </a:lnTo>
                <a:arcTo wR="38100" hR="38100" stAng="5400000" swAng="5400000"/>
                <a:lnTo>
                  <a:pt x="0" y="38100"/>
                </a:lnTo>
                <a:arcTo wR="38100" hR="38100" stAng="10800000" swAng="5400000"/>
                <a:close/>
              </a:path>
            </a:pathLst>
          </a:custGeom>
          <a:solidFill>
            <a:srgbClr val="1F7A6D"/>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대역폭</a:t>
            </a:r>
            <a:endParaRPr lang="en-US" sz="1200" dirty="0">
              <a:latin typeface="+mj-ea"/>
              <a:ea typeface="+mj-ea"/>
            </a:endParaRPr>
          </a:p>
        </p:txBody>
      </p:sp>
      <p:sp>
        <p:nvSpPr>
          <p:cNvPr id="117" name="Text 31">
            <a:extLst>
              <a:ext uri="{FF2B5EF4-FFF2-40B4-BE49-F238E27FC236}">
                <a16:creationId xmlns:a16="http://schemas.microsoft.com/office/drawing/2014/main" id="{5983EB97-48BB-4192-AEB8-B8F35156FA73}"/>
              </a:ext>
            </a:extLst>
          </p:cNvPr>
          <p:cNvSpPr/>
          <p:nvPr/>
        </p:nvSpPr>
        <p:spPr>
          <a:xfrm>
            <a:off x="1974850" y="4584435"/>
            <a:ext cx="749300" cy="208260"/>
          </a:xfrm>
          <a:prstGeom prst="rect">
            <a:avLst/>
          </a:prstGeom>
          <a:noFill/>
          <a:ln/>
        </p:spPr>
        <p:txBody>
          <a:bodyPr wrap="square" lIns="0" tIns="0" rIns="0" bIns="0" rtlCol="0" anchor="t">
            <a:normAutofit/>
          </a:bodyPr>
          <a:lstStyle/>
          <a:p>
            <a:pPr marL="0" indent="0" algn="ctr">
              <a:lnSpc>
                <a:spcPts val="1440"/>
              </a:lnSpc>
              <a:buNone/>
            </a:pPr>
            <a:r>
              <a:rPr lang="en-US" sz="1100" dirty="0">
                <a:solidFill>
                  <a:srgbClr val="555555"/>
                </a:solidFill>
                <a:latin typeface="+mj-ea"/>
                <a:ea typeface="+mj-ea"/>
                <a:cs typeface="Noto Sans KR" pitchFamily="34" charset="-120"/>
              </a:rPr>
              <a:t>decode</a:t>
            </a:r>
            <a:endParaRPr lang="en-US" sz="1100" dirty="0">
              <a:latin typeface="+mj-ea"/>
              <a:ea typeface="+mj-ea"/>
            </a:endParaRPr>
          </a:p>
        </p:txBody>
      </p:sp>
      <p:sp>
        <p:nvSpPr>
          <p:cNvPr id="118" name="Text 32">
            <a:extLst>
              <a:ext uri="{FF2B5EF4-FFF2-40B4-BE49-F238E27FC236}">
                <a16:creationId xmlns:a16="http://schemas.microsoft.com/office/drawing/2014/main" id="{1EA56191-6D1A-4E9D-8371-5B97682241AF}"/>
              </a:ext>
            </a:extLst>
          </p:cNvPr>
          <p:cNvSpPr/>
          <p:nvPr/>
        </p:nvSpPr>
        <p:spPr>
          <a:xfrm>
            <a:off x="2736850" y="4338075"/>
            <a:ext cx="762000" cy="233660"/>
          </a:xfrm>
          <a:custGeom>
            <a:avLst/>
            <a:gdLst/>
            <a:ahLst/>
            <a:cxnLst/>
            <a:rect l="l" t="t" r="r" b="b"/>
            <a:pathLst>
              <a:path w="762000" h="233660">
                <a:moveTo>
                  <a:pt x="38100" y="0"/>
                </a:moveTo>
                <a:lnTo>
                  <a:pt x="723900" y="0"/>
                </a:lnTo>
                <a:arcTo wR="38100" hR="38100" stAng="16200000" swAng="5400000"/>
                <a:lnTo>
                  <a:pt x="762000" y="195560"/>
                </a:lnTo>
                <a:arcTo wR="38100" hR="38100" stAng="0" swAng="5400000"/>
                <a:lnTo>
                  <a:pt x="38100" y="233660"/>
                </a:lnTo>
                <a:arcTo wR="38100" hR="38100" stAng="5400000" swAng="5400000"/>
                <a:lnTo>
                  <a:pt x="0" y="38100"/>
                </a:lnTo>
                <a:arcTo wR="38100" hR="38100" stAng="10800000" swAng="5400000"/>
                <a:close/>
              </a:path>
            </a:pathLst>
          </a:custGeom>
          <a:solidFill>
            <a:srgbClr val="C55A11"/>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용량</a:t>
            </a:r>
            <a:endParaRPr lang="en-US" sz="1200" dirty="0">
              <a:latin typeface="+mj-ea"/>
              <a:ea typeface="+mj-ea"/>
            </a:endParaRPr>
          </a:p>
        </p:txBody>
      </p:sp>
      <p:sp>
        <p:nvSpPr>
          <p:cNvPr id="119" name="Text 33">
            <a:extLst>
              <a:ext uri="{FF2B5EF4-FFF2-40B4-BE49-F238E27FC236}">
                <a16:creationId xmlns:a16="http://schemas.microsoft.com/office/drawing/2014/main" id="{D93F4215-67AD-468B-BC3E-900630AD3D33}"/>
              </a:ext>
            </a:extLst>
          </p:cNvPr>
          <p:cNvSpPr/>
          <p:nvPr/>
        </p:nvSpPr>
        <p:spPr>
          <a:xfrm>
            <a:off x="2711450" y="4584435"/>
            <a:ext cx="812800" cy="208260"/>
          </a:xfrm>
          <a:prstGeom prst="rect">
            <a:avLst/>
          </a:prstGeom>
          <a:noFill/>
          <a:ln/>
        </p:spPr>
        <p:txBody>
          <a:bodyPr wrap="square" lIns="0" tIns="0" rIns="0" bIns="0" rtlCol="0" anchor="t">
            <a:normAutofit/>
          </a:bodyPr>
          <a:lstStyle/>
          <a:p>
            <a:pPr marL="0" indent="0" algn="ctr">
              <a:lnSpc>
                <a:spcPts val="1440"/>
              </a:lnSpc>
              <a:buNone/>
            </a:pPr>
            <a:r>
              <a:rPr lang="en-US" sz="1100" dirty="0">
                <a:solidFill>
                  <a:srgbClr val="555555"/>
                </a:solidFill>
                <a:latin typeface="+mj-ea"/>
                <a:ea typeface="+mj-ea"/>
                <a:cs typeface="Noto Sans KR" pitchFamily="34" charset="-120"/>
              </a:rPr>
              <a:t>도구 대기</a:t>
            </a:r>
            <a:endParaRPr lang="en-US" sz="1100" dirty="0">
              <a:latin typeface="+mj-ea"/>
              <a:ea typeface="+mj-ea"/>
            </a:endParaRPr>
          </a:p>
        </p:txBody>
      </p:sp>
      <p:sp>
        <p:nvSpPr>
          <p:cNvPr id="120" name="Text 34">
            <a:extLst>
              <a:ext uri="{FF2B5EF4-FFF2-40B4-BE49-F238E27FC236}">
                <a16:creationId xmlns:a16="http://schemas.microsoft.com/office/drawing/2014/main" id="{5A773B8B-3198-4E8D-A520-6643BCEDE650}"/>
              </a:ext>
            </a:extLst>
          </p:cNvPr>
          <p:cNvSpPr/>
          <p:nvPr/>
        </p:nvSpPr>
        <p:spPr>
          <a:xfrm>
            <a:off x="3536950" y="4338075"/>
            <a:ext cx="698500" cy="233660"/>
          </a:xfrm>
          <a:custGeom>
            <a:avLst/>
            <a:gdLst/>
            <a:ahLst/>
            <a:cxnLst/>
            <a:rect l="l" t="t" r="r" b="b"/>
            <a:pathLst>
              <a:path w="698500" h="233660">
                <a:moveTo>
                  <a:pt x="38100" y="0"/>
                </a:moveTo>
                <a:lnTo>
                  <a:pt x="660400" y="0"/>
                </a:lnTo>
                <a:arcTo wR="38100" hR="38100" stAng="16200000" swAng="5400000"/>
                <a:lnTo>
                  <a:pt x="698500" y="195560"/>
                </a:lnTo>
                <a:arcTo wR="38100" hR="38100" stAng="0" swAng="5400000"/>
                <a:lnTo>
                  <a:pt x="38100" y="233660"/>
                </a:lnTo>
                <a:arcTo wR="38100" hR="38100" stAng="5400000" swAng="5400000"/>
                <a:lnTo>
                  <a:pt x="0" y="38100"/>
                </a:lnTo>
                <a:arcTo wR="38100" hR="38100" stAng="10800000" swAng="5400000"/>
                <a:close/>
              </a:path>
            </a:pathLst>
          </a:custGeom>
          <a:solidFill>
            <a:srgbClr val="1F7A6D"/>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대역폭</a:t>
            </a:r>
            <a:endParaRPr lang="en-US" sz="1200" dirty="0">
              <a:latin typeface="+mj-ea"/>
              <a:ea typeface="+mj-ea"/>
            </a:endParaRPr>
          </a:p>
        </p:txBody>
      </p:sp>
      <p:sp>
        <p:nvSpPr>
          <p:cNvPr id="121" name="Text 35">
            <a:extLst>
              <a:ext uri="{FF2B5EF4-FFF2-40B4-BE49-F238E27FC236}">
                <a16:creationId xmlns:a16="http://schemas.microsoft.com/office/drawing/2014/main" id="{6091D414-B7FA-46DE-96BC-1E7A459DBA4C}"/>
              </a:ext>
            </a:extLst>
          </p:cNvPr>
          <p:cNvSpPr/>
          <p:nvPr/>
        </p:nvSpPr>
        <p:spPr>
          <a:xfrm>
            <a:off x="3511550" y="4584435"/>
            <a:ext cx="749300" cy="208260"/>
          </a:xfrm>
          <a:prstGeom prst="rect">
            <a:avLst/>
          </a:prstGeom>
          <a:noFill/>
          <a:ln/>
        </p:spPr>
        <p:txBody>
          <a:bodyPr wrap="square" lIns="0" tIns="0" rIns="0" bIns="0" rtlCol="0" anchor="t">
            <a:normAutofit/>
          </a:bodyPr>
          <a:lstStyle/>
          <a:p>
            <a:pPr marL="0" indent="0" algn="ctr">
              <a:lnSpc>
                <a:spcPts val="1440"/>
              </a:lnSpc>
              <a:buNone/>
            </a:pPr>
            <a:r>
              <a:rPr lang="en-US" sz="1100" dirty="0">
                <a:solidFill>
                  <a:srgbClr val="555555"/>
                </a:solidFill>
                <a:latin typeface="+mj-ea"/>
                <a:ea typeface="+mj-ea"/>
                <a:cs typeface="Noto Sans KR" pitchFamily="34" charset="-120"/>
              </a:rPr>
              <a:t>decode</a:t>
            </a:r>
            <a:endParaRPr lang="en-US" sz="1100" dirty="0">
              <a:latin typeface="+mj-ea"/>
              <a:ea typeface="+mj-ea"/>
            </a:endParaRPr>
          </a:p>
        </p:txBody>
      </p:sp>
      <p:sp>
        <p:nvSpPr>
          <p:cNvPr id="122" name="Text 36">
            <a:extLst>
              <a:ext uri="{FF2B5EF4-FFF2-40B4-BE49-F238E27FC236}">
                <a16:creationId xmlns:a16="http://schemas.microsoft.com/office/drawing/2014/main" id="{76BCF8B5-41BF-448F-9A47-945CAFE397B3}"/>
              </a:ext>
            </a:extLst>
          </p:cNvPr>
          <p:cNvSpPr/>
          <p:nvPr/>
        </p:nvSpPr>
        <p:spPr>
          <a:xfrm>
            <a:off x="4273550" y="4338075"/>
            <a:ext cx="762000" cy="233660"/>
          </a:xfrm>
          <a:custGeom>
            <a:avLst/>
            <a:gdLst/>
            <a:ahLst/>
            <a:cxnLst/>
            <a:rect l="l" t="t" r="r" b="b"/>
            <a:pathLst>
              <a:path w="762000" h="233660">
                <a:moveTo>
                  <a:pt x="38100" y="0"/>
                </a:moveTo>
                <a:lnTo>
                  <a:pt x="723900" y="0"/>
                </a:lnTo>
                <a:arcTo wR="38100" hR="38100" stAng="16200000" swAng="5400000"/>
                <a:lnTo>
                  <a:pt x="762000" y="195560"/>
                </a:lnTo>
                <a:arcTo wR="38100" hR="38100" stAng="0" swAng="5400000"/>
                <a:lnTo>
                  <a:pt x="38100" y="233660"/>
                </a:lnTo>
                <a:arcTo wR="38100" hR="38100" stAng="5400000" swAng="5400000"/>
                <a:lnTo>
                  <a:pt x="0" y="38100"/>
                </a:lnTo>
                <a:arcTo wR="38100" hR="38100" stAng="10800000" swAng="5400000"/>
                <a:close/>
              </a:path>
            </a:pathLst>
          </a:custGeom>
          <a:solidFill>
            <a:srgbClr val="C55A11"/>
          </a:solidFill>
          <a:ln/>
        </p:spPr>
        <p:txBody>
          <a:bodyPr wrap="square" lIns="0" tIns="25400" rIns="0" bIns="0" rtlCol="0" anchor="t">
            <a:normAutofit/>
          </a:bodyPr>
          <a:lstStyle/>
          <a:p>
            <a:pPr marL="0" indent="0" algn="ctr">
              <a:lnSpc>
                <a:spcPts val="1440"/>
              </a:lnSpc>
              <a:buNone/>
            </a:pPr>
            <a:r>
              <a:rPr lang="en-US" sz="1200" b="1" dirty="0">
                <a:solidFill>
                  <a:srgbClr val="FFFFFF"/>
                </a:solidFill>
                <a:latin typeface="+mj-ea"/>
                <a:ea typeface="+mj-ea"/>
                <a:cs typeface="Noto Sans KR" pitchFamily="34" charset="-120"/>
              </a:rPr>
              <a:t>용량</a:t>
            </a:r>
            <a:endParaRPr lang="en-US" sz="1200" dirty="0">
              <a:latin typeface="+mj-ea"/>
              <a:ea typeface="+mj-ea"/>
            </a:endParaRPr>
          </a:p>
        </p:txBody>
      </p:sp>
      <p:sp>
        <p:nvSpPr>
          <p:cNvPr id="123" name="Text 37">
            <a:extLst>
              <a:ext uri="{FF2B5EF4-FFF2-40B4-BE49-F238E27FC236}">
                <a16:creationId xmlns:a16="http://schemas.microsoft.com/office/drawing/2014/main" id="{CCFC0634-9B92-416C-BF43-95C5B76AC0BE}"/>
              </a:ext>
            </a:extLst>
          </p:cNvPr>
          <p:cNvSpPr/>
          <p:nvPr/>
        </p:nvSpPr>
        <p:spPr>
          <a:xfrm>
            <a:off x="4248150" y="4584435"/>
            <a:ext cx="812800" cy="208260"/>
          </a:xfrm>
          <a:prstGeom prst="rect">
            <a:avLst/>
          </a:prstGeom>
          <a:noFill/>
          <a:ln/>
        </p:spPr>
        <p:txBody>
          <a:bodyPr wrap="square" lIns="0" tIns="0" rIns="0" bIns="0" rtlCol="0" anchor="t">
            <a:normAutofit/>
          </a:bodyPr>
          <a:lstStyle/>
          <a:p>
            <a:pPr marL="0" indent="0" algn="ctr">
              <a:lnSpc>
                <a:spcPts val="1440"/>
              </a:lnSpc>
              <a:buNone/>
            </a:pPr>
            <a:r>
              <a:rPr lang="en-US" sz="1100" dirty="0">
                <a:solidFill>
                  <a:srgbClr val="555555"/>
                </a:solidFill>
                <a:latin typeface="+mj-ea"/>
                <a:ea typeface="+mj-ea"/>
                <a:cs typeface="Noto Sans KR" pitchFamily="34" charset="-120"/>
              </a:rPr>
              <a:t>도구 대기</a:t>
            </a:r>
            <a:endParaRPr lang="en-US" sz="1100" dirty="0">
              <a:latin typeface="+mj-ea"/>
              <a:ea typeface="+mj-ea"/>
            </a:endParaRPr>
          </a:p>
        </p:txBody>
      </p:sp>
      <p:sp>
        <p:nvSpPr>
          <p:cNvPr id="124" name="Text 38">
            <a:extLst>
              <a:ext uri="{FF2B5EF4-FFF2-40B4-BE49-F238E27FC236}">
                <a16:creationId xmlns:a16="http://schemas.microsoft.com/office/drawing/2014/main" id="{BA623A4A-182E-4608-8D24-0B1E2716AE18}"/>
              </a:ext>
            </a:extLst>
          </p:cNvPr>
          <p:cNvSpPr/>
          <p:nvPr/>
        </p:nvSpPr>
        <p:spPr>
          <a:xfrm>
            <a:off x="5099050" y="4376175"/>
            <a:ext cx="610493" cy="208260"/>
          </a:xfrm>
          <a:prstGeom prst="rect">
            <a:avLst/>
          </a:prstGeom>
          <a:noFill/>
          <a:ln/>
        </p:spPr>
        <p:txBody>
          <a:bodyPr wrap="none" lIns="0" tIns="0" rIns="0" bIns="0" rtlCol="0" anchor="t">
            <a:normAutofit/>
          </a:bodyPr>
          <a:lstStyle/>
          <a:p>
            <a:pPr marL="0" indent="0" algn="l">
              <a:lnSpc>
                <a:spcPts val="1440"/>
              </a:lnSpc>
              <a:buNone/>
            </a:pPr>
            <a:r>
              <a:rPr lang="en-US" sz="1200" b="1" dirty="0">
                <a:solidFill>
                  <a:srgbClr val="555555"/>
                </a:solidFill>
                <a:latin typeface="+mj-ea"/>
                <a:ea typeface="+mj-ea"/>
                <a:cs typeface="Noto Sans KR" pitchFamily="34" charset="-120"/>
              </a:rPr>
              <a:t>··· N회</a:t>
            </a:r>
            <a:endParaRPr lang="en-US" sz="1200" dirty="0">
              <a:latin typeface="+mj-ea"/>
              <a:ea typeface="+mj-ea"/>
            </a:endParaRPr>
          </a:p>
        </p:txBody>
      </p:sp>
      <p:sp>
        <p:nvSpPr>
          <p:cNvPr id="125" name="Shape 39">
            <a:extLst>
              <a:ext uri="{FF2B5EF4-FFF2-40B4-BE49-F238E27FC236}">
                <a16:creationId xmlns:a16="http://schemas.microsoft.com/office/drawing/2014/main" id="{B322A72E-3068-46BD-ADC9-5A96299363F1}"/>
              </a:ext>
            </a:extLst>
          </p:cNvPr>
          <p:cNvSpPr/>
          <p:nvPr/>
        </p:nvSpPr>
        <p:spPr>
          <a:xfrm>
            <a:off x="552450" y="4881595"/>
            <a:ext cx="5232400" cy="431800"/>
          </a:xfrm>
          <a:prstGeom prst="roundRect">
            <a:avLst>
              <a:gd name="adj" fmla="val 17647"/>
            </a:avLst>
          </a:prstGeom>
          <a:solidFill>
            <a:srgbClr val="FBEFE6"/>
          </a:solidFill>
          <a:ln/>
        </p:spPr>
      </p:sp>
      <p:sp>
        <p:nvSpPr>
          <p:cNvPr id="126" name="Text 40">
            <a:extLst>
              <a:ext uri="{FF2B5EF4-FFF2-40B4-BE49-F238E27FC236}">
                <a16:creationId xmlns:a16="http://schemas.microsoft.com/office/drawing/2014/main" id="{0CEF3A66-7856-434C-8570-3A6315AE137E}"/>
              </a:ext>
            </a:extLst>
          </p:cNvPr>
          <p:cNvSpPr/>
          <p:nvPr/>
        </p:nvSpPr>
        <p:spPr>
          <a:xfrm>
            <a:off x="590550" y="4990835"/>
            <a:ext cx="1003300" cy="238720"/>
          </a:xfrm>
          <a:prstGeom prst="rect">
            <a:avLst/>
          </a:prstGeom>
          <a:noFill/>
          <a:ln/>
        </p:spPr>
        <p:txBody>
          <a:bodyPr wrap="square" lIns="0" tIns="0" rIns="0" bIns="0" rtlCol="0" anchor="t">
            <a:normAutofit/>
          </a:bodyPr>
          <a:lstStyle/>
          <a:p>
            <a:pPr marL="0" indent="0" algn="ctr">
              <a:lnSpc>
                <a:spcPts val="1680"/>
              </a:lnSpc>
              <a:buNone/>
            </a:pPr>
            <a:r>
              <a:rPr lang="en-US" sz="1100" b="1" dirty="0">
                <a:solidFill>
                  <a:srgbClr val="7A3608"/>
                </a:solidFill>
                <a:latin typeface="+mj-ea"/>
                <a:ea typeface="+mj-ea"/>
                <a:cs typeface="Noto Sans KR" pitchFamily="34" charset="-120"/>
              </a:rPr>
              <a:t>91~98.6%</a:t>
            </a:r>
            <a:endParaRPr lang="en-US" sz="1100" dirty="0">
              <a:latin typeface="+mj-ea"/>
              <a:ea typeface="+mj-ea"/>
            </a:endParaRPr>
          </a:p>
        </p:txBody>
      </p:sp>
      <mc:AlternateContent xmlns:mc="http://schemas.openxmlformats.org/markup-compatibility/2006" xmlns:a14="http://schemas.microsoft.com/office/drawing/2010/main">
        <mc:Choice Requires="a14">
          <p:sp>
            <p:nvSpPr>
              <p:cNvPr id="127" name="Text 41">
                <a:extLst>
                  <a:ext uri="{FF2B5EF4-FFF2-40B4-BE49-F238E27FC236}">
                    <a16:creationId xmlns:a16="http://schemas.microsoft.com/office/drawing/2014/main" id="{316A6BE6-BC0F-4D7F-8504-043A825B3FD9}"/>
                  </a:ext>
                </a:extLst>
              </p:cNvPr>
              <p:cNvSpPr/>
              <p:nvPr/>
            </p:nvSpPr>
            <p:spPr>
              <a:xfrm>
                <a:off x="1631950" y="4906995"/>
                <a:ext cx="4212082" cy="406400"/>
              </a:xfrm>
              <a:prstGeom prst="rect">
                <a:avLst/>
              </a:prstGeom>
              <a:noFill/>
              <a:ln/>
            </p:spPr>
            <p:txBody>
              <a:bodyPr wrap="square" lIns="0" tIns="0" rIns="0" bIns="0" rtlCol="0" anchor="t">
                <a:normAutofit/>
              </a:bodyPr>
              <a:lstStyle/>
              <a:p>
                <a:pPr marL="0" indent="0" algn="l">
                  <a:lnSpc>
                    <a:spcPts val="1500"/>
                  </a:lnSpc>
                  <a:buNone/>
                </a:pPr>
                <a:r>
                  <a:rPr lang="en-US" sz="1100" dirty="0">
                    <a:solidFill>
                      <a:srgbClr val="222222"/>
                    </a:solidFill>
                    <a:latin typeface="+mj-ea"/>
                    <a:ea typeface="+mj-ea"/>
                    <a:cs typeface="Noto Sans KR" pitchFamily="34" charset="-120"/>
                  </a:rPr>
                  <a:t>LLM 시간 중 decode </a:t>
                </a:r>
                <a:r>
                  <a:rPr lang="en-US" sz="1100" dirty="0" err="1">
                    <a:solidFill>
                      <a:srgbClr val="222222"/>
                    </a:solidFill>
                    <a:latin typeface="+mj-ea"/>
                    <a:ea typeface="+mj-ea"/>
                    <a:cs typeface="Noto Sans KR" pitchFamily="34" charset="-120"/>
                  </a:rPr>
                  <a:t>비중</a:t>
                </a:r>
                <a:r>
                  <a:rPr lang="en-US" sz="1100" dirty="0">
                    <a:solidFill>
                      <a:srgbClr val="222222"/>
                    </a:solidFill>
                    <a:latin typeface="+mj-ea"/>
                    <a:ea typeface="+mj-ea"/>
                    <a:cs typeface="Noto Sans KR" pitchFamily="34" charset="-120"/>
                  </a:rPr>
                  <a:t>.</a:t>
                </a:r>
              </a:p>
              <a:p>
                <a:pPr>
                  <a:lnSpc>
                    <a:spcPts val="1500"/>
                  </a:lnSpc>
                </a:pPr>
                <a:r>
                  <a:rPr lang="en-US" sz="1100" dirty="0" err="1">
                    <a:solidFill>
                      <a:srgbClr val="222222"/>
                    </a:solidFill>
                    <a:latin typeface="+mj-ea"/>
                    <a:ea typeface="+mj-ea"/>
                    <a:cs typeface="Noto Sans KR" pitchFamily="34" charset="-120"/>
                  </a:rPr>
                  <a:t>조건</a:t>
                </a:r>
                <a:r>
                  <a:rPr lang="en-US" sz="1100" dirty="0">
                    <a:solidFill>
                      <a:srgbClr val="222222"/>
                    </a:solidFill>
                    <a:latin typeface="+mj-ea"/>
                    <a:ea typeface="+mj-ea"/>
                    <a:cs typeface="Noto Sans KR" pitchFamily="34" charset="-120"/>
                  </a:rPr>
                  <a:t>: </a:t>
                </a:r>
                <a14:m>
                  <m:oMath xmlns:m="http://schemas.openxmlformats.org/officeDocument/2006/math">
                    <m:sSup>
                      <m:sSupPr>
                        <m:ctrlPr>
                          <a:rPr lang="en-US" altLang="ko-KR" sz="1100" i="1" dirty="0" smtClean="0">
                            <a:solidFill>
                              <a:srgbClr val="222222"/>
                            </a:solidFill>
                            <a:latin typeface="Cambria Math" panose="02040503050406030204" pitchFamily="18" charset="0"/>
                            <a:ea typeface="+mj-ea"/>
                          </a:rPr>
                        </m:ctrlPr>
                      </m:sSupPr>
                      <m:e>
                        <m:r>
                          <a:rPr lang="en-US" altLang="ko-KR" sz="1100" i="1" dirty="0">
                            <a:solidFill>
                              <a:srgbClr val="222222"/>
                            </a:solidFill>
                            <a:latin typeface="Cambria Math" panose="02040503050406030204" pitchFamily="18" charset="0"/>
                            <a:cs typeface="Noto Sans KR" pitchFamily="34" charset="-120"/>
                          </a:rPr>
                          <m:t>이전</m:t>
                        </m:r>
                        <m:r>
                          <a:rPr lang="en-US" altLang="ko-KR" sz="1100" i="1" dirty="0">
                            <a:solidFill>
                              <a:srgbClr val="222222"/>
                            </a:solidFill>
                            <a:latin typeface="Cambria Math" panose="02040503050406030204" pitchFamily="18" charset="0"/>
                            <a:cs typeface="Noto Sans KR" pitchFamily="34" charset="-120"/>
                          </a:rPr>
                          <m:t> </m:t>
                        </m:r>
                        <m:r>
                          <a:rPr lang="en-US" altLang="ko-KR" sz="1100" i="1" dirty="0">
                            <a:solidFill>
                              <a:srgbClr val="222222"/>
                            </a:solidFill>
                            <a:latin typeface="Cambria Math" panose="02040503050406030204" pitchFamily="18" charset="0"/>
                            <a:cs typeface="Noto Sans KR" pitchFamily="34" charset="-120"/>
                          </a:rPr>
                          <m:t>턴</m:t>
                        </m:r>
                        <m:r>
                          <a:rPr lang="en-US" altLang="ko-KR" sz="1100" i="1" dirty="0">
                            <a:solidFill>
                              <a:srgbClr val="222222"/>
                            </a:solidFill>
                            <a:latin typeface="Cambria Math" panose="02040503050406030204" pitchFamily="18" charset="0"/>
                            <a:cs typeface="Noto Sans KR" pitchFamily="34" charset="-120"/>
                          </a:rPr>
                          <m:t> </m:t>
                        </m:r>
                        <m:r>
                          <a:rPr lang="en-US" altLang="ko-KR" sz="1100" i="1" dirty="0">
                            <a:solidFill>
                              <a:srgbClr val="222222"/>
                            </a:solidFill>
                            <a:latin typeface="Cambria Math" panose="02040503050406030204" pitchFamily="18" charset="0"/>
                            <a:cs typeface="Noto Sans KR" pitchFamily="34" charset="-120"/>
                          </a:rPr>
                          <m:t>입력을</m:t>
                        </m:r>
                        <m:r>
                          <a:rPr lang="en-US" altLang="ko-KR" sz="1100" i="1" dirty="0">
                            <a:solidFill>
                              <a:srgbClr val="222222"/>
                            </a:solidFill>
                            <a:latin typeface="Cambria Math" panose="02040503050406030204" pitchFamily="18" charset="0"/>
                            <a:cs typeface="Noto Sans KR" pitchFamily="34" charset="-120"/>
                          </a:rPr>
                          <m:t> </m:t>
                        </m:r>
                        <m:r>
                          <a:rPr lang="en-US" altLang="ko-KR" sz="1100" i="1" dirty="0">
                            <a:solidFill>
                              <a:srgbClr val="222222"/>
                            </a:solidFill>
                            <a:latin typeface="Cambria Math" panose="02040503050406030204" pitchFamily="18" charset="0"/>
                            <a:cs typeface="Noto Sans KR" pitchFamily="34" charset="-120"/>
                          </a:rPr>
                          <m:t>전부</m:t>
                        </m:r>
                        <m:r>
                          <a:rPr lang="en-US" altLang="ko-KR" sz="1100" i="1" dirty="0">
                            <a:solidFill>
                              <a:srgbClr val="222222"/>
                            </a:solidFill>
                            <a:latin typeface="Cambria Math" panose="02040503050406030204" pitchFamily="18" charset="0"/>
                            <a:cs typeface="Noto Sans KR" pitchFamily="34" charset="-120"/>
                          </a:rPr>
                          <m:t> </m:t>
                        </m:r>
                        <m:r>
                          <a:rPr lang="en-US" altLang="ko-KR" sz="1100" i="1" dirty="0">
                            <a:solidFill>
                              <a:srgbClr val="222222"/>
                            </a:solidFill>
                            <a:latin typeface="Cambria Math" panose="02040503050406030204" pitchFamily="18" charset="0"/>
                            <a:cs typeface="Noto Sans KR" pitchFamily="34" charset="-120"/>
                          </a:rPr>
                          <m:t>캐시</m:t>
                        </m:r>
                        <m:r>
                          <a:rPr lang="en-US" altLang="ko-KR" sz="1100" i="1" dirty="0">
                            <a:solidFill>
                              <a:srgbClr val="222222"/>
                            </a:solidFill>
                            <a:latin typeface="Cambria Math" panose="02040503050406030204" pitchFamily="18" charset="0"/>
                            <a:cs typeface="Noto Sans KR" pitchFamily="34" charset="-120"/>
                          </a:rPr>
                          <m:t> </m:t>
                        </m:r>
                        <m:r>
                          <a:rPr lang="en-US" altLang="ko-KR" sz="1100" i="1" dirty="0">
                            <a:solidFill>
                              <a:srgbClr val="222222"/>
                            </a:solidFill>
                            <a:latin typeface="Cambria Math" panose="02040503050406030204" pitchFamily="18" charset="0"/>
                            <a:cs typeface="Noto Sans KR" pitchFamily="34" charset="-120"/>
                          </a:rPr>
                          <m:t>재사용</m:t>
                        </m:r>
                        <m:r>
                          <a:rPr lang="en-US" altLang="ko-KR" sz="1100" i="1" dirty="0">
                            <a:solidFill>
                              <a:srgbClr val="222222"/>
                            </a:solidFill>
                            <a:latin typeface="Cambria Math" panose="02040503050406030204" pitchFamily="18" charset="0"/>
                            <a:cs typeface="Noto Sans KR" pitchFamily="34" charset="-120"/>
                          </a:rPr>
                          <m:t>(</m:t>
                        </m:r>
                        <m:r>
                          <a:rPr lang="en-US" altLang="ko-KR" sz="1100" i="1" dirty="0">
                            <a:solidFill>
                              <a:srgbClr val="222222"/>
                            </a:solidFill>
                            <a:latin typeface="Cambria Math" panose="02040503050406030204" pitchFamily="18" charset="0"/>
                            <a:cs typeface="Noto Sans KR" pitchFamily="34" charset="-120"/>
                          </a:rPr>
                          <m:t>이상적</m:t>
                        </m:r>
                        <m:r>
                          <a:rPr lang="en-US" altLang="ko-KR" sz="1100" i="1" dirty="0">
                            <a:solidFill>
                              <a:srgbClr val="222222"/>
                            </a:solidFill>
                            <a:latin typeface="Cambria Math" panose="02040503050406030204" pitchFamily="18" charset="0"/>
                            <a:cs typeface="Noto Sans KR" pitchFamily="34" charset="-120"/>
                          </a:rPr>
                          <m:t>)</m:t>
                        </m:r>
                      </m:e>
                      <m:sup>
                        <m:r>
                          <a:rPr lang="en-US" altLang="ko-KR" sz="1100" b="0" i="1" dirty="0" smtClean="0">
                            <a:solidFill>
                              <a:srgbClr val="222222"/>
                            </a:solidFill>
                            <a:latin typeface="Cambria Math" panose="02040503050406030204" pitchFamily="18" charset="0"/>
                            <a:ea typeface="+mj-ea"/>
                          </a:rPr>
                          <m:t>[1]</m:t>
                        </m:r>
                      </m:sup>
                    </m:sSup>
                    <m:r>
                      <a:rPr lang="en-US" sz="1100" i="1" dirty="0" smtClean="0">
                        <a:solidFill>
                          <a:srgbClr val="222222"/>
                        </a:solidFill>
                        <a:latin typeface="Cambria Math" panose="02040503050406030204" pitchFamily="18" charset="0"/>
                        <a:ea typeface="+mj-ea"/>
                        <a:cs typeface="Noto Sans KR" pitchFamily="34" charset="-120"/>
                      </a:rPr>
                      <m:t> </m:t>
                    </m:r>
                  </m:oMath>
                </a14:m>
                <a:endParaRPr lang="en-US" sz="1100" dirty="0">
                  <a:latin typeface="+mj-ea"/>
                  <a:ea typeface="+mj-ea"/>
                </a:endParaRPr>
              </a:p>
            </p:txBody>
          </p:sp>
        </mc:Choice>
        <mc:Fallback xmlns="">
          <p:sp>
            <p:nvSpPr>
              <p:cNvPr id="127" name="Text 41">
                <a:extLst>
                  <a:ext uri="{FF2B5EF4-FFF2-40B4-BE49-F238E27FC236}">
                    <a16:creationId xmlns:a16="http://schemas.microsoft.com/office/drawing/2014/main" id="{316A6BE6-BC0F-4D7F-8504-043A825B3FD9}"/>
                  </a:ext>
                </a:extLst>
              </p:cNvPr>
              <p:cNvSpPr>
                <a:spLocks noRot="1" noChangeAspect="1" noMove="1" noResize="1" noEditPoints="1" noAdjustHandles="1" noChangeArrowheads="1" noChangeShapeType="1" noTextEdit="1"/>
              </p:cNvSpPr>
              <p:nvPr/>
            </p:nvSpPr>
            <p:spPr>
              <a:xfrm>
                <a:off x="1631950" y="4906995"/>
                <a:ext cx="4212082" cy="406400"/>
              </a:xfrm>
              <a:prstGeom prst="rect">
                <a:avLst/>
              </a:prstGeom>
              <a:blipFill>
                <a:blip r:embed="rId10"/>
                <a:stretch>
                  <a:fillRect l="-2171" t="-11940" b="-11940"/>
                </a:stretch>
              </a:blipFill>
              <a:ln/>
            </p:spPr>
            <p:txBody>
              <a:bodyPr/>
              <a:lstStyle/>
              <a:p>
                <a:r>
                  <a:rPr lang="ko-KR" altLang="en-US">
                    <a:noFill/>
                  </a:rPr>
                  <a:t> </a:t>
                </a:r>
              </a:p>
            </p:txBody>
          </p:sp>
        </mc:Fallback>
      </mc:AlternateContent>
      <p:sp>
        <p:nvSpPr>
          <p:cNvPr id="128" name="Shape 42">
            <a:extLst>
              <a:ext uri="{FF2B5EF4-FFF2-40B4-BE49-F238E27FC236}">
                <a16:creationId xmlns:a16="http://schemas.microsoft.com/office/drawing/2014/main" id="{3E73E082-E52E-4457-9CDB-365403E14BCF}"/>
              </a:ext>
            </a:extLst>
          </p:cNvPr>
          <p:cNvSpPr/>
          <p:nvPr/>
        </p:nvSpPr>
        <p:spPr>
          <a:xfrm>
            <a:off x="552450" y="5351495"/>
            <a:ext cx="5232400" cy="431800"/>
          </a:xfrm>
          <a:prstGeom prst="roundRect">
            <a:avLst>
              <a:gd name="adj" fmla="val 17647"/>
            </a:avLst>
          </a:prstGeom>
          <a:solidFill>
            <a:srgbClr val="FBEFE6"/>
          </a:solidFill>
          <a:ln/>
        </p:spPr>
      </p:sp>
      <p:sp>
        <p:nvSpPr>
          <p:cNvPr id="129" name="Text 43">
            <a:extLst>
              <a:ext uri="{FF2B5EF4-FFF2-40B4-BE49-F238E27FC236}">
                <a16:creationId xmlns:a16="http://schemas.microsoft.com/office/drawing/2014/main" id="{F2CBB277-274C-4160-84ED-43A36247C180}"/>
              </a:ext>
            </a:extLst>
          </p:cNvPr>
          <p:cNvSpPr/>
          <p:nvPr/>
        </p:nvSpPr>
        <p:spPr>
          <a:xfrm>
            <a:off x="590550" y="5460735"/>
            <a:ext cx="1003300" cy="238720"/>
          </a:xfrm>
          <a:prstGeom prst="rect">
            <a:avLst/>
          </a:prstGeom>
          <a:noFill/>
          <a:ln/>
        </p:spPr>
        <p:txBody>
          <a:bodyPr wrap="square" lIns="0" tIns="0" rIns="0" bIns="0" rtlCol="0" anchor="t">
            <a:normAutofit/>
          </a:bodyPr>
          <a:lstStyle/>
          <a:p>
            <a:pPr marL="0" indent="0" algn="ctr">
              <a:lnSpc>
                <a:spcPts val="1680"/>
              </a:lnSpc>
              <a:buNone/>
            </a:pPr>
            <a:r>
              <a:rPr lang="en-US" sz="1100" b="1" dirty="0">
                <a:solidFill>
                  <a:srgbClr val="7A3608"/>
                </a:solidFill>
                <a:latin typeface="+mj-ea"/>
                <a:ea typeface="+mj-ea"/>
                <a:cs typeface="Noto Sans KR" pitchFamily="34" charset="-120"/>
              </a:rPr>
              <a:t>분~시간</a:t>
            </a:r>
            <a:endParaRPr lang="en-US" sz="1100" dirty="0">
              <a:latin typeface="+mj-ea"/>
              <a:ea typeface="+mj-ea"/>
            </a:endParaRPr>
          </a:p>
        </p:txBody>
      </p:sp>
      <mc:AlternateContent xmlns:mc="http://schemas.openxmlformats.org/markup-compatibility/2006" xmlns:a14="http://schemas.microsoft.com/office/drawing/2010/main">
        <mc:Choice Requires="a14">
          <p:sp>
            <p:nvSpPr>
              <p:cNvPr id="130" name="Text 44">
                <a:extLst>
                  <a:ext uri="{FF2B5EF4-FFF2-40B4-BE49-F238E27FC236}">
                    <a16:creationId xmlns:a16="http://schemas.microsoft.com/office/drawing/2014/main" id="{BE7DDB4B-05A5-4DF2-9874-62834EFF3344}"/>
                  </a:ext>
                </a:extLst>
              </p:cNvPr>
              <p:cNvSpPr/>
              <p:nvPr/>
            </p:nvSpPr>
            <p:spPr>
              <a:xfrm>
                <a:off x="1631950" y="5376895"/>
                <a:ext cx="4212082" cy="406400"/>
              </a:xfrm>
              <a:prstGeom prst="rect">
                <a:avLst/>
              </a:prstGeom>
              <a:noFill/>
              <a:ln/>
            </p:spPr>
            <p:txBody>
              <a:bodyPr wrap="square" lIns="0" tIns="0" rIns="0" bIns="0" rtlCol="0" anchor="t">
                <a:normAutofit/>
              </a:bodyPr>
              <a:lstStyle/>
              <a:p>
                <a:pPr marL="0" indent="0" algn="l">
                  <a:lnSpc>
                    <a:spcPts val="1500"/>
                  </a:lnSpc>
                  <a:buNone/>
                </a:pPr>
                <a:r>
                  <a:rPr lang="en-US" sz="1100" dirty="0">
                    <a:solidFill>
                      <a:srgbClr val="222222"/>
                    </a:solidFill>
                    <a:latin typeface="+mj-ea"/>
                    <a:ea typeface="+mj-ea"/>
                    <a:cs typeface="Noto Sans KR" pitchFamily="34" charset="-120"/>
                  </a:rPr>
                  <a:t>활성 단계 사이 세션 상태가 유휴. </a:t>
                </a:r>
              </a:p>
              <a:p>
                <a:pPr>
                  <a:lnSpc>
                    <a:spcPts val="1500"/>
                  </a:lnSpc>
                </a:pPr>
                <a:r>
                  <a:rPr lang="en-US" sz="1100" dirty="0" err="1">
                    <a:solidFill>
                      <a:srgbClr val="222222"/>
                    </a:solidFill>
                    <a:latin typeface="+mj-ea"/>
                    <a:ea typeface="+mj-ea"/>
                    <a:cs typeface="Noto Sans KR" pitchFamily="34" charset="-120"/>
                  </a:rPr>
                  <a:t>조건</a:t>
                </a:r>
                <a:r>
                  <a:rPr lang="en-US" sz="1100" dirty="0">
                    <a:solidFill>
                      <a:srgbClr val="222222"/>
                    </a:solidFill>
                    <a:latin typeface="+mj-ea"/>
                    <a:ea typeface="+mj-ea"/>
                    <a:cs typeface="Noto Sans KR" pitchFamily="34" charset="-120"/>
                  </a:rPr>
                  <a:t>: </a:t>
                </a:r>
                <a14:m>
                  <m:oMath xmlns:m="http://schemas.openxmlformats.org/officeDocument/2006/math">
                    <m:sSup>
                      <m:sSupPr>
                        <m:ctrlPr>
                          <a:rPr lang="en-US" altLang="ko-KR" sz="1100" i="1" smtClean="0">
                            <a:solidFill>
                              <a:srgbClr val="222222"/>
                            </a:solidFill>
                            <a:latin typeface="Cambria Math" panose="02040503050406030204" pitchFamily="18" charset="0"/>
                            <a:ea typeface="+mj-ea"/>
                          </a:rPr>
                        </m:ctrlPr>
                      </m:sSupPr>
                      <m:e>
                        <m:r>
                          <m:rPr>
                            <m:nor/>
                          </m:rPr>
                          <a:rPr lang="en-US" altLang="ko-KR" sz="1100" dirty="0">
                            <a:solidFill>
                              <a:srgbClr val="222222"/>
                            </a:solidFill>
                            <a:latin typeface="+mj-ea"/>
                            <a:cs typeface="Noto Sans KR" pitchFamily="34" charset="-120"/>
                          </a:rPr>
                          <m:t>프로덕션</m:t>
                        </m:r>
                        <m:r>
                          <m:rPr>
                            <m:nor/>
                          </m:rPr>
                          <a:rPr lang="en-US" altLang="ko-KR" sz="1100" dirty="0">
                            <a:solidFill>
                              <a:srgbClr val="222222"/>
                            </a:solidFill>
                            <a:latin typeface="+mj-ea"/>
                            <a:cs typeface="Noto Sans KR" pitchFamily="34" charset="-120"/>
                          </a:rPr>
                          <m:t> </m:t>
                        </m:r>
                        <m:r>
                          <m:rPr>
                            <m:nor/>
                          </m:rPr>
                          <a:rPr lang="en-US" altLang="ko-KR" sz="1100" dirty="0">
                            <a:solidFill>
                              <a:srgbClr val="222222"/>
                            </a:solidFill>
                            <a:latin typeface="+mj-ea"/>
                            <a:cs typeface="Noto Sans KR" pitchFamily="34" charset="-120"/>
                          </a:rPr>
                          <m:t>세션</m:t>
                        </m:r>
                        <m:r>
                          <m:rPr>
                            <m:nor/>
                          </m:rPr>
                          <a:rPr lang="en-US" altLang="ko-KR" sz="1100" dirty="0">
                            <a:solidFill>
                              <a:srgbClr val="222222"/>
                            </a:solidFill>
                            <a:latin typeface="+mj-ea"/>
                            <a:cs typeface="Noto Sans KR" pitchFamily="34" charset="-120"/>
                          </a:rPr>
                          <m:t>. </m:t>
                        </m:r>
                        <m:r>
                          <m:rPr>
                            <m:nor/>
                          </m:rPr>
                          <a:rPr lang="en-US" altLang="ko-KR" sz="1100" dirty="0">
                            <a:solidFill>
                              <a:srgbClr val="222222"/>
                            </a:solidFill>
                            <a:latin typeface="+mj-ea"/>
                            <a:cs typeface="Noto Sans KR" pitchFamily="34" charset="-120"/>
                          </a:rPr>
                          <m:t>유휴</m:t>
                        </m:r>
                        <m:r>
                          <m:rPr>
                            <m:nor/>
                          </m:rPr>
                          <a:rPr lang="en-US" altLang="ko-KR" sz="1100" dirty="0">
                            <a:solidFill>
                              <a:srgbClr val="222222"/>
                            </a:solidFill>
                            <a:latin typeface="+mj-ea"/>
                            <a:cs typeface="Noto Sans KR" pitchFamily="34" charset="-120"/>
                          </a:rPr>
                          <m:t> </m:t>
                        </m:r>
                        <m:r>
                          <m:rPr>
                            <m:nor/>
                          </m:rPr>
                          <a:rPr lang="en-US" altLang="ko-KR" sz="1100" dirty="0">
                            <a:solidFill>
                              <a:srgbClr val="222222"/>
                            </a:solidFill>
                            <a:latin typeface="+mj-ea"/>
                            <a:cs typeface="Noto Sans KR" pitchFamily="34" charset="-120"/>
                          </a:rPr>
                          <m:t>KV</m:t>
                        </m:r>
                        <m:r>
                          <m:rPr>
                            <m:nor/>
                          </m:rPr>
                          <a:rPr lang="en-US" altLang="ko-KR" sz="1100" dirty="0">
                            <a:solidFill>
                              <a:srgbClr val="222222"/>
                            </a:solidFill>
                            <a:latin typeface="+mj-ea"/>
                            <a:cs typeface="Noto Sans KR" pitchFamily="34" charset="-120"/>
                          </a:rPr>
                          <m:t>가</m:t>
                        </m:r>
                        <m:r>
                          <m:rPr>
                            <m:nor/>
                          </m:rPr>
                          <a:rPr lang="en-US" altLang="ko-KR" sz="1100" dirty="0">
                            <a:solidFill>
                              <a:srgbClr val="222222"/>
                            </a:solidFill>
                            <a:latin typeface="+mj-ea"/>
                            <a:cs typeface="Noto Sans KR" pitchFamily="34" charset="-120"/>
                          </a:rPr>
                          <m:t> </m:t>
                        </m:r>
                        <m:r>
                          <m:rPr>
                            <m:nor/>
                          </m:rPr>
                          <a:rPr lang="en-US" altLang="ko-KR" sz="1100" dirty="0">
                            <a:solidFill>
                              <a:srgbClr val="222222"/>
                            </a:solidFill>
                            <a:latin typeface="+mj-ea"/>
                            <a:cs typeface="Noto Sans KR" pitchFamily="34" charset="-120"/>
                          </a:rPr>
                          <m:t>HBM</m:t>
                        </m:r>
                        <m:r>
                          <m:rPr>
                            <m:nor/>
                          </m:rPr>
                          <a:rPr lang="en-US" altLang="ko-KR" sz="1100" dirty="0">
                            <a:solidFill>
                              <a:srgbClr val="222222"/>
                            </a:solidFill>
                            <a:latin typeface="+mj-ea"/>
                            <a:cs typeface="Noto Sans KR" pitchFamily="34" charset="-120"/>
                          </a:rPr>
                          <m:t> </m:t>
                        </m:r>
                        <m:r>
                          <m:rPr>
                            <m:nor/>
                          </m:rPr>
                          <a:rPr lang="en-US" altLang="ko-KR" sz="1100" dirty="0">
                            <a:solidFill>
                              <a:srgbClr val="222222"/>
                            </a:solidFill>
                            <a:latin typeface="+mj-ea"/>
                            <a:cs typeface="Noto Sans KR" pitchFamily="34" charset="-120"/>
                          </a:rPr>
                          <m:t>점유</m:t>
                        </m:r>
                      </m:e>
                      <m:sup>
                        <m:d>
                          <m:dPr>
                            <m:begChr m:val="["/>
                            <m:endChr m:val="]"/>
                            <m:ctrlPr>
                              <a:rPr lang="en-US" altLang="ko-KR" sz="1100" b="0" i="1" smtClean="0">
                                <a:solidFill>
                                  <a:srgbClr val="222222"/>
                                </a:solidFill>
                                <a:latin typeface="Cambria Math" panose="02040503050406030204" pitchFamily="18" charset="0"/>
                                <a:ea typeface="+mj-ea"/>
                              </a:rPr>
                            </m:ctrlPr>
                          </m:dPr>
                          <m:e>
                            <m:r>
                              <a:rPr lang="en-US" altLang="ko-KR" sz="1100" b="0" i="1" smtClean="0">
                                <a:solidFill>
                                  <a:srgbClr val="222222"/>
                                </a:solidFill>
                                <a:latin typeface="Cambria Math" panose="02040503050406030204" pitchFamily="18" charset="0"/>
                                <a:ea typeface="+mj-ea"/>
                              </a:rPr>
                              <m:t>2</m:t>
                            </m:r>
                          </m:e>
                        </m:d>
                        <m:r>
                          <a:rPr lang="en-US" altLang="ko-KR" sz="1100" b="0" i="1" smtClean="0">
                            <a:solidFill>
                              <a:srgbClr val="222222"/>
                            </a:solidFill>
                            <a:latin typeface="Cambria Math" panose="02040503050406030204" pitchFamily="18" charset="0"/>
                            <a:ea typeface="+mj-ea"/>
                          </a:rPr>
                          <m:t>[7]</m:t>
                        </m:r>
                      </m:sup>
                    </m:sSup>
                  </m:oMath>
                </a14:m>
                <a:endParaRPr lang="en-US" sz="1100" dirty="0">
                  <a:latin typeface="+mj-ea"/>
                  <a:ea typeface="+mj-ea"/>
                </a:endParaRPr>
              </a:p>
            </p:txBody>
          </p:sp>
        </mc:Choice>
        <mc:Fallback xmlns="">
          <p:sp>
            <p:nvSpPr>
              <p:cNvPr id="130" name="Text 44">
                <a:extLst>
                  <a:ext uri="{FF2B5EF4-FFF2-40B4-BE49-F238E27FC236}">
                    <a16:creationId xmlns:a16="http://schemas.microsoft.com/office/drawing/2014/main" id="{BE7DDB4B-05A5-4DF2-9874-62834EFF3344}"/>
                  </a:ext>
                </a:extLst>
              </p:cNvPr>
              <p:cNvSpPr>
                <a:spLocks noRot="1" noChangeAspect="1" noMove="1" noResize="1" noEditPoints="1" noAdjustHandles="1" noChangeArrowheads="1" noChangeShapeType="1" noTextEdit="1"/>
              </p:cNvSpPr>
              <p:nvPr/>
            </p:nvSpPr>
            <p:spPr>
              <a:xfrm>
                <a:off x="1631950" y="5376895"/>
                <a:ext cx="4212082" cy="406400"/>
              </a:xfrm>
              <a:prstGeom prst="rect">
                <a:avLst/>
              </a:prstGeom>
              <a:blipFill>
                <a:blip r:embed="rId11"/>
                <a:stretch>
                  <a:fillRect l="-2171" t="-10448" b="-13433"/>
                </a:stretch>
              </a:blipFill>
              <a:ln/>
            </p:spPr>
            <p:txBody>
              <a:bodyPr/>
              <a:lstStyle/>
              <a:p>
                <a:r>
                  <a:rPr lang="ko-KR" altLang="en-US">
                    <a:noFill/>
                  </a:rPr>
                  <a:t> </a:t>
                </a:r>
              </a:p>
            </p:txBody>
          </p:sp>
        </mc:Fallback>
      </mc:AlternateContent>
      <p:sp>
        <p:nvSpPr>
          <p:cNvPr id="131" name="Shape 45">
            <a:extLst>
              <a:ext uri="{FF2B5EF4-FFF2-40B4-BE49-F238E27FC236}">
                <a16:creationId xmlns:a16="http://schemas.microsoft.com/office/drawing/2014/main" id="{5FB3A234-CF7B-4B44-AF7C-5D290DA66310}"/>
              </a:ext>
            </a:extLst>
          </p:cNvPr>
          <p:cNvSpPr/>
          <p:nvPr/>
        </p:nvSpPr>
        <p:spPr>
          <a:xfrm>
            <a:off x="552450" y="5821395"/>
            <a:ext cx="5232400" cy="264120"/>
          </a:xfrm>
          <a:prstGeom prst="roundRect">
            <a:avLst>
              <a:gd name="adj" fmla="val 28851"/>
            </a:avLst>
          </a:prstGeom>
          <a:solidFill>
            <a:srgbClr val="FBEFE6"/>
          </a:solidFill>
          <a:ln/>
        </p:spPr>
      </p:sp>
      <p:sp>
        <p:nvSpPr>
          <p:cNvPr id="132" name="Text 46">
            <a:extLst>
              <a:ext uri="{FF2B5EF4-FFF2-40B4-BE49-F238E27FC236}">
                <a16:creationId xmlns:a16="http://schemas.microsoft.com/office/drawing/2014/main" id="{FF4DFC96-B4B7-4B7F-B5F3-A027080C3297}"/>
              </a:ext>
            </a:extLst>
          </p:cNvPr>
          <p:cNvSpPr/>
          <p:nvPr/>
        </p:nvSpPr>
        <p:spPr>
          <a:xfrm>
            <a:off x="590550" y="5846795"/>
            <a:ext cx="1003300" cy="238720"/>
          </a:xfrm>
          <a:prstGeom prst="rect">
            <a:avLst/>
          </a:prstGeom>
          <a:noFill/>
          <a:ln/>
        </p:spPr>
        <p:txBody>
          <a:bodyPr wrap="square" lIns="0" tIns="0" rIns="0" bIns="0" rtlCol="0" anchor="t">
            <a:normAutofit/>
          </a:bodyPr>
          <a:lstStyle/>
          <a:p>
            <a:pPr marL="0" indent="0" algn="ctr">
              <a:lnSpc>
                <a:spcPts val="1680"/>
              </a:lnSpc>
              <a:buNone/>
            </a:pPr>
            <a:r>
              <a:rPr lang="en-US" sz="1100" b="1" dirty="0">
                <a:solidFill>
                  <a:srgbClr val="7A3608"/>
                </a:solidFill>
                <a:latin typeface="+mj-ea"/>
                <a:ea typeface="+mj-ea"/>
                <a:cs typeface="Noto Sans KR" pitchFamily="34" charset="-120"/>
              </a:rPr>
              <a:t>최대 32×</a:t>
            </a:r>
            <a:endParaRPr lang="en-US" sz="1100" dirty="0">
              <a:latin typeface="+mj-ea"/>
              <a:ea typeface="+mj-ea"/>
            </a:endParaRPr>
          </a:p>
        </p:txBody>
      </p:sp>
      <mc:AlternateContent xmlns:mc="http://schemas.openxmlformats.org/markup-compatibility/2006" xmlns:a14="http://schemas.microsoft.com/office/drawing/2010/main">
        <mc:Choice Requires="a14">
          <p:sp>
            <p:nvSpPr>
              <p:cNvPr id="133" name="Text 47">
                <a:extLst>
                  <a:ext uri="{FF2B5EF4-FFF2-40B4-BE49-F238E27FC236}">
                    <a16:creationId xmlns:a16="http://schemas.microsoft.com/office/drawing/2014/main" id="{54C805A2-4D2E-44DF-A564-593A226CBBBA}"/>
                  </a:ext>
                </a:extLst>
              </p:cNvPr>
              <p:cNvSpPr/>
              <p:nvPr/>
            </p:nvSpPr>
            <p:spPr>
              <a:xfrm>
                <a:off x="1631950" y="5858206"/>
                <a:ext cx="4212082" cy="215900"/>
              </a:xfrm>
              <a:prstGeom prst="rect">
                <a:avLst/>
              </a:prstGeom>
              <a:noFill/>
              <a:ln/>
            </p:spPr>
            <p:txBody>
              <a:bodyPr wrap="square" lIns="0" tIns="0" rIns="0" bIns="0" rtlCol="0" anchor="t">
                <a:normAutofit/>
              </a:bodyPr>
              <a:lstStyle/>
              <a:p>
                <a:pPr marL="0" indent="0" algn="l">
                  <a:lnSpc>
                    <a:spcPts val="1500"/>
                  </a:lnSpc>
                  <a:buNone/>
                </a:pPr>
                <a:r>
                  <a:rPr lang="en-US" sz="1100" dirty="0">
                    <a:solidFill>
                      <a:srgbClr val="222222"/>
                    </a:solidFill>
                    <a:latin typeface="+mj-ea"/>
                    <a:ea typeface="+mj-ea"/>
                    <a:cs typeface="Noto Sans KR" pitchFamily="34" charset="-120"/>
                  </a:rPr>
                  <a:t>구성요소 간 작업 지연 격차. 조건: </a:t>
                </a:r>
                <a14:m>
                  <m:oMath xmlns:m="http://schemas.openxmlformats.org/officeDocument/2006/math">
                    <m:sSup>
                      <m:sSupPr>
                        <m:ctrlPr>
                          <a:rPr lang="en-US" altLang="ko-KR" sz="1100" i="1" smtClean="0">
                            <a:solidFill>
                              <a:srgbClr val="222222"/>
                            </a:solidFill>
                            <a:latin typeface="Cambria Math" panose="02040503050406030204" pitchFamily="18" charset="0"/>
                            <a:ea typeface="+mj-ea"/>
                          </a:rPr>
                        </m:ctrlPr>
                      </m:sSupPr>
                      <m:e/>
                      <m:sup/>
                    </m:sSup>
                  </m:oMath>
                </a14:m>
                <a:r>
                  <a:rPr lang="en-US" sz="1100" dirty="0">
                    <a:solidFill>
                      <a:srgbClr val="222222"/>
                    </a:solidFill>
                    <a:latin typeface="+mj-ea"/>
                    <a:ea typeface="+mj-ea"/>
                    <a:cs typeface="Noto Sans KR" pitchFamily="34" charset="-120"/>
                  </a:rPr>
                  <a:t> 앱 10종 중 최대치 [2]</a:t>
                </a:r>
                <a:endParaRPr lang="en-US" sz="1100" dirty="0">
                  <a:latin typeface="+mj-ea"/>
                  <a:ea typeface="+mj-ea"/>
                </a:endParaRPr>
              </a:p>
            </p:txBody>
          </p:sp>
        </mc:Choice>
        <mc:Fallback xmlns="">
          <p:sp>
            <p:nvSpPr>
              <p:cNvPr id="133" name="Text 47">
                <a:extLst>
                  <a:ext uri="{FF2B5EF4-FFF2-40B4-BE49-F238E27FC236}">
                    <a16:creationId xmlns:a16="http://schemas.microsoft.com/office/drawing/2014/main" id="{54C805A2-4D2E-44DF-A564-593A226CBBBA}"/>
                  </a:ext>
                </a:extLst>
              </p:cNvPr>
              <p:cNvSpPr>
                <a:spLocks noRot="1" noChangeAspect="1" noMove="1" noResize="1" noEditPoints="1" noAdjustHandles="1" noChangeArrowheads="1" noChangeShapeType="1" noTextEdit="1"/>
              </p:cNvSpPr>
              <p:nvPr/>
            </p:nvSpPr>
            <p:spPr>
              <a:xfrm>
                <a:off x="1631950" y="5858206"/>
                <a:ext cx="4212082" cy="215900"/>
              </a:xfrm>
              <a:prstGeom prst="rect">
                <a:avLst/>
              </a:prstGeom>
              <a:blipFill>
                <a:blip r:embed="rId12"/>
                <a:stretch>
                  <a:fillRect l="-2171" t="-14286" b="-31429"/>
                </a:stretch>
              </a:blipFill>
              <a:ln/>
            </p:spPr>
            <p:txBody>
              <a:bodyPr/>
              <a:lstStyle/>
              <a:p>
                <a:r>
                  <a:rPr lang="ko-KR" altLang="en-US">
                    <a:noFill/>
                  </a:rPr>
                  <a:t> </a:t>
                </a:r>
              </a:p>
            </p:txBody>
          </p:sp>
        </mc:Fallback>
      </mc:AlternateContent>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333333"/>
                    </a:solidFill>
                    <a:latin typeface="+mj-ea"/>
                    <a:ea typeface="+mj-ea"/>
                    <a:cs typeface="Noto Sans KR" pitchFamily="34" charset="-120"/>
                  </a:rPr>
                  <a:t>HBM 시장 규모 ($B) [4]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13"/>
                <a:stretch>
                  <a:fillRect l="-4494" t="-29412" b="-29412"/>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16</a:t>
            </a:r>
            <a:endParaRPr lang="en-US" sz="12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35</a:t>
            </a:r>
            <a:endParaRPr lang="en-US" sz="12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≈100</a:t>
            </a:r>
            <a:endParaRPr lang="en-US" sz="12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2024</a:t>
            </a:r>
            <a:endParaRPr lang="en-US" sz="12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2025</a:t>
            </a:r>
            <a:endParaRPr lang="en-US" sz="12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2028E</a:t>
            </a:r>
            <a:endParaRPr lang="en-US" sz="12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50" b="1" dirty="0">
                <a:solidFill>
                  <a:srgbClr val="1C3F6E"/>
                </a:solidFill>
                <a:latin typeface="+mj-ea"/>
                <a:ea typeface="+mj-ea"/>
                <a:cs typeface="Noto Sans KR" pitchFamily="34" charset="-120"/>
              </a:rPr>
              <a:t>CAGR ≈42% (’25→’28E)</a:t>
            </a:r>
            <a:endParaRPr lang="en-US" sz="105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marL="0" indent="0" algn="l">
                  <a:lnSpc>
                    <a:spcPts val="1440"/>
                  </a:lnSpc>
                  <a:buNone/>
                </a:pPr>
                <a:r>
                  <a:rPr lang="en-US" sz="1200" b="1" dirty="0">
                    <a:solidFill>
                      <a:srgbClr val="333333"/>
                    </a:solidFill>
                    <a:latin typeface="+mj-ea"/>
                    <a:ea typeface="+mj-ea"/>
                    <a:cs typeface="Noto Sans KR" pitchFamily="34" charset="-120"/>
                  </a:rPr>
                  <a:t>DRAM 계약가 지수 (4Q25=100) [5] </a:t>
                </a:r>
                <a14:m>
                  <m:oMath xmlns:m="http://schemas.openxmlformats.org/officeDocument/2006/math">
                    <m:sSup>
                      <m:sSupPr>
                        <m:ctrlPr>
                          <a:rPr lang="en-US" altLang="ko-KR" sz="1200" i="1" smtClean="0">
                            <a:solidFill>
                              <a:srgbClr val="222222"/>
                            </a:solidFill>
                            <a:latin typeface="Cambria Math" panose="02040503050406030204" pitchFamily="18" charset="0"/>
                            <a:ea typeface="+mj-ea"/>
                          </a:rPr>
                        </m:ctrlPr>
                      </m:sSupPr>
                      <m:e/>
                      <m:sup/>
                    </m:sSup>
                  </m:oMath>
                </a14:m>
                <a:endParaRPr lang="en-US" sz="120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14"/>
                <a:stretch>
                  <a:fillRect l="-3240" t="-29412" b="-2941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100</a:t>
            </a:r>
            <a:endParaRPr lang="en-US" sz="12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193</a:t>
            </a:r>
            <a:endParaRPr lang="en-US" sz="12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309</a:t>
            </a:r>
            <a:endParaRPr lang="en-US" sz="12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357</a:t>
            </a:r>
            <a:endParaRPr lang="en-US" sz="12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200" b="1" dirty="0">
                <a:solidFill>
                  <a:srgbClr val="222222"/>
                </a:solidFill>
                <a:latin typeface="+mj-ea"/>
                <a:ea typeface="+mj-ea"/>
                <a:cs typeface="Noto Sans KR" pitchFamily="34" charset="-120"/>
              </a:rPr>
              <a:t>≈401</a:t>
            </a:r>
            <a:endParaRPr lang="en-US" sz="12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4Q25</a:t>
            </a:r>
            <a:endParaRPr lang="en-US" sz="12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1Q26</a:t>
            </a:r>
            <a:endParaRPr lang="en-US" sz="12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2Q26</a:t>
            </a:r>
            <a:endParaRPr lang="en-US" sz="12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3Q26</a:t>
            </a:r>
            <a:endParaRPr lang="en-US" sz="12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200" dirty="0">
                <a:solidFill>
                  <a:srgbClr val="555555"/>
                </a:solidFill>
                <a:latin typeface="+mj-ea"/>
                <a:ea typeface="+mj-ea"/>
                <a:cs typeface="Noto Sans KR" pitchFamily="34" charset="-120"/>
              </a:rPr>
              <a:t>4Q26E</a:t>
            </a:r>
            <a:endParaRPr lang="en-US" sz="12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marL="0" indent="0" algn="l">
              <a:lnSpc>
                <a:spcPts val="1440"/>
              </a:lnSpc>
              <a:buNone/>
            </a:pPr>
            <a:r>
              <a:rPr lang="en-US" sz="1050" b="1" dirty="0">
                <a:solidFill>
                  <a:srgbClr val="7A3608"/>
                </a:solidFill>
                <a:latin typeface="+mj-ea"/>
                <a:ea typeface="+mj-ea"/>
                <a:cs typeface="Noto Sans KR" pitchFamily="34" charset="-120"/>
              </a:rPr>
              <a:t>증가율은 둔화, 가격은 계속 상승</a:t>
            </a:r>
            <a:endParaRPr lang="en-US" sz="1050" dirty="0">
              <a:latin typeface="+mj-ea"/>
              <a:ea typeface="+mj-ea"/>
            </a:endParaRPr>
          </a:p>
        </p:txBody>
      </p:sp>
      <p:sp>
        <p:nvSpPr>
          <p:cNvPr id="164" name="Text 67">
            <a:extLst>
              <a:ext uri="{FF2B5EF4-FFF2-40B4-BE49-F238E27FC236}">
                <a16:creationId xmlns:a16="http://schemas.microsoft.com/office/drawing/2014/main" id="{D5277AF2-84BE-410E-A08A-56F06ACF8183}"/>
              </a:ext>
            </a:extLst>
          </p:cNvPr>
          <p:cNvSpPr/>
          <p:nvPr/>
        </p:nvSpPr>
        <p:spPr>
          <a:xfrm>
            <a:off x="355600" y="6525323"/>
            <a:ext cx="11825224" cy="406400"/>
          </a:xfrm>
          <a:prstGeom prst="rect">
            <a:avLst/>
          </a:prstGeom>
          <a:noFill/>
          <a:ln/>
        </p:spPr>
        <p:txBody>
          <a:bodyPr wrap="square" lIns="0" tIns="0" rIns="0" bIns="0" rtlCol="0" anchor="t">
            <a:normAutofit/>
          </a:bodyPr>
          <a:lstStyle/>
          <a:p>
            <a:pPr marL="0" indent="0" algn="l">
              <a:lnSpc>
                <a:spcPts val="1500"/>
              </a:lnSpc>
              <a:buNone/>
            </a:pPr>
            <a:r>
              <a:rPr lang="en-US" sz="800" dirty="0">
                <a:solidFill>
                  <a:srgbClr val="555555"/>
                </a:solidFill>
                <a:latin typeface="Noto Sans KR" pitchFamily="34" charset="0"/>
                <a:ea typeface="Noto Sans KR" pitchFamily="34" charset="-122"/>
                <a:cs typeface="Noto Sans KR" pitchFamily="34" charset="-120"/>
              </a:rPr>
              <a:t>※ KV cache 0.33MB/token(Llama-3.1-70B, BF16, 세션 1개). 에이전트 ≈75K tokens는 [1], 채팅(÷4)·멀티에이전트(×15/4)는 [3]의 배수를 적용한 가정. 동시 수용 세션 = (8×H100 640GB − 가중치 140GB) ÷ KV, 이론 상한. *3Q26은 서버 DRAM, 그 외는 범용 DRAM.</a:t>
            </a:r>
            <a:endParaRPr lang="en-US" sz="800" dirty="0"/>
          </a:p>
        </p:txBody>
      </p:sp>
      <p:sp>
        <p:nvSpPr>
          <p:cNvPr id="165" name="Text 68">
            <a:extLst>
              <a:ext uri="{FF2B5EF4-FFF2-40B4-BE49-F238E27FC236}">
                <a16:creationId xmlns:a16="http://schemas.microsoft.com/office/drawing/2014/main" id="{28F3F10B-D934-4E80-BDA1-294BA2B3A658}"/>
              </a:ext>
            </a:extLst>
          </p:cNvPr>
          <p:cNvSpPr/>
          <p:nvPr/>
        </p:nvSpPr>
        <p:spPr>
          <a:xfrm>
            <a:off x="355600" y="6644316"/>
            <a:ext cx="11825224" cy="406400"/>
          </a:xfrm>
          <a:prstGeom prst="rect">
            <a:avLst/>
          </a:prstGeom>
          <a:noFill/>
          <a:ln/>
        </p:spPr>
        <p:txBody>
          <a:bodyPr wrap="square" lIns="0" tIns="0" rIns="0" bIns="0" rtlCol="0" anchor="t">
            <a:normAutofit/>
          </a:bodyPr>
          <a:lstStyle/>
          <a:p>
            <a:pPr marL="0" indent="0" algn="l">
              <a:lnSpc>
                <a:spcPts val="1500"/>
              </a:lnSpc>
              <a:buNone/>
            </a:pPr>
            <a:r>
              <a:rPr lang="en-US" sz="800" dirty="0">
                <a:solidFill>
                  <a:srgbClr val="555555"/>
                </a:solidFill>
                <a:latin typeface="Noto Sans KR" pitchFamily="34" charset="0"/>
                <a:ea typeface="Noto Sans KR" pitchFamily="34" charset="-122"/>
                <a:cs typeface="Noto Sans KR" pitchFamily="34" charset="-120"/>
              </a:rPr>
              <a:t>출처: [1] arXiv:2605.26297 · [2] arXiv:2608.15127 · [3] Anthropic Engineering, How we built our multi-agent research system · [4] Micron HBM TAM 전망(Meticulous Research 인용) · [5] TrendForce Press Center (2026.2·3·7·9월)</a:t>
            </a:r>
            <a:endParaRPr lang="en-US" sz="800" dirty="0"/>
          </a:p>
        </p:txBody>
      </p:sp>
      <p:sp>
        <p:nvSpPr>
          <p:cNvPr id="166" name="Text 16">
            <a:extLst>
              <a:ext uri="{FF2B5EF4-FFF2-40B4-BE49-F238E27FC236}">
                <a16:creationId xmlns:a16="http://schemas.microsoft.com/office/drawing/2014/main" id="{51669EDC-96D9-4400-8430-6B31A0E0EA00}"/>
              </a:ext>
            </a:extLst>
          </p:cNvPr>
          <p:cNvSpPr/>
          <p:nvPr/>
        </p:nvSpPr>
        <p:spPr>
          <a:xfrm>
            <a:off x="4684283" y="1924968"/>
            <a:ext cx="1411717" cy="232875"/>
          </a:xfrm>
          <a:prstGeom prst="rect">
            <a:avLst/>
          </a:prstGeom>
          <a:noFill/>
          <a:ln/>
        </p:spPr>
        <p:txBody>
          <a:bodyPr wrap="square" lIns="0" tIns="0" rIns="0" bIns="0" rtlCol="0" anchor="t">
            <a:normAutofit/>
          </a:bodyPr>
          <a:lstStyle/>
          <a:p>
            <a:pPr marL="0" indent="0" algn="l">
              <a:lnSpc>
                <a:spcPts val="1560"/>
              </a:lnSpc>
              <a:buNone/>
            </a:pPr>
            <a:r>
              <a:rPr lang="en-US" sz="1050" b="1" dirty="0">
                <a:solidFill>
                  <a:srgbClr val="B3261E"/>
                </a:solidFill>
                <a:latin typeface="+mj-ea"/>
                <a:ea typeface="+mj-ea"/>
                <a:cs typeface="Noto Sans KR" pitchFamily="34" charset="-120"/>
              </a:rPr>
              <a:t>H100 HBM 80GB</a:t>
            </a:r>
            <a:endParaRPr lang="en-US" sz="1050" dirty="0">
              <a:latin typeface="+mj-ea"/>
              <a:ea typeface="+mj-ea"/>
            </a:endParaRPr>
          </a:p>
        </p:txBody>
      </p:sp>
    </p:spTree>
    <p:extLst>
      <p:ext uri="{BB962C8B-B14F-4D97-AF65-F5344CB8AC3E}">
        <p14:creationId xmlns:p14="http://schemas.microsoft.com/office/powerpoint/2010/main" val="30771949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결정 로직을 어디에 둘 것인가</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42415"/>
          <a:ext cx="11740896" cy="516636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5504688">
                  <a:extLst>
                    <a:ext uri="{9D8B030D-6E8A-4147-A177-3AD203B41FA5}">
                      <a16:colId xmlns:a16="http://schemas.microsoft.com/office/drawing/2014/main" val="20001"/>
                    </a:ext>
                  </a:extLst>
                </a:gridCol>
                <a:gridCol w="5504688">
                  <a:extLst>
                    <a:ext uri="{9D8B030D-6E8A-4147-A177-3AD203B41FA5}">
                      <a16:colId xmlns:a16="http://schemas.microsoft.com/office/drawing/2014/main" val="20002"/>
                    </a:ext>
                  </a:extLst>
                </a:gridCol>
              </a:tblGrid>
              <a:tr h="502920">
                <a:tc>
                  <a:txBody>
                    <a:bodyPr/>
                    <a:lstStyle/>
                    <a:p>
                      <a:pPr algn="ctr">
                        <a:spcAft>
                          <a:spcPts val="100"/>
                        </a:spcAft>
                      </a:pPr>
                      <a:r>
                        <a:rPr sz="110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100" b="1">
                          <a:solidFill>
                            <a:srgbClr val="7F7F7F"/>
                          </a:solidFill>
                          <a:latin typeface="맑은 고딕"/>
                          <a:ea typeface="맑은 고딕"/>
                          <a:cs typeface="맑은 고딕"/>
                        </a:rPr>
                        <a:t>(1안) 결정 로직을 상태 소유 측에 함께 둠 (Resource Manager 내장)</a:t>
                      </a:r>
                    </a:p>
                    <a:p>
                      <a:pPr algn="ctr">
                        <a:spcAft>
                          <a:spcPts val="100"/>
                        </a:spcAft>
                      </a:pPr>
                      <a:r>
                        <a:rPr sz="950" b="1">
                          <a:solidFill>
                            <a:srgbClr val="7F7F7F"/>
                          </a:solidFill>
                          <a:latin typeface="맑은 고딕"/>
                          <a:ea typeface="맑은 고딕"/>
                          <a:cs typeface="맑은 고딕"/>
                        </a:rPr>
                        <a:t>Control은 트리거·budget만, 판단은 상태 옆에서 로컬 호출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100" b="1">
                          <a:solidFill>
                            <a:srgbClr val="7F7F7F"/>
                          </a:solidFill>
                          <a:latin typeface="맑은 고딕"/>
                          <a:ea typeface="맑은 고딕"/>
                          <a:cs typeface="맑은 고딕"/>
                        </a:rPr>
                        <a:t>(2안) 결정 로직을 Control에 분리 (상태와 판단 분리)</a:t>
                      </a:r>
                    </a:p>
                    <a:p>
                      <a:pPr algn="ctr">
                        <a:spcAft>
                          <a:spcPts val="100"/>
                        </a:spcAft>
                      </a:pPr>
                      <a:r>
                        <a:rPr sz="950" b="1">
                          <a:solidFill>
                            <a:srgbClr val="7F7F7F"/>
                          </a:solidFill>
                          <a:latin typeface="맑은 고딕"/>
                          <a:ea typeface="맑은 고딕"/>
                          <a:cs typeface="맑은 고딕"/>
                        </a:rPr>
                        <a:t>Resource Manager는 상태·관측만, Control이 snapshot을 조회해 판단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0"/>
                  </a:ext>
                </a:extLst>
              </a:tr>
              <a:tr h="2834640">
                <a:tc>
                  <a:txBody>
                    <a:bodyPr/>
                    <a:lstStyle/>
                    <a:p>
                      <a:pPr algn="ctr">
                        <a:spcAft>
                          <a:spcPts val="100"/>
                        </a:spcAft>
                      </a:pPr>
                      <a:r>
                        <a:rPr sz="100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749808">
                <a:tc>
                  <a:txBody>
                    <a:bodyPr/>
                    <a:lstStyle/>
                    <a:p>
                      <a:pPr algn="ctr">
                        <a:spcAft>
                          <a:spcPts val="100"/>
                        </a:spcAft>
                      </a:pPr>
                      <a:r>
                        <a:rPr sz="1000" b="0">
                          <a:solidFill>
                            <a:srgbClr val="7F7F7F"/>
                          </a:solidFill>
                          <a:latin typeface="맑은 고딕"/>
                          <a:ea typeface="맑은 고딕"/>
                          <a:cs typeface="맑은 고딕"/>
                        </a:rPr>
                        <a:t>장점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 상태가 항상 최신 → HBM 압박 대응 지연 최소, 오래된 정보로 인한 이동 거절 없음 (Q1·Q2)</a:t>
                      </a:r>
                    </a:p>
                    <a:p>
                      <a:pPr>
                        <a:spcAft>
                          <a:spcPts val="100"/>
                        </a:spcAft>
                      </a:pPr>
                      <a:r>
                        <a:rPr sz="1000" b="0">
                          <a:solidFill>
                            <a:srgbClr val="000000"/>
                          </a:solidFill>
                          <a:latin typeface="맑은 고딕"/>
                          <a:ea typeface="맑은 고딕"/>
                          <a:cs typeface="맑은 고딕"/>
                        </a:rPr>
                        <a:t>• Control↔Manager 간 query 인터페이스 불필요, 구성 단순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 판단이 snapshot 위에서 돌아 상태 갱신·수집과 경합 없음 → event backlog·TPOT 간섭 격리, 판단 스레드를 서빙 코어와 분리 배치 가능 (Q1)</a:t>
                      </a:r>
                    </a:p>
                    <a:p>
                      <a:pPr>
                        <a:spcAft>
                          <a:spcPts val="100"/>
                        </a:spcAft>
                      </a:pPr>
                      <a:r>
                        <a:rPr sz="1000" b="0">
                          <a:solidFill>
                            <a:srgbClr val="000000"/>
                          </a:solidFill>
                          <a:latin typeface="맑은 고딕"/>
                          <a:ea typeface="맑은 고딕"/>
                          <a:cs typeface="맑은 고딕"/>
                        </a:rPr>
                        <a:t>• 정책 교체·추가가 Control에 국소화, 상태 서비스는 불변 (Q3)</a:t>
                      </a:r>
                    </a:p>
                    <a:p>
                      <a:pPr>
                        <a:spcAft>
                          <a:spcPts val="100"/>
                        </a:spcAft>
                      </a:pPr>
                      <a:r>
                        <a:rPr sz="1000" b="0">
                          <a:solidFill>
                            <a:srgbClr val="000000"/>
                          </a:solidFill>
                          <a:latin typeface="맑은 고딕"/>
                          <a:ea typeface="맑은 고딕"/>
                          <a:cs typeface="맑은 고딕"/>
                        </a:rPr>
                        <a:t>• 판단과 상태를 따로 확장·교체 가능 (Q4)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spcAft>
                          <a:spcPts val="100"/>
                        </a:spcAft>
                      </a:pPr>
                      <a:r>
                        <a:rPr sz="1000" b="0">
                          <a:solidFill>
                            <a:srgbClr val="7F7F7F"/>
                          </a:solidFill>
                          <a:latin typeface="맑은 고딕"/>
                          <a:ea typeface="맑은 고딕"/>
                          <a:cs typeface="맑은 고딕"/>
                        </a:rPr>
                        <a:t>단점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FF0000"/>
                          </a:solidFill>
                          <a:latin typeface="맑은 고딕"/>
                          <a:ea typeface="맑은 고딕"/>
                          <a:cs typeface="맑은 고딕"/>
                        </a:rPr>
                        <a:t>• 정책 변경이 상태 서비스 수정으로 이어져 변경 영향 큼 (Q3)</a:t>
                      </a:r>
                    </a:p>
                    <a:p>
                      <a:pPr>
                        <a:spcAft>
                          <a:spcPts val="100"/>
                        </a:spcAft>
                      </a:pPr>
                      <a:r>
                        <a:rPr sz="1000" b="0">
                          <a:solidFill>
                            <a:srgbClr val="FF0000"/>
                          </a:solidFill>
                          <a:latin typeface="맑은 고딕"/>
                          <a:ea typeface="맑은 고딕"/>
                          <a:cs typeface="맑은 고딕"/>
                        </a:rPr>
                        <a:t>• 상태 저장과 판단이 한 서비스에 결합 → 판단 중 상태 갱신이 막혀 event 지연 (Q1), tier·object 증가 시 단일 병목 (Q4)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FF0000"/>
                          </a:solidFill>
                          <a:latin typeface="맑은 고딕"/>
                          <a:ea typeface="맑은 고딕"/>
                          <a:cs typeface="맑은 고딕"/>
                        </a:rPr>
                        <a:t>• snapshot age만큼 stale → HBM 확보 지연, stale 판단의 이동 거절·재시도 (Q1·Q2)</a:t>
                      </a:r>
                    </a:p>
                    <a:p>
                      <a:pPr>
                        <a:spcAft>
                          <a:spcPts val="100"/>
                        </a:spcAft>
                      </a:pPr>
                      <a:r>
                        <a:rPr sz="1000" b="0">
                          <a:solidFill>
                            <a:srgbClr val="FF0000"/>
                          </a:solidFill>
                          <a:latin typeface="맑은 고딕"/>
                          <a:ea typeface="맑은 고딕"/>
                          <a:cs typeface="맑은 고딕"/>
                        </a:rPr>
                        <a:t>• snapshot 생성 비용(object 수 비례), query 스키마 유지 비용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530352">
                <a:tc>
                  <a:txBody>
                    <a:bodyPr/>
                    <a:lstStyle/>
                    <a:p>
                      <a:pPr algn="ctr">
                        <a:spcAft>
                          <a:spcPts val="100"/>
                        </a:spcAft>
                      </a:pPr>
                      <a:r>
                        <a:rPr sz="1000" b="0">
                          <a:solidFill>
                            <a:srgbClr val="7F7F7F"/>
                          </a:solidFill>
                          <a:latin typeface="맑은 고딕"/>
                          <a:ea typeface="맑은 고딕"/>
                          <a:cs typeface="맑은 고딕"/>
                        </a:rPr>
                        <a:t>Tradeoff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Q1 압박 대응 지연: 최소 · 판단 중 갱신 경합  ·  Q2 stale: 거의 없음</a:t>
                      </a:r>
                    </a:p>
                    <a:p>
                      <a:pPr>
                        <a:spcAft>
                          <a:spcPts val="100"/>
                        </a:spcAft>
                      </a:pPr>
                      <a:r>
                        <a:rPr sz="900" b="0">
                          <a:solidFill>
                            <a:srgbClr val="000000"/>
                          </a:solidFill>
                          <a:latin typeface="맑은 고딕"/>
                          <a:ea typeface="맑은 고딕"/>
                          <a:cs typeface="맑은 고딕"/>
                        </a:rPr>
                        <a:t>Q3 정책 변경 시 수정 모듈: 많음  ·  Q4 단일 서비스 병목 가능</a:t>
                      </a:r>
                    </a:p>
                    <a:p>
                      <a:pPr>
                        <a:spcAft>
                          <a:spcPts val="100"/>
                        </a:spcAft>
                      </a:pPr>
                      <a:r>
                        <a:rPr sz="850" b="0">
                          <a:solidFill>
                            <a:srgbClr val="7F7F7F"/>
                          </a:solidFill>
                          <a:latin typeface="맑은 고딕"/>
                          <a:ea typeface="맑은 고딕"/>
                          <a:cs typeface="맑은 고딕"/>
                        </a:rPr>
                        <a:t>※ 모두 평가 전 가설. 별점·총점은 임계값 통합 후 부여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Q1 갱신 경합 없음 · snapshot age만큼 대응 지연  ·  Q2 stale: snapshot age만큼</a:t>
                      </a:r>
                    </a:p>
                    <a:p>
                      <a:pPr>
                        <a:spcAft>
                          <a:spcPts val="100"/>
                        </a:spcAft>
                      </a:pPr>
                      <a:r>
                        <a:rPr sz="900" b="0">
                          <a:solidFill>
                            <a:srgbClr val="000000"/>
                          </a:solidFill>
                          <a:latin typeface="맑은 고딕"/>
                          <a:ea typeface="맑은 고딕"/>
                          <a:cs typeface="맑은 고딕"/>
                        </a:rPr>
                        <a:t>Q3 정책 변경 시 수정 모듈: Control에 국소화  ·  Q4 분리 확장 가능</a:t>
                      </a:r>
                    </a:p>
                    <a:p>
                      <a:pPr>
                        <a:spcAft>
                          <a:spcPts val="100"/>
                        </a:spcAft>
                      </a:pPr>
                      <a:r>
                        <a:rPr sz="850" b="0">
                          <a:solidFill>
                            <a:srgbClr val="7F7F7F"/>
                          </a:solidFill>
                          <a:latin typeface="맑은 고딕"/>
                          <a:ea typeface="맑은 고딕"/>
                          <a:cs typeface="맑은 고딕"/>
                        </a:rPr>
                        <a:t>※ 모두 평가 전 가설. 별점·총점은 임계값 통합 후 부여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1" name="Rectangle 20"/>
          <p:cNvSpPr/>
          <p:nvPr/>
        </p:nvSpPr>
        <p:spPr>
          <a:xfrm>
            <a:off x="1069848" y="1563624"/>
            <a:ext cx="5303520" cy="64008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69848"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Control Plane  (Trigger · Budget)</a:t>
            </a:r>
          </a:p>
        </p:txBody>
      </p:sp>
      <p:sp>
        <p:nvSpPr>
          <p:cNvPr id="23" name="Rectangle 22"/>
          <p:cNvSpPr/>
          <p:nvPr/>
        </p:nvSpPr>
        <p:spPr>
          <a:xfrm>
            <a:off x="2578608" y="1828800"/>
            <a:ext cx="1097280" cy="34747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Scheduler</a:t>
            </a:r>
          </a:p>
        </p:txBody>
      </p:sp>
      <p:sp>
        <p:nvSpPr>
          <p:cNvPr id="24" name="TextBox 23"/>
          <p:cNvSpPr txBox="1"/>
          <p:nvPr/>
        </p:nvSpPr>
        <p:spPr>
          <a:xfrm>
            <a:off x="3995928" y="1837943"/>
            <a:ext cx="2331720" cy="347472"/>
          </a:xfrm>
          <a:prstGeom prst="rect">
            <a:avLst/>
          </a:prstGeom>
          <a:noFill/>
        </p:spPr>
        <p:txBody>
          <a:bodyPr wrap="square" lIns="45720" tIns="27432" rIns="45720" bIns="27432" anchor="t">
            <a:spAutoFit/>
          </a:bodyPr>
          <a:lstStyle/>
          <a:p>
            <a:pPr algn="l">
              <a:spcAft>
                <a:spcPts val="200"/>
              </a:spcAft>
            </a:pPr>
            <a:r>
              <a:rPr sz="800" b="0">
                <a:solidFill>
                  <a:srgbClr val="7F7F7F"/>
                </a:solidFill>
                <a:latin typeface="맑은 고딕"/>
                <a:ea typeface="맑은 고딕"/>
                <a:cs typeface="맑은 고딕"/>
              </a:rPr>
              <a:t>결정 로직 없음: 트리거 · 우선순위 · budget만</a:t>
            </a:r>
          </a:p>
        </p:txBody>
      </p:sp>
      <p:sp>
        <p:nvSpPr>
          <p:cNvPr id="25" name="Rectangle 24"/>
          <p:cNvSpPr/>
          <p:nvPr/>
        </p:nvSpPr>
        <p:spPr>
          <a:xfrm>
            <a:off x="1069848" y="2258568"/>
            <a:ext cx="5303520" cy="12070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69848" y="2258568"/>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Resource Manager  (상태 + 결정)</a:t>
            </a:r>
          </a:p>
        </p:txBody>
      </p:sp>
      <p:sp>
        <p:nvSpPr>
          <p:cNvPr id="27" name="Rectangle 26"/>
          <p:cNvSpPr/>
          <p:nvPr/>
        </p:nvSpPr>
        <p:spPr>
          <a:xfrm>
            <a:off x="257860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Trend
Analyzer</a:t>
            </a:r>
          </a:p>
        </p:txBody>
      </p:sp>
      <p:sp>
        <p:nvSpPr>
          <p:cNvPr id="28" name="Rectangle 27"/>
          <p:cNvSpPr/>
          <p:nvPr/>
        </p:nvSpPr>
        <p:spPr>
          <a:xfrm>
            <a:off x="385876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Affinity
Mapper</a:t>
            </a:r>
          </a:p>
        </p:txBody>
      </p:sp>
      <p:sp>
        <p:nvSpPr>
          <p:cNvPr id="29" name="Rectangle 28"/>
          <p:cNvSpPr/>
          <p:nvPr/>
        </p:nvSpPr>
        <p:spPr>
          <a:xfrm>
            <a:off x="513892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Policy
Engine</a:t>
            </a:r>
          </a:p>
        </p:txBody>
      </p:sp>
      <p:sp>
        <p:nvSpPr>
          <p:cNvPr id="30" name="Rectangle 29"/>
          <p:cNvSpPr/>
          <p:nvPr/>
        </p:nvSpPr>
        <p:spPr>
          <a:xfrm>
            <a:off x="129844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Telemetry
Collector</a:t>
            </a:r>
          </a:p>
        </p:txBody>
      </p:sp>
      <p:sp>
        <p:nvSpPr>
          <p:cNvPr id="31" name="Rectangle 30"/>
          <p:cNvSpPr/>
          <p:nvPr/>
        </p:nvSpPr>
        <p:spPr>
          <a:xfrm>
            <a:off x="257860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State
Monitor</a:t>
            </a:r>
          </a:p>
        </p:txBody>
      </p:sp>
      <p:sp>
        <p:nvSpPr>
          <p:cNvPr id="32" name="Rectangle 31"/>
          <p:cNvSpPr/>
          <p:nvPr/>
        </p:nvSpPr>
        <p:spPr>
          <a:xfrm>
            <a:off x="385876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Memory·Data
Object Registry</a:t>
            </a:r>
          </a:p>
        </p:txBody>
      </p:sp>
      <p:cxnSp>
        <p:nvCxnSpPr>
          <p:cNvPr id="33" name="Connector 32"/>
          <p:cNvCxnSpPr/>
          <p:nvPr/>
        </p:nvCxnSpPr>
        <p:spPr>
          <a:xfrm>
            <a:off x="2395728" y="3255263"/>
            <a:ext cx="182880"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75887" y="2724912"/>
            <a:ext cx="182881"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56048" y="2724912"/>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127248" y="2203704"/>
            <a:ext cx="0" cy="32918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127248" y="2916936"/>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407408" y="2916936"/>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21608" y="1911095"/>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1</a:t>
            </a:r>
          </a:p>
        </p:txBody>
      </p:sp>
      <p:sp>
        <p:nvSpPr>
          <p:cNvPr id="40" name="Oval 39"/>
          <p:cNvSpPr/>
          <p:nvPr/>
        </p:nvSpPr>
        <p:spPr>
          <a:xfrm>
            <a:off x="3182112" y="2907791"/>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2</a:t>
            </a:r>
          </a:p>
        </p:txBody>
      </p:sp>
      <p:sp>
        <p:nvSpPr>
          <p:cNvPr id="41" name="Oval 40"/>
          <p:cNvSpPr/>
          <p:nvPr/>
        </p:nvSpPr>
        <p:spPr>
          <a:xfrm>
            <a:off x="3675887" y="251460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3</a:t>
            </a:r>
          </a:p>
        </p:txBody>
      </p:sp>
      <p:sp>
        <p:nvSpPr>
          <p:cNvPr id="42" name="Oval 41"/>
          <p:cNvSpPr/>
          <p:nvPr/>
        </p:nvSpPr>
        <p:spPr>
          <a:xfrm>
            <a:off x="5742432" y="311810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4</a:t>
            </a:r>
          </a:p>
        </p:txBody>
      </p:sp>
      <p:sp>
        <p:nvSpPr>
          <p:cNvPr id="43" name="Oval 42"/>
          <p:cNvSpPr/>
          <p:nvPr/>
        </p:nvSpPr>
        <p:spPr>
          <a:xfrm>
            <a:off x="4462272" y="33924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5</a:t>
            </a:r>
          </a:p>
        </p:txBody>
      </p:sp>
      <p:sp>
        <p:nvSpPr>
          <p:cNvPr id="44" name="Rectangle 43"/>
          <p:cNvSpPr/>
          <p:nvPr/>
        </p:nvSpPr>
        <p:spPr>
          <a:xfrm>
            <a:off x="1069848" y="3529584"/>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069848" y="352958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Data Plane  (Mechanism · 실행)</a:t>
            </a:r>
          </a:p>
        </p:txBody>
      </p:sp>
      <p:sp>
        <p:nvSpPr>
          <p:cNvPr id="46" name="Rectangle 45"/>
          <p:cNvSpPr/>
          <p:nvPr/>
        </p:nvSpPr>
        <p:spPr>
          <a:xfrm>
            <a:off x="2578608" y="3785616"/>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Transfer Handler</a:t>
            </a:r>
          </a:p>
        </p:txBody>
      </p:sp>
      <p:sp>
        <p:nvSpPr>
          <p:cNvPr id="47" name="Rectangle 46"/>
          <p:cNvSpPr/>
          <p:nvPr/>
        </p:nvSpPr>
        <p:spPr>
          <a:xfrm>
            <a:off x="4224528" y="3785616"/>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Executor</a:t>
            </a:r>
          </a:p>
        </p:txBody>
      </p:sp>
      <p:cxnSp>
        <p:nvCxnSpPr>
          <p:cNvPr id="48" name="Connector 47"/>
          <p:cNvCxnSpPr/>
          <p:nvPr/>
        </p:nvCxnSpPr>
        <p:spPr>
          <a:xfrm flipH="1">
            <a:off x="4041648" y="398678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4041648" y="3776472"/>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6</a:t>
            </a:r>
          </a:p>
        </p:txBody>
      </p:sp>
      <p:sp>
        <p:nvSpPr>
          <p:cNvPr id="50" name="Rectangle 49"/>
          <p:cNvSpPr/>
          <p:nvPr/>
        </p:nvSpPr>
        <p:spPr>
          <a:xfrm>
            <a:off x="1069848" y="4123944"/>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750" b="1">
                <a:solidFill>
                  <a:srgbClr val="FFFFFF"/>
                </a:solidFill>
                <a:latin typeface="맑은 고딕"/>
                <a:ea typeface="맑은 고딕"/>
                <a:cs typeface="맑은 고딕"/>
              </a:rPr>
              <a:t>Common Memory Backend Interface  (공통 하부 계층, Device SW I/F)</a:t>
            </a:r>
          </a:p>
        </p:txBody>
      </p:sp>
      <p:cxnSp>
        <p:nvCxnSpPr>
          <p:cNvPr id="51" name="Connector 50"/>
          <p:cNvCxnSpPr/>
          <p:nvPr/>
        </p:nvCxnSpPr>
        <p:spPr>
          <a:xfrm>
            <a:off x="3310128" y="4041648"/>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687568" y="2916936"/>
            <a:ext cx="0" cy="86868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07408" y="3410712"/>
            <a:ext cx="0" cy="37490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574536" y="1563624"/>
            <a:ext cx="5303520" cy="804672"/>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6574536"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Control Plane  (Policy · 결정)</a:t>
            </a:r>
          </a:p>
        </p:txBody>
      </p:sp>
      <p:sp>
        <p:nvSpPr>
          <p:cNvPr id="56" name="Rectangle 55"/>
          <p:cNvSpPr/>
          <p:nvPr/>
        </p:nvSpPr>
        <p:spPr>
          <a:xfrm>
            <a:off x="6803136" y="1874519"/>
            <a:ext cx="1097280" cy="38404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Scheduler</a:t>
            </a:r>
          </a:p>
        </p:txBody>
      </p:sp>
      <p:sp>
        <p:nvSpPr>
          <p:cNvPr id="57" name="Rectangle 56"/>
          <p:cNvSpPr/>
          <p:nvPr/>
        </p:nvSpPr>
        <p:spPr>
          <a:xfrm>
            <a:off x="808329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Trend
Analyzer</a:t>
            </a:r>
          </a:p>
        </p:txBody>
      </p:sp>
      <p:sp>
        <p:nvSpPr>
          <p:cNvPr id="58" name="Rectangle 57"/>
          <p:cNvSpPr/>
          <p:nvPr/>
        </p:nvSpPr>
        <p:spPr>
          <a:xfrm>
            <a:off x="936345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Affinity
Mapper</a:t>
            </a:r>
          </a:p>
        </p:txBody>
      </p:sp>
      <p:sp>
        <p:nvSpPr>
          <p:cNvPr id="59" name="Rectangle 58"/>
          <p:cNvSpPr/>
          <p:nvPr/>
        </p:nvSpPr>
        <p:spPr>
          <a:xfrm>
            <a:off x="1064361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Policy
Engine</a:t>
            </a:r>
          </a:p>
        </p:txBody>
      </p:sp>
      <p:cxnSp>
        <p:nvCxnSpPr>
          <p:cNvPr id="60" name="Connector 59"/>
          <p:cNvCxnSpPr/>
          <p:nvPr/>
        </p:nvCxnSpPr>
        <p:spPr>
          <a:xfrm>
            <a:off x="7900415" y="2066543"/>
            <a:ext cx="182881" cy="0"/>
          </a:xfrm>
          <a:prstGeom prst="line">
            <a:avLst/>
          </a:prstGeom>
          <a:ln w="12700">
            <a:solidFill>
              <a:srgbClr val="59595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9180576" y="206654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460736" y="206654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900416" y="1837943"/>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1</a:t>
            </a:r>
          </a:p>
        </p:txBody>
      </p:sp>
      <p:sp>
        <p:nvSpPr>
          <p:cNvPr id="64" name="Oval 63"/>
          <p:cNvSpPr/>
          <p:nvPr/>
        </p:nvSpPr>
        <p:spPr>
          <a:xfrm>
            <a:off x="9180576" y="1837943"/>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3</a:t>
            </a:r>
          </a:p>
        </p:txBody>
      </p:sp>
      <p:sp>
        <p:nvSpPr>
          <p:cNvPr id="65" name="Rectangle 64"/>
          <p:cNvSpPr/>
          <p:nvPr/>
        </p:nvSpPr>
        <p:spPr>
          <a:xfrm>
            <a:off x="6574536" y="2642615"/>
            <a:ext cx="5303520" cy="7498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6574536" y="2642615"/>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Resource Manager  (상태·관측)</a:t>
            </a:r>
          </a:p>
        </p:txBody>
      </p:sp>
      <p:sp>
        <p:nvSpPr>
          <p:cNvPr id="67" name="Rectangle 66"/>
          <p:cNvSpPr/>
          <p:nvPr/>
        </p:nvSpPr>
        <p:spPr>
          <a:xfrm>
            <a:off x="680313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Telemetry
Collector</a:t>
            </a:r>
          </a:p>
        </p:txBody>
      </p:sp>
      <p:sp>
        <p:nvSpPr>
          <p:cNvPr id="68" name="Rectangle 67"/>
          <p:cNvSpPr/>
          <p:nvPr/>
        </p:nvSpPr>
        <p:spPr>
          <a:xfrm>
            <a:off x="808329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State
Monitor</a:t>
            </a:r>
          </a:p>
        </p:txBody>
      </p:sp>
      <p:sp>
        <p:nvSpPr>
          <p:cNvPr id="69" name="Rectangle 68"/>
          <p:cNvSpPr/>
          <p:nvPr/>
        </p:nvSpPr>
        <p:spPr>
          <a:xfrm>
            <a:off x="936345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Memory·Data
Object Registry</a:t>
            </a:r>
          </a:p>
        </p:txBody>
      </p:sp>
      <p:cxnSp>
        <p:nvCxnSpPr>
          <p:cNvPr id="70" name="Connector 69"/>
          <p:cNvCxnSpPr/>
          <p:nvPr/>
        </p:nvCxnSpPr>
        <p:spPr>
          <a:xfrm>
            <a:off x="7900415" y="3090672"/>
            <a:ext cx="182881"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631936" y="2258568"/>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9912096" y="2258568"/>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723376" y="2386584"/>
            <a:ext cx="1097280" cy="201168"/>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snapshot query</a:t>
            </a:r>
          </a:p>
        </p:txBody>
      </p:sp>
      <p:sp>
        <p:nvSpPr>
          <p:cNvPr id="74" name="Oval 73"/>
          <p:cNvSpPr/>
          <p:nvPr/>
        </p:nvSpPr>
        <p:spPr>
          <a:xfrm>
            <a:off x="868680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2</a:t>
            </a:r>
          </a:p>
        </p:txBody>
      </p:sp>
      <p:sp>
        <p:nvSpPr>
          <p:cNvPr id="75" name="Oval 74"/>
          <p:cNvSpPr/>
          <p:nvPr/>
        </p:nvSpPr>
        <p:spPr>
          <a:xfrm>
            <a:off x="1124712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4</a:t>
            </a:r>
          </a:p>
        </p:txBody>
      </p:sp>
      <p:sp>
        <p:nvSpPr>
          <p:cNvPr id="76" name="Oval 75"/>
          <p:cNvSpPr/>
          <p:nvPr/>
        </p:nvSpPr>
        <p:spPr>
          <a:xfrm>
            <a:off x="9966959" y="33924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5</a:t>
            </a:r>
          </a:p>
        </p:txBody>
      </p:sp>
      <p:sp>
        <p:nvSpPr>
          <p:cNvPr id="77" name="Rectangle 76"/>
          <p:cNvSpPr/>
          <p:nvPr/>
        </p:nvSpPr>
        <p:spPr>
          <a:xfrm>
            <a:off x="6574536" y="3529584"/>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6574536" y="352958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Data Plane  (Mechanism · 실행)</a:t>
            </a:r>
          </a:p>
        </p:txBody>
      </p:sp>
      <p:sp>
        <p:nvSpPr>
          <p:cNvPr id="79" name="Rectangle 78"/>
          <p:cNvSpPr/>
          <p:nvPr/>
        </p:nvSpPr>
        <p:spPr>
          <a:xfrm>
            <a:off x="8083296" y="3785616"/>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Transfer Handler</a:t>
            </a:r>
          </a:p>
        </p:txBody>
      </p:sp>
      <p:sp>
        <p:nvSpPr>
          <p:cNvPr id="80" name="Rectangle 79"/>
          <p:cNvSpPr/>
          <p:nvPr/>
        </p:nvSpPr>
        <p:spPr>
          <a:xfrm>
            <a:off x="9729216" y="3785616"/>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Executor</a:t>
            </a:r>
          </a:p>
        </p:txBody>
      </p:sp>
      <p:cxnSp>
        <p:nvCxnSpPr>
          <p:cNvPr id="81" name="Connector 80"/>
          <p:cNvCxnSpPr/>
          <p:nvPr/>
        </p:nvCxnSpPr>
        <p:spPr>
          <a:xfrm flipH="1">
            <a:off x="9546336" y="398678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9546336" y="3776472"/>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6</a:t>
            </a:r>
          </a:p>
        </p:txBody>
      </p:sp>
      <p:sp>
        <p:nvSpPr>
          <p:cNvPr id="83" name="Rectangle 82"/>
          <p:cNvSpPr/>
          <p:nvPr/>
        </p:nvSpPr>
        <p:spPr>
          <a:xfrm>
            <a:off x="6574536" y="4123944"/>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750" b="1">
                <a:solidFill>
                  <a:srgbClr val="FFFFFF"/>
                </a:solidFill>
                <a:latin typeface="맑은 고딕"/>
                <a:ea typeface="맑은 고딕"/>
                <a:cs typeface="맑은 고딕"/>
              </a:rPr>
              <a:t>Common Memory Backend Interface  (공통 하부 계층, Device SW I/F)</a:t>
            </a:r>
          </a:p>
        </p:txBody>
      </p:sp>
      <p:cxnSp>
        <p:nvCxnSpPr>
          <p:cNvPr id="84" name="Connector 83"/>
          <p:cNvCxnSpPr/>
          <p:nvPr/>
        </p:nvCxnSpPr>
        <p:spPr>
          <a:xfrm>
            <a:off x="8814816" y="4041648"/>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1192255" y="2258568"/>
            <a:ext cx="0" cy="1527048"/>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912096" y="3246120"/>
            <a:ext cx="0" cy="53949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384048" y="6217920"/>
            <a:ext cx="11430000" cy="310896"/>
          </a:xfrm>
          <a:prstGeom prst="rect">
            <a:avLst/>
          </a:prstGeom>
          <a:noFill/>
        </p:spPr>
        <p:txBody>
          <a:bodyPr wrap="square" lIns="45720" tIns="27432" rIns="45720" bIns="27432" anchor="t">
            <a:spAutoFit/>
          </a:bodyPr>
          <a:lstStyle/>
          <a:p>
            <a:pPr algn="l">
              <a:spcAft>
                <a:spcPts val="0"/>
              </a:spcAft>
            </a:pPr>
            <a:r>
              <a:rPr sz="750" b="0">
                <a:solidFill>
                  <a:srgbClr val="595959"/>
                </a:solidFill>
                <a:latin typeface="맑은 고딕"/>
                <a:ea typeface="맑은 고딕"/>
                <a:cs typeface="맑은 고딕"/>
              </a:rPr>
              <a:t>① 평가 cycle 시작  ② 상태 조회(1안 로컬 호출 / 2안 snapshot query)  ③ 판단(Analyzer → Mapper → Policy)  ④ MigrationIntent 발행  ⑤ commit 결과 갱신  ⑥ 이동 실행</a:t>
            </a:r>
          </a:p>
          <a:p>
            <a:pPr algn="l">
              <a:spcAft>
                <a:spcPts val="0"/>
              </a:spcAft>
            </a:pPr>
            <a:r>
              <a:rPr sz="750" b="0">
                <a:solidFill>
                  <a:srgbClr val="595959"/>
                </a:solidFill>
                <a:latin typeface="맑은 고딕"/>
                <a:ea typeface="맑은 고딕"/>
                <a:cs typeface="맑은 고딕"/>
              </a:rPr>
              <a:t>노랑 = 결정 로직 모듈(소속이 두 안을 가름) · 점선 = 비동기/조회 · 신호(자원 상태/data 행동)는 정책 플러그인으로 공통 | C2 신규 Device SW · F1 tier 간 복사 · F2 이동 스케줄링 · Q1 Throughput · Q2 HBM 점유율 · Q3 변경용이성 · Q4 확장성</a:t>
            </a:r>
          </a:p>
        </p:txBody>
      </p:sp>
      <p:sp>
        <p:nvSpPr>
          <p:cNvPr id="88" name="TextBox 87"/>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1</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모듈 소속 비교와 비교 원칙</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97280"/>
          <a:ext cx="11750040" cy="3968496"/>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154680">
                  <a:extLst>
                    <a:ext uri="{9D8B030D-6E8A-4147-A177-3AD203B41FA5}">
                      <a16:colId xmlns:a16="http://schemas.microsoft.com/office/drawing/2014/main" val="20003"/>
                    </a:ext>
                  </a:extLst>
                </a:gridCol>
              </a:tblGrid>
              <a:tr h="310896">
                <a:tc>
                  <a:txBody>
                    <a:bodyPr/>
                    <a:lstStyle/>
                    <a:p>
                      <a:pPr algn="ctr">
                        <a:spcAft>
                          <a:spcPts val="100"/>
                        </a:spcAft>
                      </a:pPr>
                      <a:r>
                        <a:rPr sz="1100" b="0">
                          <a:solidFill>
                            <a:srgbClr val="7F7F7F"/>
                          </a:solidFill>
                          <a:latin typeface="맑은 고딕"/>
                          <a:ea typeface="맑은 고딕"/>
                          <a:cs typeface="맑은 고딕"/>
                        </a:rPr>
                        <a:t>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100" b="1">
                          <a:solidFill>
                            <a:srgbClr val="7F7F7F"/>
                          </a:solidFill>
                          <a:latin typeface="맑은 고딕"/>
                          <a:ea typeface="맑은 고딕"/>
                          <a:cs typeface="맑은 고딕"/>
                        </a:rPr>
                        <a:t>1안 (Resource Manager 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100" b="1">
                          <a:solidFill>
                            <a:srgbClr val="7F7F7F"/>
                          </a:solidFill>
                          <a:latin typeface="맑은 고딕"/>
                          <a:ea typeface="맑은 고딕"/>
                          <a:cs typeface="맑은 고딕"/>
                        </a:rPr>
                        <a:t>2안 (Control 분리)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100" b="1">
                          <a:solidFill>
                            <a:srgbClr val="7F7F7F"/>
                          </a:solidFill>
                          <a:latin typeface="맑은 고딕"/>
                          <a:ea typeface="맑은 고딕"/>
                          <a:cs typeface="맑은 고딕"/>
                        </a:rPr>
                        <a:t>비고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457200">
                <a:tc>
                  <a:txBody>
                    <a:bodyPr/>
                    <a:lstStyle/>
                    <a:p>
                      <a:pPr algn="ctr">
                        <a:spcAft>
                          <a:spcPts val="100"/>
                        </a:spcAft>
                      </a:pPr>
                      <a:r>
                        <a:rPr sz="1000" b="0">
                          <a:solidFill>
                            <a:srgbClr val="7F7F7F"/>
                          </a:solidFill>
                          <a:latin typeface="맑은 고딕"/>
                          <a:ea typeface="맑은 고딕"/>
                          <a:cs typeface="맑은 고딕"/>
                        </a:rPr>
                        <a:t>Migration Scheduler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Control (트리거·budget만)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Control (트리거 + 평가 cycle 구동)</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event 기반 비동기 진입점은 공통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spcAft>
                          <a:spcPts val="100"/>
                        </a:spcAft>
                      </a:pPr>
                      <a:r>
                        <a:rPr sz="1000" b="0">
                          <a:solidFill>
                            <a:srgbClr val="7F7F7F"/>
                          </a:solidFill>
                          <a:latin typeface="맑은 고딕"/>
                          <a:ea typeface="맑은 고딕"/>
                          <a:cs typeface="맑은 고딕"/>
                        </a:rPr>
                        <a:t>Trend Analyzer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소속이 바뀌는 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spcAft>
                          <a:spcPts val="100"/>
                        </a:spcAft>
                      </a:pPr>
                      <a:r>
                        <a:rPr sz="1000" b="0">
                          <a:solidFill>
                            <a:srgbClr val="7F7F7F"/>
                          </a:solidFill>
                          <a:latin typeface="맑은 고딕"/>
                          <a:ea typeface="맑은 고딕"/>
                          <a:cs typeface="맑은 고딕"/>
                        </a:rPr>
                        <a:t>Affinity Mapper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소속이 바뀌는 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457200">
                <a:tc>
                  <a:txBody>
                    <a:bodyPr/>
                    <a:lstStyle/>
                    <a:p>
                      <a:pPr algn="ctr">
                        <a:spcAft>
                          <a:spcPts val="100"/>
                        </a:spcAft>
                      </a:pPr>
                      <a:r>
                        <a:rPr sz="1000" b="0">
                          <a:solidFill>
                            <a:srgbClr val="7F7F7F"/>
                          </a:solidFill>
                          <a:latin typeface="맑은 고딕"/>
                          <a:ea typeface="맑은 고딕"/>
                          <a:cs typeface="맑은 고딕"/>
                        </a:rPr>
                        <a:t>Policy Engine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1000" b="0">
                          <a:solidFill>
                            <a:srgbClr val="000000"/>
                          </a:solidFill>
                          <a:latin typeface="맑은 고딕"/>
                          <a:ea typeface="맑은 고딕"/>
                          <a:cs typeface="맑은 고딕"/>
                        </a:rPr>
                        <a:t>소속이 바뀌는 모듈. Intent 발행 지점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457200">
                <a:tc>
                  <a:txBody>
                    <a:bodyPr/>
                    <a:lstStyle/>
                    <a:p>
                      <a:pPr algn="ctr">
                        <a:spcAft>
                          <a:spcPts val="100"/>
                        </a:spcAft>
                      </a:pPr>
                      <a:r>
                        <a:rPr sz="1000" b="0">
                          <a:solidFill>
                            <a:srgbClr val="7F7F7F"/>
                          </a:solidFill>
                          <a:latin typeface="맑은 고딕"/>
                          <a:ea typeface="맑은 고딕"/>
                          <a:cs typeface="맑은 고딕"/>
                        </a:rPr>
                        <a:t>State Monitor · Telemetry Collector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Resource Manager (상태부)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수집은 서빙 경로 밖 주기 경로 (FR-05)</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457200">
                <a:tc>
                  <a:txBody>
                    <a:bodyPr/>
                    <a:lstStyle/>
                    <a:p>
                      <a:pPr algn="ctr">
                        <a:spcAft>
                          <a:spcPts val="100"/>
                        </a:spcAft>
                      </a:pPr>
                      <a:r>
                        <a:rPr sz="1000" b="0">
                          <a:solidFill>
                            <a:srgbClr val="7F7F7F"/>
                          </a:solidFill>
                          <a:latin typeface="맑은 고딕"/>
                          <a:ea typeface="맑은 고딕"/>
                          <a:cs typeface="맑은 고딕"/>
                        </a:rPr>
                        <a:t>Memory · Data Object Registry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Resource Manager (상태부)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위치의 단일 진실 (FR-04)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457200">
                <a:tc>
                  <a:txBody>
                    <a:bodyPr/>
                    <a:lstStyle/>
                    <a:p>
                      <a:pPr algn="ctr">
                        <a:spcAft>
                          <a:spcPts val="100"/>
                        </a:spcAft>
                      </a:pPr>
                      <a:r>
                        <a:rPr sz="1000" b="0">
                          <a:solidFill>
                            <a:srgbClr val="7F7F7F"/>
                          </a:solidFill>
                          <a:latin typeface="맑은 고딕"/>
                          <a:ea typeface="맑은 고딕"/>
                          <a:cs typeface="맑은 고딕"/>
                        </a:rPr>
                        <a:t>Migration Executor · Transfer Handler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Data Plane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Data Plane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공통. 실행은 background DMA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r h="457200">
                <a:tc>
                  <a:txBody>
                    <a:bodyPr/>
                    <a:lstStyle/>
                    <a:p>
                      <a:pPr algn="ctr">
                        <a:spcAft>
                          <a:spcPts val="100"/>
                        </a:spcAft>
                      </a:pPr>
                      <a:r>
                        <a:rPr sz="1000" b="0">
                          <a:solidFill>
                            <a:srgbClr val="7F7F7F"/>
                          </a:solidFill>
                          <a:latin typeface="맑은 고딕"/>
                          <a:ea typeface="맑은 고딕"/>
                          <a:cs typeface="맑은 고딕"/>
                        </a:rPr>
                        <a:t>Common Memory Backend I/F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1000" b="0">
                          <a:solidFill>
                            <a:srgbClr val="000000"/>
                          </a:solidFill>
                          <a:latin typeface="맑은 고딕"/>
                          <a:ea typeface="맑은 고딕"/>
                          <a:cs typeface="맑은 고딕"/>
                        </a:rPr>
                        <a:t>공통 하부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공통 하부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000000"/>
                          </a:solidFill>
                          <a:latin typeface="맑은 고딕"/>
                          <a:ea typeface="맑은 고딕"/>
                          <a:cs typeface="맑은 고딕"/>
                        </a:rPr>
                        <a:t>신규 Device SW 편입 지점 (C2)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8"/>
                  </a:ext>
                </a:extLst>
              </a:tr>
            </a:tbl>
          </a:graphicData>
        </a:graphic>
      </p:graphicFrame>
      <p:sp>
        <p:nvSpPr>
          <p:cNvPr id="21" name="Rectangle 20"/>
          <p:cNvSpPr/>
          <p:nvPr/>
        </p:nvSpPr>
        <p:spPr>
          <a:xfrm>
            <a:off x="347472" y="5394960"/>
            <a:ext cx="11402568" cy="105156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4905756" y="5239512"/>
            <a:ext cx="228600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비교 원칙과 예상 질문</a:t>
            </a:r>
          </a:p>
        </p:txBody>
      </p:sp>
      <p:sp>
        <p:nvSpPr>
          <p:cNvPr id="23" name="TextBox 22"/>
          <p:cNvSpPr txBox="1"/>
          <p:nvPr/>
        </p:nvSpPr>
        <p:spPr>
          <a:xfrm>
            <a:off x="457200" y="5596128"/>
            <a:ext cx="11247120" cy="868680"/>
          </a:xfrm>
          <a:prstGeom prst="rect">
            <a:avLst/>
          </a:prstGeom>
          <a:noFill/>
        </p:spPr>
        <p:txBody>
          <a:bodyPr wrap="square" lIns="45720" tIns="27432" rIns="45720" bIns="27432" anchor="t">
            <a:spAutoFit/>
          </a:bodyPr>
          <a:lstStyle/>
          <a:p>
            <a:pPr algn="l">
              <a:spcAft>
                <a:spcPts val="200"/>
              </a:spcAft>
            </a:pPr>
            <a:r>
              <a:rPr sz="1000" b="1">
                <a:solidFill>
                  <a:srgbClr val="0066FF"/>
                </a:solidFill>
                <a:latin typeface="맑은 고딕"/>
                <a:ea typeface="맑은 고딕"/>
                <a:cs typeface="맑은 고딕"/>
              </a:rPr>
              <a:t>바뀌는 변수는 하나: 결정 로직의 소속 (그에 따른 호출 경계: 로컬 호출 vs snapshot query)</a:t>
            </a:r>
          </a:p>
          <a:p>
            <a:pPr algn="l">
              <a:spcAft>
                <a:spcPts val="200"/>
              </a:spcAft>
            </a:pPr>
            <a:r>
              <a:rPr sz="950" b="0">
                <a:solidFill>
                  <a:srgbClr val="000000"/>
                </a:solidFill>
                <a:latin typeface="맑은 고딕"/>
                <a:ea typeface="맑은 고딕"/>
                <a:cs typeface="맑은 고딕"/>
              </a:rPr>
              <a:t>Q. '결국 정책 차이 아닌가?'  A. 신호(자원 상태 / data 행동)는 정책 플러그인으로 두 안에 공통. 같은 정책(iso-policy)을 두 구조에 올려 Max SLO Goodput과 분해 지표(HBM 확보 지연, 이동 거절율), 수정 모듈 수, 지연 증가율로 비교</a:t>
            </a:r>
          </a:p>
          <a:p>
            <a:pPr algn="l">
              <a:spcAft>
                <a:spcPts val="200"/>
              </a:spcAft>
            </a:pPr>
            <a:r>
              <a:rPr sz="950" b="0">
                <a:solidFill>
                  <a:srgbClr val="000000"/>
                </a:solidFill>
                <a:latin typeface="맑은 고딕"/>
                <a:ea typeface="맑은 고딕"/>
                <a:cs typeface="맑은 고딕"/>
              </a:rPr>
              <a:t>Q. '1안은 Resource Manager가 상태와 판단을 함께 갖는데 이름이 맞는가?'  A. 상태 소유자가 판단까지 하는 co-location 안이라 (상태 + 결정)으로 표기. 이 결합이 곧 비교 변수</a:t>
            </a:r>
          </a:p>
        </p:txBody>
      </p:sp>
      <p:sp>
        <p:nvSpPr>
          <p:cNvPr id="24" name="TextBox 23"/>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2</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QA별 구조적 측정 근거 (정책은 고정, 소속만 변경)</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97280"/>
          <a:ext cx="11750040" cy="4462272"/>
        </p:xfrm>
        <a:graphic>
          <a:graphicData uri="http://schemas.openxmlformats.org/drawingml/2006/table">
            <a:tbl>
              <a:tblPr>
                <a:tableStyleId>{2D5ABB26-0587-4C30-8999-92F81FD0307C}</a:tableStyleId>
              </a:tblPr>
              <a:tblGrid>
                <a:gridCol w="914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880360">
                  <a:extLst>
                    <a:ext uri="{9D8B030D-6E8A-4147-A177-3AD203B41FA5}">
                      <a16:colId xmlns:a16="http://schemas.microsoft.com/office/drawing/2014/main" val="20004"/>
                    </a:ext>
                  </a:extLst>
                </a:gridCol>
              </a:tblGrid>
              <a:tr h="365760">
                <a:tc>
                  <a:txBody>
                    <a:bodyPr/>
                    <a:lstStyle/>
                    <a:p>
                      <a:pPr algn="ctr">
                        <a:spcAft>
                          <a:spcPts val="100"/>
                        </a:spcAft>
                      </a:pPr>
                      <a:r>
                        <a:rPr sz="1050" b="0">
                          <a:solidFill>
                            <a:srgbClr val="7F7F7F"/>
                          </a:solidFill>
                          <a:latin typeface="맑은 고딕"/>
                          <a:ea typeface="맑은 고딕"/>
                          <a:cs typeface="맑은 고딕"/>
                        </a:rPr>
                        <a:t>QA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구조 요인과 지표 (단위)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1안 Resource Manager 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2안 Control 분리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spcAft>
                          <a:spcPts val="100"/>
                        </a:spcAft>
                      </a:pPr>
                      <a:r>
                        <a:rPr sz="1050" b="1">
                          <a:solidFill>
                            <a:srgbClr val="7F7F7F"/>
                          </a:solidFill>
                          <a:latin typeface="맑은 고딕"/>
                          <a:ea typeface="맑은 고딕"/>
                          <a:cs typeface="맑은 고딕"/>
                        </a:rPr>
                        <a:t>검증 방법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extLst>
                  <a:ext uri="{0D108BD9-81ED-4DB2-BD59-A6C34878D82A}">
                    <a16:rowId xmlns:a16="http://schemas.microsoft.com/office/drawing/2014/main" val="10000"/>
                  </a:ext>
                </a:extLst>
              </a:tr>
              <a:tr h="1024128">
                <a:tc>
                  <a:txBody>
                    <a:bodyPr/>
                    <a:lstStyle/>
                    <a:p>
                      <a:pPr algn="ctr">
                        <a:spcAft>
                          <a:spcPts val="100"/>
                        </a:spcAft>
                      </a:pPr>
                      <a:r>
                        <a:rPr sz="950" b="0">
                          <a:solidFill>
                            <a:srgbClr val="7F7F7F"/>
                          </a:solidFill>
                          <a:latin typeface="맑은 고딕"/>
                          <a:ea typeface="맑은 고딕"/>
                          <a:cs typeface="맑은 고딕"/>
                        </a:rPr>
                        <a:t>Q1
Throughput</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900" b="0">
                          <a:solidFill>
                            <a:srgbClr val="000000"/>
                          </a:solidFill>
                          <a:latin typeface="맑은 고딕"/>
                          <a:ea typeface="맑은 고딕"/>
                          <a:cs typeface="맑은 고딕"/>
                        </a:rPr>
                        <a:t>Max SLO Goodput의 분해: 압박→HBM 확보 완료 지연 (ms), 판단 중 상태 갱신 지연 P99 (ms), stale 판단의 이동 거절율 (%), TPOT P99 증분 (ms)</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상태 항상 최신 → 압박 대응 지연 최소. 단 판단이 상태를 점유하는 동안 event 수집·commit 반영이 밀려 backlog 발생 가능</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판단이 snapshot 위에서 돌아 갱신 경로와 경합 없음, 서빙 코어 간섭 격리. 단 snapshot age만큼 확보 지연, stale 판단 거절 증가, snapshot 생성 비용</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snapshot age, 판단 비용(0.1 / 1 / 10 ms), 상태 갱신 rate sweep (iso-policy)</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1024128">
                <a:tc>
                  <a:txBody>
                    <a:bodyPr/>
                    <a:lstStyle/>
                    <a:p>
                      <a:pPr algn="ctr">
                        <a:spcAft>
                          <a:spcPts val="100"/>
                        </a:spcAft>
                      </a:pPr>
                      <a:r>
                        <a:rPr sz="950" b="0">
                          <a:solidFill>
                            <a:srgbClr val="7F7F7F"/>
                          </a:solidFill>
                          <a:latin typeface="맑은 고딕"/>
                          <a:ea typeface="맑은 고딕"/>
                          <a:cs typeface="맑은 고딕"/>
                        </a:rPr>
                        <a:t>Q2
HBM 점유율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900" b="0">
                          <a:solidFill>
                            <a:srgbClr val="000000"/>
                          </a:solidFill>
                          <a:latin typeface="맑은 고딕"/>
                          <a:ea typeface="맑은 고딕"/>
                          <a:cs typeface="맑은 고딕"/>
                        </a:rPr>
                        <a:t>stale window: 압력 발생 → demote 시작 (ms), HBM peak overshoot (GB). 낮을수록 좋음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상태를 직접 읽어 stale ≈ 0</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snapshot age(FR-05 허용 age)만큼 stale</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압력 step 입력 시 overshoot 측정, snapshot age sweep</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1024128">
                <a:tc>
                  <a:txBody>
                    <a:bodyPr/>
                    <a:lstStyle/>
                    <a:p>
                      <a:pPr algn="ctr">
                        <a:spcAft>
                          <a:spcPts val="100"/>
                        </a:spcAft>
                      </a:pPr>
                      <a:r>
                        <a:rPr sz="950" b="0">
                          <a:solidFill>
                            <a:srgbClr val="7F7F7F"/>
                          </a:solidFill>
                          <a:latin typeface="맑은 고딕"/>
                          <a:ea typeface="맑은 고딕"/>
                          <a:cs typeface="맑은 고딕"/>
                        </a:rPr>
                        <a:t>Q3
변경용이성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900" b="0">
                          <a:solidFill>
                            <a:srgbClr val="000000"/>
                          </a:solidFill>
                          <a:latin typeface="맑은 고딕"/>
                          <a:ea typeface="맑은 고딕"/>
                          <a:cs typeface="맑은 고딕"/>
                        </a:rPr>
                        <a:t>신규·변경 정책 반영 시 수정 모듈 수 (개)와 재배포 단위. 정책 추가 시나리오(예: 신호 교체) 기준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정책이 상태 서비스(Resource Manager) 안에 있어 정책 변경 시 상태 서비스 수정·재배포</a:t>
                      </a:r>
                    </a:p>
                    <a:p>
                      <a:pPr>
                        <a:spcAft>
                          <a:spcPts val="100"/>
                        </a:spcAft>
                      </a:pPr>
                      <a:r>
                        <a:rPr sz="850" b="0">
                          <a:solidFill>
                            <a:srgbClr val="7F7F7F"/>
                          </a:solidFill>
                          <a:latin typeface="맑은 고딕"/>
                          <a:ea typeface="맑은 고딕"/>
                          <a:cs typeface="맑은 고딕"/>
                        </a:rPr>
                        <a:t>[추정]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Control 내 Analyzer·Mapper·Policy Engine만 수정, 상태 서비스 불변</a:t>
                      </a:r>
                    </a:p>
                    <a:p>
                      <a:pPr>
                        <a:spcAft>
                          <a:spcPts val="100"/>
                        </a:spcAft>
                      </a:pPr>
                      <a:r>
                        <a:rPr sz="850" b="0">
                          <a:solidFill>
                            <a:srgbClr val="7F7F7F"/>
                          </a:solidFill>
                          <a:latin typeface="맑은 고딕"/>
                          <a:ea typeface="맑은 고딕"/>
                          <a:cs typeface="맑은 고딕"/>
                        </a:rPr>
                        <a:t>[추정]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정책 교체 시나리오를 두 구조에 적용해 diff 모듈 수 집계</a:t>
                      </a:r>
                    </a:p>
                    <a:p>
                      <a:pPr>
                        <a:spcAft>
                          <a:spcPts val="100"/>
                        </a:spcAft>
                      </a:pPr>
                      <a:r>
                        <a:rPr sz="850" b="0">
                          <a:solidFill>
                            <a:srgbClr val="7F7F7F"/>
                          </a:solidFill>
                          <a:latin typeface="맑은 고딕"/>
                          <a:ea typeface="맑은 고딕"/>
                          <a:cs typeface="맑은 고딕"/>
                        </a:rPr>
                        <a:t>[설계 검토]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1024128">
                <a:tc>
                  <a:txBody>
                    <a:bodyPr/>
                    <a:lstStyle/>
                    <a:p>
                      <a:pPr algn="ctr">
                        <a:spcAft>
                          <a:spcPts val="100"/>
                        </a:spcAft>
                      </a:pPr>
                      <a:r>
                        <a:rPr sz="950" b="0">
                          <a:solidFill>
                            <a:srgbClr val="7F7F7F"/>
                          </a:solidFill>
                          <a:latin typeface="맑은 고딕"/>
                          <a:ea typeface="맑은 고딕"/>
                          <a:cs typeface="맑은 고딕"/>
                        </a:rPr>
                        <a:t>Q4
확장성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spcAft>
                          <a:spcPts val="100"/>
                        </a:spcAft>
                      </a:pPr>
                      <a:r>
                        <a:rPr sz="900" b="0">
                          <a:solidFill>
                            <a:srgbClr val="000000"/>
                          </a:solidFill>
                          <a:latin typeface="맑은 고딕"/>
                          <a:ea typeface="맑은 고딕"/>
                          <a:cs typeface="맑은 고딕"/>
                        </a:rPr>
                        <a:t>Scaling Efficiency: tier 수 N=2→8, object 수 증가 시 event→Intent 지연 증가율 (배)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상태 저장과 판단이 한 서비스에서 처리 → 단일 서비스 포화</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판단과 상태를 분리 확장, 단 query 부하가 Resource Manager에 집중</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N·object sweep 시뮬레이션, 서비스별 부하 모델링 필요</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1" name="Rectangle 20"/>
          <p:cNvSpPr/>
          <p:nvPr/>
        </p:nvSpPr>
        <p:spPr>
          <a:xfrm>
            <a:off x="347472" y="5897880"/>
            <a:ext cx="11402568" cy="566928"/>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317236" y="5742432"/>
            <a:ext cx="14630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비교 원칙</a:t>
            </a:r>
          </a:p>
        </p:txBody>
      </p:sp>
      <p:sp>
        <p:nvSpPr>
          <p:cNvPr id="23" name="TextBox 22"/>
          <p:cNvSpPr txBox="1"/>
          <p:nvPr/>
        </p:nvSpPr>
        <p:spPr>
          <a:xfrm>
            <a:off x="457200" y="5989320"/>
            <a:ext cx="11247120" cy="502920"/>
          </a:xfrm>
          <a:prstGeom prst="rect">
            <a:avLst/>
          </a:prstGeom>
          <a:noFill/>
        </p:spPr>
        <p:txBody>
          <a:bodyPr wrap="square" lIns="45720" tIns="27432" rIns="45720" bIns="27432" anchor="t">
            <a:spAutoFit/>
          </a:bodyPr>
          <a:lstStyle/>
          <a:p>
            <a:pPr algn="l">
              <a:spcAft>
                <a:spcPts val="200"/>
              </a:spcAft>
            </a:pPr>
            <a:r>
              <a:rPr sz="950" b="0">
                <a:solidFill>
                  <a:srgbClr val="404040"/>
                </a:solidFill>
                <a:latin typeface="맑은 고딕"/>
                <a:ea typeface="맑은 고딕"/>
                <a:cs typeface="맑은 고딕"/>
              </a:rPr>
              <a:t>Policy(C1 또는 C2 중 하나)를 두 안에 동일하게 구현해 고정하고 소속만 바꿔 측정. 정책 품질(예측 정확도)은 구조 평가에서 제외. 별점·임계값은 통합 단계(memo-threshold-unification)에서 정하며 여기서는 쓰지 않음</a:t>
            </a:r>
          </a:p>
        </p:txBody>
      </p:sp>
      <p:sp>
        <p:nvSpPr>
          <p:cNvPr id="24" name="TextBox 23"/>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3</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DP1. Data Migration 결정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언제, 무엇을, 어느 memory tier로 이동할지 결정</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42415"/>
          <a:ext cx="11740896" cy="5167884"/>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5504688">
                  <a:extLst>
                    <a:ext uri="{9D8B030D-6E8A-4147-A177-3AD203B41FA5}">
                      <a16:colId xmlns:a16="http://schemas.microsoft.com/office/drawing/2014/main" val="20001"/>
                    </a:ext>
                  </a:extLst>
                </a:gridCol>
                <a:gridCol w="5504688">
                  <a:extLst>
                    <a:ext uri="{9D8B030D-6E8A-4147-A177-3AD203B41FA5}">
                      <a16:colId xmlns:a16="http://schemas.microsoft.com/office/drawing/2014/main" val="20002"/>
                    </a:ext>
                  </a:extLst>
                </a:gridCol>
              </a:tblGrid>
              <a:tr h="502920">
                <a:tc>
                  <a:txBody>
                    <a:bodyPr/>
                    <a:lstStyle/>
                    <a:p>
                      <a:pPr algn="ctr">
                        <a:spcAft>
                          <a:spcPts val="100"/>
                        </a:spcAft>
                      </a:pPr>
                      <a:r>
                        <a:rPr sz="110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100" b="1">
                          <a:solidFill>
                            <a:srgbClr val="7F7F7F"/>
                          </a:solidFill>
                          <a:latin typeface="맑은 고딕"/>
                          <a:ea typeface="맑은 고딕"/>
                          <a:cs typeface="맑은 고딕"/>
                        </a:rPr>
                        <a:t>(2안) AI Data 특성에 우선한 이동</a:t>
                      </a:r>
                    </a:p>
                    <a:p>
                      <a:pPr algn="ctr">
                        <a:spcAft>
                          <a:spcPts val="100"/>
                        </a:spcAft>
                      </a:pPr>
                      <a:r>
                        <a:rPr sz="950" b="1">
                          <a:solidFill>
                            <a:srgbClr val="7F7F7F"/>
                          </a:solidFill>
                          <a:latin typeface="맑은 고딕"/>
                          <a:ea typeface="맑은 고딕"/>
                          <a:cs typeface="맑은 고딕"/>
                        </a:rPr>
                        <a:t>결정 로직은 Control에 분리 (기존 설계를 결정 위치 구조로 표현)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100" b="1">
                          <a:solidFill>
                            <a:srgbClr val="7F7F7F"/>
                          </a:solidFill>
                          <a:latin typeface="맑은 고딕"/>
                          <a:ea typeface="맑은 고딕"/>
                          <a:cs typeface="맑은 고딕"/>
                        </a:rPr>
                        <a:t>(2안) AI Data 특성에 우선한 이동 + 보완</a:t>
                      </a:r>
                    </a:p>
                    <a:p>
                      <a:pPr algn="ctr">
                        <a:spcAft>
                          <a:spcPts val="100"/>
                        </a:spcAft>
                      </a:pPr>
                      <a:r>
                        <a:rPr sz="900" b="1">
                          <a:solidFill>
                            <a:srgbClr val="7F7F7F"/>
                          </a:solidFill>
                          <a:latin typeface="맑은 고딕"/>
                          <a:ea typeface="맑은 고딕"/>
                          <a:cs typeface="맑은 고딕"/>
                        </a:rPr>
                        <a:t>HBM 점유 기한(Lease) 제어 + Behavior adapter (판단은 Control, 상태·이벤트는 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0"/>
                  </a:ext>
                </a:extLst>
              </a:tr>
              <a:tr h="3108960">
                <a:tc>
                  <a:txBody>
                    <a:bodyPr/>
                    <a:lstStyle/>
                    <a:p>
                      <a:pPr algn="ctr">
                        <a:spcAft>
                          <a:spcPts val="100"/>
                        </a:spcAft>
                      </a:pPr>
                      <a:r>
                        <a:rPr sz="100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914400">
                <a:tc>
                  <a:txBody>
                    <a:bodyPr/>
                    <a:lstStyle/>
                    <a:p>
                      <a:pPr algn="ctr">
                        <a:spcAft>
                          <a:spcPts val="100"/>
                        </a:spcAft>
                      </a:pPr>
                      <a:r>
                        <a:rPr sz="1000" b="0">
                          <a:solidFill>
                            <a:srgbClr val="7F7F7F"/>
                          </a:solidFill>
                          <a:latin typeface="맑은 고딕"/>
                          <a:ea typeface="맑은 고딕"/>
                          <a:cs typeface="맑은 고딕"/>
                        </a:rPr>
                        <a:t>단점
개선점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1000" b="0">
                          <a:solidFill>
                            <a:srgbClr val="A6A6A6"/>
                          </a:solidFill>
                          <a:latin typeface="맑은 고딕"/>
                          <a:ea typeface="맑은 고딕"/>
                          <a:cs typeface="맑은 고딕"/>
                        </a:rPr>
                        <a:t>• Behavior 예측에 의한 idle data의 불필요한 고속 메모리 점유 가능 (Q2)</a:t>
                      </a:r>
                    </a:p>
                    <a:p>
                      <a:pPr>
                        <a:spcAft>
                          <a:spcPts val="100"/>
                        </a:spcAft>
                      </a:pPr>
                      <a:r>
                        <a:rPr sz="1000" b="0">
                          <a:solidFill>
                            <a:srgbClr val="A6A6A6"/>
                          </a:solidFill>
                          <a:latin typeface="맑은 고딕"/>
                          <a:ea typeface="맑은 고딕"/>
                          <a:cs typeface="맑은 고딕"/>
                        </a:rPr>
                        <a:t>• 신규 workload 추가 시 변경 영향 범위 큼 (Q3)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50" b="0">
                          <a:solidFill>
                            <a:srgbClr val="000000"/>
                          </a:solidFill>
                          <a:latin typeface="맑은 고딕"/>
                          <a:ea typeface="맑은 고딕"/>
                          <a:cs typeface="맑은 고딕"/>
                        </a:rPr>
                        <a:t>Behavior 예측에 의한 idle data의 불필요한 고속 메모리 점유 가능 (Q2)</a:t>
                      </a:r>
                    </a:p>
                    <a:p>
                      <a:pPr>
                        <a:spcAft>
                          <a:spcPts val="100"/>
                        </a:spcAft>
                      </a:pPr>
                      <a:r>
                        <a:rPr sz="950" b="0">
                          <a:solidFill>
                            <a:srgbClr val="FF0000"/>
                          </a:solidFill>
                          <a:latin typeface="맑은 고딕"/>
                          <a:ea typeface="맑은 고딕"/>
                          <a:cs typeface="맑은 고딕"/>
                        </a:rPr>
                        <a:t>→ HBM stage-in 시 Lease 부여, 만료 event로 migration 재평가</a:t>
                      </a:r>
                    </a:p>
                    <a:p>
                      <a:pPr>
                        <a:spcAft>
                          <a:spcPts val="100"/>
                        </a:spcAft>
                      </a:pPr>
                      <a:r>
                        <a:rPr sz="950" b="0">
                          <a:solidFill>
                            <a:srgbClr val="FF0000"/>
                          </a:solidFill>
                          <a:latin typeface="맑은 고딕"/>
                          <a:ea typeface="맑은 고딕"/>
                          <a:cs typeface="맑은 고딕"/>
                        </a:rPr>
                        <a:t>→ 최신 behavior로 Lease 연장·선별 demotion, HBM 점유율 제한</a:t>
                      </a:r>
                    </a:p>
                    <a:p>
                      <a:pPr>
                        <a:spcAft>
                          <a:spcPts val="100"/>
                        </a:spcAft>
                      </a:pPr>
                      <a:r>
                        <a:rPr sz="950" b="0">
                          <a:solidFill>
                            <a:srgbClr val="000000"/>
                          </a:solidFill>
                          <a:latin typeface="맑은 고딕"/>
                          <a:ea typeface="맑은 고딕"/>
                          <a:cs typeface="맑은 고딕"/>
                        </a:rPr>
                        <a:t>신규 workload 추가 시 변경 영향 범위 큼 (Q3)</a:t>
                      </a:r>
                    </a:p>
                    <a:p>
                      <a:pPr>
                        <a:spcAft>
                          <a:spcPts val="100"/>
                        </a:spcAft>
                      </a:pPr>
                      <a:r>
                        <a:rPr sz="950" b="0">
                          <a:solidFill>
                            <a:srgbClr val="FF0000"/>
                          </a:solidFill>
                          <a:latin typeface="맑은 고딕"/>
                          <a:ea typeface="맑은 고딕"/>
                          <a:cs typeface="맑은 고딕"/>
                        </a:rPr>
                        <a:t>→ workload 특성을 Adapter로 분리, 공통 Feature snapshot만 노출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640080">
                <a:tc>
                  <a:txBody>
                    <a:bodyPr/>
                    <a:lstStyle/>
                    <a:p>
                      <a:pPr algn="ctr">
                        <a:spcAft>
                          <a:spcPts val="100"/>
                        </a:spcAft>
                      </a:pPr>
                      <a:r>
                        <a:rPr sz="1000" b="0">
                          <a:solidFill>
                            <a:srgbClr val="7F7F7F"/>
                          </a:solidFill>
                          <a:latin typeface="맑은 고딕"/>
                          <a:ea typeface="맑은 고딕"/>
                          <a:cs typeface="맑은 고딕"/>
                        </a:rPr>
                        <a:t>Tradeoff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A6A6A6"/>
                          </a:solidFill>
                          <a:latin typeface="맑은 고딕"/>
                          <a:ea typeface="맑은 고딕"/>
                          <a:cs typeface="맑은 고딕"/>
                        </a:rPr>
                        <a:t>Q1 Performance 처리량 (tokens/s)</a:t>
                      </a:r>
                    </a:p>
                    <a:p>
                      <a:pPr>
                        <a:spcAft>
                          <a:spcPts val="100"/>
                        </a:spcAft>
                      </a:pPr>
                      <a:r>
                        <a:rPr sz="900" b="0">
                          <a:solidFill>
                            <a:srgbClr val="A6A6A6"/>
                          </a:solidFill>
                          <a:latin typeface="맑은 고딕"/>
                          <a:ea typeface="맑은 고딕"/>
                          <a:cs typeface="맑은 고딕"/>
                        </a:rPr>
                        <a:t>Q2 Resource Efficiency (HBM 사용량 GB)</a:t>
                      </a:r>
                    </a:p>
                    <a:p>
                      <a:pPr>
                        <a:spcAft>
                          <a:spcPts val="100"/>
                        </a:spcAft>
                      </a:pPr>
                      <a:r>
                        <a:rPr sz="900" b="0">
                          <a:solidFill>
                            <a:srgbClr val="A6A6A6"/>
                          </a:solidFill>
                          <a:latin typeface="맑은 고딕"/>
                          <a:ea typeface="맑은 고딕"/>
                          <a:cs typeface="맑은 고딕"/>
                        </a:rPr>
                        <a:t>Q3 Modifiability (토큰 비용, M/M)</a:t>
                      </a:r>
                    </a:p>
                    <a:p>
                      <a:pPr>
                        <a:spcAft>
                          <a:spcPts val="100"/>
                        </a:spcAft>
                      </a:pPr>
                      <a:r>
                        <a:rPr sz="900" b="0">
                          <a:solidFill>
                            <a:srgbClr val="A6A6A6"/>
                          </a:solidFill>
                          <a:latin typeface="맑은 고딕"/>
                          <a:ea typeface="맑은 고딕"/>
                          <a:cs typeface="맑은 고딕"/>
                        </a:rPr>
                        <a:t>Q4 Scalability (Scaling Efficiency)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Q1 처리량: 확인 필요 (만료 오판 → 재stage-in 비용, 연장 규칙이 관건) [가설]</a:t>
                      </a:r>
                    </a:p>
                    <a:p>
                      <a:pPr>
                        <a:spcAft>
                          <a:spcPts val="100"/>
                        </a:spcAft>
                      </a:pPr>
                      <a:r>
                        <a:rPr sz="900" b="0">
                          <a:solidFill>
                            <a:srgbClr val="000000"/>
                          </a:solidFill>
                          <a:latin typeface="맑은 고딕"/>
                          <a:ea typeface="맑은 고딕"/>
                          <a:cs typeface="맑은 고딕"/>
                        </a:rPr>
                        <a:t>Q2 HBM 사용량: 개선 (idle data 점유에 만료 상한) [가설]</a:t>
                      </a:r>
                    </a:p>
                    <a:p>
                      <a:pPr>
                        <a:spcAft>
                          <a:spcPts val="100"/>
                        </a:spcAft>
                      </a:pPr>
                      <a:r>
                        <a:rPr sz="900" b="0">
                          <a:solidFill>
                            <a:srgbClr val="000000"/>
                          </a:solidFill>
                          <a:latin typeface="맑은 고딕"/>
                          <a:ea typeface="맑은 고딕"/>
                          <a:cs typeface="맑은 고딕"/>
                        </a:rPr>
                        <a:t>Q3 변경 비용: 개선 (workload 추가 = Adapter 1개) [가설]</a:t>
                      </a:r>
                    </a:p>
                    <a:p>
                      <a:pPr>
                        <a:spcAft>
                          <a:spcPts val="100"/>
                        </a:spcAft>
                      </a:pPr>
                      <a:r>
                        <a:rPr sz="900" b="0">
                          <a:solidFill>
                            <a:srgbClr val="000000"/>
                          </a:solidFill>
                          <a:latin typeface="맑은 고딕"/>
                          <a:ea typeface="맑은 고딕"/>
                          <a:cs typeface="맑은 고딕"/>
                        </a:rPr>
                        <a:t>Q4 확장성: 확인 필요 (Lease 수 ∝ object 수, timer 비용) [가설]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21" name="Rectangle 20"/>
          <p:cNvSpPr/>
          <p:nvPr/>
        </p:nvSpPr>
        <p:spPr>
          <a:xfrm>
            <a:off x="1069848" y="1563624"/>
            <a:ext cx="5303520" cy="822960"/>
          </a:xfrm>
          <a:prstGeom prst="rect">
            <a:avLst/>
          </a:prstGeom>
          <a:solidFill>
            <a:srgbClr val="F0F1F3"/>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69848" y="1563624"/>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Control Plane  (Policy · 결정)</a:t>
            </a:r>
          </a:p>
        </p:txBody>
      </p:sp>
      <p:sp>
        <p:nvSpPr>
          <p:cNvPr id="23" name="Rectangle 22"/>
          <p:cNvSpPr/>
          <p:nvPr/>
        </p:nvSpPr>
        <p:spPr>
          <a:xfrm>
            <a:off x="129844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A6A6A6"/>
                </a:solidFill>
                <a:latin typeface="맑은 고딕"/>
                <a:ea typeface="맑은 고딕"/>
                <a:cs typeface="맑은 고딕"/>
              </a:rPr>
              <a:t>Migration
Scheduler</a:t>
            </a:r>
          </a:p>
        </p:txBody>
      </p:sp>
      <p:sp>
        <p:nvSpPr>
          <p:cNvPr id="24" name="Rectangle 23"/>
          <p:cNvSpPr/>
          <p:nvPr/>
        </p:nvSpPr>
        <p:spPr>
          <a:xfrm>
            <a:off x="257860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A6A6A6"/>
                </a:solidFill>
                <a:latin typeface="맑은 고딕"/>
                <a:ea typeface="맑은 고딕"/>
                <a:cs typeface="맑은 고딕"/>
              </a:rPr>
              <a:t>Data Behavior
Analyzer</a:t>
            </a:r>
          </a:p>
        </p:txBody>
      </p:sp>
      <p:sp>
        <p:nvSpPr>
          <p:cNvPr id="25" name="Rectangle 24"/>
          <p:cNvSpPr/>
          <p:nvPr/>
        </p:nvSpPr>
        <p:spPr>
          <a:xfrm>
            <a:off x="385876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A6A6A6"/>
                </a:solidFill>
                <a:latin typeface="맑은 고딕"/>
                <a:ea typeface="맑은 고딕"/>
                <a:cs typeface="맑은 고딕"/>
              </a:rPr>
              <a:t>Migration
Policy Engine</a:t>
            </a:r>
          </a:p>
        </p:txBody>
      </p:sp>
      <p:cxnSp>
        <p:nvCxnSpPr>
          <p:cNvPr id="26" name="Connector 25"/>
          <p:cNvCxnSpPr/>
          <p:nvPr/>
        </p:nvCxnSpPr>
        <p:spPr>
          <a:xfrm>
            <a:off x="2395728" y="2075688"/>
            <a:ext cx="182880" cy="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75887" y="2075688"/>
            <a:ext cx="182881" cy="0"/>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69848" y="2633472"/>
            <a:ext cx="5303520" cy="1170432"/>
          </a:xfrm>
          <a:prstGeom prst="rect">
            <a:avLst/>
          </a:prstGeom>
          <a:solidFill>
            <a:srgbClr val="F0F1F3"/>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069848" y="2633472"/>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Resource Manager  (상태·관측)</a:t>
            </a:r>
          </a:p>
        </p:txBody>
      </p:sp>
      <p:sp>
        <p:nvSpPr>
          <p:cNvPr id="30" name="Rectangle 29"/>
          <p:cNvSpPr/>
          <p:nvPr/>
        </p:nvSpPr>
        <p:spPr>
          <a:xfrm>
            <a:off x="1298448" y="2907791"/>
            <a:ext cx="1097280" cy="3657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A6A6A6"/>
                </a:solidFill>
                <a:latin typeface="맑은 고딕"/>
                <a:ea typeface="맑은 고딕"/>
                <a:cs typeface="맑은 고딕"/>
              </a:rPr>
              <a:t>Telemetry
Collector</a:t>
            </a:r>
          </a:p>
        </p:txBody>
      </p:sp>
      <p:sp>
        <p:nvSpPr>
          <p:cNvPr id="31" name="Rectangle 30"/>
          <p:cNvSpPr/>
          <p:nvPr/>
        </p:nvSpPr>
        <p:spPr>
          <a:xfrm>
            <a:off x="2578608" y="2907791"/>
            <a:ext cx="1097280" cy="3657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A6A6A6"/>
                </a:solidFill>
                <a:latin typeface="맑은 고딕"/>
                <a:ea typeface="맑은 고딕"/>
                <a:cs typeface="맑은 고딕"/>
              </a:rPr>
              <a:t>Data Behavior
Monitor</a:t>
            </a:r>
          </a:p>
        </p:txBody>
      </p:sp>
      <p:sp>
        <p:nvSpPr>
          <p:cNvPr id="32" name="Rectangle 31"/>
          <p:cNvSpPr/>
          <p:nvPr/>
        </p:nvSpPr>
        <p:spPr>
          <a:xfrm>
            <a:off x="5047488" y="2907791"/>
            <a:ext cx="1097280" cy="8229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A6A6A6"/>
                </a:solidFill>
                <a:latin typeface="맑은 고딕"/>
                <a:ea typeface="맑은 고딕"/>
                <a:cs typeface="맑은 고딕"/>
              </a:rPr>
              <a:t>Data Object
Registry</a:t>
            </a:r>
          </a:p>
        </p:txBody>
      </p:sp>
      <p:cxnSp>
        <p:nvCxnSpPr>
          <p:cNvPr id="33" name="Connector 32"/>
          <p:cNvCxnSpPr/>
          <p:nvPr/>
        </p:nvCxnSpPr>
        <p:spPr>
          <a:xfrm>
            <a:off x="2395728" y="3090672"/>
            <a:ext cx="182880" cy="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7248" y="2295144"/>
            <a:ext cx="0" cy="612647"/>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1069848" y="3849624"/>
            <a:ext cx="5303520" cy="530352"/>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1069848" y="3849624"/>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Data Plane  (Mechanism · 실행)</a:t>
            </a:r>
          </a:p>
        </p:txBody>
      </p:sp>
      <p:sp>
        <p:nvSpPr>
          <p:cNvPr id="37" name="Rectangle 36"/>
          <p:cNvSpPr/>
          <p:nvPr/>
        </p:nvSpPr>
        <p:spPr>
          <a:xfrm>
            <a:off x="2578608" y="4096512"/>
            <a:ext cx="1554480" cy="25603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A6A6A6"/>
                </a:solidFill>
                <a:latin typeface="맑은 고딕"/>
                <a:ea typeface="맑은 고딕"/>
                <a:cs typeface="맑은 고딕"/>
              </a:rPr>
              <a:t>Transfer Handler</a:t>
            </a:r>
          </a:p>
        </p:txBody>
      </p:sp>
      <p:sp>
        <p:nvSpPr>
          <p:cNvPr id="38" name="Rectangle 37"/>
          <p:cNvSpPr/>
          <p:nvPr/>
        </p:nvSpPr>
        <p:spPr>
          <a:xfrm>
            <a:off x="4315968" y="4096512"/>
            <a:ext cx="1993392" cy="25603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A6A6A6"/>
                </a:solidFill>
                <a:latin typeface="맑은 고딕"/>
                <a:ea typeface="맑은 고딕"/>
                <a:cs typeface="맑은 고딕"/>
              </a:rPr>
              <a:t>Migration Executor</a:t>
            </a:r>
          </a:p>
        </p:txBody>
      </p:sp>
      <p:cxnSp>
        <p:nvCxnSpPr>
          <p:cNvPr id="39" name="Connector 38"/>
          <p:cNvCxnSpPr/>
          <p:nvPr/>
        </p:nvCxnSpPr>
        <p:spPr>
          <a:xfrm flipH="1">
            <a:off x="4133087" y="4224528"/>
            <a:ext cx="182881" cy="0"/>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1069848" y="4416552"/>
            <a:ext cx="5303520" cy="201168"/>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750" b="1">
                <a:solidFill>
                  <a:srgbClr val="FFFFFF"/>
                </a:solidFill>
                <a:latin typeface="맑은 고딕"/>
                <a:ea typeface="맑은 고딕"/>
                <a:cs typeface="맑은 고딕"/>
              </a:rPr>
              <a:t>Common Memory Backend Interface  (공통 하부 계층)</a:t>
            </a:r>
          </a:p>
        </p:txBody>
      </p:sp>
      <p:cxnSp>
        <p:nvCxnSpPr>
          <p:cNvPr id="41" name="Connector 40"/>
          <p:cNvCxnSpPr/>
          <p:nvPr/>
        </p:nvCxnSpPr>
        <p:spPr>
          <a:xfrm>
            <a:off x="3310128" y="4352544"/>
            <a:ext cx="0" cy="64008"/>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407408" y="2350008"/>
            <a:ext cx="0" cy="1746504"/>
          </a:xfrm>
          <a:prstGeom prst="line">
            <a:avLst/>
          </a:prstGeom>
          <a:ln w="19050">
            <a:solidFill>
              <a:srgbClr val="BFBFBF"/>
            </a:solidFill>
            <a:tailEnd type="triangle"/>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504688" y="3730752"/>
            <a:ext cx="0" cy="36576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574536" y="1563624"/>
            <a:ext cx="5303520" cy="82296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574536"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Control Plane  (Policy · 결정)</a:t>
            </a:r>
          </a:p>
        </p:txBody>
      </p:sp>
      <p:sp>
        <p:nvSpPr>
          <p:cNvPr id="46" name="Rectangle 45"/>
          <p:cNvSpPr/>
          <p:nvPr/>
        </p:nvSpPr>
        <p:spPr>
          <a:xfrm>
            <a:off x="6803136" y="1856231"/>
            <a:ext cx="1097280" cy="43891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Scheduler</a:t>
            </a:r>
          </a:p>
        </p:txBody>
      </p:sp>
      <p:sp>
        <p:nvSpPr>
          <p:cNvPr id="47" name="Rectangle 46"/>
          <p:cNvSpPr/>
          <p:nvPr/>
        </p:nvSpPr>
        <p:spPr>
          <a:xfrm>
            <a:off x="8083296" y="1856231"/>
            <a:ext cx="1097280" cy="438912"/>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Data Behavior
Analyzer</a:t>
            </a:r>
          </a:p>
        </p:txBody>
      </p:sp>
      <p:sp>
        <p:nvSpPr>
          <p:cNvPr id="48" name="Rectangle 47"/>
          <p:cNvSpPr/>
          <p:nvPr/>
        </p:nvSpPr>
        <p:spPr>
          <a:xfrm>
            <a:off x="9409176" y="1819656"/>
            <a:ext cx="2404872" cy="54864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436608" y="1874519"/>
            <a:ext cx="1188720" cy="411480"/>
          </a:xfrm>
          <a:prstGeom prst="rect">
            <a:avLst/>
          </a:prstGeom>
          <a:noFill/>
        </p:spPr>
        <p:txBody>
          <a:bodyPr wrap="square" lIns="45720" tIns="27432" rIns="45720" bIns="27432" anchor="t">
            <a:spAutoFit/>
          </a:bodyPr>
          <a:lstStyle/>
          <a:p>
            <a:pPr algn="l">
              <a:spcAft>
                <a:spcPts val="200"/>
              </a:spcAft>
            </a:pPr>
            <a:r>
              <a:rPr sz="800" b="0">
                <a:solidFill>
                  <a:srgbClr val="000000"/>
                </a:solidFill>
                <a:latin typeface="맑은 고딕"/>
                <a:ea typeface="맑은 고딕"/>
                <a:cs typeface="맑은 고딕"/>
              </a:rPr>
              <a:t>Migration
Policy Engine</a:t>
            </a:r>
          </a:p>
        </p:txBody>
      </p:sp>
      <p:sp>
        <p:nvSpPr>
          <p:cNvPr id="50" name="Rectangle 49"/>
          <p:cNvSpPr/>
          <p:nvPr/>
        </p:nvSpPr>
        <p:spPr>
          <a:xfrm>
            <a:off x="10689336" y="1965960"/>
            <a:ext cx="1005840" cy="347472"/>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HBM Lease
Granter</a:t>
            </a:r>
          </a:p>
        </p:txBody>
      </p:sp>
      <p:cxnSp>
        <p:nvCxnSpPr>
          <p:cNvPr id="51" name="Connector 50"/>
          <p:cNvCxnSpPr/>
          <p:nvPr/>
        </p:nvCxnSpPr>
        <p:spPr>
          <a:xfrm>
            <a:off x="7900416" y="2075688"/>
            <a:ext cx="182880"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7918704" y="1847088"/>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1</a:t>
            </a:r>
          </a:p>
        </p:txBody>
      </p:sp>
      <p:cxnSp>
        <p:nvCxnSpPr>
          <p:cNvPr id="53" name="Connector 52"/>
          <p:cNvCxnSpPr/>
          <p:nvPr/>
        </p:nvCxnSpPr>
        <p:spPr>
          <a:xfrm>
            <a:off x="9180576" y="2075688"/>
            <a:ext cx="22860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9208008" y="1847088"/>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3</a:t>
            </a:r>
          </a:p>
        </p:txBody>
      </p:sp>
      <p:sp>
        <p:nvSpPr>
          <p:cNvPr id="55" name="Rectangle 54"/>
          <p:cNvSpPr/>
          <p:nvPr/>
        </p:nvSpPr>
        <p:spPr>
          <a:xfrm>
            <a:off x="6574536" y="2633472"/>
            <a:ext cx="5303520" cy="1170432"/>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574536" y="2633472"/>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Resource Manager  (상태·관측·이벤트)</a:t>
            </a:r>
          </a:p>
        </p:txBody>
      </p:sp>
      <p:sp>
        <p:nvSpPr>
          <p:cNvPr id="57" name="Rectangle 56"/>
          <p:cNvSpPr/>
          <p:nvPr/>
        </p:nvSpPr>
        <p:spPr>
          <a:xfrm>
            <a:off x="6803136" y="2907791"/>
            <a:ext cx="1097280" cy="365760"/>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Data Behavior
Monitor</a:t>
            </a:r>
          </a:p>
        </p:txBody>
      </p:sp>
      <p:sp>
        <p:nvSpPr>
          <p:cNvPr id="58" name="Rectangle 57"/>
          <p:cNvSpPr/>
          <p:nvPr/>
        </p:nvSpPr>
        <p:spPr>
          <a:xfrm>
            <a:off x="8083296" y="2907791"/>
            <a:ext cx="1097280" cy="36576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Behavior Feature
Adapter</a:t>
            </a:r>
          </a:p>
        </p:txBody>
      </p:sp>
      <p:sp>
        <p:nvSpPr>
          <p:cNvPr id="59" name="Rectangle 58"/>
          <p:cNvSpPr/>
          <p:nvPr/>
        </p:nvSpPr>
        <p:spPr>
          <a:xfrm>
            <a:off x="9363456" y="2907791"/>
            <a:ext cx="1097280"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Lease Timer</a:t>
            </a:r>
          </a:p>
        </p:txBody>
      </p:sp>
      <p:sp>
        <p:nvSpPr>
          <p:cNvPr id="60" name="Rectangle 59"/>
          <p:cNvSpPr/>
          <p:nvPr/>
        </p:nvSpPr>
        <p:spPr>
          <a:xfrm>
            <a:off x="6803136" y="3364991"/>
            <a:ext cx="1097280" cy="3657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Telemetry
Collector</a:t>
            </a:r>
          </a:p>
        </p:txBody>
      </p:sp>
      <p:sp>
        <p:nvSpPr>
          <p:cNvPr id="61" name="Rectangle 60"/>
          <p:cNvSpPr/>
          <p:nvPr/>
        </p:nvSpPr>
        <p:spPr>
          <a:xfrm>
            <a:off x="10552176" y="2907791"/>
            <a:ext cx="1097280" cy="8229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0570463" y="2926080"/>
            <a:ext cx="1060704" cy="365760"/>
          </a:xfrm>
          <a:prstGeom prst="rect">
            <a:avLst/>
          </a:prstGeom>
          <a:noFill/>
        </p:spPr>
        <p:txBody>
          <a:bodyPr wrap="square" lIns="45720" tIns="27432" rIns="45720" bIns="27432" anchor="t">
            <a:spAutoFit/>
          </a:bodyPr>
          <a:lstStyle/>
          <a:p>
            <a:pPr algn="ctr">
              <a:spcAft>
                <a:spcPts val="200"/>
              </a:spcAft>
            </a:pPr>
            <a:r>
              <a:rPr sz="750" b="0">
                <a:solidFill>
                  <a:srgbClr val="000000"/>
                </a:solidFill>
                <a:latin typeface="맑은 고딕"/>
                <a:ea typeface="맑은 고딕"/>
                <a:cs typeface="맑은 고딕"/>
              </a:rPr>
              <a:t>Data Object
Registry</a:t>
            </a:r>
          </a:p>
        </p:txBody>
      </p:sp>
      <p:sp>
        <p:nvSpPr>
          <p:cNvPr id="63" name="Rectangle 62"/>
          <p:cNvSpPr/>
          <p:nvPr/>
        </p:nvSpPr>
        <p:spPr>
          <a:xfrm>
            <a:off x="10616184" y="3364991"/>
            <a:ext cx="969264" cy="329184"/>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Lease
Metadata</a:t>
            </a:r>
          </a:p>
        </p:txBody>
      </p:sp>
      <p:cxnSp>
        <p:nvCxnSpPr>
          <p:cNvPr id="64" name="Connector 63"/>
          <p:cNvCxnSpPr/>
          <p:nvPr/>
        </p:nvCxnSpPr>
        <p:spPr>
          <a:xfrm flipV="1">
            <a:off x="7351775" y="3273552"/>
            <a:ext cx="0" cy="91439"/>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900416" y="3090672"/>
            <a:ext cx="182880" cy="0"/>
          </a:xfrm>
          <a:prstGeom prst="line">
            <a:avLst/>
          </a:prstGeom>
          <a:ln w="12700">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631936" y="2295144"/>
            <a:ext cx="0" cy="612647"/>
          </a:xfrm>
          <a:prstGeom prst="line">
            <a:avLst/>
          </a:prstGeom>
          <a:ln w="15240">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68680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2</a:t>
            </a:r>
          </a:p>
        </p:txBody>
      </p:sp>
      <p:cxnSp>
        <p:nvCxnSpPr>
          <p:cNvPr id="68" name="Connector 67"/>
          <p:cNvCxnSpPr/>
          <p:nvPr/>
        </p:nvCxnSpPr>
        <p:spPr>
          <a:xfrm>
            <a:off x="10460736" y="3090672"/>
            <a:ext cx="91440" cy="0"/>
          </a:xfrm>
          <a:prstGeom prst="line">
            <a:avLst/>
          </a:prstGeom>
          <a:ln w="1270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192255" y="2368296"/>
            <a:ext cx="0" cy="539495"/>
          </a:xfrm>
          <a:prstGeom prst="line">
            <a:avLst/>
          </a:prstGeom>
          <a:ln w="1524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124712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7</a:t>
            </a:r>
          </a:p>
        </p:txBody>
      </p:sp>
      <p:cxnSp>
        <p:nvCxnSpPr>
          <p:cNvPr id="71" name="Connector 70"/>
          <p:cNvCxnSpPr/>
          <p:nvPr/>
        </p:nvCxnSpPr>
        <p:spPr>
          <a:xfrm flipV="1">
            <a:off x="9912096" y="2532888"/>
            <a:ext cx="0" cy="374903"/>
          </a:xfrm>
          <a:prstGeom prst="line">
            <a:avLst/>
          </a:prstGeom>
          <a:ln w="15240">
            <a:solidFill>
              <a:srgbClr val="C55A11"/>
            </a:solidFill>
            <a:prstDash val="dash"/>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7351775" y="2532888"/>
            <a:ext cx="2560321" cy="0"/>
          </a:xfrm>
          <a:prstGeom prst="line">
            <a:avLst/>
          </a:prstGeom>
          <a:ln w="15240">
            <a:solidFill>
              <a:srgbClr val="C55A11"/>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7351775" y="2295144"/>
            <a:ext cx="0" cy="237744"/>
          </a:xfrm>
          <a:prstGeom prst="line">
            <a:avLst/>
          </a:prstGeom>
          <a:ln w="1524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7406640" y="233172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8</a:t>
            </a:r>
          </a:p>
        </p:txBody>
      </p:sp>
      <p:sp>
        <p:nvSpPr>
          <p:cNvPr id="75" name="TextBox 74"/>
          <p:cNvSpPr txBox="1"/>
          <p:nvPr/>
        </p:nvSpPr>
        <p:spPr>
          <a:xfrm>
            <a:off x="7626096" y="2368296"/>
            <a:ext cx="1280160" cy="146304"/>
          </a:xfrm>
          <a:prstGeom prst="rect">
            <a:avLst/>
          </a:prstGeom>
          <a:noFill/>
        </p:spPr>
        <p:txBody>
          <a:bodyPr wrap="square" lIns="45720" tIns="27432" rIns="45720" bIns="27432" anchor="t">
            <a:spAutoFit/>
          </a:bodyPr>
          <a:lstStyle/>
          <a:p>
            <a:pPr algn="l">
              <a:spcAft>
                <a:spcPts val="200"/>
              </a:spcAft>
            </a:pPr>
            <a:r>
              <a:rPr sz="650" b="0">
                <a:solidFill>
                  <a:srgbClr val="C55A11"/>
                </a:solidFill>
                <a:latin typeface="맑은 고딕"/>
                <a:ea typeface="맑은 고딕"/>
                <a:cs typeface="맑은 고딕"/>
              </a:rPr>
              <a:t>Lease Expired (event)</a:t>
            </a:r>
          </a:p>
        </p:txBody>
      </p:sp>
      <p:sp>
        <p:nvSpPr>
          <p:cNvPr id="76" name="TextBox 75"/>
          <p:cNvSpPr txBox="1"/>
          <p:nvPr/>
        </p:nvSpPr>
        <p:spPr>
          <a:xfrm>
            <a:off x="8723376" y="2368296"/>
            <a:ext cx="1097280" cy="146304"/>
          </a:xfrm>
          <a:prstGeom prst="rect">
            <a:avLst/>
          </a:prstGeom>
          <a:noFill/>
        </p:spPr>
        <p:txBody>
          <a:bodyPr wrap="square" lIns="45720" tIns="27432" rIns="45720" bIns="27432" anchor="t">
            <a:spAutoFit/>
          </a:bodyPr>
          <a:lstStyle/>
          <a:p>
            <a:pPr algn="l">
              <a:spcAft>
                <a:spcPts val="200"/>
              </a:spcAft>
            </a:pPr>
            <a:r>
              <a:rPr sz="650" b="0">
                <a:solidFill>
                  <a:srgbClr val="2E75B6"/>
                </a:solidFill>
                <a:latin typeface="맑은 고딕"/>
                <a:ea typeface="맑은 고딕"/>
                <a:cs typeface="맑은 고딕"/>
              </a:rPr>
              <a:t>Feature snapshot</a:t>
            </a:r>
          </a:p>
        </p:txBody>
      </p:sp>
      <p:sp>
        <p:nvSpPr>
          <p:cNvPr id="77" name="Rectangle 76"/>
          <p:cNvSpPr/>
          <p:nvPr/>
        </p:nvSpPr>
        <p:spPr>
          <a:xfrm>
            <a:off x="6574536" y="3849624"/>
            <a:ext cx="5303520" cy="530352"/>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6574536" y="384962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Data Plane  (Mechanism · 실행)</a:t>
            </a:r>
          </a:p>
        </p:txBody>
      </p:sp>
      <p:sp>
        <p:nvSpPr>
          <p:cNvPr id="79" name="Rectangle 78"/>
          <p:cNvSpPr/>
          <p:nvPr/>
        </p:nvSpPr>
        <p:spPr>
          <a:xfrm>
            <a:off x="8083296" y="4096512"/>
            <a:ext cx="15544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Transfer Handler</a:t>
            </a:r>
          </a:p>
        </p:txBody>
      </p:sp>
      <p:sp>
        <p:nvSpPr>
          <p:cNvPr id="80" name="Rectangle 79"/>
          <p:cNvSpPr/>
          <p:nvPr/>
        </p:nvSpPr>
        <p:spPr>
          <a:xfrm>
            <a:off x="9820656" y="4096512"/>
            <a:ext cx="1993392"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Executor</a:t>
            </a:r>
          </a:p>
        </p:txBody>
      </p:sp>
      <p:cxnSp>
        <p:nvCxnSpPr>
          <p:cNvPr id="81" name="Connector 80"/>
          <p:cNvCxnSpPr/>
          <p:nvPr/>
        </p:nvCxnSpPr>
        <p:spPr>
          <a:xfrm flipH="1">
            <a:off x="9637776" y="4224528"/>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6574536" y="4416552"/>
            <a:ext cx="5303520" cy="201168"/>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750" b="1">
                <a:solidFill>
                  <a:srgbClr val="FFFFFF"/>
                </a:solidFill>
                <a:latin typeface="맑은 고딕"/>
                <a:ea typeface="맑은 고딕"/>
                <a:cs typeface="맑은 고딕"/>
              </a:rPr>
              <a:t>Common Memory Backend Interface  (공통 하부 계층)</a:t>
            </a:r>
          </a:p>
        </p:txBody>
      </p:sp>
      <p:cxnSp>
        <p:nvCxnSpPr>
          <p:cNvPr id="83" name="Connector 82"/>
          <p:cNvCxnSpPr/>
          <p:nvPr/>
        </p:nvCxnSpPr>
        <p:spPr>
          <a:xfrm>
            <a:off x="8814816" y="4352544"/>
            <a:ext cx="0" cy="64008"/>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1759184" y="2350008"/>
            <a:ext cx="0" cy="1746504"/>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1009376" y="3730752"/>
            <a:ext cx="0" cy="36576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1179576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4</a:t>
            </a:r>
          </a:p>
        </p:txBody>
      </p:sp>
      <p:sp>
        <p:nvSpPr>
          <p:cNvPr id="87" name="Rectangle 86"/>
          <p:cNvSpPr/>
          <p:nvPr/>
        </p:nvSpPr>
        <p:spPr>
          <a:xfrm>
            <a:off x="6483096" y="1042415"/>
            <a:ext cx="5504688" cy="516636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384048" y="6254496"/>
            <a:ext cx="11430000" cy="310896"/>
          </a:xfrm>
          <a:prstGeom prst="rect">
            <a:avLst/>
          </a:prstGeom>
          <a:noFill/>
        </p:spPr>
        <p:txBody>
          <a:bodyPr wrap="square" lIns="45720" tIns="27432" rIns="45720" bIns="27432" anchor="t">
            <a:spAutoFit/>
          </a:bodyPr>
          <a:lstStyle/>
          <a:p>
            <a:pPr algn="l">
              <a:spcAft>
                <a:spcPts val="0"/>
              </a:spcAft>
            </a:pPr>
            <a:r>
              <a:rPr sz="750" b="0">
                <a:solidFill>
                  <a:srgbClr val="595959"/>
                </a:solidFill>
                <a:latin typeface="맑은 고딕"/>
                <a:ea typeface="맑은 고딕"/>
                <a:cs typeface="맑은 고딕"/>
              </a:rPr>
              <a:t>① 평가 cycle 시작  ② Feature snapshot 조회  ③ 판단  ④ MigrationIntent 발행  ⑤ commit 결과 갱신  ⑥ 이동 실행  ⑦ Lease 부여·갱신(Metadata 기록)  ⑧ Lease Expired event(Resource Manager → Scheduler, 비동기)</a:t>
            </a:r>
          </a:p>
          <a:p>
            <a:pPr algn="l">
              <a:spcAft>
                <a:spcPts val="0"/>
              </a:spcAft>
            </a:pPr>
            <a:r>
              <a:rPr sz="750" b="0">
                <a:solidFill>
                  <a:srgbClr val="595959"/>
                </a:solidFill>
                <a:latin typeface="맑은 고딕"/>
                <a:ea typeface="맑은 고딕"/>
                <a:cs typeface="맑은 고딕"/>
              </a:rPr>
              <a:t>주황 = HBM 점유 제어(Lease) 보완 · 파랑 = workload Adapter 보완 · 노랑 = 후보 특화 · 점선 = 비동기/조회/기록 | 배치는 [제안]: Lease Timer는 상태 소유 측, Granter는 판단 측 | 별점은 구조 변경 후 재평가</a:t>
            </a:r>
          </a:p>
        </p:txBody>
      </p:sp>
      <p:sp>
        <p:nvSpPr>
          <p:cNvPr id="89" name="TextBox 88"/>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4</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DP1. Data Migration 결정 구조 - 배경</a:t>
            </a:r>
          </a:p>
        </p:txBody>
      </p:sp>
      <p:sp>
        <p:nvSpPr>
          <p:cNvPr id="3" name="Chevron 2"/>
          <p:cNvSpPr/>
          <p:nvPr/>
        </p:nvSpPr>
        <p:spPr>
          <a:xfrm>
            <a:off x="752276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6616" y="667512"/>
            <a:ext cx="11612880" cy="1280160"/>
          </a:xfrm>
          <a:prstGeom prst="rect">
            <a:avLst/>
          </a:prstGeom>
          <a:noFill/>
        </p:spPr>
        <p:txBody>
          <a:bodyPr wrap="square" lIns="45720" tIns="27432" rIns="45720" bIns="27432" anchor="t">
            <a:spAutoFit/>
          </a:bodyPr>
          <a:lstStyle/>
          <a:p>
            <a:pPr algn="l">
              <a:spcAft>
                <a:spcPts val="600"/>
              </a:spcAft>
            </a:pPr>
            <a:r>
              <a:rPr sz="1200" b="0">
                <a:solidFill>
                  <a:srgbClr val="404040"/>
                </a:solidFill>
                <a:latin typeface="맑은 고딕"/>
                <a:ea typeface="맑은 고딕"/>
                <a:cs typeface="맑은 고딕"/>
              </a:rPr>
              <a:t>-  Agent의 Multi-turn 및 병렬 작업으로 Context와 동시 요청이 증가하여 KV 캐시 등 </a:t>
            </a:r>
            <a:r>
              <a:rPr sz="1200" b="1">
                <a:solidFill>
                  <a:srgbClr val="FF0000"/>
                </a:solidFill>
                <a:latin typeface="맑은 고딕"/>
                <a:ea typeface="맑은 고딕"/>
                <a:cs typeface="맑은 고딕"/>
              </a:rPr>
              <a:t>데이터의 메모리 요구량 급증</a:t>
            </a:r>
          </a:p>
          <a:p>
            <a:pPr algn="l">
              <a:spcAft>
                <a:spcPts val="600"/>
              </a:spcAft>
            </a:pPr>
            <a:r>
              <a:rPr sz="1200" b="0">
                <a:solidFill>
                  <a:srgbClr val="404040"/>
                </a:solidFill>
                <a:latin typeface="맑은 고딕"/>
                <a:ea typeface="맑은 고딕"/>
                <a:cs typeface="맑은 고딕"/>
              </a:rPr>
              <a:t>-  Tool 실행·응답 대기 중인 데이터가 HBM에 상주하면서 </a:t>
            </a:r>
            <a:r>
              <a:rPr sz="1200" b="1">
                <a:solidFill>
                  <a:srgbClr val="FF0000"/>
                </a:solidFill>
                <a:latin typeface="맑은 고딕"/>
                <a:ea typeface="맑은 고딕"/>
                <a:cs typeface="맑은 고딕"/>
              </a:rPr>
              <a:t>실제 연산에 활용되지 않는 HBM 점유량 증가</a:t>
            </a:r>
          </a:p>
          <a:p>
            <a:pPr algn="l">
              <a:spcAft>
                <a:spcPts val="600"/>
              </a:spcAft>
            </a:pPr>
            <a:r>
              <a:rPr sz="1200" b="0">
                <a:solidFill>
                  <a:srgbClr val="404040"/>
                </a:solidFill>
                <a:latin typeface="맑은 고딕"/>
                <a:ea typeface="맑은 고딕"/>
                <a:cs typeface="맑은 고딕"/>
              </a:rPr>
              <a:t>-  </a:t>
            </a:r>
            <a:r>
              <a:rPr sz="1200" b="1">
                <a:solidFill>
                  <a:srgbClr val="404040"/>
                </a:solidFill>
                <a:latin typeface="맑은 고딕"/>
                <a:ea typeface="맑은 고딕"/>
                <a:cs typeface="맑은 고딕"/>
              </a:rPr>
              <a:t>데이터의 접근 빈도·재사용 특성</a:t>
            </a:r>
            <a:r>
              <a:rPr sz="1200" b="0">
                <a:solidFill>
                  <a:srgbClr val="404040"/>
                </a:solidFill>
                <a:latin typeface="맑은 고딕"/>
                <a:ea typeface="맑은 고딕"/>
                <a:cs typeface="맑은 고딕"/>
              </a:rPr>
              <a:t>과 </a:t>
            </a:r>
            <a:r>
              <a:rPr sz="1200" b="1">
                <a:solidFill>
                  <a:srgbClr val="404040"/>
                </a:solidFill>
                <a:latin typeface="맑은 고딕"/>
                <a:ea typeface="맑은 고딕"/>
                <a:cs typeface="맑은 고딕"/>
              </a:rPr>
              <a:t>Memory Tier별 용량·대역폭·지연시간</a:t>
            </a:r>
            <a:r>
              <a:rPr sz="1200" b="0">
                <a:solidFill>
                  <a:srgbClr val="404040"/>
                </a:solidFill>
                <a:latin typeface="맑은 고딕"/>
                <a:ea typeface="맑은 고딕"/>
                <a:cs typeface="맑은 고딕"/>
              </a:rPr>
              <a:t>을 고려하여, 적절한 Tier로 </a:t>
            </a:r>
            <a:r>
              <a:rPr sz="1200" b="1">
                <a:solidFill>
                  <a:srgbClr val="0066FF"/>
                </a:solidFill>
                <a:latin typeface="맑은 고딕"/>
                <a:ea typeface="맑은 고딕"/>
                <a:cs typeface="맑은 고딕"/>
              </a:rPr>
              <a:t>데이터를 동적으로 이동시키는 Migration 결정 구조 필요</a:t>
            </a:r>
          </a:p>
        </p:txBody>
      </p:sp>
      <p:sp>
        <p:nvSpPr>
          <p:cNvPr id="11" name="Rectangle 10"/>
          <p:cNvSpPr/>
          <p:nvPr/>
        </p:nvSpPr>
        <p:spPr>
          <a:xfrm>
            <a:off x="201168" y="2185416"/>
            <a:ext cx="5632704" cy="2980944"/>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77240" y="2029968"/>
            <a:ext cx="448056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이기종 메모리 환경의 데이터 Migration</a:t>
            </a:r>
          </a:p>
        </p:txBody>
      </p:sp>
      <p:sp>
        <p:nvSpPr>
          <p:cNvPr id="13" name="Rectangle 12"/>
          <p:cNvSpPr/>
          <p:nvPr/>
        </p:nvSpPr>
        <p:spPr>
          <a:xfrm>
            <a:off x="548640" y="2834640"/>
            <a:ext cx="4937760" cy="1645920"/>
          </a:xfrm>
          <a:prstGeom prst="rect">
            <a:avLst/>
          </a:prstGeom>
          <a:solidFill>
            <a:srgbClr val="F2F2F2"/>
          </a:solidFill>
          <a:ln w="1016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0">
                <a:solidFill>
                  <a:srgbClr val="7F7F7F"/>
                </a:solidFill>
                <a:latin typeface="맑은 고딕"/>
                <a:ea typeface="맑은 고딕"/>
                <a:cs typeface="맑은 고딕"/>
              </a:rPr>
              <a:t>[기존 &lt;데이터 배치 시나리오&gt; 그림 유지]</a:t>
            </a:r>
          </a:p>
        </p:txBody>
      </p:sp>
      <p:sp>
        <p:nvSpPr>
          <p:cNvPr id="14" name="Rectangle 13"/>
          <p:cNvSpPr/>
          <p:nvPr/>
        </p:nvSpPr>
        <p:spPr>
          <a:xfrm>
            <a:off x="6263640" y="2185416"/>
            <a:ext cx="5705856" cy="2980944"/>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720840" y="2029968"/>
            <a:ext cx="4754880" cy="310896"/>
          </a:xfrm>
          <a:prstGeom prst="round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a:solidFill>
                  <a:srgbClr val="000000"/>
                </a:solidFill>
                <a:latin typeface="맑은 고딕"/>
                <a:ea typeface="맑은 고딕"/>
                <a:cs typeface="맑은 고딕"/>
              </a:rPr>
              <a:t>메모리 자원 및 데이터 특성 기반 데이터 이동·배치</a:t>
            </a:r>
          </a:p>
        </p:txBody>
      </p:sp>
      <p:sp>
        <p:nvSpPr>
          <p:cNvPr id="16" name="Rectangle 15"/>
          <p:cNvSpPr/>
          <p:nvPr/>
        </p:nvSpPr>
        <p:spPr>
          <a:xfrm>
            <a:off x="6400800" y="2459736"/>
            <a:ext cx="5431536" cy="96012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0" y="2459736"/>
            <a:ext cx="5431536"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FFFFFF"/>
                </a:solidFill>
                <a:latin typeface="맑은 고딕"/>
                <a:ea typeface="맑은 고딕"/>
                <a:cs typeface="맑은 고딕"/>
              </a:rPr>
              <a:t>Control Plane   </a:t>
            </a:r>
            <a:r>
              <a:rPr sz="900" b="1" dirty="0" err="1">
                <a:solidFill>
                  <a:srgbClr val="FFFFFF"/>
                </a:solidFill>
                <a:latin typeface="맑은 고딕"/>
                <a:ea typeface="맑은 고딕"/>
                <a:cs typeface="맑은 고딕"/>
              </a:rPr>
              <a:t>결정</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흐름</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언제·무엇을·어디로</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이동할지</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판단</a:t>
            </a:r>
            <a:endParaRPr sz="900" b="1" dirty="0">
              <a:solidFill>
                <a:srgbClr val="FFFFFF"/>
              </a:solidFill>
              <a:latin typeface="맑은 고딕"/>
              <a:ea typeface="맑은 고딕"/>
              <a:cs typeface="맑은 고딕"/>
            </a:endParaRPr>
          </a:p>
        </p:txBody>
      </p:sp>
      <p:sp>
        <p:nvSpPr>
          <p:cNvPr id="18" name="Rectangle 17"/>
          <p:cNvSpPr/>
          <p:nvPr/>
        </p:nvSpPr>
        <p:spPr>
          <a:xfrm>
            <a:off x="6492240" y="2734056"/>
            <a:ext cx="2606040" cy="5943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900" b="1">
                <a:solidFill>
                  <a:srgbClr val="000000"/>
                </a:solidFill>
                <a:latin typeface="맑은 고딕"/>
                <a:ea typeface="맑은 고딕"/>
                <a:cs typeface="맑은 고딕"/>
              </a:rPr>
              <a:t>Migration Scheduler</a:t>
            </a:r>
          </a:p>
          <a:p>
            <a:pPr algn="ctr">
              <a:spcAft>
                <a:spcPts val="100"/>
              </a:spcAft>
            </a:pPr>
            <a:r>
              <a:rPr sz="750" b="0">
                <a:solidFill>
                  <a:srgbClr val="404040"/>
                </a:solidFill>
                <a:latin typeface="맑은 고딕"/>
                <a:ea typeface="맑은 고딕"/>
                <a:cs typeface="맑은 고딕"/>
              </a:rPr>
              <a:t>평가 시점을 구동 (event 기반, 비동기)</a:t>
            </a:r>
          </a:p>
        </p:txBody>
      </p:sp>
      <p:sp>
        <p:nvSpPr>
          <p:cNvPr id="19" name="Rectangle 18"/>
          <p:cNvSpPr/>
          <p:nvPr/>
        </p:nvSpPr>
        <p:spPr>
          <a:xfrm>
            <a:off x="9189720" y="2734056"/>
            <a:ext cx="2560320" cy="5943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900" b="1">
                <a:solidFill>
                  <a:srgbClr val="000000"/>
                </a:solidFill>
                <a:latin typeface="맑은 고딕"/>
                <a:ea typeface="맑은 고딕"/>
                <a:cs typeface="맑은 고딕"/>
              </a:rPr>
              <a:t>Migration Policy Engine</a:t>
            </a:r>
          </a:p>
          <a:p>
            <a:pPr algn="ctr">
              <a:spcAft>
                <a:spcPts val="100"/>
              </a:spcAft>
            </a:pPr>
            <a:r>
              <a:rPr sz="750" b="0">
                <a:solidFill>
                  <a:srgbClr val="404040"/>
                </a:solidFill>
                <a:latin typeface="맑은 고딕"/>
                <a:ea typeface="맑은 고딕"/>
                <a:cs typeface="맑은 고딕"/>
              </a:rPr>
              <a:t>이동 대상·목적지 결정 → MigrationIntent 발행</a:t>
            </a:r>
          </a:p>
        </p:txBody>
      </p:sp>
      <p:sp>
        <p:nvSpPr>
          <p:cNvPr id="20" name="Rectangle 19"/>
          <p:cNvSpPr/>
          <p:nvPr/>
        </p:nvSpPr>
        <p:spPr>
          <a:xfrm>
            <a:off x="6400800" y="3694176"/>
            <a:ext cx="2651760" cy="1188720"/>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3694176"/>
            <a:ext cx="265176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Resource Plane   상태 흐름</a:t>
            </a:r>
          </a:p>
        </p:txBody>
      </p:sp>
      <p:sp>
        <p:nvSpPr>
          <p:cNvPr id="22" name="Rectangle 21"/>
          <p:cNvSpPr/>
          <p:nvPr/>
        </p:nvSpPr>
        <p:spPr>
          <a:xfrm>
            <a:off x="6492240" y="3950208"/>
            <a:ext cx="2468880" cy="42062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900" b="1">
                <a:solidFill>
                  <a:srgbClr val="000000"/>
                </a:solidFill>
                <a:latin typeface="맑은 고딕"/>
                <a:ea typeface="맑은 고딕"/>
                <a:cs typeface="맑은 고딕"/>
              </a:rPr>
              <a:t>Telemetry Collector</a:t>
            </a:r>
          </a:p>
          <a:p>
            <a:pPr algn="ctr">
              <a:spcAft>
                <a:spcPts val="100"/>
              </a:spcAft>
            </a:pPr>
            <a:r>
              <a:rPr sz="750" b="0">
                <a:solidFill>
                  <a:srgbClr val="404040"/>
                </a:solidFill>
                <a:latin typeface="맑은 고딕"/>
                <a:ea typeface="맑은 고딕"/>
                <a:cs typeface="맑은 고딕"/>
              </a:rPr>
              <a:t>tier별 용량·대역폭·부하 상시 수집</a:t>
            </a:r>
          </a:p>
        </p:txBody>
      </p:sp>
      <p:sp>
        <p:nvSpPr>
          <p:cNvPr id="23" name="Rectangle 22"/>
          <p:cNvSpPr/>
          <p:nvPr/>
        </p:nvSpPr>
        <p:spPr>
          <a:xfrm>
            <a:off x="6492240" y="4407408"/>
            <a:ext cx="2468880" cy="42062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900" b="1">
                <a:solidFill>
                  <a:srgbClr val="000000"/>
                </a:solidFill>
                <a:latin typeface="맑은 고딕"/>
                <a:ea typeface="맑은 고딕"/>
                <a:cs typeface="맑은 고딕"/>
              </a:rPr>
              <a:t>Memory Registry</a:t>
            </a:r>
          </a:p>
          <a:p>
            <a:pPr algn="ctr">
              <a:spcAft>
                <a:spcPts val="100"/>
              </a:spcAft>
            </a:pPr>
            <a:r>
              <a:rPr sz="750" b="0">
                <a:solidFill>
                  <a:srgbClr val="404040"/>
                </a:solidFill>
                <a:latin typeface="맑은 고딕"/>
                <a:ea typeface="맑은 고딕"/>
                <a:cs typeface="맑은 고딕"/>
              </a:rPr>
              <a:t>tier별 capability 정보 보관</a:t>
            </a:r>
          </a:p>
        </p:txBody>
      </p:sp>
      <p:sp>
        <p:nvSpPr>
          <p:cNvPr id="24" name="Rectangle 23"/>
          <p:cNvSpPr/>
          <p:nvPr/>
        </p:nvSpPr>
        <p:spPr>
          <a:xfrm>
            <a:off x="9180576" y="3694176"/>
            <a:ext cx="2651760" cy="1188720"/>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80576" y="3694176"/>
            <a:ext cx="265176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Data Plane   이동 흐름</a:t>
            </a:r>
          </a:p>
        </p:txBody>
      </p:sp>
      <p:sp>
        <p:nvSpPr>
          <p:cNvPr id="26" name="Rectangle 25"/>
          <p:cNvSpPr/>
          <p:nvPr/>
        </p:nvSpPr>
        <p:spPr>
          <a:xfrm>
            <a:off x="9272016" y="3950208"/>
            <a:ext cx="2468880" cy="42062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900" b="1">
                <a:solidFill>
                  <a:srgbClr val="000000"/>
                </a:solidFill>
                <a:latin typeface="맑은 고딕"/>
                <a:ea typeface="맑은 고딕"/>
                <a:cs typeface="맑은 고딕"/>
              </a:rPr>
              <a:t>Migration Executor</a:t>
            </a:r>
          </a:p>
          <a:p>
            <a:pPr algn="ctr">
              <a:spcAft>
                <a:spcPts val="100"/>
              </a:spcAft>
            </a:pPr>
            <a:r>
              <a:rPr sz="750" b="0">
                <a:solidFill>
                  <a:srgbClr val="404040"/>
                </a:solidFill>
                <a:latin typeface="맑은 고딕"/>
                <a:ea typeface="맑은 고딕"/>
                <a:cs typeface="맑은 고딕"/>
              </a:rPr>
              <a:t>Intent를 받아 이동 수행·조율</a:t>
            </a:r>
          </a:p>
        </p:txBody>
      </p:sp>
      <p:sp>
        <p:nvSpPr>
          <p:cNvPr id="27" name="Rectangle 26"/>
          <p:cNvSpPr/>
          <p:nvPr/>
        </p:nvSpPr>
        <p:spPr>
          <a:xfrm>
            <a:off x="9272016" y="4407408"/>
            <a:ext cx="2468880" cy="42062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27432" rIns="36576" bIns="27432" rtlCol="0" anchor="ctr"/>
          <a:lstStyle/>
          <a:p>
            <a:pPr algn="ctr">
              <a:spcAft>
                <a:spcPts val="100"/>
              </a:spcAft>
            </a:pPr>
            <a:r>
              <a:rPr sz="900" b="1">
                <a:solidFill>
                  <a:srgbClr val="000000"/>
                </a:solidFill>
                <a:latin typeface="맑은 고딕"/>
                <a:ea typeface="맑은 고딕"/>
                <a:cs typeface="맑은 고딕"/>
              </a:rPr>
              <a:t>Transfer Handler</a:t>
            </a:r>
          </a:p>
          <a:p>
            <a:pPr algn="ctr">
              <a:spcAft>
                <a:spcPts val="100"/>
              </a:spcAft>
            </a:pPr>
            <a:r>
              <a:rPr sz="750" b="0">
                <a:solidFill>
                  <a:srgbClr val="404040"/>
                </a:solidFill>
                <a:latin typeface="맑은 고딕"/>
                <a:ea typeface="맑은 고딕"/>
                <a:cs typeface="맑은 고딕"/>
              </a:rPr>
              <a:t>tier 간 실제 복사 (Background DMA)</a:t>
            </a:r>
          </a:p>
        </p:txBody>
      </p:sp>
      <p:sp>
        <p:nvSpPr>
          <p:cNvPr id="28" name="Rectangle 27"/>
          <p:cNvSpPr/>
          <p:nvPr/>
        </p:nvSpPr>
        <p:spPr>
          <a:xfrm>
            <a:off x="6400800" y="4928616"/>
            <a:ext cx="5431536" cy="201168"/>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00" b="1">
                <a:solidFill>
                  <a:srgbClr val="FFFFFF"/>
                </a:solidFill>
                <a:latin typeface="맑은 고딕"/>
                <a:ea typeface="맑은 고딕"/>
                <a:cs typeface="맑은 고딕"/>
              </a:rPr>
              <a:t>Common Memory Backend Interface  ·  신규 메모리는 Plug-in으로 편입</a:t>
            </a:r>
          </a:p>
        </p:txBody>
      </p:sp>
      <p:cxnSp>
        <p:nvCxnSpPr>
          <p:cNvPr id="29" name="Connector 28"/>
          <p:cNvCxnSpPr/>
          <p:nvPr/>
        </p:nvCxnSpPr>
        <p:spPr>
          <a:xfrm flipV="1">
            <a:off x="7635240" y="3419856"/>
            <a:ext cx="0" cy="274320"/>
          </a:xfrm>
          <a:prstGeom prst="line">
            <a:avLst/>
          </a:prstGeom>
          <a:ln w="1524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680960" y="3429000"/>
            <a:ext cx="1463040" cy="237744"/>
          </a:xfrm>
          <a:prstGeom prst="rect">
            <a:avLst/>
          </a:prstGeom>
          <a:noFill/>
        </p:spPr>
        <p:txBody>
          <a:bodyPr wrap="square" lIns="45720" tIns="27432" rIns="45720" bIns="27432" anchor="t">
            <a:spAutoFit/>
          </a:bodyPr>
          <a:lstStyle/>
          <a:p>
            <a:pPr algn="l">
              <a:spcAft>
                <a:spcPts val="200"/>
              </a:spcAft>
            </a:pPr>
            <a:r>
              <a:rPr sz="750" b="0">
                <a:solidFill>
                  <a:srgbClr val="595959"/>
                </a:solidFill>
                <a:latin typeface="맑은 고딕"/>
                <a:ea typeface="맑은 고딕"/>
                <a:cs typeface="맑은 고딕"/>
              </a:rPr>
              <a:t>상태 조회 · event</a:t>
            </a:r>
          </a:p>
        </p:txBody>
      </p:sp>
      <p:cxnSp>
        <p:nvCxnSpPr>
          <p:cNvPr id="31" name="Connector 30"/>
          <p:cNvCxnSpPr/>
          <p:nvPr/>
        </p:nvCxnSpPr>
        <p:spPr>
          <a:xfrm>
            <a:off x="10469880" y="3419856"/>
            <a:ext cx="0" cy="27432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515600" y="3429000"/>
            <a:ext cx="1280160" cy="237744"/>
          </a:xfrm>
          <a:prstGeom prst="rect">
            <a:avLst/>
          </a:prstGeom>
          <a:noFill/>
        </p:spPr>
        <p:txBody>
          <a:bodyPr wrap="square" lIns="45720" tIns="27432" rIns="45720" bIns="27432" anchor="t">
            <a:spAutoFit/>
          </a:bodyPr>
          <a:lstStyle/>
          <a:p>
            <a:pPr algn="l">
              <a:spcAft>
                <a:spcPts val="200"/>
              </a:spcAft>
            </a:pPr>
            <a:r>
              <a:rPr sz="750" b="1">
                <a:solidFill>
                  <a:srgbClr val="C55A11"/>
                </a:solidFill>
                <a:latin typeface="맑은 고딕"/>
                <a:ea typeface="맑은 고딕"/>
                <a:cs typeface="맑은 고딕"/>
              </a:rPr>
              <a:t>MigrationIntent</a:t>
            </a:r>
          </a:p>
        </p:txBody>
      </p:sp>
      <p:cxnSp>
        <p:nvCxnSpPr>
          <p:cNvPr id="33" name="Connector 32"/>
          <p:cNvCxnSpPr/>
          <p:nvPr/>
        </p:nvCxnSpPr>
        <p:spPr>
          <a:xfrm flipH="1">
            <a:off x="9052559" y="4197096"/>
            <a:ext cx="128017" cy="0"/>
          </a:xfrm>
          <a:prstGeom prst="line">
            <a:avLst/>
          </a:prstGeom>
          <a:ln w="1524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915400" y="4270248"/>
            <a:ext cx="457200" cy="274320"/>
          </a:xfrm>
          <a:prstGeom prst="rect">
            <a:avLst/>
          </a:prstGeom>
          <a:noFill/>
        </p:spPr>
        <p:txBody>
          <a:bodyPr wrap="square" lIns="45720" tIns="27432" rIns="45720" bIns="27432" anchor="t">
            <a:spAutoFit/>
          </a:bodyPr>
          <a:lstStyle/>
          <a:p>
            <a:pPr algn="ctr">
              <a:spcAft>
                <a:spcPts val="200"/>
              </a:spcAft>
            </a:pPr>
            <a:r>
              <a:rPr sz="650" b="0">
                <a:solidFill>
                  <a:srgbClr val="595959"/>
                </a:solidFill>
                <a:latin typeface="맑은 고딕"/>
                <a:ea typeface="맑은 고딕"/>
                <a:cs typeface="맑은 고딕"/>
              </a:rPr>
              <a:t>결과
갱신</a:t>
            </a:r>
          </a:p>
        </p:txBody>
      </p:sp>
      <p:sp>
        <p:nvSpPr>
          <p:cNvPr id="35" name="TextBox 34"/>
          <p:cNvSpPr txBox="1"/>
          <p:nvPr/>
        </p:nvSpPr>
        <p:spPr>
          <a:xfrm>
            <a:off x="6263640" y="5184648"/>
            <a:ext cx="5705856" cy="201168"/>
          </a:xfrm>
          <a:prstGeom prst="rect">
            <a:avLst/>
          </a:prstGeom>
          <a:noFill/>
        </p:spPr>
        <p:txBody>
          <a:bodyPr wrap="square" lIns="45720" tIns="27432" rIns="45720" bIns="27432" anchor="t">
            <a:spAutoFit/>
          </a:bodyPr>
          <a:lstStyle/>
          <a:p>
            <a:pPr algn="r">
              <a:spcAft>
                <a:spcPts val="200"/>
              </a:spcAft>
            </a:pPr>
            <a:r>
              <a:rPr sz="800" b="0">
                <a:solidFill>
                  <a:srgbClr val="7F7F7F"/>
                </a:solidFill>
                <a:latin typeface="맑은 고딕"/>
                <a:ea typeface="맑은 고딕"/>
                <a:cs typeface="맑은 고딕"/>
              </a:rPr>
              <a:t>※ 후보별 특화 모듈(Analyzer, Mapper 등)과 결정 로직의 소속은 다음 장(설계)에서 비교</a:t>
            </a:r>
          </a:p>
        </p:txBody>
      </p:sp>
      <p:sp>
        <p:nvSpPr>
          <p:cNvPr id="36" name="Right Arrow 35"/>
          <p:cNvSpPr/>
          <p:nvPr/>
        </p:nvSpPr>
        <p:spPr>
          <a:xfrm>
            <a:off x="283464" y="5596128"/>
            <a:ext cx="411480" cy="27432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31520" y="5577840"/>
            <a:ext cx="11155680" cy="310896"/>
          </a:xfrm>
          <a:prstGeom prst="rect">
            <a:avLst/>
          </a:prstGeom>
          <a:noFill/>
        </p:spPr>
        <p:txBody>
          <a:bodyPr wrap="square" lIns="45720" tIns="27432" rIns="45720" bIns="27432" anchor="ctr">
            <a:spAutoFit/>
          </a:bodyPr>
          <a:lstStyle/>
          <a:p>
            <a:pPr algn="l">
              <a:spcAft>
                <a:spcPts val="200"/>
              </a:spcAft>
            </a:pPr>
            <a:r>
              <a:rPr sz="1200" b="1">
                <a:solidFill>
                  <a:srgbClr val="0066FF"/>
                </a:solidFill>
                <a:latin typeface="맑은 고딕"/>
                <a:ea typeface="맑은 고딕"/>
                <a:cs typeface="맑은 고딕"/>
              </a:rPr>
              <a:t>System-Level의 메모리 효율적 활용을 위해 AI 응용에 맞는 데이터 스케줄링 필요</a:t>
            </a:r>
          </a:p>
        </p:txBody>
      </p:sp>
      <p:sp>
        <p:nvSpPr>
          <p:cNvPr id="38" name="TextBox 37"/>
          <p:cNvSpPr txBox="1"/>
          <p:nvPr/>
        </p:nvSpPr>
        <p:spPr>
          <a:xfrm>
            <a:off x="384048" y="5907024"/>
            <a:ext cx="11430000" cy="548640"/>
          </a:xfrm>
          <a:prstGeom prst="rect">
            <a:avLst/>
          </a:prstGeom>
          <a:noFill/>
        </p:spPr>
        <p:txBody>
          <a:bodyPr wrap="square" lIns="45720" tIns="27432" rIns="45720" bIns="27432" anchor="t">
            <a:spAutoFit/>
          </a:bodyPr>
          <a:lstStyle/>
          <a:p>
            <a:pPr algn="l">
              <a:spcAft>
                <a:spcPts val="100"/>
              </a:spcAft>
            </a:pPr>
            <a:r>
              <a:rPr sz="1100" b="1">
                <a:solidFill>
                  <a:srgbClr val="000000"/>
                </a:solidFill>
                <a:latin typeface="맑은 고딕"/>
                <a:ea typeface="맑은 고딕"/>
                <a:cs typeface="맑은 고딕"/>
              </a:rPr>
              <a:t>설계 쟁점 1. 메모리 특성, 데이터 특성을 aware한 데이터 Migration을 통해 </a:t>
            </a:r>
            <a:r>
              <a:rPr sz="1100" b="1">
                <a:solidFill>
                  <a:srgbClr val="0066FF"/>
                </a:solidFill>
                <a:latin typeface="맑은 고딕"/>
                <a:ea typeface="맑은 고딕"/>
                <a:cs typeface="맑은 고딕"/>
              </a:rPr>
              <a:t>AI 추론 성능 최적화</a:t>
            </a:r>
          </a:p>
          <a:p>
            <a:pPr algn="l">
              <a:spcAft>
                <a:spcPts val="100"/>
              </a:spcAft>
            </a:pPr>
            <a:r>
              <a:rPr sz="1100" b="1">
                <a:solidFill>
                  <a:srgbClr val="000000"/>
                </a:solidFill>
                <a:latin typeface="맑은 고딕"/>
                <a:ea typeface="맑은 고딕"/>
                <a:cs typeface="맑은 고딕"/>
              </a:rPr>
              <a:t>설계 쟁점 2. 신규 메모리 확장 시 </a:t>
            </a:r>
            <a:r>
              <a:rPr sz="1100" b="1">
                <a:solidFill>
                  <a:srgbClr val="0066FF"/>
                </a:solidFill>
                <a:latin typeface="맑은 고딕"/>
                <a:ea typeface="맑은 고딕"/>
                <a:cs typeface="맑은 고딕"/>
              </a:rPr>
              <a:t>기존 구조 변경을 최소화</a:t>
            </a:r>
          </a:p>
        </p:txBody>
      </p:sp>
      <p:sp>
        <p:nvSpPr>
          <p:cNvPr id="39" name="TextBox 38"/>
          <p:cNvSpPr txBox="1"/>
          <p:nvPr/>
        </p:nvSpPr>
        <p:spPr>
          <a:xfrm>
            <a:off x="5349240" y="6583680"/>
            <a:ext cx="621792" cy="237744"/>
          </a:xfrm>
          <a:prstGeom prst="rect">
            <a:avLst/>
          </a:prstGeom>
          <a:noFill/>
        </p:spPr>
        <p:txBody>
          <a:bodyPr wrap="square" lIns="45720" tIns="27432" rIns="45720" bIns="27432" anchor="t">
            <a:spAutoFit/>
          </a:bodyPr>
          <a:lstStyle/>
          <a:p>
            <a:pPr algn="r">
              <a:spcAft>
                <a:spcPts val="200"/>
              </a:spcAft>
            </a:pPr>
            <a:r>
              <a:rPr sz="1000" b="0">
                <a:solidFill>
                  <a:srgbClr val="7F7F7F"/>
                </a:solidFill>
                <a:latin typeface="맑은 고딕"/>
                <a:ea typeface="맑은 고딕"/>
                <a:cs typeface="맑은 고딕"/>
              </a:rPr>
              <a:t>1</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설계 상세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8194315" cy="307777"/>
          </a:xfrm>
          <a:prstGeom prst="rect">
            <a:avLst/>
          </a:prstGeom>
          <a:noFill/>
        </p:spPr>
        <p:txBody>
          <a:bodyPr wrap="square" rtlCol="0">
            <a:spAutoFit/>
          </a:bodyPr>
          <a:lstStyle/>
          <a:p>
            <a:r>
              <a:rPr lang="en-US" altLang="ko-KR" sz="1400" b="1" dirty="0">
                <a:solidFill>
                  <a:schemeClr val="bg1"/>
                </a:solidFill>
              </a:rPr>
              <a:t>KV </a:t>
            </a:r>
            <a:r>
              <a:rPr lang="ko-KR" altLang="en-US" sz="1400" b="1" dirty="0" err="1">
                <a:solidFill>
                  <a:schemeClr val="bg1"/>
                </a:solidFill>
              </a:rPr>
              <a:t>재사용성을</a:t>
            </a:r>
            <a:r>
              <a:rPr lang="ko-KR" altLang="en-US" sz="1400" b="1" dirty="0">
                <a:solidFill>
                  <a:schemeClr val="bg1"/>
                </a:solidFill>
              </a:rPr>
              <a:t> 높이기 위한 재계산 토큰 선정을 어떤 구조로 구성할 것인가</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0" name="그룹 109">
            <a:extLst>
              <a:ext uri="{FF2B5EF4-FFF2-40B4-BE49-F238E27FC236}">
                <a16:creationId xmlns:a16="http://schemas.microsoft.com/office/drawing/2014/main" id="{98B27E46-4C4A-4A08-8D67-DFB471D42072}"/>
              </a:ext>
            </a:extLst>
          </p:cNvPr>
          <p:cNvGrpSpPr/>
          <p:nvPr/>
        </p:nvGrpSpPr>
        <p:grpSpPr>
          <a:xfrm>
            <a:off x="-1671759" y="5590109"/>
            <a:ext cx="679345" cy="1395490"/>
            <a:chOff x="269738" y="3375716"/>
            <a:chExt cx="822008" cy="1048453"/>
          </a:xfrm>
        </p:grpSpPr>
        <p:sp>
          <p:nvSpPr>
            <p:cNvPr id="111" name="KV Cache Manager">
              <a:extLst>
                <a:ext uri="{FF2B5EF4-FFF2-40B4-BE49-F238E27FC236}">
                  <a16:creationId xmlns:a16="http://schemas.microsoft.com/office/drawing/2014/main" id="{32151F4F-F319-476F-93FF-A7FEADC87A9F}"/>
                </a:ext>
              </a:extLst>
            </p:cNvPr>
            <p:cNvSpPr/>
            <p:nvPr/>
          </p:nvSpPr>
          <p:spPr>
            <a:xfrm>
              <a:off x="275753" y="3725250"/>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12" name="KV Cache Manager">
              <a:extLst>
                <a:ext uri="{FF2B5EF4-FFF2-40B4-BE49-F238E27FC236}">
                  <a16:creationId xmlns:a16="http://schemas.microsoft.com/office/drawing/2014/main" id="{202E1770-DDAA-4D88-8A5A-4553B52A930D}"/>
                </a:ext>
              </a:extLst>
            </p:cNvPr>
            <p:cNvSpPr/>
            <p:nvPr/>
          </p:nvSpPr>
          <p:spPr>
            <a:xfrm>
              <a:off x="275753" y="4164647"/>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14" name="직사각형 113">
              <a:extLst>
                <a:ext uri="{FF2B5EF4-FFF2-40B4-BE49-F238E27FC236}">
                  <a16:creationId xmlns:a16="http://schemas.microsoft.com/office/drawing/2014/main" id="{309D8936-536A-4639-B369-105601F5C49D}"/>
                </a:ext>
              </a:extLst>
            </p:cNvPr>
            <p:cNvSpPr/>
            <p:nvPr/>
          </p:nvSpPr>
          <p:spPr>
            <a:xfrm>
              <a:off x="269738" y="3375716"/>
              <a:ext cx="822008" cy="1048453"/>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19" name="KV Cache Manager">
              <a:extLst>
                <a:ext uri="{FF2B5EF4-FFF2-40B4-BE49-F238E27FC236}">
                  <a16:creationId xmlns:a16="http://schemas.microsoft.com/office/drawing/2014/main" id="{3A2DFC8D-E90A-487D-AF61-91464F1EA4A3}"/>
                </a:ext>
              </a:extLst>
            </p:cNvPr>
            <p:cNvSpPr/>
            <p:nvPr/>
          </p:nvSpPr>
          <p:spPr>
            <a:xfrm>
              <a:off x="275753" y="3509836"/>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a:t>
              </a:r>
              <a:endParaRPr lang="en-US" altLang="ko-KR" sz="800" b="1" dirty="0">
                <a:solidFill>
                  <a:schemeClr val="tx1"/>
                </a:solidFill>
              </a:endParaRPr>
            </a:p>
            <a:p>
              <a:pPr algn="ctr"/>
              <a:r>
                <a:rPr lang="ko-KR" altLang="en-US" sz="800" b="1" dirty="0">
                  <a:solidFill>
                    <a:schemeClr val="tx1"/>
                  </a:solidFill>
                </a:rPr>
                <a:t>모듈</a:t>
              </a:r>
              <a:endParaRPr lang="en-US" altLang="ko-KR" sz="800" b="1" dirty="0">
                <a:solidFill>
                  <a:schemeClr val="tx1"/>
                </a:solidFill>
              </a:endParaRPr>
            </a:p>
          </p:txBody>
        </p:sp>
        <p:sp>
          <p:nvSpPr>
            <p:cNvPr id="170" name="KV Cache Manager">
              <a:extLst>
                <a:ext uri="{FF2B5EF4-FFF2-40B4-BE49-F238E27FC236}">
                  <a16:creationId xmlns:a16="http://schemas.microsoft.com/office/drawing/2014/main" id="{E3AA516A-8220-4777-A7D9-7DADED4A1F01}"/>
                </a:ext>
              </a:extLst>
            </p:cNvPr>
            <p:cNvSpPr/>
            <p:nvPr/>
          </p:nvSpPr>
          <p:spPr>
            <a:xfrm>
              <a:off x="275753" y="3942746"/>
              <a:ext cx="784423" cy="194036"/>
            </a:xfrm>
            <a:prstGeom prst="roundRect">
              <a:avLst>
                <a:gd name="adj" fmla="val 46172"/>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데이터 </a:t>
              </a:r>
              <a:endParaRPr lang="en-US" altLang="ko-KR" sz="800" b="1" dirty="0">
                <a:solidFill>
                  <a:schemeClr val="tx1"/>
                </a:solidFill>
              </a:endParaRPr>
            </a:p>
            <a:p>
              <a:pPr algn="ctr"/>
              <a:r>
                <a:rPr lang="ko-KR" altLang="en-US" sz="800" b="1" dirty="0">
                  <a:solidFill>
                    <a:schemeClr val="tx1"/>
                  </a:solidFill>
                </a:rPr>
                <a:t>객체</a:t>
              </a:r>
              <a:endParaRPr lang="en-US" altLang="ko-KR" sz="800" b="1" dirty="0">
                <a:solidFill>
                  <a:schemeClr val="tx1"/>
                </a:solidFill>
              </a:endParaRPr>
            </a:p>
          </p:txBody>
        </p:sp>
      </p:grpSp>
      <p:sp>
        <p:nvSpPr>
          <p:cNvPr id="134" name="Rectangle 20"/>
          <p:cNvSpPr/>
          <p:nvPr/>
        </p:nvSpPr>
        <p:spPr>
          <a:xfrm>
            <a:off x="246888" y="1325880"/>
            <a:ext cx="914400" cy="1691640"/>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dirty="0">
                <a:solidFill>
                  <a:srgbClr val="FFFFFF"/>
                </a:solidFill>
                <a:latin typeface="맑은 고딕"/>
                <a:ea typeface="맑은 고딕"/>
                <a:cs typeface="맑은 고딕"/>
              </a:rPr>
              <a:t>1안</a:t>
            </a:r>
          </a:p>
          <a:p>
            <a:pPr algn="ctr">
              <a:spcAft>
                <a:spcPts val="200"/>
              </a:spcAft>
            </a:pPr>
            <a:r>
              <a:rPr sz="800" b="1" dirty="0">
                <a:solidFill>
                  <a:srgbClr val="FFFFFF"/>
                </a:solidFill>
                <a:latin typeface="맑은 고딕"/>
                <a:ea typeface="맑은 고딕"/>
                <a:cs typeface="맑은 고딕"/>
              </a:rPr>
              <a:t>Query Aware</a:t>
            </a:r>
          </a:p>
          <a:p>
            <a:pPr algn="ctr">
              <a:spcAft>
                <a:spcPts val="200"/>
              </a:spcAft>
            </a:pPr>
            <a:r>
              <a:rPr sz="800" b="1" dirty="0">
                <a:solidFill>
                  <a:srgbClr val="FFFFFF"/>
                </a:solidFill>
                <a:latin typeface="맑은 고딕"/>
                <a:ea typeface="맑은 고딕"/>
                <a:cs typeface="맑은 고딕"/>
              </a:rPr>
              <a:t>(Online)</a:t>
            </a:r>
          </a:p>
          <a:p>
            <a:pPr algn="ctr">
              <a:spcAft>
                <a:spcPts val="200"/>
              </a:spcAft>
            </a:pPr>
            <a:r>
              <a:rPr sz="800" b="1" dirty="0">
                <a:solidFill>
                  <a:srgbClr val="FFFF00"/>
                </a:solidFill>
                <a:latin typeface="맑은 고딕"/>
                <a:ea typeface="맑은 고딕"/>
                <a:cs typeface="맑은 고딕"/>
              </a:rPr>
              <a:t>Pipe-and-Filter</a:t>
            </a:r>
            <a:r>
              <a:rPr lang="en-US" sz="800" b="1" dirty="0">
                <a:solidFill>
                  <a:srgbClr val="FFFF00"/>
                </a:solidFill>
                <a:latin typeface="맑은 고딕"/>
                <a:ea typeface="맑은 고딕"/>
                <a:cs typeface="맑은 고딕"/>
              </a:rPr>
              <a:t> </a:t>
            </a:r>
            <a:endParaRPr sz="800" b="1" dirty="0">
              <a:solidFill>
                <a:srgbClr val="FFFF00"/>
              </a:solidFill>
              <a:latin typeface="맑은 고딕"/>
              <a:ea typeface="맑은 고딕"/>
              <a:cs typeface="맑은 고딕"/>
            </a:endParaRPr>
          </a:p>
        </p:txBody>
      </p:sp>
      <p:sp>
        <p:nvSpPr>
          <p:cNvPr id="135" name="Rectangle 21"/>
          <p:cNvSpPr/>
          <p:nvPr/>
        </p:nvSpPr>
        <p:spPr>
          <a:xfrm>
            <a:off x="1234440" y="1325880"/>
            <a:ext cx="10104120" cy="1097280"/>
          </a:xfrm>
          <a:prstGeom prst="rect">
            <a:avLst/>
          </a:prstGeom>
          <a:solidFill>
            <a:srgbClr val="EEF5FB"/>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1280160" y="1335024"/>
            <a:ext cx="7315200" cy="201168"/>
          </a:xfrm>
          <a:prstGeom prst="rect">
            <a:avLst/>
          </a:prstGeom>
          <a:noFill/>
        </p:spPr>
        <p:txBody>
          <a:bodyPr wrap="square" lIns="45720" tIns="27432" rIns="45720" bIns="27432" anchor="t">
            <a:spAutoFit/>
          </a:bodyPr>
          <a:lstStyle/>
          <a:p>
            <a:pPr algn="l">
              <a:spcAft>
                <a:spcPts val="200"/>
              </a:spcAft>
            </a:pPr>
            <a:r>
              <a:rPr sz="800" b="1">
                <a:solidFill>
                  <a:srgbClr val="2E75B6"/>
                </a:solidFill>
                <a:latin typeface="맑은 고딕"/>
                <a:ea typeface="맑은 고딕"/>
                <a:cs typeface="맑은 고딕"/>
              </a:rPr>
              <a:t>서빙 경로 (요청마다 실행, 동기) — Pipe : 요청 범위에서만 존재</a:t>
            </a:r>
          </a:p>
        </p:txBody>
      </p:sp>
      <p:sp>
        <p:nvSpPr>
          <p:cNvPr id="140" name="Rectangle 23"/>
          <p:cNvSpPr/>
          <p:nvPr/>
        </p:nvSpPr>
        <p:spPr>
          <a:xfrm>
            <a:off x="1325880" y="169164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User Query Manager</a:t>
            </a:r>
          </a:p>
          <a:p>
            <a:pPr algn="ctr">
              <a:spcAft>
                <a:spcPts val="0"/>
              </a:spcAft>
            </a:pPr>
            <a:r>
              <a:rPr sz="700" b="1">
                <a:solidFill>
                  <a:srgbClr val="000000"/>
                </a:solidFill>
                <a:latin typeface="맑은 고딕"/>
                <a:ea typeface="맑은 고딕"/>
                <a:cs typeface="맑은 고딕"/>
              </a:rPr>
              <a:t>실제 Query</a:t>
            </a:r>
          </a:p>
        </p:txBody>
      </p:sp>
      <p:sp>
        <p:nvSpPr>
          <p:cNvPr id="141" name="Rectangle 24"/>
          <p:cNvSpPr/>
          <p:nvPr/>
        </p:nvSpPr>
        <p:spPr>
          <a:xfrm>
            <a:off x="3063239" y="169164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Attention Manager</a:t>
            </a:r>
          </a:p>
          <a:p>
            <a:pPr algn="ctr">
              <a:spcAft>
                <a:spcPts val="0"/>
              </a:spcAft>
            </a:pPr>
            <a:r>
              <a:rPr sz="700" b="1" dirty="0">
                <a:solidFill>
                  <a:srgbClr val="000000"/>
                </a:solidFill>
                <a:latin typeface="맑은 고딕"/>
                <a:ea typeface="맑은 고딕"/>
                <a:cs typeface="맑은 고딕"/>
              </a:rPr>
              <a:t>Query × KV Attention</a:t>
            </a:r>
          </a:p>
        </p:txBody>
      </p:sp>
      <p:sp>
        <p:nvSpPr>
          <p:cNvPr id="142" name="Rectangle 25"/>
          <p:cNvSpPr/>
          <p:nvPr/>
        </p:nvSpPr>
        <p:spPr>
          <a:xfrm>
            <a:off x="4800600" y="169164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KV Sampler</a:t>
            </a:r>
          </a:p>
          <a:p>
            <a:pPr algn="ctr">
              <a:spcAft>
                <a:spcPts val="0"/>
              </a:spcAft>
            </a:pPr>
            <a:r>
              <a:rPr sz="700" b="1">
                <a:solidFill>
                  <a:srgbClr val="000000"/>
                </a:solidFill>
                <a:latin typeface="맑은 고딕"/>
                <a:ea typeface="맑은 고딕"/>
                <a:cs typeface="맑은 고딕"/>
              </a:rPr>
              <a:t>점수로 토큰 선정</a:t>
            </a:r>
          </a:p>
        </p:txBody>
      </p:sp>
      <p:sp>
        <p:nvSpPr>
          <p:cNvPr id="143" name="Rectangle 26"/>
          <p:cNvSpPr/>
          <p:nvPr/>
        </p:nvSpPr>
        <p:spPr>
          <a:xfrm>
            <a:off x="6537959" y="169164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err="1">
                <a:solidFill>
                  <a:srgbClr val="000000"/>
                </a:solidFill>
                <a:latin typeface="맑은 고딕"/>
                <a:ea typeface="맑은 고딕"/>
                <a:cs typeface="맑은 고딕"/>
              </a:rPr>
              <a:t>Recompute</a:t>
            </a:r>
            <a:r>
              <a:rPr lang="en-US" sz="850" b="1" dirty="0">
                <a:solidFill>
                  <a:srgbClr val="000000"/>
                </a:solidFill>
                <a:latin typeface="맑은 고딕"/>
                <a:ea typeface="맑은 고딕"/>
                <a:cs typeface="맑은 고딕"/>
              </a:rPr>
              <a:t>-</a:t>
            </a:r>
          </a:p>
          <a:p>
            <a:pPr algn="ctr">
              <a:spcAft>
                <a:spcPts val="0"/>
              </a:spcAft>
            </a:pPr>
            <a:r>
              <a:rPr sz="850" b="1" dirty="0">
                <a:solidFill>
                  <a:srgbClr val="000000"/>
                </a:solidFill>
                <a:latin typeface="맑은 고딕"/>
                <a:ea typeface="맑은 고딕"/>
                <a:cs typeface="맑은 고딕"/>
              </a:rPr>
              <a:t>Token Selector</a:t>
            </a:r>
          </a:p>
          <a:p>
            <a:pPr algn="ctr">
              <a:spcAft>
                <a:spcPts val="0"/>
              </a:spcAft>
            </a:pPr>
            <a:r>
              <a:rPr sz="700" b="1" dirty="0" err="1">
                <a:solidFill>
                  <a:srgbClr val="000000"/>
                </a:solidFill>
                <a:latin typeface="맑은 고딕"/>
                <a:ea typeface="맑은 고딕"/>
                <a:cs typeface="맑은 고딕"/>
              </a:rPr>
              <a:t>재계산</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토큰</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선정</a:t>
            </a:r>
            <a:endParaRPr sz="700" b="1" dirty="0">
              <a:solidFill>
                <a:srgbClr val="000000"/>
              </a:solidFill>
              <a:latin typeface="맑은 고딕"/>
              <a:ea typeface="맑은 고딕"/>
              <a:cs typeface="맑은 고딕"/>
            </a:endParaRPr>
          </a:p>
        </p:txBody>
      </p:sp>
      <p:sp>
        <p:nvSpPr>
          <p:cNvPr id="146" name="Rectangle 27"/>
          <p:cNvSpPr/>
          <p:nvPr/>
        </p:nvSpPr>
        <p:spPr>
          <a:xfrm>
            <a:off x="8275319" y="169164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Selective Recomputer</a:t>
            </a:r>
          </a:p>
          <a:p>
            <a:pPr algn="ctr">
              <a:spcAft>
                <a:spcPts val="0"/>
              </a:spcAft>
            </a:pPr>
            <a:r>
              <a:rPr sz="700" b="1">
                <a:solidFill>
                  <a:srgbClr val="000000"/>
                </a:solidFill>
                <a:latin typeface="맑은 고딕"/>
                <a:ea typeface="맑은 고딕"/>
                <a:cs typeface="맑은 고딕"/>
              </a:rPr>
              <a:t>선정 토큰만 재계산</a:t>
            </a:r>
          </a:p>
        </p:txBody>
      </p:sp>
      <p:sp>
        <p:nvSpPr>
          <p:cNvPr id="149" name="Rectangle 28"/>
          <p:cNvSpPr/>
          <p:nvPr/>
        </p:nvSpPr>
        <p:spPr>
          <a:xfrm>
            <a:off x="10012680" y="169164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Decode</a:t>
            </a:r>
          </a:p>
          <a:p>
            <a:pPr algn="ctr">
              <a:spcAft>
                <a:spcPts val="0"/>
              </a:spcAft>
            </a:pPr>
            <a:r>
              <a:rPr sz="700" b="1">
                <a:solidFill>
                  <a:srgbClr val="000000"/>
                </a:solidFill>
                <a:latin typeface="맑은 고딕"/>
                <a:ea typeface="맑은 고딕"/>
                <a:cs typeface="맑은 고딕"/>
              </a:rPr>
              <a:t>응답 생성</a:t>
            </a:r>
          </a:p>
        </p:txBody>
      </p:sp>
      <p:sp>
        <p:nvSpPr>
          <p:cNvPr id="151" name="Rectangle 29"/>
          <p:cNvSpPr/>
          <p:nvPr/>
        </p:nvSpPr>
        <p:spPr>
          <a:xfrm>
            <a:off x="9098280" y="1600200"/>
            <a:ext cx="384048" cy="182880"/>
          </a:xfrm>
          <a:prstGeom prst="rect">
            <a:avLst/>
          </a:prstGeom>
          <a:solidFill>
            <a:srgbClr val="404040"/>
          </a:solidFill>
          <a:ln w="1016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700" b="1">
                <a:solidFill>
                  <a:srgbClr val="FFFFFF"/>
                </a:solidFill>
                <a:latin typeface="맑은 고딕"/>
                <a:ea typeface="맑은 고딕"/>
                <a:cs typeface="맑은 고딕"/>
              </a:rPr>
              <a:t>DP2</a:t>
            </a:r>
          </a:p>
        </p:txBody>
      </p:sp>
      <p:cxnSp>
        <p:nvCxnSpPr>
          <p:cNvPr id="152" name="Connector 30"/>
          <p:cNvCxnSpPr/>
          <p:nvPr/>
        </p:nvCxnSpPr>
        <p:spPr>
          <a:xfrm>
            <a:off x="2514600" y="2057400"/>
            <a:ext cx="548639"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6" name="TextBox 155"/>
          <p:cNvSpPr txBox="1"/>
          <p:nvPr/>
        </p:nvSpPr>
        <p:spPr>
          <a:xfrm>
            <a:off x="2468880" y="1737360"/>
            <a:ext cx="640080" cy="201168"/>
          </a:xfrm>
          <a:prstGeom prst="rect">
            <a:avLst/>
          </a:prstGeom>
          <a:noFill/>
        </p:spPr>
        <p:txBody>
          <a:bodyPr wrap="square" lIns="45720" tIns="27432" rIns="45720" bIns="27432" anchor="t">
            <a:spAutoFit/>
          </a:bodyPr>
          <a:lstStyle/>
          <a:p>
            <a:pPr algn="ctr">
              <a:spcAft>
                <a:spcPts val="200"/>
              </a:spcAft>
            </a:pPr>
            <a:r>
              <a:rPr sz="700" b="0">
                <a:solidFill>
                  <a:srgbClr val="2E75B6"/>
                </a:solidFill>
                <a:latin typeface="맑은 고딕"/>
                <a:ea typeface="맑은 고딕"/>
                <a:cs typeface="맑은 고딕"/>
              </a:rPr>
              <a:t>실제 Query</a:t>
            </a:r>
          </a:p>
        </p:txBody>
      </p:sp>
      <p:cxnSp>
        <p:nvCxnSpPr>
          <p:cNvPr id="159" name="Connector 32"/>
          <p:cNvCxnSpPr/>
          <p:nvPr/>
        </p:nvCxnSpPr>
        <p:spPr>
          <a:xfrm>
            <a:off x="4251959" y="2057400"/>
            <a:ext cx="548641"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71" name="TextBox 170"/>
          <p:cNvSpPr txBox="1"/>
          <p:nvPr/>
        </p:nvSpPr>
        <p:spPr>
          <a:xfrm>
            <a:off x="4206240" y="1737360"/>
            <a:ext cx="640080" cy="296491"/>
          </a:xfrm>
          <a:prstGeom prst="rect">
            <a:avLst/>
          </a:prstGeom>
          <a:noFill/>
        </p:spPr>
        <p:txBody>
          <a:bodyPr wrap="square" lIns="45720" tIns="27432" rIns="45720" bIns="27432" anchor="t">
            <a:spAutoFit/>
          </a:bodyPr>
          <a:lstStyle/>
          <a:p>
            <a:pPr algn="ctr">
              <a:spcAft>
                <a:spcPts val="200"/>
              </a:spcAft>
            </a:pPr>
            <a:r>
              <a:rPr sz="700" b="0" dirty="0">
                <a:solidFill>
                  <a:srgbClr val="2E75B6"/>
                </a:solidFill>
                <a:latin typeface="맑은 고딕"/>
                <a:ea typeface="맑은 고딕"/>
                <a:cs typeface="맑은 고딕"/>
              </a:rPr>
              <a:t>attention </a:t>
            </a:r>
            <a:endParaRPr lang="en-US" sz="700" b="0" dirty="0">
              <a:solidFill>
                <a:srgbClr val="2E75B6"/>
              </a:solidFill>
              <a:latin typeface="맑은 고딕"/>
              <a:ea typeface="맑은 고딕"/>
              <a:cs typeface="맑은 고딕"/>
            </a:endParaRPr>
          </a:p>
          <a:p>
            <a:pPr algn="ctr">
              <a:spcAft>
                <a:spcPts val="200"/>
              </a:spcAft>
            </a:pPr>
            <a:r>
              <a:rPr sz="700" b="0" dirty="0">
                <a:solidFill>
                  <a:srgbClr val="2E75B6"/>
                </a:solidFill>
                <a:latin typeface="맑은 고딕"/>
                <a:ea typeface="맑은 고딕"/>
                <a:cs typeface="맑은 고딕"/>
              </a:rPr>
              <a:t>score</a:t>
            </a:r>
          </a:p>
        </p:txBody>
      </p:sp>
      <p:cxnSp>
        <p:nvCxnSpPr>
          <p:cNvPr id="172" name="Connector 34"/>
          <p:cNvCxnSpPr/>
          <p:nvPr/>
        </p:nvCxnSpPr>
        <p:spPr>
          <a:xfrm>
            <a:off x="5989320" y="2057400"/>
            <a:ext cx="548639"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73" name="TextBox 172"/>
          <p:cNvSpPr txBox="1"/>
          <p:nvPr/>
        </p:nvSpPr>
        <p:spPr>
          <a:xfrm>
            <a:off x="5943600" y="1737360"/>
            <a:ext cx="640080" cy="201168"/>
          </a:xfrm>
          <a:prstGeom prst="rect">
            <a:avLst/>
          </a:prstGeom>
          <a:noFill/>
        </p:spPr>
        <p:txBody>
          <a:bodyPr wrap="square" lIns="45720" tIns="27432" rIns="45720" bIns="27432" anchor="t">
            <a:spAutoFit/>
          </a:bodyPr>
          <a:lstStyle/>
          <a:p>
            <a:pPr algn="ctr">
              <a:spcAft>
                <a:spcPts val="200"/>
              </a:spcAft>
            </a:pPr>
            <a:r>
              <a:rPr sz="700" b="0">
                <a:solidFill>
                  <a:srgbClr val="2E75B6"/>
                </a:solidFill>
                <a:latin typeface="맑은 고딕"/>
                <a:ea typeface="맑은 고딕"/>
                <a:cs typeface="맑은 고딕"/>
              </a:rPr>
              <a:t>후보 순위</a:t>
            </a:r>
          </a:p>
        </p:txBody>
      </p:sp>
      <p:cxnSp>
        <p:nvCxnSpPr>
          <p:cNvPr id="174" name="Connector 36"/>
          <p:cNvCxnSpPr/>
          <p:nvPr/>
        </p:nvCxnSpPr>
        <p:spPr>
          <a:xfrm>
            <a:off x="7726679" y="2057400"/>
            <a:ext cx="548640"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7680959" y="1737360"/>
            <a:ext cx="640080" cy="201168"/>
          </a:xfrm>
          <a:prstGeom prst="rect">
            <a:avLst/>
          </a:prstGeom>
          <a:noFill/>
        </p:spPr>
        <p:txBody>
          <a:bodyPr wrap="square" lIns="45720" tIns="27432" rIns="45720" bIns="27432" anchor="t">
            <a:spAutoFit/>
          </a:bodyPr>
          <a:lstStyle/>
          <a:p>
            <a:pPr algn="ctr">
              <a:spcAft>
                <a:spcPts val="200"/>
              </a:spcAft>
            </a:pPr>
            <a:r>
              <a:rPr sz="700" b="0">
                <a:solidFill>
                  <a:srgbClr val="2E75B6"/>
                </a:solidFill>
                <a:latin typeface="맑은 고딕"/>
                <a:ea typeface="맑은 고딕"/>
                <a:cs typeface="맑은 고딕"/>
              </a:rPr>
              <a:t>재계산 토큰 집합</a:t>
            </a:r>
          </a:p>
        </p:txBody>
      </p:sp>
      <p:cxnSp>
        <p:nvCxnSpPr>
          <p:cNvPr id="176" name="Connector 38"/>
          <p:cNvCxnSpPr/>
          <p:nvPr/>
        </p:nvCxnSpPr>
        <p:spPr>
          <a:xfrm>
            <a:off x="9464040" y="2057400"/>
            <a:ext cx="548640"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9418319" y="1737360"/>
            <a:ext cx="640080" cy="201168"/>
          </a:xfrm>
          <a:prstGeom prst="rect">
            <a:avLst/>
          </a:prstGeom>
          <a:noFill/>
        </p:spPr>
        <p:txBody>
          <a:bodyPr wrap="square" lIns="45720" tIns="27432" rIns="45720" bIns="27432" anchor="t">
            <a:spAutoFit/>
          </a:bodyPr>
          <a:lstStyle/>
          <a:p>
            <a:pPr algn="ctr">
              <a:spcAft>
                <a:spcPts val="200"/>
              </a:spcAft>
            </a:pPr>
            <a:r>
              <a:rPr sz="700" b="0">
                <a:solidFill>
                  <a:srgbClr val="2E75B6"/>
                </a:solidFill>
                <a:latin typeface="맑은 고딕"/>
                <a:ea typeface="맑은 고딕"/>
                <a:cs typeface="맑은 고딕"/>
              </a:rPr>
              <a:t>Blended KV</a:t>
            </a:r>
          </a:p>
        </p:txBody>
      </p:sp>
      <p:sp>
        <p:nvSpPr>
          <p:cNvPr id="178" name="Rectangle 40"/>
          <p:cNvSpPr/>
          <p:nvPr/>
        </p:nvSpPr>
        <p:spPr>
          <a:xfrm>
            <a:off x="3063240" y="2697480"/>
            <a:ext cx="6400800" cy="27432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850" b="1">
                <a:solidFill>
                  <a:srgbClr val="000000"/>
                </a:solidFill>
                <a:latin typeface="맑은 고딕"/>
                <a:ea typeface="맑은 고딕"/>
                <a:cs typeface="맑은 고딕"/>
              </a:rPr>
              <a:t>KV Store (DP1) — Context KV 1 · 2  (read-only)</a:t>
            </a:r>
          </a:p>
        </p:txBody>
      </p:sp>
      <p:sp>
        <p:nvSpPr>
          <p:cNvPr id="180" name="Rectangle 41"/>
          <p:cNvSpPr/>
          <p:nvPr/>
        </p:nvSpPr>
        <p:spPr>
          <a:xfrm>
            <a:off x="9144000" y="2606040"/>
            <a:ext cx="384048" cy="182880"/>
          </a:xfrm>
          <a:prstGeom prst="rect">
            <a:avLst/>
          </a:prstGeom>
          <a:solidFill>
            <a:srgbClr val="404040"/>
          </a:solidFill>
          <a:ln w="1016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700" b="1">
                <a:solidFill>
                  <a:srgbClr val="FFFFFF"/>
                </a:solidFill>
                <a:latin typeface="맑은 고딕"/>
                <a:ea typeface="맑은 고딕"/>
                <a:cs typeface="맑은 고딕"/>
              </a:rPr>
              <a:t>DP1</a:t>
            </a:r>
          </a:p>
        </p:txBody>
      </p:sp>
      <p:cxnSp>
        <p:nvCxnSpPr>
          <p:cNvPr id="181" name="Connector 42"/>
          <p:cNvCxnSpPr/>
          <p:nvPr/>
        </p:nvCxnSpPr>
        <p:spPr>
          <a:xfrm flipV="1">
            <a:off x="3657600" y="2240280"/>
            <a:ext cx="0" cy="457200"/>
          </a:xfrm>
          <a:prstGeom prst="line">
            <a:avLst/>
          </a:prstGeom>
          <a:ln w="1524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182" name="Connector 43"/>
          <p:cNvCxnSpPr/>
          <p:nvPr/>
        </p:nvCxnSpPr>
        <p:spPr>
          <a:xfrm flipV="1">
            <a:off x="8869680" y="2240280"/>
            <a:ext cx="0" cy="457200"/>
          </a:xfrm>
          <a:prstGeom prst="line">
            <a:avLst/>
          </a:prstGeom>
          <a:ln w="1524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3703320" y="2395728"/>
            <a:ext cx="548640" cy="201168"/>
          </a:xfrm>
          <a:prstGeom prst="rect">
            <a:avLst/>
          </a:prstGeom>
          <a:noFill/>
        </p:spPr>
        <p:txBody>
          <a:bodyPr wrap="square" lIns="45720" tIns="27432" rIns="45720" bIns="27432" anchor="t">
            <a:spAutoFit/>
          </a:bodyPr>
          <a:lstStyle/>
          <a:p>
            <a:pPr algn="l">
              <a:spcAft>
                <a:spcPts val="200"/>
              </a:spcAft>
            </a:pPr>
            <a:r>
              <a:rPr sz="750" b="0">
                <a:solidFill>
                  <a:srgbClr val="595959"/>
                </a:solidFill>
                <a:latin typeface="맑은 고딕"/>
                <a:ea typeface="맑은 고딕"/>
                <a:cs typeface="맑은 고딕"/>
              </a:rPr>
              <a:t>read</a:t>
            </a:r>
          </a:p>
        </p:txBody>
      </p:sp>
      <p:sp>
        <p:nvSpPr>
          <p:cNvPr id="184" name="TextBox 183"/>
          <p:cNvSpPr txBox="1"/>
          <p:nvPr/>
        </p:nvSpPr>
        <p:spPr>
          <a:xfrm>
            <a:off x="8915400" y="2395728"/>
            <a:ext cx="548640" cy="201168"/>
          </a:xfrm>
          <a:prstGeom prst="rect">
            <a:avLst/>
          </a:prstGeom>
          <a:noFill/>
        </p:spPr>
        <p:txBody>
          <a:bodyPr wrap="square" lIns="45720" tIns="27432" rIns="45720" bIns="27432" anchor="t">
            <a:spAutoFit/>
          </a:bodyPr>
          <a:lstStyle/>
          <a:p>
            <a:pPr algn="l">
              <a:spcAft>
                <a:spcPts val="200"/>
              </a:spcAft>
            </a:pPr>
            <a:r>
              <a:rPr sz="750" b="0">
                <a:solidFill>
                  <a:srgbClr val="595959"/>
                </a:solidFill>
                <a:latin typeface="맑은 고딕"/>
                <a:ea typeface="맑은 고딕"/>
                <a:cs typeface="맑은 고딕"/>
              </a:rPr>
              <a:t>read</a:t>
            </a:r>
          </a:p>
        </p:txBody>
      </p:sp>
      <p:sp>
        <p:nvSpPr>
          <p:cNvPr id="185" name="Rectangle 46"/>
          <p:cNvSpPr/>
          <p:nvPr/>
        </p:nvSpPr>
        <p:spPr>
          <a:xfrm>
            <a:off x="246888" y="3154680"/>
            <a:ext cx="914400" cy="3246120"/>
          </a:xfrm>
          <a:prstGeom prst="rect">
            <a:avLst/>
          </a:prstGeom>
          <a:solidFill>
            <a:srgbClr val="C55A11"/>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200" b="1" dirty="0">
                <a:solidFill>
                  <a:srgbClr val="FFFFFF"/>
                </a:solidFill>
                <a:latin typeface="맑은 고딕"/>
                <a:ea typeface="맑은 고딕"/>
                <a:cs typeface="맑은 고딕"/>
              </a:rPr>
              <a:t>2안</a:t>
            </a:r>
          </a:p>
          <a:p>
            <a:pPr algn="ctr">
              <a:spcAft>
                <a:spcPts val="200"/>
              </a:spcAft>
            </a:pPr>
            <a:r>
              <a:rPr sz="800" b="1" dirty="0">
                <a:solidFill>
                  <a:srgbClr val="FFFFFF"/>
                </a:solidFill>
                <a:latin typeface="맑은 고딕"/>
                <a:ea typeface="맑은 고딕"/>
                <a:cs typeface="맑은 고딕"/>
              </a:rPr>
              <a:t>Query Agnostic</a:t>
            </a:r>
          </a:p>
          <a:p>
            <a:pPr algn="ctr">
              <a:spcAft>
                <a:spcPts val="200"/>
              </a:spcAft>
            </a:pPr>
            <a:r>
              <a:rPr sz="800" b="1" dirty="0">
                <a:solidFill>
                  <a:srgbClr val="FFFFFF"/>
                </a:solidFill>
                <a:latin typeface="맑은 고딕"/>
                <a:ea typeface="맑은 고딕"/>
                <a:cs typeface="맑은 고딕"/>
              </a:rPr>
              <a:t>(Offline)</a:t>
            </a:r>
          </a:p>
          <a:p>
            <a:pPr algn="ctr">
              <a:spcAft>
                <a:spcPts val="200"/>
              </a:spcAft>
            </a:pPr>
            <a:r>
              <a:rPr sz="800" b="1" dirty="0">
                <a:solidFill>
                  <a:srgbClr val="FFFF00"/>
                </a:solidFill>
                <a:latin typeface="맑은 고딕"/>
                <a:ea typeface="맑은 고딕"/>
                <a:cs typeface="맑은 고딕"/>
              </a:rPr>
              <a:t>Repository</a:t>
            </a:r>
          </a:p>
          <a:p>
            <a:pPr algn="ctr">
              <a:spcAft>
                <a:spcPts val="200"/>
              </a:spcAft>
            </a:pPr>
            <a:r>
              <a:rPr sz="800" b="1" dirty="0">
                <a:solidFill>
                  <a:srgbClr val="FFFFFF"/>
                </a:solidFill>
                <a:latin typeface="맑은 고딕"/>
                <a:ea typeface="맑은 고딕"/>
                <a:cs typeface="맑은 고딕"/>
              </a:rPr>
              <a:t>+ </a:t>
            </a:r>
            <a:r>
              <a:rPr sz="800" b="1" dirty="0" err="1">
                <a:solidFill>
                  <a:srgbClr val="FFFFFF"/>
                </a:solidFill>
                <a:latin typeface="맑은 고딕"/>
                <a:ea typeface="맑은 고딕"/>
                <a:cs typeface="맑은 고딕"/>
              </a:rPr>
              <a:t>사전</a:t>
            </a:r>
            <a:r>
              <a:rPr sz="800" b="1" dirty="0">
                <a:solidFill>
                  <a:srgbClr val="FFFFFF"/>
                </a:solidFill>
                <a:latin typeface="맑은 고딕"/>
                <a:ea typeface="맑은 고딕"/>
                <a:cs typeface="맑은 고딕"/>
              </a:rPr>
              <a:t> Batch </a:t>
            </a:r>
            <a:r>
              <a:rPr sz="800" b="1" dirty="0" err="1">
                <a:solidFill>
                  <a:srgbClr val="FFFFFF"/>
                </a:solidFill>
                <a:latin typeface="맑은 고딕"/>
                <a:ea typeface="맑은 고딕"/>
                <a:cs typeface="맑은 고딕"/>
              </a:rPr>
              <a:t>분석</a:t>
            </a:r>
            <a:endParaRPr sz="800" b="1" dirty="0">
              <a:solidFill>
                <a:srgbClr val="FFFFFF"/>
              </a:solidFill>
              <a:latin typeface="맑은 고딕"/>
              <a:ea typeface="맑은 고딕"/>
              <a:cs typeface="맑은 고딕"/>
            </a:endParaRPr>
          </a:p>
        </p:txBody>
      </p:sp>
      <p:sp>
        <p:nvSpPr>
          <p:cNvPr id="186" name="Rectangle 47"/>
          <p:cNvSpPr/>
          <p:nvPr/>
        </p:nvSpPr>
        <p:spPr>
          <a:xfrm>
            <a:off x="1234440" y="3154680"/>
            <a:ext cx="6629400" cy="1188720"/>
          </a:xfrm>
          <a:prstGeom prst="rect">
            <a:avLst/>
          </a:prstGeom>
          <a:solidFill>
            <a:srgbClr val="FEF4EC"/>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1280160" y="3163824"/>
            <a:ext cx="6583680" cy="201168"/>
          </a:xfrm>
          <a:prstGeom prst="rect">
            <a:avLst/>
          </a:prstGeom>
          <a:noFill/>
        </p:spPr>
        <p:txBody>
          <a:bodyPr wrap="square" lIns="45720" tIns="27432" rIns="45720" bIns="27432" anchor="t">
            <a:spAutoFit/>
          </a:bodyPr>
          <a:lstStyle/>
          <a:p>
            <a:pPr algn="l">
              <a:spcAft>
                <a:spcPts val="200"/>
              </a:spcAft>
            </a:pPr>
            <a:r>
              <a:rPr sz="800" b="1" dirty="0" err="1">
                <a:solidFill>
                  <a:srgbClr val="C55A11"/>
                </a:solidFill>
                <a:latin typeface="맑은 고딕"/>
                <a:ea typeface="맑은 고딕"/>
                <a:cs typeface="맑은 고딕"/>
              </a:rPr>
              <a:t>사전</a:t>
            </a:r>
            <a:r>
              <a:rPr sz="800" b="1" dirty="0">
                <a:solidFill>
                  <a:srgbClr val="C55A11"/>
                </a:solidFill>
                <a:latin typeface="맑은 고딕"/>
                <a:ea typeface="맑은 고딕"/>
                <a:cs typeface="맑은 고딕"/>
              </a:rPr>
              <a:t> </a:t>
            </a:r>
            <a:r>
              <a:rPr sz="800" b="1" dirty="0" err="1">
                <a:solidFill>
                  <a:srgbClr val="C55A11"/>
                </a:solidFill>
                <a:latin typeface="맑은 고딕"/>
                <a:ea typeface="맑은 고딕"/>
                <a:cs typeface="맑은 고딕"/>
              </a:rPr>
              <a:t>분석</a:t>
            </a:r>
            <a:r>
              <a:rPr sz="800" b="1" dirty="0">
                <a:solidFill>
                  <a:srgbClr val="C55A11"/>
                </a:solidFill>
                <a:latin typeface="맑은 고딕"/>
                <a:ea typeface="맑은 고딕"/>
                <a:cs typeface="맑은 고딕"/>
              </a:rPr>
              <a:t> (Offline, 1회 · KV </a:t>
            </a:r>
            <a:r>
              <a:rPr sz="800" b="1" dirty="0" err="1">
                <a:solidFill>
                  <a:srgbClr val="C55A11"/>
                </a:solidFill>
                <a:latin typeface="맑은 고딕"/>
                <a:ea typeface="맑은 고딕"/>
                <a:cs typeface="맑은 고딕"/>
              </a:rPr>
              <a:t>갱신</a:t>
            </a:r>
            <a:r>
              <a:rPr sz="800" b="1" dirty="0">
                <a:solidFill>
                  <a:srgbClr val="C55A11"/>
                </a:solidFill>
                <a:latin typeface="맑은 고딕"/>
                <a:ea typeface="맑은 고딕"/>
                <a:cs typeface="맑은 고딕"/>
              </a:rPr>
              <a:t> 시) — Batch-Sequential</a:t>
            </a:r>
          </a:p>
        </p:txBody>
      </p:sp>
      <p:sp>
        <p:nvSpPr>
          <p:cNvPr id="188" name="Rectangle 49"/>
          <p:cNvSpPr/>
          <p:nvPr/>
        </p:nvSpPr>
        <p:spPr>
          <a:xfrm>
            <a:off x="1325880" y="3566160"/>
            <a:ext cx="1188720" cy="548640"/>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Query Sampler</a:t>
            </a:r>
          </a:p>
          <a:p>
            <a:pPr algn="ctr">
              <a:spcAft>
                <a:spcPts val="0"/>
              </a:spcAft>
            </a:pPr>
            <a:r>
              <a:rPr sz="700" b="1">
                <a:solidFill>
                  <a:srgbClr val="000000"/>
                </a:solidFill>
                <a:latin typeface="맑은 고딕"/>
                <a:ea typeface="맑은 고딕"/>
                <a:cs typeface="맑은 고딕"/>
              </a:rPr>
              <a:t>W/L별 대표 Query</a:t>
            </a:r>
          </a:p>
        </p:txBody>
      </p:sp>
      <p:sp>
        <p:nvSpPr>
          <p:cNvPr id="189" name="Rectangle 50"/>
          <p:cNvSpPr/>
          <p:nvPr/>
        </p:nvSpPr>
        <p:spPr>
          <a:xfrm>
            <a:off x="3063239" y="356616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Attention Manager</a:t>
            </a:r>
          </a:p>
          <a:p>
            <a:pPr algn="ctr">
              <a:spcAft>
                <a:spcPts val="0"/>
              </a:spcAft>
            </a:pPr>
            <a:r>
              <a:rPr sz="700" b="1">
                <a:solidFill>
                  <a:srgbClr val="000000"/>
                </a:solidFill>
                <a:latin typeface="맑은 고딕"/>
                <a:ea typeface="맑은 고딕"/>
                <a:cs typeface="맑은 고딕"/>
              </a:rPr>
              <a:t>대표 Query × KV</a:t>
            </a:r>
          </a:p>
        </p:txBody>
      </p:sp>
      <p:sp>
        <p:nvSpPr>
          <p:cNvPr id="190" name="Rectangle 51"/>
          <p:cNvSpPr/>
          <p:nvPr/>
        </p:nvSpPr>
        <p:spPr>
          <a:xfrm>
            <a:off x="4800600" y="356616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KV Sampler</a:t>
            </a:r>
          </a:p>
          <a:p>
            <a:pPr algn="ctr">
              <a:spcAft>
                <a:spcPts val="0"/>
              </a:spcAft>
            </a:pPr>
            <a:r>
              <a:rPr sz="700" b="1">
                <a:solidFill>
                  <a:srgbClr val="000000"/>
                </a:solidFill>
                <a:latin typeface="맑은 고딕"/>
                <a:ea typeface="맑은 고딕"/>
                <a:cs typeface="맑은 고딕"/>
              </a:rPr>
              <a:t>점수로 토큰 선정</a:t>
            </a:r>
          </a:p>
        </p:txBody>
      </p:sp>
      <p:sp>
        <p:nvSpPr>
          <p:cNvPr id="191" name="Rectangle 52"/>
          <p:cNvSpPr/>
          <p:nvPr/>
        </p:nvSpPr>
        <p:spPr>
          <a:xfrm>
            <a:off x="6537959" y="3566160"/>
            <a:ext cx="1188720" cy="54864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err="1">
                <a:solidFill>
                  <a:srgbClr val="000000"/>
                </a:solidFill>
                <a:latin typeface="맑은 고딕"/>
                <a:ea typeface="맑은 고딕"/>
                <a:cs typeface="맑은 고딕"/>
              </a:rPr>
              <a:t>Recompute</a:t>
            </a:r>
            <a:r>
              <a:rPr lang="en-US" sz="850" b="1" dirty="0">
                <a:solidFill>
                  <a:srgbClr val="000000"/>
                </a:solidFill>
                <a:latin typeface="맑은 고딕"/>
                <a:ea typeface="맑은 고딕"/>
                <a:cs typeface="맑은 고딕"/>
              </a:rPr>
              <a:t>-</a:t>
            </a:r>
          </a:p>
          <a:p>
            <a:pPr algn="ctr">
              <a:spcAft>
                <a:spcPts val="0"/>
              </a:spcAft>
            </a:pPr>
            <a:r>
              <a:rPr sz="850" b="1" dirty="0">
                <a:solidFill>
                  <a:srgbClr val="000000"/>
                </a:solidFill>
                <a:latin typeface="맑은 고딕"/>
                <a:ea typeface="맑은 고딕"/>
                <a:cs typeface="맑은 고딕"/>
              </a:rPr>
              <a:t>Token Selector</a:t>
            </a:r>
          </a:p>
          <a:p>
            <a:pPr algn="ctr">
              <a:spcAft>
                <a:spcPts val="0"/>
              </a:spcAft>
            </a:pPr>
            <a:r>
              <a:rPr sz="700" b="1" dirty="0" err="1">
                <a:solidFill>
                  <a:srgbClr val="000000"/>
                </a:solidFill>
                <a:latin typeface="맑은 고딕"/>
                <a:ea typeface="맑은 고딕"/>
                <a:cs typeface="맑은 고딕"/>
              </a:rPr>
              <a:t>재계산</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위치</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선정</a:t>
            </a:r>
            <a:endParaRPr sz="700" b="1" dirty="0">
              <a:solidFill>
                <a:srgbClr val="000000"/>
              </a:solidFill>
              <a:latin typeface="맑은 고딕"/>
              <a:ea typeface="맑은 고딕"/>
              <a:cs typeface="맑은 고딕"/>
            </a:endParaRPr>
          </a:p>
        </p:txBody>
      </p:sp>
      <p:cxnSp>
        <p:nvCxnSpPr>
          <p:cNvPr id="192" name="Connector 53"/>
          <p:cNvCxnSpPr/>
          <p:nvPr/>
        </p:nvCxnSpPr>
        <p:spPr>
          <a:xfrm>
            <a:off x="2514600" y="3840480"/>
            <a:ext cx="548639"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2468880" y="3584448"/>
            <a:ext cx="640080" cy="201168"/>
          </a:xfrm>
          <a:prstGeom prst="rect">
            <a:avLst/>
          </a:prstGeom>
          <a:noFill/>
        </p:spPr>
        <p:txBody>
          <a:bodyPr wrap="square" lIns="45720" tIns="27432" rIns="45720" bIns="27432" anchor="t">
            <a:spAutoFit/>
          </a:bodyPr>
          <a:lstStyle/>
          <a:p>
            <a:pPr algn="ctr">
              <a:spcAft>
                <a:spcPts val="200"/>
              </a:spcAft>
            </a:pPr>
            <a:r>
              <a:rPr sz="700" b="0">
                <a:solidFill>
                  <a:srgbClr val="C55A11"/>
                </a:solidFill>
                <a:latin typeface="맑은 고딕"/>
                <a:ea typeface="맑은 고딕"/>
                <a:cs typeface="맑은 고딕"/>
              </a:rPr>
              <a:t>대표 Query</a:t>
            </a:r>
          </a:p>
        </p:txBody>
      </p:sp>
      <p:cxnSp>
        <p:nvCxnSpPr>
          <p:cNvPr id="194" name="Connector 55"/>
          <p:cNvCxnSpPr/>
          <p:nvPr/>
        </p:nvCxnSpPr>
        <p:spPr>
          <a:xfrm>
            <a:off x="4251959" y="3840480"/>
            <a:ext cx="54864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4206240" y="3584448"/>
            <a:ext cx="640080" cy="201168"/>
          </a:xfrm>
          <a:prstGeom prst="rect">
            <a:avLst/>
          </a:prstGeom>
          <a:noFill/>
        </p:spPr>
        <p:txBody>
          <a:bodyPr wrap="square" lIns="45720" tIns="27432" rIns="45720" bIns="27432" anchor="t">
            <a:spAutoFit/>
          </a:bodyPr>
          <a:lstStyle/>
          <a:p>
            <a:pPr algn="ctr">
              <a:spcAft>
                <a:spcPts val="200"/>
              </a:spcAft>
            </a:pPr>
            <a:r>
              <a:rPr sz="700" b="0">
                <a:solidFill>
                  <a:srgbClr val="C55A11"/>
                </a:solidFill>
                <a:latin typeface="맑은 고딕"/>
                <a:ea typeface="맑은 고딕"/>
                <a:cs typeface="맑은 고딕"/>
              </a:rPr>
              <a:t>score</a:t>
            </a:r>
          </a:p>
        </p:txBody>
      </p:sp>
      <p:cxnSp>
        <p:nvCxnSpPr>
          <p:cNvPr id="196" name="Connector 57"/>
          <p:cNvCxnSpPr/>
          <p:nvPr/>
        </p:nvCxnSpPr>
        <p:spPr>
          <a:xfrm>
            <a:off x="5989320" y="3840480"/>
            <a:ext cx="548639"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5943600" y="3584448"/>
            <a:ext cx="640080" cy="201168"/>
          </a:xfrm>
          <a:prstGeom prst="rect">
            <a:avLst/>
          </a:prstGeom>
          <a:noFill/>
        </p:spPr>
        <p:txBody>
          <a:bodyPr wrap="square" lIns="45720" tIns="27432" rIns="45720" bIns="27432" anchor="t">
            <a:spAutoFit/>
          </a:bodyPr>
          <a:lstStyle/>
          <a:p>
            <a:pPr algn="ctr">
              <a:spcAft>
                <a:spcPts val="200"/>
              </a:spcAft>
            </a:pPr>
            <a:r>
              <a:rPr sz="700" b="0">
                <a:solidFill>
                  <a:srgbClr val="C55A11"/>
                </a:solidFill>
                <a:latin typeface="맑은 고딕"/>
                <a:ea typeface="맑은 고딕"/>
                <a:cs typeface="맑은 고딕"/>
              </a:rPr>
              <a:t>후보 순위</a:t>
            </a:r>
          </a:p>
        </p:txBody>
      </p:sp>
      <p:sp>
        <p:nvSpPr>
          <p:cNvPr id="200" name="Rectangle 59"/>
          <p:cNvSpPr/>
          <p:nvPr/>
        </p:nvSpPr>
        <p:spPr>
          <a:xfrm>
            <a:off x="1234440" y="4663440"/>
            <a:ext cx="10104120" cy="73152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TextBox 202"/>
          <p:cNvSpPr txBox="1"/>
          <p:nvPr/>
        </p:nvSpPr>
        <p:spPr>
          <a:xfrm>
            <a:off x="1280160" y="4672584"/>
            <a:ext cx="7315200" cy="201168"/>
          </a:xfrm>
          <a:prstGeom prst="rect">
            <a:avLst/>
          </a:prstGeom>
          <a:noFill/>
        </p:spPr>
        <p:txBody>
          <a:bodyPr wrap="square" lIns="45720" tIns="27432" rIns="45720" bIns="27432" anchor="t">
            <a:spAutoFit/>
          </a:bodyPr>
          <a:lstStyle/>
          <a:p>
            <a:pPr algn="l">
              <a:spcAft>
                <a:spcPts val="200"/>
              </a:spcAft>
            </a:pPr>
            <a:r>
              <a:rPr sz="800" b="1" dirty="0">
                <a:solidFill>
                  <a:srgbClr val="404040"/>
                </a:solidFill>
                <a:latin typeface="맑은 고딕"/>
                <a:ea typeface="맑은 고딕"/>
                <a:cs typeface="맑은 고딕"/>
              </a:rPr>
              <a:t>KV Store (DP1) = Repository : </a:t>
            </a:r>
            <a:r>
              <a:rPr sz="800" b="1" dirty="0" err="1">
                <a:solidFill>
                  <a:srgbClr val="404040"/>
                </a:solidFill>
                <a:latin typeface="맑은 고딕"/>
                <a:ea typeface="맑은 고딕"/>
                <a:cs typeface="맑은 고딕"/>
              </a:rPr>
              <a:t>공유</a:t>
            </a:r>
            <a:r>
              <a:rPr sz="800" b="1" dirty="0">
                <a:solidFill>
                  <a:srgbClr val="404040"/>
                </a:solidFill>
                <a:latin typeface="맑은 고딕"/>
                <a:ea typeface="맑은 고딕"/>
                <a:cs typeface="맑은 고딕"/>
              </a:rPr>
              <a:t> · </a:t>
            </a:r>
            <a:r>
              <a:rPr sz="800" b="1" dirty="0" err="1">
                <a:solidFill>
                  <a:srgbClr val="404040"/>
                </a:solidFill>
                <a:latin typeface="맑은 고딕"/>
                <a:ea typeface="맑은 고딕"/>
                <a:cs typeface="맑은 고딕"/>
              </a:rPr>
              <a:t>영속</a:t>
            </a:r>
            <a:r>
              <a:rPr sz="800" b="1" dirty="0">
                <a:solidFill>
                  <a:srgbClr val="404040"/>
                </a:solidFill>
                <a:latin typeface="맑은 고딕"/>
                <a:ea typeface="맑은 고딕"/>
                <a:cs typeface="맑은 고딕"/>
              </a:rPr>
              <a:t> · </a:t>
            </a:r>
            <a:r>
              <a:rPr sz="800" b="1" dirty="0" err="1">
                <a:solidFill>
                  <a:srgbClr val="404040"/>
                </a:solidFill>
                <a:latin typeface="맑은 고딕"/>
                <a:ea typeface="맑은 고딕"/>
                <a:cs typeface="맑은 고딕"/>
              </a:rPr>
              <a:t>키로</a:t>
            </a:r>
            <a:r>
              <a:rPr sz="800" b="1" dirty="0">
                <a:solidFill>
                  <a:srgbClr val="404040"/>
                </a:solidFill>
                <a:latin typeface="맑은 고딕"/>
                <a:ea typeface="맑은 고딕"/>
                <a:cs typeface="맑은 고딕"/>
              </a:rPr>
              <a:t> </a:t>
            </a:r>
            <a:r>
              <a:rPr sz="800" b="1" dirty="0" err="1">
                <a:solidFill>
                  <a:srgbClr val="404040"/>
                </a:solidFill>
                <a:latin typeface="맑은 고딕"/>
                <a:ea typeface="맑은 고딕"/>
                <a:cs typeface="맑은 고딕"/>
              </a:rPr>
              <a:t>조회</a:t>
            </a:r>
            <a:endParaRPr sz="800" b="1" dirty="0">
              <a:solidFill>
                <a:srgbClr val="404040"/>
              </a:solidFill>
              <a:latin typeface="맑은 고딕"/>
              <a:ea typeface="맑은 고딕"/>
              <a:cs typeface="맑은 고딕"/>
            </a:endParaRPr>
          </a:p>
        </p:txBody>
      </p:sp>
      <p:sp>
        <p:nvSpPr>
          <p:cNvPr id="204" name="Rectangle 61"/>
          <p:cNvSpPr/>
          <p:nvPr/>
        </p:nvSpPr>
        <p:spPr>
          <a:xfrm>
            <a:off x="1325880" y="4937760"/>
            <a:ext cx="1188720" cy="38404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W/L </a:t>
            </a:r>
            <a:r>
              <a:rPr sz="850" b="1" dirty="0" err="1">
                <a:solidFill>
                  <a:srgbClr val="000000"/>
                </a:solidFill>
                <a:latin typeface="맑은 고딕"/>
                <a:ea typeface="맑은 고딕"/>
                <a:cs typeface="맑은 고딕"/>
              </a:rPr>
              <a:t>대표</a:t>
            </a:r>
            <a:r>
              <a:rPr sz="850" b="1" dirty="0">
                <a:solidFill>
                  <a:srgbClr val="000000"/>
                </a:solidFill>
                <a:latin typeface="맑은 고딕"/>
                <a:ea typeface="맑은 고딕"/>
                <a:cs typeface="맑은 고딕"/>
              </a:rPr>
              <a:t> Query</a:t>
            </a:r>
          </a:p>
        </p:txBody>
      </p:sp>
      <p:sp>
        <p:nvSpPr>
          <p:cNvPr id="205" name="Rectangle 62"/>
          <p:cNvSpPr/>
          <p:nvPr/>
        </p:nvSpPr>
        <p:spPr>
          <a:xfrm>
            <a:off x="3063239" y="4937760"/>
            <a:ext cx="1188720" cy="38404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Context KV 1 · 2</a:t>
            </a:r>
          </a:p>
        </p:txBody>
      </p:sp>
      <p:sp>
        <p:nvSpPr>
          <p:cNvPr id="206" name="Rectangle 63"/>
          <p:cNvSpPr/>
          <p:nvPr/>
        </p:nvSpPr>
        <p:spPr>
          <a:xfrm>
            <a:off x="4800600" y="4937760"/>
            <a:ext cx="1188720" cy="384048"/>
          </a:xfrm>
          <a:prstGeom prst="rect">
            <a:avLst/>
          </a:prstGeom>
          <a:solidFill>
            <a:srgbClr val="FFF2CC"/>
          </a:solidFill>
          <a:ln w="10160">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200"/>
              </a:spcAft>
            </a:pPr>
            <a:r>
              <a:rPr sz="850" b="1">
                <a:solidFill>
                  <a:srgbClr val="000000"/>
                </a:solidFill>
                <a:latin typeface="맑은 고딕"/>
                <a:ea typeface="맑은 고딕"/>
                <a:cs typeface="맑은 고딕"/>
              </a:rPr>
              <a:t>version · validity</a:t>
            </a:r>
          </a:p>
        </p:txBody>
      </p:sp>
      <p:sp>
        <p:nvSpPr>
          <p:cNvPr id="207" name="Rectangle 64"/>
          <p:cNvSpPr/>
          <p:nvPr/>
        </p:nvSpPr>
        <p:spPr>
          <a:xfrm>
            <a:off x="6537959" y="4937760"/>
            <a:ext cx="1188720" cy="38404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err="1">
                <a:solidFill>
                  <a:srgbClr val="000000"/>
                </a:solidFill>
                <a:latin typeface="맑은 고딕"/>
                <a:ea typeface="맑은 고딕"/>
                <a:cs typeface="맑은 고딕"/>
              </a:rPr>
              <a:t>KV별</a:t>
            </a:r>
            <a:r>
              <a:rPr sz="850" b="1" dirty="0">
                <a:solidFill>
                  <a:srgbClr val="000000"/>
                </a:solidFill>
                <a:latin typeface="맑은 고딕"/>
                <a:ea typeface="맑은 고딕"/>
                <a:cs typeface="맑은 고딕"/>
              </a:rPr>
              <a:t> </a:t>
            </a:r>
            <a:r>
              <a:rPr sz="850" b="1" dirty="0" err="1">
                <a:solidFill>
                  <a:srgbClr val="000000"/>
                </a:solidFill>
                <a:latin typeface="맑은 고딕"/>
                <a:ea typeface="맑은 고딕"/>
                <a:cs typeface="맑은 고딕"/>
              </a:rPr>
              <a:t>재계산</a:t>
            </a:r>
            <a:r>
              <a:rPr sz="850" b="1" dirty="0">
                <a:solidFill>
                  <a:srgbClr val="000000"/>
                </a:solidFill>
                <a:latin typeface="맑은 고딕"/>
                <a:ea typeface="맑은 고딕"/>
                <a:cs typeface="맑은 고딕"/>
              </a:rPr>
              <a:t> </a:t>
            </a:r>
            <a:r>
              <a:rPr sz="850" b="1" dirty="0" err="1">
                <a:solidFill>
                  <a:srgbClr val="000000"/>
                </a:solidFill>
                <a:latin typeface="맑은 고딕"/>
                <a:ea typeface="맑은 고딕"/>
                <a:cs typeface="맑은 고딕"/>
              </a:rPr>
              <a:t>위치</a:t>
            </a:r>
            <a:endParaRPr sz="850" b="1" dirty="0">
              <a:solidFill>
                <a:srgbClr val="000000"/>
              </a:solidFill>
              <a:latin typeface="맑은 고딕"/>
              <a:ea typeface="맑은 고딕"/>
              <a:cs typeface="맑은 고딕"/>
            </a:endParaRPr>
          </a:p>
        </p:txBody>
      </p:sp>
      <p:cxnSp>
        <p:nvCxnSpPr>
          <p:cNvPr id="208" name="Connector 65"/>
          <p:cNvCxnSpPr/>
          <p:nvPr/>
        </p:nvCxnSpPr>
        <p:spPr>
          <a:xfrm>
            <a:off x="1920240" y="4114800"/>
            <a:ext cx="0" cy="82296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1965960" y="4434840"/>
            <a:ext cx="822960" cy="201168"/>
          </a:xfrm>
          <a:prstGeom prst="rect">
            <a:avLst/>
          </a:prstGeom>
          <a:noFill/>
        </p:spPr>
        <p:txBody>
          <a:bodyPr wrap="square" lIns="45720" tIns="27432" rIns="45720" bIns="27432" anchor="t">
            <a:spAutoFit/>
          </a:bodyPr>
          <a:lstStyle/>
          <a:p>
            <a:pPr algn="l">
              <a:spcAft>
                <a:spcPts val="200"/>
              </a:spcAft>
            </a:pPr>
            <a:r>
              <a:rPr sz="750" b="0">
                <a:solidFill>
                  <a:srgbClr val="C55A11"/>
                </a:solidFill>
                <a:latin typeface="맑은 고딕"/>
                <a:ea typeface="맑은 고딕"/>
                <a:cs typeface="맑은 고딕"/>
              </a:rPr>
              <a:t>write</a:t>
            </a:r>
          </a:p>
        </p:txBody>
      </p:sp>
      <p:cxnSp>
        <p:nvCxnSpPr>
          <p:cNvPr id="210" name="Connector 67"/>
          <p:cNvCxnSpPr/>
          <p:nvPr/>
        </p:nvCxnSpPr>
        <p:spPr>
          <a:xfrm>
            <a:off x="7132320" y="4114800"/>
            <a:ext cx="0" cy="82296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7178040" y="4434840"/>
            <a:ext cx="822960" cy="201168"/>
          </a:xfrm>
          <a:prstGeom prst="rect">
            <a:avLst/>
          </a:prstGeom>
          <a:noFill/>
        </p:spPr>
        <p:txBody>
          <a:bodyPr wrap="square" lIns="45720" tIns="27432" rIns="45720" bIns="27432" anchor="t">
            <a:spAutoFit/>
          </a:bodyPr>
          <a:lstStyle/>
          <a:p>
            <a:pPr algn="l">
              <a:spcAft>
                <a:spcPts val="200"/>
              </a:spcAft>
            </a:pPr>
            <a:r>
              <a:rPr sz="750" b="0">
                <a:solidFill>
                  <a:srgbClr val="C55A11"/>
                </a:solidFill>
                <a:latin typeface="맑은 고딕"/>
                <a:ea typeface="맑은 고딕"/>
                <a:cs typeface="맑은 고딕"/>
              </a:rPr>
              <a:t>write</a:t>
            </a:r>
          </a:p>
        </p:txBody>
      </p:sp>
      <p:cxnSp>
        <p:nvCxnSpPr>
          <p:cNvPr id="212" name="Connector 69"/>
          <p:cNvCxnSpPr/>
          <p:nvPr/>
        </p:nvCxnSpPr>
        <p:spPr>
          <a:xfrm flipV="1">
            <a:off x="3657599" y="4114800"/>
            <a:ext cx="0" cy="822960"/>
          </a:xfrm>
          <a:prstGeom prst="line">
            <a:avLst/>
          </a:prstGeom>
          <a:ln w="1524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213" name="TextBox 212"/>
          <p:cNvSpPr txBox="1"/>
          <p:nvPr/>
        </p:nvSpPr>
        <p:spPr>
          <a:xfrm>
            <a:off x="3703320" y="4434840"/>
            <a:ext cx="822960" cy="201168"/>
          </a:xfrm>
          <a:prstGeom prst="rect">
            <a:avLst/>
          </a:prstGeom>
          <a:noFill/>
        </p:spPr>
        <p:txBody>
          <a:bodyPr wrap="square" lIns="45720" tIns="27432" rIns="45720" bIns="27432" anchor="t">
            <a:spAutoFit/>
          </a:bodyPr>
          <a:lstStyle/>
          <a:p>
            <a:pPr algn="l">
              <a:spcAft>
                <a:spcPts val="200"/>
              </a:spcAft>
            </a:pPr>
            <a:r>
              <a:rPr sz="750" b="0">
                <a:solidFill>
                  <a:srgbClr val="595959"/>
                </a:solidFill>
                <a:latin typeface="맑은 고딕"/>
                <a:ea typeface="맑은 고딕"/>
                <a:cs typeface="맑은 고딕"/>
              </a:rPr>
              <a:t>read</a:t>
            </a:r>
          </a:p>
        </p:txBody>
      </p:sp>
      <p:sp>
        <p:nvSpPr>
          <p:cNvPr id="216" name="Rectangle 71"/>
          <p:cNvSpPr/>
          <p:nvPr/>
        </p:nvSpPr>
        <p:spPr>
          <a:xfrm>
            <a:off x="10881360" y="4690872"/>
            <a:ext cx="384048" cy="182880"/>
          </a:xfrm>
          <a:prstGeom prst="rect">
            <a:avLst/>
          </a:prstGeom>
          <a:solidFill>
            <a:srgbClr val="404040"/>
          </a:solidFill>
          <a:ln w="1016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700" b="1">
                <a:solidFill>
                  <a:srgbClr val="FFFFFF"/>
                </a:solidFill>
                <a:latin typeface="맑은 고딕"/>
                <a:ea typeface="맑은 고딕"/>
                <a:cs typeface="맑은 고딕"/>
              </a:rPr>
              <a:t>DP1</a:t>
            </a:r>
          </a:p>
        </p:txBody>
      </p:sp>
      <p:sp>
        <p:nvSpPr>
          <p:cNvPr id="218" name="Rectangle 72"/>
          <p:cNvSpPr/>
          <p:nvPr/>
        </p:nvSpPr>
        <p:spPr>
          <a:xfrm>
            <a:off x="6446520" y="5559552"/>
            <a:ext cx="4892040" cy="841248"/>
          </a:xfrm>
          <a:prstGeom prst="rect">
            <a:avLst/>
          </a:prstGeom>
          <a:solidFill>
            <a:srgbClr val="FEF4EC"/>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TextBox 219"/>
          <p:cNvSpPr txBox="1"/>
          <p:nvPr/>
        </p:nvSpPr>
        <p:spPr>
          <a:xfrm>
            <a:off x="6492240" y="5568696"/>
            <a:ext cx="3657600" cy="201168"/>
          </a:xfrm>
          <a:prstGeom prst="rect">
            <a:avLst/>
          </a:prstGeom>
          <a:noFill/>
        </p:spPr>
        <p:txBody>
          <a:bodyPr wrap="square" lIns="45720" tIns="27432" rIns="45720" bIns="27432" anchor="t">
            <a:spAutoFit/>
          </a:bodyPr>
          <a:lstStyle/>
          <a:p>
            <a:pPr algn="l">
              <a:spcAft>
                <a:spcPts val="200"/>
              </a:spcAft>
            </a:pPr>
            <a:r>
              <a:rPr sz="800" b="1">
                <a:solidFill>
                  <a:srgbClr val="C55A11"/>
                </a:solidFill>
                <a:latin typeface="맑은 고딕"/>
                <a:ea typeface="맑은 고딕"/>
                <a:cs typeface="맑은 고딕"/>
              </a:rPr>
              <a:t>서빙 경로 (요청 1…N마다, 동기)</a:t>
            </a:r>
          </a:p>
        </p:txBody>
      </p:sp>
      <p:sp>
        <p:nvSpPr>
          <p:cNvPr id="221" name="Rectangle 74"/>
          <p:cNvSpPr/>
          <p:nvPr/>
        </p:nvSpPr>
        <p:spPr>
          <a:xfrm>
            <a:off x="6537959" y="5833872"/>
            <a:ext cx="1188720" cy="45720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User Query Manager</a:t>
            </a:r>
          </a:p>
          <a:p>
            <a:pPr algn="ctr">
              <a:spcAft>
                <a:spcPts val="0"/>
              </a:spcAft>
            </a:pPr>
            <a:r>
              <a:rPr sz="700" b="1">
                <a:solidFill>
                  <a:srgbClr val="000000"/>
                </a:solidFill>
                <a:latin typeface="맑은 고딕"/>
                <a:ea typeface="맑은 고딕"/>
                <a:cs typeface="맑은 고딕"/>
              </a:rPr>
              <a:t>실제 Query</a:t>
            </a:r>
          </a:p>
        </p:txBody>
      </p:sp>
      <p:sp>
        <p:nvSpPr>
          <p:cNvPr id="224" name="Rectangle 75"/>
          <p:cNvSpPr/>
          <p:nvPr/>
        </p:nvSpPr>
        <p:spPr>
          <a:xfrm>
            <a:off x="8275319" y="5833872"/>
            <a:ext cx="1188720" cy="45720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Selective Recomputer</a:t>
            </a:r>
          </a:p>
          <a:p>
            <a:pPr algn="ctr">
              <a:spcAft>
                <a:spcPts val="0"/>
              </a:spcAft>
            </a:pPr>
            <a:r>
              <a:rPr sz="700" b="1">
                <a:solidFill>
                  <a:srgbClr val="000000"/>
                </a:solidFill>
                <a:latin typeface="맑은 고딕"/>
                <a:ea typeface="맑은 고딕"/>
                <a:cs typeface="맑은 고딕"/>
              </a:rPr>
              <a:t>재계산 위치 조회 후 재계산</a:t>
            </a:r>
          </a:p>
        </p:txBody>
      </p:sp>
      <p:sp>
        <p:nvSpPr>
          <p:cNvPr id="225" name="Rectangle 76"/>
          <p:cNvSpPr/>
          <p:nvPr/>
        </p:nvSpPr>
        <p:spPr>
          <a:xfrm>
            <a:off x="10012680" y="5833872"/>
            <a:ext cx="1188720" cy="45720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Decode</a:t>
            </a:r>
          </a:p>
          <a:p>
            <a:pPr algn="ctr">
              <a:spcAft>
                <a:spcPts val="0"/>
              </a:spcAft>
            </a:pPr>
            <a:r>
              <a:rPr sz="700" b="1">
                <a:solidFill>
                  <a:srgbClr val="000000"/>
                </a:solidFill>
                <a:latin typeface="맑은 고딕"/>
                <a:ea typeface="맑은 고딕"/>
                <a:cs typeface="맑은 고딕"/>
              </a:rPr>
              <a:t>응답 생성</a:t>
            </a:r>
          </a:p>
        </p:txBody>
      </p:sp>
      <p:sp>
        <p:nvSpPr>
          <p:cNvPr id="226" name="Rectangle 77"/>
          <p:cNvSpPr/>
          <p:nvPr/>
        </p:nvSpPr>
        <p:spPr>
          <a:xfrm>
            <a:off x="9098280" y="5742432"/>
            <a:ext cx="384048" cy="182880"/>
          </a:xfrm>
          <a:prstGeom prst="rect">
            <a:avLst/>
          </a:prstGeom>
          <a:solidFill>
            <a:srgbClr val="404040"/>
          </a:solidFill>
          <a:ln w="1016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700" b="1">
                <a:solidFill>
                  <a:srgbClr val="FFFFFF"/>
                </a:solidFill>
                <a:latin typeface="맑은 고딕"/>
                <a:ea typeface="맑은 고딕"/>
                <a:cs typeface="맑은 고딕"/>
              </a:rPr>
              <a:t>DP2</a:t>
            </a:r>
          </a:p>
        </p:txBody>
      </p:sp>
      <p:cxnSp>
        <p:nvCxnSpPr>
          <p:cNvPr id="227" name="Connector 78"/>
          <p:cNvCxnSpPr/>
          <p:nvPr/>
        </p:nvCxnSpPr>
        <p:spPr>
          <a:xfrm>
            <a:off x="7726679" y="6062472"/>
            <a:ext cx="548640" cy="0"/>
          </a:xfrm>
          <a:prstGeom prst="line">
            <a:avLst/>
          </a:prstGeom>
          <a:ln w="1905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228" name="Connector 79"/>
          <p:cNvCxnSpPr/>
          <p:nvPr/>
        </p:nvCxnSpPr>
        <p:spPr>
          <a:xfrm>
            <a:off x="9464040" y="6062472"/>
            <a:ext cx="548640" cy="0"/>
          </a:xfrm>
          <a:prstGeom prst="line">
            <a:avLst/>
          </a:prstGeom>
          <a:ln w="1905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229" name="Connector 80"/>
          <p:cNvCxnSpPr/>
          <p:nvPr/>
        </p:nvCxnSpPr>
        <p:spPr>
          <a:xfrm>
            <a:off x="8869680" y="5394960"/>
            <a:ext cx="0" cy="438912"/>
          </a:xfrm>
          <a:prstGeom prst="line">
            <a:avLst/>
          </a:prstGeom>
          <a:ln w="2286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8961119" y="5029200"/>
            <a:ext cx="2377440" cy="201168"/>
          </a:xfrm>
          <a:prstGeom prst="rect">
            <a:avLst/>
          </a:prstGeom>
          <a:noFill/>
        </p:spPr>
        <p:txBody>
          <a:bodyPr wrap="square" lIns="45720" tIns="27432" rIns="45720" bIns="27432" anchor="t">
            <a:spAutoFit/>
          </a:bodyPr>
          <a:lstStyle/>
          <a:p>
            <a:pPr algn="l">
              <a:spcAft>
                <a:spcPts val="200"/>
              </a:spcAft>
            </a:pPr>
            <a:r>
              <a:rPr sz="700" b="0" dirty="0">
                <a:solidFill>
                  <a:srgbClr val="C55A11"/>
                </a:solidFill>
                <a:latin typeface="맑은 고딕"/>
                <a:ea typeface="맑은 고딕"/>
                <a:cs typeface="맑은 고딕"/>
              </a:rPr>
              <a:t>read (</a:t>
            </a:r>
            <a:r>
              <a:rPr sz="700" b="0" dirty="0" err="1">
                <a:solidFill>
                  <a:srgbClr val="C55A11"/>
                </a:solidFill>
                <a:latin typeface="맑은 고딕"/>
                <a:ea typeface="맑은 고딕"/>
                <a:cs typeface="맑은 고딕"/>
              </a:rPr>
              <a:t>동기</a:t>
            </a:r>
            <a:r>
              <a:rPr sz="700" b="0" dirty="0">
                <a:solidFill>
                  <a:srgbClr val="C55A11"/>
                </a:solidFill>
                <a:latin typeface="맑은 고딕"/>
                <a:ea typeface="맑은 고딕"/>
                <a:cs typeface="맑은 고딕"/>
              </a:rPr>
              <a:t>): </a:t>
            </a:r>
            <a:r>
              <a:rPr sz="700" b="0" dirty="0" err="1">
                <a:solidFill>
                  <a:srgbClr val="C55A11"/>
                </a:solidFill>
                <a:latin typeface="맑은 고딕"/>
                <a:ea typeface="맑은 고딕"/>
                <a:cs typeface="맑은 고딕"/>
              </a:rPr>
              <a:t>재계산</a:t>
            </a:r>
            <a:r>
              <a:rPr sz="700" b="0" dirty="0">
                <a:solidFill>
                  <a:srgbClr val="C55A11"/>
                </a:solidFill>
                <a:latin typeface="맑은 고딕"/>
                <a:ea typeface="맑은 고딕"/>
                <a:cs typeface="맑은 고딕"/>
              </a:rPr>
              <a:t> </a:t>
            </a:r>
            <a:r>
              <a:rPr sz="700" b="0" dirty="0" err="1">
                <a:solidFill>
                  <a:srgbClr val="C55A11"/>
                </a:solidFill>
                <a:latin typeface="맑은 고딕"/>
                <a:ea typeface="맑은 고딕"/>
                <a:cs typeface="맑은 고딕"/>
              </a:rPr>
              <a:t>위치</a:t>
            </a:r>
            <a:r>
              <a:rPr sz="700" b="0" dirty="0">
                <a:solidFill>
                  <a:srgbClr val="C55A11"/>
                </a:solidFill>
                <a:latin typeface="맑은 고딕"/>
                <a:ea typeface="맑은 고딕"/>
                <a:cs typeface="맑은 고딕"/>
              </a:rPr>
              <a:t> · Context KV</a:t>
            </a:r>
          </a:p>
        </p:txBody>
      </p:sp>
      <p:sp>
        <p:nvSpPr>
          <p:cNvPr id="233" name="Right Arrow 82"/>
          <p:cNvSpPr/>
          <p:nvPr/>
        </p:nvSpPr>
        <p:spPr>
          <a:xfrm>
            <a:off x="1280160" y="5623560"/>
            <a:ext cx="320040" cy="22860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TextBox 233"/>
          <p:cNvSpPr txBox="1"/>
          <p:nvPr/>
        </p:nvSpPr>
        <p:spPr>
          <a:xfrm>
            <a:off x="1645920" y="5532120"/>
            <a:ext cx="4709160" cy="717119"/>
          </a:xfrm>
          <a:prstGeom prst="rect">
            <a:avLst/>
          </a:prstGeom>
          <a:noFill/>
        </p:spPr>
        <p:txBody>
          <a:bodyPr wrap="square" lIns="45720" tIns="27432" rIns="45720" bIns="27432" anchor="t">
            <a:spAutoFit/>
          </a:bodyPr>
          <a:lstStyle/>
          <a:p>
            <a:pPr algn="l">
              <a:spcAft>
                <a:spcPts val="200"/>
              </a:spcAft>
            </a:pPr>
            <a:r>
              <a:rPr sz="950" b="1" dirty="0" err="1">
                <a:solidFill>
                  <a:srgbClr val="0066FF"/>
                </a:solidFill>
                <a:latin typeface="맑은 고딕"/>
                <a:ea typeface="맑은 고딕"/>
                <a:cs typeface="맑은 고딕"/>
              </a:rPr>
              <a:t>흐름</a:t>
            </a:r>
            <a:r>
              <a:rPr sz="950" b="1" dirty="0">
                <a:solidFill>
                  <a:srgbClr val="0066FF"/>
                </a:solidFill>
                <a:latin typeface="맑은 고딕"/>
                <a:ea typeface="맑은 고딕"/>
                <a:cs typeface="맑은 고딕"/>
              </a:rPr>
              <a:t> </a:t>
            </a:r>
            <a:r>
              <a:rPr sz="950" b="1" dirty="0" err="1">
                <a:solidFill>
                  <a:srgbClr val="0066FF"/>
                </a:solidFill>
                <a:latin typeface="맑은 고딕"/>
                <a:ea typeface="맑은 고딕"/>
                <a:cs typeface="맑은 고딕"/>
              </a:rPr>
              <a:t>순서</a:t>
            </a:r>
            <a:r>
              <a:rPr sz="950" b="1" dirty="0">
                <a:solidFill>
                  <a:srgbClr val="0066FF"/>
                </a:solidFill>
                <a:latin typeface="맑은 고딕"/>
                <a:ea typeface="맑은 고딕"/>
                <a:cs typeface="맑은 고딕"/>
              </a:rPr>
              <a:t>(QS/UQM → AM → KVS → RTS → SR)는 두 </a:t>
            </a:r>
            <a:r>
              <a:rPr sz="950" b="1" dirty="0" err="1">
                <a:solidFill>
                  <a:srgbClr val="0066FF"/>
                </a:solidFill>
                <a:latin typeface="맑은 고딕"/>
                <a:ea typeface="맑은 고딕"/>
                <a:cs typeface="맑은 고딕"/>
              </a:rPr>
              <a:t>안이</a:t>
            </a:r>
            <a:r>
              <a:rPr sz="950" b="1" dirty="0">
                <a:solidFill>
                  <a:srgbClr val="0066FF"/>
                </a:solidFill>
                <a:latin typeface="맑은 고딕"/>
                <a:ea typeface="맑은 고딕"/>
                <a:cs typeface="맑은 고딕"/>
              </a:rPr>
              <a:t> </a:t>
            </a:r>
            <a:r>
              <a:rPr sz="950" b="1" dirty="0" err="1">
                <a:solidFill>
                  <a:srgbClr val="0066FF"/>
                </a:solidFill>
                <a:latin typeface="맑은 고딕"/>
                <a:ea typeface="맑은 고딕"/>
                <a:cs typeface="맑은 고딕"/>
              </a:rPr>
              <a:t>동일</a:t>
            </a:r>
            <a:endParaRPr sz="950" b="1" dirty="0">
              <a:solidFill>
                <a:srgbClr val="0066FF"/>
              </a:solidFill>
              <a:latin typeface="맑은 고딕"/>
              <a:ea typeface="맑은 고딕"/>
              <a:cs typeface="맑은 고딕"/>
            </a:endParaRPr>
          </a:p>
          <a:p>
            <a:pPr algn="l">
              <a:spcAft>
                <a:spcPts val="200"/>
              </a:spcAft>
            </a:pPr>
            <a:r>
              <a:rPr sz="950" b="0" dirty="0" err="1">
                <a:solidFill>
                  <a:srgbClr val="404040"/>
                </a:solidFill>
                <a:latin typeface="맑은 고딕"/>
                <a:ea typeface="맑은 고딕"/>
                <a:cs typeface="맑은 고딕"/>
              </a:rPr>
              <a:t>달라지는</a:t>
            </a:r>
            <a:r>
              <a:rPr sz="950" b="0" dirty="0">
                <a:solidFill>
                  <a:srgbClr val="404040"/>
                </a:solidFill>
                <a:latin typeface="맑은 고딕"/>
                <a:ea typeface="맑은 고딕"/>
                <a:cs typeface="맑은 고딕"/>
              </a:rPr>
              <a:t> 것 </a:t>
            </a:r>
            <a:endParaRPr lang="en-US" sz="950" b="0" dirty="0">
              <a:solidFill>
                <a:srgbClr val="404040"/>
              </a:solidFill>
              <a:latin typeface="맑은 고딕"/>
              <a:ea typeface="맑은 고딕"/>
              <a:cs typeface="맑은 고딕"/>
            </a:endParaRPr>
          </a:p>
          <a:p>
            <a:pPr algn="l">
              <a:spcAft>
                <a:spcPts val="200"/>
              </a:spcAft>
            </a:pPr>
            <a:r>
              <a:rPr sz="950" b="0" dirty="0">
                <a:solidFill>
                  <a:srgbClr val="C00000"/>
                </a:solidFill>
                <a:latin typeface="맑은 고딕"/>
                <a:ea typeface="맑은 고딕"/>
                <a:cs typeface="맑은 고딕"/>
              </a:rPr>
              <a:t>① </a:t>
            </a:r>
            <a:r>
              <a:rPr sz="950" b="0" dirty="0" err="1">
                <a:solidFill>
                  <a:srgbClr val="C00000"/>
                </a:solidFill>
                <a:latin typeface="맑은 고딕"/>
                <a:ea typeface="맑은 고딕"/>
                <a:cs typeface="맑은 고딕"/>
              </a:rPr>
              <a:t>필터를</a:t>
            </a:r>
            <a:r>
              <a:rPr sz="950" b="0" dirty="0">
                <a:solidFill>
                  <a:srgbClr val="C00000"/>
                </a:solidFill>
                <a:latin typeface="맑은 고딕"/>
                <a:ea typeface="맑은 고딕"/>
                <a:cs typeface="맑은 고딕"/>
              </a:rPr>
              <a:t> </a:t>
            </a:r>
            <a:r>
              <a:rPr sz="950" b="0" dirty="0" err="1">
                <a:solidFill>
                  <a:srgbClr val="C00000"/>
                </a:solidFill>
                <a:latin typeface="맑은 고딕"/>
                <a:ea typeface="맑은 고딕"/>
                <a:cs typeface="맑은 고딕"/>
              </a:rPr>
              <a:t>잇는</a:t>
            </a:r>
            <a:r>
              <a:rPr sz="950" b="0" dirty="0">
                <a:solidFill>
                  <a:srgbClr val="C00000"/>
                </a:solidFill>
                <a:latin typeface="맑은 고딕"/>
                <a:ea typeface="맑은 고딕"/>
                <a:cs typeface="맑은 고딕"/>
              </a:rPr>
              <a:t> connector: Pipe → </a:t>
            </a:r>
            <a:r>
              <a:rPr sz="950" b="0" dirty="0" err="1">
                <a:solidFill>
                  <a:srgbClr val="C00000"/>
                </a:solidFill>
                <a:latin typeface="맑은 고딕"/>
                <a:ea typeface="맑은 고딕"/>
                <a:cs typeface="맑은 고딕"/>
              </a:rPr>
              <a:t>공유</a:t>
            </a:r>
            <a:r>
              <a:rPr sz="950" b="0" dirty="0">
                <a:solidFill>
                  <a:srgbClr val="C00000"/>
                </a:solidFill>
                <a:latin typeface="맑은 고딕"/>
                <a:ea typeface="맑은 고딕"/>
                <a:cs typeface="맑은 고딕"/>
              </a:rPr>
              <a:t> Repository  </a:t>
            </a:r>
            <a:endParaRPr lang="en-US" sz="950" b="0" dirty="0">
              <a:solidFill>
                <a:srgbClr val="C00000"/>
              </a:solidFill>
              <a:latin typeface="맑은 고딕"/>
              <a:ea typeface="맑은 고딕"/>
              <a:cs typeface="맑은 고딕"/>
            </a:endParaRPr>
          </a:p>
          <a:p>
            <a:pPr algn="l">
              <a:spcAft>
                <a:spcPts val="200"/>
              </a:spcAft>
            </a:pPr>
            <a:r>
              <a:rPr sz="950" b="0" dirty="0">
                <a:solidFill>
                  <a:srgbClr val="C00000"/>
                </a:solidFill>
                <a:latin typeface="맑은 고딕"/>
                <a:ea typeface="맑은 고딕"/>
                <a:cs typeface="맑은 고딕"/>
              </a:rPr>
              <a:t>② </a:t>
            </a:r>
            <a:r>
              <a:rPr sz="950" b="0" dirty="0" err="1">
                <a:solidFill>
                  <a:srgbClr val="C00000"/>
                </a:solidFill>
                <a:latin typeface="맑은 고딕"/>
                <a:ea typeface="맑은 고딕"/>
                <a:cs typeface="맑은 고딕"/>
              </a:rPr>
              <a:t>실행</a:t>
            </a:r>
            <a:r>
              <a:rPr sz="950" b="0" dirty="0">
                <a:solidFill>
                  <a:srgbClr val="C00000"/>
                </a:solidFill>
                <a:latin typeface="맑은 고딕"/>
                <a:ea typeface="맑은 고딕"/>
                <a:cs typeface="맑은 고딕"/>
              </a:rPr>
              <a:t> </a:t>
            </a:r>
            <a:r>
              <a:rPr sz="950" b="0" dirty="0" err="1">
                <a:solidFill>
                  <a:srgbClr val="C00000"/>
                </a:solidFill>
                <a:latin typeface="맑은 고딕"/>
                <a:ea typeface="맑은 고딕"/>
                <a:cs typeface="맑은 고딕"/>
              </a:rPr>
              <a:t>시점</a:t>
            </a:r>
            <a:r>
              <a:rPr sz="950" b="0" dirty="0">
                <a:solidFill>
                  <a:srgbClr val="C00000"/>
                </a:solidFill>
                <a:latin typeface="맑은 고딕"/>
                <a:ea typeface="맑은 고딕"/>
                <a:cs typeface="맑은 고딕"/>
              </a:rPr>
              <a:t>: </a:t>
            </a:r>
            <a:r>
              <a:rPr sz="950" b="0" dirty="0" err="1">
                <a:solidFill>
                  <a:srgbClr val="C00000"/>
                </a:solidFill>
                <a:latin typeface="맑은 고딕"/>
                <a:ea typeface="맑은 고딕"/>
                <a:cs typeface="맑은 고딕"/>
              </a:rPr>
              <a:t>요청마다</a:t>
            </a:r>
            <a:r>
              <a:rPr sz="950" b="0" dirty="0">
                <a:solidFill>
                  <a:srgbClr val="C00000"/>
                </a:solidFill>
                <a:latin typeface="맑은 고딕"/>
                <a:ea typeface="맑은 고딕"/>
                <a:cs typeface="맑은 고딕"/>
              </a:rPr>
              <a:t> → </a:t>
            </a:r>
            <a:r>
              <a:rPr sz="950" b="0" dirty="0" err="1">
                <a:solidFill>
                  <a:srgbClr val="C00000"/>
                </a:solidFill>
                <a:latin typeface="맑은 고딕"/>
                <a:ea typeface="맑은 고딕"/>
                <a:cs typeface="맑은 고딕"/>
              </a:rPr>
              <a:t>사전</a:t>
            </a:r>
            <a:r>
              <a:rPr sz="950" b="0" dirty="0">
                <a:solidFill>
                  <a:srgbClr val="C00000"/>
                </a:solidFill>
                <a:latin typeface="맑은 고딕"/>
                <a:ea typeface="맑은 고딕"/>
                <a:cs typeface="맑은 고딕"/>
              </a:rPr>
              <a:t> 1회 + </a:t>
            </a:r>
            <a:r>
              <a:rPr sz="950" b="0" dirty="0" err="1">
                <a:solidFill>
                  <a:srgbClr val="C00000"/>
                </a:solidFill>
                <a:latin typeface="맑은 고딕"/>
                <a:ea typeface="맑은 고딕"/>
                <a:cs typeface="맑은 고딕"/>
              </a:rPr>
              <a:t>서빙</a:t>
            </a:r>
            <a:r>
              <a:rPr sz="950" b="0" dirty="0">
                <a:solidFill>
                  <a:srgbClr val="C00000"/>
                </a:solidFill>
                <a:latin typeface="맑은 고딕"/>
                <a:ea typeface="맑은 고딕"/>
                <a:cs typeface="맑은 고딕"/>
              </a:rPr>
              <a:t> 시 </a:t>
            </a:r>
            <a:r>
              <a:rPr sz="950" b="0" dirty="0" err="1">
                <a:solidFill>
                  <a:srgbClr val="C00000"/>
                </a:solidFill>
                <a:latin typeface="맑은 고딕"/>
                <a:ea typeface="맑은 고딕"/>
                <a:cs typeface="맑은 고딕"/>
              </a:rPr>
              <a:t>조회</a:t>
            </a:r>
            <a:endParaRPr sz="950" b="0" dirty="0">
              <a:solidFill>
                <a:srgbClr val="C00000"/>
              </a:solidFill>
              <a:latin typeface="맑은 고딕"/>
              <a:ea typeface="맑은 고딕"/>
              <a:cs typeface="맑은 고딕"/>
            </a:endParaRPr>
          </a:p>
        </p:txBody>
      </p:sp>
      <p:sp>
        <p:nvSpPr>
          <p:cNvPr id="246" name="Rectangle 16"/>
          <p:cNvSpPr/>
          <p:nvPr/>
        </p:nvSpPr>
        <p:spPr>
          <a:xfrm>
            <a:off x="246888" y="1033271"/>
            <a:ext cx="1280160" cy="201168"/>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err="1">
                <a:solidFill>
                  <a:srgbClr val="000000"/>
                </a:solidFill>
                <a:latin typeface="맑은 고딕"/>
                <a:ea typeface="맑은 고딕"/>
                <a:cs typeface="맑은 고딕"/>
              </a:rPr>
              <a:t>공통</a:t>
            </a:r>
            <a:r>
              <a:rPr sz="800" b="1" dirty="0">
                <a:solidFill>
                  <a:srgbClr val="000000"/>
                </a:solidFill>
                <a:latin typeface="맑은 고딕"/>
                <a:ea typeface="맑은 고딕"/>
                <a:cs typeface="맑은 고딕"/>
              </a:rPr>
              <a:t> </a:t>
            </a:r>
            <a:r>
              <a:rPr sz="800" b="1" dirty="0" err="1">
                <a:solidFill>
                  <a:srgbClr val="000000"/>
                </a:solidFill>
                <a:latin typeface="맑은 고딕"/>
                <a:ea typeface="맑은 고딕"/>
                <a:cs typeface="맑은 고딕"/>
              </a:rPr>
              <a:t>모듈</a:t>
            </a:r>
            <a:r>
              <a:rPr sz="800" b="1" dirty="0">
                <a:solidFill>
                  <a:srgbClr val="000000"/>
                </a:solidFill>
                <a:latin typeface="맑은 고딕"/>
                <a:ea typeface="맑은 고딕"/>
                <a:cs typeface="맑은 고딕"/>
              </a:rPr>
              <a:t> · </a:t>
            </a:r>
            <a:r>
              <a:rPr sz="800" b="1" dirty="0" err="1">
                <a:solidFill>
                  <a:srgbClr val="000000"/>
                </a:solidFill>
                <a:latin typeface="맑은 고딕"/>
                <a:ea typeface="맑은 고딕"/>
                <a:cs typeface="맑은 고딕"/>
              </a:rPr>
              <a:t>연결</a:t>
            </a:r>
            <a:endParaRPr sz="800" b="1" dirty="0">
              <a:solidFill>
                <a:srgbClr val="000000"/>
              </a:solidFill>
              <a:latin typeface="맑은 고딕"/>
              <a:ea typeface="맑은 고딕"/>
              <a:cs typeface="맑은 고딕"/>
            </a:endParaRPr>
          </a:p>
        </p:txBody>
      </p:sp>
      <p:sp>
        <p:nvSpPr>
          <p:cNvPr id="299" name="Rectangle 17"/>
          <p:cNvSpPr/>
          <p:nvPr/>
        </p:nvSpPr>
        <p:spPr>
          <a:xfrm>
            <a:off x="1618488" y="1033271"/>
            <a:ext cx="1280160" cy="201168"/>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a:solidFill>
                  <a:srgbClr val="000000"/>
                </a:solidFill>
                <a:latin typeface="맑은 고딕"/>
                <a:ea typeface="맑은 고딕"/>
                <a:cs typeface="맑은 고딕"/>
              </a:rPr>
              <a:t>1안 고유</a:t>
            </a:r>
          </a:p>
        </p:txBody>
      </p:sp>
      <p:sp>
        <p:nvSpPr>
          <p:cNvPr id="300" name="Rectangle 18"/>
          <p:cNvSpPr/>
          <p:nvPr/>
        </p:nvSpPr>
        <p:spPr>
          <a:xfrm>
            <a:off x="2990088" y="1033271"/>
            <a:ext cx="1280160" cy="201168"/>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a:solidFill>
                  <a:srgbClr val="000000"/>
                </a:solidFill>
                <a:latin typeface="맑은 고딕"/>
                <a:ea typeface="맑은 고딕"/>
                <a:cs typeface="맑은 고딕"/>
              </a:rPr>
              <a:t>2안 고유</a:t>
            </a:r>
          </a:p>
        </p:txBody>
      </p:sp>
      <p:sp>
        <p:nvSpPr>
          <p:cNvPr id="301" name="Rectangle 19"/>
          <p:cNvSpPr/>
          <p:nvPr/>
        </p:nvSpPr>
        <p:spPr>
          <a:xfrm>
            <a:off x="4361688" y="1033271"/>
            <a:ext cx="1280160" cy="201168"/>
          </a:xfrm>
          <a:prstGeom prst="rect">
            <a:avLst/>
          </a:prstGeom>
          <a:solidFill>
            <a:srgbClr val="FFF2CC"/>
          </a:solidFill>
          <a:ln w="10160">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a:solidFill>
                  <a:srgbClr val="000000"/>
                </a:solidFill>
                <a:latin typeface="맑은 고딕"/>
                <a:ea typeface="맑은 고딕"/>
                <a:cs typeface="맑은 고딕"/>
              </a:rPr>
              <a:t>제안 (신규 가정)</a:t>
            </a:r>
          </a:p>
        </p:txBody>
      </p:sp>
      <p:sp>
        <p:nvSpPr>
          <p:cNvPr id="2" name="실행 단추: 뒤로 또는 이전 1">
            <a:hlinkClick r:id="rId3" action="ppaction://hlinksldjump" highlightClick="1"/>
          </p:cNvPr>
          <p:cNvSpPr/>
          <p:nvPr/>
        </p:nvSpPr>
        <p:spPr>
          <a:xfrm>
            <a:off x="7536180" y="198120"/>
            <a:ext cx="266700"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5" name="모서리가 둥근 직사각형 37">
            <a:extLst>
              <a:ext uri="{FF2B5EF4-FFF2-40B4-BE49-F238E27FC236}">
                <a16:creationId xmlns:a16="http://schemas.microsoft.com/office/drawing/2014/main" id="{46D73ECC-9887-47C4-B0DB-C25A77190AAC}"/>
              </a:ext>
            </a:extLst>
          </p:cNvPr>
          <p:cNvSpPr/>
          <p:nvPr/>
        </p:nvSpPr>
        <p:spPr>
          <a:xfrm>
            <a:off x="7784892" y="619129"/>
            <a:ext cx="1095752"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추론 정확도 보장</a:t>
            </a:r>
          </a:p>
        </p:txBody>
      </p:sp>
      <p:sp>
        <p:nvSpPr>
          <p:cNvPr id="86" name="모서리가 둥근 직사각형 135">
            <a:extLst>
              <a:ext uri="{FF2B5EF4-FFF2-40B4-BE49-F238E27FC236}">
                <a16:creationId xmlns:a16="http://schemas.microsoft.com/office/drawing/2014/main" id="{C9566933-AEF1-48E2-9654-649368610DF0}"/>
              </a:ext>
            </a:extLst>
          </p:cNvPr>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7" name="모서리가 둥근 직사각형 37">
            <a:extLst>
              <a:ext uri="{FF2B5EF4-FFF2-40B4-BE49-F238E27FC236}">
                <a16:creationId xmlns:a16="http://schemas.microsoft.com/office/drawing/2014/main" id="{5CF30DEB-9067-4F96-8E3F-2AD89899794E}"/>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8" name="모서리가 둥근 직사각형 37">
            <a:extLst>
              <a:ext uri="{FF2B5EF4-FFF2-40B4-BE49-F238E27FC236}">
                <a16:creationId xmlns:a16="http://schemas.microsoft.com/office/drawing/2014/main" id="{F5F71ED8-A036-4E7B-BA19-CD6B4D2DBA4D}"/>
              </a:ext>
            </a:extLst>
          </p:cNvPr>
          <p:cNvSpPr/>
          <p:nvPr/>
        </p:nvSpPr>
        <p:spPr>
          <a:xfrm>
            <a:off x="9430793" y="808072"/>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9" name="모서리가 둥근 직사각형 37">
            <a:extLst>
              <a:ext uri="{FF2B5EF4-FFF2-40B4-BE49-F238E27FC236}">
                <a16:creationId xmlns:a16="http://schemas.microsoft.com/office/drawing/2014/main" id="{C0FFD0A0-69BB-41C5-9FDB-42E6C29735D4}"/>
              </a:ext>
            </a:extLst>
          </p:cNvPr>
          <p:cNvSpPr/>
          <p:nvPr/>
        </p:nvSpPr>
        <p:spPr>
          <a:xfrm>
            <a:off x="10320379" y="815469"/>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0" name="모서리가 둥근 직사각형 37">
            <a:extLst>
              <a:ext uri="{FF2B5EF4-FFF2-40B4-BE49-F238E27FC236}">
                <a16:creationId xmlns:a16="http://schemas.microsoft.com/office/drawing/2014/main" id="{11955D2A-64ED-449D-949D-5E1332BC3267}"/>
              </a:ext>
            </a:extLst>
          </p:cNvPr>
          <p:cNvSpPr/>
          <p:nvPr/>
        </p:nvSpPr>
        <p:spPr>
          <a:xfrm>
            <a:off x="11209965" y="808072"/>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a:t>
            </a:r>
          </a:p>
        </p:txBody>
      </p:sp>
      <p:sp>
        <p:nvSpPr>
          <p:cNvPr id="91" name="모서리가 둥근 직사각형 149">
            <a:extLst>
              <a:ext uri="{FF2B5EF4-FFF2-40B4-BE49-F238E27FC236}">
                <a16:creationId xmlns:a16="http://schemas.microsoft.com/office/drawing/2014/main" id="{F1CEAB05-3715-440B-8165-36E746D20038}"/>
              </a:ext>
            </a:extLst>
          </p:cNvPr>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Tree>
    <p:extLst>
      <p:ext uri="{BB962C8B-B14F-4D97-AF65-F5344CB8AC3E}">
        <p14:creationId xmlns:p14="http://schemas.microsoft.com/office/powerpoint/2010/main" val="252711065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170</a:t>
            </a:fld>
            <a:endParaRPr lang="ko-KR" altLang="en-US" dirty="0"/>
          </a:p>
        </p:txBody>
      </p:sp>
      <p:sp>
        <p:nvSpPr>
          <p:cNvPr id="3" name="제목 2"/>
          <p:cNvSpPr>
            <a:spLocks noGrp="1"/>
          </p:cNvSpPr>
          <p:nvPr>
            <p:ph type="title"/>
          </p:nvPr>
        </p:nvSpPr>
        <p:spPr/>
        <p:txBody>
          <a:bodyPr/>
          <a:lstStyle/>
          <a:p>
            <a:r>
              <a:rPr lang="en-US" altLang="ko-KR" dirty="0"/>
              <a:t>DP4. </a:t>
            </a:r>
            <a:r>
              <a:rPr lang="ko-KR" altLang="en-US" dirty="0"/>
              <a:t>서버</a:t>
            </a:r>
            <a:r>
              <a:rPr lang="en-US" altLang="ko-KR" dirty="0"/>
              <a:t> 간 </a:t>
            </a:r>
            <a:r>
              <a:rPr lang="ko-KR" altLang="en-US" dirty="0"/>
              <a:t>데이터 </a:t>
            </a:r>
            <a:r>
              <a:rPr lang="en-US" altLang="ko-KR" dirty="0" err="1"/>
              <a:t>공유</a:t>
            </a:r>
            <a:r>
              <a:rPr lang="en-US" altLang="ko-KR" dirty="0"/>
              <a:t> </a:t>
            </a:r>
            <a:r>
              <a:rPr lang="en-US" altLang="ko-KR" dirty="0" err="1"/>
              <a:t>구조</a:t>
            </a:r>
            <a:r>
              <a:rPr lang="en-US" altLang="ko-KR" dirty="0"/>
              <a:t> – </a:t>
            </a:r>
            <a:r>
              <a:rPr lang="en-US" altLang="ko-KR" dirty="0" err="1"/>
              <a:t>배경</a:t>
            </a:r>
            <a:endParaRPr lang="en-US" altLang="ko-KR"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79" name="Text 22"/>
          <p:cNvSpPr/>
          <p:nvPr/>
        </p:nvSpPr>
        <p:spPr>
          <a:xfrm>
            <a:off x="359582" y="684751"/>
            <a:ext cx="11687638" cy="868680"/>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DP2는 Prefill/Decode </a:t>
            </a:r>
            <a:r>
              <a:rPr lang="ko-KR" altLang="en-US" sz="1200" dirty="0">
                <a:solidFill>
                  <a:srgbClr val="404040"/>
                </a:solidFill>
                <a:latin typeface="맑은 고딕" panose="020B0503020000020004" pitchFamily="50" charset="-127"/>
              </a:rPr>
              <a:t>실행 위치를 </a:t>
            </a:r>
            <a:r>
              <a:rPr lang="en-US" altLang="ko-KR" sz="1200" dirty="0" err="1">
                <a:solidFill>
                  <a:srgbClr val="404040"/>
                </a:solidFill>
                <a:latin typeface="맑은 고딕" panose="020B0503020000020004" pitchFamily="50" charset="-127"/>
              </a:rPr>
              <a:t>최적화하지만</a:t>
            </a:r>
            <a:r>
              <a:rPr lang="en-US" altLang="ko-KR" sz="1200" dirty="0">
                <a:solidFill>
                  <a:srgbClr val="404040"/>
                </a:solidFill>
                <a:latin typeface="맑은 고딕" panose="020B0503020000020004" pitchFamily="50" charset="-127"/>
              </a:rPr>
              <a:t> </a:t>
            </a:r>
            <a:r>
              <a:rPr lang="en-US" altLang="ko-KR" sz="1200" b="1" dirty="0">
                <a:solidFill>
                  <a:srgbClr val="FF0000"/>
                </a:solidFill>
                <a:latin typeface="맑은 고딕" panose="020B0503020000020004" pitchFamily="50" charset="-127"/>
              </a:rPr>
              <a:t>노드 간 KV 전송 비용 자체는 줄이지 못함 </a:t>
            </a:r>
            <a:r>
              <a:rPr lang="en-US" altLang="ko-KR" sz="1200" dirty="0">
                <a:solidFill>
                  <a:srgbClr val="404040"/>
                </a:solidFill>
                <a:latin typeface="맑은 고딕" panose="020B0503020000020004" pitchFamily="50" charset="-127"/>
              </a:rPr>
              <a:t>(Turn </a:t>
            </a:r>
            <a:r>
              <a:rPr lang="en-US" altLang="ko-KR" sz="1200" dirty="0" err="1">
                <a:solidFill>
                  <a:srgbClr val="404040"/>
                </a:solidFill>
                <a:latin typeface="맑은 고딕" panose="020B0503020000020004" pitchFamily="50" charset="-127"/>
              </a:rPr>
              <a:t>마다</a:t>
            </a:r>
            <a:r>
              <a:rPr lang="en-US" altLang="ko-KR" sz="1200" dirty="0">
                <a:solidFill>
                  <a:srgbClr val="404040"/>
                </a:solidFill>
                <a:latin typeface="맑은 고딕" panose="020B0503020000020004" pitchFamily="50" charset="-127"/>
              </a:rPr>
              <a:t> P↔D 왕복 누적)</a:t>
            </a:r>
          </a:p>
          <a:p>
            <a:pPr marL="285750" indent="-285750">
              <a:lnSpc>
                <a:spcPct val="150000"/>
              </a:lnSpc>
              <a:buFontTx/>
              <a:buChar char="-"/>
            </a:pPr>
            <a:r>
              <a:rPr lang="ko-KR" altLang="en-US" sz="1200" dirty="0">
                <a:solidFill>
                  <a:srgbClr val="404040"/>
                </a:solidFill>
                <a:latin typeface="맑은 고딕" panose="020B0503020000020004" pitchFamily="50" charset="-127"/>
              </a:rPr>
              <a:t>노드 간 데이터 전송을 최소화하기 위해 </a:t>
            </a:r>
            <a:r>
              <a:rPr lang="en-US" altLang="ko-KR" sz="1200" b="1" dirty="0">
                <a:solidFill>
                  <a:srgbClr val="0066FF"/>
                </a:solidFill>
                <a:latin typeface="맑은 고딕" panose="020B0503020000020004" pitchFamily="50" charset="-127"/>
              </a:rPr>
              <a:t>CXL </a:t>
            </a:r>
            <a:r>
              <a:rPr lang="ko-KR" altLang="en-US" sz="1200" b="1" dirty="0">
                <a:solidFill>
                  <a:srgbClr val="0066FF"/>
                </a:solidFill>
                <a:latin typeface="맑은 고딕" panose="020B0503020000020004" pitchFamily="50" charset="-127"/>
              </a:rPr>
              <a:t>기반 공유 메모리 풀을 통한 데이터 직접 접근 방식 도입 </a:t>
            </a:r>
            <a:r>
              <a:rPr lang="ko-KR" altLang="en-US" sz="1200" dirty="0">
                <a:solidFill>
                  <a:srgbClr val="404040"/>
                </a:solidFill>
                <a:latin typeface="맑은 고딕" panose="020B0503020000020004" pitchFamily="50" charset="-127"/>
              </a:rPr>
              <a:t>필요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그러나 </a:t>
            </a:r>
            <a:r>
              <a:rPr lang="en-US" altLang="ko-KR" sz="1200" dirty="0">
                <a:solidFill>
                  <a:srgbClr val="404040"/>
                </a:solidFill>
                <a:latin typeface="맑은 고딕" panose="020B0503020000020004" pitchFamily="50" charset="-127"/>
              </a:rPr>
              <a:t>CXL </a:t>
            </a:r>
            <a:r>
              <a:rPr lang="ko-KR" altLang="en-US" sz="1200" dirty="0">
                <a:solidFill>
                  <a:srgbClr val="404040"/>
                </a:solidFill>
                <a:latin typeface="맑은 고딕" panose="020B0503020000020004" pitchFamily="50" charset="-127"/>
              </a:rPr>
              <a:t>기반 </a:t>
            </a:r>
            <a:r>
              <a:rPr lang="ko-KR" altLang="en-US" sz="1200" dirty="0" err="1">
                <a:solidFill>
                  <a:srgbClr val="404040"/>
                </a:solidFill>
                <a:latin typeface="맑은 고딕" panose="020B0503020000020004" pitchFamily="50" charset="-127"/>
              </a:rPr>
              <a:t>비일관성</a:t>
            </a:r>
            <a:r>
              <a:rPr lang="ko-KR" altLang="en-US" sz="1200" dirty="0">
                <a:solidFill>
                  <a:srgbClr val="404040"/>
                </a:solidFill>
                <a:latin typeface="맑은 고딕" panose="020B0503020000020004" pitchFamily="50" charset="-127"/>
              </a:rPr>
              <a:t> 공유 메모리 환경에서는 호스트 간 캐시 일관성 및 </a:t>
            </a:r>
            <a:r>
              <a:rPr lang="en-US" altLang="ko-KR" sz="1200" dirty="0">
                <a:solidFill>
                  <a:srgbClr val="404040"/>
                </a:solidFill>
                <a:latin typeface="맑은 고딕" panose="020B0503020000020004" pitchFamily="50" charset="-127"/>
              </a:rPr>
              <a:t>Atomic </a:t>
            </a:r>
            <a:r>
              <a:rPr lang="ko-KR" altLang="en-US" sz="1200" dirty="0">
                <a:solidFill>
                  <a:srgbClr val="404040"/>
                </a:solidFill>
                <a:latin typeface="맑은 고딕" panose="020B0503020000020004" pitchFamily="50" charset="-127"/>
              </a:rPr>
              <a:t>연산이 보장되지 않아</a:t>
            </a:r>
            <a:r>
              <a:rPr lang="en-US" altLang="ko-KR" sz="1200" dirty="0">
                <a:solidFill>
                  <a:srgbClr val="404040"/>
                </a:solidFill>
                <a:latin typeface="맑은 고딕" panose="020B0503020000020004" pitchFamily="50" charset="-127"/>
              </a:rPr>
              <a:t> </a:t>
            </a:r>
            <a:r>
              <a:rPr lang="ko-KR" altLang="en-US" sz="1200" b="1" dirty="0">
                <a:solidFill>
                  <a:srgbClr val="FF0000"/>
                </a:solidFill>
                <a:latin typeface="맑은 고딕" panose="020B0503020000020004" pitchFamily="50" charset="-127"/>
              </a:rPr>
              <a:t>다중 노드의 동시 접근 시 데이터 정합성 보장 어려움</a:t>
            </a:r>
            <a:endParaRPr lang="en-US" altLang="ko-KR" sz="1200" b="1" dirty="0">
              <a:solidFill>
                <a:srgbClr val="FF0000"/>
              </a:solidFill>
              <a:latin typeface="맑은 고딕" panose="020B0503020000020004" pitchFamily="50" charset="-127"/>
            </a:endParaRPr>
          </a:p>
        </p:txBody>
      </p:sp>
      <p:sp>
        <p:nvSpPr>
          <p:cNvPr id="166" name="Text 22"/>
          <p:cNvSpPr/>
          <p:nvPr/>
        </p:nvSpPr>
        <p:spPr>
          <a:xfrm>
            <a:off x="383682" y="6019175"/>
            <a:ext cx="11312059" cy="594360"/>
          </a:xfrm>
          <a:prstGeom prst="rect">
            <a:avLst/>
          </a:prstGeom>
          <a:noFill/>
          <a:ln/>
        </p:spPr>
        <p:txBody>
          <a:bodyPr wrap="square" lIns="0" tIns="0" rIns="0" bIns="0" rtlCol="0" anchor="t"/>
          <a:lstStyle/>
          <a:p>
            <a:pPr>
              <a:lnSpc>
                <a:spcPct val="150000"/>
              </a:lnSpc>
            </a:pPr>
            <a:r>
              <a:rPr lang="ko-KR" altLang="en-US" sz="1200" b="1" dirty="0"/>
              <a:t>설계 쟁점 </a:t>
            </a:r>
            <a:r>
              <a:rPr lang="en-US" altLang="ko-KR" sz="1200" b="1" dirty="0"/>
              <a:t>1.</a:t>
            </a:r>
            <a:r>
              <a:rPr lang="ko-KR" altLang="en-US" sz="1200" dirty="0"/>
              <a:t> </a:t>
            </a:r>
            <a:r>
              <a:rPr lang="ko-KR" altLang="ko-KR" sz="1200" dirty="0" err="1">
                <a:solidFill>
                  <a:srgbClr val="404040"/>
                </a:solidFill>
                <a:latin typeface="맑은 고딕"/>
              </a:rPr>
              <a:t>비일관</a:t>
            </a:r>
            <a:r>
              <a:rPr lang="ko-KR" altLang="ko-KR" sz="1200" dirty="0">
                <a:solidFill>
                  <a:srgbClr val="404040"/>
                </a:solidFill>
                <a:latin typeface="맑은 고딕"/>
              </a:rPr>
              <a:t> CXL 공유 풀에서 메타데이터의 일관성 </a:t>
            </a:r>
            <a:r>
              <a:rPr lang="ko-KR" altLang="en-US" sz="1200" dirty="0">
                <a:solidFill>
                  <a:srgbClr val="404040"/>
                </a:solidFill>
                <a:latin typeface="맑은 고딕"/>
              </a:rPr>
              <a:t>책임 주체 결정을 통해 </a:t>
            </a:r>
            <a:r>
              <a:rPr lang="en-US" altLang="ko-KR" sz="1200" b="1" dirty="0">
                <a:solidFill>
                  <a:srgbClr val="0066FF"/>
                </a:solidFill>
                <a:latin typeface="맑은 고딕"/>
              </a:rPr>
              <a:t>KV </a:t>
            </a:r>
            <a:r>
              <a:rPr lang="ko-KR" altLang="en-US" sz="1200" b="1" dirty="0">
                <a:solidFill>
                  <a:srgbClr val="0066FF"/>
                </a:solidFill>
                <a:latin typeface="맑은 고딕"/>
              </a:rPr>
              <a:t>공유 지연시간 최적화 </a:t>
            </a:r>
            <a:endParaRPr lang="en-US" altLang="ko-KR" sz="1200" b="1" dirty="0">
              <a:solidFill>
                <a:srgbClr val="0066FF"/>
              </a:solidFill>
              <a:latin typeface="맑은 고딕"/>
            </a:endParaRPr>
          </a:p>
          <a:p>
            <a:pPr rtl="0">
              <a:lnSpc>
                <a:spcPct val="150000"/>
              </a:lnSpc>
            </a:pPr>
            <a:r>
              <a:rPr lang="ko-KR" altLang="en-US" sz="1200" b="1" dirty="0"/>
              <a:t>설계 쟁점 </a:t>
            </a:r>
            <a:r>
              <a:rPr lang="en-US" altLang="ko-KR" sz="1200" b="1" dirty="0"/>
              <a:t>2.</a:t>
            </a:r>
            <a:r>
              <a:rPr lang="ko-KR" altLang="en-US" sz="1200" dirty="0"/>
              <a:t> 노드 수 증가에 따른 메타데이터 일관성 유지의 </a:t>
            </a:r>
            <a:r>
              <a:rPr lang="ko-KR" altLang="en-US" sz="1200" b="1" dirty="0">
                <a:solidFill>
                  <a:srgbClr val="0066FF"/>
                </a:solidFill>
              </a:rPr>
              <a:t>확장성</a:t>
            </a:r>
            <a:r>
              <a:rPr lang="en-US" altLang="ko-KR" sz="1200" b="1" dirty="0">
                <a:solidFill>
                  <a:srgbClr val="0066FF"/>
                </a:solidFill>
              </a:rPr>
              <a:t>(Scalability) </a:t>
            </a:r>
            <a:r>
              <a:rPr lang="ko-KR" altLang="en-US" sz="1200" b="1" dirty="0">
                <a:solidFill>
                  <a:srgbClr val="0066FF"/>
                </a:solidFill>
              </a:rPr>
              <a:t>확보</a:t>
            </a:r>
          </a:p>
          <a:p>
            <a:pPr marL="228600" indent="-228600">
              <a:lnSpc>
                <a:spcPct val="150000"/>
              </a:lnSpc>
              <a:buAutoNum type="arabicPeriod"/>
            </a:pPr>
            <a:endParaRPr lang="en-US" altLang="ko-KR" sz="1200" dirty="0"/>
          </a:p>
        </p:txBody>
      </p:sp>
      <p:sp>
        <p:nvSpPr>
          <p:cNvPr id="52" name="DP2 9013"/>
          <p:cNvSpPr/>
          <p:nvPr/>
        </p:nvSpPr>
        <p:spPr>
          <a:xfrm>
            <a:off x="433713" y="5742950"/>
            <a:ext cx="11338560" cy="291487"/>
          </a:xfrm>
          <a:prstGeom prst="rect">
            <a:avLst/>
          </a:prstGeom>
          <a:noFill/>
          <a:ln>
            <a:noFill/>
          </a:ln>
        </p:spPr>
        <p:txBody>
          <a:bodyPr wrap="square" lIns="9144" tIns="7315" rIns="9144" bIns="7315" anchor="ctr">
            <a:normAutofit/>
          </a:bodyPr>
          <a:lstStyle/>
          <a:p>
            <a:pPr>
              <a:lnSpc>
                <a:spcPct val="90000"/>
              </a:lnSpc>
            </a:pPr>
            <a:r>
              <a:rPr lang="en-US" altLang="ko-KR" sz="1200" b="1" dirty="0">
                <a:solidFill>
                  <a:srgbClr val="0066FF"/>
                </a:solidFill>
              </a:rPr>
              <a:t>     </a:t>
            </a:r>
            <a:r>
              <a:rPr lang="ko-KR" altLang="en-US" sz="1200" b="1" dirty="0">
                <a:solidFill>
                  <a:srgbClr val="0066FF"/>
                </a:solidFill>
              </a:rPr>
              <a:t>데이터 정합성과 접근 동기화를 보장하면서 데이터 전송 비용을 최소화하는 </a:t>
            </a:r>
            <a:r>
              <a:rPr lang="en-US" altLang="ko-KR" sz="1200" b="1" dirty="0">
                <a:solidFill>
                  <a:srgbClr val="0066FF"/>
                </a:solidFill>
              </a:rPr>
              <a:t>SW </a:t>
            </a:r>
            <a:r>
              <a:rPr lang="ko-KR" altLang="en-US" sz="1200" b="1" dirty="0">
                <a:solidFill>
                  <a:srgbClr val="0066FF"/>
                </a:solidFill>
              </a:rPr>
              <a:t>구조 설계 필요 </a:t>
            </a:r>
          </a:p>
        </p:txBody>
      </p:sp>
      <p:sp>
        <p:nvSpPr>
          <p:cNvPr id="92" name="Rectangle 9061"/>
          <p:cNvSpPr/>
          <p:nvPr/>
        </p:nvSpPr>
        <p:spPr>
          <a:xfrm>
            <a:off x="411480" y="1825915"/>
            <a:ext cx="4532843" cy="2341530"/>
          </a:xfrm>
          <a:prstGeom prst="rect">
            <a:avLst/>
          </a:prstGeom>
          <a:no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3" name="Rounded Rectangle 9062"/>
          <p:cNvSpPr/>
          <p:nvPr/>
        </p:nvSpPr>
        <p:spPr>
          <a:xfrm>
            <a:off x="872046" y="1692260"/>
            <a:ext cx="3291840" cy="287670"/>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solidFill>
                  <a:schemeClr val="dk1"/>
                </a:solidFill>
              </a:rPr>
              <a:t>서버 </a:t>
            </a:r>
            <a:r>
              <a:rPr lang="ko-KR" altLang="en-US" sz="1200" b="1">
                <a:solidFill>
                  <a:schemeClr val="dk1"/>
                </a:solidFill>
              </a:rPr>
              <a:t>간 </a:t>
            </a:r>
            <a:r>
              <a:rPr lang="en-US" altLang="ko-KR" sz="1200" b="1" dirty="0">
                <a:solidFill>
                  <a:schemeClr val="dk1"/>
                </a:solidFill>
              </a:rPr>
              <a:t>KV </a:t>
            </a:r>
            <a:r>
              <a:rPr lang="ko-KR" altLang="en-US" sz="1200" b="1" dirty="0">
                <a:solidFill>
                  <a:schemeClr val="dk1"/>
                </a:solidFill>
              </a:rPr>
              <a:t>공유 구조 </a:t>
            </a:r>
          </a:p>
        </p:txBody>
      </p:sp>
      <p:sp>
        <p:nvSpPr>
          <p:cNvPr id="94" name="Rectangle 9063"/>
          <p:cNvSpPr/>
          <p:nvPr/>
        </p:nvSpPr>
        <p:spPr>
          <a:xfrm>
            <a:off x="5215235" y="1825915"/>
            <a:ext cx="6716209" cy="2780199"/>
          </a:xfrm>
          <a:prstGeom prst="rect">
            <a:avLst/>
          </a:prstGeom>
          <a:no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5" name="Rounded Rectangle 9064"/>
          <p:cNvSpPr/>
          <p:nvPr/>
        </p:nvSpPr>
        <p:spPr>
          <a:xfrm>
            <a:off x="6844628" y="1692260"/>
            <a:ext cx="3291840" cy="287670"/>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solidFill>
                  <a:schemeClr val="dk1"/>
                </a:solidFill>
              </a:rPr>
              <a:t>공유 메모리 풀 일관성 문제</a:t>
            </a:r>
            <a:endParaRPr sz="1200" b="1" dirty="0">
              <a:solidFill>
                <a:schemeClr val="dk1"/>
              </a:solidFill>
            </a:endParaRPr>
          </a:p>
        </p:txBody>
      </p:sp>
      <p:sp>
        <p:nvSpPr>
          <p:cNvPr id="45" name="오른쪽 화살표 39">
            <a:extLst>
              <a:ext uri="{FF2B5EF4-FFF2-40B4-BE49-F238E27FC236}">
                <a16:creationId xmlns:a16="http://schemas.microsoft.com/office/drawing/2014/main" id="{87343808-114B-4A10-BC0D-76458824B921}"/>
              </a:ext>
            </a:extLst>
          </p:cNvPr>
          <p:cNvSpPr/>
          <p:nvPr/>
        </p:nvSpPr>
        <p:spPr>
          <a:xfrm>
            <a:off x="312674" y="5763730"/>
            <a:ext cx="281686"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 name="그룹 9">
            <a:extLst>
              <a:ext uri="{FF2B5EF4-FFF2-40B4-BE49-F238E27FC236}">
                <a16:creationId xmlns:a16="http://schemas.microsoft.com/office/drawing/2014/main" id="{32F2E3E2-3375-413D-98EC-9F359030EB48}"/>
              </a:ext>
            </a:extLst>
          </p:cNvPr>
          <p:cNvGrpSpPr/>
          <p:nvPr/>
        </p:nvGrpSpPr>
        <p:grpSpPr>
          <a:xfrm>
            <a:off x="1201135" y="4713733"/>
            <a:ext cx="8946767" cy="947441"/>
            <a:chOff x="1440180" y="4731550"/>
            <a:chExt cx="8946767" cy="947441"/>
          </a:xfrm>
        </p:grpSpPr>
        <p:sp>
          <p:nvSpPr>
            <p:cNvPr id="9089" name="Rounded Rectangle 9088"/>
            <p:cNvSpPr/>
            <p:nvPr/>
          </p:nvSpPr>
          <p:spPr>
            <a:xfrm>
              <a:off x="7003667" y="4731550"/>
              <a:ext cx="3383280" cy="411711"/>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DP2  </a:t>
              </a:r>
              <a:r>
                <a:rPr lang="en-US" sz="1050" b="1" i="0" dirty="0">
                  <a:solidFill>
                    <a:srgbClr val="000000"/>
                  </a:solidFill>
                  <a:latin typeface="맑은 고딕"/>
                  <a:ea typeface="맑은 고딕"/>
                </a:rPr>
                <a:t>Prefill/Decode </a:t>
              </a:r>
              <a:r>
                <a:rPr lang="ko-KR" altLang="en-US" sz="1050" b="1" i="0" dirty="0">
                  <a:solidFill>
                    <a:srgbClr val="000000"/>
                  </a:solidFill>
                  <a:latin typeface="맑은 고딕"/>
                  <a:ea typeface="맑은 고딕"/>
                </a:rPr>
                <a:t>실행 위치 결정</a:t>
              </a:r>
              <a:endParaRPr sz="1050" b="1" i="0" dirty="0">
                <a:solidFill>
                  <a:srgbClr val="000000"/>
                </a:solidFill>
                <a:latin typeface="맑은 고딕"/>
                <a:ea typeface="맑은 고딕"/>
              </a:endParaRPr>
            </a:p>
            <a:p>
              <a:pPr algn="ctr"/>
              <a:r>
                <a:rPr sz="900" b="0" i="0" dirty="0" err="1">
                  <a:solidFill>
                    <a:srgbClr val="000000"/>
                  </a:solidFill>
                  <a:latin typeface="맑은 고딕"/>
                  <a:ea typeface="맑은 고딕"/>
                </a:rPr>
                <a:t>비용</a:t>
              </a:r>
              <a:r>
                <a:rPr sz="900" b="0" i="0" dirty="0">
                  <a:solidFill>
                    <a:srgbClr val="000000"/>
                  </a:solidFill>
                  <a:latin typeface="맑은 고딕"/>
                  <a:ea typeface="맑은 고딕"/>
                </a:rPr>
                <a:t> </a:t>
              </a:r>
              <a:r>
                <a:rPr sz="900" b="0" i="0" dirty="0" err="1">
                  <a:solidFill>
                    <a:srgbClr val="000000"/>
                  </a:solidFill>
                  <a:latin typeface="맑은 고딕"/>
                  <a:ea typeface="맑은 고딕"/>
                </a:rPr>
                <a:t>기반</a:t>
              </a:r>
              <a:r>
                <a:rPr sz="900" b="0" i="0" dirty="0">
                  <a:solidFill>
                    <a:srgbClr val="000000"/>
                  </a:solidFill>
                  <a:latin typeface="맑은 고딕"/>
                  <a:ea typeface="맑은 고딕"/>
                </a:rPr>
                <a:t> P/D </a:t>
              </a:r>
              <a:r>
                <a:rPr sz="900" b="0" i="0" dirty="0" err="1">
                  <a:solidFill>
                    <a:srgbClr val="000000"/>
                  </a:solidFill>
                  <a:latin typeface="맑은 고딕"/>
                  <a:ea typeface="맑은 고딕"/>
                </a:rPr>
                <a:t>노드</a:t>
              </a:r>
              <a:r>
                <a:rPr sz="900" b="0" i="0" dirty="0">
                  <a:solidFill>
                    <a:srgbClr val="000000"/>
                  </a:solidFill>
                  <a:latin typeface="맑은 고딕"/>
                  <a:ea typeface="맑은 고딕"/>
                </a:rPr>
                <a:t> </a:t>
              </a:r>
              <a:r>
                <a:rPr sz="900" b="0" i="0" dirty="0" err="1">
                  <a:solidFill>
                    <a:srgbClr val="000000"/>
                  </a:solidFill>
                  <a:latin typeface="맑은 고딕"/>
                  <a:ea typeface="맑은 고딕"/>
                </a:rPr>
                <a:t>선택</a:t>
              </a:r>
              <a:endParaRPr sz="900" b="0" i="0" dirty="0">
                <a:solidFill>
                  <a:srgbClr val="000000"/>
                </a:solidFill>
                <a:latin typeface="맑은 고딕"/>
                <a:ea typeface="맑은 고딕"/>
              </a:endParaRPr>
            </a:p>
          </p:txBody>
        </p:sp>
        <p:sp>
          <p:nvSpPr>
            <p:cNvPr id="9091" name="Rounded Rectangle 9090"/>
            <p:cNvSpPr/>
            <p:nvPr/>
          </p:nvSpPr>
          <p:spPr>
            <a:xfrm>
              <a:off x="1440180" y="4923587"/>
              <a:ext cx="3383280" cy="566928"/>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1050" b="1" i="0" dirty="0">
                  <a:solidFill>
                    <a:srgbClr val="000000"/>
                  </a:solidFill>
                  <a:latin typeface="맑은 고딕"/>
                  <a:ea typeface="맑은 고딕"/>
                </a:rPr>
                <a:t>DP4  </a:t>
              </a:r>
              <a:r>
                <a:rPr lang="ko-KR" altLang="en-US" sz="1050" b="1" dirty="0">
                  <a:solidFill>
                    <a:srgbClr val="000000"/>
                  </a:solidFill>
                  <a:latin typeface="맑은 고딕"/>
                  <a:ea typeface="맑은 고딕"/>
                </a:rPr>
                <a:t>서버</a:t>
              </a:r>
              <a:r>
                <a:rPr lang="en-US" altLang="ko-KR" sz="1050" b="1" dirty="0">
                  <a:solidFill>
                    <a:srgbClr val="000000"/>
                  </a:solidFill>
                  <a:latin typeface="맑은 고딕"/>
                  <a:ea typeface="맑은 고딕"/>
                </a:rPr>
                <a:t>(</a:t>
              </a:r>
              <a:r>
                <a:rPr lang="ko-KR" altLang="en-US" sz="1050" b="1" dirty="0">
                  <a:solidFill>
                    <a:srgbClr val="000000"/>
                  </a:solidFill>
                  <a:latin typeface="맑은 고딕"/>
                  <a:ea typeface="맑은 고딕"/>
                </a:rPr>
                <a:t>노드</a:t>
              </a:r>
              <a:r>
                <a:rPr lang="en-US" altLang="ko-KR" sz="1050" b="1" dirty="0">
                  <a:solidFill>
                    <a:srgbClr val="000000"/>
                  </a:solidFill>
                  <a:latin typeface="맑은 고딕"/>
                  <a:ea typeface="맑은 고딕"/>
                </a:rPr>
                <a:t>) </a:t>
              </a:r>
              <a:r>
                <a:rPr lang="ko-KR" altLang="en-US" sz="1050" b="1" dirty="0">
                  <a:solidFill>
                    <a:srgbClr val="000000"/>
                  </a:solidFill>
                  <a:latin typeface="맑은 고딕"/>
                  <a:ea typeface="맑은 고딕"/>
                </a:rPr>
                <a:t>간 데이터 공유 구조 </a:t>
              </a:r>
              <a:endParaRPr sz="1050" b="1" i="0" dirty="0">
                <a:solidFill>
                  <a:srgbClr val="000000"/>
                </a:solidFill>
                <a:latin typeface="맑은 고딕"/>
                <a:ea typeface="맑은 고딕"/>
              </a:endParaRPr>
            </a:p>
            <a:p>
              <a:pPr algn="ctr">
                <a:lnSpc>
                  <a:spcPct val="150000"/>
                </a:lnSpc>
              </a:pPr>
              <a:r>
                <a:rPr lang="ko-KR" altLang="en-US" sz="900" dirty="0">
                  <a:solidFill>
                    <a:srgbClr val="000000"/>
                  </a:solidFill>
                  <a:latin typeface="맑은 고딕"/>
                  <a:ea typeface="맑은 고딕"/>
                </a:rPr>
                <a:t>공유 메모리 풀을 통한 </a:t>
              </a:r>
              <a:r>
                <a:rPr lang="en-US" altLang="ko-KR" sz="900" dirty="0">
                  <a:solidFill>
                    <a:srgbClr val="000000"/>
                  </a:solidFill>
                  <a:latin typeface="맑은 고딕"/>
                  <a:ea typeface="맑은 고딕"/>
                </a:rPr>
                <a:t>KV </a:t>
              </a:r>
              <a:r>
                <a:rPr lang="ko-KR" altLang="en-US" sz="900" dirty="0">
                  <a:solidFill>
                    <a:srgbClr val="000000"/>
                  </a:solidFill>
                  <a:latin typeface="맑은 고딕"/>
                  <a:ea typeface="맑은 고딕"/>
                </a:rPr>
                <a:t>전송 비용 절감</a:t>
              </a:r>
              <a:endParaRPr sz="900" b="0" i="0" dirty="0">
                <a:solidFill>
                  <a:srgbClr val="000000"/>
                </a:solidFill>
                <a:latin typeface="맑은 고딕"/>
                <a:ea typeface="맑은 고딕"/>
              </a:endParaRPr>
            </a:p>
          </p:txBody>
        </p:sp>
        <p:grpSp>
          <p:nvGrpSpPr>
            <p:cNvPr id="8" name="그룹 7">
              <a:extLst>
                <a:ext uri="{FF2B5EF4-FFF2-40B4-BE49-F238E27FC236}">
                  <a16:creationId xmlns:a16="http://schemas.microsoft.com/office/drawing/2014/main" id="{731831DA-16DA-43BE-B7CB-10781EC32D70}"/>
                </a:ext>
              </a:extLst>
            </p:cNvPr>
            <p:cNvGrpSpPr/>
            <p:nvPr/>
          </p:nvGrpSpPr>
          <p:grpSpPr>
            <a:xfrm>
              <a:off x="4944323" y="4795599"/>
              <a:ext cx="1998552" cy="203709"/>
              <a:chOff x="4944323" y="4720624"/>
              <a:chExt cx="1998552" cy="203709"/>
            </a:xfrm>
          </p:grpSpPr>
          <p:cxnSp>
            <p:nvCxnSpPr>
              <p:cNvPr id="54" name="Connector 9068"/>
              <p:cNvCxnSpPr/>
              <p:nvPr/>
            </p:nvCxnSpPr>
            <p:spPr>
              <a:xfrm>
                <a:off x="4944323" y="4924333"/>
                <a:ext cx="199855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188334" y="4720624"/>
                <a:ext cx="1657670" cy="161583"/>
              </a:xfrm>
              <a:prstGeom prst="rect">
                <a:avLst/>
              </a:prstGeom>
              <a:noFill/>
            </p:spPr>
            <p:txBody>
              <a:bodyPr wrap="square" lIns="0" tIns="0" rIns="0" bIns="0" anchor="t">
                <a:spAutoFit/>
              </a:bodyPr>
              <a:lstStyle/>
              <a:p>
                <a:pPr algn="l"/>
                <a:r>
                  <a:rPr lang="en-US" altLang="ko-KR" sz="1050" b="1" i="0" dirty="0">
                    <a:solidFill>
                      <a:srgbClr val="C00000"/>
                    </a:solidFill>
                    <a:latin typeface="맑은 고딕"/>
                    <a:ea typeface="맑은 고딕"/>
                  </a:rPr>
                  <a:t>DP2</a:t>
                </a:r>
                <a:r>
                  <a:rPr lang="ko-KR" altLang="en-US" sz="1050" b="1" i="0" dirty="0">
                    <a:solidFill>
                      <a:srgbClr val="C00000"/>
                    </a:solidFill>
                    <a:latin typeface="맑은 고딕"/>
                    <a:ea typeface="맑은 고딕"/>
                  </a:rPr>
                  <a:t>의 비용 결정을 보완 </a:t>
                </a:r>
                <a:endParaRPr sz="1050" b="1" i="0" dirty="0">
                  <a:solidFill>
                    <a:srgbClr val="C00000"/>
                  </a:solidFill>
                  <a:latin typeface="맑은 고딕"/>
                  <a:ea typeface="맑은 고딕"/>
                </a:endParaRPr>
              </a:p>
            </p:txBody>
          </p:sp>
        </p:grpSp>
        <p:sp>
          <p:nvSpPr>
            <p:cNvPr id="46" name="Rounded Rectangle 9088">
              <a:extLst>
                <a:ext uri="{FF2B5EF4-FFF2-40B4-BE49-F238E27FC236}">
                  <a16:creationId xmlns:a16="http://schemas.microsoft.com/office/drawing/2014/main" id="{9D717CA0-C399-4F31-9058-41DFAFCF10CE}"/>
                </a:ext>
              </a:extLst>
            </p:cNvPr>
            <p:cNvSpPr/>
            <p:nvPr/>
          </p:nvSpPr>
          <p:spPr>
            <a:xfrm>
              <a:off x="7003667" y="5267280"/>
              <a:ext cx="3383280" cy="411711"/>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DP</a:t>
              </a:r>
              <a:r>
                <a:rPr lang="en-US" sz="1050" b="1" i="0" dirty="0">
                  <a:solidFill>
                    <a:srgbClr val="000000"/>
                  </a:solidFill>
                  <a:latin typeface="맑은 고딕"/>
                  <a:ea typeface="맑은 고딕"/>
                </a:rPr>
                <a:t>1</a:t>
              </a:r>
              <a:r>
                <a:rPr sz="1050" b="1" i="0" dirty="0">
                  <a:solidFill>
                    <a:srgbClr val="000000"/>
                  </a:solidFill>
                  <a:latin typeface="맑은 고딕"/>
                  <a:ea typeface="맑은 고딕"/>
                </a:rPr>
                <a:t>  </a:t>
              </a:r>
              <a:r>
                <a:rPr lang="ko-KR" altLang="en-US" sz="1050" b="1" dirty="0">
                  <a:solidFill>
                    <a:srgbClr val="000000"/>
                  </a:solidFill>
                  <a:latin typeface="맑은 고딕"/>
                  <a:ea typeface="맑은 고딕"/>
                </a:rPr>
                <a:t>데이터 이동 </a:t>
              </a:r>
              <a:r>
                <a:rPr lang="ko-KR" altLang="en-US" sz="1050" b="1" i="0" dirty="0">
                  <a:solidFill>
                    <a:srgbClr val="000000"/>
                  </a:solidFill>
                  <a:latin typeface="맑은 고딕"/>
                  <a:ea typeface="맑은 고딕"/>
                </a:rPr>
                <a:t>결정</a:t>
              </a:r>
              <a:endParaRPr sz="1050" b="1" i="0" dirty="0">
                <a:solidFill>
                  <a:srgbClr val="000000"/>
                </a:solidFill>
                <a:latin typeface="맑은 고딕"/>
                <a:ea typeface="맑은 고딕"/>
              </a:endParaRPr>
            </a:p>
            <a:p>
              <a:pPr algn="ctr"/>
              <a:r>
                <a:rPr lang="en-US" altLang="ko-KR" sz="900" dirty="0">
                  <a:solidFill>
                    <a:srgbClr val="000000"/>
                  </a:solidFill>
                  <a:latin typeface="맑은 고딕"/>
                  <a:ea typeface="맑은 고딕"/>
                </a:rPr>
                <a:t>Ref</a:t>
              </a:r>
              <a:r>
                <a:rPr lang="ko-KR" altLang="en-US" sz="900" dirty="0">
                  <a:solidFill>
                    <a:srgbClr val="000000"/>
                  </a:solidFill>
                  <a:latin typeface="맑은 고딕"/>
                  <a:ea typeface="맑은 고딕"/>
                </a:rPr>
                <a:t> </a:t>
              </a:r>
              <a:r>
                <a:rPr lang="en-US" altLang="ko-KR" sz="900" dirty="0">
                  <a:solidFill>
                    <a:srgbClr val="000000"/>
                  </a:solidFill>
                  <a:latin typeface="맑은 고딕"/>
                  <a:ea typeface="맑은 고딕"/>
                </a:rPr>
                <a:t>count</a:t>
              </a:r>
              <a:r>
                <a:rPr lang="ko-KR" altLang="en-US" sz="900" dirty="0">
                  <a:solidFill>
                    <a:srgbClr val="000000"/>
                  </a:solidFill>
                  <a:latin typeface="맑은 고딕"/>
                  <a:ea typeface="맑은 고딕"/>
                </a:rPr>
                <a:t>가 많은 </a:t>
              </a:r>
              <a:r>
                <a:rPr lang="en-US" altLang="ko-KR" sz="900" b="0" i="0" dirty="0">
                  <a:solidFill>
                    <a:srgbClr val="000000"/>
                  </a:solidFill>
                  <a:latin typeface="맑은 고딕"/>
                  <a:ea typeface="맑은 고딕"/>
                </a:rPr>
                <a:t>KV </a:t>
              </a:r>
              <a:r>
                <a:rPr lang="ko-KR" altLang="en-US" sz="900" b="0" i="0" dirty="0">
                  <a:solidFill>
                    <a:srgbClr val="000000"/>
                  </a:solidFill>
                  <a:latin typeface="맑은 고딕"/>
                  <a:ea typeface="맑은 고딕"/>
                </a:rPr>
                <a:t>캐시는 </a:t>
              </a:r>
              <a:r>
                <a:rPr lang="ko-KR" altLang="en-US" sz="900" dirty="0">
                  <a:solidFill>
                    <a:srgbClr val="000000"/>
                  </a:solidFill>
                  <a:latin typeface="맑은 고딕"/>
                  <a:ea typeface="맑은 고딕"/>
                </a:rPr>
                <a:t>공유 메모리 풀 지향</a:t>
              </a:r>
              <a:endParaRPr sz="900" b="0" i="0" dirty="0">
                <a:solidFill>
                  <a:srgbClr val="000000"/>
                </a:solidFill>
                <a:latin typeface="맑은 고딕"/>
                <a:ea typeface="맑은 고딕"/>
              </a:endParaRPr>
            </a:p>
          </p:txBody>
        </p:sp>
        <p:grpSp>
          <p:nvGrpSpPr>
            <p:cNvPr id="9" name="그룹 8">
              <a:extLst>
                <a:ext uri="{FF2B5EF4-FFF2-40B4-BE49-F238E27FC236}">
                  <a16:creationId xmlns:a16="http://schemas.microsoft.com/office/drawing/2014/main" id="{48170E39-1DD8-4648-99E3-62D740A44360}"/>
                </a:ext>
              </a:extLst>
            </p:cNvPr>
            <p:cNvGrpSpPr/>
            <p:nvPr/>
          </p:nvGrpSpPr>
          <p:grpSpPr>
            <a:xfrm>
              <a:off x="4944323" y="5256995"/>
              <a:ext cx="1998552" cy="219526"/>
              <a:chOff x="4944323" y="5256995"/>
              <a:chExt cx="1998552" cy="219526"/>
            </a:xfrm>
          </p:grpSpPr>
          <p:cxnSp>
            <p:nvCxnSpPr>
              <p:cNvPr id="47" name="Connector 9068">
                <a:extLst>
                  <a:ext uri="{FF2B5EF4-FFF2-40B4-BE49-F238E27FC236}">
                    <a16:creationId xmlns:a16="http://schemas.microsoft.com/office/drawing/2014/main" id="{FE92569E-C6A0-454B-8FFF-0FAEA7EB357C}"/>
                  </a:ext>
                </a:extLst>
              </p:cNvPr>
              <p:cNvCxnSpPr/>
              <p:nvPr/>
            </p:nvCxnSpPr>
            <p:spPr>
              <a:xfrm>
                <a:off x="4944323" y="5476521"/>
                <a:ext cx="199855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26C8D6DB-B1C0-44DA-81D0-63B1608EB366}"/>
                  </a:ext>
                </a:extLst>
              </p:cNvPr>
              <p:cNvSpPr txBox="1"/>
              <p:nvPr/>
            </p:nvSpPr>
            <p:spPr>
              <a:xfrm>
                <a:off x="5114764" y="5256995"/>
                <a:ext cx="1657670" cy="161583"/>
              </a:xfrm>
              <a:prstGeom prst="rect">
                <a:avLst/>
              </a:prstGeom>
              <a:noFill/>
            </p:spPr>
            <p:txBody>
              <a:bodyPr wrap="square" lIns="0" tIns="0" rIns="0" bIns="0" anchor="t">
                <a:spAutoFit/>
              </a:bodyPr>
              <a:lstStyle/>
              <a:p>
                <a:pPr algn="l"/>
                <a:r>
                  <a:rPr lang="en-US" sz="1050" b="1" dirty="0">
                    <a:solidFill>
                      <a:srgbClr val="C00000"/>
                    </a:solidFill>
                    <a:latin typeface="맑은 고딕"/>
                    <a:ea typeface="맑은 고딕"/>
                  </a:rPr>
                  <a:t>DP1</a:t>
                </a:r>
                <a:r>
                  <a:rPr lang="ko-KR" altLang="en-US" sz="1050" b="1" dirty="0">
                    <a:solidFill>
                      <a:srgbClr val="C00000"/>
                    </a:solidFill>
                    <a:latin typeface="맑은 고딕"/>
                    <a:ea typeface="맑은 고딕"/>
                  </a:rPr>
                  <a:t> 데이터 이동 범위 확장</a:t>
                </a:r>
                <a:endParaRPr sz="1050" b="1" i="0" dirty="0">
                  <a:solidFill>
                    <a:srgbClr val="C00000"/>
                  </a:solidFill>
                  <a:latin typeface="맑은 고딕"/>
                  <a:ea typeface="맑은 고딕"/>
                </a:endParaRPr>
              </a:p>
            </p:txBody>
          </p:sp>
        </p:grpSp>
      </p:grpSp>
      <p:grpSp>
        <p:nvGrpSpPr>
          <p:cNvPr id="7" name="그룹 6">
            <a:extLst>
              <a:ext uri="{FF2B5EF4-FFF2-40B4-BE49-F238E27FC236}">
                <a16:creationId xmlns:a16="http://schemas.microsoft.com/office/drawing/2014/main" id="{6F82C902-62B8-47CE-8276-F0AA305BD516}"/>
              </a:ext>
            </a:extLst>
          </p:cNvPr>
          <p:cNvGrpSpPr/>
          <p:nvPr/>
        </p:nvGrpSpPr>
        <p:grpSpPr>
          <a:xfrm>
            <a:off x="594360" y="2454575"/>
            <a:ext cx="4054099" cy="685983"/>
            <a:chOff x="763820" y="2416049"/>
            <a:chExt cx="4905460" cy="754581"/>
          </a:xfrm>
        </p:grpSpPr>
        <p:sp>
          <p:nvSpPr>
            <p:cNvPr id="53" name="Rectangle 9076">
              <a:extLst>
                <a:ext uri="{FF2B5EF4-FFF2-40B4-BE49-F238E27FC236}">
                  <a16:creationId xmlns:a16="http://schemas.microsoft.com/office/drawing/2014/main" id="{A2FD34C7-A1EC-4787-9C54-77655593D37D}"/>
                </a:ext>
              </a:extLst>
            </p:cNvPr>
            <p:cNvSpPr/>
            <p:nvPr/>
          </p:nvSpPr>
          <p:spPr>
            <a:xfrm>
              <a:off x="763820" y="2416049"/>
              <a:ext cx="822960" cy="754581"/>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P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Prefill</a:t>
              </a:r>
            </a:p>
          </p:txBody>
        </p:sp>
        <p:sp>
          <p:nvSpPr>
            <p:cNvPr id="55" name="Rectangle 9077">
              <a:extLst>
                <a:ext uri="{FF2B5EF4-FFF2-40B4-BE49-F238E27FC236}">
                  <a16:creationId xmlns:a16="http://schemas.microsoft.com/office/drawing/2014/main" id="{F5C9291A-431C-4833-9CFA-93075FD4A668}"/>
                </a:ext>
              </a:extLst>
            </p:cNvPr>
            <p:cNvSpPr/>
            <p:nvPr/>
          </p:nvSpPr>
          <p:spPr>
            <a:xfrm>
              <a:off x="4787180" y="2450348"/>
              <a:ext cx="882100" cy="685983"/>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Decode</a:t>
              </a:r>
            </a:p>
          </p:txBody>
        </p:sp>
        <p:sp>
          <p:nvSpPr>
            <p:cNvPr id="56" name="Rectangle 9078">
              <a:extLst>
                <a:ext uri="{FF2B5EF4-FFF2-40B4-BE49-F238E27FC236}">
                  <a16:creationId xmlns:a16="http://schemas.microsoft.com/office/drawing/2014/main" id="{13E16238-7327-4ACB-81FC-FF2365B72353}"/>
                </a:ext>
              </a:extLst>
            </p:cNvPr>
            <p:cNvSpPr/>
            <p:nvPr/>
          </p:nvSpPr>
          <p:spPr>
            <a:xfrm>
              <a:off x="2272580" y="2418435"/>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err="1">
                  <a:solidFill>
                    <a:srgbClr val="000000"/>
                  </a:solidFill>
                  <a:latin typeface="맑은 고딕"/>
                  <a:ea typeface="맑은 고딕"/>
                </a:rPr>
                <a:t>공유</a:t>
              </a:r>
              <a:r>
                <a:rPr sz="1050" b="1" i="0" dirty="0">
                  <a:solidFill>
                    <a:srgbClr val="000000"/>
                  </a:solidFill>
                  <a:latin typeface="맑은 고딕"/>
                  <a:ea typeface="맑은 고딕"/>
                </a:rPr>
                <a:t> </a:t>
              </a:r>
              <a:r>
                <a:rPr lang="ko-KR" altLang="en-US" sz="1050" b="1" i="0" dirty="0">
                  <a:solidFill>
                    <a:srgbClr val="000000"/>
                  </a:solidFill>
                  <a:latin typeface="맑은 고딕"/>
                  <a:ea typeface="맑은 고딕"/>
                </a:rPr>
                <a:t>메모리 </a:t>
              </a:r>
              <a:r>
                <a:rPr sz="1050" b="1" i="0" dirty="0">
                  <a:solidFill>
                    <a:srgbClr val="000000"/>
                  </a:solidFill>
                  <a:latin typeface="맑은 고딕"/>
                  <a:ea typeface="맑은 고딕"/>
                </a:rPr>
                <a:t>풀</a:t>
              </a:r>
            </a:p>
          </p:txBody>
        </p:sp>
        <p:cxnSp>
          <p:nvCxnSpPr>
            <p:cNvPr id="65" name="Connector 9079">
              <a:extLst>
                <a:ext uri="{FF2B5EF4-FFF2-40B4-BE49-F238E27FC236}">
                  <a16:creationId xmlns:a16="http://schemas.microsoft.com/office/drawing/2014/main" id="{C49BF8B3-A884-4B88-8C27-E1865DBC0C46}"/>
                </a:ext>
              </a:extLst>
            </p:cNvPr>
            <p:cNvCxnSpPr>
              <a:cxnSpLocks/>
            </p:cNvCxnSpPr>
            <p:nvPr/>
          </p:nvCxnSpPr>
          <p:spPr>
            <a:xfrm>
              <a:off x="1586780" y="26470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66" name="Connector 9080">
              <a:extLst>
                <a:ext uri="{FF2B5EF4-FFF2-40B4-BE49-F238E27FC236}">
                  <a16:creationId xmlns:a16="http://schemas.microsoft.com/office/drawing/2014/main" id="{57597900-E8D1-4E4E-8E2F-3337AB73FBA6}"/>
                </a:ext>
              </a:extLst>
            </p:cNvPr>
            <p:cNvCxnSpPr>
              <a:cxnSpLocks/>
            </p:cNvCxnSpPr>
            <p:nvPr/>
          </p:nvCxnSpPr>
          <p:spPr>
            <a:xfrm>
              <a:off x="4101380" y="26470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9081">
              <a:extLst>
                <a:ext uri="{FF2B5EF4-FFF2-40B4-BE49-F238E27FC236}">
                  <a16:creationId xmlns:a16="http://schemas.microsoft.com/office/drawing/2014/main" id="{F5770858-6D38-4831-BA52-C9E87C611279}"/>
                </a:ext>
              </a:extLst>
            </p:cNvPr>
            <p:cNvCxnSpPr>
              <a:cxnSpLocks/>
            </p:cNvCxnSpPr>
            <p:nvPr/>
          </p:nvCxnSpPr>
          <p:spPr>
            <a:xfrm flipH="1">
              <a:off x="1586780" y="296707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E02C441F-9EFC-4F41-B6A0-44D9A8C0E1A5}"/>
                </a:ext>
              </a:extLst>
            </p:cNvPr>
            <p:cNvSpPr txBox="1"/>
            <p:nvPr/>
          </p:nvSpPr>
          <p:spPr>
            <a:xfrm>
              <a:off x="1586780" y="2482444"/>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publish</a:t>
              </a:r>
            </a:p>
          </p:txBody>
        </p:sp>
        <p:sp>
          <p:nvSpPr>
            <p:cNvPr id="70" name="TextBox 69">
              <a:extLst>
                <a:ext uri="{FF2B5EF4-FFF2-40B4-BE49-F238E27FC236}">
                  <a16:creationId xmlns:a16="http://schemas.microsoft.com/office/drawing/2014/main" id="{CB88AE75-F84C-4054-A880-0D9648F5C265}"/>
                </a:ext>
              </a:extLst>
            </p:cNvPr>
            <p:cNvSpPr txBox="1"/>
            <p:nvPr/>
          </p:nvSpPr>
          <p:spPr>
            <a:xfrm>
              <a:off x="4101380" y="2482444"/>
              <a:ext cx="68580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a:t>
              </a:r>
            </a:p>
          </p:txBody>
        </p:sp>
        <p:sp>
          <p:nvSpPr>
            <p:cNvPr id="71" name="TextBox 70">
              <a:extLst>
                <a:ext uri="{FF2B5EF4-FFF2-40B4-BE49-F238E27FC236}">
                  <a16:creationId xmlns:a16="http://schemas.microsoft.com/office/drawing/2014/main" id="{DE843700-1364-4B95-A794-07A39DB87EF6}"/>
                </a:ext>
              </a:extLst>
            </p:cNvPr>
            <p:cNvSpPr txBox="1"/>
            <p:nvPr/>
          </p:nvSpPr>
          <p:spPr>
            <a:xfrm>
              <a:off x="1586780" y="2985363"/>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read(다음)</a:t>
              </a:r>
            </a:p>
          </p:txBody>
        </p:sp>
      </p:grpSp>
      <p:sp>
        <p:nvSpPr>
          <p:cNvPr id="72" name="TextBox 71">
            <a:extLst>
              <a:ext uri="{FF2B5EF4-FFF2-40B4-BE49-F238E27FC236}">
                <a16:creationId xmlns:a16="http://schemas.microsoft.com/office/drawing/2014/main" id="{05DA41A9-CCA8-46B5-9B4D-70990D5990F0}"/>
              </a:ext>
            </a:extLst>
          </p:cNvPr>
          <p:cNvSpPr txBox="1"/>
          <p:nvPr/>
        </p:nvSpPr>
        <p:spPr>
          <a:xfrm>
            <a:off x="594360" y="3386539"/>
            <a:ext cx="3847213" cy="461665"/>
          </a:xfrm>
          <a:prstGeom prst="rect">
            <a:avLst/>
          </a:prstGeom>
          <a:noFill/>
        </p:spPr>
        <p:txBody>
          <a:bodyPr wrap="square" lIns="0" tIns="0" rIns="0" bIns="0" anchor="t">
            <a:spAutoFit/>
          </a:bodyPr>
          <a:lstStyle/>
          <a:p>
            <a:pPr algn="ctr">
              <a:lnSpc>
                <a:spcPct val="150000"/>
              </a:lnSpc>
            </a:pPr>
            <a:r>
              <a:rPr lang="ko-KR" altLang="en-US" sz="1050" b="1" i="0" dirty="0">
                <a:latin typeface="맑은 고딕"/>
                <a:ea typeface="맑은 고딕"/>
              </a:rPr>
              <a:t>데이터 </a:t>
            </a:r>
            <a:r>
              <a:rPr sz="1050" b="1" i="0" dirty="0" err="1">
                <a:latin typeface="맑은 고딕"/>
                <a:ea typeface="맑은 고딕"/>
              </a:rPr>
              <a:t>위치가</a:t>
            </a:r>
            <a:r>
              <a:rPr sz="1050" b="1" i="0" dirty="0">
                <a:latin typeface="맑은 고딕"/>
                <a:ea typeface="맑은 고딕"/>
              </a:rPr>
              <a:t> </a:t>
            </a:r>
            <a:r>
              <a:rPr sz="1050" b="1" i="0" dirty="0" err="1">
                <a:latin typeface="맑은 고딕"/>
                <a:ea typeface="맑은 고딕"/>
              </a:rPr>
              <a:t>노드에</a:t>
            </a:r>
            <a:r>
              <a:rPr sz="1050" b="1" i="0" dirty="0">
                <a:latin typeface="맑은 고딕"/>
                <a:ea typeface="맑은 고딕"/>
              </a:rPr>
              <a:t> </a:t>
            </a:r>
            <a:r>
              <a:rPr sz="1050" b="1" i="0" dirty="0" err="1">
                <a:latin typeface="맑은 고딕"/>
                <a:ea typeface="맑은 고딕"/>
              </a:rPr>
              <a:t>묶이지</a:t>
            </a:r>
            <a:r>
              <a:rPr sz="1050" b="1" i="0" dirty="0">
                <a:latin typeface="맑은 고딕"/>
                <a:ea typeface="맑은 고딕"/>
              </a:rPr>
              <a:t> </a:t>
            </a:r>
            <a:r>
              <a:rPr sz="1050" b="1" i="0" dirty="0" err="1">
                <a:latin typeface="맑은 고딕"/>
                <a:ea typeface="맑은 고딕"/>
              </a:rPr>
              <a:t>않고</a:t>
            </a:r>
            <a:r>
              <a:rPr sz="1050" b="1" i="0" dirty="0">
                <a:latin typeface="맑은 고딕"/>
                <a:ea typeface="맑은 고딕"/>
              </a:rPr>
              <a:t> </a:t>
            </a:r>
            <a:r>
              <a:rPr sz="1050" b="1" i="0" dirty="0" err="1">
                <a:latin typeface="맑은 고딕"/>
                <a:ea typeface="맑은 고딕"/>
              </a:rPr>
              <a:t>요청</a:t>
            </a:r>
            <a:r>
              <a:rPr sz="1050" b="1" i="0" dirty="0">
                <a:latin typeface="맑은 고딕"/>
                <a:ea typeface="맑은 고딕"/>
              </a:rPr>
              <a:t> 간 </a:t>
            </a:r>
            <a:r>
              <a:rPr sz="1050" b="1" i="0" dirty="0" err="1">
                <a:latin typeface="맑은 고딕"/>
                <a:ea typeface="맑은 고딕"/>
              </a:rPr>
              <a:t>공유</a:t>
            </a:r>
            <a:r>
              <a:rPr sz="1050" b="1" i="0" dirty="0">
                <a:latin typeface="맑은 고딕"/>
                <a:ea typeface="맑은 고딕"/>
              </a:rPr>
              <a:t> </a:t>
            </a:r>
            <a:r>
              <a:rPr sz="1050" b="1" i="0" dirty="0" err="1">
                <a:latin typeface="맑은 고딕"/>
                <a:ea typeface="맑은 고딕"/>
              </a:rPr>
              <a:t>가능</a:t>
            </a:r>
            <a:r>
              <a:rPr sz="1050" b="1" i="0" dirty="0">
                <a:latin typeface="맑은 고딕"/>
                <a:ea typeface="맑은 고딕"/>
              </a:rPr>
              <a:t> </a:t>
            </a:r>
            <a:endParaRPr lang="en-US" sz="1050" b="1" i="0" dirty="0">
              <a:latin typeface="맑은 고딕"/>
              <a:ea typeface="맑은 고딕"/>
            </a:endParaRPr>
          </a:p>
          <a:p>
            <a:pPr algn="ctr">
              <a:lnSpc>
                <a:spcPct val="150000"/>
              </a:lnSpc>
            </a:pPr>
            <a:r>
              <a:rPr sz="1050" b="1" i="0" dirty="0">
                <a:latin typeface="맑은 고딕"/>
                <a:ea typeface="맑은 고딕"/>
              </a:rPr>
              <a:t>→ </a:t>
            </a:r>
            <a:r>
              <a:rPr lang="ko-KR" altLang="en-US" sz="1050" b="1" i="0" dirty="0">
                <a:latin typeface="맑은 고딕"/>
                <a:ea typeface="맑은 고딕"/>
              </a:rPr>
              <a:t>노드 간의 </a:t>
            </a:r>
            <a:r>
              <a:rPr lang="ko-KR" altLang="en-US" sz="1050" b="1" dirty="0">
                <a:latin typeface="맑은 고딕"/>
                <a:ea typeface="맑은 고딕"/>
              </a:rPr>
              <a:t>데이터 </a:t>
            </a:r>
            <a:r>
              <a:rPr lang="en-US" altLang="ko-KR" sz="1050" b="1" dirty="0">
                <a:latin typeface="맑은 고딕"/>
                <a:ea typeface="맑은 고딕"/>
              </a:rPr>
              <a:t>Coherency</a:t>
            </a:r>
            <a:r>
              <a:rPr lang="ko-KR" altLang="en-US" sz="1050" b="1" dirty="0">
                <a:latin typeface="맑은 고딕"/>
                <a:ea typeface="맑은 고딕"/>
              </a:rPr>
              <a:t>를 보장하는 것이 관건 </a:t>
            </a:r>
            <a:endParaRPr lang="en-US" altLang="ko-KR" sz="1050" b="1" dirty="0">
              <a:latin typeface="맑은 고딕"/>
              <a:ea typeface="맑은 고딕"/>
            </a:endParaRPr>
          </a:p>
        </p:txBody>
      </p:sp>
      <p:grpSp>
        <p:nvGrpSpPr>
          <p:cNvPr id="5" name="그룹 4"/>
          <p:cNvGrpSpPr/>
          <p:nvPr/>
        </p:nvGrpSpPr>
        <p:grpSpPr>
          <a:xfrm>
            <a:off x="5395934" y="2128136"/>
            <a:ext cx="1867319" cy="2310039"/>
            <a:chOff x="5395934" y="2128136"/>
            <a:chExt cx="1867319" cy="2310039"/>
          </a:xfrm>
        </p:grpSpPr>
        <p:sp>
          <p:nvSpPr>
            <p:cNvPr id="50" name="Rounded Rectangle 2"/>
            <p:cNvSpPr/>
            <p:nvPr/>
          </p:nvSpPr>
          <p:spPr>
            <a:xfrm>
              <a:off x="5395934" y="2128136"/>
              <a:ext cx="1867319" cy="203827"/>
            </a:xfrm>
            <a:prstGeom prst="roundRect">
              <a:avLst>
                <a:gd name="adj" fmla="val 20000"/>
              </a:avLst>
            </a:prstGeom>
            <a:solidFill>
              <a:srgbClr val="F2F2F2"/>
            </a:solidFill>
            <a:ln w="6350">
              <a:solidFill>
                <a:srgbClr val="9E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583962" y="2161768"/>
              <a:ext cx="1491261" cy="152870"/>
            </a:xfrm>
            <a:prstGeom prst="rect">
              <a:avLst/>
            </a:prstGeom>
            <a:noFill/>
          </p:spPr>
          <p:txBody>
            <a:bodyPr wrap="square" lIns="0" tIns="0" rIns="0" bIns="0" anchor="t">
              <a:spAutoFit/>
            </a:bodyPr>
            <a:lstStyle/>
            <a:p>
              <a:pPr algn="ctr"/>
              <a:r>
                <a:rPr sz="750" b="1">
                  <a:solidFill>
                    <a:srgbClr val="222222"/>
                  </a:solidFill>
                  <a:latin typeface="맑은 고딕"/>
                  <a:ea typeface="맑은 고딕"/>
                  <a:cs typeface="맑은 고딕"/>
                </a:rPr>
                <a:t>① 캐시 비일관 · Stale Read</a:t>
              </a:r>
            </a:p>
          </p:txBody>
        </p:sp>
        <p:sp>
          <p:nvSpPr>
            <p:cNvPr id="73" name="Rounded Rectangle 4"/>
            <p:cNvSpPr/>
            <p:nvPr/>
          </p:nvSpPr>
          <p:spPr>
            <a:xfrm>
              <a:off x="5460771" y="2413494"/>
              <a:ext cx="713212" cy="448419"/>
            </a:xfrm>
            <a:prstGeom prst="roundRect">
              <a:avLst>
                <a:gd name="adj" fmla="val 7575"/>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5529904" y="2420424"/>
              <a:ext cx="574945" cy="142679"/>
            </a:xfrm>
            <a:prstGeom prst="rect">
              <a:avLst/>
            </a:prstGeom>
            <a:noFill/>
          </p:spPr>
          <p:txBody>
            <a:bodyPr wrap="square" lIns="0" tIns="0" rIns="0" bIns="0" anchor="t">
              <a:spAutoFit/>
            </a:bodyPr>
            <a:lstStyle/>
            <a:p>
              <a:pPr algn="ctr"/>
              <a:r>
                <a:rPr sz="700" b="1">
                  <a:solidFill>
                    <a:srgbClr val="2F5597"/>
                  </a:solidFill>
                  <a:latin typeface="맑은 고딕"/>
                  <a:ea typeface="맑은 고딕"/>
                  <a:cs typeface="맑은 고딕"/>
                </a:rPr>
                <a:t>노드 A</a:t>
              </a:r>
            </a:p>
          </p:txBody>
        </p:sp>
        <p:sp>
          <p:nvSpPr>
            <p:cNvPr id="75" name="Rounded Rectangle 6"/>
            <p:cNvSpPr/>
            <p:nvPr/>
          </p:nvSpPr>
          <p:spPr>
            <a:xfrm>
              <a:off x="5534449" y="2576556"/>
              <a:ext cx="565855" cy="231004"/>
            </a:xfrm>
            <a:prstGeom prst="roundRect">
              <a:avLst>
                <a:gd name="adj" fmla="val 11764"/>
              </a:avLst>
            </a:prstGeom>
            <a:solidFill>
              <a:srgbClr val="FFFFFF"/>
            </a:solidFill>
            <a:ln w="63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579796" y="2584437"/>
              <a:ext cx="475161" cy="122297"/>
            </a:xfrm>
            <a:prstGeom prst="rect">
              <a:avLst/>
            </a:prstGeom>
            <a:noFill/>
          </p:spPr>
          <p:txBody>
            <a:bodyPr wrap="square" lIns="0" tIns="0" rIns="0" bIns="0" anchor="t">
              <a:spAutoFit/>
            </a:bodyPr>
            <a:lstStyle/>
            <a:p>
              <a:pPr algn="ctr"/>
              <a:r>
                <a:rPr sz="600" b="0" dirty="0" err="1">
                  <a:solidFill>
                    <a:srgbClr val="222222"/>
                  </a:solidFill>
                  <a:latin typeface="맑은 고딕"/>
                  <a:ea typeface="맑은 고딕"/>
                  <a:cs typeface="맑은 고딕"/>
                </a:rPr>
                <a:t>블록</a:t>
              </a:r>
              <a:r>
                <a:rPr sz="600" b="0" dirty="0">
                  <a:solidFill>
                    <a:srgbClr val="222222"/>
                  </a:solidFill>
                  <a:latin typeface="맑은 고딕"/>
                  <a:ea typeface="맑은 고딕"/>
                  <a:cs typeface="맑은 고딕"/>
                </a:rPr>
                <a:t> </a:t>
              </a:r>
              <a:r>
                <a:rPr sz="600" b="0" dirty="0" err="1">
                  <a:solidFill>
                    <a:srgbClr val="222222"/>
                  </a:solidFill>
                  <a:latin typeface="맑은 고딕"/>
                  <a:ea typeface="맑은 고딕"/>
                  <a:cs typeface="맑은 고딕"/>
                </a:rPr>
                <a:t>퇴출</a:t>
              </a:r>
              <a:endParaRPr sz="600" b="0" dirty="0">
                <a:solidFill>
                  <a:srgbClr val="222222"/>
                </a:solidFill>
                <a:latin typeface="맑은 고딕"/>
                <a:ea typeface="맑은 고딕"/>
                <a:cs typeface="맑은 고딕"/>
              </a:endParaRPr>
            </a:p>
          </p:txBody>
        </p:sp>
        <p:sp>
          <p:nvSpPr>
            <p:cNvPr id="77" name="TextBox 76"/>
            <p:cNvSpPr txBox="1"/>
            <p:nvPr/>
          </p:nvSpPr>
          <p:spPr>
            <a:xfrm>
              <a:off x="5501156" y="2679556"/>
              <a:ext cx="632440" cy="122297"/>
            </a:xfrm>
            <a:prstGeom prst="rect">
              <a:avLst/>
            </a:prstGeom>
            <a:noFill/>
          </p:spPr>
          <p:txBody>
            <a:bodyPr wrap="square" lIns="0" tIns="0" rIns="0" bIns="0" anchor="t">
              <a:spAutoFit/>
            </a:bodyPr>
            <a:lstStyle/>
            <a:p>
              <a:pPr algn="ctr"/>
              <a:r>
                <a:rPr sz="600" b="0" dirty="0">
                  <a:solidFill>
                    <a:srgbClr val="222222"/>
                  </a:solidFill>
                  <a:latin typeface="맑은 고딕"/>
                  <a:ea typeface="맑은 고딕"/>
                  <a:cs typeface="맑은 고딕"/>
                </a:rPr>
                <a:t>(</a:t>
              </a:r>
              <a:r>
                <a:rPr sz="600" b="0" dirty="0" err="1">
                  <a:solidFill>
                    <a:srgbClr val="222222"/>
                  </a:solidFill>
                  <a:latin typeface="맑은 고딕"/>
                  <a:ea typeface="맑은 고딕"/>
                  <a:cs typeface="맑은 고딕"/>
                </a:rPr>
                <a:t>쓰기</a:t>
              </a:r>
              <a:r>
                <a:rPr sz="600" b="0" dirty="0">
                  <a:solidFill>
                    <a:srgbClr val="222222"/>
                  </a:solidFill>
                  <a:latin typeface="맑은 고딕"/>
                  <a:ea typeface="맑은 고딕"/>
                  <a:cs typeface="맑은 고딕"/>
                </a:rPr>
                <a:t> </a:t>
              </a:r>
              <a:r>
                <a:rPr sz="600" b="0" dirty="0" err="1">
                  <a:solidFill>
                    <a:srgbClr val="222222"/>
                  </a:solidFill>
                  <a:latin typeface="맑은 고딕"/>
                  <a:ea typeface="맑은 고딕"/>
                  <a:cs typeface="맑은 고딕"/>
                </a:rPr>
                <a:t>주체</a:t>
              </a:r>
              <a:r>
                <a:rPr sz="600" b="0" dirty="0">
                  <a:solidFill>
                    <a:srgbClr val="222222"/>
                  </a:solidFill>
                  <a:latin typeface="맑은 고딕"/>
                  <a:ea typeface="맑은 고딕"/>
                  <a:cs typeface="맑은 고딕"/>
                </a:rPr>
                <a:t>)</a:t>
              </a:r>
            </a:p>
          </p:txBody>
        </p:sp>
        <p:sp>
          <p:nvSpPr>
            <p:cNvPr id="78" name="Rounded Rectangle 9"/>
            <p:cNvSpPr/>
            <p:nvPr/>
          </p:nvSpPr>
          <p:spPr>
            <a:xfrm>
              <a:off x="6485203" y="2413494"/>
              <a:ext cx="713212" cy="448419"/>
            </a:xfrm>
            <a:prstGeom prst="roundRect">
              <a:avLst>
                <a:gd name="adj" fmla="val 7575"/>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525588" y="2420424"/>
              <a:ext cx="632440" cy="142679"/>
            </a:xfrm>
            <a:prstGeom prst="rect">
              <a:avLst/>
            </a:prstGeom>
            <a:noFill/>
          </p:spPr>
          <p:txBody>
            <a:bodyPr wrap="square" lIns="0" tIns="0" rIns="0" bIns="0" anchor="t">
              <a:spAutoFit/>
            </a:bodyPr>
            <a:lstStyle/>
            <a:p>
              <a:pPr algn="ctr"/>
              <a:r>
                <a:rPr sz="700" b="1" dirty="0" err="1">
                  <a:solidFill>
                    <a:srgbClr val="2F5597"/>
                  </a:solidFill>
                  <a:latin typeface="맑은 고딕"/>
                  <a:ea typeface="맑은 고딕"/>
                  <a:cs typeface="맑은 고딕"/>
                </a:rPr>
                <a:t>노드</a:t>
              </a:r>
              <a:r>
                <a:rPr sz="700" b="1" dirty="0">
                  <a:solidFill>
                    <a:srgbClr val="2F5597"/>
                  </a:solidFill>
                  <a:latin typeface="맑은 고딕"/>
                  <a:ea typeface="맑은 고딕"/>
                  <a:cs typeface="맑은 고딕"/>
                </a:rPr>
                <a:t> B</a:t>
              </a:r>
            </a:p>
          </p:txBody>
        </p:sp>
        <p:sp>
          <p:nvSpPr>
            <p:cNvPr id="81" name="Rounded Rectangle 11"/>
            <p:cNvSpPr/>
            <p:nvPr/>
          </p:nvSpPr>
          <p:spPr>
            <a:xfrm>
              <a:off x="6558880" y="2576556"/>
              <a:ext cx="565855" cy="231004"/>
            </a:xfrm>
            <a:prstGeom prst="roundRect">
              <a:avLst>
                <a:gd name="adj" fmla="val 11764"/>
              </a:avLst>
            </a:prstGeom>
            <a:solidFill>
              <a:srgbClr val="FFF4D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525588" y="2584437"/>
              <a:ext cx="632440" cy="122297"/>
            </a:xfrm>
            <a:prstGeom prst="rect">
              <a:avLst/>
            </a:prstGeom>
            <a:noFill/>
          </p:spPr>
          <p:txBody>
            <a:bodyPr wrap="square" lIns="0" tIns="0" rIns="0" bIns="0" anchor="t">
              <a:spAutoFit/>
            </a:bodyPr>
            <a:lstStyle/>
            <a:p>
              <a:pPr algn="ctr"/>
              <a:r>
                <a:rPr sz="600" b="1" dirty="0" err="1">
                  <a:solidFill>
                    <a:srgbClr val="C00000"/>
                  </a:solidFill>
                  <a:latin typeface="맑은 고딕"/>
                  <a:ea typeface="맑은 고딕"/>
                  <a:cs typeface="맑은 고딕"/>
                </a:rPr>
                <a:t>캐시</a:t>
              </a:r>
              <a:r>
                <a:rPr sz="600" b="1" dirty="0">
                  <a:solidFill>
                    <a:srgbClr val="C00000"/>
                  </a:solidFill>
                  <a:latin typeface="맑은 고딕"/>
                  <a:ea typeface="맑은 고딕"/>
                  <a:cs typeface="맑은 고딕"/>
                </a:rPr>
                <a:t>: h→#7</a:t>
              </a:r>
            </a:p>
          </p:txBody>
        </p:sp>
        <p:sp>
          <p:nvSpPr>
            <p:cNvPr id="83" name="TextBox 82"/>
            <p:cNvSpPr txBox="1"/>
            <p:nvPr/>
          </p:nvSpPr>
          <p:spPr>
            <a:xfrm>
              <a:off x="6525588" y="2679556"/>
              <a:ext cx="632440" cy="122297"/>
            </a:xfrm>
            <a:prstGeom prst="rect">
              <a:avLst/>
            </a:prstGeom>
            <a:noFill/>
          </p:spPr>
          <p:txBody>
            <a:bodyPr wrap="square" lIns="0" tIns="0" rIns="0" bIns="0" anchor="t">
              <a:spAutoFit/>
            </a:bodyPr>
            <a:lstStyle/>
            <a:p>
              <a:pPr algn="ctr"/>
              <a:r>
                <a:rPr sz="600" b="1">
                  <a:solidFill>
                    <a:srgbClr val="C00000"/>
                  </a:solidFill>
                  <a:latin typeface="맑은 고딕"/>
                  <a:ea typeface="맑은 고딕"/>
                  <a:cs typeface="맑은 고딕"/>
                </a:rPr>
                <a:t>(stale)</a:t>
              </a:r>
            </a:p>
          </p:txBody>
        </p:sp>
        <p:sp>
          <p:nvSpPr>
            <p:cNvPr id="84" name="Rounded Rectangle 14"/>
            <p:cNvSpPr/>
            <p:nvPr/>
          </p:nvSpPr>
          <p:spPr>
            <a:xfrm>
              <a:off x="5460771" y="3147272"/>
              <a:ext cx="1737644" cy="434831"/>
            </a:xfrm>
            <a:prstGeom prst="roundRect">
              <a:avLst>
                <a:gd name="adj" fmla="val 7812"/>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5583962" y="3168741"/>
              <a:ext cx="1491261" cy="122297"/>
            </a:xfrm>
            <a:prstGeom prst="rect">
              <a:avLst/>
            </a:prstGeom>
            <a:noFill/>
          </p:spPr>
          <p:txBody>
            <a:bodyPr wrap="square" lIns="0" tIns="0" rIns="0" bIns="0" anchor="t">
              <a:spAutoFit/>
            </a:bodyPr>
            <a:lstStyle/>
            <a:p>
              <a:pPr algn="ctr"/>
              <a:r>
                <a:rPr sz="600" b="1">
                  <a:solidFill>
                    <a:srgbClr val="C55A11"/>
                  </a:solidFill>
                  <a:latin typeface="맑은 고딕"/>
                  <a:ea typeface="맑은 고딕"/>
                  <a:cs typeface="맑은 고딕"/>
                </a:rPr>
                <a:t>공유 메모리 풀 (비일관)</a:t>
              </a:r>
            </a:p>
          </p:txBody>
        </p:sp>
        <p:sp>
          <p:nvSpPr>
            <p:cNvPr id="86" name="Rounded Rectangle 16"/>
            <p:cNvSpPr/>
            <p:nvPr/>
          </p:nvSpPr>
          <p:spPr>
            <a:xfrm>
              <a:off x="5512640" y="3303539"/>
              <a:ext cx="778049" cy="217415"/>
            </a:xfrm>
            <a:prstGeom prst="roundRect">
              <a:avLst>
                <a:gd name="adj" fmla="val 9375"/>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5480777" y="3348550"/>
              <a:ext cx="841777" cy="107722"/>
            </a:xfrm>
            <a:prstGeom prst="rect">
              <a:avLst/>
            </a:prstGeom>
            <a:noFill/>
          </p:spPr>
          <p:txBody>
            <a:bodyPr wrap="square" lIns="0" tIns="0" rIns="0" bIns="0" anchor="t">
              <a:spAutoFit/>
            </a:bodyPr>
            <a:lstStyle/>
            <a:p>
              <a:pPr algn="ctr"/>
              <a:r>
                <a:rPr sz="700" b="1" dirty="0" err="1">
                  <a:solidFill>
                    <a:srgbClr val="222222"/>
                  </a:solidFill>
                  <a:latin typeface="맑은 고딕"/>
                  <a:ea typeface="맑은 고딕"/>
                  <a:cs typeface="맑은 고딕"/>
                </a:rPr>
                <a:t>idx</a:t>
              </a:r>
              <a:r>
                <a:rPr sz="700" b="1" dirty="0">
                  <a:solidFill>
                    <a:srgbClr val="222222"/>
                  </a:solidFill>
                  <a:latin typeface="맑은 고딕"/>
                  <a:ea typeface="맑은 고딕"/>
                  <a:cs typeface="맑은 고딕"/>
                </a:rPr>
                <a:t>[h]: #7 → ∅</a:t>
              </a:r>
            </a:p>
          </p:txBody>
        </p:sp>
        <p:sp>
          <p:nvSpPr>
            <p:cNvPr id="88" name="Rounded Rectangle 18"/>
            <p:cNvSpPr/>
            <p:nvPr/>
          </p:nvSpPr>
          <p:spPr>
            <a:xfrm>
              <a:off x="6342560" y="3303539"/>
              <a:ext cx="803984" cy="217415"/>
            </a:xfrm>
            <a:prstGeom prst="roundRect">
              <a:avLst>
                <a:gd name="adj" fmla="val 9375"/>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6323664" y="3348550"/>
              <a:ext cx="841777" cy="107722"/>
            </a:xfrm>
            <a:prstGeom prst="rect">
              <a:avLst/>
            </a:prstGeom>
            <a:noFill/>
          </p:spPr>
          <p:txBody>
            <a:bodyPr wrap="square" lIns="0" tIns="0" rIns="0" bIns="0" anchor="t">
              <a:spAutoFit/>
            </a:bodyPr>
            <a:lstStyle/>
            <a:p>
              <a:pPr algn="ctr"/>
              <a:r>
                <a:rPr sz="700" b="1">
                  <a:solidFill>
                    <a:srgbClr val="222222"/>
                  </a:solidFill>
                  <a:latin typeface="맑은 고딕"/>
                  <a:ea typeface="맑은 고딕"/>
                  <a:cs typeface="맑은 고딕"/>
                </a:rPr>
                <a:t>blk#7: 재사용됨</a:t>
              </a:r>
            </a:p>
          </p:txBody>
        </p:sp>
        <p:cxnSp>
          <p:nvCxnSpPr>
            <p:cNvPr id="90" name="Connector 20"/>
            <p:cNvCxnSpPr/>
            <p:nvPr/>
          </p:nvCxnSpPr>
          <p:spPr>
            <a:xfrm flipV="1">
              <a:off x="6776971"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Oval 21"/>
            <p:cNvSpPr/>
            <p:nvPr/>
          </p:nvSpPr>
          <p:spPr>
            <a:xfrm>
              <a:off x="6627845"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cxnSp>
          <p:nvCxnSpPr>
            <p:cNvPr id="96" name="Connector 22"/>
            <p:cNvCxnSpPr/>
            <p:nvPr/>
          </p:nvCxnSpPr>
          <p:spPr>
            <a:xfrm>
              <a:off x="5817377"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Oval 23"/>
            <p:cNvSpPr/>
            <p:nvPr/>
          </p:nvSpPr>
          <p:spPr>
            <a:xfrm>
              <a:off x="5849795"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2</a:t>
              </a:r>
            </a:p>
          </p:txBody>
        </p:sp>
        <p:cxnSp>
          <p:nvCxnSpPr>
            <p:cNvPr id="100" name="Connector 24"/>
            <p:cNvCxnSpPr/>
            <p:nvPr/>
          </p:nvCxnSpPr>
          <p:spPr>
            <a:xfrm>
              <a:off x="6932581" y="2875502"/>
              <a:ext cx="0" cy="271770"/>
            </a:xfrm>
            <a:prstGeom prst="line">
              <a:avLst/>
            </a:prstGeom>
            <a:ln w="12700">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2" name="Oval 25"/>
            <p:cNvSpPr/>
            <p:nvPr/>
          </p:nvSpPr>
          <p:spPr>
            <a:xfrm>
              <a:off x="6964999" y="2950238"/>
              <a:ext cx="116708" cy="122297"/>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sp>
          <p:nvSpPr>
            <p:cNvPr id="103" name="Oval 26"/>
            <p:cNvSpPr/>
            <p:nvPr/>
          </p:nvSpPr>
          <p:spPr>
            <a:xfrm>
              <a:off x="5454286" y="3643250"/>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sp>
          <p:nvSpPr>
            <p:cNvPr id="104" name="TextBox 103"/>
            <p:cNvSpPr txBox="1"/>
            <p:nvPr/>
          </p:nvSpPr>
          <p:spPr>
            <a:xfrm>
              <a:off x="5603413" y="3637068"/>
              <a:ext cx="1659839" cy="132487"/>
            </a:xfrm>
            <a:prstGeom prst="rect">
              <a:avLst/>
            </a:prstGeom>
            <a:noFill/>
          </p:spPr>
          <p:txBody>
            <a:bodyPr wrap="square" lIns="0" tIns="0" rIns="0" bIns="0" anchor="t">
              <a:spAutoFit/>
            </a:bodyPr>
            <a:lstStyle/>
            <a:p>
              <a:pPr algn="l"/>
              <a:r>
                <a:rPr sz="650" b="0" dirty="0" err="1">
                  <a:solidFill>
                    <a:srgbClr val="222222"/>
                  </a:solidFill>
                  <a:latin typeface="맑은 고딕"/>
                  <a:ea typeface="맑은 고딕"/>
                  <a:cs typeface="맑은 고딕"/>
                </a:rPr>
                <a:t>B가</a:t>
              </a:r>
              <a:r>
                <a:rPr sz="650" b="0" dirty="0">
                  <a:solidFill>
                    <a:srgbClr val="222222"/>
                  </a:solidFill>
                  <a:latin typeface="맑은 고딕"/>
                  <a:ea typeface="맑은 고딕"/>
                  <a:cs typeface="맑은 고딕"/>
                </a:rPr>
                <a:t> </a:t>
              </a:r>
              <a:r>
                <a:rPr sz="650" b="0" dirty="0" err="1">
                  <a:solidFill>
                    <a:srgbClr val="222222"/>
                  </a:solidFill>
                  <a:latin typeface="맑은 고딕"/>
                  <a:ea typeface="맑은 고딕"/>
                  <a:cs typeface="맑은 고딕"/>
                </a:rPr>
                <a:t>idx</a:t>
              </a:r>
              <a:r>
                <a:rPr sz="650" b="0" dirty="0">
                  <a:solidFill>
                    <a:srgbClr val="222222"/>
                  </a:solidFill>
                  <a:latin typeface="맑은 고딕"/>
                  <a:ea typeface="맑은 고딕"/>
                  <a:cs typeface="맑은 고딕"/>
                </a:rPr>
                <a:t>[h]를 </a:t>
              </a:r>
              <a:r>
                <a:rPr sz="650" b="0" dirty="0" err="1">
                  <a:solidFill>
                    <a:srgbClr val="222222"/>
                  </a:solidFill>
                  <a:latin typeface="맑은 고딕"/>
                  <a:ea typeface="맑은 고딕"/>
                  <a:cs typeface="맑은 고딕"/>
                </a:rPr>
                <a:t>읽어</a:t>
              </a:r>
              <a:r>
                <a:rPr sz="650" b="0" dirty="0">
                  <a:solidFill>
                    <a:srgbClr val="222222"/>
                  </a:solidFill>
                  <a:latin typeface="맑은 고딕"/>
                  <a:ea typeface="맑은 고딕"/>
                  <a:cs typeface="맑은 고딕"/>
                </a:rPr>
                <a:t> CPU </a:t>
              </a:r>
              <a:r>
                <a:rPr sz="650" b="0" dirty="0" err="1">
                  <a:solidFill>
                    <a:srgbClr val="222222"/>
                  </a:solidFill>
                  <a:latin typeface="맑은 고딕"/>
                  <a:ea typeface="맑은 고딕"/>
                  <a:cs typeface="맑은 고딕"/>
                </a:rPr>
                <a:t>캐시에</a:t>
              </a:r>
              <a:r>
                <a:rPr sz="650" b="0" dirty="0">
                  <a:solidFill>
                    <a:srgbClr val="222222"/>
                  </a:solidFill>
                  <a:latin typeface="맑은 고딕"/>
                  <a:ea typeface="맑은 고딕"/>
                  <a:cs typeface="맑은 고딕"/>
                </a:rPr>
                <a:t> </a:t>
              </a:r>
              <a:r>
                <a:rPr sz="650" b="0" dirty="0" err="1">
                  <a:solidFill>
                    <a:srgbClr val="222222"/>
                  </a:solidFill>
                  <a:latin typeface="맑은 고딕"/>
                  <a:ea typeface="맑은 고딕"/>
                  <a:cs typeface="맑은 고딕"/>
                </a:rPr>
                <a:t>적재</a:t>
              </a:r>
              <a:endParaRPr sz="650" b="0" dirty="0">
                <a:solidFill>
                  <a:srgbClr val="222222"/>
                </a:solidFill>
                <a:latin typeface="맑은 고딕"/>
                <a:ea typeface="맑은 고딕"/>
                <a:cs typeface="맑은 고딕"/>
              </a:endParaRPr>
            </a:p>
          </p:txBody>
        </p:sp>
        <p:sp>
          <p:nvSpPr>
            <p:cNvPr id="105" name="Oval 28"/>
            <p:cNvSpPr/>
            <p:nvPr/>
          </p:nvSpPr>
          <p:spPr>
            <a:xfrm>
              <a:off x="5454286" y="3772341"/>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2</a:t>
              </a:r>
            </a:p>
          </p:txBody>
        </p:sp>
        <p:sp>
          <p:nvSpPr>
            <p:cNvPr id="106" name="TextBox 105"/>
            <p:cNvSpPr txBox="1"/>
            <p:nvPr/>
          </p:nvSpPr>
          <p:spPr>
            <a:xfrm>
              <a:off x="5603413" y="376615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A가 블록 퇴출, idx[h]=∅ 갱신</a:t>
              </a:r>
            </a:p>
          </p:txBody>
        </p:sp>
        <p:sp>
          <p:nvSpPr>
            <p:cNvPr id="107" name="Oval 30"/>
            <p:cNvSpPr/>
            <p:nvPr/>
          </p:nvSpPr>
          <p:spPr>
            <a:xfrm>
              <a:off x="5454286" y="3901431"/>
              <a:ext cx="116708" cy="122297"/>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sp>
          <p:nvSpPr>
            <p:cNvPr id="108" name="TextBox 107"/>
            <p:cNvSpPr txBox="1"/>
            <p:nvPr/>
          </p:nvSpPr>
          <p:spPr>
            <a:xfrm>
              <a:off x="5603413" y="389524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B는 무효화 못 받고 캐시값(#7) 사용</a:t>
              </a:r>
            </a:p>
          </p:txBody>
        </p:sp>
        <p:sp>
          <p:nvSpPr>
            <p:cNvPr id="109" name="Rounded Rectangle 32"/>
            <p:cNvSpPr/>
            <p:nvPr/>
          </p:nvSpPr>
          <p:spPr>
            <a:xfrm>
              <a:off x="5460771" y="4166406"/>
              <a:ext cx="1737644" cy="271769"/>
            </a:xfrm>
            <a:prstGeom prst="roundRect">
              <a:avLst>
                <a:gd name="adj" fmla="val 15000"/>
              </a:avLst>
            </a:prstGeom>
            <a:solidFill>
              <a:srgbClr val="FDE8E6"/>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5583962" y="4180131"/>
              <a:ext cx="1491261" cy="142679"/>
            </a:xfrm>
            <a:prstGeom prst="rect">
              <a:avLst/>
            </a:prstGeom>
            <a:noFill/>
          </p:spPr>
          <p:txBody>
            <a:bodyPr wrap="square" lIns="0" tIns="0" rIns="0" bIns="0" anchor="t">
              <a:spAutoFit/>
            </a:bodyPr>
            <a:lstStyle/>
            <a:p>
              <a:pPr algn="ctr"/>
              <a:r>
                <a:rPr sz="700" b="1">
                  <a:solidFill>
                    <a:srgbClr val="C00000"/>
                  </a:solidFill>
                  <a:latin typeface="맑은 고딕"/>
                  <a:ea typeface="맑은 고딕"/>
                  <a:cs typeface="맑은 고딕"/>
                </a:rPr>
                <a:t>재사용된 blk#7 참조</a:t>
              </a:r>
            </a:p>
          </p:txBody>
        </p:sp>
        <p:sp>
          <p:nvSpPr>
            <p:cNvPr id="111" name="TextBox 110"/>
            <p:cNvSpPr txBox="1"/>
            <p:nvPr/>
          </p:nvSpPr>
          <p:spPr>
            <a:xfrm>
              <a:off x="5583962" y="4302903"/>
              <a:ext cx="1491261" cy="132487"/>
            </a:xfrm>
            <a:prstGeom prst="rect">
              <a:avLst/>
            </a:prstGeom>
            <a:noFill/>
          </p:spPr>
          <p:txBody>
            <a:bodyPr wrap="square" lIns="0" tIns="0" rIns="0" bIns="0" anchor="t">
              <a:spAutoFit/>
            </a:bodyPr>
            <a:lstStyle/>
            <a:p>
              <a:pPr algn="ctr"/>
              <a:r>
                <a:rPr sz="650" b="0">
                  <a:solidFill>
                    <a:srgbClr val="C00000"/>
                  </a:solidFill>
                  <a:latin typeface="맑은 고딕"/>
                  <a:ea typeface="맑은 고딕"/>
                  <a:cs typeface="맑은 고딕"/>
                </a:rPr>
                <a:t>→ 다른 요청의 KV 오염</a:t>
              </a:r>
            </a:p>
          </p:txBody>
        </p:sp>
      </p:grpSp>
      <p:grpSp>
        <p:nvGrpSpPr>
          <p:cNvPr id="2" name="그룹 1"/>
          <p:cNvGrpSpPr/>
          <p:nvPr/>
        </p:nvGrpSpPr>
        <p:grpSpPr>
          <a:xfrm>
            <a:off x="7702764" y="2128136"/>
            <a:ext cx="1908852" cy="2310039"/>
            <a:chOff x="7522603" y="2128136"/>
            <a:chExt cx="1908852" cy="2310039"/>
          </a:xfrm>
        </p:grpSpPr>
        <p:sp>
          <p:nvSpPr>
            <p:cNvPr id="112" name="Rounded Rectangle 35"/>
            <p:cNvSpPr/>
            <p:nvPr/>
          </p:nvSpPr>
          <p:spPr>
            <a:xfrm>
              <a:off x="7522603" y="2128136"/>
              <a:ext cx="1867319" cy="203827"/>
            </a:xfrm>
            <a:prstGeom prst="roundRect">
              <a:avLst>
                <a:gd name="adj" fmla="val 20000"/>
              </a:avLst>
            </a:prstGeom>
            <a:solidFill>
              <a:srgbClr val="F2F2F2"/>
            </a:solidFill>
            <a:ln w="6350">
              <a:solidFill>
                <a:srgbClr val="9E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7710632" y="2161768"/>
              <a:ext cx="1491261" cy="152870"/>
            </a:xfrm>
            <a:prstGeom prst="rect">
              <a:avLst/>
            </a:prstGeom>
            <a:noFill/>
          </p:spPr>
          <p:txBody>
            <a:bodyPr wrap="square" lIns="0" tIns="0" rIns="0" bIns="0" anchor="t">
              <a:spAutoFit/>
            </a:bodyPr>
            <a:lstStyle/>
            <a:p>
              <a:pPr algn="ctr"/>
              <a:r>
                <a:rPr sz="750" b="1">
                  <a:solidFill>
                    <a:srgbClr val="222222"/>
                  </a:solidFill>
                  <a:latin typeface="맑은 고딕"/>
                  <a:ea typeface="맑은 고딕"/>
                  <a:cs typeface="맑은 고딕"/>
                </a:rPr>
                <a:t>② Atomic 부재 · Lost Update</a:t>
              </a:r>
            </a:p>
          </p:txBody>
        </p:sp>
        <p:sp>
          <p:nvSpPr>
            <p:cNvPr id="114" name="Rounded Rectangle 37"/>
            <p:cNvSpPr/>
            <p:nvPr/>
          </p:nvSpPr>
          <p:spPr>
            <a:xfrm>
              <a:off x="7587440" y="2413494"/>
              <a:ext cx="713212" cy="448419"/>
            </a:xfrm>
            <a:prstGeom prst="roundRect">
              <a:avLst>
                <a:gd name="adj" fmla="val 7575"/>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7596203" y="2420424"/>
              <a:ext cx="695684" cy="142679"/>
            </a:xfrm>
            <a:prstGeom prst="rect">
              <a:avLst/>
            </a:prstGeom>
            <a:noFill/>
          </p:spPr>
          <p:txBody>
            <a:bodyPr wrap="square" lIns="0" tIns="0" rIns="0" bIns="0" anchor="t">
              <a:spAutoFit/>
            </a:bodyPr>
            <a:lstStyle/>
            <a:p>
              <a:pPr algn="ctr"/>
              <a:r>
                <a:rPr sz="700" b="1">
                  <a:solidFill>
                    <a:srgbClr val="2F5597"/>
                  </a:solidFill>
                  <a:latin typeface="맑은 고딕"/>
                  <a:ea typeface="맑은 고딕"/>
                  <a:cs typeface="맑은 고딕"/>
                </a:rPr>
                <a:t>노드 A</a:t>
              </a:r>
            </a:p>
          </p:txBody>
        </p:sp>
        <p:sp>
          <p:nvSpPr>
            <p:cNvPr id="116" name="Rounded Rectangle 39"/>
            <p:cNvSpPr/>
            <p:nvPr/>
          </p:nvSpPr>
          <p:spPr>
            <a:xfrm>
              <a:off x="7661118" y="2576556"/>
              <a:ext cx="565855" cy="231004"/>
            </a:xfrm>
            <a:prstGeom prst="roundRect">
              <a:avLst>
                <a:gd name="adj" fmla="val 11764"/>
              </a:avLst>
            </a:prstGeom>
            <a:solidFill>
              <a:srgbClr val="FFFFFF"/>
            </a:solidFill>
            <a:ln w="63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7656573" y="2584437"/>
              <a:ext cx="574945" cy="122297"/>
            </a:xfrm>
            <a:prstGeom prst="rect">
              <a:avLst/>
            </a:prstGeom>
            <a:noFill/>
          </p:spPr>
          <p:txBody>
            <a:bodyPr wrap="square" lIns="0" tIns="0" rIns="0" bIns="0" anchor="t">
              <a:spAutoFit/>
            </a:bodyPr>
            <a:lstStyle/>
            <a:p>
              <a:pPr algn="ctr"/>
              <a:r>
                <a:rPr sz="600" b="0" dirty="0" err="1">
                  <a:solidFill>
                    <a:srgbClr val="222222"/>
                  </a:solidFill>
                  <a:latin typeface="맑은 고딕"/>
                  <a:ea typeface="맑은 고딕"/>
                  <a:cs typeface="맑은 고딕"/>
                </a:rPr>
                <a:t>refcnt</a:t>
              </a:r>
              <a:r>
                <a:rPr sz="600" b="0" dirty="0">
                  <a:solidFill>
                    <a:srgbClr val="222222"/>
                  </a:solidFill>
                  <a:latin typeface="맑은 고딕"/>
                  <a:ea typeface="맑은 고딕"/>
                  <a:cs typeface="맑은 고딕"/>
                </a:rPr>
                <a:t> </a:t>
              </a:r>
              <a:r>
                <a:rPr sz="600" b="0" dirty="0" err="1">
                  <a:solidFill>
                    <a:srgbClr val="222222"/>
                  </a:solidFill>
                  <a:latin typeface="맑은 고딕"/>
                  <a:ea typeface="맑은 고딕"/>
                  <a:cs typeface="맑은 고딕"/>
                </a:rPr>
                <a:t>읽음</a:t>
              </a:r>
              <a:r>
                <a:rPr sz="600" b="0" dirty="0">
                  <a:solidFill>
                    <a:srgbClr val="222222"/>
                  </a:solidFill>
                  <a:latin typeface="맑은 고딕"/>
                  <a:ea typeface="맑은 고딕"/>
                  <a:cs typeface="맑은 고딕"/>
                </a:rPr>
                <a:t>: 3</a:t>
              </a:r>
            </a:p>
          </p:txBody>
        </p:sp>
        <p:sp>
          <p:nvSpPr>
            <p:cNvPr id="118" name="TextBox 117"/>
            <p:cNvSpPr txBox="1"/>
            <p:nvPr/>
          </p:nvSpPr>
          <p:spPr>
            <a:xfrm>
              <a:off x="7765548" y="2679556"/>
              <a:ext cx="356995" cy="122297"/>
            </a:xfrm>
            <a:prstGeom prst="rect">
              <a:avLst/>
            </a:prstGeom>
            <a:noFill/>
          </p:spPr>
          <p:txBody>
            <a:bodyPr wrap="square" lIns="0" tIns="0" rIns="0" bIns="0" anchor="t">
              <a:spAutoFit/>
            </a:bodyPr>
            <a:lstStyle/>
            <a:p>
              <a:pPr algn="ctr"/>
              <a:r>
                <a:rPr sz="600" b="0">
                  <a:solidFill>
                    <a:srgbClr val="222222"/>
                  </a:solidFill>
                  <a:latin typeface="맑은 고딕"/>
                  <a:ea typeface="맑은 고딕"/>
                  <a:cs typeface="맑은 고딕"/>
                </a:rPr>
                <a:t>→ 4 기록</a:t>
              </a:r>
            </a:p>
          </p:txBody>
        </p:sp>
        <p:sp>
          <p:nvSpPr>
            <p:cNvPr id="119" name="Rounded Rectangle 42"/>
            <p:cNvSpPr/>
            <p:nvPr/>
          </p:nvSpPr>
          <p:spPr>
            <a:xfrm>
              <a:off x="8611872" y="2413494"/>
              <a:ext cx="713212" cy="448419"/>
            </a:xfrm>
            <a:prstGeom prst="roundRect">
              <a:avLst>
                <a:gd name="adj" fmla="val 7575"/>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8681005" y="2420424"/>
              <a:ext cx="574945" cy="142679"/>
            </a:xfrm>
            <a:prstGeom prst="rect">
              <a:avLst/>
            </a:prstGeom>
            <a:noFill/>
          </p:spPr>
          <p:txBody>
            <a:bodyPr wrap="square" lIns="0" tIns="0" rIns="0" bIns="0" anchor="t">
              <a:spAutoFit/>
            </a:bodyPr>
            <a:lstStyle/>
            <a:p>
              <a:pPr algn="ctr"/>
              <a:r>
                <a:rPr sz="700" b="1" dirty="0" err="1">
                  <a:solidFill>
                    <a:srgbClr val="2F5597"/>
                  </a:solidFill>
                  <a:latin typeface="맑은 고딕"/>
                  <a:ea typeface="맑은 고딕"/>
                  <a:cs typeface="맑은 고딕"/>
                </a:rPr>
                <a:t>노드</a:t>
              </a:r>
              <a:r>
                <a:rPr sz="700" b="1" dirty="0">
                  <a:solidFill>
                    <a:srgbClr val="2F5597"/>
                  </a:solidFill>
                  <a:latin typeface="맑은 고딕"/>
                  <a:ea typeface="맑은 고딕"/>
                  <a:cs typeface="맑은 고딕"/>
                </a:rPr>
                <a:t> B</a:t>
              </a:r>
            </a:p>
          </p:txBody>
        </p:sp>
        <p:sp>
          <p:nvSpPr>
            <p:cNvPr id="121" name="Rounded Rectangle 44"/>
            <p:cNvSpPr/>
            <p:nvPr/>
          </p:nvSpPr>
          <p:spPr>
            <a:xfrm>
              <a:off x="8685551" y="2576556"/>
              <a:ext cx="565855" cy="231004"/>
            </a:xfrm>
            <a:prstGeom prst="roundRect">
              <a:avLst>
                <a:gd name="adj" fmla="val 11764"/>
              </a:avLst>
            </a:prstGeom>
            <a:solidFill>
              <a:srgbClr val="FFFFFF"/>
            </a:solidFill>
            <a:ln w="63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8505500" y="2584437"/>
              <a:ext cx="925955" cy="122297"/>
            </a:xfrm>
            <a:prstGeom prst="rect">
              <a:avLst/>
            </a:prstGeom>
            <a:noFill/>
          </p:spPr>
          <p:txBody>
            <a:bodyPr wrap="square" lIns="0" tIns="0" rIns="0" bIns="0" anchor="t">
              <a:spAutoFit/>
            </a:bodyPr>
            <a:lstStyle/>
            <a:p>
              <a:pPr algn="ctr"/>
              <a:r>
                <a:rPr sz="600" b="0">
                  <a:solidFill>
                    <a:srgbClr val="222222"/>
                  </a:solidFill>
                  <a:latin typeface="맑은 고딕"/>
                  <a:ea typeface="맑은 고딕"/>
                  <a:cs typeface="맑은 고딕"/>
                </a:rPr>
                <a:t>refcnt 읽음: 3</a:t>
              </a:r>
            </a:p>
          </p:txBody>
        </p:sp>
        <p:sp>
          <p:nvSpPr>
            <p:cNvPr id="123" name="TextBox 122"/>
            <p:cNvSpPr txBox="1"/>
            <p:nvPr/>
          </p:nvSpPr>
          <p:spPr>
            <a:xfrm>
              <a:off x="8505500" y="2679556"/>
              <a:ext cx="925955" cy="122297"/>
            </a:xfrm>
            <a:prstGeom prst="rect">
              <a:avLst/>
            </a:prstGeom>
            <a:noFill/>
          </p:spPr>
          <p:txBody>
            <a:bodyPr wrap="square" lIns="0" tIns="0" rIns="0" bIns="0" anchor="t">
              <a:spAutoFit/>
            </a:bodyPr>
            <a:lstStyle/>
            <a:p>
              <a:pPr algn="ctr"/>
              <a:r>
                <a:rPr sz="600" b="0">
                  <a:solidFill>
                    <a:srgbClr val="222222"/>
                  </a:solidFill>
                  <a:latin typeface="맑은 고딕"/>
                  <a:ea typeface="맑은 고딕"/>
                  <a:cs typeface="맑은 고딕"/>
                </a:rPr>
                <a:t>→ 4 기록</a:t>
              </a:r>
            </a:p>
          </p:txBody>
        </p:sp>
        <p:sp>
          <p:nvSpPr>
            <p:cNvPr id="124" name="Rounded Rectangle 47"/>
            <p:cNvSpPr/>
            <p:nvPr/>
          </p:nvSpPr>
          <p:spPr>
            <a:xfrm>
              <a:off x="7587440" y="3147272"/>
              <a:ext cx="1737644" cy="434831"/>
            </a:xfrm>
            <a:prstGeom prst="roundRect">
              <a:avLst>
                <a:gd name="adj" fmla="val 7812"/>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7710632" y="3168741"/>
              <a:ext cx="1491261" cy="122297"/>
            </a:xfrm>
            <a:prstGeom prst="rect">
              <a:avLst/>
            </a:prstGeom>
            <a:noFill/>
          </p:spPr>
          <p:txBody>
            <a:bodyPr wrap="square" lIns="0" tIns="0" rIns="0" bIns="0" anchor="t">
              <a:spAutoFit/>
            </a:bodyPr>
            <a:lstStyle/>
            <a:p>
              <a:pPr algn="ctr"/>
              <a:r>
                <a:rPr sz="600" b="1">
                  <a:solidFill>
                    <a:srgbClr val="C55A11"/>
                  </a:solidFill>
                  <a:latin typeface="맑은 고딕"/>
                  <a:ea typeface="맑은 고딕"/>
                  <a:cs typeface="맑은 고딕"/>
                </a:rPr>
                <a:t>공유 메모리 풀 (비일관)</a:t>
              </a:r>
            </a:p>
          </p:txBody>
        </p:sp>
        <p:sp>
          <p:nvSpPr>
            <p:cNvPr id="126" name="Rounded Rectangle 49"/>
            <p:cNvSpPr/>
            <p:nvPr/>
          </p:nvSpPr>
          <p:spPr>
            <a:xfrm>
              <a:off x="7639311" y="3303539"/>
              <a:ext cx="713212" cy="217415"/>
            </a:xfrm>
            <a:prstGeom prst="roundRect">
              <a:avLst>
                <a:gd name="adj" fmla="val 9375"/>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7575028" y="3348550"/>
              <a:ext cx="841777" cy="107722"/>
            </a:xfrm>
            <a:prstGeom prst="rect">
              <a:avLst/>
            </a:prstGeom>
            <a:noFill/>
          </p:spPr>
          <p:txBody>
            <a:bodyPr wrap="square" lIns="0" tIns="0" rIns="0" bIns="0" anchor="t">
              <a:spAutoFit/>
            </a:bodyPr>
            <a:lstStyle/>
            <a:p>
              <a:pPr algn="ctr"/>
              <a:r>
                <a:rPr sz="700" b="1" dirty="0" err="1">
                  <a:solidFill>
                    <a:srgbClr val="222222"/>
                  </a:solidFill>
                  <a:latin typeface="맑은 고딕"/>
                  <a:ea typeface="맑은 고딕"/>
                  <a:cs typeface="맑은 고딕"/>
                </a:rPr>
                <a:t>refcnt</a:t>
              </a:r>
              <a:r>
                <a:rPr sz="700" b="1" dirty="0">
                  <a:solidFill>
                    <a:srgbClr val="222222"/>
                  </a:solidFill>
                  <a:latin typeface="맑은 고딕"/>
                  <a:ea typeface="맑은 고딕"/>
                  <a:cs typeface="맑은 고딕"/>
                </a:rPr>
                <a:t>: 3 → 4</a:t>
              </a:r>
            </a:p>
          </p:txBody>
        </p:sp>
        <p:sp>
          <p:nvSpPr>
            <p:cNvPr id="128" name="Rounded Rectangle 51"/>
            <p:cNvSpPr/>
            <p:nvPr/>
          </p:nvSpPr>
          <p:spPr>
            <a:xfrm>
              <a:off x="8404392" y="3303539"/>
              <a:ext cx="868822" cy="217415"/>
            </a:xfrm>
            <a:prstGeom prst="roundRect">
              <a:avLst>
                <a:gd name="adj" fmla="val 9375"/>
              </a:avLst>
            </a:prstGeom>
            <a:solidFill>
              <a:srgbClr val="FFFFFF"/>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TextBox 128"/>
            <p:cNvSpPr txBox="1"/>
            <p:nvPr/>
          </p:nvSpPr>
          <p:spPr>
            <a:xfrm>
              <a:off x="8417914" y="3348550"/>
              <a:ext cx="841777" cy="107722"/>
            </a:xfrm>
            <a:prstGeom prst="rect">
              <a:avLst/>
            </a:prstGeom>
            <a:noFill/>
          </p:spPr>
          <p:txBody>
            <a:bodyPr wrap="square" lIns="0" tIns="0" rIns="0" bIns="0" anchor="t">
              <a:spAutoFit/>
            </a:bodyPr>
            <a:lstStyle/>
            <a:p>
              <a:pPr algn="ctr"/>
              <a:r>
                <a:rPr sz="700" b="1" dirty="0" err="1">
                  <a:solidFill>
                    <a:srgbClr val="C00000"/>
                  </a:solidFill>
                  <a:latin typeface="맑은 고딕"/>
                  <a:ea typeface="맑은 고딕"/>
                  <a:cs typeface="맑은 고딕"/>
                </a:rPr>
                <a:t>기대값</a:t>
              </a:r>
              <a:r>
                <a:rPr sz="700" b="1" dirty="0">
                  <a:solidFill>
                    <a:srgbClr val="C00000"/>
                  </a:solidFill>
                  <a:latin typeface="맑은 고딕"/>
                  <a:ea typeface="맑은 고딕"/>
                  <a:cs typeface="맑은 고딕"/>
                </a:rPr>
                <a:t> 5 (A+B)</a:t>
              </a:r>
            </a:p>
          </p:txBody>
        </p:sp>
        <p:cxnSp>
          <p:nvCxnSpPr>
            <p:cNvPr id="130" name="Connector 53"/>
            <p:cNvCxnSpPr/>
            <p:nvPr/>
          </p:nvCxnSpPr>
          <p:spPr>
            <a:xfrm flipV="1">
              <a:off x="7866241"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Oval 54"/>
            <p:cNvSpPr/>
            <p:nvPr/>
          </p:nvSpPr>
          <p:spPr>
            <a:xfrm>
              <a:off x="7717115"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cxnSp>
          <p:nvCxnSpPr>
            <p:cNvPr id="132" name="Connector 55"/>
            <p:cNvCxnSpPr/>
            <p:nvPr/>
          </p:nvCxnSpPr>
          <p:spPr>
            <a:xfrm>
              <a:off x="8021851"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Oval 56"/>
            <p:cNvSpPr/>
            <p:nvPr/>
          </p:nvSpPr>
          <p:spPr>
            <a:xfrm>
              <a:off x="8054270"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2</a:t>
              </a:r>
            </a:p>
          </p:txBody>
        </p:sp>
        <p:cxnSp>
          <p:nvCxnSpPr>
            <p:cNvPr id="134" name="Connector 57"/>
            <p:cNvCxnSpPr/>
            <p:nvPr/>
          </p:nvCxnSpPr>
          <p:spPr>
            <a:xfrm flipV="1">
              <a:off x="8890673"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Oval 58"/>
            <p:cNvSpPr/>
            <p:nvPr/>
          </p:nvSpPr>
          <p:spPr>
            <a:xfrm>
              <a:off x="8741547"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cxnSp>
          <p:nvCxnSpPr>
            <p:cNvPr id="136" name="Connector 59"/>
            <p:cNvCxnSpPr/>
            <p:nvPr/>
          </p:nvCxnSpPr>
          <p:spPr>
            <a:xfrm>
              <a:off x="9046283"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7" name="Oval 60"/>
            <p:cNvSpPr/>
            <p:nvPr/>
          </p:nvSpPr>
          <p:spPr>
            <a:xfrm>
              <a:off x="9078702"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sp>
          <p:nvSpPr>
            <p:cNvPr id="138" name="Oval 61"/>
            <p:cNvSpPr/>
            <p:nvPr/>
          </p:nvSpPr>
          <p:spPr>
            <a:xfrm>
              <a:off x="7580957" y="3643250"/>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sp>
          <p:nvSpPr>
            <p:cNvPr id="139" name="TextBox 138"/>
            <p:cNvSpPr txBox="1"/>
            <p:nvPr/>
          </p:nvSpPr>
          <p:spPr>
            <a:xfrm>
              <a:off x="7730082" y="363706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A·B가 동시에 refcnt=3 읽기</a:t>
              </a:r>
            </a:p>
          </p:txBody>
        </p:sp>
        <p:sp>
          <p:nvSpPr>
            <p:cNvPr id="140" name="Oval 63"/>
            <p:cNvSpPr/>
            <p:nvPr/>
          </p:nvSpPr>
          <p:spPr>
            <a:xfrm>
              <a:off x="7580957" y="3772341"/>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2</a:t>
              </a:r>
            </a:p>
          </p:txBody>
        </p:sp>
        <p:sp>
          <p:nvSpPr>
            <p:cNvPr id="141" name="TextBox 140"/>
            <p:cNvSpPr txBox="1"/>
            <p:nvPr/>
          </p:nvSpPr>
          <p:spPr>
            <a:xfrm>
              <a:off x="7730082" y="376615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A가 4 기록 (3+1)</a:t>
              </a:r>
            </a:p>
          </p:txBody>
        </p:sp>
        <p:sp>
          <p:nvSpPr>
            <p:cNvPr id="142" name="Oval 65"/>
            <p:cNvSpPr/>
            <p:nvPr/>
          </p:nvSpPr>
          <p:spPr>
            <a:xfrm>
              <a:off x="7580957" y="3901431"/>
              <a:ext cx="116708" cy="122297"/>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sp>
          <p:nvSpPr>
            <p:cNvPr id="143" name="TextBox 142"/>
            <p:cNvSpPr txBox="1"/>
            <p:nvPr/>
          </p:nvSpPr>
          <p:spPr>
            <a:xfrm>
              <a:off x="7730082" y="389524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B도 4 기록 → A의 증가분 소실</a:t>
              </a:r>
            </a:p>
          </p:txBody>
        </p:sp>
        <p:sp>
          <p:nvSpPr>
            <p:cNvPr id="144" name="Rounded Rectangle 67"/>
            <p:cNvSpPr/>
            <p:nvPr/>
          </p:nvSpPr>
          <p:spPr>
            <a:xfrm>
              <a:off x="7587440" y="4166406"/>
              <a:ext cx="1737644" cy="271769"/>
            </a:xfrm>
            <a:prstGeom prst="roundRect">
              <a:avLst>
                <a:gd name="adj" fmla="val 15000"/>
              </a:avLst>
            </a:prstGeom>
            <a:solidFill>
              <a:srgbClr val="FDE8E6"/>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7710632" y="4180131"/>
              <a:ext cx="1491261" cy="142679"/>
            </a:xfrm>
            <a:prstGeom prst="rect">
              <a:avLst/>
            </a:prstGeom>
            <a:noFill/>
          </p:spPr>
          <p:txBody>
            <a:bodyPr wrap="square" lIns="0" tIns="0" rIns="0" bIns="0" anchor="t">
              <a:spAutoFit/>
            </a:bodyPr>
            <a:lstStyle/>
            <a:p>
              <a:pPr algn="ctr"/>
              <a:r>
                <a:rPr sz="700" b="1">
                  <a:solidFill>
                    <a:srgbClr val="C00000"/>
                  </a:solidFill>
                  <a:latin typeface="맑은 고딕"/>
                  <a:ea typeface="맑은 고딕"/>
                  <a:cs typeface="맑은 고딕"/>
                </a:rPr>
                <a:t>refcnt 과소 (기대 5, 실제 4)</a:t>
              </a:r>
            </a:p>
          </p:txBody>
        </p:sp>
        <p:sp>
          <p:nvSpPr>
            <p:cNvPr id="146" name="TextBox 145"/>
            <p:cNvSpPr txBox="1"/>
            <p:nvPr/>
          </p:nvSpPr>
          <p:spPr>
            <a:xfrm>
              <a:off x="7710632" y="4302903"/>
              <a:ext cx="1491261" cy="132487"/>
            </a:xfrm>
            <a:prstGeom prst="rect">
              <a:avLst/>
            </a:prstGeom>
            <a:noFill/>
          </p:spPr>
          <p:txBody>
            <a:bodyPr wrap="square" lIns="0" tIns="0" rIns="0" bIns="0" anchor="t">
              <a:spAutoFit/>
            </a:bodyPr>
            <a:lstStyle/>
            <a:p>
              <a:pPr algn="ctr"/>
              <a:r>
                <a:rPr sz="650" b="0">
                  <a:solidFill>
                    <a:srgbClr val="C00000"/>
                  </a:solidFill>
                  <a:latin typeface="맑은 고딕"/>
                  <a:ea typeface="맑은 고딕"/>
                  <a:cs typeface="맑은 고딕"/>
                </a:rPr>
                <a:t>→ 사용 중 블록 조기 퇴출</a:t>
              </a:r>
            </a:p>
          </p:txBody>
        </p:sp>
      </p:grpSp>
      <p:grpSp>
        <p:nvGrpSpPr>
          <p:cNvPr id="4" name="그룹 3"/>
          <p:cNvGrpSpPr/>
          <p:nvPr/>
        </p:nvGrpSpPr>
        <p:grpSpPr>
          <a:xfrm>
            <a:off x="9872825" y="2128136"/>
            <a:ext cx="1950386" cy="2310039"/>
            <a:chOff x="9714344" y="2128136"/>
            <a:chExt cx="1950386" cy="2310039"/>
          </a:xfrm>
        </p:grpSpPr>
        <p:sp>
          <p:nvSpPr>
            <p:cNvPr id="147" name="Rounded Rectangle 70"/>
            <p:cNvSpPr/>
            <p:nvPr/>
          </p:nvSpPr>
          <p:spPr>
            <a:xfrm>
              <a:off x="9755877" y="2128136"/>
              <a:ext cx="1867319" cy="203827"/>
            </a:xfrm>
            <a:prstGeom prst="roundRect">
              <a:avLst>
                <a:gd name="adj" fmla="val 20000"/>
              </a:avLst>
            </a:prstGeom>
            <a:solidFill>
              <a:srgbClr val="F2F2F2"/>
            </a:solidFill>
            <a:ln w="6350">
              <a:solidFill>
                <a:srgbClr val="9E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943906" y="2161768"/>
              <a:ext cx="1491261" cy="152870"/>
            </a:xfrm>
            <a:prstGeom prst="rect">
              <a:avLst/>
            </a:prstGeom>
            <a:noFill/>
          </p:spPr>
          <p:txBody>
            <a:bodyPr wrap="square" lIns="0" tIns="0" rIns="0" bIns="0" anchor="t">
              <a:spAutoFit/>
            </a:bodyPr>
            <a:lstStyle/>
            <a:p>
              <a:pPr algn="ctr"/>
              <a:r>
                <a:rPr sz="750" b="1" dirty="0">
                  <a:solidFill>
                    <a:srgbClr val="222222"/>
                  </a:solidFill>
                  <a:latin typeface="맑은 고딕"/>
                  <a:ea typeface="맑은 고딕"/>
                  <a:cs typeface="맑은 고딕"/>
                </a:rPr>
                <a:t>③ </a:t>
              </a:r>
              <a:r>
                <a:rPr sz="750" b="1" dirty="0" err="1">
                  <a:solidFill>
                    <a:srgbClr val="222222"/>
                  </a:solidFill>
                  <a:latin typeface="맑은 고딕"/>
                  <a:ea typeface="맑은 고딕"/>
                  <a:cs typeface="맑은 고딕"/>
                </a:rPr>
                <a:t>가시성</a:t>
              </a:r>
              <a:r>
                <a:rPr sz="750" b="1" dirty="0">
                  <a:solidFill>
                    <a:srgbClr val="222222"/>
                  </a:solidFill>
                  <a:latin typeface="맑은 고딕"/>
                  <a:ea typeface="맑은 고딕"/>
                  <a:cs typeface="맑은 고딕"/>
                </a:rPr>
                <a:t> </a:t>
              </a:r>
              <a:r>
                <a:rPr sz="750" b="1" dirty="0" err="1">
                  <a:solidFill>
                    <a:srgbClr val="222222"/>
                  </a:solidFill>
                  <a:latin typeface="맑은 고딕"/>
                  <a:ea typeface="맑은 고딕"/>
                  <a:cs typeface="맑은 고딕"/>
                </a:rPr>
                <a:t>순서</a:t>
              </a:r>
              <a:r>
                <a:rPr sz="750" b="1" dirty="0">
                  <a:solidFill>
                    <a:srgbClr val="222222"/>
                  </a:solidFill>
                  <a:latin typeface="맑은 고딕"/>
                  <a:ea typeface="맑은 고딕"/>
                  <a:cs typeface="맑은 고딕"/>
                </a:rPr>
                <a:t> · </a:t>
              </a:r>
              <a:r>
                <a:rPr sz="750" b="1" dirty="0" err="1">
                  <a:solidFill>
                    <a:srgbClr val="222222"/>
                  </a:solidFill>
                  <a:latin typeface="맑은 고딕"/>
                  <a:ea typeface="맑은 고딕"/>
                  <a:cs typeface="맑은 고딕"/>
                </a:rPr>
                <a:t>불완전</a:t>
              </a:r>
              <a:r>
                <a:rPr sz="750" b="1" dirty="0">
                  <a:solidFill>
                    <a:srgbClr val="222222"/>
                  </a:solidFill>
                  <a:latin typeface="맑은 고딕"/>
                  <a:ea typeface="맑은 고딕"/>
                  <a:cs typeface="맑은 고딕"/>
                </a:rPr>
                <a:t> </a:t>
              </a:r>
              <a:r>
                <a:rPr sz="750" b="1" dirty="0" err="1">
                  <a:solidFill>
                    <a:srgbClr val="222222"/>
                  </a:solidFill>
                  <a:latin typeface="맑은 고딕"/>
                  <a:ea typeface="맑은 고딕"/>
                  <a:cs typeface="맑은 고딕"/>
                </a:rPr>
                <a:t>읽기</a:t>
              </a:r>
              <a:endParaRPr sz="750" b="1" dirty="0">
                <a:solidFill>
                  <a:srgbClr val="222222"/>
                </a:solidFill>
                <a:latin typeface="맑은 고딕"/>
                <a:ea typeface="맑은 고딕"/>
                <a:cs typeface="맑은 고딕"/>
              </a:endParaRPr>
            </a:p>
          </p:txBody>
        </p:sp>
        <p:sp>
          <p:nvSpPr>
            <p:cNvPr id="149" name="Rounded Rectangle 72"/>
            <p:cNvSpPr/>
            <p:nvPr/>
          </p:nvSpPr>
          <p:spPr>
            <a:xfrm>
              <a:off x="9820715" y="2413494"/>
              <a:ext cx="713212" cy="448419"/>
            </a:xfrm>
            <a:prstGeom prst="roundRect">
              <a:avLst>
                <a:gd name="adj" fmla="val 7575"/>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9861101" y="2420424"/>
              <a:ext cx="632440" cy="142679"/>
            </a:xfrm>
            <a:prstGeom prst="rect">
              <a:avLst/>
            </a:prstGeom>
            <a:noFill/>
          </p:spPr>
          <p:txBody>
            <a:bodyPr wrap="square" lIns="0" tIns="0" rIns="0" bIns="0" anchor="t">
              <a:spAutoFit/>
            </a:bodyPr>
            <a:lstStyle/>
            <a:p>
              <a:pPr algn="ctr"/>
              <a:r>
                <a:rPr sz="700" b="1">
                  <a:solidFill>
                    <a:srgbClr val="2F5597"/>
                  </a:solidFill>
                  <a:latin typeface="맑은 고딕"/>
                  <a:ea typeface="맑은 고딕"/>
                  <a:cs typeface="맑은 고딕"/>
                </a:rPr>
                <a:t>노드 A</a:t>
              </a:r>
            </a:p>
          </p:txBody>
        </p:sp>
        <p:sp>
          <p:nvSpPr>
            <p:cNvPr id="151" name="Rounded Rectangle 74"/>
            <p:cNvSpPr/>
            <p:nvPr/>
          </p:nvSpPr>
          <p:spPr>
            <a:xfrm>
              <a:off x="9894393" y="2576556"/>
              <a:ext cx="565855" cy="231004"/>
            </a:xfrm>
            <a:prstGeom prst="roundRect">
              <a:avLst>
                <a:gd name="adj" fmla="val 11764"/>
              </a:avLst>
            </a:prstGeom>
            <a:solidFill>
              <a:srgbClr val="FFFFFF"/>
            </a:solidFill>
            <a:ln w="63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9714344" y="2584437"/>
              <a:ext cx="925955" cy="122297"/>
            </a:xfrm>
            <a:prstGeom prst="rect">
              <a:avLst/>
            </a:prstGeom>
            <a:noFill/>
          </p:spPr>
          <p:txBody>
            <a:bodyPr wrap="square" lIns="0" tIns="0" rIns="0" bIns="0" anchor="t">
              <a:spAutoFit/>
            </a:bodyPr>
            <a:lstStyle/>
            <a:p>
              <a:pPr algn="ctr"/>
              <a:r>
                <a:rPr sz="600" b="0" dirty="0">
                  <a:solidFill>
                    <a:srgbClr val="222222"/>
                  </a:solidFill>
                  <a:latin typeface="맑은 고딕"/>
                  <a:ea typeface="맑은 고딕"/>
                  <a:cs typeface="맑은 고딕"/>
                </a:rPr>
                <a:t>KV </a:t>
              </a:r>
              <a:r>
                <a:rPr sz="600" b="0" dirty="0" err="1">
                  <a:solidFill>
                    <a:srgbClr val="222222"/>
                  </a:solidFill>
                  <a:latin typeface="맑은 고딕"/>
                  <a:ea typeface="맑은 고딕"/>
                  <a:cs typeface="맑은 고딕"/>
                </a:rPr>
                <a:t>블록</a:t>
              </a:r>
              <a:r>
                <a:rPr sz="600" b="0" dirty="0">
                  <a:solidFill>
                    <a:srgbClr val="222222"/>
                  </a:solidFill>
                  <a:latin typeface="맑은 고딕"/>
                  <a:ea typeface="맑은 고딕"/>
                  <a:cs typeface="맑은 고딕"/>
                </a:rPr>
                <a:t> </a:t>
              </a:r>
              <a:r>
                <a:rPr sz="600" b="0" dirty="0" err="1">
                  <a:solidFill>
                    <a:srgbClr val="222222"/>
                  </a:solidFill>
                  <a:latin typeface="맑은 고딕"/>
                  <a:ea typeface="맑은 고딕"/>
                  <a:cs typeface="맑은 고딕"/>
                </a:rPr>
                <a:t>쓰기</a:t>
              </a:r>
              <a:endParaRPr sz="600" b="0" dirty="0">
                <a:solidFill>
                  <a:srgbClr val="222222"/>
                </a:solidFill>
                <a:latin typeface="맑은 고딕"/>
                <a:ea typeface="맑은 고딕"/>
                <a:cs typeface="맑은 고딕"/>
              </a:endParaRPr>
            </a:p>
          </p:txBody>
        </p:sp>
        <p:sp>
          <p:nvSpPr>
            <p:cNvPr id="153" name="TextBox 152"/>
            <p:cNvSpPr txBox="1"/>
            <p:nvPr/>
          </p:nvSpPr>
          <p:spPr>
            <a:xfrm>
              <a:off x="9714344" y="2679556"/>
              <a:ext cx="925955" cy="122297"/>
            </a:xfrm>
            <a:prstGeom prst="rect">
              <a:avLst/>
            </a:prstGeom>
            <a:noFill/>
          </p:spPr>
          <p:txBody>
            <a:bodyPr wrap="square" lIns="0" tIns="0" rIns="0" bIns="0" anchor="t">
              <a:spAutoFit/>
            </a:bodyPr>
            <a:lstStyle/>
            <a:p>
              <a:pPr algn="ctr"/>
              <a:r>
                <a:rPr sz="600" b="0" dirty="0">
                  <a:solidFill>
                    <a:srgbClr val="222222"/>
                  </a:solidFill>
                  <a:latin typeface="맑은 고딕"/>
                  <a:ea typeface="맑은 고딕"/>
                  <a:cs typeface="맑은 고딕"/>
                </a:rPr>
                <a:t>(DMA </a:t>
              </a:r>
              <a:r>
                <a:rPr sz="600" b="0" dirty="0" err="1">
                  <a:solidFill>
                    <a:srgbClr val="222222"/>
                  </a:solidFill>
                  <a:latin typeface="맑은 고딕"/>
                  <a:ea typeface="맑은 고딕"/>
                  <a:cs typeface="맑은 고딕"/>
                </a:rPr>
                <a:t>진행</a:t>
              </a:r>
              <a:r>
                <a:rPr sz="600" b="0" dirty="0">
                  <a:solidFill>
                    <a:srgbClr val="222222"/>
                  </a:solidFill>
                  <a:latin typeface="맑은 고딕"/>
                  <a:ea typeface="맑은 고딕"/>
                  <a:cs typeface="맑은 고딕"/>
                </a:rPr>
                <a:t> 중)</a:t>
              </a:r>
            </a:p>
          </p:txBody>
        </p:sp>
        <p:sp>
          <p:nvSpPr>
            <p:cNvPr id="154" name="Rounded Rectangle 77"/>
            <p:cNvSpPr/>
            <p:nvPr/>
          </p:nvSpPr>
          <p:spPr>
            <a:xfrm>
              <a:off x="10845146" y="2413494"/>
              <a:ext cx="713212" cy="448419"/>
            </a:xfrm>
            <a:prstGeom prst="roundRect">
              <a:avLst>
                <a:gd name="adj" fmla="val 7575"/>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10885532" y="2420424"/>
              <a:ext cx="632440" cy="142679"/>
            </a:xfrm>
            <a:prstGeom prst="rect">
              <a:avLst/>
            </a:prstGeom>
            <a:noFill/>
          </p:spPr>
          <p:txBody>
            <a:bodyPr wrap="square" lIns="0" tIns="0" rIns="0" bIns="0" anchor="t">
              <a:spAutoFit/>
            </a:bodyPr>
            <a:lstStyle/>
            <a:p>
              <a:pPr algn="ctr"/>
              <a:r>
                <a:rPr sz="700" b="1" dirty="0" err="1">
                  <a:solidFill>
                    <a:srgbClr val="2F5597"/>
                  </a:solidFill>
                  <a:latin typeface="맑은 고딕"/>
                  <a:ea typeface="맑은 고딕"/>
                  <a:cs typeface="맑은 고딕"/>
                </a:rPr>
                <a:t>노드</a:t>
              </a:r>
              <a:r>
                <a:rPr sz="700" b="1" dirty="0">
                  <a:solidFill>
                    <a:srgbClr val="2F5597"/>
                  </a:solidFill>
                  <a:latin typeface="맑은 고딕"/>
                  <a:ea typeface="맑은 고딕"/>
                  <a:cs typeface="맑은 고딕"/>
                </a:rPr>
                <a:t> B</a:t>
              </a:r>
            </a:p>
          </p:txBody>
        </p:sp>
        <p:sp>
          <p:nvSpPr>
            <p:cNvPr id="156" name="Rounded Rectangle 79"/>
            <p:cNvSpPr/>
            <p:nvPr/>
          </p:nvSpPr>
          <p:spPr>
            <a:xfrm>
              <a:off x="10918825" y="2576556"/>
              <a:ext cx="565855" cy="231004"/>
            </a:xfrm>
            <a:prstGeom prst="roundRect">
              <a:avLst>
                <a:gd name="adj" fmla="val 11764"/>
              </a:avLst>
            </a:prstGeom>
            <a:solidFill>
              <a:srgbClr val="FFFFFF"/>
            </a:solidFill>
            <a:ln w="63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TextBox 156"/>
            <p:cNvSpPr txBox="1"/>
            <p:nvPr/>
          </p:nvSpPr>
          <p:spPr>
            <a:xfrm>
              <a:off x="10738775" y="2584437"/>
              <a:ext cx="925955" cy="122297"/>
            </a:xfrm>
            <a:prstGeom prst="rect">
              <a:avLst/>
            </a:prstGeom>
            <a:noFill/>
          </p:spPr>
          <p:txBody>
            <a:bodyPr wrap="square" lIns="0" tIns="0" rIns="0" bIns="0" anchor="t">
              <a:spAutoFit/>
            </a:bodyPr>
            <a:lstStyle/>
            <a:p>
              <a:pPr algn="ctr"/>
              <a:r>
                <a:rPr sz="600" b="0">
                  <a:solidFill>
                    <a:srgbClr val="222222"/>
                  </a:solidFill>
                  <a:latin typeface="맑은 고딕"/>
                  <a:ea typeface="맑은 고딕"/>
                  <a:cs typeface="맑은 고딕"/>
                </a:rPr>
                <a:t>READY 확인 후</a:t>
              </a:r>
            </a:p>
          </p:txBody>
        </p:sp>
        <p:sp>
          <p:nvSpPr>
            <p:cNvPr id="158" name="TextBox 157"/>
            <p:cNvSpPr txBox="1"/>
            <p:nvPr/>
          </p:nvSpPr>
          <p:spPr>
            <a:xfrm>
              <a:off x="10738775" y="2679556"/>
              <a:ext cx="925955" cy="122297"/>
            </a:xfrm>
            <a:prstGeom prst="rect">
              <a:avLst/>
            </a:prstGeom>
            <a:noFill/>
          </p:spPr>
          <p:txBody>
            <a:bodyPr wrap="square" lIns="0" tIns="0" rIns="0" bIns="0" anchor="t">
              <a:spAutoFit/>
            </a:bodyPr>
            <a:lstStyle/>
            <a:p>
              <a:pPr algn="ctr"/>
              <a:r>
                <a:rPr sz="600" b="0">
                  <a:solidFill>
                    <a:srgbClr val="222222"/>
                  </a:solidFill>
                  <a:latin typeface="맑은 고딕"/>
                  <a:ea typeface="맑은 고딕"/>
                  <a:cs typeface="맑은 고딕"/>
                </a:rPr>
                <a:t>KV 읽기</a:t>
              </a:r>
            </a:p>
          </p:txBody>
        </p:sp>
        <p:sp>
          <p:nvSpPr>
            <p:cNvPr id="159" name="Rounded Rectangle 82"/>
            <p:cNvSpPr/>
            <p:nvPr/>
          </p:nvSpPr>
          <p:spPr>
            <a:xfrm>
              <a:off x="9820715" y="3147272"/>
              <a:ext cx="1737644" cy="434831"/>
            </a:xfrm>
            <a:prstGeom prst="roundRect">
              <a:avLst>
                <a:gd name="adj" fmla="val 7812"/>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943906" y="3168741"/>
              <a:ext cx="1491261" cy="122297"/>
            </a:xfrm>
            <a:prstGeom prst="rect">
              <a:avLst/>
            </a:prstGeom>
            <a:noFill/>
          </p:spPr>
          <p:txBody>
            <a:bodyPr wrap="square" lIns="0" tIns="0" rIns="0" bIns="0" anchor="t">
              <a:spAutoFit/>
            </a:bodyPr>
            <a:lstStyle/>
            <a:p>
              <a:pPr algn="ctr"/>
              <a:r>
                <a:rPr sz="600" b="1">
                  <a:solidFill>
                    <a:srgbClr val="C55A11"/>
                  </a:solidFill>
                  <a:latin typeface="맑은 고딕"/>
                  <a:ea typeface="맑은 고딕"/>
                  <a:cs typeface="맑은 고딕"/>
                </a:rPr>
                <a:t>공유 메모리 풀 (비일관)</a:t>
              </a:r>
            </a:p>
          </p:txBody>
        </p:sp>
        <p:sp>
          <p:nvSpPr>
            <p:cNvPr id="161" name="Rounded Rectangle 84"/>
            <p:cNvSpPr/>
            <p:nvPr/>
          </p:nvSpPr>
          <p:spPr>
            <a:xfrm>
              <a:off x="9872585" y="3303539"/>
              <a:ext cx="596504" cy="217415"/>
            </a:xfrm>
            <a:prstGeom prst="roundRect">
              <a:avLst>
                <a:gd name="adj" fmla="val 9375"/>
              </a:avLst>
            </a:prstGeom>
            <a:solidFill>
              <a:srgbClr val="E8F5E9"/>
            </a:solidFill>
            <a:ln w="63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9749948" y="3348550"/>
              <a:ext cx="841777" cy="107722"/>
            </a:xfrm>
            <a:prstGeom prst="rect">
              <a:avLst/>
            </a:prstGeom>
            <a:noFill/>
          </p:spPr>
          <p:txBody>
            <a:bodyPr wrap="square" lIns="0" tIns="0" rIns="0" bIns="0" anchor="t">
              <a:spAutoFit/>
            </a:bodyPr>
            <a:lstStyle/>
            <a:p>
              <a:pPr algn="ctr"/>
              <a:r>
                <a:rPr sz="700" b="1" dirty="0">
                  <a:solidFill>
                    <a:srgbClr val="2E7D32"/>
                  </a:solidFill>
                  <a:latin typeface="맑은 고딕"/>
                  <a:ea typeface="맑은 고딕"/>
                  <a:cs typeface="맑은 고딕"/>
                </a:rPr>
                <a:t>meta: READY</a:t>
              </a:r>
            </a:p>
          </p:txBody>
        </p:sp>
        <p:sp>
          <p:nvSpPr>
            <p:cNvPr id="163" name="Rounded Rectangle 86"/>
            <p:cNvSpPr/>
            <p:nvPr/>
          </p:nvSpPr>
          <p:spPr>
            <a:xfrm>
              <a:off x="10533927" y="3303539"/>
              <a:ext cx="972562" cy="217415"/>
            </a:xfrm>
            <a:prstGeom prst="roundRect">
              <a:avLst>
                <a:gd name="adj" fmla="val 9375"/>
              </a:avLst>
            </a:prstGeom>
            <a:pattFill prst="wdUpDiag">
              <a:fgClr>
                <a:srgbClr val="BDBDBD"/>
              </a:fgClr>
              <a:bgClr>
                <a:srgbClr val="FFFFFF"/>
              </a:bgClr>
            </a:patt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Rounded Rectangle 87"/>
            <p:cNvSpPr/>
            <p:nvPr/>
          </p:nvSpPr>
          <p:spPr>
            <a:xfrm>
              <a:off x="10533927" y="3303539"/>
              <a:ext cx="363090" cy="217415"/>
            </a:xfrm>
            <a:prstGeom prst="roundRect">
              <a:avLst>
                <a:gd name="adj" fmla="val 9375"/>
              </a:avLst>
            </a:prstGeom>
            <a:solidFill>
              <a:srgbClr val="F8CBAD"/>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0721955" y="3355345"/>
              <a:ext cx="713212" cy="107722"/>
            </a:xfrm>
            <a:prstGeom prst="rect">
              <a:avLst/>
            </a:prstGeom>
            <a:solidFill>
              <a:srgbClr val="FFFFFF"/>
            </a:solidFill>
          </p:spPr>
          <p:txBody>
            <a:bodyPr wrap="square" lIns="0" tIns="0" rIns="0" bIns="0" anchor="t">
              <a:spAutoFit/>
            </a:bodyPr>
            <a:lstStyle/>
            <a:p>
              <a:pPr algn="ctr"/>
              <a:r>
                <a:rPr sz="700" b="1" dirty="0">
                  <a:solidFill>
                    <a:srgbClr val="222222"/>
                  </a:solidFill>
                  <a:latin typeface="맑은 고딕"/>
                  <a:ea typeface="맑은 고딕"/>
                  <a:cs typeface="맑은 고딕"/>
                </a:rPr>
                <a:t>KV: </a:t>
              </a:r>
              <a:r>
                <a:rPr sz="700" b="1" dirty="0" err="1">
                  <a:solidFill>
                    <a:srgbClr val="222222"/>
                  </a:solidFill>
                  <a:latin typeface="맑은 고딕"/>
                  <a:ea typeface="맑은 고딕"/>
                  <a:cs typeface="맑은 고딕"/>
                </a:rPr>
                <a:t>일부만</a:t>
              </a:r>
              <a:r>
                <a:rPr sz="700" b="1" dirty="0">
                  <a:solidFill>
                    <a:srgbClr val="222222"/>
                  </a:solidFill>
                  <a:latin typeface="맑은 고딕"/>
                  <a:ea typeface="맑은 고딕"/>
                  <a:cs typeface="맑은 고딕"/>
                </a:rPr>
                <a:t> </a:t>
              </a:r>
              <a:r>
                <a:rPr sz="700" b="1" dirty="0" err="1">
                  <a:solidFill>
                    <a:srgbClr val="222222"/>
                  </a:solidFill>
                  <a:latin typeface="맑은 고딕"/>
                  <a:ea typeface="맑은 고딕"/>
                  <a:cs typeface="맑은 고딕"/>
                </a:rPr>
                <a:t>기록</a:t>
              </a:r>
              <a:endParaRPr sz="700" b="1" dirty="0">
                <a:solidFill>
                  <a:srgbClr val="222222"/>
                </a:solidFill>
                <a:latin typeface="맑은 고딕"/>
                <a:ea typeface="맑은 고딕"/>
                <a:cs typeface="맑은 고딕"/>
              </a:endParaRPr>
            </a:p>
          </p:txBody>
        </p:sp>
        <p:cxnSp>
          <p:nvCxnSpPr>
            <p:cNvPr id="167" name="Connector 89"/>
            <p:cNvCxnSpPr/>
            <p:nvPr/>
          </p:nvCxnSpPr>
          <p:spPr>
            <a:xfrm>
              <a:off x="10099516" y="2875502"/>
              <a:ext cx="0" cy="271770"/>
            </a:xfrm>
            <a:prstGeom prst="line">
              <a:avLst/>
            </a:prstGeom>
            <a:ln w="12700">
              <a:solidFill>
                <a:srgbClr val="2F55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68" name="Oval 90"/>
            <p:cNvSpPr/>
            <p:nvPr/>
          </p:nvSpPr>
          <p:spPr>
            <a:xfrm>
              <a:off x="9950389"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cxnSp>
          <p:nvCxnSpPr>
            <p:cNvPr id="169" name="Connector 91"/>
            <p:cNvCxnSpPr/>
            <p:nvPr/>
          </p:nvCxnSpPr>
          <p:spPr>
            <a:xfrm>
              <a:off x="10255126"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Oval 92"/>
            <p:cNvSpPr/>
            <p:nvPr/>
          </p:nvSpPr>
          <p:spPr>
            <a:xfrm>
              <a:off x="10287544"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2</a:t>
              </a:r>
            </a:p>
          </p:txBody>
        </p:sp>
        <p:cxnSp>
          <p:nvCxnSpPr>
            <p:cNvPr id="171" name="Connector 93"/>
            <p:cNvCxnSpPr/>
            <p:nvPr/>
          </p:nvCxnSpPr>
          <p:spPr>
            <a:xfrm flipV="1">
              <a:off x="11123947" y="2875502"/>
              <a:ext cx="0" cy="271770"/>
            </a:xfrm>
            <a:prstGeom prst="line">
              <a:avLst/>
            </a:prstGeom>
            <a:ln w="12700">
              <a:solidFill>
                <a:srgbClr val="2F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2" name="Oval 94"/>
            <p:cNvSpPr/>
            <p:nvPr/>
          </p:nvSpPr>
          <p:spPr>
            <a:xfrm>
              <a:off x="10974821" y="2950238"/>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cxnSp>
          <p:nvCxnSpPr>
            <p:cNvPr id="173" name="Connector 95"/>
            <p:cNvCxnSpPr/>
            <p:nvPr/>
          </p:nvCxnSpPr>
          <p:spPr>
            <a:xfrm flipV="1">
              <a:off x="11279557" y="2875502"/>
              <a:ext cx="0" cy="271770"/>
            </a:xfrm>
            <a:prstGeom prst="line">
              <a:avLst/>
            </a:prstGeom>
            <a:ln w="1270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 name="Oval 96"/>
            <p:cNvSpPr/>
            <p:nvPr/>
          </p:nvSpPr>
          <p:spPr>
            <a:xfrm>
              <a:off x="11311976" y="2950238"/>
              <a:ext cx="116708" cy="122297"/>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sp>
          <p:nvSpPr>
            <p:cNvPr id="175" name="Oval 97"/>
            <p:cNvSpPr/>
            <p:nvPr/>
          </p:nvSpPr>
          <p:spPr>
            <a:xfrm>
              <a:off x="9814231" y="3643250"/>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1</a:t>
              </a:r>
            </a:p>
          </p:txBody>
        </p:sp>
        <p:sp>
          <p:nvSpPr>
            <p:cNvPr id="176" name="TextBox 175"/>
            <p:cNvSpPr txBox="1"/>
            <p:nvPr/>
          </p:nvSpPr>
          <p:spPr>
            <a:xfrm>
              <a:off x="9963358" y="363706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A가 KV 블록을 풀에 쓰는 중 (DMA)</a:t>
              </a:r>
            </a:p>
          </p:txBody>
        </p:sp>
        <p:sp>
          <p:nvSpPr>
            <p:cNvPr id="177" name="Oval 99"/>
            <p:cNvSpPr/>
            <p:nvPr/>
          </p:nvSpPr>
          <p:spPr>
            <a:xfrm>
              <a:off x="9814231" y="3772341"/>
              <a:ext cx="116708" cy="122297"/>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2</a:t>
              </a:r>
            </a:p>
          </p:txBody>
        </p:sp>
        <p:sp>
          <p:nvSpPr>
            <p:cNvPr id="178" name="TextBox 177"/>
            <p:cNvSpPr txBox="1"/>
            <p:nvPr/>
          </p:nvSpPr>
          <p:spPr>
            <a:xfrm>
              <a:off x="9963358" y="3766158"/>
              <a:ext cx="1659839" cy="132487"/>
            </a:xfrm>
            <a:prstGeom prst="rect">
              <a:avLst/>
            </a:prstGeom>
            <a:noFill/>
          </p:spPr>
          <p:txBody>
            <a:bodyPr wrap="square" lIns="0" tIns="0" rIns="0" bIns="0" anchor="t">
              <a:spAutoFit/>
            </a:bodyPr>
            <a:lstStyle/>
            <a:p>
              <a:pPr algn="l"/>
              <a:r>
                <a:rPr sz="650" b="0" dirty="0">
                  <a:solidFill>
                    <a:srgbClr val="222222"/>
                  </a:solidFill>
                  <a:latin typeface="맑은 고딕"/>
                  <a:ea typeface="맑은 고딕"/>
                  <a:cs typeface="맑은 고딕"/>
                </a:rPr>
                <a:t>meta </a:t>
              </a:r>
              <a:r>
                <a:rPr sz="650" b="0" dirty="0" err="1">
                  <a:solidFill>
                    <a:srgbClr val="222222"/>
                  </a:solidFill>
                  <a:latin typeface="맑은 고딕"/>
                  <a:ea typeface="맑은 고딕"/>
                  <a:cs typeface="맑은 고딕"/>
                </a:rPr>
                <a:t>READY가</a:t>
              </a:r>
              <a:r>
                <a:rPr sz="650" b="0" dirty="0">
                  <a:solidFill>
                    <a:srgbClr val="222222"/>
                  </a:solidFill>
                  <a:latin typeface="맑은 고딕"/>
                  <a:ea typeface="맑은 고딕"/>
                  <a:cs typeface="맑은 고딕"/>
                </a:rPr>
                <a:t> </a:t>
              </a:r>
              <a:r>
                <a:rPr sz="650" b="0" dirty="0" err="1">
                  <a:solidFill>
                    <a:srgbClr val="222222"/>
                  </a:solidFill>
                  <a:latin typeface="맑은 고딕"/>
                  <a:ea typeface="맑은 고딕"/>
                  <a:cs typeface="맑은 고딕"/>
                </a:rPr>
                <a:t>payload보다</a:t>
              </a:r>
              <a:r>
                <a:rPr sz="650" b="0" dirty="0">
                  <a:solidFill>
                    <a:srgbClr val="222222"/>
                  </a:solidFill>
                  <a:latin typeface="맑은 고딕"/>
                  <a:ea typeface="맑은 고딕"/>
                  <a:cs typeface="맑은 고딕"/>
                </a:rPr>
                <a:t> </a:t>
              </a:r>
              <a:r>
                <a:rPr sz="650" b="0" dirty="0" err="1">
                  <a:solidFill>
                    <a:srgbClr val="222222"/>
                  </a:solidFill>
                  <a:latin typeface="맑은 고딕"/>
                  <a:ea typeface="맑은 고딕"/>
                  <a:cs typeface="맑은 고딕"/>
                </a:rPr>
                <a:t>먼저</a:t>
              </a:r>
              <a:r>
                <a:rPr sz="650" b="0" dirty="0">
                  <a:solidFill>
                    <a:srgbClr val="222222"/>
                  </a:solidFill>
                  <a:latin typeface="맑은 고딕"/>
                  <a:ea typeface="맑은 고딕"/>
                  <a:cs typeface="맑은 고딕"/>
                </a:rPr>
                <a:t> </a:t>
              </a:r>
              <a:r>
                <a:rPr sz="650" b="0" dirty="0" err="1">
                  <a:solidFill>
                    <a:srgbClr val="222222"/>
                  </a:solidFill>
                  <a:latin typeface="맑은 고딕"/>
                  <a:ea typeface="맑은 고딕"/>
                  <a:cs typeface="맑은 고딕"/>
                </a:rPr>
                <a:t>가시화</a:t>
              </a:r>
              <a:endParaRPr sz="650" b="0" dirty="0">
                <a:solidFill>
                  <a:srgbClr val="222222"/>
                </a:solidFill>
                <a:latin typeface="맑은 고딕"/>
                <a:ea typeface="맑은 고딕"/>
                <a:cs typeface="맑은 고딕"/>
              </a:endParaRPr>
            </a:p>
          </p:txBody>
        </p:sp>
        <p:sp>
          <p:nvSpPr>
            <p:cNvPr id="179" name="Oval 101"/>
            <p:cNvSpPr/>
            <p:nvPr/>
          </p:nvSpPr>
          <p:spPr>
            <a:xfrm>
              <a:off x="9814231" y="3901431"/>
              <a:ext cx="116708" cy="122297"/>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600" b="1">
                  <a:solidFill>
                    <a:srgbClr val="FFFFFF"/>
                  </a:solidFill>
                  <a:latin typeface="맑은 고딕"/>
                </a:rPr>
                <a:t>3</a:t>
              </a:r>
            </a:p>
          </p:txBody>
        </p:sp>
        <p:sp>
          <p:nvSpPr>
            <p:cNvPr id="180" name="TextBox 179"/>
            <p:cNvSpPr txBox="1"/>
            <p:nvPr/>
          </p:nvSpPr>
          <p:spPr>
            <a:xfrm>
              <a:off x="9963358" y="3895248"/>
              <a:ext cx="1659839" cy="132487"/>
            </a:xfrm>
            <a:prstGeom prst="rect">
              <a:avLst/>
            </a:prstGeom>
            <a:noFill/>
          </p:spPr>
          <p:txBody>
            <a:bodyPr wrap="square" lIns="0" tIns="0" rIns="0" bIns="0" anchor="t">
              <a:spAutoFit/>
            </a:bodyPr>
            <a:lstStyle/>
            <a:p>
              <a:pPr algn="l"/>
              <a:r>
                <a:rPr sz="650" b="0">
                  <a:solidFill>
                    <a:srgbClr val="222222"/>
                  </a:solidFill>
                  <a:latin typeface="맑은 고딕"/>
                  <a:ea typeface="맑은 고딕"/>
                  <a:cs typeface="맑은 고딕"/>
                </a:rPr>
                <a:t>B가 READY 확인 후 KV 읽기</a:t>
              </a:r>
            </a:p>
          </p:txBody>
        </p:sp>
        <p:sp>
          <p:nvSpPr>
            <p:cNvPr id="181" name="Rounded Rectangle 103"/>
            <p:cNvSpPr/>
            <p:nvPr/>
          </p:nvSpPr>
          <p:spPr>
            <a:xfrm>
              <a:off x="9820715" y="4166406"/>
              <a:ext cx="1737644" cy="271769"/>
            </a:xfrm>
            <a:prstGeom prst="roundRect">
              <a:avLst>
                <a:gd name="adj" fmla="val 15000"/>
              </a:avLst>
            </a:prstGeom>
            <a:solidFill>
              <a:srgbClr val="FDE8E6"/>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9943906" y="4180131"/>
              <a:ext cx="1491261" cy="142679"/>
            </a:xfrm>
            <a:prstGeom prst="rect">
              <a:avLst/>
            </a:prstGeom>
            <a:noFill/>
          </p:spPr>
          <p:txBody>
            <a:bodyPr wrap="square" lIns="0" tIns="0" rIns="0" bIns="0" anchor="t">
              <a:spAutoFit/>
            </a:bodyPr>
            <a:lstStyle/>
            <a:p>
              <a:pPr algn="ctr"/>
              <a:r>
                <a:rPr sz="700" b="1">
                  <a:solidFill>
                    <a:srgbClr val="C00000"/>
                  </a:solidFill>
                  <a:latin typeface="맑은 고딕"/>
                  <a:ea typeface="맑은 고딕"/>
                  <a:cs typeface="맑은 고딕"/>
                </a:rPr>
                <a:t>미완성 KV를 읽음</a:t>
              </a:r>
            </a:p>
          </p:txBody>
        </p:sp>
        <p:sp>
          <p:nvSpPr>
            <p:cNvPr id="183" name="TextBox 182"/>
            <p:cNvSpPr txBox="1"/>
            <p:nvPr/>
          </p:nvSpPr>
          <p:spPr>
            <a:xfrm>
              <a:off x="9943906" y="4302903"/>
              <a:ext cx="1491261" cy="132487"/>
            </a:xfrm>
            <a:prstGeom prst="rect">
              <a:avLst/>
            </a:prstGeom>
            <a:noFill/>
          </p:spPr>
          <p:txBody>
            <a:bodyPr wrap="square" lIns="0" tIns="0" rIns="0" bIns="0" anchor="t">
              <a:spAutoFit/>
            </a:bodyPr>
            <a:lstStyle/>
            <a:p>
              <a:pPr algn="ctr"/>
              <a:r>
                <a:rPr sz="650" b="0">
                  <a:solidFill>
                    <a:srgbClr val="C00000"/>
                  </a:solidFill>
                  <a:latin typeface="맑은 고딕"/>
                  <a:ea typeface="맑은 고딕"/>
                  <a:cs typeface="맑은 고딕"/>
                </a:rPr>
                <a:t>→ 잘못된 토큰 출력</a:t>
              </a:r>
            </a:p>
          </p:txBody>
        </p:sp>
      </p:grpSp>
    </p:spTree>
    <p:extLst>
      <p:ext uri="{BB962C8B-B14F-4D97-AF65-F5344CB8AC3E}">
        <p14:creationId xmlns:p14="http://schemas.microsoft.com/office/powerpoint/2010/main" val="274391389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171</a:t>
            </a:fld>
            <a:endParaRPr lang="ko-KR" altLang="en-US" dirty="0"/>
          </a:p>
        </p:txBody>
      </p:sp>
      <p:sp>
        <p:nvSpPr>
          <p:cNvPr id="3" name="제목 2"/>
          <p:cNvSpPr>
            <a:spLocks noGrp="1"/>
          </p:cNvSpPr>
          <p:nvPr>
            <p:ph type="title"/>
          </p:nvPr>
        </p:nvSpPr>
        <p:spPr/>
        <p:txBody>
          <a:bodyPr/>
          <a:lstStyle/>
          <a:p>
            <a:r>
              <a:rPr lang="en-US" altLang="ko-KR" dirty="0"/>
              <a:t>DP4. </a:t>
            </a:r>
            <a:r>
              <a:rPr lang="ko-KR" altLang="en-US" dirty="0"/>
              <a:t>서버</a:t>
            </a:r>
            <a:r>
              <a:rPr lang="en-US" altLang="ko-KR" dirty="0"/>
              <a:t> 간 </a:t>
            </a:r>
            <a:r>
              <a:rPr lang="ko-KR" altLang="en-US" dirty="0"/>
              <a:t>데이터 </a:t>
            </a:r>
            <a:r>
              <a:rPr lang="en-US" altLang="ko-KR" dirty="0" err="1"/>
              <a:t>공유</a:t>
            </a:r>
            <a:r>
              <a:rPr lang="en-US" altLang="ko-KR" dirty="0"/>
              <a:t> </a:t>
            </a:r>
            <a:r>
              <a:rPr lang="en-US" altLang="ko-KR" dirty="0" err="1"/>
              <a:t>구조</a:t>
            </a:r>
            <a:r>
              <a:rPr lang="en-US" altLang="ko-KR" dirty="0"/>
              <a:t> – </a:t>
            </a:r>
            <a:r>
              <a:rPr lang="en-US" altLang="ko-KR" dirty="0" err="1"/>
              <a:t>배경</a:t>
            </a:r>
            <a:endParaRPr lang="en-US" altLang="ko-KR"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79" name="Text 22"/>
          <p:cNvSpPr/>
          <p:nvPr/>
        </p:nvSpPr>
        <p:spPr>
          <a:xfrm>
            <a:off x="359582" y="684751"/>
            <a:ext cx="11687638" cy="868680"/>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DP2는 Prefill/Decode </a:t>
            </a:r>
            <a:r>
              <a:rPr lang="ko-KR" altLang="en-US" sz="1200" dirty="0">
                <a:solidFill>
                  <a:srgbClr val="404040"/>
                </a:solidFill>
                <a:latin typeface="맑은 고딕" panose="020B0503020000020004" pitchFamily="50" charset="-127"/>
              </a:rPr>
              <a:t>실행 위치를 </a:t>
            </a:r>
            <a:r>
              <a:rPr lang="en-US" altLang="ko-KR" sz="1200" dirty="0" err="1">
                <a:solidFill>
                  <a:srgbClr val="404040"/>
                </a:solidFill>
                <a:latin typeface="맑은 고딕" panose="020B0503020000020004" pitchFamily="50" charset="-127"/>
              </a:rPr>
              <a:t>최적화하지만</a:t>
            </a:r>
            <a:r>
              <a:rPr lang="en-US" altLang="ko-KR" sz="1200" dirty="0">
                <a:solidFill>
                  <a:srgbClr val="404040"/>
                </a:solidFill>
                <a:latin typeface="맑은 고딕" panose="020B0503020000020004" pitchFamily="50" charset="-127"/>
              </a:rPr>
              <a:t> </a:t>
            </a:r>
            <a:r>
              <a:rPr lang="en-US" altLang="ko-KR" sz="1200" b="1" dirty="0">
                <a:solidFill>
                  <a:srgbClr val="FF0000"/>
                </a:solidFill>
                <a:latin typeface="맑은 고딕" panose="020B0503020000020004" pitchFamily="50" charset="-127"/>
              </a:rPr>
              <a:t>노드 간 KV 전송 비용 자체는 줄이지 못함 </a:t>
            </a:r>
            <a:r>
              <a:rPr lang="en-US" altLang="ko-KR" sz="1200" dirty="0">
                <a:solidFill>
                  <a:srgbClr val="404040"/>
                </a:solidFill>
                <a:latin typeface="맑은 고딕" panose="020B0503020000020004" pitchFamily="50" charset="-127"/>
              </a:rPr>
              <a:t>(Turn </a:t>
            </a:r>
            <a:r>
              <a:rPr lang="en-US" altLang="ko-KR" sz="1200" dirty="0" err="1">
                <a:solidFill>
                  <a:srgbClr val="404040"/>
                </a:solidFill>
                <a:latin typeface="맑은 고딕" panose="020B0503020000020004" pitchFamily="50" charset="-127"/>
              </a:rPr>
              <a:t>마다</a:t>
            </a:r>
            <a:r>
              <a:rPr lang="en-US" altLang="ko-KR" sz="1200" dirty="0">
                <a:solidFill>
                  <a:srgbClr val="404040"/>
                </a:solidFill>
                <a:latin typeface="맑은 고딕" panose="020B0503020000020004" pitchFamily="50" charset="-127"/>
              </a:rPr>
              <a:t> P↔D 왕복 누적)</a:t>
            </a:r>
          </a:p>
          <a:p>
            <a:pPr marL="285750" indent="-285750">
              <a:lnSpc>
                <a:spcPct val="150000"/>
              </a:lnSpc>
              <a:buFontTx/>
              <a:buChar char="-"/>
            </a:pPr>
            <a:r>
              <a:rPr lang="ko-KR" altLang="en-US" sz="1200" dirty="0">
                <a:solidFill>
                  <a:srgbClr val="404040"/>
                </a:solidFill>
                <a:latin typeface="맑은 고딕" panose="020B0503020000020004" pitchFamily="50" charset="-127"/>
              </a:rPr>
              <a:t>노드 간 데이터 전송을 최소화하기 위해 </a:t>
            </a:r>
            <a:r>
              <a:rPr lang="en-US" altLang="ko-KR" sz="1200" b="1" dirty="0">
                <a:solidFill>
                  <a:srgbClr val="0066FF"/>
                </a:solidFill>
                <a:latin typeface="맑은 고딕" panose="020B0503020000020004" pitchFamily="50" charset="-127"/>
              </a:rPr>
              <a:t>CXL </a:t>
            </a:r>
            <a:r>
              <a:rPr lang="ko-KR" altLang="en-US" sz="1200" b="1" dirty="0">
                <a:solidFill>
                  <a:srgbClr val="0066FF"/>
                </a:solidFill>
                <a:latin typeface="맑은 고딕" panose="020B0503020000020004" pitchFamily="50" charset="-127"/>
              </a:rPr>
              <a:t>기반 공유 메모리 풀을 통한 데이터 직접 접근 방식 도입 </a:t>
            </a:r>
            <a:r>
              <a:rPr lang="ko-KR" altLang="en-US" sz="1200" dirty="0">
                <a:solidFill>
                  <a:srgbClr val="404040"/>
                </a:solidFill>
                <a:latin typeface="맑은 고딕" panose="020B0503020000020004" pitchFamily="50" charset="-127"/>
              </a:rPr>
              <a:t>필요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그러나 </a:t>
            </a:r>
            <a:r>
              <a:rPr lang="en-US" altLang="ko-KR" sz="1200" dirty="0">
                <a:solidFill>
                  <a:srgbClr val="404040"/>
                </a:solidFill>
                <a:latin typeface="맑은 고딕" panose="020B0503020000020004" pitchFamily="50" charset="-127"/>
              </a:rPr>
              <a:t>CXL </a:t>
            </a:r>
            <a:r>
              <a:rPr lang="ko-KR" altLang="en-US" sz="1200" dirty="0">
                <a:solidFill>
                  <a:srgbClr val="404040"/>
                </a:solidFill>
                <a:latin typeface="맑은 고딕" panose="020B0503020000020004" pitchFamily="50" charset="-127"/>
              </a:rPr>
              <a:t>기반 </a:t>
            </a:r>
            <a:r>
              <a:rPr lang="ko-KR" altLang="en-US" sz="1200" dirty="0" err="1">
                <a:solidFill>
                  <a:srgbClr val="404040"/>
                </a:solidFill>
                <a:latin typeface="맑은 고딕" panose="020B0503020000020004" pitchFamily="50" charset="-127"/>
              </a:rPr>
              <a:t>비일관성</a:t>
            </a:r>
            <a:r>
              <a:rPr lang="ko-KR" altLang="en-US" sz="1200" dirty="0">
                <a:solidFill>
                  <a:srgbClr val="404040"/>
                </a:solidFill>
                <a:latin typeface="맑은 고딕" panose="020B0503020000020004" pitchFamily="50" charset="-127"/>
              </a:rPr>
              <a:t> 공유 메모리 환경에서는 호스트 간 캐시 일관성 및 </a:t>
            </a:r>
            <a:r>
              <a:rPr lang="en-US" altLang="ko-KR" sz="1200" dirty="0">
                <a:solidFill>
                  <a:srgbClr val="404040"/>
                </a:solidFill>
                <a:latin typeface="맑은 고딕" panose="020B0503020000020004" pitchFamily="50" charset="-127"/>
              </a:rPr>
              <a:t>Atomic </a:t>
            </a:r>
            <a:r>
              <a:rPr lang="ko-KR" altLang="en-US" sz="1200" dirty="0">
                <a:solidFill>
                  <a:srgbClr val="404040"/>
                </a:solidFill>
                <a:latin typeface="맑은 고딕" panose="020B0503020000020004" pitchFamily="50" charset="-127"/>
              </a:rPr>
              <a:t>연산이 보장되지 않아</a:t>
            </a:r>
            <a:r>
              <a:rPr lang="en-US" altLang="ko-KR" sz="1200" dirty="0">
                <a:solidFill>
                  <a:srgbClr val="404040"/>
                </a:solidFill>
                <a:latin typeface="맑은 고딕" panose="020B0503020000020004" pitchFamily="50" charset="-127"/>
              </a:rPr>
              <a:t> </a:t>
            </a:r>
            <a:r>
              <a:rPr lang="ko-KR" altLang="en-US" sz="1200" b="1" dirty="0">
                <a:solidFill>
                  <a:srgbClr val="FF0000"/>
                </a:solidFill>
                <a:latin typeface="맑은 고딕" panose="020B0503020000020004" pitchFamily="50" charset="-127"/>
              </a:rPr>
              <a:t>다중 노드의 동시 접근 시 데이터 정합성 보장 어려움</a:t>
            </a:r>
            <a:endParaRPr lang="en-US" altLang="ko-KR" sz="1200" b="1" dirty="0">
              <a:solidFill>
                <a:srgbClr val="FF0000"/>
              </a:solidFill>
              <a:latin typeface="맑은 고딕" panose="020B0503020000020004" pitchFamily="50" charset="-127"/>
            </a:endParaRPr>
          </a:p>
        </p:txBody>
      </p:sp>
      <p:sp>
        <p:nvSpPr>
          <p:cNvPr id="166" name="Text 22"/>
          <p:cNvSpPr/>
          <p:nvPr/>
        </p:nvSpPr>
        <p:spPr>
          <a:xfrm>
            <a:off x="383682" y="5927668"/>
            <a:ext cx="11312059" cy="594360"/>
          </a:xfrm>
          <a:prstGeom prst="rect">
            <a:avLst/>
          </a:prstGeom>
          <a:noFill/>
          <a:ln/>
        </p:spPr>
        <p:txBody>
          <a:bodyPr wrap="square" lIns="0" tIns="0" rIns="0" bIns="0" rtlCol="0" anchor="t"/>
          <a:lstStyle/>
          <a:p>
            <a:pPr>
              <a:lnSpc>
                <a:spcPct val="150000"/>
              </a:lnSpc>
            </a:pPr>
            <a:r>
              <a:rPr lang="ko-KR" altLang="en-US" sz="1200" b="1" dirty="0"/>
              <a:t>설계 쟁점 </a:t>
            </a:r>
            <a:r>
              <a:rPr lang="en-US" altLang="ko-KR" sz="1200" b="1" dirty="0"/>
              <a:t>1.</a:t>
            </a:r>
            <a:r>
              <a:rPr lang="ko-KR" altLang="en-US" sz="1200" dirty="0"/>
              <a:t> </a:t>
            </a:r>
            <a:r>
              <a:rPr lang="ko-KR" altLang="ko-KR" sz="1200" dirty="0" err="1">
                <a:solidFill>
                  <a:srgbClr val="404040"/>
                </a:solidFill>
                <a:latin typeface="맑은 고딕"/>
              </a:rPr>
              <a:t>비일관</a:t>
            </a:r>
            <a:r>
              <a:rPr lang="ko-KR" altLang="ko-KR" sz="1200" dirty="0">
                <a:solidFill>
                  <a:srgbClr val="404040"/>
                </a:solidFill>
                <a:latin typeface="맑은 고딕"/>
              </a:rPr>
              <a:t> CXL 공유 풀에서 메타데이터의 일관성 </a:t>
            </a:r>
            <a:r>
              <a:rPr lang="ko-KR" altLang="en-US" sz="1200" dirty="0">
                <a:solidFill>
                  <a:srgbClr val="404040"/>
                </a:solidFill>
                <a:latin typeface="맑은 고딕"/>
              </a:rPr>
              <a:t>책임 주체 결정을 통해 </a:t>
            </a:r>
            <a:r>
              <a:rPr lang="en-US" altLang="ko-KR" sz="1200" b="1" dirty="0">
                <a:solidFill>
                  <a:srgbClr val="0066FF"/>
                </a:solidFill>
                <a:latin typeface="맑은 고딕"/>
              </a:rPr>
              <a:t>KV </a:t>
            </a:r>
            <a:r>
              <a:rPr lang="ko-KR" altLang="en-US" sz="1200" b="1" dirty="0">
                <a:solidFill>
                  <a:srgbClr val="0066FF"/>
                </a:solidFill>
                <a:latin typeface="맑은 고딕"/>
              </a:rPr>
              <a:t>공유 지연시간 최적화 </a:t>
            </a:r>
            <a:endParaRPr lang="en-US" altLang="ko-KR" sz="1200" b="1" dirty="0">
              <a:solidFill>
                <a:srgbClr val="0066FF"/>
              </a:solidFill>
              <a:latin typeface="맑은 고딕"/>
            </a:endParaRPr>
          </a:p>
          <a:p>
            <a:pPr rtl="0">
              <a:lnSpc>
                <a:spcPct val="150000"/>
              </a:lnSpc>
            </a:pPr>
            <a:r>
              <a:rPr lang="ko-KR" altLang="en-US" sz="1200" b="1" dirty="0"/>
              <a:t>설계 쟁점 </a:t>
            </a:r>
            <a:r>
              <a:rPr lang="en-US" altLang="ko-KR" sz="1200" b="1" dirty="0"/>
              <a:t>2.</a:t>
            </a:r>
            <a:r>
              <a:rPr lang="ko-KR" altLang="en-US" sz="1200" dirty="0"/>
              <a:t> 노드 수 증가에 따른 메타데이터 일관성 유지의 </a:t>
            </a:r>
            <a:r>
              <a:rPr lang="ko-KR" altLang="en-US" sz="1200" b="1" dirty="0">
                <a:solidFill>
                  <a:srgbClr val="0066FF"/>
                </a:solidFill>
              </a:rPr>
              <a:t>확장성</a:t>
            </a:r>
            <a:r>
              <a:rPr lang="en-US" altLang="ko-KR" sz="1200" b="1" dirty="0">
                <a:solidFill>
                  <a:srgbClr val="0066FF"/>
                </a:solidFill>
              </a:rPr>
              <a:t>(Scalability) </a:t>
            </a:r>
            <a:r>
              <a:rPr lang="ko-KR" altLang="en-US" sz="1200" b="1" dirty="0">
                <a:solidFill>
                  <a:srgbClr val="0066FF"/>
                </a:solidFill>
              </a:rPr>
              <a:t>확보</a:t>
            </a:r>
          </a:p>
          <a:p>
            <a:pPr marL="228600" indent="-228600">
              <a:lnSpc>
                <a:spcPct val="150000"/>
              </a:lnSpc>
              <a:buAutoNum type="arabicPeriod"/>
            </a:pPr>
            <a:endParaRPr lang="en-US" altLang="ko-KR" sz="1200" dirty="0"/>
          </a:p>
        </p:txBody>
      </p:sp>
      <p:sp>
        <p:nvSpPr>
          <p:cNvPr id="9089" name="Rounded Rectangle 9088"/>
          <p:cNvSpPr/>
          <p:nvPr/>
        </p:nvSpPr>
        <p:spPr>
          <a:xfrm>
            <a:off x="7003667" y="4468367"/>
            <a:ext cx="3383280" cy="452882"/>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1050" b="1" i="0" dirty="0">
                <a:solidFill>
                  <a:srgbClr val="000000"/>
                </a:solidFill>
                <a:latin typeface="맑은 고딕"/>
                <a:ea typeface="맑은 고딕"/>
              </a:rPr>
              <a:t>DP2  </a:t>
            </a:r>
            <a:r>
              <a:rPr lang="en-US" sz="1050" b="1" i="0" dirty="0">
                <a:solidFill>
                  <a:srgbClr val="000000"/>
                </a:solidFill>
                <a:latin typeface="맑은 고딕"/>
                <a:ea typeface="맑은 고딕"/>
              </a:rPr>
              <a:t>Prefill/Decode </a:t>
            </a:r>
            <a:r>
              <a:rPr lang="ko-KR" altLang="en-US" sz="1050" b="1" i="0" dirty="0">
                <a:solidFill>
                  <a:srgbClr val="000000"/>
                </a:solidFill>
                <a:latin typeface="맑은 고딕"/>
                <a:ea typeface="맑은 고딕"/>
              </a:rPr>
              <a:t>실행 위치 결정</a:t>
            </a:r>
            <a:endParaRPr sz="1050" b="1" i="0" dirty="0">
              <a:solidFill>
                <a:srgbClr val="000000"/>
              </a:solidFill>
              <a:latin typeface="맑은 고딕"/>
              <a:ea typeface="맑은 고딕"/>
            </a:endParaRPr>
          </a:p>
          <a:p>
            <a:pPr algn="ctr">
              <a:lnSpc>
                <a:spcPct val="150000"/>
              </a:lnSpc>
            </a:pPr>
            <a:r>
              <a:rPr sz="900" b="0" i="0" dirty="0" err="1">
                <a:solidFill>
                  <a:srgbClr val="000000"/>
                </a:solidFill>
                <a:latin typeface="맑은 고딕"/>
                <a:ea typeface="맑은 고딕"/>
              </a:rPr>
              <a:t>비용</a:t>
            </a:r>
            <a:r>
              <a:rPr sz="900" b="0" i="0" dirty="0">
                <a:solidFill>
                  <a:srgbClr val="000000"/>
                </a:solidFill>
                <a:latin typeface="맑은 고딕"/>
                <a:ea typeface="맑은 고딕"/>
              </a:rPr>
              <a:t> </a:t>
            </a:r>
            <a:r>
              <a:rPr sz="900" b="0" i="0" dirty="0" err="1">
                <a:solidFill>
                  <a:srgbClr val="000000"/>
                </a:solidFill>
                <a:latin typeface="맑은 고딕"/>
                <a:ea typeface="맑은 고딕"/>
              </a:rPr>
              <a:t>기반</a:t>
            </a:r>
            <a:r>
              <a:rPr sz="900" b="0" i="0" dirty="0">
                <a:solidFill>
                  <a:srgbClr val="000000"/>
                </a:solidFill>
                <a:latin typeface="맑은 고딕"/>
                <a:ea typeface="맑은 고딕"/>
              </a:rPr>
              <a:t> P/D </a:t>
            </a:r>
            <a:r>
              <a:rPr sz="900" b="0" i="0" dirty="0" err="1">
                <a:solidFill>
                  <a:srgbClr val="000000"/>
                </a:solidFill>
                <a:latin typeface="맑은 고딕"/>
                <a:ea typeface="맑은 고딕"/>
              </a:rPr>
              <a:t>노드</a:t>
            </a:r>
            <a:r>
              <a:rPr sz="900" b="0" i="0" dirty="0">
                <a:solidFill>
                  <a:srgbClr val="000000"/>
                </a:solidFill>
                <a:latin typeface="맑은 고딕"/>
                <a:ea typeface="맑은 고딕"/>
              </a:rPr>
              <a:t> </a:t>
            </a:r>
            <a:r>
              <a:rPr sz="900" b="0" i="0" dirty="0" err="1">
                <a:solidFill>
                  <a:srgbClr val="000000"/>
                </a:solidFill>
                <a:latin typeface="맑은 고딕"/>
                <a:ea typeface="맑은 고딕"/>
              </a:rPr>
              <a:t>선택</a:t>
            </a:r>
            <a:endParaRPr sz="900" b="0" i="0" dirty="0">
              <a:solidFill>
                <a:srgbClr val="000000"/>
              </a:solidFill>
              <a:latin typeface="맑은 고딕"/>
              <a:ea typeface="맑은 고딕"/>
            </a:endParaRPr>
          </a:p>
        </p:txBody>
      </p:sp>
      <p:sp>
        <p:nvSpPr>
          <p:cNvPr id="9091" name="Rounded Rectangle 9090"/>
          <p:cNvSpPr/>
          <p:nvPr/>
        </p:nvSpPr>
        <p:spPr>
          <a:xfrm>
            <a:off x="1440180" y="4587164"/>
            <a:ext cx="3383280" cy="754581"/>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1050" b="1" i="0" dirty="0">
                <a:solidFill>
                  <a:srgbClr val="000000"/>
                </a:solidFill>
                <a:latin typeface="맑은 고딕"/>
                <a:ea typeface="맑은 고딕"/>
              </a:rPr>
              <a:t>DP4  </a:t>
            </a:r>
            <a:r>
              <a:rPr lang="ko-KR" altLang="en-US" sz="1050" b="1" dirty="0">
                <a:solidFill>
                  <a:srgbClr val="000000"/>
                </a:solidFill>
                <a:latin typeface="맑은 고딕"/>
                <a:ea typeface="맑은 고딕"/>
              </a:rPr>
              <a:t>서버</a:t>
            </a:r>
            <a:r>
              <a:rPr lang="en-US" altLang="ko-KR" sz="1050" b="1" dirty="0">
                <a:solidFill>
                  <a:srgbClr val="000000"/>
                </a:solidFill>
                <a:latin typeface="맑은 고딕"/>
                <a:ea typeface="맑은 고딕"/>
              </a:rPr>
              <a:t>(</a:t>
            </a:r>
            <a:r>
              <a:rPr lang="ko-KR" altLang="en-US" sz="1050" b="1" dirty="0">
                <a:solidFill>
                  <a:srgbClr val="000000"/>
                </a:solidFill>
                <a:latin typeface="맑은 고딕"/>
                <a:ea typeface="맑은 고딕"/>
              </a:rPr>
              <a:t>노드</a:t>
            </a:r>
            <a:r>
              <a:rPr lang="en-US" altLang="ko-KR" sz="1050" b="1" dirty="0">
                <a:solidFill>
                  <a:srgbClr val="000000"/>
                </a:solidFill>
                <a:latin typeface="맑은 고딕"/>
                <a:ea typeface="맑은 고딕"/>
              </a:rPr>
              <a:t>) </a:t>
            </a:r>
            <a:r>
              <a:rPr lang="ko-KR" altLang="en-US" sz="1050" b="1" dirty="0">
                <a:solidFill>
                  <a:srgbClr val="000000"/>
                </a:solidFill>
                <a:latin typeface="맑은 고딕"/>
                <a:ea typeface="맑은 고딕"/>
              </a:rPr>
              <a:t>간 데이터 공유 구조 </a:t>
            </a:r>
            <a:endParaRPr sz="1050" b="1" i="0" dirty="0">
              <a:solidFill>
                <a:srgbClr val="000000"/>
              </a:solidFill>
              <a:latin typeface="맑은 고딕"/>
              <a:ea typeface="맑은 고딕"/>
            </a:endParaRPr>
          </a:p>
          <a:p>
            <a:pPr algn="ctr">
              <a:lnSpc>
                <a:spcPct val="150000"/>
              </a:lnSpc>
            </a:pPr>
            <a:r>
              <a:rPr lang="ko-KR" altLang="en-US" sz="900" dirty="0">
                <a:solidFill>
                  <a:srgbClr val="000000"/>
                </a:solidFill>
                <a:latin typeface="맑은 고딕"/>
                <a:ea typeface="맑은 고딕"/>
              </a:rPr>
              <a:t>공유 메모리 풀을 통한 </a:t>
            </a:r>
            <a:r>
              <a:rPr lang="en-US" altLang="ko-KR" sz="900" dirty="0">
                <a:solidFill>
                  <a:srgbClr val="000000"/>
                </a:solidFill>
                <a:latin typeface="맑은 고딕"/>
                <a:ea typeface="맑은 고딕"/>
              </a:rPr>
              <a:t>KV </a:t>
            </a:r>
            <a:r>
              <a:rPr lang="ko-KR" altLang="en-US" sz="900" dirty="0">
                <a:solidFill>
                  <a:srgbClr val="000000"/>
                </a:solidFill>
                <a:latin typeface="맑은 고딕"/>
                <a:ea typeface="맑은 고딕"/>
              </a:rPr>
              <a:t>전송 비용 절감</a:t>
            </a:r>
            <a:endParaRPr sz="900" b="0" i="0" dirty="0">
              <a:solidFill>
                <a:srgbClr val="000000"/>
              </a:solidFill>
              <a:latin typeface="맑은 고딕"/>
              <a:ea typeface="맑은 고딕"/>
            </a:endParaRPr>
          </a:p>
        </p:txBody>
      </p:sp>
      <p:sp>
        <p:nvSpPr>
          <p:cNvPr id="52" name="DP2 9013"/>
          <p:cNvSpPr/>
          <p:nvPr/>
        </p:nvSpPr>
        <p:spPr>
          <a:xfrm>
            <a:off x="420624" y="5556714"/>
            <a:ext cx="11338560" cy="291487"/>
          </a:xfrm>
          <a:prstGeom prst="rect">
            <a:avLst/>
          </a:prstGeom>
          <a:noFill/>
          <a:ln>
            <a:noFill/>
          </a:ln>
        </p:spPr>
        <p:txBody>
          <a:bodyPr wrap="square" lIns="9144" tIns="7315" rIns="9144" bIns="7315" anchor="ctr">
            <a:normAutofit/>
          </a:bodyPr>
          <a:lstStyle/>
          <a:p>
            <a:pPr>
              <a:lnSpc>
                <a:spcPct val="90000"/>
              </a:lnSpc>
            </a:pPr>
            <a:r>
              <a:rPr lang="en-US" altLang="ko-KR" sz="1200" b="1" dirty="0">
                <a:solidFill>
                  <a:srgbClr val="0066FF"/>
                </a:solidFill>
              </a:rPr>
              <a:t>     </a:t>
            </a:r>
            <a:r>
              <a:rPr lang="ko-KR" altLang="en-US" sz="1200" b="1" dirty="0">
                <a:solidFill>
                  <a:srgbClr val="0066FF"/>
                </a:solidFill>
              </a:rPr>
              <a:t>데이터 정합성과 접근 동기화를 보장하면서 데이터 전송 비용을 최소화하는 </a:t>
            </a:r>
            <a:r>
              <a:rPr lang="en-US" altLang="ko-KR" sz="1200" b="1" dirty="0">
                <a:solidFill>
                  <a:srgbClr val="0066FF"/>
                </a:solidFill>
              </a:rPr>
              <a:t>SW </a:t>
            </a:r>
            <a:r>
              <a:rPr lang="ko-KR" altLang="en-US" sz="1200" b="1" dirty="0">
                <a:solidFill>
                  <a:srgbClr val="0066FF"/>
                </a:solidFill>
              </a:rPr>
              <a:t>구조 설계 필요 </a:t>
            </a:r>
          </a:p>
        </p:txBody>
      </p:sp>
      <p:cxnSp>
        <p:nvCxnSpPr>
          <p:cNvPr id="54" name="Connector 9068"/>
          <p:cNvCxnSpPr/>
          <p:nvPr/>
        </p:nvCxnSpPr>
        <p:spPr>
          <a:xfrm>
            <a:off x="4944323" y="4681736"/>
            <a:ext cx="199855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114764" y="4416285"/>
            <a:ext cx="1657670" cy="161583"/>
          </a:xfrm>
          <a:prstGeom prst="rect">
            <a:avLst/>
          </a:prstGeom>
          <a:noFill/>
        </p:spPr>
        <p:txBody>
          <a:bodyPr wrap="square" lIns="0" tIns="0" rIns="0" bIns="0" anchor="t">
            <a:spAutoFit/>
          </a:bodyPr>
          <a:lstStyle/>
          <a:p>
            <a:pPr algn="l"/>
            <a:r>
              <a:rPr lang="en-US" altLang="ko-KR" sz="1050" b="1" i="0" dirty="0">
                <a:solidFill>
                  <a:srgbClr val="C00000"/>
                </a:solidFill>
                <a:latin typeface="맑은 고딕"/>
                <a:ea typeface="맑은 고딕"/>
              </a:rPr>
              <a:t>DP2</a:t>
            </a:r>
            <a:r>
              <a:rPr lang="ko-KR" altLang="en-US" sz="1050" b="1" i="0" dirty="0">
                <a:solidFill>
                  <a:srgbClr val="C00000"/>
                </a:solidFill>
                <a:latin typeface="맑은 고딕"/>
                <a:ea typeface="맑은 고딕"/>
              </a:rPr>
              <a:t>의 비용 결정을 보완 </a:t>
            </a:r>
            <a:endParaRPr sz="1050" b="1" i="0" dirty="0">
              <a:solidFill>
                <a:srgbClr val="C00000"/>
              </a:solidFill>
              <a:latin typeface="맑은 고딕"/>
              <a:ea typeface="맑은 고딕"/>
            </a:endParaRPr>
          </a:p>
        </p:txBody>
      </p:sp>
      <p:sp>
        <p:nvSpPr>
          <p:cNvPr id="92" name="Rectangle 9061"/>
          <p:cNvSpPr/>
          <p:nvPr/>
        </p:nvSpPr>
        <p:spPr>
          <a:xfrm>
            <a:off x="411480" y="1825915"/>
            <a:ext cx="5440680" cy="2341530"/>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3" name="Rounded Rectangle 9062"/>
          <p:cNvSpPr/>
          <p:nvPr/>
        </p:nvSpPr>
        <p:spPr>
          <a:xfrm>
            <a:off x="1645919" y="1899068"/>
            <a:ext cx="329184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FFFFFF"/>
                </a:solidFill>
                <a:latin typeface="맑은 고딕"/>
                <a:ea typeface="맑은 고딕"/>
              </a:rPr>
              <a:t>As-Is:</a:t>
            </a:r>
            <a:r>
              <a:rPr lang="en-US" sz="1050" b="1" i="0" dirty="0">
                <a:solidFill>
                  <a:srgbClr val="FFFFFF"/>
                </a:solidFill>
                <a:latin typeface="맑은 고딕"/>
                <a:ea typeface="맑은 고딕"/>
              </a:rPr>
              <a:t> </a:t>
            </a:r>
            <a:r>
              <a:rPr lang="ko-KR" altLang="en-US" sz="1050" b="1" i="0" dirty="0">
                <a:solidFill>
                  <a:srgbClr val="FFFFFF"/>
                </a:solidFill>
                <a:latin typeface="맑은 고딕"/>
                <a:ea typeface="맑은 고딕"/>
              </a:rPr>
              <a:t>최적의 </a:t>
            </a:r>
            <a:r>
              <a:rPr lang="ko-KR" altLang="en-US" sz="1050" b="1" dirty="0">
                <a:solidFill>
                  <a:srgbClr val="FFFFFF"/>
                </a:solidFill>
                <a:latin typeface="맑은 고딕"/>
                <a:ea typeface="맑은 고딕"/>
              </a:rPr>
              <a:t>연산 위치를 선택해도 </a:t>
            </a:r>
            <a:r>
              <a:rPr lang="en-US" altLang="ko-KR" sz="1050" b="1" dirty="0">
                <a:solidFill>
                  <a:srgbClr val="FFFFFF"/>
                </a:solidFill>
                <a:latin typeface="맑은 고딕"/>
                <a:ea typeface="맑은 고딕"/>
              </a:rPr>
              <a:t>KV </a:t>
            </a:r>
            <a:r>
              <a:rPr lang="ko-KR" altLang="en-US" sz="1050" b="1" dirty="0">
                <a:solidFill>
                  <a:srgbClr val="FFFFFF"/>
                </a:solidFill>
                <a:latin typeface="맑은 고딕"/>
                <a:ea typeface="맑은 고딕"/>
              </a:rPr>
              <a:t>전송은 누적</a:t>
            </a:r>
            <a:endParaRPr sz="1050" b="1" i="0" dirty="0">
              <a:solidFill>
                <a:srgbClr val="FFFFFF"/>
              </a:solidFill>
              <a:latin typeface="맑은 고딕"/>
              <a:ea typeface="맑은 고딕"/>
            </a:endParaRPr>
          </a:p>
        </p:txBody>
      </p:sp>
      <p:sp>
        <p:nvSpPr>
          <p:cNvPr id="94" name="Rectangle 9063"/>
          <p:cNvSpPr/>
          <p:nvPr/>
        </p:nvSpPr>
        <p:spPr>
          <a:xfrm>
            <a:off x="6355080" y="1825915"/>
            <a:ext cx="5440680" cy="2341529"/>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5" name="Rounded Rectangle 9064"/>
          <p:cNvSpPr/>
          <p:nvPr/>
        </p:nvSpPr>
        <p:spPr>
          <a:xfrm>
            <a:off x="7468781" y="1899068"/>
            <a:ext cx="3291840"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FFFFFF"/>
                </a:solidFill>
                <a:latin typeface="맑은 고딕"/>
                <a:ea typeface="맑은 고딕"/>
              </a:rPr>
              <a:t>To-Be: </a:t>
            </a:r>
            <a:r>
              <a:rPr sz="1050" b="1" i="0" dirty="0" err="1">
                <a:solidFill>
                  <a:srgbClr val="FFFFFF"/>
                </a:solidFill>
                <a:latin typeface="맑은 고딕"/>
                <a:ea typeface="맑은 고딕"/>
              </a:rPr>
              <a:t>서버</a:t>
            </a:r>
            <a:r>
              <a:rPr sz="1050" b="1" i="0" dirty="0">
                <a:solidFill>
                  <a:srgbClr val="FFFFFF"/>
                </a:solidFill>
                <a:latin typeface="맑은 고딕"/>
                <a:ea typeface="맑은 고딕"/>
              </a:rPr>
              <a:t> 간 KV </a:t>
            </a:r>
            <a:r>
              <a:rPr sz="1050" b="1" i="0" dirty="0" err="1">
                <a:solidFill>
                  <a:srgbClr val="FFFFFF"/>
                </a:solidFill>
                <a:latin typeface="맑은 고딕"/>
                <a:ea typeface="맑은 고딕"/>
              </a:rPr>
              <a:t>공유</a:t>
            </a:r>
            <a:r>
              <a:rPr sz="1050" b="1" i="0" dirty="0">
                <a:solidFill>
                  <a:srgbClr val="FFFFFF"/>
                </a:solidFill>
                <a:latin typeface="맑은 고딕"/>
                <a:ea typeface="맑은 고딕"/>
              </a:rPr>
              <a:t> </a:t>
            </a:r>
            <a:r>
              <a:rPr sz="1050" b="1" i="0" dirty="0" err="1">
                <a:solidFill>
                  <a:srgbClr val="FFFFFF"/>
                </a:solidFill>
                <a:latin typeface="맑은 고딕"/>
                <a:ea typeface="맑은 고딕"/>
              </a:rPr>
              <a:t>구조</a:t>
            </a:r>
            <a:r>
              <a:rPr sz="1050" b="1" i="0" dirty="0">
                <a:solidFill>
                  <a:srgbClr val="FFFFFF"/>
                </a:solidFill>
                <a:latin typeface="맑은 고딕"/>
                <a:ea typeface="맑은 고딕"/>
              </a:rPr>
              <a:t> </a:t>
            </a:r>
          </a:p>
        </p:txBody>
      </p:sp>
      <p:sp>
        <p:nvSpPr>
          <p:cNvPr id="96" name="Right Arrow 9065"/>
          <p:cNvSpPr/>
          <p:nvPr/>
        </p:nvSpPr>
        <p:spPr>
          <a:xfrm>
            <a:off x="5943600" y="2688752"/>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9" name="Rectangle 9066"/>
          <p:cNvSpPr/>
          <p:nvPr/>
        </p:nvSpPr>
        <p:spPr>
          <a:xfrm>
            <a:off x="594360" y="2468628"/>
            <a:ext cx="1005840" cy="7954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P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Prefill</a:t>
            </a:r>
          </a:p>
        </p:txBody>
      </p:sp>
      <p:sp>
        <p:nvSpPr>
          <p:cNvPr id="100" name="Rectangle 9067"/>
          <p:cNvSpPr/>
          <p:nvPr/>
        </p:nvSpPr>
        <p:spPr>
          <a:xfrm>
            <a:off x="4526280" y="2468628"/>
            <a:ext cx="1005840" cy="7954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Decode</a:t>
            </a:r>
          </a:p>
        </p:txBody>
      </p:sp>
      <p:cxnSp>
        <p:nvCxnSpPr>
          <p:cNvPr id="102" name="Connector 9068"/>
          <p:cNvCxnSpPr/>
          <p:nvPr/>
        </p:nvCxnSpPr>
        <p:spPr>
          <a:xfrm>
            <a:off x="1600200" y="2622925"/>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2165864" y="2481059"/>
            <a:ext cx="1703311" cy="202776"/>
          </a:xfrm>
          <a:prstGeom prst="rect">
            <a:avLst/>
          </a:prstGeom>
          <a:noFill/>
        </p:spPr>
        <p:txBody>
          <a:bodyPr wrap="square" lIns="0" tIns="0" rIns="0" bIns="0" anchor="t">
            <a:spAutoFit/>
          </a:bodyPr>
          <a:lstStyle/>
          <a:p>
            <a:pPr algn="ctr"/>
            <a:r>
              <a:rPr sz="900" b="1" i="0" dirty="0">
                <a:solidFill>
                  <a:srgbClr val="2F5597"/>
                </a:solidFill>
                <a:latin typeface="맑은 고딕"/>
                <a:ea typeface="맑은 고딕"/>
              </a:rPr>
              <a:t>Turn 1: KV </a:t>
            </a:r>
            <a:r>
              <a:rPr sz="900" b="1" i="0" dirty="0" err="1">
                <a:solidFill>
                  <a:srgbClr val="2F5597"/>
                </a:solidFill>
                <a:latin typeface="맑은 고딕"/>
                <a:ea typeface="맑은 고딕"/>
              </a:rPr>
              <a:t>전송</a:t>
            </a:r>
            <a:r>
              <a:rPr sz="900" b="1" i="0" dirty="0">
                <a:solidFill>
                  <a:srgbClr val="2F5597"/>
                </a:solidFill>
                <a:latin typeface="맑은 고딕"/>
                <a:ea typeface="맑은 고딕"/>
              </a:rPr>
              <a:t> (P→D)</a:t>
            </a:r>
          </a:p>
        </p:txBody>
      </p:sp>
      <p:cxnSp>
        <p:nvCxnSpPr>
          <p:cNvPr id="104" name="Connector 9070"/>
          <p:cNvCxnSpPr/>
          <p:nvPr/>
        </p:nvCxnSpPr>
        <p:spPr>
          <a:xfrm flipH="1">
            <a:off x="1600200" y="2893904"/>
            <a:ext cx="2926080"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2080698" y="2752038"/>
            <a:ext cx="1873642" cy="202776"/>
          </a:xfrm>
          <a:prstGeom prst="rect">
            <a:avLst/>
          </a:prstGeom>
          <a:noFill/>
        </p:spPr>
        <p:txBody>
          <a:bodyPr wrap="square" lIns="0" tIns="0" rIns="0" bIns="0" anchor="t">
            <a:spAutoFit/>
          </a:bodyPr>
          <a:lstStyle/>
          <a:p>
            <a:pPr algn="ctr"/>
            <a:r>
              <a:rPr sz="900" b="1" i="0" dirty="0">
                <a:solidFill>
                  <a:srgbClr val="C00000"/>
                </a:solidFill>
                <a:latin typeface="맑은 고딕"/>
                <a:ea typeface="맑은 고딕"/>
              </a:rPr>
              <a:t>Turn 2: History KV </a:t>
            </a:r>
            <a:r>
              <a:rPr sz="900" b="1" i="0" dirty="0" err="1">
                <a:solidFill>
                  <a:srgbClr val="C00000"/>
                </a:solidFill>
                <a:latin typeface="맑은 고딕"/>
                <a:ea typeface="맑은 고딕"/>
              </a:rPr>
              <a:t>전송</a:t>
            </a:r>
            <a:r>
              <a:rPr sz="900" b="1" i="0" dirty="0">
                <a:solidFill>
                  <a:srgbClr val="C00000"/>
                </a:solidFill>
                <a:latin typeface="맑은 고딕"/>
                <a:ea typeface="맑은 고딕"/>
              </a:rPr>
              <a:t> (D→P)</a:t>
            </a:r>
          </a:p>
        </p:txBody>
      </p:sp>
      <p:cxnSp>
        <p:nvCxnSpPr>
          <p:cNvPr id="106" name="Connector 9072"/>
          <p:cNvCxnSpPr/>
          <p:nvPr/>
        </p:nvCxnSpPr>
        <p:spPr>
          <a:xfrm>
            <a:off x="1600200" y="3171641"/>
            <a:ext cx="292608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1645919" y="3029775"/>
            <a:ext cx="2743200" cy="202776"/>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Turn 2: 결과 KV 전송 (P→D)</a:t>
            </a:r>
          </a:p>
        </p:txBody>
      </p:sp>
      <p:sp>
        <p:nvSpPr>
          <p:cNvPr id="108" name="TextBox 107"/>
          <p:cNvSpPr txBox="1"/>
          <p:nvPr/>
        </p:nvSpPr>
        <p:spPr>
          <a:xfrm>
            <a:off x="1191239" y="3444622"/>
            <a:ext cx="3837961" cy="461665"/>
          </a:xfrm>
          <a:prstGeom prst="rect">
            <a:avLst/>
          </a:prstGeom>
          <a:noFill/>
        </p:spPr>
        <p:txBody>
          <a:bodyPr wrap="square" lIns="0" tIns="0" rIns="0" bIns="0" anchor="t">
            <a:spAutoFit/>
          </a:bodyPr>
          <a:lstStyle/>
          <a:p>
            <a:pPr algn="ctr">
              <a:lnSpc>
                <a:spcPct val="150000"/>
              </a:lnSpc>
            </a:pPr>
            <a:r>
              <a:rPr lang="en-US" sz="1050" b="1" i="0" dirty="0">
                <a:solidFill>
                  <a:srgbClr val="C00000"/>
                </a:solidFill>
                <a:latin typeface="맑은 고딕"/>
                <a:ea typeface="맑은 고딕"/>
              </a:rPr>
              <a:t>P/D </a:t>
            </a:r>
            <a:r>
              <a:rPr lang="ko-KR" altLang="en-US" sz="1050" b="1" i="0" dirty="0">
                <a:solidFill>
                  <a:srgbClr val="C00000"/>
                </a:solidFill>
                <a:latin typeface="맑은 고딕"/>
                <a:ea typeface="맑은 고딕"/>
              </a:rPr>
              <a:t>분리 구조 시 </a:t>
            </a:r>
            <a:endParaRPr lang="en-US" sz="1050" b="1" i="0" dirty="0">
              <a:solidFill>
                <a:srgbClr val="C00000"/>
              </a:solidFill>
              <a:latin typeface="맑은 고딕"/>
              <a:ea typeface="맑은 고딕"/>
            </a:endParaRPr>
          </a:p>
          <a:p>
            <a:pPr algn="ctr">
              <a:lnSpc>
                <a:spcPct val="150000"/>
              </a:lnSpc>
            </a:pPr>
            <a:r>
              <a:rPr lang="ko-KR" altLang="en-US" sz="1050" b="1" i="0" dirty="0">
                <a:solidFill>
                  <a:srgbClr val="C00000"/>
                </a:solidFill>
                <a:latin typeface="맑은 고딕"/>
                <a:ea typeface="맑은 고딕"/>
              </a:rPr>
              <a:t>누적 </a:t>
            </a:r>
            <a:r>
              <a:rPr sz="1050" b="1" i="0" dirty="0" err="1">
                <a:solidFill>
                  <a:srgbClr val="C00000"/>
                </a:solidFill>
                <a:latin typeface="맑은 고딕"/>
                <a:ea typeface="맑은 고딕"/>
              </a:rPr>
              <a:t>전송</a:t>
            </a:r>
            <a:r>
              <a:rPr sz="1050" b="1" i="0" dirty="0">
                <a:solidFill>
                  <a:srgbClr val="C00000"/>
                </a:solidFill>
                <a:latin typeface="맑은 고딕"/>
                <a:ea typeface="맑은 고딕"/>
              </a:rPr>
              <a:t>: Turn 1 → 1회, Turn 2 → 3회, Turn 3 → 5회 </a:t>
            </a:r>
          </a:p>
        </p:txBody>
      </p:sp>
      <p:sp>
        <p:nvSpPr>
          <p:cNvPr id="109" name="Rectangle 9076"/>
          <p:cNvSpPr/>
          <p:nvPr/>
        </p:nvSpPr>
        <p:spPr>
          <a:xfrm>
            <a:off x="6720840" y="2416049"/>
            <a:ext cx="822960" cy="754581"/>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P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Prefill</a:t>
            </a:r>
          </a:p>
        </p:txBody>
      </p:sp>
      <p:sp>
        <p:nvSpPr>
          <p:cNvPr id="110" name="Rectangle 9077"/>
          <p:cNvSpPr/>
          <p:nvPr/>
        </p:nvSpPr>
        <p:spPr>
          <a:xfrm>
            <a:off x="10744200" y="2450348"/>
            <a:ext cx="882100" cy="685983"/>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Decode</a:t>
            </a:r>
          </a:p>
        </p:txBody>
      </p:sp>
      <p:sp>
        <p:nvSpPr>
          <p:cNvPr id="111" name="Rectangle 9078"/>
          <p:cNvSpPr/>
          <p:nvPr/>
        </p:nvSpPr>
        <p:spPr>
          <a:xfrm>
            <a:off x="8229600" y="2418435"/>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err="1">
                <a:solidFill>
                  <a:srgbClr val="000000"/>
                </a:solidFill>
                <a:latin typeface="맑은 고딕"/>
                <a:ea typeface="맑은 고딕"/>
              </a:rPr>
              <a:t>공유</a:t>
            </a:r>
            <a:r>
              <a:rPr sz="1050" b="1" i="0" dirty="0">
                <a:solidFill>
                  <a:srgbClr val="000000"/>
                </a:solidFill>
                <a:latin typeface="맑은 고딕"/>
                <a:ea typeface="맑은 고딕"/>
              </a:rPr>
              <a:t> </a:t>
            </a:r>
            <a:r>
              <a:rPr lang="ko-KR" altLang="en-US" sz="1050" b="1" i="0" dirty="0">
                <a:solidFill>
                  <a:srgbClr val="000000"/>
                </a:solidFill>
                <a:latin typeface="맑은 고딕"/>
                <a:ea typeface="맑은 고딕"/>
              </a:rPr>
              <a:t>메모리 </a:t>
            </a:r>
            <a:r>
              <a:rPr sz="1050" b="1" i="0" dirty="0">
                <a:solidFill>
                  <a:srgbClr val="000000"/>
                </a:solidFill>
                <a:latin typeface="맑은 고딕"/>
                <a:ea typeface="맑은 고딕"/>
              </a:rPr>
              <a:t>풀</a:t>
            </a:r>
          </a:p>
        </p:txBody>
      </p:sp>
      <p:cxnSp>
        <p:nvCxnSpPr>
          <p:cNvPr id="112" name="Connector 9079"/>
          <p:cNvCxnSpPr/>
          <p:nvPr/>
        </p:nvCxnSpPr>
        <p:spPr>
          <a:xfrm>
            <a:off x="7543800" y="26470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113" name="Connector 9080"/>
          <p:cNvCxnSpPr/>
          <p:nvPr/>
        </p:nvCxnSpPr>
        <p:spPr>
          <a:xfrm>
            <a:off x="10058400" y="26470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Connector 9081"/>
          <p:cNvCxnSpPr/>
          <p:nvPr/>
        </p:nvCxnSpPr>
        <p:spPr>
          <a:xfrm flipH="1">
            <a:off x="7543800" y="296707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7543800" y="2482444"/>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publish</a:t>
            </a:r>
          </a:p>
        </p:txBody>
      </p:sp>
      <p:sp>
        <p:nvSpPr>
          <p:cNvPr id="116" name="TextBox 115"/>
          <p:cNvSpPr txBox="1"/>
          <p:nvPr/>
        </p:nvSpPr>
        <p:spPr>
          <a:xfrm>
            <a:off x="10058400" y="2482444"/>
            <a:ext cx="68580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a:t>
            </a:r>
          </a:p>
        </p:txBody>
      </p:sp>
      <p:sp>
        <p:nvSpPr>
          <p:cNvPr id="117" name="TextBox 116"/>
          <p:cNvSpPr txBox="1"/>
          <p:nvPr/>
        </p:nvSpPr>
        <p:spPr>
          <a:xfrm>
            <a:off x="7543800" y="2985363"/>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read(다음)</a:t>
            </a:r>
          </a:p>
        </p:txBody>
      </p:sp>
      <p:sp>
        <p:nvSpPr>
          <p:cNvPr id="118" name="TextBox 117"/>
          <p:cNvSpPr txBox="1"/>
          <p:nvPr/>
        </p:nvSpPr>
        <p:spPr>
          <a:xfrm>
            <a:off x="6505660" y="3458291"/>
            <a:ext cx="5120640" cy="461665"/>
          </a:xfrm>
          <a:prstGeom prst="rect">
            <a:avLst/>
          </a:prstGeom>
          <a:noFill/>
        </p:spPr>
        <p:txBody>
          <a:bodyPr wrap="square" lIns="0" tIns="0" rIns="0" bIns="0" anchor="t">
            <a:spAutoFit/>
          </a:bodyPr>
          <a:lstStyle/>
          <a:p>
            <a:pPr algn="ctr">
              <a:lnSpc>
                <a:spcPct val="150000"/>
              </a:lnSpc>
            </a:pPr>
            <a:r>
              <a:rPr lang="ko-KR" altLang="en-US" sz="1050" b="1" i="0" dirty="0">
                <a:solidFill>
                  <a:srgbClr val="375623"/>
                </a:solidFill>
                <a:latin typeface="맑은 고딕"/>
                <a:ea typeface="맑은 고딕"/>
              </a:rPr>
              <a:t>데이터 </a:t>
            </a:r>
            <a:r>
              <a:rPr sz="1050" b="1" i="0" dirty="0" err="1">
                <a:solidFill>
                  <a:srgbClr val="375623"/>
                </a:solidFill>
                <a:latin typeface="맑은 고딕"/>
                <a:ea typeface="맑은 고딕"/>
              </a:rPr>
              <a:t>위치가</a:t>
            </a:r>
            <a:r>
              <a:rPr sz="1050" b="1" i="0" dirty="0">
                <a:solidFill>
                  <a:srgbClr val="375623"/>
                </a:solidFill>
                <a:latin typeface="맑은 고딕"/>
                <a:ea typeface="맑은 고딕"/>
              </a:rPr>
              <a:t> </a:t>
            </a:r>
            <a:r>
              <a:rPr sz="1050" b="1" i="0" dirty="0" err="1">
                <a:solidFill>
                  <a:srgbClr val="375623"/>
                </a:solidFill>
                <a:latin typeface="맑은 고딕"/>
                <a:ea typeface="맑은 고딕"/>
              </a:rPr>
              <a:t>노드에</a:t>
            </a:r>
            <a:r>
              <a:rPr sz="1050" b="1" i="0" dirty="0">
                <a:solidFill>
                  <a:srgbClr val="375623"/>
                </a:solidFill>
                <a:latin typeface="맑은 고딕"/>
                <a:ea typeface="맑은 고딕"/>
              </a:rPr>
              <a:t> </a:t>
            </a:r>
            <a:r>
              <a:rPr sz="1050" b="1" i="0" dirty="0" err="1">
                <a:solidFill>
                  <a:srgbClr val="375623"/>
                </a:solidFill>
                <a:latin typeface="맑은 고딕"/>
                <a:ea typeface="맑은 고딕"/>
              </a:rPr>
              <a:t>묶이지</a:t>
            </a:r>
            <a:r>
              <a:rPr sz="1050" b="1" i="0" dirty="0">
                <a:solidFill>
                  <a:srgbClr val="375623"/>
                </a:solidFill>
                <a:latin typeface="맑은 고딕"/>
                <a:ea typeface="맑은 고딕"/>
              </a:rPr>
              <a:t> </a:t>
            </a:r>
            <a:r>
              <a:rPr sz="1050" b="1" i="0" dirty="0" err="1">
                <a:solidFill>
                  <a:srgbClr val="375623"/>
                </a:solidFill>
                <a:latin typeface="맑은 고딕"/>
                <a:ea typeface="맑은 고딕"/>
              </a:rPr>
              <a:t>않고</a:t>
            </a:r>
            <a:r>
              <a:rPr sz="1050" b="1" i="0" dirty="0">
                <a:solidFill>
                  <a:srgbClr val="375623"/>
                </a:solidFill>
                <a:latin typeface="맑은 고딕"/>
                <a:ea typeface="맑은 고딕"/>
              </a:rPr>
              <a:t> </a:t>
            </a:r>
            <a:r>
              <a:rPr sz="1050" b="1" i="0" dirty="0" err="1">
                <a:solidFill>
                  <a:srgbClr val="375623"/>
                </a:solidFill>
                <a:latin typeface="맑은 고딕"/>
                <a:ea typeface="맑은 고딕"/>
              </a:rPr>
              <a:t>요청</a:t>
            </a:r>
            <a:r>
              <a:rPr sz="1050" b="1" i="0" dirty="0">
                <a:solidFill>
                  <a:srgbClr val="375623"/>
                </a:solidFill>
                <a:latin typeface="맑은 고딕"/>
                <a:ea typeface="맑은 고딕"/>
              </a:rPr>
              <a:t> 간 </a:t>
            </a:r>
            <a:r>
              <a:rPr sz="1050" b="1" i="0" dirty="0" err="1">
                <a:solidFill>
                  <a:srgbClr val="375623"/>
                </a:solidFill>
                <a:latin typeface="맑은 고딕"/>
                <a:ea typeface="맑은 고딕"/>
              </a:rPr>
              <a:t>공유</a:t>
            </a:r>
            <a:r>
              <a:rPr sz="1050" b="1" i="0" dirty="0">
                <a:solidFill>
                  <a:srgbClr val="375623"/>
                </a:solidFill>
                <a:latin typeface="맑은 고딕"/>
                <a:ea typeface="맑은 고딕"/>
              </a:rPr>
              <a:t> </a:t>
            </a:r>
            <a:r>
              <a:rPr sz="1050" b="1" i="0" dirty="0" err="1">
                <a:solidFill>
                  <a:srgbClr val="375623"/>
                </a:solidFill>
                <a:latin typeface="맑은 고딕"/>
                <a:ea typeface="맑은 고딕"/>
              </a:rPr>
              <a:t>가능</a:t>
            </a:r>
            <a:r>
              <a:rPr sz="1050" b="1" i="0" dirty="0">
                <a:solidFill>
                  <a:srgbClr val="375623"/>
                </a:solidFill>
                <a:latin typeface="맑은 고딕"/>
                <a:ea typeface="맑은 고딕"/>
              </a:rPr>
              <a:t> </a:t>
            </a:r>
            <a:endParaRPr lang="en-US" sz="1050" b="1" i="0" dirty="0">
              <a:solidFill>
                <a:srgbClr val="375623"/>
              </a:solidFill>
              <a:latin typeface="맑은 고딕"/>
              <a:ea typeface="맑은 고딕"/>
            </a:endParaRPr>
          </a:p>
          <a:p>
            <a:pPr algn="ctr">
              <a:lnSpc>
                <a:spcPct val="150000"/>
              </a:lnSpc>
            </a:pPr>
            <a:r>
              <a:rPr sz="1050" b="1" i="0" dirty="0">
                <a:solidFill>
                  <a:srgbClr val="375623"/>
                </a:solidFill>
                <a:latin typeface="맑은 고딕"/>
                <a:ea typeface="맑은 고딕"/>
              </a:rPr>
              <a:t>→ </a:t>
            </a:r>
            <a:r>
              <a:rPr lang="ko-KR" altLang="en-US" sz="1050" b="1" i="0" dirty="0">
                <a:solidFill>
                  <a:srgbClr val="375623"/>
                </a:solidFill>
                <a:latin typeface="맑은 고딕"/>
                <a:ea typeface="맑은 고딕"/>
              </a:rPr>
              <a:t>노드 간의 </a:t>
            </a:r>
            <a:r>
              <a:rPr lang="ko-KR" altLang="en-US" sz="1050" b="1" dirty="0">
                <a:solidFill>
                  <a:srgbClr val="375623"/>
                </a:solidFill>
                <a:latin typeface="맑은 고딕"/>
                <a:ea typeface="맑은 고딕"/>
              </a:rPr>
              <a:t>데이터 </a:t>
            </a:r>
            <a:r>
              <a:rPr lang="en-US" altLang="ko-KR" sz="1050" b="1" dirty="0">
                <a:solidFill>
                  <a:srgbClr val="375623"/>
                </a:solidFill>
                <a:latin typeface="맑은 고딕"/>
                <a:ea typeface="맑은 고딕"/>
              </a:rPr>
              <a:t>Coherency</a:t>
            </a:r>
            <a:r>
              <a:rPr lang="ko-KR" altLang="en-US" sz="1050" b="1" dirty="0">
                <a:solidFill>
                  <a:srgbClr val="375623"/>
                </a:solidFill>
                <a:latin typeface="맑은 고딕"/>
                <a:ea typeface="맑은 고딕"/>
              </a:rPr>
              <a:t>를 보장하는 것이 관건 </a:t>
            </a:r>
            <a:endParaRPr lang="en-US" altLang="ko-KR" sz="1050" b="1" dirty="0">
              <a:solidFill>
                <a:srgbClr val="375623"/>
              </a:solidFill>
              <a:latin typeface="맑은 고딕"/>
              <a:ea typeface="맑은 고딕"/>
            </a:endParaRPr>
          </a:p>
        </p:txBody>
      </p:sp>
      <p:sp>
        <p:nvSpPr>
          <p:cNvPr id="45" name="오른쪽 화살표 39">
            <a:extLst>
              <a:ext uri="{FF2B5EF4-FFF2-40B4-BE49-F238E27FC236}">
                <a16:creationId xmlns:a16="http://schemas.microsoft.com/office/drawing/2014/main" id="{87343808-114B-4A10-BC0D-76458824B921}"/>
              </a:ext>
            </a:extLst>
          </p:cNvPr>
          <p:cNvSpPr/>
          <p:nvPr/>
        </p:nvSpPr>
        <p:spPr>
          <a:xfrm>
            <a:off x="312674" y="5567735"/>
            <a:ext cx="281686"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Rounded Rectangle 9088">
            <a:extLst>
              <a:ext uri="{FF2B5EF4-FFF2-40B4-BE49-F238E27FC236}">
                <a16:creationId xmlns:a16="http://schemas.microsoft.com/office/drawing/2014/main" id="{9D717CA0-C399-4F31-9058-41DFAFCF10CE}"/>
              </a:ext>
            </a:extLst>
          </p:cNvPr>
          <p:cNvSpPr/>
          <p:nvPr/>
        </p:nvSpPr>
        <p:spPr>
          <a:xfrm>
            <a:off x="7003667" y="5004097"/>
            <a:ext cx="3383280" cy="452882"/>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sz="1050" b="1" i="0" dirty="0">
                <a:solidFill>
                  <a:srgbClr val="000000"/>
                </a:solidFill>
                <a:latin typeface="맑은 고딕"/>
                <a:ea typeface="맑은 고딕"/>
              </a:rPr>
              <a:t>DP</a:t>
            </a:r>
            <a:r>
              <a:rPr lang="en-US" sz="1050" b="1" i="0" dirty="0">
                <a:solidFill>
                  <a:srgbClr val="000000"/>
                </a:solidFill>
                <a:latin typeface="맑은 고딕"/>
                <a:ea typeface="맑은 고딕"/>
              </a:rPr>
              <a:t>1</a:t>
            </a:r>
            <a:r>
              <a:rPr sz="1050" b="1" i="0" dirty="0">
                <a:solidFill>
                  <a:srgbClr val="000000"/>
                </a:solidFill>
                <a:latin typeface="맑은 고딕"/>
                <a:ea typeface="맑은 고딕"/>
              </a:rPr>
              <a:t>  </a:t>
            </a:r>
            <a:r>
              <a:rPr lang="ko-KR" altLang="en-US" sz="1050" b="1" dirty="0">
                <a:solidFill>
                  <a:srgbClr val="000000"/>
                </a:solidFill>
                <a:latin typeface="맑은 고딕"/>
                <a:ea typeface="맑은 고딕"/>
              </a:rPr>
              <a:t>데이터 이동 </a:t>
            </a:r>
            <a:r>
              <a:rPr lang="ko-KR" altLang="en-US" sz="1050" b="1" i="0" dirty="0">
                <a:solidFill>
                  <a:srgbClr val="000000"/>
                </a:solidFill>
                <a:latin typeface="맑은 고딕"/>
                <a:ea typeface="맑은 고딕"/>
              </a:rPr>
              <a:t>결정</a:t>
            </a:r>
            <a:endParaRPr sz="1050" b="1" i="0" dirty="0">
              <a:solidFill>
                <a:srgbClr val="000000"/>
              </a:solidFill>
              <a:latin typeface="맑은 고딕"/>
              <a:ea typeface="맑은 고딕"/>
            </a:endParaRPr>
          </a:p>
          <a:p>
            <a:pPr algn="ctr">
              <a:lnSpc>
                <a:spcPct val="150000"/>
              </a:lnSpc>
            </a:pPr>
            <a:r>
              <a:rPr lang="en-US" altLang="ko-KR" sz="900" dirty="0">
                <a:solidFill>
                  <a:srgbClr val="000000"/>
                </a:solidFill>
                <a:latin typeface="맑은 고딕"/>
                <a:ea typeface="맑은 고딕"/>
              </a:rPr>
              <a:t>Ref</a:t>
            </a:r>
            <a:r>
              <a:rPr lang="ko-KR" altLang="en-US" sz="900" dirty="0">
                <a:solidFill>
                  <a:srgbClr val="000000"/>
                </a:solidFill>
                <a:latin typeface="맑은 고딕"/>
                <a:ea typeface="맑은 고딕"/>
              </a:rPr>
              <a:t> </a:t>
            </a:r>
            <a:r>
              <a:rPr lang="en-US" altLang="ko-KR" sz="900" dirty="0">
                <a:solidFill>
                  <a:srgbClr val="000000"/>
                </a:solidFill>
                <a:latin typeface="맑은 고딕"/>
                <a:ea typeface="맑은 고딕"/>
              </a:rPr>
              <a:t>count</a:t>
            </a:r>
            <a:r>
              <a:rPr lang="ko-KR" altLang="en-US" sz="900" dirty="0">
                <a:solidFill>
                  <a:srgbClr val="000000"/>
                </a:solidFill>
                <a:latin typeface="맑은 고딕"/>
                <a:ea typeface="맑은 고딕"/>
              </a:rPr>
              <a:t>가 많은 </a:t>
            </a:r>
            <a:r>
              <a:rPr lang="en-US" altLang="ko-KR" sz="900" b="0" i="0" dirty="0">
                <a:solidFill>
                  <a:srgbClr val="000000"/>
                </a:solidFill>
                <a:latin typeface="맑은 고딕"/>
                <a:ea typeface="맑은 고딕"/>
              </a:rPr>
              <a:t>KV </a:t>
            </a:r>
            <a:r>
              <a:rPr lang="ko-KR" altLang="en-US" sz="900" b="0" i="0" dirty="0">
                <a:solidFill>
                  <a:srgbClr val="000000"/>
                </a:solidFill>
                <a:latin typeface="맑은 고딕"/>
                <a:ea typeface="맑은 고딕"/>
              </a:rPr>
              <a:t>캐시는 </a:t>
            </a:r>
            <a:r>
              <a:rPr lang="ko-KR" altLang="en-US" sz="900" dirty="0">
                <a:solidFill>
                  <a:srgbClr val="000000"/>
                </a:solidFill>
                <a:latin typeface="맑은 고딕"/>
                <a:ea typeface="맑은 고딕"/>
              </a:rPr>
              <a:t>공유 메모리 풀 지향</a:t>
            </a:r>
            <a:endParaRPr sz="900" b="0" i="0" dirty="0">
              <a:solidFill>
                <a:srgbClr val="000000"/>
              </a:solidFill>
              <a:latin typeface="맑은 고딕"/>
              <a:ea typeface="맑은 고딕"/>
            </a:endParaRPr>
          </a:p>
        </p:txBody>
      </p:sp>
      <p:cxnSp>
        <p:nvCxnSpPr>
          <p:cNvPr id="47" name="Connector 9068">
            <a:extLst>
              <a:ext uri="{FF2B5EF4-FFF2-40B4-BE49-F238E27FC236}">
                <a16:creationId xmlns:a16="http://schemas.microsoft.com/office/drawing/2014/main" id="{FE92569E-C6A0-454B-8FFF-0FAEA7EB357C}"/>
              </a:ext>
            </a:extLst>
          </p:cNvPr>
          <p:cNvCxnSpPr/>
          <p:nvPr/>
        </p:nvCxnSpPr>
        <p:spPr>
          <a:xfrm>
            <a:off x="4944323" y="5233924"/>
            <a:ext cx="199855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26C8D6DB-B1C0-44DA-81D0-63B1608EB366}"/>
              </a:ext>
            </a:extLst>
          </p:cNvPr>
          <p:cNvSpPr txBox="1"/>
          <p:nvPr/>
        </p:nvSpPr>
        <p:spPr>
          <a:xfrm>
            <a:off x="5114764" y="4968473"/>
            <a:ext cx="1657670" cy="161583"/>
          </a:xfrm>
          <a:prstGeom prst="rect">
            <a:avLst/>
          </a:prstGeom>
          <a:noFill/>
        </p:spPr>
        <p:txBody>
          <a:bodyPr wrap="square" lIns="0" tIns="0" rIns="0" bIns="0" anchor="t">
            <a:spAutoFit/>
          </a:bodyPr>
          <a:lstStyle/>
          <a:p>
            <a:pPr algn="l"/>
            <a:r>
              <a:rPr lang="en-US" sz="1050" b="1" dirty="0">
                <a:solidFill>
                  <a:srgbClr val="C00000"/>
                </a:solidFill>
                <a:latin typeface="맑은 고딕"/>
                <a:ea typeface="맑은 고딕"/>
              </a:rPr>
              <a:t>DP1</a:t>
            </a:r>
            <a:r>
              <a:rPr lang="ko-KR" altLang="en-US" sz="1050" b="1" dirty="0">
                <a:solidFill>
                  <a:srgbClr val="C00000"/>
                </a:solidFill>
                <a:latin typeface="맑은 고딕"/>
                <a:ea typeface="맑은 고딕"/>
              </a:rPr>
              <a:t> 데이터 이동 범위 확장</a:t>
            </a:r>
            <a:endParaRPr sz="1050" b="1" i="0" dirty="0">
              <a:solidFill>
                <a:srgbClr val="C00000"/>
              </a:solidFill>
              <a:latin typeface="맑은 고딕"/>
              <a:ea typeface="맑은 고딕"/>
            </a:endParaRPr>
          </a:p>
        </p:txBody>
      </p:sp>
    </p:spTree>
    <p:extLst>
      <p:ext uri="{BB962C8B-B14F-4D97-AF65-F5344CB8AC3E}">
        <p14:creationId xmlns:p14="http://schemas.microsoft.com/office/powerpoint/2010/main" val="22927282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배경 </a:t>
            </a:r>
            <a:endParaRPr lang="en-US" altLang="ko-KR"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79" name="Text 22"/>
          <p:cNvSpPr/>
          <p:nvPr/>
        </p:nvSpPr>
        <p:spPr>
          <a:xfrm>
            <a:off x="359582" y="634765"/>
            <a:ext cx="11687638" cy="875444"/>
          </a:xfrm>
          <a:prstGeom prst="rect">
            <a:avLst/>
          </a:prstGeom>
          <a:noFill/>
          <a:ln/>
        </p:spPr>
        <p:txBody>
          <a:bodyPr wrap="square" lIns="0" tIns="0" rIns="0" bIns="0" rtlCol="0" anchor="t"/>
          <a:lstStyle/>
          <a:p>
            <a:pPr marL="285750" indent="-285750">
              <a:lnSpc>
                <a:spcPct val="150000"/>
              </a:lnSpc>
              <a:buFontTx/>
              <a:buChar char="-"/>
            </a:pPr>
            <a:r>
              <a:rPr lang="ko-KR" altLang="en-US" sz="1200" dirty="0">
                <a:latin typeface="맑은 고딕" panose="020B0503020000020004" pitchFamily="50" charset="-127"/>
              </a:rPr>
              <a:t>이기종 메모리 </a:t>
            </a:r>
            <a:r>
              <a:rPr lang="en-US" altLang="ko-KR" sz="1200" dirty="0">
                <a:latin typeface="맑은 고딕" panose="020B0503020000020004" pitchFamily="50" charset="-127"/>
              </a:rPr>
              <a:t>tier</a:t>
            </a:r>
            <a:r>
              <a:rPr lang="ko-KR" altLang="en-US" sz="1200" dirty="0">
                <a:latin typeface="맑은 고딕" panose="020B0503020000020004" pitchFamily="50" charset="-127"/>
              </a:rPr>
              <a:t>에 데이터를 분산 배치하더라도 </a:t>
            </a:r>
            <a:r>
              <a:rPr lang="en-US" altLang="ko-KR" sz="1200" dirty="0">
                <a:solidFill>
                  <a:srgbClr val="FF0000"/>
                </a:solidFill>
                <a:latin typeface="맑은 고딕" panose="020B0503020000020004" pitchFamily="50" charset="-127"/>
              </a:rPr>
              <a:t>KV </a:t>
            </a:r>
            <a:r>
              <a:rPr lang="ko-KR" altLang="en-US" sz="1200" dirty="0">
                <a:solidFill>
                  <a:srgbClr val="FF0000"/>
                </a:solidFill>
                <a:latin typeface="맑은 고딕" panose="020B0503020000020004" pitchFamily="50" charset="-127"/>
              </a:rPr>
              <a:t>캐시는 여전히 </a:t>
            </a:r>
            <a:r>
              <a:rPr lang="en-US" altLang="ko-KR" sz="1200" dirty="0">
                <a:solidFill>
                  <a:srgbClr val="FF0000"/>
                </a:solidFill>
                <a:latin typeface="맑은 고딕" panose="020B0503020000020004" pitchFamily="50" charset="-127"/>
              </a:rPr>
              <a:t>AI </a:t>
            </a:r>
            <a:r>
              <a:rPr lang="ko-KR" altLang="en-US" sz="1200" dirty="0">
                <a:solidFill>
                  <a:srgbClr val="FF0000"/>
                </a:solidFill>
                <a:latin typeface="맑은 고딕" panose="020B0503020000020004" pitchFamily="50" charset="-127"/>
              </a:rPr>
              <a:t>추론 시스템의 주요 병목</a:t>
            </a:r>
            <a:r>
              <a:rPr lang="ko-KR" altLang="en-US" sz="1200" dirty="0">
                <a:latin typeface="맑은 고딕" panose="020B0503020000020004" pitchFamily="50" charset="-127"/>
              </a:rPr>
              <a:t>으로 작용</a:t>
            </a:r>
            <a:endParaRPr lang="en-US" altLang="ko-KR" sz="1200" dirty="0">
              <a:latin typeface="맑은 고딕" panose="020B0503020000020004" pitchFamily="50" charset="-127"/>
            </a:endParaRPr>
          </a:p>
          <a:p>
            <a:pPr marL="285750" indent="-285750">
              <a:lnSpc>
                <a:spcPct val="150000"/>
              </a:lnSpc>
              <a:buFontTx/>
              <a:buChar char="-"/>
            </a:pPr>
            <a:r>
              <a:rPr lang="ko-KR" altLang="en-US" sz="1200" dirty="0">
                <a:latin typeface="맑은 고딕" panose="020B0503020000020004" pitchFamily="50" charset="-127"/>
              </a:rPr>
              <a:t>동일 </a:t>
            </a:r>
            <a:r>
              <a:rPr lang="en-US" altLang="ko-KR" sz="1200" dirty="0">
                <a:latin typeface="맑은 고딕" panose="020B0503020000020004" pitchFamily="50" charset="-127"/>
              </a:rPr>
              <a:t>Context</a:t>
            </a:r>
            <a:r>
              <a:rPr lang="ko-KR" altLang="en-US" sz="1200" dirty="0">
                <a:latin typeface="맑은 고딕" panose="020B0503020000020004" pitchFamily="50" charset="-127"/>
              </a:rPr>
              <a:t>의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재사용으로 </a:t>
            </a:r>
            <a:r>
              <a:rPr lang="en-US" altLang="ko-KR" sz="1200" dirty="0">
                <a:latin typeface="맑은 고딕" panose="020B0503020000020004" pitchFamily="50" charset="-127"/>
              </a:rPr>
              <a:t>Prefill </a:t>
            </a:r>
            <a:r>
              <a:rPr lang="ko-KR" altLang="en-US" sz="1200" dirty="0">
                <a:latin typeface="맑은 고딕" panose="020B0503020000020004" pitchFamily="50" charset="-127"/>
              </a:rPr>
              <a:t>연산을 생략할 수 있으나 </a:t>
            </a:r>
            <a:r>
              <a:rPr lang="en-US" altLang="ko-KR" sz="1200" dirty="0">
                <a:latin typeface="맑은 고딕" panose="020B0503020000020004" pitchFamily="50" charset="-127"/>
              </a:rPr>
              <a:t>Prefix </a:t>
            </a:r>
            <a:r>
              <a:rPr lang="ko-KR" altLang="en-US" sz="1200" dirty="0">
                <a:latin typeface="맑은 고딕" panose="020B0503020000020004" pitchFamily="50" charset="-127"/>
              </a:rPr>
              <a:t>일치 조건으로 인해 </a:t>
            </a:r>
            <a:r>
              <a:rPr lang="ko-KR" altLang="en-US" sz="1200" dirty="0" err="1">
                <a:latin typeface="맑은 고딕" panose="020B0503020000020004" pitchFamily="50" charset="-127"/>
              </a:rPr>
              <a:t>재사용률이</a:t>
            </a:r>
            <a:r>
              <a:rPr lang="ko-KR" altLang="en-US" sz="1200" dirty="0">
                <a:latin typeface="맑은 고딕" panose="020B0503020000020004" pitchFamily="50" charset="-127"/>
              </a:rPr>
              <a:t> 제한적</a:t>
            </a:r>
            <a:endParaRPr lang="en-US" altLang="ko-KR" sz="1200" dirty="0">
              <a:latin typeface="맑은 고딕" panose="020B0503020000020004" pitchFamily="50" charset="-127"/>
            </a:endParaRPr>
          </a:p>
          <a:p>
            <a:pPr marL="285750" indent="-285750">
              <a:lnSpc>
                <a:spcPct val="150000"/>
              </a:lnSpc>
              <a:buFontTx/>
              <a:buChar char="-"/>
            </a:pPr>
            <a:r>
              <a:rPr lang="ko-KR" altLang="en-US" sz="1200" dirty="0">
                <a:latin typeface="맑은 고딕" panose="020B0503020000020004" pitchFamily="50" charset="-127"/>
              </a:rPr>
              <a:t>토큰 순서에 유연하게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a:t>
            </a:r>
            <a:r>
              <a:rPr lang="ko-KR" altLang="en-US" sz="1200" dirty="0" err="1">
                <a:latin typeface="맑은 고딕" panose="020B0503020000020004" pitchFamily="50" charset="-127"/>
              </a:rPr>
              <a:t>재사용률은</a:t>
            </a:r>
            <a:r>
              <a:rPr lang="ko-KR" altLang="en-US" sz="1200" dirty="0">
                <a:latin typeface="맑은 고딕" panose="020B0503020000020004" pitchFamily="50" charset="-127"/>
              </a:rPr>
              <a:t> 높이되</a:t>
            </a:r>
            <a:r>
              <a:rPr lang="en-US" altLang="ko-KR" sz="1200" dirty="0">
                <a:latin typeface="맑은 고딕" panose="020B0503020000020004" pitchFamily="50" charset="-127"/>
              </a:rPr>
              <a:t>, </a:t>
            </a:r>
            <a:r>
              <a:rPr lang="ko-KR" altLang="en-US" sz="1200" dirty="0">
                <a:latin typeface="맑은 고딕" panose="020B0503020000020004" pitchFamily="50" charset="-127"/>
              </a:rPr>
              <a:t>필요한 부분만 선택적으로 재계산하여 정확도를 보장하는 구조 필요 </a:t>
            </a:r>
            <a:endParaRPr lang="en-US" altLang="ko-KR" sz="1200" dirty="0">
              <a:latin typeface="맑은 고딕" panose="020B0503020000020004" pitchFamily="50" charset="-127"/>
            </a:endParaRPr>
          </a:p>
        </p:txBody>
      </p:sp>
      <p:sp>
        <p:nvSpPr>
          <p:cNvPr id="9062" name="Rectangle 9061"/>
          <p:cNvSpPr/>
          <p:nvPr/>
        </p:nvSpPr>
        <p:spPr>
          <a:xfrm>
            <a:off x="426284" y="2058869"/>
            <a:ext cx="5440680" cy="3299712"/>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9064" name="Rectangle 9063"/>
          <p:cNvSpPr/>
          <p:nvPr/>
        </p:nvSpPr>
        <p:spPr>
          <a:xfrm>
            <a:off x="6355080" y="2058869"/>
            <a:ext cx="5440680" cy="3299712"/>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9065" name="Rounded Rectangle 9064"/>
          <p:cNvSpPr/>
          <p:nvPr/>
        </p:nvSpPr>
        <p:spPr>
          <a:xfrm>
            <a:off x="6687803" y="2179684"/>
            <a:ext cx="4697755"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1000" b="1" i="0" dirty="0">
                <a:solidFill>
                  <a:srgbClr val="FFFFFF"/>
                </a:solidFill>
                <a:latin typeface="맑은 고딕"/>
                <a:ea typeface="맑은 고딕"/>
              </a:rPr>
              <a:t>재사용 </a:t>
            </a:r>
            <a:r>
              <a:rPr lang="en-US" altLang="ko-KR" sz="1000" b="1" dirty="0">
                <a:solidFill>
                  <a:srgbClr val="FFFFFF"/>
                </a:solidFill>
                <a:latin typeface="맑은 고딕"/>
                <a:ea typeface="맑은 고딕"/>
              </a:rPr>
              <a:t>+ </a:t>
            </a:r>
            <a:r>
              <a:rPr lang="ko-KR" altLang="en-US" sz="1000" b="1" dirty="0">
                <a:solidFill>
                  <a:srgbClr val="FFFFFF"/>
                </a:solidFill>
                <a:latin typeface="맑은 고딕"/>
                <a:ea typeface="맑은 고딕"/>
              </a:rPr>
              <a:t>선택적 재계산 </a:t>
            </a:r>
            <a:r>
              <a:rPr lang="en-US" altLang="ko-KR" sz="1000" b="1" i="0" dirty="0">
                <a:solidFill>
                  <a:srgbClr val="FFFFFF"/>
                </a:solidFill>
                <a:latin typeface="맑은 고딕"/>
                <a:ea typeface="맑은 고딕"/>
              </a:rPr>
              <a:t>(Blending)</a:t>
            </a:r>
            <a:endParaRPr sz="1000" b="1" i="0" dirty="0">
              <a:solidFill>
                <a:srgbClr val="FFFFFF"/>
              </a:solidFill>
              <a:latin typeface="맑은 고딕"/>
              <a:ea typeface="맑은 고딕"/>
            </a:endParaRPr>
          </a:p>
        </p:txBody>
      </p:sp>
      <p:sp>
        <p:nvSpPr>
          <p:cNvPr id="9066" name="Right Arrow 9065"/>
          <p:cNvSpPr/>
          <p:nvPr/>
        </p:nvSpPr>
        <p:spPr>
          <a:xfrm>
            <a:off x="5943600" y="3465082"/>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141" name="TextBox 9140"/>
          <p:cNvSpPr txBox="1"/>
          <p:nvPr/>
        </p:nvSpPr>
        <p:spPr>
          <a:xfrm>
            <a:off x="438495" y="5713197"/>
            <a:ext cx="5486400" cy="184666"/>
          </a:xfrm>
          <a:prstGeom prst="rect">
            <a:avLst/>
          </a:prstGeom>
          <a:noFill/>
        </p:spPr>
        <p:txBody>
          <a:bodyPr wrap="square" lIns="0" tIns="0" rIns="0" bIns="0" anchor="t">
            <a:spAutoFit/>
          </a:bodyPr>
          <a:lstStyle/>
          <a:p>
            <a:pPr algn="l"/>
            <a:r>
              <a:rPr sz="1200" b="1" i="0" dirty="0">
                <a:solidFill>
                  <a:srgbClr val="404040"/>
                </a:solidFill>
                <a:latin typeface="맑은 고딕"/>
                <a:ea typeface="맑은 고딕"/>
              </a:rPr>
              <a:t>KV </a:t>
            </a:r>
            <a:r>
              <a:rPr sz="1200" b="1" i="0" dirty="0" err="1">
                <a:solidFill>
                  <a:srgbClr val="404040"/>
                </a:solidFill>
                <a:latin typeface="맑은 고딕"/>
                <a:ea typeface="맑은 고딕"/>
              </a:rPr>
              <a:t>수명주기</a:t>
            </a:r>
            <a:endParaRPr sz="1200" b="1" i="0" dirty="0">
              <a:solidFill>
                <a:srgbClr val="404040"/>
              </a:solidFill>
              <a:latin typeface="맑은 고딕"/>
              <a:ea typeface="맑은 고딕"/>
            </a:endParaRPr>
          </a:p>
        </p:txBody>
      </p:sp>
      <p:sp>
        <p:nvSpPr>
          <p:cNvPr id="9142" name="Rounded Rectangle 9141"/>
          <p:cNvSpPr/>
          <p:nvPr/>
        </p:nvSpPr>
        <p:spPr>
          <a:xfrm>
            <a:off x="438495" y="5985131"/>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생</a:t>
            </a:r>
            <a:r>
              <a:rPr lang="ko-KR" altLang="en-US" sz="1200" b="1" i="0" dirty="0">
                <a:solidFill>
                  <a:srgbClr val="000000"/>
                </a:solidFill>
                <a:latin typeface="맑은 고딕"/>
                <a:ea typeface="맑은 고딕"/>
              </a:rPr>
              <a:t>성</a:t>
            </a:r>
            <a:endParaRPr sz="1200" b="1" i="0" dirty="0">
              <a:solidFill>
                <a:srgbClr val="000000"/>
              </a:solidFill>
              <a:latin typeface="맑은 고딕"/>
              <a:ea typeface="맑은 고딕"/>
            </a:endParaRPr>
          </a:p>
        </p:txBody>
      </p:sp>
      <p:cxnSp>
        <p:nvCxnSpPr>
          <p:cNvPr id="9143" name="Connector 9142"/>
          <p:cNvCxnSpPr/>
          <p:nvPr/>
        </p:nvCxnSpPr>
        <p:spPr>
          <a:xfrm>
            <a:off x="2450175" y="6219398"/>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4" name="Rounded Rectangle 9143"/>
          <p:cNvSpPr/>
          <p:nvPr/>
        </p:nvSpPr>
        <p:spPr>
          <a:xfrm>
            <a:off x="2724495" y="5985131"/>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a:t>
            </a:r>
            <a:r>
              <a:rPr sz="1200" b="1" i="0" dirty="0" err="1">
                <a:solidFill>
                  <a:srgbClr val="000000"/>
                </a:solidFill>
                <a:latin typeface="맑은 고딕"/>
                <a:ea typeface="맑은 고딕"/>
              </a:rPr>
              <a:t>배치·이동</a:t>
            </a:r>
            <a:r>
              <a:rPr lang="en-US" sz="1200" b="1" i="0" dirty="0">
                <a:solidFill>
                  <a:srgbClr val="000000"/>
                </a:solidFill>
                <a:latin typeface="맑은 고딕"/>
                <a:ea typeface="맑은 고딕"/>
              </a:rPr>
              <a:t> </a:t>
            </a:r>
            <a:endParaRPr sz="1200" b="1" i="0" dirty="0">
              <a:solidFill>
                <a:srgbClr val="000000"/>
              </a:solidFill>
              <a:latin typeface="맑은 고딕"/>
              <a:ea typeface="맑은 고딕"/>
            </a:endParaRPr>
          </a:p>
          <a:p>
            <a:pPr algn="ctr">
              <a:lnSpc>
                <a:spcPct val="150000"/>
              </a:lnSpc>
            </a:pPr>
            <a:r>
              <a:rPr sz="1050" b="0" i="0" dirty="0" err="1">
                <a:solidFill>
                  <a:srgbClr val="000000"/>
                </a:solidFill>
                <a:latin typeface="맑은 고딕"/>
                <a:ea typeface="맑은 고딕"/>
              </a:rPr>
              <a:t>어느</a:t>
            </a:r>
            <a:r>
              <a:rPr sz="1050" b="0" i="0" dirty="0">
                <a:solidFill>
                  <a:srgbClr val="000000"/>
                </a:solidFill>
                <a:latin typeface="맑은 고딕"/>
                <a:ea typeface="맑은 고딕"/>
              </a:rPr>
              <a:t> </a:t>
            </a:r>
            <a:r>
              <a:rPr sz="1050" b="0" i="0" dirty="0" err="1">
                <a:solidFill>
                  <a:srgbClr val="000000"/>
                </a:solidFill>
                <a:latin typeface="맑은 고딕"/>
                <a:ea typeface="맑은 고딕"/>
              </a:rPr>
              <a:t>tier에</a:t>
            </a:r>
            <a:r>
              <a:rPr sz="1050" b="0" i="0" dirty="0">
                <a:solidFill>
                  <a:srgbClr val="000000"/>
                </a:solidFill>
                <a:latin typeface="맑은 고딕"/>
                <a:ea typeface="맑은 고딕"/>
              </a:rPr>
              <a:t> </a:t>
            </a:r>
            <a:r>
              <a:rPr sz="1050" b="0" i="0" dirty="0" err="1">
                <a:solidFill>
                  <a:srgbClr val="000000"/>
                </a:solidFill>
                <a:latin typeface="맑은 고딕"/>
                <a:ea typeface="맑은 고딕"/>
              </a:rPr>
              <a:t>둘지</a:t>
            </a:r>
            <a:r>
              <a:rPr lang="en-US" sz="1050" b="0" i="0" dirty="0">
                <a:solidFill>
                  <a:srgbClr val="000000"/>
                </a:solidFill>
                <a:latin typeface="맑은 고딕"/>
                <a:ea typeface="맑은 고딕"/>
              </a:rPr>
              <a:t>(</a:t>
            </a:r>
            <a:r>
              <a:rPr sz="1050" b="0" i="0" dirty="0">
                <a:solidFill>
                  <a:srgbClr val="000000"/>
                </a:solidFill>
                <a:latin typeface="맑은 고딕"/>
                <a:ea typeface="맑은 고딕"/>
              </a:rPr>
              <a:t>DP1</a:t>
            </a:r>
            <a:r>
              <a:rPr lang="en-US" sz="1050" b="0" i="0" dirty="0">
                <a:solidFill>
                  <a:srgbClr val="000000"/>
                </a:solidFill>
                <a:latin typeface="맑은 고딕"/>
                <a:ea typeface="맑은 고딕"/>
              </a:rPr>
              <a:t>)</a:t>
            </a:r>
            <a:endParaRPr sz="1050" b="0" i="0" dirty="0">
              <a:solidFill>
                <a:srgbClr val="000000"/>
              </a:solidFill>
              <a:latin typeface="맑은 고딕"/>
              <a:ea typeface="맑은 고딕"/>
            </a:endParaRPr>
          </a:p>
        </p:txBody>
      </p:sp>
      <p:cxnSp>
        <p:nvCxnSpPr>
          <p:cNvPr id="9145" name="Connector 9144"/>
          <p:cNvCxnSpPr/>
          <p:nvPr/>
        </p:nvCxnSpPr>
        <p:spPr>
          <a:xfrm>
            <a:off x="4736175" y="6219398"/>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6" name="Rounded Rectangle 9145"/>
          <p:cNvSpPr/>
          <p:nvPr/>
        </p:nvSpPr>
        <p:spPr>
          <a:xfrm>
            <a:off x="5010495" y="5985131"/>
            <a:ext cx="2011680" cy="468535"/>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a:t>
            </a:r>
            <a:r>
              <a:rPr sz="1200" b="1" i="0" dirty="0" err="1">
                <a:solidFill>
                  <a:srgbClr val="000000"/>
                </a:solidFill>
                <a:latin typeface="맑은 고딕"/>
                <a:ea typeface="맑은 고딕"/>
              </a:rPr>
              <a:t>재사용</a:t>
            </a:r>
            <a:r>
              <a:rPr lang="en-US" sz="1200" b="1" dirty="0">
                <a:solidFill>
                  <a:srgbClr val="000000"/>
                </a:solidFill>
                <a:latin typeface="맑은 고딕"/>
                <a:ea typeface="맑은 고딕"/>
              </a:rPr>
              <a:t> </a:t>
            </a:r>
          </a:p>
          <a:p>
            <a:pPr algn="ctr"/>
            <a:r>
              <a:rPr lang="ko-KR" altLang="en-US" sz="1050" dirty="0" err="1">
                <a:solidFill>
                  <a:srgbClr val="000000"/>
                </a:solidFill>
                <a:latin typeface="맑은 고딕"/>
                <a:ea typeface="맑은 고딕"/>
              </a:rPr>
              <a:t>재사용</a:t>
            </a:r>
            <a:r>
              <a:rPr lang="ko-KR" altLang="en-US" sz="1050" dirty="0" err="1">
                <a:solidFill>
                  <a:srgbClr val="000000"/>
                </a:solidFill>
                <a:latin typeface="맑은 고딕" panose="020B0503020000020004" pitchFamily="50" charset="-127"/>
                <a:ea typeface="맑은 고딕" panose="020B0503020000020004" pitchFamily="50" charset="-127"/>
              </a:rPr>
              <a:t>∙</a:t>
            </a:r>
            <a:r>
              <a:rPr lang="ko-KR" altLang="en-US" sz="1050" dirty="0" err="1">
                <a:solidFill>
                  <a:srgbClr val="000000"/>
                </a:solidFill>
                <a:latin typeface="맑은 고딕"/>
                <a:ea typeface="맑은 고딕"/>
              </a:rPr>
              <a:t>재계산</a:t>
            </a:r>
            <a:r>
              <a:rPr lang="ko-KR" altLang="en-US" sz="1050" dirty="0">
                <a:solidFill>
                  <a:srgbClr val="000000"/>
                </a:solidFill>
                <a:latin typeface="맑은 고딕"/>
                <a:ea typeface="맑은 고딕"/>
              </a:rPr>
              <a:t> 토큰 선정</a:t>
            </a:r>
            <a:r>
              <a:rPr lang="en-US" sz="1050" dirty="0">
                <a:solidFill>
                  <a:srgbClr val="000000"/>
                </a:solidFill>
                <a:latin typeface="맑은 고딕"/>
                <a:ea typeface="맑은 고딕"/>
              </a:rPr>
              <a:t>(DP3)</a:t>
            </a:r>
            <a:endParaRPr lang="en-US" sz="1050" i="0" dirty="0">
              <a:solidFill>
                <a:srgbClr val="000000"/>
              </a:solidFill>
              <a:latin typeface="맑은 고딕"/>
              <a:ea typeface="맑은 고딕"/>
            </a:endParaRPr>
          </a:p>
        </p:txBody>
      </p:sp>
      <p:cxnSp>
        <p:nvCxnSpPr>
          <p:cNvPr id="9147" name="Connector 9146"/>
          <p:cNvCxnSpPr/>
          <p:nvPr/>
        </p:nvCxnSpPr>
        <p:spPr>
          <a:xfrm>
            <a:off x="7022175" y="6219398"/>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8" name="Rounded Rectangle 9147"/>
          <p:cNvSpPr/>
          <p:nvPr/>
        </p:nvSpPr>
        <p:spPr>
          <a:xfrm>
            <a:off x="7296495" y="5985131"/>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1200" b="1" i="0" u="none" strike="noStrike" kern="1200" cap="none" spc="0" normalizeH="0" baseline="0" noProof="0" dirty="0">
                <a:ln>
                  <a:noFill/>
                </a:ln>
                <a:solidFill>
                  <a:srgbClr val="000000"/>
                </a:solidFill>
                <a:effectLst/>
                <a:uLnTx/>
                <a:uFillTx/>
                <a:latin typeface="맑은 고딕"/>
                <a:ea typeface="맑은 고딕"/>
                <a:cs typeface="+mn-cs"/>
              </a:rPr>
              <a:t>선택 재계산</a:t>
            </a: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050" b="0" i="0" u="none" strike="noStrike" kern="1200" cap="none" spc="0" normalizeH="0" baseline="0" noProof="0" dirty="0">
                <a:ln>
                  <a:noFill/>
                </a:ln>
                <a:solidFill>
                  <a:srgbClr val="000000"/>
                </a:solidFill>
                <a:effectLst/>
                <a:uLnTx/>
                <a:uFillTx/>
                <a:latin typeface="맑은 고딕"/>
                <a:ea typeface="맑은 고딕"/>
                <a:cs typeface="+mn-cs"/>
              </a:rPr>
              <a:t>실행 자원</a:t>
            </a:r>
            <a:r>
              <a:rPr kumimoji="0" lang="en-US" altLang="ko-KR" sz="1050" b="0" i="0" u="none" strike="noStrike" kern="1200" cap="none" spc="0" normalizeH="0" baseline="0" noProof="0" dirty="0">
                <a:ln>
                  <a:noFill/>
                </a:ln>
                <a:solidFill>
                  <a:srgbClr val="000000"/>
                </a:solidFill>
                <a:effectLst/>
                <a:uLnTx/>
                <a:uFillTx/>
                <a:latin typeface="맑은 고딕"/>
                <a:ea typeface="맑은 고딕"/>
                <a:cs typeface="+mn-cs"/>
              </a:rPr>
              <a:t>(DP2)</a:t>
            </a:r>
            <a:endParaRPr kumimoji="0" lang="ko-KR" altLang="en-US" sz="1050" b="0" i="0" u="none" strike="noStrike" kern="1200" cap="none" spc="0" normalizeH="0" baseline="0" noProof="0" dirty="0">
              <a:ln>
                <a:noFill/>
              </a:ln>
              <a:solidFill>
                <a:srgbClr val="000000"/>
              </a:solidFill>
              <a:effectLst/>
              <a:uLnTx/>
              <a:uFillTx/>
              <a:latin typeface="맑은 고딕"/>
              <a:ea typeface="맑은 고딕"/>
              <a:cs typeface="+mn-cs"/>
            </a:endParaRPr>
          </a:p>
        </p:txBody>
      </p:sp>
      <p:cxnSp>
        <p:nvCxnSpPr>
          <p:cNvPr id="9149" name="Connector 9148"/>
          <p:cNvCxnSpPr/>
          <p:nvPr/>
        </p:nvCxnSpPr>
        <p:spPr>
          <a:xfrm>
            <a:off x="9308175" y="6219398"/>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50" name="Rounded Rectangle 9149"/>
          <p:cNvSpPr/>
          <p:nvPr/>
        </p:nvSpPr>
        <p:spPr>
          <a:xfrm>
            <a:off x="9582495" y="5985131"/>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rgbClr val="000000"/>
                </a:solidFill>
                <a:latin typeface="맑은 고딕"/>
                <a:ea typeface="맑은 고딕"/>
              </a:rPr>
              <a:t>Decode</a:t>
            </a:r>
            <a:endParaRPr kumimoji="0" lang="ko-KR" altLang="en-US" sz="120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lang="ko-KR" altLang="en-US" sz="1050" dirty="0">
                <a:solidFill>
                  <a:srgbClr val="000000"/>
                </a:solidFill>
                <a:latin typeface="맑은 고딕"/>
                <a:ea typeface="맑은 고딕"/>
              </a:rPr>
              <a:t>응답 생성</a:t>
            </a:r>
            <a:r>
              <a:rPr kumimoji="0" lang="en-US" altLang="ko-KR" sz="1050" b="0" i="0" u="none" strike="noStrike" kern="1200" cap="none" spc="0" normalizeH="0" baseline="0" noProof="0" dirty="0">
                <a:ln>
                  <a:noFill/>
                </a:ln>
                <a:solidFill>
                  <a:srgbClr val="000000"/>
                </a:solidFill>
                <a:effectLst/>
                <a:uLnTx/>
                <a:uFillTx/>
                <a:latin typeface="맑은 고딕"/>
                <a:ea typeface="맑은 고딕"/>
                <a:cs typeface="+mn-cs"/>
              </a:rPr>
              <a:t>(DP2)</a:t>
            </a:r>
            <a:endParaRPr sz="1050" b="0" i="0" dirty="0">
              <a:solidFill>
                <a:srgbClr val="000000"/>
              </a:solidFill>
              <a:latin typeface="맑은 고딕"/>
              <a:ea typeface="맑은 고딕"/>
            </a:endParaRPr>
          </a:p>
        </p:txBody>
      </p:sp>
      <p:sp>
        <p:nvSpPr>
          <p:cNvPr id="115" name="Rounded Rectangle 9062">
            <a:extLst>
              <a:ext uri="{FF2B5EF4-FFF2-40B4-BE49-F238E27FC236}">
                <a16:creationId xmlns:a16="http://schemas.microsoft.com/office/drawing/2014/main" id="{FBAE990F-EF7A-4373-A5F3-21B8C9AEE532}"/>
              </a:ext>
            </a:extLst>
          </p:cNvPr>
          <p:cNvSpPr/>
          <p:nvPr/>
        </p:nvSpPr>
        <p:spPr>
          <a:xfrm>
            <a:off x="516509" y="3611329"/>
            <a:ext cx="329654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en-US" altLang="ko-KR" sz="1000" b="1" dirty="0">
                <a:solidFill>
                  <a:srgbClr val="FFFFFF"/>
                </a:solidFill>
                <a:latin typeface="맑은 고딕"/>
                <a:ea typeface="맑은 고딕"/>
              </a:rPr>
              <a:t>Prefix Caching</a:t>
            </a:r>
            <a:r>
              <a:rPr lang="ko-KR" altLang="en-US" sz="1000" b="1" dirty="0">
                <a:solidFill>
                  <a:srgbClr val="FFFFFF"/>
                </a:solidFill>
                <a:latin typeface="맑은 고딕"/>
                <a:ea typeface="맑은 고딕"/>
              </a:rPr>
              <a:t>의 한계</a:t>
            </a:r>
            <a:endParaRPr sz="1000" b="1" i="0" dirty="0">
              <a:solidFill>
                <a:srgbClr val="FFFFFF"/>
              </a:solidFill>
              <a:latin typeface="맑은 고딕"/>
              <a:ea typeface="맑은 고딕"/>
            </a:endParaRPr>
          </a:p>
        </p:txBody>
      </p:sp>
      <p:sp>
        <p:nvSpPr>
          <p:cNvPr id="281" name="Rounded Rectangle 9062">
            <a:extLst>
              <a:ext uri="{FF2B5EF4-FFF2-40B4-BE49-F238E27FC236}">
                <a16:creationId xmlns:a16="http://schemas.microsoft.com/office/drawing/2014/main" id="{3E8E2949-89FA-4CB2-B603-7A088EB3594E}"/>
              </a:ext>
            </a:extLst>
          </p:cNvPr>
          <p:cNvSpPr/>
          <p:nvPr/>
        </p:nvSpPr>
        <p:spPr>
          <a:xfrm>
            <a:off x="516509" y="2182269"/>
            <a:ext cx="320863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1000" b="1" dirty="0">
                <a:solidFill>
                  <a:srgbClr val="FFFFFF"/>
                </a:solidFill>
                <a:latin typeface="맑은 고딕"/>
                <a:ea typeface="맑은 고딕"/>
              </a:rPr>
              <a:t>기존 </a:t>
            </a:r>
            <a:r>
              <a:rPr lang="en-US" altLang="ko-KR" sz="1000" b="1" dirty="0">
                <a:solidFill>
                  <a:srgbClr val="FFFFFF"/>
                </a:solidFill>
                <a:latin typeface="맑은 고딕"/>
                <a:ea typeface="맑은 고딕"/>
              </a:rPr>
              <a:t>KV</a:t>
            </a:r>
            <a:r>
              <a:rPr lang="ko-KR" altLang="en-US" sz="1000" b="1" dirty="0">
                <a:solidFill>
                  <a:srgbClr val="FFFFFF"/>
                </a:solidFill>
                <a:latin typeface="맑은 고딕"/>
                <a:ea typeface="맑은 고딕"/>
              </a:rPr>
              <a:t> 캐시의 </a:t>
            </a:r>
            <a:r>
              <a:rPr lang="ko-KR" altLang="en-US" sz="1000" b="1" i="0" dirty="0">
                <a:solidFill>
                  <a:srgbClr val="FFFFFF"/>
                </a:solidFill>
                <a:latin typeface="맑은 고딕"/>
                <a:ea typeface="맑은 고딕"/>
              </a:rPr>
              <a:t>재사용 조건 </a:t>
            </a:r>
            <a:r>
              <a:rPr lang="en-US" altLang="ko-KR" sz="1000" b="1" i="0" dirty="0">
                <a:solidFill>
                  <a:srgbClr val="FFFFFF"/>
                </a:solidFill>
                <a:latin typeface="맑은 고딕"/>
                <a:ea typeface="맑은 고딕"/>
              </a:rPr>
              <a:t>(</a:t>
            </a:r>
            <a:r>
              <a:rPr lang="en-US" altLang="ko-KR" sz="1000" b="1" dirty="0">
                <a:solidFill>
                  <a:srgbClr val="FFFFFF"/>
                </a:solidFill>
                <a:latin typeface="맑은 고딕"/>
                <a:ea typeface="맑은 고딕"/>
              </a:rPr>
              <a:t>Prefix</a:t>
            </a:r>
            <a:r>
              <a:rPr lang="ko-KR" altLang="en-US" sz="1000" b="1" dirty="0">
                <a:solidFill>
                  <a:srgbClr val="FFFFFF"/>
                </a:solidFill>
                <a:latin typeface="맑은 고딕"/>
                <a:ea typeface="맑은 고딕"/>
              </a:rPr>
              <a:t> </a:t>
            </a:r>
            <a:r>
              <a:rPr lang="en-US" altLang="ko-KR" sz="1000" b="1" dirty="0">
                <a:solidFill>
                  <a:srgbClr val="FFFFFF"/>
                </a:solidFill>
                <a:latin typeface="맑은 고딕"/>
                <a:ea typeface="맑은 고딕"/>
              </a:rPr>
              <a:t>Caching)</a:t>
            </a:r>
            <a:endParaRPr sz="1000" b="1" i="0" dirty="0">
              <a:solidFill>
                <a:srgbClr val="FFFFFF"/>
              </a:solidFill>
              <a:latin typeface="맑은 고딕"/>
              <a:ea typeface="맑은 고딕"/>
            </a:endParaRPr>
          </a:p>
        </p:txBody>
      </p:sp>
      <p:sp>
        <p:nvSpPr>
          <p:cNvPr id="378" name="TextBox 377">
            <a:extLst>
              <a:ext uri="{FF2B5EF4-FFF2-40B4-BE49-F238E27FC236}">
                <a16:creationId xmlns:a16="http://schemas.microsoft.com/office/drawing/2014/main" id="{B2210258-316D-4D12-BD47-91AF827A84F2}"/>
              </a:ext>
            </a:extLst>
          </p:cNvPr>
          <p:cNvSpPr txBox="1"/>
          <p:nvPr/>
        </p:nvSpPr>
        <p:spPr>
          <a:xfrm>
            <a:off x="1188720" y="2457241"/>
            <a:ext cx="512036" cy="138499"/>
          </a:xfrm>
          <a:prstGeom prst="rect">
            <a:avLst/>
          </a:prstGeom>
          <a:noFill/>
        </p:spPr>
        <p:txBody>
          <a:bodyPr wrap="square" lIns="0" tIns="0" rIns="0" bIns="0" anchor="t">
            <a:spAutoFit/>
          </a:bodyPr>
          <a:lstStyle/>
          <a:p>
            <a:pPr algn="ctr"/>
            <a:r>
              <a:rPr sz="900" b="1" dirty="0">
                <a:solidFill>
                  <a:srgbClr val="404040"/>
                </a:solidFill>
                <a:latin typeface="맑은 고딕"/>
                <a:ea typeface="맑은 고딕"/>
              </a:rPr>
              <a:t>Prefix</a:t>
            </a:r>
          </a:p>
        </p:txBody>
      </p:sp>
      <p:sp>
        <p:nvSpPr>
          <p:cNvPr id="381" name="TextBox 380">
            <a:extLst>
              <a:ext uri="{FF2B5EF4-FFF2-40B4-BE49-F238E27FC236}">
                <a16:creationId xmlns:a16="http://schemas.microsoft.com/office/drawing/2014/main" id="{BF88575E-B8A6-46B0-938E-826761BC282D}"/>
              </a:ext>
            </a:extLst>
          </p:cNvPr>
          <p:cNvSpPr txBox="1"/>
          <p:nvPr/>
        </p:nvSpPr>
        <p:spPr>
          <a:xfrm>
            <a:off x="548640" y="2667241"/>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382" name="Rectangle 9154">
            <a:extLst>
              <a:ext uri="{FF2B5EF4-FFF2-40B4-BE49-F238E27FC236}">
                <a16:creationId xmlns:a16="http://schemas.microsoft.com/office/drawing/2014/main" id="{2A1DC431-3504-42B7-A7CE-F4E1B36D9915}"/>
              </a:ext>
            </a:extLst>
          </p:cNvPr>
          <p:cNvSpPr/>
          <p:nvPr/>
        </p:nvSpPr>
        <p:spPr>
          <a:xfrm>
            <a:off x="1183957" y="260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83" name="Rectangle 9155">
            <a:extLst>
              <a:ext uri="{FF2B5EF4-FFF2-40B4-BE49-F238E27FC236}">
                <a16:creationId xmlns:a16="http://schemas.microsoft.com/office/drawing/2014/main" id="{B2C5B9CF-5D7C-41BC-B78A-030B131F2A21}"/>
              </a:ext>
            </a:extLst>
          </p:cNvPr>
          <p:cNvSpPr/>
          <p:nvPr/>
        </p:nvSpPr>
        <p:spPr>
          <a:xfrm>
            <a:off x="1319479" y="260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84" name="Rectangle 9156">
            <a:extLst>
              <a:ext uri="{FF2B5EF4-FFF2-40B4-BE49-F238E27FC236}">
                <a16:creationId xmlns:a16="http://schemas.microsoft.com/office/drawing/2014/main" id="{86E56E00-5970-4B3D-8183-6DCA16D7A440}"/>
              </a:ext>
            </a:extLst>
          </p:cNvPr>
          <p:cNvSpPr/>
          <p:nvPr/>
        </p:nvSpPr>
        <p:spPr>
          <a:xfrm>
            <a:off x="1457858" y="260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85" name="Rectangle 9157">
            <a:extLst>
              <a:ext uri="{FF2B5EF4-FFF2-40B4-BE49-F238E27FC236}">
                <a16:creationId xmlns:a16="http://schemas.microsoft.com/office/drawing/2014/main" id="{AB36267F-B312-464F-814B-A457BE54CCC6}"/>
              </a:ext>
            </a:extLst>
          </p:cNvPr>
          <p:cNvSpPr/>
          <p:nvPr/>
        </p:nvSpPr>
        <p:spPr>
          <a:xfrm>
            <a:off x="1596237" y="260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402" name="TextBox 401">
            <a:extLst>
              <a:ext uri="{FF2B5EF4-FFF2-40B4-BE49-F238E27FC236}">
                <a16:creationId xmlns:a16="http://schemas.microsoft.com/office/drawing/2014/main" id="{6E1A37FF-F12A-4422-90DB-AC0610142CE2}"/>
              </a:ext>
            </a:extLst>
          </p:cNvPr>
          <p:cNvSpPr txBox="1"/>
          <p:nvPr/>
        </p:nvSpPr>
        <p:spPr>
          <a:xfrm>
            <a:off x="3695842" y="2667241"/>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403" name="TextBox 402">
            <a:extLst>
              <a:ext uri="{FF2B5EF4-FFF2-40B4-BE49-F238E27FC236}">
                <a16:creationId xmlns:a16="http://schemas.microsoft.com/office/drawing/2014/main" id="{FF013E8E-7F9B-4A58-A4A5-098B378B6CAB}"/>
              </a:ext>
            </a:extLst>
          </p:cNvPr>
          <p:cNvSpPr txBox="1"/>
          <p:nvPr/>
        </p:nvSpPr>
        <p:spPr>
          <a:xfrm>
            <a:off x="548640" y="2977241"/>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404" name="Rectangle 9176">
            <a:extLst>
              <a:ext uri="{FF2B5EF4-FFF2-40B4-BE49-F238E27FC236}">
                <a16:creationId xmlns:a16="http://schemas.microsoft.com/office/drawing/2014/main" id="{982ACB3F-A75A-4AEE-8257-22D5DFC9FD78}"/>
              </a:ext>
            </a:extLst>
          </p:cNvPr>
          <p:cNvSpPr/>
          <p:nvPr/>
        </p:nvSpPr>
        <p:spPr>
          <a:xfrm>
            <a:off x="1183957" y="2917241"/>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1</a:t>
            </a:r>
            <a:endParaRPr sz="1000" dirty="0"/>
          </a:p>
        </p:txBody>
      </p:sp>
      <p:sp>
        <p:nvSpPr>
          <p:cNvPr id="405" name="Rectangle 9177">
            <a:extLst>
              <a:ext uri="{FF2B5EF4-FFF2-40B4-BE49-F238E27FC236}">
                <a16:creationId xmlns:a16="http://schemas.microsoft.com/office/drawing/2014/main" id="{EC1E33C6-72BC-4C3F-884E-072A7D5337FA}"/>
              </a:ext>
            </a:extLst>
          </p:cNvPr>
          <p:cNvSpPr/>
          <p:nvPr/>
        </p:nvSpPr>
        <p:spPr>
          <a:xfrm>
            <a:off x="1319479" y="2917241"/>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2</a:t>
            </a:r>
            <a:endParaRPr sz="1000" dirty="0"/>
          </a:p>
        </p:txBody>
      </p:sp>
      <p:sp>
        <p:nvSpPr>
          <p:cNvPr id="406" name="Rectangle 9178">
            <a:extLst>
              <a:ext uri="{FF2B5EF4-FFF2-40B4-BE49-F238E27FC236}">
                <a16:creationId xmlns:a16="http://schemas.microsoft.com/office/drawing/2014/main" id="{2EC5DC78-8873-48FC-A1FE-693AA95827E7}"/>
              </a:ext>
            </a:extLst>
          </p:cNvPr>
          <p:cNvSpPr/>
          <p:nvPr/>
        </p:nvSpPr>
        <p:spPr>
          <a:xfrm>
            <a:off x="1457858" y="2917241"/>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3</a:t>
            </a:r>
            <a:endParaRPr sz="1000" dirty="0"/>
          </a:p>
        </p:txBody>
      </p:sp>
      <p:sp>
        <p:nvSpPr>
          <p:cNvPr id="407" name="Rectangle 9179">
            <a:extLst>
              <a:ext uri="{FF2B5EF4-FFF2-40B4-BE49-F238E27FC236}">
                <a16:creationId xmlns:a16="http://schemas.microsoft.com/office/drawing/2014/main" id="{87B264D5-4AEA-405D-8FB0-AA127D79A0EE}"/>
              </a:ext>
            </a:extLst>
          </p:cNvPr>
          <p:cNvSpPr/>
          <p:nvPr/>
        </p:nvSpPr>
        <p:spPr>
          <a:xfrm>
            <a:off x="1596237" y="2917241"/>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4</a:t>
            </a:r>
            <a:endParaRPr sz="1000" dirty="0"/>
          </a:p>
        </p:txBody>
      </p:sp>
      <p:sp>
        <p:nvSpPr>
          <p:cNvPr id="408" name="Rectangle 9180">
            <a:extLst>
              <a:ext uri="{FF2B5EF4-FFF2-40B4-BE49-F238E27FC236}">
                <a16:creationId xmlns:a16="http://schemas.microsoft.com/office/drawing/2014/main" id="{748053FE-795D-49F4-AEBF-7E9318D0FDDD}"/>
              </a:ext>
            </a:extLst>
          </p:cNvPr>
          <p:cNvSpPr/>
          <p:nvPr/>
        </p:nvSpPr>
        <p:spPr>
          <a:xfrm>
            <a:off x="1831756"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Rectangle 9181">
            <a:extLst>
              <a:ext uri="{FF2B5EF4-FFF2-40B4-BE49-F238E27FC236}">
                <a16:creationId xmlns:a16="http://schemas.microsoft.com/office/drawing/2014/main" id="{1891CCCD-39BD-42E3-859D-91E1AC53D9AB}"/>
              </a:ext>
            </a:extLst>
          </p:cNvPr>
          <p:cNvSpPr/>
          <p:nvPr/>
        </p:nvSpPr>
        <p:spPr>
          <a:xfrm>
            <a:off x="1962515"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Rectangle 9182">
            <a:extLst>
              <a:ext uri="{FF2B5EF4-FFF2-40B4-BE49-F238E27FC236}">
                <a16:creationId xmlns:a16="http://schemas.microsoft.com/office/drawing/2014/main" id="{80B039DF-97EF-4B2B-AB48-69BCFE1EACB6}"/>
              </a:ext>
            </a:extLst>
          </p:cNvPr>
          <p:cNvSpPr/>
          <p:nvPr/>
        </p:nvSpPr>
        <p:spPr>
          <a:xfrm>
            <a:off x="2093274"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Rectangle 9183">
            <a:extLst>
              <a:ext uri="{FF2B5EF4-FFF2-40B4-BE49-F238E27FC236}">
                <a16:creationId xmlns:a16="http://schemas.microsoft.com/office/drawing/2014/main" id="{C160D577-CADF-4F61-9E22-D14DDF4C12E3}"/>
              </a:ext>
            </a:extLst>
          </p:cNvPr>
          <p:cNvSpPr/>
          <p:nvPr/>
        </p:nvSpPr>
        <p:spPr>
          <a:xfrm>
            <a:off x="2224033"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Rectangle 9184">
            <a:extLst>
              <a:ext uri="{FF2B5EF4-FFF2-40B4-BE49-F238E27FC236}">
                <a16:creationId xmlns:a16="http://schemas.microsoft.com/office/drawing/2014/main" id="{48725D1F-FCDE-42C6-9656-24C16B8B5262}"/>
              </a:ext>
            </a:extLst>
          </p:cNvPr>
          <p:cNvSpPr/>
          <p:nvPr/>
        </p:nvSpPr>
        <p:spPr>
          <a:xfrm>
            <a:off x="2354792"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Rectangle 9185">
            <a:extLst>
              <a:ext uri="{FF2B5EF4-FFF2-40B4-BE49-F238E27FC236}">
                <a16:creationId xmlns:a16="http://schemas.microsoft.com/office/drawing/2014/main" id="{5A5815D2-7912-49E4-8839-DBC4A6D0E467}"/>
              </a:ext>
            </a:extLst>
          </p:cNvPr>
          <p:cNvSpPr/>
          <p:nvPr/>
        </p:nvSpPr>
        <p:spPr>
          <a:xfrm>
            <a:off x="2485551"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Rectangle 9186">
            <a:extLst>
              <a:ext uri="{FF2B5EF4-FFF2-40B4-BE49-F238E27FC236}">
                <a16:creationId xmlns:a16="http://schemas.microsoft.com/office/drawing/2014/main" id="{F0E69FFC-771F-4B39-8638-CC0E31024E45}"/>
              </a:ext>
            </a:extLst>
          </p:cNvPr>
          <p:cNvSpPr/>
          <p:nvPr/>
        </p:nvSpPr>
        <p:spPr>
          <a:xfrm>
            <a:off x="2616310"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Rectangle 9187">
            <a:extLst>
              <a:ext uri="{FF2B5EF4-FFF2-40B4-BE49-F238E27FC236}">
                <a16:creationId xmlns:a16="http://schemas.microsoft.com/office/drawing/2014/main" id="{DCBF4EEF-77A0-4F08-92C8-7A03A252F1CB}"/>
              </a:ext>
            </a:extLst>
          </p:cNvPr>
          <p:cNvSpPr/>
          <p:nvPr/>
        </p:nvSpPr>
        <p:spPr>
          <a:xfrm>
            <a:off x="2747069"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Rectangle 9188">
            <a:extLst>
              <a:ext uri="{FF2B5EF4-FFF2-40B4-BE49-F238E27FC236}">
                <a16:creationId xmlns:a16="http://schemas.microsoft.com/office/drawing/2014/main" id="{A03BD33B-594B-4014-AD18-55057EDEDBC7}"/>
              </a:ext>
            </a:extLst>
          </p:cNvPr>
          <p:cNvSpPr/>
          <p:nvPr/>
        </p:nvSpPr>
        <p:spPr>
          <a:xfrm>
            <a:off x="2877828"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Rectangle 9189">
            <a:extLst>
              <a:ext uri="{FF2B5EF4-FFF2-40B4-BE49-F238E27FC236}">
                <a16:creationId xmlns:a16="http://schemas.microsoft.com/office/drawing/2014/main" id="{5701E5E9-6614-41FD-AB4B-D5AF40CD7F49}"/>
              </a:ext>
            </a:extLst>
          </p:cNvPr>
          <p:cNvSpPr/>
          <p:nvPr/>
        </p:nvSpPr>
        <p:spPr>
          <a:xfrm>
            <a:off x="3008587"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Rectangle 9190">
            <a:extLst>
              <a:ext uri="{FF2B5EF4-FFF2-40B4-BE49-F238E27FC236}">
                <a16:creationId xmlns:a16="http://schemas.microsoft.com/office/drawing/2014/main" id="{F37EBE04-A1F8-4128-8AAF-FC83C0AE937F}"/>
              </a:ext>
            </a:extLst>
          </p:cNvPr>
          <p:cNvSpPr/>
          <p:nvPr/>
        </p:nvSpPr>
        <p:spPr>
          <a:xfrm>
            <a:off x="3139346"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Rectangle 9191">
            <a:extLst>
              <a:ext uri="{FF2B5EF4-FFF2-40B4-BE49-F238E27FC236}">
                <a16:creationId xmlns:a16="http://schemas.microsoft.com/office/drawing/2014/main" id="{05194FE4-E8EE-4E98-9E41-E44A82EADC99}"/>
              </a:ext>
            </a:extLst>
          </p:cNvPr>
          <p:cNvSpPr/>
          <p:nvPr/>
        </p:nvSpPr>
        <p:spPr>
          <a:xfrm>
            <a:off x="3270105" y="2917241"/>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25" name="Connector 9197">
            <a:extLst>
              <a:ext uri="{FF2B5EF4-FFF2-40B4-BE49-F238E27FC236}">
                <a16:creationId xmlns:a16="http://schemas.microsoft.com/office/drawing/2014/main" id="{3B93274C-06A5-4EA2-9CBF-C3EC13EA8E3A}"/>
              </a:ext>
            </a:extLst>
          </p:cNvPr>
          <p:cNvCxnSpPr/>
          <p:nvPr/>
        </p:nvCxnSpPr>
        <p:spPr>
          <a:xfrm>
            <a:off x="1188720" y="3222241"/>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26" name="Connector 9198">
            <a:extLst>
              <a:ext uri="{FF2B5EF4-FFF2-40B4-BE49-F238E27FC236}">
                <a16:creationId xmlns:a16="http://schemas.microsoft.com/office/drawing/2014/main" id="{5BCB623F-DB8B-4180-A42D-BCA6D9B1BEC6}"/>
              </a:ext>
            </a:extLst>
          </p:cNvPr>
          <p:cNvCxnSpPr/>
          <p:nvPr/>
        </p:nvCxnSpPr>
        <p:spPr>
          <a:xfrm>
            <a:off x="1188720" y="3177241"/>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27" name="Connector 9199">
            <a:extLst>
              <a:ext uri="{FF2B5EF4-FFF2-40B4-BE49-F238E27FC236}">
                <a16:creationId xmlns:a16="http://schemas.microsoft.com/office/drawing/2014/main" id="{5CCFC2C7-A9CA-4397-910C-BAD436F0F0CF}"/>
              </a:ext>
            </a:extLst>
          </p:cNvPr>
          <p:cNvCxnSpPr/>
          <p:nvPr/>
        </p:nvCxnSpPr>
        <p:spPr>
          <a:xfrm>
            <a:off x="3389864" y="3177241"/>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428" name="TextBox 427">
            <a:extLst>
              <a:ext uri="{FF2B5EF4-FFF2-40B4-BE49-F238E27FC236}">
                <a16:creationId xmlns:a16="http://schemas.microsoft.com/office/drawing/2014/main" id="{DDF82F91-B0D7-4D3C-94E3-FDFD8CF8F51D}"/>
              </a:ext>
            </a:extLst>
          </p:cNvPr>
          <p:cNvSpPr txBox="1"/>
          <p:nvPr/>
        </p:nvSpPr>
        <p:spPr>
          <a:xfrm>
            <a:off x="1188720" y="3247241"/>
            <a:ext cx="2201144" cy="138499"/>
          </a:xfrm>
          <a:prstGeom prst="rect">
            <a:avLst/>
          </a:prstGeom>
          <a:noFill/>
        </p:spPr>
        <p:txBody>
          <a:bodyPr wrap="square" lIns="0" tIns="0" rIns="0" bIns="0" anchor="t">
            <a:spAutoFit/>
          </a:bodyPr>
          <a:lstStyle/>
          <a:p>
            <a:pPr algn="ctr"/>
            <a:r>
              <a:rPr sz="900" b="0" dirty="0" err="1">
                <a:solidFill>
                  <a:schemeClr val="bg1">
                    <a:lumMod val="50000"/>
                  </a:schemeClr>
                </a:solidFill>
                <a:latin typeface="맑은 고딕"/>
                <a:ea typeface="맑은 고딕"/>
              </a:rPr>
              <a:t>동일</a:t>
            </a:r>
            <a:r>
              <a:rPr sz="900" b="0" dirty="0">
                <a:solidFill>
                  <a:schemeClr val="bg1">
                    <a:lumMod val="50000"/>
                  </a:schemeClr>
                </a:solidFill>
                <a:latin typeface="맑은 고딕"/>
                <a:ea typeface="맑은 고딕"/>
              </a:rPr>
              <a:t> Prefix → KV </a:t>
            </a:r>
            <a:r>
              <a:rPr sz="900" b="0" dirty="0" err="1">
                <a:solidFill>
                  <a:schemeClr val="bg1">
                    <a:lumMod val="50000"/>
                  </a:schemeClr>
                </a:solidFill>
                <a:latin typeface="맑은 고딕"/>
                <a:ea typeface="맑은 고딕"/>
              </a:rPr>
              <a:t>재사용</a:t>
            </a:r>
            <a:endParaRPr sz="900" b="0" dirty="0">
              <a:solidFill>
                <a:schemeClr val="bg1">
                  <a:lumMod val="50000"/>
                </a:schemeClr>
              </a:solidFill>
              <a:latin typeface="맑은 고딕"/>
              <a:ea typeface="맑은 고딕"/>
            </a:endParaRPr>
          </a:p>
        </p:txBody>
      </p:sp>
      <p:sp>
        <p:nvSpPr>
          <p:cNvPr id="150" name="Rectangle 9157">
            <a:extLst>
              <a:ext uri="{FF2B5EF4-FFF2-40B4-BE49-F238E27FC236}">
                <a16:creationId xmlns:a16="http://schemas.microsoft.com/office/drawing/2014/main" id="{B9961ECE-CBF8-448C-AA4F-5D5CADB61EA3}"/>
              </a:ext>
            </a:extLst>
          </p:cNvPr>
          <p:cNvSpPr/>
          <p:nvPr/>
        </p:nvSpPr>
        <p:spPr>
          <a:xfrm>
            <a:off x="1975856" y="2607241"/>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155" name="Rectangle 9157">
            <a:extLst>
              <a:ext uri="{FF2B5EF4-FFF2-40B4-BE49-F238E27FC236}">
                <a16:creationId xmlns:a16="http://schemas.microsoft.com/office/drawing/2014/main" id="{B8888685-0181-47AC-98C4-FEC5EC6DAEB4}"/>
              </a:ext>
            </a:extLst>
          </p:cNvPr>
          <p:cNvSpPr/>
          <p:nvPr/>
        </p:nvSpPr>
        <p:spPr>
          <a:xfrm>
            <a:off x="2089357" y="2607241"/>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158" name="Rectangle 9157">
            <a:extLst>
              <a:ext uri="{FF2B5EF4-FFF2-40B4-BE49-F238E27FC236}">
                <a16:creationId xmlns:a16="http://schemas.microsoft.com/office/drawing/2014/main" id="{C4DF174C-689F-42F2-AA7C-B801ABF7FE9B}"/>
              </a:ext>
            </a:extLst>
          </p:cNvPr>
          <p:cNvSpPr/>
          <p:nvPr/>
        </p:nvSpPr>
        <p:spPr>
          <a:xfrm>
            <a:off x="2207588" y="2607241"/>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179" name="Rectangle 9157">
            <a:extLst>
              <a:ext uri="{FF2B5EF4-FFF2-40B4-BE49-F238E27FC236}">
                <a16:creationId xmlns:a16="http://schemas.microsoft.com/office/drawing/2014/main" id="{0A0E89C6-FD76-4A7C-8C2A-4B0648A672F1}"/>
              </a:ext>
            </a:extLst>
          </p:cNvPr>
          <p:cNvSpPr/>
          <p:nvPr/>
        </p:nvSpPr>
        <p:spPr>
          <a:xfrm>
            <a:off x="2329540" y="2607241"/>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180" name="TextBox 179">
            <a:extLst>
              <a:ext uri="{FF2B5EF4-FFF2-40B4-BE49-F238E27FC236}">
                <a16:creationId xmlns:a16="http://schemas.microsoft.com/office/drawing/2014/main" id="{2F666957-1F81-462F-B0DE-40E133AAB838}"/>
              </a:ext>
            </a:extLst>
          </p:cNvPr>
          <p:cNvSpPr txBox="1"/>
          <p:nvPr/>
        </p:nvSpPr>
        <p:spPr>
          <a:xfrm>
            <a:off x="1950254" y="2457241"/>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476" name="TextBox 475">
            <a:extLst>
              <a:ext uri="{FF2B5EF4-FFF2-40B4-BE49-F238E27FC236}">
                <a16:creationId xmlns:a16="http://schemas.microsoft.com/office/drawing/2014/main" id="{9A5243BE-86E0-4EF5-AFCF-9508E17E7CCD}"/>
              </a:ext>
            </a:extLst>
          </p:cNvPr>
          <p:cNvSpPr txBox="1"/>
          <p:nvPr/>
        </p:nvSpPr>
        <p:spPr>
          <a:xfrm>
            <a:off x="3770845" y="2609082"/>
            <a:ext cx="1650000" cy="553998"/>
          </a:xfrm>
          <a:prstGeom prst="rect">
            <a:avLst/>
          </a:prstGeom>
          <a:noFill/>
        </p:spPr>
        <p:txBody>
          <a:bodyPr wrap="square" lIns="0" tIns="0" rIns="0" bIns="0" anchor="t">
            <a:spAutoFit/>
          </a:bodyPr>
          <a:lstStyle/>
          <a:p>
            <a:r>
              <a:rPr sz="900" b="0" dirty="0">
                <a:solidFill>
                  <a:schemeClr val="accent5">
                    <a:lumMod val="75000"/>
                  </a:schemeClr>
                </a:solidFill>
                <a:latin typeface="맑은 고딕"/>
                <a:ea typeface="맑은 고딕"/>
              </a:rPr>
              <a:t>■</a:t>
            </a:r>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chemeClr val="bg1">
                    <a:lumMod val="50000"/>
                  </a:schemeClr>
                </a:solidFill>
                <a:latin typeface="맑은 고딕"/>
                <a:ea typeface="맑은 고딕"/>
              </a:rPr>
              <a:t>연산</a:t>
            </a:r>
            <a:endParaRPr sz="900" b="0" dirty="0">
              <a:solidFill>
                <a:schemeClr val="bg1">
                  <a:lumMod val="50000"/>
                </a:schemeClr>
              </a:solidFill>
              <a:latin typeface="맑은 고딕"/>
              <a:ea typeface="맑은 고딕"/>
            </a:endParaRPr>
          </a:p>
        </p:txBody>
      </p:sp>
      <p:sp>
        <p:nvSpPr>
          <p:cNvPr id="147" name="TextBox 146">
            <a:extLst>
              <a:ext uri="{FF2B5EF4-FFF2-40B4-BE49-F238E27FC236}">
                <a16:creationId xmlns:a16="http://schemas.microsoft.com/office/drawing/2014/main" id="{50477528-2230-4973-81CC-997D1A4AEF3F}"/>
              </a:ext>
            </a:extLst>
          </p:cNvPr>
          <p:cNvSpPr txBox="1"/>
          <p:nvPr/>
        </p:nvSpPr>
        <p:spPr>
          <a:xfrm>
            <a:off x="8550261" y="2669101"/>
            <a:ext cx="2476023" cy="662746"/>
          </a:xfrm>
          <a:prstGeom prst="rect">
            <a:avLst/>
          </a:prstGeom>
          <a:noFill/>
        </p:spPr>
        <p:txBody>
          <a:bodyPr wrap="square" lIns="0" tIns="0" rIns="0" bIns="0" anchor="ctr">
            <a:spAutoFit/>
          </a:bodyPr>
          <a:lstStyle/>
          <a:p>
            <a:pPr algn="l">
              <a:lnSpc>
                <a:spcPct val="150000"/>
              </a:lnSpc>
            </a:pPr>
            <a:r>
              <a:rPr lang="en-US" sz="1000" i="0" dirty="0">
                <a:solidFill>
                  <a:srgbClr val="0000FF"/>
                </a:solidFill>
                <a:latin typeface="맑은 고딕"/>
                <a:ea typeface="맑은 고딕"/>
              </a:rPr>
              <a:t>KV </a:t>
            </a:r>
            <a:r>
              <a:rPr lang="ko-KR" altLang="en-US" sz="1000" i="0" dirty="0">
                <a:solidFill>
                  <a:srgbClr val="0000FF"/>
                </a:solidFill>
                <a:latin typeface="맑은 고딕"/>
                <a:ea typeface="맑은 고딕"/>
              </a:rPr>
              <a:t>캐시를 여러 </a:t>
            </a:r>
            <a:r>
              <a:rPr lang="en-US" altLang="ko-KR" sz="1000" i="0" dirty="0">
                <a:solidFill>
                  <a:srgbClr val="0000FF"/>
                </a:solidFill>
                <a:latin typeface="맑은 고딕"/>
                <a:ea typeface="맑은 고딕"/>
              </a:rPr>
              <a:t>tier</a:t>
            </a:r>
            <a:r>
              <a:rPr lang="ko-KR" altLang="en-US" sz="1000" i="0" dirty="0">
                <a:solidFill>
                  <a:srgbClr val="0000FF"/>
                </a:solidFill>
                <a:latin typeface="맑은 고딕"/>
                <a:ea typeface="맑은 고딕"/>
              </a:rPr>
              <a:t>에 저장</a:t>
            </a:r>
            <a:endParaRPr lang="en-US" altLang="ko-KR" sz="1000" i="0" dirty="0">
              <a:solidFill>
                <a:srgbClr val="0000FF"/>
              </a:solidFill>
              <a:latin typeface="맑은 고딕"/>
              <a:ea typeface="맑은 고딕"/>
            </a:endParaRPr>
          </a:p>
          <a:p>
            <a:pPr algn="l">
              <a:lnSpc>
                <a:spcPct val="150000"/>
              </a:lnSpc>
            </a:pPr>
            <a:r>
              <a:rPr lang="en-US" sz="1000" dirty="0">
                <a:solidFill>
                  <a:srgbClr val="0000FF"/>
                </a:solidFill>
                <a:latin typeface="맑은 고딕"/>
                <a:ea typeface="맑은 고딕"/>
                <a:sym typeface="Wingdings" panose="05000000000000000000" pitchFamily="2" charset="2"/>
              </a:rPr>
              <a:t></a:t>
            </a:r>
            <a:r>
              <a:rPr lang="ko-KR" altLang="en-US" sz="1000" dirty="0">
                <a:solidFill>
                  <a:srgbClr val="0000FF"/>
                </a:solidFill>
                <a:latin typeface="맑은 고딕"/>
                <a:ea typeface="맑은 고딕"/>
                <a:sym typeface="Wingdings" panose="05000000000000000000" pitchFamily="2" charset="2"/>
              </a:rPr>
              <a:t> </a:t>
            </a:r>
            <a:r>
              <a:rPr lang="ko-KR" altLang="en-US" sz="1000" dirty="0" err="1">
                <a:solidFill>
                  <a:srgbClr val="0000FF"/>
                </a:solidFill>
                <a:latin typeface="맑은 고딕"/>
                <a:ea typeface="맑은 고딕"/>
                <a:sym typeface="Wingdings" panose="05000000000000000000" pitchFamily="2" charset="2"/>
              </a:rPr>
              <a:t>재연산</a:t>
            </a:r>
            <a:r>
              <a:rPr lang="ko-KR" altLang="en-US" sz="1000" dirty="0">
                <a:solidFill>
                  <a:srgbClr val="0000FF"/>
                </a:solidFill>
                <a:latin typeface="맑은 고딕"/>
                <a:ea typeface="맑은 고딕"/>
                <a:sym typeface="Wingdings" panose="05000000000000000000" pitchFamily="2" charset="2"/>
              </a:rPr>
              <a:t> 없이 해당 </a:t>
            </a:r>
            <a:r>
              <a:rPr lang="en-US" altLang="ko-KR" sz="1000" dirty="0">
                <a:solidFill>
                  <a:srgbClr val="0000FF"/>
                </a:solidFill>
                <a:latin typeface="맑은 고딕"/>
                <a:ea typeface="맑은 고딕"/>
                <a:sym typeface="Wingdings" panose="05000000000000000000" pitchFamily="2" charset="2"/>
              </a:rPr>
              <a:t>KV</a:t>
            </a:r>
            <a:r>
              <a:rPr lang="ko-KR" altLang="en-US" sz="1000" dirty="0">
                <a:solidFill>
                  <a:srgbClr val="0000FF"/>
                </a:solidFill>
                <a:latin typeface="맑은 고딕"/>
                <a:ea typeface="맑은 고딕"/>
                <a:sym typeface="Wingdings" panose="05000000000000000000" pitchFamily="2" charset="2"/>
              </a:rPr>
              <a:t>를 최대한 재사용하는 것이 성능에 이득</a:t>
            </a:r>
            <a:endParaRPr sz="1000" i="0" dirty="0">
              <a:solidFill>
                <a:srgbClr val="0000FF"/>
              </a:solidFill>
              <a:latin typeface="맑은 고딕"/>
              <a:ea typeface="맑은 고딕"/>
            </a:endParaRPr>
          </a:p>
        </p:txBody>
      </p:sp>
      <p:grpSp>
        <p:nvGrpSpPr>
          <p:cNvPr id="8" name="그룹 7">
            <a:extLst>
              <a:ext uri="{FF2B5EF4-FFF2-40B4-BE49-F238E27FC236}">
                <a16:creationId xmlns:a16="http://schemas.microsoft.com/office/drawing/2014/main" id="{2635FD53-C044-4F3F-A5A9-0EC26A351AE8}"/>
              </a:ext>
            </a:extLst>
          </p:cNvPr>
          <p:cNvGrpSpPr/>
          <p:nvPr/>
        </p:nvGrpSpPr>
        <p:grpSpPr>
          <a:xfrm>
            <a:off x="6768360" y="2571151"/>
            <a:ext cx="1512932" cy="891323"/>
            <a:chOff x="6797942" y="2631400"/>
            <a:chExt cx="1830647" cy="1078500"/>
          </a:xfrm>
        </p:grpSpPr>
        <p:sp>
          <p:nvSpPr>
            <p:cNvPr id="152" name="Rectangle 15"/>
            <p:cNvSpPr/>
            <p:nvPr/>
          </p:nvSpPr>
          <p:spPr>
            <a:xfrm>
              <a:off x="6813506" y="2848399"/>
              <a:ext cx="566928" cy="1813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404040"/>
                  </a:solidFill>
                  <a:latin typeface="맑은 고딕"/>
                  <a:ea typeface="맑은 고딕"/>
                </a:rPr>
                <a:t>HBM</a:t>
              </a:r>
            </a:p>
          </p:txBody>
        </p:sp>
        <p:sp>
          <p:nvSpPr>
            <p:cNvPr id="153" name="Rectangle 16"/>
            <p:cNvSpPr/>
            <p:nvPr/>
          </p:nvSpPr>
          <p:spPr>
            <a:xfrm>
              <a:off x="7453586" y="2863513"/>
              <a:ext cx="114300" cy="151141"/>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4" name="Rectangle 17"/>
            <p:cNvSpPr/>
            <p:nvPr/>
          </p:nvSpPr>
          <p:spPr>
            <a:xfrm>
              <a:off x="7586174" y="2863513"/>
              <a:ext cx="114300" cy="151141"/>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6" name="Rectangle 19"/>
            <p:cNvSpPr/>
            <p:nvPr/>
          </p:nvSpPr>
          <p:spPr>
            <a:xfrm>
              <a:off x="6813506" y="3075110"/>
              <a:ext cx="566928" cy="1813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404040"/>
                  </a:solidFill>
                  <a:latin typeface="맑은 고딕"/>
                  <a:ea typeface="맑은 고딕"/>
                </a:rPr>
                <a:t>DRAM</a:t>
              </a:r>
            </a:p>
          </p:txBody>
        </p:sp>
        <p:sp>
          <p:nvSpPr>
            <p:cNvPr id="157" name="Rectangle 20"/>
            <p:cNvSpPr/>
            <p:nvPr/>
          </p:nvSpPr>
          <p:spPr>
            <a:xfrm>
              <a:off x="7453586" y="3090224"/>
              <a:ext cx="114300" cy="151141"/>
            </a:xfrm>
            <a:prstGeom prst="rect">
              <a:avLst/>
            </a:prstGeom>
            <a:solidFill>
              <a:srgbClr val="5B9BD5"/>
            </a:solidFill>
            <a:ln w="6350">
              <a:solidFill>
                <a:srgbClr val="5B9BD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9" name="Rectangle 21"/>
            <p:cNvSpPr/>
            <p:nvPr/>
          </p:nvSpPr>
          <p:spPr>
            <a:xfrm>
              <a:off x="7586174" y="3090224"/>
              <a:ext cx="114300" cy="151141"/>
            </a:xfrm>
            <a:prstGeom prst="rect">
              <a:avLst/>
            </a:prstGeom>
            <a:solidFill>
              <a:srgbClr val="5B9BD5"/>
            </a:solidFill>
            <a:ln w="6350">
              <a:solidFill>
                <a:srgbClr val="5B9BD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0" name="Rectangle 22"/>
            <p:cNvSpPr/>
            <p:nvPr/>
          </p:nvSpPr>
          <p:spPr>
            <a:xfrm>
              <a:off x="7718762" y="3090224"/>
              <a:ext cx="114300" cy="151141"/>
            </a:xfrm>
            <a:prstGeom prst="rect">
              <a:avLst/>
            </a:prstGeom>
            <a:solidFill>
              <a:srgbClr val="5B9BD5"/>
            </a:solidFill>
            <a:ln w="6350">
              <a:solidFill>
                <a:srgbClr val="5B9BD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1" name="Rectangle 23"/>
            <p:cNvSpPr/>
            <p:nvPr/>
          </p:nvSpPr>
          <p:spPr>
            <a:xfrm>
              <a:off x="7851350" y="3090224"/>
              <a:ext cx="114300" cy="151141"/>
            </a:xfrm>
            <a:prstGeom prst="rect">
              <a:avLst/>
            </a:prstGeom>
            <a:solidFill>
              <a:srgbClr val="5B9BD5"/>
            </a:solidFill>
            <a:ln w="6350">
              <a:solidFill>
                <a:srgbClr val="5B9BD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2" name="Rectangle 24"/>
            <p:cNvSpPr/>
            <p:nvPr/>
          </p:nvSpPr>
          <p:spPr>
            <a:xfrm>
              <a:off x="6813506" y="3301821"/>
              <a:ext cx="566928" cy="1813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404040"/>
                  </a:solidFill>
                  <a:latin typeface="맑은 고딕"/>
                  <a:ea typeface="맑은 고딕"/>
                </a:rPr>
                <a:t>CXL</a:t>
              </a:r>
            </a:p>
          </p:txBody>
        </p:sp>
        <p:sp>
          <p:nvSpPr>
            <p:cNvPr id="163" name="Rectangle 25"/>
            <p:cNvSpPr/>
            <p:nvPr/>
          </p:nvSpPr>
          <p:spPr>
            <a:xfrm>
              <a:off x="7453586" y="3316935"/>
              <a:ext cx="114300" cy="151141"/>
            </a:xfrm>
            <a:prstGeom prst="rect">
              <a:avLst/>
            </a:prstGeom>
            <a:solidFill>
              <a:srgbClr val="8FAADC"/>
            </a:solidFill>
            <a:ln w="6350">
              <a:solidFill>
                <a:srgbClr val="8FAADC"/>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4" name="Rectangle 26"/>
            <p:cNvSpPr/>
            <p:nvPr/>
          </p:nvSpPr>
          <p:spPr>
            <a:xfrm>
              <a:off x="7586174" y="3316935"/>
              <a:ext cx="114300" cy="151141"/>
            </a:xfrm>
            <a:prstGeom prst="rect">
              <a:avLst/>
            </a:prstGeom>
            <a:solidFill>
              <a:srgbClr val="8FAADC"/>
            </a:solidFill>
            <a:ln w="6350">
              <a:solidFill>
                <a:srgbClr val="8FAADC"/>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5" name="Rectangle 27"/>
            <p:cNvSpPr/>
            <p:nvPr/>
          </p:nvSpPr>
          <p:spPr>
            <a:xfrm>
              <a:off x="7718762" y="3316935"/>
              <a:ext cx="114300" cy="151141"/>
            </a:xfrm>
            <a:prstGeom prst="rect">
              <a:avLst/>
            </a:prstGeom>
            <a:solidFill>
              <a:srgbClr val="8FAADC"/>
            </a:solidFill>
            <a:ln w="6350">
              <a:solidFill>
                <a:srgbClr val="8FAADC"/>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6" name="Rectangle 28"/>
            <p:cNvSpPr/>
            <p:nvPr/>
          </p:nvSpPr>
          <p:spPr>
            <a:xfrm>
              <a:off x="7851350" y="3316935"/>
              <a:ext cx="114300" cy="151141"/>
            </a:xfrm>
            <a:prstGeom prst="rect">
              <a:avLst/>
            </a:prstGeom>
            <a:solidFill>
              <a:srgbClr val="8FAADC"/>
            </a:solidFill>
            <a:ln w="6350">
              <a:solidFill>
                <a:srgbClr val="8FAADC"/>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7" name="Rectangle 29"/>
            <p:cNvSpPr/>
            <p:nvPr/>
          </p:nvSpPr>
          <p:spPr>
            <a:xfrm>
              <a:off x="7983938" y="3316935"/>
              <a:ext cx="114300" cy="151141"/>
            </a:xfrm>
            <a:prstGeom prst="rect">
              <a:avLst/>
            </a:prstGeom>
            <a:solidFill>
              <a:srgbClr val="8FAADC"/>
            </a:solidFill>
            <a:ln w="6350">
              <a:solidFill>
                <a:srgbClr val="8FAADC"/>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8" name="Rectangle 30"/>
            <p:cNvSpPr/>
            <p:nvPr/>
          </p:nvSpPr>
          <p:spPr>
            <a:xfrm>
              <a:off x="8116526" y="3316935"/>
              <a:ext cx="114300" cy="151141"/>
            </a:xfrm>
            <a:prstGeom prst="rect">
              <a:avLst/>
            </a:prstGeom>
            <a:solidFill>
              <a:srgbClr val="8FAADC"/>
            </a:solidFill>
            <a:ln w="6350">
              <a:solidFill>
                <a:srgbClr val="8FAADC"/>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9" name="Rectangle 31"/>
            <p:cNvSpPr/>
            <p:nvPr/>
          </p:nvSpPr>
          <p:spPr>
            <a:xfrm>
              <a:off x="6813506" y="3528531"/>
              <a:ext cx="566928" cy="1813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404040"/>
                  </a:solidFill>
                  <a:latin typeface="맑은 고딕"/>
                  <a:ea typeface="맑은 고딕"/>
                </a:rPr>
                <a:t>SSD</a:t>
              </a:r>
            </a:p>
          </p:txBody>
        </p:sp>
        <p:sp>
          <p:nvSpPr>
            <p:cNvPr id="170" name="Rectangle 32"/>
            <p:cNvSpPr/>
            <p:nvPr/>
          </p:nvSpPr>
          <p:spPr>
            <a:xfrm>
              <a:off x="7453586"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1" name="Rectangle 33"/>
            <p:cNvSpPr/>
            <p:nvPr/>
          </p:nvSpPr>
          <p:spPr>
            <a:xfrm>
              <a:off x="7586174"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2" name="Rectangle 34"/>
            <p:cNvSpPr/>
            <p:nvPr/>
          </p:nvSpPr>
          <p:spPr>
            <a:xfrm>
              <a:off x="7718762"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3" name="Rectangle 35"/>
            <p:cNvSpPr/>
            <p:nvPr/>
          </p:nvSpPr>
          <p:spPr>
            <a:xfrm>
              <a:off x="7851350"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4" name="Rectangle 36"/>
            <p:cNvSpPr/>
            <p:nvPr/>
          </p:nvSpPr>
          <p:spPr>
            <a:xfrm>
              <a:off x="7983938"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5" name="Rectangle 37"/>
            <p:cNvSpPr/>
            <p:nvPr/>
          </p:nvSpPr>
          <p:spPr>
            <a:xfrm>
              <a:off x="8116526"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6" name="Rectangle 38"/>
            <p:cNvSpPr/>
            <p:nvPr/>
          </p:nvSpPr>
          <p:spPr>
            <a:xfrm>
              <a:off x="8249114"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7" name="Rectangle 39"/>
            <p:cNvSpPr/>
            <p:nvPr/>
          </p:nvSpPr>
          <p:spPr>
            <a:xfrm>
              <a:off x="8381702"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8" name="Rectangle 40"/>
            <p:cNvSpPr/>
            <p:nvPr/>
          </p:nvSpPr>
          <p:spPr>
            <a:xfrm>
              <a:off x="8514289" y="3543645"/>
              <a:ext cx="114300" cy="151141"/>
            </a:xfrm>
            <a:prstGeom prst="rect">
              <a:avLst/>
            </a:prstGeom>
            <a:solidFill>
              <a:srgbClr val="BDD7EE"/>
            </a:solidFill>
            <a:ln w="6350">
              <a:solidFill>
                <a:srgbClr val="BDD7EE"/>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1" name="Rectangle 46"/>
            <p:cNvSpPr/>
            <p:nvPr/>
          </p:nvSpPr>
          <p:spPr>
            <a:xfrm>
              <a:off x="6797942" y="2631400"/>
              <a:ext cx="964315" cy="158975"/>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dirty="0">
                  <a:solidFill>
                    <a:srgbClr val="7F5F00"/>
                  </a:solidFill>
                  <a:latin typeface="맑은 고딕"/>
                  <a:ea typeface="맑은 고딕"/>
                </a:rPr>
                <a:t>KV Store</a:t>
              </a:r>
            </a:p>
          </p:txBody>
        </p:sp>
      </p:grpSp>
      <p:sp>
        <p:nvSpPr>
          <p:cNvPr id="9013" name="DP2 9013"/>
          <p:cNvSpPr/>
          <p:nvPr/>
        </p:nvSpPr>
        <p:spPr>
          <a:xfrm>
            <a:off x="778793" y="1565626"/>
            <a:ext cx="11338560" cy="321999"/>
          </a:xfrm>
          <a:prstGeom prst="rect">
            <a:avLst/>
          </a:prstGeom>
          <a:noFill/>
          <a:ln>
            <a:noFill/>
          </a:ln>
        </p:spPr>
        <p:txBody>
          <a:bodyPr wrap="square" lIns="9144" tIns="7315" rIns="9144" bIns="7315" anchor="ctr">
            <a:normAutofit/>
          </a:bodyPr>
          <a:lstStyle/>
          <a:p>
            <a:pPr algn="l">
              <a:lnSpc>
                <a:spcPct val="90000"/>
              </a:lnSpc>
            </a:pPr>
            <a:r>
              <a:rPr lang="ko-KR" sz="1200" b="1" dirty="0" err="1">
                <a:solidFill>
                  <a:srgbClr val="0066FF"/>
                </a:solidFill>
                <a:latin typeface="맑은 고딕"/>
              </a:rPr>
              <a:t>Accuracy를</a:t>
            </a:r>
            <a:r>
              <a:rPr lang="ko-KR" sz="1200" b="1" dirty="0">
                <a:solidFill>
                  <a:srgbClr val="0066FF"/>
                </a:solidFill>
                <a:latin typeface="맑은 고딕"/>
              </a:rPr>
              <a:t> </a:t>
            </a:r>
            <a:r>
              <a:rPr lang="ko-KR" altLang="en-US" sz="1200" b="1" dirty="0">
                <a:solidFill>
                  <a:srgbClr val="0066FF"/>
                </a:solidFill>
                <a:latin typeface="맑은 고딕"/>
              </a:rPr>
              <a:t>보장</a:t>
            </a:r>
            <a:r>
              <a:rPr lang="ko-KR" altLang="en-US" sz="1200" dirty="0">
                <a:latin typeface="맑은 고딕"/>
              </a:rPr>
              <a:t>하면서 </a:t>
            </a:r>
            <a:r>
              <a:rPr lang="en-US" altLang="ko-KR" sz="1200" dirty="0">
                <a:latin typeface="맑은 고딕"/>
              </a:rPr>
              <a:t>KV </a:t>
            </a:r>
            <a:r>
              <a:rPr lang="ko-KR" altLang="en-US" sz="1200" dirty="0">
                <a:latin typeface="맑은 고딕"/>
              </a:rPr>
              <a:t>캐시 </a:t>
            </a:r>
            <a:r>
              <a:rPr lang="ko-KR" altLang="en-US" sz="1200" dirty="0" err="1">
                <a:latin typeface="맑은 고딕"/>
              </a:rPr>
              <a:t>재사용률을</a:t>
            </a:r>
            <a:r>
              <a:rPr lang="ko-KR" altLang="en-US" sz="1200" dirty="0">
                <a:latin typeface="맑은 고딕"/>
              </a:rPr>
              <a:t> 높여 </a:t>
            </a:r>
            <a:r>
              <a:rPr lang="ko-KR" altLang="en-US" sz="1200" b="1" dirty="0">
                <a:solidFill>
                  <a:srgbClr val="0066FF"/>
                </a:solidFill>
                <a:latin typeface="맑은 고딕"/>
              </a:rPr>
              <a:t>메모리 </a:t>
            </a:r>
            <a:r>
              <a:rPr lang="en-US" altLang="ko-KR" sz="1200" b="1" dirty="0">
                <a:solidFill>
                  <a:srgbClr val="0066FF"/>
                </a:solidFill>
                <a:latin typeface="맑은 고딕"/>
              </a:rPr>
              <a:t>pressure</a:t>
            </a:r>
            <a:r>
              <a:rPr lang="ko-KR" altLang="en-US" sz="1200" b="1" dirty="0">
                <a:solidFill>
                  <a:srgbClr val="0066FF"/>
                </a:solidFill>
                <a:latin typeface="맑은 고딕"/>
              </a:rPr>
              <a:t>를 줄이고 </a:t>
            </a:r>
            <a:r>
              <a:rPr lang="en-US" altLang="ko-KR" sz="1200" b="1" dirty="0">
                <a:solidFill>
                  <a:srgbClr val="0066FF"/>
                </a:solidFill>
                <a:latin typeface="맑은 고딕"/>
              </a:rPr>
              <a:t>latency</a:t>
            </a:r>
            <a:r>
              <a:rPr lang="ko-KR" altLang="en-US" sz="1200" b="1" dirty="0">
                <a:solidFill>
                  <a:srgbClr val="0066FF"/>
                </a:solidFill>
                <a:latin typeface="맑은 고딕"/>
              </a:rPr>
              <a:t>를 줄이는 구조 설계 필요 </a:t>
            </a:r>
            <a:endParaRPr lang="en-US" altLang="ko-KR" sz="1200" b="1" dirty="0">
              <a:solidFill>
                <a:srgbClr val="0066FF"/>
              </a:solidFill>
              <a:latin typeface="맑은 고딕"/>
            </a:endParaRPr>
          </a:p>
        </p:txBody>
      </p:sp>
      <p:sp>
        <p:nvSpPr>
          <p:cNvPr id="9140" name="TextBox 9139"/>
          <p:cNvSpPr txBox="1"/>
          <p:nvPr/>
        </p:nvSpPr>
        <p:spPr>
          <a:xfrm>
            <a:off x="6736957" y="5061139"/>
            <a:ext cx="4900792" cy="153888"/>
          </a:xfrm>
          <a:prstGeom prst="rect">
            <a:avLst/>
          </a:prstGeom>
          <a:noFill/>
        </p:spPr>
        <p:txBody>
          <a:bodyPr wrap="square" lIns="0" tIns="0" rIns="0" bIns="0" anchor="t">
            <a:spAutoFit/>
          </a:bodyPr>
          <a:lstStyle/>
          <a:p>
            <a:pPr algn="l"/>
            <a:r>
              <a:rPr lang="ko-KR" altLang="en-US" sz="1000" b="1" i="0" dirty="0">
                <a:solidFill>
                  <a:srgbClr val="0000FF"/>
                </a:solidFill>
                <a:latin typeface="맑은 고딕"/>
                <a:ea typeface="맑은 고딕"/>
              </a:rPr>
              <a:t>기존에 생성되어 있던 토큰 중 일부 재사용 </a:t>
            </a:r>
            <a:r>
              <a:rPr lang="en-US" altLang="ko-KR" sz="1000" b="1" i="0" dirty="0">
                <a:solidFill>
                  <a:srgbClr val="0000FF"/>
                </a:solidFill>
                <a:latin typeface="맑은 고딕"/>
                <a:ea typeface="맑은 고딕"/>
              </a:rPr>
              <a:t>+ </a:t>
            </a:r>
            <a:r>
              <a:rPr lang="ko-KR" altLang="en-US" sz="1000" b="1" dirty="0">
                <a:solidFill>
                  <a:srgbClr val="0000FF"/>
                </a:solidFill>
                <a:latin typeface="맑은 고딕"/>
                <a:ea typeface="맑은 고딕"/>
              </a:rPr>
              <a:t>일부 토큰만 연산 </a:t>
            </a:r>
            <a:r>
              <a:rPr lang="en-US" altLang="ko-KR" sz="1000" b="1" dirty="0">
                <a:solidFill>
                  <a:srgbClr val="0000FF"/>
                </a:solidFill>
                <a:latin typeface="맑은 고딕"/>
                <a:ea typeface="맑은 고딕"/>
              </a:rPr>
              <a:t>(</a:t>
            </a:r>
            <a:r>
              <a:rPr lang="ko-KR" altLang="en-US" sz="1000" b="1" dirty="0">
                <a:solidFill>
                  <a:srgbClr val="0000FF"/>
                </a:solidFill>
                <a:latin typeface="맑은 고딕"/>
                <a:ea typeface="맑은 고딕"/>
              </a:rPr>
              <a:t>선택적 재계산</a:t>
            </a:r>
            <a:r>
              <a:rPr lang="en-US" altLang="ko-KR" sz="1000" b="1" dirty="0">
                <a:solidFill>
                  <a:srgbClr val="0000FF"/>
                </a:solidFill>
                <a:latin typeface="맑은 고딕"/>
                <a:ea typeface="맑은 고딕"/>
              </a:rPr>
              <a:t>)</a:t>
            </a:r>
            <a:endParaRPr sz="1000" b="0" i="0" dirty="0">
              <a:solidFill>
                <a:srgbClr val="0000FF"/>
              </a:solidFill>
              <a:latin typeface="맑은 고딕"/>
              <a:ea typeface="맑은 고딕"/>
            </a:endParaRPr>
          </a:p>
        </p:txBody>
      </p:sp>
      <p:grpSp>
        <p:nvGrpSpPr>
          <p:cNvPr id="290" name="그룹 289"/>
          <p:cNvGrpSpPr/>
          <p:nvPr/>
        </p:nvGrpSpPr>
        <p:grpSpPr>
          <a:xfrm>
            <a:off x="548640" y="4001812"/>
            <a:ext cx="4872205" cy="928499"/>
            <a:chOff x="548640" y="2308421"/>
            <a:chExt cx="4872205" cy="928499"/>
          </a:xfrm>
        </p:grpSpPr>
        <p:grpSp>
          <p:nvGrpSpPr>
            <p:cNvPr id="291" name="그룹 PrefixCaching">
              <a:extLst>
                <a:ext uri="{FF2B5EF4-FFF2-40B4-BE49-F238E27FC236}">
                  <a16:creationId xmlns:a16="http://schemas.microsoft.com/office/drawing/2014/main" id="{B90E02AA-B756-4331-B7A3-BC6313B4612D}"/>
                </a:ext>
              </a:extLst>
            </p:cNvPr>
            <p:cNvGrpSpPr/>
            <p:nvPr/>
          </p:nvGrpSpPr>
          <p:grpSpPr>
            <a:xfrm>
              <a:off x="548640" y="2308421"/>
              <a:ext cx="4797202" cy="928499"/>
              <a:chOff x="548640" y="3560000"/>
              <a:chExt cx="4797202" cy="928499"/>
            </a:xfrm>
          </p:grpSpPr>
          <p:sp>
            <p:nvSpPr>
              <p:cNvPr id="293" name="TextBox 292">
                <a:extLst>
                  <a:ext uri="{FF2B5EF4-FFF2-40B4-BE49-F238E27FC236}">
                    <a16:creationId xmlns:a16="http://schemas.microsoft.com/office/drawing/2014/main" id="{B2210258-316D-4D12-BD47-91AF827A84F2}"/>
                  </a:ext>
                </a:extLst>
              </p:cNvPr>
              <p:cNvSpPr txBox="1"/>
              <p:nvPr/>
            </p:nvSpPr>
            <p:spPr>
              <a:xfrm>
                <a:off x="1188720" y="3560000"/>
                <a:ext cx="512036" cy="138499"/>
              </a:xfrm>
              <a:prstGeom prst="rect">
                <a:avLst/>
              </a:prstGeom>
              <a:noFill/>
            </p:spPr>
            <p:txBody>
              <a:bodyPr wrap="square" lIns="0" tIns="0" rIns="0" bIns="0" anchor="t">
                <a:spAutoFit/>
              </a:bodyPr>
              <a:lstStyle/>
              <a:p>
                <a:pPr algn="ctr"/>
                <a:r>
                  <a:rPr sz="900" b="1" dirty="0">
                    <a:solidFill>
                      <a:srgbClr val="404040"/>
                    </a:solidFill>
                    <a:latin typeface="맑은 고딕"/>
                    <a:ea typeface="맑은 고딕"/>
                  </a:rPr>
                  <a:t>Prefix</a:t>
                </a:r>
              </a:p>
            </p:txBody>
          </p:sp>
          <p:sp>
            <p:nvSpPr>
              <p:cNvPr id="294" name="TextBox 293">
                <a:extLst>
                  <a:ext uri="{FF2B5EF4-FFF2-40B4-BE49-F238E27FC236}">
                    <a16:creationId xmlns:a16="http://schemas.microsoft.com/office/drawing/2014/main" id="{BF88575E-B8A6-46B0-938E-826761BC282D}"/>
                  </a:ext>
                </a:extLst>
              </p:cNvPr>
              <p:cNvSpPr txBox="1"/>
              <p:nvPr/>
            </p:nvSpPr>
            <p:spPr>
              <a:xfrm>
                <a:off x="548640" y="377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295" name="Rectangle 9154">
                <a:extLst>
                  <a:ext uri="{FF2B5EF4-FFF2-40B4-BE49-F238E27FC236}">
                    <a16:creationId xmlns:a16="http://schemas.microsoft.com/office/drawing/2014/main" id="{2A1DC431-3504-42B7-A7CE-F4E1B36D9915}"/>
                  </a:ext>
                </a:extLst>
              </p:cNvPr>
              <p:cNvSpPr/>
              <p:nvPr/>
            </p:nvSpPr>
            <p:spPr>
              <a:xfrm>
                <a:off x="118395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96" name="Rectangle 9155">
                <a:extLst>
                  <a:ext uri="{FF2B5EF4-FFF2-40B4-BE49-F238E27FC236}">
                    <a16:creationId xmlns:a16="http://schemas.microsoft.com/office/drawing/2014/main" id="{B2C5B9CF-5D7C-41BC-B78A-030B131F2A21}"/>
                  </a:ext>
                </a:extLst>
              </p:cNvPr>
              <p:cNvSpPr/>
              <p:nvPr/>
            </p:nvSpPr>
            <p:spPr>
              <a:xfrm>
                <a:off x="1319479"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97" name="Rectangle 9156">
                <a:extLst>
                  <a:ext uri="{FF2B5EF4-FFF2-40B4-BE49-F238E27FC236}">
                    <a16:creationId xmlns:a16="http://schemas.microsoft.com/office/drawing/2014/main" id="{86E56E00-5970-4B3D-8183-6DCA16D7A440}"/>
                  </a:ext>
                </a:extLst>
              </p:cNvPr>
              <p:cNvSpPr/>
              <p:nvPr/>
            </p:nvSpPr>
            <p:spPr>
              <a:xfrm>
                <a:off x="1457858"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98" name="Rectangle 9157">
                <a:extLst>
                  <a:ext uri="{FF2B5EF4-FFF2-40B4-BE49-F238E27FC236}">
                    <a16:creationId xmlns:a16="http://schemas.microsoft.com/office/drawing/2014/main" id="{AB36267F-B312-464F-814B-A457BE54CCC6}"/>
                  </a:ext>
                </a:extLst>
              </p:cNvPr>
              <p:cNvSpPr/>
              <p:nvPr/>
            </p:nvSpPr>
            <p:spPr>
              <a:xfrm>
                <a:off x="159623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99" name="TextBox 298">
                <a:extLst>
                  <a:ext uri="{FF2B5EF4-FFF2-40B4-BE49-F238E27FC236}">
                    <a16:creationId xmlns:a16="http://schemas.microsoft.com/office/drawing/2014/main" id="{6E1A37FF-F12A-4422-90DB-AC0610142CE2}"/>
                  </a:ext>
                </a:extLst>
              </p:cNvPr>
              <p:cNvSpPr txBox="1"/>
              <p:nvPr/>
            </p:nvSpPr>
            <p:spPr>
              <a:xfrm>
                <a:off x="3695842" y="3770000"/>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300" name="TextBox 299">
                <a:extLst>
                  <a:ext uri="{FF2B5EF4-FFF2-40B4-BE49-F238E27FC236}">
                    <a16:creationId xmlns:a16="http://schemas.microsoft.com/office/drawing/2014/main" id="{FF013E8E-7F9B-4A58-A4A5-098B378B6CAB}"/>
                  </a:ext>
                </a:extLst>
              </p:cNvPr>
              <p:cNvSpPr txBox="1"/>
              <p:nvPr/>
            </p:nvSpPr>
            <p:spPr>
              <a:xfrm>
                <a:off x="548640" y="408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301" name="Rectangle 9176">
                <a:extLst>
                  <a:ext uri="{FF2B5EF4-FFF2-40B4-BE49-F238E27FC236}">
                    <a16:creationId xmlns:a16="http://schemas.microsoft.com/office/drawing/2014/main" id="{982ACB3F-A75A-4AEE-8257-22D5DFC9FD78}"/>
                  </a:ext>
                </a:extLst>
              </p:cNvPr>
              <p:cNvSpPr/>
              <p:nvPr/>
            </p:nvSpPr>
            <p:spPr>
              <a:xfrm>
                <a:off x="1183957" y="4020000"/>
                <a:ext cx="118872" cy="256032"/>
              </a:xfrm>
              <a:prstGeom prst="rect">
                <a:avLst/>
              </a:prstGeom>
              <a:solidFill>
                <a:srgbClr val="D9D9D9"/>
              </a:solid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5</a:t>
                </a:r>
                <a:endParaRPr sz="1000" dirty="0">
                  <a:solidFill>
                    <a:schemeClr val="tx1"/>
                  </a:solidFill>
                </a:endParaRPr>
              </a:p>
            </p:txBody>
          </p:sp>
          <p:sp>
            <p:nvSpPr>
              <p:cNvPr id="302" name="Rectangle 9177">
                <a:extLst>
                  <a:ext uri="{FF2B5EF4-FFF2-40B4-BE49-F238E27FC236}">
                    <a16:creationId xmlns:a16="http://schemas.microsoft.com/office/drawing/2014/main" id="{EC1E33C6-72BC-4C3F-884E-072A7D5337FA}"/>
                  </a:ext>
                </a:extLst>
              </p:cNvPr>
              <p:cNvSpPr/>
              <p:nvPr/>
            </p:nvSpPr>
            <p:spPr>
              <a:xfrm>
                <a:off x="131947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03" name="Rectangle 9178">
                <a:extLst>
                  <a:ext uri="{FF2B5EF4-FFF2-40B4-BE49-F238E27FC236}">
                    <a16:creationId xmlns:a16="http://schemas.microsoft.com/office/drawing/2014/main" id="{2EC5DC78-8873-48FC-A1FE-693AA95827E7}"/>
                  </a:ext>
                </a:extLst>
              </p:cNvPr>
              <p:cNvSpPr/>
              <p:nvPr/>
            </p:nvSpPr>
            <p:spPr>
              <a:xfrm>
                <a:off x="145785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04" name="Rectangle 9179">
                <a:extLst>
                  <a:ext uri="{FF2B5EF4-FFF2-40B4-BE49-F238E27FC236}">
                    <a16:creationId xmlns:a16="http://schemas.microsoft.com/office/drawing/2014/main" id="{87B264D5-4AEA-405D-8FB0-AA127D79A0EE}"/>
                  </a:ext>
                </a:extLst>
              </p:cNvPr>
              <p:cNvSpPr/>
              <p:nvPr/>
            </p:nvSpPr>
            <p:spPr>
              <a:xfrm>
                <a:off x="159623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05" name="Rectangle 9180">
                <a:extLst>
                  <a:ext uri="{FF2B5EF4-FFF2-40B4-BE49-F238E27FC236}">
                    <a16:creationId xmlns:a16="http://schemas.microsoft.com/office/drawing/2014/main" id="{748053FE-795D-49F4-AEBF-7E9318D0FDDD}"/>
                  </a:ext>
                </a:extLst>
              </p:cNvPr>
              <p:cNvSpPr/>
              <p:nvPr/>
            </p:nvSpPr>
            <p:spPr>
              <a:xfrm>
                <a:off x="183175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Rectangle 9181">
                <a:extLst>
                  <a:ext uri="{FF2B5EF4-FFF2-40B4-BE49-F238E27FC236}">
                    <a16:creationId xmlns:a16="http://schemas.microsoft.com/office/drawing/2014/main" id="{1891CCCD-39BD-42E3-859D-91E1AC53D9AB}"/>
                  </a:ext>
                </a:extLst>
              </p:cNvPr>
              <p:cNvSpPr/>
              <p:nvPr/>
            </p:nvSpPr>
            <p:spPr>
              <a:xfrm>
                <a:off x="196251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Rectangle 9182">
                <a:extLst>
                  <a:ext uri="{FF2B5EF4-FFF2-40B4-BE49-F238E27FC236}">
                    <a16:creationId xmlns:a16="http://schemas.microsoft.com/office/drawing/2014/main" id="{80B039DF-97EF-4B2B-AB48-69BCFE1EACB6}"/>
                  </a:ext>
                </a:extLst>
              </p:cNvPr>
              <p:cNvSpPr/>
              <p:nvPr/>
            </p:nvSpPr>
            <p:spPr>
              <a:xfrm>
                <a:off x="2093274"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Rectangle 9183">
                <a:extLst>
                  <a:ext uri="{FF2B5EF4-FFF2-40B4-BE49-F238E27FC236}">
                    <a16:creationId xmlns:a16="http://schemas.microsoft.com/office/drawing/2014/main" id="{C160D577-CADF-4F61-9E22-D14DDF4C12E3}"/>
                  </a:ext>
                </a:extLst>
              </p:cNvPr>
              <p:cNvSpPr/>
              <p:nvPr/>
            </p:nvSpPr>
            <p:spPr>
              <a:xfrm>
                <a:off x="2224033"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Rectangle 9184">
                <a:extLst>
                  <a:ext uri="{FF2B5EF4-FFF2-40B4-BE49-F238E27FC236}">
                    <a16:creationId xmlns:a16="http://schemas.microsoft.com/office/drawing/2014/main" id="{48725D1F-FCDE-42C6-9656-24C16B8B5262}"/>
                  </a:ext>
                </a:extLst>
              </p:cNvPr>
              <p:cNvSpPr/>
              <p:nvPr/>
            </p:nvSpPr>
            <p:spPr>
              <a:xfrm>
                <a:off x="2354792"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Rectangle 9185">
                <a:extLst>
                  <a:ext uri="{FF2B5EF4-FFF2-40B4-BE49-F238E27FC236}">
                    <a16:creationId xmlns:a16="http://schemas.microsoft.com/office/drawing/2014/main" id="{5A5815D2-7912-49E4-8839-DBC4A6D0E467}"/>
                  </a:ext>
                </a:extLst>
              </p:cNvPr>
              <p:cNvSpPr/>
              <p:nvPr/>
            </p:nvSpPr>
            <p:spPr>
              <a:xfrm>
                <a:off x="2485551"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Rectangle 9186">
                <a:extLst>
                  <a:ext uri="{FF2B5EF4-FFF2-40B4-BE49-F238E27FC236}">
                    <a16:creationId xmlns:a16="http://schemas.microsoft.com/office/drawing/2014/main" id="{F0E69FFC-771F-4B39-8638-CC0E31024E45}"/>
                  </a:ext>
                </a:extLst>
              </p:cNvPr>
              <p:cNvSpPr/>
              <p:nvPr/>
            </p:nvSpPr>
            <p:spPr>
              <a:xfrm>
                <a:off x="2616310"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Rectangle 9187">
                <a:extLst>
                  <a:ext uri="{FF2B5EF4-FFF2-40B4-BE49-F238E27FC236}">
                    <a16:creationId xmlns:a16="http://schemas.microsoft.com/office/drawing/2014/main" id="{DCBF4EEF-77A0-4F08-92C8-7A03A252F1CB}"/>
                  </a:ext>
                </a:extLst>
              </p:cNvPr>
              <p:cNvSpPr/>
              <p:nvPr/>
            </p:nvSpPr>
            <p:spPr>
              <a:xfrm>
                <a:off x="274706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Rectangle 9188">
                <a:extLst>
                  <a:ext uri="{FF2B5EF4-FFF2-40B4-BE49-F238E27FC236}">
                    <a16:creationId xmlns:a16="http://schemas.microsoft.com/office/drawing/2014/main" id="{A03BD33B-594B-4014-AD18-55057EDEDBC7}"/>
                  </a:ext>
                </a:extLst>
              </p:cNvPr>
              <p:cNvSpPr/>
              <p:nvPr/>
            </p:nvSpPr>
            <p:spPr>
              <a:xfrm>
                <a:off x="287782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Rectangle 9189">
                <a:extLst>
                  <a:ext uri="{FF2B5EF4-FFF2-40B4-BE49-F238E27FC236}">
                    <a16:creationId xmlns:a16="http://schemas.microsoft.com/office/drawing/2014/main" id="{5701E5E9-6614-41FD-AB4B-D5AF40CD7F49}"/>
                  </a:ext>
                </a:extLst>
              </p:cNvPr>
              <p:cNvSpPr/>
              <p:nvPr/>
            </p:nvSpPr>
            <p:spPr>
              <a:xfrm>
                <a:off x="300858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Rectangle 9190">
                <a:extLst>
                  <a:ext uri="{FF2B5EF4-FFF2-40B4-BE49-F238E27FC236}">
                    <a16:creationId xmlns:a16="http://schemas.microsoft.com/office/drawing/2014/main" id="{F37EBE04-A1F8-4128-8AAF-FC83C0AE937F}"/>
                  </a:ext>
                </a:extLst>
              </p:cNvPr>
              <p:cNvSpPr/>
              <p:nvPr/>
            </p:nvSpPr>
            <p:spPr>
              <a:xfrm>
                <a:off x="313934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Rectangle 9191">
                <a:extLst>
                  <a:ext uri="{FF2B5EF4-FFF2-40B4-BE49-F238E27FC236}">
                    <a16:creationId xmlns:a16="http://schemas.microsoft.com/office/drawing/2014/main" id="{05194FE4-E8EE-4E98-9E41-E44A82EADC99}"/>
                  </a:ext>
                </a:extLst>
              </p:cNvPr>
              <p:cNvSpPr/>
              <p:nvPr/>
            </p:nvSpPr>
            <p:spPr>
              <a:xfrm>
                <a:off x="327010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7" name="Connector 9197">
                <a:extLst>
                  <a:ext uri="{FF2B5EF4-FFF2-40B4-BE49-F238E27FC236}">
                    <a16:creationId xmlns:a16="http://schemas.microsoft.com/office/drawing/2014/main" id="{3B93274C-06A5-4EA2-9CBF-C3EC13EA8E3A}"/>
                  </a:ext>
                </a:extLst>
              </p:cNvPr>
              <p:cNvCxnSpPr/>
              <p:nvPr/>
            </p:nvCxnSpPr>
            <p:spPr>
              <a:xfrm>
                <a:off x="1188720" y="4325000"/>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318" name="Connector 9198">
                <a:extLst>
                  <a:ext uri="{FF2B5EF4-FFF2-40B4-BE49-F238E27FC236}">
                    <a16:creationId xmlns:a16="http://schemas.microsoft.com/office/drawing/2014/main" id="{5BCB623F-DB8B-4180-A42D-BCA6D9B1BEC6}"/>
                  </a:ext>
                </a:extLst>
              </p:cNvPr>
              <p:cNvCxnSpPr/>
              <p:nvPr/>
            </p:nvCxnSpPr>
            <p:spPr>
              <a:xfrm>
                <a:off x="1188720"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319" name="Connector 9199">
                <a:extLst>
                  <a:ext uri="{FF2B5EF4-FFF2-40B4-BE49-F238E27FC236}">
                    <a16:creationId xmlns:a16="http://schemas.microsoft.com/office/drawing/2014/main" id="{5CCFC2C7-A9CA-4397-910C-BAD436F0F0CF}"/>
                  </a:ext>
                </a:extLst>
              </p:cNvPr>
              <p:cNvCxnSpPr/>
              <p:nvPr/>
            </p:nvCxnSpPr>
            <p:spPr>
              <a:xfrm>
                <a:off x="3389864"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TextBox 319">
                <a:extLst>
                  <a:ext uri="{FF2B5EF4-FFF2-40B4-BE49-F238E27FC236}">
                    <a16:creationId xmlns:a16="http://schemas.microsoft.com/office/drawing/2014/main" id="{DDF82F91-B0D7-4D3C-94E3-FDFD8CF8F51D}"/>
                  </a:ext>
                </a:extLst>
              </p:cNvPr>
              <p:cNvSpPr txBox="1"/>
              <p:nvPr/>
            </p:nvSpPr>
            <p:spPr>
              <a:xfrm>
                <a:off x="1188720" y="4350000"/>
                <a:ext cx="2201144" cy="138499"/>
              </a:xfrm>
              <a:prstGeom prst="rect">
                <a:avLst/>
              </a:prstGeom>
              <a:noFill/>
            </p:spPr>
            <p:txBody>
              <a:bodyPr wrap="square" lIns="0" tIns="0" rIns="0" bIns="0" anchor="t">
                <a:spAutoFit/>
              </a:bodyPr>
              <a:lstStyle/>
              <a:p>
                <a:pPr algn="ctr"/>
                <a:r>
                  <a:rPr sz="900" b="0">
                    <a:solidFill>
                      <a:srgbClr val="7F7F7F"/>
                    </a:solidFill>
                    <a:latin typeface="맑은 고딕"/>
                    <a:ea typeface="맑은 고딕"/>
                  </a:rPr>
                  <a:t>동일 Prefix → KV 재사용</a:t>
                </a:r>
              </a:p>
            </p:txBody>
          </p:sp>
        </p:grpSp>
        <p:sp>
          <p:nvSpPr>
            <p:cNvPr id="292" name="TextBox 291">
              <a:extLst>
                <a:ext uri="{FF2B5EF4-FFF2-40B4-BE49-F238E27FC236}">
                  <a16:creationId xmlns:a16="http://schemas.microsoft.com/office/drawing/2014/main" id="{9A5243BE-86E0-4EF5-AFCF-9508E17E7CCD}"/>
                </a:ext>
              </a:extLst>
            </p:cNvPr>
            <p:cNvSpPr txBox="1"/>
            <p:nvPr/>
          </p:nvSpPr>
          <p:spPr>
            <a:xfrm>
              <a:off x="3770845" y="2460262"/>
              <a:ext cx="1650000" cy="553998"/>
            </a:xfrm>
            <a:prstGeom prst="rect">
              <a:avLst/>
            </a:prstGeom>
            <a:noFill/>
          </p:spPr>
          <p:txBody>
            <a:bodyPr wrap="square" lIns="0" tIns="0" rIns="0" bIns="0" anchor="t">
              <a:spAutoFit/>
            </a:bodyPr>
            <a:lstStyle/>
            <a:p>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rgbClr val="A6A6A6"/>
                  </a:solidFill>
                  <a:latin typeface="맑은 고딕"/>
                  <a:ea typeface="맑은 고딕"/>
                </a:rPr>
                <a:t>연산</a:t>
              </a:r>
              <a:endParaRPr sz="900" b="0" dirty="0">
                <a:solidFill>
                  <a:srgbClr val="7F7F7F"/>
                </a:solidFill>
                <a:latin typeface="맑은 고딕"/>
                <a:ea typeface="맑은 고딕"/>
              </a:endParaRPr>
            </a:p>
          </p:txBody>
        </p:sp>
      </p:grpSp>
      <p:sp>
        <p:nvSpPr>
          <p:cNvPr id="323" name="TextBox 322"/>
          <p:cNvSpPr txBox="1"/>
          <p:nvPr/>
        </p:nvSpPr>
        <p:spPr>
          <a:xfrm>
            <a:off x="850949" y="5134798"/>
            <a:ext cx="4072425" cy="153888"/>
          </a:xfrm>
          <a:prstGeom prst="rect">
            <a:avLst/>
          </a:prstGeom>
          <a:noFill/>
        </p:spPr>
        <p:txBody>
          <a:bodyPr wrap="square" lIns="0" tIns="0" rIns="0" bIns="0" anchor="t">
            <a:spAutoFit/>
          </a:bodyPr>
          <a:lstStyle/>
          <a:p>
            <a:pPr algn="l"/>
            <a:r>
              <a:rPr lang="ko-KR" altLang="en-US" sz="1000" b="1" dirty="0">
                <a:solidFill>
                  <a:srgbClr val="C00000"/>
                </a:solidFill>
                <a:latin typeface="맑은 고딕"/>
                <a:ea typeface="맑은 고딕"/>
              </a:rPr>
              <a:t>첫 토큰부터 일치하지 않으면 이후부터는 모두 연산</a:t>
            </a:r>
            <a:r>
              <a:rPr lang="en-US" altLang="ko-KR" sz="1000" b="1" dirty="0">
                <a:solidFill>
                  <a:srgbClr val="C00000"/>
                </a:solidFill>
                <a:latin typeface="맑은 고딕"/>
                <a:ea typeface="맑은 고딕"/>
              </a:rPr>
              <a:t>(</a:t>
            </a:r>
            <a:r>
              <a:rPr lang="ko-KR" altLang="en-US" sz="1000" b="1" dirty="0">
                <a:solidFill>
                  <a:srgbClr val="C00000"/>
                </a:solidFill>
                <a:latin typeface="맑은 고딕"/>
                <a:ea typeface="맑은 고딕"/>
              </a:rPr>
              <a:t>재계산</a:t>
            </a:r>
            <a:r>
              <a:rPr lang="en-US" altLang="ko-KR" sz="1000" b="1" dirty="0">
                <a:solidFill>
                  <a:srgbClr val="C00000"/>
                </a:solidFill>
                <a:latin typeface="맑은 고딕"/>
                <a:ea typeface="맑은 고딕"/>
              </a:rPr>
              <a:t>)</a:t>
            </a:r>
            <a:endParaRPr sz="1000" b="0" i="0" dirty="0">
              <a:solidFill>
                <a:srgbClr val="C00000"/>
              </a:solidFill>
              <a:latin typeface="맑은 고딕"/>
              <a:ea typeface="맑은 고딕"/>
            </a:endParaRPr>
          </a:p>
        </p:txBody>
      </p:sp>
      <p:sp>
        <p:nvSpPr>
          <p:cNvPr id="149" name="오른쪽 화살표 39">
            <a:extLst>
              <a:ext uri="{FF2B5EF4-FFF2-40B4-BE49-F238E27FC236}">
                <a16:creationId xmlns:a16="http://schemas.microsoft.com/office/drawing/2014/main" id="{A634F630-99CA-4D25-A673-2724CD314901}"/>
              </a:ext>
            </a:extLst>
          </p:cNvPr>
          <p:cNvSpPr/>
          <p:nvPr/>
        </p:nvSpPr>
        <p:spPr>
          <a:xfrm>
            <a:off x="408289" y="1595937"/>
            <a:ext cx="281686"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화살표: 오른쪽 8">
            <a:extLst>
              <a:ext uri="{FF2B5EF4-FFF2-40B4-BE49-F238E27FC236}">
                <a16:creationId xmlns:a16="http://schemas.microsoft.com/office/drawing/2014/main" id="{6C6BDE96-5BE0-4FBC-9BB3-1F73B9F9CED7}"/>
              </a:ext>
            </a:extLst>
          </p:cNvPr>
          <p:cNvSpPr/>
          <p:nvPr/>
        </p:nvSpPr>
        <p:spPr>
          <a:xfrm>
            <a:off x="1815725" y="2708935"/>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 name="직선 화살표 연결선 10">
            <a:extLst>
              <a:ext uri="{FF2B5EF4-FFF2-40B4-BE49-F238E27FC236}">
                <a16:creationId xmlns:a16="http://schemas.microsoft.com/office/drawing/2014/main" id="{C124A045-C140-4977-A3DF-5A5CFC01FC17}"/>
              </a:ext>
            </a:extLst>
          </p:cNvPr>
          <p:cNvCxnSpPr>
            <a:cxnSpLocks/>
          </p:cNvCxnSpPr>
          <p:nvPr/>
        </p:nvCxnSpPr>
        <p:spPr>
          <a:xfrm flipV="1">
            <a:off x="1747354" y="2863273"/>
            <a:ext cx="159419" cy="2935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 name="오른쪽 중괄호 12">
            <a:extLst>
              <a:ext uri="{FF2B5EF4-FFF2-40B4-BE49-F238E27FC236}">
                <a16:creationId xmlns:a16="http://schemas.microsoft.com/office/drawing/2014/main" id="{469E9377-230F-4A92-9A19-438436EB4BE6}"/>
              </a:ext>
            </a:extLst>
          </p:cNvPr>
          <p:cNvSpPr/>
          <p:nvPr/>
        </p:nvSpPr>
        <p:spPr>
          <a:xfrm rot="16200000">
            <a:off x="1424245" y="2629033"/>
            <a:ext cx="71509" cy="5493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82" name="Rectangle 9157">
            <a:extLst>
              <a:ext uri="{FF2B5EF4-FFF2-40B4-BE49-F238E27FC236}">
                <a16:creationId xmlns:a16="http://schemas.microsoft.com/office/drawing/2014/main" id="{974B76E4-6606-449F-B848-E2AED344F5E5}"/>
              </a:ext>
            </a:extLst>
          </p:cNvPr>
          <p:cNvSpPr/>
          <p:nvPr/>
        </p:nvSpPr>
        <p:spPr>
          <a:xfrm>
            <a:off x="1949704" y="4159113"/>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183" name="Rectangle 9157">
            <a:extLst>
              <a:ext uri="{FF2B5EF4-FFF2-40B4-BE49-F238E27FC236}">
                <a16:creationId xmlns:a16="http://schemas.microsoft.com/office/drawing/2014/main" id="{E27FAA5B-E0C8-41AA-B9AE-684E1CCCD826}"/>
              </a:ext>
            </a:extLst>
          </p:cNvPr>
          <p:cNvSpPr/>
          <p:nvPr/>
        </p:nvSpPr>
        <p:spPr>
          <a:xfrm>
            <a:off x="2063205" y="4159113"/>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184" name="Rectangle 9157">
            <a:extLst>
              <a:ext uri="{FF2B5EF4-FFF2-40B4-BE49-F238E27FC236}">
                <a16:creationId xmlns:a16="http://schemas.microsoft.com/office/drawing/2014/main" id="{F2836B46-3088-45E9-8E87-07AB09B9208C}"/>
              </a:ext>
            </a:extLst>
          </p:cNvPr>
          <p:cNvSpPr/>
          <p:nvPr/>
        </p:nvSpPr>
        <p:spPr>
          <a:xfrm>
            <a:off x="2181436" y="4159113"/>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186" name="Rectangle 9157">
            <a:extLst>
              <a:ext uri="{FF2B5EF4-FFF2-40B4-BE49-F238E27FC236}">
                <a16:creationId xmlns:a16="http://schemas.microsoft.com/office/drawing/2014/main" id="{D1198A42-AF74-4A85-BE0A-77CD94287F11}"/>
              </a:ext>
            </a:extLst>
          </p:cNvPr>
          <p:cNvSpPr/>
          <p:nvPr/>
        </p:nvSpPr>
        <p:spPr>
          <a:xfrm>
            <a:off x="2303388" y="4159113"/>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188" name="화살표: 오른쪽 187">
            <a:extLst>
              <a:ext uri="{FF2B5EF4-FFF2-40B4-BE49-F238E27FC236}">
                <a16:creationId xmlns:a16="http://schemas.microsoft.com/office/drawing/2014/main" id="{8AF888D3-D700-4CA8-B85F-537C3676B282}"/>
              </a:ext>
            </a:extLst>
          </p:cNvPr>
          <p:cNvSpPr/>
          <p:nvPr/>
        </p:nvSpPr>
        <p:spPr>
          <a:xfrm>
            <a:off x="1789573" y="4260807"/>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1" name="직선 화살표 연결선 190">
            <a:extLst>
              <a:ext uri="{FF2B5EF4-FFF2-40B4-BE49-F238E27FC236}">
                <a16:creationId xmlns:a16="http://schemas.microsoft.com/office/drawing/2014/main" id="{12F11375-B399-488D-B364-616D492DA34E}"/>
              </a:ext>
            </a:extLst>
          </p:cNvPr>
          <p:cNvCxnSpPr>
            <a:cxnSpLocks/>
          </p:cNvCxnSpPr>
          <p:nvPr/>
        </p:nvCxnSpPr>
        <p:spPr>
          <a:xfrm flipV="1">
            <a:off x="1724153" y="4407844"/>
            <a:ext cx="161726" cy="5557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E3CB8BE-313E-4F02-A8BE-1D502B62542E}"/>
              </a:ext>
            </a:extLst>
          </p:cNvPr>
          <p:cNvSpPr txBox="1"/>
          <p:nvPr/>
        </p:nvSpPr>
        <p:spPr>
          <a:xfrm>
            <a:off x="1648350" y="4312245"/>
            <a:ext cx="250390" cy="261610"/>
          </a:xfrm>
          <a:prstGeom prst="rect">
            <a:avLst/>
          </a:prstGeom>
          <a:noFill/>
        </p:spPr>
        <p:txBody>
          <a:bodyPr wrap="none" rtlCol="0">
            <a:spAutoFit/>
          </a:bodyPr>
          <a:lstStyle/>
          <a:p>
            <a:r>
              <a:rPr lang="en-US" altLang="ko-KR" sz="1050" dirty="0">
                <a:solidFill>
                  <a:srgbClr val="FF0000"/>
                </a:solidFill>
              </a:rPr>
              <a:t>x</a:t>
            </a:r>
            <a:endParaRPr lang="ko-KR" altLang="en-US" sz="1050" dirty="0">
              <a:solidFill>
                <a:srgbClr val="FF0000"/>
              </a:solidFill>
            </a:endParaRPr>
          </a:p>
        </p:txBody>
      </p:sp>
      <p:grpSp>
        <p:nvGrpSpPr>
          <p:cNvPr id="257" name="그룹 256">
            <a:extLst>
              <a:ext uri="{FF2B5EF4-FFF2-40B4-BE49-F238E27FC236}">
                <a16:creationId xmlns:a16="http://schemas.microsoft.com/office/drawing/2014/main" id="{710D41FA-869F-47A7-B877-AD21FA6F3268}"/>
              </a:ext>
            </a:extLst>
          </p:cNvPr>
          <p:cNvGrpSpPr/>
          <p:nvPr/>
        </p:nvGrpSpPr>
        <p:grpSpPr>
          <a:xfrm>
            <a:off x="6649300" y="3694863"/>
            <a:ext cx="4872205" cy="928499"/>
            <a:chOff x="548640" y="2308421"/>
            <a:chExt cx="4872205" cy="928499"/>
          </a:xfrm>
        </p:grpSpPr>
        <p:grpSp>
          <p:nvGrpSpPr>
            <p:cNvPr id="258" name="그룹 PrefixCaching">
              <a:extLst>
                <a:ext uri="{FF2B5EF4-FFF2-40B4-BE49-F238E27FC236}">
                  <a16:creationId xmlns:a16="http://schemas.microsoft.com/office/drawing/2014/main" id="{938FE238-F704-4394-B2DC-1A45C843E7A6}"/>
                </a:ext>
              </a:extLst>
            </p:cNvPr>
            <p:cNvGrpSpPr/>
            <p:nvPr/>
          </p:nvGrpSpPr>
          <p:grpSpPr>
            <a:xfrm>
              <a:off x="548640" y="2308421"/>
              <a:ext cx="4797202" cy="928499"/>
              <a:chOff x="548640" y="3560000"/>
              <a:chExt cx="4797202" cy="928499"/>
            </a:xfrm>
          </p:grpSpPr>
          <p:sp>
            <p:nvSpPr>
              <p:cNvPr id="260" name="TextBox 259">
                <a:extLst>
                  <a:ext uri="{FF2B5EF4-FFF2-40B4-BE49-F238E27FC236}">
                    <a16:creationId xmlns:a16="http://schemas.microsoft.com/office/drawing/2014/main" id="{2C683090-9DC8-4025-B946-CD624C957B60}"/>
                  </a:ext>
                </a:extLst>
              </p:cNvPr>
              <p:cNvSpPr txBox="1"/>
              <p:nvPr/>
            </p:nvSpPr>
            <p:spPr>
              <a:xfrm>
                <a:off x="1188720" y="3560000"/>
                <a:ext cx="512036" cy="138499"/>
              </a:xfrm>
              <a:prstGeom prst="rect">
                <a:avLst/>
              </a:prstGeom>
              <a:noFill/>
            </p:spPr>
            <p:txBody>
              <a:bodyPr wrap="square" lIns="0" tIns="0" rIns="0" bIns="0" anchor="t">
                <a:spAutoFit/>
              </a:bodyPr>
              <a:lstStyle/>
              <a:p>
                <a:pPr algn="ctr"/>
                <a:r>
                  <a:rPr sz="900" b="1" dirty="0">
                    <a:solidFill>
                      <a:srgbClr val="404040"/>
                    </a:solidFill>
                    <a:latin typeface="맑은 고딕"/>
                    <a:ea typeface="맑은 고딕"/>
                  </a:rPr>
                  <a:t>Prefix</a:t>
                </a:r>
              </a:p>
            </p:txBody>
          </p:sp>
          <p:sp>
            <p:nvSpPr>
              <p:cNvPr id="261" name="TextBox 260">
                <a:extLst>
                  <a:ext uri="{FF2B5EF4-FFF2-40B4-BE49-F238E27FC236}">
                    <a16:creationId xmlns:a16="http://schemas.microsoft.com/office/drawing/2014/main" id="{8526556A-E6B8-416F-ACF1-A76B008E22D2}"/>
                  </a:ext>
                </a:extLst>
              </p:cNvPr>
              <p:cNvSpPr txBox="1"/>
              <p:nvPr/>
            </p:nvSpPr>
            <p:spPr>
              <a:xfrm>
                <a:off x="548640" y="377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262" name="Rectangle 9154">
                <a:extLst>
                  <a:ext uri="{FF2B5EF4-FFF2-40B4-BE49-F238E27FC236}">
                    <a16:creationId xmlns:a16="http://schemas.microsoft.com/office/drawing/2014/main" id="{35276C1E-AF9A-4AFE-B949-9F64250C7F30}"/>
                  </a:ext>
                </a:extLst>
              </p:cNvPr>
              <p:cNvSpPr/>
              <p:nvPr/>
            </p:nvSpPr>
            <p:spPr>
              <a:xfrm>
                <a:off x="118395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63" name="Rectangle 9155">
                <a:extLst>
                  <a:ext uri="{FF2B5EF4-FFF2-40B4-BE49-F238E27FC236}">
                    <a16:creationId xmlns:a16="http://schemas.microsoft.com/office/drawing/2014/main" id="{AF732566-9886-4550-ADE4-FBA6FF8B62C9}"/>
                  </a:ext>
                </a:extLst>
              </p:cNvPr>
              <p:cNvSpPr/>
              <p:nvPr/>
            </p:nvSpPr>
            <p:spPr>
              <a:xfrm>
                <a:off x="1319479"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64" name="Rectangle 9156">
                <a:extLst>
                  <a:ext uri="{FF2B5EF4-FFF2-40B4-BE49-F238E27FC236}">
                    <a16:creationId xmlns:a16="http://schemas.microsoft.com/office/drawing/2014/main" id="{137B5783-2039-4AEA-9796-7FFC96DD02E7}"/>
                  </a:ext>
                </a:extLst>
              </p:cNvPr>
              <p:cNvSpPr/>
              <p:nvPr/>
            </p:nvSpPr>
            <p:spPr>
              <a:xfrm>
                <a:off x="1457858"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65" name="Rectangle 9157">
                <a:extLst>
                  <a:ext uri="{FF2B5EF4-FFF2-40B4-BE49-F238E27FC236}">
                    <a16:creationId xmlns:a16="http://schemas.microsoft.com/office/drawing/2014/main" id="{43B28283-A0A4-41A7-A5D4-3D2F06BF285C}"/>
                  </a:ext>
                </a:extLst>
              </p:cNvPr>
              <p:cNvSpPr/>
              <p:nvPr/>
            </p:nvSpPr>
            <p:spPr>
              <a:xfrm>
                <a:off x="159623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66" name="TextBox 265">
                <a:extLst>
                  <a:ext uri="{FF2B5EF4-FFF2-40B4-BE49-F238E27FC236}">
                    <a16:creationId xmlns:a16="http://schemas.microsoft.com/office/drawing/2014/main" id="{35E4B123-17EB-4288-BE15-B4B2235CAB60}"/>
                  </a:ext>
                </a:extLst>
              </p:cNvPr>
              <p:cNvSpPr txBox="1"/>
              <p:nvPr/>
            </p:nvSpPr>
            <p:spPr>
              <a:xfrm>
                <a:off x="3695842" y="3770000"/>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267" name="TextBox 266">
                <a:extLst>
                  <a:ext uri="{FF2B5EF4-FFF2-40B4-BE49-F238E27FC236}">
                    <a16:creationId xmlns:a16="http://schemas.microsoft.com/office/drawing/2014/main" id="{3B701CEB-52C9-4298-9CD8-60B369B73CFD}"/>
                  </a:ext>
                </a:extLst>
              </p:cNvPr>
              <p:cNvSpPr txBox="1"/>
              <p:nvPr/>
            </p:nvSpPr>
            <p:spPr>
              <a:xfrm>
                <a:off x="548640" y="408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269" name="Rectangle 9177">
                <a:extLst>
                  <a:ext uri="{FF2B5EF4-FFF2-40B4-BE49-F238E27FC236}">
                    <a16:creationId xmlns:a16="http://schemas.microsoft.com/office/drawing/2014/main" id="{AFA95F0A-0B51-412D-991D-94E331F92211}"/>
                  </a:ext>
                </a:extLst>
              </p:cNvPr>
              <p:cNvSpPr/>
              <p:nvPr/>
            </p:nvSpPr>
            <p:spPr>
              <a:xfrm>
                <a:off x="1319479" y="4020000"/>
                <a:ext cx="118872" cy="256032"/>
              </a:xfrm>
              <a:prstGeom prst="rect">
                <a:avLst/>
              </a:prstGeom>
              <a:solidFill>
                <a:srgbClr val="D9D9D9"/>
              </a:solid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70" name="Rectangle 9178">
                <a:extLst>
                  <a:ext uri="{FF2B5EF4-FFF2-40B4-BE49-F238E27FC236}">
                    <a16:creationId xmlns:a16="http://schemas.microsoft.com/office/drawing/2014/main" id="{1771B0AB-3041-4657-B033-930EE08656D9}"/>
                  </a:ext>
                </a:extLst>
              </p:cNvPr>
              <p:cNvSpPr/>
              <p:nvPr/>
            </p:nvSpPr>
            <p:spPr>
              <a:xfrm>
                <a:off x="1457858" y="4020000"/>
                <a:ext cx="118872" cy="256032"/>
              </a:xfrm>
              <a:prstGeom prst="rect">
                <a:avLst/>
              </a:prstGeom>
              <a:solidFill>
                <a:schemeClr val="accent5">
                  <a:lumMod val="75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bg1"/>
                    </a:solidFill>
                  </a:rPr>
                  <a:t>3</a:t>
                </a:r>
                <a:endParaRPr sz="1000" dirty="0">
                  <a:solidFill>
                    <a:schemeClr val="bg1"/>
                  </a:solidFill>
                </a:endParaRPr>
              </a:p>
            </p:txBody>
          </p:sp>
          <p:sp>
            <p:nvSpPr>
              <p:cNvPr id="271" name="Rectangle 9179">
                <a:extLst>
                  <a:ext uri="{FF2B5EF4-FFF2-40B4-BE49-F238E27FC236}">
                    <a16:creationId xmlns:a16="http://schemas.microsoft.com/office/drawing/2014/main" id="{3BC693D2-AC42-45E4-A9D7-BEA0AFA35EEF}"/>
                  </a:ext>
                </a:extLst>
              </p:cNvPr>
              <p:cNvSpPr/>
              <p:nvPr/>
            </p:nvSpPr>
            <p:spPr>
              <a:xfrm>
                <a:off x="1596237" y="4020000"/>
                <a:ext cx="118872" cy="256032"/>
              </a:xfrm>
              <a:prstGeom prst="rect">
                <a:avLst/>
              </a:prstGeom>
              <a:solidFill>
                <a:schemeClr val="accent5">
                  <a:lumMod val="75000"/>
                </a:schemeClr>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bg1"/>
                    </a:solidFill>
                  </a:rPr>
                  <a:t>4</a:t>
                </a:r>
                <a:endParaRPr sz="1000" dirty="0">
                  <a:solidFill>
                    <a:schemeClr val="bg1"/>
                  </a:solidFill>
                </a:endParaRPr>
              </a:p>
            </p:txBody>
          </p:sp>
          <p:sp>
            <p:nvSpPr>
              <p:cNvPr id="272" name="Rectangle 9180">
                <a:extLst>
                  <a:ext uri="{FF2B5EF4-FFF2-40B4-BE49-F238E27FC236}">
                    <a16:creationId xmlns:a16="http://schemas.microsoft.com/office/drawing/2014/main" id="{032ED668-E87F-48EC-99AF-DF509BDA9959}"/>
                  </a:ext>
                </a:extLst>
              </p:cNvPr>
              <p:cNvSpPr/>
              <p:nvPr/>
            </p:nvSpPr>
            <p:spPr>
              <a:xfrm>
                <a:off x="183175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Rectangle 9181">
                <a:extLst>
                  <a:ext uri="{FF2B5EF4-FFF2-40B4-BE49-F238E27FC236}">
                    <a16:creationId xmlns:a16="http://schemas.microsoft.com/office/drawing/2014/main" id="{C3E07BDE-D461-4EFB-BD80-865F3D4DEAED}"/>
                  </a:ext>
                </a:extLst>
              </p:cNvPr>
              <p:cNvSpPr/>
              <p:nvPr/>
            </p:nvSpPr>
            <p:spPr>
              <a:xfrm>
                <a:off x="196251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Rectangle 9182">
                <a:extLst>
                  <a:ext uri="{FF2B5EF4-FFF2-40B4-BE49-F238E27FC236}">
                    <a16:creationId xmlns:a16="http://schemas.microsoft.com/office/drawing/2014/main" id="{5CC9E1D8-C248-479B-AC0C-BC7E53E1AC7D}"/>
                  </a:ext>
                </a:extLst>
              </p:cNvPr>
              <p:cNvSpPr/>
              <p:nvPr/>
            </p:nvSpPr>
            <p:spPr>
              <a:xfrm>
                <a:off x="2093274"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Rectangle 9183">
                <a:extLst>
                  <a:ext uri="{FF2B5EF4-FFF2-40B4-BE49-F238E27FC236}">
                    <a16:creationId xmlns:a16="http://schemas.microsoft.com/office/drawing/2014/main" id="{2046F921-E19F-478A-9C1F-5DB99DC3A6B2}"/>
                  </a:ext>
                </a:extLst>
              </p:cNvPr>
              <p:cNvSpPr/>
              <p:nvPr/>
            </p:nvSpPr>
            <p:spPr>
              <a:xfrm>
                <a:off x="2224033"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Rectangle 9184">
                <a:extLst>
                  <a:ext uri="{FF2B5EF4-FFF2-40B4-BE49-F238E27FC236}">
                    <a16:creationId xmlns:a16="http://schemas.microsoft.com/office/drawing/2014/main" id="{B37C3338-396F-47D2-A63D-49EFFF1836A4}"/>
                  </a:ext>
                </a:extLst>
              </p:cNvPr>
              <p:cNvSpPr/>
              <p:nvPr/>
            </p:nvSpPr>
            <p:spPr>
              <a:xfrm>
                <a:off x="2354792"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Rectangle 9185">
                <a:extLst>
                  <a:ext uri="{FF2B5EF4-FFF2-40B4-BE49-F238E27FC236}">
                    <a16:creationId xmlns:a16="http://schemas.microsoft.com/office/drawing/2014/main" id="{24ACCA7B-CCCF-4C2B-9BEC-32A536BFA97E}"/>
                  </a:ext>
                </a:extLst>
              </p:cNvPr>
              <p:cNvSpPr/>
              <p:nvPr/>
            </p:nvSpPr>
            <p:spPr>
              <a:xfrm>
                <a:off x="2485551"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Rectangle 9186">
                <a:extLst>
                  <a:ext uri="{FF2B5EF4-FFF2-40B4-BE49-F238E27FC236}">
                    <a16:creationId xmlns:a16="http://schemas.microsoft.com/office/drawing/2014/main" id="{E2F420D9-F46B-4EE7-9117-1D37A3BDC473}"/>
                  </a:ext>
                </a:extLst>
              </p:cNvPr>
              <p:cNvSpPr/>
              <p:nvPr/>
            </p:nvSpPr>
            <p:spPr>
              <a:xfrm>
                <a:off x="2616310"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Rectangle 9187">
                <a:extLst>
                  <a:ext uri="{FF2B5EF4-FFF2-40B4-BE49-F238E27FC236}">
                    <a16:creationId xmlns:a16="http://schemas.microsoft.com/office/drawing/2014/main" id="{5EF12086-93FA-4BBB-A6DD-0270AEF80F7F}"/>
                  </a:ext>
                </a:extLst>
              </p:cNvPr>
              <p:cNvSpPr/>
              <p:nvPr/>
            </p:nvSpPr>
            <p:spPr>
              <a:xfrm>
                <a:off x="274706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Rectangle 9188">
                <a:extLst>
                  <a:ext uri="{FF2B5EF4-FFF2-40B4-BE49-F238E27FC236}">
                    <a16:creationId xmlns:a16="http://schemas.microsoft.com/office/drawing/2014/main" id="{5331188C-4E9E-47F0-BEB6-DF857D0F61BA}"/>
                  </a:ext>
                </a:extLst>
              </p:cNvPr>
              <p:cNvSpPr/>
              <p:nvPr/>
            </p:nvSpPr>
            <p:spPr>
              <a:xfrm>
                <a:off x="287782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Rectangle 9189">
                <a:extLst>
                  <a:ext uri="{FF2B5EF4-FFF2-40B4-BE49-F238E27FC236}">
                    <a16:creationId xmlns:a16="http://schemas.microsoft.com/office/drawing/2014/main" id="{00F92043-E8FD-4D31-B89D-D5E80EB119AC}"/>
                  </a:ext>
                </a:extLst>
              </p:cNvPr>
              <p:cNvSpPr/>
              <p:nvPr/>
            </p:nvSpPr>
            <p:spPr>
              <a:xfrm>
                <a:off x="300858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Rectangle 9190">
                <a:extLst>
                  <a:ext uri="{FF2B5EF4-FFF2-40B4-BE49-F238E27FC236}">
                    <a16:creationId xmlns:a16="http://schemas.microsoft.com/office/drawing/2014/main" id="{6F713B7D-B320-4AD3-B2EE-B2143BD0E3D1}"/>
                  </a:ext>
                </a:extLst>
              </p:cNvPr>
              <p:cNvSpPr/>
              <p:nvPr/>
            </p:nvSpPr>
            <p:spPr>
              <a:xfrm>
                <a:off x="313934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Rectangle 9191">
                <a:extLst>
                  <a:ext uri="{FF2B5EF4-FFF2-40B4-BE49-F238E27FC236}">
                    <a16:creationId xmlns:a16="http://schemas.microsoft.com/office/drawing/2014/main" id="{AC6018F6-5832-40BC-9CBA-101EDB3CA644}"/>
                  </a:ext>
                </a:extLst>
              </p:cNvPr>
              <p:cNvSpPr/>
              <p:nvPr/>
            </p:nvSpPr>
            <p:spPr>
              <a:xfrm>
                <a:off x="327010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85" name="Connector 9197">
                <a:extLst>
                  <a:ext uri="{FF2B5EF4-FFF2-40B4-BE49-F238E27FC236}">
                    <a16:creationId xmlns:a16="http://schemas.microsoft.com/office/drawing/2014/main" id="{BDF03EB1-5D17-4FCA-BEDD-DD1C8C80F42E}"/>
                  </a:ext>
                </a:extLst>
              </p:cNvPr>
              <p:cNvCxnSpPr/>
              <p:nvPr/>
            </p:nvCxnSpPr>
            <p:spPr>
              <a:xfrm>
                <a:off x="1188720" y="4325000"/>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286" name="Connector 9198">
                <a:extLst>
                  <a:ext uri="{FF2B5EF4-FFF2-40B4-BE49-F238E27FC236}">
                    <a16:creationId xmlns:a16="http://schemas.microsoft.com/office/drawing/2014/main" id="{3C3C6DEE-7CF5-49B9-9F68-81931FB239D3}"/>
                  </a:ext>
                </a:extLst>
              </p:cNvPr>
              <p:cNvCxnSpPr/>
              <p:nvPr/>
            </p:nvCxnSpPr>
            <p:spPr>
              <a:xfrm>
                <a:off x="1188720"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287" name="Connector 9199">
                <a:extLst>
                  <a:ext uri="{FF2B5EF4-FFF2-40B4-BE49-F238E27FC236}">
                    <a16:creationId xmlns:a16="http://schemas.microsoft.com/office/drawing/2014/main" id="{54D90282-606C-4D65-BD0D-45494F08122E}"/>
                  </a:ext>
                </a:extLst>
              </p:cNvPr>
              <p:cNvCxnSpPr/>
              <p:nvPr/>
            </p:nvCxnSpPr>
            <p:spPr>
              <a:xfrm>
                <a:off x="3389864"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288" name="TextBox 287">
                <a:extLst>
                  <a:ext uri="{FF2B5EF4-FFF2-40B4-BE49-F238E27FC236}">
                    <a16:creationId xmlns:a16="http://schemas.microsoft.com/office/drawing/2014/main" id="{B2D76FB7-074A-4BD0-808B-F1AA051F305A}"/>
                  </a:ext>
                </a:extLst>
              </p:cNvPr>
              <p:cNvSpPr txBox="1"/>
              <p:nvPr/>
            </p:nvSpPr>
            <p:spPr>
              <a:xfrm>
                <a:off x="1188720" y="4350000"/>
                <a:ext cx="2201144" cy="138499"/>
              </a:xfrm>
              <a:prstGeom prst="rect">
                <a:avLst/>
              </a:prstGeom>
              <a:noFill/>
            </p:spPr>
            <p:txBody>
              <a:bodyPr wrap="square" lIns="0" tIns="0" rIns="0" bIns="0" anchor="t">
                <a:spAutoFit/>
              </a:bodyPr>
              <a:lstStyle/>
              <a:p>
                <a:pPr algn="ctr"/>
                <a:r>
                  <a:rPr lang="ko-KR" altLang="en-US" sz="900" b="0" dirty="0">
                    <a:solidFill>
                      <a:srgbClr val="7F7F7F"/>
                    </a:solidFill>
                    <a:latin typeface="맑은 고딕"/>
                    <a:ea typeface="맑은 고딕"/>
                  </a:rPr>
                  <a:t>재사용 </a:t>
                </a:r>
                <a:r>
                  <a:rPr lang="en-US" altLang="ko-KR" sz="900" b="0" dirty="0">
                    <a:solidFill>
                      <a:srgbClr val="7F7F7F"/>
                    </a:solidFill>
                    <a:latin typeface="맑은 고딕"/>
                    <a:ea typeface="맑은 고딕"/>
                  </a:rPr>
                  <a:t>+ </a:t>
                </a:r>
                <a:r>
                  <a:rPr lang="ko-KR" altLang="en-US" sz="900" b="0" dirty="0">
                    <a:solidFill>
                      <a:srgbClr val="7F7F7F"/>
                    </a:solidFill>
                    <a:latin typeface="맑은 고딕"/>
                    <a:ea typeface="맑은 고딕"/>
                  </a:rPr>
                  <a:t>선택적 재계산 </a:t>
                </a:r>
                <a:endParaRPr sz="900" b="0" dirty="0">
                  <a:solidFill>
                    <a:srgbClr val="7F7F7F"/>
                  </a:solidFill>
                  <a:latin typeface="맑은 고딕"/>
                  <a:ea typeface="맑은 고딕"/>
                </a:endParaRPr>
              </a:p>
            </p:txBody>
          </p:sp>
          <p:sp>
            <p:nvSpPr>
              <p:cNvPr id="329" name="Rectangle 9154">
                <a:extLst>
                  <a:ext uri="{FF2B5EF4-FFF2-40B4-BE49-F238E27FC236}">
                    <a16:creationId xmlns:a16="http://schemas.microsoft.com/office/drawing/2014/main" id="{0D9A49DE-EF56-4FB4-A66D-A08C049B28DF}"/>
                  </a:ext>
                </a:extLst>
              </p:cNvPr>
              <p:cNvSpPr/>
              <p:nvPr/>
            </p:nvSpPr>
            <p:spPr>
              <a:xfrm>
                <a:off x="1183957" y="4020869"/>
                <a:ext cx="118872" cy="256032"/>
              </a:xfrm>
              <a:prstGeom prst="rect">
                <a:avLst/>
              </a:prstGeom>
              <a:solidFill>
                <a:srgbClr val="D9D9D9"/>
              </a:solid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5</a:t>
                </a:r>
                <a:endParaRPr sz="1000" dirty="0">
                  <a:solidFill>
                    <a:schemeClr val="tx1"/>
                  </a:solidFill>
                </a:endParaRPr>
              </a:p>
            </p:txBody>
          </p:sp>
        </p:grpSp>
        <p:sp>
          <p:nvSpPr>
            <p:cNvPr id="259" name="TextBox 258">
              <a:extLst>
                <a:ext uri="{FF2B5EF4-FFF2-40B4-BE49-F238E27FC236}">
                  <a16:creationId xmlns:a16="http://schemas.microsoft.com/office/drawing/2014/main" id="{AB5D268C-B791-46D6-BB7A-926A38BCED42}"/>
                </a:ext>
              </a:extLst>
            </p:cNvPr>
            <p:cNvSpPr txBox="1"/>
            <p:nvPr/>
          </p:nvSpPr>
          <p:spPr>
            <a:xfrm>
              <a:off x="3770845" y="2460262"/>
              <a:ext cx="1650000" cy="553998"/>
            </a:xfrm>
            <a:prstGeom prst="rect">
              <a:avLst/>
            </a:prstGeom>
            <a:noFill/>
          </p:spPr>
          <p:txBody>
            <a:bodyPr wrap="square" lIns="0" tIns="0" rIns="0" bIns="0" anchor="t">
              <a:spAutoFit/>
            </a:bodyPr>
            <a:lstStyle/>
            <a:p>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rgbClr val="A6A6A6"/>
                  </a:solidFill>
                  <a:latin typeface="맑은 고딕"/>
                  <a:ea typeface="맑은 고딕"/>
                </a:rPr>
                <a:t>연산</a:t>
              </a:r>
              <a:endParaRPr sz="900" b="0" dirty="0">
                <a:solidFill>
                  <a:srgbClr val="7F7F7F"/>
                </a:solidFill>
                <a:latin typeface="맑은 고딕"/>
                <a:ea typeface="맑은 고딕"/>
              </a:endParaRPr>
            </a:p>
          </p:txBody>
        </p:sp>
      </p:grpSp>
      <p:sp>
        <p:nvSpPr>
          <p:cNvPr id="289" name="Rectangle 9157">
            <a:extLst>
              <a:ext uri="{FF2B5EF4-FFF2-40B4-BE49-F238E27FC236}">
                <a16:creationId xmlns:a16="http://schemas.microsoft.com/office/drawing/2014/main" id="{268F0222-FF02-44A2-8977-1F00C1CB767F}"/>
              </a:ext>
            </a:extLst>
          </p:cNvPr>
          <p:cNvSpPr/>
          <p:nvPr/>
        </p:nvSpPr>
        <p:spPr>
          <a:xfrm>
            <a:off x="8050364" y="385216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21" name="Rectangle 9157">
            <a:extLst>
              <a:ext uri="{FF2B5EF4-FFF2-40B4-BE49-F238E27FC236}">
                <a16:creationId xmlns:a16="http://schemas.microsoft.com/office/drawing/2014/main" id="{D3E8FCF1-375D-4F0C-BE0F-335F0E6EDE1F}"/>
              </a:ext>
            </a:extLst>
          </p:cNvPr>
          <p:cNvSpPr/>
          <p:nvPr/>
        </p:nvSpPr>
        <p:spPr>
          <a:xfrm>
            <a:off x="8163865" y="385216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22" name="Rectangle 9157">
            <a:extLst>
              <a:ext uri="{FF2B5EF4-FFF2-40B4-BE49-F238E27FC236}">
                <a16:creationId xmlns:a16="http://schemas.microsoft.com/office/drawing/2014/main" id="{C951C3A9-1DDF-4CDD-B18F-4CCD3EE98605}"/>
              </a:ext>
            </a:extLst>
          </p:cNvPr>
          <p:cNvSpPr/>
          <p:nvPr/>
        </p:nvSpPr>
        <p:spPr>
          <a:xfrm>
            <a:off x="8282096" y="385216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24" name="Rectangle 9157">
            <a:extLst>
              <a:ext uri="{FF2B5EF4-FFF2-40B4-BE49-F238E27FC236}">
                <a16:creationId xmlns:a16="http://schemas.microsoft.com/office/drawing/2014/main" id="{C7F7FC97-6C97-4296-8240-405248F211DF}"/>
              </a:ext>
            </a:extLst>
          </p:cNvPr>
          <p:cNvSpPr/>
          <p:nvPr/>
        </p:nvSpPr>
        <p:spPr>
          <a:xfrm>
            <a:off x="8404048" y="385216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25" name="화살표: 오른쪽 324">
            <a:extLst>
              <a:ext uri="{FF2B5EF4-FFF2-40B4-BE49-F238E27FC236}">
                <a16:creationId xmlns:a16="http://schemas.microsoft.com/office/drawing/2014/main" id="{805FBAF8-09B4-412C-8B0B-3AE21541E41E}"/>
              </a:ext>
            </a:extLst>
          </p:cNvPr>
          <p:cNvSpPr/>
          <p:nvPr/>
        </p:nvSpPr>
        <p:spPr>
          <a:xfrm>
            <a:off x="7890233" y="3953858"/>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31" name="직선 화살표 연결선 330">
            <a:extLst>
              <a:ext uri="{FF2B5EF4-FFF2-40B4-BE49-F238E27FC236}">
                <a16:creationId xmlns:a16="http://schemas.microsoft.com/office/drawing/2014/main" id="{66976ACF-00CD-42C8-9CD7-D904843C54B5}"/>
              </a:ext>
            </a:extLst>
          </p:cNvPr>
          <p:cNvCxnSpPr>
            <a:cxnSpLocks/>
            <a:stCxn id="270" idx="0"/>
          </p:cNvCxnSpPr>
          <p:nvPr/>
        </p:nvCxnSpPr>
        <p:spPr>
          <a:xfrm flipV="1">
            <a:off x="7617954" y="4131913"/>
            <a:ext cx="715072" cy="2295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041479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5731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4158474">
                  <a:extLst>
                    <a:ext uri="{9D8B030D-6E8A-4147-A177-3AD203B41FA5}">
                      <a16:colId xmlns:a16="http://schemas.microsoft.com/office/drawing/2014/main" val="5654497"/>
                    </a:ext>
                  </a:extLst>
                </a:gridCol>
                <a:gridCol w="1282206">
                  <a:extLst>
                    <a:ext uri="{9D8B030D-6E8A-4147-A177-3AD203B41FA5}">
                      <a16:colId xmlns:a16="http://schemas.microsoft.com/office/drawing/2014/main" val="4114062400"/>
                    </a:ext>
                  </a:extLst>
                </a:gridCol>
                <a:gridCol w="4279498">
                  <a:extLst>
                    <a:ext uri="{9D8B030D-6E8A-4147-A177-3AD203B41FA5}">
                      <a16:colId xmlns:a16="http://schemas.microsoft.com/office/drawing/2014/main" val="3070054508"/>
                    </a:ext>
                  </a:extLst>
                </a:gridCol>
                <a:gridCol w="1161182">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Query Aware</a:t>
                      </a:r>
                      <a:r>
                        <a:rPr lang="en-US" altLang="ko-KR" sz="1200" b="1" baseline="0" dirty="0"/>
                        <a:t> </a:t>
                      </a:r>
                      <a:r>
                        <a:rPr lang="ko-KR" altLang="en-US" sz="1200" b="1" baseline="0" dirty="0"/>
                        <a:t>재사용 구조 </a:t>
                      </a:r>
                      <a:r>
                        <a:rPr lang="en-US" altLang="ko-KR" sz="1200" b="1" baseline="0" dirty="0"/>
                        <a:t>(Online) </a:t>
                      </a:r>
                      <a:r>
                        <a:rPr lang="en-US" altLang="ko-KR" sz="1050" b="1" kern="1200" baseline="0" dirty="0">
                          <a:solidFill>
                            <a:schemeClr val="bg1">
                              <a:lumMod val="50000"/>
                            </a:schemeClr>
                          </a:solidFill>
                          <a:latin typeface="+mn-lt"/>
                          <a:ea typeface="+mn-ea"/>
                          <a:cs typeface="+mn-cs"/>
                        </a:rPr>
                        <a:t>(Pipe-and-Filter)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Query </a:t>
                      </a:r>
                      <a:r>
                        <a:rPr lang="en-US" altLang="ko-KR" sz="1200" b="1" baseline="0" dirty="0"/>
                        <a:t>Agnostic </a:t>
                      </a:r>
                      <a:r>
                        <a:rPr lang="ko-KR" altLang="en-US" sz="1200" b="1" baseline="0" dirty="0"/>
                        <a:t>재사용 </a:t>
                      </a:r>
                      <a:r>
                        <a:rPr lang="en-US" altLang="ko-KR" sz="1200" b="1" baseline="0" dirty="0"/>
                        <a:t>(Offline)</a:t>
                      </a:r>
                      <a:r>
                        <a:rPr lang="ko-KR" altLang="en-US" sz="1200" b="1" baseline="0" dirty="0"/>
                        <a:t> </a:t>
                      </a:r>
                      <a:r>
                        <a:rPr lang="en-US" altLang="ko-KR" sz="1050" b="1" baseline="0" dirty="0">
                          <a:solidFill>
                            <a:schemeClr val="bg1">
                              <a:lumMod val="50000"/>
                            </a:schemeClr>
                          </a:solidFill>
                        </a:rPr>
                        <a:t>(Batch-Sequential + Repository)</a:t>
                      </a:r>
                      <a:endParaRPr lang="ko-KR" altLang="en-US" sz="1200" b="1" dirty="0">
                        <a:solidFill>
                          <a:schemeClr val="bg1">
                            <a:lumMod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실제</a:t>
                      </a:r>
                      <a:r>
                        <a:rPr lang="en-US" altLang="ko-KR" sz="1200" strike="noStrike" baseline="0" dirty="0">
                          <a:effectLst/>
                        </a:rPr>
                        <a:t> Query</a:t>
                      </a:r>
                      <a:r>
                        <a:rPr lang="ko-KR" altLang="en-US" sz="1200" strike="noStrike" baseline="0" dirty="0">
                          <a:effectLst/>
                        </a:rPr>
                        <a:t>를 반영해 재계산 토큰을 선정하므로 정확도 확보 유리 </a:t>
                      </a:r>
                      <a:r>
                        <a:rPr lang="en-US" altLang="ko-KR" sz="1200" strike="noStrike" baseline="0" dirty="0">
                          <a:effectLst/>
                        </a:rPr>
                        <a:t>(QA5)</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effectLst/>
                        </a:rPr>
                        <a:t>KV </a:t>
                      </a:r>
                      <a:r>
                        <a:rPr lang="ko-KR" altLang="en-US" sz="1200" strike="noStrike" baseline="0" dirty="0">
                          <a:effectLst/>
                        </a:rPr>
                        <a:t>캐시 원본 단일 보관으로 </a:t>
                      </a:r>
                      <a:r>
                        <a:rPr lang="en-US" altLang="ko-KR" sz="1200" strike="noStrike" baseline="0" dirty="0">
                          <a:effectLst/>
                        </a:rPr>
                        <a:t>Stale </a:t>
                      </a:r>
                      <a:r>
                        <a:rPr lang="ko-KR" altLang="en-US" sz="1200" strike="noStrike" baseline="0" dirty="0">
                          <a:effectLst/>
                        </a:rPr>
                        <a:t>데이터 발생 방지 </a:t>
                      </a:r>
                      <a:r>
                        <a:rPr lang="en-US" altLang="ko-KR" sz="1200" strike="noStrike" baseline="0" dirty="0">
                          <a:effectLst/>
                        </a:rPr>
                        <a:t>(QA2)</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서빙 시 </a:t>
                      </a:r>
                      <a:r>
                        <a:rPr lang="en-US" altLang="ko-KR" sz="1200" b="0" i="0" dirty="0">
                          <a:solidFill>
                            <a:srgbClr val="404040"/>
                          </a:solidFill>
                          <a:latin typeface="+mn-lt"/>
                          <a:ea typeface="맑은 고딕"/>
                        </a:rPr>
                        <a:t>TTFT </a:t>
                      </a:r>
                      <a:r>
                        <a:rPr lang="ko-KR" altLang="en-US" sz="1200" b="0" i="0" dirty="0">
                          <a:solidFill>
                            <a:srgbClr val="404040"/>
                          </a:solidFill>
                          <a:latin typeface="+mn-lt"/>
                          <a:ea typeface="맑은 고딕"/>
                        </a:rPr>
                        <a:t>절감에 유리</a:t>
                      </a:r>
                      <a:r>
                        <a:rPr lang="en-US" altLang="ko-KR" sz="1200" b="0" i="0" dirty="0">
                          <a:solidFill>
                            <a:srgbClr val="404040"/>
                          </a:solidFill>
                          <a:latin typeface="+mn-lt"/>
                          <a:ea typeface="맑은 고딕"/>
                        </a:rPr>
                        <a:t>(QA1)</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서빙 경로에서 재계산 토큰을 선정하므로 </a:t>
                      </a:r>
                      <a:r>
                        <a:rPr lang="en-US" altLang="ko-KR" sz="1200" strike="noStrike" baseline="0" dirty="0">
                          <a:effectLst/>
                        </a:rPr>
                        <a:t>TTFT </a:t>
                      </a:r>
                      <a:r>
                        <a:rPr lang="ko-KR" altLang="en-US" sz="1200" strike="noStrike" baseline="0" dirty="0">
                          <a:effectLst/>
                        </a:rPr>
                        <a:t>증가 </a:t>
                      </a:r>
                      <a:r>
                        <a:rPr lang="en-US" altLang="ko-KR" sz="1200" strike="noStrike" baseline="0" dirty="0">
                          <a:effectLst/>
                        </a:rPr>
                        <a:t>(QA1)</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사전 선정된 재계산 위치가 실제 </a:t>
                      </a:r>
                      <a:r>
                        <a:rPr lang="en-US" altLang="ko-KR" sz="1200" strike="noStrike" baseline="0" dirty="0">
                          <a:effectLst/>
                        </a:rPr>
                        <a:t>Query</a:t>
                      </a:r>
                      <a:r>
                        <a:rPr lang="ko-KR" altLang="en-US" sz="1200" strike="noStrike" baseline="0" dirty="0">
                          <a:effectLst/>
                        </a:rPr>
                        <a:t>에 부적합할 경우 정확도 저하 </a:t>
                      </a:r>
                      <a:r>
                        <a:rPr lang="en-US" altLang="ko-KR" sz="1200" strike="noStrike" baseline="0" dirty="0">
                          <a:effectLst/>
                        </a:rPr>
                        <a:t>(QA5)</a:t>
                      </a:r>
                      <a:r>
                        <a:rPr lang="ko-KR" altLang="en-US" sz="1200" strike="noStrike" baseline="0" dirty="0">
                          <a:effectLst/>
                        </a:rPr>
                        <a:t> </a:t>
                      </a:r>
                      <a:endParaRPr lang="en-US" altLang="ko-KR" sz="1200" strike="noStrike" baseline="0" dirty="0">
                        <a:effectLst/>
                      </a:endParaRPr>
                    </a:p>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워크로드 별 대표 </a:t>
                      </a:r>
                      <a:r>
                        <a:rPr lang="en-US" altLang="ko-KR" sz="1200" dirty="0"/>
                        <a:t>Query </a:t>
                      </a:r>
                      <a:r>
                        <a:rPr lang="ko-KR" altLang="en-US" sz="1200" dirty="0"/>
                        <a:t>및 사전 위치 정보로 메모리 </a:t>
                      </a:r>
                      <a:r>
                        <a:rPr lang="ko-KR" altLang="en-US" sz="1200" dirty="0" err="1"/>
                        <a:t>점유량</a:t>
                      </a:r>
                      <a:r>
                        <a:rPr lang="ko-KR" altLang="en-US" sz="1200" dirty="0"/>
                        <a:t> 증가 </a:t>
                      </a:r>
                      <a:r>
                        <a:rPr lang="en-US" altLang="ko-KR" sz="1200" dirty="0"/>
                        <a:t>(QA2)</a:t>
                      </a:r>
                      <a:r>
                        <a:rPr lang="ko-KR" altLang="en-US" sz="1200" dirty="0"/>
                        <a:t> </a:t>
                      </a:r>
                      <a:endParaRPr lang="en-US" altLang="ko-KR" sz="1200" strike="noStrike" baseline="0" dirty="0">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QA2.</a:t>
                      </a:r>
                      <a:r>
                        <a:rPr lang="en-US" altLang="ko-KR" sz="1200" b="0" strike="noStrike" baseline="0" dirty="0">
                          <a:solidFill>
                            <a:schemeClr val="tx1"/>
                          </a:solidFill>
                        </a:rPr>
                        <a:t> </a:t>
                      </a:r>
                      <a:r>
                        <a:rPr lang="en-US" altLang="ko-KR" sz="1200" b="0" strike="noStrike" dirty="0">
                          <a:solidFill>
                            <a:schemeClr val="tx1"/>
                          </a:solidFill>
                        </a:rPr>
                        <a:t>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QA5.</a:t>
                      </a:r>
                      <a:r>
                        <a:rPr lang="en-US" altLang="ko-KR" sz="1200" b="0" strike="noStrike" baseline="0" dirty="0">
                          <a:solidFill>
                            <a:schemeClr val="tx1"/>
                          </a:solidFill>
                        </a:rPr>
                        <a:t> Functional</a:t>
                      </a:r>
                      <a:r>
                        <a:rPr lang="ko-KR" altLang="en-US" sz="1200" b="0" strike="noStrike" baseline="0" dirty="0">
                          <a:solidFill>
                            <a:schemeClr val="tx1"/>
                          </a:solidFill>
                        </a:rPr>
                        <a:t> </a:t>
                      </a:r>
                      <a:r>
                        <a:rPr lang="en-US" altLang="ko-KR" sz="1200" b="0" strike="noStrike" baseline="0" dirty="0">
                          <a:solidFill>
                            <a:schemeClr val="tx1"/>
                          </a:solidFill>
                        </a:rPr>
                        <a:t>Correctness</a:t>
                      </a:r>
                      <a:r>
                        <a:rPr lang="ko-KR" altLang="en-US" sz="1200" b="0" strike="noStrike" baseline="0" dirty="0">
                          <a:solidFill>
                            <a:schemeClr val="tx1"/>
                          </a:solidFill>
                        </a:rPr>
                        <a:t> </a:t>
                      </a:r>
                      <a:r>
                        <a:rPr lang="en-US" altLang="ko-KR" sz="1000" b="0" strike="noStrike" baseline="0" dirty="0">
                          <a:solidFill>
                            <a:schemeClr val="tx1"/>
                          </a:solidFill>
                        </a:rPr>
                        <a:t>(F1)</a:t>
                      </a:r>
                      <a:endParaRPr lang="en-US" altLang="ko-KR" sz="1000" b="0"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1"/>
                          </a:solidFill>
                          <a:latin typeface="+mn-lt"/>
                          <a:ea typeface="맑은 고딕"/>
                        </a:rPr>
                        <a:t>★★★</a:t>
                      </a:r>
                      <a:endParaRPr lang="en-US" altLang="ko-KR" sz="1200" b="0" dirty="0">
                        <a:solidFill>
                          <a:srgbClr val="1A1A1A"/>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QA5. Functional</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Correctness</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(F1)</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1"/>
                          </a:solidFill>
                          <a:latin typeface="+mn-lt"/>
                          <a:ea typeface="맑은 고딕"/>
                        </a:rPr>
                        <a:t>★★★</a:t>
                      </a:r>
                      <a:endParaRPr lang="en-US" altLang="ko-KR" sz="1200" strike="noStrike" dirty="0">
                        <a:solidFill>
                          <a:schemeClr val="accent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173</a:t>
            </a:fld>
            <a:endParaRPr lang="ko-KR" altLang="en-US" dirty="0"/>
          </a:p>
        </p:txBody>
      </p:sp>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8194315" cy="307777"/>
          </a:xfrm>
          <a:prstGeom prst="rect">
            <a:avLst/>
          </a:prstGeom>
          <a:noFill/>
        </p:spPr>
        <p:txBody>
          <a:bodyPr wrap="square" rtlCol="0">
            <a:spAutoFit/>
          </a:bodyPr>
          <a:lstStyle/>
          <a:p>
            <a:r>
              <a:rPr lang="ko-KR" altLang="en-US" sz="1400" b="1" dirty="0">
                <a:solidFill>
                  <a:schemeClr val="bg1"/>
                </a:solidFill>
              </a:rPr>
              <a:t>이기종 메모리 환경에서 </a:t>
            </a:r>
            <a:r>
              <a:rPr lang="en-US" altLang="ko-KR" sz="1400" b="1" dirty="0">
                <a:solidFill>
                  <a:schemeClr val="bg1"/>
                </a:solidFill>
              </a:rPr>
              <a:t>KV </a:t>
            </a:r>
            <a:r>
              <a:rPr lang="ko-KR" altLang="en-US" sz="1400" b="1" dirty="0">
                <a:solidFill>
                  <a:schemeClr val="bg1"/>
                </a:solidFill>
              </a:rPr>
              <a:t>재사용성을 높여 메모리 압력과 응답 시간을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“KV </a:t>
            </a:r>
            <a:r>
              <a:rPr lang="ko-KR" altLang="en-US" sz="1100" dirty="0"/>
              <a:t>캐시를 가능한 많이 저장하고</a:t>
            </a:r>
            <a:r>
              <a:rPr lang="en-US" altLang="ko-KR" sz="1100" dirty="0"/>
              <a:t>, </a:t>
            </a:r>
            <a:r>
              <a:rPr lang="ko-KR" altLang="en-US" sz="1100" dirty="0"/>
              <a:t>재계산할 토큰을 사전에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“KV </a:t>
            </a:r>
            <a:r>
              <a:rPr lang="ko-KR" altLang="en-US" sz="1100" dirty="0"/>
              <a:t>캐시를 가능한 많이 저장하고</a:t>
            </a:r>
            <a:r>
              <a:rPr lang="en-US" altLang="ko-KR" sz="1100" dirty="0"/>
              <a:t>, </a:t>
            </a:r>
            <a:r>
              <a:rPr lang="ko-KR" altLang="en-US" sz="1100" dirty="0"/>
              <a:t>재계산할 토큰을 사전에 선정</a:t>
            </a:r>
            <a:r>
              <a:rPr lang="en-US" altLang="ko-KR" sz="1100" dirty="0"/>
              <a:t>＂</a:t>
            </a:r>
          </a:p>
        </p:txBody>
      </p:sp>
      <p:grpSp>
        <p:nvGrpSpPr>
          <p:cNvPr id="2" name="그룹 1"/>
          <p:cNvGrpSpPr/>
          <p:nvPr/>
        </p:nvGrpSpPr>
        <p:grpSpPr>
          <a:xfrm>
            <a:off x="4379138" y="4388476"/>
            <a:ext cx="1805626" cy="155448"/>
            <a:chOff x="-128513" y="3815614"/>
            <a:chExt cx="1805626" cy="155448"/>
          </a:xfrm>
        </p:grpSpPr>
        <p:sp>
          <p:nvSpPr>
            <p:cNvPr id="189" name="Rounded Rectangle 188"/>
            <p:cNvSpPr/>
            <p:nvPr/>
          </p:nvSpPr>
          <p:spPr>
            <a:xfrm>
              <a:off x="-128513" y="381561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90" name="TextBox 189"/>
            <p:cNvSpPr txBox="1"/>
            <p:nvPr/>
          </p:nvSpPr>
          <p:spPr>
            <a:xfrm>
              <a:off x="259794" y="3863340"/>
              <a:ext cx="1417319" cy="107722"/>
            </a:xfrm>
            <a:prstGeom prst="rect">
              <a:avLst/>
            </a:prstGeom>
            <a:noFill/>
          </p:spPr>
          <p:txBody>
            <a:bodyPr wrap="square" lIns="0" tIns="0" rIns="0" bIns="0" anchor="t">
              <a:spAutoFit/>
            </a:bodyPr>
            <a:lstStyle/>
            <a:p>
              <a:pPr algn="ctr"/>
              <a:r>
                <a:rPr lang="ko-KR" altLang="en-US" sz="700" dirty="0">
                  <a:solidFill>
                    <a:srgbClr val="404040"/>
                  </a:solidFill>
                  <a:latin typeface="맑은 고딕"/>
                  <a:ea typeface="맑은 고딕"/>
                </a:rPr>
                <a:t>생성된 </a:t>
              </a:r>
              <a:r>
                <a:rPr lang="en-US" altLang="ko-KR" sz="700" dirty="0">
                  <a:solidFill>
                    <a:srgbClr val="404040"/>
                  </a:solidFill>
                  <a:latin typeface="맑은 고딕"/>
                  <a:ea typeface="맑은 고딕"/>
                </a:rPr>
                <a:t>KV </a:t>
              </a:r>
              <a:r>
                <a:rPr sz="700" b="0" i="0" dirty="0" err="1">
                  <a:solidFill>
                    <a:srgbClr val="404040"/>
                  </a:solidFill>
                  <a:latin typeface="맑은 고딕"/>
                  <a:ea typeface="맑은 고딕"/>
                </a:rPr>
                <a:t>저장</a:t>
              </a:r>
              <a:r>
                <a:rPr sz="700" b="0" i="0" dirty="0">
                  <a:solidFill>
                    <a:srgbClr val="404040"/>
                  </a:solidFill>
                  <a:latin typeface="맑은 고딕"/>
                  <a:ea typeface="맑은 고딕"/>
                </a:rPr>
                <a:t> </a:t>
              </a:r>
              <a:r>
                <a:rPr lang="ko-KR" altLang="en-US" sz="700" b="0" i="0" dirty="0">
                  <a:solidFill>
                    <a:srgbClr val="404040"/>
                  </a:solidFill>
                  <a:latin typeface="맑은 고딕"/>
                  <a:ea typeface="맑은 고딕"/>
                </a:rPr>
                <a:t>위치는</a:t>
              </a:r>
              <a:r>
                <a:rPr sz="700" b="0" i="0" dirty="0">
                  <a:solidFill>
                    <a:srgbClr val="404040"/>
                  </a:solidFill>
                  <a:latin typeface="맑은 고딕"/>
                  <a:ea typeface="맑은 고딕"/>
                </a:rPr>
                <a:t> DP1이 </a:t>
              </a:r>
              <a:r>
                <a:rPr sz="700" b="0" i="0" dirty="0" err="1">
                  <a:solidFill>
                    <a:srgbClr val="404040"/>
                  </a:solidFill>
                  <a:latin typeface="맑은 고딕"/>
                  <a:ea typeface="맑은 고딕"/>
                </a:rPr>
                <a:t>결정</a:t>
              </a:r>
              <a:endParaRPr sz="700" b="0" i="0" dirty="0">
                <a:solidFill>
                  <a:srgbClr val="404040"/>
                </a:solidFill>
                <a:latin typeface="맑은 고딕"/>
                <a:ea typeface="맑은 고딕"/>
              </a:endParaRPr>
            </a:p>
          </p:txBody>
        </p:sp>
      </p:grpSp>
      <p:grpSp>
        <p:nvGrpSpPr>
          <p:cNvPr id="6" name="그룹 5"/>
          <p:cNvGrpSpPr/>
          <p:nvPr/>
        </p:nvGrpSpPr>
        <p:grpSpPr>
          <a:xfrm>
            <a:off x="4371905" y="4635879"/>
            <a:ext cx="2069859" cy="155448"/>
            <a:chOff x="440670" y="4246113"/>
            <a:chExt cx="2069859" cy="155448"/>
          </a:xfrm>
        </p:grpSpPr>
        <p:sp>
          <p:nvSpPr>
            <p:cNvPr id="191" name="Rounded Rectangle 190"/>
            <p:cNvSpPr/>
            <p:nvPr/>
          </p:nvSpPr>
          <p:spPr>
            <a:xfrm>
              <a:off x="440670" y="424611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sp>
          <p:nvSpPr>
            <p:cNvPr id="192" name="TextBox 191"/>
            <p:cNvSpPr txBox="1"/>
            <p:nvPr/>
          </p:nvSpPr>
          <p:spPr>
            <a:xfrm>
              <a:off x="802189" y="4281506"/>
              <a:ext cx="1708340" cy="107722"/>
            </a:xfrm>
            <a:prstGeom prst="rect">
              <a:avLst/>
            </a:prstGeom>
            <a:noFill/>
          </p:spPr>
          <p:txBody>
            <a:bodyPr wrap="square" lIns="0" tIns="0" rIns="0" bIns="0" anchor="t">
              <a:spAutoFit/>
            </a:bodyPr>
            <a:lstStyle/>
            <a:p>
              <a:pPr algn="ctr"/>
              <a:r>
                <a:rPr lang="ko-KR" altLang="en-US" sz="700" dirty="0">
                  <a:solidFill>
                    <a:srgbClr val="404040"/>
                  </a:solidFill>
                  <a:ea typeface="맑은 고딕"/>
                </a:rPr>
                <a:t>선택적 재계산할 연산 위치는 </a:t>
              </a:r>
              <a:r>
                <a:rPr lang="en-US" altLang="ko-KR" sz="700" dirty="0">
                  <a:solidFill>
                    <a:srgbClr val="404040"/>
                  </a:solidFill>
                  <a:ea typeface="맑은 고딕"/>
                </a:rPr>
                <a:t>DP2</a:t>
              </a:r>
              <a:r>
                <a:rPr lang="ko-KR" altLang="en-US" sz="700" dirty="0">
                  <a:solidFill>
                    <a:srgbClr val="404040"/>
                  </a:solidFill>
                  <a:ea typeface="맑은 고딕"/>
                </a:rPr>
                <a:t>가 결정 </a:t>
              </a:r>
            </a:p>
          </p:txBody>
        </p:sp>
      </p:grpSp>
      <p:grpSp>
        <p:nvGrpSpPr>
          <p:cNvPr id="7" name="그룹 6">
            <a:extLst>
              <a:ext uri="{FF2B5EF4-FFF2-40B4-BE49-F238E27FC236}">
                <a16:creationId xmlns:a16="http://schemas.microsoft.com/office/drawing/2014/main" id="{40FF77C7-CD72-4303-A0A9-900338825FA2}"/>
              </a:ext>
            </a:extLst>
          </p:cNvPr>
          <p:cNvGrpSpPr/>
          <p:nvPr/>
        </p:nvGrpSpPr>
        <p:grpSpPr>
          <a:xfrm>
            <a:off x="1344918" y="4397275"/>
            <a:ext cx="1604788" cy="138499"/>
            <a:chOff x="600198" y="4114184"/>
            <a:chExt cx="1205701" cy="138499"/>
          </a:xfrm>
        </p:grpSpPr>
        <p:cxnSp>
          <p:nvCxnSpPr>
            <p:cNvPr id="4" name="직선 연결선 3">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rgbClr val="404040"/>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1" name="TextBox 130">
              <a:extLst>
                <a:ext uri="{FF2B5EF4-FFF2-40B4-BE49-F238E27FC236}">
                  <a16:creationId xmlns:a16="http://schemas.microsoft.com/office/drawing/2014/main" id="{845A2BA6-EB2E-4418-8FBA-780692D561CD}"/>
                </a:ext>
              </a:extLst>
            </p:cNvPr>
            <p:cNvSpPr txBox="1"/>
            <p:nvPr/>
          </p:nvSpPr>
          <p:spPr>
            <a:xfrm>
              <a:off x="848224" y="4114184"/>
              <a:ext cx="957675" cy="138499"/>
            </a:xfrm>
            <a:prstGeom prst="rect">
              <a:avLst/>
            </a:prstGeom>
            <a:noFill/>
          </p:spPr>
          <p:txBody>
            <a:bodyPr wrap="square" lIns="0" tIns="0" rIns="0" bIns="0" anchor="t">
              <a:spAutoFit/>
            </a:bodyPr>
            <a:lstStyle/>
            <a:p>
              <a:pPr algn="l"/>
              <a:r>
                <a:rPr sz="900" b="0" i="0" dirty="0" err="1">
                  <a:solidFill>
                    <a:srgbClr val="7F7F7F"/>
                  </a:solidFill>
                  <a:latin typeface="맑은 고딕"/>
                  <a:ea typeface="맑은 고딕"/>
                </a:rPr>
                <a:t>사전</a:t>
              </a:r>
              <a:r>
                <a:rPr sz="900" b="0" i="0" dirty="0">
                  <a:solidFill>
                    <a:srgbClr val="7F7F7F"/>
                  </a:solidFill>
                  <a:latin typeface="맑은 고딕"/>
                  <a:ea typeface="맑은 고딕"/>
                </a:rPr>
                <a:t>(</a:t>
              </a:r>
              <a:r>
                <a:rPr sz="900" b="0" i="0" dirty="0" err="1">
                  <a:solidFill>
                    <a:srgbClr val="7F7F7F"/>
                  </a:solidFill>
                  <a:latin typeface="맑은 고딕"/>
                  <a:ea typeface="맑은 고딕"/>
                </a:rPr>
                <a:t>오프라인</a:t>
              </a:r>
              <a:r>
                <a:rPr sz="900" b="0" i="0" dirty="0">
                  <a:solidFill>
                    <a:srgbClr val="7F7F7F"/>
                  </a:solidFill>
                  <a:latin typeface="맑은 고딕"/>
                  <a:ea typeface="맑은 고딕"/>
                </a:rPr>
                <a:t>)</a:t>
              </a:r>
              <a:r>
                <a:rPr lang="ko-KR" altLang="en-US" sz="900" b="0" i="0" dirty="0">
                  <a:solidFill>
                    <a:srgbClr val="7F7F7F"/>
                  </a:solidFill>
                  <a:latin typeface="맑은 고딕"/>
                  <a:ea typeface="맑은 고딕"/>
                </a:rPr>
                <a:t> 단계</a:t>
              </a:r>
              <a:endParaRPr sz="900" b="0" i="0" dirty="0">
                <a:solidFill>
                  <a:srgbClr val="7F7F7F"/>
                </a:solidFill>
                <a:latin typeface="맑은 고딕"/>
                <a:ea typeface="맑은 고딕"/>
              </a:endParaRPr>
            </a:p>
          </p:txBody>
        </p:sp>
      </p:grpSp>
      <p:grpSp>
        <p:nvGrpSpPr>
          <p:cNvPr id="12" name="그룹 11">
            <a:extLst>
              <a:ext uri="{FF2B5EF4-FFF2-40B4-BE49-F238E27FC236}">
                <a16:creationId xmlns:a16="http://schemas.microsoft.com/office/drawing/2014/main" id="{247D65F3-C7FD-460C-BED7-DDB7768C9266}"/>
              </a:ext>
            </a:extLst>
          </p:cNvPr>
          <p:cNvGrpSpPr/>
          <p:nvPr/>
        </p:nvGrpSpPr>
        <p:grpSpPr>
          <a:xfrm>
            <a:off x="2930299" y="4397275"/>
            <a:ext cx="1343682" cy="276999"/>
            <a:chOff x="2473452" y="4689663"/>
            <a:chExt cx="1009528" cy="276999"/>
          </a:xfrm>
        </p:grpSpPr>
        <p:cxnSp>
          <p:nvCxnSpPr>
            <p:cNvPr id="134" name="직선 연결선 133">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7FD259B9-EACC-4FCC-BE58-27DC7157A5BA}"/>
                </a:ext>
              </a:extLst>
            </p:cNvPr>
            <p:cNvSpPr txBox="1"/>
            <p:nvPr/>
          </p:nvSpPr>
          <p:spPr>
            <a:xfrm>
              <a:off x="2721478" y="4689663"/>
              <a:ext cx="761502" cy="276999"/>
            </a:xfrm>
            <a:prstGeom prst="rect">
              <a:avLst/>
            </a:prstGeom>
            <a:noFill/>
          </p:spPr>
          <p:txBody>
            <a:bodyPr wrap="square" lIns="0" tIns="0" rIns="0" bIns="0" anchor="t">
              <a:spAutoFit/>
            </a:bodyPr>
            <a:lstStyle/>
            <a:p>
              <a:pPr algn="l"/>
              <a:r>
                <a:rPr lang="ko-KR" altLang="en-US" sz="900" b="0" i="0" dirty="0">
                  <a:solidFill>
                    <a:srgbClr val="7F7F7F"/>
                  </a:solidFill>
                  <a:latin typeface="맑은 고딕"/>
                  <a:ea typeface="맑은 고딕"/>
                </a:rPr>
                <a:t>서빙 시</a:t>
              </a:r>
              <a:r>
                <a:rPr lang="en-US" altLang="ko-KR" sz="900" b="0" i="0" dirty="0">
                  <a:solidFill>
                    <a:srgbClr val="7F7F7F"/>
                  </a:solidFill>
                  <a:latin typeface="맑은 고딕"/>
                  <a:ea typeface="맑은 고딕"/>
                </a:rPr>
                <a:t>(</a:t>
              </a:r>
              <a:r>
                <a:rPr lang="ko-KR" altLang="en-US" sz="900" b="0" i="0" dirty="0">
                  <a:solidFill>
                    <a:srgbClr val="7F7F7F"/>
                  </a:solidFill>
                  <a:latin typeface="맑은 고딕"/>
                  <a:ea typeface="맑은 고딕"/>
                </a:rPr>
                <a:t>요청 경로</a:t>
              </a:r>
              <a:r>
                <a:rPr lang="en-US" altLang="ko-KR" sz="900" b="0" i="0" dirty="0">
                  <a:solidFill>
                    <a:srgbClr val="7F7F7F"/>
                  </a:solidFill>
                  <a:latin typeface="맑은 고딕"/>
                  <a:ea typeface="맑은 고딕"/>
                </a:rPr>
                <a:t>)</a:t>
              </a:r>
              <a:endParaRPr sz="900" b="0" i="0" dirty="0">
                <a:solidFill>
                  <a:srgbClr val="7F7F7F"/>
                </a:solidFill>
                <a:latin typeface="맑은 고딕"/>
                <a:ea typeface="맑은 고딕"/>
              </a:endParaRPr>
            </a:p>
          </p:txBody>
        </p:sp>
      </p:grpSp>
      <p:sp>
        <p:nvSpPr>
          <p:cNvPr id="239" name="TextBox 238">
            <a:extLst>
              <a:ext uri="{FF2B5EF4-FFF2-40B4-BE49-F238E27FC236}">
                <a16:creationId xmlns:a16="http://schemas.microsoft.com/office/drawing/2014/main" id="{5EDBAE0C-74A5-43A7-8D12-CE3C549C093E}"/>
              </a:ext>
            </a:extLst>
          </p:cNvPr>
          <p:cNvSpPr txBox="1"/>
          <p:nvPr/>
        </p:nvSpPr>
        <p:spPr>
          <a:xfrm>
            <a:off x="4744348" y="6287854"/>
            <a:ext cx="631904" cy="276999"/>
          </a:xfrm>
          <a:prstGeom prst="rect">
            <a:avLst/>
          </a:prstGeom>
          <a:noFill/>
        </p:spPr>
        <p:txBody>
          <a:bodyPr wrap="none" rtlCol="0">
            <a:spAutoFit/>
          </a:bodyPr>
          <a:lstStyle/>
          <a:p>
            <a:r>
              <a:rPr lang="ko-KR" altLang="en-US" sz="1200" dirty="0"/>
              <a:t>총</a:t>
            </a:r>
            <a:r>
              <a:rPr lang="en-US" altLang="ko-KR" sz="1200" dirty="0"/>
              <a:t> 8</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10209411" y="6251123"/>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246" name="직사각형 245">
            <a:extLst>
              <a:ext uri="{FF2B5EF4-FFF2-40B4-BE49-F238E27FC236}">
                <a16:creationId xmlns:a16="http://schemas.microsoft.com/office/drawing/2014/main" id="{4E780B97-B2C1-448F-BF73-FB8F18044673}"/>
              </a:ext>
            </a:extLst>
          </p:cNvPr>
          <p:cNvSpPr/>
          <p:nvPr/>
        </p:nvSpPr>
        <p:spPr>
          <a:xfrm>
            <a:off x="1041573" y="1037703"/>
            <a:ext cx="5492576" cy="5607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모서리가 둥근 직사각형 37">
            <a:extLst>
              <a:ext uri="{FF2B5EF4-FFF2-40B4-BE49-F238E27FC236}">
                <a16:creationId xmlns:a16="http://schemas.microsoft.com/office/drawing/2014/main" id="{6B693242-5EEF-4D32-8F09-9F360043D5FB}"/>
              </a:ext>
            </a:extLst>
          </p:cNvPr>
          <p:cNvSpPr/>
          <p:nvPr/>
        </p:nvSpPr>
        <p:spPr>
          <a:xfrm>
            <a:off x="10748621"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F5 KV </a:t>
            </a:r>
            <a:r>
              <a:rPr lang="ko-KR" altLang="en-US" sz="700" dirty="0">
                <a:latin typeface="맑은 고딕" panose="020B0503020000020004" pitchFamily="50" charset="-127"/>
                <a:ea typeface="맑은 고딕" panose="020B0503020000020004" pitchFamily="50" charset="-127"/>
              </a:rPr>
              <a:t>캐시 재사용</a:t>
            </a:r>
          </a:p>
        </p:txBody>
      </p:sp>
      <p:sp>
        <p:nvSpPr>
          <p:cNvPr id="125" name="모서리가 둥근 직사각형 37">
            <a:extLst>
              <a:ext uri="{FF2B5EF4-FFF2-40B4-BE49-F238E27FC236}">
                <a16:creationId xmlns:a16="http://schemas.microsoft.com/office/drawing/2014/main" id="{7D2F8ED5-0EFB-410C-A2C3-3568EEE141C3}"/>
              </a:ext>
            </a:extLst>
          </p:cNvPr>
          <p:cNvSpPr/>
          <p:nvPr/>
        </p:nvSpPr>
        <p:spPr>
          <a:xfrm>
            <a:off x="9349875"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26" name="모서리가 둥근 직사각형 37">
            <a:extLst>
              <a:ext uri="{FF2B5EF4-FFF2-40B4-BE49-F238E27FC236}">
                <a16:creationId xmlns:a16="http://schemas.microsoft.com/office/drawing/2014/main" id="{D6402B05-EBC0-4E87-AEC1-F112EEA19579}"/>
              </a:ext>
            </a:extLst>
          </p:cNvPr>
          <p:cNvSpPr/>
          <p:nvPr/>
        </p:nvSpPr>
        <p:spPr>
          <a:xfrm>
            <a:off x="10019909"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27" name="모서리가 둥근 직사각형 37">
            <a:extLst>
              <a:ext uri="{FF2B5EF4-FFF2-40B4-BE49-F238E27FC236}">
                <a16:creationId xmlns:a16="http://schemas.microsoft.com/office/drawing/2014/main" id="{4D0981FB-60C2-441C-9C62-6858891AED7C}"/>
              </a:ext>
            </a:extLst>
          </p:cNvPr>
          <p:cNvSpPr/>
          <p:nvPr/>
        </p:nvSpPr>
        <p:spPr>
          <a:xfrm>
            <a:off x="10922000" y="813626"/>
            <a:ext cx="1035051"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모델 출력 정확도</a:t>
            </a:r>
          </a:p>
        </p:txBody>
      </p:sp>
      <p:sp>
        <p:nvSpPr>
          <p:cNvPr id="139" name="Rectangle 138"/>
          <p:cNvSpPr/>
          <p:nvPr/>
        </p:nvSpPr>
        <p:spPr>
          <a:xfrm>
            <a:off x="7300019" y="1855263"/>
            <a:ext cx="1493672" cy="365760"/>
          </a:xfrm>
          <a:prstGeom prst="rect">
            <a:avLst/>
          </a:prstGeom>
          <a:solidFill>
            <a:schemeClr val="accent4">
              <a:lumMod val="20000"/>
              <a:lumOff val="80000"/>
            </a:schemeClr>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a:solidFill>
                  <a:srgbClr val="000000"/>
                </a:solidFill>
                <a:latin typeface="맑은 고딕"/>
                <a:ea typeface="맑은 고딕"/>
              </a:rPr>
              <a:t>Query Sampler</a:t>
            </a:r>
          </a:p>
          <a:p>
            <a:pPr algn="ctr"/>
            <a:r>
              <a:rPr lang="en-US" sz="800" b="0" i="0" dirty="0">
                <a:solidFill>
                  <a:srgbClr val="000000"/>
                </a:solidFill>
                <a:latin typeface="맑은 고딕"/>
                <a:ea typeface="맑은 고딕"/>
              </a:rPr>
              <a:t>W/L</a:t>
            </a:r>
            <a:r>
              <a:rPr lang="ko-KR" altLang="en-US" sz="800" b="0" i="0" dirty="0">
                <a:solidFill>
                  <a:srgbClr val="000000"/>
                </a:solidFill>
                <a:latin typeface="맑은 고딕"/>
                <a:ea typeface="맑은 고딕"/>
              </a:rPr>
              <a:t>별 </a:t>
            </a:r>
            <a:r>
              <a:rPr sz="800" b="0" i="0" dirty="0" err="1">
                <a:solidFill>
                  <a:srgbClr val="000000"/>
                </a:solidFill>
                <a:latin typeface="맑은 고딕"/>
                <a:ea typeface="맑은 고딕"/>
              </a:rPr>
              <a:t>대표</a:t>
            </a:r>
            <a:r>
              <a:rPr sz="800" b="0" i="0" dirty="0">
                <a:solidFill>
                  <a:srgbClr val="000000"/>
                </a:solidFill>
                <a:latin typeface="맑은 고딕"/>
                <a:ea typeface="맑은 고딕"/>
              </a:rPr>
              <a:t> Query </a:t>
            </a:r>
            <a:r>
              <a:rPr sz="800" b="0" i="0" dirty="0" err="1">
                <a:solidFill>
                  <a:srgbClr val="000000"/>
                </a:solidFill>
                <a:latin typeface="맑은 고딕"/>
                <a:ea typeface="맑은 고딕"/>
              </a:rPr>
              <a:t>선정</a:t>
            </a:r>
            <a:r>
              <a:rPr lang="en-US" sz="800" b="0" i="0" dirty="0">
                <a:solidFill>
                  <a:srgbClr val="000000"/>
                </a:solidFill>
                <a:latin typeface="맑은 고딕"/>
                <a:ea typeface="맑은 고딕"/>
              </a:rPr>
              <a:t> </a:t>
            </a:r>
            <a:r>
              <a:rPr sz="800" b="0" i="0" dirty="0">
                <a:solidFill>
                  <a:srgbClr val="000000"/>
                </a:solidFill>
                <a:latin typeface="맑은 고딕"/>
                <a:ea typeface="맑은 고딕"/>
              </a:rPr>
              <a:t>(</a:t>
            </a:r>
            <a:r>
              <a:rPr sz="800" b="0" i="0" dirty="0" err="1">
                <a:solidFill>
                  <a:srgbClr val="000000"/>
                </a:solidFill>
                <a:latin typeface="맑은 고딕"/>
                <a:ea typeface="맑은 고딕"/>
              </a:rPr>
              <a:t>사전</a:t>
            </a:r>
            <a:r>
              <a:rPr sz="800" b="0" i="0" dirty="0">
                <a:solidFill>
                  <a:srgbClr val="000000"/>
                </a:solidFill>
                <a:latin typeface="맑은 고딕"/>
                <a:ea typeface="맑은 고딕"/>
              </a:rPr>
              <a:t>)</a:t>
            </a:r>
          </a:p>
        </p:txBody>
      </p:sp>
      <p:sp>
        <p:nvSpPr>
          <p:cNvPr id="140" name="Rectangle 139"/>
          <p:cNvSpPr/>
          <p:nvPr/>
        </p:nvSpPr>
        <p:spPr>
          <a:xfrm>
            <a:off x="8892675" y="1855263"/>
            <a:ext cx="13258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a:solidFill>
                  <a:srgbClr val="000000"/>
                </a:solidFill>
                <a:latin typeface="맑은 고딕"/>
                <a:ea typeface="맑은 고딕"/>
              </a:rPr>
              <a:t>User Query Manager</a:t>
            </a:r>
          </a:p>
          <a:p>
            <a:pPr algn="ctr"/>
            <a:r>
              <a:rPr sz="800" b="0" i="0" dirty="0" err="1">
                <a:solidFill>
                  <a:srgbClr val="000000"/>
                </a:solidFill>
                <a:latin typeface="맑은 고딕"/>
                <a:ea typeface="맑은 고딕"/>
              </a:rPr>
              <a:t>실제</a:t>
            </a:r>
            <a:r>
              <a:rPr sz="800" b="0" i="0" dirty="0">
                <a:solidFill>
                  <a:srgbClr val="000000"/>
                </a:solidFill>
                <a:latin typeface="맑은 고딕"/>
                <a:ea typeface="맑은 고딕"/>
              </a:rPr>
              <a:t> Query (</a:t>
            </a:r>
            <a:r>
              <a:rPr sz="800" b="0" i="0" dirty="0" err="1">
                <a:solidFill>
                  <a:srgbClr val="000000"/>
                </a:solidFill>
                <a:latin typeface="맑은 고딕"/>
                <a:ea typeface="맑은 고딕"/>
              </a:rPr>
              <a:t>서빙</a:t>
            </a:r>
            <a:r>
              <a:rPr sz="800" b="0" i="0" dirty="0">
                <a:solidFill>
                  <a:srgbClr val="000000"/>
                </a:solidFill>
                <a:latin typeface="맑은 고딕"/>
                <a:ea typeface="맑은 고딕"/>
              </a:rPr>
              <a:t> 시)</a:t>
            </a:r>
          </a:p>
        </p:txBody>
      </p:sp>
      <p:sp>
        <p:nvSpPr>
          <p:cNvPr id="141" name="Rectangle 140"/>
          <p:cNvSpPr/>
          <p:nvPr/>
        </p:nvSpPr>
        <p:spPr>
          <a:xfrm>
            <a:off x="6652395" y="2378458"/>
            <a:ext cx="3474720" cy="868680"/>
          </a:xfrm>
          <a:prstGeom prst="rect">
            <a:avLst/>
          </a:prstGeom>
          <a:no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142" name="Rectangle 141"/>
          <p:cNvSpPr/>
          <p:nvPr/>
        </p:nvSpPr>
        <p:spPr>
          <a:xfrm>
            <a:off x="6652396" y="2378458"/>
            <a:ext cx="11403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900" b="1" i="0" dirty="0">
                <a:solidFill>
                  <a:srgbClr val="FFFFFF"/>
                </a:solidFill>
                <a:latin typeface="맑은 고딕"/>
                <a:ea typeface="맑은 고딕"/>
              </a:rPr>
              <a:t>«layer» </a:t>
            </a:r>
            <a:r>
              <a:rPr lang="en-US" sz="900" b="1" dirty="0">
                <a:solidFill>
                  <a:srgbClr val="FFFFFF"/>
                </a:solidFill>
                <a:latin typeface="맑은 고딕"/>
                <a:ea typeface="맑은 고딕"/>
              </a:rPr>
              <a:t>Generation</a:t>
            </a:r>
            <a:endParaRPr sz="900" b="1" i="0" dirty="0">
              <a:solidFill>
                <a:srgbClr val="FFFFFF"/>
              </a:solidFill>
              <a:latin typeface="맑은 고딕"/>
              <a:ea typeface="맑은 고딕"/>
            </a:endParaRPr>
          </a:p>
        </p:txBody>
      </p:sp>
      <p:sp>
        <p:nvSpPr>
          <p:cNvPr id="143" name="Rectangle 142"/>
          <p:cNvSpPr/>
          <p:nvPr/>
        </p:nvSpPr>
        <p:spPr>
          <a:xfrm>
            <a:off x="6880995" y="2744218"/>
            <a:ext cx="1280160" cy="420624"/>
          </a:xfrm>
          <a:prstGeom prst="rect">
            <a:avLst/>
          </a:prstGeom>
          <a:solidFill>
            <a:schemeClr val="bg1">
              <a:lumMod val="85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Attention Manager</a:t>
            </a:r>
          </a:p>
          <a:p>
            <a:pPr algn="ctr"/>
            <a:r>
              <a:rPr sz="800" b="0" i="0" dirty="0">
                <a:solidFill>
                  <a:srgbClr val="000000"/>
                </a:solidFill>
                <a:latin typeface="맑은 고딕"/>
                <a:ea typeface="맑은 고딕"/>
              </a:rPr>
              <a:t>Query × KV Attention</a:t>
            </a:r>
          </a:p>
        </p:txBody>
      </p:sp>
      <p:sp>
        <p:nvSpPr>
          <p:cNvPr id="146" name="Rectangle 145"/>
          <p:cNvSpPr/>
          <p:nvPr/>
        </p:nvSpPr>
        <p:spPr>
          <a:xfrm>
            <a:off x="8618355" y="2744218"/>
            <a:ext cx="137160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Selective </a:t>
            </a:r>
            <a:r>
              <a:rPr sz="900" b="1" i="0" dirty="0" err="1">
                <a:solidFill>
                  <a:srgbClr val="000000"/>
                </a:solidFill>
                <a:latin typeface="맑은 고딕"/>
                <a:ea typeface="맑은 고딕"/>
              </a:rPr>
              <a:t>Recomputer</a:t>
            </a:r>
            <a:endParaRPr sz="900" b="1" i="0" dirty="0">
              <a:solidFill>
                <a:srgbClr val="000000"/>
              </a:solidFill>
              <a:latin typeface="맑은 고딕"/>
              <a:ea typeface="맑은 고딕"/>
            </a:endParaRPr>
          </a:p>
          <a:p>
            <a:pPr algn="ctr"/>
            <a:r>
              <a:rPr sz="800" b="0" i="0" dirty="0" err="1">
                <a:solidFill>
                  <a:srgbClr val="000000"/>
                </a:solidFill>
                <a:latin typeface="맑은 고딕"/>
                <a:ea typeface="맑은 고딕"/>
              </a:rPr>
              <a:t>선정</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토큰만</a:t>
            </a:r>
            <a:r>
              <a:rPr sz="800" b="0" i="0" dirty="0">
                <a:solidFill>
                  <a:srgbClr val="000000"/>
                </a:solidFill>
                <a:latin typeface="맑은 고딕"/>
                <a:ea typeface="맑은 고딕"/>
              </a:rPr>
              <a:t> </a:t>
            </a:r>
            <a:r>
              <a:rPr sz="800" b="0" i="0" dirty="0" err="1">
                <a:solidFill>
                  <a:srgbClr val="000000"/>
                </a:solidFill>
                <a:latin typeface="맑은 고딕"/>
                <a:ea typeface="맑은 고딕"/>
              </a:rPr>
              <a:t>재계산</a:t>
            </a:r>
            <a:endParaRPr sz="800" b="0" i="0" dirty="0">
              <a:solidFill>
                <a:srgbClr val="000000"/>
              </a:solidFill>
              <a:latin typeface="맑은 고딕"/>
              <a:ea typeface="맑은 고딕"/>
            </a:endParaRPr>
          </a:p>
        </p:txBody>
      </p:sp>
      <p:sp>
        <p:nvSpPr>
          <p:cNvPr id="149" name="Rounded Rectangle 148"/>
          <p:cNvSpPr/>
          <p:nvPr/>
        </p:nvSpPr>
        <p:spPr>
          <a:xfrm>
            <a:off x="9651627" y="2661922"/>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dirty="0">
                <a:solidFill>
                  <a:srgbClr val="FFFFFF"/>
                </a:solidFill>
                <a:latin typeface="맑은 고딕"/>
                <a:ea typeface="맑은 고딕"/>
              </a:rPr>
              <a:t>DP2</a:t>
            </a:r>
          </a:p>
        </p:txBody>
      </p:sp>
      <p:sp>
        <p:nvSpPr>
          <p:cNvPr id="151" name="Rectangle 150"/>
          <p:cNvSpPr/>
          <p:nvPr/>
        </p:nvSpPr>
        <p:spPr>
          <a:xfrm>
            <a:off x="6652395" y="3384298"/>
            <a:ext cx="3474720" cy="841248"/>
          </a:xfrm>
          <a:prstGeom prst="rect">
            <a:avLst/>
          </a:prstGeom>
          <a:no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dirty="0"/>
          </a:p>
        </p:txBody>
      </p:sp>
      <p:sp>
        <p:nvSpPr>
          <p:cNvPr id="152" name="Rectangle 151"/>
          <p:cNvSpPr/>
          <p:nvPr/>
        </p:nvSpPr>
        <p:spPr>
          <a:xfrm>
            <a:off x="6652394" y="3384298"/>
            <a:ext cx="1004064"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900" b="1" i="0" dirty="0">
                <a:solidFill>
                  <a:srgbClr val="FFFFFF"/>
                </a:solidFill>
                <a:latin typeface="맑은 고딕"/>
                <a:ea typeface="맑은 고딕"/>
              </a:rPr>
              <a:t>«layer» </a:t>
            </a:r>
            <a:r>
              <a:rPr lang="en-US" sz="900" b="1" i="0" dirty="0">
                <a:solidFill>
                  <a:srgbClr val="FFFFFF"/>
                </a:solidFill>
                <a:latin typeface="맑은 고딕"/>
                <a:ea typeface="맑은 고딕"/>
              </a:rPr>
              <a:t>Blend</a:t>
            </a:r>
            <a:endParaRPr sz="900" b="1" i="0" dirty="0">
              <a:solidFill>
                <a:srgbClr val="FFFFFF"/>
              </a:solidFill>
              <a:latin typeface="맑은 고딕"/>
              <a:ea typeface="맑은 고딕"/>
            </a:endParaRPr>
          </a:p>
        </p:txBody>
      </p:sp>
      <p:sp>
        <p:nvSpPr>
          <p:cNvPr id="156" name="Rectangle 155"/>
          <p:cNvSpPr/>
          <p:nvPr/>
        </p:nvSpPr>
        <p:spPr>
          <a:xfrm>
            <a:off x="7792756" y="3704338"/>
            <a:ext cx="1054199" cy="457200"/>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KV Sampler</a:t>
            </a:r>
          </a:p>
          <a:p>
            <a:pPr algn="ctr">
              <a:lnSpc>
                <a:spcPct val="150000"/>
              </a:lnSpc>
            </a:pPr>
            <a:r>
              <a:rPr sz="800" b="0" i="0" dirty="0" err="1">
                <a:solidFill>
                  <a:srgbClr val="000000"/>
                </a:solidFill>
                <a:latin typeface="맑은 고딕"/>
                <a:ea typeface="맑은 고딕"/>
              </a:rPr>
              <a:t>점수로</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a:t>
            </a:r>
            <a:r>
              <a:rPr sz="800" b="0" i="0" dirty="0">
                <a:solidFill>
                  <a:srgbClr val="000000"/>
                </a:solidFill>
                <a:latin typeface="맑은 고딕"/>
                <a:ea typeface="맑은 고딕"/>
              </a:rPr>
              <a:t> </a:t>
            </a:r>
            <a:r>
              <a:rPr sz="800" b="0" i="0" dirty="0" err="1">
                <a:solidFill>
                  <a:srgbClr val="000000"/>
                </a:solidFill>
                <a:latin typeface="맑은 고딕"/>
                <a:ea typeface="맑은 고딕"/>
              </a:rPr>
              <a:t>선정</a:t>
            </a:r>
            <a:endParaRPr sz="800" b="0" i="0" dirty="0">
              <a:solidFill>
                <a:srgbClr val="000000"/>
              </a:solidFill>
              <a:latin typeface="맑은 고딕"/>
              <a:ea typeface="맑은 고딕"/>
            </a:endParaRPr>
          </a:p>
        </p:txBody>
      </p:sp>
      <p:sp>
        <p:nvSpPr>
          <p:cNvPr id="159" name="Rectangle 158"/>
          <p:cNvSpPr/>
          <p:nvPr/>
        </p:nvSpPr>
        <p:spPr>
          <a:xfrm>
            <a:off x="9166995" y="3704338"/>
            <a:ext cx="914398" cy="457200"/>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err="1">
                <a:solidFill>
                  <a:srgbClr val="000000"/>
                </a:solidFill>
                <a:latin typeface="맑은 고딕"/>
                <a:ea typeface="맑은 고딕"/>
              </a:rPr>
              <a:t>Recompute</a:t>
            </a:r>
            <a:r>
              <a:rPr sz="900" b="1" i="0" dirty="0">
                <a:solidFill>
                  <a:srgbClr val="000000"/>
                </a:solidFill>
                <a:latin typeface="맑은 고딕"/>
                <a:ea typeface="맑은 고딕"/>
              </a:rPr>
              <a:t> </a:t>
            </a:r>
            <a:endParaRPr lang="en-US" sz="900" b="1" i="0" dirty="0">
              <a:solidFill>
                <a:srgbClr val="000000"/>
              </a:solidFill>
              <a:latin typeface="맑은 고딕"/>
              <a:ea typeface="맑은 고딕"/>
            </a:endParaRPr>
          </a:p>
          <a:p>
            <a:pPr algn="ctr"/>
            <a:r>
              <a:rPr sz="900" b="1" i="0" dirty="0">
                <a:solidFill>
                  <a:srgbClr val="000000"/>
                </a:solidFill>
                <a:latin typeface="맑은 고딕"/>
                <a:ea typeface="맑은 고딕"/>
              </a:rPr>
              <a:t>Token Selector</a:t>
            </a:r>
          </a:p>
        </p:txBody>
      </p:sp>
      <p:cxnSp>
        <p:nvCxnSpPr>
          <p:cNvPr id="172" name="Connector 171"/>
          <p:cNvCxnSpPr/>
          <p:nvPr/>
        </p:nvCxnSpPr>
        <p:spPr>
          <a:xfrm>
            <a:off x="8023995" y="2268730"/>
            <a:ext cx="0" cy="475488"/>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3" name="Oval 172"/>
          <p:cNvSpPr/>
          <p:nvPr/>
        </p:nvSpPr>
        <p:spPr>
          <a:xfrm>
            <a:off x="7946271" y="242875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1</a:t>
            </a:r>
          </a:p>
        </p:txBody>
      </p:sp>
      <p:cxnSp>
        <p:nvCxnSpPr>
          <p:cNvPr id="174" name="Connector 173"/>
          <p:cNvCxnSpPr/>
          <p:nvPr/>
        </p:nvCxnSpPr>
        <p:spPr>
          <a:xfrm flipH="1">
            <a:off x="10127115" y="2835658"/>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10209411" y="275793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2</a:t>
            </a:r>
          </a:p>
        </p:txBody>
      </p:sp>
      <p:cxnSp>
        <p:nvCxnSpPr>
          <p:cNvPr id="176" name="Connector 175"/>
          <p:cNvCxnSpPr/>
          <p:nvPr/>
        </p:nvCxnSpPr>
        <p:spPr>
          <a:xfrm>
            <a:off x="7932555" y="3164842"/>
            <a:ext cx="411479" cy="539496"/>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7" name="Oval 176"/>
          <p:cNvSpPr/>
          <p:nvPr/>
        </p:nvSpPr>
        <p:spPr>
          <a:xfrm>
            <a:off x="8060571" y="335686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3</a:t>
            </a:r>
          </a:p>
        </p:txBody>
      </p:sp>
      <p:cxnSp>
        <p:nvCxnSpPr>
          <p:cNvPr id="180" name="Connector 179"/>
          <p:cNvCxnSpPr/>
          <p:nvPr/>
        </p:nvCxnSpPr>
        <p:spPr>
          <a:xfrm>
            <a:off x="8846955" y="3932938"/>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10127115" y="3978658"/>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2" name="Oval 181"/>
          <p:cNvSpPr/>
          <p:nvPr/>
        </p:nvSpPr>
        <p:spPr>
          <a:xfrm>
            <a:off x="10186550" y="3879693"/>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900" b="1" dirty="0">
                <a:solidFill>
                  <a:srgbClr val="FFFFFF"/>
                </a:solidFill>
                <a:latin typeface="맑은 고딕"/>
                <a:ea typeface="맑은 고딕"/>
              </a:rPr>
              <a:t>4</a:t>
            </a:r>
            <a:endParaRPr sz="900" b="1" i="0" dirty="0">
              <a:solidFill>
                <a:srgbClr val="FFFFFF"/>
              </a:solidFill>
              <a:latin typeface="맑은 고딕"/>
              <a:ea typeface="맑은 고딕"/>
            </a:endParaRPr>
          </a:p>
        </p:txBody>
      </p:sp>
      <p:cxnSp>
        <p:nvCxnSpPr>
          <p:cNvPr id="183" name="Connector 182"/>
          <p:cNvCxnSpPr/>
          <p:nvPr/>
        </p:nvCxnSpPr>
        <p:spPr>
          <a:xfrm>
            <a:off x="9349875" y="2268730"/>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4" name="Oval 183"/>
          <p:cNvSpPr/>
          <p:nvPr/>
        </p:nvSpPr>
        <p:spPr>
          <a:xfrm>
            <a:off x="9272151" y="2428750"/>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900" b="1" i="0" dirty="0">
                <a:solidFill>
                  <a:srgbClr val="FFFFFF"/>
                </a:solidFill>
                <a:latin typeface="맑은 고딕"/>
                <a:ea typeface="맑은 고딕"/>
              </a:rPr>
              <a:t>5</a:t>
            </a:r>
            <a:endParaRPr sz="900" b="1" i="0" dirty="0">
              <a:solidFill>
                <a:srgbClr val="FFFFFF"/>
              </a:solidFill>
              <a:latin typeface="맑은 고딕"/>
              <a:ea typeface="맑은 고딕"/>
            </a:endParaRPr>
          </a:p>
        </p:txBody>
      </p:sp>
      <p:cxnSp>
        <p:nvCxnSpPr>
          <p:cNvPr id="185" name="Connector 184"/>
          <p:cNvCxnSpPr/>
          <p:nvPr/>
        </p:nvCxnSpPr>
        <p:spPr>
          <a:xfrm flipH="1">
            <a:off x="10127115" y="3064258"/>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6" name="Oval 185"/>
          <p:cNvSpPr/>
          <p:nvPr/>
        </p:nvSpPr>
        <p:spPr>
          <a:xfrm>
            <a:off x="10209411" y="298653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900" b="1" dirty="0">
                <a:solidFill>
                  <a:srgbClr val="FFFFFF"/>
                </a:solidFill>
                <a:latin typeface="맑은 고딕"/>
                <a:ea typeface="맑은 고딕"/>
              </a:rPr>
              <a:t>6</a:t>
            </a:r>
            <a:endParaRPr sz="900" b="1" i="0" dirty="0">
              <a:solidFill>
                <a:srgbClr val="FFFFFF"/>
              </a:solidFill>
              <a:latin typeface="맑은 고딕"/>
              <a:ea typeface="맑은 고딕"/>
            </a:endParaRPr>
          </a:p>
        </p:txBody>
      </p:sp>
      <p:sp>
        <p:nvSpPr>
          <p:cNvPr id="194" name="Rectangle 193"/>
          <p:cNvSpPr/>
          <p:nvPr/>
        </p:nvSpPr>
        <p:spPr>
          <a:xfrm>
            <a:off x="1984648" y="1860170"/>
            <a:ext cx="137160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i="0" dirty="0">
                <a:solidFill>
                  <a:srgbClr val="000000"/>
                </a:solidFill>
                <a:latin typeface="맑은 고딕"/>
                <a:ea typeface="맑은 고딕"/>
              </a:rPr>
              <a:t>User Query Manager</a:t>
            </a:r>
          </a:p>
          <a:p>
            <a:pPr algn="ctr"/>
            <a:r>
              <a:rPr sz="800" b="0" i="0" dirty="0" err="1">
                <a:solidFill>
                  <a:srgbClr val="000000"/>
                </a:solidFill>
                <a:latin typeface="맑은 고딕"/>
                <a:ea typeface="맑은 고딕"/>
              </a:rPr>
              <a:t>실제</a:t>
            </a:r>
            <a:r>
              <a:rPr sz="800" b="0" i="0" dirty="0">
                <a:solidFill>
                  <a:srgbClr val="000000"/>
                </a:solidFill>
                <a:latin typeface="맑은 고딕"/>
                <a:ea typeface="맑은 고딕"/>
              </a:rPr>
              <a:t> Query (</a:t>
            </a:r>
            <a:r>
              <a:rPr sz="800" b="0" i="0" dirty="0" err="1">
                <a:solidFill>
                  <a:srgbClr val="000000"/>
                </a:solidFill>
                <a:latin typeface="맑은 고딕"/>
                <a:ea typeface="맑은 고딕"/>
              </a:rPr>
              <a:t>요청</a:t>
            </a:r>
            <a:r>
              <a:rPr sz="800" b="0" i="0" dirty="0">
                <a:solidFill>
                  <a:srgbClr val="000000"/>
                </a:solidFill>
                <a:latin typeface="맑은 고딕"/>
                <a:ea typeface="맑은 고딕"/>
              </a:rPr>
              <a:t> </a:t>
            </a:r>
            <a:r>
              <a:rPr sz="800" b="0" i="0" dirty="0" err="1">
                <a:solidFill>
                  <a:srgbClr val="000000"/>
                </a:solidFill>
                <a:latin typeface="맑은 고딕"/>
                <a:ea typeface="맑은 고딕"/>
              </a:rPr>
              <a:t>시점</a:t>
            </a:r>
            <a:r>
              <a:rPr sz="800" b="0" i="0" dirty="0">
                <a:solidFill>
                  <a:srgbClr val="000000"/>
                </a:solidFill>
                <a:latin typeface="맑은 고딕"/>
                <a:ea typeface="맑은 고딕"/>
              </a:rPr>
              <a:t>)</a:t>
            </a:r>
          </a:p>
        </p:txBody>
      </p:sp>
      <p:sp>
        <p:nvSpPr>
          <p:cNvPr id="195" name="Rectangle 194"/>
          <p:cNvSpPr/>
          <p:nvPr/>
        </p:nvSpPr>
        <p:spPr>
          <a:xfrm>
            <a:off x="1207408" y="2383365"/>
            <a:ext cx="3474720" cy="868680"/>
          </a:xfrm>
          <a:prstGeom prst="rect">
            <a:avLst/>
          </a:prstGeom>
          <a:no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dirty="0"/>
          </a:p>
        </p:txBody>
      </p:sp>
      <p:sp>
        <p:nvSpPr>
          <p:cNvPr id="196" name="Rectangle 195"/>
          <p:cNvSpPr/>
          <p:nvPr/>
        </p:nvSpPr>
        <p:spPr>
          <a:xfrm>
            <a:off x="1207409" y="2383365"/>
            <a:ext cx="1140360"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900" b="1" i="0" dirty="0">
                <a:solidFill>
                  <a:srgbClr val="FFFFFF"/>
                </a:solidFill>
                <a:latin typeface="맑은 고딕"/>
                <a:ea typeface="맑은 고딕"/>
              </a:rPr>
              <a:t>«layer» G</a:t>
            </a:r>
            <a:r>
              <a:rPr lang="en-US" altLang="ko-KR" sz="900" b="1" dirty="0">
                <a:solidFill>
                  <a:srgbClr val="FFFFFF"/>
                </a:solidFill>
                <a:latin typeface="맑은 고딕"/>
                <a:ea typeface="맑은 고딕"/>
              </a:rPr>
              <a:t>eneration</a:t>
            </a:r>
            <a:endParaRPr lang="en-US" altLang="ko-KR" sz="900" b="1" i="0" dirty="0">
              <a:solidFill>
                <a:srgbClr val="FFFFFF"/>
              </a:solidFill>
              <a:latin typeface="맑은 고딕"/>
              <a:ea typeface="맑은 고딕"/>
            </a:endParaRPr>
          </a:p>
        </p:txBody>
      </p:sp>
      <p:sp>
        <p:nvSpPr>
          <p:cNvPr id="197" name="Rectangle 196"/>
          <p:cNvSpPr/>
          <p:nvPr/>
        </p:nvSpPr>
        <p:spPr>
          <a:xfrm>
            <a:off x="1436008" y="2749125"/>
            <a:ext cx="1280160" cy="420624"/>
          </a:xfrm>
          <a:prstGeom prst="rect">
            <a:avLst/>
          </a:prstGeom>
          <a:solidFill>
            <a:schemeClr val="bg1">
              <a:lumMod val="85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Attention Manager</a:t>
            </a:r>
          </a:p>
          <a:p>
            <a:pPr algn="ctr"/>
            <a:r>
              <a:rPr sz="800" b="0" i="0" dirty="0">
                <a:solidFill>
                  <a:srgbClr val="000000"/>
                </a:solidFill>
                <a:latin typeface="맑은 고딕"/>
                <a:ea typeface="맑은 고딕"/>
              </a:rPr>
              <a:t>Query × KV Attention</a:t>
            </a:r>
          </a:p>
        </p:txBody>
      </p:sp>
      <p:sp>
        <p:nvSpPr>
          <p:cNvPr id="200" name="Rectangle 199"/>
          <p:cNvSpPr/>
          <p:nvPr/>
        </p:nvSpPr>
        <p:spPr>
          <a:xfrm>
            <a:off x="3173368" y="2749125"/>
            <a:ext cx="1371600" cy="420624"/>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Selective </a:t>
            </a:r>
            <a:r>
              <a:rPr sz="900" b="1" i="0" dirty="0" err="1">
                <a:solidFill>
                  <a:srgbClr val="000000"/>
                </a:solidFill>
                <a:latin typeface="맑은 고딕"/>
                <a:ea typeface="맑은 고딕"/>
              </a:rPr>
              <a:t>Recomputer</a:t>
            </a:r>
            <a:endParaRPr sz="900" b="1" i="0" dirty="0">
              <a:solidFill>
                <a:srgbClr val="000000"/>
              </a:solidFill>
              <a:latin typeface="맑은 고딕"/>
              <a:ea typeface="맑은 고딕"/>
            </a:endParaRPr>
          </a:p>
          <a:p>
            <a:pPr algn="ctr"/>
            <a:r>
              <a:rPr sz="800" b="0" i="0" dirty="0" err="1">
                <a:solidFill>
                  <a:srgbClr val="000000"/>
                </a:solidFill>
                <a:latin typeface="맑은 고딕"/>
                <a:ea typeface="맑은 고딕"/>
              </a:rPr>
              <a:t>선정</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토큰만</a:t>
            </a:r>
            <a:r>
              <a:rPr sz="800" b="0" i="0" dirty="0">
                <a:solidFill>
                  <a:srgbClr val="000000"/>
                </a:solidFill>
                <a:latin typeface="맑은 고딕"/>
                <a:ea typeface="맑은 고딕"/>
              </a:rPr>
              <a:t> </a:t>
            </a:r>
            <a:r>
              <a:rPr sz="800" b="0" i="0" dirty="0" err="1">
                <a:solidFill>
                  <a:srgbClr val="000000"/>
                </a:solidFill>
                <a:latin typeface="맑은 고딕"/>
                <a:ea typeface="맑은 고딕"/>
              </a:rPr>
              <a:t>재계산</a:t>
            </a:r>
            <a:endParaRPr sz="800" b="0" i="0" dirty="0">
              <a:solidFill>
                <a:srgbClr val="000000"/>
              </a:solidFill>
              <a:latin typeface="맑은 고딕"/>
              <a:ea typeface="맑은 고딕"/>
            </a:endParaRPr>
          </a:p>
        </p:txBody>
      </p:sp>
      <p:sp>
        <p:nvSpPr>
          <p:cNvPr id="203" name="Rounded Rectangle 202"/>
          <p:cNvSpPr/>
          <p:nvPr/>
        </p:nvSpPr>
        <p:spPr>
          <a:xfrm>
            <a:off x="4206640" y="2666829"/>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DP2</a:t>
            </a:r>
          </a:p>
        </p:txBody>
      </p:sp>
      <p:sp>
        <p:nvSpPr>
          <p:cNvPr id="205" name="Rectangle 204"/>
          <p:cNvSpPr/>
          <p:nvPr/>
        </p:nvSpPr>
        <p:spPr>
          <a:xfrm>
            <a:off x="1207408" y="3389205"/>
            <a:ext cx="3474720" cy="841248"/>
          </a:xfrm>
          <a:prstGeom prst="rect">
            <a:avLst/>
          </a:prstGeom>
          <a:no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sz="2400"/>
          </a:p>
        </p:txBody>
      </p:sp>
      <p:sp>
        <p:nvSpPr>
          <p:cNvPr id="206" name="Rectangle 205"/>
          <p:cNvSpPr/>
          <p:nvPr/>
        </p:nvSpPr>
        <p:spPr>
          <a:xfrm>
            <a:off x="1207408" y="3389205"/>
            <a:ext cx="1037124"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900" b="1" i="0" dirty="0">
                <a:solidFill>
                  <a:srgbClr val="FFFFFF"/>
                </a:solidFill>
                <a:latin typeface="맑은 고딕"/>
                <a:ea typeface="맑은 고딕"/>
              </a:rPr>
              <a:t>«layer» Blend</a:t>
            </a:r>
          </a:p>
        </p:txBody>
      </p:sp>
      <p:sp>
        <p:nvSpPr>
          <p:cNvPr id="213" name="Rectangle 212"/>
          <p:cNvSpPr/>
          <p:nvPr/>
        </p:nvSpPr>
        <p:spPr>
          <a:xfrm>
            <a:off x="3722007" y="3709245"/>
            <a:ext cx="906875" cy="457200"/>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err="1">
                <a:solidFill>
                  <a:srgbClr val="000000"/>
                </a:solidFill>
                <a:latin typeface="맑은 고딕"/>
                <a:ea typeface="맑은 고딕"/>
              </a:rPr>
              <a:t>Recompute</a:t>
            </a:r>
            <a:r>
              <a:rPr sz="900" b="1" i="0" dirty="0">
                <a:solidFill>
                  <a:srgbClr val="000000"/>
                </a:solidFill>
                <a:latin typeface="맑은 고딕"/>
                <a:ea typeface="맑은 고딕"/>
              </a:rPr>
              <a:t> </a:t>
            </a:r>
            <a:endParaRPr lang="en-US" sz="900" b="1" i="0" dirty="0">
              <a:solidFill>
                <a:srgbClr val="000000"/>
              </a:solidFill>
              <a:latin typeface="맑은 고딕"/>
              <a:ea typeface="맑은 고딕"/>
            </a:endParaRPr>
          </a:p>
          <a:p>
            <a:pPr algn="ctr"/>
            <a:r>
              <a:rPr sz="900" b="1" i="0" dirty="0">
                <a:solidFill>
                  <a:srgbClr val="000000"/>
                </a:solidFill>
                <a:latin typeface="맑은 고딕"/>
                <a:ea typeface="맑은 고딕"/>
              </a:rPr>
              <a:t>Token Selector</a:t>
            </a:r>
          </a:p>
        </p:txBody>
      </p:sp>
      <p:sp>
        <p:nvSpPr>
          <p:cNvPr id="216" name="Rectangle 215"/>
          <p:cNvSpPr/>
          <p:nvPr/>
        </p:nvSpPr>
        <p:spPr>
          <a:xfrm>
            <a:off x="5002168" y="2383365"/>
            <a:ext cx="1417320" cy="1179576"/>
          </a:xfrm>
          <a:prstGeom prst="can">
            <a:avLst/>
          </a:prstGeom>
          <a:no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t"/>
          <a:lstStyle/>
          <a:p>
            <a:pPr algn="ctr"/>
            <a:endParaRPr sz="2400" dirty="0">
              <a:solidFill>
                <a:schemeClr val="tx1"/>
              </a:solidFill>
            </a:endParaRPr>
          </a:p>
        </p:txBody>
      </p:sp>
      <p:sp>
        <p:nvSpPr>
          <p:cNvPr id="218" name="Rounded Rectangle 217"/>
          <p:cNvSpPr/>
          <p:nvPr/>
        </p:nvSpPr>
        <p:spPr>
          <a:xfrm>
            <a:off x="6043618" y="242875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dirty="0">
                <a:solidFill>
                  <a:srgbClr val="FFFFFF"/>
                </a:solidFill>
                <a:latin typeface="맑은 고딕"/>
                <a:ea typeface="맑은 고딕"/>
              </a:rPr>
              <a:t>DP1</a:t>
            </a:r>
          </a:p>
        </p:txBody>
      </p:sp>
      <p:sp>
        <p:nvSpPr>
          <p:cNvPr id="220" name="Rectangle 219"/>
          <p:cNvSpPr/>
          <p:nvPr/>
        </p:nvSpPr>
        <p:spPr>
          <a:xfrm>
            <a:off x="5149719" y="2948231"/>
            <a:ext cx="1122218" cy="246888"/>
          </a:xfrm>
          <a:prstGeom prst="round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sz="800" dirty="0">
                <a:solidFill>
                  <a:schemeClr val="tx1"/>
                </a:solidFill>
              </a:rPr>
              <a:t>Context KV 1</a:t>
            </a:r>
          </a:p>
        </p:txBody>
      </p:sp>
      <p:sp>
        <p:nvSpPr>
          <p:cNvPr id="221" name="Rectangle 220"/>
          <p:cNvSpPr/>
          <p:nvPr/>
        </p:nvSpPr>
        <p:spPr>
          <a:xfrm>
            <a:off x="5149719" y="3240839"/>
            <a:ext cx="1122218" cy="246888"/>
          </a:xfrm>
          <a:prstGeom prst="round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sz="800">
                <a:solidFill>
                  <a:schemeClr val="tx1"/>
                </a:solidFill>
              </a:rPr>
              <a:t>Context KV 2</a:t>
            </a:r>
          </a:p>
        </p:txBody>
      </p:sp>
      <p:cxnSp>
        <p:nvCxnSpPr>
          <p:cNvPr id="224" name="Connector 223"/>
          <p:cNvCxnSpPr/>
          <p:nvPr/>
        </p:nvCxnSpPr>
        <p:spPr>
          <a:xfrm>
            <a:off x="2487568" y="2273637"/>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2409844" y="24336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1</a:t>
            </a:r>
          </a:p>
        </p:txBody>
      </p:sp>
      <p:cxnSp>
        <p:nvCxnSpPr>
          <p:cNvPr id="226" name="Connector 225"/>
          <p:cNvCxnSpPr/>
          <p:nvPr/>
        </p:nvCxnSpPr>
        <p:spPr>
          <a:xfrm flipH="1">
            <a:off x="4682128" y="2886285"/>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7" name="Oval 226"/>
          <p:cNvSpPr/>
          <p:nvPr/>
        </p:nvSpPr>
        <p:spPr>
          <a:xfrm>
            <a:off x="4764424" y="2808561"/>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2</a:t>
            </a:r>
          </a:p>
        </p:txBody>
      </p:sp>
      <p:cxnSp>
        <p:nvCxnSpPr>
          <p:cNvPr id="228" name="Connector 227"/>
          <p:cNvCxnSpPr/>
          <p:nvPr/>
        </p:nvCxnSpPr>
        <p:spPr>
          <a:xfrm>
            <a:off x="2487568" y="3169749"/>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9" name="Oval 228"/>
          <p:cNvSpPr/>
          <p:nvPr/>
        </p:nvSpPr>
        <p:spPr>
          <a:xfrm>
            <a:off x="2615583" y="3361773"/>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맑은 고딕"/>
                <a:ea typeface="맑은 고딕"/>
              </a:rPr>
              <a:t>3</a:t>
            </a:r>
          </a:p>
        </p:txBody>
      </p:sp>
      <p:cxnSp>
        <p:nvCxnSpPr>
          <p:cNvPr id="232" name="Connector 231"/>
          <p:cNvCxnSpPr/>
          <p:nvPr/>
        </p:nvCxnSpPr>
        <p:spPr>
          <a:xfrm>
            <a:off x="3401968" y="3937845"/>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3904888" y="3169749"/>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4" name="Oval 233"/>
          <p:cNvSpPr/>
          <p:nvPr/>
        </p:nvSpPr>
        <p:spPr>
          <a:xfrm>
            <a:off x="3827163" y="3361773"/>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900" b="1" i="0" dirty="0">
                <a:solidFill>
                  <a:srgbClr val="FFFFFF"/>
                </a:solidFill>
                <a:latin typeface="맑은 고딕"/>
                <a:ea typeface="맑은 고딕"/>
              </a:rPr>
              <a:t>4</a:t>
            </a:r>
            <a:endParaRPr sz="900" b="1" i="0" dirty="0">
              <a:solidFill>
                <a:srgbClr val="FFFFFF"/>
              </a:solidFill>
              <a:latin typeface="맑은 고딕"/>
              <a:ea typeface="맑은 고딕"/>
            </a:endParaRPr>
          </a:p>
        </p:txBody>
      </p:sp>
      <p:sp>
        <p:nvSpPr>
          <p:cNvPr id="116" name="Rectangle 155"/>
          <p:cNvSpPr/>
          <p:nvPr/>
        </p:nvSpPr>
        <p:spPr>
          <a:xfrm>
            <a:off x="2342982" y="3709245"/>
            <a:ext cx="1054199" cy="457200"/>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900" b="1" i="0" dirty="0">
                <a:solidFill>
                  <a:srgbClr val="000000"/>
                </a:solidFill>
                <a:latin typeface="맑은 고딕"/>
                <a:ea typeface="맑은 고딕"/>
              </a:rPr>
              <a:t>KV Sampler</a:t>
            </a:r>
          </a:p>
          <a:p>
            <a:pPr algn="ctr">
              <a:lnSpc>
                <a:spcPct val="150000"/>
              </a:lnSpc>
            </a:pPr>
            <a:r>
              <a:rPr sz="800" b="0" i="0" dirty="0" err="1">
                <a:solidFill>
                  <a:srgbClr val="000000"/>
                </a:solidFill>
                <a:latin typeface="맑은 고딕"/>
                <a:ea typeface="맑은 고딕"/>
              </a:rPr>
              <a:t>점수로</a:t>
            </a:r>
            <a:r>
              <a:rPr sz="800" b="0" i="0" dirty="0">
                <a:solidFill>
                  <a:srgbClr val="000000"/>
                </a:solidFill>
                <a:latin typeface="맑은 고딕"/>
                <a:ea typeface="맑은 고딕"/>
              </a:rPr>
              <a:t> </a:t>
            </a:r>
            <a:r>
              <a:rPr sz="800" b="0" i="0" dirty="0" err="1">
                <a:solidFill>
                  <a:srgbClr val="000000"/>
                </a:solidFill>
                <a:latin typeface="맑은 고딕"/>
                <a:ea typeface="맑은 고딕"/>
              </a:rPr>
              <a:t>토큰</a:t>
            </a:r>
            <a:r>
              <a:rPr sz="800" b="0" i="0" dirty="0">
                <a:solidFill>
                  <a:srgbClr val="000000"/>
                </a:solidFill>
                <a:latin typeface="맑은 고딕"/>
                <a:ea typeface="맑은 고딕"/>
              </a:rPr>
              <a:t> </a:t>
            </a:r>
            <a:r>
              <a:rPr sz="800" b="0" i="0" dirty="0" err="1">
                <a:solidFill>
                  <a:srgbClr val="000000"/>
                </a:solidFill>
                <a:latin typeface="맑은 고딕"/>
                <a:ea typeface="맑은 고딕"/>
              </a:rPr>
              <a:t>선정</a:t>
            </a:r>
            <a:endParaRPr sz="800" b="0" i="0" dirty="0">
              <a:solidFill>
                <a:srgbClr val="000000"/>
              </a:solidFill>
              <a:latin typeface="맑은 고딕"/>
              <a:ea typeface="맑은 고딕"/>
            </a:endParaRPr>
          </a:p>
        </p:txBody>
      </p:sp>
      <p:cxnSp>
        <p:nvCxnSpPr>
          <p:cNvPr id="108" name="직선 연결선 107">
            <a:extLst>
              <a:ext uri="{FF2B5EF4-FFF2-40B4-BE49-F238E27FC236}">
                <a16:creationId xmlns:a16="http://schemas.microsoft.com/office/drawing/2014/main" id="{7193A99C-D43F-4FA1-9DED-89F7DD046CE6}"/>
              </a:ext>
            </a:extLst>
          </p:cNvPr>
          <p:cNvCxnSpPr>
            <a:cxnSpLocks/>
          </p:cNvCxnSpPr>
          <p:nvPr/>
        </p:nvCxnSpPr>
        <p:spPr>
          <a:xfrm>
            <a:off x="6743369" y="4472388"/>
            <a:ext cx="293539"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09" name="TextBox 108">
            <a:extLst>
              <a:ext uri="{FF2B5EF4-FFF2-40B4-BE49-F238E27FC236}">
                <a16:creationId xmlns:a16="http://schemas.microsoft.com/office/drawing/2014/main" id="{60AD72F5-B5FD-4FFC-8787-54461FF6A1D4}"/>
              </a:ext>
            </a:extLst>
          </p:cNvPr>
          <p:cNvSpPr txBox="1"/>
          <p:nvPr/>
        </p:nvSpPr>
        <p:spPr>
          <a:xfrm>
            <a:off x="7088159" y="4405026"/>
            <a:ext cx="1013560" cy="276999"/>
          </a:xfrm>
          <a:prstGeom prst="rect">
            <a:avLst/>
          </a:prstGeom>
          <a:noFill/>
        </p:spPr>
        <p:txBody>
          <a:bodyPr wrap="square" lIns="0" tIns="0" rIns="0" bIns="0" anchor="t">
            <a:spAutoFit/>
          </a:bodyPr>
          <a:lstStyle/>
          <a:p>
            <a:pPr algn="l"/>
            <a:r>
              <a:rPr lang="ko-KR" altLang="en-US" sz="900" b="0" i="0" dirty="0">
                <a:solidFill>
                  <a:srgbClr val="7F7F7F"/>
                </a:solidFill>
                <a:latin typeface="맑은 고딕"/>
                <a:ea typeface="맑은 고딕"/>
              </a:rPr>
              <a:t>서빙 시</a:t>
            </a:r>
            <a:r>
              <a:rPr lang="en-US" altLang="ko-KR" sz="900" b="0" i="0" dirty="0">
                <a:solidFill>
                  <a:srgbClr val="7F7F7F"/>
                </a:solidFill>
                <a:latin typeface="맑은 고딕"/>
                <a:ea typeface="맑은 고딕"/>
              </a:rPr>
              <a:t>(</a:t>
            </a:r>
            <a:r>
              <a:rPr lang="ko-KR" altLang="en-US" sz="900" b="0" i="0" dirty="0">
                <a:solidFill>
                  <a:srgbClr val="7F7F7F"/>
                </a:solidFill>
                <a:latin typeface="맑은 고딕"/>
                <a:ea typeface="맑은 고딕"/>
              </a:rPr>
              <a:t>요청 경로</a:t>
            </a:r>
            <a:r>
              <a:rPr lang="en-US" altLang="ko-KR" sz="900" b="0" i="0" dirty="0">
                <a:solidFill>
                  <a:srgbClr val="7F7F7F"/>
                </a:solidFill>
                <a:latin typeface="맑은 고딕"/>
                <a:ea typeface="맑은 고딕"/>
              </a:rPr>
              <a:t>)</a:t>
            </a:r>
            <a:endParaRPr sz="900" b="0" i="0" dirty="0">
              <a:solidFill>
                <a:srgbClr val="7F7F7F"/>
              </a:solidFill>
              <a:latin typeface="맑은 고딕"/>
              <a:ea typeface="맑은 고딕"/>
            </a:endParaRPr>
          </a:p>
        </p:txBody>
      </p:sp>
      <p:grpSp>
        <p:nvGrpSpPr>
          <p:cNvPr id="110" name="그룹 109">
            <a:extLst>
              <a:ext uri="{FF2B5EF4-FFF2-40B4-BE49-F238E27FC236}">
                <a16:creationId xmlns:a16="http://schemas.microsoft.com/office/drawing/2014/main" id="{98B27E46-4C4A-4A08-8D67-DFB471D42072}"/>
              </a:ext>
            </a:extLst>
          </p:cNvPr>
          <p:cNvGrpSpPr/>
          <p:nvPr/>
        </p:nvGrpSpPr>
        <p:grpSpPr>
          <a:xfrm>
            <a:off x="286581" y="3384297"/>
            <a:ext cx="679345" cy="1395490"/>
            <a:chOff x="269738" y="3375716"/>
            <a:chExt cx="822008" cy="1048453"/>
          </a:xfrm>
        </p:grpSpPr>
        <p:sp>
          <p:nvSpPr>
            <p:cNvPr id="111" name="KV Cache Manager">
              <a:extLst>
                <a:ext uri="{FF2B5EF4-FFF2-40B4-BE49-F238E27FC236}">
                  <a16:creationId xmlns:a16="http://schemas.microsoft.com/office/drawing/2014/main" id="{32151F4F-F319-476F-93FF-A7FEADC87A9F}"/>
                </a:ext>
              </a:extLst>
            </p:cNvPr>
            <p:cNvSpPr/>
            <p:nvPr/>
          </p:nvSpPr>
          <p:spPr>
            <a:xfrm>
              <a:off x="275753" y="3725250"/>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12" name="KV Cache Manager">
              <a:extLst>
                <a:ext uri="{FF2B5EF4-FFF2-40B4-BE49-F238E27FC236}">
                  <a16:creationId xmlns:a16="http://schemas.microsoft.com/office/drawing/2014/main" id="{202E1770-DDAA-4D88-8A5A-4553B52A930D}"/>
                </a:ext>
              </a:extLst>
            </p:cNvPr>
            <p:cNvSpPr/>
            <p:nvPr/>
          </p:nvSpPr>
          <p:spPr>
            <a:xfrm>
              <a:off x="275753" y="4164647"/>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14" name="직사각형 113">
              <a:extLst>
                <a:ext uri="{FF2B5EF4-FFF2-40B4-BE49-F238E27FC236}">
                  <a16:creationId xmlns:a16="http://schemas.microsoft.com/office/drawing/2014/main" id="{309D8936-536A-4639-B369-105601F5C49D}"/>
                </a:ext>
              </a:extLst>
            </p:cNvPr>
            <p:cNvSpPr/>
            <p:nvPr/>
          </p:nvSpPr>
          <p:spPr>
            <a:xfrm>
              <a:off x="269738" y="3375716"/>
              <a:ext cx="822008" cy="1048453"/>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19" name="KV Cache Manager">
              <a:extLst>
                <a:ext uri="{FF2B5EF4-FFF2-40B4-BE49-F238E27FC236}">
                  <a16:creationId xmlns:a16="http://schemas.microsoft.com/office/drawing/2014/main" id="{3A2DFC8D-E90A-487D-AF61-91464F1EA4A3}"/>
                </a:ext>
              </a:extLst>
            </p:cNvPr>
            <p:cNvSpPr/>
            <p:nvPr/>
          </p:nvSpPr>
          <p:spPr>
            <a:xfrm>
              <a:off x="275753" y="3509836"/>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a:t>
              </a:r>
              <a:endParaRPr lang="en-US" altLang="ko-KR" sz="800" b="1" dirty="0">
                <a:solidFill>
                  <a:schemeClr val="tx1"/>
                </a:solidFill>
              </a:endParaRPr>
            </a:p>
            <a:p>
              <a:pPr algn="ctr"/>
              <a:r>
                <a:rPr lang="ko-KR" altLang="en-US" sz="800" b="1" dirty="0">
                  <a:solidFill>
                    <a:schemeClr val="tx1"/>
                  </a:solidFill>
                </a:rPr>
                <a:t>모듈</a:t>
              </a:r>
              <a:endParaRPr lang="en-US" altLang="ko-KR" sz="800" b="1" dirty="0">
                <a:solidFill>
                  <a:schemeClr val="tx1"/>
                </a:solidFill>
              </a:endParaRPr>
            </a:p>
          </p:txBody>
        </p:sp>
        <p:sp>
          <p:nvSpPr>
            <p:cNvPr id="170" name="KV Cache Manager">
              <a:extLst>
                <a:ext uri="{FF2B5EF4-FFF2-40B4-BE49-F238E27FC236}">
                  <a16:creationId xmlns:a16="http://schemas.microsoft.com/office/drawing/2014/main" id="{E3AA516A-8220-4777-A7D9-7DADED4A1F01}"/>
                </a:ext>
              </a:extLst>
            </p:cNvPr>
            <p:cNvSpPr/>
            <p:nvPr/>
          </p:nvSpPr>
          <p:spPr>
            <a:xfrm>
              <a:off x="275753" y="3942746"/>
              <a:ext cx="784423" cy="194036"/>
            </a:xfrm>
            <a:prstGeom prst="roundRect">
              <a:avLst>
                <a:gd name="adj" fmla="val 46172"/>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데이터 </a:t>
              </a:r>
              <a:endParaRPr lang="en-US" altLang="ko-KR" sz="800" b="1" dirty="0">
                <a:solidFill>
                  <a:schemeClr val="tx1"/>
                </a:solidFill>
              </a:endParaRPr>
            </a:p>
            <a:p>
              <a:pPr algn="ctr"/>
              <a:r>
                <a:rPr lang="ko-KR" altLang="en-US" sz="800" b="1" dirty="0">
                  <a:solidFill>
                    <a:schemeClr val="tx1"/>
                  </a:solidFill>
                </a:rPr>
                <a:t>객체</a:t>
              </a:r>
              <a:endParaRPr lang="en-US" altLang="ko-KR" sz="800" b="1" dirty="0">
                <a:solidFill>
                  <a:schemeClr val="tx1"/>
                </a:solidFill>
              </a:endParaRPr>
            </a:p>
          </p:txBody>
        </p:sp>
      </p:grpSp>
      <p:grpSp>
        <p:nvGrpSpPr>
          <p:cNvPr id="121" name="그룹 120">
            <a:extLst>
              <a:ext uri="{FF2B5EF4-FFF2-40B4-BE49-F238E27FC236}">
                <a16:creationId xmlns:a16="http://schemas.microsoft.com/office/drawing/2014/main" id="{2D5E3344-84BC-4980-9689-39C8EC8C885E}"/>
              </a:ext>
            </a:extLst>
          </p:cNvPr>
          <p:cNvGrpSpPr/>
          <p:nvPr/>
        </p:nvGrpSpPr>
        <p:grpSpPr>
          <a:xfrm>
            <a:off x="8228716" y="4388476"/>
            <a:ext cx="1805626" cy="155448"/>
            <a:chOff x="-128513" y="3815614"/>
            <a:chExt cx="1805626" cy="155448"/>
          </a:xfrm>
        </p:grpSpPr>
        <p:sp>
          <p:nvSpPr>
            <p:cNvPr id="122" name="Rounded Rectangle 188">
              <a:extLst>
                <a:ext uri="{FF2B5EF4-FFF2-40B4-BE49-F238E27FC236}">
                  <a16:creationId xmlns:a16="http://schemas.microsoft.com/office/drawing/2014/main" id="{A8A9E3AE-7558-4B19-864D-A11EDD868158}"/>
                </a:ext>
              </a:extLst>
            </p:cNvPr>
            <p:cNvSpPr/>
            <p:nvPr/>
          </p:nvSpPr>
          <p:spPr>
            <a:xfrm>
              <a:off x="-128513" y="381561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23" name="TextBox 122">
              <a:extLst>
                <a:ext uri="{FF2B5EF4-FFF2-40B4-BE49-F238E27FC236}">
                  <a16:creationId xmlns:a16="http://schemas.microsoft.com/office/drawing/2014/main" id="{E7CBA330-5ABB-4CCF-A51A-2B030288F31A}"/>
                </a:ext>
              </a:extLst>
            </p:cNvPr>
            <p:cNvSpPr txBox="1"/>
            <p:nvPr/>
          </p:nvSpPr>
          <p:spPr>
            <a:xfrm>
              <a:off x="259794" y="3863340"/>
              <a:ext cx="1417319" cy="107722"/>
            </a:xfrm>
            <a:prstGeom prst="rect">
              <a:avLst/>
            </a:prstGeom>
            <a:noFill/>
          </p:spPr>
          <p:txBody>
            <a:bodyPr wrap="square" lIns="0" tIns="0" rIns="0" bIns="0" anchor="t">
              <a:spAutoFit/>
            </a:bodyPr>
            <a:lstStyle/>
            <a:p>
              <a:pPr algn="ctr"/>
              <a:r>
                <a:rPr lang="ko-KR" altLang="en-US" sz="700" dirty="0">
                  <a:solidFill>
                    <a:srgbClr val="404040"/>
                  </a:solidFill>
                  <a:latin typeface="맑은 고딕"/>
                  <a:ea typeface="맑은 고딕"/>
                </a:rPr>
                <a:t>생성된 </a:t>
              </a:r>
              <a:r>
                <a:rPr lang="en-US" altLang="ko-KR" sz="700" dirty="0">
                  <a:solidFill>
                    <a:srgbClr val="404040"/>
                  </a:solidFill>
                  <a:latin typeface="맑은 고딕"/>
                  <a:ea typeface="맑은 고딕"/>
                </a:rPr>
                <a:t>KV </a:t>
              </a:r>
              <a:r>
                <a:rPr sz="700" b="0" i="0" dirty="0" err="1">
                  <a:solidFill>
                    <a:srgbClr val="404040"/>
                  </a:solidFill>
                  <a:latin typeface="맑은 고딕"/>
                  <a:ea typeface="맑은 고딕"/>
                </a:rPr>
                <a:t>저장</a:t>
              </a:r>
              <a:r>
                <a:rPr sz="700" b="0" i="0" dirty="0">
                  <a:solidFill>
                    <a:srgbClr val="404040"/>
                  </a:solidFill>
                  <a:latin typeface="맑은 고딕"/>
                  <a:ea typeface="맑은 고딕"/>
                </a:rPr>
                <a:t> </a:t>
              </a:r>
              <a:r>
                <a:rPr lang="ko-KR" altLang="en-US" sz="700" b="0" i="0" dirty="0">
                  <a:solidFill>
                    <a:srgbClr val="404040"/>
                  </a:solidFill>
                  <a:latin typeface="맑은 고딕"/>
                  <a:ea typeface="맑은 고딕"/>
                </a:rPr>
                <a:t>위치는</a:t>
              </a:r>
              <a:r>
                <a:rPr sz="700" b="0" i="0" dirty="0">
                  <a:solidFill>
                    <a:srgbClr val="404040"/>
                  </a:solidFill>
                  <a:latin typeface="맑은 고딕"/>
                  <a:ea typeface="맑은 고딕"/>
                </a:rPr>
                <a:t> DP1이 </a:t>
              </a:r>
              <a:r>
                <a:rPr sz="700" b="0" i="0" dirty="0" err="1">
                  <a:solidFill>
                    <a:srgbClr val="404040"/>
                  </a:solidFill>
                  <a:latin typeface="맑은 고딕"/>
                  <a:ea typeface="맑은 고딕"/>
                </a:rPr>
                <a:t>결정</a:t>
              </a:r>
              <a:endParaRPr sz="700" b="0" i="0" dirty="0">
                <a:solidFill>
                  <a:srgbClr val="404040"/>
                </a:solidFill>
                <a:latin typeface="맑은 고딕"/>
                <a:ea typeface="맑은 고딕"/>
              </a:endParaRPr>
            </a:p>
          </p:txBody>
        </p:sp>
      </p:grpSp>
      <p:grpSp>
        <p:nvGrpSpPr>
          <p:cNvPr id="128" name="그룹 127">
            <a:extLst>
              <a:ext uri="{FF2B5EF4-FFF2-40B4-BE49-F238E27FC236}">
                <a16:creationId xmlns:a16="http://schemas.microsoft.com/office/drawing/2014/main" id="{CCA56076-ED5F-45ED-AC9A-BE2717D77397}"/>
              </a:ext>
            </a:extLst>
          </p:cNvPr>
          <p:cNvGrpSpPr/>
          <p:nvPr/>
        </p:nvGrpSpPr>
        <p:grpSpPr>
          <a:xfrm>
            <a:off x="8221483" y="4635879"/>
            <a:ext cx="2069859" cy="155448"/>
            <a:chOff x="440670" y="4246113"/>
            <a:chExt cx="2069859" cy="155448"/>
          </a:xfrm>
        </p:grpSpPr>
        <p:sp>
          <p:nvSpPr>
            <p:cNvPr id="129" name="Rounded Rectangle 190">
              <a:extLst>
                <a:ext uri="{FF2B5EF4-FFF2-40B4-BE49-F238E27FC236}">
                  <a16:creationId xmlns:a16="http://schemas.microsoft.com/office/drawing/2014/main" id="{360E7EDB-BC04-46F1-884E-A1A8874CAE34}"/>
                </a:ext>
              </a:extLst>
            </p:cNvPr>
            <p:cNvSpPr/>
            <p:nvPr/>
          </p:nvSpPr>
          <p:spPr>
            <a:xfrm>
              <a:off x="440670" y="424611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sp>
          <p:nvSpPr>
            <p:cNvPr id="130" name="TextBox 129">
              <a:extLst>
                <a:ext uri="{FF2B5EF4-FFF2-40B4-BE49-F238E27FC236}">
                  <a16:creationId xmlns:a16="http://schemas.microsoft.com/office/drawing/2014/main" id="{3E67D275-E35F-4171-801E-3D4E251C80F4}"/>
                </a:ext>
              </a:extLst>
            </p:cNvPr>
            <p:cNvSpPr txBox="1"/>
            <p:nvPr/>
          </p:nvSpPr>
          <p:spPr>
            <a:xfrm>
              <a:off x="802189" y="4281506"/>
              <a:ext cx="1708340" cy="107722"/>
            </a:xfrm>
            <a:prstGeom prst="rect">
              <a:avLst/>
            </a:prstGeom>
            <a:noFill/>
          </p:spPr>
          <p:txBody>
            <a:bodyPr wrap="square" lIns="0" tIns="0" rIns="0" bIns="0" anchor="t">
              <a:spAutoFit/>
            </a:bodyPr>
            <a:lstStyle/>
            <a:p>
              <a:pPr algn="ctr"/>
              <a:r>
                <a:rPr lang="ko-KR" altLang="en-US" sz="700" dirty="0">
                  <a:solidFill>
                    <a:srgbClr val="404040"/>
                  </a:solidFill>
                  <a:ea typeface="맑은 고딕"/>
                </a:rPr>
                <a:t>선택적 재계산할 연산 위치는 </a:t>
              </a:r>
              <a:r>
                <a:rPr lang="en-US" altLang="ko-KR" sz="700" dirty="0">
                  <a:solidFill>
                    <a:srgbClr val="404040"/>
                  </a:solidFill>
                  <a:ea typeface="맑은 고딕"/>
                </a:rPr>
                <a:t>DP2</a:t>
              </a:r>
              <a:r>
                <a:rPr lang="ko-KR" altLang="en-US" sz="700" dirty="0">
                  <a:solidFill>
                    <a:srgbClr val="404040"/>
                  </a:solidFill>
                  <a:ea typeface="맑은 고딕"/>
                </a:rPr>
                <a:t>가 결정 </a:t>
              </a:r>
            </a:p>
          </p:txBody>
        </p:sp>
      </p:grpSp>
      <p:sp>
        <p:nvSpPr>
          <p:cNvPr id="171" name="TextBox 170">
            <a:extLst>
              <a:ext uri="{FF2B5EF4-FFF2-40B4-BE49-F238E27FC236}">
                <a16:creationId xmlns:a16="http://schemas.microsoft.com/office/drawing/2014/main" id="{8A3BD255-0A74-4272-B780-BA337012F6B1}"/>
              </a:ext>
            </a:extLst>
          </p:cNvPr>
          <p:cNvSpPr txBox="1"/>
          <p:nvPr/>
        </p:nvSpPr>
        <p:spPr>
          <a:xfrm>
            <a:off x="5155457" y="2361324"/>
            <a:ext cx="984741" cy="276999"/>
          </a:xfrm>
          <a:prstGeom prst="rect">
            <a:avLst/>
          </a:prstGeom>
          <a:noFill/>
        </p:spPr>
        <p:txBody>
          <a:bodyPr wrap="square" rtlCol="0">
            <a:spAutoFit/>
          </a:bodyPr>
          <a:lstStyle/>
          <a:p>
            <a:pPr algn="ctr"/>
            <a:r>
              <a:rPr lang="en-US" altLang="ko-KR" sz="1200" b="1" dirty="0"/>
              <a:t>KV Store</a:t>
            </a:r>
          </a:p>
        </p:txBody>
      </p:sp>
      <p:sp>
        <p:nvSpPr>
          <p:cNvPr id="178" name="TextBox 177">
            <a:extLst>
              <a:ext uri="{FF2B5EF4-FFF2-40B4-BE49-F238E27FC236}">
                <a16:creationId xmlns:a16="http://schemas.microsoft.com/office/drawing/2014/main" id="{FEA4F8F3-3CE3-45E9-B33E-88C1544A8DD0}"/>
              </a:ext>
            </a:extLst>
          </p:cNvPr>
          <p:cNvSpPr txBox="1"/>
          <p:nvPr/>
        </p:nvSpPr>
        <p:spPr>
          <a:xfrm>
            <a:off x="5047888" y="2679902"/>
            <a:ext cx="1325880" cy="107722"/>
          </a:xfrm>
          <a:prstGeom prst="rect">
            <a:avLst/>
          </a:prstGeom>
          <a:noFill/>
        </p:spPr>
        <p:txBody>
          <a:bodyPr wrap="square" lIns="0" tIns="0" rIns="0" bIns="0" anchor="t">
            <a:spAutoFit/>
          </a:bodyPr>
          <a:lstStyle/>
          <a:p>
            <a:pPr algn="ctr"/>
            <a:r>
              <a:rPr sz="700" b="0" i="0" dirty="0">
                <a:solidFill>
                  <a:srgbClr val="7F7F7F"/>
                </a:solidFill>
                <a:latin typeface="맑은 고딕"/>
                <a:ea typeface="맑은 고딕"/>
              </a:rPr>
              <a:t>HBM · DRAM · CXL · SSD</a:t>
            </a:r>
          </a:p>
        </p:txBody>
      </p:sp>
      <p:grpSp>
        <p:nvGrpSpPr>
          <p:cNvPr id="13" name="그룹 12">
            <a:extLst>
              <a:ext uri="{FF2B5EF4-FFF2-40B4-BE49-F238E27FC236}">
                <a16:creationId xmlns:a16="http://schemas.microsoft.com/office/drawing/2014/main" id="{25D15DDB-1D85-4645-BF40-A1256E5D3B24}"/>
              </a:ext>
            </a:extLst>
          </p:cNvPr>
          <p:cNvGrpSpPr/>
          <p:nvPr/>
        </p:nvGrpSpPr>
        <p:grpSpPr>
          <a:xfrm>
            <a:off x="10470015" y="1916263"/>
            <a:ext cx="1417320" cy="2677401"/>
            <a:chOff x="12240753" y="2361324"/>
            <a:chExt cx="1417320" cy="2677401"/>
          </a:xfrm>
        </p:grpSpPr>
        <p:sp>
          <p:nvSpPr>
            <p:cNvPr id="187" name="Rectangle 215">
              <a:extLst>
                <a:ext uri="{FF2B5EF4-FFF2-40B4-BE49-F238E27FC236}">
                  <a16:creationId xmlns:a16="http://schemas.microsoft.com/office/drawing/2014/main" id="{426F2C12-1FDA-46A4-8FDB-F7D09ED9B2AC}"/>
                </a:ext>
              </a:extLst>
            </p:cNvPr>
            <p:cNvSpPr/>
            <p:nvPr/>
          </p:nvSpPr>
          <p:spPr>
            <a:xfrm>
              <a:off x="12240753" y="2383364"/>
              <a:ext cx="1417320" cy="2655361"/>
            </a:xfrm>
            <a:prstGeom prst="can">
              <a:avLst/>
            </a:prstGeom>
            <a:no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t"/>
            <a:lstStyle/>
            <a:p>
              <a:pPr algn="ctr"/>
              <a:endParaRPr sz="2400" dirty="0">
                <a:solidFill>
                  <a:schemeClr val="tx1"/>
                </a:solidFill>
              </a:endParaRPr>
            </a:p>
          </p:txBody>
        </p:sp>
        <p:sp>
          <p:nvSpPr>
            <p:cNvPr id="188" name="Rounded Rectangle 217">
              <a:extLst>
                <a:ext uri="{FF2B5EF4-FFF2-40B4-BE49-F238E27FC236}">
                  <a16:creationId xmlns:a16="http://schemas.microsoft.com/office/drawing/2014/main" id="{BB2DADB3-4E21-4505-AF2F-56C6CE827019}"/>
                </a:ext>
              </a:extLst>
            </p:cNvPr>
            <p:cNvSpPr/>
            <p:nvPr/>
          </p:nvSpPr>
          <p:spPr>
            <a:xfrm>
              <a:off x="13282203" y="2428750"/>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dirty="0">
                  <a:solidFill>
                    <a:srgbClr val="FFFFFF"/>
                  </a:solidFill>
                  <a:latin typeface="맑은 고딕"/>
                  <a:ea typeface="맑은 고딕"/>
                </a:rPr>
                <a:t>DP1</a:t>
              </a:r>
            </a:p>
          </p:txBody>
        </p:sp>
        <p:sp>
          <p:nvSpPr>
            <p:cNvPr id="193" name="TextBox 192">
              <a:extLst>
                <a:ext uri="{FF2B5EF4-FFF2-40B4-BE49-F238E27FC236}">
                  <a16:creationId xmlns:a16="http://schemas.microsoft.com/office/drawing/2014/main" id="{F58C218C-8344-4375-80F3-C6A2CE7CC21C}"/>
                </a:ext>
              </a:extLst>
            </p:cNvPr>
            <p:cNvSpPr txBox="1"/>
            <p:nvPr/>
          </p:nvSpPr>
          <p:spPr>
            <a:xfrm>
              <a:off x="12394042" y="2361324"/>
              <a:ext cx="984741" cy="276999"/>
            </a:xfrm>
            <a:prstGeom prst="rect">
              <a:avLst/>
            </a:prstGeom>
            <a:noFill/>
          </p:spPr>
          <p:txBody>
            <a:bodyPr wrap="square" rtlCol="0">
              <a:spAutoFit/>
            </a:bodyPr>
            <a:lstStyle/>
            <a:p>
              <a:pPr algn="ctr"/>
              <a:r>
                <a:rPr lang="en-US" altLang="ko-KR" sz="1200" b="1" dirty="0"/>
                <a:t>KV Store</a:t>
              </a:r>
            </a:p>
          </p:txBody>
        </p:sp>
        <p:sp>
          <p:nvSpPr>
            <p:cNvPr id="204" name="TextBox 203">
              <a:extLst>
                <a:ext uri="{FF2B5EF4-FFF2-40B4-BE49-F238E27FC236}">
                  <a16:creationId xmlns:a16="http://schemas.microsoft.com/office/drawing/2014/main" id="{3F00297F-4257-4545-82D5-A7A53F979694}"/>
                </a:ext>
              </a:extLst>
            </p:cNvPr>
            <p:cNvSpPr txBox="1"/>
            <p:nvPr/>
          </p:nvSpPr>
          <p:spPr>
            <a:xfrm>
              <a:off x="12300368" y="2603375"/>
              <a:ext cx="1325880" cy="107722"/>
            </a:xfrm>
            <a:prstGeom prst="rect">
              <a:avLst/>
            </a:prstGeom>
            <a:noFill/>
          </p:spPr>
          <p:txBody>
            <a:bodyPr wrap="square" lIns="0" tIns="0" rIns="0" bIns="0" anchor="t">
              <a:spAutoFit/>
            </a:bodyPr>
            <a:lstStyle/>
            <a:p>
              <a:pPr algn="ctr"/>
              <a:r>
                <a:rPr sz="700" b="0" i="0" dirty="0">
                  <a:solidFill>
                    <a:srgbClr val="7F7F7F"/>
                  </a:solidFill>
                  <a:latin typeface="맑은 고딕"/>
                  <a:ea typeface="맑은 고딕"/>
                </a:rPr>
                <a:t>HBM · DRAM · CXL · SSD</a:t>
              </a:r>
            </a:p>
          </p:txBody>
        </p:sp>
        <p:sp>
          <p:nvSpPr>
            <p:cNvPr id="207" name="Rectangle 165">
              <a:extLst>
                <a:ext uri="{FF2B5EF4-FFF2-40B4-BE49-F238E27FC236}">
                  <a16:creationId xmlns:a16="http://schemas.microsoft.com/office/drawing/2014/main" id="{C4E256AA-7D46-463A-A665-112300DC78E0}"/>
                </a:ext>
              </a:extLst>
            </p:cNvPr>
            <p:cNvSpPr/>
            <p:nvPr/>
          </p:nvSpPr>
          <p:spPr>
            <a:xfrm>
              <a:off x="12457501" y="2895094"/>
              <a:ext cx="1020198" cy="246888"/>
            </a:xfrm>
            <a:prstGeom prst="round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sz="800" dirty="0">
                  <a:solidFill>
                    <a:schemeClr val="tx1"/>
                  </a:solidFill>
                </a:rPr>
                <a:t>Context KV 1</a:t>
              </a:r>
            </a:p>
          </p:txBody>
        </p:sp>
        <p:sp>
          <p:nvSpPr>
            <p:cNvPr id="208" name="Rectangle 166">
              <a:extLst>
                <a:ext uri="{FF2B5EF4-FFF2-40B4-BE49-F238E27FC236}">
                  <a16:creationId xmlns:a16="http://schemas.microsoft.com/office/drawing/2014/main" id="{E1B52600-8397-454B-8A1F-E43A3983FD0D}"/>
                </a:ext>
              </a:extLst>
            </p:cNvPr>
            <p:cNvSpPr/>
            <p:nvPr/>
          </p:nvSpPr>
          <p:spPr>
            <a:xfrm>
              <a:off x="12457501" y="3187702"/>
              <a:ext cx="1020198" cy="246888"/>
            </a:xfrm>
            <a:prstGeom prst="round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sz="800" dirty="0">
                  <a:solidFill>
                    <a:schemeClr val="tx1"/>
                  </a:solidFill>
                </a:rPr>
                <a:t>Context KV 2</a:t>
              </a:r>
            </a:p>
          </p:txBody>
        </p:sp>
        <p:sp>
          <p:nvSpPr>
            <p:cNvPr id="209" name="Rectangle 167">
              <a:extLst>
                <a:ext uri="{FF2B5EF4-FFF2-40B4-BE49-F238E27FC236}">
                  <a16:creationId xmlns:a16="http://schemas.microsoft.com/office/drawing/2014/main" id="{AE9F870B-AEB5-43B8-9FC8-D901B8A92426}"/>
                </a:ext>
              </a:extLst>
            </p:cNvPr>
            <p:cNvSpPr/>
            <p:nvPr/>
          </p:nvSpPr>
          <p:spPr>
            <a:xfrm>
              <a:off x="12406491" y="4279914"/>
              <a:ext cx="1122218" cy="246888"/>
            </a:xfrm>
            <a:prstGeom prst="roundRect">
              <a:avLst/>
            </a:prstGeom>
            <a:solidFill>
              <a:schemeClr val="bg1">
                <a:lumMod val="85000"/>
              </a:schemeClr>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en-US" altLang="ko-KR" sz="900" dirty="0">
                  <a:solidFill>
                    <a:schemeClr val="tx1"/>
                  </a:solidFill>
                  <a:ea typeface="맑은 고딕"/>
                </a:rPr>
                <a:t>KV 1 </a:t>
              </a:r>
              <a:r>
                <a:rPr lang="ko-KR" altLang="en-US" sz="900" dirty="0">
                  <a:solidFill>
                    <a:schemeClr val="tx1"/>
                  </a:solidFill>
                  <a:ea typeface="맑은 고딕"/>
                </a:rPr>
                <a:t>재계산 위치 </a:t>
              </a:r>
            </a:p>
          </p:txBody>
        </p:sp>
        <p:sp>
          <p:nvSpPr>
            <p:cNvPr id="210" name="Rectangle 168">
              <a:extLst>
                <a:ext uri="{FF2B5EF4-FFF2-40B4-BE49-F238E27FC236}">
                  <a16:creationId xmlns:a16="http://schemas.microsoft.com/office/drawing/2014/main" id="{4C0765B2-B413-49B3-BCE5-A1C0AF65F3F6}"/>
                </a:ext>
              </a:extLst>
            </p:cNvPr>
            <p:cNvSpPr/>
            <p:nvPr/>
          </p:nvSpPr>
          <p:spPr>
            <a:xfrm>
              <a:off x="12406491" y="4572522"/>
              <a:ext cx="1122218" cy="246888"/>
            </a:xfrm>
            <a:prstGeom prst="roundRect">
              <a:avLst/>
            </a:prstGeom>
            <a:solidFill>
              <a:schemeClr val="bg1">
                <a:lumMod val="85000"/>
              </a:schemeClr>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en-US" altLang="ko-KR" sz="900" dirty="0">
                  <a:solidFill>
                    <a:schemeClr val="tx1"/>
                  </a:solidFill>
                  <a:ea typeface="맑은 고딕"/>
                </a:rPr>
                <a:t>KV 2 </a:t>
              </a:r>
              <a:r>
                <a:rPr lang="ko-KR" altLang="en-US" sz="900" dirty="0">
                  <a:solidFill>
                    <a:schemeClr val="tx1"/>
                  </a:solidFill>
                  <a:ea typeface="맑은 고딕"/>
                </a:rPr>
                <a:t>재계산 위치 </a:t>
              </a:r>
            </a:p>
          </p:txBody>
        </p:sp>
        <p:sp>
          <p:nvSpPr>
            <p:cNvPr id="211" name="Rectangle 165">
              <a:extLst>
                <a:ext uri="{FF2B5EF4-FFF2-40B4-BE49-F238E27FC236}">
                  <a16:creationId xmlns:a16="http://schemas.microsoft.com/office/drawing/2014/main" id="{92E81371-DFB6-44E4-88CE-4F50F622F818}"/>
                </a:ext>
              </a:extLst>
            </p:cNvPr>
            <p:cNvSpPr/>
            <p:nvPr/>
          </p:nvSpPr>
          <p:spPr>
            <a:xfrm>
              <a:off x="12457501" y="3636109"/>
              <a:ext cx="1020198" cy="246888"/>
            </a:xfrm>
            <a:prstGeom prst="round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sz="800" dirty="0">
                  <a:solidFill>
                    <a:schemeClr val="tx1"/>
                  </a:solidFill>
                </a:rPr>
                <a:t>W/L 1 </a:t>
              </a:r>
              <a:r>
                <a:rPr lang="ko-KR" altLang="en-US" sz="800" dirty="0">
                  <a:solidFill>
                    <a:schemeClr val="tx1"/>
                  </a:solidFill>
                </a:rPr>
                <a:t>대표 </a:t>
              </a:r>
              <a:r>
                <a:rPr lang="en-US" sz="800" dirty="0">
                  <a:solidFill>
                    <a:schemeClr val="tx1"/>
                  </a:solidFill>
                </a:rPr>
                <a:t>Query</a:t>
              </a:r>
              <a:endParaRPr sz="800" dirty="0">
                <a:solidFill>
                  <a:schemeClr val="tx1"/>
                </a:solidFill>
              </a:endParaRPr>
            </a:p>
          </p:txBody>
        </p:sp>
        <p:sp>
          <p:nvSpPr>
            <p:cNvPr id="212" name="Rectangle 166">
              <a:extLst>
                <a:ext uri="{FF2B5EF4-FFF2-40B4-BE49-F238E27FC236}">
                  <a16:creationId xmlns:a16="http://schemas.microsoft.com/office/drawing/2014/main" id="{22CD30E5-1CF9-40DC-A079-612E25220715}"/>
                </a:ext>
              </a:extLst>
            </p:cNvPr>
            <p:cNvSpPr/>
            <p:nvPr/>
          </p:nvSpPr>
          <p:spPr>
            <a:xfrm>
              <a:off x="12457501" y="3928717"/>
              <a:ext cx="1020198" cy="246888"/>
            </a:xfrm>
            <a:prstGeom prst="round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sz="800" dirty="0">
                  <a:solidFill>
                    <a:schemeClr val="tx1"/>
                  </a:solidFill>
                </a:rPr>
                <a:t>W/L 2 </a:t>
              </a:r>
              <a:r>
                <a:rPr lang="ko-KR" altLang="en-US" sz="800" dirty="0">
                  <a:solidFill>
                    <a:schemeClr val="tx1"/>
                  </a:solidFill>
                </a:rPr>
                <a:t>대표 </a:t>
              </a:r>
              <a:r>
                <a:rPr lang="en-US" sz="800" dirty="0">
                  <a:solidFill>
                    <a:schemeClr val="tx1"/>
                  </a:solidFill>
                </a:rPr>
                <a:t>Query </a:t>
              </a:r>
              <a:endParaRPr sz="800" dirty="0">
                <a:solidFill>
                  <a:schemeClr val="tx1"/>
                </a:solidFill>
              </a:endParaRPr>
            </a:p>
          </p:txBody>
        </p:sp>
      </p:grpSp>
    </p:spTree>
    <p:extLst>
      <p:ext uri="{BB962C8B-B14F-4D97-AF65-F5344CB8AC3E}">
        <p14:creationId xmlns:p14="http://schemas.microsoft.com/office/powerpoint/2010/main" val="1270874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57313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a:solidFill>
                            <a:schemeClr val="tx1">
                              <a:lumMod val="50000"/>
                              <a:lumOff val="50000"/>
                            </a:schemeClr>
                          </a:solidFill>
                        </a:rPr>
                        <a:t>설계 안</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en-US" altLang="ko-KR" sz="1200" b="1" dirty="0" err="1"/>
                        <a:t>중앙</a:t>
                      </a:r>
                      <a:r>
                        <a:rPr lang="en-US" altLang="ko-KR" sz="1200" b="1" dirty="0"/>
                        <a:t> </a:t>
                      </a:r>
                      <a:r>
                        <a:rPr lang="en-US" altLang="ko-KR" sz="1200" b="1" dirty="0" err="1"/>
                        <a:t>직렬화</a:t>
                      </a:r>
                      <a:r>
                        <a:rPr lang="en-US" altLang="ko-KR" sz="1200" b="1" dirty="0"/>
                        <a:t> </a:t>
                      </a:r>
                      <a:r>
                        <a:rPr lang="en-US" altLang="ko-KR" sz="1200" b="1" dirty="0" err="1"/>
                        <a:t>구조</a:t>
                      </a:r>
                      <a:r>
                        <a:rPr lang="en-US" altLang="ko-KR" sz="1200" b="1" dirty="0"/>
                        <a:t> </a:t>
                      </a:r>
                      <a:r>
                        <a:rPr lang="en-US" altLang="ko-KR" sz="1050" b="1" kern="1200" baseline="0" dirty="0">
                          <a:solidFill>
                            <a:schemeClr val="bg1">
                              <a:lumMod val="50000"/>
                            </a:schemeClr>
                          </a:solidFill>
                          <a:latin typeface="+mn-lt"/>
                          <a:ea typeface="+mn-ea"/>
                          <a:cs typeface="+mn-cs"/>
                        </a:rPr>
                        <a:t>(Central Metadata Server)</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a:t>
                      </a:r>
                      <a:r>
                        <a:rPr lang="en-US" altLang="ko-KR" sz="1200" b="1" dirty="0" err="1"/>
                        <a:t>분산</a:t>
                      </a:r>
                      <a:r>
                        <a:rPr lang="en-US" altLang="ko-KR" sz="1200" b="1" dirty="0"/>
                        <a:t> 락 </a:t>
                      </a:r>
                      <a:r>
                        <a:rPr lang="en-US" altLang="ko-KR" sz="1200" b="1" dirty="0" err="1"/>
                        <a:t>구조</a:t>
                      </a:r>
                      <a:r>
                        <a:rPr lang="en-US" altLang="ko-KR" sz="1200" b="1" dirty="0"/>
                        <a:t> </a:t>
                      </a:r>
                      <a:r>
                        <a:rPr lang="en-US" altLang="ko-KR" sz="1050" b="1" kern="1200" baseline="0" dirty="0">
                          <a:solidFill>
                            <a:schemeClr val="bg1">
                              <a:lumMod val="50000"/>
                            </a:schemeClr>
                          </a:solidFill>
                          <a:latin typeface="+mn-lt"/>
                          <a:ea typeface="+mn-ea"/>
                          <a:cs typeface="+mn-cs"/>
                        </a:rPr>
                        <a:t>(Distributed Lock)</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a:solidFill>
                            <a:schemeClr val="tx1">
                              <a:lumMod val="50000"/>
                              <a:lumOff val="50000"/>
                            </a:schemeClr>
                          </a:solidFill>
                        </a:rPr>
                        <a:t>장점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중앙 서버에서 메타데이터 일괄 관리로 </a:t>
                      </a:r>
                      <a:r>
                        <a:rPr lang="ko-KR" altLang="en-US" sz="1200" strike="noStrike" kern="1200" baseline="0" dirty="0" err="1">
                          <a:solidFill>
                            <a:schemeClr val="tx1"/>
                          </a:solidFill>
                          <a:effectLst/>
                          <a:latin typeface="+mn-lt"/>
                          <a:ea typeface="+mn-ea"/>
                          <a:cs typeface="+mn-cs"/>
                        </a:rPr>
                        <a:t>락</a:t>
                      </a:r>
                      <a:r>
                        <a:rPr lang="ko-KR" altLang="en-US" sz="1200" strike="noStrike" kern="1200" baseline="0" dirty="0">
                          <a:solidFill>
                            <a:schemeClr val="tx1"/>
                          </a:solidFill>
                          <a:effectLst/>
                          <a:latin typeface="+mn-lt"/>
                          <a:ea typeface="+mn-ea"/>
                          <a:cs typeface="+mn-cs"/>
                        </a:rPr>
                        <a:t> </a:t>
                      </a:r>
                      <a:r>
                        <a:rPr lang="ko-KR" altLang="en-US" sz="1200" strike="noStrike" kern="1200" baseline="0" dirty="0" err="1">
                          <a:solidFill>
                            <a:schemeClr val="tx1"/>
                          </a:solidFill>
                          <a:effectLst/>
                          <a:latin typeface="+mn-lt"/>
                          <a:ea typeface="+mn-ea"/>
                          <a:cs typeface="+mn-cs"/>
                        </a:rPr>
                        <a:t>경합</a:t>
                      </a:r>
                      <a:r>
                        <a:rPr lang="ko-KR" altLang="en-US" sz="1200" strike="noStrike" baseline="0" dirty="0" err="1">
                          <a:effectLst/>
                          <a:latin typeface="맑은 고딕" panose="020B0503020000020004" pitchFamily="50" charset="-127"/>
                          <a:ea typeface="+mn-ea"/>
                        </a:rPr>
                        <a:t>∙</a:t>
                      </a:r>
                      <a:r>
                        <a:rPr lang="ko-KR" altLang="en-US" sz="1200" strike="noStrike" kern="1200" baseline="0" dirty="0" err="1">
                          <a:solidFill>
                            <a:schemeClr val="tx1"/>
                          </a:solidFill>
                          <a:effectLst/>
                          <a:latin typeface="+mn-lt"/>
                          <a:ea typeface="+mn-ea"/>
                          <a:cs typeface="+mn-cs"/>
                        </a:rPr>
                        <a:t>동기화</a:t>
                      </a:r>
                      <a:r>
                        <a:rPr lang="ko-KR" altLang="en-US" sz="1200" strike="noStrike" kern="1200" baseline="0" dirty="0">
                          <a:solidFill>
                            <a:schemeClr val="tx1"/>
                          </a:solidFill>
                          <a:effectLst/>
                          <a:latin typeface="+mn-lt"/>
                          <a:ea typeface="+mn-ea"/>
                          <a:cs typeface="+mn-cs"/>
                        </a:rPr>
                        <a:t> 비용 최소화 </a:t>
                      </a:r>
                      <a:r>
                        <a:rPr lang="en-US" altLang="ko-KR" sz="1200" strike="noStrike" kern="1200" baseline="0" dirty="0">
                          <a:solidFill>
                            <a:schemeClr val="tx1"/>
                          </a:solidFill>
                          <a:effectLst/>
                          <a:latin typeface="+mn-lt"/>
                          <a:ea typeface="+mn-ea"/>
                          <a:cs typeface="+mn-cs"/>
                        </a:rPr>
                        <a:t>(QA1)</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중앙 서버에서 동기화 규칙을 관리하므로 변경 범위 </a:t>
                      </a:r>
                      <a:r>
                        <a:rPr lang="ko-KR" altLang="en-US" sz="1200" strike="noStrike" kern="1200" baseline="0" dirty="0" err="1">
                          <a:solidFill>
                            <a:schemeClr val="tx1"/>
                          </a:solidFill>
                          <a:effectLst/>
                          <a:latin typeface="+mn-lt"/>
                          <a:ea typeface="+mn-ea"/>
                          <a:cs typeface="+mn-cs"/>
                        </a:rPr>
                        <a:t>국소화</a:t>
                      </a:r>
                      <a:r>
                        <a:rPr lang="ko-KR" altLang="en-US" sz="1200" strike="noStrike" kern="1200" baseline="0" dirty="0">
                          <a:solidFill>
                            <a:schemeClr val="tx1"/>
                          </a:solidFill>
                          <a:effectLst/>
                          <a:latin typeface="+mn-lt"/>
                          <a:ea typeface="+mn-ea"/>
                          <a:cs typeface="+mn-cs"/>
                        </a:rPr>
                        <a:t> </a:t>
                      </a:r>
                      <a:r>
                        <a:rPr lang="en-US" altLang="ko-KR" sz="1200" strike="noStrike" kern="1200" baseline="0" dirty="0">
                          <a:solidFill>
                            <a:schemeClr val="tx1"/>
                          </a:solidFill>
                          <a:effectLst/>
                          <a:latin typeface="+mn-lt"/>
                          <a:ea typeface="+mn-ea"/>
                          <a:cs typeface="+mn-cs"/>
                        </a:rPr>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노드 별 메타데이터 관리로 노드 추가 시 부하 분산 가능 </a:t>
                      </a:r>
                      <a:r>
                        <a:rPr lang="en-US" altLang="ko-KR" sz="1200" strike="noStrike" baseline="0" dirty="0">
                          <a:effectLst/>
                        </a:rPr>
                        <a:t>(QA5)</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노드 장애가 해당 노드와 그 노드가 쥔 </a:t>
                      </a:r>
                      <a:r>
                        <a:rPr lang="ko-KR" altLang="en-US" sz="1200" strike="noStrike" baseline="0" dirty="0" err="1">
                          <a:effectLst/>
                        </a:rPr>
                        <a:t>락</a:t>
                      </a:r>
                      <a:r>
                        <a:rPr lang="ko-KR" altLang="en-US" sz="1200" strike="noStrike" baseline="0" dirty="0">
                          <a:effectLst/>
                        </a:rPr>
                        <a:t> 범위로 한정 가능 </a:t>
                      </a:r>
                      <a:r>
                        <a:rPr lang="en-US" altLang="ko-KR" sz="1200" strike="noStrike" baseline="0" dirty="0">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노드 </a:t>
                      </a:r>
                      <a:r>
                        <a:rPr lang="ko-KR" altLang="en-US" sz="1200" strike="noStrike" baseline="0" dirty="0" err="1">
                          <a:effectLst/>
                        </a:rPr>
                        <a:t>수</a:t>
                      </a:r>
                      <a:r>
                        <a:rPr lang="ko-KR" altLang="en-US" sz="1200" strike="noStrike" baseline="0" dirty="0" err="1">
                          <a:effectLst/>
                          <a:latin typeface="맑은 고딕" panose="020B0503020000020004" pitchFamily="50" charset="-127"/>
                          <a:ea typeface="+mn-ea"/>
                        </a:rPr>
                        <a:t>∙동시</a:t>
                      </a:r>
                      <a:r>
                        <a:rPr lang="ko-KR" altLang="en-US" sz="1200" strike="noStrike" baseline="0" dirty="0">
                          <a:effectLst/>
                          <a:latin typeface="맑은 고딕" panose="020B0503020000020004" pitchFamily="50" charset="-127"/>
                          <a:ea typeface="+mn-ea"/>
                        </a:rPr>
                        <a:t> 요청 증가 시 중앙 서버 병목으로 확장성 제한</a:t>
                      </a:r>
                      <a:r>
                        <a:rPr lang="en-US" altLang="ko-KR" sz="1200" strike="noStrike" baseline="0" dirty="0">
                          <a:effectLst/>
                          <a:latin typeface="맑은 고딕" panose="020B0503020000020004" pitchFamily="50" charset="-127"/>
                          <a:ea typeface="+mn-ea"/>
                        </a:rPr>
                        <a:t>(QA5)</a:t>
                      </a:r>
                      <a:endParaRPr lang="en-US" altLang="ko-KR" sz="1200" strike="noStrike" baseline="0" dirty="0">
                        <a:effectLst/>
                      </a:endParaRPr>
                    </a:p>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메타데이터 서버 장애가 전 노드의 메타데이터 연산으로 전파</a:t>
                      </a:r>
                      <a:r>
                        <a:rPr lang="en-US" altLang="ko-KR" sz="1200" strike="noStrike" baseline="0" dirty="0">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노드 증가 시 </a:t>
                      </a:r>
                      <a:r>
                        <a:rPr lang="ko-KR" altLang="en-US" sz="1200" strike="noStrike" baseline="0" dirty="0" err="1">
                          <a:effectLst/>
                        </a:rPr>
                        <a:t>락</a:t>
                      </a:r>
                      <a:r>
                        <a:rPr lang="ko-KR" altLang="en-US" sz="1200" strike="noStrike" baseline="0" dirty="0">
                          <a:effectLst/>
                        </a:rPr>
                        <a:t> </a:t>
                      </a:r>
                      <a:r>
                        <a:rPr lang="ko-KR" altLang="en-US" sz="1200" strike="noStrike" baseline="0" dirty="0" err="1">
                          <a:effectLst/>
                        </a:rPr>
                        <a:t>경합</a:t>
                      </a:r>
                      <a:r>
                        <a:rPr lang="ko-KR" altLang="en-US" sz="1200" strike="noStrike" baseline="0" dirty="0" err="1">
                          <a:effectLst/>
                          <a:latin typeface="맑은 고딕" panose="020B0503020000020004" pitchFamily="50" charset="-127"/>
                          <a:ea typeface="+mn-ea"/>
                        </a:rPr>
                        <a:t>∙동</a:t>
                      </a:r>
                      <a:r>
                        <a:rPr lang="ko-KR" altLang="en-US" sz="1200" strike="noStrike" baseline="0" dirty="0" err="1">
                          <a:effectLst/>
                        </a:rPr>
                        <a:t>기화</a:t>
                      </a:r>
                      <a:r>
                        <a:rPr lang="ko-KR" altLang="en-US" sz="1200" strike="noStrike" baseline="0" dirty="0">
                          <a:effectLst/>
                        </a:rPr>
                        <a:t> 비용 증가로 처리량 저하 가능 </a:t>
                      </a:r>
                      <a:r>
                        <a:rPr lang="en-US" altLang="ko-KR" sz="1200" strike="noStrike" baseline="0" dirty="0">
                          <a:effectLst/>
                        </a:rPr>
                        <a:t>(QA1)</a:t>
                      </a:r>
                    </a:p>
                    <a:p>
                      <a:pPr marL="228600" indent="-228600" latinLnBrk="1">
                        <a:lnSpc>
                          <a:spcPct val="100000"/>
                        </a:lnSpc>
                        <a:buFont typeface="Wingdings" panose="05000000000000000000" pitchFamily="2" charset="2"/>
                        <a:buChar char="§"/>
                      </a:pPr>
                      <a:r>
                        <a:rPr lang="ko-KR" altLang="en-US" sz="1200" strike="noStrike" baseline="0" dirty="0" err="1">
                          <a:effectLst/>
                        </a:rPr>
                        <a:t>락</a:t>
                      </a:r>
                      <a:r>
                        <a:rPr lang="ko-KR" altLang="en-US" sz="1200" strike="noStrike" baseline="0" dirty="0">
                          <a:effectLst/>
                        </a:rPr>
                        <a:t> </a:t>
                      </a:r>
                      <a:r>
                        <a:rPr lang="ko-KR" altLang="en-US" sz="1200" strike="noStrike" baseline="0" dirty="0" err="1">
                          <a:effectLst/>
                        </a:rPr>
                        <a:t>매니저</a:t>
                      </a:r>
                      <a:r>
                        <a:rPr lang="ko-KR" altLang="en-US" sz="1200" strike="noStrike" baseline="0" dirty="0" err="1">
                          <a:effectLst/>
                          <a:latin typeface="맑은 고딕" panose="020B0503020000020004" pitchFamily="50" charset="-127"/>
                          <a:ea typeface="+mn-ea"/>
                        </a:rPr>
                        <a:t>∙공유</a:t>
                      </a:r>
                      <a:r>
                        <a:rPr lang="ko-KR" altLang="en-US" sz="1200" strike="noStrike" baseline="0" dirty="0">
                          <a:effectLst/>
                          <a:latin typeface="맑은 고딕" panose="020B0503020000020004" pitchFamily="50" charset="-127"/>
                          <a:ea typeface="+mn-ea"/>
                        </a:rPr>
                        <a:t> </a:t>
                      </a:r>
                      <a:r>
                        <a:rPr lang="ko-KR" altLang="en-US" sz="1200" strike="noStrike" baseline="0" dirty="0" err="1">
                          <a:effectLst/>
                          <a:latin typeface="맑은 고딕" panose="020B0503020000020004" pitchFamily="50" charset="-127"/>
                          <a:ea typeface="+mn-ea"/>
                        </a:rPr>
                        <a:t>락</a:t>
                      </a:r>
                      <a:r>
                        <a:rPr lang="ko-KR" altLang="en-US" sz="1200" strike="noStrike" baseline="0" dirty="0">
                          <a:effectLst/>
                          <a:latin typeface="맑은 고딕" panose="020B0503020000020004" pitchFamily="50" charset="-127"/>
                          <a:ea typeface="+mn-ea"/>
                        </a:rPr>
                        <a:t> </a:t>
                      </a:r>
                      <a:r>
                        <a:rPr lang="ko-KR" altLang="en-US" sz="1200" strike="noStrike" baseline="0" dirty="0" err="1">
                          <a:effectLst/>
                          <a:latin typeface="맑은 고딕" panose="020B0503020000020004" pitchFamily="50" charset="-127"/>
                          <a:ea typeface="+mn-ea"/>
                        </a:rPr>
                        <a:t>슬롯∙각</a:t>
                      </a:r>
                      <a:r>
                        <a:rPr lang="ko-KR" altLang="en-US" sz="1200" strike="noStrike" baseline="0" dirty="0">
                          <a:effectLst/>
                          <a:latin typeface="맑은 고딕" panose="020B0503020000020004" pitchFamily="50" charset="-127"/>
                          <a:ea typeface="+mn-ea"/>
                        </a:rPr>
                        <a:t> 노드 </a:t>
                      </a:r>
                      <a:r>
                        <a:rPr lang="en-US" altLang="ko-KR" sz="1200" strike="noStrike" baseline="0" dirty="0">
                          <a:effectLst/>
                          <a:latin typeface="맑은 고딕" panose="020B0503020000020004" pitchFamily="50" charset="-127"/>
                          <a:ea typeface="+mn-ea"/>
                        </a:rPr>
                        <a:t>client </a:t>
                      </a:r>
                      <a:r>
                        <a:rPr lang="en-US" altLang="ko-KR" sz="1200" strike="noStrike" baseline="0" dirty="0" err="1">
                          <a:effectLst/>
                          <a:latin typeface="맑은 고딕" panose="020B0503020000020004" pitchFamily="50" charset="-127"/>
                          <a:ea typeface="+mn-ea"/>
                        </a:rPr>
                        <a:t>libray</a:t>
                      </a:r>
                      <a:r>
                        <a:rPr lang="en-US" altLang="ko-KR" sz="1200" strike="noStrike" baseline="0" dirty="0">
                          <a:effectLst/>
                          <a:latin typeface="맑은 고딕" panose="020B0503020000020004" pitchFamily="50" charset="-127"/>
                          <a:ea typeface="+mn-ea"/>
                        </a:rPr>
                        <a:t> </a:t>
                      </a:r>
                      <a:r>
                        <a:rPr lang="ko-KR" altLang="en-US" sz="1200" strike="noStrike" baseline="0" dirty="0">
                          <a:effectLst/>
                          <a:latin typeface="맑은 고딕" panose="020B0503020000020004" pitchFamily="50" charset="-127"/>
                          <a:ea typeface="+mn-ea"/>
                        </a:rPr>
                        <a:t>간 프로토콜 변경 필요 </a:t>
                      </a:r>
                      <a:r>
                        <a:rPr lang="en-US" altLang="ko-KR" sz="1200" strike="noStrike" baseline="0" dirty="0">
                          <a:effectLst/>
                          <a:latin typeface="맑은 고딕" panose="020B0503020000020004" pitchFamily="50" charset="-127"/>
                          <a:ea typeface="+mn-ea"/>
                        </a:rPr>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404823">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QA3. Modifiability</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토큰</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비용</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M/M)</a:t>
                      </a:r>
                      <a:endParaRPr lang="en-US" altLang="ko-KR" sz="1000" b="0" strike="noStrike" dirty="0">
                        <a:solidFill>
                          <a:schemeClr val="tx1"/>
                        </a:solidFill>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Fault tolerance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r>
                        <a:rPr lang="ko-KR" altLang="en-US" sz="1200" b="0" dirty="0">
                          <a:solidFill>
                            <a:srgbClr val="0066FF"/>
                          </a:solidFill>
                          <a:latin typeface="+mn-lt"/>
                          <a:ea typeface="맑은 고딕"/>
                        </a:rPr>
                        <a:t>★★★</a:t>
                      </a:r>
                      <a:endParaRPr lang="en-US" altLang="ko-KR" sz="1200" b="0" dirty="0">
                        <a:solidFill>
                          <a:srgbClr val="0066FF"/>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rgbClr val="0066FF"/>
                        </a:solidFill>
                        <a:latin typeface="+mn-lt"/>
                        <a:ea typeface="맑은 고딕"/>
                      </a:endParaRPr>
                    </a:p>
                    <a:p>
                      <a:pPr lvl="0"/>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QA3. Modifiability</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토큰</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err="1">
                          <a:ln>
                            <a:noFill/>
                          </a:ln>
                          <a:solidFill>
                            <a:prstClr val="black"/>
                          </a:solidFill>
                          <a:effectLst/>
                          <a:uLnTx/>
                          <a:uFillTx/>
                          <a:latin typeface="+mn-lt"/>
                          <a:ea typeface="+mn-ea"/>
                          <a:cs typeface="+mn-cs"/>
                        </a:rPr>
                        <a:t>비용</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M/M)</a:t>
                      </a:r>
                      <a:endParaRPr lang="en-US" altLang="ko-KR" sz="1000" b="0" strike="noStrike" dirty="0">
                        <a:solidFill>
                          <a:schemeClr val="tx1"/>
                        </a:solidFill>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Fault tolerance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66FF"/>
                          </a:solidFill>
                          <a:latin typeface="+mn-lt"/>
                          <a:ea typeface="맑은 고딕"/>
                        </a:rPr>
                        <a:t>★★★</a:t>
                      </a:r>
                      <a:endParaRPr lang="ko-KR" altLang="en-US" sz="1200" strike="noStrike" dirty="0">
                        <a:solidFill>
                          <a:srgbClr val="0066FF"/>
                        </a:solidFill>
                      </a:endParaRPr>
                    </a:p>
                    <a:p>
                      <a:pPr lvl="0"/>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lvl="0"/>
                      <a:r>
                        <a:rPr lang="ko-KR" altLang="en-US" sz="1200" b="0" dirty="0">
                          <a:solidFill>
                            <a:srgbClr val="0066FF"/>
                          </a:solidFill>
                          <a:latin typeface="+mn-lt"/>
                          <a:ea typeface="맑은 고딕"/>
                        </a:rPr>
                        <a:t>★★★</a:t>
                      </a:r>
                      <a:endParaRPr lang="en-US" altLang="ko-KR" sz="1200" b="0" dirty="0">
                        <a:solidFill>
                          <a:srgbClr val="0066FF"/>
                        </a:solidFill>
                        <a:latin typeface="+mn-lt"/>
                        <a:ea typeface="맑은 고딕"/>
                      </a:endParaRPr>
                    </a:p>
                    <a:p>
                      <a:pPr lvl="0"/>
                      <a:endParaRPr lang="ko-KR" altLang="en-US" sz="1200" strike="noStrike" dirty="0">
                        <a:solidFill>
                          <a:srgbClr val="0066FF"/>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337654"/>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337654"/>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CXL </a:t>
            </a:r>
            <a:r>
              <a:rPr sz="700" b="1" i="0" dirty="0" err="1">
                <a:solidFill>
                  <a:srgbClr val="FFFFFF"/>
                </a:solidFill>
                <a:latin typeface="맑은 고딕"/>
                <a:ea typeface="맑은 고딕"/>
              </a:rPr>
              <a:t>공유</a:t>
            </a:r>
            <a:r>
              <a:rPr sz="700" b="1" i="0" dirty="0">
                <a:solidFill>
                  <a:srgbClr val="FFFFFF"/>
                </a:solidFill>
                <a:latin typeface="맑은 고딕"/>
                <a:ea typeface="맑은 고딕"/>
              </a:rPr>
              <a:t> 풀</a:t>
            </a:r>
          </a:p>
        </p:txBody>
      </p:sp>
      <p:sp>
        <p:nvSpPr>
          <p:cNvPr id="184" name="Rectangle 183"/>
          <p:cNvSpPr/>
          <p:nvPr/>
        </p:nvSpPr>
        <p:spPr>
          <a:xfrm>
            <a:off x="8361103" y="2657694"/>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800" dirty="0">
                <a:solidFill>
                  <a:schemeClr val="tx1"/>
                </a:solidFill>
                <a:ea typeface="맑은 고딕"/>
              </a:rPr>
              <a:t>공유 데이터 </a:t>
            </a:r>
            <a:r>
              <a:rPr lang="en-US" altLang="ko-KR" sz="800" dirty="0">
                <a:solidFill>
                  <a:schemeClr val="tx1"/>
                </a:solidFill>
                <a:ea typeface="맑은 고딕"/>
              </a:rPr>
              <a:t>(KV </a:t>
            </a:r>
            <a:r>
              <a:rPr lang="ko-KR" altLang="en-US" sz="800" dirty="0">
                <a:solidFill>
                  <a:schemeClr val="tx1"/>
                </a:solidFill>
                <a:ea typeface="맑은 고딕"/>
              </a:rPr>
              <a:t>해시 식별</a:t>
            </a:r>
            <a:r>
              <a:rPr lang="en-US" altLang="ko-KR" sz="800" dirty="0">
                <a:solidFill>
                  <a:schemeClr val="tx1"/>
                </a:solidFill>
                <a:ea typeface="맑은 고딕"/>
              </a:rPr>
              <a:t>)</a:t>
            </a:r>
          </a:p>
        </p:txBody>
      </p:sp>
      <p:sp>
        <p:nvSpPr>
          <p:cNvPr id="185" name="Rectangle 184"/>
          <p:cNvSpPr/>
          <p:nvPr/>
        </p:nvSpPr>
        <p:spPr>
          <a:xfrm>
            <a:off x="8361103" y="3041742"/>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504391"/>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174</a:t>
            </a:fld>
            <a:endParaRPr lang="ko-KR" altLang="en-US" dirty="0"/>
          </a:p>
        </p:txBody>
      </p:sp>
      <p:sp>
        <p:nvSpPr>
          <p:cNvPr id="3" name="제목 2"/>
          <p:cNvSpPr>
            <a:spLocks noGrp="1"/>
          </p:cNvSpPr>
          <p:nvPr>
            <p:ph type="title"/>
          </p:nvPr>
        </p:nvSpPr>
        <p:spPr/>
        <p:txBody>
          <a:bodyPr/>
          <a:lstStyle/>
          <a:p>
            <a:r>
              <a:rPr lang="en-US" altLang="ko-KR" dirty="0"/>
              <a:t>DP4. </a:t>
            </a:r>
            <a:r>
              <a:rPr lang="en-US" altLang="ko-KR" dirty="0" err="1"/>
              <a:t>서버</a:t>
            </a:r>
            <a:r>
              <a:rPr lang="en-US" altLang="ko-KR" dirty="0"/>
              <a:t> 간 </a:t>
            </a:r>
            <a:r>
              <a:rPr lang="ko-KR" altLang="en-US" dirty="0"/>
              <a:t>데이터 </a:t>
            </a:r>
            <a:r>
              <a:rPr lang="en-US" altLang="ko-KR" dirty="0" err="1"/>
              <a:t>공유</a:t>
            </a:r>
            <a:r>
              <a:rPr lang="en-US" altLang="ko-KR" dirty="0"/>
              <a:t> </a:t>
            </a:r>
            <a:r>
              <a:rPr lang="en-US" altLang="ko-KR" dirty="0" err="1"/>
              <a:t>구조</a:t>
            </a:r>
            <a:r>
              <a:rPr lang="en-US" altLang="ko-KR" dirty="0"/>
              <a:t> – </a:t>
            </a:r>
            <a:r>
              <a:rPr lang="ko-KR" altLang="en-US" dirty="0"/>
              <a:t>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다중 노드 간 데이터 정합성과 접근 동기화를 보장하는 구조</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모든 갱신을 직렬화하고, </a:t>
            </a:r>
            <a:r>
              <a:rPr lang="ko-KR" altLang="en-US" sz="1100" dirty="0"/>
              <a:t>각 </a:t>
            </a:r>
            <a:r>
              <a:rPr lang="en-US" altLang="ko-KR" sz="1100" dirty="0" err="1"/>
              <a:t>노드</a:t>
            </a:r>
            <a:r>
              <a:rPr lang="ko-KR" altLang="en-US" sz="1100" dirty="0"/>
              <a:t>가 메타데이터 서버에 </a:t>
            </a:r>
            <a:r>
              <a:rPr lang="en-US" altLang="ko-KR" sz="1100" dirty="0" err="1"/>
              <a:t>요청</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노드가 2단 락으로 </a:t>
            </a:r>
            <a:r>
              <a:rPr lang="en-US" altLang="ko-KR" sz="1100" dirty="0" err="1"/>
              <a:t>직접</a:t>
            </a:r>
            <a:r>
              <a:rPr lang="en-US" altLang="ko-KR" sz="1100" dirty="0"/>
              <a:t> </a:t>
            </a:r>
            <a:r>
              <a:rPr lang="en-US" altLang="ko-KR" sz="1100" dirty="0" err="1"/>
              <a:t>갱신</a:t>
            </a:r>
            <a:r>
              <a:rPr lang="en-US" altLang="ko-KR" sz="1100" dirty="0"/>
              <a:t>”</a:t>
            </a:r>
          </a:p>
        </p:txBody>
      </p:sp>
      <p:sp>
        <p:nvSpPr>
          <p:cNvPr id="140" name="Rectangle 139"/>
          <p:cNvSpPr/>
          <p:nvPr/>
        </p:nvSpPr>
        <p:spPr>
          <a:xfrm>
            <a:off x="1261872" y="2429093"/>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429094"/>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endParaRPr sz="700" b="1" i="0" dirty="0">
              <a:solidFill>
                <a:schemeClr val="tx1"/>
              </a:solidFill>
              <a:latin typeface="맑은 고딕"/>
              <a:ea typeface="맑은 고딕"/>
            </a:endParaRPr>
          </a:p>
        </p:txBody>
      </p:sp>
      <p:sp>
        <p:nvSpPr>
          <p:cNvPr id="142" name="Rectangle 141"/>
          <p:cNvSpPr/>
          <p:nvPr/>
        </p:nvSpPr>
        <p:spPr>
          <a:xfrm>
            <a:off x="1371600" y="2748894"/>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429094"/>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5" y="2429094"/>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endParaRPr sz="700" b="1" dirty="0">
              <a:solidFill>
                <a:schemeClr val="tx1"/>
              </a:solidFill>
              <a:latin typeface="맑은 고딕"/>
              <a:ea typeface="맑은 고딕"/>
            </a:endParaRPr>
          </a:p>
        </p:txBody>
      </p:sp>
      <p:sp>
        <p:nvSpPr>
          <p:cNvPr id="148" name="Rectangle 147"/>
          <p:cNvSpPr/>
          <p:nvPr/>
        </p:nvSpPr>
        <p:spPr>
          <a:xfrm>
            <a:off x="5089583" y="2748894"/>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337653"/>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337654"/>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CXL </a:t>
            </a:r>
            <a:r>
              <a:rPr sz="700" b="1" i="0" dirty="0" err="1">
                <a:solidFill>
                  <a:srgbClr val="FFFFFF"/>
                </a:solidFill>
                <a:latin typeface="맑은 고딕"/>
                <a:ea typeface="맑은 고딕"/>
              </a:rPr>
              <a:t>공유</a:t>
            </a:r>
            <a:r>
              <a:rPr sz="700" b="1" i="0" dirty="0">
                <a:solidFill>
                  <a:srgbClr val="FFFFFF"/>
                </a:solidFill>
                <a:latin typeface="맑은 고딕"/>
                <a:ea typeface="맑은 고딕"/>
              </a:rPr>
              <a:t> 풀</a:t>
            </a:r>
            <a:r>
              <a:rPr lang="en-US" sz="700" b="1" i="0" dirty="0">
                <a:solidFill>
                  <a:srgbClr val="FFFFFF"/>
                </a:solidFill>
                <a:latin typeface="맑은 고딕"/>
                <a:ea typeface="맑은 고딕"/>
              </a:rPr>
              <a:t> </a:t>
            </a:r>
            <a:endParaRPr sz="700" b="1" i="0" dirty="0">
              <a:solidFill>
                <a:srgbClr val="FFFFFF"/>
              </a:solidFill>
              <a:latin typeface="맑은 고딕"/>
              <a:ea typeface="맑은 고딕"/>
            </a:endParaRPr>
          </a:p>
        </p:txBody>
      </p:sp>
      <p:sp>
        <p:nvSpPr>
          <p:cNvPr id="154" name="Rectangle 153"/>
          <p:cNvSpPr/>
          <p:nvPr/>
        </p:nvSpPr>
        <p:spPr>
          <a:xfrm>
            <a:off x="3124504" y="2681662"/>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800" dirty="0">
                <a:solidFill>
                  <a:schemeClr val="tx1"/>
                </a:solidFill>
                <a:latin typeface="맑은 고딕"/>
                <a:ea typeface="맑은 고딕"/>
              </a:rPr>
              <a:t>공유 데이터 </a:t>
            </a:r>
            <a:r>
              <a:rPr sz="800" dirty="0">
                <a:solidFill>
                  <a:schemeClr val="tx1"/>
                </a:solidFill>
                <a:latin typeface="맑은 고딕"/>
                <a:ea typeface="맑은 고딕"/>
              </a:rPr>
              <a:t>(</a:t>
            </a:r>
            <a:r>
              <a:rPr lang="en-US" sz="800" dirty="0">
                <a:solidFill>
                  <a:schemeClr val="tx1"/>
                </a:solidFill>
                <a:latin typeface="맑은 고딕"/>
                <a:ea typeface="맑은 고딕"/>
              </a:rPr>
              <a:t>KV </a:t>
            </a:r>
            <a:r>
              <a:rPr sz="800" dirty="0" err="1">
                <a:solidFill>
                  <a:schemeClr val="tx1"/>
                </a:solidFill>
                <a:latin typeface="맑은 고딕"/>
                <a:ea typeface="맑은 고딕"/>
              </a:rPr>
              <a:t>해시</a:t>
            </a:r>
            <a:r>
              <a:rPr sz="800" dirty="0">
                <a:solidFill>
                  <a:schemeClr val="tx1"/>
                </a:solidFill>
                <a:latin typeface="맑은 고딕"/>
                <a:ea typeface="맑은 고딕"/>
              </a:rPr>
              <a:t> </a:t>
            </a:r>
            <a:r>
              <a:rPr sz="800" dirty="0" err="1">
                <a:solidFill>
                  <a:schemeClr val="tx1"/>
                </a:solidFill>
                <a:latin typeface="맑은 고딕"/>
                <a:ea typeface="맑은 고딕"/>
              </a:rPr>
              <a:t>식별</a:t>
            </a:r>
            <a:r>
              <a:rPr sz="800" dirty="0">
                <a:solidFill>
                  <a:schemeClr val="tx1"/>
                </a:solidFill>
                <a:latin typeface="맑은 고딕"/>
                <a:ea typeface="맑은 고딕"/>
              </a:rPr>
              <a:t>)</a:t>
            </a:r>
          </a:p>
        </p:txBody>
      </p:sp>
      <p:sp>
        <p:nvSpPr>
          <p:cNvPr id="156" name="Rectangle 155"/>
          <p:cNvSpPr/>
          <p:nvPr/>
        </p:nvSpPr>
        <p:spPr>
          <a:xfrm>
            <a:off x="3044952" y="4158786"/>
            <a:ext cx="1691640" cy="427805"/>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lnSpc>
                <a:spcPct val="150000"/>
              </a:lnSpc>
            </a:pPr>
            <a:r>
              <a:rPr lang="ko-KR" altLang="en-US" sz="900" b="1" dirty="0">
                <a:solidFill>
                  <a:schemeClr val="tx1"/>
                </a:solidFill>
                <a:ea typeface="맑은 고딕"/>
              </a:rPr>
              <a:t>메타데이터 서버</a:t>
            </a:r>
            <a:endParaRPr lang="en-US" altLang="ko-KR" sz="900" b="1" dirty="0">
              <a:solidFill>
                <a:schemeClr val="tx1"/>
              </a:solidFill>
              <a:ea typeface="맑은 고딕"/>
            </a:endParaRPr>
          </a:p>
          <a:p>
            <a:pPr algn="ctr">
              <a:lnSpc>
                <a:spcPct val="150000"/>
              </a:lnSpc>
            </a:pPr>
            <a:r>
              <a:rPr lang="ko-KR" altLang="en-US" sz="700" dirty="0">
                <a:solidFill>
                  <a:schemeClr val="tx1"/>
                </a:solidFill>
                <a:ea typeface="맑은 고딕"/>
              </a:rPr>
              <a:t>해시 테이블</a:t>
            </a:r>
            <a:r>
              <a:rPr lang="en-US" altLang="ko-KR" sz="700" dirty="0">
                <a:solidFill>
                  <a:schemeClr val="tx1"/>
                </a:solidFill>
                <a:ea typeface="맑은 고딕"/>
              </a:rPr>
              <a:t> · allocator · LRU</a:t>
            </a:r>
          </a:p>
        </p:txBody>
      </p:sp>
      <p:cxnSp>
        <p:nvCxnSpPr>
          <p:cNvPr id="159" name="Connector 158"/>
          <p:cNvCxnSpPr/>
          <p:nvPr/>
        </p:nvCxnSpPr>
        <p:spPr>
          <a:xfrm>
            <a:off x="2549632" y="365240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55143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594256"/>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496960"/>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sp>
        <p:nvSpPr>
          <p:cNvPr id="170" name="Rectangle 169"/>
          <p:cNvSpPr/>
          <p:nvPr/>
        </p:nvSpPr>
        <p:spPr>
          <a:xfrm>
            <a:off x="6675120" y="2429094"/>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429094"/>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748894"/>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429094"/>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429094"/>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748894"/>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grpSp>
        <p:nvGrpSpPr>
          <p:cNvPr id="44" name="그룹 43"/>
          <p:cNvGrpSpPr/>
          <p:nvPr/>
        </p:nvGrpSpPr>
        <p:grpSpPr>
          <a:xfrm>
            <a:off x="8327898" y="4159896"/>
            <a:ext cx="1737360" cy="438382"/>
            <a:chOff x="8412480" y="3948814"/>
            <a:chExt cx="1737360" cy="482220"/>
          </a:xfrm>
        </p:grpSpPr>
        <p:sp>
          <p:nvSpPr>
            <p:cNvPr id="187" name="Rectangle 186"/>
            <p:cNvSpPr/>
            <p:nvPr/>
          </p:nvSpPr>
          <p:spPr>
            <a:xfrm>
              <a:off x="8458200" y="3948814"/>
              <a:ext cx="1691640" cy="4822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sp>
          <p:nvSpPr>
            <p:cNvPr id="188" name="Rectangle 187"/>
            <p:cNvSpPr/>
            <p:nvPr/>
          </p:nvSpPr>
          <p:spPr>
            <a:xfrm>
              <a:off x="8412480" y="4003678"/>
              <a:ext cx="91440" cy="50292"/>
            </a:xfrm>
            <a:prstGeom prst="rect">
              <a:avLst/>
            </a:prstGeom>
            <a:solidFill>
              <a:srgbClr val="FDECEA"/>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grpSp>
      <p:cxnSp>
        <p:nvCxnSpPr>
          <p:cNvPr id="190" name="Connector 189"/>
          <p:cNvCxnSpPr/>
          <p:nvPr/>
        </p:nvCxnSpPr>
        <p:spPr>
          <a:xfrm>
            <a:off x="7986148" y="2849718"/>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77199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914193"/>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7198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562950"/>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48522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595318"/>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410860"/>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4" name="C1 slot-server link"/>
          <p:cNvCxnSpPr/>
          <p:nvPr/>
        </p:nvCxnSpPr>
        <p:spPr>
          <a:xfrm>
            <a:off x="3890772" y="3882086"/>
            <a:ext cx="0" cy="236681"/>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939126"/>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cxnSp>
        <p:nvCxnSpPr>
          <p:cNvPr id="206" name="C2 lock-manager link"/>
          <p:cNvCxnSpPr/>
          <p:nvPr/>
        </p:nvCxnSpPr>
        <p:spPr>
          <a:xfrm>
            <a:off x="9304020" y="3865162"/>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926899"/>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91" name="Shape 31">
            <a:extLst>
              <a:ext uri="{FF2B5EF4-FFF2-40B4-BE49-F238E27FC236}">
                <a16:creationId xmlns:a16="http://schemas.microsoft.com/office/drawing/2014/main" id="{823D7D32-6771-4AA4-9581-77C6BEA03C53}"/>
              </a:ext>
            </a:extLst>
          </p:cNvPr>
          <p:cNvSpPr/>
          <p:nvPr/>
        </p:nvSpPr>
        <p:spPr>
          <a:xfrm>
            <a:off x="1335670" y="1896412"/>
            <a:ext cx="1411795" cy="219840"/>
          </a:xfrm>
          <a:prstGeom prst="rect">
            <a:avLst/>
          </a:prstGeom>
          <a:solidFill>
            <a:schemeClr val="bg1">
              <a:lumMod val="85000"/>
            </a:schemeClr>
          </a:solidFill>
          <a:ln w="12700">
            <a:solidFill>
              <a:srgbClr val="888C91"/>
            </a:solidFill>
            <a:prstDash val="solid"/>
          </a:ln>
        </p:spPr>
        <p:txBody>
          <a:bodyPr anchor="ctr"/>
          <a:lstStyle/>
          <a:p>
            <a:pPr algn="ctr" latinLnBrk="0">
              <a:defRPr/>
            </a:pPr>
            <a:r>
              <a:rPr lang="en-US" altLang="ko-KR" sz="800" dirty="0">
                <a:solidFill>
                  <a:srgbClr val="1A1A1A"/>
                </a:solidFill>
                <a:latin typeface="Malgun Gothic" pitchFamily="34" charset="0"/>
                <a:ea typeface="Malgun Gothic" pitchFamily="34" charset="-122"/>
              </a:rPr>
              <a:t>Execution Router</a:t>
            </a:r>
            <a:endParaRPr lang="ko-KR" altLang="en-US" sz="800" dirty="0">
              <a:solidFill>
                <a:srgbClr val="1A1A1A"/>
              </a:solidFill>
              <a:latin typeface="Malgun Gothic" pitchFamily="34" charset="0"/>
              <a:ea typeface="Malgun Gothic" pitchFamily="34" charset="-122"/>
            </a:endParaRPr>
          </a:p>
        </p:txBody>
      </p:sp>
      <p:sp>
        <p:nvSpPr>
          <p:cNvPr id="93" name="Rounded Rectangle 139"/>
          <p:cNvSpPr/>
          <p:nvPr/>
        </p:nvSpPr>
        <p:spPr>
          <a:xfrm>
            <a:off x="2715768" y="189809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cxnSp>
        <p:nvCxnSpPr>
          <p:cNvPr id="4" name="직선 화살표 연결선 3"/>
          <p:cNvCxnSpPr>
            <a:stCxn id="91" idx="2"/>
            <a:endCxn id="141" idx="0"/>
          </p:cNvCxnSpPr>
          <p:nvPr/>
        </p:nvCxnSpPr>
        <p:spPr>
          <a:xfrm rot="5400000">
            <a:off x="1701039" y="2088565"/>
            <a:ext cx="312842" cy="36821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직선 화살표 연결선 98"/>
          <p:cNvCxnSpPr>
            <a:stCxn id="91" idx="2"/>
            <a:endCxn id="147" idx="0"/>
          </p:cNvCxnSpPr>
          <p:nvPr/>
        </p:nvCxnSpPr>
        <p:spPr>
          <a:xfrm rot="16200000" flipH="1">
            <a:off x="3560030" y="597789"/>
            <a:ext cx="312842" cy="3349767"/>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1" name="Shape 31">
            <a:extLst>
              <a:ext uri="{FF2B5EF4-FFF2-40B4-BE49-F238E27FC236}">
                <a16:creationId xmlns:a16="http://schemas.microsoft.com/office/drawing/2014/main" id="{823D7D32-6771-4AA4-9581-77C6BEA03C53}"/>
              </a:ext>
            </a:extLst>
          </p:cNvPr>
          <p:cNvSpPr/>
          <p:nvPr/>
        </p:nvSpPr>
        <p:spPr>
          <a:xfrm>
            <a:off x="6808354" y="1896412"/>
            <a:ext cx="1411795" cy="219840"/>
          </a:xfrm>
          <a:prstGeom prst="rect">
            <a:avLst/>
          </a:prstGeom>
          <a:solidFill>
            <a:schemeClr val="bg1">
              <a:lumMod val="85000"/>
            </a:schemeClr>
          </a:solidFill>
          <a:ln w="12700">
            <a:solidFill>
              <a:srgbClr val="888C91"/>
            </a:solidFill>
            <a:prstDash val="solid"/>
          </a:ln>
        </p:spPr>
        <p:txBody>
          <a:bodyPr anchor="ctr"/>
          <a:lstStyle/>
          <a:p>
            <a:pPr algn="ctr" latinLnBrk="0">
              <a:defRPr/>
            </a:pPr>
            <a:r>
              <a:rPr lang="en-US" altLang="ko-KR" sz="800" dirty="0">
                <a:solidFill>
                  <a:srgbClr val="1A1A1A"/>
                </a:solidFill>
                <a:latin typeface="Malgun Gothic" pitchFamily="34" charset="0"/>
                <a:ea typeface="Malgun Gothic" pitchFamily="34" charset="-122"/>
              </a:rPr>
              <a:t>Execution Router</a:t>
            </a:r>
            <a:endParaRPr lang="ko-KR" altLang="en-US" sz="800" dirty="0">
              <a:solidFill>
                <a:srgbClr val="1A1A1A"/>
              </a:solidFill>
              <a:latin typeface="Malgun Gothic" pitchFamily="34" charset="0"/>
              <a:ea typeface="Malgun Gothic" pitchFamily="34" charset="-122"/>
            </a:endParaRPr>
          </a:p>
        </p:txBody>
      </p:sp>
      <p:sp>
        <p:nvSpPr>
          <p:cNvPr id="112" name="Rounded Rectangle 139"/>
          <p:cNvSpPr/>
          <p:nvPr/>
        </p:nvSpPr>
        <p:spPr>
          <a:xfrm>
            <a:off x="8188452" y="189809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cxnSp>
        <p:nvCxnSpPr>
          <p:cNvPr id="113" name="직선 화살표 연결선 3"/>
          <p:cNvCxnSpPr>
            <a:stCxn id="111" idx="2"/>
            <a:endCxn id="171" idx="0"/>
          </p:cNvCxnSpPr>
          <p:nvPr/>
        </p:nvCxnSpPr>
        <p:spPr>
          <a:xfrm rot="5400000">
            <a:off x="7144005" y="2058847"/>
            <a:ext cx="312842" cy="427652"/>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직선 화살표 연결선 98"/>
          <p:cNvCxnSpPr>
            <a:stCxn id="111" idx="2"/>
            <a:endCxn id="177" idx="0"/>
          </p:cNvCxnSpPr>
          <p:nvPr/>
        </p:nvCxnSpPr>
        <p:spPr>
          <a:xfrm rot="16200000" flipH="1">
            <a:off x="8972805" y="657699"/>
            <a:ext cx="312842" cy="322994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0" name="Rectangle 35"/>
          <p:cNvSpPr/>
          <p:nvPr/>
        </p:nvSpPr>
        <p:spPr>
          <a:xfrm>
            <a:off x="1368310" y="3274422"/>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a:t>
            </a:r>
            <a:r>
              <a:rPr lang="ko-KR" altLang="en-US" sz="700" dirty="0">
                <a:solidFill>
                  <a:schemeClr val="tx1"/>
                </a:solidFill>
                <a:ea typeface="맑은 고딕"/>
              </a:rPr>
              <a:t>캐시 우회</a:t>
            </a:r>
            <a:r>
              <a:rPr lang="en-US" altLang="ko-KR" sz="700" dirty="0">
                <a:solidFill>
                  <a:schemeClr val="tx1"/>
                </a:solidFill>
                <a:ea typeface="맑은 고딕"/>
              </a:rPr>
              <a:t>)</a:t>
            </a:r>
          </a:p>
          <a:p>
            <a:pPr algn="ctr"/>
            <a:r>
              <a:rPr lang="ko-KR" altLang="en-US" sz="700" dirty="0">
                <a:solidFill>
                  <a:schemeClr val="tx1"/>
                </a:solidFill>
                <a:ea typeface="맑은 고딕"/>
              </a:rPr>
              <a:t>응답 읽기</a:t>
            </a:r>
          </a:p>
        </p:txBody>
      </p:sp>
      <p:sp>
        <p:nvSpPr>
          <p:cNvPr id="132" name="Rectangle 35"/>
          <p:cNvSpPr/>
          <p:nvPr/>
        </p:nvSpPr>
        <p:spPr>
          <a:xfrm>
            <a:off x="5090865" y="3274422"/>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a:t>
            </a:r>
            <a:r>
              <a:rPr lang="ko-KR" altLang="en-US" sz="700" dirty="0">
                <a:solidFill>
                  <a:schemeClr val="tx1"/>
                </a:solidFill>
                <a:ea typeface="맑은 고딕"/>
              </a:rPr>
              <a:t>캐시 우회</a:t>
            </a:r>
            <a:r>
              <a:rPr lang="en-US" altLang="ko-KR" sz="700" dirty="0">
                <a:solidFill>
                  <a:schemeClr val="tx1"/>
                </a:solidFill>
                <a:ea typeface="맑은 고딕"/>
              </a:rPr>
              <a:t>)</a:t>
            </a:r>
          </a:p>
          <a:p>
            <a:pPr algn="ctr"/>
            <a:r>
              <a:rPr lang="ko-KR" altLang="en-US" sz="700" dirty="0">
                <a:solidFill>
                  <a:schemeClr val="tx1"/>
                </a:solidFill>
                <a:ea typeface="맑은 고딕"/>
              </a:rPr>
              <a:t>응답 읽기</a:t>
            </a:r>
          </a:p>
        </p:txBody>
      </p:sp>
      <p:sp>
        <p:nvSpPr>
          <p:cNvPr id="135" name="Rectangle 37"/>
          <p:cNvSpPr/>
          <p:nvPr/>
        </p:nvSpPr>
        <p:spPr>
          <a:xfrm>
            <a:off x="1399032" y="4028142"/>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403449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08" name="Rectangle 35"/>
          <p:cNvSpPr/>
          <p:nvPr/>
        </p:nvSpPr>
        <p:spPr>
          <a:xfrm>
            <a:off x="6784848" y="3174330"/>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3174330"/>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900181"/>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900181"/>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3" name="Rectangle 48"/>
          <p:cNvSpPr/>
          <p:nvPr/>
        </p:nvSpPr>
        <p:spPr>
          <a:xfrm>
            <a:off x="3110754" y="3200076"/>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a:p>
            <a:pPr algn="ctr">
              <a:lnSpc>
                <a:spcPct val="150000"/>
              </a:lnSpc>
            </a:pPr>
            <a:r>
              <a:rPr sz="660" b="0" i="0" dirty="0">
                <a:solidFill>
                  <a:schemeClr val="tx1"/>
                </a:solidFill>
                <a:latin typeface="맑은 고딕"/>
                <a:ea typeface="맑은 고딕"/>
              </a:rPr>
              <a:t>REQ_READY / RESP_READY</a:t>
            </a:r>
          </a:p>
        </p:txBody>
      </p:sp>
      <p:sp>
        <p:nvSpPr>
          <p:cNvPr id="214" name="Oval 159"/>
          <p:cNvSpPr/>
          <p:nvPr/>
        </p:nvSpPr>
        <p:spPr>
          <a:xfrm>
            <a:off x="3667251" y="393344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387254"/>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328628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827966"/>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73590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354658"/>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32536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931215"/>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827966"/>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73590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cxnSp>
        <p:nvCxnSpPr>
          <p:cNvPr id="229" name="Connector 189"/>
          <p:cNvCxnSpPr/>
          <p:nvPr/>
        </p:nvCxnSpPr>
        <p:spPr>
          <a:xfrm>
            <a:off x="7379970" y="3732690"/>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732355"/>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91048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739099"/>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71688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3297398"/>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321967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63089" y="3311278"/>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3126820"/>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910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2313776" y="4689663"/>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76762" y="4689663"/>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689663"/>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689663"/>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sp>
        <p:nvSpPr>
          <p:cNvPr id="253" name="Rounded Rectangle 139"/>
          <p:cNvSpPr/>
          <p:nvPr/>
        </p:nvSpPr>
        <p:spPr>
          <a:xfrm>
            <a:off x="2172731" y="261291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a:t>
            </a:r>
            <a:r>
              <a:rPr lang="en-US" sz="650" b="1" i="0" dirty="0">
                <a:solidFill>
                  <a:srgbClr val="FFFFFF"/>
                </a:solidFill>
                <a:latin typeface="맑은 고딕"/>
                <a:ea typeface="맑은 고딕"/>
              </a:rPr>
              <a:t>1</a:t>
            </a:r>
            <a:endParaRPr sz="650" b="1" i="0" dirty="0">
              <a:solidFill>
                <a:srgbClr val="FFFFFF"/>
              </a:solidFill>
              <a:latin typeface="맑은 고딕"/>
              <a:ea typeface="맑은 고딕"/>
            </a:endParaRPr>
          </a:p>
        </p:txBody>
      </p:sp>
      <p:sp>
        <p:nvSpPr>
          <p:cNvPr id="254" name="Rounded Rectangle 139"/>
          <p:cNvSpPr/>
          <p:nvPr/>
        </p:nvSpPr>
        <p:spPr>
          <a:xfrm>
            <a:off x="7639668" y="261291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a:t>
            </a:r>
            <a:r>
              <a:rPr lang="en-US" sz="650" b="1" i="0" dirty="0">
                <a:solidFill>
                  <a:srgbClr val="FFFFFF"/>
                </a:solidFill>
                <a:latin typeface="맑은 고딕"/>
                <a:ea typeface="맑은 고딕"/>
              </a:rPr>
              <a:t>1</a:t>
            </a:r>
            <a:endParaRPr sz="650" b="1" i="0" dirty="0">
              <a:solidFill>
                <a:srgbClr val="FFFFFF"/>
              </a:solidFill>
              <a:latin typeface="맑은 고딕"/>
              <a:ea typeface="맑은 고딕"/>
            </a:endParaRPr>
          </a:p>
        </p:txBody>
      </p:sp>
      <p:sp>
        <p:nvSpPr>
          <p:cNvPr id="120" name="직사각형 119">
            <a:extLst>
              <a:ext uri="{FF2B5EF4-FFF2-40B4-BE49-F238E27FC236}">
                <a16:creationId xmlns:a16="http://schemas.microsoft.com/office/drawing/2014/main" id="{AB71E37E-1E20-4358-BCBA-5681E2D81FAD}"/>
              </a:ext>
            </a:extLst>
          </p:cNvPr>
          <p:cNvSpPr/>
          <p:nvPr/>
        </p:nvSpPr>
        <p:spPr>
          <a:xfrm>
            <a:off x="6508006" y="1037704"/>
            <a:ext cx="5492576" cy="568291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B43D3EF8-B471-48F1-9D45-16F7D655739A}"/>
              </a:ext>
            </a:extLst>
          </p:cNvPr>
          <p:cNvSpPr txBox="1"/>
          <p:nvPr/>
        </p:nvSpPr>
        <p:spPr>
          <a:xfrm>
            <a:off x="4680249" y="6373748"/>
            <a:ext cx="631904" cy="276999"/>
          </a:xfrm>
          <a:prstGeom prst="rect">
            <a:avLst/>
          </a:prstGeom>
          <a:noFill/>
        </p:spPr>
        <p:txBody>
          <a:bodyPr wrap="none" rtlCol="0">
            <a:spAutoFit/>
          </a:bodyPr>
          <a:lstStyle/>
          <a:p>
            <a:r>
              <a:rPr lang="ko-KR" altLang="en-US" sz="1200" dirty="0"/>
              <a:t>총</a:t>
            </a:r>
            <a:r>
              <a:rPr lang="en-US" altLang="ko-KR" sz="1200" dirty="0"/>
              <a:t> 5</a:t>
            </a:r>
            <a:r>
              <a:rPr lang="ko-KR" altLang="en-US" sz="1200" dirty="0"/>
              <a:t>점</a:t>
            </a:r>
          </a:p>
        </p:txBody>
      </p:sp>
      <p:sp>
        <p:nvSpPr>
          <p:cNvPr id="122" name="TextBox 121">
            <a:extLst>
              <a:ext uri="{FF2B5EF4-FFF2-40B4-BE49-F238E27FC236}">
                <a16:creationId xmlns:a16="http://schemas.microsoft.com/office/drawing/2014/main" id="{B8DC1248-6E5A-4524-B4E0-6696C64CA357}"/>
              </a:ext>
            </a:extLst>
          </p:cNvPr>
          <p:cNvSpPr txBox="1"/>
          <p:nvPr/>
        </p:nvSpPr>
        <p:spPr>
          <a:xfrm>
            <a:off x="10103519" y="6351518"/>
            <a:ext cx="631904" cy="276999"/>
          </a:xfrm>
          <a:prstGeom prst="rect">
            <a:avLst/>
          </a:prstGeom>
          <a:noFill/>
        </p:spPr>
        <p:txBody>
          <a:bodyPr wrap="none" rtlCol="0">
            <a:spAutoFit/>
          </a:bodyPr>
          <a:lstStyle/>
          <a:p>
            <a:r>
              <a:rPr lang="ko-KR" altLang="en-US" sz="1200" dirty="0"/>
              <a:t>총</a:t>
            </a:r>
            <a:r>
              <a:rPr lang="en-US" altLang="ko-KR" sz="1200" dirty="0"/>
              <a:t> 5</a:t>
            </a:r>
            <a:r>
              <a:rPr lang="ko-KR" altLang="en-US" sz="1200" dirty="0"/>
              <a:t>점</a:t>
            </a:r>
          </a:p>
        </p:txBody>
      </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7" name="모서리가 둥근 직사각형 37">
            <a:extLst>
              <a:ext uri="{FF2B5EF4-FFF2-40B4-BE49-F238E27FC236}">
                <a16:creationId xmlns:a16="http://schemas.microsoft.com/office/drawing/2014/main" id="{6B693242-5EEF-4D32-8F09-9F360043D5FB}"/>
              </a:ext>
            </a:extLst>
          </p:cNvPr>
          <p:cNvSpPr/>
          <p:nvPr/>
        </p:nvSpPr>
        <p:spPr>
          <a:xfrm>
            <a:off x="10748621"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ko-KR" altLang="en-US" sz="700" dirty="0">
                <a:latin typeface="맑은 고딕" panose="020B0503020000020004" pitchFamily="50" charset="-127"/>
                <a:ea typeface="맑은 고딕" panose="020B0503020000020004" pitchFamily="50" charset="-127"/>
              </a:rPr>
              <a:t>노드 간 </a:t>
            </a:r>
            <a:r>
              <a:rPr lang="en-US" altLang="ko-KR" sz="700" dirty="0">
                <a:latin typeface="맑은 고딕" panose="020B0503020000020004" pitchFamily="50" charset="-127"/>
                <a:ea typeface="맑은 고딕" panose="020B0503020000020004" pitchFamily="50" charset="-127"/>
              </a:rPr>
              <a:t>KV </a:t>
            </a:r>
            <a:r>
              <a:rPr lang="ko-KR" altLang="en-US" sz="700" dirty="0">
                <a:latin typeface="맑은 고딕" panose="020B0503020000020004" pitchFamily="50" charset="-127"/>
                <a:ea typeface="맑은 고딕" panose="020B0503020000020004" pitchFamily="50" charset="-127"/>
              </a:rPr>
              <a:t>캐시 공유</a:t>
            </a:r>
          </a:p>
        </p:txBody>
      </p:sp>
      <p:sp>
        <p:nvSpPr>
          <p:cNvPr id="118" name="모서리가 둥근 직사각형 37">
            <a:extLst>
              <a:ext uri="{FF2B5EF4-FFF2-40B4-BE49-F238E27FC236}">
                <a16:creationId xmlns:a16="http://schemas.microsoft.com/office/drawing/2014/main" id="{7D2F8ED5-0EFB-410C-A2C3-3568EEE141C3}"/>
              </a:ext>
            </a:extLst>
          </p:cNvPr>
          <p:cNvSpPr/>
          <p:nvPr/>
        </p:nvSpPr>
        <p:spPr>
          <a:xfrm>
            <a:off x="9521073" y="813626"/>
            <a:ext cx="797930"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a:t>
            </a:r>
            <a:r>
              <a:rPr lang="ko-KR" altLang="en-US" sz="700" dirty="0">
                <a:latin typeface="맑은 고딕" panose="020B0503020000020004" pitchFamily="50" charset="-127"/>
              </a:rPr>
              <a:t> </a:t>
            </a:r>
            <a:r>
              <a:rPr lang="en-US" altLang="ko-KR" sz="700" dirty="0">
                <a:latin typeface="맑은 고딕" panose="020B0503020000020004" pitchFamily="50" charset="-127"/>
              </a:rPr>
              <a:t>Throughput</a:t>
            </a:r>
            <a:endParaRPr lang="ko-KR" altLang="en-US" sz="700" dirty="0">
              <a:latin typeface="맑은 고딕" panose="020B0503020000020004" pitchFamily="50" charset="-127"/>
            </a:endParaRPr>
          </a:p>
        </p:txBody>
      </p:sp>
      <p:sp>
        <p:nvSpPr>
          <p:cNvPr id="119"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확장성</a:t>
            </a:r>
          </a:p>
        </p:txBody>
      </p:sp>
      <p:sp>
        <p:nvSpPr>
          <p:cNvPr id="127" name="모서리가 둥근 직사각형 37">
            <a:extLst>
              <a:ext uri="{FF2B5EF4-FFF2-40B4-BE49-F238E27FC236}">
                <a16:creationId xmlns:a16="http://schemas.microsoft.com/office/drawing/2014/main" id="{80DCEAB4-C899-4076-AC45-331AC745EB17}"/>
              </a:ext>
            </a:extLst>
          </p:cNvPr>
          <p:cNvSpPr/>
          <p:nvPr/>
        </p:nvSpPr>
        <p:spPr>
          <a:xfrm>
            <a:off x="8195799" y="603906"/>
            <a:ext cx="1383367"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Rack </a:t>
            </a:r>
            <a:r>
              <a:rPr lang="ko-KR" altLang="en-US" sz="700" dirty="0">
                <a:latin typeface="맑은 고딕" panose="020B0503020000020004" pitchFamily="50" charset="-127"/>
              </a:rPr>
              <a:t>스케일 시스템 상한</a:t>
            </a:r>
          </a:p>
        </p:txBody>
      </p:sp>
      <p:sp>
        <p:nvSpPr>
          <p:cNvPr id="131" name="모서리가 둥근 직사각형 130"/>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133" name="모서리가 둥근 직사각형 37">
            <a:extLst>
              <a:ext uri="{FF2B5EF4-FFF2-40B4-BE49-F238E27FC236}">
                <a16:creationId xmlns:a16="http://schemas.microsoft.com/office/drawing/2014/main" id="{7D2F8ED5-0EFB-410C-A2C3-3568EEE141C3}"/>
              </a:ext>
            </a:extLst>
          </p:cNvPr>
          <p:cNvSpPr/>
          <p:nvPr/>
        </p:nvSpPr>
        <p:spPr>
          <a:xfrm>
            <a:off x="10351734" y="813626"/>
            <a:ext cx="797930"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a:t>
            </a:r>
            <a:r>
              <a:rPr lang="ko-KR" altLang="en-US" sz="700" dirty="0">
                <a:latin typeface="맑은 고딕" panose="020B0503020000020004" pitchFamily="50" charset="-127"/>
              </a:rPr>
              <a:t> 변경 용이성</a:t>
            </a:r>
          </a:p>
        </p:txBody>
      </p:sp>
    </p:spTree>
    <p:extLst>
      <p:ext uri="{BB962C8B-B14F-4D97-AF65-F5344CB8AC3E}">
        <p14:creationId xmlns:p14="http://schemas.microsoft.com/office/powerpoint/2010/main" val="1340759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CA3FC88-A1B6-4AAF-8E0B-BAB0A2D3FFF2}"/>
              </a:ext>
            </a:extLst>
          </p:cNvPr>
          <p:cNvSpPr>
            <a:spLocks noGrp="1"/>
          </p:cNvSpPr>
          <p:nvPr>
            <p:ph type="title"/>
          </p:nvPr>
        </p:nvSpPr>
        <p:spPr/>
        <p:txBody>
          <a:bodyPr/>
          <a:lstStyle/>
          <a:p>
            <a:endParaRPr lang="ko-KR" altLang="en-US"/>
          </a:p>
        </p:txBody>
      </p:sp>
      <p:sp>
        <p:nvSpPr>
          <p:cNvPr id="4" name="TextBox 3">
            <a:extLst>
              <a:ext uri="{FF2B5EF4-FFF2-40B4-BE49-F238E27FC236}">
                <a16:creationId xmlns:a16="http://schemas.microsoft.com/office/drawing/2014/main" id="{BF63CF6F-DB72-4543-9A65-BF0F2DDACBAA}"/>
              </a:ext>
            </a:extLst>
          </p:cNvPr>
          <p:cNvSpPr txBox="1"/>
          <p:nvPr/>
        </p:nvSpPr>
        <p:spPr>
          <a:xfrm>
            <a:off x="3047440" y="1457288"/>
            <a:ext cx="6094878" cy="3970318"/>
          </a:xfrm>
          <a:prstGeom prst="rect">
            <a:avLst/>
          </a:prstGeom>
          <a:noFill/>
        </p:spPr>
        <p:txBody>
          <a:bodyPr wrap="square">
            <a:spAutoFit/>
          </a:bodyPr>
          <a:lstStyle/>
          <a:p>
            <a:r>
              <a:rPr lang="en-US" altLang="ko-KR" dirty="0"/>
              <a:t>C1. Central Metadata Server</a:t>
            </a:r>
          </a:p>
          <a:p>
            <a:pPr>
              <a:buFont typeface="Arial" panose="020B0604020202020204" pitchFamily="34" charset="0"/>
              <a:buChar char="•"/>
            </a:pPr>
            <a:r>
              <a:rPr lang="en-US" altLang="ko-KR" dirty="0"/>
              <a:t>Client</a:t>
            </a:r>
            <a:r>
              <a:rPr lang="ko-KR" altLang="en-US" dirty="0"/>
              <a:t>가 </a:t>
            </a:r>
            <a:r>
              <a:rPr lang="en-US" altLang="ko-KR" dirty="0"/>
              <a:t>RPC </a:t>
            </a:r>
            <a:r>
              <a:rPr lang="ko-KR" altLang="en-US" dirty="0"/>
              <a:t>방식으로 메타데이터 요청</a:t>
            </a:r>
          </a:p>
          <a:p>
            <a:pPr>
              <a:buFont typeface="Arial" panose="020B0604020202020204" pitchFamily="34" charset="0"/>
              <a:buChar char="•"/>
            </a:pPr>
            <a:r>
              <a:rPr lang="ko-KR" altLang="en-US" dirty="0"/>
              <a:t>중앙 서버에서 메타데이터 조회</a:t>
            </a:r>
            <a:r>
              <a:rPr lang="en-US" altLang="ko-KR" dirty="0"/>
              <a:t>·</a:t>
            </a:r>
            <a:r>
              <a:rPr lang="ko-KR" altLang="en-US" dirty="0"/>
              <a:t>갱신을 일괄 처리</a:t>
            </a:r>
          </a:p>
          <a:p>
            <a:pPr>
              <a:buFont typeface="Arial" panose="020B0604020202020204" pitchFamily="34" charset="0"/>
              <a:buChar char="•"/>
            </a:pPr>
            <a:r>
              <a:rPr lang="ko-KR" altLang="en-US" dirty="0"/>
              <a:t>서버 내부에서 동기화하므로 노드 간 </a:t>
            </a:r>
            <a:r>
              <a:rPr lang="ko-KR" altLang="en-US" dirty="0" err="1"/>
              <a:t>락</a:t>
            </a:r>
            <a:r>
              <a:rPr lang="ko-KR" altLang="en-US" dirty="0"/>
              <a:t> 획득</a:t>
            </a:r>
            <a:r>
              <a:rPr lang="en-US" altLang="ko-KR" dirty="0"/>
              <a:t>·</a:t>
            </a:r>
            <a:r>
              <a:rPr lang="ko-KR" altLang="en-US" dirty="0"/>
              <a:t>해제 불필요</a:t>
            </a:r>
          </a:p>
          <a:p>
            <a:pPr>
              <a:buFont typeface="Arial" panose="020B0604020202020204" pitchFamily="34" charset="0"/>
              <a:buChar char="•"/>
            </a:pPr>
            <a:r>
              <a:rPr lang="ko-KR" altLang="en-US" dirty="0"/>
              <a:t>단</a:t>
            </a:r>
            <a:r>
              <a:rPr lang="en-US" altLang="ko-KR" dirty="0"/>
              <a:t>, </a:t>
            </a:r>
            <a:r>
              <a:rPr lang="ko-KR" altLang="en-US" dirty="0"/>
              <a:t>요청이 증가하면 중앙 서버의 </a:t>
            </a:r>
            <a:r>
              <a:rPr lang="ko-KR" altLang="en-US" dirty="0" err="1"/>
              <a:t>큐잉</a:t>
            </a:r>
            <a:r>
              <a:rPr lang="ko-KR" altLang="en-US" dirty="0"/>
              <a:t> 및 처리 용량이 병목</a:t>
            </a:r>
          </a:p>
          <a:p>
            <a:r>
              <a:rPr lang="en-US" altLang="ko-KR" dirty="0"/>
              <a:t>C2. Distributed Lock</a:t>
            </a:r>
          </a:p>
          <a:p>
            <a:pPr>
              <a:buFont typeface="Arial" panose="020B0604020202020204" pitchFamily="34" charset="0"/>
              <a:buChar char="•"/>
            </a:pPr>
            <a:r>
              <a:rPr lang="en-US" altLang="ko-KR" dirty="0"/>
              <a:t>Client</a:t>
            </a:r>
            <a:r>
              <a:rPr lang="ko-KR" altLang="en-US" dirty="0"/>
              <a:t>가 </a:t>
            </a:r>
            <a:r>
              <a:rPr lang="ko-KR" altLang="en-US" dirty="0" err="1"/>
              <a:t>락</a:t>
            </a:r>
            <a:r>
              <a:rPr lang="ko-KR" altLang="en-US" dirty="0"/>
              <a:t> 획득 요청</a:t>
            </a:r>
          </a:p>
          <a:p>
            <a:pPr>
              <a:buFont typeface="Arial" panose="020B0604020202020204" pitchFamily="34" charset="0"/>
              <a:buChar char="•"/>
            </a:pPr>
            <a:r>
              <a:rPr lang="ko-KR" altLang="en-US" dirty="0" err="1"/>
              <a:t>락</a:t>
            </a:r>
            <a:r>
              <a:rPr lang="ko-KR" altLang="en-US" dirty="0"/>
              <a:t> 매니저가 슬롯을 스캔하고 </a:t>
            </a:r>
            <a:r>
              <a:rPr lang="ko-KR" altLang="en-US" dirty="0" err="1"/>
              <a:t>락</a:t>
            </a:r>
            <a:r>
              <a:rPr lang="ko-KR" altLang="en-US" dirty="0"/>
              <a:t> 부여</a:t>
            </a:r>
          </a:p>
          <a:p>
            <a:pPr>
              <a:buFont typeface="Arial" panose="020B0604020202020204" pitchFamily="34" charset="0"/>
              <a:buChar char="•"/>
            </a:pPr>
            <a:r>
              <a:rPr lang="en-US" altLang="ko-KR" dirty="0"/>
              <a:t>Client</a:t>
            </a:r>
            <a:r>
              <a:rPr lang="ko-KR" altLang="en-US" dirty="0"/>
              <a:t>가 </a:t>
            </a:r>
            <a:r>
              <a:rPr lang="en-US" altLang="ko-KR" dirty="0"/>
              <a:t>CXL </a:t>
            </a:r>
            <a:r>
              <a:rPr lang="ko-KR" altLang="en-US" dirty="0"/>
              <a:t>공유 메타데이터 직접 조회</a:t>
            </a:r>
            <a:r>
              <a:rPr lang="en-US" altLang="ko-KR" dirty="0"/>
              <a:t>·</a:t>
            </a:r>
            <a:r>
              <a:rPr lang="ko-KR" altLang="en-US" dirty="0"/>
              <a:t>갱신</a:t>
            </a:r>
          </a:p>
          <a:p>
            <a:pPr>
              <a:buFont typeface="Arial" panose="020B0604020202020204" pitchFamily="34" charset="0"/>
              <a:buChar char="•"/>
            </a:pPr>
            <a:r>
              <a:rPr lang="ko-KR" altLang="en-US" dirty="0" err="1"/>
              <a:t>락</a:t>
            </a:r>
            <a:r>
              <a:rPr lang="ko-KR" altLang="en-US" dirty="0"/>
              <a:t> 해제 후 다른 </a:t>
            </a:r>
            <a:r>
              <a:rPr lang="en-US" altLang="ko-KR" dirty="0"/>
              <a:t>Client</a:t>
            </a:r>
            <a:r>
              <a:rPr lang="ko-KR" altLang="en-US" dirty="0"/>
              <a:t>가 접근 가능</a:t>
            </a:r>
          </a:p>
          <a:p>
            <a:pPr>
              <a:buFont typeface="Arial" panose="020B0604020202020204" pitchFamily="34" charset="0"/>
              <a:buChar char="•"/>
            </a:pPr>
            <a:r>
              <a:rPr lang="ko-KR" altLang="en-US" dirty="0"/>
              <a:t>서로 다른 </a:t>
            </a:r>
            <a:r>
              <a:rPr lang="ko-KR" altLang="en-US" dirty="0" err="1"/>
              <a:t>락</a:t>
            </a:r>
            <a:r>
              <a:rPr lang="ko-KR" altLang="en-US" dirty="0"/>
              <a:t> 영역은 병렬 처리할 수 있지만</a:t>
            </a:r>
            <a:r>
              <a:rPr lang="en-US" altLang="ko-KR" dirty="0"/>
              <a:t>, </a:t>
            </a:r>
            <a:r>
              <a:rPr lang="ko-KR" altLang="en-US" dirty="0" err="1"/>
              <a:t>락</a:t>
            </a:r>
            <a:r>
              <a:rPr lang="ko-KR" altLang="en-US" dirty="0"/>
              <a:t> 매니저와 </a:t>
            </a:r>
            <a:r>
              <a:rPr lang="en-US" altLang="ko-KR" dirty="0"/>
              <a:t>CXL </a:t>
            </a:r>
            <a:r>
              <a:rPr lang="ko-KR" altLang="en-US" dirty="0"/>
              <a:t>접근 비용이 추가됨</a:t>
            </a:r>
          </a:p>
        </p:txBody>
      </p:sp>
    </p:spTree>
    <p:extLst>
      <p:ext uri="{BB962C8B-B14F-4D97-AF65-F5344CB8AC3E}">
        <p14:creationId xmlns:p14="http://schemas.microsoft.com/office/powerpoint/2010/main" val="421141384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DecisionPlane"/>
          <p:cNvSpPr/>
          <p:nvPr/>
        </p:nvSpPr>
        <p:spPr>
          <a:xfrm>
            <a:off x="1209723" y="1931770"/>
            <a:ext cx="5145503" cy="129702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graphicFrame>
        <p:nvGraphicFramePr>
          <p:cNvPr id="81" name="표 80"/>
          <p:cNvGraphicFramePr>
            <a:graphicFrameLocks noGrp="1"/>
          </p:cNvGraphicFramePr>
          <p:nvPr/>
        </p:nvGraphicFramePr>
        <p:xfrm>
          <a:off x="249035" y="1044054"/>
          <a:ext cx="11747501" cy="734319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상태 관측과 이동 결정을 한 곳에서 </a:t>
                      </a:r>
                      <a:r>
                        <a:rPr lang="en-US" altLang="ko-KR" sz="1200" b="1" strike="noStrike" baseline="0" dirty="0"/>
                        <a:t>(2-plane </a:t>
                      </a:r>
                      <a:r>
                        <a:rPr lang="ko-KR" altLang="en-US" sz="1200" b="1" strike="noStrike" baseline="0" dirty="0"/>
                        <a:t>구조</a:t>
                      </a:r>
                      <a:r>
                        <a:rPr lang="en-US" altLang="ko-KR" sz="1200" b="1" strike="noStrike" baseline="0" dirty="0"/>
                        <a:t>)</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r>
                        <a:rPr lang="en-US" altLang="ko-KR" sz="1200" b="1" strike="noStrike" dirty="0"/>
                        <a:t>(3-plane </a:t>
                      </a:r>
                      <a:r>
                        <a:rPr lang="ko-KR" altLang="en-US" sz="1200" b="1" strike="noStrike" dirty="0"/>
                        <a:t>구조</a:t>
                      </a:r>
                      <a:r>
                        <a:rPr lang="en-US" altLang="ko-KR" sz="1200" b="1" strike="noStrike" dirty="0"/>
                        <a:t>)</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dirty="0">
                          <a:solidFill>
                            <a:srgbClr val="000000"/>
                          </a:solidFill>
                          <a:latin typeface="+mn-lt"/>
                          <a:ea typeface="맑은 고딕"/>
                          <a:cs typeface="맑은 고딕"/>
                        </a:rPr>
                        <a:t>Threshold Trigger</a:t>
                      </a:r>
                      <a:r>
                        <a:rPr lang="ko-KR" altLang="en-US" sz="1200" b="0" dirty="0">
                          <a:solidFill>
                            <a:srgbClr val="000000"/>
                          </a:solidFill>
                          <a:latin typeface="+mn-lt"/>
                          <a:ea typeface="맑은 고딕"/>
                          <a:cs typeface="맑은 고딕"/>
                        </a:rPr>
                        <a:t>가 </a:t>
                      </a:r>
                      <a:r>
                        <a:rPr lang="ko-KR" altLang="en-US" sz="1200" b="0" dirty="0" err="1">
                          <a:solidFill>
                            <a:srgbClr val="000000"/>
                          </a:solidFill>
                          <a:latin typeface="+mn-lt"/>
                          <a:ea typeface="맑은 고딕"/>
                          <a:cs typeface="맑은 고딕"/>
                        </a:rPr>
                        <a:t>임계치</a:t>
                      </a:r>
                      <a:r>
                        <a:rPr lang="ko-KR" altLang="en-US" sz="1200" b="0" dirty="0">
                          <a:solidFill>
                            <a:srgbClr val="000000"/>
                          </a:solidFill>
                          <a:latin typeface="+mn-lt"/>
                          <a:ea typeface="맑은 고딕"/>
                          <a:cs typeface="맑은 고딕"/>
                        </a:rPr>
                        <a:t> 교차 즉시 판단을 기동 → </a:t>
                      </a:r>
                      <a:r>
                        <a:rPr lang="en-US" altLang="ko-KR" sz="1200" b="0" dirty="0">
                          <a:solidFill>
                            <a:srgbClr val="000000"/>
                          </a:solidFill>
                          <a:latin typeface="+mn-lt"/>
                          <a:ea typeface="맑은 고딕"/>
                          <a:cs typeface="맑은 고딕"/>
                        </a:rPr>
                        <a:t>HBM </a:t>
                      </a:r>
                      <a:r>
                        <a:rPr lang="ko-KR" altLang="en-US" sz="1200" b="0" dirty="0">
                          <a:solidFill>
                            <a:srgbClr val="000000"/>
                          </a:solidFill>
                          <a:latin typeface="+mn-lt"/>
                          <a:ea typeface="맑은 고딕"/>
                          <a:cs typeface="맑은 고딕"/>
                        </a:rPr>
                        <a:t>압박 구간이  짧게 끝나 평균 점유율 낮음 </a:t>
                      </a:r>
                      <a:r>
                        <a:rPr lang="en-US" altLang="ko-KR" sz="1200" b="0" dirty="0">
                          <a:solidFill>
                            <a:srgbClr val="000000"/>
                          </a:solidFill>
                          <a:latin typeface="+mn-lt"/>
                          <a:ea typeface="맑은 고딕"/>
                          <a:cs typeface="맑은 고딕"/>
                        </a:rPr>
                        <a:t>(QA2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dirty="0">
                          <a:solidFill>
                            <a:srgbClr val="000000"/>
                          </a:solidFill>
                          <a:latin typeface="+mn-lt"/>
                          <a:ea typeface="맑은 고딕"/>
                          <a:cs typeface="맑은 고딕"/>
                        </a:rPr>
                        <a:t>상태와 판단이 같은 서비스라 </a:t>
                      </a:r>
                      <a:r>
                        <a:rPr lang="en-US" altLang="ko-KR" sz="1200" b="0" dirty="0">
                          <a:solidFill>
                            <a:srgbClr val="000000"/>
                          </a:solidFill>
                          <a:latin typeface="+mn-lt"/>
                          <a:ea typeface="맑은 고딕"/>
                          <a:cs typeface="맑은 고딕"/>
                        </a:rPr>
                        <a:t>stale </a:t>
                      </a:r>
                      <a:r>
                        <a:rPr lang="ko-KR" altLang="en-US" sz="1200" b="0" dirty="0">
                          <a:solidFill>
                            <a:srgbClr val="000000"/>
                          </a:solidFill>
                          <a:latin typeface="+mn-lt"/>
                          <a:ea typeface="맑은 고딕"/>
                          <a:cs typeface="맑은 고딕"/>
                        </a:rPr>
                        <a:t>없음 → 이미 비워진 블록을 다시 고르는 헛된 이동 없음 </a:t>
                      </a:r>
                      <a:r>
                        <a:rPr lang="en-US" altLang="ko-KR" sz="1200" b="0" dirty="0">
                          <a:solidFill>
                            <a:srgbClr val="000000"/>
                          </a:solidFill>
                          <a:latin typeface="+mn-lt"/>
                          <a:ea typeface="맑은 고딕"/>
                          <a:cs typeface="맑은 고딕"/>
                        </a:rPr>
                        <a:t>(QA2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dirty="0">
                          <a:solidFill>
                            <a:srgbClr val="000000"/>
                          </a:solidFill>
                          <a:latin typeface="+mn-lt"/>
                          <a:ea typeface="맑은 고딕"/>
                          <a:cs typeface="맑은 고딕"/>
                        </a:rPr>
                        <a:t>정책 교체 시 넘을 경계가 없음 </a:t>
                      </a:r>
                      <a:r>
                        <a:rPr lang="en-US" altLang="ko-KR" sz="1200" b="0" dirty="0">
                          <a:solidFill>
                            <a:srgbClr val="000000"/>
                          </a:solidFill>
                          <a:latin typeface="+mn-lt"/>
                          <a:ea typeface="맑은 고딕"/>
                          <a:cs typeface="맑은 고딕"/>
                        </a:rPr>
                        <a:t>— snapshot </a:t>
                      </a:r>
                      <a:r>
                        <a:rPr lang="ko-KR" altLang="en-US" sz="1200" b="0" dirty="0">
                          <a:solidFill>
                            <a:srgbClr val="000000"/>
                          </a:solidFill>
                          <a:latin typeface="+mn-lt"/>
                          <a:ea typeface="맑은 고딕"/>
                          <a:cs typeface="맑은 고딕"/>
                        </a:rPr>
                        <a:t>스키마</a:t>
                      </a:r>
                      <a:r>
                        <a:rPr lang="en-US" altLang="ko-KR" sz="1200" b="0" dirty="0">
                          <a:solidFill>
                            <a:srgbClr val="000000"/>
                          </a:solidFill>
                          <a:latin typeface="+mn-lt"/>
                          <a:ea typeface="맑은 고딕"/>
                          <a:cs typeface="맑은 고딕"/>
                        </a:rPr>
                        <a:t>·</a:t>
                      </a:r>
                      <a:r>
                        <a:rPr lang="ko-KR" altLang="en-US" sz="1200" b="0" dirty="0">
                          <a:solidFill>
                            <a:srgbClr val="000000"/>
                          </a:solidFill>
                          <a:latin typeface="+mn-lt"/>
                          <a:ea typeface="맑은 고딕"/>
                          <a:cs typeface="맑은 고딕"/>
                        </a:rPr>
                        <a:t>명령 큐 같은 </a:t>
                      </a:r>
                      <a:r>
                        <a:rPr lang="en-US" altLang="ko-KR" sz="1200" b="0" dirty="0">
                          <a:solidFill>
                            <a:srgbClr val="000000"/>
                          </a:solidFill>
                          <a:latin typeface="+mn-lt"/>
                          <a:ea typeface="맑은 고딕"/>
                          <a:cs typeface="맑은 고딕"/>
                        </a:rPr>
                        <a:t>plane </a:t>
                      </a:r>
                      <a:r>
                        <a:rPr lang="ko-KR" altLang="en-US" sz="1200" b="0" dirty="0">
                          <a:solidFill>
                            <a:srgbClr val="000000"/>
                          </a:solidFill>
                          <a:latin typeface="+mn-lt"/>
                          <a:ea typeface="맑은 고딕"/>
                          <a:cs typeface="맑은 고딕"/>
                        </a:rPr>
                        <a:t>간 계약이 존재하지 않아 수정이 </a:t>
                      </a:r>
                      <a:r>
                        <a:rPr lang="en-US" altLang="ko-KR" sz="1200" b="0" dirty="0">
                          <a:solidFill>
                            <a:srgbClr val="000000"/>
                          </a:solidFill>
                          <a:latin typeface="+mn-lt"/>
                          <a:ea typeface="맑은 고딕"/>
                          <a:cs typeface="맑은 고딕"/>
                        </a:rPr>
                        <a:t>Resource Plane 1</a:t>
                      </a:r>
                      <a:r>
                        <a:rPr lang="ko-KR" altLang="en-US" sz="1200" b="0" dirty="0">
                          <a:solidFill>
                            <a:srgbClr val="000000"/>
                          </a:solidFill>
                          <a:latin typeface="+mn-lt"/>
                          <a:ea typeface="맑은 고딕"/>
                          <a:cs typeface="맑은 고딕"/>
                        </a:rPr>
                        <a:t>곳에 머묾 </a:t>
                      </a:r>
                      <a:r>
                        <a:rPr lang="en-US" altLang="ko-KR" sz="1200" b="0" dirty="0">
                          <a:solidFill>
                            <a:srgbClr val="000000"/>
                          </a:solidFill>
                          <a:latin typeface="+mn-lt"/>
                          <a:ea typeface="맑은 고딕"/>
                          <a:cs typeface="맑은 고딕"/>
                        </a:rPr>
                        <a:t>(QA3 ★★★)</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판단이 </a:t>
                      </a:r>
                      <a:r>
                        <a:rPr lang="en-US" altLang="ko-KR" sz="1200" strike="noStrike" dirty="0">
                          <a:solidFill>
                            <a:schemeClr val="tx1"/>
                          </a:solidFill>
                          <a:effectLst/>
                        </a:rPr>
                        <a:t>Snapshot </a:t>
                      </a:r>
                      <a:r>
                        <a:rPr lang="ko-KR" altLang="en-US" sz="1200" strike="noStrike" dirty="0">
                          <a:solidFill>
                            <a:schemeClr val="tx1"/>
                          </a:solidFill>
                          <a:effectLst/>
                        </a:rPr>
                        <a:t>위에서 돌아 상태 갱신과 경합 없음 → </a:t>
                      </a:r>
                      <a:r>
                        <a:rPr lang="en-US" altLang="ko-KR" sz="1200" strike="noStrike" dirty="0">
                          <a:solidFill>
                            <a:schemeClr val="tx1"/>
                          </a:solidFill>
                          <a:effectLst/>
                        </a:rPr>
                        <a:t>event backlog</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dirty="0">
                          <a:solidFill>
                            <a:schemeClr val="tx1"/>
                          </a:solidFill>
                          <a:effectLst/>
                        </a:rPr>
                        <a:t>  </a:t>
                      </a:r>
                      <a:r>
                        <a:rPr lang="ko-KR" altLang="en-US" sz="1200" strike="noStrike" dirty="0">
                          <a:solidFill>
                            <a:schemeClr val="tx1"/>
                          </a:solidFill>
                          <a:effectLst/>
                        </a:rPr>
                        <a:t>해소</a:t>
                      </a:r>
                      <a:r>
                        <a:rPr lang="en-US" altLang="ko-KR" sz="1200" strike="noStrike" dirty="0">
                          <a:solidFill>
                            <a:schemeClr val="tx1"/>
                          </a:solidFill>
                          <a:effectLst/>
                        </a:rPr>
                        <a:t>, </a:t>
                      </a:r>
                      <a:r>
                        <a:rPr lang="ko-KR" altLang="en-US" sz="1200" strike="noStrike" dirty="0">
                          <a:solidFill>
                            <a:schemeClr val="tx1"/>
                          </a:solidFill>
                          <a:effectLst/>
                        </a:rPr>
                        <a:t>판단 스레드를 </a:t>
                      </a:r>
                      <a:r>
                        <a:rPr lang="ko-KR" altLang="en-US" sz="1200" strike="noStrike" dirty="0" err="1">
                          <a:solidFill>
                            <a:schemeClr val="tx1"/>
                          </a:solidFill>
                          <a:effectLst/>
                        </a:rPr>
                        <a:t>서빙</a:t>
                      </a:r>
                      <a:r>
                        <a:rPr lang="ko-KR" altLang="en-US" sz="1200" strike="noStrike" dirty="0">
                          <a:solidFill>
                            <a:schemeClr val="tx1"/>
                          </a:solidFill>
                          <a:effectLst/>
                        </a:rPr>
                        <a:t> 코어와 분리 배치 가능 </a:t>
                      </a:r>
                      <a:r>
                        <a:rPr lang="en-US" altLang="ko-KR" sz="1200" strike="noStrike" dirty="0">
                          <a:solidFill>
                            <a:schemeClr val="tx1"/>
                          </a:solidFill>
                          <a:effectLst/>
                        </a:rPr>
                        <a:t>(QA1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Decision Scheduler</a:t>
                      </a:r>
                      <a:r>
                        <a:rPr lang="ko-KR" altLang="en-US" sz="1200" strike="noStrike" dirty="0">
                          <a:solidFill>
                            <a:schemeClr val="tx1"/>
                          </a:solidFill>
                          <a:effectLst/>
                        </a:rPr>
                        <a:t>가 판단 주기를 독립 보유 → 수집 부하와 판단 부하를</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ko-KR" altLang="en-US" sz="1200" strike="noStrike" dirty="0">
                          <a:solidFill>
                            <a:schemeClr val="tx1"/>
                          </a:solidFill>
                          <a:effectLst/>
                        </a:rPr>
                        <a:t>따로 조절 </a:t>
                      </a:r>
                      <a:r>
                        <a:rPr lang="en-US" altLang="ko-KR" sz="1200" strike="noStrike" dirty="0">
                          <a:solidFill>
                            <a:schemeClr val="tx1"/>
                          </a:solidFill>
                          <a:effectLst/>
                        </a:rPr>
                        <a:t>(QA1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Control / Resource</a:t>
                      </a:r>
                      <a:r>
                        <a:rPr lang="ko-KR" altLang="en-US" sz="1200" strike="noStrike" dirty="0">
                          <a:solidFill>
                            <a:schemeClr val="tx1"/>
                          </a:solidFill>
                          <a:effectLst/>
                        </a:rPr>
                        <a:t>를 따로 확장</a:t>
                      </a:r>
                      <a:r>
                        <a:rPr lang="en-US" altLang="ko-KR" sz="1200" strike="noStrike" dirty="0">
                          <a:solidFill>
                            <a:schemeClr val="tx1"/>
                          </a:solidFill>
                          <a:effectLst/>
                        </a:rPr>
                        <a:t>·</a:t>
                      </a:r>
                      <a:r>
                        <a:rPr lang="ko-KR" altLang="en-US" sz="1200" strike="noStrike" dirty="0">
                          <a:solidFill>
                            <a:schemeClr val="tx1"/>
                          </a:solidFill>
                          <a:effectLst/>
                        </a:rPr>
                        <a:t>교체 </a:t>
                      </a:r>
                      <a:r>
                        <a:rPr lang="en-US" altLang="ko-KR" sz="1200" strike="noStrike" dirty="0">
                          <a:solidFill>
                            <a:schemeClr val="tx1"/>
                          </a:solidFill>
                          <a:effectLst/>
                        </a:rPr>
                        <a:t>— Snapshot Builder </a:t>
                      </a:r>
                      <a:r>
                        <a:rPr lang="ko-KR" altLang="en-US" sz="1200" strike="noStrike" dirty="0" err="1">
                          <a:solidFill>
                            <a:schemeClr val="tx1"/>
                          </a:solidFill>
                          <a:effectLst/>
                        </a:rPr>
                        <a:t>샤딩으로</a:t>
                      </a:r>
                      <a:endParaRPr lang="ko-KR" altLang="en-US" sz="1200" strike="noStrike"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ko-KR" altLang="en-US" sz="1200" strike="noStrike" dirty="0">
                          <a:solidFill>
                            <a:schemeClr val="tx1"/>
                          </a:solidFill>
                          <a:effectLst/>
                        </a:rPr>
                        <a:t> </a:t>
                      </a:r>
                      <a:r>
                        <a:rPr lang="en-US" altLang="ko-KR" sz="1200" strike="noStrike" dirty="0">
                          <a:solidFill>
                            <a:schemeClr val="tx1"/>
                          </a:solidFill>
                          <a:effectLst/>
                        </a:rPr>
                        <a:t>object </a:t>
                      </a:r>
                      <a:r>
                        <a:rPr lang="ko-KR" altLang="en-US" sz="1200" strike="noStrike" dirty="0">
                          <a:solidFill>
                            <a:schemeClr val="tx1"/>
                          </a:solidFill>
                          <a:effectLst/>
                        </a:rPr>
                        <a:t>수</a:t>
                      </a:r>
                      <a:r>
                        <a:rPr lang="en-US" altLang="ko-KR" sz="1200" strike="noStrike" dirty="0">
                          <a:solidFill>
                            <a:schemeClr val="tx1"/>
                          </a:solidFill>
                          <a:effectLst/>
                        </a:rPr>
                        <a:t>, Scheduler </a:t>
                      </a:r>
                      <a:r>
                        <a:rPr lang="ko-KR" altLang="en-US" sz="1200" strike="noStrike" dirty="0">
                          <a:solidFill>
                            <a:schemeClr val="tx1"/>
                          </a:solidFill>
                          <a:effectLst/>
                        </a:rPr>
                        <a:t>증설로 </a:t>
                      </a:r>
                      <a:r>
                        <a:rPr lang="ko-KR" altLang="en-US" sz="1200" strike="noStrike" dirty="0" err="1">
                          <a:solidFill>
                            <a:schemeClr val="tx1"/>
                          </a:solidFill>
                          <a:effectLst/>
                        </a:rPr>
                        <a:t>판단량을</a:t>
                      </a:r>
                      <a:r>
                        <a:rPr lang="ko-KR" altLang="en-US" sz="1200" strike="noStrike" dirty="0">
                          <a:solidFill>
                            <a:schemeClr val="tx1"/>
                          </a:solidFill>
                          <a:effectLst/>
                        </a:rPr>
                        <a:t> 각각 흡수 </a:t>
                      </a:r>
                      <a:r>
                        <a:rPr lang="en-US" altLang="ko-KR" sz="1200" strike="noStrike" dirty="0">
                          <a:solidFill>
                            <a:schemeClr val="tx1"/>
                          </a:solidFill>
                          <a:effectLst/>
                        </a:rPr>
                        <a:t>(QA4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정책 교체가 </a:t>
                      </a:r>
                      <a:r>
                        <a:rPr lang="en-US" altLang="ko-KR" sz="1200" strike="noStrike" dirty="0">
                          <a:solidFill>
                            <a:schemeClr val="tx1"/>
                          </a:solidFill>
                          <a:effectLst/>
                        </a:rPr>
                        <a:t>Control Plane</a:t>
                      </a:r>
                      <a:r>
                        <a:rPr lang="ko-KR" altLang="en-US" sz="1200" strike="noStrike" dirty="0">
                          <a:solidFill>
                            <a:schemeClr val="tx1"/>
                          </a:solidFill>
                          <a:effectLst/>
                        </a:rPr>
                        <a:t>에 </a:t>
                      </a:r>
                      <a:r>
                        <a:rPr lang="ko-KR" altLang="en-US" sz="1200" strike="noStrike" dirty="0" err="1">
                          <a:solidFill>
                            <a:schemeClr val="tx1"/>
                          </a:solidFill>
                          <a:effectLst/>
                        </a:rPr>
                        <a:t>국소화</a:t>
                      </a:r>
                      <a:r>
                        <a:rPr lang="en-US" altLang="ko-KR" sz="1200" strike="noStrike" dirty="0">
                          <a:solidFill>
                            <a:schemeClr val="tx1"/>
                          </a:solidFill>
                          <a:effectLst/>
                        </a:rPr>
                        <a:t>, </a:t>
                      </a:r>
                      <a:r>
                        <a:rPr lang="ko-KR" altLang="en-US" sz="1200" strike="noStrike" dirty="0">
                          <a:solidFill>
                            <a:schemeClr val="tx1"/>
                          </a:solidFill>
                          <a:effectLst/>
                        </a:rPr>
                        <a:t>상태 서비스는 불변 </a:t>
                      </a:r>
                      <a:r>
                        <a:rPr lang="en-US" altLang="ko-KR" sz="1200" strike="noStrike" dirty="0">
                          <a:solidFill>
                            <a:schemeClr val="tx1"/>
                          </a:solidFill>
                          <a:effectLst/>
                        </a:rPr>
                        <a:t>(QA3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State Lock Manager</a:t>
                      </a:r>
                      <a:r>
                        <a:rPr lang="ko-KR" altLang="en-US" sz="1200" dirty="0"/>
                        <a:t>가 판단 중 상태 갱신을 막음 → </a:t>
                      </a:r>
                      <a:r>
                        <a:rPr lang="en-US" altLang="ko-KR" sz="1200" dirty="0"/>
                        <a:t>telemetry event</a:t>
                      </a:r>
                      <a:r>
                        <a:rPr lang="ko-KR" altLang="en-US" sz="1200" dirty="0"/>
                        <a:t>가 </a:t>
                      </a:r>
                      <a:r>
                        <a:rPr lang="en-US" altLang="ko-KR" sz="1200" dirty="0"/>
                        <a:t>backlog</a:t>
                      </a:r>
                      <a:r>
                        <a:rPr lang="ko-KR" altLang="en-US" sz="1200" dirty="0"/>
                        <a:t>로 밀려 </a:t>
                      </a:r>
                      <a:r>
                        <a:rPr lang="en-US" altLang="ko-KR" sz="1200" dirty="0"/>
                        <a:t>TPOT </a:t>
                      </a:r>
                      <a:r>
                        <a:rPr lang="ko-KR" altLang="en-US" sz="1200" dirty="0"/>
                        <a:t>간섭 </a:t>
                      </a:r>
                      <a:r>
                        <a:rPr lang="en-US" altLang="ko-KR" sz="1200" dirty="0"/>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판단 스레드가 상태 서비스에 묶여 </a:t>
                      </a:r>
                      <a:r>
                        <a:rPr lang="ko-KR" altLang="en-US" sz="1200" dirty="0" err="1"/>
                        <a:t>서빙</a:t>
                      </a:r>
                      <a:r>
                        <a:rPr lang="ko-KR" altLang="en-US" sz="1200" dirty="0"/>
                        <a:t> 코어와 분리 배치 불가 </a:t>
                      </a:r>
                      <a:r>
                        <a:rPr lang="en-US" altLang="ko-KR" sz="1200" dirty="0"/>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상태</a:t>
                      </a:r>
                      <a:r>
                        <a:rPr lang="en-US" altLang="ko-KR" sz="1200" dirty="0"/>
                        <a:t>·</a:t>
                      </a:r>
                      <a:r>
                        <a:rPr lang="ko-KR" altLang="en-US" sz="1200" dirty="0"/>
                        <a:t>판단이 한 </a:t>
                      </a:r>
                      <a:r>
                        <a:rPr lang="ko-KR" altLang="en-US" sz="1200" dirty="0" err="1"/>
                        <a:t>서비스여서</a:t>
                      </a:r>
                      <a:r>
                        <a:rPr lang="ko-KR" altLang="en-US" sz="1200" dirty="0"/>
                        <a:t> </a:t>
                      </a:r>
                      <a:r>
                        <a:rPr lang="en-US" altLang="ko-KR" sz="1200" dirty="0" err="1"/>
                        <a:t>tier·object</a:t>
                      </a:r>
                      <a:r>
                        <a:rPr lang="en-US" altLang="ko-KR" sz="1200" dirty="0"/>
                        <a:t> </a:t>
                      </a:r>
                      <a:r>
                        <a:rPr lang="ko-KR" altLang="en-US" sz="1200" dirty="0"/>
                        <a:t>증가분을 함께 받아</a:t>
                      </a:r>
                      <a:r>
                        <a:rPr lang="ko-KR" altLang="en-US" sz="1200" baseline="0" dirty="0"/>
                        <a:t> </a:t>
                      </a:r>
                      <a:r>
                        <a:rPr lang="ko-KR" altLang="en-US" sz="1200" dirty="0"/>
                        <a:t>단일 병목 </a:t>
                      </a:r>
                      <a:r>
                        <a:rPr lang="en-US" altLang="ko-KR" sz="1200" dirty="0"/>
                        <a:t>— </a:t>
                      </a:r>
                      <a:r>
                        <a:rPr lang="ko-KR" altLang="en-US" sz="1200" dirty="0"/>
                        <a:t>둘 중 하나만 늘릴 수 없음 </a:t>
                      </a:r>
                      <a:r>
                        <a:rPr lang="en-US" altLang="ko-KR" sz="1200" dirty="0"/>
                        <a:t>(QA4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 Snapshot age</a:t>
                      </a:r>
                      <a:r>
                        <a:rPr lang="ko-KR" altLang="en-US" sz="1200" dirty="0"/>
                        <a:t>만큼 </a:t>
                      </a:r>
                      <a:r>
                        <a:rPr lang="en-US" altLang="ko-KR" sz="1200" dirty="0"/>
                        <a:t>stale → HBM </a:t>
                      </a:r>
                      <a:r>
                        <a:rPr lang="ko-KR" altLang="en-US" sz="1200" dirty="0"/>
                        <a:t>확보가 그만큼 늦고</a:t>
                      </a:r>
                      <a:r>
                        <a:rPr lang="en-US" altLang="ko-KR" sz="1200" dirty="0"/>
                        <a:t>, </a:t>
                      </a:r>
                      <a:r>
                        <a:rPr lang="ko-KR" altLang="en-US" sz="1200" dirty="0"/>
                        <a:t>이미 바뀐 상태</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  기준의 이동이 거절</a:t>
                      </a:r>
                      <a:r>
                        <a:rPr lang="en-US" altLang="ko-KR" sz="1200" dirty="0"/>
                        <a:t>·</a:t>
                      </a:r>
                      <a:r>
                        <a:rPr lang="ko-KR" altLang="en-US" sz="1200" dirty="0"/>
                        <a:t>재시도됨 </a:t>
                      </a:r>
                      <a:r>
                        <a:rPr lang="en-US" altLang="ko-KR" sz="1200" dirty="0"/>
                        <a:t>(QA2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 Snapshot </a:t>
                      </a:r>
                      <a:r>
                        <a:rPr lang="ko-KR" altLang="en-US" sz="1200" dirty="0"/>
                        <a:t>생성이 </a:t>
                      </a:r>
                      <a:r>
                        <a:rPr lang="en-US" altLang="ko-KR" sz="1200" dirty="0"/>
                        <a:t>object </a:t>
                      </a:r>
                      <a:r>
                        <a:rPr lang="ko-KR" altLang="en-US" sz="1200" dirty="0"/>
                        <a:t>수에 비례한 메모리</a:t>
                      </a:r>
                      <a:r>
                        <a:rPr lang="en-US" altLang="ko-KR" sz="1200" dirty="0"/>
                        <a:t>·CPU</a:t>
                      </a:r>
                      <a:r>
                        <a:rPr lang="ko-KR" altLang="en-US" sz="1200" dirty="0"/>
                        <a:t>를 상시 점유 </a:t>
                      </a:r>
                      <a:r>
                        <a:rPr lang="en-US" altLang="ko-KR" sz="1200" dirty="0"/>
                        <a:t>(QA2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 </a:t>
                      </a:r>
                      <a:r>
                        <a:rPr lang="ko-KR" altLang="en-US" sz="1200" dirty="0"/>
                        <a:t>정책을 바꿔도 </a:t>
                      </a:r>
                      <a:r>
                        <a:rPr lang="en-US" altLang="ko-KR" sz="1200" dirty="0"/>
                        <a:t>snapshot query </a:t>
                      </a:r>
                      <a:r>
                        <a:rPr lang="ko-KR" altLang="en-US" sz="1200" dirty="0"/>
                        <a:t>스키마와 </a:t>
                      </a:r>
                      <a:r>
                        <a:rPr lang="en-US" altLang="ko-KR" sz="1200" dirty="0"/>
                        <a:t>Command Queue </a:t>
                      </a:r>
                      <a:r>
                        <a:rPr lang="ko-KR" altLang="en-US" sz="1200" dirty="0"/>
                        <a:t>계약이 걸리면</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  </a:t>
                      </a:r>
                      <a:r>
                        <a:rPr lang="en-US" altLang="ko-KR" sz="1200" dirty="0" err="1"/>
                        <a:t>Resource·Data</a:t>
                      </a:r>
                      <a:r>
                        <a:rPr lang="en-US" altLang="ko-KR" sz="1200" dirty="0"/>
                        <a:t> Plane</a:t>
                      </a:r>
                      <a:r>
                        <a:rPr lang="ko-KR" altLang="en-US" sz="1200" dirty="0"/>
                        <a:t>까지 동반 수정 → </a:t>
                      </a:r>
                      <a:r>
                        <a:rPr lang="ko-KR" altLang="en-US" sz="1200" dirty="0" err="1"/>
                        <a:t>국소화가</a:t>
                      </a:r>
                      <a:r>
                        <a:rPr lang="ko-KR" altLang="en-US" sz="1200" dirty="0"/>
                        <a:t> 완전하지 않음 </a:t>
                      </a:r>
                      <a:r>
                        <a:rPr lang="en-US" altLang="ko-KR" sz="1200" dirty="0"/>
                        <a:t>(QA3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176</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이동을 어디서 결정할 것인가</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430887"/>
          </a:xfrm>
          <a:prstGeom prst="rect">
            <a:avLst/>
          </a:prstGeom>
          <a:noFill/>
        </p:spPr>
        <p:txBody>
          <a:bodyPr wrap="square" rtlCol="0">
            <a:spAutoFit/>
          </a:bodyPr>
          <a:lstStyle/>
          <a:p>
            <a:r>
              <a:rPr lang="en-US" altLang="ko-KR" sz="1100" dirty="0"/>
              <a:t>“Resource Plane</a:t>
            </a:r>
            <a:r>
              <a:rPr lang="ko-KR" altLang="en-US" sz="1100" dirty="0"/>
              <a:t>에서 상태를 관측하고 곧바로 이동을 결정</a:t>
            </a:r>
            <a:r>
              <a:rPr lang="en-US" altLang="ko-KR" sz="1100" dirty="0"/>
              <a:t>“</a:t>
            </a:r>
          </a:p>
          <a:p>
            <a:r>
              <a:rPr lang="ko-KR" altLang="en-US" sz="1100" dirty="0"/>
              <a:t>메모리 자원 상태에 우선한 이동</a:t>
            </a:r>
            <a:endParaRPr lang="en-US" altLang="ko-KR" sz="1100" dirty="0"/>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en-US" altLang="ko-KR" sz="1100" dirty="0"/>
              <a:t>“Resource Plane</a:t>
            </a:r>
            <a:r>
              <a:rPr lang="ko-KR" altLang="en-US" sz="1100" dirty="0"/>
              <a:t>은 상태 관측만 하고 </a:t>
            </a:r>
            <a:r>
              <a:rPr lang="en-US" altLang="ko-KR" sz="1100" dirty="0"/>
              <a:t>Control Plane</a:t>
            </a:r>
            <a:r>
              <a:rPr lang="ko-KR" altLang="en-US" sz="1100" dirty="0"/>
              <a:t>에서 이동을 결정</a:t>
            </a:r>
            <a:r>
              <a:rPr lang="en-US" altLang="ko-KR" sz="1100" dirty="0"/>
              <a:t>“</a:t>
            </a:r>
          </a:p>
          <a:p>
            <a:r>
              <a:rPr lang="ko-KR" altLang="en-US" sz="1100" dirty="0"/>
              <a:t>데이터 특성에 우선한 이동 </a:t>
            </a:r>
          </a:p>
        </p:txBody>
      </p:sp>
      <p:sp>
        <p:nvSpPr>
          <p:cNvPr id="238" name="DecisionPlane"/>
          <p:cNvSpPr/>
          <p:nvPr/>
        </p:nvSpPr>
        <p:spPr>
          <a:xfrm>
            <a:off x="6820386" y="3161999"/>
            <a:ext cx="2552835" cy="98248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6820386" y="3054289"/>
            <a:ext cx="251696" cy="103767"/>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52" name="KV Cache Manager"/>
            <p:cNvSpPr/>
            <p:nvPr/>
          </p:nvSpPr>
          <p:spPr>
            <a:xfrm>
              <a:off x="4493949" y="3060767"/>
              <a:ext cx="1409091" cy="2809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solid"/>
            <a:tailEnd type="arrow"/>
          </a:ln>
        </p:spPr>
      </p:cxnSp>
      <p:sp>
        <p:nvSpPr>
          <p:cNvPr id="262" name="KV Cache Manager"/>
          <p:cNvSpPr/>
          <p:nvPr/>
        </p:nvSpPr>
        <p:spPr>
          <a:xfrm>
            <a:off x="6907351" y="4305333"/>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264" name="① Event"/>
          <p:cNvCxnSpPr>
            <a:stCxn id="262" idx="0"/>
            <a:endCxn id="238" idx="2"/>
          </p:cNvCxnSpPr>
          <p:nvPr/>
        </p:nvCxnSpPr>
        <p:spPr>
          <a:xfrm flipH="1" flipV="1">
            <a:off x="8096804" y="4144479"/>
            <a:ext cx="521" cy="160854"/>
          </a:xfrm>
          <a:prstGeom prst="line">
            <a:avLst/>
          </a:prstGeom>
          <a:ln w="9525">
            <a:solidFill>
              <a:schemeClr val="tx1"/>
            </a:solidFill>
            <a:prstDash val="dash"/>
            <a:tailEnd type="arrow"/>
          </a:ln>
        </p:spPr>
      </p:cxnSp>
      <p:sp>
        <p:nvSpPr>
          <p:cNvPr id="230" name="DecisionPlane"/>
          <p:cNvSpPr/>
          <p:nvPr/>
        </p:nvSpPr>
        <p:spPr>
          <a:xfrm>
            <a:off x="6819037" y="2028349"/>
            <a:ext cx="4919889" cy="920209"/>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922402"/>
            <a:ext cx="251696" cy="109458"/>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cxnSp>
        <p:nvCxnSpPr>
          <p:cNvPr id="348" name="① Event"/>
          <p:cNvCxnSpPr/>
          <p:nvPr/>
        </p:nvCxnSpPr>
        <p:spPr>
          <a:xfrm>
            <a:off x="10959365" y="2708231"/>
            <a:ext cx="0" cy="846390"/>
          </a:xfrm>
          <a:prstGeom prst="line">
            <a:avLst/>
          </a:prstGeom>
          <a:ln w="9525">
            <a:solidFill>
              <a:schemeClr val="tx1"/>
            </a:solidFill>
            <a:prstDash val="dash"/>
            <a:tailEnd type="arrow"/>
          </a:ln>
        </p:spPr>
      </p:cxn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884299"/>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090182"/>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3"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rId4"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5"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47" name="Oval 159">
            <a:extLst>
              <a:ext uri="{FF2B5EF4-FFF2-40B4-BE49-F238E27FC236}">
                <a16:creationId xmlns:a16="http://schemas.microsoft.com/office/drawing/2014/main" id="{AB4D4D55-EE48-4E28-99D2-3EBEAF8A3AB6}"/>
              </a:ext>
            </a:extLst>
          </p:cNvPr>
          <p:cNvSpPr/>
          <p:nvPr/>
        </p:nvSpPr>
        <p:spPr>
          <a:xfrm>
            <a:off x="10980786" y="30630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49" name="Oval 159">
            <a:extLst>
              <a:ext uri="{FF2B5EF4-FFF2-40B4-BE49-F238E27FC236}">
                <a16:creationId xmlns:a16="http://schemas.microsoft.com/office/drawing/2014/main" id="{05F633F7-2F16-49BE-8A23-5F0C8B977B2C}"/>
              </a:ext>
            </a:extLst>
          </p:cNvPr>
          <p:cNvSpPr/>
          <p:nvPr/>
        </p:nvSpPr>
        <p:spPr>
          <a:xfrm>
            <a:off x="10653209" y="379845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63" name="KV Cache Manager"/>
          <p:cNvSpPr/>
          <p:nvPr/>
        </p:nvSpPr>
        <p:spPr>
          <a:xfrm>
            <a:off x="1212090" y="3486216"/>
            <a:ext cx="2163589"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164" name="① Event"/>
          <p:cNvCxnSpPr>
            <a:stCxn id="163" idx="0"/>
          </p:cNvCxnSpPr>
          <p:nvPr/>
        </p:nvCxnSpPr>
        <p:spPr>
          <a:xfrm flipV="1">
            <a:off x="2293885" y="3215610"/>
            <a:ext cx="0" cy="257720"/>
          </a:xfrm>
          <a:prstGeom prst="line">
            <a:avLst/>
          </a:prstGeom>
          <a:ln w="9525">
            <a:solidFill>
              <a:schemeClr val="tx1"/>
            </a:solidFill>
            <a:prstDash val="dash"/>
            <a:tailEnd type="arrow"/>
          </a:ln>
        </p:spPr>
      </p:cxnSp>
      <p:sp>
        <p:nvSpPr>
          <p:cNvPr id="170" name="실행 단추: 앞으로 또는 다음 169">
            <a:hlinkClick r:id="rId6" action="ppaction://hlinksldjump" highlightClick="1"/>
          </p:cNvPr>
          <p:cNvSpPr/>
          <p:nvPr/>
        </p:nvSpPr>
        <p:spPr>
          <a:xfrm>
            <a:off x="597150" y="3152133"/>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a:extLst>
              <a:ext uri="{FF2B5EF4-FFF2-40B4-BE49-F238E27FC236}">
                <a16:creationId xmlns:a16="http://schemas.microsoft.com/office/drawing/2014/main" id="{35AE09D4-AEA2-4131-A8A7-2642EC8AE3CE}"/>
              </a:ext>
            </a:extLst>
          </p:cNvPr>
          <p:cNvGrpSpPr/>
          <p:nvPr/>
        </p:nvGrpSpPr>
        <p:grpSpPr>
          <a:xfrm>
            <a:off x="269738" y="3503821"/>
            <a:ext cx="822008" cy="1106192"/>
            <a:chOff x="269738" y="3554621"/>
            <a:chExt cx="822008" cy="1106192"/>
          </a:xfrm>
        </p:grpSpPr>
        <p:sp>
          <p:nvSpPr>
            <p:cNvPr id="184" name="KV Cache Manager">
              <a:extLst>
                <a:ext uri="{FF2B5EF4-FFF2-40B4-BE49-F238E27FC236}">
                  <a16:creationId xmlns:a16="http://schemas.microsoft.com/office/drawing/2014/main" id="{7EC765EE-7364-4ED8-8648-CF058ABEB2F5}"/>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85" name="KV Cache Manager">
              <a:extLst>
                <a:ext uri="{FF2B5EF4-FFF2-40B4-BE49-F238E27FC236}">
                  <a16:creationId xmlns:a16="http://schemas.microsoft.com/office/drawing/2014/main" id="{CD65D1AD-FBC8-45AB-A99E-D572E315D7C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86" name="KV Cache Manager">
              <a:extLst>
                <a:ext uri="{FF2B5EF4-FFF2-40B4-BE49-F238E27FC236}">
                  <a16:creationId xmlns:a16="http://schemas.microsoft.com/office/drawing/2014/main" id="{FB7AF9AC-DA2C-4E57-A8E2-DFB4F10C25AF}"/>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87" name="직사각형 186">
              <a:extLst>
                <a:ext uri="{FF2B5EF4-FFF2-40B4-BE49-F238E27FC236}">
                  <a16:creationId xmlns:a16="http://schemas.microsoft.com/office/drawing/2014/main" id="{7120530C-2B1D-42F1-A50E-B319829F4F9E}"/>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89" name="KV Cache Manager">
              <a:extLst>
                <a:ext uri="{FF2B5EF4-FFF2-40B4-BE49-F238E27FC236}">
                  <a16:creationId xmlns:a16="http://schemas.microsoft.com/office/drawing/2014/main" id="{CB336F26-629B-4FD2-9C8D-092385750622}"/>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grpSp>
        <p:nvGrpSpPr>
          <p:cNvPr id="35" name="그룹 34"/>
          <p:cNvGrpSpPr/>
          <p:nvPr/>
        </p:nvGrpSpPr>
        <p:grpSpPr>
          <a:xfrm>
            <a:off x="1611863" y="2214643"/>
            <a:ext cx="4410210" cy="877823"/>
            <a:chOff x="488690" y="4075944"/>
            <a:chExt cx="4851231" cy="877823"/>
          </a:xfrm>
        </p:grpSpPr>
        <p:sp>
          <p:nvSpPr>
            <p:cNvPr id="190" name="Rectangle 26"/>
            <p:cNvSpPr/>
            <p:nvPr/>
          </p:nvSpPr>
          <p:spPr>
            <a:xfrm>
              <a:off x="1682321" y="4075944"/>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Trend
Analyzer</a:t>
              </a:r>
            </a:p>
          </p:txBody>
        </p:sp>
        <p:sp>
          <p:nvSpPr>
            <p:cNvPr id="191" name="Rectangle 27"/>
            <p:cNvSpPr/>
            <p:nvPr/>
          </p:nvSpPr>
          <p:spPr>
            <a:xfrm>
              <a:off x="2962481" y="4075944"/>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Affinity
Mapper</a:t>
              </a:r>
            </a:p>
          </p:txBody>
        </p:sp>
        <p:sp>
          <p:nvSpPr>
            <p:cNvPr id="192" name="Rectangle 28"/>
            <p:cNvSpPr/>
            <p:nvPr/>
          </p:nvSpPr>
          <p:spPr>
            <a:xfrm>
              <a:off x="4242641" y="4075944"/>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000000"/>
                  </a:solidFill>
                  <a:latin typeface="맑은 고딕"/>
                  <a:ea typeface="맑은 고딕"/>
                  <a:cs typeface="맑은 고딕"/>
                </a:rPr>
                <a:t>Policy
Engine</a:t>
              </a:r>
            </a:p>
          </p:txBody>
        </p:sp>
        <p:sp>
          <p:nvSpPr>
            <p:cNvPr id="193" name="Rectangle 29"/>
            <p:cNvSpPr/>
            <p:nvPr/>
          </p:nvSpPr>
          <p:spPr>
            <a:xfrm>
              <a:off x="488690" y="4642871"/>
              <a:ext cx="906843"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a:solidFill>
                    <a:srgbClr val="000000"/>
                  </a:solidFill>
                  <a:latin typeface="맑은 고딕"/>
                  <a:ea typeface="맑은 고딕"/>
                  <a:cs typeface="맑은 고딕"/>
                </a:rPr>
                <a:t>Telemetry
Collector</a:t>
              </a:r>
            </a:p>
          </p:txBody>
        </p:sp>
        <p:sp>
          <p:nvSpPr>
            <p:cNvPr id="194" name="Rectangle 30"/>
            <p:cNvSpPr/>
            <p:nvPr/>
          </p:nvSpPr>
          <p:spPr>
            <a:xfrm>
              <a:off x="1775835" y="4642871"/>
              <a:ext cx="906843"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a:solidFill>
                    <a:srgbClr val="000000"/>
                  </a:solidFill>
                  <a:latin typeface="맑은 고딕"/>
                  <a:ea typeface="맑은 고딕"/>
                  <a:cs typeface="맑은 고딕"/>
                </a:rPr>
                <a:t>State
Monitor</a:t>
              </a:r>
            </a:p>
          </p:txBody>
        </p:sp>
        <p:sp>
          <p:nvSpPr>
            <p:cNvPr id="195" name="Rectangle 31"/>
            <p:cNvSpPr/>
            <p:nvPr/>
          </p:nvSpPr>
          <p:spPr>
            <a:xfrm>
              <a:off x="2960777" y="4642871"/>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err="1">
                  <a:solidFill>
                    <a:srgbClr val="000000"/>
                  </a:solidFill>
                  <a:latin typeface="맑은 고딕"/>
                  <a:ea typeface="맑은 고딕"/>
                  <a:cs typeface="맑은 고딕"/>
                </a:rPr>
                <a:t>Memory·Data</a:t>
              </a:r>
              <a:r>
                <a:rPr sz="800" b="1" dirty="0">
                  <a:solidFill>
                    <a:srgbClr val="000000"/>
                  </a:solidFill>
                  <a:latin typeface="맑은 고딕"/>
                  <a:ea typeface="맑은 고딕"/>
                  <a:cs typeface="맑은 고딕"/>
                </a:rPr>
                <a:t>
Object Registry</a:t>
              </a:r>
            </a:p>
          </p:txBody>
        </p:sp>
        <p:cxnSp>
          <p:nvCxnSpPr>
            <p:cNvPr id="196" name="Connector 32"/>
            <p:cNvCxnSpPr>
              <a:stCxn id="193" idx="3"/>
              <a:endCxn id="194" idx="1"/>
            </p:cNvCxnSpPr>
            <p:nvPr/>
          </p:nvCxnSpPr>
          <p:spPr>
            <a:xfrm>
              <a:off x="1395533" y="4798319"/>
              <a:ext cx="380302" cy="0"/>
            </a:xfrm>
            <a:prstGeom prst="line">
              <a:avLst/>
            </a:prstGeom>
            <a:ln w="9525">
              <a:solidFill>
                <a:schemeClr val="tx1"/>
              </a:solidFill>
              <a:prstDash val="solid"/>
              <a:tailEnd type="arrow"/>
            </a:ln>
          </p:spPr>
        </p:cxnSp>
        <p:cxnSp>
          <p:nvCxnSpPr>
            <p:cNvPr id="198" name="Connector 33"/>
            <p:cNvCxnSpPr/>
            <p:nvPr/>
          </p:nvCxnSpPr>
          <p:spPr>
            <a:xfrm>
              <a:off x="2779600" y="4267968"/>
              <a:ext cx="182881" cy="0"/>
            </a:xfrm>
            <a:prstGeom prst="line">
              <a:avLst/>
            </a:prstGeom>
            <a:ln w="9525">
              <a:solidFill>
                <a:schemeClr val="tx1"/>
              </a:solidFill>
              <a:prstDash val="solid"/>
              <a:tailEnd type="arrow"/>
            </a:ln>
          </p:spPr>
        </p:cxnSp>
        <p:cxnSp>
          <p:nvCxnSpPr>
            <p:cNvPr id="199" name="Connector 34"/>
            <p:cNvCxnSpPr/>
            <p:nvPr/>
          </p:nvCxnSpPr>
          <p:spPr>
            <a:xfrm>
              <a:off x="4059761" y="4267968"/>
              <a:ext cx="182880" cy="0"/>
            </a:xfrm>
            <a:prstGeom prst="line">
              <a:avLst/>
            </a:prstGeom>
            <a:ln w="9525">
              <a:solidFill>
                <a:schemeClr val="tx1"/>
              </a:solidFill>
              <a:prstDash val="solid"/>
              <a:tailEnd type="arrow"/>
            </a:ln>
          </p:spPr>
        </p:cxnSp>
      </p:grpSp>
      <p:cxnSp>
        <p:nvCxnSpPr>
          <p:cNvPr id="200" name="Connector 36"/>
          <p:cNvCxnSpPr>
            <a:stCxn id="194" idx="0"/>
            <a:endCxn id="190" idx="2"/>
          </p:cNvCxnSpPr>
          <p:nvPr/>
        </p:nvCxnSpPr>
        <p:spPr>
          <a:xfrm flipV="1">
            <a:off x="3194197" y="2598691"/>
            <a:ext cx="1549" cy="182879"/>
          </a:xfrm>
          <a:prstGeom prst="line">
            <a:avLst/>
          </a:prstGeom>
          <a:ln w="9525">
            <a:solidFill>
              <a:schemeClr val="tx1"/>
            </a:solidFill>
            <a:prstDash val="solid"/>
            <a:tailEnd type="arrow"/>
          </a:ln>
        </p:spPr>
      </p:cxnSp>
      <p:sp>
        <p:nvSpPr>
          <p:cNvPr id="202" name="DecisionPlane tab"/>
          <p:cNvSpPr/>
          <p:nvPr/>
        </p:nvSpPr>
        <p:spPr>
          <a:xfrm>
            <a:off x="1209723" y="1834318"/>
            <a:ext cx="251696" cy="99839"/>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42" name="그룹 41"/>
          <p:cNvGrpSpPr/>
          <p:nvPr/>
        </p:nvGrpSpPr>
        <p:grpSpPr>
          <a:xfrm>
            <a:off x="4215889" y="3362796"/>
            <a:ext cx="1858865" cy="1119167"/>
            <a:chOff x="4215889" y="3362796"/>
            <a:chExt cx="1858865" cy="1119167"/>
          </a:xfrm>
        </p:grpSpPr>
        <p:grpSp>
          <p:nvGrpSpPr>
            <p:cNvPr id="11" name="그룹 10"/>
            <p:cNvGrpSpPr/>
            <p:nvPr/>
          </p:nvGrpSpPr>
          <p:grpSpPr>
            <a:xfrm>
              <a:off x="4215889" y="3362796"/>
              <a:ext cx="1858865" cy="1090142"/>
              <a:chOff x="4314807" y="3220929"/>
              <a:chExt cx="1858865" cy="1090142"/>
            </a:xfrm>
          </p:grpSpPr>
          <p:grpSp>
            <p:nvGrpSpPr>
              <p:cNvPr id="154" name="그룹 153"/>
              <p:cNvGrpSpPr/>
              <p:nvPr/>
            </p:nvGrpSpPr>
            <p:grpSpPr>
              <a:xfrm>
                <a:off x="4314807" y="3220929"/>
                <a:ext cx="1858865" cy="1090142"/>
                <a:chOff x="4168897" y="2550266"/>
                <a:chExt cx="1879320" cy="1648313"/>
              </a:xfrm>
            </p:grpSpPr>
            <p:sp>
              <p:nvSpPr>
                <p:cNvPr id="155" name="DecisionPlane"/>
                <p:cNvSpPr/>
                <p:nvPr/>
              </p:nvSpPr>
              <p:spPr>
                <a:xfrm>
                  <a:off x="4168899" y="2678901"/>
                  <a:ext cx="1879318" cy="1519678"/>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56" name="DecisionPlane tab"/>
                <p:cNvSpPr/>
                <p:nvPr/>
              </p:nvSpPr>
              <p:spPr>
                <a:xfrm>
                  <a:off x="4168897" y="2550266"/>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57" name="KV Cache Manager"/>
                <p:cNvSpPr/>
                <p:nvPr/>
              </p:nvSpPr>
              <p:spPr>
                <a:xfrm>
                  <a:off x="4447534" y="3058632"/>
                  <a:ext cx="1409091" cy="34000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58" name="KV Cache Manager"/>
                <p:cNvSpPr/>
                <p:nvPr/>
              </p:nvSpPr>
              <p:spPr>
                <a:xfrm>
                  <a:off x="4447534" y="3630862"/>
                  <a:ext cx="1409091" cy="34000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162" name="① Event"/>
              <p:cNvCxnSpPr>
                <a:stCxn id="157" idx="2"/>
                <a:endCxn id="158" idx="0"/>
              </p:cNvCxnSpPr>
              <p:nvPr/>
            </p:nvCxnSpPr>
            <p:spPr>
              <a:xfrm>
                <a:off x="5287288" y="3782012"/>
                <a:ext cx="0" cy="153589"/>
              </a:xfrm>
              <a:prstGeom prst="line">
                <a:avLst/>
              </a:prstGeom>
              <a:ln w="9525">
                <a:solidFill>
                  <a:schemeClr val="tx1"/>
                </a:solidFill>
                <a:prstDash val="solid"/>
                <a:tailEnd type="arrow"/>
              </a:ln>
            </p:spPr>
          </p:cxnSp>
        </p:grpSp>
        <p:sp>
          <p:nvSpPr>
            <p:cNvPr id="172" name="직사각형 171"/>
            <p:cNvSpPr/>
            <p:nvPr/>
          </p:nvSpPr>
          <p:spPr>
            <a:xfrm>
              <a:off x="4356214" y="4281908"/>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grpSp>
      <p:cxnSp>
        <p:nvCxnSpPr>
          <p:cNvPr id="160" name="① Event"/>
          <p:cNvCxnSpPr/>
          <p:nvPr/>
        </p:nvCxnSpPr>
        <p:spPr>
          <a:xfrm flipH="1">
            <a:off x="5749146" y="2627290"/>
            <a:ext cx="6522" cy="1025949"/>
          </a:xfrm>
          <a:prstGeom prst="line">
            <a:avLst/>
          </a:prstGeom>
          <a:ln w="9525">
            <a:solidFill>
              <a:schemeClr val="tx1"/>
            </a:solidFill>
            <a:prstDash val="dash"/>
            <a:tailEnd type="arrow"/>
          </a:ln>
        </p:spPr>
      </p:cxnSp>
      <p:sp>
        <p:nvSpPr>
          <p:cNvPr id="203" name="Oval 159">
            <a:extLst>
              <a:ext uri="{FF2B5EF4-FFF2-40B4-BE49-F238E27FC236}">
                <a16:creationId xmlns:a16="http://schemas.microsoft.com/office/drawing/2014/main" id="{DA54D0DB-719B-484E-AABC-3D8E4B4763DB}"/>
              </a:ext>
            </a:extLst>
          </p:cNvPr>
          <p:cNvSpPr/>
          <p:nvPr/>
        </p:nvSpPr>
        <p:spPr>
          <a:xfrm>
            <a:off x="3212008" y="264309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204" name="Oval 159">
            <a:extLst>
              <a:ext uri="{FF2B5EF4-FFF2-40B4-BE49-F238E27FC236}">
                <a16:creationId xmlns:a16="http://schemas.microsoft.com/office/drawing/2014/main" id="{0C2B959D-5453-4CF9-AD9F-ADF24CC585B5}"/>
              </a:ext>
            </a:extLst>
          </p:cNvPr>
          <p:cNvSpPr/>
          <p:nvPr/>
        </p:nvSpPr>
        <p:spPr>
          <a:xfrm>
            <a:off x="3681487" y="223218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cxnSp>
        <p:nvCxnSpPr>
          <p:cNvPr id="205" name="Connector 36"/>
          <p:cNvCxnSpPr>
            <a:stCxn id="195" idx="0"/>
            <a:endCxn id="191" idx="2"/>
          </p:cNvCxnSpPr>
          <p:nvPr/>
        </p:nvCxnSpPr>
        <p:spPr>
          <a:xfrm flipV="1">
            <a:off x="4357979" y="2598691"/>
            <a:ext cx="1549" cy="182879"/>
          </a:xfrm>
          <a:prstGeom prst="line">
            <a:avLst/>
          </a:prstGeom>
          <a:ln w="9525">
            <a:solidFill>
              <a:schemeClr val="tx1"/>
            </a:solidFill>
            <a:prstDash val="solid"/>
            <a:tailEnd type="arrow"/>
          </a:ln>
        </p:spPr>
      </p:cxnSp>
      <p:sp>
        <p:nvSpPr>
          <p:cNvPr id="206" name="Oval 159">
            <a:extLst>
              <a:ext uri="{FF2B5EF4-FFF2-40B4-BE49-F238E27FC236}">
                <a16:creationId xmlns:a16="http://schemas.microsoft.com/office/drawing/2014/main" id="{9A2411C3-D274-4040-B980-F387D57B7542}"/>
              </a:ext>
            </a:extLst>
          </p:cNvPr>
          <p:cNvSpPr/>
          <p:nvPr/>
        </p:nvSpPr>
        <p:spPr>
          <a:xfrm>
            <a:off x="4405977" y="26384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207" name="Oval 159">
            <a:extLst>
              <a:ext uri="{FF2B5EF4-FFF2-40B4-BE49-F238E27FC236}">
                <a16:creationId xmlns:a16="http://schemas.microsoft.com/office/drawing/2014/main" id="{355D1C60-9B6A-43EF-BEAB-7D71469C10B1}"/>
              </a:ext>
            </a:extLst>
          </p:cNvPr>
          <p:cNvSpPr/>
          <p:nvPr/>
        </p:nvSpPr>
        <p:spPr>
          <a:xfrm>
            <a:off x="5801145" y="286131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80" name="Oval 159">
            <a:extLst>
              <a:ext uri="{FF2B5EF4-FFF2-40B4-BE49-F238E27FC236}">
                <a16:creationId xmlns:a16="http://schemas.microsoft.com/office/drawing/2014/main" id="{6C742721-68C2-4FBE-B91E-B656F09A96E9}"/>
              </a:ext>
            </a:extLst>
          </p:cNvPr>
          <p:cNvSpPr/>
          <p:nvPr/>
        </p:nvSpPr>
        <p:spPr>
          <a:xfrm>
            <a:off x="4639909" y="329361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209" name="Rectangle 56"/>
          <p:cNvSpPr/>
          <p:nvPr/>
        </p:nvSpPr>
        <p:spPr>
          <a:xfrm>
            <a:off x="8173981" y="2301741"/>
            <a:ext cx="915911"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Trend
Analyzer</a:t>
            </a:r>
          </a:p>
        </p:txBody>
      </p:sp>
      <p:sp>
        <p:nvSpPr>
          <p:cNvPr id="210" name="Rectangle 57"/>
          <p:cNvSpPr/>
          <p:nvPr/>
        </p:nvSpPr>
        <p:spPr>
          <a:xfrm>
            <a:off x="9454141" y="2301741"/>
            <a:ext cx="915911"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Affinity
Mapper</a:t>
            </a:r>
          </a:p>
        </p:txBody>
      </p:sp>
      <p:sp>
        <p:nvSpPr>
          <p:cNvPr id="211" name="Rectangle 58"/>
          <p:cNvSpPr/>
          <p:nvPr/>
        </p:nvSpPr>
        <p:spPr>
          <a:xfrm>
            <a:off x="10734301" y="2301741"/>
            <a:ext cx="915911"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000000"/>
                </a:solidFill>
                <a:latin typeface="맑은 고딕"/>
                <a:ea typeface="맑은 고딕"/>
                <a:cs typeface="맑은 고딕"/>
              </a:rPr>
              <a:t>Policy
Engine</a:t>
            </a:r>
          </a:p>
        </p:txBody>
      </p:sp>
      <p:cxnSp>
        <p:nvCxnSpPr>
          <p:cNvPr id="213" name="Connector 60"/>
          <p:cNvCxnSpPr/>
          <p:nvPr/>
        </p:nvCxnSpPr>
        <p:spPr>
          <a:xfrm>
            <a:off x="9123278" y="2493765"/>
            <a:ext cx="297476" cy="0"/>
          </a:xfrm>
          <a:prstGeom prst="line">
            <a:avLst/>
          </a:prstGeom>
          <a:ln w="9525">
            <a:solidFill>
              <a:schemeClr val="tx1"/>
            </a:solidFill>
            <a:prstDash val="solid"/>
            <a:tailEnd type="arrow"/>
          </a:ln>
        </p:spPr>
      </p:cxnSp>
      <p:cxnSp>
        <p:nvCxnSpPr>
          <p:cNvPr id="214" name="Connector 61"/>
          <p:cNvCxnSpPr/>
          <p:nvPr/>
        </p:nvCxnSpPr>
        <p:spPr>
          <a:xfrm>
            <a:off x="10403438" y="2493765"/>
            <a:ext cx="297476" cy="0"/>
          </a:xfrm>
          <a:prstGeom prst="line">
            <a:avLst/>
          </a:prstGeom>
          <a:ln w="9525">
            <a:solidFill>
              <a:schemeClr val="tx1"/>
            </a:solidFill>
            <a:prstDash val="solid"/>
            <a:tailEnd type="arrow"/>
          </a:ln>
        </p:spPr>
      </p:cxnSp>
      <p:grpSp>
        <p:nvGrpSpPr>
          <p:cNvPr id="47" name="그룹 46"/>
          <p:cNvGrpSpPr/>
          <p:nvPr/>
        </p:nvGrpSpPr>
        <p:grpSpPr>
          <a:xfrm>
            <a:off x="7193078" y="3421626"/>
            <a:ext cx="1807440" cy="699136"/>
            <a:chOff x="6898354" y="2919679"/>
            <a:chExt cx="2187003" cy="845954"/>
          </a:xfrm>
        </p:grpSpPr>
        <p:sp>
          <p:nvSpPr>
            <p:cNvPr id="218" name="Rectangle 66"/>
            <p:cNvSpPr/>
            <p:nvPr/>
          </p:nvSpPr>
          <p:spPr>
            <a:xfrm>
              <a:off x="6898354" y="2919679"/>
              <a:ext cx="906843" cy="34198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a:solidFill>
                    <a:srgbClr val="000000"/>
                  </a:solidFill>
                  <a:latin typeface="맑은 고딕"/>
                  <a:ea typeface="맑은 고딕"/>
                  <a:cs typeface="맑은 고딕"/>
                </a:rPr>
                <a:t>Telemetry
Collector</a:t>
              </a:r>
            </a:p>
          </p:txBody>
        </p:sp>
        <p:sp>
          <p:nvSpPr>
            <p:cNvPr id="219" name="Rectangle 67"/>
            <p:cNvSpPr/>
            <p:nvPr/>
          </p:nvSpPr>
          <p:spPr>
            <a:xfrm>
              <a:off x="8178514" y="2919679"/>
              <a:ext cx="906843" cy="34198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a:solidFill>
                    <a:srgbClr val="000000"/>
                  </a:solidFill>
                  <a:latin typeface="맑은 고딕"/>
                  <a:ea typeface="맑은 고딕"/>
                  <a:cs typeface="맑은 고딕"/>
                </a:rPr>
                <a:t>State
Monitor</a:t>
              </a:r>
            </a:p>
          </p:txBody>
        </p:sp>
        <p:sp>
          <p:nvSpPr>
            <p:cNvPr id="220" name="Rectangle 68"/>
            <p:cNvSpPr/>
            <p:nvPr/>
          </p:nvSpPr>
          <p:spPr>
            <a:xfrm>
              <a:off x="7291112" y="3389449"/>
              <a:ext cx="1307032" cy="37618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err="1">
                  <a:solidFill>
                    <a:srgbClr val="000000"/>
                  </a:solidFill>
                  <a:latin typeface="맑은 고딕"/>
                  <a:ea typeface="맑은 고딕"/>
                  <a:cs typeface="맑은 고딕"/>
                </a:rPr>
                <a:t>Memory·Data</a:t>
              </a:r>
              <a:r>
                <a:rPr sz="800" b="1" dirty="0">
                  <a:solidFill>
                    <a:srgbClr val="000000"/>
                  </a:solidFill>
                  <a:latin typeface="맑은 고딕"/>
                  <a:ea typeface="맑은 고딕"/>
                  <a:cs typeface="맑은 고딕"/>
                </a:rPr>
                <a:t>
Object Registry</a:t>
              </a:r>
            </a:p>
          </p:txBody>
        </p:sp>
        <p:cxnSp>
          <p:nvCxnSpPr>
            <p:cNvPr id="221" name="Connector 69"/>
            <p:cNvCxnSpPr>
              <a:endCxn id="219" idx="1"/>
            </p:cNvCxnSpPr>
            <p:nvPr/>
          </p:nvCxnSpPr>
          <p:spPr>
            <a:xfrm>
              <a:off x="7900415" y="3090672"/>
              <a:ext cx="278099"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grpSp>
      <p:cxnSp>
        <p:nvCxnSpPr>
          <p:cNvPr id="223" name="Connector 70"/>
          <p:cNvCxnSpPr>
            <a:stCxn id="219" idx="0"/>
            <a:endCxn id="209" idx="2"/>
          </p:cNvCxnSpPr>
          <p:nvPr/>
        </p:nvCxnSpPr>
        <p:spPr>
          <a:xfrm flipV="1">
            <a:off x="8625791" y="2685789"/>
            <a:ext cx="6146" cy="735837"/>
          </a:xfrm>
          <a:prstGeom prst="line">
            <a:avLst/>
          </a:prstGeom>
          <a:ln w="9525">
            <a:solidFill>
              <a:schemeClr val="tx1"/>
            </a:solidFill>
            <a:prstDash val="dash"/>
            <a:tailEnd type="arrow"/>
          </a:ln>
        </p:spPr>
      </p:cxnSp>
      <p:cxnSp>
        <p:nvCxnSpPr>
          <p:cNvPr id="226" name="Connector 71"/>
          <p:cNvCxnSpPr/>
          <p:nvPr/>
        </p:nvCxnSpPr>
        <p:spPr>
          <a:xfrm flipV="1">
            <a:off x="8618321" y="2646581"/>
            <a:ext cx="848520" cy="1278311"/>
          </a:xfrm>
          <a:prstGeom prst="bentConnector3">
            <a:avLst>
              <a:gd name="adj1" fmla="val 73199"/>
            </a:avLst>
          </a:prstGeom>
          <a:ln w="9525">
            <a:solidFill>
              <a:schemeClr val="tx1"/>
            </a:solidFill>
            <a:prstDash val="dash"/>
            <a:tailEnd type="arrow"/>
          </a:ln>
        </p:spPr>
      </p:cxnSp>
      <p:cxnSp>
        <p:nvCxnSpPr>
          <p:cNvPr id="235" name="① Event"/>
          <p:cNvCxnSpPr/>
          <p:nvPr/>
        </p:nvCxnSpPr>
        <p:spPr>
          <a:xfrm flipV="1">
            <a:off x="4655197" y="3133083"/>
            <a:ext cx="0" cy="501107"/>
          </a:xfrm>
          <a:prstGeom prst="line">
            <a:avLst/>
          </a:prstGeom>
          <a:ln w="9525">
            <a:solidFill>
              <a:schemeClr val="tx1"/>
            </a:solidFill>
            <a:prstDash val="dash"/>
            <a:tailEnd type="arrow"/>
          </a:ln>
        </p:spPr>
      </p:cxnSp>
      <p:sp>
        <p:nvSpPr>
          <p:cNvPr id="237" name="Oval 159">
            <a:extLst>
              <a:ext uri="{FF2B5EF4-FFF2-40B4-BE49-F238E27FC236}">
                <a16:creationId xmlns:a16="http://schemas.microsoft.com/office/drawing/2014/main" id="{A656EC47-6726-4DE3-BB9A-66BFE88053D0}"/>
              </a:ext>
            </a:extLst>
          </p:cNvPr>
          <p:cNvSpPr/>
          <p:nvPr/>
        </p:nvSpPr>
        <p:spPr>
          <a:xfrm>
            <a:off x="5212204" y="39157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245" name="Oval 159">
            <a:extLst>
              <a:ext uri="{FF2B5EF4-FFF2-40B4-BE49-F238E27FC236}">
                <a16:creationId xmlns:a16="http://schemas.microsoft.com/office/drawing/2014/main" id="{0C2B959D-5453-4CF9-AD9F-ADF24CC585B5}"/>
              </a:ext>
            </a:extLst>
          </p:cNvPr>
          <p:cNvSpPr/>
          <p:nvPr/>
        </p:nvSpPr>
        <p:spPr>
          <a:xfrm>
            <a:off x="8549293" y="300061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246" name="Oval 159">
            <a:extLst>
              <a:ext uri="{FF2B5EF4-FFF2-40B4-BE49-F238E27FC236}">
                <a16:creationId xmlns:a16="http://schemas.microsoft.com/office/drawing/2014/main" id="{9A2411C3-D274-4040-B980-F387D57B7542}"/>
              </a:ext>
            </a:extLst>
          </p:cNvPr>
          <p:cNvSpPr/>
          <p:nvPr/>
        </p:nvSpPr>
        <p:spPr>
          <a:xfrm>
            <a:off x="9202480" y="2328480"/>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247" name="Oval 159">
            <a:extLst>
              <a:ext uri="{FF2B5EF4-FFF2-40B4-BE49-F238E27FC236}">
                <a16:creationId xmlns:a16="http://schemas.microsoft.com/office/drawing/2014/main" id="{355D1C60-9B6A-43EF-BEAB-7D71469C10B1}"/>
              </a:ext>
            </a:extLst>
          </p:cNvPr>
          <p:cNvSpPr/>
          <p:nvPr/>
        </p:nvSpPr>
        <p:spPr>
          <a:xfrm>
            <a:off x="9152525" y="298761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cxnSp>
        <p:nvCxnSpPr>
          <p:cNvPr id="255" name="Connector 71"/>
          <p:cNvCxnSpPr>
            <a:stCxn id="252" idx="1"/>
          </p:cNvCxnSpPr>
          <p:nvPr/>
        </p:nvCxnSpPr>
        <p:spPr>
          <a:xfrm rot="10800000" flipV="1">
            <a:off x="8591426" y="3664982"/>
            <a:ext cx="1340322" cy="373574"/>
          </a:xfrm>
          <a:prstGeom prst="bentConnector3">
            <a:avLst>
              <a:gd name="adj1" fmla="val 29628"/>
            </a:avLst>
          </a:prstGeom>
          <a:ln w="9525">
            <a:solidFill>
              <a:schemeClr val="tx1"/>
            </a:solidFill>
            <a:prstDash val="dash"/>
            <a:tailEnd type="arrow"/>
          </a:ln>
        </p:spPr>
      </p:cxnSp>
      <p:sp>
        <p:nvSpPr>
          <p:cNvPr id="148" name="Oval 159">
            <a:extLst>
              <a:ext uri="{FF2B5EF4-FFF2-40B4-BE49-F238E27FC236}">
                <a16:creationId xmlns:a16="http://schemas.microsoft.com/office/drawing/2014/main" id="{A656EC47-6726-4DE3-BB9A-66BFE88053D0}"/>
              </a:ext>
            </a:extLst>
          </p:cNvPr>
          <p:cNvSpPr/>
          <p:nvPr/>
        </p:nvSpPr>
        <p:spPr>
          <a:xfrm>
            <a:off x="9442249" y="375428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Tree>
    <p:extLst>
      <p:ext uri="{BB962C8B-B14F-4D97-AF65-F5344CB8AC3E}">
        <p14:creationId xmlns:p14="http://schemas.microsoft.com/office/powerpoint/2010/main" val="321470421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DecisionPlane"/>
          <p:cNvSpPr/>
          <p:nvPr/>
        </p:nvSpPr>
        <p:spPr>
          <a:xfrm>
            <a:off x="1209723" y="1931770"/>
            <a:ext cx="5145503" cy="129702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graphicFrame>
        <p:nvGraphicFramePr>
          <p:cNvPr id="81" name="표 80"/>
          <p:cNvGraphicFramePr>
            <a:graphicFrameLocks noGrp="1"/>
          </p:cNvGraphicFramePr>
          <p:nvPr/>
        </p:nvGraphicFramePr>
        <p:xfrm>
          <a:off x="249035" y="1044054"/>
          <a:ext cx="11747501" cy="606303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상태 관측과 이동 결정을 한 곳에서 </a:t>
                      </a:r>
                      <a:r>
                        <a:rPr lang="en-US" altLang="ko-KR" sz="1200" b="1" strike="noStrike" baseline="0" dirty="0"/>
                        <a:t>(2-plane </a:t>
                      </a:r>
                      <a:r>
                        <a:rPr lang="ko-KR" altLang="en-US" sz="1200" b="1" strike="noStrike" baseline="0" dirty="0"/>
                        <a:t>구조</a:t>
                      </a:r>
                      <a:r>
                        <a:rPr lang="en-US" altLang="ko-KR" sz="1200" b="1" strike="noStrike" baseline="0" dirty="0"/>
                        <a:t>)</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r>
                        <a:rPr lang="en-US" altLang="ko-KR" sz="1200" b="1" strike="noStrike" dirty="0"/>
                        <a:t>(3-plane </a:t>
                      </a:r>
                      <a:r>
                        <a:rPr lang="ko-KR" altLang="en-US" sz="1200" b="1" strike="noStrike" dirty="0"/>
                        <a:t>구조</a:t>
                      </a:r>
                      <a:r>
                        <a:rPr lang="en-US" altLang="ko-KR" sz="1200" b="1" strike="noStrike" dirty="0"/>
                        <a:t>)</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dirty="0">
                          <a:solidFill>
                            <a:srgbClr val="000000"/>
                          </a:solidFill>
                          <a:latin typeface="+mn-lt"/>
                          <a:ea typeface="맑은 고딕"/>
                          <a:cs typeface="맑은 고딕"/>
                        </a:rPr>
                        <a:t>상태가 항상 최신 → </a:t>
                      </a:r>
                      <a:r>
                        <a:rPr lang="en-US" altLang="ko-KR" sz="1200" b="0" dirty="0">
                          <a:solidFill>
                            <a:srgbClr val="000000"/>
                          </a:solidFill>
                          <a:latin typeface="+mn-lt"/>
                          <a:ea typeface="맑은 고딕"/>
                          <a:cs typeface="맑은 고딕"/>
                        </a:rPr>
                        <a:t>HBM </a:t>
                      </a:r>
                      <a:r>
                        <a:rPr lang="ko-KR" altLang="en-US" sz="1200" b="0" dirty="0">
                          <a:solidFill>
                            <a:srgbClr val="000000"/>
                          </a:solidFill>
                          <a:latin typeface="+mn-lt"/>
                          <a:ea typeface="맑은 고딕"/>
                          <a:cs typeface="맑은 고딕"/>
                        </a:rPr>
                        <a:t>압박 대응 지연 최소</a:t>
                      </a:r>
                      <a:r>
                        <a:rPr lang="en-US" altLang="ko-KR" sz="1200" b="0" dirty="0">
                          <a:solidFill>
                            <a:srgbClr val="000000"/>
                          </a:solidFill>
                          <a:latin typeface="+mn-lt"/>
                          <a:ea typeface="맑은 고딕"/>
                          <a:cs typeface="맑은 고딕"/>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dirty="0">
                          <a:solidFill>
                            <a:srgbClr val="000000"/>
                          </a:solidFill>
                          <a:latin typeface="+mn-lt"/>
                          <a:ea typeface="맑은 고딕"/>
                          <a:cs typeface="맑은 고딕"/>
                        </a:rPr>
                        <a:t>오래된 정보로 인한 이동 거절 없음 </a:t>
                      </a:r>
                      <a:r>
                        <a:rPr lang="en-US" altLang="ko-KR" sz="1200" b="0" dirty="0">
                          <a:solidFill>
                            <a:srgbClr val="000000"/>
                          </a:solidFill>
                          <a:latin typeface="+mn-lt"/>
                          <a:ea typeface="맑은 고딕"/>
                          <a:cs typeface="맑은 고딕"/>
                        </a:rPr>
                        <a:t>(Q1·Q2)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kern="1200" baseline="0" dirty="0">
                          <a:solidFill>
                            <a:srgbClr val="0000FF"/>
                          </a:solidFill>
                          <a:effectLst/>
                          <a:latin typeface="+mn-lt"/>
                          <a:ea typeface="+mn-ea"/>
                          <a:cs typeface="+mn-cs"/>
                        </a:rPr>
                        <a:t>정책 </a:t>
                      </a:r>
                      <a:r>
                        <a:rPr lang="ko-KR" altLang="en-US" sz="1200" strike="noStrike" kern="1200" baseline="0" dirty="0" err="1">
                          <a:solidFill>
                            <a:srgbClr val="0000FF"/>
                          </a:solidFill>
                          <a:effectLst/>
                          <a:latin typeface="+mn-lt"/>
                          <a:ea typeface="+mn-ea"/>
                          <a:cs typeface="+mn-cs"/>
                        </a:rPr>
                        <a:t>변경점이</a:t>
                      </a:r>
                      <a:r>
                        <a:rPr lang="ko-KR" altLang="en-US" sz="1200" strike="noStrike" kern="1200" baseline="0" dirty="0">
                          <a:solidFill>
                            <a:srgbClr val="0000FF"/>
                          </a:solidFill>
                          <a:effectLst/>
                          <a:latin typeface="+mn-lt"/>
                          <a:ea typeface="+mn-ea"/>
                          <a:cs typeface="+mn-cs"/>
                        </a:rPr>
                        <a:t> </a:t>
                      </a:r>
                      <a:r>
                        <a:rPr lang="en-US" altLang="ko-KR" sz="1200" strike="noStrike" kern="1200" baseline="0" dirty="0">
                          <a:solidFill>
                            <a:srgbClr val="0000FF"/>
                          </a:solidFill>
                          <a:effectLst/>
                          <a:latin typeface="+mn-lt"/>
                          <a:ea typeface="+mn-ea"/>
                          <a:cs typeface="+mn-cs"/>
                        </a:rPr>
                        <a:t>Control Plane 1</a:t>
                      </a:r>
                      <a:r>
                        <a:rPr lang="ko-KR" altLang="en-US" sz="1200" strike="noStrike" kern="1200" baseline="0" dirty="0">
                          <a:solidFill>
                            <a:srgbClr val="0000FF"/>
                          </a:solidFill>
                          <a:effectLst/>
                          <a:latin typeface="+mn-lt"/>
                          <a:ea typeface="+mn-ea"/>
                          <a:cs typeface="+mn-cs"/>
                        </a:rPr>
                        <a:t>곳 </a:t>
                      </a:r>
                      <a:r>
                        <a:rPr lang="en-US" altLang="ko-KR" sz="1200" strike="noStrike" kern="1200" baseline="0" dirty="0">
                          <a:solidFill>
                            <a:srgbClr val="0000FF"/>
                          </a:solidFill>
                          <a:effectLst/>
                          <a:latin typeface="+mn-lt"/>
                          <a:ea typeface="+mn-ea"/>
                          <a:cs typeface="+mn-cs"/>
                        </a:rPr>
                        <a:t>-&gt; Executor </a:t>
                      </a:r>
                      <a:r>
                        <a:rPr lang="ko-KR" altLang="en-US" sz="1200" strike="noStrike" kern="1200" baseline="0" dirty="0" err="1">
                          <a:solidFill>
                            <a:srgbClr val="0000FF"/>
                          </a:solidFill>
                          <a:effectLst/>
                          <a:latin typeface="+mn-lt"/>
                          <a:ea typeface="+mn-ea"/>
                          <a:cs typeface="+mn-cs"/>
                        </a:rPr>
                        <a:t>무영향</a:t>
                      </a:r>
                      <a:r>
                        <a:rPr lang="ko-KR" altLang="en-US" sz="1200" strike="noStrike" kern="1200" baseline="0" dirty="0">
                          <a:solidFill>
                            <a:srgbClr val="0000FF"/>
                          </a:solidFill>
                          <a:effectLst/>
                          <a:latin typeface="+mn-lt"/>
                          <a:ea typeface="+mn-ea"/>
                          <a:cs typeface="+mn-cs"/>
                        </a:rPr>
                        <a:t> </a:t>
                      </a:r>
                      <a:r>
                        <a:rPr lang="en-US" altLang="ko-KR" sz="1200" strike="noStrike" kern="1200" baseline="0" dirty="0">
                          <a:solidFill>
                            <a:srgbClr val="0000FF"/>
                          </a:solidFill>
                          <a:effectLst/>
                          <a:latin typeface="+mn-lt"/>
                          <a:ea typeface="+mn-ea"/>
                          <a:cs typeface="+mn-cs"/>
                        </a:rPr>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판단이 </a:t>
                      </a:r>
                      <a:r>
                        <a:rPr lang="en-US" altLang="ko-KR" sz="1200" strike="noStrike" dirty="0">
                          <a:solidFill>
                            <a:schemeClr val="tx1"/>
                          </a:solidFill>
                          <a:effectLst/>
                        </a:rPr>
                        <a:t>snapshot </a:t>
                      </a:r>
                      <a:r>
                        <a:rPr lang="ko-KR" altLang="en-US" sz="1200" strike="noStrike" dirty="0">
                          <a:solidFill>
                            <a:schemeClr val="tx1"/>
                          </a:solidFill>
                          <a:effectLst/>
                        </a:rPr>
                        <a:t>위에서 돌아 상태 갱신</a:t>
                      </a:r>
                      <a:r>
                        <a:rPr lang="en-US" altLang="ko-KR" sz="1200" strike="noStrike" dirty="0">
                          <a:solidFill>
                            <a:schemeClr val="tx1"/>
                          </a:solidFill>
                          <a:effectLst/>
                        </a:rPr>
                        <a:t>·</a:t>
                      </a:r>
                      <a:r>
                        <a:rPr lang="ko-KR" altLang="en-US" sz="1200" strike="noStrike" dirty="0">
                          <a:solidFill>
                            <a:schemeClr val="tx1"/>
                          </a:solidFill>
                          <a:effectLst/>
                        </a:rPr>
                        <a:t>수집과 경합 없음 → </a:t>
                      </a:r>
                      <a:r>
                        <a:rPr lang="en-US" altLang="ko-KR" sz="1200" strike="noStrike" dirty="0">
                          <a:solidFill>
                            <a:schemeClr val="tx1"/>
                          </a:solidFill>
                          <a:effectLst/>
                        </a:rPr>
                        <a:t>event </a:t>
                      </a:r>
                      <a:r>
                        <a:rPr lang="en-US" altLang="ko-KR" sz="1200" strike="noStrike" dirty="0" err="1">
                          <a:solidFill>
                            <a:schemeClr val="tx1"/>
                          </a:solidFill>
                          <a:effectLst/>
                        </a:rPr>
                        <a:t>backlog·TPOT</a:t>
                      </a:r>
                      <a:r>
                        <a:rPr lang="en-US" altLang="ko-KR" sz="1200" strike="noStrike" dirty="0">
                          <a:solidFill>
                            <a:schemeClr val="tx1"/>
                          </a:solidFill>
                          <a:effectLst/>
                        </a:rPr>
                        <a:t> </a:t>
                      </a:r>
                      <a:r>
                        <a:rPr lang="ko-KR" altLang="en-US" sz="1200" strike="noStrike" dirty="0">
                          <a:solidFill>
                            <a:schemeClr val="tx1"/>
                          </a:solidFill>
                          <a:effectLst/>
                        </a:rPr>
                        <a:t>간섭 격리</a:t>
                      </a:r>
                      <a:r>
                        <a:rPr lang="en-US" altLang="ko-KR" sz="1200" strike="noStrike" dirty="0">
                          <a:solidFill>
                            <a:schemeClr val="tx1"/>
                          </a:solidFill>
                          <a:effectLst/>
                        </a:rPr>
                        <a:t>, </a:t>
                      </a:r>
                      <a:r>
                        <a:rPr lang="ko-KR" altLang="en-US" sz="1200" strike="noStrike" dirty="0">
                          <a:solidFill>
                            <a:schemeClr val="tx1"/>
                          </a:solidFill>
                          <a:effectLst/>
                        </a:rPr>
                        <a:t>판단 스레드를 </a:t>
                      </a:r>
                      <a:r>
                        <a:rPr lang="ko-KR" altLang="en-US" sz="1200" strike="noStrike" dirty="0" err="1">
                          <a:solidFill>
                            <a:schemeClr val="tx1"/>
                          </a:solidFill>
                          <a:effectLst/>
                        </a:rPr>
                        <a:t>서빙</a:t>
                      </a:r>
                      <a:r>
                        <a:rPr lang="ko-KR" altLang="en-US" sz="1200" strike="noStrike" dirty="0">
                          <a:solidFill>
                            <a:schemeClr val="tx1"/>
                          </a:solidFill>
                          <a:effectLst/>
                        </a:rPr>
                        <a:t> 코어와 분리 배치 가능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정책 교체</a:t>
                      </a:r>
                      <a:r>
                        <a:rPr lang="en-US" altLang="ko-KR" sz="1200" strike="noStrike" dirty="0">
                          <a:solidFill>
                            <a:schemeClr val="tx1"/>
                          </a:solidFill>
                          <a:effectLst/>
                        </a:rPr>
                        <a:t>·</a:t>
                      </a:r>
                      <a:r>
                        <a:rPr lang="ko-KR" altLang="en-US" sz="1200" strike="noStrike" dirty="0">
                          <a:solidFill>
                            <a:schemeClr val="tx1"/>
                          </a:solidFill>
                          <a:effectLst/>
                        </a:rPr>
                        <a:t>추가가 </a:t>
                      </a:r>
                      <a:r>
                        <a:rPr lang="en-US" altLang="ko-KR" sz="1200" strike="noStrike" dirty="0">
                          <a:solidFill>
                            <a:schemeClr val="tx1"/>
                          </a:solidFill>
                          <a:effectLst/>
                        </a:rPr>
                        <a:t>Control</a:t>
                      </a:r>
                      <a:r>
                        <a:rPr lang="ko-KR" altLang="en-US" sz="1200" strike="noStrike" dirty="0">
                          <a:solidFill>
                            <a:schemeClr val="tx1"/>
                          </a:solidFill>
                          <a:effectLst/>
                        </a:rPr>
                        <a:t>에 </a:t>
                      </a:r>
                      <a:r>
                        <a:rPr lang="ko-KR" altLang="en-US" sz="1200" strike="noStrike" dirty="0" err="1">
                          <a:solidFill>
                            <a:schemeClr val="tx1"/>
                          </a:solidFill>
                          <a:effectLst/>
                        </a:rPr>
                        <a:t>국소화</a:t>
                      </a:r>
                      <a:r>
                        <a:rPr lang="en-US" altLang="ko-KR" sz="1200" strike="noStrike" dirty="0">
                          <a:solidFill>
                            <a:schemeClr val="tx1"/>
                          </a:solidFill>
                          <a:effectLst/>
                        </a:rPr>
                        <a:t>, </a:t>
                      </a:r>
                      <a:r>
                        <a:rPr lang="ko-KR" altLang="en-US" sz="1200" strike="noStrike" dirty="0">
                          <a:solidFill>
                            <a:schemeClr val="tx1"/>
                          </a:solidFill>
                          <a:effectLst/>
                        </a:rPr>
                        <a:t>상태 서비스는 불변 </a:t>
                      </a:r>
                      <a:r>
                        <a:rPr lang="en-US" altLang="ko-KR" sz="1200" strike="noStrike" dirty="0">
                          <a:solidFill>
                            <a:schemeClr val="tx1"/>
                          </a:solidFill>
                          <a:effectLst/>
                        </a:rPr>
                        <a:t>(Q3)</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판단과 상태를 따로 확장</a:t>
                      </a:r>
                      <a:r>
                        <a:rPr lang="en-US" altLang="ko-KR" sz="1200" strike="noStrike" dirty="0">
                          <a:solidFill>
                            <a:schemeClr val="tx1"/>
                          </a:solidFill>
                          <a:effectLst/>
                        </a:rPr>
                        <a:t>·</a:t>
                      </a:r>
                      <a:r>
                        <a:rPr lang="ko-KR" altLang="en-US" sz="1200" strike="noStrike" dirty="0">
                          <a:solidFill>
                            <a:schemeClr val="tx1"/>
                          </a:solidFill>
                          <a:effectLst/>
                        </a:rPr>
                        <a:t>교체 가능 </a:t>
                      </a:r>
                      <a:r>
                        <a:rPr lang="en-US" altLang="ko-KR" sz="1200" strike="noStrike" dirty="0">
                          <a:solidFill>
                            <a:schemeClr val="tx1"/>
                          </a:solidFill>
                          <a:effectLst/>
                        </a:rPr>
                        <a:t>(Q4)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정책 변경이 상태 서비스 수정으로 이어져 변경 영향 큼 </a:t>
                      </a:r>
                      <a:r>
                        <a:rPr lang="en-US" altLang="ko-KR" sz="1200" dirty="0"/>
                        <a:t>(QA3)</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상태 저장과 판단이 한 서비스에 결합 → 판단 중 상태 갱신이 막혀 </a:t>
                      </a:r>
                      <a:r>
                        <a:rPr lang="en-US" altLang="ko-KR" sz="1200" dirty="0"/>
                        <a:t>event </a:t>
                      </a:r>
                      <a:r>
                        <a:rPr lang="ko-KR" altLang="en-US" sz="1200" dirty="0"/>
                        <a:t>지연 </a:t>
                      </a:r>
                      <a:r>
                        <a:rPr lang="en-US" altLang="ko-KR" sz="1200" dirty="0"/>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err="1"/>
                        <a:t>Tier·object</a:t>
                      </a:r>
                      <a:r>
                        <a:rPr lang="en-US" altLang="ko-KR" sz="1200" dirty="0"/>
                        <a:t> </a:t>
                      </a:r>
                      <a:r>
                        <a:rPr lang="ko-KR" altLang="en-US" sz="1200" dirty="0"/>
                        <a:t>증가 시 단일 병목 </a:t>
                      </a:r>
                      <a:r>
                        <a:rPr lang="en-US" altLang="ko-KR" sz="1200" dirty="0"/>
                        <a:t>(Q4)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Snapshot age</a:t>
                      </a:r>
                      <a:r>
                        <a:rPr lang="ko-KR" altLang="en-US" sz="1200" dirty="0"/>
                        <a:t>만큼 </a:t>
                      </a:r>
                      <a:r>
                        <a:rPr lang="en-US" altLang="ko-KR" sz="1200" dirty="0"/>
                        <a:t>stale → HBM </a:t>
                      </a:r>
                      <a:r>
                        <a:rPr lang="ko-KR" altLang="en-US" sz="1200" dirty="0"/>
                        <a:t>확보 지연</a:t>
                      </a:r>
                      <a:r>
                        <a:rPr lang="en-US" altLang="ko-KR" sz="1200" dirty="0"/>
                        <a:t>, stale </a:t>
                      </a:r>
                      <a:r>
                        <a:rPr lang="ko-KR" altLang="en-US" sz="1200" dirty="0"/>
                        <a:t>판단의 이동 거절</a:t>
                      </a:r>
                      <a:r>
                        <a:rPr lang="en-US" altLang="ko-KR" sz="1200" dirty="0"/>
                        <a:t>·</a:t>
                      </a:r>
                      <a:r>
                        <a:rPr lang="ko-KR" altLang="en-US" sz="1200" dirty="0"/>
                        <a:t>재시도 </a:t>
                      </a:r>
                      <a:r>
                        <a:rPr lang="en-US" altLang="ko-KR" sz="1200" dirty="0"/>
                        <a:t>(Q1·Q2)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snapshot </a:t>
                      </a:r>
                      <a:r>
                        <a:rPr lang="ko-KR" altLang="en-US" sz="1200" dirty="0"/>
                        <a:t>생성 비용</a:t>
                      </a:r>
                      <a:r>
                        <a:rPr lang="en-US" altLang="ko-KR" sz="1200" dirty="0"/>
                        <a:t>(object </a:t>
                      </a:r>
                      <a:r>
                        <a:rPr lang="ko-KR" altLang="en-US" sz="1200" dirty="0"/>
                        <a:t>수 비례</a:t>
                      </a:r>
                      <a:r>
                        <a:rPr lang="en-US" altLang="ko-KR" sz="1200" dirty="0"/>
                        <a:t>), query </a:t>
                      </a:r>
                      <a:r>
                        <a:rPr lang="ko-KR" altLang="en-US" sz="1200" dirty="0"/>
                        <a:t>스키마 유지 비용</a:t>
                      </a:r>
                      <a:endParaRPr lang="en-US" altLang="ko-KR" sz="1200"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177</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이동을 어디서 결정할 것인가</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430887"/>
          </a:xfrm>
          <a:prstGeom prst="rect">
            <a:avLst/>
          </a:prstGeom>
          <a:noFill/>
        </p:spPr>
        <p:txBody>
          <a:bodyPr wrap="square" rtlCol="0">
            <a:spAutoFit/>
          </a:bodyPr>
          <a:lstStyle/>
          <a:p>
            <a:r>
              <a:rPr lang="en-US" altLang="ko-KR" sz="1100" dirty="0"/>
              <a:t>“Resource Plane</a:t>
            </a:r>
            <a:r>
              <a:rPr lang="ko-KR" altLang="en-US" sz="1100" dirty="0"/>
              <a:t>에서 상태를 관측하고 곧바로 이동을 결정</a:t>
            </a:r>
            <a:r>
              <a:rPr lang="en-US" altLang="ko-KR" sz="1100" dirty="0"/>
              <a:t>“</a:t>
            </a:r>
          </a:p>
          <a:p>
            <a:r>
              <a:rPr lang="ko-KR" altLang="en-US" sz="1100" dirty="0"/>
              <a:t>메모리 자원 상태에 우선한 이동</a:t>
            </a:r>
            <a:endParaRPr lang="en-US" altLang="ko-KR" sz="1100" dirty="0"/>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en-US" altLang="ko-KR" sz="1100" dirty="0"/>
              <a:t>“Resource Plane</a:t>
            </a:r>
            <a:r>
              <a:rPr lang="ko-KR" altLang="en-US" sz="1100" dirty="0"/>
              <a:t>은 상태 관측만 하고 </a:t>
            </a:r>
            <a:r>
              <a:rPr lang="en-US" altLang="ko-KR" sz="1100" dirty="0"/>
              <a:t>Control Plane</a:t>
            </a:r>
            <a:r>
              <a:rPr lang="ko-KR" altLang="en-US" sz="1100" dirty="0"/>
              <a:t>에서 이동을 결정</a:t>
            </a:r>
            <a:r>
              <a:rPr lang="en-US" altLang="ko-KR" sz="1100" dirty="0"/>
              <a:t>“</a:t>
            </a:r>
          </a:p>
          <a:p>
            <a:r>
              <a:rPr lang="ko-KR" altLang="en-US" sz="1100" dirty="0"/>
              <a:t>데이터 특성에 우선한 이동 </a:t>
            </a:r>
          </a:p>
        </p:txBody>
      </p:sp>
      <p:sp>
        <p:nvSpPr>
          <p:cNvPr id="238" name="DecisionPlane"/>
          <p:cNvSpPr/>
          <p:nvPr/>
        </p:nvSpPr>
        <p:spPr>
          <a:xfrm>
            <a:off x="6820386" y="3161999"/>
            <a:ext cx="2552835" cy="98248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6820386" y="3054289"/>
            <a:ext cx="251696" cy="103767"/>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52" name="KV Cache Manager"/>
            <p:cNvSpPr/>
            <p:nvPr/>
          </p:nvSpPr>
          <p:spPr>
            <a:xfrm>
              <a:off x="4493949" y="3060767"/>
              <a:ext cx="1409091" cy="2809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solid"/>
            <a:tailEnd type="arrow"/>
          </a:ln>
        </p:spPr>
      </p:cxnSp>
      <p:sp>
        <p:nvSpPr>
          <p:cNvPr id="262" name="KV Cache Manager"/>
          <p:cNvSpPr/>
          <p:nvPr/>
        </p:nvSpPr>
        <p:spPr>
          <a:xfrm>
            <a:off x="6907351" y="4305333"/>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264" name="① Event"/>
          <p:cNvCxnSpPr>
            <a:stCxn id="262" idx="0"/>
            <a:endCxn id="238" idx="2"/>
          </p:cNvCxnSpPr>
          <p:nvPr/>
        </p:nvCxnSpPr>
        <p:spPr>
          <a:xfrm flipH="1" flipV="1">
            <a:off x="8096804" y="4144479"/>
            <a:ext cx="521" cy="160854"/>
          </a:xfrm>
          <a:prstGeom prst="line">
            <a:avLst/>
          </a:prstGeom>
          <a:ln w="9525">
            <a:solidFill>
              <a:schemeClr val="tx1"/>
            </a:solidFill>
            <a:prstDash val="dash"/>
            <a:tailEnd type="arrow"/>
          </a:ln>
        </p:spPr>
      </p:cxnSp>
      <p:sp>
        <p:nvSpPr>
          <p:cNvPr id="230" name="DecisionPlane"/>
          <p:cNvSpPr/>
          <p:nvPr/>
        </p:nvSpPr>
        <p:spPr>
          <a:xfrm>
            <a:off x="6819037" y="2028349"/>
            <a:ext cx="4919889" cy="920209"/>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922402"/>
            <a:ext cx="251696" cy="109458"/>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cxnSp>
        <p:nvCxnSpPr>
          <p:cNvPr id="348" name="① Event"/>
          <p:cNvCxnSpPr/>
          <p:nvPr/>
        </p:nvCxnSpPr>
        <p:spPr>
          <a:xfrm>
            <a:off x="10959365" y="2708231"/>
            <a:ext cx="0" cy="846390"/>
          </a:xfrm>
          <a:prstGeom prst="line">
            <a:avLst/>
          </a:prstGeom>
          <a:ln w="9525">
            <a:solidFill>
              <a:schemeClr val="tx1"/>
            </a:solidFill>
            <a:prstDash val="dash"/>
            <a:tailEnd type="arrow"/>
          </a:ln>
        </p:spPr>
      </p:cxn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884299"/>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090182"/>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3"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rId4"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5"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47" name="Oval 159">
            <a:extLst>
              <a:ext uri="{FF2B5EF4-FFF2-40B4-BE49-F238E27FC236}">
                <a16:creationId xmlns:a16="http://schemas.microsoft.com/office/drawing/2014/main" id="{AB4D4D55-EE48-4E28-99D2-3EBEAF8A3AB6}"/>
              </a:ext>
            </a:extLst>
          </p:cNvPr>
          <p:cNvSpPr/>
          <p:nvPr/>
        </p:nvSpPr>
        <p:spPr>
          <a:xfrm>
            <a:off x="10980786" y="30630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49" name="Oval 159">
            <a:extLst>
              <a:ext uri="{FF2B5EF4-FFF2-40B4-BE49-F238E27FC236}">
                <a16:creationId xmlns:a16="http://schemas.microsoft.com/office/drawing/2014/main" id="{05F633F7-2F16-49BE-8A23-5F0C8B977B2C}"/>
              </a:ext>
            </a:extLst>
          </p:cNvPr>
          <p:cNvSpPr/>
          <p:nvPr/>
        </p:nvSpPr>
        <p:spPr>
          <a:xfrm>
            <a:off x="10653209" y="379845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63" name="KV Cache Manager"/>
          <p:cNvSpPr/>
          <p:nvPr/>
        </p:nvSpPr>
        <p:spPr>
          <a:xfrm>
            <a:off x="1212090" y="3486216"/>
            <a:ext cx="2163589"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164" name="① Event"/>
          <p:cNvCxnSpPr>
            <a:stCxn id="163" idx="0"/>
          </p:cNvCxnSpPr>
          <p:nvPr/>
        </p:nvCxnSpPr>
        <p:spPr>
          <a:xfrm flipV="1">
            <a:off x="2293885" y="3215610"/>
            <a:ext cx="0" cy="257720"/>
          </a:xfrm>
          <a:prstGeom prst="line">
            <a:avLst/>
          </a:prstGeom>
          <a:ln w="9525">
            <a:solidFill>
              <a:schemeClr val="tx1"/>
            </a:solidFill>
            <a:prstDash val="dash"/>
            <a:tailEnd type="arrow"/>
          </a:ln>
        </p:spPr>
      </p:cxnSp>
      <p:sp>
        <p:nvSpPr>
          <p:cNvPr id="170" name="실행 단추: 앞으로 또는 다음 169">
            <a:hlinkClick r:id="rId6" action="ppaction://hlinksldjump" highlightClick="1"/>
          </p:cNvPr>
          <p:cNvSpPr/>
          <p:nvPr/>
        </p:nvSpPr>
        <p:spPr>
          <a:xfrm>
            <a:off x="597150" y="3152133"/>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a:extLst>
              <a:ext uri="{FF2B5EF4-FFF2-40B4-BE49-F238E27FC236}">
                <a16:creationId xmlns:a16="http://schemas.microsoft.com/office/drawing/2014/main" id="{35AE09D4-AEA2-4131-A8A7-2642EC8AE3CE}"/>
              </a:ext>
            </a:extLst>
          </p:cNvPr>
          <p:cNvGrpSpPr/>
          <p:nvPr/>
        </p:nvGrpSpPr>
        <p:grpSpPr>
          <a:xfrm>
            <a:off x="269738" y="3503821"/>
            <a:ext cx="822008" cy="1106192"/>
            <a:chOff x="269738" y="3554621"/>
            <a:chExt cx="822008" cy="1106192"/>
          </a:xfrm>
        </p:grpSpPr>
        <p:sp>
          <p:nvSpPr>
            <p:cNvPr id="184" name="KV Cache Manager">
              <a:extLst>
                <a:ext uri="{FF2B5EF4-FFF2-40B4-BE49-F238E27FC236}">
                  <a16:creationId xmlns:a16="http://schemas.microsoft.com/office/drawing/2014/main" id="{7EC765EE-7364-4ED8-8648-CF058ABEB2F5}"/>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85" name="KV Cache Manager">
              <a:extLst>
                <a:ext uri="{FF2B5EF4-FFF2-40B4-BE49-F238E27FC236}">
                  <a16:creationId xmlns:a16="http://schemas.microsoft.com/office/drawing/2014/main" id="{CD65D1AD-FBC8-45AB-A99E-D572E315D7C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86" name="KV Cache Manager">
              <a:extLst>
                <a:ext uri="{FF2B5EF4-FFF2-40B4-BE49-F238E27FC236}">
                  <a16:creationId xmlns:a16="http://schemas.microsoft.com/office/drawing/2014/main" id="{FB7AF9AC-DA2C-4E57-A8E2-DFB4F10C25AF}"/>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87" name="직사각형 186">
              <a:extLst>
                <a:ext uri="{FF2B5EF4-FFF2-40B4-BE49-F238E27FC236}">
                  <a16:creationId xmlns:a16="http://schemas.microsoft.com/office/drawing/2014/main" id="{7120530C-2B1D-42F1-A50E-B319829F4F9E}"/>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89" name="KV Cache Manager">
              <a:extLst>
                <a:ext uri="{FF2B5EF4-FFF2-40B4-BE49-F238E27FC236}">
                  <a16:creationId xmlns:a16="http://schemas.microsoft.com/office/drawing/2014/main" id="{CB336F26-629B-4FD2-9C8D-092385750622}"/>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grpSp>
        <p:nvGrpSpPr>
          <p:cNvPr id="35" name="그룹 34"/>
          <p:cNvGrpSpPr/>
          <p:nvPr/>
        </p:nvGrpSpPr>
        <p:grpSpPr>
          <a:xfrm>
            <a:off x="1611863" y="2214643"/>
            <a:ext cx="4410210" cy="877823"/>
            <a:chOff x="488690" y="4075944"/>
            <a:chExt cx="4851231" cy="877823"/>
          </a:xfrm>
        </p:grpSpPr>
        <p:sp>
          <p:nvSpPr>
            <p:cNvPr id="190" name="Rectangle 26"/>
            <p:cNvSpPr/>
            <p:nvPr/>
          </p:nvSpPr>
          <p:spPr>
            <a:xfrm>
              <a:off x="1682321" y="4075944"/>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Trend
Analyzer</a:t>
              </a:r>
            </a:p>
          </p:txBody>
        </p:sp>
        <p:sp>
          <p:nvSpPr>
            <p:cNvPr id="191" name="Rectangle 27"/>
            <p:cNvSpPr/>
            <p:nvPr/>
          </p:nvSpPr>
          <p:spPr>
            <a:xfrm>
              <a:off x="2962481" y="4075944"/>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Affinity
Mapper</a:t>
              </a:r>
            </a:p>
          </p:txBody>
        </p:sp>
        <p:sp>
          <p:nvSpPr>
            <p:cNvPr id="192" name="Rectangle 28"/>
            <p:cNvSpPr/>
            <p:nvPr/>
          </p:nvSpPr>
          <p:spPr>
            <a:xfrm>
              <a:off x="4242641" y="4075944"/>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000000"/>
                  </a:solidFill>
                  <a:latin typeface="맑은 고딕"/>
                  <a:ea typeface="맑은 고딕"/>
                  <a:cs typeface="맑은 고딕"/>
                </a:rPr>
                <a:t>Policy
Engine</a:t>
              </a:r>
            </a:p>
          </p:txBody>
        </p:sp>
        <p:sp>
          <p:nvSpPr>
            <p:cNvPr id="193" name="Rectangle 29"/>
            <p:cNvSpPr/>
            <p:nvPr/>
          </p:nvSpPr>
          <p:spPr>
            <a:xfrm>
              <a:off x="488690" y="4642871"/>
              <a:ext cx="906843"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a:solidFill>
                    <a:srgbClr val="000000"/>
                  </a:solidFill>
                  <a:latin typeface="맑은 고딕"/>
                  <a:ea typeface="맑은 고딕"/>
                  <a:cs typeface="맑은 고딕"/>
                </a:rPr>
                <a:t>Telemetry
Collector</a:t>
              </a:r>
            </a:p>
          </p:txBody>
        </p:sp>
        <p:sp>
          <p:nvSpPr>
            <p:cNvPr id="194" name="Rectangle 30"/>
            <p:cNvSpPr/>
            <p:nvPr/>
          </p:nvSpPr>
          <p:spPr>
            <a:xfrm>
              <a:off x="1775835" y="4642871"/>
              <a:ext cx="906843"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a:solidFill>
                    <a:srgbClr val="000000"/>
                  </a:solidFill>
                  <a:latin typeface="맑은 고딕"/>
                  <a:ea typeface="맑은 고딕"/>
                  <a:cs typeface="맑은 고딕"/>
                </a:rPr>
                <a:t>State
Monitor</a:t>
              </a:r>
            </a:p>
          </p:txBody>
        </p:sp>
        <p:sp>
          <p:nvSpPr>
            <p:cNvPr id="195" name="Rectangle 31"/>
            <p:cNvSpPr/>
            <p:nvPr/>
          </p:nvSpPr>
          <p:spPr>
            <a:xfrm>
              <a:off x="2960777" y="4642871"/>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err="1">
                  <a:solidFill>
                    <a:srgbClr val="000000"/>
                  </a:solidFill>
                  <a:latin typeface="맑은 고딕"/>
                  <a:ea typeface="맑은 고딕"/>
                  <a:cs typeface="맑은 고딕"/>
                </a:rPr>
                <a:t>Memory·Data</a:t>
              </a:r>
              <a:r>
                <a:rPr sz="800" b="1" dirty="0">
                  <a:solidFill>
                    <a:srgbClr val="000000"/>
                  </a:solidFill>
                  <a:latin typeface="맑은 고딕"/>
                  <a:ea typeface="맑은 고딕"/>
                  <a:cs typeface="맑은 고딕"/>
                </a:rPr>
                <a:t>
Object Registry</a:t>
              </a:r>
            </a:p>
          </p:txBody>
        </p:sp>
        <p:cxnSp>
          <p:nvCxnSpPr>
            <p:cNvPr id="196" name="Connector 32"/>
            <p:cNvCxnSpPr>
              <a:stCxn id="193" idx="3"/>
              <a:endCxn id="194" idx="1"/>
            </p:cNvCxnSpPr>
            <p:nvPr/>
          </p:nvCxnSpPr>
          <p:spPr>
            <a:xfrm>
              <a:off x="1395533" y="4798319"/>
              <a:ext cx="380302" cy="0"/>
            </a:xfrm>
            <a:prstGeom prst="line">
              <a:avLst/>
            </a:prstGeom>
            <a:ln w="9525">
              <a:solidFill>
                <a:schemeClr val="tx1"/>
              </a:solidFill>
              <a:prstDash val="solid"/>
              <a:tailEnd type="arrow"/>
            </a:ln>
          </p:spPr>
        </p:cxnSp>
        <p:cxnSp>
          <p:nvCxnSpPr>
            <p:cNvPr id="198" name="Connector 33"/>
            <p:cNvCxnSpPr/>
            <p:nvPr/>
          </p:nvCxnSpPr>
          <p:spPr>
            <a:xfrm>
              <a:off x="2779600" y="4267968"/>
              <a:ext cx="182881" cy="0"/>
            </a:xfrm>
            <a:prstGeom prst="line">
              <a:avLst/>
            </a:prstGeom>
            <a:ln w="9525">
              <a:solidFill>
                <a:schemeClr val="tx1"/>
              </a:solidFill>
              <a:prstDash val="solid"/>
              <a:tailEnd type="arrow"/>
            </a:ln>
          </p:spPr>
        </p:cxnSp>
        <p:cxnSp>
          <p:nvCxnSpPr>
            <p:cNvPr id="199" name="Connector 34"/>
            <p:cNvCxnSpPr/>
            <p:nvPr/>
          </p:nvCxnSpPr>
          <p:spPr>
            <a:xfrm>
              <a:off x="4059761" y="4267968"/>
              <a:ext cx="182880" cy="0"/>
            </a:xfrm>
            <a:prstGeom prst="line">
              <a:avLst/>
            </a:prstGeom>
            <a:ln w="9525">
              <a:solidFill>
                <a:schemeClr val="tx1"/>
              </a:solidFill>
              <a:prstDash val="solid"/>
              <a:tailEnd type="arrow"/>
            </a:ln>
          </p:spPr>
        </p:cxnSp>
      </p:grpSp>
      <p:cxnSp>
        <p:nvCxnSpPr>
          <p:cNvPr id="200" name="Connector 36"/>
          <p:cNvCxnSpPr>
            <a:stCxn id="194" idx="0"/>
            <a:endCxn id="190" idx="2"/>
          </p:cNvCxnSpPr>
          <p:nvPr/>
        </p:nvCxnSpPr>
        <p:spPr>
          <a:xfrm flipV="1">
            <a:off x="3194197" y="2598691"/>
            <a:ext cx="1549" cy="182879"/>
          </a:xfrm>
          <a:prstGeom prst="line">
            <a:avLst/>
          </a:prstGeom>
          <a:ln w="9525">
            <a:solidFill>
              <a:schemeClr val="tx1"/>
            </a:solidFill>
            <a:prstDash val="solid"/>
            <a:tailEnd type="arrow"/>
          </a:ln>
        </p:spPr>
      </p:cxnSp>
      <p:sp>
        <p:nvSpPr>
          <p:cNvPr id="202" name="DecisionPlane tab"/>
          <p:cNvSpPr/>
          <p:nvPr/>
        </p:nvSpPr>
        <p:spPr>
          <a:xfrm>
            <a:off x="1209723" y="1834318"/>
            <a:ext cx="251696" cy="99839"/>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42" name="그룹 41"/>
          <p:cNvGrpSpPr/>
          <p:nvPr/>
        </p:nvGrpSpPr>
        <p:grpSpPr>
          <a:xfrm>
            <a:off x="4215889" y="3362796"/>
            <a:ext cx="1858865" cy="1119167"/>
            <a:chOff x="4215889" y="3362796"/>
            <a:chExt cx="1858865" cy="1119167"/>
          </a:xfrm>
        </p:grpSpPr>
        <p:grpSp>
          <p:nvGrpSpPr>
            <p:cNvPr id="11" name="그룹 10"/>
            <p:cNvGrpSpPr/>
            <p:nvPr/>
          </p:nvGrpSpPr>
          <p:grpSpPr>
            <a:xfrm>
              <a:off x="4215889" y="3362796"/>
              <a:ext cx="1858865" cy="1090142"/>
              <a:chOff x="4314807" y="3220929"/>
              <a:chExt cx="1858865" cy="1090142"/>
            </a:xfrm>
          </p:grpSpPr>
          <p:grpSp>
            <p:nvGrpSpPr>
              <p:cNvPr id="154" name="그룹 153"/>
              <p:cNvGrpSpPr/>
              <p:nvPr/>
            </p:nvGrpSpPr>
            <p:grpSpPr>
              <a:xfrm>
                <a:off x="4314807" y="3220929"/>
                <a:ext cx="1858865" cy="1090142"/>
                <a:chOff x="4168897" y="2550266"/>
                <a:chExt cx="1879320" cy="1648313"/>
              </a:xfrm>
            </p:grpSpPr>
            <p:sp>
              <p:nvSpPr>
                <p:cNvPr id="155" name="DecisionPlane"/>
                <p:cNvSpPr/>
                <p:nvPr/>
              </p:nvSpPr>
              <p:spPr>
                <a:xfrm>
                  <a:off x="4168899" y="2678901"/>
                  <a:ext cx="1879318" cy="1519678"/>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56" name="DecisionPlane tab"/>
                <p:cNvSpPr/>
                <p:nvPr/>
              </p:nvSpPr>
              <p:spPr>
                <a:xfrm>
                  <a:off x="4168897" y="2550266"/>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57" name="KV Cache Manager"/>
                <p:cNvSpPr/>
                <p:nvPr/>
              </p:nvSpPr>
              <p:spPr>
                <a:xfrm>
                  <a:off x="4447534" y="3058632"/>
                  <a:ext cx="1409091" cy="34000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58" name="KV Cache Manager"/>
                <p:cNvSpPr/>
                <p:nvPr/>
              </p:nvSpPr>
              <p:spPr>
                <a:xfrm>
                  <a:off x="4447534" y="3630862"/>
                  <a:ext cx="1409091" cy="34000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162" name="① Event"/>
              <p:cNvCxnSpPr>
                <a:stCxn id="157" idx="2"/>
                <a:endCxn id="158" idx="0"/>
              </p:cNvCxnSpPr>
              <p:nvPr/>
            </p:nvCxnSpPr>
            <p:spPr>
              <a:xfrm>
                <a:off x="5287288" y="3782012"/>
                <a:ext cx="0" cy="153589"/>
              </a:xfrm>
              <a:prstGeom prst="line">
                <a:avLst/>
              </a:prstGeom>
              <a:ln w="9525">
                <a:solidFill>
                  <a:schemeClr val="tx1"/>
                </a:solidFill>
                <a:prstDash val="solid"/>
                <a:tailEnd type="arrow"/>
              </a:ln>
            </p:spPr>
          </p:cxnSp>
        </p:grpSp>
        <p:sp>
          <p:nvSpPr>
            <p:cNvPr id="172" name="직사각형 171"/>
            <p:cNvSpPr/>
            <p:nvPr/>
          </p:nvSpPr>
          <p:spPr>
            <a:xfrm>
              <a:off x="4356214" y="4281908"/>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grpSp>
      <p:cxnSp>
        <p:nvCxnSpPr>
          <p:cNvPr id="160" name="① Event"/>
          <p:cNvCxnSpPr/>
          <p:nvPr/>
        </p:nvCxnSpPr>
        <p:spPr>
          <a:xfrm flipH="1">
            <a:off x="5749146" y="2627290"/>
            <a:ext cx="6522" cy="1025949"/>
          </a:xfrm>
          <a:prstGeom prst="line">
            <a:avLst/>
          </a:prstGeom>
          <a:ln w="9525">
            <a:solidFill>
              <a:schemeClr val="tx1"/>
            </a:solidFill>
            <a:prstDash val="dash"/>
            <a:tailEnd type="arrow"/>
          </a:ln>
        </p:spPr>
      </p:cxnSp>
      <p:sp>
        <p:nvSpPr>
          <p:cNvPr id="203" name="Oval 159">
            <a:extLst>
              <a:ext uri="{FF2B5EF4-FFF2-40B4-BE49-F238E27FC236}">
                <a16:creationId xmlns:a16="http://schemas.microsoft.com/office/drawing/2014/main" id="{DA54D0DB-719B-484E-AABC-3D8E4B4763DB}"/>
              </a:ext>
            </a:extLst>
          </p:cNvPr>
          <p:cNvSpPr/>
          <p:nvPr/>
        </p:nvSpPr>
        <p:spPr>
          <a:xfrm>
            <a:off x="3212008" y="264309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204" name="Oval 159">
            <a:extLst>
              <a:ext uri="{FF2B5EF4-FFF2-40B4-BE49-F238E27FC236}">
                <a16:creationId xmlns:a16="http://schemas.microsoft.com/office/drawing/2014/main" id="{0C2B959D-5453-4CF9-AD9F-ADF24CC585B5}"/>
              </a:ext>
            </a:extLst>
          </p:cNvPr>
          <p:cNvSpPr/>
          <p:nvPr/>
        </p:nvSpPr>
        <p:spPr>
          <a:xfrm>
            <a:off x="3681487" y="223218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cxnSp>
        <p:nvCxnSpPr>
          <p:cNvPr id="205" name="Connector 36"/>
          <p:cNvCxnSpPr>
            <a:stCxn id="195" idx="0"/>
            <a:endCxn id="191" idx="2"/>
          </p:cNvCxnSpPr>
          <p:nvPr/>
        </p:nvCxnSpPr>
        <p:spPr>
          <a:xfrm flipV="1">
            <a:off x="4357979" y="2598691"/>
            <a:ext cx="1549" cy="182879"/>
          </a:xfrm>
          <a:prstGeom prst="line">
            <a:avLst/>
          </a:prstGeom>
          <a:ln w="9525">
            <a:solidFill>
              <a:schemeClr val="tx1"/>
            </a:solidFill>
            <a:prstDash val="solid"/>
            <a:tailEnd type="arrow"/>
          </a:ln>
        </p:spPr>
      </p:cxnSp>
      <p:sp>
        <p:nvSpPr>
          <p:cNvPr id="206" name="Oval 159">
            <a:extLst>
              <a:ext uri="{FF2B5EF4-FFF2-40B4-BE49-F238E27FC236}">
                <a16:creationId xmlns:a16="http://schemas.microsoft.com/office/drawing/2014/main" id="{9A2411C3-D274-4040-B980-F387D57B7542}"/>
              </a:ext>
            </a:extLst>
          </p:cNvPr>
          <p:cNvSpPr/>
          <p:nvPr/>
        </p:nvSpPr>
        <p:spPr>
          <a:xfrm>
            <a:off x="4405977" y="26384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207" name="Oval 159">
            <a:extLst>
              <a:ext uri="{FF2B5EF4-FFF2-40B4-BE49-F238E27FC236}">
                <a16:creationId xmlns:a16="http://schemas.microsoft.com/office/drawing/2014/main" id="{355D1C60-9B6A-43EF-BEAB-7D71469C10B1}"/>
              </a:ext>
            </a:extLst>
          </p:cNvPr>
          <p:cNvSpPr/>
          <p:nvPr/>
        </p:nvSpPr>
        <p:spPr>
          <a:xfrm>
            <a:off x="5801145" y="286131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80" name="Oval 159">
            <a:extLst>
              <a:ext uri="{FF2B5EF4-FFF2-40B4-BE49-F238E27FC236}">
                <a16:creationId xmlns:a16="http://schemas.microsoft.com/office/drawing/2014/main" id="{6C742721-68C2-4FBE-B91E-B656F09A96E9}"/>
              </a:ext>
            </a:extLst>
          </p:cNvPr>
          <p:cNvSpPr/>
          <p:nvPr/>
        </p:nvSpPr>
        <p:spPr>
          <a:xfrm>
            <a:off x="4639909" y="329361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209" name="Rectangle 56"/>
          <p:cNvSpPr/>
          <p:nvPr/>
        </p:nvSpPr>
        <p:spPr>
          <a:xfrm>
            <a:off x="8173981" y="2301741"/>
            <a:ext cx="915911"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Trend
Analyzer</a:t>
            </a:r>
          </a:p>
        </p:txBody>
      </p:sp>
      <p:sp>
        <p:nvSpPr>
          <p:cNvPr id="210" name="Rectangle 57"/>
          <p:cNvSpPr/>
          <p:nvPr/>
        </p:nvSpPr>
        <p:spPr>
          <a:xfrm>
            <a:off x="9454141" y="2301741"/>
            <a:ext cx="915911"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000000"/>
                </a:solidFill>
                <a:latin typeface="맑은 고딕"/>
                <a:ea typeface="맑은 고딕"/>
                <a:cs typeface="맑은 고딕"/>
              </a:rPr>
              <a:t>Affinity
Mapper</a:t>
            </a:r>
          </a:p>
        </p:txBody>
      </p:sp>
      <p:sp>
        <p:nvSpPr>
          <p:cNvPr id="211" name="Rectangle 58"/>
          <p:cNvSpPr/>
          <p:nvPr/>
        </p:nvSpPr>
        <p:spPr>
          <a:xfrm>
            <a:off x="10734301" y="2301741"/>
            <a:ext cx="915911"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000000"/>
                </a:solidFill>
                <a:latin typeface="맑은 고딕"/>
                <a:ea typeface="맑은 고딕"/>
                <a:cs typeface="맑은 고딕"/>
              </a:rPr>
              <a:t>Policy
Engine</a:t>
            </a:r>
          </a:p>
        </p:txBody>
      </p:sp>
      <p:cxnSp>
        <p:nvCxnSpPr>
          <p:cNvPr id="213" name="Connector 60"/>
          <p:cNvCxnSpPr/>
          <p:nvPr/>
        </p:nvCxnSpPr>
        <p:spPr>
          <a:xfrm>
            <a:off x="9123278" y="2493765"/>
            <a:ext cx="297476" cy="0"/>
          </a:xfrm>
          <a:prstGeom prst="line">
            <a:avLst/>
          </a:prstGeom>
          <a:ln w="9525">
            <a:solidFill>
              <a:schemeClr val="tx1"/>
            </a:solidFill>
            <a:prstDash val="solid"/>
            <a:tailEnd type="arrow"/>
          </a:ln>
        </p:spPr>
      </p:cxnSp>
      <p:cxnSp>
        <p:nvCxnSpPr>
          <p:cNvPr id="214" name="Connector 61"/>
          <p:cNvCxnSpPr/>
          <p:nvPr/>
        </p:nvCxnSpPr>
        <p:spPr>
          <a:xfrm>
            <a:off x="10403438" y="2493765"/>
            <a:ext cx="297476" cy="0"/>
          </a:xfrm>
          <a:prstGeom prst="line">
            <a:avLst/>
          </a:prstGeom>
          <a:ln w="9525">
            <a:solidFill>
              <a:schemeClr val="tx1"/>
            </a:solidFill>
            <a:prstDash val="solid"/>
            <a:tailEnd type="arrow"/>
          </a:ln>
        </p:spPr>
      </p:cxnSp>
      <p:grpSp>
        <p:nvGrpSpPr>
          <p:cNvPr id="47" name="그룹 46"/>
          <p:cNvGrpSpPr/>
          <p:nvPr/>
        </p:nvGrpSpPr>
        <p:grpSpPr>
          <a:xfrm>
            <a:off x="7193078" y="3421626"/>
            <a:ext cx="1807440" cy="699136"/>
            <a:chOff x="6898354" y="2919679"/>
            <a:chExt cx="2187003" cy="845954"/>
          </a:xfrm>
        </p:grpSpPr>
        <p:sp>
          <p:nvSpPr>
            <p:cNvPr id="218" name="Rectangle 66"/>
            <p:cNvSpPr/>
            <p:nvPr/>
          </p:nvSpPr>
          <p:spPr>
            <a:xfrm>
              <a:off x="6898354" y="2919679"/>
              <a:ext cx="906843" cy="34198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a:solidFill>
                    <a:srgbClr val="000000"/>
                  </a:solidFill>
                  <a:latin typeface="맑은 고딕"/>
                  <a:ea typeface="맑은 고딕"/>
                  <a:cs typeface="맑은 고딕"/>
                </a:rPr>
                <a:t>Telemetry
Collector</a:t>
              </a:r>
            </a:p>
          </p:txBody>
        </p:sp>
        <p:sp>
          <p:nvSpPr>
            <p:cNvPr id="219" name="Rectangle 67"/>
            <p:cNvSpPr/>
            <p:nvPr/>
          </p:nvSpPr>
          <p:spPr>
            <a:xfrm>
              <a:off x="8178514" y="2919679"/>
              <a:ext cx="906843" cy="34198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a:solidFill>
                    <a:srgbClr val="000000"/>
                  </a:solidFill>
                  <a:latin typeface="맑은 고딕"/>
                  <a:ea typeface="맑은 고딕"/>
                  <a:cs typeface="맑은 고딕"/>
                </a:rPr>
                <a:t>State
Monitor</a:t>
              </a:r>
            </a:p>
          </p:txBody>
        </p:sp>
        <p:sp>
          <p:nvSpPr>
            <p:cNvPr id="220" name="Rectangle 68"/>
            <p:cNvSpPr/>
            <p:nvPr/>
          </p:nvSpPr>
          <p:spPr>
            <a:xfrm>
              <a:off x="7291112" y="3389449"/>
              <a:ext cx="1307032" cy="376184"/>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1" dirty="0" err="1">
                  <a:solidFill>
                    <a:srgbClr val="000000"/>
                  </a:solidFill>
                  <a:latin typeface="맑은 고딕"/>
                  <a:ea typeface="맑은 고딕"/>
                  <a:cs typeface="맑은 고딕"/>
                </a:rPr>
                <a:t>Memory·Data</a:t>
              </a:r>
              <a:r>
                <a:rPr sz="800" b="1" dirty="0">
                  <a:solidFill>
                    <a:srgbClr val="000000"/>
                  </a:solidFill>
                  <a:latin typeface="맑은 고딕"/>
                  <a:ea typeface="맑은 고딕"/>
                  <a:cs typeface="맑은 고딕"/>
                </a:rPr>
                <a:t>
Object Registry</a:t>
              </a:r>
            </a:p>
          </p:txBody>
        </p:sp>
        <p:cxnSp>
          <p:nvCxnSpPr>
            <p:cNvPr id="221" name="Connector 69"/>
            <p:cNvCxnSpPr>
              <a:endCxn id="219" idx="1"/>
            </p:cNvCxnSpPr>
            <p:nvPr/>
          </p:nvCxnSpPr>
          <p:spPr>
            <a:xfrm>
              <a:off x="7900415" y="3090672"/>
              <a:ext cx="278099"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grpSp>
      <p:cxnSp>
        <p:nvCxnSpPr>
          <p:cNvPr id="223" name="Connector 70"/>
          <p:cNvCxnSpPr>
            <a:stCxn id="219" idx="0"/>
            <a:endCxn id="209" idx="2"/>
          </p:cNvCxnSpPr>
          <p:nvPr/>
        </p:nvCxnSpPr>
        <p:spPr>
          <a:xfrm flipV="1">
            <a:off x="8625791" y="2685789"/>
            <a:ext cx="6146" cy="735837"/>
          </a:xfrm>
          <a:prstGeom prst="line">
            <a:avLst/>
          </a:prstGeom>
          <a:ln w="9525">
            <a:solidFill>
              <a:schemeClr val="tx1"/>
            </a:solidFill>
            <a:prstDash val="dash"/>
            <a:tailEnd type="arrow"/>
          </a:ln>
        </p:spPr>
      </p:cxnSp>
      <p:cxnSp>
        <p:nvCxnSpPr>
          <p:cNvPr id="226" name="Connector 71"/>
          <p:cNvCxnSpPr/>
          <p:nvPr/>
        </p:nvCxnSpPr>
        <p:spPr>
          <a:xfrm flipV="1">
            <a:off x="8618321" y="2646581"/>
            <a:ext cx="848520" cy="1278311"/>
          </a:xfrm>
          <a:prstGeom prst="bentConnector3">
            <a:avLst>
              <a:gd name="adj1" fmla="val 73199"/>
            </a:avLst>
          </a:prstGeom>
          <a:ln w="9525">
            <a:solidFill>
              <a:schemeClr val="tx1"/>
            </a:solidFill>
            <a:prstDash val="dash"/>
            <a:tailEnd type="arrow"/>
          </a:ln>
        </p:spPr>
      </p:cxnSp>
      <p:cxnSp>
        <p:nvCxnSpPr>
          <p:cNvPr id="235" name="① Event"/>
          <p:cNvCxnSpPr/>
          <p:nvPr/>
        </p:nvCxnSpPr>
        <p:spPr>
          <a:xfrm flipV="1">
            <a:off x="4655197" y="3133083"/>
            <a:ext cx="0" cy="501107"/>
          </a:xfrm>
          <a:prstGeom prst="line">
            <a:avLst/>
          </a:prstGeom>
          <a:ln w="9525">
            <a:solidFill>
              <a:schemeClr val="tx1"/>
            </a:solidFill>
            <a:prstDash val="dash"/>
            <a:tailEnd type="arrow"/>
          </a:ln>
        </p:spPr>
      </p:cxnSp>
      <p:sp>
        <p:nvSpPr>
          <p:cNvPr id="237" name="Oval 159">
            <a:extLst>
              <a:ext uri="{FF2B5EF4-FFF2-40B4-BE49-F238E27FC236}">
                <a16:creationId xmlns:a16="http://schemas.microsoft.com/office/drawing/2014/main" id="{A656EC47-6726-4DE3-BB9A-66BFE88053D0}"/>
              </a:ext>
            </a:extLst>
          </p:cNvPr>
          <p:cNvSpPr/>
          <p:nvPr/>
        </p:nvSpPr>
        <p:spPr>
          <a:xfrm>
            <a:off x="5212204" y="39157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245" name="Oval 159">
            <a:extLst>
              <a:ext uri="{FF2B5EF4-FFF2-40B4-BE49-F238E27FC236}">
                <a16:creationId xmlns:a16="http://schemas.microsoft.com/office/drawing/2014/main" id="{0C2B959D-5453-4CF9-AD9F-ADF24CC585B5}"/>
              </a:ext>
            </a:extLst>
          </p:cNvPr>
          <p:cNvSpPr/>
          <p:nvPr/>
        </p:nvSpPr>
        <p:spPr>
          <a:xfrm>
            <a:off x="8549293" y="300061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246" name="Oval 159">
            <a:extLst>
              <a:ext uri="{FF2B5EF4-FFF2-40B4-BE49-F238E27FC236}">
                <a16:creationId xmlns:a16="http://schemas.microsoft.com/office/drawing/2014/main" id="{9A2411C3-D274-4040-B980-F387D57B7542}"/>
              </a:ext>
            </a:extLst>
          </p:cNvPr>
          <p:cNvSpPr/>
          <p:nvPr/>
        </p:nvSpPr>
        <p:spPr>
          <a:xfrm>
            <a:off x="9202480" y="2328480"/>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247" name="Oval 159">
            <a:extLst>
              <a:ext uri="{FF2B5EF4-FFF2-40B4-BE49-F238E27FC236}">
                <a16:creationId xmlns:a16="http://schemas.microsoft.com/office/drawing/2014/main" id="{355D1C60-9B6A-43EF-BEAB-7D71469C10B1}"/>
              </a:ext>
            </a:extLst>
          </p:cNvPr>
          <p:cNvSpPr/>
          <p:nvPr/>
        </p:nvSpPr>
        <p:spPr>
          <a:xfrm>
            <a:off x="9152525" y="298761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cxnSp>
        <p:nvCxnSpPr>
          <p:cNvPr id="255" name="Connector 71"/>
          <p:cNvCxnSpPr>
            <a:stCxn id="252" idx="1"/>
          </p:cNvCxnSpPr>
          <p:nvPr/>
        </p:nvCxnSpPr>
        <p:spPr>
          <a:xfrm rot="10800000" flipV="1">
            <a:off x="8591426" y="3664982"/>
            <a:ext cx="1340322" cy="373574"/>
          </a:xfrm>
          <a:prstGeom prst="bentConnector3">
            <a:avLst>
              <a:gd name="adj1" fmla="val 29628"/>
            </a:avLst>
          </a:prstGeom>
          <a:ln w="9525">
            <a:solidFill>
              <a:schemeClr val="tx1"/>
            </a:solidFill>
            <a:prstDash val="dash"/>
            <a:tailEnd type="arrow"/>
          </a:ln>
        </p:spPr>
      </p:cxnSp>
      <p:sp>
        <p:nvSpPr>
          <p:cNvPr id="148" name="Oval 159">
            <a:extLst>
              <a:ext uri="{FF2B5EF4-FFF2-40B4-BE49-F238E27FC236}">
                <a16:creationId xmlns:a16="http://schemas.microsoft.com/office/drawing/2014/main" id="{A656EC47-6726-4DE3-BB9A-66BFE88053D0}"/>
              </a:ext>
            </a:extLst>
          </p:cNvPr>
          <p:cNvSpPr/>
          <p:nvPr/>
        </p:nvSpPr>
        <p:spPr>
          <a:xfrm>
            <a:off x="9442249" y="375428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Tree>
    <p:extLst>
      <p:ext uri="{BB962C8B-B14F-4D97-AF65-F5344CB8AC3E}">
        <p14:creationId xmlns:p14="http://schemas.microsoft.com/office/powerpoint/2010/main" val="102657716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0583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상태 관측과 이동 결정을 한 곳에서 </a:t>
                      </a:r>
                      <a:r>
                        <a:rPr lang="en-US" altLang="ko-KR" sz="1200" b="1" strike="noStrike" baseline="0" dirty="0"/>
                        <a:t>(</a:t>
                      </a:r>
                      <a:r>
                        <a:rPr lang="ko-KR" altLang="en-US" sz="1200" b="1" strike="noStrike" baseline="0" dirty="0"/>
                        <a:t>메모리 자원 상태 우선 결정</a:t>
                      </a:r>
                      <a:r>
                        <a:rPr lang="en-US" altLang="ko-KR" sz="1200" b="1" strike="noStrike" baseline="0" dirty="0"/>
                        <a:t>)</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r>
                        <a:rPr lang="en-US" altLang="ko-KR" sz="1200" b="1" strike="noStrike" dirty="0"/>
                        <a:t>(</a:t>
                      </a:r>
                      <a:r>
                        <a:rPr lang="ko-KR" altLang="en-US" sz="1200" b="1" strike="noStrike" dirty="0"/>
                        <a:t>데이터 특성 우선 결정</a:t>
                      </a:r>
                      <a:r>
                        <a:rPr lang="en-US" altLang="ko-KR" sz="1200" b="1" strike="noStrike" dirty="0"/>
                        <a:t>)</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 </a:t>
                      </a:r>
                      <a:r>
                        <a:rPr lang="en-US" altLang="ko-KR" sz="1200" strike="noStrike" kern="1200" baseline="0" dirty="0">
                          <a:solidFill>
                            <a:srgbClr val="0000FF"/>
                          </a:solidFill>
                          <a:effectLst/>
                          <a:latin typeface="+mn-lt"/>
                          <a:ea typeface="+mn-ea"/>
                          <a:cs typeface="+mn-cs"/>
                        </a:rPr>
                        <a:t>-&gt; HBM pressure </a:t>
                      </a:r>
                      <a:r>
                        <a:rPr lang="ko-KR" altLang="en-US" sz="1200" strike="noStrike" kern="1200" baseline="0" dirty="0">
                          <a:solidFill>
                            <a:srgbClr val="0000FF"/>
                          </a:solidFill>
                          <a:effectLst/>
                          <a:latin typeface="+mn-lt"/>
                          <a:ea typeface="+mn-ea"/>
                          <a:cs typeface="+mn-cs"/>
                        </a:rPr>
                        <a:t>대응 지연 최소 </a:t>
                      </a:r>
                      <a:r>
                        <a:rPr lang="en-US" altLang="ko-KR" sz="1200" strike="noStrike" kern="1200" baseline="0" dirty="0">
                          <a:solidFill>
                            <a:srgbClr val="0000FF"/>
                          </a:solidFill>
                          <a:effectLst/>
                          <a:latin typeface="+mn-lt"/>
                          <a:ea typeface="+mn-ea"/>
                          <a:cs typeface="+mn-cs"/>
                        </a:rPr>
                        <a:t>(QA2)</a:t>
                      </a: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rgbClr val="0000FF"/>
                          </a:solidFill>
                          <a:effectLst/>
                          <a:latin typeface="+mn-lt"/>
                          <a:ea typeface="+mn-ea"/>
                          <a:cs typeface="+mn-cs"/>
                        </a:rPr>
                        <a:t>Control &lt;-&gt; Resource </a:t>
                      </a:r>
                      <a:r>
                        <a:rPr lang="ko-KR" altLang="en-US" sz="1200" strike="noStrike" kern="1200" baseline="0" dirty="0">
                          <a:solidFill>
                            <a:srgbClr val="0000FF"/>
                          </a:solidFill>
                          <a:effectLst/>
                          <a:latin typeface="+mn-lt"/>
                          <a:ea typeface="+mn-ea"/>
                          <a:cs typeface="+mn-cs"/>
                        </a:rPr>
                        <a:t>간 요청 불필요하며 오래된 정보로 인한 이동 거절 없음</a:t>
                      </a:r>
                      <a:endParaRPr lang="en-US" altLang="ko-KR" sz="1200" strike="noStrike" kern="1200" baseline="0" dirty="0">
                        <a:solidFill>
                          <a:srgbClr val="0000FF"/>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중심 구조로</a:t>
                      </a:r>
                      <a:r>
                        <a:rPr lang="en-US" altLang="ko-KR" sz="1200" strike="noStrike" kern="1200" baseline="0" dirty="0">
                          <a:solidFill>
                            <a:schemeClr val="tx1"/>
                          </a:solidFill>
                          <a:effectLst/>
                          <a:latin typeface="+mn-lt"/>
                          <a:ea typeface="+mn-ea"/>
                          <a:cs typeface="+mn-cs"/>
                        </a:rPr>
                        <a:t> decision logic </a:t>
                      </a:r>
                      <a:r>
                        <a:rPr lang="ko-KR" altLang="en-US" sz="1200" strike="noStrike" kern="1200" baseline="0" dirty="0">
                          <a:solidFill>
                            <a:schemeClr val="tx1"/>
                          </a:solidFill>
                          <a:effectLst/>
                          <a:latin typeface="+mn-lt"/>
                          <a:ea typeface="+mn-ea"/>
                          <a:cs typeface="+mn-cs"/>
                        </a:rPr>
                        <a:t>단순 </a:t>
                      </a:r>
                      <a:r>
                        <a:rPr lang="en-US" altLang="ko-KR" sz="1200" strike="noStrike" kern="1200" baseline="0" dirty="0">
                          <a:solidFill>
                            <a:schemeClr val="tx1"/>
                          </a:solidFill>
                          <a:effectLst/>
                          <a:latin typeface="+mn-lt"/>
                          <a:ea typeface="+mn-ea"/>
                          <a:cs typeface="+mn-cs"/>
                        </a:rPr>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(QA1)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Behavior </a:t>
                      </a:r>
                      <a:r>
                        <a:rPr lang="ko-KR" altLang="en-US" sz="1200" strike="noStrike" baseline="0" dirty="0">
                          <a:solidFill>
                            <a:schemeClr val="tx1"/>
                          </a:solidFill>
                          <a:effectLst/>
                        </a:rPr>
                        <a:t>예측에 의해 </a:t>
                      </a:r>
                      <a:r>
                        <a:rPr lang="en-US" altLang="ko-KR" sz="1200" strike="noStrike" baseline="0" dirty="0">
                          <a:solidFill>
                            <a:schemeClr val="tx1"/>
                          </a:solidFill>
                          <a:effectLst/>
                        </a:rPr>
                        <a:t>idle data</a:t>
                      </a:r>
                      <a:r>
                        <a:rPr lang="ko-KR" altLang="en-US" sz="1200" strike="noStrike" baseline="0" dirty="0">
                          <a:solidFill>
                            <a:schemeClr val="tx1"/>
                          </a:solidFill>
                          <a:effectLst/>
                        </a:rPr>
                        <a:t>의 불필요한 고속 메모리 점유 가능</a:t>
                      </a:r>
                      <a:r>
                        <a:rPr lang="en-US" altLang="ko-KR" sz="1200" strike="noStrike" baseline="0" dirty="0">
                          <a:solidFill>
                            <a:schemeClr val="tx1"/>
                          </a:solidFill>
                          <a:effectLst/>
                        </a:rPr>
                        <a:t> (QA2)</a:t>
                      </a:r>
                    </a:p>
                    <a:p>
                      <a:pPr marL="228600" indent="-228600" latinLnBrk="1">
                        <a:lnSpc>
                          <a:spcPct val="100000"/>
                        </a:lnSpc>
                        <a:buFont typeface="Wingdings" panose="05000000000000000000" pitchFamily="2" charset="2"/>
                        <a:buChar char="§"/>
                      </a:pPr>
                      <a:r>
                        <a:rPr lang="ko-KR" altLang="en-US" sz="1200" dirty="0"/>
                        <a:t>신규 </a:t>
                      </a:r>
                      <a:r>
                        <a:rPr lang="en-US" altLang="ko-KR" sz="1200" dirty="0"/>
                        <a:t>workload</a:t>
                      </a:r>
                      <a:r>
                        <a:rPr lang="ko-KR" altLang="en-US" sz="1200" dirty="0"/>
                        <a:t> 추가 시 변경 영향 범위 큼 </a:t>
                      </a:r>
                      <a:r>
                        <a:rPr lang="en-US" altLang="ko-KR" sz="1200" dirty="0"/>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chemeClr val="tx1"/>
                          </a:solidFill>
                          <a:latin typeface="+mn-lt"/>
                          <a:ea typeface="맑은 고딕"/>
                        </a:rPr>
                        <a:t>☆</a:t>
                      </a:r>
                      <a:endParaRPr lang="en-US" altLang="ko-KR" sz="1200" b="0" dirty="0">
                        <a:solidFill>
                          <a:srgbClr val="0070C0"/>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178</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이동을 어디서 결정할 것인가</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430887"/>
          </a:xfrm>
          <a:prstGeom prst="rect">
            <a:avLst/>
          </a:prstGeom>
          <a:noFill/>
        </p:spPr>
        <p:txBody>
          <a:bodyPr wrap="square" rtlCol="0">
            <a:spAutoFit/>
          </a:bodyPr>
          <a:lstStyle/>
          <a:p>
            <a:r>
              <a:rPr lang="en-US" altLang="ko-KR" sz="1100" dirty="0"/>
              <a:t>“</a:t>
            </a:r>
            <a:r>
              <a:rPr lang="en-US" altLang="ko-KR" sz="1100" dirty="0">
                <a:solidFill>
                  <a:srgbClr val="0000FF"/>
                </a:solidFill>
              </a:rPr>
              <a:t>Resource Plane</a:t>
            </a:r>
            <a:r>
              <a:rPr lang="ko-KR" altLang="en-US" sz="1100" dirty="0">
                <a:solidFill>
                  <a:srgbClr val="0000FF"/>
                </a:solidFill>
              </a:rPr>
              <a:t>에서 상태를 관측과 이동을 결정</a:t>
            </a:r>
            <a:r>
              <a:rPr lang="en-US" altLang="ko-KR" sz="1100" dirty="0"/>
              <a:t>“</a:t>
            </a:r>
          </a:p>
          <a:p>
            <a:r>
              <a:rPr lang="ko-KR" altLang="en-US" sz="1100" dirty="0"/>
              <a:t>메모리 자원 상태에 우선한 이동</a:t>
            </a:r>
            <a:endParaRPr lang="en-US" altLang="ko-KR" sz="1100" dirty="0"/>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en-US" altLang="ko-KR" sz="1100" dirty="0"/>
              <a:t>“Resource Plane</a:t>
            </a:r>
            <a:r>
              <a:rPr lang="ko-KR" altLang="en-US" sz="1100" dirty="0"/>
              <a:t>은 상태 관측만 하고 </a:t>
            </a:r>
            <a:r>
              <a:rPr lang="en-US" altLang="ko-KR" sz="1100" dirty="0">
                <a:solidFill>
                  <a:srgbClr val="0000FF"/>
                </a:solidFill>
              </a:rPr>
              <a:t>Control Plane</a:t>
            </a:r>
            <a:r>
              <a:rPr lang="ko-KR" altLang="en-US" sz="1100" dirty="0">
                <a:solidFill>
                  <a:srgbClr val="0000FF"/>
                </a:solidFill>
              </a:rPr>
              <a:t>에서 이동을 결정</a:t>
            </a:r>
            <a:r>
              <a:rPr lang="en-US" altLang="ko-KR" sz="1100" dirty="0"/>
              <a:t>“</a:t>
            </a:r>
          </a:p>
          <a:p>
            <a:r>
              <a:rPr lang="ko-KR" altLang="en-US" sz="1100" dirty="0"/>
              <a:t>데이터 특성에 우선한 이동</a:t>
            </a:r>
          </a:p>
        </p:txBody>
      </p:sp>
      <p:sp>
        <p:nvSpPr>
          <p:cNvPr id="546" name="실행 단추: 앞으로 또는 다음 545">
            <a:hlinkClick r:id="rId3" action="ppaction://hlinksldjump" highlightClick="1"/>
          </p:cNvPr>
          <p:cNvSpPr/>
          <p:nvPr/>
        </p:nvSpPr>
        <p:spPr>
          <a:xfrm>
            <a:off x="-1267090" y="4861101"/>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74407" y="6079490"/>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090182"/>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4"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rId5"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6"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grpSp>
        <p:nvGrpSpPr>
          <p:cNvPr id="10" name="그룹 9">
            <a:extLst>
              <a:ext uri="{FF2B5EF4-FFF2-40B4-BE49-F238E27FC236}">
                <a16:creationId xmlns:a16="http://schemas.microsoft.com/office/drawing/2014/main" id="{35AE09D4-AEA2-4131-A8A7-2642EC8AE3CE}"/>
              </a:ext>
            </a:extLst>
          </p:cNvPr>
          <p:cNvGrpSpPr/>
          <p:nvPr/>
        </p:nvGrpSpPr>
        <p:grpSpPr>
          <a:xfrm>
            <a:off x="-1594502" y="5212789"/>
            <a:ext cx="822008" cy="1106192"/>
            <a:chOff x="269738" y="3554621"/>
            <a:chExt cx="822008" cy="1106192"/>
          </a:xfrm>
        </p:grpSpPr>
        <p:sp>
          <p:nvSpPr>
            <p:cNvPr id="105" name="KV Cache Manager">
              <a:extLst>
                <a:ext uri="{FF2B5EF4-FFF2-40B4-BE49-F238E27FC236}">
                  <a16:creationId xmlns:a16="http://schemas.microsoft.com/office/drawing/2014/main" id="{7EC765EE-7364-4ED8-8648-CF058ABEB2F5}"/>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08" name="KV Cache Manager">
              <a:extLst>
                <a:ext uri="{FF2B5EF4-FFF2-40B4-BE49-F238E27FC236}">
                  <a16:creationId xmlns:a16="http://schemas.microsoft.com/office/drawing/2014/main" id="{CD65D1AD-FBC8-45AB-A99E-D572E315D7C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09" name="KV Cache Manager">
              <a:extLst>
                <a:ext uri="{FF2B5EF4-FFF2-40B4-BE49-F238E27FC236}">
                  <a16:creationId xmlns:a16="http://schemas.microsoft.com/office/drawing/2014/main" id="{FB7AF9AC-DA2C-4E57-A8E2-DFB4F10C25AF}"/>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10" name="직사각형 109">
              <a:extLst>
                <a:ext uri="{FF2B5EF4-FFF2-40B4-BE49-F238E27FC236}">
                  <a16:creationId xmlns:a16="http://schemas.microsoft.com/office/drawing/2014/main" id="{7120530C-2B1D-42F1-A50E-B319829F4F9E}"/>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11" name="KV Cache Manager">
              <a:extLst>
                <a:ext uri="{FF2B5EF4-FFF2-40B4-BE49-F238E27FC236}">
                  <a16:creationId xmlns:a16="http://schemas.microsoft.com/office/drawing/2014/main" id="{CB336F26-629B-4FD2-9C8D-092385750622}"/>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2" name="Rectangle 20">
            <a:extLst>
              <a:ext uri="{FF2B5EF4-FFF2-40B4-BE49-F238E27FC236}">
                <a16:creationId xmlns:a16="http://schemas.microsoft.com/office/drawing/2014/main" id="{D7FE57FD-03CC-4A3F-8EB5-ACDAA9189BD8}"/>
              </a:ext>
            </a:extLst>
          </p:cNvPr>
          <p:cNvSpPr/>
          <p:nvPr/>
        </p:nvSpPr>
        <p:spPr>
          <a:xfrm>
            <a:off x="1427836" y="1836453"/>
            <a:ext cx="4950104" cy="640080"/>
          </a:xfrm>
          <a:prstGeom prst="rect">
            <a:avLst/>
          </a:prstGeom>
          <a:solidFill>
            <a:schemeClr val="bg1"/>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3" name="Rectangle 21">
            <a:extLst>
              <a:ext uri="{FF2B5EF4-FFF2-40B4-BE49-F238E27FC236}">
                <a16:creationId xmlns:a16="http://schemas.microsoft.com/office/drawing/2014/main" id="{58F95EE7-E545-48BD-BC47-26BADF4D4DDB}"/>
              </a:ext>
            </a:extLst>
          </p:cNvPr>
          <p:cNvSpPr/>
          <p:nvPr/>
        </p:nvSpPr>
        <p:spPr>
          <a:xfrm>
            <a:off x="1427836" y="1836453"/>
            <a:ext cx="4950104"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50" b="1" dirty="0">
                <a:solidFill>
                  <a:srgbClr val="FFFFFF"/>
                </a:solidFill>
                <a:latin typeface="맑은 고딕"/>
                <a:ea typeface="맑은 고딕"/>
                <a:cs typeface="맑은 고딕"/>
              </a:rPr>
              <a:t>Control Plane  (Trigger · Budget)</a:t>
            </a:r>
          </a:p>
        </p:txBody>
      </p:sp>
      <p:sp>
        <p:nvSpPr>
          <p:cNvPr id="120" name="Rectangle 22">
            <a:extLst>
              <a:ext uri="{FF2B5EF4-FFF2-40B4-BE49-F238E27FC236}">
                <a16:creationId xmlns:a16="http://schemas.microsoft.com/office/drawing/2014/main" id="{ADCF9FFF-0838-4E80-B235-F959D15E71CC}"/>
              </a:ext>
            </a:extLst>
          </p:cNvPr>
          <p:cNvSpPr/>
          <p:nvPr/>
        </p:nvSpPr>
        <p:spPr>
          <a:xfrm>
            <a:off x="1529897" y="2101629"/>
            <a:ext cx="997527" cy="34747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0" dirty="0">
                <a:solidFill>
                  <a:srgbClr val="000000"/>
                </a:solidFill>
                <a:latin typeface="맑은 고딕"/>
                <a:ea typeface="맑은 고딕"/>
                <a:cs typeface="맑은 고딕"/>
              </a:rPr>
              <a:t>Migration
Scheduler</a:t>
            </a:r>
          </a:p>
        </p:txBody>
      </p:sp>
      <p:sp>
        <p:nvSpPr>
          <p:cNvPr id="121" name="TextBox 120">
            <a:extLst>
              <a:ext uri="{FF2B5EF4-FFF2-40B4-BE49-F238E27FC236}">
                <a16:creationId xmlns:a16="http://schemas.microsoft.com/office/drawing/2014/main" id="{8F09424A-7D94-44EA-888F-296D100A327B}"/>
              </a:ext>
            </a:extLst>
          </p:cNvPr>
          <p:cNvSpPr txBox="1"/>
          <p:nvPr/>
        </p:nvSpPr>
        <p:spPr>
          <a:xfrm>
            <a:off x="2564249" y="2155673"/>
            <a:ext cx="2992353" cy="209288"/>
          </a:xfrm>
          <a:prstGeom prst="rect">
            <a:avLst/>
          </a:prstGeom>
          <a:noFill/>
        </p:spPr>
        <p:txBody>
          <a:bodyPr wrap="square" lIns="45720" tIns="27432" rIns="45720" bIns="27432" anchor="t">
            <a:spAutoFit/>
          </a:bodyPr>
          <a:lstStyle/>
          <a:p>
            <a:pPr algn="l">
              <a:spcAft>
                <a:spcPts val="200"/>
              </a:spcAft>
            </a:pPr>
            <a:r>
              <a:rPr sz="1000" b="0" dirty="0" err="1">
                <a:solidFill>
                  <a:srgbClr val="7F7F7F"/>
                </a:solidFill>
                <a:latin typeface="맑은 고딕"/>
                <a:ea typeface="맑은 고딕"/>
                <a:cs typeface="맑은 고딕"/>
              </a:rPr>
              <a:t>결정</a:t>
            </a:r>
            <a:r>
              <a:rPr sz="1000" b="0" dirty="0">
                <a:solidFill>
                  <a:srgbClr val="7F7F7F"/>
                </a:solidFill>
                <a:latin typeface="맑은 고딕"/>
                <a:ea typeface="맑은 고딕"/>
                <a:cs typeface="맑은 고딕"/>
              </a:rPr>
              <a:t> </a:t>
            </a:r>
            <a:r>
              <a:rPr sz="1000" b="0" dirty="0" err="1">
                <a:solidFill>
                  <a:srgbClr val="7F7F7F"/>
                </a:solidFill>
                <a:latin typeface="맑은 고딕"/>
                <a:ea typeface="맑은 고딕"/>
                <a:cs typeface="맑은 고딕"/>
              </a:rPr>
              <a:t>로직</a:t>
            </a:r>
            <a:r>
              <a:rPr sz="1000" b="0" dirty="0">
                <a:solidFill>
                  <a:srgbClr val="7F7F7F"/>
                </a:solidFill>
                <a:latin typeface="맑은 고딕"/>
                <a:ea typeface="맑은 고딕"/>
                <a:cs typeface="맑은 고딕"/>
              </a:rPr>
              <a:t> </a:t>
            </a:r>
            <a:r>
              <a:rPr sz="1000" b="0" dirty="0" err="1">
                <a:solidFill>
                  <a:srgbClr val="7F7F7F"/>
                </a:solidFill>
                <a:latin typeface="맑은 고딕"/>
                <a:ea typeface="맑은 고딕"/>
                <a:cs typeface="맑은 고딕"/>
              </a:rPr>
              <a:t>없음</a:t>
            </a:r>
            <a:r>
              <a:rPr sz="1000" b="0" dirty="0">
                <a:solidFill>
                  <a:srgbClr val="7F7F7F"/>
                </a:solidFill>
                <a:latin typeface="맑은 고딕"/>
                <a:ea typeface="맑은 고딕"/>
                <a:cs typeface="맑은 고딕"/>
              </a:rPr>
              <a:t>: </a:t>
            </a:r>
            <a:r>
              <a:rPr sz="1000" b="0" dirty="0" err="1">
                <a:solidFill>
                  <a:srgbClr val="7F7F7F"/>
                </a:solidFill>
                <a:latin typeface="맑은 고딕"/>
                <a:ea typeface="맑은 고딕"/>
                <a:cs typeface="맑은 고딕"/>
              </a:rPr>
              <a:t>트리거</a:t>
            </a:r>
            <a:r>
              <a:rPr sz="1000" b="0" dirty="0">
                <a:solidFill>
                  <a:srgbClr val="7F7F7F"/>
                </a:solidFill>
                <a:latin typeface="맑은 고딕"/>
                <a:ea typeface="맑은 고딕"/>
                <a:cs typeface="맑은 고딕"/>
              </a:rPr>
              <a:t> · </a:t>
            </a:r>
            <a:r>
              <a:rPr sz="1000" b="0" dirty="0" err="1">
                <a:solidFill>
                  <a:srgbClr val="7F7F7F"/>
                </a:solidFill>
                <a:latin typeface="맑은 고딕"/>
                <a:ea typeface="맑은 고딕"/>
                <a:cs typeface="맑은 고딕"/>
              </a:rPr>
              <a:t>우선순위</a:t>
            </a:r>
            <a:r>
              <a:rPr sz="1000" b="0" dirty="0">
                <a:solidFill>
                  <a:srgbClr val="7F7F7F"/>
                </a:solidFill>
                <a:latin typeface="맑은 고딕"/>
                <a:ea typeface="맑은 고딕"/>
                <a:cs typeface="맑은 고딕"/>
              </a:rPr>
              <a:t> · </a:t>
            </a:r>
            <a:r>
              <a:rPr sz="1000" b="0" dirty="0" err="1">
                <a:solidFill>
                  <a:srgbClr val="7F7F7F"/>
                </a:solidFill>
                <a:latin typeface="맑은 고딕"/>
                <a:ea typeface="맑은 고딕"/>
                <a:cs typeface="맑은 고딕"/>
              </a:rPr>
              <a:t>budget만</a:t>
            </a:r>
            <a:endParaRPr sz="1000" b="0" dirty="0">
              <a:solidFill>
                <a:srgbClr val="7F7F7F"/>
              </a:solidFill>
              <a:latin typeface="맑은 고딕"/>
              <a:ea typeface="맑은 고딕"/>
              <a:cs typeface="맑은 고딕"/>
            </a:endParaRPr>
          </a:p>
        </p:txBody>
      </p:sp>
      <p:sp>
        <p:nvSpPr>
          <p:cNvPr id="125" name="Rectangle 24">
            <a:extLst>
              <a:ext uri="{FF2B5EF4-FFF2-40B4-BE49-F238E27FC236}">
                <a16:creationId xmlns:a16="http://schemas.microsoft.com/office/drawing/2014/main" id="{88133AEC-2387-4066-9F93-7E2565991062}"/>
              </a:ext>
            </a:extLst>
          </p:cNvPr>
          <p:cNvSpPr/>
          <p:nvPr/>
        </p:nvSpPr>
        <p:spPr>
          <a:xfrm>
            <a:off x="1427836" y="2531397"/>
            <a:ext cx="4950104" cy="1207008"/>
          </a:xfrm>
          <a:prstGeom prst="rect">
            <a:avLst/>
          </a:prstGeom>
          <a:solidFill>
            <a:schemeClr val="bg1"/>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26" name="Rectangle 25">
            <a:extLst>
              <a:ext uri="{FF2B5EF4-FFF2-40B4-BE49-F238E27FC236}">
                <a16:creationId xmlns:a16="http://schemas.microsoft.com/office/drawing/2014/main" id="{7AD085F3-A7D0-41D5-9FF8-2E85F5ACAC1D}"/>
              </a:ext>
            </a:extLst>
          </p:cNvPr>
          <p:cNvSpPr/>
          <p:nvPr/>
        </p:nvSpPr>
        <p:spPr>
          <a:xfrm>
            <a:off x="1427836" y="2531397"/>
            <a:ext cx="4950104"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50" b="1" dirty="0">
                <a:solidFill>
                  <a:srgbClr val="FFFFFF"/>
                </a:solidFill>
                <a:latin typeface="맑은 고딕"/>
                <a:ea typeface="맑은 고딕"/>
                <a:cs typeface="맑은 고딕"/>
              </a:rPr>
              <a:t>Resource </a:t>
            </a:r>
            <a:r>
              <a:rPr lang="en-US" sz="1050" b="1" dirty="0">
                <a:solidFill>
                  <a:srgbClr val="FFFFFF"/>
                </a:solidFill>
                <a:latin typeface="맑은 고딕"/>
                <a:ea typeface="맑은 고딕"/>
                <a:cs typeface="맑은 고딕"/>
              </a:rPr>
              <a:t>Plane</a:t>
            </a:r>
            <a:r>
              <a:rPr sz="1050" b="1" dirty="0">
                <a:solidFill>
                  <a:srgbClr val="FFFFFF"/>
                </a:solidFill>
                <a:latin typeface="맑은 고딕"/>
                <a:ea typeface="맑은 고딕"/>
                <a:cs typeface="맑은 고딕"/>
              </a:rPr>
              <a:t>  (</a:t>
            </a:r>
            <a:r>
              <a:rPr sz="1050" b="1" dirty="0" err="1">
                <a:solidFill>
                  <a:srgbClr val="FFFFFF"/>
                </a:solidFill>
                <a:latin typeface="맑은 고딕"/>
                <a:ea typeface="맑은 고딕"/>
                <a:cs typeface="맑은 고딕"/>
              </a:rPr>
              <a:t>상태</a:t>
            </a:r>
            <a:r>
              <a:rPr sz="1050" b="1" dirty="0">
                <a:solidFill>
                  <a:srgbClr val="FFFFFF"/>
                </a:solidFill>
                <a:latin typeface="맑은 고딕"/>
                <a:ea typeface="맑은 고딕"/>
                <a:cs typeface="맑은 고딕"/>
              </a:rPr>
              <a:t> + </a:t>
            </a:r>
            <a:r>
              <a:rPr sz="1050" b="1" dirty="0" err="1">
                <a:solidFill>
                  <a:srgbClr val="FFFFFF"/>
                </a:solidFill>
                <a:latin typeface="맑은 고딕"/>
                <a:ea typeface="맑은 고딕"/>
                <a:cs typeface="맑은 고딕"/>
              </a:rPr>
              <a:t>결정</a:t>
            </a:r>
            <a:r>
              <a:rPr sz="1050" b="1" dirty="0">
                <a:solidFill>
                  <a:srgbClr val="FFFFFF"/>
                </a:solidFill>
                <a:latin typeface="맑은 고딕"/>
                <a:ea typeface="맑은 고딕"/>
                <a:cs typeface="맑은 고딕"/>
              </a:rPr>
              <a:t>)</a:t>
            </a:r>
          </a:p>
        </p:txBody>
      </p:sp>
      <p:sp>
        <p:nvSpPr>
          <p:cNvPr id="131" name="Rectangle 26">
            <a:extLst>
              <a:ext uri="{FF2B5EF4-FFF2-40B4-BE49-F238E27FC236}">
                <a16:creationId xmlns:a16="http://schemas.microsoft.com/office/drawing/2014/main" id="{F17793AC-5C40-4A96-A1FE-6C7E916E55F6}"/>
              </a:ext>
            </a:extLst>
          </p:cNvPr>
          <p:cNvSpPr/>
          <p:nvPr/>
        </p:nvSpPr>
        <p:spPr>
          <a:xfrm>
            <a:off x="2745404" y="2805717"/>
            <a:ext cx="997527"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0" dirty="0">
                <a:solidFill>
                  <a:srgbClr val="000000"/>
                </a:solidFill>
                <a:latin typeface="맑은 고딕"/>
                <a:ea typeface="맑은 고딕"/>
                <a:cs typeface="맑은 고딕"/>
              </a:rPr>
              <a:t>Trend
Analyzer</a:t>
            </a:r>
          </a:p>
        </p:txBody>
      </p:sp>
      <p:sp>
        <p:nvSpPr>
          <p:cNvPr id="132" name="Rectangle 27">
            <a:extLst>
              <a:ext uri="{FF2B5EF4-FFF2-40B4-BE49-F238E27FC236}">
                <a16:creationId xmlns:a16="http://schemas.microsoft.com/office/drawing/2014/main" id="{97DFF7ED-3B22-4308-BC71-54179C672FF6}"/>
              </a:ext>
            </a:extLst>
          </p:cNvPr>
          <p:cNvSpPr/>
          <p:nvPr/>
        </p:nvSpPr>
        <p:spPr>
          <a:xfrm>
            <a:off x="4025564" y="2805717"/>
            <a:ext cx="997527"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0" dirty="0">
                <a:solidFill>
                  <a:srgbClr val="000000"/>
                </a:solidFill>
                <a:latin typeface="맑은 고딕"/>
                <a:ea typeface="맑은 고딕"/>
                <a:cs typeface="맑은 고딕"/>
              </a:rPr>
              <a:t>Affinity
Mapper</a:t>
            </a:r>
          </a:p>
        </p:txBody>
      </p:sp>
      <p:sp>
        <p:nvSpPr>
          <p:cNvPr id="139" name="Rectangle 28">
            <a:extLst>
              <a:ext uri="{FF2B5EF4-FFF2-40B4-BE49-F238E27FC236}">
                <a16:creationId xmlns:a16="http://schemas.microsoft.com/office/drawing/2014/main" id="{8161E32A-7890-46C2-A677-D12B6967DCFF}"/>
              </a:ext>
            </a:extLst>
          </p:cNvPr>
          <p:cNvSpPr/>
          <p:nvPr/>
        </p:nvSpPr>
        <p:spPr>
          <a:xfrm>
            <a:off x="5305724" y="2805717"/>
            <a:ext cx="997527"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0" dirty="0">
                <a:solidFill>
                  <a:srgbClr val="000000"/>
                </a:solidFill>
                <a:latin typeface="맑은 고딕"/>
                <a:ea typeface="맑은 고딕"/>
                <a:cs typeface="맑은 고딕"/>
              </a:rPr>
              <a:t>Policy
Engine</a:t>
            </a:r>
          </a:p>
        </p:txBody>
      </p:sp>
      <p:sp>
        <p:nvSpPr>
          <p:cNvPr id="140" name="Rectangle 29">
            <a:extLst>
              <a:ext uri="{FF2B5EF4-FFF2-40B4-BE49-F238E27FC236}">
                <a16:creationId xmlns:a16="http://schemas.microsoft.com/office/drawing/2014/main" id="{866CFE17-1433-413A-BB5E-55E31396C4F2}"/>
              </a:ext>
            </a:extLst>
          </p:cNvPr>
          <p:cNvSpPr/>
          <p:nvPr/>
        </p:nvSpPr>
        <p:spPr>
          <a:xfrm>
            <a:off x="1465244" y="3372644"/>
            <a:ext cx="997527"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0">
                <a:solidFill>
                  <a:srgbClr val="000000"/>
                </a:solidFill>
                <a:latin typeface="맑은 고딕"/>
                <a:ea typeface="맑은 고딕"/>
                <a:cs typeface="맑은 고딕"/>
              </a:rPr>
              <a:t>Telemetry
Collector</a:t>
            </a:r>
          </a:p>
        </p:txBody>
      </p:sp>
      <p:sp>
        <p:nvSpPr>
          <p:cNvPr id="141" name="Rectangle 30">
            <a:extLst>
              <a:ext uri="{FF2B5EF4-FFF2-40B4-BE49-F238E27FC236}">
                <a16:creationId xmlns:a16="http://schemas.microsoft.com/office/drawing/2014/main" id="{4E2507F5-44DE-466F-86A2-090E06170969}"/>
              </a:ext>
            </a:extLst>
          </p:cNvPr>
          <p:cNvSpPr/>
          <p:nvPr/>
        </p:nvSpPr>
        <p:spPr>
          <a:xfrm>
            <a:off x="2745404" y="3372644"/>
            <a:ext cx="997527"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0">
                <a:solidFill>
                  <a:srgbClr val="000000"/>
                </a:solidFill>
                <a:latin typeface="맑은 고딕"/>
                <a:ea typeface="맑은 고딕"/>
                <a:cs typeface="맑은 고딕"/>
              </a:rPr>
              <a:t>State
Monitor</a:t>
            </a:r>
          </a:p>
        </p:txBody>
      </p:sp>
      <p:sp>
        <p:nvSpPr>
          <p:cNvPr id="144" name="Rectangle 31">
            <a:extLst>
              <a:ext uri="{FF2B5EF4-FFF2-40B4-BE49-F238E27FC236}">
                <a16:creationId xmlns:a16="http://schemas.microsoft.com/office/drawing/2014/main" id="{611E09A3-58C4-41A9-9618-06C2E3052B95}"/>
              </a:ext>
            </a:extLst>
          </p:cNvPr>
          <p:cNvSpPr/>
          <p:nvPr/>
        </p:nvSpPr>
        <p:spPr>
          <a:xfrm>
            <a:off x="4025564" y="3372644"/>
            <a:ext cx="997527"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0">
                <a:solidFill>
                  <a:srgbClr val="000000"/>
                </a:solidFill>
                <a:latin typeface="맑은 고딕"/>
                <a:ea typeface="맑은 고딕"/>
                <a:cs typeface="맑은 고딕"/>
              </a:rPr>
              <a:t>Memory·Data
Object Registry</a:t>
            </a:r>
          </a:p>
        </p:txBody>
      </p:sp>
      <p:cxnSp>
        <p:nvCxnSpPr>
          <p:cNvPr id="152" name="Connector 32">
            <a:extLst>
              <a:ext uri="{FF2B5EF4-FFF2-40B4-BE49-F238E27FC236}">
                <a16:creationId xmlns:a16="http://schemas.microsoft.com/office/drawing/2014/main" id="{2EB3B79F-037A-4788-A3D2-927387CFD268}"/>
              </a:ext>
            </a:extLst>
          </p:cNvPr>
          <p:cNvCxnSpPr/>
          <p:nvPr/>
        </p:nvCxnSpPr>
        <p:spPr>
          <a:xfrm>
            <a:off x="2520960" y="3528092"/>
            <a:ext cx="166255"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53" name="Connector 33">
            <a:extLst>
              <a:ext uri="{FF2B5EF4-FFF2-40B4-BE49-F238E27FC236}">
                <a16:creationId xmlns:a16="http://schemas.microsoft.com/office/drawing/2014/main" id="{78672AAE-4735-4E51-BFB9-FF980AF44FD6}"/>
              </a:ext>
            </a:extLst>
          </p:cNvPr>
          <p:cNvCxnSpPr/>
          <p:nvPr/>
        </p:nvCxnSpPr>
        <p:spPr>
          <a:xfrm>
            <a:off x="3801119" y="2997741"/>
            <a:ext cx="166255"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154" name="Connector 34">
            <a:extLst>
              <a:ext uri="{FF2B5EF4-FFF2-40B4-BE49-F238E27FC236}">
                <a16:creationId xmlns:a16="http://schemas.microsoft.com/office/drawing/2014/main" id="{EB907EBC-0F3C-43FA-BD28-8AECAE2F2CE1}"/>
              </a:ext>
            </a:extLst>
          </p:cNvPr>
          <p:cNvCxnSpPr/>
          <p:nvPr/>
        </p:nvCxnSpPr>
        <p:spPr>
          <a:xfrm>
            <a:off x="5081280" y="2997741"/>
            <a:ext cx="166255"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155" name="Connector 35">
            <a:extLst>
              <a:ext uri="{FF2B5EF4-FFF2-40B4-BE49-F238E27FC236}">
                <a16:creationId xmlns:a16="http://schemas.microsoft.com/office/drawing/2014/main" id="{06A38D83-244A-4A02-9AAD-BBA7392021CD}"/>
              </a:ext>
            </a:extLst>
          </p:cNvPr>
          <p:cNvCxnSpPr>
            <a:cxnSpLocks/>
            <a:stCxn id="120" idx="2"/>
            <a:endCxn id="131" idx="1"/>
          </p:cNvCxnSpPr>
          <p:nvPr/>
        </p:nvCxnSpPr>
        <p:spPr>
          <a:xfrm rot="16200000" flipH="1">
            <a:off x="2112712" y="2365049"/>
            <a:ext cx="548640" cy="716743"/>
          </a:xfrm>
          <a:prstGeom prst="bentConnector2">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56" name="Connector 36">
            <a:extLst>
              <a:ext uri="{FF2B5EF4-FFF2-40B4-BE49-F238E27FC236}">
                <a16:creationId xmlns:a16="http://schemas.microsoft.com/office/drawing/2014/main" id="{FBAAD0BA-89CF-4D21-B6AF-695B6DEB4D58}"/>
              </a:ext>
            </a:extLst>
          </p:cNvPr>
          <p:cNvCxnSpPr/>
          <p:nvPr/>
        </p:nvCxnSpPr>
        <p:spPr>
          <a:xfrm flipV="1">
            <a:off x="3244167" y="3189765"/>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157" name="Connector 37">
            <a:extLst>
              <a:ext uri="{FF2B5EF4-FFF2-40B4-BE49-F238E27FC236}">
                <a16:creationId xmlns:a16="http://schemas.microsoft.com/office/drawing/2014/main" id="{90E2839A-D49D-4D1C-BDA0-51F8F228421C}"/>
              </a:ext>
            </a:extLst>
          </p:cNvPr>
          <p:cNvCxnSpPr>
            <a:cxnSpLocks/>
          </p:cNvCxnSpPr>
          <p:nvPr/>
        </p:nvCxnSpPr>
        <p:spPr>
          <a:xfrm flipV="1">
            <a:off x="4524327" y="3189765"/>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58" name="Oval 38">
            <a:extLst>
              <a:ext uri="{FF2B5EF4-FFF2-40B4-BE49-F238E27FC236}">
                <a16:creationId xmlns:a16="http://schemas.microsoft.com/office/drawing/2014/main" id="{D5845F17-C988-43E8-8C16-BA8152D507CA}"/>
              </a:ext>
            </a:extLst>
          </p:cNvPr>
          <p:cNvSpPr/>
          <p:nvPr/>
        </p:nvSpPr>
        <p:spPr>
          <a:xfrm>
            <a:off x="1945532" y="2800295"/>
            <a:ext cx="166255"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1</a:t>
            </a:r>
          </a:p>
        </p:txBody>
      </p:sp>
      <p:sp>
        <p:nvSpPr>
          <p:cNvPr id="159" name="Oval 39">
            <a:extLst>
              <a:ext uri="{FF2B5EF4-FFF2-40B4-BE49-F238E27FC236}">
                <a16:creationId xmlns:a16="http://schemas.microsoft.com/office/drawing/2014/main" id="{C17A8188-822B-465F-8F27-7DC1B3F775F7}"/>
              </a:ext>
            </a:extLst>
          </p:cNvPr>
          <p:cNvSpPr/>
          <p:nvPr/>
        </p:nvSpPr>
        <p:spPr>
          <a:xfrm>
            <a:off x="3307344" y="3180620"/>
            <a:ext cx="166255"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2</a:t>
            </a:r>
          </a:p>
        </p:txBody>
      </p:sp>
      <p:sp>
        <p:nvSpPr>
          <p:cNvPr id="160" name="Oval 40">
            <a:extLst>
              <a:ext uri="{FF2B5EF4-FFF2-40B4-BE49-F238E27FC236}">
                <a16:creationId xmlns:a16="http://schemas.microsoft.com/office/drawing/2014/main" id="{8594A0B1-A66B-4BFE-BC4E-E342AC59E4DE}"/>
              </a:ext>
            </a:extLst>
          </p:cNvPr>
          <p:cNvSpPr/>
          <p:nvPr/>
        </p:nvSpPr>
        <p:spPr>
          <a:xfrm>
            <a:off x="3801119" y="2787429"/>
            <a:ext cx="166255"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3</a:t>
            </a:r>
          </a:p>
        </p:txBody>
      </p:sp>
      <p:sp>
        <p:nvSpPr>
          <p:cNvPr id="161" name="Oval 41">
            <a:extLst>
              <a:ext uri="{FF2B5EF4-FFF2-40B4-BE49-F238E27FC236}">
                <a16:creationId xmlns:a16="http://schemas.microsoft.com/office/drawing/2014/main" id="{044344DB-8FE4-4EB8-8771-F71DE5F089F0}"/>
              </a:ext>
            </a:extLst>
          </p:cNvPr>
          <p:cNvSpPr/>
          <p:nvPr/>
        </p:nvSpPr>
        <p:spPr>
          <a:xfrm>
            <a:off x="5867664" y="3390933"/>
            <a:ext cx="166255"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4</a:t>
            </a:r>
          </a:p>
        </p:txBody>
      </p:sp>
      <p:sp>
        <p:nvSpPr>
          <p:cNvPr id="163" name="Rectangle 43">
            <a:extLst>
              <a:ext uri="{FF2B5EF4-FFF2-40B4-BE49-F238E27FC236}">
                <a16:creationId xmlns:a16="http://schemas.microsoft.com/office/drawing/2014/main" id="{C913D71E-CCD0-4527-AFB0-889E796CFCF1}"/>
              </a:ext>
            </a:extLst>
          </p:cNvPr>
          <p:cNvSpPr/>
          <p:nvPr/>
        </p:nvSpPr>
        <p:spPr>
          <a:xfrm>
            <a:off x="1427836" y="3802413"/>
            <a:ext cx="4950104" cy="566928"/>
          </a:xfrm>
          <a:prstGeom prst="rect">
            <a:avLst/>
          </a:prstGeom>
          <a:solidFill>
            <a:schemeClr val="bg1"/>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64" name="Rectangle 44">
            <a:extLst>
              <a:ext uri="{FF2B5EF4-FFF2-40B4-BE49-F238E27FC236}">
                <a16:creationId xmlns:a16="http://schemas.microsoft.com/office/drawing/2014/main" id="{661447E6-5BA9-4C50-8064-1866FB009697}"/>
              </a:ext>
            </a:extLst>
          </p:cNvPr>
          <p:cNvSpPr/>
          <p:nvPr/>
        </p:nvSpPr>
        <p:spPr>
          <a:xfrm>
            <a:off x="1427836" y="3802413"/>
            <a:ext cx="4950104"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50" b="1" dirty="0">
                <a:solidFill>
                  <a:srgbClr val="FFFFFF"/>
                </a:solidFill>
                <a:latin typeface="맑은 고딕"/>
                <a:ea typeface="맑은 고딕"/>
                <a:cs typeface="맑은 고딕"/>
              </a:rPr>
              <a:t>Data Plane  (Mechanism · </a:t>
            </a:r>
            <a:r>
              <a:rPr sz="1050" b="1" dirty="0" err="1">
                <a:solidFill>
                  <a:srgbClr val="FFFFFF"/>
                </a:solidFill>
                <a:latin typeface="맑은 고딕"/>
                <a:ea typeface="맑은 고딕"/>
                <a:cs typeface="맑은 고딕"/>
              </a:rPr>
              <a:t>실행</a:t>
            </a:r>
            <a:r>
              <a:rPr sz="1050" b="1" dirty="0">
                <a:solidFill>
                  <a:srgbClr val="FFFFFF"/>
                </a:solidFill>
                <a:latin typeface="맑은 고딕"/>
                <a:ea typeface="맑은 고딕"/>
                <a:cs typeface="맑은 고딕"/>
              </a:rPr>
              <a:t>)</a:t>
            </a:r>
          </a:p>
        </p:txBody>
      </p:sp>
      <p:sp>
        <p:nvSpPr>
          <p:cNvPr id="165" name="Rectangle 45">
            <a:extLst>
              <a:ext uri="{FF2B5EF4-FFF2-40B4-BE49-F238E27FC236}">
                <a16:creationId xmlns:a16="http://schemas.microsoft.com/office/drawing/2014/main" id="{8E1B569E-CA55-4B56-9B23-362D664E6CB7}"/>
              </a:ext>
            </a:extLst>
          </p:cNvPr>
          <p:cNvSpPr/>
          <p:nvPr/>
        </p:nvSpPr>
        <p:spPr>
          <a:xfrm>
            <a:off x="2762029" y="4058445"/>
            <a:ext cx="1330036"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0">
                <a:solidFill>
                  <a:srgbClr val="000000"/>
                </a:solidFill>
                <a:latin typeface="맑은 고딕"/>
                <a:ea typeface="맑은 고딕"/>
                <a:cs typeface="맑은 고딕"/>
              </a:rPr>
              <a:t>Transfer Handler</a:t>
            </a:r>
          </a:p>
        </p:txBody>
      </p:sp>
      <p:sp>
        <p:nvSpPr>
          <p:cNvPr id="166" name="Rectangle 46">
            <a:extLst>
              <a:ext uri="{FF2B5EF4-FFF2-40B4-BE49-F238E27FC236}">
                <a16:creationId xmlns:a16="http://schemas.microsoft.com/office/drawing/2014/main" id="{90423AF8-CD65-4C2D-9C1F-29C629AA42F9}"/>
              </a:ext>
            </a:extLst>
          </p:cNvPr>
          <p:cNvSpPr/>
          <p:nvPr/>
        </p:nvSpPr>
        <p:spPr>
          <a:xfrm>
            <a:off x="4432887" y="4058445"/>
            <a:ext cx="182880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000" b="0">
                <a:solidFill>
                  <a:srgbClr val="000000"/>
                </a:solidFill>
                <a:latin typeface="맑은 고딕"/>
                <a:ea typeface="맑은 고딕"/>
                <a:cs typeface="맑은 고딕"/>
              </a:rPr>
              <a:t>Migration Executor</a:t>
            </a:r>
          </a:p>
        </p:txBody>
      </p:sp>
      <p:cxnSp>
        <p:nvCxnSpPr>
          <p:cNvPr id="167" name="Connector 47">
            <a:extLst>
              <a:ext uri="{FF2B5EF4-FFF2-40B4-BE49-F238E27FC236}">
                <a16:creationId xmlns:a16="http://schemas.microsoft.com/office/drawing/2014/main" id="{0D92B5BB-5689-4D06-AB0D-921768BC13E5}"/>
              </a:ext>
            </a:extLst>
          </p:cNvPr>
          <p:cNvCxnSpPr/>
          <p:nvPr/>
        </p:nvCxnSpPr>
        <p:spPr>
          <a:xfrm flipH="1">
            <a:off x="4166880" y="4259612"/>
            <a:ext cx="166255"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70" name="Oval 48">
            <a:extLst>
              <a:ext uri="{FF2B5EF4-FFF2-40B4-BE49-F238E27FC236}">
                <a16:creationId xmlns:a16="http://schemas.microsoft.com/office/drawing/2014/main" id="{E057864F-3285-40B7-8DA6-2742E387777C}"/>
              </a:ext>
            </a:extLst>
          </p:cNvPr>
          <p:cNvSpPr/>
          <p:nvPr/>
        </p:nvSpPr>
        <p:spPr>
          <a:xfrm>
            <a:off x="4166880" y="4049301"/>
            <a:ext cx="166255"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6</a:t>
            </a:r>
          </a:p>
        </p:txBody>
      </p:sp>
      <p:sp>
        <p:nvSpPr>
          <p:cNvPr id="171" name="Rectangle 49">
            <a:extLst>
              <a:ext uri="{FF2B5EF4-FFF2-40B4-BE49-F238E27FC236}">
                <a16:creationId xmlns:a16="http://schemas.microsoft.com/office/drawing/2014/main" id="{8E9265C3-1CD7-423B-A261-4986CC22F0FE}"/>
              </a:ext>
            </a:extLst>
          </p:cNvPr>
          <p:cNvSpPr/>
          <p:nvPr/>
        </p:nvSpPr>
        <p:spPr>
          <a:xfrm>
            <a:off x="1427836" y="4396773"/>
            <a:ext cx="4950104"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dirty="0">
                <a:solidFill>
                  <a:srgbClr val="FFFFFF"/>
                </a:solidFill>
                <a:latin typeface="맑은 고딕"/>
                <a:ea typeface="맑은 고딕"/>
                <a:cs typeface="맑은 고딕"/>
              </a:rPr>
              <a:t>Common Memory Backend Interface  (</a:t>
            </a:r>
            <a:r>
              <a:rPr sz="900" b="1" dirty="0" err="1">
                <a:solidFill>
                  <a:srgbClr val="FFFFFF"/>
                </a:solidFill>
                <a:latin typeface="맑은 고딕"/>
                <a:ea typeface="맑은 고딕"/>
                <a:cs typeface="맑은 고딕"/>
              </a:rPr>
              <a:t>공통</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하부</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계층</a:t>
            </a:r>
            <a:r>
              <a:rPr sz="900" b="1" dirty="0">
                <a:solidFill>
                  <a:srgbClr val="FFFFFF"/>
                </a:solidFill>
                <a:latin typeface="맑은 고딕"/>
                <a:ea typeface="맑은 고딕"/>
                <a:cs typeface="맑은 고딕"/>
              </a:rPr>
              <a:t>, Device SW I/F)</a:t>
            </a:r>
          </a:p>
        </p:txBody>
      </p:sp>
      <p:cxnSp>
        <p:nvCxnSpPr>
          <p:cNvPr id="172" name="Connector 50">
            <a:extLst>
              <a:ext uri="{FF2B5EF4-FFF2-40B4-BE49-F238E27FC236}">
                <a16:creationId xmlns:a16="http://schemas.microsoft.com/office/drawing/2014/main" id="{B045F5E4-461A-48D7-8AFF-86463B0F8772}"/>
              </a:ext>
            </a:extLst>
          </p:cNvPr>
          <p:cNvCxnSpPr/>
          <p:nvPr/>
        </p:nvCxnSpPr>
        <p:spPr>
          <a:xfrm>
            <a:off x="3427047" y="4314477"/>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173" name="Connector 51">
            <a:extLst>
              <a:ext uri="{FF2B5EF4-FFF2-40B4-BE49-F238E27FC236}">
                <a16:creationId xmlns:a16="http://schemas.microsoft.com/office/drawing/2014/main" id="{056E55F8-369A-472B-9A45-A55F1097D9C0}"/>
              </a:ext>
            </a:extLst>
          </p:cNvPr>
          <p:cNvCxnSpPr/>
          <p:nvPr/>
        </p:nvCxnSpPr>
        <p:spPr>
          <a:xfrm>
            <a:off x="5804487" y="3189765"/>
            <a:ext cx="0" cy="86868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62" name="Oval 42">
            <a:extLst>
              <a:ext uri="{FF2B5EF4-FFF2-40B4-BE49-F238E27FC236}">
                <a16:creationId xmlns:a16="http://schemas.microsoft.com/office/drawing/2014/main" id="{7C8F1633-86C4-4F34-88B8-BF53FD2E570E}"/>
              </a:ext>
            </a:extLst>
          </p:cNvPr>
          <p:cNvSpPr/>
          <p:nvPr/>
        </p:nvSpPr>
        <p:spPr>
          <a:xfrm>
            <a:off x="4587504" y="3665253"/>
            <a:ext cx="166255"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1000" b="1">
                <a:solidFill>
                  <a:srgbClr val="FFFFFF"/>
                </a:solidFill>
                <a:latin typeface="맑은 고딕"/>
                <a:ea typeface="맑은 고딕"/>
                <a:cs typeface="맑은 고딕"/>
              </a:rPr>
              <a:t>5</a:t>
            </a:r>
          </a:p>
        </p:txBody>
      </p:sp>
      <p:cxnSp>
        <p:nvCxnSpPr>
          <p:cNvPr id="174" name="Connector 52">
            <a:extLst>
              <a:ext uri="{FF2B5EF4-FFF2-40B4-BE49-F238E27FC236}">
                <a16:creationId xmlns:a16="http://schemas.microsoft.com/office/drawing/2014/main" id="{19C35B13-1567-4378-A460-E329D60FD5F5}"/>
              </a:ext>
            </a:extLst>
          </p:cNvPr>
          <p:cNvCxnSpPr/>
          <p:nvPr/>
        </p:nvCxnSpPr>
        <p:spPr>
          <a:xfrm flipV="1">
            <a:off x="4524327" y="3683541"/>
            <a:ext cx="0" cy="37490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14" name="Rectangle 53"/>
          <p:cNvSpPr/>
          <p:nvPr/>
        </p:nvSpPr>
        <p:spPr>
          <a:xfrm>
            <a:off x="6628217" y="1799761"/>
            <a:ext cx="5303520" cy="804672"/>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Rectangle 54"/>
          <p:cNvSpPr/>
          <p:nvPr/>
        </p:nvSpPr>
        <p:spPr>
          <a:xfrm>
            <a:off x="6628217" y="1799761"/>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Control Plane  (Policy · 결정)</a:t>
            </a:r>
          </a:p>
        </p:txBody>
      </p:sp>
      <p:sp>
        <p:nvSpPr>
          <p:cNvPr id="116" name="Rectangle 55"/>
          <p:cNvSpPr/>
          <p:nvPr/>
        </p:nvSpPr>
        <p:spPr>
          <a:xfrm>
            <a:off x="6856817" y="2110656"/>
            <a:ext cx="1097280" cy="38404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a:solidFill>
                  <a:srgbClr val="000000"/>
                </a:solidFill>
                <a:latin typeface="맑은 고딕"/>
                <a:ea typeface="맑은 고딕"/>
                <a:cs typeface="맑은 고딕"/>
              </a:rPr>
              <a:t>Migration
Scheduler</a:t>
            </a:r>
          </a:p>
        </p:txBody>
      </p:sp>
      <p:sp>
        <p:nvSpPr>
          <p:cNvPr id="117" name="Rectangle 56"/>
          <p:cNvSpPr/>
          <p:nvPr/>
        </p:nvSpPr>
        <p:spPr>
          <a:xfrm>
            <a:off x="8136977" y="2110656"/>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lang="en-US" sz="800" b="0" dirty="0">
                <a:solidFill>
                  <a:srgbClr val="000000"/>
                </a:solidFill>
                <a:latin typeface="맑은 고딕"/>
                <a:ea typeface="맑은 고딕"/>
                <a:cs typeface="맑은 고딕"/>
              </a:rPr>
              <a:t>Data </a:t>
            </a:r>
            <a:r>
              <a:rPr lang="en-US" sz="800" dirty="0">
                <a:solidFill>
                  <a:srgbClr val="000000"/>
                </a:solidFill>
                <a:latin typeface="맑은 고딕"/>
                <a:ea typeface="맑은 고딕"/>
                <a:cs typeface="맑은 고딕"/>
              </a:rPr>
              <a:t>Behavior</a:t>
            </a:r>
            <a:r>
              <a:rPr sz="800" b="0" dirty="0">
                <a:solidFill>
                  <a:srgbClr val="000000"/>
                </a:solidFill>
                <a:latin typeface="맑은 고딕"/>
                <a:ea typeface="맑은 고딕"/>
                <a:cs typeface="맑은 고딕"/>
              </a:rPr>
              <a:t>
Analyzer</a:t>
            </a:r>
          </a:p>
        </p:txBody>
      </p:sp>
      <p:sp>
        <p:nvSpPr>
          <p:cNvPr id="118" name="Rectangle 57"/>
          <p:cNvSpPr/>
          <p:nvPr/>
        </p:nvSpPr>
        <p:spPr>
          <a:xfrm>
            <a:off x="9417137" y="2110656"/>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dirty="0">
                <a:solidFill>
                  <a:srgbClr val="000000"/>
                </a:solidFill>
                <a:latin typeface="맑은 고딕"/>
                <a:ea typeface="맑은 고딕"/>
                <a:cs typeface="맑은 고딕"/>
              </a:rPr>
              <a:t>Affinity
Mapper</a:t>
            </a:r>
          </a:p>
        </p:txBody>
      </p:sp>
      <p:sp>
        <p:nvSpPr>
          <p:cNvPr id="119" name="Rectangle 58"/>
          <p:cNvSpPr/>
          <p:nvPr/>
        </p:nvSpPr>
        <p:spPr>
          <a:xfrm>
            <a:off x="10697297" y="2110656"/>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800" b="0" dirty="0">
                <a:solidFill>
                  <a:srgbClr val="000000"/>
                </a:solidFill>
                <a:latin typeface="맑은 고딕"/>
                <a:ea typeface="맑은 고딕"/>
                <a:cs typeface="맑은 고딕"/>
              </a:rPr>
              <a:t>Policy
Engine</a:t>
            </a:r>
          </a:p>
        </p:txBody>
      </p:sp>
      <p:cxnSp>
        <p:nvCxnSpPr>
          <p:cNvPr id="122" name="Connector 59"/>
          <p:cNvCxnSpPr/>
          <p:nvPr/>
        </p:nvCxnSpPr>
        <p:spPr>
          <a:xfrm>
            <a:off x="7954096" y="2302680"/>
            <a:ext cx="182881" cy="0"/>
          </a:xfrm>
          <a:prstGeom prst="line">
            <a:avLst/>
          </a:prstGeom>
          <a:ln w="12700">
            <a:solidFill>
              <a:srgbClr val="59595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23" name="Connector 60"/>
          <p:cNvCxnSpPr/>
          <p:nvPr/>
        </p:nvCxnSpPr>
        <p:spPr>
          <a:xfrm>
            <a:off x="9234257" y="2302680"/>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Connector 61"/>
          <p:cNvCxnSpPr/>
          <p:nvPr/>
        </p:nvCxnSpPr>
        <p:spPr>
          <a:xfrm>
            <a:off x="10514417" y="2302680"/>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27" name="Oval 62"/>
          <p:cNvSpPr/>
          <p:nvPr/>
        </p:nvSpPr>
        <p:spPr>
          <a:xfrm>
            <a:off x="7954097" y="207408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1</a:t>
            </a:r>
          </a:p>
        </p:txBody>
      </p:sp>
      <p:sp>
        <p:nvSpPr>
          <p:cNvPr id="128" name="Oval 63"/>
          <p:cNvSpPr/>
          <p:nvPr/>
        </p:nvSpPr>
        <p:spPr>
          <a:xfrm>
            <a:off x="9234257" y="207408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3</a:t>
            </a:r>
          </a:p>
        </p:txBody>
      </p:sp>
      <p:sp>
        <p:nvSpPr>
          <p:cNvPr id="129" name="Rectangle 64"/>
          <p:cNvSpPr/>
          <p:nvPr/>
        </p:nvSpPr>
        <p:spPr>
          <a:xfrm>
            <a:off x="6628217" y="2878752"/>
            <a:ext cx="5303520" cy="7498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Rectangle 65"/>
          <p:cNvSpPr/>
          <p:nvPr/>
        </p:nvSpPr>
        <p:spPr>
          <a:xfrm>
            <a:off x="6628217" y="2878752"/>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dirty="0">
                <a:solidFill>
                  <a:srgbClr val="FFFFFF"/>
                </a:solidFill>
                <a:latin typeface="맑은 고딕"/>
                <a:ea typeface="맑은 고딕"/>
                <a:cs typeface="맑은 고딕"/>
              </a:rPr>
              <a:t>Resource </a:t>
            </a:r>
            <a:r>
              <a:rPr lang="en-US" sz="900" b="1" dirty="0">
                <a:solidFill>
                  <a:srgbClr val="FFFFFF"/>
                </a:solidFill>
                <a:latin typeface="맑은 고딕"/>
                <a:ea typeface="맑은 고딕"/>
                <a:cs typeface="맑은 고딕"/>
              </a:rPr>
              <a:t>Plane</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상태·관측</a:t>
            </a:r>
            <a:r>
              <a:rPr sz="900" b="1" dirty="0">
                <a:solidFill>
                  <a:srgbClr val="FFFFFF"/>
                </a:solidFill>
                <a:latin typeface="맑은 고딕"/>
                <a:ea typeface="맑은 고딕"/>
                <a:cs typeface="맑은 고딕"/>
              </a:rPr>
              <a:t>)</a:t>
            </a:r>
          </a:p>
        </p:txBody>
      </p:sp>
      <p:sp>
        <p:nvSpPr>
          <p:cNvPr id="133" name="Rectangle 66"/>
          <p:cNvSpPr/>
          <p:nvPr/>
        </p:nvSpPr>
        <p:spPr>
          <a:xfrm>
            <a:off x="6856817" y="3171361"/>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dirty="0">
                <a:solidFill>
                  <a:srgbClr val="000000"/>
                </a:solidFill>
                <a:latin typeface="맑은 고딕"/>
                <a:ea typeface="맑은 고딕"/>
                <a:cs typeface="맑은 고딕"/>
              </a:rPr>
              <a:t>Telemetry
Collector</a:t>
            </a:r>
          </a:p>
        </p:txBody>
      </p:sp>
      <p:sp>
        <p:nvSpPr>
          <p:cNvPr id="134" name="Rectangle 67"/>
          <p:cNvSpPr/>
          <p:nvPr/>
        </p:nvSpPr>
        <p:spPr>
          <a:xfrm>
            <a:off x="8136977" y="3171361"/>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a:solidFill>
                  <a:srgbClr val="000000"/>
                </a:solidFill>
                <a:latin typeface="맑은 고딕"/>
                <a:ea typeface="맑은 고딕"/>
                <a:cs typeface="맑은 고딕"/>
              </a:rPr>
              <a:t>State
Monitor</a:t>
            </a:r>
          </a:p>
        </p:txBody>
      </p:sp>
      <p:sp>
        <p:nvSpPr>
          <p:cNvPr id="135" name="Rectangle 68"/>
          <p:cNvSpPr/>
          <p:nvPr/>
        </p:nvSpPr>
        <p:spPr>
          <a:xfrm>
            <a:off x="9417137" y="3171361"/>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750" b="0" dirty="0" err="1">
                <a:solidFill>
                  <a:srgbClr val="000000"/>
                </a:solidFill>
                <a:latin typeface="맑은 고딕"/>
                <a:ea typeface="맑은 고딕"/>
                <a:cs typeface="맑은 고딕"/>
              </a:rPr>
              <a:t>Memory·Data</a:t>
            </a:r>
            <a:r>
              <a:rPr sz="750" b="0" dirty="0">
                <a:solidFill>
                  <a:srgbClr val="000000"/>
                </a:solidFill>
                <a:latin typeface="맑은 고딕"/>
                <a:ea typeface="맑은 고딕"/>
                <a:cs typeface="맑은 고딕"/>
              </a:rPr>
              <a:t>
Object Registry</a:t>
            </a:r>
          </a:p>
        </p:txBody>
      </p:sp>
      <p:cxnSp>
        <p:nvCxnSpPr>
          <p:cNvPr id="136" name="Connector 69"/>
          <p:cNvCxnSpPr/>
          <p:nvPr/>
        </p:nvCxnSpPr>
        <p:spPr>
          <a:xfrm>
            <a:off x="7954096" y="3326809"/>
            <a:ext cx="182881"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37" name="Connector 70"/>
          <p:cNvCxnSpPr/>
          <p:nvPr/>
        </p:nvCxnSpPr>
        <p:spPr>
          <a:xfrm flipV="1">
            <a:off x="8685617" y="2494705"/>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38" name="Connector 71"/>
          <p:cNvCxnSpPr/>
          <p:nvPr/>
        </p:nvCxnSpPr>
        <p:spPr>
          <a:xfrm flipV="1">
            <a:off x="9965777" y="2494705"/>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50" name="TextBox 149"/>
          <p:cNvSpPr txBox="1"/>
          <p:nvPr/>
        </p:nvSpPr>
        <p:spPr>
          <a:xfrm>
            <a:off x="8777057" y="2622721"/>
            <a:ext cx="1097280" cy="201168"/>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snapshot query</a:t>
            </a:r>
          </a:p>
        </p:txBody>
      </p:sp>
      <p:sp>
        <p:nvSpPr>
          <p:cNvPr id="151" name="Oval 73"/>
          <p:cNvSpPr/>
          <p:nvPr/>
        </p:nvSpPr>
        <p:spPr>
          <a:xfrm>
            <a:off x="8740481" y="2714161"/>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2</a:t>
            </a:r>
          </a:p>
        </p:txBody>
      </p:sp>
      <p:sp>
        <p:nvSpPr>
          <p:cNvPr id="168" name="Oval 74"/>
          <p:cNvSpPr/>
          <p:nvPr/>
        </p:nvSpPr>
        <p:spPr>
          <a:xfrm>
            <a:off x="11300801" y="2714161"/>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4</a:t>
            </a:r>
          </a:p>
        </p:txBody>
      </p:sp>
      <p:sp>
        <p:nvSpPr>
          <p:cNvPr id="169" name="Oval 75"/>
          <p:cNvSpPr/>
          <p:nvPr/>
        </p:nvSpPr>
        <p:spPr>
          <a:xfrm>
            <a:off x="10020640" y="3628561"/>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5</a:t>
            </a:r>
          </a:p>
        </p:txBody>
      </p:sp>
      <p:sp>
        <p:nvSpPr>
          <p:cNvPr id="175" name="Rectangle 76"/>
          <p:cNvSpPr/>
          <p:nvPr/>
        </p:nvSpPr>
        <p:spPr>
          <a:xfrm>
            <a:off x="6628217" y="3765721"/>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Rectangle 77"/>
          <p:cNvSpPr/>
          <p:nvPr/>
        </p:nvSpPr>
        <p:spPr>
          <a:xfrm>
            <a:off x="6628217" y="3765721"/>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1">
                <a:solidFill>
                  <a:srgbClr val="FFFFFF"/>
                </a:solidFill>
                <a:latin typeface="맑은 고딕"/>
                <a:ea typeface="맑은 고딕"/>
                <a:cs typeface="맑은 고딕"/>
              </a:rPr>
              <a:t>Data Plane  (Mechanism · 실행)</a:t>
            </a:r>
          </a:p>
        </p:txBody>
      </p:sp>
      <p:sp>
        <p:nvSpPr>
          <p:cNvPr id="177" name="Rectangle 78"/>
          <p:cNvSpPr/>
          <p:nvPr/>
        </p:nvSpPr>
        <p:spPr>
          <a:xfrm>
            <a:off x="8136977" y="4021753"/>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0" dirty="0">
                <a:solidFill>
                  <a:srgbClr val="000000"/>
                </a:solidFill>
                <a:latin typeface="맑은 고딕"/>
                <a:ea typeface="맑은 고딕"/>
                <a:cs typeface="맑은 고딕"/>
              </a:rPr>
              <a:t>Transfer Handler</a:t>
            </a:r>
          </a:p>
        </p:txBody>
      </p:sp>
      <p:sp>
        <p:nvSpPr>
          <p:cNvPr id="178" name="Rectangle 79"/>
          <p:cNvSpPr/>
          <p:nvPr/>
        </p:nvSpPr>
        <p:spPr>
          <a:xfrm>
            <a:off x="9782897" y="4021753"/>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900" b="0">
                <a:solidFill>
                  <a:srgbClr val="000000"/>
                </a:solidFill>
                <a:latin typeface="맑은 고딕"/>
                <a:ea typeface="맑은 고딕"/>
                <a:cs typeface="맑은 고딕"/>
              </a:rPr>
              <a:t>Migration Executor</a:t>
            </a:r>
          </a:p>
        </p:txBody>
      </p:sp>
      <p:cxnSp>
        <p:nvCxnSpPr>
          <p:cNvPr id="179" name="Connector 80"/>
          <p:cNvCxnSpPr/>
          <p:nvPr/>
        </p:nvCxnSpPr>
        <p:spPr>
          <a:xfrm flipH="1">
            <a:off x="9600017" y="4222920"/>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80" name="Oval 81"/>
          <p:cNvSpPr/>
          <p:nvPr/>
        </p:nvSpPr>
        <p:spPr>
          <a:xfrm>
            <a:off x="9600017" y="4012609"/>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FFFFFF"/>
                </a:solidFill>
                <a:latin typeface="맑은 고딕"/>
                <a:ea typeface="맑은 고딕"/>
                <a:cs typeface="맑은 고딕"/>
              </a:rPr>
              <a:t>6</a:t>
            </a:r>
          </a:p>
        </p:txBody>
      </p:sp>
      <p:sp>
        <p:nvSpPr>
          <p:cNvPr id="181" name="Rectangle 82"/>
          <p:cNvSpPr/>
          <p:nvPr/>
        </p:nvSpPr>
        <p:spPr>
          <a:xfrm>
            <a:off x="6628217" y="4360081"/>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dirty="0">
                <a:solidFill>
                  <a:srgbClr val="FFFFFF"/>
                </a:solidFill>
                <a:latin typeface="맑은 고딕"/>
                <a:ea typeface="맑은 고딕"/>
                <a:cs typeface="맑은 고딕"/>
              </a:rPr>
              <a:t>Common Memory Backend Interface  (</a:t>
            </a:r>
            <a:r>
              <a:rPr sz="900" b="1" dirty="0" err="1">
                <a:solidFill>
                  <a:srgbClr val="FFFFFF"/>
                </a:solidFill>
                <a:latin typeface="맑은 고딕"/>
                <a:ea typeface="맑은 고딕"/>
                <a:cs typeface="맑은 고딕"/>
              </a:rPr>
              <a:t>공통</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하부</a:t>
            </a:r>
            <a:r>
              <a:rPr sz="900" b="1" dirty="0">
                <a:solidFill>
                  <a:srgbClr val="FFFFFF"/>
                </a:solidFill>
                <a:latin typeface="맑은 고딕"/>
                <a:ea typeface="맑은 고딕"/>
                <a:cs typeface="맑은 고딕"/>
              </a:rPr>
              <a:t> </a:t>
            </a:r>
            <a:r>
              <a:rPr sz="900" b="1" dirty="0" err="1">
                <a:solidFill>
                  <a:srgbClr val="FFFFFF"/>
                </a:solidFill>
                <a:latin typeface="맑은 고딕"/>
                <a:ea typeface="맑은 고딕"/>
                <a:cs typeface="맑은 고딕"/>
              </a:rPr>
              <a:t>계층</a:t>
            </a:r>
            <a:r>
              <a:rPr sz="900" b="1" dirty="0">
                <a:solidFill>
                  <a:srgbClr val="FFFFFF"/>
                </a:solidFill>
                <a:latin typeface="맑은 고딕"/>
                <a:ea typeface="맑은 고딕"/>
                <a:cs typeface="맑은 고딕"/>
              </a:rPr>
              <a:t>, Device SW I/F)</a:t>
            </a:r>
          </a:p>
        </p:txBody>
      </p:sp>
      <p:cxnSp>
        <p:nvCxnSpPr>
          <p:cNvPr id="182" name="Connector 83"/>
          <p:cNvCxnSpPr/>
          <p:nvPr/>
        </p:nvCxnSpPr>
        <p:spPr>
          <a:xfrm>
            <a:off x="8868497" y="4277785"/>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183" name="Connector 84"/>
          <p:cNvCxnSpPr/>
          <p:nvPr/>
        </p:nvCxnSpPr>
        <p:spPr>
          <a:xfrm>
            <a:off x="11245936" y="2494705"/>
            <a:ext cx="0" cy="1527048"/>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84" name="Connector 85"/>
          <p:cNvCxnSpPr/>
          <p:nvPr/>
        </p:nvCxnSpPr>
        <p:spPr>
          <a:xfrm flipV="1">
            <a:off x="9965777" y="3482257"/>
            <a:ext cx="0" cy="53949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933515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중앙 조정자 </a:t>
                      </a:r>
                      <a:r>
                        <a:rPr lang="en-US" altLang="ko-KR" sz="1200" b="1" strike="noStrike" baseline="0" dirty="0"/>
                        <a:t>– 3-plane </a:t>
                      </a:r>
                      <a:r>
                        <a:rPr lang="ko-KR" altLang="en-US" sz="1200" b="1" strike="noStrike" baseline="0" dirty="0"/>
                        <a:t>구조</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소유자 지역 결정</a:t>
                      </a:r>
                      <a:r>
                        <a:rPr lang="en-US" altLang="ko-KR" sz="1200" b="1" strike="noStrike" baseline="0" dirty="0"/>
                        <a:t>– 2-plane </a:t>
                      </a:r>
                      <a:r>
                        <a:rPr lang="ko-KR" altLang="en-US" sz="1200" b="1" strike="noStrike" baseline="0" dirty="0"/>
                        <a:t>구조</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rgbClr val="0000FF"/>
                          </a:solidFill>
                          <a:effectLst/>
                          <a:latin typeface="+mn-lt"/>
                          <a:ea typeface="+mn-ea"/>
                          <a:cs typeface="+mn-cs"/>
                        </a:rPr>
                        <a:t>전역 총량을 한 지점에서 봄 → </a:t>
                      </a:r>
                      <a:r>
                        <a:rPr lang="en-US" altLang="ko-KR" sz="1200" strike="noStrike" kern="1200" baseline="0" dirty="0">
                          <a:solidFill>
                            <a:srgbClr val="0000FF"/>
                          </a:solidFill>
                          <a:effectLst/>
                          <a:latin typeface="+mn-lt"/>
                          <a:ea typeface="+mn-ea"/>
                          <a:cs typeface="+mn-cs"/>
                        </a:rPr>
                        <a:t>tier </a:t>
                      </a:r>
                      <a:r>
                        <a:rPr lang="ko-KR" altLang="en-US" sz="1200" strike="noStrike" kern="1200" baseline="0" dirty="0">
                          <a:solidFill>
                            <a:srgbClr val="0000FF"/>
                          </a:solidFill>
                          <a:effectLst/>
                          <a:latin typeface="+mn-lt"/>
                          <a:ea typeface="+mn-ea"/>
                          <a:cs typeface="+mn-cs"/>
                        </a:rPr>
                        <a:t>간 최적 배치</a:t>
                      </a:r>
                      <a:r>
                        <a:rPr lang="en-US" altLang="ko-KR" sz="1200" strike="noStrike" kern="1200" baseline="0" dirty="0">
                          <a:solidFill>
                            <a:srgbClr val="0000FF"/>
                          </a:solidFill>
                          <a:effectLst/>
                          <a:latin typeface="+mn-lt"/>
                          <a:ea typeface="+mn-ea"/>
                          <a:cs typeface="+mn-cs"/>
                        </a:rPr>
                        <a:t>·</a:t>
                      </a:r>
                      <a:r>
                        <a:rPr lang="ko-KR" altLang="en-US" sz="1200" strike="noStrike" kern="1200" baseline="0" dirty="0" err="1">
                          <a:solidFill>
                            <a:srgbClr val="0000FF"/>
                          </a:solidFill>
                          <a:effectLst/>
                          <a:latin typeface="+mn-lt"/>
                          <a:ea typeface="+mn-ea"/>
                          <a:cs typeface="+mn-cs"/>
                        </a:rPr>
                        <a:t>과점유</a:t>
                      </a:r>
                      <a:r>
                        <a:rPr lang="ko-KR" altLang="en-US" sz="1200" strike="noStrike" kern="1200" baseline="0" dirty="0">
                          <a:solidFill>
                            <a:srgbClr val="0000FF"/>
                          </a:solidFill>
                          <a:effectLst/>
                          <a:latin typeface="+mn-lt"/>
                          <a:ea typeface="+mn-ea"/>
                          <a:cs typeface="+mn-cs"/>
                        </a:rPr>
                        <a:t> 구조적 차단 </a:t>
                      </a:r>
                      <a:r>
                        <a:rPr lang="en-US" altLang="ko-KR" sz="1200" strike="noStrike" kern="1200" baseline="0" dirty="0">
                          <a:solidFill>
                            <a:srgbClr val="0000FF"/>
                          </a:solidFill>
                          <a:effectLst/>
                          <a:latin typeface="+mn-lt"/>
                          <a:ea typeface="+mn-ea"/>
                          <a:cs typeface="+mn-cs"/>
                        </a:rPr>
                        <a:t>(QA2)</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rgbClr val="0000FF"/>
                          </a:solidFill>
                          <a:effectLst/>
                          <a:latin typeface="+mn-lt"/>
                          <a:ea typeface="+mn-ea"/>
                          <a:cs typeface="+mn-cs"/>
                        </a:rPr>
                        <a:t>정책 </a:t>
                      </a:r>
                      <a:r>
                        <a:rPr lang="ko-KR" altLang="en-US" sz="1200" strike="noStrike" kern="1200" baseline="0" dirty="0" err="1">
                          <a:solidFill>
                            <a:srgbClr val="0000FF"/>
                          </a:solidFill>
                          <a:effectLst/>
                          <a:latin typeface="+mn-lt"/>
                          <a:ea typeface="+mn-ea"/>
                          <a:cs typeface="+mn-cs"/>
                        </a:rPr>
                        <a:t>변경점이</a:t>
                      </a:r>
                      <a:r>
                        <a:rPr lang="ko-KR" altLang="en-US" sz="1200" strike="noStrike" kern="1200" baseline="0" dirty="0">
                          <a:solidFill>
                            <a:srgbClr val="0000FF"/>
                          </a:solidFill>
                          <a:effectLst/>
                          <a:latin typeface="+mn-lt"/>
                          <a:ea typeface="+mn-ea"/>
                          <a:cs typeface="+mn-cs"/>
                        </a:rPr>
                        <a:t> </a:t>
                      </a:r>
                      <a:r>
                        <a:rPr lang="en-US" altLang="ko-KR" sz="1200" strike="noStrike" kern="1200" baseline="0" dirty="0">
                          <a:solidFill>
                            <a:srgbClr val="0000FF"/>
                          </a:solidFill>
                          <a:effectLst/>
                          <a:latin typeface="+mn-lt"/>
                          <a:ea typeface="+mn-ea"/>
                          <a:cs typeface="+mn-cs"/>
                        </a:rPr>
                        <a:t>Control Plane 1</a:t>
                      </a:r>
                      <a:r>
                        <a:rPr lang="ko-KR" altLang="en-US" sz="1200" strike="noStrike" kern="1200" baseline="0" dirty="0">
                          <a:solidFill>
                            <a:srgbClr val="0000FF"/>
                          </a:solidFill>
                          <a:effectLst/>
                          <a:latin typeface="+mn-lt"/>
                          <a:ea typeface="+mn-ea"/>
                          <a:cs typeface="+mn-cs"/>
                        </a:rPr>
                        <a:t>곳 </a:t>
                      </a:r>
                      <a:r>
                        <a:rPr lang="en-US" altLang="ko-KR" sz="1200" strike="noStrike" kern="1200" baseline="0" dirty="0">
                          <a:solidFill>
                            <a:srgbClr val="0000FF"/>
                          </a:solidFill>
                          <a:effectLst/>
                          <a:latin typeface="+mn-lt"/>
                          <a:ea typeface="+mn-ea"/>
                          <a:cs typeface="+mn-cs"/>
                        </a:rPr>
                        <a:t>-&gt; Executor </a:t>
                      </a:r>
                      <a:r>
                        <a:rPr lang="ko-KR" altLang="en-US" sz="1200" strike="noStrike" kern="1200" baseline="0" dirty="0" err="1">
                          <a:solidFill>
                            <a:srgbClr val="0000FF"/>
                          </a:solidFill>
                          <a:effectLst/>
                          <a:latin typeface="+mn-lt"/>
                          <a:ea typeface="+mn-ea"/>
                          <a:cs typeface="+mn-cs"/>
                        </a:rPr>
                        <a:t>무영향</a:t>
                      </a:r>
                      <a:r>
                        <a:rPr lang="ko-KR" altLang="en-US" sz="1200" strike="noStrike" kern="1200" baseline="0" dirty="0">
                          <a:solidFill>
                            <a:srgbClr val="0000FF"/>
                          </a:solidFill>
                          <a:effectLst/>
                          <a:latin typeface="+mn-lt"/>
                          <a:ea typeface="+mn-ea"/>
                          <a:cs typeface="+mn-cs"/>
                        </a:rPr>
                        <a:t> </a:t>
                      </a:r>
                      <a:r>
                        <a:rPr lang="en-US" altLang="ko-KR" sz="1200" strike="noStrike" kern="1200" baseline="0" dirty="0">
                          <a:solidFill>
                            <a:srgbClr val="0000FF"/>
                          </a:solidFill>
                          <a:effectLst/>
                          <a:latin typeface="+mn-lt"/>
                          <a:ea typeface="+mn-ea"/>
                          <a:cs typeface="+mn-cs"/>
                        </a:rPr>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(QA1)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Behavior </a:t>
                      </a:r>
                      <a:r>
                        <a:rPr lang="ko-KR" altLang="en-US" sz="1200" strike="noStrike" baseline="0" dirty="0">
                          <a:solidFill>
                            <a:schemeClr val="tx1"/>
                          </a:solidFill>
                          <a:effectLst/>
                        </a:rPr>
                        <a:t>예측에 의해 </a:t>
                      </a:r>
                      <a:r>
                        <a:rPr lang="en-US" altLang="ko-KR" sz="1200" strike="noStrike" baseline="0" dirty="0">
                          <a:solidFill>
                            <a:schemeClr val="tx1"/>
                          </a:solidFill>
                          <a:effectLst/>
                        </a:rPr>
                        <a:t>idle data</a:t>
                      </a:r>
                      <a:r>
                        <a:rPr lang="ko-KR" altLang="en-US" sz="1200" strike="noStrike" baseline="0" dirty="0">
                          <a:solidFill>
                            <a:schemeClr val="tx1"/>
                          </a:solidFill>
                          <a:effectLst/>
                        </a:rPr>
                        <a:t>의 불필요한 고속 메모리 점유 가능</a:t>
                      </a:r>
                      <a:r>
                        <a:rPr lang="en-US" altLang="ko-KR" sz="1200" strike="noStrike" baseline="0" dirty="0">
                          <a:solidFill>
                            <a:schemeClr val="tx1"/>
                          </a:solidFill>
                          <a:effectLst/>
                        </a:rPr>
                        <a:t> (QA2)</a:t>
                      </a:r>
                    </a:p>
                    <a:p>
                      <a:pPr marL="228600" indent="-228600" latinLnBrk="1">
                        <a:lnSpc>
                          <a:spcPct val="100000"/>
                        </a:lnSpc>
                        <a:buFont typeface="Wingdings" panose="05000000000000000000" pitchFamily="2" charset="2"/>
                        <a:buChar char="§"/>
                      </a:pPr>
                      <a:r>
                        <a:rPr lang="ko-KR" altLang="en-US" sz="1200" dirty="0"/>
                        <a:t>신규 </a:t>
                      </a:r>
                      <a:r>
                        <a:rPr lang="en-US" altLang="ko-KR" sz="1200" dirty="0"/>
                        <a:t>workload</a:t>
                      </a:r>
                      <a:r>
                        <a:rPr lang="ko-KR" altLang="en-US" sz="1200" dirty="0"/>
                        <a:t> 추가 시 변경 영향 범위 큼 </a:t>
                      </a:r>
                      <a:r>
                        <a:rPr lang="en-US" altLang="ko-KR" sz="1200" dirty="0"/>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179</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이동을 어디서 결정할 것인가</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430887"/>
          </a:xfrm>
          <a:prstGeom prst="rect">
            <a:avLst/>
          </a:prstGeom>
          <a:noFill/>
        </p:spPr>
        <p:txBody>
          <a:bodyPr wrap="square" rtlCol="0">
            <a:spAutoFit/>
          </a:bodyPr>
          <a:lstStyle/>
          <a:p>
            <a:r>
              <a:rPr lang="en-US" altLang="ko-KR" sz="1100" dirty="0"/>
              <a:t>“Resource Plane</a:t>
            </a:r>
            <a:r>
              <a:rPr lang="ko-KR" altLang="en-US" sz="1100" dirty="0"/>
              <a:t>에서 상태를 관측하고 곧바로 이동을 결정</a:t>
            </a:r>
            <a:r>
              <a:rPr lang="en-US" altLang="ko-KR" sz="1100" dirty="0"/>
              <a:t>“</a:t>
            </a:r>
          </a:p>
          <a:p>
            <a:r>
              <a:rPr lang="ko-KR" altLang="en-US" sz="1100" dirty="0"/>
              <a:t>메모리 자원 상태에 우선한 이동</a:t>
            </a:r>
            <a:endParaRPr lang="en-US" altLang="ko-KR" sz="1100" dirty="0"/>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en-US" altLang="ko-KR" sz="1100" dirty="0"/>
              <a:t>“Resource Plane</a:t>
            </a:r>
            <a:r>
              <a:rPr lang="ko-KR" altLang="en-US" sz="1100" dirty="0"/>
              <a:t>은 상태 관측만 하고 </a:t>
            </a:r>
            <a:r>
              <a:rPr lang="en-US" altLang="ko-KR" sz="1100" dirty="0"/>
              <a:t>Control Plane</a:t>
            </a:r>
            <a:r>
              <a:rPr lang="ko-KR" altLang="en-US" sz="1100" dirty="0"/>
              <a:t>에서 이동을 결정</a:t>
            </a:r>
            <a:r>
              <a:rPr lang="en-US" altLang="ko-KR" sz="1100" dirty="0"/>
              <a:t>“</a:t>
            </a:r>
          </a:p>
          <a:p>
            <a:r>
              <a:rPr lang="ko-KR" altLang="en-US" sz="1100" dirty="0"/>
              <a:t>데이터 특성에 우선한 이동 </a:t>
            </a:r>
          </a:p>
        </p:txBody>
      </p:sp>
      <p:sp>
        <p:nvSpPr>
          <p:cNvPr id="118" name="DecisionPlane"/>
          <p:cNvSpPr/>
          <p:nvPr/>
        </p:nvSpPr>
        <p:spPr>
          <a:xfrm>
            <a:off x="1335759" y="1881072"/>
            <a:ext cx="4919889" cy="662926"/>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770700"/>
            <a:ext cx="251696" cy="109458"/>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68979"/>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4"/>
            <a:ext cx="1919939" cy="1090190"/>
            <a:chOff x="1208848" y="2542921"/>
            <a:chExt cx="2013795" cy="1376305"/>
          </a:xfrm>
        </p:grpSpPr>
        <p:sp>
          <p:nvSpPr>
            <p:cNvPr id="238" name="DecisionPlane"/>
            <p:cNvSpPr/>
            <p:nvPr/>
          </p:nvSpPr>
          <p:spPr>
            <a:xfrm>
              <a:off x="1208848" y="2678899"/>
              <a:ext cx="2013795" cy="1240327"/>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52" name="KV Cache Manager"/>
            <p:cNvSpPr/>
            <p:nvPr/>
          </p:nvSpPr>
          <p:spPr>
            <a:xfrm>
              <a:off x="4493949" y="3060767"/>
              <a:ext cx="1409091" cy="2809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264" name="① Event"/>
          <p:cNvCxnSpPr>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738890"/>
            <a:chOff x="6819037" y="1867402"/>
            <a:chExt cx="4919889" cy="1738890"/>
          </a:xfrm>
        </p:grpSpPr>
        <p:sp>
          <p:nvSpPr>
            <p:cNvPr id="230" name="DecisionPlane"/>
            <p:cNvSpPr/>
            <p:nvPr/>
          </p:nvSpPr>
          <p:spPr>
            <a:xfrm>
              <a:off x="6819037" y="1973349"/>
              <a:ext cx="4919889" cy="1132223"/>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cxnSpLocks/>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Analyzer</a:t>
              </a:r>
              <a:endParaRPr lang="ko-KR" altLang="en-US" sz="900" b="1" dirty="0">
                <a:solidFill>
                  <a:schemeClr val="tx1"/>
                </a:solidFill>
              </a:endParaRPr>
            </a:p>
          </p:txBody>
        </p:sp>
        <p:cxnSp>
          <p:nvCxnSpPr>
            <p:cNvPr id="269" name="① Event"/>
            <p:cNvCxnSpPr>
              <a:cxnSpLocks/>
              <a:stCxn id="233" idx="3"/>
              <a:endCxn id="267" idx="1"/>
            </p:cNvCxnSpPr>
            <p:nvPr/>
          </p:nvCxnSpPr>
          <p:spPr>
            <a:xfrm>
              <a:off x="9896498" y="2398454"/>
              <a:ext cx="382931" cy="0"/>
            </a:xfrm>
            <a:prstGeom prst="straightConnector1">
              <a:avLst/>
            </a:prstGeom>
            <a:ln w="9525">
              <a:solidFill>
                <a:schemeClr val="tx1"/>
              </a:solidFill>
              <a:prstDash val="dash"/>
              <a:tailEnd type="arrow"/>
            </a:ln>
          </p:spPr>
        </p:cxnSp>
        <p:cxnSp>
          <p:nvCxnSpPr>
            <p:cNvPr id="304" name="① Event"/>
            <p:cNvCxnSpPr>
              <a:cxnSpLocks/>
              <a:endCxn id="400" idx="3"/>
            </p:cNvCxnSpPr>
            <p:nvPr/>
          </p:nvCxnSpPr>
          <p:spPr>
            <a:xfrm rot="5400000">
              <a:off x="8441988" y="2904277"/>
              <a:ext cx="1034739" cy="369291"/>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597150" y="3152133"/>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74407" y="6079490"/>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090182"/>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4"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KV Cache Manager">
            <a:extLst>
              <a:ext uri="{FF2B5EF4-FFF2-40B4-BE49-F238E27FC236}">
                <a16:creationId xmlns:a16="http://schemas.microsoft.com/office/drawing/2014/main" id="{DAD12A47-FE29-4E92-9221-AE44ADB711CE}"/>
              </a:ext>
            </a:extLst>
          </p:cNvPr>
          <p:cNvSpPr/>
          <p:nvPr/>
        </p:nvSpPr>
        <p:spPr>
          <a:xfrm>
            <a:off x="3120939" y="2175106"/>
            <a:ext cx="1008041" cy="28408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cxnSp>
        <p:nvCxnSpPr>
          <p:cNvPr id="99" name="① Event">
            <a:extLst>
              <a:ext uri="{FF2B5EF4-FFF2-40B4-BE49-F238E27FC236}">
                <a16:creationId xmlns:a16="http://schemas.microsoft.com/office/drawing/2014/main" id="{AF52ABF7-7895-4FE6-A97D-DCD73AA45D86}"/>
              </a:ext>
            </a:extLst>
          </p:cNvPr>
          <p:cNvCxnSpPr>
            <a:cxnSpLocks/>
            <a:stCxn id="96" idx="3"/>
            <a:endCxn id="128" idx="1"/>
          </p:cNvCxnSpPr>
          <p:nvPr/>
        </p:nvCxnSpPr>
        <p:spPr>
          <a:xfrm>
            <a:off x="4128980" y="2317150"/>
            <a:ext cx="488278" cy="13838"/>
          </a:xfrm>
          <a:prstGeom prst="bentConnector3">
            <a:avLst>
              <a:gd name="adj1" fmla="val 50000"/>
            </a:avLst>
          </a:prstGeom>
          <a:ln w="9525">
            <a:solidFill>
              <a:schemeClr val="tx1"/>
            </a:solidFill>
            <a:prstDash val="dash"/>
            <a:tailEnd type="arrow"/>
          </a:ln>
        </p:spPr>
      </p:cxnSp>
      <p:sp>
        <p:nvSpPr>
          <p:cNvPr id="100" name="실행 단추: 앞으로 또는 다음 99">
            <a:hlinkClick r:id="rId5"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6"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33" name="Oval 159">
            <a:extLst>
              <a:ext uri="{FF2B5EF4-FFF2-40B4-BE49-F238E27FC236}">
                <a16:creationId xmlns:a16="http://schemas.microsoft.com/office/drawing/2014/main" id="{F93C420F-F3DE-47BF-90B3-4F3E6F8DC1DA}"/>
              </a:ext>
            </a:extLst>
          </p:cNvPr>
          <p:cNvSpPr/>
          <p:nvPr/>
        </p:nvSpPr>
        <p:spPr>
          <a:xfrm>
            <a:off x="1976460" y="255690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34" name="Oval 159">
            <a:extLst>
              <a:ext uri="{FF2B5EF4-FFF2-40B4-BE49-F238E27FC236}">
                <a16:creationId xmlns:a16="http://schemas.microsoft.com/office/drawing/2014/main" id="{5A8043F5-D047-458B-AD3B-591076E900B4}"/>
              </a:ext>
            </a:extLst>
          </p:cNvPr>
          <p:cNvSpPr/>
          <p:nvPr/>
        </p:nvSpPr>
        <p:spPr>
          <a:xfrm>
            <a:off x="2587278" y="319366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135" name="Oval 159">
            <a:extLst>
              <a:ext uri="{FF2B5EF4-FFF2-40B4-BE49-F238E27FC236}">
                <a16:creationId xmlns:a16="http://schemas.microsoft.com/office/drawing/2014/main" id="{8050712C-C349-47B9-AF7F-9EABE35CE701}"/>
              </a:ext>
            </a:extLst>
          </p:cNvPr>
          <p:cNvSpPr/>
          <p:nvPr/>
        </p:nvSpPr>
        <p:spPr>
          <a:xfrm>
            <a:off x="3535249" y="338909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36" name="Oval 159">
            <a:extLst>
              <a:ext uri="{FF2B5EF4-FFF2-40B4-BE49-F238E27FC236}">
                <a16:creationId xmlns:a16="http://schemas.microsoft.com/office/drawing/2014/main" id="{4E55A266-01EB-4867-A8AE-2ACB23349A06}"/>
              </a:ext>
            </a:extLst>
          </p:cNvPr>
          <p:cNvSpPr/>
          <p:nvPr/>
        </p:nvSpPr>
        <p:spPr>
          <a:xfrm>
            <a:off x="4130641" y="216179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38" name="Oval 159">
            <a:extLst>
              <a:ext uri="{FF2B5EF4-FFF2-40B4-BE49-F238E27FC236}">
                <a16:creationId xmlns:a16="http://schemas.microsoft.com/office/drawing/2014/main" id="{6C742721-68C2-4FBE-B91E-B656F09A96E9}"/>
              </a:ext>
            </a:extLst>
          </p:cNvPr>
          <p:cNvSpPr/>
          <p:nvPr/>
        </p:nvSpPr>
        <p:spPr>
          <a:xfrm>
            <a:off x="5668955" y="288852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42" name="Oval 159">
            <a:extLst>
              <a:ext uri="{FF2B5EF4-FFF2-40B4-BE49-F238E27FC236}">
                <a16:creationId xmlns:a16="http://schemas.microsoft.com/office/drawing/2014/main" id="{DA54D0DB-719B-484E-AABC-3D8E4B4763DB}"/>
              </a:ext>
            </a:extLst>
          </p:cNvPr>
          <p:cNvSpPr/>
          <p:nvPr/>
        </p:nvSpPr>
        <p:spPr>
          <a:xfrm>
            <a:off x="8146046" y="218622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43" name="Oval 159">
            <a:extLst>
              <a:ext uri="{FF2B5EF4-FFF2-40B4-BE49-F238E27FC236}">
                <a16:creationId xmlns:a16="http://schemas.microsoft.com/office/drawing/2014/main" id="{0C2B959D-5453-4CF9-AD9F-ADF24CC585B5}"/>
              </a:ext>
            </a:extLst>
          </p:cNvPr>
          <p:cNvSpPr/>
          <p:nvPr/>
        </p:nvSpPr>
        <p:spPr>
          <a:xfrm>
            <a:off x="9072431" y="25692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145" name="Oval 159">
            <a:extLst>
              <a:ext uri="{FF2B5EF4-FFF2-40B4-BE49-F238E27FC236}">
                <a16:creationId xmlns:a16="http://schemas.microsoft.com/office/drawing/2014/main" id="{9A2411C3-D274-4040-B980-F387D57B7542}"/>
              </a:ext>
            </a:extLst>
          </p:cNvPr>
          <p:cNvSpPr/>
          <p:nvPr/>
        </p:nvSpPr>
        <p:spPr>
          <a:xfrm>
            <a:off x="10007794" y="218622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46" name="Oval 159">
            <a:extLst>
              <a:ext uri="{FF2B5EF4-FFF2-40B4-BE49-F238E27FC236}">
                <a16:creationId xmlns:a16="http://schemas.microsoft.com/office/drawing/2014/main" id="{355D1C60-9B6A-43EF-BEAB-7D71469C10B1}"/>
              </a:ext>
            </a:extLst>
          </p:cNvPr>
          <p:cNvSpPr/>
          <p:nvPr/>
        </p:nvSpPr>
        <p:spPr>
          <a:xfrm>
            <a:off x="11023177" y="2435845"/>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47" name="Oval 159">
            <a:extLst>
              <a:ext uri="{FF2B5EF4-FFF2-40B4-BE49-F238E27FC236}">
                <a16:creationId xmlns:a16="http://schemas.microsoft.com/office/drawing/2014/main" id="{AB4D4D55-EE48-4E28-99D2-3EBEAF8A3AB6}"/>
              </a:ext>
            </a:extLst>
          </p:cNvPr>
          <p:cNvSpPr/>
          <p:nvPr/>
        </p:nvSpPr>
        <p:spPr>
          <a:xfrm>
            <a:off x="10980786" y="30630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48" name="Oval 159">
            <a:extLst>
              <a:ext uri="{FF2B5EF4-FFF2-40B4-BE49-F238E27FC236}">
                <a16:creationId xmlns:a16="http://schemas.microsoft.com/office/drawing/2014/main" id="{A656EC47-6726-4DE3-BB9A-66BFE88053D0}"/>
              </a:ext>
            </a:extLst>
          </p:cNvPr>
          <p:cNvSpPr/>
          <p:nvPr/>
        </p:nvSpPr>
        <p:spPr>
          <a:xfrm>
            <a:off x="9454174" y="35917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49" name="Oval 159">
            <a:extLst>
              <a:ext uri="{FF2B5EF4-FFF2-40B4-BE49-F238E27FC236}">
                <a16:creationId xmlns:a16="http://schemas.microsoft.com/office/drawing/2014/main" id="{05F633F7-2F16-49BE-8A23-5F0C8B977B2C}"/>
              </a:ext>
            </a:extLst>
          </p:cNvPr>
          <p:cNvSpPr/>
          <p:nvPr/>
        </p:nvSpPr>
        <p:spPr>
          <a:xfrm>
            <a:off x="10653209" y="379845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sp>
        <p:nvSpPr>
          <p:cNvPr id="150" name="Oval 159">
            <a:extLst>
              <a:ext uri="{FF2B5EF4-FFF2-40B4-BE49-F238E27FC236}">
                <a16:creationId xmlns:a16="http://schemas.microsoft.com/office/drawing/2014/main" id="{F4113233-4FB4-402E-91C2-5905456E0852}"/>
              </a:ext>
            </a:extLst>
          </p:cNvPr>
          <p:cNvSpPr/>
          <p:nvPr/>
        </p:nvSpPr>
        <p:spPr>
          <a:xfrm>
            <a:off x="4035132" y="366946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51" name="Oval 159">
            <a:extLst>
              <a:ext uri="{FF2B5EF4-FFF2-40B4-BE49-F238E27FC236}">
                <a16:creationId xmlns:a16="http://schemas.microsoft.com/office/drawing/2014/main" id="{EC337293-6637-4252-9638-7FE8FF6E390C}"/>
              </a:ext>
            </a:extLst>
          </p:cNvPr>
          <p:cNvSpPr/>
          <p:nvPr/>
        </p:nvSpPr>
        <p:spPr>
          <a:xfrm>
            <a:off x="5338150" y="387288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grpSp>
        <p:nvGrpSpPr>
          <p:cNvPr id="10" name="그룹 9">
            <a:extLst>
              <a:ext uri="{FF2B5EF4-FFF2-40B4-BE49-F238E27FC236}">
                <a16:creationId xmlns:a16="http://schemas.microsoft.com/office/drawing/2014/main" id="{35AE09D4-AEA2-4131-A8A7-2642EC8AE3CE}"/>
              </a:ext>
            </a:extLst>
          </p:cNvPr>
          <p:cNvGrpSpPr/>
          <p:nvPr/>
        </p:nvGrpSpPr>
        <p:grpSpPr>
          <a:xfrm>
            <a:off x="269738" y="3503821"/>
            <a:ext cx="822008" cy="1106192"/>
            <a:chOff x="269738" y="3554621"/>
            <a:chExt cx="822008" cy="1106192"/>
          </a:xfrm>
        </p:grpSpPr>
        <p:sp>
          <p:nvSpPr>
            <p:cNvPr id="105" name="KV Cache Manager">
              <a:extLst>
                <a:ext uri="{FF2B5EF4-FFF2-40B4-BE49-F238E27FC236}">
                  <a16:creationId xmlns:a16="http://schemas.microsoft.com/office/drawing/2014/main" id="{7EC765EE-7364-4ED8-8648-CF058ABEB2F5}"/>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08" name="KV Cache Manager">
              <a:extLst>
                <a:ext uri="{FF2B5EF4-FFF2-40B4-BE49-F238E27FC236}">
                  <a16:creationId xmlns:a16="http://schemas.microsoft.com/office/drawing/2014/main" id="{CD65D1AD-FBC8-45AB-A99E-D572E315D7C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09" name="KV Cache Manager">
              <a:extLst>
                <a:ext uri="{FF2B5EF4-FFF2-40B4-BE49-F238E27FC236}">
                  <a16:creationId xmlns:a16="http://schemas.microsoft.com/office/drawing/2014/main" id="{FB7AF9AC-DA2C-4E57-A8E2-DFB4F10C25AF}"/>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10" name="직사각형 109">
              <a:extLst>
                <a:ext uri="{FF2B5EF4-FFF2-40B4-BE49-F238E27FC236}">
                  <a16:creationId xmlns:a16="http://schemas.microsoft.com/office/drawing/2014/main" id="{7120530C-2B1D-42F1-A50E-B319829F4F9E}"/>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11" name="KV Cache Manager">
              <a:extLst>
                <a:ext uri="{FF2B5EF4-FFF2-40B4-BE49-F238E27FC236}">
                  <a16:creationId xmlns:a16="http://schemas.microsoft.com/office/drawing/2014/main" id="{CB336F26-629B-4FD2-9C8D-092385750622}"/>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Tree>
    <p:extLst>
      <p:ext uri="{BB962C8B-B14F-4D97-AF65-F5344CB8AC3E}">
        <p14:creationId xmlns:p14="http://schemas.microsoft.com/office/powerpoint/2010/main" val="2425080076"/>
      </p:ext>
    </p:extLst>
  </p:cSld>
  <p:clrMapOvr>
    <a:masterClrMapping/>
  </p:clrMapOvr>
  <p:timing>
    <p:tnLst>
      <p:par>
        <p:cTn id="1" dur="indefinite" restart="never" nodeType="tmRoot"/>
      </p:par>
    </p:tn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상태 관측과 이동 결정을 한 곳에서 </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 </a:t>
                      </a:r>
                      <a:r>
                        <a:rPr lang="en-US" altLang="ko-KR" sz="1200" strike="noStrike" kern="1200" baseline="0" dirty="0">
                          <a:solidFill>
                            <a:schemeClr val="tx1"/>
                          </a:solidFill>
                          <a:effectLst/>
                          <a:latin typeface="+mn-lt"/>
                          <a:ea typeface="+mn-ea"/>
                          <a:cs typeface="+mn-cs"/>
                        </a:rPr>
                        <a:t>(QA2)</a:t>
                      </a:r>
                      <a:endParaRPr lang="ko-KR" altLang="en-US"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중심 구조로</a:t>
                      </a:r>
                      <a:r>
                        <a:rPr lang="en-US" altLang="ko-KR" sz="1200" strike="noStrike" kern="1200" baseline="0" dirty="0">
                          <a:solidFill>
                            <a:schemeClr val="tx1"/>
                          </a:solidFill>
                          <a:effectLst/>
                          <a:latin typeface="+mn-lt"/>
                          <a:ea typeface="+mn-ea"/>
                          <a:cs typeface="+mn-cs"/>
                        </a:rPr>
                        <a:t> decision logic </a:t>
                      </a:r>
                      <a:r>
                        <a:rPr lang="ko-KR" altLang="en-US" sz="1200" strike="noStrike" kern="1200" baseline="0" dirty="0">
                          <a:solidFill>
                            <a:schemeClr val="tx1"/>
                          </a:solidFill>
                          <a:effectLst/>
                          <a:latin typeface="+mn-lt"/>
                          <a:ea typeface="+mn-ea"/>
                          <a:cs typeface="+mn-cs"/>
                        </a:rPr>
                        <a:t>단순 </a:t>
                      </a:r>
                      <a:r>
                        <a:rPr lang="en-US" altLang="ko-KR" sz="1200" strike="noStrike" kern="1200" baseline="0" dirty="0">
                          <a:solidFill>
                            <a:schemeClr val="tx1"/>
                          </a:solidFill>
                          <a:effectLst/>
                          <a:latin typeface="+mn-lt"/>
                          <a:ea typeface="+mn-ea"/>
                          <a:cs typeface="+mn-cs"/>
                        </a:rPr>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(QA1)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Behavior </a:t>
                      </a:r>
                      <a:r>
                        <a:rPr lang="ko-KR" altLang="en-US" sz="1200" strike="noStrike" baseline="0" dirty="0">
                          <a:solidFill>
                            <a:schemeClr val="tx1"/>
                          </a:solidFill>
                          <a:effectLst/>
                        </a:rPr>
                        <a:t>예측에 의해 </a:t>
                      </a:r>
                      <a:r>
                        <a:rPr lang="en-US" altLang="ko-KR" sz="1200" strike="noStrike" baseline="0" dirty="0">
                          <a:solidFill>
                            <a:schemeClr val="tx1"/>
                          </a:solidFill>
                          <a:effectLst/>
                        </a:rPr>
                        <a:t>idle data</a:t>
                      </a:r>
                      <a:r>
                        <a:rPr lang="ko-KR" altLang="en-US" sz="1200" strike="noStrike" baseline="0" dirty="0">
                          <a:solidFill>
                            <a:schemeClr val="tx1"/>
                          </a:solidFill>
                          <a:effectLst/>
                        </a:rPr>
                        <a:t>의 불필요한 고속 메모리 점유 가능</a:t>
                      </a:r>
                      <a:r>
                        <a:rPr lang="en-US" altLang="ko-KR" sz="1200" strike="noStrike" baseline="0" dirty="0">
                          <a:solidFill>
                            <a:schemeClr val="tx1"/>
                          </a:solidFill>
                          <a:effectLst/>
                        </a:rPr>
                        <a:t> (QA2)</a:t>
                      </a:r>
                    </a:p>
                    <a:p>
                      <a:pPr marL="228600" indent="-228600" latinLnBrk="1">
                        <a:lnSpc>
                          <a:spcPct val="100000"/>
                        </a:lnSpc>
                        <a:buFont typeface="Wingdings" panose="05000000000000000000" pitchFamily="2" charset="2"/>
                        <a:buChar char="§"/>
                      </a:pPr>
                      <a:r>
                        <a:rPr lang="ko-KR" altLang="en-US" sz="1200" dirty="0"/>
                        <a:t>신규 </a:t>
                      </a:r>
                      <a:r>
                        <a:rPr lang="en-US" altLang="ko-KR" sz="1200" dirty="0"/>
                        <a:t>workload</a:t>
                      </a:r>
                      <a:r>
                        <a:rPr lang="ko-KR" altLang="en-US" sz="1200" dirty="0"/>
                        <a:t> 추가 시 변경 영향 범위 큼 </a:t>
                      </a:r>
                      <a:r>
                        <a:rPr lang="en-US" altLang="ko-KR" sz="1200" dirty="0"/>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180</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이동을 어디서 결정할 것인가</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430887"/>
          </a:xfrm>
          <a:prstGeom prst="rect">
            <a:avLst/>
          </a:prstGeom>
          <a:noFill/>
        </p:spPr>
        <p:txBody>
          <a:bodyPr wrap="square" rtlCol="0">
            <a:spAutoFit/>
          </a:bodyPr>
          <a:lstStyle/>
          <a:p>
            <a:r>
              <a:rPr lang="en-US" altLang="ko-KR" sz="1100" dirty="0"/>
              <a:t>“Resource Plane</a:t>
            </a:r>
            <a:r>
              <a:rPr lang="ko-KR" altLang="en-US" sz="1100" dirty="0"/>
              <a:t>에서 상태를 관측하고 곧바로 이동을 결정</a:t>
            </a:r>
            <a:r>
              <a:rPr lang="en-US" altLang="ko-KR" sz="1100" dirty="0"/>
              <a:t>“</a:t>
            </a:r>
          </a:p>
          <a:p>
            <a:r>
              <a:rPr lang="ko-KR" altLang="en-US" sz="1100" dirty="0"/>
              <a:t>메모리 자원 상태에 우선한 이동</a:t>
            </a:r>
            <a:endParaRPr lang="en-US" altLang="ko-KR" sz="1100" dirty="0"/>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en-US" altLang="ko-KR" sz="1100" dirty="0"/>
              <a:t>“Resource Plane</a:t>
            </a:r>
            <a:r>
              <a:rPr lang="ko-KR" altLang="en-US" sz="1100" dirty="0"/>
              <a:t>은 상태 관측만 하고 </a:t>
            </a:r>
            <a:r>
              <a:rPr lang="en-US" altLang="ko-KR" sz="1100" dirty="0"/>
              <a:t>Control Plane</a:t>
            </a:r>
            <a:r>
              <a:rPr lang="ko-KR" altLang="en-US" sz="1100" dirty="0"/>
              <a:t>에서 이동을 결정</a:t>
            </a:r>
            <a:r>
              <a:rPr lang="en-US" altLang="ko-KR" sz="1100" dirty="0"/>
              <a:t>“</a:t>
            </a:r>
          </a:p>
          <a:p>
            <a:r>
              <a:rPr lang="ko-KR" altLang="en-US" sz="1100" dirty="0"/>
              <a:t>데이터 특성에 우선한 이동 </a:t>
            </a:r>
          </a:p>
        </p:txBody>
      </p:sp>
      <p:sp>
        <p:nvSpPr>
          <p:cNvPr id="118" name="DecisionPlane"/>
          <p:cNvSpPr/>
          <p:nvPr/>
        </p:nvSpPr>
        <p:spPr>
          <a:xfrm>
            <a:off x="1335759" y="1881072"/>
            <a:ext cx="4919889" cy="662926"/>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770700"/>
            <a:ext cx="251696" cy="109458"/>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68979"/>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4"/>
            <a:ext cx="1919939" cy="1090190"/>
            <a:chOff x="1208848" y="2542921"/>
            <a:chExt cx="2013795" cy="1376305"/>
          </a:xfrm>
        </p:grpSpPr>
        <p:sp>
          <p:nvSpPr>
            <p:cNvPr id="238" name="DecisionPlane"/>
            <p:cNvSpPr/>
            <p:nvPr/>
          </p:nvSpPr>
          <p:spPr>
            <a:xfrm>
              <a:off x="1208848" y="2678899"/>
              <a:ext cx="2013795" cy="1240327"/>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52" name="KV Cache Manager"/>
            <p:cNvSpPr/>
            <p:nvPr/>
          </p:nvSpPr>
          <p:spPr>
            <a:xfrm>
              <a:off x="4493949" y="3060767"/>
              <a:ext cx="1409091" cy="2809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264" name="① Event"/>
          <p:cNvCxnSpPr>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738890"/>
            <a:chOff x="6819037" y="1867402"/>
            <a:chExt cx="4919889" cy="1738890"/>
          </a:xfrm>
        </p:grpSpPr>
        <p:sp>
          <p:nvSpPr>
            <p:cNvPr id="230" name="DecisionPlane"/>
            <p:cNvSpPr/>
            <p:nvPr/>
          </p:nvSpPr>
          <p:spPr>
            <a:xfrm>
              <a:off x="6819037" y="1973349"/>
              <a:ext cx="4919889" cy="1132223"/>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cxnSpLocks/>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Analyzer</a:t>
              </a:r>
              <a:endParaRPr lang="ko-KR" altLang="en-US" sz="900" b="1" dirty="0">
                <a:solidFill>
                  <a:schemeClr val="tx1"/>
                </a:solidFill>
              </a:endParaRPr>
            </a:p>
          </p:txBody>
        </p:sp>
        <p:cxnSp>
          <p:nvCxnSpPr>
            <p:cNvPr id="269" name="① Event"/>
            <p:cNvCxnSpPr>
              <a:cxnSpLocks/>
              <a:stCxn id="233" idx="3"/>
              <a:endCxn id="267" idx="1"/>
            </p:cNvCxnSpPr>
            <p:nvPr/>
          </p:nvCxnSpPr>
          <p:spPr>
            <a:xfrm>
              <a:off x="9896498" y="2398454"/>
              <a:ext cx="382931" cy="0"/>
            </a:xfrm>
            <a:prstGeom prst="straightConnector1">
              <a:avLst/>
            </a:prstGeom>
            <a:ln w="9525">
              <a:solidFill>
                <a:schemeClr val="tx1"/>
              </a:solidFill>
              <a:prstDash val="dash"/>
              <a:tailEnd type="arrow"/>
            </a:ln>
          </p:spPr>
        </p:cxnSp>
        <p:cxnSp>
          <p:nvCxnSpPr>
            <p:cNvPr id="304" name="① Event"/>
            <p:cNvCxnSpPr>
              <a:cxnSpLocks/>
              <a:endCxn id="400" idx="3"/>
            </p:cNvCxnSpPr>
            <p:nvPr/>
          </p:nvCxnSpPr>
          <p:spPr>
            <a:xfrm rot="5400000">
              <a:off x="8441988" y="2904277"/>
              <a:ext cx="1034739" cy="369291"/>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597150" y="5450833"/>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74407" y="6079490"/>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090182"/>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4"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KV Cache Manager">
            <a:extLst>
              <a:ext uri="{FF2B5EF4-FFF2-40B4-BE49-F238E27FC236}">
                <a16:creationId xmlns:a16="http://schemas.microsoft.com/office/drawing/2014/main" id="{DAD12A47-FE29-4E92-9221-AE44ADB711CE}"/>
              </a:ext>
            </a:extLst>
          </p:cNvPr>
          <p:cNvSpPr/>
          <p:nvPr/>
        </p:nvSpPr>
        <p:spPr>
          <a:xfrm>
            <a:off x="3120939" y="2175106"/>
            <a:ext cx="1008041" cy="28408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cxnSp>
        <p:nvCxnSpPr>
          <p:cNvPr id="99" name="① Event">
            <a:extLst>
              <a:ext uri="{FF2B5EF4-FFF2-40B4-BE49-F238E27FC236}">
                <a16:creationId xmlns:a16="http://schemas.microsoft.com/office/drawing/2014/main" id="{AF52ABF7-7895-4FE6-A97D-DCD73AA45D86}"/>
              </a:ext>
            </a:extLst>
          </p:cNvPr>
          <p:cNvCxnSpPr>
            <a:cxnSpLocks/>
            <a:stCxn id="96" idx="3"/>
            <a:endCxn id="128" idx="1"/>
          </p:cNvCxnSpPr>
          <p:nvPr/>
        </p:nvCxnSpPr>
        <p:spPr>
          <a:xfrm>
            <a:off x="4128980" y="2317150"/>
            <a:ext cx="488278" cy="13838"/>
          </a:xfrm>
          <a:prstGeom prst="bentConnector3">
            <a:avLst>
              <a:gd name="adj1" fmla="val 50000"/>
            </a:avLst>
          </a:prstGeom>
          <a:ln w="9525">
            <a:solidFill>
              <a:schemeClr val="tx1"/>
            </a:solidFill>
            <a:prstDash val="dash"/>
            <a:tailEnd type="arrow"/>
          </a:ln>
        </p:spPr>
      </p:cxnSp>
      <p:sp>
        <p:nvSpPr>
          <p:cNvPr id="100" name="실행 단추: 앞으로 또는 다음 99">
            <a:hlinkClick r:id="rId5"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6"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33" name="Oval 159">
            <a:extLst>
              <a:ext uri="{FF2B5EF4-FFF2-40B4-BE49-F238E27FC236}">
                <a16:creationId xmlns:a16="http://schemas.microsoft.com/office/drawing/2014/main" id="{F93C420F-F3DE-47BF-90B3-4F3E6F8DC1DA}"/>
              </a:ext>
            </a:extLst>
          </p:cNvPr>
          <p:cNvSpPr/>
          <p:nvPr/>
        </p:nvSpPr>
        <p:spPr>
          <a:xfrm>
            <a:off x="1976460" y="255690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34" name="Oval 159">
            <a:extLst>
              <a:ext uri="{FF2B5EF4-FFF2-40B4-BE49-F238E27FC236}">
                <a16:creationId xmlns:a16="http://schemas.microsoft.com/office/drawing/2014/main" id="{5A8043F5-D047-458B-AD3B-591076E900B4}"/>
              </a:ext>
            </a:extLst>
          </p:cNvPr>
          <p:cNvSpPr/>
          <p:nvPr/>
        </p:nvSpPr>
        <p:spPr>
          <a:xfrm>
            <a:off x="2587278" y="319366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135" name="Oval 159">
            <a:extLst>
              <a:ext uri="{FF2B5EF4-FFF2-40B4-BE49-F238E27FC236}">
                <a16:creationId xmlns:a16="http://schemas.microsoft.com/office/drawing/2014/main" id="{8050712C-C349-47B9-AF7F-9EABE35CE701}"/>
              </a:ext>
            </a:extLst>
          </p:cNvPr>
          <p:cNvSpPr/>
          <p:nvPr/>
        </p:nvSpPr>
        <p:spPr>
          <a:xfrm>
            <a:off x="3535249" y="338909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36" name="Oval 159">
            <a:extLst>
              <a:ext uri="{FF2B5EF4-FFF2-40B4-BE49-F238E27FC236}">
                <a16:creationId xmlns:a16="http://schemas.microsoft.com/office/drawing/2014/main" id="{4E55A266-01EB-4867-A8AE-2ACB23349A06}"/>
              </a:ext>
            </a:extLst>
          </p:cNvPr>
          <p:cNvSpPr/>
          <p:nvPr/>
        </p:nvSpPr>
        <p:spPr>
          <a:xfrm>
            <a:off x="4130641" y="216179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38" name="Oval 159">
            <a:extLst>
              <a:ext uri="{FF2B5EF4-FFF2-40B4-BE49-F238E27FC236}">
                <a16:creationId xmlns:a16="http://schemas.microsoft.com/office/drawing/2014/main" id="{6C742721-68C2-4FBE-B91E-B656F09A96E9}"/>
              </a:ext>
            </a:extLst>
          </p:cNvPr>
          <p:cNvSpPr/>
          <p:nvPr/>
        </p:nvSpPr>
        <p:spPr>
          <a:xfrm>
            <a:off x="5668955" y="288852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42" name="Oval 159">
            <a:extLst>
              <a:ext uri="{FF2B5EF4-FFF2-40B4-BE49-F238E27FC236}">
                <a16:creationId xmlns:a16="http://schemas.microsoft.com/office/drawing/2014/main" id="{DA54D0DB-719B-484E-AABC-3D8E4B4763DB}"/>
              </a:ext>
            </a:extLst>
          </p:cNvPr>
          <p:cNvSpPr/>
          <p:nvPr/>
        </p:nvSpPr>
        <p:spPr>
          <a:xfrm>
            <a:off x="8146046" y="218622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43" name="Oval 159">
            <a:extLst>
              <a:ext uri="{FF2B5EF4-FFF2-40B4-BE49-F238E27FC236}">
                <a16:creationId xmlns:a16="http://schemas.microsoft.com/office/drawing/2014/main" id="{0C2B959D-5453-4CF9-AD9F-ADF24CC585B5}"/>
              </a:ext>
            </a:extLst>
          </p:cNvPr>
          <p:cNvSpPr/>
          <p:nvPr/>
        </p:nvSpPr>
        <p:spPr>
          <a:xfrm>
            <a:off x="9072431" y="25692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145" name="Oval 159">
            <a:extLst>
              <a:ext uri="{FF2B5EF4-FFF2-40B4-BE49-F238E27FC236}">
                <a16:creationId xmlns:a16="http://schemas.microsoft.com/office/drawing/2014/main" id="{9A2411C3-D274-4040-B980-F387D57B7542}"/>
              </a:ext>
            </a:extLst>
          </p:cNvPr>
          <p:cNvSpPr/>
          <p:nvPr/>
        </p:nvSpPr>
        <p:spPr>
          <a:xfrm>
            <a:off x="10007794" y="218622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46" name="Oval 159">
            <a:extLst>
              <a:ext uri="{FF2B5EF4-FFF2-40B4-BE49-F238E27FC236}">
                <a16:creationId xmlns:a16="http://schemas.microsoft.com/office/drawing/2014/main" id="{355D1C60-9B6A-43EF-BEAB-7D71469C10B1}"/>
              </a:ext>
            </a:extLst>
          </p:cNvPr>
          <p:cNvSpPr/>
          <p:nvPr/>
        </p:nvSpPr>
        <p:spPr>
          <a:xfrm>
            <a:off x="11023177" y="2435845"/>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47" name="Oval 159">
            <a:extLst>
              <a:ext uri="{FF2B5EF4-FFF2-40B4-BE49-F238E27FC236}">
                <a16:creationId xmlns:a16="http://schemas.microsoft.com/office/drawing/2014/main" id="{AB4D4D55-EE48-4E28-99D2-3EBEAF8A3AB6}"/>
              </a:ext>
            </a:extLst>
          </p:cNvPr>
          <p:cNvSpPr/>
          <p:nvPr/>
        </p:nvSpPr>
        <p:spPr>
          <a:xfrm>
            <a:off x="10980786" y="30630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48" name="Oval 159">
            <a:extLst>
              <a:ext uri="{FF2B5EF4-FFF2-40B4-BE49-F238E27FC236}">
                <a16:creationId xmlns:a16="http://schemas.microsoft.com/office/drawing/2014/main" id="{A656EC47-6726-4DE3-BB9A-66BFE88053D0}"/>
              </a:ext>
            </a:extLst>
          </p:cNvPr>
          <p:cNvSpPr/>
          <p:nvPr/>
        </p:nvSpPr>
        <p:spPr>
          <a:xfrm>
            <a:off x="9454174" y="35917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49" name="Oval 159">
            <a:extLst>
              <a:ext uri="{FF2B5EF4-FFF2-40B4-BE49-F238E27FC236}">
                <a16:creationId xmlns:a16="http://schemas.microsoft.com/office/drawing/2014/main" id="{05F633F7-2F16-49BE-8A23-5F0C8B977B2C}"/>
              </a:ext>
            </a:extLst>
          </p:cNvPr>
          <p:cNvSpPr/>
          <p:nvPr/>
        </p:nvSpPr>
        <p:spPr>
          <a:xfrm>
            <a:off x="10653209" y="379845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sp>
        <p:nvSpPr>
          <p:cNvPr id="150" name="Oval 159">
            <a:extLst>
              <a:ext uri="{FF2B5EF4-FFF2-40B4-BE49-F238E27FC236}">
                <a16:creationId xmlns:a16="http://schemas.microsoft.com/office/drawing/2014/main" id="{F4113233-4FB4-402E-91C2-5905456E0852}"/>
              </a:ext>
            </a:extLst>
          </p:cNvPr>
          <p:cNvSpPr/>
          <p:nvPr/>
        </p:nvSpPr>
        <p:spPr>
          <a:xfrm>
            <a:off x="4035132" y="366946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51" name="Oval 159">
            <a:extLst>
              <a:ext uri="{FF2B5EF4-FFF2-40B4-BE49-F238E27FC236}">
                <a16:creationId xmlns:a16="http://schemas.microsoft.com/office/drawing/2014/main" id="{EC337293-6637-4252-9638-7FE8FF6E390C}"/>
              </a:ext>
            </a:extLst>
          </p:cNvPr>
          <p:cNvSpPr/>
          <p:nvPr/>
        </p:nvSpPr>
        <p:spPr>
          <a:xfrm>
            <a:off x="5338150" y="387288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grpSp>
        <p:nvGrpSpPr>
          <p:cNvPr id="10" name="그룹 9">
            <a:extLst>
              <a:ext uri="{FF2B5EF4-FFF2-40B4-BE49-F238E27FC236}">
                <a16:creationId xmlns:a16="http://schemas.microsoft.com/office/drawing/2014/main" id="{35AE09D4-AEA2-4131-A8A7-2642EC8AE3CE}"/>
              </a:ext>
            </a:extLst>
          </p:cNvPr>
          <p:cNvGrpSpPr/>
          <p:nvPr/>
        </p:nvGrpSpPr>
        <p:grpSpPr>
          <a:xfrm>
            <a:off x="269738" y="5802521"/>
            <a:ext cx="822008" cy="1106192"/>
            <a:chOff x="269738" y="3554621"/>
            <a:chExt cx="822008" cy="1106192"/>
          </a:xfrm>
        </p:grpSpPr>
        <p:sp>
          <p:nvSpPr>
            <p:cNvPr id="105" name="KV Cache Manager">
              <a:extLst>
                <a:ext uri="{FF2B5EF4-FFF2-40B4-BE49-F238E27FC236}">
                  <a16:creationId xmlns:a16="http://schemas.microsoft.com/office/drawing/2014/main" id="{7EC765EE-7364-4ED8-8648-CF058ABEB2F5}"/>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08" name="KV Cache Manager">
              <a:extLst>
                <a:ext uri="{FF2B5EF4-FFF2-40B4-BE49-F238E27FC236}">
                  <a16:creationId xmlns:a16="http://schemas.microsoft.com/office/drawing/2014/main" id="{CD65D1AD-FBC8-45AB-A99E-D572E315D7C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09" name="KV Cache Manager">
              <a:extLst>
                <a:ext uri="{FF2B5EF4-FFF2-40B4-BE49-F238E27FC236}">
                  <a16:creationId xmlns:a16="http://schemas.microsoft.com/office/drawing/2014/main" id="{FB7AF9AC-DA2C-4E57-A8E2-DFB4F10C25AF}"/>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10" name="직사각형 109">
              <a:extLst>
                <a:ext uri="{FF2B5EF4-FFF2-40B4-BE49-F238E27FC236}">
                  <a16:creationId xmlns:a16="http://schemas.microsoft.com/office/drawing/2014/main" id="{7120530C-2B1D-42F1-A50E-B319829F4F9E}"/>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11" name="KV Cache Manager">
              <a:extLst>
                <a:ext uri="{FF2B5EF4-FFF2-40B4-BE49-F238E27FC236}">
                  <a16:creationId xmlns:a16="http://schemas.microsoft.com/office/drawing/2014/main" id="{CB336F26-629B-4FD2-9C8D-092385750622}"/>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Tree>
    <p:extLst>
      <p:ext uri="{BB962C8B-B14F-4D97-AF65-F5344CB8AC3E}">
        <p14:creationId xmlns:p14="http://schemas.microsoft.com/office/powerpoint/2010/main" val="108251710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306426" y="821729"/>
            <a:ext cx="5581827" cy="4627085"/>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063272" y="675855"/>
            <a:ext cx="4043238"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a:t>
            </a:r>
            <a:r>
              <a:rPr lang="ko-KR" altLang="en-US" sz="1100" b="1" dirty="0"/>
              <a:t>메모리 자원 및 데이터 특성 기반 데이터 </a:t>
            </a:r>
            <a:r>
              <a:rPr lang="ko-KR" altLang="en-US" sz="1100" b="1" dirty="0" err="1"/>
              <a:t>이동</a:t>
            </a:r>
            <a:r>
              <a:rPr lang="ko-KR" altLang="en-US" sz="1100" b="1" dirty="0" err="1">
                <a:latin typeface="맑은 고딕" panose="020B0503020000020004" pitchFamily="50" charset="-127"/>
                <a:ea typeface="맑은 고딕" panose="020B0503020000020004" pitchFamily="50" charset="-127"/>
              </a:rPr>
              <a:t>〮배치</a:t>
            </a:r>
            <a:endParaRPr lang="ko-KR" altLang="en-US" sz="1100" b="1" dirty="0"/>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378605" y="692846"/>
            <a:ext cx="5507847" cy="4755968"/>
            <a:chOff x="211958" y="3004152"/>
            <a:chExt cx="6173883" cy="5334654"/>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148717"/>
              <a:ext cx="6173883" cy="5190089"/>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850622" y="3004152"/>
              <a:ext cx="4896555"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As-Is: </a:t>
              </a:r>
              <a:r>
                <a:rPr lang="ko-KR" altLang="en-US" sz="1200" b="1" dirty="0"/>
                <a:t>단순 </a:t>
              </a:r>
              <a:r>
                <a:rPr lang="en-US" altLang="ko-KR" sz="1200" b="1" dirty="0"/>
                <a:t>Offloading </a:t>
              </a:r>
              <a:r>
                <a:rPr lang="ko-KR" altLang="en-US" sz="1200" b="1" dirty="0"/>
                <a:t>기법</a:t>
              </a:r>
              <a:r>
                <a:rPr lang="en-US" altLang="ko-KR" sz="1200" b="1" dirty="0"/>
                <a:t> </a:t>
              </a:r>
              <a:endParaRPr lang="ko-KR" altLang="en-US" sz="1200" b="1" dirty="0"/>
            </a:p>
          </p:txBody>
        </p:sp>
      </p:grpSp>
      <p:sp>
        <p:nvSpPr>
          <p:cNvPr id="261" name="Rectangle 260"/>
          <p:cNvSpPr/>
          <p:nvPr/>
        </p:nvSpPr>
        <p:spPr>
          <a:xfrm>
            <a:off x="6436294" y="1115568"/>
            <a:ext cx="5351405" cy="64008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62" name="TextBox 261"/>
          <p:cNvSpPr txBox="1"/>
          <p:nvPr/>
        </p:nvSpPr>
        <p:spPr>
          <a:xfrm>
            <a:off x="6490077" y="1174334"/>
            <a:ext cx="5243839" cy="138499"/>
          </a:xfrm>
          <a:prstGeom prst="rect">
            <a:avLst/>
          </a:prstGeom>
          <a:noFill/>
        </p:spPr>
        <p:txBody>
          <a:bodyPr wrap="square" lIns="0" tIns="0" rIns="0" bIns="0" anchor="ctr">
            <a:spAutoFit/>
          </a:bodyPr>
          <a:lstStyle/>
          <a:p>
            <a:pPr algn="l"/>
            <a:r>
              <a:rPr sz="900" b="1" dirty="0">
                <a:solidFill>
                  <a:srgbClr val="1A1A1A"/>
                </a:solidFill>
                <a:latin typeface="맑은 고딕"/>
                <a:ea typeface="맑은 고딕"/>
              </a:rPr>
              <a:t>Inference Engine (</a:t>
            </a:r>
            <a:r>
              <a:rPr sz="900" b="1" dirty="0" err="1">
                <a:solidFill>
                  <a:srgbClr val="1A1A1A"/>
                </a:solidFill>
                <a:latin typeface="맑은 고딕"/>
                <a:ea typeface="맑은 고딕"/>
              </a:rPr>
              <a:t>기존</a:t>
            </a:r>
            <a:r>
              <a:rPr sz="900" b="1" dirty="0">
                <a:solidFill>
                  <a:srgbClr val="1A1A1A"/>
                </a:solidFill>
                <a:latin typeface="맑은 고딕"/>
                <a:ea typeface="맑은 고딕"/>
              </a:rPr>
              <a:t> I/F </a:t>
            </a:r>
            <a:r>
              <a:rPr sz="900" b="1" dirty="0" err="1">
                <a:solidFill>
                  <a:srgbClr val="1A1A1A"/>
                </a:solidFill>
                <a:latin typeface="맑은 고딕"/>
                <a:ea typeface="맑은 고딕"/>
              </a:rPr>
              <a:t>유지</a:t>
            </a:r>
            <a:r>
              <a:rPr sz="900" b="1" dirty="0">
                <a:solidFill>
                  <a:srgbClr val="1A1A1A"/>
                </a:solidFill>
                <a:latin typeface="맑은 고딕"/>
                <a:ea typeface="맑은 고딕"/>
              </a:rPr>
              <a:t>)</a:t>
            </a:r>
          </a:p>
        </p:txBody>
      </p:sp>
      <p:sp>
        <p:nvSpPr>
          <p:cNvPr id="263" name="Rectangle 262"/>
          <p:cNvSpPr/>
          <p:nvPr/>
        </p:nvSpPr>
        <p:spPr>
          <a:xfrm>
            <a:off x="6483682" y="1371600"/>
            <a:ext cx="968093"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264" name="Rectangle 263"/>
          <p:cNvSpPr/>
          <p:nvPr/>
        </p:nvSpPr>
        <p:spPr>
          <a:xfrm>
            <a:off x="7882714" y="1371600"/>
            <a:ext cx="968093"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265" name="Rectangle 264"/>
          <p:cNvSpPr/>
          <p:nvPr/>
        </p:nvSpPr>
        <p:spPr>
          <a:xfrm>
            <a:off x="9281746" y="1371600"/>
            <a:ext cx="968093"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KV Connector</a:t>
            </a:r>
          </a:p>
        </p:txBody>
      </p:sp>
      <p:sp>
        <p:nvSpPr>
          <p:cNvPr id="267" name="Rectangle 266"/>
          <p:cNvSpPr/>
          <p:nvPr/>
        </p:nvSpPr>
        <p:spPr>
          <a:xfrm>
            <a:off x="10681408" y="1371600"/>
            <a:ext cx="1030841"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268" name="Connector 267"/>
          <p:cNvCxnSpPr/>
          <p:nvPr/>
        </p:nvCxnSpPr>
        <p:spPr>
          <a:xfrm>
            <a:off x="8057798" y="1755648"/>
            <a:ext cx="0" cy="256032"/>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9" name="TextBox 268"/>
          <p:cNvSpPr txBox="1"/>
          <p:nvPr/>
        </p:nvSpPr>
        <p:spPr>
          <a:xfrm>
            <a:off x="8141625" y="1811515"/>
            <a:ext cx="1972042" cy="107722"/>
          </a:xfrm>
          <a:prstGeom prst="rect">
            <a:avLst/>
          </a:prstGeom>
          <a:noFill/>
        </p:spPr>
        <p:txBody>
          <a:bodyPr wrap="square" lIns="0" tIns="0" rIns="0" bIns="0" anchor="ctr">
            <a:spAutoFit/>
          </a:bodyPr>
          <a:lstStyle/>
          <a:p>
            <a:pPr algn="l"/>
            <a:r>
              <a:rPr sz="700" b="0">
                <a:solidFill>
                  <a:srgbClr val="C55A11"/>
                </a:solidFill>
                <a:latin typeface="맑은 고딕"/>
                <a:ea typeface="맑은 고딕"/>
              </a:rPr>
              <a:t>Event push(비동기): 요청·Tool 호출·Access</a:t>
            </a:r>
          </a:p>
        </p:txBody>
      </p:sp>
      <p:cxnSp>
        <p:nvCxnSpPr>
          <p:cNvPr id="270" name="Connector 269"/>
          <p:cNvCxnSpPr/>
          <p:nvPr/>
        </p:nvCxnSpPr>
        <p:spPr>
          <a:xfrm flipV="1">
            <a:off x="11338560" y="1755648"/>
            <a:ext cx="0" cy="256032"/>
          </a:xfrm>
          <a:prstGeom prst="line">
            <a:avLst/>
          </a:prstGeom>
          <a:ln w="15875">
            <a:solidFill>
              <a:srgbClr val="4472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477988" y="1811515"/>
            <a:ext cx="806745" cy="107722"/>
          </a:xfrm>
          <a:prstGeom prst="rect">
            <a:avLst/>
          </a:prstGeom>
          <a:noFill/>
        </p:spPr>
        <p:txBody>
          <a:bodyPr wrap="square" lIns="0" tIns="0" rIns="0" bIns="0" anchor="ctr">
            <a:spAutoFit/>
          </a:bodyPr>
          <a:lstStyle/>
          <a:p>
            <a:pPr algn="r"/>
            <a:r>
              <a:rPr lang="ko-KR" altLang="en-US" sz="700" dirty="0">
                <a:solidFill>
                  <a:srgbClr val="4472C4"/>
                </a:solidFill>
                <a:latin typeface="맑은 고딕"/>
                <a:ea typeface="맑은 고딕"/>
              </a:rPr>
              <a:t>위치 이동 </a:t>
            </a:r>
            <a:r>
              <a:rPr lang="ko-KR" altLang="en-US" sz="700" b="0" dirty="0">
                <a:solidFill>
                  <a:srgbClr val="4472C4"/>
                </a:solidFill>
                <a:latin typeface="맑은 고딕"/>
                <a:ea typeface="맑은 고딕"/>
              </a:rPr>
              <a:t>정보</a:t>
            </a:r>
            <a:endParaRPr sz="700" b="0" dirty="0">
              <a:solidFill>
                <a:srgbClr val="4472C4"/>
              </a:solidFill>
              <a:latin typeface="맑은 고딕"/>
              <a:ea typeface="맑은 고딕"/>
            </a:endParaRPr>
          </a:p>
        </p:txBody>
      </p:sp>
      <p:sp>
        <p:nvSpPr>
          <p:cNvPr id="272" name="Rectangle 271"/>
          <p:cNvSpPr/>
          <p:nvPr/>
        </p:nvSpPr>
        <p:spPr>
          <a:xfrm>
            <a:off x="6475918" y="2012341"/>
            <a:ext cx="5351405" cy="2395728"/>
          </a:xfrm>
          <a:prstGeom prst="rect">
            <a:avLst/>
          </a:prstGeom>
          <a:solidFill>
            <a:srgbClr val="FFFBF8"/>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3" name="TextBox 272"/>
          <p:cNvSpPr txBox="1"/>
          <p:nvPr/>
        </p:nvSpPr>
        <p:spPr>
          <a:xfrm>
            <a:off x="6490077" y="2070446"/>
            <a:ext cx="5243839" cy="138499"/>
          </a:xfrm>
          <a:prstGeom prst="rect">
            <a:avLst/>
          </a:prstGeom>
          <a:noFill/>
        </p:spPr>
        <p:txBody>
          <a:bodyPr wrap="square" lIns="0" tIns="0" rIns="0" bIns="0" anchor="ctr">
            <a:spAutoFit/>
          </a:bodyPr>
          <a:lstStyle/>
          <a:p>
            <a:pPr algn="l"/>
            <a:r>
              <a:rPr sz="900" b="1">
                <a:solidFill>
                  <a:srgbClr val="C55A11"/>
                </a:solidFill>
                <a:latin typeface="맑은 고딕"/>
                <a:ea typeface="맑은 고딕"/>
              </a:rPr>
              <a:t>이기종 메모리 aware Migration Layer (신규)</a:t>
            </a:r>
          </a:p>
        </p:txBody>
      </p:sp>
      <p:sp>
        <p:nvSpPr>
          <p:cNvPr id="274" name="Rectangle 273"/>
          <p:cNvSpPr/>
          <p:nvPr/>
        </p:nvSpPr>
        <p:spPr>
          <a:xfrm>
            <a:off x="6515578" y="2286000"/>
            <a:ext cx="1210117" cy="201168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5" name="TextBox 274"/>
          <p:cNvSpPr txBox="1"/>
          <p:nvPr/>
        </p:nvSpPr>
        <p:spPr>
          <a:xfrm>
            <a:off x="6533506" y="2325028"/>
            <a:ext cx="1174261"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Data Object Registry</a:t>
            </a:r>
          </a:p>
        </p:txBody>
      </p:sp>
      <p:sp>
        <p:nvSpPr>
          <p:cNvPr id="276" name="Rectangle 275"/>
          <p:cNvSpPr/>
          <p:nvPr/>
        </p:nvSpPr>
        <p:spPr>
          <a:xfrm>
            <a:off x="6578325" y="259458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(System Prompt)</a:t>
            </a:r>
          </a:p>
        </p:txBody>
      </p:sp>
      <p:sp>
        <p:nvSpPr>
          <p:cNvPr id="277" name="Rectangle 276"/>
          <p:cNvSpPr/>
          <p:nvPr/>
        </p:nvSpPr>
        <p:spPr>
          <a:xfrm>
            <a:off x="6578325" y="291925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(Agent Memory)</a:t>
            </a:r>
          </a:p>
        </p:txBody>
      </p:sp>
      <p:sp>
        <p:nvSpPr>
          <p:cNvPr id="278" name="Rectangle 277"/>
          <p:cNvSpPr/>
          <p:nvPr/>
        </p:nvSpPr>
        <p:spPr>
          <a:xfrm>
            <a:off x="6578325" y="324392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LoRA Adapter</a:t>
            </a:r>
          </a:p>
        </p:txBody>
      </p:sp>
      <p:sp>
        <p:nvSpPr>
          <p:cNvPr id="279" name="Rectangle 278"/>
          <p:cNvSpPr/>
          <p:nvPr/>
        </p:nvSpPr>
        <p:spPr>
          <a:xfrm>
            <a:off x="6578325" y="356859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1A1A1A"/>
                </a:solidFill>
                <a:latin typeface="맑은 고딕"/>
                <a:ea typeface="맑은 고딕"/>
              </a:rPr>
              <a:t>MoE</a:t>
            </a:r>
            <a:r>
              <a:rPr sz="800" b="1" dirty="0">
                <a:solidFill>
                  <a:srgbClr val="1A1A1A"/>
                </a:solidFill>
                <a:latin typeface="맑은 고딕"/>
                <a:ea typeface="맑은 고딕"/>
              </a:rPr>
              <a:t> Expert</a:t>
            </a:r>
          </a:p>
        </p:txBody>
      </p:sp>
      <p:sp>
        <p:nvSpPr>
          <p:cNvPr id="281" name="TextBox 280"/>
          <p:cNvSpPr txBox="1"/>
          <p:nvPr/>
        </p:nvSpPr>
        <p:spPr>
          <a:xfrm>
            <a:off x="6533506" y="3942067"/>
            <a:ext cx="1174261"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Class별 Metadata</a:t>
            </a:r>
          </a:p>
        </p:txBody>
      </p:sp>
      <p:sp>
        <p:nvSpPr>
          <p:cNvPr id="282" name="TextBox 281"/>
          <p:cNvSpPr txBox="1"/>
          <p:nvPr/>
        </p:nvSpPr>
        <p:spPr>
          <a:xfrm>
            <a:off x="6533506" y="4097515"/>
            <a:ext cx="1174261"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(Reuse · Lifetime · Tool)</a:t>
            </a:r>
          </a:p>
        </p:txBody>
      </p:sp>
      <p:sp>
        <p:nvSpPr>
          <p:cNvPr id="283" name="Rectangle 282"/>
          <p:cNvSpPr/>
          <p:nvPr/>
        </p:nvSpPr>
        <p:spPr>
          <a:xfrm>
            <a:off x="10527762" y="2286000"/>
            <a:ext cx="1210117" cy="201168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84" name="TextBox 283"/>
          <p:cNvSpPr txBox="1"/>
          <p:nvPr/>
        </p:nvSpPr>
        <p:spPr>
          <a:xfrm>
            <a:off x="10545690" y="2325028"/>
            <a:ext cx="1174261"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Resource Manager</a:t>
            </a:r>
          </a:p>
        </p:txBody>
      </p:sp>
      <p:sp>
        <p:nvSpPr>
          <p:cNvPr id="285" name="Rectangle 284"/>
          <p:cNvSpPr/>
          <p:nvPr/>
        </p:nvSpPr>
        <p:spPr>
          <a:xfrm>
            <a:off x="10590509" y="2542032"/>
            <a:ext cx="1084623" cy="676656"/>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Telemetry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Collector</a:t>
            </a:r>
            <a:endParaRPr lang="en-US" sz="1000" b="1" dirty="0">
              <a:solidFill>
                <a:srgbClr val="1A1A1A"/>
              </a:solidFill>
              <a:latin typeface="맑은 고딕"/>
              <a:ea typeface="맑은 고딕"/>
            </a:endParaRPr>
          </a:p>
        </p:txBody>
      </p:sp>
      <p:sp>
        <p:nvSpPr>
          <p:cNvPr id="286" name="Rectangle 285"/>
          <p:cNvSpPr/>
          <p:nvPr/>
        </p:nvSpPr>
        <p:spPr>
          <a:xfrm>
            <a:off x="10590509" y="3353892"/>
            <a:ext cx="1084623" cy="68580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Memory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Registry</a:t>
            </a:r>
            <a:endParaRPr lang="en-US" sz="1000" b="1" dirty="0">
              <a:solidFill>
                <a:srgbClr val="1A1A1A"/>
              </a:solidFill>
              <a:latin typeface="맑은 고딕"/>
              <a:ea typeface="맑은 고딕"/>
            </a:endParaRPr>
          </a:p>
        </p:txBody>
      </p:sp>
      <p:sp>
        <p:nvSpPr>
          <p:cNvPr id="287" name="Rectangle 286"/>
          <p:cNvSpPr/>
          <p:nvPr/>
        </p:nvSpPr>
        <p:spPr>
          <a:xfrm>
            <a:off x="7906450" y="2286000"/>
            <a:ext cx="2420234"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Scheduler</a:t>
            </a:r>
          </a:p>
        </p:txBody>
      </p:sp>
      <p:sp>
        <p:nvSpPr>
          <p:cNvPr id="288" name="Rectangle 287"/>
          <p:cNvSpPr/>
          <p:nvPr/>
        </p:nvSpPr>
        <p:spPr>
          <a:xfrm>
            <a:off x="7906450" y="2695887"/>
            <a:ext cx="2420234"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1000" b="1" dirty="0">
                <a:solidFill>
                  <a:srgbClr val="1A1A1A"/>
                </a:solidFill>
                <a:latin typeface="맑은 고딕"/>
                <a:ea typeface="맑은 고딕"/>
              </a:rPr>
              <a:t>State/Behavior </a:t>
            </a:r>
            <a:r>
              <a:rPr sz="1000" b="1" dirty="0">
                <a:solidFill>
                  <a:srgbClr val="1A1A1A"/>
                </a:solidFill>
                <a:latin typeface="맑은 고딕"/>
                <a:ea typeface="맑은 고딕"/>
              </a:rPr>
              <a:t>Monitor</a:t>
            </a:r>
          </a:p>
        </p:txBody>
      </p:sp>
      <p:sp>
        <p:nvSpPr>
          <p:cNvPr id="289" name="Rectangle 288"/>
          <p:cNvSpPr/>
          <p:nvPr/>
        </p:nvSpPr>
        <p:spPr>
          <a:xfrm>
            <a:off x="7906450" y="3207570"/>
            <a:ext cx="2420234"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Analyze / Predict</a:t>
            </a:r>
          </a:p>
        </p:txBody>
      </p:sp>
      <p:sp>
        <p:nvSpPr>
          <p:cNvPr id="290" name="Rectangle 289"/>
          <p:cNvSpPr/>
          <p:nvPr/>
        </p:nvSpPr>
        <p:spPr>
          <a:xfrm>
            <a:off x="7906450" y="3682518"/>
            <a:ext cx="2420234" cy="331927"/>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1000" b="1" dirty="0">
                <a:solidFill>
                  <a:srgbClr val="FFFFFF"/>
                </a:solidFill>
                <a:ea typeface="맑은 고딕"/>
              </a:rPr>
              <a:t>Migration Policy Engine</a:t>
            </a:r>
          </a:p>
        </p:txBody>
      </p:sp>
      <p:cxnSp>
        <p:nvCxnSpPr>
          <p:cNvPr id="291" name="Connector 290"/>
          <p:cNvCxnSpPr/>
          <p:nvPr/>
        </p:nvCxnSpPr>
        <p:spPr>
          <a:xfrm>
            <a:off x="9116567" y="2560320"/>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116567" y="3062478"/>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9116567" y="3564636"/>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Rectangle 293"/>
          <p:cNvSpPr/>
          <p:nvPr/>
        </p:nvSpPr>
        <p:spPr>
          <a:xfrm>
            <a:off x="7906450" y="4096512"/>
            <a:ext cx="2420234" cy="237744"/>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Migration Executor</a:t>
            </a:r>
          </a:p>
        </p:txBody>
      </p:sp>
      <p:cxnSp>
        <p:nvCxnSpPr>
          <p:cNvPr id="295" name="Connector 294"/>
          <p:cNvCxnSpPr/>
          <p:nvPr/>
        </p:nvCxnSpPr>
        <p:spPr>
          <a:xfrm>
            <a:off x="9116567" y="4014215"/>
            <a:ext cx="0" cy="82297"/>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740583" y="2889504"/>
            <a:ext cx="170312"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740583" y="3877056"/>
            <a:ext cx="170312"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flipH="1">
            <a:off x="10352630" y="2889504"/>
            <a:ext cx="161349"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flipH="1">
            <a:off x="10352630" y="3877056"/>
            <a:ext cx="161349"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1" name="Connector 300"/>
          <p:cNvCxnSpPr>
            <a:stCxn id="283" idx="2"/>
          </p:cNvCxnSpPr>
          <p:nvPr/>
        </p:nvCxnSpPr>
        <p:spPr>
          <a:xfrm>
            <a:off x="11132820" y="4297680"/>
            <a:ext cx="0" cy="216654"/>
          </a:xfrm>
          <a:prstGeom prst="line">
            <a:avLst/>
          </a:prstGeom>
          <a:ln w="15875">
            <a:solidFill>
              <a:srgbClr val="C55A1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02" name="Rectangle 301"/>
          <p:cNvSpPr/>
          <p:nvPr/>
        </p:nvSpPr>
        <p:spPr>
          <a:xfrm>
            <a:off x="7986413" y="4526280"/>
            <a:ext cx="385594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FFFFFF"/>
                </a:solidFill>
                <a:latin typeface="맑은 고딕"/>
                <a:ea typeface="맑은 고딕"/>
              </a:rPr>
              <a:t>공통</a:t>
            </a:r>
            <a:r>
              <a:rPr sz="800" b="1" dirty="0">
                <a:solidFill>
                  <a:srgbClr val="FFFFFF"/>
                </a:solidFill>
                <a:latin typeface="맑은 고딕"/>
                <a:ea typeface="맑은 고딕"/>
              </a:rPr>
              <a:t> Memory Backend I/F (Plug-in)</a:t>
            </a:r>
          </a:p>
        </p:txBody>
      </p:sp>
      <p:sp>
        <p:nvSpPr>
          <p:cNvPr id="304" name="Rectangle 303"/>
          <p:cNvSpPr/>
          <p:nvPr/>
        </p:nvSpPr>
        <p:spPr>
          <a:xfrm>
            <a:off x="7964558" y="4881511"/>
            <a:ext cx="416324"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HBM</a:t>
            </a:r>
          </a:p>
        </p:txBody>
      </p:sp>
      <p:cxnSp>
        <p:nvCxnSpPr>
          <p:cNvPr id="305" name="Connector 304"/>
          <p:cNvCxnSpPr/>
          <p:nvPr/>
        </p:nvCxnSpPr>
        <p:spPr>
          <a:xfrm>
            <a:off x="8172720" y="4790071"/>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6" name="Rectangle 305"/>
          <p:cNvSpPr/>
          <p:nvPr/>
        </p:nvSpPr>
        <p:spPr>
          <a:xfrm>
            <a:off x="8462282" y="4881511"/>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ScHBM</a:t>
            </a:r>
          </a:p>
        </p:txBody>
      </p:sp>
      <p:cxnSp>
        <p:nvCxnSpPr>
          <p:cNvPr id="307" name="Connector 306"/>
          <p:cNvCxnSpPr/>
          <p:nvPr/>
        </p:nvCxnSpPr>
        <p:spPr>
          <a:xfrm>
            <a:off x="8670444" y="4790071"/>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8" name="Rectangle 307"/>
          <p:cNvSpPr/>
          <p:nvPr/>
        </p:nvSpPr>
        <p:spPr>
          <a:xfrm>
            <a:off x="8960006" y="4892040"/>
            <a:ext cx="416324"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DRAM</a:t>
            </a:r>
          </a:p>
        </p:txBody>
      </p:sp>
      <p:cxnSp>
        <p:nvCxnSpPr>
          <p:cNvPr id="309" name="Connector 308"/>
          <p:cNvCxnSpPr/>
          <p:nvPr/>
        </p:nvCxnSpPr>
        <p:spPr>
          <a:xfrm>
            <a:off x="916816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0" name="Rectangle 309"/>
          <p:cNvSpPr/>
          <p:nvPr/>
        </p:nvSpPr>
        <p:spPr>
          <a:xfrm>
            <a:off x="9457730" y="4892040"/>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CXL-</a:t>
            </a:r>
            <a:endParaRPr lang="en-US" sz="800" b="1" dirty="0">
              <a:solidFill>
                <a:srgbClr val="1A1A1A"/>
              </a:solidFill>
              <a:latin typeface="맑은 고딕"/>
              <a:ea typeface="맑은 고딕"/>
            </a:endParaRPr>
          </a:p>
          <a:p>
            <a:pPr algn="ctr"/>
            <a:r>
              <a:rPr sz="800" b="1" dirty="0">
                <a:solidFill>
                  <a:srgbClr val="1A1A1A"/>
                </a:solidFill>
                <a:latin typeface="맑은 고딕"/>
                <a:ea typeface="맑은 고딕"/>
              </a:rPr>
              <a:t>PNM</a:t>
            </a:r>
          </a:p>
        </p:txBody>
      </p:sp>
      <p:cxnSp>
        <p:nvCxnSpPr>
          <p:cNvPr id="311" name="Connector 310"/>
          <p:cNvCxnSpPr/>
          <p:nvPr/>
        </p:nvCxnSpPr>
        <p:spPr>
          <a:xfrm>
            <a:off x="9665892"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2" name="Rectangle 311"/>
          <p:cNvSpPr/>
          <p:nvPr/>
        </p:nvSpPr>
        <p:spPr>
          <a:xfrm>
            <a:off x="9955454" y="4892040"/>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HBF</a:t>
            </a:r>
          </a:p>
        </p:txBody>
      </p:sp>
      <p:cxnSp>
        <p:nvCxnSpPr>
          <p:cNvPr id="313" name="Connector 312"/>
          <p:cNvCxnSpPr/>
          <p:nvPr/>
        </p:nvCxnSpPr>
        <p:spPr>
          <a:xfrm>
            <a:off x="10163616"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4" name="Rectangle 313"/>
          <p:cNvSpPr/>
          <p:nvPr/>
        </p:nvSpPr>
        <p:spPr>
          <a:xfrm>
            <a:off x="10453178" y="4892040"/>
            <a:ext cx="416324"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a:t>
            </a:r>
          </a:p>
        </p:txBody>
      </p:sp>
      <p:cxnSp>
        <p:nvCxnSpPr>
          <p:cNvPr id="315" name="Connector 314"/>
          <p:cNvCxnSpPr/>
          <p:nvPr/>
        </p:nvCxnSpPr>
        <p:spPr>
          <a:xfrm>
            <a:off x="10661340"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6" name="Rectangle 315"/>
          <p:cNvSpPr/>
          <p:nvPr/>
        </p:nvSpPr>
        <p:spPr>
          <a:xfrm>
            <a:off x="10950902" y="4892040"/>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SSD-</a:t>
            </a:r>
            <a:endParaRPr lang="en-US" sz="800" b="1" dirty="0">
              <a:solidFill>
                <a:srgbClr val="1A1A1A"/>
              </a:solidFill>
              <a:latin typeface="맑은 고딕"/>
              <a:ea typeface="맑은 고딕"/>
            </a:endParaRPr>
          </a:p>
          <a:p>
            <a:pPr algn="ctr"/>
            <a:r>
              <a:rPr sz="800" b="1" dirty="0">
                <a:solidFill>
                  <a:srgbClr val="1A1A1A"/>
                </a:solidFill>
                <a:latin typeface="맑은 고딕"/>
                <a:ea typeface="맑은 고딕"/>
              </a:rPr>
              <a:t>PIM</a:t>
            </a:r>
          </a:p>
        </p:txBody>
      </p:sp>
      <p:cxnSp>
        <p:nvCxnSpPr>
          <p:cNvPr id="317" name="Connector 316"/>
          <p:cNvCxnSpPr/>
          <p:nvPr/>
        </p:nvCxnSpPr>
        <p:spPr>
          <a:xfrm>
            <a:off x="1115906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8" name="Rectangle 317"/>
          <p:cNvSpPr/>
          <p:nvPr/>
        </p:nvSpPr>
        <p:spPr>
          <a:xfrm>
            <a:off x="11448628" y="4892040"/>
            <a:ext cx="416324" cy="274320"/>
          </a:xfrm>
          <a:prstGeom prst="rect">
            <a:avLst/>
          </a:prstGeom>
          <a:solidFill>
            <a:srgbClr val="FFFFFF"/>
          </a:solidFill>
          <a:ln w="952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C55A11"/>
                </a:solidFill>
                <a:latin typeface="맑은 고딕"/>
                <a:ea typeface="맑은 고딕"/>
              </a:rPr>
              <a:t>+ New</a:t>
            </a:r>
          </a:p>
        </p:txBody>
      </p:sp>
      <p:cxnSp>
        <p:nvCxnSpPr>
          <p:cNvPr id="319" name="Connector 318"/>
          <p:cNvCxnSpPr/>
          <p:nvPr/>
        </p:nvCxnSpPr>
        <p:spPr>
          <a:xfrm>
            <a:off x="11656790"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Rectangle 319"/>
          <p:cNvSpPr/>
          <p:nvPr/>
        </p:nvSpPr>
        <p:spPr>
          <a:xfrm>
            <a:off x="9950114" y="5257800"/>
            <a:ext cx="143421" cy="109728"/>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1" name="TextBox 320"/>
          <p:cNvSpPr txBox="1"/>
          <p:nvPr/>
        </p:nvSpPr>
        <p:spPr>
          <a:xfrm>
            <a:off x="10138759" y="5258803"/>
            <a:ext cx="717106"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신규 메모리</a:t>
            </a:r>
          </a:p>
        </p:txBody>
      </p:sp>
      <p:sp>
        <p:nvSpPr>
          <p:cNvPr id="322" name="Rectangle 321"/>
          <p:cNvSpPr/>
          <p:nvPr/>
        </p:nvSpPr>
        <p:spPr>
          <a:xfrm>
            <a:off x="10910234" y="5257800"/>
            <a:ext cx="143421" cy="109728"/>
          </a:xfrm>
          <a:prstGeom prst="rect">
            <a:avLst/>
          </a:prstGeom>
          <a:solidFill>
            <a:srgbClr val="E7E6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3" name="TextBox 322"/>
          <p:cNvSpPr txBox="1"/>
          <p:nvPr/>
        </p:nvSpPr>
        <p:spPr>
          <a:xfrm>
            <a:off x="11098879" y="5258803"/>
            <a:ext cx="717106"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기존 메모리</a:t>
            </a:r>
          </a:p>
        </p:txBody>
      </p:sp>
      <p:sp>
        <p:nvSpPr>
          <p:cNvPr id="142" name="Rectangle 301"/>
          <p:cNvSpPr/>
          <p:nvPr/>
        </p:nvSpPr>
        <p:spPr>
          <a:xfrm>
            <a:off x="6436430" y="4526280"/>
            <a:ext cx="1422260"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Transfer Handler</a:t>
            </a:r>
            <a:endParaRPr sz="900" b="1" dirty="0">
              <a:solidFill>
                <a:srgbClr val="1A1A1A"/>
              </a:solidFill>
              <a:latin typeface="맑은 고딕"/>
              <a:ea typeface="맑은 고딕"/>
            </a:endParaRPr>
          </a:p>
        </p:txBody>
      </p:sp>
      <p:cxnSp>
        <p:nvCxnSpPr>
          <p:cNvPr id="150" name="Connector 294"/>
          <p:cNvCxnSpPr>
            <a:stCxn id="294" idx="2"/>
            <a:endCxn id="142" idx="0"/>
          </p:cNvCxnSpPr>
          <p:nvPr/>
        </p:nvCxnSpPr>
        <p:spPr>
          <a:xfrm rot="5400000">
            <a:off x="8037944" y="3445765"/>
            <a:ext cx="188241" cy="1969007"/>
          </a:xfrm>
          <a:prstGeom prst="bentConnector3">
            <a:avLst>
              <a:gd name="adj1" fmla="val 50000"/>
            </a:avLst>
          </a:prstGeom>
          <a:ln w="12700">
            <a:solidFill>
              <a:schemeClr val="bg1">
                <a:lumMod val="50000"/>
              </a:schemeClr>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 name="AsIs TextBox 507"/>
          <p:cNvSpPr txBox="1"/>
          <p:nvPr/>
        </p:nvSpPr>
        <p:spPr>
          <a:xfrm>
            <a:off x="6467826" y="4731680"/>
            <a:ext cx="1441185" cy="389430"/>
          </a:xfrm>
          <a:prstGeom prst="rect">
            <a:avLst/>
          </a:prstGeom>
          <a:noFill/>
        </p:spPr>
        <p:txBody>
          <a:bodyPr wrap="square" lIns="0" tIns="0" rIns="0" bIns="0" anchor="ctr"/>
          <a:lstStyle/>
          <a:p>
            <a:r>
              <a:rPr lang="en-US" altLang="ko-KR" sz="700" dirty="0">
                <a:solidFill>
                  <a:schemeClr val="bg1">
                    <a:lumMod val="50000"/>
                  </a:schemeClr>
                </a:solidFill>
                <a:ea typeface="맑은 고딕"/>
              </a:rPr>
              <a:t>logical block id → </a:t>
            </a:r>
            <a:r>
              <a:rPr lang="ko-KR" altLang="en-US" sz="700" dirty="0">
                <a:solidFill>
                  <a:schemeClr val="bg1">
                    <a:lumMod val="50000"/>
                  </a:schemeClr>
                </a:solidFill>
                <a:ea typeface="맑은 고딕"/>
              </a:rPr>
              <a:t>물리 위치 이동 </a:t>
            </a:r>
            <a:endParaRPr lang="en-US" altLang="ko-KR" sz="700" dirty="0">
              <a:solidFill>
                <a:schemeClr val="bg1">
                  <a:lumMod val="50000"/>
                </a:schemeClr>
              </a:solidFill>
              <a:ea typeface="맑은 고딕"/>
            </a:endParaRPr>
          </a:p>
        </p:txBody>
      </p:sp>
      <p:sp>
        <p:nvSpPr>
          <p:cNvPr id="107" name="Text 22">
            <a:extLst>
              <a:ext uri="{FF2B5EF4-FFF2-40B4-BE49-F238E27FC236}">
                <a16:creationId xmlns:a16="http://schemas.microsoft.com/office/drawing/2014/main" id="{044061BB-AF9B-4AFA-B4AB-EA19EDF0C103}"/>
              </a:ext>
            </a:extLst>
          </p:cNvPr>
          <p:cNvSpPr/>
          <p:nvPr/>
        </p:nvSpPr>
        <p:spPr>
          <a:xfrm>
            <a:off x="383682" y="5989237"/>
            <a:ext cx="8321945" cy="574400"/>
          </a:xfrm>
          <a:prstGeom prst="rect">
            <a:avLst/>
          </a:prstGeom>
          <a:noFill/>
          <a:ln/>
        </p:spPr>
        <p:txBody>
          <a:bodyPr wrap="square" lIns="0" tIns="0" rIns="0" bIns="0" rtlCol="0" anchor="t"/>
          <a:lstStyle/>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1. </a:t>
            </a:r>
            <a:r>
              <a:rPr lang="ko-KR" altLang="en-US" sz="1200" dirty="0">
                <a:latin typeface="맑은 고딕" panose="020B0503020000020004" pitchFamily="50" charset="-127"/>
              </a:rPr>
              <a:t>메모리 특성</a:t>
            </a:r>
            <a:r>
              <a:rPr lang="en-US" altLang="ko-KR" sz="1200" dirty="0">
                <a:latin typeface="맑은 고딕" panose="020B0503020000020004" pitchFamily="50" charset="-127"/>
              </a:rPr>
              <a:t>, </a:t>
            </a:r>
            <a:r>
              <a:rPr lang="ko-KR" altLang="en-US" sz="1200" dirty="0">
                <a:latin typeface="맑은 고딕" panose="020B0503020000020004" pitchFamily="50" charset="-127"/>
              </a:rPr>
              <a:t>데이터 특성을 </a:t>
            </a:r>
            <a:r>
              <a:rPr lang="en-US" altLang="ko-KR" sz="1200" dirty="0">
                <a:latin typeface="맑은 고딕" panose="020B0503020000020004" pitchFamily="50" charset="-127"/>
              </a:rPr>
              <a:t>aware</a:t>
            </a:r>
            <a:r>
              <a:rPr lang="ko-KR" altLang="en-US" sz="1200" dirty="0">
                <a:latin typeface="맑은 고딕" panose="020B0503020000020004" pitchFamily="50" charset="-127"/>
              </a:rPr>
              <a:t>한 데이터 </a:t>
            </a:r>
            <a:r>
              <a:rPr lang="en-US" altLang="ko-KR" sz="1200" dirty="0">
                <a:latin typeface="맑은 고딕" panose="020B0503020000020004" pitchFamily="50" charset="-127"/>
              </a:rPr>
              <a:t>Migration</a:t>
            </a:r>
            <a:r>
              <a:rPr lang="ko-KR" altLang="en-US" sz="1200" dirty="0">
                <a:latin typeface="맑은 고딕" panose="020B0503020000020004" pitchFamily="50" charset="-127"/>
              </a:rPr>
              <a:t>을 통해 </a:t>
            </a:r>
            <a:r>
              <a:rPr lang="en-US" altLang="ko-KR" sz="1200" b="1" dirty="0">
                <a:solidFill>
                  <a:srgbClr val="0066FF"/>
                </a:solidFill>
                <a:latin typeface="맑은 고딕" panose="020B0503020000020004" pitchFamily="50" charset="-127"/>
              </a:rPr>
              <a:t>AI </a:t>
            </a:r>
            <a:r>
              <a:rPr lang="ko-KR" altLang="en-US" sz="1200" b="1" dirty="0">
                <a:solidFill>
                  <a:srgbClr val="0066FF"/>
                </a:solidFill>
                <a:latin typeface="맑은 고딕" panose="020B0503020000020004" pitchFamily="50" charset="-127"/>
              </a:rPr>
              <a:t>추론 성능 최적화</a:t>
            </a:r>
            <a:endParaRPr lang="en-US" altLang="ko-KR" sz="1200" dirty="0">
              <a:latin typeface="맑은 고딕" panose="020B0503020000020004" pitchFamily="50" charset="-127"/>
            </a:endParaRPr>
          </a:p>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2. </a:t>
            </a:r>
            <a:r>
              <a:rPr lang="ko-KR" altLang="en-US" sz="1200" dirty="0">
                <a:latin typeface="맑은 고딕" panose="020B0503020000020004" pitchFamily="50" charset="-127"/>
              </a:rPr>
              <a:t>신규 메모리 확장 시 </a:t>
            </a:r>
            <a:r>
              <a:rPr lang="ko-KR" altLang="en-US" sz="1200" b="1" dirty="0">
                <a:solidFill>
                  <a:srgbClr val="0066FF"/>
                </a:solidFill>
                <a:latin typeface="맑은 고딕" panose="020B0503020000020004" pitchFamily="50" charset="-127"/>
              </a:rPr>
              <a:t>기존 구조 변경을 최소화</a:t>
            </a:r>
            <a:endParaRPr lang="en-US" altLang="ko-KR" sz="1200" dirty="0">
              <a:latin typeface="맑은 고딕" panose="020B0503020000020004" pitchFamily="50" charset="-127"/>
            </a:endParaRPr>
          </a:p>
        </p:txBody>
      </p:sp>
      <p:sp>
        <p:nvSpPr>
          <p:cNvPr id="108" name="Text 22">
            <a:extLst>
              <a:ext uri="{FF2B5EF4-FFF2-40B4-BE49-F238E27FC236}">
                <a16:creationId xmlns:a16="http://schemas.microsoft.com/office/drawing/2014/main" id="{6E4C06FB-5661-411C-992A-C3DD21D98412}"/>
              </a:ext>
            </a:extLst>
          </p:cNvPr>
          <p:cNvSpPr/>
          <p:nvPr/>
        </p:nvSpPr>
        <p:spPr>
          <a:xfrm>
            <a:off x="827779" y="5575471"/>
            <a:ext cx="8761226" cy="325343"/>
          </a:xfrm>
          <a:prstGeom prst="rect">
            <a:avLst/>
          </a:prstGeom>
          <a:noFill/>
          <a:ln/>
        </p:spPr>
        <p:txBody>
          <a:bodyPr wrap="square" lIns="0" tIns="0" rIns="0" bIns="0" rtlCol="0" anchor="t"/>
          <a:lstStyle/>
          <a:p>
            <a:pPr>
              <a:lnSpc>
                <a:spcPct val="150000"/>
              </a:lnSpc>
            </a:pPr>
            <a:r>
              <a:rPr lang="en-US" altLang="ko-KR" sz="1200" b="1" dirty="0">
                <a:sym typeface="Wingdings" panose="05000000000000000000" pitchFamily="2" charset="2"/>
              </a:rPr>
              <a:t>System-Level</a:t>
            </a:r>
            <a:r>
              <a:rPr lang="ko-KR" altLang="en-US" sz="1200" b="1" dirty="0">
                <a:sym typeface="Wingdings" panose="05000000000000000000" pitchFamily="2" charset="2"/>
              </a:rPr>
              <a:t>의 메모리 효율적 활용을 위해 </a:t>
            </a:r>
            <a:r>
              <a:rPr lang="en-US" altLang="ko-KR" sz="1200" b="1" dirty="0">
                <a:sym typeface="Wingdings" panose="05000000000000000000" pitchFamily="2" charset="2"/>
              </a:rPr>
              <a:t>AI </a:t>
            </a:r>
            <a:r>
              <a:rPr lang="ko-KR" altLang="en-US" sz="1200" b="1" dirty="0">
                <a:sym typeface="Wingdings" panose="05000000000000000000" pitchFamily="2" charset="2"/>
              </a:rPr>
              <a:t>응용에 맞는 데이터 스케줄링 필요 </a:t>
            </a:r>
            <a:endParaRPr lang="en-US" altLang="ko-KR" sz="1200" b="1" dirty="0">
              <a:sym typeface="Wingdings" panose="05000000000000000000" pitchFamily="2" charset="2"/>
            </a:endParaRPr>
          </a:p>
        </p:txBody>
      </p:sp>
      <p:sp>
        <p:nvSpPr>
          <p:cNvPr id="110" name="오른쪽 화살표 39">
            <a:extLst>
              <a:ext uri="{FF2B5EF4-FFF2-40B4-BE49-F238E27FC236}">
                <a16:creationId xmlns:a16="http://schemas.microsoft.com/office/drawing/2014/main" id="{54EC47CE-2C51-4E80-9454-E8A1DE43DF59}"/>
              </a:ext>
            </a:extLst>
          </p:cNvPr>
          <p:cNvSpPr/>
          <p:nvPr/>
        </p:nvSpPr>
        <p:spPr>
          <a:xfrm>
            <a:off x="365615" y="5610314"/>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오른쪽 화살표 3"/>
          <p:cNvSpPr/>
          <p:nvPr/>
        </p:nvSpPr>
        <p:spPr>
          <a:xfrm>
            <a:off x="5978926" y="2885668"/>
            <a:ext cx="252844" cy="7924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Diagram title"/>
          <p:cNvSpPr txBox="1"/>
          <p:nvPr/>
        </p:nvSpPr>
        <p:spPr>
          <a:xfrm>
            <a:off x="629075" y="1276600"/>
            <a:ext cx="5045456" cy="190000"/>
          </a:xfrm>
          <a:prstGeom prst="rect">
            <a:avLst/>
          </a:prstGeom>
          <a:noFill/>
        </p:spPr>
        <p:txBody>
          <a:bodyPr wrap="square" lIns="0" tIns="0" rIns="0" bIns="0" rtlCol="0" anchor="ctr">
            <a:noAutofit/>
          </a:bodyPr>
          <a:lstStyle/>
          <a:p>
            <a:pPr algn="ctr">
              <a:lnSpc>
                <a:spcPct val="100000"/>
              </a:lnSpc>
              <a:spcBef>
                <a:spcPts val="0"/>
              </a:spcBef>
            </a:pPr>
            <a:r>
              <a:rPr lang="ko-KR" altLang="en-US" sz="900" b="1" dirty="0">
                <a:solidFill>
                  <a:srgbClr val="3A3A3A"/>
                </a:solidFill>
                <a:latin typeface="맑은 고딕"/>
                <a:ea typeface="맑은 고딕"/>
              </a:rPr>
              <a:t>기존 런타임: 고정된 계층 경로(HBM → DRAM → SSD)로만 데이터 이동</a:t>
            </a:r>
          </a:p>
        </p:txBody>
      </p:sp>
      <p:sp>
        <p:nvSpPr>
          <p:cNvPr id="186" name="AsIs Engine 501"/>
          <p:cNvSpPr/>
          <p:nvPr/>
        </p:nvSpPr>
        <p:spPr>
          <a:xfrm>
            <a:off x="535860" y="1106043"/>
            <a:ext cx="5191920" cy="649605"/>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187" name="AsIs TextBox 502"/>
          <p:cNvSpPr txBox="1"/>
          <p:nvPr/>
        </p:nvSpPr>
        <p:spPr>
          <a:xfrm>
            <a:off x="589111" y="1150475"/>
            <a:ext cx="5085419" cy="150000"/>
          </a:xfrm>
          <a:prstGeom prst="rect">
            <a:avLst/>
          </a:prstGeom>
          <a:noFill/>
        </p:spPr>
        <p:txBody>
          <a:bodyPr wrap="square" lIns="0" tIns="0" rIns="0" bIns="0" anchor="ctr"/>
          <a:lstStyle/>
          <a:p>
            <a:pPr algn="l"/>
            <a:r>
              <a:rPr lang="en-US" altLang="ko-KR" sz="900" b="1" dirty="0">
                <a:solidFill>
                  <a:srgbClr val="1A1A1A"/>
                </a:solidFill>
                <a:latin typeface="맑은 고딕"/>
                <a:ea typeface="맑은 고딕"/>
              </a:rPr>
              <a:t>Inference Engine (</a:t>
            </a:r>
            <a:r>
              <a:rPr lang="en-US" altLang="ko-KR" sz="900" b="1" dirty="0" err="1">
                <a:solidFill>
                  <a:srgbClr val="1A1A1A"/>
                </a:solidFill>
                <a:latin typeface="맑은 고딕"/>
                <a:ea typeface="맑은 고딕"/>
              </a:rPr>
              <a:t>vLLM</a:t>
            </a:r>
            <a:r>
              <a:rPr lang="en-US" altLang="ko-KR" sz="900" b="1" dirty="0">
                <a:solidFill>
                  <a:srgbClr val="1A1A1A"/>
                </a:solidFill>
                <a:latin typeface="맑은 고딕"/>
                <a:ea typeface="맑은 고딕"/>
              </a:rPr>
              <a:t>)</a:t>
            </a:r>
          </a:p>
        </p:txBody>
      </p:sp>
      <p:sp>
        <p:nvSpPr>
          <p:cNvPr id="188" name="Rectangle 262">
            <a:extLst>
              <a:ext uri="{FF2B5EF4-FFF2-40B4-BE49-F238E27FC236}">
                <a16:creationId xmlns:a16="http://schemas.microsoft.com/office/drawing/2014/main" id="{5E5E24D5-DD07-4B93-AB37-DDD32A3A2D27}"/>
              </a:ext>
            </a:extLst>
          </p:cNvPr>
          <p:cNvSpPr/>
          <p:nvPr/>
        </p:nvSpPr>
        <p:spPr>
          <a:xfrm>
            <a:off x="689025" y="1345886"/>
            <a:ext cx="958508"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189" name="Rectangle 263">
            <a:extLst>
              <a:ext uri="{FF2B5EF4-FFF2-40B4-BE49-F238E27FC236}">
                <a16:creationId xmlns:a16="http://schemas.microsoft.com/office/drawing/2014/main" id="{74394127-A72E-4631-A782-D747A9EDD11B}"/>
              </a:ext>
            </a:extLst>
          </p:cNvPr>
          <p:cNvSpPr/>
          <p:nvPr/>
        </p:nvSpPr>
        <p:spPr>
          <a:xfrm>
            <a:off x="1967061" y="1345886"/>
            <a:ext cx="958508"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190" name="Rectangle 264">
            <a:extLst>
              <a:ext uri="{FF2B5EF4-FFF2-40B4-BE49-F238E27FC236}">
                <a16:creationId xmlns:a16="http://schemas.microsoft.com/office/drawing/2014/main" id="{0EE1B332-E102-4A40-9243-E6E92E237C41}"/>
              </a:ext>
            </a:extLst>
          </p:cNvPr>
          <p:cNvSpPr/>
          <p:nvPr/>
        </p:nvSpPr>
        <p:spPr>
          <a:xfrm>
            <a:off x="3315506" y="1345886"/>
            <a:ext cx="958508"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Connector</a:t>
            </a:r>
          </a:p>
        </p:txBody>
      </p:sp>
      <p:sp>
        <p:nvSpPr>
          <p:cNvPr id="191" name="Rectangle 266">
            <a:extLst>
              <a:ext uri="{FF2B5EF4-FFF2-40B4-BE49-F238E27FC236}">
                <a16:creationId xmlns:a16="http://schemas.microsoft.com/office/drawing/2014/main" id="{A3BC80FB-7FE1-4783-895D-524998D7C601}"/>
              </a:ext>
            </a:extLst>
          </p:cNvPr>
          <p:cNvSpPr/>
          <p:nvPr/>
        </p:nvSpPr>
        <p:spPr>
          <a:xfrm>
            <a:off x="4564694" y="1345886"/>
            <a:ext cx="1020635"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352" name="Connector 10"/>
          <p:cNvCxnSpPr/>
          <p:nvPr/>
        </p:nvCxnSpPr>
        <p:spPr>
          <a:xfrm>
            <a:off x="3822192" y="1755648"/>
            <a:ext cx="0" cy="402336"/>
          </a:xfrm>
          <a:prstGeom prst="line">
            <a:avLst/>
          </a:prstGeom>
          <a:ln w="1905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3" name="TextBox 352"/>
          <p:cNvSpPr txBox="1"/>
          <p:nvPr/>
        </p:nvSpPr>
        <p:spPr>
          <a:xfrm>
            <a:off x="3968233" y="1870305"/>
            <a:ext cx="1617096" cy="146194"/>
          </a:xfrm>
          <a:prstGeom prst="rect">
            <a:avLst/>
          </a:prstGeom>
          <a:noFill/>
        </p:spPr>
        <p:txBody>
          <a:bodyPr wrap="square" lIns="0" tIns="0" rIns="0" bIns="0" anchor="t">
            <a:spAutoFit/>
          </a:bodyPr>
          <a:lstStyle/>
          <a:p>
            <a:r>
              <a:rPr lang="en-US" altLang="ko-KR" sz="950" dirty="0">
                <a:solidFill>
                  <a:srgbClr val="404040"/>
                </a:solidFill>
                <a:latin typeface="맑은 고딕"/>
                <a:ea typeface="맑은 고딕"/>
              </a:rPr>
              <a:t>HBM </a:t>
            </a:r>
            <a:r>
              <a:rPr lang="ko-KR" altLang="en-US" sz="950" dirty="0">
                <a:solidFill>
                  <a:srgbClr val="404040"/>
                </a:solidFill>
                <a:latin typeface="맑은 고딕"/>
                <a:ea typeface="맑은 고딕"/>
              </a:rPr>
              <a:t>내 </a:t>
            </a:r>
            <a:r>
              <a:rPr lang="en-US" altLang="ko-KR" sz="950" dirty="0">
                <a:solidFill>
                  <a:srgbClr val="404040"/>
                </a:solidFill>
                <a:ea typeface="맑은 고딕"/>
              </a:rPr>
              <a:t>KV </a:t>
            </a:r>
            <a:r>
              <a:rPr lang="ko-KR" altLang="en-US" sz="950" dirty="0">
                <a:solidFill>
                  <a:srgbClr val="404040"/>
                </a:solidFill>
                <a:ea typeface="맑은 고딕"/>
              </a:rPr>
              <a:t>블록 부족 감지</a:t>
            </a:r>
            <a:endParaRPr sz="950" b="0" i="0" dirty="0">
              <a:solidFill>
                <a:srgbClr val="404040"/>
              </a:solidFill>
              <a:latin typeface="맑은 고딕"/>
              <a:ea typeface="맑은 고딕"/>
            </a:endParaRPr>
          </a:p>
        </p:txBody>
      </p:sp>
      <p:sp>
        <p:nvSpPr>
          <p:cNvPr id="354" name="Rectangle 12"/>
          <p:cNvSpPr/>
          <p:nvPr/>
        </p:nvSpPr>
        <p:spPr>
          <a:xfrm>
            <a:off x="464901" y="2157983"/>
            <a:ext cx="5315550" cy="1791503"/>
          </a:xfrm>
          <a:prstGeom prst="rect">
            <a:avLst/>
          </a:prstGeom>
          <a:solidFill>
            <a:srgbClr val="FAFAFA"/>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6" name="Rectangle 24"/>
          <p:cNvSpPr/>
          <p:nvPr/>
        </p:nvSpPr>
        <p:spPr>
          <a:xfrm>
            <a:off x="654854" y="2470246"/>
            <a:ext cx="4985505" cy="329956"/>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100" b="1" i="0" dirty="0">
                <a:solidFill>
                  <a:srgbClr val="262626"/>
                </a:solidFill>
                <a:latin typeface="맑은 고딕"/>
                <a:ea typeface="맑은 고딕"/>
              </a:rPr>
              <a:t>Pressure Monitor</a:t>
            </a:r>
            <a:endParaRPr sz="1100" b="1" i="0" dirty="0">
              <a:solidFill>
                <a:srgbClr val="262626"/>
              </a:solidFill>
              <a:latin typeface="맑은 고딕"/>
              <a:ea typeface="맑은 고딕"/>
            </a:endParaRPr>
          </a:p>
        </p:txBody>
      </p:sp>
      <p:sp>
        <p:nvSpPr>
          <p:cNvPr id="369" name="Rectangle 27"/>
          <p:cNvSpPr/>
          <p:nvPr/>
        </p:nvSpPr>
        <p:spPr>
          <a:xfrm>
            <a:off x="4444930" y="4268711"/>
            <a:ext cx="1003949" cy="312274"/>
          </a:xfrm>
          <a:prstGeom prst="rect">
            <a:avLst/>
          </a:prstGeom>
          <a:noFill/>
          <a:ln w="1270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950" b="1" i="0" dirty="0" err="1">
                <a:solidFill>
                  <a:srgbClr val="7B1A1A"/>
                </a:solidFill>
                <a:latin typeface="맑은 고딕"/>
                <a:ea typeface="맑은 고딕"/>
              </a:rPr>
              <a:t>신규</a:t>
            </a:r>
            <a:r>
              <a:rPr sz="950" b="1" i="0" dirty="0">
                <a:solidFill>
                  <a:srgbClr val="7B1A1A"/>
                </a:solidFill>
                <a:latin typeface="맑은 고딕"/>
                <a:ea typeface="맑은 고딕"/>
              </a:rPr>
              <a:t> </a:t>
            </a:r>
            <a:r>
              <a:rPr sz="950" b="1" i="0" dirty="0" err="1">
                <a:solidFill>
                  <a:srgbClr val="7B1A1A"/>
                </a:solidFill>
                <a:latin typeface="맑은 고딕"/>
                <a:ea typeface="맑은 고딕"/>
              </a:rPr>
              <a:t>메모리</a:t>
            </a:r>
            <a:endParaRPr sz="950" b="1" i="0" dirty="0">
              <a:solidFill>
                <a:srgbClr val="7B1A1A"/>
              </a:solidFill>
              <a:latin typeface="맑은 고딕"/>
              <a:ea typeface="맑은 고딕"/>
            </a:endParaRPr>
          </a:p>
          <a:p>
            <a:pPr algn="ctr">
              <a:lnSpc>
                <a:spcPct val="105000"/>
              </a:lnSpc>
            </a:pPr>
            <a:r>
              <a:rPr sz="950" b="1" i="0" dirty="0" err="1">
                <a:solidFill>
                  <a:srgbClr val="7B1A1A"/>
                </a:solidFill>
                <a:latin typeface="맑은 고딕"/>
                <a:ea typeface="맑은 고딕"/>
              </a:rPr>
              <a:t>연결</a:t>
            </a:r>
            <a:r>
              <a:rPr sz="950" b="1" i="0" dirty="0">
                <a:solidFill>
                  <a:srgbClr val="7B1A1A"/>
                </a:solidFill>
                <a:latin typeface="맑은 고딕"/>
                <a:ea typeface="맑은 고딕"/>
              </a:rPr>
              <a:t> </a:t>
            </a:r>
            <a:r>
              <a:rPr sz="950" b="1" i="0" dirty="0" err="1">
                <a:solidFill>
                  <a:srgbClr val="7B1A1A"/>
                </a:solidFill>
                <a:latin typeface="맑은 고딕"/>
                <a:ea typeface="맑은 고딕"/>
              </a:rPr>
              <a:t>경로</a:t>
            </a:r>
            <a:r>
              <a:rPr sz="950" b="1" i="0" dirty="0">
                <a:solidFill>
                  <a:srgbClr val="7B1A1A"/>
                </a:solidFill>
                <a:latin typeface="맑은 고딕"/>
                <a:ea typeface="맑은 고딕"/>
              </a:rPr>
              <a:t> </a:t>
            </a:r>
            <a:r>
              <a:rPr sz="950" b="1" i="0" dirty="0" err="1">
                <a:solidFill>
                  <a:srgbClr val="7B1A1A"/>
                </a:solidFill>
                <a:latin typeface="맑은 고딕"/>
                <a:ea typeface="맑은 고딕"/>
              </a:rPr>
              <a:t>없음</a:t>
            </a:r>
            <a:endParaRPr sz="950" b="1" i="0" dirty="0">
              <a:solidFill>
                <a:srgbClr val="7B1A1A"/>
              </a:solidFill>
              <a:latin typeface="맑은 고딕"/>
              <a:ea typeface="맑은 고딕"/>
            </a:endParaRPr>
          </a:p>
        </p:txBody>
      </p:sp>
      <p:sp>
        <p:nvSpPr>
          <p:cNvPr id="370" name="TextBox 369"/>
          <p:cNvSpPr txBox="1"/>
          <p:nvPr/>
        </p:nvSpPr>
        <p:spPr>
          <a:xfrm>
            <a:off x="618399" y="4789086"/>
            <a:ext cx="5109381" cy="453522"/>
          </a:xfrm>
          <a:prstGeom prst="rect">
            <a:avLst/>
          </a:prstGeom>
          <a:noFill/>
        </p:spPr>
        <p:txBody>
          <a:bodyPr wrap="square" lIns="0" tIns="0" rIns="0" bIns="0" anchor="t">
            <a:spAutoFit/>
          </a:bodyPr>
          <a:lstStyle/>
          <a:p>
            <a:pPr>
              <a:lnSpc>
                <a:spcPct val="150000"/>
              </a:lnSpc>
            </a:pPr>
            <a:r>
              <a:rPr sz="1050" b="1" i="0" dirty="0">
                <a:solidFill>
                  <a:srgbClr val="C00000"/>
                </a:solidFill>
                <a:latin typeface="맑은 고딕"/>
                <a:ea typeface="맑은 고딕"/>
              </a:rPr>
              <a:t>① </a:t>
            </a:r>
            <a:r>
              <a:rPr lang="ko-KR" altLang="en-US" sz="1050" b="1" dirty="0">
                <a:solidFill>
                  <a:srgbClr val="C00000"/>
                </a:solidFill>
                <a:latin typeface="맑은 고딕"/>
                <a:ea typeface="맑은 고딕"/>
              </a:rPr>
              <a:t>모든 데이터가 동일한 고정 경로로 이동</a:t>
            </a:r>
            <a:r>
              <a:rPr lang="en-US" altLang="ko-KR" sz="1050" b="1" dirty="0">
                <a:solidFill>
                  <a:srgbClr val="C00000"/>
                </a:solidFill>
                <a:latin typeface="맑은 고딕"/>
                <a:ea typeface="맑은 고딕"/>
              </a:rPr>
              <a:t> -&gt; Tiered Memory </a:t>
            </a:r>
            <a:r>
              <a:rPr lang="ko-KR" altLang="en-US" sz="1050" b="1" dirty="0">
                <a:solidFill>
                  <a:srgbClr val="C00000"/>
                </a:solidFill>
                <a:latin typeface="맑은 고딕"/>
                <a:ea typeface="맑은 고딕"/>
              </a:rPr>
              <a:t>활용도 ↓</a:t>
            </a:r>
            <a:endParaRPr lang="en-US" sz="1050" b="1" i="0" dirty="0">
              <a:solidFill>
                <a:srgbClr val="C00000"/>
              </a:solidFill>
              <a:latin typeface="맑은 고딕"/>
              <a:ea typeface="맑은 고딕"/>
            </a:endParaRPr>
          </a:p>
          <a:p>
            <a:pPr algn="l">
              <a:lnSpc>
                <a:spcPct val="150000"/>
              </a:lnSpc>
            </a:pPr>
            <a:r>
              <a:rPr sz="1050" b="1" i="0" dirty="0">
                <a:solidFill>
                  <a:srgbClr val="C00000"/>
                </a:solidFill>
                <a:latin typeface="맑은 고딕"/>
                <a:ea typeface="맑은 고딕"/>
              </a:rPr>
              <a:t>②</a:t>
            </a:r>
            <a:r>
              <a:rPr lang="ko-KR" altLang="en-US" sz="1050" b="1" dirty="0">
                <a:solidFill>
                  <a:srgbClr val="C00000"/>
                </a:solidFill>
                <a:latin typeface="맑은 고딕"/>
                <a:ea typeface="맑은 고딕"/>
              </a:rPr>
              <a:t> </a:t>
            </a:r>
            <a:r>
              <a:rPr sz="1050" b="1" i="0" dirty="0" err="1">
                <a:solidFill>
                  <a:srgbClr val="C00000"/>
                </a:solidFill>
                <a:latin typeface="맑은 고딕"/>
                <a:ea typeface="맑은 고딕"/>
              </a:rPr>
              <a:t>연산</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가능</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메모리</a:t>
            </a:r>
            <a:r>
              <a:rPr lang="ko-KR" altLang="en-US" sz="1050" b="1" dirty="0">
                <a:solidFill>
                  <a:srgbClr val="C00000"/>
                </a:solidFill>
                <a:latin typeface="맑은 고딕"/>
                <a:ea typeface="맑은 고딕"/>
              </a:rPr>
              <a:t>와 같은 신규 메모리 </a:t>
            </a:r>
            <a:r>
              <a:rPr sz="1050" b="1" i="0" dirty="0" err="1">
                <a:solidFill>
                  <a:srgbClr val="C00000"/>
                </a:solidFill>
                <a:latin typeface="맑은 고딕"/>
                <a:ea typeface="맑은 고딕"/>
              </a:rPr>
              <a:t>고려하지</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않음</a:t>
            </a:r>
            <a:endParaRPr sz="1050" b="1" i="0" dirty="0">
              <a:solidFill>
                <a:srgbClr val="C00000"/>
              </a:solidFill>
              <a:latin typeface="맑은 고딕"/>
              <a:ea typeface="맑은 고딕"/>
            </a:endParaRPr>
          </a:p>
        </p:txBody>
      </p:sp>
      <p:sp>
        <p:nvSpPr>
          <p:cNvPr id="399" name="TextBox 398"/>
          <p:cNvSpPr txBox="1"/>
          <p:nvPr/>
        </p:nvSpPr>
        <p:spPr>
          <a:xfrm>
            <a:off x="551828" y="2219017"/>
            <a:ext cx="1617096" cy="146194"/>
          </a:xfrm>
          <a:prstGeom prst="rect">
            <a:avLst/>
          </a:prstGeom>
          <a:noFill/>
        </p:spPr>
        <p:txBody>
          <a:bodyPr wrap="square" lIns="0" tIns="0" rIns="0" bIns="0" anchor="t">
            <a:spAutoFit/>
          </a:bodyPr>
          <a:lstStyle/>
          <a:p>
            <a:r>
              <a:rPr lang="en-US" sz="950" dirty="0">
                <a:solidFill>
                  <a:srgbClr val="404040"/>
                </a:solidFill>
                <a:latin typeface="맑은 고딕"/>
                <a:ea typeface="맑은 고딕"/>
              </a:rPr>
              <a:t>A Connector </a:t>
            </a:r>
            <a:endParaRPr sz="950" b="0" i="0" dirty="0">
              <a:solidFill>
                <a:srgbClr val="404040"/>
              </a:solidFill>
              <a:latin typeface="맑은 고딕"/>
              <a:ea typeface="맑은 고딕"/>
            </a:endParaRPr>
          </a:p>
        </p:txBody>
      </p:sp>
      <p:sp>
        <p:nvSpPr>
          <p:cNvPr id="400" name="Rectangle 24"/>
          <p:cNvSpPr/>
          <p:nvPr/>
        </p:nvSpPr>
        <p:spPr>
          <a:xfrm>
            <a:off x="654854" y="2971104"/>
            <a:ext cx="4985505" cy="329956"/>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100" b="1" i="0" dirty="0">
                <a:solidFill>
                  <a:srgbClr val="262626"/>
                </a:solidFill>
                <a:latin typeface="맑은 고딕"/>
                <a:ea typeface="맑은 고딕"/>
              </a:rPr>
              <a:t>Eviction Manager</a:t>
            </a:r>
            <a:endParaRPr sz="1100" b="1" i="0" dirty="0">
              <a:solidFill>
                <a:srgbClr val="262626"/>
              </a:solidFill>
              <a:latin typeface="맑은 고딕"/>
              <a:ea typeface="맑은 고딕"/>
            </a:endParaRPr>
          </a:p>
        </p:txBody>
      </p:sp>
      <p:sp>
        <p:nvSpPr>
          <p:cNvPr id="401" name="Rectangle 24"/>
          <p:cNvSpPr/>
          <p:nvPr/>
        </p:nvSpPr>
        <p:spPr>
          <a:xfrm>
            <a:off x="654854" y="3469490"/>
            <a:ext cx="4985505" cy="329956"/>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100" b="1" dirty="0">
                <a:solidFill>
                  <a:srgbClr val="262626"/>
                </a:solidFill>
                <a:latin typeface="맑은 고딕"/>
                <a:ea typeface="맑은 고딕"/>
              </a:rPr>
              <a:t>Migration Executor</a:t>
            </a:r>
            <a:endParaRPr sz="1100" b="1" i="0" dirty="0">
              <a:solidFill>
                <a:srgbClr val="262626"/>
              </a:solidFill>
              <a:latin typeface="맑은 고딕"/>
              <a:ea typeface="맑은 고딕"/>
            </a:endParaRPr>
          </a:p>
        </p:txBody>
      </p:sp>
      <p:sp>
        <p:nvSpPr>
          <p:cNvPr id="408" name="Rectangle 24"/>
          <p:cNvSpPr/>
          <p:nvPr/>
        </p:nvSpPr>
        <p:spPr>
          <a:xfrm>
            <a:off x="882244" y="4266151"/>
            <a:ext cx="769442" cy="317395"/>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dirty="0">
                <a:solidFill>
                  <a:srgbClr val="262626"/>
                </a:solidFill>
                <a:latin typeface="맑은 고딕"/>
                <a:ea typeface="맑은 고딕"/>
              </a:rPr>
              <a:t>HBM</a:t>
            </a:r>
          </a:p>
        </p:txBody>
      </p:sp>
      <p:sp>
        <p:nvSpPr>
          <p:cNvPr id="409" name="Rectangle 25"/>
          <p:cNvSpPr/>
          <p:nvPr/>
        </p:nvSpPr>
        <p:spPr>
          <a:xfrm>
            <a:off x="2153347" y="4266151"/>
            <a:ext cx="769442" cy="317395"/>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dirty="0">
                <a:solidFill>
                  <a:srgbClr val="262626"/>
                </a:solidFill>
                <a:latin typeface="맑은 고딕"/>
                <a:ea typeface="맑은 고딕"/>
              </a:rPr>
              <a:t>DRAM</a:t>
            </a:r>
          </a:p>
        </p:txBody>
      </p:sp>
      <p:sp>
        <p:nvSpPr>
          <p:cNvPr id="410" name="Rectangle 26"/>
          <p:cNvSpPr/>
          <p:nvPr/>
        </p:nvSpPr>
        <p:spPr>
          <a:xfrm>
            <a:off x="3417505" y="4266151"/>
            <a:ext cx="769442" cy="317395"/>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a:solidFill>
                  <a:srgbClr val="262626"/>
                </a:solidFill>
                <a:latin typeface="맑은 고딕"/>
                <a:ea typeface="맑은 고딕"/>
              </a:rPr>
              <a:t>SSD</a:t>
            </a:r>
          </a:p>
        </p:txBody>
      </p:sp>
      <p:cxnSp>
        <p:nvCxnSpPr>
          <p:cNvPr id="411" name="Connector 10"/>
          <p:cNvCxnSpPr>
            <a:stCxn id="366" idx="2"/>
            <a:endCxn id="400" idx="0"/>
          </p:cNvCxnSpPr>
          <p:nvPr/>
        </p:nvCxnSpPr>
        <p:spPr>
          <a:xfrm>
            <a:off x="3147607" y="2800202"/>
            <a:ext cx="0" cy="170902"/>
          </a:xfrm>
          <a:prstGeom prst="line">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2" name="Connector 10"/>
          <p:cNvCxnSpPr>
            <a:stCxn id="400" idx="2"/>
            <a:endCxn id="401" idx="0"/>
          </p:cNvCxnSpPr>
          <p:nvPr/>
        </p:nvCxnSpPr>
        <p:spPr>
          <a:xfrm>
            <a:off x="3147607" y="3301060"/>
            <a:ext cx="0" cy="168430"/>
          </a:xfrm>
          <a:prstGeom prst="line">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3" name="Connector 10"/>
          <p:cNvCxnSpPr>
            <a:stCxn id="401" idx="2"/>
            <a:endCxn id="408" idx="0"/>
          </p:cNvCxnSpPr>
          <p:nvPr/>
        </p:nvCxnSpPr>
        <p:spPr>
          <a:xfrm rot="5400000">
            <a:off x="1973934" y="3092477"/>
            <a:ext cx="466705" cy="1880642"/>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4" name="Connector 10"/>
          <p:cNvCxnSpPr>
            <a:stCxn id="401" idx="2"/>
            <a:endCxn id="409" idx="0"/>
          </p:cNvCxnSpPr>
          <p:nvPr/>
        </p:nvCxnSpPr>
        <p:spPr>
          <a:xfrm rot="5400000">
            <a:off x="2609486" y="3728029"/>
            <a:ext cx="466705" cy="609539"/>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5" name="Connector 10"/>
          <p:cNvCxnSpPr>
            <a:stCxn id="401" idx="2"/>
            <a:endCxn id="410" idx="0"/>
          </p:cNvCxnSpPr>
          <p:nvPr/>
        </p:nvCxnSpPr>
        <p:spPr>
          <a:xfrm rot="16200000" flipH="1">
            <a:off x="3241564" y="3705488"/>
            <a:ext cx="466705" cy="654619"/>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6" name="Connector 10"/>
          <p:cNvCxnSpPr>
            <a:stCxn id="401" idx="2"/>
            <a:endCxn id="369" idx="0"/>
          </p:cNvCxnSpPr>
          <p:nvPr/>
        </p:nvCxnSpPr>
        <p:spPr>
          <a:xfrm rot="16200000" flipH="1">
            <a:off x="3812624" y="3134429"/>
            <a:ext cx="469265" cy="1799298"/>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9" name="Fixed path 1"/>
          <p:cNvCxnSpPr/>
          <p:nvPr/>
        </p:nvCxnSpPr>
        <p:spPr>
          <a:xfrm>
            <a:off x="1715909" y="4431108"/>
            <a:ext cx="419719" cy="0"/>
          </a:xfrm>
          <a:prstGeom prst="line">
            <a:avLst/>
          </a:prstGeom>
          <a:ln w="15875">
            <a:solidFill>
              <a:srgbClr val="C00000"/>
            </a:solidFill>
            <a:tailEnd type="triangle" w="med" len="med"/>
          </a:ln>
        </p:spPr>
      </p:cxnSp>
      <p:sp>
        <p:nvSpPr>
          <p:cNvPr id="420" name="Path label 1"/>
          <p:cNvSpPr txBox="1"/>
          <p:nvPr/>
        </p:nvSpPr>
        <p:spPr>
          <a:xfrm>
            <a:off x="1633237" y="4194231"/>
            <a:ext cx="585063" cy="181141"/>
          </a:xfrm>
          <a:prstGeom prst="rect">
            <a:avLst/>
          </a:prstGeom>
          <a:noFill/>
        </p:spPr>
        <p:txBody>
          <a:bodyPr wrap="square" lIns="0" tIns="0" rIns="0" bIns="0" rtlCol="0" anchor="ctr">
            <a:noAutofit/>
          </a:bodyPr>
          <a:lstStyle/>
          <a:p>
            <a:pPr algn="ctr">
              <a:lnSpc>
                <a:spcPct val="100000"/>
              </a:lnSpc>
              <a:spcBef>
                <a:spcPts val="0"/>
              </a:spcBef>
            </a:pPr>
            <a:r>
              <a:rPr lang="ko-KR" altLang="en-US" sz="900" b="1" dirty="0">
                <a:solidFill>
                  <a:srgbClr val="C00000"/>
                </a:solidFill>
                <a:latin typeface="맑은 고딕"/>
                <a:ea typeface="맑은 고딕"/>
              </a:rPr>
              <a:t>Offload</a:t>
            </a:r>
          </a:p>
        </p:txBody>
      </p:sp>
      <p:cxnSp>
        <p:nvCxnSpPr>
          <p:cNvPr id="421" name="Fixed path 1"/>
          <p:cNvCxnSpPr/>
          <p:nvPr/>
        </p:nvCxnSpPr>
        <p:spPr>
          <a:xfrm>
            <a:off x="2983726" y="4431108"/>
            <a:ext cx="419719" cy="0"/>
          </a:xfrm>
          <a:prstGeom prst="line">
            <a:avLst/>
          </a:prstGeom>
          <a:ln w="15875">
            <a:solidFill>
              <a:srgbClr val="C00000"/>
            </a:solidFill>
            <a:tailEnd type="triangle" w="med" len="med"/>
          </a:ln>
        </p:spPr>
      </p:cxnSp>
      <p:sp>
        <p:nvSpPr>
          <p:cNvPr id="422" name="Path label 1"/>
          <p:cNvSpPr txBox="1"/>
          <p:nvPr/>
        </p:nvSpPr>
        <p:spPr>
          <a:xfrm>
            <a:off x="2901054" y="4194231"/>
            <a:ext cx="585063" cy="181141"/>
          </a:xfrm>
          <a:prstGeom prst="rect">
            <a:avLst/>
          </a:prstGeom>
          <a:noFill/>
        </p:spPr>
        <p:txBody>
          <a:bodyPr wrap="square" lIns="0" tIns="0" rIns="0" bIns="0" rtlCol="0" anchor="ctr">
            <a:noAutofit/>
          </a:bodyPr>
          <a:lstStyle/>
          <a:p>
            <a:pPr algn="ctr">
              <a:lnSpc>
                <a:spcPct val="100000"/>
              </a:lnSpc>
              <a:spcBef>
                <a:spcPts val="0"/>
              </a:spcBef>
            </a:pPr>
            <a:r>
              <a:rPr lang="ko-KR" altLang="en-US" sz="900" b="1" dirty="0">
                <a:solidFill>
                  <a:srgbClr val="C00000"/>
                </a:solidFill>
                <a:latin typeface="맑은 고딕"/>
                <a:ea typeface="맑은 고딕"/>
              </a:rPr>
              <a:t>Offload</a:t>
            </a:r>
          </a:p>
        </p:txBody>
      </p:sp>
    </p:spTree>
    <p:extLst>
      <p:ext uri="{BB962C8B-B14F-4D97-AF65-F5344CB8AC3E}">
        <p14:creationId xmlns:p14="http://schemas.microsoft.com/office/powerpoint/2010/main" val="80923751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직사각형 254"/>
          <p:cNvSpPr/>
          <p:nvPr/>
        </p:nvSpPr>
        <p:spPr>
          <a:xfrm>
            <a:off x="11124685" y="1517808"/>
            <a:ext cx="644136" cy="313269"/>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HBM</a:t>
            </a:r>
          </a:p>
          <a:p>
            <a:pPr algn="ctr">
              <a:lnSpc>
                <a:spcPct val="95000"/>
              </a:lnSpc>
            </a:pPr>
            <a:endParaRPr lang="ko-KR" altLang="en-US" sz="1200" dirty="0">
              <a:solidFill>
                <a:schemeClr val="tx1"/>
              </a:solidFill>
            </a:endParaRPr>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250329" y="882132"/>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다양한 메모리 솔루션 등장</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Agent</a:t>
              </a:r>
              <a:r>
                <a:rPr lang="ko-KR" altLang="en-US" sz="1200" b="1" dirty="0"/>
                <a:t>의 </a:t>
              </a:r>
              <a:r>
                <a:rPr lang="en-US" altLang="ko-KR" sz="1200" b="1" dirty="0"/>
                <a:t>HBM Pressure </a:t>
              </a:r>
              <a:r>
                <a:rPr lang="ko-KR" altLang="en-US" sz="1200" b="1" dirty="0"/>
                <a:t>가속화</a:t>
              </a:r>
            </a:p>
          </p:txBody>
        </p:sp>
      </p:grpSp>
      <p:sp>
        <p:nvSpPr>
          <p:cNvPr id="198" name="Text 22"/>
          <p:cNvSpPr/>
          <p:nvPr/>
        </p:nvSpPr>
        <p:spPr>
          <a:xfrm>
            <a:off x="462260" y="1094766"/>
            <a:ext cx="5397520" cy="641600"/>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의 </a:t>
            </a:r>
            <a:r>
              <a:rPr lang="en-US" altLang="ko-KR" sz="1200" dirty="0">
                <a:sym typeface="Wingdings" panose="05000000000000000000" pitchFamily="2" charset="2"/>
              </a:rPr>
              <a:t>Multi-turn</a:t>
            </a:r>
            <a:r>
              <a:rPr lang="ko-KR" altLang="en-US" sz="1200" dirty="0">
                <a:sym typeface="Wingdings" panose="05000000000000000000" pitchFamily="2" charset="2"/>
              </a:rPr>
              <a:t>으로 인한 </a:t>
            </a:r>
            <a:r>
              <a:rPr lang="en-US" altLang="ko-KR" sz="1200" dirty="0">
                <a:sym typeface="Wingdings" panose="05000000000000000000" pitchFamily="2" charset="2"/>
              </a:rPr>
              <a:t>Context</a:t>
            </a:r>
            <a:r>
              <a:rPr lang="ko-KR" altLang="en-US" sz="1200" dirty="0">
                <a:sym typeface="Wingdings" panose="05000000000000000000" pitchFamily="2" charset="2"/>
              </a:rPr>
              <a:t> 누적 </a:t>
            </a:r>
            <a:r>
              <a:rPr lang="en-US" altLang="ko-KR" sz="1200" dirty="0">
                <a:sym typeface="Wingdings" panose="05000000000000000000" pitchFamily="2" charset="2"/>
              </a:rPr>
              <a:t> KV </a:t>
            </a:r>
            <a:r>
              <a:rPr lang="ko-KR" altLang="en-US" sz="1200" dirty="0">
                <a:sym typeface="Wingdings" panose="05000000000000000000" pitchFamily="2" charset="2"/>
              </a:rPr>
              <a:t>캐시 증가 </a:t>
            </a:r>
            <a:endParaRPr lang="en-US" altLang="ko-KR" sz="1200" dirty="0">
              <a:sym typeface="Wingdings" panose="05000000000000000000" pitchFamily="2" charset="2"/>
            </a:endParaRPr>
          </a:p>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는 하나의 요청을 여러 개의 동시 작업으로 증폭시킬 수 있음 </a:t>
            </a:r>
            <a:endParaRPr lang="en-US" altLang="ko-KR" sz="1200" b="1" dirty="0">
              <a:solidFill>
                <a:schemeClr val="accent2">
                  <a:lumMod val="75000"/>
                </a:schemeClr>
              </a:solidFill>
              <a:sym typeface="Wingdings" panose="05000000000000000000" pitchFamily="2" charset="2"/>
            </a:endParaRPr>
          </a:p>
          <a:p>
            <a:pPr marL="171450" indent="-171450">
              <a:lnSpc>
                <a:spcPct val="150000"/>
              </a:lnSpc>
              <a:buFont typeface="Wingdings" panose="05000000000000000000" pitchFamily="2" charset="2"/>
              <a:buChar char="ü"/>
            </a:pPr>
            <a:endParaRPr lang="en-US" altLang="ko-KR" sz="1200" dirty="0">
              <a:sym typeface="Wingdings" panose="05000000000000000000" pitchFamily="2" charset="2"/>
            </a:endParaRPr>
          </a:p>
        </p:txBody>
      </p:sp>
      <p:cxnSp>
        <p:nvCxnSpPr>
          <p:cNvPr id="214" name="직선 연결선 213">
            <a:extLst>
              <a:ext uri="{FF2B5EF4-FFF2-40B4-BE49-F238E27FC236}">
                <a16:creationId xmlns:a16="http://schemas.microsoft.com/office/drawing/2014/main" id="{D58FEC0B-5568-4E2A-AF34-EF05147FA88B}"/>
              </a:ext>
            </a:extLst>
          </p:cNvPr>
          <p:cNvCxnSpPr>
            <a:stCxn id="138" idx="3"/>
            <a:endCxn id="166" idx="1"/>
          </p:cNvCxnSpPr>
          <p:nvPr/>
        </p:nvCxnSpPr>
        <p:spPr>
          <a:xfrm flipV="1">
            <a:off x="9517632" y="5199961"/>
            <a:ext cx="509288" cy="393619"/>
          </a:xfrm>
          <a:prstGeom prst="bentConnector3">
            <a:avLst>
              <a:gd name="adj1" fmla="val 50000"/>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7" name="그룹 36"/>
          <p:cNvGrpSpPr/>
          <p:nvPr/>
        </p:nvGrpSpPr>
        <p:grpSpPr>
          <a:xfrm>
            <a:off x="6452396" y="4219751"/>
            <a:ext cx="4494180" cy="1993182"/>
            <a:chOff x="6344173" y="3347234"/>
            <a:chExt cx="4494180" cy="1993182"/>
          </a:xfrm>
        </p:grpSpPr>
        <p:grpSp>
          <p:nvGrpSpPr>
            <p:cNvPr id="5" name="그룹 4"/>
            <p:cNvGrpSpPr/>
            <p:nvPr/>
          </p:nvGrpSpPr>
          <p:grpSpPr>
            <a:xfrm>
              <a:off x="6344173" y="3347234"/>
              <a:ext cx="4494180" cy="1896944"/>
              <a:chOff x="6299288" y="3053619"/>
              <a:chExt cx="4428503" cy="2122718"/>
            </a:xfrm>
          </p:grpSpPr>
          <p:grpSp>
            <p:nvGrpSpPr>
              <p:cNvPr id="137" name="그룹 136">
                <a:extLst>
                  <a:ext uri="{FF2B5EF4-FFF2-40B4-BE49-F238E27FC236}">
                    <a16:creationId xmlns:a16="http://schemas.microsoft.com/office/drawing/2014/main" id="{58C3D28F-23EC-4DCC-95AC-37D92DBC27F5}"/>
                  </a:ext>
                </a:extLst>
              </p:cNvPr>
              <p:cNvGrpSpPr/>
              <p:nvPr/>
            </p:nvGrpSpPr>
            <p:grpSpPr>
              <a:xfrm>
                <a:off x="7524431" y="3143351"/>
                <a:ext cx="3101145" cy="2032986"/>
                <a:chOff x="1384719" y="2126980"/>
                <a:chExt cx="3072915" cy="2081864"/>
              </a:xfrm>
            </p:grpSpPr>
            <p:sp>
              <p:nvSpPr>
                <p:cNvPr id="138" name="직사각형 137">
                  <a:extLst>
                    <a:ext uri="{FF2B5EF4-FFF2-40B4-BE49-F238E27FC236}">
                      <a16:creationId xmlns:a16="http://schemas.microsoft.com/office/drawing/2014/main" id="{6F69B73E-FFFC-45E8-BB7B-9B8AB23AB720}"/>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39" name="모서리가 둥근 직사각형 191">
                  <a:extLst>
                    <a:ext uri="{FF2B5EF4-FFF2-40B4-BE49-F238E27FC236}">
                      <a16:creationId xmlns:a16="http://schemas.microsoft.com/office/drawing/2014/main" id="{2F7BF330-794C-4E29-BF45-B1F8AFFE3312}"/>
                    </a:ext>
                  </a:extLst>
                </p:cNvPr>
                <p:cNvSpPr/>
                <p:nvPr/>
              </p:nvSpPr>
              <p:spPr>
                <a:xfrm>
                  <a:off x="2397566" y="3953185"/>
                  <a:ext cx="804331"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SSD-PIM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40" name="모서리가 둥근 직사각형 192">
                  <a:extLst>
                    <a:ext uri="{FF2B5EF4-FFF2-40B4-BE49-F238E27FC236}">
                      <a16:creationId xmlns:a16="http://schemas.microsoft.com/office/drawing/2014/main" id="{F514312F-4F37-4C23-84C5-02AC423D2309}"/>
                    </a:ext>
                  </a:extLst>
                </p:cNvPr>
                <p:cNvSpPr/>
                <p:nvPr/>
              </p:nvSpPr>
              <p:spPr>
                <a:xfrm>
                  <a:off x="3664432" y="3659517"/>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42" name="직선 연결선 9">
                  <a:extLst>
                    <a:ext uri="{FF2B5EF4-FFF2-40B4-BE49-F238E27FC236}">
                      <a16:creationId xmlns:a16="http://schemas.microsoft.com/office/drawing/2014/main" id="{FED03D99-C83C-46A5-B2BC-AED0C3F4FE2A}"/>
                    </a:ext>
                  </a:extLst>
                </p:cNvPr>
                <p:cNvCxnSpPr>
                  <a:stCxn id="151" idx="2"/>
                  <a:endCxn id="138"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3" name="직선 연결선 142">
                  <a:extLst>
                    <a:ext uri="{FF2B5EF4-FFF2-40B4-BE49-F238E27FC236}">
                      <a16:creationId xmlns:a16="http://schemas.microsoft.com/office/drawing/2014/main" id="{E8BD091E-84A4-4AF0-9C69-9D493ED1BE5B}"/>
                    </a:ext>
                  </a:extLst>
                </p:cNvPr>
                <p:cNvCxnSpPr>
                  <a:stCxn id="138" idx="2"/>
                  <a:endCxn id="139" idx="0"/>
                </p:cNvCxnSpPr>
                <p:nvPr/>
              </p:nvCxnSpPr>
              <p:spPr>
                <a:xfrm flipH="1">
                  <a:off x="2799732"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44" name="그룹 143">
                  <a:extLst>
                    <a:ext uri="{FF2B5EF4-FFF2-40B4-BE49-F238E27FC236}">
                      <a16:creationId xmlns:a16="http://schemas.microsoft.com/office/drawing/2014/main" id="{9AB2F484-FCAE-43BA-9424-00EADB4082E4}"/>
                    </a:ext>
                  </a:extLst>
                </p:cNvPr>
                <p:cNvGrpSpPr/>
                <p:nvPr/>
              </p:nvGrpSpPr>
              <p:grpSpPr>
                <a:xfrm>
                  <a:off x="2323241" y="2126980"/>
                  <a:ext cx="959778" cy="1212050"/>
                  <a:chOff x="2993906" y="2126755"/>
                  <a:chExt cx="959778" cy="1212050"/>
                </a:xfrm>
              </p:grpSpPr>
              <p:sp>
                <p:nvSpPr>
                  <p:cNvPr id="151" name="직사각형 150">
                    <a:extLst>
                      <a:ext uri="{FF2B5EF4-FFF2-40B4-BE49-F238E27FC236}">
                        <a16:creationId xmlns:a16="http://schemas.microsoft.com/office/drawing/2014/main" id="{7CF69065-B71D-45B8-A775-D343993857B2}"/>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52" name="모서리가 둥근 직사각형 203">
                    <a:extLst>
                      <a:ext uri="{FF2B5EF4-FFF2-40B4-BE49-F238E27FC236}">
                        <a16:creationId xmlns:a16="http://schemas.microsoft.com/office/drawing/2014/main" id="{640F55E1-7C97-4A3F-B1BA-027109FA6D45}"/>
                      </a:ext>
                    </a:extLst>
                  </p:cNvPr>
                  <p:cNvSpPr/>
                  <p:nvPr/>
                </p:nvSpPr>
                <p:spPr>
                  <a:xfrm>
                    <a:off x="2993908" y="2540807"/>
                    <a:ext cx="959776"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53" name="직선 연결선 152">
                    <a:extLst>
                      <a:ext uri="{FF2B5EF4-FFF2-40B4-BE49-F238E27FC236}">
                        <a16:creationId xmlns:a16="http://schemas.microsoft.com/office/drawing/2014/main" id="{DF99FE4A-16D5-45BD-8568-257EA845EE4C}"/>
                      </a:ext>
                    </a:extLst>
                  </p:cNvPr>
                  <p:cNvCxnSpPr>
                    <a:stCxn id="152" idx="2"/>
                    <a:endCxn id="151"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8" name="모서리가 둥근 직사각형 241">
                    <a:extLst>
                      <a:ext uri="{FF2B5EF4-FFF2-40B4-BE49-F238E27FC236}">
                        <a16:creationId xmlns:a16="http://schemas.microsoft.com/office/drawing/2014/main" id="{AC135A3A-CAAB-4A76-A2D5-53B55EB1D318}"/>
                      </a:ext>
                    </a:extLst>
                  </p:cNvPr>
                  <p:cNvSpPr/>
                  <p:nvPr/>
                </p:nvSpPr>
                <p:spPr>
                  <a:xfrm>
                    <a:off x="2993906" y="2126755"/>
                    <a:ext cx="959774" cy="232416"/>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HBF</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sp>
              <p:nvSpPr>
                <p:cNvPr id="147" name="모서리가 둥근 직사각형 240">
                  <a:extLst>
                    <a:ext uri="{FF2B5EF4-FFF2-40B4-BE49-F238E27FC236}">
                      <a16:creationId xmlns:a16="http://schemas.microsoft.com/office/drawing/2014/main" id="{A8DF8FE3-2660-4ED5-B889-6041AD06E54C}"/>
                    </a:ext>
                  </a:extLst>
                </p:cNvPr>
                <p:cNvSpPr/>
                <p:nvPr/>
              </p:nvSpPr>
              <p:spPr>
                <a:xfrm>
                  <a:off x="1384719" y="3481563"/>
                  <a:ext cx="842359"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CXL-PNM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cxnSp>
            <p:nvCxnSpPr>
              <p:cNvPr id="162" name="직선 연결선 161">
                <a:extLst>
                  <a:ext uri="{FF2B5EF4-FFF2-40B4-BE49-F238E27FC236}">
                    <a16:creationId xmlns:a16="http://schemas.microsoft.com/office/drawing/2014/main" id="{D58FEC0B-5568-4E2A-AF34-EF05147FA88B}"/>
                  </a:ext>
                </a:extLst>
              </p:cNvPr>
              <p:cNvCxnSpPr>
                <a:stCxn id="147" idx="3"/>
                <a:endCxn id="138" idx="1"/>
              </p:cNvCxnSpPr>
              <p:nvPr/>
            </p:nvCxnSpPr>
            <p:spPr>
              <a:xfrm>
                <a:off x="8374528" y="4590961"/>
                <a:ext cx="217485"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3" name="직선 연결선 162">
                <a:extLst>
                  <a:ext uri="{FF2B5EF4-FFF2-40B4-BE49-F238E27FC236}">
                    <a16:creationId xmlns:a16="http://schemas.microsoft.com/office/drawing/2014/main" id="{4BFFC828-99F7-4529-B145-A0106CEEDECA}"/>
                  </a:ext>
                </a:extLst>
              </p:cNvPr>
              <p:cNvCxnSpPr>
                <a:stCxn id="158" idx="2"/>
                <a:endCxn id="152" idx="0"/>
              </p:cNvCxnSpPr>
              <p:nvPr/>
            </p:nvCxnSpPr>
            <p:spPr>
              <a:xfrm>
                <a:off x="8955871" y="3370311"/>
                <a:ext cx="3" cy="1773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68" name="순서도: 자기 디스크 167">
                <a:extLst>
                  <a:ext uri="{FF2B5EF4-FFF2-40B4-BE49-F238E27FC236}">
                    <a16:creationId xmlns:a16="http://schemas.microsoft.com/office/drawing/2014/main" id="{B93D3D46-2EAF-4F46-8D70-4B0856C6C363}"/>
                  </a:ext>
                </a:extLst>
              </p:cNvPr>
              <p:cNvSpPr/>
              <p:nvPr/>
            </p:nvSpPr>
            <p:spPr>
              <a:xfrm>
                <a:off x="8165993" y="3132004"/>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sp>
            <p:nvSpPr>
              <p:cNvPr id="181" name="대각선 방향의 모서리가 잘린 사각형 180">
                <a:extLst>
                  <a:ext uri="{FF2B5EF4-FFF2-40B4-BE49-F238E27FC236}">
                    <a16:creationId xmlns:a16="http://schemas.microsoft.com/office/drawing/2014/main" id="{66C77D57-A693-44F6-BED9-8013A3D12FE6}"/>
                  </a:ext>
                </a:extLst>
              </p:cNvPr>
              <p:cNvSpPr/>
              <p:nvPr/>
            </p:nvSpPr>
            <p:spPr>
              <a:xfrm>
                <a:off x="8012705" y="3687252"/>
                <a:ext cx="574622" cy="197237"/>
              </a:xfrm>
              <a:prstGeom prst="snip2DiagRect">
                <a:avLst/>
              </a:prstGeom>
              <a:ln>
                <a:solidFill>
                  <a:schemeClr val="accent6"/>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1200" dirty="0" err="1"/>
                  <a:t>LoRA</a:t>
                </a:r>
                <a:endParaRPr lang="ko-KR" altLang="en-US" sz="1200" dirty="0"/>
              </a:p>
            </p:txBody>
          </p:sp>
          <p:grpSp>
            <p:nvGrpSpPr>
              <p:cNvPr id="259" name="그룹 258">
                <a:extLst>
                  <a:ext uri="{FF2B5EF4-FFF2-40B4-BE49-F238E27FC236}">
                    <a16:creationId xmlns:a16="http://schemas.microsoft.com/office/drawing/2014/main" id="{C2090F15-14C4-48A1-8E7A-3BD6B2016FAF}"/>
                  </a:ext>
                </a:extLst>
              </p:cNvPr>
              <p:cNvGrpSpPr/>
              <p:nvPr/>
            </p:nvGrpSpPr>
            <p:grpSpPr>
              <a:xfrm>
                <a:off x="6299288" y="3057166"/>
                <a:ext cx="1384623" cy="1817828"/>
                <a:chOff x="429779" y="2706833"/>
                <a:chExt cx="1384623" cy="1817828"/>
              </a:xfrm>
            </p:grpSpPr>
            <p:grpSp>
              <p:nvGrpSpPr>
                <p:cNvPr id="260" name="그룹 259">
                  <a:extLst>
                    <a:ext uri="{FF2B5EF4-FFF2-40B4-BE49-F238E27FC236}">
                      <a16:creationId xmlns:a16="http://schemas.microsoft.com/office/drawing/2014/main" id="{4838AC75-63E2-4DB0-866F-B7D40E013EF8}"/>
                    </a:ext>
                  </a:extLst>
                </p:cNvPr>
                <p:cNvGrpSpPr/>
                <p:nvPr/>
              </p:nvGrpSpPr>
              <p:grpSpPr>
                <a:xfrm>
                  <a:off x="489941" y="3237748"/>
                  <a:ext cx="797013" cy="253916"/>
                  <a:chOff x="647355" y="4269583"/>
                  <a:chExt cx="797013" cy="253916"/>
                </a:xfrm>
              </p:grpSpPr>
              <p:sp>
                <p:nvSpPr>
                  <p:cNvPr id="297" name="모서리가 둥근 직사각형 235">
                    <a:extLst>
                      <a:ext uri="{FF2B5EF4-FFF2-40B4-BE49-F238E27FC236}">
                        <a16:creationId xmlns:a16="http://schemas.microsoft.com/office/drawing/2014/main" id="{653D2F71-606D-4B28-9E0A-62FED89E9900}"/>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8" name="TextBox 297">
                    <a:extLst>
                      <a:ext uri="{FF2B5EF4-FFF2-40B4-BE49-F238E27FC236}">
                        <a16:creationId xmlns:a16="http://schemas.microsoft.com/office/drawing/2014/main" id="{44F47381-B54A-4D02-8BDD-28A19F136EAF}"/>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261" name="직사각형 260">
                  <a:extLst>
                    <a:ext uri="{FF2B5EF4-FFF2-40B4-BE49-F238E27FC236}">
                      <a16:creationId xmlns:a16="http://schemas.microsoft.com/office/drawing/2014/main" id="{FF91CC32-A2B0-4536-B334-334F143262B8}"/>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262" name="TextBox 261">
                  <a:extLst>
                    <a:ext uri="{FF2B5EF4-FFF2-40B4-BE49-F238E27FC236}">
                      <a16:creationId xmlns:a16="http://schemas.microsoft.com/office/drawing/2014/main" id="{7B45D556-134F-47A0-8B00-6CAE2426BFA9}"/>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264" name="그룹 263">
                  <a:extLst>
                    <a:ext uri="{FF2B5EF4-FFF2-40B4-BE49-F238E27FC236}">
                      <a16:creationId xmlns:a16="http://schemas.microsoft.com/office/drawing/2014/main" id="{7A918029-53A7-4C85-BC4D-3DF0F8C76427}"/>
                    </a:ext>
                  </a:extLst>
                </p:cNvPr>
                <p:cNvGrpSpPr/>
                <p:nvPr/>
              </p:nvGrpSpPr>
              <p:grpSpPr>
                <a:xfrm>
                  <a:off x="489941" y="2997325"/>
                  <a:ext cx="797013" cy="253916"/>
                  <a:chOff x="647355" y="4269583"/>
                  <a:chExt cx="797013" cy="253916"/>
                </a:xfrm>
              </p:grpSpPr>
              <p:sp>
                <p:nvSpPr>
                  <p:cNvPr id="295" name="모서리가 둥근 직사각형 233">
                    <a:extLst>
                      <a:ext uri="{FF2B5EF4-FFF2-40B4-BE49-F238E27FC236}">
                        <a16:creationId xmlns:a16="http://schemas.microsoft.com/office/drawing/2014/main" id="{2A169C89-2300-4622-A185-B9908471B29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6" name="TextBox 295">
                    <a:extLst>
                      <a:ext uri="{FF2B5EF4-FFF2-40B4-BE49-F238E27FC236}">
                        <a16:creationId xmlns:a16="http://schemas.microsoft.com/office/drawing/2014/main" id="{AC000B18-6351-4F08-9C62-6CB8A658C5D3}"/>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265" name="그룹 264">
                  <a:extLst>
                    <a:ext uri="{FF2B5EF4-FFF2-40B4-BE49-F238E27FC236}">
                      <a16:creationId xmlns:a16="http://schemas.microsoft.com/office/drawing/2014/main" id="{2518B80D-8282-4EEB-956B-679D5958ACE9}"/>
                    </a:ext>
                  </a:extLst>
                </p:cNvPr>
                <p:cNvGrpSpPr/>
                <p:nvPr/>
              </p:nvGrpSpPr>
              <p:grpSpPr>
                <a:xfrm>
                  <a:off x="489941" y="3479840"/>
                  <a:ext cx="797013" cy="253916"/>
                  <a:chOff x="647355" y="4269583"/>
                  <a:chExt cx="797013" cy="253916"/>
                </a:xfrm>
              </p:grpSpPr>
              <p:sp>
                <p:nvSpPr>
                  <p:cNvPr id="293" name="모서리가 둥근 직사각형 231">
                    <a:extLst>
                      <a:ext uri="{FF2B5EF4-FFF2-40B4-BE49-F238E27FC236}">
                        <a16:creationId xmlns:a16="http://schemas.microsoft.com/office/drawing/2014/main" id="{FDE96DDE-B589-4061-8954-023C70252CD9}"/>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4" name="TextBox 293">
                    <a:extLst>
                      <a:ext uri="{FF2B5EF4-FFF2-40B4-BE49-F238E27FC236}">
                        <a16:creationId xmlns:a16="http://schemas.microsoft.com/office/drawing/2014/main" id="{6CE78D1D-B9D4-43B2-AA0D-D95B99927019}"/>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281" name="그룹 280">
                  <a:extLst>
                    <a:ext uri="{FF2B5EF4-FFF2-40B4-BE49-F238E27FC236}">
                      <a16:creationId xmlns:a16="http://schemas.microsoft.com/office/drawing/2014/main" id="{1EEF3E81-2B98-4128-BABA-54443C16F66B}"/>
                    </a:ext>
                  </a:extLst>
                </p:cNvPr>
                <p:cNvGrpSpPr/>
                <p:nvPr/>
              </p:nvGrpSpPr>
              <p:grpSpPr>
                <a:xfrm>
                  <a:off x="489941" y="3734968"/>
                  <a:ext cx="797013" cy="253916"/>
                  <a:chOff x="647355" y="4269583"/>
                  <a:chExt cx="797013" cy="253916"/>
                </a:xfrm>
              </p:grpSpPr>
              <p:sp>
                <p:nvSpPr>
                  <p:cNvPr id="291" name="모서리가 둥근 직사각형 229">
                    <a:extLst>
                      <a:ext uri="{FF2B5EF4-FFF2-40B4-BE49-F238E27FC236}">
                        <a16:creationId xmlns:a16="http://schemas.microsoft.com/office/drawing/2014/main" id="{2438B9E8-A073-4BBB-8948-55483092129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2" name="TextBox 291">
                    <a:extLst>
                      <a:ext uri="{FF2B5EF4-FFF2-40B4-BE49-F238E27FC236}">
                        <a16:creationId xmlns:a16="http://schemas.microsoft.com/office/drawing/2014/main" id="{8DAB9D6A-E929-4921-B896-2084E5ABD724}"/>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282" name="그룹 281">
                  <a:extLst>
                    <a:ext uri="{FF2B5EF4-FFF2-40B4-BE49-F238E27FC236}">
                      <a16:creationId xmlns:a16="http://schemas.microsoft.com/office/drawing/2014/main" id="{076F11A9-9364-4E6A-A826-5DBCAD01E9A8}"/>
                    </a:ext>
                  </a:extLst>
                </p:cNvPr>
                <p:cNvGrpSpPr/>
                <p:nvPr/>
              </p:nvGrpSpPr>
              <p:grpSpPr>
                <a:xfrm>
                  <a:off x="489941" y="3980247"/>
                  <a:ext cx="797013" cy="253916"/>
                  <a:chOff x="647355" y="4269583"/>
                  <a:chExt cx="797013" cy="253916"/>
                </a:xfrm>
              </p:grpSpPr>
              <p:sp>
                <p:nvSpPr>
                  <p:cNvPr id="287" name="모서리가 둥근 직사각형 227">
                    <a:extLst>
                      <a:ext uri="{FF2B5EF4-FFF2-40B4-BE49-F238E27FC236}">
                        <a16:creationId xmlns:a16="http://schemas.microsoft.com/office/drawing/2014/main" id="{1F09691A-0DBD-4D01-A7EF-05C7A560F54C}"/>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88" name="TextBox 287">
                    <a:extLst>
                      <a:ext uri="{FF2B5EF4-FFF2-40B4-BE49-F238E27FC236}">
                        <a16:creationId xmlns:a16="http://schemas.microsoft.com/office/drawing/2014/main" id="{FA47DEA8-F78E-42DA-9913-02A674D57B3D}"/>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283" name="직선 화살표 연결선 282">
                  <a:extLst>
                    <a:ext uri="{FF2B5EF4-FFF2-40B4-BE49-F238E27FC236}">
                      <a16:creationId xmlns:a16="http://schemas.microsoft.com/office/drawing/2014/main" id="{3E7D45FE-F6B6-4FF0-A744-100ACFD206A2}"/>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4" name="TextBox 283">
                  <a:extLst>
                    <a:ext uri="{FF2B5EF4-FFF2-40B4-BE49-F238E27FC236}">
                      <a16:creationId xmlns:a16="http://schemas.microsoft.com/office/drawing/2014/main" id="{AD738F9F-DA01-4BBA-B2D6-9B908D779557}"/>
                    </a:ext>
                  </a:extLst>
                </p:cNvPr>
                <p:cNvSpPr txBox="1"/>
                <p:nvPr/>
              </p:nvSpPr>
              <p:spPr>
                <a:xfrm>
                  <a:off x="1359966" y="3472535"/>
                  <a:ext cx="450764" cy="253916"/>
                </a:xfrm>
                <a:prstGeom prst="rect">
                  <a:avLst/>
                </a:prstGeom>
                <a:noFill/>
              </p:spPr>
              <p:txBody>
                <a:bodyPr wrap="none" rtlCol="0">
                  <a:spAutoFit/>
                </a:bodyPr>
                <a:lstStyle/>
                <a:p>
                  <a:r>
                    <a:rPr lang="en-US" altLang="ko-KR" sz="1050" dirty="0"/>
                    <a:t>Tool</a:t>
                  </a:r>
                  <a:endParaRPr lang="ko-KR" altLang="en-US" sz="1050" dirty="0"/>
                </a:p>
              </p:txBody>
            </p:sp>
            <p:cxnSp>
              <p:nvCxnSpPr>
                <p:cNvPr id="285" name="직선 화살표 연결선 284">
                  <a:extLst>
                    <a:ext uri="{FF2B5EF4-FFF2-40B4-BE49-F238E27FC236}">
                      <a16:creationId xmlns:a16="http://schemas.microsoft.com/office/drawing/2014/main" id="{6BC863F9-3FB1-4A5A-B154-AB5BF8F8559A}"/>
                    </a:ext>
                  </a:extLst>
                </p:cNvPr>
                <p:cNvCxnSpPr>
                  <a:stCxn id="292" idx="3"/>
                </p:cNvCxnSpPr>
                <p:nvPr/>
              </p:nvCxnSpPr>
              <p:spPr>
                <a:xfrm>
                  <a:off x="1286954" y="3861926"/>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6" name="TextBox 285">
                  <a:extLst>
                    <a:ext uri="{FF2B5EF4-FFF2-40B4-BE49-F238E27FC236}">
                      <a16:creationId xmlns:a16="http://schemas.microsoft.com/office/drawing/2014/main" id="{7AF2F04B-E68C-4547-A81F-FAE77D1DB23D}"/>
                    </a:ext>
                  </a:extLst>
                </p:cNvPr>
                <p:cNvSpPr txBox="1"/>
                <p:nvPr/>
              </p:nvSpPr>
              <p:spPr>
                <a:xfrm>
                  <a:off x="1363638" y="3736285"/>
                  <a:ext cx="450764" cy="253916"/>
                </a:xfrm>
                <a:prstGeom prst="rect">
                  <a:avLst/>
                </a:prstGeom>
                <a:noFill/>
              </p:spPr>
              <p:txBody>
                <a:bodyPr wrap="none" rtlCol="0">
                  <a:spAutoFit/>
                </a:bodyPr>
                <a:lstStyle/>
                <a:p>
                  <a:r>
                    <a:rPr lang="en-US" altLang="ko-KR" sz="1050" dirty="0"/>
                    <a:t>Tool</a:t>
                  </a:r>
                  <a:endParaRPr lang="ko-KR" altLang="en-US" sz="1050" dirty="0"/>
                </a:p>
              </p:txBody>
            </p:sp>
          </p:grpSp>
          <p:sp>
            <p:nvSpPr>
              <p:cNvPr id="166" name="모서리가 둥근 직사각형 262">
                <a:extLst>
                  <a:ext uri="{FF2B5EF4-FFF2-40B4-BE49-F238E27FC236}">
                    <a16:creationId xmlns:a16="http://schemas.microsoft.com/office/drawing/2014/main" id="{9A6C1B79-B67A-4936-907B-4FE927F86E5B}"/>
                  </a:ext>
                </a:extLst>
              </p:cNvPr>
              <p:cNvSpPr/>
              <p:nvPr/>
            </p:nvSpPr>
            <p:spPr>
              <a:xfrm>
                <a:off x="9821575" y="3981487"/>
                <a:ext cx="906216" cy="338012"/>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200" b="1" dirty="0" err="1">
                    <a:solidFill>
                      <a:srgbClr val="1F3864"/>
                    </a:solidFill>
                    <a:latin typeface="Malgun Gothic" pitchFamily="34" charset="0"/>
                    <a:ea typeface="Malgun Gothic" pitchFamily="34" charset="-122"/>
                    <a:cs typeface="Malgun Gothic" pitchFamily="34" charset="-120"/>
                  </a:rPr>
                  <a:t>ScHBM</a:t>
                </a:r>
                <a:endParaRPr lang="ko-KR" altLang="en-US" sz="1200" b="1" dirty="0">
                  <a:solidFill>
                    <a:srgbClr val="1F3864"/>
                  </a:solidFill>
                  <a:latin typeface="Malgun Gothic" pitchFamily="34" charset="0"/>
                  <a:ea typeface="Malgun Gothic" pitchFamily="34" charset="-122"/>
                  <a:cs typeface="Malgun Gothic" pitchFamily="34" charset="-120"/>
                </a:endParaRPr>
              </a:p>
            </p:txBody>
          </p:sp>
          <p:sp>
            <p:nvSpPr>
              <p:cNvPr id="226" name="순서도: 자기 디스크 225">
                <a:extLst>
                  <a:ext uri="{FF2B5EF4-FFF2-40B4-BE49-F238E27FC236}">
                    <a16:creationId xmlns:a16="http://schemas.microsoft.com/office/drawing/2014/main" id="{B93D3D46-2EAF-4F46-8D70-4B0856C6C363}"/>
                  </a:ext>
                </a:extLst>
              </p:cNvPr>
              <p:cNvSpPr/>
              <p:nvPr/>
            </p:nvSpPr>
            <p:spPr>
              <a:xfrm>
                <a:off x="9312166" y="305361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228" name="순서도: 자기 디스크 227">
                <a:extLst>
                  <a:ext uri="{FF2B5EF4-FFF2-40B4-BE49-F238E27FC236}">
                    <a16:creationId xmlns:a16="http://schemas.microsoft.com/office/drawing/2014/main" id="{B93D3D46-2EAF-4F46-8D70-4B0856C6C363}"/>
                  </a:ext>
                </a:extLst>
              </p:cNvPr>
              <p:cNvSpPr/>
              <p:nvPr/>
            </p:nvSpPr>
            <p:spPr>
              <a:xfrm>
                <a:off x="9251802" y="3681533"/>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KV5</a:t>
                </a:r>
                <a:endParaRPr lang="ko-KR" altLang="en-US" sz="800" b="1" dirty="0"/>
              </a:p>
            </p:txBody>
          </p:sp>
          <p:sp>
            <p:nvSpPr>
              <p:cNvPr id="229" name="순서도: 자기 디스크 228">
                <a:extLst>
                  <a:ext uri="{FF2B5EF4-FFF2-40B4-BE49-F238E27FC236}">
                    <a16:creationId xmlns:a16="http://schemas.microsoft.com/office/drawing/2014/main" id="{B93D3D46-2EAF-4F46-8D70-4B0856C6C363}"/>
                  </a:ext>
                </a:extLst>
              </p:cNvPr>
              <p:cNvSpPr/>
              <p:nvPr/>
            </p:nvSpPr>
            <p:spPr>
              <a:xfrm>
                <a:off x="7990790" y="467784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230" name="순서도: 자기 디스크 229">
                <a:extLst>
                  <a:ext uri="{FF2B5EF4-FFF2-40B4-BE49-F238E27FC236}">
                    <a16:creationId xmlns:a16="http://schemas.microsoft.com/office/drawing/2014/main" id="{B93D3D46-2EAF-4F46-8D70-4B0856C6C363}"/>
                  </a:ext>
                </a:extLst>
              </p:cNvPr>
              <p:cNvSpPr/>
              <p:nvPr/>
            </p:nvSpPr>
            <p:spPr>
              <a:xfrm>
                <a:off x="9752193" y="4261538"/>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231" name="대각선 방향의 모서리가 잘린 사각형 230">
                <a:extLst>
                  <a:ext uri="{FF2B5EF4-FFF2-40B4-BE49-F238E27FC236}">
                    <a16:creationId xmlns:a16="http://schemas.microsoft.com/office/drawing/2014/main" id="{66C77D57-A693-44F6-BED9-8013A3D12FE6}"/>
                  </a:ext>
                </a:extLst>
              </p:cNvPr>
              <p:cNvSpPr/>
              <p:nvPr/>
            </p:nvSpPr>
            <p:spPr>
              <a:xfrm>
                <a:off x="9312166" y="3290786"/>
                <a:ext cx="574622" cy="197237"/>
              </a:xfrm>
              <a:prstGeom prst="snip2DiagRect">
                <a:avLst/>
              </a:prstGeom>
              <a:ln>
                <a:solidFill>
                  <a:schemeClr val="accent4"/>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900" dirty="0"/>
                  <a:t>Expert</a:t>
                </a:r>
                <a:endParaRPr lang="ko-KR" altLang="en-US" sz="900" dirty="0"/>
              </a:p>
            </p:txBody>
          </p:sp>
        </p:grpSp>
        <p:sp>
          <p:nvSpPr>
            <p:cNvPr id="220" name="순서도: 자기 디스크 219">
              <a:extLst>
                <a:ext uri="{FF2B5EF4-FFF2-40B4-BE49-F238E27FC236}">
                  <a16:creationId xmlns:a16="http://schemas.microsoft.com/office/drawing/2014/main" id="{B93D3D46-2EAF-4F46-8D70-4B0856C6C363}"/>
                </a:ext>
              </a:extLst>
            </p:cNvPr>
            <p:cNvSpPr/>
            <p:nvPr/>
          </p:nvSpPr>
          <p:spPr>
            <a:xfrm>
              <a:off x="9349442" y="5048468"/>
              <a:ext cx="754531" cy="291948"/>
            </a:xfrm>
            <a:prstGeom prst="flowChartMagneticDisk">
              <a:avLst/>
            </a:prstGeom>
            <a:ln>
              <a:solidFill>
                <a:schemeClr val="accent1">
                  <a:lumMod val="75000"/>
                </a:schemeClr>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dirty="0"/>
                <a:t>Vector </a:t>
              </a:r>
              <a:r>
                <a:rPr lang="en-US" altLang="ko-KR" sz="800" dirty="0" err="1"/>
                <a:t>Idx</a:t>
              </a:r>
              <a:r>
                <a:rPr lang="en-US" altLang="ko-KR" sz="800" dirty="0"/>
                <a:t> Cache</a:t>
              </a:r>
              <a:endParaRPr lang="ko-KR" altLang="en-US" sz="800" dirty="0"/>
            </a:p>
          </p:txBody>
        </p:sp>
      </p:grpSp>
      <p:cxnSp>
        <p:nvCxnSpPr>
          <p:cNvPr id="222" name="직선 연결선 221">
            <a:extLst>
              <a:ext uri="{FF2B5EF4-FFF2-40B4-BE49-F238E27FC236}">
                <a16:creationId xmlns:a16="http://schemas.microsoft.com/office/drawing/2014/main" id="{E8BD091E-84A4-4AF0-9C69-9D493ED1BE5B}"/>
              </a:ext>
            </a:extLst>
          </p:cNvPr>
          <p:cNvCxnSpPr>
            <a:stCxn id="138" idx="3"/>
            <a:endCxn id="140" idx="1"/>
          </p:cNvCxnSpPr>
          <p:nvPr/>
        </p:nvCxnSpPr>
        <p:spPr>
          <a:xfrm>
            <a:off x="9517632" y="5593580"/>
            <a:ext cx="512853" cy="155292"/>
          </a:xfrm>
          <a:prstGeom prst="bentConnector3">
            <a:avLst>
              <a:gd name="adj1" fmla="val 50000"/>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32" name="모서리가 둥근 직사각형 192">
            <a:extLst>
              <a:ext uri="{FF2B5EF4-FFF2-40B4-BE49-F238E27FC236}">
                <a16:creationId xmlns:a16="http://schemas.microsoft.com/office/drawing/2014/main" id="{F514312F-4F37-4C23-84C5-02AC423D2309}"/>
              </a:ext>
            </a:extLst>
          </p:cNvPr>
          <p:cNvSpPr/>
          <p:nvPr/>
        </p:nvSpPr>
        <p:spPr>
          <a:xfrm>
            <a:off x="10997939" y="6025681"/>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233" name="모서리가 둥근 직사각형 192">
            <a:extLst>
              <a:ext uri="{FF2B5EF4-FFF2-40B4-BE49-F238E27FC236}">
                <a16:creationId xmlns:a16="http://schemas.microsoft.com/office/drawing/2014/main" id="{F514312F-4F37-4C23-84C5-02AC423D2309}"/>
              </a:ext>
            </a:extLst>
          </p:cNvPr>
          <p:cNvSpPr/>
          <p:nvPr/>
        </p:nvSpPr>
        <p:spPr>
          <a:xfrm>
            <a:off x="10997939" y="5765354"/>
            <a:ext cx="817052"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신규 메모리</a:t>
            </a:r>
          </a:p>
        </p:txBody>
      </p:sp>
      <p:sp>
        <p:nvSpPr>
          <p:cNvPr id="38" name="직사각형 37"/>
          <p:cNvSpPr/>
          <p:nvPr/>
        </p:nvSpPr>
        <p:spPr>
          <a:xfrm>
            <a:off x="6357908" y="4019550"/>
            <a:ext cx="5535079" cy="2255795"/>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9" name="TextBox 38"/>
          <p:cNvSpPr txBox="1"/>
          <p:nvPr/>
        </p:nvSpPr>
        <p:spPr>
          <a:xfrm>
            <a:off x="7715788" y="3876574"/>
            <a:ext cx="2903360" cy="253916"/>
          </a:xfrm>
          <a:prstGeom prst="rect">
            <a:avLst/>
          </a:prstGeom>
          <a:solidFill>
            <a:schemeClr val="bg1"/>
          </a:solidFill>
        </p:spPr>
        <p:txBody>
          <a:bodyPr wrap="none" rtlCol="0">
            <a:spAutoFit/>
          </a:bodyPr>
          <a:lstStyle/>
          <a:p>
            <a:pPr algn="ctr"/>
            <a:r>
              <a:rPr lang="en-US" altLang="ko-KR" sz="1050" dirty="0"/>
              <a:t>&lt;</a:t>
            </a:r>
            <a:r>
              <a:rPr lang="ko-KR" altLang="en-US" sz="1050" dirty="0"/>
              <a:t>이기종 메모리 기반 데이터 배치 시나리오</a:t>
            </a:r>
            <a:r>
              <a:rPr lang="en-US" altLang="ko-KR" sz="1050" dirty="0"/>
              <a:t>&gt;</a:t>
            </a:r>
            <a:endParaRPr lang="ko-KR" altLang="en-US" sz="1050" dirty="0"/>
          </a:p>
        </p:txBody>
      </p:sp>
      <p:pic>
        <p:nvPicPr>
          <p:cNvPr id="12" name="그림 11"/>
          <p:cNvPicPr>
            <a:picLocks noChangeAspect="1"/>
          </p:cNvPicPr>
          <p:nvPr/>
        </p:nvPicPr>
        <p:blipFill>
          <a:blip r:embed="rId3"/>
          <a:stretch>
            <a:fillRect/>
          </a:stretch>
        </p:blipFill>
        <p:spPr>
          <a:xfrm>
            <a:off x="6437878" y="1216649"/>
            <a:ext cx="2903540" cy="2465181"/>
          </a:xfrm>
          <a:prstGeom prst="rect">
            <a:avLst/>
          </a:prstGeom>
        </p:spPr>
      </p:pic>
      <p:sp>
        <p:nvSpPr>
          <p:cNvPr id="114" name="TextBox 113"/>
          <p:cNvSpPr txBox="1"/>
          <p:nvPr/>
        </p:nvSpPr>
        <p:spPr>
          <a:xfrm>
            <a:off x="9004880" y="1412833"/>
            <a:ext cx="873957" cy="261610"/>
          </a:xfrm>
          <a:prstGeom prst="rect">
            <a:avLst/>
          </a:prstGeom>
          <a:noFill/>
        </p:spPr>
        <p:txBody>
          <a:bodyPr wrap="none" rtlCol="0">
            <a:spAutoFit/>
          </a:bodyPr>
          <a:lstStyle/>
          <a:p>
            <a:r>
              <a:rPr lang="en-US" altLang="ko-KR" sz="1050" dirty="0"/>
              <a:t>HBM-PNM</a:t>
            </a:r>
            <a:endParaRPr lang="ko-KR" altLang="en-US" sz="1050" dirty="0"/>
          </a:p>
        </p:txBody>
      </p:sp>
      <p:sp>
        <p:nvSpPr>
          <p:cNvPr id="115" name="TextBox 114"/>
          <p:cNvSpPr txBox="1"/>
          <p:nvPr/>
        </p:nvSpPr>
        <p:spPr>
          <a:xfrm>
            <a:off x="1826064" y="1965746"/>
            <a:ext cx="3657600" cy="169277"/>
          </a:xfrm>
          <a:prstGeom prst="rect">
            <a:avLst/>
          </a:prstGeom>
          <a:noFill/>
        </p:spPr>
        <p:txBody>
          <a:bodyPr wrap="square" lIns="0" tIns="0" rIns="0" bIns="0" anchor="t">
            <a:spAutoFit/>
          </a:bodyPr>
          <a:lstStyle/>
          <a:p>
            <a:pPr algn="l"/>
            <a:r>
              <a:rPr lang="en-US" sz="1100" b="1" i="0" dirty="0">
                <a:solidFill>
                  <a:srgbClr val="1F6FB5"/>
                </a:solidFill>
                <a:latin typeface="맑은 고딕"/>
                <a:ea typeface="맑은 고딕"/>
              </a:rPr>
              <a:t>Turn </a:t>
            </a:r>
            <a:r>
              <a:rPr lang="ko-KR" altLang="en-US" sz="1100" b="1" i="0" dirty="0">
                <a:solidFill>
                  <a:srgbClr val="1F6FB5"/>
                </a:solidFill>
                <a:latin typeface="맑은 고딕"/>
                <a:ea typeface="맑은 고딕"/>
              </a:rPr>
              <a:t>수 </a:t>
            </a:r>
            <a:r>
              <a:rPr lang="en-US" altLang="ko-KR" sz="1100" b="1" i="0" dirty="0">
                <a:solidFill>
                  <a:srgbClr val="1F6FB5"/>
                </a:solidFill>
                <a:latin typeface="맑은 고딕"/>
                <a:ea typeface="맑은 고딕"/>
              </a:rPr>
              <a:t>(</a:t>
            </a:r>
            <a:r>
              <a:rPr lang="en-US" altLang="ko-KR" sz="1100" b="1" dirty="0">
                <a:solidFill>
                  <a:srgbClr val="1F6FB5"/>
                </a:solidFill>
                <a:latin typeface="맑은 고딕"/>
                <a:ea typeface="맑은 고딕"/>
              </a:rPr>
              <a:t>User</a:t>
            </a:r>
            <a:r>
              <a:rPr lang="ko-KR" altLang="en-US" sz="1100" b="1" dirty="0">
                <a:solidFill>
                  <a:srgbClr val="1F6FB5"/>
                </a:solidFill>
                <a:latin typeface="맑은 고딕"/>
                <a:ea typeface="맑은 고딕"/>
              </a:rPr>
              <a:t>가 </a:t>
            </a:r>
            <a:r>
              <a:rPr lang="en-US" altLang="ko-KR" sz="1100" b="1" dirty="0">
                <a:solidFill>
                  <a:srgbClr val="1F6FB5"/>
                </a:solidFill>
                <a:latin typeface="맑은 고딕"/>
                <a:ea typeface="맑은 고딕"/>
              </a:rPr>
              <a:t>LLM</a:t>
            </a:r>
            <a:r>
              <a:rPr lang="ko-KR" altLang="en-US" sz="1100" b="1" dirty="0">
                <a:solidFill>
                  <a:srgbClr val="1F6FB5"/>
                </a:solidFill>
                <a:latin typeface="맑은 고딕"/>
                <a:ea typeface="맑은 고딕"/>
              </a:rPr>
              <a:t>의 출력 후 재입력하는 수</a:t>
            </a:r>
            <a:r>
              <a:rPr lang="en-US" altLang="ko-KR" sz="1100" b="1" dirty="0">
                <a:solidFill>
                  <a:srgbClr val="1F6FB5"/>
                </a:solidFill>
                <a:latin typeface="맑은 고딕"/>
                <a:ea typeface="맑은 고딕"/>
              </a:rPr>
              <a:t>)</a:t>
            </a:r>
            <a:endParaRPr sz="1100" b="1" i="0" dirty="0">
              <a:solidFill>
                <a:srgbClr val="1F6FB5"/>
              </a:solidFill>
              <a:latin typeface="맑은 고딕"/>
              <a:ea typeface="맑은 고딕"/>
            </a:endParaRPr>
          </a:p>
        </p:txBody>
      </p:sp>
      <p:cxnSp>
        <p:nvCxnSpPr>
          <p:cNvPr id="116" name="Connector 4"/>
          <p:cNvCxnSpPr/>
          <p:nvPr/>
        </p:nvCxnSpPr>
        <p:spPr>
          <a:xfrm>
            <a:off x="1826064" y="2240066"/>
            <a:ext cx="3858768" cy="0"/>
          </a:xfrm>
          <a:prstGeom prst="line">
            <a:avLst/>
          </a:prstGeom>
          <a:ln w="2222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1826064" y="2368082"/>
            <a:ext cx="1152144" cy="237744"/>
          </a:xfrm>
          <a:prstGeom prst="rect">
            <a:avLst/>
          </a:prstGeom>
          <a:noFill/>
        </p:spPr>
        <p:txBody>
          <a:bodyPr wrap="square" lIns="0" tIns="0" rIns="0" bIns="0" anchor="t">
            <a:spAutoFit/>
          </a:bodyPr>
          <a:lstStyle/>
          <a:p>
            <a:pPr algn="ctr"/>
            <a:r>
              <a:rPr sz="1150" b="1" i="0">
                <a:solidFill>
                  <a:srgbClr val="404040"/>
                </a:solidFill>
                <a:latin typeface="맑은 고딕"/>
                <a:ea typeface="맑은 고딕"/>
              </a:rPr>
              <a:t>Turn 1</a:t>
            </a:r>
          </a:p>
        </p:txBody>
      </p:sp>
      <p:sp>
        <p:nvSpPr>
          <p:cNvPr id="118" name="TextBox 117"/>
          <p:cNvSpPr txBox="1"/>
          <p:nvPr/>
        </p:nvSpPr>
        <p:spPr>
          <a:xfrm>
            <a:off x="3106223" y="2368082"/>
            <a:ext cx="1152144" cy="237744"/>
          </a:xfrm>
          <a:prstGeom prst="rect">
            <a:avLst/>
          </a:prstGeom>
          <a:noFill/>
        </p:spPr>
        <p:txBody>
          <a:bodyPr wrap="square" lIns="0" tIns="0" rIns="0" bIns="0" anchor="t">
            <a:spAutoFit/>
          </a:bodyPr>
          <a:lstStyle/>
          <a:p>
            <a:pPr algn="ctr"/>
            <a:r>
              <a:rPr sz="1150" b="1" i="0">
                <a:solidFill>
                  <a:srgbClr val="404040"/>
                </a:solidFill>
                <a:latin typeface="맑은 고딕"/>
                <a:ea typeface="맑은 고딕"/>
              </a:rPr>
              <a:t>Turn 2</a:t>
            </a:r>
          </a:p>
        </p:txBody>
      </p:sp>
      <p:sp>
        <p:nvSpPr>
          <p:cNvPr id="119" name="TextBox 118"/>
          <p:cNvSpPr txBox="1"/>
          <p:nvPr/>
        </p:nvSpPr>
        <p:spPr>
          <a:xfrm>
            <a:off x="4386384" y="2368082"/>
            <a:ext cx="1152144" cy="237744"/>
          </a:xfrm>
          <a:prstGeom prst="rect">
            <a:avLst/>
          </a:prstGeom>
          <a:noFill/>
        </p:spPr>
        <p:txBody>
          <a:bodyPr wrap="square" lIns="0" tIns="0" rIns="0" bIns="0" anchor="t">
            <a:spAutoFit/>
          </a:bodyPr>
          <a:lstStyle/>
          <a:p>
            <a:pPr algn="ctr"/>
            <a:r>
              <a:rPr sz="1150" b="1" i="0">
                <a:solidFill>
                  <a:srgbClr val="404040"/>
                </a:solidFill>
                <a:latin typeface="맑은 고딕"/>
                <a:ea typeface="맑은 고딕"/>
              </a:rPr>
              <a:t>Turn 3</a:t>
            </a:r>
          </a:p>
        </p:txBody>
      </p:sp>
      <p:sp>
        <p:nvSpPr>
          <p:cNvPr id="120" name="TextBox 119"/>
          <p:cNvSpPr txBox="1"/>
          <p:nvPr/>
        </p:nvSpPr>
        <p:spPr>
          <a:xfrm>
            <a:off x="414934" y="2072255"/>
            <a:ext cx="1188720" cy="338554"/>
          </a:xfrm>
          <a:prstGeom prst="rect">
            <a:avLst/>
          </a:prstGeom>
          <a:noFill/>
        </p:spPr>
        <p:txBody>
          <a:bodyPr wrap="square" lIns="0" tIns="0" rIns="0" bIns="0" anchor="t">
            <a:spAutoFit/>
          </a:bodyPr>
          <a:lstStyle/>
          <a:p>
            <a:pPr algn="ctr"/>
            <a:r>
              <a:rPr sz="1100" b="1" i="0" dirty="0" err="1">
                <a:solidFill>
                  <a:srgbClr val="C55A11"/>
                </a:solidFill>
                <a:latin typeface="맑은 고딕"/>
                <a:ea typeface="맑은 고딕"/>
              </a:rPr>
              <a:t>동시</a:t>
            </a:r>
            <a:r>
              <a:rPr sz="1100" b="1" i="0" dirty="0">
                <a:solidFill>
                  <a:srgbClr val="C55A11"/>
                </a:solidFill>
                <a:latin typeface="맑은 고딕"/>
                <a:ea typeface="맑은 고딕"/>
              </a:rPr>
              <a:t> </a:t>
            </a:r>
            <a:r>
              <a:rPr sz="1100" b="1" i="0" dirty="0" err="1">
                <a:solidFill>
                  <a:srgbClr val="C55A11"/>
                </a:solidFill>
                <a:latin typeface="맑은 고딕"/>
                <a:ea typeface="맑은 고딕"/>
              </a:rPr>
              <a:t>작업</a:t>
            </a:r>
            <a:r>
              <a:rPr lang="en-US" sz="1100" b="1" dirty="0">
                <a:solidFill>
                  <a:srgbClr val="C55A11"/>
                </a:solidFill>
                <a:latin typeface="맑은 고딕"/>
                <a:ea typeface="맑은 고딕"/>
              </a:rPr>
              <a:t> </a:t>
            </a:r>
            <a:r>
              <a:rPr lang="ko-KR" altLang="en-US" sz="1100" b="1" dirty="0">
                <a:solidFill>
                  <a:srgbClr val="C55A11"/>
                </a:solidFill>
                <a:latin typeface="맑은 고딕"/>
                <a:ea typeface="맑은 고딕"/>
              </a:rPr>
              <a:t>수</a:t>
            </a:r>
            <a:endParaRPr lang="en-US" sz="1100" b="1" dirty="0">
              <a:solidFill>
                <a:srgbClr val="C55A11"/>
              </a:solidFill>
              <a:latin typeface="맑은 고딕"/>
              <a:ea typeface="맑은 고딕"/>
            </a:endParaRPr>
          </a:p>
          <a:p>
            <a:pPr algn="ctr"/>
            <a:r>
              <a:rPr lang="en-US" sz="1100" b="1" i="0" dirty="0">
                <a:solidFill>
                  <a:srgbClr val="C55A11"/>
                </a:solidFill>
                <a:latin typeface="맑은 고딕"/>
                <a:ea typeface="맑은 고딕"/>
              </a:rPr>
              <a:t>(Concurrency)</a:t>
            </a:r>
            <a:endParaRPr sz="1100" b="1" i="0" dirty="0">
              <a:solidFill>
                <a:srgbClr val="C55A11"/>
              </a:solidFill>
              <a:latin typeface="맑은 고딕"/>
              <a:ea typeface="맑은 고딕"/>
            </a:endParaRPr>
          </a:p>
        </p:txBody>
      </p:sp>
      <p:cxnSp>
        <p:nvCxnSpPr>
          <p:cNvPr id="121" name="Connector 9"/>
          <p:cNvCxnSpPr/>
          <p:nvPr/>
        </p:nvCxnSpPr>
        <p:spPr>
          <a:xfrm>
            <a:off x="975672" y="2550962"/>
            <a:ext cx="0" cy="2157983"/>
          </a:xfrm>
          <a:prstGeom prst="line">
            <a:avLst/>
          </a:prstGeom>
          <a:ln w="2222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1121976" y="2642402"/>
            <a:ext cx="676656" cy="548640"/>
          </a:xfrm>
          <a:prstGeom prst="rect">
            <a:avLst/>
          </a:prstGeom>
          <a:noFill/>
        </p:spPr>
        <p:txBody>
          <a:bodyPr wrap="square" lIns="0" tIns="0" rIns="0" bIns="0" anchor="ctr">
            <a:spAutoFit/>
          </a:bodyPr>
          <a:lstStyle/>
          <a:p>
            <a:pPr algn="l"/>
            <a:r>
              <a:rPr sz="1150" b="1" i="0">
                <a:solidFill>
                  <a:srgbClr val="404040"/>
                </a:solidFill>
                <a:latin typeface="맑은 고딕"/>
                <a:ea typeface="맑은 고딕"/>
              </a:rPr>
              <a:t>Task 1</a:t>
            </a:r>
          </a:p>
        </p:txBody>
      </p:sp>
      <p:sp>
        <p:nvSpPr>
          <p:cNvPr id="123" name="TextBox 122"/>
          <p:cNvSpPr txBox="1"/>
          <p:nvPr/>
        </p:nvSpPr>
        <p:spPr>
          <a:xfrm>
            <a:off x="1121976" y="3337346"/>
            <a:ext cx="676656" cy="548640"/>
          </a:xfrm>
          <a:prstGeom prst="rect">
            <a:avLst/>
          </a:prstGeom>
          <a:noFill/>
        </p:spPr>
        <p:txBody>
          <a:bodyPr wrap="square" lIns="0" tIns="0" rIns="0" bIns="0" anchor="ctr">
            <a:spAutoFit/>
          </a:bodyPr>
          <a:lstStyle/>
          <a:p>
            <a:pPr algn="l"/>
            <a:r>
              <a:rPr sz="1150" b="1" i="0">
                <a:solidFill>
                  <a:srgbClr val="404040"/>
                </a:solidFill>
                <a:latin typeface="맑은 고딕"/>
                <a:ea typeface="맑은 고딕"/>
              </a:rPr>
              <a:t>Task 2</a:t>
            </a:r>
          </a:p>
        </p:txBody>
      </p:sp>
      <p:sp>
        <p:nvSpPr>
          <p:cNvPr id="124" name="TextBox 123"/>
          <p:cNvSpPr txBox="1"/>
          <p:nvPr/>
        </p:nvSpPr>
        <p:spPr>
          <a:xfrm>
            <a:off x="1121976" y="4032290"/>
            <a:ext cx="676656" cy="548640"/>
          </a:xfrm>
          <a:prstGeom prst="rect">
            <a:avLst/>
          </a:prstGeom>
          <a:noFill/>
        </p:spPr>
        <p:txBody>
          <a:bodyPr wrap="square" lIns="0" tIns="0" rIns="0" bIns="0" anchor="ctr">
            <a:spAutoFit/>
          </a:bodyPr>
          <a:lstStyle/>
          <a:p>
            <a:pPr algn="l"/>
            <a:r>
              <a:rPr sz="1150" b="1" i="0" dirty="0">
                <a:solidFill>
                  <a:srgbClr val="404040"/>
                </a:solidFill>
                <a:latin typeface="맑은 고딕"/>
                <a:ea typeface="맑은 고딕"/>
              </a:rPr>
              <a:t>Task 3</a:t>
            </a:r>
          </a:p>
        </p:txBody>
      </p:sp>
      <p:sp>
        <p:nvSpPr>
          <p:cNvPr id="125" name="Rectangle 13"/>
          <p:cNvSpPr/>
          <p:nvPr/>
        </p:nvSpPr>
        <p:spPr>
          <a:xfrm>
            <a:off x="1826064" y="2642402"/>
            <a:ext cx="1152144" cy="548640"/>
          </a:xfrm>
          <a:prstGeom prst="rect">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6" name="Rectangle 14"/>
          <p:cNvSpPr/>
          <p:nvPr/>
        </p:nvSpPr>
        <p:spPr>
          <a:xfrm>
            <a:off x="2283264" y="2770418"/>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7" name="Rectangle 15"/>
          <p:cNvSpPr/>
          <p:nvPr/>
        </p:nvSpPr>
        <p:spPr>
          <a:xfrm>
            <a:off x="3106223" y="2642402"/>
            <a:ext cx="1152144" cy="548640"/>
          </a:xfrm>
          <a:prstGeom prst="rect">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8" name="Rectangle 16"/>
          <p:cNvSpPr/>
          <p:nvPr/>
        </p:nvSpPr>
        <p:spPr>
          <a:xfrm>
            <a:off x="3421692" y="2770418"/>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29" name="Rectangle 17"/>
          <p:cNvSpPr/>
          <p:nvPr/>
        </p:nvSpPr>
        <p:spPr>
          <a:xfrm>
            <a:off x="3705156" y="2770418"/>
            <a:ext cx="128016"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30" name="Rectangle 18"/>
          <p:cNvSpPr/>
          <p:nvPr/>
        </p:nvSpPr>
        <p:spPr>
          <a:xfrm>
            <a:off x="4386384" y="2642402"/>
            <a:ext cx="1152144" cy="548640"/>
          </a:xfrm>
          <a:prstGeom prst="rect">
            <a:avLst/>
          </a:prstGeom>
          <a:solidFill>
            <a:srgbClr val="FFF7F0"/>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34" name="Rectangle 22"/>
          <p:cNvSpPr/>
          <p:nvPr/>
        </p:nvSpPr>
        <p:spPr>
          <a:xfrm>
            <a:off x="1826064" y="3337346"/>
            <a:ext cx="1152144" cy="548640"/>
          </a:xfrm>
          <a:prstGeom prst="rect">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35" name="Rectangle 23"/>
          <p:cNvSpPr/>
          <p:nvPr/>
        </p:nvSpPr>
        <p:spPr>
          <a:xfrm>
            <a:off x="2105539" y="3465362"/>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36" name="Rectangle 24"/>
          <p:cNvSpPr/>
          <p:nvPr/>
        </p:nvSpPr>
        <p:spPr>
          <a:xfrm>
            <a:off x="3106223" y="3337346"/>
            <a:ext cx="1152144" cy="548640"/>
          </a:xfrm>
          <a:prstGeom prst="rect">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46" name="Rectangle 27"/>
          <p:cNvSpPr/>
          <p:nvPr/>
        </p:nvSpPr>
        <p:spPr>
          <a:xfrm>
            <a:off x="4386384" y="3337346"/>
            <a:ext cx="1152144" cy="548640"/>
          </a:xfrm>
          <a:prstGeom prst="rect">
            <a:avLst/>
          </a:prstGeom>
          <a:solidFill>
            <a:srgbClr val="FFF7F0"/>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4" name="Rectangle 31"/>
          <p:cNvSpPr/>
          <p:nvPr/>
        </p:nvSpPr>
        <p:spPr>
          <a:xfrm>
            <a:off x="1826064" y="4032290"/>
            <a:ext cx="1152144" cy="548640"/>
          </a:xfrm>
          <a:prstGeom prst="rect">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5" name="Rectangle 32"/>
          <p:cNvSpPr/>
          <p:nvPr/>
        </p:nvSpPr>
        <p:spPr>
          <a:xfrm>
            <a:off x="2181756" y="4160306"/>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6" name="Rectangle 33"/>
          <p:cNvSpPr/>
          <p:nvPr/>
        </p:nvSpPr>
        <p:spPr>
          <a:xfrm>
            <a:off x="3106223" y="4032290"/>
            <a:ext cx="1152144" cy="548640"/>
          </a:xfrm>
          <a:prstGeom prst="rect">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0" name="Rectangle 36"/>
          <p:cNvSpPr/>
          <p:nvPr/>
        </p:nvSpPr>
        <p:spPr>
          <a:xfrm>
            <a:off x="4386384" y="4032290"/>
            <a:ext cx="1152144" cy="548640"/>
          </a:xfrm>
          <a:prstGeom prst="rect">
            <a:avLst/>
          </a:prstGeom>
          <a:solidFill>
            <a:srgbClr val="FFF7F0"/>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7" name="TextBox 166"/>
          <p:cNvSpPr txBox="1"/>
          <p:nvPr/>
        </p:nvSpPr>
        <p:spPr>
          <a:xfrm>
            <a:off x="1875592" y="4783396"/>
            <a:ext cx="3622376" cy="215444"/>
          </a:xfrm>
          <a:prstGeom prst="rect">
            <a:avLst/>
          </a:prstGeom>
          <a:noFill/>
        </p:spPr>
        <p:txBody>
          <a:bodyPr wrap="square" lIns="0" tIns="0" rIns="0" bIns="0" anchor="t">
            <a:spAutoFit/>
          </a:bodyPr>
          <a:lstStyle/>
          <a:p>
            <a:pPr algn="ctr"/>
            <a:r>
              <a:rPr lang="ko-KR" altLang="en-US" sz="1400" b="1" dirty="0">
                <a:solidFill>
                  <a:srgbClr val="262626"/>
                </a:solidFill>
                <a:latin typeface="맑은 고딕"/>
                <a:ea typeface="맑은 고딕"/>
              </a:rPr>
              <a:t>누적 </a:t>
            </a:r>
            <a:r>
              <a:rPr lang="en-US" sz="1400" b="1" dirty="0">
                <a:solidFill>
                  <a:srgbClr val="262626"/>
                </a:solidFill>
                <a:latin typeface="맑은 고딕"/>
                <a:ea typeface="맑은 고딕"/>
              </a:rPr>
              <a:t>Data </a:t>
            </a:r>
            <a:r>
              <a:rPr sz="1400" b="1" i="0" dirty="0">
                <a:solidFill>
                  <a:srgbClr val="262626"/>
                </a:solidFill>
                <a:latin typeface="맑은 고딕"/>
                <a:ea typeface="맑은 고딕"/>
              </a:rPr>
              <a:t>량 = </a:t>
            </a:r>
            <a:r>
              <a:rPr lang="en-US" sz="1400" b="1" i="0" dirty="0">
                <a:solidFill>
                  <a:srgbClr val="262626"/>
                </a:solidFill>
                <a:latin typeface="맑은 고딕"/>
                <a:ea typeface="맑은 고딕"/>
              </a:rPr>
              <a:t>Turn</a:t>
            </a:r>
            <a:r>
              <a:rPr sz="1400" b="1" i="0" dirty="0">
                <a:solidFill>
                  <a:srgbClr val="262626"/>
                </a:solidFill>
                <a:latin typeface="맑은 고딕"/>
                <a:ea typeface="맑은 고딕"/>
              </a:rPr>
              <a:t> </a:t>
            </a:r>
            <a:r>
              <a:rPr sz="1400" b="1" i="0" dirty="0" err="1">
                <a:solidFill>
                  <a:srgbClr val="262626"/>
                </a:solidFill>
                <a:latin typeface="맑은 고딕"/>
                <a:ea typeface="맑은 고딕"/>
              </a:rPr>
              <a:t>누적</a:t>
            </a:r>
            <a:r>
              <a:rPr sz="1400" b="1" i="0" dirty="0">
                <a:solidFill>
                  <a:srgbClr val="262626"/>
                </a:solidFill>
                <a:latin typeface="맑은 고딕"/>
                <a:ea typeface="맑은 고딕"/>
              </a:rPr>
              <a:t> × </a:t>
            </a:r>
            <a:r>
              <a:rPr sz="1400" b="1" i="0" dirty="0" err="1">
                <a:solidFill>
                  <a:srgbClr val="262626"/>
                </a:solidFill>
                <a:latin typeface="맑은 고딕"/>
                <a:ea typeface="맑은 고딕"/>
              </a:rPr>
              <a:t>동시</a:t>
            </a:r>
            <a:r>
              <a:rPr sz="1400" b="1" i="0" dirty="0">
                <a:solidFill>
                  <a:srgbClr val="262626"/>
                </a:solidFill>
                <a:latin typeface="맑은 고딕"/>
                <a:ea typeface="맑은 고딕"/>
              </a:rPr>
              <a:t> </a:t>
            </a:r>
            <a:r>
              <a:rPr sz="1400" b="1" i="0" dirty="0" err="1">
                <a:solidFill>
                  <a:srgbClr val="262626"/>
                </a:solidFill>
                <a:latin typeface="맑은 고딕"/>
                <a:ea typeface="맑은 고딕"/>
              </a:rPr>
              <a:t>작업</a:t>
            </a:r>
            <a:r>
              <a:rPr sz="1400" b="1" i="0" dirty="0">
                <a:solidFill>
                  <a:srgbClr val="262626"/>
                </a:solidFill>
                <a:latin typeface="맑은 고딕"/>
                <a:ea typeface="맑은 고딕"/>
              </a:rPr>
              <a:t> 수</a:t>
            </a:r>
          </a:p>
        </p:txBody>
      </p:sp>
      <p:cxnSp>
        <p:nvCxnSpPr>
          <p:cNvPr id="169" name="Connector 41"/>
          <p:cNvCxnSpPr/>
          <p:nvPr/>
        </p:nvCxnSpPr>
        <p:spPr>
          <a:xfrm>
            <a:off x="3496579" y="5160614"/>
            <a:ext cx="0" cy="316439"/>
          </a:xfrm>
          <a:prstGeom prst="line">
            <a:avLst/>
          </a:prstGeom>
          <a:ln w="22225">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2" name="Rectangle 16"/>
          <p:cNvSpPr/>
          <p:nvPr/>
        </p:nvSpPr>
        <p:spPr>
          <a:xfrm>
            <a:off x="4514400" y="2770418"/>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3" name="Rectangle 17"/>
          <p:cNvSpPr/>
          <p:nvPr/>
        </p:nvSpPr>
        <p:spPr>
          <a:xfrm>
            <a:off x="4797864" y="2770418"/>
            <a:ext cx="128016"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4" name="Rectangle 17"/>
          <p:cNvSpPr/>
          <p:nvPr/>
        </p:nvSpPr>
        <p:spPr>
          <a:xfrm>
            <a:off x="4971599" y="2770418"/>
            <a:ext cx="327197"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5" name="Rectangle 23"/>
          <p:cNvSpPr/>
          <p:nvPr/>
        </p:nvSpPr>
        <p:spPr>
          <a:xfrm>
            <a:off x="2413761" y="3465362"/>
            <a:ext cx="143749"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solidFill>
                <a:schemeClr val="lt1"/>
              </a:solidFill>
            </a:endParaRPr>
          </a:p>
        </p:txBody>
      </p:sp>
      <p:sp>
        <p:nvSpPr>
          <p:cNvPr id="176" name="Rectangle 23"/>
          <p:cNvSpPr/>
          <p:nvPr/>
        </p:nvSpPr>
        <p:spPr>
          <a:xfrm>
            <a:off x="3320450" y="3465362"/>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7" name="Rectangle 23"/>
          <p:cNvSpPr/>
          <p:nvPr/>
        </p:nvSpPr>
        <p:spPr>
          <a:xfrm>
            <a:off x="3628672" y="3465362"/>
            <a:ext cx="143749"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solidFill>
                <a:schemeClr val="lt1"/>
              </a:solidFill>
            </a:endParaRPr>
          </a:p>
        </p:txBody>
      </p:sp>
      <p:sp>
        <p:nvSpPr>
          <p:cNvPr id="178" name="Rectangle 23"/>
          <p:cNvSpPr/>
          <p:nvPr/>
        </p:nvSpPr>
        <p:spPr>
          <a:xfrm>
            <a:off x="3833172" y="3465362"/>
            <a:ext cx="87787"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9" name="Rectangle 23"/>
          <p:cNvSpPr/>
          <p:nvPr/>
        </p:nvSpPr>
        <p:spPr>
          <a:xfrm>
            <a:off x="632797" y="5108159"/>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0" name="TextBox 179"/>
          <p:cNvSpPr txBox="1"/>
          <p:nvPr/>
        </p:nvSpPr>
        <p:spPr>
          <a:xfrm>
            <a:off x="935896" y="5148784"/>
            <a:ext cx="676656" cy="161583"/>
          </a:xfrm>
          <a:prstGeom prst="rect">
            <a:avLst/>
          </a:prstGeom>
          <a:noFill/>
        </p:spPr>
        <p:txBody>
          <a:bodyPr wrap="square" lIns="0" tIns="0" rIns="0" bIns="0" anchor="ctr">
            <a:spAutoFit/>
          </a:bodyPr>
          <a:lstStyle/>
          <a:p>
            <a:pPr algn="l"/>
            <a:r>
              <a:rPr lang="en-US" sz="1050" dirty="0">
                <a:solidFill>
                  <a:srgbClr val="404040"/>
                </a:solidFill>
                <a:latin typeface="맑은 고딕"/>
                <a:ea typeface="맑은 고딕"/>
              </a:rPr>
              <a:t>KV </a:t>
            </a:r>
            <a:r>
              <a:rPr lang="ko-KR" altLang="en-US" sz="1050" dirty="0">
                <a:solidFill>
                  <a:srgbClr val="404040"/>
                </a:solidFill>
                <a:latin typeface="맑은 고딕"/>
                <a:ea typeface="맑은 고딕"/>
              </a:rPr>
              <a:t>캐시</a:t>
            </a:r>
            <a:endParaRPr sz="1050" i="0" dirty="0">
              <a:solidFill>
                <a:srgbClr val="404040"/>
              </a:solidFill>
              <a:latin typeface="맑은 고딕"/>
              <a:ea typeface="맑은 고딕"/>
            </a:endParaRPr>
          </a:p>
        </p:txBody>
      </p:sp>
      <p:sp>
        <p:nvSpPr>
          <p:cNvPr id="182" name="Rectangle 23"/>
          <p:cNvSpPr/>
          <p:nvPr/>
        </p:nvSpPr>
        <p:spPr>
          <a:xfrm>
            <a:off x="632797" y="5517443"/>
            <a:ext cx="237744"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3" name="TextBox 182"/>
          <p:cNvSpPr txBox="1"/>
          <p:nvPr/>
        </p:nvSpPr>
        <p:spPr>
          <a:xfrm>
            <a:off x="935896" y="5558068"/>
            <a:ext cx="1051540" cy="161583"/>
          </a:xfrm>
          <a:prstGeom prst="rect">
            <a:avLst/>
          </a:prstGeom>
          <a:noFill/>
        </p:spPr>
        <p:txBody>
          <a:bodyPr wrap="square" lIns="0" tIns="0" rIns="0" bIns="0" anchor="ctr">
            <a:spAutoFit/>
          </a:bodyPr>
          <a:lstStyle/>
          <a:p>
            <a:pPr algn="l"/>
            <a:r>
              <a:rPr lang="en-US" sz="1050" i="0" dirty="0">
                <a:solidFill>
                  <a:srgbClr val="404040"/>
                </a:solidFill>
                <a:latin typeface="맑은 고딕"/>
                <a:ea typeface="맑은 고딕"/>
              </a:rPr>
              <a:t>LORA Adapter</a:t>
            </a:r>
            <a:endParaRPr sz="1050" i="0" dirty="0">
              <a:solidFill>
                <a:srgbClr val="404040"/>
              </a:solidFill>
              <a:latin typeface="맑은 고딕"/>
              <a:ea typeface="맑은 고딕"/>
            </a:endParaRPr>
          </a:p>
        </p:txBody>
      </p:sp>
      <p:sp>
        <p:nvSpPr>
          <p:cNvPr id="184" name="Rectangle 23"/>
          <p:cNvSpPr/>
          <p:nvPr/>
        </p:nvSpPr>
        <p:spPr>
          <a:xfrm>
            <a:off x="4472594" y="3465362"/>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5" name="Rectangle 23"/>
          <p:cNvSpPr/>
          <p:nvPr/>
        </p:nvSpPr>
        <p:spPr>
          <a:xfrm>
            <a:off x="4780816" y="3465362"/>
            <a:ext cx="145064"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dirty="0">
              <a:solidFill>
                <a:schemeClr val="lt1"/>
              </a:solidFill>
            </a:endParaRPr>
          </a:p>
        </p:txBody>
      </p:sp>
      <p:sp>
        <p:nvSpPr>
          <p:cNvPr id="186" name="Rectangle 23"/>
          <p:cNvSpPr/>
          <p:nvPr/>
        </p:nvSpPr>
        <p:spPr>
          <a:xfrm>
            <a:off x="4985239" y="3465362"/>
            <a:ext cx="81082"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7" name="Rectangle 23"/>
          <p:cNvSpPr/>
          <p:nvPr/>
        </p:nvSpPr>
        <p:spPr>
          <a:xfrm>
            <a:off x="5251316" y="3465362"/>
            <a:ext cx="135817"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8" name="Rectangle 23"/>
          <p:cNvSpPr/>
          <p:nvPr/>
        </p:nvSpPr>
        <p:spPr>
          <a:xfrm>
            <a:off x="632797" y="5929934"/>
            <a:ext cx="237744" cy="292608"/>
          </a:xfrm>
          <a:prstGeom prst="rect">
            <a:avLst/>
          </a:prstGeom>
          <a:solidFill>
            <a:schemeClr val="accent6">
              <a:lumMod val="20000"/>
              <a:lumOff val="80000"/>
            </a:schemeClr>
          </a:solidFill>
          <a:ln w="6350">
            <a:solidFill>
              <a:schemeClr val="accent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9" name="TextBox 188"/>
          <p:cNvSpPr txBox="1"/>
          <p:nvPr/>
        </p:nvSpPr>
        <p:spPr>
          <a:xfrm>
            <a:off x="935896" y="5889768"/>
            <a:ext cx="1051540" cy="323165"/>
          </a:xfrm>
          <a:prstGeom prst="rect">
            <a:avLst/>
          </a:prstGeom>
          <a:noFill/>
        </p:spPr>
        <p:txBody>
          <a:bodyPr wrap="square" lIns="0" tIns="0" rIns="0" bIns="0" anchor="ctr">
            <a:spAutoFit/>
          </a:bodyPr>
          <a:lstStyle/>
          <a:p>
            <a:pPr algn="l"/>
            <a:r>
              <a:rPr lang="en-US" sz="1050" i="0" dirty="0" err="1">
                <a:solidFill>
                  <a:srgbClr val="404040"/>
                </a:solidFill>
                <a:latin typeface="맑은 고딕"/>
                <a:ea typeface="맑은 고딕"/>
              </a:rPr>
              <a:t>MoE</a:t>
            </a:r>
            <a:r>
              <a:rPr lang="en-US" sz="1050" i="0" dirty="0">
                <a:solidFill>
                  <a:srgbClr val="404040"/>
                </a:solidFill>
                <a:latin typeface="맑은 고딕"/>
                <a:ea typeface="맑은 고딕"/>
              </a:rPr>
              <a:t> Expert </a:t>
            </a:r>
          </a:p>
          <a:p>
            <a:pPr algn="l"/>
            <a:r>
              <a:rPr lang="en-US" sz="1050" dirty="0">
                <a:solidFill>
                  <a:srgbClr val="404040"/>
                </a:solidFill>
                <a:latin typeface="맑은 고딕"/>
                <a:ea typeface="맑은 고딕"/>
              </a:rPr>
              <a:t>(Weight)</a:t>
            </a:r>
            <a:endParaRPr sz="1050" i="0" dirty="0">
              <a:solidFill>
                <a:srgbClr val="404040"/>
              </a:solidFill>
              <a:latin typeface="맑은 고딕"/>
              <a:ea typeface="맑은 고딕"/>
            </a:endParaRPr>
          </a:p>
        </p:txBody>
      </p:sp>
      <p:sp>
        <p:nvSpPr>
          <p:cNvPr id="190" name="TextBox 189"/>
          <p:cNvSpPr txBox="1"/>
          <p:nvPr/>
        </p:nvSpPr>
        <p:spPr>
          <a:xfrm>
            <a:off x="2259513" y="5645944"/>
            <a:ext cx="2474132" cy="204671"/>
          </a:xfrm>
          <a:prstGeom prst="rect">
            <a:avLst/>
          </a:prstGeom>
          <a:noFill/>
        </p:spPr>
        <p:txBody>
          <a:bodyPr wrap="square" lIns="0" tIns="0" rIns="0" bIns="0" anchor="t">
            <a:spAutoFit/>
          </a:bodyPr>
          <a:lstStyle/>
          <a:p>
            <a:pPr algn="ctr">
              <a:lnSpc>
                <a:spcPct val="95000"/>
              </a:lnSpc>
            </a:pPr>
            <a:r>
              <a:rPr lang="en-US" altLang="ko-KR" sz="1400" b="1" dirty="0">
                <a:solidFill>
                  <a:srgbClr val="C00000"/>
                </a:solidFill>
                <a:ea typeface="맑은 고딕"/>
              </a:rPr>
              <a:t>HBM Pressure ↑</a:t>
            </a:r>
          </a:p>
        </p:txBody>
      </p:sp>
      <p:sp>
        <p:nvSpPr>
          <p:cNvPr id="191" name="Rectangle 23"/>
          <p:cNvSpPr/>
          <p:nvPr/>
        </p:nvSpPr>
        <p:spPr>
          <a:xfrm>
            <a:off x="2471108" y="4159185"/>
            <a:ext cx="114041" cy="292608"/>
          </a:xfrm>
          <a:prstGeom prst="rect">
            <a:avLst/>
          </a:prstGeom>
          <a:solidFill>
            <a:schemeClr val="accent6">
              <a:lumMod val="20000"/>
              <a:lumOff val="80000"/>
            </a:schemeClr>
          </a:solidFill>
          <a:ln w="6350">
            <a:solidFill>
              <a:schemeClr val="accent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2" name="Rectangle 32"/>
          <p:cNvSpPr/>
          <p:nvPr/>
        </p:nvSpPr>
        <p:spPr>
          <a:xfrm>
            <a:off x="3184710" y="4160306"/>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3" name="Rectangle 23"/>
          <p:cNvSpPr/>
          <p:nvPr/>
        </p:nvSpPr>
        <p:spPr>
          <a:xfrm>
            <a:off x="3474062" y="4159185"/>
            <a:ext cx="108204" cy="292608"/>
          </a:xfrm>
          <a:prstGeom prst="rect">
            <a:avLst/>
          </a:prstGeom>
          <a:solidFill>
            <a:schemeClr val="accent6">
              <a:lumMod val="20000"/>
              <a:lumOff val="80000"/>
            </a:schemeClr>
          </a:solidFill>
          <a:ln w="6350">
            <a:solidFill>
              <a:schemeClr val="accent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4" name="Rectangle 23"/>
          <p:cNvSpPr/>
          <p:nvPr/>
        </p:nvSpPr>
        <p:spPr>
          <a:xfrm>
            <a:off x="3641171" y="4159185"/>
            <a:ext cx="112713"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solidFill>
                <a:schemeClr val="lt1"/>
              </a:solidFill>
            </a:endParaRPr>
          </a:p>
        </p:txBody>
      </p:sp>
      <p:sp>
        <p:nvSpPr>
          <p:cNvPr id="195" name="Rectangle 23"/>
          <p:cNvSpPr/>
          <p:nvPr/>
        </p:nvSpPr>
        <p:spPr>
          <a:xfrm>
            <a:off x="3798723" y="4159185"/>
            <a:ext cx="155216"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05" name="Rectangle 23"/>
          <p:cNvSpPr/>
          <p:nvPr/>
        </p:nvSpPr>
        <p:spPr>
          <a:xfrm>
            <a:off x="5119474" y="3465362"/>
            <a:ext cx="81082"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06" name="Rectangle 32"/>
          <p:cNvSpPr/>
          <p:nvPr/>
        </p:nvSpPr>
        <p:spPr>
          <a:xfrm>
            <a:off x="4471451" y="4160306"/>
            <a:ext cx="237744"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07" name="Rectangle 23"/>
          <p:cNvSpPr/>
          <p:nvPr/>
        </p:nvSpPr>
        <p:spPr>
          <a:xfrm>
            <a:off x="4760803" y="4159185"/>
            <a:ext cx="108204" cy="292608"/>
          </a:xfrm>
          <a:prstGeom prst="rect">
            <a:avLst/>
          </a:prstGeom>
          <a:solidFill>
            <a:schemeClr val="accent6">
              <a:lumMod val="20000"/>
              <a:lumOff val="80000"/>
            </a:schemeClr>
          </a:solidFill>
          <a:ln w="6350">
            <a:solidFill>
              <a:schemeClr val="accent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08" name="Rectangle 23"/>
          <p:cNvSpPr/>
          <p:nvPr/>
        </p:nvSpPr>
        <p:spPr>
          <a:xfrm>
            <a:off x="4927912" y="4159185"/>
            <a:ext cx="112713" cy="292608"/>
          </a:xfrm>
          <a:prstGeom prst="rect">
            <a:avLst/>
          </a:prstGeom>
          <a:solidFill>
            <a:schemeClr val="accent2">
              <a:lumMod val="20000"/>
              <a:lumOff val="80000"/>
            </a:schemeClr>
          </a:solidFill>
          <a:ln w="6350">
            <a:solidFill>
              <a:schemeClr val="accent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solidFill>
                <a:schemeClr val="lt1"/>
              </a:solidFill>
            </a:endParaRPr>
          </a:p>
        </p:txBody>
      </p:sp>
      <p:sp>
        <p:nvSpPr>
          <p:cNvPr id="209" name="Rectangle 23"/>
          <p:cNvSpPr/>
          <p:nvPr/>
        </p:nvSpPr>
        <p:spPr>
          <a:xfrm>
            <a:off x="5085464" y="4159185"/>
            <a:ext cx="155216"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10" name="Rectangle 23"/>
          <p:cNvSpPr/>
          <p:nvPr/>
        </p:nvSpPr>
        <p:spPr>
          <a:xfrm>
            <a:off x="5291088" y="4159185"/>
            <a:ext cx="192575" cy="292608"/>
          </a:xfrm>
          <a:prstGeom prst="rect">
            <a:avLst/>
          </a:prstGeom>
          <a:solidFill>
            <a:srgbClr val="DAE8F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4" name="직사각형 13"/>
          <p:cNvSpPr/>
          <p:nvPr/>
        </p:nvSpPr>
        <p:spPr>
          <a:xfrm>
            <a:off x="11124685" y="1207419"/>
            <a:ext cx="644136" cy="313269"/>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HBM</a:t>
            </a:r>
          </a:p>
          <a:p>
            <a:pPr algn="ctr">
              <a:lnSpc>
                <a:spcPct val="95000"/>
              </a:lnSpc>
            </a:pPr>
            <a:endParaRPr lang="ko-KR" altLang="en-US" sz="1200" dirty="0">
              <a:solidFill>
                <a:schemeClr val="tx1"/>
              </a:solidFill>
            </a:endParaRPr>
          </a:p>
        </p:txBody>
      </p:sp>
      <p:sp>
        <p:nvSpPr>
          <p:cNvPr id="213" name="TextBox 212"/>
          <p:cNvSpPr txBox="1"/>
          <p:nvPr/>
        </p:nvSpPr>
        <p:spPr>
          <a:xfrm>
            <a:off x="9048774" y="2061553"/>
            <a:ext cx="1027845" cy="253916"/>
          </a:xfrm>
          <a:prstGeom prst="rect">
            <a:avLst/>
          </a:prstGeom>
          <a:noFill/>
        </p:spPr>
        <p:txBody>
          <a:bodyPr wrap="none" rtlCol="0">
            <a:spAutoFit/>
          </a:bodyPr>
          <a:lstStyle/>
          <a:p>
            <a:r>
              <a:rPr lang="en-US" altLang="ko-KR" sz="1050" dirty="0"/>
              <a:t>LPDDR5x-PIM</a:t>
            </a:r>
            <a:endParaRPr lang="ko-KR" altLang="en-US" sz="1050" dirty="0"/>
          </a:p>
        </p:txBody>
      </p:sp>
      <p:sp>
        <p:nvSpPr>
          <p:cNvPr id="238" name="TextBox 237">
            <a:extLst>
              <a:ext uri="{FF2B5EF4-FFF2-40B4-BE49-F238E27FC236}">
                <a16:creationId xmlns:a16="http://schemas.microsoft.com/office/drawing/2014/main" id="{40428872-E31D-4BD5-814A-31A776B4EF30}"/>
              </a:ext>
            </a:extLst>
          </p:cNvPr>
          <p:cNvSpPr txBox="1"/>
          <p:nvPr/>
        </p:nvSpPr>
        <p:spPr>
          <a:xfrm>
            <a:off x="6233393" y="1615602"/>
            <a:ext cx="1156086" cy="307777"/>
          </a:xfrm>
          <a:prstGeom prst="rect">
            <a:avLst/>
          </a:prstGeom>
          <a:noFill/>
        </p:spPr>
        <p:txBody>
          <a:bodyPr wrap="none" rtlCol="0">
            <a:spAutoFit/>
          </a:bodyPr>
          <a:lstStyle/>
          <a:p>
            <a:r>
              <a:rPr lang="en-US" altLang="ko-KR" sz="700" b="1" dirty="0">
                <a:solidFill>
                  <a:srgbClr val="FFC000"/>
                </a:solidFill>
              </a:rPr>
              <a:t>PIM</a:t>
            </a:r>
            <a:r>
              <a:rPr lang="en-US" altLang="ko-KR" sz="700" b="1" dirty="0">
                <a:solidFill>
                  <a:schemeClr val="accent6"/>
                </a:solidFill>
              </a:rPr>
              <a:t>: </a:t>
            </a:r>
            <a:r>
              <a:rPr lang="en-US" altLang="ko-KR" sz="700" b="1" dirty="0"/>
              <a:t>Proc. </a:t>
            </a:r>
            <a:r>
              <a:rPr lang="en-US" altLang="ko-KR" sz="700" b="1" dirty="0">
                <a:solidFill>
                  <a:srgbClr val="FFC000"/>
                </a:solidFill>
              </a:rPr>
              <a:t>In </a:t>
            </a:r>
            <a:r>
              <a:rPr lang="en-US" altLang="ko-KR" sz="700" b="1" dirty="0"/>
              <a:t>Mem</a:t>
            </a:r>
          </a:p>
          <a:p>
            <a:r>
              <a:rPr lang="en-US" altLang="ko-KR" sz="700" b="1" dirty="0">
                <a:solidFill>
                  <a:schemeClr val="accent6"/>
                </a:solidFill>
              </a:rPr>
              <a:t>PNM: </a:t>
            </a:r>
            <a:r>
              <a:rPr lang="en-US" altLang="ko-KR" sz="700" b="1" dirty="0"/>
              <a:t>Proc. </a:t>
            </a:r>
            <a:r>
              <a:rPr lang="en-US" altLang="ko-KR" sz="700" b="1" dirty="0">
                <a:solidFill>
                  <a:schemeClr val="accent6"/>
                </a:solidFill>
              </a:rPr>
              <a:t>Near </a:t>
            </a:r>
            <a:r>
              <a:rPr lang="en-US" altLang="ko-KR" sz="700" b="1" dirty="0"/>
              <a:t>Mem</a:t>
            </a:r>
          </a:p>
        </p:txBody>
      </p:sp>
      <p:pic>
        <p:nvPicPr>
          <p:cNvPr id="15" name="그림 14"/>
          <p:cNvPicPr>
            <a:picLocks noChangeAspect="1"/>
          </p:cNvPicPr>
          <p:nvPr/>
        </p:nvPicPr>
        <p:blipFill>
          <a:blip r:embed="rId4"/>
          <a:stretch>
            <a:fillRect/>
          </a:stretch>
        </p:blipFill>
        <p:spPr>
          <a:xfrm>
            <a:off x="6357908" y="1055388"/>
            <a:ext cx="826220" cy="553791"/>
          </a:xfrm>
          <a:prstGeom prst="rect">
            <a:avLst/>
          </a:prstGeom>
        </p:spPr>
      </p:pic>
      <p:sp>
        <p:nvSpPr>
          <p:cNvPr id="247" name="직사각형 246"/>
          <p:cNvSpPr/>
          <p:nvPr/>
        </p:nvSpPr>
        <p:spPr>
          <a:xfrm>
            <a:off x="10602907" y="1967809"/>
            <a:ext cx="739432" cy="484065"/>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DRAM</a:t>
            </a:r>
          </a:p>
          <a:p>
            <a:pPr algn="ctr">
              <a:lnSpc>
                <a:spcPct val="95000"/>
              </a:lnSpc>
            </a:pPr>
            <a:endParaRPr lang="ko-KR" altLang="en-US" sz="1200" dirty="0">
              <a:solidFill>
                <a:schemeClr val="tx1"/>
              </a:solidFill>
            </a:endParaRPr>
          </a:p>
        </p:txBody>
      </p:sp>
      <p:sp>
        <p:nvSpPr>
          <p:cNvPr id="248" name="직사각형 247"/>
          <p:cNvSpPr/>
          <p:nvPr/>
        </p:nvSpPr>
        <p:spPr>
          <a:xfrm>
            <a:off x="10715107" y="2218962"/>
            <a:ext cx="476352" cy="192655"/>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49" name="TextBox 248"/>
          <p:cNvSpPr txBox="1"/>
          <p:nvPr/>
        </p:nvSpPr>
        <p:spPr>
          <a:xfrm>
            <a:off x="9242055" y="2638528"/>
            <a:ext cx="771365" cy="253916"/>
          </a:xfrm>
          <a:prstGeom prst="rect">
            <a:avLst/>
          </a:prstGeom>
          <a:noFill/>
        </p:spPr>
        <p:txBody>
          <a:bodyPr wrap="none" rtlCol="0">
            <a:spAutoFit/>
          </a:bodyPr>
          <a:lstStyle/>
          <a:p>
            <a:r>
              <a:rPr lang="en-US" altLang="ko-KR" sz="1050" dirty="0"/>
              <a:t>CXL-PNM</a:t>
            </a:r>
            <a:endParaRPr lang="ko-KR" altLang="en-US" sz="1050" dirty="0"/>
          </a:p>
        </p:txBody>
      </p:sp>
      <p:sp>
        <p:nvSpPr>
          <p:cNvPr id="250" name="직사각형 249"/>
          <p:cNvSpPr/>
          <p:nvPr/>
        </p:nvSpPr>
        <p:spPr>
          <a:xfrm>
            <a:off x="10574708" y="2520580"/>
            <a:ext cx="1111014" cy="532472"/>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CXL Controller</a:t>
            </a:r>
          </a:p>
          <a:p>
            <a:pPr algn="ctr">
              <a:lnSpc>
                <a:spcPct val="95000"/>
              </a:lnSpc>
            </a:pPr>
            <a:endParaRPr lang="en-US" altLang="ko-KR" sz="1200" dirty="0">
              <a:solidFill>
                <a:schemeClr val="tx1"/>
              </a:solidFill>
            </a:endParaRPr>
          </a:p>
          <a:p>
            <a:pPr algn="ctr">
              <a:lnSpc>
                <a:spcPct val="95000"/>
              </a:lnSpc>
            </a:pPr>
            <a:endParaRPr lang="ko-KR" altLang="en-US" sz="1200" dirty="0">
              <a:solidFill>
                <a:schemeClr val="tx1"/>
              </a:solidFill>
            </a:endParaRPr>
          </a:p>
        </p:txBody>
      </p:sp>
      <p:sp>
        <p:nvSpPr>
          <p:cNvPr id="251" name="직사각형 250"/>
          <p:cNvSpPr/>
          <p:nvPr/>
        </p:nvSpPr>
        <p:spPr>
          <a:xfrm>
            <a:off x="11197655" y="2748453"/>
            <a:ext cx="453380" cy="211920"/>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52" name="직사각형 251"/>
          <p:cNvSpPr/>
          <p:nvPr/>
        </p:nvSpPr>
        <p:spPr>
          <a:xfrm>
            <a:off x="10720755" y="1207420"/>
            <a:ext cx="403930" cy="623658"/>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GPU</a:t>
            </a:r>
          </a:p>
        </p:txBody>
      </p:sp>
      <p:sp>
        <p:nvSpPr>
          <p:cNvPr id="254" name="직사각형 253"/>
          <p:cNvSpPr/>
          <p:nvPr/>
        </p:nvSpPr>
        <p:spPr>
          <a:xfrm>
            <a:off x="10210323" y="1967809"/>
            <a:ext cx="396815" cy="484065"/>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CPU</a:t>
            </a:r>
            <a:endParaRPr lang="ko-KR" altLang="en-US" sz="1200" dirty="0">
              <a:solidFill>
                <a:schemeClr val="tx1"/>
              </a:solidFill>
            </a:endParaRPr>
          </a:p>
        </p:txBody>
      </p:sp>
      <p:sp>
        <p:nvSpPr>
          <p:cNvPr id="256" name="직사각형 255"/>
          <p:cNvSpPr/>
          <p:nvPr/>
        </p:nvSpPr>
        <p:spPr>
          <a:xfrm>
            <a:off x="11214984" y="1667125"/>
            <a:ext cx="476235" cy="139892"/>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57" name="직사각형 256"/>
          <p:cNvSpPr/>
          <p:nvPr/>
        </p:nvSpPr>
        <p:spPr>
          <a:xfrm>
            <a:off x="11214984" y="1365691"/>
            <a:ext cx="476235" cy="139892"/>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58" name="직사각형 257"/>
          <p:cNvSpPr/>
          <p:nvPr/>
        </p:nvSpPr>
        <p:spPr>
          <a:xfrm>
            <a:off x="10076619" y="1517808"/>
            <a:ext cx="644136" cy="313269"/>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HBM</a:t>
            </a:r>
          </a:p>
          <a:p>
            <a:pPr algn="ctr">
              <a:lnSpc>
                <a:spcPct val="95000"/>
              </a:lnSpc>
            </a:pPr>
            <a:endParaRPr lang="ko-KR" altLang="en-US" sz="1200" dirty="0">
              <a:solidFill>
                <a:schemeClr val="tx1"/>
              </a:solidFill>
            </a:endParaRPr>
          </a:p>
        </p:txBody>
      </p:sp>
      <p:sp>
        <p:nvSpPr>
          <p:cNvPr id="263" name="직사각형 262"/>
          <p:cNvSpPr/>
          <p:nvPr/>
        </p:nvSpPr>
        <p:spPr>
          <a:xfrm>
            <a:off x="10076619" y="1207419"/>
            <a:ext cx="644136" cy="313269"/>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HBM</a:t>
            </a:r>
          </a:p>
          <a:p>
            <a:pPr algn="ctr">
              <a:lnSpc>
                <a:spcPct val="95000"/>
              </a:lnSpc>
            </a:pPr>
            <a:endParaRPr lang="ko-KR" altLang="en-US" sz="1200" dirty="0">
              <a:solidFill>
                <a:schemeClr val="tx1"/>
              </a:solidFill>
            </a:endParaRPr>
          </a:p>
        </p:txBody>
      </p:sp>
      <p:sp>
        <p:nvSpPr>
          <p:cNvPr id="266" name="직사각형 265"/>
          <p:cNvSpPr/>
          <p:nvPr/>
        </p:nvSpPr>
        <p:spPr>
          <a:xfrm>
            <a:off x="10166918" y="1667125"/>
            <a:ext cx="476235" cy="139892"/>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67" name="직사각형 266"/>
          <p:cNvSpPr/>
          <p:nvPr/>
        </p:nvSpPr>
        <p:spPr>
          <a:xfrm>
            <a:off x="10166918" y="1365691"/>
            <a:ext cx="476235" cy="139892"/>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69" name="직사각형 268"/>
          <p:cNvSpPr/>
          <p:nvPr/>
        </p:nvSpPr>
        <p:spPr>
          <a:xfrm>
            <a:off x="10625824" y="2748453"/>
            <a:ext cx="516836" cy="211920"/>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DRAM</a:t>
            </a:r>
            <a:endParaRPr lang="ko-KR" altLang="en-US" sz="1200" dirty="0">
              <a:solidFill>
                <a:schemeClr val="tx1"/>
              </a:solidFill>
            </a:endParaRPr>
          </a:p>
        </p:txBody>
      </p:sp>
      <p:sp>
        <p:nvSpPr>
          <p:cNvPr id="270" name="직사각형 269"/>
          <p:cNvSpPr/>
          <p:nvPr/>
        </p:nvSpPr>
        <p:spPr>
          <a:xfrm>
            <a:off x="10213498" y="2520580"/>
            <a:ext cx="363680" cy="532472"/>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CPU</a:t>
            </a:r>
            <a:endParaRPr lang="ko-KR" altLang="en-US" sz="1200" dirty="0">
              <a:solidFill>
                <a:schemeClr val="tx1"/>
              </a:solidFill>
            </a:endParaRPr>
          </a:p>
        </p:txBody>
      </p:sp>
      <p:sp>
        <p:nvSpPr>
          <p:cNvPr id="275" name="TextBox 274"/>
          <p:cNvSpPr txBox="1"/>
          <p:nvPr/>
        </p:nvSpPr>
        <p:spPr>
          <a:xfrm>
            <a:off x="9265365" y="3256676"/>
            <a:ext cx="720069" cy="253916"/>
          </a:xfrm>
          <a:prstGeom prst="rect">
            <a:avLst/>
          </a:prstGeom>
          <a:noFill/>
        </p:spPr>
        <p:txBody>
          <a:bodyPr wrap="none" rtlCol="0">
            <a:spAutoFit/>
          </a:bodyPr>
          <a:lstStyle/>
          <a:p>
            <a:r>
              <a:rPr lang="en-US" altLang="ko-KR" sz="1050" dirty="0"/>
              <a:t>SSD-PIM</a:t>
            </a:r>
            <a:endParaRPr lang="ko-KR" altLang="en-US" sz="1050" dirty="0"/>
          </a:p>
        </p:txBody>
      </p:sp>
      <p:sp>
        <p:nvSpPr>
          <p:cNvPr id="276" name="직사각형 275"/>
          <p:cNvSpPr/>
          <p:nvPr/>
        </p:nvSpPr>
        <p:spPr>
          <a:xfrm>
            <a:off x="10236808" y="3138728"/>
            <a:ext cx="1350206" cy="525225"/>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t"/>
          <a:lstStyle/>
          <a:p>
            <a:pPr algn="ctr">
              <a:lnSpc>
                <a:spcPct val="95000"/>
              </a:lnSpc>
            </a:pPr>
            <a:r>
              <a:rPr lang="en-US" altLang="ko-KR" sz="1200" dirty="0">
                <a:solidFill>
                  <a:schemeClr val="tx1"/>
                </a:solidFill>
              </a:rPr>
              <a:t>SSD</a:t>
            </a:r>
            <a:endParaRPr lang="ko-KR" altLang="en-US" sz="1200" dirty="0">
              <a:solidFill>
                <a:schemeClr val="tx1"/>
              </a:solidFill>
            </a:endParaRPr>
          </a:p>
        </p:txBody>
      </p:sp>
      <p:sp>
        <p:nvSpPr>
          <p:cNvPr id="277" name="직사각형 276"/>
          <p:cNvSpPr/>
          <p:nvPr/>
        </p:nvSpPr>
        <p:spPr>
          <a:xfrm>
            <a:off x="10378994" y="3309655"/>
            <a:ext cx="1081020" cy="303511"/>
          </a:xfrm>
          <a:prstGeom prst="rect">
            <a:avLst/>
          </a:prstGeom>
          <a:solidFill>
            <a:srgbClr val="FFFFFF"/>
          </a:solidFill>
          <a:ln w="6350">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DRAM</a:t>
            </a:r>
            <a:endParaRPr lang="ko-KR" altLang="en-US" sz="1200" dirty="0">
              <a:solidFill>
                <a:schemeClr val="tx1"/>
              </a:solidFill>
            </a:endParaRPr>
          </a:p>
        </p:txBody>
      </p:sp>
      <p:sp>
        <p:nvSpPr>
          <p:cNvPr id="278" name="직사각형 277"/>
          <p:cNvSpPr/>
          <p:nvPr/>
        </p:nvSpPr>
        <p:spPr>
          <a:xfrm>
            <a:off x="11182848" y="3348488"/>
            <a:ext cx="232716" cy="211920"/>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79" name="직사각형 278"/>
          <p:cNvSpPr/>
          <p:nvPr/>
        </p:nvSpPr>
        <p:spPr>
          <a:xfrm>
            <a:off x="10431847" y="3348488"/>
            <a:ext cx="232716" cy="211920"/>
          </a:xfrm>
          <a:prstGeom prst="rect">
            <a:avLst/>
          </a:prstGeom>
          <a:solidFill>
            <a:schemeClr val="accent2">
              <a:lumMod val="20000"/>
              <a:lumOff val="80000"/>
            </a:schemeClr>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altLang="ko-KR" sz="1200" dirty="0">
                <a:solidFill>
                  <a:schemeClr val="tx1"/>
                </a:solidFill>
              </a:rPr>
              <a:t>PE</a:t>
            </a:r>
            <a:endParaRPr lang="ko-KR" altLang="en-US" sz="1200" dirty="0">
              <a:solidFill>
                <a:schemeClr val="tx1"/>
              </a:solidFill>
            </a:endParaRPr>
          </a:p>
        </p:txBody>
      </p:sp>
      <p:sp>
        <p:nvSpPr>
          <p:cNvPr id="280" name="TextBox 279"/>
          <p:cNvSpPr txBox="1"/>
          <p:nvPr/>
        </p:nvSpPr>
        <p:spPr>
          <a:xfrm>
            <a:off x="10210323" y="1008849"/>
            <a:ext cx="1184940" cy="215444"/>
          </a:xfrm>
          <a:prstGeom prst="rect">
            <a:avLst/>
          </a:prstGeom>
          <a:noFill/>
        </p:spPr>
        <p:txBody>
          <a:bodyPr wrap="none" rtlCol="0">
            <a:spAutoFit/>
          </a:bodyPr>
          <a:lstStyle/>
          <a:p>
            <a:r>
              <a:rPr lang="en-US" altLang="ko-KR" sz="800" b="1" dirty="0">
                <a:solidFill>
                  <a:schemeClr val="bg1">
                    <a:lumMod val="65000"/>
                  </a:schemeClr>
                </a:solidFill>
              </a:rPr>
              <a:t>*Processing Element</a:t>
            </a:r>
            <a:endParaRPr lang="ko-KR" altLang="en-US" sz="800" b="1" dirty="0">
              <a:solidFill>
                <a:schemeClr val="bg1">
                  <a:lumMod val="65000"/>
                </a:schemeClr>
              </a:solidFill>
            </a:endParaRPr>
          </a:p>
        </p:txBody>
      </p:sp>
    </p:spTree>
    <p:extLst>
      <p:ext uri="{BB962C8B-B14F-4D97-AF65-F5344CB8AC3E}">
        <p14:creationId xmlns:p14="http://schemas.microsoft.com/office/powerpoint/2010/main" val="89236402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306426" y="821729"/>
            <a:ext cx="5581827" cy="4627085"/>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063272" y="675855"/>
            <a:ext cx="4043238"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a:t>
            </a:r>
            <a:r>
              <a:rPr lang="ko-KR" altLang="en-US" sz="1100" b="1" dirty="0"/>
              <a:t>메모리 자원 및 데이터 특성 기반 데이터 </a:t>
            </a:r>
            <a:r>
              <a:rPr lang="ko-KR" altLang="en-US" sz="1100" b="1" dirty="0" err="1"/>
              <a:t>이동</a:t>
            </a:r>
            <a:r>
              <a:rPr lang="ko-KR" altLang="en-US" sz="1100" b="1" dirty="0" err="1">
                <a:latin typeface="맑은 고딕" panose="020B0503020000020004" pitchFamily="50" charset="-127"/>
                <a:ea typeface="맑은 고딕" panose="020B0503020000020004" pitchFamily="50" charset="-127"/>
              </a:rPr>
              <a:t>〮배치</a:t>
            </a:r>
            <a:endParaRPr lang="ko-KR" altLang="en-US" sz="1100" b="1" dirty="0"/>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378605" y="692846"/>
            <a:ext cx="5507847" cy="4755968"/>
            <a:chOff x="211958" y="3004152"/>
            <a:chExt cx="6173883" cy="5334654"/>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148717"/>
              <a:ext cx="6173883" cy="5190089"/>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850622" y="3004152"/>
              <a:ext cx="4896555"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As-Is: </a:t>
              </a:r>
              <a:r>
                <a:rPr lang="ko-KR" altLang="en-US" sz="1200" b="1" dirty="0"/>
                <a:t>단순 </a:t>
              </a:r>
              <a:r>
                <a:rPr lang="en-US" altLang="ko-KR" sz="1200" b="1" dirty="0"/>
                <a:t>Offloading </a:t>
              </a:r>
              <a:r>
                <a:rPr lang="ko-KR" altLang="en-US" sz="1200" b="1" dirty="0"/>
                <a:t>기법</a:t>
              </a:r>
              <a:r>
                <a:rPr lang="en-US" altLang="ko-KR" sz="1200" b="1" dirty="0"/>
                <a:t> </a:t>
              </a:r>
              <a:endParaRPr lang="ko-KR" altLang="en-US" sz="1200" b="1" dirty="0"/>
            </a:p>
          </p:txBody>
        </p:sp>
      </p:grpSp>
      <p:sp>
        <p:nvSpPr>
          <p:cNvPr id="261" name="Rectangle 260"/>
          <p:cNvSpPr/>
          <p:nvPr/>
        </p:nvSpPr>
        <p:spPr>
          <a:xfrm>
            <a:off x="6436294" y="1115568"/>
            <a:ext cx="5351405" cy="64008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62" name="TextBox 261"/>
          <p:cNvSpPr txBox="1"/>
          <p:nvPr/>
        </p:nvSpPr>
        <p:spPr>
          <a:xfrm>
            <a:off x="6490077" y="1174334"/>
            <a:ext cx="5243839" cy="138499"/>
          </a:xfrm>
          <a:prstGeom prst="rect">
            <a:avLst/>
          </a:prstGeom>
          <a:noFill/>
        </p:spPr>
        <p:txBody>
          <a:bodyPr wrap="square" lIns="0" tIns="0" rIns="0" bIns="0" anchor="ctr">
            <a:spAutoFit/>
          </a:bodyPr>
          <a:lstStyle/>
          <a:p>
            <a:pPr algn="l"/>
            <a:r>
              <a:rPr sz="900" b="1" dirty="0">
                <a:solidFill>
                  <a:srgbClr val="1A1A1A"/>
                </a:solidFill>
                <a:latin typeface="맑은 고딕"/>
                <a:ea typeface="맑은 고딕"/>
              </a:rPr>
              <a:t>Inference Engine (</a:t>
            </a:r>
            <a:r>
              <a:rPr sz="900" b="1" dirty="0" err="1">
                <a:solidFill>
                  <a:srgbClr val="1A1A1A"/>
                </a:solidFill>
                <a:latin typeface="맑은 고딕"/>
                <a:ea typeface="맑은 고딕"/>
              </a:rPr>
              <a:t>기존</a:t>
            </a:r>
            <a:r>
              <a:rPr sz="900" b="1" dirty="0">
                <a:solidFill>
                  <a:srgbClr val="1A1A1A"/>
                </a:solidFill>
                <a:latin typeface="맑은 고딕"/>
                <a:ea typeface="맑은 고딕"/>
              </a:rPr>
              <a:t> I/F </a:t>
            </a:r>
            <a:r>
              <a:rPr sz="900" b="1" dirty="0" err="1">
                <a:solidFill>
                  <a:srgbClr val="1A1A1A"/>
                </a:solidFill>
                <a:latin typeface="맑은 고딕"/>
                <a:ea typeface="맑은 고딕"/>
              </a:rPr>
              <a:t>유지</a:t>
            </a:r>
            <a:r>
              <a:rPr sz="900" b="1" dirty="0">
                <a:solidFill>
                  <a:srgbClr val="1A1A1A"/>
                </a:solidFill>
                <a:latin typeface="맑은 고딕"/>
                <a:ea typeface="맑은 고딕"/>
              </a:rPr>
              <a:t>)</a:t>
            </a:r>
          </a:p>
        </p:txBody>
      </p:sp>
      <p:sp>
        <p:nvSpPr>
          <p:cNvPr id="263" name="Rectangle 262"/>
          <p:cNvSpPr/>
          <p:nvPr/>
        </p:nvSpPr>
        <p:spPr>
          <a:xfrm>
            <a:off x="6483682" y="1371600"/>
            <a:ext cx="968093"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264" name="Rectangle 263"/>
          <p:cNvSpPr/>
          <p:nvPr/>
        </p:nvSpPr>
        <p:spPr>
          <a:xfrm>
            <a:off x="7882714" y="1371600"/>
            <a:ext cx="968093"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265" name="Rectangle 264"/>
          <p:cNvSpPr/>
          <p:nvPr/>
        </p:nvSpPr>
        <p:spPr>
          <a:xfrm>
            <a:off x="9281746" y="1371600"/>
            <a:ext cx="968093"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KV Connector</a:t>
            </a:r>
          </a:p>
        </p:txBody>
      </p:sp>
      <p:sp>
        <p:nvSpPr>
          <p:cNvPr id="267" name="Rectangle 266"/>
          <p:cNvSpPr/>
          <p:nvPr/>
        </p:nvSpPr>
        <p:spPr>
          <a:xfrm>
            <a:off x="10681408" y="1371600"/>
            <a:ext cx="1030841"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268" name="Connector 267"/>
          <p:cNvCxnSpPr/>
          <p:nvPr/>
        </p:nvCxnSpPr>
        <p:spPr>
          <a:xfrm>
            <a:off x="8057798" y="1755648"/>
            <a:ext cx="0" cy="256032"/>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9" name="TextBox 268"/>
          <p:cNvSpPr txBox="1"/>
          <p:nvPr/>
        </p:nvSpPr>
        <p:spPr>
          <a:xfrm>
            <a:off x="8141625" y="1811515"/>
            <a:ext cx="1972042" cy="107722"/>
          </a:xfrm>
          <a:prstGeom prst="rect">
            <a:avLst/>
          </a:prstGeom>
          <a:noFill/>
        </p:spPr>
        <p:txBody>
          <a:bodyPr wrap="square" lIns="0" tIns="0" rIns="0" bIns="0" anchor="ctr">
            <a:spAutoFit/>
          </a:bodyPr>
          <a:lstStyle/>
          <a:p>
            <a:pPr algn="l"/>
            <a:r>
              <a:rPr sz="700" b="0">
                <a:solidFill>
                  <a:srgbClr val="C55A11"/>
                </a:solidFill>
                <a:latin typeface="맑은 고딕"/>
                <a:ea typeface="맑은 고딕"/>
              </a:rPr>
              <a:t>Event push(비동기): 요청·Tool 호출·Access</a:t>
            </a:r>
          </a:p>
        </p:txBody>
      </p:sp>
      <p:cxnSp>
        <p:nvCxnSpPr>
          <p:cNvPr id="270" name="Connector 269"/>
          <p:cNvCxnSpPr/>
          <p:nvPr/>
        </p:nvCxnSpPr>
        <p:spPr>
          <a:xfrm flipV="1">
            <a:off x="11338560" y="1755648"/>
            <a:ext cx="0" cy="256032"/>
          </a:xfrm>
          <a:prstGeom prst="line">
            <a:avLst/>
          </a:prstGeom>
          <a:ln w="15875">
            <a:solidFill>
              <a:srgbClr val="4472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477988" y="1811515"/>
            <a:ext cx="806745" cy="107722"/>
          </a:xfrm>
          <a:prstGeom prst="rect">
            <a:avLst/>
          </a:prstGeom>
          <a:noFill/>
        </p:spPr>
        <p:txBody>
          <a:bodyPr wrap="square" lIns="0" tIns="0" rIns="0" bIns="0" anchor="ctr">
            <a:spAutoFit/>
          </a:bodyPr>
          <a:lstStyle/>
          <a:p>
            <a:pPr algn="r"/>
            <a:r>
              <a:rPr lang="ko-KR" altLang="en-US" sz="700" dirty="0">
                <a:solidFill>
                  <a:srgbClr val="4472C4"/>
                </a:solidFill>
                <a:latin typeface="맑은 고딕"/>
                <a:ea typeface="맑은 고딕"/>
              </a:rPr>
              <a:t>위치 이동 </a:t>
            </a:r>
            <a:r>
              <a:rPr lang="ko-KR" altLang="en-US" sz="700" b="0" dirty="0">
                <a:solidFill>
                  <a:srgbClr val="4472C4"/>
                </a:solidFill>
                <a:latin typeface="맑은 고딕"/>
                <a:ea typeface="맑은 고딕"/>
              </a:rPr>
              <a:t>정보</a:t>
            </a:r>
            <a:endParaRPr sz="700" b="0" dirty="0">
              <a:solidFill>
                <a:srgbClr val="4472C4"/>
              </a:solidFill>
              <a:latin typeface="맑은 고딕"/>
              <a:ea typeface="맑은 고딕"/>
            </a:endParaRPr>
          </a:p>
        </p:txBody>
      </p:sp>
      <p:sp>
        <p:nvSpPr>
          <p:cNvPr id="272" name="Rectangle 271"/>
          <p:cNvSpPr/>
          <p:nvPr/>
        </p:nvSpPr>
        <p:spPr>
          <a:xfrm>
            <a:off x="6475918" y="2012341"/>
            <a:ext cx="5351405" cy="2395728"/>
          </a:xfrm>
          <a:prstGeom prst="rect">
            <a:avLst/>
          </a:prstGeom>
          <a:solidFill>
            <a:srgbClr val="FFFBF8"/>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3" name="TextBox 272"/>
          <p:cNvSpPr txBox="1"/>
          <p:nvPr/>
        </p:nvSpPr>
        <p:spPr>
          <a:xfrm>
            <a:off x="6490077" y="2070446"/>
            <a:ext cx="5243839" cy="138499"/>
          </a:xfrm>
          <a:prstGeom prst="rect">
            <a:avLst/>
          </a:prstGeom>
          <a:noFill/>
        </p:spPr>
        <p:txBody>
          <a:bodyPr wrap="square" lIns="0" tIns="0" rIns="0" bIns="0" anchor="ctr">
            <a:spAutoFit/>
          </a:bodyPr>
          <a:lstStyle/>
          <a:p>
            <a:pPr algn="l"/>
            <a:r>
              <a:rPr sz="900" b="1">
                <a:solidFill>
                  <a:srgbClr val="C55A11"/>
                </a:solidFill>
                <a:latin typeface="맑은 고딕"/>
                <a:ea typeface="맑은 고딕"/>
              </a:rPr>
              <a:t>이기종 메모리 aware Migration Layer (신규)</a:t>
            </a:r>
          </a:p>
        </p:txBody>
      </p:sp>
      <p:sp>
        <p:nvSpPr>
          <p:cNvPr id="274" name="Rectangle 273"/>
          <p:cNvSpPr/>
          <p:nvPr/>
        </p:nvSpPr>
        <p:spPr>
          <a:xfrm>
            <a:off x="6515578" y="2286000"/>
            <a:ext cx="1210117" cy="201168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5" name="TextBox 274"/>
          <p:cNvSpPr txBox="1"/>
          <p:nvPr/>
        </p:nvSpPr>
        <p:spPr>
          <a:xfrm>
            <a:off x="6533506" y="2325028"/>
            <a:ext cx="1174261"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Data Object Registry</a:t>
            </a:r>
          </a:p>
        </p:txBody>
      </p:sp>
      <p:sp>
        <p:nvSpPr>
          <p:cNvPr id="276" name="Rectangle 275"/>
          <p:cNvSpPr/>
          <p:nvPr/>
        </p:nvSpPr>
        <p:spPr>
          <a:xfrm>
            <a:off x="6578325" y="259458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(System Prompt)</a:t>
            </a:r>
          </a:p>
        </p:txBody>
      </p:sp>
      <p:sp>
        <p:nvSpPr>
          <p:cNvPr id="277" name="Rectangle 276"/>
          <p:cNvSpPr/>
          <p:nvPr/>
        </p:nvSpPr>
        <p:spPr>
          <a:xfrm>
            <a:off x="6578325" y="291925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(Agent Memory)</a:t>
            </a:r>
          </a:p>
        </p:txBody>
      </p:sp>
      <p:sp>
        <p:nvSpPr>
          <p:cNvPr id="278" name="Rectangle 277"/>
          <p:cNvSpPr/>
          <p:nvPr/>
        </p:nvSpPr>
        <p:spPr>
          <a:xfrm>
            <a:off x="6578325" y="324392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LoRA Adapter</a:t>
            </a:r>
          </a:p>
        </p:txBody>
      </p:sp>
      <p:sp>
        <p:nvSpPr>
          <p:cNvPr id="279" name="Rectangle 278"/>
          <p:cNvSpPr/>
          <p:nvPr/>
        </p:nvSpPr>
        <p:spPr>
          <a:xfrm>
            <a:off x="6578325" y="3568594"/>
            <a:ext cx="1084623"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1A1A1A"/>
                </a:solidFill>
                <a:latin typeface="맑은 고딕"/>
                <a:ea typeface="맑은 고딕"/>
              </a:rPr>
              <a:t>MoE</a:t>
            </a:r>
            <a:r>
              <a:rPr sz="800" b="1" dirty="0">
                <a:solidFill>
                  <a:srgbClr val="1A1A1A"/>
                </a:solidFill>
                <a:latin typeface="맑은 고딕"/>
                <a:ea typeface="맑은 고딕"/>
              </a:rPr>
              <a:t> Expert</a:t>
            </a:r>
          </a:p>
        </p:txBody>
      </p:sp>
      <p:sp>
        <p:nvSpPr>
          <p:cNvPr id="281" name="TextBox 280"/>
          <p:cNvSpPr txBox="1"/>
          <p:nvPr/>
        </p:nvSpPr>
        <p:spPr>
          <a:xfrm>
            <a:off x="6533506" y="3942067"/>
            <a:ext cx="1174261"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Class별 Metadata</a:t>
            </a:r>
          </a:p>
        </p:txBody>
      </p:sp>
      <p:sp>
        <p:nvSpPr>
          <p:cNvPr id="282" name="TextBox 281"/>
          <p:cNvSpPr txBox="1"/>
          <p:nvPr/>
        </p:nvSpPr>
        <p:spPr>
          <a:xfrm>
            <a:off x="6533506" y="4097515"/>
            <a:ext cx="1174261"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(Reuse · Lifetime · Tool)</a:t>
            </a:r>
          </a:p>
        </p:txBody>
      </p:sp>
      <p:sp>
        <p:nvSpPr>
          <p:cNvPr id="283" name="Rectangle 282"/>
          <p:cNvSpPr/>
          <p:nvPr/>
        </p:nvSpPr>
        <p:spPr>
          <a:xfrm>
            <a:off x="10527762" y="2286000"/>
            <a:ext cx="1210117" cy="201168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84" name="TextBox 283"/>
          <p:cNvSpPr txBox="1"/>
          <p:nvPr/>
        </p:nvSpPr>
        <p:spPr>
          <a:xfrm>
            <a:off x="10545690" y="2325028"/>
            <a:ext cx="1174261"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Resource Manager</a:t>
            </a:r>
          </a:p>
        </p:txBody>
      </p:sp>
      <p:sp>
        <p:nvSpPr>
          <p:cNvPr id="285" name="Rectangle 284"/>
          <p:cNvSpPr/>
          <p:nvPr/>
        </p:nvSpPr>
        <p:spPr>
          <a:xfrm>
            <a:off x="10590509" y="2542032"/>
            <a:ext cx="1084623" cy="676656"/>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Telemetry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Collector</a:t>
            </a:r>
            <a:endParaRPr lang="en-US" sz="1000" b="1" dirty="0">
              <a:solidFill>
                <a:srgbClr val="1A1A1A"/>
              </a:solidFill>
              <a:latin typeface="맑은 고딕"/>
              <a:ea typeface="맑은 고딕"/>
            </a:endParaRPr>
          </a:p>
        </p:txBody>
      </p:sp>
      <p:sp>
        <p:nvSpPr>
          <p:cNvPr id="286" name="Rectangle 285"/>
          <p:cNvSpPr/>
          <p:nvPr/>
        </p:nvSpPr>
        <p:spPr>
          <a:xfrm>
            <a:off x="10590509" y="3353892"/>
            <a:ext cx="1084623" cy="68580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Memory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Registry</a:t>
            </a:r>
            <a:endParaRPr lang="en-US" sz="1000" b="1" dirty="0">
              <a:solidFill>
                <a:srgbClr val="1A1A1A"/>
              </a:solidFill>
              <a:latin typeface="맑은 고딕"/>
              <a:ea typeface="맑은 고딕"/>
            </a:endParaRPr>
          </a:p>
        </p:txBody>
      </p:sp>
      <p:sp>
        <p:nvSpPr>
          <p:cNvPr id="287" name="Rectangle 286"/>
          <p:cNvSpPr/>
          <p:nvPr/>
        </p:nvSpPr>
        <p:spPr>
          <a:xfrm>
            <a:off x="7906450" y="2286000"/>
            <a:ext cx="2420234"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Scheduler</a:t>
            </a:r>
          </a:p>
        </p:txBody>
      </p:sp>
      <p:sp>
        <p:nvSpPr>
          <p:cNvPr id="288" name="Rectangle 287"/>
          <p:cNvSpPr/>
          <p:nvPr/>
        </p:nvSpPr>
        <p:spPr>
          <a:xfrm>
            <a:off x="7906450" y="2695887"/>
            <a:ext cx="2420234"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1000" b="1" dirty="0">
                <a:solidFill>
                  <a:srgbClr val="1A1A1A"/>
                </a:solidFill>
                <a:latin typeface="맑은 고딕"/>
                <a:ea typeface="맑은 고딕"/>
              </a:rPr>
              <a:t>State/Behavior </a:t>
            </a:r>
            <a:r>
              <a:rPr sz="1000" b="1" dirty="0">
                <a:solidFill>
                  <a:srgbClr val="1A1A1A"/>
                </a:solidFill>
                <a:latin typeface="맑은 고딕"/>
                <a:ea typeface="맑은 고딕"/>
              </a:rPr>
              <a:t>Monitor</a:t>
            </a:r>
          </a:p>
        </p:txBody>
      </p:sp>
      <p:sp>
        <p:nvSpPr>
          <p:cNvPr id="289" name="Rectangle 288"/>
          <p:cNvSpPr/>
          <p:nvPr/>
        </p:nvSpPr>
        <p:spPr>
          <a:xfrm>
            <a:off x="7906450" y="3207570"/>
            <a:ext cx="2420234"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Analyze / Predict</a:t>
            </a:r>
          </a:p>
        </p:txBody>
      </p:sp>
      <p:sp>
        <p:nvSpPr>
          <p:cNvPr id="290" name="Rectangle 289"/>
          <p:cNvSpPr/>
          <p:nvPr/>
        </p:nvSpPr>
        <p:spPr>
          <a:xfrm>
            <a:off x="7906450" y="3682518"/>
            <a:ext cx="2420234" cy="331927"/>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1000" b="1" dirty="0">
                <a:solidFill>
                  <a:srgbClr val="FFFFFF"/>
                </a:solidFill>
                <a:ea typeface="맑은 고딕"/>
              </a:rPr>
              <a:t>Migration Policy Engine</a:t>
            </a:r>
          </a:p>
        </p:txBody>
      </p:sp>
      <p:cxnSp>
        <p:nvCxnSpPr>
          <p:cNvPr id="291" name="Connector 290"/>
          <p:cNvCxnSpPr/>
          <p:nvPr/>
        </p:nvCxnSpPr>
        <p:spPr>
          <a:xfrm>
            <a:off x="9116567" y="2560320"/>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116567" y="3062478"/>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9116567" y="3564636"/>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Rectangle 293"/>
          <p:cNvSpPr/>
          <p:nvPr/>
        </p:nvSpPr>
        <p:spPr>
          <a:xfrm>
            <a:off x="7906450" y="4096512"/>
            <a:ext cx="2420234" cy="237744"/>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Migration Executor</a:t>
            </a:r>
          </a:p>
        </p:txBody>
      </p:sp>
      <p:cxnSp>
        <p:nvCxnSpPr>
          <p:cNvPr id="295" name="Connector 294"/>
          <p:cNvCxnSpPr/>
          <p:nvPr/>
        </p:nvCxnSpPr>
        <p:spPr>
          <a:xfrm>
            <a:off x="9116567" y="4014215"/>
            <a:ext cx="0" cy="82297"/>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740583" y="2889504"/>
            <a:ext cx="170312"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740583" y="3877056"/>
            <a:ext cx="170312"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flipH="1">
            <a:off x="10352630" y="2889504"/>
            <a:ext cx="161349"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flipH="1">
            <a:off x="10352630" y="3877056"/>
            <a:ext cx="161349"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1" name="Connector 300"/>
          <p:cNvCxnSpPr>
            <a:stCxn id="283" idx="2"/>
          </p:cNvCxnSpPr>
          <p:nvPr/>
        </p:nvCxnSpPr>
        <p:spPr>
          <a:xfrm>
            <a:off x="11132820" y="4297680"/>
            <a:ext cx="0" cy="216654"/>
          </a:xfrm>
          <a:prstGeom prst="line">
            <a:avLst/>
          </a:prstGeom>
          <a:ln w="15875">
            <a:solidFill>
              <a:srgbClr val="C55A1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02" name="Rectangle 301"/>
          <p:cNvSpPr/>
          <p:nvPr/>
        </p:nvSpPr>
        <p:spPr>
          <a:xfrm>
            <a:off x="7986413" y="4526280"/>
            <a:ext cx="385594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FFFFFF"/>
                </a:solidFill>
                <a:latin typeface="맑은 고딕"/>
                <a:ea typeface="맑은 고딕"/>
              </a:rPr>
              <a:t>공통</a:t>
            </a:r>
            <a:r>
              <a:rPr sz="800" b="1" dirty="0">
                <a:solidFill>
                  <a:srgbClr val="FFFFFF"/>
                </a:solidFill>
                <a:latin typeface="맑은 고딕"/>
                <a:ea typeface="맑은 고딕"/>
              </a:rPr>
              <a:t> Memory Backend I/F (Plug-in)</a:t>
            </a:r>
          </a:p>
        </p:txBody>
      </p:sp>
      <p:sp>
        <p:nvSpPr>
          <p:cNvPr id="304" name="Rectangle 303"/>
          <p:cNvSpPr/>
          <p:nvPr/>
        </p:nvSpPr>
        <p:spPr>
          <a:xfrm>
            <a:off x="7964558" y="4881511"/>
            <a:ext cx="416324"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HBM</a:t>
            </a:r>
          </a:p>
        </p:txBody>
      </p:sp>
      <p:cxnSp>
        <p:nvCxnSpPr>
          <p:cNvPr id="305" name="Connector 304"/>
          <p:cNvCxnSpPr/>
          <p:nvPr/>
        </p:nvCxnSpPr>
        <p:spPr>
          <a:xfrm>
            <a:off x="8172720" y="4790071"/>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6" name="Rectangle 305"/>
          <p:cNvSpPr/>
          <p:nvPr/>
        </p:nvSpPr>
        <p:spPr>
          <a:xfrm>
            <a:off x="8462282" y="4881511"/>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ScHBM</a:t>
            </a:r>
          </a:p>
        </p:txBody>
      </p:sp>
      <p:cxnSp>
        <p:nvCxnSpPr>
          <p:cNvPr id="307" name="Connector 306"/>
          <p:cNvCxnSpPr/>
          <p:nvPr/>
        </p:nvCxnSpPr>
        <p:spPr>
          <a:xfrm>
            <a:off x="8670444" y="4790071"/>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8" name="Rectangle 307"/>
          <p:cNvSpPr/>
          <p:nvPr/>
        </p:nvSpPr>
        <p:spPr>
          <a:xfrm>
            <a:off x="8960006" y="4892040"/>
            <a:ext cx="416324"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DRAM</a:t>
            </a:r>
          </a:p>
        </p:txBody>
      </p:sp>
      <p:cxnSp>
        <p:nvCxnSpPr>
          <p:cNvPr id="309" name="Connector 308"/>
          <p:cNvCxnSpPr/>
          <p:nvPr/>
        </p:nvCxnSpPr>
        <p:spPr>
          <a:xfrm>
            <a:off x="916816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0" name="Rectangle 309"/>
          <p:cNvSpPr/>
          <p:nvPr/>
        </p:nvSpPr>
        <p:spPr>
          <a:xfrm>
            <a:off x="9457730" y="4892040"/>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CXL-</a:t>
            </a:r>
            <a:endParaRPr lang="en-US" sz="800" b="1" dirty="0">
              <a:solidFill>
                <a:srgbClr val="1A1A1A"/>
              </a:solidFill>
              <a:latin typeface="맑은 고딕"/>
              <a:ea typeface="맑은 고딕"/>
            </a:endParaRPr>
          </a:p>
          <a:p>
            <a:pPr algn="ctr"/>
            <a:r>
              <a:rPr sz="800" b="1" dirty="0">
                <a:solidFill>
                  <a:srgbClr val="1A1A1A"/>
                </a:solidFill>
                <a:latin typeface="맑은 고딕"/>
                <a:ea typeface="맑은 고딕"/>
              </a:rPr>
              <a:t>PNM</a:t>
            </a:r>
          </a:p>
        </p:txBody>
      </p:sp>
      <p:cxnSp>
        <p:nvCxnSpPr>
          <p:cNvPr id="311" name="Connector 310"/>
          <p:cNvCxnSpPr/>
          <p:nvPr/>
        </p:nvCxnSpPr>
        <p:spPr>
          <a:xfrm>
            <a:off x="9665892"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2" name="Rectangle 311"/>
          <p:cNvSpPr/>
          <p:nvPr/>
        </p:nvSpPr>
        <p:spPr>
          <a:xfrm>
            <a:off x="9955454" y="4892040"/>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HBF</a:t>
            </a:r>
          </a:p>
        </p:txBody>
      </p:sp>
      <p:cxnSp>
        <p:nvCxnSpPr>
          <p:cNvPr id="313" name="Connector 312"/>
          <p:cNvCxnSpPr/>
          <p:nvPr/>
        </p:nvCxnSpPr>
        <p:spPr>
          <a:xfrm>
            <a:off x="10163616"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4" name="Rectangle 313"/>
          <p:cNvSpPr/>
          <p:nvPr/>
        </p:nvSpPr>
        <p:spPr>
          <a:xfrm>
            <a:off x="10453178" y="4892040"/>
            <a:ext cx="416324"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a:t>
            </a:r>
          </a:p>
        </p:txBody>
      </p:sp>
      <p:cxnSp>
        <p:nvCxnSpPr>
          <p:cNvPr id="315" name="Connector 314"/>
          <p:cNvCxnSpPr/>
          <p:nvPr/>
        </p:nvCxnSpPr>
        <p:spPr>
          <a:xfrm>
            <a:off x="10661340"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6" name="Rectangle 315"/>
          <p:cNvSpPr/>
          <p:nvPr/>
        </p:nvSpPr>
        <p:spPr>
          <a:xfrm>
            <a:off x="10950902" y="4892040"/>
            <a:ext cx="416324"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SSD-</a:t>
            </a:r>
            <a:endParaRPr lang="en-US" sz="800" b="1" dirty="0">
              <a:solidFill>
                <a:srgbClr val="1A1A1A"/>
              </a:solidFill>
              <a:latin typeface="맑은 고딕"/>
              <a:ea typeface="맑은 고딕"/>
            </a:endParaRPr>
          </a:p>
          <a:p>
            <a:pPr algn="ctr"/>
            <a:r>
              <a:rPr sz="800" b="1" dirty="0">
                <a:solidFill>
                  <a:srgbClr val="1A1A1A"/>
                </a:solidFill>
                <a:latin typeface="맑은 고딕"/>
                <a:ea typeface="맑은 고딕"/>
              </a:rPr>
              <a:t>PIM</a:t>
            </a:r>
          </a:p>
        </p:txBody>
      </p:sp>
      <p:cxnSp>
        <p:nvCxnSpPr>
          <p:cNvPr id="317" name="Connector 316"/>
          <p:cNvCxnSpPr/>
          <p:nvPr/>
        </p:nvCxnSpPr>
        <p:spPr>
          <a:xfrm>
            <a:off x="1115906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8" name="Rectangle 317"/>
          <p:cNvSpPr/>
          <p:nvPr/>
        </p:nvSpPr>
        <p:spPr>
          <a:xfrm>
            <a:off x="11448628" y="4892040"/>
            <a:ext cx="416324" cy="274320"/>
          </a:xfrm>
          <a:prstGeom prst="rect">
            <a:avLst/>
          </a:prstGeom>
          <a:solidFill>
            <a:srgbClr val="FFFFFF"/>
          </a:solidFill>
          <a:ln w="952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C55A11"/>
                </a:solidFill>
                <a:latin typeface="맑은 고딕"/>
                <a:ea typeface="맑은 고딕"/>
              </a:rPr>
              <a:t>+ New</a:t>
            </a:r>
          </a:p>
        </p:txBody>
      </p:sp>
      <p:cxnSp>
        <p:nvCxnSpPr>
          <p:cNvPr id="319" name="Connector 318"/>
          <p:cNvCxnSpPr/>
          <p:nvPr/>
        </p:nvCxnSpPr>
        <p:spPr>
          <a:xfrm>
            <a:off x="11656790"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Rectangle 319"/>
          <p:cNvSpPr/>
          <p:nvPr/>
        </p:nvSpPr>
        <p:spPr>
          <a:xfrm>
            <a:off x="9950114" y="5257800"/>
            <a:ext cx="143421" cy="109728"/>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1" name="TextBox 320"/>
          <p:cNvSpPr txBox="1"/>
          <p:nvPr/>
        </p:nvSpPr>
        <p:spPr>
          <a:xfrm>
            <a:off x="10138759" y="5258803"/>
            <a:ext cx="717106"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신규 메모리</a:t>
            </a:r>
          </a:p>
        </p:txBody>
      </p:sp>
      <p:sp>
        <p:nvSpPr>
          <p:cNvPr id="322" name="Rectangle 321"/>
          <p:cNvSpPr/>
          <p:nvPr/>
        </p:nvSpPr>
        <p:spPr>
          <a:xfrm>
            <a:off x="10910234" y="5257800"/>
            <a:ext cx="143421" cy="109728"/>
          </a:xfrm>
          <a:prstGeom prst="rect">
            <a:avLst/>
          </a:prstGeom>
          <a:solidFill>
            <a:srgbClr val="E7E6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3" name="TextBox 322"/>
          <p:cNvSpPr txBox="1"/>
          <p:nvPr/>
        </p:nvSpPr>
        <p:spPr>
          <a:xfrm>
            <a:off x="11098879" y="5258803"/>
            <a:ext cx="717106"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기존 메모리</a:t>
            </a:r>
          </a:p>
        </p:txBody>
      </p:sp>
      <p:sp>
        <p:nvSpPr>
          <p:cNvPr id="142" name="Rectangle 301"/>
          <p:cNvSpPr/>
          <p:nvPr/>
        </p:nvSpPr>
        <p:spPr>
          <a:xfrm>
            <a:off x="6436430" y="4526280"/>
            <a:ext cx="1422260"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Transfer Handler</a:t>
            </a:r>
            <a:endParaRPr sz="900" b="1" dirty="0">
              <a:solidFill>
                <a:srgbClr val="1A1A1A"/>
              </a:solidFill>
              <a:latin typeface="맑은 고딕"/>
              <a:ea typeface="맑은 고딕"/>
            </a:endParaRPr>
          </a:p>
        </p:txBody>
      </p:sp>
      <p:cxnSp>
        <p:nvCxnSpPr>
          <p:cNvPr id="150" name="Connector 294"/>
          <p:cNvCxnSpPr>
            <a:stCxn id="294" idx="2"/>
            <a:endCxn id="142" idx="0"/>
          </p:cNvCxnSpPr>
          <p:nvPr/>
        </p:nvCxnSpPr>
        <p:spPr>
          <a:xfrm rot="5400000">
            <a:off x="8037944" y="3445765"/>
            <a:ext cx="188241" cy="1969007"/>
          </a:xfrm>
          <a:prstGeom prst="bentConnector3">
            <a:avLst>
              <a:gd name="adj1" fmla="val 50000"/>
            </a:avLst>
          </a:prstGeom>
          <a:ln w="12700">
            <a:solidFill>
              <a:schemeClr val="bg1">
                <a:lumMod val="50000"/>
              </a:schemeClr>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 name="AsIs TextBox 507"/>
          <p:cNvSpPr txBox="1"/>
          <p:nvPr/>
        </p:nvSpPr>
        <p:spPr>
          <a:xfrm>
            <a:off x="6467826" y="4731680"/>
            <a:ext cx="1441185" cy="389430"/>
          </a:xfrm>
          <a:prstGeom prst="rect">
            <a:avLst/>
          </a:prstGeom>
          <a:noFill/>
        </p:spPr>
        <p:txBody>
          <a:bodyPr wrap="square" lIns="0" tIns="0" rIns="0" bIns="0" anchor="ctr"/>
          <a:lstStyle/>
          <a:p>
            <a:r>
              <a:rPr lang="en-US" altLang="ko-KR" sz="700" dirty="0">
                <a:solidFill>
                  <a:schemeClr val="bg1">
                    <a:lumMod val="50000"/>
                  </a:schemeClr>
                </a:solidFill>
                <a:ea typeface="맑은 고딕"/>
              </a:rPr>
              <a:t>logical block id → </a:t>
            </a:r>
            <a:r>
              <a:rPr lang="ko-KR" altLang="en-US" sz="700" dirty="0">
                <a:solidFill>
                  <a:schemeClr val="bg1">
                    <a:lumMod val="50000"/>
                  </a:schemeClr>
                </a:solidFill>
                <a:ea typeface="맑은 고딕"/>
              </a:rPr>
              <a:t>물리 위치 이동 </a:t>
            </a:r>
            <a:endParaRPr lang="en-US" altLang="ko-KR" sz="700" dirty="0">
              <a:solidFill>
                <a:schemeClr val="bg1">
                  <a:lumMod val="50000"/>
                </a:schemeClr>
              </a:solidFill>
              <a:ea typeface="맑은 고딕"/>
            </a:endParaRPr>
          </a:p>
        </p:txBody>
      </p:sp>
      <p:sp>
        <p:nvSpPr>
          <p:cNvPr id="107" name="Text 22">
            <a:extLst>
              <a:ext uri="{FF2B5EF4-FFF2-40B4-BE49-F238E27FC236}">
                <a16:creationId xmlns:a16="http://schemas.microsoft.com/office/drawing/2014/main" id="{044061BB-AF9B-4AFA-B4AB-EA19EDF0C103}"/>
              </a:ext>
            </a:extLst>
          </p:cNvPr>
          <p:cNvSpPr/>
          <p:nvPr/>
        </p:nvSpPr>
        <p:spPr>
          <a:xfrm>
            <a:off x="383682" y="5989237"/>
            <a:ext cx="8321945" cy="574400"/>
          </a:xfrm>
          <a:prstGeom prst="rect">
            <a:avLst/>
          </a:prstGeom>
          <a:noFill/>
          <a:ln/>
        </p:spPr>
        <p:txBody>
          <a:bodyPr wrap="square" lIns="0" tIns="0" rIns="0" bIns="0" rtlCol="0" anchor="t"/>
          <a:lstStyle/>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1. </a:t>
            </a:r>
            <a:r>
              <a:rPr lang="ko-KR" altLang="en-US" sz="1200" dirty="0">
                <a:latin typeface="맑은 고딕" panose="020B0503020000020004" pitchFamily="50" charset="-127"/>
              </a:rPr>
              <a:t>메모리 특성</a:t>
            </a:r>
            <a:r>
              <a:rPr lang="en-US" altLang="ko-KR" sz="1200" dirty="0">
                <a:latin typeface="맑은 고딕" panose="020B0503020000020004" pitchFamily="50" charset="-127"/>
              </a:rPr>
              <a:t>, </a:t>
            </a:r>
            <a:r>
              <a:rPr lang="ko-KR" altLang="en-US" sz="1200" dirty="0">
                <a:latin typeface="맑은 고딕" panose="020B0503020000020004" pitchFamily="50" charset="-127"/>
              </a:rPr>
              <a:t>데이터 특성을 </a:t>
            </a:r>
            <a:r>
              <a:rPr lang="en-US" altLang="ko-KR" sz="1200" dirty="0">
                <a:latin typeface="맑은 고딕" panose="020B0503020000020004" pitchFamily="50" charset="-127"/>
              </a:rPr>
              <a:t>aware</a:t>
            </a:r>
            <a:r>
              <a:rPr lang="ko-KR" altLang="en-US" sz="1200" dirty="0">
                <a:latin typeface="맑은 고딕" panose="020B0503020000020004" pitchFamily="50" charset="-127"/>
              </a:rPr>
              <a:t>한 데이터 </a:t>
            </a:r>
            <a:r>
              <a:rPr lang="en-US" altLang="ko-KR" sz="1200" dirty="0">
                <a:latin typeface="맑은 고딕" panose="020B0503020000020004" pitchFamily="50" charset="-127"/>
              </a:rPr>
              <a:t>Migration</a:t>
            </a:r>
            <a:r>
              <a:rPr lang="ko-KR" altLang="en-US" sz="1200" dirty="0">
                <a:latin typeface="맑은 고딕" panose="020B0503020000020004" pitchFamily="50" charset="-127"/>
              </a:rPr>
              <a:t>을 통해 </a:t>
            </a:r>
            <a:r>
              <a:rPr lang="en-US" altLang="ko-KR" sz="1200" b="1" dirty="0">
                <a:solidFill>
                  <a:srgbClr val="0066FF"/>
                </a:solidFill>
                <a:latin typeface="맑은 고딕" panose="020B0503020000020004" pitchFamily="50" charset="-127"/>
              </a:rPr>
              <a:t>AI </a:t>
            </a:r>
            <a:r>
              <a:rPr lang="ko-KR" altLang="en-US" sz="1200" b="1" dirty="0">
                <a:solidFill>
                  <a:srgbClr val="0066FF"/>
                </a:solidFill>
                <a:latin typeface="맑은 고딕" panose="020B0503020000020004" pitchFamily="50" charset="-127"/>
              </a:rPr>
              <a:t>추론 성능 최적화</a:t>
            </a:r>
            <a:endParaRPr lang="en-US" altLang="ko-KR" sz="1200" dirty="0">
              <a:latin typeface="맑은 고딕" panose="020B0503020000020004" pitchFamily="50" charset="-127"/>
            </a:endParaRPr>
          </a:p>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2. </a:t>
            </a:r>
            <a:r>
              <a:rPr lang="ko-KR" altLang="en-US" sz="1200" dirty="0">
                <a:latin typeface="맑은 고딕" panose="020B0503020000020004" pitchFamily="50" charset="-127"/>
              </a:rPr>
              <a:t>신규 메모리 확장 시 </a:t>
            </a:r>
            <a:r>
              <a:rPr lang="ko-KR" altLang="en-US" sz="1200" b="1" dirty="0">
                <a:solidFill>
                  <a:srgbClr val="0066FF"/>
                </a:solidFill>
                <a:latin typeface="맑은 고딕" panose="020B0503020000020004" pitchFamily="50" charset="-127"/>
              </a:rPr>
              <a:t>기존 구조 변경을 최소화</a:t>
            </a:r>
            <a:endParaRPr lang="en-US" altLang="ko-KR" sz="1200" dirty="0">
              <a:latin typeface="맑은 고딕" panose="020B0503020000020004" pitchFamily="50" charset="-127"/>
            </a:endParaRPr>
          </a:p>
        </p:txBody>
      </p:sp>
      <p:sp>
        <p:nvSpPr>
          <p:cNvPr id="108" name="Text 22">
            <a:extLst>
              <a:ext uri="{FF2B5EF4-FFF2-40B4-BE49-F238E27FC236}">
                <a16:creationId xmlns:a16="http://schemas.microsoft.com/office/drawing/2014/main" id="{6E4C06FB-5661-411C-992A-C3DD21D98412}"/>
              </a:ext>
            </a:extLst>
          </p:cNvPr>
          <p:cNvSpPr/>
          <p:nvPr/>
        </p:nvSpPr>
        <p:spPr>
          <a:xfrm>
            <a:off x="827779" y="5575471"/>
            <a:ext cx="8761226" cy="325343"/>
          </a:xfrm>
          <a:prstGeom prst="rect">
            <a:avLst/>
          </a:prstGeom>
          <a:noFill/>
          <a:ln/>
        </p:spPr>
        <p:txBody>
          <a:bodyPr wrap="square" lIns="0" tIns="0" rIns="0" bIns="0" rtlCol="0" anchor="t"/>
          <a:lstStyle/>
          <a:p>
            <a:pPr>
              <a:lnSpc>
                <a:spcPct val="150000"/>
              </a:lnSpc>
            </a:pPr>
            <a:r>
              <a:rPr lang="en-US" altLang="ko-KR" sz="1200" b="1" dirty="0">
                <a:sym typeface="Wingdings" panose="05000000000000000000" pitchFamily="2" charset="2"/>
              </a:rPr>
              <a:t>System-Level</a:t>
            </a:r>
            <a:r>
              <a:rPr lang="ko-KR" altLang="en-US" sz="1200" b="1" dirty="0">
                <a:sym typeface="Wingdings" panose="05000000000000000000" pitchFamily="2" charset="2"/>
              </a:rPr>
              <a:t>의 메모리 효율적 활용을 위해 </a:t>
            </a:r>
            <a:r>
              <a:rPr lang="en-US" altLang="ko-KR" sz="1200" b="1" dirty="0">
                <a:sym typeface="Wingdings" panose="05000000000000000000" pitchFamily="2" charset="2"/>
              </a:rPr>
              <a:t>AI </a:t>
            </a:r>
            <a:r>
              <a:rPr lang="ko-KR" altLang="en-US" sz="1200" b="1" dirty="0">
                <a:sym typeface="Wingdings" panose="05000000000000000000" pitchFamily="2" charset="2"/>
              </a:rPr>
              <a:t>응용에 맞는 데이터 스케줄링 필요 </a:t>
            </a:r>
            <a:endParaRPr lang="en-US" altLang="ko-KR" sz="1200" b="1" dirty="0">
              <a:sym typeface="Wingdings" panose="05000000000000000000" pitchFamily="2" charset="2"/>
            </a:endParaRPr>
          </a:p>
        </p:txBody>
      </p:sp>
      <p:sp>
        <p:nvSpPr>
          <p:cNvPr id="110" name="오른쪽 화살표 39">
            <a:extLst>
              <a:ext uri="{FF2B5EF4-FFF2-40B4-BE49-F238E27FC236}">
                <a16:creationId xmlns:a16="http://schemas.microsoft.com/office/drawing/2014/main" id="{54EC47CE-2C51-4E80-9454-E8A1DE43DF59}"/>
              </a:ext>
            </a:extLst>
          </p:cNvPr>
          <p:cNvSpPr/>
          <p:nvPr/>
        </p:nvSpPr>
        <p:spPr>
          <a:xfrm>
            <a:off x="365615" y="5610314"/>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오른쪽 화살표 3"/>
          <p:cNvSpPr/>
          <p:nvPr/>
        </p:nvSpPr>
        <p:spPr>
          <a:xfrm>
            <a:off x="5978926" y="2885668"/>
            <a:ext cx="252844" cy="7924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Diagram title"/>
          <p:cNvSpPr txBox="1"/>
          <p:nvPr/>
        </p:nvSpPr>
        <p:spPr>
          <a:xfrm>
            <a:off x="629075" y="1276600"/>
            <a:ext cx="5045456" cy="190000"/>
          </a:xfrm>
          <a:prstGeom prst="rect">
            <a:avLst/>
          </a:prstGeom>
          <a:noFill/>
        </p:spPr>
        <p:txBody>
          <a:bodyPr wrap="square" lIns="0" tIns="0" rIns="0" bIns="0" rtlCol="0" anchor="ctr">
            <a:noAutofit/>
          </a:bodyPr>
          <a:lstStyle/>
          <a:p>
            <a:pPr algn="ctr">
              <a:lnSpc>
                <a:spcPct val="100000"/>
              </a:lnSpc>
              <a:spcBef>
                <a:spcPts val="0"/>
              </a:spcBef>
            </a:pPr>
            <a:r>
              <a:rPr lang="ko-KR" altLang="en-US" sz="900" b="1" dirty="0">
                <a:solidFill>
                  <a:srgbClr val="3A3A3A"/>
                </a:solidFill>
                <a:latin typeface="맑은 고딕"/>
                <a:ea typeface="맑은 고딕"/>
              </a:rPr>
              <a:t>기존 런타임: 고정된 계층 경로(HBM → DRAM → SSD)로만 데이터 이동</a:t>
            </a:r>
          </a:p>
        </p:txBody>
      </p:sp>
      <p:sp>
        <p:nvSpPr>
          <p:cNvPr id="186" name="AsIs Engine 501"/>
          <p:cNvSpPr/>
          <p:nvPr/>
        </p:nvSpPr>
        <p:spPr>
          <a:xfrm>
            <a:off x="535860" y="1106043"/>
            <a:ext cx="5191920" cy="649605"/>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187" name="AsIs TextBox 502"/>
          <p:cNvSpPr txBox="1"/>
          <p:nvPr/>
        </p:nvSpPr>
        <p:spPr>
          <a:xfrm>
            <a:off x="589111" y="1150475"/>
            <a:ext cx="5085419" cy="150000"/>
          </a:xfrm>
          <a:prstGeom prst="rect">
            <a:avLst/>
          </a:prstGeom>
          <a:noFill/>
        </p:spPr>
        <p:txBody>
          <a:bodyPr wrap="square" lIns="0" tIns="0" rIns="0" bIns="0" anchor="ctr"/>
          <a:lstStyle/>
          <a:p>
            <a:pPr algn="l"/>
            <a:r>
              <a:rPr lang="en-US" altLang="ko-KR" sz="900" b="1" dirty="0">
                <a:solidFill>
                  <a:srgbClr val="1A1A1A"/>
                </a:solidFill>
                <a:latin typeface="맑은 고딕"/>
                <a:ea typeface="맑은 고딕"/>
              </a:rPr>
              <a:t>Inference Engine (</a:t>
            </a:r>
            <a:r>
              <a:rPr lang="en-US" altLang="ko-KR" sz="900" b="1" dirty="0" err="1">
                <a:solidFill>
                  <a:srgbClr val="1A1A1A"/>
                </a:solidFill>
                <a:latin typeface="맑은 고딕"/>
                <a:ea typeface="맑은 고딕"/>
              </a:rPr>
              <a:t>vLLM</a:t>
            </a:r>
            <a:r>
              <a:rPr lang="en-US" altLang="ko-KR" sz="900" b="1" dirty="0">
                <a:solidFill>
                  <a:srgbClr val="1A1A1A"/>
                </a:solidFill>
                <a:latin typeface="맑은 고딕"/>
                <a:ea typeface="맑은 고딕"/>
              </a:rPr>
              <a:t>)</a:t>
            </a:r>
          </a:p>
        </p:txBody>
      </p:sp>
      <p:sp>
        <p:nvSpPr>
          <p:cNvPr id="188" name="Rectangle 262">
            <a:extLst>
              <a:ext uri="{FF2B5EF4-FFF2-40B4-BE49-F238E27FC236}">
                <a16:creationId xmlns:a16="http://schemas.microsoft.com/office/drawing/2014/main" id="{5E5E24D5-DD07-4B93-AB37-DDD32A3A2D27}"/>
              </a:ext>
            </a:extLst>
          </p:cNvPr>
          <p:cNvSpPr/>
          <p:nvPr/>
        </p:nvSpPr>
        <p:spPr>
          <a:xfrm>
            <a:off x="689025" y="1345886"/>
            <a:ext cx="958508"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189" name="Rectangle 263">
            <a:extLst>
              <a:ext uri="{FF2B5EF4-FFF2-40B4-BE49-F238E27FC236}">
                <a16:creationId xmlns:a16="http://schemas.microsoft.com/office/drawing/2014/main" id="{74394127-A72E-4631-A782-D747A9EDD11B}"/>
              </a:ext>
            </a:extLst>
          </p:cNvPr>
          <p:cNvSpPr/>
          <p:nvPr/>
        </p:nvSpPr>
        <p:spPr>
          <a:xfrm>
            <a:off x="1967061" y="1345886"/>
            <a:ext cx="958508"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190" name="Rectangle 264">
            <a:extLst>
              <a:ext uri="{FF2B5EF4-FFF2-40B4-BE49-F238E27FC236}">
                <a16:creationId xmlns:a16="http://schemas.microsoft.com/office/drawing/2014/main" id="{0EE1B332-E102-4A40-9243-E6E92E237C41}"/>
              </a:ext>
            </a:extLst>
          </p:cNvPr>
          <p:cNvSpPr/>
          <p:nvPr/>
        </p:nvSpPr>
        <p:spPr>
          <a:xfrm>
            <a:off x="3315506" y="1345886"/>
            <a:ext cx="958508"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Connector</a:t>
            </a:r>
          </a:p>
        </p:txBody>
      </p:sp>
      <p:sp>
        <p:nvSpPr>
          <p:cNvPr id="191" name="Rectangle 266">
            <a:extLst>
              <a:ext uri="{FF2B5EF4-FFF2-40B4-BE49-F238E27FC236}">
                <a16:creationId xmlns:a16="http://schemas.microsoft.com/office/drawing/2014/main" id="{A3BC80FB-7FE1-4783-895D-524998D7C601}"/>
              </a:ext>
            </a:extLst>
          </p:cNvPr>
          <p:cNvSpPr/>
          <p:nvPr/>
        </p:nvSpPr>
        <p:spPr>
          <a:xfrm>
            <a:off x="4564694" y="1345886"/>
            <a:ext cx="1020635"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352" name="Connector 10"/>
          <p:cNvCxnSpPr/>
          <p:nvPr/>
        </p:nvCxnSpPr>
        <p:spPr>
          <a:xfrm>
            <a:off x="3822192" y="1755648"/>
            <a:ext cx="0" cy="402336"/>
          </a:xfrm>
          <a:prstGeom prst="line">
            <a:avLst/>
          </a:prstGeom>
          <a:ln w="1905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3" name="TextBox 352"/>
          <p:cNvSpPr txBox="1"/>
          <p:nvPr/>
        </p:nvSpPr>
        <p:spPr>
          <a:xfrm>
            <a:off x="3968233" y="1870305"/>
            <a:ext cx="1617096" cy="146194"/>
          </a:xfrm>
          <a:prstGeom prst="rect">
            <a:avLst/>
          </a:prstGeom>
          <a:noFill/>
        </p:spPr>
        <p:txBody>
          <a:bodyPr wrap="square" lIns="0" tIns="0" rIns="0" bIns="0" anchor="t">
            <a:spAutoFit/>
          </a:bodyPr>
          <a:lstStyle/>
          <a:p>
            <a:r>
              <a:rPr lang="en-US" altLang="ko-KR" sz="950" dirty="0">
                <a:solidFill>
                  <a:srgbClr val="404040"/>
                </a:solidFill>
                <a:latin typeface="맑은 고딕"/>
                <a:ea typeface="맑은 고딕"/>
              </a:rPr>
              <a:t>HBM </a:t>
            </a:r>
            <a:r>
              <a:rPr lang="ko-KR" altLang="en-US" sz="950" dirty="0">
                <a:solidFill>
                  <a:srgbClr val="404040"/>
                </a:solidFill>
                <a:latin typeface="맑은 고딕"/>
                <a:ea typeface="맑은 고딕"/>
              </a:rPr>
              <a:t>내 </a:t>
            </a:r>
            <a:r>
              <a:rPr lang="en-US" altLang="ko-KR" sz="950" dirty="0">
                <a:solidFill>
                  <a:srgbClr val="404040"/>
                </a:solidFill>
                <a:ea typeface="맑은 고딕"/>
              </a:rPr>
              <a:t>KV </a:t>
            </a:r>
            <a:r>
              <a:rPr lang="ko-KR" altLang="en-US" sz="950" dirty="0">
                <a:solidFill>
                  <a:srgbClr val="404040"/>
                </a:solidFill>
                <a:ea typeface="맑은 고딕"/>
              </a:rPr>
              <a:t>블록 부족 감지</a:t>
            </a:r>
            <a:endParaRPr sz="950" b="0" i="0" dirty="0">
              <a:solidFill>
                <a:srgbClr val="404040"/>
              </a:solidFill>
              <a:latin typeface="맑은 고딕"/>
              <a:ea typeface="맑은 고딕"/>
            </a:endParaRPr>
          </a:p>
        </p:txBody>
      </p:sp>
      <p:sp>
        <p:nvSpPr>
          <p:cNvPr id="354" name="Rectangle 12"/>
          <p:cNvSpPr/>
          <p:nvPr/>
        </p:nvSpPr>
        <p:spPr>
          <a:xfrm>
            <a:off x="464901" y="2157983"/>
            <a:ext cx="5315550" cy="1791503"/>
          </a:xfrm>
          <a:prstGeom prst="rect">
            <a:avLst/>
          </a:prstGeom>
          <a:solidFill>
            <a:srgbClr val="FAFAFA"/>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66" name="Rectangle 24"/>
          <p:cNvSpPr/>
          <p:nvPr/>
        </p:nvSpPr>
        <p:spPr>
          <a:xfrm>
            <a:off x="654854" y="2470246"/>
            <a:ext cx="4985505" cy="329956"/>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100" b="1" i="0" dirty="0">
                <a:solidFill>
                  <a:srgbClr val="262626"/>
                </a:solidFill>
                <a:latin typeface="맑은 고딕"/>
                <a:ea typeface="맑은 고딕"/>
              </a:rPr>
              <a:t>Pressure Monitor</a:t>
            </a:r>
            <a:endParaRPr sz="1100" b="1" i="0" dirty="0">
              <a:solidFill>
                <a:srgbClr val="262626"/>
              </a:solidFill>
              <a:latin typeface="맑은 고딕"/>
              <a:ea typeface="맑은 고딕"/>
            </a:endParaRPr>
          </a:p>
        </p:txBody>
      </p:sp>
      <p:sp>
        <p:nvSpPr>
          <p:cNvPr id="369" name="Rectangle 27"/>
          <p:cNvSpPr/>
          <p:nvPr/>
        </p:nvSpPr>
        <p:spPr>
          <a:xfrm>
            <a:off x="4444930" y="4268711"/>
            <a:ext cx="1003949" cy="312274"/>
          </a:xfrm>
          <a:prstGeom prst="rect">
            <a:avLst/>
          </a:prstGeom>
          <a:noFill/>
          <a:ln w="1270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950" b="1" i="0" dirty="0" err="1">
                <a:solidFill>
                  <a:srgbClr val="7B1A1A"/>
                </a:solidFill>
                <a:latin typeface="맑은 고딕"/>
                <a:ea typeface="맑은 고딕"/>
              </a:rPr>
              <a:t>신규</a:t>
            </a:r>
            <a:r>
              <a:rPr sz="950" b="1" i="0" dirty="0">
                <a:solidFill>
                  <a:srgbClr val="7B1A1A"/>
                </a:solidFill>
                <a:latin typeface="맑은 고딕"/>
                <a:ea typeface="맑은 고딕"/>
              </a:rPr>
              <a:t> </a:t>
            </a:r>
            <a:r>
              <a:rPr sz="950" b="1" i="0" dirty="0" err="1">
                <a:solidFill>
                  <a:srgbClr val="7B1A1A"/>
                </a:solidFill>
                <a:latin typeface="맑은 고딕"/>
                <a:ea typeface="맑은 고딕"/>
              </a:rPr>
              <a:t>메모리</a:t>
            </a:r>
            <a:endParaRPr sz="950" b="1" i="0" dirty="0">
              <a:solidFill>
                <a:srgbClr val="7B1A1A"/>
              </a:solidFill>
              <a:latin typeface="맑은 고딕"/>
              <a:ea typeface="맑은 고딕"/>
            </a:endParaRPr>
          </a:p>
          <a:p>
            <a:pPr algn="ctr">
              <a:lnSpc>
                <a:spcPct val="105000"/>
              </a:lnSpc>
            </a:pPr>
            <a:r>
              <a:rPr sz="950" b="1" i="0" dirty="0" err="1">
                <a:solidFill>
                  <a:srgbClr val="7B1A1A"/>
                </a:solidFill>
                <a:latin typeface="맑은 고딕"/>
                <a:ea typeface="맑은 고딕"/>
              </a:rPr>
              <a:t>연결</a:t>
            </a:r>
            <a:r>
              <a:rPr sz="950" b="1" i="0" dirty="0">
                <a:solidFill>
                  <a:srgbClr val="7B1A1A"/>
                </a:solidFill>
                <a:latin typeface="맑은 고딕"/>
                <a:ea typeface="맑은 고딕"/>
              </a:rPr>
              <a:t> </a:t>
            </a:r>
            <a:r>
              <a:rPr sz="950" b="1" i="0" dirty="0" err="1">
                <a:solidFill>
                  <a:srgbClr val="7B1A1A"/>
                </a:solidFill>
                <a:latin typeface="맑은 고딕"/>
                <a:ea typeface="맑은 고딕"/>
              </a:rPr>
              <a:t>경로</a:t>
            </a:r>
            <a:r>
              <a:rPr sz="950" b="1" i="0" dirty="0">
                <a:solidFill>
                  <a:srgbClr val="7B1A1A"/>
                </a:solidFill>
                <a:latin typeface="맑은 고딕"/>
                <a:ea typeface="맑은 고딕"/>
              </a:rPr>
              <a:t> </a:t>
            </a:r>
            <a:r>
              <a:rPr sz="950" b="1" i="0" dirty="0" err="1">
                <a:solidFill>
                  <a:srgbClr val="7B1A1A"/>
                </a:solidFill>
                <a:latin typeface="맑은 고딕"/>
                <a:ea typeface="맑은 고딕"/>
              </a:rPr>
              <a:t>없음</a:t>
            </a:r>
            <a:endParaRPr sz="950" b="1" i="0" dirty="0">
              <a:solidFill>
                <a:srgbClr val="7B1A1A"/>
              </a:solidFill>
              <a:latin typeface="맑은 고딕"/>
              <a:ea typeface="맑은 고딕"/>
            </a:endParaRPr>
          </a:p>
        </p:txBody>
      </p:sp>
      <p:sp>
        <p:nvSpPr>
          <p:cNvPr id="370" name="TextBox 369"/>
          <p:cNvSpPr txBox="1"/>
          <p:nvPr/>
        </p:nvSpPr>
        <p:spPr>
          <a:xfrm>
            <a:off x="618399" y="4789086"/>
            <a:ext cx="5109381" cy="453522"/>
          </a:xfrm>
          <a:prstGeom prst="rect">
            <a:avLst/>
          </a:prstGeom>
          <a:noFill/>
        </p:spPr>
        <p:txBody>
          <a:bodyPr wrap="square" lIns="0" tIns="0" rIns="0" bIns="0" anchor="t">
            <a:spAutoFit/>
          </a:bodyPr>
          <a:lstStyle/>
          <a:p>
            <a:pPr>
              <a:lnSpc>
                <a:spcPct val="150000"/>
              </a:lnSpc>
            </a:pPr>
            <a:r>
              <a:rPr sz="1050" b="1" i="0" dirty="0">
                <a:solidFill>
                  <a:srgbClr val="C00000"/>
                </a:solidFill>
                <a:latin typeface="맑은 고딕"/>
                <a:ea typeface="맑은 고딕"/>
              </a:rPr>
              <a:t>① </a:t>
            </a:r>
            <a:r>
              <a:rPr lang="ko-KR" altLang="en-US" sz="1050" b="1" dirty="0">
                <a:solidFill>
                  <a:srgbClr val="C00000"/>
                </a:solidFill>
                <a:latin typeface="맑은 고딕"/>
                <a:ea typeface="맑은 고딕"/>
              </a:rPr>
              <a:t>모든 데이터가 동일한 고정 경로로 이동</a:t>
            </a:r>
            <a:r>
              <a:rPr lang="en-US" altLang="ko-KR" sz="1050" b="1" dirty="0">
                <a:solidFill>
                  <a:srgbClr val="C00000"/>
                </a:solidFill>
                <a:latin typeface="맑은 고딕"/>
                <a:ea typeface="맑은 고딕"/>
              </a:rPr>
              <a:t> -&gt; Tiered Memory </a:t>
            </a:r>
            <a:r>
              <a:rPr lang="ko-KR" altLang="en-US" sz="1050" b="1" dirty="0">
                <a:solidFill>
                  <a:srgbClr val="C00000"/>
                </a:solidFill>
                <a:latin typeface="맑은 고딕"/>
                <a:ea typeface="맑은 고딕"/>
              </a:rPr>
              <a:t>활용도 ↓</a:t>
            </a:r>
            <a:endParaRPr lang="en-US" sz="1050" b="1" i="0" dirty="0">
              <a:solidFill>
                <a:srgbClr val="C00000"/>
              </a:solidFill>
              <a:latin typeface="맑은 고딕"/>
              <a:ea typeface="맑은 고딕"/>
            </a:endParaRPr>
          </a:p>
          <a:p>
            <a:pPr algn="l">
              <a:lnSpc>
                <a:spcPct val="150000"/>
              </a:lnSpc>
            </a:pPr>
            <a:r>
              <a:rPr sz="1050" b="1" i="0" dirty="0">
                <a:solidFill>
                  <a:srgbClr val="C00000"/>
                </a:solidFill>
                <a:latin typeface="맑은 고딕"/>
                <a:ea typeface="맑은 고딕"/>
              </a:rPr>
              <a:t>②</a:t>
            </a:r>
            <a:r>
              <a:rPr lang="ko-KR" altLang="en-US" sz="1050" b="1" dirty="0">
                <a:solidFill>
                  <a:srgbClr val="C00000"/>
                </a:solidFill>
                <a:latin typeface="맑은 고딕"/>
                <a:ea typeface="맑은 고딕"/>
              </a:rPr>
              <a:t> </a:t>
            </a:r>
            <a:r>
              <a:rPr sz="1050" b="1" i="0" dirty="0" err="1">
                <a:solidFill>
                  <a:srgbClr val="C00000"/>
                </a:solidFill>
                <a:latin typeface="맑은 고딕"/>
                <a:ea typeface="맑은 고딕"/>
              </a:rPr>
              <a:t>연산</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가능</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메모리</a:t>
            </a:r>
            <a:r>
              <a:rPr lang="ko-KR" altLang="en-US" sz="1050" b="1" dirty="0">
                <a:solidFill>
                  <a:srgbClr val="C00000"/>
                </a:solidFill>
                <a:latin typeface="맑은 고딕"/>
                <a:ea typeface="맑은 고딕"/>
              </a:rPr>
              <a:t>와 같은 신규 메모리 </a:t>
            </a:r>
            <a:r>
              <a:rPr sz="1050" b="1" i="0" dirty="0" err="1">
                <a:solidFill>
                  <a:srgbClr val="C00000"/>
                </a:solidFill>
                <a:latin typeface="맑은 고딕"/>
                <a:ea typeface="맑은 고딕"/>
              </a:rPr>
              <a:t>고려하지</a:t>
            </a:r>
            <a:r>
              <a:rPr sz="1050" b="1" i="0" dirty="0">
                <a:solidFill>
                  <a:srgbClr val="C00000"/>
                </a:solidFill>
                <a:latin typeface="맑은 고딕"/>
                <a:ea typeface="맑은 고딕"/>
              </a:rPr>
              <a:t> </a:t>
            </a:r>
            <a:r>
              <a:rPr sz="1050" b="1" i="0" dirty="0" err="1">
                <a:solidFill>
                  <a:srgbClr val="C00000"/>
                </a:solidFill>
                <a:latin typeface="맑은 고딕"/>
                <a:ea typeface="맑은 고딕"/>
              </a:rPr>
              <a:t>않음</a:t>
            </a:r>
            <a:endParaRPr sz="1050" b="1" i="0" dirty="0">
              <a:solidFill>
                <a:srgbClr val="C00000"/>
              </a:solidFill>
              <a:latin typeface="맑은 고딕"/>
              <a:ea typeface="맑은 고딕"/>
            </a:endParaRPr>
          </a:p>
        </p:txBody>
      </p:sp>
      <p:sp>
        <p:nvSpPr>
          <p:cNvPr id="399" name="TextBox 398"/>
          <p:cNvSpPr txBox="1"/>
          <p:nvPr/>
        </p:nvSpPr>
        <p:spPr>
          <a:xfrm>
            <a:off x="551828" y="2219017"/>
            <a:ext cx="1617096" cy="146194"/>
          </a:xfrm>
          <a:prstGeom prst="rect">
            <a:avLst/>
          </a:prstGeom>
          <a:noFill/>
        </p:spPr>
        <p:txBody>
          <a:bodyPr wrap="square" lIns="0" tIns="0" rIns="0" bIns="0" anchor="t">
            <a:spAutoFit/>
          </a:bodyPr>
          <a:lstStyle/>
          <a:p>
            <a:r>
              <a:rPr lang="en-US" sz="950" dirty="0">
                <a:solidFill>
                  <a:srgbClr val="404040"/>
                </a:solidFill>
                <a:latin typeface="맑은 고딕"/>
                <a:ea typeface="맑은 고딕"/>
              </a:rPr>
              <a:t>A Connector </a:t>
            </a:r>
            <a:endParaRPr sz="950" b="0" i="0" dirty="0">
              <a:solidFill>
                <a:srgbClr val="404040"/>
              </a:solidFill>
              <a:latin typeface="맑은 고딕"/>
              <a:ea typeface="맑은 고딕"/>
            </a:endParaRPr>
          </a:p>
        </p:txBody>
      </p:sp>
      <p:sp>
        <p:nvSpPr>
          <p:cNvPr id="400" name="Rectangle 24"/>
          <p:cNvSpPr/>
          <p:nvPr/>
        </p:nvSpPr>
        <p:spPr>
          <a:xfrm>
            <a:off x="654854" y="2971104"/>
            <a:ext cx="4985505" cy="329956"/>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100" b="1" i="0" dirty="0">
                <a:solidFill>
                  <a:srgbClr val="262626"/>
                </a:solidFill>
                <a:latin typeface="맑은 고딕"/>
                <a:ea typeface="맑은 고딕"/>
              </a:rPr>
              <a:t>Eviction Manager</a:t>
            </a:r>
            <a:endParaRPr sz="1100" b="1" i="0" dirty="0">
              <a:solidFill>
                <a:srgbClr val="262626"/>
              </a:solidFill>
              <a:latin typeface="맑은 고딕"/>
              <a:ea typeface="맑은 고딕"/>
            </a:endParaRPr>
          </a:p>
        </p:txBody>
      </p:sp>
      <p:sp>
        <p:nvSpPr>
          <p:cNvPr id="401" name="Rectangle 24"/>
          <p:cNvSpPr/>
          <p:nvPr/>
        </p:nvSpPr>
        <p:spPr>
          <a:xfrm>
            <a:off x="654854" y="3469490"/>
            <a:ext cx="4985505" cy="329956"/>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en-US" sz="1100" b="1" dirty="0">
                <a:solidFill>
                  <a:srgbClr val="262626"/>
                </a:solidFill>
                <a:latin typeface="맑은 고딕"/>
                <a:ea typeface="맑은 고딕"/>
              </a:rPr>
              <a:t>Migration Executor</a:t>
            </a:r>
            <a:endParaRPr sz="1100" b="1" i="0" dirty="0">
              <a:solidFill>
                <a:srgbClr val="262626"/>
              </a:solidFill>
              <a:latin typeface="맑은 고딕"/>
              <a:ea typeface="맑은 고딕"/>
            </a:endParaRPr>
          </a:p>
        </p:txBody>
      </p:sp>
      <p:sp>
        <p:nvSpPr>
          <p:cNvPr id="408" name="Rectangle 24"/>
          <p:cNvSpPr/>
          <p:nvPr/>
        </p:nvSpPr>
        <p:spPr>
          <a:xfrm>
            <a:off x="882244" y="4266151"/>
            <a:ext cx="769442" cy="317395"/>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dirty="0">
                <a:solidFill>
                  <a:srgbClr val="262626"/>
                </a:solidFill>
                <a:latin typeface="맑은 고딕"/>
                <a:ea typeface="맑은 고딕"/>
              </a:rPr>
              <a:t>HBM</a:t>
            </a:r>
          </a:p>
        </p:txBody>
      </p:sp>
      <p:sp>
        <p:nvSpPr>
          <p:cNvPr id="409" name="Rectangle 25"/>
          <p:cNvSpPr/>
          <p:nvPr/>
        </p:nvSpPr>
        <p:spPr>
          <a:xfrm>
            <a:off x="2153347" y="4266151"/>
            <a:ext cx="769442" cy="317395"/>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dirty="0">
                <a:solidFill>
                  <a:srgbClr val="262626"/>
                </a:solidFill>
                <a:latin typeface="맑은 고딕"/>
                <a:ea typeface="맑은 고딕"/>
              </a:rPr>
              <a:t>DRAM</a:t>
            </a:r>
          </a:p>
        </p:txBody>
      </p:sp>
      <p:sp>
        <p:nvSpPr>
          <p:cNvPr id="410" name="Rectangle 26"/>
          <p:cNvSpPr/>
          <p:nvPr/>
        </p:nvSpPr>
        <p:spPr>
          <a:xfrm>
            <a:off x="3417505" y="4266151"/>
            <a:ext cx="769442" cy="317395"/>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100" b="1" i="0">
                <a:solidFill>
                  <a:srgbClr val="262626"/>
                </a:solidFill>
                <a:latin typeface="맑은 고딕"/>
                <a:ea typeface="맑은 고딕"/>
              </a:rPr>
              <a:t>SSD</a:t>
            </a:r>
          </a:p>
        </p:txBody>
      </p:sp>
      <p:cxnSp>
        <p:nvCxnSpPr>
          <p:cNvPr id="411" name="Connector 10"/>
          <p:cNvCxnSpPr>
            <a:stCxn id="366" idx="2"/>
            <a:endCxn id="400" idx="0"/>
          </p:cNvCxnSpPr>
          <p:nvPr/>
        </p:nvCxnSpPr>
        <p:spPr>
          <a:xfrm>
            <a:off x="3147607" y="2800202"/>
            <a:ext cx="0" cy="170902"/>
          </a:xfrm>
          <a:prstGeom prst="line">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2" name="Connector 10"/>
          <p:cNvCxnSpPr>
            <a:stCxn id="400" idx="2"/>
            <a:endCxn id="401" idx="0"/>
          </p:cNvCxnSpPr>
          <p:nvPr/>
        </p:nvCxnSpPr>
        <p:spPr>
          <a:xfrm>
            <a:off x="3147607" y="3301060"/>
            <a:ext cx="0" cy="168430"/>
          </a:xfrm>
          <a:prstGeom prst="line">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3" name="Connector 10"/>
          <p:cNvCxnSpPr>
            <a:stCxn id="401" idx="2"/>
            <a:endCxn id="408" idx="0"/>
          </p:cNvCxnSpPr>
          <p:nvPr/>
        </p:nvCxnSpPr>
        <p:spPr>
          <a:xfrm rot="5400000">
            <a:off x="1973934" y="3092477"/>
            <a:ext cx="466705" cy="1880642"/>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4" name="Connector 10"/>
          <p:cNvCxnSpPr>
            <a:stCxn id="401" idx="2"/>
            <a:endCxn id="409" idx="0"/>
          </p:cNvCxnSpPr>
          <p:nvPr/>
        </p:nvCxnSpPr>
        <p:spPr>
          <a:xfrm rot="5400000">
            <a:off x="2609486" y="3728029"/>
            <a:ext cx="466705" cy="609539"/>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5" name="Connector 10"/>
          <p:cNvCxnSpPr>
            <a:stCxn id="401" idx="2"/>
            <a:endCxn id="410" idx="0"/>
          </p:cNvCxnSpPr>
          <p:nvPr/>
        </p:nvCxnSpPr>
        <p:spPr>
          <a:xfrm rot="16200000" flipH="1">
            <a:off x="3241564" y="3705488"/>
            <a:ext cx="466705" cy="654619"/>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6" name="Connector 10"/>
          <p:cNvCxnSpPr>
            <a:stCxn id="401" idx="2"/>
            <a:endCxn id="369" idx="0"/>
          </p:cNvCxnSpPr>
          <p:nvPr/>
        </p:nvCxnSpPr>
        <p:spPr>
          <a:xfrm rot="16200000" flipH="1">
            <a:off x="3812624" y="3134429"/>
            <a:ext cx="469265" cy="1799298"/>
          </a:xfrm>
          <a:prstGeom prst="bentConnector3">
            <a:avLst>
              <a:gd name="adj1" fmla="val 50000"/>
            </a:avLst>
          </a:prstGeom>
          <a:ln w="12700">
            <a:solidFill>
              <a:srgbClr val="8080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9" name="Fixed path 1"/>
          <p:cNvCxnSpPr/>
          <p:nvPr/>
        </p:nvCxnSpPr>
        <p:spPr>
          <a:xfrm>
            <a:off x="1715909" y="4431108"/>
            <a:ext cx="419719" cy="0"/>
          </a:xfrm>
          <a:prstGeom prst="line">
            <a:avLst/>
          </a:prstGeom>
          <a:ln w="15875">
            <a:solidFill>
              <a:srgbClr val="C00000"/>
            </a:solidFill>
            <a:tailEnd type="triangle" w="med" len="med"/>
          </a:ln>
        </p:spPr>
      </p:cxnSp>
      <p:sp>
        <p:nvSpPr>
          <p:cNvPr id="420" name="Path label 1"/>
          <p:cNvSpPr txBox="1"/>
          <p:nvPr/>
        </p:nvSpPr>
        <p:spPr>
          <a:xfrm>
            <a:off x="1633237" y="4194231"/>
            <a:ext cx="585063" cy="181141"/>
          </a:xfrm>
          <a:prstGeom prst="rect">
            <a:avLst/>
          </a:prstGeom>
          <a:noFill/>
        </p:spPr>
        <p:txBody>
          <a:bodyPr wrap="square" lIns="0" tIns="0" rIns="0" bIns="0" rtlCol="0" anchor="ctr">
            <a:noAutofit/>
          </a:bodyPr>
          <a:lstStyle/>
          <a:p>
            <a:pPr algn="ctr">
              <a:lnSpc>
                <a:spcPct val="100000"/>
              </a:lnSpc>
              <a:spcBef>
                <a:spcPts val="0"/>
              </a:spcBef>
            </a:pPr>
            <a:r>
              <a:rPr lang="ko-KR" altLang="en-US" sz="900" b="1" dirty="0">
                <a:solidFill>
                  <a:srgbClr val="C00000"/>
                </a:solidFill>
                <a:latin typeface="맑은 고딕"/>
                <a:ea typeface="맑은 고딕"/>
              </a:rPr>
              <a:t>Offload</a:t>
            </a:r>
          </a:p>
        </p:txBody>
      </p:sp>
      <p:cxnSp>
        <p:nvCxnSpPr>
          <p:cNvPr id="421" name="Fixed path 1"/>
          <p:cNvCxnSpPr/>
          <p:nvPr/>
        </p:nvCxnSpPr>
        <p:spPr>
          <a:xfrm>
            <a:off x="2983726" y="4431108"/>
            <a:ext cx="419719" cy="0"/>
          </a:xfrm>
          <a:prstGeom prst="line">
            <a:avLst/>
          </a:prstGeom>
          <a:ln w="15875">
            <a:solidFill>
              <a:srgbClr val="C00000"/>
            </a:solidFill>
            <a:tailEnd type="triangle" w="med" len="med"/>
          </a:ln>
        </p:spPr>
      </p:cxnSp>
      <p:sp>
        <p:nvSpPr>
          <p:cNvPr id="422" name="Path label 1"/>
          <p:cNvSpPr txBox="1"/>
          <p:nvPr/>
        </p:nvSpPr>
        <p:spPr>
          <a:xfrm>
            <a:off x="2901054" y="4194231"/>
            <a:ext cx="585063" cy="181141"/>
          </a:xfrm>
          <a:prstGeom prst="rect">
            <a:avLst/>
          </a:prstGeom>
          <a:noFill/>
        </p:spPr>
        <p:txBody>
          <a:bodyPr wrap="square" lIns="0" tIns="0" rIns="0" bIns="0" rtlCol="0" anchor="ctr">
            <a:noAutofit/>
          </a:bodyPr>
          <a:lstStyle/>
          <a:p>
            <a:pPr algn="ctr">
              <a:lnSpc>
                <a:spcPct val="100000"/>
              </a:lnSpc>
              <a:spcBef>
                <a:spcPts val="0"/>
              </a:spcBef>
            </a:pPr>
            <a:r>
              <a:rPr lang="ko-KR" altLang="en-US" sz="900" b="1" dirty="0">
                <a:solidFill>
                  <a:srgbClr val="C00000"/>
                </a:solidFill>
                <a:latin typeface="맑은 고딕"/>
                <a:ea typeface="맑은 고딕"/>
              </a:rPr>
              <a:t>Offload</a:t>
            </a:r>
          </a:p>
        </p:txBody>
      </p:sp>
    </p:spTree>
    <p:extLst>
      <p:ext uri="{BB962C8B-B14F-4D97-AF65-F5344CB8AC3E}">
        <p14:creationId xmlns:p14="http://schemas.microsoft.com/office/powerpoint/2010/main" val="157681239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상태에 우선한 이동 </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특성에 우선한 이동</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 </a:t>
                      </a:r>
                      <a:r>
                        <a:rPr lang="en-US" altLang="ko-KR" sz="1200" strike="noStrike" kern="1200" baseline="0" dirty="0">
                          <a:solidFill>
                            <a:schemeClr val="tx1"/>
                          </a:solidFill>
                          <a:effectLst/>
                          <a:latin typeface="+mn-lt"/>
                          <a:ea typeface="+mn-ea"/>
                          <a:cs typeface="+mn-cs"/>
                        </a:rPr>
                        <a:t>(QA2)</a:t>
                      </a:r>
                      <a:endParaRPr lang="ko-KR" altLang="en-US"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중심 구조로</a:t>
                      </a:r>
                      <a:r>
                        <a:rPr lang="en-US" altLang="ko-KR" sz="1200" strike="noStrike" kern="1200" baseline="0" dirty="0">
                          <a:solidFill>
                            <a:schemeClr val="tx1"/>
                          </a:solidFill>
                          <a:effectLst/>
                          <a:latin typeface="+mn-lt"/>
                          <a:ea typeface="+mn-ea"/>
                          <a:cs typeface="+mn-cs"/>
                        </a:rPr>
                        <a:t> decision logic </a:t>
                      </a:r>
                      <a:r>
                        <a:rPr lang="ko-KR" altLang="en-US" sz="1200" strike="noStrike" kern="1200" baseline="0" dirty="0">
                          <a:solidFill>
                            <a:schemeClr val="tx1"/>
                          </a:solidFill>
                          <a:effectLst/>
                          <a:latin typeface="+mn-lt"/>
                          <a:ea typeface="+mn-ea"/>
                          <a:cs typeface="+mn-cs"/>
                        </a:rPr>
                        <a:t>단순 </a:t>
                      </a:r>
                      <a:r>
                        <a:rPr lang="en-US" altLang="ko-KR" sz="1200" strike="noStrike" kern="1200" baseline="0" dirty="0">
                          <a:solidFill>
                            <a:schemeClr val="tx1"/>
                          </a:solidFill>
                          <a:effectLst/>
                          <a:latin typeface="+mn-lt"/>
                          <a:ea typeface="+mn-ea"/>
                          <a:cs typeface="+mn-cs"/>
                        </a:rPr>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(QA1)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Behavior </a:t>
                      </a:r>
                      <a:r>
                        <a:rPr lang="ko-KR" altLang="en-US" sz="1200" strike="noStrike" baseline="0" dirty="0">
                          <a:solidFill>
                            <a:schemeClr val="tx1"/>
                          </a:solidFill>
                          <a:effectLst/>
                        </a:rPr>
                        <a:t>예측에 의해 </a:t>
                      </a:r>
                      <a:r>
                        <a:rPr lang="en-US" altLang="ko-KR" sz="1200" strike="noStrike" baseline="0" dirty="0">
                          <a:solidFill>
                            <a:schemeClr val="tx1"/>
                          </a:solidFill>
                          <a:effectLst/>
                        </a:rPr>
                        <a:t>idle data</a:t>
                      </a:r>
                      <a:r>
                        <a:rPr lang="ko-KR" altLang="en-US" sz="1200" strike="noStrike" baseline="0" dirty="0">
                          <a:solidFill>
                            <a:schemeClr val="tx1"/>
                          </a:solidFill>
                          <a:effectLst/>
                        </a:rPr>
                        <a:t>의 불필요한 고속 메모리 점유 가능</a:t>
                      </a:r>
                      <a:r>
                        <a:rPr lang="en-US" altLang="ko-KR" sz="1200" strike="noStrike" baseline="0" dirty="0">
                          <a:solidFill>
                            <a:schemeClr val="tx1"/>
                          </a:solidFill>
                          <a:effectLst/>
                        </a:rPr>
                        <a:t> (QA2)</a:t>
                      </a:r>
                    </a:p>
                    <a:p>
                      <a:pPr marL="228600" indent="-228600" latinLnBrk="1">
                        <a:lnSpc>
                          <a:spcPct val="100000"/>
                        </a:lnSpc>
                        <a:buFont typeface="Wingdings" panose="05000000000000000000" pitchFamily="2" charset="2"/>
                        <a:buChar char="§"/>
                      </a:pPr>
                      <a:r>
                        <a:rPr lang="ko-KR" altLang="en-US" sz="1200" dirty="0"/>
                        <a:t>신규 </a:t>
                      </a:r>
                      <a:r>
                        <a:rPr lang="en-US" altLang="ko-KR" sz="1200" dirty="0"/>
                        <a:t>workload</a:t>
                      </a:r>
                      <a:r>
                        <a:rPr lang="ko-KR" altLang="en-US" sz="1200" dirty="0"/>
                        <a:t> 추가 시 변경 영향 범위 큼 </a:t>
                      </a:r>
                      <a:r>
                        <a:rPr lang="en-US" altLang="ko-KR" sz="1200" dirty="0"/>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chemeClr val="tx1"/>
                          </a:solidFill>
                          <a:latin typeface="+mn-lt"/>
                          <a:ea typeface="맑은 고딕"/>
                        </a:rPr>
                        <a:t>☆</a:t>
                      </a:r>
                      <a:r>
                        <a:rPr lang="ko-KR" altLang="en-US" sz="1200" strike="noStrike" dirty="0">
                          <a:solidFill>
                            <a:srgbClr val="0070C0"/>
                          </a:solidFill>
                          <a:latin typeface="맑은 고딕" panose="020B0503020000020004" pitchFamily="50" charset="-127"/>
                          <a:ea typeface="+mn-ea"/>
                        </a:rPr>
                        <a:t> </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184</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“Resource Plane</a:t>
            </a:r>
            <a:r>
              <a:rPr lang="ko-KR" altLang="en-US" sz="1100" dirty="0"/>
              <a:t>에서 </a:t>
            </a:r>
            <a:r>
              <a:rPr lang="en-US" altLang="ko-KR" sz="1100" dirty="0"/>
              <a:t>Migration</a:t>
            </a:r>
            <a:r>
              <a:rPr lang="ko-KR" altLang="en-US" sz="1100" dirty="0"/>
              <a:t>을 결정</a:t>
            </a:r>
            <a:r>
              <a:rPr lang="en-US" altLang="ko-KR" sz="1100" dirty="0"/>
              <a:t>“</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“Control Plane</a:t>
            </a:r>
            <a:r>
              <a:rPr lang="ko-KR" altLang="en-US" sz="1100" dirty="0"/>
              <a:t>에서 </a:t>
            </a:r>
            <a:r>
              <a:rPr lang="en-US" altLang="ko-KR" sz="1100" dirty="0"/>
              <a:t>Migration</a:t>
            </a:r>
            <a:r>
              <a:rPr lang="ko-KR" altLang="en-US" sz="1100" dirty="0"/>
              <a:t>을 결정</a:t>
            </a:r>
            <a:r>
              <a:rPr lang="en-US" altLang="ko-KR" sz="1100" dirty="0"/>
              <a:t>“</a:t>
            </a:r>
            <a:endParaRPr lang="ko-KR" altLang="en-US" sz="1100" dirty="0"/>
          </a:p>
        </p:txBody>
      </p:sp>
      <p:sp>
        <p:nvSpPr>
          <p:cNvPr id="118" name="DecisionPlane"/>
          <p:cNvSpPr/>
          <p:nvPr/>
        </p:nvSpPr>
        <p:spPr>
          <a:xfrm>
            <a:off x="1335759" y="1881072"/>
            <a:ext cx="4919889" cy="662926"/>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770700"/>
            <a:ext cx="251696" cy="109458"/>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68979"/>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6"/>
            <a:ext cx="1919939" cy="1090191"/>
            <a:chOff x="1208848" y="2542921"/>
            <a:chExt cx="2013795" cy="1376305"/>
          </a:xfrm>
        </p:grpSpPr>
        <p:sp>
          <p:nvSpPr>
            <p:cNvPr id="238" name="DecisionPlane"/>
            <p:cNvSpPr/>
            <p:nvPr/>
          </p:nvSpPr>
          <p:spPr>
            <a:xfrm>
              <a:off x="1208848" y="2678899"/>
              <a:ext cx="2013795" cy="1240327"/>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6" y="3178189"/>
            <a:ext cx="1891049" cy="1160450"/>
            <a:chOff x="4173997" y="2581540"/>
            <a:chExt cx="1983494" cy="1477340"/>
          </a:xfrm>
        </p:grpSpPr>
        <p:sp>
          <p:nvSpPr>
            <p:cNvPr id="250" name="DecisionPlane"/>
            <p:cNvSpPr/>
            <p:nvPr/>
          </p:nvSpPr>
          <p:spPr>
            <a:xfrm>
              <a:off x="4173997" y="2708259"/>
              <a:ext cx="1983494" cy="1350621"/>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52" name="KV Cache Manager"/>
            <p:cNvSpPr/>
            <p:nvPr/>
          </p:nvSpPr>
          <p:spPr>
            <a:xfrm>
              <a:off x="4493949" y="3060767"/>
              <a:ext cx="1409091" cy="2809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264" name="① Event"/>
          <p:cNvCxnSpPr>
            <a:cxnSpLocks/>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738890"/>
            <a:chOff x="6819037" y="1867402"/>
            <a:chExt cx="4919889" cy="1738890"/>
          </a:xfrm>
        </p:grpSpPr>
        <p:sp>
          <p:nvSpPr>
            <p:cNvPr id="230" name="DecisionPlane"/>
            <p:cNvSpPr/>
            <p:nvPr/>
          </p:nvSpPr>
          <p:spPr>
            <a:xfrm>
              <a:off x="6819037" y="1973349"/>
              <a:ext cx="4919889" cy="1132223"/>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cxnSpLocks/>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Analyzer</a:t>
              </a:r>
              <a:endParaRPr lang="ko-KR" altLang="en-US" sz="900" b="1" dirty="0">
                <a:solidFill>
                  <a:schemeClr val="tx1"/>
                </a:solidFill>
              </a:endParaRPr>
            </a:p>
          </p:txBody>
        </p:sp>
        <p:cxnSp>
          <p:nvCxnSpPr>
            <p:cNvPr id="269" name="① Event"/>
            <p:cNvCxnSpPr>
              <a:cxnSpLocks/>
              <a:stCxn id="233" idx="3"/>
              <a:endCxn id="267" idx="1"/>
            </p:cNvCxnSpPr>
            <p:nvPr/>
          </p:nvCxnSpPr>
          <p:spPr>
            <a:xfrm>
              <a:off x="9896498" y="2398454"/>
              <a:ext cx="382931" cy="0"/>
            </a:xfrm>
            <a:prstGeom prst="straightConnector1">
              <a:avLst/>
            </a:prstGeom>
            <a:ln w="9525">
              <a:solidFill>
                <a:schemeClr val="tx1"/>
              </a:solidFill>
              <a:prstDash val="dash"/>
              <a:tailEnd type="arrow"/>
            </a:ln>
          </p:spPr>
        </p:cxnSp>
        <p:cxnSp>
          <p:nvCxnSpPr>
            <p:cNvPr id="304" name="① Event"/>
            <p:cNvCxnSpPr>
              <a:cxnSpLocks/>
              <a:endCxn id="400" idx="3"/>
            </p:cNvCxnSpPr>
            <p:nvPr/>
          </p:nvCxnSpPr>
          <p:spPr>
            <a:xfrm rot="5400000">
              <a:off x="8441988" y="2904277"/>
              <a:ext cx="1034739" cy="369291"/>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597150" y="3152133"/>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74407" y="6079490"/>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090182"/>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4"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KV Cache Manager">
            <a:extLst>
              <a:ext uri="{FF2B5EF4-FFF2-40B4-BE49-F238E27FC236}">
                <a16:creationId xmlns:a16="http://schemas.microsoft.com/office/drawing/2014/main" id="{DAD12A47-FE29-4E92-9221-AE44ADB711CE}"/>
              </a:ext>
            </a:extLst>
          </p:cNvPr>
          <p:cNvSpPr/>
          <p:nvPr/>
        </p:nvSpPr>
        <p:spPr>
          <a:xfrm>
            <a:off x="3120939" y="2175106"/>
            <a:ext cx="1008041" cy="28408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cxnSp>
        <p:nvCxnSpPr>
          <p:cNvPr id="99" name="① Event">
            <a:extLst>
              <a:ext uri="{FF2B5EF4-FFF2-40B4-BE49-F238E27FC236}">
                <a16:creationId xmlns:a16="http://schemas.microsoft.com/office/drawing/2014/main" id="{AF52ABF7-7895-4FE6-A97D-DCD73AA45D86}"/>
              </a:ext>
            </a:extLst>
          </p:cNvPr>
          <p:cNvCxnSpPr>
            <a:cxnSpLocks/>
            <a:stCxn id="96" idx="3"/>
            <a:endCxn id="128" idx="1"/>
          </p:cNvCxnSpPr>
          <p:nvPr/>
        </p:nvCxnSpPr>
        <p:spPr>
          <a:xfrm>
            <a:off x="4128980" y="2317150"/>
            <a:ext cx="488278" cy="13838"/>
          </a:xfrm>
          <a:prstGeom prst="bentConnector3">
            <a:avLst>
              <a:gd name="adj1" fmla="val 50000"/>
            </a:avLst>
          </a:prstGeom>
          <a:ln w="9525">
            <a:solidFill>
              <a:schemeClr val="tx1"/>
            </a:solidFill>
            <a:prstDash val="dash"/>
            <a:tailEnd type="arrow"/>
          </a:ln>
        </p:spPr>
      </p:cxnSp>
      <p:sp>
        <p:nvSpPr>
          <p:cNvPr id="100" name="실행 단추: 앞으로 또는 다음 99">
            <a:hlinkClick r:id="rId5"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6"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33" name="Oval 159">
            <a:extLst>
              <a:ext uri="{FF2B5EF4-FFF2-40B4-BE49-F238E27FC236}">
                <a16:creationId xmlns:a16="http://schemas.microsoft.com/office/drawing/2014/main" id="{F93C420F-F3DE-47BF-90B3-4F3E6F8DC1DA}"/>
              </a:ext>
            </a:extLst>
          </p:cNvPr>
          <p:cNvSpPr/>
          <p:nvPr/>
        </p:nvSpPr>
        <p:spPr>
          <a:xfrm>
            <a:off x="1976460" y="255690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34" name="Oval 159">
            <a:extLst>
              <a:ext uri="{FF2B5EF4-FFF2-40B4-BE49-F238E27FC236}">
                <a16:creationId xmlns:a16="http://schemas.microsoft.com/office/drawing/2014/main" id="{5A8043F5-D047-458B-AD3B-591076E900B4}"/>
              </a:ext>
            </a:extLst>
          </p:cNvPr>
          <p:cNvSpPr/>
          <p:nvPr/>
        </p:nvSpPr>
        <p:spPr>
          <a:xfrm>
            <a:off x="2587278" y="319366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135" name="Oval 159">
            <a:extLst>
              <a:ext uri="{FF2B5EF4-FFF2-40B4-BE49-F238E27FC236}">
                <a16:creationId xmlns:a16="http://schemas.microsoft.com/office/drawing/2014/main" id="{8050712C-C349-47B9-AF7F-9EABE35CE701}"/>
              </a:ext>
            </a:extLst>
          </p:cNvPr>
          <p:cNvSpPr/>
          <p:nvPr/>
        </p:nvSpPr>
        <p:spPr>
          <a:xfrm>
            <a:off x="3535249" y="338909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36" name="Oval 159">
            <a:extLst>
              <a:ext uri="{FF2B5EF4-FFF2-40B4-BE49-F238E27FC236}">
                <a16:creationId xmlns:a16="http://schemas.microsoft.com/office/drawing/2014/main" id="{4E55A266-01EB-4867-A8AE-2ACB23349A06}"/>
              </a:ext>
            </a:extLst>
          </p:cNvPr>
          <p:cNvSpPr/>
          <p:nvPr/>
        </p:nvSpPr>
        <p:spPr>
          <a:xfrm>
            <a:off x="4130641" y="216179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38" name="Oval 159">
            <a:extLst>
              <a:ext uri="{FF2B5EF4-FFF2-40B4-BE49-F238E27FC236}">
                <a16:creationId xmlns:a16="http://schemas.microsoft.com/office/drawing/2014/main" id="{6C742721-68C2-4FBE-B91E-B656F09A96E9}"/>
              </a:ext>
            </a:extLst>
          </p:cNvPr>
          <p:cNvSpPr/>
          <p:nvPr/>
        </p:nvSpPr>
        <p:spPr>
          <a:xfrm>
            <a:off x="5668955" y="288852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42" name="Oval 159">
            <a:extLst>
              <a:ext uri="{FF2B5EF4-FFF2-40B4-BE49-F238E27FC236}">
                <a16:creationId xmlns:a16="http://schemas.microsoft.com/office/drawing/2014/main" id="{DA54D0DB-719B-484E-AABC-3D8E4B4763DB}"/>
              </a:ext>
            </a:extLst>
          </p:cNvPr>
          <p:cNvSpPr/>
          <p:nvPr/>
        </p:nvSpPr>
        <p:spPr>
          <a:xfrm>
            <a:off x="8146046" y="218622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43" name="Oval 159">
            <a:extLst>
              <a:ext uri="{FF2B5EF4-FFF2-40B4-BE49-F238E27FC236}">
                <a16:creationId xmlns:a16="http://schemas.microsoft.com/office/drawing/2014/main" id="{0C2B959D-5453-4CF9-AD9F-ADF24CC585B5}"/>
              </a:ext>
            </a:extLst>
          </p:cNvPr>
          <p:cNvSpPr/>
          <p:nvPr/>
        </p:nvSpPr>
        <p:spPr>
          <a:xfrm>
            <a:off x="9072431" y="256920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145" name="Oval 159">
            <a:extLst>
              <a:ext uri="{FF2B5EF4-FFF2-40B4-BE49-F238E27FC236}">
                <a16:creationId xmlns:a16="http://schemas.microsoft.com/office/drawing/2014/main" id="{9A2411C3-D274-4040-B980-F387D57B7542}"/>
              </a:ext>
            </a:extLst>
          </p:cNvPr>
          <p:cNvSpPr/>
          <p:nvPr/>
        </p:nvSpPr>
        <p:spPr>
          <a:xfrm>
            <a:off x="10007794" y="2186221"/>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46" name="Oval 159">
            <a:extLst>
              <a:ext uri="{FF2B5EF4-FFF2-40B4-BE49-F238E27FC236}">
                <a16:creationId xmlns:a16="http://schemas.microsoft.com/office/drawing/2014/main" id="{355D1C60-9B6A-43EF-BEAB-7D71469C10B1}"/>
              </a:ext>
            </a:extLst>
          </p:cNvPr>
          <p:cNvSpPr/>
          <p:nvPr/>
        </p:nvSpPr>
        <p:spPr>
          <a:xfrm>
            <a:off x="11023177" y="2435845"/>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47" name="Oval 159">
            <a:extLst>
              <a:ext uri="{FF2B5EF4-FFF2-40B4-BE49-F238E27FC236}">
                <a16:creationId xmlns:a16="http://schemas.microsoft.com/office/drawing/2014/main" id="{AB4D4D55-EE48-4E28-99D2-3EBEAF8A3AB6}"/>
              </a:ext>
            </a:extLst>
          </p:cNvPr>
          <p:cNvSpPr/>
          <p:nvPr/>
        </p:nvSpPr>
        <p:spPr>
          <a:xfrm>
            <a:off x="10980786" y="30630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48" name="Oval 159">
            <a:extLst>
              <a:ext uri="{FF2B5EF4-FFF2-40B4-BE49-F238E27FC236}">
                <a16:creationId xmlns:a16="http://schemas.microsoft.com/office/drawing/2014/main" id="{A656EC47-6726-4DE3-BB9A-66BFE88053D0}"/>
              </a:ext>
            </a:extLst>
          </p:cNvPr>
          <p:cNvSpPr/>
          <p:nvPr/>
        </p:nvSpPr>
        <p:spPr>
          <a:xfrm>
            <a:off x="9454174" y="359177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49" name="Oval 159">
            <a:extLst>
              <a:ext uri="{FF2B5EF4-FFF2-40B4-BE49-F238E27FC236}">
                <a16:creationId xmlns:a16="http://schemas.microsoft.com/office/drawing/2014/main" id="{05F633F7-2F16-49BE-8A23-5F0C8B977B2C}"/>
              </a:ext>
            </a:extLst>
          </p:cNvPr>
          <p:cNvSpPr/>
          <p:nvPr/>
        </p:nvSpPr>
        <p:spPr>
          <a:xfrm>
            <a:off x="10653209" y="3798457"/>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sp>
        <p:nvSpPr>
          <p:cNvPr id="150" name="Oval 159">
            <a:extLst>
              <a:ext uri="{FF2B5EF4-FFF2-40B4-BE49-F238E27FC236}">
                <a16:creationId xmlns:a16="http://schemas.microsoft.com/office/drawing/2014/main" id="{F4113233-4FB4-402E-91C2-5905456E0852}"/>
              </a:ext>
            </a:extLst>
          </p:cNvPr>
          <p:cNvSpPr/>
          <p:nvPr/>
        </p:nvSpPr>
        <p:spPr>
          <a:xfrm>
            <a:off x="4035132" y="366946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51" name="Oval 159">
            <a:extLst>
              <a:ext uri="{FF2B5EF4-FFF2-40B4-BE49-F238E27FC236}">
                <a16:creationId xmlns:a16="http://schemas.microsoft.com/office/drawing/2014/main" id="{EC337293-6637-4252-9638-7FE8FF6E390C}"/>
              </a:ext>
            </a:extLst>
          </p:cNvPr>
          <p:cNvSpPr/>
          <p:nvPr/>
        </p:nvSpPr>
        <p:spPr>
          <a:xfrm>
            <a:off x="5338150" y="387288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grpSp>
        <p:nvGrpSpPr>
          <p:cNvPr id="10" name="그룹 9">
            <a:extLst>
              <a:ext uri="{FF2B5EF4-FFF2-40B4-BE49-F238E27FC236}">
                <a16:creationId xmlns:a16="http://schemas.microsoft.com/office/drawing/2014/main" id="{35AE09D4-AEA2-4131-A8A7-2642EC8AE3CE}"/>
              </a:ext>
            </a:extLst>
          </p:cNvPr>
          <p:cNvGrpSpPr/>
          <p:nvPr/>
        </p:nvGrpSpPr>
        <p:grpSpPr>
          <a:xfrm>
            <a:off x="269738" y="3503821"/>
            <a:ext cx="822008" cy="1106192"/>
            <a:chOff x="269738" y="3554621"/>
            <a:chExt cx="822008" cy="1106192"/>
          </a:xfrm>
        </p:grpSpPr>
        <p:sp>
          <p:nvSpPr>
            <p:cNvPr id="105" name="KV Cache Manager">
              <a:extLst>
                <a:ext uri="{FF2B5EF4-FFF2-40B4-BE49-F238E27FC236}">
                  <a16:creationId xmlns:a16="http://schemas.microsoft.com/office/drawing/2014/main" id="{7EC765EE-7364-4ED8-8648-CF058ABEB2F5}"/>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08" name="KV Cache Manager">
              <a:extLst>
                <a:ext uri="{FF2B5EF4-FFF2-40B4-BE49-F238E27FC236}">
                  <a16:creationId xmlns:a16="http://schemas.microsoft.com/office/drawing/2014/main" id="{CD65D1AD-FBC8-45AB-A99E-D572E315D7C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09" name="KV Cache Manager">
              <a:extLst>
                <a:ext uri="{FF2B5EF4-FFF2-40B4-BE49-F238E27FC236}">
                  <a16:creationId xmlns:a16="http://schemas.microsoft.com/office/drawing/2014/main" id="{FB7AF9AC-DA2C-4E57-A8E2-DFB4F10C25AF}"/>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10" name="직사각형 109">
              <a:extLst>
                <a:ext uri="{FF2B5EF4-FFF2-40B4-BE49-F238E27FC236}">
                  <a16:creationId xmlns:a16="http://schemas.microsoft.com/office/drawing/2014/main" id="{7120530C-2B1D-42F1-A50E-B319829F4F9E}"/>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11" name="KV Cache Manager">
              <a:extLst>
                <a:ext uri="{FF2B5EF4-FFF2-40B4-BE49-F238E27FC236}">
                  <a16:creationId xmlns:a16="http://schemas.microsoft.com/office/drawing/2014/main" id="{CB336F26-629B-4FD2-9C8D-092385750622}"/>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Tree>
    <p:extLst>
      <p:ext uri="{BB962C8B-B14F-4D97-AF65-F5344CB8AC3E}">
        <p14:creationId xmlns:p14="http://schemas.microsoft.com/office/powerpoint/2010/main" val="275161789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52629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561872">
                  <a:extLst>
                    <a:ext uri="{9D8B030D-6E8A-4147-A177-3AD203B41FA5}">
                      <a16:colId xmlns:a16="http://schemas.microsoft.com/office/drawing/2014/main" val="5654497"/>
                    </a:ext>
                  </a:extLst>
                </a:gridCol>
                <a:gridCol w="1282700">
                  <a:extLst>
                    <a:ext uri="{9D8B030D-6E8A-4147-A177-3AD203B41FA5}">
                      <a16:colId xmlns:a16="http://schemas.microsoft.com/office/drawing/2014/main" val="2953438935"/>
                    </a:ext>
                  </a:extLst>
                </a:gridCol>
                <a:gridCol w="4403725">
                  <a:extLst>
                    <a:ext uri="{9D8B030D-6E8A-4147-A177-3AD203B41FA5}">
                      <a16:colId xmlns:a16="http://schemas.microsoft.com/office/drawing/2014/main" val="3070054508"/>
                    </a:ext>
                  </a:extLst>
                </a:gridCol>
                <a:gridCol w="1623811">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특성에 우선한 이동</a:t>
                      </a:r>
                      <a:endParaRPr lang="ko-KR" altLang="en-US" sz="1200" b="1" strike="noStrike"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특성에 우선한 이동 </a:t>
                      </a:r>
                      <a:r>
                        <a:rPr lang="en-US" altLang="ko-KR" sz="1200" b="1" strike="noStrike" baseline="0" dirty="0">
                          <a:solidFill>
                            <a:srgbClr val="FF0000"/>
                          </a:solidFill>
                        </a:rPr>
                        <a:t>+ </a:t>
                      </a:r>
                      <a:r>
                        <a:rPr lang="ko-KR" altLang="en-US" sz="1200" b="1" strike="noStrike" baseline="0" dirty="0">
                          <a:solidFill>
                            <a:srgbClr val="FF0000"/>
                          </a:solidFill>
                        </a:rPr>
                        <a:t>보완</a:t>
                      </a:r>
                      <a:endParaRPr lang="ko-KR" altLang="en-US" sz="1200" b="1" strike="noStrike"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101412">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502920">
                <a:tc rowSpan="2">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rowSpan="2" gridSpan="2">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ko-KR" altLang="en-US" sz="1200" b="0" strike="noStrike" baseline="0" dirty="0">
                          <a:solidFill>
                            <a:schemeClr val="tx1"/>
                          </a:solidFill>
                          <a:effectLst/>
                        </a:rPr>
                        <a:t>개선점</a:t>
                      </a:r>
                      <a:endParaRPr lang="en-US" altLang="ko-KR" sz="1200" b="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baseline="0" dirty="0">
                          <a:solidFill>
                            <a:schemeClr val="tx1"/>
                          </a:solidFill>
                          <a:effectLst/>
                        </a:rPr>
                        <a:t>Behavior </a:t>
                      </a:r>
                      <a:r>
                        <a:rPr lang="ko-KR" altLang="en-US" sz="1200" b="0" strike="noStrike" baseline="0" dirty="0">
                          <a:solidFill>
                            <a:schemeClr val="tx1"/>
                          </a:solidFill>
                          <a:effectLst/>
                        </a:rPr>
                        <a:t>예측에 의해 </a:t>
                      </a:r>
                      <a:r>
                        <a:rPr lang="en-US" altLang="ko-KR" sz="1200" b="0" strike="noStrike" baseline="0" dirty="0">
                          <a:solidFill>
                            <a:schemeClr val="tx1"/>
                          </a:solidFill>
                          <a:effectLst/>
                        </a:rPr>
                        <a:t>Idle Data</a:t>
                      </a:r>
                      <a:r>
                        <a:rPr lang="ko-KR" altLang="en-US" sz="1200" b="0" strike="noStrike" baseline="0" dirty="0">
                          <a:solidFill>
                            <a:schemeClr val="tx1"/>
                          </a:solidFill>
                          <a:effectLst/>
                        </a:rPr>
                        <a:t>의 불필요한 고속 메모리 점유 가능</a:t>
                      </a:r>
                      <a:r>
                        <a:rPr lang="en-US" altLang="ko-KR" sz="1200" b="0" strike="noStrike" baseline="0" dirty="0">
                          <a:solidFill>
                            <a:schemeClr val="tx1"/>
                          </a:solidFill>
                          <a:effectLst/>
                        </a:rPr>
                        <a:t> (QA2)</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baseline="0" dirty="0">
                          <a:solidFill>
                            <a:srgbClr val="FF0000"/>
                          </a:solidFill>
                          <a:effectLst/>
                          <a:latin typeface="맑은 고딕" panose="020B0503020000020004" pitchFamily="50" charset="-127"/>
                          <a:ea typeface="맑은 고딕" panose="020B0503020000020004" pitchFamily="50" charset="-127"/>
                        </a:rPr>
                        <a:t>→ </a:t>
                      </a:r>
                      <a:r>
                        <a:rPr lang="en-US" altLang="ko-KR" sz="1200" b="0" strike="noStrike" baseline="0" dirty="0">
                          <a:solidFill>
                            <a:srgbClr val="FF0000"/>
                          </a:solidFill>
                          <a:effectLst/>
                          <a:latin typeface="맑은 고딕" panose="020B0503020000020004" pitchFamily="50" charset="-127"/>
                          <a:ea typeface="+mn-ea"/>
                        </a:rPr>
                        <a:t>HBM stage-in </a:t>
                      </a:r>
                      <a:r>
                        <a:rPr lang="ko-KR" altLang="en-US" sz="1200" b="0" strike="noStrike" baseline="0" dirty="0">
                          <a:solidFill>
                            <a:srgbClr val="FF0000"/>
                          </a:solidFill>
                          <a:effectLst/>
                          <a:latin typeface="맑은 고딕" panose="020B0503020000020004" pitchFamily="50" charset="-127"/>
                          <a:ea typeface="+mn-ea"/>
                        </a:rPr>
                        <a:t>시 </a:t>
                      </a:r>
                      <a:r>
                        <a:rPr lang="en-US" altLang="ko-KR" sz="1200" b="0" strike="noStrike" baseline="0" dirty="0">
                          <a:solidFill>
                            <a:srgbClr val="FF0000"/>
                          </a:solidFill>
                          <a:effectLst/>
                          <a:latin typeface="맑은 고딕" panose="020B0503020000020004" pitchFamily="50" charset="-127"/>
                          <a:ea typeface="+mn-ea"/>
                        </a:rPr>
                        <a:t>lease</a:t>
                      </a:r>
                      <a:r>
                        <a:rPr lang="ko-KR" altLang="en-US" sz="1200" b="0" strike="noStrike" baseline="0" dirty="0">
                          <a:solidFill>
                            <a:srgbClr val="FF0000"/>
                          </a:solidFill>
                          <a:effectLst/>
                          <a:latin typeface="맑은 고딕" panose="020B0503020000020004" pitchFamily="50" charset="-127"/>
                          <a:ea typeface="+mn-ea"/>
                        </a:rPr>
                        <a:t>를 부여하여 주기적 </a:t>
                      </a:r>
                      <a:r>
                        <a:rPr lang="en-US" altLang="ko-KR" sz="1200" b="0" strike="noStrike" baseline="0" dirty="0">
                          <a:solidFill>
                            <a:srgbClr val="FF0000"/>
                          </a:solidFill>
                          <a:effectLst/>
                          <a:latin typeface="맑은 고딕" panose="020B0503020000020004" pitchFamily="50" charset="-127"/>
                          <a:ea typeface="+mn-ea"/>
                        </a:rPr>
                        <a:t>migration </a:t>
                      </a:r>
                      <a:r>
                        <a:rPr lang="ko-KR" altLang="en-US" sz="1200" b="0" strike="noStrike" baseline="0" dirty="0">
                          <a:solidFill>
                            <a:srgbClr val="FF0000"/>
                          </a:solidFill>
                          <a:effectLst/>
                          <a:latin typeface="맑은 고딕" panose="020B0503020000020004" pitchFamily="50" charset="-127"/>
                          <a:ea typeface="+mn-ea"/>
                        </a:rPr>
                        <a:t>재평가</a:t>
                      </a:r>
                      <a:endParaRPr lang="en-US" altLang="ko-KR" sz="1200" b="0" strike="noStrike" baseline="0" dirty="0">
                        <a:solidFill>
                          <a:srgbClr val="FF0000"/>
                        </a:solidFill>
                        <a:effectLst/>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baseline="0" dirty="0">
                          <a:solidFill>
                            <a:srgbClr val="FF0000"/>
                          </a:solidFill>
                          <a:effectLst/>
                          <a:latin typeface="맑은 고딕" panose="020B0503020000020004" pitchFamily="50" charset="-127"/>
                          <a:ea typeface="+mn-ea"/>
                        </a:rPr>
                        <a:t>→ </a:t>
                      </a:r>
                      <a:r>
                        <a:rPr lang="ko-KR" altLang="en-US" sz="1200" b="0" strike="noStrike" baseline="0" dirty="0">
                          <a:solidFill>
                            <a:srgbClr val="FF0000"/>
                          </a:solidFill>
                          <a:effectLst/>
                          <a:latin typeface="맑은 고딕" panose="020B0503020000020004" pitchFamily="50" charset="-127"/>
                          <a:ea typeface="+mn-ea"/>
                        </a:rPr>
                        <a:t>최신 </a:t>
                      </a:r>
                      <a:r>
                        <a:rPr lang="en-US" altLang="ko-KR" sz="1200" b="0" strike="noStrike" baseline="0" dirty="0">
                          <a:solidFill>
                            <a:srgbClr val="FF0000"/>
                          </a:solidFill>
                          <a:effectLst/>
                          <a:latin typeface="맑은 고딕" panose="020B0503020000020004" pitchFamily="50" charset="-127"/>
                          <a:ea typeface="+mn-ea"/>
                        </a:rPr>
                        <a:t>behavior </a:t>
                      </a:r>
                      <a:r>
                        <a:rPr lang="ko-KR" altLang="en-US" sz="1200" b="0" strike="noStrike" baseline="0" dirty="0">
                          <a:solidFill>
                            <a:srgbClr val="FF0000"/>
                          </a:solidFill>
                          <a:effectLst/>
                          <a:latin typeface="맑은 고딕" panose="020B0503020000020004" pitchFamily="50" charset="-127"/>
                          <a:ea typeface="+mn-ea"/>
                        </a:rPr>
                        <a:t>기반으로 </a:t>
                      </a:r>
                      <a:r>
                        <a:rPr lang="en-US" altLang="ko-KR" sz="1200" b="0" strike="noStrike" baseline="0" dirty="0">
                          <a:solidFill>
                            <a:srgbClr val="FF0000"/>
                          </a:solidFill>
                          <a:effectLst/>
                          <a:latin typeface="맑은 고딕" panose="020B0503020000020004" pitchFamily="50" charset="-127"/>
                          <a:ea typeface="+mn-ea"/>
                        </a:rPr>
                        <a:t>lease </a:t>
                      </a:r>
                      <a:r>
                        <a:rPr lang="ko-KR" altLang="en-US" sz="1200" b="0" strike="noStrike" baseline="0" dirty="0" err="1">
                          <a:solidFill>
                            <a:srgbClr val="FF0000"/>
                          </a:solidFill>
                          <a:effectLst/>
                          <a:latin typeface="맑은 고딕" panose="020B0503020000020004" pitchFamily="50" charset="-127"/>
                          <a:ea typeface="+mn-ea"/>
                        </a:rPr>
                        <a:t>연장∙선별</a:t>
                      </a:r>
                      <a:r>
                        <a:rPr lang="ko-KR" altLang="en-US" sz="1200" b="0" strike="noStrike" baseline="0" dirty="0">
                          <a:solidFill>
                            <a:srgbClr val="FF0000"/>
                          </a:solidFill>
                          <a:effectLst/>
                          <a:latin typeface="맑은 고딕" panose="020B0503020000020004" pitchFamily="50" charset="-127"/>
                          <a:ea typeface="+mn-ea"/>
                        </a:rPr>
                        <a:t> </a:t>
                      </a:r>
                      <a:r>
                        <a:rPr lang="en-US" altLang="ko-KR" sz="1200" b="0" strike="noStrike" baseline="0" dirty="0">
                          <a:solidFill>
                            <a:srgbClr val="FF0000"/>
                          </a:solidFill>
                          <a:effectLst/>
                          <a:latin typeface="맑은 고딕" panose="020B0503020000020004" pitchFamily="50" charset="-127"/>
                          <a:ea typeface="+mn-ea"/>
                        </a:rPr>
                        <a:t>demotion</a:t>
                      </a:r>
                      <a:r>
                        <a:rPr lang="ko-KR" altLang="en-US" sz="1200" b="0" strike="noStrike" baseline="0" dirty="0">
                          <a:solidFill>
                            <a:srgbClr val="FF0000"/>
                          </a:solidFill>
                          <a:effectLst/>
                          <a:latin typeface="맑은 고딕" panose="020B0503020000020004" pitchFamily="50" charset="-127"/>
                          <a:ea typeface="+mn-ea"/>
                        </a:rPr>
                        <a:t>하여 </a:t>
                      </a:r>
                      <a:r>
                        <a:rPr lang="en-US" altLang="ko-KR" sz="1200" b="0" strike="noStrike" baseline="0" dirty="0">
                          <a:solidFill>
                            <a:srgbClr val="FF0000"/>
                          </a:solidFill>
                          <a:effectLst/>
                          <a:latin typeface="맑은 고딕" panose="020B0503020000020004" pitchFamily="50" charset="-127"/>
                          <a:ea typeface="+mn-ea"/>
                        </a:rPr>
                        <a:t>HBM </a:t>
                      </a:r>
                      <a:r>
                        <a:rPr lang="ko-KR" altLang="en-US" sz="1200" b="0" strike="noStrike" baseline="0" dirty="0">
                          <a:solidFill>
                            <a:srgbClr val="FF0000"/>
                          </a:solidFill>
                          <a:effectLst/>
                          <a:latin typeface="맑은 고딕" panose="020B0503020000020004" pitchFamily="50" charset="-127"/>
                          <a:ea typeface="+mn-ea"/>
                        </a:rPr>
                        <a:t>점유율 제한</a:t>
                      </a:r>
                      <a:endParaRPr lang="en-US" altLang="ko-KR" sz="1200" b="0" strike="noStrike" baseline="0" dirty="0">
                        <a:solidFill>
                          <a:srgbClr val="FF0000"/>
                        </a:solidFill>
                        <a:effectLst/>
                        <a:latin typeface="맑은 고딕" panose="020B0503020000020004" pitchFamily="50" charset="-127"/>
                        <a:ea typeface="맑은 고딕" panose="020B0503020000020004" pitchFamily="50" charset="-127"/>
                      </a:endParaRPr>
                    </a:p>
                    <a:p>
                      <a:pPr marL="228600" indent="-228600" latinLnBrk="1">
                        <a:lnSpc>
                          <a:spcPct val="100000"/>
                        </a:lnSpc>
                        <a:buFont typeface="Wingdings" panose="05000000000000000000" pitchFamily="2" charset="2"/>
                        <a:buChar char="§"/>
                      </a:pPr>
                      <a:r>
                        <a:rPr lang="ko-KR" altLang="en-US" sz="1200" b="0" dirty="0"/>
                        <a:t>신규 </a:t>
                      </a:r>
                      <a:r>
                        <a:rPr lang="en-US" altLang="ko-KR" sz="1200" b="0" dirty="0"/>
                        <a:t>workload</a:t>
                      </a:r>
                      <a:r>
                        <a:rPr lang="ko-KR" altLang="en-US" sz="1200" b="0" dirty="0"/>
                        <a:t> 추가 시 변경 영향 범위 큼 </a:t>
                      </a:r>
                      <a:r>
                        <a:rPr lang="en-US" altLang="ko-KR" sz="1200" b="0" dirty="0"/>
                        <a:t>(QA3)</a:t>
                      </a:r>
                    </a:p>
                    <a:p>
                      <a:pPr marL="0" indent="0" latinLnBrk="1">
                        <a:lnSpc>
                          <a:spcPct val="100000"/>
                        </a:lnSpc>
                        <a:buFont typeface="Wingdings" panose="05000000000000000000" pitchFamily="2" charset="2"/>
                        <a:buNone/>
                      </a:pPr>
                      <a:r>
                        <a:rPr lang="en-US" altLang="ko-KR" sz="1200" b="0" strike="noStrike" baseline="0" dirty="0">
                          <a:solidFill>
                            <a:srgbClr val="FF0000"/>
                          </a:solidFill>
                          <a:effectLst/>
                          <a:latin typeface="맑은 고딕" panose="020B0503020000020004" pitchFamily="50" charset="-127"/>
                          <a:ea typeface="+mn-ea"/>
                        </a:rPr>
                        <a:t>→</a:t>
                      </a:r>
                      <a:r>
                        <a:rPr lang="en-US" altLang="ko-KR" sz="1200" b="0" dirty="0">
                          <a:solidFill>
                            <a:srgbClr val="FF0000"/>
                          </a:solidFill>
                        </a:rPr>
                        <a:t> Workload</a:t>
                      </a:r>
                      <a:r>
                        <a:rPr lang="ko-KR" altLang="en-US" sz="1200" b="0" dirty="0">
                          <a:solidFill>
                            <a:srgbClr val="FF0000"/>
                          </a:solidFill>
                        </a:rPr>
                        <a:t>별 특성을 </a:t>
                      </a:r>
                      <a:r>
                        <a:rPr lang="en-US" altLang="ko-KR" sz="1200" b="0" dirty="0" err="1">
                          <a:solidFill>
                            <a:srgbClr val="FF0000"/>
                          </a:solidFill>
                        </a:rPr>
                        <a:t>Adapter</a:t>
                      </a:r>
                      <a:r>
                        <a:rPr lang="en-US" altLang="ko-KR" sz="1200" b="0" dirty="0" err="1">
                          <a:solidFill>
                            <a:srgbClr val="FF0000"/>
                          </a:solidFill>
                          <a:latin typeface="맑은 고딕" panose="020B0503020000020004" pitchFamily="50" charset="-127"/>
                          <a:ea typeface="맑은 고딕" panose="020B0503020000020004" pitchFamily="50" charset="-127"/>
                        </a:rPr>
                        <a:t>∙Strategy</a:t>
                      </a:r>
                      <a:r>
                        <a:rPr lang="ko-KR" altLang="en-US" sz="1200" b="0" dirty="0">
                          <a:solidFill>
                            <a:srgbClr val="FF0000"/>
                          </a:solidFill>
                          <a:latin typeface="맑은 고딕" panose="020B0503020000020004" pitchFamily="50" charset="-127"/>
                          <a:ea typeface="맑은 고딕" panose="020B0503020000020004" pitchFamily="50" charset="-127"/>
                        </a:rPr>
                        <a:t>로 분리하여 변경 범위 국소화</a:t>
                      </a:r>
                      <a:endParaRPr lang="en-US" altLang="ko-KR" sz="1200" b="0"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rowSpan="2" hMerge="1">
                  <a:txBody>
                    <a:bodyPr/>
                    <a:lstStyle/>
                    <a:p>
                      <a:pPr latinLnBrk="1"/>
                      <a:endParaRPr lang="ko-KR" altLang="en-US"/>
                    </a:p>
                  </a:txBody>
                  <a:tcPr/>
                </a:tc>
                <a:extLst>
                  <a:ext uri="{0D108BD9-81ED-4DB2-BD59-A6C34878D82A}">
                    <a16:rowId xmlns:a16="http://schemas.microsoft.com/office/drawing/2014/main" val="3982029663"/>
                  </a:ext>
                </a:extLst>
              </a:tr>
              <a:tr h="502920">
                <a:tc v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baseline="0" dirty="0">
                          <a:solidFill>
                            <a:schemeClr val="tx1"/>
                          </a:solidFill>
                          <a:effectLst/>
                        </a:rPr>
                        <a:t>Behavior </a:t>
                      </a:r>
                      <a:r>
                        <a:rPr lang="ko-KR" altLang="en-US" sz="1200" b="0" strike="noStrike" baseline="0" dirty="0">
                          <a:solidFill>
                            <a:schemeClr val="tx1"/>
                          </a:solidFill>
                          <a:effectLst/>
                        </a:rPr>
                        <a:t>예측에 의해 </a:t>
                      </a:r>
                      <a:r>
                        <a:rPr lang="en-US" altLang="ko-KR" sz="1200" b="0" strike="noStrike" baseline="0" dirty="0">
                          <a:solidFill>
                            <a:schemeClr val="tx1"/>
                          </a:solidFill>
                          <a:effectLst/>
                        </a:rPr>
                        <a:t>idle data</a:t>
                      </a:r>
                      <a:r>
                        <a:rPr lang="ko-KR" altLang="en-US" sz="1200" b="0" strike="noStrike" baseline="0" dirty="0">
                          <a:solidFill>
                            <a:schemeClr val="tx1"/>
                          </a:solidFill>
                          <a:effectLst/>
                        </a:rPr>
                        <a:t>의 불필요한 고속 메모리 점유 가능</a:t>
                      </a:r>
                      <a:r>
                        <a:rPr lang="en-US" altLang="ko-KR" sz="1200" b="0" strike="noStrike" baseline="0" dirty="0">
                          <a:solidFill>
                            <a:schemeClr val="tx1"/>
                          </a:solidFill>
                          <a:effectLst/>
                        </a:rPr>
                        <a:t> (QA2)</a:t>
                      </a:r>
                    </a:p>
                    <a:p>
                      <a:pPr marL="228600" indent="-228600" latinLnBrk="1">
                        <a:lnSpc>
                          <a:spcPct val="100000"/>
                        </a:lnSpc>
                        <a:buFont typeface="Wingdings" panose="05000000000000000000" pitchFamily="2" charset="2"/>
                        <a:buChar char="§"/>
                      </a:pPr>
                      <a:r>
                        <a:rPr lang="ko-KR" altLang="en-US" sz="1200" b="0" dirty="0"/>
                        <a:t>신규 </a:t>
                      </a:r>
                      <a:r>
                        <a:rPr lang="en-US" altLang="ko-KR" sz="1200" b="0" dirty="0"/>
                        <a:t>workload</a:t>
                      </a:r>
                      <a:r>
                        <a:rPr lang="ko-KR" altLang="en-US" sz="1200" b="0" dirty="0"/>
                        <a:t> 추가 시 변경 영향 범위 큼 </a:t>
                      </a:r>
                      <a:r>
                        <a:rPr lang="en-US" altLang="ko-KR" sz="1200" b="0" dirty="0"/>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vMerge="1">
                  <a:txBody>
                    <a:bodyPr/>
                    <a:lstStyle/>
                    <a:p>
                      <a:pPr latinLnBrk="1"/>
                      <a:endParaRPr lang="ko-KR" altLang="en-US" dirty="0"/>
                    </a:p>
                  </a:txBody>
                  <a:tcPr/>
                </a:tc>
                <a:tc hMerge="1" vMerge="1">
                  <a:txBody>
                    <a:bodyPr/>
                    <a:lstStyle/>
                    <a:p>
                      <a:pPr latinLnBrk="1"/>
                      <a:endParaRPr lang="ko-KR" altLang="en-US"/>
                    </a:p>
                  </a:txBody>
                  <a:tcPr/>
                </a:tc>
                <a:extLst>
                  <a:ext uri="{0D108BD9-81ED-4DB2-BD59-A6C34878D82A}">
                    <a16:rowId xmlns:a16="http://schemas.microsoft.com/office/drawing/2014/main" val="885847192"/>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b="0" dirty="0">
                          <a:solidFill>
                            <a:srgbClr val="FF0000"/>
                          </a:solidFill>
                          <a:latin typeface="+mn-lt"/>
                          <a:ea typeface="맑은 고딕"/>
                        </a:rPr>
                        <a:t>★</a:t>
                      </a: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a:t>
                      </a:r>
                      <a:r>
                        <a:rPr lang="ko-KR" altLang="en-US" sz="1200" b="0" dirty="0">
                          <a:solidFill>
                            <a:srgbClr val="FF0000"/>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grpSp>
        <p:nvGrpSpPr>
          <p:cNvPr id="4" name="그룹 3">
            <a:extLst>
              <a:ext uri="{FF2B5EF4-FFF2-40B4-BE49-F238E27FC236}">
                <a16:creationId xmlns:a16="http://schemas.microsoft.com/office/drawing/2014/main" id="{8C0D008D-E663-4A20-B5B3-57E9FA4ACE31}"/>
              </a:ext>
            </a:extLst>
          </p:cNvPr>
          <p:cNvGrpSpPr/>
          <p:nvPr/>
        </p:nvGrpSpPr>
        <p:grpSpPr>
          <a:xfrm>
            <a:off x="1267665" y="1710265"/>
            <a:ext cx="4472626" cy="2529043"/>
            <a:chOff x="8460993" y="4299654"/>
            <a:chExt cx="4919889" cy="2781947"/>
          </a:xfrm>
        </p:grpSpPr>
        <p:grpSp>
          <p:nvGrpSpPr>
            <p:cNvPr id="68" name="그룹 67">
              <a:extLst>
                <a:ext uri="{FF2B5EF4-FFF2-40B4-BE49-F238E27FC236}">
                  <a16:creationId xmlns:a16="http://schemas.microsoft.com/office/drawing/2014/main" id="{A6F027E4-C07E-4C7B-8A9A-F34DCA89C707}"/>
                </a:ext>
              </a:extLst>
            </p:cNvPr>
            <p:cNvGrpSpPr/>
            <p:nvPr/>
          </p:nvGrpSpPr>
          <p:grpSpPr>
            <a:xfrm>
              <a:off x="8787997" y="5629991"/>
              <a:ext cx="1919939" cy="1090190"/>
              <a:chOff x="1208848" y="2542921"/>
              <a:chExt cx="2013795" cy="1376305"/>
            </a:xfrm>
          </p:grpSpPr>
          <p:sp>
            <p:nvSpPr>
              <p:cNvPr id="69" name="DecisionPlane">
                <a:extLst>
                  <a:ext uri="{FF2B5EF4-FFF2-40B4-BE49-F238E27FC236}">
                    <a16:creationId xmlns:a16="http://schemas.microsoft.com/office/drawing/2014/main" id="{B251BC20-45B9-4D8E-B907-08B6AC89E957}"/>
                  </a:ext>
                </a:extLst>
              </p:cNvPr>
              <p:cNvSpPr/>
              <p:nvPr/>
            </p:nvSpPr>
            <p:spPr>
              <a:xfrm>
                <a:off x="1208848" y="2678899"/>
                <a:ext cx="2013795" cy="1240327"/>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70" name="DecisionPlane tab">
                <a:extLst>
                  <a:ext uri="{FF2B5EF4-FFF2-40B4-BE49-F238E27FC236}">
                    <a16:creationId xmlns:a16="http://schemas.microsoft.com/office/drawing/2014/main" id="{25DF3E6C-2B0F-401A-A7E8-251485B1A9C9}"/>
                  </a:ext>
                </a:extLst>
              </p:cNvPr>
              <p:cNvSpPr/>
              <p:nvPr/>
            </p:nvSpPr>
            <p:spPr>
              <a:xfrm>
                <a:off x="1208848" y="2542921"/>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71" name="KV Cache Manager">
                <a:extLst>
                  <a:ext uri="{FF2B5EF4-FFF2-40B4-BE49-F238E27FC236}">
                    <a16:creationId xmlns:a16="http://schemas.microsoft.com/office/drawing/2014/main" id="{A2DFDAA4-D471-4B5B-A5B7-BD23A318ADAD}"/>
                  </a:ext>
                </a:extLst>
              </p:cNvPr>
              <p:cNvSpPr/>
              <p:nvPr/>
            </p:nvSpPr>
            <p:spPr>
              <a:xfrm>
                <a:off x="1508045" y="326225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Telemetry Collector</a:t>
                </a:r>
                <a:endParaRPr lang="ko-KR" altLang="en-US" sz="900" dirty="0">
                  <a:solidFill>
                    <a:schemeClr val="tx1"/>
                  </a:solidFill>
                </a:endParaRPr>
              </a:p>
            </p:txBody>
          </p:sp>
          <p:sp>
            <p:nvSpPr>
              <p:cNvPr id="72" name="KV Cache Manager">
                <a:extLst>
                  <a:ext uri="{FF2B5EF4-FFF2-40B4-BE49-F238E27FC236}">
                    <a16:creationId xmlns:a16="http://schemas.microsoft.com/office/drawing/2014/main" id="{A967148C-1233-4FFF-B7B1-22FD0821BC6B}"/>
                  </a:ext>
                </a:extLst>
              </p:cNvPr>
              <p:cNvSpPr/>
              <p:nvPr/>
            </p:nvSpPr>
            <p:spPr>
              <a:xfrm>
                <a:off x="1508043" y="3597267"/>
                <a:ext cx="1409091" cy="255448"/>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tx1"/>
                    </a:solidFill>
                  </a:rPr>
                  <a:t>Memory Registry</a:t>
                </a:r>
                <a:endParaRPr lang="ko-KR" altLang="en-US" sz="900" dirty="0">
                  <a:solidFill>
                    <a:schemeClr val="tx1"/>
                  </a:solidFill>
                </a:endParaRPr>
              </a:p>
            </p:txBody>
          </p:sp>
          <p:sp>
            <p:nvSpPr>
              <p:cNvPr id="73" name="KV Cache Manager">
                <a:extLst>
                  <a:ext uri="{FF2B5EF4-FFF2-40B4-BE49-F238E27FC236}">
                    <a16:creationId xmlns:a16="http://schemas.microsoft.com/office/drawing/2014/main" id="{02C552B1-EF26-421C-8D2F-784F88A3C8C6}"/>
                  </a:ext>
                </a:extLst>
              </p:cNvP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74" name="그룹 73">
              <a:extLst>
                <a:ext uri="{FF2B5EF4-FFF2-40B4-BE49-F238E27FC236}">
                  <a16:creationId xmlns:a16="http://schemas.microsoft.com/office/drawing/2014/main" id="{E6FE4EF0-21B9-45F7-AC63-0EF120A6E418}"/>
                </a:ext>
              </a:extLst>
            </p:cNvPr>
            <p:cNvGrpSpPr/>
            <p:nvPr/>
          </p:nvGrpSpPr>
          <p:grpSpPr>
            <a:xfrm>
              <a:off x="11268664" y="5741016"/>
              <a:ext cx="1891050" cy="1239373"/>
              <a:chOff x="4173997" y="2581540"/>
              <a:chExt cx="1983494" cy="1577815"/>
            </a:xfrm>
          </p:grpSpPr>
          <p:sp>
            <p:nvSpPr>
              <p:cNvPr id="75" name="DecisionPlane">
                <a:extLst>
                  <a:ext uri="{FF2B5EF4-FFF2-40B4-BE49-F238E27FC236}">
                    <a16:creationId xmlns:a16="http://schemas.microsoft.com/office/drawing/2014/main" id="{092292A8-5646-4786-A84B-96911DCC1F11}"/>
                  </a:ext>
                </a:extLst>
              </p:cNvPr>
              <p:cNvSpPr/>
              <p:nvPr/>
            </p:nvSpPr>
            <p:spPr>
              <a:xfrm>
                <a:off x="4173997" y="2708261"/>
                <a:ext cx="1983494" cy="1451094"/>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76" name="DecisionPlane tab">
                <a:extLst>
                  <a:ext uri="{FF2B5EF4-FFF2-40B4-BE49-F238E27FC236}">
                    <a16:creationId xmlns:a16="http://schemas.microsoft.com/office/drawing/2014/main" id="{100653E3-8F1F-45F2-B4E3-92C00897DE14}"/>
                  </a:ext>
                </a:extLst>
              </p:cNvPr>
              <p:cNvSpPr/>
              <p:nvPr/>
            </p:nvSpPr>
            <p:spPr>
              <a:xfrm>
                <a:off x="4176509" y="2581540"/>
                <a:ext cx="264000" cy="130999"/>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77" name="KV Cache Manager">
                <a:extLst>
                  <a:ext uri="{FF2B5EF4-FFF2-40B4-BE49-F238E27FC236}">
                    <a16:creationId xmlns:a16="http://schemas.microsoft.com/office/drawing/2014/main" id="{B206383E-4EC5-43D3-876A-84644D7AD94C}"/>
                  </a:ext>
                </a:extLst>
              </p:cNvPr>
              <p:cNvSpPr/>
              <p:nvPr/>
            </p:nvSpPr>
            <p:spPr>
              <a:xfrm>
                <a:off x="4493949" y="3060767"/>
                <a:ext cx="1409091" cy="2809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78" name="KV Cache Manager">
                <a:extLst>
                  <a:ext uri="{FF2B5EF4-FFF2-40B4-BE49-F238E27FC236}">
                    <a16:creationId xmlns:a16="http://schemas.microsoft.com/office/drawing/2014/main" id="{232566BC-0B75-45B7-8FC1-4EE93903BBF8}"/>
                  </a:ext>
                </a:extLst>
              </p:cNvPr>
              <p:cNvSpPr/>
              <p:nvPr/>
            </p:nvSpPr>
            <p:spPr>
              <a:xfrm>
                <a:off x="4493807" y="3584303"/>
                <a:ext cx="1409091" cy="280992"/>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Transfer Handler</a:t>
                </a:r>
                <a:endParaRPr lang="ko-KR" altLang="en-US" sz="900" dirty="0">
                  <a:solidFill>
                    <a:schemeClr val="bg1"/>
                  </a:solidFill>
                </a:endParaRPr>
              </a:p>
            </p:txBody>
          </p:sp>
        </p:grpSp>
        <p:cxnSp>
          <p:nvCxnSpPr>
            <p:cNvPr id="79" name="① Event">
              <a:extLst>
                <a:ext uri="{FF2B5EF4-FFF2-40B4-BE49-F238E27FC236}">
                  <a16:creationId xmlns:a16="http://schemas.microsoft.com/office/drawing/2014/main" id="{CEDD7738-253E-4520-B2F4-C3561EB6323A}"/>
                </a:ext>
              </a:extLst>
            </p:cNvPr>
            <p:cNvCxnSpPr>
              <a:stCxn id="77" idx="2"/>
              <a:endCxn id="78" idx="0"/>
            </p:cNvCxnSpPr>
            <p:nvPr/>
          </p:nvCxnSpPr>
          <p:spPr>
            <a:xfrm flipH="1">
              <a:off x="12245277" y="6338167"/>
              <a:ext cx="135" cy="190518"/>
            </a:xfrm>
            <a:prstGeom prst="line">
              <a:avLst/>
            </a:prstGeom>
            <a:ln w="9525">
              <a:solidFill>
                <a:schemeClr val="tx1"/>
              </a:solidFill>
              <a:prstDash val="dash"/>
              <a:tailEnd type="arrow"/>
            </a:ln>
          </p:spPr>
        </p:cxnSp>
        <p:sp>
          <p:nvSpPr>
            <p:cNvPr id="80" name="KV Cache Manager">
              <a:extLst>
                <a:ext uri="{FF2B5EF4-FFF2-40B4-BE49-F238E27FC236}">
                  <a16:creationId xmlns:a16="http://schemas.microsoft.com/office/drawing/2014/main" id="{B9C2D619-3701-449C-B93A-2A970A30D090}"/>
                </a:ext>
              </a:extLst>
            </p:cNvPr>
            <p:cNvSpPr/>
            <p:nvPr/>
          </p:nvSpPr>
          <p:spPr>
            <a:xfrm>
              <a:off x="8555657" y="6868160"/>
              <a:ext cx="2379948" cy="213441"/>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cxnSp>
          <p:nvCxnSpPr>
            <p:cNvPr id="82" name="① Event">
              <a:extLst>
                <a:ext uri="{FF2B5EF4-FFF2-40B4-BE49-F238E27FC236}">
                  <a16:creationId xmlns:a16="http://schemas.microsoft.com/office/drawing/2014/main" id="{C9D6DF07-3E57-489D-84BA-07E0D38567FA}"/>
                </a:ext>
              </a:extLst>
            </p:cNvPr>
            <p:cNvCxnSpPr>
              <a:stCxn id="80" idx="0"/>
              <a:endCxn id="69" idx="2"/>
            </p:cNvCxnSpPr>
            <p:nvPr/>
          </p:nvCxnSpPr>
          <p:spPr>
            <a:xfrm flipV="1">
              <a:off x="9745631" y="6720181"/>
              <a:ext cx="2336" cy="147979"/>
            </a:xfrm>
            <a:prstGeom prst="line">
              <a:avLst/>
            </a:prstGeom>
            <a:ln w="9525">
              <a:solidFill>
                <a:schemeClr val="tx1"/>
              </a:solidFill>
              <a:prstDash val="dash"/>
              <a:tailEnd type="arrow"/>
            </a:ln>
          </p:spPr>
        </p:cxnSp>
        <p:cxnSp>
          <p:nvCxnSpPr>
            <p:cNvPr id="83" name="① Event">
              <a:extLst>
                <a:ext uri="{FF2B5EF4-FFF2-40B4-BE49-F238E27FC236}">
                  <a16:creationId xmlns:a16="http://schemas.microsoft.com/office/drawing/2014/main" id="{F6341A49-5CC4-4C6F-8223-797E11312871}"/>
                </a:ext>
              </a:extLst>
            </p:cNvPr>
            <p:cNvCxnSpPr>
              <a:stCxn id="77" idx="1"/>
              <a:endCxn id="71" idx="3"/>
            </p:cNvCxnSpPr>
            <p:nvPr/>
          </p:nvCxnSpPr>
          <p:spPr>
            <a:xfrm rot="10800000" flipV="1">
              <a:off x="10416667" y="6227807"/>
              <a:ext cx="1157036" cy="73151"/>
            </a:xfrm>
            <a:prstGeom prst="bentConnector3">
              <a:avLst>
                <a:gd name="adj1" fmla="val 50000"/>
              </a:avLst>
            </a:prstGeom>
            <a:ln w="9525">
              <a:solidFill>
                <a:schemeClr val="tx1"/>
              </a:solidFill>
              <a:prstDash val="dash"/>
              <a:tailEnd type="arrow"/>
            </a:ln>
          </p:spPr>
        </p:cxnSp>
        <p:cxnSp>
          <p:nvCxnSpPr>
            <p:cNvPr id="84" name="① Event">
              <a:extLst>
                <a:ext uri="{FF2B5EF4-FFF2-40B4-BE49-F238E27FC236}">
                  <a16:creationId xmlns:a16="http://schemas.microsoft.com/office/drawing/2014/main" id="{4DBEF886-3D7E-49C6-B195-7B24A37BE8ED}"/>
                </a:ext>
              </a:extLst>
            </p:cNvPr>
            <p:cNvCxnSpPr>
              <a:stCxn id="77" idx="1"/>
              <a:endCxn id="72" idx="3"/>
            </p:cNvCxnSpPr>
            <p:nvPr/>
          </p:nvCxnSpPr>
          <p:spPr>
            <a:xfrm rot="10800000" flipV="1">
              <a:off x="10416667" y="6227807"/>
              <a:ext cx="1157037" cy="338517"/>
            </a:xfrm>
            <a:prstGeom prst="bentConnector3">
              <a:avLst>
                <a:gd name="adj1" fmla="val 50000"/>
              </a:avLst>
            </a:prstGeom>
            <a:ln w="9525">
              <a:solidFill>
                <a:schemeClr val="tx1"/>
              </a:solidFill>
              <a:prstDash val="dash"/>
              <a:tailEnd type="arrow"/>
            </a:ln>
          </p:spPr>
        </p:cxnSp>
        <p:grpSp>
          <p:nvGrpSpPr>
            <p:cNvPr id="85" name="그룹 84">
              <a:extLst>
                <a:ext uri="{FF2B5EF4-FFF2-40B4-BE49-F238E27FC236}">
                  <a16:creationId xmlns:a16="http://schemas.microsoft.com/office/drawing/2014/main" id="{36C03DAC-3010-46DC-9B36-E29BCFE9C40D}"/>
                </a:ext>
              </a:extLst>
            </p:cNvPr>
            <p:cNvGrpSpPr/>
            <p:nvPr/>
          </p:nvGrpSpPr>
          <p:grpSpPr>
            <a:xfrm>
              <a:off x="8460993" y="4299654"/>
              <a:ext cx="4919889" cy="1238170"/>
              <a:chOff x="6819037" y="1867402"/>
              <a:chExt cx="4919889" cy="1238170"/>
            </a:xfrm>
          </p:grpSpPr>
          <p:sp>
            <p:nvSpPr>
              <p:cNvPr id="87" name="DecisionPlane">
                <a:extLst>
                  <a:ext uri="{FF2B5EF4-FFF2-40B4-BE49-F238E27FC236}">
                    <a16:creationId xmlns:a16="http://schemas.microsoft.com/office/drawing/2014/main" id="{855C2218-6EA4-4BE6-AB1C-EF5BF3D9DBD5}"/>
                  </a:ext>
                </a:extLst>
              </p:cNvPr>
              <p:cNvSpPr/>
              <p:nvPr/>
            </p:nvSpPr>
            <p:spPr>
              <a:xfrm>
                <a:off x="6819037" y="1973349"/>
                <a:ext cx="4919889" cy="1132223"/>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89" name="DecisionPlane tab">
                <a:extLst>
                  <a:ext uri="{FF2B5EF4-FFF2-40B4-BE49-F238E27FC236}">
                    <a16:creationId xmlns:a16="http://schemas.microsoft.com/office/drawing/2014/main" id="{B080F67A-6462-42A4-B978-9B8BAE6C2385}"/>
                  </a:ext>
                </a:extLst>
              </p:cNvPr>
              <p:cNvSpPr/>
              <p:nvPr/>
            </p:nvSpPr>
            <p:spPr>
              <a:xfrm>
                <a:off x="6819037" y="1867402"/>
                <a:ext cx="251696" cy="109458"/>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92" name="KV Cache Manager">
                <a:extLst>
                  <a:ext uri="{FF2B5EF4-FFF2-40B4-BE49-F238E27FC236}">
                    <a16:creationId xmlns:a16="http://schemas.microsoft.com/office/drawing/2014/main" id="{E2659101-2053-4076-AC31-3ADDC66F36A7}"/>
                  </a:ext>
                </a:extLst>
              </p:cNvP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93" name="KV Cache Manager">
                <a:extLst>
                  <a:ext uri="{FF2B5EF4-FFF2-40B4-BE49-F238E27FC236}">
                    <a16:creationId xmlns:a16="http://schemas.microsoft.com/office/drawing/2014/main" id="{889DAAC0-2FFE-4282-B6E4-4EBE95F8F8B2}"/>
                  </a:ext>
                </a:extLst>
              </p:cNvPr>
              <p:cNvSpPr/>
              <p:nvPr/>
            </p:nvSpPr>
            <p:spPr>
              <a:xfrm>
                <a:off x="10288514" y="2693105"/>
                <a:ext cx="1341702" cy="312497"/>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96" name="KV Cache Manager">
                <a:extLst>
                  <a:ext uri="{FF2B5EF4-FFF2-40B4-BE49-F238E27FC236}">
                    <a16:creationId xmlns:a16="http://schemas.microsoft.com/office/drawing/2014/main" id="{17AA17DE-CFDC-443A-851E-08D37451A159}"/>
                  </a:ext>
                </a:extLst>
              </p:cNvPr>
              <p:cNvSpPr/>
              <p:nvPr/>
            </p:nvSpPr>
            <p:spPr>
              <a:xfrm>
                <a:off x="6940505" y="2246618"/>
                <a:ext cx="1148440" cy="312497"/>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99" name="① Event">
                <a:extLst>
                  <a:ext uri="{FF2B5EF4-FFF2-40B4-BE49-F238E27FC236}">
                    <a16:creationId xmlns:a16="http://schemas.microsoft.com/office/drawing/2014/main" id="{9C2C7D4D-9498-497F-B078-410B7D68C90C}"/>
                  </a:ext>
                </a:extLst>
              </p:cNvPr>
              <p:cNvCxnSpPr>
                <a:endCxn id="92" idx="1"/>
              </p:cNvCxnSpPr>
              <p:nvPr/>
            </p:nvCxnSpPr>
            <p:spPr>
              <a:xfrm>
                <a:off x="8088946" y="2398454"/>
                <a:ext cx="463809" cy="0"/>
              </a:xfrm>
              <a:prstGeom prst="line">
                <a:avLst/>
              </a:prstGeom>
              <a:ln w="9525">
                <a:solidFill>
                  <a:schemeClr val="tx1"/>
                </a:solidFill>
                <a:prstDash val="dash"/>
                <a:tailEnd type="arrow"/>
              </a:ln>
            </p:spPr>
          </p:cxnSp>
          <p:cxnSp>
            <p:nvCxnSpPr>
              <p:cNvPr id="100" name="① Event">
                <a:extLst>
                  <a:ext uri="{FF2B5EF4-FFF2-40B4-BE49-F238E27FC236}">
                    <a16:creationId xmlns:a16="http://schemas.microsoft.com/office/drawing/2014/main" id="{3CF5DF9A-FFDE-4643-91DE-E097DA12BD07}"/>
                  </a:ext>
                </a:extLst>
              </p:cNvPr>
              <p:cNvCxnSpPr>
                <a:cxnSpLocks/>
                <a:stCxn id="102" idx="2"/>
                <a:endCxn id="93" idx="0"/>
              </p:cNvCxnSpPr>
              <p:nvPr/>
            </p:nvCxnSpPr>
            <p:spPr>
              <a:xfrm>
                <a:off x="10951301" y="2554703"/>
                <a:ext cx="8064" cy="138402"/>
              </a:xfrm>
              <a:prstGeom prst="line">
                <a:avLst/>
              </a:prstGeom>
              <a:ln w="9525">
                <a:solidFill>
                  <a:schemeClr val="tx1"/>
                </a:solidFill>
                <a:prstDash val="dash"/>
                <a:tailEnd type="arrow"/>
              </a:ln>
            </p:spPr>
          </p:cxnSp>
          <p:sp>
            <p:nvSpPr>
              <p:cNvPr id="102" name="KV Cache Manager">
                <a:extLst>
                  <a:ext uri="{FF2B5EF4-FFF2-40B4-BE49-F238E27FC236}">
                    <a16:creationId xmlns:a16="http://schemas.microsoft.com/office/drawing/2014/main" id="{7C7F7E39-68A0-4151-BC59-85AE7E734AD1}"/>
                  </a:ext>
                </a:extLst>
              </p:cNvP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Analyzer</a:t>
                </a:r>
                <a:endParaRPr lang="ko-KR" altLang="en-US" sz="900" b="1" dirty="0">
                  <a:solidFill>
                    <a:schemeClr val="tx1"/>
                  </a:solidFill>
                </a:endParaRPr>
              </a:p>
            </p:txBody>
          </p:sp>
          <p:cxnSp>
            <p:nvCxnSpPr>
              <p:cNvPr id="106" name="① Event">
                <a:extLst>
                  <a:ext uri="{FF2B5EF4-FFF2-40B4-BE49-F238E27FC236}">
                    <a16:creationId xmlns:a16="http://schemas.microsoft.com/office/drawing/2014/main" id="{738D2C1E-B649-4B7A-B4EE-A159EFA24AAB}"/>
                  </a:ext>
                </a:extLst>
              </p:cNvPr>
              <p:cNvCxnSpPr>
                <a:cxnSpLocks/>
                <a:stCxn id="92" idx="3"/>
                <a:endCxn id="102" idx="1"/>
              </p:cNvCxnSpPr>
              <p:nvPr/>
            </p:nvCxnSpPr>
            <p:spPr>
              <a:xfrm>
                <a:off x="9896498" y="2398454"/>
                <a:ext cx="382931" cy="0"/>
              </a:xfrm>
              <a:prstGeom prst="straightConnector1">
                <a:avLst/>
              </a:prstGeom>
              <a:ln w="9525">
                <a:solidFill>
                  <a:schemeClr val="tx1"/>
                </a:solidFill>
                <a:prstDash val="dash"/>
                <a:tailEnd type="arrow"/>
              </a:ln>
            </p:spPr>
          </p:cxnSp>
        </p:grpSp>
        <p:cxnSp>
          <p:nvCxnSpPr>
            <p:cNvPr id="111" name="① Event">
              <a:extLst>
                <a:ext uri="{FF2B5EF4-FFF2-40B4-BE49-F238E27FC236}">
                  <a16:creationId xmlns:a16="http://schemas.microsoft.com/office/drawing/2014/main" id="{F54310AD-B871-41CF-BC44-53BF0A09E665}"/>
                </a:ext>
              </a:extLst>
            </p:cNvPr>
            <p:cNvCxnSpPr>
              <a:stCxn id="93" idx="2"/>
            </p:cNvCxnSpPr>
            <p:nvPr/>
          </p:nvCxnSpPr>
          <p:spPr>
            <a:xfrm>
              <a:off x="12601321" y="5437854"/>
              <a:ext cx="0" cy="679594"/>
            </a:xfrm>
            <a:prstGeom prst="line">
              <a:avLst/>
            </a:prstGeom>
            <a:ln w="9525">
              <a:solidFill>
                <a:schemeClr val="tx1"/>
              </a:solidFill>
              <a:prstDash val="dash"/>
              <a:tailEnd type="arrow"/>
            </a:ln>
          </p:spPr>
        </p:cxnSp>
        <p:sp>
          <p:nvSpPr>
            <p:cNvPr id="114" name="직사각형 113">
              <a:extLst>
                <a:ext uri="{FF2B5EF4-FFF2-40B4-BE49-F238E27FC236}">
                  <a16:creationId xmlns:a16="http://schemas.microsoft.com/office/drawing/2014/main" id="{76F76B6D-B167-45B4-A21D-2CB2BA94BBD0}"/>
                </a:ext>
              </a:extLst>
            </p:cNvPr>
            <p:cNvSpPr/>
            <p:nvPr/>
          </p:nvSpPr>
          <p:spPr>
            <a:xfrm>
              <a:off x="8497818" y="4482226"/>
              <a:ext cx="1820960" cy="192229"/>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115" name="직사각형 114">
              <a:extLst>
                <a:ext uri="{FF2B5EF4-FFF2-40B4-BE49-F238E27FC236}">
                  <a16:creationId xmlns:a16="http://schemas.microsoft.com/office/drawing/2014/main" id="{C39D99C8-7C57-45B4-B6AC-F24934F2BB0F}"/>
                </a:ext>
              </a:extLst>
            </p:cNvPr>
            <p:cNvSpPr/>
            <p:nvPr/>
          </p:nvSpPr>
          <p:spPr>
            <a:xfrm>
              <a:off x="11397719" y="6777160"/>
              <a:ext cx="1775840" cy="212840"/>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116" name="Oval 159">
              <a:extLst>
                <a:ext uri="{FF2B5EF4-FFF2-40B4-BE49-F238E27FC236}">
                  <a16:creationId xmlns:a16="http://schemas.microsoft.com/office/drawing/2014/main" id="{65C04DDD-B4D9-4EC3-A1FA-BD931BF2855D}"/>
                </a:ext>
              </a:extLst>
            </p:cNvPr>
            <p:cNvSpPr/>
            <p:nvPr/>
          </p:nvSpPr>
          <p:spPr>
            <a:xfrm>
              <a:off x="9788002" y="4749048"/>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118" name="Oval 159">
              <a:extLst>
                <a:ext uri="{FF2B5EF4-FFF2-40B4-BE49-F238E27FC236}">
                  <a16:creationId xmlns:a16="http://schemas.microsoft.com/office/drawing/2014/main" id="{43B6F849-7BA6-4530-9749-82A4724A0845}"/>
                </a:ext>
              </a:extLst>
            </p:cNvPr>
            <p:cNvSpPr/>
            <p:nvPr/>
          </p:nvSpPr>
          <p:spPr>
            <a:xfrm>
              <a:off x="11649750" y="4749048"/>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3</a:t>
              </a:r>
              <a:endParaRPr sz="1000" b="1" i="0" dirty="0">
                <a:solidFill>
                  <a:srgbClr val="FFFFFF"/>
                </a:solidFill>
                <a:latin typeface="맑은 고딕"/>
                <a:ea typeface="맑은 고딕"/>
              </a:endParaRPr>
            </a:p>
          </p:txBody>
        </p:sp>
        <p:sp>
          <p:nvSpPr>
            <p:cNvPr id="119" name="Oval 159">
              <a:extLst>
                <a:ext uri="{FF2B5EF4-FFF2-40B4-BE49-F238E27FC236}">
                  <a16:creationId xmlns:a16="http://schemas.microsoft.com/office/drawing/2014/main" id="{E235E674-29D3-47F0-B757-B5DA53B6859B}"/>
                </a:ext>
              </a:extLst>
            </p:cNvPr>
            <p:cNvSpPr/>
            <p:nvPr/>
          </p:nvSpPr>
          <p:spPr>
            <a:xfrm>
              <a:off x="12665133" y="499867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sp>
          <p:nvSpPr>
            <p:cNvPr id="122" name="Oval 159">
              <a:extLst>
                <a:ext uri="{FF2B5EF4-FFF2-40B4-BE49-F238E27FC236}">
                  <a16:creationId xmlns:a16="http://schemas.microsoft.com/office/drawing/2014/main" id="{7BEE972D-0E81-4E35-8885-9A9BF2BEC835}"/>
                </a:ext>
              </a:extLst>
            </p:cNvPr>
            <p:cNvSpPr/>
            <p:nvPr/>
          </p:nvSpPr>
          <p:spPr>
            <a:xfrm>
              <a:off x="12622742" y="562590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5</a:t>
              </a:r>
              <a:endParaRPr sz="1000" b="1" i="0" dirty="0">
                <a:solidFill>
                  <a:srgbClr val="FFFFFF"/>
                </a:solidFill>
                <a:latin typeface="맑은 고딕"/>
                <a:ea typeface="맑은 고딕"/>
              </a:endParaRPr>
            </a:p>
          </p:txBody>
        </p:sp>
        <p:sp>
          <p:nvSpPr>
            <p:cNvPr id="123" name="Oval 159">
              <a:extLst>
                <a:ext uri="{FF2B5EF4-FFF2-40B4-BE49-F238E27FC236}">
                  <a16:creationId xmlns:a16="http://schemas.microsoft.com/office/drawing/2014/main" id="{9E08F8F4-32C0-489B-A780-701488C42452}"/>
                </a:ext>
              </a:extLst>
            </p:cNvPr>
            <p:cNvSpPr/>
            <p:nvPr/>
          </p:nvSpPr>
          <p:spPr>
            <a:xfrm>
              <a:off x="11096130" y="6154603"/>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6</a:t>
              </a:r>
              <a:endParaRPr sz="1000" b="1" i="0" dirty="0">
                <a:solidFill>
                  <a:srgbClr val="FFFFFF"/>
                </a:solidFill>
                <a:latin typeface="맑은 고딕"/>
                <a:ea typeface="맑은 고딕"/>
              </a:endParaRPr>
            </a:p>
          </p:txBody>
        </p:sp>
        <p:sp>
          <p:nvSpPr>
            <p:cNvPr id="124" name="Oval 159">
              <a:extLst>
                <a:ext uri="{FF2B5EF4-FFF2-40B4-BE49-F238E27FC236}">
                  <a16:creationId xmlns:a16="http://schemas.microsoft.com/office/drawing/2014/main" id="{FC76ABDB-1909-4075-B227-63273CBE6FD1}"/>
                </a:ext>
              </a:extLst>
            </p:cNvPr>
            <p:cNvSpPr/>
            <p:nvPr/>
          </p:nvSpPr>
          <p:spPr>
            <a:xfrm>
              <a:off x="12295165" y="6361284"/>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i="0" dirty="0">
                  <a:solidFill>
                    <a:srgbClr val="FFFFFF"/>
                  </a:solidFill>
                  <a:latin typeface="맑은 고딕"/>
                  <a:ea typeface="맑은 고딕"/>
                </a:rPr>
                <a:t>7</a:t>
              </a:r>
              <a:endParaRPr sz="1000" b="1" i="0" dirty="0">
                <a:solidFill>
                  <a:srgbClr val="FFFFFF"/>
                </a:solidFill>
                <a:latin typeface="맑은 고딕"/>
                <a:ea typeface="맑은 고딕"/>
              </a:endParaRPr>
            </a:p>
          </p:txBody>
        </p:sp>
        <p:sp>
          <p:nvSpPr>
            <p:cNvPr id="117" name="Oval 159">
              <a:extLst>
                <a:ext uri="{FF2B5EF4-FFF2-40B4-BE49-F238E27FC236}">
                  <a16:creationId xmlns:a16="http://schemas.microsoft.com/office/drawing/2014/main" id="{0FC50B4B-FAAA-47D4-BAF1-9CA1F0D70A40}"/>
                </a:ext>
              </a:extLst>
            </p:cNvPr>
            <p:cNvSpPr/>
            <p:nvPr/>
          </p:nvSpPr>
          <p:spPr>
            <a:xfrm>
              <a:off x="10691435" y="5272656"/>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grpSp>
      <p:grpSp>
        <p:nvGrpSpPr>
          <p:cNvPr id="33" name="그룹 32">
            <a:extLst>
              <a:ext uri="{FF2B5EF4-FFF2-40B4-BE49-F238E27FC236}">
                <a16:creationId xmlns:a16="http://schemas.microsoft.com/office/drawing/2014/main" id="{38833E11-E312-4002-AD61-2830BE93932B}"/>
              </a:ext>
            </a:extLst>
          </p:cNvPr>
          <p:cNvGrpSpPr/>
          <p:nvPr/>
        </p:nvGrpSpPr>
        <p:grpSpPr>
          <a:xfrm>
            <a:off x="6200657" y="3351998"/>
            <a:ext cx="1848107" cy="883871"/>
            <a:chOff x="7146041" y="3067163"/>
            <a:chExt cx="1848107" cy="972258"/>
          </a:xfrm>
        </p:grpSpPr>
        <p:grpSp>
          <p:nvGrpSpPr>
            <p:cNvPr id="234" name="그룹 233"/>
            <p:cNvGrpSpPr/>
            <p:nvPr/>
          </p:nvGrpSpPr>
          <p:grpSpPr>
            <a:xfrm>
              <a:off x="7146041" y="3067163"/>
              <a:ext cx="1848107" cy="972258"/>
              <a:chOff x="1208848" y="2542921"/>
              <a:chExt cx="1938452" cy="1227423"/>
            </a:xfrm>
          </p:grpSpPr>
          <p:sp>
            <p:nvSpPr>
              <p:cNvPr id="238" name="DecisionPlane"/>
              <p:cNvSpPr/>
              <p:nvPr/>
            </p:nvSpPr>
            <p:spPr>
              <a:xfrm>
                <a:off x="1208848" y="2678899"/>
                <a:ext cx="1938452" cy="1091445"/>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bg1"/>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400" name="KV Cache Manager"/>
              <p:cNvSpPr/>
              <p:nvPr/>
            </p:nvSpPr>
            <p:spPr>
              <a:xfrm>
                <a:off x="1508045" y="2951040"/>
                <a:ext cx="1409091" cy="720623"/>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t">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sp>
          <p:nvSpPr>
            <p:cNvPr id="126" name="KV Cache Manager">
              <a:extLst>
                <a:ext uri="{FF2B5EF4-FFF2-40B4-BE49-F238E27FC236}">
                  <a16:creationId xmlns:a16="http://schemas.microsoft.com/office/drawing/2014/main" id="{A50D27BA-F8FF-4607-B30B-68B1C54E06BA}"/>
                </a:ext>
              </a:extLst>
            </p:cNvPr>
            <p:cNvSpPr/>
            <p:nvPr/>
          </p:nvSpPr>
          <p:spPr>
            <a:xfrm>
              <a:off x="7666012" y="3667737"/>
              <a:ext cx="903721" cy="255163"/>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Metadata</a:t>
              </a:r>
            </a:p>
          </p:txBody>
        </p:sp>
      </p:gr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185</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solidFill>
                  <a:srgbClr val="FF0000"/>
                </a:solidFill>
              </a:rPr>
              <a:t>보완 설계</a:t>
            </a:r>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547" name="그룹 546"/>
          <p:cNvGrpSpPr/>
          <p:nvPr/>
        </p:nvGrpSpPr>
        <p:grpSpPr>
          <a:xfrm>
            <a:off x="6076546" y="1730477"/>
            <a:ext cx="4919889" cy="2174871"/>
            <a:chOff x="6819037" y="1861052"/>
            <a:chExt cx="4919889" cy="2174871"/>
          </a:xfrm>
        </p:grpSpPr>
        <p:sp>
          <p:nvSpPr>
            <p:cNvPr id="230" name="DecisionPlane"/>
            <p:cNvSpPr/>
            <p:nvPr/>
          </p:nvSpPr>
          <p:spPr>
            <a:xfrm>
              <a:off x="6819037" y="1973349"/>
              <a:ext cx="4919889" cy="1421106"/>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1052"/>
              <a:ext cx="251696" cy="109458"/>
            </a:xfrm>
            <a:prstGeom prst="rect">
              <a:avLst/>
            </a:prstGeom>
            <a:solidFill>
              <a:schemeClr val="accent1">
                <a:lumMod val="20000"/>
                <a:lumOff val="80000"/>
              </a:schemeClr>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dirty="0"/>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658399"/>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t">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9"/>
              <a:ext cx="1148440" cy="32535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cxnSpLocks/>
            </p:cNvCxnSpPr>
            <p:nvPr/>
          </p:nvCxnSpPr>
          <p:spPr>
            <a:xfrm flipV="1">
              <a:off x="9437084" y="2571977"/>
              <a:ext cx="174336" cy="291436"/>
            </a:xfrm>
            <a:prstGeom prst="bentConnector2">
              <a:avLst/>
            </a:prstGeom>
            <a:ln w="9525">
              <a:solidFill>
                <a:srgbClr val="0000FF"/>
              </a:solidFill>
              <a:prstDash val="dash"/>
              <a:tailEnd type="arrow"/>
            </a:ln>
          </p:spPr>
        </p:cxnSp>
        <p:cxnSp>
          <p:nvCxnSpPr>
            <p:cNvPr id="256" name="① Event"/>
            <p:cNvCxnSpPr>
              <a:cxnSpLocks/>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Analyzer</a:t>
              </a:r>
              <a:endParaRPr lang="ko-KR" altLang="en-US" sz="900" b="1" dirty="0">
                <a:solidFill>
                  <a:schemeClr val="tx1"/>
                </a:solidFill>
              </a:endParaRPr>
            </a:p>
          </p:txBody>
        </p:sp>
        <p:cxnSp>
          <p:nvCxnSpPr>
            <p:cNvPr id="269" name="① Event"/>
            <p:cNvCxnSpPr>
              <a:cxnSpLocks/>
              <a:stCxn id="233" idx="3"/>
              <a:endCxn id="267" idx="1"/>
            </p:cNvCxnSpPr>
            <p:nvPr/>
          </p:nvCxnSpPr>
          <p:spPr>
            <a:xfrm>
              <a:off x="9896498" y="2398454"/>
              <a:ext cx="382931" cy="0"/>
            </a:xfrm>
            <a:prstGeom prst="straightConnector1">
              <a:avLst/>
            </a:prstGeom>
            <a:ln w="9525">
              <a:solidFill>
                <a:schemeClr val="tx1"/>
              </a:solidFill>
              <a:prstDash val="dash"/>
              <a:tailEnd type="arrow"/>
            </a:ln>
          </p:spPr>
        </p:cxnSp>
        <p:sp>
          <p:nvSpPr>
            <p:cNvPr id="112" name="KV Cache Manager">
              <a:extLst>
                <a:ext uri="{FF2B5EF4-FFF2-40B4-BE49-F238E27FC236}">
                  <a16:creationId xmlns:a16="http://schemas.microsoft.com/office/drawing/2014/main" id="{5CF3D1AF-C9B6-4BF0-821E-E3134E1C3CAA}"/>
                </a:ext>
              </a:extLst>
            </p:cNvPr>
            <p:cNvSpPr/>
            <p:nvPr/>
          </p:nvSpPr>
          <p:spPr>
            <a:xfrm>
              <a:off x="8340568" y="2674573"/>
              <a:ext cx="1110532" cy="312498"/>
            </a:xfrm>
            <a:prstGeom prst="rect">
              <a:avLst/>
            </a:prstGeom>
            <a:solidFill>
              <a:schemeClr val="accent6">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a:t>
              </a:r>
              <a:r>
                <a:rPr lang="ko-KR" altLang="en-US" sz="900" b="1" dirty="0">
                  <a:solidFill>
                    <a:schemeClr val="tx1"/>
                  </a:solidFill>
                </a:rPr>
                <a:t> </a:t>
              </a:r>
              <a:r>
                <a:rPr lang="en-US" altLang="ko-KR" sz="900" b="1" dirty="0">
                  <a:solidFill>
                    <a:schemeClr val="tx1"/>
                  </a:solidFill>
                </a:rPr>
                <a:t>Feature Adapter</a:t>
              </a:r>
              <a:endParaRPr lang="ko-KR" altLang="en-US" sz="900" b="1" dirty="0">
                <a:solidFill>
                  <a:schemeClr val="tx1"/>
                </a:solidFill>
              </a:endParaRPr>
            </a:p>
          </p:txBody>
        </p:sp>
        <p:cxnSp>
          <p:nvCxnSpPr>
            <p:cNvPr id="304" name="① Event"/>
            <p:cNvCxnSpPr>
              <a:cxnSpLocks/>
              <a:stCxn id="400" idx="3"/>
              <a:endCxn id="112" idx="2"/>
            </p:cNvCxnSpPr>
            <p:nvPr/>
          </p:nvCxnSpPr>
          <p:spPr>
            <a:xfrm flipV="1">
              <a:off x="8429082" y="2987071"/>
              <a:ext cx="466752" cy="1048852"/>
            </a:xfrm>
            <a:prstGeom prst="bentConnector2">
              <a:avLst/>
            </a:prstGeom>
            <a:ln w="9525">
              <a:solidFill>
                <a:srgbClr val="0000FF"/>
              </a:solidFill>
              <a:prstDash val="dash"/>
              <a:tailEnd type="arrow"/>
            </a:ln>
          </p:spPr>
        </p:cxnSp>
      </p:grpSp>
      <p:sp>
        <p:nvSpPr>
          <p:cNvPr id="409" name="직사각형 408"/>
          <p:cNvSpPr/>
          <p:nvPr/>
        </p:nvSpPr>
        <p:spPr>
          <a:xfrm>
            <a:off x="6113371"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062940" y="6123324"/>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9665176" y="6232971"/>
            <a:ext cx="716863" cy="276999"/>
          </a:xfrm>
          <a:prstGeom prst="rect">
            <a:avLst/>
          </a:prstGeom>
          <a:noFill/>
        </p:spPr>
        <p:txBody>
          <a:bodyPr wrap="none" rtlCol="0">
            <a:spAutoFit/>
          </a:bodyPr>
          <a:lstStyle/>
          <a:p>
            <a:r>
              <a:rPr lang="ko-KR" altLang="en-US" sz="1200" dirty="0"/>
              <a:t>총</a:t>
            </a:r>
            <a:r>
              <a:rPr lang="en-US" altLang="ko-KR" sz="1200" dirty="0"/>
              <a:t> </a:t>
            </a:r>
            <a:r>
              <a:rPr lang="en-US" altLang="ko-KR" sz="1200" strike="noStrike" baseline="0" dirty="0">
                <a:solidFill>
                  <a:srgbClr val="FF0000"/>
                </a:solidFill>
                <a:effectLst/>
                <a:latin typeface="맑은 고딕" panose="020B0503020000020004" pitchFamily="50" charset="-127"/>
                <a:ea typeface="+mn-ea"/>
              </a:rPr>
              <a:t>11</a:t>
            </a:r>
            <a:r>
              <a:rPr lang="ko-KR" altLang="en-US" sz="1200" strike="noStrike" baseline="0" dirty="0">
                <a:solidFill>
                  <a:srgbClr val="FF0000"/>
                </a:solidFill>
                <a:effectLst/>
                <a:latin typeface="맑은 고딕" panose="020B0503020000020004" pitchFamily="50" charset="-127"/>
                <a:ea typeface="+mn-ea"/>
              </a:rPr>
              <a:t>점</a:t>
            </a:r>
            <a:endParaRPr lang="ko-KR" altLang="en-US" sz="1200" dirty="0"/>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cxnSp>
        <p:nvCxnSpPr>
          <p:cNvPr id="113" name="① Event">
            <a:extLst>
              <a:ext uri="{FF2B5EF4-FFF2-40B4-BE49-F238E27FC236}">
                <a16:creationId xmlns:a16="http://schemas.microsoft.com/office/drawing/2014/main" id="{F63DE540-F41B-41ED-8BD0-ADFB3A6717CB}"/>
              </a:ext>
            </a:extLst>
          </p:cNvPr>
          <p:cNvCxnSpPr>
            <a:cxnSpLocks/>
            <a:stCxn id="248" idx="2"/>
            <a:endCxn id="112" idx="1"/>
          </p:cNvCxnSpPr>
          <p:nvPr/>
        </p:nvCxnSpPr>
        <p:spPr>
          <a:xfrm rot="16200000" flipH="1">
            <a:off x="7055733" y="2157902"/>
            <a:ext cx="258845" cy="825843"/>
          </a:xfrm>
          <a:prstGeom prst="bentConnector2">
            <a:avLst/>
          </a:prstGeom>
          <a:ln w="9525">
            <a:solidFill>
              <a:srgbClr val="0000FF"/>
            </a:solidFill>
            <a:prstDash val="dash"/>
            <a:tailEnd type="arrow"/>
          </a:ln>
        </p:spPr>
      </p:cxnSp>
      <p:sp>
        <p:nvSpPr>
          <p:cNvPr id="125" name="KV Cache Manager">
            <a:extLst>
              <a:ext uri="{FF2B5EF4-FFF2-40B4-BE49-F238E27FC236}">
                <a16:creationId xmlns:a16="http://schemas.microsoft.com/office/drawing/2014/main" id="{B18B6AEF-CA0B-409D-820C-810CFB582295}"/>
              </a:ext>
            </a:extLst>
          </p:cNvPr>
          <p:cNvSpPr/>
          <p:nvPr/>
        </p:nvSpPr>
        <p:spPr>
          <a:xfrm>
            <a:off x="6231669" y="2882060"/>
            <a:ext cx="960355" cy="287011"/>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Lease</a:t>
            </a:r>
            <a:r>
              <a:rPr lang="ko-KR" altLang="en-US" sz="900" b="1" dirty="0">
                <a:solidFill>
                  <a:schemeClr val="tx1"/>
                </a:solidFill>
              </a:rPr>
              <a:t> </a:t>
            </a:r>
            <a:r>
              <a:rPr lang="en-US" altLang="ko-KR" sz="900" b="1" dirty="0">
                <a:solidFill>
                  <a:schemeClr val="tx1"/>
                </a:solidFill>
              </a:rPr>
              <a:t>Timer</a:t>
            </a:r>
            <a:endParaRPr lang="ko-KR" altLang="en-US" sz="900" b="1" dirty="0">
              <a:solidFill>
                <a:schemeClr val="tx1"/>
              </a:solidFill>
            </a:endParaRPr>
          </a:p>
        </p:txBody>
      </p:sp>
      <p:sp>
        <p:nvSpPr>
          <p:cNvPr id="133" name="KV Cache Manager">
            <a:extLst>
              <a:ext uri="{FF2B5EF4-FFF2-40B4-BE49-F238E27FC236}">
                <a16:creationId xmlns:a16="http://schemas.microsoft.com/office/drawing/2014/main" id="{0AC675B6-EBCF-4411-982A-606F1B39DD1C}"/>
              </a:ext>
            </a:extLst>
          </p:cNvPr>
          <p:cNvSpPr/>
          <p:nvPr/>
        </p:nvSpPr>
        <p:spPr>
          <a:xfrm>
            <a:off x="9718913" y="2888719"/>
            <a:ext cx="1056391" cy="287011"/>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HBM Lease Granter</a:t>
            </a:r>
            <a:endParaRPr lang="ko-KR" altLang="en-US" sz="900" b="1" dirty="0">
              <a:solidFill>
                <a:schemeClr val="tx1"/>
              </a:solidFill>
            </a:endParaRPr>
          </a:p>
        </p:txBody>
      </p:sp>
      <p:sp>
        <p:nvSpPr>
          <p:cNvPr id="151" name="TextBox 150">
            <a:extLst>
              <a:ext uri="{FF2B5EF4-FFF2-40B4-BE49-F238E27FC236}">
                <a16:creationId xmlns:a16="http://schemas.microsoft.com/office/drawing/2014/main" id="{231E87BC-4EED-41BA-849C-DEA60915A565}"/>
              </a:ext>
            </a:extLst>
          </p:cNvPr>
          <p:cNvSpPr txBox="1"/>
          <p:nvPr/>
        </p:nvSpPr>
        <p:spPr>
          <a:xfrm>
            <a:off x="5971156" y="1383052"/>
            <a:ext cx="5999614" cy="261610"/>
          </a:xfrm>
          <a:prstGeom prst="rect">
            <a:avLst/>
          </a:prstGeom>
          <a:noFill/>
        </p:spPr>
        <p:txBody>
          <a:bodyPr wrap="square" rtlCol="0">
            <a:spAutoFit/>
          </a:bodyPr>
          <a:lstStyle/>
          <a:p>
            <a:r>
              <a:rPr lang="en-US" altLang="ko-KR" sz="1100" dirty="0"/>
              <a:t>“Control Plane</a:t>
            </a:r>
            <a:r>
              <a:rPr lang="ko-KR" altLang="en-US" sz="1100" dirty="0"/>
              <a:t>에서 </a:t>
            </a:r>
            <a:r>
              <a:rPr lang="en-US" altLang="ko-KR" sz="1100" dirty="0"/>
              <a:t>Migration </a:t>
            </a:r>
            <a:r>
              <a:rPr lang="ko-KR" altLang="en-US" sz="1100" dirty="0"/>
              <a:t>결정</a:t>
            </a:r>
            <a:r>
              <a:rPr lang="en-US" altLang="ko-KR" sz="1100" dirty="0"/>
              <a:t> </a:t>
            </a:r>
            <a:r>
              <a:rPr lang="en-US" altLang="ko-KR" sz="1100" dirty="0">
                <a:solidFill>
                  <a:srgbClr val="FF0000"/>
                </a:solidFill>
              </a:rPr>
              <a:t>+ HBM </a:t>
            </a:r>
            <a:r>
              <a:rPr lang="ko-KR" altLang="en-US" sz="1100" dirty="0">
                <a:solidFill>
                  <a:srgbClr val="FF0000"/>
                </a:solidFill>
              </a:rPr>
              <a:t>점유 기한</a:t>
            </a:r>
            <a:r>
              <a:rPr lang="en-US" altLang="ko-KR" sz="1100" dirty="0">
                <a:solidFill>
                  <a:srgbClr val="FF0000"/>
                </a:solidFill>
              </a:rPr>
              <a:t>(Lease) </a:t>
            </a:r>
            <a:r>
              <a:rPr lang="ko-KR" altLang="en-US" sz="1100" dirty="0">
                <a:solidFill>
                  <a:srgbClr val="FF0000"/>
                </a:solidFill>
              </a:rPr>
              <a:t>제어 </a:t>
            </a:r>
            <a:r>
              <a:rPr lang="en-US" altLang="ko-KR" sz="1100" dirty="0">
                <a:solidFill>
                  <a:srgbClr val="FF0000"/>
                </a:solidFill>
              </a:rPr>
              <a:t>+ Behavior</a:t>
            </a:r>
            <a:r>
              <a:rPr lang="ko-KR" altLang="en-US" sz="1100" dirty="0">
                <a:solidFill>
                  <a:srgbClr val="FF0000"/>
                </a:solidFill>
              </a:rPr>
              <a:t> </a:t>
            </a:r>
            <a:r>
              <a:rPr lang="en-US" altLang="ko-KR" sz="1100" dirty="0">
                <a:solidFill>
                  <a:srgbClr val="FF0000"/>
                </a:solidFill>
              </a:rPr>
              <a:t>adapter</a:t>
            </a:r>
            <a:r>
              <a:rPr lang="en-US" altLang="ko-KR" sz="1100" dirty="0"/>
              <a:t>” </a:t>
            </a:r>
            <a:endParaRPr lang="ko-KR" altLang="en-US" sz="1100" dirty="0"/>
          </a:p>
        </p:txBody>
      </p:sp>
      <p:cxnSp>
        <p:nvCxnSpPr>
          <p:cNvPr id="154" name="① Event">
            <a:extLst>
              <a:ext uri="{FF2B5EF4-FFF2-40B4-BE49-F238E27FC236}">
                <a16:creationId xmlns:a16="http://schemas.microsoft.com/office/drawing/2014/main" id="{4612F9B8-78D5-4DE5-B2DC-45A405916D8A}"/>
              </a:ext>
            </a:extLst>
          </p:cNvPr>
          <p:cNvCxnSpPr>
            <a:cxnSpLocks/>
          </p:cNvCxnSpPr>
          <p:nvPr/>
        </p:nvCxnSpPr>
        <p:spPr>
          <a:xfrm flipV="1">
            <a:off x="6348671" y="2460697"/>
            <a:ext cx="0" cy="420730"/>
          </a:xfrm>
          <a:prstGeom prst="straightConnector1">
            <a:avLst/>
          </a:prstGeom>
          <a:ln w="9525">
            <a:solidFill>
              <a:srgbClr val="FF0000"/>
            </a:solidFill>
            <a:prstDash val="dash"/>
            <a:tailEnd type="arrow"/>
          </a:ln>
        </p:spPr>
      </p:cxnSp>
      <p:sp>
        <p:nvSpPr>
          <p:cNvPr id="155" name="직사각형 154">
            <a:extLst>
              <a:ext uri="{FF2B5EF4-FFF2-40B4-BE49-F238E27FC236}">
                <a16:creationId xmlns:a16="http://schemas.microsoft.com/office/drawing/2014/main" id="{3471A210-CDF4-4BA3-84BD-F653298D9DEF}"/>
              </a:ext>
            </a:extLst>
          </p:cNvPr>
          <p:cNvSpPr/>
          <p:nvPr/>
        </p:nvSpPr>
        <p:spPr>
          <a:xfrm>
            <a:off x="6297041" y="2665644"/>
            <a:ext cx="823818" cy="200055"/>
          </a:xfrm>
          <a:prstGeom prst="rect">
            <a:avLst/>
          </a:prstGeom>
          <a:noFill/>
          <a:ln w="12700">
            <a:noFill/>
            <a:prstDash val="dash"/>
          </a:ln>
        </p:spPr>
        <p:txBody>
          <a:bodyPr rtlCol="0" anchor="ctr"/>
          <a:lstStyle/>
          <a:p>
            <a:r>
              <a:rPr lang="en-US" altLang="ko-KR" sz="700" dirty="0">
                <a:solidFill>
                  <a:srgbClr val="FF0000"/>
                </a:solidFill>
              </a:rPr>
              <a:t>Event </a:t>
            </a:r>
          </a:p>
          <a:p>
            <a:r>
              <a:rPr lang="en-US" altLang="ko-KR" sz="700" dirty="0">
                <a:solidFill>
                  <a:srgbClr val="FF0000"/>
                </a:solidFill>
              </a:rPr>
              <a:t>(Lease Expired)</a:t>
            </a:r>
          </a:p>
        </p:txBody>
      </p:sp>
      <p:cxnSp>
        <p:nvCxnSpPr>
          <p:cNvPr id="120" name="① Event">
            <a:extLst>
              <a:ext uri="{FF2B5EF4-FFF2-40B4-BE49-F238E27FC236}">
                <a16:creationId xmlns:a16="http://schemas.microsoft.com/office/drawing/2014/main" id="{AA6A60D7-3F4D-4197-A43E-5FBE2A7B70E4}"/>
              </a:ext>
            </a:extLst>
          </p:cNvPr>
          <p:cNvCxnSpPr>
            <a:cxnSpLocks/>
            <a:stCxn id="133" idx="1"/>
            <a:endCxn id="125" idx="3"/>
          </p:cNvCxnSpPr>
          <p:nvPr/>
        </p:nvCxnSpPr>
        <p:spPr>
          <a:xfrm rot="10800000">
            <a:off x="7192025" y="3025567"/>
            <a:ext cx="2526889" cy="6659"/>
          </a:xfrm>
          <a:prstGeom prst="bentConnector3">
            <a:avLst>
              <a:gd name="adj1" fmla="val 50000"/>
            </a:avLst>
          </a:prstGeom>
          <a:ln w="9525">
            <a:solidFill>
              <a:srgbClr val="FF0000"/>
            </a:solidFill>
            <a:prstDash val="dash"/>
            <a:tailEnd type="arrow"/>
          </a:ln>
        </p:spPr>
      </p:cxnSp>
      <p:cxnSp>
        <p:nvCxnSpPr>
          <p:cNvPr id="121" name="① Event">
            <a:extLst>
              <a:ext uri="{FF2B5EF4-FFF2-40B4-BE49-F238E27FC236}">
                <a16:creationId xmlns:a16="http://schemas.microsoft.com/office/drawing/2014/main" id="{393EDD8C-32BA-4528-8222-186C12CC2266}"/>
              </a:ext>
            </a:extLst>
          </p:cNvPr>
          <p:cNvCxnSpPr>
            <a:cxnSpLocks/>
            <a:stCxn id="133" idx="1"/>
            <a:endCxn id="126" idx="3"/>
          </p:cNvCxnSpPr>
          <p:nvPr/>
        </p:nvCxnSpPr>
        <p:spPr>
          <a:xfrm rot="10800000" flipV="1">
            <a:off x="7624349" y="3032225"/>
            <a:ext cx="2094564" cy="981732"/>
          </a:xfrm>
          <a:prstGeom prst="bentConnector3">
            <a:avLst>
              <a:gd name="adj1" fmla="val 50000"/>
            </a:avLst>
          </a:prstGeom>
          <a:ln w="9525">
            <a:solidFill>
              <a:srgbClr val="FF0000"/>
            </a:solidFill>
            <a:prstDash val="dash"/>
            <a:tailEnd type="arrow"/>
          </a:ln>
        </p:spPr>
      </p:cxnSp>
      <p:grpSp>
        <p:nvGrpSpPr>
          <p:cNvPr id="6" name="그룹 5">
            <a:extLst>
              <a:ext uri="{FF2B5EF4-FFF2-40B4-BE49-F238E27FC236}">
                <a16:creationId xmlns:a16="http://schemas.microsoft.com/office/drawing/2014/main" id="{83407551-4922-4346-9CDE-2770BEA53886}"/>
              </a:ext>
            </a:extLst>
          </p:cNvPr>
          <p:cNvGrpSpPr/>
          <p:nvPr/>
        </p:nvGrpSpPr>
        <p:grpSpPr>
          <a:xfrm>
            <a:off x="11056831" y="3583488"/>
            <a:ext cx="886133" cy="735369"/>
            <a:chOff x="11056831" y="3583488"/>
            <a:chExt cx="886133" cy="735369"/>
          </a:xfrm>
        </p:grpSpPr>
        <p:sp>
          <p:nvSpPr>
            <p:cNvPr id="141" name="KV Cache Manager">
              <a:extLst>
                <a:ext uri="{FF2B5EF4-FFF2-40B4-BE49-F238E27FC236}">
                  <a16:creationId xmlns:a16="http://schemas.microsoft.com/office/drawing/2014/main" id="{F9515005-8AA1-4789-8C20-FC529F1DE1BB}"/>
                </a:ext>
              </a:extLst>
            </p:cNvPr>
            <p:cNvSpPr/>
            <p:nvPr/>
          </p:nvSpPr>
          <p:spPr>
            <a:xfrm>
              <a:off x="11126972" y="4046454"/>
              <a:ext cx="784423" cy="194036"/>
            </a:xfrm>
            <a:prstGeom prst="rect">
              <a:avLst/>
            </a:prstGeom>
            <a:solidFill>
              <a:schemeClr val="accent6">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QA4 </a:t>
              </a:r>
              <a:r>
                <a:rPr lang="ko-KR" altLang="en-US" sz="800" b="1" dirty="0">
                  <a:solidFill>
                    <a:schemeClr val="tx1"/>
                  </a:solidFill>
                </a:rPr>
                <a:t>보완</a:t>
              </a:r>
              <a:endParaRPr lang="en-US" altLang="ko-KR" sz="800" b="1" dirty="0">
                <a:solidFill>
                  <a:schemeClr val="tx1"/>
                </a:solidFill>
              </a:endParaRPr>
            </a:p>
          </p:txBody>
        </p:sp>
        <p:sp>
          <p:nvSpPr>
            <p:cNvPr id="142" name="KV Cache Manager">
              <a:extLst>
                <a:ext uri="{FF2B5EF4-FFF2-40B4-BE49-F238E27FC236}">
                  <a16:creationId xmlns:a16="http://schemas.microsoft.com/office/drawing/2014/main" id="{98E078A6-320E-4FDE-982D-DB32947602AA}"/>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144" name="직사각형 143">
              <a:extLst>
                <a:ext uri="{FF2B5EF4-FFF2-40B4-BE49-F238E27FC236}">
                  <a16:creationId xmlns:a16="http://schemas.microsoft.com/office/drawing/2014/main" id="{0B9F48D5-E468-4CDF-978E-9BCF5DF01EFF}"/>
                </a:ext>
              </a:extLst>
            </p:cNvPr>
            <p:cNvSpPr/>
            <p:nvPr/>
          </p:nvSpPr>
          <p:spPr>
            <a:xfrm>
              <a:off x="11056831" y="3583488"/>
              <a:ext cx="886133" cy="735369"/>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cxnSp>
        <p:nvCxnSpPr>
          <p:cNvPr id="143" name="① Event">
            <a:extLst>
              <a:ext uri="{FF2B5EF4-FFF2-40B4-BE49-F238E27FC236}">
                <a16:creationId xmlns:a16="http://schemas.microsoft.com/office/drawing/2014/main" id="{792C1AB6-C29E-42EC-BF28-3C21A712EC9F}"/>
              </a:ext>
            </a:extLst>
          </p:cNvPr>
          <p:cNvCxnSpPr>
            <a:cxnSpLocks/>
            <a:stCxn id="92" idx="2"/>
            <a:endCxn id="73" idx="3"/>
          </p:cNvCxnSpPr>
          <p:nvPr/>
        </p:nvCxnSpPr>
        <p:spPr>
          <a:xfrm rot="5400000">
            <a:off x="2772062" y="2608572"/>
            <a:ext cx="955991" cy="409014"/>
          </a:xfrm>
          <a:prstGeom prst="bentConnector2">
            <a:avLst/>
          </a:prstGeom>
          <a:ln w="9525">
            <a:solidFill>
              <a:schemeClr val="tx1"/>
            </a:solidFill>
            <a:prstDash val="dash"/>
            <a:tailEnd type="arrow"/>
          </a:ln>
        </p:spPr>
      </p:cxnSp>
      <p:sp>
        <p:nvSpPr>
          <p:cNvPr id="127" name="TextBox 126">
            <a:extLst>
              <a:ext uri="{FF2B5EF4-FFF2-40B4-BE49-F238E27FC236}">
                <a16:creationId xmlns:a16="http://schemas.microsoft.com/office/drawing/2014/main" id="{76E16C2E-87A1-49BE-8B29-315D6FB701B6}"/>
              </a:ext>
            </a:extLst>
          </p:cNvPr>
          <p:cNvSpPr txBox="1"/>
          <p:nvPr/>
        </p:nvSpPr>
        <p:spPr>
          <a:xfrm>
            <a:off x="1114647" y="1373834"/>
            <a:ext cx="3990897" cy="261610"/>
          </a:xfrm>
          <a:prstGeom prst="rect">
            <a:avLst/>
          </a:prstGeom>
          <a:noFill/>
        </p:spPr>
        <p:txBody>
          <a:bodyPr wrap="square" rtlCol="0">
            <a:spAutoFit/>
          </a:bodyPr>
          <a:lstStyle/>
          <a:p>
            <a:r>
              <a:rPr lang="en-US" altLang="ko-KR" sz="1100" dirty="0"/>
              <a:t>“Control Plane</a:t>
            </a:r>
            <a:r>
              <a:rPr lang="ko-KR" altLang="en-US" sz="1100" dirty="0"/>
              <a:t>에서 </a:t>
            </a:r>
            <a:r>
              <a:rPr lang="en-US" altLang="ko-KR" sz="1100" dirty="0"/>
              <a:t>Migration </a:t>
            </a:r>
            <a:r>
              <a:rPr lang="ko-KR" altLang="en-US" sz="1100" dirty="0"/>
              <a:t>결정</a:t>
            </a:r>
            <a:r>
              <a:rPr lang="en-US" altLang="ko-KR" sz="1100" dirty="0"/>
              <a:t>“</a:t>
            </a:r>
            <a:endParaRPr lang="ko-KR" altLang="en-US" sz="1100" dirty="0"/>
          </a:p>
        </p:txBody>
      </p:sp>
      <p:sp>
        <p:nvSpPr>
          <p:cNvPr id="138" name="직사각형 137">
            <a:extLst>
              <a:ext uri="{FF2B5EF4-FFF2-40B4-BE49-F238E27FC236}">
                <a16:creationId xmlns:a16="http://schemas.microsoft.com/office/drawing/2014/main" id="{7FC2DF33-C0A4-45B5-AC29-A0737C8F1089}"/>
              </a:ext>
            </a:extLst>
          </p:cNvPr>
          <p:cNvSpPr/>
          <p:nvPr/>
        </p:nvSpPr>
        <p:spPr>
          <a:xfrm>
            <a:off x="5942069" y="1044053"/>
            <a:ext cx="6122107" cy="574854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직사각형 1">
            <a:extLst>
              <a:ext uri="{FF2B5EF4-FFF2-40B4-BE49-F238E27FC236}">
                <a16:creationId xmlns:a16="http://schemas.microsoft.com/office/drawing/2014/main" id="{5487A7CC-5EC4-45F9-BBAB-7AFAB70C3178}"/>
              </a:ext>
            </a:extLst>
          </p:cNvPr>
          <p:cNvSpPr/>
          <p:nvPr/>
        </p:nvSpPr>
        <p:spPr>
          <a:xfrm>
            <a:off x="1122157" y="1314044"/>
            <a:ext cx="4820173" cy="3764683"/>
          </a:xfrm>
          <a:prstGeom prst="rect">
            <a:avLst/>
          </a:prstGeom>
          <a:solidFill>
            <a:srgbClr val="FFFFFF">
              <a:alpha val="6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359A4135-86BF-4C51-AD31-5F882D87B530}"/>
              </a:ext>
            </a:extLst>
          </p:cNvPr>
          <p:cNvSpPr/>
          <p:nvPr/>
        </p:nvSpPr>
        <p:spPr>
          <a:xfrm>
            <a:off x="1122418" y="5802059"/>
            <a:ext cx="4820173" cy="748757"/>
          </a:xfrm>
          <a:prstGeom prst="rect">
            <a:avLst/>
          </a:prstGeom>
          <a:solidFill>
            <a:srgbClr val="FFFFFF">
              <a:alpha val="6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8" name="그룹 127">
            <a:extLst>
              <a:ext uri="{FF2B5EF4-FFF2-40B4-BE49-F238E27FC236}">
                <a16:creationId xmlns:a16="http://schemas.microsoft.com/office/drawing/2014/main" id="{19EB5441-FFF3-4561-B366-40E344015FF3}"/>
              </a:ext>
            </a:extLst>
          </p:cNvPr>
          <p:cNvGrpSpPr/>
          <p:nvPr/>
        </p:nvGrpSpPr>
        <p:grpSpPr>
          <a:xfrm>
            <a:off x="269738" y="3503821"/>
            <a:ext cx="822008" cy="1106192"/>
            <a:chOff x="269738" y="3554621"/>
            <a:chExt cx="822008" cy="1106192"/>
          </a:xfrm>
        </p:grpSpPr>
        <p:sp>
          <p:nvSpPr>
            <p:cNvPr id="129" name="KV Cache Manager">
              <a:extLst>
                <a:ext uri="{FF2B5EF4-FFF2-40B4-BE49-F238E27FC236}">
                  <a16:creationId xmlns:a16="http://schemas.microsoft.com/office/drawing/2014/main" id="{728BB70F-FA40-4A01-A505-5108F2351086}"/>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0" name="KV Cache Manager">
              <a:extLst>
                <a:ext uri="{FF2B5EF4-FFF2-40B4-BE49-F238E27FC236}">
                  <a16:creationId xmlns:a16="http://schemas.microsoft.com/office/drawing/2014/main" id="{391D609D-4B95-4C2D-9263-B5E5E10398B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1" name="KV Cache Manager">
              <a:extLst>
                <a:ext uri="{FF2B5EF4-FFF2-40B4-BE49-F238E27FC236}">
                  <a16:creationId xmlns:a16="http://schemas.microsoft.com/office/drawing/2014/main" id="{62906F49-7344-4893-BEE4-7899C835A392}"/>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bg1"/>
                  </a:solidFill>
                </a:rPr>
                <a:t>Device SW I/F</a:t>
              </a:r>
              <a:endParaRPr lang="ko-KR" altLang="en-US" sz="800" b="1" dirty="0">
                <a:solidFill>
                  <a:schemeClr val="bg1"/>
                </a:solidFill>
              </a:endParaRPr>
            </a:p>
          </p:txBody>
        </p:sp>
        <p:sp>
          <p:nvSpPr>
            <p:cNvPr id="132" name="직사각형 131">
              <a:extLst>
                <a:ext uri="{FF2B5EF4-FFF2-40B4-BE49-F238E27FC236}">
                  <a16:creationId xmlns:a16="http://schemas.microsoft.com/office/drawing/2014/main" id="{324F2947-B3D7-4079-BF6E-075362A630BB}"/>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4" name="KV Cache Manager">
              <a:extLst>
                <a:ext uri="{FF2B5EF4-FFF2-40B4-BE49-F238E27FC236}">
                  <a16:creationId xmlns:a16="http://schemas.microsoft.com/office/drawing/2014/main" id="{E4A33D8F-B653-4D4A-A6B7-C8F5EEC6ACF5}"/>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Tree>
    <p:extLst>
      <p:ext uri="{BB962C8B-B14F-4D97-AF65-F5344CB8AC3E}">
        <p14:creationId xmlns:p14="http://schemas.microsoft.com/office/powerpoint/2010/main" val="1636959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763315"/>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Trigger</a:t>
                      </a:r>
                      <a:r>
                        <a:rPr lang="ko-KR" altLang="en-US" sz="1200" b="1" strike="noStrike" dirty="0"/>
                        <a:t> </a:t>
                      </a:r>
                      <a:r>
                        <a:rPr lang="en-US" altLang="ko-KR" sz="1200" b="1" strike="noStrike" dirty="0"/>
                        <a:t>based</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Snapshot based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137160" indent="-137160">
                        <a:lnSpc>
                          <a:spcPct val="104000"/>
                        </a:lnSpc>
                        <a:spcAft>
                          <a:spcPts val="0"/>
                        </a:spcAft>
                        <a:buFont typeface="Arial" pitchFamily="34" charset="0"/>
                        <a:buChar char="▪"/>
                      </a:pPr>
                      <a:r>
                        <a:rPr lang="en-US" altLang="ko-KR" sz="1200" b="0" i="0" dirty="0">
                          <a:solidFill>
                            <a:srgbClr val="404040"/>
                          </a:solidFill>
                          <a:latin typeface="+mn-lt"/>
                          <a:ea typeface="맑은 고딕"/>
                        </a:rPr>
                        <a:t>Threshold Trigger </a:t>
                      </a:r>
                      <a:r>
                        <a:rPr lang="ko-KR" altLang="en-US" sz="1200" b="0" i="0" dirty="0">
                          <a:solidFill>
                            <a:srgbClr val="404040"/>
                          </a:solidFill>
                          <a:latin typeface="+mn-lt"/>
                          <a:ea typeface="맑은 고딕"/>
                        </a:rPr>
                        <a:t>가 즉시 판단을 기동해 </a:t>
                      </a:r>
                      <a:r>
                        <a:rPr lang="en-US" altLang="ko-KR" sz="1200" b="0" i="0" dirty="0">
                          <a:solidFill>
                            <a:srgbClr val="404040"/>
                          </a:solidFill>
                          <a:latin typeface="+mn-lt"/>
                          <a:ea typeface="맑은 고딕"/>
                        </a:rPr>
                        <a:t>HBM </a:t>
                      </a:r>
                      <a:r>
                        <a:rPr lang="ko-KR" altLang="en-US" sz="1200" b="0" i="0" dirty="0">
                          <a:solidFill>
                            <a:srgbClr val="404040"/>
                          </a:solidFill>
                          <a:latin typeface="+mn-lt"/>
                          <a:ea typeface="맑은 고딕"/>
                        </a:rPr>
                        <a:t>압박 구간이 짧음 </a:t>
                      </a:r>
                      <a:r>
                        <a:rPr lang="en-US" altLang="ko-KR" sz="1200" b="0" i="0" dirty="0">
                          <a:solidFill>
                            <a:srgbClr val="404040"/>
                          </a:solidFill>
                          <a:latin typeface="+mn-lt"/>
                          <a:ea typeface="맑은 고딕"/>
                        </a:rPr>
                        <a:t>(QA2) </a:t>
                      </a:r>
                      <a:endParaRPr lang="ko-KR" altLang="en-US" sz="1200" b="0" i="0" dirty="0">
                        <a:solidFill>
                          <a:srgbClr val="404040"/>
                        </a:solidFill>
                        <a:latin typeface="+mn-lt"/>
                        <a:ea typeface="맑은 고딕"/>
                      </a:endParaRPr>
                    </a:p>
                    <a:p>
                      <a:pPr marL="137160" indent="-137160">
                        <a:lnSpc>
                          <a:spcPct val="104000"/>
                        </a:lnSpc>
                        <a:spcAft>
                          <a:spcPts val="0"/>
                        </a:spcAft>
                        <a:buFont typeface="Arial" pitchFamily="34" charset="0"/>
                        <a:buChar char="▪"/>
                      </a:pP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간 인터페이스 호출이 없어 정책 수정</a:t>
                      </a:r>
                      <a:r>
                        <a:rPr lang="ko-KR" altLang="en-US" sz="1200" b="0" i="0" baseline="0" dirty="0">
                          <a:solidFill>
                            <a:srgbClr val="404040"/>
                          </a:solidFill>
                          <a:latin typeface="+mn-lt"/>
                          <a:ea typeface="맑은 고딕"/>
                        </a:rPr>
                        <a:t> 범위 제한 </a:t>
                      </a:r>
                      <a:r>
                        <a:rPr lang="en-US" altLang="ko-KR" sz="1200" b="0" i="0" baseline="0" dirty="0">
                          <a:solidFill>
                            <a:srgbClr val="404040"/>
                          </a:solidFill>
                          <a:latin typeface="+mn-lt"/>
                          <a:ea typeface="맑은 고딕"/>
                        </a:rPr>
                        <a:t>(QA3)</a:t>
                      </a:r>
                      <a:endParaRPr lang="ko-KR" altLang="en-US" sz="120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137160" indent="-137160">
                        <a:lnSpc>
                          <a:spcPct val="104000"/>
                        </a:lnSpc>
                        <a:spcAft>
                          <a:spcPts val="200"/>
                        </a:spcAft>
                        <a:buFont typeface="Arial" pitchFamily="34" charset="0"/>
                        <a:buChar char="▪"/>
                      </a:pPr>
                      <a:r>
                        <a:rPr lang="en-US" altLang="ko-KR" sz="1200" b="0" i="0" dirty="0">
                          <a:solidFill>
                            <a:srgbClr val="404040"/>
                          </a:solidFill>
                          <a:latin typeface="+mn-lt"/>
                          <a:ea typeface="맑은 고딕"/>
                        </a:rPr>
                        <a:t>Decision Scheduler</a:t>
                      </a:r>
                      <a:r>
                        <a:rPr lang="ko-KR" altLang="en-US" sz="1200" b="0" i="0" dirty="0">
                          <a:solidFill>
                            <a:srgbClr val="404040"/>
                          </a:solidFill>
                          <a:latin typeface="+mn-lt"/>
                          <a:ea typeface="맑은 고딕"/>
                        </a:rPr>
                        <a:t>가 판단 주기를 독립 보유해 수집</a:t>
                      </a:r>
                      <a:r>
                        <a:rPr lang="en-US" altLang="ko-KR" sz="1200" b="0" i="0" dirty="0">
                          <a:solidFill>
                            <a:srgbClr val="404040"/>
                          </a:solidFill>
                          <a:latin typeface="+mn-lt"/>
                          <a:ea typeface="맑은 고딕"/>
                        </a:rPr>
                        <a:t>·</a:t>
                      </a:r>
                      <a:r>
                        <a:rPr lang="ko-KR" altLang="en-US" sz="1200" b="0" i="0" dirty="0">
                          <a:solidFill>
                            <a:srgbClr val="404040"/>
                          </a:solidFill>
                          <a:latin typeface="+mn-lt"/>
                          <a:ea typeface="맑은 고딕"/>
                        </a:rPr>
                        <a:t>판단 분리 조절 </a:t>
                      </a:r>
                      <a:r>
                        <a:rPr lang="en-US" altLang="ko-KR" sz="1200" b="0" i="0" dirty="0">
                          <a:solidFill>
                            <a:srgbClr val="404040"/>
                          </a:solidFill>
                          <a:latin typeface="+mn-lt"/>
                          <a:ea typeface="맑은 고딕"/>
                        </a:rPr>
                        <a:t>(QA1)</a:t>
                      </a:r>
                    </a:p>
                    <a:p>
                      <a:pPr marL="137160" indent="-137160">
                        <a:lnSpc>
                          <a:spcPct val="104000"/>
                        </a:lnSpc>
                        <a:spcAft>
                          <a:spcPts val="200"/>
                        </a:spcAft>
                        <a:buFont typeface="Arial" pitchFamily="34" charset="0"/>
                        <a:buChar char="▪"/>
                      </a:pPr>
                      <a:r>
                        <a:rPr lang="en-US" altLang="ko-KR" sz="1200" b="0" i="0" dirty="0">
                          <a:solidFill>
                            <a:srgbClr val="404040"/>
                          </a:solidFill>
                          <a:latin typeface="+mn-lt"/>
                          <a:ea typeface="맑은 고딕"/>
                        </a:rPr>
                        <a:t>Data object </a:t>
                      </a:r>
                      <a:r>
                        <a:rPr lang="ko-KR" altLang="en-US" sz="1200" b="0" i="0" dirty="0">
                          <a:solidFill>
                            <a:srgbClr val="404040"/>
                          </a:solidFill>
                          <a:latin typeface="+mn-lt"/>
                          <a:ea typeface="맑은 고딕"/>
                        </a:rPr>
                        <a:t>수 및 </a:t>
                      </a:r>
                      <a:r>
                        <a:rPr lang="en-US" altLang="ko-KR" sz="1200" b="0" i="0" dirty="0">
                          <a:solidFill>
                            <a:srgbClr val="404040"/>
                          </a:solidFill>
                          <a:latin typeface="+mn-lt"/>
                          <a:ea typeface="맑은 고딕"/>
                        </a:rPr>
                        <a:t>tier</a:t>
                      </a:r>
                      <a:r>
                        <a:rPr lang="ko-KR" altLang="en-US" sz="1200" b="0" i="0" dirty="0">
                          <a:solidFill>
                            <a:srgbClr val="404040"/>
                          </a:solidFill>
                          <a:latin typeface="+mn-lt"/>
                          <a:ea typeface="맑은 고딕"/>
                        </a:rPr>
                        <a:t>가 늘어나도 </a:t>
                      </a:r>
                      <a:r>
                        <a:rPr lang="en-US" altLang="ko-KR" sz="1200" b="0" i="0" dirty="0">
                          <a:solidFill>
                            <a:srgbClr val="404040"/>
                          </a:solidFill>
                          <a:latin typeface="+mn-lt"/>
                          <a:ea typeface="맑은 고딕"/>
                        </a:rPr>
                        <a:t>scheduling</a:t>
                      </a:r>
                      <a:r>
                        <a:rPr lang="en-US" altLang="ko-KR" sz="1200" b="0" i="0" baseline="0" dirty="0">
                          <a:solidFill>
                            <a:srgbClr val="404040"/>
                          </a:solidFill>
                          <a:latin typeface="+mn-lt"/>
                          <a:ea typeface="맑은 고딕"/>
                        </a:rPr>
                        <a:t> </a:t>
                      </a:r>
                      <a:r>
                        <a:rPr lang="ko-KR" altLang="en-US" sz="1200" b="0" i="0" baseline="0" dirty="0">
                          <a:solidFill>
                            <a:srgbClr val="404040"/>
                          </a:solidFill>
                          <a:latin typeface="+mn-lt"/>
                          <a:ea typeface="맑은 고딕"/>
                        </a:rPr>
                        <a:t>통한 </a:t>
                      </a:r>
                      <a:r>
                        <a:rPr lang="ko-KR" altLang="en-US" sz="1200" b="0" i="0" dirty="0">
                          <a:solidFill>
                            <a:srgbClr val="404040"/>
                          </a:solidFill>
                          <a:latin typeface="+mn-lt"/>
                          <a:ea typeface="맑은 고딕"/>
                        </a:rPr>
                        <a:t>확장성 유리 </a:t>
                      </a:r>
                      <a:r>
                        <a:rPr lang="en-US" altLang="ko-KR" sz="1200" b="0" i="0" dirty="0">
                          <a:solidFill>
                            <a:srgbClr val="404040"/>
                          </a:solidFill>
                          <a:latin typeface="+mn-lt"/>
                          <a:ea typeface="맑은 고딕"/>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137160" indent="-137160">
                        <a:lnSpc>
                          <a:spcPct val="104000"/>
                        </a:lnSpc>
                        <a:spcAft>
                          <a:spcPts val="0"/>
                        </a:spcAft>
                        <a:buFont typeface="Arial" pitchFamily="34" charset="0"/>
                        <a:buChar char="▪"/>
                      </a:pPr>
                      <a:r>
                        <a:rPr lang="en-US" altLang="ko-KR" sz="1200" b="0" i="0" dirty="0">
                          <a:solidFill>
                            <a:srgbClr val="404040"/>
                          </a:solidFill>
                          <a:latin typeface="+mn-lt"/>
                          <a:ea typeface="맑은 고딕"/>
                        </a:rPr>
                        <a:t>State Lock Manager</a:t>
                      </a:r>
                      <a:r>
                        <a:rPr lang="ko-KR" altLang="en-US" sz="1200" b="0" i="0" dirty="0">
                          <a:solidFill>
                            <a:srgbClr val="404040"/>
                          </a:solidFill>
                          <a:latin typeface="+mn-lt"/>
                          <a:ea typeface="맑은 고딕"/>
                        </a:rPr>
                        <a:t>가 판단 중 상태 갱신 차단</a:t>
                      </a:r>
                      <a:r>
                        <a:rPr lang="ko-KR" altLang="en-US" sz="1200" b="0" i="0" baseline="0" dirty="0">
                          <a:solidFill>
                            <a:srgbClr val="404040"/>
                          </a:solidFill>
                          <a:latin typeface="+mn-lt"/>
                          <a:ea typeface="맑은 고딕"/>
                        </a:rPr>
                        <a:t> </a:t>
                      </a:r>
                      <a:r>
                        <a:rPr lang="ko-KR" altLang="en-US" sz="1200" b="0" i="0" dirty="0">
                          <a:solidFill>
                            <a:srgbClr val="404040"/>
                          </a:solidFill>
                          <a:latin typeface="+mn-lt"/>
                          <a:ea typeface="맑은 고딕"/>
                        </a:rPr>
                        <a:t>→ 지연 유발 </a:t>
                      </a:r>
                      <a:r>
                        <a:rPr lang="en-US" altLang="ko-KR" sz="1200" b="0" i="0" dirty="0">
                          <a:solidFill>
                            <a:srgbClr val="404040"/>
                          </a:solidFill>
                          <a:latin typeface="+mn-lt"/>
                          <a:ea typeface="맑은 고딕"/>
                        </a:rPr>
                        <a:t>(QA1)</a:t>
                      </a:r>
                    </a:p>
                    <a:p>
                      <a:pPr marL="137160" indent="-137160">
                        <a:lnSpc>
                          <a:spcPct val="104000"/>
                        </a:lnSpc>
                        <a:spcAft>
                          <a:spcPts val="200"/>
                        </a:spcAft>
                        <a:buFont typeface="Arial" pitchFamily="34" charset="0"/>
                        <a:buChar char="▪"/>
                      </a:pPr>
                      <a:r>
                        <a:rPr lang="en-US" altLang="ko-KR" sz="1200" b="0" i="0" dirty="0" err="1">
                          <a:solidFill>
                            <a:srgbClr val="404040"/>
                          </a:solidFill>
                          <a:latin typeface="+mn-lt"/>
                          <a:ea typeface="맑은 고딕"/>
                        </a:rPr>
                        <a:t>Tier·object</a:t>
                      </a:r>
                      <a:r>
                        <a:rPr lang="ko-KR" altLang="en-US" sz="1200" b="0" i="0" dirty="0">
                          <a:solidFill>
                            <a:srgbClr val="404040"/>
                          </a:solidFill>
                          <a:latin typeface="+mn-lt"/>
                          <a:ea typeface="맑은 고딕"/>
                        </a:rPr>
                        <a:t> 증가분을 한 서비스가 함께 받음 → 단일 병목 </a:t>
                      </a:r>
                      <a:r>
                        <a:rPr lang="en-US" altLang="ko-KR" sz="1200" b="0" i="0" dirty="0">
                          <a:solidFill>
                            <a:srgbClr val="404040"/>
                          </a:solidFill>
                          <a:latin typeface="+mn-lt"/>
                          <a:ea typeface="맑은 고딕"/>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137160" indent="-137160">
                        <a:lnSpc>
                          <a:spcPct val="104000"/>
                        </a:lnSpc>
                        <a:spcAft>
                          <a:spcPts val="200"/>
                        </a:spcAft>
                        <a:buFont typeface="Arial" pitchFamily="34" charset="0"/>
                        <a:buChar cha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바뀐 상태 기준 이동의 거절</a:t>
                      </a:r>
                      <a:r>
                        <a:rPr lang="en-US" altLang="ko-KR" sz="1200" b="0" i="0" dirty="0">
                          <a:solidFill>
                            <a:srgbClr val="404040"/>
                          </a:solidFill>
                          <a:latin typeface="+mn-lt"/>
                          <a:ea typeface="맑은 고딕"/>
                        </a:rPr>
                        <a:t>·</a:t>
                      </a:r>
                      <a:r>
                        <a:rPr lang="ko-KR" altLang="en-US" sz="1200" b="0" i="0" dirty="0">
                          <a:solidFill>
                            <a:srgbClr val="404040"/>
                          </a:solidFill>
                          <a:latin typeface="+mn-lt"/>
                          <a:ea typeface="맑은 고딕"/>
                        </a:rPr>
                        <a:t>재시도 </a:t>
                      </a:r>
                      <a:r>
                        <a:rPr lang="en-US" altLang="ko-KR" sz="1200" b="0" i="0" dirty="0">
                          <a:solidFill>
                            <a:srgbClr val="404040"/>
                          </a:solidFill>
                          <a:latin typeface="+mn-lt"/>
                          <a:ea typeface="맑은 고딕"/>
                        </a:rPr>
                        <a:t>(QA2)</a:t>
                      </a:r>
                    </a:p>
                    <a:p>
                      <a:pPr marL="137160" indent="-137160">
                        <a:lnSpc>
                          <a:spcPct val="104000"/>
                        </a:lnSpc>
                        <a:spcAft>
                          <a:spcPts val="0"/>
                        </a:spcAft>
                        <a:buFont typeface="Arial" pitchFamily="34" charset="0"/>
                        <a:buChar char="▪"/>
                      </a:pPr>
                      <a:r>
                        <a:rPr lang="en-US" altLang="ko-KR" sz="1200" b="0" i="0" dirty="0">
                          <a:solidFill>
                            <a:srgbClr val="404040"/>
                          </a:solidFill>
                          <a:latin typeface="+mn-lt"/>
                          <a:ea typeface="맑은 고딕"/>
                        </a:rPr>
                        <a:t>Snapshot </a:t>
                      </a:r>
                      <a:r>
                        <a:rPr lang="ko-KR" altLang="en-US" sz="1200" b="0" i="0" dirty="0">
                          <a:solidFill>
                            <a:srgbClr val="404040"/>
                          </a:solidFill>
                          <a:latin typeface="+mn-lt"/>
                          <a:ea typeface="맑은 고딕"/>
                        </a:rPr>
                        <a:t>스키마</a:t>
                      </a:r>
                      <a:r>
                        <a:rPr lang="en-US" altLang="ko-KR" sz="1200" b="0" i="0" dirty="0">
                          <a:solidFill>
                            <a:srgbClr val="404040"/>
                          </a:solidFill>
                          <a:latin typeface="+mn-lt"/>
                          <a:ea typeface="맑은 고딕"/>
                        </a:rPr>
                        <a:t>·Command Queue </a:t>
                      </a:r>
                      <a:r>
                        <a:rPr lang="ko-KR" altLang="en-US" sz="1200" b="0" i="0" dirty="0">
                          <a:solidFill>
                            <a:srgbClr val="404040"/>
                          </a:solidFill>
                          <a:latin typeface="+mn-lt"/>
                          <a:ea typeface="맑은 고딕"/>
                        </a:rPr>
                        <a:t>인터페이스가 바뀌면 </a:t>
                      </a:r>
                      <a:r>
                        <a:rPr lang="en-US" altLang="ko-KR" sz="1200" b="0" i="0" dirty="0" err="1">
                          <a:solidFill>
                            <a:srgbClr val="404040"/>
                          </a:solidFill>
                          <a:latin typeface="+mn-lt"/>
                          <a:ea typeface="맑은 고딕"/>
                        </a:rPr>
                        <a:t>Resource·Data</a:t>
                      </a:r>
                      <a:r>
                        <a:rPr lang="ko-KR" altLang="en-US" sz="1200" b="0" i="0" dirty="0">
                          <a:solidFill>
                            <a:srgbClr val="404040"/>
                          </a:solidFill>
                          <a:latin typeface="+mn-lt"/>
                          <a:ea typeface="맑은 고딕"/>
                        </a:rPr>
                        <a:t> </a:t>
                      </a: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까지 동반 수정 </a:t>
                      </a:r>
                      <a:r>
                        <a:rPr lang="en-US" altLang="ko-KR" sz="1200" b="0" i="0" dirty="0">
                          <a:solidFill>
                            <a:srgbClr val="404040"/>
                          </a:solidFill>
                          <a:latin typeface="+mn-lt"/>
                          <a:ea typeface="맑은 고딕"/>
                        </a:rPr>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p:txBody>
          <a:bodyPr/>
          <a:lstStyle/>
          <a:p>
            <a:fld id="{7F889C64-266A-4D07-AD8F-5B592E61CCE1}" type="slidenum">
              <a:rPr lang="ko-KR" altLang="en-US" smtClean="0"/>
              <a:pPr/>
              <a:t>186</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a:t>
            </a:r>
            <a:r>
              <a:rPr lang="en-US" altLang="ko-KR" sz="1400" b="1" dirty="0">
                <a:solidFill>
                  <a:schemeClr val="bg1"/>
                </a:solidFill>
              </a:rPr>
              <a:t> </a:t>
            </a:r>
            <a:r>
              <a:rPr lang="ko-KR" altLang="en-US" sz="1400" b="1" dirty="0">
                <a:solidFill>
                  <a:schemeClr val="bg1"/>
                </a:solidFill>
              </a:rPr>
              <a:t>정책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strike="sngStrike" dirty="0"/>
              <a:t>“Resource Plane</a:t>
            </a:r>
            <a:r>
              <a:rPr lang="ko-KR" altLang="en-US" sz="1100" strike="sngStrike" dirty="0"/>
              <a:t>에서 상태를 관측하고 곧바로 이동을 결정</a:t>
            </a:r>
            <a:r>
              <a:rPr lang="en-US" altLang="ko-KR" sz="1100" strike="sngStrike" dirty="0"/>
              <a:t>“</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strike="sngStrike" dirty="0"/>
              <a:t>“Resource Plane</a:t>
            </a:r>
            <a:r>
              <a:rPr lang="ko-KR" altLang="en-US" sz="1100" strike="sngStrike" dirty="0"/>
              <a:t>은 상태 관측만 하고 </a:t>
            </a:r>
            <a:r>
              <a:rPr lang="en-US" altLang="ko-KR" sz="1100" strike="sngStrike" dirty="0"/>
              <a:t>Control Plane</a:t>
            </a:r>
            <a:r>
              <a:rPr lang="ko-KR" altLang="en-US" sz="1100" strike="sngStrike" dirty="0"/>
              <a:t>에서 이동을 결정</a:t>
            </a:r>
            <a:r>
              <a:rPr lang="en-US" altLang="ko-KR" sz="1100" strike="sngStrike" dirty="0"/>
              <a:t>“</a:t>
            </a: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3"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rId4"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5"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grpSp>
        <p:nvGrpSpPr>
          <p:cNvPr id="84" name="그룹 83"/>
          <p:cNvGrpSpPr/>
          <p:nvPr/>
        </p:nvGrpSpPr>
        <p:grpSpPr>
          <a:xfrm>
            <a:off x="6621854" y="1807983"/>
            <a:ext cx="5128953" cy="2798064"/>
            <a:chOff x="6236208" y="1645920"/>
            <a:chExt cx="5641848" cy="2798064"/>
          </a:xfrm>
        </p:grpSpPr>
        <p:sp>
          <p:nvSpPr>
            <p:cNvPr id="309" name="Rectangle 71"/>
            <p:cNvSpPr/>
            <p:nvPr/>
          </p:nvSpPr>
          <p:spPr>
            <a:xfrm>
              <a:off x="6236208" y="1645920"/>
              <a:ext cx="5641848" cy="93268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0" name="TextBox 309"/>
            <p:cNvSpPr txBox="1"/>
            <p:nvPr/>
          </p:nvSpPr>
          <p:spPr>
            <a:xfrm>
              <a:off x="6236208" y="1682496"/>
              <a:ext cx="5641848"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Control Plane</a:t>
              </a:r>
            </a:p>
          </p:txBody>
        </p:sp>
        <p:sp>
          <p:nvSpPr>
            <p:cNvPr id="311" name="Rectangle 73"/>
            <p:cNvSpPr/>
            <p:nvPr/>
          </p:nvSpPr>
          <p:spPr>
            <a:xfrm>
              <a:off x="6345935" y="2011680"/>
              <a:ext cx="1449321"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rgbClr val="7F5F00"/>
                  </a:solidFill>
                  <a:latin typeface="맑은 고딕"/>
                  <a:ea typeface="맑은 고딕"/>
                </a:rPr>
                <a:t>Decision Scheduler</a:t>
              </a:r>
            </a:p>
            <a:p>
              <a:pPr algn="ctr">
                <a:lnSpc>
                  <a:spcPct val="125000"/>
                </a:lnSpc>
              </a:pP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주기</a:t>
              </a:r>
              <a:r>
                <a:rPr sz="650" b="0" i="0" dirty="0">
                  <a:solidFill>
                    <a:srgbClr val="7F5F00"/>
                  </a:solidFill>
                  <a:latin typeface="맑은 고딕"/>
                  <a:ea typeface="맑은 고딕"/>
                </a:rPr>
                <a:t> </a:t>
              </a:r>
              <a:r>
                <a:rPr lang="ko-KR" altLang="en-US" sz="650" b="0" i="0" dirty="0">
                  <a:solidFill>
                    <a:srgbClr val="7F5F00"/>
                  </a:solidFill>
                  <a:latin typeface="맑은 고딕"/>
                  <a:ea typeface="맑은 고딕"/>
                </a:rPr>
                <a:t>독립 </a:t>
              </a:r>
              <a:r>
                <a:rPr sz="650" b="0" i="0" dirty="0" err="1">
                  <a:solidFill>
                    <a:srgbClr val="7F5F00"/>
                  </a:solidFill>
                  <a:latin typeface="맑은 고딕"/>
                  <a:ea typeface="맑은 고딕"/>
                </a:rPr>
                <a:t>보유</a:t>
              </a:r>
              <a:endParaRPr sz="650" b="0" i="0" dirty="0">
                <a:solidFill>
                  <a:srgbClr val="7F5F00"/>
                </a:solidFill>
                <a:latin typeface="맑은 고딕"/>
                <a:ea typeface="맑은 고딕"/>
              </a:endParaRPr>
            </a:p>
          </p:txBody>
        </p:sp>
        <p:sp>
          <p:nvSpPr>
            <p:cNvPr id="312" name="Rectangle 74"/>
            <p:cNvSpPr/>
            <p:nvPr/>
          </p:nvSpPr>
          <p:spPr>
            <a:xfrm>
              <a:off x="7968995" y="2011680"/>
              <a:ext cx="1046988" cy="457200"/>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Trend Analyzer</a:t>
              </a:r>
            </a:p>
            <a:p>
              <a:pPr algn="ctr">
                <a:lnSpc>
                  <a:spcPct val="125000"/>
                </a:lnSpc>
              </a:pPr>
              <a:r>
                <a:rPr sz="680" b="0" i="0" dirty="0" err="1">
                  <a:solidFill>
                    <a:schemeClr val="tx1"/>
                  </a:solidFill>
                  <a:latin typeface="맑은 고딕"/>
                  <a:ea typeface="맑은 고딕"/>
                </a:rPr>
                <a:t>자원</a:t>
              </a:r>
              <a:r>
                <a:rPr sz="680" b="0" i="0" dirty="0">
                  <a:solidFill>
                    <a:schemeClr val="tx1"/>
                  </a:solidFill>
                  <a:latin typeface="맑은 고딕"/>
                  <a:ea typeface="맑은 고딕"/>
                </a:rPr>
                <a:t> </a:t>
              </a:r>
              <a:r>
                <a:rPr sz="680" b="0" i="0" dirty="0" err="1">
                  <a:solidFill>
                    <a:schemeClr val="tx1"/>
                  </a:solidFill>
                  <a:latin typeface="맑은 고딕"/>
                  <a:ea typeface="맑은 고딕"/>
                </a:rPr>
                <a:t>추세</a:t>
              </a:r>
              <a:r>
                <a:rPr sz="680" b="0" i="0" dirty="0">
                  <a:solidFill>
                    <a:schemeClr val="tx1"/>
                  </a:solidFill>
                  <a:latin typeface="맑은 고딕"/>
                  <a:ea typeface="맑은 고딕"/>
                </a:rPr>
                <a:t> </a:t>
              </a:r>
              <a:r>
                <a:rPr sz="680" b="0" i="0" dirty="0" err="1">
                  <a:solidFill>
                    <a:schemeClr val="tx1"/>
                  </a:solidFill>
                  <a:latin typeface="맑은 고딕"/>
                  <a:ea typeface="맑은 고딕"/>
                </a:rPr>
                <a:t>판단</a:t>
              </a:r>
              <a:endParaRPr sz="680" b="0" i="0" dirty="0">
                <a:solidFill>
                  <a:schemeClr val="tx1"/>
                </a:solidFill>
                <a:latin typeface="맑은 고딕"/>
                <a:ea typeface="맑은 고딕"/>
              </a:endParaRPr>
            </a:p>
          </p:txBody>
        </p:sp>
        <p:sp>
          <p:nvSpPr>
            <p:cNvPr id="313" name="Rectangle 75"/>
            <p:cNvSpPr/>
            <p:nvPr/>
          </p:nvSpPr>
          <p:spPr>
            <a:xfrm>
              <a:off x="9162288" y="2011680"/>
              <a:ext cx="1280160" cy="457200"/>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a:solidFill>
                    <a:schemeClr val="tx1"/>
                  </a:solidFill>
                  <a:latin typeface="맑은 고딕"/>
                  <a:ea typeface="맑은 고딕"/>
                </a:rPr>
                <a:t>Affinity Mapper</a:t>
              </a:r>
            </a:p>
            <a:p>
              <a:pPr algn="ctr">
                <a:lnSpc>
                  <a:spcPct val="125000"/>
                </a:lnSpc>
              </a:pPr>
              <a:r>
                <a:rPr sz="680" b="0" i="0">
                  <a:solidFill>
                    <a:schemeClr val="tx1"/>
                  </a:solidFill>
                  <a:latin typeface="맑은 고딕"/>
                  <a:ea typeface="맑은 고딕"/>
                </a:rPr>
                <a:t>데이터·메모리 적합도</a:t>
              </a:r>
            </a:p>
          </p:txBody>
        </p:sp>
        <p:sp>
          <p:nvSpPr>
            <p:cNvPr id="314" name="Rectangle 76"/>
            <p:cNvSpPr/>
            <p:nvPr/>
          </p:nvSpPr>
          <p:spPr>
            <a:xfrm>
              <a:off x="10588752" y="2011680"/>
              <a:ext cx="1280160" cy="457200"/>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Policy Engine</a:t>
              </a:r>
            </a:p>
            <a:p>
              <a:pPr algn="ctr">
                <a:lnSpc>
                  <a:spcPct val="125000"/>
                </a:lnSpc>
              </a:pPr>
              <a:r>
                <a:rPr sz="680" b="0" i="0" dirty="0" err="1">
                  <a:solidFill>
                    <a:schemeClr val="tx1"/>
                  </a:solidFill>
                  <a:latin typeface="맑은 고딕"/>
                  <a:ea typeface="맑은 고딕"/>
                </a:rPr>
                <a:t>이동</a:t>
              </a:r>
              <a:r>
                <a:rPr sz="680" b="0" i="0" dirty="0">
                  <a:solidFill>
                    <a:schemeClr val="tx1"/>
                  </a:solidFill>
                  <a:latin typeface="맑은 고딕"/>
                  <a:ea typeface="맑은 고딕"/>
                </a:rPr>
                <a:t> </a:t>
              </a:r>
              <a:r>
                <a:rPr sz="680" b="0" i="0" dirty="0" err="1">
                  <a:solidFill>
                    <a:schemeClr val="tx1"/>
                  </a:solidFill>
                  <a:latin typeface="맑은 고딕"/>
                  <a:ea typeface="맑은 고딕"/>
                </a:rPr>
                <a:t>명령</a:t>
              </a:r>
              <a:r>
                <a:rPr sz="680" b="0" i="0" dirty="0">
                  <a:solidFill>
                    <a:schemeClr val="tx1"/>
                  </a:solidFill>
                  <a:latin typeface="맑은 고딕"/>
                  <a:ea typeface="맑은 고딕"/>
                </a:rPr>
                <a:t> </a:t>
              </a:r>
              <a:r>
                <a:rPr sz="680" b="0" i="0" dirty="0" err="1">
                  <a:solidFill>
                    <a:schemeClr val="tx1"/>
                  </a:solidFill>
                  <a:latin typeface="맑은 고딕"/>
                  <a:ea typeface="맑은 고딕"/>
                </a:rPr>
                <a:t>확정</a:t>
              </a:r>
              <a:endParaRPr sz="680" b="0" i="0" dirty="0">
                <a:solidFill>
                  <a:schemeClr val="tx1"/>
                </a:solidFill>
                <a:latin typeface="맑은 고딕"/>
                <a:ea typeface="맑은 고딕"/>
              </a:endParaRPr>
            </a:p>
          </p:txBody>
        </p:sp>
        <p:cxnSp>
          <p:nvCxnSpPr>
            <p:cNvPr id="315" name="Connector 77"/>
            <p:cNvCxnSpPr/>
            <p:nvPr/>
          </p:nvCxnSpPr>
          <p:spPr>
            <a:xfrm>
              <a:off x="7804402" y="2240280"/>
              <a:ext cx="164593"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7774975" y="2318004"/>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7" name="Connector 79"/>
            <p:cNvCxnSpPr/>
            <p:nvPr/>
          </p:nvCxnSpPr>
          <p:spPr>
            <a:xfrm>
              <a:off x="9015984"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2448"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9" name="Rectangle 81"/>
            <p:cNvSpPr/>
            <p:nvPr/>
          </p:nvSpPr>
          <p:spPr>
            <a:xfrm>
              <a:off x="6236208" y="2816352"/>
              <a:ext cx="2779776" cy="1225296"/>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20" name="TextBox 319"/>
            <p:cNvSpPr txBox="1"/>
            <p:nvPr/>
          </p:nvSpPr>
          <p:spPr>
            <a:xfrm>
              <a:off x="6236208" y="2852928"/>
              <a:ext cx="2779776"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321" name="Rectangle 83"/>
            <p:cNvSpPr/>
            <p:nvPr/>
          </p:nvSpPr>
          <p:spPr>
            <a:xfrm>
              <a:off x="6345936" y="3035808"/>
              <a:ext cx="2560320"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State Snapshot Builder</a:t>
              </a:r>
            </a:p>
            <a:p>
              <a:pPr algn="ctr">
                <a:lnSpc>
                  <a:spcPct val="125000"/>
                </a:lnSpc>
              </a:pPr>
              <a:r>
                <a:rPr sz="650" b="0" i="0">
                  <a:solidFill>
                    <a:srgbClr val="7F5F00"/>
                  </a:solidFill>
                  <a:latin typeface="맑은 고딕"/>
                  <a:ea typeface="맑은 고딕"/>
                </a:rPr>
                <a:t>일관 복사본 생성 · object 수 비례 비용</a:t>
              </a:r>
            </a:p>
          </p:txBody>
        </p:sp>
        <p:sp>
          <p:nvSpPr>
            <p:cNvPr id="322" name="Rectangle 84"/>
            <p:cNvSpPr/>
            <p:nvPr/>
          </p:nvSpPr>
          <p:spPr>
            <a:xfrm>
              <a:off x="6345936" y="3364992"/>
              <a:ext cx="122529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323" name="Rectangle 85"/>
            <p:cNvSpPr/>
            <p:nvPr/>
          </p:nvSpPr>
          <p:spPr>
            <a:xfrm>
              <a:off x="7680960" y="3364992"/>
              <a:ext cx="122529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24" name="Rectangle 86"/>
            <p:cNvSpPr/>
            <p:nvPr/>
          </p:nvSpPr>
          <p:spPr>
            <a:xfrm>
              <a:off x="6345936" y="3675887"/>
              <a:ext cx="2560320"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Memory·Data Object Registry</a:t>
              </a:r>
            </a:p>
          </p:txBody>
        </p:sp>
        <p:cxnSp>
          <p:nvCxnSpPr>
            <p:cNvPr id="325" name="Connector 87"/>
            <p:cNvCxnSpPr/>
            <p:nvPr/>
          </p:nvCxnSpPr>
          <p:spPr>
            <a:xfrm flipV="1">
              <a:off x="6958584"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p:nvPr/>
          </p:nvCxnSpPr>
          <p:spPr>
            <a:xfrm flipV="1">
              <a:off x="8293608"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p:nvPr/>
          </p:nvCxnSpPr>
          <p:spPr>
            <a:xfrm flipV="1">
              <a:off x="7626096" y="3310128"/>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7548371" y="343357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329" name="Connector 91"/>
            <p:cNvCxnSpPr/>
            <p:nvPr/>
          </p:nvCxnSpPr>
          <p:spPr>
            <a:xfrm flipV="1">
              <a:off x="8686800" y="2468880"/>
              <a:ext cx="0" cy="566928"/>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773667" y="2647188"/>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③</a:t>
              </a:r>
            </a:p>
          </p:txBody>
        </p:sp>
        <p:sp>
          <p:nvSpPr>
            <p:cNvPr id="331" name="Rectangle 93"/>
            <p:cNvSpPr/>
            <p:nvPr/>
          </p:nvSpPr>
          <p:spPr>
            <a:xfrm>
              <a:off x="9345168" y="2816352"/>
              <a:ext cx="2532888" cy="12252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2" name="TextBox 331"/>
            <p:cNvSpPr txBox="1"/>
            <p:nvPr/>
          </p:nvSpPr>
          <p:spPr>
            <a:xfrm>
              <a:off x="9345168" y="2852928"/>
              <a:ext cx="2532888"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33" name="Rectangle 95"/>
            <p:cNvSpPr/>
            <p:nvPr/>
          </p:nvSpPr>
          <p:spPr>
            <a:xfrm>
              <a:off x="9454896" y="3035808"/>
              <a:ext cx="2313432"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Migration Command Queue</a:t>
              </a:r>
            </a:p>
            <a:p>
              <a:pPr algn="ctr">
                <a:lnSpc>
                  <a:spcPct val="125000"/>
                </a:lnSpc>
              </a:pPr>
              <a:r>
                <a:rPr sz="650" b="0" i="0">
                  <a:solidFill>
                    <a:srgbClr val="7F5F00"/>
                  </a:solidFill>
                  <a:latin typeface="맑은 고딕"/>
                  <a:ea typeface="맑은 고딕"/>
                </a:rPr>
                <a:t>비동기 판단 결과 버퍼 · 순서 보장</a:t>
              </a:r>
            </a:p>
          </p:txBody>
        </p:sp>
        <p:sp>
          <p:nvSpPr>
            <p:cNvPr id="334" name="Rectangle 96"/>
            <p:cNvSpPr/>
            <p:nvPr/>
          </p:nvSpPr>
          <p:spPr>
            <a:xfrm>
              <a:off x="9454896" y="3401568"/>
              <a:ext cx="2313432" cy="23774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35" name="Rectangle 97"/>
            <p:cNvSpPr/>
            <p:nvPr/>
          </p:nvSpPr>
          <p:spPr>
            <a:xfrm>
              <a:off x="9454896" y="3694176"/>
              <a:ext cx="2313432"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36" name="Connector 98"/>
            <p:cNvCxnSpPr/>
            <p:nvPr/>
          </p:nvCxnSpPr>
          <p:spPr>
            <a:xfrm>
              <a:off x="10616184" y="3328416"/>
              <a:ext cx="0" cy="73152"/>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703051" y="328726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⑤</a:t>
              </a:r>
            </a:p>
          </p:txBody>
        </p:sp>
        <p:cxnSp>
          <p:nvCxnSpPr>
            <p:cNvPr id="338" name="Connector 100"/>
            <p:cNvCxnSpPr/>
            <p:nvPr/>
          </p:nvCxnSpPr>
          <p:spPr>
            <a:xfrm>
              <a:off x="10616184" y="3639312"/>
              <a:ext cx="0" cy="5486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703051" y="3589020"/>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⑥</a:t>
              </a:r>
            </a:p>
          </p:txBody>
        </p:sp>
        <p:cxnSp>
          <p:nvCxnSpPr>
            <p:cNvPr id="340" name="Connector 102"/>
            <p:cNvCxnSpPr/>
            <p:nvPr/>
          </p:nvCxnSpPr>
          <p:spPr>
            <a:xfrm>
              <a:off x="11228832" y="2468880"/>
              <a:ext cx="0" cy="5669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1315700" y="26654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④</a:t>
              </a:r>
            </a:p>
          </p:txBody>
        </p:sp>
        <p:cxnSp>
          <p:nvCxnSpPr>
            <p:cNvPr id="342" name="Connector 104"/>
            <p:cNvCxnSpPr/>
            <p:nvPr/>
          </p:nvCxnSpPr>
          <p:spPr>
            <a:xfrm flipH="1">
              <a:off x="9125712" y="3520440"/>
              <a:ext cx="329184"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3" name="Connector 105"/>
            <p:cNvCxnSpPr/>
            <p:nvPr/>
          </p:nvCxnSpPr>
          <p:spPr>
            <a:xfrm>
              <a:off x="9125712" y="3520440"/>
              <a:ext cx="0" cy="59436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4" name="Connector 106"/>
            <p:cNvCxnSpPr/>
            <p:nvPr/>
          </p:nvCxnSpPr>
          <p:spPr>
            <a:xfrm flipH="1">
              <a:off x="6958584" y="4114800"/>
              <a:ext cx="2167128"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5" name="Connector 107"/>
            <p:cNvCxnSpPr/>
            <p:nvPr/>
          </p:nvCxnSpPr>
          <p:spPr>
            <a:xfrm flipV="1">
              <a:off x="6958584" y="3931920"/>
              <a:ext cx="0" cy="18288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7968996" y="40370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⑦</a:t>
              </a:r>
            </a:p>
          </p:txBody>
        </p:sp>
        <p:sp>
          <p:nvSpPr>
            <p:cNvPr id="347" name="Rectangle 109"/>
            <p:cNvSpPr/>
            <p:nvPr/>
          </p:nvSpPr>
          <p:spPr>
            <a:xfrm>
              <a:off x="6236208" y="4206240"/>
              <a:ext cx="564184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grpSp>
      <p:grpSp>
        <p:nvGrpSpPr>
          <p:cNvPr id="85" name="그룹 84"/>
          <p:cNvGrpSpPr/>
          <p:nvPr/>
        </p:nvGrpSpPr>
        <p:grpSpPr>
          <a:xfrm>
            <a:off x="1408113" y="1736977"/>
            <a:ext cx="4919472" cy="2834640"/>
            <a:chOff x="2178826" y="3733313"/>
            <a:chExt cx="4919472" cy="2834640"/>
          </a:xfrm>
        </p:grpSpPr>
        <p:sp>
          <p:nvSpPr>
            <p:cNvPr id="357" name="Rectangle 37"/>
            <p:cNvSpPr/>
            <p:nvPr/>
          </p:nvSpPr>
          <p:spPr>
            <a:xfrm>
              <a:off x="2178826" y="3733313"/>
              <a:ext cx="3785615" cy="202996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8" name="TextBox 357"/>
            <p:cNvSpPr txBox="1"/>
            <p:nvPr/>
          </p:nvSpPr>
          <p:spPr>
            <a:xfrm>
              <a:off x="2178826" y="3769889"/>
              <a:ext cx="3785615"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360" name="Rectangle 39"/>
            <p:cNvSpPr/>
            <p:nvPr/>
          </p:nvSpPr>
          <p:spPr>
            <a:xfrm>
              <a:off x="2288554" y="4099073"/>
              <a:ext cx="1133856" cy="420624"/>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Trend Analyzer</a:t>
              </a:r>
            </a:p>
            <a:p>
              <a:pPr algn="ctr">
                <a:lnSpc>
                  <a:spcPct val="125000"/>
                </a:lnSpc>
              </a:pPr>
              <a:r>
                <a:rPr sz="680" b="0" i="0" dirty="0" err="1">
                  <a:solidFill>
                    <a:schemeClr val="tx1"/>
                  </a:solidFill>
                  <a:latin typeface="맑은 고딕"/>
                  <a:ea typeface="맑은 고딕"/>
                </a:rPr>
                <a:t>자원</a:t>
              </a:r>
              <a:r>
                <a:rPr sz="680" b="0" i="0" dirty="0">
                  <a:solidFill>
                    <a:schemeClr val="tx1"/>
                  </a:solidFill>
                  <a:latin typeface="맑은 고딕"/>
                  <a:ea typeface="맑은 고딕"/>
                </a:rPr>
                <a:t> </a:t>
              </a:r>
              <a:r>
                <a:rPr sz="680" b="0" i="0" dirty="0" err="1">
                  <a:solidFill>
                    <a:schemeClr val="tx1"/>
                  </a:solidFill>
                  <a:latin typeface="맑은 고딕"/>
                  <a:ea typeface="맑은 고딕"/>
                </a:rPr>
                <a:t>추세</a:t>
              </a:r>
              <a:r>
                <a:rPr sz="680" b="0" i="0" dirty="0">
                  <a:solidFill>
                    <a:schemeClr val="tx1"/>
                  </a:solidFill>
                  <a:latin typeface="맑은 고딕"/>
                  <a:ea typeface="맑은 고딕"/>
                </a:rPr>
                <a:t> </a:t>
              </a:r>
              <a:r>
                <a:rPr sz="680" b="0" i="0" dirty="0" err="1">
                  <a:solidFill>
                    <a:schemeClr val="tx1"/>
                  </a:solidFill>
                  <a:latin typeface="맑은 고딕"/>
                  <a:ea typeface="맑은 고딕"/>
                </a:rPr>
                <a:t>판단</a:t>
              </a:r>
              <a:endParaRPr sz="680" b="0" i="0" dirty="0">
                <a:solidFill>
                  <a:schemeClr val="tx1"/>
                </a:solidFill>
                <a:latin typeface="맑은 고딕"/>
                <a:ea typeface="맑은 고딕"/>
              </a:endParaRPr>
            </a:p>
          </p:txBody>
        </p:sp>
        <p:sp>
          <p:nvSpPr>
            <p:cNvPr id="361" name="Rectangle 40"/>
            <p:cNvSpPr/>
            <p:nvPr/>
          </p:nvSpPr>
          <p:spPr>
            <a:xfrm>
              <a:off x="3532138" y="4099073"/>
              <a:ext cx="1133856" cy="420624"/>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Affinity Mapper</a:t>
              </a:r>
            </a:p>
            <a:p>
              <a:pPr algn="ctr">
                <a:lnSpc>
                  <a:spcPct val="125000"/>
                </a:lnSpc>
              </a:pPr>
              <a:r>
                <a:rPr sz="680" b="0" i="0" dirty="0" err="1">
                  <a:solidFill>
                    <a:schemeClr val="tx1"/>
                  </a:solidFill>
                  <a:latin typeface="맑은 고딕"/>
                  <a:ea typeface="맑은 고딕"/>
                </a:rPr>
                <a:t>데이터·메모리</a:t>
              </a:r>
              <a:r>
                <a:rPr sz="680" b="0" i="0" dirty="0">
                  <a:solidFill>
                    <a:schemeClr val="tx1"/>
                  </a:solidFill>
                  <a:latin typeface="맑은 고딕"/>
                  <a:ea typeface="맑은 고딕"/>
                </a:rPr>
                <a:t> </a:t>
              </a:r>
              <a:r>
                <a:rPr sz="680" b="0" i="0" dirty="0" err="1">
                  <a:solidFill>
                    <a:schemeClr val="tx1"/>
                  </a:solidFill>
                  <a:latin typeface="맑은 고딕"/>
                  <a:ea typeface="맑은 고딕"/>
                </a:rPr>
                <a:t>적합도</a:t>
              </a:r>
              <a:endParaRPr sz="680" b="0" i="0" dirty="0">
                <a:solidFill>
                  <a:schemeClr val="tx1"/>
                </a:solidFill>
                <a:latin typeface="맑은 고딕"/>
                <a:ea typeface="맑은 고딕"/>
              </a:endParaRPr>
            </a:p>
          </p:txBody>
        </p:sp>
        <p:sp>
          <p:nvSpPr>
            <p:cNvPr id="362" name="Rectangle 41"/>
            <p:cNvSpPr/>
            <p:nvPr/>
          </p:nvSpPr>
          <p:spPr>
            <a:xfrm>
              <a:off x="4775722" y="4099073"/>
              <a:ext cx="1133856" cy="420624"/>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a:solidFill>
                    <a:schemeClr val="tx1"/>
                  </a:solidFill>
                  <a:latin typeface="맑은 고딕"/>
                  <a:ea typeface="맑은 고딕"/>
                </a:rPr>
                <a:t>Policy Engine</a:t>
              </a:r>
            </a:p>
            <a:p>
              <a:pPr algn="ctr">
                <a:lnSpc>
                  <a:spcPct val="125000"/>
                </a:lnSpc>
              </a:pPr>
              <a:r>
                <a:rPr sz="680" b="0" i="0">
                  <a:solidFill>
                    <a:schemeClr val="tx1"/>
                  </a:solidFill>
                  <a:latin typeface="맑은 고딕"/>
                  <a:ea typeface="맑은 고딕"/>
                </a:rPr>
                <a:t>이동 명령 확정</a:t>
              </a:r>
            </a:p>
          </p:txBody>
        </p:sp>
        <p:cxnSp>
          <p:nvCxnSpPr>
            <p:cNvPr id="363" name="Connector 42"/>
            <p:cNvCxnSpPr/>
            <p:nvPr/>
          </p:nvCxnSpPr>
          <p:spPr>
            <a:xfrm>
              <a:off x="3422410"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p:nvPr/>
          </p:nvCxnSpPr>
          <p:spPr>
            <a:xfrm>
              <a:off x="4665994"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3399550" y="423166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367" name="Rectangle 45"/>
            <p:cNvSpPr/>
            <p:nvPr/>
          </p:nvSpPr>
          <p:spPr>
            <a:xfrm>
              <a:off x="2288554" y="4629425"/>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Threshold Trigger</a:t>
              </a:r>
            </a:p>
            <a:p>
              <a:pPr algn="ctr">
                <a:lnSpc>
                  <a:spcPct val="125000"/>
                </a:lnSpc>
              </a:pPr>
              <a:r>
                <a:rPr sz="650" b="0" i="0">
                  <a:solidFill>
                    <a:srgbClr val="7F5F00"/>
                  </a:solidFill>
                  <a:latin typeface="맑은 고딕"/>
                  <a:ea typeface="맑은 고딕"/>
                </a:rPr>
                <a:t>임계치 교차 시 판단 기동</a:t>
              </a:r>
            </a:p>
          </p:txBody>
        </p:sp>
        <p:cxnSp>
          <p:nvCxnSpPr>
            <p:cNvPr id="368" name="Connector 46"/>
            <p:cNvCxnSpPr/>
            <p:nvPr/>
          </p:nvCxnSpPr>
          <p:spPr>
            <a:xfrm flipV="1">
              <a:off x="2855482" y="4519697"/>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942350" y="4496837"/>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370" name="Rectangle 48"/>
            <p:cNvSpPr/>
            <p:nvPr/>
          </p:nvSpPr>
          <p:spPr>
            <a:xfrm>
              <a:off x="2233690" y="4995185"/>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2288554" y="5050049"/>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72" name="Rectangle 50"/>
            <p:cNvSpPr/>
            <p:nvPr/>
          </p:nvSpPr>
          <p:spPr>
            <a:xfrm>
              <a:off x="2288554" y="5360945"/>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373" name="Rectangle 51"/>
            <p:cNvSpPr/>
            <p:nvPr/>
          </p:nvSpPr>
          <p:spPr>
            <a:xfrm>
              <a:off x="3550426" y="5104913"/>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dirty="0" err="1">
                  <a:solidFill>
                    <a:srgbClr val="404040"/>
                  </a:solidFill>
                  <a:latin typeface="맑은 고딕"/>
                  <a:ea typeface="맑은 고딕"/>
                </a:rPr>
                <a:t>Memory·Data</a:t>
              </a:r>
              <a:endParaRPr sz="800" b="0" i="0" dirty="0">
                <a:solidFill>
                  <a:srgbClr val="404040"/>
                </a:solidFill>
                <a:latin typeface="맑은 고딕"/>
                <a:ea typeface="맑은 고딕"/>
              </a:endParaRPr>
            </a:p>
            <a:p>
              <a:pPr algn="ctr">
                <a:lnSpc>
                  <a:spcPct val="95000"/>
                </a:lnSpc>
              </a:pPr>
              <a:r>
                <a:rPr sz="800" b="0" i="0" dirty="0">
                  <a:solidFill>
                    <a:srgbClr val="404040"/>
                  </a:solidFill>
                  <a:latin typeface="맑은 고딕"/>
                  <a:ea typeface="맑은 고딕"/>
                </a:rPr>
                <a:t>Object Registry</a:t>
              </a:r>
            </a:p>
          </p:txBody>
        </p:sp>
        <p:sp>
          <p:nvSpPr>
            <p:cNvPr id="374" name="TextBox 373"/>
            <p:cNvSpPr txBox="1"/>
            <p:nvPr/>
          </p:nvSpPr>
          <p:spPr>
            <a:xfrm>
              <a:off x="3550426" y="5488961"/>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375" name="Connector 53"/>
            <p:cNvCxnSpPr/>
            <p:nvPr/>
          </p:nvCxnSpPr>
          <p:spPr>
            <a:xfrm flipV="1">
              <a:off x="2855482" y="5306081"/>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p:nvPr/>
          </p:nvCxnSpPr>
          <p:spPr>
            <a:xfrm flipV="1">
              <a:off x="2855482" y="4940321"/>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p:nvPr/>
          </p:nvCxnSpPr>
          <p:spPr>
            <a:xfrm flipV="1">
              <a:off x="4117354" y="4519697"/>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4204222" y="473458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379" name="Rectangle 57"/>
            <p:cNvSpPr/>
            <p:nvPr/>
          </p:nvSpPr>
          <p:spPr>
            <a:xfrm>
              <a:off x="4190506" y="5854721"/>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0" name="TextBox 379"/>
            <p:cNvSpPr txBox="1"/>
            <p:nvPr/>
          </p:nvSpPr>
          <p:spPr>
            <a:xfrm>
              <a:off x="4190506" y="5891297"/>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81" name="Rectangle 59"/>
            <p:cNvSpPr/>
            <p:nvPr/>
          </p:nvSpPr>
          <p:spPr>
            <a:xfrm>
              <a:off x="4300234" y="6092465"/>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82" name="Rectangle 60"/>
            <p:cNvSpPr/>
            <p:nvPr/>
          </p:nvSpPr>
          <p:spPr>
            <a:xfrm>
              <a:off x="4300234" y="6330209"/>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p:nvPr/>
          </p:nvCxnSpPr>
          <p:spPr>
            <a:xfrm>
              <a:off x="5644402" y="6321065"/>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731270" y="62524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385" name="Connector 63"/>
            <p:cNvCxnSpPr/>
            <p:nvPr/>
          </p:nvCxnSpPr>
          <p:spPr>
            <a:xfrm>
              <a:off x="5342650" y="4519697"/>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429518" y="5155205"/>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7" name="Connector 65"/>
            <p:cNvCxnSpPr/>
            <p:nvPr/>
          </p:nvCxnSpPr>
          <p:spPr>
            <a:xfrm flipH="1">
              <a:off x="4117354" y="6202193"/>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88" name="Connector 66"/>
            <p:cNvCxnSpPr/>
            <p:nvPr/>
          </p:nvCxnSpPr>
          <p:spPr>
            <a:xfrm flipV="1">
              <a:off x="4117354" y="5452385"/>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875038" y="57952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390" name="Rectangle 68"/>
            <p:cNvSpPr/>
            <p:nvPr/>
          </p:nvSpPr>
          <p:spPr>
            <a:xfrm>
              <a:off x="2178826" y="5982737"/>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391" name="Connector 69"/>
            <p:cNvCxnSpPr/>
            <p:nvPr/>
          </p:nvCxnSpPr>
          <p:spPr>
            <a:xfrm flipV="1">
              <a:off x="2855482" y="5616977"/>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sp>
        <p:nvSpPr>
          <p:cNvPr id="392"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spTree>
    <p:extLst>
      <p:ext uri="{BB962C8B-B14F-4D97-AF65-F5344CB8AC3E}">
        <p14:creationId xmlns:p14="http://schemas.microsoft.com/office/powerpoint/2010/main" val="22639166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9133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상태 관측과 이동 결정을 한 곳에서 </a:t>
                      </a:r>
                      <a:r>
                        <a:rPr lang="en-US" altLang="ko-KR" sz="1200" b="1" strike="noStrike" baseline="0" dirty="0"/>
                        <a:t>(2-plane </a:t>
                      </a:r>
                      <a:r>
                        <a:rPr lang="ko-KR" altLang="en-US" sz="1200" b="1" strike="noStrike" baseline="0" dirty="0"/>
                        <a:t>구조</a:t>
                      </a:r>
                      <a:r>
                        <a:rPr lang="en-US" altLang="ko-KR" sz="1200" b="1" strike="noStrike" baseline="0" dirty="0"/>
                        <a:t>)</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 보완</a:t>
                      </a:r>
                      <a:r>
                        <a:rPr lang="en-US" altLang="ko-KR" sz="1200" b="1" strike="noStrike" dirty="0"/>
                        <a:t>) 3-plane </a:t>
                      </a:r>
                      <a:r>
                        <a:rPr lang="ko-KR" altLang="en-US" sz="1200" b="1" strike="noStrike" dirty="0"/>
                        <a:t>구조</a:t>
                      </a:r>
                      <a:r>
                        <a:rPr lang="en-US" altLang="ko-KR" sz="1200" b="1" strike="noStrike" baseline="0" dirty="0"/>
                        <a:t> + </a:t>
                      </a:r>
                      <a:r>
                        <a:rPr lang="en-US" altLang="ko-KR" sz="1200" dirty="0">
                          <a:solidFill>
                            <a:srgbClr val="FF0000"/>
                          </a:solidFill>
                        </a:rPr>
                        <a:t>HBM </a:t>
                      </a:r>
                      <a:r>
                        <a:rPr lang="ko-KR" altLang="en-US" sz="1200" dirty="0">
                          <a:solidFill>
                            <a:srgbClr val="FF0000"/>
                          </a:solidFill>
                        </a:rPr>
                        <a:t>점유 기한</a:t>
                      </a:r>
                      <a:r>
                        <a:rPr lang="en-US" altLang="ko-KR" sz="1200" dirty="0">
                          <a:solidFill>
                            <a:srgbClr val="FF0000"/>
                          </a:solidFill>
                        </a:rPr>
                        <a:t>(Lease) </a:t>
                      </a:r>
                      <a:r>
                        <a:rPr lang="ko-KR" altLang="en-US" sz="1200" dirty="0">
                          <a:solidFill>
                            <a:srgbClr val="FF0000"/>
                          </a:solidFill>
                        </a:rPr>
                        <a:t>제어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075558">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137160" indent="-137160">
                        <a:lnSpc>
                          <a:spcPct val="104000"/>
                        </a:lnSpc>
                        <a:spcAft>
                          <a:spcPts val="0"/>
                        </a:spcAft>
                        <a:buFont typeface="Arial" pitchFamily="34" charset="0"/>
                        <a:buChar char="▪"/>
                      </a:pPr>
                      <a:r>
                        <a:rPr lang="en-US" altLang="ko-KR" sz="1050" b="0" i="0" dirty="0">
                          <a:solidFill>
                            <a:srgbClr val="404040"/>
                          </a:solidFill>
                          <a:latin typeface="+mn-lt"/>
                          <a:ea typeface="맑은 고딕"/>
                        </a:rPr>
                        <a:t>Threshold Trigger </a:t>
                      </a:r>
                      <a:r>
                        <a:rPr lang="ko-KR" altLang="en-US" sz="1050" b="0" i="0" dirty="0">
                          <a:solidFill>
                            <a:srgbClr val="404040"/>
                          </a:solidFill>
                          <a:latin typeface="+mn-lt"/>
                          <a:ea typeface="맑은 고딕"/>
                        </a:rPr>
                        <a:t>가 즉시 판단을 기동해 </a:t>
                      </a:r>
                      <a:r>
                        <a:rPr lang="en-US" altLang="ko-KR" sz="1050" b="0" i="0" dirty="0">
                          <a:solidFill>
                            <a:srgbClr val="404040"/>
                          </a:solidFill>
                          <a:latin typeface="+mn-lt"/>
                          <a:ea typeface="맑은 고딕"/>
                        </a:rPr>
                        <a:t>HBM </a:t>
                      </a:r>
                      <a:r>
                        <a:rPr lang="ko-KR" altLang="en-US" sz="1050" b="0" i="0" dirty="0">
                          <a:solidFill>
                            <a:srgbClr val="404040"/>
                          </a:solidFill>
                          <a:latin typeface="+mn-lt"/>
                          <a:ea typeface="맑은 고딕"/>
                        </a:rPr>
                        <a:t>압박 구간이 짧음 </a:t>
                      </a:r>
                      <a:r>
                        <a:rPr lang="en-US" altLang="ko-KR" sz="1050" b="0" i="0" dirty="0">
                          <a:solidFill>
                            <a:srgbClr val="404040"/>
                          </a:solidFill>
                          <a:latin typeface="+mn-lt"/>
                          <a:ea typeface="맑은 고딕"/>
                        </a:rPr>
                        <a:t>(QA2) </a:t>
                      </a:r>
                      <a:endParaRPr lang="ko-KR" altLang="en-US" sz="1050" b="0" i="0" dirty="0">
                        <a:solidFill>
                          <a:srgbClr val="404040"/>
                        </a:solidFill>
                        <a:latin typeface="+mn-lt"/>
                        <a:ea typeface="맑은 고딕"/>
                      </a:endParaRPr>
                    </a:p>
                    <a:p>
                      <a:pPr marL="137160" indent="-137160">
                        <a:lnSpc>
                          <a:spcPct val="104000"/>
                        </a:lnSpc>
                        <a:spcAft>
                          <a:spcPts val="0"/>
                        </a:spcAft>
                        <a:buFont typeface="Arial" pitchFamily="34" charset="0"/>
                        <a:buChar char="▪"/>
                      </a:pPr>
                      <a:r>
                        <a:rPr lang="en-US" altLang="ko-KR" sz="1050" b="0" i="0" dirty="0">
                          <a:solidFill>
                            <a:srgbClr val="404040"/>
                          </a:solidFill>
                          <a:latin typeface="+mn-lt"/>
                          <a:ea typeface="맑은 고딕"/>
                        </a:rPr>
                        <a:t>Plane </a:t>
                      </a:r>
                      <a:r>
                        <a:rPr lang="ko-KR" altLang="en-US" sz="1050" b="0" i="0" dirty="0">
                          <a:solidFill>
                            <a:srgbClr val="404040"/>
                          </a:solidFill>
                          <a:latin typeface="+mn-lt"/>
                          <a:ea typeface="맑은 고딕"/>
                        </a:rPr>
                        <a:t>간 인터페이스 호출이 없어 정책 수정</a:t>
                      </a:r>
                      <a:r>
                        <a:rPr lang="ko-KR" altLang="en-US" sz="1050" b="0" i="0" baseline="0" dirty="0">
                          <a:solidFill>
                            <a:srgbClr val="404040"/>
                          </a:solidFill>
                          <a:latin typeface="+mn-lt"/>
                          <a:ea typeface="맑은 고딕"/>
                        </a:rPr>
                        <a:t> 범위 제한 </a:t>
                      </a:r>
                      <a:r>
                        <a:rPr lang="en-US" altLang="ko-KR" sz="1050" b="0" i="0" baseline="0" dirty="0">
                          <a:solidFill>
                            <a:srgbClr val="404040"/>
                          </a:solidFill>
                          <a:latin typeface="+mn-lt"/>
                          <a:ea typeface="맑은 고딕"/>
                        </a:rPr>
                        <a:t>(QA3)</a:t>
                      </a:r>
                      <a:endParaRPr lang="ko-KR" altLang="en-US" sz="105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137160" indent="-137160">
                        <a:lnSpc>
                          <a:spcPct val="104000"/>
                        </a:lnSpc>
                        <a:spcAft>
                          <a:spcPts val="200"/>
                        </a:spcAft>
                        <a:buFont typeface="Arial" pitchFamily="34" charset="0"/>
                        <a:buChar char="▪"/>
                      </a:pPr>
                      <a:r>
                        <a:rPr lang="en-US" altLang="ko-KR" sz="1050" b="0" i="0" dirty="0">
                          <a:solidFill>
                            <a:srgbClr val="404040"/>
                          </a:solidFill>
                          <a:latin typeface="+mn-lt"/>
                          <a:ea typeface="맑은 고딕"/>
                        </a:rPr>
                        <a:t>Decision Scheduler</a:t>
                      </a:r>
                      <a:r>
                        <a:rPr lang="ko-KR" altLang="en-US" sz="1050" b="0" i="0" dirty="0">
                          <a:solidFill>
                            <a:srgbClr val="404040"/>
                          </a:solidFill>
                          <a:latin typeface="+mn-lt"/>
                          <a:ea typeface="맑은 고딕"/>
                        </a:rPr>
                        <a:t>가 판단 주기를 독립 보유해 수집</a:t>
                      </a:r>
                      <a:r>
                        <a:rPr lang="en-US" altLang="ko-KR" sz="1050" b="0" i="0" dirty="0">
                          <a:solidFill>
                            <a:srgbClr val="404040"/>
                          </a:solidFill>
                          <a:latin typeface="+mn-lt"/>
                          <a:ea typeface="맑은 고딕"/>
                        </a:rPr>
                        <a:t>·</a:t>
                      </a:r>
                      <a:r>
                        <a:rPr lang="ko-KR" altLang="en-US" sz="1050" b="0" i="0" dirty="0">
                          <a:solidFill>
                            <a:srgbClr val="404040"/>
                          </a:solidFill>
                          <a:latin typeface="+mn-lt"/>
                          <a:ea typeface="맑은 고딕"/>
                        </a:rPr>
                        <a:t>판단 분리 조절 </a:t>
                      </a:r>
                      <a:r>
                        <a:rPr lang="en-US" altLang="ko-KR" sz="1050" b="0" i="0" dirty="0">
                          <a:solidFill>
                            <a:srgbClr val="404040"/>
                          </a:solidFill>
                          <a:latin typeface="+mn-lt"/>
                          <a:ea typeface="맑은 고딕"/>
                        </a:rPr>
                        <a:t>(QA1)</a:t>
                      </a:r>
                    </a:p>
                    <a:p>
                      <a:pPr marL="137160" indent="-137160">
                        <a:lnSpc>
                          <a:spcPct val="104000"/>
                        </a:lnSpc>
                        <a:spcAft>
                          <a:spcPts val="200"/>
                        </a:spcAft>
                        <a:buFont typeface="Arial" pitchFamily="34" charset="0"/>
                        <a:buChar char="▪"/>
                      </a:pPr>
                      <a:r>
                        <a:rPr lang="en-US" altLang="ko-KR" sz="1050" b="0" i="0" dirty="0">
                          <a:solidFill>
                            <a:srgbClr val="404040"/>
                          </a:solidFill>
                          <a:latin typeface="+mn-lt"/>
                          <a:ea typeface="맑은 고딕"/>
                        </a:rPr>
                        <a:t>Data object </a:t>
                      </a:r>
                      <a:r>
                        <a:rPr lang="ko-KR" altLang="en-US" sz="1050" b="0" i="0" dirty="0">
                          <a:solidFill>
                            <a:srgbClr val="404040"/>
                          </a:solidFill>
                          <a:latin typeface="+mn-lt"/>
                          <a:ea typeface="맑은 고딕"/>
                        </a:rPr>
                        <a:t>수 및 </a:t>
                      </a:r>
                      <a:r>
                        <a:rPr lang="en-US" altLang="ko-KR" sz="1050" b="0" i="0" dirty="0">
                          <a:solidFill>
                            <a:srgbClr val="404040"/>
                          </a:solidFill>
                          <a:latin typeface="+mn-lt"/>
                          <a:ea typeface="맑은 고딕"/>
                        </a:rPr>
                        <a:t>tier</a:t>
                      </a:r>
                      <a:r>
                        <a:rPr lang="ko-KR" altLang="en-US" sz="1050" b="0" i="0" dirty="0">
                          <a:solidFill>
                            <a:srgbClr val="404040"/>
                          </a:solidFill>
                          <a:latin typeface="+mn-lt"/>
                          <a:ea typeface="맑은 고딕"/>
                        </a:rPr>
                        <a:t>가 늘어나도 </a:t>
                      </a:r>
                      <a:r>
                        <a:rPr lang="en-US" altLang="ko-KR" sz="1050" b="0" i="0" dirty="0">
                          <a:solidFill>
                            <a:srgbClr val="404040"/>
                          </a:solidFill>
                          <a:latin typeface="+mn-lt"/>
                          <a:ea typeface="맑은 고딕"/>
                        </a:rPr>
                        <a:t>scheduling</a:t>
                      </a:r>
                      <a:r>
                        <a:rPr lang="en-US" altLang="ko-KR" sz="1050" b="0" i="0" baseline="0" dirty="0">
                          <a:solidFill>
                            <a:srgbClr val="404040"/>
                          </a:solidFill>
                          <a:latin typeface="+mn-lt"/>
                          <a:ea typeface="맑은 고딕"/>
                        </a:rPr>
                        <a:t> </a:t>
                      </a:r>
                      <a:r>
                        <a:rPr lang="ko-KR" altLang="en-US" sz="1050" b="0" i="0" baseline="0" dirty="0">
                          <a:solidFill>
                            <a:srgbClr val="404040"/>
                          </a:solidFill>
                          <a:latin typeface="+mn-lt"/>
                          <a:ea typeface="맑은 고딕"/>
                        </a:rPr>
                        <a:t>통한 </a:t>
                      </a:r>
                      <a:r>
                        <a:rPr lang="ko-KR" altLang="en-US" sz="1050" b="0" i="0" dirty="0">
                          <a:solidFill>
                            <a:srgbClr val="404040"/>
                          </a:solidFill>
                          <a:latin typeface="+mn-lt"/>
                          <a:ea typeface="맑은 고딕"/>
                        </a:rPr>
                        <a:t>확장성 유리 </a:t>
                      </a:r>
                      <a:r>
                        <a:rPr lang="en-US" altLang="ko-KR" sz="1050" b="0" i="0" dirty="0">
                          <a:solidFill>
                            <a:srgbClr val="404040"/>
                          </a:solidFill>
                          <a:latin typeface="+mn-lt"/>
                          <a:ea typeface="맑은 고딕"/>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1118371">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137160" indent="-137160">
                        <a:lnSpc>
                          <a:spcPct val="104000"/>
                        </a:lnSpc>
                        <a:spcAft>
                          <a:spcPts val="0"/>
                        </a:spcAft>
                        <a:buFont typeface="Arial" pitchFamily="34" charset="0"/>
                        <a:buChar char="▪"/>
                      </a:pPr>
                      <a:r>
                        <a:rPr lang="en-US" altLang="ko-KR" sz="1200" b="0" i="0" dirty="0">
                          <a:solidFill>
                            <a:srgbClr val="404040"/>
                          </a:solidFill>
                          <a:latin typeface="+mn-lt"/>
                          <a:ea typeface="맑은 고딕"/>
                        </a:rPr>
                        <a:t>State Lock Manager</a:t>
                      </a:r>
                      <a:r>
                        <a:rPr lang="ko-KR" altLang="en-US" sz="1200" b="0" i="0" dirty="0">
                          <a:solidFill>
                            <a:srgbClr val="404040"/>
                          </a:solidFill>
                          <a:latin typeface="+mn-lt"/>
                          <a:ea typeface="맑은 고딕"/>
                        </a:rPr>
                        <a:t>가 판단 중 상태 갱신 차단</a:t>
                      </a:r>
                      <a:r>
                        <a:rPr lang="ko-KR" altLang="en-US" sz="1200" b="0" i="0" baseline="0" dirty="0">
                          <a:solidFill>
                            <a:srgbClr val="404040"/>
                          </a:solidFill>
                          <a:latin typeface="+mn-lt"/>
                          <a:ea typeface="맑은 고딕"/>
                        </a:rPr>
                        <a:t> </a:t>
                      </a:r>
                      <a:r>
                        <a:rPr lang="ko-KR" altLang="en-US" sz="1200" b="0" i="0" dirty="0">
                          <a:solidFill>
                            <a:srgbClr val="404040"/>
                          </a:solidFill>
                          <a:latin typeface="+mn-lt"/>
                          <a:ea typeface="맑은 고딕"/>
                        </a:rPr>
                        <a:t>→ 지연 유발 </a:t>
                      </a:r>
                      <a:r>
                        <a:rPr lang="en-US" altLang="ko-KR" sz="1200" b="0" i="0" dirty="0">
                          <a:solidFill>
                            <a:srgbClr val="404040"/>
                          </a:solidFill>
                          <a:latin typeface="+mn-lt"/>
                          <a:ea typeface="맑은 고딕"/>
                        </a:rPr>
                        <a:t>(QA1)</a:t>
                      </a:r>
                    </a:p>
                    <a:p>
                      <a:pPr marL="137160" indent="-137160">
                        <a:lnSpc>
                          <a:spcPct val="104000"/>
                        </a:lnSpc>
                        <a:spcAft>
                          <a:spcPts val="200"/>
                        </a:spcAft>
                        <a:buFont typeface="Arial" pitchFamily="34" charset="0"/>
                        <a:buChar char="▪"/>
                      </a:pPr>
                      <a:r>
                        <a:rPr lang="en-US" altLang="ko-KR" sz="1200" b="0" i="0" dirty="0" err="1">
                          <a:solidFill>
                            <a:srgbClr val="404040"/>
                          </a:solidFill>
                          <a:latin typeface="+mn-lt"/>
                          <a:ea typeface="맑은 고딕"/>
                        </a:rPr>
                        <a:t>Tier·object</a:t>
                      </a:r>
                      <a:r>
                        <a:rPr lang="ko-KR" altLang="en-US" sz="1200" b="0" i="0" dirty="0">
                          <a:solidFill>
                            <a:srgbClr val="404040"/>
                          </a:solidFill>
                          <a:latin typeface="+mn-lt"/>
                          <a:ea typeface="맑은 고딕"/>
                        </a:rPr>
                        <a:t> 증가분을 한 서비스가 함께 받음 → 단일 병목 </a:t>
                      </a:r>
                      <a:r>
                        <a:rPr lang="en-US" altLang="ko-KR" sz="1200" b="0" i="0" dirty="0">
                          <a:solidFill>
                            <a:srgbClr val="404040"/>
                          </a:solidFill>
                          <a:latin typeface="+mn-lt"/>
                          <a:ea typeface="맑은 고딕"/>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137160" indent="-137160">
                        <a:lnSpc>
                          <a:spcPct val="104000"/>
                        </a:lnSpc>
                        <a:spcAft>
                          <a:spcPts val="200"/>
                        </a:spcAft>
                        <a:buFont typeface="Arial" pitchFamily="34" charset="0"/>
                        <a:buChar cha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바뀐 상태 기준 이동의 거절</a:t>
                      </a:r>
                      <a:r>
                        <a:rPr lang="en-US" altLang="ko-KR" sz="1200" b="0" i="0" dirty="0">
                          <a:solidFill>
                            <a:srgbClr val="404040"/>
                          </a:solidFill>
                          <a:latin typeface="+mn-lt"/>
                          <a:ea typeface="맑은 고딕"/>
                        </a:rPr>
                        <a:t>·</a:t>
                      </a:r>
                      <a:r>
                        <a:rPr lang="ko-KR" altLang="en-US" sz="1200" b="0" i="0" dirty="0">
                          <a:solidFill>
                            <a:srgbClr val="404040"/>
                          </a:solidFill>
                          <a:latin typeface="+mn-lt"/>
                          <a:ea typeface="맑은 고딕"/>
                        </a:rPr>
                        <a:t>재시도 </a:t>
                      </a:r>
                      <a:r>
                        <a:rPr lang="en-US" altLang="ko-KR" sz="1200" b="0" i="0" dirty="0">
                          <a:solidFill>
                            <a:srgbClr val="404040"/>
                          </a:solidFill>
                          <a:latin typeface="+mn-lt"/>
                          <a:ea typeface="맑은 고딕"/>
                        </a:rPr>
                        <a:t>(QA2)</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baseline="0" dirty="0">
                          <a:solidFill>
                            <a:srgbClr val="FF0000"/>
                          </a:solidFill>
                          <a:effectLst/>
                          <a:latin typeface="맑은 고딕" panose="020B0503020000020004" pitchFamily="50" charset="-127"/>
                          <a:ea typeface="+mn-ea"/>
                        </a:rPr>
                        <a:t>→ HBM stage-in </a:t>
                      </a:r>
                      <a:r>
                        <a:rPr lang="ko-KR" altLang="en-US" sz="1200" b="0" strike="noStrike" baseline="0" dirty="0">
                          <a:solidFill>
                            <a:srgbClr val="FF0000"/>
                          </a:solidFill>
                          <a:effectLst/>
                          <a:latin typeface="맑은 고딕" panose="020B0503020000020004" pitchFamily="50" charset="-127"/>
                          <a:ea typeface="+mn-ea"/>
                        </a:rPr>
                        <a:t>시 </a:t>
                      </a:r>
                      <a:r>
                        <a:rPr lang="en-US" altLang="ko-KR" sz="1200" b="0" strike="noStrike" baseline="0" dirty="0">
                          <a:solidFill>
                            <a:srgbClr val="FF0000"/>
                          </a:solidFill>
                          <a:effectLst/>
                          <a:latin typeface="맑은 고딕" panose="020B0503020000020004" pitchFamily="50" charset="-127"/>
                          <a:ea typeface="+mn-ea"/>
                        </a:rPr>
                        <a:t>lease</a:t>
                      </a:r>
                      <a:r>
                        <a:rPr lang="ko-KR" altLang="en-US" sz="1200" b="0" strike="noStrike" baseline="0" dirty="0">
                          <a:solidFill>
                            <a:srgbClr val="FF0000"/>
                          </a:solidFill>
                          <a:effectLst/>
                          <a:latin typeface="맑은 고딕" panose="020B0503020000020004" pitchFamily="50" charset="-127"/>
                          <a:ea typeface="+mn-ea"/>
                        </a:rPr>
                        <a:t>를 부여하여 주기적 </a:t>
                      </a:r>
                      <a:r>
                        <a:rPr lang="en-US" altLang="ko-KR" sz="1200" b="0" strike="noStrike" baseline="0" dirty="0">
                          <a:solidFill>
                            <a:srgbClr val="FF0000"/>
                          </a:solidFill>
                          <a:effectLst/>
                          <a:latin typeface="맑은 고딕" panose="020B0503020000020004" pitchFamily="50" charset="-127"/>
                          <a:ea typeface="+mn-ea"/>
                        </a:rPr>
                        <a:t>migration </a:t>
                      </a:r>
                      <a:r>
                        <a:rPr lang="ko-KR" altLang="en-US" sz="1200" b="0" strike="noStrike" baseline="0" dirty="0">
                          <a:solidFill>
                            <a:srgbClr val="FF0000"/>
                          </a:solidFill>
                          <a:effectLst/>
                          <a:latin typeface="맑은 고딕" panose="020B0503020000020004" pitchFamily="50" charset="-127"/>
                          <a:ea typeface="+mn-ea"/>
                        </a:rPr>
                        <a:t>재평가</a:t>
                      </a:r>
                      <a:endParaRPr lang="en-US" altLang="ko-KR" sz="1200" b="0" strike="noStrike" baseline="0" dirty="0">
                        <a:solidFill>
                          <a:srgbClr val="FF0000"/>
                        </a:solidFill>
                        <a:effectLst/>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baseline="0" dirty="0">
                          <a:solidFill>
                            <a:srgbClr val="FF0000"/>
                          </a:solidFill>
                          <a:effectLst/>
                          <a:latin typeface="맑은 고딕" panose="020B0503020000020004" pitchFamily="50" charset="-127"/>
                          <a:ea typeface="+mn-ea"/>
                        </a:rPr>
                        <a:t>→ </a:t>
                      </a:r>
                      <a:r>
                        <a:rPr lang="ko-KR" altLang="en-US" sz="1200" b="0" strike="noStrike" baseline="0" dirty="0">
                          <a:solidFill>
                            <a:srgbClr val="FF0000"/>
                          </a:solidFill>
                          <a:effectLst/>
                          <a:latin typeface="맑은 고딕" panose="020B0503020000020004" pitchFamily="50" charset="-127"/>
                          <a:ea typeface="+mn-ea"/>
                        </a:rPr>
                        <a:t>최신 </a:t>
                      </a:r>
                      <a:r>
                        <a:rPr lang="en-US" altLang="ko-KR" sz="1200" b="0" strike="noStrike" baseline="0" dirty="0">
                          <a:solidFill>
                            <a:srgbClr val="FF0000"/>
                          </a:solidFill>
                          <a:effectLst/>
                          <a:latin typeface="맑은 고딕" panose="020B0503020000020004" pitchFamily="50" charset="-127"/>
                          <a:ea typeface="+mn-ea"/>
                        </a:rPr>
                        <a:t>behavior </a:t>
                      </a:r>
                      <a:r>
                        <a:rPr lang="ko-KR" altLang="en-US" sz="1200" b="0" strike="noStrike" baseline="0" dirty="0">
                          <a:solidFill>
                            <a:srgbClr val="FF0000"/>
                          </a:solidFill>
                          <a:effectLst/>
                          <a:latin typeface="맑은 고딕" panose="020B0503020000020004" pitchFamily="50" charset="-127"/>
                          <a:ea typeface="+mn-ea"/>
                        </a:rPr>
                        <a:t>기반으로 </a:t>
                      </a:r>
                      <a:r>
                        <a:rPr lang="en-US" altLang="ko-KR" sz="1200" b="0" strike="noStrike" baseline="0" dirty="0">
                          <a:solidFill>
                            <a:srgbClr val="FF0000"/>
                          </a:solidFill>
                          <a:effectLst/>
                          <a:latin typeface="맑은 고딕" panose="020B0503020000020004" pitchFamily="50" charset="-127"/>
                          <a:ea typeface="+mn-ea"/>
                        </a:rPr>
                        <a:t>lease </a:t>
                      </a:r>
                      <a:r>
                        <a:rPr lang="ko-KR" altLang="en-US" sz="1200" b="0" strike="noStrike" baseline="0" dirty="0" err="1">
                          <a:solidFill>
                            <a:srgbClr val="FF0000"/>
                          </a:solidFill>
                          <a:effectLst/>
                          <a:latin typeface="맑은 고딕" panose="020B0503020000020004" pitchFamily="50" charset="-127"/>
                          <a:ea typeface="+mn-ea"/>
                        </a:rPr>
                        <a:t>연장∙선별</a:t>
                      </a:r>
                      <a:r>
                        <a:rPr lang="ko-KR" altLang="en-US" sz="1200" b="0" strike="noStrike" baseline="0" dirty="0">
                          <a:solidFill>
                            <a:srgbClr val="FF0000"/>
                          </a:solidFill>
                          <a:effectLst/>
                          <a:latin typeface="맑은 고딕" panose="020B0503020000020004" pitchFamily="50" charset="-127"/>
                          <a:ea typeface="+mn-ea"/>
                        </a:rPr>
                        <a:t> </a:t>
                      </a:r>
                      <a:r>
                        <a:rPr lang="en-US" altLang="ko-KR" sz="1200" b="0" strike="noStrike" baseline="0" dirty="0">
                          <a:solidFill>
                            <a:srgbClr val="FF0000"/>
                          </a:solidFill>
                          <a:effectLst/>
                          <a:latin typeface="맑은 고딕" panose="020B0503020000020004" pitchFamily="50" charset="-127"/>
                          <a:ea typeface="+mn-ea"/>
                        </a:rPr>
                        <a:t>demotion</a:t>
                      </a:r>
                      <a:r>
                        <a:rPr lang="ko-KR" altLang="en-US" sz="1200" b="0" strike="noStrike" baseline="0" dirty="0">
                          <a:solidFill>
                            <a:srgbClr val="FF0000"/>
                          </a:solidFill>
                          <a:effectLst/>
                          <a:latin typeface="맑은 고딕" panose="020B0503020000020004" pitchFamily="50" charset="-127"/>
                          <a:ea typeface="+mn-ea"/>
                        </a:rPr>
                        <a:t>하여 </a:t>
                      </a:r>
                      <a:r>
                        <a:rPr lang="en-US" altLang="ko-KR" sz="1200" b="0" strike="noStrike" baseline="0" dirty="0">
                          <a:solidFill>
                            <a:srgbClr val="FF0000"/>
                          </a:solidFill>
                          <a:effectLst/>
                          <a:latin typeface="맑은 고딕" panose="020B0503020000020004" pitchFamily="50" charset="-127"/>
                          <a:ea typeface="+mn-ea"/>
                        </a:rPr>
                        <a:t>HBM </a:t>
                      </a:r>
                      <a:r>
                        <a:rPr lang="ko-KR" altLang="en-US" sz="1200" b="0" strike="noStrike" baseline="0" dirty="0">
                          <a:solidFill>
                            <a:srgbClr val="FF0000"/>
                          </a:solidFill>
                          <a:effectLst/>
                          <a:latin typeface="맑은 고딕" panose="020B0503020000020004" pitchFamily="50" charset="-127"/>
                          <a:ea typeface="+mn-ea"/>
                        </a:rPr>
                        <a:t>점유율 제한</a:t>
                      </a:r>
                      <a:endParaRPr lang="en-US" altLang="ko-KR" sz="1200" b="0" i="0" dirty="0">
                        <a:solidFill>
                          <a:srgbClr val="404040"/>
                        </a:solidFill>
                        <a:latin typeface="+mn-lt"/>
                        <a:ea typeface="맑은 고딕"/>
                      </a:endParaRPr>
                    </a:p>
                    <a:p>
                      <a:pPr marL="137160" indent="-137160">
                        <a:lnSpc>
                          <a:spcPct val="104000"/>
                        </a:lnSpc>
                        <a:spcAft>
                          <a:spcPts val="0"/>
                        </a:spcAft>
                        <a:buFont typeface="Arial" pitchFamily="34" charset="0"/>
                        <a:buChar char="▪"/>
                      </a:pPr>
                      <a:r>
                        <a:rPr lang="en-US" altLang="ko-KR" sz="1200" b="0" i="0" dirty="0">
                          <a:solidFill>
                            <a:srgbClr val="404040"/>
                          </a:solidFill>
                          <a:latin typeface="+mn-lt"/>
                          <a:ea typeface="맑은 고딕"/>
                        </a:rPr>
                        <a:t>Snapshot </a:t>
                      </a:r>
                      <a:r>
                        <a:rPr lang="ko-KR" altLang="en-US" sz="1200" b="0" i="0" dirty="0">
                          <a:solidFill>
                            <a:srgbClr val="404040"/>
                          </a:solidFill>
                          <a:latin typeface="+mn-lt"/>
                          <a:ea typeface="맑은 고딕"/>
                        </a:rPr>
                        <a:t>스키마</a:t>
                      </a:r>
                      <a:r>
                        <a:rPr lang="en-US" altLang="ko-KR" sz="1200" b="0" i="0" dirty="0">
                          <a:solidFill>
                            <a:srgbClr val="404040"/>
                          </a:solidFill>
                          <a:latin typeface="+mn-lt"/>
                          <a:ea typeface="맑은 고딕"/>
                        </a:rPr>
                        <a:t>·Command Queue </a:t>
                      </a:r>
                      <a:r>
                        <a:rPr lang="ko-KR" altLang="en-US" sz="1200" b="0" i="0" dirty="0">
                          <a:solidFill>
                            <a:srgbClr val="404040"/>
                          </a:solidFill>
                          <a:latin typeface="+mn-lt"/>
                          <a:ea typeface="맑은 고딕"/>
                        </a:rPr>
                        <a:t>인터페이스가 바뀌면 </a:t>
                      </a:r>
                      <a:r>
                        <a:rPr lang="en-US" altLang="ko-KR" sz="1200" b="0" i="0" dirty="0" err="1">
                          <a:solidFill>
                            <a:srgbClr val="404040"/>
                          </a:solidFill>
                          <a:latin typeface="+mn-lt"/>
                          <a:ea typeface="맑은 고딕"/>
                        </a:rPr>
                        <a:t>Resource·Data</a:t>
                      </a:r>
                      <a:r>
                        <a:rPr lang="ko-KR" altLang="en-US" sz="1200" b="0" i="0" dirty="0">
                          <a:solidFill>
                            <a:srgbClr val="404040"/>
                          </a:solidFill>
                          <a:latin typeface="+mn-lt"/>
                          <a:ea typeface="맑은 고딕"/>
                        </a:rPr>
                        <a:t> </a:t>
                      </a: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까지 동반 수정 </a:t>
                      </a:r>
                      <a:r>
                        <a:rPr lang="en-US" altLang="ko-KR" sz="1200" b="0" i="0" dirty="0">
                          <a:solidFill>
                            <a:srgbClr val="404040"/>
                          </a:solidFill>
                          <a:latin typeface="+mn-lt"/>
                          <a:ea typeface="맑은 고딕"/>
                        </a:rPr>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b="0" dirty="0">
                          <a:solidFill>
                            <a:srgbClr val="FF0000"/>
                          </a:solidFill>
                          <a:latin typeface="+mn-lt"/>
                          <a:ea typeface="맑은 고딕"/>
                        </a:rPr>
                        <a:t>★</a:t>
                      </a: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p:txBody>
          <a:bodyPr/>
          <a:lstStyle/>
          <a:p>
            <a:fld id="{7F889C64-266A-4D07-AD8F-5B592E61CCE1}" type="slidenum">
              <a:rPr lang="ko-KR" altLang="en-US" smtClean="0"/>
              <a:pPr/>
              <a:t>187</a:t>
            </a:fld>
            <a:endParaRPr lang="ko-KR" altLang="en-US" dirty="0"/>
          </a:p>
        </p:txBody>
      </p:sp>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solidFill>
                  <a:srgbClr val="FF0000"/>
                </a:solidFill>
              </a:rPr>
              <a:t>보완 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이동을 어디서 결정할 것인가</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4" name="실행 단추: 앞으로 또는 다음으로 이동 3">
            <a:hlinkClick r:id="rId3"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rId4"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5"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309" name="Rectangle 71"/>
          <p:cNvSpPr/>
          <p:nvPr/>
        </p:nvSpPr>
        <p:spPr>
          <a:xfrm>
            <a:off x="6621854" y="1492132"/>
            <a:ext cx="5128953" cy="93268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0" name="TextBox 309"/>
          <p:cNvSpPr txBox="1"/>
          <p:nvPr/>
        </p:nvSpPr>
        <p:spPr>
          <a:xfrm>
            <a:off x="6621854" y="1528708"/>
            <a:ext cx="5128953"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Control Plane</a:t>
            </a:r>
          </a:p>
        </p:txBody>
      </p:sp>
      <p:sp>
        <p:nvSpPr>
          <p:cNvPr id="311" name="Rectangle 73"/>
          <p:cNvSpPr/>
          <p:nvPr/>
        </p:nvSpPr>
        <p:spPr>
          <a:xfrm>
            <a:off x="6721606" y="1674917"/>
            <a:ext cx="1317565" cy="343501"/>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rgbClr val="7F5F00"/>
                </a:solidFill>
                <a:latin typeface="맑은 고딕"/>
                <a:ea typeface="맑은 고딕"/>
              </a:rPr>
              <a:t>Decision Scheduler</a:t>
            </a:r>
          </a:p>
          <a:p>
            <a:pPr algn="ctr">
              <a:lnSpc>
                <a:spcPct val="125000"/>
              </a:lnSpc>
            </a:pP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주기</a:t>
            </a:r>
            <a:r>
              <a:rPr sz="650" b="0" i="0" dirty="0">
                <a:solidFill>
                  <a:srgbClr val="7F5F00"/>
                </a:solidFill>
                <a:latin typeface="맑은 고딕"/>
                <a:ea typeface="맑은 고딕"/>
              </a:rPr>
              <a:t> </a:t>
            </a:r>
            <a:r>
              <a:rPr lang="ko-KR" altLang="en-US" sz="650" b="0" i="0" dirty="0">
                <a:solidFill>
                  <a:srgbClr val="7F5F00"/>
                </a:solidFill>
                <a:latin typeface="맑은 고딕"/>
                <a:ea typeface="맑은 고딕"/>
              </a:rPr>
              <a:t>독립 </a:t>
            </a:r>
            <a:r>
              <a:rPr sz="650" b="0" i="0" dirty="0" err="1">
                <a:solidFill>
                  <a:srgbClr val="7F5F00"/>
                </a:solidFill>
                <a:latin typeface="맑은 고딕"/>
                <a:ea typeface="맑은 고딕"/>
              </a:rPr>
              <a:t>보유</a:t>
            </a:r>
            <a:endParaRPr sz="650" b="0" i="0" dirty="0">
              <a:solidFill>
                <a:srgbClr val="7F5F00"/>
              </a:solidFill>
              <a:latin typeface="맑은 고딕"/>
              <a:ea typeface="맑은 고딕"/>
            </a:endParaRPr>
          </a:p>
        </p:txBody>
      </p:sp>
      <p:sp>
        <p:nvSpPr>
          <p:cNvPr id="312" name="Rectangle 74"/>
          <p:cNvSpPr/>
          <p:nvPr/>
        </p:nvSpPr>
        <p:spPr>
          <a:xfrm>
            <a:off x="8197115" y="1752531"/>
            <a:ext cx="951807" cy="343501"/>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Trend Analyzer</a:t>
            </a:r>
          </a:p>
          <a:p>
            <a:pPr algn="ctr">
              <a:lnSpc>
                <a:spcPct val="125000"/>
              </a:lnSpc>
            </a:pPr>
            <a:r>
              <a:rPr sz="680" b="0" i="0" dirty="0" err="1">
                <a:solidFill>
                  <a:schemeClr val="tx1"/>
                </a:solidFill>
                <a:latin typeface="맑은 고딕"/>
                <a:ea typeface="맑은 고딕"/>
              </a:rPr>
              <a:t>자원</a:t>
            </a:r>
            <a:r>
              <a:rPr sz="680" b="0" i="0" dirty="0">
                <a:solidFill>
                  <a:schemeClr val="tx1"/>
                </a:solidFill>
                <a:latin typeface="맑은 고딕"/>
                <a:ea typeface="맑은 고딕"/>
              </a:rPr>
              <a:t> </a:t>
            </a:r>
            <a:r>
              <a:rPr sz="680" b="0" i="0" dirty="0" err="1">
                <a:solidFill>
                  <a:schemeClr val="tx1"/>
                </a:solidFill>
                <a:latin typeface="맑은 고딕"/>
                <a:ea typeface="맑은 고딕"/>
              </a:rPr>
              <a:t>추세</a:t>
            </a:r>
            <a:r>
              <a:rPr sz="680" b="0" i="0" dirty="0">
                <a:solidFill>
                  <a:schemeClr val="tx1"/>
                </a:solidFill>
                <a:latin typeface="맑은 고딕"/>
                <a:ea typeface="맑은 고딕"/>
              </a:rPr>
              <a:t> </a:t>
            </a:r>
            <a:r>
              <a:rPr sz="680" b="0" i="0" dirty="0" err="1">
                <a:solidFill>
                  <a:schemeClr val="tx1"/>
                </a:solidFill>
                <a:latin typeface="맑은 고딕"/>
                <a:ea typeface="맑은 고딕"/>
              </a:rPr>
              <a:t>판단</a:t>
            </a:r>
            <a:endParaRPr sz="680" b="0" i="0" dirty="0">
              <a:solidFill>
                <a:schemeClr val="tx1"/>
              </a:solidFill>
              <a:latin typeface="맑은 고딕"/>
              <a:ea typeface="맑은 고딕"/>
            </a:endParaRPr>
          </a:p>
        </p:txBody>
      </p:sp>
      <p:sp>
        <p:nvSpPr>
          <p:cNvPr id="313" name="Rectangle 75"/>
          <p:cNvSpPr/>
          <p:nvPr/>
        </p:nvSpPr>
        <p:spPr>
          <a:xfrm>
            <a:off x="9281927" y="1752531"/>
            <a:ext cx="1163782" cy="343501"/>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a:solidFill>
                  <a:schemeClr val="tx1"/>
                </a:solidFill>
                <a:latin typeface="맑은 고딕"/>
                <a:ea typeface="맑은 고딕"/>
              </a:rPr>
              <a:t>Affinity Mapper</a:t>
            </a:r>
          </a:p>
          <a:p>
            <a:pPr algn="ctr">
              <a:lnSpc>
                <a:spcPct val="125000"/>
              </a:lnSpc>
            </a:pPr>
            <a:r>
              <a:rPr sz="680" b="0" i="0">
                <a:solidFill>
                  <a:schemeClr val="tx1"/>
                </a:solidFill>
                <a:latin typeface="맑은 고딕"/>
                <a:ea typeface="맑은 고딕"/>
              </a:rPr>
              <a:t>데이터·메모리 적합도</a:t>
            </a:r>
          </a:p>
        </p:txBody>
      </p:sp>
      <p:sp>
        <p:nvSpPr>
          <p:cNvPr id="314" name="Rectangle 76"/>
          <p:cNvSpPr/>
          <p:nvPr/>
        </p:nvSpPr>
        <p:spPr>
          <a:xfrm>
            <a:off x="10578712" y="1667809"/>
            <a:ext cx="1163782" cy="647283"/>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t"/>
          <a:lstStyle/>
          <a:p>
            <a:pPr algn="ctr">
              <a:lnSpc>
                <a:spcPct val="125000"/>
              </a:lnSpc>
            </a:pPr>
            <a:r>
              <a:rPr sz="850" b="1" i="0" dirty="0">
                <a:solidFill>
                  <a:schemeClr val="tx1"/>
                </a:solidFill>
                <a:latin typeface="맑은 고딕"/>
                <a:ea typeface="맑은 고딕"/>
              </a:rPr>
              <a:t>Policy Engine</a:t>
            </a:r>
          </a:p>
          <a:p>
            <a:pPr algn="ctr">
              <a:lnSpc>
                <a:spcPct val="125000"/>
              </a:lnSpc>
            </a:pPr>
            <a:r>
              <a:rPr sz="680" b="0" i="0" dirty="0" err="1">
                <a:solidFill>
                  <a:schemeClr val="tx1"/>
                </a:solidFill>
                <a:latin typeface="맑은 고딕"/>
                <a:ea typeface="맑은 고딕"/>
              </a:rPr>
              <a:t>이동</a:t>
            </a:r>
            <a:r>
              <a:rPr sz="680" b="0" i="0" dirty="0">
                <a:solidFill>
                  <a:schemeClr val="tx1"/>
                </a:solidFill>
                <a:latin typeface="맑은 고딕"/>
                <a:ea typeface="맑은 고딕"/>
              </a:rPr>
              <a:t> </a:t>
            </a:r>
            <a:r>
              <a:rPr sz="680" b="0" i="0" dirty="0" err="1">
                <a:solidFill>
                  <a:schemeClr val="tx1"/>
                </a:solidFill>
                <a:latin typeface="맑은 고딕"/>
                <a:ea typeface="맑은 고딕"/>
              </a:rPr>
              <a:t>명령</a:t>
            </a:r>
            <a:r>
              <a:rPr sz="680" b="0" i="0" dirty="0">
                <a:solidFill>
                  <a:schemeClr val="tx1"/>
                </a:solidFill>
                <a:latin typeface="맑은 고딕"/>
                <a:ea typeface="맑은 고딕"/>
              </a:rPr>
              <a:t> </a:t>
            </a:r>
            <a:r>
              <a:rPr sz="680" b="0" i="0" dirty="0" err="1">
                <a:solidFill>
                  <a:schemeClr val="tx1"/>
                </a:solidFill>
                <a:latin typeface="맑은 고딕"/>
                <a:ea typeface="맑은 고딕"/>
              </a:rPr>
              <a:t>확정</a:t>
            </a:r>
            <a:endParaRPr sz="680" b="0" i="0" dirty="0">
              <a:solidFill>
                <a:schemeClr val="tx1"/>
              </a:solidFill>
              <a:latin typeface="맑은 고딕"/>
              <a:ea typeface="맑은 고딕"/>
            </a:endParaRPr>
          </a:p>
        </p:txBody>
      </p:sp>
      <p:cxnSp>
        <p:nvCxnSpPr>
          <p:cNvPr id="315" name="Connector 77"/>
          <p:cNvCxnSpPr/>
          <p:nvPr/>
        </p:nvCxnSpPr>
        <p:spPr>
          <a:xfrm>
            <a:off x="8047485" y="1924281"/>
            <a:ext cx="149630"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7" name="Connector 79"/>
          <p:cNvCxnSpPr/>
          <p:nvPr/>
        </p:nvCxnSpPr>
        <p:spPr>
          <a:xfrm>
            <a:off x="9148923" y="1924281"/>
            <a:ext cx="1330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5709" y="1924281"/>
            <a:ext cx="1330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9" name="Rectangle 81"/>
          <p:cNvSpPr/>
          <p:nvPr/>
        </p:nvSpPr>
        <p:spPr>
          <a:xfrm>
            <a:off x="6621854" y="2662564"/>
            <a:ext cx="2527069" cy="1225296"/>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20" name="TextBox 319"/>
          <p:cNvSpPr txBox="1"/>
          <p:nvPr/>
        </p:nvSpPr>
        <p:spPr>
          <a:xfrm>
            <a:off x="6621854" y="2699140"/>
            <a:ext cx="2527069"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321" name="Rectangle 83"/>
          <p:cNvSpPr/>
          <p:nvPr/>
        </p:nvSpPr>
        <p:spPr>
          <a:xfrm>
            <a:off x="6721607" y="2882020"/>
            <a:ext cx="2327564"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State Snapshot Builder</a:t>
            </a:r>
          </a:p>
          <a:p>
            <a:pPr algn="ctr">
              <a:lnSpc>
                <a:spcPct val="125000"/>
              </a:lnSpc>
            </a:pPr>
            <a:r>
              <a:rPr sz="650" b="0" i="0">
                <a:solidFill>
                  <a:srgbClr val="7F5F00"/>
                </a:solidFill>
                <a:latin typeface="맑은 고딕"/>
                <a:ea typeface="맑은 고딕"/>
              </a:rPr>
              <a:t>일관 복사본 생성 · object 수 비례 비용</a:t>
            </a:r>
          </a:p>
        </p:txBody>
      </p:sp>
      <p:sp>
        <p:nvSpPr>
          <p:cNvPr id="322" name="Rectangle 84"/>
          <p:cNvSpPr/>
          <p:nvPr/>
        </p:nvSpPr>
        <p:spPr>
          <a:xfrm>
            <a:off x="6721607" y="3211204"/>
            <a:ext cx="111390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323" name="Rectangle 85"/>
          <p:cNvSpPr/>
          <p:nvPr/>
        </p:nvSpPr>
        <p:spPr>
          <a:xfrm>
            <a:off x="7935265" y="3211204"/>
            <a:ext cx="111390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24" name="Rectangle 86"/>
          <p:cNvSpPr/>
          <p:nvPr/>
        </p:nvSpPr>
        <p:spPr>
          <a:xfrm>
            <a:off x="6721607" y="3522098"/>
            <a:ext cx="2327564" cy="347473"/>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t"/>
          <a:lstStyle/>
          <a:p>
            <a:pPr algn="ctr">
              <a:lnSpc>
                <a:spcPct val="95000"/>
              </a:lnSpc>
            </a:pPr>
            <a:r>
              <a:rPr sz="800" b="0" i="0" dirty="0" err="1">
                <a:solidFill>
                  <a:srgbClr val="404040"/>
                </a:solidFill>
                <a:latin typeface="맑은 고딕"/>
                <a:ea typeface="맑은 고딕"/>
              </a:rPr>
              <a:t>Memory·Data</a:t>
            </a:r>
            <a:r>
              <a:rPr sz="800" b="0" i="0" dirty="0">
                <a:solidFill>
                  <a:srgbClr val="404040"/>
                </a:solidFill>
                <a:latin typeface="맑은 고딕"/>
                <a:ea typeface="맑은 고딕"/>
              </a:rPr>
              <a:t> Object Registry</a:t>
            </a:r>
            <a:endParaRPr lang="en-US" sz="800" b="0" i="0" dirty="0">
              <a:solidFill>
                <a:srgbClr val="404040"/>
              </a:solidFill>
              <a:latin typeface="맑은 고딕"/>
              <a:ea typeface="맑은 고딕"/>
            </a:endParaRPr>
          </a:p>
          <a:p>
            <a:pPr algn="ctr">
              <a:lnSpc>
                <a:spcPct val="95000"/>
              </a:lnSpc>
            </a:pPr>
            <a:endParaRPr sz="800" b="0" i="0" dirty="0">
              <a:solidFill>
                <a:srgbClr val="404040"/>
              </a:solidFill>
              <a:latin typeface="맑은 고딕"/>
              <a:ea typeface="맑은 고딕"/>
            </a:endParaRPr>
          </a:p>
        </p:txBody>
      </p:sp>
      <p:cxnSp>
        <p:nvCxnSpPr>
          <p:cNvPr id="325" name="Connector 87"/>
          <p:cNvCxnSpPr/>
          <p:nvPr/>
        </p:nvCxnSpPr>
        <p:spPr>
          <a:xfrm flipV="1">
            <a:off x="7278559" y="3156340"/>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p:nvPr/>
        </p:nvCxnSpPr>
        <p:spPr>
          <a:xfrm flipV="1">
            <a:off x="8492218" y="3156340"/>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p:nvPr/>
        </p:nvCxnSpPr>
        <p:spPr>
          <a:xfrm flipV="1">
            <a:off x="7885389" y="3156340"/>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7" name="Rectangle 109"/>
          <p:cNvSpPr/>
          <p:nvPr/>
        </p:nvSpPr>
        <p:spPr>
          <a:xfrm>
            <a:off x="6621854" y="4052452"/>
            <a:ext cx="5128953"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grpSp>
        <p:nvGrpSpPr>
          <p:cNvPr id="85" name="그룹 84"/>
          <p:cNvGrpSpPr/>
          <p:nvPr/>
        </p:nvGrpSpPr>
        <p:grpSpPr>
          <a:xfrm>
            <a:off x="1408113" y="1421126"/>
            <a:ext cx="4919472" cy="2834640"/>
            <a:chOff x="2178826" y="3733313"/>
            <a:chExt cx="4919472" cy="2834640"/>
          </a:xfrm>
        </p:grpSpPr>
        <p:sp>
          <p:nvSpPr>
            <p:cNvPr id="357" name="Rectangle 37"/>
            <p:cNvSpPr/>
            <p:nvPr/>
          </p:nvSpPr>
          <p:spPr>
            <a:xfrm>
              <a:off x="2178826" y="3733313"/>
              <a:ext cx="3785615" cy="202996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8" name="TextBox 357"/>
            <p:cNvSpPr txBox="1"/>
            <p:nvPr/>
          </p:nvSpPr>
          <p:spPr>
            <a:xfrm>
              <a:off x="2178826" y="3769889"/>
              <a:ext cx="3785615"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360" name="Rectangle 39"/>
            <p:cNvSpPr/>
            <p:nvPr/>
          </p:nvSpPr>
          <p:spPr>
            <a:xfrm>
              <a:off x="2288554" y="4099073"/>
              <a:ext cx="1133856" cy="420624"/>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Trend Analyzer</a:t>
              </a:r>
            </a:p>
            <a:p>
              <a:pPr algn="ctr">
                <a:lnSpc>
                  <a:spcPct val="125000"/>
                </a:lnSpc>
              </a:pPr>
              <a:r>
                <a:rPr sz="680" b="0" i="0" dirty="0" err="1">
                  <a:solidFill>
                    <a:schemeClr val="tx1"/>
                  </a:solidFill>
                  <a:latin typeface="맑은 고딕"/>
                  <a:ea typeface="맑은 고딕"/>
                </a:rPr>
                <a:t>자원</a:t>
              </a:r>
              <a:r>
                <a:rPr sz="680" b="0" i="0" dirty="0">
                  <a:solidFill>
                    <a:schemeClr val="tx1"/>
                  </a:solidFill>
                  <a:latin typeface="맑은 고딕"/>
                  <a:ea typeface="맑은 고딕"/>
                </a:rPr>
                <a:t> </a:t>
              </a:r>
              <a:r>
                <a:rPr sz="680" b="0" i="0" dirty="0" err="1">
                  <a:solidFill>
                    <a:schemeClr val="tx1"/>
                  </a:solidFill>
                  <a:latin typeface="맑은 고딕"/>
                  <a:ea typeface="맑은 고딕"/>
                </a:rPr>
                <a:t>추세</a:t>
              </a:r>
              <a:r>
                <a:rPr sz="680" b="0" i="0" dirty="0">
                  <a:solidFill>
                    <a:schemeClr val="tx1"/>
                  </a:solidFill>
                  <a:latin typeface="맑은 고딕"/>
                  <a:ea typeface="맑은 고딕"/>
                </a:rPr>
                <a:t> </a:t>
              </a:r>
              <a:r>
                <a:rPr sz="680" b="0" i="0" dirty="0" err="1">
                  <a:solidFill>
                    <a:schemeClr val="tx1"/>
                  </a:solidFill>
                  <a:latin typeface="맑은 고딕"/>
                  <a:ea typeface="맑은 고딕"/>
                </a:rPr>
                <a:t>판단</a:t>
              </a:r>
              <a:endParaRPr sz="680" b="0" i="0" dirty="0">
                <a:solidFill>
                  <a:schemeClr val="tx1"/>
                </a:solidFill>
                <a:latin typeface="맑은 고딕"/>
                <a:ea typeface="맑은 고딕"/>
              </a:endParaRPr>
            </a:p>
          </p:txBody>
        </p:sp>
        <p:sp>
          <p:nvSpPr>
            <p:cNvPr id="361" name="Rectangle 40"/>
            <p:cNvSpPr/>
            <p:nvPr/>
          </p:nvSpPr>
          <p:spPr>
            <a:xfrm>
              <a:off x="3532138" y="4099073"/>
              <a:ext cx="1133856" cy="420624"/>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chemeClr val="tx1"/>
                  </a:solidFill>
                  <a:latin typeface="맑은 고딕"/>
                  <a:ea typeface="맑은 고딕"/>
                </a:rPr>
                <a:t>Affinity Mapper</a:t>
              </a:r>
            </a:p>
            <a:p>
              <a:pPr algn="ctr">
                <a:lnSpc>
                  <a:spcPct val="125000"/>
                </a:lnSpc>
              </a:pPr>
              <a:r>
                <a:rPr sz="680" b="0" i="0" dirty="0" err="1">
                  <a:solidFill>
                    <a:schemeClr val="tx1"/>
                  </a:solidFill>
                  <a:latin typeface="맑은 고딕"/>
                  <a:ea typeface="맑은 고딕"/>
                </a:rPr>
                <a:t>데이터·메모리</a:t>
              </a:r>
              <a:r>
                <a:rPr sz="680" b="0" i="0" dirty="0">
                  <a:solidFill>
                    <a:schemeClr val="tx1"/>
                  </a:solidFill>
                  <a:latin typeface="맑은 고딕"/>
                  <a:ea typeface="맑은 고딕"/>
                </a:rPr>
                <a:t> </a:t>
              </a:r>
              <a:r>
                <a:rPr sz="680" b="0" i="0" dirty="0" err="1">
                  <a:solidFill>
                    <a:schemeClr val="tx1"/>
                  </a:solidFill>
                  <a:latin typeface="맑은 고딕"/>
                  <a:ea typeface="맑은 고딕"/>
                </a:rPr>
                <a:t>적합도</a:t>
              </a:r>
              <a:endParaRPr sz="680" b="0" i="0" dirty="0">
                <a:solidFill>
                  <a:schemeClr val="tx1"/>
                </a:solidFill>
                <a:latin typeface="맑은 고딕"/>
                <a:ea typeface="맑은 고딕"/>
              </a:endParaRPr>
            </a:p>
          </p:txBody>
        </p:sp>
        <p:sp>
          <p:nvSpPr>
            <p:cNvPr id="362" name="Rectangle 41"/>
            <p:cNvSpPr/>
            <p:nvPr/>
          </p:nvSpPr>
          <p:spPr>
            <a:xfrm>
              <a:off x="4775722" y="4099073"/>
              <a:ext cx="1133856" cy="420624"/>
            </a:xfrm>
            <a:prstGeom prst="rect">
              <a:avLst/>
            </a:prstGeom>
            <a:solidFill>
              <a:schemeClr val="bg1"/>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a:solidFill>
                    <a:schemeClr val="tx1"/>
                  </a:solidFill>
                  <a:latin typeface="맑은 고딕"/>
                  <a:ea typeface="맑은 고딕"/>
                </a:rPr>
                <a:t>Policy Engine</a:t>
              </a:r>
            </a:p>
            <a:p>
              <a:pPr algn="ctr">
                <a:lnSpc>
                  <a:spcPct val="125000"/>
                </a:lnSpc>
              </a:pPr>
              <a:r>
                <a:rPr sz="680" b="0" i="0">
                  <a:solidFill>
                    <a:schemeClr val="tx1"/>
                  </a:solidFill>
                  <a:latin typeface="맑은 고딕"/>
                  <a:ea typeface="맑은 고딕"/>
                </a:rPr>
                <a:t>이동 명령 확정</a:t>
              </a:r>
            </a:p>
          </p:txBody>
        </p:sp>
        <p:cxnSp>
          <p:nvCxnSpPr>
            <p:cNvPr id="363" name="Connector 42"/>
            <p:cNvCxnSpPr/>
            <p:nvPr/>
          </p:nvCxnSpPr>
          <p:spPr>
            <a:xfrm>
              <a:off x="3422410"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p:nvPr/>
          </p:nvCxnSpPr>
          <p:spPr>
            <a:xfrm>
              <a:off x="4665994"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3399550" y="423166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367" name="Rectangle 45"/>
            <p:cNvSpPr/>
            <p:nvPr/>
          </p:nvSpPr>
          <p:spPr>
            <a:xfrm>
              <a:off x="2288554" y="4629425"/>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Threshold Trigger</a:t>
              </a:r>
            </a:p>
            <a:p>
              <a:pPr algn="ctr">
                <a:lnSpc>
                  <a:spcPct val="125000"/>
                </a:lnSpc>
              </a:pPr>
              <a:r>
                <a:rPr sz="650" b="0" i="0">
                  <a:solidFill>
                    <a:srgbClr val="7F5F00"/>
                  </a:solidFill>
                  <a:latin typeface="맑은 고딕"/>
                  <a:ea typeface="맑은 고딕"/>
                </a:rPr>
                <a:t>임계치 교차 시 판단 기동</a:t>
              </a:r>
            </a:p>
          </p:txBody>
        </p:sp>
        <p:cxnSp>
          <p:nvCxnSpPr>
            <p:cNvPr id="368" name="Connector 46"/>
            <p:cNvCxnSpPr/>
            <p:nvPr/>
          </p:nvCxnSpPr>
          <p:spPr>
            <a:xfrm flipV="1">
              <a:off x="2855482" y="4519697"/>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942350" y="4496837"/>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370" name="Rectangle 48"/>
            <p:cNvSpPr/>
            <p:nvPr/>
          </p:nvSpPr>
          <p:spPr>
            <a:xfrm>
              <a:off x="2233690" y="4995185"/>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2288554" y="5050049"/>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72" name="Rectangle 50"/>
            <p:cNvSpPr/>
            <p:nvPr/>
          </p:nvSpPr>
          <p:spPr>
            <a:xfrm>
              <a:off x="2288554" y="5360945"/>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373" name="Rectangle 51"/>
            <p:cNvSpPr/>
            <p:nvPr/>
          </p:nvSpPr>
          <p:spPr>
            <a:xfrm>
              <a:off x="3550426" y="5104913"/>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dirty="0" err="1">
                  <a:solidFill>
                    <a:srgbClr val="404040"/>
                  </a:solidFill>
                  <a:latin typeface="맑은 고딕"/>
                  <a:ea typeface="맑은 고딕"/>
                </a:rPr>
                <a:t>Memory·Data</a:t>
              </a:r>
              <a:endParaRPr sz="800" b="0" i="0" dirty="0">
                <a:solidFill>
                  <a:srgbClr val="404040"/>
                </a:solidFill>
                <a:latin typeface="맑은 고딕"/>
                <a:ea typeface="맑은 고딕"/>
              </a:endParaRPr>
            </a:p>
            <a:p>
              <a:pPr algn="ctr">
                <a:lnSpc>
                  <a:spcPct val="95000"/>
                </a:lnSpc>
              </a:pPr>
              <a:r>
                <a:rPr sz="800" b="0" i="0" dirty="0">
                  <a:solidFill>
                    <a:srgbClr val="404040"/>
                  </a:solidFill>
                  <a:latin typeface="맑은 고딕"/>
                  <a:ea typeface="맑은 고딕"/>
                </a:rPr>
                <a:t>Object Registry</a:t>
              </a:r>
            </a:p>
          </p:txBody>
        </p:sp>
        <p:sp>
          <p:nvSpPr>
            <p:cNvPr id="374" name="TextBox 373"/>
            <p:cNvSpPr txBox="1"/>
            <p:nvPr/>
          </p:nvSpPr>
          <p:spPr>
            <a:xfrm>
              <a:off x="3550426" y="5488961"/>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375" name="Connector 53"/>
            <p:cNvCxnSpPr/>
            <p:nvPr/>
          </p:nvCxnSpPr>
          <p:spPr>
            <a:xfrm flipV="1">
              <a:off x="2855482" y="5306081"/>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p:nvPr/>
          </p:nvCxnSpPr>
          <p:spPr>
            <a:xfrm flipV="1">
              <a:off x="2855482" y="4940321"/>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p:nvPr/>
          </p:nvCxnSpPr>
          <p:spPr>
            <a:xfrm flipV="1">
              <a:off x="4117354" y="4519697"/>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4204222" y="473458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379" name="Rectangle 57"/>
            <p:cNvSpPr/>
            <p:nvPr/>
          </p:nvSpPr>
          <p:spPr>
            <a:xfrm>
              <a:off x="4190506" y="5854721"/>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0" name="TextBox 379"/>
            <p:cNvSpPr txBox="1"/>
            <p:nvPr/>
          </p:nvSpPr>
          <p:spPr>
            <a:xfrm>
              <a:off x="4190506" y="5891297"/>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81" name="Rectangle 59"/>
            <p:cNvSpPr/>
            <p:nvPr/>
          </p:nvSpPr>
          <p:spPr>
            <a:xfrm>
              <a:off x="4300234" y="6092465"/>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82" name="Rectangle 60"/>
            <p:cNvSpPr/>
            <p:nvPr/>
          </p:nvSpPr>
          <p:spPr>
            <a:xfrm>
              <a:off x="4300234" y="6330209"/>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p:nvPr/>
          </p:nvCxnSpPr>
          <p:spPr>
            <a:xfrm>
              <a:off x="5644402" y="6321065"/>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731270" y="62524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385" name="Connector 63"/>
            <p:cNvCxnSpPr/>
            <p:nvPr/>
          </p:nvCxnSpPr>
          <p:spPr>
            <a:xfrm>
              <a:off x="5342650" y="4519697"/>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429518" y="5155205"/>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7" name="Connector 65"/>
            <p:cNvCxnSpPr/>
            <p:nvPr/>
          </p:nvCxnSpPr>
          <p:spPr>
            <a:xfrm flipH="1">
              <a:off x="4117354" y="6202193"/>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88" name="Connector 66"/>
            <p:cNvCxnSpPr/>
            <p:nvPr/>
          </p:nvCxnSpPr>
          <p:spPr>
            <a:xfrm flipV="1">
              <a:off x="4117354" y="5452385"/>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875038" y="57952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390" name="Rectangle 68"/>
            <p:cNvSpPr/>
            <p:nvPr/>
          </p:nvSpPr>
          <p:spPr>
            <a:xfrm>
              <a:off x="2178826" y="5982737"/>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391" name="Connector 69"/>
            <p:cNvCxnSpPr/>
            <p:nvPr/>
          </p:nvCxnSpPr>
          <p:spPr>
            <a:xfrm flipV="1">
              <a:off x="2855482" y="5616977"/>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sp>
        <p:nvSpPr>
          <p:cNvPr id="392" name="Rectangle 28"/>
          <p:cNvSpPr/>
          <p:nvPr/>
        </p:nvSpPr>
        <p:spPr>
          <a:xfrm>
            <a:off x="292545" y="3222494"/>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268214"/>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460238"/>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675122"/>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3890006"/>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104889"/>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sp>
        <p:nvSpPr>
          <p:cNvPr id="112" name="KV Cache Manager">
            <a:extLst>
              <a:ext uri="{FF2B5EF4-FFF2-40B4-BE49-F238E27FC236}">
                <a16:creationId xmlns:a16="http://schemas.microsoft.com/office/drawing/2014/main" id="{B18B6AEF-CA0B-409D-820C-810CFB582295}"/>
              </a:ext>
            </a:extLst>
          </p:cNvPr>
          <p:cNvSpPr/>
          <p:nvPr/>
        </p:nvSpPr>
        <p:spPr>
          <a:xfrm>
            <a:off x="6841608" y="2175624"/>
            <a:ext cx="960355" cy="206575"/>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Lease</a:t>
            </a:r>
            <a:r>
              <a:rPr lang="ko-KR" altLang="en-US" sz="900" b="1" dirty="0">
                <a:solidFill>
                  <a:schemeClr val="tx1"/>
                </a:solidFill>
              </a:rPr>
              <a:t> </a:t>
            </a:r>
            <a:r>
              <a:rPr lang="en-US" altLang="ko-KR" sz="900" b="1" dirty="0">
                <a:solidFill>
                  <a:schemeClr val="tx1"/>
                </a:solidFill>
              </a:rPr>
              <a:t>Timer</a:t>
            </a:r>
            <a:endParaRPr lang="ko-KR" altLang="en-US" sz="900" b="1" dirty="0">
              <a:solidFill>
                <a:schemeClr val="tx1"/>
              </a:solidFill>
            </a:endParaRPr>
          </a:p>
        </p:txBody>
      </p:sp>
      <p:sp>
        <p:nvSpPr>
          <p:cNvPr id="113" name="KV Cache Manager">
            <a:extLst>
              <a:ext uri="{FF2B5EF4-FFF2-40B4-BE49-F238E27FC236}">
                <a16:creationId xmlns:a16="http://schemas.microsoft.com/office/drawing/2014/main" id="{0AC675B6-EBCF-4411-982A-606F1B39DD1C}"/>
              </a:ext>
            </a:extLst>
          </p:cNvPr>
          <p:cNvSpPr/>
          <p:nvPr/>
        </p:nvSpPr>
        <p:spPr>
          <a:xfrm>
            <a:off x="10637394" y="2014610"/>
            <a:ext cx="1056391" cy="261419"/>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HBM Lease Granter</a:t>
            </a:r>
            <a:endParaRPr lang="ko-KR" altLang="en-US" sz="900" b="1" dirty="0">
              <a:solidFill>
                <a:schemeClr val="tx1"/>
              </a:solidFill>
            </a:endParaRPr>
          </a:p>
        </p:txBody>
      </p:sp>
      <p:cxnSp>
        <p:nvCxnSpPr>
          <p:cNvPr id="114" name="① Event">
            <a:extLst>
              <a:ext uri="{FF2B5EF4-FFF2-40B4-BE49-F238E27FC236}">
                <a16:creationId xmlns:a16="http://schemas.microsoft.com/office/drawing/2014/main" id="{AA6A60D7-3F4D-4197-A43E-5FBE2A7B70E4}"/>
              </a:ext>
            </a:extLst>
          </p:cNvPr>
          <p:cNvCxnSpPr>
            <a:cxnSpLocks/>
            <a:stCxn id="113" idx="1"/>
            <a:endCxn id="112" idx="3"/>
          </p:cNvCxnSpPr>
          <p:nvPr/>
        </p:nvCxnSpPr>
        <p:spPr>
          <a:xfrm rot="10800000" flipV="1">
            <a:off x="7801964" y="2145320"/>
            <a:ext cx="2835431" cy="133592"/>
          </a:xfrm>
          <a:prstGeom prst="bentConnector3">
            <a:avLst>
              <a:gd name="adj1" fmla="val 50000"/>
            </a:avLst>
          </a:prstGeom>
          <a:ln w="9525">
            <a:solidFill>
              <a:srgbClr val="FF0000"/>
            </a:solidFill>
            <a:prstDash val="dash"/>
            <a:tailEnd type="arrow"/>
          </a:ln>
        </p:spPr>
      </p:cxnSp>
      <p:cxnSp>
        <p:nvCxnSpPr>
          <p:cNvPr id="117" name="① Event">
            <a:extLst>
              <a:ext uri="{FF2B5EF4-FFF2-40B4-BE49-F238E27FC236}">
                <a16:creationId xmlns:a16="http://schemas.microsoft.com/office/drawing/2014/main" id="{393EDD8C-32BA-4528-8222-186C12CC2266}"/>
              </a:ext>
            </a:extLst>
          </p:cNvPr>
          <p:cNvCxnSpPr>
            <a:cxnSpLocks/>
            <a:endCxn id="122" idx="3"/>
          </p:cNvCxnSpPr>
          <p:nvPr/>
        </p:nvCxnSpPr>
        <p:spPr>
          <a:xfrm rot="10800000" flipV="1">
            <a:off x="8436224" y="2138122"/>
            <a:ext cx="2201179" cy="1633875"/>
          </a:xfrm>
          <a:prstGeom prst="bentConnector3">
            <a:avLst>
              <a:gd name="adj1" fmla="val 64713"/>
            </a:avLst>
          </a:prstGeom>
          <a:ln w="9525">
            <a:solidFill>
              <a:srgbClr val="FF0000"/>
            </a:solidFill>
            <a:prstDash val="dash"/>
            <a:tailEnd type="arrow"/>
          </a:ln>
        </p:spPr>
      </p:cxnSp>
      <p:sp>
        <p:nvSpPr>
          <p:cNvPr id="122" name="KV Cache Manager">
            <a:extLst>
              <a:ext uri="{FF2B5EF4-FFF2-40B4-BE49-F238E27FC236}">
                <a16:creationId xmlns:a16="http://schemas.microsoft.com/office/drawing/2014/main" id="{B18B6AEF-CA0B-409D-820C-810CFB582295}"/>
              </a:ext>
            </a:extLst>
          </p:cNvPr>
          <p:cNvSpPr/>
          <p:nvPr/>
        </p:nvSpPr>
        <p:spPr>
          <a:xfrm>
            <a:off x="7475868" y="3686636"/>
            <a:ext cx="960355" cy="170723"/>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Metadata</a:t>
            </a:r>
            <a:endParaRPr lang="ko-KR" altLang="en-US" sz="900" b="1" dirty="0">
              <a:solidFill>
                <a:schemeClr val="tx1"/>
              </a:solidFill>
            </a:endParaRPr>
          </a:p>
        </p:txBody>
      </p:sp>
      <p:cxnSp>
        <p:nvCxnSpPr>
          <p:cNvPr id="140" name="① Event">
            <a:extLst>
              <a:ext uri="{FF2B5EF4-FFF2-40B4-BE49-F238E27FC236}">
                <a16:creationId xmlns:a16="http://schemas.microsoft.com/office/drawing/2014/main" id="{4612F9B8-78D5-4DE5-B2DC-45A405916D8A}"/>
              </a:ext>
            </a:extLst>
          </p:cNvPr>
          <p:cNvCxnSpPr>
            <a:cxnSpLocks/>
          </p:cNvCxnSpPr>
          <p:nvPr/>
        </p:nvCxnSpPr>
        <p:spPr>
          <a:xfrm flipH="1" flipV="1">
            <a:off x="7014297" y="2018259"/>
            <a:ext cx="2453" cy="166391"/>
          </a:xfrm>
          <a:prstGeom prst="straightConnector1">
            <a:avLst/>
          </a:prstGeom>
          <a:ln w="9525">
            <a:solidFill>
              <a:srgbClr val="FF0000"/>
            </a:solidFill>
            <a:prstDash val="dash"/>
            <a:tailEnd type="arrow"/>
          </a:ln>
        </p:spPr>
      </p:cxnSp>
      <p:sp>
        <p:nvSpPr>
          <p:cNvPr id="141" name="직사각형 140">
            <a:extLst>
              <a:ext uri="{FF2B5EF4-FFF2-40B4-BE49-F238E27FC236}">
                <a16:creationId xmlns:a16="http://schemas.microsoft.com/office/drawing/2014/main" id="{3471A210-CDF4-4BA3-84BD-F653298D9DEF}"/>
              </a:ext>
            </a:extLst>
          </p:cNvPr>
          <p:cNvSpPr/>
          <p:nvPr/>
        </p:nvSpPr>
        <p:spPr>
          <a:xfrm>
            <a:off x="7012988" y="2004682"/>
            <a:ext cx="1042191" cy="200055"/>
          </a:xfrm>
          <a:prstGeom prst="rect">
            <a:avLst/>
          </a:prstGeom>
          <a:noFill/>
          <a:ln w="12700">
            <a:noFill/>
            <a:prstDash val="dash"/>
          </a:ln>
        </p:spPr>
        <p:txBody>
          <a:bodyPr rtlCol="0" anchor="ctr"/>
          <a:lstStyle/>
          <a:p>
            <a:r>
              <a:rPr lang="en-US" altLang="ko-KR" sz="700" dirty="0">
                <a:solidFill>
                  <a:srgbClr val="FF0000"/>
                </a:solidFill>
              </a:rPr>
              <a:t>Event (Lease Expired)</a:t>
            </a:r>
          </a:p>
        </p:txBody>
      </p:sp>
      <p:grpSp>
        <p:nvGrpSpPr>
          <p:cNvPr id="147" name="그룹 146">
            <a:extLst>
              <a:ext uri="{FF2B5EF4-FFF2-40B4-BE49-F238E27FC236}">
                <a16:creationId xmlns:a16="http://schemas.microsoft.com/office/drawing/2014/main" id="{83407551-4922-4346-9CDE-2770BEA53886}"/>
              </a:ext>
            </a:extLst>
          </p:cNvPr>
          <p:cNvGrpSpPr/>
          <p:nvPr/>
        </p:nvGrpSpPr>
        <p:grpSpPr>
          <a:xfrm>
            <a:off x="10877540" y="3314931"/>
            <a:ext cx="886133" cy="491780"/>
            <a:chOff x="11056831" y="3583489"/>
            <a:chExt cx="886133" cy="491780"/>
          </a:xfrm>
        </p:grpSpPr>
        <p:sp>
          <p:nvSpPr>
            <p:cNvPr id="149" name="KV Cache Manager">
              <a:extLst>
                <a:ext uri="{FF2B5EF4-FFF2-40B4-BE49-F238E27FC236}">
                  <a16:creationId xmlns:a16="http://schemas.microsoft.com/office/drawing/2014/main" id="{98E078A6-320E-4FDE-982D-DB32947602AA}"/>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150" name="직사각형 149">
              <a:extLst>
                <a:ext uri="{FF2B5EF4-FFF2-40B4-BE49-F238E27FC236}">
                  <a16:creationId xmlns:a16="http://schemas.microsoft.com/office/drawing/2014/main" id="{0B9F48D5-E468-4CDF-978E-9BCF5DF01EFF}"/>
                </a:ext>
              </a:extLst>
            </p:cNvPr>
            <p:cNvSpPr/>
            <p:nvPr/>
          </p:nvSpPr>
          <p:spPr>
            <a:xfrm>
              <a:off x="11056831" y="3583489"/>
              <a:ext cx="886133" cy="491780"/>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cxnSp>
        <p:nvCxnSpPr>
          <p:cNvPr id="151" name="Connector 91"/>
          <p:cNvCxnSpPr/>
          <p:nvPr/>
        </p:nvCxnSpPr>
        <p:spPr>
          <a:xfrm flipV="1">
            <a:off x="8721012" y="2111395"/>
            <a:ext cx="0" cy="731623"/>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3" name="직사각형 152">
            <a:extLst>
              <a:ext uri="{FF2B5EF4-FFF2-40B4-BE49-F238E27FC236}">
                <a16:creationId xmlns:a16="http://schemas.microsoft.com/office/drawing/2014/main" id="{7FC2DF33-C0A4-45B5-AC29-A0737C8F1089}"/>
              </a:ext>
            </a:extLst>
          </p:cNvPr>
          <p:cNvSpPr/>
          <p:nvPr/>
        </p:nvSpPr>
        <p:spPr>
          <a:xfrm>
            <a:off x="6547041" y="1044053"/>
            <a:ext cx="5517135" cy="59645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197639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9456" y="73152"/>
            <a:ext cx="10058400" cy="365760"/>
          </a:xfrm>
          <a:prstGeom prst="rect">
            <a:avLst/>
          </a:prstGeom>
          <a:noFill/>
        </p:spPr>
        <p:txBody>
          <a:bodyPr wrap="square" lIns="0" tIns="0" rIns="0" bIns="0" anchor="ctr">
            <a:spAutoFit/>
          </a:bodyPr>
          <a:lstStyle/>
          <a:p>
            <a:pPr algn="l"/>
            <a:r>
              <a:rPr sz="1900" b="1" i="0">
                <a:solidFill>
                  <a:srgbClr val="262626"/>
                </a:solidFill>
                <a:latin typeface="맑은 고딕"/>
                <a:ea typeface="맑은 고딕"/>
              </a:rPr>
              <a:t>DP1. Data Migration 결정 구조 - 설계</a:t>
            </a:r>
          </a:p>
        </p:txBody>
      </p:sp>
      <p:sp>
        <p:nvSpPr>
          <p:cNvPr id="3" name="Rectangle 2"/>
          <p:cNvSpPr/>
          <p:nvPr/>
        </p:nvSpPr>
        <p:spPr>
          <a:xfrm>
            <a:off x="0" y="548640"/>
            <a:ext cx="7772400" cy="32918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 name="Rectangle 3"/>
          <p:cNvSpPr/>
          <p:nvPr/>
        </p:nvSpPr>
        <p:spPr>
          <a:xfrm>
            <a:off x="237744" y="598932"/>
            <a:ext cx="45720"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 name="TextBox 4"/>
          <p:cNvSpPr txBox="1"/>
          <p:nvPr/>
        </p:nvSpPr>
        <p:spPr>
          <a:xfrm>
            <a:off x="365760" y="548640"/>
            <a:ext cx="7223760" cy="329184"/>
          </a:xfrm>
          <a:prstGeom prst="rect">
            <a:avLst/>
          </a:prstGeom>
          <a:noFill/>
        </p:spPr>
        <p:txBody>
          <a:bodyPr wrap="square" lIns="0" tIns="0" rIns="0" bIns="0" anchor="ctr">
            <a:spAutoFit/>
          </a:bodyPr>
          <a:lstStyle/>
          <a:p>
            <a:pPr algn="l"/>
            <a:r>
              <a:rPr sz="1250" b="1" i="0">
                <a:solidFill>
                  <a:srgbClr val="FFFFFF"/>
                </a:solidFill>
                <a:latin typeface="맑은 고딕"/>
                <a:ea typeface="맑은 고딕"/>
              </a:rPr>
              <a:t>메모리 자원과 데이터 특성을 고려한 데이터 이동을 어디서 결정할 것인가</a:t>
            </a:r>
          </a:p>
        </p:txBody>
      </p:sp>
      <p:sp>
        <p:nvSpPr>
          <p:cNvPr id="6" name="Rectangle 5"/>
          <p:cNvSpPr/>
          <p:nvPr/>
        </p:nvSpPr>
        <p:spPr>
          <a:xfrm>
            <a:off x="7863840" y="548640"/>
            <a:ext cx="1289304" cy="155448"/>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C2 신규 Device SW</a:t>
            </a:r>
          </a:p>
        </p:txBody>
      </p:sp>
      <p:sp>
        <p:nvSpPr>
          <p:cNvPr id="7" name="Rectangle 6"/>
          <p:cNvSpPr/>
          <p:nvPr/>
        </p:nvSpPr>
        <p:spPr>
          <a:xfrm>
            <a:off x="9208008" y="548640"/>
            <a:ext cx="1289304"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F1 메모리 tier 간 복사</a:t>
            </a:r>
          </a:p>
        </p:txBody>
      </p:sp>
      <p:sp>
        <p:nvSpPr>
          <p:cNvPr id="8" name="Rectangle 7"/>
          <p:cNvSpPr/>
          <p:nvPr/>
        </p:nvSpPr>
        <p:spPr>
          <a:xfrm>
            <a:off x="10552176" y="548640"/>
            <a:ext cx="1289304" cy="1554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F2 데이터 이동 스케줄링</a:t>
            </a:r>
          </a:p>
        </p:txBody>
      </p:sp>
      <p:sp>
        <p:nvSpPr>
          <p:cNvPr id="9" name="Rectangle 8"/>
          <p:cNvSpPr/>
          <p:nvPr/>
        </p:nvSpPr>
        <p:spPr>
          <a:xfrm>
            <a:off x="7863840" y="717804"/>
            <a:ext cx="953262" cy="155448"/>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Q1 Throughput</a:t>
            </a:r>
          </a:p>
        </p:txBody>
      </p:sp>
      <p:sp>
        <p:nvSpPr>
          <p:cNvPr id="10" name="Rectangle 9"/>
          <p:cNvSpPr/>
          <p:nvPr/>
        </p:nvSpPr>
        <p:spPr>
          <a:xfrm>
            <a:off x="8871966" y="717804"/>
            <a:ext cx="953262"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Q2 HBM 점유율</a:t>
            </a:r>
          </a:p>
        </p:txBody>
      </p:sp>
      <p:sp>
        <p:nvSpPr>
          <p:cNvPr id="11" name="Rectangle 10"/>
          <p:cNvSpPr/>
          <p:nvPr/>
        </p:nvSpPr>
        <p:spPr>
          <a:xfrm>
            <a:off x="9880092" y="717804"/>
            <a:ext cx="953262"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Q3 변경용이성</a:t>
            </a:r>
          </a:p>
        </p:txBody>
      </p:sp>
      <p:sp>
        <p:nvSpPr>
          <p:cNvPr id="12" name="Rectangle 11"/>
          <p:cNvSpPr/>
          <p:nvPr/>
        </p:nvSpPr>
        <p:spPr>
          <a:xfrm>
            <a:off x="10888217" y="717804"/>
            <a:ext cx="953262" cy="155448"/>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Q4 확장성</a:t>
            </a:r>
          </a:p>
        </p:txBody>
      </p:sp>
      <p:sp>
        <p:nvSpPr>
          <p:cNvPr id="13" name="Rectangle 12"/>
          <p:cNvSpPr/>
          <p:nvPr/>
        </p:nvSpPr>
        <p:spPr>
          <a:xfrm>
            <a:off x="182880" y="950976"/>
            <a:ext cx="804672" cy="310896"/>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설계 안</a:t>
            </a:r>
          </a:p>
        </p:txBody>
      </p:sp>
      <p:sp>
        <p:nvSpPr>
          <p:cNvPr id="14" name="Rectangle 13"/>
          <p:cNvSpPr/>
          <p:nvPr/>
        </p:nvSpPr>
        <p:spPr>
          <a:xfrm>
            <a:off x="987552" y="950976"/>
            <a:ext cx="5138928" cy="3108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 name="Rectangle 14"/>
          <p:cNvSpPr/>
          <p:nvPr/>
        </p:nvSpPr>
        <p:spPr>
          <a:xfrm>
            <a:off x="6126480" y="950976"/>
            <a:ext cx="5861304" cy="3108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 name="Rectangle 15"/>
          <p:cNvSpPr/>
          <p:nvPr/>
        </p:nvSpPr>
        <p:spPr>
          <a:xfrm>
            <a:off x="182880" y="1261872"/>
            <a:ext cx="804672" cy="3273552"/>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 name="Rectangle 16"/>
          <p:cNvSpPr/>
          <p:nvPr/>
        </p:nvSpPr>
        <p:spPr>
          <a:xfrm>
            <a:off x="987552" y="1261872"/>
            <a:ext cx="5138928" cy="327355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 name="Rectangle 17"/>
          <p:cNvSpPr/>
          <p:nvPr/>
        </p:nvSpPr>
        <p:spPr>
          <a:xfrm>
            <a:off x="6126480" y="1261872"/>
            <a:ext cx="5861304" cy="327355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 name="Rectangle 18"/>
          <p:cNvSpPr/>
          <p:nvPr/>
        </p:nvSpPr>
        <p:spPr>
          <a:xfrm>
            <a:off x="182880" y="4535424"/>
            <a:ext cx="804672" cy="804672"/>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장점</a:t>
            </a:r>
          </a:p>
        </p:txBody>
      </p:sp>
      <p:sp>
        <p:nvSpPr>
          <p:cNvPr id="20" name="Rectangle 19"/>
          <p:cNvSpPr/>
          <p:nvPr/>
        </p:nvSpPr>
        <p:spPr>
          <a:xfrm>
            <a:off x="987552" y="4535424"/>
            <a:ext cx="5138928" cy="80467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1" name="Rectangle 20"/>
          <p:cNvSpPr/>
          <p:nvPr/>
        </p:nvSpPr>
        <p:spPr>
          <a:xfrm>
            <a:off x="6126480" y="4535424"/>
            <a:ext cx="5861304" cy="80467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2" name="Rectangle 21"/>
          <p:cNvSpPr/>
          <p:nvPr/>
        </p:nvSpPr>
        <p:spPr>
          <a:xfrm>
            <a:off x="182880" y="5340096"/>
            <a:ext cx="804672" cy="658368"/>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단점</a:t>
            </a:r>
          </a:p>
        </p:txBody>
      </p:sp>
      <p:sp>
        <p:nvSpPr>
          <p:cNvPr id="23" name="Rectangle 22"/>
          <p:cNvSpPr/>
          <p:nvPr/>
        </p:nvSpPr>
        <p:spPr>
          <a:xfrm>
            <a:off x="987552" y="5340096"/>
            <a:ext cx="5138928" cy="6583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 name="Rectangle 23"/>
          <p:cNvSpPr/>
          <p:nvPr/>
        </p:nvSpPr>
        <p:spPr>
          <a:xfrm>
            <a:off x="6126480" y="5340096"/>
            <a:ext cx="5861304" cy="6583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5" name="Rectangle 24"/>
          <p:cNvSpPr/>
          <p:nvPr/>
        </p:nvSpPr>
        <p:spPr>
          <a:xfrm>
            <a:off x="182880" y="5998464"/>
            <a:ext cx="804672" cy="82296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Tradeoff</a:t>
            </a:r>
          </a:p>
        </p:txBody>
      </p:sp>
      <p:sp>
        <p:nvSpPr>
          <p:cNvPr id="26" name="Rectangle 25"/>
          <p:cNvSpPr/>
          <p:nvPr/>
        </p:nvSpPr>
        <p:spPr>
          <a:xfrm>
            <a:off x="987552" y="5998464"/>
            <a:ext cx="5138928" cy="82296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7" name="Rectangle 26"/>
          <p:cNvSpPr/>
          <p:nvPr/>
        </p:nvSpPr>
        <p:spPr>
          <a:xfrm>
            <a:off x="6126480" y="5998464"/>
            <a:ext cx="5861304" cy="82296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8" name="TextBox 27"/>
          <p:cNvSpPr txBox="1"/>
          <p:nvPr/>
        </p:nvSpPr>
        <p:spPr>
          <a:xfrm>
            <a:off x="182880" y="1956816"/>
            <a:ext cx="804672" cy="201168"/>
          </a:xfrm>
          <a:prstGeom prst="rect">
            <a:avLst/>
          </a:prstGeom>
          <a:noFill/>
        </p:spPr>
        <p:txBody>
          <a:bodyPr wrap="square" lIns="0" tIns="0" rIns="0" bIns="0" anchor="ctr">
            <a:spAutoFit/>
          </a:bodyPr>
          <a:lstStyle/>
          <a:p>
            <a:pPr algn="ctr"/>
            <a:r>
              <a:rPr sz="1050" b="0" i="0">
                <a:solidFill>
                  <a:srgbClr val="808080"/>
                </a:solidFill>
                <a:latin typeface="맑은 고딕"/>
                <a:ea typeface="맑은 고딕"/>
              </a:rPr>
              <a:t>구조</a:t>
            </a:r>
          </a:p>
        </p:txBody>
      </p:sp>
      <p:sp>
        <p:nvSpPr>
          <p:cNvPr id="29" name="Rectangle 28"/>
          <p:cNvSpPr/>
          <p:nvPr/>
        </p:nvSpPr>
        <p:spPr>
          <a:xfrm>
            <a:off x="214884" y="290779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 name="TextBox 29"/>
          <p:cNvSpPr txBox="1"/>
          <p:nvPr/>
        </p:nvSpPr>
        <p:spPr>
          <a:xfrm>
            <a:off x="242316" y="295351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1" name="Rectangle 30"/>
          <p:cNvSpPr/>
          <p:nvPr/>
        </p:nvSpPr>
        <p:spPr>
          <a:xfrm>
            <a:off x="242316" y="314553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2" name="Rectangle 31"/>
          <p:cNvSpPr/>
          <p:nvPr/>
        </p:nvSpPr>
        <p:spPr>
          <a:xfrm>
            <a:off x="242316" y="336042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3" name="Rectangle 32"/>
          <p:cNvSpPr/>
          <p:nvPr/>
        </p:nvSpPr>
        <p:spPr>
          <a:xfrm>
            <a:off x="242316" y="357530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4" name="Rectangle 33"/>
          <p:cNvSpPr/>
          <p:nvPr/>
        </p:nvSpPr>
        <p:spPr>
          <a:xfrm>
            <a:off x="242316" y="379018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sp>
        <p:nvSpPr>
          <p:cNvPr id="35" name="TextBox 34"/>
          <p:cNvSpPr txBox="1"/>
          <p:nvPr/>
        </p:nvSpPr>
        <p:spPr>
          <a:xfrm>
            <a:off x="1097280" y="969264"/>
            <a:ext cx="4919472" cy="274320"/>
          </a:xfrm>
          <a:prstGeom prst="rect">
            <a:avLst/>
          </a:prstGeom>
          <a:noFill/>
        </p:spPr>
        <p:txBody>
          <a:bodyPr wrap="square" lIns="0" tIns="0" rIns="0" bIns="0" anchor="t">
            <a:spAutoFit/>
          </a:bodyPr>
          <a:lstStyle/>
          <a:p>
            <a:pPr algn="l">
              <a:lnSpc>
                <a:spcPct val="100000"/>
              </a:lnSpc>
            </a:pPr>
            <a:r>
              <a:rPr sz="1050" b="1" i="0">
                <a:solidFill>
                  <a:srgbClr val="262626"/>
                </a:solidFill>
                <a:latin typeface="맑은 고딕"/>
                <a:ea typeface="맑은 고딕"/>
              </a:rPr>
              <a:t>(1안) 상태 관측과 이동 결정을 한 곳에서  (2-plane 구조)</a:t>
            </a:r>
          </a:p>
          <a:p>
            <a:pPr algn="l">
              <a:lnSpc>
                <a:spcPct val="100000"/>
              </a:lnSpc>
            </a:pPr>
            <a:r>
              <a:rPr sz="720" b="0" i="0">
                <a:solidFill>
                  <a:srgbClr val="C55A11"/>
                </a:solidFill>
                <a:latin typeface="맑은 고딕"/>
                <a:ea typeface="맑은 고딕"/>
              </a:rPr>
              <a:t>Resource Plane 이 관측과 결정을 함께 수행   ·   후보 특화 : Threshold Trigger · State Lock Manager</a:t>
            </a:r>
          </a:p>
        </p:txBody>
      </p:sp>
      <p:sp>
        <p:nvSpPr>
          <p:cNvPr id="36" name="TextBox 35"/>
          <p:cNvSpPr txBox="1"/>
          <p:nvPr/>
        </p:nvSpPr>
        <p:spPr>
          <a:xfrm>
            <a:off x="6236208" y="969264"/>
            <a:ext cx="5641848" cy="274320"/>
          </a:xfrm>
          <a:prstGeom prst="rect">
            <a:avLst/>
          </a:prstGeom>
          <a:noFill/>
        </p:spPr>
        <p:txBody>
          <a:bodyPr wrap="square" lIns="0" tIns="0" rIns="0" bIns="0" anchor="t">
            <a:spAutoFit/>
          </a:bodyPr>
          <a:lstStyle/>
          <a:p>
            <a:pPr algn="l">
              <a:lnSpc>
                <a:spcPct val="100000"/>
              </a:lnSpc>
            </a:pPr>
            <a:r>
              <a:rPr sz="1050" b="1" i="0">
                <a:solidFill>
                  <a:srgbClr val="262626"/>
                </a:solidFill>
                <a:latin typeface="맑은 고딕"/>
                <a:ea typeface="맑은 고딕"/>
              </a:rPr>
              <a:t>(2안) 상태 관측과 이동 결정을 분리  (3-plane 구조)</a:t>
            </a:r>
          </a:p>
          <a:p>
            <a:pPr algn="l">
              <a:lnSpc>
                <a:spcPct val="100000"/>
              </a:lnSpc>
            </a:pPr>
            <a:r>
              <a:rPr sz="720" b="0" i="0">
                <a:solidFill>
                  <a:srgbClr val="C55A11"/>
                </a:solidFill>
                <a:latin typeface="맑은 고딕"/>
                <a:ea typeface="맑은 고딕"/>
              </a:rPr>
              <a:t>Control Plane 이 결정만 수행   ·   후보 특화 : Decision Scheduler · Snapshot Builder · Command Queue</a:t>
            </a:r>
          </a:p>
        </p:txBody>
      </p:sp>
      <p:sp>
        <p:nvSpPr>
          <p:cNvPr id="37" name="TextBox 36"/>
          <p:cNvSpPr txBox="1"/>
          <p:nvPr/>
        </p:nvSpPr>
        <p:spPr>
          <a:xfrm>
            <a:off x="1097280" y="1298448"/>
            <a:ext cx="4919472" cy="292608"/>
          </a:xfrm>
          <a:prstGeom prst="rect">
            <a:avLst/>
          </a:prstGeom>
          <a:noFill/>
        </p:spPr>
        <p:txBody>
          <a:bodyPr wrap="square" lIns="0" tIns="0" rIns="0" bIns="0" anchor="t">
            <a:spAutoFit/>
          </a:bodyPr>
          <a:lstStyle/>
          <a:p>
            <a:pPr algn="l">
              <a:lnSpc>
                <a:spcPct val="112000"/>
              </a:lnSpc>
            </a:pPr>
            <a:r>
              <a:rPr sz="900" b="0" i="0">
                <a:solidFill>
                  <a:srgbClr val="404040"/>
                </a:solidFill>
                <a:latin typeface="맑은 고딕"/>
                <a:ea typeface="맑은 고딕"/>
              </a:rPr>
              <a:t>“Resource Plane 에서 상태를 관측하고 곧바로 이동을 결정”</a:t>
            </a:r>
          </a:p>
          <a:p>
            <a:pPr algn="l">
              <a:lnSpc>
                <a:spcPct val="112000"/>
              </a:lnSpc>
            </a:pPr>
            <a:r>
              <a:rPr sz="900" b="0" i="0">
                <a:solidFill>
                  <a:srgbClr val="404040"/>
                </a:solidFill>
                <a:latin typeface="맑은 고딕"/>
                <a:ea typeface="맑은 고딕"/>
              </a:rPr>
              <a:t>메모리 자원 상태에 우선한 이동</a:t>
            </a:r>
          </a:p>
        </p:txBody>
      </p:sp>
      <p:sp>
        <p:nvSpPr>
          <p:cNvPr id="38" name="Rectangle 37"/>
          <p:cNvSpPr/>
          <p:nvPr/>
        </p:nvSpPr>
        <p:spPr>
          <a:xfrm>
            <a:off x="1097280" y="1645920"/>
            <a:ext cx="3785615" cy="202996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 name="TextBox 38"/>
          <p:cNvSpPr txBox="1"/>
          <p:nvPr/>
        </p:nvSpPr>
        <p:spPr>
          <a:xfrm>
            <a:off x="1097280" y="1682496"/>
            <a:ext cx="3785615"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40" name="Rectangle 39"/>
          <p:cNvSpPr/>
          <p:nvPr/>
        </p:nvSpPr>
        <p:spPr>
          <a:xfrm>
            <a:off x="1207008" y="2011680"/>
            <a:ext cx="1133856" cy="420624"/>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Trend Analyzer</a:t>
            </a:r>
          </a:p>
          <a:p>
            <a:pPr algn="ctr">
              <a:lnSpc>
                <a:spcPct val="92000"/>
              </a:lnSpc>
            </a:pPr>
            <a:r>
              <a:rPr sz="680" b="0" i="0">
                <a:solidFill>
                  <a:srgbClr val="7F5F00"/>
                </a:solidFill>
                <a:latin typeface="맑은 고딕"/>
                <a:ea typeface="맑은 고딕"/>
              </a:rPr>
              <a:t>자원 추세 판단</a:t>
            </a:r>
          </a:p>
        </p:txBody>
      </p:sp>
      <p:sp>
        <p:nvSpPr>
          <p:cNvPr id="41" name="Rectangle 40"/>
          <p:cNvSpPr/>
          <p:nvPr/>
        </p:nvSpPr>
        <p:spPr>
          <a:xfrm>
            <a:off x="2450592" y="2011680"/>
            <a:ext cx="1133856" cy="420624"/>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Affinity Mapper</a:t>
            </a:r>
          </a:p>
          <a:p>
            <a:pPr algn="ctr">
              <a:lnSpc>
                <a:spcPct val="92000"/>
              </a:lnSpc>
            </a:pPr>
            <a:r>
              <a:rPr sz="680" b="0" i="0">
                <a:solidFill>
                  <a:srgbClr val="7F5F00"/>
                </a:solidFill>
                <a:latin typeface="맑은 고딕"/>
                <a:ea typeface="맑은 고딕"/>
              </a:rPr>
              <a:t>데이터·메모리 적합도</a:t>
            </a:r>
          </a:p>
        </p:txBody>
      </p:sp>
      <p:sp>
        <p:nvSpPr>
          <p:cNvPr id="42" name="Rectangle 41"/>
          <p:cNvSpPr/>
          <p:nvPr/>
        </p:nvSpPr>
        <p:spPr>
          <a:xfrm>
            <a:off x="3694176" y="2011680"/>
            <a:ext cx="1133856" cy="420624"/>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Policy Engine</a:t>
            </a:r>
          </a:p>
          <a:p>
            <a:pPr algn="ctr">
              <a:lnSpc>
                <a:spcPct val="92000"/>
              </a:lnSpc>
            </a:pPr>
            <a:r>
              <a:rPr sz="680" b="0" i="0">
                <a:solidFill>
                  <a:srgbClr val="7F5F00"/>
                </a:solidFill>
                <a:latin typeface="맑은 고딕"/>
                <a:ea typeface="맑은 고딕"/>
              </a:rPr>
              <a:t>이동 명령 확정</a:t>
            </a:r>
          </a:p>
        </p:txBody>
      </p:sp>
      <p:cxnSp>
        <p:nvCxnSpPr>
          <p:cNvPr id="43" name="Connector 42"/>
          <p:cNvCxnSpPr/>
          <p:nvPr/>
        </p:nvCxnSpPr>
        <p:spPr>
          <a:xfrm>
            <a:off x="2340864" y="2221992"/>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584448" y="2221992"/>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2318004" y="214426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46" name="Rectangle 45"/>
          <p:cNvSpPr/>
          <p:nvPr/>
        </p:nvSpPr>
        <p:spPr>
          <a:xfrm>
            <a:off x="1207008" y="2542032"/>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Threshold Trigger</a:t>
            </a:r>
          </a:p>
          <a:p>
            <a:pPr algn="ctr">
              <a:lnSpc>
                <a:spcPct val="92000"/>
              </a:lnSpc>
            </a:pPr>
            <a:r>
              <a:rPr sz="650" b="0" i="0">
                <a:solidFill>
                  <a:srgbClr val="7F5F00"/>
                </a:solidFill>
                <a:latin typeface="맑은 고딕"/>
                <a:ea typeface="맑은 고딕"/>
              </a:rPr>
              <a:t>임계치 교차 시 판단 기동</a:t>
            </a:r>
          </a:p>
        </p:txBody>
      </p:sp>
      <p:cxnSp>
        <p:nvCxnSpPr>
          <p:cNvPr id="47" name="Connector 46"/>
          <p:cNvCxnSpPr/>
          <p:nvPr/>
        </p:nvCxnSpPr>
        <p:spPr>
          <a:xfrm flipV="1">
            <a:off x="1773936" y="2432304"/>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1860804" y="2409444"/>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49" name="Rectangle 48"/>
          <p:cNvSpPr/>
          <p:nvPr/>
        </p:nvSpPr>
        <p:spPr>
          <a:xfrm>
            <a:off x="1152144" y="2907792"/>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0" name="Rectangle 49"/>
          <p:cNvSpPr/>
          <p:nvPr/>
        </p:nvSpPr>
        <p:spPr>
          <a:xfrm>
            <a:off x="1207008" y="2962656"/>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51" name="Rectangle 50"/>
          <p:cNvSpPr/>
          <p:nvPr/>
        </p:nvSpPr>
        <p:spPr>
          <a:xfrm>
            <a:off x="1207008" y="3273552"/>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52" name="Rectangle 51"/>
          <p:cNvSpPr/>
          <p:nvPr/>
        </p:nvSpPr>
        <p:spPr>
          <a:xfrm>
            <a:off x="2468880" y="3017520"/>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Memory·Data</a:t>
            </a:r>
          </a:p>
          <a:p>
            <a:pPr algn="ctr">
              <a:lnSpc>
                <a:spcPct val="95000"/>
              </a:lnSpc>
            </a:pPr>
            <a:r>
              <a:rPr sz="800" b="0" i="0">
                <a:solidFill>
                  <a:srgbClr val="404040"/>
                </a:solidFill>
                <a:latin typeface="맑은 고딕"/>
                <a:ea typeface="맑은 고딕"/>
              </a:rPr>
              <a:t>Object Registry</a:t>
            </a:r>
          </a:p>
        </p:txBody>
      </p:sp>
      <p:sp>
        <p:nvSpPr>
          <p:cNvPr id="53" name="TextBox 52"/>
          <p:cNvSpPr txBox="1"/>
          <p:nvPr/>
        </p:nvSpPr>
        <p:spPr>
          <a:xfrm>
            <a:off x="2468880" y="3401568"/>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54" name="Connector 53"/>
          <p:cNvCxnSpPr/>
          <p:nvPr/>
        </p:nvCxnSpPr>
        <p:spPr>
          <a:xfrm flipV="1">
            <a:off x="1773936" y="3218688"/>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773936" y="2852928"/>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035808" y="2432304"/>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3122676" y="264718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58" name="Rectangle 57"/>
          <p:cNvSpPr/>
          <p:nvPr/>
        </p:nvSpPr>
        <p:spPr>
          <a:xfrm>
            <a:off x="3108960" y="3767328"/>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9" name="TextBox 58"/>
          <p:cNvSpPr txBox="1"/>
          <p:nvPr/>
        </p:nvSpPr>
        <p:spPr>
          <a:xfrm>
            <a:off x="3108960" y="3803904"/>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60" name="Rectangle 59"/>
          <p:cNvSpPr/>
          <p:nvPr/>
        </p:nvSpPr>
        <p:spPr>
          <a:xfrm>
            <a:off x="3218688" y="4005072"/>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61" name="Rectangle 60"/>
          <p:cNvSpPr/>
          <p:nvPr/>
        </p:nvSpPr>
        <p:spPr>
          <a:xfrm>
            <a:off x="3218688" y="4242816"/>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62" name="Connector 61"/>
          <p:cNvCxnSpPr/>
          <p:nvPr/>
        </p:nvCxnSpPr>
        <p:spPr>
          <a:xfrm>
            <a:off x="4562856" y="4233672"/>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4649724" y="416509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64" name="Connector 63"/>
          <p:cNvCxnSpPr/>
          <p:nvPr/>
        </p:nvCxnSpPr>
        <p:spPr>
          <a:xfrm>
            <a:off x="4261104" y="2432304"/>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4347972" y="3067812"/>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66" name="Connector 65"/>
          <p:cNvCxnSpPr/>
          <p:nvPr/>
        </p:nvCxnSpPr>
        <p:spPr>
          <a:xfrm flipH="1">
            <a:off x="3035808" y="4114800"/>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035808" y="3364992"/>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793492" y="370789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69" name="Rectangle 68"/>
          <p:cNvSpPr/>
          <p:nvPr/>
        </p:nvSpPr>
        <p:spPr>
          <a:xfrm>
            <a:off x="1097280" y="3895344"/>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70" name="Connector 69"/>
          <p:cNvCxnSpPr/>
          <p:nvPr/>
        </p:nvCxnSpPr>
        <p:spPr>
          <a:xfrm flipV="1">
            <a:off x="1773936" y="3529584"/>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6236208" y="1298448"/>
            <a:ext cx="5641848" cy="292608"/>
          </a:xfrm>
          <a:prstGeom prst="rect">
            <a:avLst/>
          </a:prstGeom>
          <a:noFill/>
        </p:spPr>
        <p:txBody>
          <a:bodyPr wrap="square" lIns="0" tIns="0" rIns="0" bIns="0" anchor="t">
            <a:spAutoFit/>
          </a:bodyPr>
          <a:lstStyle/>
          <a:p>
            <a:pPr algn="l">
              <a:lnSpc>
                <a:spcPct val="112000"/>
              </a:lnSpc>
            </a:pPr>
            <a:r>
              <a:rPr sz="900" b="0" i="0">
                <a:solidFill>
                  <a:srgbClr val="404040"/>
                </a:solidFill>
                <a:latin typeface="맑은 고딕"/>
                <a:ea typeface="맑은 고딕"/>
              </a:rPr>
              <a:t>“Resource Plane 은 상태 관측만 하고 Control Plane 에서 이동을 결정”</a:t>
            </a:r>
          </a:p>
          <a:p>
            <a:pPr algn="l">
              <a:lnSpc>
                <a:spcPct val="112000"/>
              </a:lnSpc>
            </a:pPr>
            <a:r>
              <a:rPr sz="900" b="0" i="0">
                <a:solidFill>
                  <a:srgbClr val="404040"/>
                </a:solidFill>
                <a:latin typeface="맑은 고딕"/>
                <a:ea typeface="맑은 고딕"/>
              </a:rPr>
              <a:t>데이터 특성에 우선한 이동</a:t>
            </a:r>
          </a:p>
        </p:txBody>
      </p:sp>
      <p:sp>
        <p:nvSpPr>
          <p:cNvPr id="72" name="Rectangle 71"/>
          <p:cNvSpPr/>
          <p:nvPr/>
        </p:nvSpPr>
        <p:spPr>
          <a:xfrm>
            <a:off x="6236208" y="1645920"/>
            <a:ext cx="5641848" cy="932688"/>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3" name="TextBox 72"/>
          <p:cNvSpPr txBox="1"/>
          <p:nvPr/>
        </p:nvSpPr>
        <p:spPr>
          <a:xfrm>
            <a:off x="6236208" y="1682496"/>
            <a:ext cx="5641848"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Control Plane</a:t>
            </a:r>
          </a:p>
        </p:txBody>
      </p:sp>
      <p:sp>
        <p:nvSpPr>
          <p:cNvPr id="74" name="Rectangle 73"/>
          <p:cNvSpPr/>
          <p:nvPr/>
        </p:nvSpPr>
        <p:spPr>
          <a:xfrm>
            <a:off x="6345936" y="2011680"/>
            <a:ext cx="1225296"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Decision Scheduler</a:t>
            </a:r>
          </a:p>
          <a:p>
            <a:pPr algn="ctr">
              <a:lnSpc>
                <a:spcPct val="92000"/>
              </a:lnSpc>
            </a:pPr>
            <a:r>
              <a:rPr sz="650" b="0" i="0">
                <a:solidFill>
                  <a:srgbClr val="7F5F00"/>
                </a:solidFill>
                <a:latin typeface="맑은 고딕"/>
                <a:ea typeface="맑은 고딕"/>
              </a:rPr>
              <a:t>판단 주기 보유 · 스스로 기동</a:t>
            </a:r>
          </a:p>
        </p:txBody>
      </p:sp>
      <p:sp>
        <p:nvSpPr>
          <p:cNvPr id="75" name="Rectangle 74"/>
          <p:cNvSpPr/>
          <p:nvPr/>
        </p:nvSpPr>
        <p:spPr>
          <a:xfrm>
            <a:off x="7735824" y="2011680"/>
            <a:ext cx="1280160"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Trend Analyzer</a:t>
            </a:r>
          </a:p>
          <a:p>
            <a:pPr algn="ctr">
              <a:lnSpc>
                <a:spcPct val="92000"/>
              </a:lnSpc>
            </a:pPr>
            <a:r>
              <a:rPr sz="680" b="0" i="0">
                <a:solidFill>
                  <a:srgbClr val="7F5F00"/>
                </a:solidFill>
                <a:latin typeface="맑은 고딕"/>
                <a:ea typeface="맑은 고딕"/>
              </a:rPr>
              <a:t>자원 추세 판단</a:t>
            </a:r>
          </a:p>
        </p:txBody>
      </p:sp>
      <p:sp>
        <p:nvSpPr>
          <p:cNvPr id="76" name="Rectangle 75"/>
          <p:cNvSpPr/>
          <p:nvPr/>
        </p:nvSpPr>
        <p:spPr>
          <a:xfrm>
            <a:off x="9162288" y="2011680"/>
            <a:ext cx="1280160"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Affinity Mapper</a:t>
            </a:r>
          </a:p>
          <a:p>
            <a:pPr algn="ctr">
              <a:lnSpc>
                <a:spcPct val="92000"/>
              </a:lnSpc>
            </a:pPr>
            <a:r>
              <a:rPr sz="680" b="0" i="0">
                <a:solidFill>
                  <a:srgbClr val="7F5F00"/>
                </a:solidFill>
                <a:latin typeface="맑은 고딕"/>
                <a:ea typeface="맑은 고딕"/>
              </a:rPr>
              <a:t>데이터·메모리 적합도</a:t>
            </a:r>
          </a:p>
        </p:txBody>
      </p:sp>
      <p:sp>
        <p:nvSpPr>
          <p:cNvPr id="77" name="Rectangle 76"/>
          <p:cNvSpPr/>
          <p:nvPr/>
        </p:nvSpPr>
        <p:spPr>
          <a:xfrm>
            <a:off x="10588752" y="2011680"/>
            <a:ext cx="1280160"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Policy Engine</a:t>
            </a:r>
          </a:p>
          <a:p>
            <a:pPr algn="ctr">
              <a:lnSpc>
                <a:spcPct val="92000"/>
              </a:lnSpc>
            </a:pPr>
            <a:r>
              <a:rPr sz="680" b="0" i="0">
                <a:solidFill>
                  <a:srgbClr val="7F5F00"/>
                </a:solidFill>
                <a:latin typeface="맑은 고딕"/>
                <a:ea typeface="맑은 고딕"/>
              </a:rPr>
              <a:t>이동 명령 확정</a:t>
            </a:r>
          </a:p>
        </p:txBody>
      </p:sp>
      <p:cxnSp>
        <p:nvCxnSpPr>
          <p:cNvPr id="78" name="Connector 77"/>
          <p:cNvCxnSpPr/>
          <p:nvPr/>
        </p:nvCxnSpPr>
        <p:spPr>
          <a:xfrm>
            <a:off x="7571231" y="2240280"/>
            <a:ext cx="164593"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575803" y="2318004"/>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cxnSp>
        <p:nvCxnSpPr>
          <p:cNvPr id="80" name="Connector 79"/>
          <p:cNvCxnSpPr/>
          <p:nvPr/>
        </p:nvCxnSpPr>
        <p:spPr>
          <a:xfrm>
            <a:off x="9015984"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442448"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6236208" y="2816352"/>
            <a:ext cx="2779776" cy="1225296"/>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3" name="TextBox 82"/>
          <p:cNvSpPr txBox="1"/>
          <p:nvPr/>
        </p:nvSpPr>
        <p:spPr>
          <a:xfrm>
            <a:off x="6236208" y="2852928"/>
            <a:ext cx="2779776"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Resource Plane</a:t>
            </a:r>
          </a:p>
        </p:txBody>
      </p:sp>
      <p:sp>
        <p:nvSpPr>
          <p:cNvPr id="84" name="Rectangle 83"/>
          <p:cNvSpPr/>
          <p:nvPr/>
        </p:nvSpPr>
        <p:spPr>
          <a:xfrm>
            <a:off x="6345936" y="3035808"/>
            <a:ext cx="2560320"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State Snapshot Builder</a:t>
            </a:r>
          </a:p>
          <a:p>
            <a:pPr algn="ctr">
              <a:lnSpc>
                <a:spcPct val="92000"/>
              </a:lnSpc>
            </a:pPr>
            <a:r>
              <a:rPr sz="650" b="0" i="0">
                <a:solidFill>
                  <a:srgbClr val="7F5F00"/>
                </a:solidFill>
                <a:latin typeface="맑은 고딕"/>
                <a:ea typeface="맑은 고딕"/>
              </a:rPr>
              <a:t>일관 복사본 생성 · object 수 비례 비용</a:t>
            </a:r>
          </a:p>
        </p:txBody>
      </p:sp>
      <p:sp>
        <p:nvSpPr>
          <p:cNvPr id="85" name="Rectangle 84"/>
          <p:cNvSpPr/>
          <p:nvPr/>
        </p:nvSpPr>
        <p:spPr>
          <a:xfrm>
            <a:off x="6345936" y="3364992"/>
            <a:ext cx="122529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86" name="Rectangle 85"/>
          <p:cNvSpPr/>
          <p:nvPr/>
        </p:nvSpPr>
        <p:spPr>
          <a:xfrm>
            <a:off x="7680960" y="3364992"/>
            <a:ext cx="122529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87" name="Rectangle 86"/>
          <p:cNvSpPr/>
          <p:nvPr/>
        </p:nvSpPr>
        <p:spPr>
          <a:xfrm>
            <a:off x="6345936" y="3675887"/>
            <a:ext cx="2560320"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Memory·Data Object Registry</a:t>
            </a:r>
          </a:p>
        </p:txBody>
      </p:sp>
      <p:cxnSp>
        <p:nvCxnSpPr>
          <p:cNvPr id="88" name="Connector 87"/>
          <p:cNvCxnSpPr/>
          <p:nvPr/>
        </p:nvCxnSpPr>
        <p:spPr>
          <a:xfrm flipV="1">
            <a:off x="6958584"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8293608"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7626096" y="3310128"/>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Oval 90"/>
          <p:cNvSpPr/>
          <p:nvPr/>
        </p:nvSpPr>
        <p:spPr>
          <a:xfrm>
            <a:off x="7548371" y="343357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cxnSp>
        <p:nvCxnSpPr>
          <p:cNvPr id="92" name="Connector 91"/>
          <p:cNvCxnSpPr/>
          <p:nvPr/>
        </p:nvCxnSpPr>
        <p:spPr>
          <a:xfrm flipV="1">
            <a:off x="8686800" y="2468880"/>
            <a:ext cx="0" cy="566928"/>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3" name="Oval 92"/>
          <p:cNvSpPr/>
          <p:nvPr/>
        </p:nvSpPr>
        <p:spPr>
          <a:xfrm>
            <a:off x="8773667" y="2647188"/>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94" name="Rectangle 93"/>
          <p:cNvSpPr/>
          <p:nvPr/>
        </p:nvSpPr>
        <p:spPr>
          <a:xfrm>
            <a:off x="9345168" y="2816352"/>
            <a:ext cx="2532888" cy="12252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5" name="TextBox 94"/>
          <p:cNvSpPr txBox="1"/>
          <p:nvPr/>
        </p:nvSpPr>
        <p:spPr>
          <a:xfrm>
            <a:off x="9345168" y="2852928"/>
            <a:ext cx="2532888"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96" name="Rectangle 95"/>
          <p:cNvSpPr/>
          <p:nvPr/>
        </p:nvSpPr>
        <p:spPr>
          <a:xfrm>
            <a:off x="9454896" y="3035808"/>
            <a:ext cx="2313432"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Migration Command Queue</a:t>
            </a:r>
          </a:p>
          <a:p>
            <a:pPr algn="ctr">
              <a:lnSpc>
                <a:spcPct val="92000"/>
              </a:lnSpc>
            </a:pPr>
            <a:r>
              <a:rPr sz="650" b="0" i="0">
                <a:solidFill>
                  <a:srgbClr val="7F5F00"/>
                </a:solidFill>
                <a:latin typeface="맑은 고딕"/>
                <a:ea typeface="맑은 고딕"/>
              </a:rPr>
              <a:t>비동기 판단 결과 버퍼 · 순서 보장</a:t>
            </a:r>
          </a:p>
        </p:txBody>
      </p:sp>
      <p:sp>
        <p:nvSpPr>
          <p:cNvPr id="97" name="Rectangle 96"/>
          <p:cNvSpPr/>
          <p:nvPr/>
        </p:nvSpPr>
        <p:spPr>
          <a:xfrm>
            <a:off x="9454896" y="3401568"/>
            <a:ext cx="2313432" cy="23774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98" name="Rectangle 97"/>
          <p:cNvSpPr/>
          <p:nvPr/>
        </p:nvSpPr>
        <p:spPr>
          <a:xfrm>
            <a:off x="9454896" y="3694176"/>
            <a:ext cx="2313432"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99" name="Connector 98"/>
          <p:cNvCxnSpPr/>
          <p:nvPr/>
        </p:nvCxnSpPr>
        <p:spPr>
          <a:xfrm>
            <a:off x="10616184" y="3328416"/>
            <a:ext cx="0" cy="73152"/>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10703051" y="328726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cxnSp>
        <p:nvCxnSpPr>
          <p:cNvPr id="101" name="Connector 100"/>
          <p:cNvCxnSpPr/>
          <p:nvPr/>
        </p:nvCxnSpPr>
        <p:spPr>
          <a:xfrm>
            <a:off x="10616184" y="3639312"/>
            <a:ext cx="0" cy="5486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Oval 101"/>
          <p:cNvSpPr/>
          <p:nvPr/>
        </p:nvSpPr>
        <p:spPr>
          <a:xfrm>
            <a:off x="10703051" y="3589020"/>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103" name="Connector 102"/>
          <p:cNvCxnSpPr/>
          <p:nvPr/>
        </p:nvCxnSpPr>
        <p:spPr>
          <a:xfrm>
            <a:off x="11228832" y="2468880"/>
            <a:ext cx="0" cy="5669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11315700" y="26654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105" name="Connector 104"/>
          <p:cNvCxnSpPr/>
          <p:nvPr/>
        </p:nvCxnSpPr>
        <p:spPr>
          <a:xfrm flipH="1">
            <a:off x="9125712" y="3520440"/>
            <a:ext cx="329184"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125712" y="3520440"/>
            <a:ext cx="0" cy="59436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6958584" y="4114800"/>
            <a:ext cx="2167128"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6958584" y="3931920"/>
            <a:ext cx="0" cy="18288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9" name="Oval 108"/>
          <p:cNvSpPr/>
          <p:nvPr/>
        </p:nvSpPr>
        <p:spPr>
          <a:xfrm>
            <a:off x="7968996" y="40370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⑦</a:t>
            </a:r>
          </a:p>
        </p:txBody>
      </p:sp>
      <p:sp>
        <p:nvSpPr>
          <p:cNvPr id="110" name="Rectangle 109"/>
          <p:cNvSpPr/>
          <p:nvPr/>
        </p:nvSpPr>
        <p:spPr>
          <a:xfrm>
            <a:off x="6236208" y="4206240"/>
            <a:ext cx="564184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sp>
        <p:nvSpPr>
          <p:cNvPr id="111" name="TextBox 110"/>
          <p:cNvSpPr txBox="1"/>
          <p:nvPr/>
        </p:nvSpPr>
        <p:spPr>
          <a:xfrm>
            <a:off x="1133856" y="4581144"/>
            <a:ext cx="4864608" cy="713232"/>
          </a:xfrm>
          <a:prstGeom prst="rect">
            <a:avLst/>
          </a:prstGeom>
          <a:noFill/>
        </p:spPr>
        <p:txBody>
          <a:bodyPr wrap="square" lIns="0" tIns="0" rIns="0" bIns="0" anchor="t">
            <a:spAutoFit/>
          </a:bodyPr>
          <a:lstStyle/>
          <a:p>
            <a:pPr marL="137160" indent="-137160">
              <a:lnSpc>
                <a:spcPct val="104000"/>
              </a:lnSpc>
              <a:spcAft>
                <a:spcPts val="0"/>
              </a:spcAft>
              <a:buFont typeface="Arial" pitchFamily="34" charset="0"/>
              <a:buChar char="▪"/>
            </a:pPr>
            <a:r>
              <a:rPr sz="850" b="0" i="0" dirty="0">
                <a:solidFill>
                  <a:srgbClr val="404040"/>
                </a:solidFill>
                <a:latin typeface="맑은 고딕"/>
                <a:ea typeface="맑은 고딕"/>
              </a:rPr>
              <a:t>Threshold Trigger 가 </a:t>
            </a:r>
            <a:r>
              <a:rPr sz="850" b="0" i="0" dirty="0" err="1">
                <a:solidFill>
                  <a:srgbClr val="404040"/>
                </a:solidFill>
                <a:latin typeface="맑은 고딕"/>
                <a:ea typeface="맑은 고딕"/>
              </a:rPr>
              <a:t>임계치</a:t>
            </a:r>
            <a:r>
              <a:rPr sz="850" b="0" i="0" dirty="0">
                <a:solidFill>
                  <a:srgbClr val="404040"/>
                </a:solidFill>
                <a:latin typeface="맑은 고딕"/>
                <a:ea typeface="맑은 고딕"/>
              </a:rPr>
              <a:t> </a:t>
            </a:r>
            <a:r>
              <a:rPr sz="850" b="0" i="0" dirty="0" err="1">
                <a:solidFill>
                  <a:srgbClr val="404040"/>
                </a:solidFill>
                <a:latin typeface="맑은 고딕"/>
                <a:ea typeface="맑은 고딕"/>
              </a:rPr>
              <a:t>교차</a:t>
            </a:r>
            <a:r>
              <a:rPr sz="850" b="0" i="0" dirty="0">
                <a:solidFill>
                  <a:srgbClr val="404040"/>
                </a:solidFill>
                <a:latin typeface="맑은 고딕"/>
                <a:ea typeface="맑은 고딕"/>
              </a:rPr>
              <a:t> </a:t>
            </a:r>
            <a:r>
              <a:rPr sz="850" b="0" i="0" dirty="0" err="1">
                <a:solidFill>
                  <a:srgbClr val="404040"/>
                </a:solidFill>
                <a:latin typeface="맑은 고딕"/>
                <a:ea typeface="맑은 고딕"/>
              </a:rPr>
              <a:t>즉시</a:t>
            </a:r>
            <a:r>
              <a:rPr sz="850" b="0" i="0" dirty="0">
                <a:solidFill>
                  <a:srgbClr val="404040"/>
                </a:solidFill>
                <a:latin typeface="맑은 고딕"/>
                <a:ea typeface="맑은 고딕"/>
              </a:rPr>
              <a:t> </a:t>
            </a:r>
            <a:r>
              <a:rPr sz="850" b="0" i="0" dirty="0" err="1">
                <a:solidFill>
                  <a:srgbClr val="404040"/>
                </a:solidFill>
                <a:latin typeface="맑은 고딕"/>
                <a:ea typeface="맑은 고딕"/>
              </a:rPr>
              <a:t>판단을</a:t>
            </a:r>
            <a:r>
              <a:rPr sz="850" b="0" i="0" dirty="0">
                <a:solidFill>
                  <a:srgbClr val="404040"/>
                </a:solidFill>
                <a:latin typeface="맑은 고딕"/>
                <a:ea typeface="맑은 고딕"/>
              </a:rPr>
              <a:t> </a:t>
            </a:r>
            <a:r>
              <a:rPr sz="850" b="0" i="0" dirty="0" err="1">
                <a:solidFill>
                  <a:srgbClr val="404040"/>
                </a:solidFill>
                <a:latin typeface="맑은 고딕"/>
                <a:ea typeface="맑은 고딕"/>
              </a:rPr>
              <a:t>기동</a:t>
            </a:r>
            <a:r>
              <a:rPr sz="850" b="0" i="0" dirty="0">
                <a:solidFill>
                  <a:srgbClr val="404040"/>
                </a:solidFill>
                <a:latin typeface="맑은 고딕"/>
                <a:ea typeface="맑은 고딕"/>
              </a:rPr>
              <a:t> → HBM </a:t>
            </a:r>
            <a:r>
              <a:rPr sz="850" b="0" i="0" dirty="0" err="1">
                <a:solidFill>
                  <a:srgbClr val="404040"/>
                </a:solidFill>
                <a:latin typeface="맑은 고딕"/>
                <a:ea typeface="맑은 고딕"/>
              </a:rPr>
              <a:t>압박</a:t>
            </a:r>
            <a:r>
              <a:rPr sz="850" b="0" i="0" dirty="0">
                <a:solidFill>
                  <a:srgbClr val="404040"/>
                </a:solidFill>
                <a:latin typeface="맑은 고딕"/>
                <a:ea typeface="맑은 고딕"/>
              </a:rPr>
              <a:t> </a:t>
            </a:r>
            <a:r>
              <a:rPr sz="850" b="0" i="0" dirty="0" err="1">
                <a:solidFill>
                  <a:srgbClr val="404040"/>
                </a:solidFill>
                <a:latin typeface="맑은 고딕"/>
                <a:ea typeface="맑은 고딕"/>
              </a:rPr>
              <a:t>구간이</a:t>
            </a:r>
            <a:endParaRPr sz="850" b="0" i="0" dirty="0">
              <a:solidFill>
                <a:srgbClr val="404040"/>
              </a:solidFill>
              <a:latin typeface="맑은 고딕"/>
              <a:ea typeface="맑은 고딕"/>
            </a:endParaRPr>
          </a:p>
          <a:p>
            <a:pPr marL="137160" indent="0">
              <a:lnSpc>
                <a:spcPct val="104000"/>
              </a:lnSpc>
              <a:spcAft>
                <a:spcPts val="200"/>
              </a:spcAft>
              <a:buNone/>
            </a:pPr>
            <a:r>
              <a:rPr sz="850" b="0" i="0" dirty="0" err="1">
                <a:solidFill>
                  <a:srgbClr val="404040"/>
                </a:solidFill>
                <a:latin typeface="맑은 고딕"/>
                <a:ea typeface="맑은 고딕"/>
              </a:rPr>
              <a:t>짧게</a:t>
            </a:r>
            <a:r>
              <a:rPr sz="850" b="0" i="0" dirty="0">
                <a:solidFill>
                  <a:srgbClr val="404040"/>
                </a:solidFill>
                <a:latin typeface="맑은 고딕"/>
                <a:ea typeface="맑은 고딕"/>
              </a:rPr>
              <a:t> </a:t>
            </a:r>
            <a:r>
              <a:rPr sz="850" b="0" i="0" dirty="0" err="1">
                <a:solidFill>
                  <a:srgbClr val="404040"/>
                </a:solidFill>
                <a:latin typeface="맑은 고딕"/>
                <a:ea typeface="맑은 고딕"/>
              </a:rPr>
              <a:t>끝나</a:t>
            </a:r>
            <a:r>
              <a:rPr sz="850" b="0" i="0" dirty="0">
                <a:solidFill>
                  <a:srgbClr val="404040"/>
                </a:solidFill>
                <a:latin typeface="맑은 고딕"/>
                <a:ea typeface="맑은 고딕"/>
              </a:rPr>
              <a:t> </a:t>
            </a:r>
            <a:r>
              <a:rPr sz="850" b="0" i="0" dirty="0" err="1">
                <a:solidFill>
                  <a:srgbClr val="404040"/>
                </a:solidFill>
                <a:latin typeface="맑은 고딕"/>
                <a:ea typeface="맑은 고딕"/>
              </a:rPr>
              <a:t>평균</a:t>
            </a:r>
            <a:r>
              <a:rPr sz="850" b="0" i="0" dirty="0">
                <a:solidFill>
                  <a:srgbClr val="404040"/>
                </a:solidFill>
                <a:latin typeface="맑은 고딕"/>
                <a:ea typeface="맑은 고딕"/>
              </a:rPr>
              <a:t> </a:t>
            </a:r>
            <a:r>
              <a:rPr sz="850" b="0" i="0" dirty="0" err="1">
                <a:solidFill>
                  <a:srgbClr val="404040"/>
                </a:solidFill>
                <a:latin typeface="맑은 고딕"/>
                <a:ea typeface="맑은 고딕"/>
              </a:rPr>
              <a:t>점유율</a:t>
            </a:r>
            <a:r>
              <a:rPr sz="850" b="0" i="0" dirty="0">
                <a:solidFill>
                  <a:srgbClr val="404040"/>
                </a:solidFill>
                <a:latin typeface="맑은 고딕"/>
                <a:ea typeface="맑은 고딕"/>
              </a:rPr>
              <a:t> </a:t>
            </a:r>
            <a:r>
              <a:rPr sz="850" b="0" i="0" dirty="0" err="1">
                <a:solidFill>
                  <a:srgbClr val="404040"/>
                </a:solidFill>
                <a:latin typeface="맑은 고딕"/>
                <a:ea typeface="맑은 고딕"/>
              </a:rPr>
              <a:t>낮음</a:t>
            </a:r>
            <a:r>
              <a:rPr sz="850" b="0" i="0" dirty="0">
                <a:solidFill>
                  <a:srgbClr val="404040"/>
                </a:solidFill>
                <a:latin typeface="맑은 고딕"/>
                <a:ea typeface="맑은 고딕"/>
              </a:rPr>
              <a:t> (QA2)</a:t>
            </a:r>
          </a:p>
          <a:p>
            <a:pPr marL="137160" indent="-137160">
              <a:lnSpc>
                <a:spcPct val="104000"/>
              </a:lnSpc>
              <a:spcAft>
                <a:spcPts val="200"/>
              </a:spcAft>
              <a:buFont typeface="Arial" pitchFamily="34" charset="0"/>
              <a:buChar char="▪"/>
            </a:pPr>
            <a:r>
              <a:rPr sz="850" b="0" i="0" dirty="0" err="1">
                <a:solidFill>
                  <a:srgbClr val="404040"/>
                </a:solidFill>
                <a:latin typeface="맑은 고딕"/>
                <a:ea typeface="맑은 고딕"/>
              </a:rPr>
              <a:t>상태·판단이</a:t>
            </a:r>
            <a:r>
              <a:rPr sz="850" b="0" i="0" dirty="0">
                <a:solidFill>
                  <a:srgbClr val="404040"/>
                </a:solidFill>
                <a:latin typeface="맑은 고딕"/>
                <a:ea typeface="맑은 고딕"/>
              </a:rPr>
              <a:t> </a:t>
            </a:r>
            <a:r>
              <a:rPr sz="850" b="0" i="0" dirty="0" err="1">
                <a:solidFill>
                  <a:srgbClr val="404040"/>
                </a:solidFill>
                <a:latin typeface="맑은 고딕"/>
                <a:ea typeface="맑은 고딕"/>
              </a:rPr>
              <a:t>같은</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서비스라</a:t>
            </a:r>
            <a:r>
              <a:rPr sz="850" b="0" i="0" dirty="0">
                <a:solidFill>
                  <a:srgbClr val="404040"/>
                </a:solidFill>
                <a:latin typeface="맑은 고딕"/>
                <a:ea typeface="맑은 고딕"/>
              </a:rPr>
              <a:t> stale </a:t>
            </a:r>
            <a:r>
              <a:rPr sz="850" b="0" i="0" dirty="0" err="1">
                <a:solidFill>
                  <a:srgbClr val="404040"/>
                </a:solidFill>
                <a:latin typeface="맑은 고딕"/>
                <a:ea typeface="맑은 고딕"/>
              </a:rPr>
              <a:t>없음</a:t>
            </a:r>
            <a:r>
              <a:rPr sz="850" b="0" i="0" dirty="0">
                <a:solidFill>
                  <a:srgbClr val="404040"/>
                </a:solidFill>
                <a:latin typeface="맑은 고딕"/>
                <a:ea typeface="맑은 고딕"/>
              </a:rPr>
              <a:t> → </a:t>
            </a:r>
            <a:r>
              <a:rPr sz="850" b="0" i="0" dirty="0" err="1">
                <a:solidFill>
                  <a:srgbClr val="404040"/>
                </a:solidFill>
                <a:latin typeface="맑은 고딕"/>
                <a:ea typeface="맑은 고딕"/>
              </a:rPr>
              <a:t>헛된</a:t>
            </a:r>
            <a:r>
              <a:rPr sz="850" b="0" i="0" dirty="0">
                <a:solidFill>
                  <a:srgbClr val="404040"/>
                </a:solidFill>
                <a:latin typeface="맑은 고딕"/>
                <a:ea typeface="맑은 고딕"/>
              </a:rPr>
              <a:t> </a:t>
            </a:r>
            <a:r>
              <a:rPr sz="850" b="0" i="0" dirty="0" err="1">
                <a:solidFill>
                  <a:srgbClr val="404040"/>
                </a:solidFill>
                <a:latin typeface="맑은 고딕"/>
                <a:ea typeface="맑은 고딕"/>
              </a:rPr>
              <a:t>이동</a:t>
            </a:r>
            <a:r>
              <a:rPr sz="850" b="0" i="0" dirty="0">
                <a:solidFill>
                  <a:srgbClr val="404040"/>
                </a:solidFill>
                <a:latin typeface="맑은 고딕"/>
                <a:ea typeface="맑은 고딕"/>
              </a:rPr>
              <a:t> </a:t>
            </a:r>
            <a:r>
              <a:rPr sz="850" b="0" i="0" dirty="0" err="1">
                <a:solidFill>
                  <a:srgbClr val="404040"/>
                </a:solidFill>
                <a:latin typeface="맑은 고딕"/>
                <a:ea typeface="맑은 고딕"/>
              </a:rPr>
              <a:t>거절·재시도</a:t>
            </a:r>
            <a:r>
              <a:rPr sz="850" b="0" i="0" dirty="0">
                <a:solidFill>
                  <a:srgbClr val="404040"/>
                </a:solidFill>
                <a:latin typeface="맑은 고딕"/>
                <a:ea typeface="맑은 고딕"/>
              </a:rPr>
              <a:t> </a:t>
            </a:r>
            <a:r>
              <a:rPr sz="850" b="0" i="0" dirty="0" err="1">
                <a:solidFill>
                  <a:srgbClr val="404040"/>
                </a:solidFill>
                <a:latin typeface="맑은 고딕"/>
                <a:ea typeface="맑은 고딕"/>
              </a:rPr>
              <a:t>없음</a:t>
            </a:r>
            <a:r>
              <a:rPr sz="850" b="0" i="0" dirty="0">
                <a:solidFill>
                  <a:srgbClr val="404040"/>
                </a:solidFill>
                <a:latin typeface="맑은 고딕"/>
                <a:ea typeface="맑은 고딕"/>
              </a:rPr>
              <a:t> (QA2)</a:t>
            </a:r>
          </a:p>
          <a:p>
            <a:pPr marL="137160" indent="-137160">
              <a:lnSpc>
                <a:spcPct val="104000"/>
              </a:lnSpc>
              <a:spcAft>
                <a:spcPts val="0"/>
              </a:spcAft>
              <a:buFont typeface="Arial" pitchFamily="34" charset="0"/>
              <a:buChar char="▪"/>
            </a:pPr>
            <a:r>
              <a:rPr sz="850" b="0" i="0" dirty="0">
                <a:solidFill>
                  <a:srgbClr val="404040"/>
                </a:solidFill>
                <a:latin typeface="맑은 고딕"/>
                <a:ea typeface="맑은 고딕"/>
              </a:rPr>
              <a:t>plane 간 </a:t>
            </a:r>
            <a:r>
              <a:rPr sz="850" b="0" i="0" dirty="0" err="1">
                <a:solidFill>
                  <a:srgbClr val="404040"/>
                </a:solidFill>
                <a:latin typeface="맑은 고딕"/>
                <a:ea typeface="맑은 고딕"/>
              </a:rPr>
              <a:t>계약</a:t>
            </a:r>
            <a:r>
              <a:rPr sz="850" b="0" i="0" dirty="0">
                <a:solidFill>
                  <a:srgbClr val="404040"/>
                </a:solidFill>
                <a:latin typeface="맑은 고딕"/>
                <a:ea typeface="맑은 고딕"/>
              </a:rPr>
              <a:t>(snapshot </a:t>
            </a:r>
            <a:r>
              <a:rPr sz="850" b="0" i="0" dirty="0" err="1">
                <a:solidFill>
                  <a:srgbClr val="404040"/>
                </a:solidFill>
                <a:latin typeface="맑은 고딕"/>
                <a:ea typeface="맑은 고딕"/>
              </a:rPr>
              <a:t>스키마</a:t>
            </a:r>
            <a:r>
              <a:rPr sz="850" b="0" i="0" dirty="0">
                <a:solidFill>
                  <a:srgbClr val="404040"/>
                </a:solidFill>
                <a:latin typeface="맑은 고딕"/>
                <a:ea typeface="맑은 고딕"/>
              </a:rPr>
              <a:t> · </a:t>
            </a:r>
            <a:r>
              <a:rPr sz="850" b="0" i="0" dirty="0" err="1">
                <a:solidFill>
                  <a:srgbClr val="404040"/>
                </a:solidFill>
                <a:latin typeface="맑은 고딕"/>
                <a:ea typeface="맑은 고딕"/>
              </a:rPr>
              <a:t>명령</a:t>
            </a:r>
            <a:r>
              <a:rPr sz="850" b="0" i="0" dirty="0">
                <a:solidFill>
                  <a:srgbClr val="404040"/>
                </a:solidFill>
                <a:latin typeface="맑은 고딕"/>
                <a:ea typeface="맑은 고딕"/>
              </a:rPr>
              <a:t> 큐)이 </a:t>
            </a:r>
            <a:r>
              <a:rPr sz="850" b="0" i="0" dirty="0" err="1">
                <a:solidFill>
                  <a:srgbClr val="404040"/>
                </a:solidFill>
                <a:latin typeface="맑은 고딕"/>
                <a:ea typeface="맑은 고딕"/>
              </a:rPr>
              <a:t>없어</a:t>
            </a:r>
            <a:r>
              <a:rPr sz="850" b="0" i="0" dirty="0">
                <a:solidFill>
                  <a:srgbClr val="404040"/>
                </a:solidFill>
                <a:latin typeface="맑은 고딕"/>
                <a:ea typeface="맑은 고딕"/>
              </a:rPr>
              <a:t> </a:t>
            </a:r>
            <a:r>
              <a:rPr sz="850" b="0" i="0" dirty="0" err="1">
                <a:solidFill>
                  <a:srgbClr val="404040"/>
                </a:solidFill>
                <a:latin typeface="맑은 고딕"/>
                <a:ea typeface="맑은 고딕"/>
              </a:rPr>
              <a:t>정책</a:t>
            </a:r>
            <a:r>
              <a:rPr sz="850" b="0" i="0" dirty="0">
                <a:solidFill>
                  <a:srgbClr val="404040"/>
                </a:solidFill>
                <a:latin typeface="맑은 고딕"/>
                <a:ea typeface="맑은 고딕"/>
              </a:rPr>
              <a:t> </a:t>
            </a:r>
            <a:r>
              <a:rPr sz="850" b="0" i="0" dirty="0" err="1">
                <a:solidFill>
                  <a:srgbClr val="404040"/>
                </a:solidFill>
                <a:latin typeface="맑은 고딕"/>
                <a:ea typeface="맑은 고딕"/>
              </a:rPr>
              <a:t>수정이</a:t>
            </a:r>
            <a:endParaRPr sz="850" b="0" i="0" dirty="0">
              <a:solidFill>
                <a:srgbClr val="404040"/>
              </a:solidFill>
              <a:latin typeface="맑은 고딕"/>
              <a:ea typeface="맑은 고딕"/>
            </a:endParaRPr>
          </a:p>
          <a:p>
            <a:pPr marL="137160" indent="0">
              <a:lnSpc>
                <a:spcPct val="104000"/>
              </a:lnSpc>
              <a:spcAft>
                <a:spcPts val="200"/>
              </a:spcAft>
              <a:buNone/>
            </a:pPr>
            <a:r>
              <a:rPr sz="850" b="0" i="0" dirty="0">
                <a:solidFill>
                  <a:srgbClr val="404040"/>
                </a:solidFill>
                <a:latin typeface="맑은 고딕"/>
                <a:ea typeface="맑은 고딕"/>
              </a:rPr>
              <a:t>Resource Plane 1곳에 </a:t>
            </a:r>
            <a:r>
              <a:rPr sz="850" b="0" i="0" dirty="0" err="1">
                <a:solidFill>
                  <a:srgbClr val="404040"/>
                </a:solidFill>
                <a:latin typeface="맑은 고딕"/>
                <a:ea typeface="맑은 고딕"/>
              </a:rPr>
              <a:t>머묾</a:t>
            </a:r>
            <a:r>
              <a:rPr sz="850" b="0" i="0" dirty="0">
                <a:solidFill>
                  <a:srgbClr val="404040"/>
                </a:solidFill>
                <a:latin typeface="맑은 고딕"/>
                <a:ea typeface="맑은 고딕"/>
              </a:rPr>
              <a:t> (QA3)</a:t>
            </a:r>
          </a:p>
        </p:txBody>
      </p:sp>
      <p:sp>
        <p:nvSpPr>
          <p:cNvPr id="112" name="TextBox 111"/>
          <p:cNvSpPr txBox="1"/>
          <p:nvPr/>
        </p:nvSpPr>
        <p:spPr>
          <a:xfrm>
            <a:off x="6272784" y="4581144"/>
            <a:ext cx="5586984" cy="713232"/>
          </a:xfrm>
          <a:prstGeom prst="rect">
            <a:avLst/>
          </a:prstGeom>
          <a:noFill/>
        </p:spPr>
        <p:txBody>
          <a:bodyPr wrap="square" lIns="0" tIns="0" rIns="0" bIns="0" anchor="t">
            <a:spAutoFit/>
          </a:bodyPr>
          <a:lstStyle/>
          <a:p>
            <a:pPr marL="137160" indent="-137160">
              <a:lnSpc>
                <a:spcPct val="104000"/>
              </a:lnSpc>
              <a:spcAft>
                <a:spcPts val="0"/>
              </a:spcAft>
              <a:buFont typeface="Arial" pitchFamily="34" charset="0"/>
              <a:buChar char="▪"/>
            </a:pPr>
            <a:r>
              <a:rPr sz="850" b="0" i="0" dirty="0" err="1">
                <a:solidFill>
                  <a:srgbClr val="404040"/>
                </a:solidFill>
                <a:latin typeface="맑은 고딕"/>
                <a:ea typeface="맑은 고딕"/>
              </a:rPr>
              <a:t>판단이</a:t>
            </a:r>
            <a:r>
              <a:rPr sz="850" b="0" i="0" dirty="0">
                <a:solidFill>
                  <a:srgbClr val="404040"/>
                </a:solidFill>
                <a:latin typeface="맑은 고딕"/>
                <a:ea typeface="맑은 고딕"/>
              </a:rPr>
              <a:t> Snapshot </a:t>
            </a:r>
            <a:r>
              <a:rPr sz="850" b="0" i="0" dirty="0" err="1">
                <a:solidFill>
                  <a:srgbClr val="404040"/>
                </a:solidFill>
                <a:latin typeface="맑은 고딕"/>
                <a:ea typeface="맑은 고딕"/>
              </a:rPr>
              <a:t>위에서</a:t>
            </a:r>
            <a:r>
              <a:rPr sz="850" b="0" i="0" dirty="0">
                <a:solidFill>
                  <a:srgbClr val="404040"/>
                </a:solidFill>
                <a:latin typeface="맑은 고딕"/>
                <a:ea typeface="맑은 고딕"/>
              </a:rPr>
              <a:t> </a:t>
            </a:r>
            <a:r>
              <a:rPr sz="850" b="0" i="0" dirty="0" err="1">
                <a:solidFill>
                  <a:srgbClr val="404040"/>
                </a:solidFill>
                <a:latin typeface="맑은 고딕"/>
                <a:ea typeface="맑은 고딕"/>
              </a:rPr>
              <a:t>돌아</a:t>
            </a:r>
            <a:r>
              <a:rPr sz="850" b="0" i="0" dirty="0">
                <a:solidFill>
                  <a:srgbClr val="404040"/>
                </a:solidFill>
                <a:latin typeface="맑은 고딕"/>
                <a:ea typeface="맑은 고딕"/>
              </a:rPr>
              <a:t> </a:t>
            </a:r>
            <a:r>
              <a:rPr sz="850" b="0" i="0" dirty="0" err="1">
                <a:solidFill>
                  <a:srgbClr val="404040"/>
                </a:solidFill>
                <a:latin typeface="맑은 고딕"/>
                <a:ea typeface="맑은 고딕"/>
              </a:rPr>
              <a:t>상태</a:t>
            </a:r>
            <a:r>
              <a:rPr sz="850" b="0" i="0" dirty="0">
                <a:solidFill>
                  <a:srgbClr val="404040"/>
                </a:solidFill>
                <a:latin typeface="맑은 고딕"/>
                <a:ea typeface="맑은 고딕"/>
              </a:rPr>
              <a:t> </a:t>
            </a:r>
            <a:r>
              <a:rPr sz="850" b="0" i="0" dirty="0" err="1">
                <a:solidFill>
                  <a:srgbClr val="404040"/>
                </a:solidFill>
                <a:latin typeface="맑은 고딕"/>
                <a:ea typeface="맑은 고딕"/>
              </a:rPr>
              <a:t>갱신과</a:t>
            </a:r>
            <a:r>
              <a:rPr sz="850" b="0" i="0" dirty="0">
                <a:solidFill>
                  <a:srgbClr val="404040"/>
                </a:solidFill>
                <a:latin typeface="맑은 고딕"/>
                <a:ea typeface="맑은 고딕"/>
              </a:rPr>
              <a:t> </a:t>
            </a:r>
            <a:r>
              <a:rPr sz="850" b="0" i="0" dirty="0" err="1">
                <a:solidFill>
                  <a:srgbClr val="404040"/>
                </a:solidFill>
                <a:latin typeface="맑은 고딕"/>
                <a:ea typeface="맑은 고딕"/>
              </a:rPr>
              <a:t>경합</a:t>
            </a:r>
            <a:r>
              <a:rPr sz="850" b="0" i="0" dirty="0">
                <a:solidFill>
                  <a:srgbClr val="404040"/>
                </a:solidFill>
                <a:latin typeface="맑은 고딕"/>
                <a:ea typeface="맑은 고딕"/>
              </a:rPr>
              <a:t> </a:t>
            </a:r>
            <a:r>
              <a:rPr sz="850" b="0" i="0" dirty="0" err="1">
                <a:solidFill>
                  <a:srgbClr val="404040"/>
                </a:solidFill>
                <a:latin typeface="맑은 고딕"/>
                <a:ea typeface="맑은 고딕"/>
              </a:rPr>
              <a:t>없음</a:t>
            </a:r>
            <a:r>
              <a:rPr sz="850" b="0" i="0" dirty="0">
                <a:solidFill>
                  <a:srgbClr val="404040"/>
                </a:solidFill>
                <a:latin typeface="맑은 고딕"/>
                <a:ea typeface="맑은 고딕"/>
              </a:rPr>
              <a:t> → </a:t>
            </a:r>
            <a:r>
              <a:rPr sz="850" b="0" i="0" dirty="0" err="1">
                <a:solidFill>
                  <a:srgbClr val="404040"/>
                </a:solidFill>
                <a:latin typeface="맑은 고딕"/>
                <a:ea typeface="맑은 고딕"/>
              </a:rPr>
              <a:t>판단</a:t>
            </a:r>
            <a:r>
              <a:rPr sz="850" b="0" i="0" dirty="0">
                <a:solidFill>
                  <a:srgbClr val="404040"/>
                </a:solidFill>
                <a:latin typeface="맑은 고딕"/>
                <a:ea typeface="맑은 고딕"/>
              </a:rPr>
              <a:t> </a:t>
            </a:r>
            <a:r>
              <a:rPr sz="850" b="0" i="0" dirty="0" err="1">
                <a:solidFill>
                  <a:srgbClr val="404040"/>
                </a:solidFill>
                <a:latin typeface="맑은 고딕"/>
                <a:ea typeface="맑은 고딕"/>
              </a:rPr>
              <a:t>스레드를</a:t>
            </a:r>
            <a:endParaRPr sz="850" b="0" i="0" dirty="0">
              <a:solidFill>
                <a:srgbClr val="404040"/>
              </a:solidFill>
              <a:latin typeface="맑은 고딕"/>
              <a:ea typeface="맑은 고딕"/>
            </a:endParaRPr>
          </a:p>
          <a:p>
            <a:pPr marL="137160" indent="0">
              <a:lnSpc>
                <a:spcPct val="104000"/>
              </a:lnSpc>
              <a:spcAft>
                <a:spcPts val="200"/>
              </a:spcAft>
              <a:buNone/>
            </a:pPr>
            <a:r>
              <a:rPr sz="850" b="0" i="0" dirty="0" err="1">
                <a:solidFill>
                  <a:srgbClr val="404040"/>
                </a:solidFill>
                <a:latin typeface="맑은 고딕"/>
                <a:ea typeface="맑은 고딕"/>
              </a:rPr>
              <a:t>서빙</a:t>
            </a:r>
            <a:r>
              <a:rPr sz="850" b="0" i="0" dirty="0">
                <a:solidFill>
                  <a:srgbClr val="404040"/>
                </a:solidFill>
                <a:latin typeface="맑은 고딕"/>
                <a:ea typeface="맑은 고딕"/>
              </a:rPr>
              <a:t> </a:t>
            </a:r>
            <a:r>
              <a:rPr sz="850" b="0" i="0" dirty="0" err="1">
                <a:solidFill>
                  <a:srgbClr val="404040"/>
                </a:solidFill>
                <a:latin typeface="맑은 고딕"/>
                <a:ea typeface="맑은 고딕"/>
              </a:rPr>
              <a:t>코어와</a:t>
            </a:r>
            <a:r>
              <a:rPr sz="850" b="0" i="0" dirty="0">
                <a:solidFill>
                  <a:srgbClr val="404040"/>
                </a:solidFill>
                <a:latin typeface="맑은 고딕"/>
                <a:ea typeface="맑은 고딕"/>
              </a:rPr>
              <a:t> </a:t>
            </a:r>
            <a:r>
              <a:rPr sz="850" b="0" i="0" dirty="0" err="1">
                <a:solidFill>
                  <a:srgbClr val="404040"/>
                </a:solidFill>
                <a:latin typeface="맑은 고딕"/>
                <a:ea typeface="맑은 고딕"/>
              </a:rPr>
              <a:t>분리</a:t>
            </a:r>
            <a:r>
              <a:rPr sz="850" b="0" i="0" dirty="0">
                <a:solidFill>
                  <a:srgbClr val="404040"/>
                </a:solidFill>
                <a:latin typeface="맑은 고딕"/>
                <a:ea typeface="맑은 고딕"/>
              </a:rPr>
              <a:t> </a:t>
            </a:r>
            <a:r>
              <a:rPr sz="850" b="0" i="0" dirty="0" err="1">
                <a:solidFill>
                  <a:srgbClr val="404040"/>
                </a:solidFill>
                <a:latin typeface="맑은 고딕"/>
                <a:ea typeface="맑은 고딕"/>
              </a:rPr>
              <a:t>배치</a:t>
            </a:r>
            <a:r>
              <a:rPr sz="850" b="0" i="0" dirty="0">
                <a:solidFill>
                  <a:srgbClr val="404040"/>
                </a:solidFill>
                <a:latin typeface="맑은 고딕"/>
                <a:ea typeface="맑은 고딕"/>
              </a:rPr>
              <a:t> </a:t>
            </a:r>
            <a:r>
              <a:rPr sz="850" b="0" i="0" dirty="0" err="1">
                <a:solidFill>
                  <a:srgbClr val="404040"/>
                </a:solidFill>
                <a:latin typeface="맑은 고딕"/>
                <a:ea typeface="맑은 고딕"/>
              </a:rPr>
              <a:t>가능</a:t>
            </a:r>
            <a:r>
              <a:rPr sz="850" b="0" i="0" dirty="0">
                <a:solidFill>
                  <a:srgbClr val="404040"/>
                </a:solidFill>
                <a:latin typeface="맑은 고딕"/>
                <a:ea typeface="맑은 고딕"/>
              </a:rPr>
              <a:t> (QA1)</a:t>
            </a:r>
          </a:p>
          <a:p>
            <a:pPr marL="137160" indent="-137160">
              <a:lnSpc>
                <a:spcPct val="104000"/>
              </a:lnSpc>
              <a:spcAft>
                <a:spcPts val="200"/>
              </a:spcAft>
              <a:buFont typeface="Arial" pitchFamily="34" charset="0"/>
              <a:buChar char="▪"/>
            </a:pPr>
            <a:r>
              <a:rPr sz="850" b="0" i="0" dirty="0">
                <a:solidFill>
                  <a:srgbClr val="404040"/>
                </a:solidFill>
                <a:latin typeface="맑은 고딕"/>
                <a:ea typeface="맑은 고딕"/>
              </a:rPr>
              <a:t>Decision Scheduler 가 </a:t>
            </a:r>
            <a:r>
              <a:rPr sz="850" b="0" i="0" dirty="0" err="1">
                <a:solidFill>
                  <a:srgbClr val="404040"/>
                </a:solidFill>
                <a:latin typeface="맑은 고딕"/>
                <a:ea typeface="맑은 고딕"/>
              </a:rPr>
              <a:t>판단</a:t>
            </a:r>
            <a:r>
              <a:rPr sz="850" b="0" i="0" dirty="0">
                <a:solidFill>
                  <a:srgbClr val="404040"/>
                </a:solidFill>
                <a:latin typeface="맑은 고딕"/>
                <a:ea typeface="맑은 고딕"/>
              </a:rPr>
              <a:t> </a:t>
            </a:r>
            <a:r>
              <a:rPr sz="850" b="0" i="0" dirty="0" err="1">
                <a:solidFill>
                  <a:srgbClr val="404040"/>
                </a:solidFill>
                <a:latin typeface="맑은 고딕"/>
                <a:ea typeface="맑은 고딕"/>
              </a:rPr>
              <a:t>주기를</a:t>
            </a:r>
            <a:r>
              <a:rPr sz="850" b="0" i="0" dirty="0">
                <a:solidFill>
                  <a:srgbClr val="404040"/>
                </a:solidFill>
                <a:latin typeface="맑은 고딕"/>
                <a:ea typeface="맑은 고딕"/>
              </a:rPr>
              <a:t> </a:t>
            </a:r>
            <a:r>
              <a:rPr sz="850" b="0" i="0" dirty="0" err="1">
                <a:solidFill>
                  <a:srgbClr val="404040"/>
                </a:solidFill>
                <a:latin typeface="맑은 고딕"/>
                <a:ea typeface="맑은 고딕"/>
              </a:rPr>
              <a:t>독립</a:t>
            </a:r>
            <a:r>
              <a:rPr sz="850" b="0" i="0" dirty="0">
                <a:solidFill>
                  <a:srgbClr val="404040"/>
                </a:solidFill>
                <a:latin typeface="맑은 고딕"/>
                <a:ea typeface="맑은 고딕"/>
              </a:rPr>
              <a:t> </a:t>
            </a:r>
            <a:r>
              <a:rPr sz="850" b="0" i="0" dirty="0" err="1">
                <a:solidFill>
                  <a:srgbClr val="404040"/>
                </a:solidFill>
                <a:latin typeface="맑은 고딕"/>
                <a:ea typeface="맑은 고딕"/>
              </a:rPr>
              <a:t>보유</a:t>
            </a:r>
            <a:r>
              <a:rPr sz="850" b="0" i="0" dirty="0">
                <a:solidFill>
                  <a:srgbClr val="404040"/>
                </a:solidFill>
                <a:latin typeface="맑은 고딕"/>
                <a:ea typeface="맑은 고딕"/>
              </a:rPr>
              <a:t> → </a:t>
            </a:r>
            <a:r>
              <a:rPr sz="850" b="0" i="0" dirty="0" err="1">
                <a:solidFill>
                  <a:srgbClr val="404040"/>
                </a:solidFill>
                <a:latin typeface="맑은 고딕"/>
                <a:ea typeface="맑은 고딕"/>
              </a:rPr>
              <a:t>수집·판단</a:t>
            </a:r>
            <a:r>
              <a:rPr sz="850" b="0" i="0" dirty="0">
                <a:solidFill>
                  <a:srgbClr val="404040"/>
                </a:solidFill>
                <a:latin typeface="맑은 고딕"/>
                <a:ea typeface="맑은 고딕"/>
              </a:rPr>
              <a:t> </a:t>
            </a:r>
            <a:r>
              <a:rPr sz="850" b="0" i="0" dirty="0" err="1">
                <a:solidFill>
                  <a:srgbClr val="404040"/>
                </a:solidFill>
                <a:latin typeface="맑은 고딕"/>
                <a:ea typeface="맑은 고딕"/>
              </a:rPr>
              <a:t>부하</a:t>
            </a:r>
            <a:r>
              <a:rPr sz="850" b="0" i="0" dirty="0">
                <a:solidFill>
                  <a:srgbClr val="404040"/>
                </a:solidFill>
                <a:latin typeface="맑은 고딕"/>
                <a:ea typeface="맑은 고딕"/>
              </a:rPr>
              <a:t> </a:t>
            </a:r>
            <a:r>
              <a:rPr sz="850" b="0" i="0" dirty="0" err="1">
                <a:solidFill>
                  <a:srgbClr val="404040"/>
                </a:solidFill>
                <a:latin typeface="맑은 고딕"/>
                <a:ea typeface="맑은 고딕"/>
              </a:rPr>
              <a:t>분리</a:t>
            </a:r>
            <a:r>
              <a:rPr sz="850" b="0" i="0" dirty="0">
                <a:solidFill>
                  <a:srgbClr val="404040"/>
                </a:solidFill>
                <a:latin typeface="맑은 고딕"/>
                <a:ea typeface="맑은 고딕"/>
              </a:rPr>
              <a:t> </a:t>
            </a:r>
            <a:r>
              <a:rPr sz="850" b="0" i="0" dirty="0" err="1">
                <a:solidFill>
                  <a:srgbClr val="404040"/>
                </a:solidFill>
                <a:latin typeface="맑은 고딕"/>
                <a:ea typeface="맑은 고딕"/>
              </a:rPr>
              <a:t>조절</a:t>
            </a:r>
            <a:r>
              <a:rPr sz="850" b="0" i="0" dirty="0">
                <a:solidFill>
                  <a:srgbClr val="404040"/>
                </a:solidFill>
                <a:latin typeface="맑은 고딕"/>
                <a:ea typeface="맑은 고딕"/>
              </a:rPr>
              <a:t> (QA1)</a:t>
            </a:r>
          </a:p>
          <a:p>
            <a:pPr marL="137160" indent="-137160">
              <a:lnSpc>
                <a:spcPct val="104000"/>
              </a:lnSpc>
              <a:spcAft>
                <a:spcPts val="200"/>
              </a:spcAft>
              <a:buFont typeface="Arial" pitchFamily="34" charset="0"/>
              <a:buChar char="▪"/>
            </a:pPr>
            <a:r>
              <a:rPr sz="850" b="0" i="0" dirty="0">
                <a:solidFill>
                  <a:srgbClr val="404040"/>
                </a:solidFill>
                <a:latin typeface="맑은 고딕"/>
                <a:ea typeface="맑은 고딕"/>
              </a:rPr>
              <a:t>Snapshot Builder </a:t>
            </a:r>
            <a:r>
              <a:rPr sz="850" b="0" i="0" dirty="0" err="1">
                <a:solidFill>
                  <a:srgbClr val="404040"/>
                </a:solidFill>
                <a:latin typeface="맑은 고딕"/>
                <a:ea typeface="맑은 고딕"/>
              </a:rPr>
              <a:t>샤딩</a:t>
            </a:r>
            <a:r>
              <a:rPr sz="850" b="0" i="0" dirty="0">
                <a:solidFill>
                  <a:srgbClr val="404040"/>
                </a:solidFill>
                <a:latin typeface="맑은 고딕"/>
                <a:ea typeface="맑은 고딕"/>
              </a:rPr>
              <a:t> / Scheduler </a:t>
            </a:r>
            <a:r>
              <a:rPr sz="850" b="0" i="0" dirty="0" err="1">
                <a:solidFill>
                  <a:srgbClr val="404040"/>
                </a:solidFill>
                <a:latin typeface="맑은 고딕"/>
                <a:ea typeface="맑은 고딕"/>
              </a:rPr>
              <a:t>증설로</a:t>
            </a:r>
            <a:r>
              <a:rPr sz="850" b="0" i="0" dirty="0">
                <a:solidFill>
                  <a:srgbClr val="404040"/>
                </a:solidFill>
                <a:latin typeface="맑은 고딕"/>
                <a:ea typeface="맑은 고딕"/>
              </a:rPr>
              <a:t> object </a:t>
            </a:r>
            <a:r>
              <a:rPr sz="850" b="0" i="0" dirty="0" err="1">
                <a:solidFill>
                  <a:srgbClr val="404040"/>
                </a:solidFill>
                <a:latin typeface="맑은 고딕"/>
                <a:ea typeface="맑은 고딕"/>
              </a:rPr>
              <a:t>수·판단량을</a:t>
            </a:r>
            <a:r>
              <a:rPr sz="850" b="0" i="0" dirty="0">
                <a:solidFill>
                  <a:srgbClr val="404040"/>
                </a:solidFill>
                <a:latin typeface="맑은 고딕"/>
                <a:ea typeface="맑은 고딕"/>
              </a:rPr>
              <a:t> </a:t>
            </a:r>
            <a:r>
              <a:rPr sz="850" b="0" i="0" dirty="0" err="1">
                <a:solidFill>
                  <a:srgbClr val="404040"/>
                </a:solidFill>
                <a:latin typeface="맑은 고딕"/>
                <a:ea typeface="맑은 고딕"/>
              </a:rPr>
              <a:t>따로</a:t>
            </a:r>
            <a:r>
              <a:rPr sz="850" b="0" i="0" dirty="0">
                <a:solidFill>
                  <a:srgbClr val="404040"/>
                </a:solidFill>
                <a:latin typeface="맑은 고딕"/>
                <a:ea typeface="맑은 고딕"/>
              </a:rPr>
              <a:t> </a:t>
            </a:r>
            <a:r>
              <a:rPr sz="850" b="0" i="0" dirty="0" err="1">
                <a:solidFill>
                  <a:srgbClr val="404040"/>
                </a:solidFill>
                <a:latin typeface="맑은 고딕"/>
                <a:ea typeface="맑은 고딕"/>
              </a:rPr>
              <a:t>흡수</a:t>
            </a:r>
            <a:r>
              <a:rPr sz="850" b="0" i="0" dirty="0">
                <a:solidFill>
                  <a:srgbClr val="404040"/>
                </a:solidFill>
                <a:latin typeface="맑은 고딕"/>
                <a:ea typeface="맑은 고딕"/>
              </a:rPr>
              <a:t> (QA4)</a:t>
            </a:r>
          </a:p>
          <a:p>
            <a:pPr marL="137160" indent="-137160">
              <a:lnSpc>
                <a:spcPct val="104000"/>
              </a:lnSpc>
              <a:spcAft>
                <a:spcPts val="200"/>
              </a:spcAft>
              <a:buFont typeface="Arial" pitchFamily="34" charset="0"/>
              <a:buChar char="▪"/>
            </a:pPr>
            <a:r>
              <a:rPr sz="850" b="0" i="0" dirty="0" err="1">
                <a:solidFill>
                  <a:srgbClr val="404040"/>
                </a:solidFill>
                <a:latin typeface="맑은 고딕"/>
                <a:ea typeface="맑은 고딕"/>
              </a:rPr>
              <a:t>정책</a:t>
            </a:r>
            <a:r>
              <a:rPr sz="850" b="0" i="0" dirty="0">
                <a:solidFill>
                  <a:srgbClr val="404040"/>
                </a:solidFill>
                <a:latin typeface="맑은 고딕"/>
                <a:ea typeface="맑은 고딕"/>
              </a:rPr>
              <a:t> </a:t>
            </a:r>
            <a:r>
              <a:rPr sz="850" b="0" i="0" dirty="0" err="1">
                <a:solidFill>
                  <a:srgbClr val="404040"/>
                </a:solidFill>
                <a:latin typeface="맑은 고딕"/>
                <a:ea typeface="맑은 고딕"/>
              </a:rPr>
              <a:t>교체가</a:t>
            </a:r>
            <a:r>
              <a:rPr sz="850" b="0" i="0" dirty="0">
                <a:solidFill>
                  <a:srgbClr val="404040"/>
                </a:solidFill>
                <a:latin typeface="맑은 고딕"/>
                <a:ea typeface="맑은 고딕"/>
              </a:rPr>
              <a:t> Control Plane 에 </a:t>
            </a:r>
            <a:r>
              <a:rPr sz="850" b="0" i="0" dirty="0" err="1">
                <a:solidFill>
                  <a:srgbClr val="404040"/>
                </a:solidFill>
                <a:latin typeface="맑은 고딕"/>
                <a:ea typeface="맑은 고딕"/>
              </a:rPr>
              <a:t>국소화</a:t>
            </a:r>
            <a:r>
              <a:rPr sz="850" b="0" i="0" dirty="0">
                <a:solidFill>
                  <a:srgbClr val="404040"/>
                </a:solidFill>
                <a:latin typeface="맑은 고딕"/>
                <a:ea typeface="맑은 고딕"/>
              </a:rPr>
              <a:t>, </a:t>
            </a:r>
            <a:r>
              <a:rPr sz="850" b="0" i="0" dirty="0" err="1">
                <a:solidFill>
                  <a:srgbClr val="404040"/>
                </a:solidFill>
                <a:latin typeface="맑은 고딕"/>
                <a:ea typeface="맑은 고딕"/>
              </a:rPr>
              <a:t>상태</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서비스는</a:t>
            </a:r>
            <a:r>
              <a:rPr sz="850" b="0" i="0" dirty="0">
                <a:solidFill>
                  <a:srgbClr val="404040"/>
                </a:solidFill>
                <a:latin typeface="맑은 고딕"/>
                <a:ea typeface="맑은 고딕"/>
              </a:rPr>
              <a:t> </a:t>
            </a:r>
            <a:r>
              <a:rPr sz="850" b="0" i="0" dirty="0" err="1">
                <a:solidFill>
                  <a:srgbClr val="404040"/>
                </a:solidFill>
                <a:latin typeface="맑은 고딕"/>
                <a:ea typeface="맑은 고딕"/>
              </a:rPr>
              <a:t>불변</a:t>
            </a:r>
            <a:r>
              <a:rPr sz="850" b="0" i="0" dirty="0">
                <a:solidFill>
                  <a:srgbClr val="404040"/>
                </a:solidFill>
                <a:latin typeface="맑은 고딕"/>
                <a:ea typeface="맑은 고딕"/>
              </a:rPr>
              <a:t> (QA3)</a:t>
            </a:r>
          </a:p>
        </p:txBody>
      </p:sp>
      <p:sp>
        <p:nvSpPr>
          <p:cNvPr id="113" name="TextBox 112"/>
          <p:cNvSpPr txBox="1"/>
          <p:nvPr/>
        </p:nvSpPr>
        <p:spPr>
          <a:xfrm>
            <a:off x="1133856" y="5385816"/>
            <a:ext cx="4864608" cy="566928"/>
          </a:xfrm>
          <a:prstGeom prst="rect">
            <a:avLst/>
          </a:prstGeom>
          <a:noFill/>
        </p:spPr>
        <p:txBody>
          <a:bodyPr wrap="square" lIns="0" tIns="0" rIns="0" bIns="0" anchor="t">
            <a:spAutoFit/>
          </a:bodyPr>
          <a:lstStyle/>
          <a:p>
            <a:pPr marL="137160" indent="-137160">
              <a:lnSpc>
                <a:spcPct val="104000"/>
              </a:lnSpc>
              <a:spcAft>
                <a:spcPts val="0"/>
              </a:spcAft>
              <a:buFont typeface="Arial" pitchFamily="34" charset="0"/>
              <a:buChar char="▪"/>
            </a:pPr>
            <a:r>
              <a:rPr sz="850" b="0" i="0" dirty="0">
                <a:solidFill>
                  <a:srgbClr val="404040"/>
                </a:solidFill>
                <a:latin typeface="맑은 고딕"/>
                <a:ea typeface="맑은 고딕"/>
              </a:rPr>
              <a:t>State Lock Manager 가 </a:t>
            </a:r>
            <a:r>
              <a:rPr sz="850" b="0" i="0" dirty="0" err="1">
                <a:solidFill>
                  <a:srgbClr val="404040"/>
                </a:solidFill>
                <a:latin typeface="맑은 고딕"/>
                <a:ea typeface="맑은 고딕"/>
              </a:rPr>
              <a:t>판단</a:t>
            </a:r>
            <a:r>
              <a:rPr sz="850" b="0" i="0" dirty="0">
                <a:solidFill>
                  <a:srgbClr val="404040"/>
                </a:solidFill>
                <a:latin typeface="맑은 고딕"/>
                <a:ea typeface="맑은 고딕"/>
              </a:rPr>
              <a:t> 중 </a:t>
            </a:r>
            <a:r>
              <a:rPr sz="850" b="0" i="0" dirty="0" err="1">
                <a:solidFill>
                  <a:srgbClr val="404040"/>
                </a:solidFill>
                <a:latin typeface="맑은 고딕"/>
                <a:ea typeface="맑은 고딕"/>
              </a:rPr>
              <a:t>상태</a:t>
            </a:r>
            <a:r>
              <a:rPr sz="850" b="0" i="0" dirty="0">
                <a:solidFill>
                  <a:srgbClr val="404040"/>
                </a:solidFill>
                <a:latin typeface="맑은 고딕"/>
                <a:ea typeface="맑은 고딕"/>
              </a:rPr>
              <a:t> </a:t>
            </a:r>
            <a:r>
              <a:rPr sz="850" b="0" i="0" dirty="0" err="1">
                <a:solidFill>
                  <a:srgbClr val="404040"/>
                </a:solidFill>
                <a:latin typeface="맑은 고딕"/>
                <a:ea typeface="맑은 고딕"/>
              </a:rPr>
              <a:t>갱신을</a:t>
            </a:r>
            <a:r>
              <a:rPr sz="850" b="0" i="0" dirty="0">
                <a:solidFill>
                  <a:srgbClr val="404040"/>
                </a:solidFill>
                <a:latin typeface="맑은 고딕"/>
                <a:ea typeface="맑은 고딕"/>
              </a:rPr>
              <a:t> </a:t>
            </a:r>
            <a:r>
              <a:rPr sz="850" b="0" i="0" dirty="0" err="1">
                <a:solidFill>
                  <a:srgbClr val="404040"/>
                </a:solidFill>
                <a:latin typeface="맑은 고딕"/>
                <a:ea typeface="맑은 고딕"/>
              </a:rPr>
              <a:t>차단</a:t>
            </a:r>
            <a:r>
              <a:rPr sz="850" b="0" i="0" dirty="0">
                <a:solidFill>
                  <a:srgbClr val="404040"/>
                </a:solidFill>
                <a:latin typeface="맑은 고딕"/>
                <a:ea typeface="맑은 고딕"/>
              </a:rPr>
              <a:t> → telemetry event</a:t>
            </a:r>
          </a:p>
          <a:p>
            <a:pPr marL="137160" indent="0">
              <a:lnSpc>
                <a:spcPct val="104000"/>
              </a:lnSpc>
              <a:spcAft>
                <a:spcPts val="200"/>
              </a:spcAft>
              <a:buNone/>
            </a:pPr>
            <a:r>
              <a:rPr sz="850" b="0" i="0" dirty="0">
                <a:solidFill>
                  <a:srgbClr val="404040"/>
                </a:solidFill>
                <a:latin typeface="맑은 고딕"/>
                <a:ea typeface="맑은 고딕"/>
              </a:rPr>
              <a:t>backlog · TPOT </a:t>
            </a:r>
            <a:r>
              <a:rPr sz="850" b="0" i="0" dirty="0" err="1">
                <a:solidFill>
                  <a:srgbClr val="404040"/>
                </a:solidFill>
                <a:latin typeface="맑은 고딕"/>
                <a:ea typeface="맑은 고딕"/>
              </a:rPr>
              <a:t>간섭</a:t>
            </a:r>
            <a:r>
              <a:rPr sz="850" b="0" i="0" dirty="0">
                <a:solidFill>
                  <a:srgbClr val="404040"/>
                </a:solidFill>
                <a:latin typeface="맑은 고딕"/>
                <a:ea typeface="맑은 고딕"/>
              </a:rPr>
              <a:t> (QA1)</a:t>
            </a:r>
          </a:p>
          <a:p>
            <a:pPr marL="137160" indent="-137160">
              <a:lnSpc>
                <a:spcPct val="104000"/>
              </a:lnSpc>
              <a:spcAft>
                <a:spcPts val="200"/>
              </a:spcAft>
              <a:buFont typeface="Arial" pitchFamily="34" charset="0"/>
              <a:buChar char="▪"/>
            </a:pPr>
            <a:r>
              <a:rPr sz="850" b="0" i="0" dirty="0" err="1">
                <a:solidFill>
                  <a:srgbClr val="404040"/>
                </a:solidFill>
                <a:latin typeface="맑은 고딕"/>
                <a:ea typeface="맑은 고딕"/>
              </a:rPr>
              <a:t>판단</a:t>
            </a:r>
            <a:r>
              <a:rPr sz="850" b="0" i="0" dirty="0">
                <a:solidFill>
                  <a:srgbClr val="404040"/>
                </a:solidFill>
                <a:latin typeface="맑은 고딕"/>
                <a:ea typeface="맑은 고딕"/>
              </a:rPr>
              <a:t> </a:t>
            </a:r>
            <a:r>
              <a:rPr sz="850" b="0" i="0" dirty="0" err="1">
                <a:solidFill>
                  <a:srgbClr val="404040"/>
                </a:solidFill>
                <a:latin typeface="맑은 고딕"/>
                <a:ea typeface="맑은 고딕"/>
              </a:rPr>
              <a:t>스레드가</a:t>
            </a:r>
            <a:r>
              <a:rPr sz="850" b="0" i="0" dirty="0">
                <a:solidFill>
                  <a:srgbClr val="404040"/>
                </a:solidFill>
                <a:latin typeface="맑은 고딕"/>
                <a:ea typeface="맑은 고딕"/>
              </a:rPr>
              <a:t> </a:t>
            </a:r>
            <a:r>
              <a:rPr sz="850" b="0" i="0" dirty="0" err="1">
                <a:solidFill>
                  <a:srgbClr val="404040"/>
                </a:solidFill>
                <a:latin typeface="맑은 고딕"/>
                <a:ea typeface="맑은 고딕"/>
              </a:rPr>
              <a:t>상태</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서비스에</a:t>
            </a:r>
            <a:r>
              <a:rPr sz="850" b="0" i="0" dirty="0">
                <a:solidFill>
                  <a:srgbClr val="404040"/>
                </a:solidFill>
                <a:latin typeface="맑은 고딕"/>
                <a:ea typeface="맑은 고딕"/>
              </a:rPr>
              <a:t> </a:t>
            </a:r>
            <a:r>
              <a:rPr sz="850" b="0" i="0" dirty="0" err="1">
                <a:solidFill>
                  <a:srgbClr val="404040"/>
                </a:solidFill>
                <a:latin typeface="맑은 고딕"/>
                <a:ea typeface="맑은 고딕"/>
              </a:rPr>
              <a:t>묶여</a:t>
            </a:r>
            <a:r>
              <a:rPr sz="850" b="0" i="0" dirty="0">
                <a:solidFill>
                  <a:srgbClr val="404040"/>
                </a:solidFill>
                <a:latin typeface="맑은 고딕"/>
                <a:ea typeface="맑은 고딕"/>
              </a:rPr>
              <a:t> </a:t>
            </a:r>
            <a:r>
              <a:rPr sz="850" b="0" i="0" dirty="0" err="1">
                <a:solidFill>
                  <a:srgbClr val="404040"/>
                </a:solidFill>
                <a:latin typeface="맑은 고딕"/>
                <a:ea typeface="맑은 고딕"/>
              </a:rPr>
              <a:t>서빙</a:t>
            </a:r>
            <a:r>
              <a:rPr sz="850" b="0" i="0" dirty="0">
                <a:solidFill>
                  <a:srgbClr val="404040"/>
                </a:solidFill>
                <a:latin typeface="맑은 고딕"/>
                <a:ea typeface="맑은 고딕"/>
              </a:rPr>
              <a:t> </a:t>
            </a:r>
            <a:r>
              <a:rPr sz="850" b="0" i="0" dirty="0" err="1">
                <a:solidFill>
                  <a:srgbClr val="404040"/>
                </a:solidFill>
                <a:latin typeface="맑은 고딕"/>
                <a:ea typeface="맑은 고딕"/>
              </a:rPr>
              <a:t>코어와</a:t>
            </a:r>
            <a:r>
              <a:rPr sz="850" b="0" i="0" dirty="0">
                <a:solidFill>
                  <a:srgbClr val="404040"/>
                </a:solidFill>
                <a:latin typeface="맑은 고딕"/>
                <a:ea typeface="맑은 고딕"/>
              </a:rPr>
              <a:t> </a:t>
            </a:r>
            <a:r>
              <a:rPr sz="850" b="0" i="0" dirty="0" err="1">
                <a:solidFill>
                  <a:srgbClr val="404040"/>
                </a:solidFill>
                <a:latin typeface="맑은 고딕"/>
                <a:ea typeface="맑은 고딕"/>
              </a:rPr>
              <a:t>분리</a:t>
            </a:r>
            <a:r>
              <a:rPr sz="850" b="0" i="0" dirty="0">
                <a:solidFill>
                  <a:srgbClr val="404040"/>
                </a:solidFill>
                <a:latin typeface="맑은 고딕"/>
                <a:ea typeface="맑은 고딕"/>
              </a:rPr>
              <a:t> </a:t>
            </a:r>
            <a:r>
              <a:rPr sz="850" b="0" i="0" dirty="0" err="1">
                <a:solidFill>
                  <a:srgbClr val="404040"/>
                </a:solidFill>
                <a:latin typeface="맑은 고딕"/>
                <a:ea typeface="맑은 고딕"/>
              </a:rPr>
              <a:t>배치</a:t>
            </a:r>
            <a:r>
              <a:rPr sz="850" b="0" i="0" dirty="0">
                <a:solidFill>
                  <a:srgbClr val="404040"/>
                </a:solidFill>
                <a:latin typeface="맑은 고딕"/>
                <a:ea typeface="맑은 고딕"/>
              </a:rPr>
              <a:t> </a:t>
            </a:r>
            <a:r>
              <a:rPr sz="850" b="0" i="0" dirty="0" err="1">
                <a:solidFill>
                  <a:srgbClr val="404040"/>
                </a:solidFill>
                <a:latin typeface="맑은 고딕"/>
                <a:ea typeface="맑은 고딕"/>
              </a:rPr>
              <a:t>불가</a:t>
            </a:r>
            <a:r>
              <a:rPr sz="850" b="0" i="0" dirty="0">
                <a:solidFill>
                  <a:srgbClr val="404040"/>
                </a:solidFill>
                <a:latin typeface="맑은 고딕"/>
                <a:ea typeface="맑은 고딕"/>
              </a:rPr>
              <a:t> (QA1)</a:t>
            </a:r>
          </a:p>
          <a:p>
            <a:pPr marL="137160" indent="-137160">
              <a:lnSpc>
                <a:spcPct val="104000"/>
              </a:lnSpc>
              <a:spcAft>
                <a:spcPts val="200"/>
              </a:spcAft>
              <a:buFont typeface="Arial" pitchFamily="34" charset="0"/>
              <a:buChar char="▪"/>
            </a:pPr>
            <a:r>
              <a:rPr sz="850" b="0" i="0" dirty="0" err="1">
                <a:solidFill>
                  <a:srgbClr val="404040"/>
                </a:solidFill>
                <a:latin typeface="맑은 고딕"/>
                <a:ea typeface="맑은 고딕"/>
              </a:rPr>
              <a:t>tier·object</a:t>
            </a:r>
            <a:r>
              <a:rPr sz="850" b="0" i="0" dirty="0">
                <a:solidFill>
                  <a:srgbClr val="404040"/>
                </a:solidFill>
                <a:latin typeface="맑은 고딕"/>
                <a:ea typeface="맑은 고딕"/>
              </a:rPr>
              <a:t> </a:t>
            </a:r>
            <a:r>
              <a:rPr sz="850" b="0" i="0" dirty="0" err="1">
                <a:solidFill>
                  <a:srgbClr val="404040"/>
                </a:solidFill>
                <a:latin typeface="맑은 고딕"/>
                <a:ea typeface="맑은 고딕"/>
              </a:rPr>
              <a:t>증가분을</a:t>
            </a:r>
            <a:r>
              <a:rPr sz="850" b="0" i="0" dirty="0">
                <a:solidFill>
                  <a:srgbClr val="404040"/>
                </a:solidFill>
                <a:latin typeface="맑은 고딕"/>
                <a:ea typeface="맑은 고딕"/>
              </a:rPr>
              <a:t> 한 </a:t>
            </a:r>
            <a:r>
              <a:rPr sz="850" b="0" i="0" dirty="0" err="1">
                <a:solidFill>
                  <a:srgbClr val="404040"/>
                </a:solidFill>
                <a:latin typeface="맑은 고딕"/>
                <a:ea typeface="맑은 고딕"/>
              </a:rPr>
              <a:t>서비스가</a:t>
            </a:r>
            <a:r>
              <a:rPr sz="850" b="0" i="0" dirty="0">
                <a:solidFill>
                  <a:srgbClr val="404040"/>
                </a:solidFill>
                <a:latin typeface="맑은 고딕"/>
                <a:ea typeface="맑은 고딕"/>
              </a:rPr>
              <a:t> </a:t>
            </a:r>
            <a:r>
              <a:rPr sz="850" b="0" i="0" dirty="0" err="1">
                <a:solidFill>
                  <a:srgbClr val="404040"/>
                </a:solidFill>
                <a:latin typeface="맑은 고딕"/>
                <a:ea typeface="맑은 고딕"/>
              </a:rPr>
              <a:t>함께</a:t>
            </a:r>
            <a:r>
              <a:rPr sz="850" b="0" i="0" dirty="0">
                <a:solidFill>
                  <a:srgbClr val="404040"/>
                </a:solidFill>
                <a:latin typeface="맑은 고딕"/>
                <a:ea typeface="맑은 고딕"/>
              </a:rPr>
              <a:t> </a:t>
            </a:r>
            <a:r>
              <a:rPr sz="850" b="0" i="0" dirty="0" err="1">
                <a:solidFill>
                  <a:srgbClr val="404040"/>
                </a:solidFill>
                <a:latin typeface="맑은 고딕"/>
                <a:ea typeface="맑은 고딕"/>
              </a:rPr>
              <a:t>받음</a:t>
            </a:r>
            <a:r>
              <a:rPr sz="850" b="0" i="0" dirty="0">
                <a:solidFill>
                  <a:srgbClr val="404040"/>
                </a:solidFill>
                <a:latin typeface="맑은 고딕"/>
                <a:ea typeface="맑은 고딕"/>
              </a:rPr>
              <a:t> → </a:t>
            </a:r>
            <a:r>
              <a:rPr sz="850" b="0" i="0" dirty="0" err="1">
                <a:solidFill>
                  <a:srgbClr val="404040"/>
                </a:solidFill>
                <a:latin typeface="맑은 고딕"/>
                <a:ea typeface="맑은 고딕"/>
              </a:rPr>
              <a:t>단일</a:t>
            </a:r>
            <a:r>
              <a:rPr sz="850" b="0" i="0" dirty="0">
                <a:solidFill>
                  <a:srgbClr val="404040"/>
                </a:solidFill>
                <a:latin typeface="맑은 고딕"/>
                <a:ea typeface="맑은 고딕"/>
              </a:rPr>
              <a:t> </a:t>
            </a:r>
            <a:r>
              <a:rPr sz="850" b="0" i="0" dirty="0" err="1">
                <a:solidFill>
                  <a:srgbClr val="404040"/>
                </a:solidFill>
                <a:latin typeface="맑은 고딕"/>
                <a:ea typeface="맑은 고딕"/>
              </a:rPr>
              <a:t>병목</a:t>
            </a:r>
            <a:r>
              <a:rPr sz="850" b="0" i="0" dirty="0">
                <a:solidFill>
                  <a:srgbClr val="404040"/>
                </a:solidFill>
                <a:latin typeface="맑은 고딕"/>
                <a:ea typeface="맑은 고딕"/>
              </a:rPr>
              <a:t> (QA4)</a:t>
            </a:r>
          </a:p>
        </p:txBody>
      </p:sp>
      <p:sp>
        <p:nvSpPr>
          <p:cNvPr id="114" name="TextBox 113"/>
          <p:cNvSpPr txBox="1"/>
          <p:nvPr/>
        </p:nvSpPr>
        <p:spPr>
          <a:xfrm>
            <a:off x="6272784" y="5385816"/>
            <a:ext cx="5586984" cy="566928"/>
          </a:xfrm>
          <a:prstGeom prst="rect">
            <a:avLst/>
          </a:prstGeom>
          <a:noFill/>
        </p:spPr>
        <p:txBody>
          <a:bodyPr wrap="square" lIns="0" tIns="0" rIns="0" bIns="0" anchor="t">
            <a:spAutoFit/>
          </a:bodyPr>
          <a:lstStyle/>
          <a:p>
            <a:pPr marL="137160" indent="-137160">
              <a:lnSpc>
                <a:spcPct val="104000"/>
              </a:lnSpc>
              <a:spcAft>
                <a:spcPts val="200"/>
              </a:spcAft>
              <a:buFont typeface="Arial" pitchFamily="34" charset="0"/>
              <a:buChar char="▪"/>
            </a:pPr>
            <a:r>
              <a:rPr sz="850" b="0" i="0" dirty="0">
                <a:solidFill>
                  <a:srgbClr val="404040"/>
                </a:solidFill>
                <a:latin typeface="맑은 고딕"/>
                <a:ea typeface="맑은 고딕"/>
              </a:rPr>
              <a:t>Snapshot age </a:t>
            </a:r>
            <a:r>
              <a:rPr sz="850" b="0" i="0" dirty="0" err="1">
                <a:solidFill>
                  <a:srgbClr val="404040"/>
                </a:solidFill>
                <a:latin typeface="맑은 고딕"/>
                <a:ea typeface="맑은 고딕"/>
              </a:rPr>
              <a:t>만큼</a:t>
            </a:r>
            <a:r>
              <a:rPr sz="850" b="0" i="0" dirty="0">
                <a:solidFill>
                  <a:srgbClr val="404040"/>
                </a:solidFill>
                <a:latin typeface="맑은 고딕"/>
                <a:ea typeface="맑은 고딕"/>
              </a:rPr>
              <a:t> stale → HBM </a:t>
            </a:r>
            <a:r>
              <a:rPr sz="850" b="0" i="0" dirty="0" err="1">
                <a:solidFill>
                  <a:srgbClr val="404040"/>
                </a:solidFill>
                <a:latin typeface="맑은 고딕"/>
                <a:ea typeface="맑은 고딕"/>
              </a:rPr>
              <a:t>확보</a:t>
            </a:r>
            <a:r>
              <a:rPr sz="850" b="0" i="0" dirty="0">
                <a:solidFill>
                  <a:srgbClr val="404040"/>
                </a:solidFill>
                <a:latin typeface="맑은 고딕"/>
                <a:ea typeface="맑은 고딕"/>
              </a:rPr>
              <a:t> </a:t>
            </a:r>
            <a:r>
              <a:rPr sz="850" b="0" i="0" dirty="0" err="1">
                <a:solidFill>
                  <a:srgbClr val="404040"/>
                </a:solidFill>
                <a:latin typeface="맑은 고딕"/>
                <a:ea typeface="맑은 고딕"/>
              </a:rPr>
              <a:t>지연</a:t>
            </a:r>
            <a:r>
              <a:rPr sz="850" b="0" i="0" dirty="0">
                <a:solidFill>
                  <a:srgbClr val="404040"/>
                </a:solidFill>
                <a:latin typeface="맑은 고딕"/>
                <a:ea typeface="맑은 고딕"/>
              </a:rPr>
              <a:t>, </a:t>
            </a:r>
            <a:r>
              <a:rPr sz="850" b="0" i="0" dirty="0" err="1">
                <a:solidFill>
                  <a:srgbClr val="404040"/>
                </a:solidFill>
                <a:latin typeface="맑은 고딕"/>
                <a:ea typeface="맑은 고딕"/>
              </a:rPr>
              <a:t>바뀐</a:t>
            </a:r>
            <a:r>
              <a:rPr sz="850" b="0" i="0" dirty="0">
                <a:solidFill>
                  <a:srgbClr val="404040"/>
                </a:solidFill>
                <a:latin typeface="맑은 고딕"/>
                <a:ea typeface="맑은 고딕"/>
              </a:rPr>
              <a:t> </a:t>
            </a:r>
            <a:r>
              <a:rPr sz="850" b="0" i="0" dirty="0" err="1">
                <a:solidFill>
                  <a:srgbClr val="404040"/>
                </a:solidFill>
                <a:latin typeface="맑은 고딕"/>
                <a:ea typeface="맑은 고딕"/>
              </a:rPr>
              <a:t>상태</a:t>
            </a:r>
            <a:r>
              <a:rPr sz="850" b="0" i="0" dirty="0">
                <a:solidFill>
                  <a:srgbClr val="404040"/>
                </a:solidFill>
                <a:latin typeface="맑은 고딕"/>
                <a:ea typeface="맑은 고딕"/>
              </a:rPr>
              <a:t> </a:t>
            </a:r>
            <a:r>
              <a:rPr sz="850" b="0" i="0" dirty="0" err="1">
                <a:solidFill>
                  <a:srgbClr val="404040"/>
                </a:solidFill>
                <a:latin typeface="맑은 고딕"/>
                <a:ea typeface="맑은 고딕"/>
              </a:rPr>
              <a:t>기준</a:t>
            </a:r>
            <a:r>
              <a:rPr sz="850" b="0" i="0" dirty="0">
                <a:solidFill>
                  <a:srgbClr val="404040"/>
                </a:solidFill>
                <a:latin typeface="맑은 고딕"/>
                <a:ea typeface="맑은 고딕"/>
              </a:rPr>
              <a:t> </a:t>
            </a:r>
            <a:r>
              <a:rPr sz="850" b="0" i="0" dirty="0" err="1">
                <a:solidFill>
                  <a:srgbClr val="404040"/>
                </a:solidFill>
                <a:latin typeface="맑은 고딕"/>
                <a:ea typeface="맑은 고딕"/>
              </a:rPr>
              <a:t>이동의</a:t>
            </a:r>
            <a:r>
              <a:rPr sz="850" b="0" i="0" dirty="0">
                <a:solidFill>
                  <a:srgbClr val="404040"/>
                </a:solidFill>
                <a:latin typeface="맑은 고딕"/>
                <a:ea typeface="맑은 고딕"/>
              </a:rPr>
              <a:t> </a:t>
            </a:r>
            <a:r>
              <a:rPr sz="850" b="0" i="0" dirty="0" err="1">
                <a:solidFill>
                  <a:srgbClr val="404040"/>
                </a:solidFill>
                <a:latin typeface="맑은 고딕"/>
                <a:ea typeface="맑은 고딕"/>
              </a:rPr>
              <a:t>거절·재시도</a:t>
            </a:r>
            <a:r>
              <a:rPr sz="850" b="0" i="0" dirty="0">
                <a:solidFill>
                  <a:srgbClr val="404040"/>
                </a:solidFill>
                <a:latin typeface="맑은 고딕"/>
                <a:ea typeface="맑은 고딕"/>
              </a:rPr>
              <a:t> (QA2)</a:t>
            </a:r>
          </a:p>
          <a:p>
            <a:pPr marL="137160" indent="-137160">
              <a:lnSpc>
                <a:spcPct val="104000"/>
              </a:lnSpc>
              <a:spcAft>
                <a:spcPts val="200"/>
              </a:spcAft>
              <a:buFont typeface="Arial" pitchFamily="34" charset="0"/>
              <a:buChar char="▪"/>
            </a:pPr>
            <a:r>
              <a:rPr sz="850" b="0" i="0" dirty="0">
                <a:solidFill>
                  <a:srgbClr val="404040"/>
                </a:solidFill>
                <a:latin typeface="맑은 고딕"/>
                <a:ea typeface="맑은 고딕"/>
              </a:rPr>
              <a:t>Snapshot </a:t>
            </a:r>
            <a:r>
              <a:rPr sz="850" b="0" i="0" dirty="0" err="1">
                <a:solidFill>
                  <a:srgbClr val="404040"/>
                </a:solidFill>
                <a:latin typeface="맑은 고딕"/>
                <a:ea typeface="맑은 고딕"/>
              </a:rPr>
              <a:t>생성이</a:t>
            </a:r>
            <a:r>
              <a:rPr sz="850" b="0" i="0" dirty="0">
                <a:solidFill>
                  <a:srgbClr val="404040"/>
                </a:solidFill>
                <a:latin typeface="맑은 고딕"/>
                <a:ea typeface="맑은 고딕"/>
              </a:rPr>
              <a:t> object </a:t>
            </a:r>
            <a:r>
              <a:rPr sz="850" b="0" i="0" dirty="0" err="1">
                <a:solidFill>
                  <a:srgbClr val="404040"/>
                </a:solidFill>
                <a:latin typeface="맑은 고딕"/>
                <a:ea typeface="맑은 고딕"/>
              </a:rPr>
              <a:t>수에</a:t>
            </a:r>
            <a:r>
              <a:rPr sz="850" b="0" i="0" dirty="0">
                <a:solidFill>
                  <a:srgbClr val="404040"/>
                </a:solidFill>
                <a:latin typeface="맑은 고딕"/>
                <a:ea typeface="맑은 고딕"/>
              </a:rPr>
              <a:t> </a:t>
            </a:r>
            <a:r>
              <a:rPr sz="850" b="0" i="0" dirty="0" err="1">
                <a:solidFill>
                  <a:srgbClr val="404040"/>
                </a:solidFill>
                <a:latin typeface="맑은 고딕"/>
                <a:ea typeface="맑은 고딕"/>
              </a:rPr>
              <a:t>비례한</a:t>
            </a:r>
            <a:r>
              <a:rPr sz="850" b="0" i="0" dirty="0">
                <a:solidFill>
                  <a:srgbClr val="404040"/>
                </a:solidFill>
                <a:latin typeface="맑은 고딕"/>
                <a:ea typeface="맑은 고딕"/>
              </a:rPr>
              <a:t> </a:t>
            </a:r>
            <a:r>
              <a:rPr sz="850" b="0" i="0" dirty="0" err="1">
                <a:solidFill>
                  <a:srgbClr val="404040"/>
                </a:solidFill>
                <a:latin typeface="맑은 고딕"/>
                <a:ea typeface="맑은 고딕"/>
              </a:rPr>
              <a:t>메모리·CPU</a:t>
            </a:r>
            <a:r>
              <a:rPr sz="850" b="0" i="0" dirty="0">
                <a:solidFill>
                  <a:srgbClr val="404040"/>
                </a:solidFill>
                <a:latin typeface="맑은 고딕"/>
                <a:ea typeface="맑은 고딕"/>
              </a:rPr>
              <a:t> 를 </a:t>
            </a:r>
            <a:r>
              <a:rPr sz="850" b="0" i="0" dirty="0" err="1">
                <a:solidFill>
                  <a:srgbClr val="404040"/>
                </a:solidFill>
                <a:latin typeface="맑은 고딕"/>
                <a:ea typeface="맑은 고딕"/>
              </a:rPr>
              <a:t>상시</a:t>
            </a:r>
            <a:r>
              <a:rPr sz="850" b="0" i="0" dirty="0">
                <a:solidFill>
                  <a:srgbClr val="404040"/>
                </a:solidFill>
                <a:latin typeface="맑은 고딕"/>
                <a:ea typeface="맑은 고딕"/>
              </a:rPr>
              <a:t> </a:t>
            </a:r>
            <a:r>
              <a:rPr sz="850" b="0" i="0" dirty="0" err="1">
                <a:solidFill>
                  <a:srgbClr val="404040"/>
                </a:solidFill>
                <a:latin typeface="맑은 고딕"/>
                <a:ea typeface="맑은 고딕"/>
              </a:rPr>
              <a:t>점유</a:t>
            </a:r>
            <a:r>
              <a:rPr sz="850" b="0" i="0" dirty="0">
                <a:solidFill>
                  <a:srgbClr val="404040"/>
                </a:solidFill>
                <a:latin typeface="맑은 고딕"/>
                <a:ea typeface="맑은 고딕"/>
              </a:rPr>
              <a:t> (QA2)</a:t>
            </a:r>
          </a:p>
          <a:p>
            <a:pPr marL="137160" indent="-137160">
              <a:lnSpc>
                <a:spcPct val="104000"/>
              </a:lnSpc>
              <a:spcAft>
                <a:spcPts val="0"/>
              </a:spcAft>
              <a:buFont typeface="Arial" pitchFamily="34" charset="0"/>
              <a:buChar char="▪"/>
            </a:pPr>
            <a:r>
              <a:rPr sz="850" b="0" i="0" dirty="0">
                <a:solidFill>
                  <a:srgbClr val="404040"/>
                </a:solidFill>
                <a:latin typeface="맑은 고딕"/>
                <a:ea typeface="맑은 고딕"/>
              </a:rPr>
              <a:t>snapshot </a:t>
            </a:r>
            <a:r>
              <a:rPr sz="850" b="0" i="0" dirty="0" err="1">
                <a:solidFill>
                  <a:srgbClr val="404040"/>
                </a:solidFill>
                <a:latin typeface="맑은 고딕"/>
                <a:ea typeface="맑은 고딕"/>
              </a:rPr>
              <a:t>스키마</a:t>
            </a:r>
            <a:r>
              <a:rPr sz="850" b="0" i="0" dirty="0">
                <a:solidFill>
                  <a:srgbClr val="404040"/>
                </a:solidFill>
                <a:latin typeface="맑은 고딕"/>
                <a:ea typeface="맑은 고딕"/>
              </a:rPr>
              <a:t> · Command Queue </a:t>
            </a:r>
            <a:r>
              <a:rPr sz="850" b="0" i="0" dirty="0" err="1">
                <a:solidFill>
                  <a:srgbClr val="404040"/>
                </a:solidFill>
                <a:latin typeface="맑은 고딕"/>
                <a:ea typeface="맑은 고딕"/>
              </a:rPr>
              <a:t>계약이</a:t>
            </a:r>
            <a:r>
              <a:rPr sz="850" b="0" i="0" dirty="0">
                <a:solidFill>
                  <a:srgbClr val="404040"/>
                </a:solidFill>
                <a:latin typeface="맑은 고딕"/>
                <a:ea typeface="맑은 고딕"/>
              </a:rPr>
              <a:t> </a:t>
            </a:r>
            <a:r>
              <a:rPr sz="850" b="0" i="0" dirty="0" err="1">
                <a:solidFill>
                  <a:srgbClr val="404040"/>
                </a:solidFill>
                <a:latin typeface="맑은 고딕"/>
                <a:ea typeface="맑은 고딕"/>
              </a:rPr>
              <a:t>걸리면</a:t>
            </a:r>
            <a:r>
              <a:rPr sz="850" b="0" i="0" dirty="0">
                <a:solidFill>
                  <a:srgbClr val="404040"/>
                </a:solidFill>
                <a:latin typeface="맑은 고딕"/>
                <a:ea typeface="맑은 고딕"/>
              </a:rPr>
              <a:t> </a:t>
            </a:r>
            <a:r>
              <a:rPr sz="850" b="0" i="0" dirty="0" err="1">
                <a:solidFill>
                  <a:srgbClr val="404040"/>
                </a:solidFill>
                <a:latin typeface="맑은 고딕"/>
                <a:ea typeface="맑은 고딕"/>
              </a:rPr>
              <a:t>Resource·Data</a:t>
            </a:r>
            <a:r>
              <a:rPr sz="850" b="0" i="0" dirty="0">
                <a:solidFill>
                  <a:srgbClr val="404040"/>
                </a:solidFill>
                <a:latin typeface="맑은 고딕"/>
                <a:ea typeface="맑은 고딕"/>
              </a:rPr>
              <a:t> Plane </a:t>
            </a:r>
            <a:r>
              <a:rPr sz="850" b="0" i="0" dirty="0" err="1">
                <a:solidFill>
                  <a:srgbClr val="404040"/>
                </a:solidFill>
                <a:latin typeface="맑은 고딕"/>
                <a:ea typeface="맑은 고딕"/>
              </a:rPr>
              <a:t>까지</a:t>
            </a:r>
            <a:endParaRPr sz="850" b="0" i="0" dirty="0">
              <a:solidFill>
                <a:srgbClr val="404040"/>
              </a:solidFill>
              <a:latin typeface="맑은 고딕"/>
              <a:ea typeface="맑은 고딕"/>
            </a:endParaRPr>
          </a:p>
          <a:p>
            <a:pPr marL="137160" indent="0">
              <a:lnSpc>
                <a:spcPct val="104000"/>
              </a:lnSpc>
              <a:spcAft>
                <a:spcPts val="200"/>
              </a:spcAft>
              <a:buNone/>
            </a:pPr>
            <a:r>
              <a:rPr sz="850" b="0" i="0" dirty="0" err="1">
                <a:solidFill>
                  <a:srgbClr val="404040"/>
                </a:solidFill>
                <a:latin typeface="맑은 고딕"/>
                <a:ea typeface="맑은 고딕"/>
              </a:rPr>
              <a:t>동반</a:t>
            </a:r>
            <a:r>
              <a:rPr sz="850" b="0" i="0" dirty="0">
                <a:solidFill>
                  <a:srgbClr val="404040"/>
                </a:solidFill>
                <a:latin typeface="맑은 고딕"/>
                <a:ea typeface="맑은 고딕"/>
              </a:rPr>
              <a:t> </a:t>
            </a:r>
            <a:r>
              <a:rPr sz="850" b="0" i="0" dirty="0" err="1">
                <a:solidFill>
                  <a:srgbClr val="404040"/>
                </a:solidFill>
                <a:latin typeface="맑은 고딕"/>
                <a:ea typeface="맑은 고딕"/>
              </a:rPr>
              <a:t>수정</a:t>
            </a:r>
            <a:r>
              <a:rPr sz="850" b="0" i="0" dirty="0">
                <a:solidFill>
                  <a:srgbClr val="404040"/>
                </a:solidFill>
                <a:latin typeface="맑은 고딕"/>
                <a:ea typeface="맑은 고딕"/>
              </a:rPr>
              <a:t> (QA3)</a:t>
            </a:r>
          </a:p>
        </p:txBody>
      </p:sp>
      <p:sp>
        <p:nvSpPr>
          <p:cNvPr id="115" name="TextBox 114"/>
          <p:cNvSpPr txBox="1"/>
          <p:nvPr/>
        </p:nvSpPr>
        <p:spPr>
          <a:xfrm>
            <a:off x="1133856" y="6053328"/>
            <a:ext cx="3401568"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QA1. Performance 처리량 (tokens/second)</a:t>
            </a:r>
          </a:p>
        </p:txBody>
      </p:sp>
      <p:sp>
        <p:nvSpPr>
          <p:cNvPr id="116" name="TextBox 115"/>
          <p:cNvSpPr txBox="1"/>
          <p:nvPr/>
        </p:nvSpPr>
        <p:spPr>
          <a:xfrm>
            <a:off x="4828032" y="603504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17" name="TextBox 116"/>
          <p:cNvSpPr txBox="1"/>
          <p:nvPr/>
        </p:nvSpPr>
        <p:spPr>
          <a:xfrm>
            <a:off x="1133856" y="6236208"/>
            <a:ext cx="3401568"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QA2. Resource Efficiency (HBM 사용량 GB)</a:t>
            </a:r>
          </a:p>
        </p:txBody>
      </p:sp>
      <p:sp>
        <p:nvSpPr>
          <p:cNvPr id="118" name="TextBox 117"/>
          <p:cNvSpPr txBox="1"/>
          <p:nvPr/>
        </p:nvSpPr>
        <p:spPr>
          <a:xfrm>
            <a:off x="4828032" y="621792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19" name="TextBox 118"/>
          <p:cNvSpPr txBox="1"/>
          <p:nvPr/>
        </p:nvSpPr>
        <p:spPr>
          <a:xfrm>
            <a:off x="1133856" y="6419088"/>
            <a:ext cx="3401568"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QA3. Modifiability (토큰 비용, M/M)</a:t>
            </a:r>
          </a:p>
        </p:txBody>
      </p:sp>
      <p:sp>
        <p:nvSpPr>
          <p:cNvPr id="120" name="TextBox 119"/>
          <p:cNvSpPr txBox="1"/>
          <p:nvPr/>
        </p:nvSpPr>
        <p:spPr>
          <a:xfrm>
            <a:off x="4828032" y="640080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1" name="TextBox 120"/>
          <p:cNvSpPr txBox="1"/>
          <p:nvPr/>
        </p:nvSpPr>
        <p:spPr>
          <a:xfrm>
            <a:off x="1133856" y="6601968"/>
            <a:ext cx="3401568"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QA4. Scalability (Scaling Efficiency)</a:t>
            </a:r>
          </a:p>
        </p:txBody>
      </p:sp>
      <p:sp>
        <p:nvSpPr>
          <p:cNvPr id="122" name="TextBox 121"/>
          <p:cNvSpPr txBox="1"/>
          <p:nvPr/>
        </p:nvSpPr>
        <p:spPr>
          <a:xfrm>
            <a:off x="4828032" y="658368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3" name="TextBox 122"/>
          <p:cNvSpPr txBox="1"/>
          <p:nvPr/>
        </p:nvSpPr>
        <p:spPr>
          <a:xfrm>
            <a:off x="3931920" y="6601968"/>
            <a:ext cx="822960" cy="173736"/>
          </a:xfrm>
          <a:prstGeom prst="rect">
            <a:avLst/>
          </a:prstGeom>
          <a:noFill/>
        </p:spPr>
        <p:txBody>
          <a:bodyPr wrap="square" lIns="0" tIns="0" rIns="0" bIns="0" anchor="ctr">
            <a:spAutoFit/>
          </a:bodyPr>
          <a:lstStyle/>
          <a:p>
            <a:pPr algn="r"/>
            <a:r>
              <a:rPr sz="900" b="1" i="0">
                <a:solidFill>
                  <a:srgbClr val="262626"/>
                </a:solidFill>
                <a:latin typeface="맑은 고딕"/>
                <a:ea typeface="맑은 고딕"/>
              </a:rPr>
              <a:t>총 9점</a:t>
            </a:r>
          </a:p>
        </p:txBody>
      </p:sp>
      <p:sp>
        <p:nvSpPr>
          <p:cNvPr id="124" name="TextBox 123"/>
          <p:cNvSpPr txBox="1"/>
          <p:nvPr/>
        </p:nvSpPr>
        <p:spPr>
          <a:xfrm>
            <a:off x="6272784" y="6053328"/>
            <a:ext cx="412394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QA1. Performance 처리량 (tokens/second)</a:t>
            </a:r>
          </a:p>
        </p:txBody>
      </p:sp>
      <p:sp>
        <p:nvSpPr>
          <p:cNvPr id="125" name="TextBox 124"/>
          <p:cNvSpPr txBox="1"/>
          <p:nvPr/>
        </p:nvSpPr>
        <p:spPr>
          <a:xfrm>
            <a:off x="10689336" y="603504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6" name="TextBox 125"/>
          <p:cNvSpPr txBox="1"/>
          <p:nvPr/>
        </p:nvSpPr>
        <p:spPr>
          <a:xfrm>
            <a:off x="6272784" y="6236208"/>
            <a:ext cx="412394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QA2. Resource Efficiency (HBM 사용량 GB)</a:t>
            </a:r>
          </a:p>
        </p:txBody>
      </p:sp>
      <p:sp>
        <p:nvSpPr>
          <p:cNvPr id="127" name="TextBox 126"/>
          <p:cNvSpPr txBox="1"/>
          <p:nvPr/>
        </p:nvSpPr>
        <p:spPr>
          <a:xfrm>
            <a:off x="10689336" y="621792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8" name="TextBox 127"/>
          <p:cNvSpPr txBox="1"/>
          <p:nvPr/>
        </p:nvSpPr>
        <p:spPr>
          <a:xfrm>
            <a:off x="6272784" y="6419088"/>
            <a:ext cx="412394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QA3. Modifiability (토큰 비용, M/M)</a:t>
            </a:r>
          </a:p>
        </p:txBody>
      </p:sp>
      <p:sp>
        <p:nvSpPr>
          <p:cNvPr id="129" name="TextBox 128"/>
          <p:cNvSpPr txBox="1"/>
          <p:nvPr/>
        </p:nvSpPr>
        <p:spPr>
          <a:xfrm>
            <a:off x="10689336" y="640080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30" name="TextBox 129"/>
          <p:cNvSpPr txBox="1"/>
          <p:nvPr/>
        </p:nvSpPr>
        <p:spPr>
          <a:xfrm>
            <a:off x="6272784" y="6601968"/>
            <a:ext cx="412394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QA4. Scalability (Scaling Efficiency)</a:t>
            </a:r>
          </a:p>
        </p:txBody>
      </p:sp>
      <p:sp>
        <p:nvSpPr>
          <p:cNvPr id="131" name="TextBox 130"/>
          <p:cNvSpPr txBox="1"/>
          <p:nvPr/>
        </p:nvSpPr>
        <p:spPr>
          <a:xfrm>
            <a:off x="10689336" y="6583680"/>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32" name="TextBox 131"/>
          <p:cNvSpPr txBox="1"/>
          <p:nvPr/>
        </p:nvSpPr>
        <p:spPr>
          <a:xfrm>
            <a:off x="9793224" y="6601968"/>
            <a:ext cx="822960" cy="173736"/>
          </a:xfrm>
          <a:prstGeom prst="rect">
            <a:avLst/>
          </a:prstGeom>
          <a:noFill/>
        </p:spPr>
        <p:txBody>
          <a:bodyPr wrap="square" lIns="0" tIns="0" rIns="0" bIns="0" anchor="ctr">
            <a:spAutoFit/>
          </a:bodyPr>
          <a:lstStyle/>
          <a:p>
            <a:pPr algn="r"/>
            <a:r>
              <a:rPr sz="900" b="1" i="0">
                <a:solidFill>
                  <a:srgbClr val="262626"/>
                </a:solidFill>
                <a:latin typeface="맑은 고딕"/>
                <a:ea typeface="맑은 고딕"/>
              </a:rPr>
              <a:t>총 9점</a:t>
            </a:r>
          </a:p>
        </p:txBody>
      </p:sp>
    </p:spTree>
    <p:extLst>
      <p:ext uri="{BB962C8B-B14F-4D97-AF65-F5344CB8AC3E}">
        <p14:creationId xmlns:p14="http://schemas.microsoft.com/office/powerpoint/2010/main" val="347693303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9456" y="73152"/>
            <a:ext cx="10058400" cy="365760"/>
          </a:xfrm>
          <a:prstGeom prst="rect">
            <a:avLst/>
          </a:prstGeom>
          <a:noFill/>
        </p:spPr>
        <p:txBody>
          <a:bodyPr wrap="square" lIns="0" tIns="0" rIns="0" bIns="0" anchor="ctr">
            <a:spAutoFit/>
          </a:bodyPr>
          <a:lstStyle/>
          <a:p>
            <a:pPr algn="l"/>
            <a:r>
              <a:rPr sz="1900" b="1" i="0">
                <a:solidFill>
                  <a:srgbClr val="262626"/>
                </a:solidFill>
                <a:latin typeface="맑은 고딕"/>
                <a:ea typeface="맑은 고딕"/>
              </a:rPr>
              <a:t>DP1. Data Migration 결정 구조 - 설계</a:t>
            </a:r>
          </a:p>
        </p:txBody>
      </p:sp>
      <p:sp>
        <p:nvSpPr>
          <p:cNvPr id="3" name="Rectangle 2"/>
          <p:cNvSpPr/>
          <p:nvPr/>
        </p:nvSpPr>
        <p:spPr>
          <a:xfrm>
            <a:off x="0" y="548640"/>
            <a:ext cx="7772400" cy="32918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 name="Rectangle 3"/>
          <p:cNvSpPr/>
          <p:nvPr/>
        </p:nvSpPr>
        <p:spPr>
          <a:xfrm>
            <a:off x="237744" y="598932"/>
            <a:ext cx="45720"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 name="TextBox 4"/>
          <p:cNvSpPr txBox="1"/>
          <p:nvPr/>
        </p:nvSpPr>
        <p:spPr>
          <a:xfrm>
            <a:off x="365760" y="548640"/>
            <a:ext cx="7223760" cy="329184"/>
          </a:xfrm>
          <a:prstGeom prst="rect">
            <a:avLst/>
          </a:prstGeom>
          <a:noFill/>
        </p:spPr>
        <p:txBody>
          <a:bodyPr wrap="square" lIns="0" tIns="0" rIns="0" bIns="0" anchor="ctr">
            <a:spAutoFit/>
          </a:bodyPr>
          <a:lstStyle/>
          <a:p>
            <a:pPr algn="l"/>
            <a:r>
              <a:rPr sz="1250" b="1" i="0">
                <a:solidFill>
                  <a:srgbClr val="FFFFFF"/>
                </a:solidFill>
                <a:latin typeface="맑은 고딕"/>
                <a:ea typeface="맑은 고딕"/>
              </a:rPr>
              <a:t>메모리 자원과 데이터 특성을 고려한 데이터 이동을 어디서 결정할 것인가</a:t>
            </a:r>
          </a:p>
        </p:txBody>
      </p:sp>
      <p:sp>
        <p:nvSpPr>
          <p:cNvPr id="6" name="Rectangle 5"/>
          <p:cNvSpPr/>
          <p:nvPr/>
        </p:nvSpPr>
        <p:spPr>
          <a:xfrm>
            <a:off x="7863840" y="548640"/>
            <a:ext cx="1289304" cy="155448"/>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C2 신규 Device SW</a:t>
            </a:r>
          </a:p>
        </p:txBody>
      </p:sp>
      <p:sp>
        <p:nvSpPr>
          <p:cNvPr id="7" name="Rectangle 6"/>
          <p:cNvSpPr/>
          <p:nvPr/>
        </p:nvSpPr>
        <p:spPr>
          <a:xfrm>
            <a:off x="9208008" y="548640"/>
            <a:ext cx="1289304"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F1 메모리 tier 간 복사</a:t>
            </a:r>
          </a:p>
        </p:txBody>
      </p:sp>
      <p:sp>
        <p:nvSpPr>
          <p:cNvPr id="8" name="Rectangle 7"/>
          <p:cNvSpPr/>
          <p:nvPr/>
        </p:nvSpPr>
        <p:spPr>
          <a:xfrm>
            <a:off x="10552176" y="548640"/>
            <a:ext cx="1289304" cy="1554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F2 데이터 이동 스케줄링</a:t>
            </a:r>
          </a:p>
        </p:txBody>
      </p:sp>
      <p:sp>
        <p:nvSpPr>
          <p:cNvPr id="9" name="Rectangle 8"/>
          <p:cNvSpPr/>
          <p:nvPr/>
        </p:nvSpPr>
        <p:spPr>
          <a:xfrm>
            <a:off x="7863840" y="717804"/>
            <a:ext cx="953262" cy="155448"/>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Q1 Throughput</a:t>
            </a:r>
          </a:p>
        </p:txBody>
      </p:sp>
      <p:sp>
        <p:nvSpPr>
          <p:cNvPr id="10" name="Rectangle 9"/>
          <p:cNvSpPr/>
          <p:nvPr/>
        </p:nvSpPr>
        <p:spPr>
          <a:xfrm>
            <a:off x="8871966" y="717804"/>
            <a:ext cx="953262"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Q2 HBM 점유율</a:t>
            </a:r>
          </a:p>
        </p:txBody>
      </p:sp>
      <p:sp>
        <p:nvSpPr>
          <p:cNvPr id="11" name="Rectangle 10"/>
          <p:cNvSpPr/>
          <p:nvPr/>
        </p:nvSpPr>
        <p:spPr>
          <a:xfrm>
            <a:off x="9880092" y="717804"/>
            <a:ext cx="953262"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Q3 변경용이성</a:t>
            </a:r>
          </a:p>
        </p:txBody>
      </p:sp>
      <p:sp>
        <p:nvSpPr>
          <p:cNvPr id="12" name="Rectangle 11"/>
          <p:cNvSpPr/>
          <p:nvPr/>
        </p:nvSpPr>
        <p:spPr>
          <a:xfrm>
            <a:off x="10888217" y="717804"/>
            <a:ext cx="953262" cy="155448"/>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Q4 확장성</a:t>
            </a:r>
          </a:p>
        </p:txBody>
      </p:sp>
      <p:sp>
        <p:nvSpPr>
          <p:cNvPr id="13" name="Rectangle 12"/>
          <p:cNvSpPr/>
          <p:nvPr/>
        </p:nvSpPr>
        <p:spPr>
          <a:xfrm>
            <a:off x="182880" y="950976"/>
            <a:ext cx="804672" cy="310896"/>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설계 안</a:t>
            </a:r>
          </a:p>
        </p:txBody>
      </p:sp>
      <p:sp>
        <p:nvSpPr>
          <p:cNvPr id="14" name="Rectangle 13"/>
          <p:cNvSpPr/>
          <p:nvPr/>
        </p:nvSpPr>
        <p:spPr>
          <a:xfrm>
            <a:off x="987552" y="950976"/>
            <a:ext cx="5138928" cy="3108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5" name="Rectangle 14"/>
          <p:cNvSpPr/>
          <p:nvPr/>
        </p:nvSpPr>
        <p:spPr>
          <a:xfrm>
            <a:off x="6126480" y="950976"/>
            <a:ext cx="5861304" cy="3108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6" name="Rectangle 15"/>
          <p:cNvSpPr/>
          <p:nvPr/>
        </p:nvSpPr>
        <p:spPr>
          <a:xfrm>
            <a:off x="182880" y="1261872"/>
            <a:ext cx="804672" cy="3493008"/>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7" name="Rectangle 16"/>
          <p:cNvSpPr/>
          <p:nvPr/>
        </p:nvSpPr>
        <p:spPr>
          <a:xfrm>
            <a:off x="987552" y="1261872"/>
            <a:ext cx="5138928" cy="349300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 name="Rectangle 17"/>
          <p:cNvSpPr/>
          <p:nvPr/>
        </p:nvSpPr>
        <p:spPr>
          <a:xfrm>
            <a:off x="6126480" y="1261872"/>
            <a:ext cx="5861304" cy="349300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9" name="Rectangle 18"/>
          <p:cNvSpPr/>
          <p:nvPr/>
        </p:nvSpPr>
        <p:spPr>
          <a:xfrm>
            <a:off x="182880" y="4754880"/>
            <a:ext cx="804672" cy="530352"/>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장점</a:t>
            </a:r>
          </a:p>
        </p:txBody>
      </p:sp>
      <p:sp>
        <p:nvSpPr>
          <p:cNvPr id="20" name="Rectangle 19"/>
          <p:cNvSpPr/>
          <p:nvPr/>
        </p:nvSpPr>
        <p:spPr>
          <a:xfrm>
            <a:off x="987552" y="4754880"/>
            <a:ext cx="5138928" cy="53035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1" name="Rectangle 20"/>
          <p:cNvSpPr/>
          <p:nvPr/>
        </p:nvSpPr>
        <p:spPr>
          <a:xfrm>
            <a:off x="6126480" y="4754880"/>
            <a:ext cx="5861304" cy="53035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2" name="Rectangle 21"/>
          <p:cNvSpPr/>
          <p:nvPr/>
        </p:nvSpPr>
        <p:spPr>
          <a:xfrm>
            <a:off x="182880" y="5285232"/>
            <a:ext cx="804672" cy="530352"/>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단점</a:t>
            </a:r>
          </a:p>
        </p:txBody>
      </p:sp>
      <p:sp>
        <p:nvSpPr>
          <p:cNvPr id="23" name="Rectangle 22"/>
          <p:cNvSpPr/>
          <p:nvPr/>
        </p:nvSpPr>
        <p:spPr>
          <a:xfrm>
            <a:off x="987552" y="5285232"/>
            <a:ext cx="5138928" cy="53035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4" name="Rectangle 23"/>
          <p:cNvSpPr/>
          <p:nvPr/>
        </p:nvSpPr>
        <p:spPr>
          <a:xfrm>
            <a:off x="6126480" y="5285232"/>
            <a:ext cx="5861304" cy="53035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5" name="Rectangle 24"/>
          <p:cNvSpPr/>
          <p:nvPr/>
        </p:nvSpPr>
        <p:spPr>
          <a:xfrm>
            <a:off x="182880" y="5815584"/>
            <a:ext cx="804672" cy="91440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0" i="0">
                <a:solidFill>
                  <a:srgbClr val="808080"/>
                </a:solidFill>
                <a:latin typeface="맑은 고딕"/>
                <a:ea typeface="맑은 고딕"/>
              </a:rPr>
              <a:t>Tradeoff</a:t>
            </a:r>
          </a:p>
        </p:txBody>
      </p:sp>
      <p:sp>
        <p:nvSpPr>
          <p:cNvPr id="26" name="Rectangle 25"/>
          <p:cNvSpPr/>
          <p:nvPr/>
        </p:nvSpPr>
        <p:spPr>
          <a:xfrm>
            <a:off x="987552" y="5815584"/>
            <a:ext cx="5138928" cy="9144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7" name="Rectangle 26"/>
          <p:cNvSpPr/>
          <p:nvPr/>
        </p:nvSpPr>
        <p:spPr>
          <a:xfrm>
            <a:off x="6126480" y="5815584"/>
            <a:ext cx="5861304" cy="9144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8" name="TextBox 27"/>
          <p:cNvSpPr txBox="1"/>
          <p:nvPr/>
        </p:nvSpPr>
        <p:spPr>
          <a:xfrm>
            <a:off x="182880" y="1975104"/>
            <a:ext cx="804672" cy="201168"/>
          </a:xfrm>
          <a:prstGeom prst="rect">
            <a:avLst/>
          </a:prstGeom>
          <a:noFill/>
        </p:spPr>
        <p:txBody>
          <a:bodyPr wrap="square" lIns="0" tIns="0" rIns="0" bIns="0" anchor="ctr">
            <a:spAutoFit/>
          </a:bodyPr>
          <a:lstStyle/>
          <a:p>
            <a:pPr algn="ctr"/>
            <a:r>
              <a:rPr sz="1050" b="0" i="0">
                <a:solidFill>
                  <a:srgbClr val="808080"/>
                </a:solidFill>
                <a:latin typeface="맑은 고딕"/>
                <a:ea typeface="맑은 고딕"/>
              </a:rPr>
              <a:t>구조</a:t>
            </a:r>
          </a:p>
        </p:txBody>
      </p:sp>
      <p:sp>
        <p:nvSpPr>
          <p:cNvPr id="29" name="Rectangle 28"/>
          <p:cNvSpPr/>
          <p:nvPr/>
        </p:nvSpPr>
        <p:spPr>
          <a:xfrm>
            <a:off x="214884" y="2980944"/>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0" name="TextBox 29"/>
          <p:cNvSpPr txBox="1"/>
          <p:nvPr/>
        </p:nvSpPr>
        <p:spPr>
          <a:xfrm>
            <a:off x="242316" y="3026664"/>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1" name="Rectangle 30"/>
          <p:cNvSpPr/>
          <p:nvPr/>
        </p:nvSpPr>
        <p:spPr>
          <a:xfrm>
            <a:off x="242316" y="3218688"/>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2" name="Rectangle 31"/>
          <p:cNvSpPr/>
          <p:nvPr/>
        </p:nvSpPr>
        <p:spPr>
          <a:xfrm>
            <a:off x="242316" y="3433572"/>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3" name="Rectangle 32"/>
          <p:cNvSpPr/>
          <p:nvPr/>
        </p:nvSpPr>
        <p:spPr>
          <a:xfrm>
            <a:off x="242316" y="3648456"/>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4" name="Rectangle 33"/>
          <p:cNvSpPr/>
          <p:nvPr/>
        </p:nvSpPr>
        <p:spPr>
          <a:xfrm>
            <a:off x="242316" y="3863339"/>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sp>
        <p:nvSpPr>
          <p:cNvPr id="35" name="TextBox 34"/>
          <p:cNvSpPr txBox="1"/>
          <p:nvPr/>
        </p:nvSpPr>
        <p:spPr>
          <a:xfrm>
            <a:off x="1097280" y="969264"/>
            <a:ext cx="4919472" cy="274320"/>
          </a:xfrm>
          <a:prstGeom prst="rect">
            <a:avLst/>
          </a:prstGeom>
          <a:noFill/>
        </p:spPr>
        <p:txBody>
          <a:bodyPr wrap="square" lIns="0" tIns="0" rIns="0" bIns="0" anchor="t">
            <a:spAutoFit/>
          </a:bodyPr>
          <a:lstStyle/>
          <a:p>
            <a:pPr algn="l">
              <a:lnSpc>
                <a:spcPct val="100000"/>
              </a:lnSpc>
            </a:pPr>
            <a:r>
              <a:rPr sz="1050" b="1" i="0">
                <a:solidFill>
                  <a:srgbClr val="262626"/>
                </a:solidFill>
                <a:latin typeface="맑은 고딕"/>
                <a:ea typeface="맑은 고딕"/>
              </a:rPr>
              <a:t>(1안) 결정을 한 곳에 모으는 중앙 조정 구조</a:t>
            </a:r>
          </a:p>
          <a:p>
            <a:pPr algn="l">
              <a:lnSpc>
                <a:spcPct val="100000"/>
              </a:lnSpc>
            </a:pPr>
            <a:r>
              <a:rPr sz="850" b="0" i="0">
                <a:solidFill>
                  <a:srgbClr val="C55A11"/>
                </a:solidFill>
                <a:latin typeface="맑은 고딕"/>
                <a:ea typeface="맑은 고딕"/>
              </a:rPr>
              <a:t>Centralized Arbiter   ·   3-plane   ·   star topology</a:t>
            </a:r>
          </a:p>
        </p:txBody>
      </p:sp>
      <p:sp>
        <p:nvSpPr>
          <p:cNvPr id="36" name="TextBox 35"/>
          <p:cNvSpPr txBox="1"/>
          <p:nvPr/>
        </p:nvSpPr>
        <p:spPr>
          <a:xfrm>
            <a:off x="6236208" y="969264"/>
            <a:ext cx="5641848" cy="274320"/>
          </a:xfrm>
          <a:prstGeom prst="rect">
            <a:avLst/>
          </a:prstGeom>
          <a:noFill/>
        </p:spPr>
        <p:txBody>
          <a:bodyPr wrap="square" lIns="0" tIns="0" rIns="0" bIns="0" anchor="t">
            <a:spAutoFit/>
          </a:bodyPr>
          <a:lstStyle/>
          <a:p>
            <a:pPr algn="l">
              <a:lnSpc>
                <a:spcPct val="100000"/>
              </a:lnSpc>
            </a:pPr>
            <a:r>
              <a:rPr sz="1050" b="1" i="0">
                <a:solidFill>
                  <a:srgbClr val="262626"/>
                </a:solidFill>
                <a:latin typeface="맑은 고딕"/>
                <a:ea typeface="맑은 고딕"/>
              </a:rPr>
              <a:t>(2안) 결정을 tier 마다 두는 분산 소유 구조</a:t>
            </a:r>
          </a:p>
          <a:p>
            <a:pPr algn="l">
              <a:lnSpc>
                <a:spcPct val="100000"/>
              </a:lnSpc>
            </a:pPr>
            <a:r>
              <a:rPr sz="850" b="0" i="0">
                <a:solidFill>
                  <a:srgbClr val="C55A11"/>
                </a:solidFill>
                <a:latin typeface="맑은 고딕"/>
                <a:ea typeface="맑은 고딕"/>
              </a:rPr>
              <a:t>Owner-local Decider   ·   2-plane   ·   mesh topology</a:t>
            </a:r>
          </a:p>
        </p:txBody>
      </p:sp>
      <p:sp>
        <p:nvSpPr>
          <p:cNvPr id="37" name="TextBox 36"/>
          <p:cNvSpPr txBox="1"/>
          <p:nvPr/>
        </p:nvSpPr>
        <p:spPr>
          <a:xfrm>
            <a:off x="1097280" y="1298448"/>
            <a:ext cx="4919472" cy="155448"/>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“전역 메모리 총량을 보는 단일 조정자가 모든 tier 의 이동을 명령”</a:t>
            </a:r>
          </a:p>
        </p:txBody>
      </p:sp>
      <p:sp>
        <p:nvSpPr>
          <p:cNvPr id="38" name="Rectangle 37"/>
          <p:cNvSpPr/>
          <p:nvPr/>
        </p:nvSpPr>
        <p:spPr>
          <a:xfrm>
            <a:off x="1097280" y="1499616"/>
            <a:ext cx="4919472" cy="822960"/>
          </a:xfrm>
          <a:prstGeom prst="rect">
            <a:avLst/>
          </a:prstGeom>
          <a:solidFill>
            <a:srgbClr val="EAF2FB"/>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 name="Rectangle 38"/>
          <p:cNvSpPr/>
          <p:nvPr/>
        </p:nvSpPr>
        <p:spPr>
          <a:xfrm>
            <a:off x="1097280" y="1499616"/>
            <a:ext cx="4919472" cy="173736"/>
          </a:xfrm>
          <a:prstGeom prst="rect">
            <a:avLst/>
          </a:prstGeom>
          <a:solidFill>
            <a:srgbClr val="1F6FB5"/>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«Control Plane»   결정 지점 — 시스템 내 단 1곳</a:t>
            </a:r>
          </a:p>
        </p:txBody>
      </p:sp>
      <p:sp>
        <p:nvSpPr>
          <p:cNvPr id="40" name="Rectangle 39"/>
          <p:cNvSpPr/>
          <p:nvPr/>
        </p:nvSpPr>
        <p:spPr>
          <a:xfrm>
            <a:off x="1207008" y="1719072"/>
            <a:ext cx="1426464" cy="36576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404040"/>
                </a:solidFill>
                <a:latin typeface="맑은 고딕"/>
                <a:ea typeface="맑은 고딕"/>
              </a:rPr>
              <a:t>Policy / Setpoint Config</a:t>
            </a:r>
          </a:p>
          <a:p>
            <a:pPr algn="ctr">
              <a:lnSpc>
                <a:spcPct val="92000"/>
              </a:lnSpc>
            </a:pPr>
            <a:r>
              <a:rPr sz="700" b="0" i="0">
                <a:solidFill>
                  <a:srgbClr val="808080"/>
                </a:solidFill>
                <a:latin typeface="맑은 고딕"/>
                <a:ea typeface="맑은 고딕"/>
              </a:rPr>
              <a:t>HBM 점유 목표치</a:t>
            </a:r>
          </a:p>
        </p:txBody>
      </p:sp>
      <p:cxnSp>
        <p:nvCxnSpPr>
          <p:cNvPr id="41" name="Connector 40"/>
          <p:cNvCxnSpPr/>
          <p:nvPr/>
        </p:nvCxnSpPr>
        <p:spPr>
          <a:xfrm>
            <a:off x="2633472" y="1901952"/>
            <a:ext cx="23774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871216" y="1682496"/>
            <a:ext cx="2157984" cy="43891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7F5F00"/>
                </a:solidFill>
                <a:latin typeface="맑은 고딕"/>
                <a:ea typeface="맑은 고딕"/>
              </a:rPr>
              <a:t>③ Migration Arbiter</a:t>
            </a:r>
          </a:p>
          <a:p>
            <a:pPr algn="ctr">
              <a:lnSpc>
                <a:spcPct val="92000"/>
              </a:lnSpc>
            </a:pPr>
            <a:r>
              <a:rPr sz="720" b="0" i="0">
                <a:solidFill>
                  <a:srgbClr val="7F5F00"/>
                </a:solidFill>
                <a:latin typeface="맑은 고딕"/>
                <a:ea typeface="맑은 고딕"/>
              </a:rPr>
              <a:t>전역 상태 소유 · 전 tier 배치 산출</a:t>
            </a:r>
          </a:p>
        </p:txBody>
      </p:sp>
      <p:sp>
        <p:nvSpPr>
          <p:cNvPr id="43" name="TextBox 42"/>
          <p:cNvSpPr txBox="1"/>
          <p:nvPr/>
        </p:nvSpPr>
        <p:spPr>
          <a:xfrm>
            <a:off x="1207008" y="2121408"/>
            <a:ext cx="3822191" cy="146304"/>
          </a:xfrm>
          <a:prstGeom prst="rect">
            <a:avLst/>
          </a:prstGeom>
          <a:noFill/>
        </p:spPr>
        <p:txBody>
          <a:bodyPr wrap="square" lIns="0" tIns="0" rIns="0" bIns="0" anchor="ctr">
            <a:spAutoFit/>
          </a:bodyPr>
          <a:lstStyle/>
          <a:p>
            <a:pPr algn="l"/>
            <a:r>
              <a:rPr sz="700" b="0" i="0">
                <a:solidFill>
                  <a:srgbClr val="7F5F00"/>
                </a:solidFill>
                <a:latin typeface="맑은 고딕"/>
                <a:ea typeface="맑은 고딕"/>
              </a:rPr>
              <a:t>결정 모듈이 하나뿐 — 모든 이동이 이 지점을 직렬 통과</a:t>
            </a:r>
          </a:p>
        </p:txBody>
      </p:sp>
      <p:sp>
        <p:nvSpPr>
          <p:cNvPr id="44" name="Rectangle 43"/>
          <p:cNvSpPr/>
          <p:nvPr/>
        </p:nvSpPr>
        <p:spPr>
          <a:xfrm>
            <a:off x="1097280" y="2487168"/>
            <a:ext cx="2231136" cy="1316736"/>
          </a:xfrm>
          <a:prstGeom prst="rect">
            <a:avLst/>
          </a:prstGeom>
          <a:solidFill>
            <a:srgbClr val="EAF2FB"/>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5" name="Rectangle 44"/>
          <p:cNvSpPr/>
          <p:nvPr/>
        </p:nvSpPr>
        <p:spPr>
          <a:xfrm>
            <a:off x="1097280" y="2487168"/>
            <a:ext cx="2231136" cy="173736"/>
          </a:xfrm>
          <a:prstGeom prst="rect">
            <a:avLst/>
          </a:prstGeom>
          <a:solidFill>
            <a:srgbClr val="1F6FB5"/>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«Resource Plane»   전역 집계 상태 1개</a:t>
            </a:r>
          </a:p>
        </p:txBody>
      </p:sp>
      <p:sp>
        <p:nvSpPr>
          <p:cNvPr id="46" name="Rectangle 45"/>
          <p:cNvSpPr/>
          <p:nvPr/>
        </p:nvSpPr>
        <p:spPr>
          <a:xfrm>
            <a:off x="1207008" y="2724912"/>
            <a:ext cx="2011680" cy="36576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7F5F00"/>
                </a:solidFill>
                <a:latin typeface="맑은 고딕"/>
                <a:ea typeface="맑은 고딕"/>
              </a:rPr>
              <a:t>② Global State Aggregator</a:t>
            </a:r>
          </a:p>
          <a:p>
            <a:pPr algn="ctr">
              <a:lnSpc>
                <a:spcPct val="92000"/>
              </a:lnSpc>
            </a:pPr>
            <a:r>
              <a:rPr sz="700" b="0" i="0">
                <a:solidFill>
                  <a:srgbClr val="7F5F00"/>
                </a:solidFill>
                <a:latin typeface="맑은 고딕"/>
                <a:ea typeface="맑은 고딕"/>
              </a:rPr>
              <a:t>전역 상태벡터 1개 (스칼라 집계)</a:t>
            </a:r>
          </a:p>
        </p:txBody>
      </p:sp>
      <p:sp>
        <p:nvSpPr>
          <p:cNvPr id="47" name="Rectangle 46"/>
          <p:cNvSpPr/>
          <p:nvPr/>
        </p:nvSpPr>
        <p:spPr>
          <a:xfrm>
            <a:off x="1207008" y="3163824"/>
            <a:ext cx="2011680"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① Telemetry Collector</a:t>
            </a:r>
          </a:p>
        </p:txBody>
      </p:sp>
      <p:sp>
        <p:nvSpPr>
          <p:cNvPr id="48" name="Rectangle 47"/>
          <p:cNvSpPr/>
          <p:nvPr/>
        </p:nvSpPr>
        <p:spPr>
          <a:xfrm>
            <a:off x="1207008" y="3474720"/>
            <a:ext cx="2011680"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 Registry</a:t>
            </a:r>
          </a:p>
        </p:txBody>
      </p:sp>
      <p:cxnSp>
        <p:nvCxnSpPr>
          <p:cNvPr id="49" name="Connector 48"/>
          <p:cNvCxnSpPr/>
          <p:nvPr/>
        </p:nvCxnSpPr>
        <p:spPr>
          <a:xfrm flipV="1">
            <a:off x="2212848" y="3090672"/>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2212848" y="2322576"/>
            <a:ext cx="0" cy="164592"/>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2299716" y="2327148"/>
            <a:ext cx="155448" cy="15544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52" name="Rectangle 51"/>
          <p:cNvSpPr/>
          <p:nvPr/>
        </p:nvSpPr>
        <p:spPr>
          <a:xfrm>
            <a:off x="3694176" y="2487168"/>
            <a:ext cx="2322576" cy="1316736"/>
          </a:xfrm>
          <a:prstGeom prst="rect">
            <a:avLst/>
          </a:prstGeom>
          <a:solidFill>
            <a:srgbClr val="FAFAFA"/>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3" name="Rectangle 52"/>
          <p:cNvSpPr/>
          <p:nvPr/>
        </p:nvSpPr>
        <p:spPr>
          <a:xfrm>
            <a:off x="3694176" y="2487168"/>
            <a:ext cx="2322576" cy="17373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«Data Plane»   명령 수행 (정책 없음)</a:t>
            </a:r>
          </a:p>
        </p:txBody>
      </p:sp>
      <p:sp>
        <p:nvSpPr>
          <p:cNvPr id="54" name="Rectangle 53"/>
          <p:cNvSpPr/>
          <p:nvPr/>
        </p:nvSpPr>
        <p:spPr>
          <a:xfrm>
            <a:off x="3785615" y="2724912"/>
            <a:ext cx="2139696" cy="21945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Migration Executor — HBM</a:t>
            </a:r>
          </a:p>
        </p:txBody>
      </p:sp>
      <p:sp>
        <p:nvSpPr>
          <p:cNvPr id="55" name="Rectangle 54"/>
          <p:cNvSpPr/>
          <p:nvPr/>
        </p:nvSpPr>
        <p:spPr>
          <a:xfrm>
            <a:off x="3785615" y="2980944"/>
            <a:ext cx="2139696" cy="21945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Migration Executor — DRAM</a:t>
            </a:r>
          </a:p>
        </p:txBody>
      </p:sp>
      <p:sp>
        <p:nvSpPr>
          <p:cNvPr id="56" name="Rectangle 55"/>
          <p:cNvSpPr/>
          <p:nvPr/>
        </p:nvSpPr>
        <p:spPr>
          <a:xfrm>
            <a:off x="3785615" y="3236976"/>
            <a:ext cx="2139696" cy="21945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Migration Executor — CXL / SSD</a:t>
            </a:r>
          </a:p>
        </p:txBody>
      </p:sp>
      <p:sp>
        <p:nvSpPr>
          <p:cNvPr id="57" name="Rectangle 56"/>
          <p:cNvSpPr/>
          <p:nvPr/>
        </p:nvSpPr>
        <p:spPr>
          <a:xfrm>
            <a:off x="3785615" y="3529584"/>
            <a:ext cx="2139696"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⑤ Transfer Handler  (bulk DMA)</a:t>
            </a:r>
          </a:p>
        </p:txBody>
      </p:sp>
      <p:cxnSp>
        <p:nvCxnSpPr>
          <p:cNvPr id="58" name="Connector 57"/>
          <p:cNvCxnSpPr/>
          <p:nvPr/>
        </p:nvCxnSpPr>
        <p:spPr>
          <a:xfrm>
            <a:off x="4855464" y="3456432"/>
            <a:ext cx="0" cy="73152"/>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950208" y="2121408"/>
            <a:ext cx="0" cy="164592"/>
          </a:xfrm>
          <a:prstGeom prst="line">
            <a:avLst/>
          </a:prstGeom>
          <a:ln w="1270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3511296" y="2286000"/>
            <a:ext cx="438912" cy="0"/>
          </a:xfrm>
          <a:prstGeom prst="line">
            <a:avLst/>
          </a:prstGeom>
          <a:ln w="1270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511296" y="2286000"/>
            <a:ext cx="0" cy="1097280"/>
          </a:xfrm>
          <a:prstGeom prst="line">
            <a:avLst/>
          </a:prstGeom>
          <a:ln w="1270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511296" y="2834640"/>
            <a:ext cx="274319"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511296" y="3090672"/>
            <a:ext cx="274319"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511296" y="3346704"/>
            <a:ext cx="274319"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4037076" y="2125980"/>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sp>
        <p:nvSpPr>
          <p:cNvPr id="66" name="TextBox 65"/>
          <p:cNvSpPr txBox="1"/>
          <p:nvPr/>
        </p:nvSpPr>
        <p:spPr>
          <a:xfrm>
            <a:off x="4169663" y="2340864"/>
            <a:ext cx="1188720" cy="128016"/>
          </a:xfrm>
          <a:prstGeom prst="rect">
            <a:avLst/>
          </a:prstGeom>
          <a:noFill/>
        </p:spPr>
        <p:txBody>
          <a:bodyPr wrap="square" lIns="0" tIns="0" rIns="0" bIns="0" anchor="ctr">
            <a:spAutoFit/>
          </a:bodyPr>
          <a:lstStyle/>
          <a:p>
            <a:pPr algn="l"/>
            <a:r>
              <a:rPr sz="680" b="0" i="0">
                <a:solidFill>
                  <a:srgbClr val="7F5F00"/>
                </a:solidFill>
                <a:latin typeface="맑은 고딕"/>
                <a:ea typeface="맑은 고딕"/>
              </a:rPr>
              <a:t>1 : N 명령 push</a:t>
            </a:r>
          </a:p>
        </p:txBody>
      </p:sp>
      <p:cxnSp>
        <p:nvCxnSpPr>
          <p:cNvPr id="67" name="Connector 66"/>
          <p:cNvCxnSpPr/>
          <p:nvPr/>
        </p:nvCxnSpPr>
        <p:spPr>
          <a:xfrm>
            <a:off x="4855464" y="3767328"/>
            <a:ext cx="0" cy="18288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2212848" y="3950208"/>
            <a:ext cx="2642616"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2212848" y="3803904"/>
            <a:ext cx="0" cy="146304"/>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579876" y="3872484"/>
            <a:ext cx="155448" cy="155448"/>
          </a:xfrm>
          <a:prstGeom prst="ellips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71" name="Connector 70"/>
          <p:cNvCxnSpPr/>
          <p:nvPr/>
        </p:nvCxnSpPr>
        <p:spPr>
          <a:xfrm flipV="1">
            <a:off x="1463040" y="3803904"/>
            <a:ext cx="0" cy="27432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1097280" y="4078224"/>
            <a:ext cx="4919472" cy="25603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Common Memory Backend Interface</a:t>
            </a:r>
          </a:p>
        </p:txBody>
      </p:sp>
      <p:sp>
        <p:nvSpPr>
          <p:cNvPr id="73" name="TextBox 72"/>
          <p:cNvSpPr txBox="1"/>
          <p:nvPr/>
        </p:nvSpPr>
        <p:spPr>
          <a:xfrm>
            <a:off x="1115568" y="4407408"/>
            <a:ext cx="4864608" cy="310896"/>
          </a:xfrm>
          <a:prstGeom prst="rect">
            <a:avLst/>
          </a:prstGeom>
          <a:noFill/>
        </p:spPr>
        <p:txBody>
          <a:bodyPr wrap="square" lIns="0" tIns="0" rIns="0" bIns="0" anchor="t">
            <a:spAutoFit/>
          </a:bodyPr>
          <a:lstStyle/>
          <a:p>
            <a:pPr algn="l">
              <a:lnSpc>
                <a:spcPct val="102000"/>
              </a:lnSpc>
            </a:pPr>
            <a:r>
              <a:rPr sz="680" b="0" i="0">
                <a:solidFill>
                  <a:srgbClr val="808080"/>
                </a:solidFill>
                <a:latin typeface="맑은 고딕"/>
                <a:ea typeface="맑은 고딕"/>
              </a:rPr>
              <a:t>① Telemetry 주기 수집   ② 전역 상태 1개로 집계   ③ setpoint 대비 전 tier 배치 산출</a:t>
            </a:r>
          </a:p>
          <a:p>
            <a:pPr algn="l">
              <a:lnSpc>
                <a:spcPct val="102000"/>
              </a:lnSpc>
            </a:pPr>
            <a:r>
              <a:rPr sz="680" b="0" i="0">
                <a:solidFill>
                  <a:srgbClr val="808080"/>
                </a:solidFill>
                <a:latin typeface="맑은 고딕"/>
                <a:ea typeface="맑은 고딕"/>
              </a:rPr>
              <a:t>④ tier 별 Executor 로 명령 (1:N)   ⑤ bulk DMA 이동   ⑥ 상태 재측정 되먹임 → ②</a:t>
            </a:r>
          </a:p>
          <a:p>
            <a:pPr algn="l">
              <a:lnSpc>
                <a:spcPct val="102000"/>
              </a:lnSpc>
            </a:pPr>
            <a:r>
              <a:rPr sz="680" b="0" i="0">
                <a:solidFill>
                  <a:srgbClr val="808080"/>
                </a:solidFill>
                <a:latin typeface="맑은 고딕"/>
                <a:ea typeface="맑은 고딕"/>
              </a:rPr>
              <a:t>── ▶ 명령 · 제어 흐름      - - ▶ 되먹임 (비동기)      데이터 경로에 결정 로직 없음 (무침투)</a:t>
            </a:r>
          </a:p>
        </p:txBody>
      </p:sp>
      <p:sp>
        <p:nvSpPr>
          <p:cNvPr id="74" name="TextBox 73"/>
          <p:cNvSpPr txBox="1"/>
          <p:nvPr/>
        </p:nvSpPr>
        <p:spPr>
          <a:xfrm>
            <a:off x="6236208" y="1298448"/>
            <a:ext cx="5641848" cy="155448"/>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“각 tier 가 자기 영역 객체의 접근 특성만 보고 스스로 결정하고 직접 협상”</a:t>
            </a:r>
          </a:p>
        </p:txBody>
      </p:sp>
      <p:sp>
        <p:nvSpPr>
          <p:cNvPr id="75" name="Rectangle 74"/>
          <p:cNvSpPr/>
          <p:nvPr/>
        </p:nvSpPr>
        <p:spPr>
          <a:xfrm>
            <a:off x="6236208" y="1499616"/>
            <a:ext cx="5641848" cy="237744"/>
          </a:xfrm>
          <a:prstGeom prst="rect">
            <a:avLst/>
          </a:prstGeom>
          <a:noFill/>
          <a:ln w="952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7B1A1A"/>
                </a:solidFill>
                <a:latin typeface="맑은 고딕"/>
                <a:ea typeface="맑은 고딕"/>
              </a:rPr>
              <a:t>«Control Plane»   부재 — 전역 정책 모듈이 존재하지 않음</a:t>
            </a:r>
          </a:p>
        </p:txBody>
      </p:sp>
      <p:sp>
        <p:nvSpPr>
          <p:cNvPr id="76" name="Rectangle 75"/>
          <p:cNvSpPr/>
          <p:nvPr/>
        </p:nvSpPr>
        <p:spPr>
          <a:xfrm>
            <a:off x="6236208" y="1828800"/>
            <a:ext cx="5641848" cy="32918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404040"/>
                </a:solidFill>
                <a:latin typeface="맑은 고딕"/>
                <a:ea typeface="맑은 고딕"/>
              </a:rPr>
              <a:t>Object Ownership Directory</a:t>
            </a:r>
          </a:p>
          <a:p>
            <a:pPr algn="ctr">
              <a:lnSpc>
                <a:spcPct val="92000"/>
              </a:lnSpc>
            </a:pPr>
            <a:r>
              <a:rPr sz="700" b="0" i="0">
                <a:solidFill>
                  <a:srgbClr val="808080"/>
                </a:solidFill>
                <a:latin typeface="맑은 고딕"/>
                <a:ea typeface="맑은 고딕"/>
              </a:rPr>
              <a:t>객체 → 소유 Owner 매핑 조회만  ·  정책 판단 없음 (중앙 제어 모듈 아님)</a:t>
            </a:r>
          </a:p>
        </p:txBody>
      </p:sp>
      <p:sp>
        <p:nvSpPr>
          <p:cNvPr id="77" name="Rectangle 76"/>
          <p:cNvSpPr/>
          <p:nvPr/>
        </p:nvSpPr>
        <p:spPr>
          <a:xfrm>
            <a:off x="6236208" y="2267712"/>
            <a:ext cx="1737360" cy="1426464"/>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8" name="Rectangle 77"/>
          <p:cNvSpPr/>
          <p:nvPr/>
        </p:nvSpPr>
        <p:spPr>
          <a:xfrm>
            <a:off x="6236208" y="2267712"/>
            <a:ext cx="1737360" cy="173736"/>
          </a:xfrm>
          <a:prstGeom prst="rect">
            <a:avLst/>
          </a:prstGeom>
          <a:solidFill>
            <a:srgbClr val="C55A11"/>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Tier Owner — HBM</a:t>
            </a:r>
          </a:p>
        </p:txBody>
      </p:sp>
      <p:sp>
        <p:nvSpPr>
          <p:cNvPr id="79" name="Rectangle 78"/>
          <p:cNvSpPr/>
          <p:nvPr/>
        </p:nvSpPr>
        <p:spPr>
          <a:xfrm>
            <a:off x="6473952" y="2487168"/>
            <a:ext cx="1426464" cy="25603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① Access Tap</a:t>
            </a:r>
          </a:p>
          <a:p>
            <a:pPr algn="ctr">
              <a:lnSpc>
                <a:spcPct val="92000"/>
              </a:lnSpc>
            </a:pPr>
            <a:r>
              <a:rPr sz="680" b="0" i="0">
                <a:solidFill>
                  <a:srgbClr val="7F5F00"/>
                </a:solidFill>
                <a:latin typeface="맑은 고딕"/>
                <a:ea typeface="맑은 고딕"/>
              </a:rPr>
              <a:t>데이터 경로 인라인 포착</a:t>
            </a:r>
          </a:p>
        </p:txBody>
      </p:sp>
      <p:sp>
        <p:nvSpPr>
          <p:cNvPr id="80" name="Rectangle 79"/>
          <p:cNvSpPr/>
          <p:nvPr/>
        </p:nvSpPr>
        <p:spPr>
          <a:xfrm>
            <a:off x="6473952" y="2779776"/>
            <a:ext cx="1426464"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② Local Decider</a:t>
            </a:r>
          </a:p>
          <a:p>
            <a:pPr algn="ctr">
              <a:lnSpc>
                <a:spcPct val="92000"/>
              </a:lnSpc>
            </a:pPr>
            <a:r>
              <a:rPr sz="680" b="0" i="0">
                <a:solidFill>
                  <a:srgbClr val="7F5F00"/>
                </a:solidFill>
                <a:latin typeface="맑은 고딕"/>
                <a:ea typeface="맑은 고딕"/>
              </a:rPr>
              <a:t>로컬 객체 특성만 판단</a:t>
            </a:r>
          </a:p>
        </p:txBody>
      </p:sp>
      <p:sp>
        <p:nvSpPr>
          <p:cNvPr id="81" name="Rectangle 80"/>
          <p:cNvSpPr/>
          <p:nvPr/>
        </p:nvSpPr>
        <p:spPr>
          <a:xfrm>
            <a:off x="6473952" y="3108960"/>
            <a:ext cx="1426464"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404040"/>
                </a:solidFill>
                <a:latin typeface="맑은 고딕"/>
                <a:ea typeface="맑은 고딕"/>
              </a:rPr>
              <a:t>⑤ Local Executor</a:t>
            </a:r>
          </a:p>
          <a:p>
            <a:pPr algn="ctr">
              <a:lnSpc>
                <a:spcPct val="92000"/>
              </a:lnSpc>
            </a:pPr>
            <a:r>
              <a:rPr sz="680" b="0" i="0">
                <a:solidFill>
                  <a:srgbClr val="808080"/>
                </a:solidFill>
                <a:latin typeface="맑은 고딕"/>
                <a:ea typeface="맑은 고딕"/>
              </a:rPr>
              <a:t>Transfer Handler 직접 호출</a:t>
            </a:r>
          </a:p>
        </p:txBody>
      </p:sp>
      <p:sp>
        <p:nvSpPr>
          <p:cNvPr id="82" name="TextBox 81"/>
          <p:cNvSpPr txBox="1"/>
          <p:nvPr/>
        </p:nvSpPr>
        <p:spPr>
          <a:xfrm>
            <a:off x="6473952" y="3419856"/>
            <a:ext cx="1426464" cy="237744"/>
          </a:xfrm>
          <a:prstGeom prst="rect">
            <a:avLst/>
          </a:prstGeom>
          <a:noFill/>
        </p:spPr>
        <p:txBody>
          <a:bodyPr wrap="square" lIns="0" tIns="0" rIns="0" bIns="0" anchor="t">
            <a:spAutoFit/>
          </a:bodyPr>
          <a:lstStyle/>
          <a:p>
            <a:pPr algn="ctr">
              <a:lnSpc>
                <a:spcPct val="105000"/>
              </a:lnSpc>
            </a:pPr>
            <a:r>
              <a:rPr sz="650" b="0" i="0">
                <a:solidFill>
                  <a:srgbClr val="C55A11"/>
                </a:solidFill>
                <a:latin typeface="맑은 고딕"/>
                <a:ea typeface="맑은 고딕"/>
              </a:rPr>
              <a:t>전역 총량 정보 없음</a:t>
            </a:r>
          </a:p>
          <a:p>
            <a:pPr algn="ctr">
              <a:lnSpc>
                <a:spcPct val="105000"/>
              </a:lnSpc>
            </a:pPr>
            <a:r>
              <a:rPr sz="650" b="0" i="0">
                <a:solidFill>
                  <a:srgbClr val="C55A11"/>
                </a:solidFill>
                <a:latin typeface="맑은 고딕"/>
                <a:ea typeface="맑은 고딕"/>
              </a:rPr>
              <a:t>결정 범위 = 로컬</a:t>
            </a:r>
          </a:p>
        </p:txBody>
      </p:sp>
      <p:cxnSp>
        <p:nvCxnSpPr>
          <p:cNvPr id="83" name="Connector 82"/>
          <p:cNvCxnSpPr/>
          <p:nvPr/>
        </p:nvCxnSpPr>
        <p:spPr>
          <a:xfrm>
            <a:off x="7187184" y="2743200"/>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187184" y="3072384"/>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7187184" y="2157984"/>
            <a:ext cx="0" cy="1097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187184" y="3694176"/>
            <a:ext cx="0" cy="36576"/>
          </a:xfrm>
          <a:prstGeom prst="line">
            <a:avLst/>
          </a:prstGeom>
          <a:ln w="12700">
            <a:solidFill>
              <a:srgbClr val="C55A11"/>
            </a:solidFill>
            <a:prstDash val="dash"/>
          </a:ln>
        </p:spPr>
        <p:style>
          <a:lnRef idx="2">
            <a:schemeClr val="accent1"/>
          </a:lnRef>
          <a:fillRef idx="0">
            <a:schemeClr val="accent1"/>
          </a:fillRef>
          <a:effectRef idx="1">
            <a:schemeClr val="accent1"/>
          </a:effectRef>
          <a:fontRef idx="minor">
            <a:schemeClr val="tx1"/>
          </a:fontRef>
        </p:style>
      </p:cxnSp>
      <p:sp>
        <p:nvSpPr>
          <p:cNvPr id="87" name="Rectangle 86"/>
          <p:cNvSpPr/>
          <p:nvPr/>
        </p:nvSpPr>
        <p:spPr>
          <a:xfrm>
            <a:off x="8188452" y="2267712"/>
            <a:ext cx="1737360" cy="1426464"/>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8" name="Rectangle 87"/>
          <p:cNvSpPr/>
          <p:nvPr/>
        </p:nvSpPr>
        <p:spPr>
          <a:xfrm>
            <a:off x="8188452" y="2267712"/>
            <a:ext cx="1737360" cy="173736"/>
          </a:xfrm>
          <a:prstGeom prst="rect">
            <a:avLst/>
          </a:prstGeom>
          <a:solidFill>
            <a:srgbClr val="C55A11"/>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Tier Owner — DRAM</a:t>
            </a:r>
          </a:p>
        </p:txBody>
      </p:sp>
      <p:sp>
        <p:nvSpPr>
          <p:cNvPr id="89" name="Rectangle 88"/>
          <p:cNvSpPr/>
          <p:nvPr/>
        </p:nvSpPr>
        <p:spPr>
          <a:xfrm>
            <a:off x="8426196" y="2487168"/>
            <a:ext cx="1426464" cy="25603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① Access Tap</a:t>
            </a:r>
          </a:p>
          <a:p>
            <a:pPr algn="ctr">
              <a:lnSpc>
                <a:spcPct val="92000"/>
              </a:lnSpc>
            </a:pPr>
            <a:r>
              <a:rPr sz="680" b="0" i="0">
                <a:solidFill>
                  <a:srgbClr val="7F5F00"/>
                </a:solidFill>
                <a:latin typeface="맑은 고딕"/>
                <a:ea typeface="맑은 고딕"/>
              </a:rPr>
              <a:t>데이터 경로 인라인 포착</a:t>
            </a:r>
          </a:p>
        </p:txBody>
      </p:sp>
      <p:sp>
        <p:nvSpPr>
          <p:cNvPr id="90" name="Rectangle 89"/>
          <p:cNvSpPr/>
          <p:nvPr/>
        </p:nvSpPr>
        <p:spPr>
          <a:xfrm>
            <a:off x="8426196" y="2779776"/>
            <a:ext cx="1426464"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② Local Decider</a:t>
            </a:r>
          </a:p>
          <a:p>
            <a:pPr algn="ctr">
              <a:lnSpc>
                <a:spcPct val="92000"/>
              </a:lnSpc>
            </a:pPr>
            <a:r>
              <a:rPr sz="680" b="0" i="0">
                <a:solidFill>
                  <a:srgbClr val="7F5F00"/>
                </a:solidFill>
                <a:latin typeface="맑은 고딕"/>
                <a:ea typeface="맑은 고딕"/>
              </a:rPr>
              <a:t>로컬 객체 특성만 판단</a:t>
            </a:r>
          </a:p>
        </p:txBody>
      </p:sp>
      <p:sp>
        <p:nvSpPr>
          <p:cNvPr id="91" name="Rectangle 90"/>
          <p:cNvSpPr/>
          <p:nvPr/>
        </p:nvSpPr>
        <p:spPr>
          <a:xfrm>
            <a:off x="8426196" y="3108960"/>
            <a:ext cx="1426464"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404040"/>
                </a:solidFill>
                <a:latin typeface="맑은 고딕"/>
                <a:ea typeface="맑은 고딕"/>
              </a:rPr>
              <a:t>⑤ Local Executor</a:t>
            </a:r>
          </a:p>
          <a:p>
            <a:pPr algn="ctr">
              <a:lnSpc>
                <a:spcPct val="92000"/>
              </a:lnSpc>
            </a:pPr>
            <a:r>
              <a:rPr sz="680" b="0" i="0">
                <a:solidFill>
                  <a:srgbClr val="808080"/>
                </a:solidFill>
                <a:latin typeface="맑은 고딕"/>
                <a:ea typeface="맑은 고딕"/>
              </a:rPr>
              <a:t>Transfer Handler 직접 호출</a:t>
            </a:r>
          </a:p>
        </p:txBody>
      </p:sp>
      <p:sp>
        <p:nvSpPr>
          <p:cNvPr id="92" name="TextBox 91"/>
          <p:cNvSpPr txBox="1"/>
          <p:nvPr/>
        </p:nvSpPr>
        <p:spPr>
          <a:xfrm>
            <a:off x="8426196" y="3419856"/>
            <a:ext cx="1426464" cy="237744"/>
          </a:xfrm>
          <a:prstGeom prst="rect">
            <a:avLst/>
          </a:prstGeom>
          <a:noFill/>
        </p:spPr>
        <p:txBody>
          <a:bodyPr wrap="square" lIns="0" tIns="0" rIns="0" bIns="0" anchor="t">
            <a:spAutoFit/>
          </a:bodyPr>
          <a:lstStyle/>
          <a:p>
            <a:pPr algn="ctr">
              <a:lnSpc>
                <a:spcPct val="105000"/>
              </a:lnSpc>
            </a:pPr>
            <a:r>
              <a:rPr sz="650" b="0" i="0">
                <a:solidFill>
                  <a:srgbClr val="C55A11"/>
                </a:solidFill>
                <a:latin typeface="맑은 고딕"/>
                <a:ea typeface="맑은 고딕"/>
              </a:rPr>
              <a:t>전역 총량 정보 없음</a:t>
            </a:r>
          </a:p>
          <a:p>
            <a:pPr algn="ctr">
              <a:lnSpc>
                <a:spcPct val="105000"/>
              </a:lnSpc>
            </a:pPr>
            <a:r>
              <a:rPr sz="650" b="0" i="0">
                <a:solidFill>
                  <a:srgbClr val="C55A11"/>
                </a:solidFill>
                <a:latin typeface="맑은 고딕"/>
                <a:ea typeface="맑은 고딕"/>
              </a:rPr>
              <a:t>결정 범위 = 로컬</a:t>
            </a:r>
          </a:p>
        </p:txBody>
      </p:sp>
      <p:cxnSp>
        <p:nvCxnSpPr>
          <p:cNvPr id="93" name="Connector 92"/>
          <p:cNvCxnSpPr/>
          <p:nvPr/>
        </p:nvCxnSpPr>
        <p:spPr>
          <a:xfrm>
            <a:off x="9139428" y="2743200"/>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139428" y="3072384"/>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9139428" y="2157984"/>
            <a:ext cx="0" cy="1097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9139428" y="3694176"/>
            <a:ext cx="0" cy="36576"/>
          </a:xfrm>
          <a:prstGeom prst="line">
            <a:avLst/>
          </a:prstGeom>
          <a:ln w="12700">
            <a:solidFill>
              <a:srgbClr val="C55A11"/>
            </a:solidFill>
            <a:prstDash val="dash"/>
          </a:ln>
        </p:spPr>
        <p:style>
          <a:lnRef idx="2">
            <a:schemeClr val="accent1"/>
          </a:lnRef>
          <a:fillRef idx="0">
            <a:schemeClr val="accent1"/>
          </a:fillRef>
          <a:effectRef idx="1">
            <a:schemeClr val="accent1"/>
          </a:effectRef>
          <a:fontRef idx="minor">
            <a:schemeClr val="tx1"/>
          </a:fontRef>
        </p:style>
      </p:cxnSp>
      <p:sp>
        <p:nvSpPr>
          <p:cNvPr id="97" name="Rectangle 96"/>
          <p:cNvSpPr/>
          <p:nvPr/>
        </p:nvSpPr>
        <p:spPr>
          <a:xfrm>
            <a:off x="10140696" y="2267712"/>
            <a:ext cx="1737360" cy="1426464"/>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8" name="Rectangle 97"/>
          <p:cNvSpPr/>
          <p:nvPr/>
        </p:nvSpPr>
        <p:spPr>
          <a:xfrm>
            <a:off x="10140696" y="2267712"/>
            <a:ext cx="1737360" cy="173736"/>
          </a:xfrm>
          <a:prstGeom prst="rect">
            <a:avLst/>
          </a:prstGeom>
          <a:solidFill>
            <a:srgbClr val="C55A11"/>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Tier Owner — CXL / SSD</a:t>
            </a:r>
          </a:p>
        </p:txBody>
      </p:sp>
      <p:sp>
        <p:nvSpPr>
          <p:cNvPr id="99" name="Rectangle 98"/>
          <p:cNvSpPr/>
          <p:nvPr/>
        </p:nvSpPr>
        <p:spPr>
          <a:xfrm>
            <a:off x="10378440" y="2487168"/>
            <a:ext cx="1426464" cy="25603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① Access Tap</a:t>
            </a:r>
          </a:p>
          <a:p>
            <a:pPr algn="ctr">
              <a:lnSpc>
                <a:spcPct val="92000"/>
              </a:lnSpc>
            </a:pPr>
            <a:r>
              <a:rPr sz="680" b="0" i="0">
                <a:solidFill>
                  <a:srgbClr val="7F5F00"/>
                </a:solidFill>
                <a:latin typeface="맑은 고딕"/>
                <a:ea typeface="맑은 고딕"/>
              </a:rPr>
              <a:t>데이터 경로 인라인 포착</a:t>
            </a:r>
          </a:p>
        </p:txBody>
      </p:sp>
      <p:sp>
        <p:nvSpPr>
          <p:cNvPr id="100" name="Rectangle 99"/>
          <p:cNvSpPr/>
          <p:nvPr/>
        </p:nvSpPr>
        <p:spPr>
          <a:xfrm>
            <a:off x="10378440" y="2779776"/>
            <a:ext cx="1426464"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7F5F00"/>
                </a:solidFill>
                <a:latin typeface="맑은 고딕"/>
                <a:ea typeface="맑은 고딕"/>
              </a:rPr>
              <a:t>② Local Decider</a:t>
            </a:r>
          </a:p>
          <a:p>
            <a:pPr algn="ctr">
              <a:lnSpc>
                <a:spcPct val="92000"/>
              </a:lnSpc>
            </a:pPr>
            <a:r>
              <a:rPr sz="680" b="0" i="0">
                <a:solidFill>
                  <a:srgbClr val="7F5F00"/>
                </a:solidFill>
                <a:latin typeface="맑은 고딕"/>
                <a:ea typeface="맑은 고딕"/>
              </a:rPr>
              <a:t>로컬 객체 특성만 판단</a:t>
            </a:r>
          </a:p>
        </p:txBody>
      </p:sp>
      <p:sp>
        <p:nvSpPr>
          <p:cNvPr id="101" name="Rectangle 100"/>
          <p:cNvSpPr/>
          <p:nvPr/>
        </p:nvSpPr>
        <p:spPr>
          <a:xfrm>
            <a:off x="10378440" y="3108960"/>
            <a:ext cx="1426464"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00" b="1" i="0">
                <a:solidFill>
                  <a:srgbClr val="404040"/>
                </a:solidFill>
                <a:latin typeface="맑은 고딕"/>
                <a:ea typeface="맑은 고딕"/>
              </a:rPr>
              <a:t>⑤ Local Executor</a:t>
            </a:r>
          </a:p>
          <a:p>
            <a:pPr algn="ctr">
              <a:lnSpc>
                <a:spcPct val="92000"/>
              </a:lnSpc>
            </a:pPr>
            <a:r>
              <a:rPr sz="680" b="0" i="0">
                <a:solidFill>
                  <a:srgbClr val="808080"/>
                </a:solidFill>
                <a:latin typeface="맑은 고딕"/>
                <a:ea typeface="맑은 고딕"/>
              </a:rPr>
              <a:t>Transfer Handler 직접 호출</a:t>
            </a:r>
          </a:p>
        </p:txBody>
      </p:sp>
      <p:sp>
        <p:nvSpPr>
          <p:cNvPr id="102" name="TextBox 101"/>
          <p:cNvSpPr txBox="1"/>
          <p:nvPr/>
        </p:nvSpPr>
        <p:spPr>
          <a:xfrm>
            <a:off x="10378440" y="3419856"/>
            <a:ext cx="1426464" cy="237744"/>
          </a:xfrm>
          <a:prstGeom prst="rect">
            <a:avLst/>
          </a:prstGeom>
          <a:noFill/>
        </p:spPr>
        <p:txBody>
          <a:bodyPr wrap="square" lIns="0" tIns="0" rIns="0" bIns="0" anchor="t">
            <a:spAutoFit/>
          </a:bodyPr>
          <a:lstStyle/>
          <a:p>
            <a:pPr algn="ctr">
              <a:lnSpc>
                <a:spcPct val="105000"/>
              </a:lnSpc>
            </a:pPr>
            <a:r>
              <a:rPr sz="650" b="0" i="0">
                <a:solidFill>
                  <a:srgbClr val="C55A11"/>
                </a:solidFill>
                <a:latin typeface="맑은 고딕"/>
                <a:ea typeface="맑은 고딕"/>
              </a:rPr>
              <a:t>전역 총량 정보 없음</a:t>
            </a:r>
          </a:p>
          <a:p>
            <a:pPr algn="ctr">
              <a:lnSpc>
                <a:spcPct val="105000"/>
              </a:lnSpc>
            </a:pPr>
            <a:r>
              <a:rPr sz="650" b="0" i="0">
                <a:solidFill>
                  <a:srgbClr val="C55A11"/>
                </a:solidFill>
                <a:latin typeface="맑은 고딕"/>
                <a:ea typeface="맑은 고딕"/>
              </a:rPr>
              <a:t>결정 범위 = 로컬</a:t>
            </a:r>
          </a:p>
        </p:txBody>
      </p:sp>
      <p:cxnSp>
        <p:nvCxnSpPr>
          <p:cNvPr id="103" name="Connector 102"/>
          <p:cNvCxnSpPr/>
          <p:nvPr/>
        </p:nvCxnSpPr>
        <p:spPr>
          <a:xfrm>
            <a:off x="11091672" y="2743200"/>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1091672" y="3072384"/>
            <a:ext cx="0" cy="36576"/>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1091672" y="2157984"/>
            <a:ext cx="0" cy="1097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1091672" y="3694176"/>
            <a:ext cx="0" cy="36576"/>
          </a:xfrm>
          <a:prstGeom prst="line">
            <a:avLst/>
          </a:prstGeom>
          <a:ln w="12700">
            <a:solidFill>
              <a:srgbClr val="C55A11"/>
            </a:solidFill>
            <a:prstDash val="dash"/>
          </a:ln>
        </p:spPr>
        <p:style>
          <a:lnRef idx="2">
            <a:schemeClr val="accent1"/>
          </a:lnRef>
          <a:fillRef idx="0">
            <a:schemeClr val="accent1"/>
          </a:fillRef>
          <a:effectRef idx="1">
            <a:schemeClr val="accent1"/>
          </a:effectRef>
          <a:fontRef idx="minor">
            <a:schemeClr val="tx1"/>
          </a:fontRef>
        </p:style>
      </p:cxnSp>
      <p:sp>
        <p:nvSpPr>
          <p:cNvPr id="107" name="Oval 106"/>
          <p:cNvSpPr/>
          <p:nvPr/>
        </p:nvSpPr>
        <p:spPr>
          <a:xfrm>
            <a:off x="7438644" y="2135124"/>
            <a:ext cx="155448" cy="15544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108" name="Rectangle 107"/>
          <p:cNvSpPr/>
          <p:nvPr/>
        </p:nvSpPr>
        <p:spPr>
          <a:xfrm>
            <a:off x="6236208" y="3730752"/>
            <a:ext cx="5641848" cy="237744"/>
          </a:xfrm>
          <a:prstGeom prst="rect">
            <a:avLst/>
          </a:prstGeom>
          <a:noFill/>
          <a:ln w="952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C55A11"/>
                </a:solidFill>
                <a:latin typeface="맑은 고딕"/>
                <a:ea typeface="맑은 고딕"/>
              </a:rPr>
              <a:t>④ Peer Handoff Protocol — 대상 Owner 와 직접 협상 (N:N · 중앙 명령 없음)</a:t>
            </a:r>
          </a:p>
        </p:txBody>
      </p:sp>
      <p:sp>
        <p:nvSpPr>
          <p:cNvPr id="109" name="Rectangle 108"/>
          <p:cNvSpPr/>
          <p:nvPr/>
        </p:nvSpPr>
        <p:spPr>
          <a:xfrm>
            <a:off x="6236208" y="4078224"/>
            <a:ext cx="5641848" cy="25603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50" b="1" i="0">
                <a:solidFill>
                  <a:srgbClr val="FFFFFF"/>
                </a:solidFill>
                <a:latin typeface="맑은 고딕"/>
                <a:ea typeface="맑은 고딕"/>
              </a:rPr>
              <a:t>Common Memory Backend Interface</a:t>
            </a:r>
          </a:p>
        </p:txBody>
      </p:sp>
      <p:sp>
        <p:nvSpPr>
          <p:cNvPr id="110" name="TextBox 109"/>
          <p:cNvSpPr txBox="1"/>
          <p:nvPr/>
        </p:nvSpPr>
        <p:spPr>
          <a:xfrm>
            <a:off x="6254496" y="4407408"/>
            <a:ext cx="5586984" cy="310896"/>
          </a:xfrm>
          <a:prstGeom prst="rect">
            <a:avLst/>
          </a:prstGeom>
          <a:noFill/>
        </p:spPr>
        <p:txBody>
          <a:bodyPr wrap="square" lIns="0" tIns="0" rIns="0" bIns="0" anchor="t">
            <a:spAutoFit/>
          </a:bodyPr>
          <a:lstStyle/>
          <a:p>
            <a:pPr algn="l">
              <a:lnSpc>
                <a:spcPct val="102000"/>
              </a:lnSpc>
            </a:pPr>
            <a:r>
              <a:rPr sz="680" b="0" i="0">
                <a:solidFill>
                  <a:srgbClr val="808080"/>
                </a:solidFill>
                <a:latin typeface="맑은 고딕"/>
                <a:ea typeface="맑은 고딕"/>
              </a:rPr>
              <a:t>① Access Tap 이 접근 포착   ② Local Decider 가 로컬 특성으로 판단   ③ Directory 에 소유자 조회 (조회만)</a:t>
            </a:r>
          </a:p>
          <a:p>
            <a:pPr algn="l">
              <a:lnSpc>
                <a:spcPct val="102000"/>
              </a:lnSpc>
            </a:pPr>
            <a:r>
              <a:rPr sz="680" b="0" i="0">
                <a:solidFill>
                  <a:srgbClr val="808080"/>
                </a:solidFill>
                <a:latin typeface="맑은 고딕"/>
                <a:ea typeface="맑은 고딕"/>
              </a:rPr>
              <a:t>④ 대상 Owner 와 직접 협상 (N:N)   ⑤ Local Executor 가 이동 수행   ·   Owner 내부 순서는 세 tier 동일</a:t>
            </a:r>
          </a:p>
          <a:p>
            <a:pPr algn="l">
              <a:lnSpc>
                <a:spcPct val="102000"/>
              </a:lnSpc>
            </a:pPr>
            <a:r>
              <a:rPr sz="680" b="0" i="0">
                <a:solidFill>
                  <a:srgbClr val="808080"/>
                </a:solidFill>
                <a:latin typeface="맑은 고딕"/>
                <a:ea typeface="맑은 고딕"/>
              </a:rPr>
              <a:t>── ▶ 로컬 제어 흐름      - - ▶ 조회 · 협상 (peer)      전역 총량을 아는 모듈이 없음</a:t>
            </a:r>
          </a:p>
        </p:txBody>
      </p:sp>
      <p:sp>
        <p:nvSpPr>
          <p:cNvPr id="111" name="TextBox 110"/>
          <p:cNvSpPr txBox="1"/>
          <p:nvPr/>
        </p:nvSpPr>
        <p:spPr>
          <a:xfrm>
            <a:off x="1133856" y="4818888"/>
            <a:ext cx="4864608" cy="420623"/>
          </a:xfrm>
          <a:prstGeom prst="rect">
            <a:avLst/>
          </a:prstGeom>
          <a:noFill/>
        </p:spPr>
        <p:txBody>
          <a:bodyPr wrap="square" lIns="0" tIns="0" rIns="0" bIns="0" anchor="t">
            <a:spAutoFit/>
          </a:bodyPr>
          <a:lstStyle/>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전역 총량을 한 지점에서 봄 → tier 간 최적 배치 · 과점유 구조적 차단 (QA2)</a:t>
            </a:r>
          </a:p>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정책 변경점이 Arbiter 1곳 → Executor 전체 무영향 (QA3)</a:t>
            </a:r>
          </a:p>
        </p:txBody>
      </p:sp>
      <p:sp>
        <p:nvSpPr>
          <p:cNvPr id="112" name="TextBox 111"/>
          <p:cNvSpPr txBox="1"/>
          <p:nvPr/>
        </p:nvSpPr>
        <p:spPr>
          <a:xfrm>
            <a:off x="6272784" y="4818888"/>
            <a:ext cx="5586984" cy="420623"/>
          </a:xfrm>
          <a:prstGeom prst="rect">
            <a:avLst/>
          </a:prstGeom>
          <a:noFill/>
        </p:spPr>
        <p:txBody>
          <a:bodyPr wrap="square" lIns="0" tIns="0" rIns="0" bIns="0" anchor="t">
            <a:spAutoFit/>
          </a:bodyPr>
          <a:lstStyle/>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접근 지점에서 즉시 결정 → 객체 단위 선제 이동 (QA1)</a:t>
            </a:r>
          </a:p>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Owner 추가 = tier 추가, 중앙 조정자 없음 → 규모에 선형 (QA4)</a:t>
            </a:r>
          </a:p>
        </p:txBody>
      </p:sp>
      <p:sp>
        <p:nvSpPr>
          <p:cNvPr id="113" name="TextBox 112"/>
          <p:cNvSpPr txBox="1"/>
          <p:nvPr/>
        </p:nvSpPr>
        <p:spPr>
          <a:xfrm>
            <a:off x="1133856" y="5349240"/>
            <a:ext cx="4864608" cy="420623"/>
          </a:xfrm>
          <a:prstGeom prst="rect">
            <a:avLst/>
          </a:prstGeom>
          <a:noFill/>
        </p:spPr>
        <p:txBody>
          <a:bodyPr wrap="square" lIns="0" tIns="0" rIns="0" bIns="0" anchor="t">
            <a:spAutoFit/>
          </a:bodyPr>
          <a:lstStyle/>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모든 결정이 1개 모듈을 직렬 통과 → tier · 객체 증가 시 병목 (QA4)</a:t>
            </a:r>
          </a:p>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집계 주기 뒤에 결정 → 접근 직후 반응 지연 (QA1)</a:t>
            </a:r>
          </a:p>
        </p:txBody>
      </p:sp>
      <p:sp>
        <p:nvSpPr>
          <p:cNvPr id="114" name="TextBox 113"/>
          <p:cNvSpPr txBox="1"/>
          <p:nvPr/>
        </p:nvSpPr>
        <p:spPr>
          <a:xfrm>
            <a:off x="6272784" y="5349240"/>
            <a:ext cx="5586984" cy="420623"/>
          </a:xfrm>
          <a:prstGeom prst="rect">
            <a:avLst/>
          </a:prstGeom>
          <a:noFill/>
        </p:spPr>
        <p:txBody>
          <a:bodyPr wrap="square" lIns="0" tIns="0" rIns="0" bIns="0" anchor="t">
            <a:spAutoFit/>
          </a:bodyPr>
          <a:lstStyle/>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어떤 모듈도 전역 총량을 모름 → 지역 최적의 합이 과점유 (QA2)</a:t>
            </a:r>
          </a:p>
          <a:p>
            <a:pPr marL="137160" indent="-137160">
              <a:lnSpc>
                <a:spcPct val="110000"/>
              </a:lnSpc>
              <a:spcAft>
                <a:spcPts val="200"/>
              </a:spcAft>
              <a:buFont typeface="Arial" pitchFamily="34" charset="0"/>
              <a:buChar char="▪"/>
            </a:pPr>
            <a:r>
              <a:rPr sz="900" b="0" i="0">
                <a:solidFill>
                  <a:srgbClr val="404040"/>
                </a:solidFill>
                <a:latin typeface="맑은 고딕"/>
                <a:ea typeface="맑은 고딕"/>
              </a:rPr>
              <a:t>결정이 데이터 경로에 박혀 Tap 침투 + N 곳 동시 변경 (QA3)</a:t>
            </a:r>
          </a:p>
        </p:txBody>
      </p:sp>
      <p:sp>
        <p:nvSpPr>
          <p:cNvPr id="115" name="TextBox 114"/>
          <p:cNvSpPr txBox="1"/>
          <p:nvPr/>
        </p:nvSpPr>
        <p:spPr>
          <a:xfrm>
            <a:off x="1133856" y="5861304"/>
            <a:ext cx="3675887"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QA1. Performance 처리량 (tokens/second)</a:t>
            </a:r>
          </a:p>
        </p:txBody>
      </p:sp>
      <p:sp>
        <p:nvSpPr>
          <p:cNvPr id="116" name="TextBox 115"/>
          <p:cNvSpPr txBox="1"/>
          <p:nvPr/>
        </p:nvSpPr>
        <p:spPr>
          <a:xfrm>
            <a:off x="4828032" y="584301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17" name="TextBox 116"/>
          <p:cNvSpPr txBox="1"/>
          <p:nvPr/>
        </p:nvSpPr>
        <p:spPr>
          <a:xfrm>
            <a:off x="1133856" y="6044184"/>
            <a:ext cx="3675887"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QA2. Resource Efficiency (HBM 사용량 GB)</a:t>
            </a:r>
          </a:p>
        </p:txBody>
      </p:sp>
      <p:sp>
        <p:nvSpPr>
          <p:cNvPr id="118" name="TextBox 117"/>
          <p:cNvSpPr txBox="1"/>
          <p:nvPr/>
        </p:nvSpPr>
        <p:spPr>
          <a:xfrm>
            <a:off x="4828032" y="602589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19" name="TextBox 118"/>
          <p:cNvSpPr txBox="1"/>
          <p:nvPr/>
        </p:nvSpPr>
        <p:spPr>
          <a:xfrm>
            <a:off x="1133856" y="6227064"/>
            <a:ext cx="3675887"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QA3. Modifiability (토큰 비용, M/M)</a:t>
            </a:r>
          </a:p>
        </p:txBody>
      </p:sp>
      <p:sp>
        <p:nvSpPr>
          <p:cNvPr id="120" name="TextBox 119"/>
          <p:cNvSpPr txBox="1"/>
          <p:nvPr/>
        </p:nvSpPr>
        <p:spPr>
          <a:xfrm>
            <a:off x="4828032" y="620877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1" name="TextBox 120"/>
          <p:cNvSpPr txBox="1"/>
          <p:nvPr/>
        </p:nvSpPr>
        <p:spPr>
          <a:xfrm>
            <a:off x="1133856" y="6409944"/>
            <a:ext cx="3675887"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QA4. Scalability (Scaling Efficiency)</a:t>
            </a:r>
          </a:p>
        </p:txBody>
      </p:sp>
      <p:sp>
        <p:nvSpPr>
          <p:cNvPr id="122" name="TextBox 121"/>
          <p:cNvSpPr txBox="1"/>
          <p:nvPr/>
        </p:nvSpPr>
        <p:spPr>
          <a:xfrm>
            <a:off x="4828032" y="639165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3" name="TextBox 122"/>
          <p:cNvSpPr txBox="1"/>
          <p:nvPr/>
        </p:nvSpPr>
        <p:spPr>
          <a:xfrm>
            <a:off x="5358384" y="6528816"/>
            <a:ext cx="658368" cy="164592"/>
          </a:xfrm>
          <a:prstGeom prst="rect">
            <a:avLst/>
          </a:prstGeom>
          <a:noFill/>
        </p:spPr>
        <p:txBody>
          <a:bodyPr wrap="square" lIns="0" tIns="0" rIns="0" bIns="0" anchor="ctr">
            <a:spAutoFit/>
          </a:bodyPr>
          <a:lstStyle/>
          <a:p>
            <a:pPr algn="r"/>
            <a:r>
              <a:rPr sz="900" b="1" i="0">
                <a:solidFill>
                  <a:srgbClr val="262626"/>
                </a:solidFill>
                <a:latin typeface="맑은 고딕"/>
                <a:ea typeface="맑은 고딕"/>
              </a:rPr>
              <a:t>총 9점</a:t>
            </a:r>
          </a:p>
        </p:txBody>
      </p:sp>
      <p:sp>
        <p:nvSpPr>
          <p:cNvPr id="124" name="TextBox 123"/>
          <p:cNvSpPr txBox="1"/>
          <p:nvPr/>
        </p:nvSpPr>
        <p:spPr>
          <a:xfrm>
            <a:off x="6272784" y="5861304"/>
            <a:ext cx="439826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QA1. Performance 처리량 (tokens/second)</a:t>
            </a:r>
          </a:p>
        </p:txBody>
      </p:sp>
      <p:sp>
        <p:nvSpPr>
          <p:cNvPr id="125" name="TextBox 124"/>
          <p:cNvSpPr txBox="1"/>
          <p:nvPr/>
        </p:nvSpPr>
        <p:spPr>
          <a:xfrm>
            <a:off x="10689336" y="584301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6" name="TextBox 125"/>
          <p:cNvSpPr txBox="1"/>
          <p:nvPr/>
        </p:nvSpPr>
        <p:spPr>
          <a:xfrm>
            <a:off x="6272784" y="6044184"/>
            <a:ext cx="439826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QA2. Resource Efficiency (HBM 사용량 GB)</a:t>
            </a:r>
          </a:p>
        </p:txBody>
      </p:sp>
      <p:sp>
        <p:nvSpPr>
          <p:cNvPr id="127" name="TextBox 126"/>
          <p:cNvSpPr txBox="1"/>
          <p:nvPr/>
        </p:nvSpPr>
        <p:spPr>
          <a:xfrm>
            <a:off x="10689336" y="602589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28" name="TextBox 127"/>
          <p:cNvSpPr txBox="1"/>
          <p:nvPr/>
        </p:nvSpPr>
        <p:spPr>
          <a:xfrm>
            <a:off x="6272784" y="6227064"/>
            <a:ext cx="439826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QA3. Modifiability (토큰 비용, M/M)</a:t>
            </a:r>
          </a:p>
        </p:txBody>
      </p:sp>
      <p:sp>
        <p:nvSpPr>
          <p:cNvPr id="129" name="TextBox 128"/>
          <p:cNvSpPr txBox="1"/>
          <p:nvPr/>
        </p:nvSpPr>
        <p:spPr>
          <a:xfrm>
            <a:off x="10689336" y="620877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30" name="TextBox 129"/>
          <p:cNvSpPr txBox="1"/>
          <p:nvPr/>
        </p:nvSpPr>
        <p:spPr>
          <a:xfrm>
            <a:off x="6272784" y="6409944"/>
            <a:ext cx="4398264" cy="173736"/>
          </a:xfrm>
          <a:prstGeom prst="rect">
            <a:avLst/>
          </a:prstGeom>
          <a:noFill/>
        </p:spPr>
        <p:txBody>
          <a:bodyPr wrap="square" lIns="0" tIns="0" rIns="0" bIns="0" anchor="ctr">
            <a:spAutoFit/>
          </a:bodyPr>
          <a:lstStyle/>
          <a:p>
            <a:pPr algn="l"/>
            <a:r>
              <a:rPr sz="900" b="0" i="0">
                <a:solidFill>
                  <a:srgbClr val="404040"/>
                </a:solidFill>
                <a:latin typeface="맑은 고딕"/>
                <a:ea typeface="맑은 고딕"/>
              </a:rPr>
              <a:t>▪  QA4. Scalability (Scaling Efficiency)</a:t>
            </a:r>
          </a:p>
        </p:txBody>
      </p:sp>
      <p:sp>
        <p:nvSpPr>
          <p:cNvPr id="131" name="TextBox 130"/>
          <p:cNvSpPr txBox="1"/>
          <p:nvPr/>
        </p:nvSpPr>
        <p:spPr>
          <a:xfrm>
            <a:off x="10689336" y="6391656"/>
            <a:ext cx="731520" cy="192024"/>
          </a:xfrm>
          <a:prstGeom prst="rect">
            <a:avLst/>
          </a:prstGeom>
          <a:noFill/>
        </p:spPr>
        <p:txBody>
          <a:bodyPr wrap="square" lIns="0" tIns="0" rIns="0" bIns="0" anchor="ctr">
            <a:spAutoFit/>
          </a:bodyPr>
          <a:lstStyle/>
          <a:p>
            <a:pPr algn="ctr"/>
            <a:r>
              <a:rPr sz="1050" b="1" i="0">
                <a:solidFill>
                  <a:srgbClr val="2E75B6"/>
                </a:solidFill>
                <a:latin typeface="맑은 고딕"/>
                <a:ea typeface="맑은 고딕"/>
              </a:rPr>
              <a:t>★★★</a:t>
            </a:r>
          </a:p>
        </p:txBody>
      </p:sp>
      <p:sp>
        <p:nvSpPr>
          <p:cNvPr id="132" name="TextBox 131"/>
          <p:cNvSpPr txBox="1"/>
          <p:nvPr/>
        </p:nvSpPr>
        <p:spPr>
          <a:xfrm>
            <a:off x="11219688" y="6528816"/>
            <a:ext cx="658368" cy="164592"/>
          </a:xfrm>
          <a:prstGeom prst="rect">
            <a:avLst/>
          </a:prstGeom>
          <a:noFill/>
        </p:spPr>
        <p:txBody>
          <a:bodyPr wrap="square" lIns="0" tIns="0" rIns="0" bIns="0" anchor="ctr">
            <a:spAutoFit/>
          </a:bodyPr>
          <a:lstStyle/>
          <a:p>
            <a:pPr algn="r"/>
            <a:r>
              <a:rPr sz="900" b="1" i="0">
                <a:solidFill>
                  <a:srgbClr val="262626"/>
                </a:solidFill>
                <a:latin typeface="맑은 고딕"/>
                <a:ea typeface="맑은 고딕"/>
              </a:rPr>
              <a:t>총 9점</a:t>
            </a:r>
          </a:p>
        </p:txBody>
      </p:sp>
    </p:spTree>
    <p:extLst>
      <p:ext uri="{BB962C8B-B14F-4D97-AF65-F5344CB8AC3E}">
        <p14:creationId xmlns:p14="http://schemas.microsoft.com/office/powerpoint/2010/main" val="179151524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lstStyle/>
          <a:p>
            <a:r>
              <a:rPr lang="ko-KR" altLang="en-US" dirty="0"/>
              <a:t>배경 지식 </a:t>
            </a:r>
            <a:r>
              <a:rPr lang="en-US" altLang="ko-KR" dirty="0"/>
              <a:t>(KV Cache)</a:t>
            </a:r>
          </a:p>
        </p:txBody>
      </p:sp>
      <p:sp>
        <p:nvSpPr>
          <p:cNvPr id="7" name="Rounded Rectangle 103">
            <a:extLst>
              <a:ext uri="{FF2B5EF4-FFF2-40B4-BE49-F238E27FC236}">
                <a16:creationId xmlns:a16="http://schemas.microsoft.com/office/drawing/2014/main" id="{21118DFE-243C-46CF-BB52-50E597AF360C}"/>
              </a:ext>
            </a:extLst>
          </p:cNvPr>
          <p:cNvSpPr/>
          <p:nvPr/>
        </p:nvSpPr>
        <p:spPr>
          <a:xfrm>
            <a:off x="347472" y="1216151"/>
            <a:ext cx="3017520" cy="5054771"/>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a:p>
        </p:txBody>
      </p:sp>
      <p:grpSp>
        <p:nvGrpSpPr>
          <p:cNvPr id="8" name="그룹 7">
            <a:extLst>
              <a:ext uri="{FF2B5EF4-FFF2-40B4-BE49-F238E27FC236}">
                <a16:creationId xmlns:a16="http://schemas.microsoft.com/office/drawing/2014/main" id="{46866B76-A6E8-4090-8C7F-8E6F3C8E81B5}"/>
              </a:ext>
            </a:extLst>
          </p:cNvPr>
          <p:cNvGrpSpPr/>
          <p:nvPr/>
        </p:nvGrpSpPr>
        <p:grpSpPr>
          <a:xfrm>
            <a:off x="400620" y="2320172"/>
            <a:ext cx="2869312" cy="2975944"/>
            <a:chOff x="3920492" y="1553368"/>
            <a:chExt cx="3059431" cy="3205802"/>
          </a:xfrm>
        </p:grpSpPr>
        <p:pic>
          <p:nvPicPr>
            <p:cNvPr id="9" name="Picture 2" descr="Illustration of the Transformer model and our Transformer-based NART-CRF model">
              <a:extLst>
                <a:ext uri="{FF2B5EF4-FFF2-40B4-BE49-F238E27FC236}">
                  <a16:creationId xmlns:a16="http://schemas.microsoft.com/office/drawing/2014/main" id="{428EEAF8-F114-4018-8E2C-CF774A6AE9A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010" r="52074" b="5689"/>
            <a:stretch/>
          </p:blipFill>
          <p:spPr bwMode="auto">
            <a:xfrm>
              <a:off x="3920492" y="1553368"/>
              <a:ext cx="3059431" cy="3205802"/>
            </a:xfrm>
            <a:prstGeom prst="rect">
              <a:avLst/>
            </a:prstGeom>
            <a:noFill/>
            <a:extLst>
              <a:ext uri="{909E8E84-426E-40DD-AFC4-6F175D3DCCD1}">
                <a14:hiddenFill xmlns:a14="http://schemas.microsoft.com/office/drawing/2010/main">
                  <a:solidFill>
                    <a:srgbClr val="FFFFFF"/>
                  </a:solidFill>
                </a14:hiddenFill>
              </a:ext>
            </a:extLst>
          </p:spPr>
        </p:pic>
        <p:sp>
          <p:nvSpPr>
            <p:cNvPr id="10" name="Rounded Rectangle 115">
              <a:extLst>
                <a:ext uri="{FF2B5EF4-FFF2-40B4-BE49-F238E27FC236}">
                  <a16:creationId xmlns:a16="http://schemas.microsoft.com/office/drawing/2014/main" id="{629C6AEA-4C6C-4362-B9F6-89F9F675E5C0}"/>
                </a:ext>
              </a:extLst>
            </p:cNvPr>
            <p:cNvSpPr/>
            <p:nvPr/>
          </p:nvSpPr>
          <p:spPr>
            <a:xfrm>
              <a:off x="4122418" y="4456123"/>
              <a:ext cx="1053085" cy="170332"/>
            </a:xfrm>
            <a:prstGeom prst="roundRect">
              <a:avLst>
                <a:gd name="adj" fmla="val 22000"/>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1000" b="1" i="0" dirty="0" err="1">
                  <a:solidFill>
                    <a:srgbClr val="0066FF"/>
                  </a:solidFill>
                  <a:latin typeface="맑은 고딕"/>
                  <a:ea typeface="맑은 고딕"/>
                  <a:cs typeface="맑은 고딕"/>
                </a:rPr>
                <a:t>오늘</a:t>
              </a:r>
              <a:r>
                <a:rPr lang="ko-KR" altLang="en-US" sz="1000" b="1" i="0" dirty="0">
                  <a:solidFill>
                    <a:srgbClr val="0066FF"/>
                  </a:solidFill>
                  <a:latin typeface="맑은 고딕"/>
                  <a:ea typeface="맑은 고딕"/>
                  <a:cs typeface="맑은 고딕"/>
                </a:rPr>
                <a:t>의 날씨는</a:t>
              </a:r>
              <a:endParaRPr sz="1000" b="1" i="0" dirty="0">
                <a:solidFill>
                  <a:srgbClr val="0066FF"/>
                </a:solidFill>
                <a:latin typeface="맑은 고딕"/>
                <a:ea typeface="맑은 고딕"/>
                <a:cs typeface="맑은 고딕"/>
              </a:endParaRPr>
            </a:p>
          </p:txBody>
        </p:sp>
        <p:sp>
          <p:nvSpPr>
            <p:cNvPr id="11" name="Rounded Rectangle 119">
              <a:extLst>
                <a:ext uri="{FF2B5EF4-FFF2-40B4-BE49-F238E27FC236}">
                  <a16:creationId xmlns:a16="http://schemas.microsoft.com/office/drawing/2014/main" id="{44B59935-9C8F-4A5E-AED3-863A7B5CE13B}"/>
                </a:ext>
              </a:extLst>
            </p:cNvPr>
            <p:cNvSpPr/>
            <p:nvPr/>
          </p:nvSpPr>
          <p:spPr>
            <a:xfrm>
              <a:off x="5509031" y="1664958"/>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900" b="1" i="0" dirty="0">
                  <a:solidFill>
                    <a:srgbClr val="FFFFFF"/>
                  </a:solidFill>
                  <a:latin typeface="맑은 고딕"/>
                  <a:ea typeface="맑은 고딕"/>
                  <a:cs typeface="맑은 고딕"/>
                </a:rPr>
                <a:t>맑</a:t>
              </a:r>
            </a:p>
          </p:txBody>
        </p:sp>
        <p:sp>
          <p:nvSpPr>
            <p:cNvPr id="12" name="Rounded Rectangle 119">
              <a:extLst>
                <a:ext uri="{FF2B5EF4-FFF2-40B4-BE49-F238E27FC236}">
                  <a16:creationId xmlns:a16="http://schemas.microsoft.com/office/drawing/2014/main" id="{E82CCACF-4A52-4979-9D64-2764D82CBA30}"/>
                </a:ext>
              </a:extLst>
            </p:cNvPr>
            <p:cNvSpPr/>
            <p:nvPr/>
          </p:nvSpPr>
          <p:spPr>
            <a:xfrm>
              <a:off x="5890336" y="4182211"/>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900" b="1" i="0" dirty="0">
                  <a:solidFill>
                    <a:srgbClr val="FFFFFF"/>
                  </a:solidFill>
                  <a:latin typeface="맑은 고딕"/>
                  <a:ea typeface="맑은 고딕"/>
                  <a:cs typeface="맑은 고딕"/>
                </a:rPr>
                <a:t>맑</a:t>
              </a:r>
            </a:p>
          </p:txBody>
        </p:sp>
        <p:sp>
          <p:nvSpPr>
            <p:cNvPr id="13" name="Rounded Rectangle 119">
              <a:extLst>
                <a:ext uri="{FF2B5EF4-FFF2-40B4-BE49-F238E27FC236}">
                  <a16:creationId xmlns:a16="http://schemas.microsoft.com/office/drawing/2014/main" id="{E4EA288D-E214-4F04-953D-73620D9BED2C}"/>
                </a:ext>
              </a:extLst>
            </p:cNvPr>
            <p:cNvSpPr/>
            <p:nvPr/>
          </p:nvSpPr>
          <p:spPr>
            <a:xfrm>
              <a:off x="5886221" y="1664958"/>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lang="ko-KR" altLang="en-US" sz="900" b="1" i="0" dirty="0">
                  <a:solidFill>
                    <a:srgbClr val="FFFFFF"/>
                  </a:solidFill>
                  <a:latin typeface="맑은 고딕"/>
                  <a:ea typeface="맑은 고딕"/>
                  <a:cs typeface="맑은 고딕"/>
                </a:rPr>
                <a:t>고</a:t>
              </a:r>
              <a:endParaRPr sz="900" b="1" i="0" dirty="0">
                <a:solidFill>
                  <a:srgbClr val="FFFFFF"/>
                </a:solidFill>
                <a:latin typeface="맑은 고딕"/>
                <a:ea typeface="맑은 고딕"/>
                <a:cs typeface="맑은 고딕"/>
              </a:endParaRPr>
            </a:p>
          </p:txBody>
        </p:sp>
        <p:sp>
          <p:nvSpPr>
            <p:cNvPr id="14" name="Rounded Rectangle 119">
              <a:extLst>
                <a:ext uri="{FF2B5EF4-FFF2-40B4-BE49-F238E27FC236}">
                  <a16:creationId xmlns:a16="http://schemas.microsoft.com/office/drawing/2014/main" id="{468302FC-D2FF-4A5F-9C89-55DCA72424BD}"/>
                </a:ext>
              </a:extLst>
            </p:cNvPr>
            <p:cNvSpPr/>
            <p:nvPr/>
          </p:nvSpPr>
          <p:spPr>
            <a:xfrm>
              <a:off x="6238492" y="1664958"/>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lang="ko-KR" altLang="en-US" sz="900" b="1" dirty="0">
                  <a:solidFill>
                    <a:srgbClr val="FFFFFF"/>
                  </a:solidFill>
                  <a:latin typeface="맑은 고딕"/>
                  <a:ea typeface="맑은 고딕"/>
                  <a:cs typeface="맑은 고딕"/>
                </a:rPr>
                <a:t>바</a:t>
              </a:r>
              <a:endParaRPr sz="900" b="1" i="0" dirty="0">
                <a:solidFill>
                  <a:srgbClr val="FFFFFF"/>
                </a:solidFill>
                <a:latin typeface="맑은 고딕"/>
                <a:ea typeface="맑은 고딕"/>
                <a:cs typeface="맑은 고딕"/>
              </a:endParaRPr>
            </a:p>
          </p:txBody>
        </p:sp>
        <p:sp>
          <p:nvSpPr>
            <p:cNvPr id="15" name="Rounded Rectangle 119">
              <a:extLst>
                <a:ext uri="{FF2B5EF4-FFF2-40B4-BE49-F238E27FC236}">
                  <a16:creationId xmlns:a16="http://schemas.microsoft.com/office/drawing/2014/main" id="{50C5C249-9F1B-4C51-8F13-E7B628CB321D}"/>
                </a:ext>
              </a:extLst>
            </p:cNvPr>
            <p:cNvSpPr/>
            <p:nvPr/>
          </p:nvSpPr>
          <p:spPr>
            <a:xfrm>
              <a:off x="6243254" y="4182211"/>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lang="ko-KR" altLang="en-US" sz="900" b="1" i="0" dirty="0">
                  <a:solidFill>
                    <a:srgbClr val="FFFFFF"/>
                  </a:solidFill>
                  <a:latin typeface="맑은 고딕"/>
                  <a:ea typeface="맑은 고딕"/>
                  <a:cs typeface="맑은 고딕"/>
                </a:rPr>
                <a:t>고</a:t>
              </a:r>
              <a:endParaRPr sz="900" b="1" i="0" dirty="0">
                <a:solidFill>
                  <a:srgbClr val="FFFFFF"/>
                </a:solidFill>
                <a:latin typeface="맑은 고딕"/>
                <a:ea typeface="맑은 고딕"/>
                <a:cs typeface="맑은 고딕"/>
              </a:endParaRPr>
            </a:p>
          </p:txBody>
        </p:sp>
        <p:sp>
          <p:nvSpPr>
            <p:cNvPr id="16" name="Rounded Rectangle 119">
              <a:extLst>
                <a:ext uri="{FF2B5EF4-FFF2-40B4-BE49-F238E27FC236}">
                  <a16:creationId xmlns:a16="http://schemas.microsoft.com/office/drawing/2014/main" id="{3722DA5F-4758-493E-9757-B41707FB1424}"/>
                </a:ext>
              </a:extLst>
            </p:cNvPr>
            <p:cNvSpPr/>
            <p:nvPr/>
          </p:nvSpPr>
          <p:spPr>
            <a:xfrm>
              <a:off x="6586610" y="4182211"/>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lang="ko-KR" altLang="en-US" sz="900" b="1" dirty="0">
                  <a:solidFill>
                    <a:srgbClr val="FFFFFF"/>
                  </a:solidFill>
                  <a:latin typeface="맑은 고딕"/>
                  <a:ea typeface="맑은 고딕"/>
                  <a:cs typeface="맑은 고딕"/>
                </a:rPr>
                <a:t>바</a:t>
              </a:r>
              <a:endParaRPr sz="900" b="1" i="0" dirty="0">
                <a:solidFill>
                  <a:srgbClr val="FFFFFF"/>
                </a:solidFill>
                <a:latin typeface="맑은 고딕"/>
                <a:ea typeface="맑은 고딕"/>
                <a:cs typeface="맑은 고딕"/>
              </a:endParaRPr>
            </a:p>
          </p:txBody>
        </p:sp>
        <p:sp>
          <p:nvSpPr>
            <p:cNvPr id="17" name="Rounded Rectangle 119">
              <a:extLst>
                <a:ext uri="{FF2B5EF4-FFF2-40B4-BE49-F238E27FC236}">
                  <a16:creationId xmlns:a16="http://schemas.microsoft.com/office/drawing/2014/main" id="{BBD9AF47-9D72-48C2-AB46-87D54C2B00F1}"/>
                </a:ext>
              </a:extLst>
            </p:cNvPr>
            <p:cNvSpPr/>
            <p:nvPr/>
          </p:nvSpPr>
          <p:spPr>
            <a:xfrm>
              <a:off x="6620024" y="1664958"/>
              <a:ext cx="261061" cy="170332"/>
            </a:xfrm>
            <a:prstGeom prst="roundRect">
              <a:avLst>
                <a:gd name="adj" fmla="val 2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lang="ko-KR" altLang="en-US" sz="900" b="1" dirty="0">
                  <a:solidFill>
                    <a:srgbClr val="FFFFFF"/>
                  </a:solidFill>
                  <a:latin typeface="맑은 고딕"/>
                  <a:ea typeface="맑은 고딕"/>
                  <a:cs typeface="맑은 고딕"/>
                </a:rPr>
                <a:t>람</a:t>
              </a:r>
              <a:endParaRPr sz="900" b="1" i="0" dirty="0">
                <a:solidFill>
                  <a:srgbClr val="FFFFFF"/>
                </a:solidFill>
                <a:latin typeface="맑은 고딕"/>
                <a:ea typeface="맑은 고딕"/>
                <a:cs typeface="맑은 고딕"/>
              </a:endParaRPr>
            </a:p>
          </p:txBody>
        </p:sp>
      </p:grpSp>
      <p:sp>
        <p:nvSpPr>
          <p:cNvPr id="18" name="Rounded Rectangle 101">
            <a:extLst>
              <a:ext uri="{FF2B5EF4-FFF2-40B4-BE49-F238E27FC236}">
                <a16:creationId xmlns:a16="http://schemas.microsoft.com/office/drawing/2014/main" id="{87115B3D-1AEC-4478-8FDE-6F2875423998}"/>
              </a:ext>
            </a:extLst>
          </p:cNvPr>
          <p:cNvSpPr/>
          <p:nvPr/>
        </p:nvSpPr>
        <p:spPr>
          <a:xfrm>
            <a:off x="347472" y="716927"/>
            <a:ext cx="1179576" cy="301752"/>
          </a:xfrm>
          <a:prstGeom prst="roundRect">
            <a:avLst>
              <a:gd name="adj" fmla="val 16000"/>
            </a:avLst>
          </a:prstGeom>
          <a:solidFill>
            <a:srgbClr val="A8C6E8"/>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0"/>
              </a:spcAft>
            </a:pPr>
            <a:r>
              <a:rPr sz="1150" b="1" i="0" dirty="0">
                <a:solidFill>
                  <a:srgbClr val="1F3864"/>
                </a:solidFill>
                <a:latin typeface="맑은 고딕"/>
                <a:ea typeface="맑은 고딕"/>
                <a:cs typeface="맑은 고딕"/>
              </a:rPr>
              <a:t>KV </a:t>
            </a:r>
            <a:r>
              <a:rPr sz="1150" b="1" i="0" dirty="0" err="1">
                <a:solidFill>
                  <a:srgbClr val="1F3864"/>
                </a:solidFill>
                <a:latin typeface="맑은 고딕"/>
                <a:ea typeface="맑은 고딕"/>
                <a:cs typeface="맑은 고딕"/>
              </a:rPr>
              <a:t>캐시란</a:t>
            </a:r>
            <a:r>
              <a:rPr sz="1150" b="1" i="0" dirty="0">
                <a:solidFill>
                  <a:srgbClr val="1F3864"/>
                </a:solidFill>
                <a:latin typeface="맑은 고딕"/>
                <a:ea typeface="맑은 고딕"/>
                <a:cs typeface="맑은 고딕"/>
              </a:rPr>
              <a:t>?</a:t>
            </a:r>
          </a:p>
        </p:txBody>
      </p:sp>
      <p:sp>
        <p:nvSpPr>
          <p:cNvPr id="19" name="TextBox 18">
            <a:extLst>
              <a:ext uri="{FF2B5EF4-FFF2-40B4-BE49-F238E27FC236}">
                <a16:creationId xmlns:a16="http://schemas.microsoft.com/office/drawing/2014/main" id="{84AA5460-8DD2-490C-A8B0-DC2C889AF372}"/>
              </a:ext>
            </a:extLst>
          </p:cNvPr>
          <p:cNvSpPr txBox="1"/>
          <p:nvPr/>
        </p:nvSpPr>
        <p:spPr>
          <a:xfrm>
            <a:off x="1652564" y="789758"/>
            <a:ext cx="10195560" cy="184666"/>
          </a:xfrm>
          <a:prstGeom prst="rect">
            <a:avLst/>
          </a:prstGeom>
          <a:noFill/>
        </p:spPr>
        <p:txBody>
          <a:bodyPr wrap="square" lIns="0" tIns="0" rIns="0" bIns="0" anchor="ctr">
            <a:spAutoFit/>
          </a:bodyPr>
          <a:lstStyle/>
          <a:p>
            <a:pPr algn="l">
              <a:lnSpc>
                <a:spcPct val="100000"/>
              </a:lnSpc>
              <a:spcAft>
                <a:spcPts val="0"/>
              </a:spcAft>
            </a:pPr>
            <a:r>
              <a:rPr lang="ko-KR" altLang="en-US" sz="1200" b="1" dirty="0">
                <a:solidFill>
                  <a:srgbClr val="2E75B6"/>
                </a:solidFill>
                <a:latin typeface="맑은 고딕"/>
                <a:ea typeface="맑은 고딕"/>
                <a:cs typeface="맑은 고딕"/>
              </a:rPr>
              <a:t>앞서 처리한 토큰의 정보를 저장해</a:t>
            </a:r>
            <a:r>
              <a:rPr lang="en-US" altLang="ko-KR" sz="1200" b="1" dirty="0">
                <a:solidFill>
                  <a:srgbClr val="2E75B6"/>
                </a:solidFill>
                <a:latin typeface="맑은 고딕"/>
                <a:ea typeface="맑은 고딕"/>
                <a:cs typeface="맑은 고딕"/>
              </a:rPr>
              <a:t>, </a:t>
            </a:r>
            <a:r>
              <a:rPr lang="ko-KR" altLang="en-US" sz="1200" b="1" dirty="0">
                <a:solidFill>
                  <a:srgbClr val="2E75B6"/>
                </a:solidFill>
                <a:latin typeface="맑은 고딕"/>
                <a:ea typeface="맑은 고딕"/>
                <a:cs typeface="맑은 고딕"/>
              </a:rPr>
              <a:t>다음 토큰을 생성할 때 다시 계산하지 않고 재사용하는 메모리 </a:t>
            </a:r>
            <a:r>
              <a:rPr lang="en-US" altLang="ko-KR" sz="1200" b="1" dirty="0">
                <a:solidFill>
                  <a:srgbClr val="2E75B6"/>
                </a:solidFill>
                <a:latin typeface="맑은 고딕"/>
                <a:ea typeface="맑은 고딕"/>
                <a:cs typeface="맑은 고딕"/>
              </a:rPr>
              <a:t>(Transformer </a:t>
            </a:r>
            <a:r>
              <a:rPr lang="ko-KR" altLang="en-US" sz="1200" b="1" dirty="0">
                <a:solidFill>
                  <a:srgbClr val="2E75B6"/>
                </a:solidFill>
                <a:latin typeface="맑은 고딕"/>
                <a:ea typeface="맑은 고딕"/>
                <a:cs typeface="맑은 고딕"/>
              </a:rPr>
              <a:t>기반 </a:t>
            </a:r>
            <a:r>
              <a:rPr lang="en-US" altLang="ko-KR" sz="1200" b="1" dirty="0">
                <a:solidFill>
                  <a:srgbClr val="2E75B6"/>
                </a:solidFill>
                <a:latin typeface="맑은 고딕"/>
                <a:ea typeface="맑은 고딕"/>
                <a:cs typeface="맑은 고딕"/>
              </a:rPr>
              <a:t>LLM</a:t>
            </a:r>
            <a:r>
              <a:rPr lang="ko-KR" altLang="en-US" sz="1200" b="1" dirty="0">
                <a:solidFill>
                  <a:srgbClr val="2E75B6"/>
                </a:solidFill>
                <a:latin typeface="맑은 고딕"/>
                <a:ea typeface="맑은 고딕"/>
                <a:cs typeface="맑은 고딕"/>
              </a:rPr>
              <a:t> 모델</a:t>
            </a:r>
            <a:r>
              <a:rPr lang="en-US" altLang="ko-KR" sz="1200" b="1" dirty="0">
                <a:solidFill>
                  <a:srgbClr val="2E75B6"/>
                </a:solidFill>
                <a:latin typeface="맑은 고딕"/>
                <a:ea typeface="맑은 고딕"/>
                <a:cs typeface="맑은 고딕"/>
              </a:rPr>
              <a:t>)</a:t>
            </a:r>
            <a:endParaRPr sz="1200" b="1" i="0" dirty="0">
              <a:solidFill>
                <a:srgbClr val="2E75B6"/>
              </a:solidFill>
              <a:latin typeface="맑은 고딕"/>
              <a:ea typeface="맑은 고딕"/>
              <a:cs typeface="맑은 고딕"/>
            </a:endParaRPr>
          </a:p>
        </p:txBody>
      </p:sp>
      <p:sp>
        <p:nvSpPr>
          <p:cNvPr id="20" name="Oval 104">
            <a:extLst>
              <a:ext uri="{FF2B5EF4-FFF2-40B4-BE49-F238E27FC236}">
                <a16:creationId xmlns:a16="http://schemas.microsoft.com/office/drawing/2014/main" id="{5DC6A9E1-481D-4622-B18F-71D90DCB5E3D}"/>
              </a:ext>
            </a:extLst>
          </p:cNvPr>
          <p:cNvSpPr/>
          <p:nvPr/>
        </p:nvSpPr>
        <p:spPr>
          <a:xfrm>
            <a:off x="401251" y="1353311"/>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0"/>
              </a:spcAft>
            </a:pPr>
            <a:r>
              <a:rPr sz="1100" b="1" i="0">
                <a:solidFill>
                  <a:srgbClr val="FFFFFF"/>
                </a:solidFill>
                <a:latin typeface="맑은 고딕"/>
                <a:ea typeface="맑은 고딕"/>
                <a:cs typeface="맑은 고딕"/>
              </a:rPr>
              <a:t>1</a:t>
            </a:r>
          </a:p>
        </p:txBody>
      </p:sp>
      <p:sp>
        <p:nvSpPr>
          <p:cNvPr id="21" name="TextBox 20">
            <a:extLst>
              <a:ext uri="{FF2B5EF4-FFF2-40B4-BE49-F238E27FC236}">
                <a16:creationId xmlns:a16="http://schemas.microsoft.com/office/drawing/2014/main" id="{830D2EC5-DB80-4517-B3FD-000B643FFAB1}"/>
              </a:ext>
            </a:extLst>
          </p:cNvPr>
          <p:cNvSpPr txBox="1"/>
          <p:nvPr/>
        </p:nvSpPr>
        <p:spPr>
          <a:xfrm>
            <a:off x="748723" y="1380365"/>
            <a:ext cx="2523744" cy="353943"/>
          </a:xfrm>
          <a:prstGeom prst="rect">
            <a:avLst/>
          </a:prstGeom>
          <a:noFill/>
        </p:spPr>
        <p:txBody>
          <a:bodyPr wrap="square" lIns="0" tIns="0" rIns="0" bIns="0" anchor="ctr">
            <a:spAutoFit/>
          </a:bodyPr>
          <a:lstStyle/>
          <a:p>
            <a:r>
              <a:rPr lang="ko-KR" altLang="en-US" sz="1150" b="1" dirty="0">
                <a:solidFill>
                  <a:srgbClr val="1F3864"/>
                </a:solidFill>
                <a:ea typeface="맑은 고딕"/>
                <a:cs typeface="맑은 고딕"/>
              </a:rPr>
              <a:t>매 연산</a:t>
            </a:r>
            <a:r>
              <a:rPr lang="en-US" altLang="ko-KR" sz="1150" b="1" dirty="0">
                <a:solidFill>
                  <a:srgbClr val="1F3864"/>
                </a:solidFill>
                <a:ea typeface="맑은 고딕"/>
                <a:cs typeface="맑은 고딕"/>
              </a:rPr>
              <a:t>(step)</a:t>
            </a:r>
            <a:r>
              <a:rPr lang="ko-KR" altLang="en-US" sz="1150" b="1" dirty="0">
                <a:solidFill>
                  <a:srgbClr val="1F3864"/>
                </a:solidFill>
                <a:ea typeface="맑은 고딕"/>
                <a:cs typeface="맑은 고딕"/>
              </a:rPr>
              <a:t>마다 생성된 토큰은 다시 입력으로 들어감 </a:t>
            </a:r>
            <a:r>
              <a:rPr lang="en-US" altLang="ko-KR" sz="1150" b="1" dirty="0">
                <a:solidFill>
                  <a:srgbClr val="1F3864"/>
                </a:solidFill>
                <a:ea typeface="맑은 고딕"/>
                <a:cs typeface="맑은 고딕"/>
              </a:rPr>
              <a:t>(Auto-regressive)</a:t>
            </a:r>
            <a:endParaRPr sz="1150" b="1" i="0" dirty="0">
              <a:solidFill>
                <a:srgbClr val="1F3864"/>
              </a:solidFill>
              <a:latin typeface="맑은 고딕"/>
              <a:ea typeface="맑은 고딕"/>
              <a:cs typeface="맑은 고딕"/>
            </a:endParaRPr>
          </a:p>
        </p:txBody>
      </p:sp>
      <p:sp>
        <p:nvSpPr>
          <p:cNvPr id="22" name="Rounded Rectangle 107">
            <a:extLst>
              <a:ext uri="{FF2B5EF4-FFF2-40B4-BE49-F238E27FC236}">
                <a16:creationId xmlns:a16="http://schemas.microsoft.com/office/drawing/2014/main" id="{C7323907-A379-4342-AEEB-97A2F38F7F84}"/>
              </a:ext>
            </a:extLst>
          </p:cNvPr>
          <p:cNvSpPr/>
          <p:nvPr/>
        </p:nvSpPr>
        <p:spPr>
          <a:xfrm>
            <a:off x="3593592" y="1225294"/>
            <a:ext cx="4846320" cy="5045627"/>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a:p>
        </p:txBody>
      </p:sp>
      <p:sp>
        <p:nvSpPr>
          <p:cNvPr id="23" name="Oval 108">
            <a:extLst>
              <a:ext uri="{FF2B5EF4-FFF2-40B4-BE49-F238E27FC236}">
                <a16:creationId xmlns:a16="http://schemas.microsoft.com/office/drawing/2014/main" id="{3E5344F6-202E-42A0-B9F8-6BDD9FA8573E}"/>
              </a:ext>
            </a:extLst>
          </p:cNvPr>
          <p:cNvSpPr/>
          <p:nvPr/>
        </p:nvSpPr>
        <p:spPr>
          <a:xfrm>
            <a:off x="3739896" y="1324141"/>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0"/>
              </a:spcAft>
            </a:pPr>
            <a:r>
              <a:rPr sz="1100" b="1" i="0">
                <a:solidFill>
                  <a:srgbClr val="FFFFFF"/>
                </a:solidFill>
                <a:latin typeface="맑은 고딕"/>
                <a:ea typeface="맑은 고딕"/>
                <a:cs typeface="맑은 고딕"/>
              </a:rPr>
              <a:t>2</a:t>
            </a:r>
          </a:p>
        </p:txBody>
      </p:sp>
      <p:sp>
        <p:nvSpPr>
          <p:cNvPr id="24" name="TextBox 23">
            <a:extLst>
              <a:ext uri="{FF2B5EF4-FFF2-40B4-BE49-F238E27FC236}">
                <a16:creationId xmlns:a16="http://schemas.microsoft.com/office/drawing/2014/main" id="{E23F3FC8-119B-475B-AAA9-BA3F42752745}"/>
              </a:ext>
            </a:extLst>
          </p:cNvPr>
          <p:cNvSpPr txBox="1"/>
          <p:nvPr/>
        </p:nvSpPr>
        <p:spPr>
          <a:xfrm>
            <a:off x="4087368" y="1381959"/>
            <a:ext cx="4206240" cy="176972"/>
          </a:xfrm>
          <a:prstGeom prst="rect">
            <a:avLst/>
          </a:prstGeom>
          <a:noFill/>
        </p:spPr>
        <p:txBody>
          <a:bodyPr wrap="square" lIns="0" tIns="0" rIns="0" bIns="0" anchor="ctr">
            <a:spAutoFit/>
          </a:bodyPr>
          <a:lstStyle/>
          <a:p>
            <a:pPr algn="l">
              <a:lnSpc>
                <a:spcPct val="100000"/>
              </a:lnSpc>
              <a:spcAft>
                <a:spcPts val="0"/>
              </a:spcAft>
            </a:pPr>
            <a:r>
              <a:rPr lang="en-US" sz="1150" b="1" i="0" dirty="0">
                <a:solidFill>
                  <a:srgbClr val="1F3864"/>
                </a:solidFill>
                <a:latin typeface="맑은 고딕"/>
                <a:ea typeface="맑은 고딕"/>
                <a:cs typeface="맑은 고딕"/>
              </a:rPr>
              <a:t>Transformer</a:t>
            </a:r>
            <a:r>
              <a:rPr lang="ko-KR" altLang="en-US" sz="1150" b="1" dirty="0">
                <a:solidFill>
                  <a:srgbClr val="1F3864"/>
                </a:solidFill>
                <a:latin typeface="맑은 고딕"/>
                <a:ea typeface="맑은 고딕"/>
                <a:cs typeface="맑은 고딕"/>
              </a:rPr>
              <a:t> 모델은 </a:t>
            </a:r>
            <a:r>
              <a:rPr lang="ko-KR" altLang="en-US" sz="1150" b="1" dirty="0" err="1">
                <a:solidFill>
                  <a:srgbClr val="1F3864"/>
                </a:solidFill>
                <a:latin typeface="맑은 고딕"/>
                <a:ea typeface="맑은 고딕"/>
                <a:cs typeface="맑은 고딕"/>
              </a:rPr>
              <a:t>입력마다</a:t>
            </a:r>
            <a:r>
              <a:rPr lang="ko-KR" altLang="en-US" sz="1150" b="1" dirty="0">
                <a:solidFill>
                  <a:srgbClr val="1F3864"/>
                </a:solidFill>
                <a:latin typeface="맑은 고딕"/>
                <a:ea typeface="맑은 고딕"/>
                <a:cs typeface="맑은 고딕"/>
              </a:rPr>
              <a:t> </a:t>
            </a:r>
            <a:r>
              <a:rPr lang="en-US" altLang="ko-KR" sz="1150" b="1" dirty="0">
                <a:solidFill>
                  <a:srgbClr val="1F3864"/>
                </a:solidFill>
                <a:latin typeface="맑은 고딕"/>
                <a:ea typeface="맑은 고딕"/>
                <a:cs typeface="맑은 고딕"/>
              </a:rPr>
              <a:t>Query, Key, Value</a:t>
            </a:r>
            <a:r>
              <a:rPr lang="ko-KR" altLang="en-US" sz="1150" b="1" dirty="0">
                <a:solidFill>
                  <a:srgbClr val="1F3864"/>
                </a:solidFill>
                <a:latin typeface="맑은 고딕"/>
                <a:ea typeface="맑은 고딕"/>
                <a:cs typeface="맑은 고딕"/>
              </a:rPr>
              <a:t>를 생성</a:t>
            </a:r>
            <a:endParaRPr sz="1150" b="1" i="0" dirty="0">
              <a:solidFill>
                <a:srgbClr val="1F3864"/>
              </a:solidFill>
              <a:latin typeface="맑은 고딕"/>
              <a:ea typeface="맑은 고딕"/>
              <a:cs typeface="맑은 고딕"/>
            </a:endParaRPr>
          </a:p>
        </p:txBody>
      </p:sp>
      <p:sp>
        <p:nvSpPr>
          <p:cNvPr id="25" name="TextBox 24">
            <a:extLst>
              <a:ext uri="{FF2B5EF4-FFF2-40B4-BE49-F238E27FC236}">
                <a16:creationId xmlns:a16="http://schemas.microsoft.com/office/drawing/2014/main" id="{D0BA8DC5-1FF3-438E-991A-0CF756ECDA06}"/>
              </a:ext>
            </a:extLst>
          </p:cNvPr>
          <p:cNvSpPr txBox="1"/>
          <p:nvPr/>
        </p:nvSpPr>
        <p:spPr>
          <a:xfrm>
            <a:off x="3758184" y="1696159"/>
            <a:ext cx="4517136" cy="517449"/>
          </a:xfrm>
          <a:prstGeom prst="rect">
            <a:avLst/>
          </a:prstGeom>
          <a:noFill/>
        </p:spPr>
        <p:txBody>
          <a:bodyPr wrap="square" lIns="0" tIns="0" rIns="0" bIns="0" anchor="t">
            <a:spAutoFit/>
          </a:bodyPr>
          <a:lstStyle/>
          <a:p>
            <a:pPr>
              <a:lnSpc>
                <a:spcPct val="118000"/>
              </a:lnSpc>
            </a:pPr>
            <a:r>
              <a:rPr lang="en-US" altLang="ko-KR" sz="950" b="1" dirty="0">
                <a:solidFill>
                  <a:srgbClr val="595959"/>
                </a:solidFill>
                <a:ea typeface="맑은 고딕"/>
                <a:cs typeface="맑은 고딕"/>
              </a:rPr>
              <a:t>Query (Q): </a:t>
            </a:r>
            <a:r>
              <a:rPr lang="ko-KR" altLang="en-US" sz="950" dirty="0">
                <a:solidFill>
                  <a:srgbClr val="595959"/>
                </a:solidFill>
                <a:ea typeface="맑은 고딕"/>
                <a:cs typeface="맑은 고딕"/>
              </a:rPr>
              <a:t>현재 토큰이 어떤 정보를 찾고 있는지</a:t>
            </a:r>
            <a:endParaRPr lang="en-US" altLang="ko-KR" sz="950" dirty="0">
              <a:solidFill>
                <a:srgbClr val="595959"/>
              </a:solidFill>
              <a:ea typeface="맑은 고딕"/>
              <a:cs typeface="맑은 고딕"/>
            </a:endParaRPr>
          </a:p>
          <a:p>
            <a:pPr>
              <a:lnSpc>
                <a:spcPct val="118000"/>
              </a:lnSpc>
            </a:pPr>
            <a:r>
              <a:rPr lang="en-US" altLang="ko-KR" sz="950" b="1" dirty="0">
                <a:solidFill>
                  <a:srgbClr val="595959"/>
                </a:solidFill>
                <a:ea typeface="맑은 고딕"/>
                <a:cs typeface="맑은 고딕"/>
              </a:rPr>
              <a:t>Key (K): </a:t>
            </a:r>
            <a:r>
              <a:rPr lang="ko-KR" altLang="en-US" sz="950" dirty="0">
                <a:solidFill>
                  <a:srgbClr val="595959"/>
                </a:solidFill>
                <a:ea typeface="맑은 고딕"/>
                <a:cs typeface="맑은 고딕"/>
              </a:rPr>
              <a:t>각 과거 토큰이 어떤 정보를 가지고 있는지</a:t>
            </a:r>
            <a:r>
              <a:rPr lang="en-US" altLang="ko-KR" sz="950" dirty="0">
                <a:solidFill>
                  <a:srgbClr val="595959"/>
                </a:solidFill>
                <a:ea typeface="맑은 고딕"/>
                <a:cs typeface="맑은 고딕"/>
              </a:rPr>
              <a:t>/</a:t>
            </a:r>
            <a:r>
              <a:rPr lang="ko-KR" altLang="en-US" sz="950" dirty="0">
                <a:solidFill>
                  <a:srgbClr val="595959"/>
                </a:solidFill>
                <a:ea typeface="맑은 고딕"/>
                <a:cs typeface="맑은 고딕"/>
              </a:rPr>
              <a:t>어디에 주목할지 </a:t>
            </a:r>
            <a:endParaRPr lang="en-US" altLang="ko-KR" sz="950" dirty="0">
              <a:solidFill>
                <a:srgbClr val="595959"/>
              </a:solidFill>
              <a:ea typeface="맑은 고딕"/>
              <a:cs typeface="맑은 고딕"/>
            </a:endParaRPr>
          </a:p>
          <a:p>
            <a:pPr>
              <a:lnSpc>
                <a:spcPct val="118000"/>
              </a:lnSpc>
            </a:pPr>
            <a:r>
              <a:rPr lang="en-US" altLang="ko-KR" sz="950" b="1" dirty="0">
                <a:solidFill>
                  <a:srgbClr val="595959"/>
                </a:solidFill>
                <a:ea typeface="맑은 고딕"/>
                <a:cs typeface="맑은 고딕"/>
              </a:rPr>
              <a:t>Value (V):</a:t>
            </a:r>
            <a:r>
              <a:rPr lang="en-US" altLang="ko-KR" sz="950" dirty="0">
                <a:solidFill>
                  <a:srgbClr val="595959"/>
                </a:solidFill>
                <a:ea typeface="맑은 고딕"/>
                <a:cs typeface="맑은 고딕"/>
              </a:rPr>
              <a:t> </a:t>
            </a:r>
            <a:r>
              <a:rPr lang="ko-KR" altLang="en-US" sz="950" dirty="0">
                <a:solidFill>
                  <a:srgbClr val="595959"/>
                </a:solidFill>
                <a:ea typeface="맑은 고딕"/>
                <a:cs typeface="맑은 고딕"/>
              </a:rPr>
              <a:t>해당 토큰이 실제로 전달할 정보</a:t>
            </a:r>
            <a:endParaRPr lang="en-US" sz="950" b="1" i="0" dirty="0">
              <a:solidFill>
                <a:srgbClr val="000000"/>
              </a:solidFill>
              <a:latin typeface="맑은 고딕"/>
              <a:ea typeface="맑은 고딕"/>
              <a:cs typeface="맑은 고딕"/>
            </a:endParaRPr>
          </a:p>
        </p:txBody>
      </p:sp>
      <p:sp>
        <p:nvSpPr>
          <p:cNvPr id="26" name="Rounded Rectangle 111">
            <a:extLst>
              <a:ext uri="{FF2B5EF4-FFF2-40B4-BE49-F238E27FC236}">
                <a16:creationId xmlns:a16="http://schemas.microsoft.com/office/drawing/2014/main" id="{9EA818BB-105A-465D-BAF0-3482BC109423}"/>
              </a:ext>
            </a:extLst>
          </p:cNvPr>
          <p:cNvSpPr/>
          <p:nvPr/>
        </p:nvSpPr>
        <p:spPr>
          <a:xfrm>
            <a:off x="8690663" y="1225294"/>
            <a:ext cx="3172968" cy="5309540"/>
          </a:xfrm>
          <a:prstGeom prst="roundRect">
            <a:avLst>
              <a:gd name="adj" fmla="val 35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a:p>
        </p:txBody>
      </p:sp>
      <p:sp>
        <p:nvSpPr>
          <p:cNvPr id="27" name="Oval 112">
            <a:extLst>
              <a:ext uri="{FF2B5EF4-FFF2-40B4-BE49-F238E27FC236}">
                <a16:creationId xmlns:a16="http://schemas.microsoft.com/office/drawing/2014/main" id="{DC6B0CC4-0E0D-4F20-8D24-47ED03155060}"/>
              </a:ext>
            </a:extLst>
          </p:cNvPr>
          <p:cNvSpPr/>
          <p:nvPr/>
        </p:nvSpPr>
        <p:spPr>
          <a:xfrm>
            <a:off x="8814816" y="1305188"/>
            <a:ext cx="274320" cy="27432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spcAft>
                <a:spcPts val="0"/>
              </a:spcAft>
            </a:pPr>
            <a:r>
              <a:rPr sz="1100" b="1" i="0" dirty="0">
                <a:solidFill>
                  <a:srgbClr val="FFFFFF"/>
                </a:solidFill>
                <a:latin typeface="맑은 고딕"/>
                <a:ea typeface="맑은 고딕"/>
                <a:cs typeface="맑은 고딕"/>
              </a:rPr>
              <a:t>3</a:t>
            </a:r>
          </a:p>
        </p:txBody>
      </p:sp>
      <p:sp>
        <p:nvSpPr>
          <p:cNvPr id="28" name="TextBox 27">
            <a:extLst>
              <a:ext uri="{FF2B5EF4-FFF2-40B4-BE49-F238E27FC236}">
                <a16:creationId xmlns:a16="http://schemas.microsoft.com/office/drawing/2014/main" id="{EBEB8A8C-BB4D-4047-8E74-4825F849F1FD}"/>
              </a:ext>
            </a:extLst>
          </p:cNvPr>
          <p:cNvSpPr txBox="1"/>
          <p:nvPr/>
        </p:nvSpPr>
        <p:spPr>
          <a:xfrm>
            <a:off x="9162288" y="1363006"/>
            <a:ext cx="2532888" cy="176972"/>
          </a:xfrm>
          <a:prstGeom prst="rect">
            <a:avLst/>
          </a:prstGeom>
          <a:noFill/>
        </p:spPr>
        <p:txBody>
          <a:bodyPr wrap="square" lIns="0" tIns="0" rIns="0" bIns="0" anchor="ctr">
            <a:spAutoFit/>
          </a:bodyPr>
          <a:lstStyle/>
          <a:p>
            <a:pPr algn="l">
              <a:lnSpc>
                <a:spcPct val="100000"/>
              </a:lnSpc>
              <a:spcAft>
                <a:spcPts val="0"/>
              </a:spcAft>
            </a:pPr>
            <a:r>
              <a:rPr lang="en-US" sz="1150" b="1" i="0" dirty="0">
                <a:solidFill>
                  <a:srgbClr val="1F3864"/>
                </a:solidFill>
                <a:latin typeface="맑은 고딕"/>
                <a:ea typeface="맑은 고딕"/>
                <a:cs typeface="맑은 고딕"/>
              </a:rPr>
              <a:t>KV </a:t>
            </a:r>
            <a:r>
              <a:rPr lang="ko-KR" altLang="en-US" sz="1150" b="1" i="0" dirty="0">
                <a:solidFill>
                  <a:srgbClr val="1F3864"/>
                </a:solidFill>
                <a:latin typeface="맑은 고딕"/>
                <a:ea typeface="맑은 고딕"/>
                <a:cs typeface="맑은 고딕"/>
              </a:rPr>
              <a:t>캐시가 사용되는 연산 </a:t>
            </a:r>
            <a:r>
              <a:rPr lang="en-US" altLang="ko-KR" sz="1150" b="1" dirty="0">
                <a:solidFill>
                  <a:srgbClr val="1F3864"/>
                </a:solidFill>
                <a:latin typeface="맑은 고딕"/>
                <a:ea typeface="맑은 고딕"/>
                <a:cs typeface="맑은 고딕"/>
              </a:rPr>
              <a:t>“</a:t>
            </a:r>
            <a:r>
              <a:rPr lang="en-US" altLang="ko-KR" sz="1150" b="1" i="0" dirty="0">
                <a:solidFill>
                  <a:srgbClr val="1F3864"/>
                </a:solidFill>
                <a:latin typeface="맑은 고딕"/>
                <a:ea typeface="맑은 고딕"/>
                <a:cs typeface="맑은 고딕"/>
              </a:rPr>
              <a:t>Attention”</a:t>
            </a:r>
            <a:endParaRPr sz="1150" b="1" i="0" dirty="0">
              <a:solidFill>
                <a:srgbClr val="1F3864"/>
              </a:solidFill>
              <a:latin typeface="맑은 고딕"/>
              <a:ea typeface="맑은 고딕"/>
              <a:cs typeface="맑은 고딕"/>
            </a:endParaRPr>
          </a:p>
        </p:txBody>
      </p:sp>
      <p:sp>
        <p:nvSpPr>
          <p:cNvPr id="30" name="TextBox 29">
            <a:extLst>
              <a:ext uri="{FF2B5EF4-FFF2-40B4-BE49-F238E27FC236}">
                <a16:creationId xmlns:a16="http://schemas.microsoft.com/office/drawing/2014/main" id="{BE400AD3-BAC1-4A39-8E32-9ABAFFB50B30}"/>
              </a:ext>
            </a:extLst>
          </p:cNvPr>
          <p:cNvSpPr txBox="1"/>
          <p:nvPr/>
        </p:nvSpPr>
        <p:spPr>
          <a:xfrm>
            <a:off x="493776" y="5893325"/>
            <a:ext cx="2724912" cy="310896"/>
          </a:xfrm>
          <a:prstGeom prst="rect">
            <a:avLst/>
          </a:prstGeom>
          <a:noFill/>
        </p:spPr>
        <p:txBody>
          <a:bodyPr wrap="square" lIns="0" tIns="0" rIns="0" bIns="0" anchor="t">
            <a:spAutoFit/>
          </a:bodyPr>
          <a:lstStyle/>
          <a:p>
            <a:pPr algn="l">
              <a:lnSpc>
                <a:spcPct val="100000"/>
              </a:lnSpc>
              <a:spcAft>
                <a:spcPts val="0"/>
              </a:spcAft>
            </a:pP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토큰</a:t>
            </a:r>
            <a:r>
              <a:rPr sz="800" b="0" i="0" dirty="0">
                <a:solidFill>
                  <a:srgbClr val="808080"/>
                </a:solidFill>
                <a:latin typeface="맑은 고딕"/>
                <a:ea typeface="맑은 고딕"/>
                <a:cs typeface="맑은 고딕"/>
              </a:rPr>
              <a:t> : </a:t>
            </a:r>
            <a:r>
              <a:rPr sz="800" b="0" i="0" dirty="0" err="1">
                <a:solidFill>
                  <a:srgbClr val="808080"/>
                </a:solidFill>
                <a:latin typeface="맑은 고딕"/>
                <a:ea typeface="맑은 고딕"/>
                <a:cs typeface="맑은 고딕"/>
              </a:rPr>
              <a:t>모델이</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글을</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다루는</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최소</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단위</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대략</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단어</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조각</a:t>
            </a:r>
            <a:r>
              <a:rPr sz="800" b="0" i="0" dirty="0">
                <a:solidFill>
                  <a:srgbClr val="808080"/>
                </a:solidFill>
                <a:latin typeface="맑은 고딕"/>
                <a:ea typeface="맑은 고딕"/>
                <a:cs typeface="맑은 고딕"/>
              </a:rPr>
              <a:t>)</a:t>
            </a:r>
          </a:p>
        </p:txBody>
      </p:sp>
      <p:grpSp>
        <p:nvGrpSpPr>
          <p:cNvPr id="31" name="그룹 30">
            <a:extLst>
              <a:ext uri="{FF2B5EF4-FFF2-40B4-BE49-F238E27FC236}">
                <a16:creationId xmlns:a16="http://schemas.microsoft.com/office/drawing/2014/main" id="{BEABAFDF-6D69-4E06-9DF1-E2CF25392B19}"/>
              </a:ext>
            </a:extLst>
          </p:cNvPr>
          <p:cNvGrpSpPr/>
          <p:nvPr/>
        </p:nvGrpSpPr>
        <p:grpSpPr>
          <a:xfrm>
            <a:off x="3758184" y="2672584"/>
            <a:ext cx="4517136" cy="2100852"/>
            <a:chOff x="3758184" y="3066743"/>
            <a:chExt cx="4517136" cy="2542031"/>
          </a:xfrm>
        </p:grpSpPr>
        <p:sp>
          <p:nvSpPr>
            <p:cNvPr id="32" name="Rounded Rectangle 136">
              <a:extLst>
                <a:ext uri="{FF2B5EF4-FFF2-40B4-BE49-F238E27FC236}">
                  <a16:creationId xmlns:a16="http://schemas.microsoft.com/office/drawing/2014/main" id="{DDA45000-93C3-430C-B6B8-56890807506C}"/>
                </a:ext>
              </a:extLst>
            </p:cNvPr>
            <p:cNvSpPr/>
            <p:nvPr/>
          </p:nvSpPr>
          <p:spPr>
            <a:xfrm>
              <a:off x="3758184" y="3066743"/>
              <a:ext cx="2194560" cy="2304288"/>
            </a:xfrm>
            <a:prstGeom prst="roundRect">
              <a:avLst>
                <a:gd name="adj" fmla="val 5000"/>
              </a:avLst>
            </a:prstGeom>
            <a:solidFill>
              <a:srgbClr val="FFF7F6"/>
            </a:solidFill>
            <a:ln w="9525">
              <a:solidFill>
                <a:srgbClr val="E8B4B0"/>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3" name="TextBox 32">
              <a:extLst>
                <a:ext uri="{FF2B5EF4-FFF2-40B4-BE49-F238E27FC236}">
                  <a16:creationId xmlns:a16="http://schemas.microsoft.com/office/drawing/2014/main" id="{272F69E7-E758-44B4-81B7-A147F9F75D0F}"/>
                </a:ext>
              </a:extLst>
            </p:cNvPr>
            <p:cNvSpPr txBox="1"/>
            <p:nvPr/>
          </p:nvSpPr>
          <p:spPr>
            <a:xfrm>
              <a:off x="3867912" y="3187119"/>
              <a:ext cx="1975104" cy="161583"/>
            </a:xfrm>
            <a:prstGeom prst="rect">
              <a:avLst/>
            </a:prstGeom>
            <a:noFill/>
          </p:spPr>
          <p:txBody>
            <a:bodyPr wrap="square" lIns="0" tIns="0" rIns="0" bIns="0" anchor="ctr">
              <a:spAutoFit/>
            </a:bodyPr>
            <a:lstStyle/>
            <a:p>
              <a:pPr algn="ctr">
                <a:lnSpc>
                  <a:spcPct val="100000"/>
                </a:lnSpc>
                <a:spcAft>
                  <a:spcPts val="0"/>
                </a:spcAft>
              </a:pPr>
              <a:r>
                <a:rPr sz="1050" b="1" i="0" dirty="0">
                  <a:solidFill>
                    <a:srgbClr val="C00000"/>
                  </a:solidFill>
                  <a:latin typeface="맑은 고딕"/>
                  <a:ea typeface="맑은 고딕"/>
                  <a:cs typeface="맑은 고딕"/>
                </a:rPr>
                <a:t>KV </a:t>
              </a:r>
              <a:r>
                <a:rPr sz="1050" b="1" i="0" dirty="0" err="1">
                  <a:solidFill>
                    <a:srgbClr val="C00000"/>
                  </a:solidFill>
                  <a:latin typeface="맑은 고딕"/>
                  <a:ea typeface="맑은 고딕"/>
                  <a:cs typeface="맑은 고딕"/>
                </a:rPr>
                <a:t>캐시</a:t>
              </a:r>
              <a:r>
                <a:rPr sz="1050" b="1" i="0" dirty="0">
                  <a:solidFill>
                    <a:srgbClr val="C00000"/>
                  </a:solidFill>
                  <a:latin typeface="맑은 고딕"/>
                  <a:ea typeface="맑은 고딕"/>
                  <a:cs typeface="맑은 고딕"/>
                </a:rPr>
                <a:t> </a:t>
              </a:r>
              <a:r>
                <a:rPr sz="1050" b="1" i="0" dirty="0" err="1">
                  <a:solidFill>
                    <a:srgbClr val="C00000"/>
                  </a:solidFill>
                  <a:latin typeface="맑은 고딕"/>
                  <a:ea typeface="맑은 고딕"/>
                  <a:cs typeface="맑은 고딕"/>
                </a:rPr>
                <a:t>없음</a:t>
              </a:r>
              <a:endParaRPr sz="1050" b="1" i="0" dirty="0">
                <a:solidFill>
                  <a:srgbClr val="C00000"/>
                </a:solidFill>
                <a:latin typeface="맑은 고딕"/>
                <a:ea typeface="맑은 고딕"/>
                <a:cs typeface="맑은 고딕"/>
              </a:endParaRPr>
            </a:p>
          </p:txBody>
        </p:sp>
        <p:sp>
          <p:nvSpPr>
            <p:cNvPr id="34" name="TextBox 33">
              <a:extLst>
                <a:ext uri="{FF2B5EF4-FFF2-40B4-BE49-F238E27FC236}">
                  <a16:creationId xmlns:a16="http://schemas.microsoft.com/office/drawing/2014/main" id="{49AA81C1-ED82-435A-9637-F3FACCA3FBCB}"/>
                </a:ext>
              </a:extLst>
            </p:cNvPr>
            <p:cNvSpPr txBox="1"/>
            <p:nvPr/>
          </p:nvSpPr>
          <p:spPr>
            <a:xfrm>
              <a:off x="3849624" y="3508107"/>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1</a:t>
              </a:r>
            </a:p>
          </p:txBody>
        </p:sp>
        <p:sp>
          <p:nvSpPr>
            <p:cNvPr id="35" name="Rectangle 139">
              <a:extLst>
                <a:ext uri="{FF2B5EF4-FFF2-40B4-BE49-F238E27FC236}">
                  <a16:creationId xmlns:a16="http://schemas.microsoft.com/office/drawing/2014/main" id="{3DCD6979-FEE2-4060-B058-D172CD8F7527}"/>
                </a:ext>
              </a:extLst>
            </p:cNvPr>
            <p:cNvSpPr/>
            <p:nvPr/>
          </p:nvSpPr>
          <p:spPr>
            <a:xfrm>
              <a:off x="4197096" y="3487367"/>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6" name="TextBox 35">
              <a:extLst>
                <a:ext uri="{FF2B5EF4-FFF2-40B4-BE49-F238E27FC236}">
                  <a16:creationId xmlns:a16="http://schemas.microsoft.com/office/drawing/2014/main" id="{40251132-4708-4AA8-984D-1254E1F4ACEF}"/>
                </a:ext>
              </a:extLst>
            </p:cNvPr>
            <p:cNvSpPr txBox="1"/>
            <p:nvPr/>
          </p:nvSpPr>
          <p:spPr>
            <a:xfrm>
              <a:off x="3849624" y="3800714"/>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2</a:t>
              </a:r>
            </a:p>
          </p:txBody>
        </p:sp>
        <p:sp>
          <p:nvSpPr>
            <p:cNvPr id="37" name="Rectangle 141">
              <a:extLst>
                <a:ext uri="{FF2B5EF4-FFF2-40B4-BE49-F238E27FC236}">
                  <a16:creationId xmlns:a16="http://schemas.microsoft.com/office/drawing/2014/main" id="{9742AD3A-E421-42CC-99A6-691F621225CB}"/>
                </a:ext>
              </a:extLst>
            </p:cNvPr>
            <p:cNvSpPr/>
            <p:nvPr/>
          </p:nvSpPr>
          <p:spPr>
            <a:xfrm>
              <a:off x="4197096" y="3779974"/>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8" name="Rectangle 142">
              <a:extLst>
                <a:ext uri="{FF2B5EF4-FFF2-40B4-BE49-F238E27FC236}">
                  <a16:creationId xmlns:a16="http://schemas.microsoft.com/office/drawing/2014/main" id="{9BAF89A0-4A0A-4CAE-92DD-9B381CC472B3}"/>
                </a:ext>
              </a:extLst>
            </p:cNvPr>
            <p:cNvSpPr/>
            <p:nvPr/>
          </p:nvSpPr>
          <p:spPr>
            <a:xfrm>
              <a:off x="4507992" y="3779974"/>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9" name="TextBox 38">
              <a:extLst>
                <a:ext uri="{FF2B5EF4-FFF2-40B4-BE49-F238E27FC236}">
                  <a16:creationId xmlns:a16="http://schemas.microsoft.com/office/drawing/2014/main" id="{051AA61B-F1F6-43D0-AC06-A15A8DCC4C1D}"/>
                </a:ext>
              </a:extLst>
            </p:cNvPr>
            <p:cNvSpPr txBox="1"/>
            <p:nvPr/>
          </p:nvSpPr>
          <p:spPr>
            <a:xfrm>
              <a:off x="3849624" y="4093322"/>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3</a:t>
              </a:r>
            </a:p>
          </p:txBody>
        </p:sp>
        <p:sp>
          <p:nvSpPr>
            <p:cNvPr id="40" name="Rectangle 144">
              <a:extLst>
                <a:ext uri="{FF2B5EF4-FFF2-40B4-BE49-F238E27FC236}">
                  <a16:creationId xmlns:a16="http://schemas.microsoft.com/office/drawing/2014/main" id="{49B8C37D-B3D9-47B2-A19B-CA19016B805B}"/>
                </a:ext>
              </a:extLst>
            </p:cNvPr>
            <p:cNvSpPr/>
            <p:nvPr/>
          </p:nvSpPr>
          <p:spPr>
            <a:xfrm>
              <a:off x="4197096" y="4072582"/>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1" name="Rectangle 145">
              <a:extLst>
                <a:ext uri="{FF2B5EF4-FFF2-40B4-BE49-F238E27FC236}">
                  <a16:creationId xmlns:a16="http://schemas.microsoft.com/office/drawing/2014/main" id="{CAB497B1-4757-436C-8291-0B7284D3398D}"/>
                </a:ext>
              </a:extLst>
            </p:cNvPr>
            <p:cNvSpPr/>
            <p:nvPr/>
          </p:nvSpPr>
          <p:spPr>
            <a:xfrm>
              <a:off x="4507992" y="4072582"/>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2" name="Rectangle 146">
              <a:extLst>
                <a:ext uri="{FF2B5EF4-FFF2-40B4-BE49-F238E27FC236}">
                  <a16:creationId xmlns:a16="http://schemas.microsoft.com/office/drawing/2014/main" id="{6DA99485-6317-4499-BF30-F536FE6E6BB5}"/>
                </a:ext>
              </a:extLst>
            </p:cNvPr>
            <p:cNvSpPr/>
            <p:nvPr/>
          </p:nvSpPr>
          <p:spPr>
            <a:xfrm>
              <a:off x="4818888" y="4072582"/>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3" name="TextBox 42">
              <a:extLst>
                <a:ext uri="{FF2B5EF4-FFF2-40B4-BE49-F238E27FC236}">
                  <a16:creationId xmlns:a16="http://schemas.microsoft.com/office/drawing/2014/main" id="{8D7A96E6-40D0-4DCB-B592-8EDBD1809F71}"/>
                </a:ext>
              </a:extLst>
            </p:cNvPr>
            <p:cNvSpPr txBox="1"/>
            <p:nvPr/>
          </p:nvSpPr>
          <p:spPr>
            <a:xfrm>
              <a:off x="3849624" y="4385930"/>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4</a:t>
              </a:r>
            </a:p>
          </p:txBody>
        </p:sp>
        <p:sp>
          <p:nvSpPr>
            <p:cNvPr id="44" name="Rectangle 148">
              <a:extLst>
                <a:ext uri="{FF2B5EF4-FFF2-40B4-BE49-F238E27FC236}">
                  <a16:creationId xmlns:a16="http://schemas.microsoft.com/office/drawing/2014/main" id="{E1AA397B-4696-4DE6-8BB3-8F2AD995C91C}"/>
                </a:ext>
              </a:extLst>
            </p:cNvPr>
            <p:cNvSpPr/>
            <p:nvPr/>
          </p:nvSpPr>
          <p:spPr>
            <a:xfrm>
              <a:off x="4197096" y="4365190"/>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5" name="Rectangle 149">
              <a:extLst>
                <a:ext uri="{FF2B5EF4-FFF2-40B4-BE49-F238E27FC236}">
                  <a16:creationId xmlns:a16="http://schemas.microsoft.com/office/drawing/2014/main" id="{54D01628-BBC9-4F5E-ABA3-CFC495D75E18}"/>
                </a:ext>
              </a:extLst>
            </p:cNvPr>
            <p:cNvSpPr/>
            <p:nvPr/>
          </p:nvSpPr>
          <p:spPr>
            <a:xfrm>
              <a:off x="4507992" y="4365190"/>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6" name="Rectangle 150">
              <a:extLst>
                <a:ext uri="{FF2B5EF4-FFF2-40B4-BE49-F238E27FC236}">
                  <a16:creationId xmlns:a16="http://schemas.microsoft.com/office/drawing/2014/main" id="{A3ECE163-FAED-4B3F-9A40-70C56B8E43A3}"/>
                </a:ext>
              </a:extLst>
            </p:cNvPr>
            <p:cNvSpPr/>
            <p:nvPr/>
          </p:nvSpPr>
          <p:spPr>
            <a:xfrm>
              <a:off x="4818888" y="4365190"/>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7" name="Rectangle 151">
              <a:extLst>
                <a:ext uri="{FF2B5EF4-FFF2-40B4-BE49-F238E27FC236}">
                  <a16:creationId xmlns:a16="http://schemas.microsoft.com/office/drawing/2014/main" id="{DF03DFFB-6001-48A5-8BAB-ED57D6D676E5}"/>
                </a:ext>
              </a:extLst>
            </p:cNvPr>
            <p:cNvSpPr/>
            <p:nvPr/>
          </p:nvSpPr>
          <p:spPr>
            <a:xfrm>
              <a:off x="5129783" y="4365190"/>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48" name="TextBox 47">
              <a:extLst>
                <a:ext uri="{FF2B5EF4-FFF2-40B4-BE49-F238E27FC236}">
                  <a16:creationId xmlns:a16="http://schemas.microsoft.com/office/drawing/2014/main" id="{29499C4A-4FFD-4990-89C1-2E5B20CF73EB}"/>
                </a:ext>
              </a:extLst>
            </p:cNvPr>
            <p:cNvSpPr txBox="1"/>
            <p:nvPr/>
          </p:nvSpPr>
          <p:spPr>
            <a:xfrm>
              <a:off x="3867912" y="4785814"/>
              <a:ext cx="1975104" cy="332399"/>
            </a:xfrm>
            <a:prstGeom prst="rect">
              <a:avLst/>
            </a:prstGeom>
            <a:noFill/>
          </p:spPr>
          <p:txBody>
            <a:bodyPr wrap="square" lIns="0" tIns="0" rIns="0" bIns="0" anchor="t">
              <a:spAutoFit/>
            </a:bodyPr>
            <a:lstStyle/>
            <a:p>
              <a:pPr algn="l">
                <a:lnSpc>
                  <a:spcPct val="120000"/>
                </a:lnSpc>
                <a:spcAft>
                  <a:spcPts val="0"/>
                </a:spcAft>
              </a:pPr>
              <a:r>
                <a:rPr sz="900" b="0" i="0" dirty="0">
                  <a:solidFill>
                    <a:srgbClr val="595959"/>
                  </a:solidFill>
                  <a:latin typeface="맑은 고딕"/>
                  <a:ea typeface="맑은 고딕"/>
                  <a:cs typeface="맑은 고딕"/>
                </a:rPr>
                <a:t>매 </a:t>
              </a:r>
              <a:r>
                <a:rPr sz="900" b="0" i="0" dirty="0" err="1">
                  <a:solidFill>
                    <a:srgbClr val="595959"/>
                  </a:solidFill>
                  <a:latin typeface="맑은 고딕"/>
                  <a:ea typeface="맑은 고딕"/>
                  <a:cs typeface="맑은 고딕"/>
                </a:rPr>
                <a:t>step마다</a:t>
              </a:r>
              <a:r>
                <a:rPr sz="900" b="0" i="0" dirty="0">
                  <a:solidFill>
                    <a:srgbClr val="595959"/>
                  </a:solidFill>
                  <a:latin typeface="맑은 고딕"/>
                  <a:ea typeface="맑은 고딕"/>
                  <a:cs typeface="맑은 고딕"/>
                </a:rPr>
                <a:t> 앞 </a:t>
              </a:r>
              <a:r>
                <a:rPr sz="900" b="0" i="0" dirty="0" err="1">
                  <a:solidFill>
                    <a:srgbClr val="595959"/>
                  </a:solidFill>
                  <a:latin typeface="맑은 고딕"/>
                  <a:ea typeface="맑은 고딕"/>
                  <a:cs typeface="맑은 고딕"/>
                </a:rPr>
                <a:t>토큰</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전체를</a:t>
              </a:r>
              <a:r>
                <a:rPr sz="900" b="0" i="0" dirty="0">
                  <a:solidFill>
                    <a:srgbClr val="595959"/>
                  </a:solidFill>
                  <a:latin typeface="맑은 고딕"/>
                  <a:ea typeface="맑은 고딕"/>
                  <a:cs typeface="맑은 고딕"/>
                </a:rPr>
                <a:t> </a:t>
              </a:r>
              <a:r>
                <a:rPr sz="900" b="1" i="0" dirty="0" err="1">
                  <a:solidFill>
                    <a:srgbClr val="C00000"/>
                  </a:solidFill>
                  <a:latin typeface="맑은 고딕"/>
                  <a:ea typeface="맑은 고딕"/>
                  <a:cs typeface="맑은 고딕"/>
                </a:rPr>
                <a:t>다시</a:t>
              </a:r>
              <a:r>
                <a:rPr sz="900" b="1" i="0" dirty="0">
                  <a:solidFill>
                    <a:srgbClr val="C00000"/>
                  </a:solidFill>
                  <a:latin typeface="맑은 고딕"/>
                  <a:ea typeface="맑은 고딕"/>
                  <a:cs typeface="맑은 고딕"/>
                </a:rPr>
                <a:t> </a:t>
              </a:r>
              <a:r>
                <a:rPr sz="900" b="1" i="0" dirty="0" err="1">
                  <a:solidFill>
                    <a:srgbClr val="C00000"/>
                  </a:solidFill>
                  <a:latin typeface="맑은 고딕"/>
                  <a:ea typeface="맑은 고딕"/>
                  <a:cs typeface="맑은 고딕"/>
                </a:rPr>
                <a:t>계산</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계산량</a:t>
              </a:r>
              <a:r>
                <a:rPr sz="900" b="0" i="0" dirty="0">
                  <a:solidFill>
                    <a:srgbClr val="595959"/>
                  </a:solidFill>
                  <a:latin typeface="맑은 고딕"/>
                  <a:ea typeface="맑은 고딕"/>
                  <a:cs typeface="맑은 고딕"/>
                </a:rPr>
                <a:t> = 1+2+3+4+…  (</a:t>
              </a:r>
              <a:r>
                <a:rPr sz="900" b="0" i="0" dirty="0" err="1">
                  <a:solidFill>
                    <a:srgbClr val="595959"/>
                  </a:solidFill>
                  <a:latin typeface="맑은 고딕"/>
                  <a:ea typeface="맑은 고딕"/>
                  <a:cs typeface="맑은 고딕"/>
                </a:rPr>
                <a:t>폭증</a:t>
              </a:r>
              <a:r>
                <a:rPr sz="900" b="0" i="0" dirty="0">
                  <a:solidFill>
                    <a:srgbClr val="595959"/>
                  </a:solidFill>
                  <a:latin typeface="맑은 고딕"/>
                  <a:ea typeface="맑은 고딕"/>
                  <a:cs typeface="맑은 고딕"/>
                </a:rPr>
                <a:t>)</a:t>
              </a:r>
            </a:p>
          </p:txBody>
        </p:sp>
        <p:sp>
          <p:nvSpPr>
            <p:cNvPr id="49" name="Rounded Rectangle 153">
              <a:extLst>
                <a:ext uri="{FF2B5EF4-FFF2-40B4-BE49-F238E27FC236}">
                  <a16:creationId xmlns:a16="http://schemas.microsoft.com/office/drawing/2014/main" id="{86FAF04D-E779-4BDF-A8F7-72A475D212A3}"/>
                </a:ext>
              </a:extLst>
            </p:cNvPr>
            <p:cNvSpPr/>
            <p:nvPr/>
          </p:nvSpPr>
          <p:spPr>
            <a:xfrm>
              <a:off x="6080760" y="3066743"/>
              <a:ext cx="2194560" cy="2304288"/>
            </a:xfrm>
            <a:prstGeom prst="roundRect">
              <a:avLst>
                <a:gd name="adj" fmla="val 5000"/>
              </a:avLst>
            </a:prstGeom>
            <a:solidFill>
              <a:srgbClr val="F4F9FD"/>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50" name="TextBox 49">
              <a:extLst>
                <a:ext uri="{FF2B5EF4-FFF2-40B4-BE49-F238E27FC236}">
                  <a16:creationId xmlns:a16="http://schemas.microsoft.com/office/drawing/2014/main" id="{E66665A2-2932-4A5D-B269-B854C1F5FE3C}"/>
                </a:ext>
              </a:extLst>
            </p:cNvPr>
            <p:cNvSpPr txBox="1"/>
            <p:nvPr/>
          </p:nvSpPr>
          <p:spPr>
            <a:xfrm>
              <a:off x="6190488" y="3187119"/>
              <a:ext cx="1975104" cy="161583"/>
            </a:xfrm>
            <a:prstGeom prst="rect">
              <a:avLst/>
            </a:prstGeom>
            <a:noFill/>
          </p:spPr>
          <p:txBody>
            <a:bodyPr wrap="square" lIns="0" tIns="0" rIns="0" bIns="0" anchor="ctr">
              <a:spAutoFit/>
            </a:bodyPr>
            <a:lstStyle/>
            <a:p>
              <a:pPr algn="ctr">
                <a:lnSpc>
                  <a:spcPct val="100000"/>
                </a:lnSpc>
                <a:spcAft>
                  <a:spcPts val="0"/>
                </a:spcAft>
              </a:pPr>
              <a:r>
                <a:rPr sz="1050" b="1" i="0">
                  <a:solidFill>
                    <a:srgbClr val="1F3864"/>
                  </a:solidFill>
                  <a:latin typeface="맑은 고딕"/>
                  <a:ea typeface="맑은 고딕"/>
                  <a:cs typeface="맑은 고딕"/>
                </a:rPr>
                <a:t>KV 캐시 사용</a:t>
              </a:r>
            </a:p>
          </p:txBody>
        </p:sp>
        <p:sp>
          <p:nvSpPr>
            <p:cNvPr id="51" name="TextBox 50">
              <a:extLst>
                <a:ext uri="{FF2B5EF4-FFF2-40B4-BE49-F238E27FC236}">
                  <a16:creationId xmlns:a16="http://schemas.microsoft.com/office/drawing/2014/main" id="{0114F2B8-8C8F-4848-864B-2D910EA4DA53}"/>
                </a:ext>
              </a:extLst>
            </p:cNvPr>
            <p:cNvSpPr txBox="1"/>
            <p:nvPr/>
          </p:nvSpPr>
          <p:spPr>
            <a:xfrm>
              <a:off x="6172200" y="3508107"/>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1</a:t>
              </a:r>
            </a:p>
          </p:txBody>
        </p:sp>
        <p:sp>
          <p:nvSpPr>
            <p:cNvPr id="52" name="Rectangle 156">
              <a:extLst>
                <a:ext uri="{FF2B5EF4-FFF2-40B4-BE49-F238E27FC236}">
                  <a16:creationId xmlns:a16="http://schemas.microsoft.com/office/drawing/2014/main" id="{B2F27BDC-FFED-4DCF-ABAC-BB4F8C856583}"/>
                </a:ext>
              </a:extLst>
            </p:cNvPr>
            <p:cNvSpPr/>
            <p:nvPr/>
          </p:nvSpPr>
          <p:spPr>
            <a:xfrm>
              <a:off x="6519672" y="3487367"/>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endParaRPr sz="2000"/>
            </a:p>
          </p:txBody>
        </p:sp>
        <p:sp>
          <p:nvSpPr>
            <p:cNvPr id="53" name="TextBox 52">
              <a:extLst>
                <a:ext uri="{FF2B5EF4-FFF2-40B4-BE49-F238E27FC236}">
                  <a16:creationId xmlns:a16="http://schemas.microsoft.com/office/drawing/2014/main" id="{BD5D3BE9-C431-4272-B7F7-3C02366BB379}"/>
                </a:ext>
              </a:extLst>
            </p:cNvPr>
            <p:cNvSpPr txBox="1"/>
            <p:nvPr/>
          </p:nvSpPr>
          <p:spPr>
            <a:xfrm>
              <a:off x="6172200" y="3800714"/>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2</a:t>
              </a:r>
            </a:p>
          </p:txBody>
        </p:sp>
        <p:sp>
          <p:nvSpPr>
            <p:cNvPr id="54" name="Rectangle 158">
              <a:extLst>
                <a:ext uri="{FF2B5EF4-FFF2-40B4-BE49-F238E27FC236}">
                  <a16:creationId xmlns:a16="http://schemas.microsoft.com/office/drawing/2014/main" id="{756A1348-3C29-42B7-9E12-28DE88B32B09}"/>
                </a:ext>
              </a:extLst>
            </p:cNvPr>
            <p:cNvSpPr/>
            <p:nvPr/>
          </p:nvSpPr>
          <p:spPr>
            <a:xfrm>
              <a:off x="6519672" y="3779974"/>
              <a:ext cx="274320"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55" name="Rectangle 159">
              <a:extLst>
                <a:ext uri="{FF2B5EF4-FFF2-40B4-BE49-F238E27FC236}">
                  <a16:creationId xmlns:a16="http://schemas.microsoft.com/office/drawing/2014/main" id="{51E77F83-74DF-4662-BBDD-82C6412B7085}"/>
                </a:ext>
              </a:extLst>
            </p:cNvPr>
            <p:cNvSpPr/>
            <p:nvPr/>
          </p:nvSpPr>
          <p:spPr>
            <a:xfrm>
              <a:off x="6830568" y="3779974"/>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endParaRPr sz="2000"/>
            </a:p>
          </p:txBody>
        </p:sp>
        <p:sp>
          <p:nvSpPr>
            <p:cNvPr id="56" name="TextBox 55">
              <a:extLst>
                <a:ext uri="{FF2B5EF4-FFF2-40B4-BE49-F238E27FC236}">
                  <a16:creationId xmlns:a16="http://schemas.microsoft.com/office/drawing/2014/main" id="{75D1D191-2A6F-42FE-AD88-7FB73AD430BD}"/>
                </a:ext>
              </a:extLst>
            </p:cNvPr>
            <p:cNvSpPr txBox="1"/>
            <p:nvPr/>
          </p:nvSpPr>
          <p:spPr>
            <a:xfrm>
              <a:off x="6172200" y="4093322"/>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3</a:t>
              </a:r>
            </a:p>
          </p:txBody>
        </p:sp>
        <p:sp>
          <p:nvSpPr>
            <p:cNvPr id="57" name="Rectangle 161">
              <a:extLst>
                <a:ext uri="{FF2B5EF4-FFF2-40B4-BE49-F238E27FC236}">
                  <a16:creationId xmlns:a16="http://schemas.microsoft.com/office/drawing/2014/main" id="{826C71A2-BAF7-426A-BB79-AA07CBBE8EC6}"/>
                </a:ext>
              </a:extLst>
            </p:cNvPr>
            <p:cNvSpPr/>
            <p:nvPr/>
          </p:nvSpPr>
          <p:spPr>
            <a:xfrm>
              <a:off x="6519672" y="4072582"/>
              <a:ext cx="274320"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58" name="Rectangle 162">
              <a:extLst>
                <a:ext uri="{FF2B5EF4-FFF2-40B4-BE49-F238E27FC236}">
                  <a16:creationId xmlns:a16="http://schemas.microsoft.com/office/drawing/2014/main" id="{C51A5A4B-1E82-431D-8FD7-33F896029A6E}"/>
                </a:ext>
              </a:extLst>
            </p:cNvPr>
            <p:cNvSpPr/>
            <p:nvPr/>
          </p:nvSpPr>
          <p:spPr>
            <a:xfrm>
              <a:off x="6830568" y="4072582"/>
              <a:ext cx="274320"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59" name="Rectangle 163">
              <a:extLst>
                <a:ext uri="{FF2B5EF4-FFF2-40B4-BE49-F238E27FC236}">
                  <a16:creationId xmlns:a16="http://schemas.microsoft.com/office/drawing/2014/main" id="{3D6A2645-5005-402B-8950-84C46535F883}"/>
                </a:ext>
              </a:extLst>
            </p:cNvPr>
            <p:cNvSpPr/>
            <p:nvPr/>
          </p:nvSpPr>
          <p:spPr>
            <a:xfrm>
              <a:off x="7141464" y="4072582"/>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endParaRPr sz="2000"/>
            </a:p>
          </p:txBody>
        </p:sp>
        <p:sp>
          <p:nvSpPr>
            <p:cNvPr id="60" name="TextBox 59">
              <a:extLst>
                <a:ext uri="{FF2B5EF4-FFF2-40B4-BE49-F238E27FC236}">
                  <a16:creationId xmlns:a16="http://schemas.microsoft.com/office/drawing/2014/main" id="{96174C2C-EE25-4867-B8F7-BC35196BD409}"/>
                </a:ext>
              </a:extLst>
            </p:cNvPr>
            <p:cNvSpPr txBox="1"/>
            <p:nvPr/>
          </p:nvSpPr>
          <p:spPr>
            <a:xfrm>
              <a:off x="6172200" y="4385930"/>
              <a:ext cx="288541" cy="123111"/>
            </a:xfrm>
            <a:prstGeom prst="rect">
              <a:avLst/>
            </a:prstGeom>
            <a:noFill/>
          </p:spPr>
          <p:txBody>
            <a:bodyPr wrap="none" lIns="0" tIns="0" rIns="0" bIns="0" anchor="ctr">
              <a:spAutoFit/>
            </a:bodyPr>
            <a:lstStyle/>
            <a:p>
              <a:pPr algn="l">
                <a:lnSpc>
                  <a:spcPct val="100000"/>
                </a:lnSpc>
                <a:spcAft>
                  <a:spcPts val="0"/>
                </a:spcAft>
              </a:pPr>
              <a:r>
                <a:rPr sz="800" b="0" i="0">
                  <a:solidFill>
                    <a:srgbClr val="808080"/>
                  </a:solidFill>
                  <a:latin typeface="맑은 고딕"/>
                  <a:ea typeface="맑은 고딕"/>
                  <a:cs typeface="맑은 고딕"/>
                </a:rPr>
                <a:t>step 4</a:t>
              </a:r>
            </a:p>
          </p:txBody>
        </p:sp>
        <p:sp>
          <p:nvSpPr>
            <p:cNvPr id="61" name="Rectangle 165">
              <a:extLst>
                <a:ext uri="{FF2B5EF4-FFF2-40B4-BE49-F238E27FC236}">
                  <a16:creationId xmlns:a16="http://schemas.microsoft.com/office/drawing/2014/main" id="{D9A92DE5-C071-4F3E-AE93-E5CCF36FEB8F}"/>
                </a:ext>
              </a:extLst>
            </p:cNvPr>
            <p:cNvSpPr/>
            <p:nvPr/>
          </p:nvSpPr>
          <p:spPr>
            <a:xfrm>
              <a:off x="6519672" y="4365190"/>
              <a:ext cx="274320"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62" name="Rectangle 166">
              <a:extLst>
                <a:ext uri="{FF2B5EF4-FFF2-40B4-BE49-F238E27FC236}">
                  <a16:creationId xmlns:a16="http://schemas.microsoft.com/office/drawing/2014/main" id="{10293F8F-ECFD-4A48-8876-ABE591F6B172}"/>
                </a:ext>
              </a:extLst>
            </p:cNvPr>
            <p:cNvSpPr/>
            <p:nvPr/>
          </p:nvSpPr>
          <p:spPr>
            <a:xfrm>
              <a:off x="6830568" y="4365190"/>
              <a:ext cx="274320"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63" name="Rectangle 167">
              <a:extLst>
                <a:ext uri="{FF2B5EF4-FFF2-40B4-BE49-F238E27FC236}">
                  <a16:creationId xmlns:a16="http://schemas.microsoft.com/office/drawing/2014/main" id="{ED44D758-9CB1-410C-9176-A66C2D30A452}"/>
                </a:ext>
              </a:extLst>
            </p:cNvPr>
            <p:cNvSpPr/>
            <p:nvPr/>
          </p:nvSpPr>
          <p:spPr>
            <a:xfrm>
              <a:off x="7141464" y="4365190"/>
              <a:ext cx="274320" cy="16459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64" name="Rectangle 168">
              <a:extLst>
                <a:ext uri="{FF2B5EF4-FFF2-40B4-BE49-F238E27FC236}">
                  <a16:creationId xmlns:a16="http://schemas.microsoft.com/office/drawing/2014/main" id="{97F75BBE-1A91-4677-AA9A-EAC741FA754B}"/>
                </a:ext>
              </a:extLst>
            </p:cNvPr>
            <p:cNvSpPr/>
            <p:nvPr/>
          </p:nvSpPr>
          <p:spPr>
            <a:xfrm>
              <a:off x="7452360" y="4365190"/>
              <a:ext cx="274320" cy="164592"/>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endParaRPr sz="2000"/>
            </a:p>
          </p:txBody>
        </p:sp>
        <p:sp>
          <p:nvSpPr>
            <p:cNvPr id="65" name="TextBox 64">
              <a:extLst>
                <a:ext uri="{FF2B5EF4-FFF2-40B4-BE49-F238E27FC236}">
                  <a16:creationId xmlns:a16="http://schemas.microsoft.com/office/drawing/2014/main" id="{52A1B08F-95C9-4A68-9E25-84C0D78B525F}"/>
                </a:ext>
              </a:extLst>
            </p:cNvPr>
            <p:cNvSpPr txBox="1"/>
            <p:nvPr/>
          </p:nvSpPr>
          <p:spPr>
            <a:xfrm>
              <a:off x="6190488" y="4785814"/>
              <a:ext cx="1975104" cy="498598"/>
            </a:xfrm>
            <a:prstGeom prst="rect">
              <a:avLst/>
            </a:prstGeom>
            <a:noFill/>
          </p:spPr>
          <p:txBody>
            <a:bodyPr wrap="square" lIns="0" tIns="0" rIns="0" bIns="0" anchor="t">
              <a:spAutoFit/>
            </a:bodyPr>
            <a:lstStyle/>
            <a:p>
              <a:pPr algn="l">
                <a:lnSpc>
                  <a:spcPct val="120000"/>
                </a:lnSpc>
                <a:spcAft>
                  <a:spcPts val="0"/>
                </a:spcAft>
              </a:pPr>
              <a:r>
                <a:rPr sz="900" b="0" i="0" dirty="0">
                  <a:solidFill>
                    <a:srgbClr val="595959"/>
                  </a:solidFill>
                  <a:latin typeface="맑은 고딕"/>
                  <a:ea typeface="맑은 고딕"/>
                  <a:cs typeface="맑은 고딕"/>
                </a:rPr>
                <a:t>새 </a:t>
              </a:r>
              <a:r>
                <a:rPr sz="900" b="0" i="0" dirty="0" err="1">
                  <a:solidFill>
                    <a:srgbClr val="595959"/>
                  </a:solidFill>
                  <a:latin typeface="맑은 고딕"/>
                  <a:ea typeface="맑은 고딕"/>
                  <a:cs typeface="맑은 고딕"/>
                </a:rPr>
                <a:t>토큰</a:t>
              </a:r>
              <a:r>
                <a:rPr sz="900" b="0" i="0" dirty="0">
                  <a:solidFill>
                    <a:srgbClr val="595959"/>
                  </a:solidFill>
                  <a:latin typeface="맑은 고딕"/>
                  <a:ea typeface="맑은 고딕"/>
                  <a:cs typeface="맑은 고딕"/>
                </a:rPr>
                <a:t> </a:t>
              </a:r>
              <a:r>
                <a:rPr sz="900" b="1" i="0" dirty="0">
                  <a:solidFill>
                    <a:srgbClr val="2E75B6"/>
                  </a:solidFill>
                  <a:latin typeface="맑은 고딕"/>
                  <a:ea typeface="맑은 고딕"/>
                  <a:cs typeface="맑은 고딕"/>
                </a:rPr>
                <a:t>1개만 </a:t>
              </a:r>
              <a:r>
                <a:rPr sz="900" b="1" i="0" dirty="0" err="1">
                  <a:solidFill>
                    <a:srgbClr val="2E75B6"/>
                  </a:solidFill>
                  <a:latin typeface="맑은 고딕"/>
                  <a:ea typeface="맑은 고딕"/>
                  <a:cs typeface="맑은 고딕"/>
                </a:rPr>
                <a:t>계산</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나머지는</a:t>
              </a:r>
              <a:r>
                <a:rPr sz="900" b="0" i="0" dirty="0">
                  <a:solidFill>
                    <a:srgbClr val="595959"/>
                  </a:solidFill>
                  <a:latin typeface="맑은 고딕"/>
                  <a:ea typeface="맑은 고딕"/>
                  <a:cs typeface="맑은 고딕"/>
                </a:rPr>
                <a:t> </a:t>
              </a:r>
              <a:r>
                <a:rPr sz="900" b="1" i="0" dirty="0" err="1">
                  <a:solidFill>
                    <a:srgbClr val="595959"/>
                  </a:solidFill>
                  <a:latin typeface="맑은 고딕"/>
                  <a:ea typeface="맑은 고딕"/>
                  <a:cs typeface="맑은 고딕"/>
                </a:rPr>
                <a:t>저장된</a:t>
              </a:r>
              <a:r>
                <a:rPr sz="900" b="1" i="0" dirty="0">
                  <a:solidFill>
                    <a:srgbClr val="595959"/>
                  </a:solidFill>
                  <a:latin typeface="맑은 고딕"/>
                  <a:ea typeface="맑은 고딕"/>
                  <a:cs typeface="맑은 고딕"/>
                </a:rPr>
                <a:t> 값 </a:t>
              </a:r>
              <a:r>
                <a:rPr sz="900" b="1" i="0" dirty="0" err="1">
                  <a:solidFill>
                    <a:srgbClr val="595959"/>
                  </a:solidFill>
                  <a:latin typeface="맑은 고딕"/>
                  <a:ea typeface="맑은 고딕"/>
                  <a:cs typeface="맑은 고딕"/>
                </a:rPr>
                <a:t>재사용</a:t>
              </a:r>
              <a:r>
                <a:rPr sz="900" b="0" i="0" dirty="0">
                  <a:solidFill>
                    <a:srgbClr val="595959"/>
                  </a:solidFill>
                  <a:latin typeface="맑은 고딕"/>
                  <a:ea typeface="맑은 고딕"/>
                  <a:cs typeface="맑은 고딕"/>
                </a:rPr>
                <a:t>
</a:t>
              </a:r>
              <a:r>
                <a:rPr sz="900" b="0" i="0" dirty="0" err="1">
                  <a:solidFill>
                    <a:srgbClr val="595959"/>
                  </a:solidFill>
                  <a:latin typeface="맑은 고딕"/>
                  <a:ea typeface="맑은 고딕"/>
                  <a:cs typeface="맑은 고딕"/>
                </a:rPr>
                <a:t>계산량</a:t>
              </a:r>
              <a:r>
                <a:rPr sz="900" b="0" i="0" dirty="0">
                  <a:solidFill>
                    <a:srgbClr val="595959"/>
                  </a:solidFill>
                  <a:latin typeface="맑은 고딕"/>
                  <a:ea typeface="맑은 고딕"/>
                  <a:cs typeface="맑은 고딕"/>
                </a:rPr>
                <a:t> = 1+1+1+1+…  (</a:t>
              </a:r>
              <a:r>
                <a:rPr sz="900" b="0" i="0" dirty="0" err="1">
                  <a:solidFill>
                    <a:srgbClr val="595959"/>
                  </a:solidFill>
                  <a:latin typeface="맑은 고딕"/>
                  <a:ea typeface="맑은 고딕"/>
                  <a:cs typeface="맑은 고딕"/>
                </a:rPr>
                <a:t>일정</a:t>
              </a:r>
              <a:r>
                <a:rPr sz="900" b="0" i="0" dirty="0">
                  <a:solidFill>
                    <a:srgbClr val="595959"/>
                  </a:solidFill>
                  <a:latin typeface="맑은 고딕"/>
                  <a:ea typeface="맑은 고딕"/>
                  <a:cs typeface="맑은 고딕"/>
                </a:rPr>
                <a:t>)</a:t>
              </a:r>
            </a:p>
          </p:txBody>
        </p:sp>
        <p:sp>
          <p:nvSpPr>
            <p:cNvPr id="66" name="Rectangle 172">
              <a:extLst>
                <a:ext uri="{FF2B5EF4-FFF2-40B4-BE49-F238E27FC236}">
                  <a16:creationId xmlns:a16="http://schemas.microsoft.com/office/drawing/2014/main" id="{7BE35769-D3F4-4FF8-B7A7-118B6909215F}"/>
                </a:ext>
              </a:extLst>
            </p:cNvPr>
            <p:cNvSpPr/>
            <p:nvPr/>
          </p:nvSpPr>
          <p:spPr>
            <a:xfrm>
              <a:off x="4753784" y="5462470"/>
              <a:ext cx="146304" cy="1463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67" name="TextBox 66">
              <a:extLst>
                <a:ext uri="{FF2B5EF4-FFF2-40B4-BE49-F238E27FC236}">
                  <a16:creationId xmlns:a16="http://schemas.microsoft.com/office/drawing/2014/main" id="{06704F8A-2819-441E-92BF-F73D5FC1530C}"/>
                </a:ext>
              </a:extLst>
            </p:cNvPr>
            <p:cNvSpPr txBox="1"/>
            <p:nvPr/>
          </p:nvSpPr>
          <p:spPr>
            <a:xfrm>
              <a:off x="4954952" y="5466372"/>
              <a:ext cx="888064" cy="138499"/>
            </a:xfrm>
            <a:prstGeom prst="rect">
              <a:avLst/>
            </a:prstGeom>
            <a:noFill/>
          </p:spPr>
          <p:txBody>
            <a:bodyPr wrap="none" lIns="0" tIns="0" rIns="0" bIns="0" anchor="ctr">
              <a:spAutoFit/>
            </a:bodyPr>
            <a:lstStyle/>
            <a:p>
              <a:pPr algn="l">
                <a:lnSpc>
                  <a:spcPct val="100000"/>
                </a:lnSpc>
                <a:spcAft>
                  <a:spcPts val="0"/>
                </a:spcAft>
              </a:pPr>
              <a:r>
                <a:rPr sz="900" b="0" i="0" dirty="0" err="1">
                  <a:solidFill>
                    <a:srgbClr val="595959"/>
                  </a:solidFill>
                  <a:latin typeface="맑은 고딕"/>
                  <a:ea typeface="맑은 고딕"/>
                  <a:cs typeface="맑은 고딕"/>
                </a:rPr>
                <a:t>저장된</a:t>
              </a:r>
              <a:r>
                <a:rPr sz="900" b="0" i="0" dirty="0">
                  <a:solidFill>
                    <a:srgbClr val="595959"/>
                  </a:solidFill>
                  <a:latin typeface="맑은 고딕"/>
                  <a:ea typeface="맑은 고딕"/>
                  <a:cs typeface="맑은 고딕"/>
                </a:rPr>
                <a:t> 값 </a:t>
              </a:r>
              <a:r>
                <a:rPr sz="900" b="0" i="0" dirty="0" err="1">
                  <a:solidFill>
                    <a:srgbClr val="595959"/>
                  </a:solidFill>
                  <a:latin typeface="맑은 고딕"/>
                  <a:ea typeface="맑은 고딕"/>
                  <a:cs typeface="맑은 고딕"/>
                </a:rPr>
                <a:t>재사용</a:t>
              </a:r>
              <a:endParaRPr sz="900" b="0" i="0" dirty="0">
                <a:solidFill>
                  <a:srgbClr val="595959"/>
                </a:solidFill>
                <a:latin typeface="맑은 고딕"/>
                <a:ea typeface="맑은 고딕"/>
                <a:cs typeface="맑은 고딕"/>
              </a:endParaRPr>
            </a:p>
          </p:txBody>
        </p:sp>
        <p:sp>
          <p:nvSpPr>
            <p:cNvPr id="68" name="Rectangle 174">
              <a:extLst>
                <a:ext uri="{FF2B5EF4-FFF2-40B4-BE49-F238E27FC236}">
                  <a16:creationId xmlns:a16="http://schemas.microsoft.com/office/drawing/2014/main" id="{73B4EB58-5EE7-401A-9A09-0C05F991BEEB}"/>
                </a:ext>
              </a:extLst>
            </p:cNvPr>
            <p:cNvSpPr/>
            <p:nvPr/>
          </p:nvSpPr>
          <p:spPr>
            <a:xfrm>
              <a:off x="6318344" y="5462470"/>
              <a:ext cx="146304" cy="146304"/>
            </a:xfrm>
            <a:prstGeom prst="rect">
              <a:avLst/>
            </a:prstGeom>
            <a:solidFill>
              <a:srgbClr val="E0666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69" name="TextBox 68">
              <a:extLst>
                <a:ext uri="{FF2B5EF4-FFF2-40B4-BE49-F238E27FC236}">
                  <a16:creationId xmlns:a16="http://schemas.microsoft.com/office/drawing/2014/main" id="{5DAF088A-B73B-4E87-81D2-BB83B8F61152}"/>
                </a:ext>
              </a:extLst>
            </p:cNvPr>
            <p:cNvSpPr txBox="1"/>
            <p:nvPr/>
          </p:nvSpPr>
          <p:spPr>
            <a:xfrm>
              <a:off x="6519512" y="5466372"/>
              <a:ext cx="230832" cy="138499"/>
            </a:xfrm>
            <a:prstGeom prst="rect">
              <a:avLst/>
            </a:prstGeom>
            <a:noFill/>
          </p:spPr>
          <p:txBody>
            <a:bodyPr wrap="none" lIns="0" tIns="0" rIns="0" bIns="0" anchor="ctr">
              <a:spAutoFit/>
            </a:bodyPr>
            <a:lstStyle/>
            <a:p>
              <a:pPr algn="l">
                <a:lnSpc>
                  <a:spcPct val="100000"/>
                </a:lnSpc>
                <a:spcAft>
                  <a:spcPts val="0"/>
                </a:spcAft>
              </a:pPr>
              <a:r>
                <a:rPr sz="900" b="0" i="0" dirty="0" err="1">
                  <a:solidFill>
                    <a:srgbClr val="595959"/>
                  </a:solidFill>
                  <a:latin typeface="맑은 고딕"/>
                  <a:ea typeface="맑은 고딕"/>
                  <a:cs typeface="맑은 고딕"/>
                </a:rPr>
                <a:t>계산</a:t>
              </a:r>
              <a:endParaRPr sz="900" b="0" i="0" dirty="0">
                <a:solidFill>
                  <a:srgbClr val="595959"/>
                </a:solidFill>
                <a:latin typeface="맑은 고딕"/>
                <a:ea typeface="맑은 고딕"/>
                <a:cs typeface="맑은 고딕"/>
              </a:endParaRPr>
            </a:p>
          </p:txBody>
        </p:sp>
      </p:grpSp>
      <p:sp>
        <p:nvSpPr>
          <p:cNvPr id="98" name="TextBox 97">
            <a:extLst>
              <a:ext uri="{FF2B5EF4-FFF2-40B4-BE49-F238E27FC236}">
                <a16:creationId xmlns:a16="http://schemas.microsoft.com/office/drawing/2014/main" id="{83293EA2-EFA5-438F-A77A-4C60F51EF6A1}"/>
              </a:ext>
            </a:extLst>
          </p:cNvPr>
          <p:cNvSpPr txBox="1"/>
          <p:nvPr/>
        </p:nvSpPr>
        <p:spPr>
          <a:xfrm>
            <a:off x="3758184" y="2363049"/>
            <a:ext cx="4517136" cy="172483"/>
          </a:xfrm>
          <a:prstGeom prst="rect">
            <a:avLst/>
          </a:prstGeom>
          <a:noFill/>
        </p:spPr>
        <p:txBody>
          <a:bodyPr wrap="square" lIns="0" tIns="0" rIns="0" bIns="0" anchor="t">
            <a:spAutoFit/>
          </a:bodyPr>
          <a:lstStyle/>
          <a:p>
            <a:pPr algn="l">
              <a:lnSpc>
                <a:spcPct val="118000"/>
              </a:lnSpc>
              <a:spcAft>
                <a:spcPts val="0"/>
              </a:spcAft>
            </a:pPr>
            <a:r>
              <a:rPr lang="en-US" altLang="ko-KR" sz="950" b="1" dirty="0">
                <a:solidFill>
                  <a:srgbClr val="000000"/>
                </a:solidFill>
                <a:latin typeface="맑은 고딕"/>
                <a:ea typeface="맑은 고딕"/>
                <a:cs typeface="맑은 고딕"/>
                <a:sym typeface="Wingdings" panose="05000000000000000000" pitchFamily="2" charset="2"/>
              </a:rPr>
              <a:t> </a:t>
            </a:r>
            <a:r>
              <a:rPr lang="en-US" altLang="ko-KR" sz="950" b="1" dirty="0">
                <a:solidFill>
                  <a:srgbClr val="000000"/>
                </a:solidFill>
                <a:latin typeface="맑은 고딕"/>
                <a:ea typeface="맑은 고딕"/>
                <a:cs typeface="맑은 고딕"/>
              </a:rPr>
              <a:t>Key, Value</a:t>
            </a:r>
            <a:r>
              <a:rPr lang="ko-KR" altLang="en-US" sz="950" b="1" dirty="0">
                <a:solidFill>
                  <a:srgbClr val="000000"/>
                </a:solidFill>
                <a:latin typeface="맑은 고딕"/>
                <a:ea typeface="맑은 고딕"/>
                <a:cs typeface="맑은 고딕"/>
              </a:rPr>
              <a:t>는 다음 토큰 생성에 재사용이 가능 </a:t>
            </a:r>
            <a:endParaRPr lang="en-US" sz="950" b="1" i="0" dirty="0">
              <a:solidFill>
                <a:srgbClr val="000000"/>
              </a:solidFill>
              <a:latin typeface="맑은 고딕"/>
              <a:ea typeface="맑은 고딕"/>
              <a:cs typeface="맑은 고딕"/>
            </a:endParaRPr>
          </a:p>
        </p:txBody>
      </p:sp>
      <p:sp>
        <p:nvSpPr>
          <p:cNvPr id="100" name="실행 단추: 앞으로 또는 다음 117">
            <a:hlinkClick r:id="rId4" action="ppaction://hlinksldjump" highlightClick="1"/>
            <a:extLst>
              <a:ext uri="{FF2B5EF4-FFF2-40B4-BE49-F238E27FC236}">
                <a16:creationId xmlns:a16="http://schemas.microsoft.com/office/drawing/2014/main" id="{78D0EDDD-C0CF-4331-97D6-AFDCBDB7FDEB}"/>
              </a:ext>
            </a:extLst>
          </p:cNvPr>
          <p:cNvSpPr/>
          <p:nvPr/>
        </p:nvSpPr>
        <p:spPr>
          <a:xfrm>
            <a:off x="8039927" y="1364998"/>
            <a:ext cx="193505" cy="225397"/>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2EC42A33-9893-4D8E-910B-050395EAAA28}"/>
              </a:ext>
            </a:extLst>
          </p:cNvPr>
          <p:cNvSpPr txBox="1"/>
          <p:nvPr/>
        </p:nvSpPr>
        <p:spPr>
          <a:xfrm>
            <a:off x="3773928" y="5224863"/>
            <a:ext cx="4483104" cy="155940"/>
          </a:xfrm>
          <a:prstGeom prst="rect">
            <a:avLst/>
          </a:prstGeom>
          <a:noFill/>
        </p:spPr>
        <p:txBody>
          <a:bodyPr wrap="square" lIns="0" tIns="0" rIns="0" bIns="0" anchor="t">
            <a:spAutoFit/>
          </a:bodyPr>
          <a:lstStyle/>
          <a:p>
            <a:pPr algn="l">
              <a:lnSpc>
                <a:spcPct val="118000"/>
              </a:lnSpc>
              <a:spcAft>
                <a:spcPts val="0"/>
              </a:spcAft>
            </a:pPr>
            <a:r>
              <a:rPr lang="en-US" altLang="ko-KR" sz="950" b="1" dirty="0">
                <a:solidFill>
                  <a:srgbClr val="000000"/>
                </a:solidFill>
                <a:latin typeface="맑은 고딕"/>
                <a:ea typeface="맑은 고딕"/>
                <a:cs typeface="맑은 고딕"/>
              </a:rPr>
              <a:t>Context</a:t>
            </a:r>
            <a:r>
              <a:rPr lang="ko-KR" altLang="en-US" sz="950" b="1" dirty="0">
                <a:solidFill>
                  <a:srgbClr val="000000"/>
                </a:solidFill>
                <a:latin typeface="맑은 고딕"/>
                <a:ea typeface="맑은 고딕"/>
                <a:cs typeface="맑은 고딕"/>
              </a:rPr>
              <a:t>가 길어질수록 </a:t>
            </a:r>
            <a:r>
              <a:rPr lang="en-US" sz="950" dirty="0">
                <a:solidFill>
                  <a:srgbClr val="595959"/>
                </a:solidFill>
                <a:latin typeface="맑은 고딕"/>
                <a:ea typeface="맑은 고딕"/>
                <a:cs typeface="맑은 고딕"/>
              </a:rPr>
              <a:t>KV </a:t>
            </a:r>
            <a:r>
              <a:rPr lang="ko-KR" altLang="en-US" sz="950" dirty="0">
                <a:solidFill>
                  <a:srgbClr val="595959"/>
                </a:solidFill>
                <a:latin typeface="맑은 고딕"/>
                <a:ea typeface="맑은 고딕"/>
                <a:cs typeface="맑은 고딕"/>
              </a:rPr>
              <a:t>캐시는 </a:t>
            </a:r>
            <a:r>
              <a:rPr sz="950" b="0" i="0" dirty="0" err="1">
                <a:solidFill>
                  <a:srgbClr val="595959"/>
                </a:solidFill>
                <a:latin typeface="맑은 고딕"/>
                <a:ea typeface="맑은 고딕"/>
                <a:cs typeface="맑은 고딕"/>
              </a:rPr>
              <a:t>정비례</a:t>
            </a:r>
            <a:r>
              <a:rPr lang="ko-KR" altLang="en-US" sz="950" b="0" i="0" dirty="0">
                <a:solidFill>
                  <a:srgbClr val="595959"/>
                </a:solidFill>
                <a:latin typeface="맑은 고딕"/>
                <a:ea typeface="맑은 고딕"/>
                <a:cs typeface="맑은 고딕"/>
              </a:rPr>
              <a:t>해</a:t>
            </a:r>
            <a:r>
              <a:rPr sz="950" b="0" i="0" dirty="0">
                <a:solidFill>
                  <a:srgbClr val="595959"/>
                </a:solidFill>
                <a:latin typeface="맑은 고딕"/>
                <a:ea typeface="맑은 고딕"/>
                <a:cs typeface="맑은 고딕"/>
              </a:rPr>
              <a:t> </a:t>
            </a:r>
            <a:r>
              <a:rPr lang="ko-KR" altLang="en-US" sz="950" b="0" i="0" dirty="0">
                <a:solidFill>
                  <a:srgbClr val="595959"/>
                </a:solidFill>
                <a:latin typeface="맑은 고딕"/>
                <a:ea typeface="맑은 고딕"/>
                <a:cs typeface="맑은 고딕"/>
              </a:rPr>
              <a:t>커짐</a:t>
            </a:r>
            <a:endParaRPr sz="950" b="0" i="0" dirty="0">
              <a:solidFill>
                <a:srgbClr val="595959"/>
              </a:solidFill>
              <a:latin typeface="맑은 고딕"/>
              <a:ea typeface="맑은 고딕"/>
              <a:cs typeface="맑은 고딕"/>
            </a:endParaRPr>
          </a:p>
        </p:txBody>
      </p:sp>
      <p:grpSp>
        <p:nvGrpSpPr>
          <p:cNvPr id="102" name="그룹 101">
            <a:extLst>
              <a:ext uri="{FF2B5EF4-FFF2-40B4-BE49-F238E27FC236}">
                <a16:creationId xmlns:a16="http://schemas.microsoft.com/office/drawing/2014/main" id="{2E92557A-B2D0-4101-8495-BA4801300065}"/>
              </a:ext>
            </a:extLst>
          </p:cNvPr>
          <p:cNvGrpSpPr/>
          <p:nvPr/>
        </p:nvGrpSpPr>
        <p:grpSpPr>
          <a:xfrm>
            <a:off x="6186847" y="4947016"/>
            <a:ext cx="2176423" cy="1162628"/>
            <a:chOff x="8961120" y="4013799"/>
            <a:chExt cx="2633472" cy="1162628"/>
          </a:xfrm>
        </p:grpSpPr>
        <p:sp>
          <p:nvSpPr>
            <p:cNvPr id="103" name="Rectangle 187">
              <a:extLst>
                <a:ext uri="{FF2B5EF4-FFF2-40B4-BE49-F238E27FC236}">
                  <a16:creationId xmlns:a16="http://schemas.microsoft.com/office/drawing/2014/main" id="{3554DD70-8403-4263-9973-C17BD23FFA3F}"/>
                </a:ext>
              </a:extLst>
            </p:cNvPr>
            <p:cNvSpPr/>
            <p:nvPr/>
          </p:nvSpPr>
          <p:spPr>
            <a:xfrm>
              <a:off x="9079992" y="4928199"/>
              <a:ext cx="420624"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104" name="TextBox 103">
              <a:extLst>
                <a:ext uri="{FF2B5EF4-FFF2-40B4-BE49-F238E27FC236}">
                  <a16:creationId xmlns:a16="http://schemas.microsoft.com/office/drawing/2014/main" id="{A7F23AF5-CE5C-497E-97EE-C02FCD224F87}"/>
                </a:ext>
              </a:extLst>
            </p:cNvPr>
            <p:cNvSpPr txBox="1"/>
            <p:nvPr/>
          </p:nvSpPr>
          <p:spPr>
            <a:xfrm>
              <a:off x="9129203" y="4745319"/>
              <a:ext cx="322203" cy="138499"/>
            </a:xfrm>
            <a:prstGeom prst="rect">
              <a:avLst/>
            </a:prstGeom>
            <a:noFill/>
          </p:spPr>
          <p:txBody>
            <a:bodyPr wrap="none" lIns="0" tIns="0" rIns="0" bIns="0" anchor="t">
              <a:spAutoFit/>
            </a:bodyPr>
            <a:lstStyle/>
            <a:p>
              <a:pPr algn="ctr">
                <a:lnSpc>
                  <a:spcPct val="100000"/>
                </a:lnSpc>
                <a:spcAft>
                  <a:spcPts val="0"/>
                </a:spcAft>
              </a:pPr>
              <a:r>
                <a:rPr sz="900" b="1" i="0">
                  <a:solidFill>
                    <a:srgbClr val="1F3864"/>
                  </a:solidFill>
                  <a:latin typeface="맑은 고딕"/>
                  <a:ea typeface="맑은 고딕"/>
                  <a:cs typeface="맑은 고딕"/>
                </a:rPr>
                <a:t>1.3GB</a:t>
              </a:r>
            </a:p>
          </p:txBody>
        </p:sp>
        <p:sp>
          <p:nvSpPr>
            <p:cNvPr id="105" name="TextBox 104">
              <a:extLst>
                <a:ext uri="{FF2B5EF4-FFF2-40B4-BE49-F238E27FC236}">
                  <a16:creationId xmlns:a16="http://schemas.microsoft.com/office/drawing/2014/main" id="{8B28B620-8E76-4B12-AF79-8A2E8F41DBC3}"/>
                </a:ext>
              </a:extLst>
            </p:cNvPr>
            <p:cNvSpPr txBox="1"/>
            <p:nvPr/>
          </p:nvSpPr>
          <p:spPr>
            <a:xfrm>
              <a:off x="9223779" y="5037928"/>
              <a:ext cx="133050" cy="138499"/>
            </a:xfrm>
            <a:prstGeom prst="rect">
              <a:avLst/>
            </a:prstGeom>
            <a:noFill/>
          </p:spPr>
          <p:txBody>
            <a:bodyPr wrap="none" lIns="0" tIns="0" rIns="0" bIns="0" anchor="t">
              <a:spAutoFit/>
            </a:bodyPr>
            <a:lstStyle/>
            <a:p>
              <a:pPr algn="ctr">
                <a:lnSpc>
                  <a:spcPct val="100000"/>
                </a:lnSpc>
                <a:spcAft>
                  <a:spcPts val="0"/>
                </a:spcAft>
              </a:pPr>
              <a:r>
                <a:rPr sz="900" b="0" i="0">
                  <a:solidFill>
                    <a:srgbClr val="595959"/>
                  </a:solidFill>
                  <a:latin typeface="맑은 고딕"/>
                  <a:ea typeface="맑은 고딕"/>
                  <a:cs typeface="맑은 고딕"/>
                </a:rPr>
                <a:t>4K</a:t>
              </a:r>
            </a:p>
          </p:txBody>
        </p:sp>
        <p:sp>
          <p:nvSpPr>
            <p:cNvPr id="106" name="Rectangle 190">
              <a:extLst>
                <a:ext uri="{FF2B5EF4-FFF2-40B4-BE49-F238E27FC236}">
                  <a16:creationId xmlns:a16="http://schemas.microsoft.com/office/drawing/2014/main" id="{9CA69AF3-4AD3-4314-89D1-BDB170B741BD}"/>
                </a:ext>
              </a:extLst>
            </p:cNvPr>
            <p:cNvSpPr/>
            <p:nvPr/>
          </p:nvSpPr>
          <p:spPr>
            <a:xfrm>
              <a:off x="9921240" y="4800184"/>
              <a:ext cx="420624" cy="20116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107" name="TextBox 106">
              <a:extLst>
                <a:ext uri="{FF2B5EF4-FFF2-40B4-BE49-F238E27FC236}">
                  <a16:creationId xmlns:a16="http://schemas.microsoft.com/office/drawing/2014/main" id="{C4873768-2636-4231-82A6-ECE495E5C0F7}"/>
                </a:ext>
              </a:extLst>
            </p:cNvPr>
            <p:cNvSpPr txBox="1"/>
            <p:nvPr/>
          </p:nvSpPr>
          <p:spPr>
            <a:xfrm>
              <a:off x="9985678" y="4617303"/>
              <a:ext cx="291747" cy="138499"/>
            </a:xfrm>
            <a:prstGeom prst="rect">
              <a:avLst/>
            </a:prstGeom>
            <a:noFill/>
          </p:spPr>
          <p:txBody>
            <a:bodyPr wrap="none" lIns="0" tIns="0" rIns="0" bIns="0" anchor="t">
              <a:spAutoFit/>
            </a:bodyPr>
            <a:lstStyle/>
            <a:p>
              <a:pPr algn="ctr">
                <a:lnSpc>
                  <a:spcPct val="100000"/>
                </a:lnSpc>
                <a:spcAft>
                  <a:spcPts val="0"/>
                </a:spcAft>
              </a:pPr>
              <a:r>
                <a:rPr sz="900" b="1" i="0">
                  <a:solidFill>
                    <a:srgbClr val="1F3864"/>
                  </a:solidFill>
                  <a:latin typeface="맑은 고딕"/>
                  <a:ea typeface="맑은 고딕"/>
                  <a:cs typeface="맑은 고딕"/>
                </a:rPr>
                <a:t>10GB</a:t>
              </a:r>
            </a:p>
          </p:txBody>
        </p:sp>
        <p:sp>
          <p:nvSpPr>
            <p:cNvPr id="108" name="TextBox 107">
              <a:extLst>
                <a:ext uri="{FF2B5EF4-FFF2-40B4-BE49-F238E27FC236}">
                  <a16:creationId xmlns:a16="http://schemas.microsoft.com/office/drawing/2014/main" id="{A5A98EF3-7D41-47D6-B9BA-026D65CB3BE9}"/>
                </a:ext>
              </a:extLst>
            </p:cNvPr>
            <p:cNvSpPr txBox="1"/>
            <p:nvPr/>
          </p:nvSpPr>
          <p:spPr>
            <a:xfrm>
              <a:off x="10032967" y="5037928"/>
              <a:ext cx="197170" cy="138499"/>
            </a:xfrm>
            <a:prstGeom prst="rect">
              <a:avLst/>
            </a:prstGeom>
            <a:noFill/>
          </p:spPr>
          <p:txBody>
            <a:bodyPr wrap="none" lIns="0" tIns="0" rIns="0" bIns="0" anchor="t">
              <a:spAutoFit/>
            </a:bodyPr>
            <a:lstStyle/>
            <a:p>
              <a:pPr algn="ctr">
                <a:lnSpc>
                  <a:spcPct val="100000"/>
                </a:lnSpc>
                <a:spcAft>
                  <a:spcPts val="0"/>
                </a:spcAft>
              </a:pPr>
              <a:r>
                <a:rPr sz="900" b="0" i="0">
                  <a:solidFill>
                    <a:srgbClr val="595959"/>
                  </a:solidFill>
                  <a:latin typeface="맑은 고딕"/>
                  <a:ea typeface="맑은 고딕"/>
                  <a:cs typeface="맑은 고딕"/>
                </a:rPr>
                <a:t>32K</a:t>
              </a:r>
            </a:p>
          </p:txBody>
        </p:sp>
        <p:sp>
          <p:nvSpPr>
            <p:cNvPr id="109" name="Rectangle 193">
              <a:extLst>
                <a:ext uri="{FF2B5EF4-FFF2-40B4-BE49-F238E27FC236}">
                  <a16:creationId xmlns:a16="http://schemas.microsoft.com/office/drawing/2014/main" id="{FECE394F-A6E3-490F-825E-7063A4D9B6B2}"/>
                </a:ext>
              </a:extLst>
            </p:cNvPr>
            <p:cNvSpPr/>
            <p:nvPr/>
          </p:nvSpPr>
          <p:spPr>
            <a:xfrm>
              <a:off x="10762488" y="4196679"/>
              <a:ext cx="420624"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110" name="TextBox 109">
              <a:extLst>
                <a:ext uri="{FF2B5EF4-FFF2-40B4-BE49-F238E27FC236}">
                  <a16:creationId xmlns:a16="http://schemas.microsoft.com/office/drawing/2014/main" id="{63F01EB6-6E32-4269-B423-B22982A6625B}"/>
                </a:ext>
              </a:extLst>
            </p:cNvPr>
            <p:cNvSpPr txBox="1"/>
            <p:nvPr/>
          </p:nvSpPr>
          <p:spPr>
            <a:xfrm>
              <a:off x="10826926" y="4013799"/>
              <a:ext cx="291747" cy="138499"/>
            </a:xfrm>
            <a:prstGeom prst="rect">
              <a:avLst/>
            </a:prstGeom>
            <a:noFill/>
          </p:spPr>
          <p:txBody>
            <a:bodyPr wrap="none" lIns="0" tIns="0" rIns="0" bIns="0" anchor="t">
              <a:spAutoFit/>
            </a:bodyPr>
            <a:lstStyle/>
            <a:p>
              <a:pPr algn="ctr">
                <a:lnSpc>
                  <a:spcPct val="100000"/>
                </a:lnSpc>
                <a:spcAft>
                  <a:spcPts val="0"/>
                </a:spcAft>
              </a:pPr>
              <a:r>
                <a:rPr sz="900" b="1" i="0">
                  <a:solidFill>
                    <a:srgbClr val="1F3864"/>
                  </a:solidFill>
                  <a:latin typeface="맑은 고딕"/>
                  <a:ea typeface="맑은 고딕"/>
                  <a:cs typeface="맑은 고딕"/>
                </a:rPr>
                <a:t>40GB</a:t>
              </a:r>
            </a:p>
          </p:txBody>
        </p:sp>
        <p:sp>
          <p:nvSpPr>
            <p:cNvPr id="111" name="TextBox 110">
              <a:extLst>
                <a:ext uri="{FF2B5EF4-FFF2-40B4-BE49-F238E27FC236}">
                  <a16:creationId xmlns:a16="http://schemas.microsoft.com/office/drawing/2014/main" id="{DF502650-A627-4B3C-ABCE-776E3007C308}"/>
                </a:ext>
              </a:extLst>
            </p:cNvPr>
            <p:cNvSpPr txBox="1"/>
            <p:nvPr/>
          </p:nvSpPr>
          <p:spPr>
            <a:xfrm>
              <a:off x="10706701" y="5037928"/>
              <a:ext cx="532197" cy="138499"/>
            </a:xfrm>
            <a:prstGeom prst="rect">
              <a:avLst/>
            </a:prstGeom>
            <a:noFill/>
          </p:spPr>
          <p:txBody>
            <a:bodyPr wrap="none" lIns="0" tIns="0" rIns="0" bIns="0" anchor="t">
              <a:spAutoFit/>
            </a:bodyPr>
            <a:lstStyle/>
            <a:p>
              <a:pPr algn="ctr">
                <a:lnSpc>
                  <a:spcPct val="100000"/>
                </a:lnSpc>
                <a:spcAft>
                  <a:spcPts val="0"/>
                </a:spcAft>
              </a:pPr>
              <a:r>
                <a:rPr sz="900" b="0" i="0">
                  <a:solidFill>
                    <a:srgbClr val="595959"/>
                  </a:solidFill>
                  <a:latin typeface="맑은 고딕"/>
                  <a:ea typeface="맑은 고딕"/>
                  <a:cs typeface="맑은 고딕"/>
                </a:rPr>
                <a:t>128K 토큰</a:t>
              </a:r>
            </a:p>
          </p:txBody>
        </p:sp>
        <p:cxnSp>
          <p:nvCxnSpPr>
            <p:cNvPr id="112" name="Connector 196">
              <a:extLst>
                <a:ext uri="{FF2B5EF4-FFF2-40B4-BE49-F238E27FC236}">
                  <a16:creationId xmlns:a16="http://schemas.microsoft.com/office/drawing/2014/main" id="{8210EAAC-3DB8-4AF3-9056-E3380CA80491}"/>
                </a:ext>
              </a:extLst>
            </p:cNvPr>
            <p:cNvCxnSpPr/>
            <p:nvPr/>
          </p:nvCxnSpPr>
          <p:spPr>
            <a:xfrm>
              <a:off x="8961120" y="5001352"/>
              <a:ext cx="2633472"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grpSp>
      <p:sp>
        <p:nvSpPr>
          <p:cNvPr id="113" name="TextBox 112">
            <a:extLst>
              <a:ext uri="{FF2B5EF4-FFF2-40B4-BE49-F238E27FC236}">
                <a16:creationId xmlns:a16="http://schemas.microsoft.com/office/drawing/2014/main" id="{957C4FF7-4342-467E-8D12-90AC80E9DD0C}"/>
              </a:ext>
            </a:extLst>
          </p:cNvPr>
          <p:cNvSpPr txBox="1"/>
          <p:nvPr/>
        </p:nvSpPr>
        <p:spPr>
          <a:xfrm>
            <a:off x="3671983" y="5646748"/>
            <a:ext cx="2843784" cy="402336"/>
          </a:xfrm>
          <a:prstGeom prst="rect">
            <a:avLst/>
          </a:prstGeom>
          <a:noFill/>
        </p:spPr>
        <p:txBody>
          <a:bodyPr wrap="square" lIns="0" tIns="0" rIns="0" bIns="0" anchor="t">
            <a:spAutoFit/>
          </a:bodyPr>
          <a:lstStyle/>
          <a:p>
            <a:pPr algn="l">
              <a:lnSpc>
                <a:spcPct val="100000"/>
              </a:lnSpc>
              <a:spcAft>
                <a:spcPts val="100"/>
              </a:spcAft>
            </a:pPr>
            <a:r>
              <a:rPr sz="800" b="0" i="0" dirty="0">
                <a:solidFill>
                  <a:srgbClr val="808080"/>
                </a:solidFill>
                <a:latin typeface="맑은 고딕"/>
                <a:ea typeface="맑은 고딕"/>
                <a:cs typeface="맑은 고딕"/>
              </a:rPr>
              <a:t>※ 70B급 모델·FP16 </a:t>
            </a:r>
            <a:r>
              <a:rPr sz="800" b="0" i="0" dirty="0" err="1">
                <a:solidFill>
                  <a:srgbClr val="808080"/>
                </a:solidFill>
                <a:latin typeface="맑은 고딕"/>
                <a:ea typeface="맑은 고딕"/>
                <a:cs typeface="맑은 고딕"/>
              </a:rPr>
              <a:t>기준</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개략치</a:t>
            </a:r>
            <a:endParaRPr sz="800" b="0" i="0" dirty="0">
              <a:solidFill>
                <a:srgbClr val="808080"/>
              </a:solidFill>
              <a:latin typeface="맑은 고딕"/>
              <a:ea typeface="맑은 고딕"/>
              <a:cs typeface="맑은 고딕"/>
            </a:endParaRPr>
          </a:p>
          <a:p>
            <a:pPr algn="l">
              <a:lnSpc>
                <a:spcPct val="100000"/>
              </a:lnSpc>
              <a:spcAft>
                <a:spcPts val="0"/>
              </a:spcAft>
            </a:pP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서비스</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필요</a:t>
            </a:r>
            <a:r>
              <a:rPr sz="800" b="0" i="0" dirty="0">
                <a:solidFill>
                  <a:srgbClr val="808080"/>
                </a:solidFill>
                <a:latin typeface="맑은 고딕"/>
                <a:ea typeface="맑은 고딕"/>
                <a:cs typeface="맑은 고딕"/>
              </a:rPr>
              <a:t> </a:t>
            </a:r>
            <a:r>
              <a:rPr sz="800" b="0" i="0" dirty="0" err="1">
                <a:solidFill>
                  <a:srgbClr val="808080"/>
                </a:solidFill>
                <a:latin typeface="맑은 고딕"/>
                <a:ea typeface="맑은 고딕"/>
                <a:cs typeface="맑은 고딕"/>
              </a:rPr>
              <a:t>용량</a:t>
            </a:r>
            <a:r>
              <a:rPr sz="800" b="0" i="0" dirty="0">
                <a:solidFill>
                  <a:srgbClr val="808080"/>
                </a:solidFill>
                <a:latin typeface="맑은 고딕"/>
                <a:ea typeface="맑은 고딕"/>
                <a:cs typeface="맑은 고딕"/>
              </a:rPr>
              <a:t> = </a:t>
            </a:r>
            <a:r>
              <a:rPr sz="800" b="1" i="0" dirty="0" err="1">
                <a:solidFill>
                  <a:srgbClr val="C00000"/>
                </a:solidFill>
                <a:latin typeface="맑은 고딕"/>
                <a:ea typeface="맑은 고딕"/>
                <a:cs typeface="맑은 고딕"/>
              </a:rPr>
              <a:t>문맥</a:t>
            </a:r>
            <a:r>
              <a:rPr sz="800" b="1" i="0" dirty="0">
                <a:solidFill>
                  <a:srgbClr val="C00000"/>
                </a:solidFill>
                <a:latin typeface="맑은 고딕"/>
                <a:ea typeface="맑은 고딕"/>
                <a:cs typeface="맑은 고딕"/>
              </a:rPr>
              <a:t> </a:t>
            </a:r>
            <a:r>
              <a:rPr sz="800" b="1" i="0" dirty="0" err="1">
                <a:solidFill>
                  <a:srgbClr val="C00000"/>
                </a:solidFill>
                <a:latin typeface="맑은 고딕"/>
                <a:ea typeface="맑은 고딕"/>
                <a:cs typeface="맑은 고딕"/>
              </a:rPr>
              <a:t>길이</a:t>
            </a:r>
            <a:r>
              <a:rPr sz="800" b="1" i="0" dirty="0">
                <a:solidFill>
                  <a:srgbClr val="C00000"/>
                </a:solidFill>
                <a:latin typeface="맑은 고딕"/>
                <a:ea typeface="맑은 고딕"/>
                <a:cs typeface="맑은 고딕"/>
              </a:rPr>
              <a:t> × </a:t>
            </a:r>
            <a:r>
              <a:rPr sz="800" b="1" i="0" dirty="0" err="1">
                <a:solidFill>
                  <a:srgbClr val="C00000"/>
                </a:solidFill>
                <a:latin typeface="맑은 고딕"/>
                <a:ea typeface="맑은 고딕"/>
                <a:cs typeface="맑은 고딕"/>
              </a:rPr>
              <a:t>동시</a:t>
            </a:r>
            <a:r>
              <a:rPr sz="800" b="1" i="0" dirty="0">
                <a:solidFill>
                  <a:srgbClr val="C00000"/>
                </a:solidFill>
                <a:latin typeface="맑은 고딕"/>
                <a:ea typeface="맑은 고딕"/>
                <a:cs typeface="맑은 고딕"/>
              </a:rPr>
              <a:t> </a:t>
            </a:r>
            <a:r>
              <a:rPr sz="800" b="1" i="0" dirty="0" err="1">
                <a:solidFill>
                  <a:srgbClr val="C00000"/>
                </a:solidFill>
                <a:latin typeface="맑은 고딕"/>
                <a:ea typeface="맑은 고딕"/>
                <a:cs typeface="맑은 고딕"/>
              </a:rPr>
              <a:t>사용자</a:t>
            </a:r>
            <a:r>
              <a:rPr sz="800" b="1" i="0" dirty="0">
                <a:solidFill>
                  <a:srgbClr val="C00000"/>
                </a:solidFill>
                <a:latin typeface="맑은 고딕"/>
                <a:ea typeface="맑은 고딕"/>
                <a:cs typeface="맑은 고딕"/>
              </a:rPr>
              <a:t> 수</a:t>
            </a:r>
          </a:p>
        </p:txBody>
      </p:sp>
      <p:grpSp>
        <p:nvGrpSpPr>
          <p:cNvPr id="114" name="그룹 113">
            <a:extLst>
              <a:ext uri="{FF2B5EF4-FFF2-40B4-BE49-F238E27FC236}">
                <a16:creationId xmlns:a16="http://schemas.microsoft.com/office/drawing/2014/main" id="{C78C399F-6535-4B0B-BC7C-95F4E760F8F7}"/>
              </a:ext>
            </a:extLst>
          </p:cNvPr>
          <p:cNvGrpSpPr/>
          <p:nvPr/>
        </p:nvGrpSpPr>
        <p:grpSpPr>
          <a:xfrm>
            <a:off x="8801141" y="1815986"/>
            <a:ext cx="2706936" cy="529911"/>
            <a:chOff x="1368878" y="4456166"/>
            <a:chExt cx="2322144" cy="455689"/>
          </a:xfrm>
        </p:grpSpPr>
        <p:pic>
          <p:nvPicPr>
            <p:cNvPr id="115" name="그림 114">
              <a:extLst>
                <a:ext uri="{FF2B5EF4-FFF2-40B4-BE49-F238E27FC236}">
                  <a16:creationId xmlns:a16="http://schemas.microsoft.com/office/drawing/2014/main" id="{32F2B4C6-B6FC-4E03-92F6-F8C797A2D3BC}"/>
                </a:ext>
              </a:extLst>
            </p:cNvPr>
            <p:cNvPicPr>
              <a:picLocks noChangeAspect="1"/>
            </p:cNvPicPr>
            <p:nvPr/>
          </p:nvPicPr>
          <p:blipFill>
            <a:blip r:embed="rId5"/>
            <a:stretch>
              <a:fillRect/>
            </a:stretch>
          </p:blipFill>
          <p:spPr>
            <a:xfrm>
              <a:off x="1368878" y="4456166"/>
              <a:ext cx="2322144" cy="455689"/>
            </a:xfrm>
            <a:prstGeom prst="rect">
              <a:avLst/>
            </a:prstGeom>
          </p:spPr>
        </p:pic>
        <p:sp>
          <p:nvSpPr>
            <p:cNvPr id="122" name="직사각형 121">
              <a:extLst>
                <a:ext uri="{FF2B5EF4-FFF2-40B4-BE49-F238E27FC236}">
                  <a16:creationId xmlns:a16="http://schemas.microsoft.com/office/drawing/2014/main" id="{F817C922-A6C9-4D52-8CEB-C658C48D9B4C}"/>
                </a:ext>
              </a:extLst>
            </p:cNvPr>
            <p:cNvSpPr/>
            <p:nvPr/>
          </p:nvSpPr>
          <p:spPr>
            <a:xfrm>
              <a:off x="3101623" y="4497124"/>
              <a:ext cx="376863" cy="188453"/>
            </a:xfrm>
            <a:prstGeom prst="rect">
              <a:avLst/>
            </a:prstGeom>
            <a:noFill/>
            <a:ln w="28575">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8" name="Picture 10" descr="https://miro.medium.com/v2/resize:fit:690/0*6D_17aytq215gMcF.png">
            <a:extLst>
              <a:ext uri="{FF2B5EF4-FFF2-40B4-BE49-F238E27FC236}">
                <a16:creationId xmlns:a16="http://schemas.microsoft.com/office/drawing/2014/main" id="{0FC058AB-5C00-4863-862D-A61310A03D8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730103" y="4354524"/>
            <a:ext cx="3133528" cy="1798373"/>
          </a:xfrm>
          <a:prstGeom prst="rect">
            <a:avLst/>
          </a:prstGeom>
          <a:noFill/>
          <a:extLst>
            <a:ext uri="{909E8E84-426E-40DD-AFC4-6F175D3DCCD1}">
              <a14:hiddenFill xmlns:a14="http://schemas.microsoft.com/office/drawing/2010/main">
                <a:solidFill>
                  <a:srgbClr val="FFFFFF"/>
                </a:solidFill>
              </a14:hiddenFill>
            </a:ext>
          </a:extLst>
        </p:spPr>
      </p:pic>
      <p:sp>
        <p:nvSpPr>
          <p:cNvPr id="2" name="직사각형 1">
            <a:extLst>
              <a:ext uri="{FF2B5EF4-FFF2-40B4-BE49-F238E27FC236}">
                <a16:creationId xmlns:a16="http://schemas.microsoft.com/office/drawing/2014/main" id="{16E1B8F9-DBAF-4B1F-ABB1-0C776C1D7B2F}"/>
              </a:ext>
            </a:extLst>
          </p:cNvPr>
          <p:cNvSpPr/>
          <p:nvPr/>
        </p:nvSpPr>
        <p:spPr>
          <a:xfrm>
            <a:off x="10871200" y="4839584"/>
            <a:ext cx="973328" cy="1209500"/>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3" name="Picture 10" descr="https://miro.medium.com/v2/resize:fit:690/0*6D_17aytq215gMcF.png">
            <a:extLst>
              <a:ext uri="{FF2B5EF4-FFF2-40B4-BE49-F238E27FC236}">
                <a16:creationId xmlns:a16="http://schemas.microsoft.com/office/drawing/2014/main" id="{212E2762-2F63-4D89-992A-A79779C1585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0243" t="38764" r="474" b="13407"/>
          <a:stretch/>
        </p:blipFill>
        <p:spPr bwMode="auto">
          <a:xfrm>
            <a:off x="9475418" y="2698750"/>
            <a:ext cx="1642897" cy="1540056"/>
          </a:xfrm>
          <a:prstGeom prst="rect">
            <a:avLst/>
          </a:prstGeom>
          <a:noFill/>
          <a:extLst>
            <a:ext uri="{909E8E84-426E-40DD-AFC4-6F175D3DCCD1}">
              <a14:hiddenFill xmlns:a14="http://schemas.microsoft.com/office/drawing/2010/main">
                <a:solidFill>
                  <a:srgbClr val="FFFFFF"/>
                </a:solidFill>
              </a14:hiddenFill>
            </a:ext>
          </a:extLst>
        </p:spPr>
      </p:pic>
      <p:sp>
        <p:nvSpPr>
          <p:cNvPr id="120" name="TextBox 119">
            <a:extLst>
              <a:ext uri="{FF2B5EF4-FFF2-40B4-BE49-F238E27FC236}">
                <a16:creationId xmlns:a16="http://schemas.microsoft.com/office/drawing/2014/main" id="{0C35945D-B525-443E-A052-369939143AF2}"/>
              </a:ext>
            </a:extLst>
          </p:cNvPr>
          <p:cNvSpPr txBox="1"/>
          <p:nvPr/>
        </p:nvSpPr>
        <p:spPr>
          <a:xfrm>
            <a:off x="9678235" y="2483405"/>
            <a:ext cx="1237262" cy="276999"/>
          </a:xfrm>
          <a:prstGeom prst="rect">
            <a:avLst/>
          </a:prstGeom>
          <a:noFill/>
        </p:spPr>
        <p:txBody>
          <a:bodyPr wrap="square" rtlCol="0">
            <a:spAutoFit/>
          </a:bodyPr>
          <a:lstStyle/>
          <a:p>
            <a:r>
              <a:rPr lang="en-US" altLang="ko-KR" sz="1200" b="1" dirty="0">
                <a:solidFill>
                  <a:srgbClr val="FF0000"/>
                </a:solidFill>
                <a:highlight>
                  <a:srgbClr val="FFFF00"/>
                </a:highlight>
              </a:rPr>
              <a:t>Attention </a:t>
            </a:r>
            <a:r>
              <a:rPr lang="ko-KR" altLang="en-US" sz="1200" b="1" dirty="0">
                <a:solidFill>
                  <a:srgbClr val="FF0000"/>
                </a:solidFill>
                <a:highlight>
                  <a:srgbClr val="FFFF00"/>
                </a:highlight>
              </a:rPr>
              <a:t>연산</a:t>
            </a:r>
          </a:p>
        </p:txBody>
      </p:sp>
      <p:cxnSp>
        <p:nvCxnSpPr>
          <p:cNvPr id="5" name="직선 연결선 4">
            <a:extLst>
              <a:ext uri="{FF2B5EF4-FFF2-40B4-BE49-F238E27FC236}">
                <a16:creationId xmlns:a16="http://schemas.microsoft.com/office/drawing/2014/main" id="{4FE81CEC-CBC8-4733-846E-FC929B58D451}"/>
              </a:ext>
            </a:extLst>
          </p:cNvPr>
          <p:cNvCxnSpPr/>
          <p:nvPr/>
        </p:nvCxnSpPr>
        <p:spPr>
          <a:xfrm flipH="1" flipV="1">
            <a:off x="9555480" y="4230659"/>
            <a:ext cx="1314657" cy="68798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4" name="직선 연결선 123">
            <a:extLst>
              <a:ext uri="{FF2B5EF4-FFF2-40B4-BE49-F238E27FC236}">
                <a16:creationId xmlns:a16="http://schemas.microsoft.com/office/drawing/2014/main" id="{A5BA6B9F-5AB2-4DC3-8F65-50CB63FCBBE4}"/>
              </a:ext>
            </a:extLst>
          </p:cNvPr>
          <p:cNvCxnSpPr>
            <a:cxnSpLocks/>
          </p:cNvCxnSpPr>
          <p:nvPr/>
        </p:nvCxnSpPr>
        <p:spPr>
          <a:xfrm flipH="1" flipV="1">
            <a:off x="10950199" y="3788970"/>
            <a:ext cx="836213" cy="98124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3" name="실행 단추: 뒤로 또는 이전 2">
            <a:hlinkClick r:id="rId7" action="ppaction://hlinksldjump" highlightClick="1"/>
          </p:cNvPr>
          <p:cNvSpPr/>
          <p:nvPr/>
        </p:nvSpPr>
        <p:spPr>
          <a:xfrm>
            <a:off x="7564046" y="191751"/>
            <a:ext cx="223070" cy="22818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9003455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ounded Rectangle 6147"/>
          <p:cNvSpPr/>
          <p:nvPr/>
        </p:nvSpPr>
        <p:spPr>
          <a:xfrm>
            <a:off x="490034" y="630392"/>
            <a:ext cx="1954407"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000000"/>
                </a:solidFill>
                <a:effectLst/>
                <a:uLnTx/>
                <a:uFillTx/>
                <a:latin typeface="맑은 고딕"/>
                <a:ea typeface="맑은 고딕"/>
                <a:cs typeface="+mn-cs"/>
              </a:rPr>
              <a:t>Prefill / Decode</a:t>
            </a:r>
            <a:r>
              <a:rPr kumimoji="0" lang="en-US" sz="1100" b="1" i="0" u="none" strike="noStrike" kern="1200" cap="none" spc="0" normalizeH="0" baseline="0" noProof="0" dirty="0">
                <a:ln>
                  <a:noFill/>
                </a:ln>
                <a:solidFill>
                  <a:srgbClr val="000000"/>
                </a:solidFill>
                <a:effectLst/>
                <a:uLnTx/>
                <a:uFillTx/>
                <a:latin typeface="맑은 고딕"/>
                <a:ea typeface="맑은 고딕"/>
                <a:cs typeface="+mn-cs"/>
              </a:rPr>
              <a:t> </a:t>
            </a:r>
            <a:r>
              <a:rPr kumimoji="0" lang="ko-KR" altLang="en-US" sz="1100" b="1" i="0" u="none" strike="noStrike" kern="1200" cap="none" spc="0" normalizeH="0" baseline="0" noProof="0" dirty="0">
                <a:ln>
                  <a:noFill/>
                </a:ln>
                <a:solidFill>
                  <a:srgbClr val="000000"/>
                </a:solidFill>
                <a:effectLst/>
                <a:uLnTx/>
                <a:uFillTx/>
                <a:latin typeface="맑은 고딕"/>
                <a:ea typeface="맑은 고딕"/>
                <a:cs typeface="+mn-cs"/>
              </a:rPr>
              <a:t>란</a:t>
            </a:r>
            <a:r>
              <a:rPr kumimoji="0" lang="en-US" altLang="ko-KR" sz="1100" b="1" i="0" u="none" strike="noStrike" kern="1200" cap="none" spc="0" normalizeH="0" baseline="0" noProof="0" dirty="0">
                <a:ln>
                  <a:noFill/>
                </a:ln>
                <a:solidFill>
                  <a:srgbClr val="000000"/>
                </a:solidFill>
                <a:effectLst/>
                <a:uLnTx/>
                <a:uFillTx/>
                <a:latin typeface="맑은 고딕"/>
                <a:ea typeface="맑은 고딕"/>
                <a:cs typeface="+mn-cs"/>
              </a:rPr>
              <a:t>?</a:t>
            </a:r>
            <a:endParaRPr kumimoji="0" sz="1100" b="1" i="0" u="none" strike="noStrike" kern="1200" cap="none" spc="0" normalizeH="0" baseline="0" noProof="0" dirty="0">
              <a:ln>
                <a:noFill/>
              </a:ln>
              <a:solidFill>
                <a:srgbClr val="000000"/>
              </a:solidFill>
              <a:effectLst/>
              <a:uLnTx/>
              <a:uFillTx/>
              <a:latin typeface="맑은 고딕"/>
              <a:ea typeface="맑은 고딕"/>
              <a:cs typeface="+mn-cs"/>
            </a:endParaRPr>
          </a:p>
        </p:txBody>
      </p:sp>
      <p:sp>
        <p:nvSpPr>
          <p:cNvPr id="57" name="슬라이드 번호 개체 틀 1"/>
          <p:cNvSpPr>
            <a:spLocks noGrp="1"/>
          </p:cNvSpPr>
          <p:nvPr>
            <p:ph type="sldNum" sz="quarter" idx="4294967295"/>
          </p:nvPr>
        </p:nvSpPr>
        <p:spPr>
          <a:xfrm>
            <a:off x="5620080" y="6597650"/>
            <a:ext cx="456466" cy="209550"/>
          </a:xfrm>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7F889C64-266A-4D07-AD8F-5B592E61CCE1}" type="slidenum">
              <a:rPr kumimoji="0" lang="ko-KR" altLang="en-US" sz="1200" b="0" i="0" u="none" strike="noStrike" kern="1200" cap="none" spc="0" normalizeH="0" baseline="0" noProof="0" smtClean="0">
                <a:ln>
                  <a:noFill/>
                </a:ln>
                <a:solidFill>
                  <a:prstClr val="black">
                    <a:tint val="75000"/>
                  </a:prstClr>
                </a:solidFill>
                <a:effectLst/>
                <a:uLnTx/>
                <a:uFillTx/>
                <a:latin typeface="맑은 고딕" panose="020F050202020403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191</a:t>
            </a:fld>
            <a:endParaRPr kumimoji="0" lang="ko-KR" altLang="en-US" sz="1200" b="0" i="0" u="none" strike="noStrike" kern="1200" cap="none" spc="0" normalizeH="0" baseline="0" noProof="0" dirty="0">
              <a:ln>
                <a:noFill/>
              </a:ln>
              <a:solidFill>
                <a:prstClr val="black">
                  <a:tint val="75000"/>
                </a:prstClr>
              </a:solidFill>
              <a:effectLst/>
              <a:uLnTx/>
              <a:uFillTx/>
              <a:latin typeface="맑은 고딕" panose="020F0502020204030204"/>
              <a:ea typeface="맑은 고딕" panose="020B0503020000020004" pitchFamily="50" charset="-127"/>
              <a:cs typeface="+mn-cs"/>
            </a:endParaRPr>
          </a:p>
        </p:txBody>
      </p:sp>
      <p:sp>
        <p:nvSpPr>
          <p:cNvPr id="3" name="제목 2"/>
          <p:cNvSpPr>
            <a:spLocks noGrp="1"/>
          </p:cNvSpPr>
          <p:nvPr>
            <p:ph type="title"/>
          </p:nvPr>
        </p:nvSpPr>
        <p:spPr/>
        <p:txBody>
          <a:bodyPr/>
          <a:lstStyle/>
          <a:p>
            <a:r>
              <a:rPr lang="en-US" altLang="ko-KR" dirty="0"/>
              <a:t>DP2. </a:t>
            </a:r>
            <a:r>
              <a:rPr lang="ko-KR" altLang="en-US" dirty="0"/>
              <a:t>배경 지식 </a:t>
            </a:r>
            <a:r>
              <a:rPr lang="en-US" altLang="ko-KR" dirty="0"/>
              <a:t>– Prefill / Decode </a:t>
            </a:r>
            <a:r>
              <a:rPr lang="ko-KR" altLang="en-US" dirty="0"/>
              <a:t>연산</a:t>
            </a:r>
            <a:endParaRPr lang="en-US" altLang="ko-KR" dirty="0"/>
          </a:p>
        </p:txBody>
      </p:sp>
      <p:grpSp>
        <p:nvGrpSpPr>
          <p:cNvPr id="5" name="그룹 4"/>
          <p:cNvGrpSpPr/>
          <p:nvPr/>
        </p:nvGrpSpPr>
        <p:grpSpPr>
          <a:xfrm>
            <a:off x="5983215" y="1306680"/>
            <a:ext cx="3036695" cy="2348863"/>
            <a:chOff x="7198162" y="2496690"/>
            <a:chExt cx="3839603" cy="3312533"/>
          </a:xfrm>
        </p:grpSpPr>
        <p:sp>
          <p:nvSpPr>
            <p:cNvPr id="165" name="직사각형 164"/>
            <p:cNvSpPr/>
            <p:nvPr/>
          </p:nvSpPr>
          <p:spPr>
            <a:xfrm>
              <a:off x="8392326" y="3596490"/>
              <a:ext cx="2170873" cy="396099"/>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&lt;Prefill&gt;</a:t>
              </a:r>
              <a:endParaRPr kumimoji="0" lang="ko-KR" altLang="en-US" sz="1400" b="1" i="0" u="none" strike="noStrike" kern="1200" cap="none" spc="0" normalizeH="0" baseline="0" noProof="0" dirty="0">
                <a:ln>
                  <a:noFill/>
                </a:ln>
                <a:solidFill>
                  <a:prstClr val="black"/>
                </a:solidFill>
                <a:effectLst/>
                <a:uLnTx/>
                <a:uFillTx/>
                <a:latin typeface="Arial"/>
                <a:ea typeface="맑은 고딕"/>
                <a:cs typeface="Samsung Sharp Sans Bold" pitchFamily="2" charset="0"/>
              </a:endParaRPr>
            </a:p>
          </p:txBody>
        </p:sp>
        <p:sp>
          <p:nvSpPr>
            <p:cNvPr id="166" name="직사각형 165"/>
            <p:cNvSpPr/>
            <p:nvPr/>
          </p:nvSpPr>
          <p:spPr>
            <a:xfrm>
              <a:off x="7359095" y="2557171"/>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67" name="직사각형 166"/>
            <p:cNvSpPr/>
            <p:nvPr/>
          </p:nvSpPr>
          <p:spPr>
            <a:xfrm>
              <a:off x="7311797" y="3139320"/>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68" name="직사각형 167"/>
            <p:cNvSpPr/>
            <p:nvPr/>
          </p:nvSpPr>
          <p:spPr>
            <a:xfrm flipH="1">
              <a:off x="10238115" y="3129752"/>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69" name="직사각형 168"/>
            <p:cNvSpPr/>
            <p:nvPr/>
          </p:nvSpPr>
          <p:spPr>
            <a:xfrm flipH="1">
              <a:off x="8814939" y="3134318"/>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0" name="직사각형 169"/>
            <p:cNvSpPr/>
            <p:nvPr/>
          </p:nvSpPr>
          <p:spPr>
            <a:xfrm flipH="1">
              <a:off x="9291636" y="3132770"/>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1" name="직사각형 170"/>
            <p:cNvSpPr/>
            <p:nvPr/>
          </p:nvSpPr>
          <p:spPr>
            <a:xfrm flipH="1">
              <a:off x="9721156" y="3152479"/>
              <a:ext cx="191954" cy="444790"/>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cxnSp>
          <p:nvCxnSpPr>
            <p:cNvPr id="172" name="직선 화살표 연결선 171"/>
            <p:cNvCxnSpPr/>
            <p:nvPr/>
          </p:nvCxnSpPr>
          <p:spPr>
            <a:xfrm>
              <a:off x="8482264" y="3020391"/>
              <a:ext cx="2052000" cy="0"/>
            </a:xfrm>
            <a:prstGeom prst="straightConnector1">
              <a:avLst/>
            </a:prstGeom>
            <a:noFill/>
            <a:ln w="38100" cap="flat" cmpd="sng" algn="ctr">
              <a:solidFill>
                <a:schemeClr val="tx2"/>
              </a:solidFill>
              <a:prstDash val="solid"/>
              <a:miter lim="800000"/>
              <a:tailEnd type="triangle"/>
            </a:ln>
            <a:effectLst/>
          </p:spPr>
        </p:cxnSp>
        <p:sp>
          <p:nvSpPr>
            <p:cNvPr id="173" name="직사각형 172"/>
            <p:cNvSpPr/>
            <p:nvPr/>
          </p:nvSpPr>
          <p:spPr>
            <a:xfrm>
              <a:off x="848026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4" name="직사각형 173"/>
            <p:cNvSpPr/>
            <p:nvPr/>
          </p:nvSpPr>
          <p:spPr>
            <a:xfrm>
              <a:off x="896217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5" name="직사각형 174"/>
            <p:cNvSpPr/>
            <p:nvPr/>
          </p:nvSpPr>
          <p:spPr>
            <a:xfrm>
              <a:off x="944408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6" name="직사각형 175"/>
            <p:cNvSpPr/>
            <p:nvPr/>
          </p:nvSpPr>
          <p:spPr>
            <a:xfrm>
              <a:off x="992554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7" name="직사각형 176"/>
            <p:cNvSpPr/>
            <p:nvPr/>
          </p:nvSpPr>
          <p:spPr>
            <a:xfrm flipH="1">
              <a:off x="8814939"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8" name="직사각형 177"/>
            <p:cNvSpPr/>
            <p:nvPr/>
          </p:nvSpPr>
          <p:spPr>
            <a:xfrm flipH="1">
              <a:off x="9288377"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9" name="직사각형 178"/>
            <p:cNvSpPr/>
            <p:nvPr/>
          </p:nvSpPr>
          <p:spPr>
            <a:xfrm flipH="1">
              <a:off x="9768853"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0" name="직사각형 179"/>
            <p:cNvSpPr/>
            <p:nvPr/>
          </p:nvSpPr>
          <p:spPr>
            <a:xfrm flipH="1">
              <a:off x="10231672"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1" name="직사각형 180"/>
            <p:cNvSpPr/>
            <p:nvPr/>
          </p:nvSpPr>
          <p:spPr>
            <a:xfrm flipH="1">
              <a:off x="8762251" y="4381310"/>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2" name="직사각형 181"/>
            <p:cNvSpPr/>
            <p:nvPr/>
          </p:nvSpPr>
          <p:spPr>
            <a:xfrm flipH="1">
              <a:off x="9235576" y="4386251"/>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3" name="직사각형 182"/>
            <p:cNvSpPr/>
            <p:nvPr/>
          </p:nvSpPr>
          <p:spPr>
            <a:xfrm flipH="1">
              <a:off x="9722281"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4" name="직사각형 183"/>
            <p:cNvSpPr/>
            <p:nvPr/>
          </p:nvSpPr>
          <p:spPr>
            <a:xfrm flipH="1">
              <a:off x="10187017"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5" name="직사각형 184"/>
            <p:cNvSpPr/>
            <p:nvPr/>
          </p:nvSpPr>
          <p:spPr>
            <a:xfrm>
              <a:off x="7359746" y="4458147"/>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86" name="직사각형 185"/>
            <p:cNvSpPr/>
            <p:nvPr/>
          </p:nvSpPr>
          <p:spPr>
            <a:xfrm>
              <a:off x="7312448" y="5110146"/>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87" name="직사각형 186">
              <a:extLst>
                <a:ext uri="{FF2B5EF4-FFF2-40B4-BE49-F238E27FC236}">
                  <a16:creationId xmlns:a16="http://schemas.microsoft.com/office/drawing/2014/main" id="{5186C55D-E743-AA2E-D8EB-20E11C073C37}"/>
                </a:ext>
              </a:extLst>
            </p:cNvPr>
            <p:cNvSpPr/>
            <p:nvPr/>
          </p:nvSpPr>
          <p:spPr>
            <a:xfrm>
              <a:off x="8279443" y="5512149"/>
              <a:ext cx="2283756" cy="297074"/>
            </a:xfrm>
            <a:prstGeom prst="rect">
              <a:avLst/>
            </a:prstGeom>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 &lt; D</a:t>
              </a:r>
              <a:r>
                <a:rPr kumimoji="0" lang="en-US" altLang="ko-KR" sz="1250" b="1" i="0" u="none" strike="noStrike" kern="1200" cap="none" spc="0" normalizeH="0" baseline="0" noProof="0" dirty="0" err="1">
                  <a:ln>
                    <a:noFill/>
                  </a:ln>
                  <a:solidFill>
                    <a:prstClr val="black"/>
                  </a:solidFill>
                  <a:effectLst/>
                  <a:uLnTx/>
                  <a:uFillTx/>
                  <a:latin typeface="Arial"/>
                  <a:ea typeface="Samsung Sharp Sans Bold" pitchFamily="2" charset="0"/>
                  <a:cs typeface="Samsung Sharp Sans Bold" pitchFamily="2" charset="0"/>
                </a:rPr>
                <a:t>ecode</a:t>
              </a:r>
              <a:r>
                <a:rPr kumimoji="0" lang="en-US" altLang="ko-KR" sz="1250" b="1" i="0" u="none" strike="noStrike" kern="120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 &gt;</a:t>
              </a:r>
              <a:endParaRPr kumimoji="0" lang="ko-KR" altLang="en-US" sz="1800" b="1" i="0" u="none" strike="noStrike" kern="1200" cap="none" spc="0" normalizeH="0" baseline="0" noProof="0" dirty="0">
                <a:ln>
                  <a:noFill/>
                </a:ln>
                <a:solidFill>
                  <a:prstClr val="black"/>
                </a:solidFill>
                <a:effectLst/>
                <a:uLnTx/>
                <a:uFillTx/>
                <a:latin typeface="Arial"/>
                <a:ea typeface="SamsungOneKorean 700" panose="020B0803030303020204" pitchFamily="50" charset="-127"/>
                <a:cs typeface="Samsung Sharp Sans Bold" pitchFamily="2" charset="0"/>
              </a:endParaRPr>
            </a:p>
          </p:txBody>
        </p:sp>
        <p:cxnSp>
          <p:nvCxnSpPr>
            <p:cNvPr id="188" name="직선 화살표 연결선 187"/>
            <p:cNvCxnSpPr/>
            <p:nvPr/>
          </p:nvCxnSpPr>
          <p:spPr>
            <a:xfrm>
              <a:off x="8434567" y="4948035"/>
              <a:ext cx="2052000" cy="0"/>
            </a:xfrm>
            <a:prstGeom prst="straightConnector1">
              <a:avLst/>
            </a:prstGeom>
            <a:noFill/>
            <a:ln w="38100" cap="flat" cmpd="sng" algn="ctr">
              <a:solidFill>
                <a:schemeClr val="tx2"/>
              </a:solidFill>
              <a:prstDash val="solid"/>
              <a:miter lim="800000"/>
              <a:tailEnd type="triangle"/>
            </a:ln>
            <a:effectLst/>
          </p:spPr>
        </p:cxnSp>
        <p:sp>
          <p:nvSpPr>
            <p:cNvPr id="189" name="직사각형 188"/>
            <p:cNvSpPr/>
            <p:nvPr/>
          </p:nvSpPr>
          <p:spPr>
            <a:xfrm>
              <a:off x="8425325"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0" name="직사각형 189"/>
            <p:cNvSpPr/>
            <p:nvPr/>
          </p:nvSpPr>
          <p:spPr>
            <a:xfrm>
              <a:off x="891447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1" name="직사각형 190"/>
            <p:cNvSpPr/>
            <p:nvPr/>
          </p:nvSpPr>
          <p:spPr>
            <a:xfrm>
              <a:off x="939638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2" name="직사각형 191"/>
            <p:cNvSpPr/>
            <p:nvPr/>
          </p:nvSpPr>
          <p:spPr>
            <a:xfrm>
              <a:off x="987784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3" name="직사각형 192"/>
            <p:cNvSpPr/>
            <p:nvPr/>
          </p:nvSpPr>
          <p:spPr>
            <a:xfrm flipH="1">
              <a:off x="8767242"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4" name="직사각형 193"/>
            <p:cNvSpPr/>
            <p:nvPr/>
          </p:nvSpPr>
          <p:spPr>
            <a:xfrm flipH="1">
              <a:off x="9240680"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5" name="직사각형 194"/>
            <p:cNvSpPr/>
            <p:nvPr/>
          </p:nvSpPr>
          <p:spPr>
            <a:xfrm flipH="1">
              <a:off x="9721156"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6" name="직사각형 195"/>
            <p:cNvSpPr/>
            <p:nvPr/>
          </p:nvSpPr>
          <p:spPr>
            <a:xfrm flipH="1">
              <a:off x="10183974" y="4890762"/>
              <a:ext cx="144257" cy="143999"/>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7" name="직사각형 196"/>
            <p:cNvSpPr/>
            <p:nvPr/>
          </p:nvSpPr>
          <p:spPr>
            <a:xfrm>
              <a:off x="7262871" y="4826847"/>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0" name="직사각형 199"/>
            <p:cNvSpPr/>
            <p:nvPr/>
          </p:nvSpPr>
          <p:spPr>
            <a:xfrm>
              <a:off x="7198162" y="2890868"/>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2" name="TextBox 201"/>
            <p:cNvSpPr txBox="1"/>
            <p:nvPr/>
          </p:nvSpPr>
          <p:spPr>
            <a:xfrm>
              <a:off x="10351217" y="2717104"/>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03" name="TextBox 202"/>
            <p:cNvSpPr txBox="1"/>
            <p:nvPr/>
          </p:nvSpPr>
          <p:spPr>
            <a:xfrm>
              <a:off x="10351217" y="4679278"/>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grpSp>
        <p:nvGrpSpPr>
          <p:cNvPr id="6" name="그룹 5"/>
          <p:cNvGrpSpPr/>
          <p:nvPr/>
        </p:nvGrpSpPr>
        <p:grpSpPr>
          <a:xfrm>
            <a:off x="211012" y="1004053"/>
            <a:ext cx="5778049" cy="2661261"/>
            <a:chOff x="-38166" y="1037261"/>
            <a:chExt cx="6944003" cy="3859139"/>
          </a:xfrm>
        </p:grpSpPr>
        <p:grpSp>
          <p:nvGrpSpPr>
            <p:cNvPr id="206" name="그룹 205"/>
            <p:cNvGrpSpPr/>
            <p:nvPr/>
          </p:nvGrpSpPr>
          <p:grpSpPr>
            <a:xfrm>
              <a:off x="-38166" y="1037261"/>
              <a:ext cx="6427565" cy="2336099"/>
              <a:chOff x="952812" y="2827632"/>
              <a:chExt cx="5331982" cy="1977988"/>
            </a:xfrm>
          </p:grpSpPr>
          <p:sp>
            <p:nvSpPr>
              <p:cNvPr id="207" name="직사각형 206">
                <a:extLst>
                  <a:ext uri="{FF2B5EF4-FFF2-40B4-BE49-F238E27FC236}">
                    <a16:creationId xmlns:a16="http://schemas.microsoft.com/office/drawing/2014/main" id="{5186C55D-E743-AA2E-D8EB-20E11C073C37}"/>
                  </a:ext>
                </a:extLst>
              </p:cNvPr>
              <p:cNvSpPr/>
              <p:nvPr/>
            </p:nvSpPr>
            <p:spPr>
              <a:xfrm>
                <a:off x="952812" y="2897482"/>
                <a:ext cx="1975277" cy="302316"/>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60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Prefill</a:t>
                </a:r>
                <a:endParaRPr kumimoji="0" lang="ko-KR" altLang="en-US" sz="1600" b="0" i="0" u="none" strike="noStrike" kern="0" cap="none" spc="0" normalizeH="0" baseline="0" noProof="0" dirty="0">
                  <a:ln>
                    <a:noFill/>
                  </a:ln>
                  <a:solidFill>
                    <a:prstClr val="black"/>
                  </a:solidFill>
                  <a:effectLst/>
                  <a:uLnTx/>
                  <a:uFillTx/>
                  <a:latin typeface="Arial"/>
                  <a:ea typeface="SamsungOneKorean 700" panose="020B0803030303020204" pitchFamily="50" charset="-127"/>
                  <a:cs typeface="Samsung Sharp Sans Bold" pitchFamily="2" charset="0"/>
                </a:endParaRPr>
              </a:p>
            </p:txBody>
          </p:sp>
          <p:cxnSp>
            <p:nvCxnSpPr>
              <p:cNvPr id="208" name="직선 연결선 207">
                <a:extLst>
                  <a:ext uri="{FF2B5EF4-FFF2-40B4-BE49-F238E27FC236}">
                    <a16:creationId xmlns:a16="http://schemas.microsoft.com/office/drawing/2014/main" id="{25BB8C04-C31F-470C-9A50-6C4BD57CD03C}"/>
                  </a:ext>
                </a:extLst>
              </p:cNvPr>
              <p:cNvCxnSpPr>
                <a:cxnSpLocks/>
              </p:cNvCxnSpPr>
              <p:nvPr/>
            </p:nvCxnSpPr>
            <p:spPr>
              <a:xfrm flipH="1">
                <a:off x="2509126" y="3531927"/>
                <a:ext cx="150" cy="1191494"/>
              </a:xfrm>
              <a:prstGeom prst="line">
                <a:avLst/>
              </a:prstGeom>
              <a:noFill/>
              <a:ln w="19050" cap="rnd" cmpd="sng" algn="ctr">
                <a:solidFill>
                  <a:srgbClr val="A6A6A6"/>
                </a:solidFill>
                <a:prstDash val="dash"/>
                <a:round/>
                <a:headEnd type="none" w="med" len="med"/>
                <a:tailEnd type="none" w="med" len="med"/>
              </a:ln>
              <a:effectLst/>
            </p:spPr>
          </p:cxnSp>
          <p:grpSp>
            <p:nvGrpSpPr>
              <p:cNvPr id="209" name="그룹 208"/>
              <p:cNvGrpSpPr/>
              <p:nvPr/>
            </p:nvGrpSpPr>
            <p:grpSpPr>
              <a:xfrm>
                <a:off x="5581891" y="3661568"/>
                <a:ext cx="604062" cy="867545"/>
                <a:chOff x="953656" y="2867715"/>
                <a:chExt cx="540000" cy="775540"/>
              </a:xfrm>
            </p:grpSpPr>
            <p:sp>
              <p:nvSpPr>
                <p:cNvPr id="238"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39"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rPr>
                    <a:t>LM</a:t>
                  </a:r>
                  <a:endParaRPr kumimoji="0" lang="ko-KR" altLang="en-US"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grpSp>
          <p:grpSp>
            <p:nvGrpSpPr>
              <p:cNvPr id="210" name="그룹 209"/>
              <p:cNvGrpSpPr/>
              <p:nvPr/>
            </p:nvGrpSpPr>
            <p:grpSpPr>
              <a:xfrm>
                <a:off x="5244491" y="3946924"/>
                <a:ext cx="209139" cy="45719"/>
                <a:chOff x="4132147" y="2579292"/>
                <a:chExt cx="312424" cy="68298"/>
              </a:xfrm>
            </p:grpSpPr>
            <p:sp>
              <p:nvSpPr>
                <p:cNvPr id="235" name="타원 234"/>
                <p:cNvSpPr/>
                <p:nvPr/>
              </p:nvSpPr>
              <p:spPr>
                <a:xfrm>
                  <a:off x="4255016"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4800" b="1" i="0" u="none" strike="noStrike" kern="0" cap="none" spc="0" normalizeH="0" baseline="0" noProof="0" dirty="0">
                    <a:ln>
                      <a:noFill/>
                    </a:ln>
                    <a:solidFill>
                      <a:prstClr val="black"/>
                    </a:solidFill>
                    <a:effectLst/>
                    <a:uLnTx/>
                    <a:uFillTx/>
                    <a:latin typeface="Arial"/>
                    <a:ea typeface="SAMSUNGONE-600C" panose="020B0503030303020204" pitchFamily="34" charset="-127"/>
                    <a:cs typeface="Samsung Sharp Sans Bold" pitchFamily="2" charset="0"/>
                  </a:endParaRPr>
                </a:p>
              </p:txBody>
            </p:sp>
            <p:sp>
              <p:nvSpPr>
                <p:cNvPr id="236" name="타원 235"/>
                <p:cNvSpPr/>
                <p:nvPr/>
              </p:nvSpPr>
              <p:spPr>
                <a:xfrm>
                  <a:off x="4377884" y="2580903"/>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4800" b="1" i="0" u="none" strike="noStrike" kern="0" cap="none" spc="0" normalizeH="0" baseline="0" noProof="0" dirty="0">
                    <a:ln>
                      <a:noFill/>
                    </a:ln>
                    <a:solidFill>
                      <a:prstClr val="black"/>
                    </a:solidFill>
                    <a:effectLst/>
                    <a:uLnTx/>
                    <a:uFillTx/>
                    <a:latin typeface="Arial"/>
                    <a:ea typeface="SAMSUNGONE-600C" panose="020B0503030303020204" pitchFamily="34" charset="-127"/>
                    <a:cs typeface="Samsung Sharp Sans Bold" pitchFamily="2" charset="0"/>
                  </a:endParaRPr>
                </a:p>
              </p:txBody>
            </p:sp>
            <p:sp>
              <p:nvSpPr>
                <p:cNvPr id="237" name="타원 236"/>
                <p:cNvSpPr/>
                <p:nvPr/>
              </p:nvSpPr>
              <p:spPr>
                <a:xfrm>
                  <a:off x="4132147"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4800" b="1" i="0" u="none" strike="noStrike" kern="0" cap="none" spc="0" normalizeH="0" baseline="0" noProof="0" dirty="0">
                    <a:ln>
                      <a:noFill/>
                    </a:ln>
                    <a:solidFill>
                      <a:prstClr val="black"/>
                    </a:solidFill>
                    <a:effectLst/>
                    <a:uLnTx/>
                    <a:uFillTx/>
                    <a:latin typeface="Arial"/>
                    <a:ea typeface="SAMSUNGONE-600C" panose="020B0503030303020204" pitchFamily="34" charset="-127"/>
                    <a:cs typeface="Samsung Sharp Sans Bold" pitchFamily="2" charset="0"/>
                  </a:endParaRPr>
                </a:p>
              </p:txBody>
            </p:sp>
          </p:grpSp>
          <p:sp>
            <p:nvSpPr>
              <p:cNvPr id="211" name="직사각형 210">
                <a:extLst>
                  <a:ext uri="{FF2B5EF4-FFF2-40B4-BE49-F238E27FC236}">
                    <a16:creationId xmlns:a16="http://schemas.microsoft.com/office/drawing/2014/main" id="{5186C55D-E743-AA2E-D8EB-20E11C073C37}"/>
                  </a:ext>
                </a:extLst>
              </p:cNvPr>
              <p:cNvSpPr/>
              <p:nvPr/>
            </p:nvSpPr>
            <p:spPr>
              <a:xfrm>
                <a:off x="2582269" y="2827632"/>
                <a:ext cx="3701376" cy="302316"/>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60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Decode</a:t>
                </a:r>
                <a:endParaRPr kumimoji="0" lang="ko-KR" altLang="en-US" sz="1600" b="0" i="0" u="none" strike="noStrike" kern="0" cap="none" spc="0" normalizeH="0" baseline="0" noProof="0" dirty="0">
                  <a:ln>
                    <a:noFill/>
                  </a:ln>
                  <a:solidFill>
                    <a:prstClr val="black"/>
                  </a:solidFill>
                  <a:effectLst/>
                  <a:uLnTx/>
                  <a:uFillTx/>
                  <a:latin typeface="Arial"/>
                  <a:ea typeface="SamsungOneKorean 700" panose="020B0803030303020204" pitchFamily="50" charset="-127"/>
                  <a:cs typeface="Samsung Sharp Sans Bold" pitchFamily="2" charset="0"/>
                </a:endParaRPr>
              </a:p>
            </p:txBody>
          </p:sp>
          <p:sp>
            <p:nvSpPr>
              <p:cNvPr id="212" name="직사각형 211">
                <a:extLst>
                  <a:ext uri="{FF2B5EF4-FFF2-40B4-BE49-F238E27FC236}">
                    <a16:creationId xmlns:a16="http://schemas.microsoft.com/office/drawing/2014/main" id="{AF7D9B76-4995-265E-AA04-71E12230B659}"/>
                  </a:ext>
                </a:extLst>
              </p:cNvPr>
              <p:cNvSpPr/>
              <p:nvPr/>
            </p:nvSpPr>
            <p:spPr>
              <a:xfrm>
                <a:off x="1304575" y="3427111"/>
                <a:ext cx="1267849" cy="271947"/>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“Hello, my name”</a:t>
                </a:r>
              </a:p>
            </p:txBody>
          </p:sp>
          <p:sp>
            <p:nvSpPr>
              <p:cNvPr id="213" name="직사각형 212">
                <a:extLst>
                  <a:ext uri="{FF2B5EF4-FFF2-40B4-BE49-F238E27FC236}">
                    <a16:creationId xmlns:a16="http://schemas.microsoft.com/office/drawing/2014/main" id="{BD25430C-0D03-4265-0B88-8E9DB257E2A1}"/>
                  </a:ext>
                </a:extLst>
              </p:cNvPr>
              <p:cNvSpPr/>
              <p:nvPr/>
            </p:nvSpPr>
            <p:spPr>
              <a:xfrm rot="10800000">
                <a:off x="1536432" y="4552915"/>
                <a:ext cx="4748362" cy="193717"/>
              </a:xfrm>
              <a:prstGeom prst="rect">
                <a:avLst/>
              </a:prstGeom>
              <a:gradFill>
                <a:gsLst>
                  <a:gs pos="13000">
                    <a:sysClr val="window" lastClr="FFFFFF">
                      <a:alpha val="0"/>
                    </a:sysClr>
                  </a:gs>
                  <a:gs pos="100000">
                    <a:sysClr val="window" lastClr="FFFFFF">
                      <a:alpha val="5000"/>
                    </a:sys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32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14" name="직사각형 213"/>
              <p:cNvSpPr/>
              <p:nvPr/>
            </p:nvSpPr>
            <p:spPr>
              <a:xfrm>
                <a:off x="1826309" y="4517307"/>
                <a:ext cx="346904" cy="27194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“is”</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15" name="직사각형 214"/>
              <p:cNvSpPr/>
              <p:nvPr/>
            </p:nvSpPr>
            <p:spPr>
              <a:xfrm>
                <a:off x="2655382" y="4533673"/>
                <a:ext cx="632091" cy="27194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“James”</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16" name="직사각형 215"/>
              <p:cNvSpPr/>
              <p:nvPr/>
            </p:nvSpPr>
            <p:spPr>
              <a:xfrm>
                <a:off x="3505046" y="4524485"/>
                <a:ext cx="582366" cy="27194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“Smith”</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17" name="직사각형 216"/>
              <p:cNvSpPr/>
              <p:nvPr/>
            </p:nvSpPr>
            <p:spPr>
              <a:xfrm>
                <a:off x="4398118" y="4515439"/>
                <a:ext cx="468292" cy="27194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“and”</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18" name="직사각형 217"/>
              <p:cNvSpPr/>
              <p:nvPr/>
            </p:nvSpPr>
            <p:spPr>
              <a:xfrm>
                <a:off x="5622815" y="4515439"/>
                <a:ext cx="500683" cy="271947"/>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Arial"/>
                    <a:ea typeface="Samsung Sharp Sans Bold" pitchFamily="2" charset="0"/>
                    <a:cs typeface="Samsung Sharp Sans Bold" pitchFamily="2" charset="0"/>
                  </a:rPr>
                  <a:t>“.”</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19" name="줄무늬가 있는 오른쪽 화살표 85">
                <a:extLst>
                  <a:ext uri="{FF2B5EF4-FFF2-40B4-BE49-F238E27FC236}">
                    <a16:creationId xmlns:a16="http://schemas.microsoft.com/office/drawing/2014/main" id="{4FC2A20A-96F0-40E8-FF0B-07159864B259}"/>
                  </a:ext>
                </a:extLst>
              </p:cNvPr>
              <p:cNvSpPr/>
              <p:nvPr/>
            </p:nvSpPr>
            <p:spPr>
              <a:xfrm>
                <a:off x="2282349" y="3928541"/>
                <a:ext cx="392707" cy="115409"/>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grpSp>
            <p:nvGrpSpPr>
              <p:cNvPr id="220" name="그룹 219"/>
              <p:cNvGrpSpPr/>
              <p:nvPr/>
            </p:nvGrpSpPr>
            <p:grpSpPr>
              <a:xfrm>
                <a:off x="1712026" y="3669221"/>
                <a:ext cx="604062" cy="867545"/>
                <a:chOff x="222043" y="2867715"/>
                <a:chExt cx="540000" cy="775540"/>
              </a:xfrm>
            </p:grpSpPr>
            <p:sp>
              <p:nvSpPr>
                <p:cNvPr id="233" name="줄무늬가 있는 오른쪽 화살표 85">
                  <a:extLst>
                    <a:ext uri="{FF2B5EF4-FFF2-40B4-BE49-F238E27FC236}">
                      <a16:creationId xmlns:a16="http://schemas.microsoft.com/office/drawing/2014/main" id="{4FC2A20A-96F0-40E8-FF0B-07159864B259}"/>
                    </a:ext>
                  </a:extLst>
                </p:cNvPr>
                <p:cNvSpPr/>
                <p:nvPr/>
              </p:nvSpPr>
              <p:spPr>
                <a:xfrm rot="5400000">
                  <a:off x="330490" y="3423064"/>
                  <a:ext cx="337212" cy="103170"/>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34" name="모서리가 둥근 직사각형 116">
                  <a:extLst>
                    <a:ext uri="{FF2B5EF4-FFF2-40B4-BE49-F238E27FC236}">
                      <a16:creationId xmlns:a16="http://schemas.microsoft.com/office/drawing/2014/main" id="{B592C16F-9D7E-9F3F-966B-99B420A8A137}"/>
                    </a:ext>
                  </a:extLst>
                </p:cNvPr>
                <p:cNvSpPr/>
                <p:nvPr/>
              </p:nvSpPr>
              <p:spPr>
                <a:xfrm>
                  <a:off x="222043" y="2867715"/>
                  <a:ext cx="540000" cy="540000"/>
                </a:xfrm>
                <a:prstGeom prst="roundRect">
                  <a:avLst>
                    <a:gd name="adj" fmla="val 7835"/>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800" b="0" i="0" u="none" strike="noStrike" kern="0" cap="none" spc="0" normalizeH="0" baseline="0" noProof="0" dirty="0">
                      <a:ln>
                        <a:noFill/>
                      </a:ln>
                      <a:solidFill>
                        <a:prstClr val="black"/>
                      </a:solidFill>
                      <a:effectLst/>
                      <a:uLnTx/>
                      <a:uFillTx/>
                      <a:latin typeface="Arial"/>
                      <a:ea typeface="맑은 고딕"/>
                      <a:cs typeface="+mn-cs"/>
                    </a:rPr>
                    <a:t>LM</a:t>
                  </a:r>
                </a:p>
              </p:txBody>
            </p:sp>
          </p:grpSp>
          <p:sp>
            <p:nvSpPr>
              <p:cNvPr id="221" name="줄무늬가 있는 오른쪽 화살표 85">
                <a:extLst>
                  <a:ext uri="{FF2B5EF4-FFF2-40B4-BE49-F238E27FC236}">
                    <a16:creationId xmlns:a16="http://schemas.microsoft.com/office/drawing/2014/main" id="{4FC2A20A-96F0-40E8-FF0B-07159864B259}"/>
                  </a:ext>
                </a:extLst>
              </p:cNvPr>
              <p:cNvSpPr/>
              <p:nvPr/>
            </p:nvSpPr>
            <p:spPr>
              <a:xfrm>
                <a:off x="3137945" y="3922208"/>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grpSp>
            <p:nvGrpSpPr>
              <p:cNvPr id="222" name="그룹 221"/>
              <p:cNvGrpSpPr/>
              <p:nvPr/>
            </p:nvGrpSpPr>
            <p:grpSpPr>
              <a:xfrm>
                <a:off x="2690062" y="3663149"/>
                <a:ext cx="604062" cy="867545"/>
                <a:chOff x="953656" y="2867715"/>
                <a:chExt cx="540000" cy="775540"/>
              </a:xfrm>
            </p:grpSpPr>
            <p:sp>
              <p:nvSpPr>
                <p:cNvPr id="231"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32"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rPr>
                    <a:t>LM</a:t>
                  </a:r>
                  <a:endParaRPr kumimoji="0" lang="ko-KR" altLang="en-US"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grpSp>
          <p:sp>
            <p:nvSpPr>
              <p:cNvPr id="223" name="줄무늬가 있는 오른쪽 화살표 85">
                <a:extLst>
                  <a:ext uri="{FF2B5EF4-FFF2-40B4-BE49-F238E27FC236}">
                    <a16:creationId xmlns:a16="http://schemas.microsoft.com/office/drawing/2014/main" id="{4FC2A20A-96F0-40E8-FF0B-07159864B259}"/>
                  </a:ext>
                </a:extLst>
              </p:cNvPr>
              <p:cNvSpPr/>
              <p:nvPr/>
            </p:nvSpPr>
            <p:spPr>
              <a:xfrm>
                <a:off x="3978219" y="3922207"/>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24" name="줄무늬가 있는 오른쪽 화살표 85">
                <a:extLst>
                  <a:ext uri="{FF2B5EF4-FFF2-40B4-BE49-F238E27FC236}">
                    <a16:creationId xmlns:a16="http://schemas.microsoft.com/office/drawing/2014/main" id="{4FC2A20A-96F0-40E8-FF0B-07159864B259}"/>
                  </a:ext>
                </a:extLst>
              </p:cNvPr>
              <p:cNvSpPr/>
              <p:nvPr/>
            </p:nvSpPr>
            <p:spPr>
              <a:xfrm>
                <a:off x="4815447" y="3917782"/>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grpSp>
            <p:nvGrpSpPr>
              <p:cNvPr id="225" name="그룹 224"/>
              <p:cNvGrpSpPr/>
              <p:nvPr/>
            </p:nvGrpSpPr>
            <p:grpSpPr>
              <a:xfrm>
                <a:off x="3530561" y="3663149"/>
                <a:ext cx="604062" cy="867545"/>
                <a:chOff x="953656" y="2867715"/>
                <a:chExt cx="540000" cy="775540"/>
              </a:xfrm>
            </p:grpSpPr>
            <p:sp>
              <p:nvSpPr>
                <p:cNvPr id="229"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30"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rPr>
                    <a:t>LM</a:t>
                  </a:r>
                  <a:endParaRPr kumimoji="0" lang="ko-KR" altLang="en-US"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grpSp>
          <p:grpSp>
            <p:nvGrpSpPr>
              <p:cNvPr id="226" name="그룹 225"/>
              <p:cNvGrpSpPr/>
              <p:nvPr/>
            </p:nvGrpSpPr>
            <p:grpSpPr>
              <a:xfrm>
                <a:off x="4372882" y="3663149"/>
                <a:ext cx="604062" cy="867545"/>
                <a:chOff x="953656" y="2867715"/>
                <a:chExt cx="540000" cy="775540"/>
              </a:xfrm>
            </p:grpSpPr>
            <p:sp>
              <p:nvSpPr>
                <p:cNvPr id="227"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540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28"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rPr>
                    <a:t>LM</a:t>
                  </a:r>
                  <a:endParaRPr kumimoji="0" lang="ko-KR" altLang="en-US" sz="2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grpSp>
        </p:grpSp>
        <p:sp>
          <p:nvSpPr>
            <p:cNvPr id="243" name="자유형 242"/>
            <p:cNvSpPr/>
            <p:nvPr/>
          </p:nvSpPr>
          <p:spPr>
            <a:xfrm>
              <a:off x="1083323" y="2743285"/>
              <a:ext cx="5192408" cy="1285205"/>
            </a:xfrm>
            <a:custGeom>
              <a:avLst/>
              <a:gdLst>
                <a:gd name="connsiteX0" fmla="*/ 838200 w 4320540"/>
                <a:gd name="connsiteY0" fmla="*/ 0 h 1104900"/>
                <a:gd name="connsiteX1" fmla="*/ 0 w 4320540"/>
                <a:gd name="connsiteY1" fmla="*/ 1097280 h 1104900"/>
                <a:gd name="connsiteX2" fmla="*/ 3756660 w 4320540"/>
                <a:gd name="connsiteY2" fmla="*/ 1104900 h 1104900"/>
                <a:gd name="connsiteX3" fmla="*/ 4320540 w 4320540"/>
                <a:gd name="connsiteY3" fmla="*/ 7620 h 1104900"/>
                <a:gd name="connsiteX4" fmla="*/ 838200 w 4320540"/>
                <a:gd name="connsiteY4" fmla="*/ 0 h 1104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0540" h="1104900">
                  <a:moveTo>
                    <a:pt x="838200" y="0"/>
                  </a:moveTo>
                  <a:lnTo>
                    <a:pt x="0" y="1097280"/>
                  </a:lnTo>
                  <a:lnTo>
                    <a:pt x="3756660" y="1104900"/>
                  </a:lnTo>
                  <a:lnTo>
                    <a:pt x="4320540" y="7620"/>
                  </a:lnTo>
                  <a:lnTo>
                    <a:pt x="838200" y="0"/>
                  </a:lnTo>
                  <a:close/>
                </a:path>
              </a:pathLst>
            </a:custGeom>
            <a:gradFill flip="none" rotWithShape="1">
              <a:gsLst>
                <a:gs pos="4425">
                  <a:srgbClr val="1F497D">
                    <a:alpha val="50000"/>
                  </a:srgbClr>
                </a:gs>
                <a:gs pos="65000">
                  <a:srgbClr val="5B9BD5">
                    <a:alpha val="10000"/>
                  </a:srgbClr>
                </a:gs>
                <a:gs pos="100000">
                  <a:srgbClr val="44546A">
                    <a:alpha val="20000"/>
                  </a:srgbClr>
                </a:gs>
              </a:gsLst>
              <a:lin ang="16200000" scaled="1"/>
              <a:tileRect/>
            </a:gra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48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241" name="모서리가 둥근 직사각형 117">
              <a:extLst>
                <a:ext uri="{FF2B5EF4-FFF2-40B4-BE49-F238E27FC236}">
                  <a16:creationId xmlns:a16="http://schemas.microsoft.com/office/drawing/2014/main" id="{FA0ECA91-1A8B-EF88-9873-53E434D66C39}"/>
                </a:ext>
              </a:extLst>
            </p:cNvPr>
            <p:cNvSpPr/>
            <p:nvPr/>
          </p:nvSpPr>
          <p:spPr>
            <a:xfrm>
              <a:off x="2020149" y="1842103"/>
              <a:ext cx="4536306" cy="1040798"/>
            </a:xfrm>
            <a:prstGeom prst="roundRect">
              <a:avLst>
                <a:gd name="adj" fmla="val 7835"/>
              </a:avLst>
            </a:prstGeom>
            <a:noFill/>
            <a:ln w="25400" cap="flat" cmpd="sng" algn="ctr">
              <a:solidFill>
                <a:srgbClr val="1F497D"/>
              </a:solidFill>
              <a:prstDash val="sysDash"/>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dirty="0">
                <a:ln>
                  <a:noFill/>
                </a:ln>
                <a:solidFill>
                  <a:prstClr val="black"/>
                </a:solidFill>
                <a:effectLst/>
                <a:uLnTx/>
                <a:uFillTx/>
                <a:latin typeface="Samsung Sharp Sans Bold" pitchFamily="50" charset="0"/>
                <a:ea typeface="맑은 고딕"/>
                <a:cs typeface="Samsung Sharp Sans Bold" pitchFamily="50" charset="0"/>
              </a:endParaRPr>
            </a:p>
          </p:txBody>
        </p:sp>
        <p:sp>
          <p:nvSpPr>
            <p:cNvPr id="242" name="직사각형 241"/>
            <p:cNvSpPr/>
            <p:nvPr/>
          </p:nvSpPr>
          <p:spPr>
            <a:xfrm>
              <a:off x="4547448" y="1471585"/>
              <a:ext cx="2358389" cy="35704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black"/>
                  </a:solidFill>
                  <a:effectLst/>
                  <a:uLnTx/>
                  <a:uFillTx/>
                  <a:latin typeface="Samsung Sharp Sans Bold" pitchFamily="2" charset="0"/>
                  <a:ea typeface="Samsung Sharp Sans Bold" pitchFamily="2" charset="0"/>
                  <a:cs typeface="Samsung Sharp Sans Bold" pitchFamily="2" charset="0"/>
                </a:rPr>
                <a:t>GEMV Computation dominated</a:t>
              </a:r>
            </a:p>
          </p:txBody>
        </p:sp>
        <p:grpSp>
          <p:nvGrpSpPr>
            <p:cNvPr id="244" name="그룹 243"/>
            <p:cNvGrpSpPr/>
            <p:nvPr/>
          </p:nvGrpSpPr>
          <p:grpSpPr>
            <a:xfrm>
              <a:off x="62279" y="3679713"/>
              <a:ext cx="6553935" cy="1216687"/>
              <a:chOff x="418623" y="5661521"/>
              <a:chExt cx="5436812" cy="1030175"/>
            </a:xfrm>
          </p:grpSpPr>
          <p:cxnSp>
            <p:nvCxnSpPr>
              <p:cNvPr id="245" name="직선 연결선 244">
                <a:extLst>
                  <a:ext uri="{FF2B5EF4-FFF2-40B4-BE49-F238E27FC236}">
                    <a16:creationId xmlns:a16="http://schemas.microsoft.com/office/drawing/2014/main" id="{25BB8C04-C31F-470C-9A50-6C4BD57CD03C}"/>
                  </a:ext>
                </a:extLst>
              </p:cNvPr>
              <p:cNvCxnSpPr>
                <a:cxnSpLocks/>
              </p:cNvCxnSpPr>
              <p:nvPr/>
            </p:nvCxnSpPr>
            <p:spPr>
              <a:xfrm flipV="1">
                <a:off x="2051876" y="5842334"/>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46" name="직선 연결선 245">
                <a:extLst>
                  <a:ext uri="{FF2B5EF4-FFF2-40B4-BE49-F238E27FC236}">
                    <a16:creationId xmlns:a16="http://schemas.microsoft.com/office/drawing/2014/main" id="{25BB8C04-C31F-470C-9A50-6C4BD57CD03C}"/>
                  </a:ext>
                </a:extLst>
              </p:cNvPr>
              <p:cNvCxnSpPr>
                <a:cxnSpLocks/>
              </p:cNvCxnSpPr>
              <p:nvPr/>
            </p:nvCxnSpPr>
            <p:spPr>
              <a:xfrm flipV="1">
                <a:off x="3211790" y="5849352"/>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47" name="직사각형 246"/>
              <p:cNvSpPr/>
              <p:nvPr/>
            </p:nvSpPr>
            <p:spPr>
              <a:xfrm>
                <a:off x="884174" y="5948122"/>
                <a:ext cx="354409" cy="252535"/>
              </a:xfrm>
              <a:prstGeom prst="rect">
                <a:avLst/>
              </a:prstGeom>
              <a:solidFill>
                <a:srgbClr val="0077C8"/>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8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48" name="직사각형 247"/>
              <p:cNvSpPr/>
              <p:nvPr/>
            </p:nvSpPr>
            <p:spPr>
              <a:xfrm>
                <a:off x="872023" y="5957754"/>
                <a:ext cx="412717" cy="263948"/>
              </a:xfrm>
              <a:prstGeom prst="rect">
                <a:avLst/>
              </a:prstGeom>
              <a:gradFill>
                <a:gsLst>
                  <a:gs pos="0">
                    <a:srgbClr val="4472C4">
                      <a:lumMod val="67000"/>
                    </a:srgbClr>
                  </a:gs>
                  <a:gs pos="48000">
                    <a:srgbClr val="4472C4">
                      <a:lumMod val="97000"/>
                      <a:lumOff val="3000"/>
                    </a:srgbClr>
                  </a:gs>
                  <a:gs pos="100000">
                    <a:srgbClr val="4472C4">
                      <a:lumMod val="60000"/>
                      <a:lumOff val="40000"/>
                    </a:srgbClr>
                  </a:gs>
                </a:gsLst>
                <a:lin ang="0" scaled="1"/>
              </a:gra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white"/>
                    </a:solidFill>
                    <a:effectLst/>
                    <a:uLnTx/>
                    <a:uFillTx/>
                    <a:latin typeface="Samsung Sharp Sans Bold"/>
                    <a:ea typeface="맑은 고딕"/>
                    <a:cs typeface="Arial" panose="020B0604020202020204" pitchFamily="34" charset="0"/>
                  </a:rPr>
                  <a:t>2.1%</a:t>
                </a:r>
                <a:endParaRPr kumimoji="0" lang="ko-KR" altLang="en-US" sz="1000" b="0" i="0" u="none" strike="noStrike" kern="0" cap="none" spc="0" normalizeH="0" baseline="0" noProof="0" dirty="0">
                  <a:ln>
                    <a:noFill/>
                  </a:ln>
                  <a:solidFill>
                    <a:prstClr val="white"/>
                  </a:solidFill>
                  <a:effectLst/>
                  <a:uLnTx/>
                  <a:uFillTx/>
                  <a:latin typeface="Samsung Sharp Sans Bold"/>
                  <a:ea typeface="맑은 고딕"/>
                  <a:cs typeface="Arial" panose="020B0604020202020204" pitchFamily="34" charset="0"/>
                </a:endParaRPr>
              </a:p>
            </p:txBody>
          </p:sp>
          <p:sp>
            <p:nvSpPr>
              <p:cNvPr id="249" name="직사각형 248"/>
              <p:cNvSpPr/>
              <p:nvPr/>
            </p:nvSpPr>
            <p:spPr>
              <a:xfrm>
                <a:off x="687379" y="5661521"/>
                <a:ext cx="326429" cy="271946"/>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Samsung Sharp Sans Bold" pitchFamily="2" charset="0"/>
                    <a:ea typeface="Samsung Sharp Sans Bold" pitchFamily="2" charset="0"/>
                    <a:cs typeface="Samsung Sharp Sans Bold" pitchFamily="2" charset="0"/>
                  </a:rPr>
                  <a:t>0%</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50" name="직사각형 249"/>
              <p:cNvSpPr/>
              <p:nvPr/>
            </p:nvSpPr>
            <p:spPr>
              <a:xfrm>
                <a:off x="1820922" y="5661522"/>
                <a:ext cx="392242" cy="271946"/>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Samsung Sharp Sans Bold" pitchFamily="2" charset="0"/>
                    <a:ea typeface="Samsung Sharp Sans Bold" pitchFamily="2" charset="0"/>
                    <a:cs typeface="Samsung Sharp Sans Bold" pitchFamily="2" charset="0"/>
                  </a:rPr>
                  <a:t>25%</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51" name="직사각형 250"/>
              <p:cNvSpPr/>
              <p:nvPr/>
            </p:nvSpPr>
            <p:spPr>
              <a:xfrm>
                <a:off x="2966029" y="5664157"/>
                <a:ext cx="392242" cy="271946"/>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Samsung Sharp Sans Bold" pitchFamily="2" charset="0"/>
                    <a:ea typeface="Samsung Sharp Sans Bold" pitchFamily="2" charset="0"/>
                    <a:cs typeface="Samsung Sharp Sans Bold" pitchFamily="2" charset="0"/>
                  </a:rPr>
                  <a:t>50%</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sp>
            <p:nvSpPr>
              <p:cNvPr id="252" name="직사각형 251"/>
              <p:cNvSpPr/>
              <p:nvPr/>
            </p:nvSpPr>
            <p:spPr>
              <a:xfrm>
                <a:off x="4160137" y="5661521"/>
                <a:ext cx="392242" cy="271946"/>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Samsung Sharp Sans Bold" pitchFamily="2" charset="0"/>
                    <a:ea typeface="Samsung Sharp Sans Bold" pitchFamily="2" charset="0"/>
                    <a:cs typeface="Samsung Sharp Sans Bold" pitchFamily="2" charset="0"/>
                  </a:rPr>
                  <a:t>75%</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cxnSp>
            <p:nvCxnSpPr>
              <p:cNvPr id="253" name="직선 연결선 252">
                <a:extLst>
                  <a:ext uri="{FF2B5EF4-FFF2-40B4-BE49-F238E27FC236}">
                    <a16:creationId xmlns:a16="http://schemas.microsoft.com/office/drawing/2014/main" id="{25BB8C04-C31F-470C-9A50-6C4BD57CD03C}"/>
                  </a:ext>
                </a:extLst>
              </p:cNvPr>
              <p:cNvCxnSpPr>
                <a:cxnSpLocks/>
              </p:cNvCxnSpPr>
              <p:nvPr/>
            </p:nvCxnSpPr>
            <p:spPr>
              <a:xfrm flipV="1">
                <a:off x="882246" y="5846970"/>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54" name="직선 연결선 253">
                <a:extLst>
                  <a:ext uri="{FF2B5EF4-FFF2-40B4-BE49-F238E27FC236}">
                    <a16:creationId xmlns:a16="http://schemas.microsoft.com/office/drawing/2014/main" id="{25BB8C04-C31F-470C-9A50-6C4BD57CD03C}"/>
                  </a:ext>
                </a:extLst>
              </p:cNvPr>
              <p:cNvCxnSpPr>
                <a:cxnSpLocks/>
              </p:cNvCxnSpPr>
              <p:nvPr/>
            </p:nvCxnSpPr>
            <p:spPr>
              <a:xfrm flipV="1">
                <a:off x="4392963" y="585126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55" name="직사각형 254"/>
              <p:cNvSpPr/>
              <p:nvPr/>
            </p:nvSpPr>
            <p:spPr>
              <a:xfrm>
                <a:off x="1238583" y="5948122"/>
                <a:ext cx="3764389" cy="250248"/>
              </a:xfrm>
              <a:prstGeom prst="rect">
                <a:avLst/>
              </a:prstGeom>
              <a:gradFill>
                <a:gsLst>
                  <a:gs pos="0">
                    <a:srgbClr val="FFC000">
                      <a:lumMod val="67000"/>
                    </a:srgbClr>
                  </a:gs>
                  <a:gs pos="48000">
                    <a:srgbClr val="FFC000">
                      <a:lumMod val="97000"/>
                      <a:lumOff val="3000"/>
                    </a:srgbClr>
                  </a:gs>
                  <a:gs pos="100000">
                    <a:srgbClr val="FFC000">
                      <a:lumMod val="60000"/>
                      <a:lumOff val="40000"/>
                    </a:srgbClr>
                  </a:gs>
                </a:gsLst>
                <a:lin ang="10800000" scaled="1"/>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40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256" name="직사각형 255"/>
              <p:cNvSpPr/>
              <p:nvPr/>
            </p:nvSpPr>
            <p:spPr>
              <a:xfrm>
                <a:off x="1505013" y="5957755"/>
                <a:ext cx="3150183" cy="2834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9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rPr>
                  <a:t>GEMV accounts for 82.3% of total computation time (GPU)</a:t>
                </a:r>
                <a:endParaRPr kumimoji="0" lang="ko-KR" altLang="en-US" sz="9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57" name="직사각형 256"/>
              <p:cNvSpPr/>
              <p:nvPr/>
            </p:nvSpPr>
            <p:spPr>
              <a:xfrm>
                <a:off x="4998150" y="5948122"/>
                <a:ext cx="334116" cy="250248"/>
              </a:xfrm>
              <a:prstGeom prst="rect">
                <a:avLst/>
              </a:prstGeom>
              <a:solidFill>
                <a:srgbClr val="17375E"/>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58" name="직사각형 257"/>
              <p:cNvSpPr/>
              <p:nvPr/>
            </p:nvSpPr>
            <p:spPr>
              <a:xfrm>
                <a:off x="5332265" y="5948268"/>
                <a:ext cx="347290" cy="250248"/>
              </a:xfrm>
              <a:prstGeom prst="rect">
                <a:avLst/>
              </a:prstGeom>
              <a:solidFill>
                <a:srgbClr val="7030A0"/>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1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59" name="직사각형 258"/>
              <p:cNvSpPr/>
              <p:nvPr/>
            </p:nvSpPr>
            <p:spPr>
              <a:xfrm>
                <a:off x="4960363" y="5956489"/>
                <a:ext cx="412717" cy="263948"/>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white"/>
                    </a:solidFill>
                    <a:effectLst/>
                    <a:uLnTx/>
                    <a:uFillTx/>
                    <a:latin typeface="Samsung Sharp Sans Bold"/>
                    <a:ea typeface="맑은 고딕"/>
                    <a:cs typeface="Arial" panose="020B0604020202020204" pitchFamily="34" charset="0"/>
                  </a:rPr>
                  <a:t>7.8%</a:t>
                </a:r>
                <a:endParaRPr kumimoji="0" lang="ko-KR" altLang="en-US" sz="1000" b="0" i="0" u="none" strike="noStrike" kern="0" cap="none" spc="0" normalizeH="0" baseline="0" noProof="0" dirty="0">
                  <a:ln>
                    <a:noFill/>
                  </a:ln>
                  <a:solidFill>
                    <a:prstClr val="white"/>
                  </a:solidFill>
                  <a:effectLst/>
                  <a:uLnTx/>
                  <a:uFillTx/>
                  <a:latin typeface="Samsung Sharp Sans Bold"/>
                  <a:ea typeface="맑은 고딕"/>
                  <a:cs typeface="Arial" panose="020B0604020202020204" pitchFamily="34" charset="0"/>
                </a:endParaRPr>
              </a:p>
            </p:txBody>
          </p:sp>
          <p:sp>
            <p:nvSpPr>
              <p:cNvPr id="260" name="직사각형 259"/>
              <p:cNvSpPr/>
              <p:nvPr/>
            </p:nvSpPr>
            <p:spPr>
              <a:xfrm>
                <a:off x="5311104" y="5956489"/>
                <a:ext cx="412717" cy="263948"/>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white"/>
                    </a:solidFill>
                    <a:effectLst/>
                    <a:uLnTx/>
                    <a:uFillTx/>
                    <a:latin typeface="Samsung Sharp Sans Bold"/>
                    <a:ea typeface="맑은 고딕"/>
                    <a:cs typeface="Arial" panose="020B0604020202020204" pitchFamily="34" charset="0"/>
                  </a:rPr>
                  <a:t>7.9%</a:t>
                </a:r>
                <a:endParaRPr kumimoji="0" lang="ko-KR" altLang="en-US" sz="1000" b="0" i="0" u="none" strike="noStrike" kern="0" cap="none" spc="0" normalizeH="0" baseline="0" noProof="0" dirty="0">
                  <a:ln>
                    <a:noFill/>
                  </a:ln>
                  <a:solidFill>
                    <a:prstClr val="white"/>
                  </a:solidFill>
                  <a:effectLst/>
                  <a:uLnTx/>
                  <a:uFillTx/>
                  <a:latin typeface="Samsung Sharp Sans Bold"/>
                  <a:ea typeface="맑은 고딕"/>
                  <a:cs typeface="Arial" panose="020B0604020202020204" pitchFamily="34" charset="0"/>
                </a:endParaRPr>
              </a:p>
            </p:txBody>
          </p:sp>
          <p:sp>
            <p:nvSpPr>
              <p:cNvPr id="261" name="직사각형 260"/>
              <p:cNvSpPr/>
              <p:nvPr/>
            </p:nvSpPr>
            <p:spPr>
              <a:xfrm>
                <a:off x="5397381" y="5661521"/>
                <a:ext cx="458054" cy="271946"/>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50" b="0" i="0" u="none" strike="noStrike" kern="0" cap="none" spc="0" normalizeH="0" baseline="0" noProof="0" dirty="0">
                    <a:ln>
                      <a:noFill/>
                    </a:ln>
                    <a:solidFill>
                      <a:prstClr val="black"/>
                    </a:solidFill>
                    <a:effectLst/>
                    <a:uLnTx/>
                    <a:uFillTx/>
                    <a:latin typeface="Samsung Sharp Sans Bold" pitchFamily="2" charset="0"/>
                    <a:ea typeface="Samsung Sharp Sans Bold" pitchFamily="2" charset="0"/>
                    <a:cs typeface="Samsung Sharp Sans Bold" pitchFamily="2" charset="0"/>
                  </a:rPr>
                  <a:t>100%</a:t>
                </a:r>
                <a:endParaRPr kumimoji="0" lang="ko-KR" altLang="en-US" sz="1050" b="0" i="0" u="none" strike="noStrike" kern="0" cap="none" spc="0" normalizeH="0" baseline="0" noProof="0" dirty="0">
                  <a:ln>
                    <a:noFill/>
                  </a:ln>
                  <a:solidFill>
                    <a:prstClr val="black"/>
                  </a:solidFill>
                  <a:effectLst/>
                  <a:uLnTx/>
                  <a:uFillTx/>
                  <a:latin typeface="Arial"/>
                  <a:ea typeface="맑은 고딕"/>
                  <a:cs typeface="+mn-cs"/>
                </a:endParaRPr>
              </a:p>
            </p:txBody>
          </p:sp>
          <p:grpSp>
            <p:nvGrpSpPr>
              <p:cNvPr id="262" name="그룹 261"/>
              <p:cNvGrpSpPr/>
              <p:nvPr/>
            </p:nvGrpSpPr>
            <p:grpSpPr>
              <a:xfrm>
                <a:off x="3301781" y="6382429"/>
                <a:ext cx="2471439" cy="309267"/>
                <a:chOff x="3307177" y="6381595"/>
                <a:chExt cx="2471439" cy="309267"/>
              </a:xfrm>
            </p:grpSpPr>
            <p:sp>
              <p:nvSpPr>
                <p:cNvPr id="265" name="직사각형 264"/>
                <p:cNvSpPr/>
                <p:nvPr/>
              </p:nvSpPr>
              <p:spPr>
                <a:xfrm>
                  <a:off x="3974527" y="6381597"/>
                  <a:ext cx="530891" cy="30231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rPr>
                    <a:t>GEMV</a:t>
                  </a:r>
                  <a:endParaRPr kumimoji="0" lang="ko-KR" altLang="en-US" sz="1000" b="0" i="0" u="none" strike="noStrike" kern="0" cap="none" spc="0" normalizeH="0" baseline="-2500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66" name="직사각형 265"/>
                <p:cNvSpPr/>
                <p:nvPr/>
              </p:nvSpPr>
              <p:spPr>
                <a:xfrm>
                  <a:off x="3307177" y="6478857"/>
                  <a:ext cx="86368" cy="97193"/>
                </a:xfrm>
                <a:prstGeom prst="rect">
                  <a:avLst/>
                </a:prstGeom>
                <a:solidFill>
                  <a:srgbClr val="0077C8"/>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000" b="0" i="0" u="none" strike="noStrike" kern="0" cap="none" spc="0" normalizeH="0" baseline="0" noProof="0" dirty="0">
                    <a:ln>
                      <a:noFill/>
                    </a:ln>
                    <a:solidFill>
                      <a:prstClr val="black"/>
                    </a:solidFill>
                    <a:effectLst/>
                    <a:uLnTx/>
                    <a:uFillTx/>
                    <a:latin typeface="Arial" panose="020B0604020202020204" pitchFamily="34" charset="0"/>
                    <a:ea typeface="맑은 고딕"/>
                    <a:cs typeface="Arial" panose="020B0604020202020204" pitchFamily="34" charset="0"/>
                  </a:endParaRPr>
                </a:p>
              </p:txBody>
            </p:sp>
            <p:sp>
              <p:nvSpPr>
                <p:cNvPr id="267" name="직사각형 266"/>
                <p:cNvSpPr/>
                <p:nvPr/>
              </p:nvSpPr>
              <p:spPr>
                <a:xfrm>
                  <a:off x="3345122" y="6388547"/>
                  <a:ext cx="566049" cy="30231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rPr>
                    <a:t>GEMM</a:t>
                  </a:r>
                  <a:endParaRPr kumimoji="0" lang="ko-KR" altLang="en-US" sz="1000" b="0" i="0" u="none" strike="noStrike" kern="0" cap="none" spc="0" normalizeH="0" baseline="-2500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68" name="직사각형 267"/>
                <p:cNvSpPr/>
                <p:nvPr/>
              </p:nvSpPr>
              <p:spPr>
                <a:xfrm>
                  <a:off x="3923301" y="6478857"/>
                  <a:ext cx="86368" cy="97193"/>
                </a:xfrm>
                <a:prstGeom prst="rect">
                  <a:avLst/>
                </a:prstGeom>
                <a:solidFill>
                  <a:srgbClr val="FFC00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000" b="0" i="0" u="none" strike="noStrike" kern="0" cap="none" spc="0" normalizeH="0" baseline="0" noProof="0" dirty="0">
                    <a:ln>
                      <a:noFill/>
                    </a:ln>
                    <a:solidFill>
                      <a:prstClr val="black"/>
                    </a:solidFill>
                    <a:effectLst/>
                    <a:uLnTx/>
                    <a:uFillTx/>
                    <a:latin typeface="Arial" panose="020B0604020202020204" pitchFamily="34" charset="0"/>
                    <a:ea typeface="맑은 고딕"/>
                    <a:cs typeface="Arial" panose="020B0604020202020204" pitchFamily="34" charset="0"/>
                  </a:endParaRPr>
                </a:p>
              </p:txBody>
            </p:sp>
            <p:sp>
              <p:nvSpPr>
                <p:cNvPr id="269" name="직사각형 268"/>
                <p:cNvSpPr/>
                <p:nvPr/>
              </p:nvSpPr>
              <p:spPr>
                <a:xfrm>
                  <a:off x="4539939" y="6382052"/>
                  <a:ext cx="818550" cy="302316"/>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rPr>
                    <a:t>Non-Linear</a:t>
                  </a:r>
                  <a:endParaRPr kumimoji="0" lang="ko-KR" altLang="en-US" sz="1000" b="0" i="0" u="none" strike="noStrike" kern="0" cap="none" spc="0" normalizeH="0" baseline="-2500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70" name="직사각형 269"/>
                <p:cNvSpPr/>
                <p:nvPr/>
              </p:nvSpPr>
              <p:spPr>
                <a:xfrm>
                  <a:off x="4499101" y="6479312"/>
                  <a:ext cx="86368" cy="97193"/>
                </a:xfrm>
                <a:prstGeom prst="rect">
                  <a:avLst/>
                </a:prstGeom>
                <a:solidFill>
                  <a:srgbClr val="17375E"/>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000" b="0" i="0" u="none" strike="noStrike" kern="0" cap="none" spc="0" normalizeH="0" baseline="0" noProof="0" dirty="0">
                    <a:ln>
                      <a:noFill/>
                    </a:ln>
                    <a:solidFill>
                      <a:prstClr val="black"/>
                    </a:solidFill>
                    <a:effectLst/>
                    <a:uLnTx/>
                    <a:uFillTx/>
                    <a:latin typeface="Arial" panose="020B0604020202020204" pitchFamily="34" charset="0"/>
                    <a:ea typeface="맑은 고딕"/>
                    <a:cs typeface="Arial" panose="020B0604020202020204" pitchFamily="34" charset="0"/>
                  </a:endParaRPr>
                </a:p>
              </p:txBody>
            </p:sp>
            <p:sp>
              <p:nvSpPr>
                <p:cNvPr id="271" name="직사각형 270"/>
                <p:cNvSpPr/>
                <p:nvPr/>
              </p:nvSpPr>
              <p:spPr>
                <a:xfrm>
                  <a:off x="5401143" y="6381595"/>
                  <a:ext cx="377473" cy="302316"/>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rPr>
                    <a:t>Etc.</a:t>
                  </a:r>
                  <a:endParaRPr kumimoji="0" lang="ko-KR" altLang="en-US" sz="1000" b="0" i="0" u="none" strike="noStrike" kern="0" cap="none" spc="0" normalizeH="0" baseline="-25000" noProof="0" dirty="0">
                    <a:ln>
                      <a:noFill/>
                    </a:ln>
                    <a:solidFill>
                      <a:prstClr val="black"/>
                    </a:solidFill>
                    <a:effectLst/>
                    <a:uLnTx/>
                    <a:uFillTx/>
                    <a:latin typeface="Samsung Sharp Sans Bold"/>
                    <a:ea typeface="맑은 고딕"/>
                    <a:cs typeface="Arial" panose="020B0604020202020204" pitchFamily="34" charset="0"/>
                  </a:endParaRPr>
                </a:p>
              </p:txBody>
            </p:sp>
            <p:sp>
              <p:nvSpPr>
                <p:cNvPr id="272" name="직사각형 271"/>
                <p:cNvSpPr/>
                <p:nvPr/>
              </p:nvSpPr>
              <p:spPr>
                <a:xfrm>
                  <a:off x="5360307" y="6478857"/>
                  <a:ext cx="86368" cy="97193"/>
                </a:xfrm>
                <a:prstGeom prst="rect">
                  <a:avLst/>
                </a:prstGeom>
                <a:solidFill>
                  <a:srgbClr val="604A7B"/>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000" b="0" i="0" u="none" strike="noStrike" kern="0" cap="none" spc="0" normalizeH="0" baseline="0" noProof="0" dirty="0">
                    <a:ln>
                      <a:noFill/>
                    </a:ln>
                    <a:solidFill>
                      <a:prstClr val="black"/>
                    </a:solidFill>
                    <a:effectLst/>
                    <a:uLnTx/>
                    <a:uFillTx/>
                    <a:latin typeface="Arial" panose="020B0604020202020204" pitchFamily="34" charset="0"/>
                    <a:ea typeface="맑은 고딕"/>
                    <a:cs typeface="Arial" panose="020B0604020202020204" pitchFamily="34" charset="0"/>
                  </a:endParaRPr>
                </a:p>
              </p:txBody>
            </p:sp>
          </p:grpSp>
          <p:cxnSp>
            <p:nvCxnSpPr>
              <p:cNvPr id="263" name="직선 연결선 262">
                <a:extLst>
                  <a:ext uri="{FF2B5EF4-FFF2-40B4-BE49-F238E27FC236}">
                    <a16:creationId xmlns:a16="http://schemas.microsoft.com/office/drawing/2014/main" id="{25BB8C04-C31F-470C-9A50-6C4BD57CD03C}"/>
                  </a:ext>
                </a:extLst>
              </p:cNvPr>
              <p:cNvCxnSpPr>
                <a:cxnSpLocks/>
              </p:cNvCxnSpPr>
              <p:nvPr/>
            </p:nvCxnSpPr>
            <p:spPr>
              <a:xfrm flipV="1">
                <a:off x="5674791" y="585345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64" name="직사각형 263"/>
              <p:cNvSpPr/>
              <p:nvPr/>
            </p:nvSpPr>
            <p:spPr>
              <a:xfrm>
                <a:off x="418623" y="6393624"/>
                <a:ext cx="2151369" cy="26452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solidFill>
                      <a:prstClr val="black"/>
                    </a:solidFill>
                    <a:effectLst/>
                    <a:uLnTx/>
                    <a:uFillTx/>
                    <a:latin typeface="Samsung Sharp Sans Bold"/>
                    <a:ea typeface="맑은 고딕"/>
                    <a:cs typeface="Arial" panose="020B0604020202020204" pitchFamily="34" charset="0"/>
                  </a:rPr>
                  <a:t>*GPT-J 6B latency breakdown on A100 GPU</a:t>
                </a:r>
                <a:endParaRPr kumimoji="0" lang="ko-KR" altLang="en-US" sz="800" b="0" i="0" u="none" strike="noStrike" kern="0" cap="none" spc="0" normalizeH="0" baseline="-25000" noProof="0" dirty="0">
                  <a:ln>
                    <a:noFill/>
                  </a:ln>
                  <a:solidFill>
                    <a:prstClr val="black"/>
                  </a:solidFill>
                  <a:effectLst/>
                  <a:uLnTx/>
                  <a:uFillTx/>
                  <a:latin typeface="Samsung Sharp Sans Bold"/>
                  <a:ea typeface="맑은 고딕"/>
                  <a:cs typeface="Arial" panose="020B0604020202020204" pitchFamily="34" charset="0"/>
                </a:endParaRPr>
              </a:p>
            </p:txBody>
          </p:sp>
        </p:grpSp>
      </p:grpSp>
      <p:sp>
        <p:nvSpPr>
          <p:cNvPr id="121" name="직사각형 120"/>
          <p:cNvSpPr/>
          <p:nvPr/>
        </p:nvSpPr>
        <p:spPr>
          <a:xfrm>
            <a:off x="386432" y="4129286"/>
            <a:ext cx="4496744" cy="738664"/>
          </a:xfrm>
          <a:prstGeom prst="rect">
            <a:avLst/>
          </a:prstGeom>
        </p:spPr>
        <p:txBody>
          <a:bodyPr wrap="non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ko-KR" altLang="en-US"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연산 특성이 다름</a:t>
            </a:r>
            <a:endPar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ko-KR" sz="1400" b="1" i="0" u="none" strike="noStrike" kern="0" cap="none" spc="0" normalizeH="0" baseline="0" noProof="0" dirty="0">
                <a:ln>
                  <a:noFill/>
                </a:ln>
                <a:solidFill>
                  <a:srgbClr val="5B9BD5"/>
                </a:solidFill>
                <a:effectLst/>
                <a:uLnTx/>
                <a:uFillTx/>
                <a:latin typeface="맑은 고딕" panose="020B0503020000020004" pitchFamily="50" charset="-127"/>
                <a:ea typeface="맑은 고딕" panose="020B0503020000020004" pitchFamily="50" charset="-127"/>
                <a:cs typeface="Samsung Sharp Sans Bold" pitchFamily="2" charset="0"/>
              </a:rPr>
              <a:t>Prefill: Compute-bound </a:t>
            </a:r>
            <a:r>
              <a:rPr kumimoji="0" lang="en-US" altLang="ko-KR" sz="1400" b="1"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 </a:t>
            </a:r>
            <a:r>
              <a:rPr kumimoji="0" lang="en-US" altLang="ko-KR" sz="1400" b="1" i="0" u="none" strike="noStrike" kern="0" cap="none" spc="0" normalizeH="0" baseline="0" noProof="0" dirty="0">
                <a:ln>
                  <a:noFill/>
                </a:ln>
                <a:solidFill>
                  <a:srgbClr val="ED7D31"/>
                </a:solidFill>
                <a:effectLst/>
                <a:uLnTx/>
                <a:uFillTx/>
                <a:latin typeface="맑은 고딕" panose="020B0503020000020004" pitchFamily="50" charset="-127"/>
                <a:ea typeface="맑은 고딕" panose="020B0503020000020004" pitchFamily="50" charset="-127"/>
                <a:cs typeface="Samsung Sharp Sans Bold" pitchFamily="2" charset="0"/>
              </a:rPr>
              <a:t>Decode: Memory-bound</a:t>
            </a:r>
          </a:p>
        </p:txBody>
      </p:sp>
      <p:grpSp>
        <p:nvGrpSpPr>
          <p:cNvPr id="125" name="그룹 124">
            <a:extLst>
              <a:ext uri="{FF2B5EF4-FFF2-40B4-BE49-F238E27FC236}">
                <a16:creationId xmlns:a16="http://schemas.microsoft.com/office/drawing/2014/main" id="{AB8A297E-CCEA-4417-8652-FE55EBFDD7FF}"/>
              </a:ext>
            </a:extLst>
          </p:cNvPr>
          <p:cNvGrpSpPr/>
          <p:nvPr/>
        </p:nvGrpSpPr>
        <p:grpSpPr>
          <a:xfrm>
            <a:off x="341461" y="5009673"/>
            <a:ext cx="5324237" cy="1416843"/>
            <a:chOff x="502920" y="4014215"/>
            <a:chExt cx="4700016" cy="1077429"/>
          </a:xfrm>
        </p:grpSpPr>
        <p:sp>
          <p:nvSpPr>
            <p:cNvPr id="126" name="Rectangle 6152">
              <a:extLst>
                <a:ext uri="{FF2B5EF4-FFF2-40B4-BE49-F238E27FC236}">
                  <a16:creationId xmlns:a16="http://schemas.microsoft.com/office/drawing/2014/main" id="{FF2D4AB9-0B43-4658-B6C0-7467620626F3}"/>
                </a:ext>
              </a:extLst>
            </p:cNvPr>
            <p:cNvSpPr/>
            <p:nvPr/>
          </p:nvSpPr>
          <p:spPr>
            <a:xfrm>
              <a:off x="502920" y="4041648"/>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C55A11"/>
                  </a:solidFill>
                  <a:effectLst/>
                  <a:uLnTx/>
                  <a:uFillTx/>
                  <a:latin typeface="맑은 고딕"/>
                  <a:ea typeface="맑은 고딕"/>
                  <a:cs typeface="+mn-cs"/>
                </a:rPr>
                <a:t>R1 · Decode 중</a:t>
              </a:r>
            </a:p>
          </p:txBody>
        </p:sp>
        <p:sp>
          <p:nvSpPr>
            <p:cNvPr id="127" name="Rectangle 6153">
              <a:extLst>
                <a:ext uri="{FF2B5EF4-FFF2-40B4-BE49-F238E27FC236}">
                  <a16:creationId xmlns:a16="http://schemas.microsoft.com/office/drawing/2014/main" id="{ABAE4728-ABFA-4FDB-B7AC-1E5BA6247FB1}"/>
                </a:ext>
              </a:extLst>
            </p:cNvPr>
            <p:cNvSpPr/>
            <p:nvPr/>
          </p:nvSpPr>
          <p:spPr>
            <a:xfrm>
              <a:off x="502920" y="4215384"/>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C55A11"/>
                  </a:solidFill>
                  <a:effectLst/>
                  <a:uLnTx/>
                  <a:uFillTx/>
                  <a:latin typeface="맑은 고딕"/>
                  <a:ea typeface="맑은 고딕"/>
                  <a:cs typeface="+mn-cs"/>
                </a:rPr>
                <a:t>R2 · Decode 중</a:t>
              </a:r>
            </a:p>
          </p:txBody>
        </p:sp>
        <p:sp>
          <p:nvSpPr>
            <p:cNvPr id="128" name="Rectangle 6154">
              <a:extLst>
                <a:ext uri="{FF2B5EF4-FFF2-40B4-BE49-F238E27FC236}">
                  <a16:creationId xmlns:a16="http://schemas.microsoft.com/office/drawing/2014/main" id="{EFB63F22-0161-4313-A52F-32F36FA85296}"/>
                </a:ext>
              </a:extLst>
            </p:cNvPr>
            <p:cNvSpPr/>
            <p:nvPr/>
          </p:nvSpPr>
          <p:spPr>
            <a:xfrm>
              <a:off x="502920" y="4389120"/>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2E75B6"/>
                  </a:solidFill>
                  <a:effectLst/>
                  <a:uLnTx/>
                  <a:uFillTx/>
                  <a:latin typeface="맑은 고딕"/>
                  <a:ea typeface="맑은 고딕"/>
                  <a:cs typeface="+mn-cs"/>
                </a:rPr>
                <a:t>R3 · 신규 Prefill</a:t>
              </a:r>
            </a:p>
          </p:txBody>
        </p:sp>
        <p:sp>
          <p:nvSpPr>
            <p:cNvPr id="129" name="Rectangle 6155">
              <a:extLst>
                <a:ext uri="{FF2B5EF4-FFF2-40B4-BE49-F238E27FC236}">
                  <a16:creationId xmlns:a16="http://schemas.microsoft.com/office/drawing/2014/main" id="{465185A4-B7E7-4398-9D60-5460DA1D8404}"/>
                </a:ext>
              </a:extLst>
            </p:cNvPr>
            <p:cNvSpPr/>
            <p:nvPr/>
          </p:nvSpPr>
          <p:spPr>
            <a:xfrm>
              <a:off x="502920" y="4562856"/>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2E75B6"/>
                  </a:solidFill>
                  <a:effectLst/>
                  <a:uLnTx/>
                  <a:uFillTx/>
                  <a:latin typeface="맑은 고딕"/>
                  <a:ea typeface="맑은 고딕"/>
                  <a:cs typeface="+mn-cs"/>
                </a:rPr>
                <a:t>R4 · 신규 Prefill</a:t>
              </a:r>
            </a:p>
          </p:txBody>
        </p:sp>
        <p:cxnSp>
          <p:nvCxnSpPr>
            <p:cNvPr id="130" name="Connector 6156">
              <a:extLst>
                <a:ext uri="{FF2B5EF4-FFF2-40B4-BE49-F238E27FC236}">
                  <a16:creationId xmlns:a16="http://schemas.microsoft.com/office/drawing/2014/main" id="{49D0AF00-80D0-4EAD-88CB-3C52C8CC6277}"/>
                </a:ext>
              </a:extLst>
            </p:cNvPr>
            <p:cNvCxnSpPr/>
            <p:nvPr/>
          </p:nvCxnSpPr>
          <p:spPr>
            <a:xfrm>
              <a:off x="1527048" y="4261104"/>
              <a:ext cx="164592"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31" name="Rectangle 6157">
              <a:extLst>
                <a:ext uri="{FF2B5EF4-FFF2-40B4-BE49-F238E27FC236}">
                  <a16:creationId xmlns:a16="http://schemas.microsoft.com/office/drawing/2014/main" id="{AC8C792D-22C6-40AE-BDCC-299FB23CD875}"/>
                </a:ext>
              </a:extLst>
            </p:cNvPr>
            <p:cNvSpPr/>
            <p:nvPr/>
          </p:nvSpPr>
          <p:spPr>
            <a:xfrm>
              <a:off x="1709928" y="4041648"/>
              <a:ext cx="365760" cy="667512"/>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0000"/>
                  </a:solidFill>
                  <a:effectLst/>
                  <a:uLnTx/>
                  <a:uFillTx/>
                  <a:latin typeface="맑은 고딕"/>
                  <a:ea typeface="맑은 고딕"/>
                  <a:cs typeface="+mn-cs"/>
                </a:rPr>
                <a:t>GPU</a:t>
              </a:r>
            </a:p>
          </p:txBody>
        </p:sp>
        <p:sp>
          <p:nvSpPr>
            <p:cNvPr id="132" name="Rectangle 6158">
              <a:extLst>
                <a:ext uri="{FF2B5EF4-FFF2-40B4-BE49-F238E27FC236}">
                  <a16:creationId xmlns:a16="http://schemas.microsoft.com/office/drawing/2014/main" id="{BF280A27-50E4-4F2B-A278-BB3FA661D21A}"/>
                </a:ext>
              </a:extLst>
            </p:cNvPr>
            <p:cNvSpPr/>
            <p:nvPr/>
          </p:nvSpPr>
          <p:spPr>
            <a:xfrm>
              <a:off x="216712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D1</a:t>
              </a:r>
            </a:p>
          </p:txBody>
        </p:sp>
        <p:sp>
          <p:nvSpPr>
            <p:cNvPr id="133" name="Rectangle 6159">
              <a:extLst>
                <a:ext uri="{FF2B5EF4-FFF2-40B4-BE49-F238E27FC236}">
                  <a16:creationId xmlns:a16="http://schemas.microsoft.com/office/drawing/2014/main" id="{2FC09F91-1BDD-45F0-9B76-BE7958A4B6B3}"/>
                </a:ext>
              </a:extLst>
            </p:cNvPr>
            <p:cNvSpPr/>
            <p:nvPr/>
          </p:nvSpPr>
          <p:spPr>
            <a:xfrm>
              <a:off x="216712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D2</a:t>
              </a:r>
            </a:p>
          </p:txBody>
        </p:sp>
        <p:sp>
          <p:nvSpPr>
            <p:cNvPr id="134" name="Rectangle 6160">
              <a:extLst>
                <a:ext uri="{FF2B5EF4-FFF2-40B4-BE49-F238E27FC236}">
                  <a16:creationId xmlns:a16="http://schemas.microsoft.com/office/drawing/2014/main" id="{EEC437A7-E8BA-4249-9E7C-F17265ADE265}"/>
                </a:ext>
              </a:extLst>
            </p:cNvPr>
            <p:cNvSpPr/>
            <p:nvPr/>
          </p:nvSpPr>
          <p:spPr>
            <a:xfrm>
              <a:off x="248716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D1</a:t>
              </a:r>
            </a:p>
          </p:txBody>
        </p:sp>
        <p:sp>
          <p:nvSpPr>
            <p:cNvPr id="135" name="Rectangle 6161">
              <a:extLst>
                <a:ext uri="{FF2B5EF4-FFF2-40B4-BE49-F238E27FC236}">
                  <a16:creationId xmlns:a16="http://schemas.microsoft.com/office/drawing/2014/main" id="{2BFCB928-4B9E-4521-8F9B-0EB079BA983C}"/>
                </a:ext>
              </a:extLst>
            </p:cNvPr>
            <p:cNvSpPr/>
            <p:nvPr/>
          </p:nvSpPr>
          <p:spPr>
            <a:xfrm>
              <a:off x="2743200"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136" name="Rectangle 6162">
              <a:extLst>
                <a:ext uri="{FF2B5EF4-FFF2-40B4-BE49-F238E27FC236}">
                  <a16:creationId xmlns:a16="http://schemas.microsoft.com/office/drawing/2014/main" id="{D9DDD90B-9B09-417D-A222-FDB7E729E36C}"/>
                </a:ext>
              </a:extLst>
            </p:cNvPr>
            <p:cNvSpPr/>
            <p:nvPr/>
          </p:nvSpPr>
          <p:spPr>
            <a:xfrm>
              <a:off x="248716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D2</a:t>
              </a:r>
            </a:p>
          </p:txBody>
        </p:sp>
        <p:sp>
          <p:nvSpPr>
            <p:cNvPr id="137" name="Rectangle 6163">
              <a:extLst>
                <a:ext uri="{FF2B5EF4-FFF2-40B4-BE49-F238E27FC236}">
                  <a16:creationId xmlns:a16="http://schemas.microsoft.com/office/drawing/2014/main" id="{4D7FE4C2-F14F-4AF0-8A9A-B5F8C6DF1F11}"/>
                </a:ext>
              </a:extLst>
            </p:cNvPr>
            <p:cNvSpPr/>
            <p:nvPr/>
          </p:nvSpPr>
          <p:spPr>
            <a:xfrm>
              <a:off x="2743200"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138" name="Rectangle 6164">
              <a:extLst>
                <a:ext uri="{FF2B5EF4-FFF2-40B4-BE49-F238E27FC236}">
                  <a16:creationId xmlns:a16="http://schemas.microsoft.com/office/drawing/2014/main" id="{B44BACBA-DF71-4008-95E0-2CDFAC3F9A21}"/>
                </a:ext>
              </a:extLst>
            </p:cNvPr>
            <p:cNvSpPr/>
            <p:nvPr/>
          </p:nvSpPr>
          <p:spPr>
            <a:xfrm>
              <a:off x="2487168" y="4389120"/>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맑은 고딕"/>
                  <a:ea typeface="맑은 고딕"/>
                  <a:cs typeface="+mn-cs"/>
                </a:rPr>
                <a:t>P3 (긴 프롬프트)</a:t>
              </a:r>
            </a:p>
          </p:txBody>
        </p:sp>
        <p:sp>
          <p:nvSpPr>
            <p:cNvPr id="139" name="Rectangle 6165">
              <a:extLst>
                <a:ext uri="{FF2B5EF4-FFF2-40B4-BE49-F238E27FC236}">
                  <a16:creationId xmlns:a16="http://schemas.microsoft.com/office/drawing/2014/main" id="{08BAC2FC-8327-4996-A348-B641F1D9FD62}"/>
                </a:ext>
              </a:extLst>
            </p:cNvPr>
            <p:cNvSpPr/>
            <p:nvPr/>
          </p:nvSpPr>
          <p:spPr>
            <a:xfrm>
              <a:off x="3621024"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D1</a:t>
              </a:r>
            </a:p>
          </p:txBody>
        </p:sp>
        <p:sp>
          <p:nvSpPr>
            <p:cNvPr id="140" name="Rectangle 6166">
              <a:extLst>
                <a:ext uri="{FF2B5EF4-FFF2-40B4-BE49-F238E27FC236}">
                  <a16:creationId xmlns:a16="http://schemas.microsoft.com/office/drawing/2014/main" id="{1AE420FD-892B-45C1-A2B1-32BBB5D1773D}"/>
                </a:ext>
              </a:extLst>
            </p:cNvPr>
            <p:cNvSpPr/>
            <p:nvPr/>
          </p:nvSpPr>
          <p:spPr>
            <a:xfrm>
              <a:off x="3621024"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dirty="0">
                  <a:ln>
                    <a:noFill/>
                  </a:ln>
                  <a:solidFill>
                    <a:srgbClr val="C55A11"/>
                  </a:solidFill>
                  <a:effectLst/>
                  <a:uLnTx/>
                  <a:uFillTx/>
                  <a:latin typeface="맑은 고딕"/>
                  <a:ea typeface="맑은 고딕"/>
                  <a:cs typeface="+mn-cs"/>
                </a:rPr>
                <a:t>D2</a:t>
              </a:r>
            </a:p>
          </p:txBody>
        </p:sp>
        <p:sp>
          <p:nvSpPr>
            <p:cNvPr id="141" name="Rectangle 6167">
              <a:extLst>
                <a:ext uri="{FF2B5EF4-FFF2-40B4-BE49-F238E27FC236}">
                  <a16:creationId xmlns:a16="http://schemas.microsoft.com/office/drawing/2014/main" id="{2990D454-12DA-4A42-9CF3-AC728D56B8DE}"/>
                </a:ext>
              </a:extLst>
            </p:cNvPr>
            <p:cNvSpPr/>
            <p:nvPr/>
          </p:nvSpPr>
          <p:spPr>
            <a:xfrm>
              <a:off x="3621024"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D3</a:t>
              </a:r>
            </a:p>
          </p:txBody>
        </p:sp>
        <p:sp>
          <p:nvSpPr>
            <p:cNvPr id="142" name="Rectangle 6168">
              <a:extLst>
                <a:ext uri="{FF2B5EF4-FFF2-40B4-BE49-F238E27FC236}">
                  <a16:creationId xmlns:a16="http://schemas.microsoft.com/office/drawing/2014/main" id="{27EDFEEA-A838-4303-B208-0FA0416B4C67}"/>
                </a:ext>
              </a:extLst>
            </p:cNvPr>
            <p:cNvSpPr/>
            <p:nvPr/>
          </p:nvSpPr>
          <p:spPr>
            <a:xfrm>
              <a:off x="3941063"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D1</a:t>
              </a:r>
            </a:p>
          </p:txBody>
        </p:sp>
        <p:sp>
          <p:nvSpPr>
            <p:cNvPr id="143" name="Rectangle 6169">
              <a:extLst>
                <a:ext uri="{FF2B5EF4-FFF2-40B4-BE49-F238E27FC236}">
                  <a16:creationId xmlns:a16="http://schemas.microsoft.com/office/drawing/2014/main" id="{8A4641AF-C7A1-4DF4-B54B-947039174740}"/>
                </a:ext>
              </a:extLst>
            </p:cNvPr>
            <p:cNvSpPr/>
            <p:nvPr/>
          </p:nvSpPr>
          <p:spPr>
            <a:xfrm>
              <a:off x="4197096"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144" name="Rectangle 6170">
              <a:extLst>
                <a:ext uri="{FF2B5EF4-FFF2-40B4-BE49-F238E27FC236}">
                  <a16:creationId xmlns:a16="http://schemas.microsoft.com/office/drawing/2014/main" id="{86651360-077B-4956-96B9-92C60C6B1719}"/>
                </a:ext>
              </a:extLst>
            </p:cNvPr>
            <p:cNvSpPr/>
            <p:nvPr/>
          </p:nvSpPr>
          <p:spPr>
            <a:xfrm>
              <a:off x="3941063"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dirty="0">
                  <a:ln>
                    <a:noFill/>
                  </a:ln>
                  <a:solidFill>
                    <a:srgbClr val="C55A11"/>
                  </a:solidFill>
                  <a:effectLst/>
                  <a:uLnTx/>
                  <a:uFillTx/>
                  <a:latin typeface="맑은 고딕"/>
                  <a:ea typeface="맑은 고딕"/>
                  <a:cs typeface="+mn-cs"/>
                </a:rPr>
                <a:t>D2</a:t>
              </a:r>
            </a:p>
          </p:txBody>
        </p:sp>
        <p:sp>
          <p:nvSpPr>
            <p:cNvPr id="145" name="Rectangle 6171">
              <a:extLst>
                <a:ext uri="{FF2B5EF4-FFF2-40B4-BE49-F238E27FC236}">
                  <a16:creationId xmlns:a16="http://schemas.microsoft.com/office/drawing/2014/main" id="{7D3942C4-82FB-4934-8FCB-4AB9DF48D245}"/>
                </a:ext>
              </a:extLst>
            </p:cNvPr>
            <p:cNvSpPr/>
            <p:nvPr/>
          </p:nvSpPr>
          <p:spPr>
            <a:xfrm>
              <a:off x="4197096"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146" name="Rectangle 6172">
              <a:extLst>
                <a:ext uri="{FF2B5EF4-FFF2-40B4-BE49-F238E27FC236}">
                  <a16:creationId xmlns:a16="http://schemas.microsoft.com/office/drawing/2014/main" id="{D501D629-6B33-438F-B52B-971D7815A36C}"/>
                </a:ext>
              </a:extLst>
            </p:cNvPr>
            <p:cNvSpPr/>
            <p:nvPr/>
          </p:nvSpPr>
          <p:spPr>
            <a:xfrm>
              <a:off x="3941063"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C55A11"/>
                  </a:solidFill>
                  <a:effectLst/>
                  <a:uLnTx/>
                  <a:uFillTx/>
                  <a:latin typeface="맑은 고딕"/>
                  <a:ea typeface="맑은 고딕"/>
                  <a:cs typeface="+mn-cs"/>
                </a:rPr>
                <a:t>D3</a:t>
              </a:r>
            </a:p>
          </p:txBody>
        </p:sp>
        <p:sp>
          <p:nvSpPr>
            <p:cNvPr id="147" name="Rectangle 6173">
              <a:extLst>
                <a:ext uri="{FF2B5EF4-FFF2-40B4-BE49-F238E27FC236}">
                  <a16:creationId xmlns:a16="http://schemas.microsoft.com/office/drawing/2014/main" id="{7AB6576A-506F-46EB-9A2D-811BBDCEEC2A}"/>
                </a:ext>
              </a:extLst>
            </p:cNvPr>
            <p:cNvSpPr/>
            <p:nvPr/>
          </p:nvSpPr>
          <p:spPr>
            <a:xfrm>
              <a:off x="4197096" y="4389120"/>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148" name="Rectangle 6174">
              <a:extLst>
                <a:ext uri="{FF2B5EF4-FFF2-40B4-BE49-F238E27FC236}">
                  <a16:creationId xmlns:a16="http://schemas.microsoft.com/office/drawing/2014/main" id="{167FCFCD-3172-4654-AFED-F40CFC715162}"/>
                </a:ext>
              </a:extLst>
            </p:cNvPr>
            <p:cNvSpPr/>
            <p:nvPr/>
          </p:nvSpPr>
          <p:spPr>
            <a:xfrm>
              <a:off x="3941063" y="4562856"/>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맑은 고딕"/>
                  <a:ea typeface="맑은 고딕"/>
                  <a:cs typeface="+mn-cs"/>
                </a:rPr>
                <a:t>P4 (긴 프롬프트)</a:t>
              </a:r>
            </a:p>
          </p:txBody>
        </p:sp>
        <p:cxnSp>
          <p:nvCxnSpPr>
            <p:cNvPr id="149" name="Connector 6175">
              <a:extLst>
                <a:ext uri="{FF2B5EF4-FFF2-40B4-BE49-F238E27FC236}">
                  <a16:creationId xmlns:a16="http://schemas.microsoft.com/office/drawing/2014/main" id="{70C43492-E8BB-4E0B-B41E-1AD3157DEDDB}"/>
                </a:ext>
              </a:extLst>
            </p:cNvPr>
            <p:cNvCxnSpPr/>
            <p:nvPr/>
          </p:nvCxnSpPr>
          <p:spPr>
            <a:xfrm>
              <a:off x="2450592"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150" name="Connector 6176">
              <a:extLst>
                <a:ext uri="{FF2B5EF4-FFF2-40B4-BE49-F238E27FC236}">
                  <a16:creationId xmlns:a16="http://schemas.microsoft.com/office/drawing/2014/main" id="{1A11478A-047E-4A62-8FA5-3F5DB15F43EF}"/>
                </a:ext>
              </a:extLst>
            </p:cNvPr>
            <p:cNvCxnSpPr/>
            <p:nvPr/>
          </p:nvCxnSpPr>
          <p:spPr>
            <a:xfrm>
              <a:off x="3584448"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151" name="Connector 6177">
              <a:extLst>
                <a:ext uri="{FF2B5EF4-FFF2-40B4-BE49-F238E27FC236}">
                  <a16:creationId xmlns:a16="http://schemas.microsoft.com/office/drawing/2014/main" id="{C3C3B8FC-1C22-4708-840B-4D778CF7E30E}"/>
                </a:ext>
              </a:extLst>
            </p:cNvPr>
            <p:cNvCxnSpPr/>
            <p:nvPr/>
          </p:nvCxnSpPr>
          <p:spPr>
            <a:xfrm>
              <a:off x="3904487"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152" name="Connector 6178">
              <a:extLst>
                <a:ext uri="{FF2B5EF4-FFF2-40B4-BE49-F238E27FC236}">
                  <a16:creationId xmlns:a16="http://schemas.microsoft.com/office/drawing/2014/main" id="{D3C3F233-D8E6-4760-8C29-11C141BA7257}"/>
                </a:ext>
              </a:extLst>
            </p:cNvPr>
            <p:cNvCxnSpPr/>
            <p:nvPr/>
          </p:nvCxnSpPr>
          <p:spPr>
            <a:xfrm>
              <a:off x="5038344"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153" name="Connector 6179">
              <a:extLst>
                <a:ext uri="{FF2B5EF4-FFF2-40B4-BE49-F238E27FC236}">
                  <a16:creationId xmlns:a16="http://schemas.microsoft.com/office/drawing/2014/main" id="{19063568-B70A-49AE-BB82-252280050E05}"/>
                </a:ext>
              </a:extLst>
            </p:cNvPr>
            <p:cNvCxnSpPr/>
            <p:nvPr/>
          </p:nvCxnSpPr>
          <p:spPr>
            <a:xfrm>
              <a:off x="4845242" y="4931793"/>
              <a:ext cx="237744"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54" name="Rectangle 6180">
              <a:extLst>
                <a:ext uri="{FF2B5EF4-FFF2-40B4-BE49-F238E27FC236}">
                  <a16:creationId xmlns:a16="http://schemas.microsoft.com/office/drawing/2014/main" id="{C03EBB96-B1CC-4189-9C82-F150FBA31156}"/>
                </a:ext>
              </a:extLst>
            </p:cNvPr>
            <p:cNvSpPr/>
            <p:nvPr/>
          </p:nvSpPr>
          <p:spPr>
            <a:xfrm>
              <a:off x="4764423" y="4927052"/>
              <a:ext cx="3657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dirty="0" err="1">
                  <a:ln>
                    <a:noFill/>
                  </a:ln>
                  <a:solidFill>
                    <a:srgbClr val="404040"/>
                  </a:solidFill>
                  <a:effectLst/>
                  <a:uLnTx/>
                  <a:uFillTx/>
                  <a:latin typeface="맑은 고딕"/>
                  <a:ea typeface="맑은 고딕"/>
                  <a:cs typeface="+mn-cs"/>
                </a:rPr>
                <a:t>시간</a:t>
              </a:r>
              <a:endParaRPr kumimoji="0" sz="800" b="0" i="0" u="none" strike="noStrike" kern="1200" cap="none" spc="0" normalizeH="0" baseline="0" noProof="0" dirty="0">
                <a:ln>
                  <a:noFill/>
                </a:ln>
                <a:solidFill>
                  <a:srgbClr val="404040"/>
                </a:solidFill>
                <a:effectLst/>
                <a:uLnTx/>
                <a:uFillTx/>
                <a:latin typeface="맑은 고딕"/>
                <a:ea typeface="맑은 고딕"/>
                <a:cs typeface="+mn-cs"/>
              </a:endParaRPr>
            </a:p>
          </p:txBody>
        </p:sp>
        <p:sp>
          <p:nvSpPr>
            <p:cNvPr id="155" name="Rectangle 6181">
              <a:extLst>
                <a:ext uri="{FF2B5EF4-FFF2-40B4-BE49-F238E27FC236}">
                  <a16:creationId xmlns:a16="http://schemas.microsoft.com/office/drawing/2014/main" id="{52A623D5-B822-4941-BD6E-9F1A62BAC1CF}"/>
                </a:ext>
              </a:extLst>
            </p:cNvPr>
            <p:cNvSpPr/>
            <p:nvPr/>
          </p:nvSpPr>
          <p:spPr>
            <a:xfrm>
              <a:off x="2286000"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C00000"/>
                  </a:solidFill>
                  <a:effectLst/>
                  <a:uLnTx/>
                  <a:uFillTx/>
                  <a:latin typeface="맑은 고딕"/>
                  <a:ea typeface="맑은 고딕"/>
                  <a:cs typeface="+mn-cs"/>
                </a:rPr>
                <a:t>Prefill이 iteration 시간 지배</a:t>
              </a:r>
            </a:p>
          </p:txBody>
        </p:sp>
        <p:sp>
          <p:nvSpPr>
            <p:cNvPr id="156" name="Rectangle 6182">
              <a:extLst>
                <a:ext uri="{FF2B5EF4-FFF2-40B4-BE49-F238E27FC236}">
                  <a16:creationId xmlns:a16="http://schemas.microsoft.com/office/drawing/2014/main" id="{F0120EE9-A51E-4361-9834-0B42F814F1B6}"/>
                </a:ext>
              </a:extLst>
            </p:cNvPr>
            <p:cNvSpPr/>
            <p:nvPr/>
          </p:nvSpPr>
          <p:spPr>
            <a:xfrm>
              <a:off x="3739896"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1" i="0" u="none" strike="noStrike" kern="1200" cap="none" spc="0" normalizeH="0" baseline="0" noProof="0" dirty="0" err="1">
                  <a:ln>
                    <a:noFill/>
                  </a:ln>
                  <a:solidFill>
                    <a:srgbClr val="C00000"/>
                  </a:solidFill>
                  <a:effectLst/>
                  <a:uLnTx/>
                  <a:uFillTx/>
                  <a:latin typeface="맑은 고딕"/>
                  <a:ea typeface="맑은 고딕"/>
                  <a:cs typeface="+mn-cs"/>
                </a:rPr>
                <a:t>Decode도</a:t>
              </a:r>
              <a:r>
                <a:rPr kumimoji="0" sz="800" b="1" i="0" u="none" strike="noStrike" kern="1200" cap="none" spc="0" normalizeH="0" baseline="0" noProof="0" dirty="0">
                  <a:ln>
                    <a:noFill/>
                  </a:ln>
                  <a:solidFill>
                    <a:srgbClr val="C00000"/>
                  </a:solidFill>
                  <a:effectLst/>
                  <a:uLnTx/>
                  <a:uFillTx/>
                  <a:latin typeface="맑은 고딕"/>
                  <a:ea typeface="맑은 고딕"/>
                  <a:cs typeface="+mn-cs"/>
                </a:rPr>
                <a:t> </a:t>
              </a:r>
              <a:r>
                <a:rPr kumimoji="0" sz="800" b="1" i="0" u="none" strike="noStrike" kern="1200" cap="none" spc="0" normalizeH="0" baseline="0" noProof="0" dirty="0" err="1">
                  <a:ln>
                    <a:noFill/>
                  </a:ln>
                  <a:solidFill>
                    <a:srgbClr val="C00000"/>
                  </a:solidFill>
                  <a:effectLst/>
                  <a:uLnTx/>
                  <a:uFillTx/>
                  <a:latin typeface="맑은 고딕"/>
                  <a:ea typeface="맑은 고딕"/>
                  <a:cs typeface="+mn-cs"/>
                </a:rPr>
                <a:t>함께</a:t>
              </a:r>
              <a:r>
                <a:rPr kumimoji="0" sz="800" b="1" i="0" u="none" strike="noStrike" kern="1200" cap="none" spc="0" normalizeH="0" baseline="0" noProof="0" dirty="0">
                  <a:ln>
                    <a:noFill/>
                  </a:ln>
                  <a:solidFill>
                    <a:srgbClr val="C00000"/>
                  </a:solidFill>
                  <a:effectLst/>
                  <a:uLnTx/>
                  <a:uFillTx/>
                  <a:latin typeface="맑은 고딕"/>
                  <a:ea typeface="맑은 고딕"/>
                  <a:cs typeface="+mn-cs"/>
                </a:rPr>
                <a:t> </a:t>
              </a:r>
              <a:r>
                <a:rPr kumimoji="0" sz="800" b="1" i="0" u="none" strike="noStrike" kern="1200" cap="none" spc="0" normalizeH="0" baseline="0" noProof="0" dirty="0" err="1">
                  <a:ln>
                    <a:noFill/>
                  </a:ln>
                  <a:solidFill>
                    <a:srgbClr val="C00000"/>
                  </a:solidFill>
                  <a:effectLst/>
                  <a:uLnTx/>
                  <a:uFillTx/>
                  <a:latin typeface="맑은 고딕"/>
                  <a:ea typeface="맑은 고딕"/>
                  <a:cs typeface="+mn-cs"/>
                </a:rPr>
                <a:t>대기</a:t>
              </a:r>
              <a:r>
                <a:rPr kumimoji="0" sz="800" b="1" i="0" u="none" strike="noStrike" kern="1200" cap="none" spc="0" normalizeH="0" baseline="0" noProof="0" dirty="0">
                  <a:ln>
                    <a:noFill/>
                  </a:ln>
                  <a:solidFill>
                    <a:srgbClr val="C00000"/>
                  </a:solidFill>
                  <a:effectLst/>
                  <a:uLnTx/>
                  <a:uFillTx/>
                  <a:latin typeface="맑은 고딕"/>
                  <a:ea typeface="맑은 고딕"/>
                  <a:cs typeface="+mn-cs"/>
                </a:rPr>
                <a:t> (TPOT↑)</a:t>
              </a:r>
            </a:p>
          </p:txBody>
        </p:sp>
      </p:grpSp>
      <p:graphicFrame>
        <p:nvGraphicFramePr>
          <p:cNvPr id="8" name="표 7"/>
          <p:cNvGraphicFramePr>
            <a:graphicFrameLocks noGrp="1"/>
          </p:cNvGraphicFramePr>
          <p:nvPr/>
        </p:nvGraphicFramePr>
        <p:xfrm>
          <a:off x="9262490" y="1007297"/>
          <a:ext cx="2212368" cy="1324146"/>
        </p:xfrm>
        <a:graphic>
          <a:graphicData uri="http://schemas.openxmlformats.org/drawingml/2006/table">
            <a:tbl>
              <a:tblPr>
                <a:tableStyleId>{5940675A-B579-460E-94D1-54222C63F5DA}</a:tableStyleId>
              </a:tblPr>
              <a:tblGrid>
                <a:gridCol w="650875">
                  <a:extLst>
                    <a:ext uri="{9D8B030D-6E8A-4147-A177-3AD203B41FA5}">
                      <a16:colId xmlns:a16="http://schemas.microsoft.com/office/drawing/2014/main" val="139182952"/>
                    </a:ext>
                  </a:extLst>
                </a:gridCol>
                <a:gridCol w="1561493">
                  <a:extLst>
                    <a:ext uri="{9D8B030D-6E8A-4147-A177-3AD203B41FA5}">
                      <a16:colId xmlns:a16="http://schemas.microsoft.com/office/drawing/2014/main" val="240935891"/>
                    </a:ext>
                  </a:extLst>
                </a:gridCol>
              </a:tblGrid>
              <a:tr h="183208">
                <a:tc>
                  <a:txBody>
                    <a:bodyPr/>
                    <a:lstStyle/>
                    <a:p>
                      <a:pPr algn="ctr"/>
                      <a:r>
                        <a:rPr sz="1050" b="1" dirty="0" err="1">
                          <a:solidFill>
                            <a:schemeClr val="tx1"/>
                          </a:solidFill>
                          <a:latin typeface="맑은 고딕"/>
                          <a:ea typeface="맑은 고딕"/>
                        </a:rPr>
                        <a:t>구분</a:t>
                      </a:r>
                      <a:endParaRPr sz="1050" b="1" dirty="0">
                        <a:solidFill>
                          <a:schemeClr val="tx1"/>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sz="1050" b="1" dirty="0">
                          <a:solidFill>
                            <a:schemeClr val="tx1"/>
                          </a:solidFill>
                          <a:latin typeface="맑은 고딕"/>
                          <a:ea typeface="맑은 고딕"/>
                        </a:rPr>
                        <a:t>Prefill</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4019808555"/>
                  </a:ext>
                </a:extLst>
              </a:tr>
              <a:tr h="355077">
                <a:tc>
                  <a:txBody>
                    <a:bodyPr/>
                    <a:lstStyle/>
                    <a:p>
                      <a:pPr algn="ctr"/>
                      <a:r>
                        <a:rPr lang="ko-KR" altLang="en-US" sz="900" b="1" dirty="0">
                          <a:solidFill>
                            <a:srgbClr val="404040"/>
                          </a:solidFill>
                          <a:latin typeface="맑은 고딕"/>
                          <a:ea typeface="맑은 고딕"/>
                        </a:rPr>
                        <a:t>역할</a:t>
                      </a:r>
                      <a:endParaRPr sz="900" b="1" dirty="0">
                        <a:solidFill>
                          <a:srgbClr val="404040"/>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입력 연산 구간</a:t>
                      </a:r>
                      <a:endParaRPr lang="en-US" altLang="ko-KR" sz="900" b="0" dirty="0">
                        <a:solidFill>
                          <a:srgbClr val="262626"/>
                        </a:solidFill>
                        <a:latin typeface="맑은 고딕"/>
                        <a:ea typeface="맑은 고딕"/>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262626"/>
                          </a:solidFill>
                          <a:latin typeface="맑은 고딕"/>
                          <a:ea typeface="맑은 고딕"/>
                        </a:rPr>
                        <a:t>(</a:t>
                      </a:r>
                      <a:r>
                        <a:rPr lang="ko-KR" altLang="en-US" sz="900" b="0" dirty="0">
                          <a:solidFill>
                            <a:srgbClr val="262626"/>
                          </a:solidFill>
                          <a:latin typeface="+mn-lt"/>
                          <a:ea typeface="맑은 고딕"/>
                        </a:rPr>
                        <a:t>첫 토큰 생성</a:t>
                      </a:r>
                      <a:r>
                        <a:rPr lang="ko-KR" altLang="en-US" sz="900" b="0" baseline="0" dirty="0">
                          <a:solidFill>
                            <a:srgbClr val="262626"/>
                          </a:solidFill>
                          <a:latin typeface="+mn-lt"/>
                          <a:ea typeface="맑은 고딕"/>
                        </a:rPr>
                        <a:t>까지</a:t>
                      </a:r>
                      <a:r>
                        <a:rPr lang="en-US" altLang="ko-KR" sz="900" b="0" baseline="0" dirty="0">
                          <a:solidFill>
                            <a:srgbClr val="262626"/>
                          </a:solidFill>
                          <a:latin typeface="+mn-lt"/>
                          <a:ea typeface="맑은 고딕"/>
                        </a:rPr>
                        <a:t>)</a:t>
                      </a:r>
                      <a:endParaRPr lang="ko-KR" altLang="en-US" sz="900" b="0" dirty="0">
                        <a:solidFill>
                          <a:srgbClr val="262626"/>
                        </a:solidFill>
                        <a:latin typeface="+mn-lt"/>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3137829"/>
                  </a:ext>
                </a:extLst>
              </a:tr>
              <a:tr h="384176">
                <a:tc>
                  <a:txBody>
                    <a:bodyPr/>
                    <a:lstStyle/>
                    <a:p>
                      <a:pPr algn="ctr"/>
                      <a:r>
                        <a:rPr sz="900" b="1" dirty="0" err="1">
                          <a:solidFill>
                            <a:srgbClr val="404040"/>
                          </a:solidFill>
                          <a:latin typeface="맑은 고딕"/>
                          <a:ea typeface="맑은 고딕"/>
                        </a:rPr>
                        <a:t>연산</a:t>
                      </a:r>
                      <a:r>
                        <a:rPr sz="900" b="1" dirty="0">
                          <a:solidFill>
                            <a:srgbClr val="404040"/>
                          </a:solidFill>
                          <a:latin typeface="맑은 고딕"/>
                          <a:ea typeface="맑은 고딕"/>
                        </a:rPr>
                        <a:t> </a:t>
                      </a:r>
                      <a:r>
                        <a:rPr sz="900" b="1" dirty="0" err="1">
                          <a:solidFill>
                            <a:srgbClr val="404040"/>
                          </a:solidFill>
                          <a:latin typeface="맑은 고딕"/>
                          <a:ea typeface="맑은 고딕"/>
                        </a:rPr>
                        <a:t>형태</a:t>
                      </a:r>
                      <a:endParaRPr sz="900" b="1" dirty="0">
                        <a:solidFill>
                          <a:srgbClr val="404040"/>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행렬</a:t>
                      </a:r>
                      <a:r>
                        <a:rPr lang="en-US" altLang="ko-KR" sz="900" b="0" dirty="0">
                          <a:solidFill>
                            <a:srgbClr val="262626"/>
                          </a:solidFill>
                          <a:latin typeface="맑은 고딕"/>
                          <a:ea typeface="맑은 고딕"/>
                        </a:rPr>
                        <a:t>-</a:t>
                      </a:r>
                      <a:r>
                        <a:rPr lang="ko-KR" altLang="en-US" sz="900" b="0" dirty="0">
                          <a:solidFill>
                            <a:srgbClr val="262626"/>
                          </a:solidFill>
                          <a:latin typeface="맑은 고딕"/>
                          <a:ea typeface="맑은 고딕"/>
                        </a:rPr>
                        <a:t>행렬 곱 </a:t>
                      </a:r>
                      <a:r>
                        <a:rPr sz="900" b="0" dirty="0">
                          <a:solidFill>
                            <a:srgbClr val="262626"/>
                          </a:solidFill>
                          <a:latin typeface="맑은 고딕"/>
                          <a:ea typeface="맑은 고딕"/>
                        </a:rPr>
                        <a:t>(GEMM)</a:t>
                      </a:r>
                      <a:endParaRPr lang="en-US" sz="900" b="0" dirty="0">
                        <a:solidFill>
                          <a:srgbClr val="262626"/>
                        </a:solidFill>
                        <a:latin typeface="맑은 고딕"/>
                        <a:ea typeface="맑은 고딕"/>
                      </a:endParaRPr>
                    </a:p>
                    <a:p>
                      <a:pPr algn="ctr"/>
                      <a:r>
                        <a:rPr lang="en-US" sz="900" b="0" dirty="0">
                          <a:solidFill>
                            <a:srgbClr val="262626"/>
                          </a:solidFill>
                          <a:latin typeface="맑은 고딕"/>
                          <a:ea typeface="맑은 고딕"/>
                        </a:rPr>
                        <a:t>(n </a:t>
                      </a:r>
                      <a:r>
                        <a:rPr lang="ko-KR" altLang="en-US" sz="900" b="0" dirty="0">
                          <a:solidFill>
                            <a:srgbClr val="262626"/>
                          </a:solidFill>
                          <a:latin typeface="맑은 고딕"/>
                          <a:ea typeface="맑은 고딕"/>
                        </a:rPr>
                        <a:t>토큰 연산</a:t>
                      </a:r>
                      <a:r>
                        <a:rPr lang="en-US" altLang="ko-KR" sz="900" b="0" dirty="0">
                          <a:solidFill>
                            <a:srgbClr val="262626"/>
                          </a:solidFill>
                          <a:latin typeface="맑은 고딕"/>
                          <a:ea typeface="맑은 고딕"/>
                        </a:rPr>
                        <a:t>)</a:t>
                      </a:r>
                      <a:endParaRPr sz="900" b="0" dirty="0">
                        <a:solidFill>
                          <a:srgbClr val="262626"/>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342689242"/>
                  </a:ext>
                </a:extLst>
              </a:tr>
              <a:tr h="198120">
                <a:tc>
                  <a:txBody>
                    <a:bodyPr/>
                    <a:lstStyle/>
                    <a:p>
                      <a:pPr algn="ctr"/>
                      <a:r>
                        <a:rPr sz="900" b="1">
                          <a:solidFill>
                            <a:srgbClr val="404040"/>
                          </a:solidFill>
                          <a:latin typeface="맑은 고딕"/>
                          <a:ea typeface="맑은 고딕"/>
                        </a:rPr>
                        <a:t>병목</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Compute-bound</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57130183"/>
                  </a:ext>
                </a:extLst>
              </a:tr>
              <a:tr h="203565">
                <a:tc>
                  <a:txBody>
                    <a:bodyPr/>
                    <a:lstStyle/>
                    <a:p>
                      <a:pPr algn="ctr"/>
                      <a:r>
                        <a:rPr sz="900" b="1">
                          <a:solidFill>
                            <a:srgbClr val="404040"/>
                          </a:solidFill>
                          <a:latin typeface="맑은 고딕"/>
                          <a:ea typeface="맑은 고딕"/>
                        </a:rPr>
                        <a:t>KV 캐시</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err="1">
                          <a:solidFill>
                            <a:srgbClr val="262626"/>
                          </a:solidFill>
                          <a:latin typeface="맑은 고딕"/>
                          <a:ea typeface="맑은 고딕"/>
                        </a:rPr>
                        <a:t>생성</a:t>
                      </a:r>
                      <a:endParaRPr sz="900" b="0" dirty="0">
                        <a:solidFill>
                          <a:srgbClr val="262626"/>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5049522"/>
                  </a:ext>
                </a:extLst>
              </a:tr>
            </a:tbl>
          </a:graphicData>
        </a:graphic>
      </p:graphicFrame>
      <p:grpSp>
        <p:nvGrpSpPr>
          <p:cNvPr id="9" name="그룹 8"/>
          <p:cNvGrpSpPr/>
          <p:nvPr/>
        </p:nvGrpSpPr>
        <p:grpSpPr>
          <a:xfrm>
            <a:off x="6852217" y="5051528"/>
            <a:ext cx="4583566" cy="1232745"/>
            <a:chOff x="6427893" y="4848850"/>
            <a:chExt cx="4352544" cy="798665"/>
          </a:xfrm>
        </p:grpSpPr>
        <p:sp>
          <p:nvSpPr>
            <p:cNvPr id="159" name="Rounded Rectangle 9037">
              <a:extLst>
                <a:ext uri="{FF2B5EF4-FFF2-40B4-BE49-F238E27FC236}">
                  <a16:creationId xmlns:a16="http://schemas.microsoft.com/office/drawing/2014/main" id="{2FEEDDD2-6A07-4AD3-AB45-F107319D3735}"/>
                </a:ext>
              </a:extLst>
            </p:cNvPr>
            <p:cNvSpPr/>
            <p:nvPr/>
          </p:nvSpPr>
          <p:spPr>
            <a:xfrm>
              <a:off x="6465031" y="4848850"/>
              <a:ext cx="936822" cy="204723"/>
            </a:xfrm>
            <a:prstGeom prst="roundRect">
              <a:avLst>
                <a:gd name="adj" fmla="val 50000"/>
              </a:avLst>
            </a:prstGeom>
            <a:solidFill>
              <a:srgbClr val="FFFFFF"/>
            </a:solidFill>
            <a:ln w="9525">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800" b="0" i="0" u="none" strike="noStrike" kern="1200" cap="none" spc="0" normalizeH="0" baseline="0" noProof="0" dirty="0">
                  <a:ln>
                    <a:noFill/>
                  </a:ln>
                  <a:solidFill>
                    <a:srgbClr val="000000"/>
                  </a:solidFill>
                  <a:effectLst/>
                  <a:uLnTx/>
                  <a:uFillTx/>
                  <a:latin typeface="맑은 고딕"/>
                  <a:ea typeface="맑은 고딕"/>
                  <a:cs typeface="+mn-cs"/>
                </a:rPr>
                <a:t>Request (Turn N)</a:t>
              </a:r>
            </a:p>
          </p:txBody>
        </p:sp>
        <p:cxnSp>
          <p:nvCxnSpPr>
            <p:cNvPr id="160" name="Connector 9038">
              <a:extLst>
                <a:ext uri="{FF2B5EF4-FFF2-40B4-BE49-F238E27FC236}">
                  <a16:creationId xmlns:a16="http://schemas.microsoft.com/office/drawing/2014/main" id="{ED6598B4-4698-4C1A-959C-5695693B614E}"/>
                </a:ext>
              </a:extLst>
            </p:cNvPr>
            <p:cNvCxnSpPr>
              <a:cxnSpLocks/>
              <a:stCxn id="159" idx="3"/>
              <a:endCxn id="161" idx="1"/>
            </p:cNvCxnSpPr>
            <p:nvPr/>
          </p:nvCxnSpPr>
          <p:spPr>
            <a:xfrm flipV="1">
              <a:off x="7401853" y="4949590"/>
              <a:ext cx="393637" cy="1621"/>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Rectangle 9039">
              <a:extLst>
                <a:ext uri="{FF2B5EF4-FFF2-40B4-BE49-F238E27FC236}">
                  <a16:creationId xmlns:a16="http://schemas.microsoft.com/office/drawing/2014/main" id="{295BCE37-E870-4DB1-B7FF-C22F33B5AD01}"/>
                </a:ext>
              </a:extLst>
            </p:cNvPr>
            <p:cNvSpPr/>
            <p:nvPr/>
          </p:nvSpPr>
          <p:spPr>
            <a:xfrm>
              <a:off x="7795490" y="4853213"/>
              <a:ext cx="1655051" cy="19275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000000"/>
                  </a:solidFill>
                  <a:effectLst/>
                  <a:uLnTx/>
                  <a:uFillTx/>
                  <a:latin typeface="맑은 고딕"/>
                  <a:ea typeface="맑은 고딕"/>
                  <a:cs typeface="+mn-cs"/>
                </a:rPr>
                <a:t>Scheduler</a:t>
              </a:r>
            </a:p>
          </p:txBody>
        </p:sp>
        <p:sp>
          <p:nvSpPr>
            <p:cNvPr id="162" name="Rectangle 9040">
              <a:extLst>
                <a:ext uri="{FF2B5EF4-FFF2-40B4-BE49-F238E27FC236}">
                  <a16:creationId xmlns:a16="http://schemas.microsoft.com/office/drawing/2014/main" id="{F205D4F6-8C8B-4D81-8CE1-A3E54BEEFE1F}"/>
                </a:ext>
              </a:extLst>
            </p:cNvPr>
            <p:cNvSpPr/>
            <p:nvPr/>
          </p:nvSpPr>
          <p:spPr>
            <a:xfrm>
              <a:off x="6427893" y="5254555"/>
              <a:ext cx="1463040" cy="329823"/>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맑은 고딕" panose="020F0502020204030204"/>
                <a:ea typeface="+mn-ea"/>
                <a:cs typeface="+mn-cs"/>
              </a:endParaRPr>
            </a:p>
          </p:txBody>
        </p:sp>
        <p:sp>
          <p:nvSpPr>
            <p:cNvPr id="163" name="Rectangle 9041">
              <a:extLst>
                <a:ext uri="{FF2B5EF4-FFF2-40B4-BE49-F238E27FC236}">
                  <a16:creationId xmlns:a16="http://schemas.microsoft.com/office/drawing/2014/main" id="{5B335151-D95F-4C0E-A538-11A47DF1E443}"/>
                </a:ext>
              </a:extLst>
            </p:cNvPr>
            <p:cNvSpPr/>
            <p:nvPr/>
          </p:nvSpPr>
          <p:spPr>
            <a:xfrm>
              <a:off x="6427893" y="5252895"/>
              <a:ext cx="1463040" cy="14253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2E75B6"/>
                  </a:solidFill>
                  <a:effectLst/>
                  <a:uLnTx/>
                  <a:uFillTx/>
                  <a:latin typeface="맑은 고딕"/>
                  <a:ea typeface="맑은 고딕"/>
                  <a:cs typeface="+mn-cs"/>
                </a:rPr>
                <a:t>Prefill </a:t>
              </a:r>
              <a:r>
                <a:rPr kumimoji="0" lang="en-US" sz="900" b="1" i="0" u="none" strike="noStrike" kern="1200" cap="none" spc="0" normalizeH="0" baseline="0" noProof="0" dirty="0">
                  <a:ln>
                    <a:noFill/>
                  </a:ln>
                  <a:solidFill>
                    <a:srgbClr val="2E75B6"/>
                  </a:solidFill>
                  <a:effectLst/>
                  <a:uLnTx/>
                  <a:uFillTx/>
                  <a:latin typeface="맑은 고딕"/>
                  <a:ea typeface="맑은 고딕"/>
                  <a:cs typeface="+mn-cs"/>
                </a:rPr>
                <a:t>Node</a:t>
              </a:r>
              <a:endParaRPr kumimoji="0" sz="900" b="1" i="0" u="none" strike="noStrike" kern="1200" cap="none" spc="0" normalizeH="0" baseline="0" noProof="0" dirty="0">
                <a:ln>
                  <a:noFill/>
                </a:ln>
                <a:solidFill>
                  <a:srgbClr val="2E75B6"/>
                </a:solidFill>
                <a:effectLst/>
                <a:uLnTx/>
                <a:uFillTx/>
                <a:latin typeface="맑은 고딕"/>
                <a:ea typeface="맑은 고딕"/>
                <a:cs typeface="+mn-cs"/>
              </a:endParaRPr>
            </a:p>
          </p:txBody>
        </p:sp>
        <p:sp>
          <p:nvSpPr>
            <p:cNvPr id="164" name="Rectangle 9042">
              <a:extLst>
                <a:ext uri="{FF2B5EF4-FFF2-40B4-BE49-F238E27FC236}">
                  <a16:creationId xmlns:a16="http://schemas.microsoft.com/office/drawing/2014/main" id="{6B04D9F5-2CE0-45E7-A28A-DA483BF41397}"/>
                </a:ext>
              </a:extLst>
            </p:cNvPr>
            <p:cNvSpPr/>
            <p:nvPr/>
          </p:nvSpPr>
          <p:spPr>
            <a:xfrm>
              <a:off x="6594148" y="5405862"/>
              <a:ext cx="1130531" cy="155487"/>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rgbClr val="000000"/>
                  </a:solidFill>
                  <a:effectLst/>
                  <a:uLnTx/>
                  <a:uFillTx/>
                  <a:latin typeface="맑은 고딕"/>
                  <a:ea typeface="맑은 고딕"/>
                  <a:cs typeface="+mn-cs"/>
                </a:rPr>
                <a:t>Input</a:t>
              </a:r>
              <a:r>
                <a:rPr kumimoji="0" lang="ko-KR" altLang="en-US" sz="700" b="0" i="0" u="none" strike="noStrike" kern="1200" cap="none" spc="0" normalizeH="0" baseline="0" noProof="0" dirty="0">
                  <a:ln>
                    <a:noFill/>
                  </a:ln>
                  <a:solidFill>
                    <a:srgbClr val="000000"/>
                  </a:solidFill>
                  <a:effectLst/>
                  <a:uLnTx/>
                  <a:uFillTx/>
                  <a:latin typeface="맑은 고딕"/>
                  <a:ea typeface="맑은 고딕"/>
                  <a:cs typeface="+mn-cs"/>
                </a:rPr>
                <a:t> </a:t>
              </a:r>
              <a:r>
                <a:rPr kumimoji="0" lang="en-US" altLang="ko-KR" sz="700" b="0" i="0" u="none" strike="noStrike" kern="1200" cap="none" spc="0" normalizeH="0" baseline="0" noProof="0" dirty="0">
                  <a:ln>
                    <a:noFill/>
                  </a:ln>
                  <a:solidFill>
                    <a:srgbClr val="000000"/>
                  </a:solidFill>
                  <a:effectLst/>
                  <a:uLnTx/>
                  <a:uFillTx/>
                  <a:latin typeface="맑은 고딕"/>
                  <a:ea typeface="맑은 고딕"/>
                  <a:cs typeface="+mn-cs"/>
                </a:rPr>
                <a:t>Prompt</a:t>
              </a:r>
              <a:r>
                <a:rPr kumimoji="0" lang="ko-KR" altLang="en-US" sz="700" b="0" i="0" u="none" strike="noStrike" kern="1200" cap="none" spc="0" normalizeH="0" baseline="0" noProof="0" dirty="0">
                  <a:ln>
                    <a:noFill/>
                  </a:ln>
                  <a:solidFill>
                    <a:srgbClr val="000000"/>
                  </a:solidFill>
                  <a:effectLst/>
                  <a:uLnTx/>
                  <a:uFillTx/>
                  <a:latin typeface="맑은 고딕"/>
                  <a:ea typeface="맑은 고딕"/>
                  <a:cs typeface="+mn-cs"/>
                </a:rPr>
                <a:t>의 </a:t>
              </a:r>
              <a:r>
                <a:rPr kumimoji="0" sz="700" b="0" i="0" u="none" strike="noStrike" kern="1200" cap="none" spc="0" normalizeH="0" baseline="0" noProof="0" dirty="0">
                  <a:ln>
                    <a:noFill/>
                  </a:ln>
                  <a:solidFill>
                    <a:srgbClr val="000000"/>
                  </a:solidFill>
                  <a:effectLst/>
                  <a:uLnTx/>
                  <a:uFillTx/>
                  <a:latin typeface="맑은 고딕"/>
                  <a:ea typeface="맑은 고딕"/>
                  <a:cs typeface="+mn-cs"/>
                </a:rPr>
                <a:t>KV </a:t>
              </a:r>
              <a:r>
                <a:rPr kumimoji="0" sz="700" b="0" i="0" u="none" strike="noStrike" kern="1200" cap="none" spc="0" normalizeH="0" baseline="0" noProof="0" dirty="0" err="1">
                  <a:ln>
                    <a:noFill/>
                  </a:ln>
                  <a:solidFill>
                    <a:srgbClr val="000000"/>
                  </a:solidFill>
                  <a:effectLst/>
                  <a:uLnTx/>
                  <a:uFillTx/>
                  <a:latin typeface="맑은 고딕"/>
                  <a:ea typeface="맑은 고딕"/>
                  <a:cs typeface="+mn-cs"/>
                </a:rPr>
                <a:t>생성</a:t>
              </a:r>
              <a:endParaRPr kumimoji="0" sz="700" b="0" i="0" u="none" strike="noStrike" kern="1200" cap="none" spc="0" normalizeH="0" baseline="0" noProof="0" dirty="0">
                <a:ln>
                  <a:noFill/>
                </a:ln>
                <a:solidFill>
                  <a:srgbClr val="000000"/>
                </a:solidFill>
                <a:effectLst/>
                <a:uLnTx/>
                <a:uFillTx/>
                <a:latin typeface="맑은 고딕"/>
                <a:ea typeface="맑은 고딕"/>
                <a:cs typeface="+mn-cs"/>
              </a:endParaRPr>
            </a:p>
          </p:txBody>
        </p:sp>
        <p:sp>
          <p:nvSpPr>
            <p:cNvPr id="198" name="Rectangle 9043">
              <a:extLst>
                <a:ext uri="{FF2B5EF4-FFF2-40B4-BE49-F238E27FC236}">
                  <a16:creationId xmlns:a16="http://schemas.microsoft.com/office/drawing/2014/main" id="{040A8536-AF95-454B-B2F4-A12342D58C2D}"/>
                </a:ext>
              </a:extLst>
            </p:cNvPr>
            <p:cNvSpPr/>
            <p:nvPr/>
          </p:nvSpPr>
          <p:spPr>
            <a:xfrm>
              <a:off x="9317397" y="5254555"/>
              <a:ext cx="1463040" cy="329823"/>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맑은 고딕" panose="020F0502020204030204"/>
                <a:ea typeface="+mn-ea"/>
                <a:cs typeface="+mn-cs"/>
              </a:endParaRPr>
            </a:p>
          </p:txBody>
        </p:sp>
        <p:sp>
          <p:nvSpPr>
            <p:cNvPr id="199" name="Rectangle 9044">
              <a:extLst>
                <a:ext uri="{FF2B5EF4-FFF2-40B4-BE49-F238E27FC236}">
                  <a16:creationId xmlns:a16="http://schemas.microsoft.com/office/drawing/2014/main" id="{011678FF-135E-4EA4-8CC9-D1002F1A8795}"/>
                </a:ext>
              </a:extLst>
            </p:cNvPr>
            <p:cNvSpPr/>
            <p:nvPr/>
          </p:nvSpPr>
          <p:spPr>
            <a:xfrm>
              <a:off x="9317397" y="5248430"/>
              <a:ext cx="1463040" cy="14253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C55A11"/>
                  </a:solidFill>
                  <a:effectLst/>
                  <a:uLnTx/>
                  <a:uFillTx/>
                  <a:latin typeface="맑은 고딕"/>
                  <a:ea typeface="맑은 고딕"/>
                  <a:cs typeface="+mn-cs"/>
                </a:rPr>
                <a:t>Decode </a:t>
              </a:r>
              <a:r>
                <a:rPr kumimoji="0" lang="en-US" sz="900" b="1" i="0" u="none" strike="noStrike" kern="1200" cap="none" spc="0" normalizeH="0" baseline="0" noProof="0" dirty="0">
                  <a:ln>
                    <a:noFill/>
                  </a:ln>
                  <a:solidFill>
                    <a:srgbClr val="C55A11"/>
                  </a:solidFill>
                  <a:effectLst/>
                  <a:uLnTx/>
                  <a:uFillTx/>
                  <a:latin typeface="맑은 고딕"/>
                  <a:ea typeface="맑은 고딕"/>
                  <a:cs typeface="+mn-cs"/>
                </a:rPr>
                <a:t>Node</a:t>
              </a:r>
              <a:r>
                <a:rPr kumimoji="0" sz="900" b="1" i="0" u="none" strike="noStrike" kern="1200" cap="none" spc="0" normalizeH="0" baseline="0" noProof="0" dirty="0">
                  <a:ln>
                    <a:noFill/>
                  </a:ln>
                  <a:solidFill>
                    <a:srgbClr val="C55A11"/>
                  </a:solidFill>
                  <a:effectLst/>
                  <a:uLnTx/>
                  <a:uFillTx/>
                  <a:latin typeface="맑은 고딕"/>
                  <a:ea typeface="맑은 고딕"/>
                  <a:cs typeface="+mn-cs"/>
                </a:rPr>
                <a:t> (D)</a:t>
              </a:r>
            </a:p>
          </p:txBody>
        </p:sp>
        <p:sp>
          <p:nvSpPr>
            <p:cNvPr id="204" name="Rectangle 9045">
              <a:extLst>
                <a:ext uri="{FF2B5EF4-FFF2-40B4-BE49-F238E27FC236}">
                  <a16:creationId xmlns:a16="http://schemas.microsoft.com/office/drawing/2014/main" id="{A7F3FAED-92DE-4FD7-96FA-C4070D7A417B}"/>
                </a:ext>
              </a:extLst>
            </p:cNvPr>
            <p:cNvSpPr/>
            <p:nvPr/>
          </p:nvSpPr>
          <p:spPr>
            <a:xfrm>
              <a:off x="9483652" y="5405862"/>
              <a:ext cx="1130531" cy="155487"/>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00"/>
                  </a:solidFill>
                  <a:effectLst/>
                  <a:uLnTx/>
                  <a:uFillTx/>
                  <a:latin typeface="맑은 고딕"/>
                  <a:ea typeface="맑은 고딕"/>
                  <a:cs typeface="+mn-cs"/>
                </a:rPr>
                <a:t>Output</a:t>
              </a:r>
              <a:r>
                <a:rPr kumimoji="0" lang="ko-KR" altLang="en-US" sz="700" b="0" i="0" u="none" strike="noStrike" kern="1200" cap="none" spc="0" normalizeH="0" baseline="0" noProof="0" dirty="0">
                  <a:ln>
                    <a:noFill/>
                  </a:ln>
                  <a:solidFill>
                    <a:srgbClr val="000000"/>
                  </a:solidFill>
                  <a:effectLst/>
                  <a:uLnTx/>
                  <a:uFillTx/>
                  <a:latin typeface="맑은 고딕"/>
                  <a:ea typeface="맑은 고딕"/>
                  <a:cs typeface="+mn-cs"/>
                </a:rPr>
                <a:t>의 </a:t>
              </a:r>
              <a:r>
                <a:rPr kumimoji="0" lang="en-US" altLang="ko-KR" sz="700" b="0" i="0" u="none" strike="noStrike" kern="1200" cap="none" spc="0" normalizeH="0" baseline="0" noProof="0" dirty="0">
                  <a:ln>
                    <a:noFill/>
                  </a:ln>
                  <a:solidFill>
                    <a:srgbClr val="000000"/>
                  </a:solidFill>
                  <a:effectLst/>
                  <a:uLnTx/>
                  <a:uFillTx/>
                  <a:latin typeface="맑은 고딕"/>
                  <a:ea typeface="맑은 고딕"/>
                  <a:cs typeface="+mn-cs"/>
                </a:rPr>
                <a:t>KV </a:t>
              </a:r>
              <a:r>
                <a:rPr kumimoji="0" lang="ko-KR" altLang="en-US" sz="700" b="0" i="0" u="none" strike="noStrike" kern="1200" cap="none" spc="0" normalizeH="0" baseline="0" noProof="0" dirty="0">
                  <a:ln>
                    <a:noFill/>
                  </a:ln>
                  <a:solidFill>
                    <a:srgbClr val="000000"/>
                  </a:solidFill>
                  <a:effectLst/>
                  <a:uLnTx/>
                  <a:uFillTx/>
                  <a:latin typeface="맑은 고딕"/>
                  <a:ea typeface="맑은 고딕"/>
                  <a:cs typeface="+mn-cs"/>
                </a:rPr>
                <a:t>누적</a:t>
              </a:r>
            </a:p>
          </p:txBody>
        </p:sp>
        <p:cxnSp>
          <p:nvCxnSpPr>
            <p:cNvPr id="205" name="Connector 9046">
              <a:extLst>
                <a:ext uri="{FF2B5EF4-FFF2-40B4-BE49-F238E27FC236}">
                  <a16:creationId xmlns:a16="http://schemas.microsoft.com/office/drawing/2014/main" id="{F3DF0431-7DC3-4348-95C8-538F50C4085A}"/>
                </a:ext>
              </a:extLst>
            </p:cNvPr>
            <p:cNvCxnSpPr>
              <a:cxnSpLocks/>
              <a:stCxn id="161" idx="2"/>
              <a:endCxn id="163" idx="0"/>
            </p:cNvCxnSpPr>
            <p:nvPr/>
          </p:nvCxnSpPr>
          <p:spPr>
            <a:xfrm flipH="1">
              <a:off x="7159413" y="5045967"/>
              <a:ext cx="1463603" cy="2069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0" name="Connector 9047">
              <a:extLst>
                <a:ext uri="{FF2B5EF4-FFF2-40B4-BE49-F238E27FC236}">
                  <a16:creationId xmlns:a16="http://schemas.microsoft.com/office/drawing/2014/main" id="{2149A0AB-99AB-414F-B498-2D6D6C9F5281}"/>
                </a:ext>
              </a:extLst>
            </p:cNvPr>
            <p:cNvCxnSpPr>
              <a:cxnSpLocks/>
              <a:stCxn id="161" idx="2"/>
              <a:endCxn id="199" idx="0"/>
            </p:cNvCxnSpPr>
            <p:nvPr/>
          </p:nvCxnSpPr>
          <p:spPr>
            <a:xfrm>
              <a:off x="8623016" y="5045967"/>
              <a:ext cx="1425901" cy="202463"/>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3" name="Connector 9048">
              <a:extLst>
                <a:ext uri="{FF2B5EF4-FFF2-40B4-BE49-F238E27FC236}">
                  <a16:creationId xmlns:a16="http://schemas.microsoft.com/office/drawing/2014/main" id="{7CB4EC53-2E3E-4785-A6AE-46F299DE39CF}"/>
                </a:ext>
              </a:extLst>
            </p:cNvPr>
            <p:cNvCxnSpPr>
              <a:cxnSpLocks/>
            </p:cNvCxnSpPr>
            <p:nvPr/>
          </p:nvCxnSpPr>
          <p:spPr>
            <a:xfrm>
              <a:off x="7890933" y="5319695"/>
              <a:ext cx="1426464" cy="0"/>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4" name="Rectangle 9049">
              <a:extLst>
                <a:ext uri="{FF2B5EF4-FFF2-40B4-BE49-F238E27FC236}">
                  <a16:creationId xmlns:a16="http://schemas.microsoft.com/office/drawing/2014/main" id="{D8F91298-846D-4CEA-B309-CB9B54207A77}"/>
                </a:ext>
              </a:extLst>
            </p:cNvPr>
            <p:cNvSpPr/>
            <p:nvPr/>
          </p:nvSpPr>
          <p:spPr>
            <a:xfrm>
              <a:off x="7890933" y="5162912"/>
              <a:ext cx="1426464" cy="14253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650" b="0" i="0" u="none" strike="noStrike" kern="1200" cap="none" spc="0" normalizeH="0" baseline="0" noProof="0" dirty="0">
                  <a:ln>
                    <a:noFill/>
                  </a:ln>
                  <a:solidFill>
                    <a:srgbClr val="2E75B6"/>
                  </a:solidFill>
                  <a:effectLst/>
                  <a:uLnTx/>
                  <a:uFillTx/>
                  <a:latin typeface="맑은 고딕"/>
                  <a:ea typeface="맑은 고딕"/>
                  <a:cs typeface="+mn-cs"/>
                </a:rPr>
                <a:t>KV </a:t>
              </a:r>
              <a:r>
                <a:rPr kumimoji="0" sz="650" b="0" i="0" u="none" strike="noStrike" kern="1200" cap="none" spc="0" normalizeH="0" baseline="0" noProof="0" dirty="0" err="1">
                  <a:ln>
                    <a:noFill/>
                  </a:ln>
                  <a:solidFill>
                    <a:srgbClr val="2E75B6"/>
                  </a:solidFill>
                  <a:effectLst/>
                  <a:uLnTx/>
                  <a:uFillTx/>
                  <a:latin typeface="맑은 고딕"/>
                  <a:ea typeface="맑은 고딕"/>
                  <a:cs typeface="+mn-cs"/>
                </a:rPr>
                <a:t>전송</a:t>
              </a:r>
              <a:r>
                <a:rPr kumimoji="0" sz="650" b="0" i="0" u="none" strike="noStrike" kern="1200" cap="none" spc="0" normalizeH="0" baseline="0" noProof="0" dirty="0">
                  <a:ln>
                    <a:noFill/>
                  </a:ln>
                  <a:solidFill>
                    <a:srgbClr val="2E75B6"/>
                  </a:solidFill>
                  <a:effectLst/>
                  <a:uLnTx/>
                  <a:uFillTx/>
                  <a:latin typeface="맑은 고딕"/>
                  <a:ea typeface="맑은 고딕"/>
                  <a:cs typeface="+mn-cs"/>
                </a:rPr>
                <a:t> (</a:t>
              </a:r>
              <a:r>
                <a:rPr kumimoji="0" lang="en-US" sz="650" b="0" i="0" u="none" strike="noStrike" kern="1200" cap="none" spc="0" normalizeH="0" baseline="0" noProof="0" dirty="0">
                  <a:ln>
                    <a:noFill/>
                  </a:ln>
                  <a:solidFill>
                    <a:srgbClr val="2E75B6"/>
                  </a:solidFill>
                  <a:effectLst/>
                  <a:uLnTx/>
                  <a:uFillTx/>
                  <a:latin typeface="맑은 고딕"/>
                  <a:ea typeface="맑은 고딕"/>
                  <a:cs typeface="+mn-cs"/>
                </a:rPr>
                <a:t>Turn N</a:t>
              </a:r>
              <a:r>
                <a:rPr kumimoji="0" sz="650" b="0" i="0" u="none" strike="noStrike" kern="1200" cap="none" spc="0" normalizeH="0" baseline="0" noProof="0" dirty="0">
                  <a:ln>
                    <a:noFill/>
                  </a:ln>
                  <a:solidFill>
                    <a:srgbClr val="2E75B6"/>
                  </a:solidFill>
                  <a:effectLst/>
                  <a:uLnTx/>
                  <a:uFillTx/>
                  <a:latin typeface="맑은 고딕"/>
                  <a:ea typeface="맑은 고딕"/>
                  <a:cs typeface="+mn-cs"/>
                </a:rPr>
                <a:t>)</a:t>
              </a:r>
            </a:p>
          </p:txBody>
        </p:sp>
        <p:cxnSp>
          <p:nvCxnSpPr>
            <p:cNvPr id="275" name="Connector 9050">
              <a:extLst>
                <a:ext uri="{FF2B5EF4-FFF2-40B4-BE49-F238E27FC236}">
                  <a16:creationId xmlns:a16="http://schemas.microsoft.com/office/drawing/2014/main" id="{CF34D8D0-AA90-43FD-8A77-EFBB073E40CA}"/>
                </a:ext>
              </a:extLst>
            </p:cNvPr>
            <p:cNvCxnSpPr>
              <a:cxnSpLocks/>
            </p:cNvCxnSpPr>
            <p:nvPr/>
          </p:nvCxnSpPr>
          <p:spPr>
            <a:xfrm flipH="1">
              <a:off x="7890933" y="5504985"/>
              <a:ext cx="1426464" cy="0"/>
            </a:xfrm>
            <a:prstGeom prst="line">
              <a:avLst/>
            </a:prstGeom>
            <a:ln w="15875">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6" name="Rectangle 9051">
              <a:extLst>
                <a:ext uri="{FF2B5EF4-FFF2-40B4-BE49-F238E27FC236}">
                  <a16:creationId xmlns:a16="http://schemas.microsoft.com/office/drawing/2014/main" id="{3A93B37E-5AC9-4FD6-A01D-3F82125F8410}"/>
                </a:ext>
              </a:extLst>
            </p:cNvPr>
            <p:cNvSpPr/>
            <p:nvPr/>
          </p:nvSpPr>
          <p:spPr>
            <a:xfrm>
              <a:off x="7890933" y="5504985"/>
              <a:ext cx="1426464" cy="14253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sz="650" b="1" i="0" u="none" strike="noStrike" kern="1200" cap="none" spc="0" normalizeH="0" baseline="0" noProof="0" dirty="0">
                  <a:ln>
                    <a:noFill/>
                  </a:ln>
                  <a:solidFill>
                    <a:srgbClr val="C00000"/>
                  </a:solidFill>
                  <a:effectLst/>
                  <a:uLnTx/>
                  <a:uFillTx/>
                  <a:latin typeface="맑은 고딕"/>
                  <a:ea typeface="맑은 고딕"/>
                  <a:cs typeface="+mn-cs"/>
                </a:rPr>
                <a:t>KV </a:t>
              </a:r>
              <a:r>
                <a:rPr kumimoji="0" sz="650" b="1" i="0" u="none" strike="noStrike" kern="1200" cap="none" spc="0" normalizeH="0" baseline="0" noProof="0" dirty="0" err="1">
                  <a:ln>
                    <a:noFill/>
                  </a:ln>
                  <a:solidFill>
                    <a:srgbClr val="C00000"/>
                  </a:solidFill>
                  <a:effectLst/>
                  <a:uLnTx/>
                  <a:uFillTx/>
                  <a:latin typeface="맑은 고딕"/>
                  <a:ea typeface="맑은 고딕"/>
                  <a:cs typeface="+mn-cs"/>
                </a:rPr>
                <a:t>전송</a:t>
              </a:r>
              <a:r>
                <a:rPr kumimoji="0" sz="650" b="1" i="0" u="none" strike="noStrike" kern="1200" cap="none" spc="0" normalizeH="0" baseline="0" noProof="0" dirty="0">
                  <a:ln>
                    <a:noFill/>
                  </a:ln>
                  <a:solidFill>
                    <a:srgbClr val="C00000"/>
                  </a:solidFill>
                  <a:effectLst/>
                  <a:uLnTx/>
                  <a:uFillTx/>
                  <a:latin typeface="맑은 고딕"/>
                  <a:ea typeface="맑은 고딕"/>
                  <a:cs typeface="+mn-cs"/>
                </a:rPr>
                <a:t> (</a:t>
              </a:r>
              <a:r>
                <a:rPr kumimoji="0" lang="en-US" sz="650" b="1" i="0" u="none" strike="noStrike" kern="1200" cap="none" spc="0" normalizeH="0" baseline="0" noProof="0" dirty="0">
                  <a:ln>
                    <a:noFill/>
                  </a:ln>
                  <a:solidFill>
                    <a:srgbClr val="C00000"/>
                  </a:solidFill>
                  <a:effectLst/>
                  <a:uLnTx/>
                  <a:uFillTx/>
                  <a:latin typeface="맑은 고딕"/>
                  <a:ea typeface="맑은 고딕"/>
                  <a:cs typeface="+mn-cs"/>
                </a:rPr>
                <a:t>Turn N+1</a:t>
              </a:r>
              <a:r>
                <a:rPr kumimoji="0" sz="650" b="1" i="0" u="none" strike="noStrike" kern="1200" cap="none" spc="0" normalizeH="0" baseline="0" noProof="0" dirty="0">
                  <a:ln>
                    <a:noFill/>
                  </a:ln>
                  <a:solidFill>
                    <a:srgbClr val="C00000"/>
                  </a:solidFill>
                  <a:effectLst/>
                  <a:uLnTx/>
                  <a:uFillTx/>
                  <a:latin typeface="맑은 고딕"/>
                  <a:ea typeface="맑은 고딕"/>
                  <a:cs typeface="+mn-cs"/>
                </a:rPr>
                <a:t>)</a:t>
              </a:r>
            </a:p>
          </p:txBody>
        </p:sp>
        <p:sp>
          <p:nvSpPr>
            <p:cNvPr id="277" name="Rectangle 9049">
              <a:extLst>
                <a:ext uri="{FF2B5EF4-FFF2-40B4-BE49-F238E27FC236}">
                  <a16:creationId xmlns:a16="http://schemas.microsoft.com/office/drawing/2014/main" id="{A8BF545A-8456-46D5-B044-EC69EF18C2A4}"/>
                </a:ext>
              </a:extLst>
            </p:cNvPr>
            <p:cNvSpPr/>
            <p:nvPr/>
          </p:nvSpPr>
          <p:spPr>
            <a:xfrm>
              <a:off x="7244028" y="5034821"/>
              <a:ext cx="412397" cy="14253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650" b="0" i="0" u="none" strike="noStrike" kern="1200" cap="none" spc="0" normalizeH="0" baseline="0" noProof="0" dirty="0">
                  <a:ln>
                    <a:noFill/>
                  </a:ln>
                  <a:solidFill>
                    <a:srgbClr val="FF0000"/>
                  </a:solidFill>
                  <a:effectLst/>
                  <a:uLnTx/>
                  <a:uFillTx/>
                  <a:latin typeface="맑은 고딕"/>
                  <a:ea typeface="맑은 고딕"/>
                  <a:cs typeface="+mn-cs"/>
                </a:rPr>
                <a:t>Prefill</a:t>
              </a:r>
              <a:endParaRPr kumimoji="0" sz="650" b="0" i="0" u="none" strike="noStrike" kern="1200" cap="none" spc="0" normalizeH="0" baseline="0" noProof="0" dirty="0">
                <a:ln>
                  <a:noFill/>
                </a:ln>
                <a:solidFill>
                  <a:srgbClr val="FF0000"/>
                </a:solidFill>
                <a:effectLst/>
                <a:uLnTx/>
                <a:uFillTx/>
                <a:latin typeface="맑은 고딕"/>
                <a:ea typeface="맑은 고딕"/>
                <a:cs typeface="+mn-cs"/>
              </a:endParaRPr>
            </a:p>
          </p:txBody>
        </p:sp>
        <p:sp>
          <p:nvSpPr>
            <p:cNvPr id="278" name="Rectangle 9049">
              <a:extLst>
                <a:ext uri="{FF2B5EF4-FFF2-40B4-BE49-F238E27FC236}">
                  <a16:creationId xmlns:a16="http://schemas.microsoft.com/office/drawing/2014/main" id="{3EF9EAEF-6C29-4420-86D9-3C1EF5C5797F}"/>
                </a:ext>
              </a:extLst>
            </p:cNvPr>
            <p:cNvSpPr/>
            <p:nvPr/>
          </p:nvSpPr>
          <p:spPr>
            <a:xfrm>
              <a:off x="9672990" y="5048300"/>
              <a:ext cx="412397" cy="14253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650" b="0" i="0" u="none" strike="noStrike" kern="1200" cap="none" spc="0" normalizeH="0" baseline="0" noProof="0" dirty="0">
                  <a:ln>
                    <a:noFill/>
                  </a:ln>
                  <a:solidFill>
                    <a:srgbClr val="FF0000"/>
                  </a:solidFill>
                  <a:effectLst/>
                  <a:uLnTx/>
                  <a:uFillTx/>
                  <a:latin typeface="맑은 고딕"/>
                  <a:ea typeface="맑은 고딕"/>
                  <a:cs typeface="+mn-cs"/>
                </a:rPr>
                <a:t>Decode</a:t>
              </a:r>
              <a:endParaRPr kumimoji="0" sz="650" b="0" i="0" u="none" strike="noStrike" kern="1200" cap="none" spc="0" normalizeH="0" baseline="0" noProof="0" dirty="0">
                <a:ln>
                  <a:noFill/>
                </a:ln>
                <a:solidFill>
                  <a:srgbClr val="FF0000"/>
                </a:solidFill>
                <a:effectLst/>
                <a:uLnTx/>
                <a:uFillTx/>
                <a:latin typeface="맑은 고딕"/>
                <a:ea typeface="맑은 고딕"/>
                <a:cs typeface="+mn-cs"/>
              </a:endParaRPr>
            </a:p>
          </p:txBody>
        </p:sp>
      </p:grpSp>
      <p:sp>
        <p:nvSpPr>
          <p:cNvPr id="279" name="직사각형 278"/>
          <p:cNvSpPr/>
          <p:nvPr/>
        </p:nvSpPr>
        <p:spPr>
          <a:xfrm>
            <a:off x="6586566" y="7254937"/>
            <a:ext cx="4120039" cy="415498"/>
          </a:xfrm>
          <a:prstGeom prst="rect">
            <a:avLst/>
          </a:prstGeom>
        </p:spPr>
        <p:txBody>
          <a:bodyPr wrap="non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ko-KR" altLang="en-US" sz="1400" b="0" i="0" u="none" strike="noStrike" kern="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건관은</a:t>
            </a:r>
            <a:r>
              <a:rPr kumimoji="0" lang="ko-KR" altLang="en-US"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 </a:t>
            </a:r>
            <a:r>
              <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KV</a:t>
            </a:r>
            <a:r>
              <a:rPr kumimoji="0" lang="ko-KR" altLang="en-US"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 캐시가 어디에 있느냐 </a:t>
            </a:r>
            <a:r>
              <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(Memory B/W)!</a:t>
            </a:r>
          </a:p>
        </p:txBody>
      </p:sp>
      <p:graphicFrame>
        <p:nvGraphicFramePr>
          <p:cNvPr id="280" name="표 279"/>
          <p:cNvGraphicFramePr>
            <a:graphicFrameLocks noGrp="1"/>
          </p:cNvGraphicFramePr>
          <p:nvPr/>
        </p:nvGraphicFramePr>
        <p:xfrm>
          <a:off x="9253557" y="2534519"/>
          <a:ext cx="2221301" cy="1454601"/>
        </p:xfrm>
        <a:graphic>
          <a:graphicData uri="http://schemas.openxmlformats.org/drawingml/2006/table">
            <a:tbl>
              <a:tblPr>
                <a:tableStyleId>{5940675A-B579-460E-94D1-54222C63F5DA}</a:tableStyleId>
              </a:tblPr>
              <a:tblGrid>
                <a:gridCol w="653502">
                  <a:extLst>
                    <a:ext uri="{9D8B030D-6E8A-4147-A177-3AD203B41FA5}">
                      <a16:colId xmlns:a16="http://schemas.microsoft.com/office/drawing/2014/main" val="139182952"/>
                    </a:ext>
                  </a:extLst>
                </a:gridCol>
                <a:gridCol w="1567799">
                  <a:extLst>
                    <a:ext uri="{9D8B030D-6E8A-4147-A177-3AD203B41FA5}">
                      <a16:colId xmlns:a16="http://schemas.microsoft.com/office/drawing/2014/main" val="240935891"/>
                    </a:ext>
                  </a:extLst>
                </a:gridCol>
              </a:tblGrid>
              <a:tr h="208471">
                <a:tc>
                  <a:txBody>
                    <a:bodyPr/>
                    <a:lstStyle/>
                    <a:p>
                      <a:pPr algn="ctr"/>
                      <a:r>
                        <a:rPr sz="1050" b="1" dirty="0" err="1">
                          <a:solidFill>
                            <a:schemeClr val="tx1"/>
                          </a:solidFill>
                          <a:latin typeface="맑은 고딕"/>
                          <a:ea typeface="맑은 고딕"/>
                        </a:rPr>
                        <a:t>구분</a:t>
                      </a:r>
                      <a:endParaRPr sz="1050" b="1" dirty="0">
                        <a:solidFill>
                          <a:schemeClr val="tx1"/>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sz="1050" b="1" dirty="0">
                          <a:solidFill>
                            <a:schemeClr val="tx1"/>
                          </a:solidFill>
                          <a:latin typeface="맑은 고딕"/>
                          <a:ea typeface="맑은 고딕"/>
                        </a:rPr>
                        <a:t>Decode</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019808555"/>
                  </a:ext>
                </a:extLst>
              </a:tr>
              <a:tr h="339730">
                <a:tc>
                  <a:txBody>
                    <a:bodyPr/>
                    <a:lstStyle/>
                    <a:p>
                      <a:pPr algn="ctr"/>
                      <a:r>
                        <a:rPr lang="ko-KR" altLang="en-US" sz="900" b="1" dirty="0">
                          <a:solidFill>
                            <a:srgbClr val="404040"/>
                          </a:solidFill>
                          <a:latin typeface="맑은 고딕"/>
                          <a:ea typeface="맑은 고딕"/>
                        </a:rPr>
                        <a:t>역할</a:t>
                      </a:r>
                      <a:endParaRPr sz="900" b="1" dirty="0">
                        <a:solidFill>
                          <a:srgbClr val="404040"/>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토큰 출력 구간</a:t>
                      </a:r>
                      <a:endParaRPr lang="en-US" altLang="ko-KR" sz="900" b="0" dirty="0">
                        <a:solidFill>
                          <a:srgbClr val="262626"/>
                        </a:solidFill>
                        <a:latin typeface="맑은 고딕"/>
                        <a:ea typeface="맑은 고딕"/>
                      </a:endParaRPr>
                    </a:p>
                    <a:p>
                      <a:pPr algn="ctr"/>
                      <a:r>
                        <a:rPr lang="en-US" altLang="ko-KR" sz="900" b="0" dirty="0">
                          <a:solidFill>
                            <a:srgbClr val="262626"/>
                          </a:solidFill>
                          <a:latin typeface="맑은 고딕"/>
                          <a:ea typeface="맑은 고딕"/>
                        </a:rPr>
                        <a:t>(</a:t>
                      </a:r>
                      <a:r>
                        <a:rPr lang="ko-KR" altLang="en-US" sz="900" b="0" dirty="0">
                          <a:solidFill>
                            <a:srgbClr val="262626"/>
                          </a:solidFill>
                          <a:latin typeface="맑은 고딕"/>
                          <a:ea typeface="맑은 고딕"/>
                        </a:rPr>
                        <a:t>첫 토큰 생성 이후</a:t>
                      </a:r>
                      <a:r>
                        <a:rPr lang="en-US" altLang="ko-KR" sz="900" b="0" dirty="0">
                          <a:solidFill>
                            <a:srgbClr val="262626"/>
                          </a:solidFill>
                          <a:latin typeface="맑은 고딕"/>
                          <a:ea typeface="맑은 고딕"/>
                        </a:rPr>
                        <a:t>)</a:t>
                      </a:r>
                      <a:endParaRPr lang="en-US" sz="900" b="0" dirty="0">
                        <a:solidFill>
                          <a:srgbClr val="262626"/>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3137829"/>
                  </a:ext>
                </a:extLst>
              </a:tr>
              <a:tr h="335036">
                <a:tc>
                  <a:txBody>
                    <a:bodyPr/>
                    <a:lstStyle/>
                    <a:p>
                      <a:pPr algn="ctr"/>
                      <a:r>
                        <a:rPr sz="900" b="1" dirty="0" err="1">
                          <a:solidFill>
                            <a:srgbClr val="404040"/>
                          </a:solidFill>
                          <a:latin typeface="맑은 고딕"/>
                          <a:ea typeface="맑은 고딕"/>
                        </a:rPr>
                        <a:t>연산</a:t>
                      </a:r>
                      <a:r>
                        <a:rPr sz="900" b="1" dirty="0">
                          <a:solidFill>
                            <a:srgbClr val="404040"/>
                          </a:solidFill>
                          <a:latin typeface="맑은 고딕"/>
                          <a:ea typeface="맑은 고딕"/>
                        </a:rPr>
                        <a:t> </a:t>
                      </a:r>
                      <a:r>
                        <a:rPr sz="900" b="1" dirty="0" err="1">
                          <a:solidFill>
                            <a:srgbClr val="404040"/>
                          </a:solidFill>
                          <a:latin typeface="맑은 고딕"/>
                          <a:ea typeface="맑은 고딕"/>
                        </a:rPr>
                        <a:t>형태</a:t>
                      </a:r>
                      <a:endParaRPr sz="900" b="1" dirty="0">
                        <a:solidFill>
                          <a:srgbClr val="404040"/>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행렬</a:t>
                      </a:r>
                      <a:r>
                        <a:rPr lang="en-US" altLang="ko-KR" sz="900" b="0" dirty="0">
                          <a:solidFill>
                            <a:srgbClr val="262626"/>
                          </a:solidFill>
                          <a:latin typeface="맑은 고딕"/>
                          <a:ea typeface="맑은 고딕"/>
                        </a:rPr>
                        <a:t>-</a:t>
                      </a:r>
                      <a:r>
                        <a:rPr lang="ko-KR" altLang="en-US" sz="900" b="0" dirty="0">
                          <a:solidFill>
                            <a:srgbClr val="262626"/>
                          </a:solidFill>
                          <a:latin typeface="맑은 고딕"/>
                          <a:ea typeface="맑은 고딕"/>
                        </a:rPr>
                        <a:t>벡터 곱 </a:t>
                      </a:r>
                      <a:r>
                        <a:rPr lang="en-US" altLang="ko-KR" sz="900" b="0" dirty="0">
                          <a:solidFill>
                            <a:srgbClr val="262626"/>
                          </a:solidFill>
                          <a:latin typeface="맑은 고딕"/>
                          <a:ea typeface="맑은 고딕"/>
                        </a:rPr>
                        <a:t>(GEMV)</a:t>
                      </a:r>
                      <a:endParaRPr lang="en-US" sz="900" b="0" dirty="0">
                        <a:solidFill>
                          <a:srgbClr val="262626"/>
                        </a:solidFill>
                        <a:latin typeface="맑은 고딕"/>
                        <a:ea typeface="맑은 고딕"/>
                      </a:endParaRPr>
                    </a:p>
                    <a:p>
                      <a:pPr algn="ctr"/>
                      <a:r>
                        <a:rPr lang="en-US" sz="900" b="0" dirty="0">
                          <a:solidFill>
                            <a:srgbClr val="262626"/>
                          </a:solidFill>
                          <a:latin typeface="맑은 고딕"/>
                          <a:ea typeface="맑은 고딕"/>
                        </a:rPr>
                        <a:t>(</a:t>
                      </a:r>
                      <a:r>
                        <a:rPr sz="900" b="0" dirty="0">
                          <a:solidFill>
                            <a:srgbClr val="262626"/>
                          </a:solidFill>
                          <a:latin typeface="맑은 고딕"/>
                          <a:ea typeface="맑은 고딕"/>
                        </a:rPr>
                        <a:t>1 </a:t>
                      </a:r>
                      <a:r>
                        <a:rPr sz="900" b="0" dirty="0" err="1">
                          <a:solidFill>
                            <a:srgbClr val="262626"/>
                          </a:solidFill>
                          <a:latin typeface="맑은 고딕"/>
                          <a:ea typeface="맑은 고딕"/>
                        </a:rPr>
                        <a:t>토큰</a:t>
                      </a:r>
                      <a:r>
                        <a:rPr sz="900" b="0" dirty="0">
                          <a:solidFill>
                            <a:srgbClr val="262626"/>
                          </a:solidFill>
                          <a:latin typeface="맑은 고딕"/>
                          <a:ea typeface="맑은 고딕"/>
                        </a:rPr>
                        <a:t> </a:t>
                      </a:r>
                      <a:r>
                        <a:rPr lang="ko-KR" altLang="en-US" sz="900" b="0" dirty="0">
                          <a:solidFill>
                            <a:srgbClr val="262626"/>
                          </a:solidFill>
                          <a:latin typeface="맑은 고딕"/>
                          <a:ea typeface="맑은 고딕"/>
                        </a:rPr>
                        <a:t>생성</a:t>
                      </a:r>
                      <a:r>
                        <a:rPr lang="en-US" altLang="ko-KR" sz="900" b="0" dirty="0">
                          <a:solidFill>
                            <a:srgbClr val="262626"/>
                          </a:solidFill>
                          <a:latin typeface="맑은 고딕"/>
                          <a:ea typeface="맑은 고딕"/>
                        </a:rPr>
                        <a:t>,</a:t>
                      </a:r>
                      <a:r>
                        <a:rPr lang="en-US" altLang="ko-KR" sz="900" b="0" baseline="0" dirty="0">
                          <a:solidFill>
                            <a:srgbClr val="262626"/>
                          </a:solidFill>
                          <a:latin typeface="맑은 고딕"/>
                          <a:ea typeface="맑은 고딕"/>
                        </a:rPr>
                        <a:t> </a:t>
                      </a:r>
                      <a:r>
                        <a:rPr lang="ko-KR" altLang="en-US" sz="900" b="0" baseline="0" dirty="0">
                          <a:solidFill>
                            <a:srgbClr val="FF0000"/>
                          </a:solidFill>
                          <a:latin typeface="맑은 고딕"/>
                          <a:ea typeface="맑은 고딕"/>
                        </a:rPr>
                        <a:t>∵</a:t>
                      </a:r>
                      <a:r>
                        <a:rPr lang="en-US" altLang="ko-KR" sz="900" b="0" dirty="0">
                          <a:solidFill>
                            <a:srgbClr val="FF0000"/>
                          </a:solidFill>
                          <a:latin typeface="맑은 고딕"/>
                          <a:ea typeface="맑은 고딕"/>
                        </a:rPr>
                        <a:t>KV</a:t>
                      </a:r>
                      <a:r>
                        <a:rPr lang="ko-KR" altLang="en-US" sz="900" b="0" dirty="0">
                          <a:solidFill>
                            <a:srgbClr val="FF0000"/>
                          </a:solidFill>
                          <a:latin typeface="맑은 고딕"/>
                          <a:ea typeface="맑은 고딕"/>
                        </a:rPr>
                        <a:t>캐시 활용</a:t>
                      </a:r>
                      <a:r>
                        <a:rPr lang="en-US" altLang="ko-KR" sz="900" b="0" dirty="0">
                          <a:solidFill>
                            <a:srgbClr val="262626"/>
                          </a:solidFill>
                          <a:latin typeface="맑은 고딕"/>
                          <a:ea typeface="맑은 고딕"/>
                        </a:rPr>
                        <a:t>)</a:t>
                      </a:r>
                      <a:endParaRPr sz="900" b="0" dirty="0">
                        <a:solidFill>
                          <a:srgbClr val="262626"/>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342689242"/>
                  </a:ext>
                </a:extLst>
              </a:tr>
              <a:tr h="339730">
                <a:tc>
                  <a:txBody>
                    <a:bodyPr/>
                    <a:lstStyle/>
                    <a:p>
                      <a:pPr algn="ctr"/>
                      <a:r>
                        <a:rPr sz="900" b="1">
                          <a:solidFill>
                            <a:srgbClr val="404040"/>
                          </a:solidFill>
                          <a:latin typeface="맑은 고딕"/>
                          <a:ea typeface="맑은 고딕"/>
                        </a:rPr>
                        <a:t>병목</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C55A11"/>
                          </a:solidFill>
                          <a:latin typeface="맑은 고딕"/>
                          <a:ea typeface="맑은 고딕"/>
                        </a:rPr>
                        <a:t>Memory-bound</a:t>
                      </a:r>
                    </a:p>
                    <a:p>
                      <a:pPr algn="ctr"/>
                      <a:r>
                        <a:rPr sz="900" b="0" dirty="0">
                          <a:solidFill>
                            <a:srgbClr val="262626"/>
                          </a:solidFill>
                          <a:latin typeface="맑은 고딕"/>
                          <a:ea typeface="맑은 고딕"/>
                        </a:rPr>
                        <a:t>(</a:t>
                      </a:r>
                      <a:r>
                        <a:rPr lang="en-US" sz="900" b="0" dirty="0" err="1">
                          <a:solidFill>
                            <a:srgbClr val="262626"/>
                          </a:solidFill>
                          <a:latin typeface="맑은 고딕"/>
                          <a:ea typeface="맑은 고딕"/>
                        </a:rPr>
                        <a:t>Weight</a:t>
                      </a:r>
                      <a:r>
                        <a:rPr sz="900" b="0" dirty="0" err="1">
                          <a:solidFill>
                            <a:srgbClr val="262626"/>
                          </a:solidFill>
                          <a:latin typeface="맑은 고딕"/>
                          <a:ea typeface="맑은 고딕"/>
                        </a:rPr>
                        <a:t>·KV</a:t>
                      </a:r>
                      <a:r>
                        <a:rPr sz="900" b="0" dirty="0">
                          <a:solidFill>
                            <a:srgbClr val="262626"/>
                          </a:solidFill>
                          <a:latin typeface="맑은 고딕"/>
                          <a:ea typeface="맑은 고딕"/>
                        </a:rPr>
                        <a:t>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읽기</a:t>
                      </a:r>
                      <a:r>
                        <a:rPr sz="900" b="0" dirty="0">
                          <a:solidFill>
                            <a:srgbClr val="262626"/>
                          </a:solidFill>
                          <a:latin typeface="맑은 고딕"/>
                          <a:ea typeface="맑은 고딕"/>
                        </a:rPr>
                        <a:t>)</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57130183"/>
                  </a:ext>
                </a:extLst>
              </a:tr>
              <a:tr h="231634">
                <a:tc>
                  <a:txBody>
                    <a:bodyPr/>
                    <a:lstStyle/>
                    <a:p>
                      <a:pPr algn="ctr"/>
                      <a:r>
                        <a:rPr sz="900" b="1">
                          <a:solidFill>
                            <a:srgbClr val="404040"/>
                          </a:solidFill>
                          <a:latin typeface="맑은 고딕"/>
                          <a:ea typeface="맑은 고딕"/>
                        </a:rPr>
                        <a:t>KV 캐시</a:t>
                      </a: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err="1">
                          <a:solidFill>
                            <a:srgbClr val="262626"/>
                          </a:solidFill>
                          <a:latin typeface="맑은 고딕"/>
                          <a:ea typeface="맑은 고딕"/>
                        </a:rPr>
                        <a:t>읽기</a:t>
                      </a:r>
                      <a:r>
                        <a:rPr sz="900" b="0" dirty="0">
                          <a:solidFill>
                            <a:srgbClr val="262626"/>
                          </a:solidFill>
                          <a:latin typeface="맑은 고딕"/>
                          <a:ea typeface="맑은 고딕"/>
                        </a:rPr>
                        <a:t> + </a:t>
                      </a:r>
                      <a:r>
                        <a:rPr lang="en-US" sz="900" b="0" dirty="0">
                          <a:solidFill>
                            <a:srgbClr val="262626"/>
                          </a:solidFill>
                          <a:latin typeface="맑은 고딕"/>
                          <a:ea typeface="맑은 고딕"/>
                        </a:rPr>
                        <a:t>Append Write</a:t>
                      </a:r>
                      <a:r>
                        <a:rPr lang="en-US" sz="900" b="0" baseline="0" dirty="0">
                          <a:solidFill>
                            <a:srgbClr val="262626"/>
                          </a:solidFill>
                          <a:latin typeface="맑은 고딕"/>
                          <a:ea typeface="맑은 고딕"/>
                        </a:rPr>
                        <a:t> (KV)</a:t>
                      </a:r>
                      <a:endParaRPr sz="900" b="0" dirty="0">
                        <a:solidFill>
                          <a:srgbClr val="262626"/>
                        </a:solidFill>
                        <a:latin typeface="맑은 고딕"/>
                        <a:ea typeface="맑은 고딕"/>
                      </a:endParaRPr>
                    </a:p>
                  </a:txBody>
                  <a:tcPr marL="33193" marR="33193" marT="10058" marB="10058"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5049522"/>
                  </a:ext>
                </a:extLst>
              </a:tr>
            </a:tbl>
          </a:graphicData>
        </a:graphic>
      </p:graphicFrame>
      <p:sp>
        <p:nvSpPr>
          <p:cNvPr id="281" name="직사각형 280"/>
          <p:cNvSpPr/>
          <p:nvPr/>
        </p:nvSpPr>
        <p:spPr>
          <a:xfrm>
            <a:off x="6568459" y="4129286"/>
            <a:ext cx="5502839" cy="738664"/>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ko-KR" altLang="en-US"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연산 특성이 다름 따라 </a:t>
            </a:r>
            <a:r>
              <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Prefill/Decode </a:t>
            </a:r>
            <a:r>
              <a:rPr kumimoji="0" lang="ko-KR" altLang="en-US"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연산을 서로 다른 곳에서 진행할 수 있음 </a:t>
            </a:r>
            <a:r>
              <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a:t>
            </a:r>
            <a:r>
              <a:rPr kumimoji="0" lang="en-US" altLang="ko-KR" sz="1400" b="0" i="1"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Prefill/Decode Disaggregation(</a:t>
            </a:r>
            <a:r>
              <a:rPr kumimoji="0" lang="ko-KR" altLang="en-US" sz="1400" b="0" i="1"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분리</a:t>
            </a:r>
            <a:r>
              <a:rPr kumimoji="0" lang="en-US" altLang="ko-KR" sz="1400" b="0" i="1"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a:t>
            </a:r>
            <a:r>
              <a:rPr kumimoji="0" lang="ko-KR" altLang="en-US" sz="1400" b="0" i="1"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 구조</a:t>
            </a:r>
            <a:r>
              <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 </a:t>
            </a:r>
            <a:r>
              <a:rPr kumimoji="0" lang="ko-KR" altLang="en-US"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rPr>
              <a:t> </a:t>
            </a:r>
            <a:endParaRPr kumimoji="0" lang="en-US" altLang="ko-KR" sz="1400" b="0" i="0" u="none" strike="noStrike" kern="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Samsung Sharp Sans Bold" pitchFamily="2" charset="0"/>
            </a:endParaRPr>
          </a:p>
        </p:txBody>
      </p:sp>
      <p:sp>
        <p:nvSpPr>
          <p:cNvPr id="282" name="Oval 13"/>
          <p:cNvSpPr/>
          <p:nvPr/>
        </p:nvSpPr>
        <p:spPr>
          <a:xfrm>
            <a:off x="193178" y="4260995"/>
            <a:ext cx="202825" cy="18809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marL="0" marR="0" lvl="0" indent="0" algn="ctr" defTabSz="914400" rtl="0" eaLnBrk="1" fontAlgn="auto" latinLnBrk="1" hangingPunct="1">
              <a:lnSpc>
                <a:spcPct val="95000"/>
              </a:lnSpc>
              <a:spcBef>
                <a:spcPts val="0"/>
              </a:spcBef>
              <a:spcAft>
                <a:spcPts val="0"/>
              </a:spcAft>
              <a:buClrTx/>
              <a:buSzTx/>
              <a:buFontTx/>
              <a:buNone/>
              <a:tabLst/>
              <a:defRPr/>
            </a:pPr>
            <a:r>
              <a:rPr kumimoji="0" sz="1200" b="1" i="0" u="none" strike="noStrike" kern="1200" cap="none" spc="0" normalizeH="0" baseline="0" noProof="0" dirty="0">
                <a:ln>
                  <a:noFill/>
                </a:ln>
                <a:solidFill>
                  <a:srgbClr val="FFFFFF"/>
                </a:solidFill>
                <a:effectLst/>
                <a:uLnTx/>
                <a:uFillTx/>
                <a:latin typeface="맑은 고딕"/>
                <a:ea typeface="맑은 고딕"/>
                <a:cs typeface="+mn-cs"/>
              </a:rPr>
              <a:t>1</a:t>
            </a:r>
          </a:p>
        </p:txBody>
      </p:sp>
      <p:sp>
        <p:nvSpPr>
          <p:cNvPr id="286" name="Oval 13"/>
          <p:cNvSpPr/>
          <p:nvPr/>
        </p:nvSpPr>
        <p:spPr>
          <a:xfrm>
            <a:off x="6365634" y="4260995"/>
            <a:ext cx="202825" cy="188092"/>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marL="0" marR="0" lvl="0" indent="0" algn="ctr" defTabSz="914400" rtl="0" eaLnBrk="1" fontAlgn="auto" latinLnBrk="1" hangingPunct="1">
              <a:lnSpc>
                <a:spcPct val="95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맑은 고딕"/>
                <a:ea typeface="맑은 고딕"/>
                <a:cs typeface="+mn-cs"/>
              </a:rPr>
              <a:t>2</a:t>
            </a:r>
            <a:endParaRPr kumimoji="0" sz="1200" b="1" i="0" u="none" strike="noStrike" kern="1200" cap="none" spc="0" normalizeH="0" baseline="0" noProof="0" dirty="0">
              <a:ln>
                <a:noFill/>
              </a:ln>
              <a:solidFill>
                <a:srgbClr val="FFFFFF"/>
              </a:solidFill>
              <a:effectLst/>
              <a:uLnTx/>
              <a:uFillTx/>
              <a:latin typeface="맑은 고딕"/>
              <a:ea typeface="맑은 고딕"/>
              <a:cs typeface="+mn-cs"/>
            </a:endParaRPr>
          </a:p>
        </p:txBody>
      </p:sp>
      <p:sp>
        <p:nvSpPr>
          <p:cNvPr id="201" name="실행 단추: 뒤로 또는 이전 200">
            <a:hlinkClick r:id="rId3" action="ppaction://hlinksldjump" highlightClick="1"/>
          </p:cNvPr>
          <p:cNvSpPr/>
          <p:nvPr/>
        </p:nvSpPr>
        <p:spPr>
          <a:xfrm>
            <a:off x="7564046" y="191751"/>
            <a:ext cx="223070" cy="22818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51076289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7634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9572">
                  <a:extLst>
                    <a:ext uri="{9D8B030D-6E8A-4147-A177-3AD203B41FA5}">
                      <a16:colId xmlns:a16="http://schemas.microsoft.com/office/drawing/2014/main" val="5654497"/>
                    </a:ext>
                  </a:extLst>
                </a:gridCol>
                <a:gridCol w="1226482">
                  <a:extLst>
                    <a:ext uri="{9D8B030D-6E8A-4147-A177-3AD203B41FA5}">
                      <a16:colId xmlns:a16="http://schemas.microsoft.com/office/drawing/2014/main" val="2953438935"/>
                    </a:ext>
                  </a:extLst>
                </a:gridCol>
                <a:gridCol w="4132918">
                  <a:extLst>
                    <a:ext uri="{9D8B030D-6E8A-4147-A177-3AD203B41FA5}">
                      <a16:colId xmlns:a16="http://schemas.microsoft.com/office/drawing/2014/main" val="3070054508"/>
                    </a:ext>
                  </a:extLst>
                </a:gridCol>
                <a:gridCol w="130313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baseline="0" dirty="0"/>
                        <a:t>상태 관측과 이동 결정을 한 곳에서 </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134341">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Threshold trigger</a:t>
                      </a:r>
                      <a:r>
                        <a:rPr lang="ko-KR" altLang="en-US" sz="1200" b="0" i="0" dirty="0">
                          <a:solidFill>
                            <a:srgbClr val="404040"/>
                          </a:solidFill>
                          <a:latin typeface="+mn-lt"/>
                          <a:ea typeface="맑은 고딕"/>
                        </a:rPr>
                        <a:t>가 즉시 판단을 기동해 </a:t>
                      </a:r>
                      <a:r>
                        <a:rPr lang="en-US" altLang="ko-KR" sz="1200" b="0" i="0" dirty="0">
                          <a:solidFill>
                            <a:srgbClr val="404040"/>
                          </a:solidFill>
                          <a:latin typeface="+mn-lt"/>
                          <a:ea typeface="맑은 고딕"/>
                        </a:rPr>
                        <a:t>HBM </a:t>
                      </a:r>
                      <a:r>
                        <a:rPr lang="ko-KR" altLang="en-US" sz="1200" b="0" i="0" dirty="0">
                          <a:solidFill>
                            <a:srgbClr val="404040"/>
                          </a:solidFill>
                          <a:latin typeface="+mn-lt"/>
                          <a:ea typeface="맑은 고딕"/>
                        </a:rPr>
                        <a:t>압박 구간이 짧음 </a:t>
                      </a:r>
                      <a:r>
                        <a:rPr lang="en-US" altLang="ko-KR" sz="1200" b="0" i="0" dirty="0">
                          <a:solidFill>
                            <a:srgbClr val="404040"/>
                          </a:solidFill>
                          <a:latin typeface="+mn-lt"/>
                          <a:ea typeface="맑은 고딕"/>
                        </a:rPr>
                        <a:t>(QA2) </a:t>
                      </a:r>
                      <a:endParaRPr lang="ko-KR" altLang="en-US" sz="1200" b="0" i="0" dirty="0">
                        <a:solidFill>
                          <a:srgbClr val="404040"/>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Plane</a:t>
                      </a:r>
                      <a:r>
                        <a:rPr lang="en-US" altLang="ko-KR" sz="1200" b="0" i="0" baseline="0" dirty="0">
                          <a:solidFill>
                            <a:srgbClr val="404040"/>
                          </a:solidFill>
                          <a:latin typeface="+mn-lt"/>
                          <a:ea typeface="맑은 고딕"/>
                        </a:rPr>
                        <a:t> </a:t>
                      </a:r>
                      <a:r>
                        <a:rPr lang="ko-KR" altLang="en-US" sz="1200" b="0" i="0" dirty="0">
                          <a:solidFill>
                            <a:srgbClr val="404040"/>
                          </a:solidFill>
                          <a:latin typeface="+mn-lt"/>
                          <a:ea typeface="맑은 고딕"/>
                        </a:rPr>
                        <a:t>간 인터페이스 호출이 없어 정책 수정</a:t>
                      </a:r>
                      <a:r>
                        <a:rPr lang="ko-KR" altLang="en-US" sz="1200" b="0" i="0" baseline="0" dirty="0">
                          <a:solidFill>
                            <a:srgbClr val="404040"/>
                          </a:solidFill>
                          <a:latin typeface="+mn-lt"/>
                          <a:ea typeface="맑은 고딕"/>
                        </a:rPr>
                        <a:t> 범위 제한 </a:t>
                      </a:r>
                      <a:r>
                        <a:rPr lang="en-US" altLang="ko-KR" sz="1200" b="0" i="0" baseline="0" dirty="0">
                          <a:solidFill>
                            <a:srgbClr val="404040"/>
                          </a:solidFill>
                          <a:latin typeface="+mn-lt"/>
                          <a:ea typeface="맑은 고딕"/>
                        </a:rPr>
                        <a:t>(QA3)</a:t>
                      </a:r>
                      <a:endParaRPr lang="en-US" altLang="ko-KR" sz="1200" strike="noStrike" baseline="0" dirty="0">
                        <a:solidFill>
                          <a:schemeClr val="tx1"/>
                        </a:solidFill>
                        <a:effectLst/>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(QA1)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 </a:t>
                      </a:r>
                      <a:r>
                        <a:rPr lang="en-US" altLang="ko-KR" sz="1200" b="0" i="0" dirty="0">
                          <a:solidFill>
                            <a:srgbClr val="404040"/>
                          </a:solidFill>
                          <a:latin typeface="+mn-lt"/>
                          <a:ea typeface="맑은 고딕"/>
                        </a:rPr>
                        <a:t>(QA2)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t>
                      </a:r>
                      <a:r>
                        <a:rPr lang="ko-KR" altLang="en-US" sz="1200" b="0" i="0" dirty="0">
                          <a:solidFill>
                            <a:srgbClr val="404040"/>
                          </a:solidFill>
                          <a:latin typeface="+mn-lt"/>
                          <a:ea typeface="맑은 고딕"/>
                        </a:rPr>
                        <a:t>스키마</a:t>
                      </a:r>
                      <a:r>
                        <a:rPr lang="en-US" altLang="ko-KR" sz="1200" b="0" i="0" dirty="0">
                          <a:solidFill>
                            <a:srgbClr val="404040"/>
                          </a:solidFill>
                          <a:latin typeface="+mn-lt"/>
                          <a:ea typeface="맑은 고딕"/>
                        </a:rPr>
                        <a:t>,</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Command Queue </a:t>
                      </a:r>
                      <a:r>
                        <a:rPr lang="ko-KR" altLang="en-US" sz="1200" b="0" i="0" dirty="0">
                          <a:solidFill>
                            <a:srgbClr val="404040"/>
                          </a:solidFill>
                          <a:latin typeface="+mn-lt"/>
                          <a:ea typeface="맑은 고딕"/>
                        </a:rPr>
                        <a:t>인터페이스가 바뀌면 </a:t>
                      </a:r>
                      <a:r>
                        <a:rPr lang="en-US" altLang="ko-KR" sz="1200" b="0" i="0" dirty="0">
                          <a:solidFill>
                            <a:srgbClr val="404040"/>
                          </a:solidFill>
                          <a:latin typeface="+mn-lt"/>
                          <a:ea typeface="맑은 고딕"/>
                        </a:rPr>
                        <a:t>Resource,</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Data</a:t>
                      </a:r>
                      <a:r>
                        <a:rPr lang="ko-KR" altLang="en-US" sz="1200" b="0" i="0" dirty="0">
                          <a:solidFill>
                            <a:srgbClr val="404040"/>
                          </a:solidFill>
                          <a:latin typeface="+mn-lt"/>
                          <a:ea typeface="맑은 고딕"/>
                        </a:rPr>
                        <a:t> </a:t>
                      </a: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동반 수정 필요 </a:t>
                      </a:r>
                      <a:r>
                        <a:rPr lang="en-US" altLang="ko-KR" sz="1200" b="0" i="0" dirty="0">
                          <a:solidFill>
                            <a:srgbClr val="404040"/>
                          </a:solidFill>
                          <a:latin typeface="+mn-lt"/>
                          <a:ea typeface="맑은 고딕"/>
                        </a:rPr>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 </a:t>
                      </a:r>
                      <a:r>
                        <a:rPr lang="en-US" altLang="ko-KR" sz="1000" b="0" strike="noStrike" dirty="0">
                          <a:solidFill>
                            <a:schemeClr val="tx1"/>
                          </a:solidFill>
                        </a:rPr>
                        <a:t>(</a:t>
                      </a:r>
                      <a:r>
                        <a:rPr lang="en-US" altLang="ko-KR" sz="1000" b="0" strike="noStrike" dirty="0" err="1">
                          <a:solidFill>
                            <a:schemeClr val="tx1"/>
                          </a:solidFill>
                        </a:rPr>
                        <a:t>토큰</a:t>
                      </a:r>
                      <a:r>
                        <a:rPr lang="en-US" altLang="ko-KR" sz="1000" b="0" strike="noStrike" dirty="0">
                          <a:solidFill>
                            <a:schemeClr val="tx1"/>
                          </a:solidFill>
                        </a:rPr>
                        <a:t> </a:t>
                      </a:r>
                      <a:r>
                        <a:rPr lang="en-US" altLang="ko-KR" sz="1000" b="0" strike="noStrike" dirty="0" err="1">
                          <a:solidFill>
                            <a:schemeClr val="tx1"/>
                          </a:solidFill>
                        </a:rPr>
                        <a:t>비용</a:t>
                      </a:r>
                      <a:r>
                        <a:rPr lang="en-US" altLang="ko-KR" sz="1000" b="0" strike="noStrike" dirty="0">
                          <a:solidFill>
                            <a:schemeClr val="tx1"/>
                          </a:solidFill>
                        </a:rPr>
                        <a:t>,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QA4. Scalability </a:t>
                      </a:r>
                      <a:r>
                        <a:rPr lang="en-US" altLang="ko-KR" sz="1000" b="0" strike="noStrike" dirty="0">
                          <a:solidFill>
                            <a:schemeClr val="tx1"/>
                          </a:solidFill>
                        </a:rPr>
                        <a:t>(Scaling Efficiency)</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 Resource Efficiency</a:t>
                      </a:r>
                      <a:r>
                        <a:rPr lang="en-US" altLang="ko-KR" sz="1000" b="0" strike="noStrike" dirty="0">
                          <a:solidFill>
                            <a:schemeClr val="tx1"/>
                          </a:solidFill>
                        </a:rPr>
                        <a:t> (HBM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QA3. Modifiability</a:t>
                      </a:r>
                      <a:r>
                        <a:rPr lang="en-US" altLang="ko-KR" sz="1000" b="0" strike="noStrike" dirty="0">
                          <a:solidFill>
                            <a:schemeClr val="tx1"/>
                          </a:solidFill>
                        </a:rPr>
                        <a:t> (토큰 비용, M/M)</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strike="noStrike" dirty="0">
                          <a:solidFill>
                            <a:schemeClr val="accent5"/>
                          </a:solidFill>
                          <a:latin typeface="맑은 고딕" panose="020B0503020000020004" pitchFamily="50" charset="-127"/>
                          <a:ea typeface="+mn-ea"/>
                        </a:rPr>
                        <a:t> </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chemeClr val="tx1"/>
                          </a:solidFill>
                          <a:latin typeface="+mn-lt"/>
                          <a:ea typeface="맑은 고딕"/>
                        </a:rPr>
                        <a:t>☆</a:t>
                      </a:r>
                      <a:endParaRPr lang="en-US" altLang="ko-KR" sz="1200" b="0" dirty="0">
                        <a:solidFill>
                          <a:srgbClr val="0070C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7" name="슬라이드 번호 개체 틀 1"/>
          <p:cNvSpPr>
            <a:spLocks noGrp="1"/>
          </p:cNvSpPr>
          <p:nvPr>
            <p:ph type="sldNum" sz="quarter" idx="4294967295"/>
          </p:nvPr>
        </p:nvSpPr>
        <p:spPr>
          <a:xfrm>
            <a:off x="0" y="6597650"/>
            <a:ext cx="457200" cy="209550"/>
          </a:xfrm>
        </p:spPr>
        <p:txBody>
          <a:bodyPr/>
          <a:lstStyle/>
          <a:p>
            <a:fld id="{7F889C64-266A-4D07-AD8F-5B592E61CCE1}" type="slidenum">
              <a:rPr lang="ko-KR" altLang="en-US" smtClean="0"/>
              <a:pPr/>
              <a:t>192</a:t>
            </a:fld>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자원과 데이터 특성을 고려한 데이터 이동</a:t>
            </a:r>
            <a:r>
              <a:rPr lang="en-US" altLang="ko-KR" sz="1400" b="1" dirty="0">
                <a:solidFill>
                  <a:schemeClr val="bg1"/>
                </a:solidFill>
              </a:rPr>
              <a:t> </a:t>
            </a:r>
            <a:r>
              <a:rPr lang="ko-KR" altLang="en-US" sz="1400" b="1" dirty="0">
                <a:solidFill>
                  <a:schemeClr val="bg1"/>
                </a:solidFill>
              </a:rPr>
              <a:t>결정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9627774"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자원 상태에 우선한 이동 결정</a:t>
            </a:r>
            <a:r>
              <a:rPr lang="en-US" altLang="ko-KR" sz="1100" dirty="0"/>
              <a:t>“ </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ko-KR" altLang="en-US" sz="1100" dirty="0"/>
              <a:t>데이터 특성에 우선한 이동 결정</a:t>
            </a:r>
            <a:r>
              <a:rPr lang="en-US" altLang="ko-KR" sz="1100" dirty="0"/>
              <a:t>”</a:t>
            </a:r>
            <a:endParaRPr lang="en-US" altLang="ko-KR" sz="1100" strike="sngStrike" dirty="0"/>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762321" y="621146"/>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변경용이성</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4" name="실행 단추: 앞으로 또는 다음으로 이동 3">
            <a:hlinkClick r:id="rId3" action="ppaction://hlinksldjump"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rId4" action="ppaction://hlinksldjump"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rId5" action="ppaction://hlinksldjump"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8519846"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신규 </a:t>
            </a:r>
            <a:r>
              <a:rPr lang="en-US" altLang="ko-KR" sz="700" dirty="0">
                <a:latin typeface="맑은 고딕" panose="020B0503020000020004" pitchFamily="50" charset="-127"/>
              </a:rPr>
              <a:t>Device SW</a:t>
            </a:r>
            <a:endParaRPr lang="ko-KR" altLang="en-US" sz="700" dirty="0">
              <a:latin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grpSp>
        <p:nvGrpSpPr>
          <p:cNvPr id="84" name="그룹 83"/>
          <p:cNvGrpSpPr/>
          <p:nvPr/>
        </p:nvGrpSpPr>
        <p:grpSpPr>
          <a:xfrm>
            <a:off x="6621854" y="1744599"/>
            <a:ext cx="5128953" cy="2685098"/>
            <a:chOff x="6236208" y="1758886"/>
            <a:chExt cx="5641848" cy="2685098"/>
          </a:xfrm>
        </p:grpSpPr>
        <p:sp>
          <p:nvSpPr>
            <p:cNvPr id="309" name="Rectangle 71"/>
            <p:cNvSpPr/>
            <p:nvPr/>
          </p:nvSpPr>
          <p:spPr>
            <a:xfrm>
              <a:off x="6236208" y="1758886"/>
              <a:ext cx="5641848" cy="819721"/>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0" name="TextBox 309"/>
            <p:cNvSpPr txBox="1"/>
            <p:nvPr/>
          </p:nvSpPr>
          <p:spPr>
            <a:xfrm>
              <a:off x="6236208" y="1800440"/>
              <a:ext cx="5641848" cy="146194"/>
            </a:xfrm>
            <a:prstGeom prst="rect">
              <a:avLst/>
            </a:prstGeom>
            <a:noFill/>
          </p:spPr>
          <p:txBody>
            <a:bodyPr wrap="square" lIns="0" tIns="0" rIns="0" bIns="0" anchor="ctr">
              <a:spAutoFit/>
            </a:bodyPr>
            <a:lstStyle/>
            <a:p>
              <a:pPr algn="ctr"/>
              <a:r>
                <a:rPr lang="en-US" altLang="ko-KR" sz="950" b="1" i="0" dirty="0">
                  <a:solidFill>
                    <a:srgbClr val="1F4E79"/>
                  </a:solidFill>
                  <a:latin typeface="맑은 고딕"/>
                  <a:ea typeface="맑은 고딕"/>
                </a:rPr>
                <a:t>Control Plane</a:t>
              </a:r>
              <a:endParaRPr sz="950" b="1" i="0" dirty="0">
                <a:solidFill>
                  <a:srgbClr val="1F4E79"/>
                </a:solidFill>
                <a:latin typeface="맑은 고딕"/>
                <a:ea typeface="맑은 고딕"/>
              </a:endParaRPr>
            </a:p>
          </p:txBody>
        </p:sp>
        <p:sp>
          <p:nvSpPr>
            <p:cNvPr id="311" name="Rectangle 73"/>
            <p:cNvSpPr/>
            <p:nvPr/>
          </p:nvSpPr>
          <p:spPr>
            <a:xfrm>
              <a:off x="6345935" y="2011680"/>
              <a:ext cx="1449321"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rgbClr val="7F5F00"/>
                  </a:solidFill>
                  <a:latin typeface="맑은 고딕"/>
                  <a:ea typeface="맑은 고딕"/>
                </a:rPr>
                <a:t>Decision Scheduler</a:t>
              </a:r>
            </a:p>
            <a:p>
              <a:pPr algn="ctr">
                <a:lnSpc>
                  <a:spcPct val="125000"/>
                </a:lnSpc>
              </a:pP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주기</a:t>
              </a:r>
              <a:r>
                <a:rPr sz="650" b="0" i="0" dirty="0">
                  <a:solidFill>
                    <a:srgbClr val="7F5F00"/>
                  </a:solidFill>
                  <a:latin typeface="맑은 고딕"/>
                  <a:ea typeface="맑은 고딕"/>
                </a:rPr>
                <a:t> </a:t>
              </a:r>
              <a:r>
                <a:rPr lang="ko-KR" altLang="en-US" sz="650" b="0" i="0" dirty="0">
                  <a:solidFill>
                    <a:srgbClr val="7F5F00"/>
                  </a:solidFill>
                  <a:latin typeface="맑은 고딕"/>
                  <a:ea typeface="맑은 고딕"/>
                </a:rPr>
                <a:t>독립 </a:t>
              </a:r>
              <a:r>
                <a:rPr sz="650" b="0" i="0" dirty="0" err="1">
                  <a:solidFill>
                    <a:srgbClr val="7F5F00"/>
                  </a:solidFill>
                  <a:latin typeface="맑은 고딕"/>
                  <a:ea typeface="맑은 고딕"/>
                </a:rPr>
                <a:t>보유</a:t>
              </a:r>
              <a:endParaRPr sz="650" b="0" i="0" dirty="0">
                <a:solidFill>
                  <a:srgbClr val="7F5F00"/>
                </a:solidFill>
                <a:latin typeface="맑은 고딕"/>
                <a:ea typeface="맑은 고딕"/>
              </a:endParaRPr>
            </a:p>
          </p:txBody>
        </p:sp>
        <p:sp>
          <p:nvSpPr>
            <p:cNvPr id="312" name="Rectangle 74"/>
            <p:cNvSpPr/>
            <p:nvPr/>
          </p:nvSpPr>
          <p:spPr>
            <a:xfrm>
              <a:off x="7968995" y="2011680"/>
              <a:ext cx="1046988"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lang="ko-KR" altLang="en-US" sz="700" dirty="0">
                  <a:solidFill>
                    <a:srgbClr val="404040"/>
                  </a:solidFill>
                  <a:latin typeface="맑은 고딕"/>
                  <a:ea typeface="맑은 고딕"/>
                </a:rPr>
                <a:t>데이터</a:t>
              </a:r>
              <a:r>
                <a:rPr lang="en-US" altLang="ko-KR" sz="700" dirty="0">
                  <a:solidFill>
                    <a:srgbClr val="404040"/>
                  </a:solidFill>
                  <a:latin typeface="맑은 고딕"/>
                  <a:ea typeface="맑은 고딕"/>
                </a:rPr>
                <a:t>,</a:t>
              </a:r>
              <a:r>
                <a:rPr lang="ko-KR" altLang="en-US" sz="700" dirty="0">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13" name="Rectangle 75"/>
            <p:cNvSpPr/>
            <p:nvPr/>
          </p:nvSpPr>
          <p:spPr>
            <a:xfrm>
              <a:off x="9162288" y="2011680"/>
              <a:ext cx="1280160"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14" name="Rectangle 76"/>
            <p:cNvSpPr/>
            <p:nvPr/>
          </p:nvSpPr>
          <p:spPr>
            <a:xfrm>
              <a:off x="10588752" y="2011680"/>
              <a:ext cx="1280160"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15" name="Connector 77"/>
            <p:cNvCxnSpPr/>
            <p:nvPr/>
          </p:nvCxnSpPr>
          <p:spPr>
            <a:xfrm>
              <a:off x="7804402" y="2240280"/>
              <a:ext cx="164593"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7774975" y="2318004"/>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7" name="Connector 79"/>
            <p:cNvCxnSpPr/>
            <p:nvPr/>
          </p:nvCxnSpPr>
          <p:spPr>
            <a:xfrm>
              <a:off x="9015984"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2448"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9" name="Rectangle 81"/>
            <p:cNvSpPr/>
            <p:nvPr/>
          </p:nvSpPr>
          <p:spPr>
            <a:xfrm>
              <a:off x="6236208" y="2775204"/>
              <a:ext cx="2779776" cy="1266444"/>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20" name="TextBox 319"/>
            <p:cNvSpPr txBox="1"/>
            <p:nvPr/>
          </p:nvSpPr>
          <p:spPr>
            <a:xfrm>
              <a:off x="6236208" y="2807263"/>
              <a:ext cx="2779776" cy="146194"/>
            </a:xfrm>
            <a:prstGeom prst="rect">
              <a:avLst/>
            </a:prstGeom>
            <a:noFill/>
          </p:spPr>
          <p:txBody>
            <a:bodyPr wrap="square" lIns="0" tIns="0" rIns="0" bIns="0" anchor="ctr">
              <a:spAutoFit/>
            </a:bodyPr>
            <a:lstStyle/>
            <a:p>
              <a:pPr algn="ctr"/>
              <a:r>
                <a:rPr lang="en-US" altLang="ko-KR" sz="950" b="1" i="0" dirty="0">
                  <a:solidFill>
                    <a:srgbClr val="1F4E79"/>
                  </a:solidFill>
                  <a:latin typeface="맑은 고딕"/>
                  <a:ea typeface="맑은 고딕"/>
                </a:rPr>
                <a:t>Resource Plane</a:t>
              </a:r>
              <a:endParaRPr sz="950" b="1" i="0" dirty="0">
                <a:solidFill>
                  <a:srgbClr val="1F4E79"/>
                </a:solidFill>
                <a:latin typeface="맑은 고딕"/>
                <a:ea typeface="맑은 고딕"/>
              </a:endParaRPr>
            </a:p>
          </p:txBody>
        </p:sp>
        <p:sp>
          <p:nvSpPr>
            <p:cNvPr id="321" name="Rectangle 83"/>
            <p:cNvSpPr/>
            <p:nvPr/>
          </p:nvSpPr>
          <p:spPr>
            <a:xfrm>
              <a:off x="6345936" y="3035808"/>
              <a:ext cx="2560320"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State Snapshot Builder</a:t>
              </a:r>
            </a:p>
            <a:p>
              <a:pPr algn="ctr">
                <a:lnSpc>
                  <a:spcPct val="125000"/>
                </a:lnSpc>
              </a:pPr>
              <a:r>
                <a:rPr sz="650" b="0" i="0">
                  <a:solidFill>
                    <a:srgbClr val="7F5F00"/>
                  </a:solidFill>
                  <a:latin typeface="맑은 고딕"/>
                  <a:ea typeface="맑은 고딕"/>
                </a:rPr>
                <a:t>일관 복사본 생성 · object 수 비례 비용</a:t>
              </a:r>
            </a:p>
          </p:txBody>
        </p:sp>
        <p:sp>
          <p:nvSpPr>
            <p:cNvPr id="322" name="Rectangle 84"/>
            <p:cNvSpPr/>
            <p:nvPr/>
          </p:nvSpPr>
          <p:spPr>
            <a:xfrm>
              <a:off x="6345936" y="3364992"/>
              <a:ext cx="122529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323" name="Rectangle 85"/>
            <p:cNvSpPr/>
            <p:nvPr/>
          </p:nvSpPr>
          <p:spPr>
            <a:xfrm>
              <a:off x="7680960" y="3364992"/>
              <a:ext cx="122529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24" name="Rectangle 86"/>
            <p:cNvSpPr/>
            <p:nvPr/>
          </p:nvSpPr>
          <p:spPr>
            <a:xfrm>
              <a:off x="6345936" y="3675887"/>
              <a:ext cx="2560320"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Memory·Data Object Registry</a:t>
              </a:r>
            </a:p>
          </p:txBody>
        </p:sp>
        <p:cxnSp>
          <p:nvCxnSpPr>
            <p:cNvPr id="325" name="Connector 87"/>
            <p:cNvCxnSpPr/>
            <p:nvPr/>
          </p:nvCxnSpPr>
          <p:spPr>
            <a:xfrm flipV="1">
              <a:off x="6958584"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p:nvPr/>
          </p:nvCxnSpPr>
          <p:spPr>
            <a:xfrm flipV="1">
              <a:off x="8293608"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p:nvPr/>
          </p:nvCxnSpPr>
          <p:spPr>
            <a:xfrm flipV="1">
              <a:off x="7626096" y="3310128"/>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7548371" y="343357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329" name="Connector 91"/>
            <p:cNvCxnSpPr/>
            <p:nvPr/>
          </p:nvCxnSpPr>
          <p:spPr>
            <a:xfrm flipV="1">
              <a:off x="8686800" y="2468880"/>
              <a:ext cx="0" cy="566928"/>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773667" y="2647188"/>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③</a:t>
              </a:r>
            </a:p>
          </p:txBody>
        </p:sp>
        <p:sp>
          <p:nvSpPr>
            <p:cNvPr id="331" name="Rectangle 93"/>
            <p:cNvSpPr/>
            <p:nvPr/>
          </p:nvSpPr>
          <p:spPr>
            <a:xfrm>
              <a:off x="9345168" y="2816352"/>
              <a:ext cx="2532888" cy="12252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2" name="TextBox 331"/>
            <p:cNvSpPr txBox="1"/>
            <p:nvPr/>
          </p:nvSpPr>
          <p:spPr>
            <a:xfrm>
              <a:off x="9345168" y="2852928"/>
              <a:ext cx="2532888"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33" name="Rectangle 95"/>
            <p:cNvSpPr/>
            <p:nvPr/>
          </p:nvSpPr>
          <p:spPr>
            <a:xfrm>
              <a:off x="9454896" y="3035808"/>
              <a:ext cx="2313432"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Migration Command Queue</a:t>
              </a:r>
            </a:p>
            <a:p>
              <a:pPr algn="ctr">
                <a:lnSpc>
                  <a:spcPct val="125000"/>
                </a:lnSpc>
              </a:pPr>
              <a:r>
                <a:rPr sz="650" b="0" i="0">
                  <a:solidFill>
                    <a:srgbClr val="7F5F00"/>
                  </a:solidFill>
                  <a:latin typeface="맑은 고딕"/>
                  <a:ea typeface="맑은 고딕"/>
                </a:rPr>
                <a:t>비동기 판단 결과 버퍼 · 순서 보장</a:t>
              </a:r>
            </a:p>
          </p:txBody>
        </p:sp>
        <p:sp>
          <p:nvSpPr>
            <p:cNvPr id="334" name="Rectangle 96"/>
            <p:cNvSpPr/>
            <p:nvPr/>
          </p:nvSpPr>
          <p:spPr>
            <a:xfrm>
              <a:off x="9454896" y="3401568"/>
              <a:ext cx="2313432" cy="23774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35" name="Rectangle 97"/>
            <p:cNvSpPr/>
            <p:nvPr/>
          </p:nvSpPr>
          <p:spPr>
            <a:xfrm>
              <a:off x="9454896" y="3694176"/>
              <a:ext cx="2313432"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36" name="Connector 98"/>
            <p:cNvCxnSpPr/>
            <p:nvPr/>
          </p:nvCxnSpPr>
          <p:spPr>
            <a:xfrm>
              <a:off x="10616184" y="3328416"/>
              <a:ext cx="0" cy="73152"/>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703051" y="328726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⑤</a:t>
              </a:r>
            </a:p>
          </p:txBody>
        </p:sp>
        <p:cxnSp>
          <p:nvCxnSpPr>
            <p:cNvPr id="338" name="Connector 100"/>
            <p:cNvCxnSpPr/>
            <p:nvPr/>
          </p:nvCxnSpPr>
          <p:spPr>
            <a:xfrm>
              <a:off x="10616184" y="3639312"/>
              <a:ext cx="0" cy="5486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703051" y="3589020"/>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⑥</a:t>
              </a:r>
            </a:p>
          </p:txBody>
        </p:sp>
        <p:cxnSp>
          <p:nvCxnSpPr>
            <p:cNvPr id="340" name="Connector 102"/>
            <p:cNvCxnSpPr/>
            <p:nvPr/>
          </p:nvCxnSpPr>
          <p:spPr>
            <a:xfrm>
              <a:off x="11228832" y="2468880"/>
              <a:ext cx="0" cy="5669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1315700" y="26654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④</a:t>
              </a:r>
            </a:p>
          </p:txBody>
        </p:sp>
        <p:cxnSp>
          <p:nvCxnSpPr>
            <p:cNvPr id="342" name="Connector 104"/>
            <p:cNvCxnSpPr/>
            <p:nvPr/>
          </p:nvCxnSpPr>
          <p:spPr>
            <a:xfrm flipH="1">
              <a:off x="9125712" y="3520440"/>
              <a:ext cx="329184"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3" name="Connector 105"/>
            <p:cNvCxnSpPr/>
            <p:nvPr/>
          </p:nvCxnSpPr>
          <p:spPr>
            <a:xfrm>
              <a:off x="9125712" y="3520440"/>
              <a:ext cx="0" cy="59436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4" name="Connector 106"/>
            <p:cNvCxnSpPr/>
            <p:nvPr/>
          </p:nvCxnSpPr>
          <p:spPr>
            <a:xfrm flipH="1">
              <a:off x="6958584" y="4114800"/>
              <a:ext cx="2167128"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5" name="Connector 107"/>
            <p:cNvCxnSpPr/>
            <p:nvPr/>
          </p:nvCxnSpPr>
          <p:spPr>
            <a:xfrm flipV="1">
              <a:off x="6958584" y="3931920"/>
              <a:ext cx="0" cy="18288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7968996" y="40370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⑦</a:t>
              </a:r>
            </a:p>
          </p:txBody>
        </p:sp>
        <p:sp>
          <p:nvSpPr>
            <p:cNvPr id="347" name="Rectangle 109"/>
            <p:cNvSpPr/>
            <p:nvPr/>
          </p:nvSpPr>
          <p:spPr>
            <a:xfrm>
              <a:off x="6236208" y="4206240"/>
              <a:ext cx="564184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grpSp>
      <p:grpSp>
        <p:nvGrpSpPr>
          <p:cNvPr id="85" name="그룹 84"/>
          <p:cNvGrpSpPr/>
          <p:nvPr/>
        </p:nvGrpSpPr>
        <p:grpSpPr>
          <a:xfrm>
            <a:off x="1408113" y="1686551"/>
            <a:ext cx="4919472" cy="2708716"/>
            <a:chOff x="2178826" y="3859237"/>
            <a:chExt cx="4919472" cy="2708716"/>
          </a:xfrm>
        </p:grpSpPr>
        <p:sp>
          <p:nvSpPr>
            <p:cNvPr id="357" name="Rectangle 37"/>
            <p:cNvSpPr/>
            <p:nvPr/>
          </p:nvSpPr>
          <p:spPr>
            <a:xfrm>
              <a:off x="2178826" y="3859237"/>
              <a:ext cx="3785615" cy="1904043"/>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8" name="TextBox 357"/>
            <p:cNvSpPr txBox="1"/>
            <p:nvPr/>
          </p:nvSpPr>
          <p:spPr>
            <a:xfrm>
              <a:off x="2178826" y="3872870"/>
              <a:ext cx="3785615" cy="146194"/>
            </a:xfrm>
            <a:prstGeom prst="rect">
              <a:avLst/>
            </a:prstGeom>
            <a:noFill/>
          </p:spPr>
          <p:txBody>
            <a:bodyPr wrap="square" lIns="0" tIns="0" rIns="0" bIns="0" anchor="ctr">
              <a:spAutoFit/>
            </a:bodyPr>
            <a:lstStyle/>
            <a:p>
              <a:pPr algn="ctr"/>
              <a:r>
                <a:rPr lang="en-US" sz="950" b="1" dirty="0">
                  <a:solidFill>
                    <a:srgbClr val="1F4E79"/>
                  </a:solidFill>
                  <a:latin typeface="맑은 고딕"/>
                  <a:ea typeface="맑은 고딕"/>
                </a:rPr>
                <a:t>Resource + Control Plane</a:t>
              </a:r>
              <a:endParaRPr sz="950" b="1" i="0" dirty="0">
                <a:solidFill>
                  <a:srgbClr val="1F4E79"/>
                </a:solidFill>
                <a:latin typeface="맑은 고딕"/>
                <a:ea typeface="맑은 고딕"/>
              </a:endParaRPr>
            </a:p>
          </p:txBody>
        </p:sp>
        <p:sp>
          <p:nvSpPr>
            <p:cNvPr id="360" name="Rectangle 39"/>
            <p:cNvSpPr/>
            <p:nvPr/>
          </p:nvSpPr>
          <p:spPr>
            <a:xfrm>
              <a:off x="2288554"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sz="700" dirty="0" err="1">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61" name="Rectangle 40"/>
            <p:cNvSpPr/>
            <p:nvPr/>
          </p:nvSpPr>
          <p:spPr>
            <a:xfrm>
              <a:off x="3532138"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62" name="Rectangle 41"/>
            <p:cNvSpPr/>
            <p:nvPr/>
          </p:nvSpPr>
          <p:spPr>
            <a:xfrm>
              <a:off x="4775722"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63" name="Connector 42"/>
            <p:cNvCxnSpPr/>
            <p:nvPr/>
          </p:nvCxnSpPr>
          <p:spPr>
            <a:xfrm>
              <a:off x="3422410"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p:nvPr/>
          </p:nvCxnSpPr>
          <p:spPr>
            <a:xfrm>
              <a:off x="4665994"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3399550" y="423166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367" name="Rectangle 45"/>
            <p:cNvSpPr/>
            <p:nvPr/>
          </p:nvSpPr>
          <p:spPr>
            <a:xfrm>
              <a:off x="2288554" y="4629425"/>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dirty="0">
                  <a:solidFill>
                    <a:srgbClr val="7F5F00"/>
                  </a:solidFill>
                  <a:latin typeface="맑은 고딕"/>
                  <a:ea typeface="맑은 고딕"/>
                </a:rPr>
                <a:t>Threshold Trigger</a:t>
              </a:r>
            </a:p>
            <a:p>
              <a:pPr algn="ctr">
                <a:lnSpc>
                  <a:spcPct val="125000"/>
                </a:lnSpc>
              </a:pPr>
              <a:r>
                <a:rPr sz="650" b="0" i="0" dirty="0" err="1">
                  <a:solidFill>
                    <a:srgbClr val="7F5F00"/>
                  </a:solidFill>
                  <a:latin typeface="맑은 고딕"/>
                  <a:ea typeface="맑은 고딕"/>
                </a:rPr>
                <a:t>임계치</a:t>
              </a:r>
              <a:r>
                <a:rPr sz="650" b="0" i="0" dirty="0">
                  <a:solidFill>
                    <a:srgbClr val="7F5F00"/>
                  </a:solidFill>
                  <a:latin typeface="맑은 고딕"/>
                  <a:ea typeface="맑은 고딕"/>
                </a:rPr>
                <a:t> </a:t>
              </a:r>
              <a:r>
                <a:rPr sz="650" b="0" i="0" dirty="0" err="1">
                  <a:solidFill>
                    <a:srgbClr val="7F5F00"/>
                  </a:solidFill>
                  <a:latin typeface="맑은 고딕"/>
                  <a:ea typeface="맑은 고딕"/>
                </a:rPr>
                <a:t>교차</a:t>
              </a:r>
              <a:r>
                <a:rPr sz="650" b="0" i="0" dirty="0">
                  <a:solidFill>
                    <a:srgbClr val="7F5F00"/>
                  </a:solidFill>
                  <a:latin typeface="맑은 고딕"/>
                  <a:ea typeface="맑은 고딕"/>
                </a:rPr>
                <a:t> 시 </a:t>
              </a: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기동</a:t>
              </a:r>
              <a:endParaRPr sz="650" b="0" i="0" dirty="0">
                <a:solidFill>
                  <a:srgbClr val="7F5F00"/>
                </a:solidFill>
                <a:latin typeface="맑은 고딕"/>
                <a:ea typeface="맑은 고딕"/>
              </a:endParaRPr>
            </a:p>
          </p:txBody>
        </p:sp>
        <p:cxnSp>
          <p:nvCxnSpPr>
            <p:cNvPr id="368" name="Connector 46"/>
            <p:cNvCxnSpPr/>
            <p:nvPr/>
          </p:nvCxnSpPr>
          <p:spPr>
            <a:xfrm flipV="1">
              <a:off x="2855482" y="4519697"/>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942350" y="4496837"/>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370" name="Rectangle 48"/>
            <p:cNvSpPr/>
            <p:nvPr/>
          </p:nvSpPr>
          <p:spPr>
            <a:xfrm>
              <a:off x="2233690" y="4995185"/>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2288554" y="5050049"/>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72" name="Rectangle 50"/>
            <p:cNvSpPr/>
            <p:nvPr/>
          </p:nvSpPr>
          <p:spPr>
            <a:xfrm>
              <a:off x="2288554" y="5360945"/>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373" name="Rectangle 51"/>
            <p:cNvSpPr/>
            <p:nvPr/>
          </p:nvSpPr>
          <p:spPr>
            <a:xfrm>
              <a:off x="3550426" y="5104913"/>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dirty="0" err="1">
                  <a:solidFill>
                    <a:srgbClr val="404040"/>
                  </a:solidFill>
                  <a:latin typeface="맑은 고딕"/>
                  <a:ea typeface="맑은 고딕"/>
                </a:rPr>
                <a:t>Memory·Data</a:t>
              </a:r>
              <a:endParaRPr sz="800" b="0" i="0" dirty="0">
                <a:solidFill>
                  <a:srgbClr val="404040"/>
                </a:solidFill>
                <a:latin typeface="맑은 고딕"/>
                <a:ea typeface="맑은 고딕"/>
              </a:endParaRPr>
            </a:p>
            <a:p>
              <a:pPr algn="ctr">
                <a:lnSpc>
                  <a:spcPct val="95000"/>
                </a:lnSpc>
              </a:pPr>
              <a:r>
                <a:rPr sz="800" b="0" i="0" dirty="0">
                  <a:solidFill>
                    <a:srgbClr val="404040"/>
                  </a:solidFill>
                  <a:latin typeface="맑은 고딕"/>
                  <a:ea typeface="맑은 고딕"/>
                </a:rPr>
                <a:t>Object Registry</a:t>
              </a:r>
            </a:p>
          </p:txBody>
        </p:sp>
        <p:sp>
          <p:nvSpPr>
            <p:cNvPr id="374" name="TextBox 373"/>
            <p:cNvSpPr txBox="1"/>
            <p:nvPr/>
          </p:nvSpPr>
          <p:spPr>
            <a:xfrm>
              <a:off x="3550426" y="5488961"/>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375" name="Connector 53"/>
            <p:cNvCxnSpPr/>
            <p:nvPr/>
          </p:nvCxnSpPr>
          <p:spPr>
            <a:xfrm flipV="1">
              <a:off x="2855482" y="5306081"/>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p:nvPr/>
          </p:nvCxnSpPr>
          <p:spPr>
            <a:xfrm flipV="1">
              <a:off x="2855482" y="4940321"/>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p:nvPr/>
          </p:nvCxnSpPr>
          <p:spPr>
            <a:xfrm flipV="1">
              <a:off x="4117354" y="4519697"/>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4204222" y="473458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379" name="Rectangle 57"/>
            <p:cNvSpPr/>
            <p:nvPr/>
          </p:nvSpPr>
          <p:spPr>
            <a:xfrm>
              <a:off x="4190506" y="5854721"/>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0" name="TextBox 379"/>
            <p:cNvSpPr txBox="1"/>
            <p:nvPr/>
          </p:nvSpPr>
          <p:spPr>
            <a:xfrm>
              <a:off x="4190506" y="5891297"/>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81" name="Rectangle 59"/>
            <p:cNvSpPr/>
            <p:nvPr/>
          </p:nvSpPr>
          <p:spPr>
            <a:xfrm>
              <a:off x="4300234" y="6092465"/>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82" name="Rectangle 60"/>
            <p:cNvSpPr/>
            <p:nvPr/>
          </p:nvSpPr>
          <p:spPr>
            <a:xfrm>
              <a:off x="4300234" y="6330209"/>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p:nvPr/>
          </p:nvCxnSpPr>
          <p:spPr>
            <a:xfrm>
              <a:off x="5644402" y="6321065"/>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731270" y="62524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385" name="Connector 63"/>
            <p:cNvCxnSpPr/>
            <p:nvPr/>
          </p:nvCxnSpPr>
          <p:spPr>
            <a:xfrm>
              <a:off x="5342650" y="4519697"/>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429518" y="5155205"/>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7" name="Connector 65"/>
            <p:cNvCxnSpPr/>
            <p:nvPr/>
          </p:nvCxnSpPr>
          <p:spPr>
            <a:xfrm flipH="1">
              <a:off x="4117354" y="6202193"/>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88" name="Connector 66"/>
            <p:cNvCxnSpPr/>
            <p:nvPr/>
          </p:nvCxnSpPr>
          <p:spPr>
            <a:xfrm flipV="1">
              <a:off x="4117354" y="5452385"/>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875038" y="57952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390" name="Rectangle 68"/>
            <p:cNvSpPr/>
            <p:nvPr/>
          </p:nvSpPr>
          <p:spPr>
            <a:xfrm>
              <a:off x="2178826" y="5982737"/>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391" name="Connector 69"/>
            <p:cNvCxnSpPr/>
            <p:nvPr/>
          </p:nvCxnSpPr>
          <p:spPr>
            <a:xfrm flipV="1">
              <a:off x="2855482" y="5616977"/>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112" name="그룹 111"/>
          <p:cNvGrpSpPr/>
          <p:nvPr/>
        </p:nvGrpSpPr>
        <p:grpSpPr>
          <a:xfrm>
            <a:off x="311665" y="3341561"/>
            <a:ext cx="768096" cy="1115568"/>
            <a:chOff x="292545" y="3435232"/>
            <a:chExt cx="768096" cy="1115568"/>
          </a:xfrm>
        </p:grpSpPr>
        <p:sp>
          <p:nvSpPr>
            <p:cNvPr id="113"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14" name="TextBox 113"/>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115"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116"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117"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118"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Tree>
    <p:extLst>
      <p:ext uri="{BB962C8B-B14F-4D97-AF65-F5344CB8AC3E}">
        <p14:creationId xmlns:p14="http://schemas.microsoft.com/office/powerpoint/2010/main" val="173249566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1335358880"/>
              </p:ext>
            </p:extLst>
          </p:nvPr>
        </p:nvGraphicFramePr>
        <p:xfrm>
          <a:off x="304992" y="1061955"/>
          <a:ext cx="11759184" cy="533151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2953438935"/>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(Plan + Decision</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동시 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(Plan, Decision </a:t>
                      </a:r>
                      <a:r>
                        <a:rPr lang="ko-KR" altLang="en-US" sz="1050" b="1" kern="1200" baseline="0" dirty="0">
                          <a:solidFill>
                            <a:schemeClr val="bg1">
                              <a:lumMod val="50000"/>
                            </a:schemeClr>
                          </a:solidFill>
                          <a:latin typeface="+mn-lt"/>
                          <a:ea typeface="+mn-ea"/>
                          <a:cs typeface="+mn-cs"/>
                        </a:rPr>
                        <a:t>분리 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실시간 부하</a:t>
                      </a:r>
                      <a:r>
                        <a:rPr lang="en-US" altLang="ko-KR" sz="1200" strike="noStrike" dirty="0">
                          <a:solidFill>
                            <a:schemeClr val="tx1"/>
                          </a:solidFill>
                          <a:effectLst/>
                          <a:latin typeface="맑은 고딕" panose="020B0503020000020004" pitchFamily="50" charset="-127"/>
                          <a:ea typeface="+mn-ea"/>
                        </a:rPr>
                        <a:t>∙</a:t>
                      </a:r>
                      <a:r>
                        <a:rPr lang="ko-KR" altLang="en-US" sz="1200" strike="noStrike" kern="1200" baseline="0" dirty="0">
                          <a:solidFill>
                            <a:schemeClr val="tx1"/>
                          </a:solidFill>
                          <a:effectLst/>
                          <a:latin typeface="+mn-lt"/>
                          <a:ea typeface="+mn-ea"/>
                          <a:cs typeface="+mn-cs"/>
                        </a:rPr>
                        <a:t>리소스 상태를 반영하여 메모리 압력에 대응하기 유리 </a:t>
                      </a:r>
                      <a:r>
                        <a:rPr lang="en-US" altLang="ko-KR" sz="1200" strike="noStrike" kern="1200" baseline="0" dirty="0">
                          <a:solidFill>
                            <a:schemeClr val="tx1"/>
                          </a:solidFill>
                          <a:effectLst/>
                          <a:latin typeface="+mn-lt"/>
                          <a:ea typeface="+mn-ea"/>
                          <a:cs typeface="+mn-cs"/>
                        </a:rPr>
                        <a:t>(QA2)</a:t>
                      </a:r>
                      <a:endParaRPr lang="ko-KR" altLang="en-US"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계획 확정 후 즉시 실행하여</a:t>
                      </a:r>
                      <a:r>
                        <a:rPr lang="en-US" altLang="ko-KR" sz="1200" strike="noStrike" kern="1200" baseline="0" dirty="0">
                          <a:solidFill>
                            <a:schemeClr val="tx1"/>
                          </a:solidFill>
                          <a:effectLst/>
                          <a:latin typeface="+mn-lt"/>
                          <a:ea typeface="+mn-ea"/>
                          <a:cs typeface="+mn-cs"/>
                        </a:rPr>
                        <a:t> tail latency </a:t>
                      </a:r>
                      <a:r>
                        <a:rPr lang="ko-KR" altLang="en-US" sz="1200" strike="noStrike" kern="1200" baseline="0" dirty="0">
                          <a:solidFill>
                            <a:schemeClr val="tx1"/>
                          </a:solidFill>
                          <a:effectLst/>
                          <a:latin typeface="+mn-lt"/>
                          <a:ea typeface="+mn-ea"/>
                          <a:cs typeface="+mn-cs"/>
                        </a:rPr>
                        <a:t>완화 </a:t>
                      </a:r>
                      <a:r>
                        <a:rPr lang="en-US" altLang="ko-KR" sz="1200" strike="noStrike" kern="1200" baseline="0" dirty="0">
                          <a:solidFill>
                            <a:schemeClr val="tx1"/>
                          </a:solidFill>
                          <a:effectLst/>
                          <a:latin typeface="+mn-lt"/>
                          <a:ea typeface="+mn-ea"/>
                          <a:cs typeface="+mn-cs"/>
                        </a:rPr>
                        <a:t>(QA1)</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Cost </a:t>
                      </a:r>
                      <a:r>
                        <a:rPr lang="ko-KR" altLang="en-US" sz="1200" strike="noStrike" dirty="0">
                          <a:solidFill>
                            <a:schemeClr val="tx1"/>
                          </a:solidFill>
                          <a:effectLst/>
                        </a:rPr>
                        <a:t>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분리하여 </a:t>
                      </a:r>
                      <a:r>
                        <a:rPr lang="en-US" altLang="ko-KR" sz="1200" strike="noStrike" dirty="0">
                          <a:solidFill>
                            <a:schemeClr val="tx1"/>
                          </a:solidFill>
                          <a:effectLst/>
                        </a:rPr>
                        <a:t>decision latency </a:t>
                      </a:r>
                      <a:r>
                        <a:rPr lang="ko-KR" altLang="en-US" sz="1200" strike="noStrike" dirty="0">
                          <a:solidFill>
                            <a:schemeClr val="tx1"/>
                          </a:solidFill>
                          <a:effectLst/>
                        </a:rPr>
                        <a:t>절감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요청</a:t>
                      </a:r>
                      <a:r>
                        <a:rPr lang="en-US" altLang="ko-KR" sz="1200" strike="noStrike" dirty="0">
                          <a:solidFill>
                            <a:schemeClr val="tx1"/>
                          </a:solidFill>
                          <a:effectLst/>
                          <a:latin typeface="맑은 고딕" panose="020B0503020000020004" pitchFamily="50" charset="-127"/>
                          <a:ea typeface="맑은 고딕" panose="020B0503020000020004" pitchFamily="50" charset="-127"/>
                        </a:rPr>
                        <a:t>∙</a:t>
                      </a:r>
                      <a:r>
                        <a:rPr lang="ko-KR" altLang="en-US" sz="1200" strike="noStrike" dirty="0">
                          <a:solidFill>
                            <a:schemeClr val="tx1"/>
                          </a:solidFill>
                          <a:effectLst/>
                        </a:rPr>
                        <a:t>연산 자원 증가 시 계획 </a:t>
                      </a:r>
                      <a:r>
                        <a:rPr lang="en-US" altLang="ko-KR" sz="1200" strike="noStrike" dirty="0">
                          <a:solidFill>
                            <a:schemeClr val="tx1"/>
                          </a:solidFill>
                          <a:effectLst/>
                        </a:rPr>
                        <a:t>worker, batch evaluation </a:t>
                      </a:r>
                      <a:r>
                        <a:rPr lang="ko-KR" altLang="en-US" sz="1200" strike="noStrike" dirty="0">
                          <a:solidFill>
                            <a:schemeClr val="tx1"/>
                          </a:solidFill>
                          <a:effectLst/>
                        </a:rPr>
                        <a:t>등으로 계획 연산 컴포넌트를 독립 확장 가능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Cost </a:t>
                      </a:r>
                      <a:r>
                        <a:rPr lang="ko-KR" altLang="en-US" sz="1200" strike="noStrike" baseline="0" dirty="0">
                          <a:solidFill>
                            <a:schemeClr val="tx1"/>
                          </a:solidFill>
                          <a:effectLst/>
                        </a:rPr>
                        <a:t>계산으로 인한 </a:t>
                      </a:r>
                      <a:r>
                        <a:rPr lang="en-US" altLang="ko-KR" sz="1200" strike="noStrike" baseline="0" dirty="0">
                          <a:solidFill>
                            <a:schemeClr val="tx1"/>
                          </a:solidFill>
                          <a:effectLst/>
                        </a:rPr>
                        <a:t>decision latency</a:t>
                      </a:r>
                      <a:r>
                        <a:rPr lang="ko-KR" altLang="en-US" sz="1200" strike="noStrike" baseline="0" dirty="0">
                          <a:solidFill>
                            <a:schemeClr val="tx1"/>
                          </a:solidFill>
                          <a:effectLst/>
                        </a:rPr>
                        <a:t>가 </a:t>
                      </a:r>
                      <a:r>
                        <a:rPr lang="en-US" altLang="ko-KR" sz="1200" strike="noStrike" baseline="0" dirty="0">
                          <a:solidFill>
                            <a:schemeClr val="tx1"/>
                          </a:solidFill>
                          <a:effectLst/>
                        </a:rPr>
                        <a:t>critical path</a:t>
                      </a:r>
                      <a:r>
                        <a:rPr lang="ko-KR" altLang="en-US" sz="1200" strike="noStrike" baseline="0" dirty="0">
                          <a:solidFill>
                            <a:schemeClr val="tx1"/>
                          </a:solidFill>
                          <a:effectLst/>
                        </a:rPr>
                        <a:t>에 포함 </a:t>
                      </a:r>
                      <a:r>
                        <a:rPr lang="en-US" altLang="ko-KR" sz="1200" strike="noStrike" baseline="0"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자원 종류와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스케줄링 병목 위험 </a:t>
                      </a:r>
                      <a:r>
                        <a:rPr lang="en-US" altLang="ko-KR" sz="1200" strike="noStrike" baseline="0"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대규모 고부하 시 계획·실행 상태 Mismatch로 Re-plan 발생 높음 </a:t>
                      </a:r>
                      <a:r>
                        <a:rPr lang="en-US" altLang="ko-KR" sz="1200" strike="noStrike" baseline="0" dirty="0">
                          <a:solidFill>
                            <a:schemeClr val="tx1"/>
                          </a:solidFill>
                          <a:effectLst/>
                        </a:rPr>
                        <a:t>(QA1)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a:t>
                      </a:r>
                      <a:r>
                        <a:rPr lang="en-US" altLang="ko-KR" sz="1200" b="0" strike="noStrike" baseline="0" dirty="0">
                          <a:solidFill>
                            <a:schemeClr val="tx1"/>
                          </a:solidFill>
                        </a:rPr>
                        <a:t> </a:t>
                      </a:r>
                      <a:r>
                        <a:rPr lang="en-US" altLang="ko-KR" sz="1200" b="0" strike="noStrike" dirty="0">
                          <a:solidFill>
                            <a:schemeClr val="tx1"/>
                          </a:solidFill>
                        </a:rPr>
                        <a:t>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 </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rgbClr val="0070C0"/>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r>
                        <a:rPr lang="ko-KR" altLang="en-US" sz="1200" b="0" dirty="0">
                          <a:solidFill>
                            <a:srgbClr val="1A1A1A"/>
                          </a:solidFill>
                          <a:latin typeface="+mn-lt"/>
                          <a:ea typeface="맑은 고딕"/>
                        </a:rPr>
                        <a:t>☆</a:t>
                      </a:r>
                      <a:r>
                        <a:rPr lang="ko-KR" altLang="en-US" sz="1200" b="0" dirty="0">
                          <a:solidFill>
                            <a:schemeClr val="tx1"/>
                          </a:solidFill>
                          <a:latin typeface="+mn-lt"/>
                          <a:ea typeface="맑은 고딕"/>
                        </a:rPr>
                        <a:t> </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strike="noStrike" dirty="0">
                        <a:solidFill>
                          <a:schemeClr val="accent5"/>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193</a:t>
            </a:fld>
            <a:endParaRPr lang="ko-KR" altLang="en-US" dirty="0"/>
          </a:p>
        </p:txBody>
      </p:sp>
      <p:sp>
        <p:nvSpPr>
          <p:cNvPr id="3" name="제목 2"/>
          <p:cNvSpPr>
            <a:spLocks noGrp="1"/>
          </p:cNvSpPr>
          <p:nvPr>
            <p:ph type="title"/>
          </p:nvPr>
        </p:nvSpPr>
        <p:spPr/>
        <p:txBody>
          <a:bodyPr/>
          <a:lstStyle/>
          <a:p>
            <a:r>
              <a:rPr lang="en-US" altLang="ko-KR" dirty="0"/>
              <a:t>DP2. </a:t>
            </a:r>
            <a:r>
              <a:rPr lang="ko-KR" altLang="en-US" dirty="0"/>
              <a:t>연산</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후보</a:t>
            </a:r>
            <a:r>
              <a:rPr lang="en-US" altLang="ko-KR" sz="1400" b="1" dirty="0">
                <a:solidFill>
                  <a:schemeClr val="bg1"/>
                </a:solidFill>
              </a:rPr>
              <a:t> </a:t>
            </a:r>
            <a:r>
              <a:rPr lang="ko-KR" altLang="en-US" sz="1400" b="1" dirty="0">
                <a:solidFill>
                  <a:schemeClr val="bg1"/>
                </a:solidFill>
              </a:rPr>
              <a:t>조합에 대해 Cost를 계산하고 연산 실행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62983"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연산 실행 위치 결정 </a:t>
            </a:r>
            <a:r>
              <a:rPr lang="en-US" altLang="ko-KR" sz="1100" dirty="0"/>
              <a:t>“</a:t>
            </a:r>
          </a:p>
        </p:txBody>
      </p:sp>
      <p:sp>
        <p:nvSpPr>
          <p:cNvPr id="106" name="TextBox 105"/>
          <p:cNvSpPr txBox="1"/>
          <p:nvPr/>
        </p:nvSpPr>
        <p:spPr>
          <a:xfrm>
            <a:off x="6657051" y="1383052"/>
            <a:ext cx="4953001" cy="261610"/>
          </a:xfrm>
          <a:prstGeom prst="rect">
            <a:avLst/>
          </a:prstGeom>
          <a:noFill/>
        </p:spPr>
        <p:txBody>
          <a:bodyPr wrap="square" rtlCol="0">
            <a:spAutoFit/>
          </a:bodyPr>
          <a:lstStyle/>
          <a:p>
            <a:r>
              <a:rPr lang="en-US" altLang="ko-KR" sz="1100" dirty="0"/>
              <a:t>“</a:t>
            </a:r>
            <a:r>
              <a:rPr lang="ko-KR" altLang="en-US" sz="1100" dirty="0"/>
              <a:t>스케줄링 시점과 연산 실행 시점을 분리</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sp>
        <p:nvSpPr>
          <p:cNvPr id="112" name="Shape 31">
            <a:extLst>
              <a:ext uri="{FF2B5EF4-FFF2-40B4-BE49-F238E27FC236}">
                <a16:creationId xmlns:a16="http://schemas.microsoft.com/office/drawing/2014/main" id="{823D7D32-6771-4AA4-9581-77C6BEA03C53}"/>
              </a:ext>
            </a:extLst>
          </p:cNvPr>
          <p:cNvSpPr/>
          <p:nvPr/>
        </p:nvSpPr>
        <p:spPr>
          <a:xfrm>
            <a:off x="2862635" y="1853692"/>
            <a:ext cx="1411795" cy="292607"/>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44" idx="0"/>
          </p:cNvCxnSpPr>
          <p:nvPr/>
        </p:nvCxnSpPr>
        <p:spPr>
          <a:xfrm>
            <a:off x="3568533" y="2146299"/>
            <a:ext cx="1889" cy="289506"/>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2394012"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25" name="Shape 31">
            <a:extLst>
              <a:ext uri="{FF2B5EF4-FFF2-40B4-BE49-F238E27FC236}">
                <a16:creationId xmlns:a16="http://schemas.microsoft.com/office/drawing/2014/main" id="{823D7D32-6771-4AA4-9581-77C6BEA03C53}"/>
              </a:ext>
            </a:extLst>
          </p:cNvPr>
          <p:cNvSpPr/>
          <p:nvPr/>
        </p:nvSpPr>
        <p:spPr>
          <a:xfrm>
            <a:off x="1434016"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26" name="Shape 31">
            <a:extLst>
              <a:ext uri="{FF2B5EF4-FFF2-40B4-BE49-F238E27FC236}">
                <a16:creationId xmlns:a16="http://schemas.microsoft.com/office/drawing/2014/main" id="{823D7D32-6771-4AA4-9581-77C6BEA03C53}"/>
              </a:ext>
            </a:extLst>
          </p:cNvPr>
          <p:cNvSpPr/>
          <p:nvPr/>
        </p:nvSpPr>
        <p:spPr>
          <a:xfrm>
            <a:off x="3337592" y="4212297"/>
            <a:ext cx="875450"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51" idx="2"/>
            <a:endCxn id="125" idx="0"/>
          </p:cNvCxnSpPr>
          <p:nvPr/>
        </p:nvCxnSpPr>
        <p:spPr>
          <a:xfrm rot="5400000">
            <a:off x="2567161" y="3209036"/>
            <a:ext cx="268048" cy="1738474"/>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51" idx="2"/>
            <a:endCxn id="126" idx="0"/>
          </p:cNvCxnSpPr>
          <p:nvPr/>
        </p:nvCxnSpPr>
        <p:spPr>
          <a:xfrm rot="16200000" flipH="1">
            <a:off x="3538845" y="3975825"/>
            <a:ext cx="268048" cy="204895"/>
          </a:xfrm>
          <a:prstGeom prst="bentConnector3">
            <a:avLst>
              <a:gd name="adj1" fmla="val 50000"/>
            </a:avLst>
          </a:prstGeom>
          <a:noFill/>
          <a:ln w="11430">
            <a:solidFill>
              <a:srgbClr val="888C91"/>
            </a:solidFill>
            <a:prstDash val="solid"/>
            <a:headEnd type="none"/>
            <a:tailEnd type="triangle"/>
          </a:ln>
        </p:spPr>
      </p:cxnSp>
      <p:sp>
        <p:nvSpPr>
          <p:cNvPr id="77" name="TextBox 76"/>
          <p:cNvSpPr txBox="1"/>
          <p:nvPr/>
        </p:nvSpPr>
        <p:spPr>
          <a:xfrm>
            <a:off x="4482797" y="3231336"/>
            <a:ext cx="1600000" cy="276999"/>
          </a:xfrm>
          <a:prstGeom prst="rect">
            <a:avLst/>
          </a:prstGeom>
          <a:noFill/>
        </p:spPr>
        <p:txBody>
          <a:bodyPr wrap="square" lIns="0" tIns="0" rIns="0" bIns="0" anchor="ctr">
            <a:spAutoFit/>
          </a:bodyPr>
          <a:lstStyle/>
          <a:p>
            <a:pPr algn="l">
              <a:lnSpc>
                <a:spcPct val="100000"/>
              </a:lnSpc>
            </a:pPr>
            <a:r>
              <a:rPr lang="en-US" altLang="ko-KR" sz="900" b="0" i="0" dirty="0">
                <a:solidFill>
                  <a:srgbClr val="808080"/>
                </a:solidFill>
                <a:latin typeface="맑은 고딕"/>
                <a:ea typeface="맑은 고딕"/>
              </a:rPr>
              <a:t>Cost </a:t>
            </a:r>
            <a:r>
              <a:rPr lang="ko-KR" altLang="en-US" sz="900" b="0" i="0" dirty="0">
                <a:solidFill>
                  <a:srgbClr val="808080"/>
                </a:solidFill>
                <a:latin typeface="맑은 고딕"/>
                <a:ea typeface="맑은 고딕"/>
              </a:rPr>
              <a:t>계산이</a:t>
            </a:r>
          </a:p>
          <a:p>
            <a:pPr algn="l">
              <a:lnSpc>
                <a:spcPct val="100000"/>
              </a:lnSpc>
            </a:pPr>
            <a:r>
              <a:rPr lang="en-US" altLang="ko-KR" sz="900" b="0" i="0" dirty="0">
                <a:solidFill>
                  <a:srgbClr val="808080"/>
                </a:solidFill>
                <a:latin typeface="맑은 고딕"/>
                <a:ea typeface="맑은 고딕"/>
              </a:rPr>
              <a:t>critical path  </a:t>
            </a:r>
            <a:r>
              <a:rPr lang="ko-KR" altLang="en-US" sz="900" b="0" i="0" dirty="0">
                <a:solidFill>
                  <a:srgbClr val="808080"/>
                </a:solidFill>
                <a:latin typeface="맑은 고딕"/>
                <a:ea typeface="맑은 고딕"/>
              </a:rPr>
              <a:t>내부</a:t>
            </a:r>
          </a:p>
        </p:txBody>
      </p:sp>
      <p:sp>
        <p:nvSpPr>
          <p:cNvPr id="87" name="TextBox 86">
            <a:extLst>
              <a:ext uri="{FF2B5EF4-FFF2-40B4-BE49-F238E27FC236}">
                <a16:creationId xmlns:a16="http://schemas.microsoft.com/office/drawing/2014/main" id="{E4B7B1EF-FC16-4E50-A15A-074EA647B636}"/>
              </a:ext>
            </a:extLst>
          </p:cNvPr>
          <p:cNvSpPr txBox="1"/>
          <p:nvPr/>
        </p:nvSpPr>
        <p:spPr>
          <a:xfrm>
            <a:off x="5939696" y="6140878"/>
            <a:ext cx="631904" cy="276999"/>
          </a:xfrm>
          <a:prstGeom prst="rect">
            <a:avLst/>
          </a:prstGeom>
          <a:noFill/>
        </p:spPr>
        <p:txBody>
          <a:bodyPr wrap="none" rtlCol="0">
            <a:spAutoFit/>
          </a:bodyPr>
          <a:lstStyle/>
          <a:p>
            <a:r>
              <a:rPr lang="ko-KR" altLang="en-US" sz="1200" dirty="0"/>
              <a:t>총</a:t>
            </a:r>
            <a:r>
              <a:rPr lang="en-US" altLang="ko-KR" sz="1200" dirty="0"/>
              <a:t> 8</a:t>
            </a:r>
            <a:r>
              <a:rPr lang="ko-KR" altLang="en-US" sz="1200" dirty="0"/>
              <a:t>점</a:t>
            </a:r>
          </a:p>
        </p:txBody>
      </p:sp>
      <p:sp>
        <p:nvSpPr>
          <p:cNvPr id="88" name="TextBox 87">
            <a:extLst>
              <a:ext uri="{FF2B5EF4-FFF2-40B4-BE49-F238E27FC236}">
                <a16:creationId xmlns:a16="http://schemas.microsoft.com/office/drawing/2014/main" id="{44A952AB-42E1-41D1-AF63-055E8135DA99}"/>
              </a:ext>
            </a:extLst>
          </p:cNvPr>
          <p:cNvSpPr txBox="1"/>
          <p:nvPr/>
        </p:nvSpPr>
        <p:spPr>
          <a:xfrm>
            <a:off x="11383409" y="6148299"/>
            <a:ext cx="631904" cy="276999"/>
          </a:xfrm>
          <a:prstGeom prst="rect">
            <a:avLst/>
          </a:prstGeom>
          <a:noFill/>
        </p:spPr>
        <p:txBody>
          <a:bodyPr wrap="none" rtlCol="0">
            <a:spAutoFit/>
          </a:bodyPr>
          <a:lstStyle/>
          <a:p>
            <a:r>
              <a:rPr lang="ko-KR" altLang="en-US" sz="1200" dirty="0"/>
              <a:t>총</a:t>
            </a:r>
            <a:r>
              <a:rPr lang="en-US" altLang="ko-KR" sz="1200" dirty="0"/>
              <a:t> 8</a:t>
            </a:r>
            <a:r>
              <a:rPr lang="ko-KR" altLang="en-US" sz="1200" dirty="0"/>
              <a:t>점</a:t>
            </a:r>
          </a:p>
        </p:txBody>
      </p:sp>
      <p:sp>
        <p:nvSpPr>
          <p:cNvPr id="93" name="모서리가 둥근 직사각형 37">
            <a:extLst>
              <a:ext uri="{FF2B5EF4-FFF2-40B4-BE49-F238E27FC236}">
                <a16:creationId xmlns:a16="http://schemas.microsoft.com/office/drawing/2014/main" id="{E99FD0CC-4F44-40AB-8E8E-E5E878FDD956}"/>
              </a:ext>
            </a:extLst>
          </p:cNvPr>
          <p:cNvSpPr/>
          <p:nvPr/>
        </p:nvSpPr>
        <p:spPr>
          <a:xfrm>
            <a:off x="9402862"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6" name="모서리가 둥근 직사각형 37">
            <a:extLst>
              <a:ext uri="{FF2B5EF4-FFF2-40B4-BE49-F238E27FC236}">
                <a16:creationId xmlns:a16="http://schemas.microsoft.com/office/drawing/2014/main" id="{63E127C8-1374-4049-8A7A-84E9B191F365}"/>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02" name="모서리가 둥근 직사각형 37">
            <a:extLst>
              <a:ext uri="{FF2B5EF4-FFF2-40B4-BE49-F238E27FC236}">
                <a16:creationId xmlns:a16="http://schemas.microsoft.com/office/drawing/2014/main" id="{8B476E63-C72E-465A-98C8-0CB6FC0C7249}"/>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07" name="실행 단추: 앞으로 또는 다음 106">
            <a:hlinkClick r:id="" action="ppaction://noaction"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실행 단추: 앞으로 또는 다음 107">
            <a:hlinkClick r:id="" action="ppaction://noaction"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실행 단추: 앞으로 또는 다음으로 이동 3">
            <a:hlinkClick r:id="" action="ppaction://noaction" highlightClick="1"/>
            <a:extLst>
              <a:ext uri="{FF2B5EF4-FFF2-40B4-BE49-F238E27FC236}">
                <a16:creationId xmlns:a16="http://schemas.microsoft.com/office/drawing/2014/main" id="{D45EE784-4191-4924-833C-F4E4E1D195A6}"/>
              </a:ext>
            </a:extLst>
          </p:cNvPr>
          <p:cNvSpPr/>
          <p:nvPr/>
        </p:nvSpPr>
        <p:spPr>
          <a:xfrm>
            <a:off x="595779" y="6308977"/>
            <a:ext cx="203053" cy="18023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모서리가 둥근 직사각형 91"/>
          <p:cNvSpPr/>
          <p:nvPr/>
        </p:nvSpPr>
        <p:spPr>
          <a:xfrm>
            <a:off x="8219233" y="617897"/>
            <a:ext cx="910691"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a:t>
            </a:r>
            <a:r>
              <a:rPr lang="ko-KR" altLang="en-US" sz="700" dirty="0">
                <a:latin typeface="맑은 고딕" panose="020B0503020000020004" pitchFamily="50" charset="-127"/>
              </a:rPr>
              <a:t>연산 스케줄링 </a:t>
            </a:r>
            <a:r>
              <a:rPr lang="en-US" altLang="ko-KR" sz="700" dirty="0">
                <a:latin typeface="맑은 고딕" panose="020B0503020000020004" pitchFamily="50" charset="-127"/>
                <a:ea typeface="맑은 고딕" panose="020B0503020000020004" pitchFamily="50" charset="-127"/>
              </a:rPr>
              <a:t> </a:t>
            </a:r>
            <a:endParaRPr lang="ko-KR" altLang="en-US" sz="700" dirty="0">
              <a:latin typeface="맑은 고딕" panose="020B0503020000020004" pitchFamily="50" charset="-127"/>
              <a:ea typeface="맑은 고딕" panose="020B0503020000020004" pitchFamily="50" charset="-127"/>
            </a:endParaRPr>
          </a:p>
        </p:txBody>
      </p:sp>
      <p:sp>
        <p:nvSpPr>
          <p:cNvPr id="104" name="모서리가 둥근 직사각형 37">
            <a:extLst>
              <a:ext uri="{FF2B5EF4-FFF2-40B4-BE49-F238E27FC236}">
                <a16:creationId xmlns:a16="http://schemas.microsoft.com/office/drawing/2014/main" id="{824F5705-7E02-467A-970F-D2A9FCD95DC7}"/>
              </a:ext>
            </a:extLst>
          </p:cNvPr>
          <p:cNvSpPr/>
          <p:nvPr/>
        </p:nvSpPr>
        <p:spPr>
          <a:xfrm>
            <a:off x="9158818" y="613581"/>
            <a:ext cx="1445623"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a:t>
            </a:r>
            <a:r>
              <a:rPr lang="ko-KR" altLang="en-US" sz="700" dirty="0">
                <a:solidFill>
                  <a:schemeClr val="bg1"/>
                </a:solidFill>
              </a:rPr>
              <a:t>연산 가능 메모리 내 연산 </a:t>
            </a:r>
          </a:p>
        </p:txBody>
      </p:sp>
      <p:sp>
        <p:nvSpPr>
          <p:cNvPr id="105" name="모서리가 둥근 직사각형 104"/>
          <p:cNvSpPr/>
          <p:nvPr/>
        </p:nvSpPr>
        <p:spPr>
          <a:xfrm>
            <a:off x="10631065" y="617897"/>
            <a:ext cx="1270502"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F6 </a:t>
            </a:r>
            <a:r>
              <a:rPr lang="en-US" altLang="ko-KR" sz="700" dirty="0">
                <a:latin typeface="맑은 고딕" panose="020B0503020000020004" pitchFamily="50" charset="-127"/>
              </a:rPr>
              <a:t>Cluster-level </a:t>
            </a:r>
            <a:r>
              <a:rPr lang="ko-KR" altLang="en-US" sz="700" dirty="0">
                <a:latin typeface="맑은 고딕" panose="020B0503020000020004" pitchFamily="50" charset="-127"/>
              </a:rPr>
              <a:t>스케줄링 </a:t>
            </a:r>
            <a:endParaRPr lang="ko-KR" altLang="en-US" sz="700" dirty="0">
              <a:latin typeface="맑은 고딕" panose="020B0503020000020004" pitchFamily="50" charset="-127"/>
              <a:ea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E7AAD68F-2BF6-4FC0-BCD3-2F6C449ECDD6}"/>
              </a:ext>
            </a:extLst>
          </p:cNvPr>
          <p:cNvSpPr/>
          <p:nvPr/>
        </p:nvSpPr>
        <p:spPr>
          <a:xfrm>
            <a:off x="7876434" y="802275"/>
            <a:ext cx="1383367"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Rack </a:t>
            </a:r>
            <a:r>
              <a:rPr lang="ko-KR" altLang="en-US" sz="700" dirty="0">
                <a:latin typeface="맑은 고딕" panose="020B0503020000020004" pitchFamily="50" charset="-127"/>
              </a:rPr>
              <a:t>스케일 시스템 상한</a:t>
            </a:r>
          </a:p>
        </p:txBody>
      </p:sp>
      <p:sp>
        <p:nvSpPr>
          <p:cNvPr id="136" name="Shape 37">
            <a:extLst>
              <a:ext uri="{FF2B5EF4-FFF2-40B4-BE49-F238E27FC236}">
                <a16:creationId xmlns:a16="http://schemas.microsoft.com/office/drawing/2014/main" id="{7F2072DD-19B6-48CA-BD3D-876E8DDC9C60}"/>
              </a:ext>
            </a:extLst>
          </p:cNvPr>
          <p:cNvSpPr/>
          <p:nvPr/>
        </p:nvSpPr>
        <p:spPr>
          <a:xfrm>
            <a:off x="4737207" y="2129473"/>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43" name="직선 화살표 연결선 185">
            <a:extLst>
              <a:ext uri="{FF2B5EF4-FFF2-40B4-BE49-F238E27FC236}">
                <a16:creationId xmlns:a16="http://schemas.microsoft.com/office/drawing/2014/main" id="{BA0CBBE8-3F10-4B7D-B934-710047CDD61C}"/>
              </a:ext>
            </a:extLst>
          </p:cNvPr>
          <p:cNvCxnSpPr>
            <a:cxnSpLocks/>
            <a:stCxn id="144" idx="3"/>
            <a:endCxn id="136" idx="1"/>
          </p:cNvCxnSpPr>
          <p:nvPr/>
        </p:nvCxnSpPr>
        <p:spPr>
          <a:xfrm flipV="1">
            <a:off x="4324906" y="2292936"/>
            <a:ext cx="412301" cy="322679"/>
          </a:xfrm>
          <a:prstGeom prst="bentConnector3">
            <a:avLst>
              <a:gd name="adj1" fmla="val 50000"/>
            </a:avLst>
          </a:prstGeom>
          <a:noFill/>
          <a:ln w="9525">
            <a:solidFill>
              <a:schemeClr val="tx1"/>
            </a:solidFill>
            <a:prstDash val="solid"/>
            <a:headEnd type="none" w="med" len="med"/>
            <a:tailEnd type="triangle" w="med" len="med"/>
          </a:ln>
        </p:spPr>
      </p:cxnSp>
      <p:sp>
        <p:nvSpPr>
          <p:cNvPr id="144" name="Shape 37">
            <a:extLst>
              <a:ext uri="{FF2B5EF4-FFF2-40B4-BE49-F238E27FC236}">
                <a16:creationId xmlns:a16="http://schemas.microsoft.com/office/drawing/2014/main" id="{70E92FE8-4878-4154-BB88-F90E93B7B850}"/>
              </a:ext>
            </a:extLst>
          </p:cNvPr>
          <p:cNvSpPr/>
          <p:nvPr/>
        </p:nvSpPr>
        <p:spPr>
          <a:xfrm>
            <a:off x="2815938" y="2435805"/>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a:t>
            </a:r>
          </a:p>
          <a:p>
            <a:pPr algn="ctr"/>
            <a:r>
              <a:rPr lang="en-US" altLang="ko-KR" sz="900" b="1" dirty="0">
                <a:solidFill>
                  <a:srgbClr val="FF0000"/>
                </a:solidFill>
              </a:rPr>
              <a:t>(Plan)</a:t>
            </a:r>
          </a:p>
        </p:txBody>
      </p:sp>
      <p:sp>
        <p:nvSpPr>
          <p:cNvPr id="145" name="Shape 37">
            <a:extLst>
              <a:ext uri="{FF2B5EF4-FFF2-40B4-BE49-F238E27FC236}">
                <a16:creationId xmlns:a16="http://schemas.microsoft.com/office/drawing/2014/main" id="{7EA846FB-2BF9-4A17-B933-665E6BCC5A1E}"/>
              </a:ext>
            </a:extLst>
          </p:cNvPr>
          <p:cNvSpPr/>
          <p:nvPr/>
        </p:nvSpPr>
        <p:spPr>
          <a:xfrm>
            <a:off x="4737207" y="2582530"/>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a:solidFill>
                  <a:srgbClr val="1A1A1A"/>
                </a:solidFill>
                <a:latin typeface="Malgun Gothic" pitchFamily="34" charset="0"/>
                <a:ea typeface="Malgun Gothic" pitchFamily="34" charset="-122"/>
                <a:cs typeface="Malgun Gothic" pitchFamily="34" charset="-120"/>
              </a:rPr>
              <a:t>Resource State</a:t>
            </a:r>
          </a:p>
          <a:p>
            <a:pPr algn="ctr"/>
            <a:r>
              <a:rPr lang="en-US" altLang="ko-KR" sz="1000">
                <a:solidFill>
                  <a:srgbClr val="1A1A1A"/>
                </a:solidFill>
                <a:latin typeface="Malgun Gothic" pitchFamily="34" charset="0"/>
                <a:ea typeface="Malgun Gothic" pitchFamily="34" charset="-122"/>
                <a:cs typeface="Malgun Gothic" pitchFamily="34" charset="-120"/>
              </a:rPr>
              <a:t>Monitor</a:t>
            </a:r>
            <a:endParaRPr lang="en-US" altLang="ko-KR" sz="1000" dirty="0">
              <a:solidFill>
                <a:srgbClr val="1A1A1A"/>
              </a:solidFill>
              <a:latin typeface="Malgun Gothic" pitchFamily="34" charset="0"/>
              <a:ea typeface="Malgun Gothic" pitchFamily="34" charset="-122"/>
              <a:cs typeface="Malgun Gothic" pitchFamily="34" charset="-120"/>
            </a:endParaRPr>
          </a:p>
        </p:txBody>
      </p:sp>
      <p:cxnSp>
        <p:nvCxnSpPr>
          <p:cNvPr id="146" name="직선 화살표 연결선 185">
            <a:extLst>
              <a:ext uri="{FF2B5EF4-FFF2-40B4-BE49-F238E27FC236}">
                <a16:creationId xmlns:a16="http://schemas.microsoft.com/office/drawing/2014/main" id="{866738E6-B5E2-485B-BCC3-7AB7D686059C}"/>
              </a:ext>
            </a:extLst>
          </p:cNvPr>
          <p:cNvCxnSpPr>
            <a:cxnSpLocks/>
            <a:stCxn id="144" idx="3"/>
            <a:endCxn id="145" idx="1"/>
          </p:cNvCxnSpPr>
          <p:nvPr/>
        </p:nvCxnSpPr>
        <p:spPr>
          <a:xfrm>
            <a:off x="4324906" y="2615615"/>
            <a:ext cx="412301" cy="130378"/>
          </a:xfrm>
          <a:prstGeom prst="bentConnector3">
            <a:avLst>
              <a:gd name="adj1" fmla="val 50000"/>
            </a:avLst>
          </a:prstGeom>
          <a:noFill/>
          <a:ln w="9525">
            <a:solidFill>
              <a:schemeClr val="tx1"/>
            </a:solidFill>
            <a:prstDash val="solid"/>
            <a:headEnd type="none" w="med" len="med"/>
            <a:tailEnd type="triangle" w="med" len="med"/>
          </a:ln>
        </p:spPr>
      </p:cxnSp>
      <p:sp>
        <p:nvSpPr>
          <p:cNvPr id="149" name="Shape 37">
            <a:extLst>
              <a:ext uri="{FF2B5EF4-FFF2-40B4-BE49-F238E27FC236}">
                <a16:creationId xmlns:a16="http://schemas.microsoft.com/office/drawing/2014/main" id="{D29B8A49-AE77-46A5-BF3C-C5FFF88BE9D4}"/>
              </a:ext>
            </a:extLst>
          </p:cNvPr>
          <p:cNvSpPr/>
          <p:nvPr/>
        </p:nvSpPr>
        <p:spPr>
          <a:xfrm>
            <a:off x="2815938" y="3112583"/>
            <a:ext cx="1508968" cy="297205"/>
          </a:xfrm>
          <a:prstGeom prst="rect">
            <a:avLst/>
          </a:prstGeom>
          <a:solidFill>
            <a:srgbClr val="FFFFFF"/>
          </a:solidFill>
          <a:ln w="9525">
            <a:solidFill>
              <a:schemeClr val="tx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Cost Evaluator</a:t>
            </a:r>
            <a:endParaRPr lang="en-US" altLang="ko-KR" sz="1000" b="1" dirty="0">
              <a:solidFill>
                <a:srgbClr val="1A1A1A"/>
              </a:solidFill>
              <a:latin typeface="Malgun Gothic" pitchFamily="34" charset="0"/>
              <a:ea typeface="Malgun Gothic" pitchFamily="34" charset="-122"/>
            </a:endParaRPr>
          </a:p>
        </p:txBody>
      </p:sp>
      <p:cxnSp>
        <p:nvCxnSpPr>
          <p:cNvPr id="150" name="직선 화살표 연결선 185">
            <a:extLst>
              <a:ext uri="{FF2B5EF4-FFF2-40B4-BE49-F238E27FC236}">
                <a16:creationId xmlns:a16="http://schemas.microsoft.com/office/drawing/2014/main" id="{EFEBEDC4-80EE-4735-B71E-6C1DFDD6FCDC}"/>
              </a:ext>
            </a:extLst>
          </p:cNvPr>
          <p:cNvCxnSpPr>
            <a:cxnSpLocks/>
            <a:stCxn id="144" idx="2"/>
            <a:endCxn id="149" idx="0"/>
          </p:cNvCxnSpPr>
          <p:nvPr/>
        </p:nvCxnSpPr>
        <p:spPr>
          <a:xfrm>
            <a:off x="3570422" y="2795424"/>
            <a:ext cx="0" cy="317159"/>
          </a:xfrm>
          <a:prstGeom prst="straightConnector1">
            <a:avLst/>
          </a:prstGeom>
          <a:noFill/>
          <a:ln w="9525">
            <a:solidFill>
              <a:schemeClr val="tx1"/>
            </a:solidFill>
            <a:prstDash val="solid"/>
            <a:headEnd type="none" w="med" len="med"/>
            <a:tailEnd type="triangle" w="med" len="med"/>
          </a:ln>
        </p:spPr>
      </p:cxnSp>
      <p:sp>
        <p:nvSpPr>
          <p:cNvPr id="151" name="Shape 37">
            <a:extLst>
              <a:ext uri="{FF2B5EF4-FFF2-40B4-BE49-F238E27FC236}">
                <a16:creationId xmlns:a16="http://schemas.microsoft.com/office/drawing/2014/main" id="{1AFCAFB9-F8C0-41A8-8E3E-3B7ACC234BE6}"/>
              </a:ext>
            </a:extLst>
          </p:cNvPr>
          <p:cNvSpPr/>
          <p:nvPr/>
        </p:nvSpPr>
        <p:spPr>
          <a:xfrm>
            <a:off x="2815938" y="3584630"/>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algn="ctr"/>
            <a:r>
              <a:rPr lang="en-US" altLang="ko-KR" sz="900" b="1" dirty="0">
                <a:solidFill>
                  <a:srgbClr val="FF0000"/>
                </a:solidFill>
                <a:latin typeface="Malgun Gothic" pitchFamily="34" charset="0"/>
                <a:ea typeface="Malgun Gothic" pitchFamily="34" charset="-122"/>
              </a:rPr>
              <a:t>(Decision)</a:t>
            </a:r>
          </a:p>
        </p:txBody>
      </p:sp>
      <p:cxnSp>
        <p:nvCxnSpPr>
          <p:cNvPr id="152" name="직선 화살표 연결선 185">
            <a:extLst>
              <a:ext uri="{FF2B5EF4-FFF2-40B4-BE49-F238E27FC236}">
                <a16:creationId xmlns:a16="http://schemas.microsoft.com/office/drawing/2014/main" id="{A5D1AF10-B4E4-4F84-8D33-8BACD09A70C2}"/>
              </a:ext>
            </a:extLst>
          </p:cNvPr>
          <p:cNvCxnSpPr>
            <a:cxnSpLocks/>
            <a:stCxn id="149" idx="2"/>
            <a:endCxn id="151" idx="0"/>
          </p:cNvCxnSpPr>
          <p:nvPr/>
        </p:nvCxnSpPr>
        <p:spPr>
          <a:xfrm>
            <a:off x="3570422" y="3409788"/>
            <a:ext cx="0" cy="174842"/>
          </a:xfrm>
          <a:prstGeom prst="straightConnector1">
            <a:avLst/>
          </a:prstGeom>
          <a:noFill/>
          <a:ln w="11430">
            <a:solidFill>
              <a:srgbClr val="888C91"/>
            </a:solidFill>
            <a:prstDash val="solid"/>
            <a:headEnd type="none"/>
            <a:tailEnd type="triangle"/>
          </a:ln>
        </p:spPr>
      </p:cxnSp>
      <p:cxnSp>
        <p:nvCxnSpPr>
          <p:cNvPr id="153" name="직선 화살표 연결선 185">
            <a:extLst>
              <a:ext uri="{FF2B5EF4-FFF2-40B4-BE49-F238E27FC236}">
                <a16:creationId xmlns:a16="http://schemas.microsoft.com/office/drawing/2014/main" id="{667011A0-7D9C-4D04-BD0D-206D0F921C23}"/>
              </a:ext>
            </a:extLst>
          </p:cNvPr>
          <p:cNvCxnSpPr>
            <a:cxnSpLocks/>
            <a:stCxn id="151" idx="2"/>
            <a:endCxn id="124" idx="0"/>
          </p:cNvCxnSpPr>
          <p:nvPr/>
        </p:nvCxnSpPr>
        <p:spPr>
          <a:xfrm rot="5400000">
            <a:off x="3047159" y="3689034"/>
            <a:ext cx="268048" cy="778478"/>
          </a:xfrm>
          <a:prstGeom prst="bentConnector3">
            <a:avLst>
              <a:gd name="adj1" fmla="val 50000"/>
            </a:avLst>
          </a:prstGeom>
          <a:noFill/>
          <a:ln w="11430">
            <a:solidFill>
              <a:srgbClr val="888C91"/>
            </a:solidFill>
            <a:prstDash val="solid"/>
            <a:headEnd type="none"/>
            <a:tailEnd type="triangle"/>
          </a:ln>
        </p:spPr>
      </p:cxnSp>
      <p:sp>
        <p:nvSpPr>
          <p:cNvPr id="155" name="Shape 31">
            <a:extLst>
              <a:ext uri="{FF2B5EF4-FFF2-40B4-BE49-F238E27FC236}">
                <a16:creationId xmlns:a16="http://schemas.microsoft.com/office/drawing/2014/main" id="{C0494BB5-740B-474B-8EDE-7DEE62853B08}"/>
              </a:ext>
            </a:extLst>
          </p:cNvPr>
          <p:cNvSpPr/>
          <p:nvPr/>
        </p:nvSpPr>
        <p:spPr>
          <a:xfrm>
            <a:off x="4393753" y="4212297"/>
            <a:ext cx="87545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57" name="직선 화살표 연결선 185">
            <a:extLst>
              <a:ext uri="{FF2B5EF4-FFF2-40B4-BE49-F238E27FC236}">
                <a16:creationId xmlns:a16="http://schemas.microsoft.com/office/drawing/2014/main" id="{D2EDFE24-B445-4346-8805-83EFFC8CB053}"/>
              </a:ext>
            </a:extLst>
          </p:cNvPr>
          <p:cNvCxnSpPr>
            <a:cxnSpLocks/>
            <a:stCxn id="151" idx="2"/>
            <a:endCxn id="155" idx="0"/>
          </p:cNvCxnSpPr>
          <p:nvPr/>
        </p:nvCxnSpPr>
        <p:spPr>
          <a:xfrm rot="16200000" flipH="1">
            <a:off x="4066926" y="3447745"/>
            <a:ext cx="268048" cy="1261056"/>
          </a:xfrm>
          <a:prstGeom prst="bentConnector3">
            <a:avLst>
              <a:gd name="adj1" fmla="val 50000"/>
            </a:avLst>
          </a:prstGeom>
          <a:noFill/>
          <a:ln w="11430">
            <a:solidFill>
              <a:srgbClr val="888C91"/>
            </a:solidFill>
            <a:prstDash val="dash"/>
            <a:headEnd type="none"/>
            <a:tailEnd type="triangle"/>
          </a:ln>
        </p:spPr>
      </p:cxnSp>
      <p:sp>
        <p:nvSpPr>
          <p:cNvPr id="1271" name="C1 Critical path boundary"/>
          <p:cNvSpPr/>
          <p:nvPr/>
        </p:nvSpPr>
        <p:spPr>
          <a:xfrm>
            <a:off x="2695773" y="1800000"/>
            <a:ext cx="3420000" cy="2185000"/>
          </a:xfrm>
          <a:prstGeom prst="rect">
            <a:avLst/>
          </a:prstGeom>
          <a:noFill/>
          <a:ln w="12700">
            <a:solidFill>
              <a:srgbClr val="C76E31"/>
            </a:solidFill>
            <a:prstDash val="dash"/>
          </a:ln>
        </p:spPr>
        <p:txBody>
          <a:bodyPr rtlCol="0" anchor="ctr"/>
          <a:lstStyle/>
          <a:p>
            <a:pPr algn="ctr"/>
            <a:endParaRPr lang="en-US" altLang="ko-KR" sz="900" dirty="0">
              <a:solidFill>
                <a:schemeClr val="bg1">
                  <a:lumMod val="50000"/>
                </a:schemeClr>
              </a:solidFill>
            </a:endParaRPr>
          </a:p>
        </p:txBody>
      </p:sp>
      <p:sp>
        <p:nvSpPr>
          <p:cNvPr id="2293" name="C1 Critical path label"/>
          <p:cNvSpPr/>
          <p:nvPr/>
        </p:nvSpPr>
        <p:spPr>
          <a:xfrm>
            <a:off x="4330000" y="1815000"/>
            <a:ext cx="1440000" cy="250000"/>
          </a:xfrm>
          <a:prstGeom prst="rect">
            <a:avLst/>
          </a:prstGeom>
          <a:noFill/>
          <a:ln w="12700">
            <a:noFill/>
            <a:prstDash val="dash"/>
          </a:ln>
        </p:spPr>
        <p:txBody>
          <a:bodyPr rtlCol="0" anchor="ctr"/>
          <a:lstStyle/>
          <a:p>
            <a:pPr algn="ctr"/>
            <a:r>
              <a:rPr lang="en-US" altLang="ko-KR" sz="900" dirty="0">
                <a:solidFill>
                  <a:srgbClr val="FF0000"/>
                </a:solidFill>
              </a:rPr>
              <a:t>Plan + Decision</a:t>
            </a:r>
          </a:p>
        </p:txBody>
      </p:sp>
      <p:grpSp>
        <p:nvGrpSpPr>
          <p:cNvPr id="130" name="그룹 129">
            <a:extLst>
              <a:ext uri="{FF2B5EF4-FFF2-40B4-BE49-F238E27FC236}">
                <a16:creationId xmlns:a16="http://schemas.microsoft.com/office/drawing/2014/main" id="{CA2D3743-1992-478F-B82E-9DE9B085B94D}"/>
              </a:ext>
            </a:extLst>
          </p:cNvPr>
          <p:cNvGrpSpPr/>
          <p:nvPr/>
        </p:nvGrpSpPr>
        <p:grpSpPr>
          <a:xfrm>
            <a:off x="334761" y="3538083"/>
            <a:ext cx="822008" cy="1106192"/>
            <a:chOff x="269738" y="3554621"/>
            <a:chExt cx="822008" cy="1106192"/>
          </a:xfrm>
        </p:grpSpPr>
        <p:sp>
          <p:nvSpPr>
            <p:cNvPr id="131" name="KV Cache Manager">
              <a:extLst>
                <a:ext uri="{FF2B5EF4-FFF2-40B4-BE49-F238E27FC236}">
                  <a16:creationId xmlns:a16="http://schemas.microsoft.com/office/drawing/2014/main" id="{97729FA2-8208-495A-88B5-6AB9793CB4B9}"/>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2" name="KV Cache Manager">
              <a:extLst>
                <a:ext uri="{FF2B5EF4-FFF2-40B4-BE49-F238E27FC236}">
                  <a16:creationId xmlns:a16="http://schemas.microsoft.com/office/drawing/2014/main" id="{5E4E7F90-5323-48ED-A793-E537EC85E83D}"/>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4" name="KV Cache Manager">
              <a:extLst>
                <a:ext uri="{FF2B5EF4-FFF2-40B4-BE49-F238E27FC236}">
                  <a16:creationId xmlns:a16="http://schemas.microsoft.com/office/drawing/2014/main" id="{F1372DCD-DBB8-422B-8D97-E7C565A45741}"/>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bg1"/>
                  </a:solidFill>
                </a:rPr>
                <a:t>타</a:t>
              </a:r>
              <a:r>
                <a:rPr lang="en-US" altLang="ko-KR" sz="800" b="1" dirty="0">
                  <a:solidFill>
                    <a:schemeClr val="bg1"/>
                  </a:solidFill>
                </a:rPr>
                <a:t> </a:t>
              </a:r>
              <a:r>
                <a:rPr lang="ko-KR" altLang="en-US" sz="800" b="1" dirty="0">
                  <a:solidFill>
                    <a:schemeClr val="bg1"/>
                  </a:solidFill>
                </a:rPr>
                <a:t>모듈</a:t>
              </a:r>
              <a:r>
                <a:rPr lang="en-US" altLang="ko-KR" sz="800" b="1" dirty="0">
                  <a:solidFill>
                    <a:schemeClr val="bg1"/>
                  </a:solidFill>
                </a:rPr>
                <a:t> I/F</a:t>
              </a:r>
              <a:endParaRPr lang="ko-KR" altLang="en-US" sz="800" b="1" dirty="0">
                <a:solidFill>
                  <a:schemeClr val="bg1"/>
                </a:solidFill>
              </a:endParaRPr>
            </a:p>
          </p:txBody>
        </p:sp>
        <p:sp>
          <p:nvSpPr>
            <p:cNvPr id="135" name="직사각형 134">
              <a:extLst>
                <a:ext uri="{FF2B5EF4-FFF2-40B4-BE49-F238E27FC236}">
                  <a16:creationId xmlns:a16="http://schemas.microsoft.com/office/drawing/2014/main" id="{33666AC1-1D1F-4D44-8ABD-9FC7C996F49A}"/>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7" name="KV Cache Manager">
              <a:extLst>
                <a:ext uri="{FF2B5EF4-FFF2-40B4-BE49-F238E27FC236}">
                  <a16:creationId xmlns:a16="http://schemas.microsoft.com/office/drawing/2014/main" id="{3DAC31F2-953F-4F50-9270-4AC41B0280B9}"/>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cxnSp>
        <p:nvCxnSpPr>
          <p:cNvPr id="120" name="직선 화살표 연결선 185">
            <a:extLst>
              <a:ext uri="{FF2B5EF4-FFF2-40B4-BE49-F238E27FC236}">
                <a16:creationId xmlns:a16="http://schemas.microsoft.com/office/drawing/2014/main" id="{6B405AD3-50C7-4140-923C-39C9EC62E997}"/>
              </a:ext>
            </a:extLst>
          </p:cNvPr>
          <p:cNvCxnSpPr>
            <a:cxnSpLocks/>
            <a:stCxn id="149" idx="1"/>
            <a:endCxn id="123" idx="0"/>
          </p:cNvCxnSpPr>
          <p:nvPr/>
        </p:nvCxnSpPr>
        <p:spPr>
          <a:xfrm rot="10800000" flipV="1">
            <a:off x="1977484" y="3261185"/>
            <a:ext cx="838455" cy="122381"/>
          </a:xfrm>
          <a:prstGeom prst="bentConnector2">
            <a:avLst/>
          </a:prstGeom>
          <a:noFill/>
          <a:ln w="9525">
            <a:solidFill>
              <a:schemeClr val="tx1"/>
            </a:solidFill>
            <a:prstDash val="solid"/>
            <a:headEnd type="none" w="med" len="med"/>
            <a:tailEnd type="triangle" w="med" len="med"/>
          </a:ln>
        </p:spPr>
      </p:cxnSp>
      <p:sp>
        <p:nvSpPr>
          <p:cNvPr id="123" name="KV Cache Manager">
            <a:extLst>
              <a:ext uri="{FF2B5EF4-FFF2-40B4-BE49-F238E27FC236}">
                <a16:creationId xmlns:a16="http://schemas.microsoft.com/office/drawing/2014/main" id="{AF50C5FD-82D2-49A4-BB8D-5B9CCB95E6F0}"/>
              </a:ext>
            </a:extLst>
          </p:cNvPr>
          <p:cNvSpPr/>
          <p:nvPr/>
        </p:nvSpPr>
        <p:spPr>
          <a:xfrm>
            <a:off x="1422351" y="3383567"/>
            <a:ext cx="1110263" cy="28409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grpSp>
        <p:nvGrpSpPr>
          <p:cNvPr id="2260" name="그룹 2259">
            <a:extLst>
              <a:ext uri="{FF2B5EF4-FFF2-40B4-BE49-F238E27FC236}">
                <a16:creationId xmlns:a16="http://schemas.microsoft.com/office/drawing/2014/main" id="{2D332D0F-0324-46B1-B1F2-8FDFA83DC440}"/>
              </a:ext>
            </a:extLst>
          </p:cNvPr>
          <p:cNvGrpSpPr/>
          <p:nvPr/>
        </p:nvGrpSpPr>
        <p:grpSpPr>
          <a:xfrm>
            <a:off x="6650290" y="1792641"/>
            <a:ext cx="5377940" cy="2718256"/>
            <a:chOff x="6650290" y="1836885"/>
            <a:chExt cx="5377940" cy="2718256"/>
          </a:xfrm>
        </p:grpSpPr>
        <p:sp>
          <p:nvSpPr>
            <p:cNvPr id="122" name="Shape 31">
              <a:extLst>
                <a:ext uri="{FF2B5EF4-FFF2-40B4-BE49-F238E27FC236}">
                  <a16:creationId xmlns:a16="http://schemas.microsoft.com/office/drawing/2014/main" id="{2CB8AAFC-DFAB-4056-A6EA-BB95D28E11E9}"/>
                </a:ext>
              </a:extLst>
            </p:cNvPr>
            <p:cNvSpPr/>
            <p:nvPr/>
          </p:nvSpPr>
          <p:spPr>
            <a:xfrm>
              <a:off x="6968158" y="222990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52643" y="4250503"/>
              <a:ext cx="1106485" cy="301105"/>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64" name="직선 화살표 연결선 185">
              <a:extLst>
                <a:ext uri="{FF2B5EF4-FFF2-40B4-BE49-F238E27FC236}">
                  <a16:creationId xmlns:a16="http://schemas.microsoft.com/office/drawing/2014/main" id="{D76D373A-AD73-4958-8644-743AF962871F}"/>
                </a:ext>
              </a:extLst>
            </p:cNvPr>
            <p:cNvCxnSpPr>
              <a:cxnSpLocks/>
            </p:cNvCxnSpPr>
            <p:nvPr/>
          </p:nvCxnSpPr>
          <p:spPr>
            <a:xfrm flipH="1">
              <a:off x="7585118" y="3976053"/>
              <a:ext cx="127" cy="242833"/>
            </a:xfrm>
            <a:prstGeom prst="straightConnector1">
              <a:avLst/>
            </a:prstGeom>
            <a:noFill/>
            <a:ln w="12700">
              <a:solidFill>
                <a:srgbClr val="C76E31"/>
              </a:solidFill>
              <a:prstDash val="solid"/>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flipH="1">
              <a:off x="10700123" y="2548568"/>
              <a:ext cx="1" cy="359667"/>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1966" y="1864405"/>
              <a:ext cx="2152357" cy="271459"/>
            </a:xfrm>
            <a:prstGeom prst="rect">
              <a:avLst/>
            </a:prstGeom>
            <a:noFill/>
            <a:ln w="12700">
              <a:noFill/>
              <a:prstDash val="dash"/>
            </a:ln>
          </p:spPr>
          <p:txBody>
            <a:bodyPr rtlCol="0" anchor="ctr"/>
            <a:lstStyle/>
            <a:p>
              <a:pPr algn="ctr"/>
              <a:r>
                <a:rPr lang="en-US" altLang="ko-KR" sz="900" dirty="0">
                  <a:solidFill>
                    <a:srgbClr val="FF0000"/>
                  </a:solidFill>
                </a:rPr>
                <a:t>Plan -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rgbClr val="FF0000"/>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58398" y="2282562"/>
              <a:ext cx="1283450" cy="1629131"/>
              <a:chOff x="13158709" y="2383427"/>
              <a:chExt cx="1283450" cy="1629131"/>
            </a:xfrm>
          </p:grpSpPr>
          <p:sp>
            <p:nvSpPr>
              <p:cNvPr id="186" name="Shape 31">
                <a:extLst>
                  <a:ext uri="{FF2B5EF4-FFF2-40B4-BE49-F238E27FC236}">
                    <a16:creationId xmlns:a16="http://schemas.microsoft.com/office/drawing/2014/main" id="{2CB8AAFC-DFAB-4056-A6EA-BB95D28E11E9}"/>
                  </a:ext>
                </a:extLst>
              </p:cNvPr>
              <p:cNvSpPr/>
              <p:nvPr/>
            </p:nvSpPr>
            <p:spPr>
              <a:xfrm>
                <a:off x="132170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158709" y="3009100"/>
                <a:ext cx="1283450" cy="324035"/>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Validator</a:t>
                </a:r>
              </a:p>
            </p:txBody>
          </p:sp>
          <p:sp>
            <p:nvSpPr>
              <p:cNvPr id="188" name="Shape 31">
                <a:extLst>
                  <a:ext uri="{FF2B5EF4-FFF2-40B4-BE49-F238E27FC236}">
                    <a16:creationId xmlns:a16="http://schemas.microsoft.com/office/drawing/2014/main" id="{2CB8AAFC-DFAB-4056-A6EA-BB95D28E11E9}"/>
                  </a:ext>
                </a:extLst>
              </p:cNvPr>
              <p:cNvSpPr/>
              <p:nvPr/>
            </p:nvSpPr>
            <p:spPr>
              <a:xfrm>
                <a:off x="13158709" y="3623097"/>
                <a:ext cx="1283450" cy="38946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lvl="0" algn="ctr"/>
                <a:r>
                  <a:rPr lang="en-US" altLang="ko-KR" sz="900" b="1" dirty="0">
                    <a:solidFill>
                      <a:srgbClr val="FF0000"/>
                    </a:solidFill>
                    <a:latin typeface="Malgun Gothic" pitchFamily="34" charset="0"/>
                    <a:ea typeface="Malgun Gothic" pitchFamily="34" charset="-122"/>
                    <a:cs typeface="Malgun Gothic" pitchFamily="34" charset="-120"/>
                  </a:rPr>
                  <a:t>(Decision)</a:t>
                </a:r>
                <a:endParaRPr lang="ko-KR" altLang="en-US" sz="900" b="1" dirty="0">
                  <a:solidFill>
                    <a:srgbClr val="FF0000"/>
                  </a:solidFill>
                  <a:latin typeface="Malgun Gothic" pitchFamily="34" charset="0"/>
                  <a:ea typeface="Malgun Gothic" pitchFamily="34" charset="-122"/>
                  <a:cs typeface="Malgun Gothic" pitchFamily="34" charset="-120"/>
                </a:endParaRPr>
              </a:p>
            </p:txBody>
          </p:sp>
        </p:grp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188" idx="0"/>
            </p:cNvCxnSpPr>
            <p:nvPr/>
          </p:nvCxnSpPr>
          <p:spPr>
            <a:xfrm>
              <a:off x="10700123" y="3232270"/>
              <a:ext cx="0" cy="289962"/>
            </a:xfrm>
            <a:prstGeom prst="straightConnector1">
              <a:avLst/>
            </a:prstGeom>
            <a:noFill/>
            <a:ln w="11430">
              <a:solidFill>
                <a:srgbClr val="888C91"/>
              </a:solidFill>
              <a:prstDash val="solid"/>
              <a:headEnd type="none"/>
              <a:tailEnd type="triangle"/>
            </a:ln>
          </p:spPr>
        </p:cxnSp>
        <p:cxnSp>
          <p:nvCxnSpPr>
            <p:cNvPr id="99" name="직선 화살표 연결선 185">
              <a:extLst>
                <a:ext uri="{FF2B5EF4-FFF2-40B4-BE49-F238E27FC236}">
                  <a16:creationId xmlns:a16="http://schemas.microsoft.com/office/drawing/2014/main" id="{D76D373A-AD73-4958-8644-743AF962871F}"/>
                </a:ext>
              </a:extLst>
            </p:cNvPr>
            <p:cNvCxnSpPr>
              <a:cxnSpLocks/>
            </p:cNvCxnSpPr>
            <p:nvPr/>
          </p:nvCxnSpPr>
          <p:spPr>
            <a:xfrm rot="10800000">
              <a:off x="8164462" y="2717377"/>
              <a:ext cx="1893937" cy="259939"/>
            </a:xfrm>
            <a:prstGeom prst="bentConnector3">
              <a:avLst>
                <a:gd name="adj1" fmla="val 30143"/>
              </a:avLst>
            </a:prstGeom>
            <a:noFill/>
            <a:ln w="9525">
              <a:solidFill>
                <a:srgbClr val="C76E31"/>
              </a:solidFill>
              <a:prstDash val="dash"/>
              <a:headEnd type="none" w="med" len="med"/>
              <a:tailEnd type="triangle" w="med" len="med"/>
            </a:ln>
          </p:spPr>
        </p:cxn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92" idx="0"/>
            </p:cNvCxnSpPr>
            <p:nvPr/>
          </p:nvCxnSpPr>
          <p:spPr>
            <a:xfrm rot="5400000">
              <a:off x="10094192" y="3627684"/>
              <a:ext cx="321923" cy="88994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95" idx="0"/>
            </p:cNvCxnSpPr>
            <p:nvPr/>
          </p:nvCxnSpPr>
          <p:spPr>
            <a:xfrm rot="16200000" flipH="1">
              <a:off x="11038780" y="3573035"/>
              <a:ext cx="321923" cy="999237"/>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91" idx="0"/>
            </p:cNvCxnSpPr>
            <p:nvPr/>
          </p:nvCxnSpPr>
          <p:spPr>
            <a:xfrm rot="5400000">
              <a:off x="10386001" y="3919493"/>
              <a:ext cx="321923" cy="306322"/>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9" idx="0"/>
            </p:cNvCxnSpPr>
            <p:nvPr/>
          </p:nvCxnSpPr>
          <p:spPr>
            <a:xfrm>
              <a:off x="7634416" y="2429761"/>
              <a:ext cx="2" cy="231001"/>
            </a:xfrm>
            <a:prstGeom prst="straightConnector1">
              <a:avLst/>
            </a:prstGeom>
            <a:noFill/>
            <a:ln w="11430">
              <a:solidFill>
                <a:srgbClr val="888C91"/>
              </a:solidFill>
              <a:prstDash val="solid"/>
              <a:headEnd type="none"/>
              <a:tailEnd type="triangle"/>
            </a:ln>
          </p:spPr>
        </p:cxnSp>
        <p:sp>
          <p:nvSpPr>
            <p:cNvPr id="78" name="TextBox 77"/>
            <p:cNvSpPr txBox="1"/>
            <p:nvPr/>
          </p:nvSpPr>
          <p:spPr>
            <a:xfrm>
              <a:off x="8406016" y="2555570"/>
              <a:ext cx="827393" cy="138499"/>
            </a:xfrm>
            <a:prstGeom prst="rect">
              <a:avLst/>
            </a:prstGeom>
            <a:noFill/>
          </p:spPr>
          <p:txBody>
            <a:bodyPr wrap="square" lIns="0" tIns="0" rIns="0" bIns="0" anchor="ctr">
              <a:spAutoFit/>
            </a:bodyPr>
            <a:lstStyle/>
            <a:p>
              <a:pPr algn="l">
                <a:lnSpc>
                  <a:spcPct val="100000"/>
                </a:lnSpc>
              </a:pPr>
              <a:r>
                <a:rPr sz="900" b="0" i="0" dirty="0">
                  <a:solidFill>
                    <a:srgbClr val="C55A11"/>
                  </a:solidFill>
                  <a:latin typeface="맑은 고딕"/>
                  <a:ea typeface="맑은 고딕"/>
                </a:rPr>
                <a:t>Async</a:t>
              </a:r>
              <a:r>
                <a:rPr lang="en-US" sz="900" b="0" i="0" dirty="0">
                  <a:solidFill>
                    <a:srgbClr val="C55A11"/>
                  </a:solidFill>
                  <a:latin typeface="맑은 고딕"/>
                  <a:ea typeface="맑은 고딕"/>
                </a:rPr>
                <a:t> </a:t>
              </a:r>
              <a:r>
                <a:rPr sz="900" b="0" i="0" dirty="0">
                  <a:solidFill>
                    <a:srgbClr val="C55A11"/>
                  </a:solidFill>
                  <a:latin typeface="맑은 고딕"/>
                  <a:ea typeface="맑은 고딕"/>
                </a:rPr>
                <a:t>re-plan</a:t>
              </a: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rgbClr val="FF0000"/>
                  </a:solidFill>
                </a:rPr>
                <a:t>Decision - </a:t>
              </a:r>
              <a:r>
                <a:rPr lang="en-US" altLang="ko-KR" sz="900" dirty="0">
                  <a:solidFill>
                    <a:schemeClr val="bg1">
                      <a:lumMod val="50000"/>
                    </a:schemeClr>
                  </a:solidFill>
                </a:rPr>
                <a:t>Critical path </a:t>
              </a:r>
              <a:r>
                <a:rPr lang="ko-KR" altLang="en-US" sz="900" dirty="0">
                  <a:solidFill>
                    <a:schemeClr val="bg1">
                      <a:lumMod val="50000"/>
                    </a:schemeClr>
                  </a:solidFill>
                </a:rPr>
                <a:t>내</a:t>
              </a:r>
              <a:endParaRPr lang="en-US" altLang="ko-KR" sz="900" dirty="0">
                <a:solidFill>
                  <a:srgbClr val="FF0000"/>
                </a:solidFill>
              </a:endParaRPr>
            </a:p>
          </p:txBody>
        </p:sp>
        <p:grpSp>
          <p:nvGrpSpPr>
            <p:cNvPr id="55" name="그룹 54">
              <a:extLst>
                <a:ext uri="{FF2B5EF4-FFF2-40B4-BE49-F238E27FC236}">
                  <a16:creationId xmlns:a16="http://schemas.microsoft.com/office/drawing/2014/main" id="{20247864-5FE1-4F69-9F2A-D6FA572B779B}"/>
                </a:ext>
              </a:extLst>
            </p:cNvPr>
            <p:cNvGrpSpPr/>
            <p:nvPr/>
          </p:nvGrpSpPr>
          <p:grpSpPr>
            <a:xfrm>
              <a:off x="6959257" y="2660762"/>
              <a:ext cx="2250800" cy="1353122"/>
              <a:chOff x="6334829" y="2532795"/>
              <a:chExt cx="3029193" cy="1637279"/>
            </a:xfrm>
          </p:grpSpPr>
          <p:sp>
            <p:nvSpPr>
              <p:cNvPr id="167" name="Shape 37">
                <a:extLst>
                  <a:ext uri="{FF2B5EF4-FFF2-40B4-BE49-F238E27FC236}">
                    <a16:creationId xmlns:a16="http://schemas.microsoft.com/office/drawing/2014/main" id="{90DAE390-C546-4459-96AF-4143F55DB1B8}"/>
                  </a:ext>
                </a:extLst>
              </p:cNvPr>
              <p:cNvSpPr/>
              <p:nvPr/>
            </p:nvSpPr>
            <p:spPr>
              <a:xfrm>
                <a:off x="8340414" y="2718034"/>
                <a:ext cx="1023608" cy="395581"/>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68" name="직선 화살표 연결선 185">
                <a:extLst>
                  <a:ext uri="{FF2B5EF4-FFF2-40B4-BE49-F238E27FC236}">
                    <a16:creationId xmlns:a16="http://schemas.microsoft.com/office/drawing/2014/main" id="{5147715F-B5AF-48FB-9317-FF7DCBEA214E}"/>
                  </a:ext>
                </a:extLst>
              </p:cNvPr>
              <p:cNvCxnSpPr>
                <a:cxnSpLocks/>
                <a:stCxn id="169" idx="3"/>
                <a:endCxn id="167" idx="1"/>
              </p:cNvCxnSpPr>
              <p:nvPr/>
            </p:nvCxnSpPr>
            <p:spPr>
              <a:xfrm>
                <a:off x="7929375" y="2750365"/>
                <a:ext cx="411039" cy="165459"/>
              </a:xfrm>
              <a:prstGeom prst="bentConnector3">
                <a:avLst>
                  <a:gd name="adj1" fmla="val 50000"/>
                </a:avLst>
              </a:prstGeom>
              <a:noFill/>
              <a:ln w="9525">
                <a:solidFill>
                  <a:schemeClr val="tx1"/>
                </a:solidFill>
                <a:prstDash val="solid"/>
                <a:headEnd type="none" w="med" len="med"/>
                <a:tailEnd type="triangle" w="med" len="med"/>
              </a:ln>
            </p:spPr>
          </p:cxnSp>
          <p:sp>
            <p:nvSpPr>
              <p:cNvPr id="169" name="Shape 37">
                <a:extLst>
                  <a:ext uri="{FF2B5EF4-FFF2-40B4-BE49-F238E27FC236}">
                    <a16:creationId xmlns:a16="http://schemas.microsoft.com/office/drawing/2014/main" id="{5A9E902C-C762-43E4-8FBB-2BC7D8D934DC}"/>
                  </a:ext>
                </a:extLst>
              </p:cNvPr>
              <p:cNvSpPr/>
              <p:nvPr/>
            </p:nvSpPr>
            <p:spPr>
              <a:xfrm>
                <a:off x="6557585" y="2532795"/>
                <a:ext cx="1371789" cy="43514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 </a:t>
                </a:r>
                <a:r>
                  <a:rPr lang="en-US" altLang="ko-KR" sz="900" b="1" dirty="0">
                    <a:solidFill>
                      <a:srgbClr val="FF0000"/>
                    </a:solidFill>
                  </a:rPr>
                  <a:t>(Plan)</a:t>
                </a:r>
              </a:p>
            </p:txBody>
          </p:sp>
          <p:sp>
            <p:nvSpPr>
              <p:cNvPr id="170" name="Shape 37">
                <a:extLst>
                  <a:ext uri="{FF2B5EF4-FFF2-40B4-BE49-F238E27FC236}">
                    <a16:creationId xmlns:a16="http://schemas.microsoft.com/office/drawing/2014/main" id="{6CC00633-A2ED-4E85-98F5-915767F01623}"/>
                  </a:ext>
                </a:extLst>
              </p:cNvPr>
              <p:cNvSpPr/>
              <p:nvPr/>
            </p:nvSpPr>
            <p:spPr>
              <a:xfrm>
                <a:off x="8340407" y="3195654"/>
                <a:ext cx="1023610" cy="55548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dirty="0">
                    <a:solidFill>
                      <a:srgbClr val="1A1A1A"/>
                    </a:solidFill>
                    <a:latin typeface="Malgun Gothic" pitchFamily="34" charset="0"/>
                    <a:ea typeface="Malgun Gothic" pitchFamily="34" charset="-122"/>
                    <a:cs typeface="Malgun Gothic" pitchFamily="34" charset="-120"/>
                  </a:rPr>
                  <a:t>Monitor</a:t>
                </a:r>
              </a:p>
            </p:txBody>
          </p:sp>
          <p:cxnSp>
            <p:nvCxnSpPr>
              <p:cNvPr id="171" name="직선 화살표 연결선 185">
                <a:extLst>
                  <a:ext uri="{FF2B5EF4-FFF2-40B4-BE49-F238E27FC236}">
                    <a16:creationId xmlns:a16="http://schemas.microsoft.com/office/drawing/2014/main" id="{A10F8AFC-DE84-4F55-A9D7-1E2452D3B196}"/>
                  </a:ext>
                </a:extLst>
              </p:cNvPr>
              <p:cNvCxnSpPr>
                <a:cxnSpLocks/>
                <a:stCxn id="169" idx="3"/>
                <a:endCxn id="170" idx="1"/>
              </p:cNvCxnSpPr>
              <p:nvPr/>
            </p:nvCxnSpPr>
            <p:spPr>
              <a:xfrm>
                <a:off x="7929375" y="2750365"/>
                <a:ext cx="411032" cy="723032"/>
              </a:xfrm>
              <a:prstGeom prst="bentConnector3">
                <a:avLst>
                  <a:gd name="adj1" fmla="val 50000"/>
                </a:avLst>
              </a:prstGeom>
              <a:noFill/>
              <a:ln w="9525">
                <a:solidFill>
                  <a:schemeClr val="tx1"/>
                </a:solidFill>
                <a:prstDash val="solid"/>
                <a:headEnd type="none" w="med" len="med"/>
                <a:tailEnd type="triangle" w="med" len="med"/>
              </a:ln>
            </p:spPr>
          </p:cxnSp>
          <p:sp>
            <p:nvSpPr>
              <p:cNvPr id="172" name="Shape 37">
                <a:extLst>
                  <a:ext uri="{FF2B5EF4-FFF2-40B4-BE49-F238E27FC236}">
                    <a16:creationId xmlns:a16="http://schemas.microsoft.com/office/drawing/2014/main" id="{70B458B8-8383-4A34-B3D0-8FE89C2B733A}"/>
                  </a:ext>
                </a:extLst>
              </p:cNvPr>
              <p:cNvSpPr/>
              <p:nvPr/>
            </p:nvSpPr>
            <p:spPr>
              <a:xfrm>
                <a:off x="6561862" y="3253418"/>
                <a:ext cx="1371789" cy="359618"/>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Cost Evaluator</a:t>
                </a:r>
              </a:p>
            </p:txBody>
          </p:sp>
          <p:cxnSp>
            <p:nvCxnSpPr>
              <p:cNvPr id="173" name="직선 화살표 연결선 185">
                <a:extLst>
                  <a:ext uri="{FF2B5EF4-FFF2-40B4-BE49-F238E27FC236}">
                    <a16:creationId xmlns:a16="http://schemas.microsoft.com/office/drawing/2014/main" id="{95D5E7CF-8934-4F6E-B767-D7C6E910F7F6}"/>
                  </a:ext>
                </a:extLst>
              </p:cNvPr>
              <p:cNvCxnSpPr>
                <a:cxnSpLocks/>
                <a:stCxn id="169" idx="2"/>
                <a:endCxn id="172" idx="0"/>
              </p:cNvCxnSpPr>
              <p:nvPr/>
            </p:nvCxnSpPr>
            <p:spPr>
              <a:xfrm>
                <a:off x="7243481" y="2967936"/>
                <a:ext cx="4277" cy="285483"/>
              </a:xfrm>
              <a:prstGeom prst="straightConnector1">
                <a:avLst/>
              </a:prstGeom>
              <a:noFill/>
              <a:ln w="9525">
                <a:solidFill>
                  <a:schemeClr val="tx1"/>
                </a:solidFill>
                <a:prstDash val="solid"/>
                <a:headEnd type="none" w="med" len="med"/>
                <a:tailEnd type="triangle" w="med" len="med"/>
              </a:ln>
            </p:spPr>
          </p:cxnSp>
          <p:sp>
            <p:nvSpPr>
              <p:cNvPr id="174" name="Shape 37">
                <a:extLst>
                  <a:ext uri="{FF2B5EF4-FFF2-40B4-BE49-F238E27FC236}">
                    <a16:creationId xmlns:a16="http://schemas.microsoft.com/office/drawing/2014/main" id="{F35F2B03-9D6C-46EF-9020-017926F86EEA}"/>
                  </a:ext>
                </a:extLst>
              </p:cNvPr>
              <p:cNvSpPr/>
              <p:nvPr/>
            </p:nvSpPr>
            <p:spPr>
              <a:xfrm>
                <a:off x="6334829" y="3810455"/>
                <a:ext cx="1825852" cy="359619"/>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Publisher</a:t>
                </a:r>
              </a:p>
            </p:txBody>
          </p:sp>
          <p:cxnSp>
            <p:nvCxnSpPr>
              <p:cNvPr id="175" name="직선 화살표 연결선 185">
                <a:extLst>
                  <a:ext uri="{FF2B5EF4-FFF2-40B4-BE49-F238E27FC236}">
                    <a16:creationId xmlns:a16="http://schemas.microsoft.com/office/drawing/2014/main" id="{68BFF503-4C29-43B1-9353-9A83B9332F63}"/>
                  </a:ext>
                </a:extLst>
              </p:cNvPr>
              <p:cNvCxnSpPr>
                <a:cxnSpLocks/>
                <a:stCxn id="172" idx="2"/>
                <a:endCxn id="174" idx="0"/>
              </p:cNvCxnSpPr>
              <p:nvPr/>
            </p:nvCxnSpPr>
            <p:spPr>
              <a:xfrm flipH="1">
                <a:off x="7247755" y="3613036"/>
                <a:ext cx="3" cy="197419"/>
              </a:xfrm>
              <a:prstGeom prst="straightConnector1">
                <a:avLst/>
              </a:prstGeom>
              <a:noFill/>
              <a:ln w="11430">
                <a:solidFill>
                  <a:srgbClr val="888C91"/>
                </a:solidFill>
                <a:prstDash val="solid"/>
                <a:headEnd type="none"/>
                <a:tailEnd type="triangle"/>
              </a:ln>
            </p:spPr>
          </p:cxnSp>
        </p:grpSp>
        <p:sp>
          <p:nvSpPr>
            <p:cNvPr id="191" name="Shape 31">
              <a:extLst>
                <a:ext uri="{FF2B5EF4-FFF2-40B4-BE49-F238E27FC236}">
                  <a16:creationId xmlns:a16="http://schemas.microsoft.com/office/drawing/2014/main" id="{7AB93E39-C877-4F6E-91E3-4818D5AD8143}"/>
                </a:ext>
              </a:extLst>
            </p:cNvPr>
            <p:cNvSpPr/>
            <p:nvPr/>
          </p:nvSpPr>
          <p:spPr>
            <a:xfrm>
              <a:off x="10122008"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92" name="Shape 31">
              <a:extLst>
                <a:ext uri="{FF2B5EF4-FFF2-40B4-BE49-F238E27FC236}">
                  <a16:creationId xmlns:a16="http://schemas.microsoft.com/office/drawing/2014/main" id="{0FE145B6-CE91-4FE8-9E63-351A03D67391}"/>
                </a:ext>
              </a:extLst>
            </p:cNvPr>
            <p:cNvSpPr/>
            <p:nvPr/>
          </p:nvSpPr>
          <p:spPr>
            <a:xfrm>
              <a:off x="9538389"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94" name="Shape 31">
              <a:extLst>
                <a:ext uri="{FF2B5EF4-FFF2-40B4-BE49-F238E27FC236}">
                  <a16:creationId xmlns:a16="http://schemas.microsoft.com/office/drawing/2014/main" id="{9355122B-B076-4AD6-8266-92347533977C}"/>
                </a:ext>
              </a:extLst>
            </p:cNvPr>
            <p:cNvSpPr/>
            <p:nvPr/>
          </p:nvSpPr>
          <p:spPr>
            <a:xfrm>
              <a:off x="10723037" y="4233616"/>
              <a:ext cx="597945"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sp>
          <p:nvSpPr>
            <p:cNvPr id="195" name="Shape 31">
              <a:extLst>
                <a:ext uri="{FF2B5EF4-FFF2-40B4-BE49-F238E27FC236}">
                  <a16:creationId xmlns:a16="http://schemas.microsoft.com/office/drawing/2014/main" id="{5B34D1C2-0536-47F9-A4E3-D0D324ADCE23}"/>
                </a:ext>
              </a:extLst>
            </p:cNvPr>
            <p:cNvSpPr/>
            <p:nvPr/>
          </p:nvSpPr>
          <p:spPr>
            <a:xfrm>
              <a:off x="11370490" y="4233616"/>
              <a:ext cx="65774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96" name="직선 화살표 연결선 185">
              <a:extLst>
                <a:ext uri="{FF2B5EF4-FFF2-40B4-BE49-F238E27FC236}">
                  <a16:creationId xmlns:a16="http://schemas.microsoft.com/office/drawing/2014/main" id="{64718AD8-8AEE-402C-9432-118EAEC37816}"/>
                </a:ext>
              </a:extLst>
            </p:cNvPr>
            <p:cNvCxnSpPr>
              <a:cxnSpLocks/>
              <a:stCxn id="188" idx="2"/>
              <a:endCxn id="194" idx="0"/>
            </p:cNvCxnSpPr>
            <p:nvPr/>
          </p:nvCxnSpPr>
          <p:spPr>
            <a:xfrm rot="16200000" flipH="1">
              <a:off x="10700105" y="3911710"/>
              <a:ext cx="321923" cy="321887"/>
            </a:xfrm>
            <a:prstGeom prst="bentConnector3">
              <a:avLst>
                <a:gd name="adj1" fmla="val 50000"/>
              </a:avLst>
            </a:prstGeom>
            <a:noFill/>
            <a:ln w="11430">
              <a:solidFill>
                <a:srgbClr val="888C91"/>
              </a:solidFill>
              <a:prstDash val="solid"/>
              <a:headEnd type="none"/>
              <a:tailEnd type="triangle"/>
            </a:ln>
          </p:spPr>
        </p:cxnSp>
        <p:sp>
          <p:nvSpPr>
            <p:cNvPr id="3310" name="C2 freshness note"/>
            <p:cNvSpPr txBox="1"/>
            <p:nvPr/>
          </p:nvSpPr>
          <p:spPr>
            <a:xfrm>
              <a:off x="7679898" y="4028093"/>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10" name="C2 freshness note">
              <a:extLst>
                <a:ext uri="{FF2B5EF4-FFF2-40B4-BE49-F238E27FC236}">
                  <a16:creationId xmlns:a16="http://schemas.microsoft.com/office/drawing/2014/main" id="{127B7BA2-AF32-48BD-B4B6-6292B5DF4C0B}"/>
                </a:ext>
              </a:extLst>
            </p:cNvPr>
            <p:cNvSpPr txBox="1"/>
            <p:nvPr/>
          </p:nvSpPr>
          <p:spPr>
            <a:xfrm>
              <a:off x="10762871" y="3300036"/>
              <a:ext cx="542659"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13" name="TextBox 112">
              <a:extLst>
                <a:ext uri="{FF2B5EF4-FFF2-40B4-BE49-F238E27FC236}">
                  <a16:creationId xmlns:a16="http://schemas.microsoft.com/office/drawing/2014/main" id="{21A4406A-848C-40A9-8F3E-43EAB95C7998}"/>
                </a:ext>
              </a:extLst>
            </p:cNvPr>
            <p:cNvSpPr txBox="1"/>
            <p:nvPr/>
          </p:nvSpPr>
          <p:spPr>
            <a:xfrm>
              <a:off x="9528263" y="2716734"/>
              <a:ext cx="640080" cy="138499"/>
            </a:xfrm>
            <a:prstGeom prst="rect">
              <a:avLst/>
            </a:prstGeom>
            <a:noFill/>
          </p:spPr>
          <p:txBody>
            <a:bodyPr wrap="square" lIns="0" tIns="0" rIns="0" bIns="0" anchor="ctr">
              <a:spAutoFit/>
            </a:bodyPr>
            <a:lstStyle/>
            <a:p>
              <a:pPr algn="ctr">
                <a:lnSpc>
                  <a:spcPct val="100000"/>
                </a:lnSpc>
              </a:pPr>
              <a:r>
                <a:rPr lang="en-US" sz="900" b="0" i="0" dirty="0">
                  <a:solidFill>
                    <a:srgbClr val="C55A11"/>
                  </a:solidFill>
                  <a:latin typeface="맑은 고딕"/>
                  <a:ea typeface="맑은 고딕"/>
                </a:rPr>
                <a:t>If </a:t>
              </a:r>
              <a:r>
                <a:rPr lang="en-US" sz="900" dirty="0">
                  <a:solidFill>
                    <a:srgbClr val="C55A11"/>
                  </a:solidFill>
                  <a:latin typeface="맑은 고딕"/>
                  <a:ea typeface="맑은 고딕"/>
                </a:rPr>
                <a:t>m</a:t>
              </a:r>
              <a:r>
                <a:rPr lang="en-US" sz="900" b="0" i="0" dirty="0">
                  <a:solidFill>
                    <a:srgbClr val="C55A11"/>
                  </a:solidFill>
                  <a:latin typeface="맑은 고딕"/>
                  <a:ea typeface="맑은 고딕"/>
                </a:rPr>
                <a:t>ismatch</a:t>
              </a:r>
              <a:endParaRPr sz="900" b="0" i="0" dirty="0">
                <a:solidFill>
                  <a:srgbClr val="C55A11"/>
                </a:solidFill>
                <a:latin typeface="맑은 고딕"/>
                <a:ea typeface="맑은 고딕"/>
              </a:endParaRPr>
            </a:p>
          </p:txBody>
        </p:sp>
        <p:sp>
          <p:nvSpPr>
            <p:cNvPr id="162" name="Rectangle 9065">
              <a:extLst>
                <a:ext uri="{FF2B5EF4-FFF2-40B4-BE49-F238E27FC236}">
                  <a16:creationId xmlns:a16="http://schemas.microsoft.com/office/drawing/2014/main" id="{DC0FC1D3-B7E6-42CE-84E0-E28CE1ED44E9}"/>
                </a:ext>
              </a:extLst>
            </p:cNvPr>
            <p:cNvSpPr/>
            <p:nvPr/>
          </p:nvSpPr>
          <p:spPr>
            <a:xfrm>
              <a:off x="6650290" y="2283984"/>
              <a:ext cx="265546" cy="112170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eaVert" lIns="36000" tIns="18000" rIns="36000" bIns="18000" rtlCol="0" anchor="ctr">
              <a:noAutofit/>
            </a:bodyPr>
            <a:lstStyle/>
            <a:p>
              <a:pPr algn="ctr"/>
              <a:r>
                <a:rPr lang="en-US" sz="900" dirty="0">
                  <a:solidFill>
                    <a:schemeClr val="bg1"/>
                  </a:solidFill>
                </a:rPr>
                <a:t>Common Memory</a:t>
              </a:r>
            </a:p>
            <a:p>
              <a:pPr algn="ctr"/>
              <a:r>
                <a:rPr lang="en-US" sz="900" dirty="0">
                  <a:solidFill>
                    <a:schemeClr val="bg1"/>
                  </a:solidFill>
                </a:rPr>
                <a:t> Backend Interface</a:t>
              </a:r>
            </a:p>
          </p:txBody>
        </p:sp>
        <p:cxnSp>
          <p:nvCxnSpPr>
            <p:cNvPr id="177" name="직선 화살표 연결선 185">
              <a:extLst>
                <a:ext uri="{FF2B5EF4-FFF2-40B4-BE49-F238E27FC236}">
                  <a16:creationId xmlns:a16="http://schemas.microsoft.com/office/drawing/2014/main" id="{643E492D-CE08-4786-9B0D-A7E6F1A63A29}"/>
                </a:ext>
              </a:extLst>
            </p:cNvPr>
            <p:cNvCxnSpPr>
              <a:cxnSpLocks/>
              <a:stCxn id="162" idx="3"/>
              <a:endCxn id="169" idx="1"/>
            </p:cNvCxnSpPr>
            <p:nvPr/>
          </p:nvCxnSpPr>
          <p:spPr>
            <a:xfrm flipV="1">
              <a:off x="6915836" y="2840572"/>
              <a:ext cx="208937" cy="4265"/>
            </a:xfrm>
            <a:prstGeom prst="straightConnector1">
              <a:avLst/>
            </a:prstGeom>
            <a:noFill/>
            <a:ln w="11430">
              <a:solidFill>
                <a:srgbClr val="888C91"/>
              </a:solidFill>
              <a:prstDash val="solid"/>
              <a:headEnd type="none"/>
              <a:tailEnd type="triangle"/>
            </a:ln>
          </p:spPr>
        </p:cxnSp>
      </p:grpSp>
      <p:cxnSp>
        <p:nvCxnSpPr>
          <p:cNvPr id="14" name="직선 연결선 13"/>
          <p:cNvCxnSpPr/>
          <p:nvPr/>
        </p:nvCxnSpPr>
        <p:spPr>
          <a:xfrm>
            <a:off x="9348289" y="1809408"/>
            <a:ext cx="0" cy="2790583"/>
          </a:xfrm>
          <a:prstGeom prst="line">
            <a:avLst/>
          </a:prstGeom>
          <a:noFill/>
          <a:ln w="12700">
            <a:solidFill>
              <a:srgbClr val="C76E31"/>
            </a:solidFill>
            <a:prstDash val="dash"/>
          </a:ln>
        </p:spPr>
      </p:cxnSp>
      <p:sp>
        <p:nvSpPr>
          <p:cNvPr id="111" name="모서리가 둥근 직사각형 110"/>
          <p:cNvSpPr/>
          <p:nvPr/>
        </p:nvSpPr>
        <p:spPr>
          <a:xfrm>
            <a:off x="2952206" y="2624898"/>
            <a:ext cx="2958737" cy="1339679"/>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bg1"/>
                </a:solidFill>
              </a:rPr>
              <a:t>Cost </a:t>
            </a:r>
            <a:endParaRPr lang="ko-KR" altLang="en-US" dirty="0">
              <a:solidFill>
                <a:schemeClr val="bg1"/>
              </a:solidFill>
            </a:endParaRPr>
          </a:p>
        </p:txBody>
      </p:sp>
    </p:spTree>
    <p:extLst>
      <p:ext uri="{BB962C8B-B14F-4D97-AF65-F5344CB8AC3E}">
        <p14:creationId xmlns:p14="http://schemas.microsoft.com/office/powerpoint/2010/main" val="424392655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2521058750"/>
              </p:ext>
            </p:extLst>
          </p:nvPr>
        </p:nvGraphicFramePr>
        <p:xfrm>
          <a:off x="249035" y="1054687"/>
          <a:ext cx="11780793" cy="5563162"/>
        </p:xfrm>
        <a:graphic>
          <a:graphicData uri="http://schemas.openxmlformats.org/drawingml/2006/table">
            <a:tbl>
              <a:tblPr firstRow="1" bandRow="1">
                <a:tableStyleId>{5940675A-B579-460E-94D1-54222C63F5DA}</a:tableStyleId>
              </a:tblPr>
              <a:tblGrid>
                <a:gridCol w="745194">
                  <a:extLst>
                    <a:ext uri="{9D8B030D-6E8A-4147-A177-3AD203B41FA5}">
                      <a16:colId xmlns:a16="http://schemas.microsoft.com/office/drawing/2014/main" val="44684717"/>
                    </a:ext>
                  </a:extLst>
                </a:gridCol>
                <a:gridCol w="3505533">
                  <a:extLst>
                    <a:ext uri="{9D8B030D-6E8A-4147-A177-3AD203B41FA5}">
                      <a16:colId xmlns:a16="http://schemas.microsoft.com/office/drawing/2014/main" val="5654497"/>
                    </a:ext>
                  </a:extLst>
                </a:gridCol>
                <a:gridCol w="1538181">
                  <a:extLst>
                    <a:ext uri="{9D8B030D-6E8A-4147-A177-3AD203B41FA5}">
                      <a16:colId xmlns:a16="http://schemas.microsoft.com/office/drawing/2014/main" val="2953438935"/>
                    </a:ext>
                  </a:extLst>
                </a:gridCol>
                <a:gridCol w="3861767">
                  <a:extLst>
                    <a:ext uri="{9D8B030D-6E8A-4147-A177-3AD203B41FA5}">
                      <a16:colId xmlns:a16="http://schemas.microsoft.com/office/drawing/2014/main" val="3070054508"/>
                    </a:ext>
                  </a:extLst>
                </a:gridCol>
                <a:gridCol w="2130118">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(Plan, Decision </a:t>
                      </a:r>
                      <a:r>
                        <a:rPr lang="ko-KR" altLang="en-US" sz="1050" b="1" kern="1200" baseline="0" dirty="0">
                          <a:solidFill>
                            <a:schemeClr val="bg1">
                              <a:lumMod val="50000"/>
                            </a:schemeClr>
                          </a:solidFill>
                          <a:latin typeface="+mn-lt"/>
                          <a:ea typeface="+mn-ea"/>
                          <a:cs typeface="+mn-cs"/>
                        </a:rPr>
                        <a:t>분리 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kern="1200" baseline="0" noProof="0" dirty="0">
                          <a:solidFill>
                            <a:schemeClr val="tx1"/>
                          </a:solidFill>
                          <a:latin typeface="+mn-lt"/>
                          <a:ea typeface="+mn-ea"/>
                          <a:cs typeface="+mn-cs"/>
                        </a:rPr>
                        <a:t>(2</a:t>
                      </a:r>
                      <a:r>
                        <a:rPr lang="ko-KR" altLang="en-US" sz="1200" b="1" strike="noStrike" kern="1200" baseline="0" noProof="0" dirty="0">
                          <a:solidFill>
                            <a:schemeClr val="tx1"/>
                          </a:solidFill>
                          <a:latin typeface="+mn-lt"/>
                          <a:ea typeface="+mn-ea"/>
                          <a:cs typeface="+mn-cs"/>
                        </a:rPr>
                        <a:t>안 보완</a:t>
                      </a:r>
                      <a:r>
                        <a:rPr lang="en-US" altLang="ko-KR" sz="1200" b="1" strike="noStrike" kern="1200" baseline="0" noProof="0" dirty="0">
                          <a:solidFill>
                            <a:schemeClr val="tx1"/>
                          </a:solidFill>
                          <a:latin typeface="+mn-lt"/>
                          <a:ea typeface="+mn-ea"/>
                          <a:cs typeface="+mn-cs"/>
                        </a:rPr>
                        <a:t>) </a:t>
                      </a:r>
                      <a:r>
                        <a:rPr lang="en-US" altLang="ko-KR" sz="1200" b="1" strike="noStrike" kern="1200" baseline="0" noProof="0" dirty="0">
                          <a:solidFill>
                            <a:srgbClr val="FF0000"/>
                          </a:solidFill>
                          <a:latin typeface="+mn-lt"/>
                          <a:ea typeface="+mn-ea"/>
                          <a:cs typeface="+mn-cs"/>
                        </a:rPr>
                        <a:t>+ </a:t>
                      </a:r>
                      <a:r>
                        <a:rPr kumimoji="0" lang="ko-KR" altLang="en-US" sz="1200" b="1" i="0" u="none" strike="noStrike" kern="1200" cap="none" spc="0" normalizeH="0" baseline="0" noProof="0" dirty="0">
                          <a:ln>
                            <a:noFill/>
                          </a:ln>
                          <a:solidFill>
                            <a:srgbClr val="FF0000"/>
                          </a:solidFill>
                          <a:effectLst/>
                          <a:uLnTx/>
                          <a:uFillTx/>
                          <a:latin typeface="+mn-lt"/>
                          <a:ea typeface="맑은 고딕"/>
                          <a:cs typeface="+mn-cs"/>
                        </a:rPr>
                        <a:t>저비용 검증 </a:t>
                      </a:r>
                      <a:r>
                        <a:rPr lang="en-US" altLang="ko-KR" sz="1050" b="1" kern="1200" baseline="0" noProof="0" dirty="0">
                          <a:solidFill>
                            <a:schemeClr val="bg1">
                              <a:lumMod val="50000"/>
                            </a:schemeClr>
                          </a:solidFill>
                          <a:latin typeface="+mn-lt"/>
                          <a:ea typeface="+mn-ea"/>
                          <a:cs typeface="+mn-cs"/>
                        </a:rPr>
                        <a:t>(Plan, Decision </a:t>
                      </a:r>
                      <a:r>
                        <a:rPr lang="ko-KR" altLang="en-US" sz="1050" b="1" kern="1200" baseline="0" noProof="0" dirty="0">
                          <a:solidFill>
                            <a:schemeClr val="bg1">
                              <a:lumMod val="50000"/>
                            </a:schemeClr>
                          </a:solidFill>
                          <a:latin typeface="+mn-lt"/>
                          <a:ea typeface="+mn-ea"/>
                          <a:cs typeface="+mn-cs"/>
                        </a:rPr>
                        <a:t>분리 구조 </a:t>
                      </a:r>
                      <a:r>
                        <a:rPr lang="en-US" altLang="ko-KR" sz="1050" b="1" kern="1200" baseline="0" noProof="0" dirty="0">
                          <a:solidFill>
                            <a:schemeClr val="bg1">
                              <a:lumMod val="50000"/>
                            </a:schemeClr>
                          </a:solidFill>
                          <a:latin typeface="+mn-lt"/>
                          <a:ea typeface="+mn-ea"/>
                          <a:cs typeface="+mn-cs"/>
                        </a:rPr>
                        <a:t>+ Feedback Control)</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Cost </a:t>
                      </a:r>
                      <a:r>
                        <a:rPr lang="ko-KR" altLang="en-US" sz="1200" strike="noStrike" dirty="0">
                          <a:solidFill>
                            <a:schemeClr val="tx1"/>
                          </a:solidFill>
                          <a:effectLst/>
                        </a:rPr>
                        <a:t>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분리하여 </a:t>
                      </a:r>
                      <a:r>
                        <a:rPr lang="en-US" altLang="ko-KR" sz="1200" strike="noStrike" dirty="0">
                          <a:solidFill>
                            <a:schemeClr val="tx1"/>
                          </a:solidFill>
                          <a:effectLst/>
                        </a:rPr>
                        <a:t>decision latency </a:t>
                      </a:r>
                      <a:r>
                        <a:rPr lang="ko-KR" altLang="en-US" sz="1200" strike="noStrike" dirty="0">
                          <a:solidFill>
                            <a:schemeClr val="tx1"/>
                          </a:solidFill>
                          <a:effectLst/>
                        </a:rPr>
                        <a:t>절감 </a:t>
                      </a:r>
                      <a:r>
                        <a:rPr lang="en-US" altLang="ko-KR" sz="1200" strike="noStrike" dirty="0">
                          <a:solidFill>
                            <a:schemeClr val="tx1"/>
                          </a:solidFill>
                          <a:effectLst/>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요청</a:t>
                      </a:r>
                      <a:r>
                        <a:rPr lang="en-US" altLang="ko-KR" sz="1200" strike="noStrike" dirty="0">
                          <a:solidFill>
                            <a:schemeClr val="tx1"/>
                          </a:solidFill>
                          <a:effectLst/>
                          <a:latin typeface="맑은 고딕" panose="020B0503020000020004" pitchFamily="50" charset="-127"/>
                          <a:ea typeface="맑은 고딕" panose="020B0503020000020004" pitchFamily="50" charset="-127"/>
                        </a:rPr>
                        <a:t>∙</a:t>
                      </a:r>
                      <a:r>
                        <a:rPr lang="ko-KR" altLang="en-US" sz="1200" strike="noStrike" dirty="0">
                          <a:solidFill>
                            <a:schemeClr val="tx1"/>
                          </a:solidFill>
                          <a:effectLst/>
                        </a:rPr>
                        <a:t>연산 자원 증가 시 계획 </a:t>
                      </a:r>
                      <a:r>
                        <a:rPr lang="en-US" altLang="ko-KR" sz="1200" strike="noStrike" dirty="0">
                          <a:solidFill>
                            <a:schemeClr val="tx1"/>
                          </a:solidFill>
                          <a:effectLst/>
                        </a:rPr>
                        <a:t>worker, batch evaluation </a:t>
                      </a:r>
                      <a:r>
                        <a:rPr lang="ko-KR" altLang="en-US" sz="1200" strike="noStrike" dirty="0">
                          <a:solidFill>
                            <a:schemeClr val="tx1"/>
                          </a:solidFill>
                          <a:effectLst/>
                        </a:rPr>
                        <a:t>등으로 계획 연산 컴포넌트를 독립 확장 가능 </a:t>
                      </a:r>
                      <a:r>
                        <a:rPr lang="en-US" altLang="ko-KR" sz="1200" strike="noStrike" dirty="0">
                          <a:solidFill>
                            <a:schemeClr val="tx1"/>
                          </a:solidFill>
                          <a:effectLst/>
                        </a:rPr>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rowSpan="2" gridSpan="2">
                  <a:txBody>
                    <a:bodyPr/>
                    <a:lstStyle/>
                    <a:p>
                      <a:pPr marL="0" indent="0">
                        <a:lnSpc>
                          <a:spcPct val="110000"/>
                        </a:lnSpc>
                        <a:spcAft>
                          <a:spcPts val="200"/>
                        </a:spcAft>
                        <a:buFont typeface="Arial" pitchFamily="34" charset="0"/>
                        <a:buNone/>
                      </a:pPr>
                      <a:r>
                        <a:rPr lang="ko-KR" altLang="en-US" sz="1200" b="0" i="0" dirty="0">
                          <a:solidFill>
                            <a:schemeClr val="tx1"/>
                          </a:solidFill>
                          <a:latin typeface="+mn-lt"/>
                          <a:ea typeface="맑은 고딕"/>
                        </a:rPr>
                        <a:t>개선점</a:t>
                      </a:r>
                      <a:endParaRPr lang="en-US" altLang="ko-KR" sz="1200" b="0" i="0" dirty="0">
                        <a:solidFill>
                          <a:schemeClr val="tx1"/>
                        </a:solidFill>
                        <a:latin typeface="+mn-lt"/>
                        <a:ea typeface="맑은 고딕"/>
                      </a:endParaRPr>
                    </a:p>
                    <a:p>
                      <a:pPr marL="228600" indent="-228600" latinLnBrk="1">
                        <a:lnSpc>
                          <a:spcPct val="150000"/>
                        </a:lnSpc>
                        <a:buFont typeface="Wingdings" panose="05000000000000000000" pitchFamily="2" charset="2"/>
                        <a:buChar char="§"/>
                      </a:pPr>
                      <a:r>
                        <a:rPr lang="ko-KR" altLang="en-US" sz="1200" strike="noStrike" baseline="0" dirty="0">
                          <a:solidFill>
                            <a:schemeClr val="tx1"/>
                          </a:solidFill>
                          <a:effectLst/>
                        </a:rPr>
                        <a:t>대규모 고부하 시 </a:t>
                      </a:r>
                      <a:r>
                        <a:rPr lang="ko-KR" altLang="en-US" sz="1200" strike="noStrike" baseline="0" dirty="0" err="1">
                          <a:solidFill>
                            <a:schemeClr val="tx1"/>
                          </a:solidFill>
                          <a:effectLst/>
                        </a:rPr>
                        <a:t>계획·실행</a:t>
                      </a:r>
                      <a:r>
                        <a:rPr lang="ko-KR" altLang="en-US" sz="1200" strike="noStrike" baseline="0" dirty="0">
                          <a:solidFill>
                            <a:schemeClr val="tx1"/>
                          </a:solidFill>
                          <a:effectLst/>
                        </a:rPr>
                        <a:t> 상태 </a:t>
                      </a:r>
                      <a:r>
                        <a:rPr lang="ko-KR" altLang="en-US" sz="1200" strike="noStrike" baseline="0" dirty="0" err="1">
                          <a:solidFill>
                            <a:schemeClr val="tx1"/>
                          </a:solidFill>
                          <a:effectLst/>
                        </a:rPr>
                        <a:t>Mismatch로</a:t>
                      </a:r>
                      <a:r>
                        <a:rPr lang="ko-KR" altLang="en-US" sz="1200" strike="noStrike" baseline="0" dirty="0">
                          <a:solidFill>
                            <a:schemeClr val="tx1"/>
                          </a:solidFill>
                          <a:effectLst/>
                        </a:rPr>
                        <a:t> </a:t>
                      </a:r>
                      <a:r>
                        <a:rPr lang="ko-KR" altLang="en-US" sz="1200" strike="noStrike" baseline="0" dirty="0" err="1">
                          <a:solidFill>
                            <a:schemeClr val="tx1"/>
                          </a:solidFill>
                          <a:effectLst/>
                        </a:rPr>
                        <a:t>Re-plan</a:t>
                      </a:r>
                      <a:r>
                        <a:rPr lang="ko-KR" altLang="en-US" sz="1200" strike="noStrike" baseline="0" dirty="0">
                          <a:solidFill>
                            <a:schemeClr val="tx1"/>
                          </a:solidFill>
                          <a:effectLst/>
                        </a:rPr>
                        <a:t> 발생 높음 </a:t>
                      </a:r>
                      <a:r>
                        <a:rPr lang="en-US" altLang="ko-KR" sz="1200" strike="noStrike" baseline="0" dirty="0">
                          <a:solidFill>
                            <a:schemeClr val="tx1"/>
                          </a:solidFill>
                          <a:effectLst/>
                        </a:rPr>
                        <a:t>(QA1) </a:t>
                      </a:r>
                    </a:p>
                    <a:p>
                      <a:pPr marL="228600" indent="-228600">
                        <a:lnSpc>
                          <a:spcPct val="150000"/>
                        </a:lnSpc>
                        <a:spcAft>
                          <a:spcPts val="200"/>
                        </a:spcAft>
                        <a:buFont typeface="Arial" pitchFamily="34" charset="0"/>
                        <a:buAutoNum type="arabicPeriod"/>
                      </a:pPr>
                      <a:r>
                        <a:rPr lang="ko-KR" altLang="en-US" sz="1200" dirty="0">
                          <a:solidFill>
                            <a:srgbClr val="FF0000"/>
                          </a:solidFill>
                          <a:latin typeface="+mn-lt"/>
                          <a:ea typeface="맑은 고딕"/>
                        </a:rPr>
                        <a:t>여러 안을 계획해서 </a:t>
                      </a:r>
                      <a:r>
                        <a:rPr lang="en-US" altLang="ko-KR" sz="1200" dirty="0">
                          <a:solidFill>
                            <a:srgbClr val="FF0000"/>
                          </a:solidFill>
                          <a:latin typeface="+mn-lt"/>
                          <a:ea typeface="맑은 고딕"/>
                        </a:rPr>
                        <a:t>Mismatch</a:t>
                      </a:r>
                      <a:r>
                        <a:rPr lang="ko-KR" altLang="en-US" sz="1200" dirty="0">
                          <a:solidFill>
                            <a:srgbClr val="FF0000"/>
                          </a:solidFill>
                          <a:latin typeface="+mn-lt"/>
                          <a:ea typeface="맑은 고딕"/>
                        </a:rPr>
                        <a:t>시 </a:t>
                      </a:r>
                      <a:r>
                        <a:rPr lang="en-US" altLang="ko-KR" sz="1200" dirty="0">
                          <a:solidFill>
                            <a:srgbClr val="FF0000"/>
                          </a:solidFill>
                          <a:latin typeface="+mn-lt"/>
                          <a:ea typeface="맑은 고딕"/>
                        </a:rPr>
                        <a:t>Cost </a:t>
                      </a:r>
                      <a:r>
                        <a:rPr lang="ko-KR" altLang="en-US" sz="1200" dirty="0">
                          <a:solidFill>
                            <a:srgbClr val="FF0000"/>
                          </a:solidFill>
                          <a:latin typeface="+mn-lt"/>
                          <a:ea typeface="맑은 고딕"/>
                        </a:rPr>
                        <a:t>재계산 없이 순차적 구간 조회 </a:t>
                      </a:r>
                      <a:r>
                        <a:rPr lang="en-US" altLang="ko-KR" sz="1200" dirty="0">
                          <a:solidFill>
                            <a:srgbClr val="FF0000"/>
                          </a:solidFill>
                          <a:latin typeface="+mn-lt"/>
                          <a:ea typeface="맑은 고딕"/>
                        </a:rPr>
                        <a:t>(k)</a:t>
                      </a:r>
                    </a:p>
                    <a:p>
                      <a:pPr marL="228600" indent="-228600">
                        <a:lnSpc>
                          <a:spcPct val="110000"/>
                        </a:lnSpc>
                        <a:spcAft>
                          <a:spcPts val="200"/>
                        </a:spcAft>
                        <a:buFont typeface="Arial" pitchFamily="34" charset="0"/>
                        <a:buAutoNum type="arabicPeriod"/>
                      </a:pPr>
                      <a:r>
                        <a:rPr lang="ko-KR" altLang="en-US" sz="1200" dirty="0">
                          <a:solidFill>
                            <a:srgbClr val="FF0000"/>
                          </a:solidFill>
                          <a:latin typeface="+mn-lt"/>
                          <a:ea typeface="맑은 고딕"/>
                        </a:rPr>
                        <a:t>요청이 </a:t>
                      </a:r>
                      <a:r>
                        <a:rPr lang="en-US" altLang="ko-KR" sz="1200" b="0" i="0" dirty="0">
                          <a:solidFill>
                            <a:srgbClr val="FF0000"/>
                          </a:solidFill>
                          <a:latin typeface="+mn-lt"/>
                          <a:ea typeface="맑은 고딕"/>
                        </a:rPr>
                        <a:t>Queue</a:t>
                      </a:r>
                      <a:r>
                        <a:rPr lang="ko-KR" altLang="en-US" sz="1200" b="0" i="0" dirty="0">
                          <a:solidFill>
                            <a:srgbClr val="FF0000"/>
                          </a:solidFill>
                          <a:latin typeface="+mn-lt"/>
                          <a:ea typeface="맑은 고딕"/>
                        </a:rPr>
                        <a:t>에 </a:t>
                      </a:r>
                      <a:r>
                        <a:rPr lang="ko-KR" altLang="en-US" sz="1200" dirty="0">
                          <a:solidFill>
                            <a:srgbClr val="FF0000"/>
                          </a:solidFill>
                          <a:latin typeface="+mn-lt"/>
                          <a:ea typeface="맑은 고딕"/>
                        </a:rPr>
                        <a:t>도착 즉시가 아니라 </a:t>
                      </a:r>
                      <a:r>
                        <a:rPr lang="en-US" altLang="ko-KR" sz="1200" dirty="0">
                          <a:solidFill>
                            <a:srgbClr val="FF0000"/>
                          </a:solidFill>
                          <a:latin typeface="+mn-lt"/>
                          <a:ea typeface="맑은 고딕"/>
                        </a:rPr>
                        <a:t>head</a:t>
                      </a:r>
                      <a:r>
                        <a:rPr lang="ko-KR" altLang="en-US" sz="1200" dirty="0">
                          <a:solidFill>
                            <a:srgbClr val="FF0000"/>
                          </a:solidFill>
                          <a:latin typeface="+mn-lt"/>
                          <a:ea typeface="맑은 고딕"/>
                        </a:rPr>
                        <a:t>로부터 </a:t>
                      </a:r>
                      <a:r>
                        <a:rPr lang="en-US" altLang="ko-KR" sz="1200" dirty="0">
                          <a:solidFill>
                            <a:srgbClr val="FF0000"/>
                          </a:solidFill>
                          <a:latin typeface="+mn-lt"/>
                          <a:ea typeface="맑은 고딕"/>
                        </a:rPr>
                        <a:t>W </a:t>
                      </a:r>
                      <a:r>
                        <a:rPr lang="ko-KR" altLang="en-US" sz="1200" dirty="0">
                          <a:solidFill>
                            <a:srgbClr val="FF0000"/>
                          </a:solidFill>
                          <a:latin typeface="+mn-lt"/>
                          <a:ea typeface="맑은 고딕"/>
                        </a:rPr>
                        <a:t>슬롯 안에 들어올 때 계획 </a:t>
                      </a:r>
                      <a:endParaRPr lang="en-US" altLang="ko-KR" sz="1200" dirty="0">
                        <a:solidFill>
                          <a:srgbClr val="FF0000"/>
                        </a:solidFill>
                        <a:latin typeface="+mn-lt"/>
                        <a:ea typeface="맑은 고딕"/>
                      </a:endParaRPr>
                    </a:p>
                    <a:p>
                      <a:pPr marL="228600" indent="-228600">
                        <a:lnSpc>
                          <a:spcPct val="110000"/>
                        </a:lnSpc>
                        <a:spcAft>
                          <a:spcPts val="200"/>
                        </a:spcAft>
                        <a:buFont typeface="Arial" pitchFamily="34" charset="0"/>
                        <a:buAutoNum type="arabicPeriod"/>
                      </a:pPr>
                      <a:r>
                        <a:rPr lang="en-US" altLang="ko-KR" sz="1200" dirty="0">
                          <a:solidFill>
                            <a:srgbClr val="FF0000"/>
                          </a:solidFill>
                          <a:latin typeface="+mn-lt"/>
                          <a:ea typeface="맑은 고딕"/>
                        </a:rPr>
                        <a:t>L</a:t>
                      </a:r>
                      <a:r>
                        <a:rPr lang="en-US" altLang="ko-KR" sz="1200" b="0" i="0" dirty="0">
                          <a:solidFill>
                            <a:srgbClr val="FF0000"/>
                          </a:solidFill>
                          <a:latin typeface="+mn-lt"/>
                          <a:ea typeface="맑은 고딕"/>
                        </a:rPr>
                        <a:t>oad</a:t>
                      </a:r>
                      <a:r>
                        <a:rPr lang="ko-KR" altLang="en-US" sz="1200" b="0" i="0" dirty="0">
                          <a:solidFill>
                            <a:srgbClr val="FF0000"/>
                          </a:solidFill>
                          <a:latin typeface="+mn-lt"/>
                          <a:ea typeface="맑은 고딕"/>
                        </a:rPr>
                        <a:t>↑ → </a:t>
                      </a:r>
                      <a:r>
                        <a:rPr lang="en-US" altLang="ko-KR" sz="1200" b="0" i="0" dirty="0" err="1">
                          <a:solidFill>
                            <a:srgbClr val="FF0000"/>
                          </a:solidFill>
                          <a:latin typeface="+mn-lt"/>
                          <a:ea typeface="맑은 고딕"/>
                        </a:rPr>
                        <a:t>W↓k</a:t>
                      </a:r>
                      <a:r>
                        <a:rPr lang="ko-KR" altLang="en-US" sz="1200" b="0" i="0" dirty="0">
                          <a:solidFill>
                            <a:srgbClr val="FF0000"/>
                          </a:solidFill>
                          <a:latin typeface="+mn-lt"/>
                          <a:ea typeface="맑은 고딕"/>
                        </a:rPr>
                        <a:t>↑</a:t>
                      </a:r>
                      <a:r>
                        <a:rPr lang="en-US" altLang="ko-KR" sz="1200" b="0" i="0" dirty="0">
                          <a:solidFill>
                            <a:srgbClr val="FF0000"/>
                          </a:solidFill>
                          <a:latin typeface="+mn-lt"/>
                          <a:ea typeface="맑은 고딕"/>
                        </a:rPr>
                        <a:t>(</a:t>
                      </a:r>
                      <a:r>
                        <a:rPr lang="ko-KR" altLang="en-US" sz="1200" b="0" i="0" dirty="0">
                          <a:solidFill>
                            <a:srgbClr val="FF0000"/>
                          </a:solidFill>
                          <a:latin typeface="+mn-lt"/>
                          <a:ea typeface="맑은 고딕"/>
                        </a:rPr>
                        <a:t>계획을 짧고 넓게</a:t>
                      </a:r>
                      <a:r>
                        <a:rPr lang="en-US" altLang="ko-KR" sz="1200" b="0" i="0" dirty="0">
                          <a:solidFill>
                            <a:srgbClr val="FF0000"/>
                          </a:solidFill>
                          <a:latin typeface="+mn-lt"/>
                          <a:ea typeface="맑은 고딕"/>
                        </a:rPr>
                        <a:t>), Load</a:t>
                      </a:r>
                      <a:r>
                        <a:rPr lang="ko-KR" altLang="en-US" sz="1200" b="0" i="0" dirty="0">
                          <a:solidFill>
                            <a:srgbClr val="FF0000"/>
                          </a:solidFill>
                          <a:latin typeface="+mn-lt"/>
                          <a:ea typeface="맑은 고딕"/>
                        </a:rPr>
                        <a:t>↓ → </a:t>
                      </a:r>
                      <a:r>
                        <a:rPr lang="en-US" altLang="ko-KR" sz="1200" dirty="0" err="1">
                          <a:solidFill>
                            <a:srgbClr val="FF0000"/>
                          </a:solidFill>
                          <a:latin typeface="+mn-lt"/>
                          <a:ea typeface="맑은 고딕"/>
                        </a:rPr>
                        <a:t>W↑k</a:t>
                      </a:r>
                      <a:r>
                        <a:rPr lang="ko-KR" altLang="en-US" sz="1200" dirty="0">
                          <a:solidFill>
                            <a:srgbClr val="FF0000"/>
                          </a:solidFill>
                          <a:latin typeface="+mn-lt"/>
                          <a:ea typeface="맑은 고딕"/>
                        </a:rPr>
                        <a:t>↓</a:t>
                      </a:r>
                      <a:r>
                        <a:rPr lang="en-US" altLang="ko-KR" sz="1200" dirty="0">
                          <a:solidFill>
                            <a:srgbClr val="FF0000"/>
                          </a:solidFill>
                          <a:latin typeface="+mn-lt"/>
                          <a:ea typeface="맑은 고딕"/>
                        </a:rPr>
                        <a:t>(</a:t>
                      </a:r>
                      <a:r>
                        <a:rPr lang="ko-KR" altLang="en-US" sz="1200" dirty="0">
                          <a:solidFill>
                            <a:srgbClr val="FF0000"/>
                          </a:solidFill>
                          <a:latin typeface="+mn-lt"/>
                          <a:ea typeface="맑은 고딕"/>
                        </a:rPr>
                        <a:t>완전 사전 계획</a:t>
                      </a:r>
                      <a:r>
                        <a:rPr lang="en-US" altLang="ko-KR" sz="1200" dirty="0">
                          <a:solidFill>
                            <a:srgbClr val="FF0000"/>
                          </a:solidFill>
                          <a:latin typeface="+mn-lt"/>
                          <a:ea typeface="맑은 고딕"/>
                        </a:rPr>
                        <a:t>)</a:t>
                      </a:r>
                      <a:endParaRPr lang="ko-KR" altLang="en-US" sz="1200" b="0" i="0" dirty="0">
                        <a:solidFill>
                          <a:srgbClr val="FF000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rowSpan="2"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대규모 고부하 시 계획·실행 상태 Mismatch로 Re-plan 발생 높음</a:t>
                      </a:r>
                      <a:r>
                        <a:rPr lang="en-US" altLang="ko-KR" sz="1200" strike="noStrike" baseline="0" dirty="0">
                          <a:solidFill>
                            <a:schemeClr val="tx1"/>
                          </a:solidFill>
                          <a:effectLst/>
                        </a:rPr>
                        <a:t>(QA1)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vMerge="1">
                  <a:txBody>
                    <a:bodyPr/>
                    <a:lstStyle/>
                    <a:p>
                      <a:pPr marL="0" indent="0">
                        <a:lnSpc>
                          <a:spcPct val="110000"/>
                        </a:lnSpc>
                        <a:spcAft>
                          <a:spcPts val="200"/>
                        </a:spcAft>
                        <a:buFont typeface="Arial" pitchFamily="34" charset="0"/>
                        <a:buNone/>
                      </a:pPr>
                      <a:endParaRPr lang="ko-KR" altLang="en-US" sz="1200" b="0" i="0" dirty="0">
                        <a:solidFill>
                          <a:srgbClr val="FF0000"/>
                        </a:solidFill>
                        <a:latin typeface="+mn-lt"/>
                        <a:ea typeface="맑은 고딕"/>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v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b="0" dirty="0">
                        <a:solidFill>
                          <a:srgbClr val="1A1A1A"/>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QA2.</a:t>
                      </a:r>
                      <a:r>
                        <a:rPr lang="en-US" altLang="ko-KR" sz="1200" b="0" strike="noStrike" baseline="0" dirty="0">
                          <a:solidFill>
                            <a:schemeClr val="tx1"/>
                          </a:solidFill>
                        </a:rPr>
                        <a:t> </a:t>
                      </a:r>
                      <a:r>
                        <a:rPr lang="en-US" altLang="ko-KR" sz="1200" b="0" strike="noStrike" dirty="0">
                          <a:solidFill>
                            <a:schemeClr val="tx1"/>
                          </a:solidFill>
                        </a:rPr>
                        <a:t>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QA4. Scalability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(Scaling Efficiency)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70C0"/>
                          </a:solidFill>
                          <a:latin typeface="+mn-lt"/>
                          <a:ea typeface="맑은 고딕"/>
                        </a:rPr>
                        <a:t>★★★</a:t>
                      </a:r>
                      <a:endParaRPr lang="en-US" altLang="ko-KR" sz="1200" strike="noStrike" dirty="0">
                        <a:solidFill>
                          <a:srgbClr val="0070C0"/>
                        </a:solidFill>
                        <a:latin typeface="맑은 고딕" panose="020B0503020000020004" pitchFamily="50" charset="-127"/>
                        <a:ea typeface="+mn-ea"/>
                      </a:endParaRPr>
                    </a:p>
                    <a:p>
                      <a:pPr algn="l">
                        <a:lnSpc>
                          <a:spcPct val="105000"/>
                        </a:lnSpc>
                      </a:pPr>
                      <a:r>
                        <a:rPr lang="ko-KR" altLang="en-US" sz="1200" b="0" dirty="0">
                          <a:solidFill>
                            <a:srgbClr val="1A1A1A"/>
                          </a:solidFill>
                          <a:latin typeface="+mn-lt"/>
                          <a:ea typeface="맑은 고딕"/>
                        </a:rPr>
                        <a:t>★★</a:t>
                      </a:r>
                      <a:r>
                        <a:rPr lang="ko-KR" altLang="en-US" sz="1200" b="0" dirty="0">
                          <a:solidFill>
                            <a:srgbClr val="FF0000"/>
                          </a:solidFill>
                          <a:latin typeface="+mn-lt"/>
                          <a:ea typeface="맑은 고딕"/>
                        </a:rPr>
                        <a:t>★</a:t>
                      </a:r>
                      <a:endParaRPr lang="en-US" altLang="ko-KR" sz="1200" b="0" i="0" kern="1200" dirty="0">
                        <a:solidFill>
                          <a:srgbClr val="1F4E79"/>
                        </a:solidFill>
                        <a:latin typeface="+mn-lt"/>
                        <a:ea typeface="맑은 고딕"/>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strike="noStrike" dirty="0">
                        <a:solidFill>
                          <a:schemeClr val="accent5"/>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194</a:t>
            </a:fld>
            <a:endParaRPr lang="ko-KR" altLang="en-US" dirty="0"/>
          </a:p>
        </p:txBody>
      </p:sp>
      <p:sp>
        <p:nvSpPr>
          <p:cNvPr id="3" name="제목 2"/>
          <p:cNvSpPr>
            <a:spLocks noGrp="1"/>
          </p:cNvSpPr>
          <p:nvPr>
            <p:ph type="title"/>
          </p:nvPr>
        </p:nvSpPr>
        <p:spPr>
          <a:xfrm>
            <a:off x="234948" y="137379"/>
            <a:ext cx="8128860" cy="365125"/>
          </a:xfrm>
        </p:spPr>
        <p:txBody>
          <a:bodyPr/>
          <a:lstStyle/>
          <a:p>
            <a:r>
              <a:rPr lang="en-US" altLang="ko-KR" dirty="0"/>
              <a:t>DP2. </a:t>
            </a:r>
            <a:r>
              <a:rPr lang="ko-KR" altLang="en-US" dirty="0"/>
              <a:t>연산</a:t>
            </a:r>
            <a:r>
              <a:rPr lang="en-US" altLang="ko-KR" dirty="0"/>
              <a:t>(Prefill/Decode) </a:t>
            </a:r>
            <a:r>
              <a:rPr lang="ko-KR" altLang="en-US" dirty="0"/>
              <a:t>실행 위치 결정 구조 </a:t>
            </a:r>
            <a:r>
              <a:rPr lang="en-US" altLang="ko-KR" dirty="0"/>
              <a:t>– </a:t>
            </a:r>
            <a:r>
              <a:rPr lang="ko-KR" altLang="en-US" dirty="0">
                <a:solidFill>
                  <a:srgbClr val="FF0000"/>
                </a:solidFill>
              </a:rPr>
              <a:t>보완 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후보</a:t>
            </a:r>
            <a:r>
              <a:rPr lang="en-US" altLang="ko-KR" sz="1400" b="1" dirty="0">
                <a:solidFill>
                  <a:schemeClr val="bg1"/>
                </a:solidFill>
              </a:rPr>
              <a:t> </a:t>
            </a:r>
            <a:r>
              <a:rPr lang="ko-KR" altLang="en-US" sz="1400" b="1" dirty="0">
                <a:solidFill>
                  <a:schemeClr val="bg1"/>
                </a:solidFill>
              </a:rPr>
              <a:t>조합에 대해 Cost를 계산하고 연산 실행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6" name="TextBox 105"/>
          <p:cNvSpPr txBox="1"/>
          <p:nvPr/>
        </p:nvSpPr>
        <p:spPr>
          <a:xfrm>
            <a:off x="994394" y="1383052"/>
            <a:ext cx="4802262" cy="261610"/>
          </a:xfrm>
          <a:prstGeom prst="rect">
            <a:avLst/>
          </a:prstGeom>
          <a:noFill/>
        </p:spPr>
        <p:txBody>
          <a:bodyPr wrap="square" rtlCol="0">
            <a:spAutoFit/>
          </a:bodyPr>
          <a:lstStyle/>
          <a:p>
            <a:r>
              <a:rPr lang="en-US" altLang="ko-KR" sz="1100" dirty="0"/>
              <a:t>“</a:t>
            </a:r>
            <a:r>
              <a:rPr lang="ko-KR" altLang="en-US" sz="1100" dirty="0"/>
              <a:t>스케줄링 시점과 연산 실행 시점을 분리</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sp>
        <p:nvSpPr>
          <p:cNvPr id="87" name="TextBox 86">
            <a:extLst>
              <a:ext uri="{FF2B5EF4-FFF2-40B4-BE49-F238E27FC236}">
                <a16:creationId xmlns:a16="http://schemas.microsoft.com/office/drawing/2014/main" id="{E4B7B1EF-FC16-4E50-A15A-074EA647B636}"/>
              </a:ext>
            </a:extLst>
          </p:cNvPr>
          <p:cNvSpPr txBox="1"/>
          <p:nvPr/>
        </p:nvSpPr>
        <p:spPr>
          <a:xfrm>
            <a:off x="5465476" y="6212211"/>
            <a:ext cx="577402" cy="276999"/>
          </a:xfrm>
          <a:prstGeom prst="rect">
            <a:avLst/>
          </a:prstGeom>
          <a:noFill/>
        </p:spPr>
        <p:txBody>
          <a:bodyPr wrap="none" rtlCol="0">
            <a:spAutoFit/>
          </a:bodyPr>
          <a:lstStyle/>
          <a:p>
            <a:r>
              <a:rPr lang="ko-KR" altLang="en-US" sz="1200" dirty="0"/>
              <a:t>총</a:t>
            </a:r>
            <a:r>
              <a:rPr lang="en-US" altLang="ko-KR" sz="1200" dirty="0"/>
              <a:t>8</a:t>
            </a:r>
            <a:r>
              <a:rPr lang="ko-KR" altLang="en-US" sz="1200" dirty="0"/>
              <a:t>점</a:t>
            </a:r>
          </a:p>
        </p:txBody>
      </p:sp>
      <p:sp>
        <p:nvSpPr>
          <p:cNvPr id="88" name="TextBox 87">
            <a:extLst>
              <a:ext uri="{FF2B5EF4-FFF2-40B4-BE49-F238E27FC236}">
                <a16:creationId xmlns:a16="http://schemas.microsoft.com/office/drawing/2014/main" id="{44A952AB-42E1-41D1-AF63-055E8135DA99}"/>
              </a:ext>
            </a:extLst>
          </p:cNvPr>
          <p:cNvSpPr txBox="1"/>
          <p:nvPr/>
        </p:nvSpPr>
        <p:spPr>
          <a:xfrm>
            <a:off x="11383409" y="6212211"/>
            <a:ext cx="631904" cy="276999"/>
          </a:xfrm>
          <a:prstGeom prst="rect">
            <a:avLst/>
          </a:prstGeom>
          <a:noFill/>
        </p:spPr>
        <p:txBody>
          <a:bodyPr wrap="none" rtlCol="0">
            <a:spAutoFit/>
          </a:bodyPr>
          <a:lstStyle/>
          <a:p>
            <a:r>
              <a:rPr lang="ko-KR" altLang="en-US" sz="1200" dirty="0">
                <a:solidFill>
                  <a:srgbClr val="FF0000"/>
                </a:solidFill>
              </a:rPr>
              <a:t>총</a:t>
            </a:r>
            <a:r>
              <a:rPr lang="en-US" altLang="ko-KR" sz="1200" dirty="0">
                <a:solidFill>
                  <a:srgbClr val="FF0000"/>
                </a:solidFill>
              </a:rPr>
              <a:t> 9</a:t>
            </a:r>
            <a:r>
              <a:rPr lang="ko-KR" altLang="en-US" sz="1200" dirty="0">
                <a:solidFill>
                  <a:srgbClr val="FF0000"/>
                </a:solidFill>
              </a:rPr>
              <a:t>점</a:t>
            </a:r>
          </a:p>
        </p:txBody>
      </p:sp>
      <p:sp>
        <p:nvSpPr>
          <p:cNvPr id="132" name="TextBox 131"/>
          <p:cNvSpPr txBox="1"/>
          <p:nvPr/>
        </p:nvSpPr>
        <p:spPr>
          <a:xfrm>
            <a:off x="6012180" y="1397170"/>
            <a:ext cx="6263640" cy="261610"/>
          </a:xfrm>
          <a:prstGeom prst="rect">
            <a:avLst/>
          </a:prstGeom>
          <a:noFill/>
        </p:spPr>
        <p:txBody>
          <a:bodyPr wrap="square" rtlCol="0">
            <a:spAutoFit/>
          </a:bodyPr>
          <a:lstStyle>
            <a:defPPr>
              <a:defRPr lang="ko-KR"/>
            </a:defPPr>
            <a:lvl1pPr>
              <a:defRPr sz="1100"/>
            </a:lvl1pPr>
          </a:lstStyle>
          <a:p>
            <a:r>
              <a:rPr dirty="0"/>
              <a:t>“</a:t>
            </a:r>
            <a:r>
              <a:rPr lang="ko-KR" altLang="en-US" dirty="0"/>
              <a:t>계획의 구간을 확장하고</a:t>
            </a:r>
            <a:r>
              <a:rPr lang="en-US" altLang="ko-KR" dirty="0"/>
              <a:t>, Queue</a:t>
            </a:r>
            <a:r>
              <a:rPr lang="ko-KR" altLang="en-US" dirty="0"/>
              <a:t>의 크기를 보고 계획 시점을 조율</a:t>
            </a:r>
            <a:r>
              <a:rPr lang="en-US" altLang="ko-KR" dirty="0"/>
              <a:t>”</a:t>
            </a:r>
            <a:endParaRPr lang="en-US" dirty="0"/>
          </a:p>
        </p:txBody>
      </p:sp>
      <p:sp>
        <p:nvSpPr>
          <p:cNvPr id="197" name="직사각형 196">
            <a:extLst>
              <a:ext uri="{FF2B5EF4-FFF2-40B4-BE49-F238E27FC236}">
                <a16:creationId xmlns:a16="http://schemas.microsoft.com/office/drawing/2014/main" id="{A5234508-388E-464D-868D-1EC222E1498C}"/>
              </a:ext>
            </a:extLst>
          </p:cNvPr>
          <p:cNvSpPr/>
          <p:nvPr/>
        </p:nvSpPr>
        <p:spPr>
          <a:xfrm>
            <a:off x="961717" y="4557296"/>
            <a:ext cx="4929758" cy="561302"/>
          </a:xfrm>
          <a:prstGeom prst="rect">
            <a:avLst/>
          </a:prstGeom>
          <a:solidFill>
            <a:srgbClr val="FFFFFF">
              <a:alpha val="6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Shape 31">
            <a:extLst>
              <a:ext uri="{FF2B5EF4-FFF2-40B4-BE49-F238E27FC236}">
                <a16:creationId xmlns:a16="http://schemas.microsoft.com/office/drawing/2014/main" id="{76AB0CFB-9315-4F87-BDDA-11D011BB00D3}"/>
              </a:ext>
            </a:extLst>
          </p:cNvPr>
          <p:cNvSpPr/>
          <p:nvPr/>
        </p:nvSpPr>
        <p:spPr>
          <a:xfrm>
            <a:off x="6834818" y="201536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224" name="원통 5">
            <a:extLst>
              <a:ext uri="{FF2B5EF4-FFF2-40B4-BE49-F238E27FC236}">
                <a16:creationId xmlns:a16="http://schemas.microsoft.com/office/drawing/2014/main" id="{607D3B1A-A13D-4B9F-A6DE-E266ED68AFC3}"/>
              </a:ext>
            </a:extLst>
          </p:cNvPr>
          <p:cNvSpPr/>
          <p:nvPr/>
        </p:nvSpPr>
        <p:spPr>
          <a:xfrm>
            <a:off x="7269598" y="3861869"/>
            <a:ext cx="1005895" cy="273732"/>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225" name="직선 화살표 연결선 185">
            <a:extLst>
              <a:ext uri="{FF2B5EF4-FFF2-40B4-BE49-F238E27FC236}">
                <a16:creationId xmlns:a16="http://schemas.microsoft.com/office/drawing/2014/main" id="{7AFE4BD9-002D-4D76-9079-6287254D9FC3}"/>
              </a:ext>
            </a:extLst>
          </p:cNvPr>
          <p:cNvCxnSpPr>
            <a:cxnSpLocks/>
          </p:cNvCxnSpPr>
          <p:nvPr/>
        </p:nvCxnSpPr>
        <p:spPr>
          <a:xfrm flipH="1">
            <a:off x="7451778" y="3609825"/>
            <a:ext cx="127" cy="242833"/>
          </a:xfrm>
          <a:prstGeom prst="straightConnector1">
            <a:avLst/>
          </a:prstGeom>
          <a:noFill/>
          <a:ln w="12700">
            <a:solidFill>
              <a:srgbClr val="C76E31"/>
            </a:solidFill>
            <a:prstDash val="solid"/>
            <a:headEnd type="none" w="med" len="med"/>
            <a:tailEnd type="triangle" w="med" len="med"/>
          </a:ln>
        </p:spPr>
      </p:cxnSp>
      <p:cxnSp>
        <p:nvCxnSpPr>
          <p:cNvPr id="228" name="직선 화살표 연결선 185">
            <a:extLst>
              <a:ext uri="{FF2B5EF4-FFF2-40B4-BE49-F238E27FC236}">
                <a16:creationId xmlns:a16="http://schemas.microsoft.com/office/drawing/2014/main" id="{73E7D81B-6FBE-4226-ADD7-0FFEA572F57E}"/>
              </a:ext>
            </a:extLst>
          </p:cNvPr>
          <p:cNvCxnSpPr>
            <a:cxnSpLocks/>
            <a:stCxn id="256" idx="2"/>
            <a:endCxn id="257" idx="0"/>
          </p:cNvCxnSpPr>
          <p:nvPr/>
        </p:nvCxnSpPr>
        <p:spPr>
          <a:xfrm flipH="1">
            <a:off x="10361964" y="2410565"/>
            <a:ext cx="1" cy="242828"/>
          </a:xfrm>
          <a:prstGeom prst="straightConnector1">
            <a:avLst/>
          </a:prstGeom>
          <a:noFill/>
          <a:ln w="11430">
            <a:solidFill>
              <a:srgbClr val="888C91"/>
            </a:solidFill>
            <a:prstDash val="solid"/>
            <a:headEnd type="none"/>
            <a:tailEnd type="triangle"/>
          </a:ln>
        </p:spPr>
      </p:cxnSp>
      <p:sp>
        <p:nvSpPr>
          <p:cNvPr id="229" name="직사각형 228">
            <a:extLst>
              <a:ext uri="{FF2B5EF4-FFF2-40B4-BE49-F238E27FC236}">
                <a16:creationId xmlns:a16="http://schemas.microsoft.com/office/drawing/2014/main" id="{3A6C8762-AA1E-48D6-AFE6-B4BC62313E1E}"/>
              </a:ext>
            </a:extLst>
          </p:cNvPr>
          <p:cNvSpPr/>
          <p:nvPr/>
        </p:nvSpPr>
        <p:spPr>
          <a:xfrm>
            <a:off x="6836050" y="1726402"/>
            <a:ext cx="1383184" cy="271459"/>
          </a:xfrm>
          <a:prstGeom prst="rect">
            <a:avLst/>
          </a:prstGeom>
          <a:noFill/>
          <a:ln w="12700">
            <a:noFill/>
            <a:prstDash val="dash"/>
          </a:ln>
        </p:spPr>
        <p:txBody>
          <a:bodyPr rtlCol="0" anchor="ctr"/>
          <a:lstStyle/>
          <a:p>
            <a:pPr algn="ctr"/>
            <a:r>
              <a:rPr lang="en-US" altLang="ko-KR" sz="900" dirty="0">
                <a:solidFill>
                  <a:srgbClr val="FF0000"/>
                </a:solidFill>
              </a:rPr>
              <a:t>Plan</a:t>
            </a:r>
          </a:p>
        </p:txBody>
      </p:sp>
      <p:grpSp>
        <p:nvGrpSpPr>
          <p:cNvPr id="230" name="그룹 229">
            <a:extLst>
              <a:ext uri="{FF2B5EF4-FFF2-40B4-BE49-F238E27FC236}">
                <a16:creationId xmlns:a16="http://schemas.microsoft.com/office/drawing/2014/main" id="{D9478518-0083-431B-895B-C1BB81DDE028}"/>
              </a:ext>
            </a:extLst>
          </p:cNvPr>
          <p:cNvGrpSpPr/>
          <p:nvPr/>
        </p:nvGrpSpPr>
        <p:grpSpPr>
          <a:xfrm>
            <a:off x="9422414" y="2144559"/>
            <a:ext cx="1879100" cy="2126181"/>
            <a:chOff x="12508584" y="2383427"/>
            <a:chExt cx="1879100" cy="2126181"/>
          </a:xfrm>
        </p:grpSpPr>
        <p:sp>
          <p:nvSpPr>
            <p:cNvPr id="256" name="Shape 31">
              <a:extLst>
                <a:ext uri="{FF2B5EF4-FFF2-40B4-BE49-F238E27FC236}">
                  <a16:creationId xmlns:a16="http://schemas.microsoft.com/office/drawing/2014/main" id="{F355C5E5-D60B-4572-9D91-2061BF7DD83A}"/>
                </a:ext>
              </a:extLst>
            </p:cNvPr>
            <p:cNvSpPr/>
            <p:nvPr/>
          </p:nvSpPr>
          <p:spPr>
            <a:xfrm>
              <a:off x="128647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257" name="Shape 31">
              <a:extLst>
                <a:ext uri="{FF2B5EF4-FFF2-40B4-BE49-F238E27FC236}">
                  <a16:creationId xmlns:a16="http://schemas.microsoft.com/office/drawing/2014/main" id="{535199C9-9527-4091-AD95-AB60C112E9D7}"/>
                </a:ext>
              </a:extLst>
            </p:cNvPr>
            <p:cNvSpPr/>
            <p:nvPr/>
          </p:nvSpPr>
          <p:spPr>
            <a:xfrm>
              <a:off x="12508584" y="2892261"/>
              <a:ext cx="1879100" cy="962972"/>
            </a:xfrm>
            <a:prstGeom prst="rect">
              <a:avLst/>
            </a:prstGeom>
            <a:solidFill>
              <a:schemeClr val="accent4">
                <a:lumMod val="20000"/>
                <a:lumOff val="80000"/>
              </a:schemeClr>
            </a:solidFill>
            <a:ln w="12700">
              <a:solidFill>
                <a:srgbClr val="C76E31"/>
              </a:solidFill>
              <a:prstDash val="solid"/>
            </a:ln>
          </p:spPr>
          <p:txBody>
            <a:bodyPr anchor="t"/>
            <a:lstStyle/>
            <a:p>
              <a:pPr algn="ctr"/>
              <a:r>
                <a:rPr lang="en-US" altLang="ko-KR" sz="900" b="1" dirty="0">
                  <a:solidFill>
                    <a:srgbClr val="1A1A1A"/>
                  </a:solidFill>
                  <a:latin typeface="Malgun Gothic" pitchFamily="34" charset="0"/>
                  <a:ea typeface="Malgun Gothic" pitchFamily="34" charset="-122"/>
                  <a:cs typeface="Malgun Gothic" pitchFamily="34" charset="-120"/>
                </a:rPr>
                <a:t>Plan Lookup Validator</a:t>
              </a:r>
              <a:endParaRPr lang="ko-KR" altLang="en-US" sz="900" b="1" dirty="0">
                <a:solidFill>
                  <a:srgbClr val="1A1A1A"/>
                </a:solidFill>
                <a:latin typeface="Malgun Gothic" pitchFamily="34" charset="0"/>
                <a:ea typeface="Malgun Gothic" pitchFamily="34" charset="-122"/>
                <a:cs typeface="Malgun Gothic" pitchFamily="34" charset="-120"/>
              </a:endParaRPr>
            </a:p>
          </p:txBody>
        </p:sp>
        <p:sp>
          <p:nvSpPr>
            <p:cNvPr id="258" name="Shape 31">
              <a:extLst>
                <a:ext uri="{FF2B5EF4-FFF2-40B4-BE49-F238E27FC236}">
                  <a16:creationId xmlns:a16="http://schemas.microsoft.com/office/drawing/2014/main" id="{BD56F8F3-399D-40F7-9849-206895CDE16B}"/>
                </a:ext>
              </a:extLst>
            </p:cNvPr>
            <p:cNvSpPr/>
            <p:nvPr/>
          </p:nvSpPr>
          <p:spPr>
            <a:xfrm>
              <a:off x="12806409" y="4243602"/>
              <a:ext cx="1283450" cy="266006"/>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endParaRPr lang="ko-KR" altLang="en-US" sz="1000" b="1" dirty="0">
                <a:solidFill>
                  <a:srgbClr val="1A1A1A"/>
                </a:solidFill>
                <a:latin typeface="Malgun Gothic" pitchFamily="34" charset="0"/>
                <a:ea typeface="Malgun Gothic" pitchFamily="34" charset="-122"/>
              </a:endParaRPr>
            </a:p>
          </p:txBody>
        </p:sp>
      </p:grpSp>
      <p:cxnSp>
        <p:nvCxnSpPr>
          <p:cNvPr id="231" name="직선 화살표 연결선 185">
            <a:extLst>
              <a:ext uri="{FF2B5EF4-FFF2-40B4-BE49-F238E27FC236}">
                <a16:creationId xmlns:a16="http://schemas.microsoft.com/office/drawing/2014/main" id="{03ABB882-11D6-4845-A2A5-4FDFAA1E6339}"/>
              </a:ext>
            </a:extLst>
          </p:cNvPr>
          <p:cNvCxnSpPr>
            <a:cxnSpLocks/>
            <a:stCxn id="257" idx="2"/>
            <a:endCxn id="258" idx="0"/>
          </p:cNvCxnSpPr>
          <p:nvPr/>
        </p:nvCxnSpPr>
        <p:spPr>
          <a:xfrm>
            <a:off x="10361964" y="3616365"/>
            <a:ext cx="0" cy="388369"/>
          </a:xfrm>
          <a:prstGeom prst="straightConnector1">
            <a:avLst/>
          </a:prstGeom>
          <a:noFill/>
          <a:ln w="11430">
            <a:solidFill>
              <a:srgbClr val="888C91"/>
            </a:solidFill>
            <a:prstDash val="solid"/>
            <a:headEnd type="none"/>
            <a:tailEnd type="triangle"/>
          </a:ln>
        </p:spPr>
      </p:cxnSp>
      <p:cxnSp>
        <p:nvCxnSpPr>
          <p:cNvPr id="235" name="직선 화살표 연결선 185">
            <a:extLst>
              <a:ext uri="{FF2B5EF4-FFF2-40B4-BE49-F238E27FC236}">
                <a16:creationId xmlns:a16="http://schemas.microsoft.com/office/drawing/2014/main" id="{0B056F2D-FE29-4725-A3F3-CA2EBC006FB4}"/>
              </a:ext>
            </a:extLst>
          </p:cNvPr>
          <p:cNvCxnSpPr>
            <a:cxnSpLocks/>
            <a:stCxn id="223" idx="2"/>
            <a:endCxn id="249" idx="0"/>
          </p:cNvCxnSpPr>
          <p:nvPr/>
        </p:nvCxnSpPr>
        <p:spPr>
          <a:xfrm>
            <a:off x="7501076" y="2215221"/>
            <a:ext cx="2" cy="201448"/>
          </a:xfrm>
          <a:prstGeom prst="straightConnector1">
            <a:avLst/>
          </a:prstGeom>
          <a:noFill/>
          <a:ln w="11430">
            <a:solidFill>
              <a:srgbClr val="888C91"/>
            </a:solidFill>
            <a:prstDash val="solid"/>
            <a:headEnd type="none"/>
            <a:tailEnd type="triangle"/>
          </a:ln>
        </p:spPr>
      </p:cxnSp>
      <p:sp>
        <p:nvSpPr>
          <p:cNvPr id="236" name="직사각형 235">
            <a:extLst>
              <a:ext uri="{FF2B5EF4-FFF2-40B4-BE49-F238E27FC236}">
                <a16:creationId xmlns:a16="http://schemas.microsoft.com/office/drawing/2014/main" id="{362F8D9F-BDB3-4426-BE60-50824CFD8181}"/>
              </a:ext>
            </a:extLst>
          </p:cNvPr>
          <p:cNvSpPr/>
          <p:nvPr/>
        </p:nvSpPr>
        <p:spPr>
          <a:xfrm>
            <a:off x="9435306" y="1763109"/>
            <a:ext cx="1921313" cy="271459"/>
          </a:xfrm>
          <a:prstGeom prst="rect">
            <a:avLst/>
          </a:prstGeom>
          <a:noFill/>
          <a:ln w="12700">
            <a:noFill/>
            <a:prstDash val="dash"/>
          </a:ln>
        </p:spPr>
        <p:txBody>
          <a:bodyPr rtlCol="0" anchor="ctr"/>
          <a:lstStyle/>
          <a:p>
            <a:pPr algn="ctr"/>
            <a:r>
              <a:rPr lang="en-US" altLang="ko-KR" sz="900" dirty="0">
                <a:solidFill>
                  <a:srgbClr val="FF0000"/>
                </a:solidFill>
              </a:rPr>
              <a:t>Decision</a:t>
            </a:r>
          </a:p>
        </p:txBody>
      </p:sp>
      <p:grpSp>
        <p:nvGrpSpPr>
          <p:cNvPr id="237" name="그룹 236">
            <a:extLst>
              <a:ext uri="{FF2B5EF4-FFF2-40B4-BE49-F238E27FC236}">
                <a16:creationId xmlns:a16="http://schemas.microsoft.com/office/drawing/2014/main" id="{66104227-632F-4532-A15F-A94E4AD0E570}"/>
              </a:ext>
            </a:extLst>
          </p:cNvPr>
          <p:cNvGrpSpPr/>
          <p:nvPr/>
        </p:nvGrpSpPr>
        <p:grpSpPr>
          <a:xfrm>
            <a:off x="6822741" y="2416669"/>
            <a:ext cx="1359852" cy="1199696"/>
            <a:chOff x="6330553" y="2404429"/>
            <a:chExt cx="1830129" cy="1451634"/>
          </a:xfrm>
        </p:grpSpPr>
        <p:sp>
          <p:nvSpPr>
            <p:cNvPr id="249" name="Shape 37">
              <a:extLst>
                <a:ext uri="{FF2B5EF4-FFF2-40B4-BE49-F238E27FC236}">
                  <a16:creationId xmlns:a16="http://schemas.microsoft.com/office/drawing/2014/main" id="{4BEDC545-66DD-4655-A68A-E3E610279C82}"/>
                </a:ext>
              </a:extLst>
            </p:cNvPr>
            <p:cNvSpPr/>
            <p:nvPr/>
          </p:nvSpPr>
          <p:spPr>
            <a:xfrm>
              <a:off x="6330553" y="2404429"/>
              <a:ext cx="1825852" cy="395582"/>
            </a:xfrm>
            <a:prstGeom prst="rect">
              <a:avLst/>
            </a:prstGeom>
            <a:solidFill>
              <a:srgbClr val="FFFFFF"/>
            </a:solidFill>
            <a:ln w="9525">
              <a:solidFill>
                <a:schemeClr val="tx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Prefill/Decode Execution Planner</a:t>
              </a:r>
            </a:p>
          </p:txBody>
        </p:sp>
        <p:sp>
          <p:nvSpPr>
            <p:cNvPr id="252" name="Shape 37">
              <a:extLst>
                <a:ext uri="{FF2B5EF4-FFF2-40B4-BE49-F238E27FC236}">
                  <a16:creationId xmlns:a16="http://schemas.microsoft.com/office/drawing/2014/main" id="{3B719E66-F236-4D8A-A4DD-359F1145DC18}"/>
                </a:ext>
              </a:extLst>
            </p:cNvPr>
            <p:cNvSpPr/>
            <p:nvPr/>
          </p:nvSpPr>
          <p:spPr>
            <a:xfrm>
              <a:off x="6561862" y="2908105"/>
              <a:ext cx="1371789" cy="270187"/>
            </a:xfrm>
            <a:prstGeom prst="rect">
              <a:avLst/>
            </a:prstGeom>
            <a:solidFill>
              <a:srgbClr val="FFFFFF"/>
            </a:solidFill>
            <a:ln w="9525">
              <a:solidFill>
                <a:schemeClr val="tx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Cost Evaluator</a:t>
              </a:r>
            </a:p>
          </p:txBody>
        </p:sp>
        <p:cxnSp>
          <p:nvCxnSpPr>
            <p:cNvPr id="253" name="직선 화살표 연결선 185">
              <a:extLst>
                <a:ext uri="{FF2B5EF4-FFF2-40B4-BE49-F238E27FC236}">
                  <a16:creationId xmlns:a16="http://schemas.microsoft.com/office/drawing/2014/main" id="{7DF56018-1135-4C31-BF01-C43F9DB53B8F}"/>
                </a:ext>
              </a:extLst>
            </p:cNvPr>
            <p:cNvCxnSpPr>
              <a:cxnSpLocks/>
              <a:stCxn id="249" idx="2"/>
              <a:endCxn id="252" idx="0"/>
            </p:cNvCxnSpPr>
            <p:nvPr/>
          </p:nvCxnSpPr>
          <p:spPr>
            <a:xfrm>
              <a:off x="7243479" y="2800011"/>
              <a:ext cx="4278" cy="108094"/>
            </a:xfrm>
            <a:prstGeom prst="straightConnector1">
              <a:avLst/>
            </a:prstGeom>
            <a:noFill/>
            <a:ln w="9525">
              <a:solidFill>
                <a:schemeClr val="tx1"/>
              </a:solidFill>
              <a:prstDash val="solid"/>
              <a:headEnd type="none" w="med" len="med"/>
              <a:tailEnd type="triangle" w="med" len="med"/>
            </a:ln>
          </p:spPr>
        </p:cxnSp>
        <p:sp>
          <p:nvSpPr>
            <p:cNvPr id="254" name="Shape 37">
              <a:extLst>
                <a:ext uri="{FF2B5EF4-FFF2-40B4-BE49-F238E27FC236}">
                  <a16:creationId xmlns:a16="http://schemas.microsoft.com/office/drawing/2014/main" id="{2A62CB42-EEB8-43B7-BCDD-BC501C1BDA1F}"/>
                </a:ext>
              </a:extLst>
            </p:cNvPr>
            <p:cNvSpPr/>
            <p:nvPr/>
          </p:nvSpPr>
          <p:spPr>
            <a:xfrm>
              <a:off x="6334829" y="3329544"/>
              <a:ext cx="1825853" cy="526519"/>
            </a:xfrm>
            <a:prstGeom prst="rect">
              <a:avLst/>
            </a:prstGeom>
            <a:solidFill>
              <a:schemeClr val="accent4">
                <a:lumMod val="20000"/>
                <a:lumOff val="80000"/>
              </a:schemeClr>
            </a:solidFill>
            <a:ln w="12700">
              <a:solidFill>
                <a:srgbClr val="C76E31"/>
              </a:solidFill>
              <a:prstDash val="solid"/>
            </a:ln>
          </p:spPr>
          <p:txBody>
            <a:bodyPr anchor="t"/>
            <a:lstStyle/>
            <a:p>
              <a:pPr algn="ctr"/>
              <a:r>
                <a:rPr lang="en-US" altLang="ko-KR" sz="900" b="1" dirty="0">
                  <a:solidFill>
                    <a:srgbClr val="1A1A1A"/>
                  </a:solidFill>
                  <a:latin typeface="Malgun Gothic" pitchFamily="34" charset="0"/>
                  <a:ea typeface="Malgun Gothic" pitchFamily="34" charset="-122"/>
                </a:rPr>
                <a:t>Plan</a:t>
              </a:r>
              <a:r>
                <a:rPr lang="ko-KR" altLang="en-US" sz="900" b="1" dirty="0">
                  <a:solidFill>
                    <a:srgbClr val="1A1A1A"/>
                  </a:solidFill>
                  <a:latin typeface="Malgun Gothic" pitchFamily="34" charset="0"/>
                  <a:ea typeface="Malgun Gothic" pitchFamily="34" charset="-122"/>
                </a:rPr>
                <a:t> </a:t>
              </a:r>
              <a:r>
                <a:rPr lang="en-US" altLang="ko-KR" sz="900" b="1" dirty="0">
                  <a:solidFill>
                    <a:srgbClr val="1A1A1A"/>
                  </a:solidFill>
                  <a:latin typeface="Malgun Gothic" pitchFamily="34" charset="0"/>
                  <a:ea typeface="Malgun Gothic" pitchFamily="34" charset="-122"/>
                </a:rPr>
                <a:t>Publisher</a:t>
              </a:r>
            </a:p>
          </p:txBody>
        </p:sp>
        <p:cxnSp>
          <p:nvCxnSpPr>
            <p:cNvPr id="255" name="직선 화살표 연결선 185">
              <a:extLst>
                <a:ext uri="{FF2B5EF4-FFF2-40B4-BE49-F238E27FC236}">
                  <a16:creationId xmlns:a16="http://schemas.microsoft.com/office/drawing/2014/main" id="{2D8BFBA6-054C-465C-BB99-DA2EF692189C}"/>
                </a:ext>
              </a:extLst>
            </p:cNvPr>
            <p:cNvCxnSpPr>
              <a:cxnSpLocks/>
              <a:stCxn id="252" idx="2"/>
              <a:endCxn id="254" idx="0"/>
            </p:cNvCxnSpPr>
            <p:nvPr/>
          </p:nvCxnSpPr>
          <p:spPr>
            <a:xfrm flipH="1">
              <a:off x="7247756" y="3178293"/>
              <a:ext cx="1" cy="151251"/>
            </a:xfrm>
            <a:prstGeom prst="straightConnector1">
              <a:avLst/>
            </a:prstGeom>
            <a:noFill/>
            <a:ln w="11430">
              <a:solidFill>
                <a:srgbClr val="888C91"/>
              </a:solidFill>
              <a:prstDash val="solid"/>
              <a:headEnd type="none"/>
              <a:tailEnd type="triangle"/>
            </a:ln>
          </p:spPr>
        </p:cxnSp>
      </p:grpSp>
      <p:sp>
        <p:nvSpPr>
          <p:cNvPr id="244" name="C2 freshness note">
            <a:extLst>
              <a:ext uri="{FF2B5EF4-FFF2-40B4-BE49-F238E27FC236}">
                <a16:creationId xmlns:a16="http://schemas.microsoft.com/office/drawing/2014/main" id="{6CDBB823-D88F-4179-AF8F-A7BA5D43B7BC}"/>
              </a:ext>
            </a:extLst>
          </p:cNvPr>
          <p:cNvSpPr txBox="1"/>
          <p:nvPr/>
        </p:nvSpPr>
        <p:spPr>
          <a:xfrm>
            <a:off x="7546558" y="3680819"/>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245" name="C2 freshness note">
            <a:extLst>
              <a:ext uri="{FF2B5EF4-FFF2-40B4-BE49-F238E27FC236}">
                <a16:creationId xmlns:a16="http://schemas.microsoft.com/office/drawing/2014/main" id="{1BC6499B-FF93-4BF7-AC46-B40964266EDA}"/>
              </a:ext>
            </a:extLst>
          </p:cNvPr>
          <p:cNvSpPr txBox="1"/>
          <p:nvPr/>
        </p:nvSpPr>
        <p:spPr>
          <a:xfrm>
            <a:off x="10454479" y="3720694"/>
            <a:ext cx="542659"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208" name="Rectangle 72">
            <a:extLst>
              <a:ext uri="{FF2B5EF4-FFF2-40B4-BE49-F238E27FC236}">
                <a16:creationId xmlns:a16="http://schemas.microsoft.com/office/drawing/2014/main" id="{B1580EF9-18C1-4398-A6A7-79BDE5FB0E99}"/>
              </a:ext>
            </a:extLst>
          </p:cNvPr>
          <p:cNvSpPr/>
          <p:nvPr/>
        </p:nvSpPr>
        <p:spPr>
          <a:xfrm>
            <a:off x="6098867" y="1980022"/>
            <a:ext cx="687999" cy="292609"/>
          </a:xfrm>
          <a:prstGeom prst="rect">
            <a:avLst/>
          </a:prstGeom>
          <a:solidFill>
            <a:schemeClr val="accent2">
              <a:lumMod val="20000"/>
              <a:lumOff val="80000"/>
            </a:schemeClr>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lang="ko-KR" altLang="en-US" sz="900" b="1" dirty="0">
                <a:solidFill>
                  <a:schemeClr val="tx1"/>
                </a:solidFill>
                <a:latin typeface="맑은 고딕"/>
                <a:ea typeface="맑은 고딕"/>
              </a:rPr>
              <a:t>②</a:t>
            </a:r>
            <a:r>
              <a:rPr sz="900" b="1" i="0" dirty="0">
                <a:solidFill>
                  <a:schemeClr val="tx1"/>
                </a:solidFill>
                <a:latin typeface="맑은 고딕"/>
                <a:ea typeface="맑은 고딕"/>
              </a:rPr>
              <a:t> </a:t>
            </a:r>
            <a:r>
              <a:rPr lang="en-US" sz="900" b="1" i="0" dirty="0">
                <a:solidFill>
                  <a:schemeClr val="tx1"/>
                </a:solidFill>
                <a:latin typeface="맑은 고딕"/>
                <a:ea typeface="맑은 고딕"/>
              </a:rPr>
              <a:t>Plan age </a:t>
            </a:r>
            <a:r>
              <a:rPr lang="ko-KR" altLang="en-US" sz="900" b="1" i="0" dirty="0">
                <a:solidFill>
                  <a:schemeClr val="tx1"/>
                </a:solidFill>
                <a:latin typeface="맑은 고딕"/>
                <a:ea typeface="맑은 고딕"/>
              </a:rPr>
              <a:t>조절</a:t>
            </a:r>
            <a:endParaRPr sz="900" b="1" i="0" dirty="0">
              <a:solidFill>
                <a:schemeClr val="tx1"/>
              </a:solidFill>
              <a:latin typeface="맑은 고딕"/>
              <a:ea typeface="맑은 고딕"/>
            </a:endParaRPr>
          </a:p>
        </p:txBody>
      </p:sp>
      <p:cxnSp>
        <p:nvCxnSpPr>
          <p:cNvPr id="209" name="Connector 73">
            <a:extLst>
              <a:ext uri="{FF2B5EF4-FFF2-40B4-BE49-F238E27FC236}">
                <a16:creationId xmlns:a16="http://schemas.microsoft.com/office/drawing/2014/main" id="{36B8346B-263D-4054-9586-665ED38BBD97}"/>
              </a:ext>
            </a:extLst>
          </p:cNvPr>
          <p:cNvCxnSpPr>
            <a:cxnSpLocks/>
            <a:stCxn id="208" idx="3"/>
          </p:cNvCxnSpPr>
          <p:nvPr/>
        </p:nvCxnSpPr>
        <p:spPr>
          <a:xfrm>
            <a:off x="6786866" y="2126327"/>
            <a:ext cx="249313" cy="0"/>
          </a:xfrm>
          <a:prstGeom prst="line">
            <a:avLst/>
          </a:prstGeom>
          <a:ln w="12700">
            <a:solidFill>
              <a:schemeClr val="accent6">
                <a:lumMod val="75000"/>
              </a:schemeClr>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0" name="TextBox 209">
            <a:extLst>
              <a:ext uri="{FF2B5EF4-FFF2-40B4-BE49-F238E27FC236}">
                <a16:creationId xmlns:a16="http://schemas.microsoft.com/office/drawing/2014/main" id="{3836ECBB-F50B-4462-AF0B-785DCB30583C}"/>
              </a:ext>
            </a:extLst>
          </p:cNvPr>
          <p:cNvSpPr txBox="1"/>
          <p:nvPr/>
        </p:nvSpPr>
        <p:spPr>
          <a:xfrm>
            <a:off x="7553029" y="2257772"/>
            <a:ext cx="1704411" cy="129266"/>
          </a:xfrm>
          <a:prstGeom prst="rect">
            <a:avLst/>
          </a:prstGeom>
          <a:noFill/>
        </p:spPr>
        <p:txBody>
          <a:bodyPr wrap="square" lIns="0" tIns="0" rIns="0" bIns="0" anchor="ctr">
            <a:spAutoFit/>
          </a:bodyPr>
          <a:lstStyle/>
          <a:p>
            <a:pPr>
              <a:lnSpc>
                <a:spcPct val="105000"/>
              </a:lnSpc>
            </a:pPr>
            <a:r>
              <a:rPr lang="en-US" altLang="ko-KR" sz="800" dirty="0">
                <a:solidFill>
                  <a:srgbClr val="FF0000"/>
                </a:solidFill>
                <a:ea typeface="맑은 고딕"/>
              </a:rPr>
              <a:t>plan age ≤ W × </a:t>
            </a:r>
            <a:r>
              <a:rPr lang="ko-KR" altLang="en-US" sz="800" dirty="0">
                <a:solidFill>
                  <a:srgbClr val="FF0000"/>
                </a:solidFill>
                <a:ea typeface="맑은 고딕"/>
              </a:rPr>
              <a:t>평균 </a:t>
            </a:r>
            <a:r>
              <a:rPr lang="ko-KR" altLang="en-US" sz="800" dirty="0" err="1">
                <a:solidFill>
                  <a:srgbClr val="FF0000"/>
                </a:solidFill>
                <a:ea typeface="맑은 고딕"/>
              </a:rPr>
              <a:t>서비스시간</a:t>
            </a:r>
            <a:endParaRPr sz="650" b="0" i="0" dirty="0">
              <a:solidFill>
                <a:srgbClr val="FF0000"/>
              </a:solidFill>
              <a:latin typeface="맑은 고딕"/>
              <a:ea typeface="맑은 고딕"/>
            </a:endParaRPr>
          </a:p>
        </p:txBody>
      </p:sp>
      <p:sp>
        <p:nvSpPr>
          <p:cNvPr id="218" name="Rectangle 90">
            <a:extLst>
              <a:ext uri="{FF2B5EF4-FFF2-40B4-BE49-F238E27FC236}">
                <a16:creationId xmlns:a16="http://schemas.microsoft.com/office/drawing/2014/main" id="{393AF082-229B-4EA1-B973-529F7E5939CD}"/>
              </a:ext>
            </a:extLst>
          </p:cNvPr>
          <p:cNvSpPr/>
          <p:nvPr/>
        </p:nvSpPr>
        <p:spPr>
          <a:xfrm>
            <a:off x="6712743" y="4243058"/>
            <a:ext cx="2194560" cy="262988"/>
          </a:xfrm>
          <a:prstGeom prst="rect">
            <a:avLst/>
          </a:prstGeom>
          <a:solidFill>
            <a:schemeClr val="accent2">
              <a:lumMod val="20000"/>
              <a:lumOff val="80000"/>
            </a:schemeClr>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lang="ko-KR" altLang="en-US" sz="900" b="1" dirty="0">
                <a:solidFill>
                  <a:schemeClr val="tx1"/>
                </a:solidFill>
                <a:latin typeface="맑은 고딕"/>
                <a:ea typeface="맑은 고딕"/>
              </a:rPr>
              <a:t>③</a:t>
            </a:r>
            <a:r>
              <a:rPr sz="900" b="1" i="0" dirty="0">
                <a:solidFill>
                  <a:schemeClr val="tx1"/>
                </a:solidFill>
                <a:latin typeface="맑은 고딕"/>
                <a:ea typeface="맑은 고딕"/>
              </a:rPr>
              <a:t> </a:t>
            </a:r>
            <a:r>
              <a:rPr lang="en-US" sz="900" b="1" dirty="0">
                <a:solidFill>
                  <a:schemeClr val="tx1"/>
                </a:solidFill>
                <a:latin typeface="맑은 고딕"/>
                <a:ea typeface="맑은 고딕"/>
              </a:rPr>
              <a:t>Load</a:t>
            </a:r>
            <a:r>
              <a:rPr lang="ko-KR" altLang="en-US" sz="900" b="1" dirty="0">
                <a:solidFill>
                  <a:schemeClr val="tx1"/>
                </a:solidFill>
                <a:latin typeface="맑은 고딕"/>
                <a:ea typeface="맑은 고딕"/>
              </a:rPr>
              <a:t>에 따라 </a:t>
            </a:r>
            <a:r>
              <a:rPr lang="en-US" altLang="ko-KR" sz="900" b="1" dirty="0">
                <a:solidFill>
                  <a:schemeClr val="tx1"/>
                </a:solidFill>
                <a:latin typeface="맑은 고딕"/>
                <a:ea typeface="맑은 고딕"/>
              </a:rPr>
              <a:t>plan age, </a:t>
            </a:r>
            <a:r>
              <a:rPr lang="ko-KR" altLang="en-US" sz="900" b="1" dirty="0">
                <a:solidFill>
                  <a:schemeClr val="tx1"/>
                </a:solidFill>
                <a:latin typeface="맑은 고딕"/>
                <a:ea typeface="맑은 고딕"/>
              </a:rPr>
              <a:t>구간 조절</a:t>
            </a:r>
            <a:endParaRPr sz="900" b="1" i="0" dirty="0">
              <a:solidFill>
                <a:schemeClr val="tx1"/>
              </a:solidFill>
              <a:latin typeface="맑은 고딕"/>
              <a:ea typeface="맑은 고딕"/>
            </a:endParaRPr>
          </a:p>
        </p:txBody>
      </p:sp>
      <p:cxnSp>
        <p:nvCxnSpPr>
          <p:cNvPr id="219" name="Connector 91">
            <a:extLst>
              <a:ext uri="{FF2B5EF4-FFF2-40B4-BE49-F238E27FC236}">
                <a16:creationId xmlns:a16="http://schemas.microsoft.com/office/drawing/2014/main" id="{CA4C1222-DD39-4CB4-9CC3-03ED0A73CBF2}"/>
              </a:ext>
            </a:extLst>
          </p:cNvPr>
          <p:cNvCxnSpPr>
            <a:cxnSpLocks/>
          </p:cNvCxnSpPr>
          <p:nvPr/>
        </p:nvCxnSpPr>
        <p:spPr>
          <a:xfrm flipV="1">
            <a:off x="6911523" y="3586363"/>
            <a:ext cx="0" cy="660487"/>
          </a:xfrm>
          <a:prstGeom prst="line">
            <a:avLst/>
          </a:prstGeom>
          <a:ln w="12700">
            <a:solidFill>
              <a:schemeClr val="accent6">
                <a:lumMod val="75000"/>
              </a:schemeClr>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1" name="Rectangle 99">
            <a:extLst>
              <a:ext uri="{FF2B5EF4-FFF2-40B4-BE49-F238E27FC236}">
                <a16:creationId xmlns:a16="http://schemas.microsoft.com/office/drawing/2014/main" id="{DEC58700-628A-46D6-8DB4-59853C5D7B6E}"/>
              </a:ext>
            </a:extLst>
          </p:cNvPr>
          <p:cNvSpPr/>
          <p:nvPr/>
        </p:nvSpPr>
        <p:spPr>
          <a:xfrm>
            <a:off x="9599831" y="2926911"/>
            <a:ext cx="1592264" cy="543913"/>
          </a:xfrm>
          <a:prstGeom prst="rect">
            <a:avLst/>
          </a:prstGeom>
          <a:solidFill>
            <a:schemeClr val="accent2">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a:solidFill>
                  <a:srgbClr val="404040"/>
                </a:solidFill>
                <a:latin typeface="맑은 고딕"/>
                <a:ea typeface="맑은 고딕"/>
              </a:rPr>
              <a:t>① </a:t>
            </a:r>
            <a:r>
              <a:rPr lang="en-US" sz="900" b="1" i="0" dirty="0">
                <a:solidFill>
                  <a:srgbClr val="404040"/>
                </a:solidFill>
                <a:latin typeface="맑은 고딕"/>
                <a:ea typeface="맑은 고딕"/>
              </a:rPr>
              <a:t>Mismatch </a:t>
            </a:r>
            <a:r>
              <a:rPr lang="ko-KR" altLang="en-US" sz="900" b="1" i="0" dirty="0">
                <a:solidFill>
                  <a:srgbClr val="404040"/>
                </a:solidFill>
                <a:latin typeface="맑은 고딕"/>
                <a:ea typeface="맑은 고딕"/>
              </a:rPr>
              <a:t>시 구간</a:t>
            </a:r>
            <a:r>
              <a:rPr lang="en-US" altLang="ko-KR" sz="900" b="1" i="0" dirty="0">
                <a:solidFill>
                  <a:srgbClr val="404040"/>
                </a:solidFill>
                <a:latin typeface="맑은 고딕"/>
                <a:ea typeface="맑은 고딕"/>
              </a:rPr>
              <a:t>(</a:t>
            </a:r>
            <a:r>
              <a:rPr lang="en-US" altLang="ko-KR" sz="900" b="1" dirty="0">
                <a:solidFill>
                  <a:srgbClr val="404040"/>
                </a:solidFill>
                <a:latin typeface="맑은 고딕"/>
                <a:ea typeface="맑은 고딕"/>
              </a:rPr>
              <a:t>k)</a:t>
            </a:r>
            <a:r>
              <a:rPr lang="ko-KR" altLang="en-US" sz="900" b="1" i="0" dirty="0">
                <a:solidFill>
                  <a:srgbClr val="404040"/>
                </a:solidFill>
                <a:latin typeface="맑은 고딕"/>
                <a:ea typeface="맑은 고딕"/>
              </a:rPr>
              <a:t> 조회</a:t>
            </a:r>
            <a:endParaRPr lang="en-US" altLang="ko-KR" sz="900" b="1" dirty="0">
              <a:solidFill>
                <a:srgbClr val="404040"/>
              </a:solidFill>
              <a:latin typeface="맑은 고딕"/>
              <a:ea typeface="맑은 고딕"/>
            </a:endParaRPr>
          </a:p>
          <a:p>
            <a:pPr algn="ctr">
              <a:lnSpc>
                <a:spcPct val="150000"/>
              </a:lnSpc>
            </a:pPr>
            <a:r>
              <a:rPr lang="en-US" altLang="ko-KR" sz="900" b="1" dirty="0">
                <a:solidFill>
                  <a:srgbClr val="404040"/>
                </a:solidFill>
                <a:latin typeface="맑은 고딕"/>
                <a:ea typeface="맑은 고딕"/>
              </a:rPr>
              <a:t>1</a:t>
            </a:r>
            <a:r>
              <a:rPr lang="ko-KR" altLang="en-US" sz="900" b="1" dirty="0">
                <a:solidFill>
                  <a:srgbClr val="404040"/>
                </a:solidFill>
                <a:latin typeface="맑은 고딕"/>
                <a:ea typeface="맑은 고딕"/>
              </a:rPr>
              <a:t>순위 </a:t>
            </a:r>
            <a:r>
              <a:rPr lang="en-US" altLang="ko-KR" sz="900" b="1" dirty="0">
                <a:solidFill>
                  <a:srgbClr val="404040"/>
                </a:solidFill>
                <a:latin typeface="맑은 고딕"/>
                <a:ea typeface="맑은 고딕"/>
              </a:rPr>
              <a:t>fail → 2</a:t>
            </a:r>
            <a:r>
              <a:rPr lang="ko-KR" altLang="en-US" sz="900" b="1" dirty="0">
                <a:solidFill>
                  <a:srgbClr val="404040"/>
                </a:solidFill>
                <a:latin typeface="맑은 고딕"/>
                <a:ea typeface="맑은 고딕"/>
              </a:rPr>
              <a:t>순위 선택</a:t>
            </a:r>
          </a:p>
        </p:txBody>
      </p:sp>
      <p:sp>
        <p:nvSpPr>
          <p:cNvPr id="222" name="Rectangle 99">
            <a:extLst>
              <a:ext uri="{FF2B5EF4-FFF2-40B4-BE49-F238E27FC236}">
                <a16:creationId xmlns:a16="http://schemas.microsoft.com/office/drawing/2014/main" id="{AC7EA8DB-BC4B-4D91-B691-7CA48A2BFA88}"/>
              </a:ext>
            </a:extLst>
          </p:cNvPr>
          <p:cNvSpPr/>
          <p:nvPr/>
        </p:nvSpPr>
        <p:spPr>
          <a:xfrm>
            <a:off x="7020409" y="3373532"/>
            <a:ext cx="973633" cy="167992"/>
          </a:xfrm>
          <a:prstGeom prst="rect">
            <a:avLst/>
          </a:prstGeom>
          <a:solidFill>
            <a:schemeClr val="accent2">
              <a:lumMod val="20000"/>
              <a:lumOff val="80000"/>
            </a:schemeClr>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lang="en-US" sz="800" b="1" dirty="0">
                <a:solidFill>
                  <a:srgbClr val="404040"/>
                </a:solidFill>
                <a:latin typeface="맑은 고딕"/>
                <a:ea typeface="맑은 고딕"/>
              </a:rPr>
              <a:t>Plan </a:t>
            </a:r>
            <a:r>
              <a:rPr lang="ko-KR" altLang="en-US" sz="800" b="1" dirty="0">
                <a:solidFill>
                  <a:srgbClr val="404040"/>
                </a:solidFill>
                <a:latin typeface="맑은 고딕"/>
                <a:ea typeface="맑은 고딕"/>
              </a:rPr>
              <a:t>구간 가변</a:t>
            </a:r>
          </a:p>
        </p:txBody>
      </p:sp>
      <p:grpSp>
        <p:nvGrpSpPr>
          <p:cNvPr id="259" name="그룹 258">
            <a:extLst>
              <a:ext uri="{FF2B5EF4-FFF2-40B4-BE49-F238E27FC236}">
                <a16:creationId xmlns:a16="http://schemas.microsoft.com/office/drawing/2014/main" id="{010BE734-ED4C-4304-B91C-30745AE9AA7F}"/>
              </a:ext>
            </a:extLst>
          </p:cNvPr>
          <p:cNvGrpSpPr/>
          <p:nvPr/>
        </p:nvGrpSpPr>
        <p:grpSpPr>
          <a:xfrm>
            <a:off x="11177254" y="4055258"/>
            <a:ext cx="805575" cy="488318"/>
            <a:chOff x="11056831" y="3583489"/>
            <a:chExt cx="886133" cy="488318"/>
          </a:xfrm>
        </p:grpSpPr>
        <p:sp>
          <p:nvSpPr>
            <p:cNvPr id="261" name="KV Cache Manager">
              <a:extLst>
                <a:ext uri="{FF2B5EF4-FFF2-40B4-BE49-F238E27FC236}">
                  <a16:creationId xmlns:a16="http://schemas.microsoft.com/office/drawing/2014/main" id="{7193BC83-981B-478E-BB00-B0CCD220C611}"/>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QA2 </a:t>
              </a:r>
              <a:r>
                <a:rPr lang="ko-KR" altLang="en-US" sz="800" b="1" dirty="0">
                  <a:solidFill>
                    <a:schemeClr val="tx1"/>
                  </a:solidFill>
                </a:rPr>
                <a:t>보완</a:t>
              </a:r>
              <a:endParaRPr lang="en-US" altLang="ko-KR" sz="800" b="1" dirty="0">
                <a:solidFill>
                  <a:schemeClr val="tx1"/>
                </a:solidFill>
              </a:endParaRPr>
            </a:p>
          </p:txBody>
        </p:sp>
        <p:sp>
          <p:nvSpPr>
            <p:cNvPr id="262" name="직사각형 261">
              <a:extLst>
                <a:ext uri="{FF2B5EF4-FFF2-40B4-BE49-F238E27FC236}">
                  <a16:creationId xmlns:a16="http://schemas.microsoft.com/office/drawing/2014/main" id="{C84C114C-72C6-4726-8195-A62CCA108A92}"/>
                </a:ext>
              </a:extLst>
            </p:cNvPr>
            <p:cNvSpPr/>
            <p:nvPr/>
          </p:nvSpPr>
          <p:spPr>
            <a:xfrm>
              <a:off x="11056831" y="3583489"/>
              <a:ext cx="886133" cy="488318"/>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grpSp>
        <p:nvGrpSpPr>
          <p:cNvPr id="122" name="그룹 121">
            <a:extLst>
              <a:ext uri="{FF2B5EF4-FFF2-40B4-BE49-F238E27FC236}">
                <a16:creationId xmlns:a16="http://schemas.microsoft.com/office/drawing/2014/main" id="{2D332D0F-0324-46B1-B1F2-8FDFA83DC440}"/>
              </a:ext>
            </a:extLst>
          </p:cNvPr>
          <p:cNvGrpSpPr/>
          <p:nvPr/>
        </p:nvGrpSpPr>
        <p:grpSpPr>
          <a:xfrm>
            <a:off x="1099149" y="1697097"/>
            <a:ext cx="4889036" cy="2718256"/>
            <a:chOff x="6650290" y="1836885"/>
            <a:chExt cx="5377940" cy="2718256"/>
          </a:xfrm>
        </p:grpSpPr>
        <p:sp>
          <p:nvSpPr>
            <p:cNvPr id="136" name="Shape 31">
              <a:extLst>
                <a:ext uri="{FF2B5EF4-FFF2-40B4-BE49-F238E27FC236}">
                  <a16:creationId xmlns:a16="http://schemas.microsoft.com/office/drawing/2014/main" id="{2CB8AAFC-DFAB-4056-A6EA-BB95D28E11E9}"/>
                </a:ext>
              </a:extLst>
            </p:cNvPr>
            <p:cNvSpPr/>
            <p:nvPr/>
          </p:nvSpPr>
          <p:spPr>
            <a:xfrm>
              <a:off x="6968158" y="222990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137" name="원통 136"/>
            <p:cNvSpPr/>
            <p:nvPr/>
          </p:nvSpPr>
          <p:spPr>
            <a:xfrm>
              <a:off x="7352643" y="4250503"/>
              <a:ext cx="1106485" cy="301105"/>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38" name="직선 화살표 연결선 185">
              <a:extLst>
                <a:ext uri="{FF2B5EF4-FFF2-40B4-BE49-F238E27FC236}">
                  <a16:creationId xmlns:a16="http://schemas.microsoft.com/office/drawing/2014/main" id="{D76D373A-AD73-4958-8644-743AF962871F}"/>
                </a:ext>
              </a:extLst>
            </p:cNvPr>
            <p:cNvCxnSpPr>
              <a:cxnSpLocks/>
            </p:cNvCxnSpPr>
            <p:nvPr/>
          </p:nvCxnSpPr>
          <p:spPr>
            <a:xfrm flipH="1">
              <a:off x="7585118" y="3976053"/>
              <a:ext cx="127" cy="242833"/>
            </a:xfrm>
            <a:prstGeom prst="straightConnector1">
              <a:avLst/>
            </a:prstGeom>
            <a:noFill/>
            <a:ln w="12700">
              <a:solidFill>
                <a:srgbClr val="C76E31"/>
              </a:solidFill>
              <a:prstDash val="solid"/>
              <a:headEnd type="none" w="med" len="med"/>
              <a:tailEnd type="triangle" w="med" len="med"/>
            </a:ln>
          </p:spPr>
        </p:cxnSp>
        <p:cxnSp>
          <p:nvCxnSpPr>
            <p:cNvPr id="139" name="직선 화살표 연결선 185">
              <a:extLst>
                <a:ext uri="{FF2B5EF4-FFF2-40B4-BE49-F238E27FC236}">
                  <a16:creationId xmlns:a16="http://schemas.microsoft.com/office/drawing/2014/main" id="{D76D373A-AD73-4958-8644-743AF962871F}"/>
                </a:ext>
              </a:extLst>
            </p:cNvPr>
            <p:cNvCxnSpPr>
              <a:cxnSpLocks/>
              <a:stCxn id="192" idx="2"/>
              <a:endCxn id="195" idx="0"/>
            </p:cNvCxnSpPr>
            <p:nvPr/>
          </p:nvCxnSpPr>
          <p:spPr>
            <a:xfrm flipH="1">
              <a:off x="10700123" y="2548568"/>
              <a:ext cx="1" cy="362513"/>
            </a:xfrm>
            <a:prstGeom prst="straightConnector1">
              <a:avLst/>
            </a:prstGeom>
            <a:noFill/>
            <a:ln w="11430">
              <a:solidFill>
                <a:srgbClr val="888C91"/>
              </a:solidFill>
              <a:prstDash val="solid"/>
              <a:headEnd type="none"/>
              <a:tailEnd type="triangle"/>
            </a:ln>
          </p:spPr>
        </p:cxnSp>
        <p:sp>
          <p:nvSpPr>
            <p:cNvPr id="140" name="직사각형 139">
              <a:extLst>
                <a:ext uri="{FF2B5EF4-FFF2-40B4-BE49-F238E27FC236}">
                  <a16:creationId xmlns:a16="http://schemas.microsoft.com/office/drawing/2014/main" id="{1F732118-666E-4542-8530-F6AD2A384259}"/>
                </a:ext>
              </a:extLst>
            </p:cNvPr>
            <p:cNvSpPr/>
            <p:nvPr/>
          </p:nvSpPr>
          <p:spPr>
            <a:xfrm>
              <a:off x="6761966" y="1864405"/>
              <a:ext cx="2152357" cy="271459"/>
            </a:xfrm>
            <a:prstGeom prst="rect">
              <a:avLst/>
            </a:prstGeom>
            <a:noFill/>
            <a:ln w="12700">
              <a:noFill/>
              <a:prstDash val="dash"/>
            </a:ln>
          </p:spPr>
          <p:txBody>
            <a:bodyPr rtlCol="0" anchor="ctr"/>
            <a:lstStyle/>
            <a:p>
              <a:pPr algn="ctr"/>
              <a:r>
                <a:rPr lang="en-US" altLang="ko-KR" sz="900" dirty="0">
                  <a:solidFill>
                    <a:srgbClr val="FF0000"/>
                  </a:solidFill>
                </a:rPr>
                <a:t>Plan</a:t>
              </a:r>
            </a:p>
          </p:txBody>
        </p:sp>
        <p:grpSp>
          <p:nvGrpSpPr>
            <p:cNvPr id="141" name="그룹 140">
              <a:extLst>
                <a:ext uri="{FF2B5EF4-FFF2-40B4-BE49-F238E27FC236}">
                  <a16:creationId xmlns:a16="http://schemas.microsoft.com/office/drawing/2014/main" id="{1F768021-5962-4FEE-86A6-9A65D654BAE1}"/>
                </a:ext>
              </a:extLst>
            </p:cNvPr>
            <p:cNvGrpSpPr/>
            <p:nvPr/>
          </p:nvGrpSpPr>
          <p:grpSpPr>
            <a:xfrm>
              <a:off x="10058398" y="2282562"/>
              <a:ext cx="1283450" cy="1611647"/>
              <a:chOff x="13158709" y="2383427"/>
              <a:chExt cx="1283450" cy="1611647"/>
            </a:xfrm>
          </p:grpSpPr>
          <p:sp>
            <p:nvSpPr>
              <p:cNvPr id="192" name="Shape 31">
                <a:extLst>
                  <a:ext uri="{FF2B5EF4-FFF2-40B4-BE49-F238E27FC236}">
                    <a16:creationId xmlns:a16="http://schemas.microsoft.com/office/drawing/2014/main" id="{2CB8AAFC-DFAB-4056-A6EA-BB95D28E11E9}"/>
                  </a:ext>
                </a:extLst>
              </p:cNvPr>
              <p:cNvSpPr/>
              <p:nvPr/>
            </p:nvSpPr>
            <p:spPr>
              <a:xfrm>
                <a:off x="132170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95" name="Shape 31">
                <a:extLst>
                  <a:ext uri="{FF2B5EF4-FFF2-40B4-BE49-F238E27FC236}">
                    <a16:creationId xmlns:a16="http://schemas.microsoft.com/office/drawing/2014/main" id="{2CB8AAFC-DFAB-4056-A6EA-BB95D28E11E9}"/>
                  </a:ext>
                </a:extLst>
              </p:cNvPr>
              <p:cNvSpPr/>
              <p:nvPr/>
            </p:nvSpPr>
            <p:spPr>
              <a:xfrm>
                <a:off x="13158709" y="3011946"/>
                <a:ext cx="1283450" cy="392083"/>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Validator</a:t>
                </a:r>
              </a:p>
              <a:p>
                <a:pPr algn="ctr"/>
                <a:r>
                  <a:rPr lang="en-US" altLang="ko-KR" sz="900" b="1" dirty="0">
                    <a:solidFill>
                      <a:srgbClr val="FF0000"/>
                    </a:solidFill>
                    <a:latin typeface="Malgun Gothic" pitchFamily="34" charset="0"/>
                    <a:ea typeface="Malgun Gothic" pitchFamily="34" charset="-122"/>
                    <a:cs typeface="Malgun Gothic" pitchFamily="34" charset="-120"/>
                  </a:rPr>
                  <a:t>(Decision)</a:t>
                </a:r>
                <a:endParaRPr lang="ko-KR" altLang="en-US" sz="900" b="1" dirty="0">
                  <a:solidFill>
                    <a:srgbClr val="FF0000"/>
                  </a:solidFill>
                  <a:latin typeface="Malgun Gothic" pitchFamily="34" charset="0"/>
                  <a:ea typeface="Malgun Gothic" pitchFamily="34" charset="-122"/>
                  <a:cs typeface="Malgun Gothic" pitchFamily="34" charset="-120"/>
                </a:endParaRPr>
              </a:p>
            </p:txBody>
          </p:sp>
          <p:sp>
            <p:nvSpPr>
              <p:cNvPr id="196" name="Shape 31">
                <a:extLst>
                  <a:ext uri="{FF2B5EF4-FFF2-40B4-BE49-F238E27FC236}">
                    <a16:creationId xmlns:a16="http://schemas.microsoft.com/office/drawing/2014/main" id="{2CB8AAFC-DFAB-4056-A6EA-BB95D28E11E9}"/>
                  </a:ext>
                </a:extLst>
              </p:cNvPr>
              <p:cNvSpPr/>
              <p:nvPr/>
            </p:nvSpPr>
            <p:spPr>
              <a:xfrm>
                <a:off x="13158709" y="3729068"/>
                <a:ext cx="1283450" cy="266006"/>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endParaRPr lang="ko-KR" altLang="en-US" sz="1000" b="1" dirty="0">
                  <a:solidFill>
                    <a:srgbClr val="1A1A1A"/>
                  </a:solidFill>
                  <a:latin typeface="Malgun Gothic" pitchFamily="34" charset="0"/>
                  <a:ea typeface="Malgun Gothic" pitchFamily="34" charset="-122"/>
                </a:endParaRPr>
              </a:p>
            </p:txBody>
          </p:sp>
        </p:grpSp>
        <p:cxnSp>
          <p:nvCxnSpPr>
            <p:cNvPr id="142" name="직선 화살표 연결선 185">
              <a:extLst>
                <a:ext uri="{FF2B5EF4-FFF2-40B4-BE49-F238E27FC236}">
                  <a16:creationId xmlns:a16="http://schemas.microsoft.com/office/drawing/2014/main" id="{56498C45-0D93-4C3F-B12A-A34B786B2E88}"/>
                </a:ext>
              </a:extLst>
            </p:cNvPr>
            <p:cNvCxnSpPr>
              <a:cxnSpLocks/>
              <a:stCxn id="195" idx="2"/>
              <a:endCxn id="196" idx="0"/>
            </p:cNvCxnSpPr>
            <p:nvPr/>
          </p:nvCxnSpPr>
          <p:spPr>
            <a:xfrm>
              <a:off x="10700123" y="3303164"/>
              <a:ext cx="0" cy="325039"/>
            </a:xfrm>
            <a:prstGeom prst="straightConnector1">
              <a:avLst/>
            </a:prstGeom>
            <a:noFill/>
            <a:ln w="11430">
              <a:solidFill>
                <a:srgbClr val="888C91"/>
              </a:solidFill>
              <a:prstDash val="solid"/>
              <a:headEnd type="none"/>
              <a:tailEnd type="triangle"/>
            </a:ln>
          </p:spPr>
        </p:cxnSp>
        <p:cxnSp>
          <p:nvCxnSpPr>
            <p:cNvPr id="144" name="직선 화살표 연결선 185">
              <a:extLst>
                <a:ext uri="{FF2B5EF4-FFF2-40B4-BE49-F238E27FC236}">
                  <a16:creationId xmlns:a16="http://schemas.microsoft.com/office/drawing/2014/main" id="{D76D373A-AD73-4958-8644-743AF962871F}"/>
                </a:ext>
              </a:extLst>
            </p:cNvPr>
            <p:cNvCxnSpPr>
              <a:cxnSpLocks/>
            </p:cNvCxnSpPr>
            <p:nvPr/>
          </p:nvCxnSpPr>
          <p:spPr>
            <a:xfrm rot="10800000">
              <a:off x="8164462" y="2717377"/>
              <a:ext cx="1893937" cy="259939"/>
            </a:xfrm>
            <a:prstGeom prst="bentConnector3">
              <a:avLst>
                <a:gd name="adj1" fmla="val 30143"/>
              </a:avLst>
            </a:prstGeom>
            <a:noFill/>
            <a:ln w="9525">
              <a:solidFill>
                <a:srgbClr val="C76E31"/>
              </a:solidFill>
              <a:prstDash val="dash"/>
              <a:headEnd type="none" w="med" len="med"/>
              <a:tailEnd type="triangle" w="med" len="med"/>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96" idx="2"/>
              <a:endCxn id="163" idx="0"/>
            </p:cNvCxnSpPr>
            <p:nvPr/>
          </p:nvCxnSpPr>
          <p:spPr>
            <a:xfrm rot="5400000">
              <a:off x="10085450" y="3618942"/>
              <a:ext cx="339407" cy="889941"/>
            </a:xfrm>
            <a:prstGeom prst="bentConnector3">
              <a:avLst>
                <a:gd name="adj1" fmla="val 50000"/>
              </a:avLst>
            </a:prstGeom>
            <a:noFill/>
            <a:ln w="11430">
              <a:solidFill>
                <a:srgbClr val="888C91"/>
              </a:solidFill>
              <a:prstDash val="solid"/>
              <a:headEnd type="none"/>
              <a:tailEnd type="triangle"/>
            </a:ln>
          </p:spPr>
        </p:cxnSp>
        <p:cxnSp>
          <p:nvCxnSpPr>
            <p:cNvPr id="156" name="직선 화살표 연결선 185">
              <a:extLst>
                <a:ext uri="{FF2B5EF4-FFF2-40B4-BE49-F238E27FC236}">
                  <a16:creationId xmlns:a16="http://schemas.microsoft.com/office/drawing/2014/main" id="{D76D373A-AD73-4958-8644-743AF962871F}"/>
                </a:ext>
              </a:extLst>
            </p:cNvPr>
            <p:cNvCxnSpPr>
              <a:cxnSpLocks/>
              <a:stCxn id="196" idx="2"/>
              <a:endCxn id="165" idx="0"/>
            </p:cNvCxnSpPr>
            <p:nvPr/>
          </p:nvCxnSpPr>
          <p:spPr>
            <a:xfrm rot="16200000" flipH="1">
              <a:off x="11030038" y="3564293"/>
              <a:ext cx="339407" cy="999237"/>
            </a:xfrm>
            <a:prstGeom prst="bentConnector3">
              <a:avLst>
                <a:gd name="adj1" fmla="val 50000"/>
              </a:avLst>
            </a:prstGeom>
            <a:noFill/>
            <a:ln w="11430">
              <a:solidFill>
                <a:srgbClr val="888C91"/>
              </a:solidFill>
              <a:prstDash val="solid"/>
              <a:headEnd type="none"/>
              <a:tailEnd type="triangle"/>
            </a:ln>
          </p:spPr>
        </p:cxnSp>
        <p:cxnSp>
          <p:nvCxnSpPr>
            <p:cNvPr id="157" name="직선 화살표 연결선 185">
              <a:extLst>
                <a:ext uri="{FF2B5EF4-FFF2-40B4-BE49-F238E27FC236}">
                  <a16:creationId xmlns:a16="http://schemas.microsoft.com/office/drawing/2014/main" id="{D76D373A-AD73-4958-8644-743AF962871F}"/>
                </a:ext>
              </a:extLst>
            </p:cNvPr>
            <p:cNvCxnSpPr>
              <a:cxnSpLocks/>
              <a:stCxn id="196" idx="2"/>
              <a:endCxn id="162" idx="0"/>
            </p:cNvCxnSpPr>
            <p:nvPr/>
          </p:nvCxnSpPr>
          <p:spPr>
            <a:xfrm rot="5400000">
              <a:off x="10377259" y="3910751"/>
              <a:ext cx="339407" cy="306322"/>
            </a:xfrm>
            <a:prstGeom prst="bentConnector3">
              <a:avLst>
                <a:gd name="adj1" fmla="val 50000"/>
              </a:avLst>
            </a:prstGeom>
            <a:noFill/>
            <a:ln w="11430">
              <a:solidFill>
                <a:srgbClr val="888C91"/>
              </a:solidFill>
              <a:prstDash val="solid"/>
              <a:headEnd type="none"/>
              <a:tailEnd type="triangle"/>
            </a:ln>
          </p:spPr>
        </p:cxnSp>
        <p:cxnSp>
          <p:nvCxnSpPr>
            <p:cNvPr id="158" name="직선 화살표 연결선 185">
              <a:extLst>
                <a:ext uri="{FF2B5EF4-FFF2-40B4-BE49-F238E27FC236}">
                  <a16:creationId xmlns:a16="http://schemas.microsoft.com/office/drawing/2014/main" id="{D76D373A-AD73-4958-8644-743AF962871F}"/>
                </a:ext>
              </a:extLst>
            </p:cNvPr>
            <p:cNvCxnSpPr>
              <a:cxnSpLocks/>
              <a:stCxn id="136" idx="2"/>
              <a:endCxn id="185" idx="0"/>
            </p:cNvCxnSpPr>
            <p:nvPr/>
          </p:nvCxnSpPr>
          <p:spPr>
            <a:xfrm>
              <a:off x="7634416" y="2429761"/>
              <a:ext cx="2" cy="231001"/>
            </a:xfrm>
            <a:prstGeom prst="straightConnector1">
              <a:avLst/>
            </a:prstGeom>
            <a:noFill/>
            <a:ln w="11430">
              <a:solidFill>
                <a:srgbClr val="888C91"/>
              </a:solidFill>
              <a:prstDash val="solid"/>
              <a:headEnd type="none"/>
              <a:tailEnd type="triangle"/>
            </a:ln>
          </p:spPr>
        </p:cxnSp>
        <p:sp>
          <p:nvSpPr>
            <p:cNvPr id="159" name="TextBox 158"/>
            <p:cNvSpPr txBox="1"/>
            <p:nvPr/>
          </p:nvSpPr>
          <p:spPr>
            <a:xfrm>
              <a:off x="8406016" y="2555570"/>
              <a:ext cx="827393" cy="138499"/>
            </a:xfrm>
            <a:prstGeom prst="rect">
              <a:avLst/>
            </a:prstGeom>
            <a:noFill/>
          </p:spPr>
          <p:txBody>
            <a:bodyPr wrap="square" lIns="0" tIns="0" rIns="0" bIns="0" anchor="ctr">
              <a:spAutoFit/>
            </a:bodyPr>
            <a:lstStyle/>
            <a:p>
              <a:pPr algn="l">
                <a:lnSpc>
                  <a:spcPct val="100000"/>
                </a:lnSpc>
              </a:pPr>
              <a:r>
                <a:rPr sz="900" b="0" i="0" dirty="0">
                  <a:solidFill>
                    <a:srgbClr val="C55A11"/>
                  </a:solidFill>
                  <a:latin typeface="맑은 고딕"/>
                  <a:ea typeface="맑은 고딕"/>
                </a:rPr>
                <a:t>Async</a:t>
              </a:r>
              <a:r>
                <a:rPr lang="en-US" sz="900" b="0" i="0" dirty="0">
                  <a:solidFill>
                    <a:srgbClr val="C55A11"/>
                  </a:solidFill>
                  <a:latin typeface="맑은 고딕"/>
                  <a:ea typeface="맑은 고딕"/>
                </a:rPr>
                <a:t> </a:t>
              </a:r>
              <a:r>
                <a:rPr sz="900" b="0" i="0" dirty="0">
                  <a:solidFill>
                    <a:srgbClr val="C55A11"/>
                  </a:solidFill>
                  <a:latin typeface="맑은 고딕"/>
                  <a:ea typeface="맑은 고딕"/>
                </a:rPr>
                <a:t>re-plan</a:t>
              </a:r>
            </a:p>
          </p:txBody>
        </p:sp>
        <p:sp>
          <p:nvSpPr>
            <p:cNvPr id="160" name="직사각형 159">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rgbClr val="FF0000"/>
                  </a:solidFill>
                </a:rPr>
                <a:t>Decision</a:t>
              </a:r>
            </a:p>
          </p:txBody>
        </p:sp>
        <p:grpSp>
          <p:nvGrpSpPr>
            <p:cNvPr id="161" name="그룹 160">
              <a:extLst>
                <a:ext uri="{FF2B5EF4-FFF2-40B4-BE49-F238E27FC236}">
                  <a16:creationId xmlns:a16="http://schemas.microsoft.com/office/drawing/2014/main" id="{20247864-5FE1-4F69-9F2A-D6FA572B779B}"/>
                </a:ext>
              </a:extLst>
            </p:cNvPr>
            <p:cNvGrpSpPr/>
            <p:nvPr/>
          </p:nvGrpSpPr>
          <p:grpSpPr>
            <a:xfrm>
              <a:off x="6959257" y="2660762"/>
              <a:ext cx="2250800" cy="1353122"/>
              <a:chOff x="6334829" y="2532795"/>
              <a:chExt cx="3029193" cy="1637279"/>
            </a:xfrm>
          </p:grpSpPr>
          <p:sp>
            <p:nvSpPr>
              <p:cNvPr id="173" name="Shape 37">
                <a:extLst>
                  <a:ext uri="{FF2B5EF4-FFF2-40B4-BE49-F238E27FC236}">
                    <a16:creationId xmlns:a16="http://schemas.microsoft.com/office/drawing/2014/main" id="{90DAE390-C546-4459-96AF-4143F55DB1B8}"/>
                  </a:ext>
                </a:extLst>
              </p:cNvPr>
              <p:cNvSpPr/>
              <p:nvPr/>
            </p:nvSpPr>
            <p:spPr>
              <a:xfrm>
                <a:off x="8340414" y="2718034"/>
                <a:ext cx="1023608" cy="395581"/>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74" name="직선 화살표 연결선 185">
                <a:extLst>
                  <a:ext uri="{FF2B5EF4-FFF2-40B4-BE49-F238E27FC236}">
                    <a16:creationId xmlns:a16="http://schemas.microsoft.com/office/drawing/2014/main" id="{5147715F-B5AF-48FB-9317-FF7DCBEA214E}"/>
                  </a:ext>
                </a:extLst>
              </p:cNvPr>
              <p:cNvCxnSpPr>
                <a:cxnSpLocks/>
                <a:stCxn id="185" idx="3"/>
                <a:endCxn id="173" idx="1"/>
              </p:cNvCxnSpPr>
              <p:nvPr/>
            </p:nvCxnSpPr>
            <p:spPr>
              <a:xfrm>
                <a:off x="7929375" y="2750365"/>
                <a:ext cx="411039" cy="165459"/>
              </a:xfrm>
              <a:prstGeom prst="bentConnector3">
                <a:avLst>
                  <a:gd name="adj1" fmla="val 50000"/>
                </a:avLst>
              </a:prstGeom>
              <a:noFill/>
              <a:ln w="9525">
                <a:solidFill>
                  <a:schemeClr val="tx1"/>
                </a:solidFill>
                <a:prstDash val="solid"/>
                <a:headEnd type="none" w="med" len="med"/>
                <a:tailEnd type="triangle" w="med" len="med"/>
              </a:ln>
            </p:spPr>
          </p:cxnSp>
          <p:sp>
            <p:nvSpPr>
              <p:cNvPr id="185" name="Shape 37">
                <a:extLst>
                  <a:ext uri="{FF2B5EF4-FFF2-40B4-BE49-F238E27FC236}">
                    <a16:creationId xmlns:a16="http://schemas.microsoft.com/office/drawing/2014/main" id="{5A9E902C-C762-43E4-8FBB-2BC7D8D934DC}"/>
                  </a:ext>
                </a:extLst>
              </p:cNvPr>
              <p:cNvSpPr/>
              <p:nvPr/>
            </p:nvSpPr>
            <p:spPr>
              <a:xfrm>
                <a:off x="6557585" y="2532795"/>
                <a:ext cx="1371789" cy="43514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 </a:t>
                </a:r>
                <a:r>
                  <a:rPr lang="en-US" altLang="ko-KR" sz="900" b="1" dirty="0">
                    <a:solidFill>
                      <a:srgbClr val="FF0000"/>
                    </a:solidFill>
                  </a:rPr>
                  <a:t>(Plan)</a:t>
                </a:r>
              </a:p>
            </p:txBody>
          </p:sp>
          <p:sp>
            <p:nvSpPr>
              <p:cNvPr id="186" name="Shape 37">
                <a:extLst>
                  <a:ext uri="{FF2B5EF4-FFF2-40B4-BE49-F238E27FC236}">
                    <a16:creationId xmlns:a16="http://schemas.microsoft.com/office/drawing/2014/main" id="{6CC00633-A2ED-4E85-98F5-915767F01623}"/>
                  </a:ext>
                </a:extLst>
              </p:cNvPr>
              <p:cNvSpPr/>
              <p:nvPr/>
            </p:nvSpPr>
            <p:spPr>
              <a:xfrm>
                <a:off x="8340407" y="3195654"/>
                <a:ext cx="1023610" cy="55548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dirty="0">
                    <a:solidFill>
                      <a:srgbClr val="1A1A1A"/>
                    </a:solidFill>
                    <a:latin typeface="Malgun Gothic" pitchFamily="34" charset="0"/>
                    <a:ea typeface="Malgun Gothic" pitchFamily="34" charset="-122"/>
                    <a:cs typeface="Malgun Gothic" pitchFamily="34" charset="-120"/>
                  </a:rPr>
                  <a:t>Monitor</a:t>
                </a:r>
              </a:p>
            </p:txBody>
          </p:sp>
          <p:cxnSp>
            <p:nvCxnSpPr>
              <p:cNvPr id="187" name="직선 화살표 연결선 185">
                <a:extLst>
                  <a:ext uri="{FF2B5EF4-FFF2-40B4-BE49-F238E27FC236}">
                    <a16:creationId xmlns:a16="http://schemas.microsoft.com/office/drawing/2014/main" id="{A10F8AFC-DE84-4F55-A9D7-1E2452D3B196}"/>
                  </a:ext>
                </a:extLst>
              </p:cNvPr>
              <p:cNvCxnSpPr>
                <a:cxnSpLocks/>
                <a:stCxn id="185" idx="3"/>
                <a:endCxn id="186" idx="1"/>
              </p:cNvCxnSpPr>
              <p:nvPr/>
            </p:nvCxnSpPr>
            <p:spPr>
              <a:xfrm>
                <a:off x="7929375" y="2750365"/>
                <a:ext cx="411032" cy="723032"/>
              </a:xfrm>
              <a:prstGeom prst="bentConnector3">
                <a:avLst>
                  <a:gd name="adj1" fmla="val 50000"/>
                </a:avLst>
              </a:prstGeom>
              <a:noFill/>
              <a:ln w="9525">
                <a:solidFill>
                  <a:schemeClr val="tx1"/>
                </a:solidFill>
                <a:prstDash val="solid"/>
                <a:headEnd type="none" w="med" len="med"/>
                <a:tailEnd type="triangle" w="med" len="med"/>
              </a:ln>
            </p:spPr>
          </p:cxnSp>
          <p:sp>
            <p:nvSpPr>
              <p:cNvPr id="188" name="Shape 37">
                <a:extLst>
                  <a:ext uri="{FF2B5EF4-FFF2-40B4-BE49-F238E27FC236}">
                    <a16:creationId xmlns:a16="http://schemas.microsoft.com/office/drawing/2014/main" id="{70B458B8-8383-4A34-B3D0-8FE89C2B733A}"/>
                  </a:ext>
                </a:extLst>
              </p:cNvPr>
              <p:cNvSpPr/>
              <p:nvPr/>
            </p:nvSpPr>
            <p:spPr>
              <a:xfrm>
                <a:off x="6561862" y="3253418"/>
                <a:ext cx="1371789" cy="359618"/>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Cost Evaluator</a:t>
                </a:r>
              </a:p>
            </p:txBody>
          </p:sp>
          <p:cxnSp>
            <p:nvCxnSpPr>
              <p:cNvPr id="189" name="직선 화살표 연결선 185">
                <a:extLst>
                  <a:ext uri="{FF2B5EF4-FFF2-40B4-BE49-F238E27FC236}">
                    <a16:creationId xmlns:a16="http://schemas.microsoft.com/office/drawing/2014/main" id="{95D5E7CF-8934-4F6E-B767-D7C6E910F7F6}"/>
                  </a:ext>
                </a:extLst>
              </p:cNvPr>
              <p:cNvCxnSpPr>
                <a:cxnSpLocks/>
                <a:stCxn id="185" idx="2"/>
                <a:endCxn id="188" idx="0"/>
              </p:cNvCxnSpPr>
              <p:nvPr/>
            </p:nvCxnSpPr>
            <p:spPr>
              <a:xfrm>
                <a:off x="7243481" y="2967936"/>
                <a:ext cx="4277" cy="285483"/>
              </a:xfrm>
              <a:prstGeom prst="straightConnector1">
                <a:avLst/>
              </a:prstGeom>
              <a:noFill/>
              <a:ln w="9525">
                <a:solidFill>
                  <a:schemeClr val="tx1"/>
                </a:solidFill>
                <a:prstDash val="solid"/>
                <a:headEnd type="none" w="med" len="med"/>
                <a:tailEnd type="triangle" w="med" len="med"/>
              </a:ln>
            </p:spPr>
          </p:cxnSp>
          <p:sp>
            <p:nvSpPr>
              <p:cNvPr id="190" name="Shape 37">
                <a:extLst>
                  <a:ext uri="{FF2B5EF4-FFF2-40B4-BE49-F238E27FC236}">
                    <a16:creationId xmlns:a16="http://schemas.microsoft.com/office/drawing/2014/main" id="{F35F2B03-9D6C-46EF-9020-017926F86EEA}"/>
                  </a:ext>
                </a:extLst>
              </p:cNvPr>
              <p:cNvSpPr/>
              <p:nvPr/>
            </p:nvSpPr>
            <p:spPr>
              <a:xfrm>
                <a:off x="6334829" y="3810455"/>
                <a:ext cx="1825852" cy="359619"/>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Publisher</a:t>
                </a:r>
              </a:p>
            </p:txBody>
          </p:sp>
          <p:cxnSp>
            <p:nvCxnSpPr>
              <p:cNvPr id="191" name="직선 화살표 연결선 185">
                <a:extLst>
                  <a:ext uri="{FF2B5EF4-FFF2-40B4-BE49-F238E27FC236}">
                    <a16:creationId xmlns:a16="http://schemas.microsoft.com/office/drawing/2014/main" id="{68BFF503-4C29-43B1-9353-9A83B9332F63}"/>
                  </a:ext>
                </a:extLst>
              </p:cNvPr>
              <p:cNvCxnSpPr>
                <a:cxnSpLocks/>
                <a:stCxn id="188" idx="2"/>
                <a:endCxn id="190" idx="0"/>
              </p:cNvCxnSpPr>
              <p:nvPr/>
            </p:nvCxnSpPr>
            <p:spPr>
              <a:xfrm flipH="1">
                <a:off x="7247755" y="3613036"/>
                <a:ext cx="3" cy="197419"/>
              </a:xfrm>
              <a:prstGeom prst="straightConnector1">
                <a:avLst/>
              </a:prstGeom>
              <a:noFill/>
              <a:ln w="11430">
                <a:solidFill>
                  <a:srgbClr val="888C91"/>
                </a:solidFill>
                <a:prstDash val="solid"/>
                <a:headEnd type="none"/>
                <a:tailEnd type="triangle"/>
              </a:ln>
            </p:spPr>
          </p:cxnSp>
        </p:grpSp>
        <p:sp>
          <p:nvSpPr>
            <p:cNvPr id="162" name="Shape 31">
              <a:extLst>
                <a:ext uri="{FF2B5EF4-FFF2-40B4-BE49-F238E27FC236}">
                  <a16:creationId xmlns:a16="http://schemas.microsoft.com/office/drawing/2014/main" id="{7AB93E39-C877-4F6E-91E3-4818D5AD8143}"/>
                </a:ext>
              </a:extLst>
            </p:cNvPr>
            <p:cNvSpPr/>
            <p:nvPr/>
          </p:nvSpPr>
          <p:spPr>
            <a:xfrm>
              <a:off x="10122008"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63" name="Shape 31">
              <a:extLst>
                <a:ext uri="{FF2B5EF4-FFF2-40B4-BE49-F238E27FC236}">
                  <a16:creationId xmlns:a16="http://schemas.microsoft.com/office/drawing/2014/main" id="{0FE145B6-CE91-4FE8-9E63-351A03D67391}"/>
                </a:ext>
              </a:extLst>
            </p:cNvPr>
            <p:cNvSpPr/>
            <p:nvPr/>
          </p:nvSpPr>
          <p:spPr>
            <a:xfrm>
              <a:off x="9538389"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64" name="Shape 31">
              <a:extLst>
                <a:ext uri="{FF2B5EF4-FFF2-40B4-BE49-F238E27FC236}">
                  <a16:creationId xmlns:a16="http://schemas.microsoft.com/office/drawing/2014/main" id="{9355122B-B076-4AD6-8266-92347533977C}"/>
                </a:ext>
              </a:extLst>
            </p:cNvPr>
            <p:cNvSpPr/>
            <p:nvPr/>
          </p:nvSpPr>
          <p:spPr>
            <a:xfrm>
              <a:off x="10723037" y="4233616"/>
              <a:ext cx="597945"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sp>
          <p:nvSpPr>
            <p:cNvPr id="165" name="Shape 31">
              <a:extLst>
                <a:ext uri="{FF2B5EF4-FFF2-40B4-BE49-F238E27FC236}">
                  <a16:creationId xmlns:a16="http://schemas.microsoft.com/office/drawing/2014/main" id="{5B34D1C2-0536-47F9-A4E3-D0D324ADCE23}"/>
                </a:ext>
              </a:extLst>
            </p:cNvPr>
            <p:cNvSpPr/>
            <p:nvPr/>
          </p:nvSpPr>
          <p:spPr>
            <a:xfrm>
              <a:off x="11370490" y="4233616"/>
              <a:ext cx="65774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66" name="직선 화살표 연결선 185">
              <a:extLst>
                <a:ext uri="{FF2B5EF4-FFF2-40B4-BE49-F238E27FC236}">
                  <a16:creationId xmlns:a16="http://schemas.microsoft.com/office/drawing/2014/main" id="{64718AD8-8AEE-402C-9432-118EAEC37816}"/>
                </a:ext>
              </a:extLst>
            </p:cNvPr>
            <p:cNvCxnSpPr>
              <a:cxnSpLocks/>
              <a:stCxn id="196" idx="2"/>
              <a:endCxn id="164" idx="0"/>
            </p:cNvCxnSpPr>
            <p:nvPr/>
          </p:nvCxnSpPr>
          <p:spPr>
            <a:xfrm rot="16200000" flipH="1">
              <a:off x="10691363" y="3902968"/>
              <a:ext cx="339407" cy="321887"/>
            </a:xfrm>
            <a:prstGeom prst="bentConnector3">
              <a:avLst>
                <a:gd name="adj1" fmla="val 50000"/>
              </a:avLst>
            </a:prstGeom>
            <a:noFill/>
            <a:ln w="11430">
              <a:solidFill>
                <a:srgbClr val="888C91"/>
              </a:solidFill>
              <a:prstDash val="solid"/>
              <a:headEnd type="none"/>
              <a:tailEnd type="triangle"/>
            </a:ln>
          </p:spPr>
        </p:cxnSp>
        <p:sp>
          <p:nvSpPr>
            <p:cNvPr id="167" name="C2 freshness note"/>
            <p:cNvSpPr txBox="1"/>
            <p:nvPr/>
          </p:nvSpPr>
          <p:spPr>
            <a:xfrm>
              <a:off x="7679898" y="4028093"/>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68" name="C2 freshness note">
              <a:extLst>
                <a:ext uri="{FF2B5EF4-FFF2-40B4-BE49-F238E27FC236}">
                  <a16:creationId xmlns:a16="http://schemas.microsoft.com/office/drawing/2014/main" id="{127B7BA2-AF32-48BD-B4B6-6292B5DF4C0B}"/>
                </a:ext>
              </a:extLst>
            </p:cNvPr>
            <p:cNvSpPr txBox="1"/>
            <p:nvPr/>
          </p:nvSpPr>
          <p:spPr>
            <a:xfrm>
              <a:off x="10762871" y="3399584"/>
              <a:ext cx="542659"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69" name="TextBox 168">
              <a:extLst>
                <a:ext uri="{FF2B5EF4-FFF2-40B4-BE49-F238E27FC236}">
                  <a16:creationId xmlns:a16="http://schemas.microsoft.com/office/drawing/2014/main" id="{21A4406A-848C-40A9-8F3E-43EAB95C7998}"/>
                </a:ext>
              </a:extLst>
            </p:cNvPr>
            <p:cNvSpPr txBox="1"/>
            <p:nvPr/>
          </p:nvSpPr>
          <p:spPr>
            <a:xfrm>
              <a:off x="9528263" y="2716734"/>
              <a:ext cx="640080" cy="138499"/>
            </a:xfrm>
            <a:prstGeom prst="rect">
              <a:avLst/>
            </a:prstGeom>
            <a:noFill/>
          </p:spPr>
          <p:txBody>
            <a:bodyPr wrap="square" lIns="0" tIns="0" rIns="0" bIns="0" anchor="ctr">
              <a:spAutoFit/>
            </a:bodyPr>
            <a:lstStyle/>
            <a:p>
              <a:pPr algn="ctr">
                <a:lnSpc>
                  <a:spcPct val="100000"/>
                </a:lnSpc>
              </a:pPr>
              <a:r>
                <a:rPr lang="en-US" sz="900" b="0" i="0" dirty="0">
                  <a:solidFill>
                    <a:srgbClr val="C55A11"/>
                  </a:solidFill>
                  <a:latin typeface="맑은 고딕"/>
                  <a:ea typeface="맑은 고딕"/>
                </a:rPr>
                <a:t>If </a:t>
              </a:r>
              <a:r>
                <a:rPr lang="en-US" sz="900" dirty="0">
                  <a:solidFill>
                    <a:srgbClr val="C55A11"/>
                  </a:solidFill>
                  <a:latin typeface="맑은 고딕"/>
                  <a:ea typeface="맑은 고딕"/>
                </a:rPr>
                <a:t>m</a:t>
              </a:r>
              <a:r>
                <a:rPr lang="en-US" sz="900" b="0" i="0" dirty="0">
                  <a:solidFill>
                    <a:srgbClr val="C55A11"/>
                  </a:solidFill>
                  <a:latin typeface="맑은 고딕"/>
                  <a:ea typeface="맑은 고딕"/>
                </a:rPr>
                <a:t>ismatch</a:t>
              </a:r>
              <a:endParaRPr sz="900" b="0" i="0" dirty="0">
                <a:solidFill>
                  <a:srgbClr val="C55A11"/>
                </a:solidFill>
                <a:latin typeface="맑은 고딕"/>
                <a:ea typeface="맑은 고딕"/>
              </a:endParaRPr>
            </a:p>
          </p:txBody>
        </p:sp>
        <p:sp>
          <p:nvSpPr>
            <p:cNvPr id="171" name="Rectangle 9065">
              <a:extLst>
                <a:ext uri="{FF2B5EF4-FFF2-40B4-BE49-F238E27FC236}">
                  <a16:creationId xmlns:a16="http://schemas.microsoft.com/office/drawing/2014/main" id="{DC0FC1D3-B7E6-42CE-84E0-E28CE1ED44E9}"/>
                </a:ext>
              </a:extLst>
            </p:cNvPr>
            <p:cNvSpPr/>
            <p:nvPr/>
          </p:nvSpPr>
          <p:spPr>
            <a:xfrm>
              <a:off x="6650290" y="2283984"/>
              <a:ext cx="265546" cy="112170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eaVert" lIns="36000" tIns="18000" rIns="36000" bIns="18000" rtlCol="0" anchor="ctr">
              <a:noAutofit/>
            </a:bodyPr>
            <a:lstStyle/>
            <a:p>
              <a:pPr algn="ctr"/>
              <a:r>
                <a:rPr lang="en-US" sz="900" dirty="0">
                  <a:solidFill>
                    <a:schemeClr val="bg1"/>
                  </a:solidFill>
                </a:rPr>
                <a:t>Common Memory</a:t>
              </a:r>
            </a:p>
            <a:p>
              <a:pPr algn="ctr"/>
              <a:r>
                <a:rPr lang="en-US" sz="900" dirty="0">
                  <a:solidFill>
                    <a:schemeClr val="bg1"/>
                  </a:solidFill>
                </a:rPr>
                <a:t> Backend Interface</a:t>
              </a:r>
            </a:p>
          </p:txBody>
        </p:sp>
        <p:cxnSp>
          <p:nvCxnSpPr>
            <p:cNvPr id="172" name="직선 화살표 연결선 185">
              <a:extLst>
                <a:ext uri="{FF2B5EF4-FFF2-40B4-BE49-F238E27FC236}">
                  <a16:creationId xmlns:a16="http://schemas.microsoft.com/office/drawing/2014/main" id="{643E492D-CE08-4786-9B0D-A7E6F1A63A29}"/>
                </a:ext>
              </a:extLst>
            </p:cNvPr>
            <p:cNvCxnSpPr>
              <a:cxnSpLocks/>
              <a:stCxn id="171" idx="3"/>
              <a:endCxn id="185" idx="1"/>
            </p:cNvCxnSpPr>
            <p:nvPr/>
          </p:nvCxnSpPr>
          <p:spPr>
            <a:xfrm flipV="1">
              <a:off x="6915836" y="2840572"/>
              <a:ext cx="208937" cy="4265"/>
            </a:xfrm>
            <a:prstGeom prst="straightConnector1">
              <a:avLst/>
            </a:prstGeom>
            <a:noFill/>
            <a:ln w="11430">
              <a:solidFill>
                <a:srgbClr val="888C91"/>
              </a:solidFill>
              <a:prstDash val="solid"/>
              <a:headEnd type="none"/>
              <a:tailEnd type="triangle"/>
            </a:ln>
          </p:spPr>
        </p:cxnSp>
      </p:grpSp>
      <p:cxnSp>
        <p:nvCxnSpPr>
          <p:cNvPr id="198" name="직선 연결선 197"/>
          <p:cNvCxnSpPr/>
          <p:nvPr/>
        </p:nvCxnSpPr>
        <p:spPr>
          <a:xfrm>
            <a:off x="3552696" y="1713864"/>
            <a:ext cx="0" cy="2790583"/>
          </a:xfrm>
          <a:prstGeom prst="line">
            <a:avLst/>
          </a:prstGeom>
          <a:noFill/>
          <a:ln w="12700">
            <a:solidFill>
              <a:srgbClr val="C76E31"/>
            </a:solidFill>
            <a:prstDash val="dash"/>
          </a:ln>
        </p:spPr>
      </p:cxnSp>
      <p:cxnSp>
        <p:nvCxnSpPr>
          <p:cNvPr id="201" name="직선 연결선 200"/>
          <p:cNvCxnSpPr/>
          <p:nvPr/>
        </p:nvCxnSpPr>
        <p:spPr>
          <a:xfrm>
            <a:off x="9250135" y="1977996"/>
            <a:ext cx="0" cy="2536897"/>
          </a:xfrm>
          <a:prstGeom prst="line">
            <a:avLst/>
          </a:prstGeom>
          <a:noFill/>
          <a:ln w="12700">
            <a:solidFill>
              <a:srgbClr val="C76E31"/>
            </a:solidFill>
            <a:prstDash val="dash"/>
          </a:ln>
        </p:spPr>
      </p:cxnSp>
      <p:sp>
        <p:nvSpPr>
          <p:cNvPr id="112" name="직사각형 111">
            <a:extLst>
              <a:ext uri="{FF2B5EF4-FFF2-40B4-BE49-F238E27FC236}">
                <a16:creationId xmlns:a16="http://schemas.microsoft.com/office/drawing/2014/main" id="{6E2B7273-A609-42E8-9B1D-ED211C704AFC}"/>
              </a:ext>
            </a:extLst>
          </p:cNvPr>
          <p:cNvSpPr/>
          <p:nvPr/>
        </p:nvSpPr>
        <p:spPr>
          <a:xfrm>
            <a:off x="5956211" y="1044054"/>
            <a:ext cx="6138353" cy="562344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모서리가 둥근 직사각형 116"/>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F2 </a:t>
            </a:r>
            <a:r>
              <a:rPr lang="ko-KR" altLang="en-US" sz="700" dirty="0">
                <a:latin typeface="맑은 고딕" panose="020B0503020000020004" pitchFamily="50" charset="-127"/>
              </a:rPr>
              <a:t>추론 스케줄링</a:t>
            </a:r>
          </a:p>
        </p:txBody>
      </p:sp>
      <p:sp>
        <p:nvSpPr>
          <p:cNvPr id="118"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19"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25"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26"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27"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28"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확장성</a:t>
            </a:r>
          </a:p>
        </p:txBody>
      </p:sp>
      <p:sp>
        <p:nvSpPr>
          <p:cNvPr id="129" name="모서리가 둥근 직사각형 128"/>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추론 요청 관리</a:t>
            </a:r>
          </a:p>
        </p:txBody>
      </p:sp>
    </p:spTree>
    <p:extLst>
      <p:ext uri="{BB962C8B-B14F-4D97-AF65-F5344CB8AC3E}">
        <p14:creationId xmlns:p14="http://schemas.microsoft.com/office/powerpoint/2010/main" val="2307877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505520"/>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4158474">
                  <a:extLst>
                    <a:ext uri="{9D8B030D-6E8A-4147-A177-3AD203B41FA5}">
                      <a16:colId xmlns:a16="http://schemas.microsoft.com/office/drawing/2014/main" val="5654497"/>
                    </a:ext>
                  </a:extLst>
                </a:gridCol>
                <a:gridCol w="1282206">
                  <a:extLst>
                    <a:ext uri="{9D8B030D-6E8A-4147-A177-3AD203B41FA5}">
                      <a16:colId xmlns:a16="http://schemas.microsoft.com/office/drawing/2014/main" val="4114062400"/>
                    </a:ext>
                  </a:extLst>
                </a:gridCol>
                <a:gridCol w="4279498">
                  <a:extLst>
                    <a:ext uri="{9D8B030D-6E8A-4147-A177-3AD203B41FA5}">
                      <a16:colId xmlns:a16="http://schemas.microsoft.com/office/drawing/2014/main" val="3070054508"/>
                    </a:ext>
                  </a:extLst>
                </a:gridCol>
                <a:gridCol w="1161182">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a:t>구조</a:t>
                      </a:r>
                      <a:r>
                        <a:rPr lang="en-US" altLang="ko-KR" sz="1200" b="1" baseline="0" dirty="0"/>
                        <a:t>: </a:t>
                      </a:r>
                      <a:r>
                        <a:rPr lang="ko-KR" altLang="en-US" sz="1200" b="1" baseline="0" dirty="0" err="1">
                          <a:solidFill>
                            <a:srgbClr val="0066FF"/>
                          </a:solidFill>
                        </a:rPr>
                        <a:t>요청마다</a:t>
                      </a:r>
                      <a:r>
                        <a:rPr lang="ko-KR" altLang="en-US" sz="1200" b="1" baseline="0" dirty="0">
                          <a:solidFill>
                            <a:srgbClr val="0066FF"/>
                          </a:solidFill>
                        </a:rPr>
                        <a:t> 전체 체인 실행</a:t>
                      </a:r>
                      <a:endParaRPr lang="en-US" altLang="ko-KR" sz="1050" b="1" kern="1200" baseline="0" dirty="0">
                        <a:solidFill>
                          <a:srgbClr val="0066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a:t>
                      </a:r>
                      <a:r>
                        <a:rPr lang="en-US" altLang="ko-KR" sz="1200" b="1" baseline="0" dirty="0"/>
                        <a:t> </a:t>
                      </a:r>
                      <a:r>
                        <a:rPr lang="ko-KR" altLang="en-US" sz="1200" b="1" baseline="0" dirty="0">
                          <a:solidFill>
                            <a:schemeClr val="accent2"/>
                          </a:solidFill>
                        </a:rPr>
                        <a:t>분석 </a:t>
                      </a:r>
                      <a:r>
                        <a:rPr lang="en-US" altLang="ko-KR" sz="1200" b="1" baseline="0" dirty="0">
                          <a:solidFill>
                            <a:schemeClr val="accent2"/>
                          </a:solidFill>
                        </a:rPr>
                        <a:t>1</a:t>
                      </a:r>
                      <a:r>
                        <a:rPr lang="ko-KR" altLang="en-US" sz="1200" b="1" baseline="0" dirty="0">
                          <a:solidFill>
                            <a:schemeClr val="accent2"/>
                          </a:solidFill>
                        </a:rPr>
                        <a:t>회 </a:t>
                      </a:r>
                      <a:r>
                        <a:rPr lang="en-US" altLang="ko-KR" sz="1200" b="1" baseline="0" dirty="0">
                          <a:solidFill>
                            <a:schemeClr val="accent2"/>
                          </a:solidFill>
                        </a:rPr>
                        <a:t>+ </a:t>
                      </a:r>
                      <a:r>
                        <a:rPr lang="ko-KR" altLang="en-US" sz="1200" b="1" baseline="0" dirty="0" err="1">
                          <a:solidFill>
                            <a:schemeClr val="accent2"/>
                          </a:solidFill>
                        </a:rPr>
                        <a:t>요청마다</a:t>
                      </a:r>
                      <a:r>
                        <a:rPr lang="ko-KR" altLang="en-US" sz="1200" b="1" baseline="0" dirty="0">
                          <a:solidFill>
                            <a:schemeClr val="accent2"/>
                          </a:solidFill>
                        </a:rPr>
                        <a:t> 조회 </a:t>
                      </a:r>
                      <a:endParaRPr lang="ko-KR" altLang="en-US" sz="1200" b="1" dirty="0">
                        <a:solidFill>
                          <a:schemeClr val="accent2"/>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요청이 끝나면 재계산 위치를 소멸하여 </a:t>
                      </a:r>
                      <a:r>
                        <a:rPr lang="en-US" altLang="ko-KR" sz="1200" strike="noStrike" baseline="0" dirty="0">
                          <a:effectLst/>
                        </a:rPr>
                        <a:t>Stale </a:t>
                      </a:r>
                      <a:r>
                        <a:rPr lang="ko-KR" altLang="en-US" sz="1200" strike="noStrike" baseline="0" dirty="0">
                          <a:effectLst/>
                        </a:rPr>
                        <a:t>데이터 발생 방지 </a:t>
                      </a:r>
                      <a:r>
                        <a:rPr lang="en-US" altLang="ko-KR" sz="1200" strike="noStrike" baseline="0" dirty="0">
                          <a:effectLst/>
                        </a:rPr>
                        <a:t>(QA2)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매 요청 </a:t>
                      </a:r>
                      <a:r>
                        <a:rPr lang="en-US" altLang="ko-KR" sz="1200" strike="noStrike" baseline="0" dirty="0">
                          <a:effectLst/>
                        </a:rPr>
                        <a:t>Query</a:t>
                      </a:r>
                      <a:r>
                        <a:rPr lang="ko-KR" altLang="en-US" sz="1200" strike="noStrike" baseline="0" dirty="0">
                          <a:effectLst/>
                        </a:rPr>
                        <a:t>를 반영해 재계산 토큰을 선정하므로 정확도 유리 </a:t>
                      </a:r>
                      <a:r>
                        <a:rPr lang="en-US" altLang="ko-KR" sz="1200" strike="noStrike" baseline="0" dirty="0">
                          <a:effectLst/>
                        </a:rPr>
                        <a:t>(QA5)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절감 </a:t>
                      </a:r>
                      <a:r>
                        <a:rPr lang="en-US" altLang="ko-KR" sz="1200" b="0" i="0" dirty="0">
                          <a:solidFill>
                            <a:srgbClr val="404040"/>
                          </a:solidFill>
                          <a:latin typeface="+mn-lt"/>
                          <a:ea typeface="맑은 고딕"/>
                        </a:rPr>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latin typeface="맑은 고딕" panose="020B0503020000020004" pitchFamily="50" charset="-127"/>
                          <a:ea typeface="+mn-ea"/>
                        </a:rPr>
                        <a:t> </a:t>
                      </a:r>
                      <a:r>
                        <a:rPr lang="en-US" altLang="ko-KR" sz="1200" strike="noStrike" baseline="0" dirty="0">
                          <a:solidFill>
                            <a:schemeClr val="tx1"/>
                          </a:solidFill>
                          <a:effectLst/>
                          <a:latin typeface="맑은 고딕" panose="020B0503020000020004" pitchFamily="50" charset="-127"/>
                          <a:ea typeface="+mn-ea"/>
                        </a:rPr>
                        <a:t>KV </a:t>
                      </a:r>
                      <a:r>
                        <a:rPr lang="ko-KR" altLang="en-US" sz="1200" strike="noStrike" baseline="0" dirty="0">
                          <a:solidFill>
                            <a:schemeClr val="tx1"/>
                          </a:solidFill>
                          <a:effectLst/>
                          <a:latin typeface="맑은 고딕" panose="020B0503020000020004" pitchFamily="50" charset="-127"/>
                          <a:ea typeface="+mn-ea"/>
                        </a:rPr>
                        <a:t>삭제</a:t>
                      </a:r>
                      <a:r>
                        <a:rPr lang="en-US" altLang="ko-KR" sz="1200" strike="noStrike" baseline="0" dirty="0">
                          <a:solidFill>
                            <a:schemeClr val="tx1"/>
                          </a:solidFill>
                          <a:effectLst/>
                          <a:latin typeface="맑은 고딕" panose="020B0503020000020004" pitchFamily="50" charset="-127"/>
                          <a:ea typeface="+mn-ea"/>
                        </a:rPr>
                        <a:t>∙</a:t>
                      </a:r>
                      <a:r>
                        <a:rPr lang="ko-KR" altLang="en-US" sz="1200" strike="noStrike" baseline="0" dirty="0">
                          <a:solidFill>
                            <a:schemeClr val="tx1"/>
                          </a:solidFill>
                          <a:effectLst/>
                          <a:latin typeface="맑은 고딕" panose="020B0503020000020004" pitchFamily="50" charset="-127"/>
                          <a:ea typeface="+mn-ea"/>
                        </a:rPr>
                        <a:t>재생성에 의해 </a:t>
                      </a:r>
                      <a:r>
                        <a:rPr lang="en-US" altLang="ko-KR" sz="1200" strike="noStrike" baseline="0" dirty="0">
                          <a:solidFill>
                            <a:schemeClr val="tx1"/>
                          </a:solidFill>
                          <a:effectLst/>
                          <a:latin typeface="맑은 고딕" panose="020B0503020000020004" pitchFamily="50" charset="-127"/>
                          <a:ea typeface="+mn-ea"/>
                        </a:rPr>
                        <a:t>stale</a:t>
                      </a:r>
                      <a:r>
                        <a:rPr lang="ko-KR" altLang="en-US" sz="1200" strike="noStrike" baseline="0" dirty="0">
                          <a:solidFill>
                            <a:schemeClr val="tx1"/>
                          </a:solidFill>
                          <a:effectLst/>
                          <a:latin typeface="맑은 고딕" panose="020B0503020000020004" pitchFamily="50" charset="-127"/>
                          <a:ea typeface="+mn-ea"/>
                        </a:rPr>
                        <a:t>된 정보는 </a:t>
                      </a:r>
                      <a:r>
                        <a:rPr lang="en-US" altLang="ko-KR" sz="1200" dirty="0" err="1">
                          <a:solidFill>
                            <a:schemeClr val="tx1"/>
                          </a:solidFill>
                          <a:ea typeface="맑은 고딕"/>
                          <a:cs typeface="맑은 고딕"/>
                        </a:rPr>
                        <a:t>version·validity</a:t>
                      </a:r>
                      <a:r>
                        <a:rPr lang="ko-KR" altLang="en-US" sz="1200" baseline="0" dirty="0">
                          <a:solidFill>
                            <a:schemeClr val="tx1"/>
                          </a:solidFill>
                          <a:ea typeface="맑은 고딕"/>
                          <a:cs typeface="맑은 고딕"/>
                        </a:rPr>
                        <a:t> 관리로 보완 </a:t>
                      </a:r>
                      <a:r>
                        <a:rPr lang="en-US" altLang="ko-KR" sz="1200" baseline="0" dirty="0">
                          <a:solidFill>
                            <a:schemeClr val="tx1"/>
                          </a:solidFill>
                          <a:ea typeface="맑은 고딕"/>
                          <a:cs typeface="맑은 고딕"/>
                        </a:rPr>
                        <a:t>(QA5)</a:t>
                      </a:r>
                      <a:r>
                        <a:rPr lang="ko-KR" altLang="en-US" sz="1200" baseline="0" dirty="0">
                          <a:solidFill>
                            <a:schemeClr val="tx1"/>
                          </a:solidFill>
                          <a:ea typeface="맑은 고딕"/>
                          <a:cs typeface="맑은 고딕"/>
                        </a:rPr>
                        <a:t> </a:t>
                      </a:r>
                      <a:endParaRPr lang="en-US" altLang="ko-KR" sz="1200" b="0" i="0" dirty="0">
                        <a:solidFill>
                          <a:schemeClr val="tx1"/>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발생 우려</a:t>
                      </a:r>
                      <a:r>
                        <a:rPr lang="en-US" altLang="ko-KR" sz="1200" strike="noStrike" baseline="0" dirty="0">
                          <a:effectLst/>
                        </a:rPr>
                        <a:t>, </a:t>
                      </a:r>
                      <a:r>
                        <a:rPr lang="ko-KR" altLang="en-US" sz="1200" strike="noStrike" baseline="0" dirty="0">
                          <a:effectLst/>
                        </a:rPr>
                        <a:t>지연 증가 </a:t>
                      </a:r>
                      <a:r>
                        <a:rPr lang="en-US" altLang="ko-KR" sz="1200" strike="noStrike" baseline="0" dirty="0">
                          <a:effectLst/>
                        </a:rPr>
                        <a:t>(QA1)</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대표 </a:t>
                      </a:r>
                      <a:r>
                        <a:rPr lang="en-US" altLang="ko-KR" sz="1200" strike="noStrike" baseline="0" dirty="0">
                          <a:effectLst/>
                        </a:rPr>
                        <a:t>Query</a:t>
                      </a:r>
                      <a:r>
                        <a:rPr lang="en-US" altLang="ko-KR" sz="1200" strike="noStrike" baseline="0" dirty="0">
                          <a:effectLst/>
                          <a:latin typeface="맑은 고딕" panose="020B0503020000020004" pitchFamily="50" charset="-127"/>
                          <a:ea typeface="맑은 고딕" panose="020B0503020000020004" pitchFamily="50" charset="-127"/>
                        </a:rPr>
                        <a:t>∙</a:t>
                      </a:r>
                      <a:r>
                        <a:rPr lang="ko-KR" altLang="en-US" sz="1200" strike="noStrike" baseline="0" dirty="0">
                          <a:effectLst/>
                        </a:rPr>
                        <a:t>재계산 위치를 별도 저장하므로 메모리 </a:t>
                      </a:r>
                      <a:r>
                        <a:rPr lang="ko-KR" altLang="en-US" sz="1200" strike="noStrike" baseline="0" dirty="0" err="1">
                          <a:effectLst/>
                        </a:rPr>
                        <a:t>점유량</a:t>
                      </a:r>
                      <a:r>
                        <a:rPr lang="ko-KR" altLang="en-US" sz="1200" strike="noStrike" baseline="0" dirty="0">
                          <a:effectLst/>
                        </a:rPr>
                        <a:t> 증가 </a:t>
                      </a:r>
                      <a:r>
                        <a:rPr lang="en-US" altLang="ko-KR" sz="1200" strike="noStrike" baseline="0" dirty="0">
                          <a:effectLst/>
                        </a:rPr>
                        <a:t>(QA2)</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QA2.</a:t>
                      </a:r>
                      <a:r>
                        <a:rPr lang="en-US" altLang="ko-KR" sz="1200" b="0" strike="noStrike" baseline="0" dirty="0">
                          <a:solidFill>
                            <a:schemeClr val="tx1"/>
                          </a:solidFill>
                        </a:rPr>
                        <a:t> </a:t>
                      </a:r>
                      <a:r>
                        <a:rPr lang="en-US" altLang="ko-KR" sz="1200" b="0" strike="noStrike" dirty="0">
                          <a:solidFill>
                            <a:schemeClr val="tx1"/>
                          </a:solidFill>
                        </a:rPr>
                        <a:t>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QA5.</a:t>
                      </a:r>
                      <a:r>
                        <a:rPr lang="en-US" altLang="ko-KR" sz="1200" b="0" strike="noStrike" baseline="0" dirty="0">
                          <a:solidFill>
                            <a:schemeClr val="tx1"/>
                          </a:solidFill>
                        </a:rPr>
                        <a:t> Functional</a:t>
                      </a:r>
                      <a:r>
                        <a:rPr lang="ko-KR" altLang="en-US" sz="1200" b="0" strike="noStrike" baseline="0" dirty="0">
                          <a:solidFill>
                            <a:schemeClr val="tx1"/>
                          </a:solidFill>
                        </a:rPr>
                        <a:t> </a:t>
                      </a:r>
                      <a:r>
                        <a:rPr lang="en-US" altLang="ko-KR" sz="1200" b="0" strike="noStrike" baseline="0" dirty="0">
                          <a:solidFill>
                            <a:schemeClr val="tx1"/>
                          </a:solidFill>
                        </a:rPr>
                        <a:t>Correctness</a:t>
                      </a:r>
                      <a:r>
                        <a:rPr lang="ko-KR" altLang="en-US" sz="1200" b="0" strike="noStrike" baseline="0" dirty="0">
                          <a:solidFill>
                            <a:schemeClr val="tx1"/>
                          </a:solidFill>
                        </a:rPr>
                        <a:t> </a:t>
                      </a:r>
                      <a:r>
                        <a:rPr lang="en-US" altLang="ko-KR" sz="1000" b="0" strike="noStrike" baseline="0" dirty="0">
                          <a:solidFill>
                            <a:schemeClr val="tx1"/>
                          </a:solidFill>
                        </a:rPr>
                        <a:t>(F1)</a:t>
                      </a:r>
                      <a:endParaRPr lang="en-US" altLang="ko-KR" sz="1000" b="0"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chemeClr val="accent5"/>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QA5. Functional</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Correctness</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(F1)</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strike="noStrike" dirty="0">
                        <a:solidFill>
                          <a:schemeClr val="accent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5" name="직사각형 14"/>
          <p:cNvSpPr/>
          <p:nvPr/>
        </p:nvSpPr>
        <p:spPr>
          <a:xfrm>
            <a:off x="1190992" y="3862952"/>
            <a:ext cx="10286655" cy="885231"/>
          </a:xfrm>
          <a:prstGeom prst="rect">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195</a:t>
            </a:fld>
            <a:endParaRPr lang="ko-KR" altLang="en-US" dirty="0"/>
          </a:p>
        </p:txBody>
      </p:sp>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en-US" altLang="ko-KR" sz="1400" b="1" dirty="0">
                <a:solidFill>
                  <a:schemeClr val="bg1"/>
                </a:solidFill>
              </a:rPr>
              <a:t>KV </a:t>
            </a:r>
            <a:r>
              <a:rPr lang="ko-KR" altLang="en-US" sz="1400" b="1" dirty="0" err="1">
                <a:solidFill>
                  <a:schemeClr val="bg1"/>
                </a:solidFill>
              </a:rPr>
              <a:t>재사용성을</a:t>
            </a:r>
            <a:r>
              <a:rPr lang="ko-KR" altLang="en-US" sz="1400" b="1" dirty="0">
                <a:solidFill>
                  <a:schemeClr val="bg1"/>
                </a:solidFill>
              </a:rPr>
              <a:t> 높이기 위한 재계산 토큰 선정을 어떤 구조로 구성할 것인가</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430887"/>
          </a:xfrm>
          <a:prstGeom prst="rect">
            <a:avLst/>
          </a:prstGeom>
          <a:noFill/>
        </p:spPr>
        <p:txBody>
          <a:bodyPr wrap="square" rtlCol="0">
            <a:spAutoFit/>
          </a:bodyPr>
          <a:lstStyle/>
          <a:p>
            <a:r>
              <a:rPr lang="en-US" altLang="ko-KR" sz="1100" dirty="0"/>
              <a:t>“</a:t>
            </a:r>
            <a:r>
              <a:rPr lang="ko-KR" altLang="en-US" sz="1100" dirty="0" err="1"/>
              <a:t>요청마다</a:t>
            </a:r>
            <a:r>
              <a:rPr lang="ko-KR" altLang="en-US" sz="1100" dirty="0"/>
              <a:t> </a:t>
            </a:r>
            <a:r>
              <a:rPr lang="ko-KR" altLang="en-US" sz="1100" dirty="0" err="1"/>
              <a:t>서빙</a:t>
            </a:r>
            <a:r>
              <a:rPr lang="ko-KR" altLang="en-US" sz="1100" dirty="0"/>
              <a:t> 경로 내에서 재계산 대상 토큰을 동적으로 선정하고</a:t>
            </a:r>
            <a:r>
              <a:rPr lang="en-US" altLang="ko-KR" sz="1100" dirty="0"/>
              <a:t>, </a:t>
            </a:r>
            <a:r>
              <a:rPr lang="ko-KR" altLang="en-US" sz="1100" dirty="0"/>
              <a:t>선택적 재계산을 수행하는 구조</a:t>
            </a:r>
            <a:r>
              <a:rPr lang="en-US" altLang="ko-KR" sz="1100" dirty="0"/>
              <a:t>＂</a:t>
            </a:r>
          </a:p>
        </p:txBody>
      </p:sp>
      <p:sp>
        <p:nvSpPr>
          <p:cNvPr id="138" name="TextBox 137"/>
          <p:cNvSpPr txBox="1"/>
          <p:nvPr/>
        </p:nvSpPr>
        <p:spPr>
          <a:xfrm>
            <a:off x="6534149" y="1416420"/>
            <a:ext cx="5543551" cy="430887"/>
          </a:xfrm>
          <a:prstGeom prst="rect">
            <a:avLst/>
          </a:prstGeom>
          <a:noFill/>
        </p:spPr>
        <p:txBody>
          <a:bodyPr wrap="square" rtlCol="0">
            <a:spAutoFit/>
          </a:bodyPr>
          <a:lstStyle/>
          <a:p>
            <a:r>
              <a:rPr lang="en-US" altLang="ko-KR" sz="1100" dirty="0"/>
              <a:t>“</a:t>
            </a:r>
            <a:r>
              <a:rPr lang="ko-KR" altLang="en-US" sz="1100" dirty="0"/>
              <a:t>재계산 대상 토큰을 사전에 선정하여 </a:t>
            </a:r>
            <a:r>
              <a:rPr lang="en-US" altLang="ko-KR" sz="1100" dirty="0"/>
              <a:t>Repository</a:t>
            </a:r>
            <a:r>
              <a:rPr lang="ko-KR" altLang="en-US" sz="1100" dirty="0"/>
              <a:t>에 공유하고</a:t>
            </a:r>
            <a:r>
              <a:rPr lang="en-US" altLang="ko-KR" sz="1100" dirty="0"/>
              <a:t>, </a:t>
            </a:r>
            <a:r>
              <a:rPr lang="ko-KR" altLang="en-US" sz="1100" dirty="0" err="1"/>
              <a:t>서빙</a:t>
            </a:r>
            <a:r>
              <a:rPr lang="ko-KR" altLang="en-US" sz="1100" dirty="0"/>
              <a:t> 경로에서는 이를 참조해 선택적 재계산을 수행하는 구조</a:t>
            </a:r>
            <a:r>
              <a:rPr lang="en-US" altLang="ko-KR" sz="1100" dirty="0"/>
              <a:t>＂</a:t>
            </a:r>
          </a:p>
        </p:txBody>
      </p:sp>
      <p:sp>
        <p:nvSpPr>
          <p:cNvPr id="239" name="TextBox 238">
            <a:extLst>
              <a:ext uri="{FF2B5EF4-FFF2-40B4-BE49-F238E27FC236}">
                <a16:creationId xmlns:a16="http://schemas.microsoft.com/office/drawing/2014/main" id="{5EDBAE0C-74A5-43A7-8D12-CE3C549C093E}"/>
              </a:ext>
            </a:extLst>
          </p:cNvPr>
          <p:cNvSpPr txBox="1"/>
          <p:nvPr/>
        </p:nvSpPr>
        <p:spPr>
          <a:xfrm>
            <a:off x="4744348" y="6287854"/>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10209411" y="6251123"/>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124" name="모서리가 둥근 직사각형 37">
            <a:extLst>
              <a:ext uri="{FF2B5EF4-FFF2-40B4-BE49-F238E27FC236}">
                <a16:creationId xmlns:a16="http://schemas.microsoft.com/office/drawing/2014/main" id="{6B693242-5EEF-4D32-8F09-9F360043D5FB}"/>
              </a:ext>
            </a:extLst>
          </p:cNvPr>
          <p:cNvSpPr/>
          <p:nvPr/>
        </p:nvSpPr>
        <p:spPr>
          <a:xfrm>
            <a:off x="10748621"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F5 KV </a:t>
            </a:r>
            <a:r>
              <a:rPr lang="ko-KR" altLang="en-US" sz="700" dirty="0">
                <a:latin typeface="맑은 고딕" panose="020B0503020000020004" pitchFamily="50" charset="-127"/>
                <a:ea typeface="맑은 고딕" panose="020B0503020000020004" pitchFamily="50" charset="-127"/>
              </a:rPr>
              <a:t>캐시 재사용</a:t>
            </a:r>
          </a:p>
        </p:txBody>
      </p:sp>
      <p:sp>
        <p:nvSpPr>
          <p:cNvPr id="125" name="모서리가 둥근 직사각형 37">
            <a:extLst>
              <a:ext uri="{FF2B5EF4-FFF2-40B4-BE49-F238E27FC236}">
                <a16:creationId xmlns:a16="http://schemas.microsoft.com/office/drawing/2014/main" id="{7D2F8ED5-0EFB-410C-A2C3-3568EEE141C3}"/>
              </a:ext>
            </a:extLst>
          </p:cNvPr>
          <p:cNvSpPr/>
          <p:nvPr/>
        </p:nvSpPr>
        <p:spPr>
          <a:xfrm>
            <a:off x="9349875"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26" name="모서리가 둥근 직사각형 37">
            <a:extLst>
              <a:ext uri="{FF2B5EF4-FFF2-40B4-BE49-F238E27FC236}">
                <a16:creationId xmlns:a16="http://schemas.microsoft.com/office/drawing/2014/main" id="{D6402B05-EBC0-4E87-AEC1-F112EEA19579}"/>
              </a:ext>
            </a:extLst>
          </p:cNvPr>
          <p:cNvSpPr/>
          <p:nvPr/>
        </p:nvSpPr>
        <p:spPr>
          <a:xfrm>
            <a:off x="10019909"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27" name="모서리가 둥근 직사각형 37">
            <a:extLst>
              <a:ext uri="{FF2B5EF4-FFF2-40B4-BE49-F238E27FC236}">
                <a16:creationId xmlns:a16="http://schemas.microsoft.com/office/drawing/2014/main" id="{4D0981FB-60C2-441C-9C62-6858891AED7C}"/>
              </a:ext>
            </a:extLst>
          </p:cNvPr>
          <p:cNvSpPr/>
          <p:nvPr/>
        </p:nvSpPr>
        <p:spPr>
          <a:xfrm>
            <a:off x="10922000" y="813626"/>
            <a:ext cx="1035051"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모델 출력 정확도</a:t>
            </a:r>
          </a:p>
        </p:txBody>
      </p:sp>
      <p:sp>
        <p:nvSpPr>
          <p:cNvPr id="103" name="TextBox 102"/>
          <p:cNvSpPr txBox="1"/>
          <p:nvPr/>
        </p:nvSpPr>
        <p:spPr>
          <a:xfrm>
            <a:off x="1192849" y="2332514"/>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104" name="Rectangle 19"/>
          <p:cNvSpPr/>
          <p:nvPr/>
        </p:nvSpPr>
        <p:spPr>
          <a:xfrm>
            <a:off x="1611630" y="2259453"/>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cxnSp>
        <p:nvCxnSpPr>
          <p:cNvPr id="105" name="Connector 20"/>
          <p:cNvCxnSpPr/>
          <p:nvPr/>
        </p:nvCxnSpPr>
        <p:spPr>
          <a:xfrm>
            <a:off x="2271947"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06" name="Rectangle 21"/>
          <p:cNvSpPr/>
          <p:nvPr/>
        </p:nvSpPr>
        <p:spPr>
          <a:xfrm>
            <a:off x="2445714" y="2259453"/>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cxnSp>
        <p:nvCxnSpPr>
          <p:cNvPr id="107" name="Connector 22"/>
          <p:cNvCxnSpPr/>
          <p:nvPr/>
        </p:nvCxnSpPr>
        <p:spPr>
          <a:xfrm>
            <a:off x="3106033"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3" name="Rectangle 23"/>
          <p:cNvSpPr/>
          <p:nvPr/>
        </p:nvSpPr>
        <p:spPr>
          <a:xfrm>
            <a:off x="3279801" y="2259453"/>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err="1">
                <a:solidFill>
                  <a:srgbClr val="000000"/>
                </a:solidFill>
                <a:latin typeface="맑은 고딕"/>
                <a:ea typeface="맑은 고딕"/>
                <a:cs typeface="맑은 고딕"/>
              </a:rPr>
              <a:t>재연산</a:t>
            </a:r>
            <a:r>
              <a:rPr lang="ko-KR" altLang="en-US" sz="800" b="1" dirty="0">
                <a:solidFill>
                  <a:srgbClr val="000000"/>
                </a:solidFill>
                <a:latin typeface="맑은 고딕"/>
                <a:ea typeface="맑은 고딕"/>
                <a:cs typeface="맑은 고딕"/>
              </a:rPr>
              <a:t> 토큰 선정</a:t>
            </a:r>
            <a:endParaRPr sz="800" b="1" dirty="0">
              <a:solidFill>
                <a:srgbClr val="000000"/>
              </a:solidFill>
              <a:latin typeface="맑은 고딕"/>
              <a:ea typeface="맑은 고딕"/>
              <a:cs typeface="맑은 고딕"/>
            </a:endParaRPr>
          </a:p>
        </p:txBody>
      </p:sp>
      <p:cxnSp>
        <p:nvCxnSpPr>
          <p:cNvPr id="115" name="Connector 24"/>
          <p:cNvCxnSpPr/>
          <p:nvPr/>
        </p:nvCxnSpPr>
        <p:spPr>
          <a:xfrm>
            <a:off x="3940118"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7" name="Rectangle 25"/>
          <p:cNvSpPr/>
          <p:nvPr/>
        </p:nvSpPr>
        <p:spPr>
          <a:xfrm>
            <a:off x="4113885" y="2259452"/>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선택적 </a:t>
            </a:r>
            <a:endParaRPr lang="en-US" altLang="ko-KR" sz="800" b="1" dirty="0">
              <a:solidFill>
                <a:srgbClr val="000000"/>
              </a:solidFill>
              <a:latin typeface="맑은 고딕"/>
              <a:ea typeface="맑은 고딕"/>
              <a:cs typeface="맑은 고딕"/>
            </a:endParaRPr>
          </a:p>
          <a:p>
            <a:pPr algn="ctr">
              <a:spcAft>
                <a:spcPts val="200"/>
              </a:spcAft>
            </a:pPr>
            <a:r>
              <a:rPr lang="ko-KR" altLang="en-US" sz="800" b="1" dirty="0">
                <a:solidFill>
                  <a:srgbClr val="000000"/>
                </a:solidFill>
                <a:latin typeface="맑은 고딕"/>
                <a:ea typeface="맑은 고딕"/>
                <a:cs typeface="맑은 고딕"/>
              </a:rPr>
              <a:t>재계산</a:t>
            </a:r>
            <a:endParaRPr sz="800" b="1" dirty="0">
              <a:solidFill>
                <a:srgbClr val="000000"/>
              </a:solidFill>
              <a:latin typeface="맑은 고딕"/>
              <a:ea typeface="맑은 고딕"/>
              <a:cs typeface="맑은 고딕"/>
            </a:endParaRPr>
          </a:p>
        </p:txBody>
      </p:sp>
      <p:sp>
        <p:nvSpPr>
          <p:cNvPr id="118" name="TextBox 117"/>
          <p:cNvSpPr txBox="1"/>
          <p:nvPr/>
        </p:nvSpPr>
        <p:spPr>
          <a:xfrm>
            <a:off x="1192849" y="2822457"/>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120" name="Rectangle 27"/>
          <p:cNvSpPr/>
          <p:nvPr/>
        </p:nvSpPr>
        <p:spPr>
          <a:xfrm>
            <a:off x="2444860" y="2749396"/>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32" name="Connector 28"/>
          <p:cNvCxnSpPr/>
          <p:nvPr/>
        </p:nvCxnSpPr>
        <p:spPr>
          <a:xfrm>
            <a:off x="3105177"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29"/>
          <p:cNvSpPr/>
          <p:nvPr/>
        </p:nvSpPr>
        <p:spPr>
          <a:xfrm>
            <a:off x="3278944" y="2749396"/>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36" name="Connector 30"/>
          <p:cNvCxnSpPr/>
          <p:nvPr/>
        </p:nvCxnSpPr>
        <p:spPr>
          <a:xfrm>
            <a:off x="3939263"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4" name="Rectangle 31"/>
          <p:cNvSpPr/>
          <p:nvPr/>
        </p:nvSpPr>
        <p:spPr>
          <a:xfrm>
            <a:off x="4113031" y="2749396"/>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45" name="Connector 32"/>
          <p:cNvCxnSpPr/>
          <p:nvPr/>
        </p:nvCxnSpPr>
        <p:spPr>
          <a:xfrm>
            <a:off x="4773348"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7" name="Rectangle 33"/>
          <p:cNvSpPr/>
          <p:nvPr/>
        </p:nvSpPr>
        <p:spPr>
          <a:xfrm>
            <a:off x="4947115" y="2749396"/>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48" name="TextBox 147"/>
          <p:cNvSpPr txBox="1"/>
          <p:nvPr/>
        </p:nvSpPr>
        <p:spPr>
          <a:xfrm>
            <a:off x="1192849" y="3312401"/>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50" name="Rectangle 35"/>
          <p:cNvSpPr/>
          <p:nvPr/>
        </p:nvSpPr>
        <p:spPr>
          <a:xfrm>
            <a:off x="3272288" y="3239339"/>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53" name="Connector 36"/>
          <p:cNvCxnSpPr/>
          <p:nvPr/>
        </p:nvCxnSpPr>
        <p:spPr>
          <a:xfrm>
            <a:off x="3932605"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4" name="Rectangle 37"/>
          <p:cNvSpPr/>
          <p:nvPr/>
        </p:nvSpPr>
        <p:spPr>
          <a:xfrm>
            <a:off x="4106372" y="3239339"/>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55" name="Connector 38"/>
          <p:cNvCxnSpPr/>
          <p:nvPr/>
        </p:nvCxnSpPr>
        <p:spPr>
          <a:xfrm>
            <a:off x="4766691"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7" name="Rectangle 39"/>
          <p:cNvSpPr/>
          <p:nvPr/>
        </p:nvSpPr>
        <p:spPr>
          <a:xfrm>
            <a:off x="4940459" y="3239339"/>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58" name="Connector 40"/>
          <p:cNvCxnSpPr/>
          <p:nvPr/>
        </p:nvCxnSpPr>
        <p:spPr>
          <a:xfrm>
            <a:off x="5600776"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41"/>
          <p:cNvSpPr/>
          <p:nvPr/>
        </p:nvSpPr>
        <p:spPr>
          <a:xfrm>
            <a:off x="5774543" y="3239340"/>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61" name="TextBox 160"/>
          <p:cNvSpPr txBox="1"/>
          <p:nvPr/>
        </p:nvSpPr>
        <p:spPr>
          <a:xfrm>
            <a:off x="1271552" y="1944788"/>
            <a:ext cx="1503466" cy="186205"/>
          </a:xfrm>
          <a:prstGeom prst="rect">
            <a:avLst/>
          </a:prstGeom>
          <a:noFill/>
        </p:spPr>
        <p:txBody>
          <a:bodyPr wrap="square" lIns="45720" tIns="27432" rIns="45720" bIns="27432" anchor="t">
            <a:spAutoFit/>
          </a:bodyPr>
          <a:lstStyle/>
          <a:p>
            <a:pPr algn="l">
              <a:spcAft>
                <a:spcPts val="200"/>
              </a:spcAft>
            </a:pPr>
            <a:r>
              <a:rPr sz="850" b="1" dirty="0" err="1">
                <a:solidFill>
                  <a:srgbClr val="FF0000"/>
                </a:solidFill>
                <a:latin typeface="맑은 고딕"/>
                <a:ea typeface="맑은 고딕"/>
                <a:cs typeface="맑은 고딕"/>
              </a:rPr>
              <a:t>요청마다</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분석</a:t>
            </a:r>
            <a:r>
              <a:rPr lang="en-US" sz="850" b="1" dirty="0">
                <a:solidFill>
                  <a:srgbClr val="FF0000"/>
                </a:solidFill>
                <a:latin typeface="맑은 고딕"/>
                <a:ea typeface="맑은 고딕"/>
                <a:cs typeface="맑은 고딕"/>
              </a:rPr>
              <a:t> </a:t>
            </a:r>
            <a:r>
              <a:rPr sz="850" b="1" dirty="0">
                <a:solidFill>
                  <a:srgbClr val="FF0000"/>
                </a:solidFill>
                <a:latin typeface="맑은 고딕"/>
                <a:ea typeface="맑은 고딕"/>
                <a:cs typeface="맑은 고딕"/>
              </a:rPr>
              <a:t>3단계 </a:t>
            </a:r>
            <a:r>
              <a:rPr sz="850" b="1" dirty="0" err="1">
                <a:solidFill>
                  <a:srgbClr val="FF0000"/>
                </a:solidFill>
                <a:latin typeface="맑은 고딕"/>
                <a:ea typeface="맑은 고딕"/>
                <a:cs typeface="맑은 고딕"/>
              </a:rPr>
              <a:t>반복</a:t>
            </a:r>
            <a:endParaRPr sz="850" b="1" dirty="0">
              <a:solidFill>
                <a:srgbClr val="FF0000"/>
              </a:solidFill>
              <a:latin typeface="맑은 고딕"/>
              <a:ea typeface="맑은 고딕"/>
              <a:cs typeface="맑은 고딕"/>
            </a:endParaRPr>
          </a:p>
        </p:txBody>
      </p:sp>
      <p:sp>
        <p:nvSpPr>
          <p:cNvPr id="163" name="TextBox 162"/>
          <p:cNvSpPr txBox="1"/>
          <p:nvPr/>
        </p:nvSpPr>
        <p:spPr>
          <a:xfrm>
            <a:off x="6703766" y="2302511"/>
            <a:ext cx="410082" cy="243433"/>
          </a:xfrm>
          <a:prstGeom prst="rect">
            <a:avLst/>
          </a:prstGeom>
          <a:noFill/>
        </p:spPr>
        <p:txBody>
          <a:bodyPr wrap="square" lIns="45720" tIns="27432" rIns="45720" bIns="27432" anchor="t">
            <a:spAutoFit/>
          </a:bodyPr>
          <a:lstStyle/>
          <a:p>
            <a:pPr algn="l">
              <a:spcAft>
                <a:spcPts val="200"/>
              </a:spcAft>
            </a:pPr>
            <a:r>
              <a:rPr sz="900" b="1">
                <a:solidFill>
                  <a:srgbClr val="C55A11"/>
                </a:solidFill>
                <a:latin typeface="맑은 고딕"/>
                <a:ea typeface="맑은 고딕"/>
                <a:cs typeface="맑은 고딕"/>
              </a:rPr>
              <a:t>사전</a:t>
            </a:r>
          </a:p>
        </p:txBody>
      </p:sp>
      <p:sp>
        <p:nvSpPr>
          <p:cNvPr id="164" name="Rectangle 45"/>
          <p:cNvSpPr/>
          <p:nvPr/>
        </p:nvSpPr>
        <p:spPr>
          <a:xfrm>
            <a:off x="7113848" y="2261939"/>
            <a:ext cx="671043" cy="32457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대표 쿼리 추출</a:t>
            </a:r>
            <a:endParaRPr sz="800" b="1" dirty="0">
              <a:solidFill>
                <a:srgbClr val="000000"/>
              </a:solidFill>
              <a:latin typeface="맑은 고딕"/>
              <a:ea typeface="맑은 고딕"/>
              <a:cs typeface="맑은 고딕"/>
            </a:endParaRPr>
          </a:p>
        </p:txBody>
      </p:sp>
      <p:cxnSp>
        <p:nvCxnSpPr>
          <p:cNvPr id="165" name="Connector 46"/>
          <p:cNvCxnSpPr/>
          <p:nvPr/>
        </p:nvCxnSpPr>
        <p:spPr>
          <a:xfrm>
            <a:off x="7784891" y="2424228"/>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6" name="Rectangle 47"/>
          <p:cNvSpPr/>
          <p:nvPr/>
        </p:nvSpPr>
        <p:spPr>
          <a:xfrm>
            <a:off x="7971291" y="2261939"/>
            <a:ext cx="671043" cy="32457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7" name="Connector 48"/>
          <p:cNvCxnSpPr/>
          <p:nvPr/>
        </p:nvCxnSpPr>
        <p:spPr>
          <a:xfrm>
            <a:off x="8642334" y="2424228"/>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8" name="Rectangle 49"/>
          <p:cNvSpPr/>
          <p:nvPr/>
        </p:nvSpPr>
        <p:spPr>
          <a:xfrm>
            <a:off x="8828734" y="2261939"/>
            <a:ext cx="671043" cy="324578"/>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9" name="Connector 50"/>
          <p:cNvCxnSpPr/>
          <p:nvPr/>
        </p:nvCxnSpPr>
        <p:spPr>
          <a:xfrm>
            <a:off x="9499777" y="2424228"/>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Rectangle 51"/>
          <p:cNvSpPr/>
          <p:nvPr/>
        </p:nvSpPr>
        <p:spPr>
          <a:xfrm>
            <a:off x="9686178" y="2261939"/>
            <a:ext cx="671043" cy="324578"/>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sp>
        <p:nvSpPr>
          <p:cNvPr id="201" name="TextBox 200"/>
          <p:cNvSpPr txBox="1"/>
          <p:nvPr/>
        </p:nvSpPr>
        <p:spPr>
          <a:xfrm>
            <a:off x="9460723" y="2597309"/>
            <a:ext cx="560312"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write 1회</a:t>
            </a:r>
          </a:p>
        </p:txBody>
      </p:sp>
      <p:sp>
        <p:nvSpPr>
          <p:cNvPr id="230" name="TextBox 229"/>
          <p:cNvSpPr txBox="1"/>
          <p:nvPr/>
        </p:nvSpPr>
        <p:spPr>
          <a:xfrm>
            <a:off x="10520935" y="1955627"/>
            <a:ext cx="1669958" cy="186205"/>
          </a:xfrm>
          <a:prstGeom prst="rect">
            <a:avLst/>
          </a:prstGeom>
          <a:noFill/>
        </p:spPr>
        <p:txBody>
          <a:bodyPr wrap="square" lIns="45720" tIns="27432" rIns="45720" bIns="27432" anchor="t">
            <a:spAutoFit/>
          </a:bodyPr>
          <a:lstStyle/>
          <a:p>
            <a:pPr algn="l">
              <a:spcAft>
                <a:spcPts val="100"/>
              </a:spcAft>
            </a:pPr>
            <a:r>
              <a:rPr sz="850" b="1" dirty="0" err="1">
                <a:solidFill>
                  <a:srgbClr val="FF0000"/>
                </a:solidFill>
                <a:latin typeface="맑은 고딕"/>
                <a:ea typeface="맑은 고딕"/>
                <a:cs typeface="맑은 고딕"/>
              </a:rPr>
              <a:t>서빙</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경로에는</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SR만</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남음</a:t>
            </a:r>
            <a:endParaRPr sz="850" b="1" dirty="0">
              <a:solidFill>
                <a:srgbClr val="FF0000"/>
              </a:solidFill>
              <a:latin typeface="맑은 고딕"/>
              <a:ea typeface="맑은 고딕"/>
              <a:cs typeface="맑은 고딕"/>
            </a:endParaRPr>
          </a:p>
        </p:txBody>
      </p:sp>
      <p:sp>
        <p:nvSpPr>
          <p:cNvPr id="301" name="TextBox 300"/>
          <p:cNvSpPr txBox="1"/>
          <p:nvPr/>
        </p:nvSpPr>
        <p:spPr>
          <a:xfrm>
            <a:off x="1887027" y="3952198"/>
            <a:ext cx="3149522" cy="314445"/>
          </a:xfrm>
          <a:prstGeom prst="rect">
            <a:avLst/>
          </a:prstGeom>
          <a:solidFill>
            <a:schemeClr val="accent3">
              <a:lumMod val="20000"/>
              <a:lumOff val="80000"/>
            </a:schemeClr>
          </a:solidFill>
        </p:spPr>
        <p:txBody>
          <a:bodyPr wrap="square" lIns="45720" tIns="27432" rIns="45720" bIns="27432" anchor="ctr">
            <a:spAutoFit/>
          </a:bodyPr>
          <a:lstStyle/>
          <a:p>
            <a:pPr>
              <a:spcAft>
                <a:spcPts val="100"/>
              </a:spcAft>
            </a:pPr>
            <a:r>
              <a:rPr lang="ko-KR" altLang="en-US" sz="800" b="1" dirty="0">
                <a:latin typeface="맑은 고딕"/>
                <a:ea typeface="맑은 고딕"/>
                <a:cs typeface="맑은 고딕"/>
              </a:rPr>
              <a:t>유사도 계산</a:t>
            </a:r>
            <a:r>
              <a:rPr lang="en-US" sz="800" b="1" dirty="0">
                <a:latin typeface="맑은 고딕"/>
                <a:ea typeface="맑은 고딕"/>
                <a:cs typeface="맑은 고딕"/>
              </a:rPr>
              <a:t>: Query</a:t>
            </a:r>
            <a:r>
              <a:rPr lang="ko-KR" altLang="en-US" sz="800" b="1" dirty="0">
                <a:latin typeface="맑은 고딕"/>
                <a:ea typeface="맑은 고딕"/>
                <a:cs typeface="맑은 고딕"/>
              </a:rPr>
              <a:t>와 </a:t>
            </a:r>
            <a:r>
              <a:rPr lang="en-US" altLang="ko-KR" sz="800" b="1" dirty="0">
                <a:latin typeface="맑은 고딕"/>
                <a:ea typeface="맑은 고딕"/>
                <a:cs typeface="맑은 고딕"/>
              </a:rPr>
              <a:t>KV </a:t>
            </a:r>
            <a:r>
              <a:rPr lang="ko-KR" altLang="en-US" sz="800" b="1" dirty="0">
                <a:latin typeface="맑은 고딕"/>
                <a:ea typeface="맑은 고딕"/>
                <a:cs typeface="맑은 고딕"/>
              </a:rPr>
              <a:t>캐시 간의 </a:t>
            </a:r>
            <a:r>
              <a:rPr lang="ko-KR" altLang="en-US" sz="800" b="1" dirty="0" err="1">
                <a:latin typeface="맑은 고딕"/>
                <a:ea typeface="맑은 고딕"/>
                <a:cs typeface="맑은 고딕"/>
              </a:rPr>
              <a:t>유사도를</a:t>
            </a:r>
            <a:r>
              <a:rPr lang="ko-KR" altLang="en-US" sz="800" b="1" dirty="0">
                <a:latin typeface="맑은 고딕"/>
                <a:ea typeface="맑은 고딕"/>
                <a:cs typeface="맑은 고딕"/>
              </a:rPr>
              <a:t> 계산</a:t>
            </a:r>
            <a:endParaRPr lang="en-US" altLang="ko-KR" sz="800" b="1" dirty="0">
              <a:latin typeface="맑은 고딕"/>
              <a:ea typeface="맑은 고딕"/>
              <a:cs typeface="맑은 고딕"/>
            </a:endParaRPr>
          </a:p>
          <a:p>
            <a:pPr>
              <a:spcAft>
                <a:spcPts val="100"/>
              </a:spcAft>
            </a:pPr>
            <a:r>
              <a:rPr lang="en-US" altLang="ko-KR" sz="800" b="1" dirty="0">
                <a:latin typeface="맑은 고딕"/>
                <a:ea typeface="맑은 고딕"/>
                <a:cs typeface="맑은 고딕"/>
              </a:rPr>
              <a:t>(</a:t>
            </a:r>
            <a:r>
              <a:rPr lang="en-US" sz="800" b="1" dirty="0">
                <a:latin typeface="맑은 고딕"/>
                <a:ea typeface="맑은 고딕"/>
                <a:cs typeface="맑은 고딕"/>
              </a:rPr>
              <a:t>Attention Manager)</a:t>
            </a:r>
            <a:endParaRPr sz="800" b="0" dirty="0">
              <a:latin typeface="맑은 고딕"/>
              <a:ea typeface="맑은 고딕"/>
              <a:cs typeface="맑은 고딕"/>
            </a:endParaRPr>
          </a:p>
        </p:txBody>
      </p:sp>
      <p:sp>
        <p:nvSpPr>
          <p:cNvPr id="302" name="TextBox 301"/>
          <p:cNvSpPr txBox="1"/>
          <p:nvPr/>
        </p:nvSpPr>
        <p:spPr>
          <a:xfrm>
            <a:off x="1887027" y="4353852"/>
            <a:ext cx="3149522" cy="314445"/>
          </a:xfrm>
          <a:prstGeom prst="rect">
            <a:avLst/>
          </a:prstGeom>
          <a:solidFill>
            <a:schemeClr val="accent1">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재사용 토큰 선정</a:t>
            </a:r>
            <a:r>
              <a:rPr lang="en-US" altLang="ko-KR" sz="800" b="1" dirty="0">
                <a:ea typeface="맑은 고딕"/>
                <a:cs typeface="맑은 고딕"/>
              </a:rPr>
              <a:t>: </a:t>
            </a:r>
            <a:r>
              <a:rPr lang="ko-KR" altLang="en-US" sz="800" b="1" dirty="0">
                <a:ea typeface="맑은 고딕"/>
                <a:cs typeface="맑은 고딕"/>
              </a:rPr>
              <a:t>유사도 점수로 재사용할 토큰 선정 </a:t>
            </a:r>
            <a:endParaRPr lang="en-US" altLang="ko-KR" sz="800" b="1" dirty="0">
              <a:ea typeface="맑은 고딕"/>
              <a:cs typeface="맑은 고딕"/>
            </a:endParaRPr>
          </a:p>
          <a:p>
            <a:pPr>
              <a:spcAft>
                <a:spcPts val="100"/>
              </a:spcAft>
            </a:pPr>
            <a:r>
              <a:rPr lang="en-US" altLang="ko-KR" sz="800" b="1" dirty="0">
                <a:ea typeface="맑은 고딕"/>
                <a:cs typeface="맑은 고딕"/>
              </a:rPr>
              <a:t>(KV Sampler)</a:t>
            </a:r>
          </a:p>
        </p:txBody>
      </p:sp>
      <p:sp>
        <p:nvSpPr>
          <p:cNvPr id="303" name="TextBox 302"/>
          <p:cNvSpPr txBox="1"/>
          <p:nvPr/>
        </p:nvSpPr>
        <p:spPr>
          <a:xfrm>
            <a:off x="5093777" y="3954047"/>
            <a:ext cx="3149522" cy="314445"/>
          </a:xfrm>
          <a:prstGeom prst="rect">
            <a:avLst/>
          </a:prstGeom>
          <a:solidFill>
            <a:schemeClr val="accent6">
              <a:lumMod val="20000"/>
              <a:lumOff val="80000"/>
            </a:schemeClr>
          </a:solidFill>
        </p:spPr>
        <p:txBody>
          <a:bodyPr wrap="square" lIns="45720" tIns="27432" rIns="45720" bIns="27432" anchor="ctr">
            <a:spAutoFit/>
          </a:bodyPr>
          <a:lstStyle/>
          <a:p>
            <a:pPr lvl="0">
              <a:spcAft>
                <a:spcPts val="100"/>
              </a:spcAft>
            </a:pPr>
            <a:r>
              <a:rPr lang="ko-KR" altLang="en-US" sz="800" b="1" dirty="0" err="1">
                <a:solidFill>
                  <a:prstClr val="black"/>
                </a:solidFill>
                <a:ea typeface="맑은 고딕"/>
                <a:cs typeface="맑은 고딕"/>
              </a:rPr>
              <a:t>재연산</a:t>
            </a:r>
            <a:r>
              <a:rPr lang="ko-KR" altLang="en-US" sz="800" b="1" dirty="0">
                <a:solidFill>
                  <a:prstClr val="black"/>
                </a:solidFill>
                <a:ea typeface="맑은 고딕"/>
                <a:cs typeface="맑은 고딕"/>
              </a:rPr>
              <a:t> 토큰 선정</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재계산할 토큰 선정</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a:t>
            </a:r>
            <a:r>
              <a:rPr lang="en-US" altLang="ko-KR" sz="800" b="1" dirty="0" err="1">
                <a:solidFill>
                  <a:prstClr val="black"/>
                </a:solidFill>
                <a:ea typeface="맑은 고딕"/>
                <a:cs typeface="맑은 고딕"/>
              </a:rPr>
              <a:t>Recompute</a:t>
            </a:r>
            <a:r>
              <a:rPr lang="en-US" altLang="ko-KR" sz="800" b="1" dirty="0">
                <a:solidFill>
                  <a:prstClr val="black"/>
                </a:solidFill>
                <a:ea typeface="맑은 고딕"/>
                <a:cs typeface="맑은 고딕"/>
              </a:rPr>
              <a:t>-Token Selector)</a:t>
            </a:r>
          </a:p>
        </p:txBody>
      </p:sp>
      <p:sp>
        <p:nvSpPr>
          <p:cNvPr id="304" name="TextBox 303"/>
          <p:cNvSpPr txBox="1"/>
          <p:nvPr/>
        </p:nvSpPr>
        <p:spPr>
          <a:xfrm>
            <a:off x="5093777" y="4366396"/>
            <a:ext cx="3149522" cy="316242"/>
          </a:xfrm>
          <a:prstGeom prst="rect">
            <a:avLst/>
          </a:prstGeom>
          <a:solidFill>
            <a:schemeClr val="accent4">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선택적 재계산</a:t>
            </a:r>
            <a:r>
              <a:rPr lang="en-US" altLang="ko-KR" sz="800" b="1" dirty="0">
                <a:ea typeface="맑은 고딕"/>
                <a:cs typeface="맑은 고딕"/>
              </a:rPr>
              <a:t>: </a:t>
            </a:r>
            <a:r>
              <a:rPr lang="ko-KR" altLang="en-US" sz="800" b="1" dirty="0">
                <a:ea typeface="맑은 고딕"/>
                <a:cs typeface="맑은 고딕"/>
              </a:rPr>
              <a:t>선정한 토큰만 재계산</a:t>
            </a:r>
            <a:endParaRPr lang="en-US" altLang="ko-KR" sz="800" b="1" dirty="0">
              <a:ea typeface="맑은 고딕"/>
              <a:cs typeface="맑은 고딕"/>
            </a:endParaRPr>
          </a:p>
          <a:p>
            <a:pPr>
              <a:spcAft>
                <a:spcPts val="100"/>
              </a:spcAft>
            </a:pPr>
            <a:r>
              <a:rPr lang="en-US" altLang="ko-KR" sz="800" b="1" dirty="0">
                <a:ea typeface="맑은 고딕"/>
                <a:cs typeface="맑은 고딕"/>
              </a:rPr>
              <a:t>(Selective </a:t>
            </a:r>
            <a:r>
              <a:rPr lang="en-US" altLang="ko-KR" sz="800" b="1" dirty="0" err="1">
                <a:ea typeface="맑은 고딕"/>
                <a:cs typeface="맑은 고딕"/>
              </a:rPr>
              <a:t>Recomputer</a:t>
            </a:r>
            <a:r>
              <a:rPr lang="en-US" altLang="ko-KR" sz="800" b="1" dirty="0">
                <a:ea typeface="맑은 고딕"/>
                <a:cs typeface="맑은 고딕"/>
              </a:rPr>
              <a:t>)</a:t>
            </a:r>
            <a:endParaRPr lang="en-US" altLang="ko-KR" sz="800" dirty="0">
              <a:ea typeface="맑은 고딕"/>
              <a:cs typeface="맑은 고딕"/>
            </a:endParaRPr>
          </a:p>
        </p:txBody>
      </p:sp>
      <p:sp>
        <p:nvSpPr>
          <p:cNvPr id="305" name="TextBox 304"/>
          <p:cNvSpPr txBox="1"/>
          <p:nvPr/>
        </p:nvSpPr>
        <p:spPr>
          <a:xfrm>
            <a:off x="8352247" y="3952198"/>
            <a:ext cx="2863202" cy="314445"/>
          </a:xfrm>
          <a:prstGeom prst="rect">
            <a:avLst/>
          </a:prstGeom>
          <a:solidFill>
            <a:schemeClr val="accent2">
              <a:lumMod val="20000"/>
              <a:lumOff val="80000"/>
            </a:schemeClr>
          </a:solidFill>
        </p:spPr>
        <p:txBody>
          <a:bodyPr wrap="square" lIns="45720" tIns="27432" rIns="45720" bIns="27432" anchor="ctr">
            <a:spAutoFit/>
          </a:bodyPr>
          <a:lstStyle/>
          <a:p>
            <a:pPr lvl="0">
              <a:spcAft>
                <a:spcPts val="100"/>
              </a:spcAft>
            </a:pPr>
            <a:r>
              <a:rPr lang="ko-KR" altLang="en-US" sz="800" b="1" dirty="0">
                <a:solidFill>
                  <a:prstClr val="black"/>
                </a:solidFill>
                <a:ea typeface="맑은 고딕"/>
                <a:cs typeface="맑은 고딕"/>
              </a:rPr>
              <a:t>대표 쿼리 추출 </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워크로드 별 대표 </a:t>
            </a:r>
            <a:r>
              <a:rPr lang="en-US" altLang="ko-KR" sz="800" b="1" dirty="0">
                <a:solidFill>
                  <a:prstClr val="black"/>
                </a:solidFill>
                <a:ea typeface="맑은 고딕"/>
                <a:cs typeface="맑은 고딕"/>
              </a:rPr>
              <a:t>Query </a:t>
            </a:r>
            <a:r>
              <a:rPr lang="ko-KR" altLang="en-US" sz="800" b="1" dirty="0">
                <a:solidFill>
                  <a:prstClr val="black"/>
                </a:solidFill>
                <a:ea typeface="맑은 고딕"/>
                <a:cs typeface="맑은 고딕"/>
              </a:rPr>
              <a:t>추출 </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(Query Sampler)</a:t>
            </a:r>
          </a:p>
        </p:txBody>
      </p:sp>
      <p:sp>
        <p:nvSpPr>
          <p:cNvPr id="16" name="실행 단추: 앞으로 또는 다음 15">
            <a:hlinkClick r:id="rId3" action="ppaction://hlinksldjump" highlightClick="1"/>
          </p:cNvPr>
          <p:cNvSpPr/>
          <p:nvPr/>
        </p:nvSpPr>
        <p:spPr>
          <a:xfrm>
            <a:off x="569407" y="3283938"/>
            <a:ext cx="213360" cy="18435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p:cNvSpPr/>
          <p:nvPr/>
        </p:nvSpPr>
        <p:spPr>
          <a:xfrm>
            <a:off x="1238713" y="4180883"/>
            <a:ext cx="540533" cy="381673"/>
          </a:xfrm>
          <a:prstGeom prst="rect">
            <a:avLst/>
          </a:prstGeom>
        </p:spPr>
        <p:txBody>
          <a:bodyPr wrap="none" anchor="ctr">
            <a:spAutoFit/>
          </a:bodyPr>
          <a:lstStyle/>
          <a:p>
            <a:r>
              <a:rPr lang="en-US" altLang="ko-KR" sz="800" b="1" dirty="0">
                <a:solidFill>
                  <a:prstClr val="black"/>
                </a:solidFill>
              </a:rPr>
              <a:t>Legend</a:t>
            </a:r>
            <a:endParaRPr lang="ko-KR" altLang="en-US" dirty="0"/>
          </a:p>
        </p:txBody>
      </p:sp>
      <p:sp>
        <p:nvSpPr>
          <p:cNvPr id="308" name="모서리가 둥근 직사각형 37">
            <a:extLst>
              <a:ext uri="{FF2B5EF4-FFF2-40B4-BE49-F238E27FC236}">
                <a16:creationId xmlns:a16="http://schemas.microsoft.com/office/drawing/2014/main" id="{824F5705-7E02-467A-970F-D2A9FCD95DC7}"/>
              </a:ext>
            </a:extLst>
          </p:cNvPr>
          <p:cNvSpPr/>
          <p:nvPr/>
        </p:nvSpPr>
        <p:spPr>
          <a:xfrm>
            <a:off x="8507446" y="610093"/>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309" name="모서리가 둥근 직사각형 91">
            <a:extLst>
              <a:ext uri="{FF2B5EF4-FFF2-40B4-BE49-F238E27FC236}">
                <a16:creationId xmlns:a16="http://schemas.microsoft.com/office/drawing/2014/main" id="{79FF95E1-283C-43BE-99C6-1DF1F017466C}"/>
              </a:ext>
            </a:extLst>
          </p:cNvPr>
          <p:cNvSpPr/>
          <p:nvPr/>
        </p:nvSpPr>
        <p:spPr>
          <a:xfrm>
            <a:off x="9776636" y="613614"/>
            <a:ext cx="910691"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a:t>
            </a:r>
            <a:r>
              <a:rPr lang="ko-KR" altLang="en-US" sz="700" dirty="0">
                <a:latin typeface="맑은 고딕" panose="020B0503020000020004" pitchFamily="50" charset="-127"/>
              </a:rPr>
              <a:t>연산 스케줄링 </a:t>
            </a:r>
            <a:r>
              <a:rPr lang="en-US" altLang="ko-KR" sz="700" dirty="0">
                <a:latin typeface="맑은 고딕" panose="020B0503020000020004" pitchFamily="50" charset="-127"/>
                <a:ea typeface="맑은 고딕" panose="020B0503020000020004" pitchFamily="50" charset="-127"/>
              </a:rPr>
              <a:t> </a:t>
            </a:r>
            <a:endParaRPr lang="ko-KR" altLang="en-US" sz="700" dirty="0">
              <a:latin typeface="맑은 고딕" panose="020B0503020000020004" pitchFamily="50" charset="-127"/>
              <a:ea typeface="맑은 고딕" panose="020B0503020000020004" pitchFamily="50" charset="-127"/>
            </a:endParaRPr>
          </a:p>
        </p:txBody>
      </p:sp>
      <p:sp>
        <p:nvSpPr>
          <p:cNvPr id="97" name="Rectangle 51"/>
          <p:cNvSpPr/>
          <p:nvPr/>
        </p:nvSpPr>
        <p:spPr>
          <a:xfrm>
            <a:off x="11215449" y="2261114"/>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a:ea typeface="맑은 고딕"/>
                <a:cs typeface="맑은 고딕"/>
              </a:rPr>
              <a:t>요청</a:t>
            </a:r>
            <a:r>
              <a:rPr lang="en-US" altLang="ko-KR" sz="900" b="1" dirty="0">
                <a:solidFill>
                  <a:srgbClr val="000000"/>
                </a:solidFill>
                <a:latin typeface="맑은 고딕"/>
                <a:ea typeface="맑은 고딕"/>
                <a:cs typeface="맑은 고딕"/>
              </a:rPr>
              <a:t>1: SR</a:t>
            </a:r>
            <a:endParaRPr sz="900" b="1" dirty="0">
              <a:solidFill>
                <a:srgbClr val="000000"/>
              </a:solidFill>
              <a:latin typeface="맑은 고딕"/>
              <a:ea typeface="맑은 고딕"/>
              <a:cs typeface="맑은 고딕"/>
            </a:endParaRPr>
          </a:p>
        </p:txBody>
      </p:sp>
      <p:sp>
        <p:nvSpPr>
          <p:cNvPr id="98" name="Rectangle 51"/>
          <p:cNvSpPr/>
          <p:nvPr/>
        </p:nvSpPr>
        <p:spPr>
          <a:xfrm>
            <a:off x="11215449" y="2704826"/>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a:ea typeface="맑은 고딕"/>
                <a:cs typeface="맑은 고딕"/>
              </a:rPr>
              <a:t>요청</a:t>
            </a:r>
            <a:r>
              <a:rPr lang="en-US" altLang="ko-KR" sz="900" b="1" dirty="0">
                <a:solidFill>
                  <a:srgbClr val="000000"/>
                </a:solidFill>
                <a:latin typeface="맑은 고딕"/>
                <a:ea typeface="맑은 고딕"/>
                <a:cs typeface="맑은 고딕"/>
              </a:rPr>
              <a:t>2: SR</a:t>
            </a:r>
            <a:endParaRPr sz="900" b="1" dirty="0">
              <a:solidFill>
                <a:srgbClr val="000000"/>
              </a:solidFill>
              <a:latin typeface="맑은 고딕"/>
              <a:ea typeface="맑은 고딕"/>
              <a:cs typeface="맑은 고딕"/>
            </a:endParaRPr>
          </a:p>
        </p:txBody>
      </p:sp>
      <p:sp>
        <p:nvSpPr>
          <p:cNvPr id="108" name="Rectangle 51"/>
          <p:cNvSpPr/>
          <p:nvPr/>
        </p:nvSpPr>
        <p:spPr>
          <a:xfrm>
            <a:off x="11215449" y="3151723"/>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a:ea typeface="맑은 고딕"/>
                <a:cs typeface="맑은 고딕"/>
              </a:rPr>
              <a:t>요청</a:t>
            </a:r>
            <a:r>
              <a:rPr lang="en-US" altLang="ko-KR" sz="900" b="1" dirty="0">
                <a:solidFill>
                  <a:srgbClr val="000000"/>
                </a:solidFill>
                <a:latin typeface="맑은 고딕"/>
                <a:ea typeface="맑은 고딕"/>
                <a:cs typeface="맑은 고딕"/>
              </a:rPr>
              <a:t>3: SR</a:t>
            </a:r>
            <a:endParaRPr sz="900" b="1" dirty="0">
              <a:solidFill>
                <a:srgbClr val="000000"/>
              </a:solidFill>
              <a:latin typeface="맑은 고딕"/>
              <a:ea typeface="맑은 고딕"/>
              <a:cs typeface="맑은 고딕"/>
            </a:endParaRPr>
          </a:p>
        </p:txBody>
      </p:sp>
      <p:sp>
        <p:nvSpPr>
          <p:cNvPr id="96" name="Rectangle 52"/>
          <p:cNvSpPr/>
          <p:nvPr/>
        </p:nvSpPr>
        <p:spPr>
          <a:xfrm>
            <a:off x="8691026" y="2799401"/>
            <a:ext cx="1836041" cy="355375"/>
          </a:xfrm>
          <a:prstGeom prst="rect">
            <a:avLst/>
          </a:prstGeom>
          <a:solidFill>
            <a:schemeClr val="bg1"/>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800" b="1" dirty="0">
                <a:solidFill>
                  <a:srgbClr val="000000"/>
                </a:solidFill>
                <a:latin typeface="맑은 고딕"/>
                <a:ea typeface="맑은 고딕"/>
                <a:cs typeface="맑은 고딕"/>
              </a:rPr>
              <a:t>Shared </a:t>
            </a:r>
            <a:r>
              <a:rPr sz="800" b="1" dirty="0">
                <a:solidFill>
                  <a:srgbClr val="000000"/>
                </a:solidFill>
                <a:latin typeface="맑은 고딕"/>
                <a:ea typeface="맑은 고딕"/>
                <a:cs typeface="맑은 고딕"/>
              </a:rPr>
              <a:t>Repository </a:t>
            </a:r>
            <a:endParaRPr lang="en-US" sz="800" b="1" dirty="0">
              <a:solidFill>
                <a:srgbClr val="000000"/>
              </a:solidFill>
              <a:latin typeface="맑은 고딕"/>
              <a:ea typeface="맑은 고딕"/>
              <a:cs typeface="맑은 고딕"/>
            </a:endParaRPr>
          </a:p>
          <a:p>
            <a:pPr algn="ctr">
              <a:spcAft>
                <a:spcPts val="200"/>
              </a:spcAft>
            </a:pPr>
            <a:r>
              <a:rPr lang="ko-KR" altLang="en-US" sz="700" b="1" dirty="0" err="1">
                <a:solidFill>
                  <a:schemeClr val="bg1">
                    <a:lumMod val="50000"/>
                  </a:schemeClr>
                </a:solidFill>
                <a:latin typeface="맑은 고딕"/>
                <a:ea typeface="맑은 고딕"/>
                <a:cs typeface="맑은 고딕"/>
              </a:rPr>
              <a:t>워크로드별</a:t>
            </a:r>
            <a:r>
              <a:rPr lang="ko-KR" altLang="en-US" sz="700" b="1" dirty="0">
                <a:solidFill>
                  <a:schemeClr val="bg1">
                    <a:lumMod val="50000"/>
                  </a:schemeClr>
                </a:solidFill>
                <a:latin typeface="맑은 고딕"/>
                <a:ea typeface="맑은 고딕"/>
                <a:cs typeface="맑은 고딕"/>
              </a:rPr>
              <a:t> 대표 쿼리</a:t>
            </a:r>
            <a:r>
              <a:rPr lang="en-US" altLang="ko-KR" sz="700" b="1" dirty="0">
                <a:solidFill>
                  <a:schemeClr val="bg1">
                    <a:lumMod val="50000"/>
                  </a:schemeClr>
                </a:solidFill>
                <a:latin typeface="맑은 고딕"/>
                <a:ea typeface="맑은 고딕"/>
                <a:cs typeface="맑은 고딕"/>
              </a:rPr>
              <a:t>, </a:t>
            </a:r>
            <a:r>
              <a:rPr sz="700" b="1" dirty="0" err="1">
                <a:solidFill>
                  <a:schemeClr val="bg1">
                    <a:lumMod val="50000"/>
                  </a:schemeClr>
                </a:solidFill>
                <a:latin typeface="맑은 고딕"/>
                <a:ea typeface="맑은 고딕"/>
                <a:cs typeface="맑은 고딕"/>
              </a:rPr>
              <a:t>재계산</a:t>
            </a:r>
            <a:r>
              <a:rPr lang="ko-KR" altLang="en-US" sz="700" b="1" dirty="0">
                <a:solidFill>
                  <a:schemeClr val="bg1">
                    <a:lumMod val="50000"/>
                  </a:schemeClr>
                </a:solidFill>
                <a:latin typeface="맑은 고딕"/>
                <a:ea typeface="맑은 고딕"/>
                <a:cs typeface="맑은 고딕"/>
              </a:rPr>
              <a:t> 토큰 </a:t>
            </a:r>
            <a:r>
              <a:rPr sz="700" b="1" dirty="0" err="1">
                <a:solidFill>
                  <a:schemeClr val="bg1">
                    <a:lumMod val="50000"/>
                  </a:schemeClr>
                </a:solidFill>
                <a:latin typeface="맑은 고딕"/>
                <a:ea typeface="맑은 고딕"/>
                <a:cs typeface="맑은 고딕"/>
              </a:rPr>
              <a:t>위치</a:t>
            </a:r>
            <a:r>
              <a:rPr lang="en-US" sz="700" b="1" dirty="0">
                <a:solidFill>
                  <a:schemeClr val="bg1">
                    <a:lumMod val="50000"/>
                  </a:schemeClr>
                </a:solidFill>
                <a:latin typeface="맑은 고딕"/>
                <a:ea typeface="맑은 고딕"/>
                <a:cs typeface="맑은 고딕"/>
              </a:rPr>
              <a:t> </a:t>
            </a:r>
            <a:r>
              <a:rPr sz="700" b="1" dirty="0">
                <a:solidFill>
                  <a:schemeClr val="bg1">
                    <a:lumMod val="50000"/>
                  </a:schemeClr>
                </a:solidFill>
                <a:latin typeface="맑은 고딕"/>
                <a:ea typeface="맑은 고딕"/>
                <a:cs typeface="맑은 고딕"/>
              </a:rPr>
              <a:t> </a:t>
            </a:r>
          </a:p>
        </p:txBody>
      </p:sp>
      <p:cxnSp>
        <p:nvCxnSpPr>
          <p:cNvPr id="99" name="Connector 50"/>
          <p:cNvCxnSpPr/>
          <p:nvPr/>
        </p:nvCxnSpPr>
        <p:spPr>
          <a:xfrm flipH="1">
            <a:off x="10019099" y="2586517"/>
            <a:ext cx="2602" cy="222995"/>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 name="Connector 60"/>
          <p:cNvCxnSpPr/>
          <p:nvPr/>
        </p:nvCxnSpPr>
        <p:spPr>
          <a:xfrm flipV="1">
            <a:off x="10550687" y="2448817"/>
            <a:ext cx="570978" cy="397681"/>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Connector 60"/>
          <p:cNvCxnSpPr/>
          <p:nvPr/>
        </p:nvCxnSpPr>
        <p:spPr>
          <a:xfrm flipV="1">
            <a:off x="10596254" y="2932395"/>
            <a:ext cx="535628" cy="37890"/>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Connector 60"/>
          <p:cNvCxnSpPr/>
          <p:nvPr/>
        </p:nvCxnSpPr>
        <p:spPr>
          <a:xfrm>
            <a:off x="10556860" y="3037194"/>
            <a:ext cx="550948" cy="275207"/>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10520935" y="2350840"/>
            <a:ext cx="501541"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read × N</a:t>
            </a:r>
          </a:p>
        </p:txBody>
      </p:sp>
      <p:sp>
        <p:nvSpPr>
          <p:cNvPr id="128" name="Rectangle 55"/>
          <p:cNvSpPr/>
          <p:nvPr/>
        </p:nvSpPr>
        <p:spPr>
          <a:xfrm>
            <a:off x="7726026" y="2805957"/>
            <a:ext cx="662975" cy="339501"/>
          </a:xfrm>
          <a:prstGeom prst="rect">
            <a:avLst/>
          </a:prstGeom>
          <a:solidFill>
            <a:srgbClr val="F0D8FA"/>
          </a:solidFill>
          <a:ln w="15240">
            <a:solidFill>
              <a:schemeClr val="bg1">
                <a:lumMod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800" dirty="0">
                <a:solidFill>
                  <a:schemeClr val="tx1"/>
                </a:solidFill>
                <a:ea typeface="맑은 고딕"/>
                <a:cs typeface="맑은 고딕"/>
              </a:rPr>
              <a:t>Version Manager</a:t>
            </a:r>
            <a:endParaRPr sz="800" b="1" dirty="0">
              <a:solidFill>
                <a:schemeClr val="tx1"/>
              </a:solidFill>
              <a:latin typeface="맑은 고딕"/>
              <a:ea typeface="맑은 고딕"/>
              <a:cs typeface="맑은 고딕"/>
            </a:endParaRPr>
          </a:p>
        </p:txBody>
      </p:sp>
      <p:cxnSp>
        <p:nvCxnSpPr>
          <p:cNvPr id="129" name="Connector 46"/>
          <p:cNvCxnSpPr>
            <a:stCxn id="128" idx="3"/>
            <a:endCxn id="96" idx="1"/>
          </p:cNvCxnSpPr>
          <p:nvPr/>
        </p:nvCxnSpPr>
        <p:spPr>
          <a:xfrm>
            <a:off x="8389001" y="2975708"/>
            <a:ext cx="302025" cy="1381"/>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8352247" y="4360264"/>
            <a:ext cx="2863202" cy="301621"/>
          </a:xfrm>
          <a:prstGeom prst="rect">
            <a:avLst/>
          </a:prstGeom>
          <a:solidFill>
            <a:srgbClr val="F0D8FA"/>
          </a:solidFill>
        </p:spPr>
        <p:txBody>
          <a:bodyPr wrap="square" lIns="45720" tIns="27432" rIns="45720" bIns="27432" anchor="ctr">
            <a:spAutoFit/>
          </a:bodyPr>
          <a:lstStyle/>
          <a:p>
            <a:pPr lvl="0">
              <a:spcAft>
                <a:spcPts val="100"/>
              </a:spcAft>
            </a:pPr>
            <a:r>
              <a:rPr lang="en-US" altLang="ko-KR" sz="800" b="1" dirty="0">
                <a:solidFill>
                  <a:prstClr val="black"/>
                </a:solidFill>
                <a:ea typeface="맑은 고딕"/>
                <a:cs typeface="맑은 고딕"/>
              </a:rPr>
              <a:t>Version Manager: KV </a:t>
            </a:r>
            <a:r>
              <a:rPr lang="ko-KR" altLang="en-US" sz="800" b="1" dirty="0">
                <a:solidFill>
                  <a:prstClr val="black"/>
                </a:solidFill>
                <a:ea typeface="맑은 고딕"/>
                <a:cs typeface="맑은 고딕"/>
              </a:rPr>
              <a:t>캐시</a:t>
            </a:r>
            <a:r>
              <a:rPr lang="en-US" altLang="ko-KR" sz="800" b="1" dirty="0">
                <a:solidFill>
                  <a:prstClr val="black"/>
                </a:solidFill>
                <a:ea typeface="맑은 고딕"/>
                <a:cs typeface="맑은 고딕"/>
              </a:rPr>
              <a:t> version </a:t>
            </a:r>
            <a:r>
              <a:rPr lang="ko-KR" altLang="en-US" sz="800" b="1" dirty="0">
                <a:solidFill>
                  <a:prstClr val="black"/>
                </a:solidFill>
                <a:ea typeface="맑은 고딕"/>
                <a:cs typeface="맑은 고딕"/>
              </a:rPr>
              <a:t>에 따라 재계산 토큰 위치를 업데이트 함으로써 </a:t>
            </a:r>
            <a:r>
              <a:rPr lang="en-US" altLang="ko-KR" sz="800" b="1" dirty="0">
                <a:solidFill>
                  <a:prstClr val="black"/>
                </a:solidFill>
                <a:ea typeface="맑은 고딕"/>
                <a:cs typeface="맑은 고딕"/>
              </a:rPr>
              <a:t>stale</a:t>
            </a:r>
            <a:r>
              <a:rPr lang="ko-KR" altLang="en-US" sz="800" b="1" dirty="0">
                <a:solidFill>
                  <a:prstClr val="black"/>
                </a:solidFill>
                <a:ea typeface="맑은 고딕"/>
                <a:cs typeface="맑은 고딕"/>
              </a:rPr>
              <a:t> 정보 보완</a:t>
            </a:r>
            <a:endParaRPr lang="en-US" altLang="ko-KR" sz="800" b="1" dirty="0">
              <a:solidFill>
                <a:prstClr val="black"/>
              </a:solidFill>
              <a:ea typeface="맑은 고딕"/>
              <a:cs typeface="맑은 고딕"/>
            </a:endParaRPr>
          </a:p>
        </p:txBody>
      </p:sp>
    </p:spTree>
    <p:extLst>
      <p:ext uri="{BB962C8B-B14F-4D97-AF65-F5344CB8AC3E}">
        <p14:creationId xmlns:p14="http://schemas.microsoft.com/office/powerpoint/2010/main" val="77354617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8" y="1054901"/>
          <a:ext cx="11759184" cy="5621793"/>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4158474">
                  <a:extLst>
                    <a:ext uri="{9D8B030D-6E8A-4147-A177-3AD203B41FA5}">
                      <a16:colId xmlns:a16="http://schemas.microsoft.com/office/drawing/2014/main" val="5654497"/>
                    </a:ext>
                  </a:extLst>
                </a:gridCol>
                <a:gridCol w="1282206">
                  <a:extLst>
                    <a:ext uri="{9D8B030D-6E8A-4147-A177-3AD203B41FA5}">
                      <a16:colId xmlns:a16="http://schemas.microsoft.com/office/drawing/2014/main" val="4114062400"/>
                    </a:ext>
                  </a:extLst>
                </a:gridCol>
                <a:gridCol w="4279498">
                  <a:extLst>
                    <a:ext uri="{9D8B030D-6E8A-4147-A177-3AD203B41FA5}">
                      <a16:colId xmlns:a16="http://schemas.microsoft.com/office/drawing/2014/main" val="3070054508"/>
                    </a:ext>
                  </a:extLst>
                </a:gridCol>
                <a:gridCol w="1161182">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a:t>구조</a:t>
                      </a:r>
                      <a:r>
                        <a:rPr lang="en-US" altLang="ko-KR" sz="1200" b="1" baseline="0" dirty="0"/>
                        <a:t>: </a:t>
                      </a:r>
                      <a:r>
                        <a:rPr lang="ko-KR" altLang="en-US" sz="1200" b="1" baseline="0" dirty="0" err="1">
                          <a:solidFill>
                            <a:srgbClr val="0066FF"/>
                          </a:solidFill>
                        </a:rPr>
                        <a:t>요청마다</a:t>
                      </a:r>
                      <a:r>
                        <a:rPr lang="ko-KR" altLang="en-US" sz="1200" b="1" baseline="0" dirty="0">
                          <a:solidFill>
                            <a:srgbClr val="0066FF"/>
                          </a:solidFill>
                        </a:rPr>
                        <a:t> 전체 체인 실행</a:t>
                      </a:r>
                      <a:endParaRPr lang="en-US" altLang="ko-KR" sz="1050" b="1" kern="1200" baseline="0" dirty="0">
                        <a:solidFill>
                          <a:srgbClr val="0066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 </a:t>
                      </a:r>
                      <a:r>
                        <a:rPr lang="en-US" altLang="ko-KR" sz="1200" b="1" dirty="0">
                          <a:solidFill>
                            <a:srgbClr val="FF0000"/>
                          </a:solidFill>
                        </a:rPr>
                        <a:t>+</a:t>
                      </a:r>
                      <a:r>
                        <a:rPr lang="en-US" altLang="ko-KR" sz="1200" b="1" baseline="0" dirty="0">
                          <a:solidFill>
                            <a:srgbClr val="FF0000"/>
                          </a:solidFill>
                        </a:rPr>
                        <a:t> Base </a:t>
                      </a:r>
                      <a:r>
                        <a:rPr lang="ko-KR" altLang="en-US" sz="1200" b="1" baseline="0" dirty="0">
                          <a:solidFill>
                            <a:srgbClr val="FF0000"/>
                          </a:solidFill>
                        </a:rPr>
                        <a:t>공유</a:t>
                      </a:r>
                      <a:r>
                        <a:rPr lang="en-US" altLang="ko-KR" sz="1200" b="1" baseline="0" dirty="0">
                          <a:solidFill>
                            <a:srgbClr val="FF0000"/>
                          </a:solidFill>
                        </a:rPr>
                        <a:t>, Delta</a:t>
                      </a:r>
                      <a:r>
                        <a:rPr lang="ko-KR" altLang="en-US" sz="1200" b="1" baseline="0" dirty="0">
                          <a:solidFill>
                            <a:srgbClr val="FF0000"/>
                          </a:solidFill>
                        </a:rPr>
                        <a:t>만 할당</a:t>
                      </a:r>
                      <a:endParaRPr lang="ko-KR" altLang="en-US" sz="1200" b="1"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509198">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요청이 끝나면 재계산 위치를 소멸하여 </a:t>
                      </a:r>
                      <a:r>
                        <a:rPr lang="en-US" altLang="ko-KR" sz="1200" strike="noStrike" baseline="0" dirty="0">
                          <a:effectLst/>
                        </a:rPr>
                        <a:t>Stale </a:t>
                      </a:r>
                      <a:r>
                        <a:rPr lang="ko-KR" altLang="en-US" sz="1200" strike="noStrike" baseline="0" dirty="0">
                          <a:effectLst/>
                        </a:rPr>
                        <a:t>데이터 발생 방지 </a:t>
                      </a:r>
                      <a:r>
                        <a:rPr lang="en-US" altLang="ko-KR" sz="1200" strike="noStrike" baseline="0" dirty="0">
                          <a:effectLst/>
                        </a:rPr>
                        <a:t>(QA2)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매 요청 </a:t>
                      </a:r>
                      <a:r>
                        <a:rPr lang="en-US" altLang="ko-KR" sz="1200" strike="noStrike" baseline="0" dirty="0">
                          <a:effectLst/>
                        </a:rPr>
                        <a:t>Query</a:t>
                      </a:r>
                      <a:r>
                        <a:rPr lang="ko-KR" altLang="en-US" sz="1200" strike="noStrike" baseline="0" dirty="0">
                          <a:effectLst/>
                        </a:rPr>
                        <a:t>를 반영해 재계산 토큰을 선정하므로 정확도 유리 </a:t>
                      </a:r>
                      <a:r>
                        <a:rPr lang="en-US" altLang="ko-KR" sz="1200" strike="noStrike" baseline="0" dirty="0">
                          <a:effectLst/>
                        </a:rPr>
                        <a:t>(QA5)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절감 </a:t>
                      </a:r>
                      <a:r>
                        <a:rPr lang="en-US" altLang="ko-KR" sz="1200" b="0" i="0" dirty="0">
                          <a:solidFill>
                            <a:srgbClr val="404040"/>
                          </a:solidFill>
                          <a:latin typeface="+mn-lt"/>
                          <a:ea typeface="맑은 고딕"/>
                        </a:rPr>
                        <a:t>(QA1)</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발생 우려</a:t>
                      </a:r>
                      <a:r>
                        <a:rPr lang="en-US" altLang="ko-KR" sz="1200" strike="noStrike" baseline="0" dirty="0">
                          <a:effectLst/>
                        </a:rPr>
                        <a:t>, </a:t>
                      </a:r>
                      <a:r>
                        <a:rPr lang="ko-KR" altLang="en-US" sz="1200" strike="noStrike" baseline="0" dirty="0">
                          <a:effectLst/>
                        </a:rPr>
                        <a:t>지연 증가 </a:t>
                      </a:r>
                      <a:r>
                        <a:rPr lang="en-US" altLang="ko-KR" sz="1200" strike="noStrike" baseline="0" dirty="0">
                          <a:effectLst/>
                        </a:rPr>
                        <a:t>(QA1)</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대표 </a:t>
                      </a:r>
                      <a:r>
                        <a:rPr lang="en-US" altLang="ko-KR" sz="1200" strike="noStrike" baseline="0" dirty="0">
                          <a:effectLst/>
                        </a:rPr>
                        <a:t>Query</a:t>
                      </a:r>
                      <a:r>
                        <a:rPr lang="en-US" altLang="ko-KR" sz="1200" strike="noStrike" baseline="0" dirty="0">
                          <a:effectLst/>
                          <a:latin typeface="맑은 고딕" panose="020B0503020000020004" pitchFamily="50" charset="-127"/>
                          <a:ea typeface="맑은 고딕" panose="020B0503020000020004" pitchFamily="50" charset="-127"/>
                        </a:rPr>
                        <a:t>∙</a:t>
                      </a:r>
                      <a:r>
                        <a:rPr lang="ko-KR" altLang="en-US" sz="1200" strike="noStrike" baseline="0" dirty="0">
                          <a:effectLst/>
                        </a:rPr>
                        <a:t>재계산 위치를 별도 저장하므로 메모리 </a:t>
                      </a:r>
                      <a:r>
                        <a:rPr lang="ko-KR" altLang="en-US" sz="1200" strike="noStrike" baseline="0" dirty="0" err="1">
                          <a:effectLst/>
                        </a:rPr>
                        <a:t>점유량</a:t>
                      </a:r>
                      <a:r>
                        <a:rPr lang="ko-KR" altLang="en-US" sz="1200" strike="noStrike" baseline="0" dirty="0">
                          <a:effectLst/>
                        </a:rPr>
                        <a:t> 증가 </a:t>
                      </a:r>
                      <a:r>
                        <a:rPr lang="en-US" altLang="ko-KR" sz="1200" strike="noStrike" baseline="0" dirty="0">
                          <a:effectLst/>
                        </a:rPr>
                        <a:t>(QA2)</a:t>
                      </a:r>
                    </a:p>
                    <a:p>
                      <a:pPr marL="0" marR="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rPr>
                        <a:t>-&gt; </a:t>
                      </a:r>
                      <a:r>
                        <a:rPr lang="ko-KR" altLang="en-US" sz="1200" strike="noStrike" baseline="0" dirty="0">
                          <a:solidFill>
                            <a:srgbClr val="FF0000"/>
                          </a:solidFill>
                          <a:effectLst/>
                        </a:rPr>
                        <a:t>재사용 </a:t>
                      </a:r>
                      <a:r>
                        <a:rPr lang="en-US" altLang="ko-KR" sz="1200" strike="noStrike" baseline="0" dirty="0">
                          <a:solidFill>
                            <a:srgbClr val="FF0000"/>
                          </a:solidFill>
                          <a:effectLst/>
                        </a:rPr>
                        <a:t>KV</a:t>
                      </a:r>
                      <a:r>
                        <a:rPr lang="ko-KR" altLang="en-US" sz="1200" strike="noStrike" baseline="0" dirty="0">
                          <a:solidFill>
                            <a:srgbClr val="FF0000"/>
                          </a:solidFill>
                          <a:effectLst/>
                        </a:rPr>
                        <a:t>는 요청 간 공유하고 요청 별로 새로 쓰는 </a:t>
                      </a:r>
                      <a:r>
                        <a:rPr lang="en-US" altLang="ko-KR" sz="1200" strike="noStrike" baseline="0" dirty="0">
                          <a:solidFill>
                            <a:srgbClr val="FF0000"/>
                          </a:solidFill>
                          <a:effectLst/>
                        </a:rPr>
                        <a:t>KV(Delta)</a:t>
                      </a:r>
                      <a:r>
                        <a:rPr lang="ko-KR" altLang="en-US" sz="1200" strike="noStrike" baseline="0" dirty="0">
                          <a:solidFill>
                            <a:srgbClr val="FF0000"/>
                          </a:solidFill>
                          <a:effectLst/>
                        </a:rPr>
                        <a:t>만 요청 별로 할당하여 </a:t>
                      </a:r>
                      <a:r>
                        <a:rPr lang="ko-KR" altLang="en-US" sz="1200" strike="noStrike" baseline="0" dirty="0" err="1">
                          <a:solidFill>
                            <a:srgbClr val="FF0000"/>
                          </a:solidFill>
                          <a:effectLst/>
                        </a:rPr>
                        <a:t>점유량</a:t>
                      </a:r>
                      <a:r>
                        <a:rPr lang="ko-KR" altLang="en-US" sz="1200" strike="noStrike" baseline="0" dirty="0">
                          <a:solidFill>
                            <a:srgbClr val="FF0000"/>
                          </a:solidFill>
                          <a:effectLst/>
                        </a:rPr>
                        <a:t> 증가 제어 </a:t>
                      </a:r>
                      <a:endParaRPr lang="en-US" altLang="ko-KR" sz="1200" strike="noStrike" baseline="0" dirty="0">
                        <a:solidFill>
                          <a:srgbClr val="FF0000"/>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QA2.</a:t>
                      </a:r>
                      <a:r>
                        <a:rPr lang="en-US" altLang="ko-KR" sz="1200" b="0" strike="noStrike" baseline="0" dirty="0">
                          <a:solidFill>
                            <a:schemeClr val="tx1"/>
                          </a:solidFill>
                        </a:rPr>
                        <a:t> </a:t>
                      </a:r>
                      <a:r>
                        <a:rPr lang="en-US" altLang="ko-KR" sz="1200" b="0" strike="noStrike" dirty="0">
                          <a:solidFill>
                            <a:schemeClr val="tx1"/>
                          </a:solidFill>
                        </a:rPr>
                        <a:t>Resource Efficiency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GB)</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QA5.</a:t>
                      </a:r>
                      <a:r>
                        <a:rPr lang="en-US" altLang="ko-KR" sz="1200" b="0" strike="noStrike" baseline="0" dirty="0">
                          <a:solidFill>
                            <a:schemeClr val="tx1"/>
                          </a:solidFill>
                        </a:rPr>
                        <a:t> Functional</a:t>
                      </a:r>
                      <a:r>
                        <a:rPr lang="ko-KR" altLang="en-US" sz="1200" b="0" strike="noStrike" baseline="0" dirty="0">
                          <a:solidFill>
                            <a:schemeClr val="tx1"/>
                          </a:solidFill>
                        </a:rPr>
                        <a:t> </a:t>
                      </a:r>
                      <a:r>
                        <a:rPr lang="en-US" altLang="ko-KR" sz="1200" b="0" strike="noStrike" baseline="0" dirty="0">
                          <a:solidFill>
                            <a:schemeClr val="tx1"/>
                          </a:solidFill>
                        </a:rPr>
                        <a:t>Correctness</a:t>
                      </a:r>
                      <a:r>
                        <a:rPr lang="ko-KR" altLang="en-US" sz="1200" b="0" strike="noStrike" baseline="0" dirty="0">
                          <a:solidFill>
                            <a:schemeClr val="tx1"/>
                          </a:solidFill>
                        </a:rPr>
                        <a:t> </a:t>
                      </a:r>
                      <a:r>
                        <a:rPr lang="en-US" altLang="ko-KR" sz="1000" b="0" strike="noStrike" baseline="0" dirty="0">
                          <a:solidFill>
                            <a:schemeClr val="tx1"/>
                          </a:solidFill>
                        </a:rPr>
                        <a:t>(F1)</a:t>
                      </a:r>
                      <a:endParaRPr lang="en-US" altLang="ko-KR" sz="1000" b="0"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r>
                        <a:rPr lang="ko-KR" altLang="en-US" sz="1200" b="0" dirty="0">
                          <a:solidFill>
                            <a:srgbClr val="1A1A1A"/>
                          </a:solidFill>
                          <a:latin typeface="+mn-lt"/>
                          <a:ea typeface="맑은 고딕"/>
                        </a:rPr>
                        <a:t>☆</a:t>
                      </a:r>
                      <a:endParaRPr lang="en-US" altLang="ko-KR" sz="1200" b="0" dirty="0">
                        <a:solidFill>
                          <a:schemeClr val="accent5"/>
                        </a:solidFill>
                        <a:latin typeface="+mn-lt"/>
                        <a:ea typeface="맑은 고딕"/>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QA1. Performance </a:t>
                      </a:r>
                      <a:r>
                        <a:rPr lang="ko-KR" altLang="en-US" sz="1200" b="0" strike="noStrike" dirty="0">
                          <a:solidFill>
                            <a:schemeClr val="tx1"/>
                          </a:solidFill>
                        </a:rPr>
                        <a:t>처리량 </a:t>
                      </a:r>
                      <a:r>
                        <a:rPr lang="en-US" altLang="ko-KR" sz="1000" b="0" strike="noStrike" dirty="0">
                          <a:solidFill>
                            <a:schemeClr val="tx1"/>
                          </a:solidFill>
                        </a:rPr>
                        <a:t>(tokens/second)</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QA2.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QA5. Functional</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Correctness</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(F1)</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accent5"/>
                          </a:solidFill>
                          <a:latin typeface="+mn-lt"/>
                          <a:ea typeface="맑은 고딕"/>
                        </a:rPr>
                        <a:t>★★★</a:t>
                      </a:r>
                      <a:endParaRPr lang="en-US" altLang="ko-KR" sz="1200" strike="noStrike" dirty="0">
                        <a:solidFill>
                          <a:schemeClr val="accent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r>
                        <a:rPr lang="ko-KR" altLang="en-US" sz="1200" b="0" dirty="0">
                          <a:solidFill>
                            <a:srgbClr val="FF0000"/>
                          </a:solidFill>
                          <a:latin typeface="+mn-lt"/>
                          <a:ea typeface="맑은 고딕"/>
                        </a:rPr>
                        <a:t>★</a:t>
                      </a:r>
                      <a:endParaRPr lang="en-US" altLang="ko-KR" sz="1200" strike="noStrike" dirty="0">
                        <a:solidFill>
                          <a:srgbClr val="FF000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1A1A1A"/>
                          </a:solidFill>
                          <a:latin typeface="+mn-lt"/>
                          <a:ea typeface="맑은 고딕"/>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196</a:t>
            </a:fld>
            <a:endParaRPr lang="ko-KR" altLang="en-US" dirty="0"/>
          </a:p>
        </p:txBody>
      </p:sp>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solidFill>
                  <a:srgbClr val="FF0000"/>
                </a:solidFill>
              </a:rPr>
              <a:t>보완 설계 </a:t>
            </a:r>
            <a:endParaRPr lang="ko-KR" altLang="en-US" strike="sngStrike" dirty="0">
              <a:solidFill>
                <a:srgbClr val="FF0000"/>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en-US" altLang="ko-KR" sz="1400" b="1" dirty="0">
                <a:solidFill>
                  <a:schemeClr val="bg1"/>
                </a:solidFill>
              </a:rPr>
              <a:t>KV </a:t>
            </a:r>
            <a:r>
              <a:rPr lang="ko-KR" altLang="en-US" sz="1400" b="1" dirty="0" err="1">
                <a:solidFill>
                  <a:schemeClr val="bg1"/>
                </a:solidFill>
              </a:rPr>
              <a:t>재사용성을</a:t>
            </a:r>
            <a:r>
              <a:rPr lang="ko-KR" altLang="en-US" sz="1400" b="1" dirty="0">
                <a:solidFill>
                  <a:schemeClr val="bg1"/>
                </a:solidFill>
              </a:rPr>
              <a:t> 높이기 위한 재계산 토큰 선정을 어떤 구조로 구성할 것인가</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430887"/>
          </a:xfrm>
          <a:prstGeom prst="rect">
            <a:avLst/>
          </a:prstGeom>
          <a:noFill/>
        </p:spPr>
        <p:txBody>
          <a:bodyPr wrap="square" rtlCol="0">
            <a:spAutoFit/>
          </a:bodyPr>
          <a:lstStyle/>
          <a:p>
            <a:r>
              <a:rPr lang="en-US" altLang="ko-KR" sz="1100" dirty="0"/>
              <a:t>“</a:t>
            </a:r>
            <a:r>
              <a:rPr lang="ko-KR" altLang="en-US" sz="1100" dirty="0" err="1"/>
              <a:t>요청마다</a:t>
            </a:r>
            <a:r>
              <a:rPr lang="ko-KR" altLang="en-US" sz="1100" dirty="0"/>
              <a:t> </a:t>
            </a:r>
            <a:r>
              <a:rPr lang="ko-KR" altLang="en-US" sz="1100" dirty="0" err="1"/>
              <a:t>서빙</a:t>
            </a:r>
            <a:r>
              <a:rPr lang="ko-KR" altLang="en-US" sz="1100" dirty="0"/>
              <a:t> 경로 내에서 재계산 대상 토큰을 동적으로 선정하고</a:t>
            </a:r>
            <a:r>
              <a:rPr lang="en-US" altLang="ko-KR" sz="1100" dirty="0"/>
              <a:t>, </a:t>
            </a:r>
            <a:r>
              <a:rPr lang="ko-KR" altLang="en-US" sz="1100" dirty="0"/>
              <a:t>선택적 재계산을 수행하는 구조</a:t>
            </a:r>
            <a:r>
              <a:rPr lang="en-US" altLang="ko-KR" sz="1100" dirty="0"/>
              <a:t>＂</a:t>
            </a:r>
          </a:p>
        </p:txBody>
      </p:sp>
      <p:sp>
        <p:nvSpPr>
          <p:cNvPr id="138" name="TextBox 137"/>
          <p:cNvSpPr txBox="1"/>
          <p:nvPr/>
        </p:nvSpPr>
        <p:spPr>
          <a:xfrm>
            <a:off x="6534149" y="1416420"/>
            <a:ext cx="5543551" cy="430887"/>
          </a:xfrm>
          <a:prstGeom prst="rect">
            <a:avLst/>
          </a:prstGeom>
          <a:noFill/>
        </p:spPr>
        <p:txBody>
          <a:bodyPr wrap="square" rtlCol="0">
            <a:spAutoFit/>
          </a:bodyPr>
          <a:lstStyle/>
          <a:p>
            <a:r>
              <a:rPr lang="en-US" altLang="ko-KR" sz="1100" dirty="0"/>
              <a:t>“</a:t>
            </a:r>
            <a:r>
              <a:rPr lang="ko-KR" altLang="en-US" sz="1100" dirty="0"/>
              <a:t>재사용 </a:t>
            </a:r>
            <a:r>
              <a:rPr lang="en-US" altLang="ko-KR" sz="1100" dirty="0"/>
              <a:t>KV</a:t>
            </a:r>
            <a:r>
              <a:rPr lang="ko-KR" altLang="en-US" sz="1100" dirty="0"/>
              <a:t>는 요청 간 공유</a:t>
            </a:r>
            <a:r>
              <a:rPr lang="en-US" altLang="ko-KR" sz="1100" dirty="0"/>
              <a:t>(Base)</a:t>
            </a:r>
            <a:r>
              <a:rPr lang="ko-KR" altLang="en-US" sz="1100" dirty="0"/>
              <a:t>하고 </a:t>
            </a:r>
            <a:r>
              <a:rPr lang="ko-KR" altLang="en-US" sz="1100" dirty="0" err="1"/>
              <a:t>재계산분만</a:t>
            </a:r>
            <a:r>
              <a:rPr lang="ko-KR" altLang="en-US" sz="1100" dirty="0"/>
              <a:t> </a:t>
            </a:r>
            <a:r>
              <a:rPr lang="ko-KR" altLang="en-US" sz="1100" dirty="0" err="1"/>
              <a:t>요청별</a:t>
            </a:r>
            <a:r>
              <a:rPr lang="en-US" altLang="ko-KR" sz="1100" dirty="0"/>
              <a:t>(Delta)</a:t>
            </a:r>
            <a:r>
              <a:rPr lang="ko-KR" altLang="en-US" sz="1100" dirty="0"/>
              <a:t>로 두며 </a:t>
            </a:r>
            <a:r>
              <a:rPr lang="en-US" altLang="ko-KR" sz="1100" dirty="0"/>
              <a:t>HBM </a:t>
            </a:r>
            <a:r>
              <a:rPr lang="ko-KR" altLang="en-US" sz="1100" dirty="0"/>
              <a:t>예산을 입장 전에 계산</a:t>
            </a:r>
            <a:r>
              <a:rPr lang="en-US" altLang="ko-KR" sz="1100" dirty="0"/>
              <a:t>”</a:t>
            </a:r>
            <a:endParaRPr lang="ko-KR" altLang="en-US" sz="1100" dirty="0"/>
          </a:p>
        </p:txBody>
      </p:sp>
      <p:sp>
        <p:nvSpPr>
          <p:cNvPr id="239" name="TextBox 238">
            <a:extLst>
              <a:ext uri="{FF2B5EF4-FFF2-40B4-BE49-F238E27FC236}">
                <a16:creationId xmlns:a16="http://schemas.microsoft.com/office/drawing/2014/main" id="{5EDBAE0C-74A5-43A7-8D12-CE3C549C093E}"/>
              </a:ext>
            </a:extLst>
          </p:cNvPr>
          <p:cNvSpPr txBox="1"/>
          <p:nvPr/>
        </p:nvSpPr>
        <p:spPr>
          <a:xfrm>
            <a:off x="4744348" y="6287854"/>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10051323" y="6251123"/>
            <a:ext cx="886781" cy="276999"/>
          </a:xfrm>
          <a:prstGeom prst="rect">
            <a:avLst/>
          </a:prstGeom>
          <a:noFill/>
        </p:spPr>
        <p:txBody>
          <a:bodyPr wrap="none" rtlCol="0">
            <a:spAutoFit/>
          </a:bodyPr>
          <a:lstStyle/>
          <a:p>
            <a:r>
              <a:rPr lang="ko-KR" altLang="en-US" sz="1200" dirty="0"/>
              <a:t>총</a:t>
            </a:r>
            <a:r>
              <a:rPr lang="en-US" altLang="ko-KR" sz="1200" dirty="0"/>
              <a:t> 7-&gt;</a:t>
            </a:r>
            <a:r>
              <a:rPr lang="en-US" altLang="ko-KR" sz="1200" dirty="0">
                <a:solidFill>
                  <a:srgbClr val="FF0000"/>
                </a:solidFill>
              </a:rPr>
              <a:t>8</a:t>
            </a:r>
            <a:r>
              <a:rPr lang="ko-KR" altLang="en-US" sz="1200" dirty="0">
                <a:solidFill>
                  <a:srgbClr val="FF0000"/>
                </a:solidFill>
              </a:rPr>
              <a:t>점</a:t>
            </a:r>
          </a:p>
        </p:txBody>
      </p:sp>
      <p:sp>
        <p:nvSpPr>
          <p:cNvPr id="124" name="모서리가 둥근 직사각형 37">
            <a:extLst>
              <a:ext uri="{FF2B5EF4-FFF2-40B4-BE49-F238E27FC236}">
                <a16:creationId xmlns:a16="http://schemas.microsoft.com/office/drawing/2014/main" id="{6B693242-5EEF-4D32-8F09-9F360043D5FB}"/>
              </a:ext>
            </a:extLst>
          </p:cNvPr>
          <p:cNvSpPr/>
          <p:nvPr/>
        </p:nvSpPr>
        <p:spPr>
          <a:xfrm>
            <a:off x="10748621"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F5 KV </a:t>
            </a:r>
            <a:r>
              <a:rPr lang="ko-KR" altLang="en-US" sz="700" dirty="0">
                <a:latin typeface="맑은 고딕" panose="020B0503020000020004" pitchFamily="50" charset="-127"/>
                <a:ea typeface="맑은 고딕" panose="020B0503020000020004" pitchFamily="50" charset="-127"/>
              </a:rPr>
              <a:t>캐시 재사용</a:t>
            </a:r>
          </a:p>
        </p:txBody>
      </p:sp>
      <p:sp>
        <p:nvSpPr>
          <p:cNvPr id="125" name="모서리가 둥근 직사각형 37">
            <a:extLst>
              <a:ext uri="{FF2B5EF4-FFF2-40B4-BE49-F238E27FC236}">
                <a16:creationId xmlns:a16="http://schemas.microsoft.com/office/drawing/2014/main" id="{7D2F8ED5-0EFB-410C-A2C3-3568EEE141C3}"/>
              </a:ext>
            </a:extLst>
          </p:cNvPr>
          <p:cNvSpPr/>
          <p:nvPr/>
        </p:nvSpPr>
        <p:spPr>
          <a:xfrm>
            <a:off x="9349875"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26" name="모서리가 둥근 직사각형 37">
            <a:extLst>
              <a:ext uri="{FF2B5EF4-FFF2-40B4-BE49-F238E27FC236}">
                <a16:creationId xmlns:a16="http://schemas.microsoft.com/office/drawing/2014/main" id="{D6402B05-EBC0-4E87-AEC1-F112EEA19579}"/>
              </a:ext>
            </a:extLst>
          </p:cNvPr>
          <p:cNvSpPr/>
          <p:nvPr/>
        </p:nvSpPr>
        <p:spPr>
          <a:xfrm>
            <a:off x="10019909"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27" name="모서리가 둥근 직사각형 37">
            <a:extLst>
              <a:ext uri="{FF2B5EF4-FFF2-40B4-BE49-F238E27FC236}">
                <a16:creationId xmlns:a16="http://schemas.microsoft.com/office/drawing/2014/main" id="{4D0981FB-60C2-441C-9C62-6858891AED7C}"/>
              </a:ext>
            </a:extLst>
          </p:cNvPr>
          <p:cNvSpPr/>
          <p:nvPr/>
        </p:nvSpPr>
        <p:spPr>
          <a:xfrm>
            <a:off x="10922000" y="813626"/>
            <a:ext cx="1035051"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모델 출력 정확도</a:t>
            </a:r>
          </a:p>
        </p:txBody>
      </p:sp>
      <p:grpSp>
        <p:nvGrpSpPr>
          <p:cNvPr id="2" name="그룹 1"/>
          <p:cNvGrpSpPr/>
          <p:nvPr/>
        </p:nvGrpSpPr>
        <p:grpSpPr>
          <a:xfrm>
            <a:off x="6663658" y="1846644"/>
            <a:ext cx="5155915" cy="1618145"/>
            <a:chOff x="320040" y="1783080"/>
            <a:chExt cx="6400800" cy="2606040"/>
          </a:xfrm>
        </p:grpSpPr>
        <p:sp>
          <p:nvSpPr>
            <p:cNvPr id="70" name="Rectangle 17"/>
            <p:cNvSpPr/>
            <p:nvPr/>
          </p:nvSpPr>
          <p:spPr>
            <a:xfrm>
              <a:off x="411480" y="1928537"/>
              <a:ext cx="2834640" cy="608533"/>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Offline Analyzer (사전)</a:t>
              </a:r>
            </a:p>
            <a:p>
              <a:pPr algn="ctr">
                <a:spcAft>
                  <a:spcPts val="0"/>
                </a:spcAft>
              </a:pPr>
              <a:r>
                <a:rPr sz="700" b="1">
                  <a:solidFill>
                    <a:srgbClr val="000000"/>
                  </a:solidFill>
                  <a:latin typeface="맑은 고딕"/>
                  <a:ea typeface="맑은 고딕"/>
                  <a:cs typeface="맑은 고딕"/>
                </a:rPr>
                <a:t>대표 Query → 재계산 위치 선정</a:t>
              </a:r>
            </a:p>
          </p:txBody>
        </p:sp>
        <p:sp>
          <p:nvSpPr>
            <p:cNvPr id="71" name="Rectangle 18"/>
            <p:cNvSpPr/>
            <p:nvPr/>
          </p:nvSpPr>
          <p:spPr>
            <a:xfrm>
              <a:off x="320040" y="3017520"/>
              <a:ext cx="3154680" cy="1005840"/>
            </a:xfrm>
            <a:prstGeom prst="rect">
              <a:avLst/>
            </a:prstGeom>
            <a:solidFill>
              <a:srgbClr val="F7FAFD"/>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65760" y="3026665"/>
              <a:ext cx="2743200" cy="287492"/>
            </a:xfrm>
            <a:prstGeom prst="rect">
              <a:avLst/>
            </a:prstGeom>
            <a:noFill/>
            <a:ln w="9525">
              <a:noFill/>
            </a:ln>
          </p:spPr>
          <p:txBody>
            <a:bodyPr wrap="square" lIns="45720" tIns="27432" rIns="45720" bIns="27432" anchor="t">
              <a:spAutoFit/>
            </a:bodyPr>
            <a:lstStyle/>
            <a:p>
              <a:pPr algn="l">
                <a:spcAft>
                  <a:spcPts val="200"/>
                </a:spcAft>
              </a:pPr>
              <a:r>
                <a:rPr sz="800" b="1" dirty="0">
                  <a:solidFill>
                    <a:srgbClr val="404040"/>
                  </a:solidFill>
                  <a:latin typeface="맑은 고딕"/>
                  <a:ea typeface="맑은 고딕"/>
                  <a:cs typeface="맑은 고딕"/>
                </a:rPr>
                <a:t>KV Repository</a:t>
              </a:r>
            </a:p>
          </p:txBody>
        </p:sp>
        <p:sp>
          <p:nvSpPr>
            <p:cNvPr id="73" name="Rectangle 20"/>
            <p:cNvSpPr/>
            <p:nvPr/>
          </p:nvSpPr>
          <p:spPr>
            <a:xfrm>
              <a:off x="411480" y="3383280"/>
              <a:ext cx="1371600" cy="457200"/>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Context KV</a:t>
              </a:r>
            </a:p>
            <a:p>
              <a:pPr algn="ctr">
                <a:spcAft>
                  <a:spcPts val="0"/>
                </a:spcAft>
              </a:pPr>
              <a:r>
                <a:rPr sz="700" b="1" dirty="0" err="1">
                  <a:solidFill>
                    <a:srgbClr val="000000"/>
                  </a:solidFill>
                  <a:latin typeface="맑은 고딕"/>
                  <a:ea typeface="맑은 고딕"/>
                  <a:cs typeface="맑은 고딕"/>
                </a:rPr>
                <a:t>원본</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읽기</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전용</a:t>
              </a:r>
              <a:r>
                <a:rPr sz="700" b="1" dirty="0">
                  <a:solidFill>
                    <a:srgbClr val="000000"/>
                  </a:solidFill>
                  <a:latin typeface="맑은 고딕"/>
                  <a:ea typeface="맑은 고딕"/>
                  <a:cs typeface="맑은 고딕"/>
                </a:rPr>
                <a:t>)</a:t>
              </a:r>
            </a:p>
          </p:txBody>
        </p:sp>
        <p:sp>
          <p:nvSpPr>
            <p:cNvPr id="74" name="Rectangle 21"/>
            <p:cNvSpPr/>
            <p:nvPr/>
          </p:nvSpPr>
          <p:spPr>
            <a:xfrm>
              <a:off x="1965960" y="3383280"/>
              <a:ext cx="1417320" cy="45720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Plan Store</a:t>
              </a:r>
            </a:p>
            <a:p>
              <a:pPr algn="ctr">
                <a:spcAft>
                  <a:spcPts val="0"/>
                </a:spcAft>
              </a:pPr>
              <a:r>
                <a:rPr sz="700" b="1">
                  <a:solidFill>
                    <a:srgbClr val="000000"/>
                  </a:solidFill>
                  <a:latin typeface="맑은 고딕"/>
                  <a:ea typeface="맑은 고딕"/>
                  <a:cs typeface="맑은 고딕"/>
                </a:rPr>
                <a:t>재계산 위치</a:t>
              </a:r>
            </a:p>
          </p:txBody>
        </p:sp>
        <p:cxnSp>
          <p:nvCxnSpPr>
            <p:cNvPr id="75" name="Connector 22"/>
            <p:cNvCxnSpPr/>
            <p:nvPr/>
          </p:nvCxnSpPr>
          <p:spPr>
            <a:xfrm>
              <a:off x="2651760" y="2513693"/>
              <a:ext cx="0" cy="869587"/>
            </a:xfrm>
            <a:prstGeom prst="line">
              <a:avLst/>
            </a:prstGeom>
            <a:ln w="9525">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2697480" y="2697480"/>
              <a:ext cx="640080" cy="182880"/>
            </a:xfrm>
            <a:prstGeom prst="rect">
              <a:avLst/>
            </a:prstGeom>
            <a:noFill/>
            <a:ln w="9525">
              <a:noFill/>
            </a:ln>
          </p:spPr>
          <p:txBody>
            <a:bodyPr wrap="square" lIns="45720" tIns="27432" rIns="45720" bIns="27432" anchor="t">
              <a:spAutoFit/>
            </a:bodyPr>
            <a:lstStyle/>
            <a:p>
              <a:pPr algn="l">
                <a:spcAft>
                  <a:spcPts val="200"/>
                </a:spcAft>
              </a:pPr>
              <a:r>
                <a:rPr sz="750" b="0">
                  <a:solidFill>
                    <a:srgbClr val="C55A11"/>
                  </a:solidFill>
                  <a:latin typeface="맑은 고딕"/>
                  <a:ea typeface="맑은 고딕"/>
                  <a:cs typeface="맑은 고딕"/>
                </a:rPr>
                <a:t>write</a:t>
              </a:r>
            </a:p>
          </p:txBody>
        </p:sp>
        <p:sp>
          <p:nvSpPr>
            <p:cNvPr id="79" name="Rectangle 26"/>
            <p:cNvSpPr/>
            <p:nvPr/>
          </p:nvSpPr>
          <p:spPr>
            <a:xfrm>
              <a:off x="3886200" y="1783080"/>
              <a:ext cx="2834640" cy="2606040"/>
            </a:xfrm>
            <a:prstGeom prst="rect">
              <a:avLst/>
            </a:prstGeom>
            <a:solidFill>
              <a:srgbClr val="FEF4EC"/>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3931920" y="1792224"/>
              <a:ext cx="2743200" cy="201168"/>
            </a:xfrm>
            <a:prstGeom prst="rect">
              <a:avLst/>
            </a:prstGeom>
            <a:noFill/>
            <a:ln w="9525">
              <a:noFill/>
            </a:ln>
          </p:spPr>
          <p:txBody>
            <a:bodyPr wrap="square" lIns="45720" tIns="27432" rIns="45720" bIns="27432" anchor="t">
              <a:spAutoFit/>
            </a:bodyPr>
            <a:lstStyle/>
            <a:p>
              <a:pPr algn="l">
                <a:spcAft>
                  <a:spcPts val="200"/>
                </a:spcAft>
              </a:pPr>
              <a:r>
                <a:rPr sz="800" b="1">
                  <a:solidFill>
                    <a:srgbClr val="C55A11"/>
                  </a:solidFill>
                  <a:latin typeface="맑은 고딕"/>
                  <a:ea typeface="맑은 고딕"/>
                  <a:cs typeface="맑은 고딕"/>
                </a:rPr>
                <a:t>서빙 경로 (요청 1…N마다, 동기)</a:t>
              </a:r>
            </a:p>
          </p:txBody>
        </p:sp>
        <p:sp>
          <p:nvSpPr>
            <p:cNvPr id="82" name="Rectangle 28"/>
            <p:cNvSpPr/>
            <p:nvPr/>
          </p:nvSpPr>
          <p:spPr>
            <a:xfrm>
              <a:off x="4023360" y="2128520"/>
              <a:ext cx="2560320" cy="390650"/>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900" b="1" dirty="0">
                  <a:solidFill>
                    <a:srgbClr val="000000"/>
                  </a:solidFill>
                  <a:latin typeface="맑은 고딕"/>
                  <a:ea typeface="맑은 고딕"/>
                  <a:cs typeface="맑은 고딕"/>
                </a:rPr>
                <a:t>Selective </a:t>
              </a:r>
              <a:r>
                <a:rPr sz="900" b="1" dirty="0" err="1">
                  <a:solidFill>
                    <a:srgbClr val="000000"/>
                  </a:solidFill>
                  <a:latin typeface="맑은 고딕"/>
                  <a:ea typeface="맑은 고딕"/>
                  <a:cs typeface="맑은 고딕"/>
                </a:rPr>
                <a:t>Recomputer</a:t>
              </a:r>
              <a:endParaRPr lang="en-US" sz="900" b="1" dirty="0">
                <a:solidFill>
                  <a:srgbClr val="000000"/>
                </a:solidFill>
                <a:latin typeface="맑은 고딕"/>
                <a:ea typeface="맑은 고딕"/>
                <a:cs typeface="맑은 고딕"/>
              </a:endParaRPr>
            </a:p>
          </p:txBody>
        </p:sp>
        <p:sp>
          <p:nvSpPr>
            <p:cNvPr id="83" name="Rectangle 29"/>
            <p:cNvSpPr/>
            <p:nvPr/>
          </p:nvSpPr>
          <p:spPr>
            <a:xfrm>
              <a:off x="4023360" y="2858094"/>
              <a:ext cx="2560320" cy="519446"/>
            </a:xfrm>
            <a:prstGeom prst="rect">
              <a:avLst/>
            </a:prstGeom>
            <a:solidFill>
              <a:srgbClr val="FFF2CC"/>
            </a:solidFill>
            <a:ln w="952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KV Layout Manager</a:t>
              </a:r>
            </a:p>
            <a:p>
              <a:pPr algn="ctr">
                <a:spcAft>
                  <a:spcPts val="0"/>
                </a:spcAft>
              </a:pPr>
              <a:r>
                <a:rPr sz="700" b="1" dirty="0">
                  <a:solidFill>
                    <a:srgbClr val="000000"/>
                  </a:solidFill>
                  <a:latin typeface="맑은 고딕"/>
                  <a:ea typeface="맑은 고딕"/>
                  <a:cs typeface="맑은 고딕"/>
                </a:rPr>
                <a:t>Base </a:t>
              </a:r>
              <a:r>
                <a:rPr sz="700" b="1" dirty="0" err="1">
                  <a:solidFill>
                    <a:srgbClr val="000000"/>
                  </a:solidFill>
                  <a:latin typeface="맑은 고딕"/>
                  <a:ea typeface="맑은 고딕"/>
                  <a:cs typeface="맑은 고딕"/>
                </a:rPr>
                <a:t>공유</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refcount</a:t>
              </a:r>
              <a:r>
                <a:rPr sz="700" b="1" dirty="0">
                  <a:solidFill>
                    <a:srgbClr val="000000"/>
                  </a:solidFill>
                  <a:latin typeface="맑은 고딕"/>
                  <a:ea typeface="맑은 고딕"/>
                  <a:cs typeface="맑은 고딕"/>
                </a:rPr>
                <a:t>) + Delta </a:t>
              </a:r>
              <a:r>
                <a:rPr sz="700" b="1" dirty="0" err="1">
                  <a:solidFill>
                    <a:srgbClr val="000000"/>
                  </a:solidFill>
                  <a:latin typeface="맑은 고딕"/>
                  <a:ea typeface="맑은 고딕"/>
                  <a:cs typeface="맑은 고딕"/>
                </a:rPr>
                <a:t>요청별</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할당</a:t>
              </a:r>
              <a:endParaRPr sz="700" b="1" dirty="0">
                <a:solidFill>
                  <a:srgbClr val="000000"/>
                </a:solidFill>
                <a:latin typeface="맑은 고딕"/>
                <a:ea typeface="맑은 고딕"/>
                <a:cs typeface="맑은 고딕"/>
              </a:endParaRPr>
            </a:p>
          </p:txBody>
        </p:sp>
        <p:sp>
          <p:nvSpPr>
            <p:cNvPr id="84" name="Rectangle 30"/>
            <p:cNvSpPr/>
            <p:nvPr/>
          </p:nvSpPr>
          <p:spPr>
            <a:xfrm>
              <a:off x="4023360" y="3790187"/>
              <a:ext cx="2560320" cy="502921"/>
            </a:xfrm>
            <a:prstGeom prst="rect">
              <a:avLst/>
            </a:prstGeom>
            <a:solidFill>
              <a:srgbClr val="FFF2CC"/>
            </a:solidFill>
            <a:ln w="952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Plan-aware Admission Controller</a:t>
              </a:r>
            </a:p>
            <a:p>
              <a:pPr algn="ctr">
                <a:spcAft>
                  <a:spcPts val="0"/>
                </a:spcAft>
              </a:pPr>
              <a:r>
                <a:rPr sz="700" b="1" dirty="0" err="1">
                  <a:solidFill>
                    <a:srgbClr val="000000"/>
                  </a:solidFill>
                  <a:latin typeface="맑은 고딕"/>
                  <a:ea typeface="맑은 고딕"/>
                  <a:cs typeface="맑은 고딕"/>
                </a:rPr>
                <a:t>plan으로</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요청별</a:t>
              </a:r>
              <a:r>
                <a:rPr sz="700" b="1" dirty="0">
                  <a:solidFill>
                    <a:srgbClr val="000000"/>
                  </a:solidFill>
                  <a:latin typeface="맑은 고딕"/>
                  <a:ea typeface="맑은 고딕"/>
                  <a:cs typeface="맑은 고딕"/>
                </a:rPr>
                <a:t> HBM </a:t>
              </a:r>
              <a:r>
                <a:rPr sz="700" b="1" dirty="0" err="1">
                  <a:solidFill>
                    <a:srgbClr val="000000"/>
                  </a:solidFill>
                  <a:latin typeface="맑은 고딕"/>
                  <a:ea typeface="맑은 고딕"/>
                  <a:cs typeface="맑은 고딕"/>
                </a:rPr>
                <a:t>소요</a:t>
              </a:r>
              <a:r>
                <a:rPr sz="700" b="1" dirty="0">
                  <a:solidFill>
                    <a:srgbClr val="000000"/>
                  </a:solidFill>
                  <a:latin typeface="맑은 고딕"/>
                  <a:ea typeface="맑은 고딕"/>
                  <a:cs typeface="맑은 고딕"/>
                </a:rPr>
                <a:t> </a:t>
              </a:r>
              <a:r>
                <a:rPr sz="700" b="1" dirty="0" err="1">
                  <a:solidFill>
                    <a:srgbClr val="000000"/>
                  </a:solidFill>
                  <a:latin typeface="맑은 고딕"/>
                  <a:ea typeface="맑은 고딕"/>
                  <a:cs typeface="맑은 고딕"/>
                </a:rPr>
                <a:t>계산</a:t>
              </a:r>
              <a:r>
                <a:rPr sz="700" b="1" dirty="0">
                  <a:solidFill>
                    <a:srgbClr val="000000"/>
                  </a:solidFill>
                  <a:latin typeface="맑은 고딕"/>
                  <a:ea typeface="맑은 고딕"/>
                  <a:cs typeface="맑은 고딕"/>
                </a:rPr>
                <a:t> </a:t>
              </a:r>
            </a:p>
          </p:txBody>
        </p:sp>
        <p:cxnSp>
          <p:nvCxnSpPr>
            <p:cNvPr id="85" name="Connector 31"/>
            <p:cNvCxnSpPr/>
            <p:nvPr/>
          </p:nvCxnSpPr>
          <p:spPr>
            <a:xfrm flipV="1">
              <a:off x="5303520" y="3406142"/>
              <a:ext cx="0" cy="320037"/>
            </a:xfrm>
            <a:prstGeom prst="line">
              <a:avLst/>
            </a:prstGeom>
            <a:ln w="952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6" name="Connector 32"/>
            <p:cNvCxnSpPr/>
            <p:nvPr/>
          </p:nvCxnSpPr>
          <p:spPr>
            <a:xfrm flipV="1">
              <a:off x="5303520" y="2553018"/>
              <a:ext cx="0" cy="228601"/>
            </a:xfrm>
            <a:prstGeom prst="line">
              <a:avLst/>
            </a:prstGeom>
            <a:ln w="952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349240" y="3496027"/>
              <a:ext cx="1280160" cy="182880"/>
            </a:xfrm>
            <a:prstGeom prst="rect">
              <a:avLst/>
            </a:prstGeom>
            <a:noFill/>
            <a:ln w="9525">
              <a:noFill/>
            </a:ln>
          </p:spPr>
          <p:txBody>
            <a:bodyPr wrap="square" lIns="45720" tIns="27432" rIns="45720" bIns="27432" anchor="t">
              <a:spAutoFit/>
            </a:bodyPr>
            <a:lstStyle/>
            <a:p>
              <a:pPr algn="l">
                <a:spcAft>
                  <a:spcPts val="200"/>
                </a:spcAft>
              </a:pPr>
              <a:r>
                <a:rPr sz="750" b="0" dirty="0">
                  <a:solidFill>
                    <a:srgbClr val="595959"/>
                  </a:solidFill>
                  <a:latin typeface="맑은 고딕"/>
                  <a:ea typeface="맑은 고딕"/>
                  <a:cs typeface="맑은 고딕"/>
                </a:rPr>
                <a:t>admit</a:t>
              </a:r>
            </a:p>
          </p:txBody>
        </p:sp>
        <p:sp>
          <p:nvSpPr>
            <p:cNvPr id="88" name="TextBox 87"/>
            <p:cNvSpPr txBox="1"/>
            <p:nvPr/>
          </p:nvSpPr>
          <p:spPr>
            <a:xfrm>
              <a:off x="5349240" y="2577203"/>
              <a:ext cx="1280160" cy="182880"/>
            </a:xfrm>
            <a:prstGeom prst="rect">
              <a:avLst/>
            </a:prstGeom>
            <a:noFill/>
            <a:ln w="9525">
              <a:noFill/>
            </a:ln>
          </p:spPr>
          <p:txBody>
            <a:bodyPr wrap="square" lIns="45720" tIns="27432" rIns="45720" bIns="27432" anchor="t">
              <a:spAutoFit/>
            </a:bodyPr>
            <a:lstStyle/>
            <a:p>
              <a:pPr algn="l">
                <a:spcAft>
                  <a:spcPts val="200"/>
                </a:spcAft>
              </a:pPr>
              <a:r>
                <a:rPr sz="750" b="0" dirty="0">
                  <a:solidFill>
                    <a:srgbClr val="595959"/>
                  </a:solidFill>
                  <a:latin typeface="맑은 고딕"/>
                  <a:ea typeface="맑은 고딕"/>
                  <a:cs typeface="맑은 고딕"/>
                </a:rPr>
                <a:t>Delta </a:t>
              </a:r>
              <a:r>
                <a:rPr sz="750" b="0" dirty="0" err="1">
                  <a:solidFill>
                    <a:srgbClr val="595959"/>
                  </a:solidFill>
                  <a:latin typeface="맑은 고딕"/>
                  <a:ea typeface="맑은 고딕"/>
                  <a:cs typeface="맑은 고딕"/>
                </a:rPr>
                <a:t>할당</a:t>
              </a:r>
              <a:endParaRPr sz="750" b="0" dirty="0">
                <a:solidFill>
                  <a:srgbClr val="595959"/>
                </a:solidFill>
                <a:latin typeface="맑은 고딕"/>
                <a:ea typeface="맑은 고딕"/>
                <a:cs typeface="맑은 고딕"/>
              </a:endParaRPr>
            </a:p>
          </p:txBody>
        </p:sp>
        <p:cxnSp>
          <p:nvCxnSpPr>
            <p:cNvPr id="89" name="Connector 35"/>
            <p:cNvCxnSpPr/>
            <p:nvPr/>
          </p:nvCxnSpPr>
          <p:spPr>
            <a:xfrm>
              <a:off x="3383280" y="3703320"/>
              <a:ext cx="640080" cy="0"/>
            </a:xfrm>
            <a:prstGeom prst="line">
              <a:avLst/>
            </a:prstGeom>
            <a:ln w="952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3456432" y="3474720"/>
              <a:ext cx="457200" cy="182880"/>
            </a:xfrm>
            <a:prstGeom prst="rect">
              <a:avLst/>
            </a:prstGeom>
            <a:noFill/>
            <a:ln w="9525">
              <a:noFill/>
            </a:ln>
          </p:spPr>
          <p:txBody>
            <a:bodyPr wrap="square" lIns="45720" tIns="27432" rIns="45720" bIns="27432" anchor="t">
              <a:spAutoFit/>
            </a:bodyPr>
            <a:lstStyle/>
            <a:p>
              <a:pPr algn="ctr">
                <a:spcAft>
                  <a:spcPts val="200"/>
                </a:spcAft>
              </a:pPr>
              <a:r>
                <a:rPr sz="700" b="0">
                  <a:solidFill>
                    <a:srgbClr val="C55A11"/>
                  </a:solidFill>
                  <a:latin typeface="맑은 고딕"/>
                  <a:ea typeface="맑은 고딕"/>
                  <a:cs typeface="맑은 고딕"/>
                </a:rPr>
                <a:t>plan</a:t>
              </a:r>
            </a:p>
          </p:txBody>
        </p:sp>
        <p:cxnSp>
          <p:nvCxnSpPr>
            <p:cNvPr id="91" name="Connector 37"/>
            <p:cNvCxnSpPr/>
            <p:nvPr/>
          </p:nvCxnSpPr>
          <p:spPr>
            <a:xfrm flipV="1">
              <a:off x="3474720" y="3017520"/>
              <a:ext cx="548640" cy="91440"/>
            </a:xfrm>
            <a:prstGeom prst="line">
              <a:avLst/>
            </a:prstGeom>
            <a:ln w="9525">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3456432" y="2834640"/>
              <a:ext cx="457200" cy="182880"/>
            </a:xfrm>
            <a:prstGeom prst="rect">
              <a:avLst/>
            </a:prstGeom>
            <a:noFill/>
            <a:ln w="9525">
              <a:noFill/>
            </a:ln>
          </p:spPr>
          <p:txBody>
            <a:bodyPr wrap="square" lIns="45720" tIns="27432" rIns="45720" bIns="27432" anchor="t">
              <a:spAutoFit/>
            </a:bodyPr>
            <a:lstStyle/>
            <a:p>
              <a:pPr algn="ctr">
                <a:spcAft>
                  <a:spcPts val="200"/>
                </a:spcAft>
              </a:pPr>
              <a:r>
                <a:rPr sz="700" b="0">
                  <a:solidFill>
                    <a:srgbClr val="595959"/>
                  </a:solidFill>
                  <a:latin typeface="맑은 고딕"/>
                  <a:ea typeface="맑은 고딕"/>
                  <a:cs typeface="맑은 고딕"/>
                </a:rPr>
                <a:t>Base</a:t>
              </a:r>
            </a:p>
          </p:txBody>
        </p:sp>
      </p:grpSp>
      <p:grpSp>
        <p:nvGrpSpPr>
          <p:cNvPr id="11" name="그룹 10"/>
          <p:cNvGrpSpPr/>
          <p:nvPr/>
        </p:nvGrpSpPr>
        <p:grpSpPr>
          <a:xfrm>
            <a:off x="6847294" y="3833839"/>
            <a:ext cx="5074920" cy="675377"/>
            <a:chOff x="6847294" y="3552793"/>
            <a:chExt cx="5074920" cy="1196473"/>
          </a:xfrm>
        </p:grpSpPr>
        <p:sp>
          <p:nvSpPr>
            <p:cNvPr id="93" name="TextBox 92"/>
            <p:cNvSpPr txBox="1"/>
            <p:nvPr/>
          </p:nvSpPr>
          <p:spPr>
            <a:xfrm>
              <a:off x="6847294" y="3887257"/>
              <a:ext cx="822960" cy="274320"/>
            </a:xfrm>
            <a:prstGeom prst="rect">
              <a:avLst/>
            </a:prstGeom>
            <a:noFill/>
          </p:spPr>
          <p:txBody>
            <a:bodyPr wrap="square" lIns="45720" tIns="27432" rIns="45720" bIns="27432" anchor="t">
              <a:spAutoFit/>
            </a:bodyPr>
            <a:lstStyle/>
            <a:p>
              <a:pPr algn="l">
                <a:spcAft>
                  <a:spcPts val="200"/>
                </a:spcAft>
              </a:pPr>
              <a:r>
                <a:rPr sz="900" b="1">
                  <a:solidFill>
                    <a:srgbClr val="595959"/>
                  </a:solidFill>
                  <a:latin typeface="맑은 고딕"/>
                  <a:ea typeface="맑은 고딕"/>
                  <a:cs typeface="맑은 고딕"/>
                </a:rPr>
                <a:t>보완 전</a:t>
              </a:r>
            </a:p>
          </p:txBody>
        </p:sp>
        <p:sp>
          <p:nvSpPr>
            <p:cNvPr id="94" name="Rectangle 41"/>
            <p:cNvSpPr/>
            <p:nvPr/>
          </p:nvSpPr>
          <p:spPr>
            <a:xfrm>
              <a:off x="7715974" y="3782049"/>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95" name="Rectangle 42"/>
            <p:cNvSpPr/>
            <p:nvPr/>
          </p:nvSpPr>
          <p:spPr>
            <a:xfrm>
              <a:off x="8765248" y="3782049"/>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96" name="TextBox 95"/>
            <p:cNvSpPr txBox="1"/>
            <p:nvPr/>
          </p:nvSpPr>
          <p:spPr>
            <a:xfrm>
              <a:off x="7715974" y="3552793"/>
              <a:ext cx="1234440" cy="228599"/>
            </a:xfrm>
            <a:prstGeom prst="rect">
              <a:avLst/>
            </a:prstGeom>
            <a:noFill/>
          </p:spPr>
          <p:txBody>
            <a:bodyPr wrap="square" lIns="45720" tIns="27432" rIns="45720" bIns="27432" anchor="t">
              <a:spAutoFit/>
            </a:bodyPr>
            <a:lstStyle/>
            <a:p>
              <a:pPr algn="ctr">
                <a:spcAft>
                  <a:spcPts val="200"/>
                </a:spcAft>
              </a:pPr>
              <a:r>
                <a:rPr sz="750" b="0" dirty="0">
                  <a:solidFill>
                    <a:srgbClr val="595959"/>
                  </a:solidFill>
                  <a:latin typeface="맑은 고딕"/>
                  <a:ea typeface="맑은 고딕"/>
                  <a:cs typeface="맑은 고딕"/>
                </a:rPr>
                <a:t>R1 (</a:t>
              </a:r>
              <a:r>
                <a:rPr sz="750" b="0" dirty="0" err="1">
                  <a:solidFill>
                    <a:srgbClr val="595959"/>
                  </a:solidFill>
                  <a:latin typeface="맑은 고딕"/>
                  <a:ea typeface="맑은 고딕"/>
                  <a:cs typeface="맑은 고딕"/>
                </a:rPr>
                <a:t>전체</a:t>
              </a:r>
              <a:r>
                <a:rPr sz="750" b="0" dirty="0">
                  <a:solidFill>
                    <a:srgbClr val="595959"/>
                  </a:solidFill>
                  <a:latin typeface="맑은 고딕"/>
                  <a:ea typeface="맑은 고딕"/>
                  <a:cs typeface="맑은 고딕"/>
                </a:rPr>
                <a:t> L </a:t>
              </a:r>
              <a:r>
                <a:rPr sz="750" b="0" dirty="0" err="1">
                  <a:solidFill>
                    <a:srgbClr val="595959"/>
                  </a:solidFill>
                  <a:latin typeface="맑은 고딕"/>
                  <a:ea typeface="맑은 고딕"/>
                  <a:cs typeface="맑은 고딕"/>
                </a:rPr>
                <a:t>복사</a:t>
              </a:r>
              <a:r>
                <a:rPr sz="750" b="0" dirty="0">
                  <a:solidFill>
                    <a:srgbClr val="595959"/>
                  </a:solidFill>
                  <a:latin typeface="맑은 고딕"/>
                  <a:ea typeface="맑은 고딕"/>
                  <a:cs typeface="맑은 고딕"/>
                </a:rPr>
                <a:t>)</a:t>
              </a:r>
            </a:p>
          </p:txBody>
        </p:sp>
        <p:sp>
          <p:nvSpPr>
            <p:cNvPr id="97" name="Rectangle 44"/>
            <p:cNvSpPr/>
            <p:nvPr/>
          </p:nvSpPr>
          <p:spPr>
            <a:xfrm>
              <a:off x="8950414" y="3782049"/>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98" name="Rectangle 45"/>
            <p:cNvSpPr/>
            <p:nvPr/>
          </p:nvSpPr>
          <p:spPr>
            <a:xfrm>
              <a:off x="9999688" y="3782049"/>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99" name="TextBox 98"/>
            <p:cNvSpPr txBox="1"/>
            <p:nvPr/>
          </p:nvSpPr>
          <p:spPr>
            <a:xfrm>
              <a:off x="8950414" y="3552793"/>
              <a:ext cx="1234440" cy="228599"/>
            </a:xfrm>
            <a:prstGeom prst="rect">
              <a:avLst/>
            </a:prstGeom>
            <a:noFill/>
          </p:spPr>
          <p:txBody>
            <a:bodyPr wrap="square" lIns="45720" tIns="27432" rIns="45720" bIns="27432" anchor="t">
              <a:spAutoFit/>
            </a:bodyPr>
            <a:lstStyle/>
            <a:p>
              <a:pPr algn="ctr">
                <a:spcAft>
                  <a:spcPts val="200"/>
                </a:spcAft>
              </a:pPr>
              <a:r>
                <a:rPr sz="750" b="0">
                  <a:solidFill>
                    <a:srgbClr val="595959"/>
                  </a:solidFill>
                  <a:latin typeface="맑은 고딕"/>
                  <a:ea typeface="맑은 고딕"/>
                  <a:cs typeface="맑은 고딕"/>
                </a:rPr>
                <a:t>R2 (전체 L 복사)</a:t>
              </a:r>
            </a:p>
          </p:txBody>
        </p:sp>
        <p:sp>
          <p:nvSpPr>
            <p:cNvPr id="100" name="Rectangle 47"/>
            <p:cNvSpPr/>
            <p:nvPr/>
          </p:nvSpPr>
          <p:spPr>
            <a:xfrm>
              <a:off x="10184854" y="3782049"/>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101" name="Rectangle 48"/>
            <p:cNvSpPr/>
            <p:nvPr/>
          </p:nvSpPr>
          <p:spPr>
            <a:xfrm>
              <a:off x="11234128" y="3782049"/>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102" name="TextBox 101"/>
            <p:cNvSpPr txBox="1"/>
            <p:nvPr/>
          </p:nvSpPr>
          <p:spPr>
            <a:xfrm>
              <a:off x="10184854" y="3552793"/>
              <a:ext cx="1234440" cy="228599"/>
            </a:xfrm>
            <a:prstGeom prst="rect">
              <a:avLst/>
            </a:prstGeom>
            <a:noFill/>
          </p:spPr>
          <p:txBody>
            <a:bodyPr wrap="square" lIns="45720" tIns="27432" rIns="45720" bIns="27432" anchor="t">
              <a:spAutoFit/>
            </a:bodyPr>
            <a:lstStyle/>
            <a:p>
              <a:pPr algn="ctr">
                <a:spcAft>
                  <a:spcPts val="200"/>
                </a:spcAft>
              </a:pPr>
              <a:r>
                <a:rPr sz="750" b="0">
                  <a:solidFill>
                    <a:srgbClr val="595959"/>
                  </a:solidFill>
                  <a:latin typeface="맑은 고딕"/>
                  <a:ea typeface="맑은 고딕"/>
                  <a:cs typeface="맑은 고딕"/>
                </a:rPr>
                <a:t>R3 (전체 L 복사)</a:t>
              </a:r>
            </a:p>
          </p:txBody>
        </p:sp>
        <p:sp>
          <p:nvSpPr>
            <p:cNvPr id="108" name="TextBox 107"/>
            <p:cNvSpPr txBox="1"/>
            <p:nvPr/>
          </p:nvSpPr>
          <p:spPr>
            <a:xfrm>
              <a:off x="11465014" y="3827769"/>
              <a:ext cx="457200" cy="274320"/>
            </a:xfrm>
            <a:prstGeom prst="rect">
              <a:avLst/>
            </a:prstGeom>
            <a:noFill/>
          </p:spPr>
          <p:txBody>
            <a:bodyPr wrap="square" lIns="45720" tIns="27432" rIns="45720" bIns="27432" anchor="t">
              <a:spAutoFit/>
            </a:bodyPr>
            <a:lstStyle/>
            <a:p>
              <a:pPr algn="l">
                <a:spcAft>
                  <a:spcPts val="200"/>
                </a:spcAft>
              </a:pPr>
              <a:r>
                <a:rPr sz="950" b="1">
                  <a:solidFill>
                    <a:srgbClr val="FF0000"/>
                  </a:solidFill>
                  <a:latin typeface="맑은 고딕"/>
                  <a:ea typeface="맑은 고딕"/>
                  <a:cs typeface="맑은 고딕"/>
                </a:rPr>
                <a:t>3.0 L</a:t>
              </a:r>
            </a:p>
          </p:txBody>
        </p:sp>
        <p:sp>
          <p:nvSpPr>
            <p:cNvPr id="109" name="TextBox 108"/>
            <p:cNvSpPr txBox="1"/>
            <p:nvPr/>
          </p:nvSpPr>
          <p:spPr>
            <a:xfrm>
              <a:off x="6847294" y="4474946"/>
              <a:ext cx="822960" cy="274320"/>
            </a:xfrm>
            <a:prstGeom prst="rect">
              <a:avLst/>
            </a:prstGeom>
            <a:noFill/>
          </p:spPr>
          <p:txBody>
            <a:bodyPr wrap="square" lIns="45720" tIns="27432" rIns="45720" bIns="27432" anchor="t">
              <a:spAutoFit/>
            </a:bodyPr>
            <a:lstStyle/>
            <a:p>
              <a:pPr algn="l">
                <a:spcAft>
                  <a:spcPts val="200"/>
                </a:spcAft>
              </a:pPr>
              <a:r>
                <a:rPr sz="900" b="1" dirty="0" err="1">
                  <a:solidFill>
                    <a:srgbClr val="C55A11"/>
                  </a:solidFill>
                  <a:latin typeface="맑은 고딕"/>
                  <a:ea typeface="맑은 고딕"/>
                  <a:cs typeface="맑은 고딕"/>
                </a:rPr>
                <a:t>보완</a:t>
              </a:r>
              <a:r>
                <a:rPr sz="900" b="1" dirty="0">
                  <a:solidFill>
                    <a:srgbClr val="C55A11"/>
                  </a:solidFill>
                  <a:latin typeface="맑은 고딕"/>
                  <a:ea typeface="맑은 고딕"/>
                  <a:cs typeface="맑은 고딕"/>
                </a:rPr>
                <a:t> 후</a:t>
              </a:r>
            </a:p>
          </p:txBody>
        </p:sp>
        <p:sp>
          <p:nvSpPr>
            <p:cNvPr id="110" name="Rectangle 52"/>
            <p:cNvSpPr/>
            <p:nvPr/>
          </p:nvSpPr>
          <p:spPr>
            <a:xfrm>
              <a:off x="7715974" y="4377956"/>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 (공유 ×3)</a:t>
              </a:r>
            </a:p>
          </p:txBody>
        </p:sp>
        <p:sp>
          <p:nvSpPr>
            <p:cNvPr id="111" name="Rectangle 53"/>
            <p:cNvSpPr/>
            <p:nvPr/>
          </p:nvSpPr>
          <p:spPr>
            <a:xfrm>
              <a:off x="8765248" y="4377956"/>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d1</a:t>
              </a:r>
            </a:p>
          </p:txBody>
        </p:sp>
        <p:sp>
          <p:nvSpPr>
            <p:cNvPr id="112" name="Rectangle 54"/>
            <p:cNvSpPr/>
            <p:nvPr/>
          </p:nvSpPr>
          <p:spPr>
            <a:xfrm>
              <a:off x="8950414" y="4377956"/>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d2</a:t>
              </a:r>
            </a:p>
          </p:txBody>
        </p:sp>
        <p:sp>
          <p:nvSpPr>
            <p:cNvPr id="114" name="Rectangle 55"/>
            <p:cNvSpPr/>
            <p:nvPr/>
          </p:nvSpPr>
          <p:spPr>
            <a:xfrm>
              <a:off x="9135580" y="4377956"/>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d3</a:t>
              </a:r>
            </a:p>
          </p:txBody>
        </p:sp>
        <p:sp>
          <p:nvSpPr>
            <p:cNvPr id="116" name="TextBox 115"/>
            <p:cNvSpPr txBox="1"/>
            <p:nvPr/>
          </p:nvSpPr>
          <p:spPr>
            <a:xfrm>
              <a:off x="8765248" y="4135200"/>
              <a:ext cx="1371600" cy="228601"/>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Delta (</a:t>
              </a:r>
              <a:r>
                <a:rPr sz="750" b="0" dirty="0" err="1">
                  <a:solidFill>
                    <a:srgbClr val="C55A11"/>
                  </a:solidFill>
                  <a:latin typeface="맑은 고딕"/>
                  <a:ea typeface="맑은 고딕"/>
                  <a:cs typeface="맑은 고딕"/>
                </a:rPr>
                <a:t>요청별</a:t>
              </a:r>
              <a:r>
                <a:rPr sz="750" b="0" dirty="0">
                  <a:solidFill>
                    <a:srgbClr val="C55A11"/>
                  </a:solidFill>
                  <a:latin typeface="맑은 고딕"/>
                  <a:ea typeface="맑은 고딕"/>
                  <a:cs typeface="맑은 고딕"/>
                </a:rPr>
                <a:t>)</a:t>
              </a:r>
            </a:p>
          </p:txBody>
        </p:sp>
        <p:sp>
          <p:nvSpPr>
            <p:cNvPr id="119" name="TextBox 118"/>
            <p:cNvSpPr txBox="1"/>
            <p:nvPr/>
          </p:nvSpPr>
          <p:spPr>
            <a:xfrm>
              <a:off x="9407614" y="4423676"/>
              <a:ext cx="731520" cy="274320"/>
            </a:xfrm>
            <a:prstGeom prst="rect">
              <a:avLst/>
            </a:prstGeom>
            <a:noFill/>
          </p:spPr>
          <p:txBody>
            <a:bodyPr wrap="square" lIns="45720" tIns="27432" rIns="45720" bIns="27432" anchor="t">
              <a:spAutoFit/>
            </a:bodyPr>
            <a:lstStyle/>
            <a:p>
              <a:pPr algn="l">
                <a:spcAft>
                  <a:spcPts val="200"/>
                </a:spcAft>
              </a:pPr>
              <a:r>
                <a:rPr sz="950" b="1">
                  <a:solidFill>
                    <a:srgbClr val="FF0000"/>
                  </a:solidFill>
                  <a:latin typeface="맑은 고딕"/>
                  <a:ea typeface="맑은 고딕"/>
                  <a:cs typeface="맑은 고딕"/>
                </a:rPr>
                <a:t>1.3 L</a:t>
              </a:r>
            </a:p>
          </p:txBody>
        </p:sp>
      </p:grpSp>
      <p:sp>
        <p:nvSpPr>
          <p:cNvPr id="121" name="직사각형 120">
            <a:extLst>
              <a:ext uri="{FF2B5EF4-FFF2-40B4-BE49-F238E27FC236}">
                <a16:creationId xmlns:a16="http://schemas.microsoft.com/office/drawing/2014/main" id="{4E780B97-B2C1-448F-BF73-FB8F18044673}"/>
              </a:ext>
            </a:extLst>
          </p:cNvPr>
          <p:cNvSpPr/>
          <p:nvPr/>
        </p:nvSpPr>
        <p:spPr>
          <a:xfrm>
            <a:off x="6514419" y="1037703"/>
            <a:ext cx="5492576" cy="5607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Rectangle 39"/>
          <p:cNvSpPr/>
          <p:nvPr/>
        </p:nvSpPr>
        <p:spPr>
          <a:xfrm>
            <a:off x="6755917" y="3621597"/>
            <a:ext cx="5029200" cy="181686"/>
          </a:xfrm>
          <a:prstGeom prst="rect">
            <a:avLst/>
          </a:prstGeom>
          <a:solidFill>
            <a:srgbClr val="F2F2F2"/>
          </a:solidFill>
          <a:ln w="10160">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dirty="0">
                <a:solidFill>
                  <a:srgbClr val="000000"/>
                </a:solidFill>
                <a:latin typeface="맑은 고딕"/>
                <a:ea typeface="맑은 고딕"/>
                <a:cs typeface="맑은 고딕"/>
              </a:rPr>
              <a:t>HBM </a:t>
            </a:r>
            <a:r>
              <a:rPr sz="900" b="1" dirty="0" err="1">
                <a:solidFill>
                  <a:srgbClr val="000000"/>
                </a:solidFill>
                <a:latin typeface="맑은 고딕"/>
                <a:ea typeface="맑은 고딕"/>
                <a:cs typeface="맑은 고딕"/>
              </a:rPr>
              <a:t>레이아웃</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동시</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요청</a:t>
            </a:r>
            <a:r>
              <a:rPr sz="900" b="1" dirty="0">
                <a:solidFill>
                  <a:srgbClr val="000000"/>
                </a:solidFill>
                <a:latin typeface="맑은 고딕"/>
                <a:ea typeface="맑은 고딕"/>
                <a:cs typeface="맑은 고딕"/>
              </a:rPr>
              <a:t> N=3, ρ=0.15 </a:t>
            </a:r>
            <a:r>
              <a:rPr sz="900" b="1" dirty="0" err="1">
                <a:solidFill>
                  <a:srgbClr val="000000"/>
                </a:solidFill>
                <a:latin typeface="맑은 고딕"/>
                <a:ea typeface="맑은 고딕"/>
                <a:cs typeface="맑은 고딕"/>
              </a:rPr>
              <a:t>가정</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예시</a:t>
            </a:r>
            <a:r>
              <a:rPr sz="900" b="1" dirty="0">
                <a:solidFill>
                  <a:srgbClr val="000000"/>
                </a:solidFill>
                <a:latin typeface="맑은 고딕"/>
                <a:ea typeface="맑은 고딕"/>
                <a:cs typeface="맑은 고딕"/>
              </a:rPr>
              <a:t>)</a:t>
            </a:r>
          </a:p>
        </p:txBody>
      </p:sp>
      <p:sp>
        <p:nvSpPr>
          <p:cNvPr id="19" name="직사각형 18"/>
          <p:cNvSpPr/>
          <p:nvPr/>
        </p:nvSpPr>
        <p:spPr>
          <a:xfrm>
            <a:off x="6662821" y="4534699"/>
            <a:ext cx="6096000" cy="379591"/>
          </a:xfrm>
          <a:prstGeom prst="rect">
            <a:avLst/>
          </a:prstGeom>
        </p:spPr>
        <p:txBody>
          <a:bodyPr>
            <a:spAutoFit/>
          </a:bodyPr>
          <a:lstStyle/>
          <a:p>
            <a:pPr lvl="0">
              <a:spcAft>
                <a:spcPts val="200"/>
              </a:spcAft>
            </a:pPr>
            <a:r>
              <a:rPr lang="en-US" altLang="ko-KR" sz="850" b="1" dirty="0">
                <a:solidFill>
                  <a:srgbClr val="404040"/>
                </a:solidFill>
                <a:ea typeface="맑은 고딕"/>
                <a:cs typeface="맑은 고딕"/>
              </a:rPr>
              <a:t>HBM = (1−ρ)·L + </a:t>
            </a:r>
            <a:r>
              <a:rPr lang="en-US" altLang="ko-KR" sz="850" b="1" dirty="0" err="1">
                <a:solidFill>
                  <a:srgbClr val="404040"/>
                </a:solidFill>
                <a:ea typeface="맑은 고딕"/>
                <a:cs typeface="맑은 고딕"/>
              </a:rPr>
              <a:t>N·ρ·L</a:t>
            </a:r>
            <a:r>
              <a:rPr lang="ko-KR" altLang="en-US" sz="850" b="1" dirty="0">
                <a:solidFill>
                  <a:srgbClr val="404040"/>
                </a:solidFill>
                <a:ea typeface="맑은 고딕"/>
                <a:cs typeface="맑은 고딕"/>
              </a:rPr>
              <a:t>  </a:t>
            </a:r>
            <a:r>
              <a:rPr lang="en-US" altLang="ko-KR" sz="850" b="1" dirty="0">
                <a:solidFill>
                  <a:srgbClr val="404040"/>
                </a:solidFill>
                <a:ea typeface="맑은 고딕"/>
                <a:cs typeface="맑은 고딕"/>
              </a:rPr>
              <a:t>vs  N·L  → N=3, ρ=0.15</a:t>
            </a:r>
            <a:r>
              <a:rPr lang="ko-KR" altLang="en-US" sz="850" b="1" dirty="0">
                <a:solidFill>
                  <a:srgbClr val="404040"/>
                </a:solidFill>
                <a:ea typeface="맑은 고딕"/>
                <a:cs typeface="맑은 고딕"/>
              </a:rPr>
              <a:t>에서 </a:t>
            </a:r>
            <a:r>
              <a:rPr lang="en-US" altLang="ko-KR" sz="850" b="1" dirty="0">
                <a:solidFill>
                  <a:srgbClr val="404040"/>
                </a:solidFill>
                <a:ea typeface="맑은 고딕"/>
                <a:cs typeface="맑은 고딕"/>
              </a:rPr>
              <a:t>3.0 L → 1.3 L (−57%)</a:t>
            </a:r>
          </a:p>
          <a:p>
            <a:pPr lvl="0">
              <a:spcAft>
                <a:spcPts val="200"/>
              </a:spcAft>
            </a:pPr>
            <a:r>
              <a:rPr lang="en-US" altLang="ko-KR" sz="850" dirty="0">
                <a:solidFill>
                  <a:srgbClr val="595959"/>
                </a:solidFill>
                <a:ea typeface="맑은 고딕"/>
                <a:cs typeface="맑은 고딕"/>
              </a:rPr>
              <a:t>N</a:t>
            </a:r>
            <a:r>
              <a:rPr lang="ko-KR" altLang="en-US" sz="850" dirty="0">
                <a:solidFill>
                  <a:srgbClr val="595959"/>
                </a:solidFill>
                <a:ea typeface="맑은 고딕"/>
                <a:cs typeface="맑은 고딕"/>
              </a:rPr>
              <a:t>이 커질수록 요청당 </a:t>
            </a:r>
            <a:r>
              <a:rPr lang="en-US" altLang="ko-KR" sz="850" dirty="0" err="1">
                <a:solidFill>
                  <a:srgbClr val="595959"/>
                </a:solidFill>
                <a:ea typeface="맑은 고딕"/>
                <a:cs typeface="맑은 고딕"/>
              </a:rPr>
              <a:t>ρ·L</a:t>
            </a:r>
            <a:r>
              <a:rPr lang="ko-KR" altLang="en-US" sz="850" dirty="0">
                <a:solidFill>
                  <a:srgbClr val="595959"/>
                </a:solidFill>
                <a:ea typeface="맑은 고딕"/>
                <a:cs typeface="맑은 고딕"/>
              </a:rPr>
              <a:t>에 수렴</a:t>
            </a:r>
            <a:r>
              <a:rPr lang="en-US" altLang="ko-KR" sz="850" dirty="0">
                <a:solidFill>
                  <a:srgbClr val="595959"/>
                </a:solidFill>
                <a:ea typeface="맑은 고딕"/>
                <a:cs typeface="맑은 고딕"/>
              </a:rPr>
              <a:t>. </a:t>
            </a:r>
            <a:r>
              <a:rPr lang="ko-KR" altLang="en-US" sz="850" dirty="0">
                <a:solidFill>
                  <a:srgbClr val="595959"/>
                </a:solidFill>
                <a:ea typeface="맑은 고딕"/>
                <a:cs typeface="맑은 고딕"/>
              </a:rPr>
              <a:t>재사용이 분산돼 </a:t>
            </a:r>
            <a:r>
              <a:rPr lang="en-US" altLang="ko-KR" sz="850" dirty="0">
                <a:solidFill>
                  <a:srgbClr val="595959"/>
                </a:solidFill>
                <a:ea typeface="맑은 고딕"/>
                <a:cs typeface="맑은 고딕"/>
              </a:rPr>
              <a:t>N≈1</a:t>
            </a:r>
            <a:r>
              <a:rPr lang="ko-KR" altLang="en-US" sz="850" dirty="0">
                <a:solidFill>
                  <a:srgbClr val="595959"/>
                </a:solidFill>
                <a:ea typeface="맑은 고딕"/>
                <a:cs typeface="맑은 고딕"/>
              </a:rPr>
              <a:t>이면 이득 없음</a:t>
            </a:r>
          </a:p>
        </p:txBody>
      </p:sp>
      <p:sp>
        <p:nvSpPr>
          <p:cNvPr id="123" name="모서리가 둥근 직사각형 37">
            <a:extLst>
              <a:ext uri="{FF2B5EF4-FFF2-40B4-BE49-F238E27FC236}">
                <a16:creationId xmlns:a16="http://schemas.microsoft.com/office/drawing/2014/main" id="{824F5705-7E02-467A-970F-D2A9FCD95DC7}"/>
              </a:ext>
            </a:extLst>
          </p:cNvPr>
          <p:cNvSpPr/>
          <p:nvPr/>
        </p:nvSpPr>
        <p:spPr>
          <a:xfrm>
            <a:off x="8534853" y="619241"/>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128" name="모서리가 둥근 직사각형 91">
            <a:extLst>
              <a:ext uri="{FF2B5EF4-FFF2-40B4-BE49-F238E27FC236}">
                <a16:creationId xmlns:a16="http://schemas.microsoft.com/office/drawing/2014/main" id="{79FF95E1-283C-43BE-99C6-1DF1F017466C}"/>
              </a:ext>
            </a:extLst>
          </p:cNvPr>
          <p:cNvSpPr/>
          <p:nvPr/>
        </p:nvSpPr>
        <p:spPr>
          <a:xfrm>
            <a:off x="9804043" y="622762"/>
            <a:ext cx="910691"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a:t>
            </a:r>
            <a:r>
              <a:rPr lang="ko-KR" altLang="en-US" sz="700" dirty="0">
                <a:latin typeface="맑은 고딕" panose="020B0503020000020004" pitchFamily="50" charset="-127"/>
              </a:rPr>
              <a:t>연산 스케줄링 </a:t>
            </a:r>
            <a:r>
              <a:rPr lang="en-US" altLang="ko-KR" sz="700" dirty="0">
                <a:latin typeface="맑은 고딕" panose="020B0503020000020004" pitchFamily="50" charset="-127"/>
                <a:ea typeface="맑은 고딕" panose="020B0503020000020004" pitchFamily="50" charset="-127"/>
              </a:rPr>
              <a:t> </a:t>
            </a:r>
            <a:endParaRPr lang="ko-KR" altLang="en-US" sz="700" dirty="0">
              <a:latin typeface="맑은 고딕" panose="020B0503020000020004" pitchFamily="50" charset="-127"/>
              <a:ea typeface="맑은 고딕" panose="020B0503020000020004" pitchFamily="50" charset="-127"/>
            </a:endParaRPr>
          </a:p>
        </p:txBody>
      </p:sp>
      <p:sp>
        <p:nvSpPr>
          <p:cNvPr id="129" name="TextBox 128"/>
          <p:cNvSpPr txBox="1"/>
          <p:nvPr/>
        </p:nvSpPr>
        <p:spPr>
          <a:xfrm>
            <a:off x="1192849" y="2332514"/>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130" name="Rectangle 19"/>
          <p:cNvSpPr/>
          <p:nvPr/>
        </p:nvSpPr>
        <p:spPr>
          <a:xfrm>
            <a:off x="1611630" y="2259453"/>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cxnSp>
        <p:nvCxnSpPr>
          <p:cNvPr id="131" name="Connector 20"/>
          <p:cNvCxnSpPr/>
          <p:nvPr/>
        </p:nvCxnSpPr>
        <p:spPr>
          <a:xfrm>
            <a:off x="2271947"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4" name="Rectangle 21"/>
          <p:cNvSpPr/>
          <p:nvPr/>
        </p:nvSpPr>
        <p:spPr>
          <a:xfrm>
            <a:off x="2445714" y="2259453"/>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cxnSp>
        <p:nvCxnSpPr>
          <p:cNvPr id="135" name="Connector 22"/>
          <p:cNvCxnSpPr/>
          <p:nvPr/>
        </p:nvCxnSpPr>
        <p:spPr>
          <a:xfrm>
            <a:off x="3106033"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9" name="Rectangle 23"/>
          <p:cNvSpPr/>
          <p:nvPr/>
        </p:nvSpPr>
        <p:spPr>
          <a:xfrm>
            <a:off x="3279801" y="2259453"/>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err="1">
                <a:solidFill>
                  <a:srgbClr val="000000"/>
                </a:solidFill>
                <a:latin typeface="맑은 고딕"/>
                <a:ea typeface="맑은 고딕"/>
                <a:cs typeface="맑은 고딕"/>
              </a:rPr>
              <a:t>재연산</a:t>
            </a:r>
            <a:r>
              <a:rPr lang="ko-KR" altLang="en-US" sz="800" b="1" dirty="0">
                <a:solidFill>
                  <a:srgbClr val="000000"/>
                </a:solidFill>
                <a:latin typeface="맑은 고딕"/>
                <a:ea typeface="맑은 고딕"/>
                <a:cs typeface="맑은 고딕"/>
              </a:rPr>
              <a:t> 토큰 선정</a:t>
            </a:r>
            <a:endParaRPr sz="800" b="1" dirty="0">
              <a:solidFill>
                <a:srgbClr val="000000"/>
              </a:solidFill>
              <a:latin typeface="맑은 고딕"/>
              <a:ea typeface="맑은 고딕"/>
              <a:cs typeface="맑은 고딕"/>
            </a:endParaRPr>
          </a:p>
        </p:txBody>
      </p:sp>
      <p:cxnSp>
        <p:nvCxnSpPr>
          <p:cNvPr id="140" name="Connector 24"/>
          <p:cNvCxnSpPr/>
          <p:nvPr/>
        </p:nvCxnSpPr>
        <p:spPr>
          <a:xfrm>
            <a:off x="3940118" y="2421418"/>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1" name="Rectangle 25"/>
          <p:cNvSpPr/>
          <p:nvPr/>
        </p:nvSpPr>
        <p:spPr>
          <a:xfrm>
            <a:off x="4113885" y="2259452"/>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선택적 </a:t>
            </a:r>
            <a:endParaRPr lang="en-US" altLang="ko-KR" sz="800" b="1" dirty="0">
              <a:solidFill>
                <a:srgbClr val="000000"/>
              </a:solidFill>
              <a:latin typeface="맑은 고딕"/>
              <a:ea typeface="맑은 고딕"/>
              <a:cs typeface="맑은 고딕"/>
            </a:endParaRPr>
          </a:p>
          <a:p>
            <a:pPr algn="ctr">
              <a:spcAft>
                <a:spcPts val="200"/>
              </a:spcAft>
            </a:pPr>
            <a:r>
              <a:rPr lang="ko-KR" altLang="en-US" sz="800" b="1" dirty="0">
                <a:solidFill>
                  <a:srgbClr val="000000"/>
                </a:solidFill>
                <a:latin typeface="맑은 고딕"/>
                <a:ea typeface="맑은 고딕"/>
                <a:cs typeface="맑은 고딕"/>
              </a:rPr>
              <a:t>재계산</a:t>
            </a:r>
            <a:endParaRPr sz="800" b="1" dirty="0">
              <a:solidFill>
                <a:srgbClr val="000000"/>
              </a:solidFill>
              <a:latin typeface="맑은 고딕"/>
              <a:ea typeface="맑은 고딕"/>
              <a:cs typeface="맑은 고딕"/>
            </a:endParaRPr>
          </a:p>
        </p:txBody>
      </p:sp>
      <p:sp>
        <p:nvSpPr>
          <p:cNvPr id="142" name="TextBox 141"/>
          <p:cNvSpPr txBox="1"/>
          <p:nvPr/>
        </p:nvSpPr>
        <p:spPr>
          <a:xfrm>
            <a:off x="1192849" y="2822457"/>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143" name="Rectangle 27"/>
          <p:cNvSpPr/>
          <p:nvPr/>
        </p:nvSpPr>
        <p:spPr>
          <a:xfrm>
            <a:off x="2444860" y="2749396"/>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46" name="Connector 28"/>
          <p:cNvCxnSpPr/>
          <p:nvPr/>
        </p:nvCxnSpPr>
        <p:spPr>
          <a:xfrm>
            <a:off x="3105177"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9" name="Rectangle 29"/>
          <p:cNvSpPr/>
          <p:nvPr/>
        </p:nvSpPr>
        <p:spPr>
          <a:xfrm>
            <a:off x="3278944" y="2749396"/>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51" name="Connector 30"/>
          <p:cNvCxnSpPr/>
          <p:nvPr/>
        </p:nvCxnSpPr>
        <p:spPr>
          <a:xfrm>
            <a:off x="3939263"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2" name="Rectangle 31"/>
          <p:cNvSpPr/>
          <p:nvPr/>
        </p:nvSpPr>
        <p:spPr>
          <a:xfrm>
            <a:off x="4113031" y="2749396"/>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56" name="Connector 32"/>
          <p:cNvCxnSpPr/>
          <p:nvPr/>
        </p:nvCxnSpPr>
        <p:spPr>
          <a:xfrm>
            <a:off x="4773348" y="2911362"/>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9" name="Rectangle 33"/>
          <p:cNvSpPr/>
          <p:nvPr/>
        </p:nvSpPr>
        <p:spPr>
          <a:xfrm>
            <a:off x="4947115" y="2749396"/>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62" name="TextBox 161"/>
          <p:cNvSpPr txBox="1"/>
          <p:nvPr/>
        </p:nvSpPr>
        <p:spPr>
          <a:xfrm>
            <a:off x="1192849" y="3312401"/>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63" name="Rectangle 35"/>
          <p:cNvSpPr/>
          <p:nvPr/>
        </p:nvSpPr>
        <p:spPr>
          <a:xfrm>
            <a:off x="3272288" y="3239339"/>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4" name="Connector 36"/>
          <p:cNvCxnSpPr/>
          <p:nvPr/>
        </p:nvCxnSpPr>
        <p:spPr>
          <a:xfrm>
            <a:off x="3932605"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5" name="Rectangle 37"/>
          <p:cNvSpPr/>
          <p:nvPr/>
        </p:nvSpPr>
        <p:spPr>
          <a:xfrm>
            <a:off x="4106372" y="3239339"/>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6" name="Connector 38"/>
          <p:cNvCxnSpPr/>
          <p:nvPr/>
        </p:nvCxnSpPr>
        <p:spPr>
          <a:xfrm>
            <a:off x="4766691"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7" name="Rectangle 39"/>
          <p:cNvSpPr/>
          <p:nvPr/>
        </p:nvSpPr>
        <p:spPr>
          <a:xfrm>
            <a:off x="4940459" y="3239339"/>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68" name="Connector 40"/>
          <p:cNvCxnSpPr/>
          <p:nvPr/>
        </p:nvCxnSpPr>
        <p:spPr>
          <a:xfrm>
            <a:off x="5600776" y="3401305"/>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9" name="Rectangle 41"/>
          <p:cNvSpPr/>
          <p:nvPr/>
        </p:nvSpPr>
        <p:spPr>
          <a:xfrm>
            <a:off x="5774543" y="3239340"/>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70" name="TextBox 169"/>
          <p:cNvSpPr txBox="1"/>
          <p:nvPr/>
        </p:nvSpPr>
        <p:spPr>
          <a:xfrm>
            <a:off x="1271552" y="1944788"/>
            <a:ext cx="1503466" cy="186205"/>
          </a:xfrm>
          <a:prstGeom prst="rect">
            <a:avLst/>
          </a:prstGeom>
          <a:noFill/>
        </p:spPr>
        <p:txBody>
          <a:bodyPr wrap="square" lIns="45720" tIns="27432" rIns="45720" bIns="27432" anchor="t">
            <a:spAutoFit/>
          </a:bodyPr>
          <a:lstStyle/>
          <a:p>
            <a:pPr algn="l">
              <a:spcAft>
                <a:spcPts val="200"/>
              </a:spcAft>
            </a:pPr>
            <a:r>
              <a:rPr sz="850" b="1" dirty="0" err="1">
                <a:solidFill>
                  <a:srgbClr val="FF0000"/>
                </a:solidFill>
                <a:latin typeface="맑은 고딕"/>
                <a:ea typeface="맑은 고딕"/>
                <a:cs typeface="맑은 고딕"/>
              </a:rPr>
              <a:t>요청마다</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분석</a:t>
            </a:r>
            <a:r>
              <a:rPr lang="en-US" sz="850" b="1" dirty="0">
                <a:solidFill>
                  <a:srgbClr val="FF0000"/>
                </a:solidFill>
                <a:latin typeface="맑은 고딕"/>
                <a:ea typeface="맑은 고딕"/>
                <a:cs typeface="맑은 고딕"/>
              </a:rPr>
              <a:t> </a:t>
            </a:r>
            <a:r>
              <a:rPr sz="850" b="1" dirty="0">
                <a:solidFill>
                  <a:srgbClr val="FF0000"/>
                </a:solidFill>
                <a:latin typeface="맑은 고딕"/>
                <a:ea typeface="맑은 고딕"/>
                <a:cs typeface="맑은 고딕"/>
              </a:rPr>
              <a:t>3단계 </a:t>
            </a:r>
            <a:r>
              <a:rPr sz="850" b="1" dirty="0" err="1">
                <a:solidFill>
                  <a:srgbClr val="FF0000"/>
                </a:solidFill>
                <a:latin typeface="맑은 고딕"/>
                <a:ea typeface="맑은 고딕"/>
                <a:cs typeface="맑은 고딕"/>
              </a:rPr>
              <a:t>반복</a:t>
            </a:r>
            <a:endParaRPr sz="850" b="1" dirty="0">
              <a:solidFill>
                <a:srgbClr val="FF0000"/>
              </a:solidFill>
              <a:latin typeface="맑은 고딕"/>
              <a:ea typeface="맑은 고딕"/>
              <a:cs typeface="맑은 고딕"/>
            </a:endParaRPr>
          </a:p>
        </p:txBody>
      </p:sp>
      <p:sp>
        <p:nvSpPr>
          <p:cNvPr id="171" name="실행 단추: 앞으로 또는 다음 170">
            <a:hlinkClick r:id="rId3" action="ppaction://hlinksldjump" highlightClick="1"/>
          </p:cNvPr>
          <p:cNvSpPr/>
          <p:nvPr/>
        </p:nvSpPr>
        <p:spPr>
          <a:xfrm>
            <a:off x="569407" y="3283938"/>
            <a:ext cx="213360" cy="18435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모서리가 둥근 직사각형 3"/>
          <p:cNvSpPr/>
          <p:nvPr/>
        </p:nvSpPr>
        <p:spPr>
          <a:xfrm>
            <a:off x="8413750" y="2583382"/>
            <a:ext cx="2686050" cy="8179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알고리즘 같음</a:t>
            </a:r>
            <a:r>
              <a:rPr lang="en-US" altLang="ko-KR" dirty="0"/>
              <a:t>. </a:t>
            </a:r>
          </a:p>
          <a:p>
            <a:pPr algn="ctr"/>
            <a:r>
              <a:rPr lang="ko-KR" altLang="en-US" dirty="0"/>
              <a:t>모듈 추가 필요</a:t>
            </a:r>
          </a:p>
        </p:txBody>
      </p:sp>
    </p:spTree>
    <p:extLst>
      <p:ext uri="{BB962C8B-B14F-4D97-AF65-F5344CB8AC3E}">
        <p14:creationId xmlns:p14="http://schemas.microsoft.com/office/powerpoint/2010/main" val="3177567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197</a:t>
            </a:fld>
            <a:endParaRPr lang="ko-KR" altLang="en-US" dirty="0"/>
          </a:p>
        </p:txBody>
      </p:sp>
      <p:sp>
        <p:nvSpPr>
          <p:cNvPr id="3" name="제목 2"/>
          <p:cNvSpPr>
            <a:spLocks noGrp="1"/>
          </p:cNvSpPr>
          <p:nvPr>
            <p:ph type="title"/>
          </p:nvPr>
        </p:nvSpPr>
        <p:spPr/>
        <p:txBody>
          <a:bodyPr/>
          <a:lstStyle/>
          <a:p>
            <a:r>
              <a:rPr lang="en-US" altLang="ko-KR" dirty="0"/>
              <a:t>DP4. </a:t>
            </a:r>
            <a:r>
              <a:rPr lang="ko-KR" altLang="en-US" dirty="0"/>
              <a:t>서버</a:t>
            </a:r>
            <a:r>
              <a:rPr lang="en-US" altLang="ko-KR" dirty="0"/>
              <a:t> 간 KV </a:t>
            </a:r>
            <a:r>
              <a:rPr lang="ko-KR" altLang="en-US" dirty="0"/>
              <a:t>캐시 </a:t>
            </a:r>
            <a:r>
              <a:rPr lang="en-US" altLang="ko-KR" dirty="0" err="1"/>
              <a:t>공유</a:t>
            </a:r>
            <a:r>
              <a:rPr lang="en-US" altLang="ko-KR" dirty="0"/>
              <a:t> </a:t>
            </a:r>
            <a:r>
              <a:rPr lang="en-US" altLang="ko-KR" dirty="0" err="1"/>
              <a:t>구조</a:t>
            </a:r>
            <a:r>
              <a:rPr lang="en-US" altLang="ko-KR" dirty="0"/>
              <a:t> – </a:t>
            </a:r>
            <a:r>
              <a:rPr lang="en-US" altLang="ko-KR" dirty="0" err="1"/>
              <a:t>배경</a:t>
            </a:r>
            <a:endParaRPr lang="en-US" altLang="ko-KR" dirty="0"/>
          </a:p>
        </p:txBody>
      </p:sp>
      <p:sp>
        <p:nvSpPr>
          <p:cNvPr id="79" name="Text 22"/>
          <p:cNvSpPr/>
          <p:nvPr/>
        </p:nvSpPr>
        <p:spPr>
          <a:xfrm>
            <a:off x="359582" y="684751"/>
            <a:ext cx="11687638" cy="868680"/>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DP2는 Prefill/Decode </a:t>
            </a:r>
            <a:r>
              <a:rPr lang="ko-KR" altLang="en-US" sz="1200" dirty="0">
                <a:solidFill>
                  <a:srgbClr val="404040"/>
                </a:solidFill>
                <a:latin typeface="맑은 고딕" panose="020B0503020000020004" pitchFamily="50" charset="-127"/>
              </a:rPr>
              <a:t>실행 위치를 </a:t>
            </a:r>
            <a:r>
              <a:rPr lang="en-US" altLang="ko-KR" sz="1200" dirty="0" err="1">
                <a:solidFill>
                  <a:srgbClr val="404040"/>
                </a:solidFill>
                <a:latin typeface="맑은 고딕" panose="020B0503020000020004" pitchFamily="50" charset="-127"/>
              </a:rPr>
              <a:t>최적화하지만</a:t>
            </a:r>
            <a:r>
              <a:rPr lang="en-US" altLang="ko-KR" sz="1200" dirty="0">
                <a:solidFill>
                  <a:srgbClr val="404040"/>
                </a:solidFill>
                <a:latin typeface="맑은 고딕" panose="020B0503020000020004" pitchFamily="50" charset="-127"/>
              </a:rPr>
              <a:t> </a:t>
            </a:r>
            <a:r>
              <a:rPr lang="en-US" altLang="ko-KR" sz="1200" b="1" dirty="0">
                <a:solidFill>
                  <a:srgbClr val="FF0000"/>
                </a:solidFill>
                <a:latin typeface="맑은 고딕" panose="020B0503020000020004" pitchFamily="50" charset="-127"/>
              </a:rPr>
              <a:t>노드 간 KV 전송 비용 자체는 줄이지 못함 </a:t>
            </a:r>
            <a:r>
              <a:rPr lang="en-US" altLang="ko-KR" sz="1200" dirty="0">
                <a:solidFill>
                  <a:srgbClr val="404040"/>
                </a:solidFill>
                <a:latin typeface="맑은 고딕" panose="020B0503020000020004" pitchFamily="50" charset="-127"/>
              </a:rPr>
              <a:t>(Turn </a:t>
            </a:r>
            <a:r>
              <a:rPr lang="en-US" altLang="ko-KR" sz="1200" dirty="0" err="1">
                <a:solidFill>
                  <a:srgbClr val="404040"/>
                </a:solidFill>
                <a:latin typeface="맑은 고딕" panose="020B0503020000020004" pitchFamily="50" charset="-127"/>
              </a:rPr>
              <a:t>마다</a:t>
            </a:r>
            <a:r>
              <a:rPr lang="en-US" altLang="ko-KR" sz="1200" dirty="0">
                <a:solidFill>
                  <a:srgbClr val="404040"/>
                </a:solidFill>
                <a:latin typeface="맑은 고딕" panose="020B0503020000020004" pitchFamily="50" charset="-127"/>
              </a:rPr>
              <a:t> P↔D 왕복 누적)</a:t>
            </a:r>
          </a:p>
          <a:p>
            <a:pPr marL="285750" indent="-285750">
              <a:lnSpc>
                <a:spcPct val="150000"/>
              </a:lnSpc>
              <a:buFontTx/>
              <a:buChar char="-"/>
            </a:pPr>
            <a:r>
              <a:rPr lang="ko-KR" altLang="en-US" sz="1200" dirty="0">
                <a:solidFill>
                  <a:srgbClr val="404040"/>
                </a:solidFill>
                <a:latin typeface="맑은 고딕" panose="020B0503020000020004" pitchFamily="50" charset="-127"/>
              </a:rPr>
              <a:t>노드 간 데이터 전송을 최소화하기 위해 </a:t>
            </a:r>
            <a:r>
              <a:rPr lang="en-US" altLang="ko-KR" sz="1200" b="1" dirty="0">
                <a:solidFill>
                  <a:srgbClr val="0066FF"/>
                </a:solidFill>
                <a:latin typeface="맑은 고딕" panose="020B0503020000020004" pitchFamily="50" charset="-127"/>
              </a:rPr>
              <a:t>CXL </a:t>
            </a:r>
            <a:r>
              <a:rPr lang="ko-KR" altLang="en-US" sz="1200" b="1" dirty="0">
                <a:solidFill>
                  <a:srgbClr val="0066FF"/>
                </a:solidFill>
                <a:latin typeface="맑은 고딕" panose="020B0503020000020004" pitchFamily="50" charset="-127"/>
              </a:rPr>
              <a:t>기반 공유 메모리 풀을 통한 데이터 직접 접근 방식 도입 </a:t>
            </a:r>
            <a:r>
              <a:rPr lang="ko-KR" altLang="en-US" sz="1200" dirty="0">
                <a:solidFill>
                  <a:srgbClr val="404040"/>
                </a:solidFill>
                <a:latin typeface="맑은 고딕" panose="020B0503020000020004" pitchFamily="50" charset="-127"/>
              </a:rPr>
              <a:t>필요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그러나 </a:t>
            </a:r>
            <a:r>
              <a:rPr lang="en-US" altLang="ko-KR" sz="1200" dirty="0">
                <a:solidFill>
                  <a:srgbClr val="404040"/>
                </a:solidFill>
                <a:latin typeface="맑은 고딕" panose="020B0503020000020004" pitchFamily="50" charset="-127"/>
              </a:rPr>
              <a:t>CXL </a:t>
            </a:r>
            <a:r>
              <a:rPr lang="ko-KR" altLang="en-US" sz="1200" dirty="0">
                <a:solidFill>
                  <a:srgbClr val="404040"/>
                </a:solidFill>
                <a:latin typeface="맑은 고딕" panose="020B0503020000020004" pitchFamily="50" charset="-127"/>
              </a:rPr>
              <a:t>기반 </a:t>
            </a:r>
            <a:r>
              <a:rPr lang="ko-KR" altLang="en-US" sz="1200" dirty="0" err="1">
                <a:solidFill>
                  <a:srgbClr val="404040"/>
                </a:solidFill>
                <a:latin typeface="맑은 고딕" panose="020B0503020000020004" pitchFamily="50" charset="-127"/>
              </a:rPr>
              <a:t>비일관성</a:t>
            </a:r>
            <a:r>
              <a:rPr lang="ko-KR" altLang="en-US" sz="1200" dirty="0">
                <a:solidFill>
                  <a:srgbClr val="404040"/>
                </a:solidFill>
                <a:latin typeface="맑은 고딕" panose="020B0503020000020004" pitchFamily="50" charset="-127"/>
              </a:rPr>
              <a:t> 공유 메모리 환경에서는 호스트 간 캐시 일관성 및 </a:t>
            </a:r>
            <a:r>
              <a:rPr lang="en-US" altLang="ko-KR" sz="1200" dirty="0">
                <a:solidFill>
                  <a:srgbClr val="404040"/>
                </a:solidFill>
                <a:latin typeface="맑은 고딕" panose="020B0503020000020004" pitchFamily="50" charset="-127"/>
              </a:rPr>
              <a:t>Atomic </a:t>
            </a:r>
            <a:r>
              <a:rPr lang="ko-KR" altLang="en-US" sz="1200" dirty="0">
                <a:solidFill>
                  <a:srgbClr val="404040"/>
                </a:solidFill>
                <a:latin typeface="맑은 고딕" panose="020B0503020000020004" pitchFamily="50" charset="-127"/>
              </a:rPr>
              <a:t>연산이 보장되지 않아</a:t>
            </a:r>
            <a:r>
              <a:rPr lang="en-US" altLang="ko-KR" sz="1200" dirty="0">
                <a:solidFill>
                  <a:srgbClr val="404040"/>
                </a:solidFill>
                <a:latin typeface="맑은 고딕" panose="020B0503020000020004" pitchFamily="50" charset="-127"/>
              </a:rPr>
              <a:t> </a:t>
            </a:r>
            <a:r>
              <a:rPr lang="ko-KR" altLang="en-US" sz="1200" b="1" dirty="0">
                <a:solidFill>
                  <a:srgbClr val="FF0000"/>
                </a:solidFill>
                <a:latin typeface="맑은 고딕" panose="020B0503020000020004" pitchFamily="50" charset="-127"/>
              </a:rPr>
              <a:t>다중 노드의 동시 접근 시 데이터 정합성 보장 어려움</a:t>
            </a:r>
            <a:endParaRPr lang="en-US" altLang="ko-KR" sz="1200" b="1" dirty="0">
              <a:solidFill>
                <a:srgbClr val="FF0000"/>
              </a:solidFill>
              <a:latin typeface="맑은 고딕" panose="020B0503020000020004" pitchFamily="50" charset="-127"/>
            </a:endParaRPr>
          </a:p>
        </p:txBody>
      </p:sp>
      <p:sp>
        <p:nvSpPr>
          <p:cNvPr id="166" name="Text 22"/>
          <p:cNvSpPr/>
          <p:nvPr/>
        </p:nvSpPr>
        <p:spPr>
          <a:xfrm>
            <a:off x="383682" y="5915460"/>
            <a:ext cx="11312059" cy="594360"/>
          </a:xfrm>
          <a:prstGeom prst="rect">
            <a:avLst/>
          </a:prstGeom>
          <a:noFill/>
          <a:ln/>
        </p:spPr>
        <p:txBody>
          <a:bodyPr wrap="square" lIns="0" tIns="0" rIns="0" bIns="0" rtlCol="0" anchor="t"/>
          <a:lstStyle/>
          <a:p>
            <a:pPr>
              <a:lnSpc>
                <a:spcPct val="150000"/>
              </a:lnSpc>
            </a:pPr>
            <a:r>
              <a:rPr lang="ko-KR" altLang="en-US" sz="1200" b="1" dirty="0"/>
              <a:t>설계 쟁점 </a:t>
            </a:r>
            <a:r>
              <a:rPr lang="en-US" altLang="ko-KR" sz="1200" b="1" dirty="0"/>
              <a:t>1.</a:t>
            </a:r>
            <a:r>
              <a:rPr lang="ko-KR" altLang="en-US" sz="1200" dirty="0"/>
              <a:t> </a:t>
            </a:r>
            <a:r>
              <a:rPr lang="ko-KR" altLang="ko-KR" sz="1200" dirty="0" err="1">
                <a:solidFill>
                  <a:srgbClr val="404040"/>
                </a:solidFill>
                <a:latin typeface="맑은 고딕"/>
              </a:rPr>
              <a:t>비일관</a:t>
            </a:r>
            <a:r>
              <a:rPr lang="ko-KR" altLang="ko-KR" sz="1200" dirty="0">
                <a:solidFill>
                  <a:srgbClr val="404040"/>
                </a:solidFill>
                <a:latin typeface="맑은 고딕"/>
              </a:rPr>
              <a:t> CXL 공유 풀에서 메타데이터의 일관성 </a:t>
            </a:r>
            <a:r>
              <a:rPr lang="ko-KR" altLang="en-US" sz="1200" dirty="0">
                <a:solidFill>
                  <a:srgbClr val="404040"/>
                </a:solidFill>
                <a:latin typeface="맑은 고딕"/>
              </a:rPr>
              <a:t>책임 주체 결정을 통해 </a:t>
            </a:r>
            <a:r>
              <a:rPr lang="en-US" altLang="ko-KR" sz="1200" b="1" dirty="0">
                <a:solidFill>
                  <a:srgbClr val="0066FF"/>
                </a:solidFill>
                <a:latin typeface="맑은 고딕"/>
              </a:rPr>
              <a:t>KV </a:t>
            </a:r>
            <a:r>
              <a:rPr lang="ko-KR" altLang="en-US" sz="1200" b="1" dirty="0">
                <a:solidFill>
                  <a:srgbClr val="0066FF"/>
                </a:solidFill>
                <a:latin typeface="맑은 고딕"/>
              </a:rPr>
              <a:t>공유 지연시간 최적화 </a:t>
            </a:r>
            <a:endParaRPr lang="en-US" altLang="ko-KR" sz="1200" b="1" dirty="0">
              <a:solidFill>
                <a:srgbClr val="0066FF"/>
              </a:solidFill>
              <a:latin typeface="맑은 고딕"/>
            </a:endParaRPr>
          </a:p>
          <a:p>
            <a:pPr rtl="0">
              <a:lnSpc>
                <a:spcPct val="150000"/>
              </a:lnSpc>
            </a:pPr>
            <a:r>
              <a:rPr lang="ko-KR" altLang="en-US" sz="1200" b="1" dirty="0"/>
              <a:t>설계 쟁점 </a:t>
            </a:r>
            <a:r>
              <a:rPr lang="en-US" altLang="ko-KR" sz="1200" b="1" dirty="0"/>
              <a:t>2.</a:t>
            </a:r>
            <a:r>
              <a:rPr lang="ko-KR" altLang="en-US" sz="1200" dirty="0"/>
              <a:t> 노드 수 증가에 따른 메타데이터 일관성 유지의 </a:t>
            </a:r>
            <a:r>
              <a:rPr lang="ko-KR" altLang="en-US" sz="1200" b="1" dirty="0">
                <a:solidFill>
                  <a:srgbClr val="0066FF"/>
                </a:solidFill>
              </a:rPr>
              <a:t>확장성</a:t>
            </a:r>
            <a:r>
              <a:rPr lang="en-US" altLang="ko-KR" sz="1200" b="1" dirty="0">
                <a:solidFill>
                  <a:srgbClr val="0066FF"/>
                </a:solidFill>
              </a:rPr>
              <a:t>(Scalability) </a:t>
            </a:r>
            <a:r>
              <a:rPr lang="ko-KR" altLang="en-US" sz="1200" b="1" dirty="0">
                <a:solidFill>
                  <a:srgbClr val="0066FF"/>
                </a:solidFill>
              </a:rPr>
              <a:t>확보</a:t>
            </a:r>
          </a:p>
          <a:p>
            <a:pPr marL="228600" indent="-228600">
              <a:lnSpc>
                <a:spcPct val="150000"/>
              </a:lnSpc>
              <a:buAutoNum type="arabicPeriod"/>
            </a:pPr>
            <a:endParaRPr lang="en-US" altLang="ko-KR" sz="1200" dirty="0"/>
          </a:p>
        </p:txBody>
      </p:sp>
      <p:sp>
        <p:nvSpPr>
          <p:cNvPr id="52" name="DP2 9013"/>
          <p:cNvSpPr/>
          <p:nvPr/>
        </p:nvSpPr>
        <p:spPr>
          <a:xfrm>
            <a:off x="433713" y="5509573"/>
            <a:ext cx="11338560" cy="291487"/>
          </a:xfrm>
          <a:prstGeom prst="rect">
            <a:avLst/>
          </a:prstGeom>
          <a:noFill/>
          <a:ln>
            <a:noFill/>
          </a:ln>
        </p:spPr>
        <p:txBody>
          <a:bodyPr wrap="square" lIns="9144" tIns="7315" rIns="9144" bIns="7315" anchor="ctr">
            <a:normAutofit/>
          </a:bodyPr>
          <a:lstStyle/>
          <a:p>
            <a:pPr>
              <a:lnSpc>
                <a:spcPct val="90000"/>
              </a:lnSpc>
            </a:pPr>
            <a:r>
              <a:rPr lang="en-US" altLang="ko-KR" sz="1200" b="1" dirty="0">
                <a:solidFill>
                  <a:srgbClr val="0066FF"/>
                </a:solidFill>
              </a:rPr>
              <a:t>     </a:t>
            </a:r>
            <a:r>
              <a:rPr lang="ko-KR" altLang="en-US" sz="1200" b="1" dirty="0">
                <a:solidFill>
                  <a:srgbClr val="0066FF"/>
                </a:solidFill>
              </a:rPr>
              <a:t>데이터 정합성과 접근 동기화를 보장하면서 데이터 전송 비용을 최소화하는 </a:t>
            </a:r>
            <a:r>
              <a:rPr lang="en-US" altLang="ko-KR" sz="1200" b="1" dirty="0">
                <a:solidFill>
                  <a:srgbClr val="0066FF"/>
                </a:solidFill>
              </a:rPr>
              <a:t>SW </a:t>
            </a:r>
            <a:r>
              <a:rPr lang="ko-KR" altLang="en-US" sz="1200" b="1" dirty="0">
                <a:solidFill>
                  <a:srgbClr val="0066FF"/>
                </a:solidFill>
              </a:rPr>
              <a:t>구조 설계 필요 </a:t>
            </a:r>
          </a:p>
        </p:txBody>
      </p:sp>
      <p:sp>
        <p:nvSpPr>
          <p:cNvPr id="92" name="Rectangle 9061"/>
          <p:cNvSpPr/>
          <p:nvPr/>
        </p:nvSpPr>
        <p:spPr>
          <a:xfrm>
            <a:off x="411480" y="1924975"/>
            <a:ext cx="4532843" cy="2341530"/>
          </a:xfrm>
          <a:prstGeom prst="rect">
            <a:avLst/>
          </a:prstGeom>
          <a:no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3" name="Rounded Rectangle 9062"/>
          <p:cNvSpPr/>
          <p:nvPr/>
        </p:nvSpPr>
        <p:spPr>
          <a:xfrm>
            <a:off x="872046" y="1791320"/>
            <a:ext cx="3291840" cy="287670"/>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solidFill>
                  <a:schemeClr val="dk1"/>
                </a:solidFill>
              </a:rPr>
              <a:t>서버 </a:t>
            </a:r>
            <a:r>
              <a:rPr lang="ko-KR" altLang="en-US" sz="1200" b="1">
                <a:solidFill>
                  <a:schemeClr val="dk1"/>
                </a:solidFill>
              </a:rPr>
              <a:t>간 </a:t>
            </a:r>
            <a:r>
              <a:rPr lang="en-US" altLang="ko-KR" sz="1200" b="1" dirty="0">
                <a:solidFill>
                  <a:schemeClr val="dk1"/>
                </a:solidFill>
              </a:rPr>
              <a:t>KV </a:t>
            </a:r>
            <a:r>
              <a:rPr lang="ko-KR" altLang="en-US" sz="1200" b="1" dirty="0">
                <a:solidFill>
                  <a:schemeClr val="dk1"/>
                </a:solidFill>
              </a:rPr>
              <a:t>공유 구조 </a:t>
            </a:r>
          </a:p>
        </p:txBody>
      </p:sp>
      <p:sp>
        <p:nvSpPr>
          <p:cNvPr id="94" name="Rectangle 9063"/>
          <p:cNvSpPr/>
          <p:nvPr/>
        </p:nvSpPr>
        <p:spPr>
          <a:xfrm>
            <a:off x="5215235" y="1924976"/>
            <a:ext cx="6775203" cy="3122192"/>
          </a:xfrm>
          <a:prstGeom prst="rect">
            <a:avLst/>
          </a:prstGeom>
          <a:no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5" name="Rounded Rectangle 9064"/>
          <p:cNvSpPr/>
          <p:nvPr/>
        </p:nvSpPr>
        <p:spPr>
          <a:xfrm>
            <a:off x="6844628" y="1791320"/>
            <a:ext cx="3291840" cy="287670"/>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solidFill>
                  <a:schemeClr val="dk1"/>
                </a:solidFill>
              </a:rPr>
              <a:t>공유 메모리 풀 일관성 문제</a:t>
            </a:r>
            <a:endParaRPr sz="1200" b="1" dirty="0">
              <a:solidFill>
                <a:schemeClr val="dk1"/>
              </a:solidFill>
            </a:endParaRPr>
          </a:p>
        </p:txBody>
      </p:sp>
      <p:sp>
        <p:nvSpPr>
          <p:cNvPr id="45" name="오른쪽 화살표 39">
            <a:extLst>
              <a:ext uri="{FF2B5EF4-FFF2-40B4-BE49-F238E27FC236}">
                <a16:creationId xmlns:a16="http://schemas.microsoft.com/office/drawing/2014/main" id="{87343808-114B-4A10-BC0D-76458824B921}"/>
              </a:ext>
            </a:extLst>
          </p:cNvPr>
          <p:cNvSpPr/>
          <p:nvPr/>
        </p:nvSpPr>
        <p:spPr>
          <a:xfrm>
            <a:off x="312674" y="5530353"/>
            <a:ext cx="281686"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 name="그룹 9">
            <a:extLst>
              <a:ext uri="{FF2B5EF4-FFF2-40B4-BE49-F238E27FC236}">
                <a16:creationId xmlns:a16="http://schemas.microsoft.com/office/drawing/2014/main" id="{32F2E3E2-3375-413D-98EC-9F359030EB48}"/>
              </a:ext>
            </a:extLst>
          </p:cNvPr>
          <p:cNvGrpSpPr/>
          <p:nvPr/>
        </p:nvGrpSpPr>
        <p:grpSpPr>
          <a:xfrm>
            <a:off x="482088" y="4609511"/>
            <a:ext cx="4357411" cy="645246"/>
            <a:chOff x="1440180" y="4939605"/>
            <a:chExt cx="8748658" cy="645246"/>
          </a:xfrm>
        </p:grpSpPr>
        <p:sp>
          <p:nvSpPr>
            <p:cNvPr id="9089" name="Rounded Rectangle 9088"/>
            <p:cNvSpPr/>
            <p:nvPr/>
          </p:nvSpPr>
          <p:spPr>
            <a:xfrm>
              <a:off x="7646931" y="4939605"/>
              <a:ext cx="2541907" cy="28120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lvl="0" algn="ctr">
                <a:lnSpc>
                  <a:spcPct val="125000"/>
                </a:lnSpc>
              </a:pPr>
              <a:r>
                <a:rPr lang="en-US" altLang="ko-KR" sz="800" b="1" dirty="0">
                  <a:solidFill>
                    <a:srgbClr val="000000"/>
                  </a:solidFill>
                  <a:ea typeface="맑은 고딕"/>
                </a:rPr>
                <a:t>DP1</a:t>
              </a:r>
              <a:r>
                <a:rPr lang="ko-KR" altLang="en-US" sz="800" b="1" dirty="0">
                  <a:solidFill>
                    <a:srgbClr val="000000"/>
                  </a:solidFill>
                  <a:ea typeface="맑은 고딕"/>
                </a:rPr>
                <a:t> 데이터 이동 결정</a:t>
              </a:r>
            </a:p>
          </p:txBody>
        </p:sp>
        <p:sp>
          <p:nvSpPr>
            <p:cNvPr id="9091" name="Rounded Rectangle 9090"/>
            <p:cNvSpPr/>
            <p:nvPr/>
          </p:nvSpPr>
          <p:spPr>
            <a:xfrm>
              <a:off x="1440180" y="5013442"/>
              <a:ext cx="3282285" cy="387219"/>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25000"/>
                </a:lnSpc>
              </a:pPr>
              <a:r>
                <a:rPr sz="800" b="1" i="0" dirty="0">
                  <a:solidFill>
                    <a:srgbClr val="000000"/>
                  </a:solidFill>
                  <a:latin typeface="맑은 고딕"/>
                  <a:ea typeface="맑은 고딕"/>
                </a:rPr>
                <a:t>DP4 </a:t>
              </a:r>
              <a:r>
                <a:rPr lang="ko-KR" altLang="en-US" sz="800" b="1" dirty="0">
                  <a:solidFill>
                    <a:srgbClr val="000000"/>
                  </a:solidFill>
                  <a:latin typeface="맑은 고딕"/>
                  <a:ea typeface="맑은 고딕"/>
                </a:rPr>
                <a:t>서버 간 데이터 공유 구조 </a:t>
              </a:r>
              <a:endParaRPr sz="800" b="1" i="0" dirty="0">
                <a:solidFill>
                  <a:srgbClr val="000000"/>
                </a:solidFill>
                <a:latin typeface="맑은 고딕"/>
                <a:ea typeface="맑은 고딕"/>
              </a:endParaRPr>
            </a:p>
          </p:txBody>
        </p:sp>
        <p:grpSp>
          <p:nvGrpSpPr>
            <p:cNvPr id="8" name="그룹 7">
              <a:extLst>
                <a:ext uri="{FF2B5EF4-FFF2-40B4-BE49-F238E27FC236}">
                  <a16:creationId xmlns:a16="http://schemas.microsoft.com/office/drawing/2014/main" id="{731831DA-16DA-43BE-B7CB-10781EC32D70}"/>
                </a:ext>
              </a:extLst>
            </p:cNvPr>
            <p:cNvGrpSpPr/>
            <p:nvPr/>
          </p:nvGrpSpPr>
          <p:grpSpPr>
            <a:xfrm>
              <a:off x="4944323" y="4957786"/>
              <a:ext cx="2702609" cy="187163"/>
              <a:chOff x="4944323" y="4882811"/>
              <a:chExt cx="2702609" cy="187163"/>
            </a:xfrm>
          </p:grpSpPr>
          <p:cxnSp>
            <p:nvCxnSpPr>
              <p:cNvPr id="54" name="Connector 9068"/>
              <p:cNvCxnSpPr/>
              <p:nvPr/>
            </p:nvCxnSpPr>
            <p:spPr>
              <a:xfrm>
                <a:off x="4944323" y="5069974"/>
                <a:ext cx="2485875"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033805" y="4882811"/>
                <a:ext cx="2613127" cy="123111"/>
              </a:xfrm>
              <a:prstGeom prst="rect">
                <a:avLst/>
              </a:prstGeom>
              <a:noFill/>
            </p:spPr>
            <p:txBody>
              <a:bodyPr wrap="square" lIns="0" tIns="0" rIns="0" bIns="0" anchor="t">
                <a:spAutoFit/>
              </a:bodyPr>
              <a:lstStyle/>
              <a:p>
                <a:r>
                  <a:rPr lang="ko-KR" altLang="en-US" sz="800" b="1" dirty="0">
                    <a:solidFill>
                      <a:srgbClr val="C00000"/>
                    </a:solidFill>
                    <a:ea typeface="맑은 고딕"/>
                  </a:rPr>
                  <a:t>데이터 이동 범위 확장</a:t>
                </a:r>
              </a:p>
            </p:txBody>
          </p:sp>
        </p:grpSp>
        <p:sp>
          <p:nvSpPr>
            <p:cNvPr id="46" name="Rounded Rectangle 9088">
              <a:extLst>
                <a:ext uri="{FF2B5EF4-FFF2-40B4-BE49-F238E27FC236}">
                  <a16:creationId xmlns:a16="http://schemas.microsoft.com/office/drawing/2014/main" id="{9D717CA0-C399-4F31-9058-41DFAFCF10CE}"/>
                </a:ext>
              </a:extLst>
            </p:cNvPr>
            <p:cNvSpPr/>
            <p:nvPr/>
          </p:nvSpPr>
          <p:spPr>
            <a:xfrm>
              <a:off x="7646931" y="5303646"/>
              <a:ext cx="2541907" cy="28120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25000"/>
                </a:lnSpc>
              </a:pPr>
              <a:r>
                <a:rPr lang="en-US" altLang="ko-KR" sz="800" b="1" dirty="0">
                  <a:solidFill>
                    <a:srgbClr val="000000"/>
                  </a:solidFill>
                  <a:ea typeface="맑은 고딕"/>
                </a:rPr>
                <a:t>DP2 </a:t>
              </a:r>
              <a:r>
                <a:rPr lang="ko-KR" altLang="en-US" sz="800" b="1" dirty="0">
                  <a:solidFill>
                    <a:srgbClr val="000000"/>
                  </a:solidFill>
                  <a:ea typeface="맑은 고딕"/>
                </a:rPr>
                <a:t>연산 실행 위치 결정</a:t>
              </a:r>
            </a:p>
          </p:txBody>
        </p:sp>
        <p:grpSp>
          <p:nvGrpSpPr>
            <p:cNvPr id="9" name="그룹 8">
              <a:extLst>
                <a:ext uri="{FF2B5EF4-FFF2-40B4-BE49-F238E27FC236}">
                  <a16:creationId xmlns:a16="http://schemas.microsoft.com/office/drawing/2014/main" id="{48170E39-1DD8-4648-99E3-62D740A44360}"/>
                </a:ext>
              </a:extLst>
            </p:cNvPr>
            <p:cNvGrpSpPr/>
            <p:nvPr/>
          </p:nvGrpSpPr>
          <p:grpSpPr>
            <a:xfrm>
              <a:off x="4944323" y="5273033"/>
              <a:ext cx="2476312" cy="153759"/>
              <a:chOff x="4944323" y="5273033"/>
              <a:chExt cx="2476312" cy="153759"/>
            </a:xfrm>
          </p:grpSpPr>
          <p:cxnSp>
            <p:nvCxnSpPr>
              <p:cNvPr id="47" name="Connector 9068">
                <a:extLst>
                  <a:ext uri="{FF2B5EF4-FFF2-40B4-BE49-F238E27FC236}">
                    <a16:creationId xmlns:a16="http://schemas.microsoft.com/office/drawing/2014/main" id="{FE92569E-C6A0-454B-8FFF-0FAEA7EB357C}"/>
                  </a:ext>
                </a:extLst>
              </p:cNvPr>
              <p:cNvCxnSpPr/>
              <p:nvPr/>
            </p:nvCxnSpPr>
            <p:spPr>
              <a:xfrm>
                <a:off x="4944323" y="5426792"/>
                <a:ext cx="2476312" cy="0"/>
              </a:xfrm>
              <a:prstGeom prst="line">
                <a:avLst/>
              </a:prstGeom>
              <a:ln w="158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26C8D6DB-B1C0-44DA-81D0-63B1608EB366}"/>
                  </a:ext>
                </a:extLst>
              </p:cNvPr>
              <p:cNvSpPr txBox="1"/>
              <p:nvPr/>
            </p:nvSpPr>
            <p:spPr>
              <a:xfrm>
                <a:off x="5134577" y="5273033"/>
                <a:ext cx="1948974" cy="123111"/>
              </a:xfrm>
              <a:prstGeom prst="rect">
                <a:avLst/>
              </a:prstGeom>
              <a:noFill/>
            </p:spPr>
            <p:txBody>
              <a:bodyPr wrap="square" lIns="0" tIns="0" rIns="0" bIns="0" anchor="t">
                <a:spAutoFit/>
              </a:bodyPr>
              <a:lstStyle/>
              <a:p>
                <a:r>
                  <a:rPr lang="ko-KR" altLang="en-US" sz="800" b="1" dirty="0">
                    <a:solidFill>
                      <a:srgbClr val="C00000"/>
                    </a:solidFill>
                    <a:ea typeface="맑은 고딕"/>
                  </a:rPr>
                  <a:t>비용 결정 보완 </a:t>
                </a:r>
              </a:p>
            </p:txBody>
          </p:sp>
        </p:grpSp>
      </p:grpSp>
      <p:grpSp>
        <p:nvGrpSpPr>
          <p:cNvPr id="7" name="그룹 6">
            <a:extLst>
              <a:ext uri="{FF2B5EF4-FFF2-40B4-BE49-F238E27FC236}">
                <a16:creationId xmlns:a16="http://schemas.microsoft.com/office/drawing/2014/main" id="{6F82C902-62B8-47CE-8276-F0AA305BD516}"/>
              </a:ext>
            </a:extLst>
          </p:cNvPr>
          <p:cNvGrpSpPr/>
          <p:nvPr/>
        </p:nvGrpSpPr>
        <p:grpSpPr>
          <a:xfrm>
            <a:off x="594360" y="2553635"/>
            <a:ext cx="4054099" cy="685983"/>
            <a:chOff x="763820" y="2416049"/>
            <a:chExt cx="4905460" cy="754581"/>
          </a:xfrm>
        </p:grpSpPr>
        <p:sp>
          <p:nvSpPr>
            <p:cNvPr id="53" name="Rectangle 9076">
              <a:extLst>
                <a:ext uri="{FF2B5EF4-FFF2-40B4-BE49-F238E27FC236}">
                  <a16:creationId xmlns:a16="http://schemas.microsoft.com/office/drawing/2014/main" id="{A2FD34C7-A1EC-4787-9C54-77655593D37D}"/>
                </a:ext>
              </a:extLst>
            </p:cNvPr>
            <p:cNvSpPr/>
            <p:nvPr/>
          </p:nvSpPr>
          <p:spPr>
            <a:xfrm>
              <a:off x="763820" y="2416049"/>
              <a:ext cx="822960" cy="754581"/>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P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Prefill</a:t>
              </a:r>
            </a:p>
          </p:txBody>
        </p:sp>
        <p:sp>
          <p:nvSpPr>
            <p:cNvPr id="55" name="Rectangle 9077">
              <a:extLst>
                <a:ext uri="{FF2B5EF4-FFF2-40B4-BE49-F238E27FC236}">
                  <a16:creationId xmlns:a16="http://schemas.microsoft.com/office/drawing/2014/main" id="{F5C9291A-431C-4833-9CFA-93075FD4A668}"/>
                </a:ext>
              </a:extLst>
            </p:cNvPr>
            <p:cNvSpPr/>
            <p:nvPr/>
          </p:nvSpPr>
          <p:spPr>
            <a:xfrm>
              <a:off x="4787180" y="2450348"/>
              <a:ext cx="882100" cy="685983"/>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a:solidFill>
                    <a:srgbClr val="000000"/>
                  </a:solidFill>
                  <a:latin typeface="맑은 고딕"/>
                  <a:ea typeface="맑은 고딕"/>
                </a:rPr>
                <a:t>D </a:t>
              </a:r>
              <a:r>
                <a:rPr sz="1050" b="1" i="0" dirty="0" err="1">
                  <a:solidFill>
                    <a:srgbClr val="000000"/>
                  </a:solidFill>
                  <a:latin typeface="맑은 고딕"/>
                  <a:ea typeface="맑은 고딕"/>
                </a:rPr>
                <a:t>노드</a:t>
              </a:r>
              <a:endParaRPr sz="1050" b="1" i="0" dirty="0">
                <a:solidFill>
                  <a:srgbClr val="000000"/>
                </a:solidFill>
                <a:latin typeface="맑은 고딕"/>
                <a:ea typeface="맑은 고딕"/>
              </a:endParaRPr>
            </a:p>
            <a:p>
              <a:pPr algn="ctr"/>
              <a:r>
                <a:rPr sz="1050" b="0" i="0" dirty="0">
                  <a:solidFill>
                    <a:srgbClr val="000000"/>
                  </a:solidFill>
                  <a:latin typeface="맑은 고딕"/>
                  <a:ea typeface="맑은 고딕"/>
                </a:rPr>
                <a:t>Decode</a:t>
              </a:r>
            </a:p>
          </p:txBody>
        </p:sp>
        <p:sp>
          <p:nvSpPr>
            <p:cNvPr id="56" name="Rectangle 9078">
              <a:extLst>
                <a:ext uri="{FF2B5EF4-FFF2-40B4-BE49-F238E27FC236}">
                  <a16:creationId xmlns:a16="http://schemas.microsoft.com/office/drawing/2014/main" id="{13E16238-7327-4ACB-81FC-FF2365B72353}"/>
                </a:ext>
              </a:extLst>
            </p:cNvPr>
            <p:cNvSpPr/>
            <p:nvPr/>
          </p:nvSpPr>
          <p:spPr>
            <a:xfrm>
              <a:off x="2272580" y="2418435"/>
              <a:ext cx="1828800" cy="749808"/>
            </a:xfrm>
            <a:prstGeom prst="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i="0" dirty="0" err="1">
                  <a:solidFill>
                    <a:srgbClr val="000000"/>
                  </a:solidFill>
                  <a:latin typeface="맑은 고딕"/>
                  <a:ea typeface="맑은 고딕"/>
                </a:rPr>
                <a:t>공유</a:t>
              </a:r>
              <a:r>
                <a:rPr sz="1050" b="1" i="0" dirty="0">
                  <a:solidFill>
                    <a:srgbClr val="000000"/>
                  </a:solidFill>
                  <a:latin typeface="맑은 고딕"/>
                  <a:ea typeface="맑은 고딕"/>
                </a:rPr>
                <a:t> </a:t>
              </a:r>
              <a:r>
                <a:rPr lang="ko-KR" altLang="en-US" sz="1050" b="1" i="0" dirty="0">
                  <a:solidFill>
                    <a:srgbClr val="000000"/>
                  </a:solidFill>
                  <a:latin typeface="맑은 고딕"/>
                  <a:ea typeface="맑은 고딕"/>
                </a:rPr>
                <a:t>메모리 </a:t>
              </a:r>
              <a:r>
                <a:rPr sz="1050" b="1" i="0" dirty="0">
                  <a:solidFill>
                    <a:srgbClr val="000000"/>
                  </a:solidFill>
                  <a:latin typeface="맑은 고딕"/>
                  <a:ea typeface="맑은 고딕"/>
                </a:rPr>
                <a:t>풀</a:t>
              </a:r>
            </a:p>
          </p:txBody>
        </p:sp>
        <p:cxnSp>
          <p:nvCxnSpPr>
            <p:cNvPr id="65" name="Connector 9079">
              <a:extLst>
                <a:ext uri="{FF2B5EF4-FFF2-40B4-BE49-F238E27FC236}">
                  <a16:creationId xmlns:a16="http://schemas.microsoft.com/office/drawing/2014/main" id="{C49BF8B3-A884-4B88-8C27-E1865DBC0C46}"/>
                </a:ext>
              </a:extLst>
            </p:cNvPr>
            <p:cNvCxnSpPr>
              <a:cxnSpLocks/>
            </p:cNvCxnSpPr>
            <p:nvPr/>
          </p:nvCxnSpPr>
          <p:spPr>
            <a:xfrm>
              <a:off x="1586780" y="26470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66" name="Connector 9080">
              <a:extLst>
                <a:ext uri="{FF2B5EF4-FFF2-40B4-BE49-F238E27FC236}">
                  <a16:creationId xmlns:a16="http://schemas.microsoft.com/office/drawing/2014/main" id="{57597900-E8D1-4E4E-8E2F-3337AB73FBA6}"/>
                </a:ext>
              </a:extLst>
            </p:cNvPr>
            <p:cNvCxnSpPr>
              <a:cxnSpLocks/>
            </p:cNvCxnSpPr>
            <p:nvPr/>
          </p:nvCxnSpPr>
          <p:spPr>
            <a:xfrm>
              <a:off x="4101380" y="264703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9081">
              <a:extLst>
                <a:ext uri="{FF2B5EF4-FFF2-40B4-BE49-F238E27FC236}">
                  <a16:creationId xmlns:a16="http://schemas.microsoft.com/office/drawing/2014/main" id="{F5770858-6D38-4831-BA52-C9E87C611279}"/>
                </a:ext>
              </a:extLst>
            </p:cNvPr>
            <p:cNvCxnSpPr>
              <a:cxnSpLocks/>
            </p:cNvCxnSpPr>
            <p:nvPr/>
          </p:nvCxnSpPr>
          <p:spPr>
            <a:xfrm flipH="1">
              <a:off x="1586780" y="2967075"/>
              <a:ext cx="68580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E02C441F-9EFC-4F41-B6A0-44D9A8C0E1A5}"/>
                </a:ext>
              </a:extLst>
            </p:cNvPr>
            <p:cNvSpPr txBox="1"/>
            <p:nvPr/>
          </p:nvSpPr>
          <p:spPr>
            <a:xfrm>
              <a:off x="1586780" y="2482444"/>
              <a:ext cx="77724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publish</a:t>
              </a:r>
            </a:p>
          </p:txBody>
        </p:sp>
        <p:sp>
          <p:nvSpPr>
            <p:cNvPr id="70" name="TextBox 69">
              <a:extLst>
                <a:ext uri="{FF2B5EF4-FFF2-40B4-BE49-F238E27FC236}">
                  <a16:creationId xmlns:a16="http://schemas.microsoft.com/office/drawing/2014/main" id="{CB88AE75-F84C-4054-A880-0D9648F5C265}"/>
                </a:ext>
              </a:extLst>
            </p:cNvPr>
            <p:cNvSpPr txBox="1"/>
            <p:nvPr/>
          </p:nvSpPr>
          <p:spPr>
            <a:xfrm>
              <a:off x="4101380" y="2482444"/>
              <a:ext cx="685800" cy="138499"/>
            </a:xfrm>
            <a:prstGeom prst="rect">
              <a:avLst/>
            </a:prstGeom>
            <a:noFill/>
          </p:spPr>
          <p:txBody>
            <a:bodyPr wrap="square" lIns="0" tIns="0" rIns="0" bIns="0" anchor="t">
              <a:spAutoFit/>
            </a:bodyPr>
            <a:lstStyle/>
            <a:p>
              <a:pPr algn="ctr"/>
              <a:r>
                <a:rPr sz="900" b="1" i="0">
                  <a:solidFill>
                    <a:srgbClr val="2F5597"/>
                  </a:solidFill>
                  <a:latin typeface="맑은 고딕"/>
                  <a:ea typeface="맑은 고딕"/>
                </a:rPr>
                <a:t>read</a:t>
              </a:r>
            </a:p>
          </p:txBody>
        </p:sp>
        <p:sp>
          <p:nvSpPr>
            <p:cNvPr id="71" name="TextBox 70">
              <a:extLst>
                <a:ext uri="{FF2B5EF4-FFF2-40B4-BE49-F238E27FC236}">
                  <a16:creationId xmlns:a16="http://schemas.microsoft.com/office/drawing/2014/main" id="{DE843700-1364-4B95-A794-07A39DB87EF6}"/>
                </a:ext>
              </a:extLst>
            </p:cNvPr>
            <p:cNvSpPr txBox="1"/>
            <p:nvPr/>
          </p:nvSpPr>
          <p:spPr>
            <a:xfrm>
              <a:off x="1586780" y="2985363"/>
              <a:ext cx="777240" cy="138499"/>
            </a:xfrm>
            <a:prstGeom prst="rect">
              <a:avLst/>
            </a:prstGeom>
            <a:noFill/>
          </p:spPr>
          <p:txBody>
            <a:bodyPr wrap="square" lIns="0" tIns="0" rIns="0" bIns="0" anchor="t">
              <a:spAutoFit/>
            </a:bodyPr>
            <a:lstStyle/>
            <a:p>
              <a:pPr algn="ctr"/>
              <a:r>
                <a:rPr sz="900" b="1" i="0" dirty="0">
                  <a:solidFill>
                    <a:srgbClr val="2F5597"/>
                  </a:solidFill>
                  <a:latin typeface="맑은 고딕"/>
                  <a:ea typeface="맑은 고딕"/>
                </a:rPr>
                <a:t>read(</a:t>
              </a:r>
              <a:r>
                <a:rPr sz="900" b="1" i="0" dirty="0" err="1">
                  <a:solidFill>
                    <a:srgbClr val="2F5597"/>
                  </a:solidFill>
                  <a:latin typeface="맑은 고딕"/>
                  <a:ea typeface="맑은 고딕"/>
                </a:rPr>
                <a:t>다음</a:t>
              </a:r>
              <a:r>
                <a:rPr sz="900" b="1" i="0" dirty="0">
                  <a:solidFill>
                    <a:srgbClr val="2F5597"/>
                  </a:solidFill>
                  <a:latin typeface="맑은 고딕"/>
                  <a:ea typeface="맑은 고딕"/>
                </a:rPr>
                <a:t>)</a:t>
              </a:r>
            </a:p>
          </p:txBody>
        </p:sp>
      </p:grpSp>
      <p:sp>
        <p:nvSpPr>
          <p:cNvPr id="72" name="TextBox 71">
            <a:extLst>
              <a:ext uri="{FF2B5EF4-FFF2-40B4-BE49-F238E27FC236}">
                <a16:creationId xmlns:a16="http://schemas.microsoft.com/office/drawing/2014/main" id="{05DA41A9-CCA8-46B5-9B4D-70990D5990F0}"/>
              </a:ext>
            </a:extLst>
          </p:cNvPr>
          <p:cNvSpPr txBox="1"/>
          <p:nvPr/>
        </p:nvSpPr>
        <p:spPr>
          <a:xfrm>
            <a:off x="673364" y="3513673"/>
            <a:ext cx="3847213" cy="461665"/>
          </a:xfrm>
          <a:prstGeom prst="rect">
            <a:avLst/>
          </a:prstGeom>
          <a:noFill/>
        </p:spPr>
        <p:txBody>
          <a:bodyPr wrap="square" lIns="0" tIns="0" rIns="0" bIns="0" anchor="t">
            <a:spAutoFit/>
          </a:bodyPr>
          <a:lstStyle/>
          <a:p>
            <a:pPr algn="ctr">
              <a:lnSpc>
                <a:spcPct val="150000"/>
              </a:lnSpc>
            </a:pPr>
            <a:r>
              <a:rPr lang="ko-KR" altLang="en-US" sz="1050" b="1" i="0" dirty="0">
                <a:latin typeface="맑은 고딕"/>
                <a:ea typeface="맑은 고딕"/>
              </a:rPr>
              <a:t>데이터 </a:t>
            </a:r>
            <a:r>
              <a:rPr sz="1050" b="1" i="0" dirty="0" err="1">
                <a:latin typeface="맑은 고딕"/>
                <a:ea typeface="맑은 고딕"/>
              </a:rPr>
              <a:t>위치가</a:t>
            </a:r>
            <a:r>
              <a:rPr sz="1050" b="1" i="0" dirty="0">
                <a:latin typeface="맑은 고딕"/>
                <a:ea typeface="맑은 고딕"/>
              </a:rPr>
              <a:t> </a:t>
            </a:r>
            <a:r>
              <a:rPr sz="1050" b="1" i="0" dirty="0" err="1">
                <a:latin typeface="맑은 고딕"/>
                <a:ea typeface="맑은 고딕"/>
              </a:rPr>
              <a:t>노드에</a:t>
            </a:r>
            <a:r>
              <a:rPr sz="1050" b="1" i="0" dirty="0">
                <a:latin typeface="맑은 고딕"/>
                <a:ea typeface="맑은 고딕"/>
              </a:rPr>
              <a:t> </a:t>
            </a:r>
            <a:r>
              <a:rPr sz="1050" b="1" i="0" dirty="0" err="1">
                <a:latin typeface="맑은 고딕"/>
                <a:ea typeface="맑은 고딕"/>
              </a:rPr>
              <a:t>묶이지</a:t>
            </a:r>
            <a:r>
              <a:rPr sz="1050" b="1" i="0" dirty="0">
                <a:latin typeface="맑은 고딕"/>
                <a:ea typeface="맑은 고딕"/>
              </a:rPr>
              <a:t> </a:t>
            </a:r>
            <a:r>
              <a:rPr sz="1050" b="1" i="0" dirty="0" err="1">
                <a:latin typeface="맑은 고딕"/>
                <a:ea typeface="맑은 고딕"/>
              </a:rPr>
              <a:t>않고</a:t>
            </a:r>
            <a:r>
              <a:rPr sz="1050" b="1" i="0" dirty="0">
                <a:latin typeface="맑은 고딕"/>
                <a:ea typeface="맑은 고딕"/>
              </a:rPr>
              <a:t> </a:t>
            </a:r>
            <a:r>
              <a:rPr sz="1050" b="1" i="0" dirty="0" err="1">
                <a:latin typeface="맑은 고딕"/>
                <a:ea typeface="맑은 고딕"/>
              </a:rPr>
              <a:t>요청</a:t>
            </a:r>
            <a:r>
              <a:rPr sz="1050" b="1" i="0" dirty="0">
                <a:latin typeface="맑은 고딕"/>
                <a:ea typeface="맑은 고딕"/>
              </a:rPr>
              <a:t> 간 </a:t>
            </a:r>
            <a:r>
              <a:rPr sz="1050" b="1" i="0" dirty="0" err="1">
                <a:latin typeface="맑은 고딕"/>
                <a:ea typeface="맑은 고딕"/>
              </a:rPr>
              <a:t>공유</a:t>
            </a:r>
            <a:r>
              <a:rPr sz="1050" b="1" i="0" dirty="0">
                <a:latin typeface="맑은 고딕"/>
                <a:ea typeface="맑은 고딕"/>
              </a:rPr>
              <a:t> </a:t>
            </a:r>
            <a:r>
              <a:rPr sz="1050" b="1" i="0" dirty="0" err="1">
                <a:latin typeface="맑은 고딕"/>
                <a:ea typeface="맑은 고딕"/>
              </a:rPr>
              <a:t>가능</a:t>
            </a:r>
            <a:r>
              <a:rPr sz="1050" b="1" i="0" dirty="0">
                <a:latin typeface="맑은 고딕"/>
                <a:ea typeface="맑은 고딕"/>
              </a:rPr>
              <a:t> </a:t>
            </a:r>
            <a:endParaRPr lang="en-US" sz="1050" b="1" i="0" dirty="0">
              <a:latin typeface="맑은 고딕"/>
              <a:ea typeface="맑은 고딕"/>
            </a:endParaRPr>
          </a:p>
          <a:p>
            <a:pPr algn="ctr">
              <a:lnSpc>
                <a:spcPct val="150000"/>
              </a:lnSpc>
            </a:pPr>
            <a:r>
              <a:rPr sz="1050" b="1" i="0" dirty="0">
                <a:latin typeface="맑은 고딕"/>
                <a:ea typeface="맑은 고딕"/>
              </a:rPr>
              <a:t>→ </a:t>
            </a:r>
            <a:r>
              <a:rPr lang="ko-KR" altLang="en-US" sz="1050" b="1" i="0" dirty="0">
                <a:latin typeface="맑은 고딕"/>
                <a:ea typeface="맑은 고딕"/>
              </a:rPr>
              <a:t>노드 간의 </a:t>
            </a:r>
            <a:r>
              <a:rPr lang="ko-KR" altLang="en-US" sz="1050" b="1" dirty="0">
                <a:latin typeface="맑은 고딕"/>
                <a:ea typeface="맑은 고딕"/>
              </a:rPr>
              <a:t>데이터 </a:t>
            </a:r>
            <a:r>
              <a:rPr lang="en-US" altLang="ko-KR" sz="1050" b="1" dirty="0">
                <a:latin typeface="맑은 고딕"/>
                <a:ea typeface="맑은 고딕"/>
              </a:rPr>
              <a:t>Coherency</a:t>
            </a:r>
            <a:r>
              <a:rPr lang="ko-KR" altLang="en-US" sz="1050" b="1" dirty="0">
                <a:latin typeface="맑은 고딕"/>
                <a:ea typeface="맑은 고딕"/>
              </a:rPr>
              <a:t>를 보장하는 것이 관건 </a:t>
            </a:r>
            <a:endParaRPr lang="en-US" altLang="ko-KR" sz="1050" b="1" dirty="0">
              <a:latin typeface="맑은 고딕"/>
              <a:ea typeface="맑은 고딕"/>
            </a:endParaRPr>
          </a:p>
        </p:txBody>
      </p:sp>
      <p:pic>
        <p:nvPicPr>
          <p:cNvPr id="6" name="그림 5">
            <a:extLst>
              <a:ext uri="{FF2B5EF4-FFF2-40B4-BE49-F238E27FC236}">
                <a16:creationId xmlns:a16="http://schemas.microsoft.com/office/drawing/2014/main" id="{7CCC717D-732B-40DA-8D9C-EC85EBBD7562}"/>
              </a:ext>
            </a:extLst>
          </p:cNvPr>
          <p:cNvPicPr>
            <a:picLocks noChangeAspect="1"/>
          </p:cNvPicPr>
          <p:nvPr/>
        </p:nvPicPr>
        <p:blipFill>
          <a:blip r:embed="rId3"/>
          <a:stretch>
            <a:fillRect/>
          </a:stretch>
        </p:blipFill>
        <p:spPr>
          <a:xfrm>
            <a:off x="5300126" y="2360198"/>
            <a:ext cx="6582425" cy="2588594"/>
          </a:xfrm>
          <a:prstGeom prst="rect">
            <a:avLst/>
          </a:prstGeom>
        </p:spPr>
      </p:pic>
      <p:sp>
        <p:nvSpPr>
          <p:cNvPr id="44" name="모서리가 둥근 직사각형 43"/>
          <p:cNvSpPr/>
          <p:nvPr/>
        </p:nvSpPr>
        <p:spPr>
          <a:xfrm>
            <a:off x="2952206" y="2624898"/>
            <a:ext cx="2958737" cy="1339679"/>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bg1"/>
                </a:solidFill>
              </a:rPr>
              <a:t>배경 일반적 접근</a:t>
            </a:r>
          </a:p>
        </p:txBody>
      </p:sp>
    </p:spTree>
    <p:extLst>
      <p:ext uri="{BB962C8B-B14F-4D97-AF65-F5344CB8AC3E}">
        <p14:creationId xmlns:p14="http://schemas.microsoft.com/office/powerpoint/2010/main" val="61191275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배경 </a:t>
            </a:r>
            <a:endParaRPr lang="en-US" altLang="ko-KR" dirty="0"/>
          </a:p>
        </p:txBody>
      </p:sp>
      <p:sp>
        <p:nvSpPr>
          <p:cNvPr id="79" name="Text 22"/>
          <p:cNvSpPr/>
          <p:nvPr/>
        </p:nvSpPr>
        <p:spPr>
          <a:xfrm>
            <a:off x="359582" y="634765"/>
            <a:ext cx="11687638" cy="875444"/>
          </a:xfrm>
          <a:prstGeom prst="rect">
            <a:avLst/>
          </a:prstGeom>
          <a:noFill/>
          <a:ln/>
        </p:spPr>
        <p:txBody>
          <a:bodyPr wrap="square" lIns="0" tIns="0" rIns="0" bIns="0" rtlCol="0" anchor="t"/>
          <a:lstStyle/>
          <a:p>
            <a:pPr marL="285750" indent="-285750">
              <a:lnSpc>
                <a:spcPct val="150000"/>
              </a:lnSpc>
              <a:buFontTx/>
              <a:buChar char="-"/>
            </a:pPr>
            <a:r>
              <a:rPr lang="ko-KR" altLang="en-US" sz="1200" dirty="0">
                <a:latin typeface="맑은 고딕" panose="020B0503020000020004" pitchFamily="50" charset="-127"/>
              </a:rPr>
              <a:t>이기종 메모리 </a:t>
            </a:r>
            <a:r>
              <a:rPr lang="en-US" altLang="ko-KR" sz="1200" dirty="0">
                <a:latin typeface="맑은 고딕" panose="020B0503020000020004" pitchFamily="50" charset="-127"/>
              </a:rPr>
              <a:t>tier</a:t>
            </a:r>
            <a:r>
              <a:rPr lang="ko-KR" altLang="en-US" sz="1200" dirty="0">
                <a:latin typeface="맑은 고딕" panose="020B0503020000020004" pitchFamily="50" charset="-127"/>
              </a:rPr>
              <a:t>에 데이터를 분산 배치하더라도 </a:t>
            </a:r>
            <a:r>
              <a:rPr lang="en-US" altLang="ko-KR" sz="1200" b="1" dirty="0">
                <a:solidFill>
                  <a:srgbClr val="FF0000"/>
                </a:solidFill>
                <a:latin typeface="맑은 고딕" panose="020B0503020000020004" pitchFamily="50" charset="-127"/>
              </a:rPr>
              <a:t>KV </a:t>
            </a:r>
            <a:r>
              <a:rPr lang="ko-KR" altLang="en-US" sz="1200" b="1" dirty="0">
                <a:solidFill>
                  <a:srgbClr val="FF0000"/>
                </a:solidFill>
                <a:latin typeface="맑은 고딕" panose="020B0503020000020004" pitchFamily="50" charset="-127"/>
              </a:rPr>
              <a:t>캐시는 여전히 </a:t>
            </a:r>
            <a:r>
              <a:rPr lang="en-US" altLang="ko-KR" sz="1200" b="1" dirty="0">
                <a:solidFill>
                  <a:srgbClr val="FF0000"/>
                </a:solidFill>
                <a:latin typeface="맑은 고딕" panose="020B0503020000020004" pitchFamily="50" charset="-127"/>
              </a:rPr>
              <a:t>AI </a:t>
            </a:r>
            <a:r>
              <a:rPr lang="ko-KR" altLang="en-US" sz="1200" b="1" dirty="0">
                <a:solidFill>
                  <a:srgbClr val="FF0000"/>
                </a:solidFill>
                <a:latin typeface="맑은 고딕" panose="020B0503020000020004" pitchFamily="50" charset="-127"/>
              </a:rPr>
              <a:t>추론 시스템의 주요 병목</a:t>
            </a:r>
            <a:r>
              <a:rPr lang="ko-KR" altLang="en-US" sz="1200" dirty="0">
                <a:latin typeface="맑은 고딕" panose="020B0503020000020004" pitchFamily="50" charset="-127"/>
              </a:rPr>
              <a:t>으로 작용</a:t>
            </a:r>
            <a:endParaRPr lang="en-US" altLang="ko-KR" sz="1200" dirty="0">
              <a:latin typeface="맑은 고딕" panose="020B0503020000020004" pitchFamily="50" charset="-127"/>
            </a:endParaRPr>
          </a:p>
          <a:p>
            <a:pPr marL="285750" indent="-285750">
              <a:lnSpc>
                <a:spcPct val="150000"/>
              </a:lnSpc>
              <a:buFontTx/>
              <a:buChar char="-"/>
            </a:pPr>
            <a:r>
              <a:rPr lang="ko-KR" altLang="en-US" sz="1200" dirty="0">
                <a:latin typeface="맑은 고딕" panose="020B0503020000020004" pitchFamily="50" charset="-127"/>
              </a:rPr>
              <a:t>동일 </a:t>
            </a:r>
            <a:r>
              <a:rPr lang="en-US" altLang="ko-KR" sz="1200" dirty="0">
                <a:latin typeface="맑은 고딕" panose="020B0503020000020004" pitchFamily="50" charset="-127"/>
              </a:rPr>
              <a:t>Context</a:t>
            </a:r>
            <a:r>
              <a:rPr lang="ko-KR" altLang="en-US" sz="1200" dirty="0">
                <a:latin typeface="맑은 고딕" panose="020B0503020000020004" pitchFamily="50" charset="-127"/>
              </a:rPr>
              <a:t>의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재사용으로 </a:t>
            </a:r>
            <a:r>
              <a:rPr lang="en-US" altLang="ko-KR" sz="1200" dirty="0">
                <a:latin typeface="맑은 고딕" panose="020B0503020000020004" pitchFamily="50" charset="-127"/>
              </a:rPr>
              <a:t>Prefill </a:t>
            </a:r>
            <a:r>
              <a:rPr lang="ko-KR" altLang="en-US" sz="1200" dirty="0">
                <a:latin typeface="맑은 고딕" panose="020B0503020000020004" pitchFamily="50" charset="-127"/>
              </a:rPr>
              <a:t>연산을 생략할 수 있으나 </a:t>
            </a:r>
            <a:r>
              <a:rPr lang="en-US" altLang="ko-KR" sz="1200" dirty="0">
                <a:latin typeface="맑은 고딕" panose="020B0503020000020004" pitchFamily="50" charset="-127"/>
              </a:rPr>
              <a:t>Prefix </a:t>
            </a:r>
            <a:r>
              <a:rPr lang="ko-KR" altLang="en-US" sz="1200" dirty="0">
                <a:latin typeface="맑은 고딕" panose="020B0503020000020004" pitchFamily="50" charset="-127"/>
              </a:rPr>
              <a:t>일치 조건으로 인해 </a:t>
            </a:r>
            <a:r>
              <a:rPr lang="ko-KR" altLang="en-US" sz="1200" dirty="0" err="1">
                <a:latin typeface="맑은 고딕" panose="020B0503020000020004" pitchFamily="50" charset="-127"/>
              </a:rPr>
              <a:t>재사용률이</a:t>
            </a:r>
            <a:r>
              <a:rPr lang="ko-KR" altLang="en-US" sz="1200" dirty="0">
                <a:latin typeface="맑은 고딕" panose="020B0503020000020004" pitchFamily="50" charset="-127"/>
              </a:rPr>
              <a:t> 제한적</a:t>
            </a:r>
            <a:endParaRPr lang="en-US" altLang="ko-KR" sz="1200" dirty="0">
              <a:latin typeface="맑은 고딕" panose="020B0503020000020004" pitchFamily="50" charset="-127"/>
            </a:endParaRPr>
          </a:p>
          <a:p>
            <a:pPr marL="285750" indent="-285750">
              <a:lnSpc>
                <a:spcPct val="150000"/>
              </a:lnSpc>
              <a:buFontTx/>
              <a:buChar char="-"/>
            </a:pPr>
            <a:r>
              <a:rPr lang="ko-KR" altLang="en-US" sz="1200" dirty="0">
                <a:latin typeface="맑은 고딕" panose="020B0503020000020004" pitchFamily="50" charset="-127"/>
              </a:rPr>
              <a:t>토큰 순서에 유연하게 </a:t>
            </a:r>
            <a:r>
              <a:rPr lang="en-US" altLang="ko-KR" sz="1200" dirty="0">
                <a:latin typeface="맑은 고딕" panose="020B0503020000020004" pitchFamily="50" charset="-127"/>
              </a:rPr>
              <a:t>KV </a:t>
            </a:r>
            <a:r>
              <a:rPr lang="ko-KR" altLang="en-US" sz="1200" dirty="0">
                <a:latin typeface="맑은 고딕" panose="020B0503020000020004" pitchFamily="50" charset="-127"/>
              </a:rPr>
              <a:t>캐시 </a:t>
            </a:r>
            <a:r>
              <a:rPr lang="ko-KR" altLang="en-US" sz="1200" dirty="0" err="1">
                <a:latin typeface="맑은 고딕" panose="020B0503020000020004" pitchFamily="50" charset="-127"/>
              </a:rPr>
              <a:t>재사용률은</a:t>
            </a:r>
            <a:r>
              <a:rPr lang="ko-KR" altLang="en-US" sz="1200" dirty="0">
                <a:latin typeface="맑은 고딕" panose="020B0503020000020004" pitchFamily="50" charset="-127"/>
              </a:rPr>
              <a:t> 높이되</a:t>
            </a:r>
            <a:r>
              <a:rPr lang="en-US" altLang="ko-KR" sz="1200" dirty="0">
                <a:latin typeface="맑은 고딕" panose="020B0503020000020004" pitchFamily="50" charset="-127"/>
              </a:rPr>
              <a:t>, </a:t>
            </a:r>
            <a:r>
              <a:rPr lang="ko-KR" altLang="en-US" sz="1200" dirty="0">
                <a:latin typeface="맑은 고딕" panose="020B0503020000020004" pitchFamily="50" charset="-127"/>
              </a:rPr>
              <a:t>필요한 부분만 선택적으로 재계산하여 정확도를 보장하는 구조 필요 </a:t>
            </a:r>
            <a:endParaRPr lang="en-US" altLang="ko-KR" sz="1200" dirty="0">
              <a:latin typeface="맑은 고딕" panose="020B0503020000020004" pitchFamily="50" charset="-127"/>
            </a:endParaRPr>
          </a:p>
        </p:txBody>
      </p:sp>
      <p:sp>
        <p:nvSpPr>
          <p:cNvPr id="9062" name="Rectangle 9061"/>
          <p:cNvSpPr/>
          <p:nvPr/>
        </p:nvSpPr>
        <p:spPr>
          <a:xfrm>
            <a:off x="426284" y="1677714"/>
            <a:ext cx="5440680" cy="3299712"/>
          </a:xfrm>
          <a:prstGeom prst="rect">
            <a:avLst/>
          </a:prstGeom>
          <a:solidFill>
            <a:srgbClr val="FAFAFA"/>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9064" name="Rectangle 9063"/>
          <p:cNvSpPr/>
          <p:nvPr/>
        </p:nvSpPr>
        <p:spPr>
          <a:xfrm>
            <a:off x="6355080" y="1677713"/>
            <a:ext cx="5440680" cy="3299713"/>
          </a:xfrm>
          <a:prstGeom prst="rect">
            <a:avLst/>
          </a:prstGeom>
          <a:solidFill>
            <a:srgbClr val="FFF8F3"/>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9065" name="Rounded Rectangle 9064"/>
          <p:cNvSpPr/>
          <p:nvPr/>
        </p:nvSpPr>
        <p:spPr>
          <a:xfrm>
            <a:off x="6687803" y="1798529"/>
            <a:ext cx="4697755" cy="237744"/>
          </a:xfrm>
          <a:prstGeom prst="round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1000" b="1" i="0" dirty="0">
                <a:solidFill>
                  <a:srgbClr val="FFFFFF"/>
                </a:solidFill>
                <a:latin typeface="맑은 고딕"/>
                <a:ea typeface="맑은 고딕"/>
              </a:rPr>
              <a:t>재사용 </a:t>
            </a:r>
            <a:r>
              <a:rPr lang="en-US" altLang="ko-KR" sz="1000" b="1" dirty="0">
                <a:solidFill>
                  <a:srgbClr val="FFFFFF"/>
                </a:solidFill>
                <a:latin typeface="맑은 고딕"/>
                <a:ea typeface="맑은 고딕"/>
              </a:rPr>
              <a:t>+ </a:t>
            </a:r>
            <a:r>
              <a:rPr lang="ko-KR" altLang="en-US" sz="1000" b="1" dirty="0">
                <a:solidFill>
                  <a:srgbClr val="FFFFFF"/>
                </a:solidFill>
                <a:latin typeface="맑은 고딕"/>
                <a:ea typeface="맑은 고딕"/>
              </a:rPr>
              <a:t>선택적 재계산 </a:t>
            </a:r>
            <a:r>
              <a:rPr lang="en-US" altLang="ko-KR" sz="1000" b="1" i="0" dirty="0">
                <a:solidFill>
                  <a:srgbClr val="FFFFFF"/>
                </a:solidFill>
                <a:latin typeface="맑은 고딕"/>
                <a:ea typeface="맑은 고딕"/>
              </a:rPr>
              <a:t>(Blending)</a:t>
            </a:r>
            <a:endParaRPr sz="1000" b="1" i="0" dirty="0">
              <a:solidFill>
                <a:srgbClr val="FFFFFF"/>
              </a:solidFill>
              <a:latin typeface="맑은 고딕"/>
              <a:ea typeface="맑은 고딕"/>
            </a:endParaRPr>
          </a:p>
        </p:txBody>
      </p:sp>
      <p:sp>
        <p:nvSpPr>
          <p:cNvPr id="9066" name="Right Arrow 9065"/>
          <p:cNvSpPr/>
          <p:nvPr/>
        </p:nvSpPr>
        <p:spPr>
          <a:xfrm>
            <a:off x="5943600" y="3083927"/>
            <a:ext cx="365760" cy="457200"/>
          </a:xfrm>
          <a:prstGeom prst="rightArrow">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141" name="TextBox 9140"/>
          <p:cNvSpPr txBox="1"/>
          <p:nvPr/>
        </p:nvSpPr>
        <p:spPr>
          <a:xfrm>
            <a:off x="438495" y="5133393"/>
            <a:ext cx="5486400" cy="184666"/>
          </a:xfrm>
          <a:prstGeom prst="rect">
            <a:avLst/>
          </a:prstGeom>
          <a:noFill/>
        </p:spPr>
        <p:txBody>
          <a:bodyPr wrap="square" lIns="0" tIns="0" rIns="0" bIns="0" anchor="t">
            <a:spAutoFit/>
          </a:bodyPr>
          <a:lstStyle/>
          <a:p>
            <a:pPr algn="l"/>
            <a:r>
              <a:rPr sz="1200" b="1" i="0" dirty="0">
                <a:solidFill>
                  <a:srgbClr val="404040"/>
                </a:solidFill>
                <a:latin typeface="맑은 고딕"/>
                <a:ea typeface="맑은 고딕"/>
              </a:rPr>
              <a:t>KV </a:t>
            </a:r>
            <a:r>
              <a:rPr sz="1200" b="1" i="0" dirty="0" err="1">
                <a:solidFill>
                  <a:srgbClr val="404040"/>
                </a:solidFill>
                <a:latin typeface="맑은 고딕"/>
                <a:ea typeface="맑은 고딕"/>
              </a:rPr>
              <a:t>수명주기</a:t>
            </a:r>
            <a:endParaRPr sz="1200" b="1" i="0" dirty="0">
              <a:solidFill>
                <a:srgbClr val="404040"/>
              </a:solidFill>
              <a:latin typeface="맑은 고딕"/>
              <a:ea typeface="맑은 고딕"/>
            </a:endParaRPr>
          </a:p>
        </p:txBody>
      </p:sp>
      <p:sp>
        <p:nvSpPr>
          <p:cNvPr id="9142" name="Rounded Rectangle 9141"/>
          <p:cNvSpPr/>
          <p:nvPr/>
        </p:nvSpPr>
        <p:spPr>
          <a:xfrm>
            <a:off x="438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생</a:t>
            </a:r>
            <a:r>
              <a:rPr lang="ko-KR" altLang="en-US" sz="1200" b="1" i="0" dirty="0">
                <a:solidFill>
                  <a:srgbClr val="000000"/>
                </a:solidFill>
                <a:latin typeface="맑은 고딕"/>
                <a:ea typeface="맑은 고딕"/>
              </a:rPr>
              <a:t>성</a:t>
            </a:r>
            <a:endParaRPr sz="1200" b="1" i="0" dirty="0">
              <a:solidFill>
                <a:srgbClr val="000000"/>
              </a:solidFill>
              <a:latin typeface="맑은 고딕"/>
              <a:ea typeface="맑은 고딕"/>
            </a:endParaRPr>
          </a:p>
        </p:txBody>
      </p:sp>
      <p:cxnSp>
        <p:nvCxnSpPr>
          <p:cNvPr id="9143" name="Connector 9142"/>
          <p:cNvCxnSpPr/>
          <p:nvPr/>
        </p:nvCxnSpPr>
        <p:spPr>
          <a:xfrm>
            <a:off x="2450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4" name="Rounded Rectangle 9143"/>
          <p:cNvSpPr/>
          <p:nvPr/>
        </p:nvSpPr>
        <p:spPr>
          <a:xfrm>
            <a:off x="2724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a:t>
            </a:r>
            <a:r>
              <a:rPr sz="1200" b="1" i="0" dirty="0" err="1">
                <a:solidFill>
                  <a:srgbClr val="000000"/>
                </a:solidFill>
                <a:latin typeface="맑은 고딕"/>
                <a:ea typeface="맑은 고딕"/>
              </a:rPr>
              <a:t>배치·이동</a:t>
            </a:r>
            <a:r>
              <a:rPr lang="en-US" sz="1200" b="1" i="0" dirty="0">
                <a:solidFill>
                  <a:srgbClr val="000000"/>
                </a:solidFill>
                <a:latin typeface="맑은 고딕"/>
                <a:ea typeface="맑은 고딕"/>
              </a:rPr>
              <a:t> </a:t>
            </a:r>
            <a:endParaRPr sz="1200" b="1" i="0" dirty="0">
              <a:solidFill>
                <a:srgbClr val="000000"/>
              </a:solidFill>
              <a:latin typeface="맑은 고딕"/>
              <a:ea typeface="맑은 고딕"/>
            </a:endParaRPr>
          </a:p>
          <a:p>
            <a:pPr algn="ctr">
              <a:lnSpc>
                <a:spcPct val="150000"/>
              </a:lnSpc>
            </a:pPr>
            <a:r>
              <a:rPr sz="1050" b="0" i="0" dirty="0" err="1">
                <a:solidFill>
                  <a:srgbClr val="000000"/>
                </a:solidFill>
                <a:latin typeface="맑은 고딕"/>
                <a:ea typeface="맑은 고딕"/>
              </a:rPr>
              <a:t>어느</a:t>
            </a:r>
            <a:r>
              <a:rPr sz="1050" b="0" i="0" dirty="0">
                <a:solidFill>
                  <a:srgbClr val="000000"/>
                </a:solidFill>
                <a:latin typeface="맑은 고딕"/>
                <a:ea typeface="맑은 고딕"/>
              </a:rPr>
              <a:t> </a:t>
            </a:r>
            <a:r>
              <a:rPr sz="1050" b="0" i="0" dirty="0" err="1">
                <a:solidFill>
                  <a:srgbClr val="000000"/>
                </a:solidFill>
                <a:latin typeface="맑은 고딕"/>
                <a:ea typeface="맑은 고딕"/>
              </a:rPr>
              <a:t>tier에</a:t>
            </a:r>
            <a:r>
              <a:rPr sz="1050" b="0" i="0" dirty="0">
                <a:solidFill>
                  <a:srgbClr val="000000"/>
                </a:solidFill>
                <a:latin typeface="맑은 고딕"/>
                <a:ea typeface="맑은 고딕"/>
              </a:rPr>
              <a:t> </a:t>
            </a:r>
            <a:r>
              <a:rPr sz="1050" b="0" i="0" dirty="0" err="1">
                <a:solidFill>
                  <a:srgbClr val="000000"/>
                </a:solidFill>
                <a:latin typeface="맑은 고딕"/>
                <a:ea typeface="맑은 고딕"/>
              </a:rPr>
              <a:t>둘지</a:t>
            </a:r>
            <a:r>
              <a:rPr lang="en-US" sz="1050" b="0" i="0" dirty="0">
                <a:solidFill>
                  <a:srgbClr val="000000"/>
                </a:solidFill>
                <a:latin typeface="맑은 고딕"/>
                <a:ea typeface="맑은 고딕"/>
              </a:rPr>
              <a:t>(</a:t>
            </a:r>
            <a:r>
              <a:rPr sz="1050" b="0" i="0" dirty="0">
                <a:solidFill>
                  <a:srgbClr val="000000"/>
                </a:solidFill>
                <a:latin typeface="맑은 고딕"/>
                <a:ea typeface="맑은 고딕"/>
              </a:rPr>
              <a:t>DP1</a:t>
            </a:r>
            <a:r>
              <a:rPr lang="en-US" sz="1050" b="0" i="0" dirty="0">
                <a:solidFill>
                  <a:srgbClr val="000000"/>
                </a:solidFill>
                <a:latin typeface="맑은 고딕"/>
                <a:ea typeface="맑은 고딕"/>
              </a:rPr>
              <a:t>)</a:t>
            </a:r>
            <a:endParaRPr sz="1050" b="0" i="0" dirty="0">
              <a:solidFill>
                <a:srgbClr val="000000"/>
              </a:solidFill>
              <a:latin typeface="맑은 고딕"/>
              <a:ea typeface="맑은 고딕"/>
            </a:endParaRPr>
          </a:p>
        </p:txBody>
      </p:sp>
      <p:cxnSp>
        <p:nvCxnSpPr>
          <p:cNvPr id="9145" name="Connector 9144"/>
          <p:cNvCxnSpPr/>
          <p:nvPr/>
        </p:nvCxnSpPr>
        <p:spPr>
          <a:xfrm>
            <a:off x="4736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6" name="Rounded Rectangle 9145"/>
          <p:cNvSpPr/>
          <p:nvPr/>
        </p:nvSpPr>
        <p:spPr>
          <a:xfrm>
            <a:off x="5010495" y="5405327"/>
            <a:ext cx="2011680" cy="468535"/>
          </a:xfrm>
          <a:prstGeom prst="roundRect">
            <a:avLst/>
          </a:prstGeom>
          <a:solidFill>
            <a:srgbClr val="FBE5D6"/>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dirty="0">
                <a:solidFill>
                  <a:srgbClr val="000000"/>
                </a:solidFill>
                <a:latin typeface="맑은 고딕"/>
                <a:ea typeface="맑은 고딕"/>
              </a:rPr>
              <a:t>KV </a:t>
            </a:r>
            <a:r>
              <a:rPr sz="1200" b="1" i="0" dirty="0" err="1">
                <a:solidFill>
                  <a:srgbClr val="000000"/>
                </a:solidFill>
                <a:latin typeface="맑은 고딕"/>
                <a:ea typeface="맑은 고딕"/>
              </a:rPr>
              <a:t>재사용</a:t>
            </a:r>
            <a:r>
              <a:rPr lang="en-US" sz="1200" b="1" dirty="0">
                <a:solidFill>
                  <a:srgbClr val="000000"/>
                </a:solidFill>
                <a:latin typeface="맑은 고딕"/>
                <a:ea typeface="맑은 고딕"/>
              </a:rPr>
              <a:t> </a:t>
            </a:r>
          </a:p>
          <a:p>
            <a:pPr algn="ctr"/>
            <a:r>
              <a:rPr lang="ko-KR" altLang="en-US" sz="1050" dirty="0" err="1">
                <a:solidFill>
                  <a:srgbClr val="000000"/>
                </a:solidFill>
                <a:latin typeface="맑은 고딕"/>
                <a:ea typeface="맑은 고딕"/>
              </a:rPr>
              <a:t>재사용</a:t>
            </a:r>
            <a:r>
              <a:rPr lang="ko-KR" altLang="en-US" sz="1050" dirty="0" err="1">
                <a:solidFill>
                  <a:srgbClr val="000000"/>
                </a:solidFill>
                <a:latin typeface="맑은 고딕" panose="020B0503020000020004" pitchFamily="50" charset="-127"/>
                <a:ea typeface="맑은 고딕" panose="020B0503020000020004" pitchFamily="50" charset="-127"/>
              </a:rPr>
              <a:t>∙</a:t>
            </a:r>
            <a:r>
              <a:rPr lang="ko-KR" altLang="en-US" sz="1050" dirty="0" err="1">
                <a:solidFill>
                  <a:srgbClr val="000000"/>
                </a:solidFill>
                <a:latin typeface="맑은 고딕"/>
                <a:ea typeface="맑은 고딕"/>
              </a:rPr>
              <a:t>재계산</a:t>
            </a:r>
            <a:r>
              <a:rPr lang="ko-KR" altLang="en-US" sz="1050" dirty="0">
                <a:solidFill>
                  <a:srgbClr val="000000"/>
                </a:solidFill>
                <a:latin typeface="맑은 고딕"/>
                <a:ea typeface="맑은 고딕"/>
              </a:rPr>
              <a:t> 토큰 선정</a:t>
            </a:r>
            <a:r>
              <a:rPr lang="en-US" sz="1050" dirty="0">
                <a:solidFill>
                  <a:srgbClr val="000000"/>
                </a:solidFill>
                <a:latin typeface="맑은 고딕"/>
                <a:ea typeface="맑은 고딕"/>
              </a:rPr>
              <a:t>(DP3)</a:t>
            </a:r>
            <a:endParaRPr lang="en-US" sz="1050" i="0" dirty="0">
              <a:solidFill>
                <a:srgbClr val="000000"/>
              </a:solidFill>
              <a:latin typeface="맑은 고딕"/>
              <a:ea typeface="맑은 고딕"/>
            </a:endParaRPr>
          </a:p>
        </p:txBody>
      </p:sp>
      <p:cxnSp>
        <p:nvCxnSpPr>
          <p:cNvPr id="9147" name="Connector 9146"/>
          <p:cNvCxnSpPr/>
          <p:nvPr/>
        </p:nvCxnSpPr>
        <p:spPr>
          <a:xfrm>
            <a:off x="7022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48" name="Rounded Rectangle 9147"/>
          <p:cNvSpPr/>
          <p:nvPr/>
        </p:nvSpPr>
        <p:spPr>
          <a:xfrm>
            <a:off x="7296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1200" b="1" i="0" u="none" strike="noStrike" kern="1200" cap="none" spc="0" normalizeH="0" baseline="0" noProof="0" dirty="0">
                <a:ln>
                  <a:noFill/>
                </a:ln>
                <a:solidFill>
                  <a:srgbClr val="000000"/>
                </a:solidFill>
                <a:effectLst/>
                <a:uLnTx/>
                <a:uFillTx/>
                <a:latin typeface="맑은 고딕"/>
                <a:ea typeface="맑은 고딕"/>
                <a:cs typeface="+mn-cs"/>
              </a:rPr>
              <a:t>선택 재계산</a:t>
            </a: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050" b="0" i="0" u="none" strike="noStrike" kern="1200" cap="none" spc="0" normalizeH="0" baseline="0" noProof="0" dirty="0">
                <a:ln>
                  <a:noFill/>
                </a:ln>
                <a:solidFill>
                  <a:srgbClr val="000000"/>
                </a:solidFill>
                <a:effectLst/>
                <a:uLnTx/>
                <a:uFillTx/>
                <a:latin typeface="맑은 고딕"/>
                <a:ea typeface="맑은 고딕"/>
                <a:cs typeface="+mn-cs"/>
              </a:rPr>
              <a:t>실행 자원</a:t>
            </a:r>
            <a:r>
              <a:rPr kumimoji="0" lang="en-US" altLang="ko-KR" sz="1050" b="0" i="0" u="none" strike="noStrike" kern="1200" cap="none" spc="0" normalizeH="0" baseline="0" noProof="0" dirty="0">
                <a:ln>
                  <a:noFill/>
                </a:ln>
                <a:solidFill>
                  <a:srgbClr val="000000"/>
                </a:solidFill>
                <a:effectLst/>
                <a:uLnTx/>
                <a:uFillTx/>
                <a:latin typeface="맑은 고딕"/>
                <a:ea typeface="맑은 고딕"/>
                <a:cs typeface="+mn-cs"/>
              </a:rPr>
              <a:t>(DP2)</a:t>
            </a:r>
            <a:endParaRPr kumimoji="0" lang="ko-KR" altLang="en-US" sz="1050" b="0" i="0" u="none" strike="noStrike" kern="1200" cap="none" spc="0" normalizeH="0" baseline="0" noProof="0" dirty="0">
              <a:ln>
                <a:noFill/>
              </a:ln>
              <a:solidFill>
                <a:srgbClr val="000000"/>
              </a:solidFill>
              <a:effectLst/>
              <a:uLnTx/>
              <a:uFillTx/>
              <a:latin typeface="맑은 고딕"/>
              <a:ea typeface="맑은 고딕"/>
              <a:cs typeface="+mn-cs"/>
            </a:endParaRPr>
          </a:p>
        </p:txBody>
      </p:sp>
      <p:cxnSp>
        <p:nvCxnSpPr>
          <p:cNvPr id="9149" name="Connector 9148"/>
          <p:cNvCxnSpPr/>
          <p:nvPr/>
        </p:nvCxnSpPr>
        <p:spPr>
          <a:xfrm>
            <a:off x="9308175" y="5639594"/>
            <a:ext cx="2743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150" name="Rounded Rectangle 9149"/>
          <p:cNvSpPr/>
          <p:nvPr/>
        </p:nvSpPr>
        <p:spPr>
          <a:xfrm>
            <a:off x="9582495" y="5405327"/>
            <a:ext cx="2011680" cy="468535"/>
          </a:xfrm>
          <a:prstGeom prst="round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1" dirty="0">
                <a:solidFill>
                  <a:srgbClr val="000000"/>
                </a:solidFill>
                <a:latin typeface="맑은 고딕"/>
                <a:ea typeface="맑은 고딕"/>
              </a:rPr>
              <a:t>Decode</a:t>
            </a:r>
            <a:endParaRPr kumimoji="0" lang="ko-KR" altLang="en-US" sz="1200" b="1" i="0" u="none" strike="noStrike" kern="1200" cap="none" spc="0" normalizeH="0" baseline="0" noProof="0" dirty="0">
              <a:ln>
                <a:noFill/>
              </a:ln>
              <a:solidFill>
                <a:srgbClr val="000000"/>
              </a:solidFill>
              <a:effectLst/>
              <a:uLnTx/>
              <a:uFillTx/>
              <a:latin typeface="맑은 고딕"/>
              <a:ea typeface="맑은 고딕"/>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lang="ko-KR" altLang="en-US" sz="1050" dirty="0">
                <a:solidFill>
                  <a:srgbClr val="000000"/>
                </a:solidFill>
                <a:latin typeface="맑은 고딕"/>
                <a:ea typeface="맑은 고딕"/>
              </a:rPr>
              <a:t>응답 생성</a:t>
            </a:r>
            <a:r>
              <a:rPr kumimoji="0" lang="en-US" altLang="ko-KR" sz="1050" b="0" i="0" u="none" strike="noStrike" kern="1200" cap="none" spc="0" normalizeH="0" baseline="0" noProof="0" dirty="0">
                <a:ln>
                  <a:noFill/>
                </a:ln>
                <a:solidFill>
                  <a:srgbClr val="000000"/>
                </a:solidFill>
                <a:effectLst/>
                <a:uLnTx/>
                <a:uFillTx/>
                <a:latin typeface="맑은 고딕"/>
                <a:ea typeface="맑은 고딕"/>
                <a:cs typeface="+mn-cs"/>
              </a:rPr>
              <a:t>(DP2)</a:t>
            </a:r>
            <a:endParaRPr sz="1050" b="0" i="0" dirty="0">
              <a:solidFill>
                <a:srgbClr val="000000"/>
              </a:solidFill>
              <a:latin typeface="맑은 고딕"/>
              <a:ea typeface="맑은 고딕"/>
            </a:endParaRPr>
          </a:p>
        </p:txBody>
      </p:sp>
      <p:sp>
        <p:nvSpPr>
          <p:cNvPr id="115" name="Rounded Rectangle 9062">
            <a:extLst>
              <a:ext uri="{FF2B5EF4-FFF2-40B4-BE49-F238E27FC236}">
                <a16:creationId xmlns:a16="http://schemas.microsoft.com/office/drawing/2014/main" id="{FBAE990F-EF7A-4373-A5F3-21B8C9AEE532}"/>
              </a:ext>
            </a:extLst>
          </p:cNvPr>
          <p:cNvSpPr/>
          <p:nvPr/>
        </p:nvSpPr>
        <p:spPr>
          <a:xfrm>
            <a:off x="516509" y="3389746"/>
            <a:ext cx="329654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en-US" altLang="ko-KR" sz="1000" b="1" dirty="0">
                <a:solidFill>
                  <a:srgbClr val="FFFFFF"/>
                </a:solidFill>
                <a:latin typeface="맑은 고딕"/>
                <a:ea typeface="맑은 고딕"/>
              </a:rPr>
              <a:t>Prefix Caching</a:t>
            </a:r>
            <a:r>
              <a:rPr lang="ko-KR" altLang="en-US" sz="1000" b="1" dirty="0">
                <a:solidFill>
                  <a:srgbClr val="FFFFFF"/>
                </a:solidFill>
                <a:latin typeface="맑은 고딕"/>
                <a:ea typeface="맑은 고딕"/>
              </a:rPr>
              <a:t>의 한계</a:t>
            </a:r>
            <a:endParaRPr sz="1000" b="1" i="0" dirty="0">
              <a:solidFill>
                <a:srgbClr val="FFFFFF"/>
              </a:solidFill>
              <a:latin typeface="맑은 고딕"/>
              <a:ea typeface="맑은 고딕"/>
            </a:endParaRPr>
          </a:p>
        </p:txBody>
      </p:sp>
      <p:sp>
        <p:nvSpPr>
          <p:cNvPr id="281" name="Rounded Rectangle 9062">
            <a:extLst>
              <a:ext uri="{FF2B5EF4-FFF2-40B4-BE49-F238E27FC236}">
                <a16:creationId xmlns:a16="http://schemas.microsoft.com/office/drawing/2014/main" id="{3E8E2949-89FA-4CB2-B603-7A088EB3594E}"/>
              </a:ext>
            </a:extLst>
          </p:cNvPr>
          <p:cNvSpPr/>
          <p:nvPr/>
        </p:nvSpPr>
        <p:spPr>
          <a:xfrm>
            <a:off x="516509" y="1801114"/>
            <a:ext cx="3208630" cy="237744"/>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1000" b="1" dirty="0">
                <a:solidFill>
                  <a:srgbClr val="FFFFFF"/>
                </a:solidFill>
                <a:latin typeface="맑은 고딕"/>
                <a:ea typeface="맑은 고딕"/>
              </a:rPr>
              <a:t>기존 </a:t>
            </a:r>
            <a:r>
              <a:rPr lang="en-US" altLang="ko-KR" sz="1000" b="1" dirty="0">
                <a:solidFill>
                  <a:srgbClr val="FFFFFF"/>
                </a:solidFill>
                <a:latin typeface="맑은 고딕"/>
                <a:ea typeface="맑은 고딕"/>
              </a:rPr>
              <a:t>KV</a:t>
            </a:r>
            <a:r>
              <a:rPr lang="ko-KR" altLang="en-US" sz="1000" b="1" dirty="0">
                <a:solidFill>
                  <a:srgbClr val="FFFFFF"/>
                </a:solidFill>
                <a:latin typeface="맑은 고딕"/>
                <a:ea typeface="맑은 고딕"/>
              </a:rPr>
              <a:t> 캐시의 </a:t>
            </a:r>
            <a:r>
              <a:rPr lang="ko-KR" altLang="en-US" sz="1000" b="1" i="0" dirty="0">
                <a:solidFill>
                  <a:srgbClr val="FFFFFF"/>
                </a:solidFill>
                <a:latin typeface="맑은 고딕"/>
                <a:ea typeface="맑은 고딕"/>
              </a:rPr>
              <a:t>재사용 조건 </a:t>
            </a:r>
            <a:r>
              <a:rPr lang="en-US" altLang="ko-KR" sz="1000" b="1" i="0" dirty="0">
                <a:solidFill>
                  <a:srgbClr val="FFFFFF"/>
                </a:solidFill>
                <a:latin typeface="맑은 고딕"/>
                <a:ea typeface="맑은 고딕"/>
              </a:rPr>
              <a:t>(</a:t>
            </a:r>
            <a:r>
              <a:rPr lang="en-US" altLang="ko-KR" sz="1000" b="1" dirty="0">
                <a:solidFill>
                  <a:srgbClr val="FFFFFF"/>
                </a:solidFill>
                <a:latin typeface="맑은 고딕"/>
                <a:ea typeface="맑은 고딕"/>
              </a:rPr>
              <a:t>Prefix</a:t>
            </a:r>
            <a:r>
              <a:rPr lang="ko-KR" altLang="en-US" sz="1000" b="1" dirty="0">
                <a:solidFill>
                  <a:srgbClr val="FFFFFF"/>
                </a:solidFill>
                <a:latin typeface="맑은 고딕"/>
                <a:ea typeface="맑은 고딕"/>
              </a:rPr>
              <a:t> </a:t>
            </a:r>
            <a:r>
              <a:rPr lang="en-US" altLang="ko-KR" sz="1000" b="1" dirty="0">
                <a:solidFill>
                  <a:srgbClr val="FFFFFF"/>
                </a:solidFill>
                <a:latin typeface="맑은 고딕"/>
                <a:ea typeface="맑은 고딕"/>
              </a:rPr>
              <a:t>Caching)</a:t>
            </a:r>
            <a:endParaRPr sz="1000" b="1" i="0" dirty="0">
              <a:solidFill>
                <a:srgbClr val="FFFFFF"/>
              </a:solidFill>
              <a:latin typeface="맑은 고딕"/>
              <a:ea typeface="맑은 고딕"/>
            </a:endParaRPr>
          </a:p>
        </p:txBody>
      </p:sp>
      <p:sp>
        <p:nvSpPr>
          <p:cNvPr id="378" name="TextBox 377">
            <a:extLst>
              <a:ext uri="{FF2B5EF4-FFF2-40B4-BE49-F238E27FC236}">
                <a16:creationId xmlns:a16="http://schemas.microsoft.com/office/drawing/2014/main" id="{B2210258-316D-4D12-BD47-91AF827A84F2}"/>
              </a:ext>
            </a:extLst>
          </p:cNvPr>
          <p:cNvSpPr txBox="1"/>
          <p:nvPr/>
        </p:nvSpPr>
        <p:spPr>
          <a:xfrm>
            <a:off x="1188720" y="2076086"/>
            <a:ext cx="512036" cy="123111"/>
          </a:xfrm>
          <a:prstGeom prst="rect">
            <a:avLst/>
          </a:prstGeom>
          <a:noFill/>
        </p:spPr>
        <p:txBody>
          <a:bodyPr wrap="square" lIns="0" tIns="0" rIns="0" bIns="0" anchor="t">
            <a:spAutoFit/>
          </a:bodyPr>
          <a:lstStyle/>
          <a:p>
            <a:pPr algn="ctr"/>
            <a:r>
              <a:rPr lang="en-US" sz="800" b="1" dirty="0">
                <a:solidFill>
                  <a:srgbClr val="404040"/>
                </a:solidFill>
                <a:latin typeface="맑은 고딕"/>
                <a:ea typeface="맑은 고딕"/>
              </a:rPr>
              <a:t>Query </a:t>
            </a:r>
            <a:endParaRPr sz="800" b="1" dirty="0">
              <a:solidFill>
                <a:srgbClr val="404040"/>
              </a:solidFill>
              <a:latin typeface="맑은 고딕"/>
              <a:ea typeface="맑은 고딕"/>
            </a:endParaRPr>
          </a:p>
        </p:txBody>
      </p:sp>
      <p:sp>
        <p:nvSpPr>
          <p:cNvPr id="381" name="TextBox 380">
            <a:extLst>
              <a:ext uri="{FF2B5EF4-FFF2-40B4-BE49-F238E27FC236}">
                <a16:creationId xmlns:a16="http://schemas.microsoft.com/office/drawing/2014/main" id="{BF88575E-B8A6-46B0-938E-826761BC282D}"/>
              </a:ext>
            </a:extLst>
          </p:cNvPr>
          <p:cNvSpPr txBox="1"/>
          <p:nvPr/>
        </p:nvSpPr>
        <p:spPr>
          <a:xfrm>
            <a:off x="548640" y="2286086"/>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382" name="Rectangle 9154">
            <a:extLst>
              <a:ext uri="{FF2B5EF4-FFF2-40B4-BE49-F238E27FC236}">
                <a16:creationId xmlns:a16="http://schemas.microsoft.com/office/drawing/2014/main" id="{2A1DC431-3504-42B7-A7CE-F4E1B36D9915}"/>
              </a:ext>
            </a:extLst>
          </p:cNvPr>
          <p:cNvSpPr/>
          <p:nvPr/>
        </p:nvSpPr>
        <p:spPr>
          <a:xfrm>
            <a:off x="1183957"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83" name="Rectangle 9155">
            <a:extLst>
              <a:ext uri="{FF2B5EF4-FFF2-40B4-BE49-F238E27FC236}">
                <a16:creationId xmlns:a16="http://schemas.microsoft.com/office/drawing/2014/main" id="{B2C5B9CF-5D7C-41BC-B78A-030B131F2A21}"/>
              </a:ext>
            </a:extLst>
          </p:cNvPr>
          <p:cNvSpPr/>
          <p:nvPr/>
        </p:nvSpPr>
        <p:spPr>
          <a:xfrm>
            <a:off x="1319479"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84" name="Rectangle 9156">
            <a:extLst>
              <a:ext uri="{FF2B5EF4-FFF2-40B4-BE49-F238E27FC236}">
                <a16:creationId xmlns:a16="http://schemas.microsoft.com/office/drawing/2014/main" id="{86E56E00-5970-4B3D-8183-6DCA16D7A440}"/>
              </a:ext>
            </a:extLst>
          </p:cNvPr>
          <p:cNvSpPr/>
          <p:nvPr/>
        </p:nvSpPr>
        <p:spPr>
          <a:xfrm>
            <a:off x="1457858"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85" name="Rectangle 9157">
            <a:extLst>
              <a:ext uri="{FF2B5EF4-FFF2-40B4-BE49-F238E27FC236}">
                <a16:creationId xmlns:a16="http://schemas.microsoft.com/office/drawing/2014/main" id="{AB36267F-B312-464F-814B-A457BE54CCC6}"/>
              </a:ext>
            </a:extLst>
          </p:cNvPr>
          <p:cNvSpPr/>
          <p:nvPr/>
        </p:nvSpPr>
        <p:spPr>
          <a:xfrm>
            <a:off x="1596237" y="222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402" name="TextBox 401">
            <a:extLst>
              <a:ext uri="{FF2B5EF4-FFF2-40B4-BE49-F238E27FC236}">
                <a16:creationId xmlns:a16="http://schemas.microsoft.com/office/drawing/2014/main" id="{6E1A37FF-F12A-4422-90DB-AC0610142CE2}"/>
              </a:ext>
            </a:extLst>
          </p:cNvPr>
          <p:cNvSpPr txBox="1"/>
          <p:nvPr/>
        </p:nvSpPr>
        <p:spPr>
          <a:xfrm>
            <a:off x="3695842" y="2286086"/>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403" name="TextBox 402">
            <a:extLst>
              <a:ext uri="{FF2B5EF4-FFF2-40B4-BE49-F238E27FC236}">
                <a16:creationId xmlns:a16="http://schemas.microsoft.com/office/drawing/2014/main" id="{FF013E8E-7F9B-4A58-A4A5-098B378B6CAB}"/>
              </a:ext>
            </a:extLst>
          </p:cNvPr>
          <p:cNvSpPr txBox="1"/>
          <p:nvPr/>
        </p:nvSpPr>
        <p:spPr>
          <a:xfrm>
            <a:off x="548640" y="2596086"/>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404" name="Rectangle 9176">
            <a:extLst>
              <a:ext uri="{FF2B5EF4-FFF2-40B4-BE49-F238E27FC236}">
                <a16:creationId xmlns:a16="http://schemas.microsoft.com/office/drawing/2014/main" id="{982ACB3F-A75A-4AEE-8257-22D5DFC9FD78}"/>
              </a:ext>
            </a:extLst>
          </p:cNvPr>
          <p:cNvSpPr/>
          <p:nvPr/>
        </p:nvSpPr>
        <p:spPr>
          <a:xfrm>
            <a:off x="1183957"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1</a:t>
            </a:r>
            <a:endParaRPr sz="1000" dirty="0"/>
          </a:p>
        </p:txBody>
      </p:sp>
      <p:sp>
        <p:nvSpPr>
          <p:cNvPr id="405" name="Rectangle 9177">
            <a:extLst>
              <a:ext uri="{FF2B5EF4-FFF2-40B4-BE49-F238E27FC236}">
                <a16:creationId xmlns:a16="http://schemas.microsoft.com/office/drawing/2014/main" id="{EC1E33C6-72BC-4C3F-884E-072A7D5337FA}"/>
              </a:ext>
            </a:extLst>
          </p:cNvPr>
          <p:cNvSpPr/>
          <p:nvPr/>
        </p:nvSpPr>
        <p:spPr>
          <a:xfrm>
            <a:off x="1319479"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2</a:t>
            </a:r>
            <a:endParaRPr sz="1000" dirty="0"/>
          </a:p>
        </p:txBody>
      </p:sp>
      <p:sp>
        <p:nvSpPr>
          <p:cNvPr id="406" name="Rectangle 9178">
            <a:extLst>
              <a:ext uri="{FF2B5EF4-FFF2-40B4-BE49-F238E27FC236}">
                <a16:creationId xmlns:a16="http://schemas.microsoft.com/office/drawing/2014/main" id="{2EC5DC78-8873-48FC-A1FE-693AA95827E7}"/>
              </a:ext>
            </a:extLst>
          </p:cNvPr>
          <p:cNvSpPr/>
          <p:nvPr/>
        </p:nvSpPr>
        <p:spPr>
          <a:xfrm>
            <a:off x="1457858"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3</a:t>
            </a:r>
            <a:endParaRPr sz="1000" dirty="0"/>
          </a:p>
        </p:txBody>
      </p:sp>
      <p:sp>
        <p:nvSpPr>
          <p:cNvPr id="407" name="Rectangle 9179">
            <a:extLst>
              <a:ext uri="{FF2B5EF4-FFF2-40B4-BE49-F238E27FC236}">
                <a16:creationId xmlns:a16="http://schemas.microsoft.com/office/drawing/2014/main" id="{87B264D5-4AEA-405D-8FB0-AA127D79A0EE}"/>
              </a:ext>
            </a:extLst>
          </p:cNvPr>
          <p:cNvSpPr/>
          <p:nvPr/>
        </p:nvSpPr>
        <p:spPr>
          <a:xfrm>
            <a:off x="1596237" y="2536086"/>
            <a:ext cx="118872" cy="256032"/>
          </a:xfrm>
          <a:prstGeom prst="rect">
            <a:avLst/>
          </a:prstGeom>
          <a:solidFill>
            <a:srgbClr val="2F5597"/>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t>4</a:t>
            </a:r>
            <a:endParaRPr sz="1000" dirty="0"/>
          </a:p>
        </p:txBody>
      </p:sp>
      <p:sp>
        <p:nvSpPr>
          <p:cNvPr id="408" name="Rectangle 9180">
            <a:extLst>
              <a:ext uri="{FF2B5EF4-FFF2-40B4-BE49-F238E27FC236}">
                <a16:creationId xmlns:a16="http://schemas.microsoft.com/office/drawing/2014/main" id="{748053FE-795D-49F4-AEBF-7E9318D0FDDD}"/>
              </a:ext>
            </a:extLst>
          </p:cNvPr>
          <p:cNvSpPr/>
          <p:nvPr/>
        </p:nvSpPr>
        <p:spPr>
          <a:xfrm>
            <a:off x="1831756"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Rectangle 9181">
            <a:extLst>
              <a:ext uri="{FF2B5EF4-FFF2-40B4-BE49-F238E27FC236}">
                <a16:creationId xmlns:a16="http://schemas.microsoft.com/office/drawing/2014/main" id="{1891CCCD-39BD-42E3-859D-91E1AC53D9AB}"/>
              </a:ext>
            </a:extLst>
          </p:cNvPr>
          <p:cNvSpPr/>
          <p:nvPr/>
        </p:nvSpPr>
        <p:spPr>
          <a:xfrm>
            <a:off x="1962515"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Rectangle 9182">
            <a:extLst>
              <a:ext uri="{FF2B5EF4-FFF2-40B4-BE49-F238E27FC236}">
                <a16:creationId xmlns:a16="http://schemas.microsoft.com/office/drawing/2014/main" id="{80B039DF-97EF-4B2B-AB48-69BCFE1EACB6}"/>
              </a:ext>
            </a:extLst>
          </p:cNvPr>
          <p:cNvSpPr/>
          <p:nvPr/>
        </p:nvSpPr>
        <p:spPr>
          <a:xfrm>
            <a:off x="2093274"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Rectangle 9183">
            <a:extLst>
              <a:ext uri="{FF2B5EF4-FFF2-40B4-BE49-F238E27FC236}">
                <a16:creationId xmlns:a16="http://schemas.microsoft.com/office/drawing/2014/main" id="{C160D577-CADF-4F61-9E22-D14DDF4C12E3}"/>
              </a:ext>
            </a:extLst>
          </p:cNvPr>
          <p:cNvSpPr/>
          <p:nvPr/>
        </p:nvSpPr>
        <p:spPr>
          <a:xfrm>
            <a:off x="2224033"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Rectangle 9184">
            <a:extLst>
              <a:ext uri="{FF2B5EF4-FFF2-40B4-BE49-F238E27FC236}">
                <a16:creationId xmlns:a16="http://schemas.microsoft.com/office/drawing/2014/main" id="{48725D1F-FCDE-42C6-9656-24C16B8B5262}"/>
              </a:ext>
            </a:extLst>
          </p:cNvPr>
          <p:cNvSpPr/>
          <p:nvPr/>
        </p:nvSpPr>
        <p:spPr>
          <a:xfrm>
            <a:off x="2354792"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Rectangle 9185">
            <a:extLst>
              <a:ext uri="{FF2B5EF4-FFF2-40B4-BE49-F238E27FC236}">
                <a16:creationId xmlns:a16="http://schemas.microsoft.com/office/drawing/2014/main" id="{5A5815D2-7912-49E4-8839-DBC4A6D0E467}"/>
              </a:ext>
            </a:extLst>
          </p:cNvPr>
          <p:cNvSpPr/>
          <p:nvPr/>
        </p:nvSpPr>
        <p:spPr>
          <a:xfrm>
            <a:off x="2485551"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Rectangle 9186">
            <a:extLst>
              <a:ext uri="{FF2B5EF4-FFF2-40B4-BE49-F238E27FC236}">
                <a16:creationId xmlns:a16="http://schemas.microsoft.com/office/drawing/2014/main" id="{F0E69FFC-771F-4B39-8638-CC0E31024E45}"/>
              </a:ext>
            </a:extLst>
          </p:cNvPr>
          <p:cNvSpPr/>
          <p:nvPr/>
        </p:nvSpPr>
        <p:spPr>
          <a:xfrm>
            <a:off x="2616310"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Rectangle 9187">
            <a:extLst>
              <a:ext uri="{FF2B5EF4-FFF2-40B4-BE49-F238E27FC236}">
                <a16:creationId xmlns:a16="http://schemas.microsoft.com/office/drawing/2014/main" id="{DCBF4EEF-77A0-4F08-92C8-7A03A252F1CB}"/>
              </a:ext>
            </a:extLst>
          </p:cNvPr>
          <p:cNvSpPr/>
          <p:nvPr/>
        </p:nvSpPr>
        <p:spPr>
          <a:xfrm>
            <a:off x="2747069"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Rectangle 9188">
            <a:extLst>
              <a:ext uri="{FF2B5EF4-FFF2-40B4-BE49-F238E27FC236}">
                <a16:creationId xmlns:a16="http://schemas.microsoft.com/office/drawing/2014/main" id="{A03BD33B-594B-4014-AD18-55057EDEDBC7}"/>
              </a:ext>
            </a:extLst>
          </p:cNvPr>
          <p:cNvSpPr/>
          <p:nvPr/>
        </p:nvSpPr>
        <p:spPr>
          <a:xfrm>
            <a:off x="2877828"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Rectangle 9189">
            <a:extLst>
              <a:ext uri="{FF2B5EF4-FFF2-40B4-BE49-F238E27FC236}">
                <a16:creationId xmlns:a16="http://schemas.microsoft.com/office/drawing/2014/main" id="{5701E5E9-6614-41FD-AB4B-D5AF40CD7F49}"/>
              </a:ext>
            </a:extLst>
          </p:cNvPr>
          <p:cNvSpPr/>
          <p:nvPr/>
        </p:nvSpPr>
        <p:spPr>
          <a:xfrm>
            <a:off x="3008587"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Rectangle 9190">
            <a:extLst>
              <a:ext uri="{FF2B5EF4-FFF2-40B4-BE49-F238E27FC236}">
                <a16:creationId xmlns:a16="http://schemas.microsoft.com/office/drawing/2014/main" id="{F37EBE04-A1F8-4128-8AAF-FC83C0AE937F}"/>
              </a:ext>
            </a:extLst>
          </p:cNvPr>
          <p:cNvSpPr/>
          <p:nvPr/>
        </p:nvSpPr>
        <p:spPr>
          <a:xfrm>
            <a:off x="3139346"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Rectangle 9191">
            <a:extLst>
              <a:ext uri="{FF2B5EF4-FFF2-40B4-BE49-F238E27FC236}">
                <a16:creationId xmlns:a16="http://schemas.microsoft.com/office/drawing/2014/main" id="{05194FE4-E8EE-4E98-9E41-E44A82EADC99}"/>
              </a:ext>
            </a:extLst>
          </p:cNvPr>
          <p:cNvSpPr/>
          <p:nvPr/>
        </p:nvSpPr>
        <p:spPr>
          <a:xfrm>
            <a:off x="3270105" y="2536086"/>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25" name="Connector 9197">
            <a:extLst>
              <a:ext uri="{FF2B5EF4-FFF2-40B4-BE49-F238E27FC236}">
                <a16:creationId xmlns:a16="http://schemas.microsoft.com/office/drawing/2014/main" id="{3B93274C-06A5-4EA2-9CBF-C3EC13EA8E3A}"/>
              </a:ext>
            </a:extLst>
          </p:cNvPr>
          <p:cNvCxnSpPr/>
          <p:nvPr/>
        </p:nvCxnSpPr>
        <p:spPr>
          <a:xfrm>
            <a:off x="1188720" y="2841086"/>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26" name="Connector 9198">
            <a:extLst>
              <a:ext uri="{FF2B5EF4-FFF2-40B4-BE49-F238E27FC236}">
                <a16:creationId xmlns:a16="http://schemas.microsoft.com/office/drawing/2014/main" id="{5BCB623F-DB8B-4180-A42D-BCA6D9B1BEC6}"/>
              </a:ext>
            </a:extLst>
          </p:cNvPr>
          <p:cNvCxnSpPr/>
          <p:nvPr/>
        </p:nvCxnSpPr>
        <p:spPr>
          <a:xfrm>
            <a:off x="1188720" y="2796086"/>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27" name="Connector 9199">
            <a:extLst>
              <a:ext uri="{FF2B5EF4-FFF2-40B4-BE49-F238E27FC236}">
                <a16:creationId xmlns:a16="http://schemas.microsoft.com/office/drawing/2014/main" id="{5CCFC2C7-A9CA-4397-910C-BAD436F0F0CF}"/>
              </a:ext>
            </a:extLst>
          </p:cNvPr>
          <p:cNvCxnSpPr/>
          <p:nvPr/>
        </p:nvCxnSpPr>
        <p:spPr>
          <a:xfrm>
            <a:off x="3389864" y="2796086"/>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428" name="TextBox 427">
            <a:extLst>
              <a:ext uri="{FF2B5EF4-FFF2-40B4-BE49-F238E27FC236}">
                <a16:creationId xmlns:a16="http://schemas.microsoft.com/office/drawing/2014/main" id="{DDF82F91-B0D7-4D3C-94E3-FDFD8CF8F51D}"/>
              </a:ext>
            </a:extLst>
          </p:cNvPr>
          <p:cNvSpPr txBox="1"/>
          <p:nvPr/>
        </p:nvSpPr>
        <p:spPr>
          <a:xfrm>
            <a:off x="1188720" y="2866086"/>
            <a:ext cx="2201144" cy="138499"/>
          </a:xfrm>
          <a:prstGeom prst="rect">
            <a:avLst/>
          </a:prstGeom>
          <a:noFill/>
        </p:spPr>
        <p:txBody>
          <a:bodyPr wrap="square" lIns="0" tIns="0" rIns="0" bIns="0" anchor="t">
            <a:spAutoFit/>
          </a:bodyPr>
          <a:lstStyle/>
          <a:p>
            <a:pPr algn="ctr"/>
            <a:r>
              <a:rPr sz="900" b="0" dirty="0" err="1">
                <a:solidFill>
                  <a:schemeClr val="bg1">
                    <a:lumMod val="50000"/>
                  </a:schemeClr>
                </a:solidFill>
                <a:latin typeface="맑은 고딕"/>
                <a:ea typeface="맑은 고딕"/>
              </a:rPr>
              <a:t>동일</a:t>
            </a:r>
            <a:r>
              <a:rPr sz="900" b="0" dirty="0">
                <a:solidFill>
                  <a:schemeClr val="bg1">
                    <a:lumMod val="50000"/>
                  </a:schemeClr>
                </a:solidFill>
                <a:latin typeface="맑은 고딕"/>
                <a:ea typeface="맑은 고딕"/>
              </a:rPr>
              <a:t> Prefix → KV </a:t>
            </a:r>
            <a:r>
              <a:rPr sz="900" b="0" dirty="0" err="1">
                <a:solidFill>
                  <a:schemeClr val="bg1">
                    <a:lumMod val="50000"/>
                  </a:schemeClr>
                </a:solidFill>
                <a:latin typeface="맑은 고딕"/>
                <a:ea typeface="맑은 고딕"/>
              </a:rPr>
              <a:t>재사용</a:t>
            </a:r>
            <a:endParaRPr sz="900" b="0" dirty="0">
              <a:solidFill>
                <a:schemeClr val="bg1">
                  <a:lumMod val="50000"/>
                </a:schemeClr>
              </a:solidFill>
              <a:latin typeface="맑은 고딕"/>
              <a:ea typeface="맑은 고딕"/>
            </a:endParaRPr>
          </a:p>
        </p:txBody>
      </p:sp>
      <p:sp>
        <p:nvSpPr>
          <p:cNvPr id="150" name="Rectangle 9157">
            <a:extLst>
              <a:ext uri="{FF2B5EF4-FFF2-40B4-BE49-F238E27FC236}">
                <a16:creationId xmlns:a16="http://schemas.microsoft.com/office/drawing/2014/main" id="{B9961ECE-CBF8-448C-AA4F-5D5CADB61EA3}"/>
              </a:ext>
            </a:extLst>
          </p:cNvPr>
          <p:cNvSpPr/>
          <p:nvPr/>
        </p:nvSpPr>
        <p:spPr>
          <a:xfrm>
            <a:off x="1975856" y="2226086"/>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155" name="Rectangle 9157">
            <a:extLst>
              <a:ext uri="{FF2B5EF4-FFF2-40B4-BE49-F238E27FC236}">
                <a16:creationId xmlns:a16="http://schemas.microsoft.com/office/drawing/2014/main" id="{B8888685-0181-47AC-98C4-FEC5EC6DAEB4}"/>
              </a:ext>
            </a:extLst>
          </p:cNvPr>
          <p:cNvSpPr/>
          <p:nvPr/>
        </p:nvSpPr>
        <p:spPr>
          <a:xfrm>
            <a:off x="2089357" y="2226086"/>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158" name="Rectangle 9157">
            <a:extLst>
              <a:ext uri="{FF2B5EF4-FFF2-40B4-BE49-F238E27FC236}">
                <a16:creationId xmlns:a16="http://schemas.microsoft.com/office/drawing/2014/main" id="{C4DF174C-689F-42F2-AA7C-B801ABF7FE9B}"/>
              </a:ext>
            </a:extLst>
          </p:cNvPr>
          <p:cNvSpPr/>
          <p:nvPr/>
        </p:nvSpPr>
        <p:spPr>
          <a:xfrm>
            <a:off x="2207588" y="2226086"/>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179" name="Rectangle 9157">
            <a:extLst>
              <a:ext uri="{FF2B5EF4-FFF2-40B4-BE49-F238E27FC236}">
                <a16:creationId xmlns:a16="http://schemas.microsoft.com/office/drawing/2014/main" id="{0A0E89C6-FD76-4A7C-8C2A-4B0648A672F1}"/>
              </a:ext>
            </a:extLst>
          </p:cNvPr>
          <p:cNvSpPr/>
          <p:nvPr/>
        </p:nvSpPr>
        <p:spPr>
          <a:xfrm>
            <a:off x="2329540" y="2226086"/>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180" name="TextBox 179">
            <a:extLst>
              <a:ext uri="{FF2B5EF4-FFF2-40B4-BE49-F238E27FC236}">
                <a16:creationId xmlns:a16="http://schemas.microsoft.com/office/drawing/2014/main" id="{2F666957-1F81-462F-B0DE-40E133AAB838}"/>
              </a:ext>
            </a:extLst>
          </p:cNvPr>
          <p:cNvSpPr txBox="1"/>
          <p:nvPr/>
        </p:nvSpPr>
        <p:spPr>
          <a:xfrm>
            <a:off x="1950254" y="2076086"/>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476" name="TextBox 475">
            <a:extLst>
              <a:ext uri="{FF2B5EF4-FFF2-40B4-BE49-F238E27FC236}">
                <a16:creationId xmlns:a16="http://schemas.microsoft.com/office/drawing/2014/main" id="{9A5243BE-86E0-4EF5-AFCF-9508E17E7CCD}"/>
              </a:ext>
            </a:extLst>
          </p:cNvPr>
          <p:cNvSpPr txBox="1"/>
          <p:nvPr/>
        </p:nvSpPr>
        <p:spPr>
          <a:xfrm>
            <a:off x="3770845" y="2227927"/>
            <a:ext cx="1650000" cy="553998"/>
          </a:xfrm>
          <a:prstGeom prst="rect">
            <a:avLst/>
          </a:prstGeom>
          <a:noFill/>
        </p:spPr>
        <p:txBody>
          <a:bodyPr wrap="square" lIns="0" tIns="0" rIns="0" bIns="0" anchor="t">
            <a:spAutoFit/>
          </a:bodyPr>
          <a:lstStyle/>
          <a:p>
            <a:r>
              <a:rPr sz="900" b="0" dirty="0">
                <a:solidFill>
                  <a:schemeClr val="accent5">
                    <a:lumMod val="75000"/>
                  </a:schemeClr>
                </a:solidFill>
                <a:latin typeface="맑은 고딕"/>
                <a:ea typeface="맑은 고딕"/>
              </a:rPr>
              <a:t>■</a:t>
            </a:r>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chemeClr val="bg1">
                    <a:lumMod val="50000"/>
                  </a:schemeClr>
                </a:solidFill>
                <a:latin typeface="맑은 고딕"/>
                <a:ea typeface="맑은 고딕"/>
              </a:rPr>
              <a:t>연산</a:t>
            </a:r>
            <a:endParaRPr sz="900" b="0" dirty="0">
              <a:solidFill>
                <a:schemeClr val="bg1">
                  <a:lumMod val="50000"/>
                </a:schemeClr>
              </a:solidFill>
              <a:latin typeface="맑은 고딕"/>
              <a:ea typeface="맑은 고딕"/>
            </a:endParaRPr>
          </a:p>
        </p:txBody>
      </p:sp>
      <p:sp>
        <p:nvSpPr>
          <p:cNvPr id="9140" name="TextBox 9139"/>
          <p:cNvSpPr txBox="1"/>
          <p:nvPr/>
        </p:nvSpPr>
        <p:spPr>
          <a:xfrm>
            <a:off x="6736957" y="4705576"/>
            <a:ext cx="4900792" cy="153888"/>
          </a:xfrm>
          <a:prstGeom prst="rect">
            <a:avLst/>
          </a:prstGeom>
          <a:noFill/>
        </p:spPr>
        <p:txBody>
          <a:bodyPr wrap="square" lIns="0" tIns="0" rIns="0" bIns="0" anchor="t">
            <a:spAutoFit/>
          </a:bodyPr>
          <a:lstStyle/>
          <a:p>
            <a:pPr algn="l"/>
            <a:r>
              <a:rPr lang="ko-KR" altLang="en-US" sz="1000" b="1" i="0" dirty="0">
                <a:solidFill>
                  <a:srgbClr val="0000FF"/>
                </a:solidFill>
                <a:latin typeface="맑은 고딕"/>
                <a:ea typeface="맑은 고딕"/>
              </a:rPr>
              <a:t>기존에 생성되어 있던 토큰 중 일부 재사용 </a:t>
            </a:r>
            <a:r>
              <a:rPr lang="en-US" altLang="ko-KR" sz="1000" b="1" i="0" dirty="0">
                <a:solidFill>
                  <a:srgbClr val="0000FF"/>
                </a:solidFill>
                <a:latin typeface="맑은 고딕"/>
                <a:ea typeface="맑은 고딕"/>
              </a:rPr>
              <a:t>+ </a:t>
            </a:r>
            <a:r>
              <a:rPr lang="ko-KR" altLang="en-US" sz="1000" b="1" dirty="0">
                <a:solidFill>
                  <a:srgbClr val="0000FF"/>
                </a:solidFill>
                <a:latin typeface="맑은 고딕"/>
                <a:ea typeface="맑은 고딕"/>
              </a:rPr>
              <a:t>일부 토큰만 연산 </a:t>
            </a:r>
            <a:r>
              <a:rPr lang="en-US" altLang="ko-KR" sz="1000" b="1" dirty="0">
                <a:solidFill>
                  <a:srgbClr val="0000FF"/>
                </a:solidFill>
                <a:latin typeface="맑은 고딕"/>
                <a:ea typeface="맑은 고딕"/>
              </a:rPr>
              <a:t>(</a:t>
            </a:r>
            <a:r>
              <a:rPr lang="ko-KR" altLang="en-US" sz="1000" b="1" dirty="0">
                <a:solidFill>
                  <a:srgbClr val="0000FF"/>
                </a:solidFill>
                <a:latin typeface="맑은 고딕"/>
                <a:ea typeface="맑은 고딕"/>
              </a:rPr>
              <a:t>선택적 재계산</a:t>
            </a:r>
            <a:r>
              <a:rPr lang="en-US" altLang="ko-KR" sz="1000" b="1" dirty="0">
                <a:solidFill>
                  <a:srgbClr val="0000FF"/>
                </a:solidFill>
                <a:latin typeface="맑은 고딕"/>
                <a:ea typeface="맑은 고딕"/>
              </a:rPr>
              <a:t>)</a:t>
            </a:r>
            <a:endParaRPr sz="1000" b="0" i="0" dirty="0">
              <a:solidFill>
                <a:srgbClr val="0000FF"/>
              </a:solidFill>
              <a:latin typeface="맑은 고딕"/>
              <a:ea typeface="맑은 고딕"/>
            </a:endParaRPr>
          </a:p>
        </p:txBody>
      </p:sp>
      <p:grpSp>
        <p:nvGrpSpPr>
          <p:cNvPr id="290" name="그룹 289"/>
          <p:cNvGrpSpPr/>
          <p:nvPr/>
        </p:nvGrpSpPr>
        <p:grpSpPr>
          <a:xfrm>
            <a:off x="548640" y="3780229"/>
            <a:ext cx="4872205" cy="928499"/>
            <a:chOff x="548640" y="2308421"/>
            <a:chExt cx="4872205" cy="928499"/>
          </a:xfrm>
        </p:grpSpPr>
        <p:grpSp>
          <p:nvGrpSpPr>
            <p:cNvPr id="291" name="그룹 PrefixCaching">
              <a:extLst>
                <a:ext uri="{FF2B5EF4-FFF2-40B4-BE49-F238E27FC236}">
                  <a16:creationId xmlns:a16="http://schemas.microsoft.com/office/drawing/2014/main" id="{B90E02AA-B756-4331-B7A3-BC6313B4612D}"/>
                </a:ext>
              </a:extLst>
            </p:cNvPr>
            <p:cNvGrpSpPr/>
            <p:nvPr/>
          </p:nvGrpSpPr>
          <p:grpSpPr>
            <a:xfrm>
              <a:off x="548640" y="2308421"/>
              <a:ext cx="4797202" cy="928499"/>
              <a:chOff x="548640" y="3560000"/>
              <a:chExt cx="4797202" cy="928499"/>
            </a:xfrm>
          </p:grpSpPr>
          <p:sp>
            <p:nvSpPr>
              <p:cNvPr id="293" name="TextBox 292">
                <a:extLst>
                  <a:ext uri="{FF2B5EF4-FFF2-40B4-BE49-F238E27FC236}">
                    <a16:creationId xmlns:a16="http://schemas.microsoft.com/office/drawing/2014/main" id="{B2210258-316D-4D12-BD47-91AF827A84F2}"/>
                  </a:ext>
                </a:extLst>
              </p:cNvPr>
              <p:cNvSpPr txBox="1"/>
              <p:nvPr/>
            </p:nvSpPr>
            <p:spPr>
              <a:xfrm>
                <a:off x="1188720" y="3560000"/>
                <a:ext cx="512036" cy="123111"/>
              </a:xfrm>
              <a:prstGeom prst="rect">
                <a:avLst/>
              </a:prstGeom>
              <a:noFill/>
            </p:spPr>
            <p:txBody>
              <a:bodyPr wrap="square" lIns="0" tIns="0" rIns="0" bIns="0" anchor="t">
                <a:spAutoFit/>
              </a:bodyPr>
              <a:lstStyle/>
              <a:p>
                <a:pPr algn="ctr"/>
                <a:r>
                  <a:rPr lang="en-US" sz="800" b="1" dirty="0">
                    <a:solidFill>
                      <a:srgbClr val="404040"/>
                    </a:solidFill>
                    <a:latin typeface="맑은 고딕"/>
                    <a:ea typeface="맑은 고딕"/>
                  </a:rPr>
                  <a:t>Query </a:t>
                </a:r>
                <a:endParaRPr sz="800" b="1" dirty="0">
                  <a:solidFill>
                    <a:srgbClr val="404040"/>
                  </a:solidFill>
                  <a:latin typeface="맑은 고딕"/>
                  <a:ea typeface="맑은 고딕"/>
                </a:endParaRPr>
              </a:p>
            </p:txBody>
          </p:sp>
          <p:sp>
            <p:nvSpPr>
              <p:cNvPr id="294" name="TextBox 293">
                <a:extLst>
                  <a:ext uri="{FF2B5EF4-FFF2-40B4-BE49-F238E27FC236}">
                    <a16:creationId xmlns:a16="http://schemas.microsoft.com/office/drawing/2014/main" id="{BF88575E-B8A6-46B0-938E-826761BC282D}"/>
                  </a:ext>
                </a:extLst>
              </p:cNvPr>
              <p:cNvSpPr txBox="1"/>
              <p:nvPr/>
            </p:nvSpPr>
            <p:spPr>
              <a:xfrm>
                <a:off x="548640" y="377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295" name="Rectangle 9154">
                <a:extLst>
                  <a:ext uri="{FF2B5EF4-FFF2-40B4-BE49-F238E27FC236}">
                    <a16:creationId xmlns:a16="http://schemas.microsoft.com/office/drawing/2014/main" id="{2A1DC431-3504-42B7-A7CE-F4E1B36D9915}"/>
                  </a:ext>
                </a:extLst>
              </p:cNvPr>
              <p:cNvSpPr/>
              <p:nvPr/>
            </p:nvSpPr>
            <p:spPr>
              <a:xfrm>
                <a:off x="118395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96" name="Rectangle 9155">
                <a:extLst>
                  <a:ext uri="{FF2B5EF4-FFF2-40B4-BE49-F238E27FC236}">
                    <a16:creationId xmlns:a16="http://schemas.microsoft.com/office/drawing/2014/main" id="{B2C5B9CF-5D7C-41BC-B78A-030B131F2A21}"/>
                  </a:ext>
                </a:extLst>
              </p:cNvPr>
              <p:cNvSpPr/>
              <p:nvPr/>
            </p:nvSpPr>
            <p:spPr>
              <a:xfrm>
                <a:off x="1319479"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97" name="Rectangle 9156">
                <a:extLst>
                  <a:ext uri="{FF2B5EF4-FFF2-40B4-BE49-F238E27FC236}">
                    <a16:creationId xmlns:a16="http://schemas.microsoft.com/office/drawing/2014/main" id="{86E56E00-5970-4B3D-8183-6DCA16D7A440}"/>
                  </a:ext>
                </a:extLst>
              </p:cNvPr>
              <p:cNvSpPr/>
              <p:nvPr/>
            </p:nvSpPr>
            <p:spPr>
              <a:xfrm>
                <a:off x="1457858"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98" name="Rectangle 9157">
                <a:extLst>
                  <a:ext uri="{FF2B5EF4-FFF2-40B4-BE49-F238E27FC236}">
                    <a16:creationId xmlns:a16="http://schemas.microsoft.com/office/drawing/2014/main" id="{AB36267F-B312-464F-814B-A457BE54CCC6}"/>
                  </a:ext>
                </a:extLst>
              </p:cNvPr>
              <p:cNvSpPr/>
              <p:nvPr/>
            </p:nvSpPr>
            <p:spPr>
              <a:xfrm>
                <a:off x="1596237" y="371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99" name="TextBox 298">
                <a:extLst>
                  <a:ext uri="{FF2B5EF4-FFF2-40B4-BE49-F238E27FC236}">
                    <a16:creationId xmlns:a16="http://schemas.microsoft.com/office/drawing/2014/main" id="{6E1A37FF-F12A-4422-90DB-AC0610142CE2}"/>
                  </a:ext>
                </a:extLst>
              </p:cNvPr>
              <p:cNvSpPr txBox="1"/>
              <p:nvPr/>
            </p:nvSpPr>
            <p:spPr>
              <a:xfrm>
                <a:off x="3695842" y="3770000"/>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300" name="TextBox 299">
                <a:extLst>
                  <a:ext uri="{FF2B5EF4-FFF2-40B4-BE49-F238E27FC236}">
                    <a16:creationId xmlns:a16="http://schemas.microsoft.com/office/drawing/2014/main" id="{FF013E8E-7F9B-4A58-A4A5-098B378B6CAB}"/>
                  </a:ext>
                </a:extLst>
              </p:cNvPr>
              <p:cNvSpPr txBox="1"/>
              <p:nvPr/>
            </p:nvSpPr>
            <p:spPr>
              <a:xfrm>
                <a:off x="548640" y="4080000"/>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301" name="Rectangle 9176">
                <a:extLst>
                  <a:ext uri="{FF2B5EF4-FFF2-40B4-BE49-F238E27FC236}">
                    <a16:creationId xmlns:a16="http://schemas.microsoft.com/office/drawing/2014/main" id="{982ACB3F-A75A-4AEE-8257-22D5DFC9FD78}"/>
                  </a:ext>
                </a:extLst>
              </p:cNvPr>
              <p:cNvSpPr/>
              <p:nvPr/>
            </p:nvSpPr>
            <p:spPr>
              <a:xfrm>
                <a:off x="1183957" y="4020000"/>
                <a:ext cx="118872" cy="256032"/>
              </a:xfrm>
              <a:prstGeom prst="rect">
                <a:avLst/>
              </a:prstGeom>
              <a:solidFill>
                <a:srgbClr val="D9D9D9"/>
              </a:solid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02" name="Rectangle 9177">
                <a:extLst>
                  <a:ext uri="{FF2B5EF4-FFF2-40B4-BE49-F238E27FC236}">
                    <a16:creationId xmlns:a16="http://schemas.microsoft.com/office/drawing/2014/main" id="{EC1E33C6-72BC-4C3F-884E-072A7D5337FA}"/>
                  </a:ext>
                </a:extLst>
              </p:cNvPr>
              <p:cNvSpPr/>
              <p:nvPr/>
            </p:nvSpPr>
            <p:spPr>
              <a:xfrm>
                <a:off x="131947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03" name="Rectangle 9178">
                <a:extLst>
                  <a:ext uri="{FF2B5EF4-FFF2-40B4-BE49-F238E27FC236}">
                    <a16:creationId xmlns:a16="http://schemas.microsoft.com/office/drawing/2014/main" id="{2EC5DC78-8873-48FC-A1FE-693AA95827E7}"/>
                  </a:ext>
                </a:extLst>
              </p:cNvPr>
              <p:cNvSpPr/>
              <p:nvPr/>
            </p:nvSpPr>
            <p:spPr>
              <a:xfrm>
                <a:off x="145785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04" name="Rectangle 9179">
                <a:extLst>
                  <a:ext uri="{FF2B5EF4-FFF2-40B4-BE49-F238E27FC236}">
                    <a16:creationId xmlns:a16="http://schemas.microsoft.com/office/drawing/2014/main" id="{87B264D5-4AEA-405D-8FB0-AA127D79A0EE}"/>
                  </a:ext>
                </a:extLst>
              </p:cNvPr>
              <p:cNvSpPr/>
              <p:nvPr/>
            </p:nvSpPr>
            <p:spPr>
              <a:xfrm>
                <a:off x="159623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05" name="Rectangle 9180">
                <a:extLst>
                  <a:ext uri="{FF2B5EF4-FFF2-40B4-BE49-F238E27FC236}">
                    <a16:creationId xmlns:a16="http://schemas.microsoft.com/office/drawing/2014/main" id="{748053FE-795D-49F4-AEBF-7E9318D0FDDD}"/>
                  </a:ext>
                </a:extLst>
              </p:cNvPr>
              <p:cNvSpPr/>
              <p:nvPr/>
            </p:nvSpPr>
            <p:spPr>
              <a:xfrm>
                <a:off x="183175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Rectangle 9181">
                <a:extLst>
                  <a:ext uri="{FF2B5EF4-FFF2-40B4-BE49-F238E27FC236}">
                    <a16:creationId xmlns:a16="http://schemas.microsoft.com/office/drawing/2014/main" id="{1891CCCD-39BD-42E3-859D-91E1AC53D9AB}"/>
                  </a:ext>
                </a:extLst>
              </p:cNvPr>
              <p:cNvSpPr/>
              <p:nvPr/>
            </p:nvSpPr>
            <p:spPr>
              <a:xfrm>
                <a:off x="196251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Rectangle 9182">
                <a:extLst>
                  <a:ext uri="{FF2B5EF4-FFF2-40B4-BE49-F238E27FC236}">
                    <a16:creationId xmlns:a16="http://schemas.microsoft.com/office/drawing/2014/main" id="{80B039DF-97EF-4B2B-AB48-69BCFE1EACB6}"/>
                  </a:ext>
                </a:extLst>
              </p:cNvPr>
              <p:cNvSpPr/>
              <p:nvPr/>
            </p:nvSpPr>
            <p:spPr>
              <a:xfrm>
                <a:off x="2093274"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Rectangle 9183">
                <a:extLst>
                  <a:ext uri="{FF2B5EF4-FFF2-40B4-BE49-F238E27FC236}">
                    <a16:creationId xmlns:a16="http://schemas.microsoft.com/office/drawing/2014/main" id="{C160D577-CADF-4F61-9E22-D14DDF4C12E3}"/>
                  </a:ext>
                </a:extLst>
              </p:cNvPr>
              <p:cNvSpPr/>
              <p:nvPr/>
            </p:nvSpPr>
            <p:spPr>
              <a:xfrm>
                <a:off x="2224033"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Rectangle 9184">
                <a:extLst>
                  <a:ext uri="{FF2B5EF4-FFF2-40B4-BE49-F238E27FC236}">
                    <a16:creationId xmlns:a16="http://schemas.microsoft.com/office/drawing/2014/main" id="{48725D1F-FCDE-42C6-9656-24C16B8B5262}"/>
                  </a:ext>
                </a:extLst>
              </p:cNvPr>
              <p:cNvSpPr/>
              <p:nvPr/>
            </p:nvSpPr>
            <p:spPr>
              <a:xfrm>
                <a:off x="2354792"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Rectangle 9185">
                <a:extLst>
                  <a:ext uri="{FF2B5EF4-FFF2-40B4-BE49-F238E27FC236}">
                    <a16:creationId xmlns:a16="http://schemas.microsoft.com/office/drawing/2014/main" id="{5A5815D2-7912-49E4-8839-DBC4A6D0E467}"/>
                  </a:ext>
                </a:extLst>
              </p:cNvPr>
              <p:cNvSpPr/>
              <p:nvPr/>
            </p:nvSpPr>
            <p:spPr>
              <a:xfrm>
                <a:off x="2485551"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Rectangle 9186">
                <a:extLst>
                  <a:ext uri="{FF2B5EF4-FFF2-40B4-BE49-F238E27FC236}">
                    <a16:creationId xmlns:a16="http://schemas.microsoft.com/office/drawing/2014/main" id="{F0E69FFC-771F-4B39-8638-CC0E31024E45}"/>
                  </a:ext>
                </a:extLst>
              </p:cNvPr>
              <p:cNvSpPr/>
              <p:nvPr/>
            </p:nvSpPr>
            <p:spPr>
              <a:xfrm>
                <a:off x="2616310"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Rectangle 9187">
                <a:extLst>
                  <a:ext uri="{FF2B5EF4-FFF2-40B4-BE49-F238E27FC236}">
                    <a16:creationId xmlns:a16="http://schemas.microsoft.com/office/drawing/2014/main" id="{DCBF4EEF-77A0-4F08-92C8-7A03A252F1CB}"/>
                  </a:ext>
                </a:extLst>
              </p:cNvPr>
              <p:cNvSpPr/>
              <p:nvPr/>
            </p:nvSpPr>
            <p:spPr>
              <a:xfrm>
                <a:off x="2747069"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Rectangle 9188">
                <a:extLst>
                  <a:ext uri="{FF2B5EF4-FFF2-40B4-BE49-F238E27FC236}">
                    <a16:creationId xmlns:a16="http://schemas.microsoft.com/office/drawing/2014/main" id="{A03BD33B-594B-4014-AD18-55057EDEDBC7}"/>
                  </a:ext>
                </a:extLst>
              </p:cNvPr>
              <p:cNvSpPr/>
              <p:nvPr/>
            </p:nvSpPr>
            <p:spPr>
              <a:xfrm>
                <a:off x="2877828"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Rectangle 9189">
                <a:extLst>
                  <a:ext uri="{FF2B5EF4-FFF2-40B4-BE49-F238E27FC236}">
                    <a16:creationId xmlns:a16="http://schemas.microsoft.com/office/drawing/2014/main" id="{5701E5E9-6614-41FD-AB4B-D5AF40CD7F49}"/>
                  </a:ext>
                </a:extLst>
              </p:cNvPr>
              <p:cNvSpPr/>
              <p:nvPr/>
            </p:nvSpPr>
            <p:spPr>
              <a:xfrm>
                <a:off x="3008587"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Rectangle 9190">
                <a:extLst>
                  <a:ext uri="{FF2B5EF4-FFF2-40B4-BE49-F238E27FC236}">
                    <a16:creationId xmlns:a16="http://schemas.microsoft.com/office/drawing/2014/main" id="{F37EBE04-A1F8-4128-8AAF-FC83C0AE937F}"/>
                  </a:ext>
                </a:extLst>
              </p:cNvPr>
              <p:cNvSpPr/>
              <p:nvPr/>
            </p:nvSpPr>
            <p:spPr>
              <a:xfrm>
                <a:off x="3139346"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Rectangle 9191">
                <a:extLst>
                  <a:ext uri="{FF2B5EF4-FFF2-40B4-BE49-F238E27FC236}">
                    <a16:creationId xmlns:a16="http://schemas.microsoft.com/office/drawing/2014/main" id="{05194FE4-E8EE-4E98-9E41-E44A82EADC99}"/>
                  </a:ext>
                </a:extLst>
              </p:cNvPr>
              <p:cNvSpPr/>
              <p:nvPr/>
            </p:nvSpPr>
            <p:spPr>
              <a:xfrm>
                <a:off x="3270105" y="4020000"/>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7" name="Connector 9197">
                <a:extLst>
                  <a:ext uri="{FF2B5EF4-FFF2-40B4-BE49-F238E27FC236}">
                    <a16:creationId xmlns:a16="http://schemas.microsoft.com/office/drawing/2014/main" id="{3B93274C-06A5-4EA2-9CBF-C3EC13EA8E3A}"/>
                  </a:ext>
                </a:extLst>
              </p:cNvPr>
              <p:cNvCxnSpPr/>
              <p:nvPr/>
            </p:nvCxnSpPr>
            <p:spPr>
              <a:xfrm>
                <a:off x="1188720" y="4325000"/>
                <a:ext cx="2201144" cy="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318" name="Connector 9198">
                <a:extLst>
                  <a:ext uri="{FF2B5EF4-FFF2-40B4-BE49-F238E27FC236}">
                    <a16:creationId xmlns:a16="http://schemas.microsoft.com/office/drawing/2014/main" id="{5BCB623F-DB8B-4180-A42D-BCA6D9B1BEC6}"/>
                  </a:ext>
                </a:extLst>
              </p:cNvPr>
              <p:cNvCxnSpPr/>
              <p:nvPr/>
            </p:nvCxnSpPr>
            <p:spPr>
              <a:xfrm>
                <a:off x="1188720"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319" name="Connector 9199">
                <a:extLst>
                  <a:ext uri="{FF2B5EF4-FFF2-40B4-BE49-F238E27FC236}">
                    <a16:creationId xmlns:a16="http://schemas.microsoft.com/office/drawing/2014/main" id="{5CCFC2C7-A9CA-4397-910C-BAD436F0F0CF}"/>
                  </a:ext>
                </a:extLst>
              </p:cNvPr>
              <p:cNvCxnSpPr/>
              <p:nvPr/>
            </p:nvCxnSpPr>
            <p:spPr>
              <a:xfrm>
                <a:off x="3389864" y="4280000"/>
                <a:ext cx="0" cy="4500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TextBox 319">
                <a:extLst>
                  <a:ext uri="{FF2B5EF4-FFF2-40B4-BE49-F238E27FC236}">
                    <a16:creationId xmlns:a16="http://schemas.microsoft.com/office/drawing/2014/main" id="{DDF82F91-B0D7-4D3C-94E3-FDFD8CF8F51D}"/>
                  </a:ext>
                </a:extLst>
              </p:cNvPr>
              <p:cNvSpPr txBox="1"/>
              <p:nvPr/>
            </p:nvSpPr>
            <p:spPr>
              <a:xfrm>
                <a:off x="1188719" y="4350000"/>
                <a:ext cx="3547455" cy="138499"/>
              </a:xfrm>
              <a:prstGeom prst="rect">
                <a:avLst/>
              </a:prstGeom>
              <a:noFill/>
            </p:spPr>
            <p:txBody>
              <a:bodyPr wrap="square" lIns="0" tIns="0" rIns="0" bIns="0" anchor="t">
                <a:spAutoFit/>
              </a:bodyPr>
              <a:lstStyle/>
              <a:p>
                <a:r>
                  <a:rPr lang="ko-KR" altLang="en-US" sz="900" b="1" dirty="0">
                    <a:solidFill>
                      <a:srgbClr val="C00000"/>
                    </a:solidFill>
                    <a:ea typeface="맑은 고딕"/>
                  </a:rPr>
                  <a:t>첫 토큰부터 일치하지 않으면 이후부터는 모두 연산</a:t>
                </a:r>
                <a:r>
                  <a:rPr lang="en-US" altLang="ko-KR" sz="900" b="1" dirty="0">
                    <a:solidFill>
                      <a:srgbClr val="C00000"/>
                    </a:solidFill>
                    <a:ea typeface="맑은 고딕"/>
                  </a:rPr>
                  <a:t>(</a:t>
                </a:r>
                <a:r>
                  <a:rPr lang="ko-KR" altLang="en-US" sz="900" b="1" dirty="0">
                    <a:solidFill>
                      <a:srgbClr val="C00000"/>
                    </a:solidFill>
                    <a:ea typeface="맑은 고딕"/>
                  </a:rPr>
                  <a:t>재계산</a:t>
                </a:r>
                <a:r>
                  <a:rPr lang="en-US" altLang="ko-KR" sz="900" b="1" dirty="0">
                    <a:solidFill>
                      <a:srgbClr val="C00000"/>
                    </a:solidFill>
                    <a:ea typeface="맑은 고딕"/>
                  </a:rPr>
                  <a:t>)</a:t>
                </a:r>
                <a:endParaRPr lang="ko-KR" altLang="en-US" sz="900" dirty="0">
                  <a:solidFill>
                    <a:srgbClr val="C00000"/>
                  </a:solidFill>
                  <a:ea typeface="맑은 고딕"/>
                </a:endParaRPr>
              </a:p>
            </p:txBody>
          </p:sp>
        </p:grpSp>
        <p:sp>
          <p:nvSpPr>
            <p:cNvPr id="292" name="TextBox 291">
              <a:extLst>
                <a:ext uri="{FF2B5EF4-FFF2-40B4-BE49-F238E27FC236}">
                  <a16:creationId xmlns:a16="http://schemas.microsoft.com/office/drawing/2014/main" id="{9A5243BE-86E0-4EF5-AFCF-9508E17E7CCD}"/>
                </a:ext>
              </a:extLst>
            </p:cNvPr>
            <p:cNvSpPr txBox="1"/>
            <p:nvPr/>
          </p:nvSpPr>
          <p:spPr>
            <a:xfrm>
              <a:off x="3770845" y="2460262"/>
              <a:ext cx="1650000" cy="553998"/>
            </a:xfrm>
            <a:prstGeom prst="rect">
              <a:avLst/>
            </a:prstGeom>
            <a:noFill/>
          </p:spPr>
          <p:txBody>
            <a:bodyPr wrap="square" lIns="0" tIns="0" rIns="0" bIns="0" anchor="t">
              <a:spAutoFit/>
            </a:bodyPr>
            <a:lstStyle/>
            <a:p>
              <a:r>
                <a:rPr sz="900" b="0" dirty="0">
                  <a:solidFill>
                    <a:srgbClr val="2F5597"/>
                  </a:solidFill>
                  <a:latin typeface="맑은 고딕"/>
                  <a:ea typeface="맑은 고딕"/>
                </a:rPr>
                <a:t>■ </a:t>
              </a:r>
              <a:r>
                <a:rPr lang="en-US" altLang="ko-KR" sz="900" b="1" dirty="0">
                  <a:solidFill>
                    <a:srgbClr val="2F5597"/>
                  </a:solidFill>
                  <a:ea typeface="맑은 고딕"/>
                </a:rPr>
                <a:t>Cache Hit</a:t>
              </a:r>
              <a:r>
                <a:rPr lang="en-US" altLang="ko-KR" sz="900" dirty="0">
                  <a:solidFill>
                    <a:srgbClr val="2F5597"/>
                  </a:solidFill>
                  <a:ea typeface="맑은 고딕"/>
                </a:rPr>
                <a:t> </a:t>
              </a:r>
              <a:r>
                <a:rPr lang="ko-KR" altLang="en-US" sz="900" dirty="0">
                  <a:solidFill>
                    <a:srgbClr val="2F5597"/>
                  </a:solidFill>
                  <a:ea typeface="맑은 고딕"/>
                </a:rPr>
                <a:t>부분 </a:t>
              </a:r>
              <a:r>
                <a:rPr lang="en-US" altLang="ko-KR" sz="900" dirty="0">
                  <a:solidFill>
                    <a:srgbClr val="2F5597"/>
                  </a:solidFill>
                  <a:ea typeface="맑은 고딕"/>
                </a:rPr>
                <a:t>Prefix </a:t>
              </a:r>
            </a:p>
            <a:p>
              <a:r>
                <a:rPr lang="en-US" altLang="ko-KR" sz="900" dirty="0">
                  <a:solidFill>
                    <a:srgbClr val="2F5597"/>
                  </a:solidFill>
                  <a:ea typeface="맑은 고딕"/>
                </a:rPr>
                <a:t>→ </a:t>
              </a:r>
              <a:r>
                <a:rPr lang="ko-KR" altLang="en-US" sz="900" dirty="0">
                  <a:solidFill>
                    <a:srgbClr val="2F5597"/>
                  </a:solidFill>
                  <a:ea typeface="맑은 고딕"/>
                </a:rPr>
                <a:t>재사용 </a:t>
              </a:r>
              <a:r>
                <a:rPr lang="en-US" altLang="ko-KR" sz="900" dirty="0">
                  <a:solidFill>
                    <a:srgbClr val="2F5597"/>
                  </a:solidFill>
                  <a:ea typeface="맑은 고딕"/>
                </a:rPr>
                <a:t>(</a:t>
              </a:r>
              <a:r>
                <a:rPr lang="ko-KR" altLang="en-US" sz="900" dirty="0">
                  <a:solidFill>
                    <a:srgbClr val="2F5597"/>
                  </a:solidFill>
                  <a:ea typeface="맑은 고딕"/>
                </a:rPr>
                <a:t>연산 </a:t>
              </a:r>
              <a:r>
                <a:rPr lang="en-US" altLang="ko-KR" sz="900" dirty="0">
                  <a:solidFill>
                    <a:srgbClr val="2F5597"/>
                  </a:solidFill>
                  <a:ea typeface="맑은 고딕"/>
                </a:rPr>
                <a:t>skip)</a:t>
              </a:r>
            </a:p>
            <a:p>
              <a:pPr algn="l"/>
              <a:endParaRPr lang="en-US" sz="900" b="0" dirty="0">
                <a:solidFill>
                  <a:srgbClr val="7F7F7F"/>
                </a:solidFill>
                <a:latin typeface="맑은 고딕"/>
                <a:ea typeface="맑은 고딕"/>
              </a:endParaRPr>
            </a:p>
            <a:p>
              <a:pPr algn="l"/>
              <a:r>
                <a:rPr sz="900" b="0" dirty="0">
                  <a:solidFill>
                    <a:srgbClr val="A6A6A6"/>
                  </a:solidFill>
                  <a:latin typeface="맑은 고딕"/>
                  <a:ea typeface="맑은 고딕"/>
                </a:rPr>
                <a:t>■ </a:t>
              </a:r>
              <a:r>
                <a:rPr lang="ko-KR" altLang="en-US" sz="900" b="0" dirty="0">
                  <a:solidFill>
                    <a:srgbClr val="A6A6A6"/>
                  </a:solidFill>
                  <a:latin typeface="맑은 고딕"/>
                  <a:ea typeface="맑은 고딕"/>
                </a:rPr>
                <a:t>연산</a:t>
              </a:r>
              <a:endParaRPr sz="900" b="0" dirty="0">
                <a:solidFill>
                  <a:srgbClr val="7F7F7F"/>
                </a:solidFill>
                <a:latin typeface="맑은 고딕"/>
                <a:ea typeface="맑은 고딕"/>
              </a:endParaRPr>
            </a:p>
          </p:txBody>
        </p:sp>
      </p:grpSp>
      <p:sp>
        <p:nvSpPr>
          <p:cNvPr id="9" name="화살표: 오른쪽 8">
            <a:extLst>
              <a:ext uri="{FF2B5EF4-FFF2-40B4-BE49-F238E27FC236}">
                <a16:creationId xmlns:a16="http://schemas.microsoft.com/office/drawing/2014/main" id="{6C6BDE96-5BE0-4FBC-9BB3-1F73B9F9CED7}"/>
              </a:ext>
            </a:extLst>
          </p:cNvPr>
          <p:cNvSpPr/>
          <p:nvPr/>
        </p:nvSpPr>
        <p:spPr>
          <a:xfrm>
            <a:off x="1815725" y="2327780"/>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 name="직선 화살표 연결선 10">
            <a:extLst>
              <a:ext uri="{FF2B5EF4-FFF2-40B4-BE49-F238E27FC236}">
                <a16:creationId xmlns:a16="http://schemas.microsoft.com/office/drawing/2014/main" id="{C124A045-C140-4977-A3DF-5A5CFC01FC17}"/>
              </a:ext>
            </a:extLst>
          </p:cNvPr>
          <p:cNvCxnSpPr>
            <a:cxnSpLocks/>
          </p:cNvCxnSpPr>
          <p:nvPr/>
        </p:nvCxnSpPr>
        <p:spPr>
          <a:xfrm flipV="1">
            <a:off x="1747354" y="2482118"/>
            <a:ext cx="159419" cy="2935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 name="오른쪽 중괄호 12">
            <a:extLst>
              <a:ext uri="{FF2B5EF4-FFF2-40B4-BE49-F238E27FC236}">
                <a16:creationId xmlns:a16="http://schemas.microsoft.com/office/drawing/2014/main" id="{469E9377-230F-4A92-9A19-438436EB4BE6}"/>
              </a:ext>
            </a:extLst>
          </p:cNvPr>
          <p:cNvSpPr/>
          <p:nvPr/>
        </p:nvSpPr>
        <p:spPr>
          <a:xfrm rot="16200000">
            <a:off x="1424245" y="2247878"/>
            <a:ext cx="71509" cy="5493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
        <p:nvSpPr>
          <p:cNvPr id="182" name="Rectangle 9157">
            <a:extLst>
              <a:ext uri="{FF2B5EF4-FFF2-40B4-BE49-F238E27FC236}">
                <a16:creationId xmlns:a16="http://schemas.microsoft.com/office/drawing/2014/main" id="{974B76E4-6606-449F-B848-E2AED344F5E5}"/>
              </a:ext>
            </a:extLst>
          </p:cNvPr>
          <p:cNvSpPr/>
          <p:nvPr/>
        </p:nvSpPr>
        <p:spPr>
          <a:xfrm>
            <a:off x="1949704" y="3937530"/>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183" name="Rectangle 9157">
            <a:extLst>
              <a:ext uri="{FF2B5EF4-FFF2-40B4-BE49-F238E27FC236}">
                <a16:creationId xmlns:a16="http://schemas.microsoft.com/office/drawing/2014/main" id="{E27FAA5B-E0C8-41AA-B9AE-684E1CCCD826}"/>
              </a:ext>
            </a:extLst>
          </p:cNvPr>
          <p:cNvSpPr/>
          <p:nvPr/>
        </p:nvSpPr>
        <p:spPr>
          <a:xfrm>
            <a:off x="2063205" y="3937530"/>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184" name="Rectangle 9157">
            <a:extLst>
              <a:ext uri="{FF2B5EF4-FFF2-40B4-BE49-F238E27FC236}">
                <a16:creationId xmlns:a16="http://schemas.microsoft.com/office/drawing/2014/main" id="{F2836B46-3088-45E9-8E87-07AB09B9208C}"/>
              </a:ext>
            </a:extLst>
          </p:cNvPr>
          <p:cNvSpPr/>
          <p:nvPr/>
        </p:nvSpPr>
        <p:spPr>
          <a:xfrm>
            <a:off x="2181436" y="3937530"/>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186" name="Rectangle 9157">
            <a:extLst>
              <a:ext uri="{FF2B5EF4-FFF2-40B4-BE49-F238E27FC236}">
                <a16:creationId xmlns:a16="http://schemas.microsoft.com/office/drawing/2014/main" id="{D1198A42-AF74-4A85-BE0A-77CD94287F11}"/>
              </a:ext>
            </a:extLst>
          </p:cNvPr>
          <p:cNvSpPr/>
          <p:nvPr/>
        </p:nvSpPr>
        <p:spPr>
          <a:xfrm>
            <a:off x="2303388" y="3937530"/>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188" name="화살표: 오른쪽 187">
            <a:extLst>
              <a:ext uri="{FF2B5EF4-FFF2-40B4-BE49-F238E27FC236}">
                <a16:creationId xmlns:a16="http://schemas.microsoft.com/office/drawing/2014/main" id="{8AF888D3-D700-4CA8-B85F-537C3676B282}"/>
              </a:ext>
            </a:extLst>
          </p:cNvPr>
          <p:cNvSpPr/>
          <p:nvPr/>
        </p:nvSpPr>
        <p:spPr>
          <a:xfrm>
            <a:off x="1789573" y="4039224"/>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1" name="직선 화살표 연결선 190">
            <a:extLst>
              <a:ext uri="{FF2B5EF4-FFF2-40B4-BE49-F238E27FC236}">
                <a16:creationId xmlns:a16="http://schemas.microsoft.com/office/drawing/2014/main" id="{12F11375-B399-488D-B364-616D492DA34E}"/>
              </a:ext>
            </a:extLst>
          </p:cNvPr>
          <p:cNvCxnSpPr>
            <a:cxnSpLocks/>
          </p:cNvCxnSpPr>
          <p:nvPr/>
        </p:nvCxnSpPr>
        <p:spPr>
          <a:xfrm flipV="1">
            <a:off x="1724153" y="4186261"/>
            <a:ext cx="161726" cy="5557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E3CB8BE-313E-4F02-A8BE-1D502B62542E}"/>
              </a:ext>
            </a:extLst>
          </p:cNvPr>
          <p:cNvSpPr txBox="1"/>
          <p:nvPr/>
        </p:nvSpPr>
        <p:spPr>
          <a:xfrm>
            <a:off x="1648350" y="4090662"/>
            <a:ext cx="250390" cy="261610"/>
          </a:xfrm>
          <a:prstGeom prst="rect">
            <a:avLst/>
          </a:prstGeom>
          <a:noFill/>
        </p:spPr>
        <p:txBody>
          <a:bodyPr wrap="none" rtlCol="0">
            <a:spAutoFit/>
          </a:bodyPr>
          <a:lstStyle/>
          <a:p>
            <a:r>
              <a:rPr lang="en-US" altLang="ko-KR" sz="1050" dirty="0">
                <a:solidFill>
                  <a:srgbClr val="FF0000"/>
                </a:solidFill>
              </a:rPr>
              <a:t>x</a:t>
            </a:r>
            <a:endParaRPr lang="ko-KR" altLang="en-US" sz="1050" dirty="0">
              <a:solidFill>
                <a:srgbClr val="FF0000"/>
              </a:solidFill>
            </a:endParaRPr>
          </a:p>
        </p:txBody>
      </p:sp>
      <p:sp>
        <p:nvSpPr>
          <p:cNvPr id="194" name="Rectangle 19"/>
          <p:cNvSpPr/>
          <p:nvPr/>
        </p:nvSpPr>
        <p:spPr>
          <a:xfrm>
            <a:off x="6582458" y="3541113"/>
            <a:ext cx="881589" cy="431149"/>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panose="020B0503020000020004" pitchFamily="50" charset="-127"/>
                <a:ea typeface="맑은 고딕" panose="020B0503020000020004" pitchFamily="50" charset="-127"/>
                <a:cs typeface="맑은 고딕"/>
              </a:rPr>
              <a:t>①유사도 계산</a:t>
            </a:r>
            <a:endParaRPr lang="en-US" altLang="ko-KR" sz="900" b="1" dirty="0">
              <a:solidFill>
                <a:srgbClr val="000000"/>
              </a:solidFill>
              <a:latin typeface="맑은 고딕" panose="020B0503020000020004" pitchFamily="50" charset="-127"/>
              <a:ea typeface="맑은 고딕" panose="020B0503020000020004" pitchFamily="50" charset="-127"/>
              <a:cs typeface="맑은 고딕"/>
            </a:endParaRPr>
          </a:p>
          <a:p>
            <a:pPr algn="ctr">
              <a:spcAft>
                <a:spcPts val="200"/>
              </a:spcAft>
            </a:pPr>
            <a:r>
              <a:rPr lang="en-US" sz="700" b="1" dirty="0">
                <a:solidFill>
                  <a:srgbClr val="000000"/>
                </a:solidFill>
                <a:latin typeface="맑은 고딕"/>
                <a:ea typeface="맑은 고딕"/>
                <a:cs typeface="맑은 고딕"/>
              </a:rPr>
              <a:t>(</a:t>
            </a:r>
            <a:r>
              <a:rPr sz="700" b="1" dirty="0">
                <a:solidFill>
                  <a:srgbClr val="000000"/>
                </a:solidFill>
                <a:latin typeface="맑은 고딕"/>
                <a:ea typeface="맑은 고딕"/>
                <a:cs typeface="맑은 고딕"/>
              </a:rPr>
              <a:t>A</a:t>
            </a:r>
            <a:r>
              <a:rPr lang="en-US" sz="700" b="1" dirty="0">
                <a:solidFill>
                  <a:srgbClr val="000000"/>
                </a:solidFill>
                <a:latin typeface="맑은 고딕"/>
                <a:ea typeface="맑은 고딕"/>
                <a:cs typeface="맑은 고딕"/>
              </a:rPr>
              <a:t>ttention)</a:t>
            </a:r>
            <a:endParaRPr sz="700" b="1" dirty="0">
              <a:solidFill>
                <a:srgbClr val="000000"/>
              </a:solidFill>
              <a:latin typeface="맑은 고딕"/>
              <a:ea typeface="맑은 고딕"/>
              <a:cs typeface="맑은 고딕"/>
            </a:endParaRPr>
          </a:p>
        </p:txBody>
      </p:sp>
      <p:cxnSp>
        <p:nvCxnSpPr>
          <p:cNvPr id="195" name="Connector 20"/>
          <p:cNvCxnSpPr>
            <a:stCxn id="194" idx="3"/>
            <a:endCxn id="196" idx="1"/>
          </p:cNvCxnSpPr>
          <p:nvPr/>
        </p:nvCxnSpPr>
        <p:spPr>
          <a:xfrm>
            <a:off x="7464047" y="3756688"/>
            <a:ext cx="26009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96" name="Rectangle 21"/>
          <p:cNvSpPr/>
          <p:nvPr/>
        </p:nvSpPr>
        <p:spPr>
          <a:xfrm>
            <a:off x="7724145" y="3541113"/>
            <a:ext cx="1126447" cy="431149"/>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900" b="1" dirty="0">
                <a:solidFill>
                  <a:srgbClr val="000000"/>
                </a:solidFill>
                <a:latin typeface="맑은 고딕" panose="020B0503020000020004" pitchFamily="50" charset="-127"/>
                <a:ea typeface="맑은 고딕" panose="020B0503020000020004" pitchFamily="50" charset="-127"/>
                <a:cs typeface="맑은 고딕"/>
              </a:rPr>
              <a:t>②</a:t>
            </a:r>
            <a:r>
              <a:rPr lang="ko-KR" altLang="en-US" sz="900" b="1" dirty="0">
                <a:solidFill>
                  <a:srgbClr val="000000"/>
                </a:solidFill>
                <a:latin typeface="맑은 고딕" panose="020B0503020000020004" pitchFamily="50" charset="-127"/>
                <a:ea typeface="맑은 고딕" panose="020B0503020000020004" pitchFamily="50" charset="-127"/>
                <a:cs typeface="맑은 고딕"/>
              </a:rPr>
              <a:t>재사용 토큰 선정 </a:t>
            </a:r>
            <a:r>
              <a:rPr lang="en-US" altLang="ko-KR" sz="700" b="1" dirty="0">
                <a:solidFill>
                  <a:srgbClr val="000000"/>
                </a:solidFill>
                <a:latin typeface="맑은 고딕" panose="020B0503020000020004" pitchFamily="50" charset="-127"/>
                <a:ea typeface="맑은 고딕" panose="020B0503020000020004" pitchFamily="50" charset="-127"/>
                <a:cs typeface="맑은 고딕"/>
              </a:rPr>
              <a:t>(</a:t>
            </a:r>
            <a:r>
              <a:rPr lang="en-US" sz="700" b="1" dirty="0">
                <a:solidFill>
                  <a:srgbClr val="000000"/>
                </a:solidFill>
                <a:latin typeface="맑은 고딕"/>
                <a:ea typeface="맑은 고딕"/>
                <a:cs typeface="맑은 고딕"/>
              </a:rPr>
              <a:t>KV Sampler)</a:t>
            </a:r>
            <a:endParaRPr sz="700" b="1" dirty="0">
              <a:solidFill>
                <a:srgbClr val="000000"/>
              </a:solidFill>
              <a:latin typeface="맑은 고딕"/>
              <a:ea typeface="맑은 고딕"/>
              <a:cs typeface="맑은 고딕"/>
            </a:endParaRPr>
          </a:p>
        </p:txBody>
      </p:sp>
      <p:cxnSp>
        <p:nvCxnSpPr>
          <p:cNvPr id="197" name="Connector 22"/>
          <p:cNvCxnSpPr>
            <a:stCxn id="196" idx="3"/>
            <a:endCxn id="198" idx="1"/>
          </p:cNvCxnSpPr>
          <p:nvPr/>
        </p:nvCxnSpPr>
        <p:spPr>
          <a:xfrm>
            <a:off x="8850592" y="3756688"/>
            <a:ext cx="21538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98" name="Rectangle 23"/>
          <p:cNvSpPr/>
          <p:nvPr/>
        </p:nvSpPr>
        <p:spPr>
          <a:xfrm>
            <a:off x="9065980" y="3541113"/>
            <a:ext cx="1273792" cy="431149"/>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900" b="1" dirty="0">
                <a:solidFill>
                  <a:srgbClr val="000000"/>
                </a:solidFill>
                <a:latin typeface="맑은 고딕" panose="020B0503020000020004" pitchFamily="50" charset="-127"/>
                <a:cs typeface="맑은 고딕"/>
              </a:rPr>
              <a:t>③</a:t>
            </a:r>
            <a:r>
              <a:rPr lang="ko-KR" altLang="en-US" sz="900" b="1" dirty="0">
                <a:solidFill>
                  <a:srgbClr val="000000"/>
                </a:solidFill>
                <a:latin typeface="맑은 고딕" panose="020B0503020000020004" pitchFamily="50" charset="-127"/>
                <a:cs typeface="맑은 고딕"/>
              </a:rPr>
              <a:t>재계산 토큰 선정 </a:t>
            </a:r>
            <a:endParaRPr lang="en-US" altLang="ko-KR" sz="900" b="1" dirty="0">
              <a:solidFill>
                <a:srgbClr val="000000"/>
              </a:solidFill>
              <a:latin typeface="맑은 고딕" panose="020B0503020000020004" pitchFamily="50" charset="-127"/>
              <a:cs typeface="맑은 고딕"/>
            </a:endParaRPr>
          </a:p>
          <a:p>
            <a:pPr algn="ctr">
              <a:spcAft>
                <a:spcPts val="200"/>
              </a:spcAft>
            </a:pPr>
            <a:r>
              <a:rPr lang="en-US" sz="700" b="1" dirty="0">
                <a:solidFill>
                  <a:srgbClr val="000000"/>
                </a:solidFill>
                <a:latin typeface="맑은 고딕"/>
                <a:ea typeface="맑은 고딕"/>
                <a:cs typeface="맑은 고딕"/>
              </a:rPr>
              <a:t>(</a:t>
            </a:r>
            <a:r>
              <a:rPr lang="en-US" sz="700" b="1" dirty="0" err="1">
                <a:solidFill>
                  <a:srgbClr val="000000"/>
                </a:solidFill>
                <a:latin typeface="맑은 고딕"/>
                <a:ea typeface="맑은 고딕"/>
                <a:cs typeface="맑은 고딕"/>
              </a:rPr>
              <a:t>Recompute</a:t>
            </a:r>
            <a:r>
              <a:rPr lang="en-US" sz="700" b="1" dirty="0">
                <a:solidFill>
                  <a:srgbClr val="000000"/>
                </a:solidFill>
                <a:latin typeface="맑은 고딕"/>
                <a:ea typeface="맑은 고딕"/>
                <a:cs typeface="맑은 고딕"/>
              </a:rPr>
              <a:t>-Token </a:t>
            </a:r>
          </a:p>
          <a:p>
            <a:pPr algn="ctr">
              <a:spcAft>
                <a:spcPts val="200"/>
              </a:spcAft>
            </a:pPr>
            <a:r>
              <a:rPr lang="en-US" sz="700" b="1" dirty="0">
                <a:solidFill>
                  <a:srgbClr val="000000"/>
                </a:solidFill>
                <a:latin typeface="맑은 고딕"/>
                <a:ea typeface="맑은 고딕"/>
                <a:cs typeface="맑은 고딕"/>
              </a:rPr>
              <a:t>Selector)</a:t>
            </a:r>
          </a:p>
        </p:txBody>
      </p:sp>
      <p:cxnSp>
        <p:nvCxnSpPr>
          <p:cNvPr id="199" name="Connector 24"/>
          <p:cNvCxnSpPr>
            <a:stCxn id="198" idx="3"/>
          </p:cNvCxnSpPr>
          <p:nvPr/>
        </p:nvCxnSpPr>
        <p:spPr>
          <a:xfrm>
            <a:off x="10339772" y="3756688"/>
            <a:ext cx="23232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200" name="Rectangle 25"/>
          <p:cNvSpPr/>
          <p:nvPr/>
        </p:nvSpPr>
        <p:spPr>
          <a:xfrm>
            <a:off x="10572099" y="3541113"/>
            <a:ext cx="1098066" cy="431149"/>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900" b="1" dirty="0">
                <a:solidFill>
                  <a:srgbClr val="000000"/>
                </a:solidFill>
                <a:latin typeface="맑은 고딕" panose="020B0503020000020004" pitchFamily="50" charset="-127"/>
                <a:cs typeface="맑은 고딕"/>
              </a:rPr>
              <a:t>④</a:t>
            </a:r>
            <a:r>
              <a:rPr lang="ko-KR" altLang="en-US" sz="900" b="1" dirty="0">
                <a:solidFill>
                  <a:srgbClr val="000000"/>
                </a:solidFill>
                <a:latin typeface="맑은 고딕" panose="020B0503020000020004" pitchFamily="50" charset="-127"/>
                <a:cs typeface="맑은 고딕"/>
              </a:rPr>
              <a:t>선택적 재계산</a:t>
            </a:r>
            <a:endParaRPr lang="en-US" altLang="ko-KR" sz="900" b="1" dirty="0">
              <a:solidFill>
                <a:srgbClr val="000000"/>
              </a:solidFill>
              <a:latin typeface="맑은 고딕" panose="020B0503020000020004" pitchFamily="50" charset="-127"/>
              <a:cs typeface="맑은 고딕"/>
            </a:endParaRPr>
          </a:p>
          <a:p>
            <a:pPr algn="ctr">
              <a:spcAft>
                <a:spcPts val="200"/>
              </a:spcAft>
            </a:pPr>
            <a:r>
              <a:rPr lang="en-US" sz="700" b="1" dirty="0">
                <a:solidFill>
                  <a:srgbClr val="000000"/>
                </a:solidFill>
                <a:latin typeface="맑은 고딕"/>
                <a:ea typeface="맑은 고딕"/>
                <a:cs typeface="맑은 고딕"/>
              </a:rPr>
              <a:t>(Selective </a:t>
            </a:r>
          </a:p>
          <a:p>
            <a:pPr algn="ctr">
              <a:spcAft>
                <a:spcPts val="200"/>
              </a:spcAft>
            </a:pPr>
            <a:r>
              <a:rPr lang="en-US" sz="700" b="1" dirty="0" err="1">
                <a:solidFill>
                  <a:srgbClr val="000000"/>
                </a:solidFill>
                <a:latin typeface="맑은 고딕"/>
                <a:ea typeface="맑은 고딕"/>
                <a:cs typeface="맑은 고딕"/>
              </a:rPr>
              <a:t>Recomputer</a:t>
            </a:r>
            <a:r>
              <a:rPr lang="en-US" sz="700" b="1" dirty="0">
                <a:solidFill>
                  <a:srgbClr val="000000"/>
                </a:solidFill>
                <a:latin typeface="맑은 고딕"/>
                <a:ea typeface="맑은 고딕"/>
                <a:cs typeface="맑은 고딕"/>
              </a:rPr>
              <a:t>)</a:t>
            </a:r>
            <a:endParaRPr sz="700" b="1" dirty="0">
              <a:solidFill>
                <a:srgbClr val="000000"/>
              </a:solidFill>
              <a:latin typeface="맑은 고딕"/>
              <a:ea typeface="맑은 고딕"/>
              <a:cs typeface="맑은 고딕"/>
            </a:endParaRPr>
          </a:p>
        </p:txBody>
      </p:sp>
      <p:sp>
        <p:nvSpPr>
          <p:cNvPr id="201" name="TextBox 200"/>
          <p:cNvSpPr txBox="1"/>
          <p:nvPr/>
        </p:nvSpPr>
        <p:spPr>
          <a:xfrm>
            <a:off x="6608457" y="4036147"/>
            <a:ext cx="1028472" cy="473463"/>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입력 </a:t>
            </a:r>
            <a:r>
              <a:rPr lang="en-US" altLang="ko-KR" sz="850" b="1" dirty="0">
                <a:solidFill>
                  <a:srgbClr val="FF0000"/>
                </a:solidFill>
                <a:latin typeface="맑은 고딕"/>
                <a:ea typeface="맑은 고딕"/>
                <a:cs typeface="맑은 고딕"/>
              </a:rPr>
              <a:t>Query</a:t>
            </a:r>
            <a:r>
              <a:rPr lang="ko-KR" altLang="en-US" sz="850" b="1" dirty="0">
                <a:solidFill>
                  <a:srgbClr val="FF0000"/>
                </a:solidFill>
                <a:latin typeface="맑은 고딕"/>
                <a:ea typeface="맑은 고딕"/>
                <a:cs typeface="맑은 고딕"/>
              </a:rPr>
              <a:t>와 </a:t>
            </a:r>
            <a:endParaRPr lang="en-US" altLang="ko-KR" sz="850" b="1" dirty="0">
              <a:solidFill>
                <a:srgbClr val="FF0000"/>
              </a:solidFill>
              <a:latin typeface="맑은 고딕"/>
              <a:ea typeface="맑은 고딕"/>
              <a:cs typeface="맑은 고딕"/>
            </a:endParaRPr>
          </a:p>
          <a:p>
            <a:pPr algn="l">
              <a:spcAft>
                <a:spcPts val="200"/>
              </a:spcAft>
            </a:pPr>
            <a:r>
              <a:rPr lang="ko-KR" altLang="en-US" sz="850" b="1" dirty="0">
                <a:solidFill>
                  <a:srgbClr val="FF0000"/>
                </a:solidFill>
                <a:latin typeface="맑은 고딕"/>
                <a:ea typeface="맑은 고딕"/>
                <a:cs typeface="맑은 고딕"/>
              </a:rPr>
              <a:t>기존 </a:t>
            </a:r>
            <a:r>
              <a:rPr lang="en-US" altLang="ko-KR" sz="850" b="1" dirty="0">
                <a:solidFill>
                  <a:srgbClr val="FF0000"/>
                </a:solidFill>
                <a:latin typeface="맑은 고딕"/>
                <a:ea typeface="맑은 고딕"/>
                <a:cs typeface="맑은 고딕"/>
              </a:rPr>
              <a:t>KV</a:t>
            </a:r>
            <a:r>
              <a:rPr lang="ko-KR" altLang="en-US" sz="850" b="1" dirty="0">
                <a:solidFill>
                  <a:srgbClr val="FF0000"/>
                </a:solidFill>
                <a:latin typeface="맑은 고딕"/>
                <a:ea typeface="맑은 고딕"/>
                <a:cs typeface="맑은 고딕"/>
              </a:rPr>
              <a:t> 캐시 간의</a:t>
            </a:r>
            <a:r>
              <a:rPr lang="en-US" altLang="ko-KR" sz="850" b="1" dirty="0">
                <a:solidFill>
                  <a:srgbClr val="FF0000"/>
                </a:solidFill>
                <a:latin typeface="맑은 고딕"/>
                <a:ea typeface="맑은 고딕"/>
                <a:cs typeface="맑은 고딕"/>
              </a:rPr>
              <a:t> </a:t>
            </a:r>
            <a:r>
              <a:rPr lang="ko-KR" altLang="en-US" sz="850" b="1" dirty="0">
                <a:solidFill>
                  <a:srgbClr val="FF0000"/>
                </a:solidFill>
                <a:latin typeface="맑은 고딕"/>
                <a:ea typeface="맑은 고딕"/>
                <a:cs typeface="맑은 고딕"/>
              </a:rPr>
              <a:t>유사도 계산 </a:t>
            </a:r>
            <a:endParaRPr lang="en-US" altLang="ko-KR" sz="850" b="1" dirty="0">
              <a:solidFill>
                <a:srgbClr val="FF0000"/>
              </a:solidFill>
              <a:latin typeface="맑은 고딕"/>
              <a:ea typeface="맑은 고딕"/>
              <a:cs typeface="맑은 고딕"/>
            </a:endParaRPr>
          </a:p>
        </p:txBody>
      </p:sp>
      <p:sp>
        <p:nvSpPr>
          <p:cNvPr id="203" name="TextBox 202">
            <a:extLst>
              <a:ext uri="{FF2B5EF4-FFF2-40B4-BE49-F238E27FC236}">
                <a16:creationId xmlns:a16="http://schemas.microsoft.com/office/drawing/2014/main" id="{2F666957-1F81-462F-B0DE-40E133AAB838}"/>
              </a:ext>
            </a:extLst>
          </p:cNvPr>
          <p:cNvSpPr txBox="1"/>
          <p:nvPr/>
        </p:nvSpPr>
        <p:spPr>
          <a:xfrm>
            <a:off x="1950254" y="3772276"/>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206" name="TextBox 205"/>
          <p:cNvSpPr txBox="1"/>
          <p:nvPr/>
        </p:nvSpPr>
        <p:spPr>
          <a:xfrm>
            <a:off x="7682649" y="4023323"/>
            <a:ext cx="1289749" cy="342658"/>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유사도</a:t>
            </a:r>
            <a:r>
              <a:rPr lang="en-US" altLang="ko-KR" sz="850" b="1" dirty="0">
                <a:solidFill>
                  <a:srgbClr val="FF0000"/>
                </a:solidFill>
                <a:latin typeface="맑은 고딕"/>
                <a:ea typeface="맑은 고딕"/>
                <a:cs typeface="맑은 고딕"/>
              </a:rPr>
              <a:t> </a:t>
            </a:r>
            <a:r>
              <a:rPr lang="ko-KR" altLang="en-US" sz="850" b="1" dirty="0">
                <a:solidFill>
                  <a:srgbClr val="FF0000"/>
                </a:solidFill>
                <a:latin typeface="맑은 고딕"/>
                <a:ea typeface="맑은 고딕"/>
                <a:cs typeface="맑은 고딕"/>
              </a:rPr>
              <a:t>점수로 </a:t>
            </a:r>
            <a:r>
              <a:rPr lang="en-US" altLang="ko-KR" sz="850" b="1" dirty="0">
                <a:solidFill>
                  <a:srgbClr val="FF0000"/>
                </a:solidFill>
                <a:latin typeface="맑은 고딕"/>
                <a:ea typeface="맑은 고딕"/>
                <a:cs typeface="맑은 고딕"/>
              </a:rPr>
              <a:t>KV </a:t>
            </a:r>
            <a:r>
              <a:rPr lang="ko-KR" altLang="en-US" sz="850" b="1" dirty="0">
                <a:solidFill>
                  <a:srgbClr val="FF0000"/>
                </a:solidFill>
                <a:latin typeface="맑은 고딕"/>
                <a:ea typeface="맑은 고딕"/>
                <a:cs typeface="맑은 고딕"/>
              </a:rPr>
              <a:t>캐시 </a:t>
            </a:r>
            <a:endParaRPr lang="en-US" altLang="ko-KR" sz="850" b="1" dirty="0">
              <a:solidFill>
                <a:srgbClr val="FF0000"/>
              </a:solidFill>
              <a:latin typeface="맑은 고딕"/>
              <a:ea typeface="맑은 고딕"/>
              <a:cs typeface="맑은 고딕"/>
            </a:endParaRPr>
          </a:p>
          <a:p>
            <a:pPr algn="l">
              <a:spcAft>
                <a:spcPts val="200"/>
              </a:spcAft>
            </a:pPr>
            <a:r>
              <a:rPr lang="ko-KR" altLang="en-US" sz="850" b="1" dirty="0">
                <a:solidFill>
                  <a:srgbClr val="FF0000"/>
                </a:solidFill>
                <a:latin typeface="맑은 고딕"/>
                <a:ea typeface="맑은 고딕"/>
                <a:cs typeface="맑은 고딕"/>
              </a:rPr>
              <a:t>재사용할 토큰 위치 선정</a:t>
            </a:r>
            <a:endParaRPr sz="850" b="1" dirty="0">
              <a:solidFill>
                <a:srgbClr val="FF0000"/>
              </a:solidFill>
              <a:latin typeface="맑은 고딕"/>
              <a:ea typeface="맑은 고딕"/>
              <a:cs typeface="맑은 고딕"/>
            </a:endParaRPr>
          </a:p>
        </p:txBody>
      </p:sp>
      <p:sp>
        <p:nvSpPr>
          <p:cNvPr id="208" name="TextBox 207"/>
          <p:cNvSpPr txBox="1"/>
          <p:nvPr/>
        </p:nvSpPr>
        <p:spPr>
          <a:xfrm>
            <a:off x="9110103" y="4036147"/>
            <a:ext cx="1037466" cy="186205"/>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재계산할 토큰 선정</a:t>
            </a:r>
            <a:endParaRPr sz="850" b="1" dirty="0">
              <a:solidFill>
                <a:srgbClr val="FF0000"/>
              </a:solidFill>
              <a:latin typeface="맑은 고딕"/>
              <a:ea typeface="맑은 고딕"/>
              <a:cs typeface="맑은 고딕"/>
            </a:endParaRPr>
          </a:p>
        </p:txBody>
      </p:sp>
      <p:sp>
        <p:nvSpPr>
          <p:cNvPr id="209" name="TextBox 208"/>
          <p:cNvSpPr txBox="1"/>
          <p:nvPr/>
        </p:nvSpPr>
        <p:spPr>
          <a:xfrm>
            <a:off x="10488676" y="4036147"/>
            <a:ext cx="1181489" cy="473463"/>
          </a:xfrm>
          <a:prstGeom prst="rect">
            <a:avLst/>
          </a:prstGeom>
          <a:noFill/>
        </p:spPr>
        <p:txBody>
          <a:bodyPr wrap="square" lIns="45720" tIns="27432" rIns="45720" bIns="27432" anchor="t">
            <a:spAutoFit/>
          </a:bodyPr>
          <a:lstStyle/>
          <a:p>
            <a:pPr algn="l">
              <a:spcAft>
                <a:spcPts val="200"/>
              </a:spcAft>
            </a:pPr>
            <a:r>
              <a:rPr lang="ko-KR" altLang="en-US" sz="850" b="1" dirty="0">
                <a:solidFill>
                  <a:srgbClr val="FF0000"/>
                </a:solidFill>
                <a:latin typeface="맑은 고딕"/>
                <a:ea typeface="맑은 고딕"/>
                <a:cs typeface="맑은 고딕"/>
              </a:rPr>
              <a:t>선정한 토큰만 재계산</a:t>
            </a:r>
            <a:r>
              <a:rPr lang="en-US" altLang="ko-KR" sz="850" b="1" dirty="0">
                <a:solidFill>
                  <a:srgbClr val="FF0000"/>
                </a:solidFill>
                <a:latin typeface="맑은 고딕"/>
                <a:ea typeface="맑은 고딕"/>
                <a:cs typeface="맑은 고딕"/>
              </a:rPr>
              <a:t>, </a:t>
            </a:r>
          </a:p>
          <a:p>
            <a:pPr>
              <a:spcAft>
                <a:spcPts val="200"/>
              </a:spcAft>
            </a:pPr>
            <a:r>
              <a:rPr lang="ko-KR" altLang="en-US" sz="850" b="1" dirty="0">
                <a:solidFill>
                  <a:srgbClr val="FF0000"/>
                </a:solidFill>
                <a:ea typeface="맑은 고딕"/>
                <a:cs typeface="맑은 고딕"/>
              </a:rPr>
              <a:t>재사용할 토큰 위치의 </a:t>
            </a:r>
            <a:r>
              <a:rPr lang="en-US" altLang="ko-KR" sz="850" b="1" dirty="0">
                <a:solidFill>
                  <a:srgbClr val="FF0000"/>
                </a:solidFill>
                <a:ea typeface="맑은 고딕"/>
                <a:cs typeface="맑은 고딕"/>
              </a:rPr>
              <a:t>KV </a:t>
            </a:r>
            <a:r>
              <a:rPr lang="ko-KR" altLang="en-US" sz="850" b="1" dirty="0">
                <a:solidFill>
                  <a:srgbClr val="FF0000"/>
                </a:solidFill>
                <a:ea typeface="맑은 고딕"/>
                <a:cs typeface="맑은 고딕"/>
              </a:rPr>
              <a:t>캐시는 재사용 </a:t>
            </a:r>
            <a:endParaRPr sz="850" b="1" dirty="0">
              <a:solidFill>
                <a:srgbClr val="FF0000"/>
              </a:solidFill>
              <a:latin typeface="맑은 고딕"/>
              <a:ea typeface="맑은 고딕"/>
              <a:cs typeface="맑은 고딕"/>
            </a:endParaRPr>
          </a:p>
        </p:txBody>
      </p:sp>
      <p:sp>
        <p:nvSpPr>
          <p:cNvPr id="230" name="TextBox 229">
            <a:extLst>
              <a:ext uri="{FF2B5EF4-FFF2-40B4-BE49-F238E27FC236}">
                <a16:creationId xmlns:a16="http://schemas.microsoft.com/office/drawing/2014/main" id="{35E4B123-17EB-4288-BE15-B4B2235CAB60}"/>
              </a:ext>
            </a:extLst>
          </p:cNvPr>
          <p:cNvSpPr txBox="1"/>
          <p:nvPr/>
        </p:nvSpPr>
        <p:spPr>
          <a:xfrm>
            <a:off x="9815477" y="2493426"/>
            <a:ext cx="1650000" cy="138499"/>
          </a:xfrm>
          <a:prstGeom prst="rect">
            <a:avLst/>
          </a:prstGeom>
          <a:noFill/>
        </p:spPr>
        <p:txBody>
          <a:bodyPr wrap="square" lIns="0" tIns="0" rIns="0" bIns="0" anchor="t">
            <a:spAutoFit/>
          </a:bodyPr>
          <a:lstStyle/>
          <a:p>
            <a:pPr algn="l"/>
            <a:endParaRPr sz="900" b="0" dirty="0">
              <a:solidFill>
                <a:srgbClr val="7F7F7F"/>
              </a:solidFill>
              <a:latin typeface="맑은 고딕"/>
              <a:ea typeface="맑은 고딕"/>
            </a:endParaRPr>
          </a:p>
        </p:txBody>
      </p:sp>
      <p:sp>
        <p:nvSpPr>
          <p:cNvPr id="231" name="TextBox 230">
            <a:extLst>
              <a:ext uri="{FF2B5EF4-FFF2-40B4-BE49-F238E27FC236}">
                <a16:creationId xmlns:a16="http://schemas.microsoft.com/office/drawing/2014/main" id="{3B701CEB-52C9-4298-9CD8-60B369B73CFD}"/>
              </a:ext>
            </a:extLst>
          </p:cNvPr>
          <p:cNvSpPr txBox="1"/>
          <p:nvPr/>
        </p:nvSpPr>
        <p:spPr>
          <a:xfrm>
            <a:off x="6668275" y="3034483"/>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2</a:t>
            </a:r>
          </a:p>
        </p:txBody>
      </p:sp>
      <p:sp>
        <p:nvSpPr>
          <p:cNvPr id="232" name="Rectangle 9177">
            <a:extLst>
              <a:ext uri="{FF2B5EF4-FFF2-40B4-BE49-F238E27FC236}">
                <a16:creationId xmlns:a16="http://schemas.microsoft.com/office/drawing/2014/main" id="{AFA95F0A-0B51-412D-991D-94E331F92211}"/>
              </a:ext>
            </a:extLst>
          </p:cNvPr>
          <p:cNvSpPr/>
          <p:nvPr/>
        </p:nvSpPr>
        <p:spPr>
          <a:xfrm>
            <a:off x="7439114"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33" name="Rectangle 9178">
            <a:extLst>
              <a:ext uri="{FF2B5EF4-FFF2-40B4-BE49-F238E27FC236}">
                <a16:creationId xmlns:a16="http://schemas.microsoft.com/office/drawing/2014/main" id="{1771B0AB-3041-4657-B033-930EE08656D9}"/>
              </a:ext>
            </a:extLst>
          </p:cNvPr>
          <p:cNvSpPr/>
          <p:nvPr/>
        </p:nvSpPr>
        <p:spPr>
          <a:xfrm>
            <a:off x="7577493"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34" name="Rectangle 9179">
            <a:extLst>
              <a:ext uri="{FF2B5EF4-FFF2-40B4-BE49-F238E27FC236}">
                <a16:creationId xmlns:a16="http://schemas.microsoft.com/office/drawing/2014/main" id="{3BC693D2-AC42-45E4-A9D7-BEA0AFA35EEF}"/>
              </a:ext>
            </a:extLst>
          </p:cNvPr>
          <p:cNvSpPr/>
          <p:nvPr/>
        </p:nvSpPr>
        <p:spPr>
          <a:xfrm>
            <a:off x="7715872"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51" name="Rectangle 9154">
            <a:extLst>
              <a:ext uri="{FF2B5EF4-FFF2-40B4-BE49-F238E27FC236}">
                <a16:creationId xmlns:a16="http://schemas.microsoft.com/office/drawing/2014/main" id="{0D9A49DE-EF56-4FB4-A66D-A08C049B28DF}"/>
              </a:ext>
            </a:extLst>
          </p:cNvPr>
          <p:cNvSpPr/>
          <p:nvPr/>
        </p:nvSpPr>
        <p:spPr>
          <a:xfrm>
            <a:off x="7303592" y="2974483"/>
            <a:ext cx="118872" cy="256901"/>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grpSp>
        <p:nvGrpSpPr>
          <p:cNvPr id="32" name="그룹 31"/>
          <p:cNvGrpSpPr/>
          <p:nvPr/>
        </p:nvGrpSpPr>
        <p:grpSpPr>
          <a:xfrm>
            <a:off x="6668275" y="2186853"/>
            <a:ext cx="1873620" cy="413333"/>
            <a:chOff x="6668275" y="2594573"/>
            <a:chExt cx="1873620" cy="413333"/>
          </a:xfrm>
        </p:grpSpPr>
        <p:sp>
          <p:nvSpPr>
            <p:cNvPr id="224" name="TextBox 223">
              <a:extLst>
                <a:ext uri="{FF2B5EF4-FFF2-40B4-BE49-F238E27FC236}">
                  <a16:creationId xmlns:a16="http://schemas.microsoft.com/office/drawing/2014/main" id="{2C683090-9DC8-4025-B946-CD624C957B60}"/>
                </a:ext>
              </a:extLst>
            </p:cNvPr>
            <p:cNvSpPr txBox="1"/>
            <p:nvPr/>
          </p:nvSpPr>
          <p:spPr>
            <a:xfrm>
              <a:off x="7308355" y="2594573"/>
              <a:ext cx="512036" cy="138499"/>
            </a:xfrm>
            <a:prstGeom prst="rect">
              <a:avLst/>
            </a:prstGeom>
            <a:noFill/>
          </p:spPr>
          <p:txBody>
            <a:bodyPr wrap="square" lIns="0" tIns="0" rIns="0" bIns="0" anchor="t">
              <a:spAutoFit/>
            </a:bodyPr>
            <a:lstStyle/>
            <a:p>
              <a:pPr algn="ctr"/>
              <a:r>
                <a:rPr sz="900" b="1" dirty="0">
                  <a:solidFill>
                    <a:srgbClr val="404040"/>
                  </a:solidFill>
                  <a:latin typeface="맑은 고딕"/>
                  <a:ea typeface="맑은 고딕"/>
                </a:rPr>
                <a:t>Prefix</a:t>
              </a:r>
            </a:p>
          </p:txBody>
        </p:sp>
        <p:sp>
          <p:nvSpPr>
            <p:cNvPr id="225" name="TextBox 224">
              <a:extLst>
                <a:ext uri="{FF2B5EF4-FFF2-40B4-BE49-F238E27FC236}">
                  <a16:creationId xmlns:a16="http://schemas.microsoft.com/office/drawing/2014/main" id="{8526556A-E6B8-416F-ACF1-A76B008E22D2}"/>
                </a:ext>
              </a:extLst>
            </p:cNvPr>
            <p:cNvSpPr txBox="1"/>
            <p:nvPr/>
          </p:nvSpPr>
          <p:spPr>
            <a:xfrm>
              <a:off x="6668275" y="2804573"/>
              <a:ext cx="560000" cy="138499"/>
            </a:xfrm>
            <a:prstGeom prst="rect">
              <a:avLst/>
            </a:prstGeom>
            <a:noFill/>
          </p:spPr>
          <p:txBody>
            <a:bodyPr wrap="square" lIns="0" tIns="0" rIns="0" bIns="0" anchor="t">
              <a:spAutoFit/>
            </a:bodyPr>
            <a:lstStyle/>
            <a:p>
              <a:pPr algn="l"/>
              <a:r>
                <a:rPr sz="900" b="1" dirty="0">
                  <a:solidFill>
                    <a:srgbClr val="404040"/>
                  </a:solidFill>
                  <a:latin typeface="맑은 고딕"/>
                  <a:ea typeface="맑은 고딕"/>
                </a:rPr>
                <a:t>Req 1</a:t>
              </a:r>
            </a:p>
          </p:txBody>
        </p:sp>
        <p:sp>
          <p:nvSpPr>
            <p:cNvPr id="226" name="Rectangle 9154">
              <a:extLst>
                <a:ext uri="{FF2B5EF4-FFF2-40B4-BE49-F238E27FC236}">
                  <a16:creationId xmlns:a16="http://schemas.microsoft.com/office/drawing/2014/main" id="{35276C1E-AF9A-4AFE-B949-9F64250C7F30}"/>
                </a:ext>
              </a:extLst>
            </p:cNvPr>
            <p:cNvSpPr/>
            <p:nvPr/>
          </p:nvSpPr>
          <p:spPr>
            <a:xfrm>
              <a:off x="7303592" y="27445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27" name="Rectangle 9155">
              <a:extLst>
                <a:ext uri="{FF2B5EF4-FFF2-40B4-BE49-F238E27FC236}">
                  <a16:creationId xmlns:a16="http://schemas.microsoft.com/office/drawing/2014/main" id="{AF732566-9886-4550-ADE4-FBA6FF8B62C9}"/>
                </a:ext>
              </a:extLst>
            </p:cNvPr>
            <p:cNvSpPr/>
            <p:nvPr/>
          </p:nvSpPr>
          <p:spPr>
            <a:xfrm>
              <a:off x="7439114" y="27445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28" name="Rectangle 9156">
              <a:extLst>
                <a:ext uri="{FF2B5EF4-FFF2-40B4-BE49-F238E27FC236}">
                  <a16:creationId xmlns:a16="http://schemas.microsoft.com/office/drawing/2014/main" id="{137B5783-2039-4AEA-9796-7FFC96DD02E7}"/>
                </a:ext>
              </a:extLst>
            </p:cNvPr>
            <p:cNvSpPr/>
            <p:nvPr/>
          </p:nvSpPr>
          <p:spPr>
            <a:xfrm>
              <a:off x="7577493" y="27445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29" name="Rectangle 9157">
              <a:extLst>
                <a:ext uri="{FF2B5EF4-FFF2-40B4-BE49-F238E27FC236}">
                  <a16:creationId xmlns:a16="http://schemas.microsoft.com/office/drawing/2014/main" id="{43B28283-A0A4-41A7-A5D4-3D2F06BF285C}"/>
                </a:ext>
              </a:extLst>
            </p:cNvPr>
            <p:cNvSpPr/>
            <p:nvPr/>
          </p:nvSpPr>
          <p:spPr>
            <a:xfrm>
              <a:off x="7715872" y="27445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52" name="Rectangle 9157">
              <a:extLst>
                <a:ext uri="{FF2B5EF4-FFF2-40B4-BE49-F238E27FC236}">
                  <a16:creationId xmlns:a16="http://schemas.microsoft.com/office/drawing/2014/main" id="{268F0222-FF02-44A2-8977-1F00C1CB767F}"/>
                </a:ext>
              </a:extLst>
            </p:cNvPr>
            <p:cNvSpPr/>
            <p:nvPr/>
          </p:nvSpPr>
          <p:spPr>
            <a:xfrm>
              <a:off x="8069339" y="275187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253" name="Rectangle 9157">
              <a:extLst>
                <a:ext uri="{FF2B5EF4-FFF2-40B4-BE49-F238E27FC236}">
                  <a16:creationId xmlns:a16="http://schemas.microsoft.com/office/drawing/2014/main" id="{D3E8FCF1-375D-4F0C-BE0F-335F0E6EDE1F}"/>
                </a:ext>
              </a:extLst>
            </p:cNvPr>
            <p:cNvSpPr/>
            <p:nvPr/>
          </p:nvSpPr>
          <p:spPr>
            <a:xfrm>
              <a:off x="8182840" y="275187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254" name="Rectangle 9157">
              <a:extLst>
                <a:ext uri="{FF2B5EF4-FFF2-40B4-BE49-F238E27FC236}">
                  <a16:creationId xmlns:a16="http://schemas.microsoft.com/office/drawing/2014/main" id="{C951C3A9-1DDF-4CDD-B18F-4CCD3EE98605}"/>
                </a:ext>
              </a:extLst>
            </p:cNvPr>
            <p:cNvSpPr/>
            <p:nvPr/>
          </p:nvSpPr>
          <p:spPr>
            <a:xfrm>
              <a:off x="8301071" y="275187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255" name="Rectangle 9157">
              <a:extLst>
                <a:ext uri="{FF2B5EF4-FFF2-40B4-BE49-F238E27FC236}">
                  <a16:creationId xmlns:a16="http://schemas.microsoft.com/office/drawing/2014/main" id="{C7F7FC97-6C97-4296-8240-405248F211DF}"/>
                </a:ext>
              </a:extLst>
            </p:cNvPr>
            <p:cNvSpPr/>
            <p:nvPr/>
          </p:nvSpPr>
          <p:spPr>
            <a:xfrm>
              <a:off x="8423023" y="2751874"/>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256" name="화살표: 오른쪽 324">
              <a:extLst>
                <a:ext uri="{FF2B5EF4-FFF2-40B4-BE49-F238E27FC236}">
                  <a16:creationId xmlns:a16="http://schemas.microsoft.com/office/drawing/2014/main" id="{805FBAF8-09B4-412C-8B0B-3AE21541E41E}"/>
                </a:ext>
              </a:extLst>
            </p:cNvPr>
            <p:cNvSpPr/>
            <p:nvPr/>
          </p:nvSpPr>
          <p:spPr>
            <a:xfrm>
              <a:off x="7909208" y="2853568"/>
              <a:ext cx="101695" cy="45719"/>
            </a:xfrm>
            <a:prstGeom prst="rightArrow">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33" name="위로 구부러진 화살표 32"/>
          <p:cNvSpPr/>
          <p:nvPr/>
        </p:nvSpPr>
        <p:spPr>
          <a:xfrm rot="18900000">
            <a:off x="7920064" y="2808167"/>
            <a:ext cx="378992" cy="151283"/>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59" name="Oval 159">
            <a:extLst>
              <a:ext uri="{FF2B5EF4-FFF2-40B4-BE49-F238E27FC236}">
                <a16:creationId xmlns:a16="http://schemas.microsoft.com/office/drawing/2014/main" id="{DA54D0DB-719B-484E-AABC-3D8E4B4763DB}"/>
              </a:ext>
            </a:extLst>
          </p:cNvPr>
          <p:cNvSpPr/>
          <p:nvPr/>
        </p:nvSpPr>
        <p:spPr>
          <a:xfrm>
            <a:off x="8111710" y="2845812"/>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1</a:t>
            </a:r>
            <a:endParaRPr sz="1000" b="1" i="0" dirty="0">
              <a:solidFill>
                <a:srgbClr val="FFFFFF"/>
              </a:solidFill>
              <a:latin typeface="맑은 고딕"/>
              <a:ea typeface="맑은 고딕"/>
            </a:endParaRPr>
          </a:p>
        </p:txBody>
      </p:sp>
      <p:sp>
        <p:nvSpPr>
          <p:cNvPr id="361" name="TextBox 360">
            <a:extLst>
              <a:ext uri="{FF2B5EF4-FFF2-40B4-BE49-F238E27FC236}">
                <a16:creationId xmlns:a16="http://schemas.microsoft.com/office/drawing/2014/main" id="{2F666957-1F81-462F-B0DE-40E133AAB838}"/>
              </a:ext>
            </a:extLst>
          </p:cNvPr>
          <p:cNvSpPr txBox="1"/>
          <p:nvPr/>
        </p:nvSpPr>
        <p:spPr>
          <a:xfrm>
            <a:off x="8026887" y="2189753"/>
            <a:ext cx="563240" cy="107722"/>
          </a:xfrm>
          <a:prstGeom prst="rect">
            <a:avLst/>
          </a:prstGeom>
          <a:noFill/>
        </p:spPr>
        <p:txBody>
          <a:bodyPr wrap="square" lIns="0" tIns="0" rIns="0" bIns="0" anchor="t">
            <a:spAutoFit/>
          </a:bodyPr>
          <a:lstStyle/>
          <a:p>
            <a:pPr algn="ctr"/>
            <a:r>
              <a:rPr lang="en-US" sz="700" b="1" dirty="0">
                <a:solidFill>
                  <a:srgbClr val="404040"/>
                </a:solidFill>
                <a:latin typeface="맑은 고딕"/>
                <a:ea typeface="맑은 고딕"/>
              </a:rPr>
              <a:t>KV</a:t>
            </a:r>
            <a:r>
              <a:rPr lang="ko-KR" altLang="en-US" sz="700" b="1" dirty="0">
                <a:solidFill>
                  <a:srgbClr val="404040"/>
                </a:solidFill>
                <a:latin typeface="맑은 고딕"/>
                <a:ea typeface="맑은 고딕"/>
              </a:rPr>
              <a:t> 캐시 생성</a:t>
            </a:r>
            <a:endParaRPr sz="700" b="1" dirty="0">
              <a:solidFill>
                <a:srgbClr val="404040"/>
              </a:solidFill>
              <a:latin typeface="맑은 고딕"/>
              <a:ea typeface="맑은 고딕"/>
            </a:endParaRPr>
          </a:p>
        </p:txBody>
      </p:sp>
      <p:sp>
        <p:nvSpPr>
          <p:cNvPr id="362" name="Rectangle 9177">
            <a:extLst>
              <a:ext uri="{FF2B5EF4-FFF2-40B4-BE49-F238E27FC236}">
                <a16:creationId xmlns:a16="http://schemas.microsoft.com/office/drawing/2014/main" id="{AFA95F0A-0B51-412D-991D-94E331F92211}"/>
              </a:ext>
            </a:extLst>
          </p:cNvPr>
          <p:cNvSpPr/>
          <p:nvPr/>
        </p:nvSpPr>
        <p:spPr>
          <a:xfrm>
            <a:off x="9692260"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63" name="Rectangle 9178">
            <a:extLst>
              <a:ext uri="{FF2B5EF4-FFF2-40B4-BE49-F238E27FC236}">
                <a16:creationId xmlns:a16="http://schemas.microsoft.com/office/drawing/2014/main" id="{1771B0AB-3041-4657-B033-930EE08656D9}"/>
              </a:ext>
            </a:extLst>
          </p:cNvPr>
          <p:cNvSpPr/>
          <p:nvPr/>
        </p:nvSpPr>
        <p:spPr>
          <a:xfrm>
            <a:off x="9830639"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64" name="Rectangle 9179">
            <a:extLst>
              <a:ext uri="{FF2B5EF4-FFF2-40B4-BE49-F238E27FC236}">
                <a16:creationId xmlns:a16="http://schemas.microsoft.com/office/drawing/2014/main" id="{3BC693D2-AC42-45E4-A9D7-BEA0AFA35EEF}"/>
              </a:ext>
            </a:extLst>
          </p:cNvPr>
          <p:cNvSpPr/>
          <p:nvPr/>
        </p:nvSpPr>
        <p:spPr>
          <a:xfrm>
            <a:off x="9969018" y="297448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65" name="Rectangle 9154">
            <a:extLst>
              <a:ext uri="{FF2B5EF4-FFF2-40B4-BE49-F238E27FC236}">
                <a16:creationId xmlns:a16="http://schemas.microsoft.com/office/drawing/2014/main" id="{0D9A49DE-EF56-4FB4-A66D-A08C049B28DF}"/>
              </a:ext>
            </a:extLst>
          </p:cNvPr>
          <p:cNvSpPr/>
          <p:nvPr/>
        </p:nvSpPr>
        <p:spPr>
          <a:xfrm>
            <a:off x="9556738" y="2975352"/>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34" name="직사각형 33"/>
          <p:cNvSpPr/>
          <p:nvPr/>
        </p:nvSpPr>
        <p:spPr>
          <a:xfrm>
            <a:off x="9811132" y="2948794"/>
            <a:ext cx="299157" cy="309377"/>
          </a:xfrm>
          <a:prstGeom prst="rect">
            <a:avLst/>
          </a:prstGeom>
          <a:noFill/>
          <a:ln>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6" name="직사각형 365"/>
          <p:cNvSpPr/>
          <p:nvPr/>
        </p:nvSpPr>
        <p:spPr>
          <a:xfrm>
            <a:off x="9511967" y="2948794"/>
            <a:ext cx="299157" cy="309377"/>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7" name="Oval 159">
            <a:extLst>
              <a:ext uri="{FF2B5EF4-FFF2-40B4-BE49-F238E27FC236}">
                <a16:creationId xmlns:a16="http://schemas.microsoft.com/office/drawing/2014/main" id="{DA54D0DB-719B-484E-AABC-3D8E4B4763DB}"/>
              </a:ext>
            </a:extLst>
          </p:cNvPr>
          <p:cNvSpPr/>
          <p:nvPr/>
        </p:nvSpPr>
        <p:spPr>
          <a:xfrm>
            <a:off x="9897873" y="2794128"/>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2</a:t>
            </a:r>
            <a:endParaRPr sz="1000" b="1" i="0" dirty="0">
              <a:solidFill>
                <a:srgbClr val="FFFFFF"/>
              </a:solidFill>
              <a:latin typeface="맑은 고딕"/>
              <a:ea typeface="맑은 고딕"/>
            </a:endParaRPr>
          </a:p>
        </p:txBody>
      </p:sp>
      <p:sp>
        <p:nvSpPr>
          <p:cNvPr id="368" name="Oval 159">
            <a:extLst>
              <a:ext uri="{FF2B5EF4-FFF2-40B4-BE49-F238E27FC236}">
                <a16:creationId xmlns:a16="http://schemas.microsoft.com/office/drawing/2014/main" id="{DA54D0DB-719B-484E-AABC-3D8E4B4763DB}"/>
              </a:ext>
            </a:extLst>
          </p:cNvPr>
          <p:cNvSpPr/>
          <p:nvPr/>
        </p:nvSpPr>
        <p:spPr>
          <a:xfrm>
            <a:off x="9581069" y="2794128"/>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3</a:t>
            </a:r>
            <a:endParaRPr sz="1000" b="1" i="0" dirty="0">
              <a:solidFill>
                <a:srgbClr val="FFFFFF"/>
              </a:solidFill>
              <a:latin typeface="맑은 고딕"/>
              <a:ea typeface="맑은 고딕"/>
            </a:endParaRPr>
          </a:p>
        </p:txBody>
      </p:sp>
      <p:cxnSp>
        <p:nvCxnSpPr>
          <p:cNvPr id="36" name="직선 화살표 연결선 35"/>
          <p:cNvCxnSpPr/>
          <p:nvPr/>
        </p:nvCxnSpPr>
        <p:spPr>
          <a:xfrm>
            <a:off x="7936452" y="3102499"/>
            <a:ext cx="360589" cy="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71" name="Rectangle 9177">
            <a:extLst>
              <a:ext uri="{FF2B5EF4-FFF2-40B4-BE49-F238E27FC236}">
                <a16:creationId xmlns:a16="http://schemas.microsoft.com/office/drawing/2014/main" id="{AFA95F0A-0B51-412D-991D-94E331F92211}"/>
              </a:ext>
            </a:extLst>
          </p:cNvPr>
          <p:cNvSpPr/>
          <p:nvPr/>
        </p:nvSpPr>
        <p:spPr>
          <a:xfrm>
            <a:off x="11075609" y="29594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372" name="Rectangle 9178">
            <a:extLst>
              <a:ext uri="{FF2B5EF4-FFF2-40B4-BE49-F238E27FC236}">
                <a16:creationId xmlns:a16="http://schemas.microsoft.com/office/drawing/2014/main" id="{1771B0AB-3041-4657-B033-930EE08656D9}"/>
              </a:ext>
            </a:extLst>
          </p:cNvPr>
          <p:cNvSpPr/>
          <p:nvPr/>
        </p:nvSpPr>
        <p:spPr>
          <a:xfrm>
            <a:off x="11213988" y="29594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73" name="Rectangle 9179">
            <a:extLst>
              <a:ext uri="{FF2B5EF4-FFF2-40B4-BE49-F238E27FC236}">
                <a16:creationId xmlns:a16="http://schemas.microsoft.com/office/drawing/2014/main" id="{3BC693D2-AC42-45E4-A9D7-BEA0AFA35EEF}"/>
              </a:ext>
            </a:extLst>
          </p:cNvPr>
          <p:cNvSpPr/>
          <p:nvPr/>
        </p:nvSpPr>
        <p:spPr>
          <a:xfrm>
            <a:off x="11352367" y="2959473"/>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74" name="Rectangle 9154">
            <a:extLst>
              <a:ext uri="{FF2B5EF4-FFF2-40B4-BE49-F238E27FC236}">
                <a16:creationId xmlns:a16="http://schemas.microsoft.com/office/drawing/2014/main" id="{0D9A49DE-EF56-4FB4-A66D-A08C049B28DF}"/>
              </a:ext>
            </a:extLst>
          </p:cNvPr>
          <p:cNvSpPr/>
          <p:nvPr/>
        </p:nvSpPr>
        <p:spPr>
          <a:xfrm>
            <a:off x="10940087" y="2960342"/>
            <a:ext cx="118872"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cxnSp>
        <p:nvCxnSpPr>
          <p:cNvPr id="375" name="직선 화살표 연결선 374"/>
          <p:cNvCxnSpPr/>
          <p:nvPr/>
        </p:nvCxnSpPr>
        <p:spPr>
          <a:xfrm>
            <a:off x="10235988" y="3087145"/>
            <a:ext cx="505376" cy="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79" name="직사각형 378"/>
          <p:cNvSpPr/>
          <p:nvPr/>
        </p:nvSpPr>
        <p:spPr>
          <a:xfrm>
            <a:off x="10914831" y="2932456"/>
            <a:ext cx="299157" cy="309377"/>
          </a:xfrm>
          <a:prstGeom prst="rect">
            <a:avLst/>
          </a:prstGeom>
          <a:noFill/>
          <a:ln>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80" name="직선 화살표 연결선 379"/>
          <p:cNvCxnSpPr/>
          <p:nvPr/>
        </p:nvCxnSpPr>
        <p:spPr>
          <a:xfrm flipH="1" flipV="1">
            <a:off x="11363567" y="2551853"/>
            <a:ext cx="5749" cy="373055"/>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86" name="직사각형 385"/>
          <p:cNvSpPr/>
          <p:nvPr/>
        </p:nvSpPr>
        <p:spPr>
          <a:xfrm>
            <a:off x="11219737" y="2932456"/>
            <a:ext cx="299157" cy="309377"/>
          </a:xfrm>
          <a:prstGeom prst="rect">
            <a:avLst/>
          </a:prstGeom>
          <a:noFill/>
          <a:ln>
            <a:solidFill>
              <a:srgbClr val="92D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 name="그룹 22"/>
          <p:cNvGrpSpPr/>
          <p:nvPr/>
        </p:nvGrpSpPr>
        <p:grpSpPr>
          <a:xfrm>
            <a:off x="11194481" y="2219792"/>
            <a:ext cx="299157" cy="309377"/>
            <a:chOff x="10364383" y="2631475"/>
            <a:chExt cx="299157" cy="309377"/>
          </a:xfrm>
        </p:grpSpPr>
        <p:sp>
          <p:nvSpPr>
            <p:cNvPr id="369" name="Rectangle 9157">
              <a:extLst>
                <a:ext uri="{FF2B5EF4-FFF2-40B4-BE49-F238E27FC236}">
                  <a16:creationId xmlns:a16="http://schemas.microsoft.com/office/drawing/2014/main" id="{C951C3A9-1DDF-4CDD-B18F-4CCD3EE98605}"/>
                </a:ext>
              </a:extLst>
            </p:cNvPr>
            <p:cNvSpPr/>
            <p:nvPr/>
          </p:nvSpPr>
          <p:spPr>
            <a:xfrm>
              <a:off x="10396174" y="2646593"/>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370" name="Rectangle 9157">
              <a:extLst>
                <a:ext uri="{FF2B5EF4-FFF2-40B4-BE49-F238E27FC236}">
                  <a16:creationId xmlns:a16="http://schemas.microsoft.com/office/drawing/2014/main" id="{C7F7FC97-6C97-4296-8240-405248F211DF}"/>
                </a:ext>
              </a:extLst>
            </p:cNvPr>
            <p:cNvSpPr/>
            <p:nvPr/>
          </p:nvSpPr>
          <p:spPr>
            <a:xfrm>
              <a:off x="10518126" y="2646593"/>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sp>
          <p:nvSpPr>
            <p:cNvPr id="387" name="직사각형 386"/>
            <p:cNvSpPr/>
            <p:nvPr/>
          </p:nvSpPr>
          <p:spPr>
            <a:xfrm>
              <a:off x="10364383" y="2631475"/>
              <a:ext cx="299157" cy="309377"/>
            </a:xfrm>
            <a:prstGeom prst="rect">
              <a:avLst/>
            </a:prstGeom>
            <a:noFill/>
            <a:ln>
              <a:solidFill>
                <a:srgbClr val="92D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388" name="직선 화살표 연결선 387"/>
          <p:cNvCxnSpPr/>
          <p:nvPr/>
        </p:nvCxnSpPr>
        <p:spPr>
          <a:xfrm>
            <a:off x="8656365" y="2357205"/>
            <a:ext cx="2478680" cy="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89" name="Oval 159">
            <a:extLst>
              <a:ext uri="{FF2B5EF4-FFF2-40B4-BE49-F238E27FC236}">
                <a16:creationId xmlns:a16="http://schemas.microsoft.com/office/drawing/2014/main" id="{DA54D0DB-719B-484E-AABC-3D8E4B4763DB}"/>
              </a:ext>
            </a:extLst>
          </p:cNvPr>
          <p:cNvSpPr/>
          <p:nvPr/>
        </p:nvSpPr>
        <p:spPr>
          <a:xfrm>
            <a:off x="10982882" y="2780459"/>
            <a:ext cx="153002" cy="139648"/>
          </a:xfrm>
          <a:prstGeom prst="ellipse">
            <a:avLst/>
          </a:prstGeom>
          <a:solidFill>
            <a:schemeClr val="tx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1000" b="1" dirty="0">
                <a:solidFill>
                  <a:srgbClr val="FFFFFF"/>
                </a:solidFill>
                <a:latin typeface="맑은 고딕"/>
                <a:ea typeface="맑은 고딕"/>
              </a:rPr>
              <a:t>4</a:t>
            </a:r>
            <a:endParaRPr sz="1000" b="1" i="0" dirty="0">
              <a:solidFill>
                <a:srgbClr val="FFFFFF"/>
              </a:solidFill>
              <a:latin typeface="맑은 고딕"/>
              <a:ea typeface="맑은 고딕"/>
            </a:endParaRPr>
          </a:p>
        </p:txBody>
      </p:sp>
      <p:grpSp>
        <p:nvGrpSpPr>
          <p:cNvPr id="164" name="그룹 163"/>
          <p:cNvGrpSpPr/>
          <p:nvPr/>
        </p:nvGrpSpPr>
        <p:grpSpPr>
          <a:xfrm>
            <a:off x="516509" y="6105945"/>
            <a:ext cx="11512996" cy="325343"/>
            <a:chOff x="465858" y="5727372"/>
            <a:chExt cx="11512996" cy="325343"/>
          </a:xfrm>
        </p:grpSpPr>
        <p:sp>
          <p:nvSpPr>
            <p:cNvPr id="165" name="Text 22">
              <a:extLst>
                <a:ext uri="{FF2B5EF4-FFF2-40B4-BE49-F238E27FC236}">
                  <a16:creationId xmlns:a16="http://schemas.microsoft.com/office/drawing/2014/main" id="{6E4C06FB-5661-411C-992A-C3DD21D98412}"/>
                </a:ext>
              </a:extLst>
            </p:cNvPr>
            <p:cNvSpPr/>
            <p:nvPr/>
          </p:nvSpPr>
          <p:spPr>
            <a:xfrm>
              <a:off x="922542" y="5727372"/>
              <a:ext cx="11056312" cy="325343"/>
            </a:xfrm>
            <a:prstGeom prst="rect">
              <a:avLst/>
            </a:prstGeom>
            <a:noFill/>
            <a:ln/>
          </p:spPr>
          <p:txBody>
            <a:bodyPr wrap="square" lIns="0" tIns="0" rIns="0" bIns="0" rtlCol="0" anchor="t"/>
            <a:lstStyle/>
            <a:p>
              <a:pPr>
                <a:lnSpc>
                  <a:spcPct val="150000"/>
                </a:lnSpc>
              </a:pPr>
              <a:r>
                <a:rPr lang="ko-KR" altLang="en-US" sz="1600" b="1" dirty="0">
                  <a:solidFill>
                    <a:srgbClr val="0066FF"/>
                  </a:solidFill>
                  <a:sym typeface="Wingdings" panose="05000000000000000000" pitchFamily="2" charset="2"/>
                </a:rPr>
                <a:t>추론 정확도를 보장하면서 </a:t>
              </a:r>
              <a:r>
                <a:rPr lang="en-US" altLang="ko-KR" sz="1600" b="1" dirty="0">
                  <a:solidFill>
                    <a:srgbClr val="0066FF"/>
                  </a:solidFill>
                  <a:sym typeface="Wingdings" panose="05000000000000000000" pitchFamily="2" charset="2"/>
                </a:rPr>
                <a:t>KV </a:t>
              </a:r>
              <a:r>
                <a:rPr lang="ko-KR" altLang="en-US" sz="1600" b="1" dirty="0">
                  <a:solidFill>
                    <a:srgbClr val="0066FF"/>
                  </a:solidFill>
                  <a:sym typeface="Wingdings" panose="05000000000000000000" pitchFamily="2" charset="2"/>
                </a:rPr>
                <a:t>캐시 </a:t>
              </a:r>
              <a:r>
                <a:rPr lang="ko-KR" altLang="en-US" sz="1600" b="1" dirty="0" err="1">
                  <a:solidFill>
                    <a:srgbClr val="0066FF"/>
                  </a:solidFill>
                  <a:sym typeface="Wingdings" panose="05000000000000000000" pitchFamily="2" charset="2"/>
                </a:rPr>
                <a:t>재사용률을</a:t>
              </a:r>
              <a:r>
                <a:rPr lang="ko-KR" altLang="en-US" sz="1600" b="1" dirty="0">
                  <a:solidFill>
                    <a:srgbClr val="0066FF"/>
                  </a:solidFill>
                  <a:sym typeface="Wingdings" panose="05000000000000000000" pitchFamily="2" charset="2"/>
                </a:rPr>
                <a:t> 높여 메모리 </a:t>
              </a:r>
              <a:r>
                <a:rPr lang="en-US" altLang="ko-KR" sz="1600" b="1" dirty="0">
                  <a:solidFill>
                    <a:srgbClr val="0066FF"/>
                  </a:solidFill>
                  <a:sym typeface="Wingdings" panose="05000000000000000000" pitchFamily="2" charset="2"/>
                </a:rPr>
                <a:t>pressure</a:t>
              </a:r>
              <a:r>
                <a:rPr lang="ko-KR" altLang="en-US" sz="1600" b="1" dirty="0">
                  <a:solidFill>
                    <a:srgbClr val="0066FF"/>
                  </a:solidFill>
                  <a:sym typeface="Wingdings" panose="05000000000000000000" pitchFamily="2" charset="2"/>
                </a:rPr>
                <a:t>와 응답 지연을 줄이는 구조 설계 필요</a:t>
              </a:r>
            </a:p>
          </p:txBody>
        </p:sp>
        <p:sp>
          <p:nvSpPr>
            <p:cNvPr id="166" name="오른쪽 화살표 39">
              <a:extLst>
                <a:ext uri="{FF2B5EF4-FFF2-40B4-BE49-F238E27FC236}">
                  <a16:creationId xmlns:a16="http://schemas.microsoft.com/office/drawing/2014/main" id="{54EC47CE-2C51-4E80-9454-E8A1DE43DF59}"/>
                </a:ext>
              </a:extLst>
            </p:cNvPr>
            <p:cNvSpPr/>
            <p:nvPr/>
          </p:nvSpPr>
          <p:spPr>
            <a:xfrm>
              <a:off x="465858" y="5797701"/>
              <a:ext cx="309855" cy="22829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70" name="TextBox 169">
            <a:extLst>
              <a:ext uri="{FF2B5EF4-FFF2-40B4-BE49-F238E27FC236}">
                <a16:creationId xmlns:a16="http://schemas.microsoft.com/office/drawing/2014/main" id="{2F666957-1F81-462F-B0DE-40E133AAB838}"/>
              </a:ext>
            </a:extLst>
          </p:cNvPr>
          <p:cNvSpPr txBox="1"/>
          <p:nvPr/>
        </p:nvSpPr>
        <p:spPr>
          <a:xfrm>
            <a:off x="8256687" y="3270989"/>
            <a:ext cx="712696" cy="107722"/>
          </a:xfrm>
          <a:prstGeom prst="rect">
            <a:avLst/>
          </a:prstGeom>
          <a:noFill/>
        </p:spPr>
        <p:txBody>
          <a:bodyPr wrap="square" lIns="0" tIns="0" rIns="0" bIns="0" anchor="t">
            <a:spAutoFit/>
          </a:bodyPr>
          <a:lstStyle/>
          <a:p>
            <a:pPr algn="ctr"/>
            <a:r>
              <a:rPr lang="en-US" sz="700" b="1" dirty="0">
                <a:solidFill>
                  <a:srgbClr val="FF0000"/>
                </a:solidFill>
                <a:latin typeface="맑은 고딕"/>
                <a:ea typeface="맑은 고딕"/>
              </a:rPr>
              <a:t>KV</a:t>
            </a:r>
            <a:r>
              <a:rPr lang="ko-KR" altLang="en-US" sz="700" b="1" dirty="0">
                <a:solidFill>
                  <a:srgbClr val="FF0000"/>
                </a:solidFill>
                <a:latin typeface="맑은 고딕"/>
                <a:ea typeface="맑은 고딕"/>
              </a:rPr>
              <a:t> 캐시 생성 </a:t>
            </a:r>
            <a:r>
              <a:rPr lang="en-US" altLang="ko-KR" sz="700" b="1" dirty="0">
                <a:solidFill>
                  <a:srgbClr val="FF0000"/>
                </a:solidFill>
                <a:latin typeface="맑은 고딕"/>
                <a:ea typeface="맑은 고딕"/>
              </a:rPr>
              <a:t>X</a:t>
            </a:r>
            <a:endParaRPr sz="700" b="1" dirty="0">
              <a:solidFill>
                <a:srgbClr val="FF0000"/>
              </a:solidFill>
              <a:latin typeface="맑은 고딕"/>
              <a:ea typeface="맑은 고딕"/>
            </a:endParaRPr>
          </a:p>
        </p:txBody>
      </p:sp>
      <p:sp>
        <p:nvSpPr>
          <p:cNvPr id="173" name="Rectangle 9157">
            <a:extLst>
              <a:ext uri="{FF2B5EF4-FFF2-40B4-BE49-F238E27FC236}">
                <a16:creationId xmlns:a16="http://schemas.microsoft.com/office/drawing/2014/main" id="{268F0222-FF02-44A2-8977-1F00C1CB767F}"/>
              </a:ext>
            </a:extLst>
          </p:cNvPr>
          <p:cNvSpPr/>
          <p:nvPr/>
        </p:nvSpPr>
        <p:spPr>
          <a:xfrm>
            <a:off x="8381303" y="2940877"/>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174" name="Rectangle 9157">
            <a:extLst>
              <a:ext uri="{FF2B5EF4-FFF2-40B4-BE49-F238E27FC236}">
                <a16:creationId xmlns:a16="http://schemas.microsoft.com/office/drawing/2014/main" id="{D3E8FCF1-375D-4F0C-BE0F-335F0E6EDE1F}"/>
              </a:ext>
            </a:extLst>
          </p:cNvPr>
          <p:cNvSpPr/>
          <p:nvPr/>
        </p:nvSpPr>
        <p:spPr>
          <a:xfrm>
            <a:off x="8494804" y="2940877"/>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sp>
        <p:nvSpPr>
          <p:cNvPr id="175" name="Rectangle 9157">
            <a:extLst>
              <a:ext uri="{FF2B5EF4-FFF2-40B4-BE49-F238E27FC236}">
                <a16:creationId xmlns:a16="http://schemas.microsoft.com/office/drawing/2014/main" id="{C951C3A9-1DDF-4CDD-B18F-4CCD3EE98605}"/>
              </a:ext>
            </a:extLst>
          </p:cNvPr>
          <p:cNvSpPr/>
          <p:nvPr/>
        </p:nvSpPr>
        <p:spPr>
          <a:xfrm>
            <a:off x="8613035" y="2940877"/>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3</a:t>
            </a:r>
            <a:endParaRPr sz="1000" dirty="0">
              <a:solidFill>
                <a:schemeClr val="tx1"/>
              </a:solidFill>
            </a:endParaRPr>
          </a:p>
        </p:txBody>
      </p:sp>
      <p:sp>
        <p:nvSpPr>
          <p:cNvPr id="176" name="Rectangle 9157">
            <a:extLst>
              <a:ext uri="{FF2B5EF4-FFF2-40B4-BE49-F238E27FC236}">
                <a16:creationId xmlns:a16="http://schemas.microsoft.com/office/drawing/2014/main" id="{C7F7FC97-6C97-4296-8240-405248F211DF}"/>
              </a:ext>
            </a:extLst>
          </p:cNvPr>
          <p:cNvSpPr/>
          <p:nvPr/>
        </p:nvSpPr>
        <p:spPr>
          <a:xfrm>
            <a:off x="8734987" y="2940877"/>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4</a:t>
            </a:r>
            <a:endParaRPr sz="1000" dirty="0">
              <a:solidFill>
                <a:schemeClr val="tx1"/>
              </a:solidFill>
            </a:endParaRPr>
          </a:p>
        </p:txBody>
      </p:sp>
      <p:cxnSp>
        <p:nvCxnSpPr>
          <p:cNvPr id="14" name="직선 연결선 13"/>
          <p:cNvCxnSpPr/>
          <p:nvPr/>
        </p:nvCxnSpPr>
        <p:spPr>
          <a:xfrm flipV="1">
            <a:off x="8356425" y="2892055"/>
            <a:ext cx="531293" cy="34960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1" name="직선 연결선 180"/>
          <p:cNvCxnSpPr/>
          <p:nvPr/>
        </p:nvCxnSpPr>
        <p:spPr>
          <a:xfrm flipH="1" flipV="1">
            <a:off x="8356425" y="2910523"/>
            <a:ext cx="520700" cy="353283"/>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9" name="직선 화살표 연결선 188"/>
          <p:cNvCxnSpPr/>
          <p:nvPr/>
        </p:nvCxnSpPr>
        <p:spPr>
          <a:xfrm>
            <a:off x="9007058" y="3087144"/>
            <a:ext cx="360589" cy="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2" name="TextBox 201">
            <a:extLst>
              <a:ext uri="{FF2B5EF4-FFF2-40B4-BE49-F238E27FC236}">
                <a16:creationId xmlns:a16="http://schemas.microsoft.com/office/drawing/2014/main" id="{2F666957-1F81-462F-B0DE-40E133AAB838}"/>
              </a:ext>
            </a:extLst>
          </p:cNvPr>
          <p:cNvSpPr txBox="1"/>
          <p:nvPr/>
        </p:nvSpPr>
        <p:spPr>
          <a:xfrm>
            <a:off x="11385558" y="2723025"/>
            <a:ext cx="359109" cy="107722"/>
          </a:xfrm>
          <a:prstGeom prst="rect">
            <a:avLst/>
          </a:prstGeom>
          <a:noFill/>
        </p:spPr>
        <p:txBody>
          <a:bodyPr wrap="square" lIns="0" tIns="0" rIns="0" bIns="0" anchor="t">
            <a:spAutoFit/>
          </a:bodyPr>
          <a:lstStyle/>
          <a:p>
            <a:pPr algn="ctr"/>
            <a:r>
              <a:rPr lang="ko-KR" altLang="en-US" sz="700" b="1" dirty="0">
                <a:solidFill>
                  <a:schemeClr val="bg1">
                    <a:lumMod val="50000"/>
                  </a:schemeClr>
                </a:solidFill>
                <a:latin typeface="맑은 고딕"/>
                <a:ea typeface="맑은 고딕"/>
              </a:rPr>
              <a:t>재사용 </a:t>
            </a:r>
            <a:endParaRPr sz="700" b="1" dirty="0">
              <a:solidFill>
                <a:schemeClr val="bg1">
                  <a:lumMod val="50000"/>
                </a:schemeClr>
              </a:solidFill>
              <a:latin typeface="맑은 고딕"/>
              <a:ea typeface="맑은 고딕"/>
            </a:endParaRPr>
          </a:p>
        </p:txBody>
      </p:sp>
      <p:cxnSp>
        <p:nvCxnSpPr>
          <p:cNvPr id="204" name="직선 화살표 연결선 203"/>
          <p:cNvCxnSpPr/>
          <p:nvPr/>
        </p:nvCxnSpPr>
        <p:spPr>
          <a:xfrm flipH="1" flipV="1">
            <a:off x="10652091" y="2734585"/>
            <a:ext cx="262741" cy="239899"/>
          </a:xfrm>
          <a:prstGeom prst="straightConnector1">
            <a:avLst/>
          </a:prstGeom>
          <a:ln w="127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05" name="TextBox 204">
            <a:extLst>
              <a:ext uri="{FF2B5EF4-FFF2-40B4-BE49-F238E27FC236}">
                <a16:creationId xmlns:a16="http://schemas.microsoft.com/office/drawing/2014/main" id="{2F666957-1F81-462F-B0DE-40E133AAB838}"/>
              </a:ext>
            </a:extLst>
          </p:cNvPr>
          <p:cNvSpPr txBox="1"/>
          <p:nvPr/>
        </p:nvSpPr>
        <p:spPr>
          <a:xfrm>
            <a:off x="10444493" y="2833050"/>
            <a:ext cx="359109" cy="107722"/>
          </a:xfrm>
          <a:prstGeom prst="rect">
            <a:avLst/>
          </a:prstGeom>
          <a:noFill/>
        </p:spPr>
        <p:txBody>
          <a:bodyPr wrap="square" lIns="0" tIns="0" rIns="0" bIns="0" anchor="t">
            <a:spAutoFit/>
          </a:bodyPr>
          <a:lstStyle/>
          <a:p>
            <a:pPr algn="ctr"/>
            <a:r>
              <a:rPr lang="ko-KR" altLang="en-US" sz="700" b="1" dirty="0">
                <a:solidFill>
                  <a:srgbClr val="FF0000"/>
                </a:solidFill>
                <a:latin typeface="맑은 고딕"/>
                <a:ea typeface="맑은 고딕"/>
              </a:rPr>
              <a:t>생성</a:t>
            </a:r>
            <a:endParaRPr sz="700" b="1" dirty="0">
              <a:solidFill>
                <a:srgbClr val="FF0000"/>
              </a:solidFill>
              <a:latin typeface="맑은 고딕"/>
              <a:ea typeface="맑은 고딕"/>
            </a:endParaRPr>
          </a:p>
        </p:txBody>
      </p:sp>
      <p:grpSp>
        <p:nvGrpSpPr>
          <p:cNvPr id="28" name="그룹 27"/>
          <p:cNvGrpSpPr/>
          <p:nvPr/>
        </p:nvGrpSpPr>
        <p:grpSpPr>
          <a:xfrm>
            <a:off x="10333818" y="2414125"/>
            <a:ext cx="299157" cy="309377"/>
            <a:chOff x="10438756" y="2528780"/>
            <a:chExt cx="299157" cy="309377"/>
          </a:xfrm>
        </p:grpSpPr>
        <p:grpSp>
          <p:nvGrpSpPr>
            <p:cNvPr id="25" name="그룹 24"/>
            <p:cNvGrpSpPr/>
            <p:nvPr/>
          </p:nvGrpSpPr>
          <p:grpSpPr>
            <a:xfrm>
              <a:off x="10475143" y="2555453"/>
              <a:ext cx="232373" cy="256032"/>
              <a:chOff x="10547096" y="2502806"/>
              <a:chExt cx="232373" cy="256032"/>
            </a:xfrm>
          </p:grpSpPr>
          <p:sp>
            <p:nvSpPr>
              <p:cNvPr id="192" name="Rectangle 9157">
                <a:extLst>
                  <a:ext uri="{FF2B5EF4-FFF2-40B4-BE49-F238E27FC236}">
                    <a16:creationId xmlns:a16="http://schemas.microsoft.com/office/drawing/2014/main" id="{268F0222-FF02-44A2-8977-1F00C1CB767F}"/>
                  </a:ext>
                </a:extLst>
              </p:cNvPr>
              <p:cNvSpPr/>
              <p:nvPr/>
            </p:nvSpPr>
            <p:spPr>
              <a:xfrm>
                <a:off x="10547096" y="2502806"/>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2</a:t>
                </a:r>
                <a:endParaRPr sz="1000" dirty="0">
                  <a:solidFill>
                    <a:schemeClr val="tx1"/>
                  </a:solidFill>
                </a:endParaRPr>
              </a:p>
            </p:txBody>
          </p:sp>
          <p:sp>
            <p:nvSpPr>
              <p:cNvPr id="193" name="Rectangle 9157">
                <a:extLst>
                  <a:ext uri="{FF2B5EF4-FFF2-40B4-BE49-F238E27FC236}">
                    <a16:creationId xmlns:a16="http://schemas.microsoft.com/office/drawing/2014/main" id="{D3E8FCF1-375D-4F0C-BE0F-335F0E6EDE1F}"/>
                  </a:ext>
                </a:extLst>
              </p:cNvPr>
              <p:cNvSpPr/>
              <p:nvPr/>
            </p:nvSpPr>
            <p:spPr>
              <a:xfrm>
                <a:off x="10660597" y="2502806"/>
                <a:ext cx="118872" cy="256032"/>
              </a:xfrm>
              <a:prstGeom prst="cube">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a:solidFill>
                      <a:schemeClr val="tx1"/>
                    </a:solidFill>
                  </a:rPr>
                  <a:t>1</a:t>
                </a:r>
                <a:endParaRPr sz="1000" dirty="0">
                  <a:solidFill>
                    <a:schemeClr val="tx1"/>
                  </a:solidFill>
                </a:endParaRPr>
              </a:p>
            </p:txBody>
          </p:sp>
        </p:grpSp>
        <p:sp>
          <p:nvSpPr>
            <p:cNvPr id="207" name="직사각형 206"/>
            <p:cNvSpPr/>
            <p:nvPr/>
          </p:nvSpPr>
          <p:spPr>
            <a:xfrm>
              <a:off x="10438756" y="2528780"/>
              <a:ext cx="299157" cy="309377"/>
            </a:xfrm>
            <a:prstGeom prst="rect">
              <a:avLst/>
            </a:prstGeom>
            <a:noFill/>
            <a:ln>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210" name="TextBox 209"/>
          <p:cNvSpPr txBox="1"/>
          <p:nvPr/>
        </p:nvSpPr>
        <p:spPr>
          <a:xfrm>
            <a:off x="6462775" y="5033799"/>
            <a:ext cx="4900792" cy="123111"/>
          </a:xfrm>
          <a:prstGeom prst="rect">
            <a:avLst/>
          </a:prstGeom>
          <a:noFill/>
        </p:spPr>
        <p:txBody>
          <a:bodyPr wrap="square" lIns="0" tIns="0" rIns="0" bIns="0" anchor="t">
            <a:spAutoFit/>
          </a:bodyPr>
          <a:lstStyle/>
          <a:p>
            <a:pPr algn="l"/>
            <a:r>
              <a:rPr lang="en-US" altLang="ko-KR" sz="800" b="1" i="0" dirty="0">
                <a:solidFill>
                  <a:srgbClr val="0000FF"/>
                </a:solidFill>
                <a:latin typeface="맑은 고딕"/>
                <a:ea typeface="맑은 고딕"/>
              </a:rPr>
              <a:t>* </a:t>
            </a:r>
            <a:r>
              <a:rPr lang="ko-KR" altLang="en-US" sz="800" b="1" i="0" dirty="0">
                <a:solidFill>
                  <a:srgbClr val="0000FF"/>
                </a:solidFill>
                <a:latin typeface="맑은 고딕"/>
                <a:ea typeface="맑은 고딕"/>
              </a:rPr>
              <a:t>각 </a:t>
            </a:r>
            <a:r>
              <a:rPr lang="en-US" altLang="ko-KR" sz="800" b="1" dirty="0">
                <a:solidFill>
                  <a:srgbClr val="0000FF"/>
                </a:solidFill>
                <a:latin typeface="맑은 고딕"/>
                <a:ea typeface="맑은 고딕"/>
              </a:rPr>
              <a:t>chunk(1,2,3,4)</a:t>
            </a:r>
            <a:r>
              <a:rPr lang="ko-KR" altLang="en-US" sz="800" b="1" dirty="0">
                <a:solidFill>
                  <a:srgbClr val="0000FF"/>
                </a:solidFill>
                <a:latin typeface="맑은 고딕"/>
                <a:ea typeface="맑은 고딕"/>
              </a:rPr>
              <a:t>의 </a:t>
            </a:r>
            <a:r>
              <a:rPr lang="en-US" altLang="ko-KR" sz="800" b="1" dirty="0">
                <a:solidFill>
                  <a:srgbClr val="0000FF"/>
                </a:solidFill>
                <a:latin typeface="맑은 고딕"/>
                <a:ea typeface="맑은 고딕"/>
              </a:rPr>
              <a:t>KV</a:t>
            </a:r>
            <a:r>
              <a:rPr lang="ko-KR" altLang="en-US" sz="800" b="1" dirty="0">
                <a:solidFill>
                  <a:srgbClr val="0000FF"/>
                </a:solidFill>
                <a:latin typeface="맑은 고딕"/>
                <a:ea typeface="맑은 고딕"/>
              </a:rPr>
              <a:t>는 보유하고 있다고 가정</a:t>
            </a:r>
            <a:endParaRPr sz="800" b="0" i="0" dirty="0">
              <a:solidFill>
                <a:srgbClr val="0000FF"/>
              </a:solidFill>
              <a:latin typeface="맑은 고딕"/>
              <a:ea typeface="맑은 고딕"/>
            </a:endParaRPr>
          </a:p>
        </p:txBody>
      </p:sp>
    </p:spTree>
    <p:extLst>
      <p:ext uri="{BB962C8B-B14F-4D97-AF65-F5344CB8AC3E}">
        <p14:creationId xmlns:p14="http://schemas.microsoft.com/office/powerpoint/2010/main" val="360501532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solidFill>
                  <a:srgbClr val="FF0000"/>
                </a:solidFill>
              </a:rPr>
              <a:t>보완 설계 </a:t>
            </a:r>
            <a:endParaRPr lang="ko-KR" altLang="en-US" dirty="0"/>
          </a:p>
        </p:txBody>
      </p:sp>
      <p:sp>
        <p:nvSpPr>
          <p:cNvPr id="3"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66344" y="621792"/>
            <a:ext cx="7589520" cy="329184"/>
          </a:xfrm>
          <a:prstGeom prst="rect">
            <a:avLst/>
          </a:prstGeom>
          <a:noFill/>
        </p:spPr>
        <p:txBody>
          <a:bodyPr wrap="square" lIns="45720" tIns="27432" rIns="45720" bIns="27432" anchor="ctr">
            <a:spAutoFit/>
          </a:bodyPr>
          <a:lstStyle/>
          <a:p>
            <a:pPr algn="l">
              <a:spcAft>
                <a:spcPts val="200"/>
              </a:spcAft>
            </a:pPr>
            <a:r>
              <a:rPr sz="1400" b="1">
                <a:solidFill>
                  <a:srgbClr val="FFFFFF"/>
                </a:solidFill>
                <a:latin typeface="맑은 고딕"/>
                <a:ea typeface="맑은 고딕"/>
                <a:cs typeface="맑은 고딕"/>
              </a:rPr>
              <a:t>2안 보완: Plan-aware Base/Delta KV 레이아웃으로 요청 간 HBM 중복 제거</a:t>
            </a:r>
          </a:p>
        </p:txBody>
      </p:sp>
      <p:sp>
        <p:nvSpPr>
          <p:cNvPr id="6" name="TextBox 5"/>
          <p:cNvSpPr txBox="1"/>
          <p:nvPr/>
        </p:nvSpPr>
        <p:spPr>
          <a:xfrm>
            <a:off x="246888" y="1024128"/>
            <a:ext cx="11704320" cy="274320"/>
          </a:xfrm>
          <a:prstGeom prst="rect">
            <a:avLst/>
          </a:prstGeom>
          <a:noFill/>
        </p:spPr>
        <p:txBody>
          <a:bodyPr wrap="square" lIns="45720" tIns="27432" rIns="45720" bIns="27432" anchor="t">
            <a:spAutoFit/>
          </a:bodyPr>
          <a:lstStyle/>
          <a:p>
            <a:pPr algn="l">
              <a:spcAft>
                <a:spcPts val="200"/>
              </a:spcAft>
            </a:pPr>
            <a:r>
              <a:rPr sz="1050" b="1" dirty="0" err="1">
                <a:solidFill>
                  <a:srgbClr val="C55A11"/>
                </a:solidFill>
                <a:latin typeface="맑은 고딕"/>
                <a:ea typeface="맑은 고딕"/>
                <a:cs typeface="맑은 고딕"/>
              </a:rPr>
              <a:t>핵심</a:t>
            </a:r>
            <a:r>
              <a:rPr sz="1050" b="1" dirty="0">
                <a:solidFill>
                  <a:srgbClr val="C55A11"/>
                </a:solidFill>
                <a:latin typeface="맑은 고딕"/>
                <a:ea typeface="맑은 고딕"/>
                <a:cs typeface="맑은 고딕"/>
              </a:rPr>
              <a:t> : </a:t>
            </a:r>
            <a:r>
              <a:rPr sz="1050" b="1" dirty="0" err="1">
                <a:solidFill>
                  <a:srgbClr val="404040"/>
                </a:solidFill>
                <a:latin typeface="맑은 고딕"/>
                <a:ea typeface="맑은 고딕"/>
                <a:cs typeface="맑은 고딕"/>
              </a:rPr>
              <a:t>재계산</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위치가</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사전에</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고정된다는</a:t>
            </a:r>
            <a:r>
              <a:rPr sz="1050" b="1" dirty="0">
                <a:solidFill>
                  <a:srgbClr val="404040"/>
                </a:solidFill>
                <a:latin typeface="맑은 고딕"/>
                <a:ea typeface="맑은 고딕"/>
                <a:cs typeface="맑은 고딕"/>
              </a:rPr>
              <a:t> 2안의 </a:t>
            </a:r>
            <a:r>
              <a:rPr sz="1050" b="1" dirty="0" err="1">
                <a:solidFill>
                  <a:srgbClr val="404040"/>
                </a:solidFill>
                <a:latin typeface="맑은 고딕"/>
                <a:ea typeface="맑은 고딕"/>
                <a:cs typeface="맑은 고딕"/>
              </a:rPr>
              <a:t>속성으로</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재사용</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KV는</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요청</a:t>
            </a:r>
            <a:r>
              <a:rPr sz="1050" b="1" dirty="0">
                <a:solidFill>
                  <a:srgbClr val="404040"/>
                </a:solidFill>
                <a:latin typeface="맑은 고딕"/>
                <a:ea typeface="맑은 고딕"/>
                <a:cs typeface="맑은 고딕"/>
              </a:rPr>
              <a:t> 간 </a:t>
            </a:r>
            <a:r>
              <a:rPr sz="1050" b="1" dirty="0" err="1">
                <a:solidFill>
                  <a:srgbClr val="404040"/>
                </a:solidFill>
                <a:latin typeface="맑은 고딕"/>
                <a:ea typeface="맑은 고딕"/>
                <a:cs typeface="맑은 고딕"/>
              </a:rPr>
              <a:t>공유</a:t>
            </a:r>
            <a:r>
              <a:rPr sz="1050" b="1" dirty="0">
                <a:solidFill>
                  <a:srgbClr val="404040"/>
                </a:solidFill>
                <a:latin typeface="맑은 고딕"/>
                <a:ea typeface="맑은 고딕"/>
                <a:cs typeface="맑은 고딕"/>
              </a:rPr>
              <a:t>(Base)</a:t>
            </a:r>
            <a:r>
              <a:rPr sz="1050" b="1" dirty="0" err="1">
                <a:solidFill>
                  <a:srgbClr val="404040"/>
                </a:solidFill>
                <a:latin typeface="맑은 고딕"/>
                <a:ea typeface="맑은 고딕"/>
                <a:cs typeface="맑은 고딕"/>
              </a:rPr>
              <a:t>하고</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재계산분만</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요청별</a:t>
            </a:r>
            <a:r>
              <a:rPr sz="1050" b="1" dirty="0">
                <a:solidFill>
                  <a:srgbClr val="404040"/>
                </a:solidFill>
                <a:latin typeface="맑은 고딕"/>
                <a:ea typeface="맑은 고딕"/>
                <a:cs typeface="맑은 고딕"/>
              </a:rPr>
              <a:t>(Delta)로 </a:t>
            </a:r>
            <a:r>
              <a:rPr sz="1050" b="1" dirty="0" err="1">
                <a:solidFill>
                  <a:srgbClr val="404040"/>
                </a:solidFill>
                <a:latin typeface="맑은 고딕"/>
                <a:ea typeface="맑은 고딕"/>
                <a:cs typeface="맑은 고딕"/>
              </a:rPr>
              <a:t>두며</a:t>
            </a:r>
            <a:r>
              <a:rPr sz="1050" b="1" dirty="0">
                <a:solidFill>
                  <a:srgbClr val="404040"/>
                </a:solidFill>
                <a:latin typeface="맑은 고딕"/>
                <a:ea typeface="맑은 고딕"/>
                <a:cs typeface="맑은 고딕"/>
              </a:rPr>
              <a:t> HBM </a:t>
            </a:r>
            <a:r>
              <a:rPr sz="1050" b="1" dirty="0" err="1">
                <a:solidFill>
                  <a:srgbClr val="404040"/>
                </a:solidFill>
                <a:latin typeface="맑은 고딕"/>
                <a:ea typeface="맑은 고딕"/>
                <a:cs typeface="맑은 고딕"/>
              </a:rPr>
              <a:t>예산을</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입장</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전에</a:t>
            </a:r>
            <a:r>
              <a:rPr sz="1050" b="1" dirty="0">
                <a:solidFill>
                  <a:srgbClr val="404040"/>
                </a:solidFill>
                <a:latin typeface="맑은 고딕"/>
                <a:ea typeface="맑은 고딕"/>
                <a:cs typeface="맑은 고딕"/>
              </a:rPr>
              <a:t> </a:t>
            </a:r>
            <a:r>
              <a:rPr sz="1050" b="1" dirty="0" err="1">
                <a:solidFill>
                  <a:srgbClr val="404040"/>
                </a:solidFill>
                <a:latin typeface="맑은 고딕"/>
                <a:ea typeface="맑은 고딕"/>
                <a:cs typeface="맑은 고딕"/>
              </a:rPr>
              <a:t>계산한다</a:t>
            </a:r>
            <a:endParaRPr sz="1050" b="1" dirty="0">
              <a:solidFill>
                <a:srgbClr val="404040"/>
              </a:solidFill>
              <a:latin typeface="맑은 고딕"/>
              <a:ea typeface="맑은 고딕"/>
              <a:cs typeface="맑은 고딕"/>
            </a:endParaRPr>
          </a:p>
        </p:txBody>
      </p:sp>
      <p:sp>
        <p:nvSpPr>
          <p:cNvPr id="7" name="Rectangle 16"/>
          <p:cNvSpPr/>
          <p:nvPr/>
        </p:nvSpPr>
        <p:spPr>
          <a:xfrm>
            <a:off x="246888" y="1371600"/>
            <a:ext cx="6492240" cy="292608"/>
          </a:xfrm>
          <a:prstGeom prst="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50" b="1">
                <a:solidFill>
                  <a:srgbClr val="000000"/>
                </a:solidFill>
                <a:latin typeface="맑은 고딕"/>
                <a:ea typeface="맑은 고딕"/>
                <a:cs typeface="맑은 고딕"/>
              </a:rPr>
              <a:t>구조 (C&amp;C View) — 노랑 점선 = 제안 요소</a:t>
            </a:r>
          </a:p>
        </p:txBody>
      </p:sp>
      <p:sp>
        <p:nvSpPr>
          <p:cNvPr id="8" name="Rectangle 17"/>
          <p:cNvSpPr/>
          <p:nvPr/>
        </p:nvSpPr>
        <p:spPr>
          <a:xfrm>
            <a:off x="411480" y="1920240"/>
            <a:ext cx="2834640" cy="457200"/>
          </a:xfrm>
          <a:prstGeom prst="rect">
            <a:avLst/>
          </a:prstGeom>
          <a:solidFill>
            <a:srgbClr val="FBE5D6"/>
          </a:solidFill>
          <a:ln w="1651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Offline Analyzer (사전)</a:t>
            </a:r>
          </a:p>
          <a:p>
            <a:pPr algn="ctr">
              <a:spcAft>
                <a:spcPts val="0"/>
              </a:spcAft>
            </a:pPr>
            <a:r>
              <a:rPr sz="700" b="1">
                <a:solidFill>
                  <a:srgbClr val="000000"/>
                </a:solidFill>
                <a:latin typeface="맑은 고딕"/>
                <a:ea typeface="맑은 고딕"/>
                <a:cs typeface="맑은 고딕"/>
              </a:rPr>
              <a:t>대표 Query → 재계산 위치 선정</a:t>
            </a:r>
          </a:p>
        </p:txBody>
      </p:sp>
      <p:sp>
        <p:nvSpPr>
          <p:cNvPr id="9" name="Rectangle 18"/>
          <p:cNvSpPr/>
          <p:nvPr/>
        </p:nvSpPr>
        <p:spPr>
          <a:xfrm>
            <a:off x="320040" y="3017520"/>
            <a:ext cx="3154680" cy="1005840"/>
          </a:xfrm>
          <a:prstGeom prst="rect">
            <a:avLst/>
          </a:prstGeom>
          <a:solidFill>
            <a:srgbClr val="F7FAFD"/>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3026664"/>
            <a:ext cx="2743200" cy="201168"/>
          </a:xfrm>
          <a:prstGeom prst="rect">
            <a:avLst/>
          </a:prstGeom>
          <a:noFill/>
        </p:spPr>
        <p:txBody>
          <a:bodyPr wrap="square" lIns="45720" tIns="27432" rIns="45720" bIns="27432" anchor="t">
            <a:spAutoFit/>
          </a:bodyPr>
          <a:lstStyle/>
          <a:p>
            <a:pPr algn="l">
              <a:spcAft>
                <a:spcPts val="200"/>
              </a:spcAft>
            </a:pPr>
            <a:r>
              <a:rPr sz="800" b="1">
                <a:solidFill>
                  <a:srgbClr val="404040"/>
                </a:solidFill>
                <a:latin typeface="맑은 고딕"/>
                <a:ea typeface="맑은 고딕"/>
                <a:cs typeface="맑은 고딕"/>
              </a:rPr>
              <a:t>KV Repository (DP1)</a:t>
            </a:r>
          </a:p>
        </p:txBody>
      </p:sp>
      <p:sp>
        <p:nvSpPr>
          <p:cNvPr id="11" name="Rectangle 20"/>
          <p:cNvSpPr/>
          <p:nvPr/>
        </p:nvSpPr>
        <p:spPr>
          <a:xfrm>
            <a:off x="411480" y="3383280"/>
            <a:ext cx="1371600" cy="457200"/>
          </a:xfrm>
          <a:prstGeom prst="rect">
            <a:avLst/>
          </a:prstGeom>
          <a:solidFill>
            <a:srgbClr val="F0F1F3"/>
          </a:solidFill>
          <a:ln w="1651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Context KV</a:t>
            </a:r>
          </a:p>
          <a:p>
            <a:pPr algn="ctr">
              <a:spcAft>
                <a:spcPts val="0"/>
              </a:spcAft>
            </a:pPr>
            <a:r>
              <a:rPr sz="700" b="1">
                <a:solidFill>
                  <a:srgbClr val="000000"/>
                </a:solidFill>
                <a:latin typeface="맑은 고딕"/>
                <a:ea typeface="맑은 고딕"/>
                <a:cs typeface="맑은 고딕"/>
              </a:rPr>
              <a:t>원본 (읽기 전용)</a:t>
            </a:r>
          </a:p>
        </p:txBody>
      </p:sp>
      <p:sp>
        <p:nvSpPr>
          <p:cNvPr id="12" name="Rectangle 21"/>
          <p:cNvSpPr/>
          <p:nvPr/>
        </p:nvSpPr>
        <p:spPr>
          <a:xfrm>
            <a:off x="1965960" y="3383280"/>
            <a:ext cx="1417320" cy="457200"/>
          </a:xfrm>
          <a:prstGeom prst="rect">
            <a:avLst/>
          </a:prstGeom>
          <a:solidFill>
            <a:srgbClr val="FBE5D6"/>
          </a:solidFill>
          <a:ln w="1651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Plan Store</a:t>
            </a:r>
          </a:p>
          <a:p>
            <a:pPr algn="ctr">
              <a:spcAft>
                <a:spcPts val="0"/>
              </a:spcAft>
            </a:pPr>
            <a:r>
              <a:rPr sz="700" b="1">
                <a:solidFill>
                  <a:srgbClr val="000000"/>
                </a:solidFill>
                <a:latin typeface="맑은 고딕"/>
                <a:ea typeface="맑은 고딕"/>
                <a:cs typeface="맑은 고딕"/>
              </a:rPr>
              <a:t>재계산 위치</a:t>
            </a:r>
          </a:p>
        </p:txBody>
      </p:sp>
      <p:cxnSp>
        <p:nvCxnSpPr>
          <p:cNvPr id="13" name="Connector 22"/>
          <p:cNvCxnSpPr/>
          <p:nvPr/>
        </p:nvCxnSpPr>
        <p:spPr>
          <a:xfrm>
            <a:off x="2651760" y="2377440"/>
            <a:ext cx="0" cy="100584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697480" y="2697480"/>
            <a:ext cx="640080" cy="182880"/>
          </a:xfrm>
          <a:prstGeom prst="rect">
            <a:avLst/>
          </a:prstGeom>
          <a:noFill/>
        </p:spPr>
        <p:txBody>
          <a:bodyPr wrap="square" lIns="45720" tIns="27432" rIns="45720" bIns="27432" anchor="t">
            <a:spAutoFit/>
          </a:bodyPr>
          <a:lstStyle/>
          <a:p>
            <a:pPr algn="l">
              <a:spcAft>
                <a:spcPts val="200"/>
              </a:spcAft>
            </a:pPr>
            <a:r>
              <a:rPr sz="750" b="0">
                <a:solidFill>
                  <a:srgbClr val="C55A11"/>
                </a:solidFill>
                <a:latin typeface="맑은 고딕"/>
                <a:ea typeface="맑은 고딕"/>
                <a:cs typeface="맑은 고딕"/>
              </a:rPr>
              <a:t>write</a:t>
            </a:r>
          </a:p>
        </p:txBody>
      </p:sp>
      <p:sp>
        <p:nvSpPr>
          <p:cNvPr id="15" name="Rectangle 24"/>
          <p:cNvSpPr/>
          <p:nvPr/>
        </p:nvSpPr>
        <p:spPr>
          <a:xfrm>
            <a:off x="320040" y="4114800"/>
            <a:ext cx="3154680" cy="274320"/>
          </a:xfrm>
          <a:prstGeom prst="rect">
            <a:avLst/>
          </a:prstGeom>
          <a:solidFill>
            <a:srgbClr val="FFF2CC"/>
          </a:solidFill>
          <a:ln w="16510">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dirty="0">
                <a:solidFill>
                  <a:srgbClr val="000000"/>
                </a:solidFill>
                <a:latin typeface="맑은 고딕"/>
                <a:ea typeface="맑은 고딕"/>
                <a:cs typeface="맑은 고딕"/>
              </a:rPr>
              <a:t>KV Lifecycle Event (DP1 → Plan Store </a:t>
            </a:r>
            <a:r>
              <a:rPr sz="850" b="1" dirty="0" err="1">
                <a:solidFill>
                  <a:srgbClr val="000000"/>
                </a:solidFill>
                <a:latin typeface="맑은 고딕"/>
                <a:ea typeface="맑은 고딕"/>
                <a:cs typeface="맑은 고딕"/>
              </a:rPr>
              <a:t>무효화</a:t>
            </a:r>
            <a:r>
              <a:rPr sz="850" b="1" dirty="0">
                <a:solidFill>
                  <a:srgbClr val="000000"/>
                </a:solidFill>
                <a:latin typeface="맑은 고딕"/>
                <a:ea typeface="맑은 고딕"/>
                <a:cs typeface="맑은 고딕"/>
              </a:rPr>
              <a:t>)</a:t>
            </a:r>
          </a:p>
        </p:txBody>
      </p:sp>
      <p:cxnSp>
        <p:nvCxnSpPr>
          <p:cNvPr id="16" name="Connector 25"/>
          <p:cNvCxnSpPr/>
          <p:nvPr/>
        </p:nvCxnSpPr>
        <p:spPr>
          <a:xfrm flipV="1">
            <a:off x="2651760" y="3840480"/>
            <a:ext cx="0" cy="274320"/>
          </a:xfrm>
          <a:prstGeom prst="line">
            <a:avLst/>
          </a:prstGeom>
          <a:ln w="19050">
            <a:solidFill>
              <a:srgbClr val="BF9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 name="Rectangle 26"/>
          <p:cNvSpPr/>
          <p:nvPr/>
        </p:nvSpPr>
        <p:spPr>
          <a:xfrm>
            <a:off x="3886200" y="1783080"/>
            <a:ext cx="2834640" cy="2606040"/>
          </a:xfrm>
          <a:prstGeom prst="rect">
            <a:avLst/>
          </a:prstGeom>
          <a:solidFill>
            <a:srgbClr val="FEF4EC"/>
          </a:solidFill>
          <a:ln w="190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1792224"/>
            <a:ext cx="2743200" cy="201168"/>
          </a:xfrm>
          <a:prstGeom prst="rect">
            <a:avLst/>
          </a:prstGeom>
          <a:noFill/>
        </p:spPr>
        <p:txBody>
          <a:bodyPr wrap="square" lIns="45720" tIns="27432" rIns="45720" bIns="27432" anchor="t">
            <a:spAutoFit/>
          </a:bodyPr>
          <a:lstStyle/>
          <a:p>
            <a:pPr algn="l">
              <a:spcAft>
                <a:spcPts val="200"/>
              </a:spcAft>
            </a:pPr>
            <a:r>
              <a:rPr sz="800" b="1">
                <a:solidFill>
                  <a:srgbClr val="C55A11"/>
                </a:solidFill>
                <a:latin typeface="맑은 고딕"/>
                <a:ea typeface="맑은 고딕"/>
                <a:cs typeface="맑은 고딕"/>
              </a:rPr>
              <a:t>서빙 경로 (요청 1…N마다, 동기)</a:t>
            </a:r>
          </a:p>
        </p:txBody>
      </p:sp>
      <p:sp>
        <p:nvSpPr>
          <p:cNvPr id="19" name="Rectangle 28"/>
          <p:cNvSpPr/>
          <p:nvPr/>
        </p:nvSpPr>
        <p:spPr>
          <a:xfrm>
            <a:off x="4023360" y="2057400"/>
            <a:ext cx="2560320" cy="502920"/>
          </a:xfrm>
          <a:prstGeom prst="rect">
            <a:avLst/>
          </a:prstGeom>
          <a:solidFill>
            <a:srgbClr val="F0F1F3"/>
          </a:solidFill>
          <a:ln w="1651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Selective Recomputer (DP2)</a:t>
            </a:r>
          </a:p>
          <a:p>
            <a:pPr algn="ctr">
              <a:spcAft>
                <a:spcPts val="0"/>
              </a:spcAft>
            </a:pPr>
            <a:r>
              <a:rPr sz="700" b="1">
                <a:solidFill>
                  <a:srgbClr val="000000"/>
                </a:solidFill>
                <a:latin typeface="맑은 고딕"/>
                <a:ea typeface="맑은 고딕"/>
                <a:cs typeface="맑은 고딕"/>
              </a:rPr>
              <a:t>재계산 토큰의 새 KV를 Delta에만 기록</a:t>
            </a:r>
          </a:p>
        </p:txBody>
      </p:sp>
      <p:sp>
        <p:nvSpPr>
          <p:cNvPr id="20" name="Rectangle 29"/>
          <p:cNvSpPr/>
          <p:nvPr/>
        </p:nvSpPr>
        <p:spPr>
          <a:xfrm>
            <a:off x="4023360" y="2788920"/>
            <a:ext cx="2560320" cy="502920"/>
          </a:xfrm>
          <a:prstGeom prst="rect">
            <a:avLst/>
          </a:prstGeom>
          <a:solidFill>
            <a:srgbClr val="FFF2CC"/>
          </a:solidFill>
          <a:ln w="16510">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KV Layout Manager</a:t>
            </a:r>
          </a:p>
          <a:p>
            <a:pPr algn="ctr">
              <a:spcAft>
                <a:spcPts val="0"/>
              </a:spcAft>
            </a:pPr>
            <a:r>
              <a:rPr sz="700" b="1">
                <a:solidFill>
                  <a:srgbClr val="000000"/>
                </a:solidFill>
                <a:latin typeface="맑은 고딕"/>
                <a:ea typeface="맑은 고딕"/>
                <a:cs typeface="맑은 고딕"/>
              </a:rPr>
              <a:t>Base 공유 (refcount) + Delta 요청별 할당</a:t>
            </a:r>
          </a:p>
        </p:txBody>
      </p:sp>
      <p:sp>
        <p:nvSpPr>
          <p:cNvPr id="21" name="Rectangle 30"/>
          <p:cNvSpPr/>
          <p:nvPr/>
        </p:nvSpPr>
        <p:spPr>
          <a:xfrm>
            <a:off x="4023360" y="3520440"/>
            <a:ext cx="2560320" cy="502920"/>
          </a:xfrm>
          <a:prstGeom prst="rect">
            <a:avLst/>
          </a:prstGeom>
          <a:solidFill>
            <a:srgbClr val="FFF2CC"/>
          </a:solidFill>
          <a:ln w="16510">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850" b="1">
                <a:solidFill>
                  <a:srgbClr val="000000"/>
                </a:solidFill>
                <a:latin typeface="맑은 고딕"/>
                <a:ea typeface="맑은 고딕"/>
                <a:cs typeface="맑은 고딕"/>
              </a:rPr>
              <a:t>Plan-aware Admission Controller</a:t>
            </a:r>
          </a:p>
          <a:p>
            <a:pPr algn="ctr">
              <a:spcAft>
                <a:spcPts val="0"/>
              </a:spcAft>
            </a:pPr>
            <a:r>
              <a:rPr sz="700" b="1">
                <a:solidFill>
                  <a:srgbClr val="000000"/>
                </a:solidFill>
                <a:latin typeface="맑은 고딕"/>
                <a:ea typeface="맑은 고딕"/>
                <a:cs typeface="맑은 고딕"/>
              </a:rPr>
              <a:t>plan으로 요청별 HBM 소요 계산 → 입장 / 보류</a:t>
            </a:r>
          </a:p>
        </p:txBody>
      </p:sp>
      <p:cxnSp>
        <p:nvCxnSpPr>
          <p:cNvPr id="22" name="Connector 31"/>
          <p:cNvCxnSpPr/>
          <p:nvPr/>
        </p:nvCxnSpPr>
        <p:spPr>
          <a:xfrm flipV="1">
            <a:off x="5303520" y="3291840"/>
            <a:ext cx="0" cy="22860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32"/>
          <p:cNvCxnSpPr/>
          <p:nvPr/>
        </p:nvCxnSpPr>
        <p:spPr>
          <a:xfrm flipV="1">
            <a:off x="5303520" y="2560320"/>
            <a:ext cx="0" cy="22860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349240" y="3310128"/>
            <a:ext cx="1280160" cy="182880"/>
          </a:xfrm>
          <a:prstGeom prst="rect">
            <a:avLst/>
          </a:prstGeom>
          <a:noFill/>
        </p:spPr>
        <p:txBody>
          <a:bodyPr wrap="square" lIns="45720" tIns="27432" rIns="45720" bIns="27432" anchor="t">
            <a:spAutoFit/>
          </a:bodyPr>
          <a:lstStyle/>
          <a:p>
            <a:pPr algn="l">
              <a:spcAft>
                <a:spcPts val="200"/>
              </a:spcAft>
            </a:pPr>
            <a:r>
              <a:rPr sz="750" b="0">
                <a:solidFill>
                  <a:srgbClr val="595959"/>
                </a:solidFill>
                <a:latin typeface="맑은 고딕"/>
                <a:ea typeface="맑은 고딕"/>
                <a:cs typeface="맑은 고딕"/>
              </a:rPr>
              <a:t>admit</a:t>
            </a:r>
          </a:p>
        </p:txBody>
      </p:sp>
      <p:sp>
        <p:nvSpPr>
          <p:cNvPr id="25" name="TextBox 24"/>
          <p:cNvSpPr txBox="1"/>
          <p:nvPr/>
        </p:nvSpPr>
        <p:spPr>
          <a:xfrm>
            <a:off x="5349240" y="2578608"/>
            <a:ext cx="1280160" cy="182880"/>
          </a:xfrm>
          <a:prstGeom prst="rect">
            <a:avLst/>
          </a:prstGeom>
          <a:noFill/>
        </p:spPr>
        <p:txBody>
          <a:bodyPr wrap="square" lIns="45720" tIns="27432" rIns="45720" bIns="27432" anchor="t">
            <a:spAutoFit/>
          </a:bodyPr>
          <a:lstStyle/>
          <a:p>
            <a:pPr algn="l">
              <a:spcAft>
                <a:spcPts val="200"/>
              </a:spcAft>
            </a:pPr>
            <a:r>
              <a:rPr sz="750" b="0">
                <a:solidFill>
                  <a:srgbClr val="595959"/>
                </a:solidFill>
                <a:latin typeface="맑은 고딕"/>
                <a:ea typeface="맑은 고딕"/>
                <a:cs typeface="맑은 고딕"/>
              </a:rPr>
              <a:t>Delta 할당</a:t>
            </a:r>
          </a:p>
        </p:txBody>
      </p:sp>
      <p:cxnSp>
        <p:nvCxnSpPr>
          <p:cNvPr id="26" name="Connector 35"/>
          <p:cNvCxnSpPr/>
          <p:nvPr/>
        </p:nvCxnSpPr>
        <p:spPr>
          <a:xfrm>
            <a:off x="3383280" y="3703320"/>
            <a:ext cx="640080" cy="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456432" y="3474720"/>
            <a:ext cx="457200" cy="182880"/>
          </a:xfrm>
          <a:prstGeom prst="rect">
            <a:avLst/>
          </a:prstGeom>
          <a:noFill/>
        </p:spPr>
        <p:txBody>
          <a:bodyPr wrap="square" lIns="45720" tIns="27432" rIns="45720" bIns="27432" anchor="t">
            <a:spAutoFit/>
          </a:bodyPr>
          <a:lstStyle/>
          <a:p>
            <a:pPr algn="ctr">
              <a:spcAft>
                <a:spcPts val="200"/>
              </a:spcAft>
            </a:pPr>
            <a:r>
              <a:rPr sz="700" b="0">
                <a:solidFill>
                  <a:srgbClr val="C55A11"/>
                </a:solidFill>
                <a:latin typeface="맑은 고딕"/>
                <a:ea typeface="맑은 고딕"/>
                <a:cs typeface="맑은 고딕"/>
              </a:rPr>
              <a:t>plan</a:t>
            </a:r>
          </a:p>
        </p:txBody>
      </p:sp>
      <p:cxnSp>
        <p:nvCxnSpPr>
          <p:cNvPr id="28" name="Connector 37"/>
          <p:cNvCxnSpPr/>
          <p:nvPr/>
        </p:nvCxnSpPr>
        <p:spPr>
          <a:xfrm flipV="1">
            <a:off x="3474720" y="3017520"/>
            <a:ext cx="548640" cy="91440"/>
          </a:xfrm>
          <a:prstGeom prst="line">
            <a:avLst/>
          </a:prstGeom>
          <a:ln w="1905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456432" y="2834640"/>
            <a:ext cx="457200" cy="182880"/>
          </a:xfrm>
          <a:prstGeom prst="rect">
            <a:avLst/>
          </a:prstGeom>
          <a:noFill/>
        </p:spPr>
        <p:txBody>
          <a:bodyPr wrap="square" lIns="45720" tIns="27432" rIns="45720" bIns="27432" anchor="t">
            <a:spAutoFit/>
          </a:bodyPr>
          <a:lstStyle/>
          <a:p>
            <a:pPr algn="ctr">
              <a:spcAft>
                <a:spcPts val="200"/>
              </a:spcAft>
            </a:pPr>
            <a:r>
              <a:rPr sz="700" b="0">
                <a:solidFill>
                  <a:srgbClr val="595959"/>
                </a:solidFill>
                <a:latin typeface="맑은 고딕"/>
                <a:ea typeface="맑은 고딕"/>
                <a:cs typeface="맑은 고딕"/>
              </a:rPr>
              <a:t>Base</a:t>
            </a:r>
          </a:p>
        </p:txBody>
      </p:sp>
      <p:sp>
        <p:nvSpPr>
          <p:cNvPr id="30" name="Rectangle 39"/>
          <p:cNvSpPr/>
          <p:nvPr/>
        </p:nvSpPr>
        <p:spPr>
          <a:xfrm>
            <a:off x="6903720" y="1371600"/>
            <a:ext cx="5029200" cy="292608"/>
          </a:xfrm>
          <a:prstGeom prst="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50" b="1" dirty="0">
                <a:solidFill>
                  <a:srgbClr val="000000"/>
                </a:solidFill>
                <a:latin typeface="맑은 고딕"/>
                <a:ea typeface="맑은 고딕"/>
                <a:cs typeface="맑은 고딕"/>
              </a:rPr>
              <a:t>HBM </a:t>
            </a:r>
            <a:r>
              <a:rPr sz="1050" b="1" dirty="0" err="1">
                <a:solidFill>
                  <a:srgbClr val="000000"/>
                </a:solidFill>
                <a:latin typeface="맑은 고딕"/>
                <a:ea typeface="맑은 고딕"/>
                <a:cs typeface="맑은 고딕"/>
              </a:rPr>
              <a:t>레이아웃</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동시</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요청</a:t>
            </a:r>
            <a:r>
              <a:rPr sz="1050" b="1" dirty="0">
                <a:solidFill>
                  <a:srgbClr val="000000"/>
                </a:solidFill>
                <a:latin typeface="맑은 고딕"/>
                <a:ea typeface="맑은 고딕"/>
                <a:cs typeface="맑은 고딕"/>
              </a:rPr>
              <a:t> N=3, ρ=0.15 </a:t>
            </a:r>
            <a:r>
              <a:rPr sz="1050" b="1" dirty="0" err="1">
                <a:solidFill>
                  <a:srgbClr val="000000"/>
                </a:solidFill>
                <a:latin typeface="맑은 고딕"/>
                <a:ea typeface="맑은 고딕"/>
                <a:cs typeface="맑은 고딕"/>
              </a:rPr>
              <a:t>가정</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예시</a:t>
            </a:r>
            <a:r>
              <a:rPr sz="1050" b="1" dirty="0">
                <a:solidFill>
                  <a:srgbClr val="000000"/>
                </a:solidFill>
                <a:latin typeface="맑은 고딕"/>
                <a:ea typeface="맑은 고딕"/>
                <a:cs typeface="맑은 고딕"/>
              </a:rPr>
              <a:t>)</a:t>
            </a:r>
          </a:p>
        </p:txBody>
      </p:sp>
      <p:sp>
        <p:nvSpPr>
          <p:cNvPr id="31" name="TextBox 30"/>
          <p:cNvSpPr txBox="1"/>
          <p:nvPr/>
        </p:nvSpPr>
        <p:spPr>
          <a:xfrm>
            <a:off x="6949440" y="1965960"/>
            <a:ext cx="822960" cy="274320"/>
          </a:xfrm>
          <a:prstGeom prst="rect">
            <a:avLst/>
          </a:prstGeom>
          <a:noFill/>
        </p:spPr>
        <p:txBody>
          <a:bodyPr wrap="square" lIns="45720" tIns="27432" rIns="45720" bIns="27432" anchor="t">
            <a:spAutoFit/>
          </a:bodyPr>
          <a:lstStyle/>
          <a:p>
            <a:pPr algn="l">
              <a:spcAft>
                <a:spcPts val="200"/>
              </a:spcAft>
            </a:pPr>
            <a:r>
              <a:rPr sz="900" b="1">
                <a:solidFill>
                  <a:srgbClr val="595959"/>
                </a:solidFill>
                <a:latin typeface="맑은 고딕"/>
                <a:ea typeface="맑은 고딕"/>
                <a:cs typeface="맑은 고딕"/>
              </a:rPr>
              <a:t>보완 전</a:t>
            </a:r>
          </a:p>
        </p:txBody>
      </p:sp>
      <p:sp>
        <p:nvSpPr>
          <p:cNvPr id="32" name="Rectangle 41"/>
          <p:cNvSpPr/>
          <p:nvPr/>
        </p:nvSpPr>
        <p:spPr>
          <a:xfrm>
            <a:off x="7818120" y="2286000"/>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33" name="Rectangle 42"/>
          <p:cNvSpPr/>
          <p:nvPr/>
        </p:nvSpPr>
        <p:spPr>
          <a:xfrm>
            <a:off x="8867394" y="2286000"/>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34" name="TextBox 33"/>
          <p:cNvSpPr txBox="1"/>
          <p:nvPr/>
        </p:nvSpPr>
        <p:spPr>
          <a:xfrm>
            <a:off x="7818120" y="2011680"/>
            <a:ext cx="1234440" cy="228600"/>
          </a:xfrm>
          <a:prstGeom prst="rect">
            <a:avLst/>
          </a:prstGeom>
          <a:noFill/>
        </p:spPr>
        <p:txBody>
          <a:bodyPr wrap="square" lIns="45720" tIns="27432" rIns="45720" bIns="27432" anchor="t">
            <a:spAutoFit/>
          </a:bodyPr>
          <a:lstStyle/>
          <a:p>
            <a:pPr algn="ctr">
              <a:spcAft>
                <a:spcPts val="200"/>
              </a:spcAft>
            </a:pPr>
            <a:r>
              <a:rPr sz="750" b="0">
                <a:solidFill>
                  <a:srgbClr val="595959"/>
                </a:solidFill>
                <a:latin typeface="맑은 고딕"/>
                <a:ea typeface="맑은 고딕"/>
                <a:cs typeface="맑은 고딕"/>
              </a:rPr>
              <a:t>R1 (전체 L 복사)</a:t>
            </a:r>
          </a:p>
        </p:txBody>
      </p:sp>
      <p:sp>
        <p:nvSpPr>
          <p:cNvPr id="35" name="Rectangle 44"/>
          <p:cNvSpPr/>
          <p:nvPr/>
        </p:nvSpPr>
        <p:spPr>
          <a:xfrm>
            <a:off x="9052560" y="2286000"/>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36" name="Rectangle 45"/>
          <p:cNvSpPr/>
          <p:nvPr/>
        </p:nvSpPr>
        <p:spPr>
          <a:xfrm>
            <a:off x="10101834" y="2286000"/>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37" name="TextBox 36"/>
          <p:cNvSpPr txBox="1"/>
          <p:nvPr/>
        </p:nvSpPr>
        <p:spPr>
          <a:xfrm>
            <a:off x="9052560" y="2011680"/>
            <a:ext cx="1234440" cy="228600"/>
          </a:xfrm>
          <a:prstGeom prst="rect">
            <a:avLst/>
          </a:prstGeom>
          <a:noFill/>
        </p:spPr>
        <p:txBody>
          <a:bodyPr wrap="square" lIns="45720" tIns="27432" rIns="45720" bIns="27432" anchor="t">
            <a:spAutoFit/>
          </a:bodyPr>
          <a:lstStyle/>
          <a:p>
            <a:pPr algn="ctr">
              <a:spcAft>
                <a:spcPts val="200"/>
              </a:spcAft>
            </a:pPr>
            <a:r>
              <a:rPr sz="750" b="0">
                <a:solidFill>
                  <a:srgbClr val="595959"/>
                </a:solidFill>
                <a:latin typeface="맑은 고딕"/>
                <a:ea typeface="맑은 고딕"/>
                <a:cs typeface="맑은 고딕"/>
              </a:rPr>
              <a:t>R2 (전체 L 복사)</a:t>
            </a:r>
          </a:p>
        </p:txBody>
      </p:sp>
      <p:sp>
        <p:nvSpPr>
          <p:cNvPr id="38" name="Rectangle 47"/>
          <p:cNvSpPr/>
          <p:nvPr/>
        </p:nvSpPr>
        <p:spPr>
          <a:xfrm>
            <a:off x="10287000" y="2286000"/>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a:t>
            </a:r>
          </a:p>
        </p:txBody>
      </p:sp>
      <p:sp>
        <p:nvSpPr>
          <p:cNvPr id="39" name="Rectangle 48"/>
          <p:cNvSpPr/>
          <p:nvPr/>
        </p:nvSpPr>
        <p:spPr>
          <a:xfrm>
            <a:off x="11336274" y="2286000"/>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endParaRPr/>
          </a:p>
        </p:txBody>
      </p:sp>
      <p:sp>
        <p:nvSpPr>
          <p:cNvPr id="40" name="TextBox 39"/>
          <p:cNvSpPr txBox="1"/>
          <p:nvPr/>
        </p:nvSpPr>
        <p:spPr>
          <a:xfrm>
            <a:off x="10287000" y="2011680"/>
            <a:ext cx="1234440" cy="228600"/>
          </a:xfrm>
          <a:prstGeom prst="rect">
            <a:avLst/>
          </a:prstGeom>
          <a:noFill/>
        </p:spPr>
        <p:txBody>
          <a:bodyPr wrap="square" lIns="45720" tIns="27432" rIns="45720" bIns="27432" anchor="t">
            <a:spAutoFit/>
          </a:bodyPr>
          <a:lstStyle/>
          <a:p>
            <a:pPr algn="ctr">
              <a:spcAft>
                <a:spcPts val="200"/>
              </a:spcAft>
            </a:pPr>
            <a:r>
              <a:rPr sz="750" b="0">
                <a:solidFill>
                  <a:srgbClr val="595959"/>
                </a:solidFill>
                <a:latin typeface="맑은 고딕"/>
                <a:ea typeface="맑은 고딕"/>
                <a:cs typeface="맑은 고딕"/>
              </a:rPr>
              <a:t>R3 (전체 L 복사)</a:t>
            </a:r>
          </a:p>
        </p:txBody>
      </p:sp>
      <p:sp>
        <p:nvSpPr>
          <p:cNvPr id="41" name="TextBox 40"/>
          <p:cNvSpPr txBox="1"/>
          <p:nvPr/>
        </p:nvSpPr>
        <p:spPr>
          <a:xfrm>
            <a:off x="11567160" y="2331720"/>
            <a:ext cx="457200" cy="274320"/>
          </a:xfrm>
          <a:prstGeom prst="rect">
            <a:avLst/>
          </a:prstGeom>
          <a:noFill/>
        </p:spPr>
        <p:txBody>
          <a:bodyPr wrap="square" lIns="45720" tIns="27432" rIns="45720" bIns="27432" anchor="t">
            <a:spAutoFit/>
          </a:bodyPr>
          <a:lstStyle/>
          <a:p>
            <a:pPr algn="l">
              <a:spcAft>
                <a:spcPts val="200"/>
              </a:spcAft>
            </a:pPr>
            <a:r>
              <a:rPr sz="950" b="1">
                <a:solidFill>
                  <a:srgbClr val="FF0000"/>
                </a:solidFill>
                <a:latin typeface="맑은 고딕"/>
                <a:ea typeface="맑은 고딕"/>
                <a:cs typeface="맑은 고딕"/>
              </a:rPr>
              <a:t>3.0 L</a:t>
            </a:r>
          </a:p>
        </p:txBody>
      </p:sp>
      <p:sp>
        <p:nvSpPr>
          <p:cNvPr id="42" name="TextBox 41"/>
          <p:cNvSpPr txBox="1"/>
          <p:nvPr/>
        </p:nvSpPr>
        <p:spPr>
          <a:xfrm>
            <a:off x="6949440" y="2926080"/>
            <a:ext cx="822960" cy="274320"/>
          </a:xfrm>
          <a:prstGeom prst="rect">
            <a:avLst/>
          </a:prstGeom>
          <a:noFill/>
        </p:spPr>
        <p:txBody>
          <a:bodyPr wrap="square" lIns="45720" tIns="27432" rIns="45720" bIns="27432" anchor="t">
            <a:spAutoFit/>
          </a:bodyPr>
          <a:lstStyle/>
          <a:p>
            <a:pPr algn="l">
              <a:spcAft>
                <a:spcPts val="200"/>
              </a:spcAft>
            </a:pPr>
            <a:r>
              <a:rPr sz="900" b="1">
                <a:solidFill>
                  <a:srgbClr val="C55A11"/>
                </a:solidFill>
                <a:latin typeface="맑은 고딕"/>
                <a:ea typeface="맑은 고딕"/>
                <a:cs typeface="맑은 고딕"/>
              </a:rPr>
              <a:t>보완 후</a:t>
            </a:r>
          </a:p>
        </p:txBody>
      </p:sp>
      <p:sp>
        <p:nvSpPr>
          <p:cNvPr id="43" name="Rectangle 52"/>
          <p:cNvSpPr/>
          <p:nvPr/>
        </p:nvSpPr>
        <p:spPr>
          <a:xfrm>
            <a:off x="7818120" y="3200400"/>
            <a:ext cx="1049274" cy="365760"/>
          </a:xfrm>
          <a:prstGeom prst="rect">
            <a:avLst/>
          </a:prstGeom>
          <a:solidFill>
            <a:srgbClr val="F0F1F3"/>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800" b="1">
                <a:solidFill>
                  <a:srgbClr val="000000"/>
                </a:solidFill>
                <a:latin typeface="맑은 고딕"/>
                <a:ea typeface="맑은 고딕"/>
                <a:cs typeface="맑은 고딕"/>
              </a:rPr>
              <a:t>Base (공유 ×3)</a:t>
            </a:r>
          </a:p>
        </p:txBody>
      </p:sp>
      <p:sp>
        <p:nvSpPr>
          <p:cNvPr id="44" name="Rectangle 53"/>
          <p:cNvSpPr/>
          <p:nvPr/>
        </p:nvSpPr>
        <p:spPr>
          <a:xfrm>
            <a:off x="8867394" y="3200400"/>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d1</a:t>
            </a:r>
          </a:p>
        </p:txBody>
      </p:sp>
      <p:sp>
        <p:nvSpPr>
          <p:cNvPr id="45" name="Rectangle 54"/>
          <p:cNvSpPr/>
          <p:nvPr/>
        </p:nvSpPr>
        <p:spPr>
          <a:xfrm>
            <a:off x="9052560" y="3200400"/>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d2</a:t>
            </a:r>
          </a:p>
        </p:txBody>
      </p:sp>
      <p:sp>
        <p:nvSpPr>
          <p:cNvPr id="46" name="Rectangle 55"/>
          <p:cNvSpPr/>
          <p:nvPr/>
        </p:nvSpPr>
        <p:spPr>
          <a:xfrm>
            <a:off x="9237726" y="3200400"/>
            <a:ext cx="185166"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27432" rIns="0" bIns="27432" rtlCol="0" anchor="ctr"/>
          <a:lstStyle/>
          <a:p>
            <a:pPr algn="ctr">
              <a:spcAft>
                <a:spcPts val="200"/>
              </a:spcAft>
            </a:pPr>
            <a:r>
              <a:rPr sz="650" b="1">
                <a:solidFill>
                  <a:srgbClr val="000000"/>
                </a:solidFill>
                <a:latin typeface="맑은 고딕"/>
                <a:ea typeface="맑은 고딕"/>
                <a:cs typeface="맑은 고딕"/>
              </a:rPr>
              <a:t>d3</a:t>
            </a:r>
          </a:p>
        </p:txBody>
      </p:sp>
      <p:sp>
        <p:nvSpPr>
          <p:cNvPr id="47" name="TextBox 46"/>
          <p:cNvSpPr txBox="1"/>
          <p:nvPr/>
        </p:nvSpPr>
        <p:spPr>
          <a:xfrm>
            <a:off x="8867394" y="2926080"/>
            <a:ext cx="1371600" cy="228600"/>
          </a:xfrm>
          <a:prstGeom prst="rect">
            <a:avLst/>
          </a:prstGeom>
          <a:noFill/>
        </p:spPr>
        <p:txBody>
          <a:bodyPr wrap="square" lIns="45720" tIns="27432" rIns="45720" bIns="27432" anchor="t">
            <a:spAutoFit/>
          </a:bodyPr>
          <a:lstStyle/>
          <a:p>
            <a:pPr algn="l">
              <a:spcAft>
                <a:spcPts val="200"/>
              </a:spcAft>
            </a:pPr>
            <a:r>
              <a:rPr sz="750" b="0">
                <a:solidFill>
                  <a:srgbClr val="C55A11"/>
                </a:solidFill>
                <a:latin typeface="맑은 고딕"/>
                <a:ea typeface="맑은 고딕"/>
                <a:cs typeface="맑은 고딕"/>
              </a:rPr>
              <a:t>Delta (요청별)</a:t>
            </a:r>
          </a:p>
        </p:txBody>
      </p:sp>
      <p:sp>
        <p:nvSpPr>
          <p:cNvPr id="48" name="TextBox 47"/>
          <p:cNvSpPr txBox="1"/>
          <p:nvPr/>
        </p:nvSpPr>
        <p:spPr>
          <a:xfrm>
            <a:off x="9509760" y="3246120"/>
            <a:ext cx="731520" cy="274320"/>
          </a:xfrm>
          <a:prstGeom prst="rect">
            <a:avLst/>
          </a:prstGeom>
          <a:noFill/>
        </p:spPr>
        <p:txBody>
          <a:bodyPr wrap="square" lIns="45720" tIns="27432" rIns="45720" bIns="27432" anchor="t">
            <a:spAutoFit/>
          </a:bodyPr>
          <a:lstStyle/>
          <a:p>
            <a:pPr algn="l">
              <a:spcAft>
                <a:spcPts val="200"/>
              </a:spcAft>
            </a:pPr>
            <a:r>
              <a:rPr sz="950" b="1">
                <a:solidFill>
                  <a:srgbClr val="FF0000"/>
                </a:solidFill>
                <a:latin typeface="맑은 고딕"/>
                <a:ea typeface="맑은 고딕"/>
                <a:cs typeface="맑은 고딕"/>
              </a:rPr>
              <a:t>1.3 L</a:t>
            </a:r>
          </a:p>
        </p:txBody>
      </p:sp>
      <p:sp>
        <p:nvSpPr>
          <p:cNvPr id="49" name="TextBox 48"/>
          <p:cNvSpPr txBox="1"/>
          <p:nvPr/>
        </p:nvSpPr>
        <p:spPr>
          <a:xfrm>
            <a:off x="6949440" y="3703320"/>
            <a:ext cx="4983480" cy="731520"/>
          </a:xfrm>
          <a:prstGeom prst="rect">
            <a:avLst/>
          </a:prstGeom>
          <a:noFill/>
        </p:spPr>
        <p:txBody>
          <a:bodyPr wrap="square" lIns="45720" tIns="27432" rIns="45720" bIns="27432" anchor="t">
            <a:spAutoFit/>
          </a:bodyPr>
          <a:lstStyle/>
          <a:p>
            <a:pPr algn="l">
              <a:spcAft>
                <a:spcPts val="200"/>
              </a:spcAft>
            </a:pPr>
            <a:r>
              <a:rPr sz="850" b="1" dirty="0">
                <a:solidFill>
                  <a:srgbClr val="404040"/>
                </a:solidFill>
                <a:latin typeface="맑은 고딕"/>
                <a:ea typeface="맑은 고딕"/>
                <a:cs typeface="맑은 고딕"/>
              </a:rPr>
              <a:t>HBM = (1−ρ)·L + </a:t>
            </a:r>
            <a:r>
              <a:rPr sz="850" b="1" dirty="0" err="1">
                <a:solidFill>
                  <a:srgbClr val="404040"/>
                </a:solidFill>
                <a:latin typeface="맑은 고딕"/>
                <a:ea typeface="맑은 고딕"/>
                <a:cs typeface="맑은 고딕"/>
              </a:rPr>
              <a:t>N·ρ·L</a:t>
            </a:r>
            <a:r>
              <a:rPr sz="850" b="1" dirty="0">
                <a:solidFill>
                  <a:srgbClr val="404040"/>
                </a:solidFill>
                <a:latin typeface="맑은 고딕"/>
                <a:ea typeface="맑은 고딕"/>
                <a:cs typeface="맑은 고딕"/>
              </a:rPr>
              <a:t>  vs  N·L  → N=3, ρ=0.15에서 3.0 L → 1.3 L (−57%, </a:t>
            </a:r>
            <a:r>
              <a:rPr sz="850" b="1" dirty="0" err="1">
                <a:solidFill>
                  <a:srgbClr val="404040"/>
                </a:solidFill>
                <a:latin typeface="맑은 고딕"/>
                <a:ea typeface="맑은 고딕"/>
                <a:cs typeface="맑은 고딕"/>
              </a:rPr>
              <a:t>산술</a:t>
            </a:r>
            <a:r>
              <a:rPr sz="850" b="1" dirty="0">
                <a:solidFill>
                  <a:srgbClr val="404040"/>
                </a:solidFill>
                <a:latin typeface="맑은 고딕"/>
                <a:ea typeface="맑은 고딕"/>
                <a:cs typeface="맑은 고딕"/>
              </a:rPr>
              <a:t> </a:t>
            </a:r>
            <a:r>
              <a:rPr sz="850" b="1" dirty="0" err="1">
                <a:solidFill>
                  <a:srgbClr val="404040"/>
                </a:solidFill>
                <a:latin typeface="맑은 고딕"/>
                <a:ea typeface="맑은 고딕"/>
                <a:cs typeface="맑은 고딕"/>
              </a:rPr>
              <a:t>예시</a:t>
            </a:r>
            <a:r>
              <a:rPr sz="850" b="1" dirty="0">
                <a:solidFill>
                  <a:srgbClr val="404040"/>
                </a:solidFill>
                <a:latin typeface="맑은 고딕"/>
                <a:ea typeface="맑은 고딕"/>
                <a:cs typeface="맑은 고딕"/>
              </a:rPr>
              <a:t> [C])</a:t>
            </a:r>
          </a:p>
          <a:p>
            <a:pPr algn="l">
              <a:spcAft>
                <a:spcPts val="200"/>
              </a:spcAft>
            </a:pPr>
            <a:r>
              <a:rPr sz="850" b="0" dirty="0" err="1">
                <a:solidFill>
                  <a:srgbClr val="595959"/>
                </a:solidFill>
                <a:latin typeface="맑은 고딕"/>
                <a:ea typeface="맑은 고딕"/>
                <a:cs typeface="맑은 고딕"/>
              </a:rPr>
              <a:t>N이</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커질수록</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요청당</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ρ·L에</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수렴</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재사용이</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분산돼</a:t>
            </a:r>
            <a:r>
              <a:rPr sz="850" b="0" dirty="0">
                <a:solidFill>
                  <a:srgbClr val="595959"/>
                </a:solidFill>
                <a:latin typeface="맑은 고딕"/>
                <a:ea typeface="맑은 고딕"/>
                <a:cs typeface="맑은 고딕"/>
              </a:rPr>
              <a:t> N≈1이면 </a:t>
            </a:r>
            <a:r>
              <a:rPr sz="850" b="0" dirty="0" err="1">
                <a:solidFill>
                  <a:srgbClr val="595959"/>
                </a:solidFill>
                <a:latin typeface="맑은 고딕"/>
                <a:ea typeface="맑은 고딕"/>
                <a:cs typeface="맑은 고딕"/>
              </a:rPr>
              <a:t>이득</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없음</a:t>
            </a:r>
            <a:endParaRPr sz="850" b="0" dirty="0">
              <a:solidFill>
                <a:srgbClr val="595959"/>
              </a:solidFill>
              <a:latin typeface="맑은 고딕"/>
              <a:ea typeface="맑은 고딕"/>
              <a:cs typeface="맑은 고딕"/>
            </a:endParaRPr>
          </a:p>
        </p:txBody>
      </p:sp>
      <p:graphicFrame>
        <p:nvGraphicFramePr>
          <p:cNvPr id="50" name="Table 59"/>
          <p:cNvGraphicFramePr>
            <a:graphicFrameLocks noGrp="1"/>
          </p:cNvGraphicFramePr>
          <p:nvPr/>
        </p:nvGraphicFramePr>
        <p:xfrm>
          <a:off x="246888" y="4572000"/>
          <a:ext cx="11750040" cy="1316736"/>
        </p:xfrm>
        <a:graphic>
          <a:graphicData uri="http://schemas.openxmlformats.org/drawingml/2006/table">
            <a:tbl>
              <a:tblPr>
                <a:tableStyleId>{2D5ABB26-0587-4C30-8999-92F81FD0307C}</a:tableStyleId>
              </a:tblPr>
              <a:tblGrid>
                <a:gridCol w="21031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423160">
                  <a:extLst>
                    <a:ext uri="{9D8B030D-6E8A-4147-A177-3AD203B41FA5}">
                      <a16:colId xmlns:a16="http://schemas.microsoft.com/office/drawing/2014/main" val="20003"/>
                    </a:ext>
                  </a:extLst>
                </a:gridCol>
              </a:tblGrid>
              <a:tr h="274320">
                <a:tc>
                  <a:txBody>
                    <a:bodyPr/>
                    <a:lstStyle/>
                    <a:p>
                      <a:pPr algn="ctr">
                        <a:spcAft>
                          <a:spcPts val="100"/>
                        </a:spcAft>
                      </a:pPr>
                      <a:r>
                        <a:rPr sz="1000" b="0">
                          <a:solidFill>
                            <a:srgbClr val="7F7F7F"/>
                          </a:solidFill>
                          <a:latin typeface="맑은 고딕"/>
                          <a:ea typeface="맑은 고딕"/>
                          <a:cs typeface="맑은 고딕"/>
                        </a:rPr>
                        <a:t>구조 요소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000" b="1">
                          <a:solidFill>
                            <a:srgbClr val="7F7F7F"/>
                          </a:solidFill>
                          <a:latin typeface="맑은 고딕"/>
                          <a:ea typeface="맑은 고딕"/>
                          <a:cs typeface="맑은 고딕"/>
                        </a:rPr>
                        <a:t>적용 패턴</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000" b="1">
                          <a:solidFill>
                            <a:srgbClr val="7F7F7F"/>
                          </a:solidFill>
                          <a:latin typeface="맑은 고딕"/>
                          <a:ea typeface="맑은 고딕"/>
                          <a:cs typeface="맑은 고딕"/>
                        </a:rPr>
                        <a:t>해결하는 약점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1000" b="1">
                          <a:solidFill>
                            <a:srgbClr val="7F7F7F"/>
                          </a:solidFill>
                          <a:latin typeface="맑은 고딕"/>
                          <a:ea typeface="맑은 고딕"/>
                          <a:cs typeface="맑은 고딕"/>
                        </a:rPr>
                        <a:t>검증 상태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0"/>
                  </a:ext>
                </a:extLst>
              </a:tr>
              <a:tr h="347472">
                <a:tc>
                  <a:txBody>
                    <a:bodyPr/>
                    <a:lstStyle/>
                    <a:p>
                      <a:pPr algn="ctr">
                        <a:spcAft>
                          <a:spcPts val="100"/>
                        </a:spcAft>
                      </a:pPr>
                      <a:r>
                        <a:rPr sz="900" b="0" dirty="0">
                          <a:solidFill>
                            <a:srgbClr val="7F7F7F"/>
                          </a:solidFill>
                          <a:latin typeface="맑은 고딕"/>
                          <a:ea typeface="맑은 고딕"/>
                          <a:cs typeface="맑은 고딕"/>
                        </a:rPr>
                        <a:t>KV Layout Manager (Base/Delta)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900" b="0" dirty="0">
                          <a:solidFill>
                            <a:srgbClr val="000000"/>
                          </a:solidFill>
                          <a:latin typeface="맑은 고딕"/>
                          <a:ea typeface="맑은 고딕"/>
                          <a:cs typeface="맑은 고딕"/>
                        </a:rPr>
                        <a:t>Flyweight / Copy-on-Write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요청마다 KV 전체를 복사해 생기는 HBM 중복 (QA2)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dirty="0" err="1">
                          <a:solidFill>
                            <a:srgbClr val="000000"/>
                          </a:solidFill>
                          <a:latin typeface="맑은 고딕"/>
                          <a:ea typeface="맑은 고딕"/>
                          <a:cs typeface="맑은 고딕"/>
                        </a:rPr>
                        <a:t>블록</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refcount</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기반은</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vLLM에</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존재</a:t>
                      </a:r>
                      <a:endParaRPr sz="900" b="0" dirty="0">
                        <a:solidFill>
                          <a:srgbClr val="000000"/>
                        </a:solidFill>
                        <a:latin typeface="맑은 고딕"/>
                        <a:ea typeface="맑은 고딕"/>
                        <a:cs typeface="맑은 고딕"/>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347472">
                <a:tc>
                  <a:txBody>
                    <a:bodyPr/>
                    <a:lstStyle/>
                    <a:p>
                      <a:pPr algn="ctr">
                        <a:spcAft>
                          <a:spcPts val="100"/>
                        </a:spcAft>
                      </a:pPr>
                      <a:r>
                        <a:rPr sz="900" b="0" dirty="0">
                          <a:solidFill>
                            <a:srgbClr val="7F7F7F"/>
                          </a:solidFill>
                          <a:latin typeface="맑은 고딕"/>
                          <a:ea typeface="맑은 고딕"/>
                          <a:cs typeface="맑은 고딕"/>
                        </a:rPr>
                        <a:t>Plan-aware Admission Controller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900" b="0">
                          <a:solidFill>
                            <a:srgbClr val="000000"/>
                          </a:solidFill>
                          <a:latin typeface="맑은 고딕"/>
                          <a:ea typeface="맑은 고딕"/>
                          <a:cs typeface="맑은 고딕"/>
                        </a:rPr>
                        <a:t>Resource Bounding + Admission 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Delta 크기가 사전에 확정되어 HBM 소요를 입장 전에 계산 → OOM·eviction 감소 (QA1, QA2)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endParaRPr sz="900" b="0" dirty="0">
                        <a:solidFill>
                          <a:srgbClr val="000000"/>
                        </a:solidFill>
                        <a:latin typeface="맑은 고딕"/>
                        <a:ea typeface="맑은 고딕"/>
                        <a:cs typeface="맑은 고딕"/>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347472">
                <a:tc>
                  <a:txBody>
                    <a:bodyPr/>
                    <a:lstStyle/>
                    <a:p>
                      <a:pPr algn="ctr">
                        <a:spcAft>
                          <a:spcPts val="100"/>
                        </a:spcAft>
                      </a:pPr>
                      <a:r>
                        <a:rPr sz="900" b="0">
                          <a:solidFill>
                            <a:srgbClr val="7F7F7F"/>
                          </a:solidFill>
                          <a:latin typeface="맑은 고딕"/>
                          <a:ea typeface="맑은 고딕"/>
                          <a:cs typeface="맑은 고딕"/>
                        </a:rPr>
                        <a:t>KV Lifecycle Event</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a:lstStyle/>
                    <a:p>
                      <a:pPr>
                        <a:spcAft>
                          <a:spcPts val="100"/>
                        </a:spcAft>
                      </a:pPr>
                      <a:r>
                        <a:rPr sz="900" b="0" dirty="0">
                          <a:solidFill>
                            <a:srgbClr val="000000"/>
                          </a:solidFill>
                          <a:latin typeface="맑은 고딕"/>
                          <a:ea typeface="맑은 고딕"/>
                          <a:cs typeface="맑은 고딕"/>
                        </a:rPr>
                        <a:t>Publish-Subscribe (Observer)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900" b="0">
                          <a:solidFill>
                            <a:srgbClr val="000000"/>
                          </a:solidFill>
                          <a:latin typeface="맑은 고딕"/>
                          <a:ea typeface="맑은 고딕"/>
                          <a:cs typeface="맑은 고딕"/>
                        </a:rPr>
                        <a:t>KV 이동·삭제 시 stale plan·고아 메타데이터 정리 (QA5, QA2)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endParaRPr sz="900" b="0" dirty="0">
                        <a:solidFill>
                          <a:srgbClr val="000000"/>
                        </a:solidFill>
                        <a:latin typeface="맑은 고딕"/>
                        <a:ea typeface="맑은 고딕"/>
                        <a:cs typeface="맑은 고딕"/>
                      </a:endParaRP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51" name="TextBox 50"/>
          <p:cNvSpPr txBox="1"/>
          <p:nvPr/>
        </p:nvSpPr>
        <p:spPr>
          <a:xfrm>
            <a:off x="246888" y="6035040"/>
            <a:ext cx="11704320" cy="502920"/>
          </a:xfrm>
          <a:prstGeom prst="rect">
            <a:avLst/>
          </a:prstGeom>
          <a:noFill/>
        </p:spPr>
        <p:txBody>
          <a:bodyPr wrap="square" lIns="45720" tIns="27432" rIns="45720" bIns="27432" anchor="t">
            <a:spAutoFit/>
          </a:bodyPr>
          <a:lstStyle/>
          <a:p>
            <a:pPr algn="l">
              <a:spcAft>
                <a:spcPts val="200"/>
              </a:spcAft>
            </a:pPr>
            <a:r>
              <a:rPr sz="850" b="0">
                <a:solidFill>
                  <a:srgbClr val="595959"/>
                </a:solidFill>
                <a:latin typeface="맑은 고딕"/>
                <a:ea typeface="맑은 고딕"/>
                <a:cs typeface="맑은 고딕"/>
              </a:rPr>
              <a:t>전제 : ① 같은 Context를 같은 위치(offset)에 쓰는 동시 요청이 많을 때만 Base 공유 가능  ② 1안은 Delta를 점수 계산 뒤에야 알아 사전 예산 산정이 어려움 → 2안 고유 이점  ③ 미구현 · 미측정, 수치는 산술 예시</a:t>
            </a:r>
          </a:p>
        </p:txBody>
      </p:sp>
      <p:sp>
        <p:nvSpPr>
          <p:cNvPr id="52" name="실행 단추: 뒤로 또는 이전 51">
            <a:hlinkClick r:id="rId3" action="ppaction://hlinksldjump" highlightClick="1"/>
          </p:cNvPr>
          <p:cNvSpPr/>
          <p:nvPr/>
        </p:nvSpPr>
        <p:spPr>
          <a:xfrm>
            <a:off x="7620000" y="215900"/>
            <a:ext cx="270933" cy="20955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78187713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DP2. Cost </a:t>
            </a:r>
            <a:r>
              <a:rPr lang="ko-KR" altLang="en-US" dirty="0"/>
              <a:t>계산 비용 검토 </a:t>
            </a:r>
            <a:r>
              <a:rPr lang="en-US" altLang="ko-KR" dirty="0"/>
              <a:t>— </a:t>
            </a:r>
            <a:r>
              <a:rPr lang="ko-KR" altLang="en-US" dirty="0"/>
              <a:t>사전 계획</a:t>
            </a:r>
            <a:r>
              <a:rPr lang="en-US" altLang="ko-KR" dirty="0"/>
              <a:t>(Plan) </a:t>
            </a:r>
            <a:r>
              <a:rPr lang="ko-KR" altLang="en-US" dirty="0"/>
              <a:t>분리의 근거</a:t>
            </a:r>
          </a:p>
        </p:txBody>
      </p:sp>
      <p:sp>
        <p:nvSpPr>
          <p:cNvPr id="3" name="Rectangle 11"/>
          <p:cNvSpPr/>
          <p:nvPr/>
        </p:nvSpPr>
        <p:spPr>
          <a:xfrm>
            <a:off x="182880" y="950976"/>
            <a:ext cx="11823192" cy="365760"/>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 name="TextBox 3"/>
          <p:cNvSpPr txBox="1"/>
          <p:nvPr/>
        </p:nvSpPr>
        <p:spPr>
          <a:xfrm>
            <a:off x="310896" y="950976"/>
            <a:ext cx="1060704" cy="365760"/>
          </a:xfrm>
          <a:prstGeom prst="rect">
            <a:avLst/>
          </a:prstGeom>
          <a:noFill/>
        </p:spPr>
        <p:txBody>
          <a:bodyPr wrap="square" lIns="0" tIns="0" rIns="0" bIns="0" anchor="ctr">
            <a:spAutoFit/>
          </a:bodyPr>
          <a:lstStyle/>
          <a:p>
            <a:pPr algn="l"/>
            <a:r>
              <a:rPr sz="1000" b="1" i="0">
                <a:solidFill>
                  <a:srgbClr val="7B1A1A"/>
                </a:solidFill>
                <a:latin typeface="맑은 고딕"/>
                <a:ea typeface="맑은 고딕"/>
              </a:rPr>
              <a:t>받은 질문</a:t>
            </a:r>
          </a:p>
        </p:txBody>
      </p:sp>
      <p:sp>
        <p:nvSpPr>
          <p:cNvPr id="5" name="TextBox 4"/>
          <p:cNvSpPr txBox="1"/>
          <p:nvPr/>
        </p:nvSpPr>
        <p:spPr>
          <a:xfrm>
            <a:off x="1389888" y="987552"/>
            <a:ext cx="10515600" cy="280205"/>
          </a:xfrm>
          <a:prstGeom prst="rect">
            <a:avLst/>
          </a:prstGeom>
          <a:noFill/>
        </p:spPr>
        <p:txBody>
          <a:bodyPr wrap="square" lIns="0" tIns="0" rIns="0" bIns="0" anchor="t">
            <a:spAutoFit/>
          </a:bodyPr>
          <a:lstStyle/>
          <a:p>
            <a:pPr algn="l">
              <a:lnSpc>
                <a:spcPct val="112000"/>
              </a:lnSpc>
            </a:pPr>
            <a:r>
              <a:rPr sz="850" b="0" i="0" dirty="0">
                <a:solidFill>
                  <a:srgbClr val="262626"/>
                </a:solidFill>
                <a:latin typeface="맑은 고딕"/>
                <a:ea typeface="맑은 고딕"/>
              </a:rPr>
              <a:t>"Cost 가 </a:t>
            </a:r>
            <a:r>
              <a:rPr sz="850" b="0" i="0" dirty="0" err="1">
                <a:solidFill>
                  <a:srgbClr val="262626"/>
                </a:solidFill>
                <a:latin typeface="맑은 고딕"/>
                <a:ea typeface="맑은 고딕"/>
              </a:rPr>
              <a:t>얼마나</a:t>
            </a:r>
            <a:r>
              <a:rPr sz="850" b="0" i="0" dirty="0">
                <a:solidFill>
                  <a:srgbClr val="262626"/>
                </a:solidFill>
                <a:latin typeface="맑은 고딕"/>
                <a:ea typeface="맑은 고딕"/>
              </a:rPr>
              <a:t> </a:t>
            </a:r>
            <a:r>
              <a:rPr sz="850" b="0" i="0" dirty="0" err="1">
                <a:solidFill>
                  <a:srgbClr val="262626"/>
                </a:solidFill>
                <a:latin typeface="맑은 고딕"/>
                <a:ea typeface="맑은 고딕"/>
              </a:rPr>
              <a:t>오래</a:t>
            </a:r>
            <a:r>
              <a:rPr sz="850" b="0" i="0" dirty="0">
                <a:solidFill>
                  <a:srgbClr val="262626"/>
                </a:solidFill>
                <a:latin typeface="맑은 고딕"/>
                <a:ea typeface="맑은 고딕"/>
              </a:rPr>
              <a:t> </a:t>
            </a:r>
            <a:r>
              <a:rPr sz="850" b="0" i="0" dirty="0" err="1">
                <a:solidFill>
                  <a:srgbClr val="262626"/>
                </a:solidFill>
                <a:latin typeface="맑은 고딕"/>
                <a:ea typeface="맑은 고딕"/>
              </a:rPr>
              <a:t>걸려서</a:t>
            </a:r>
            <a:r>
              <a:rPr sz="850" b="0" i="0" dirty="0">
                <a:solidFill>
                  <a:srgbClr val="262626"/>
                </a:solidFill>
                <a:latin typeface="맑은 고딕"/>
                <a:ea typeface="맑은 고딕"/>
              </a:rPr>
              <a:t> </a:t>
            </a:r>
            <a:r>
              <a:rPr sz="850" b="0" i="0" dirty="0" err="1">
                <a:solidFill>
                  <a:srgbClr val="262626"/>
                </a:solidFill>
                <a:latin typeface="맑은 고딕"/>
                <a:ea typeface="맑은 고딕"/>
              </a:rPr>
              <a:t>미리</a:t>
            </a:r>
            <a:r>
              <a:rPr sz="850" b="0" i="0" dirty="0">
                <a:solidFill>
                  <a:srgbClr val="262626"/>
                </a:solidFill>
                <a:latin typeface="맑은 고딕"/>
                <a:ea typeface="맑은 고딕"/>
              </a:rPr>
              <a:t> </a:t>
            </a:r>
            <a:r>
              <a:rPr sz="850" b="0" i="0" dirty="0" err="1">
                <a:solidFill>
                  <a:srgbClr val="262626"/>
                </a:solidFill>
                <a:latin typeface="맑은 고딕"/>
                <a:ea typeface="맑은 고딕"/>
              </a:rPr>
              <a:t>계산해야</a:t>
            </a:r>
            <a:r>
              <a:rPr sz="850" b="0" i="0" dirty="0">
                <a:solidFill>
                  <a:srgbClr val="262626"/>
                </a:solidFill>
                <a:latin typeface="맑은 고딕"/>
                <a:ea typeface="맑은 고딕"/>
              </a:rPr>
              <a:t> </a:t>
            </a:r>
            <a:r>
              <a:rPr lang="ko-KR" altLang="en-US" sz="850" b="0" i="0" dirty="0">
                <a:solidFill>
                  <a:srgbClr val="262626"/>
                </a:solidFill>
                <a:latin typeface="맑은 고딕"/>
                <a:ea typeface="맑은 고딕"/>
              </a:rPr>
              <a:t>하는가</a:t>
            </a:r>
            <a:r>
              <a:rPr lang="ko-KR" altLang="en-US" sz="850" dirty="0">
                <a:solidFill>
                  <a:srgbClr val="262626"/>
                </a:solidFill>
                <a:latin typeface="맑은 고딕"/>
                <a:ea typeface="맑은 고딕"/>
              </a:rPr>
              <a:t>에 대한 답</a:t>
            </a:r>
            <a:r>
              <a:rPr sz="850" b="0" i="0" dirty="0">
                <a:solidFill>
                  <a:srgbClr val="262626"/>
                </a:solidFill>
                <a:latin typeface="맑은 고딕"/>
                <a:ea typeface="맑은 고딕"/>
              </a:rPr>
              <a:t>"</a:t>
            </a:r>
            <a:endParaRPr lang="en-US" altLang="ko-KR" sz="850" b="0" i="0" dirty="0">
              <a:solidFill>
                <a:srgbClr val="262626"/>
              </a:solidFill>
              <a:latin typeface="맑은 고딕"/>
              <a:ea typeface="맑은 고딕"/>
            </a:endParaRPr>
          </a:p>
          <a:p>
            <a:pPr algn="l">
              <a:lnSpc>
                <a:spcPct val="112000"/>
              </a:lnSpc>
            </a:pPr>
            <a:r>
              <a:rPr lang="en-US" altLang="ko-KR" sz="850" b="0" i="0" dirty="0">
                <a:solidFill>
                  <a:srgbClr val="262626"/>
                </a:solidFill>
                <a:latin typeface="맑은 고딕"/>
                <a:ea typeface="맑은 고딕"/>
              </a:rPr>
              <a:t>→ 1</a:t>
            </a:r>
            <a:r>
              <a:rPr lang="ko-KR" altLang="en-US" sz="850" b="0" i="0" dirty="0">
                <a:solidFill>
                  <a:srgbClr val="262626"/>
                </a:solidFill>
                <a:latin typeface="맑은 고딕"/>
                <a:ea typeface="맑은 고딕"/>
              </a:rPr>
              <a:t>안이 구조적으로 못 피하는 것은 ⑴ 디바이스</a:t>
            </a:r>
            <a:r>
              <a:rPr lang="en-US" altLang="ko-KR" sz="850" b="0" i="0" dirty="0">
                <a:solidFill>
                  <a:srgbClr val="262626"/>
                </a:solidFill>
                <a:latin typeface="맑은 고딕"/>
                <a:ea typeface="맑은 고딕"/>
              </a:rPr>
              <a:t>·</a:t>
            </a:r>
            <a:r>
              <a:rPr lang="ko-KR" altLang="en-US" sz="850" b="0" i="0" dirty="0">
                <a:solidFill>
                  <a:srgbClr val="262626"/>
                </a:solidFill>
                <a:latin typeface="맑은 고딕"/>
                <a:ea typeface="맑은 고딕"/>
              </a:rPr>
              <a:t>원격 상태 수집 왕복</a:t>
            </a:r>
            <a:r>
              <a:rPr lang="en-US" altLang="ko-KR" sz="850" b="0" i="0" dirty="0">
                <a:solidFill>
                  <a:srgbClr val="262626"/>
                </a:solidFill>
                <a:latin typeface="맑은 고딕"/>
                <a:ea typeface="맑은 고딕"/>
              </a:rPr>
              <a:t>, ⑵ </a:t>
            </a:r>
            <a:r>
              <a:rPr lang="ko-KR" altLang="en-US" sz="850" b="0" i="0" dirty="0">
                <a:solidFill>
                  <a:srgbClr val="262626"/>
                </a:solidFill>
                <a:latin typeface="맑은 고딕"/>
                <a:ea typeface="맑은 고딕"/>
              </a:rPr>
              <a:t>디바이스 확장에 따라 커지는 </a:t>
            </a:r>
            <a:r>
              <a:rPr lang="en-US" altLang="ko-KR" sz="850" b="0" i="0" dirty="0">
                <a:solidFill>
                  <a:srgbClr val="262626"/>
                </a:solidFill>
                <a:latin typeface="맑은 고딕"/>
                <a:ea typeface="맑은 고딕"/>
              </a:rPr>
              <a:t>critical path </a:t>
            </a:r>
            <a:r>
              <a:rPr lang="ko-KR" altLang="en-US" sz="850" b="0" i="0" dirty="0">
                <a:solidFill>
                  <a:srgbClr val="262626"/>
                </a:solidFill>
                <a:latin typeface="맑은 고딕"/>
                <a:ea typeface="맑은 고딕"/>
              </a:rPr>
              <a:t>복잡도다</a:t>
            </a:r>
            <a:r>
              <a:rPr lang="en-US" altLang="ko-KR" sz="850" b="0" i="0" dirty="0">
                <a:solidFill>
                  <a:srgbClr val="262626"/>
                </a:solidFill>
                <a:latin typeface="맑은 고딕"/>
                <a:ea typeface="맑은 고딕"/>
              </a:rPr>
              <a:t>.</a:t>
            </a:r>
          </a:p>
        </p:txBody>
      </p:sp>
      <p:sp>
        <p:nvSpPr>
          <p:cNvPr id="6" name="Rectangle 14"/>
          <p:cNvSpPr/>
          <p:nvPr/>
        </p:nvSpPr>
        <p:spPr>
          <a:xfrm>
            <a:off x="182880" y="1389888"/>
            <a:ext cx="6949440"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dirty="0">
                <a:solidFill>
                  <a:srgbClr val="262626"/>
                </a:solidFill>
                <a:latin typeface="맑은 고딕"/>
                <a:ea typeface="맑은 고딕"/>
              </a:rPr>
              <a:t>critical path </a:t>
            </a:r>
            <a:r>
              <a:rPr sz="1050" b="1" i="0" dirty="0" err="1">
                <a:solidFill>
                  <a:srgbClr val="262626"/>
                </a:solidFill>
                <a:latin typeface="맑은 고딕"/>
                <a:ea typeface="맑은 고딕"/>
              </a:rPr>
              <a:t>지연</a:t>
            </a:r>
            <a:r>
              <a:rPr sz="1050" b="1" i="0" dirty="0">
                <a:solidFill>
                  <a:srgbClr val="262626"/>
                </a:solidFill>
                <a:latin typeface="맑은 고딕"/>
                <a:ea typeface="맑은 고딕"/>
              </a:rPr>
              <a:t> </a:t>
            </a:r>
            <a:r>
              <a:rPr sz="1050" b="1" i="0" dirty="0" err="1">
                <a:solidFill>
                  <a:srgbClr val="262626"/>
                </a:solidFill>
                <a:latin typeface="맑은 고딕"/>
                <a:ea typeface="맑은 고딕"/>
              </a:rPr>
              <a:t>스케일</a:t>
            </a:r>
            <a:r>
              <a:rPr sz="1050" b="1" i="0" dirty="0">
                <a:solidFill>
                  <a:srgbClr val="262626"/>
                </a:solidFill>
                <a:latin typeface="맑은 고딕"/>
                <a:ea typeface="맑은 고딕"/>
              </a:rPr>
              <a:t> </a:t>
            </a:r>
            <a:r>
              <a:rPr sz="1050" b="1" i="0" dirty="0" smtClean="0">
                <a:solidFill>
                  <a:srgbClr val="262626"/>
                </a:solidFill>
                <a:latin typeface="맑은 고딕"/>
                <a:ea typeface="맑은 고딕"/>
              </a:rPr>
              <a:t>     </a:t>
            </a:r>
            <a:r>
              <a:rPr sz="1050" b="1" i="0" dirty="0" err="1">
                <a:solidFill>
                  <a:srgbClr val="262626"/>
                </a:solidFill>
                <a:latin typeface="맑은 고딕"/>
                <a:ea typeface="맑은 고딕"/>
              </a:rPr>
              <a:t>파랑</a:t>
            </a:r>
            <a:r>
              <a:rPr sz="1050" b="1" i="0" dirty="0">
                <a:solidFill>
                  <a:srgbClr val="262626"/>
                </a:solidFill>
                <a:latin typeface="맑은 고딕"/>
                <a:ea typeface="맑은 고딕"/>
              </a:rPr>
              <a:t> = </a:t>
            </a:r>
            <a:r>
              <a:rPr sz="1050" b="1" i="0" dirty="0" err="1">
                <a:solidFill>
                  <a:srgbClr val="262626"/>
                </a:solidFill>
                <a:latin typeface="맑은 고딕"/>
                <a:ea typeface="맑은 고딕"/>
              </a:rPr>
              <a:t>계산</a:t>
            </a:r>
            <a:r>
              <a:rPr lang="en-US" sz="1050" b="1" dirty="0">
                <a:solidFill>
                  <a:srgbClr val="262626"/>
                </a:solidFill>
                <a:latin typeface="맑은 고딕"/>
                <a:ea typeface="맑은 고딕"/>
              </a:rPr>
              <a:t>, </a:t>
            </a:r>
            <a:r>
              <a:rPr sz="1050" b="1" i="0" dirty="0" err="1">
                <a:solidFill>
                  <a:srgbClr val="262626"/>
                </a:solidFill>
                <a:latin typeface="맑은 고딕"/>
                <a:ea typeface="맑은 고딕"/>
              </a:rPr>
              <a:t>빨강</a:t>
            </a:r>
            <a:r>
              <a:rPr sz="1050" b="1" i="0" dirty="0">
                <a:solidFill>
                  <a:srgbClr val="262626"/>
                </a:solidFill>
                <a:latin typeface="맑은 고딕"/>
                <a:ea typeface="맑은 고딕"/>
              </a:rPr>
              <a:t> = </a:t>
            </a:r>
            <a:r>
              <a:rPr sz="1050" b="1" i="0" dirty="0" err="1">
                <a:solidFill>
                  <a:srgbClr val="262626"/>
                </a:solidFill>
                <a:latin typeface="맑은 고딕"/>
                <a:ea typeface="맑은 고딕"/>
              </a:rPr>
              <a:t>상태</a:t>
            </a:r>
            <a:r>
              <a:rPr sz="1050" b="1" i="0" dirty="0">
                <a:solidFill>
                  <a:srgbClr val="262626"/>
                </a:solidFill>
                <a:latin typeface="맑은 고딕"/>
                <a:ea typeface="맑은 고딕"/>
              </a:rPr>
              <a:t> </a:t>
            </a:r>
            <a:r>
              <a:rPr sz="1050" b="1" i="0" dirty="0" err="1">
                <a:solidFill>
                  <a:srgbClr val="262626"/>
                </a:solidFill>
                <a:latin typeface="맑은 고딕"/>
                <a:ea typeface="맑은 고딕"/>
              </a:rPr>
              <a:t>수집</a:t>
            </a:r>
            <a:r>
              <a:rPr sz="1050" b="1" i="0" dirty="0">
                <a:solidFill>
                  <a:srgbClr val="262626"/>
                </a:solidFill>
                <a:latin typeface="맑은 고딕"/>
                <a:ea typeface="맑은 고딕"/>
              </a:rPr>
              <a:t>(HW)</a:t>
            </a:r>
            <a:r>
              <a:rPr lang="en-US" sz="1050" b="1" i="0" dirty="0">
                <a:solidFill>
                  <a:srgbClr val="262626"/>
                </a:solidFill>
                <a:latin typeface="맑은 고딕"/>
                <a:ea typeface="맑은 고딕"/>
              </a:rPr>
              <a:t>, </a:t>
            </a:r>
            <a:r>
              <a:rPr sz="1050" b="1" i="0" dirty="0" err="1">
                <a:solidFill>
                  <a:srgbClr val="262626"/>
                </a:solidFill>
                <a:latin typeface="맑은 고딕"/>
                <a:ea typeface="맑은 고딕"/>
              </a:rPr>
              <a:t>회색</a:t>
            </a:r>
            <a:r>
              <a:rPr sz="1050" b="1" i="0" dirty="0">
                <a:solidFill>
                  <a:srgbClr val="262626"/>
                </a:solidFill>
                <a:latin typeface="맑은 고딕"/>
                <a:ea typeface="맑은 고딕"/>
              </a:rPr>
              <a:t> = </a:t>
            </a:r>
            <a:r>
              <a:rPr sz="1050" b="1" i="0" dirty="0" err="1">
                <a:solidFill>
                  <a:srgbClr val="262626"/>
                </a:solidFill>
                <a:latin typeface="맑은 고딕"/>
                <a:ea typeface="맑은 고딕"/>
              </a:rPr>
              <a:t>예산</a:t>
            </a:r>
            <a:endParaRPr sz="1050" b="1" i="0" dirty="0">
              <a:solidFill>
                <a:srgbClr val="262626"/>
              </a:solidFill>
              <a:latin typeface="맑은 고딕"/>
              <a:ea typeface="맑은 고딕"/>
            </a:endParaRPr>
          </a:p>
        </p:txBody>
      </p:sp>
      <p:sp>
        <p:nvSpPr>
          <p:cNvPr id="7" name="Rectangle 15"/>
          <p:cNvSpPr/>
          <p:nvPr/>
        </p:nvSpPr>
        <p:spPr>
          <a:xfrm>
            <a:off x="182880" y="1664208"/>
            <a:ext cx="6949440" cy="24871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cxnSp>
        <p:nvCxnSpPr>
          <p:cNvPr id="8" name="Connector 16"/>
          <p:cNvCxnSpPr/>
          <p:nvPr/>
        </p:nvCxnSpPr>
        <p:spPr>
          <a:xfrm>
            <a:off x="2240280"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002536"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10ns</a:t>
            </a:r>
          </a:p>
        </p:txBody>
      </p:sp>
      <p:cxnSp>
        <p:nvCxnSpPr>
          <p:cNvPr id="10" name="Connector 18"/>
          <p:cNvCxnSpPr/>
          <p:nvPr/>
        </p:nvCxnSpPr>
        <p:spPr>
          <a:xfrm>
            <a:off x="2913017"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675273"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100ns</a:t>
            </a:r>
          </a:p>
        </p:txBody>
      </p:sp>
      <p:cxnSp>
        <p:nvCxnSpPr>
          <p:cNvPr id="12" name="Connector 20"/>
          <p:cNvCxnSpPr/>
          <p:nvPr/>
        </p:nvCxnSpPr>
        <p:spPr>
          <a:xfrm>
            <a:off x="3585754"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348010"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1µs</a:t>
            </a:r>
          </a:p>
        </p:txBody>
      </p:sp>
      <p:cxnSp>
        <p:nvCxnSpPr>
          <p:cNvPr id="14" name="Connector 22"/>
          <p:cNvCxnSpPr/>
          <p:nvPr/>
        </p:nvCxnSpPr>
        <p:spPr>
          <a:xfrm>
            <a:off x="4258491"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020747"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10µs</a:t>
            </a:r>
          </a:p>
        </p:txBody>
      </p:sp>
      <p:cxnSp>
        <p:nvCxnSpPr>
          <p:cNvPr id="16" name="Connector 24"/>
          <p:cNvCxnSpPr/>
          <p:nvPr/>
        </p:nvCxnSpPr>
        <p:spPr>
          <a:xfrm>
            <a:off x="4931228"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693484"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100µs</a:t>
            </a:r>
          </a:p>
        </p:txBody>
      </p:sp>
      <p:cxnSp>
        <p:nvCxnSpPr>
          <p:cNvPr id="18" name="Connector 26"/>
          <p:cNvCxnSpPr/>
          <p:nvPr/>
        </p:nvCxnSpPr>
        <p:spPr>
          <a:xfrm>
            <a:off x="5603965"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366221"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1ms</a:t>
            </a:r>
          </a:p>
        </p:txBody>
      </p:sp>
      <p:cxnSp>
        <p:nvCxnSpPr>
          <p:cNvPr id="20" name="Connector 28"/>
          <p:cNvCxnSpPr/>
          <p:nvPr/>
        </p:nvCxnSpPr>
        <p:spPr>
          <a:xfrm>
            <a:off x="6276702"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38958"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10ms</a:t>
            </a:r>
          </a:p>
        </p:txBody>
      </p:sp>
      <p:cxnSp>
        <p:nvCxnSpPr>
          <p:cNvPr id="22" name="Connector 30"/>
          <p:cNvCxnSpPr/>
          <p:nvPr/>
        </p:nvCxnSpPr>
        <p:spPr>
          <a:xfrm>
            <a:off x="6949440" y="1883664"/>
            <a:ext cx="0" cy="1920240"/>
          </a:xfrm>
          <a:prstGeom prst="line">
            <a:avLst/>
          </a:prstGeom>
          <a:ln w="635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11696" y="1709928"/>
            <a:ext cx="475488" cy="146304"/>
          </a:xfrm>
          <a:prstGeom prst="rect">
            <a:avLst/>
          </a:prstGeom>
          <a:noFill/>
        </p:spPr>
        <p:txBody>
          <a:bodyPr wrap="square" lIns="0" tIns="0" rIns="0" bIns="0" anchor="ctr">
            <a:spAutoFit/>
          </a:bodyPr>
          <a:lstStyle/>
          <a:p>
            <a:pPr algn="ctr"/>
            <a:r>
              <a:rPr sz="650" b="0" i="0">
                <a:solidFill>
                  <a:srgbClr val="808080"/>
                </a:solidFill>
                <a:latin typeface="맑은 고딕"/>
                <a:ea typeface="맑은 고딕"/>
              </a:rPr>
              <a:t>100ms</a:t>
            </a:r>
          </a:p>
        </p:txBody>
      </p:sp>
      <p:sp>
        <p:nvSpPr>
          <p:cNvPr id="24" name="TextBox 23"/>
          <p:cNvSpPr txBox="1"/>
          <p:nvPr/>
        </p:nvSpPr>
        <p:spPr>
          <a:xfrm>
            <a:off x="292608" y="1947672"/>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cost 산술 1회 — C/C++</a:t>
            </a:r>
          </a:p>
        </p:txBody>
      </p:sp>
      <p:sp>
        <p:nvSpPr>
          <p:cNvPr id="25" name="TextBox 24"/>
          <p:cNvSpPr txBox="1"/>
          <p:nvPr/>
        </p:nvSpPr>
        <p:spPr>
          <a:xfrm>
            <a:off x="292608" y="2075688"/>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비교 + 산술 10여 번</a:t>
            </a:r>
          </a:p>
        </p:txBody>
      </p:sp>
      <p:sp>
        <p:nvSpPr>
          <p:cNvPr id="26" name="Rectangle 34"/>
          <p:cNvSpPr/>
          <p:nvPr/>
        </p:nvSpPr>
        <p:spPr>
          <a:xfrm>
            <a:off x="2561257" y="1975104"/>
            <a:ext cx="286564"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7" name="TextBox 26"/>
          <p:cNvSpPr txBox="1"/>
          <p:nvPr/>
        </p:nvSpPr>
        <p:spPr>
          <a:xfrm>
            <a:off x="2911830" y="1965960"/>
            <a:ext cx="731520" cy="173736"/>
          </a:xfrm>
          <a:prstGeom prst="rect">
            <a:avLst/>
          </a:prstGeom>
          <a:noFill/>
        </p:spPr>
        <p:txBody>
          <a:bodyPr wrap="square" lIns="0" tIns="0" rIns="0" bIns="0" anchor="ctr">
            <a:spAutoFit/>
          </a:bodyPr>
          <a:lstStyle/>
          <a:p>
            <a:pPr algn="l"/>
            <a:r>
              <a:rPr sz="680" b="1" i="0">
                <a:solidFill>
                  <a:srgbClr val="2E75B6"/>
                </a:solidFill>
                <a:latin typeface="맑은 고딕"/>
                <a:ea typeface="맑은 고딕"/>
              </a:rPr>
              <a:t>30~80 ns</a:t>
            </a:r>
          </a:p>
        </p:txBody>
      </p:sp>
      <p:sp>
        <p:nvSpPr>
          <p:cNvPr id="28" name="TextBox 27"/>
          <p:cNvSpPr txBox="1"/>
          <p:nvPr/>
        </p:nvSpPr>
        <p:spPr>
          <a:xfrm>
            <a:off x="292608" y="2212848"/>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cost 산술 1회 — Python</a:t>
            </a:r>
          </a:p>
        </p:txBody>
      </p:sp>
      <p:sp>
        <p:nvSpPr>
          <p:cNvPr id="29" name="TextBox 28"/>
          <p:cNvSpPr txBox="1"/>
          <p:nvPr/>
        </p:nvSpPr>
        <p:spPr>
          <a:xfrm>
            <a:off x="292608" y="2340864"/>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함수 호출 · dict lookup</a:t>
            </a:r>
          </a:p>
        </p:txBody>
      </p:sp>
      <p:sp>
        <p:nvSpPr>
          <p:cNvPr id="30" name="Rectangle 38"/>
          <p:cNvSpPr/>
          <p:nvPr/>
        </p:nvSpPr>
        <p:spPr>
          <a:xfrm>
            <a:off x="3788268" y="2240280"/>
            <a:ext cx="470223"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 name="TextBox 30"/>
          <p:cNvSpPr txBox="1"/>
          <p:nvPr/>
        </p:nvSpPr>
        <p:spPr>
          <a:xfrm>
            <a:off x="4322499" y="2231136"/>
            <a:ext cx="731520" cy="173736"/>
          </a:xfrm>
          <a:prstGeom prst="rect">
            <a:avLst/>
          </a:prstGeom>
          <a:noFill/>
        </p:spPr>
        <p:txBody>
          <a:bodyPr wrap="square" lIns="0" tIns="0" rIns="0" bIns="0" anchor="ctr">
            <a:spAutoFit/>
          </a:bodyPr>
          <a:lstStyle/>
          <a:p>
            <a:pPr algn="l"/>
            <a:r>
              <a:rPr sz="680" b="1" i="0">
                <a:solidFill>
                  <a:srgbClr val="2E75B6"/>
                </a:solidFill>
                <a:latin typeface="맑은 고딕"/>
                <a:ea typeface="맑은 고딕"/>
              </a:rPr>
              <a:t>2~10 µs</a:t>
            </a:r>
          </a:p>
        </p:txBody>
      </p:sp>
      <p:sp>
        <p:nvSpPr>
          <p:cNvPr id="32" name="TextBox 31"/>
          <p:cNvSpPr txBox="1"/>
          <p:nvPr/>
        </p:nvSpPr>
        <p:spPr>
          <a:xfrm>
            <a:off x="292608" y="2478024"/>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GPU 상태 조회 (NVML)</a:t>
            </a:r>
          </a:p>
        </p:txBody>
      </p:sp>
      <p:sp>
        <p:nvSpPr>
          <p:cNvPr id="33" name="TextBox 32"/>
          <p:cNvSpPr txBox="1"/>
          <p:nvPr/>
        </p:nvSpPr>
        <p:spPr>
          <a:xfrm>
            <a:off x="292608" y="2606040"/>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로컬 driver</a:t>
            </a:r>
          </a:p>
        </p:txBody>
      </p:sp>
      <p:sp>
        <p:nvSpPr>
          <p:cNvPr id="34" name="Rectangle 42"/>
          <p:cNvSpPr/>
          <p:nvPr/>
        </p:nvSpPr>
        <p:spPr>
          <a:xfrm>
            <a:off x="4258491" y="2505456"/>
            <a:ext cx="672737" cy="15544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 name="TextBox 34"/>
          <p:cNvSpPr txBox="1"/>
          <p:nvPr/>
        </p:nvSpPr>
        <p:spPr>
          <a:xfrm>
            <a:off x="4995236" y="2496312"/>
            <a:ext cx="731520" cy="173736"/>
          </a:xfrm>
          <a:prstGeom prst="rect">
            <a:avLst/>
          </a:prstGeom>
          <a:noFill/>
        </p:spPr>
        <p:txBody>
          <a:bodyPr wrap="square" lIns="0" tIns="0" rIns="0" bIns="0" anchor="ctr">
            <a:spAutoFit/>
          </a:bodyPr>
          <a:lstStyle/>
          <a:p>
            <a:pPr algn="l"/>
            <a:r>
              <a:rPr sz="680" b="1" i="0">
                <a:solidFill>
                  <a:srgbClr val="C00000"/>
                </a:solidFill>
                <a:latin typeface="맑은 고딕"/>
                <a:ea typeface="맑은 고딕"/>
              </a:rPr>
              <a:t>10~100 µs</a:t>
            </a:r>
          </a:p>
        </p:txBody>
      </p:sp>
      <p:sp>
        <p:nvSpPr>
          <p:cNvPr id="36" name="TextBox 35"/>
          <p:cNvSpPr txBox="1"/>
          <p:nvPr/>
        </p:nvSpPr>
        <p:spPr>
          <a:xfrm>
            <a:off x="292608" y="2743200"/>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원격 노드 상태 (F6)</a:t>
            </a:r>
          </a:p>
        </p:txBody>
      </p:sp>
      <p:sp>
        <p:nvSpPr>
          <p:cNvPr id="37" name="TextBox 36"/>
          <p:cNvSpPr txBox="1"/>
          <p:nvPr/>
        </p:nvSpPr>
        <p:spPr>
          <a:xfrm>
            <a:off x="292608" y="2871215"/>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네트워크 RTT + 변동</a:t>
            </a:r>
          </a:p>
        </p:txBody>
      </p:sp>
      <p:sp>
        <p:nvSpPr>
          <p:cNvPr id="38" name="Rectangle 46"/>
          <p:cNvSpPr/>
          <p:nvPr/>
        </p:nvSpPr>
        <p:spPr>
          <a:xfrm>
            <a:off x="4728714" y="2770632"/>
            <a:ext cx="405028" cy="15544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 name="TextBox 38"/>
          <p:cNvSpPr txBox="1"/>
          <p:nvPr/>
        </p:nvSpPr>
        <p:spPr>
          <a:xfrm>
            <a:off x="5197750" y="2761487"/>
            <a:ext cx="731520" cy="173736"/>
          </a:xfrm>
          <a:prstGeom prst="rect">
            <a:avLst/>
          </a:prstGeom>
          <a:noFill/>
        </p:spPr>
        <p:txBody>
          <a:bodyPr wrap="square" lIns="0" tIns="0" rIns="0" bIns="0" anchor="ctr">
            <a:spAutoFit/>
          </a:bodyPr>
          <a:lstStyle/>
          <a:p>
            <a:pPr algn="l"/>
            <a:r>
              <a:rPr sz="680" b="1" i="0">
                <a:solidFill>
                  <a:srgbClr val="C00000"/>
                </a:solidFill>
                <a:latin typeface="맑은 고딕"/>
                <a:ea typeface="맑은 고딕"/>
              </a:rPr>
              <a:t>50~200 µs</a:t>
            </a:r>
          </a:p>
        </p:txBody>
      </p:sp>
      <p:sp>
        <p:nvSpPr>
          <p:cNvPr id="40" name="TextBox 39"/>
          <p:cNvSpPr txBox="1"/>
          <p:nvPr/>
        </p:nvSpPr>
        <p:spPr>
          <a:xfrm>
            <a:off x="292608" y="3008376"/>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CXL-PNM 내부 상태 (F4)</a:t>
            </a:r>
          </a:p>
        </p:txBody>
      </p:sp>
      <p:sp>
        <p:nvSpPr>
          <p:cNvPr id="41" name="TextBox 40"/>
          <p:cNvSpPr txBox="1"/>
          <p:nvPr/>
        </p:nvSpPr>
        <p:spPr>
          <a:xfrm>
            <a:off x="292608" y="3136391"/>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mailbox / CCI 왕복</a:t>
            </a:r>
          </a:p>
        </p:txBody>
      </p:sp>
      <p:sp>
        <p:nvSpPr>
          <p:cNvPr id="42" name="Rectangle 50"/>
          <p:cNvSpPr/>
          <p:nvPr/>
        </p:nvSpPr>
        <p:spPr>
          <a:xfrm>
            <a:off x="4931228" y="3035808"/>
            <a:ext cx="672737" cy="15544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3" name="TextBox 42"/>
          <p:cNvSpPr txBox="1"/>
          <p:nvPr/>
        </p:nvSpPr>
        <p:spPr>
          <a:xfrm>
            <a:off x="5667973" y="3026663"/>
            <a:ext cx="731520" cy="173736"/>
          </a:xfrm>
          <a:prstGeom prst="rect">
            <a:avLst/>
          </a:prstGeom>
          <a:noFill/>
        </p:spPr>
        <p:txBody>
          <a:bodyPr wrap="square" lIns="0" tIns="0" rIns="0" bIns="0" anchor="ctr">
            <a:spAutoFit/>
          </a:bodyPr>
          <a:lstStyle/>
          <a:p>
            <a:pPr algn="l"/>
            <a:r>
              <a:rPr sz="680" b="1" i="0">
                <a:solidFill>
                  <a:srgbClr val="C00000"/>
                </a:solidFill>
                <a:latin typeface="맑은 고딕"/>
                <a:ea typeface="맑은 고딕"/>
              </a:rPr>
              <a:t>0.1~1 ms</a:t>
            </a:r>
          </a:p>
        </p:txBody>
      </p:sp>
      <p:sp>
        <p:nvSpPr>
          <p:cNvPr id="44" name="TextBox 43"/>
          <p:cNvSpPr txBox="1"/>
          <p:nvPr/>
        </p:nvSpPr>
        <p:spPr>
          <a:xfrm>
            <a:off x="292608" y="3273552"/>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후보 전수 평가 (Python)</a:t>
            </a:r>
          </a:p>
        </p:txBody>
      </p:sp>
      <p:sp>
        <p:nvSpPr>
          <p:cNvPr id="45" name="TextBox 44"/>
          <p:cNvSpPr txBox="1"/>
          <p:nvPr/>
        </p:nvSpPr>
        <p:spPr>
          <a:xfrm>
            <a:off x="292608" y="3401568"/>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3k 후보 × 5 µs</a:t>
            </a:r>
          </a:p>
        </p:txBody>
      </p:sp>
      <p:sp>
        <p:nvSpPr>
          <p:cNvPr id="46" name="Rectangle 54"/>
          <p:cNvSpPr/>
          <p:nvPr/>
        </p:nvSpPr>
        <p:spPr>
          <a:xfrm>
            <a:off x="6008993" y="3300984"/>
            <a:ext cx="386172"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7" name="TextBox 46"/>
          <p:cNvSpPr txBox="1"/>
          <p:nvPr/>
        </p:nvSpPr>
        <p:spPr>
          <a:xfrm>
            <a:off x="6459173" y="3291839"/>
            <a:ext cx="731520" cy="173736"/>
          </a:xfrm>
          <a:prstGeom prst="rect">
            <a:avLst/>
          </a:prstGeom>
          <a:noFill/>
        </p:spPr>
        <p:txBody>
          <a:bodyPr wrap="square" lIns="0" tIns="0" rIns="0" bIns="0" anchor="ctr">
            <a:spAutoFit/>
          </a:bodyPr>
          <a:lstStyle/>
          <a:p>
            <a:pPr algn="l"/>
            <a:r>
              <a:rPr sz="680" b="1" i="0">
                <a:solidFill>
                  <a:srgbClr val="2E75B6"/>
                </a:solidFill>
                <a:latin typeface="맑은 고딕"/>
                <a:ea typeface="맑은 고딕"/>
              </a:rPr>
              <a:t>4~15 ms</a:t>
            </a:r>
          </a:p>
        </p:txBody>
      </p:sp>
      <p:sp>
        <p:nvSpPr>
          <p:cNvPr id="48" name="TextBox 47"/>
          <p:cNvSpPr txBox="1"/>
          <p:nvPr/>
        </p:nvSpPr>
        <p:spPr>
          <a:xfrm>
            <a:off x="292608" y="3538728"/>
            <a:ext cx="1883664" cy="137160"/>
          </a:xfrm>
          <a:prstGeom prst="rect">
            <a:avLst/>
          </a:prstGeom>
          <a:noFill/>
        </p:spPr>
        <p:txBody>
          <a:bodyPr wrap="square" lIns="0" tIns="0" rIns="0" bIns="0" anchor="t">
            <a:spAutoFit/>
          </a:bodyPr>
          <a:lstStyle/>
          <a:p>
            <a:pPr algn="l"/>
            <a:r>
              <a:rPr sz="740" b="1" i="0">
                <a:solidFill>
                  <a:srgbClr val="262626"/>
                </a:solidFill>
                <a:latin typeface="맑은 고딕"/>
                <a:ea typeface="맑은 고딕"/>
              </a:rPr>
              <a:t>decode step 예산</a:t>
            </a:r>
          </a:p>
        </p:txBody>
      </p:sp>
      <p:sp>
        <p:nvSpPr>
          <p:cNvPr id="49" name="TextBox 48"/>
          <p:cNvSpPr txBox="1"/>
          <p:nvPr/>
        </p:nvSpPr>
        <p:spPr>
          <a:xfrm>
            <a:off x="292608" y="3666744"/>
            <a:ext cx="1883664" cy="128016"/>
          </a:xfrm>
          <a:prstGeom prst="rect">
            <a:avLst/>
          </a:prstGeom>
          <a:noFill/>
        </p:spPr>
        <p:txBody>
          <a:bodyPr wrap="square" lIns="0" tIns="0" rIns="0" bIns="0" anchor="t">
            <a:spAutoFit/>
          </a:bodyPr>
          <a:lstStyle/>
          <a:p>
            <a:pPr algn="l"/>
            <a:r>
              <a:rPr sz="630" b="0" i="0">
                <a:solidFill>
                  <a:srgbClr val="808080"/>
                </a:solidFill>
                <a:latin typeface="맑은 고딕"/>
                <a:ea typeface="맑은 고딕"/>
              </a:rPr>
              <a:t>70B TP4 b64  /  8B b64</a:t>
            </a:r>
          </a:p>
        </p:txBody>
      </p:sp>
      <p:sp>
        <p:nvSpPr>
          <p:cNvPr id="50" name="Rectangle 58"/>
          <p:cNvSpPr/>
          <p:nvPr/>
        </p:nvSpPr>
        <p:spPr>
          <a:xfrm>
            <a:off x="6211507" y="3566160"/>
            <a:ext cx="332903" cy="155448"/>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1" name="TextBox 50"/>
          <p:cNvSpPr txBox="1"/>
          <p:nvPr/>
        </p:nvSpPr>
        <p:spPr>
          <a:xfrm>
            <a:off x="6608419" y="3557015"/>
            <a:ext cx="731520" cy="173736"/>
          </a:xfrm>
          <a:prstGeom prst="rect">
            <a:avLst/>
          </a:prstGeom>
          <a:noFill/>
        </p:spPr>
        <p:txBody>
          <a:bodyPr wrap="square" lIns="0" tIns="0" rIns="0" bIns="0" anchor="ctr">
            <a:spAutoFit/>
          </a:bodyPr>
          <a:lstStyle/>
          <a:p>
            <a:pPr algn="l"/>
            <a:r>
              <a:rPr sz="680" b="1" i="0">
                <a:solidFill>
                  <a:srgbClr val="808080"/>
                </a:solidFill>
                <a:latin typeface="맑은 고딕"/>
                <a:ea typeface="맑은 고딕"/>
              </a:rPr>
              <a:t>8~25 ms</a:t>
            </a:r>
          </a:p>
        </p:txBody>
      </p:sp>
      <p:sp>
        <p:nvSpPr>
          <p:cNvPr id="53" name="Rectangle 61"/>
          <p:cNvSpPr/>
          <p:nvPr/>
        </p:nvSpPr>
        <p:spPr>
          <a:xfrm>
            <a:off x="182880" y="4224528"/>
            <a:ext cx="6949440"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dirty="0">
                <a:solidFill>
                  <a:srgbClr val="262626"/>
                </a:solidFill>
                <a:latin typeface="맑은 고딕"/>
                <a:ea typeface="맑은 고딕"/>
              </a:rPr>
              <a:t>critical path </a:t>
            </a:r>
            <a:r>
              <a:rPr sz="1050" b="1" i="0" dirty="0" err="1">
                <a:solidFill>
                  <a:srgbClr val="262626"/>
                </a:solidFill>
                <a:latin typeface="맑은 고딕"/>
                <a:ea typeface="맑은 고딕"/>
              </a:rPr>
              <a:t>비용의</a:t>
            </a:r>
            <a:r>
              <a:rPr sz="1050" b="1" i="0" dirty="0">
                <a:solidFill>
                  <a:srgbClr val="262626"/>
                </a:solidFill>
                <a:latin typeface="맑은 고딕"/>
                <a:ea typeface="맑은 고딕"/>
              </a:rPr>
              <a:t> 세 </a:t>
            </a:r>
            <a:r>
              <a:rPr sz="1050" b="1" i="0" dirty="0" err="1">
                <a:solidFill>
                  <a:srgbClr val="262626"/>
                </a:solidFill>
                <a:latin typeface="맑은 고딕"/>
                <a:ea typeface="맑은 고딕"/>
              </a:rPr>
              <a:t>갈래</a:t>
            </a:r>
            <a:r>
              <a:rPr sz="1050" b="1" i="0" dirty="0">
                <a:solidFill>
                  <a:srgbClr val="262626"/>
                </a:solidFill>
                <a:latin typeface="맑은 고딕"/>
                <a:ea typeface="맑은 고딕"/>
              </a:rPr>
              <a:t>      —      </a:t>
            </a:r>
            <a:r>
              <a:rPr sz="1050" b="1" i="0" dirty="0" err="1">
                <a:solidFill>
                  <a:srgbClr val="262626"/>
                </a:solidFill>
                <a:latin typeface="맑은 고딕"/>
                <a:ea typeface="맑은 고딕"/>
              </a:rPr>
              <a:t>구조로만</a:t>
            </a:r>
            <a:r>
              <a:rPr sz="1050" b="1" i="0" dirty="0">
                <a:solidFill>
                  <a:srgbClr val="262626"/>
                </a:solidFill>
                <a:latin typeface="맑은 고딕"/>
                <a:ea typeface="맑은 고딕"/>
              </a:rPr>
              <a:t> </a:t>
            </a:r>
            <a:r>
              <a:rPr sz="1050" b="1" i="0" dirty="0" err="1">
                <a:solidFill>
                  <a:srgbClr val="262626"/>
                </a:solidFill>
                <a:latin typeface="맑은 고딕"/>
                <a:ea typeface="맑은 고딕"/>
              </a:rPr>
              <a:t>해결되는</a:t>
            </a:r>
            <a:r>
              <a:rPr sz="1050" b="1" i="0" dirty="0">
                <a:solidFill>
                  <a:srgbClr val="262626"/>
                </a:solidFill>
                <a:latin typeface="맑은 고딕"/>
                <a:ea typeface="맑은 고딕"/>
              </a:rPr>
              <a:t> </a:t>
            </a:r>
            <a:r>
              <a:rPr sz="1050" b="1" i="0" dirty="0" err="1">
                <a:solidFill>
                  <a:srgbClr val="262626"/>
                </a:solidFill>
                <a:latin typeface="맑은 고딕"/>
                <a:ea typeface="맑은 고딕"/>
              </a:rPr>
              <a:t>것은</a:t>
            </a:r>
            <a:r>
              <a:rPr sz="1050" b="1" i="0" dirty="0">
                <a:solidFill>
                  <a:srgbClr val="262626"/>
                </a:solidFill>
                <a:latin typeface="맑은 고딕"/>
                <a:ea typeface="맑은 고딕"/>
              </a:rPr>
              <a:t> ③ 뿐</a:t>
            </a:r>
          </a:p>
        </p:txBody>
      </p:sp>
      <p:sp>
        <p:nvSpPr>
          <p:cNvPr id="54" name="Rectangle 62"/>
          <p:cNvSpPr/>
          <p:nvPr/>
        </p:nvSpPr>
        <p:spPr>
          <a:xfrm>
            <a:off x="182880" y="4498848"/>
            <a:ext cx="6949440" cy="142646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5" name="Rectangle 63"/>
          <p:cNvSpPr/>
          <p:nvPr/>
        </p:nvSpPr>
        <p:spPr>
          <a:xfrm>
            <a:off x="292608" y="4572000"/>
            <a:ext cx="1243584" cy="384048"/>
          </a:xfrm>
          <a:prstGeom prst="rect">
            <a:avLst/>
          </a:prstGeom>
          <a:solidFill>
            <a:srgbClr val="DAE8F6"/>
          </a:solidFill>
          <a:ln w="9525">
            <a:solidFill>
              <a:srgbClr val="1F6FB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6" name="TextBox 55"/>
          <p:cNvSpPr txBox="1"/>
          <p:nvPr/>
        </p:nvSpPr>
        <p:spPr>
          <a:xfrm>
            <a:off x="292608" y="4599432"/>
            <a:ext cx="1243584" cy="155448"/>
          </a:xfrm>
          <a:prstGeom prst="rect">
            <a:avLst/>
          </a:prstGeom>
          <a:noFill/>
        </p:spPr>
        <p:txBody>
          <a:bodyPr wrap="square" lIns="0" tIns="0" rIns="0" bIns="0" anchor="ctr">
            <a:spAutoFit/>
          </a:bodyPr>
          <a:lstStyle/>
          <a:p>
            <a:pPr algn="ctr"/>
            <a:r>
              <a:rPr sz="819" b="1" i="0">
                <a:solidFill>
                  <a:srgbClr val="1F4E79"/>
                </a:solidFill>
                <a:latin typeface="맑은 고딕"/>
                <a:ea typeface="맑은 고딕"/>
              </a:rPr>
              <a:t>① 계산량</a:t>
            </a:r>
          </a:p>
        </p:txBody>
      </p:sp>
      <p:sp>
        <p:nvSpPr>
          <p:cNvPr id="57" name="TextBox 56"/>
          <p:cNvSpPr txBox="1"/>
          <p:nvPr/>
        </p:nvSpPr>
        <p:spPr>
          <a:xfrm>
            <a:off x="292608" y="4764024"/>
            <a:ext cx="1243584" cy="146304"/>
          </a:xfrm>
          <a:prstGeom prst="rect">
            <a:avLst/>
          </a:prstGeom>
          <a:noFill/>
        </p:spPr>
        <p:txBody>
          <a:bodyPr wrap="square" lIns="0" tIns="0" rIns="0" bIns="0" anchor="ctr">
            <a:spAutoFit/>
          </a:bodyPr>
          <a:lstStyle/>
          <a:p>
            <a:pPr algn="ctr"/>
            <a:r>
              <a:rPr sz="680" b="0" i="0">
                <a:solidFill>
                  <a:srgbClr val="1F4E79"/>
                </a:solidFill>
                <a:latin typeface="맑은 고딕"/>
                <a:ea typeface="맑은 고딕"/>
              </a:rPr>
              <a:t>해소 가능</a:t>
            </a:r>
          </a:p>
        </p:txBody>
      </p:sp>
      <p:sp>
        <p:nvSpPr>
          <p:cNvPr id="58" name="TextBox 57"/>
          <p:cNvSpPr txBox="1"/>
          <p:nvPr/>
        </p:nvSpPr>
        <p:spPr>
          <a:xfrm>
            <a:off x="1645920" y="4608576"/>
            <a:ext cx="5376672" cy="329184"/>
          </a:xfrm>
          <a:prstGeom prst="rect">
            <a:avLst/>
          </a:prstGeom>
          <a:noFill/>
        </p:spPr>
        <p:txBody>
          <a:bodyPr wrap="square" lIns="0" tIns="0" rIns="0" bIns="0" anchor="t">
            <a:spAutoFit/>
          </a:bodyPr>
          <a:lstStyle/>
          <a:p>
            <a:pPr algn="l">
              <a:lnSpc>
                <a:spcPct val="114000"/>
              </a:lnSpc>
            </a:pPr>
            <a:r>
              <a:rPr sz="760" b="0" i="0" dirty="0" err="1">
                <a:solidFill>
                  <a:srgbClr val="262626"/>
                </a:solidFill>
                <a:latin typeface="맑은 고딕"/>
                <a:ea typeface="맑은 고딕"/>
              </a:rPr>
              <a:t>후보</a:t>
            </a:r>
            <a:r>
              <a:rPr sz="760" b="0" i="0" dirty="0">
                <a:solidFill>
                  <a:srgbClr val="262626"/>
                </a:solidFill>
                <a:latin typeface="맑은 고딕"/>
                <a:ea typeface="맑은 고딕"/>
              </a:rPr>
              <a:t> 768~3,072 × Python 5 µs = 3.8~15 </a:t>
            </a:r>
            <a:r>
              <a:rPr sz="760" b="0" i="0" dirty="0" err="1">
                <a:solidFill>
                  <a:srgbClr val="262626"/>
                </a:solidFill>
                <a:latin typeface="맑은 고딕"/>
                <a:ea typeface="맑은 고딕"/>
              </a:rPr>
              <a:t>ms</a:t>
            </a:r>
            <a:r>
              <a:rPr sz="760" b="0" i="0" dirty="0">
                <a:solidFill>
                  <a:srgbClr val="262626"/>
                </a:solidFill>
                <a:latin typeface="맑은 고딕"/>
                <a:ea typeface="맑은 고딕"/>
              </a:rPr>
              <a:t> — step </a:t>
            </a:r>
            <a:r>
              <a:rPr sz="760" b="0" i="0" dirty="0" err="1">
                <a:solidFill>
                  <a:srgbClr val="262626"/>
                </a:solidFill>
                <a:latin typeface="맑은 고딕"/>
                <a:ea typeface="맑은 고딕"/>
              </a:rPr>
              <a:t>예산을</a:t>
            </a:r>
            <a:r>
              <a:rPr sz="760" b="0" i="0" dirty="0">
                <a:solidFill>
                  <a:srgbClr val="262626"/>
                </a:solidFill>
                <a:latin typeface="맑은 고딕"/>
                <a:ea typeface="맑은 고딕"/>
              </a:rPr>
              <a:t> </a:t>
            </a:r>
            <a:r>
              <a:rPr sz="760" b="0" i="0" dirty="0" err="1">
                <a:solidFill>
                  <a:srgbClr val="262626"/>
                </a:solidFill>
                <a:latin typeface="맑은 고딕"/>
                <a:ea typeface="맑은 고딕"/>
              </a:rPr>
              <a:t>위협하지만</a:t>
            </a:r>
            <a:r>
              <a:rPr sz="760" b="0" i="0" dirty="0">
                <a:solidFill>
                  <a:srgbClr val="262626"/>
                </a:solidFill>
                <a:latin typeface="맑은 고딕"/>
                <a:ea typeface="맑은 고딕"/>
              </a:rPr>
              <a:t>,</a:t>
            </a:r>
          </a:p>
          <a:p>
            <a:pPr algn="l">
              <a:lnSpc>
                <a:spcPct val="114000"/>
              </a:lnSpc>
            </a:pPr>
            <a:r>
              <a:rPr sz="760" b="0" i="0" dirty="0" err="1">
                <a:solidFill>
                  <a:srgbClr val="262626"/>
                </a:solidFill>
                <a:latin typeface="맑은 고딕"/>
                <a:ea typeface="맑은 고딕"/>
              </a:rPr>
              <a:t>벡터화·C</a:t>
            </a:r>
            <a:r>
              <a:rPr sz="760" b="0" i="0" dirty="0">
                <a:solidFill>
                  <a:srgbClr val="262626"/>
                </a:solidFill>
                <a:latin typeface="맑은 고딕"/>
                <a:ea typeface="맑은 고딕"/>
              </a:rPr>
              <a:t> </a:t>
            </a:r>
            <a:r>
              <a:rPr sz="760" b="0" i="0" dirty="0" err="1">
                <a:solidFill>
                  <a:srgbClr val="262626"/>
                </a:solidFill>
                <a:latin typeface="맑은 고딕"/>
                <a:ea typeface="맑은 고딕"/>
              </a:rPr>
              <a:t>확장이면</a:t>
            </a:r>
            <a:r>
              <a:rPr sz="760" b="0" i="0" dirty="0">
                <a:solidFill>
                  <a:srgbClr val="262626"/>
                </a:solidFill>
                <a:latin typeface="맑은 고딕"/>
                <a:ea typeface="맑은 고딕"/>
              </a:rPr>
              <a:t> µs 로 </a:t>
            </a:r>
            <a:r>
              <a:rPr sz="760" b="0" i="0" dirty="0" err="1">
                <a:solidFill>
                  <a:srgbClr val="262626"/>
                </a:solidFill>
                <a:latin typeface="맑은 고딕"/>
                <a:ea typeface="맑은 고딕"/>
              </a:rPr>
              <a:t>내려간다</a:t>
            </a:r>
            <a:r>
              <a:rPr sz="760" b="0" i="0" dirty="0">
                <a:solidFill>
                  <a:srgbClr val="262626"/>
                </a:solidFill>
                <a:latin typeface="맑은 고딕"/>
                <a:ea typeface="맑은 고딕"/>
              </a:rPr>
              <a:t>.  → </a:t>
            </a:r>
            <a:r>
              <a:rPr sz="760" b="0" i="0" dirty="0" err="1">
                <a:solidFill>
                  <a:srgbClr val="262626"/>
                </a:solidFill>
                <a:latin typeface="맑은 고딕"/>
                <a:ea typeface="맑은 고딕"/>
              </a:rPr>
              <a:t>구조</a:t>
            </a:r>
            <a:r>
              <a:rPr sz="760" b="0" i="0" dirty="0">
                <a:solidFill>
                  <a:srgbClr val="262626"/>
                </a:solidFill>
                <a:latin typeface="맑은 고딕"/>
                <a:ea typeface="맑은 고딕"/>
              </a:rPr>
              <a:t> </a:t>
            </a:r>
            <a:r>
              <a:rPr sz="760" b="0" i="0" dirty="0" err="1">
                <a:solidFill>
                  <a:srgbClr val="262626"/>
                </a:solidFill>
                <a:latin typeface="맑은 고딕"/>
                <a:ea typeface="맑은 고딕"/>
              </a:rPr>
              <a:t>변경의</a:t>
            </a:r>
            <a:r>
              <a:rPr sz="760" b="0" i="0" dirty="0">
                <a:solidFill>
                  <a:srgbClr val="262626"/>
                </a:solidFill>
                <a:latin typeface="맑은 고딕"/>
                <a:ea typeface="맑은 고딕"/>
              </a:rPr>
              <a:t> </a:t>
            </a:r>
            <a:r>
              <a:rPr sz="760" b="0" i="0" dirty="0" err="1">
                <a:solidFill>
                  <a:srgbClr val="262626"/>
                </a:solidFill>
                <a:latin typeface="맑은 고딕"/>
                <a:ea typeface="맑은 고딕"/>
              </a:rPr>
              <a:t>근거가</a:t>
            </a:r>
            <a:r>
              <a:rPr sz="760" b="0" i="0" dirty="0">
                <a:solidFill>
                  <a:srgbClr val="262626"/>
                </a:solidFill>
                <a:latin typeface="맑은 고딕"/>
                <a:ea typeface="맑은 고딕"/>
              </a:rPr>
              <a:t> 못 </a:t>
            </a:r>
            <a:r>
              <a:rPr sz="760" b="0" i="0" dirty="0" err="1">
                <a:solidFill>
                  <a:srgbClr val="262626"/>
                </a:solidFill>
                <a:latin typeface="맑은 고딕"/>
                <a:ea typeface="맑은 고딕"/>
              </a:rPr>
              <a:t>된다</a:t>
            </a:r>
            <a:r>
              <a:rPr sz="760" b="0" i="0" dirty="0">
                <a:solidFill>
                  <a:srgbClr val="262626"/>
                </a:solidFill>
                <a:latin typeface="맑은 고딕"/>
                <a:ea typeface="맑은 고딕"/>
              </a:rPr>
              <a:t>.</a:t>
            </a:r>
          </a:p>
        </p:txBody>
      </p:sp>
      <p:sp>
        <p:nvSpPr>
          <p:cNvPr id="59" name="Rectangle 67"/>
          <p:cNvSpPr/>
          <p:nvPr/>
        </p:nvSpPr>
        <p:spPr>
          <a:xfrm>
            <a:off x="292608" y="5020056"/>
            <a:ext cx="1243584" cy="3840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0" name="TextBox 59"/>
          <p:cNvSpPr txBox="1"/>
          <p:nvPr/>
        </p:nvSpPr>
        <p:spPr>
          <a:xfrm>
            <a:off x="292608" y="5047488"/>
            <a:ext cx="1243584" cy="155448"/>
          </a:xfrm>
          <a:prstGeom prst="rect">
            <a:avLst/>
          </a:prstGeom>
          <a:noFill/>
        </p:spPr>
        <p:txBody>
          <a:bodyPr wrap="square" lIns="0" tIns="0" rIns="0" bIns="0" anchor="ctr">
            <a:spAutoFit/>
          </a:bodyPr>
          <a:lstStyle/>
          <a:p>
            <a:pPr algn="ctr"/>
            <a:r>
              <a:rPr sz="819" b="1" i="0">
                <a:solidFill>
                  <a:srgbClr val="843C0C"/>
                </a:solidFill>
                <a:latin typeface="맑은 고딕"/>
                <a:ea typeface="맑은 고딕"/>
              </a:rPr>
              <a:t>② 상태 수집</a:t>
            </a:r>
          </a:p>
        </p:txBody>
      </p:sp>
      <p:sp>
        <p:nvSpPr>
          <p:cNvPr id="61" name="TextBox 60"/>
          <p:cNvSpPr txBox="1"/>
          <p:nvPr/>
        </p:nvSpPr>
        <p:spPr>
          <a:xfrm>
            <a:off x="292608" y="5212080"/>
            <a:ext cx="1243584" cy="146304"/>
          </a:xfrm>
          <a:prstGeom prst="rect">
            <a:avLst/>
          </a:prstGeom>
          <a:noFill/>
        </p:spPr>
        <p:txBody>
          <a:bodyPr wrap="square" lIns="0" tIns="0" rIns="0" bIns="0" anchor="ctr">
            <a:spAutoFit/>
          </a:bodyPr>
          <a:lstStyle/>
          <a:p>
            <a:pPr algn="ctr"/>
            <a:r>
              <a:rPr sz="680" b="0" i="0">
                <a:solidFill>
                  <a:srgbClr val="843C0C"/>
                </a:solidFill>
                <a:latin typeface="맑은 고딕"/>
                <a:ea typeface="맑은 고딕"/>
              </a:rPr>
              <a:t>완화만 가능</a:t>
            </a:r>
          </a:p>
        </p:txBody>
      </p:sp>
      <p:sp>
        <p:nvSpPr>
          <p:cNvPr id="62" name="TextBox 61"/>
          <p:cNvSpPr txBox="1"/>
          <p:nvPr/>
        </p:nvSpPr>
        <p:spPr>
          <a:xfrm>
            <a:off x="1645920" y="5056632"/>
            <a:ext cx="5376672" cy="329184"/>
          </a:xfrm>
          <a:prstGeom prst="rect">
            <a:avLst/>
          </a:prstGeom>
          <a:noFill/>
        </p:spPr>
        <p:txBody>
          <a:bodyPr wrap="square" lIns="0" tIns="0" rIns="0" bIns="0" anchor="t">
            <a:spAutoFit/>
          </a:bodyPr>
          <a:lstStyle/>
          <a:p>
            <a:pPr algn="l">
              <a:lnSpc>
                <a:spcPct val="114000"/>
              </a:lnSpc>
            </a:pPr>
            <a:r>
              <a:rPr sz="760" b="0" i="0">
                <a:solidFill>
                  <a:srgbClr val="262626"/>
                </a:solidFill>
                <a:latin typeface="맑은 고딕"/>
                <a:ea typeface="맑은 고딕"/>
              </a:rPr>
              <a:t>CXL-PNM mailbox 왕복·원격 노드 조회는 HW·네트워크가 정하는 지연.</a:t>
            </a:r>
          </a:p>
          <a:p>
            <a:pPr algn="l">
              <a:lnSpc>
                <a:spcPct val="114000"/>
              </a:lnSpc>
            </a:pPr>
            <a:r>
              <a:rPr sz="760" b="0" i="0">
                <a:solidFill>
                  <a:srgbClr val="262626"/>
                </a:solidFill>
                <a:latin typeface="맑은 고딕"/>
                <a:ea typeface="맑은 고딕"/>
              </a:rPr>
              <a:t>캐시하면 줄지만, 그 순간 1안도 stale 로 결정 = 2안의 mismatch 를 안는다.</a:t>
            </a:r>
          </a:p>
        </p:txBody>
      </p:sp>
      <p:sp>
        <p:nvSpPr>
          <p:cNvPr id="63" name="Rectangle 71"/>
          <p:cNvSpPr/>
          <p:nvPr/>
        </p:nvSpPr>
        <p:spPr>
          <a:xfrm>
            <a:off x="292608" y="5468112"/>
            <a:ext cx="1243584" cy="384048"/>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4" name="TextBox 63"/>
          <p:cNvSpPr txBox="1"/>
          <p:nvPr/>
        </p:nvSpPr>
        <p:spPr>
          <a:xfrm>
            <a:off x="292608" y="5495544"/>
            <a:ext cx="1243584" cy="155448"/>
          </a:xfrm>
          <a:prstGeom prst="rect">
            <a:avLst/>
          </a:prstGeom>
          <a:noFill/>
        </p:spPr>
        <p:txBody>
          <a:bodyPr wrap="square" lIns="0" tIns="0" rIns="0" bIns="0" anchor="ctr">
            <a:spAutoFit/>
          </a:bodyPr>
          <a:lstStyle/>
          <a:p>
            <a:pPr algn="ctr"/>
            <a:r>
              <a:rPr sz="819" b="1" i="0">
                <a:solidFill>
                  <a:srgbClr val="7B1A1A"/>
                </a:solidFill>
                <a:latin typeface="맑은 고딕"/>
                <a:ea typeface="맑은 고딕"/>
              </a:rPr>
              <a:t>③ 복잡도 상한</a:t>
            </a:r>
          </a:p>
        </p:txBody>
      </p:sp>
      <p:sp>
        <p:nvSpPr>
          <p:cNvPr id="65" name="TextBox 64"/>
          <p:cNvSpPr txBox="1"/>
          <p:nvPr/>
        </p:nvSpPr>
        <p:spPr>
          <a:xfrm>
            <a:off x="292608" y="5660136"/>
            <a:ext cx="1243584" cy="146304"/>
          </a:xfrm>
          <a:prstGeom prst="rect">
            <a:avLst/>
          </a:prstGeom>
          <a:noFill/>
        </p:spPr>
        <p:txBody>
          <a:bodyPr wrap="square" lIns="0" tIns="0" rIns="0" bIns="0" anchor="ctr">
            <a:spAutoFit/>
          </a:bodyPr>
          <a:lstStyle/>
          <a:p>
            <a:pPr algn="ctr"/>
            <a:r>
              <a:rPr sz="680" b="0" i="0">
                <a:solidFill>
                  <a:srgbClr val="7B1A1A"/>
                </a:solidFill>
                <a:latin typeface="맑은 고딕"/>
                <a:ea typeface="맑은 고딕"/>
              </a:rPr>
              <a:t>구조만 해결</a:t>
            </a:r>
          </a:p>
        </p:txBody>
      </p:sp>
      <p:sp>
        <p:nvSpPr>
          <p:cNvPr id="66" name="TextBox 65"/>
          <p:cNvSpPr txBox="1"/>
          <p:nvPr/>
        </p:nvSpPr>
        <p:spPr>
          <a:xfrm>
            <a:off x="1645920" y="5504688"/>
            <a:ext cx="5376672" cy="329184"/>
          </a:xfrm>
          <a:prstGeom prst="rect">
            <a:avLst/>
          </a:prstGeom>
          <a:noFill/>
        </p:spPr>
        <p:txBody>
          <a:bodyPr wrap="square" lIns="0" tIns="0" rIns="0" bIns="0" anchor="t">
            <a:spAutoFit/>
          </a:bodyPr>
          <a:lstStyle/>
          <a:p>
            <a:pPr algn="l">
              <a:lnSpc>
                <a:spcPct val="114000"/>
              </a:lnSpc>
            </a:pPr>
            <a:r>
              <a:rPr sz="760" b="0" i="0">
                <a:solidFill>
                  <a:srgbClr val="262626"/>
                </a:solidFill>
                <a:latin typeface="맑은 고딕"/>
                <a:ea typeface="맑은 고딕"/>
              </a:rPr>
              <a:t>1안 step time = f(디바이스 종류, cost 분기, 후보 수) — New Device·F4 추가마다 성능 재협상.</a:t>
            </a:r>
          </a:p>
          <a:p>
            <a:pPr algn="l">
              <a:lnSpc>
                <a:spcPct val="114000"/>
              </a:lnSpc>
            </a:pPr>
            <a:r>
              <a:rPr sz="760" b="0" i="0">
                <a:solidFill>
                  <a:srgbClr val="262626"/>
                </a:solidFill>
                <a:latin typeface="맑은 고딕"/>
                <a:ea typeface="맑은 고딕"/>
              </a:rPr>
              <a:t>2안 decision = Plan Cache 조회 + Validate = O(1) 고정.  (QA4)</a:t>
            </a:r>
          </a:p>
        </p:txBody>
      </p:sp>
      <p:sp>
        <p:nvSpPr>
          <p:cNvPr id="67" name="Rectangle 75"/>
          <p:cNvSpPr/>
          <p:nvPr/>
        </p:nvSpPr>
        <p:spPr>
          <a:xfrm>
            <a:off x="7242048" y="1389888"/>
            <a:ext cx="4764024"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262626"/>
                </a:solidFill>
                <a:latin typeface="맑은 고딕"/>
                <a:ea typeface="맑은 고딕"/>
              </a:rPr>
              <a:t>슬라이드 서술 수정안</a:t>
            </a:r>
          </a:p>
        </p:txBody>
      </p:sp>
      <p:sp>
        <p:nvSpPr>
          <p:cNvPr id="68" name="Rectangle 76"/>
          <p:cNvSpPr/>
          <p:nvPr/>
        </p:nvSpPr>
        <p:spPr>
          <a:xfrm>
            <a:off x="7242048" y="1664208"/>
            <a:ext cx="4764024" cy="248716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9" name="Rectangle 77"/>
          <p:cNvSpPr/>
          <p:nvPr/>
        </p:nvSpPr>
        <p:spPr>
          <a:xfrm>
            <a:off x="7351775" y="1773936"/>
            <a:ext cx="4544568" cy="658368"/>
          </a:xfrm>
          <a:prstGeom prst="rect">
            <a:avLst/>
          </a:prstGeom>
          <a:solidFill>
            <a:srgbClr val="FDECEC"/>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0" name="Rectangle 78"/>
          <p:cNvSpPr/>
          <p:nvPr/>
        </p:nvSpPr>
        <p:spPr>
          <a:xfrm>
            <a:off x="7351775" y="1773936"/>
            <a:ext cx="4544568" cy="182880"/>
          </a:xfrm>
          <a:prstGeom prst="rect">
            <a:avLst/>
          </a:prstGeom>
          <a:solidFill>
            <a:srgbClr val="C00000"/>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780" b="1" i="0">
                <a:solidFill>
                  <a:srgbClr val="FFFFFF"/>
                </a:solidFill>
                <a:latin typeface="맑은 고딕"/>
                <a:ea typeface="맑은 고딕"/>
              </a:rPr>
              <a:t>  현재 — 1안 단점 (방어 불가)</a:t>
            </a:r>
          </a:p>
        </p:txBody>
      </p:sp>
      <p:sp>
        <p:nvSpPr>
          <p:cNvPr id="71" name="TextBox 70"/>
          <p:cNvSpPr txBox="1"/>
          <p:nvPr/>
        </p:nvSpPr>
        <p:spPr>
          <a:xfrm>
            <a:off x="7461504" y="1993392"/>
            <a:ext cx="4325112" cy="402336"/>
          </a:xfrm>
          <a:prstGeom prst="rect">
            <a:avLst/>
          </a:prstGeom>
          <a:noFill/>
        </p:spPr>
        <p:txBody>
          <a:bodyPr wrap="square" lIns="0" tIns="0" rIns="0" bIns="0" anchor="t">
            <a:spAutoFit/>
          </a:bodyPr>
          <a:lstStyle/>
          <a:p>
            <a:pPr algn="l">
              <a:lnSpc>
                <a:spcPct val="116000"/>
              </a:lnSpc>
            </a:pPr>
            <a:r>
              <a:rPr sz="760" b="0" i="0" dirty="0">
                <a:solidFill>
                  <a:srgbClr val="7B1A1A"/>
                </a:solidFill>
                <a:latin typeface="맑은 고딕"/>
                <a:ea typeface="맑은 고딕"/>
              </a:rPr>
              <a:t>「Cost </a:t>
            </a:r>
            <a:r>
              <a:rPr sz="760" b="0" i="0" dirty="0" err="1">
                <a:solidFill>
                  <a:srgbClr val="7B1A1A"/>
                </a:solidFill>
                <a:latin typeface="맑은 고딕"/>
                <a:ea typeface="맑은 고딕"/>
              </a:rPr>
              <a:t>계산으로</a:t>
            </a:r>
            <a:r>
              <a:rPr sz="760" b="0" i="0" dirty="0">
                <a:solidFill>
                  <a:srgbClr val="7B1A1A"/>
                </a:solidFill>
                <a:latin typeface="맑은 고딕"/>
                <a:ea typeface="맑은 고딕"/>
              </a:rPr>
              <a:t> </a:t>
            </a:r>
            <a:r>
              <a:rPr sz="760" b="0" i="0" dirty="0" err="1">
                <a:solidFill>
                  <a:srgbClr val="7B1A1A"/>
                </a:solidFill>
                <a:latin typeface="맑은 고딕"/>
                <a:ea typeface="맑은 고딕"/>
              </a:rPr>
              <a:t>인한</a:t>
            </a:r>
            <a:r>
              <a:rPr sz="760" b="0" i="0" dirty="0">
                <a:solidFill>
                  <a:srgbClr val="7B1A1A"/>
                </a:solidFill>
                <a:latin typeface="맑은 고딕"/>
                <a:ea typeface="맑은 고딕"/>
              </a:rPr>
              <a:t> decision latency 가 critical path 에 </a:t>
            </a:r>
            <a:r>
              <a:rPr sz="760" b="0" i="0" dirty="0" err="1">
                <a:solidFill>
                  <a:srgbClr val="7B1A1A"/>
                </a:solidFill>
                <a:latin typeface="맑은 고딕"/>
                <a:ea typeface="맑은 고딕"/>
              </a:rPr>
              <a:t>포함</a:t>
            </a:r>
            <a:r>
              <a:rPr sz="760" b="0" i="0" dirty="0">
                <a:solidFill>
                  <a:srgbClr val="7B1A1A"/>
                </a:solidFill>
                <a:latin typeface="맑은 고딕"/>
                <a:ea typeface="맑은 고딕"/>
              </a:rPr>
              <a:t> (QA1)」</a:t>
            </a:r>
          </a:p>
          <a:p>
            <a:pPr algn="l">
              <a:lnSpc>
                <a:spcPct val="116000"/>
              </a:lnSpc>
            </a:pPr>
            <a:r>
              <a:rPr sz="760" b="0" i="0" dirty="0">
                <a:solidFill>
                  <a:srgbClr val="7B1A1A"/>
                </a:solidFill>
                <a:latin typeface="맑은 고딕"/>
                <a:ea typeface="맑은 고딕"/>
              </a:rPr>
              <a:t>→ "</a:t>
            </a:r>
            <a:r>
              <a:rPr sz="760" b="0" i="0" dirty="0" err="1">
                <a:solidFill>
                  <a:srgbClr val="7B1A1A"/>
                </a:solidFill>
                <a:latin typeface="맑은 고딕"/>
                <a:ea typeface="맑은 고딕"/>
              </a:rPr>
              <a:t>그거</a:t>
            </a:r>
            <a:r>
              <a:rPr sz="760" b="0" i="0" dirty="0">
                <a:solidFill>
                  <a:srgbClr val="7B1A1A"/>
                </a:solidFill>
                <a:latin typeface="맑은 고딕"/>
                <a:ea typeface="맑은 고딕"/>
              </a:rPr>
              <a:t> µs </a:t>
            </a:r>
            <a:r>
              <a:rPr sz="760" b="0" i="0" dirty="0" err="1">
                <a:solidFill>
                  <a:srgbClr val="7B1A1A"/>
                </a:solidFill>
                <a:latin typeface="맑은 고딕"/>
                <a:ea typeface="맑은 고딕"/>
              </a:rPr>
              <a:t>인데요</a:t>
            </a:r>
            <a:r>
              <a:rPr sz="760" b="0" i="0" dirty="0">
                <a:solidFill>
                  <a:srgbClr val="7B1A1A"/>
                </a:solidFill>
                <a:latin typeface="맑은 고딕"/>
                <a:ea typeface="맑은 고딕"/>
              </a:rPr>
              <a:t>?" 한 </a:t>
            </a:r>
            <a:r>
              <a:rPr sz="760" b="0" i="0" dirty="0" err="1">
                <a:solidFill>
                  <a:srgbClr val="7B1A1A"/>
                </a:solidFill>
                <a:latin typeface="맑은 고딕"/>
                <a:ea typeface="맑은 고딕"/>
              </a:rPr>
              <a:t>마디에</a:t>
            </a:r>
            <a:r>
              <a:rPr sz="760" b="0" i="0" dirty="0">
                <a:solidFill>
                  <a:srgbClr val="7B1A1A"/>
                </a:solidFill>
                <a:latin typeface="맑은 고딕"/>
                <a:ea typeface="맑은 고딕"/>
              </a:rPr>
              <a:t> </a:t>
            </a:r>
            <a:r>
              <a:rPr sz="760" b="0" i="0" dirty="0" err="1">
                <a:solidFill>
                  <a:srgbClr val="7B1A1A"/>
                </a:solidFill>
                <a:latin typeface="맑은 고딕"/>
                <a:ea typeface="맑은 고딕"/>
              </a:rPr>
              <a:t>무너진다</a:t>
            </a:r>
            <a:r>
              <a:rPr sz="760" b="0" i="0" dirty="0">
                <a:solidFill>
                  <a:srgbClr val="7B1A1A"/>
                </a:solidFill>
                <a:latin typeface="맑은 고딕"/>
                <a:ea typeface="맑은 고딕"/>
              </a:rPr>
              <a:t>.</a:t>
            </a:r>
          </a:p>
        </p:txBody>
      </p:sp>
      <p:sp>
        <p:nvSpPr>
          <p:cNvPr id="72" name="TextBox 71"/>
          <p:cNvSpPr txBox="1"/>
          <p:nvPr/>
        </p:nvSpPr>
        <p:spPr>
          <a:xfrm>
            <a:off x="7351775" y="2450592"/>
            <a:ext cx="4544568" cy="164592"/>
          </a:xfrm>
          <a:prstGeom prst="rect">
            <a:avLst/>
          </a:prstGeom>
          <a:noFill/>
        </p:spPr>
        <p:txBody>
          <a:bodyPr wrap="square" lIns="0" tIns="0" rIns="0" bIns="0" anchor="ctr">
            <a:spAutoFit/>
          </a:bodyPr>
          <a:lstStyle/>
          <a:p>
            <a:pPr algn="ctr"/>
            <a:r>
              <a:rPr sz="800" b="0" i="0">
                <a:solidFill>
                  <a:srgbClr val="808080"/>
                </a:solidFill>
                <a:latin typeface="맑은 고딕"/>
                <a:ea typeface="맑은 고딕"/>
              </a:rPr>
              <a:t>▼</a:t>
            </a:r>
          </a:p>
        </p:txBody>
      </p:sp>
      <p:sp>
        <p:nvSpPr>
          <p:cNvPr id="73" name="Rectangle 81"/>
          <p:cNvSpPr/>
          <p:nvPr/>
        </p:nvSpPr>
        <p:spPr>
          <a:xfrm>
            <a:off x="7351775" y="2615184"/>
            <a:ext cx="4544568" cy="1426464"/>
          </a:xfrm>
          <a:prstGeom prst="rect">
            <a:avLst/>
          </a:prstGeom>
          <a:solidFill>
            <a:srgbClr val="F3F8EF"/>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4" name="Rectangle 82"/>
          <p:cNvSpPr/>
          <p:nvPr/>
        </p:nvSpPr>
        <p:spPr>
          <a:xfrm>
            <a:off x="7351775" y="2615184"/>
            <a:ext cx="4544568" cy="182880"/>
          </a:xfrm>
          <a:prstGeom prst="rect">
            <a:avLst/>
          </a:prstGeom>
          <a:solidFill>
            <a:srgbClr val="548235"/>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780" b="1" i="0" dirty="0">
                <a:solidFill>
                  <a:srgbClr val="FFFFFF"/>
                </a:solidFill>
                <a:latin typeface="맑은 고딕"/>
                <a:ea typeface="맑은 고딕"/>
              </a:rPr>
              <a:t>  </a:t>
            </a:r>
            <a:r>
              <a:rPr sz="780" b="1" i="0" dirty="0" err="1">
                <a:solidFill>
                  <a:srgbClr val="FFFFFF"/>
                </a:solidFill>
                <a:latin typeface="맑은 고딕"/>
                <a:ea typeface="맑은 고딕"/>
              </a:rPr>
              <a:t>제안</a:t>
            </a:r>
            <a:r>
              <a:rPr sz="780" b="1" i="0" dirty="0">
                <a:solidFill>
                  <a:srgbClr val="FFFFFF"/>
                </a:solidFill>
                <a:latin typeface="맑은 고딕"/>
                <a:ea typeface="맑은 고딕"/>
              </a:rPr>
              <a:t> — </a:t>
            </a:r>
            <a:r>
              <a:rPr sz="780" b="1" i="0" dirty="0" err="1">
                <a:solidFill>
                  <a:srgbClr val="FFFFFF"/>
                </a:solidFill>
                <a:latin typeface="맑은 고딕"/>
                <a:ea typeface="맑은 고딕"/>
              </a:rPr>
              <a:t>축을</a:t>
            </a:r>
            <a:r>
              <a:rPr sz="780" b="1" i="0" dirty="0">
                <a:solidFill>
                  <a:srgbClr val="FFFFFF"/>
                </a:solidFill>
                <a:latin typeface="맑은 고딕"/>
                <a:ea typeface="맑은 고딕"/>
              </a:rPr>
              <a:t> QA1 </a:t>
            </a:r>
            <a:r>
              <a:rPr sz="780" b="1" i="0" dirty="0" err="1">
                <a:solidFill>
                  <a:srgbClr val="FFFFFF"/>
                </a:solidFill>
                <a:latin typeface="맑은 고딕"/>
                <a:ea typeface="맑은 고딕"/>
              </a:rPr>
              <a:t>에서</a:t>
            </a:r>
            <a:r>
              <a:rPr sz="780" b="1" i="0" dirty="0">
                <a:solidFill>
                  <a:srgbClr val="FFFFFF"/>
                </a:solidFill>
                <a:latin typeface="맑은 고딕"/>
                <a:ea typeface="맑은 고딕"/>
              </a:rPr>
              <a:t> QA4 로 </a:t>
            </a:r>
            <a:r>
              <a:rPr sz="780" b="1" i="0" dirty="0" err="1">
                <a:solidFill>
                  <a:srgbClr val="FFFFFF"/>
                </a:solidFill>
                <a:latin typeface="맑은 고딕"/>
                <a:ea typeface="맑은 고딕"/>
              </a:rPr>
              <a:t>옮긴다</a:t>
            </a:r>
            <a:endParaRPr sz="780" b="1" i="0" dirty="0">
              <a:solidFill>
                <a:srgbClr val="FFFFFF"/>
              </a:solidFill>
              <a:latin typeface="맑은 고딕"/>
              <a:ea typeface="맑은 고딕"/>
            </a:endParaRPr>
          </a:p>
        </p:txBody>
      </p:sp>
      <p:sp>
        <p:nvSpPr>
          <p:cNvPr id="75" name="TextBox 74"/>
          <p:cNvSpPr txBox="1"/>
          <p:nvPr/>
        </p:nvSpPr>
        <p:spPr>
          <a:xfrm>
            <a:off x="7461504" y="2834640"/>
            <a:ext cx="658368" cy="146304"/>
          </a:xfrm>
          <a:prstGeom prst="rect">
            <a:avLst/>
          </a:prstGeom>
          <a:noFill/>
        </p:spPr>
        <p:txBody>
          <a:bodyPr wrap="square" lIns="0" tIns="0" rIns="0" bIns="0" anchor="t">
            <a:spAutoFit/>
          </a:bodyPr>
          <a:lstStyle/>
          <a:p>
            <a:pPr algn="l"/>
            <a:r>
              <a:rPr sz="740" b="1" i="0">
                <a:solidFill>
                  <a:srgbClr val="7B1A1A"/>
                </a:solidFill>
                <a:latin typeface="맑은 고딕"/>
                <a:ea typeface="맑은 고딕"/>
              </a:rPr>
              <a:t>1안 단점</a:t>
            </a:r>
          </a:p>
        </p:txBody>
      </p:sp>
      <p:sp>
        <p:nvSpPr>
          <p:cNvPr id="76" name="TextBox 75"/>
          <p:cNvSpPr txBox="1"/>
          <p:nvPr/>
        </p:nvSpPr>
        <p:spPr>
          <a:xfrm>
            <a:off x="8156448" y="2834640"/>
            <a:ext cx="3630168" cy="384048"/>
          </a:xfrm>
          <a:prstGeom prst="rect">
            <a:avLst/>
          </a:prstGeom>
          <a:noFill/>
        </p:spPr>
        <p:txBody>
          <a:bodyPr wrap="square" lIns="0" tIns="0" rIns="0" bIns="0" anchor="t">
            <a:spAutoFit/>
          </a:bodyPr>
          <a:lstStyle/>
          <a:p>
            <a:pPr algn="l">
              <a:lnSpc>
                <a:spcPct val="114000"/>
              </a:lnSpc>
            </a:pPr>
            <a:r>
              <a:rPr sz="740" b="0" i="0" dirty="0" err="1">
                <a:solidFill>
                  <a:srgbClr val="262626"/>
                </a:solidFill>
                <a:latin typeface="맑은 고딕"/>
                <a:ea typeface="맑은 고딕"/>
              </a:rPr>
              <a:t>디바이스·tier</a:t>
            </a:r>
            <a:r>
              <a:rPr sz="740" b="0" i="0" dirty="0">
                <a:solidFill>
                  <a:srgbClr val="262626"/>
                </a:solidFill>
                <a:latin typeface="맑은 고딕"/>
                <a:ea typeface="맑은 고딕"/>
              </a:rPr>
              <a:t> </a:t>
            </a:r>
            <a:r>
              <a:rPr sz="740" b="0" i="0" dirty="0" err="1">
                <a:solidFill>
                  <a:srgbClr val="262626"/>
                </a:solidFill>
                <a:latin typeface="맑은 고딕"/>
                <a:ea typeface="맑은 고딕"/>
              </a:rPr>
              <a:t>확장에</a:t>
            </a:r>
            <a:r>
              <a:rPr sz="740" b="0" i="0" dirty="0">
                <a:solidFill>
                  <a:srgbClr val="262626"/>
                </a:solidFill>
                <a:latin typeface="맑은 고딕"/>
                <a:ea typeface="맑은 고딕"/>
              </a:rPr>
              <a:t> </a:t>
            </a:r>
            <a:r>
              <a:rPr sz="740" b="0" i="0" dirty="0" err="1">
                <a:solidFill>
                  <a:srgbClr val="262626"/>
                </a:solidFill>
                <a:latin typeface="맑은 고딕"/>
                <a:ea typeface="맑은 고딕"/>
              </a:rPr>
              <a:t>따라</a:t>
            </a:r>
            <a:r>
              <a:rPr sz="740" b="0" i="0" dirty="0">
                <a:solidFill>
                  <a:srgbClr val="262626"/>
                </a:solidFill>
                <a:latin typeface="맑은 고딕"/>
                <a:ea typeface="맑은 고딕"/>
              </a:rPr>
              <a:t> critical path </a:t>
            </a:r>
            <a:r>
              <a:rPr sz="740" b="0" i="0" dirty="0" err="1">
                <a:solidFill>
                  <a:srgbClr val="262626"/>
                </a:solidFill>
                <a:latin typeface="맑은 고딕"/>
                <a:ea typeface="맑은 고딕"/>
              </a:rPr>
              <a:t>상의</a:t>
            </a:r>
            <a:r>
              <a:rPr sz="740" b="0" i="0" dirty="0">
                <a:solidFill>
                  <a:srgbClr val="262626"/>
                </a:solidFill>
                <a:latin typeface="맑은 고딕"/>
                <a:ea typeface="맑은 고딕"/>
              </a:rPr>
              <a:t> </a:t>
            </a:r>
            <a:r>
              <a:rPr sz="740" b="0" i="0" dirty="0" err="1">
                <a:solidFill>
                  <a:srgbClr val="262626"/>
                </a:solidFill>
                <a:latin typeface="맑은 고딕"/>
                <a:ea typeface="맑은 고딕"/>
              </a:rPr>
              <a:t>상태</a:t>
            </a:r>
            <a:r>
              <a:rPr sz="740" b="0" i="0" dirty="0">
                <a:solidFill>
                  <a:srgbClr val="262626"/>
                </a:solidFill>
                <a:latin typeface="맑은 고딕"/>
                <a:ea typeface="맑은 고딕"/>
              </a:rPr>
              <a:t> </a:t>
            </a:r>
            <a:r>
              <a:rPr sz="740" b="0" i="0" dirty="0" err="1">
                <a:solidFill>
                  <a:srgbClr val="262626"/>
                </a:solidFill>
                <a:latin typeface="맑은 고딕"/>
                <a:ea typeface="맑은 고딕"/>
              </a:rPr>
              <a:t>조회</a:t>
            </a:r>
            <a:r>
              <a:rPr sz="740" b="0" i="0" dirty="0">
                <a:solidFill>
                  <a:srgbClr val="262626"/>
                </a:solidFill>
                <a:latin typeface="맑은 고딕"/>
                <a:ea typeface="맑은 고딕"/>
              </a:rPr>
              <a:t> </a:t>
            </a:r>
            <a:r>
              <a:rPr sz="740" b="0" i="0" dirty="0" err="1">
                <a:solidFill>
                  <a:srgbClr val="262626"/>
                </a:solidFill>
                <a:latin typeface="맑은 고딕"/>
                <a:ea typeface="맑은 고딕"/>
              </a:rPr>
              <a:t>수와</a:t>
            </a:r>
            <a:r>
              <a:rPr sz="740" b="0" i="0" dirty="0">
                <a:solidFill>
                  <a:srgbClr val="262626"/>
                </a:solidFill>
                <a:latin typeface="맑은 고딕"/>
                <a:ea typeface="맑은 고딕"/>
              </a:rPr>
              <a:t> cost </a:t>
            </a:r>
            <a:r>
              <a:rPr sz="740" b="0" i="0" dirty="0" err="1">
                <a:solidFill>
                  <a:srgbClr val="262626"/>
                </a:solidFill>
                <a:latin typeface="맑은 고딕"/>
                <a:ea typeface="맑은 고딕"/>
              </a:rPr>
              <a:t>분기가</a:t>
            </a:r>
            <a:endParaRPr sz="740" b="0" i="0" dirty="0">
              <a:solidFill>
                <a:srgbClr val="262626"/>
              </a:solidFill>
              <a:latin typeface="맑은 고딕"/>
              <a:ea typeface="맑은 고딕"/>
            </a:endParaRPr>
          </a:p>
          <a:p>
            <a:pPr algn="l">
              <a:lnSpc>
                <a:spcPct val="114000"/>
              </a:lnSpc>
            </a:pPr>
            <a:r>
              <a:rPr sz="740" b="0" i="0" dirty="0" err="1">
                <a:solidFill>
                  <a:srgbClr val="262626"/>
                </a:solidFill>
                <a:latin typeface="맑은 고딕"/>
                <a:ea typeface="맑은 고딕"/>
              </a:rPr>
              <a:t>함께</a:t>
            </a:r>
            <a:r>
              <a:rPr sz="740" b="0" i="0" dirty="0">
                <a:solidFill>
                  <a:srgbClr val="262626"/>
                </a:solidFill>
                <a:latin typeface="맑은 고딕"/>
                <a:ea typeface="맑은 고딕"/>
              </a:rPr>
              <a:t> </a:t>
            </a:r>
            <a:r>
              <a:rPr sz="740" b="0" i="0" dirty="0" err="1">
                <a:solidFill>
                  <a:srgbClr val="262626"/>
                </a:solidFill>
                <a:latin typeface="맑은 고딕"/>
                <a:ea typeface="맑은 고딕"/>
              </a:rPr>
              <a:t>증가</a:t>
            </a:r>
            <a:r>
              <a:rPr sz="740" b="0" i="0" dirty="0">
                <a:solidFill>
                  <a:srgbClr val="262626"/>
                </a:solidFill>
                <a:latin typeface="맑은 고딕"/>
                <a:ea typeface="맑은 고딕"/>
              </a:rPr>
              <a:t> → scheduling step time 이 </a:t>
            </a:r>
            <a:r>
              <a:rPr sz="740" b="0" i="0" dirty="0" err="1">
                <a:solidFill>
                  <a:srgbClr val="262626"/>
                </a:solidFill>
                <a:latin typeface="맑은 고딕"/>
                <a:ea typeface="맑은 고딕"/>
              </a:rPr>
              <a:t>디바이스</a:t>
            </a:r>
            <a:r>
              <a:rPr sz="740" b="0" i="0" dirty="0">
                <a:solidFill>
                  <a:srgbClr val="262626"/>
                </a:solidFill>
                <a:latin typeface="맑은 고딕"/>
                <a:ea typeface="맑은 고딕"/>
              </a:rPr>
              <a:t> </a:t>
            </a:r>
            <a:r>
              <a:rPr sz="740" b="0" i="0" dirty="0" err="1">
                <a:solidFill>
                  <a:srgbClr val="262626"/>
                </a:solidFill>
                <a:latin typeface="맑은 고딕"/>
                <a:ea typeface="맑은 고딕"/>
              </a:rPr>
              <a:t>구성에</a:t>
            </a:r>
            <a:r>
              <a:rPr sz="740" b="0" i="0" dirty="0">
                <a:solidFill>
                  <a:srgbClr val="262626"/>
                </a:solidFill>
                <a:latin typeface="맑은 고딕"/>
                <a:ea typeface="맑은 고딕"/>
              </a:rPr>
              <a:t> </a:t>
            </a:r>
            <a:r>
              <a:rPr sz="740" b="0" i="0" dirty="0" err="1">
                <a:solidFill>
                  <a:srgbClr val="262626"/>
                </a:solidFill>
                <a:latin typeface="맑은 고딕"/>
                <a:ea typeface="맑은 고딕"/>
              </a:rPr>
              <a:t>종속</a:t>
            </a:r>
            <a:r>
              <a:rPr sz="740" b="0" i="0" dirty="0">
                <a:solidFill>
                  <a:srgbClr val="262626"/>
                </a:solidFill>
                <a:latin typeface="맑은 고딕"/>
                <a:ea typeface="맑은 고딕"/>
              </a:rPr>
              <a:t> (QA4)</a:t>
            </a:r>
          </a:p>
        </p:txBody>
      </p:sp>
      <p:sp>
        <p:nvSpPr>
          <p:cNvPr id="77" name="TextBox 76"/>
          <p:cNvSpPr txBox="1"/>
          <p:nvPr/>
        </p:nvSpPr>
        <p:spPr>
          <a:xfrm>
            <a:off x="7461504" y="3328416"/>
            <a:ext cx="658368" cy="146304"/>
          </a:xfrm>
          <a:prstGeom prst="rect">
            <a:avLst/>
          </a:prstGeom>
          <a:noFill/>
        </p:spPr>
        <p:txBody>
          <a:bodyPr wrap="square" lIns="0" tIns="0" rIns="0" bIns="0" anchor="t">
            <a:spAutoFit/>
          </a:bodyPr>
          <a:lstStyle/>
          <a:p>
            <a:pPr algn="l"/>
            <a:r>
              <a:rPr sz="740" b="1" i="0">
                <a:solidFill>
                  <a:srgbClr val="7B1A1A"/>
                </a:solidFill>
                <a:latin typeface="맑은 고딕"/>
                <a:ea typeface="맑은 고딕"/>
              </a:rPr>
              <a:t>1안 단점</a:t>
            </a:r>
          </a:p>
        </p:txBody>
      </p:sp>
      <p:sp>
        <p:nvSpPr>
          <p:cNvPr id="78" name="TextBox 77"/>
          <p:cNvSpPr txBox="1"/>
          <p:nvPr/>
        </p:nvSpPr>
        <p:spPr>
          <a:xfrm>
            <a:off x="8156448" y="3328416"/>
            <a:ext cx="3630168" cy="192024"/>
          </a:xfrm>
          <a:prstGeom prst="rect">
            <a:avLst/>
          </a:prstGeom>
          <a:noFill/>
        </p:spPr>
        <p:txBody>
          <a:bodyPr wrap="square" lIns="0" tIns="0" rIns="0" bIns="0" anchor="t">
            <a:spAutoFit/>
          </a:bodyPr>
          <a:lstStyle/>
          <a:p>
            <a:pPr algn="l">
              <a:lnSpc>
                <a:spcPct val="114000"/>
              </a:lnSpc>
            </a:pPr>
            <a:r>
              <a:rPr sz="740" b="0" i="0">
                <a:solidFill>
                  <a:srgbClr val="262626"/>
                </a:solidFill>
                <a:latin typeface="맑은 고딕"/>
                <a:ea typeface="맑은 고딕"/>
              </a:rPr>
              <a:t>CXL-PNM mailbox · 원격 노드 상태 조회는 최적화 불가 지연 (QA1)</a:t>
            </a:r>
          </a:p>
        </p:txBody>
      </p:sp>
      <p:sp>
        <p:nvSpPr>
          <p:cNvPr id="79" name="TextBox 78"/>
          <p:cNvSpPr txBox="1"/>
          <p:nvPr/>
        </p:nvSpPr>
        <p:spPr>
          <a:xfrm>
            <a:off x="7461504" y="3630168"/>
            <a:ext cx="658368" cy="146304"/>
          </a:xfrm>
          <a:prstGeom prst="rect">
            <a:avLst/>
          </a:prstGeom>
          <a:noFill/>
        </p:spPr>
        <p:txBody>
          <a:bodyPr wrap="square" lIns="0" tIns="0" rIns="0" bIns="0" anchor="t">
            <a:spAutoFit/>
          </a:bodyPr>
          <a:lstStyle/>
          <a:p>
            <a:pPr algn="l"/>
            <a:r>
              <a:rPr sz="740" b="1" i="0">
                <a:solidFill>
                  <a:srgbClr val="375623"/>
                </a:solidFill>
                <a:latin typeface="맑은 고딕"/>
                <a:ea typeface="맑은 고딕"/>
              </a:rPr>
              <a:t>2안 장점</a:t>
            </a:r>
          </a:p>
        </p:txBody>
      </p:sp>
      <p:sp>
        <p:nvSpPr>
          <p:cNvPr id="80" name="TextBox 79"/>
          <p:cNvSpPr txBox="1"/>
          <p:nvPr/>
        </p:nvSpPr>
        <p:spPr>
          <a:xfrm>
            <a:off x="8156448" y="3630168"/>
            <a:ext cx="3630168" cy="384048"/>
          </a:xfrm>
          <a:prstGeom prst="rect">
            <a:avLst/>
          </a:prstGeom>
          <a:noFill/>
        </p:spPr>
        <p:txBody>
          <a:bodyPr wrap="square" lIns="0" tIns="0" rIns="0" bIns="0" anchor="t">
            <a:spAutoFit/>
          </a:bodyPr>
          <a:lstStyle/>
          <a:p>
            <a:pPr algn="l">
              <a:lnSpc>
                <a:spcPct val="114000"/>
              </a:lnSpc>
            </a:pPr>
            <a:r>
              <a:rPr sz="740" b="0" i="0">
                <a:solidFill>
                  <a:srgbClr val="262626"/>
                </a:solidFill>
                <a:latin typeface="맑은 고딕"/>
                <a:ea typeface="맑은 고딕"/>
              </a:rPr>
              <a:t>cost 모델 복잡도와 무관하게 decision path 를 조회 + 검증으로 고정</a:t>
            </a:r>
          </a:p>
          <a:p>
            <a:pPr algn="l">
              <a:lnSpc>
                <a:spcPct val="114000"/>
              </a:lnSpc>
            </a:pPr>
            <a:r>
              <a:rPr sz="740" b="0" i="0">
                <a:solidFill>
                  <a:srgbClr val="262626"/>
                </a:solidFill>
                <a:latin typeface="맑은 고딕"/>
                <a:ea typeface="맑은 고딕"/>
              </a:rPr>
              <a:t>→ 신규 디바이스 추가가 step time 에 영향 없음 (QA4)</a:t>
            </a:r>
          </a:p>
        </p:txBody>
      </p:sp>
      <p:sp>
        <p:nvSpPr>
          <p:cNvPr id="81" name="Rectangle 89"/>
          <p:cNvSpPr/>
          <p:nvPr/>
        </p:nvSpPr>
        <p:spPr>
          <a:xfrm>
            <a:off x="7242048" y="4224528"/>
            <a:ext cx="4764024"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262626"/>
                </a:solidFill>
                <a:latin typeface="맑은 고딕"/>
                <a:ea typeface="맑은 고딕"/>
              </a:rPr>
              <a:t>예상 반론 대응</a:t>
            </a:r>
          </a:p>
        </p:txBody>
      </p:sp>
      <p:sp>
        <p:nvSpPr>
          <p:cNvPr id="82" name="Rectangle 90"/>
          <p:cNvSpPr/>
          <p:nvPr/>
        </p:nvSpPr>
        <p:spPr>
          <a:xfrm>
            <a:off x="7242048" y="4498848"/>
            <a:ext cx="4764024" cy="142646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3" name="Rectangle 91"/>
          <p:cNvSpPr/>
          <p:nvPr/>
        </p:nvSpPr>
        <p:spPr>
          <a:xfrm>
            <a:off x="7351775" y="4590288"/>
            <a:ext cx="237744" cy="18288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Q</a:t>
            </a:r>
          </a:p>
        </p:txBody>
      </p:sp>
      <p:sp>
        <p:nvSpPr>
          <p:cNvPr id="84" name="TextBox 83"/>
          <p:cNvSpPr txBox="1"/>
          <p:nvPr/>
        </p:nvSpPr>
        <p:spPr>
          <a:xfrm>
            <a:off x="7662672" y="4590288"/>
            <a:ext cx="4197096" cy="182880"/>
          </a:xfrm>
          <a:prstGeom prst="rect">
            <a:avLst/>
          </a:prstGeom>
          <a:noFill/>
        </p:spPr>
        <p:txBody>
          <a:bodyPr wrap="square" lIns="0" tIns="0" rIns="0" bIns="0" anchor="t">
            <a:spAutoFit/>
          </a:bodyPr>
          <a:lstStyle/>
          <a:p>
            <a:pPr algn="l"/>
            <a:r>
              <a:rPr sz="800" b="1" i="0">
                <a:solidFill>
                  <a:srgbClr val="262626"/>
                </a:solidFill>
                <a:latin typeface="맑은 고딕"/>
                <a:ea typeface="맑은 고딕"/>
              </a:rPr>
              <a:t>"그러면 1안도 상태를 캐시해서 조회를 빼면 되지 않나?"</a:t>
            </a:r>
          </a:p>
        </p:txBody>
      </p:sp>
      <p:sp>
        <p:nvSpPr>
          <p:cNvPr id="85" name="Rectangle 93"/>
          <p:cNvSpPr/>
          <p:nvPr/>
        </p:nvSpPr>
        <p:spPr>
          <a:xfrm>
            <a:off x="7351775" y="4846320"/>
            <a:ext cx="237744" cy="18288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A</a:t>
            </a:r>
          </a:p>
        </p:txBody>
      </p:sp>
      <p:sp>
        <p:nvSpPr>
          <p:cNvPr id="86" name="TextBox 85"/>
          <p:cNvSpPr txBox="1"/>
          <p:nvPr/>
        </p:nvSpPr>
        <p:spPr>
          <a:xfrm>
            <a:off x="7662672" y="4846320"/>
            <a:ext cx="4197096" cy="347472"/>
          </a:xfrm>
          <a:prstGeom prst="rect">
            <a:avLst/>
          </a:prstGeom>
          <a:noFill/>
        </p:spPr>
        <p:txBody>
          <a:bodyPr wrap="square" lIns="0" tIns="0" rIns="0" bIns="0" anchor="t">
            <a:spAutoFit/>
          </a:bodyPr>
          <a:lstStyle/>
          <a:p>
            <a:pPr algn="l">
              <a:lnSpc>
                <a:spcPct val="114000"/>
              </a:lnSpc>
            </a:pPr>
            <a:r>
              <a:rPr sz="760" b="0" i="0" dirty="0" err="1">
                <a:solidFill>
                  <a:srgbClr val="262626"/>
                </a:solidFill>
                <a:latin typeface="맑은 고딕"/>
                <a:ea typeface="맑은 고딕"/>
              </a:rPr>
              <a:t>맞다</a:t>
            </a:r>
            <a:r>
              <a:rPr sz="760" b="0" i="0" dirty="0">
                <a:solidFill>
                  <a:srgbClr val="262626"/>
                </a:solidFill>
                <a:latin typeface="맑은 고딕"/>
                <a:ea typeface="맑은 고딕"/>
              </a:rPr>
              <a:t>. </a:t>
            </a:r>
            <a:r>
              <a:rPr sz="760" b="0" i="0" dirty="0" err="1">
                <a:solidFill>
                  <a:srgbClr val="262626"/>
                </a:solidFill>
                <a:latin typeface="맑은 고딕"/>
                <a:ea typeface="맑은 고딕"/>
              </a:rPr>
              <a:t>그리고</a:t>
            </a:r>
            <a:r>
              <a:rPr sz="760" b="0" i="0" dirty="0">
                <a:solidFill>
                  <a:srgbClr val="262626"/>
                </a:solidFill>
                <a:latin typeface="맑은 고딕"/>
                <a:ea typeface="맑은 고딕"/>
              </a:rPr>
              <a:t> 그 </a:t>
            </a:r>
            <a:r>
              <a:rPr sz="760" b="0" i="0" dirty="0" err="1">
                <a:solidFill>
                  <a:srgbClr val="262626"/>
                </a:solidFill>
                <a:latin typeface="맑은 고딕"/>
                <a:ea typeface="맑은 고딕"/>
              </a:rPr>
              <a:t>순간</a:t>
            </a:r>
            <a:r>
              <a:rPr sz="760" b="0" i="0" dirty="0">
                <a:solidFill>
                  <a:srgbClr val="262626"/>
                </a:solidFill>
                <a:latin typeface="맑은 고딕"/>
                <a:ea typeface="맑은 고딕"/>
              </a:rPr>
              <a:t> 1안은 2안이 </a:t>
            </a:r>
            <a:r>
              <a:rPr sz="760" b="0" i="0" dirty="0" err="1">
                <a:solidFill>
                  <a:srgbClr val="262626"/>
                </a:solidFill>
                <a:latin typeface="맑은 고딕"/>
                <a:ea typeface="맑은 고딕"/>
              </a:rPr>
              <a:t>된다</a:t>
            </a:r>
            <a:r>
              <a:rPr sz="760" b="0" i="0" dirty="0">
                <a:solidFill>
                  <a:srgbClr val="262626"/>
                </a:solidFill>
                <a:latin typeface="맑은 고딕"/>
                <a:ea typeface="맑은 고딕"/>
              </a:rPr>
              <a:t> — </a:t>
            </a:r>
            <a:r>
              <a:rPr sz="760" b="0" i="0" dirty="0" err="1">
                <a:solidFill>
                  <a:srgbClr val="262626"/>
                </a:solidFill>
                <a:latin typeface="맑은 고딕"/>
                <a:ea typeface="맑은 고딕"/>
              </a:rPr>
              <a:t>오래된</a:t>
            </a:r>
            <a:r>
              <a:rPr sz="760" b="0" i="0" dirty="0">
                <a:solidFill>
                  <a:srgbClr val="262626"/>
                </a:solidFill>
                <a:latin typeface="맑은 고딕"/>
                <a:ea typeface="맑은 고딕"/>
              </a:rPr>
              <a:t> </a:t>
            </a:r>
            <a:r>
              <a:rPr sz="760" b="0" i="0" dirty="0" err="1">
                <a:solidFill>
                  <a:srgbClr val="262626"/>
                </a:solidFill>
                <a:latin typeface="맑은 고딕"/>
                <a:ea typeface="맑은 고딕"/>
              </a:rPr>
              <a:t>상태로</a:t>
            </a:r>
            <a:r>
              <a:rPr sz="760" b="0" i="0" dirty="0">
                <a:solidFill>
                  <a:srgbClr val="262626"/>
                </a:solidFill>
                <a:latin typeface="맑은 고딕"/>
                <a:ea typeface="맑은 고딕"/>
              </a:rPr>
              <a:t> </a:t>
            </a:r>
            <a:r>
              <a:rPr sz="760" b="0" i="0" dirty="0" err="1">
                <a:solidFill>
                  <a:srgbClr val="262626"/>
                </a:solidFill>
                <a:latin typeface="맑은 고딕"/>
                <a:ea typeface="맑은 고딕"/>
              </a:rPr>
              <a:t>결정하므로</a:t>
            </a:r>
            <a:endParaRPr sz="760" b="0" i="0" dirty="0">
              <a:solidFill>
                <a:srgbClr val="262626"/>
              </a:solidFill>
              <a:latin typeface="맑은 고딕"/>
              <a:ea typeface="맑은 고딕"/>
            </a:endParaRPr>
          </a:p>
          <a:p>
            <a:pPr algn="l">
              <a:lnSpc>
                <a:spcPct val="114000"/>
              </a:lnSpc>
            </a:pPr>
            <a:r>
              <a:rPr sz="760" b="0" i="0" dirty="0" err="1">
                <a:solidFill>
                  <a:srgbClr val="262626"/>
                </a:solidFill>
                <a:latin typeface="맑은 고딕"/>
                <a:ea typeface="맑은 고딕"/>
              </a:rPr>
              <a:t>실행</a:t>
            </a:r>
            <a:r>
              <a:rPr sz="760" b="0" i="0" dirty="0">
                <a:solidFill>
                  <a:srgbClr val="262626"/>
                </a:solidFill>
                <a:latin typeface="맑은 고딕"/>
                <a:ea typeface="맑은 고딕"/>
              </a:rPr>
              <a:t> </a:t>
            </a:r>
            <a:r>
              <a:rPr sz="760" b="0" i="0" dirty="0" err="1">
                <a:solidFill>
                  <a:srgbClr val="262626"/>
                </a:solidFill>
                <a:latin typeface="맑은 고딕"/>
                <a:ea typeface="맑은 고딕"/>
              </a:rPr>
              <a:t>직전</a:t>
            </a:r>
            <a:r>
              <a:rPr sz="760" b="0" i="0" dirty="0">
                <a:solidFill>
                  <a:srgbClr val="262626"/>
                </a:solidFill>
                <a:latin typeface="맑은 고딕"/>
                <a:ea typeface="맑은 고딕"/>
              </a:rPr>
              <a:t> </a:t>
            </a:r>
            <a:r>
              <a:rPr sz="760" b="0" i="0" dirty="0" err="1">
                <a:solidFill>
                  <a:srgbClr val="262626"/>
                </a:solidFill>
                <a:latin typeface="맑은 고딕"/>
                <a:ea typeface="맑은 고딕"/>
              </a:rPr>
              <a:t>검증</a:t>
            </a:r>
            <a:r>
              <a:rPr sz="760" b="0" i="0" dirty="0">
                <a:solidFill>
                  <a:srgbClr val="262626"/>
                </a:solidFill>
                <a:latin typeface="맑은 고딕"/>
                <a:ea typeface="맑은 고딕"/>
              </a:rPr>
              <a:t>(Validator)이 </a:t>
            </a:r>
            <a:r>
              <a:rPr sz="760" b="0" i="0" dirty="0" err="1">
                <a:solidFill>
                  <a:srgbClr val="262626"/>
                </a:solidFill>
                <a:latin typeface="맑은 고딕"/>
                <a:ea typeface="맑은 고딕"/>
              </a:rPr>
              <a:t>필요해진다</a:t>
            </a:r>
            <a:r>
              <a:rPr sz="760" b="0" i="0" dirty="0">
                <a:solidFill>
                  <a:srgbClr val="262626"/>
                </a:solidFill>
                <a:latin typeface="맑은 고딕"/>
                <a:ea typeface="맑은 고딕"/>
              </a:rPr>
              <a:t>.</a:t>
            </a:r>
          </a:p>
        </p:txBody>
      </p:sp>
      <p:sp>
        <p:nvSpPr>
          <p:cNvPr id="87" name="Rectangle 95"/>
          <p:cNvSpPr/>
          <p:nvPr/>
        </p:nvSpPr>
        <p:spPr>
          <a:xfrm>
            <a:off x="7351775" y="5285232"/>
            <a:ext cx="4544568" cy="54864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8" name="TextBox 87"/>
          <p:cNvSpPr txBox="1"/>
          <p:nvPr/>
        </p:nvSpPr>
        <p:spPr>
          <a:xfrm>
            <a:off x="7461504" y="5340096"/>
            <a:ext cx="4325112" cy="457200"/>
          </a:xfrm>
          <a:prstGeom prst="rect">
            <a:avLst/>
          </a:prstGeom>
          <a:noFill/>
        </p:spPr>
        <p:txBody>
          <a:bodyPr wrap="square" lIns="0" tIns="0" rIns="0" bIns="0" anchor="t">
            <a:spAutoFit/>
          </a:bodyPr>
          <a:lstStyle/>
          <a:p>
            <a:pPr algn="l">
              <a:lnSpc>
                <a:spcPct val="114000"/>
              </a:lnSpc>
            </a:pPr>
            <a:r>
              <a:rPr sz="740" b="1" i="0">
                <a:solidFill>
                  <a:srgbClr val="7F5F00"/>
                </a:solidFill>
                <a:latin typeface="맑은 고딕"/>
                <a:ea typeface="맑은 고딕"/>
              </a:rPr>
              <a:t>→ 이 DP 의 축은 「cost 를 미리 계산하느냐」가 아니라</a:t>
            </a:r>
          </a:p>
          <a:p>
            <a:pPr algn="l">
              <a:lnSpc>
                <a:spcPct val="114000"/>
              </a:lnSpc>
            </a:pPr>
            <a:r>
              <a:rPr sz="740" b="1" i="0">
                <a:solidFill>
                  <a:srgbClr val="7F5F00"/>
                </a:solidFill>
                <a:latin typeface="맑은 고딕"/>
                <a:ea typeface="맑은 고딕"/>
              </a:rPr>
              <a:t>   「결정 시점에 fresh state 를 요구하느냐」 다.</a:t>
            </a:r>
          </a:p>
          <a:p>
            <a:pPr algn="l">
              <a:lnSpc>
                <a:spcPct val="114000"/>
              </a:lnSpc>
            </a:pPr>
            <a:r>
              <a:rPr sz="740" b="1" i="0">
                <a:solidFill>
                  <a:srgbClr val="7F5F00"/>
                </a:solidFill>
                <a:latin typeface="맑은 고딕"/>
                <a:ea typeface="맑은 고딕"/>
              </a:rPr>
              <a:t>   1안 장점 첫 줄(실시간 상태 반영 · QA2)이 이미 그 축을 가리킨다.</a:t>
            </a:r>
          </a:p>
        </p:txBody>
      </p:sp>
      <p:sp>
        <p:nvSpPr>
          <p:cNvPr id="91" name="Rectangle 2"/>
          <p:cNvSpPr/>
          <p:nvPr/>
        </p:nvSpPr>
        <p:spPr>
          <a:xfrm>
            <a:off x="0" y="548640"/>
            <a:ext cx="7772400" cy="32918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2" name="Rectangle 3"/>
          <p:cNvSpPr/>
          <p:nvPr/>
        </p:nvSpPr>
        <p:spPr>
          <a:xfrm>
            <a:off x="237744" y="598932"/>
            <a:ext cx="45720"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93" name="TextBox 92"/>
          <p:cNvSpPr txBox="1"/>
          <p:nvPr/>
        </p:nvSpPr>
        <p:spPr>
          <a:xfrm>
            <a:off x="365760" y="617052"/>
            <a:ext cx="7223760" cy="192360"/>
          </a:xfrm>
          <a:prstGeom prst="rect">
            <a:avLst/>
          </a:prstGeom>
          <a:noFill/>
        </p:spPr>
        <p:txBody>
          <a:bodyPr wrap="square" lIns="0" tIns="0" rIns="0" bIns="0" anchor="ctr">
            <a:spAutoFit/>
          </a:bodyPr>
          <a:lstStyle/>
          <a:p>
            <a:pPr algn="l"/>
            <a:r>
              <a:rPr sz="1250" b="1" i="0" dirty="0">
                <a:solidFill>
                  <a:srgbClr val="FFFFFF"/>
                </a:solidFill>
                <a:latin typeface="맑은 고딕"/>
                <a:ea typeface="맑은 고딕"/>
              </a:rPr>
              <a:t>Cost </a:t>
            </a:r>
            <a:r>
              <a:rPr sz="1250" b="1" i="0" dirty="0" err="1" smtClean="0">
                <a:solidFill>
                  <a:srgbClr val="FFFFFF"/>
                </a:solidFill>
                <a:latin typeface="맑은 고딕"/>
                <a:ea typeface="맑은 고딕"/>
              </a:rPr>
              <a:t>계산</a:t>
            </a:r>
            <a:r>
              <a:rPr lang="ko-KR" altLang="en-US" sz="1250" b="1" i="0" dirty="0" smtClean="0">
                <a:solidFill>
                  <a:srgbClr val="FFFFFF"/>
                </a:solidFill>
                <a:latin typeface="맑은 고딕"/>
                <a:ea typeface="맑은 고딕"/>
              </a:rPr>
              <a:t>의 </a:t>
            </a:r>
            <a:r>
              <a:rPr sz="1250" b="1" i="0" dirty="0" smtClean="0">
                <a:solidFill>
                  <a:srgbClr val="FFFFFF"/>
                </a:solidFill>
                <a:latin typeface="맑은 고딕"/>
                <a:ea typeface="맑은 고딕"/>
              </a:rPr>
              <a:t>critical </a:t>
            </a:r>
            <a:r>
              <a:rPr sz="1250" b="1" i="0" dirty="0">
                <a:solidFill>
                  <a:srgbClr val="FFFFFF"/>
                </a:solidFill>
                <a:latin typeface="맑은 고딕"/>
                <a:ea typeface="맑은 고딕"/>
              </a:rPr>
              <a:t>path </a:t>
            </a:r>
            <a:r>
              <a:rPr sz="1250" b="1" i="0" dirty="0" err="1">
                <a:solidFill>
                  <a:srgbClr val="FFFFFF"/>
                </a:solidFill>
                <a:latin typeface="맑은 고딕"/>
                <a:ea typeface="맑은 고딕"/>
              </a:rPr>
              <a:t>비용은</a:t>
            </a:r>
            <a:r>
              <a:rPr sz="1250" b="1" i="0" dirty="0">
                <a:solidFill>
                  <a:srgbClr val="FFFFFF"/>
                </a:solidFill>
                <a:latin typeface="맑은 고딕"/>
                <a:ea typeface="맑은 고딕"/>
              </a:rPr>
              <a:t> 「</a:t>
            </a:r>
            <a:r>
              <a:rPr sz="1250" b="1" i="0" dirty="0" err="1">
                <a:solidFill>
                  <a:srgbClr val="FFFFFF"/>
                </a:solidFill>
                <a:latin typeface="맑은 고딕"/>
                <a:ea typeface="맑은 고딕"/>
              </a:rPr>
              <a:t>계산」이</a:t>
            </a:r>
            <a:r>
              <a:rPr sz="1250" b="1" i="0" dirty="0">
                <a:solidFill>
                  <a:srgbClr val="FFFFFF"/>
                </a:solidFill>
                <a:latin typeface="맑은 고딕"/>
                <a:ea typeface="맑은 고딕"/>
              </a:rPr>
              <a:t> </a:t>
            </a:r>
            <a:r>
              <a:rPr sz="1250" b="1" i="0" dirty="0" err="1">
                <a:solidFill>
                  <a:srgbClr val="FFFFFF"/>
                </a:solidFill>
                <a:latin typeface="맑은 고딕"/>
                <a:ea typeface="맑은 고딕"/>
              </a:rPr>
              <a:t>아니라</a:t>
            </a:r>
            <a:r>
              <a:rPr sz="1250" b="1" i="0" dirty="0">
                <a:solidFill>
                  <a:srgbClr val="FFFFFF"/>
                </a:solidFill>
                <a:latin typeface="맑은 고딕"/>
                <a:ea typeface="맑은 고딕"/>
              </a:rPr>
              <a:t> 「</a:t>
            </a:r>
            <a:r>
              <a:rPr sz="1250" b="1" i="0" dirty="0" err="1">
                <a:solidFill>
                  <a:srgbClr val="FFFFFF"/>
                </a:solidFill>
                <a:latin typeface="맑은 고딕"/>
                <a:ea typeface="맑은 고딕"/>
              </a:rPr>
              <a:t>상태</a:t>
            </a:r>
            <a:r>
              <a:rPr sz="1250" b="1" i="0" dirty="0">
                <a:solidFill>
                  <a:srgbClr val="FFFFFF"/>
                </a:solidFill>
                <a:latin typeface="맑은 고딕"/>
                <a:ea typeface="맑은 고딕"/>
              </a:rPr>
              <a:t> </a:t>
            </a:r>
            <a:r>
              <a:rPr sz="1250" b="1" i="0" dirty="0" err="1">
                <a:solidFill>
                  <a:srgbClr val="FFFFFF"/>
                </a:solidFill>
                <a:latin typeface="맑은 고딕"/>
                <a:ea typeface="맑은 고딕"/>
              </a:rPr>
              <a:t>수집」과</a:t>
            </a:r>
            <a:r>
              <a:rPr sz="1250" b="1" i="0" dirty="0">
                <a:solidFill>
                  <a:srgbClr val="FFFFFF"/>
                </a:solidFill>
                <a:latin typeface="맑은 고딕"/>
                <a:ea typeface="맑은 고딕"/>
              </a:rPr>
              <a:t> 「</a:t>
            </a:r>
            <a:r>
              <a:rPr sz="1250" b="1" i="0" dirty="0" err="1">
                <a:solidFill>
                  <a:srgbClr val="FFFFFF"/>
                </a:solidFill>
                <a:latin typeface="맑은 고딕"/>
                <a:ea typeface="맑은 고딕"/>
              </a:rPr>
              <a:t>확장</a:t>
            </a:r>
            <a:r>
              <a:rPr sz="1250" b="1" i="0" dirty="0">
                <a:solidFill>
                  <a:srgbClr val="FFFFFF"/>
                </a:solidFill>
                <a:latin typeface="맑은 고딕"/>
                <a:ea typeface="맑은 고딕"/>
              </a:rPr>
              <a:t> </a:t>
            </a:r>
            <a:r>
              <a:rPr sz="1250" b="1" i="0" dirty="0" err="1">
                <a:solidFill>
                  <a:srgbClr val="FFFFFF"/>
                </a:solidFill>
                <a:latin typeface="맑은 고딕"/>
                <a:ea typeface="맑은 고딕"/>
              </a:rPr>
              <a:t>복잡도</a:t>
            </a:r>
            <a:r>
              <a:rPr sz="1250" b="1" i="0" dirty="0">
                <a:solidFill>
                  <a:srgbClr val="FFFFFF"/>
                </a:solidFill>
                <a:latin typeface="맑은 고딕"/>
                <a:ea typeface="맑은 고딕"/>
              </a:rPr>
              <a:t>」</a:t>
            </a:r>
          </a:p>
        </p:txBody>
      </p:sp>
      <p:sp>
        <p:nvSpPr>
          <p:cNvPr id="94" name="실행 단추: 뒤로 또는 이전 93">
            <a:hlinkClick r:id="rId3" action="ppaction://hlinksldjump" highlightClick="1"/>
          </p:cNvPr>
          <p:cNvSpPr/>
          <p:nvPr/>
        </p:nvSpPr>
        <p:spPr>
          <a:xfrm>
            <a:off x="7461504" y="137379"/>
            <a:ext cx="247396" cy="23727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80406969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(H/H or </a:t>
            </a:r>
            <a:r>
              <a:rPr lang="en-US" altLang="ko-KR" sz="1600" dirty="0">
                <a:solidFill>
                  <a:prstClr val="black"/>
                </a:solidFill>
                <a:latin typeface="맑은 고딕" panose="020F0502020204030204"/>
                <a:ea typeface="맑은 고딕" panose="020B0503020000020004" pitchFamily="50" charset="-127"/>
              </a:rPr>
              <a:t>H/M</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nvGraphicFramePr>
        <p:xfrm>
          <a:off x="278859" y="996757"/>
          <a:ext cx="11709382" cy="5106993"/>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529669">
                  <a:extLst>
                    <a:ext uri="{9D8B030D-6E8A-4147-A177-3AD203B41FA5}">
                      <a16:colId xmlns:a16="http://schemas.microsoft.com/office/drawing/2014/main" val="714743119"/>
                    </a:ext>
                  </a:extLst>
                </a:gridCol>
                <a:gridCol w="6942142">
                  <a:extLst>
                    <a:ext uri="{9D8B030D-6E8A-4147-A177-3AD203B41FA5}">
                      <a16:colId xmlns:a16="http://schemas.microsoft.com/office/drawing/2014/main" val="713779841"/>
                    </a:ext>
                  </a:extLst>
                </a:gridCol>
                <a:gridCol w="559320">
                  <a:extLst>
                    <a:ext uri="{9D8B030D-6E8A-4147-A177-3AD203B41FA5}">
                      <a16:colId xmlns:a16="http://schemas.microsoft.com/office/drawing/2014/main" val="4072428474"/>
                    </a:ext>
                  </a:extLst>
                </a:gridCol>
                <a:gridCol w="574713">
                  <a:extLst>
                    <a:ext uri="{9D8B030D-6E8A-4147-A177-3AD203B41FA5}">
                      <a16:colId xmlns:a16="http://schemas.microsoft.com/office/drawing/2014/main" val="2666804482"/>
                    </a:ext>
                  </a:extLst>
                </a:gridCol>
                <a:gridCol w="440675">
                  <a:extLst>
                    <a:ext uri="{9D8B030D-6E8A-4147-A177-3AD203B41FA5}">
                      <a16:colId xmlns:a16="http://schemas.microsoft.com/office/drawing/2014/main" val="2282568718"/>
                    </a:ext>
                  </a:extLst>
                </a:gridCol>
              </a:tblGrid>
              <a:tr h="423193">
                <a:tc>
                  <a:txBody>
                    <a:bodyPr/>
                    <a:lstStyle/>
                    <a:p>
                      <a:pPr algn="ctr"/>
                      <a:r>
                        <a:rPr lang="ko-KR" altLang="en-US" sz="900" b="1" dirty="0">
                          <a:solidFill>
                            <a:schemeClr val="bg1"/>
                          </a:solidFill>
                        </a:rPr>
                        <a:t>번호</a:t>
                      </a:r>
                    </a:p>
                  </a:txBody>
                  <a:tcPr anchor="ctr">
                    <a:solidFill>
                      <a:srgbClr val="3B3B3B"/>
                    </a:solidFill>
                  </a:tcPr>
                </a:tc>
                <a:tc>
                  <a:txBody>
                    <a:bodyPr/>
                    <a:lstStyle/>
                    <a:p>
                      <a:pPr algn="ctr"/>
                      <a:r>
                        <a:rPr lang="en-US" sz="900" b="1">
                          <a:solidFill>
                            <a:schemeClr val="bg1"/>
                          </a:solidFill>
                        </a:rPr>
                        <a:t>QA</a:t>
                      </a:r>
                    </a:p>
                  </a:txBody>
                  <a:tcPr anchor="ctr">
                    <a:solidFill>
                      <a:srgbClr val="3B3B3B"/>
                    </a:solidFill>
                  </a:tcPr>
                </a:tc>
                <a:tc>
                  <a:txBody>
                    <a:bodyPr/>
                    <a:lstStyle/>
                    <a:p>
                      <a:pPr algn="ctr"/>
                      <a:r>
                        <a:rPr lang="en-US" sz="900" b="1" dirty="0">
                          <a:solidFill>
                            <a:schemeClr val="bg1"/>
                          </a:solidFill>
                        </a:rPr>
                        <a:t>Refinement</a:t>
                      </a:r>
                    </a:p>
                  </a:txBody>
                  <a:tcPr anchor="ctr">
                    <a:solidFill>
                      <a:srgbClr val="3B3B3B"/>
                    </a:solidFill>
                  </a:tcPr>
                </a:tc>
                <a:tc>
                  <a:txBody>
                    <a:bodyPr/>
                    <a:lstStyle/>
                    <a:p>
                      <a:pPr algn="ctr"/>
                      <a:r>
                        <a:rPr lang="en-US" sz="900" b="1" dirty="0">
                          <a:solidFill>
                            <a:schemeClr val="bg1"/>
                          </a:solidFill>
                        </a:rPr>
                        <a:t>Scenario</a:t>
                      </a:r>
                    </a:p>
                  </a:txBody>
                  <a:tcPr anchor="ctr">
                    <a:solidFill>
                      <a:srgbClr val="3B3B3B"/>
                    </a:solidFill>
                  </a:tcPr>
                </a:tc>
                <a:tc>
                  <a:txBody>
                    <a:bodyPr/>
                    <a:lstStyle/>
                    <a:p>
                      <a:pPr algn="ctr"/>
                      <a:r>
                        <a:rPr lang="ko-KR" altLang="en-US" sz="900" b="1">
                          <a:solidFill>
                            <a:schemeClr val="bg1"/>
                          </a:solidFill>
                        </a:rPr>
                        <a:t>중요도</a:t>
                      </a:r>
                    </a:p>
                  </a:txBody>
                  <a:tcPr anchor="ctr">
                    <a:solidFill>
                      <a:srgbClr val="3B3B3B"/>
                    </a:solidFill>
                  </a:tcPr>
                </a:tc>
                <a:tc>
                  <a:txBody>
                    <a:bodyPr/>
                    <a:lstStyle/>
                    <a:p>
                      <a:pPr algn="ctr"/>
                      <a:r>
                        <a:rPr lang="ko-KR" altLang="en-US" sz="900" b="1" dirty="0">
                          <a:solidFill>
                            <a:schemeClr val="bg1"/>
                          </a:solidFill>
                        </a:rPr>
                        <a:t>난이도</a:t>
                      </a:r>
                    </a:p>
                  </a:txBody>
                  <a:tcPr anchor="ctr">
                    <a:solidFill>
                      <a:srgbClr val="3B3B3B"/>
                    </a:solidFill>
                  </a:tcPr>
                </a:tc>
                <a:tc>
                  <a:txBody>
                    <a:bodyPr/>
                    <a:lstStyle/>
                    <a:p>
                      <a:pPr algn="ctr"/>
                      <a:r>
                        <a:rPr lang="ko-KR" altLang="en-US" sz="90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468000">
                <a:tc>
                  <a:txBody>
                    <a:bodyPr/>
                    <a:lstStyle/>
                    <a:p>
                      <a:r>
                        <a:rPr lang="en-US" sz="900" dirty="0"/>
                        <a:t>QA-01</a:t>
                      </a:r>
                    </a:p>
                  </a:txBody>
                  <a:tcPr anchor="ctr">
                    <a:solidFill>
                      <a:schemeClr val="accent4">
                        <a:lumMod val="20000"/>
                        <a:lumOff val="80000"/>
                      </a:schemeClr>
                    </a:solidFill>
                  </a:tcPr>
                </a:tc>
                <a:tc>
                  <a:txBody>
                    <a:bodyPr/>
                    <a:lstStyle/>
                    <a:p>
                      <a:r>
                        <a:rPr lang="en-US" sz="9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t>(Time behavior)</a:t>
                      </a:r>
                    </a:p>
                  </a:txBody>
                  <a:tcPr anchor="ctr">
                    <a:solidFill>
                      <a:schemeClr val="accent4">
                        <a:lumMod val="20000"/>
                        <a:lumOff val="80000"/>
                      </a:schemeClr>
                    </a:solidFill>
                  </a:tcPr>
                </a:tc>
                <a:tc>
                  <a:txBody>
                    <a:bodyPr/>
                    <a:lstStyle/>
                    <a:p>
                      <a:r>
                        <a:rPr lang="ko-KR" altLang="en-US" sz="900" dirty="0"/>
                        <a:t>서비스 수준 목표</a:t>
                      </a:r>
                      <a:r>
                        <a:rPr lang="en-US" altLang="ko-KR" sz="900" dirty="0"/>
                        <a:t>(SLO)</a:t>
                      </a:r>
                      <a:r>
                        <a:rPr lang="ko-KR" altLang="en-US" sz="900" dirty="0"/>
                        <a:t>를 만족하는 토큰 처리량</a:t>
                      </a:r>
                    </a:p>
                  </a:txBody>
                  <a:tcPr anchor="ctr">
                    <a:solidFill>
                      <a:schemeClr val="accent4">
                        <a:lumMod val="20000"/>
                        <a:lumOff val="80000"/>
                      </a:schemeClr>
                    </a:solidFill>
                  </a:tcPr>
                </a:tc>
                <a:tc>
                  <a:txBody>
                    <a:bodyPr/>
                    <a:lstStyle/>
                    <a:p>
                      <a:pPr algn="l">
                        <a:spcAft>
                          <a:spcPts val="100"/>
                        </a:spcAft>
                      </a:pPr>
                      <a:r>
                        <a:rPr sz="900" b="0" dirty="0" err="1">
                          <a:solidFill>
                            <a:srgbClr val="000000"/>
                          </a:solidFill>
                          <a:latin typeface="맑은 고딕"/>
                          <a:ea typeface="맑은 고딕"/>
                          <a:cs typeface="맑은 고딕"/>
                        </a:rPr>
                        <a:t>다수</a:t>
                      </a:r>
                      <a:r>
                        <a:rPr sz="900" b="0" dirty="0">
                          <a:solidFill>
                            <a:srgbClr val="000000"/>
                          </a:solidFill>
                          <a:latin typeface="맑은 고딕"/>
                          <a:ea typeface="맑은 고딕"/>
                          <a:cs typeface="맑은 고딕"/>
                        </a:rPr>
                        <a:t> agent </a:t>
                      </a:r>
                      <a:r>
                        <a:rPr sz="900" b="0" dirty="0" err="1">
                          <a:solidFill>
                            <a:srgbClr val="000000"/>
                          </a:solidFill>
                          <a:latin typeface="맑은 고딕"/>
                          <a:ea typeface="맑은 고딕"/>
                          <a:cs typeface="맑은 고딕"/>
                        </a:rPr>
                        <a:t>세션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동시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요청</a:t>
                      </a:r>
                      <a:r>
                        <a:rPr sz="900" b="0" dirty="0">
                          <a:solidFill>
                            <a:srgbClr val="000000"/>
                          </a:solidFill>
                          <a:latin typeface="맑은 고딕"/>
                          <a:ea typeface="맑은 고딕"/>
                          <a:cs typeface="맑은 고딕"/>
                        </a:rPr>
                        <a:t> 시 </a:t>
                      </a:r>
                      <a:r>
                        <a:rPr sz="900" b="0" dirty="0" err="1">
                          <a:solidFill>
                            <a:srgbClr val="000000"/>
                          </a:solidFill>
                          <a:latin typeface="맑은 고딕"/>
                          <a:ea typeface="맑은 고딕"/>
                          <a:cs typeface="맑은 고딕"/>
                        </a:rPr>
                        <a:t>지정</a:t>
                      </a:r>
                      <a:r>
                        <a:rPr sz="900" b="0" dirty="0">
                          <a:solidFill>
                            <a:srgbClr val="000000"/>
                          </a:solidFill>
                          <a:latin typeface="맑은 고딕"/>
                          <a:ea typeface="맑은 고딕"/>
                          <a:cs typeface="맑은 고딕"/>
                        </a:rPr>
                        <a:t> SLO*를 </a:t>
                      </a:r>
                      <a:r>
                        <a:rPr sz="900" b="0" dirty="0" err="1">
                          <a:solidFill>
                            <a:srgbClr val="000000"/>
                          </a:solidFill>
                          <a:latin typeface="맑은 고딕"/>
                          <a:ea typeface="맑은 고딕"/>
                          <a:cs typeface="맑은 고딕"/>
                        </a:rPr>
                        <a:t>만족하는</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최대</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요청량이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Baseline보다</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커야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 (*SLO: Service Level Objective)</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SLO </a:t>
                      </a:r>
                      <a:r>
                        <a:rPr sz="900" b="1" dirty="0" err="1">
                          <a:solidFill>
                            <a:srgbClr val="000000"/>
                          </a:solidFill>
                          <a:latin typeface="맑은 고딕"/>
                          <a:ea typeface="맑은 고딕"/>
                          <a:cs typeface="맑은 고딕"/>
                        </a:rPr>
                        <a:t>만족</a:t>
                      </a:r>
                      <a:r>
                        <a:rPr sz="900" b="1" dirty="0">
                          <a:solidFill>
                            <a:srgbClr val="000000"/>
                          </a:solidFill>
                          <a:latin typeface="맑은 고딕"/>
                          <a:ea typeface="맑은 고딕"/>
                          <a:cs typeface="맑은 고딕"/>
                        </a:rPr>
                        <a:t> Max </a:t>
                      </a:r>
                      <a:r>
                        <a:rPr sz="900" b="1" dirty="0" err="1">
                          <a:solidFill>
                            <a:srgbClr val="000000"/>
                          </a:solidFill>
                          <a:latin typeface="맑은 고딕"/>
                          <a:ea typeface="맑은 고딕"/>
                          <a:cs typeface="맑은 고딕"/>
                        </a:rPr>
                        <a:t>Goodput</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증가율</a:t>
                      </a:r>
                      <a:r>
                        <a:rPr sz="900" b="1" dirty="0">
                          <a:solidFill>
                            <a:srgbClr val="000000"/>
                          </a:solidFill>
                          <a:latin typeface="맑은 고딕"/>
                          <a:ea typeface="맑은 고딕"/>
                          <a:cs typeface="맑은 고딕"/>
                        </a:rPr>
                        <a:t> ★1.5x / ★★2.25x / ★★★3.0x (</a:t>
                      </a:r>
                      <a:r>
                        <a:rPr sz="900" b="1" dirty="0" err="1">
                          <a:solidFill>
                            <a:srgbClr val="000000"/>
                          </a:solidFill>
                          <a:latin typeface="맑은 고딕"/>
                          <a:ea typeface="맑은 고딕"/>
                          <a:cs typeface="맑은 고딕"/>
                        </a:rPr>
                        <a:t>Pensieve·KVFlow</a:t>
                      </a:r>
                      <a:r>
                        <a:rPr sz="900" b="1" dirty="0">
                          <a:solidFill>
                            <a:srgbClr val="000000"/>
                          </a:solidFill>
                          <a:latin typeface="맑은 고딕"/>
                          <a:ea typeface="맑은 고딕"/>
                          <a:cs typeface="맑은 고딕"/>
                        </a:rPr>
                        <a:t> 등 </a:t>
                      </a:r>
                      <a:r>
                        <a:rPr sz="900" b="1" dirty="0" err="1">
                          <a:solidFill>
                            <a:srgbClr val="000000"/>
                          </a:solidFill>
                          <a:latin typeface="맑은 고딕"/>
                          <a:ea typeface="맑은 고딕"/>
                          <a:cs typeface="맑은 고딕"/>
                        </a:rPr>
                        <a:t>문헌</a:t>
                      </a:r>
                      <a:r>
                        <a:rPr sz="900" b="1" dirty="0">
                          <a:solidFill>
                            <a:srgbClr val="000000"/>
                          </a:solidFill>
                          <a:latin typeface="맑은 고딕"/>
                          <a:ea typeface="맑은 고딕"/>
                          <a:cs typeface="맑은 고딕"/>
                        </a:rPr>
                        <a:t>), SLO: TTFT 2s, TPOT 2ms]</a:t>
                      </a:r>
                    </a:p>
                  </a:txBody>
                  <a:tcPr marL="54864" marR="457200" marT="22860" marB="22860" anchor="ctr">
                    <a:solidFill>
                      <a:schemeClr val="accent4">
                        <a:lumMod val="20000"/>
                        <a:lumOff val="80000"/>
                      </a:schemeClr>
                    </a:solidFill>
                  </a:tcPr>
                </a:tc>
                <a:tc>
                  <a:txBody>
                    <a:bodyPr/>
                    <a:lstStyle/>
                    <a:p>
                      <a:r>
                        <a:rPr lang="en-US" sz="900"/>
                        <a:t>H</a:t>
                      </a:r>
                    </a:p>
                  </a:txBody>
                  <a:tcPr anchor="ctr">
                    <a:solidFill>
                      <a:schemeClr val="accent4">
                        <a:lumMod val="20000"/>
                        <a:lumOff val="80000"/>
                      </a:schemeClr>
                    </a:solidFill>
                  </a:tcPr>
                </a:tc>
                <a:tc>
                  <a:txBody>
                    <a:bodyPr/>
                    <a:lstStyle/>
                    <a:p>
                      <a:r>
                        <a:rPr lang="en-US" altLang="ko-KR" sz="900" dirty="0"/>
                        <a:t>H</a:t>
                      </a:r>
                      <a:endParaRPr lang="en-US" sz="900" dirty="0"/>
                    </a:p>
                  </a:txBody>
                  <a:tcPr anchor="ctr">
                    <a:solidFill>
                      <a:schemeClr val="accent4">
                        <a:lumMod val="20000"/>
                        <a:lumOff val="80000"/>
                      </a:schemeClr>
                    </a:solidFill>
                  </a:tcPr>
                </a:tc>
                <a:tc>
                  <a:txBody>
                    <a:bodyPr/>
                    <a:lstStyle/>
                    <a:p>
                      <a:r>
                        <a:rPr lang="en-US" altLang="ko-KR" sz="900" dirty="0"/>
                        <a:t>1</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468000">
                <a:tc>
                  <a:txBody>
                    <a:bodyPr/>
                    <a:lstStyle/>
                    <a:p>
                      <a:r>
                        <a:rPr lang="en-US" sz="900" dirty="0"/>
                        <a:t>QA-02</a:t>
                      </a:r>
                    </a:p>
                  </a:txBody>
                  <a:tcPr anchor="ctr">
                    <a:solidFill>
                      <a:schemeClr val="accent4">
                        <a:lumMod val="20000"/>
                        <a:lumOff val="80000"/>
                      </a:schemeClr>
                    </a:solidFill>
                  </a:tcPr>
                </a:tc>
                <a:tc>
                  <a:txBody>
                    <a:bodyPr/>
                    <a:lstStyle/>
                    <a:p>
                      <a:r>
                        <a:rPr lang="en-US" sz="900" dirty="0"/>
                        <a:t>Resource</a:t>
                      </a:r>
                      <a:r>
                        <a:rPr lang="en-US" sz="900" baseline="0" dirty="0"/>
                        <a:t> </a:t>
                      </a:r>
                    </a:p>
                    <a:p>
                      <a:r>
                        <a:rPr lang="en-US" sz="900" baseline="0" dirty="0"/>
                        <a:t>Efficiency</a:t>
                      </a:r>
                      <a:endParaRPr lang="en-US" sz="900" dirty="0"/>
                    </a:p>
                  </a:txBody>
                  <a:tcPr anchor="ctr">
                    <a:solidFill>
                      <a:schemeClr val="accent4">
                        <a:lumMod val="20000"/>
                        <a:lumOff val="80000"/>
                      </a:schemeClr>
                    </a:solidFill>
                  </a:tcPr>
                </a:tc>
                <a:tc>
                  <a:txBody>
                    <a:bodyPr/>
                    <a:lstStyle/>
                    <a:p>
                      <a:r>
                        <a:rPr lang="en-US" sz="900" dirty="0"/>
                        <a:t>HBM </a:t>
                      </a:r>
                      <a:r>
                        <a:rPr lang="ko-KR" altLang="en-US" sz="900" dirty="0"/>
                        <a:t>점유율</a:t>
                      </a:r>
                    </a:p>
                  </a:txBody>
                  <a:tcPr anchor="ctr">
                    <a:solidFill>
                      <a:schemeClr val="accent4">
                        <a:lumMod val="20000"/>
                        <a:lumOff val="80000"/>
                      </a:schemeClr>
                    </a:solidFill>
                  </a:tcPr>
                </a:tc>
                <a:tc>
                  <a:txBody>
                    <a:bodyPr/>
                    <a:lstStyle/>
                    <a:p>
                      <a:pPr algn="l">
                        <a:spcAft>
                          <a:spcPts val="100"/>
                        </a:spcAft>
                      </a:pPr>
                      <a:r>
                        <a:rPr sz="900" b="0" dirty="0" err="1">
                          <a:solidFill>
                            <a:srgbClr val="000000"/>
                          </a:solidFill>
                          <a:latin typeface="맑은 고딕"/>
                          <a:ea typeface="맑은 고딕"/>
                          <a:cs typeface="맑은 고딕"/>
                        </a:rPr>
                        <a:t>동일한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성능</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조건에서</a:t>
                      </a:r>
                      <a:r>
                        <a:rPr sz="900" b="0" dirty="0">
                          <a:solidFill>
                            <a:srgbClr val="000000"/>
                          </a:solidFill>
                          <a:latin typeface="맑은 고딕"/>
                          <a:ea typeface="맑은 고딕"/>
                          <a:cs typeface="맑은 고딕"/>
                        </a:rPr>
                        <a:t> HBM </a:t>
                      </a:r>
                      <a:r>
                        <a:rPr sz="900" b="0" dirty="0" err="1">
                          <a:solidFill>
                            <a:srgbClr val="000000"/>
                          </a:solidFill>
                          <a:latin typeface="맑은 고딕"/>
                          <a:ea typeface="맑은 고딕"/>
                          <a:cs typeface="맑은 고딕"/>
                        </a:rPr>
                        <a:t>점유율이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Baseline보다</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낮아야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HBM </a:t>
                      </a:r>
                      <a:r>
                        <a:rPr sz="900" b="1" dirty="0" err="1">
                          <a:solidFill>
                            <a:srgbClr val="000000"/>
                          </a:solidFill>
                          <a:latin typeface="맑은 고딕"/>
                          <a:ea typeface="맑은 고딕"/>
                          <a:cs typeface="맑은 고딕"/>
                        </a:rPr>
                        <a:t>점유율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감소율</a:t>
                      </a:r>
                      <a:r>
                        <a:rPr sz="900" b="1" dirty="0">
                          <a:solidFill>
                            <a:srgbClr val="000000"/>
                          </a:solidFill>
                          <a:latin typeface="맑은 고딕"/>
                          <a:ea typeface="맑은 고딕"/>
                          <a:cs typeface="맑은 고딕"/>
                        </a:rPr>
                        <a:t>(Baseline </a:t>
                      </a:r>
                      <a:r>
                        <a:rPr sz="900" b="1" dirty="0" err="1">
                          <a:solidFill>
                            <a:srgbClr val="000000"/>
                          </a:solidFill>
                          <a:latin typeface="맑은 고딕"/>
                          <a:ea typeface="맑은 고딕"/>
                          <a:cs typeface="맑은 고딕"/>
                        </a:rPr>
                        <a:t>대비</a:t>
                      </a:r>
                      <a:r>
                        <a:rPr sz="900" b="1" dirty="0">
                          <a:solidFill>
                            <a:srgbClr val="000000"/>
                          </a:solidFill>
                          <a:latin typeface="맑은 고딕"/>
                          <a:ea typeface="맑은 고딕"/>
                          <a:cs typeface="맑은 고딕"/>
                        </a:rPr>
                        <a:t>) ★20% / ★★47.5% / ★★★75% (KV </a:t>
                      </a:r>
                      <a:r>
                        <a:rPr sz="900" b="1" dirty="0" err="1">
                          <a:solidFill>
                            <a:srgbClr val="000000"/>
                          </a:solidFill>
                          <a:latin typeface="맑은 고딕"/>
                          <a:ea typeface="맑은 고딕"/>
                          <a:cs typeface="맑은 고딕"/>
                        </a:rPr>
                        <a:t>압축·offload</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문헌</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상한</a:t>
                      </a:r>
                      <a:r>
                        <a:rPr sz="900" b="1" dirty="0">
                          <a:solidFill>
                            <a:srgbClr val="000000"/>
                          </a:solidFill>
                          <a:latin typeface="맑은 고딕"/>
                          <a:ea typeface="맑은 고딕"/>
                          <a:cs typeface="맑은 고딕"/>
                        </a:rPr>
                        <a:t> 3~4x, </a:t>
                      </a:r>
                      <a:r>
                        <a:rPr sz="900" b="1" dirty="0" err="1">
                          <a:solidFill>
                            <a:srgbClr val="000000"/>
                          </a:solidFill>
                          <a:latin typeface="맑은 고딕"/>
                          <a:ea typeface="맑은 고딕"/>
                          <a:cs typeface="맑은 고딕"/>
                        </a:rPr>
                        <a:t>KVzip</a:t>
                      </a:r>
                      <a:r>
                        <a:rPr sz="900" b="1" dirty="0">
                          <a:solidFill>
                            <a:srgbClr val="000000"/>
                          </a:solidFill>
                          <a:latin typeface="맑은 고딕"/>
                          <a:ea typeface="맑은 고딕"/>
                          <a:cs typeface="맑은 고딕"/>
                        </a:rPr>
                        <a:t>)]</a:t>
                      </a:r>
                    </a:p>
                  </a:txBody>
                  <a:tcPr marL="54864" marR="457200" marT="22860" marB="22860"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altLang="ko-KR" sz="900" dirty="0"/>
                        <a:t>2</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105785534"/>
                  </a:ext>
                </a:extLst>
              </a:tr>
              <a:tr h="468000">
                <a:tc>
                  <a:txBody>
                    <a:bodyPr/>
                    <a:lstStyle/>
                    <a:p>
                      <a:r>
                        <a:rPr lang="en-US" sz="900" dirty="0"/>
                        <a:t>QA-03</a:t>
                      </a:r>
                    </a:p>
                  </a:txBody>
                  <a:tcPr anchor="ctr">
                    <a:solidFill>
                      <a:schemeClr val="accent4">
                        <a:lumMod val="20000"/>
                        <a:lumOff val="80000"/>
                      </a:schemeClr>
                    </a:solidFill>
                  </a:tcPr>
                </a:tc>
                <a:tc>
                  <a:txBody>
                    <a:bodyPr/>
                    <a:lstStyle/>
                    <a:p>
                      <a:r>
                        <a:rPr lang="en-US" sz="900" dirty="0"/>
                        <a:t>Modifiability</a:t>
                      </a:r>
                    </a:p>
                  </a:txBody>
                  <a:tcPr anchor="ctr">
                    <a:solidFill>
                      <a:schemeClr val="accent4">
                        <a:lumMod val="20000"/>
                        <a:lumOff val="80000"/>
                      </a:schemeClr>
                    </a:solidFill>
                  </a:tcPr>
                </a:tc>
                <a:tc>
                  <a:txBody>
                    <a:bodyPr/>
                    <a:lstStyle/>
                    <a:p>
                      <a:r>
                        <a:rPr lang="ko-KR" altLang="en-US" sz="900" dirty="0"/>
                        <a:t>변경 용이성</a:t>
                      </a:r>
                    </a:p>
                  </a:txBody>
                  <a:tcPr anchor="ctr">
                    <a:solidFill>
                      <a:schemeClr val="accent4">
                        <a:lumMod val="20000"/>
                        <a:lumOff val="80000"/>
                      </a:schemeClr>
                    </a:solidFill>
                  </a:tcPr>
                </a:tc>
                <a:tc>
                  <a:txBody>
                    <a:bodyPr/>
                    <a:lstStyle/>
                    <a:p>
                      <a:pPr algn="l">
                        <a:spcAft>
                          <a:spcPts val="100"/>
                        </a:spcAft>
                      </a:pPr>
                      <a:r>
                        <a:rPr sz="900" b="0" dirty="0">
                          <a:solidFill>
                            <a:srgbClr val="000000"/>
                          </a:solidFill>
                          <a:latin typeface="맑은 고딕"/>
                          <a:ea typeface="맑은 고딕"/>
                          <a:cs typeface="맑은 고딕"/>
                        </a:rPr>
                        <a:t>새 </a:t>
                      </a:r>
                      <a:r>
                        <a:rPr sz="900" b="0" dirty="0" err="1">
                          <a:solidFill>
                            <a:srgbClr val="000000"/>
                          </a:solidFill>
                          <a:latin typeface="맑은 고딕"/>
                          <a:ea typeface="맑은 고딕"/>
                          <a:cs typeface="맑은 고딕"/>
                        </a:rPr>
                        <a:t>메모리</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tier·이동</a:t>
                      </a:r>
                      <a:r>
                        <a:rPr sz="900" b="0" dirty="0">
                          <a:solidFill>
                            <a:srgbClr val="000000"/>
                          </a:solidFill>
                          <a:latin typeface="맑은 고딕"/>
                          <a:ea typeface="맑은 고딕"/>
                          <a:cs typeface="맑은 고딕"/>
                        </a:rPr>
                        <a:t>/</a:t>
                      </a:r>
                      <a:r>
                        <a:rPr sz="900" b="0" dirty="0" err="1">
                          <a:solidFill>
                            <a:srgbClr val="000000"/>
                          </a:solidFill>
                          <a:latin typeface="맑은 고딕"/>
                          <a:ea typeface="맑은 고딕"/>
                          <a:cs typeface="맑은 고딕"/>
                        </a:rPr>
                        <a:t>배치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정책·데이터</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객체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유형을</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서빙</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경로</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수정</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없이</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반영할</a:t>
                      </a:r>
                      <a:r>
                        <a:rPr sz="900" b="0" dirty="0">
                          <a:solidFill>
                            <a:srgbClr val="000000"/>
                          </a:solidFill>
                          <a:latin typeface="맑은 고딕"/>
                          <a:ea typeface="맑은 고딕"/>
                          <a:cs typeface="맑은 고딕"/>
                        </a:rPr>
                        <a:t> 수 </a:t>
                      </a:r>
                      <a:r>
                        <a:rPr sz="900" b="0" dirty="0" err="1">
                          <a:solidFill>
                            <a:srgbClr val="000000"/>
                          </a:solidFill>
                          <a:latin typeface="맑은 고딕"/>
                          <a:ea typeface="맑은 고딕"/>
                          <a:cs typeface="맑은 고딕"/>
                        </a:rPr>
                        <a:t>있어야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토큰</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비용</a:t>
                      </a:r>
                      <a:r>
                        <a:rPr sz="900" b="1" dirty="0">
                          <a:solidFill>
                            <a:srgbClr val="000000"/>
                          </a:solidFill>
                          <a:latin typeface="맑은 고딕"/>
                          <a:ea typeface="맑은 고딕"/>
                          <a:cs typeface="맑은 고딕"/>
                        </a:rPr>
                        <a:t> ★&lt;0.7M ★★&lt;0.4M ★★★&lt;0.17M개, </a:t>
                      </a:r>
                      <a:r>
                        <a:rPr sz="900" b="1" dirty="0" err="1">
                          <a:solidFill>
                            <a:srgbClr val="000000"/>
                          </a:solidFill>
                          <a:latin typeface="맑은 고딕"/>
                          <a:ea typeface="맑은 고딕"/>
                          <a:cs typeface="맑은 고딕"/>
                        </a:rPr>
                        <a:t>공수</a:t>
                      </a:r>
                      <a:r>
                        <a:rPr sz="900" b="1" dirty="0">
                          <a:solidFill>
                            <a:srgbClr val="000000"/>
                          </a:solidFill>
                          <a:latin typeface="맑은 고딕"/>
                          <a:ea typeface="맑은 고딕"/>
                          <a:cs typeface="맑은 고딕"/>
                        </a:rPr>
                        <a:t> ★&lt;1.0 ★★&lt;0.75 ★★★&lt;0.5 MM (SWE-bench </a:t>
                      </a:r>
                      <a:r>
                        <a:rPr sz="900" b="1" dirty="0" err="1">
                          <a:solidFill>
                            <a:srgbClr val="000000"/>
                          </a:solidFill>
                          <a:latin typeface="맑은 고딕"/>
                          <a:ea typeface="맑은 고딕"/>
                          <a:cs typeface="맑은 고딕"/>
                        </a:rPr>
                        <a:t>평균</a:t>
                      </a:r>
                      <a:r>
                        <a:rPr sz="900" b="1" dirty="0">
                          <a:solidFill>
                            <a:srgbClr val="000000"/>
                          </a:solidFill>
                          <a:latin typeface="맑은 고딕"/>
                          <a:ea typeface="맑은 고딕"/>
                          <a:cs typeface="맑은 고딕"/>
                        </a:rPr>
                        <a:t> 1.7 file, </a:t>
                      </a:r>
                      <a:r>
                        <a:rPr sz="900" b="1" dirty="0" err="1">
                          <a:solidFill>
                            <a:srgbClr val="000000"/>
                          </a:solidFill>
                          <a:latin typeface="맑은 고딕"/>
                          <a:ea typeface="맑은 고딕"/>
                          <a:cs typeface="맑은 고딕"/>
                        </a:rPr>
                        <a:t>vLLM</a:t>
                      </a:r>
                      <a:r>
                        <a:rPr sz="900" b="1" dirty="0">
                          <a:solidFill>
                            <a:srgbClr val="000000"/>
                          </a:solidFill>
                          <a:latin typeface="맑은 고딕"/>
                          <a:ea typeface="맑은 고딕"/>
                          <a:cs typeface="맑은 고딕"/>
                        </a:rPr>
                        <a:t> connector </a:t>
                      </a:r>
                      <a:r>
                        <a:rPr sz="900" b="1" dirty="0" err="1">
                          <a:solidFill>
                            <a:srgbClr val="000000"/>
                          </a:solidFill>
                          <a:latin typeface="맑은 고딕"/>
                          <a:ea typeface="맑은 고딕"/>
                          <a:cs typeface="맑은 고딕"/>
                        </a:rPr>
                        <a:t>중앙값</a:t>
                      </a:r>
                      <a:r>
                        <a:rPr sz="900" b="1" dirty="0">
                          <a:solidFill>
                            <a:srgbClr val="000000"/>
                          </a:solidFill>
                          <a:latin typeface="맑은 고딕"/>
                          <a:ea typeface="맑은 고딕"/>
                          <a:cs typeface="맑은 고딕"/>
                        </a:rPr>
                        <a:t> 356 LOC)]</a:t>
                      </a:r>
                    </a:p>
                  </a:txBody>
                  <a:tcPr marL="54864" marR="457200" marT="22860" marB="22860"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3</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468000">
                <a:tc>
                  <a:txBody>
                    <a:bodyPr/>
                    <a:lstStyle/>
                    <a:p>
                      <a:r>
                        <a:rPr lang="en-US" sz="900" dirty="0"/>
                        <a:t>QA-04</a:t>
                      </a:r>
                    </a:p>
                  </a:txBody>
                  <a:tcPr anchor="ctr">
                    <a:solidFill>
                      <a:schemeClr val="accent4">
                        <a:lumMod val="20000"/>
                        <a:lumOff val="80000"/>
                      </a:schemeClr>
                    </a:solidFill>
                  </a:tcPr>
                </a:tc>
                <a:tc>
                  <a:txBody>
                    <a:bodyPr/>
                    <a:lstStyle/>
                    <a:p>
                      <a:r>
                        <a:rPr lang="en-US" sz="900" dirty="0"/>
                        <a:t>Scalability</a:t>
                      </a:r>
                    </a:p>
                  </a:txBody>
                  <a:tcPr anchor="ctr">
                    <a:solidFill>
                      <a:schemeClr val="accent4">
                        <a:lumMod val="20000"/>
                        <a:lumOff val="80000"/>
                      </a:schemeClr>
                    </a:solidFill>
                  </a:tcPr>
                </a:tc>
                <a:tc>
                  <a:txBody>
                    <a:bodyPr/>
                    <a:lstStyle/>
                    <a:p>
                      <a:r>
                        <a:rPr lang="ko-KR" altLang="en-US" sz="900" dirty="0"/>
                        <a:t>확장성</a:t>
                      </a:r>
                    </a:p>
                  </a:txBody>
                  <a:tcPr anchor="ctr">
                    <a:solidFill>
                      <a:schemeClr val="accent4">
                        <a:lumMod val="20000"/>
                        <a:lumOff val="80000"/>
                      </a:schemeClr>
                    </a:solidFill>
                  </a:tcPr>
                </a:tc>
                <a:tc>
                  <a:txBody>
                    <a:bodyPr/>
                    <a:lstStyle/>
                    <a:p>
                      <a:pPr algn="l">
                        <a:spcAft>
                          <a:spcPts val="100"/>
                        </a:spcAft>
                      </a:pPr>
                      <a:r>
                        <a:rPr sz="900" b="0" dirty="0" err="1">
                          <a:solidFill>
                            <a:srgbClr val="000000"/>
                          </a:solidFill>
                          <a:latin typeface="맑은 고딕"/>
                          <a:ea typeface="맑은 고딕"/>
                          <a:cs typeface="맑은 고딕"/>
                        </a:rPr>
                        <a:t>노드·메모리</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type이</a:t>
                      </a:r>
                      <a:r>
                        <a:rPr sz="900" b="0" dirty="0">
                          <a:solidFill>
                            <a:srgbClr val="000000"/>
                          </a:solidFill>
                          <a:latin typeface="맑은 고딕"/>
                          <a:ea typeface="맑은 고딕"/>
                          <a:cs typeface="맑은 고딕"/>
                        </a:rPr>
                        <a:t> </a:t>
                      </a:r>
                      <a:r>
                        <a:rPr lang="ko-KR" altLang="en-US" sz="900" b="0" dirty="0">
                          <a:solidFill>
                            <a:srgbClr val="000000"/>
                          </a:solidFill>
                          <a:latin typeface="맑은 고딕"/>
                          <a:ea typeface="맑은 고딕"/>
                          <a:cs typeface="맑은 고딕"/>
                        </a:rPr>
                        <a:t>늘어나는 만큼 성능</a:t>
                      </a:r>
                      <a:r>
                        <a:rPr lang="en-US" altLang="ko-KR" sz="900" b="0" dirty="0">
                          <a:solidFill>
                            <a:srgbClr val="000000"/>
                          </a:solidFill>
                          <a:latin typeface="맑은 고딕"/>
                          <a:ea typeface="맑은 고딕"/>
                          <a:cs typeface="맑은 고딕"/>
                        </a:rPr>
                        <a:t>(TPS)</a:t>
                      </a:r>
                      <a:r>
                        <a:rPr lang="ko-KR" altLang="en-US" sz="900" b="0" dirty="0">
                          <a:solidFill>
                            <a:srgbClr val="000000"/>
                          </a:solidFill>
                          <a:latin typeface="맑은 고딕"/>
                          <a:ea typeface="맑은 고딕"/>
                          <a:cs typeface="맑은 고딕"/>
                        </a:rPr>
                        <a:t>이 증가해야 </a:t>
                      </a:r>
                      <a:r>
                        <a:rPr sz="900" b="0" dirty="0" err="1">
                          <a:solidFill>
                            <a:srgbClr val="000000"/>
                          </a:solidFill>
                          <a:latin typeface="맑은 고딕"/>
                          <a:ea typeface="맑은 고딕"/>
                          <a:cs typeface="맑은 고딕"/>
                        </a:rPr>
                        <a:t>한다</a:t>
                      </a:r>
                      <a:r>
                        <a:rPr lang="en-US" sz="900" b="0" dirty="0">
                          <a:solidFill>
                            <a:srgbClr val="000000"/>
                          </a:solidFill>
                          <a:latin typeface="맑은 고딕"/>
                          <a:ea typeface="맑은 고딕"/>
                          <a:cs typeface="맑은 고딕"/>
                        </a:rPr>
                        <a:t> (</a:t>
                      </a:r>
                      <a:r>
                        <a:rPr lang="ko-KR" altLang="en-US" sz="900" b="0" dirty="0">
                          <a:solidFill>
                            <a:srgbClr val="000000"/>
                          </a:solidFill>
                          <a:latin typeface="맑은 고딕"/>
                          <a:ea typeface="맑은 고딕"/>
                          <a:cs typeface="맑은 고딕"/>
                        </a:rPr>
                        <a:t>증가할수록 감소폭을 줄여야 한다는 의미로</a:t>
                      </a:r>
                      <a:r>
                        <a:rPr lang="en-US" altLang="ko-KR" sz="900" b="0" dirty="0">
                          <a:solidFill>
                            <a:srgbClr val="000000"/>
                          </a:solidFill>
                          <a:latin typeface="맑은 고딕"/>
                          <a:ea typeface="맑은 고딕"/>
                          <a:cs typeface="맑은 고딕"/>
                        </a:rPr>
                        <a:t>)</a:t>
                      </a:r>
                      <a:endParaRPr sz="900" b="0" dirty="0">
                        <a:solidFill>
                          <a:srgbClr val="000000"/>
                        </a:solidFill>
                        <a:latin typeface="맑은 고딕"/>
                        <a:ea typeface="맑은 고딕"/>
                        <a:cs typeface="맑은 고딕"/>
                      </a:endParaRP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Scaling Efficiency(N=16) ★&gt;80% / ★★&gt;85% / ★★★&gt;90% (</a:t>
                      </a:r>
                      <a:r>
                        <a:rPr sz="900" b="1" dirty="0" err="1">
                          <a:solidFill>
                            <a:srgbClr val="000000"/>
                          </a:solidFill>
                          <a:latin typeface="맑은 고딕"/>
                          <a:ea typeface="맑은 고딕"/>
                          <a:cs typeface="맑은 고딕"/>
                        </a:rPr>
                        <a:t>대규모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병렬</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효율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보고</a:t>
                      </a:r>
                      <a:r>
                        <a:rPr sz="900" b="1" dirty="0">
                          <a:solidFill>
                            <a:srgbClr val="000000"/>
                          </a:solidFill>
                          <a:latin typeface="맑은 고딕"/>
                          <a:ea typeface="맑은 고딕"/>
                          <a:cs typeface="맑은 고딕"/>
                        </a:rPr>
                        <a:t> 80%, </a:t>
                      </a:r>
                      <a:r>
                        <a:rPr sz="900" b="1" dirty="0" err="1">
                          <a:solidFill>
                            <a:srgbClr val="000000"/>
                          </a:solidFill>
                          <a:latin typeface="맑은 고딕"/>
                          <a:ea typeface="맑은 고딕"/>
                          <a:cs typeface="맑은 고딕"/>
                        </a:rPr>
                        <a:t>조율</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직렬</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비중</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환산</a:t>
                      </a:r>
                      <a:r>
                        <a:rPr sz="900" b="1" dirty="0">
                          <a:solidFill>
                            <a:srgbClr val="000000"/>
                          </a:solidFill>
                          <a:latin typeface="맑은 고딕"/>
                          <a:ea typeface="맑은 고딕"/>
                          <a:cs typeface="맑은 고딕"/>
                        </a:rPr>
                        <a:t>)]</a:t>
                      </a:r>
                    </a:p>
                  </a:txBody>
                  <a:tcPr marL="54864" marR="457200" marT="22860" marB="22860"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4</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4029338887"/>
                  </a:ext>
                </a:extLst>
              </a:tr>
              <a:tr h="468000">
                <a:tc>
                  <a:txBody>
                    <a:bodyPr/>
                    <a:lstStyle/>
                    <a:p>
                      <a:r>
                        <a:rPr lang="en-US" sz="900" dirty="0"/>
                        <a:t>QA-05</a:t>
                      </a:r>
                    </a:p>
                  </a:txBody>
                  <a:tcPr anchor="ctr">
                    <a:solidFill>
                      <a:schemeClr val="accent4">
                        <a:lumMod val="20000"/>
                        <a:lumOff val="80000"/>
                      </a:schemeClr>
                    </a:solidFill>
                  </a:tcPr>
                </a:tc>
                <a:tc>
                  <a:txBody>
                    <a:bodyPr/>
                    <a:lstStyle/>
                    <a:p>
                      <a:r>
                        <a:rPr lang="en-US" sz="900" dirty="0"/>
                        <a:t>Functional </a:t>
                      </a:r>
                    </a:p>
                    <a:p>
                      <a:r>
                        <a:rPr lang="en-US" sz="900" dirty="0"/>
                        <a:t>Correctness</a:t>
                      </a:r>
                    </a:p>
                  </a:txBody>
                  <a:tcPr anchor="ctr">
                    <a:solidFill>
                      <a:schemeClr val="accent4">
                        <a:lumMod val="20000"/>
                        <a:lumOff val="80000"/>
                      </a:schemeClr>
                    </a:solidFill>
                  </a:tcPr>
                </a:tc>
                <a:tc>
                  <a:txBody>
                    <a:bodyPr/>
                    <a:lstStyle/>
                    <a:p>
                      <a:r>
                        <a:rPr lang="ko-KR" altLang="en-US" sz="900" dirty="0"/>
                        <a:t>모델 출력 정확도</a:t>
                      </a:r>
                    </a:p>
                  </a:txBody>
                  <a:tcPr anchor="ctr">
                    <a:solidFill>
                      <a:schemeClr val="accent4">
                        <a:lumMod val="20000"/>
                        <a:lumOff val="80000"/>
                      </a:schemeClr>
                    </a:solidFill>
                  </a:tcPr>
                </a:tc>
                <a:tc>
                  <a:txBody>
                    <a:bodyPr/>
                    <a:lstStyle/>
                    <a:p>
                      <a:pPr algn="l">
                        <a:spcAft>
                          <a:spcPts val="100"/>
                        </a:spcAft>
                      </a:pPr>
                      <a:r>
                        <a:rPr sz="900" b="0" dirty="0">
                          <a:solidFill>
                            <a:srgbClr val="000000"/>
                          </a:solidFill>
                          <a:latin typeface="맑은 고딕"/>
                          <a:ea typeface="맑은 고딕"/>
                          <a:cs typeface="맑은 고딕"/>
                        </a:rPr>
                        <a:t>LLM </a:t>
                      </a:r>
                      <a:r>
                        <a:rPr sz="900" b="0" dirty="0" err="1">
                          <a:solidFill>
                            <a:srgbClr val="000000"/>
                          </a:solidFill>
                          <a:latin typeface="맑은 고딕"/>
                          <a:ea typeface="맑은 고딕"/>
                          <a:cs typeface="맑은 고딕"/>
                        </a:rPr>
                        <a:t>모델</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출력의</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정확도는</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보장되어야</a:t>
                      </a:r>
                      <a:r>
                        <a:rPr sz="900" b="0" dirty="0">
                          <a:solidFill>
                            <a:srgbClr val="000000"/>
                          </a:solidFill>
                          <a:latin typeface="맑은 고딕"/>
                          <a:ea typeface="맑은 고딕"/>
                          <a:cs typeface="맑은 고딕"/>
                        </a:rPr>
                        <a:t> </a:t>
                      </a:r>
                      <a:r>
                        <a:rPr sz="900" b="0" dirty="0" err="1">
                          <a:solidFill>
                            <a:srgbClr val="000000"/>
                          </a:solidFill>
                          <a:latin typeface="맑은 고딕"/>
                          <a:ea typeface="맑은 고딕"/>
                          <a:cs typeface="맑은 고딕"/>
                        </a:rPr>
                        <a:t>한다</a:t>
                      </a:r>
                      <a:r>
                        <a:rPr sz="900" b="0" dirty="0">
                          <a:solidFill>
                            <a:srgbClr val="000000"/>
                          </a:solidFill>
                          <a:latin typeface="맑은 고딕"/>
                          <a:ea typeface="맑은 고딕"/>
                          <a:cs typeface="맑은 고딕"/>
                        </a:rPr>
                        <a:t>.</a:t>
                      </a:r>
                    </a:p>
                    <a:p>
                      <a:pPr algn="l">
                        <a:spcAft>
                          <a:spcPts val="100"/>
                        </a:spcAft>
                      </a:pPr>
                      <a:r>
                        <a:rPr sz="900" b="1" dirty="0">
                          <a:solidFill>
                            <a:srgbClr val="000000"/>
                          </a:solidFill>
                          <a:latin typeface="맑은 고딕"/>
                          <a:ea typeface="맑은 고딕"/>
                          <a:cs typeface="맑은 고딕"/>
                        </a:rPr>
                        <a:t>[</a:t>
                      </a:r>
                      <a:r>
                        <a:rPr sz="900" b="1" dirty="0" err="1">
                          <a:solidFill>
                            <a:srgbClr val="000000"/>
                          </a:solidFill>
                          <a:latin typeface="맑은 고딕"/>
                          <a:ea typeface="맑은 고딕"/>
                          <a:cs typeface="맑은 고딕"/>
                        </a:rPr>
                        <a:t>측정</a:t>
                      </a:r>
                      <a:r>
                        <a:rPr sz="900" b="1" dirty="0">
                          <a:solidFill>
                            <a:srgbClr val="000000"/>
                          </a:solidFill>
                          <a:latin typeface="맑은 고딕"/>
                          <a:ea typeface="맑은 고딕"/>
                          <a:cs typeface="맑은 고딕"/>
                        </a:rPr>
                        <a:t>: LLM </a:t>
                      </a:r>
                      <a:r>
                        <a:rPr sz="900" b="1" dirty="0" err="1">
                          <a:solidFill>
                            <a:srgbClr val="000000"/>
                          </a:solidFill>
                          <a:latin typeface="맑은 고딕"/>
                          <a:ea typeface="맑은 고딕"/>
                          <a:cs typeface="맑은 고딕"/>
                        </a:rPr>
                        <a:t>출력</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정확도</a:t>
                      </a:r>
                      <a:r>
                        <a:rPr sz="900" b="1" dirty="0">
                          <a:solidFill>
                            <a:srgbClr val="000000"/>
                          </a:solidFill>
                          <a:latin typeface="맑은 고딕"/>
                          <a:ea typeface="맑은 고딕"/>
                          <a:cs typeface="맑은 고딕"/>
                        </a:rPr>
                        <a:t>(F1) Baseline </a:t>
                      </a:r>
                      <a:r>
                        <a:rPr sz="900" b="1" dirty="0" err="1">
                          <a:solidFill>
                            <a:srgbClr val="000000"/>
                          </a:solidFill>
                          <a:latin typeface="맑은 고딕"/>
                          <a:ea typeface="맑은 고딕"/>
                          <a:cs typeface="맑은 고딕"/>
                        </a:rPr>
                        <a:t>대비</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감소율</a:t>
                      </a:r>
                      <a:r>
                        <a:rPr sz="900" b="1" dirty="0">
                          <a:solidFill>
                            <a:srgbClr val="000000"/>
                          </a:solidFill>
                          <a:latin typeface="맑은 고딕"/>
                          <a:ea typeface="맑은 고딕"/>
                          <a:cs typeface="맑은 고딕"/>
                        </a:rPr>
                        <a:t> ★&lt;3% / ★★&lt;2% / ★★★&lt;1% (</a:t>
                      </a:r>
                      <a:r>
                        <a:rPr sz="900" b="1" dirty="0" err="1">
                          <a:solidFill>
                            <a:srgbClr val="000000"/>
                          </a:solidFill>
                          <a:latin typeface="맑은 고딕"/>
                          <a:ea typeface="맑은 고딕"/>
                          <a:cs typeface="맑은 고딕"/>
                        </a:rPr>
                        <a:t>소유자</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허용</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한도</a:t>
                      </a:r>
                      <a:r>
                        <a:rPr sz="900" b="1" dirty="0">
                          <a:solidFill>
                            <a:srgbClr val="000000"/>
                          </a:solidFill>
                          <a:latin typeface="맑은 고딕"/>
                          <a:ea typeface="맑은 고딕"/>
                          <a:cs typeface="맑은 고딕"/>
                        </a:rPr>
                        <a:t> 1%, KV </a:t>
                      </a:r>
                      <a:r>
                        <a:rPr sz="900" b="1" dirty="0" err="1">
                          <a:solidFill>
                            <a:srgbClr val="000000"/>
                          </a:solidFill>
                          <a:latin typeface="맑은 고딕"/>
                          <a:ea typeface="맑은 고딕"/>
                          <a:cs typeface="맑은 고딕"/>
                        </a:rPr>
                        <a:t>압축</a:t>
                      </a:r>
                      <a:r>
                        <a:rPr sz="900" b="1" dirty="0">
                          <a:solidFill>
                            <a:srgbClr val="000000"/>
                          </a:solidFill>
                          <a:latin typeface="맑은 고딕"/>
                          <a:ea typeface="맑은 고딕"/>
                          <a:cs typeface="맑은 고딕"/>
                        </a:rPr>
                        <a:t> </a:t>
                      </a:r>
                      <a:r>
                        <a:rPr sz="900" b="1" dirty="0" err="1">
                          <a:solidFill>
                            <a:srgbClr val="000000"/>
                          </a:solidFill>
                          <a:latin typeface="맑은 고딕"/>
                          <a:ea typeface="맑은 고딕"/>
                          <a:cs typeface="맑은 고딕"/>
                        </a:rPr>
                        <a:t>문헌</a:t>
                      </a:r>
                      <a:r>
                        <a:rPr sz="900" b="1" dirty="0">
                          <a:solidFill>
                            <a:srgbClr val="000000"/>
                          </a:solidFill>
                          <a:latin typeface="맑은 고딕"/>
                          <a:ea typeface="맑은 고딕"/>
                          <a:cs typeface="맑은 고딕"/>
                        </a:rPr>
                        <a:t>)]</a:t>
                      </a:r>
                    </a:p>
                  </a:txBody>
                  <a:tcPr marL="54864" marR="457200" marT="22860" marB="22860"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5</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770318207"/>
                  </a:ext>
                </a:extLst>
              </a:tr>
              <a:tr h="468000">
                <a:tc>
                  <a:txBody>
                    <a:bodyPr/>
                    <a:lstStyle/>
                    <a:p>
                      <a:r>
                        <a:rPr lang="en-US" sz="900" dirty="0"/>
                        <a:t>QA-06</a:t>
                      </a:r>
                    </a:p>
                  </a:txBody>
                  <a:tcPr anchor="ctr">
                    <a:solidFill>
                      <a:schemeClr val="bg1"/>
                    </a:solidFill>
                  </a:tcPr>
                </a:tc>
                <a:tc>
                  <a:txBody>
                    <a:bodyPr/>
                    <a:lstStyle/>
                    <a:p>
                      <a:r>
                        <a:rPr lang="en-US" sz="900" dirty="0"/>
                        <a:t>Co-existence</a:t>
                      </a:r>
                    </a:p>
                  </a:txBody>
                  <a:tcPr anchor="ctr">
                    <a:solidFill>
                      <a:schemeClr val="bg1"/>
                    </a:solidFill>
                  </a:tcPr>
                </a:tc>
                <a:tc>
                  <a:txBody>
                    <a:bodyPr/>
                    <a:lstStyle/>
                    <a:p>
                      <a:r>
                        <a:rPr lang="ko-KR" altLang="en-US" sz="900" dirty="0"/>
                        <a:t>이동 트래픽 공존</a:t>
                      </a:r>
                    </a:p>
                  </a:txBody>
                  <a:tcPr anchor="ctr">
                    <a:solidFill>
                      <a:schemeClr val="bg1"/>
                    </a:solidFill>
                  </a:tcPr>
                </a:tc>
                <a:tc>
                  <a:txBody>
                    <a:bodyPr/>
                    <a:lstStyle/>
                    <a:p>
                      <a:r>
                        <a:rPr lang="ko-KR" altLang="en-US" sz="900" b="0" dirty="0"/>
                        <a:t>데이터 이동</a:t>
                      </a:r>
                      <a:r>
                        <a:rPr lang="en-US" altLang="ko-KR" sz="900" b="0" dirty="0"/>
                        <a:t>·</a:t>
                      </a:r>
                      <a:r>
                        <a:rPr lang="ko-KR" altLang="en-US" sz="900" b="0" dirty="0"/>
                        <a:t>복원 트래픽과 서빙 요청이 같은 자원을 동시에 쓰는 상황에서도 서빙 성능이 유지되어야 한다</a:t>
                      </a:r>
                      <a:r>
                        <a:rPr lang="en-US" altLang="ko-KR" sz="900" b="0" dirty="0"/>
                        <a:t>.</a:t>
                      </a:r>
                      <a:br>
                        <a:rPr lang="en-US" altLang="ko-KR" sz="900" b="0" dirty="0"/>
                      </a:br>
                      <a:r>
                        <a:rPr lang="en-US" altLang="ko-KR" sz="900" b="0" dirty="0"/>
                        <a:t>[</a:t>
                      </a:r>
                      <a:r>
                        <a:rPr lang="ko-KR" altLang="en-US" sz="900" b="0" dirty="0"/>
                        <a:t>측정</a:t>
                      </a:r>
                      <a:r>
                        <a:rPr lang="en-US" altLang="ko-KR" sz="900" b="0" dirty="0"/>
                        <a:t>: </a:t>
                      </a:r>
                      <a:r>
                        <a:rPr lang="ko-KR" altLang="en-US" sz="900" b="0" dirty="0"/>
                        <a:t>서빙 </a:t>
                      </a:r>
                      <a:r>
                        <a:rPr lang="en-US" altLang="ko-KR" sz="900" b="0" dirty="0"/>
                        <a:t>TTFT·TPOT </a:t>
                      </a:r>
                      <a:r>
                        <a:rPr lang="ko-KR" altLang="en-US" sz="900" b="0" dirty="0"/>
                        <a:t>증가율 </a:t>
                      </a:r>
                      <a:r>
                        <a:rPr lang="en-US" altLang="ko-KR" sz="900" b="0" dirty="0"/>
                        <a:t>&lt; 10% ]</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H</a:t>
                      </a:r>
                    </a:p>
                  </a:txBody>
                  <a:tcPr anchor="ctr">
                    <a:solidFill>
                      <a:schemeClr val="bg1"/>
                    </a:solidFill>
                  </a:tcPr>
                </a:tc>
                <a:tc>
                  <a:txBody>
                    <a:bodyPr/>
                    <a:lstStyle/>
                    <a:p>
                      <a:r>
                        <a:rPr lang="en-US" altLang="ko-KR" sz="900" dirty="0"/>
                        <a:t>6</a:t>
                      </a:r>
                      <a:endParaRPr lang="ko-KR" altLang="en-US" sz="900" dirty="0"/>
                    </a:p>
                  </a:txBody>
                  <a:tcPr anchor="ctr">
                    <a:solidFill>
                      <a:schemeClr val="bg1"/>
                    </a:solidFill>
                  </a:tcPr>
                </a:tc>
                <a:extLst>
                  <a:ext uri="{0D108BD9-81ED-4DB2-BD59-A6C34878D82A}">
                    <a16:rowId xmlns:a16="http://schemas.microsoft.com/office/drawing/2014/main" val="3657058577"/>
                  </a:ext>
                </a:extLst>
              </a:tr>
              <a:tr h="468000">
                <a:tc>
                  <a:txBody>
                    <a:bodyPr/>
                    <a:lstStyle/>
                    <a:p>
                      <a:r>
                        <a:rPr lang="en-US" sz="900" dirty="0"/>
                        <a:t>QA-07</a:t>
                      </a:r>
                    </a:p>
                  </a:txBody>
                  <a:tcPr anchor="ctr">
                    <a:solidFill>
                      <a:schemeClr val="bg1"/>
                    </a:solidFill>
                  </a:tcPr>
                </a:tc>
                <a:tc>
                  <a:txBody>
                    <a:bodyPr/>
                    <a:lstStyle/>
                    <a:p>
                      <a:r>
                        <a:rPr lang="en-US" sz="900" dirty="0"/>
                        <a:t>Fault tolerance</a:t>
                      </a:r>
                    </a:p>
                  </a:txBody>
                  <a:tcPr anchor="ctr">
                    <a:solidFill>
                      <a:schemeClr val="bg1"/>
                    </a:solidFill>
                  </a:tcPr>
                </a:tc>
                <a:tc>
                  <a:txBody>
                    <a:bodyPr/>
                    <a:lstStyle/>
                    <a:p>
                      <a:r>
                        <a:rPr lang="ko-KR" altLang="en-US" sz="900" dirty="0"/>
                        <a:t>전송</a:t>
                      </a:r>
                      <a:r>
                        <a:rPr lang="en-US" altLang="ko-KR" sz="900" dirty="0"/>
                        <a:t>·offload </a:t>
                      </a:r>
                      <a:r>
                        <a:rPr lang="ko-KR" altLang="en-US" sz="900" dirty="0"/>
                        <a:t>실패 대체</a:t>
                      </a:r>
                    </a:p>
                  </a:txBody>
                  <a:tcPr anchor="ctr">
                    <a:solidFill>
                      <a:schemeClr val="bg1"/>
                    </a:solidFill>
                  </a:tcPr>
                </a:tc>
                <a:tc>
                  <a:txBody>
                    <a:bodyPr/>
                    <a:lstStyle/>
                    <a:p>
                      <a:r>
                        <a:rPr lang="en-US" altLang="ko-KR" sz="900" b="0" dirty="0"/>
                        <a:t>KV </a:t>
                      </a:r>
                      <a:r>
                        <a:rPr lang="ko-KR" altLang="en-US" sz="900" b="0" dirty="0"/>
                        <a:t>전송이나 </a:t>
                      </a:r>
                      <a:r>
                        <a:rPr lang="en-US" altLang="ko-KR" sz="900" b="0" dirty="0"/>
                        <a:t>offload</a:t>
                      </a:r>
                      <a:r>
                        <a:rPr lang="ko-KR" altLang="en-US" sz="900" b="0" dirty="0"/>
                        <a:t>가 실패하거나 시간 초과해도 재계산 등 대체 경로로 요청 처리를 이어가야 한다</a:t>
                      </a:r>
                      <a:r>
                        <a:rPr lang="en-US" altLang="ko-KR" sz="900" b="0" dirty="0"/>
                        <a:t>.</a:t>
                      </a:r>
                      <a:br>
                        <a:rPr lang="en-US" altLang="ko-KR" sz="900" b="0" dirty="0"/>
                      </a:br>
                      <a:r>
                        <a:rPr lang="en-US" altLang="ko-KR" sz="900" b="0" dirty="0"/>
                        <a:t>[</a:t>
                      </a:r>
                      <a:r>
                        <a:rPr lang="ko-KR" altLang="en-US" sz="900" b="0" dirty="0"/>
                        <a:t>측정</a:t>
                      </a:r>
                      <a:r>
                        <a:rPr lang="en-US" altLang="ko-KR" sz="900" b="0" dirty="0"/>
                        <a:t>: fallback </a:t>
                      </a:r>
                      <a:r>
                        <a:rPr lang="ko-KR" altLang="en-US" sz="900" b="0" dirty="0"/>
                        <a:t>성공률 </a:t>
                      </a:r>
                      <a:r>
                        <a:rPr lang="en-US" altLang="ko-KR" sz="900" b="0" dirty="0"/>
                        <a:t>&gt; 99.9 ]</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altLang="ko-KR" sz="900" dirty="0"/>
                        <a:t>7</a:t>
                      </a:r>
                      <a:endParaRPr lang="ko-KR" altLang="en-US" sz="900" dirty="0"/>
                    </a:p>
                  </a:txBody>
                  <a:tcPr anchor="ctr">
                    <a:solidFill>
                      <a:schemeClr val="bg1"/>
                    </a:solidFill>
                  </a:tcPr>
                </a:tc>
                <a:extLst>
                  <a:ext uri="{0D108BD9-81ED-4DB2-BD59-A6C34878D82A}">
                    <a16:rowId xmlns:a16="http://schemas.microsoft.com/office/drawing/2014/main" val="3774210047"/>
                  </a:ext>
                </a:extLst>
              </a:tr>
              <a:tr h="468000">
                <a:tc>
                  <a:txBody>
                    <a:bodyPr/>
                    <a:lstStyle/>
                    <a:p>
                      <a:r>
                        <a:rPr lang="en-US" sz="900" dirty="0"/>
                        <a:t>QA-08</a:t>
                      </a:r>
                    </a:p>
                  </a:txBody>
                  <a:tcPr anchor="ctr">
                    <a:solidFill>
                      <a:schemeClr val="bg1"/>
                    </a:solidFill>
                  </a:tcPr>
                </a:tc>
                <a:tc>
                  <a:txBody>
                    <a:bodyPr/>
                    <a:lstStyle/>
                    <a:p>
                      <a:r>
                        <a:rPr lang="en-US" sz="900" dirty="0"/>
                        <a:t>Adaptability</a:t>
                      </a:r>
                    </a:p>
                  </a:txBody>
                  <a:tcPr anchor="ctr">
                    <a:solidFill>
                      <a:schemeClr val="bg1"/>
                    </a:solidFill>
                  </a:tcPr>
                </a:tc>
                <a:tc>
                  <a:txBody>
                    <a:bodyPr/>
                    <a:lstStyle/>
                    <a:p>
                      <a:r>
                        <a:rPr lang="ko-KR" altLang="en-US" sz="900" dirty="0"/>
                        <a:t>워크로드 변화 적응</a:t>
                      </a:r>
                    </a:p>
                  </a:txBody>
                  <a:tcPr anchor="ctr">
                    <a:solidFill>
                      <a:schemeClr val="bg1"/>
                    </a:solidFill>
                  </a:tcPr>
                </a:tc>
                <a:tc>
                  <a:txBody>
                    <a:bodyPr/>
                    <a:lstStyle/>
                    <a:p>
                      <a:r>
                        <a:rPr lang="ko-KR" altLang="en-US" sz="900" b="0" dirty="0"/>
                        <a:t>입력 분포나 접근 패턴이 바뀌어도 접근 통계를 반영해 배치를 다시 맞추고 성능을 회복해야 한다</a:t>
                      </a:r>
                      <a:r>
                        <a:rPr lang="en-US" altLang="ko-KR" sz="900" b="0" dirty="0"/>
                        <a:t>.</a:t>
                      </a:r>
                      <a:br>
                        <a:rPr lang="en-US" altLang="ko-KR" sz="900" b="0" dirty="0"/>
                      </a:br>
                      <a:r>
                        <a:rPr lang="en-US" altLang="ko-KR" sz="900" b="0" dirty="0">
                          <a:solidFill>
                            <a:srgbClr val="000000"/>
                          </a:solidFill>
                          <a:latin typeface="+mn-lt"/>
                        </a:rPr>
                        <a:t>[</a:t>
                      </a:r>
                      <a:r>
                        <a:rPr lang="ko-KR" altLang="en-US" sz="900" b="0" dirty="0">
                          <a:solidFill>
                            <a:srgbClr val="000000"/>
                          </a:solidFill>
                          <a:latin typeface="+mn-lt"/>
                        </a:rPr>
                        <a:t>측정</a:t>
                      </a:r>
                      <a:r>
                        <a:rPr lang="en-US" altLang="ko-KR" sz="900" b="0" dirty="0">
                          <a:solidFill>
                            <a:srgbClr val="000000"/>
                          </a:solidFill>
                          <a:latin typeface="+mn-lt"/>
                        </a:rPr>
                        <a:t>: </a:t>
                      </a:r>
                      <a:r>
                        <a:rPr lang="ko-KR" altLang="en-US" sz="900" b="0" dirty="0">
                          <a:solidFill>
                            <a:srgbClr val="000000"/>
                          </a:solidFill>
                          <a:latin typeface="+mn-lt"/>
                        </a:rPr>
                        <a:t>원인 파악 시간 </a:t>
                      </a:r>
                      <a:r>
                        <a:rPr lang="en-US" altLang="ko-KR" sz="900" b="0" dirty="0">
                          <a:solidFill>
                            <a:srgbClr val="000000"/>
                          </a:solidFill>
                          <a:latin typeface="+mn-lt"/>
                        </a:rPr>
                        <a:t>&lt; 1 </a:t>
                      </a:r>
                      <a:r>
                        <a:rPr lang="ko-KR" altLang="en-US" sz="900" b="0" dirty="0">
                          <a:solidFill>
                            <a:srgbClr val="000000"/>
                          </a:solidFill>
                          <a:latin typeface="+mn-lt"/>
                        </a:rPr>
                        <a:t>시간 </a:t>
                      </a:r>
                      <a:r>
                        <a:rPr lang="en-US" altLang="ko-KR" sz="900" b="0" dirty="0">
                          <a:solidFill>
                            <a:srgbClr val="000000"/>
                          </a:solidFill>
                          <a:latin typeface="+mn-lt"/>
                        </a:rPr>
                        <a:t>(</a:t>
                      </a:r>
                      <a:r>
                        <a:rPr lang="ko-KR" altLang="en-US" sz="900" b="0" dirty="0">
                          <a:solidFill>
                            <a:srgbClr val="000000"/>
                          </a:solidFill>
                          <a:latin typeface="+mn-lt"/>
                        </a:rPr>
                        <a:t>개발자 </a:t>
                      </a:r>
                      <a:r>
                        <a:rPr lang="en-US" altLang="ko-KR" sz="900" b="0" dirty="0">
                          <a:solidFill>
                            <a:srgbClr val="000000"/>
                          </a:solidFill>
                          <a:latin typeface="+mn-lt"/>
                        </a:rPr>
                        <a:t>1</a:t>
                      </a:r>
                      <a:r>
                        <a:rPr lang="ko-KR" altLang="en-US" sz="900" b="0" dirty="0">
                          <a:solidFill>
                            <a:srgbClr val="000000"/>
                          </a:solidFill>
                          <a:latin typeface="+mn-lt"/>
                        </a:rPr>
                        <a:t>인</a:t>
                      </a:r>
                      <a:r>
                        <a:rPr lang="en-US" altLang="ko-KR" sz="900" b="0" dirty="0">
                          <a:solidFill>
                            <a:srgbClr val="000000"/>
                          </a:solidFill>
                          <a:latin typeface="+mn-lt"/>
                        </a:rPr>
                        <a:t>, </a:t>
                      </a:r>
                      <a:r>
                        <a:rPr lang="ko-KR" altLang="en-US" sz="900" b="0" dirty="0">
                          <a:solidFill>
                            <a:srgbClr val="000000"/>
                          </a:solidFill>
                          <a:latin typeface="+mn-lt"/>
                        </a:rPr>
                        <a:t>결정 </a:t>
                      </a:r>
                      <a:r>
                        <a:rPr lang="en-US" altLang="ko-KR" sz="900" b="0" dirty="0">
                          <a:solidFill>
                            <a:srgbClr val="000000"/>
                          </a:solidFill>
                          <a:latin typeface="+mn-lt"/>
                        </a:rPr>
                        <a:t>1</a:t>
                      </a:r>
                      <a:r>
                        <a:rPr lang="ko-KR" altLang="en-US" sz="900" b="0" dirty="0">
                          <a:solidFill>
                            <a:srgbClr val="000000"/>
                          </a:solidFill>
                          <a:latin typeface="+mn-lt"/>
                        </a:rPr>
                        <a:t>건 기준</a:t>
                      </a:r>
                      <a:r>
                        <a:rPr lang="en-US" altLang="ko-KR" sz="900" b="0" dirty="0">
                          <a:solidFill>
                            <a:srgbClr val="000000"/>
                          </a:solidFill>
                          <a:latin typeface="+mn-lt"/>
                        </a:rPr>
                        <a:t>) ]</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altLang="ko-KR" sz="900" dirty="0"/>
                        <a:t>8</a:t>
                      </a:r>
                      <a:endParaRPr lang="ko-KR" altLang="en-US" sz="900" dirty="0"/>
                    </a:p>
                  </a:txBody>
                  <a:tcPr anchor="ctr">
                    <a:solidFill>
                      <a:schemeClr val="bg1"/>
                    </a:solidFill>
                  </a:tcPr>
                </a:tc>
                <a:extLst>
                  <a:ext uri="{0D108BD9-81ED-4DB2-BD59-A6C34878D82A}">
                    <a16:rowId xmlns:a16="http://schemas.microsoft.com/office/drawing/2014/main" val="2197771220"/>
                  </a:ext>
                </a:extLst>
              </a:tr>
              <a:tr h="468000">
                <a:tc>
                  <a:txBody>
                    <a:bodyPr/>
                    <a:lstStyle/>
                    <a:p>
                      <a:r>
                        <a:rPr lang="en-US" sz="900" dirty="0"/>
                        <a:t>QA-09</a:t>
                      </a:r>
                    </a:p>
                  </a:txBody>
                  <a:tcPr anchor="ctr">
                    <a:solidFill>
                      <a:schemeClr val="bg1"/>
                    </a:solidFill>
                  </a:tcPr>
                </a:tc>
                <a:tc>
                  <a:txBody>
                    <a:bodyPr/>
                    <a:lstStyle/>
                    <a:p>
                      <a:r>
                        <a:rPr lang="en-US" sz="900"/>
                        <a:t>Interoperability</a:t>
                      </a:r>
                    </a:p>
                  </a:txBody>
                  <a:tcPr anchor="ctr">
                    <a:solidFill>
                      <a:schemeClr val="bg1"/>
                    </a:solidFill>
                  </a:tcPr>
                </a:tc>
                <a:tc>
                  <a:txBody>
                    <a:bodyPr/>
                    <a:lstStyle/>
                    <a:p>
                      <a:r>
                        <a:rPr lang="ko-KR" altLang="en-US" sz="900"/>
                        <a:t>외부 구성요소 연동</a:t>
                      </a:r>
                    </a:p>
                  </a:txBody>
                  <a:tcPr anchor="ctr">
                    <a:solidFill>
                      <a:schemeClr val="bg1"/>
                    </a:solidFill>
                  </a:tcPr>
                </a:tc>
                <a:tc>
                  <a:txBody>
                    <a:bodyPr/>
                    <a:lstStyle/>
                    <a:p>
                      <a:r>
                        <a:rPr lang="en-US" altLang="ko-KR" sz="900" b="0" dirty="0" err="1"/>
                        <a:t>vLLM</a:t>
                      </a:r>
                      <a:r>
                        <a:rPr lang="en-US" altLang="ko-KR" sz="900" b="0" dirty="0"/>
                        <a:t>, </a:t>
                      </a:r>
                      <a:r>
                        <a:rPr lang="en-US" altLang="ko-KR" sz="900" b="0" dirty="0" err="1"/>
                        <a:t>llm</a:t>
                      </a:r>
                      <a:r>
                        <a:rPr lang="en-US" altLang="ko-KR" sz="900" b="0" dirty="0"/>
                        <a:t>-d</a:t>
                      </a:r>
                      <a:r>
                        <a:rPr lang="en-US" altLang="ko-KR" sz="900" b="0" baseline="0" dirty="0"/>
                        <a:t> </a:t>
                      </a:r>
                      <a:r>
                        <a:rPr lang="ko-KR" altLang="en-US" sz="900" b="0" dirty="0"/>
                        <a:t>같은 외부 구성요소와 연동할 때 해당 구성요소의 소스를 수정하지 않아야 한다</a:t>
                      </a:r>
                      <a:r>
                        <a:rPr lang="en-US" altLang="ko-KR" sz="900" b="0" dirty="0"/>
                        <a:t>.</a:t>
                      </a:r>
                      <a:br>
                        <a:rPr lang="en-US" altLang="ko-KR" sz="900" b="0" dirty="0"/>
                      </a:br>
                      <a:r>
                        <a:rPr lang="en-US" altLang="ko-KR" sz="900" b="0" dirty="0"/>
                        <a:t>[</a:t>
                      </a:r>
                      <a:r>
                        <a:rPr lang="ko-KR" altLang="en-US" sz="900" b="0" dirty="0"/>
                        <a:t>측정</a:t>
                      </a:r>
                      <a:r>
                        <a:rPr lang="en-US" altLang="ko-KR" sz="900" b="0" dirty="0"/>
                        <a:t>: </a:t>
                      </a:r>
                      <a:r>
                        <a:rPr lang="ko-KR" altLang="en-US" sz="900" b="0" dirty="0"/>
                        <a:t>무수정 연동 인터페이스 수 </a:t>
                      </a:r>
                      <a:r>
                        <a:rPr lang="en-US" altLang="ko-KR" sz="900" b="0" dirty="0"/>
                        <a:t>&gt; 3 </a:t>
                      </a:r>
                      <a:r>
                        <a:rPr lang="ko-KR" altLang="en-US" sz="900" b="0" dirty="0"/>
                        <a:t>개 </a:t>
                      </a:r>
                      <a:r>
                        <a:rPr lang="en-US" altLang="ko-KR" sz="900" b="0" dirty="0"/>
                        <a:t>]</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a:t>L</a:t>
                      </a:r>
                    </a:p>
                  </a:txBody>
                  <a:tcPr anchor="ctr">
                    <a:solidFill>
                      <a:schemeClr val="bg1"/>
                    </a:solidFill>
                  </a:tcPr>
                </a:tc>
                <a:tc>
                  <a:txBody>
                    <a:bodyPr/>
                    <a:lstStyle/>
                    <a:p>
                      <a:r>
                        <a:rPr lang="en-US" altLang="ko-KR" sz="900" dirty="0"/>
                        <a:t>9</a:t>
                      </a:r>
                      <a:endParaRPr lang="ko-KR" altLang="en-US" sz="900" dirty="0"/>
                    </a:p>
                  </a:txBody>
                  <a:tcPr anchor="ctr">
                    <a:solidFill>
                      <a:schemeClr val="bg1"/>
                    </a:solidFill>
                  </a:tcPr>
                </a:tc>
                <a:extLst>
                  <a:ext uri="{0D108BD9-81ED-4DB2-BD59-A6C34878D82A}">
                    <a16:rowId xmlns:a16="http://schemas.microsoft.com/office/drawing/2014/main" val="116595625"/>
                  </a:ext>
                </a:extLst>
              </a:tr>
              <a:tr h="468000">
                <a:tc>
                  <a:txBody>
                    <a:bodyPr/>
                    <a:lstStyle/>
                    <a:p>
                      <a:r>
                        <a:rPr lang="en-US" sz="900" dirty="0"/>
                        <a:t>QA-10</a:t>
                      </a:r>
                    </a:p>
                  </a:txBody>
                  <a:tcPr anchor="ctr">
                    <a:solidFill>
                      <a:schemeClr val="bg1"/>
                    </a:solidFill>
                  </a:tcPr>
                </a:tc>
                <a:tc>
                  <a:txBody>
                    <a:bodyPr/>
                    <a:lstStyle/>
                    <a:p>
                      <a:r>
                        <a:rPr lang="en-US" sz="900"/>
                        <a:t>Analysability</a:t>
                      </a:r>
                    </a:p>
                  </a:txBody>
                  <a:tcPr anchor="ctr">
                    <a:solidFill>
                      <a:schemeClr val="bg1"/>
                    </a:solidFill>
                  </a:tcPr>
                </a:tc>
                <a:tc>
                  <a:txBody>
                    <a:bodyPr/>
                    <a:lstStyle/>
                    <a:p>
                      <a:r>
                        <a:rPr lang="ko-KR" altLang="en-US" sz="900" dirty="0"/>
                        <a:t>결정 근거 진단</a:t>
                      </a:r>
                    </a:p>
                  </a:txBody>
                  <a:tcPr anchor="ctr">
                    <a:solidFill>
                      <a:schemeClr val="bg1"/>
                    </a:solidFill>
                  </a:tcPr>
                </a:tc>
                <a:tc>
                  <a:txBody>
                    <a:bodyPr/>
                    <a:lstStyle/>
                    <a:p>
                      <a:r>
                        <a:rPr lang="ko-KR" altLang="en-US" sz="900" b="0" dirty="0"/>
                        <a:t>이동</a:t>
                      </a:r>
                      <a:r>
                        <a:rPr lang="en-US" altLang="ko-KR" sz="900" b="0" dirty="0"/>
                        <a:t>·</a:t>
                      </a:r>
                      <a:r>
                        <a:rPr lang="ko-KR" altLang="en-US" sz="900" b="0" dirty="0"/>
                        <a:t>배치</a:t>
                      </a:r>
                      <a:r>
                        <a:rPr lang="en-US" altLang="ko-KR" sz="900" b="0" dirty="0"/>
                        <a:t>·</a:t>
                      </a:r>
                      <a:r>
                        <a:rPr lang="ko-KR" altLang="en-US" sz="900" b="0" dirty="0"/>
                        <a:t>라우팅 결정이 기대와 다를 때 결정 입력과 근거 기록으로 원인을 찾을 수 있어야 한다</a:t>
                      </a:r>
                      <a:r>
                        <a:rPr lang="en-US" altLang="ko-KR" sz="900" b="0" dirty="0"/>
                        <a:t>.</a:t>
                      </a:r>
                      <a:br>
                        <a:rPr lang="en-US" altLang="ko-KR" sz="900" b="0" dirty="0"/>
                      </a:br>
                      <a:r>
                        <a:rPr lang="en-US" altLang="ko-KR" sz="900" b="0" dirty="0">
                          <a:solidFill>
                            <a:srgbClr val="000000"/>
                          </a:solidFill>
                          <a:latin typeface="+mn-lt"/>
                        </a:rPr>
                        <a:t>[</a:t>
                      </a:r>
                      <a:r>
                        <a:rPr lang="ko-KR" altLang="en-US" sz="900" b="0" dirty="0">
                          <a:solidFill>
                            <a:srgbClr val="000000"/>
                          </a:solidFill>
                          <a:latin typeface="+mn-lt"/>
                        </a:rPr>
                        <a:t>측정</a:t>
                      </a:r>
                      <a:r>
                        <a:rPr lang="en-US" altLang="ko-KR" sz="900" b="0" dirty="0">
                          <a:solidFill>
                            <a:srgbClr val="000000"/>
                          </a:solidFill>
                          <a:latin typeface="+mn-lt"/>
                        </a:rPr>
                        <a:t>: </a:t>
                      </a:r>
                      <a:r>
                        <a:rPr lang="ko-KR" altLang="en-US" sz="900" b="0" dirty="0">
                          <a:solidFill>
                            <a:srgbClr val="000000"/>
                          </a:solidFill>
                          <a:latin typeface="+mn-lt"/>
                        </a:rPr>
                        <a:t>원인 파악 시간 </a:t>
                      </a:r>
                      <a:r>
                        <a:rPr lang="en-US" altLang="ko-KR" sz="900" b="0" dirty="0">
                          <a:solidFill>
                            <a:srgbClr val="000000"/>
                          </a:solidFill>
                          <a:latin typeface="+mn-lt"/>
                        </a:rPr>
                        <a:t>&lt; 1 </a:t>
                      </a:r>
                      <a:r>
                        <a:rPr lang="ko-KR" altLang="en-US" sz="900" b="0" dirty="0">
                          <a:solidFill>
                            <a:srgbClr val="000000"/>
                          </a:solidFill>
                          <a:latin typeface="+mn-lt"/>
                        </a:rPr>
                        <a:t>시간 </a:t>
                      </a:r>
                      <a:r>
                        <a:rPr lang="en-US" altLang="ko-KR" sz="900" b="0" dirty="0">
                          <a:solidFill>
                            <a:srgbClr val="000000"/>
                          </a:solidFill>
                          <a:latin typeface="+mn-lt"/>
                        </a:rPr>
                        <a:t>(</a:t>
                      </a:r>
                      <a:r>
                        <a:rPr lang="ko-KR" altLang="en-US" sz="900" b="0" dirty="0">
                          <a:solidFill>
                            <a:srgbClr val="000000"/>
                          </a:solidFill>
                          <a:latin typeface="+mn-lt"/>
                        </a:rPr>
                        <a:t>개발자 </a:t>
                      </a:r>
                      <a:r>
                        <a:rPr lang="en-US" altLang="ko-KR" sz="900" b="0" dirty="0">
                          <a:solidFill>
                            <a:srgbClr val="000000"/>
                          </a:solidFill>
                          <a:latin typeface="+mn-lt"/>
                        </a:rPr>
                        <a:t>1</a:t>
                      </a:r>
                      <a:r>
                        <a:rPr lang="ko-KR" altLang="en-US" sz="900" b="0" dirty="0">
                          <a:solidFill>
                            <a:srgbClr val="000000"/>
                          </a:solidFill>
                          <a:latin typeface="+mn-lt"/>
                        </a:rPr>
                        <a:t>인</a:t>
                      </a:r>
                      <a:r>
                        <a:rPr lang="en-US" altLang="ko-KR" sz="900" b="0" dirty="0">
                          <a:solidFill>
                            <a:srgbClr val="000000"/>
                          </a:solidFill>
                          <a:latin typeface="+mn-lt"/>
                        </a:rPr>
                        <a:t>, </a:t>
                      </a:r>
                      <a:r>
                        <a:rPr lang="ko-KR" altLang="en-US" sz="900" b="0" dirty="0">
                          <a:solidFill>
                            <a:srgbClr val="000000"/>
                          </a:solidFill>
                          <a:latin typeface="+mn-lt"/>
                        </a:rPr>
                        <a:t>결정 </a:t>
                      </a:r>
                      <a:r>
                        <a:rPr lang="en-US" altLang="ko-KR" sz="900" b="0" dirty="0">
                          <a:solidFill>
                            <a:srgbClr val="000000"/>
                          </a:solidFill>
                          <a:latin typeface="+mn-lt"/>
                        </a:rPr>
                        <a:t>1</a:t>
                      </a:r>
                      <a:r>
                        <a:rPr lang="ko-KR" altLang="en-US" sz="900" b="0" dirty="0">
                          <a:solidFill>
                            <a:srgbClr val="000000"/>
                          </a:solidFill>
                          <a:latin typeface="+mn-lt"/>
                        </a:rPr>
                        <a:t>건 기준</a:t>
                      </a:r>
                      <a:r>
                        <a:rPr lang="en-US" altLang="ko-KR" sz="900" b="0" dirty="0">
                          <a:solidFill>
                            <a:srgbClr val="000000"/>
                          </a:solidFill>
                          <a:latin typeface="+mn-lt"/>
                        </a:rPr>
                        <a:t>) ]</a:t>
                      </a:r>
                      <a:endParaRPr lang="ko-KR" altLang="en-US" sz="900" b="0" dirty="0"/>
                    </a:p>
                  </a:txBody>
                  <a:tcPr anchor="ctr">
                    <a:solidFill>
                      <a:schemeClr val="bg1"/>
                    </a:solidFill>
                  </a:tcPr>
                </a:tc>
                <a:tc>
                  <a:txBody>
                    <a:bodyPr/>
                    <a:lstStyle/>
                    <a:p>
                      <a:r>
                        <a:rPr lang="en-US" sz="900"/>
                        <a:t>L</a:t>
                      </a:r>
                    </a:p>
                  </a:txBody>
                  <a:tcPr anchor="ctr">
                    <a:solidFill>
                      <a:schemeClr val="bg1"/>
                    </a:solidFill>
                  </a:tcPr>
                </a:tc>
                <a:tc>
                  <a:txBody>
                    <a:bodyPr/>
                    <a:lstStyle/>
                    <a:p>
                      <a:r>
                        <a:rPr lang="en-US" sz="900"/>
                        <a:t>M</a:t>
                      </a:r>
                    </a:p>
                  </a:txBody>
                  <a:tcPr anchor="ctr">
                    <a:solidFill>
                      <a:schemeClr val="bg1"/>
                    </a:solidFill>
                  </a:tcPr>
                </a:tc>
                <a:tc>
                  <a:txBody>
                    <a:bodyPr/>
                    <a:lstStyle/>
                    <a:p>
                      <a:r>
                        <a:rPr lang="en-US" altLang="ko-KR" sz="900" dirty="0"/>
                        <a:t>10</a:t>
                      </a:r>
                      <a:endParaRPr lang="ko-KR" altLang="en-US" sz="900" dirty="0"/>
                    </a:p>
                  </a:txBody>
                  <a:tcPr anchor="ctr">
                    <a:solidFill>
                      <a:schemeClr val="bg1"/>
                    </a:solidFill>
                  </a:tcPr>
                </a:tc>
                <a:extLst>
                  <a:ext uri="{0D108BD9-81ED-4DB2-BD59-A6C34878D82A}">
                    <a16:rowId xmlns:a16="http://schemas.microsoft.com/office/drawing/2014/main" val="1365373107"/>
                  </a:ext>
                </a:extLst>
              </a:tr>
            </a:tbl>
          </a:graphicData>
        </a:graphic>
      </p:graphicFrame>
      <p:sp>
        <p:nvSpPr>
          <p:cNvPr id="17" name="실행 단추: 앞으로 또는 다음 1">
            <a:hlinkClick r:id="rId4" action="ppaction://hlinksldjump" highlightClick="1"/>
            <a:extLst>
              <a:ext uri="{FF2B5EF4-FFF2-40B4-BE49-F238E27FC236}">
                <a16:creationId xmlns:a16="http://schemas.microsoft.com/office/drawing/2014/main" id="{B43A4CC6-3683-436B-940F-BD679BB1A116}"/>
              </a:ext>
            </a:extLst>
          </p:cNvPr>
          <p:cNvSpPr/>
          <p:nvPr/>
        </p:nvSpPr>
        <p:spPr>
          <a:xfrm>
            <a:off x="10017369" y="1688123"/>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실행 단추: 앞으로 또는 다음 11">
            <a:hlinkClick r:id="rId5" action="ppaction://hlinksldjump" highlightClick="1"/>
            <a:extLst>
              <a:ext uri="{FF2B5EF4-FFF2-40B4-BE49-F238E27FC236}">
                <a16:creationId xmlns:a16="http://schemas.microsoft.com/office/drawing/2014/main" id="{F548B536-B5E4-4031-B737-6BDAD4553728}"/>
              </a:ext>
            </a:extLst>
          </p:cNvPr>
          <p:cNvSpPr/>
          <p:nvPr/>
        </p:nvSpPr>
        <p:spPr>
          <a:xfrm>
            <a:off x="10017369" y="213167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실행 단추: 앞으로 또는 다음 12">
            <a:hlinkClick r:id="rId6" action="ppaction://hlinksldjump" highlightClick="1"/>
            <a:extLst>
              <a:ext uri="{FF2B5EF4-FFF2-40B4-BE49-F238E27FC236}">
                <a16:creationId xmlns:a16="http://schemas.microsoft.com/office/drawing/2014/main" id="{DE8B2F21-45CF-4255-90CC-A0700C00549B}"/>
              </a:ext>
            </a:extLst>
          </p:cNvPr>
          <p:cNvSpPr/>
          <p:nvPr/>
        </p:nvSpPr>
        <p:spPr>
          <a:xfrm>
            <a:off x="10017369" y="2561197"/>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실행 단추: 앞으로 또는 다음 14">
            <a:hlinkClick r:id="rId7" action="ppaction://hlinksldjump" highlightClick="1"/>
            <a:extLst>
              <a:ext uri="{FF2B5EF4-FFF2-40B4-BE49-F238E27FC236}">
                <a16:creationId xmlns:a16="http://schemas.microsoft.com/office/drawing/2014/main" id="{A8878FE2-EE60-444F-928E-C8E8E200EC0C}"/>
              </a:ext>
            </a:extLst>
          </p:cNvPr>
          <p:cNvSpPr/>
          <p:nvPr/>
        </p:nvSpPr>
        <p:spPr>
          <a:xfrm>
            <a:off x="10017369" y="3085122"/>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실행 단추: 앞으로 또는 다음 3">
            <a:hlinkClick r:id="rId8" action="ppaction://hlinksldjump" highlightClick="1"/>
            <a:extLst>
              <a:ext uri="{FF2B5EF4-FFF2-40B4-BE49-F238E27FC236}">
                <a16:creationId xmlns:a16="http://schemas.microsoft.com/office/drawing/2014/main" id="{D0D1EB79-0F10-4C29-8756-3FFD242915BE}"/>
              </a:ext>
            </a:extLst>
          </p:cNvPr>
          <p:cNvSpPr/>
          <p:nvPr/>
        </p:nvSpPr>
        <p:spPr>
          <a:xfrm>
            <a:off x="1692613" y="1128409"/>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실행 단추: 앞으로 또는 다음 11">
            <a:hlinkClick r:id="rId9" action="ppaction://hlinksldjump" highlightClick="1"/>
            <a:extLst>
              <a:ext uri="{FF2B5EF4-FFF2-40B4-BE49-F238E27FC236}">
                <a16:creationId xmlns:a16="http://schemas.microsoft.com/office/drawing/2014/main" id="{415B962A-1112-4C06-B0E5-47CC46AD8FB4}"/>
              </a:ext>
            </a:extLst>
          </p:cNvPr>
          <p:cNvSpPr/>
          <p:nvPr/>
        </p:nvSpPr>
        <p:spPr>
          <a:xfrm>
            <a:off x="10017369" y="3523708"/>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5" name="모서리가 둥근 직사각형 14"/>
          <p:cNvSpPr/>
          <p:nvPr/>
        </p:nvSpPr>
        <p:spPr>
          <a:xfrm>
            <a:off x="3668746" y="3550253"/>
            <a:ext cx="2958737" cy="1339679"/>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bg1"/>
                </a:solidFill>
              </a:rPr>
              <a:t>+Load </a:t>
            </a:r>
            <a:r>
              <a:rPr lang="en-US" altLang="ko-KR" dirty="0" err="1">
                <a:solidFill>
                  <a:schemeClr val="bg1"/>
                </a:solidFill>
              </a:rPr>
              <a:t>Scalabiltiy</a:t>
            </a:r>
            <a:r>
              <a:rPr lang="en-US" altLang="ko-KR" dirty="0">
                <a:solidFill>
                  <a:schemeClr val="bg1"/>
                </a:solidFill>
              </a:rPr>
              <a:t> </a:t>
            </a:r>
          </a:p>
          <a:p>
            <a:pPr algn="ctr"/>
            <a:r>
              <a:rPr lang="en-US" altLang="ko-KR" dirty="0">
                <a:solidFill>
                  <a:schemeClr val="bg1"/>
                </a:solidFill>
              </a:rPr>
              <a:t>Fault Tolerance??</a:t>
            </a:r>
            <a:endParaRPr lang="ko-KR" altLang="en-US" dirty="0">
              <a:solidFill>
                <a:schemeClr val="bg1"/>
              </a:solidFill>
            </a:endParaRPr>
          </a:p>
        </p:txBody>
      </p:sp>
    </p:spTree>
    <p:extLst>
      <p:ext uri="{BB962C8B-B14F-4D97-AF65-F5344CB8AC3E}">
        <p14:creationId xmlns:p14="http://schemas.microsoft.com/office/powerpoint/2010/main" val="154437358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3589388006"/>
              </p:ext>
            </p:extLst>
          </p:nvPr>
        </p:nvGraphicFramePr>
        <p:xfrm>
          <a:off x="234949" y="1032440"/>
          <a:ext cx="11747501" cy="5394587"/>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a:solidFill>
                            <a:schemeClr val="tx1">
                              <a:lumMod val="50000"/>
                              <a:lumOff val="50000"/>
                            </a:schemeClr>
                          </a:solidFill>
                        </a:rPr>
                        <a:t>설계 안</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중앙 서버 중재 구조 </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락 </a:t>
                      </a:r>
                      <a:r>
                        <a:rPr lang="ko-KR" altLang="en-US" sz="1200" b="1" dirty="0"/>
                        <a:t>기반 직접 접근 </a:t>
                      </a:r>
                      <a:r>
                        <a:rPr lang="en-US" altLang="ko-KR" sz="1200" b="1" dirty="0" err="1"/>
                        <a:t>구조</a:t>
                      </a:r>
                      <a:endParaRPr lang="en-US" altLang="ko-KR"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81992">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a:solidFill>
                            <a:schemeClr val="tx1">
                              <a:lumMod val="50000"/>
                              <a:lumOff val="50000"/>
                            </a:schemeClr>
                          </a:solidFill>
                        </a:rPr>
                        <a:t>장점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메타데이터 수정이 서버 내부에서 끝나 건 당 처리가 짧음 </a:t>
                      </a:r>
                      <a:r>
                        <a:rPr lang="en-US" altLang="ko-KR" sz="1200" dirty="0"/>
                        <a:t>(</a:t>
                      </a:r>
                      <a:r>
                        <a:rPr lang="ko-KR" altLang="en-US" sz="1200" dirty="0" err="1"/>
                        <a:t>락</a:t>
                      </a:r>
                      <a:r>
                        <a:rPr lang="ko-KR" altLang="en-US" sz="1200" dirty="0"/>
                        <a:t> 불필요</a:t>
                      </a:r>
                      <a:r>
                        <a:rPr lang="en-US" altLang="ko-KR" sz="1200" dirty="0"/>
                        <a:t>)</a:t>
                      </a:r>
                      <a:r>
                        <a:rPr lang="ko-KR" altLang="en-US" sz="1200" dirty="0"/>
                        <a:t> </a:t>
                      </a:r>
                      <a:r>
                        <a:rPr lang="en-US" altLang="ko-KR" sz="1200" dirty="0"/>
                        <a:t>(Q1)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대기 중인 요청 수가 슬롯 개수로 묶여 부하가 몰려도 지연 상한 유지 </a:t>
                      </a:r>
                      <a:r>
                        <a:rPr lang="en-US" altLang="ko-KR" sz="1200" dirty="0"/>
                        <a:t>(Q3)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dirty="0"/>
                        <a:t>RPC </a:t>
                      </a:r>
                      <a:r>
                        <a:rPr lang="ko-KR" altLang="en-US" sz="1200" dirty="0"/>
                        <a:t>왕복 </a:t>
                      </a:r>
                      <a:r>
                        <a:rPr lang="en-US" altLang="ko-KR" sz="1200" dirty="0"/>
                        <a:t>1</a:t>
                      </a:r>
                      <a:r>
                        <a:rPr lang="ko-KR" altLang="en-US" sz="1200" dirty="0"/>
                        <a:t>회 제거 → </a:t>
                      </a:r>
                      <a:r>
                        <a:rPr lang="ko-KR" altLang="en-US" sz="1200" dirty="0" err="1"/>
                        <a:t>저경합</a:t>
                      </a:r>
                      <a:r>
                        <a:rPr lang="ko-KR" altLang="en-US" sz="1200" dirty="0"/>
                        <a:t> 구간에서 지연 유리 </a:t>
                      </a:r>
                      <a:r>
                        <a:rPr lang="en-US" altLang="ko-KR" sz="1200" dirty="0"/>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노드별</a:t>
                      </a:r>
                      <a:r>
                        <a:rPr lang="ko-KR" altLang="en-US" sz="1200" dirty="0"/>
                        <a:t> 메타데이터 처리 부하 분산 </a:t>
                      </a:r>
                      <a:r>
                        <a:rPr lang="en-US" altLang="ko-KR" sz="1200" dirty="0"/>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서버의 요청 처리 집중으로 노드 확장 시 성능 병목 가능 </a:t>
                      </a:r>
                      <a:r>
                        <a:rPr lang="en-US" altLang="ko-KR" sz="1200" dirty="0"/>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dirty="0"/>
                        <a:t>수정 시 공유 메모리</a:t>
                      </a:r>
                      <a:r>
                        <a:rPr lang="ko-KR" altLang="en-US" sz="1200" baseline="0" dirty="0"/>
                        <a:t> 풀을 </a:t>
                      </a:r>
                      <a:r>
                        <a:rPr lang="ko-KR" altLang="en-US" sz="1200" dirty="0"/>
                        <a:t>여러 번 왕복해 처리가 </a:t>
                      </a:r>
                      <a:r>
                        <a:rPr lang="ko-KR" altLang="en-US" sz="1200" dirty="0" err="1"/>
                        <a:t>길어짐</a:t>
                      </a:r>
                      <a:r>
                        <a:rPr lang="ko-KR" altLang="en-US" sz="1200" dirty="0"/>
                        <a:t> </a:t>
                      </a:r>
                      <a:r>
                        <a:rPr lang="en-US" altLang="ko-KR" sz="1200" dirty="0"/>
                        <a:t>(Q1)</a:t>
                      </a:r>
                    </a:p>
                    <a:p>
                      <a:pPr marL="228600" indent="-228600" latinLnBrk="1">
                        <a:lnSpc>
                          <a:spcPct val="100000"/>
                        </a:lnSpc>
                        <a:buFont typeface="Wingdings" panose="05000000000000000000" pitchFamily="2" charset="2"/>
                        <a:buChar char="§"/>
                      </a:pPr>
                      <a:r>
                        <a:rPr lang="ko-KR" altLang="en-US" sz="1200" dirty="0"/>
                        <a:t>대기가 누적되고 경합이 늘수록 내려쓰기 비용까지 함께 증가해 지연이 급격히 악화 </a:t>
                      </a:r>
                      <a:r>
                        <a:rPr lang="en-US" altLang="ko-KR" sz="1200" dirty="0"/>
                        <a:t>(Q3)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404823">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Q5.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r>
                        <a:rPr lang="ko-KR" altLang="en-US" sz="1200" b="0" dirty="0">
                          <a:solidFill>
                            <a:schemeClr val="tx1"/>
                          </a:solidFill>
                          <a:latin typeface="맑은 고딕" panose="020B0503020000020004" pitchFamily="50" charset="-127"/>
                          <a:ea typeface="+mn-ea"/>
                        </a:rPr>
                        <a:t>●●◐</a:t>
                      </a:r>
                      <a:endParaRPr lang="en-US" altLang="ko-KR" sz="1200" b="0" dirty="0">
                        <a:solidFill>
                          <a:schemeClr val="tx1"/>
                        </a:solidFill>
                        <a:latin typeface="맑은 고딕" panose="020B0503020000020004" pitchFamily="50" charset="-127"/>
                        <a:ea typeface="+mn-ea"/>
                      </a:endParaRPr>
                    </a:p>
                    <a:p>
                      <a:pPr lvl="0"/>
                      <a:r>
                        <a:rPr lang="ko-KR" altLang="en-US" sz="1200" b="0" dirty="0">
                          <a:solidFill>
                            <a:schemeClr val="tx1"/>
                          </a:solidFill>
                          <a:latin typeface="맑은 고딕" panose="020B0503020000020004" pitchFamily="50" charset="-127"/>
                          <a:ea typeface="+mn-ea"/>
                        </a:rPr>
                        <a:t>●●○</a:t>
                      </a:r>
                      <a:endParaRPr lang="en-US" altLang="ko-KR" sz="1200" b="0" dirty="0">
                        <a:solidFill>
                          <a:schemeClr val="tx1"/>
                        </a:solidFill>
                        <a:latin typeface="맑은 고딕" panose="020B0503020000020004" pitchFamily="50" charset="-127"/>
                        <a:ea typeface="+mn-ea"/>
                      </a:endParaRPr>
                    </a:p>
                    <a:p>
                      <a:pPr lvl="0"/>
                      <a:r>
                        <a:rPr lang="ko-KR" altLang="en-US" sz="1200" b="0" dirty="0">
                          <a:solidFill>
                            <a:schemeClr val="tx1"/>
                          </a:solidFill>
                          <a:latin typeface="맑은 고딕" panose="020B0503020000020004" pitchFamily="50" charset="-127"/>
                          <a:ea typeface="+mn-ea"/>
                        </a:rPr>
                        <a:t>●●○</a:t>
                      </a:r>
                      <a:endParaRPr lang="en-US" altLang="ko-KR" sz="1200" b="0"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Q5.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a:t>
                      </a:r>
                      <a:endParaRPr lang="ko-KR" altLang="en-US" sz="1200" strike="noStrike" dirty="0">
                        <a:solidFill>
                          <a:srgbClr val="0066FF"/>
                        </a:solidFill>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a:t>
                      </a:r>
                      <a:endParaRPr lang="ko-KR" altLang="en-US" sz="1200" strike="noStrike" dirty="0">
                        <a:solidFill>
                          <a:srgbClr val="0066FF"/>
                        </a:solidFill>
                      </a:endParaRPr>
                    </a:p>
                    <a:p>
                      <a:pPr lvl="0"/>
                      <a:r>
                        <a:rPr lang="ko-KR" altLang="en-US" sz="1200" b="0" dirty="0">
                          <a:solidFill>
                            <a:schemeClr val="tx1"/>
                          </a:solidFill>
                          <a:latin typeface="맑은 고딕" panose="020B0503020000020004" pitchFamily="50" charset="-127"/>
                          <a:ea typeface="+mn-ea"/>
                        </a:rPr>
                        <a:t>●●●</a:t>
                      </a:r>
                      <a:endParaRPr lang="en-US" altLang="ko-KR" sz="1200" b="0"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029256"/>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029256"/>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lang="ko-KR" altLang="en-US" sz="700" b="1" dirty="0">
                <a:solidFill>
                  <a:srgbClr val="FFFFFF"/>
                </a:solidFill>
                <a:ea typeface="맑은 고딕"/>
              </a:rPr>
              <a:t>공유 메모리 풀</a:t>
            </a:r>
          </a:p>
        </p:txBody>
      </p:sp>
      <p:sp>
        <p:nvSpPr>
          <p:cNvPr id="184" name="Rectangle 183"/>
          <p:cNvSpPr/>
          <p:nvPr/>
        </p:nvSpPr>
        <p:spPr>
          <a:xfrm>
            <a:off x="8361103" y="2349296"/>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85" name="Rectangle 184"/>
          <p:cNvSpPr/>
          <p:nvPr/>
        </p:nvSpPr>
        <p:spPr>
          <a:xfrm>
            <a:off x="8361103" y="2733344"/>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195993"/>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3" name="제목 2"/>
          <p:cNvSpPr>
            <a:spLocks noGrp="1"/>
          </p:cNvSpPr>
          <p:nvPr>
            <p:ph type="title"/>
          </p:nvPr>
        </p:nvSpPr>
        <p:spPr/>
        <p:txBody>
          <a:bodyPr/>
          <a:lstStyle/>
          <a:p>
            <a:r>
              <a:rPr lang="en-US" altLang="ko-KR" dirty="0"/>
              <a:t>DP4. </a:t>
            </a:r>
            <a:r>
              <a:rPr lang="en-US" altLang="ko-KR" dirty="0" err="1"/>
              <a:t>서버</a:t>
            </a:r>
            <a:r>
              <a:rPr lang="en-US" altLang="ko-KR" dirty="0"/>
              <a:t> 간 KV </a:t>
            </a:r>
            <a:r>
              <a:rPr lang="ko-KR" altLang="en-US" dirty="0"/>
              <a:t>캐시 </a:t>
            </a:r>
            <a:r>
              <a:rPr lang="en-US" altLang="ko-KR" dirty="0" err="1"/>
              <a:t>공유</a:t>
            </a:r>
            <a:r>
              <a:rPr lang="en-US" altLang="ko-KR" dirty="0"/>
              <a:t> </a:t>
            </a:r>
            <a:r>
              <a:rPr lang="en-US" altLang="ko-KR" dirty="0" err="1"/>
              <a:t>구조</a:t>
            </a:r>
            <a:r>
              <a:rPr lang="en-US" altLang="ko-KR" dirty="0"/>
              <a:t> – </a:t>
            </a:r>
            <a:r>
              <a:rPr lang="ko-KR" altLang="en-US" dirty="0"/>
              <a:t>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공유 </a:t>
            </a:r>
            <a:r>
              <a:rPr lang="en-US" altLang="ko-KR" sz="1400" b="1" dirty="0">
                <a:solidFill>
                  <a:schemeClr val="bg1"/>
                </a:solidFill>
              </a:rPr>
              <a:t>KV </a:t>
            </a:r>
            <a:r>
              <a:rPr lang="ko-KR" altLang="en-US" sz="1400" b="1" dirty="0">
                <a:solidFill>
                  <a:schemeClr val="bg1"/>
                </a:solidFill>
              </a:rPr>
              <a:t>캐시의 데이터 정합성을 보장하면서 동기화 방식을 최적화하는 구조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a:t>
            </a:r>
            <a:r>
              <a:rPr lang="en-US" altLang="ko-KR" sz="1100" dirty="0" err="1"/>
              <a:t>모든</a:t>
            </a:r>
            <a:r>
              <a:rPr lang="en-US" altLang="ko-KR" sz="1100" dirty="0"/>
              <a:t> </a:t>
            </a:r>
            <a:r>
              <a:rPr lang="en-US" altLang="ko-KR" sz="1100" dirty="0" err="1"/>
              <a:t>갱신을</a:t>
            </a:r>
            <a:r>
              <a:rPr lang="en-US" altLang="ko-KR" sz="1100" dirty="0"/>
              <a:t> </a:t>
            </a:r>
            <a:r>
              <a:rPr lang="ko-KR" altLang="en-US" sz="1100" dirty="0"/>
              <a:t>관리</a:t>
            </a:r>
            <a:r>
              <a:rPr lang="en-US" altLang="ko-KR" sz="1100" dirty="0" err="1"/>
              <a:t>하고</a:t>
            </a:r>
            <a:r>
              <a:rPr lang="en-US" altLang="ko-KR" sz="1100" dirty="0"/>
              <a:t>, </a:t>
            </a:r>
            <a:r>
              <a:rPr lang="ko-KR" altLang="en-US" sz="1100" dirty="0"/>
              <a:t>각 </a:t>
            </a:r>
            <a:r>
              <a:rPr lang="en-US" altLang="ko-KR" sz="1100" dirty="0" err="1"/>
              <a:t>노드</a:t>
            </a:r>
            <a:r>
              <a:rPr lang="en-US" altLang="ko-KR" sz="1100" dirty="0"/>
              <a:t>(Client)</a:t>
            </a:r>
            <a:r>
              <a:rPr lang="ko-KR" altLang="en-US" sz="1100" dirty="0"/>
              <a:t>가 서버에 </a:t>
            </a:r>
            <a:r>
              <a:rPr lang="en-US" altLang="ko-KR" sz="1100" dirty="0" err="1"/>
              <a:t>요청</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a:t>
            </a:r>
            <a:r>
              <a:rPr lang="en-US" altLang="ko-KR" sz="1100" dirty="0" err="1"/>
              <a:t>노드가</a:t>
            </a:r>
            <a:r>
              <a:rPr lang="en-US" altLang="ko-KR" sz="1100" dirty="0"/>
              <a:t> </a:t>
            </a:r>
            <a:r>
              <a:rPr lang="en-US" altLang="ko-KR" sz="1100" dirty="0" err="1"/>
              <a:t>락으로</a:t>
            </a:r>
            <a:r>
              <a:rPr lang="en-US" altLang="ko-KR" sz="1100" dirty="0"/>
              <a:t> </a:t>
            </a:r>
            <a:r>
              <a:rPr lang="en-US" altLang="ko-KR" sz="1100" dirty="0" err="1"/>
              <a:t>직접</a:t>
            </a:r>
            <a:r>
              <a:rPr lang="en-US" altLang="ko-KR" sz="1100" dirty="0"/>
              <a:t> </a:t>
            </a:r>
            <a:r>
              <a:rPr lang="en-US" altLang="ko-KR" sz="1100" dirty="0" err="1"/>
              <a:t>갱신</a:t>
            </a:r>
            <a:r>
              <a:rPr lang="en-US" altLang="ko-KR" sz="1100" dirty="0"/>
              <a:t>”</a:t>
            </a:r>
          </a:p>
        </p:txBody>
      </p:sp>
      <p:sp>
        <p:nvSpPr>
          <p:cNvPr id="140" name="Rectangle 139"/>
          <p:cNvSpPr/>
          <p:nvPr/>
        </p:nvSpPr>
        <p:spPr>
          <a:xfrm>
            <a:off x="1261872" y="2120695"/>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120695"/>
            <a:ext cx="1161620" cy="183217"/>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r>
              <a:rPr lang="en-US" sz="700" b="1" i="0" dirty="0">
                <a:solidFill>
                  <a:schemeClr val="tx1"/>
                </a:solidFill>
                <a:latin typeface="맑은 고딕"/>
                <a:ea typeface="맑은 고딕"/>
              </a:rPr>
              <a:t> (Client)</a:t>
            </a:r>
            <a:endParaRPr sz="700" b="1" i="0" dirty="0">
              <a:solidFill>
                <a:schemeClr val="tx1"/>
              </a:solidFill>
              <a:latin typeface="맑은 고딕"/>
              <a:ea typeface="맑은 고딕"/>
            </a:endParaRPr>
          </a:p>
        </p:txBody>
      </p:sp>
      <p:sp>
        <p:nvSpPr>
          <p:cNvPr id="142" name="Rectangle 141"/>
          <p:cNvSpPr/>
          <p:nvPr/>
        </p:nvSpPr>
        <p:spPr>
          <a:xfrm>
            <a:off x="1371600"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120696"/>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4" y="2120696"/>
            <a:ext cx="1096691" cy="18321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r>
              <a:rPr lang="en-US" sz="700" b="1" dirty="0">
                <a:solidFill>
                  <a:schemeClr val="tx1"/>
                </a:solidFill>
                <a:latin typeface="맑은 고딕"/>
                <a:ea typeface="맑은 고딕"/>
              </a:rPr>
              <a:t> (Client)</a:t>
            </a:r>
            <a:endParaRPr sz="700" b="1" dirty="0">
              <a:solidFill>
                <a:schemeClr val="tx1"/>
              </a:solidFill>
              <a:latin typeface="맑은 고딕"/>
              <a:ea typeface="맑은 고딕"/>
            </a:endParaRPr>
          </a:p>
        </p:txBody>
      </p:sp>
      <p:sp>
        <p:nvSpPr>
          <p:cNvPr id="148" name="Rectangle 147"/>
          <p:cNvSpPr/>
          <p:nvPr/>
        </p:nvSpPr>
        <p:spPr>
          <a:xfrm>
            <a:off x="5089583"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029255"/>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029256"/>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ko-KR" altLang="en-US" sz="700" b="1" i="0" dirty="0">
                <a:solidFill>
                  <a:srgbClr val="FFFFFF"/>
                </a:solidFill>
                <a:latin typeface="맑은 고딕"/>
                <a:ea typeface="맑은 고딕"/>
              </a:rPr>
              <a:t>공유 메모리 풀</a:t>
            </a:r>
            <a:endParaRPr sz="700" b="1" i="0" dirty="0">
              <a:solidFill>
                <a:srgbClr val="FFFFFF"/>
              </a:solidFill>
              <a:latin typeface="맑은 고딕"/>
              <a:ea typeface="맑은 고딕"/>
            </a:endParaRPr>
          </a:p>
        </p:txBody>
      </p:sp>
      <p:sp>
        <p:nvSpPr>
          <p:cNvPr id="154" name="Rectangle 153"/>
          <p:cNvSpPr/>
          <p:nvPr/>
        </p:nvSpPr>
        <p:spPr>
          <a:xfrm>
            <a:off x="3124504" y="2373264"/>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56" name="Rectangle 155"/>
          <p:cNvSpPr/>
          <p:nvPr/>
        </p:nvSpPr>
        <p:spPr>
          <a:xfrm>
            <a:off x="3044952" y="3850388"/>
            <a:ext cx="1691640" cy="427805"/>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lnSpc>
                <a:spcPct val="150000"/>
              </a:lnSpc>
            </a:pPr>
            <a:r>
              <a:rPr lang="ko-KR" altLang="en-US" sz="900" b="1" dirty="0">
                <a:solidFill>
                  <a:schemeClr val="tx1"/>
                </a:solidFill>
                <a:ea typeface="맑은 고딕"/>
              </a:rPr>
              <a:t>메타데이터 </a:t>
            </a:r>
            <a:r>
              <a:rPr lang="en-US" altLang="ko-KR" sz="900" b="1" dirty="0">
                <a:solidFill>
                  <a:schemeClr val="tx1"/>
                </a:solidFill>
                <a:ea typeface="맑은 고딕"/>
              </a:rPr>
              <a:t>Server</a:t>
            </a:r>
          </a:p>
          <a:p>
            <a:pPr algn="ctr">
              <a:lnSpc>
                <a:spcPct val="150000"/>
              </a:lnSpc>
            </a:pPr>
            <a:r>
              <a:rPr lang="ko-KR" altLang="en-US" sz="700" dirty="0">
                <a:solidFill>
                  <a:schemeClr val="tx1"/>
                </a:solidFill>
                <a:ea typeface="맑은 고딕"/>
              </a:rPr>
              <a:t>해시 테이블</a:t>
            </a:r>
            <a:r>
              <a:rPr lang="en-US" altLang="ko-KR" sz="700" dirty="0">
                <a:solidFill>
                  <a:schemeClr val="tx1"/>
                </a:solidFill>
                <a:ea typeface="맑은 고딕"/>
              </a:rPr>
              <a:t> · allocator · LRU</a:t>
            </a:r>
          </a:p>
        </p:txBody>
      </p:sp>
      <p:cxnSp>
        <p:nvCxnSpPr>
          <p:cNvPr id="159" name="Connector 158"/>
          <p:cNvCxnSpPr/>
          <p:nvPr/>
        </p:nvCxnSpPr>
        <p:spPr>
          <a:xfrm>
            <a:off x="2549632" y="3344010"/>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24303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285858"/>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1885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sp>
        <p:nvSpPr>
          <p:cNvPr id="170" name="Rectangle 169"/>
          <p:cNvSpPr/>
          <p:nvPr/>
        </p:nvSpPr>
        <p:spPr>
          <a:xfrm>
            <a:off x="6675120" y="2120696"/>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120696"/>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grpSp>
        <p:nvGrpSpPr>
          <p:cNvPr id="44" name="그룹 43"/>
          <p:cNvGrpSpPr/>
          <p:nvPr/>
        </p:nvGrpSpPr>
        <p:grpSpPr>
          <a:xfrm>
            <a:off x="8327898" y="3851498"/>
            <a:ext cx="1737360" cy="438382"/>
            <a:chOff x="8412480" y="3948814"/>
            <a:chExt cx="1737360" cy="482220"/>
          </a:xfrm>
        </p:grpSpPr>
        <p:sp>
          <p:nvSpPr>
            <p:cNvPr id="187" name="Rectangle 186"/>
            <p:cNvSpPr/>
            <p:nvPr/>
          </p:nvSpPr>
          <p:spPr>
            <a:xfrm>
              <a:off x="8458200" y="3948814"/>
              <a:ext cx="1691640" cy="4822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sp>
          <p:nvSpPr>
            <p:cNvPr id="188" name="Rectangle 187"/>
            <p:cNvSpPr/>
            <p:nvPr/>
          </p:nvSpPr>
          <p:spPr>
            <a:xfrm>
              <a:off x="8412480" y="4003678"/>
              <a:ext cx="91440" cy="50292"/>
            </a:xfrm>
            <a:prstGeom prst="rect">
              <a:avLst/>
            </a:prstGeom>
            <a:solidFill>
              <a:srgbClr val="FDECEA"/>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grpSp>
      <p:cxnSp>
        <p:nvCxnSpPr>
          <p:cNvPr id="190" name="Connector 189"/>
          <p:cNvCxnSpPr/>
          <p:nvPr/>
        </p:nvCxnSpPr>
        <p:spPr>
          <a:xfrm>
            <a:off x="7986148" y="254132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4635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605795"/>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411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254552"/>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1768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286920"/>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1024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4" name="C1 slot-server link"/>
          <p:cNvCxnSpPr/>
          <p:nvPr/>
        </p:nvCxnSpPr>
        <p:spPr>
          <a:xfrm>
            <a:off x="3890772" y="3573688"/>
            <a:ext cx="0" cy="236681"/>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630728"/>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cxnSp>
        <p:nvCxnSpPr>
          <p:cNvPr id="206" name="C2 lock-manager link"/>
          <p:cNvCxnSpPr/>
          <p:nvPr/>
        </p:nvCxnSpPr>
        <p:spPr>
          <a:xfrm>
            <a:off x="9304020" y="3556764"/>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618501"/>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130" name="Rectangle 35"/>
          <p:cNvSpPr/>
          <p:nvPr/>
        </p:nvSpPr>
        <p:spPr>
          <a:xfrm>
            <a:off x="1368310"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 </a:t>
            </a:r>
            <a:r>
              <a:rPr lang="ko-KR" altLang="en-US" sz="700" dirty="0">
                <a:solidFill>
                  <a:schemeClr val="tx1"/>
                </a:solidFill>
                <a:ea typeface="맑은 고딕"/>
              </a:rPr>
              <a:t>응답 읽기</a:t>
            </a:r>
          </a:p>
        </p:txBody>
      </p:sp>
      <p:sp>
        <p:nvSpPr>
          <p:cNvPr id="132" name="Rectangle 35"/>
          <p:cNvSpPr/>
          <p:nvPr/>
        </p:nvSpPr>
        <p:spPr>
          <a:xfrm>
            <a:off x="5090865"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a:t>
            </a:r>
            <a:r>
              <a:rPr lang="en-US" altLang="ko-KR" sz="700" dirty="0">
                <a:solidFill>
                  <a:schemeClr val="tx1"/>
                </a:solidFill>
                <a:ea typeface="맑은 고딕"/>
              </a:rPr>
              <a:t> / </a:t>
            </a:r>
            <a:r>
              <a:rPr lang="ko-KR" altLang="en-US" sz="700" dirty="0">
                <a:solidFill>
                  <a:schemeClr val="tx1"/>
                </a:solidFill>
                <a:ea typeface="맑은 고딕"/>
              </a:rPr>
              <a:t>응답 읽기</a:t>
            </a:r>
          </a:p>
        </p:txBody>
      </p:sp>
      <p:sp>
        <p:nvSpPr>
          <p:cNvPr id="135" name="Rectangle 37"/>
          <p:cNvSpPr/>
          <p:nvPr/>
        </p:nvSpPr>
        <p:spPr>
          <a:xfrm>
            <a:off x="1399032" y="371974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3726096"/>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08" name="Rectangle 35"/>
          <p:cNvSpPr/>
          <p:nvPr/>
        </p:nvSpPr>
        <p:spPr>
          <a:xfrm>
            <a:off x="6784848" y="2865932"/>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2865932"/>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3" name="Rectangle 48"/>
          <p:cNvSpPr/>
          <p:nvPr/>
        </p:nvSpPr>
        <p:spPr>
          <a:xfrm>
            <a:off x="3110754" y="2891678"/>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p:txBody>
      </p:sp>
      <p:sp>
        <p:nvSpPr>
          <p:cNvPr id="214" name="Oval 159"/>
          <p:cNvSpPr/>
          <p:nvPr/>
        </p:nvSpPr>
        <p:spPr>
          <a:xfrm>
            <a:off x="3667251" y="362504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078856"/>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297788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51956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427509"/>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046260"/>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29452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62281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519568"/>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427509"/>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cxnSp>
        <p:nvCxnSpPr>
          <p:cNvPr id="229" name="Connector 189"/>
          <p:cNvCxnSpPr/>
          <p:nvPr/>
        </p:nvCxnSpPr>
        <p:spPr>
          <a:xfrm>
            <a:off x="7379970" y="3424292"/>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4239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6020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430701"/>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4084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298900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29112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86022" y="3004943"/>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281842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6020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2313776" y="4381265"/>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76762" y="4381265"/>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381265"/>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381265"/>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sp>
        <p:nvSpPr>
          <p:cNvPr id="121" name="TextBox 120">
            <a:extLst>
              <a:ext uri="{FF2B5EF4-FFF2-40B4-BE49-F238E27FC236}">
                <a16:creationId xmlns:a16="http://schemas.microsoft.com/office/drawing/2014/main" id="{B43D3EF8-B471-48F1-9D45-16F7D655739A}"/>
              </a:ext>
            </a:extLst>
          </p:cNvPr>
          <p:cNvSpPr txBox="1"/>
          <p:nvPr/>
        </p:nvSpPr>
        <p:spPr>
          <a:xfrm>
            <a:off x="4680249" y="6373748"/>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sp>
        <p:nvSpPr>
          <p:cNvPr id="122" name="TextBox 121">
            <a:extLst>
              <a:ext uri="{FF2B5EF4-FFF2-40B4-BE49-F238E27FC236}">
                <a16:creationId xmlns:a16="http://schemas.microsoft.com/office/drawing/2014/main" id="{B8DC1248-6E5A-4524-B4E0-6696C64CA357}"/>
              </a:ext>
            </a:extLst>
          </p:cNvPr>
          <p:cNvSpPr txBox="1"/>
          <p:nvPr/>
        </p:nvSpPr>
        <p:spPr>
          <a:xfrm>
            <a:off x="10103519" y="6351518"/>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9" name="모서리가 둥근 직사각형 37">
            <a:extLst>
              <a:ext uri="{FF2B5EF4-FFF2-40B4-BE49-F238E27FC236}">
                <a16:creationId xmlns:a16="http://schemas.microsoft.com/office/drawing/2014/main" id="{824F5705-7E02-467A-970F-D2A9FCD95DC7}"/>
              </a:ext>
            </a:extLst>
          </p:cNvPr>
          <p:cNvSpPr/>
          <p:nvPr/>
        </p:nvSpPr>
        <p:spPr>
          <a:xfrm>
            <a:off x="9930631"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20" name="모서리가 둥근 직사각형 37">
            <a:extLst>
              <a:ext uri="{FF2B5EF4-FFF2-40B4-BE49-F238E27FC236}">
                <a16:creationId xmlns:a16="http://schemas.microsoft.com/office/drawing/2014/main" id="{E99FD0CC-4F44-40AB-8E8E-E5E878FDD956}"/>
              </a:ext>
            </a:extLst>
          </p:cNvPr>
          <p:cNvSpPr/>
          <p:nvPr/>
        </p:nvSpPr>
        <p:spPr>
          <a:xfrm>
            <a:off x="9509777"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27"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31" name="모서리가 둥근 직사각형 37">
            <a:extLst>
              <a:ext uri="{FF2B5EF4-FFF2-40B4-BE49-F238E27FC236}">
                <a16:creationId xmlns:a16="http://schemas.microsoft.com/office/drawing/2014/main" id="{476B6E1C-7561-417D-A669-4DEFCE610223}"/>
              </a:ext>
            </a:extLst>
          </p:cNvPr>
          <p:cNvSpPr/>
          <p:nvPr/>
        </p:nvSpPr>
        <p:spPr>
          <a:xfrm>
            <a:off x="8858120"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33"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확장성</a:t>
            </a:r>
          </a:p>
        </p:txBody>
      </p:sp>
      <p:sp>
        <p:nvSpPr>
          <p:cNvPr id="134" name="모서리가 둥근 직사각형 37">
            <a:extLst>
              <a:ext uri="{FF2B5EF4-FFF2-40B4-BE49-F238E27FC236}">
                <a16:creationId xmlns:a16="http://schemas.microsoft.com/office/drawing/2014/main" id="{824F5705-7E02-467A-970F-D2A9FCD95DC7}"/>
              </a:ext>
            </a:extLst>
          </p:cNvPr>
          <p:cNvSpPr/>
          <p:nvPr/>
        </p:nvSpPr>
        <p:spPr>
          <a:xfrm>
            <a:off x="1099507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F4 KV </a:t>
            </a:r>
            <a:r>
              <a:rPr lang="ko-KR" altLang="en-US" sz="700" dirty="0">
                <a:latin typeface="맑은 고딕" panose="020B0503020000020004" pitchFamily="50" charset="-127"/>
              </a:rPr>
              <a:t>캐시 관리</a:t>
            </a:r>
          </a:p>
        </p:txBody>
      </p:sp>
    </p:spTree>
    <p:extLst>
      <p:ext uri="{BB962C8B-B14F-4D97-AF65-F5344CB8AC3E}">
        <p14:creationId xmlns:p14="http://schemas.microsoft.com/office/powerpoint/2010/main" val="326440769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387605"/>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a:solidFill>
                            <a:schemeClr val="tx1">
                              <a:lumMod val="50000"/>
                              <a:lumOff val="50000"/>
                            </a:schemeClr>
                          </a:solidFill>
                        </a:rPr>
                        <a:t>설계 안</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중앙 서버 중재 구조 </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락 </a:t>
                      </a:r>
                      <a:r>
                        <a:rPr lang="ko-KR" altLang="en-US" sz="1200" b="1" dirty="0"/>
                        <a:t>기반 직접 접근 </a:t>
                      </a:r>
                      <a:r>
                        <a:rPr lang="en-US" altLang="ko-KR" sz="1200" b="1" dirty="0" err="1"/>
                        <a:t>구조</a:t>
                      </a:r>
                      <a:endParaRPr lang="en-US" altLang="ko-KR"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81992">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a:solidFill>
                            <a:schemeClr val="tx1">
                              <a:lumMod val="50000"/>
                              <a:lumOff val="50000"/>
                            </a:schemeClr>
                          </a:solidFill>
                        </a:rPr>
                        <a:t>장점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메타데이터 관리로 분산 </a:t>
                      </a:r>
                      <a:r>
                        <a:rPr lang="ko-KR" altLang="en-US" sz="1200" dirty="0" err="1"/>
                        <a:t>락</a:t>
                      </a:r>
                      <a:r>
                        <a:rPr lang="ko-KR" altLang="en-US" sz="1200" dirty="0"/>
                        <a:t> 획득</a:t>
                      </a:r>
                      <a:r>
                        <a:rPr lang="en-US" altLang="ko-KR" sz="1200" dirty="0"/>
                        <a:t>·</a:t>
                      </a:r>
                      <a:r>
                        <a:rPr lang="ko-KR" altLang="en-US" sz="1200" dirty="0"/>
                        <a:t>동기화 비용 감소 </a:t>
                      </a:r>
                      <a:r>
                        <a:rPr lang="en-US" altLang="ko-KR" sz="1200" dirty="0"/>
                        <a:t>(Q1)</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dirty="0"/>
                        <a:t>동기화 프로토콜</a:t>
                      </a:r>
                      <a:r>
                        <a:rPr lang="en-US" altLang="ko-KR" sz="1200" dirty="0"/>
                        <a:t>·</a:t>
                      </a:r>
                      <a:r>
                        <a:rPr lang="ko-KR" altLang="en-US" sz="1200" dirty="0"/>
                        <a:t>메타데이터 변경 시 범위 최소화 </a:t>
                      </a:r>
                      <a:r>
                        <a:rPr lang="en-US" altLang="ko-KR" sz="1200" dirty="0"/>
                        <a:t>(Q4)</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메타데이터 직접 접근으로 중앙 서버의 연산 처리 경유 비용 제거 </a:t>
                      </a:r>
                      <a:r>
                        <a:rPr lang="en-US" altLang="ko-KR" sz="1200" dirty="0"/>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노드별</a:t>
                      </a:r>
                      <a:r>
                        <a:rPr lang="ko-KR" altLang="en-US" sz="1200" dirty="0"/>
                        <a:t> 메타데이터 처리 부하 분산 </a:t>
                      </a:r>
                      <a:r>
                        <a:rPr lang="en-US" altLang="ko-KR" sz="1200" dirty="0"/>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서버의 요청 처리 집중으로 노드 확장 시 성능 병목 가능 </a:t>
                      </a:r>
                      <a:r>
                        <a:rPr lang="en-US" altLang="ko-KR" sz="1200" dirty="0"/>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dirty="0"/>
                        <a:t>동기화 프로토콜</a:t>
                      </a:r>
                      <a:r>
                        <a:rPr lang="en-US" altLang="ko-KR" sz="1200" dirty="0"/>
                        <a:t>·</a:t>
                      </a:r>
                      <a:r>
                        <a:rPr lang="ko-KR" altLang="en-US" sz="1200" dirty="0"/>
                        <a:t>공유 </a:t>
                      </a:r>
                      <a:r>
                        <a:rPr lang="ko-KR" altLang="en-US" sz="1200" dirty="0" err="1"/>
                        <a:t>메타데이타</a:t>
                      </a:r>
                      <a:r>
                        <a:rPr lang="ko-KR" altLang="en-US" sz="1200" dirty="0"/>
                        <a:t> 변경 시 다수 모듈 수정 </a:t>
                      </a:r>
                      <a:r>
                        <a:rPr lang="en-US" altLang="ko-KR" sz="1200" dirty="0"/>
                        <a:t>(Q4)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404823">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Modifiability</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Q5.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lvl="0"/>
                      <a:endParaRPr lang="en-US" altLang="ko-KR" sz="1200" b="0" dirty="0">
                        <a:solidFill>
                          <a:srgbClr val="0066FF"/>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66FF"/>
                          </a:solidFill>
                          <a:latin typeface="+mn-lt"/>
                          <a:ea typeface="맑은 고딕"/>
                        </a:rPr>
                        <a:t>★★★</a:t>
                      </a:r>
                      <a:endParaRPr lang="en-US" altLang="ko-KR" sz="1200" b="0" dirty="0">
                        <a:solidFill>
                          <a:srgbClr val="0066FF"/>
                        </a:solidFill>
                        <a:latin typeface="+mn-lt"/>
                        <a:ea typeface="맑은 고딕"/>
                      </a:endParaRPr>
                    </a:p>
                    <a:p>
                      <a:pPr lvl="0"/>
                      <a:r>
                        <a:rPr lang="ko-KR" altLang="en-US" sz="1200" b="0" dirty="0">
                          <a:solidFill>
                            <a:schemeClr val="tx1"/>
                          </a:solidFill>
                          <a:latin typeface="+mn-lt"/>
                          <a:ea typeface="맑은 고딕"/>
                        </a:rPr>
                        <a:t>★★☆</a:t>
                      </a:r>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Modifiability</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Q5.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strike="noStrike" dirty="0">
                        <a:solidFill>
                          <a:schemeClr val="tx1"/>
                        </a:solidFill>
                      </a:endParaRPr>
                    </a:p>
                    <a:p>
                      <a:pPr lvl="0"/>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lvl="0"/>
                      <a:r>
                        <a:rPr lang="ko-KR" altLang="en-US" sz="1200" b="0" dirty="0">
                          <a:solidFill>
                            <a:srgbClr val="0066FF"/>
                          </a:solidFill>
                          <a:latin typeface="+mn-lt"/>
                          <a:ea typeface="맑은 고딕"/>
                        </a:rPr>
                        <a:t>★★★</a:t>
                      </a:r>
                      <a:endParaRPr lang="ko-KR" altLang="en-US" sz="1200" strike="noStrike" dirty="0">
                        <a:solidFill>
                          <a:srgbClr val="0066FF"/>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029256"/>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029256"/>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CXL </a:t>
            </a:r>
            <a:r>
              <a:rPr sz="700" b="1" i="0" dirty="0" err="1">
                <a:solidFill>
                  <a:srgbClr val="FFFFFF"/>
                </a:solidFill>
                <a:latin typeface="맑은 고딕"/>
                <a:ea typeface="맑은 고딕"/>
              </a:rPr>
              <a:t>공유</a:t>
            </a:r>
            <a:r>
              <a:rPr sz="700" b="1" i="0" dirty="0">
                <a:solidFill>
                  <a:srgbClr val="FFFFFF"/>
                </a:solidFill>
                <a:latin typeface="맑은 고딕"/>
                <a:ea typeface="맑은 고딕"/>
              </a:rPr>
              <a:t> 풀</a:t>
            </a:r>
          </a:p>
        </p:txBody>
      </p:sp>
      <p:sp>
        <p:nvSpPr>
          <p:cNvPr id="184" name="Rectangle 183"/>
          <p:cNvSpPr/>
          <p:nvPr/>
        </p:nvSpPr>
        <p:spPr>
          <a:xfrm>
            <a:off x="8361103" y="2349296"/>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85" name="Rectangle 184"/>
          <p:cNvSpPr/>
          <p:nvPr/>
        </p:nvSpPr>
        <p:spPr>
          <a:xfrm>
            <a:off x="8361103" y="2733344"/>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195993"/>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203</a:t>
            </a:fld>
            <a:endParaRPr lang="ko-KR" altLang="en-US" dirty="0"/>
          </a:p>
        </p:txBody>
      </p:sp>
      <p:sp>
        <p:nvSpPr>
          <p:cNvPr id="3" name="제목 2"/>
          <p:cNvSpPr>
            <a:spLocks noGrp="1"/>
          </p:cNvSpPr>
          <p:nvPr>
            <p:ph type="title"/>
          </p:nvPr>
        </p:nvSpPr>
        <p:spPr/>
        <p:txBody>
          <a:bodyPr/>
          <a:lstStyle/>
          <a:p>
            <a:r>
              <a:rPr lang="en-US" altLang="ko-KR" dirty="0"/>
              <a:t>DP4. </a:t>
            </a:r>
            <a:r>
              <a:rPr lang="en-US" altLang="ko-KR" dirty="0" err="1"/>
              <a:t>서버</a:t>
            </a:r>
            <a:r>
              <a:rPr lang="en-US" altLang="ko-KR" dirty="0"/>
              <a:t> 간 KV </a:t>
            </a:r>
            <a:r>
              <a:rPr lang="ko-KR" altLang="en-US" dirty="0"/>
              <a:t>캐시 </a:t>
            </a:r>
            <a:r>
              <a:rPr lang="en-US" altLang="ko-KR" dirty="0" err="1"/>
              <a:t>공유</a:t>
            </a:r>
            <a:r>
              <a:rPr lang="en-US" altLang="ko-KR" dirty="0"/>
              <a:t> </a:t>
            </a:r>
            <a:r>
              <a:rPr lang="en-US" altLang="ko-KR" dirty="0" err="1"/>
              <a:t>구조</a:t>
            </a:r>
            <a:r>
              <a:rPr lang="en-US" altLang="ko-KR" dirty="0"/>
              <a:t> – </a:t>
            </a:r>
            <a:r>
              <a:rPr lang="ko-KR" altLang="en-US" dirty="0"/>
              <a:t>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공유 </a:t>
            </a:r>
            <a:r>
              <a:rPr lang="en-US" altLang="ko-KR" sz="1400" b="1" dirty="0">
                <a:solidFill>
                  <a:schemeClr val="bg1"/>
                </a:solidFill>
              </a:rPr>
              <a:t>KV </a:t>
            </a:r>
            <a:r>
              <a:rPr lang="ko-KR" altLang="en-US" sz="1400" b="1" dirty="0">
                <a:solidFill>
                  <a:schemeClr val="bg1"/>
                </a:solidFill>
              </a:rPr>
              <a:t>캐시의 데이터 정합성을 보장하면서 동기화 방식을 최적화하는 구조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a:t>
            </a:r>
            <a:r>
              <a:rPr lang="en-US" altLang="ko-KR" sz="1100" dirty="0" err="1"/>
              <a:t>모든</a:t>
            </a:r>
            <a:r>
              <a:rPr lang="en-US" altLang="ko-KR" sz="1100" dirty="0"/>
              <a:t> </a:t>
            </a:r>
            <a:r>
              <a:rPr lang="en-US" altLang="ko-KR" sz="1100" dirty="0" err="1"/>
              <a:t>갱신을</a:t>
            </a:r>
            <a:r>
              <a:rPr lang="en-US" altLang="ko-KR" sz="1100" dirty="0"/>
              <a:t> </a:t>
            </a:r>
            <a:r>
              <a:rPr lang="ko-KR" altLang="en-US" sz="1100" dirty="0"/>
              <a:t>관리</a:t>
            </a:r>
            <a:r>
              <a:rPr lang="en-US" altLang="ko-KR" sz="1100" dirty="0" err="1"/>
              <a:t>하고</a:t>
            </a:r>
            <a:r>
              <a:rPr lang="en-US" altLang="ko-KR" sz="1100" dirty="0"/>
              <a:t>, </a:t>
            </a:r>
            <a:r>
              <a:rPr lang="ko-KR" altLang="en-US" sz="1100" dirty="0"/>
              <a:t>각 </a:t>
            </a:r>
            <a:r>
              <a:rPr lang="en-US" altLang="ko-KR" sz="1100" dirty="0" err="1"/>
              <a:t>노드</a:t>
            </a:r>
            <a:r>
              <a:rPr lang="en-US" altLang="ko-KR" sz="1100" dirty="0"/>
              <a:t>(Client)</a:t>
            </a:r>
            <a:r>
              <a:rPr lang="ko-KR" altLang="en-US" sz="1100" dirty="0"/>
              <a:t>가 서버에 </a:t>
            </a:r>
            <a:r>
              <a:rPr lang="en-US" altLang="ko-KR" sz="1100" dirty="0" err="1"/>
              <a:t>요청</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a:t>
            </a:r>
            <a:r>
              <a:rPr lang="en-US" altLang="ko-KR" sz="1100" dirty="0" err="1"/>
              <a:t>노드가</a:t>
            </a:r>
            <a:r>
              <a:rPr lang="en-US" altLang="ko-KR" sz="1100" dirty="0"/>
              <a:t> </a:t>
            </a:r>
            <a:r>
              <a:rPr lang="en-US" altLang="ko-KR" sz="1100" dirty="0" err="1"/>
              <a:t>락으로</a:t>
            </a:r>
            <a:r>
              <a:rPr lang="en-US" altLang="ko-KR" sz="1100" dirty="0"/>
              <a:t> </a:t>
            </a:r>
            <a:r>
              <a:rPr lang="en-US" altLang="ko-KR" sz="1100" dirty="0" err="1"/>
              <a:t>직접</a:t>
            </a:r>
            <a:r>
              <a:rPr lang="en-US" altLang="ko-KR" sz="1100" dirty="0"/>
              <a:t> </a:t>
            </a:r>
            <a:r>
              <a:rPr lang="en-US" altLang="ko-KR" sz="1100" dirty="0" err="1"/>
              <a:t>갱신</a:t>
            </a:r>
            <a:r>
              <a:rPr lang="en-US" altLang="ko-KR" sz="1100" dirty="0"/>
              <a:t>”</a:t>
            </a:r>
          </a:p>
        </p:txBody>
      </p:sp>
      <p:sp>
        <p:nvSpPr>
          <p:cNvPr id="140" name="Rectangle 139"/>
          <p:cNvSpPr/>
          <p:nvPr/>
        </p:nvSpPr>
        <p:spPr>
          <a:xfrm>
            <a:off x="1261872" y="2120695"/>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120695"/>
            <a:ext cx="1161620" cy="183217"/>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r>
              <a:rPr lang="en-US" sz="700" b="1" i="0" dirty="0">
                <a:solidFill>
                  <a:schemeClr val="tx1"/>
                </a:solidFill>
                <a:latin typeface="맑은 고딕"/>
                <a:ea typeface="맑은 고딕"/>
              </a:rPr>
              <a:t> (Client)</a:t>
            </a:r>
            <a:endParaRPr sz="700" b="1" i="0" dirty="0">
              <a:solidFill>
                <a:schemeClr val="tx1"/>
              </a:solidFill>
              <a:latin typeface="맑은 고딕"/>
              <a:ea typeface="맑은 고딕"/>
            </a:endParaRPr>
          </a:p>
        </p:txBody>
      </p:sp>
      <p:sp>
        <p:nvSpPr>
          <p:cNvPr id="142" name="Rectangle 141"/>
          <p:cNvSpPr/>
          <p:nvPr/>
        </p:nvSpPr>
        <p:spPr>
          <a:xfrm>
            <a:off x="1371600"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120696"/>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4" y="2120696"/>
            <a:ext cx="1096691" cy="18321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r>
              <a:rPr lang="en-US" sz="700" b="1" dirty="0">
                <a:solidFill>
                  <a:schemeClr val="tx1"/>
                </a:solidFill>
                <a:latin typeface="맑은 고딕"/>
                <a:ea typeface="맑은 고딕"/>
              </a:rPr>
              <a:t> (Client)</a:t>
            </a:r>
            <a:endParaRPr sz="700" b="1" dirty="0">
              <a:solidFill>
                <a:schemeClr val="tx1"/>
              </a:solidFill>
              <a:latin typeface="맑은 고딕"/>
              <a:ea typeface="맑은 고딕"/>
            </a:endParaRPr>
          </a:p>
        </p:txBody>
      </p:sp>
      <p:sp>
        <p:nvSpPr>
          <p:cNvPr id="148" name="Rectangle 147"/>
          <p:cNvSpPr/>
          <p:nvPr/>
        </p:nvSpPr>
        <p:spPr>
          <a:xfrm>
            <a:off x="5089583"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029255"/>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029256"/>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CXL </a:t>
            </a:r>
            <a:r>
              <a:rPr sz="700" b="1" i="0" dirty="0" err="1">
                <a:solidFill>
                  <a:srgbClr val="FFFFFF"/>
                </a:solidFill>
                <a:latin typeface="맑은 고딕"/>
                <a:ea typeface="맑은 고딕"/>
              </a:rPr>
              <a:t>공유</a:t>
            </a:r>
            <a:r>
              <a:rPr sz="700" b="1" i="0" dirty="0">
                <a:solidFill>
                  <a:srgbClr val="FFFFFF"/>
                </a:solidFill>
                <a:latin typeface="맑은 고딕"/>
                <a:ea typeface="맑은 고딕"/>
              </a:rPr>
              <a:t> 풀</a:t>
            </a:r>
            <a:r>
              <a:rPr lang="en-US" sz="700" b="1" i="0" dirty="0">
                <a:solidFill>
                  <a:srgbClr val="FFFFFF"/>
                </a:solidFill>
                <a:latin typeface="맑은 고딕"/>
                <a:ea typeface="맑은 고딕"/>
              </a:rPr>
              <a:t> </a:t>
            </a:r>
            <a:endParaRPr sz="700" b="1" i="0" dirty="0">
              <a:solidFill>
                <a:srgbClr val="FFFFFF"/>
              </a:solidFill>
              <a:latin typeface="맑은 고딕"/>
              <a:ea typeface="맑은 고딕"/>
            </a:endParaRPr>
          </a:p>
        </p:txBody>
      </p:sp>
      <p:sp>
        <p:nvSpPr>
          <p:cNvPr id="154" name="Rectangle 153"/>
          <p:cNvSpPr/>
          <p:nvPr/>
        </p:nvSpPr>
        <p:spPr>
          <a:xfrm>
            <a:off x="3124504" y="2373264"/>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56" name="Rectangle 155"/>
          <p:cNvSpPr/>
          <p:nvPr/>
        </p:nvSpPr>
        <p:spPr>
          <a:xfrm>
            <a:off x="3044952" y="3850388"/>
            <a:ext cx="1691640" cy="427805"/>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lnSpc>
                <a:spcPct val="150000"/>
              </a:lnSpc>
            </a:pPr>
            <a:r>
              <a:rPr lang="ko-KR" altLang="en-US" sz="900" b="1" dirty="0">
                <a:solidFill>
                  <a:schemeClr val="tx1"/>
                </a:solidFill>
                <a:ea typeface="맑은 고딕"/>
              </a:rPr>
              <a:t>메타데이터 </a:t>
            </a:r>
            <a:r>
              <a:rPr lang="en-US" altLang="ko-KR" sz="900" b="1" dirty="0">
                <a:solidFill>
                  <a:schemeClr val="tx1"/>
                </a:solidFill>
                <a:ea typeface="맑은 고딕"/>
              </a:rPr>
              <a:t>Server</a:t>
            </a:r>
          </a:p>
          <a:p>
            <a:pPr algn="ctr">
              <a:lnSpc>
                <a:spcPct val="150000"/>
              </a:lnSpc>
            </a:pPr>
            <a:r>
              <a:rPr lang="ko-KR" altLang="en-US" sz="700" dirty="0">
                <a:solidFill>
                  <a:schemeClr val="tx1"/>
                </a:solidFill>
                <a:ea typeface="맑은 고딕"/>
              </a:rPr>
              <a:t>해시 테이블</a:t>
            </a:r>
            <a:r>
              <a:rPr lang="en-US" altLang="ko-KR" sz="700" dirty="0">
                <a:solidFill>
                  <a:schemeClr val="tx1"/>
                </a:solidFill>
                <a:ea typeface="맑은 고딕"/>
              </a:rPr>
              <a:t> · allocator · LRU</a:t>
            </a:r>
          </a:p>
        </p:txBody>
      </p:sp>
      <p:cxnSp>
        <p:nvCxnSpPr>
          <p:cNvPr id="159" name="Connector 158"/>
          <p:cNvCxnSpPr/>
          <p:nvPr/>
        </p:nvCxnSpPr>
        <p:spPr>
          <a:xfrm>
            <a:off x="2549632" y="3344010"/>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24303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285858"/>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1885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sp>
        <p:nvSpPr>
          <p:cNvPr id="170" name="Rectangle 169"/>
          <p:cNvSpPr/>
          <p:nvPr/>
        </p:nvSpPr>
        <p:spPr>
          <a:xfrm>
            <a:off x="6675120" y="2120696"/>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120696"/>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grpSp>
        <p:nvGrpSpPr>
          <p:cNvPr id="44" name="그룹 43"/>
          <p:cNvGrpSpPr/>
          <p:nvPr/>
        </p:nvGrpSpPr>
        <p:grpSpPr>
          <a:xfrm>
            <a:off x="8327898" y="3851498"/>
            <a:ext cx="1737360" cy="438382"/>
            <a:chOff x="8412480" y="3948814"/>
            <a:chExt cx="1737360" cy="482220"/>
          </a:xfrm>
        </p:grpSpPr>
        <p:sp>
          <p:nvSpPr>
            <p:cNvPr id="187" name="Rectangle 186"/>
            <p:cNvSpPr/>
            <p:nvPr/>
          </p:nvSpPr>
          <p:spPr>
            <a:xfrm>
              <a:off x="8458200" y="3948814"/>
              <a:ext cx="1691640" cy="4822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sp>
          <p:nvSpPr>
            <p:cNvPr id="188" name="Rectangle 187"/>
            <p:cNvSpPr/>
            <p:nvPr/>
          </p:nvSpPr>
          <p:spPr>
            <a:xfrm>
              <a:off x="8412480" y="4003678"/>
              <a:ext cx="91440" cy="50292"/>
            </a:xfrm>
            <a:prstGeom prst="rect">
              <a:avLst/>
            </a:prstGeom>
            <a:solidFill>
              <a:srgbClr val="FDECEA"/>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grpSp>
      <p:cxnSp>
        <p:nvCxnSpPr>
          <p:cNvPr id="190" name="Connector 189"/>
          <p:cNvCxnSpPr/>
          <p:nvPr/>
        </p:nvCxnSpPr>
        <p:spPr>
          <a:xfrm>
            <a:off x="7986148" y="254132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4635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605795"/>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411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254552"/>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1768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286920"/>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1024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4" name="C1 slot-server link"/>
          <p:cNvCxnSpPr/>
          <p:nvPr/>
        </p:nvCxnSpPr>
        <p:spPr>
          <a:xfrm>
            <a:off x="3890772" y="3573688"/>
            <a:ext cx="0" cy="236681"/>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630728"/>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cxnSp>
        <p:nvCxnSpPr>
          <p:cNvPr id="206" name="C2 lock-manager link"/>
          <p:cNvCxnSpPr/>
          <p:nvPr/>
        </p:nvCxnSpPr>
        <p:spPr>
          <a:xfrm>
            <a:off x="9304020" y="3556764"/>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618501"/>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130" name="Rectangle 35"/>
          <p:cNvSpPr/>
          <p:nvPr/>
        </p:nvSpPr>
        <p:spPr>
          <a:xfrm>
            <a:off x="1368310"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 </a:t>
            </a:r>
            <a:r>
              <a:rPr lang="ko-KR" altLang="en-US" sz="700" dirty="0">
                <a:solidFill>
                  <a:schemeClr val="tx1"/>
                </a:solidFill>
                <a:ea typeface="맑은 고딕"/>
              </a:rPr>
              <a:t>응답 읽기</a:t>
            </a:r>
          </a:p>
        </p:txBody>
      </p:sp>
      <p:sp>
        <p:nvSpPr>
          <p:cNvPr id="132" name="Rectangle 35"/>
          <p:cNvSpPr/>
          <p:nvPr/>
        </p:nvSpPr>
        <p:spPr>
          <a:xfrm>
            <a:off x="5090865"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a:t>
            </a:r>
            <a:r>
              <a:rPr lang="en-US" altLang="ko-KR" sz="700" dirty="0">
                <a:solidFill>
                  <a:schemeClr val="tx1"/>
                </a:solidFill>
                <a:ea typeface="맑은 고딕"/>
              </a:rPr>
              <a:t> / </a:t>
            </a:r>
            <a:r>
              <a:rPr lang="ko-KR" altLang="en-US" sz="700" dirty="0">
                <a:solidFill>
                  <a:schemeClr val="tx1"/>
                </a:solidFill>
                <a:ea typeface="맑은 고딕"/>
              </a:rPr>
              <a:t>응답 읽기</a:t>
            </a:r>
          </a:p>
        </p:txBody>
      </p:sp>
      <p:sp>
        <p:nvSpPr>
          <p:cNvPr id="135" name="Rectangle 37"/>
          <p:cNvSpPr/>
          <p:nvPr/>
        </p:nvSpPr>
        <p:spPr>
          <a:xfrm>
            <a:off x="1399032" y="371974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3726096"/>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08" name="Rectangle 35"/>
          <p:cNvSpPr/>
          <p:nvPr/>
        </p:nvSpPr>
        <p:spPr>
          <a:xfrm>
            <a:off x="6784848" y="2865932"/>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2865932"/>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3" name="Rectangle 48"/>
          <p:cNvSpPr/>
          <p:nvPr/>
        </p:nvSpPr>
        <p:spPr>
          <a:xfrm>
            <a:off x="3110754" y="2891678"/>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p:txBody>
      </p:sp>
      <p:sp>
        <p:nvSpPr>
          <p:cNvPr id="214" name="Oval 159"/>
          <p:cNvSpPr/>
          <p:nvPr/>
        </p:nvSpPr>
        <p:spPr>
          <a:xfrm>
            <a:off x="3667251" y="362504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078856"/>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297788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51956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427509"/>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046260"/>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29452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62281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519568"/>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427509"/>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cxnSp>
        <p:nvCxnSpPr>
          <p:cNvPr id="229" name="Connector 189"/>
          <p:cNvCxnSpPr/>
          <p:nvPr/>
        </p:nvCxnSpPr>
        <p:spPr>
          <a:xfrm>
            <a:off x="7379970" y="3424292"/>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4239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6020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430701"/>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4084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298900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29112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86022" y="3004943"/>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281842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6020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2313776" y="4381265"/>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76762" y="4381265"/>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381265"/>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381265"/>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sp>
        <p:nvSpPr>
          <p:cNvPr id="121" name="TextBox 120">
            <a:extLst>
              <a:ext uri="{FF2B5EF4-FFF2-40B4-BE49-F238E27FC236}">
                <a16:creationId xmlns:a16="http://schemas.microsoft.com/office/drawing/2014/main" id="{B43D3EF8-B471-48F1-9D45-16F7D655739A}"/>
              </a:ext>
            </a:extLst>
          </p:cNvPr>
          <p:cNvSpPr txBox="1"/>
          <p:nvPr/>
        </p:nvSpPr>
        <p:spPr>
          <a:xfrm>
            <a:off x="4680249" y="6373748"/>
            <a:ext cx="631904" cy="276999"/>
          </a:xfrm>
          <a:prstGeom prst="rect">
            <a:avLst/>
          </a:prstGeom>
          <a:noFill/>
        </p:spPr>
        <p:txBody>
          <a:bodyPr wrap="none" rtlCol="0">
            <a:spAutoFit/>
          </a:bodyPr>
          <a:lstStyle/>
          <a:p>
            <a:r>
              <a:rPr lang="ko-KR" altLang="en-US" sz="1200" dirty="0"/>
              <a:t>총</a:t>
            </a:r>
            <a:r>
              <a:rPr lang="en-US" altLang="ko-KR" sz="1200" dirty="0"/>
              <a:t> 8</a:t>
            </a:r>
            <a:r>
              <a:rPr lang="ko-KR" altLang="en-US" sz="1200" dirty="0"/>
              <a:t>점</a:t>
            </a:r>
          </a:p>
        </p:txBody>
      </p:sp>
      <p:sp>
        <p:nvSpPr>
          <p:cNvPr id="122" name="TextBox 121">
            <a:extLst>
              <a:ext uri="{FF2B5EF4-FFF2-40B4-BE49-F238E27FC236}">
                <a16:creationId xmlns:a16="http://schemas.microsoft.com/office/drawing/2014/main" id="{B8DC1248-6E5A-4524-B4E0-6696C64CA357}"/>
              </a:ext>
            </a:extLst>
          </p:cNvPr>
          <p:cNvSpPr txBox="1"/>
          <p:nvPr/>
        </p:nvSpPr>
        <p:spPr>
          <a:xfrm>
            <a:off x="10103519" y="6351518"/>
            <a:ext cx="631904" cy="276999"/>
          </a:xfrm>
          <a:prstGeom prst="rect">
            <a:avLst/>
          </a:prstGeom>
          <a:noFill/>
        </p:spPr>
        <p:txBody>
          <a:bodyPr wrap="none" rtlCol="0">
            <a:spAutoFit/>
          </a:bodyPr>
          <a:lstStyle/>
          <a:p>
            <a:r>
              <a:rPr lang="ko-KR" altLang="en-US" sz="1200" dirty="0"/>
              <a:t>총</a:t>
            </a:r>
            <a:r>
              <a:rPr lang="en-US" altLang="ko-KR" sz="1200" dirty="0"/>
              <a:t> 8</a:t>
            </a:r>
            <a:r>
              <a:rPr lang="ko-KR" altLang="en-US" sz="1200" dirty="0"/>
              <a:t>점</a:t>
            </a:r>
          </a:p>
        </p:txBody>
      </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1" name="모서리가 둥근 직사각형 37">
            <a:extLst>
              <a:ext uri="{FF2B5EF4-FFF2-40B4-BE49-F238E27FC236}">
                <a16:creationId xmlns:a16="http://schemas.microsoft.com/office/drawing/2014/main" id="{824F5705-7E02-467A-970F-D2A9FCD95DC7}"/>
              </a:ext>
            </a:extLst>
          </p:cNvPr>
          <p:cNvSpPr/>
          <p:nvPr/>
        </p:nvSpPr>
        <p:spPr>
          <a:xfrm>
            <a:off x="9930631"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12"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13"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14"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고부하 성능 </a:t>
            </a:r>
          </a:p>
        </p:txBody>
      </p:sp>
      <p:sp>
        <p:nvSpPr>
          <p:cNvPr id="115" name="모서리가 둥근 직사각형 37">
            <a:extLst>
              <a:ext uri="{FF2B5EF4-FFF2-40B4-BE49-F238E27FC236}">
                <a16:creationId xmlns:a16="http://schemas.microsoft.com/office/drawing/2014/main" id="{476B6E1C-7561-417D-A669-4DEFCE610223}"/>
              </a:ext>
            </a:extLst>
          </p:cNvPr>
          <p:cNvSpPr/>
          <p:nvPr/>
        </p:nvSpPr>
        <p:spPr>
          <a:xfrm>
            <a:off x="8858120"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16"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확장성</a:t>
            </a:r>
          </a:p>
        </p:txBody>
      </p:sp>
      <p:sp>
        <p:nvSpPr>
          <p:cNvPr id="118" name="모서리가 둥근 직사각형 37">
            <a:extLst>
              <a:ext uri="{FF2B5EF4-FFF2-40B4-BE49-F238E27FC236}">
                <a16:creationId xmlns:a16="http://schemas.microsoft.com/office/drawing/2014/main" id="{824F5705-7E02-467A-970F-D2A9FCD95DC7}"/>
              </a:ext>
            </a:extLst>
          </p:cNvPr>
          <p:cNvSpPr/>
          <p:nvPr/>
        </p:nvSpPr>
        <p:spPr>
          <a:xfrm>
            <a:off x="1099507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F4 KV </a:t>
            </a:r>
            <a:r>
              <a:rPr lang="ko-KR" altLang="en-US" sz="700" dirty="0">
                <a:latin typeface="맑은 고딕" panose="020B0503020000020004" pitchFamily="50" charset="-127"/>
              </a:rPr>
              <a:t>캐시 관리</a:t>
            </a:r>
          </a:p>
        </p:txBody>
      </p:sp>
    </p:spTree>
    <p:extLst>
      <p:ext uri="{BB962C8B-B14F-4D97-AF65-F5344CB8AC3E}">
        <p14:creationId xmlns:p14="http://schemas.microsoft.com/office/powerpoint/2010/main" val="143891480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70857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중앙 서버 중재 구조 </a:t>
                      </a:r>
                      <a:r>
                        <a:rPr lang="en-US" altLang="ko-KR" sz="1200" b="1" baseline="0" dirty="0"/>
                        <a:t> </a:t>
                      </a:r>
                      <a:r>
                        <a:rPr lang="en-US" altLang="ko-KR" sz="1200" b="1" dirty="0">
                          <a:solidFill>
                            <a:srgbClr val="FF0000"/>
                          </a:solidFill>
                        </a:rPr>
                        <a:t>+ </a:t>
                      </a:r>
                      <a:r>
                        <a:rPr lang="en-US" altLang="ko-KR" sz="1200" b="1" dirty="0" err="1">
                          <a:solidFill>
                            <a:srgbClr val="FF0000"/>
                          </a:solidFill>
                        </a:rPr>
                        <a:t>Sharding</a:t>
                      </a:r>
                      <a:r>
                        <a:rPr lang="ko-KR" altLang="en-US" sz="1200" b="1" dirty="0">
                          <a:solidFill>
                            <a:srgbClr val="FF0000"/>
                          </a:solidFill>
                        </a:rPr>
                        <a:t> 구조 </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락 </a:t>
                      </a:r>
                      <a:r>
                        <a:rPr lang="ko-KR" altLang="en-US" sz="1200" b="1" dirty="0"/>
                        <a:t>기반 직접 접근 </a:t>
                      </a:r>
                      <a:r>
                        <a:rPr lang="en-US" altLang="ko-KR" sz="1200" b="1" dirty="0" err="1"/>
                        <a:t>구조</a:t>
                      </a:r>
                      <a:endParaRPr lang="en-US" altLang="ko-KR"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29910">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50218">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메타데이터 관리로 분산 </a:t>
                      </a:r>
                      <a:r>
                        <a:rPr lang="ko-KR" altLang="en-US" sz="1200" dirty="0" err="1"/>
                        <a:t>락</a:t>
                      </a:r>
                      <a:r>
                        <a:rPr lang="ko-KR" altLang="en-US" sz="1200" dirty="0"/>
                        <a:t> 획득</a:t>
                      </a:r>
                      <a:r>
                        <a:rPr lang="en-US" altLang="ko-KR" sz="1200" dirty="0"/>
                        <a:t>·</a:t>
                      </a:r>
                      <a:r>
                        <a:rPr lang="ko-KR" altLang="en-US" sz="1200" dirty="0"/>
                        <a:t>동기화 비용 감소 </a:t>
                      </a:r>
                      <a:r>
                        <a:rPr lang="en-US" altLang="ko-KR" sz="1200" dirty="0"/>
                        <a:t>(QA1)</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dirty="0"/>
                        <a:t>동기화 프로토콜</a:t>
                      </a:r>
                      <a:r>
                        <a:rPr lang="en-US" altLang="ko-KR" sz="1200" dirty="0"/>
                        <a:t>·</a:t>
                      </a:r>
                      <a:r>
                        <a:rPr lang="ko-KR" altLang="en-US" sz="1200" dirty="0"/>
                        <a:t>메타데이터 변경 시 범위 최소화 </a:t>
                      </a:r>
                      <a:r>
                        <a:rPr lang="en-US" altLang="ko-KR" sz="1200" dirty="0"/>
                        <a:t>(QA3)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메타데이터 직접 접근으로 중앙 서버의 연산 처리 경유 비용 제거 </a:t>
                      </a:r>
                      <a:r>
                        <a:rPr lang="en-US" altLang="ko-KR" sz="1200" dirty="0"/>
                        <a:t>(QA1)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노드별</a:t>
                      </a:r>
                      <a:r>
                        <a:rPr lang="ko-KR" altLang="en-US" sz="1200" dirty="0"/>
                        <a:t> 메타데이터 처리 부하 분산 </a:t>
                      </a:r>
                      <a:r>
                        <a:rPr lang="en-US" altLang="ko-KR" sz="1200" dirty="0"/>
                        <a:t>(QA4)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1629304399"/>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서버의 요청 처리 집중으로 노드 확장 시 성능 병목 가능 </a:t>
                      </a:r>
                      <a:r>
                        <a:rPr lang="en-US" altLang="ko-KR" sz="1200" dirty="0"/>
                        <a:t>(QA4)</a:t>
                      </a:r>
                    </a:p>
                    <a:p>
                      <a:r>
                        <a:rPr lang="en-US" altLang="ko-KR" sz="1200" dirty="0">
                          <a:solidFill>
                            <a:srgbClr val="FF0000"/>
                          </a:solidFill>
                        </a:rPr>
                        <a:t>1. </a:t>
                      </a:r>
                      <a:r>
                        <a:rPr lang="ko-KR" altLang="en-US" sz="1200" dirty="0">
                          <a:solidFill>
                            <a:srgbClr val="FF0000"/>
                          </a:solidFill>
                        </a:rPr>
                        <a:t>메타데이터 요청의 병렬 처리로 서버 처리량 증가</a:t>
                      </a:r>
                    </a:p>
                    <a:p>
                      <a:r>
                        <a:rPr lang="en-US" altLang="ko-KR" sz="1200" dirty="0">
                          <a:solidFill>
                            <a:srgbClr val="FF0000"/>
                          </a:solidFill>
                        </a:rPr>
                        <a:t>2. </a:t>
                      </a:r>
                      <a:r>
                        <a:rPr lang="ko-KR" altLang="en-US" sz="1200" dirty="0">
                          <a:solidFill>
                            <a:srgbClr val="FF0000"/>
                          </a:solidFill>
                        </a:rPr>
                        <a:t>중앙 관리 인터페이스를 유지하면서 노드 확장성 개선</a:t>
                      </a:r>
                      <a:endParaRPr lang="en-US" altLang="ko-KR" sz="1200"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분산 </a:t>
                      </a:r>
                      <a:r>
                        <a:rPr lang="ko-KR" altLang="en-US" sz="1200" dirty="0" err="1"/>
                        <a:t>락</a:t>
                      </a:r>
                      <a:r>
                        <a:rPr lang="en-US" altLang="ko-KR" sz="1200" dirty="0"/>
                        <a:t>·</a:t>
                      </a:r>
                      <a:r>
                        <a:rPr lang="ko-KR" altLang="en-US" sz="1200" dirty="0"/>
                        <a:t>동기화 비용 증가 </a:t>
                      </a:r>
                      <a:r>
                        <a:rPr lang="en-US" altLang="ko-KR" sz="1200" dirty="0"/>
                        <a:t>(QA1)</a:t>
                      </a:r>
                      <a:endParaRPr lang="en-US" altLang="ko-KR" sz="1200" strike="noStrike" baseline="0" dirty="0">
                        <a:effectLst/>
                      </a:endParaRPr>
                    </a:p>
                    <a:p>
                      <a:pPr marL="228600" indent="-228600" latinLnBrk="1">
                        <a:lnSpc>
                          <a:spcPct val="100000"/>
                        </a:lnSpc>
                        <a:buFont typeface="Wingdings" panose="05000000000000000000" pitchFamily="2" charset="2"/>
                        <a:buChar char="§"/>
                      </a:pPr>
                      <a:r>
                        <a:rPr lang="ko-KR" altLang="en-US" sz="1200" dirty="0"/>
                        <a:t>동기화 프로토콜</a:t>
                      </a:r>
                      <a:r>
                        <a:rPr lang="en-US" altLang="ko-KR" sz="1200" dirty="0"/>
                        <a:t>·</a:t>
                      </a:r>
                      <a:r>
                        <a:rPr lang="ko-KR" altLang="en-US" sz="1200" dirty="0"/>
                        <a:t>공유 </a:t>
                      </a:r>
                      <a:r>
                        <a:rPr lang="ko-KR" altLang="en-US" sz="1200" dirty="0" err="1"/>
                        <a:t>메타데이타</a:t>
                      </a:r>
                      <a:r>
                        <a:rPr lang="ko-KR" altLang="en-US" sz="1200" dirty="0"/>
                        <a:t> 변경 시 다수 모듈 수정 </a:t>
                      </a:r>
                      <a:r>
                        <a:rPr lang="en-US" altLang="ko-KR" sz="1200" dirty="0"/>
                        <a:t>(QA3)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1429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Modifiability</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Q5.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r>
                        <a:rPr lang="ko-KR" altLang="en-US" sz="1200" b="0" dirty="0">
                          <a:solidFill>
                            <a:srgbClr val="0066FF"/>
                          </a:solidFill>
                          <a:latin typeface="+mn-lt"/>
                          <a:ea typeface="맑은 고딕"/>
                        </a:rPr>
                        <a:t>★★★</a:t>
                      </a:r>
                      <a:endParaRPr lang="en-US" altLang="ko-KR" sz="1200" b="0" dirty="0">
                        <a:solidFill>
                          <a:srgbClr val="0066FF"/>
                        </a:solidFill>
                        <a:latin typeface="+mn-lt"/>
                        <a:ea typeface="맑은 고딕"/>
                      </a:endParaRPr>
                    </a:p>
                    <a:p>
                      <a:pPr lvl="0"/>
                      <a:endParaRPr lang="en-US" altLang="ko-KR" sz="1200" b="0" dirty="0">
                        <a:solidFill>
                          <a:srgbClr val="0066FF"/>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rgbClr val="0066FF"/>
                          </a:solidFill>
                          <a:latin typeface="+mn-lt"/>
                          <a:ea typeface="맑은 고딕"/>
                        </a:rPr>
                        <a:t>★★★</a:t>
                      </a:r>
                      <a:endParaRPr lang="en-US" altLang="ko-KR" sz="1200" b="0" dirty="0">
                        <a:solidFill>
                          <a:srgbClr val="0066FF"/>
                        </a:solidFill>
                        <a:latin typeface="+mn-lt"/>
                        <a:ea typeface="맑은 고딕"/>
                      </a:endParaRPr>
                    </a:p>
                    <a:p>
                      <a:pPr lvl="0"/>
                      <a:r>
                        <a:rPr lang="ko-KR" altLang="en-US" sz="1200" b="0" dirty="0">
                          <a:solidFill>
                            <a:schemeClr val="tx1"/>
                          </a:solidFill>
                          <a:latin typeface="+mn-lt"/>
                          <a:ea typeface="맑은 고딕"/>
                        </a:rPr>
                        <a:t>★★</a:t>
                      </a:r>
                      <a:r>
                        <a:rPr lang="ko-KR" altLang="en-US" sz="1200" b="0" dirty="0">
                          <a:solidFill>
                            <a:srgbClr val="FF0000"/>
                          </a:solidFill>
                          <a:latin typeface="+mn-lt"/>
                          <a:ea typeface="맑은 고딕"/>
                        </a:rPr>
                        <a:t>★</a:t>
                      </a:r>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Modifiability</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 </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Q5.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strike="noStrike" dirty="0">
                        <a:solidFill>
                          <a:schemeClr val="tx1"/>
                        </a:solidFill>
                      </a:endParaRPr>
                    </a:p>
                    <a:p>
                      <a:pPr lvl="0"/>
                      <a:r>
                        <a:rPr lang="ko-KR" altLang="en-US" sz="1200" b="0" dirty="0">
                          <a:solidFill>
                            <a:schemeClr val="tx1"/>
                          </a:solidFill>
                          <a:latin typeface="+mn-lt"/>
                          <a:ea typeface="맑은 고딕"/>
                        </a:rPr>
                        <a:t>★★☆</a:t>
                      </a:r>
                      <a:endParaRPr lang="en-US" altLang="ko-KR" sz="1200" b="0" dirty="0">
                        <a:solidFill>
                          <a:schemeClr val="tx1"/>
                        </a:solidFill>
                        <a:latin typeface="+mn-lt"/>
                        <a:ea typeface="맑은 고딕"/>
                      </a:endParaRPr>
                    </a:p>
                    <a:p>
                      <a:pPr lvl="0"/>
                      <a:r>
                        <a:rPr lang="ko-KR" altLang="en-US" sz="1200" b="0" dirty="0">
                          <a:solidFill>
                            <a:srgbClr val="0066FF"/>
                          </a:solidFill>
                          <a:latin typeface="+mn-lt"/>
                          <a:ea typeface="맑은 고딕"/>
                        </a:rPr>
                        <a:t>★★★</a:t>
                      </a:r>
                      <a:endParaRPr lang="ko-KR" altLang="en-US" sz="1200" strike="noStrike" dirty="0">
                        <a:solidFill>
                          <a:srgbClr val="0066FF"/>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029256"/>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029256"/>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CXL </a:t>
            </a:r>
            <a:r>
              <a:rPr sz="700" b="1" i="0" dirty="0" err="1">
                <a:solidFill>
                  <a:srgbClr val="FFFFFF"/>
                </a:solidFill>
                <a:latin typeface="맑은 고딕"/>
                <a:ea typeface="맑은 고딕"/>
              </a:rPr>
              <a:t>공유</a:t>
            </a:r>
            <a:r>
              <a:rPr sz="700" b="1" i="0" dirty="0">
                <a:solidFill>
                  <a:srgbClr val="FFFFFF"/>
                </a:solidFill>
                <a:latin typeface="맑은 고딕"/>
                <a:ea typeface="맑은 고딕"/>
              </a:rPr>
              <a:t> 풀</a:t>
            </a:r>
          </a:p>
        </p:txBody>
      </p:sp>
      <p:sp>
        <p:nvSpPr>
          <p:cNvPr id="184" name="Rectangle 183"/>
          <p:cNvSpPr/>
          <p:nvPr/>
        </p:nvSpPr>
        <p:spPr>
          <a:xfrm>
            <a:off x="8361103" y="2349296"/>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800" dirty="0">
                <a:solidFill>
                  <a:schemeClr val="tx1"/>
                </a:solidFill>
                <a:ea typeface="맑은 고딕"/>
              </a:rPr>
              <a:t>공유 데이터</a:t>
            </a:r>
            <a:endParaRPr lang="en-US" altLang="ko-KR" sz="800" dirty="0">
              <a:solidFill>
                <a:schemeClr val="tx1"/>
              </a:solidFill>
              <a:ea typeface="맑은 고딕"/>
            </a:endParaRPr>
          </a:p>
        </p:txBody>
      </p:sp>
      <p:sp>
        <p:nvSpPr>
          <p:cNvPr id="185" name="Rectangle 184"/>
          <p:cNvSpPr/>
          <p:nvPr/>
        </p:nvSpPr>
        <p:spPr>
          <a:xfrm>
            <a:off x="8361103" y="2733344"/>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195993"/>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204</a:t>
            </a:fld>
            <a:endParaRPr lang="ko-KR" altLang="en-US" dirty="0"/>
          </a:p>
        </p:txBody>
      </p:sp>
      <p:sp>
        <p:nvSpPr>
          <p:cNvPr id="3" name="제목 2"/>
          <p:cNvSpPr>
            <a:spLocks noGrp="1"/>
          </p:cNvSpPr>
          <p:nvPr>
            <p:ph type="title"/>
          </p:nvPr>
        </p:nvSpPr>
        <p:spPr/>
        <p:txBody>
          <a:bodyPr/>
          <a:lstStyle/>
          <a:p>
            <a:r>
              <a:rPr lang="en-US" altLang="ko-KR" dirty="0"/>
              <a:t>DP4. </a:t>
            </a:r>
            <a:r>
              <a:rPr lang="en-US" altLang="ko-KR" dirty="0" err="1"/>
              <a:t>서버</a:t>
            </a:r>
            <a:r>
              <a:rPr lang="en-US" altLang="ko-KR" dirty="0"/>
              <a:t> 간 KV </a:t>
            </a:r>
            <a:r>
              <a:rPr lang="ko-KR" altLang="en-US" dirty="0"/>
              <a:t>캐시 </a:t>
            </a:r>
            <a:r>
              <a:rPr lang="en-US" altLang="ko-KR" dirty="0" err="1"/>
              <a:t>공유</a:t>
            </a:r>
            <a:r>
              <a:rPr lang="en-US" altLang="ko-KR" dirty="0"/>
              <a:t> </a:t>
            </a:r>
            <a:r>
              <a:rPr lang="en-US" altLang="ko-KR" dirty="0" err="1"/>
              <a:t>구조</a:t>
            </a:r>
            <a:r>
              <a:rPr lang="en-US" altLang="ko-KR" dirty="0"/>
              <a:t> – </a:t>
            </a:r>
            <a:r>
              <a:rPr lang="ko-KR" altLang="en-US" dirty="0">
                <a:solidFill>
                  <a:srgbClr val="FF0000"/>
                </a:solidFill>
              </a:rPr>
              <a:t>보완 설계</a:t>
            </a:r>
            <a:endParaRPr lang="ko-KR" altLang="en-US" strike="sngStrike" dirty="0">
              <a:solidFill>
                <a:srgbClr val="FF0000"/>
              </a:solidFill>
            </a:endParaRP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공유 </a:t>
            </a:r>
            <a:r>
              <a:rPr lang="en-US" altLang="ko-KR" sz="1400" b="1" dirty="0">
                <a:solidFill>
                  <a:schemeClr val="bg1"/>
                </a:solidFill>
              </a:rPr>
              <a:t>KV </a:t>
            </a:r>
            <a:r>
              <a:rPr lang="ko-KR" altLang="en-US" sz="1400" b="1" dirty="0">
                <a:solidFill>
                  <a:schemeClr val="bg1"/>
                </a:solidFill>
              </a:rPr>
              <a:t>캐시의 데이터 정합성을 보장하면서 동기화 방식을 최적화하는 구조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“KV </a:t>
            </a:r>
            <a:r>
              <a:rPr lang="ko-KR" altLang="en-US" sz="1100" dirty="0"/>
              <a:t>해시 기반 </a:t>
            </a:r>
            <a:r>
              <a:rPr lang="en-US" altLang="ko-KR" sz="1100" dirty="0"/>
              <a:t>Metadata </a:t>
            </a:r>
            <a:r>
              <a:rPr lang="en-US" altLang="ko-KR" sz="1100" dirty="0" err="1"/>
              <a:t>Sharding</a:t>
            </a:r>
            <a:r>
              <a:rPr lang="en-US" altLang="ko-KR" sz="1100" dirty="0"/>
              <a:t> </a:t>
            </a:r>
            <a:r>
              <a:rPr lang="ko-KR" altLang="en-US" sz="1100" dirty="0"/>
              <a:t>및 </a:t>
            </a:r>
            <a:r>
              <a:rPr lang="en-US" altLang="ko-KR" sz="1100" dirty="0"/>
              <a:t>Shard</a:t>
            </a:r>
            <a:r>
              <a:rPr lang="ko-KR" altLang="en-US" sz="1100" dirty="0"/>
              <a:t>별 독립 </a:t>
            </a:r>
            <a:r>
              <a:rPr lang="en-US" altLang="ko-KR" sz="1100" dirty="0"/>
              <a:t>Worker </a:t>
            </a:r>
            <a:r>
              <a:rPr lang="ko-KR" altLang="en-US" sz="1100" dirty="0"/>
              <a:t>구성</a:t>
            </a:r>
            <a:r>
              <a:rPr lang="en-US" altLang="ko-KR" sz="1100" dirty="0"/>
              <a:t> ”</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노드가 2단 락으로 </a:t>
            </a:r>
            <a:r>
              <a:rPr lang="en-US" altLang="ko-KR" sz="1100" dirty="0" err="1"/>
              <a:t>직접</a:t>
            </a:r>
            <a:r>
              <a:rPr lang="en-US" altLang="ko-KR" sz="1100" dirty="0"/>
              <a:t> </a:t>
            </a:r>
            <a:r>
              <a:rPr lang="en-US" altLang="ko-KR" sz="1100" dirty="0" err="1"/>
              <a:t>갱신</a:t>
            </a:r>
            <a:r>
              <a:rPr lang="en-US" altLang="ko-KR" sz="1100" dirty="0"/>
              <a:t>”</a:t>
            </a:r>
          </a:p>
        </p:txBody>
      </p:sp>
      <p:sp>
        <p:nvSpPr>
          <p:cNvPr id="170" name="Rectangle 169"/>
          <p:cNvSpPr/>
          <p:nvPr/>
        </p:nvSpPr>
        <p:spPr>
          <a:xfrm>
            <a:off x="6675120" y="2120696"/>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120696"/>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grpSp>
        <p:nvGrpSpPr>
          <p:cNvPr id="44" name="그룹 43"/>
          <p:cNvGrpSpPr/>
          <p:nvPr/>
        </p:nvGrpSpPr>
        <p:grpSpPr>
          <a:xfrm>
            <a:off x="8327898" y="3851498"/>
            <a:ext cx="1737360" cy="438382"/>
            <a:chOff x="8412480" y="3948814"/>
            <a:chExt cx="1737360" cy="482220"/>
          </a:xfrm>
        </p:grpSpPr>
        <p:sp>
          <p:nvSpPr>
            <p:cNvPr id="187" name="Rectangle 186"/>
            <p:cNvSpPr/>
            <p:nvPr/>
          </p:nvSpPr>
          <p:spPr>
            <a:xfrm>
              <a:off x="8458200" y="3948814"/>
              <a:ext cx="1691640" cy="4822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sp>
          <p:nvSpPr>
            <p:cNvPr id="188" name="Rectangle 187"/>
            <p:cNvSpPr/>
            <p:nvPr/>
          </p:nvSpPr>
          <p:spPr>
            <a:xfrm>
              <a:off x="8412480" y="4003678"/>
              <a:ext cx="91440" cy="50292"/>
            </a:xfrm>
            <a:prstGeom prst="rect">
              <a:avLst/>
            </a:prstGeom>
            <a:solidFill>
              <a:srgbClr val="FDECEA"/>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grpSp>
      <p:cxnSp>
        <p:nvCxnSpPr>
          <p:cNvPr id="190" name="Connector 189"/>
          <p:cNvCxnSpPr/>
          <p:nvPr/>
        </p:nvCxnSpPr>
        <p:spPr>
          <a:xfrm>
            <a:off x="7986148" y="254132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4635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605795"/>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411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254552"/>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1768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286920"/>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1024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6" name="C2 lock-manager link"/>
          <p:cNvCxnSpPr/>
          <p:nvPr/>
        </p:nvCxnSpPr>
        <p:spPr>
          <a:xfrm>
            <a:off x="9304020" y="3556764"/>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618501"/>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208" name="Rectangle 35"/>
          <p:cNvSpPr/>
          <p:nvPr/>
        </p:nvSpPr>
        <p:spPr>
          <a:xfrm>
            <a:off x="6784848" y="2865932"/>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2865932"/>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grpSp>
        <p:nvGrpSpPr>
          <p:cNvPr id="4" name="그룹 3">
            <a:extLst>
              <a:ext uri="{FF2B5EF4-FFF2-40B4-BE49-F238E27FC236}">
                <a16:creationId xmlns:a16="http://schemas.microsoft.com/office/drawing/2014/main" id="{80A9BCA1-FAEA-4612-92CB-05CCBDD3F489}"/>
              </a:ext>
            </a:extLst>
          </p:cNvPr>
          <p:cNvGrpSpPr/>
          <p:nvPr/>
        </p:nvGrpSpPr>
        <p:grpSpPr>
          <a:xfrm>
            <a:off x="1448656" y="1847396"/>
            <a:ext cx="4668457" cy="1771105"/>
            <a:chOff x="1261872" y="2029255"/>
            <a:chExt cx="5135303" cy="2143037"/>
          </a:xfrm>
        </p:grpSpPr>
        <p:sp>
          <p:nvSpPr>
            <p:cNvPr id="140" name="Rectangle 139"/>
            <p:cNvSpPr/>
            <p:nvPr/>
          </p:nvSpPr>
          <p:spPr>
            <a:xfrm>
              <a:off x="1261872" y="2120695"/>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endParaRPr sz="700" b="1" i="0" dirty="0">
                <a:solidFill>
                  <a:schemeClr val="tx1"/>
                </a:solidFill>
                <a:latin typeface="맑은 고딕"/>
                <a:ea typeface="맑은 고딕"/>
              </a:endParaRPr>
            </a:p>
          </p:txBody>
        </p:sp>
        <p:sp>
          <p:nvSpPr>
            <p:cNvPr id="142" name="Rectangle 141"/>
            <p:cNvSpPr/>
            <p:nvPr/>
          </p:nvSpPr>
          <p:spPr>
            <a:xfrm>
              <a:off x="1371600"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120696"/>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5"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endParaRPr sz="700" b="1" dirty="0">
                <a:solidFill>
                  <a:schemeClr val="tx1"/>
                </a:solidFill>
                <a:latin typeface="맑은 고딕"/>
                <a:ea typeface="맑은 고딕"/>
              </a:endParaRPr>
            </a:p>
          </p:txBody>
        </p:sp>
        <p:sp>
          <p:nvSpPr>
            <p:cNvPr id="148" name="Rectangle 147"/>
            <p:cNvSpPr/>
            <p:nvPr/>
          </p:nvSpPr>
          <p:spPr>
            <a:xfrm>
              <a:off x="5089583"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029255"/>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029256"/>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CXL </a:t>
              </a:r>
              <a:r>
                <a:rPr sz="700" b="1" i="0" dirty="0" err="1">
                  <a:solidFill>
                    <a:srgbClr val="FFFFFF"/>
                  </a:solidFill>
                  <a:latin typeface="맑은 고딕"/>
                  <a:ea typeface="맑은 고딕"/>
                </a:rPr>
                <a:t>공유</a:t>
              </a:r>
              <a:r>
                <a:rPr sz="700" b="1" i="0" dirty="0">
                  <a:solidFill>
                    <a:srgbClr val="FFFFFF"/>
                  </a:solidFill>
                  <a:latin typeface="맑은 고딕"/>
                  <a:ea typeface="맑은 고딕"/>
                </a:rPr>
                <a:t> 풀</a:t>
              </a:r>
              <a:r>
                <a:rPr lang="en-US" sz="700" b="1" i="0" dirty="0">
                  <a:solidFill>
                    <a:srgbClr val="FFFFFF"/>
                  </a:solidFill>
                  <a:latin typeface="맑은 고딕"/>
                  <a:ea typeface="맑은 고딕"/>
                </a:rPr>
                <a:t> </a:t>
              </a:r>
              <a:endParaRPr sz="700" b="1" i="0" dirty="0">
                <a:solidFill>
                  <a:srgbClr val="FFFFFF"/>
                </a:solidFill>
                <a:latin typeface="맑은 고딕"/>
                <a:ea typeface="맑은 고딕"/>
              </a:endParaRPr>
            </a:p>
          </p:txBody>
        </p:sp>
        <p:sp>
          <p:nvSpPr>
            <p:cNvPr id="154" name="Rectangle 153"/>
            <p:cNvSpPr/>
            <p:nvPr/>
          </p:nvSpPr>
          <p:spPr>
            <a:xfrm>
              <a:off x="3124504" y="2373264"/>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800" dirty="0">
                  <a:solidFill>
                    <a:schemeClr val="tx1"/>
                  </a:solidFill>
                  <a:latin typeface="맑은 고딕"/>
                  <a:ea typeface="맑은 고딕"/>
                </a:rPr>
                <a:t>공유 데이터</a:t>
              </a:r>
              <a:endParaRPr sz="800" dirty="0">
                <a:solidFill>
                  <a:schemeClr val="tx1"/>
                </a:solidFill>
                <a:latin typeface="맑은 고딕"/>
                <a:ea typeface="맑은 고딕"/>
              </a:endParaRPr>
            </a:p>
          </p:txBody>
        </p:sp>
        <p:cxnSp>
          <p:nvCxnSpPr>
            <p:cNvPr id="159" name="Connector 158"/>
            <p:cNvCxnSpPr/>
            <p:nvPr/>
          </p:nvCxnSpPr>
          <p:spPr>
            <a:xfrm>
              <a:off x="2549632" y="3344010"/>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24303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285858"/>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1885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04" name="C1 slot-server link"/>
            <p:cNvCxnSpPr>
              <a:cxnSpLocks/>
            </p:cNvCxnSpPr>
            <p:nvPr/>
          </p:nvCxnSpPr>
          <p:spPr>
            <a:xfrm>
              <a:off x="3890772" y="3573688"/>
              <a:ext cx="0" cy="5986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630728"/>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sp>
          <p:nvSpPr>
            <p:cNvPr id="130" name="Rectangle 35"/>
            <p:cNvSpPr/>
            <p:nvPr/>
          </p:nvSpPr>
          <p:spPr>
            <a:xfrm>
              <a:off x="1368310"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a:t>
              </a:r>
              <a:r>
                <a:rPr lang="ko-KR" altLang="en-US" sz="700" dirty="0">
                  <a:solidFill>
                    <a:schemeClr val="tx1"/>
                  </a:solidFill>
                  <a:ea typeface="맑은 고딕"/>
                </a:rPr>
                <a:t>캐시 우회</a:t>
              </a:r>
              <a:r>
                <a:rPr lang="en-US" altLang="ko-KR" sz="700" dirty="0">
                  <a:solidFill>
                    <a:schemeClr val="tx1"/>
                  </a:solidFill>
                  <a:ea typeface="맑은 고딕"/>
                </a:rPr>
                <a:t>)</a:t>
              </a:r>
            </a:p>
            <a:p>
              <a:pPr algn="ctr"/>
              <a:r>
                <a:rPr lang="ko-KR" altLang="en-US" sz="700" dirty="0">
                  <a:solidFill>
                    <a:schemeClr val="tx1"/>
                  </a:solidFill>
                  <a:ea typeface="맑은 고딕"/>
                </a:rPr>
                <a:t>응답 읽기</a:t>
              </a:r>
            </a:p>
          </p:txBody>
        </p:sp>
        <p:sp>
          <p:nvSpPr>
            <p:cNvPr id="132" name="Rectangle 35"/>
            <p:cNvSpPr/>
            <p:nvPr/>
          </p:nvSpPr>
          <p:spPr>
            <a:xfrm>
              <a:off x="5090865"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a:t>
              </a:r>
              <a:r>
                <a:rPr lang="ko-KR" altLang="en-US" sz="700" dirty="0">
                  <a:solidFill>
                    <a:schemeClr val="tx1"/>
                  </a:solidFill>
                  <a:ea typeface="맑은 고딕"/>
                </a:rPr>
                <a:t>캐시 우회</a:t>
              </a:r>
              <a:r>
                <a:rPr lang="en-US" altLang="ko-KR" sz="700" dirty="0">
                  <a:solidFill>
                    <a:schemeClr val="tx1"/>
                  </a:solidFill>
                  <a:ea typeface="맑은 고딕"/>
                </a:rPr>
                <a:t>)</a:t>
              </a:r>
            </a:p>
            <a:p>
              <a:pPr algn="ctr"/>
              <a:r>
                <a:rPr lang="ko-KR" altLang="en-US" sz="700" dirty="0">
                  <a:solidFill>
                    <a:schemeClr val="tx1"/>
                  </a:solidFill>
                  <a:ea typeface="맑은 고딕"/>
                </a:rPr>
                <a:t>응답 읽기</a:t>
              </a:r>
            </a:p>
          </p:txBody>
        </p:sp>
        <p:sp>
          <p:nvSpPr>
            <p:cNvPr id="135" name="Rectangle 37"/>
            <p:cNvSpPr/>
            <p:nvPr/>
          </p:nvSpPr>
          <p:spPr>
            <a:xfrm>
              <a:off x="1399032" y="371974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3726096"/>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13" name="Rectangle 48"/>
            <p:cNvSpPr/>
            <p:nvPr/>
          </p:nvSpPr>
          <p:spPr>
            <a:xfrm>
              <a:off x="3110754" y="2891678"/>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p:txBody>
        </p:sp>
        <p:sp>
          <p:nvSpPr>
            <p:cNvPr id="214" name="Oval 159"/>
            <p:cNvSpPr/>
            <p:nvPr/>
          </p:nvSpPr>
          <p:spPr>
            <a:xfrm>
              <a:off x="3667251" y="362504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078856"/>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297788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51956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427509"/>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046260"/>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29452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62281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519568"/>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427509"/>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cxnSp>
        <p:nvCxnSpPr>
          <p:cNvPr id="229" name="Connector 189"/>
          <p:cNvCxnSpPr/>
          <p:nvPr/>
        </p:nvCxnSpPr>
        <p:spPr>
          <a:xfrm>
            <a:off x="7379970" y="3424292"/>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4239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6020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430701"/>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4084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298900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29112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63089" y="3002880"/>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281842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6020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1255880" y="4222474"/>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50169" y="4010261"/>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381265"/>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381265"/>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sp>
        <p:nvSpPr>
          <p:cNvPr id="120" name="직사각형 119">
            <a:extLst>
              <a:ext uri="{FF2B5EF4-FFF2-40B4-BE49-F238E27FC236}">
                <a16:creationId xmlns:a16="http://schemas.microsoft.com/office/drawing/2014/main" id="{AB71E37E-1E20-4358-BCBA-5681E2D81FAD}"/>
              </a:ext>
            </a:extLst>
          </p:cNvPr>
          <p:cNvSpPr/>
          <p:nvPr/>
        </p:nvSpPr>
        <p:spPr>
          <a:xfrm>
            <a:off x="1081944" y="1048899"/>
            <a:ext cx="5492576" cy="56149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B43D3EF8-B471-48F1-9D45-16F7D655739A}"/>
              </a:ext>
            </a:extLst>
          </p:cNvPr>
          <p:cNvSpPr txBox="1"/>
          <p:nvPr/>
        </p:nvSpPr>
        <p:spPr>
          <a:xfrm>
            <a:off x="4680249" y="6373748"/>
            <a:ext cx="631904" cy="276999"/>
          </a:xfrm>
          <a:prstGeom prst="rect">
            <a:avLst/>
          </a:prstGeom>
          <a:noFill/>
        </p:spPr>
        <p:txBody>
          <a:bodyPr wrap="none" rtlCol="0">
            <a:spAutoFit/>
          </a:bodyPr>
          <a:lstStyle/>
          <a:p>
            <a:r>
              <a:rPr lang="ko-KR" altLang="en-US" sz="1200" dirty="0"/>
              <a:t>총</a:t>
            </a:r>
            <a:r>
              <a:rPr lang="en-US" altLang="ko-KR" sz="1200" dirty="0"/>
              <a:t> 9</a:t>
            </a:r>
            <a:r>
              <a:rPr lang="ko-KR" altLang="en-US" sz="1200" dirty="0"/>
              <a:t>점</a:t>
            </a:r>
          </a:p>
        </p:txBody>
      </p:sp>
      <p:sp>
        <p:nvSpPr>
          <p:cNvPr id="122" name="TextBox 121">
            <a:extLst>
              <a:ext uri="{FF2B5EF4-FFF2-40B4-BE49-F238E27FC236}">
                <a16:creationId xmlns:a16="http://schemas.microsoft.com/office/drawing/2014/main" id="{B8DC1248-6E5A-4524-B4E0-6696C64CA357}"/>
              </a:ext>
            </a:extLst>
          </p:cNvPr>
          <p:cNvSpPr txBox="1"/>
          <p:nvPr/>
        </p:nvSpPr>
        <p:spPr>
          <a:xfrm>
            <a:off x="10103519" y="6351518"/>
            <a:ext cx="631904" cy="276999"/>
          </a:xfrm>
          <a:prstGeom prst="rect">
            <a:avLst/>
          </a:prstGeom>
          <a:noFill/>
        </p:spPr>
        <p:txBody>
          <a:bodyPr wrap="none" rtlCol="0">
            <a:spAutoFit/>
          </a:bodyPr>
          <a:lstStyle/>
          <a:p>
            <a:r>
              <a:rPr lang="ko-KR" altLang="en-US" sz="1200" dirty="0"/>
              <a:t>총</a:t>
            </a:r>
            <a:r>
              <a:rPr lang="en-US" altLang="ko-KR" sz="1200" dirty="0"/>
              <a:t> 8</a:t>
            </a:r>
            <a:r>
              <a:rPr lang="ko-KR" altLang="en-US" sz="1200" dirty="0"/>
              <a:t>점</a:t>
            </a:r>
          </a:p>
        </p:txBody>
      </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grpSp>
        <p:nvGrpSpPr>
          <p:cNvPr id="2" name="그룹 1">
            <a:extLst>
              <a:ext uri="{FF2B5EF4-FFF2-40B4-BE49-F238E27FC236}">
                <a16:creationId xmlns:a16="http://schemas.microsoft.com/office/drawing/2014/main" id="{C7DD5F2C-51E6-4D74-83EF-A4160F72D0A7}"/>
              </a:ext>
            </a:extLst>
          </p:cNvPr>
          <p:cNvGrpSpPr/>
          <p:nvPr/>
        </p:nvGrpSpPr>
        <p:grpSpPr>
          <a:xfrm>
            <a:off x="2279209" y="3673870"/>
            <a:ext cx="3027586" cy="1114973"/>
            <a:chOff x="7360920" y="3300984"/>
            <a:chExt cx="3977639" cy="1407513"/>
          </a:xfrm>
        </p:grpSpPr>
        <p:sp>
          <p:nvSpPr>
            <p:cNvPr id="107" name="Rectangle 323">
              <a:extLst>
                <a:ext uri="{FF2B5EF4-FFF2-40B4-BE49-F238E27FC236}">
                  <a16:creationId xmlns:a16="http://schemas.microsoft.com/office/drawing/2014/main" id="{F3EF4309-C200-4C7D-A2E0-E20290214D3B}"/>
                </a:ext>
              </a:extLst>
            </p:cNvPr>
            <p:cNvSpPr/>
            <p:nvPr/>
          </p:nvSpPr>
          <p:spPr>
            <a:xfrm>
              <a:off x="7360920" y="3300984"/>
              <a:ext cx="3977639" cy="1189411"/>
            </a:xfrm>
            <a:prstGeom prst="rect">
              <a:avLst/>
            </a:prstGeom>
            <a:solidFill>
              <a:srgbClr val="FFFFFF"/>
            </a:solidFill>
            <a:ln w="9525">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a:extLst>
                <a:ext uri="{FF2B5EF4-FFF2-40B4-BE49-F238E27FC236}">
                  <a16:creationId xmlns:a16="http://schemas.microsoft.com/office/drawing/2014/main" id="{825F9BE9-7BDB-4B08-86A4-D6EEB192A0F4}"/>
                </a:ext>
              </a:extLst>
            </p:cNvPr>
            <p:cNvSpPr txBox="1"/>
            <p:nvPr/>
          </p:nvSpPr>
          <p:spPr>
            <a:xfrm>
              <a:off x="7389801" y="3308854"/>
              <a:ext cx="3938257" cy="210792"/>
            </a:xfrm>
            <a:prstGeom prst="rect">
              <a:avLst/>
            </a:prstGeom>
            <a:solidFill>
              <a:schemeClr val="accent2">
                <a:lumMod val="20000"/>
                <a:lumOff val="80000"/>
              </a:schemeClr>
            </a:solidFill>
          </p:spPr>
          <p:txBody>
            <a:bodyPr wrap="square" lIns="32004" tIns="10972" rIns="32004" bIns="10972" anchor="ctr">
              <a:noAutofit/>
            </a:bodyPr>
            <a:lstStyle/>
            <a:p>
              <a:pPr algn="ctr">
                <a:lnSpc>
                  <a:spcPct val="112000"/>
                </a:lnSpc>
                <a:spcBef>
                  <a:spcPts val="0"/>
                </a:spcBef>
                <a:spcAft>
                  <a:spcPts val="0"/>
                </a:spcAft>
              </a:pPr>
              <a:r>
                <a:rPr sz="919" b="1" i="0" dirty="0">
                  <a:latin typeface="맑은 고딕"/>
                </a:rPr>
                <a:t>Central Metadata Service</a:t>
              </a:r>
            </a:p>
          </p:txBody>
        </p:sp>
        <p:sp>
          <p:nvSpPr>
            <p:cNvPr id="110" name="Rectangle 326">
              <a:extLst>
                <a:ext uri="{FF2B5EF4-FFF2-40B4-BE49-F238E27FC236}">
                  <a16:creationId xmlns:a16="http://schemas.microsoft.com/office/drawing/2014/main" id="{DDE1E66E-F345-4106-907C-07940FC245C6}"/>
                </a:ext>
              </a:extLst>
            </p:cNvPr>
            <p:cNvSpPr/>
            <p:nvPr/>
          </p:nvSpPr>
          <p:spPr>
            <a:xfrm>
              <a:off x="7443216" y="3593592"/>
              <a:ext cx="3822192" cy="246888"/>
            </a:xfrm>
            <a:prstGeom prst="rect">
              <a:avLst/>
            </a:prstGeom>
            <a:solidFill>
              <a:schemeClr val="bg1"/>
            </a:solidFill>
            <a:ln w="11430">
              <a:solidFill>
                <a:srgbClr val="888C91"/>
              </a:solidFill>
            </a:ln>
          </p:spPr>
          <p:style>
            <a:lnRef idx="1">
              <a:schemeClr val="accent1"/>
            </a:lnRef>
            <a:fillRef idx="3">
              <a:schemeClr val="accent1"/>
            </a:fillRef>
            <a:effectRef idx="2">
              <a:schemeClr val="accent1"/>
            </a:effectRef>
            <a:fontRef idx="minor">
              <a:schemeClr val="lt1"/>
            </a:fontRef>
          </p:style>
          <p:txBody>
            <a:bodyPr wrap="square" lIns="32004" tIns="10972" rIns="32004" bIns="10972" rtlCol="0" anchor="ctr">
              <a:noAutofit/>
            </a:bodyPr>
            <a:lstStyle/>
            <a:p>
              <a:pPr algn="ctr">
                <a:lnSpc>
                  <a:spcPct val="112000"/>
                </a:lnSpc>
                <a:spcBef>
                  <a:spcPts val="0"/>
                </a:spcBef>
                <a:spcAft>
                  <a:spcPts val="0"/>
                </a:spcAft>
              </a:pPr>
              <a:r>
                <a:rPr sz="900" i="0" dirty="0">
                  <a:solidFill>
                    <a:srgbClr val="1C1C1C"/>
                  </a:solidFill>
                  <a:latin typeface="맑은 고딕"/>
                </a:rPr>
                <a:t>Shard Router  |  hash(</a:t>
              </a:r>
              <a:r>
                <a:rPr lang="en-US" sz="900" i="0" dirty="0">
                  <a:solidFill>
                    <a:srgbClr val="1C1C1C"/>
                  </a:solidFill>
                  <a:latin typeface="맑은 고딕"/>
                </a:rPr>
                <a:t>Data Object ID</a:t>
              </a:r>
              <a:r>
                <a:rPr sz="900" i="0" dirty="0">
                  <a:solidFill>
                    <a:srgbClr val="1C1C1C"/>
                  </a:solidFill>
                  <a:latin typeface="맑은 고딕"/>
                </a:rPr>
                <a:t>) → Worker</a:t>
              </a:r>
            </a:p>
          </p:txBody>
        </p:sp>
        <p:sp>
          <p:nvSpPr>
            <p:cNvPr id="111" name="Rectangle 327">
              <a:extLst>
                <a:ext uri="{FF2B5EF4-FFF2-40B4-BE49-F238E27FC236}">
                  <a16:creationId xmlns:a16="http://schemas.microsoft.com/office/drawing/2014/main" id="{20542A6F-E606-48F9-9328-78C58F84D5E8}"/>
                </a:ext>
              </a:extLst>
            </p:cNvPr>
            <p:cNvSpPr/>
            <p:nvPr/>
          </p:nvSpPr>
          <p:spPr>
            <a:xfrm>
              <a:off x="7498079" y="4023360"/>
              <a:ext cx="1170432" cy="411480"/>
            </a:xfrm>
            <a:prstGeom prst="rect">
              <a:avLst/>
            </a:prstGeom>
            <a:solidFill>
              <a:schemeClr val="bg1"/>
            </a:solidFill>
            <a:ln w="10160">
              <a:solidFill>
                <a:srgbClr val="1C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a:extLst>
                <a:ext uri="{FF2B5EF4-FFF2-40B4-BE49-F238E27FC236}">
                  <a16:creationId xmlns:a16="http://schemas.microsoft.com/office/drawing/2014/main" id="{0746786E-0A9A-486C-9581-CE210FB844D6}"/>
                </a:ext>
              </a:extLst>
            </p:cNvPr>
            <p:cNvSpPr txBox="1"/>
            <p:nvPr/>
          </p:nvSpPr>
          <p:spPr>
            <a:xfrm>
              <a:off x="7498079" y="4041648"/>
              <a:ext cx="1170432" cy="164592"/>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860" b="1" i="0" dirty="0">
                  <a:solidFill>
                    <a:srgbClr val="1C1C1C"/>
                  </a:solidFill>
                  <a:latin typeface="맑은 고딕"/>
                </a:rPr>
                <a:t>Worker 0</a:t>
              </a:r>
            </a:p>
          </p:txBody>
        </p:sp>
        <p:sp>
          <p:nvSpPr>
            <p:cNvPr id="113" name="TextBox 112">
              <a:extLst>
                <a:ext uri="{FF2B5EF4-FFF2-40B4-BE49-F238E27FC236}">
                  <a16:creationId xmlns:a16="http://schemas.microsoft.com/office/drawing/2014/main" id="{EF307C70-7FFF-42E0-A240-365C21BA9626}"/>
                </a:ext>
              </a:extLst>
            </p:cNvPr>
            <p:cNvSpPr txBox="1"/>
            <p:nvPr/>
          </p:nvSpPr>
          <p:spPr>
            <a:xfrm>
              <a:off x="7498079" y="4242816"/>
              <a:ext cx="1170432" cy="146304"/>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740" b="0" i="0" dirty="0">
                  <a:solidFill>
                    <a:srgbClr val="373737"/>
                  </a:solidFill>
                  <a:latin typeface="맑은 고딕"/>
                </a:rPr>
                <a:t>Shard S0 · LRU</a:t>
              </a:r>
            </a:p>
          </p:txBody>
        </p:sp>
        <p:sp>
          <p:nvSpPr>
            <p:cNvPr id="114" name="Rectangle 330">
              <a:extLst>
                <a:ext uri="{FF2B5EF4-FFF2-40B4-BE49-F238E27FC236}">
                  <a16:creationId xmlns:a16="http://schemas.microsoft.com/office/drawing/2014/main" id="{5C372C1C-0123-47D4-A750-C3F0E0BCEB87}"/>
                </a:ext>
              </a:extLst>
            </p:cNvPr>
            <p:cNvSpPr/>
            <p:nvPr/>
          </p:nvSpPr>
          <p:spPr>
            <a:xfrm>
              <a:off x="8769096" y="4023360"/>
              <a:ext cx="1170432" cy="411480"/>
            </a:xfrm>
            <a:prstGeom prst="rect">
              <a:avLst/>
            </a:prstGeom>
            <a:solidFill>
              <a:schemeClr val="bg1"/>
            </a:solidFill>
            <a:ln w="10160">
              <a:solidFill>
                <a:srgbClr val="1C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a:extLst>
                <a:ext uri="{FF2B5EF4-FFF2-40B4-BE49-F238E27FC236}">
                  <a16:creationId xmlns:a16="http://schemas.microsoft.com/office/drawing/2014/main" id="{0CCE53D9-4E12-4163-BA6A-EE177F9A9AA6}"/>
                </a:ext>
              </a:extLst>
            </p:cNvPr>
            <p:cNvSpPr txBox="1"/>
            <p:nvPr/>
          </p:nvSpPr>
          <p:spPr>
            <a:xfrm>
              <a:off x="8769096" y="4041648"/>
              <a:ext cx="1170432" cy="164592"/>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860" b="1" i="0">
                  <a:solidFill>
                    <a:srgbClr val="1C1C1C"/>
                  </a:solidFill>
                  <a:latin typeface="맑은 고딕"/>
                </a:rPr>
                <a:t>Worker 1</a:t>
              </a:r>
            </a:p>
          </p:txBody>
        </p:sp>
        <p:sp>
          <p:nvSpPr>
            <p:cNvPr id="116" name="TextBox 115">
              <a:extLst>
                <a:ext uri="{FF2B5EF4-FFF2-40B4-BE49-F238E27FC236}">
                  <a16:creationId xmlns:a16="http://schemas.microsoft.com/office/drawing/2014/main" id="{E34D97CF-8C50-4A89-AC10-66F126BAAB27}"/>
                </a:ext>
              </a:extLst>
            </p:cNvPr>
            <p:cNvSpPr txBox="1"/>
            <p:nvPr/>
          </p:nvSpPr>
          <p:spPr>
            <a:xfrm>
              <a:off x="8769096" y="4242816"/>
              <a:ext cx="1170432" cy="146304"/>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740" b="0" i="0">
                  <a:solidFill>
                    <a:srgbClr val="373737"/>
                  </a:solidFill>
                  <a:latin typeface="맑은 고딕"/>
                </a:rPr>
                <a:t>Shard S1 · LRU</a:t>
              </a:r>
            </a:p>
          </p:txBody>
        </p:sp>
        <p:sp>
          <p:nvSpPr>
            <p:cNvPr id="117" name="Rectangle 333">
              <a:extLst>
                <a:ext uri="{FF2B5EF4-FFF2-40B4-BE49-F238E27FC236}">
                  <a16:creationId xmlns:a16="http://schemas.microsoft.com/office/drawing/2014/main" id="{3478BB35-EDD9-4AF8-B638-6F739C780025}"/>
                </a:ext>
              </a:extLst>
            </p:cNvPr>
            <p:cNvSpPr/>
            <p:nvPr/>
          </p:nvSpPr>
          <p:spPr>
            <a:xfrm>
              <a:off x="10040112" y="4023360"/>
              <a:ext cx="1170432" cy="411480"/>
            </a:xfrm>
            <a:prstGeom prst="rect">
              <a:avLst/>
            </a:prstGeom>
            <a:solidFill>
              <a:schemeClr val="bg1"/>
            </a:solidFill>
            <a:ln w="10160">
              <a:solidFill>
                <a:srgbClr val="1C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8A476709-D627-400C-AD76-E4C93A32EBE2}"/>
                </a:ext>
              </a:extLst>
            </p:cNvPr>
            <p:cNvSpPr txBox="1"/>
            <p:nvPr/>
          </p:nvSpPr>
          <p:spPr>
            <a:xfrm>
              <a:off x="10040112" y="4041648"/>
              <a:ext cx="1170432" cy="164592"/>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860" b="1" i="0">
                  <a:solidFill>
                    <a:srgbClr val="1C1C1C"/>
                  </a:solidFill>
                  <a:latin typeface="맑은 고딕"/>
                </a:rPr>
                <a:t>Worker 2</a:t>
              </a:r>
            </a:p>
          </p:txBody>
        </p:sp>
        <p:sp>
          <p:nvSpPr>
            <p:cNvPr id="119" name="TextBox 118">
              <a:extLst>
                <a:ext uri="{FF2B5EF4-FFF2-40B4-BE49-F238E27FC236}">
                  <a16:creationId xmlns:a16="http://schemas.microsoft.com/office/drawing/2014/main" id="{730905E6-94BD-4C11-BE84-78501AF0A6AB}"/>
                </a:ext>
              </a:extLst>
            </p:cNvPr>
            <p:cNvSpPr txBox="1"/>
            <p:nvPr/>
          </p:nvSpPr>
          <p:spPr>
            <a:xfrm>
              <a:off x="10040112" y="4242816"/>
              <a:ext cx="1170432" cy="146304"/>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sz="740" b="0" i="0" dirty="0">
                  <a:solidFill>
                    <a:srgbClr val="373737"/>
                  </a:solidFill>
                  <a:latin typeface="맑은 고딕"/>
                </a:rPr>
                <a:t>Shard S2 · LRU</a:t>
              </a:r>
            </a:p>
          </p:txBody>
        </p:sp>
        <p:cxnSp>
          <p:nvCxnSpPr>
            <p:cNvPr id="127" name="Connector 337">
              <a:extLst>
                <a:ext uri="{FF2B5EF4-FFF2-40B4-BE49-F238E27FC236}">
                  <a16:creationId xmlns:a16="http://schemas.microsoft.com/office/drawing/2014/main" id="{E4A9BD72-EC30-4BA7-8048-5E9667C4236B}"/>
                </a:ext>
              </a:extLst>
            </p:cNvPr>
            <p:cNvCxnSpPr/>
            <p:nvPr/>
          </p:nvCxnSpPr>
          <p:spPr>
            <a:xfrm>
              <a:off x="9317736" y="3840480"/>
              <a:ext cx="0" cy="91440"/>
            </a:xfrm>
            <a:prstGeom prst="line">
              <a:avLst/>
            </a:prstGeom>
            <a:ln w="16510">
              <a:solidFill>
                <a:srgbClr val="2D5794"/>
              </a:solidFill>
            </a:ln>
          </p:spPr>
          <p:style>
            <a:lnRef idx="2">
              <a:schemeClr val="accent1"/>
            </a:lnRef>
            <a:fillRef idx="0">
              <a:schemeClr val="accent1"/>
            </a:fillRef>
            <a:effectRef idx="1">
              <a:schemeClr val="accent1"/>
            </a:effectRef>
            <a:fontRef idx="minor">
              <a:schemeClr val="tx1"/>
            </a:fontRef>
          </p:style>
        </p:cxnSp>
        <p:cxnSp>
          <p:nvCxnSpPr>
            <p:cNvPr id="131" name="Connector 338">
              <a:extLst>
                <a:ext uri="{FF2B5EF4-FFF2-40B4-BE49-F238E27FC236}">
                  <a16:creationId xmlns:a16="http://schemas.microsoft.com/office/drawing/2014/main" id="{FC0EE07D-7E24-4865-8965-B09EEEEF11F7}"/>
                </a:ext>
              </a:extLst>
            </p:cNvPr>
            <p:cNvCxnSpPr/>
            <p:nvPr/>
          </p:nvCxnSpPr>
          <p:spPr>
            <a:xfrm>
              <a:off x="8074152" y="3931920"/>
              <a:ext cx="2523744" cy="0"/>
            </a:xfrm>
            <a:prstGeom prst="line">
              <a:avLst/>
            </a:prstGeom>
            <a:ln w="15875">
              <a:solidFill>
                <a:srgbClr val="2D5794"/>
              </a:solidFill>
            </a:ln>
          </p:spPr>
          <p:style>
            <a:lnRef idx="2">
              <a:schemeClr val="accent1"/>
            </a:lnRef>
            <a:fillRef idx="0">
              <a:schemeClr val="accent1"/>
            </a:fillRef>
            <a:effectRef idx="1">
              <a:schemeClr val="accent1"/>
            </a:effectRef>
            <a:fontRef idx="minor">
              <a:schemeClr val="tx1"/>
            </a:fontRef>
          </p:style>
        </p:cxnSp>
        <p:cxnSp>
          <p:nvCxnSpPr>
            <p:cNvPr id="133" name="Connector 339">
              <a:extLst>
                <a:ext uri="{FF2B5EF4-FFF2-40B4-BE49-F238E27FC236}">
                  <a16:creationId xmlns:a16="http://schemas.microsoft.com/office/drawing/2014/main" id="{0E26A8A2-AA32-472C-BFEB-3E8765219CFD}"/>
                </a:ext>
              </a:extLst>
            </p:cNvPr>
            <p:cNvCxnSpPr/>
            <p:nvPr/>
          </p:nvCxnSpPr>
          <p:spPr>
            <a:xfrm>
              <a:off x="8083296" y="3931920"/>
              <a:ext cx="0" cy="91440"/>
            </a:xfrm>
            <a:prstGeom prst="line">
              <a:avLst/>
            </a:prstGeom>
            <a:ln w="15875">
              <a:solidFill>
                <a:srgbClr val="2D579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4" name="Connector 340">
              <a:extLst>
                <a:ext uri="{FF2B5EF4-FFF2-40B4-BE49-F238E27FC236}">
                  <a16:creationId xmlns:a16="http://schemas.microsoft.com/office/drawing/2014/main" id="{0E952D8A-2E31-4377-9C4D-B444607E7A66}"/>
                </a:ext>
              </a:extLst>
            </p:cNvPr>
            <p:cNvCxnSpPr/>
            <p:nvPr/>
          </p:nvCxnSpPr>
          <p:spPr>
            <a:xfrm>
              <a:off x="9354312" y="3931920"/>
              <a:ext cx="0" cy="91440"/>
            </a:xfrm>
            <a:prstGeom prst="line">
              <a:avLst/>
            </a:prstGeom>
            <a:ln w="15875">
              <a:solidFill>
                <a:srgbClr val="2D579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9" name="Connector 341">
              <a:extLst>
                <a:ext uri="{FF2B5EF4-FFF2-40B4-BE49-F238E27FC236}">
                  <a16:creationId xmlns:a16="http://schemas.microsoft.com/office/drawing/2014/main" id="{23FDAB63-4F84-4566-8E6A-C291A10BA8ED}"/>
                </a:ext>
              </a:extLst>
            </p:cNvPr>
            <p:cNvCxnSpPr/>
            <p:nvPr/>
          </p:nvCxnSpPr>
          <p:spPr>
            <a:xfrm>
              <a:off x="10625328" y="3931920"/>
              <a:ext cx="0" cy="91440"/>
            </a:xfrm>
            <a:prstGeom prst="line">
              <a:avLst/>
            </a:prstGeom>
            <a:ln w="15875">
              <a:solidFill>
                <a:srgbClr val="2D5794"/>
              </a:solidFill>
              <a:tailEnd type="triangle" w="sm" len="sm"/>
            </a:ln>
          </p:spPr>
          <p:style>
            <a:lnRef idx="2">
              <a:schemeClr val="accent1"/>
            </a:lnRef>
            <a:fillRef idx="0">
              <a:schemeClr val="accent1"/>
            </a:fillRef>
            <a:effectRef idx="1">
              <a:schemeClr val="accent1"/>
            </a:effectRef>
            <a:fontRef idx="minor">
              <a:schemeClr val="tx1"/>
            </a:fontRef>
          </p:style>
        </p:cxnSp>
        <p:sp>
          <p:nvSpPr>
            <p:cNvPr id="143" name="TextBox 142">
              <a:extLst>
                <a:ext uri="{FF2B5EF4-FFF2-40B4-BE49-F238E27FC236}">
                  <a16:creationId xmlns:a16="http://schemas.microsoft.com/office/drawing/2014/main" id="{9747C3D2-2124-4271-B457-FF6FCE5D8717}"/>
                </a:ext>
              </a:extLst>
            </p:cNvPr>
            <p:cNvSpPr txBox="1"/>
            <p:nvPr/>
          </p:nvSpPr>
          <p:spPr>
            <a:xfrm>
              <a:off x="7413267" y="4553049"/>
              <a:ext cx="3749039" cy="155448"/>
            </a:xfrm>
            <a:prstGeom prst="rect">
              <a:avLst/>
            </a:prstGeom>
            <a:noFill/>
          </p:spPr>
          <p:txBody>
            <a:bodyPr wrap="square" lIns="32004" tIns="10972" rIns="32004" bIns="10972" anchor="ctr">
              <a:noAutofit/>
            </a:bodyPr>
            <a:lstStyle/>
            <a:p>
              <a:pPr algn="ctr">
                <a:lnSpc>
                  <a:spcPct val="112000"/>
                </a:lnSpc>
                <a:spcBef>
                  <a:spcPts val="0"/>
                </a:spcBef>
                <a:spcAft>
                  <a:spcPts val="0"/>
                </a:spcAft>
              </a:pPr>
              <a:r>
                <a:rPr lang="en-US" sz="810" b="1" dirty="0">
                  <a:solidFill>
                    <a:srgbClr val="2D5794"/>
                  </a:solidFill>
                  <a:latin typeface="맑은 고딕"/>
                </a:rPr>
                <a:t>Shard </a:t>
              </a:r>
              <a:r>
                <a:rPr sz="810" b="1" i="0" dirty="0">
                  <a:solidFill>
                    <a:srgbClr val="2D5794"/>
                  </a:solidFill>
                  <a:latin typeface="맑은 고딕"/>
                </a:rPr>
                <a:t>별 Metadata / Allocator / LRU </a:t>
              </a:r>
              <a:r>
                <a:rPr sz="810" b="1" i="0" dirty="0" err="1">
                  <a:solidFill>
                    <a:srgbClr val="2D5794"/>
                  </a:solidFill>
                  <a:latin typeface="맑은 고딕"/>
                </a:rPr>
                <a:t>독립</a:t>
              </a:r>
              <a:r>
                <a:rPr sz="810" b="1" i="0" dirty="0">
                  <a:solidFill>
                    <a:srgbClr val="2D5794"/>
                  </a:solidFill>
                  <a:latin typeface="맑은 고딕"/>
                </a:rPr>
                <a:t> </a:t>
              </a:r>
              <a:r>
                <a:rPr sz="810" b="1" i="0" dirty="0" err="1">
                  <a:solidFill>
                    <a:srgbClr val="2D5794"/>
                  </a:solidFill>
                  <a:latin typeface="맑은 고딕"/>
                </a:rPr>
                <a:t>관리</a:t>
              </a:r>
              <a:endParaRPr sz="810" b="1" i="0" dirty="0">
                <a:solidFill>
                  <a:srgbClr val="2D5794"/>
                </a:solidFill>
                <a:latin typeface="맑은 고딕"/>
              </a:endParaRPr>
            </a:p>
          </p:txBody>
        </p:sp>
      </p:grpSp>
      <p:grpSp>
        <p:nvGrpSpPr>
          <p:cNvPr id="151" name="그룹 150">
            <a:extLst>
              <a:ext uri="{FF2B5EF4-FFF2-40B4-BE49-F238E27FC236}">
                <a16:creationId xmlns:a16="http://schemas.microsoft.com/office/drawing/2014/main" id="{7B264FE8-2CB7-4D4E-92C7-8C589E53BFE5}"/>
              </a:ext>
            </a:extLst>
          </p:cNvPr>
          <p:cNvGrpSpPr/>
          <p:nvPr/>
        </p:nvGrpSpPr>
        <p:grpSpPr>
          <a:xfrm>
            <a:off x="5634885" y="4080458"/>
            <a:ext cx="805575" cy="488318"/>
            <a:chOff x="11056831" y="3583489"/>
            <a:chExt cx="886133" cy="488318"/>
          </a:xfrm>
        </p:grpSpPr>
        <p:sp>
          <p:nvSpPr>
            <p:cNvPr id="155" name="KV Cache Manager">
              <a:extLst>
                <a:ext uri="{FF2B5EF4-FFF2-40B4-BE49-F238E27FC236}">
                  <a16:creationId xmlns:a16="http://schemas.microsoft.com/office/drawing/2014/main" id="{F89BBB6F-0E43-46F5-B240-620E3C4C25D4}"/>
                </a:ext>
              </a:extLst>
            </p:cNvPr>
            <p:cNvSpPr/>
            <p:nvPr/>
          </p:nvSpPr>
          <p:spPr>
            <a:xfrm>
              <a:off x="11126972" y="3816949"/>
              <a:ext cx="784423" cy="194036"/>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QA4 </a:t>
              </a:r>
              <a:r>
                <a:rPr lang="ko-KR" altLang="en-US" sz="800" b="1" dirty="0">
                  <a:solidFill>
                    <a:schemeClr val="tx1"/>
                  </a:solidFill>
                </a:rPr>
                <a:t>보완</a:t>
              </a:r>
              <a:endParaRPr lang="en-US" altLang="ko-KR" sz="800" b="1" dirty="0">
                <a:solidFill>
                  <a:schemeClr val="tx1"/>
                </a:solidFill>
              </a:endParaRPr>
            </a:p>
          </p:txBody>
        </p:sp>
        <p:sp>
          <p:nvSpPr>
            <p:cNvPr id="157" name="직사각형 156">
              <a:extLst>
                <a:ext uri="{FF2B5EF4-FFF2-40B4-BE49-F238E27FC236}">
                  <a16:creationId xmlns:a16="http://schemas.microsoft.com/office/drawing/2014/main" id="{EC34CC24-7BF3-4713-95E8-2A090762D893}"/>
                </a:ext>
              </a:extLst>
            </p:cNvPr>
            <p:cNvSpPr/>
            <p:nvPr/>
          </p:nvSpPr>
          <p:spPr>
            <a:xfrm>
              <a:off x="11056831" y="3583489"/>
              <a:ext cx="886133" cy="488318"/>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800" b="1" dirty="0">
                  <a:solidFill>
                    <a:schemeClr val="tx1"/>
                  </a:solidFill>
                </a:rPr>
                <a:t>Legend</a:t>
              </a:r>
              <a:endParaRPr lang="ko-KR" altLang="en-US" sz="800" b="1" dirty="0">
                <a:solidFill>
                  <a:schemeClr val="tx1"/>
                </a:solidFill>
              </a:endParaRPr>
            </a:p>
          </p:txBody>
        </p:sp>
      </p:grpSp>
      <p:sp>
        <p:nvSpPr>
          <p:cNvPr id="164" name="모서리가 둥근 직사각형 37">
            <a:extLst>
              <a:ext uri="{FF2B5EF4-FFF2-40B4-BE49-F238E27FC236}">
                <a16:creationId xmlns:a16="http://schemas.microsoft.com/office/drawing/2014/main" id="{824F5705-7E02-467A-970F-D2A9FCD95DC7}"/>
              </a:ext>
            </a:extLst>
          </p:cNvPr>
          <p:cNvSpPr/>
          <p:nvPr/>
        </p:nvSpPr>
        <p:spPr>
          <a:xfrm>
            <a:off x="9930631"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65"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66"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67"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68" name="모서리가 둥근 직사각형 37">
            <a:extLst>
              <a:ext uri="{FF2B5EF4-FFF2-40B4-BE49-F238E27FC236}">
                <a16:creationId xmlns:a16="http://schemas.microsoft.com/office/drawing/2014/main" id="{476B6E1C-7561-417D-A669-4DEFCE610223}"/>
              </a:ext>
            </a:extLst>
          </p:cNvPr>
          <p:cNvSpPr/>
          <p:nvPr/>
        </p:nvSpPr>
        <p:spPr>
          <a:xfrm>
            <a:off x="8858120"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69"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확장성</a:t>
            </a:r>
          </a:p>
        </p:txBody>
      </p:sp>
      <p:sp>
        <p:nvSpPr>
          <p:cNvPr id="173" name="모서리가 둥근 직사각형 37">
            <a:extLst>
              <a:ext uri="{FF2B5EF4-FFF2-40B4-BE49-F238E27FC236}">
                <a16:creationId xmlns:a16="http://schemas.microsoft.com/office/drawing/2014/main" id="{824F5705-7E02-467A-970F-D2A9FCD95DC7}"/>
              </a:ext>
            </a:extLst>
          </p:cNvPr>
          <p:cNvSpPr/>
          <p:nvPr/>
        </p:nvSpPr>
        <p:spPr>
          <a:xfrm>
            <a:off x="1099507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F4 KV </a:t>
            </a:r>
            <a:r>
              <a:rPr lang="ko-KR" altLang="en-US" sz="700" dirty="0">
                <a:latin typeface="맑은 고딕" panose="020B0503020000020004" pitchFamily="50" charset="-127"/>
              </a:rPr>
              <a:t>캐시 관리</a:t>
            </a:r>
          </a:p>
        </p:txBody>
      </p:sp>
    </p:spTree>
    <p:extLst>
      <p:ext uri="{BB962C8B-B14F-4D97-AF65-F5344CB8AC3E}">
        <p14:creationId xmlns:p14="http://schemas.microsoft.com/office/powerpoint/2010/main" val="2832573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9456" y="73152"/>
            <a:ext cx="10058400" cy="365760"/>
          </a:xfrm>
          <a:prstGeom prst="rect">
            <a:avLst/>
          </a:prstGeom>
          <a:noFill/>
        </p:spPr>
        <p:txBody>
          <a:bodyPr wrap="square" lIns="0" tIns="0" rIns="0" bIns="0" anchor="ctr">
            <a:spAutoFit/>
          </a:bodyPr>
          <a:lstStyle/>
          <a:p>
            <a:pPr algn="l"/>
            <a:r>
              <a:rPr sz="1900" b="1" i="0">
                <a:solidFill>
                  <a:srgbClr val="262626"/>
                </a:solidFill>
                <a:latin typeface="맑은 고딕"/>
                <a:ea typeface="맑은 고딕"/>
              </a:rPr>
              <a:t>DP1. Data Migration 결정 구조 - 보완설계</a:t>
            </a:r>
          </a:p>
        </p:txBody>
      </p:sp>
      <p:sp>
        <p:nvSpPr>
          <p:cNvPr id="3" name="Rectangle 2"/>
          <p:cNvSpPr/>
          <p:nvPr/>
        </p:nvSpPr>
        <p:spPr>
          <a:xfrm>
            <a:off x="0" y="548640"/>
            <a:ext cx="7772400" cy="329184"/>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4" name="Rectangle 3"/>
          <p:cNvSpPr/>
          <p:nvPr/>
        </p:nvSpPr>
        <p:spPr>
          <a:xfrm>
            <a:off x="237744" y="598932"/>
            <a:ext cx="45720" cy="228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5" name="TextBox 4"/>
          <p:cNvSpPr txBox="1"/>
          <p:nvPr/>
        </p:nvSpPr>
        <p:spPr>
          <a:xfrm>
            <a:off x="365760" y="548640"/>
            <a:ext cx="7223760" cy="329184"/>
          </a:xfrm>
          <a:prstGeom prst="rect">
            <a:avLst/>
          </a:prstGeom>
          <a:noFill/>
        </p:spPr>
        <p:txBody>
          <a:bodyPr wrap="square" lIns="0" tIns="0" rIns="0" bIns="0" anchor="ctr">
            <a:spAutoFit/>
          </a:bodyPr>
          <a:lstStyle/>
          <a:p>
            <a:pPr algn="l"/>
            <a:r>
              <a:rPr sz="1250" b="1" i="0">
                <a:solidFill>
                  <a:srgbClr val="FFFFFF"/>
                </a:solidFill>
                <a:latin typeface="맑은 고딕"/>
                <a:ea typeface="맑은 고딕"/>
              </a:rPr>
              <a:t>2안(3-plane) 선택 — plane 분리를 유지한 채 QA2 약점만 보완</a:t>
            </a:r>
          </a:p>
        </p:txBody>
      </p:sp>
      <p:sp>
        <p:nvSpPr>
          <p:cNvPr id="6" name="Rectangle 5"/>
          <p:cNvSpPr/>
          <p:nvPr/>
        </p:nvSpPr>
        <p:spPr>
          <a:xfrm>
            <a:off x="7863840" y="548640"/>
            <a:ext cx="1289304" cy="155448"/>
          </a:xfrm>
          <a:prstGeom prst="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C2 신규 Device SW</a:t>
            </a:r>
          </a:p>
        </p:txBody>
      </p:sp>
      <p:sp>
        <p:nvSpPr>
          <p:cNvPr id="7" name="Rectangle 6"/>
          <p:cNvSpPr/>
          <p:nvPr/>
        </p:nvSpPr>
        <p:spPr>
          <a:xfrm>
            <a:off x="9208008" y="548640"/>
            <a:ext cx="1289304"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F1 메모리 tier 간 복사</a:t>
            </a:r>
          </a:p>
        </p:txBody>
      </p:sp>
      <p:sp>
        <p:nvSpPr>
          <p:cNvPr id="8" name="Rectangle 7"/>
          <p:cNvSpPr/>
          <p:nvPr/>
        </p:nvSpPr>
        <p:spPr>
          <a:xfrm>
            <a:off x="10552176" y="548640"/>
            <a:ext cx="1289304" cy="1554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F2 데이터 이동 스케줄링</a:t>
            </a:r>
          </a:p>
        </p:txBody>
      </p:sp>
      <p:sp>
        <p:nvSpPr>
          <p:cNvPr id="9" name="Rectangle 8"/>
          <p:cNvSpPr/>
          <p:nvPr/>
        </p:nvSpPr>
        <p:spPr>
          <a:xfrm>
            <a:off x="7863840" y="717804"/>
            <a:ext cx="953262" cy="155448"/>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Q1 Throughput</a:t>
            </a:r>
          </a:p>
        </p:txBody>
      </p:sp>
      <p:sp>
        <p:nvSpPr>
          <p:cNvPr id="10" name="Rectangle 9"/>
          <p:cNvSpPr/>
          <p:nvPr/>
        </p:nvSpPr>
        <p:spPr>
          <a:xfrm>
            <a:off x="8871966" y="717804"/>
            <a:ext cx="953262"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Q2 HBM 점유율</a:t>
            </a:r>
          </a:p>
        </p:txBody>
      </p:sp>
      <p:sp>
        <p:nvSpPr>
          <p:cNvPr id="11" name="Rectangle 10"/>
          <p:cNvSpPr/>
          <p:nvPr/>
        </p:nvSpPr>
        <p:spPr>
          <a:xfrm>
            <a:off x="9880092" y="717804"/>
            <a:ext cx="953262"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Q3 변경용이성</a:t>
            </a:r>
          </a:p>
        </p:txBody>
      </p:sp>
      <p:sp>
        <p:nvSpPr>
          <p:cNvPr id="12" name="Rectangle 11"/>
          <p:cNvSpPr/>
          <p:nvPr/>
        </p:nvSpPr>
        <p:spPr>
          <a:xfrm>
            <a:off x="10888217" y="717804"/>
            <a:ext cx="953262" cy="155448"/>
          </a:xfrm>
          <a:prstGeom prst="rect">
            <a:avLst/>
          </a:prstGeom>
          <a:solidFill>
            <a:srgbClr val="843C0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1" i="0">
                <a:solidFill>
                  <a:srgbClr val="FFFFFF"/>
                </a:solidFill>
                <a:latin typeface="맑은 고딕"/>
                <a:ea typeface="맑은 고딕"/>
              </a:rPr>
              <a:t>Q4 확장성</a:t>
            </a:r>
          </a:p>
        </p:txBody>
      </p:sp>
      <p:sp>
        <p:nvSpPr>
          <p:cNvPr id="13" name="Rectangle 12"/>
          <p:cNvSpPr/>
          <p:nvPr/>
        </p:nvSpPr>
        <p:spPr>
          <a:xfrm>
            <a:off x="182880" y="950976"/>
            <a:ext cx="11695176" cy="365760"/>
          </a:xfrm>
          <a:prstGeom prst="rect">
            <a:avLst/>
          </a:prstGeom>
          <a:solidFill>
            <a:srgbClr val="F7FAFD"/>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4" name="TextBox 13"/>
          <p:cNvSpPr txBox="1"/>
          <p:nvPr/>
        </p:nvSpPr>
        <p:spPr>
          <a:xfrm>
            <a:off x="310896" y="950976"/>
            <a:ext cx="1188720" cy="365760"/>
          </a:xfrm>
          <a:prstGeom prst="rect">
            <a:avLst/>
          </a:prstGeom>
          <a:noFill/>
        </p:spPr>
        <p:txBody>
          <a:bodyPr wrap="square" lIns="0" tIns="0" rIns="0" bIns="0" anchor="ctr">
            <a:spAutoFit/>
          </a:bodyPr>
          <a:lstStyle/>
          <a:p>
            <a:pPr algn="l"/>
            <a:r>
              <a:rPr sz="1000" b="1" i="0">
                <a:solidFill>
                  <a:srgbClr val="1F4E79"/>
                </a:solidFill>
                <a:latin typeface="맑은 고딕"/>
                <a:ea typeface="맑은 고딕"/>
              </a:rPr>
              <a:t>선택 근거</a:t>
            </a:r>
          </a:p>
        </p:txBody>
      </p:sp>
      <p:sp>
        <p:nvSpPr>
          <p:cNvPr id="15" name="TextBox 14"/>
          <p:cNvSpPr txBox="1"/>
          <p:nvPr/>
        </p:nvSpPr>
        <p:spPr>
          <a:xfrm>
            <a:off x="1426464" y="987552"/>
            <a:ext cx="10332720" cy="310896"/>
          </a:xfrm>
          <a:prstGeom prst="rect">
            <a:avLst/>
          </a:prstGeom>
          <a:noFill/>
        </p:spPr>
        <p:txBody>
          <a:bodyPr wrap="square" lIns="0" tIns="0" rIns="0" bIns="0" anchor="t">
            <a:spAutoFit/>
          </a:bodyPr>
          <a:lstStyle/>
          <a:p>
            <a:pPr algn="l">
              <a:lnSpc>
                <a:spcPct val="112000"/>
              </a:lnSpc>
            </a:pPr>
            <a:r>
              <a:rPr sz="850" b="0" i="0" dirty="0">
                <a:solidFill>
                  <a:srgbClr val="262626"/>
                </a:solidFill>
                <a:latin typeface="맑은 고딕"/>
                <a:ea typeface="맑은 고딕"/>
              </a:rPr>
              <a:t>QA1 Throughput · QA4 </a:t>
            </a:r>
            <a:r>
              <a:rPr sz="850" b="0" i="0" dirty="0" err="1">
                <a:solidFill>
                  <a:srgbClr val="262626"/>
                </a:solidFill>
                <a:latin typeface="맑은 고딕"/>
                <a:ea typeface="맑은 고딕"/>
              </a:rPr>
              <a:t>확장성은</a:t>
            </a:r>
            <a:r>
              <a:rPr sz="850" b="0" i="0" dirty="0">
                <a:solidFill>
                  <a:srgbClr val="262626"/>
                </a:solidFill>
                <a:latin typeface="맑은 고딕"/>
                <a:ea typeface="맑은 고딕"/>
              </a:rPr>
              <a:t> </a:t>
            </a:r>
            <a:r>
              <a:rPr sz="850" b="0" i="0" dirty="0" err="1">
                <a:solidFill>
                  <a:srgbClr val="262626"/>
                </a:solidFill>
                <a:latin typeface="맑은 고딕"/>
                <a:ea typeface="맑은 고딕"/>
              </a:rPr>
              <a:t>구조를</a:t>
            </a:r>
            <a:r>
              <a:rPr sz="850" b="0" i="0" dirty="0">
                <a:solidFill>
                  <a:srgbClr val="262626"/>
                </a:solidFill>
                <a:latin typeface="맑은 고딕"/>
                <a:ea typeface="맑은 고딕"/>
              </a:rPr>
              <a:t> </a:t>
            </a:r>
            <a:r>
              <a:rPr sz="850" b="0" i="0" dirty="0" err="1">
                <a:solidFill>
                  <a:srgbClr val="262626"/>
                </a:solidFill>
                <a:latin typeface="맑은 고딕"/>
                <a:ea typeface="맑은 고딕"/>
              </a:rPr>
              <a:t>바꿔야</a:t>
            </a:r>
            <a:r>
              <a:rPr sz="850" b="0" i="0" dirty="0">
                <a:solidFill>
                  <a:srgbClr val="262626"/>
                </a:solidFill>
                <a:latin typeface="맑은 고딕"/>
                <a:ea typeface="맑은 고딕"/>
              </a:rPr>
              <a:t> </a:t>
            </a:r>
            <a:r>
              <a:rPr sz="850" b="0" i="0" dirty="0" err="1">
                <a:solidFill>
                  <a:srgbClr val="262626"/>
                </a:solidFill>
                <a:latin typeface="맑은 고딕"/>
                <a:ea typeface="맑은 고딕"/>
              </a:rPr>
              <a:t>얻는</a:t>
            </a:r>
            <a:r>
              <a:rPr sz="850" b="0" i="0" dirty="0">
                <a:solidFill>
                  <a:srgbClr val="262626"/>
                </a:solidFill>
                <a:latin typeface="맑은 고딕"/>
                <a:ea typeface="맑은 고딕"/>
              </a:rPr>
              <a:t> 값 — </a:t>
            </a:r>
            <a:r>
              <a:rPr sz="850" b="0" i="0" dirty="0" err="1">
                <a:solidFill>
                  <a:srgbClr val="262626"/>
                </a:solidFill>
                <a:latin typeface="맑은 고딕"/>
                <a:ea typeface="맑은 고딕"/>
              </a:rPr>
              <a:t>대규모</a:t>
            </a:r>
            <a:r>
              <a:rPr sz="850" b="0" i="0" dirty="0">
                <a:solidFill>
                  <a:srgbClr val="262626"/>
                </a:solidFill>
                <a:latin typeface="맑은 고딕"/>
                <a:ea typeface="맑은 고딕"/>
              </a:rPr>
              <a:t> </a:t>
            </a:r>
            <a:r>
              <a:rPr sz="850" b="0" i="0" dirty="0" err="1">
                <a:solidFill>
                  <a:srgbClr val="262626"/>
                </a:solidFill>
                <a:latin typeface="맑은 고딕"/>
                <a:ea typeface="맑은 고딕"/>
              </a:rPr>
              <a:t>이기종</a:t>
            </a:r>
            <a:r>
              <a:rPr sz="850" b="0" i="0" dirty="0">
                <a:solidFill>
                  <a:srgbClr val="262626"/>
                </a:solidFill>
                <a:latin typeface="맑은 고딕"/>
                <a:ea typeface="맑은 고딕"/>
              </a:rPr>
              <a:t> </a:t>
            </a:r>
            <a:r>
              <a:rPr sz="850" b="0" i="0" dirty="0" err="1">
                <a:solidFill>
                  <a:srgbClr val="262626"/>
                </a:solidFill>
                <a:latin typeface="맑은 고딕"/>
                <a:ea typeface="맑은 고딕"/>
              </a:rPr>
              <a:t>메모리</a:t>
            </a:r>
            <a:r>
              <a:rPr sz="850" b="0" i="0" dirty="0">
                <a:solidFill>
                  <a:srgbClr val="262626"/>
                </a:solidFill>
                <a:latin typeface="맑은 고딕"/>
                <a:ea typeface="맑은 고딕"/>
              </a:rPr>
              <a:t> </a:t>
            </a:r>
            <a:r>
              <a:rPr sz="850" b="0" i="0" dirty="0" err="1">
                <a:solidFill>
                  <a:srgbClr val="262626"/>
                </a:solidFill>
                <a:latin typeface="맑은 고딕"/>
                <a:ea typeface="맑은 고딕"/>
              </a:rPr>
              <a:t>전제에서</a:t>
            </a:r>
            <a:r>
              <a:rPr sz="850" b="0" i="0" dirty="0">
                <a:solidFill>
                  <a:srgbClr val="262626"/>
                </a:solidFill>
                <a:latin typeface="맑은 고딕"/>
                <a:ea typeface="맑은 고딕"/>
              </a:rPr>
              <a:t> 1순위.   QA2 는 </a:t>
            </a:r>
            <a:r>
              <a:rPr sz="850" b="0" i="0" dirty="0" err="1">
                <a:solidFill>
                  <a:srgbClr val="262626"/>
                </a:solidFill>
                <a:latin typeface="맑은 고딕"/>
                <a:ea typeface="맑은 고딕"/>
              </a:rPr>
              <a:t>모듈</a:t>
            </a:r>
            <a:r>
              <a:rPr sz="850" b="0" i="0" dirty="0">
                <a:solidFill>
                  <a:srgbClr val="262626"/>
                </a:solidFill>
                <a:latin typeface="맑은 고딕"/>
                <a:ea typeface="맑은 고딕"/>
              </a:rPr>
              <a:t> </a:t>
            </a:r>
            <a:r>
              <a:rPr sz="850" b="0" i="0" dirty="0" err="1">
                <a:solidFill>
                  <a:srgbClr val="262626"/>
                </a:solidFill>
                <a:latin typeface="맑은 고딕"/>
                <a:ea typeface="맑은 고딕"/>
              </a:rPr>
              <a:t>추가로</a:t>
            </a:r>
            <a:r>
              <a:rPr sz="850" b="0" i="0" dirty="0">
                <a:solidFill>
                  <a:srgbClr val="262626"/>
                </a:solidFill>
                <a:latin typeface="맑은 고딕"/>
                <a:ea typeface="맑은 고딕"/>
              </a:rPr>
              <a:t> </a:t>
            </a:r>
            <a:r>
              <a:rPr sz="850" b="0" i="0" dirty="0" err="1">
                <a:solidFill>
                  <a:srgbClr val="262626"/>
                </a:solidFill>
                <a:latin typeface="맑은 고딕"/>
                <a:ea typeface="맑은 고딕"/>
              </a:rPr>
              <a:t>보완</a:t>
            </a:r>
            <a:r>
              <a:rPr sz="850" b="0" i="0" dirty="0">
                <a:solidFill>
                  <a:srgbClr val="262626"/>
                </a:solidFill>
                <a:latin typeface="맑은 고딕"/>
                <a:ea typeface="맑은 고딕"/>
              </a:rPr>
              <a:t> </a:t>
            </a:r>
            <a:r>
              <a:rPr sz="850" b="0" i="0" dirty="0" err="1">
                <a:solidFill>
                  <a:srgbClr val="262626"/>
                </a:solidFill>
                <a:latin typeface="맑은 고딕"/>
                <a:ea typeface="맑은 고딕"/>
              </a:rPr>
              <a:t>가능한</a:t>
            </a:r>
            <a:r>
              <a:rPr sz="850" b="0" i="0" dirty="0">
                <a:solidFill>
                  <a:srgbClr val="262626"/>
                </a:solidFill>
                <a:latin typeface="맑은 고딕"/>
                <a:ea typeface="맑은 고딕"/>
              </a:rPr>
              <a:t> </a:t>
            </a:r>
            <a:r>
              <a:rPr sz="850" b="0" i="0" dirty="0" err="1">
                <a:solidFill>
                  <a:srgbClr val="262626"/>
                </a:solidFill>
                <a:latin typeface="맑은 고딕"/>
                <a:ea typeface="맑은 고딕"/>
              </a:rPr>
              <a:t>약점</a:t>
            </a:r>
            <a:r>
              <a:rPr sz="850" b="0" i="0" dirty="0">
                <a:solidFill>
                  <a:srgbClr val="262626"/>
                </a:solidFill>
                <a:latin typeface="맑은 고딕"/>
                <a:ea typeface="맑은 고딕"/>
              </a:rPr>
              <a:t>.</a:t>
            </a:r>
          </a:p>
          <a:p>
            <a:pPr algn="l">
              <a:lnSpc>
                <a:spcPct val="112000"/>
              </a:lnSpc>
            </a:pPr>
            <a:r>
              <a:rPr sz="850" b="0" i="0" dirty="0">
                <a:solidFill>
                  <a:srgbClr val="262626"/>
                </a:solidFill>
                <a:latin typeface="맑은 고딕"/>
                <a:ea typeface="맑은 고딕"/>
              </a:rPr>
              <a:t>→ </a:t>
            </a:r>
            <a:r>
              <a:rPr sz="850" b="0" i="0" dirty="0" err="1">
                <a:solidFill>
                  <a:srgbClr val="262626"/>
                </a:solidFill>
                <a:latin typeface="맑은 고딕"/>
                <a:ea typeface="맑은 고딕"/>
              </a:rPr>
              <a:t>되돌릴</a:t>
            </a:r>
            <a:r>
              <a:rPr sz="850" b="0" i="0" dirty="0">
                <a:solidFill>
                  <a:srgbClr val="262626"/>
                </a:solidFill>
                <a:latin typeface="맑은 고딕"/>
                <a:ea typeface="맑은 고딕"/>
              </a:rPr>
              <a:t> 수 </a:t>
            </a:r>
            <a:r>
              <a:rPr sz="850" b="0" i="0" dirty="0" err="1">
                <a:solidFill>
                  <a:srgbClr val="262626"/>
                </a:solidFill>
                <a:latin typeface="맑은 고딕"/>
                <a:ea typeface="맑은 고딕"/>
              </a:rPr>
              <a:t>없는</a:t>
            </a:r>
            <a:r>
              <a:rPr sz="850" b="0" i="0" dirty="0">
                <a:solidFill>
                  <a:srgbClr val="262626"/>
                </a:solidFill>
                <a:latin typeface="맑은 고딕"/>
                <a:ea typeface="맑은 고딕"/>
              </a:rPr>
              <a:t> 쪽(plane </a:t>
            </a:r>
            <a:r>
              <a:rPr sz="850" b="0" i="0" dirty="0" err="1">
                <a:solidFill>
                  <a:srgbClr val="262626"/>
                </a:solidFill>
                <a:latin typeface="맑은 고딕"/>
                <a:ea typeface="맑은 고딕"/>
              </a:rPr>
              <a:t>분리</a:t>
            </a:r>
            <a:r>
              <a:rPr sz="850" b="0" i="0" dirty="0">
                <a:solidFill>
                  <a:srgbClr val="262626"/>
                </a:solidFill>
                <a:latin typeface="맑은 고딕"/>
                <a:ea typeface="맑은 고딕"/>
              </a:rPr>
              <a:t>)을 </a:t>
            </a:r>
            <a:r>
              <a:rPr sz="850" b="0" i="0" dirty="0" err="1">
                <a:solidFill>
                  <a:srgbClr val="262626"/>
                </a:solidFill>
                <a:latin typeface="맑은 고딕"/>
                <a:ea typeface="맑은 고딕"/>
              </a:rPr>
              <a:t>먼저</a:t>
            </a:r>
            <a:r>
              <a:rPr sz="850" b="0" i="0" dirty="0">
                <a:solidFill>
                  <a:srgbClr val="262626"/>
                </a:solidFill>
                <a:latin typeface="맑은 고딕"/>
                <a:ea typeface="맑은 고딕"/>
              </a:rPr>
              <a:t> </a:t>
            </a:r>
            <a:r>
              <a:rPr sz="850" b="0" i="0" dirty="0" err="1">
                <a:solidFill>
                  <a:srgbClr val="262626"/>
                </a:solidFill>
                <a:latin typeface="맑은 고딕"/>
                <a:ea typeface="맑은 고딕"/>
              </a:rPr>
              <a:t>확보하고</a:t>
            </a:r>
            <a:r>
              <a:rPr sz="850" b="0" i="0" dirty="0">
                <a:solidFill>
                  <a:srgbClr val="262626"/>
                </a:solidFill>
                <a:latin typeface="맑은 고딕"/>
                <a:ea typeface="맑은 고딕"/>
              </a:rPr>
              <a:t>, QA2 의 두 </a:t>
            </a:r>
            <a:r>
              <a:rPr sz="850" b="0" i="0" dirty="0" err="1">
                <a:solidFill>
                  <a:srgbClr val="262626"/>
                </a:solidFill>
                <a:latin typeface="맑은 고딕"/>
                <a:ea typeface="맑은 고딕"/>
              </a:rPr>
              <a:t>원인</a:t>
            </a:r>
            <a:r>
              <a:rPr sz="850" b="0" i="0" dirty="0">
                <a:solidFill>
                  <a:srgbClr val="262626"/>
                </a:solidFill>
                <a:latin typeface="맑은 고딕"/>
                <a:ea typeface="맑은 고딕"/>
              </a:rPr>
              <a:t>(stale · snapshot </a:t>
            </a:r>
            <a:r>
              <a:rPr sz="850" b="0" i="0" dirty="0" err="1">
                <a:solidFill>
                  <a:srgbClr val="262626"/>
                </a:solidFill>
                <a:latin typeface="맑은 고딕"/>
                <a:ea typeface="맑은 고딕"/>
              </a:rPr>
              <a:t>생성</a:t>
            </a:r>
            <a:r>
              <a:rPr sz="850" b="0" i="0" dirty="0">
                <a:solidFill>
                  <a:srgbClr val="262626"/>
                </a:solidFill>
                <a:latin typeface="맑은 고딕"/>
                <a:ea typeface="맑은 고딕"/>
              </a:rPr>
              <a:t> </a:t>
            </a:r>
            <a:r>
              <a:rPr sz="850" b="0" i="0" dirty="0" err="1">
                <a:solidFill>
                  <a:srgbClr val="262626"/>
                </a:solidFill>
                <a:latin typeface="맑은 고딕"/>
                <a:ea typeface="맑은 고딕"/>
              </a:rPr>
              <a:t>비용</a:t>
            </a:r>
            <a:r>
              <a:rPr sz="850" b="0" i="0" dirty="0">
                <a:solidFill>
                  <a:srgbClr val="262626"/>
                </a:solidFill>
                <a:latin typeface="맑은 고딕"/>
                <a:ea typeface="맑은 고딕"/>
              </a:rPr>
              <a:t>)만 </a:t>
            </a:r>
            <a:r>
              <a:rPr sz="850" b="0" i="0" dirty="0" err="1">
                <a:solidFill>
                  <a:srgbClr val="262626"/>
                </a:solidFill>
                <a:latin typeface="맑은 고딕"/>
                <a:ea typeface="맑은 고딕"/>
              </a:rPr>
              <a:t>겨냥해</a:t>
            </a:r>
            <a:r>
              <a:rPr sz="850" b="0" i="0" dirty="0">
                <a:solidFill>
                  <a:srgbClr val="262626"/>
                </a:solidFill>
                <a:latin typeface="맑은 고딕"/>
                <a:ea typeface="맑은 고딕"/>
              </a:rPr>
              <a:t> </a:t>
            </a:r>
            <a:r>
              <a:rPr sz="850" b="0" i="0" dirty="0" err="1">
                <a:solidFill>
                  <a:srgbClr val="262626"/>
                </a:solidFill>
                <a:latin typeface="맑은 고딕"/>
                <a:ea typeface="맑은 고딕"/>
              </a:rPr>
              <a:t>보완한다</a:t>
            </a:r>
            <a:r>
              <a:rPr sz="850" b="0" i="0" dirty="0">
                <a:solidFill>
                  <a:srgbClr val="262626"/>
                </a:solidFill>
                <a:latin typeface="맑은 고딕"/>
                <a:ea typeface="맑은 고딕"/>
              </a:rPr>
              <a:t>.</a:t>
            </a:r>
          </a:p>
        </p:txBody>
      </p:sp>
      <p:sp>
        <p:nvSpPr>
          <p:cNvPr id="16" name="Rectangle 15"/>
          <p:cNvSpPr/>
          <p:nvPr/>
        </p:nvSpPr>
        <p:spPr>
          <a:xfrm>
            <a:off x="182880" y="1389888"/>
            <a:ext cx="6784848"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262626"/>
                </a:solidFill>
                <a:latin typeface="맑은 고딕"/>
                <a:ea typeface="맑은 고딕"/>
              </a:rPr>
              <a:t>보완된 2안 구조   —   노란 박스 ⓐ~ⓓ 가 추가 모듈</a:t>
            </a:r>
          </a:p>
        </p:txBody>
      </p:sp>
      <p:sp>
        <p:nvSpPr>
          <p:cNvPr id="17" name="Rectangle 16"/>
          <p:cNvSpPr/>
          <p:nvPr/>
        </p:nvSpPr>
        <p:spPr>
          <a:xfrm>
            <a:off x="182880" y="1664208"/>
            <a:ext cx="6784848" cy="493776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18" name="Rectangle 17"/>
          <p:cNvSpPr/>
          <p:nvPr/>
        </p:nvSpPr>
        <p:spPr>
          <a:xfrm>
            <a:off x="7059168" y="1389888"/>
            <a:ext cx="4818888"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262626"/>
                </a:solidFill>
                <a:latin typeface="맑은 고딕"/>
                <a:ea typeface="맑은 고딕"/>
              </a:rPr>
              <a:t>약점 → 원인 → 보완 → 효과</a:t>
            </a:r>
          </a:p>
        </p:txBody>
      </p:sp>
      <p:sp>
        <p:nvSpPr>
          <p:cNvPr id="19" name="Rectangle 18"/>
          <p:cNvSpPr/>
          <p:nvPr/>
        </p:nvSpPr>
        <p:spPr>
          <a:xfrm>
            <a:off x="7059168" y="1664208"/>
            <a:ext cx="4818888" cy="338328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0" name="Rectangle 19"/>
          <p:cNvSpPr/>
          <p:nvPr/>
        </p:nvSpPr>
        <p:spPr>
          <a:xfrm>
            <a:off x="310896" y="1883664"/>
            <a:ext cx="6528816" cy="1042415"/>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21" name="TextBox 20"/>
          <p:cNvSpPr txBox="1"/>
          <p:nvPr/>
        </p:nvSpPr>
        <p:spPr>
          <a:xfrm>
            <a:off x="310896" y="1920240"/>
            <a:ext cx="6528816" cy="182880"/>
          </a:xfrm>
          <a:prstGeom prst="rect">
            <a:avLst/>
          </a:prstGeom>
          <a:noFill/>
        </p:spPr>
        <p:txBody>
          <a:bodyPr wrap="square" lIns="0" tIns="0" rIns="0" bIns="0" anchor="ctr">
            <a:spAutoFit/>
          </a:bodyPr>
          <a:lstStyle/>
          <a:p>
            <a:pPr algn="ctr"/>
            <a:r>
              <a:rPr sz="950" b="1" i="0">
                <a:solidFill>
                  <a:srgbClr val="1F4E79"/>
                </a:solidFill>
                <a:latin typeface="맑은 고딕"/>
                <a:ea typeface="맑은 고딕"/>
              </a:rPr>
              <a:t>Control Plane      판단 전용 · 분리 유지</a:t>
            </a:r>
          </a:p>
        </p:txBody>
      </p:sp>
      <p:sp>
        <p:nvSpPr>
          <p:cNvPr id="22" name="Rectangle 21"/>
          <p:cNvSpPr/>
          <p:nvPr/>
        </p:nvSpPr>
        <p:spPr>
          <a:xfrm>
            <a:off x="420624" y="2286000"/>
            <a:ext cx="1316736" cy="49377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404040"/>
                </a:solidFill>
                <a:latin typeface="맑은 고딕"/>
                <a:ea typeface="맑은 고딕"/>
              </a:rPr>
              <a:t>Decision Scheduler</a:t>
            </a:r>
          </a:p>
          <a:p>
            <a:pPr algn="ctr">
              <a:lnSpc>
                <a:spcPct val="92000"/>
              </a:lnSpc>
            </a:pPr>
            <a:r>
              <a:rPr sz="650" b="0" i="0">
                <a:solidFill>
                  <a:srgbClr val="808080"/>
                </a:solidFill>
                <a:latin typeface="맑은 고딕"/>
                <a:ea typeface="맑은 고딕"/>
              </a:rPr>
              <a:t>판단 주기 보유 · 스스로 기동</a:t>
            </a:r>
          </a:p>
        </p:txBody>
      </p:sp>
      <p:sp>
        <p:nvSpPr>
          <p:cNvPr id="23" name="Rectangle 22"/>
          <p:cNvSpPr/>
          <p:nvPr/>
        </p:nvSpPr>
        <p:spPr>
          <a:xfrm>
            <a:off x="1901952" y="2286000"/>
            <a:ext cx="1463040" cy="49377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404040"/>
                </a:solidFill>
                <a:latin typeface="맑은 고딕"/>
                <a:ea typeface="맑은 고딕"/>
              </a:rPr>
              <a:t>Trend Analyzer</a:t>
            </a:r>
          </a:p>
          <a:p>
            <a:pPr algn="ctr">
              <a:lnSpc>
                <a:spcPct val="92000"/>
              </a:lnSpc>
            </a:pPr>
            <a:r>
              <a:rPr sz="680" b="0" i="0">
                <a:solidFill>
                  <a:srgbClr val="808080"/>
                </a:solidFill>
                <a:latin typeface="맑은 고딕"/>
                <a:ea typeface="맑은 고딕"/>
              </a:rPr>
              <a:t>자원 추세 판단</a:t>
            </a:r>
          </a:p>
        </p:txBody>
      </p:sp>
      <p:sp>
        <p:nvSpPr>
          <p:cNvPr id="24" name="Rectangle 23"/>
          <p:cNvSpPr/>
          <p:nvPr/>
        </p:nvSpPr>
        <p:spPr>
          <a:xfrm>
            <a:off x="3529584" y="2286000"/>
            <a:ext cx="1463040" cy="49377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404040"/>
                </a:solidFill>
                <a:latin typeface="맑은 고딕"/>
                <a:ea typeface="맑은 고딕"/>
              </a:rPr>
              <a:t>Affinity Mapper</a:t>
            </a:r>
          </a:p>
          <a:p>
            <a:pPr algn="ctr">
              <a:lnSpc>
                <a:spcPct val="92000"/>
              </a:lnSpc>
            </a:pPr>
            <a:r>
              <a:rPr sz="680" b="0" i="0">
                <a:solidFill>
                  <a:srgbClr val="808080"/>
                </a:solidFill>
                <a:latin typeface="맑은 고딕"/>
                <a:ea typeface="맑은 고딕"/>
              </a:rPr>
              <a:t>데이터·메모리 적합도</a:t>
            </a:r>
          </a:p>
        </p:txBody>
      </p:sp>
      <p:sp>
        <p:nvSpPr>
          <p:cNvPr id="25" name="Rectangle 24"/>
          <p:cNvSpPr/>
          <p:nvPr/>
        </p:nvSpPr>
        <p:spPr>
          <a:xfrm>
            <a:off x="5157216" y="2286000"/>
            <a:ext cx="1572768" cy="493776"/>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850" b="1" i="0">
                <a:solidFill>
                  <a:srgbClr val="404040"/>
                </a:solidFill>
                <a:latin typeface="맑은 고딕"/>
                <a:ea typeface="맑은 고딕"/>
              </a:rPr>
              <a:t>Policy Engine</a:t>
            </a:r>
          </a:p>
          <a:p>
            <a:pPr algn="ctr">
              <a:lnSpc>
                <a:spcPct val="92000"/>
              </a:lnSpc>
            </a:pPr>
            <a:r>
              <a:rPr sz="650" b="0" i="0">
                <a:solidFill>
                  <a:srgbClr val="808080"/>
                </a:solidFill>
                <a:latin typeface="맑은 고딕"/>
                <a:ea typeface="맑은 고딕"/>
              </a:rPr>
              <a:t>이동 명령 + snapshot version 발행</a:t>
            </a:r>
          </a:p>
        </p:txBody>
      </p:sp>
      <p:cxnSp>
        <p:nvCxnSpPr>
          <p:cNvPr id="26" name="Connector 25"/>
          <p:cNvCxnSpPr/>
          <p:nvPr/>
        </p:nvCxnSpPr>
        <p:spPr>
          <a:xfrm>
            <a:off x="1737360" y="2532888"/>
            <a:ext cx="164592"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364992" y="2532888"/>
            <a:ext cx="164592"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992624" y="2532888"/>
            <a:ext cx="164592"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10896" y="3108960"/>
            <a:ext cx="3163824" cy="1700784"/>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400"/>
          </a:p>
        </p:txBody>
      </p:sp>
      <p:sp>
        <p:nvSpPr>
          <p:cNvPr id="30" name="TextBox 29"/>
          <p:cNvSpPr txBox="1"/>
          <p:nvPr/>
        </p:nvSpPr>
        <p:spPr>
          <a:xfrm>
            <a:off x="310896" y="3156185"/>
            <a:ext cx="3163824" cy="161583"/>
          </a:xfrm>
          <a:prstGeom prst="rect">
            <a:avLst/>
          </a:prstGeom>
          <a:noFill/>
        </p:spPr>
        <p:txBody>
          <a:bodyPr wrap="square" lIns="0" tIns="0" rIns="0" bIns="0" anchor="ctr">
            <a:spAutoFit/>
          </a:bodyPr>
          <a:lstStyle/>
          <a:p>
            <a:pPr algn="ctr"/>
            <a:r>
              <a:rPr sz="1050" b="1" i="0">
                <a:solidFill>
                  <a:srgbClr val="1F4E79"/>
                </a:solidFill>
                <a:latin typeface="맑은 고딕"/>
                <a:ea typeface="맑은 고딕"/>
              </a:rPr>
              <a:t>Resource Plane      상태 전용</a:t>
            </a:r>
          </a:p>
        </p:txBody>
      </p:sp>
      <p:sp>
        <p:nvSpPr>
          <p:cNvPr id="31" name="Rectangle 30"/>
          <p:cNvSpPr/>
          <p:nvPr/>
        </p:nvSpPr>
        <p:spPr>
          <a:xfrm>
            <a:off x="420624" y="3383280"/>
            <a:ext cx="1426464" cy="40233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7F5F00"/>
                </a:solidFill>
                <a:latin typeface="맑은 고딕"/>
                <a:ea typeface="맑은 고딕"/>
              </a:rPr>
              <a:t>ⓑ Delta Snapshot Builder</a:t>
            </a:r>
          </a:p>
          <a:p>
            <a:pPr algn="ctr">
              <a:lnSpc>
                <a:spcPct val="92000"/>
              </a:lnSpc>
            </a:pPr>
            <a:r>
              <a:rPr sz="800" b="0" i="0">
                <a:solidFill>
                  <a:srgbClr val="7F5F00"/>
                </a:solidFill>
                <a:latin typeface="맑은 고딕"/>
                <a:ea typeface="맑은 고딕"/>
              </a:rPr>
              <a:t>변경분만 · tier 별 차등 주기</a:t>
            </a:r>
          </a:p>
        </p:txBody>
      </p:sp>
      <p:sp>
        <p:nvSpPr>
          <p:cNvPr id="32" name="Rectangle 31"/>
          <p:cNvSpPr/>
          <p:nvPr/>
        </p:nvSpPr>
        <p:spPr>
          <a:xfrm>
            <a:off x="1938528" y="3383280"/>
            <a:ext cx="1426464" cy="40233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7F5F00"/>
                </a:solidFill>
                <a:latin typeface="맑은 고딕"/>
                <a:ea typeface="맑은 고딕"/>
              </a:rPr>
              <a:t>ⓐ Pressure Fast Path</a:t>
            </a:r>
          </a:p>
          <a:p>
            <a:pPr algn="ctr">
              <a:lnSpc>
                <a:spcPct val="92000"/>
              </a:lnSpc>
            </a:pPr>
            <a:r>
              <a:rPr sz="800" b="0" i="0">
                <a:solidFill>
                  <a:srgbClr val="7F5F00"/>
                </a:solidFill>
                <a:latin typeface="맑은 고딕"/>
                <a:ea typeface="맑은 고딕"/>
              </a:rPr>
              <a:t>임계치 교차 사실만 통지</a:t>
            </a:r>
          </a:p>
        </p:txBody>
      </p:sp>
      <p:sp>
        <p:nvSpPr>
          <p:cNvPr id="33" name="Rectangle 32"/>
          <p:cNvSpPr/>
          <p:nvPr/>
        </p:nvSpPr>
        <p:spPr>
          <a:xfrm>
            <a:off x="420624" y="3895344"/>
            <a:ext cx="2944368"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404040"/>
                </a:solidFill>
                <a:latin typeface="맑은 고딕"/>
                <a:ea typeface="맑은 고딕"/>
              </a:rPr>
              <a:t>State Monitor</a:t>
            </a:r>
          </a:p>
        </p:txBody>
      </p:sp>
      <p:sp>
        <p:nvSpPr>
          <p:cNvPr id="34" name="Rectangle 33"/>
          <p:cNvSpPr/>
          <p:nvPr/>
        </p:nvSpPr>
        <p:spPr>
          <a:xfrm>
            <a:off x="420624" y="4224528"/>
            <a:ext cx="2944368" cy="201168"/>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0" i="0">
                <a:solidFill>
                  <a:srgbClr val="404040"/>
                </a:solidFill>
                <a:latin typeface="맑은 고딕"/>
                <a:ea typeface="맑은 고딕"/>
              </a:rPr>
              <a:t>Telemetry Collector</a:t>
            </a:r>
          </a:p>
        </p:txBody>
      </p:sp>
      <p:sp>
        <p:nvSpPr>
          <p:cNvPr id="35" name="Rectangle 34"/>
          <p:cNvSpPr/>
          <p:nvPr/>
        </p:nvSpPr>
        <p:spPr>
          <a:xfrm>
            <a:off x="420624" y="4498848"/>
            <a:ext cx="2944368" cy="25603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7F5F00"/>
                </a:solidFill>
                <a:latin typeface="맑은 고딕"/>
                <a:ea typeface="맑은 고딕"/>
              </a:rPr>
              <a:t>Object Registry  +  epoch</a:t>
            </a:r>
          </a:p>
          <a:p>
            <a:pPr algn="ctr">
              <a:lnSpc>
                <a:spcPct val="92000"/>
              </a:lnSpc>
            </a:pPr>
            <a:r>
              <a:rPr sz="800" b="0" i="0">
                <a:solidFill>
                  <a:srgbClr val="7F5F00"/>
                </a:solidFill>
                <a:latin typeface="맑은 고딕"/>
                <a:ea typeface="맑은 고딕"/>
              </a:rPr>
              <a:t>객체별 상태에 버전(epoch) 부여 — ⓒ 의 판정 기준</a:t>
            </a:r>
          </a:p>
        </p:txBody>
      </p:sp>
      <p:cxnSp>
        <p:nvCxnSpPr>
          <p:cNvPr id="36" name="Connector 35"/>
          <p:cNvCxnSpPr/>
          <p:nvPr/>
        </p:nvCxnSpPr>
        <p:spPr>
          <a:xfrm flipV="1">
            <a:off x="1133856" y="4151376"/>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33856" y="3785615"/>
            <a:ext cx="0" cy="10972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51760" y="3785615"/>
            <a:ext cx="0" cy="10972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65760" y="4626864"/>
            <a:ext cx="54864" cy="0"/>
          </a:xfrm>
          <a:prstGeom prst="line">
            <a:avLst/>
          </a:prstGeom>
          <a:ln w="1270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65760" y="3584448"/>
            <a:ext cx="0" cy="1042416"/>
          </a:xfrm>
          <a:prstGeom prst="line">
            <a:avLst/>
          </a:prstGeom>
          <a:ln w="12700">
            <a:solidFill>
              <a:srgbClr val="BF8F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5760" y="3584448"/>
            <a:ext cx="54864"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33856" y="2926080"/>
            <a:ext cx="0" cy="457200"/>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93624" y="2888165"/>
            <a:ext cx="1825600" cy="276999"/>
          </a:xfrm>
          <a:prstGeom prst="rect">
            <a:avLst/>
          </a:prstGeom>
          <a:noFill/>
        </p:spPr>
        <p:txBody>
          <a:bodyPr wrap="square" lIns="0" tIns="0" rIns="0" bIns="0" anchor="ctr">
            <a:spAutoFit/>
          </a:bodyPr>
          <a:lstStyle/>
          <a:p>
            <a:pPr algn="l"/>
            <a:r>
              <a:rPr sz="900" b="0" i="0" dirty="0">
                <a:solidFill>
                  <a:srgbClr val="7F5F00"/>
                </a:solidFill>
                <a:latin typeface="맑은 고딕"/>
                <a:ea typeface="맑은 고딕"/>
              </a:rPr>
              <a:t>ⓑ delta snapshot </a:t>
            </a:r>
            <a:r>
              <a:rPr sz="900" b="0" i="0" dirty="0" err="1">
                <a:solidFill>
                  <a:srgbClr val="7F5F00"/>
                </a:solidFill>
                <a:latin typeface="맑은 고딕"/>
                <a:ea typeface="맑은 고딕"/>
              </a:rPr>
              <a:t>조회</a:t>
            </a:r>
            <a:r>
              <a:rPr sz="900" b="0" i="0" dirty="0">
                <a:solidFill>
                  <a:srgbClr val="7F5F00"/>
                </a:solidFill>
                <a:latin typeface="맑은 고딕"/>
                <a:ea typeface="맑은 고딕"/>
              </a:rPr>
              <a:t> (</a:t>
            </a:r>
            <a:r>
              <a:rPr sz="900" b="0" i="0" dirty="0" err="1">
                <a:solidFill>
                  <a:srgbClr val="7F5F00"/>
                </a:solidFill>
                <a:latin typeface="맑은 고딕"/>
                <a:ea typeface="맑은 고딕"/>
              </a:rPr>
              <a:t>주기</a:t>
            </a:r>
            <a:r>
              <a:rPr sz="900" b="0" i="0" dirty="0">
                <a:solidFill>
                  <a:srgbClr val="7F5F00"/>
                </a:solidFill>
                <a:latin typeface="맑은 고딕"/>
                <a:ea typeface="맑은 고딕"/>
              </a:rPr>
              <a:t>)</a:t>
            </a:r>
          </a:p>
        </p:txBody>
      </p:sp>
      <p:cxnSp>
        <p:nvCxnSpPr>
          <p:cNvPr id="44" name="Connector 43"/>
          <p:cNvCxnSpPr/>
          <p:nvPr/>
        </p:nvCxnSpPr>
        <p:spPr>
          <a:xfrm flipV="1">
            <a:off x="2651760" y="2926080"/>
            <a:ext cx="0" cy="457200"/>
          </a:xfrm>
          <a:prstGeom prst="line">
            <a:avLst/>
          </a:prstGeom>
          <a:ln w="19050">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482779" y="2888165"/>
            <a:ext cx="1947306" cy="276999"/>
          </a:xfrm>
          <a:prstGeom prst="rect">
            <a:avLst/>
          </a:prstGeom>
          <a:noFill/>
        </p:spPr>
        <p:txBody>
          <a:bodyPr wrap="square" lIns="0" tIns="0" rIns="0" bIns="0" anchor="ctr">
            <a:spAutoFit/>
          </a:bodyPr>
          <a:lstStyle/>
          <a:p>
            <a:pPr algn="l"/>
            <a:r>
              <a:rPr sz="900" b="1" i="0">
                <a:solidFill>
                  <a:srgbClr val="7B1A1A"/>
                </a:solidFill>
                <a:latin typeface="맑은 고딕"/>
                <a:ea typeface="맑은 고딕"/>
              </a:rPr>
              <a:t>ⓐ 긴급 통지 — 사실 1비트만</a:t>
            </a:r>
          </a:p>
        </p:txBody>
      </p:sp>
      <p:sp>
        <p:nvSpPr>
          <p:cNvPr id="46" name="Rectangle 45"/>
          <p:cNvSpPr/>
          <p:nvPr/>
        </p:nvSpPr>
        <p:spPr>
          <a:xfrm>
            <a:off x="3621024" y="3108960"/>
            <a:ext cx="3218688" cy="1700784"/>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sz="2400"/>
          </a:p>
        </p:txBody>
      </p:sp>
      <p:sp>
        <p:nvSpPr>
          <p:cNvPr id="47" name="TextBox 46"/>
          <p:cNvSpPr txBox="1"/>
          <p:nvPr/>
        </p:nvSpPr>
        <p:spPr>
          <a:xfrm>
            <a:off x="3621024" y="3156185"/>
            <a:ext cx="3218688" cy="161583"/>
          </a:xfrm>
          <a:prstGeom prst="rect">
            <a:avLst/>
          </a:prstGeom>
          <a:noFill/>
        </p:spPr>
        <p:txBody>
          <a:bodyPr wrap="square" lIns="0" tIns="0" rIns="0" bIns="0" anchor="ctr">
            <a:spAutoFit/>
          </a:bodyPr>
          <a:lstStyle/>
          <a:p>
            <a:pPr algn="ctr"/>
            <a:r>
              <a:rPr sz="1050" b="1" i="0">
                <a:solidFill>
                  <a:srgbClr val="1F4E79"/>
                </a:solidFill>
                <a:latin typeface="맑은 고딕"/>
                <a:ea typeface="맑은 고딕"/>
              </a:rPr>
              <a:t>Data Plane      실행 전용</a:t>
            </a:r>
          </a:p>
        </p:txBody>
      </p:sp>
      <p:sp>
        <p:nvSpPr>
          <p:cNvPr id="48" name="Rectangle 47"/>
          <p:cNvSpPr/>
          <p:nvPr/>
        </p:nvSpPr>
        <p:spPr>
          <a:xfrm>
            <a:off x="3730752" y="3383280"/>
            <a:ext cx="2999232" cy="34747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7F5F00"/>
                </a:solidFill>
                <a:latin typeface="맑은 고딕"/>
                <a:ea typeface="맑은 고딕"/>
              </a:rPr>
              <a:t>ⓓ Admission Budget  +  Command Queue</a:t>
            </a:r>
          </a:p>
          <a:p>
            <a:pPr algn="ctr">
              <a:lnSpc>
                <a:spcPct val="92000"/>
              </a:lnSpc>
            </a:pPr>
            <a:r>
              <a:rPr sz="800" b="0" i="0">
                <a:solidFill>
                  <a:srgbClr val="7F5F00"/>
                </a:solidFill>
                <a:latin typeface="맑은 고딕"/>
                <a:ea typeface="맑은 고딕"/>
              </a:rPr>
              <a:t>실측 점유율 budget 안에서만 명령 통과</a:t>
            </a:r>
          </a:p>
        </p:txBody>
      </p:sp>
      <p:sp>
        <p:nvSpPr>
          <p:cNvPr id="49" name="Rectangle 48"/>
          <p:cNvSpPr/>
          <p:nvPr/>
        </p:nvSpPr>
        <p:spPr>
          <a:xfrm>
            <a:off x="3730752" y="3803904"/>
            <a:ext cx="2999232" cy="34747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2000"/>
              </a:lnSpc>
            </a:pPr>
            <a:r>
              <a:rPr sz="900" b="1" i="0">
                <a:solidFill>
                  <a:srgbClr val="7F5F00"/>
                </a:solidFill>
                <a:latin typeface="맑은 고딕"/>
                <a:ea typeface="맑은 고딕"/>
              </a:rPr>
              <a:t>ⓒ Version Guard</a:t>
            </a:r>
          </a:p>
          <a:p>
            <a:pPr algn="ctr">
              <a:lnSpc>
                <a:spcPct val="92000"/>
              </a:lnSpc>
            </a:pPr>
            <a:r>
              <a:rPr sz="800" b="0" i="0">
                <a:solidFill>
                  <a:srgbClr val="7F5F00"/>
                </a:solidFill>
                <a:latin typeface="맑은 고딕"/>
                <a:ea typeface="맑은 고딕"/>
              </a:rPr>
              <a:t>실행 직전 epoch 비교 — 어긋난 객체만 드롭</a:t>
            </a:r>
          </a:p>
        </p:txBody>
      </p:sp>
      <p:sp>
        <p:nvSpPr>
          <p:cNvPr id="50" name="Rectangle 49"/>
          <p:cNvSpPr/>
          <p:nvPr/>
        </p:nvSpPr>
        <p:spPr>
          <a:xfrm>
            <a:off x="3730752" y="4224528"/>
            <a:ext cx="2999232" cy="23774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0" i="0">
                <a:solidFill>
                  <a:srgbClr val="404040"/>
                </a:solidFill>
                <a:latin typeface="맑은 고딕"/>
                <a:ea typeface="맑은 고딕"/>
              </a:rPr>
              <a:t>Migration Executor</a:t>
            </a:r>
          </a:p>
        </p:txBody>
      </p:sp>
      <p:sp>
        <p:nvSpPr>
          <p:cNvPr id="51" name="Rectangle 50"/>
          <p:cNvSpPr/>
          <p:nvPr/>
        </p:nvSpPr>
        <p:spPr>
          <a:xfrm>
            <a:off x="3730752" y="4517136"/>
            <a:ext cx="2999232"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900" b="1" i="0">
                <a:solidFill>
                  <a:srgbClr val="FFFFFF"/>
                </a:solidFill>
                <a:latin typeface="맑은 고딕"/>
                <a:ea typeface="맑은 고딕"/>
              </a:rPr>
              <a:t>Transfer Handler  (Background DMA)</a:t>
            </a:r>
          </a:p>
        </p:txBody>
      </p:sp>
      <p:cxnSp>
        <p:nvCxnSpPr>
          <p:cNvPr id="52" name="Connector 51"/>
          <p:cNvCxnSpPr/>
          <p:nvPr/>
        </p:nvCxnSpPr>
        <p:spPr>
          <a:xfrm>
            <a:off x="5230368" y="3730752"/>
            <a:ext cx="0" cy="7315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230368" y="4151376"/>
            <a:ext cx="0" cy="73152"/>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0368" y="4462272"/>
            <a:ext cx="0" cy="5486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943600" y="2926080"/>
            <a:ext cx="0" cy="457200"/>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98464" y="2957415"/>
            <a:ext cx="841248" cy="138499"/>
          </a:xfrm>
          <a:prstGeom prst="rect">
            <a:avLst/>
          </a:prstGeom>
          <a:noFill/>
        </p:spPr>
        <p:txBody>
          <a:bodyPr wrap="square" lIns="0" tIns="0" rIns="0" bIns="0" anchor="ctr">
            <a:spAutoFit/>
          </a:bodyPr>
          <a:lstStyle/>
          <a:p>
            <a:pPr algn="l"/>
            <a:r>
              <a:rPr sz="900" b="0" i="0">
                <a:solidFill>
                  <a:srgbClr val="808080"/>
                </a:solidFill>
                <a:latin typeface="맑은 고딕"/>
                <a:ea typeface="맑은 고딕"/>
              </a:rPr>
              <a:t>명령 + version</a:t>
            </a:r>
          </a:p>
        </p:txBody>
      </p:sp>
      <p:cxnSp>
        <p:nvCxnSpPr>
          <p:cNvPr id="57" name="Connector 56"/>
          <p:cNvCxnSpPr/>
          <p:nvPr/>
        </p:nvCxnSpPr>
        <p:spPr>
          <a:xfrm flipH="1">
            <a:off x="3529584" y="3977639"/>
            <a:ext cx="201168" cy="0"/>
          </a:xfrm>
          <a:prstGeom prst="line">
            <a:avLst/>
          </a:prstGeom>
          <a:ln w="12700">
            <a:solidFill>
              <a:srgbClr val="BF8F00"/>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529584" y="3977639"/>
            <a:ext cx="0" cy="649225"/>
          </a:xfrm>
          <a:prstGeom prst="line">
            <a:avLst/>
          </a:prstGeom>
          <a:ln w="12700">
            <a:solidFill>
              <a:srgbClr val="BF8F00"/>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3364992" y="4626864"/>
            <a:ext cx="164592" cy="0"/>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310896" y="4919472"/>
            <a:ext cx="6528816"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Common Memory Backend Interface</a:t>
            </a:r>
          </a:p>
        </p:txBody>
      </p:sp>
      <p:sp>
        <p:nvSpPr>
          <p:cNvPr id="61" name="Rectangle 60"/>
          <p:cNvSpPr/>
          <p:nvPr/>
        </p:nvSpPr>
        <p:spPr>
          <a:xfrm>
            <a:off x="310896" y="5266944"/>
            <a:ext cx="6528816" cy="420624"/>
          </a:xfrm>
          <a:prstGeom prst="rect">
            <a:avLst/>
          </a:prstGeom>
          <a:solidFill>
            <a:srgbClr val="FDF6E3"/>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2" name="TextBox 61"/>
          <p:cNvSpPr txBox="1"/>
          <p:nvPr/>
        </p:nvSpPr>
        <p:spPr>
          <a:xfrm>
            <a:off x="420624" y="5303520"/>
            <a:ext cx="6309360" cy="365760"/>
          </a:xfrm>
          <a:prstGeom prst="rect">
            <a:avLst/>
          </a:prstGeom>
          <a:noFill/>
        </p:spPr>
        <p:txBody>
          <a:bodyPr wrap="square" lIns="0" tIns="0" rIns="0" bIns="0" anchor="t">
            <a:spAutoFit/>
          </a:bodyPr>
          <a:lstStyle/>
          <a:p>
            <a:pPr algn="l">
              <a:lnSpc>
                <a:spcPct val="112000"/>
              </a:lnSpc>
            </a:pPr>
            <a:r>
              <a:rPr sz="800" b="1" i="0">
                <a:solidFill>
                  <a:srgbClr val="7F5F00"/>
                </a:solidFill>
                <a:latin typeface="맑은 고딕"/>
                <a:ea typeface="맑은 고딕"/>
              </a:rPr>
              <a:t>설계 원칙 — plane 을 다시 합치지 않는다. ⓐ 는 상태를 넘기지 않고 ‘압박이 생겼다’는 사실만 통지하므로,</a:t>
            </a:r>
          </a:p>
          <a:p>
            <a:pPr algn="l">
              <a:lnSpc>
                <a:spcPct val="112000"/>
              </a:lnSpc>
            </a:pPr>
            <a:r>
              <a:rPr sz="800" b="1" i="0">
                <a:solidFill>
                  <a:srgbClr val="7F5F00"/>
                </a:solidFill>
                <a:latin typeface="맑은 고딕"/>
                <a:ea typeface="맑은 고딕"/>
              </a:rPr>
              <a:t>1안의 Threshold Trigger 와 달리 상태를 잠근 채 읽히지 않는다 → 선택 이유인 QA1 · QA4 가 보존된다.</a:t>
            </a:r>
          </a:p>
        </p:txBody>
      </p:sp>
      <p:sp>
        <p:nvSpPr>
          <p:cNvPr id="63" name="Rectangle 62"/>
          <p:cNvSpPr/>
          <p:nvPr/>
        </p:nvSpPr>
        <p:spPr>
          <a:xfrm>
            <a:off x="365760" y="5815584"/>
            <a:ext cx="146304" cy="128016"/>
          </a:xfrm>
          <a:prstGeom prst="rect">
            <a:avLst/>
          </a:prstGeom>
          <a:solidFill>
            <a:srgbClr val="FFF2CC"/>
          </a:solidFill>
          <a:ln w="6350">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4" name="Rectangle 63"/>
          <p:cNvSpPr/>
          <p:nvPr/>
        </p:nvSpPr>
        <p:spPr>
          <a:xfrm>
            <a:off x="1920240" y="5815584"/>
            <a:ext cx="146304" cy="128016"/>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65" name="TextBox 64"/>
          <p:cNvSpPr txBox="1"/>
          <p:nvPr/>
        </p:nvSpPr>
        <p:spPr>
          <a:xfrm>
            <a:off x="566928" y="5797296"/>
            <a:ext cx="1335024" cy="155448"/>
          </a:xfrm>
          <a:prstGeom prst="rect">
            <a:avLst/>
          </a:prstGeom>
          <a:noFill/>
        </p:spPr>
        <p:txBody>
          <a:bodyPr wrap="square" lIns="0" tIns="0" rIns="0" bIns="0" anchor="ctr">
            <a:spAutoFit/>
          </a:bodyPr>
          <a:lstStyle/>
          <a:p>
            <a:pPr algn="l"/>
            <a:r>
              <a:rPr sz="700" b="0" i="0">
                <a:solidFill>
                  <a:srgbClr val="404040"/>
                </a:solidFill>
                <a:latin typeface="맑은 고딕"/>
                <a:ea typeface="맑은 고딕"/>
              </a:rPr>
              <a:t>노랑 = 보완 추가·확장</a:t>
            </a:r>
          </a:p>
        </p:txBody>
      </p:sp>
      <p:sp>
        <p:nvSpPr>
          <p:cNvPr id="66" name="TextBox 65"/>
          <p:cNvSpPr txBox="1"/>
          <p:nvPr/>
        </p:nvSpPr>
        <p:spPr>
          <a:xfrm>
            <a:off x="2121408" y="5797296"/>
            <a:ext cx="2194560" cy="155448"/>
          </a:xfrm>
          <a:prstGeom prst="rect">
            <a:avLst/>
          </a:prstGeom>
          <a:noFill/>
        </p:spPr>
        <p:txBody>
          <a:bodyPr wrap="square" lIns="0" tIns="0" rIns="0" bIns="0" anchor="ctr">
            <a:spAutoFit/>
          </a:bodyPr>
          <a:lstStyle/>
          <a:p>
            <a:pPr algn="l"/>
            <a:r>
              <a:rPr sz="700" b="0" i="0">
                <a:solidFill>
                  <a:srgbClr val="404040"/>
                </a:solidFill>
                <a:latin typeface="맑은 고딕"/>
                <a:ea typeface="맑은 고딕"/>
              </a:rPr>
              <a:t>흰색 = 2안 기존 모듈 (변경 없음)</a:t>
            </a:r>
          </a:p>
        </p:txBody>
      </p:sp>
      <p:sp>
        <p:nvSpPr>
          <p:cNvPr id="67" name="TextBox 66"/>
          <p:cNvSpPr txBox="1"/>
          <p:nvPr/>
        </p:nvSpPr>
        <p:spPr>
          <a:xfrm>
            <a:off x="4443984" y="5797296"/>
            <a:ext cx="2340864" cy="155448"/>
          </a:xfrm>
          <a:prstGeom prst="rect">
            <a:avLst/>
          </a:prstGeom>
          <a:noFill/>
        </p:spPr>
        <p:txBody>
          <a:bodyPr wrap="square" lIns="0" tIns="0" rIns="0" bIns="0" anchor="ctr">
            <a:spAutoFit/>
          </a:bodyPr>
          <a:lstStyle/>
          <a:p>
            <a:pPr algn="l"/>
            <a:r>
              <a:rPr sz="700" b="0" i="0">
                <a:solidFill>
                  <a:srgbClr val="404040"/>
                </a:solidFill>
                <a:latin typeface="맑은 고딕"/>
                <a:ea typeface="맑은 고딕"/>
              </a:rPr>
              <a:t>- - ▶ 조회 · 발행        ── ▶ 호출 · 긴급 통지</a:t>
            </a:r>
          </a:p>
        </p:txBody>
      </p:sp>
      <p:sp>
        <p:nvSpPr>
          <p:cNvPr id="68" name="TextBox 67"/>
          <p:cNvSpPr txBox="1"/>
          <p:nvPr/>
        </p:nvSpPr>
        <p:spPr>
          <a:xfrm>
            <a:off x="420624" y="6053328"/>
            <a:ext cx="6309360" cy="475488"/>
          </a:xfrm>
          <a:prstGeom prst="rect">
            <a:avLst/>
          </a:prstGeom>
          <a:noFill/>
        </p:spPr>
        <p:txBody>
          <a:bodyPr wrap="square" lIns="0" tIns="0" rIns="0" bIns="0" anchor="t">
            <a:spAutoFit/>
          </a:bodyPr>
          <a:lstStyle/>
          <a:p>
            <a:pPr algn="l">
              <a:lnSpc>
                <a:spcPct val="125000"/>
              </a:lnSpc>
            </a:pPr>
            <a:r>
              <a:rPr sz="780" b="0" i="0">
                <a:solidFill>
                  <a:srgbClr val="262626"/>
                </a:solidFill>
                <a:latin typeface="맑은 고딕"/>
                <a:ea typeface="맑은 고딕"/>
              </a:rPr>
              <a:t>정상 경로   Scheduler 기동 → ⓑ delta snapshot 조회 → 판단 → 명령+version 발행 → ⓓ budget 통과 → ⓒ epoch 검증 → 실행</a:t>
            </a:r>
          </a:p>
          <a:p>
            <a:pPr algn="l">
              <a:lnSpc>
                <a:spcPct val="125000"/>
              </a:lnSpc>
            </a:pPr>
            <a:r>
              <a:rPr sz="780" b="0" i="0">
                <a:solidFill>
                  <a:srgbClr val="262626"/>
                </a:solidFill>
                <a:latin typeface="맑은 고딕"/>
                <a:ea typeface="맑은 고딕"/>
              </a:rPr>
              <a:t>긴급 경로   임계치 교차 → ⓐ 사실 통지 → 해당 tier 만 on-demand snapshot → 즉시 판단 (주기 대기 없음)</a:t>
            </a:r>
          </a:p>
        </p:txBody>
      </p:sp>
      <p:sp>
        <p:nvSpPr>
          <p:cNvPr id="69" name="Rectangle 68"/>
          <p:cNvSpPr/>
          <p:nvPr/>
        </p:nvSpPr>
        <p:spPr>
          <a:xfrm>
            <a:off x="7150607" y="1755648"/>
            <a:ext cx="4636007" cy="7680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0" name="Rectangle 69"/>
          <p:cNvSpPr/>
          <p:nvPr/>
        </p:nvSpPr>
        <p:spPr>
          <a:xfrm>
            <a:off x="7150607" y="1755648"/>
            <a:ext cx="4636007" cy="201168"/>
          </a:xfrm>
          <a:prstGeom prst="rect">
            <a:avLst/>
          </a:prstGeom>
          <a:solidFill>
            <a:srgbClr val="BF8F00"/>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800" b="1" i="0">
                <a:solidFill>
                  <a:srgbClr val="FFFFFF"/>
                </a:solidFill>
                <a:latin typeface="맑은 고딕"/>
                <a:ea typeface="맑은 고딕"/>
              </a:rPr>
              <a:t>  ⓐ Pressure Fast Path        — QA2 확보 지연</a:t>
            </a:r>
          </a:p>
        </p:txBody>
      </p:sp>
      <p:sp>
        <p:nvSpPr>
          <p:cNvPr id="71" name="TextBox 70"/>
          <p:cNvSpPr txBox="1"/>
          <p:nvPr/>
        </p:nvSpPr>
        <p:spPr>
          <a:xfrm>
            <a:off x="7260336" y="2002536"/>
            <a:ext cx="4416551" cy="493776"/>
          </a:xfrm>
          <a:prstGeom prst="rect">
            <a:avLst/>
          </a:prstGeom>
          <a:noFill/>
        </p:spPr>
        <p:txBody>
          <a:bodyPr wrap="square" lIns="0" tIns="0" rIns="0" bIns="0" anchor="t">
            <a:spAutoFit/>
          </a:bodyPr>
          <a:lstStyle/>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원인 : 압박 발생 시 Scheduler 주기를 기다려 HBM 확보가 늦음</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보완 : 임계치 교차를 즉시 통지 → 해당 tier 만 on-demand 판단</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효과 : 압박 구간에서 1안과 동등한 반응 속도 — 평상시는 주기 판단 유지</a:t>
            </a:r>
          </a:p>
        </p:txBody>
      </p:sp>
      <p:sp>
        <p:nvSpPr>
          <p:cNvPr id="72" name="Rectangle 71"/>
          <p:cNvSpPr/>
          <p:nvPr/>
        </p:nvSpPr>
        <p:spPr>
          <a:xfrm>
            <a:off x="7150607" y="2578608"/>
            <a:ext cx="4636007" cy="768096"/>
          </a:xfrm>
          <a:prstGeom prst="rect">
            <a:avLst/>
          </a:prstGeom>
          <a:solidFill>
            <a:srgbClr val="FCFCFC"/>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3" name="Rectangle 72"/>
          <p:cNvSpPr/>
          <p:nvPr/>
        </p:nvSpPr>
        <p:spPr>
          <a:xfrm>
            <a:off x="7150607" y="2578608"/>
            <a:ext cx="4636007" cy="201168"/>
          </a:xfrm>
          <a:prstGeom prst="rect">
            <a:avLst/>
          </a:prstGeom>
          <a:solidFill>
            <a:srgbClr val="BF8F00"/>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800" b="1" i="0">
                <a:solidFill>
                  <a:srgbClr val="FFFFFF"/>
                </a:solidFill>
                <a:latin typeface="맑은 고딕"/>
                <a:ea typeface="맑은 고딕"/>
              </a:rPr>
              <a:t>  ⓑ Delta Snapshot Builder        — QA2 생성 비용 · age</a:t>
            </a:r>
          </a:p>
        </p:txBody>
      </p:sp>
      <p:sp>
        <p:nvSpPr>
          <p:cNvPr id="74" name="TextBox 73"/>
          <p:cNvSpPr txBox="1"/>
          <p:nvPr/>
        </p:nvSpPr>
        <p:spPr>
          <a:xfrm>
            <a:off x="7260336" y="2825496"/>
            <a:ext cx="4416551" cy="493776"/>
          </a:xfrm>
          <a:prstGeom prst="rect">
            <a:avLst/>
          </a:prstGeom>
          <a:noFill/>
        </p:spPr>
        <p:txBody>
          <a:bodyPr wrap="square" lIns="0" tIns="0" rIns="0" bIns="0" anchor="t">
            <a:spAutoFit/>
          </a:bodyPr>
          <a:lstStyle/>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원인 : full snapshot 이 전체 object 수에 비례한 비용을 상시 점유</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보완 : 변경분만 생성 + hot 짧은 주기 / cold 긴 주기 차등</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효과 : 비용이 변경 object 수에 비례 — age 와 비용을 동시에 낮춤</a:t>
            </a:r>
          </a:p>
        </p:txBody>
      </p:sp>
      <p:sp>
        <p:nvSpPr>
          <p:cNvPr id="75" name="Rectangle 74"/>
          <p:cNvSpPr/>
          <p:nvPr/>
        </p:nvSpPr>
        <p:spPr>
          <a:xfrm>
            <a:off x="7150607" y="3401568"/>
            <a:ext cx="4636007" cy="7680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6" name="Rectangle 75"/>
          <p:cNvSpPr/>
          <p:nvPr/>
        </p:nvSpPr>
        <p:spPr>
          <a:xfrm>
            <a:off x="7150607" y="3401568"/>
            <a:ext cx="4636007" cy="201168"/>
          </a:xfrm>
          <a:prstGeom prst="rect">
            <a:avLst/>
          </a:prstGeom>
          <a:solidFill>
            <a:srgbClr val="BF8F00"/>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800" b="1" i="0">
                <a:solidFill>
                  <a:srgbClr val="FFFFFF"/>
                </a:solidFill>
                <a:latin typeface="맑은 고딕"/>
                <a:ea typeface="맑은 고딕"/>
              </a:rPr>
              <a:t>  ⓒ Version Guard        — QA2 재시도 폭증</a:t>
            </a:r>
          </a:p>
        </p:txBody>
      </p:sp>
      <p:sp>
        <p:nvSpPr>
          <p:cNvPr id="77" name="TextBox 76"/>
          <p:cNvSpPr txBox="1"/>
          <p:nvPr/>
        </p:nvSpPr>
        <p:spPr>
          <a:xfrm>
            <a:off x="7260336" y="3648456"/>
            <a:ext cx="4416551" cy="493776"/>
          </a:xfrm>
          <a:prstGeom prst="rect">
            <a:avLst/>
          </a:prstGeom>
          <a:noFill/>
        </p:spPr>
        <p:txBody>
          <a:bodyPr wrap="square" lIns="0" tIns="0" rIns="0" bIns="0" anchor="t">
            <a:spAutoFit/>
          </a:bodyPr>
          <a:lstStyle/>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원인 : stale 상태 기준 명령이 실패해 재시도가 반복됨</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보완 : 명령에 실린 version 과 Registry epoch 비교, 어긋난 객체만 드롭</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효과 : 재판단 없이 국소 드롭 — 실패가 처리량으로 번지지 않음</a:t>
            </a:r>
          </a:p>
        </p:txBody>
      </p:sp>
      <p:sp>
        <p:nvSpPr>
          <p:cNvPr id="78" name="Rectangle 77"/>
          <p:cNvSpPr/>
          <p:nvPr/>
        </p:nvSpPr>
        <p:spPr>
          <a:xfrm>
            <a:off x="7150607" y="4224528"/>
            <a:ext cx="4636007" cy="768096"/>
          </a:xfrm>
          <a:prstGeom prst="rect">
            <a:avLst/>
          </a:prstGeom>
          <a:solidFill>
            <a:srgbClr val="FCFCFC"/>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79" name="Rectangle 78"/>
          <p:cNvSpPr/>
          <p:nvPr/>
        </p:nvSpPr>
        <p:spPr>
          <a:xfrm>
            <a:off x="7150607" y="4224528"/>
            <a:ext cx="4636007" cy="201168"/>
          </a:xfrm>
          <a:prstGeom prst="rect">
            <a:avLst/>
          </a:prstGeom>
          <a:solidFill>
            <a:srgbClr val="BF8F00"/>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lnSpc>
                <a:spcPct val="95000"/>
              </a:lnSpc>
            </a:pPr>
            <a:r>
              <a:rPr sz="800" b="1" i="0">
                <a:solidFill>
                  <a:srgbClr val="FFFFFF"/>
                </a:solidFill>
                <a:latin typeface="맑은 고딕"/>
                <a:ea typeface="맑은 고딕"/>
              </a:rPr>
              <a:t>  ⓓ Admission Budget        — QA2 과점유</a:t>
            </a:r>
          </a:p>
        </p:txBody>
      </p:sp>
      <p:sp>
        <p:nvSpPr>
          <p:cNvPr id="80" name="TextBox 79"/>
          <p:cNvSpPr txBox="1"/>
          <p:nvPr/>
        </p:nvSpPr>
        <p:spPr>
          <a:xfrm>
            <a:off x="7260336" y="4471416"/>
            <a:ext cx="4416551" cy="493776"/>
          </a:xfrm>
          <a:prstGeom prst="rect">
            <a:avLst/>
          </a:prstGeom>
          <a:noFill/>
        </p:spPr>
        <p:txBody>
          <a:bodyPr wrap="square" lIns="0" tIns="0" rIns="0" bIns="0" anchor="t">
            <a:spAutoFit/>
          </a:bodyPr>
          <a:lstStyle/>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원인 : 통과한 stale 명령이 결과적으로 과점유를 유발</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보완 : 실측 점유율 budget 안에서만 명령 통과 (실행 시점 2차 차단)</a:t>
            </a:r>
          </a:p>
          <a:p>
            <a:pPr marL="118872" indent="-118872">
              <a:lnSpc>
                <a:spcPct val="106000"/>
              </a:lnSpc>
              <a:spcAft>
                <a:spcPts val="200"/>
              </a:spcAft>
              <a:buFont typeface="Arial" pitchFamily="34" charset="0"/>
              <a:buChar char="▪"/>
            </a:pPr>
            <a:r>
              <a:rPr sz="760" b="0" i="0">
                <a:solidFill>
                  <a:srgbClr val="404040"/>
                </a:solidFill>
                <a:latin typeface="맑은 고딕"/>
                <a:ea typeface="맑은 고딕"/>
              </a:rPr>
              <a:t>효과 : stale 판단이 점유율을 넘기는 최악 경로를 실행 시점에 차단</a:t>
            </a:r>
          </a:p>
        </p:txBody>
      </p:sp>
      <p:sp>
        <p:nvSpPr>
          <p:cNvPr id="81" name="Rectangle 80"/>
          <p:cNvSpPr/>
          <p:nvPr/>
        </p:nvSpPr>
        <p:spPr>
          <a:xfrm>
            <a:off x="7059168" y="5120640"/>
            <a:ext cx="4818888" cy="274320"/>
          </a:xfrm>
          <a:prstGeom prst="rect">
            <a:avLst/>
          </a:prstGeom>
          <a:solidFill>
            <a:srgbClr val="FAFAFA"/>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50" b="1" i="0">
                <a:solidFill>
                  <a:srgbClr val="262626"/>
                </a:solidFill>
                <a:latin typeface="맑은 고딕"/>
                <a:ea typeface="맑은 고딕"/>
              </a:rPr>
              <a:t>보완 전 / 후 Tradeoff</a:t>
            </a:r>
          </a:p>
        </p:txBody>
      </p:sp>
      <p:sp>
        <p:nvSpPr>
          <p:cNvPr id="82" name="Rectangle 81"/>
          <p:cNvSpPr/>
          <p:nvPr/>
        </p:nvSpPr>
        <p:spPr>
          <a:xfrm>
            <a:off x="7059168" y="5394960"/>
            <a:ext cx="4818888" cy="1207008"/>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83" name="TextBox 82"/>
          <p:cNvSpPr txBox="1"/>
          <p:nvPr/>
        </p:nvSpPr>
        <p:spPr>
          <a:xfrm>
            <a:off x="7187183" y="5468112"/>
            <a:ext cx="1426464" cy="173736"/>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  QA1. Performance</a:t>
            </a:r>
          </a:p>
        </p:txBody>
      </p:sp>
      <p:sp>
        <p:nvSpPr>
          <p:cNvPr id="84" name="TextBox 83"/>
          <p:cNvSpPr txBox="1"/>
          <p:nvPr/>
        </p:nvSpPr>
        <p:spPr>
          <a:xfrm>
            <a:off x="8631936" y="5458968"/>
            <a:ext cx="512064" cy="182880"/>
          </a:xfrm>
          <a:prstGeom prst="rect">
            <a:avLst/>
          </a:prstGeom>
          <a:noFill/>
        </p:spPr>
        <p:txBody>
          <a:bodyPr wrap="square" lIns="0" tIns="0" rIns="0" bIns="0" anchor="ctr">
            <a:spAutoFit/>
          </a:bodyPr>
          <a:lstStyle/>
          <a:p>
            <a:pPr algn="ctr"/>
            <a:r>
              <a:rPr sz="900" b="1" i="0">
                <a:solidFill>
                  <a:srgbClr val="808080"/>
                </a:solidFill>
                <a:latin typeface="맑은 고딕"/>
                <a:ea typeface="맑은 고딕"/>
              </a:rPr>
              <a:t>★★★</a:t>
            </a:r>
          </a:p>
        </p:txBody>
      </p:sp>
      <p:sp>
        <p:nvSpPr>
          <p:cNvPr id="85" name="TextBox 84"/>
          <p:cNvSpPr txBox="1"/>
          <p:nvPr/>
        </p:nvSpPr>
        <p:spPr>
          <a:xfrm>
            <a:off x="9144000" y="5458968"/>
            <a:ext cx="201168" cy="182880"/>
          </a:xfrm>
          <a:prstGeom prst="rect">
            <a:avLst/>
          </a:prstGeom>
          <a:noFill/>
        </p:spPr>
        <p:txBody>
          <a:bodyPr wrap="square" lIns="0" tIns="0" rIns="0" bIns="0" anchor="ctr">
            <a:spAutoFit/>
          </a:bodyPr>
          <a:lstStyle/>
          <a:p>
            <a:pPr algn="ctr"/>
            <a:r>
              <a:rPr sz="800" b="0" i="0">
                <a:solidFill>
                  <a:srgbClr val="404040"/>
                </a:solidFill>
                <a:latin typeface="맑은 고딕"/>
                <a:ea typeface="맑은 고딕"/>
              </a:rPr>
              <a:t>→</a:t>
            </a:r>
          </a:p>
        </p:txBody>
      </p:sp>
      <p:sp>
        <p:nvSpPr>
          <p:cNvPr id="86" name="TextBox 85"/>
          <p:cNvSpPr txBox="1"/>
          <p:nvPr/>
        </p:nvSpPr>
        <p:spPr>
          <a:xfrm>
            <a:off x="9345167" y="5458968"/>
            <a:ext cx="512064" cy="182880"/>
          </a:xfrm>
          <a:prstGeom prst="rect">
            <a:avLst/>
          </a:prstGeom>
          <a:noFill/>
        </p:spPr>
        <p:txBody>
          <a:bodyPr wrap="square" lIns="0" tIns="0" rIns="0" bIns="0" anchor="ctr">
            <a:spAutoFit/>
          </a:bodyPr>
          <a:lstStyle/>
          <a:p>
            <a:pPr algn="ctr"/>
            <a:r>
              <a:rPr sz="900" b="1" i="0">
                <a:solidFill>
                  <a:srgbClr val="808080"/>
                </a:solidFill>
                <a:latin typeface="맑은 고딕"/>
                <a:ea typeface="맑은 고딕"/>
              </a:rPr>
              <a:t>★★★</a:t>
            </a:r>
          </a:p>
        </p:txBody>
      </p:sp>
      <p:sp>
        <p:nvSpPr>
          <p:cNvPr id="87" name="TextBox 86"/>
          <p:cNvSpPr txBox="1"/>
          <p:nvPr/>
        </p:nvSpPr>
        <p:spPr>
          <a:xfrm>
            <a:off x="9912096" y="5468112"/>
            <a:ext cx="1847088" cy="173736"/>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유지 — 긴급 경로는 희소</a:t>
            </a:r>
          </a:p>
        </p:txBody>
      </p:sp>
      <p:sp>
        <p:nvSpPr>
          <p:cNvPr id="88" name="TextBox 87"/>
          <p:cNvSpPr txBox="1"/>
          <p:nvPr/>
        </p:nvSpPr>
        <p:spPr>
          <a:xfrm>
            <a:off x="7187183" y="5650992"/>
            <a:ext cx="1426464" cy="173736"/>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  QA2. Resource Efficiency</a:t>
            </a:r>
          </a:p>
        </p:txBody>
      </p:sp>
      <p:sp>
        <p:nvSpPr>
          <p:cNvPr id="89" name="TextBox 88"/>
          <p:cNvSpPr txBox="1"/>
          <p:nvPr/>
        </p:nvSpPr>
        <p:spPr>
          <a:xfrm>
            <a:off x="8631936" y="5641848"/>
            <a:ext cx="512064" cy="182880"/>
          </a:xfrm>
          <a:prstGeom prst="rect">
            <a:avLst/>
          </a:prstGeom>
          <a:noFill/>
        </p:spPr>
        <p:txBody>
          <a:bodyPr wrap="square" lIns="0" tIns="0" rIns="0" bIns="0" anchor="ctr">
            <a:spAutoFit/>
          </a:bodyPr>
          <a:lstStyle/>
          <a:p>
            <a:pPr algn="ctr"/>
            <a:r>
              <a:rPr sz="900" b="1" i="0">
                <a:solidFill>
                  <a:srgbClr val="808080"/>
                </a:solidFill>
                <a:latin typeface="맑은 고딕"/>
                <a:ea typeface="맑은 고딕"/>
              </a:rPr>
              <a:t>★☆☆</a:t>
            </a:r>
          </a:p>
        </p:txBody>
      </p:sp>
      <p:sp>
        <p:nvSpPr>
          <p:cNvPr id="90" name="TextBox 89"/>
          <p:cNvSpPr txBox="1"/>
          <p:nvPr/>
        </p:nvSpPr>
        <p:spPr>
          <a:xfrm>
            <a:off x="9144000" y="5641848"/>
            <a:ext cx="201168" cy="182880"/>
          </a:xfrm>
          <a:prstGeom prst="rect">
            <a:avLst/>
          </a:prstGeom>
          <a:noFill/>
        </p:spPr>
        <p:txBody>
          <a:bodyPr wrap="square" lIns="0" tIns="0" rIns="0" bIns="0" anchor="ctr">
            <a:spAutoFit/>
          </a:bodyPr>
          <a:lstStyle/>
          <a:p>
            <a:pPr algn="ctr"/>
            <a:r>
              <a:rPr sz="800" b="0" i="0">
                <a:solidFill>
                  <a:srgbClr val="404040"/>
                </a:solidFill>
                <a:latin typeface="맑은 고딕"/>
                <a:ea typeface="맑은 고딕"/>
              </a:rPr>
              <a:t>→</a:t>
            </a:r>
          </a:p>
        </p:txBody>
      </p:sp>
      <p:sp>
        <p:nvSpPr>
          <p:cNvPr id="91" name="TextBox 90"/>
          <p:cNvSpPr txBox="1"/>
          <p:nvPr/>
        </p:nvSpPr>
        <p:spPr>
          <a:xfrm>
            <a:off x="9345167" y="5641848"/>
            <a:ext cx="512064" cy="182880"/>
          </a:xfrm>
          <a:prstGeom prst="rect">
            <a:avLst/>
          </a:prstGeom>
          <a:noFill/>
        </p:spPr>
        <p:txBody>
          <a:bodyPr wrap="square" lIns="0" tIns="0" rIns="0" bIns="0" anchor="ctr">
            <a:spAutoFit/>
          </a:bodyPr>
          <a:lstStyle/>
          <a:p>
            <a:pPr algn="ctr"/>
            <a:r>
              <a:rPr sz="900" b="1" i="0">
                <a:solidFill>
                  <a:srgbClr val="548235"/>
                </a:solidFill>
                <a:latin typeface="맑은 고딕"/>
                <a:ea typeface="맑은 고딕"/>
              </a:rPr>
              <a:t>★★☆</a:t>
            </a:r>
          </a:p>
        </p:txBody>
      </p:sp>
      <p:sp>
        <p:nvSpPr>
          <p:cNvPr id="92" name="TextBox 91"/>
          <p:cNvSpPr txBox="1"/>
          <p:nvPr/>
        </p:nvSpPr>
        <p:spPr>
          <a:xfrm>
            <a:off x="9912096" y="5650992"/>
            <a:ext cx="1847088" cy="173736"/>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 지연 · ⓑ 비용 · ⓒⓓ 재시도</a:t>
            </a:r>
          </a:p>
        </p:txBody>
      </p:sp>
      <p:sp>
        <p:nvSpPr>
          <p:cNvPr id="93" name="TextBox 92"/>
          <p:cNvSpPr txBox="1"/>
          <p:nvPr/>
        </p:nvSpPr>
        <p:spPr>
          <a:xfrm>
            <a:off x="7187183" y="5833872"/>
            <a:ext cx="1426464" cy="173736"/>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  QA3. Modifiability</a:t>
            </a:r>
          </a:p>
        </p:txBody>
      </p:sp>
      <p:sp>
        <p:nvSpPr>
          <p:cNvPr id="94" name="TextBox 93"/>
          <p:cNvSpPr txBox="1"/>
          <p:nvPr/>
        </p:nvSpPr>
        <p:spPr>
          <a:xfrm>
            <a:off x="8631936" y="5824728"/>
            <a:ext cx="512064" cy="182880"/>
          </a:xfrm>
          <a:prstGeom prst="rect">
            <a:avLst/>
          </a:prstGeom>
          <a:noFill/>
        </p:spPr>
        <p:txBody>
          <a:bodyPr wrap="square" lIns="0" tIns="0" rIns="0" bIns="0" anchor="ctr">
            <a:spAutoFit/>
          </a:bodyPr>
          <a:lstStyle/>
          <a:p>
            <a:pPr algn="ctr"/>
            <a:r>
              <a:rPr sz="900" b="1" i="0">
                <a:solidFill>
                  <a:srgbClr val="808080"/>
                </a:solidFill>
                <a:latin typeface="맑은 고딕"/>
                <a:ea typeface="맑은 고딕"/>
              </a:rPr>
              <a:t>★★☆</a:t>
            </a:r>
          </a:p>
        </p:txBody>
      </p:sp>
      <p:sp>
        <p:nvSpPr>
          <p:cNvPr id="95" name="TextBox 94"/>
          <p:cNvSpPr txBox="1"/>
          <p:nvPr/>
        </p:nvSpPr>
        <p:spPr>
          <a:xfrm>
            <a:off x="9144000" y="5824728"/>
            <a:ext cx="201168" cy="182880"/>
          </a:xfrm>
          <a:prstGeom prst="rect">
            <a:avLst/>
          </a:prstGeom>
          <a:noFill/>
        </p:spPr>
        <p:txBody>
          <a:bodyPr wrap="square" lIns="0" tIns="0" rIns="0" bIns="0" anchor="ctr">
            <a:spAutoFit/>
          </a:bodyPr>
          <a:lstStyle/>
          <a:p>
            <a:pPr algn="ctr"/>
            <a:r>
              <a:rPr sz="800" b="0" i="0">
                <a:solidFill>
                  <a:srgbClr val="404040"/>
                </a:solidFill>
                <a:latin typeface="맑은 고딕"/>
                <a:ea typeface="맑은 고딕"/>
              </a:rPr>
              <a:t>→</a:t>
            </a:r>
          </a:p>
        </p:txBody>
      </p:sp>
      <p:sp>
        <p:nvSpPr>
          <p:cNvPr id="96" name="TextBox 95"/>
          <p:cNvSpPr txBox="1"/>
          <p:nvPr/>
        </p:nvSpPr>
        <p:spPr>
          <a:xfrm>
            <a:off x="9345167" y="5824728"/>
            <a:ext cx="512064" cy="182880"/>
          </a:xfrm>
          <a:prstGeom prst="rect">
            <a:avLst/>
          </a:prstGeom>
          <a:noFill/>
        </p:spPr>
        <p:txBody>
          <a:bodyPr wrap="square" lIns="0" tIns="0" rIns="0" bIns="0" anchor="ctr">
            <a:spAutoFit/>
          </a:bodyPr>
          <a:lstStyle/>
          <a:p>
            <a:pPr algn="ctr"/>
            <a:r>
              <a:rPr sz="900" b="1" i="0">
                <a:solidFill>
                  <a:srgbClr val="548235"/>
                </a:solidFill>
                <a:latin typeface="맑은 고딕"/>
                <a:ea typeface="맑은 고딕"/>
              </a:rPr>
              <a:t>★★★</a:t>
            </a:r>
          </a:p>
        </p:txBody>
      </p:sp>
      <p:sp>
        <p:nvSpPr>
          <p:cNvPr id="97" name="TextBox 96"/>
          <p:cNvSpPr txBox="1"/>
          <p:nvPr/>
        </p:nvSpPr>
        <p:spPr>
          <a:xfrm>
            <a:off x="9912096" y="5833872"/>
            <a:ext cx="1847088" cy="173736"/>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상태 조회 I/F · 명령 포맷 고정</a:t>
            </a:r>
          </a:p>
        </p:txBody>
      </p:sp>
      <p:sp>
        <p:nvSpPr>
          <p:cNvPr id="98" name="TextBox 97"/>
          <p:cNvSpPr txBox="1"/>
          <p:nvPr/>
        </p:nvSpPr>
        <p:spPr>
          <a:xfrm>
            <a:off x="7187183" y="6016752"/>
            <a:ext cx="1426464" cy="173736"/>
          </a:xfrm>
          <a:prstGeom prst="rect">
            <a:avLst/>
          </a:prstGeom>
          <a:noFill/>
        </p:spPr>
        <p:txBody>
          <a:bodyPr wrap="square" lIns="0" tIns="0" rIns="0" bIns="0" anchor="ctr">
            <a:spAutoFit/>
          </a:bodyPr>
          <a:lstStyle/>
          <a:p>
            <a:pPr algn="l"/>
            <a:r>
              <a:rPr sz="800" b="0" i="0">
                <a:solidFill>
                  <a:srgbClr val="404040"/>
                </a:solidFill>
                <a:latin typeface="맑은 고딕"/>
                <a:ea typeface="맑은 고딕"/>
              </a:rPr>
              <a:t>▪  QA4. Scalability</a:t>
            </a:r>
          </a:p>
        </p:txBody>
      </p:sp>
      <p:sp>
        <p:nvSpPr>
          <p:cNvPr id="99" name="TextBox 98"/>
          <p:cNvSpPr txBox="1"/>
          <p:nvPr/>
        </p:nvSpPr>
        <p:spPr>
          <a:xfrm>
            <a:off x="8631936" y="6007608"/>
            <a:ext cx="512064" cy="182880"/>
          </a:xfrm>
          <a:prstGeom prst="rect">
            <a:avLst/>
          </a:prstGeom>
          <a:noFill/>
        </p:spPr>
        <p:txBody>
          <a:bodyPr wrap="square" lIns="0" tIns="0" rIns="0" bIns="0" anchor="ctr">
            <a:spAutoFit/>
          </a:bodyPr>
          <a:lstStyle/>
          <a:p>
            <a:pPr algn="ctr"/>
            <a:r>
              <a:rPr sz="900" b="1" i="0">
                <a:solidFill>
                  <a:srgbClr val="808080"/>
                </a:solidFill>
                <a:latin typeface="맑은 고딕"/>
                <a:ea typeface="맑은 고딕"/>
              </a:rPr>
              <a:t>★★★</a:t>
            </a:r>
          </a:p>
        </p:txBody>
      </p:sp>
      <p:sp>
        <p:nvSpPr>
          <p:cNvPr id="100" name="TextBox 99"/>
          <p:cNvSpPr txBox="1"/>
          <p:nvPr/>
        </p:nvSpPr>
        <p:spPr>
          <a:xfrm>
            <a:off x="9144000" y="6007608"/>
            <a:ext cx="201168" cy="182880"/>
          </a:xfrm>
          <a:prstGeom prst="rect">
            <a:avLst/>
          </a:prstGeom>
          <a:noFill/>
        </p:spPr>
        <p:txBody>
          <a:bodyPr wrap="square" lIns="0" tIns="0" rIns="0" bIns="0" anchor="ctr">
            <a:spAutoFit/>
          </a:bodyPr>
          <a:lstStyle/>
          <a:p>
            <a:pPr algn="ctr"/>
            <a:r>
              <a:rPr sz="800" b="0" i="0">
                <a:solidFill>
                  <a:srgbClr val="404040"/>
                </a:solidFill>
                <a:latin typeface="맑은 고딕"/>
                <a:ea typeface="맑은 고딕"/>
              </a:rPr>
              <a:t>→</a:t>
            </a:r>
          </a:p>
        </p:txBody>
      </p:sp>
      <p:sp>
        <p:nvSpPr>
          <p:cNvPr id="101" name="TextBox 100"/>
          <p:cNvSpPr txBox="1"/>
          <p:nvPr/>
        </p:nvSpPr>
        <p:spPr>
          <a:xfrm>
            <a:off x="9345167" y="6007608"/>
            <a:ext cx="512064" cy="182880"/>
          </a:xfrm>
          <a:prstGeom prst="rect">
            <a:avLst/>
          </a:prstGeom>
          <a:noFill/>
        </p:spPr>
        <p:txBody>
          <a:bodyPr wrap="square" lIns="0" tIns="0" rIns="0" bIns="0" anchor="ctr">
            <a:spAutoFit/>
          </a:bodyPr>
          <a:lstStyle/>
          <a:p>
            <a:pPr algn="ctr"/>
            <a:r>
              <a:rPr sz="900" b="1" i="0">
                <a:solidFill>
                  <a:srgbClr val="808080"/>
                </a:solidFill>
                <a:latin typeface="맑은 고딕"/>
                <a:ea typeface="맑은 고딕"/>
              </a:rPr>
              <a:t>★★★</a:t>
            </a:r>
          </a:p>
        </p:txBody>
      </p:sp>
      <p:sp>
        <p:nvSpPr>
          <p:cNvPr id="102" name="TextBox 101"/>
          <p:cNvSpPr txBox="1"/>
          <p:nvPr/>
        </p:nvSpPr>
        <p:spPr>
          <a:xfrm>
            <a:off x="9912096" y="6016752"/>
            <a:ext cx="1847088" cy="173736"/>
          </a:xfrm>
          <a:prstGeom prst="rect">
            <a:avLst/>
          </a:prstGeom>
          <a:noFill/>
        </p:spPr>
        <p:txBody>
          <a:bodyPr wrap="square" lIns="0" tIns="0" rIns="0" bIns="0" anchor="ctr">
            <a:spAutoFit/>
          </a:bodyPr>
          <a:lstStyle/>
          <a:p>
            <a:pPr algn="l"/>
            <a:r>
              <a:rPr sz="700" b="0" i="0">
                <a:solidFill>
                  <a:srgbClr val="808080"/>
                </a:solidFill>
                <a:latin typeface="맑은 고딕"/>
                <a:ea typeface="맑은 고딕"/>
              </a:rPr>
              <a:t>유지 — ⓑ 샤딩 가능</a:t>
            </a:r>
          </a:p>
        </p:txBody>
      </p:sp>
      <p:sp>
        <p:nvSpPr>
          <p:cNvPr id="103" name="TextBox 102"/>
          <p:cNvSpPr txBox="1"/>
          <p:nvPr/>
        </p:nvSpPr>
        <p:spPr>
          <a:xfrm>
            <a:off x="7187183" y="6272784"/>
            <a:ext cx="1188720" cy="182880"/>
          </a:xfrm>
          <a:prstGeom prst="rect">
            <a:avLst/>
          </a:prstGeom>
          <a:noFill/>
        </p:spPr>
        <p:txBody>
          <a:bodyPr wrap="square" lIns="0" tIns="0" rIns="0" bIns="0" anchor="ctr">
            <a:spAutoFit/>
          </a:bodyPr>
          <a:lstStyle/>
          <a:p>
            <a:pPr algn="l"/>
            <a:r>
              <a:rPr sz="850" b="1" i="0">
                <a:solidFill>
                  <a:srgbClr val="262626"/>
                </a:solidFill>
                <a:latin typeface="맑은 고딕"/>
                <a:ea typeface="맑은 고딕"/>
              </a:rPr>
              <a:t>총 9점  →  총 11점</a:t>
            </a:r>
          </a:p>
        </p:txBody>
      </p:sp>
      <p:sp>
        <p:nvSpPr>
          <p:cNvPr id="104" name="TextBox 103"/>
          <p:cNvSpPr txBox="1"/>
          <p:nvPr/>
        </p:nvSpPr>
        <p:spPr>
          <a:xfrm>
            <a:off x="8430767" y="6272784"/>
            <a:ext cx="3328416" cy="182880"/>
          </a:xfrm>
          <a:prstGeom prst="rect">
            <a:avLst/>
          </a:prstGeom>
          <a:noFill/>
        </p:spPr>
        <p:txBody>
          <a:bodyPr wrap="square" lIns="0" tIns="0" rIns="0" bIns="0" anchor="ctr">
            <a:spAutoFit/>
          </a:bodyPr>
          <a:lstStyle/>
          <a:p>
            <a:pPr algn="l"/>
            <a:r>
              <a:rPr sz="720" b="0" i="0">
                <a:solidFill>
                  <a:srgbClr val="808080"/>
                </a:solidFill>
                <a:latin typeface="맑은 고딕"/>
                <a:ea typeface="맑은 고딕"/>
              </a:rPr>
              <a:t>QA2 가 ★★★ 에 닿지 않는 것은 snapshot 기반의 구조적 한계 (age ≠ 0)</a:t>
            </a:r>
          </a:p>
        </p:txBody>
      </p:sp>
    </p:spTree>
    <p:extLst>
      <p:ext uri="{BB962C8B-B14F-4D97-AF65-F5344CB8AC3E}">
        <p14:creationId xmlns:p14="http://schemas.microsoft.com/office/powerpoint/2010/main" val="2941729362"/>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5415915"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시나리오</a:t>
            </a:r>
            <a:r>
              <a:rPr sz="2200" b="1" dirty="0">
                <a:solidFill>
                  <a:srgbClr val="2F5597"/>
                </a:solidFill>
                <a:latin typeface="맑은 고딕"/>
                <a:ea typeface="맑은 고딕"/>
              </a:rPr>
              <a:t> </a:t>
            </a:r>
            <a:r>
              <a:rPr lang="en-US" altLang="ko-KR" sz="2200" b="1" dirty="0">
                <a:solidFill>
                  <a:srgbClr val="2F5597"/>
                </a:solidFill>
                <a:latin typeface="맑은 고딕"/>
                <a:ea typeface="맑은 고딕"/>
              </a:rPr>
              <a:t>–</a:t>
            </a:r>
            <a:r>
              <a:rPr sz="2200" b="1" dirty="0">
                <a:solidFill>
                  <a:srgbClr val="2F5597"/>
                </a:solidFill>
                <a:latin typeface="맑은 고딕"/>
                <a:ea typeface="맑은 고딕"/>
              </a:rPr>
              <a:t> </a:t>
            </a:r>
            <a:r>
              <a:rPr lang="ko-KR" altLang="en-US" sz="2200" b="1" dirty="0">
                <a:solidFill>
                  <a:srgbClr val="2F5597"/>
                </a:solidFill>
                <a:latin typeface="맑은 고딕"/>
                <a:ea typeface="맑은 고딕"/>
              </a:rPr>
              <a:t>공통 시나리오</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ubtitle"/>
          <p:cNvSpPr txBox="1"/>
          <p:nvPr/>
        </p:nvSpPr>
        <p:spPr>
          <a:xfrm>
            <a:off x="365760" y="676656"/>
            <a:ext cx="6405562" cy="243143"/>
          </a:xfrm>
          <a:prstGeom prst="rect">
            <a:avLst/>
          </a:prstGeom>
          <a:noFill/>
        </p:spPr>
        <p:txBody>
          <a:bodyPr wrap="square" lIns="73152" tIns="36576" rIns="73152" bIns="36576" anchor="t">
            <a:spAutoFit/>
          </a:bodyPr>
          <a:lstStyle/>
          <a:p>
            <a:pPr>
              <a:spcAft>
                <a:spcPts val="250"/>
              </a:spcAft>
            </a:pPr>
            <a:r>
              <a:rPr sz="1100" b="0" dirty="0" err="1">
                <a:solidFill>
                  <a:srgbClr val="404040"/>
                </a:solidFill>
                <a:latin typeface="맑은 고딕"/>
                <a:ea typeface="맑은 고딕"/>
              </a:rPr>
              <a:t>KV가</a:t>
            </a:r>
            <a:r>
              <a:rPr sz="1100" b="0" dirty="0">
                <a:solidFill>
                  <a:srgbClr val="404040"/>
                </a:solidFill>
                <a:latin typeface="맑은 고딕"/>
                <a:ea typeface="맑은 고딕"/>
              </a:rPr>
              <a:t> HBM·DRAM </a:t>
            </a:r>
            <a:r>
              <a:rPr sz="1100" b="0" dirty="0" err="1">
                <a:solidFill>
                  <a:srgbClr val="404040"/>
                </a:solidFill>
                <a:latin typeface="맑은 고딕"/>
                <a:ea typeface="맑은 고딕"/>
              </a:rPr>
              <a:t>용량을</a:t>
            </a:r>
            <a:r>
              <a:rPr sz="1100" b="0" dirty="0">
                <a:solidFill>
                  <a:srgbClr val="404040"/>
                </a:solidFill>
                <a:latin typeface="맑은 고딕"/>
                <a:ea typeface="맑은 고딕"/>
              </a:rPr>
              <a:t> </a:t>
            </a:r>
            <a:r>
              <a:rPr sz="1100" b="0" dirty="0" err="1">
                <a:solidFill>
                  <a:srgbClr val="404040"/>
                </a:solidFill>
                <a:latin typeface="맑은 고딕"/>
                <a:ea typeface="맑은 고딕"/>
              </a:rPr>
              <a:t>넘고</a:t>
            </a:r>
            <a:r>
              <a:rPr sz="1100" b="0" dirty="0">
                <a:solidFill>
                  <a:srgbClr val="404040"/>
                </a:solidFill>
                <a:latin typeface="맑은 고딕"/>
                <a:ea typeface="맑은 고딕"/>
              </a:rPr>
              <a:t> </a:t>
            </a:r>
            <a:r>
              <a:rPr sz="1100" b="0" dirty="0" err="1">
                <a:solidFill>
                  <a:srgbClr val="404040"/>
                </a:solidFill>
                <a:latin typeface="맑은 고딕"/>
                <a:ea typeface="맑은 고딕"/>
              </a:rPr>
              <a:t>재사용할</a:t>
            </a:r>
            <a:r>
              <a:rPr sz="1100" b="0" dirty="0">
                <a:solidFill>
                  <a:srgbClr val="404040"/>
                </a:solidFill>
                <a:latin typeface="맑은 고딕"/>
                <a:ea typeface="맑은 고딕"/>
              </a:rPr>
              <a:t> </a:t>
            </a:r>
            <a:r>
              <a:rPr sz="1100" b="0" dirty="0" err="1">
                <a:solidFill>
                  <a:srgbClr val="404040"/>
                </a:solidFill>
                <a:latin typeface="맑은 고딕"/>
                <a:ea typeface="맑은 고딕"/>
              </a:rPr>
              <a:t>history가</a:t>
            </a:r>
            <a:r>
              <a:rPr sz="1100" b="0" dirty="0">
                <a:solidFill>
                  <a:srgbClr val="404040"/>
                </a:solidFill>
                <a:latin typeface="맑은 고딕"/>
                <a:ea typeface="맑은 고딕"/>
              </a:rPr>
              <a:t> </a:t>
            </a:r>
            <a:r>
              <a:rPr sz="1100" b="0" dirty="0" err="1">
                <a:solidFill>
                  <a:srgbClr val="404040"/>
                </a:solidFill>
                <a:latin typeface="맑은 고딕"/>
                <a:ea typeface="맑은 고딕"/>
              </a:rPr>
              <a:t>있는</a:t>
            </a:r>
            <a:r>
              <a:rPr sz="1100" b="0" dirty="0">
                <a:solidFill>
                  <a:srgbClr val="404040"/>
                </a:solidFill>
                <a:latin typeface="맑은 고딕"/>
                <a:ea typeface="맑은 고딕"/>
              </a:rPr>
              <a:t> </a:t>
            </a:r>
            <a:r>
              <a:rPr sz="1100" b="0" dirty="0" err="1">
                <a:solidFill>
                  <a:srgbClr val="404040"/>
                </a:solidFill>
                <a:latin typeface="맑은 고딕"/>
                <a:ea typeface="맑은 고딕"/>
              </a:rPr>
              <a:t>구간을</a:t>
            </a:r>
            <a:r>
              <a:rPr sz="1100" b="0" dirty="0">
                <a:solidFill>
                  <a:srgbClr val="404040"/>
                </a:solidFill>
                <a:latin typeface="맑은 고딕"/>
                <a:ea typeface="맑은 고딕"/>
              </a:rPr>
              <a:t> </a:t>
            </a:r>
            <a:r>
              <a:rPr sz="1100" b="0" dirty="0" err="1">
                <a:solidFill>
                  <a:srgbClr val="404040"/>
                </a:solidFill>
                <a:latin typeface="맑은 고딕"/>
                <a:ea typeface="맑은 고딕"/>
              </a:rPr>
              <a:t>겨냥한</a:t>
            </a:r>
            <a:r>
              <a:rPr sz="1100" b="0" dirty="0">
                <a:solidFill>
                  <a:srgbClr val="404040"/>
                </a:solidFill>
                <a:latin typeface="맑은 고딕"/>
                <a:ea typeface="맑은 고딕"/>
              </a:rPr>
              <a:t> </a:t>
            </a:r>
            <a:r>
              <a:rPr sz="1100" b="0" dirty="0" err="1">
                <a:solidFill>
                  <a:srgbClr val="404040"/>
                </a:solidFill>
                <a:latin typeface="맑은 고딕"/>
                <a:ea typeface="맑은 고딕"/>
              </a:rPr>
              <a:t>통합</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a:t>
            </a:r>
            <a:endParaRPr lang="en-US" altLang="ko-KR" sz="1100" b="0" dirty="0">
              <a:latin typeface="맑은 고딕"/>
              <a:ea typeface="맑은 고딕"/>
            </a:endParaRPr>
          </a:p>
        </p:txBody>
      </p:sp>
      <p:graphicFrame>
        <p:nvGraphicFramePr>
          <p:cNvPr id="7" name="tbl"/>
          <p:cNvGraphicFramePr>
            <a:graphicFrameLocks noGrp="1"/>
          </p:cNvGraphicFramePr>
          <p:nvPr>
            <p:extLst>
              <p:ext uri="{D42A27DB-BD31-4B8C-83A1-F6EECF244321}">
                <p14:modId xmlns:p14="http://schemas.microsoft.com/office/powerpoint/2010/main" val="2832244973"/>
              </p:ext>
            </p:extLst>
          </p:nvPr>
        </p:nvGraphicFramePr>
        <p:xfrm>
          <a:off x="365760" y="1097280"/>
          <a:ext cx="11457432" cy="4746879"/>
        </p:xfrm>
        <a:graphic>
          <a:graphicData uri="http://schemas.openxmlformats.org/drawingml/2006/table">
            <a:tbl>
              <a:tblPr>
                <a:tableStyleId>{2D5ABB26-0587-4C30-8999-92F81FD0307C}</a:tableStyleId>
              </a:tblPr>
              <a:tblGrid>
                <a:gridCol w="1463040">
                  <a:extLst>
                    <a:ext uri="{9D8B030D-6E8A-4147-A177-3AD203B41FA5}">
                      <a16:colId xmlns:a16="http://schemas.microsoft.com/office/drawing/2014/main" val="20000"/>
                    </a:ext>
                  </a:extLst>
                </a:gridCol>
                <a:gridCol w="6156251">
                  <a:extLst>
                    <a:ext uri="{9D8B030D-6E8A-4147-A177-3AD203B41FA5}">
                      <a16:colId xmlns:a16="http://schemas.microsoft.com/office/drawing/2014/main" val="20001"/>
                    </a:ext>
                  </a:extLst>
                </a:gridCol>
                <a:gridCol w="3838141">
                  <a:extLst>
                    <a:ext uri="{9D8B030D-6E8A-4147-A177-3AD203B41FA5}">
                      <a16:colId xmlns:a16="http://schemas.microsoft.com/office/drawing/2014/main" val="20002"/>
                    </a:ext>
                  </a:extLst>
                </a:gridCol>
              </a:tblGrid>
              <a:tr h="237744">
                <a:tc>
                  <a:txBody>
                    <a:bodyPr/>
                    <a:lstStyle/>
                    <a:p>
                      <a:pPr algn="ctr"/>
                      <a:r>
                        <a:rPr sz="1000" b="1" dirty="0" err="1">
                          <a:solidFill>
                            <a:srgbClr val="FFFFFF"/>
                          </a:solidFill>
                          <a:latin typeface="맑은 고딕"/>
                          <a:ea typeface="맑은 고딕"/>
                        </a:rPr>
                        <a:t>항목</a:t>
                      </a:r>
                      <a:endParaRPr sz="10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dirty="0">
                          <a:solidFill>
                            <a:srgbClr val="FFFFFF"/>
                          </a:solidFill>
                          <a:latin typeface="맑은 고딕"/>
                          <a:ea typeface="맑은 고딕"/>
                        </a:rPr>
                        <a:t>값</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00" b="1">
                          <a:solidFill>
                            <a:srgbClr val="FFFFFF"/>
                          </a:solidFill>
                          <a:latin typeface="맑은 고딕"/>
                          <a:ea typeface="맑은 고딕"/>
                        </a:rPr>
                        <a:t>근거 / 계산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502920">
                <a:tc>
                  <a:txBody>
                    <a:bodyPr/>
                    <a:lstStyle/>
                    <a:p>
                      <a:pPr algn="l">
                        <a:lnSpc>
                          <a:spcPct val="125000"/>
                        </a:lnSpc>
                      </a:pPr>
                      <a:r>
                        <a:rPr lang="en-US" sz="1050" b="0" dirty="0">
                          <a:solidFill>
                            <a:srgbClr val="000000"/>
                          </a:solidFill>
                          <a:latin typeface="맑은 고딕"/>
                          <a:ea typeface="맑은 고딕"/>
                        </a:rPr>
                        <a:t>LLM </a:t>
                      </a:r>
                      <a:r>
                        <a:rPr lang="ko-KR" altLang="en-US" sz="1050" b="0" dirty="0">
                          <a:solidFill>
                            <a:srgbClr val="000000"/>
                          </a:solidFill>
                          <a:latin typeface="맑은 고딕"/>
                          <a:ea typeface="맑은 고딕"/>
                        </a:rPr>
                        <a:t>모델</a:t>
                      </a:r>
                      <a:endParaRPr sz="1050" b="0" dirty="0">
                        <a:solidFill>
                          <a:srgbClr val="000000"/>
                        </a:solidFill>
                        <a:latin typeface="맑은 고딕"/>
                        <a:ea typeface="맑은 고딕"/>
                      </a:endParaRPr>
                    </a:p>
                  </a:txBody>
                  <a:tcPr marL="54864" marR="54864" marT="22860" marB="22860" anchor="ctr">
                    <a:lnL w="6350">
                      <a:solidFill>
                        <a:srgbClr val="BFBFBF"/>
                      </a:solidFill>
                    </a:lnL>
                    <a:lnR w="6350" cap="flat" cmpd="sng" algn="ctr">
                      <a:solidFill>
                        <a:srgbClr val="BFBFBF"/>
                      </a:solidFill>
                      <a:prstDash val="solid"/>
                      <a:round/>
                      <a:headEnd type="none" w="med" len="med"/>
                      <a:tailEnd type="none" w="med" len="med"/>
                    </a:lnR>
                    <a:lnT w="6350">
                      <a:solidFill>
                        <a:srgbClr val="BFBFBF"/>
                      </a:solidFill>
                    </a:lnT>
                    <a:lnB w="6350" cap="flat" cmpd="sng" algn="ctr">
                      <a:solidFill>
                        <a:srgbClr val="BFBFBF"/>
                      </a:solidFill>
                      <a:prstDash val="solid"/>
                      <a:round/>
                      <a:headEnd type="none" w="med" len="med"/>
                      <a:tailEnd type="none" w="med" len="med"/>
                    </a:lnB>
                  </a:tcPr>
                </a:tc>
                <a:tc>
                  <a:txBody>
                    <a:bodyPr/>
                    <a:lstStyle/>
                    <a:p>
                      <a:pPr algn="l">
                        <a:lnSpc>
                          <a:spcPct val="125000"/>
                        </a:lnSpc>
                      </a:pPr>
                      <a:r>
                        <a:rPr lang="en-US" sz="1050" b="0" dirty="0">
                          <a:solidFill>
                            <a:srgbClr val="000000"/>
                          </a:solidFill>
                          <a:latin typeface="맑은 고딕"/>
                          <a:ea typeface="맑은 고딕"/>
                        </a:rPr>
                        <a:t>Llama-3.1-70B </a:t>
                      </a:r>
                      <a:r>
                        <a:rPr lang="ko-KR" altLang="en-US" sz="1050" b="0" dirty="0">
                          <a:solidFill>
                            <a:srgbClr val="000000"/>
                          </a:solidFill>
                          <a:latin typeface="맑은 고딕"/>
                          <a:ea typeface="맑은 고딕"/>
                        </a:rPr>
                        <a:t>모델 </a:t>
                      </a:r>
                      <a:endParaRPr lang="en-US" sz="1050" b="0" dirty="0">
                        <a:solidFill>
                          <a:srgbClr val="000000"/>
                        </a:solidFill>
                        <a:latin typeface="맑은 고딕"/>
                        <a:ea typeface="맑은 고딕"/>
                      </a:endParaRPr>
                    </a:p>
                    <a:p>
                      <a:pPr marL="171450" indent="-171450" algn="l">
                        <a:lnSpc>
                          <a:spcPct val="125000"/>
                        </a:lnSpc>
                        <a:buFontTx/>
                        <a:buChar char="-"/>
                      </a:pPr>
                      <a:r>
                        <a:rPr lang="en-US" sz="1050" b="0" dirty="0">
                          <a:solidFill>
                            <a:srgbClr val="000000"/>
                          </a:solidFill>
                          <a:latin typeface="맑은 고딕"/>
                          <a:ea typeface="맑은 고딕"/>
                        </a:rPr>
                        <a:t>Weight: </a:t>
                      </a:r>
                      <a:r>
                        <a:rPr lang="ko-KR" altLang="en-US" sz="1050" dirty="0"/>
                        <a:t>약 </a:t>
                      </a:r>
                      <a:r>
                        <a:rPr lang="en-US" altLang="ko-KR" sz="1050" dirty="0"/>
                        <a:t>131 GiB (141 GB) / Activation, CUDA graph, </a:t>
                      </a:r>
                      <a:r>
                        <a:rPr lang="ko-KR" altLang="en-US" sz="1050" dirty="0"/>
                        <a:t>통신 버퍼 </a:t>
                      </a:r>
                      <a:r>
                        <a:rPr lang="ko-KR" altLang="en-US" sz="1050" dirty="0" err="1"/>
                        <a:t>예약분</a:t>
                      </a:r>
                      <a:r>
                        <a:rPr lang="en-US" altLang="ko-KR" sz="1050" dirty="0"/>
                        <a:t>: </a:t>
                      </a:r>
                      <a:r>
                        <a:rPr lang="ko-KR" altLang="en-US" sz="1050" dirty="0"/>
                        <a:t>약 </a:t>
                      </a:r>
                      <a:r>
                        <a:rPr lang="en-US" altLang="ko-KR" sz="1050" dirty="0"/>
                        <a:t>20 GiB (</a:t>
                      </a:r>
                      <a:r>
                        <a:rPr lang="ko-KR" altLang="en-US" sz="1050" dirty="0"/>
                        <a:t>노드 합계</a:t>
                      </a:r>
                      <a:r>
                        <a:rPr lang="en-US" altLang="ko-KR" sz="1050" dirty="0"/>
                        <a:t>)</a:t>
                      </a:r>
                    </a:p>
                    <a:p>
                      <a:pPr marL="171450" indent="-171450" algn="l">
                        <a:lnSpc>
                          <a:spcPct val="125000"/>
                        </a:lnSpc>
                        <a:buFontTx/>
                        <a:buChar char="-"/>
                      </a:pPr>
                      <a:r>
                        <a:rPr lang="ko-KR" altLang="en-US" sz="1050" b="0" dirty="0">
                          <a:solidFill>
                            <a:srgbClr val="000000"/>
                          </a:solidFill>
                          <a:latin typeface="맑은 고딕"/>
                          <a:ea typeface="맑은 고딕"/>
                        </a:rPr>
                        <a:t>토큰당 </a:t>
                      </a:r>
                      <a:r>
                        <a:rPr lang="en-US" sz="1050" b="0" dirty="0">
                          <a:solidFill>
                            <a:srgbClr val="000000"/>
                          </a:solidFill>
                          <a:latin typeface="맑은 고딕"/>
                          <a:ea typeface="맑은 고딕"/>
                        </a:rPr>
                        <a:t>KV </a:t>
                      </a:r>
                      <a:r>
                        <a:rPr lang="ko-KR" altLang="en-US" sz="1050" b="0" dirty="0">
                          <a:solidFill>
                            <a:srgbClr val="000000"/>
                          </a:solidFill>
                          <a:latin typeface="맑은 고딕"/>
                          <a:ea typeface="맑은 고딕"/>
                        </a:rPr>
                        <a:t>크기</a:t>
                      </a:r>
                      <a:r>
                        <a:rPr lang="en-US" altLang="ko-KR" sz="1050" b="0" dirty="0">
                          <a:solidFill>
                            <a:srgbClr val="000000"/>
                          </a:solidFill>
                          <a:latin typeface="맑은 고딕"/>
                          <a:ea typeface="맑은 고딕"/>
                        </a:rPr>
                        <a:t>: 320KB</a:t>
                      </a:r>
                    </a:p>
                    <a:p>
                      <a:pPr marL="171450" indent="-171450" algn="l">
                        <a:lnSpc>
                          <a:spcPct val="125000"/>
                        </a:lnSpc>
                        <a:buFontTx/>
                        <a:buChar char="-"/>
                      </a:pPr>
                      <a:r>
                        <a:rPr lang="en-US" sz="1050" b="0" dirty="0">
                          <a:solidFill>
                            <a:srgbClr val="000000"/>
                          </a:solidFill>
                          <a:latin typeface="맑은 고딕"/>
                          <a:ea typeface="맑은 고딕"/>
                        </a:rPr>
                        <a:t>HBM</a:t>
                      </a:r>
                      <a:r>
                        <a:rPr lang="ko-KR" altLang="en-US" sz="1050" b="0" dirty="0">
                          <a:solidFill>
                            <a:srgbClr val="000000"/>
                          </a:solidFill>
                          <a:latin typeface="맑은 고딕"/>
                          <a:ea typeface="맑은 고딕"/>
                        </a:rPr>
                        <a:t>의 </a:t>
                      </a:r>
                      <a:r>
                        <a:rPr lang="en-US" altLang="ko-KR" sz="1050" b="0" dirty="0">
                          <a:solidFill>
                            <a:srgbClr val="000000"/>
                          </a:solidFill>
                          <a:latin typeface="맑은 고딕"/>
                          <a:ea typeface="맑은 고딕"/>
                        </a:rPr>
                        <a:t>KV </a:t>
                      </a:r>
                      <a:r>
                        <a:rPr lang="ko-KR" altLang="en-US" sz="1050" b="0" dirty="0">
                          <a:solidFill>
                            <a:srgbClr val="000000"/>
                          </a:solidFill>
                          <a:latin typeface="맑은 고딕"/>
                          <a:ea typeface="맑은 고딕"/>
                        </a:rPr>
                        <a:t>캐시 풀</a:t>
                      </a:r>
                      <a:r>
                        <a:rPr lang="en-US" altLang="ko-KR" sz="1050" b="0" dirty="0">
                          <a:solidFill>
                            <a:srgbClr val="000000"/>
                          </a:solidFill>
                          <a:latin typeface="맑은 고딕"/>
                          <a:ea typeface="맑은 고딕"/>
                        </a:rPr>
                        <a:t>: </a:t>
                      </a:r>
                      <a:r>
                        <a:rPr lang="ko-KR" altLang="en-US" sz="1050" dirty="0"/>
                        <a:t>약 </a:t>
                      </a:r>
                      <a:r>
                        <a:rPr lang="en-US" altLang="ko-KR" sz="1050" dirty="0"/>
                        <a:t>425 GiB (≈ 139</a:t>
                      </a:r>
                      <a:r>
                        <a:rPr lang="ko-KR" altLang="en-US" sz="1050" dirty="0"/>
                        <a:t>만 </a:t>
                      </a:r>
                      <a:r>
                        <a:rPr lang="en-US" altLang="ko-KR" sz="1050" dirty="0"/>
                        <a:t>token ≈ 16K </a:t>
                      </a:r>
                      <a:r>
                        <a:rPr lang="ko-KR" altLang="en-US" sz="1050" dirty="0"/>
                        <a:t>세션 </a:t>
                      </a:r>
                      <a:r>
                        <a:rPr lang="en-US" altLang="ko-KR" sz="1050" dirty="0"/>
                        <a:t>85</a:t>
                      </a:r>
                      <a:r>
                        <a:rPr lang="ko-KR" altLang="en-US" sz="1050" dirty="0"/>
                        <a:t>개</a:t>
                      </a:r>
                      <a:r>
                        <a:rPr lang="en-US" altLang="ko-KR" sz="1050" dirty="0"/>
                        <a:t>)</a:t>
                      </a:r>
                      <a:endParaRPr sz="10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a:solidFill>
                        <a:srgbClr val="BFBFBF"/>
                      </a:solidFill>
                    </a:lnT>
                    <a:lnB w="6350" cap="flat" cmpd="sng" algn="ctr">
                      <a:solidFill>
                        <a:srgbClr val="BFBFBF"/>
                      </a:solidFill>
                      <a:prstDash val="solid"/>
                      <a:round/>
                      <a:headEnd type="none" w="med" len="med"/>
                      <a:tailEnd type="none" w="med" len="med"/>
                    </a:lnB>
                  </a:tcPr>
                </a:tc>
                <a:tc>
                  <a:txBody>
                    <a:bodyPr/>
                    <a:lstStyle/>
                    <a:p>
                      <a:pPr marL="171450" indent="-171450" algn="l">
                        <a:lnSpc>
                          <a:spcPct val="125000"/>
                        </a:lnSpc>
                        <a:buFontTx/>
                        <a:buChar char="-"/>
                      </a:pPr>
                      <a:r>
                        <a:rPr lang="ko-KR" altLang="en-US" sz="1050" dirty="0"/>
                        <a:t>토큰당 </a:t>
                      </a:r>
                      <a:r>
                        <a:rPr lang="en-US" altLang="ko-KR" sz="1050" dirty="0"/>
                        <a:t>KV </a:t>
                      </a:r>
                      <a:r>
                        <a:rPr lang="ko-KR" altLang="en-US" sz="1050" dirty="0"/>
                        <a:t>크기</a:t>
                      </a:r>
                      <a:r>
                        <a:rPr lang="en-US" altLang="ko-KR" sz="1050" dirty="0"/>
                        <a:t>: 80 layer × 8 KV head(GQA) × 128 dim × 2(K, V) × 2 B(BF16). 16K </a:t>
                      </a:r>
                      <a:r>
                        <a:rPr lang="ko-KR" altLang="en-US" sz="1050" dirty="0"/>
                        <a:t>세션 </a:t>
                      </a:r>
                      <a:r>
                        <a:rPr lang="en-US" altLang="ko-KR" sz="1050" dirty="0"/>
                        <a:t>1</a:t>
                      </a:r>
                      <a:r>
                        <a:rPr lang="ko-KR" altLang="en-US" sz="1050" dirty="0"/>
                        <a:t>개 </a:t>
                      </a:r>
                      <a:r>
                        <a:rPr lang="en-US" altLang="ko-KR" sz="1050" dirty="0"/>
                        <a:t>= 5.0 GiB</a:t>
                      </a:r>
                    </a:p>
                    <a:p>
                      <a:pPr marL="171450" indent="-171450" algn="l">
                        <a:lnSpc>
                          <a:spcPct val="125000"/>
                        </a:lnSpc>
                        <a:buFontTx/>
                        <a:buChar char="-"/>
                      </a:pPr>
                      <a:r>
                        <a:rPr lang="en-US" altLang="ko-KR" sz="1050" b="0" dirty="0">
                          <a:solidFill>
                            <a:srgbClr val="000000"/>
                          </a:solidFill>
                          <a:latin typeface="+mn-lt"/>
                          <a:ea typeface="맑은 고딕"/>
                        </a:rPr>
                        <a:t>HBM</a:t>
                      </a:r>
                      <a:r>
                        <a:rPr lang="ko-KR" altLang="en-US" sz="1050" b="0" dirty="0">
                          <a:solidFill>
                            <a:srgbClr val="000000"/>
                          </a:solidFill>
                          <a:latin typeface="+mn-lt"/>
                          <a:ea typeface="맑은 고딕"/>
                        </a:rPr>
                        <a:t>의 </a:t>
                      </a:r>
                      <a:r>
                        <a:rPr lang="en-US" altLang="ko-KR" sz="1050" b="0" dirty="0">
                          <a:solidFill>
                            <a:srgbClr val="000000"/>
                          </a:solidFill>
                          <a:latin typeface="+mn-lt"/>
                          <a:ea typeface="맑은 고딕"/>
                        </a:rPr>
                        <a:t>KV </a:t>
                      </a:r>
                      <a:r>
                        <a:rPr lang="ko-KR" altLang="en-US" sz="1050" b="0" dirty="0">
                          <a:solidFill>
                            <a:srgbClr val="000000"/>
                          </a:solidFill>
                          <a:latin typeface="+mn-lt"/>
                          <a:ea typeface="맑은 고딕"/>
                        </a:rPr>
                        <a:t>캐시 풀</a:t>
                      </a:r>
                      <a:r>
                        <a:rPr lang="en-US" altLang="ko-KR" sz="1050" b="0" dirty="0">
                          <a:solidFill>
                            <a:srgbClr val="000000"/>
                          </a:solidFill>
                          <a:latin typeface="+mn-lt"/>
                          <a:ea typeface="맑은 고딕"/>
                        </a:rPr>
                        <a:t>: </a:t>
                      </a:r>
                      <a:r>
                        <a:rPr lang="en-US" altLang="ko-KR" sz="1050" dirty="0"/>
                        <a:t>640 GiB × 0.9(</a:t>
                      </a:r>
                      <a:r>
                        <a:rPr lang="en-US" altLang="ko-KR" sz="1050" dirty="0" err="1"/>
                        <a:t>gpu_memory_utilization</a:t>
                      </a:r>
                      <a:r>
                        <a:rPr lang="en-US" altLang="ko-KR" sz="1050" dirty="0"/>
                        <a:t>) = 576 GiB – (weight 131 GiB</a:t>
                      </a:r>
                      <a:r>
                        <a:rPr lang="ko-KR" altLang="en-US" sz="1050" dirty="0"/>
                        <a:t> </a:t>
                      </a:r>
                      <a:r>
                        <a:rPr lang="en-US" altLang="ko-KR" sz="1050" dirty="0"/>
                        <a:t>+ activation 20 GiB)</a:t>
                      </a:r>
                      <a:endParaRPr sz="1050" b="0" dirty="0">
                        <a:solidFill>
                          <a:srgbClr val="000000"/>
                        </a:solidFill>
                        <a:latin typeface="맑은 고딕"/>
                        <a:ea typeface="맑은 고딕"/>
                      </a:endParaRPr>
                    </a:p>
                  </a:txBody>
                  <a:tcPr marL="54864" marR="54864" marT="22860" marB="22860" anchor="ctr">
                    <a:lnL w="6350" cap="flat" cmpd="sng" algn="ctr">
                      <a:solidFill>
                        <a:srgbClr val="BFBFBF"/>
                      </a:solidFill>
                      <a:prstDash val="solid"/>
                      <a:round/>
                      <a:headEnd type="none" w="med" len="med"/>
                      <a:tailEnd type="none" w="med" len="med"/>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434284712"/>
                  </a:ext>
                </a:extLst>
              </a:tr>
              <a:tr h="502920">
                <a:tc>
                  <a:txBody>
                    <a:bodyPr/>
                    <a:lstStyle/>
                    <a:p>
                      <a:pPr algn="l">
                        <a:lnSpc>
                          <a:spcPct val="125000"/>
                        </a:lnSpc>
                      </a:pPr>
                      <a:r>
                        <a:rPr lang="ko-KR" altLang="en-US" sz="1050" b="0" dirty="0">
                          <a:solidFill>
                            <a:srgbClr val="000000"/>
                          </a:solidFill>
                          <a:latin typeface="맑은 고딕"/>
                          <a:ea typeface="맑은 고딕"/>
                        </a:rPr>
                        <a:t>시스템 구성</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lgn="l">
                        <a:lnSpc>
                          <a:spcPct val="125000"/>
                        </a:lnSpc>
                        <a:buFontTx/>
                        <a:buChar char="-"/>
                      </a:pPr>
                      <a:r>
                        <a:rPr sz="1050" b="0" dirty="0">
                          <a:solidFill>
                            <a:srgbClr val="000000"/>
                          </a:solidFill>
                          <a:latin typeface="맑은 고딕"/>
                          <a:ea typeface="맑은 고딕"/>
                        </a:rPr>
                        <a:t>8-GPU </a:t>
                      </a:r>
                      <a:r>
                        <a:rPr sz="1050" b="0" dirty="0" err="1">
                          <a:solidFill>
                            <a:srgbClr val="000000"/>
                          </a:solidFill>
                          <a:latin typeface="맑은 고딕"/>
                          <a:ea typeface="맑은 고딕"/>
                        </a:rPr>
                        <a:t>노드</a:t>
                      </a:r>
                      <a:r>
                        <a:rPr sz="1050" b="0" dirty="0">
                          <a:solidFill>
                            <a:srgbClr val="000000"/>
                          </a:solidFill>
                          <a:latin typeface="맑은 고딕"/>
                          <a:ea typeface="맑은 고딕"/>
                        </a:rPr>
                        <a:t>(SYS-H100): HBM 640 GiB, DRAM 1 TiB(</a:t>
                      </a:r>
                      <a:r>
                        <a:rPr sz="1050" b="0" dirty="0" err="1">
                          <a:solidFill>
                            <a:srgbClr val="000000"/>
                          </a:solidFill>
                          <a:latin typeface="맑은 고딕"/>
                          <a:ea typeface="맑은 고딕"/>
                        </a:rPr>
                        <a:t>호스트</a:t>
                      </a:r>
                      <a:r>
                        <a:rPr sz="1050" b="0" dirty="0">
                          <a:solidFill>
                            <a:srgbClr val="000000"/>
                          </a:solidFill>
                          <a:latin typeface="맑은 고딕"/>
                          <a:ea typeface="맑은 고딕"/>
                        </a:rPr>
                        <a:t> </a:t>
                      </a:r>
                      <a:r>
                        <a:rPr sz="1050" b="0" dirty="0" err="1">
                          <a:solidFill>
                            <a:srgbClr val="000000"/>
                          </a:solidFill>
                          <a:latin typeface="맑은 고딕"/>
                          <a:ea typeface="맑은 고딕"/>
                        </a:rPr>
                        <a:t>링크</a:t>
                      </a:r>
                      <a:r>
                        <a:rPr sz="1050" b="0" dirty="0">
                          <a:solidFill>
                            <a:srgbClr val="000000"/>
                          </a:solidFill>
                          <a:latin typeface="맑은 고딕"/>
                          <a:ea typeface="맑은 고딕"/>
                        </a:rPr>
                        <a:t> 64 GB/s), </a:t>
                      </a:r>
                      <a:r>
                        <a:rPr sz="1050" b="0" dirty="0" err="1">
                          <a:solidFill>
                            <a:srgbClr val="000000"/>
                          </a:solidFill>
                          <a:latin typeface="맑은 고딕"/>
                          <a:ea typeface="맑은 고딕"/>
                        </a:rPr>
                        <a:t>NVMe</a:t>
                      </a:r>
                      <a:r>
                        <a:rPr sz="1050" b="0" dirty="0">
                          <a:solidFill>
                            <a:srgbClr val="000000"/>
                          </a:solidFill>
                          <a:latin typeface="맑은 고딕"/>
                          <a:ea typeface="맑은 고딕"/>
                        </a:rPr>
                        <a:t> 16 GB/s</a:t>
                      </a:r>
                      <a:endParaRPr lang="en-US" sz="1050" b="0" dirty="0">
                        <a:solidFill>
                          <a:srgbClr val="000000"/>
                        </a:solidFill>
                        <a:latin typeface="맑은 고딕"/>
                        <a:ea typeface="맑은 고딕"/>
                      </a:endParaRPr>
                    </a:p>
                    <a:p>
                      <a:pPr marL="171450" indent="-171450" algn="l">
                        <a:lnSpc>
                          <a:spcPct val="125000"/>
                        </a:lnSpc>
                        <a:buFontTx/>
                        <a:buChar char="-"/>
                      </a:pPr>
                      <a:r>
                        <a:rPr sz="1050" b="0" dirty="0">
                          <a:solidFill>
                            <a:srgbClr val="000000"/>
                          </a:solidFill>
                          <a:latin typeface="맑은 고딕"/>
                          <a:ea typeface="맑은 고딕"/>
                        </a:rPr>
                        <a:t>DP2</a:t>
                      </a:r>
                      <a:r>
                        <a:rPr lang="ko-KR" altLang="en-US" sz="1050" b="0" dirty="0">
                          <a:solidFill>
                            <a:srgbClr val="000000"/>
                          </a:solidFill>
                          <a:latin typeface="맑은 고딕"/>
                          <a:ea typeface="맑은 고딕"/>
                        </a:rPr>
                        <a:t>는 </a:t>
                      </a:r>
                      <a:r>
                        <a:rPr lang="en-US" altLang="ko-KR" sz="1050" b="0" dirty="0">
                          <a:solidFill>
                            <a:srgbClr val="000000"/>
                          </a:solidFill>
                          <a:latin typeface="맑은 고딕"/>
                          <a:ea typeface="맑은 고딕"/>
                        </a:rPr>
                        <a:t>4</a:t>
                      </a:r>
                      <a:r>
                        <a:rPr lang="ko-KR" altLang="en-US" sz="1050" b="0" dirty="0">
                          <a:solidFill>
                            <a:srgbClr val="000000"/>
                          </a:solidFill>
                          <a:latin typeface="맑은 고딕"/>
                          <a:ea typeface="맑은 고딕"/>
                        </a:rPr>
                        <a:t>노드</a:t>
                      </a:r>
                      <a:r>
                        <a:rPr lang="en-US" altLang="ko-KR" sz="1050" b="0" dirty="0">
                          <a:solidFill>
                            <a:srgbClr val="000000"/>
                          </a:solidFill>
                          <a:latin typeface="맑은 고딕"/>
                          <a:ea typeface="맑은 고딕"/>
                        </a:rPr>
                        <a:t>, D</a:t>
                      </a:r>
                      <a:r>
                        <a:rPr sz="1050" b="0" dirty="0">
                          <a:solidFill>
                            <a:srgbClr val="000000"/>
                          </a:solidFill>
                          <a:latin typeface="맑은 고딕"/>
                          <a:ea typeface="맑은 고딕"/>
                        </a:rPr>
                        <a:t>P4는 16노드</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25000"/>
                        </a:lnSpc>
                      </a:pPr>
                      <a:r>
                        <a:rPr sz="1050" b="0" dirty="0" err="1">
                          <a:solidFill>
                            <a:srgbClr val="000000"/>
                          </a:solidFill>
                          <a:latin typeface="맑은 고딕"/>
                          <a:ea typeface="맑은 고딕"/>
                        </a:rPr>
                        <a:t>기존</a:t>
                      </a:r>
                      <a:r>
                        <a:rPr sz="1050" b="0" dirty="0">
                          <a:solidFill>
                            <a:srgbClr val="000000"/>
                          </a:solidFill>
                          <a:latin typeface="맑은 고딕"/>
                          <a:ea typeface="맑은 고딕"/>
                        </a:rPr>
                        <a:t> </a:t>
                      </a:r>
                      <a:r>
                        <a:rPr sz="1050" b="0" dirty="0" err="1">
                          <a:solidFill>
                            <a:srgbClr val="000000"/>
                          </a:solidFill>
                          <a:latin typeface="맑은 고딕"/>
                          <a:ea typeface="맑은 고딕"/>
                        </a:rPr>
                        <a:t>평가</a:t>
                      </a:r>
                      <a:r>
                        <a:rPr sz="1050" b="0" dirty="0">
                          <a:solidFill>
                            <a:srgbClr val="000000"/>
                          </a:solidFill>
                          <a:latin typeface="맑은 고딕"/>
                          <a:ea typeface="맑은 고딕"/>
                        </a:rPr>
                        <a:t> </a:t>
                      </a:r>
                      <a:r>
                        <a:rPr sz="1050" b="0" dirty="0" err="1">
                          <a:solidFill>
                            <a:srgbClr val="000000"/>
                          </a:solidFill>
                          <a:latin typeface="맑은 고딕"/>
                          <a:ea typeface="맑은 고딕"/>
                        </a:rPr>
                        <a:t>환경과</a:t>
                      </a:r>
                      <a:r>
                        <a:rPr sz="1050" b="0" dirty="0">
                          <a:solidFill>
                            <a:srgbClr val="000000"/>
                          </a:solidFill>
                          <a:latin typeface="맑은 고딕"/>
                          <a:ea typeface="맑은 고딕"/>
                        </a:rPr>
                        <a:t> </a:t>
                      </a:r>
                      <a:r>
                        <a:rPr sz="1050" b="0" dirty="0" err="1">
                          <a:solidFill>
                            <a:srgbClr val="000000"/>
                          </a:solidFill>
                          <a:latin typeface="맑은 고딕"/>
                          <a:ea typeface="맑은 고딕"/>
                        </a:rPr>
                        <a:t>동일</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502920">
                <a:tc>
                  <a:txBody>
                    <a:bodyPr/>
                    <a:lstStyle/>
                    <a:p>
                      <a:pPr algn="l">
                        <a:lnSpc>
                          <a:spcPct val="125000"/>
                        </a:lnSpc>
                      </a:pPr>
                      <a:r>
                        <a:rPr lang="ko-KR" altLang="en-US" sz="1050" b="0" dirty="0">
                          <a:solidFill>
                            <a:srgbClr val="000000"/>
                          </a:solidFill>
                          <a:latin typeface="맑은 고딕"/>
                          <a:ea typeface="맑은 고딕"/>
                        </a:rPr>
                        <a:t>워크로드</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25000"/>
                        </a:lnSpc>
                      </a:pPr>
                      <a:r>
                        <a:rPr lang="en-US" sz="1050" b="0" dirty="0">
                          <a:solidFill>
                            <a:srgbClr val="000000"/>
                          </a:solidFill>
                          <a:latin typeface="맑은 고딕"/>
                          <a:ea typeface="맑은 고딕"/>
                        </a:rPr>
                        <a:t>O</a:t>
                      </a:r>
                      <a:r>
                        <a:rPr sz="1050" b="0" dirty="0">
                          <a:solidFill>
                            <a:srgbClr val="000000"/>
                          </a:solidFill>
                          <a:latin typeface="맑은 고딕"/>
                          <a:ea typeface="맑은 고딕"/>
                        </a:rPr>
                        <a:t>pen-loop.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idle </a:t>
                      </a:r>
                      <a:r>
                        <a:rPr sz="1050" b="0" dirty="0" err="1">
                          <a:solidFill>
                            <a:srgbClr val="000000"/>
                          </a:solidFill>
                          <a:latin typeface="맑은 고딕"/>
                          <a:ea typeface="맑은 고딕"/>
                        </a:rPr>
                        <a:t>시간</a:t>
                      </a:r>
                      <a:r>
                        <a:rPr sz="1050" b="0" dirty="0">
                          <a:solidFill>
                            <a:srgbClr val="000000"/>
                          </a:solidFill>
                          <a:latin typeface="맑은 고딕"/>
                          <a:ea typeface="맑은 고딕"/>
                        </a:rPr>
                        <a:t> </a:t>
                      </a:r>
                      <a:r>
                        <a:rPr sz="1050" b="0" dirty="0" err="1">
                          <a:solidFill>
                            <a:srgbClr val="000000"/>
                          </a:solidFill>
                          <a:latin typeface="맑은 고딕"/>
                          <a:ea typeface="맑은 고딕"/>
                        </a:rPr>
                        <a:t>지수분포</a:t>
                      </a:r>
                      <a:r>
                        <a:rPr sz="1050" b="0" dirty="0">
                          <a:solidFill>
                            <a:srgbClr val="000000"/>
                          </a:solidFill>
                          <a:latin typeface="맑은 고딕"/>
                          <a:ea typeface="맑은 고딕"/>
                        </a:rPr>
                        <a:t> </a:t>
                      </a:r>
                      <a:r>
                        <a:rPr sz="1050" b="0" dirty="0" err="1">
                          <a:solidFill>
                            <a:srgbClr val="000000"/>
                          </a:solidFill>
                          <a:latin typeface="맑은 고딕"/>
                          <a:ea typeface="맑은 고딕"/>
                        </a:rPr>
                        <a:t>평균</a:t>
                      </a:r>
                      <a:r>
                        <a:rPr sz="1050" b="0" dirty="0">
                          <a:solidFill>
                            <a:srgbClr val="000000"/>
                          </a:solidFill>
                          <a:latin typeface="맑은 고딕"/>
                          <a:ea typeface="맑은 고딕"/>
                        </a:rPr>
                        <a:t> 60 s(</a:t>
                      </a:r>
                      <a:r>
                        <a:rPr sz="1050" b="0" dirty="0" err="1">
                          <a:solidFill>
                            <a:srgbClr val="000000"/>
                          </a:solidFill>
                          <a:latin typeface="맑은 고딕"/>
                          <a:ea typeface="맑은 고딕"/>
                        </a:rPr>
                        <a:t>tool·사용자</a:t>
                      </a:r>
                      <a:r>
                        <a:rPr sz="1050" b="0" dirty="0">
                          <a:solidFill>
                            <a:srgbClr val="000000"/>
                          </a:solidFill>
                          <a:latin typeface="맑은 고딕"/>
                          <a:ea typeface="맑은 고딕"/>
                        </a:rPr>
                        <a:t> </a:t>
                      </a:r>
                      <a:r>
                        <a:rPr sz="1050" b="0" dirty="0" err="1">
                          <a:solidFill>
                            <a:srgbClr val="000000"/>
                          </a:solidFill>
                          <a:latin typeface="맑은 고딕"/>
                          <a:ea typeface="맑은 고딕"/>
                        </a:rPr>
                        <a:t>대기</a:t>
                      </a:r>
                      <a:r>
                        <a:rPr sz="1050" b="0" dirty="0">
                          <a:solidFill>
                            <a:srgbClr val="000000"/>
                          </a:solidFill>
                          <a:latin typeface="맑은 고딕"/>
                          <a:ea typeface="맑은 고딕"/>
                        </a:rPr>
                        <a:t>, 0.2 </a:t>
                      </a:r>
                      <a:r>
                        <a:rPr sz="1050" b="0" dirty="0" err="1">
                          <a:solidFill>
                            <a:srgbClr val="000000"/>
                          </a:solidFill>
                          <a:latin typeface="맑은 고딕"/>
                          <a:ea typeface="맑은 고딕"/>
                        </a:rPr>
                        <a:t>s~수</a:t>
                      </a:r>
                      <a:r>
                        <a:rPr sz="1050" b="0" dirty="0">
                          <a:solidFill>
                            <a:srgbClr val="000000"/>
                          </a:solidFill>
                          <a:latin typeface="맑은 고딕"/>
                          <a:ea typeface="맑은 고딕"/>
                        </a:rPr>
                        <a:t> 분), </a:t>
                      </a:r>
                      <a:endParaRPr lang="en-US" sz="1050" b="0" dirty="0">
                        <a:solidFill>
                          <a:srgbClr val="000000"/>
                        </a:solidFill>
                        <a:latin typeface="맑은 고딕"/>
                        <a:ea typeface="맑은 고딕"/>
                      </a:endParaRPr>
                    </a:p>
                    <a:p>
                      <a:pPr algn="l">
                        <a:lnSpc>
                          <a:spcPct val="125000"/>
                        </a:lnSpc>
                      </a:pPr>
                      <a:r>
                        <a:rPr sz="1050" b="0" dirty="0" err="1">
                          <a:solidFill>
                            <a:srgbClr val="000000"/>
                          </a:solidFill>
                          <a:latin typeface="맑은 고딕"/>
                          <a:ea typeface="맑은 고딕"/>
                        </a:rPr>
                        <a:t>컨텍스트</a:t>
                      </a:r>
                      <a:r>
                        <a:rPr sz="1050" b="0" dirty="0">
                          <a:solidFill>
                            <a:srgbClr val="000000"/>
                          </a:solidFill>
                          <a:latin typeface="맑은 고딕"/>
                          <a:ea typeface="맑은 고딕"/>
                        </a:rPr>
                        <a:t> </a:t>
                      </a:r>
                      <a:r>
                        <a:rPr sz="1050" b="0" dirty="0" err="1">
                          <a:solidFill>
                            <a:srgbClr val="000000"/>
                          </a:solidFill>
                          <a:latin typeface="맑은 고딕"/>
                          <a:ea typeface="맑은 고딕"/>
                        </a:rPr>
                        <a:t>평균</a:t>
                      </a:r>
                      <a:r>
                        <a:rPr sz="1050" b="0" dirty="0">
                          <a:solidFill>
                            <a:srgbClr val="000000"/>
                          </a:solidFill>
                          <a:latin typeface="맑은 고딕"/>
                          <a:ea typeface="맑은 고딕"/>
                        </a:rPr>
                        <a:t> 16K, </a:t>
                      </a:r>
                      <a:r>
                        <a:rPr sz="1050" b="0" dirty="0" err="1">
                          <a:solidFill>
                            <a:srgbClr val="000000"/>
                          </a:solidFill>
                          <a:latin typeface="맑은 고딕"/>
                          <a:ea typeface="맑은 고딕"/>
                        </a:rPr>
                        <a:t>턴당</a:t>
                      </a:r>
                      <a:r>
                        <a:rPr sz="1050" b="0" dirty="0">
                          <a:solidFill>
                            <a:srgbClr val="000000"/>
                          </a:solidFill>
                          <a:latin typeface="맑은 고딕"/>
                          <a:ea typeface="맑은 고딕"/>
                        </a:rPr>
                        <a:t> +1K </a:t>
                      </a:r>
                      <a:r>
                        <a:rPr sz="1050" b="0" dirty="0" err="1">
                          <a:solidFill>
                            <a:srgbClr val="000000"/>
                          </a:solidFill>
                          <a:latin typeface="맑은 고딕"/>
                          <a:ea typeface="맑은 고딕"/>
                        </a:rPr>
                        <a:t>입력</a:t>
                      </a:r>
                      <a:r>
                        <a:rPr lang="en-US" sz="1050" b="0" dirty="0">
                          <a:solidFill>
                            <a:srgbClr val="000000"/>
                          </a:solidFill>
                          <a:latin typeface="맑은 고딕"/>
                          <a:ea typeface="맑은 고딕"/>
                        </a:rPr>
                        <a:t>, </a:t>
                      </a:r>
                      <a:r>
                        <a:rPr sz="1050" b="0" dirty="0" err="1">
                          <a:solidFill>
                            <a:srgbClr val="000000"/>
                          </a:solidFill>
                          <a:latin typeface="맑은 고딕"/>
                          <a:ea typeface="맑은 고딕"/>
                        </a:rPr>
                        <a:t>출력</a:t>
                      </a:r>
                      <a:r>
                        <a:rPr sz="1050" b="0" dirty="0">
                          <a:solidFill>
                            <a:srgbClr val="000000"/>
                          </a:solidFill>
                          <a:latin typeface="맑은 고딕"/>
                          <a:ea typeface="맑은 고딕"/>
                        </a:rPr>
                        <a:t> 256, </a:t>
                      </a:r>
                      <a:r>
                        <a:rPr sz="1050" b="0" dirty="0" err="1">
                          <a:solidFill>
                            <a:srgbClr val="000000"/>
                          </a:solidFill>
                          <a:latin typeface="맑은 고딕"/>
                          <a:ea typeface="맑은 고딕"/>
                        </a:rPr>
                        <a:t>세션당</a:t>
                      </a:r>
                      <a:r>
                        <a:rPr sz="1050" b="0" dirty="0">
                          <a:solidFill>
                            <a:srgbClr val="000000"/>
                          </a:solidFill>
                          <a:latin typeface="맑은 고딕"/>
                          <a:ea typeface="맑은 고딕"/>
                        </a:rPr>
                        <a:t> 10~20턴</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lgn="l">
                        <a:lnSpc>
                          <a:spcPct val="125000"/>
                        </a:lnSpc>
                        <a:buFontTx/>
                        <a:buChar char="-"/>
                      </a:pPr>
                      <a:r>
                        <a:rPr sz="1050" b="0" dirty="0">
                          <a:solidFill>
                            <a:srgbClr val="000000"/>
                          </a:solidFill>
                          <a:latin typeface="맑은 고딕"/>
                          <a:ea typeface="맑은 고딕"/>
                        </a:rPr>
                        <a:t>16K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KV = 327,680 B × 16,384 ≈ 5.0 </a:t>
                      </a:r>
                      <a:r>
                        <a:rPr sz="1050" b="0" dirty="0" err="1">
                          <a:solidFill>
                            <a:srgbClr val="000000"/>
                          </a:solidFill>
                          <a:latin typeface="맑은 고딕"/>
                          <a:ea typeface="맑은 고딕"/>
                        </a:rPr>
                        <a:t>GiB.</a:t>
                      </a:r>
                      <a:r>
                        <a:rPr sz="1050" b="0" dirty="0">
                          <a:solidFill>
                            <a:srgbClr val="000000"/>
                          </a:solidFill>
                          <a:latin typeface="맑은 고딕"/>
                          <a:ea typeface="맑은 고딕"/>
                        </a:rPr>
                        <a:t> </a:t>
                      </a:r>
                      <a:endParaRPr lang="en-US" sz="1050" b="0" dirty="0">
                        <a:solidFill>
                          <a:srgbClr val="000000"/>
                        </a:solidFill>
                        <a:latin typeface="맑은 고딕"/>
                        <a:ea typeface="맑은 고딕"/>
                      </a:endParaRPr>
                    </a:p>
                    <a:p>
                      <a:pPr marL="171450" indent="-171450" algn="l">
                        <a:lnSpc>
                          <a:spcPct val="125000"/>
                        </a:lnSpc>
                        <a:buFontTx/>
                        <a:buChar char="-"/>
                      </a:pPr>
                      <a:r>
                        <a:rPr sz="1050" b="0" dirty="0" err="1">
                          <a:solidFill>
                            <a:srgbClr val="000000"/>
                          </a:solidFill>
                          <a:latin typeface="맑은 고딕"/>
                          <a:ea typeface="맑은 고딕"/>
                        </a:rPr>
                        <a:t>동시</a:t>
                      </a:r>
                      <a:r>
                        <a:rPr sz="1050" b="0" dirty="0">
                          <a:solidFill>
                            <a:srgbClr val="000000"/>
                          </a:solidFill>
                          <a:latin typeface="맑은 고딕"/>
                          <a:ea typeface="맑은 고딕"/>
                        </a:rPr>
                        <a:t>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수 = λ × (idle + </a:t>
                      </a:r>
                      <a:r>
                        <a:rPr sz="1050" b="0" dirty="0" err="1">
                          <a:solidFill>
                            <a:srgbClr val="000000"/>
                          </a:solidFill>
                          <a:latin typeface="맑은 고딕"/>
                          <a:ea typeface="맑은 고딕"/>
                        </a:rPr>
                        <a:t>응답</a:t>
                      </a:r>
                      <a:r>
                        <a:rPr sz="1050" b="0" dirty="0">
                          <a:solidFill>
                            <a:srgbClr val="000000"/>
                          </a:solidFill>
                          <a:latin typeface="맑은 고딕"/>
                          <a:ea typeface="맑은 고딕"/>
                        </a:rPr>
                        <a:t>) ≈ 250~450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502920">
                <a:tc>
                  <a:txBody>
                    <a:bodyPr/>
                    <a:lstStyle/>
                    <a:p>
                      <a:pPr algn="l">
                        <a:lnSpc>
                          <a:spcPct val="125000"/>
                        </a:lnSpc>
                      </a:pPr>
                      <a:r>
                        <a:rPr sz="1050" b="0" dirty="0" err="1">
                          <a:solidFill>
                            <a:srgbClr val="000000"/>
                          </a:solidFill>
                          <a:latin typeface="맑은 고딕"/>
                          <a:ea typeface="맑은 고딕"/>
                        </a:rPr>
                        <a:t>메모리</a:t>
                      </a:r>
                      <a:r>
                        <a:rPr sz="1050" b="0" dirty="0">
                          <a:solidFill>
                            <a:srgbClr val="000000"/>
                          </a:solidFill>
                          <a:latin typeface="맑은 고딕"/>
                          <a:ea typeface="맑은 고딕"/>
                        </a:rPr>
                        <a:t> </a:t>
                      </a:r>
                      <a:r>
                        <a:rPr sz="1050" b="0" dirty="0" err="1">
                          <a:solidFill>
                            <a:srgbClr val="000000"/>
                          </a:solidFill>
                          <a:latin typeface="맑은 고딕"/>
                          <a:ea typeface="맑은 고딕"/>
                        </a:rPr>
                        <a:t>압박</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25000"/>
                        </a:lnSpc>
                      </a:pPr>
                      <a:r>
                        <a:rPr sz="1050" b="0" dirty="0">
                          <a:solidFill>
                            <a:srgbClr val="000000"/>
                          </a:solidFill>
                          <a:latin typeface="맑은 고딕"/>
                          <a:ea typeface="맑은 고딕"/>
                        </a:rPr>
                        <a:t>HBM KV 풀 ≈ 425 GiB(≈85 </a:t>
                      </a:r>
                      <a:r>
                        <a:rPr sz="1050" b="0" dirty="0" err="1">
                          <a:solidFill>
                            <a:srgbClr val="000000"/>
                          </a:solidFill>
                          <a:latin typeface="맑은 고딕"/>
                          <a:ea typeface="맑은 고딕"/>
                        </a:rPr>
                        <a:t>세션분</a:t>
                      </a:r>
                      <a:r>
                        <a:rPr sz="1050" b="0" dirty="0">
                          <a:solidFill>
                            <a:srgbClr val="000000"/>
                          </a:solidFill>
                          <a:latin typeface="맑은 고딕"/>
                          <a:ea typeface="맑은 고딕"/>
                        </a:rPr>
                        <a:t>) + DRAM 922 GiB(≈184 </a:t>
                      </a:r>
                      <a:r>
                        <a:rPr sz="1050" b="0" dirty="0" err="1">
                          <a:solidFill>
                            <a:srgbClr val="000000"/>
                          </a:solidFill>
                          <a:latin typeface="맑은 고딕"/>
                          <a:ea typeface="맑은 고딕"/>
                        </a:rPr>
                        <a:t>세션분</a:t>
                      </a:r>
                      <a:r>
                        <a:rPr sz="1050" b="0" dirty="0">
                          <a:solidFill>
                            <a:srgbClr val="000000"/>
                          </a:solidFill>
                          <a:latin typeface="맑은 고딕"/>
                          <a:ea typeface="맑은 고딕"/>
                        </a:rPr>
                        <a:t>). </a:t>
                      </a:r>
                      <a:endParaRPr lang="en-US" sz="1050" b="0" dirty="0">
                        <a:solidFill>
                          <a:srgbClr val="000000"/>
                        </a:solidFill>
                        <a:latin typeface="맑은 고딕"/>
                        <a:ea typeface="맑은 고딕"/>
                      </a:endParaRPr>
                    </a:p>
                    <a:p>
                      <a:pPr algn="l">
                        <a:lnSpc>
                          <a:spcPct val="125000"/>
                        </a:lnSpc>
                      </a:pPr>
                      <a:r>
                        <a:rPr sz="1050" b="0" dirty="0" err="1">
                          <a:solidFill>
                            <a:srgbClr val="000000"/>
                          </a:solidFill>
                          <a:latin typeface="맑은 고딕"/>
                          <a:ea typeface="맑은 고딕"/>
                        </a:rPr>
                        <a:t>동시</a:t>
                      </a:r>
                      <a:r>
                        <a:rPr sz="1050" b="0" dirty="0">
                          <a:solidFill>
                            <a:srgbClr val="000000"/>
                          </a:solidFill>
                          <a:latin typeface="맑은 고딕"/>
                          <a:ea typeface="맑은 고딕"/>
                        </a:rPr>
                        <a:t>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a:t>
                      </a:r>
                      <a:r>
                        <a:rPr sz="1050" b="0" dirty="0" err="1">
                          <a:solidFill>
                            <a:srgbClr val="000000"/>
                          </a:solidFill>
                          <a:latin typeface="맑은 고딕"/>
                          <a:ea typeface="맑은 고딕"/>
                        </a:rPr>
                        <a:t>KV가</a:t>
                      </a:r>
                      <a:r>
                        <a:rPr sz="1050" b="0" dirty="0">
                          <a:solidFill>
                            <a:srgbClr val="000000"/>
                          </a:solidFill>
                          <a:latin typeface="맑은 고딕"/>
                          <a:ea typeface="맑은 고딕"/>
                        </a:rPr>
                        <a:t> HBM+DRAM(1.35 TiB)을 </a:t>
                      </a:r>
                      <a:r>
                        <a:rPr sz="1050" b="0" dirty="0" err="1">
                          <a:solidFill>
                            <a:srgbClr val="000000"/>
                          </a:solidFill>
                          <a:latin typeface="맑은 고딕"/>
                          <a:ea typeface="맑은 고딕"/>
                        </a:rPr>
                        <a:t>넘으면</a:t>
                      </a:r>
                      <a:r>
                        <a:rPr sz="1050" b="0" dirty="0">
                          <a:solidFill>
                            <a:srgbClr val="000000"/>
                          </a:solidFill>
                          <a:latin typeface="맑은 고딕"/>
                          <a:ea typeface="맑은 고딕"/>
                        </a:rPr>
                        <a:t> </a:t>
                      </a:r>
                      <a:r>
                        <a:rPr sz="1050" b="0" dirty="0" err="1">
                          <a:solidFill>
                            <a:srgbClr val="000000"/>
                          </a:solidFill>
                          <a:latin typeface="맑은 고딕"/>
                          <a:ea typeface="맑은 고딕"/>
                        </a:rPr>
                        <a:t>SSD가</a:t>
                      </a:r>
                      <a:r>
                        <a:rPr sz="1050" b="0" dirty="0">
                          <a:solidFill>
                            <a:srgbClr val="000000"/>
                          </a:solidFill>
                          <a:latin typeface="맑은 고딕"/>
                          <a:ea typeface="맑은 고딕"/>
                        </a:rPr>
                        <a:t> </a:t>
                      </a:r>
                      <a:r>
                        <a:rPr sz="1050" b="0" dirty="0" err="1">
                          <a:solidFill>
                            <a:srgbClr val="000000"/>
                          </a:solidFill>
                          <a:latin typeface="맑은 고딕"/>
                          <a:ea typeface="맑은 고딕"/>
                        </a:rPr>
                        <a:t>쓰인다</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25000"/>
                        </a:lnSpc>
                      </a:pPr>
                      <a:r>
                        <a:rPr sz="1050" b="0" dirty="0" err="1">
                          <a:solidFill>
                            <a:srgbClr val="000000"/>
                          </a:solidFill>
                          <a:latin typeface="맑은 고딕"/>
                          <a:ea typeface="맑은 고딕"/>
                        </a:rPr>
                        <a:t>반환</a:t>
                      </a:r>
                      <a:r>
                        <a:rPr sz="1050" b="0" dirty="0">
                          <a:solidFill>
                            <a:srgbClr val="000000"/>
                          </a:solidFill>
                          <a:latin typeface="맑은 고딕"/>
                          <a:ea typeface="맑은 고딕"/>
                        </a:rPr>
                        <a:t> </a:t>
                      </a:r>
                      <a:r>
                        <a:rPr sz="1050" b="0" dirty="0" err="1">
                          <a:solidFill>
                            <a:srgbClr val="000000"/>
                          </a:solidFill>
                          <a:latin typeface="맑은 고딕"/>
                          <a:ea typeface="맑은 고딕"/>
                        </a:rPr>
                        <a:t>세션이</a:t>
                      </a:r>
                      <a:r>
                        <a:rPr sz="1050" b="0" dirty="0">
                          <a:solidFill>
                            <a:srgbClr val="000000"/>
                          </a:solidFill>
                          <a:latin typeface="맑은 고딕"/>
                          <a:ea typeface="맑은 고딕"/>
                        </a:rPr>
                        <a:t> HBM/DRAM/</a:t>
                      </a:r>
                      <a:r>
                        <a:rPr sz="1050" b="0" dirty="0" err="1">
                          <a:solidFill>
                            <a:srgbClr val="000000"/>
                          </a:solidFill>
                          <a:latin typeface="맑은 고딕"/>
                          <a:ea typeface="맑은 고딕"/>
                        </a:rPr>
                        <a:t>SSD에서</a:t>
                      </a:r>
                      <a:r>
                        <a:rPr sz="1050" b="0" dirty="0">
                          <a:solidFill>
                            <a:srgbClr val="000000"/>
                          </a:solidFill>
                          <a:latin typeface="맑은 고딕"/>
                          <a:ea typeface="맑은 고딕"/>
                        </a:rPr>
                        <a:t> </a:t>
                      </a:r>
                      <a:r>
                        <a:rPr sz="1050" b="0" dirty="0" err="1">
                          <a:solidFill>
                            <a:srgbClr val="000000"/>
                          </a:solidFill>
                          <a:latin typeface="맑은 고딕"/>
                          <a:ea typeface="맑은 고딕"/>
                        </a:rPr>
                        <a:t>발견될</a:t>
                      </a:r>
                      <a:r>
                        <a:rPr sz="1050" b="0" dirty="0">
                          <a:solidFill>
                            <a:srgbClr val="000000"/>
                          </a:solidFill>
                          <a:latin typeface="맑은 고딕"/>
                          <a:ea typeface="맑은 고딕"/>
                        </a:rPr>
                        <a:t> </a:t>
                      </a:r>
                      <a:r>
                        <a:rPr sz="1050" b="0" dirty="0" err="1">
                          <a:solidFill>
                            <a:srgbClr val="000000"/>
                          </a:solidFill>
                          <a:latin typeface="맑은 고딕"/>
                          <a:ea typeface="맑은 고딕"/>
                        </a:rPr>
                        <a:t>확률은</a:t>
                      </a:r>
                      <a:r>
                        <a:rPr sz="1050" b="0" dirty="0">
                          <a:solidFill>
                            <a:srgbClr val="000000"/>
                          </a:solidFill>
                          <a:latin typeface="맑은 고딕"/>
                          <a:ea typeface="맑은 고딕"/>
                        </a:rPr>
                        <a:t> LRU stack </a:t>
                      </a:r>
                      <a:r>
                        <a:rPr sz="1050" b="0" dirty="0" err="1">
                          <a:solidFill>
                            <a:srgbClr val="000000"/>
                          </a:solidFill>
                          <a:latin typeface="맑은 고딕"/>
                          <a:ea typeface="맑은 고딕"/>
                        </a:rPr>
                        <a:t>distance로</a:t>
                      </a:r>
                      <a:r>
                        <a:rPr sz="1050" b="0" dirty="0">
                          <a:solidFill>
                            <a:srgbClr val="000000"/>
                          </a:solidFill>
                          <a:latin typeface="맑은 고딕"/>
                          <a:ea typeface="맑은 고딕"/>
                        </a:rPr>
                        <a:t> </a:t>
                      </a:r>
                      <a:r>
                        <a:rPr sz="1050" b="0" dirty="0" err="1">
                          <a:solidFill>
                            <a:srgbClr val="000000"/>
                          </a:solidFill>
                          <a:latin typeface="맑은 고딕"/>
                          <a:ea typeface="맑은 고딕"/>
                        </a:rPr>
                        <a:t>계산</a:t>
                      </a:r>
                      <a:r>
                        <a:rPr sz="1050" b="0" dirty="0">
                          <a:solidFill>
                            <a:srgbClr val="000000"/>
                          </a:solidFill>
                          <a:latin typeface="맑은 고딕"/>
                          <a:ea typeface="맑은 고딕"/>
                        </a:rPr>
                        <a:t>(idle ~ Exp(60 s))</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r h="502920">
                <a:tc>
                  <a:txBody>
                    <a:bodyPr/>
                    <a:lstStyle/>
                    <a:p>
                      <a:pPr algn="l">
                        <a:lnSpc>
                          <a:spcPct val="125000"/>
                        </a:lnSpc>
                      </a:pPr>
                      <a:r>
                        <a:rPr lang="en-US" altLang="ko-KR" sz="1050" b="0" dirty="0">
                          <a:solidFill>
                            <a:srgbClr val="000000"/>
                          </a:solidFill>
                          <a:latin typeface="맑은 고딕"/>
                          <a:ea typeface="맑은 고딕"/>
                        </a:rPr>
                        <a:t>KV </a:t>
                      </a:r>
                      <a:r>
                        <a:rPr lang="ko-KR" altLang="en-US" sz="1050" b="0" dirty="0">
                          <a:solidFill>
                            <a:srgbClr val="000000"/>
                          </a:solidFill>
                          <a:latin typeface="맑은 고딕"/>
                          <a:ea typeface="맑은 고딕"/>
                        </a:rPr>
                        <a:t>재사용</a:t>
                      </a: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tcPr>
                </a:tc>
                <a:tc>
                  <a:txBody>
                    <a:bodyPr/>
                    <a:lstStyle/>
                    <a:p>
                      <a:pPr algn="l">
                        <a:lnSpc>
                          <a:spcPct val="125000"/>
                        </a:lnSpc>
                      </a:pPr>
                      <a:r>
                        <a:rPr sz="1050" b="0" dirty="0" err="1">
                          <a:solidFill>
                            <a:srgbClr val="000000"/>
                          </a:solidFill>
                          <a:latin typeface="맑은 고딕"/>
                          <a:ea typeface="맑은 고딕"/>
                        </a:rPr>
                        <a:t>세션</a:t>
                      </a:r>
                      <a:r>
                        <a:rPr sz="1050" b="0" dirty="0">
                          <a:solidFill>
                            <a:srgbClr val="000000"/>
                          </a:solidFill>
                          <a:latin typeface="맑은 고딕"/>
                          <a:ea typeface="맑은 고딕"/>
                        </a:rPr>
                        <a:t> 간 </a:t>
                      </a:r>
                      <a:r>
                        <a:rPr sz="1050" b="0" dirty="0" err="1">
                          <a:solidFill>
                            <a:srgbClr val="000000"/>
                          </a:solidFill>
                          <a:latin typeface="맑은 고딕"/>
                          <a:ea typeface="맑은 고딕"/>
                        </a:rPr>
                        <a:t>공유</a:t>
                      </a:r>
                      <a:r>
                        <a:rPr sz="1050" b="0" dirty="0">
                          <a:solidFill>
                            <a:srgbClr val="000000"/>
                          </a:solidFill>
                          <a:latin typeface="맑은 고딕"/>
                          <a:ea typeface="맑은 고딕"/>
                        </a:rPr>
                        <a:t> </a:t>
                      </a:r>
                      <a:r>
                        <a:rPr sz="1050" b="0" dirty="0" err="1">
                          <a:solidFill>
                            <a:srgbClr val="000000"/>
                          </a:solidFill>
                          <a:latin typeface="맑은 고딕"/>
                          <a:ea typeface="맑은 고딕"/>
                        </a:rPr>
                        <a:t>문서</a:t>
                      </a:r>
                      <a:r>
                        <a:rPr sz="1050" b="0" dirty="0">
                          <a:solidFill>
                            <a:srgbClr val="000000"/>
                          </a:solidFill>
                          <a:latin typeface="맑은 고딕"/>
                          <a:ea typeface="맑은 고딕"/>
                        </a:rPr>
                        <a:t> </a:t>
                      </a:r>
                      <a:r>
                        <a:rPr sz="1050" b="0" dirty="0" err="1">
                          <a:solidFill>
                            <a:srgbClr val="000000"/>
                          </a:solidFill>
                          <a:latin typeface="맑은 고딕"/>
                          <a:ea typeface="맑은 고딕"/>
                        </a:rPr>
                        <a:t>청크</a:t>
                      </a:r>
                      <a:r>
                        <a:rPr sz="1050" b="0" dirty="0">
                          <a:solidFill>
                            <a:srgbClr val="000000"/>
                          </a:solidFill>
                          <a:latin typeface="맑은 고딕"/>
                          <a:ea typeface="맑은 고딕"/>
                        </a:rPr>
                        <a:t> 30%, </a:t>
                      </a:r>
                      <a:r>
                        <a:rPr sz="1050" b="0" dirty="0" err="1">
                          <a:solidFill>
                            <a:srgbClr val="000000"/>
                          </a:solidFill>
                          <a:latin typeface="맑은 고딕"/>
                          <a:ea typeface="맑은 고딕"/>
                        </a:rPr>
                        <a:t>그중</a:t>
                      </a:r>
                      <a:r>
                        <a:rPr sz="1050" b="0" dirty="0">
                          <a:solidFill>
                            <a:srgbClr val="000000"/>
                          </a:solidFill>
                          <a:latin typeface="맑은 고딕"/>
                          <a:ea typeface="맑은 고딕"/>
                        </a:rPr>
                        <a:t> 50%는 non-prefix </a:t>
                      </a:r>
                      <a:r>
                        <a:rPr sz="1050" b="0" dirty="0" err="1">
                          <a:solidFill>
                            <a:srgbClr val="000000"/>
                          </a:solidFill>
                          <a:latin typeface="맑은 고딕"/>
                          <a:ea typeface="맑은 고딕"/>
                        </a:rPr>
                        <a:t>위치</a:t>
                      </a:r>
                      <a:r>
                        <a:rPr sz="1050" b="0" dirty="0">
                          <a:solidFill>
                            <a:srgbClr val="000000"/>
                          </a:solidFill>
                          <a:latin typeface="맑은 고딕"/>
                          <a:ea typeface="맑은 고딕"/>
                        </a:rPr>
                        <a:t>. </a:t>
                      </a:r>
                      <a:r>
                        <a:rPr sz="1050" b="0" dirty="0" err="1">
                          <a:solidFill>
                            <a:srgbClr val="000000"/>
                          </a:solidFill>
                          <a:latin typeface="맑은 고딕"/>
                          <a:ea typeface="맑은 고딕"/>
                        </a:rPr>
                        <a:t>선택</a:t>
                      </a:r>
                      <a:r>
                        <a:rPr sz="1050" b="0" dirty="0">
                          <a:solidFill>
                            <a:srgbClr val="000000"/>
                          </a:solidFill>
                          <a:latin typeface="맑은 고딕"/>
                          <a:ea typeface="맑은 고딕"/>
                        </a:rPr>
                        <a:t> </a:t>
                      </a:r>
                      <a:r>
                        <a:rPr sz="1050" b="0" dirty="0" err="1">
                          <a:solidFill>
                            <a:srgbClr val="000000"/>
                          </a:solidFill>
                          <a:latin typeface="맑은 고딕"/>
                          <a:ea typeface="맑은 고딕"/>
                        </a:rPr>
                        <a:t>재계산</a:t>
                      </a:r>
                      <a:r>
                        <a:rPr sz="1050" b="0" dirty="0">
                          <a:solidFill>
                            <a:srgbClr val="000000"/>
                          </a:solidFill>
                          <a:latin typeface="맑은 고딕"/>
                          <a:ea typeface="맑은 고딕"/>
                        </a:rPr>
                        <a:t> </a:t>
                      </a:r>
                      <a:r>
                        <a:rPr lang="en-US" sz="1050" b="0" dirty="0">
                          <a:solidFill>
                            <a:srgbClr val="000000"/>
                          </a:solidFill>
                          <a:latin typeface="맑은 고딕"/>
                          <a:ea typeface="맑은 고딕"/>
                        </a:rPr>
                        <a:t>20</a:t>
                      </a:r>
                      <a:r>
                        <a:rPr sz="1050" b="0" dirty="0">
                          <a:solidFill>
                            <a:srgbClr val="000000"/>
                          </a:solidFill>
                          <a:latin typeface="맑은 고딕"/>
                          <a:ea typeface="맑은 고딕"/>
                        </a:rPr>
                        <a:t>% </a:t>
                      </a:r>
                      <a:r>
                        <a:rPr sz="1050" b="0" dirty="0" err="1">
                          <a:solidFill>
                            <a:srgbClr val="000000"/>
                          </a:solidFill>
                          <a:latin typeface="맑은 고딕"/>
                          <a:ea typeface="맑은 고딕"/>
                        </a:rPr>
                        <a:t>토큰</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tcPr>
                </a:tc>
                <a:tc>
                  <a:txBody>
                    <a:bodyPr/>
                    <a:lstStyle/>
                    <a:p>
                      <a:pPr algn="l">
                        <a:lnSpc>
                          <a:spcPct val="125000"/>
                        </a:lnSpc>
                      </a:pPr>
                      <a:r>
                        <a:rPr sz="1050" b="0" dirty="0">
                          <a:solidFill>
                            <a:srgbClr val="000000"/>
                          </a:solidFill>
                          <a:latin typeface="맑은 고딕"/>
                          <a:ea typeface="맑은 고딕"/>
                        </a:rPr>
                        <a:t>DP3 </a:t>
                      </a:r>
                      <a:r>
                        <a:rPr sz="1050" b="0" dirty="0" err="1">
                          <a:solidFill>
                            <a:srgbClr val="000000"/>
                          </a:solidFill>
                          <a:latin typeface="맑은 고딕"/>
                          <a:ea typeface="맑은 고딕"/>
                        </a:rPr>
                        <a:t>재사용</a:t>
                      </a:r>
                      <a:r>
                        <a:rPr lang="en-US" sz="1050" b="0" dirty="0">
                          <a:solidFill>
                            <a:srgbClr val="000000"/>
                          </a:solidFill>
                          <a:latin typeface="맑은 고딕"/>
                          <a:ea typeface="맑은 고딕"/>
                        </a:rPr>
                        <a:t> </a:t>
                      </a:r>
                      <a:r>
                        <a:rPr lang="ko-KR" altLang="en-US" sz="1050" b="0" dirty="0">
                          <a:solidFill>
                            <a:srgbClr val="000000"/>
                          </a:solidFill>
                          <a:latin typeface="맑은 고딕"/>
                          <a:ea typeface="맑은 고딕"/>
                        </a:rPr>
                        <a:t>및 </a:t>
                      </a:r>
                      <a:r>
                        <a:rPr sz="1050" b="0" dirty="0" err="1">
                          <a:solidFill>
                            <a:srgbClr val="000000"/>
                          </a:solidFill>
                          <a:latin typeface="맑은 고딕"/>
                          <a:ea typeface="맑은 고딕"/>
                        </a:rPr>
                        <a:t>선택</a:t>
                      </a:r>
                      <a:r>
                        <a:rPr lang="ko-KR" altLang="en-US" sz="1050" b="0" dirty="0">
                          <a:solidFill>
                            <a:srgbClr val="000000"/>
                          </a:solidFill>
                          <a:latin typeface="맑은 고딕"/>
                          <a:ea typeface="맑은 고딕"/>
                        </a:rPr>
                        <a:t>적 </a:t>
                      </a:r>
                      <a:r>
                        <a:rPr sz="1050" b="0" dirty="0" err="1">
                          <a:solidFill>
                            <a:srgbClr val="000000"/>
                          </a:solidFill>
                          <a:latin typeface="맑은 고딕"/>
                          <a:ea typeface="맑은 고딕"/>
                        </a:rPr>
                        <a:t>재계산이</a:t>
                      </a:r>
                      <a:r>
                        <a:rPr sz="1050" b="0" dirty="0">
                          <a:solidFill>
                            <a:srgbClr val="000000"/>
                          </a:solidFill>
                          <a:latin typeface="맑은 고딕"/>
                          <a:ea typeface="맑은 고딕"/>
                        </a:rPr>
                        <a:t> </a:t>
                      </a:r>
                      <a:r>
                        <a:rPr sz="1050" b="0" dirty="0" err="1">
                          <a:solidFill>
                            <a:srgbClr val="000000"/>
                          </a:solidFill>
                          <a:latin typeface="맑은 고딕"/>
                          <a:ea typeface="맑은 고딕"/>
                        </a:rPr>
                        <a:t>겨냥하는</a:t>
                      </a:r>
                      <a:r>
                        <a:rPr sz="1050" b="0" dirty="0">
                          <a:solidFill>
                            <a:srgbClr val="000000"/>
                          </a:solidFill>
                          <a:latin typeface="맑은 고딕"/>
                          <a:ea typeface="맑은 고딕"/>
                        </a:rPr>
                        <a:t> </a:t>
                      </a:r>
                      <a:r>
                        <a:rPr sz="1050" b="0" dirty="0" err="1">
                          <a:solidFill>
                            <a:srgbClr val="000000"/>
                          </a:solidFill>
                          <a:latin typeface="맑은 고딕"/>
                          <a:ea typeface="맑은 고딕"/>
                        </a:rPr>
                        <a:t>조건</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algn="l"/>
                      <a:r>
                        <a:rPr lang="ko-KR" altLang="en-US" sz="1050" b="0" dirty="0">
                          <a:solidFill>
                            <a:srgbClr val="000000"/>
                          </a:solidFill>
                          <a:latin typeface="맑은 고딕"/>
                          <a:ea typeface="맑은 고딕"/>
                        </a:rPr>
                        <a:t>고부하 구간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50" b="0" dirty="0">
                          <a:solidFill>
                            <a:srgbClr val="000000"/>
                          </a:solidFill>
                          <a:latin typeface="맑은 고딕"/>
                          <a:ea typeface="맑은 고딕"/>
                        </a:rPr>
                        <a:t>Baseline</a:t>
                      </a:r>
                      <a:r>
                        <a:rPr lang="ko-KR" altLang="en-US" sz="1050" b="0" dirty="0">
                          <a:solidFill>
                            <a:srgbClr val="000000"/>
                          </a:solidFill>
                          <a:latin typeface="맑은 고딕"/>
                          <a:ea typeface="맑은 고딕"/>
                        </a:rPr>
                        <a:t> 포화 부하의 </a:t>
                      </a:r>
                      <a:r>
                        <a:rPr lang="en-US" altLang="ko-KR" sz="1050" b="0" dirty="0">
                          <a:solidFill>
                            <a:srgbClr val="000000"/>
                          </a:solidFill>
                          <a:latin typeface="맑은 고딕"/>
                          <a:ea typeface="맑은 고딕"/>
                        </a:rPr>
                        <a:t>90%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50" b="0" dirty="0">
                          <a:solidFill>
                            <a:srgbClr val="000000"/>
                          </a:solidFill>
                          <a:latin typeface="+mn-lt"/>
                          <a:ea typeface="맑은 고딕"/>
                        </a:rPr>
                        <a:t>예</a:t>
                      </a:r>
                      <a:r>
                        <a:rPr lang="en-US" altLang="ko-KR" sz="1050" b="0" dirty="0">
                          <a:solidFill>
                            <a:srgbClr val="000000"/>
                          </a:solidFill>
                          <a:latin typeface="+mn-lt"/>
                          <a:ea typeface="맑은 고딕"/>
                        </a:rPr>
                        <a:t>) Baseline </a:t>
                      </a:r>
                      <a:r>
                        <a:rPr lang="ko-KR" altLang="en-US" sz="1050" b="0" dirty="0">
                          <a:solidFill>
                            <a:srgbClr val="000000"/>
                          </a:solidFill>
                          <a:latin typeface="+mn-lt"/>
                          <a:ea typeface="맑은 고딕"/>
                        </a:rPr>
                        <a:t>의 </a:t>
                      </a:r>
                      <a:r>
                        <a:rPr lang="en-US" altLang="ko-KR" sz="1050" b="0" dirty="0">
                          <a:solidFill>
                            <a:srgbClr val="000000"/>
                          </a:solidFill>
                          <a:latin typeface="+mn-lt"/>
                          <a:ea typeface="맑은 고딕"/>
                        </a:rPr>
                        <a:t>max </a:t>
                      </a:r>
                      <a:r>
                        <a:rPr lang="ko-KR" altLang="en-US" sz="1050" b="0" dirty="0">
                          <a:solidFill>
                            <a:srgbClr val="000000"/>
                          </a:solidFill>
                          <a:latin typeface="+mn-lt"/>
                          <a:ea typeface="맑은 고딕"/>
                        </a:rPr>
                        <a:t>동시 </a:t>
                      </a:r>
                      <a:r>
                        <a:rPr lang="ko-KR" altLang="en-US" sz="1050" b="0" dirty="0" err="1">
                          <a:solidFill>
                            <a:srgbClr val="000000"/>
                          </a:solidFill>
                          <a:latin typeface="+mn-lt"/>
                          <a:ea typeface="맑은 고딕"/>
                        </a:rPr>
                        <a:t>요청수</a:t>
                      </a:r>
                      <a:r>
                        <a:rPr lang="ko-KR" altLang="en-US" sz="1050" b="0" dirty="0">
                          <a:solidFill>
                            <a:srgbClr val="000000"/>
                          </a:solidFill>
                          <a:latin typeface="+mn-lt"/>
                          <a:ea typeface="맑은 고딕"/>
                        </a:rPr>
                        <a:t> </a:t>
                      </a:r>
                      <a:r>
                        <a:rPr lang="en-US" altLang="ko-KR" sz="1050" b="0" dirty="0">
                          <a:solidFill>
                            <a:srgbClr val="000000"/>
                          </a:solidFill>
                          <a:latin typeface="+mn-lt"/>
                          <a:ea typeface="맑은 고딕"/>
                        </a:rPr>
                        <a:t>8 turns/s -&gt; </a:t>
                      </a:r>
                      <a:r>
                        <a:rPr lang="ko-KR" altLang="en-US" sz="1050" b="0" dirty="0">
                          <a:solidFill>
                            <a:srgbClr val="000000"/>
                          </a:solidFill>
                          <a:latin typeface="+mn-lt"/>
                          <a:ea typeface="맑은 고딕"/>
                        </a:rPr>
                        <a:t>고부하</a:t>
                      </a:r>
                      <a:r>
                        <a:rPr lang="en-US" altLang="ko-KR" sz="1050" b="0" dirty="0">
                          <a:solidFill>
                            <a:srgbClr val="000000"/>
                          </a:solidFill>
                          <a:latin typeface="+mn-lt"/>
                          <a:ea typeface="맑은 고딕"/>
                        </a:rPr>
                        <a:t>: 7.2 turns/s </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5"/>
                  </a:ext>
                </a:extLst>
              </a:tr>
              <a:tr h="502920">
                <a:tc>
                  <a:txBody>
                    <a:bodyPr/>
                    <a:lstStyle/>
                    <a:p>
                      <a:pPr algn="l">
                        <a:lnSpc>
                          <a:spcPct val="125000"/>
                        </a:lnSpc>
                      </a:pPr>
                      <a:r>
                        <a:rPr sz="1050" b="0" dirty="0">
                          <a:solidFill>
                            <a:srgbClr val="000000"/>
                          </a:solidFill>
                          <a:latin typeface="맑은 고딕"/>
                          <a:ea typeface="맑은 고딕"/>
                        </a:rPr>
                        <a:t>Baseline: GPU-only</a:t>
                      </a:r>
                    </a:p>
                  </a:txBody>
                  <a:tcPr marL="54864" marR="54864" marT="22860" marB="22860" anchor="ctr">
                    <a:lnL w="6350">
                      <a:solidFill>
                        <a:srgbClr val="BFBFBF"/>
                      </a:solidFill>
                    </a:lnL>
                    <a:lnR w="6350">
                      <a:solidFill>
                        <a:srgbClr val="BFBFBF"/>
                      </a:solidFill>
                    </a:lnR>
                    <a:lnT w="6350" cap="flat" cmpd="sng" algn="ctr">
                      <a:solidFill>
                        <a:srgbClr val="BFBFBF"/>
                      </a:solidFill>
                      <a:prstDash val="solid"/>
                      <a:round/>
                      <a:headEnd type="none" w="med" len="med"/>
                      <a:tailEnd type="none" w="med" len="med"/>
                    </a:lnT>
                    <a:lnB w="6350">
                      <a:solidFill>
                        <a:srgbClr val="BFBFBF"/>
                      </a:solidFill>
                    </a:lnB>
                  </a:tcPr>
                </a:tc>
                <a:tc>
                  <a:txBody>
                    <a:bodyPr/>
                    <a:lstStyle/>
                    <a:p>
                      <a:pPr algn="l">
                        <a:lnSpc>
                          <a:spcPct val="125000"/>
                        </a:lnSpc>
                      </a:pPr>
                      <a:r>
                        <a:rPr sz="1050" b="0" dirty="0" err="1">
                          <a:solidFill>
                            <a:srgbClr val="000000"/>
                          </a:solidFill>
                          <a:latin typeface="맑은 고딕"/>
                          <a:ea typeface="맑은 고딕"/>
                        </a:rPr>
                        <a:t>vLLM</a:t>
                      </a:r>
                      <a:r>
                        <a:rPr sz="1050" b="0" dirty="0">
                          <a:solidFill>
                            <a:srgbClr val="000000"/>
                          </a:solidFill>
                          <a:latin typeface="맑은 고딕"/>
                          <a:ea typeface="맑은 고딕"/>
                        </a:rPr>
                        <a:t> </a:t>
                      </a:r>
                      <a:r>
                        <a:rPr sz="1050" b="0" dirty="0" err="1">
                          <a:solidFill>
                            <a:srgbClr val="000000"/>
                          </a:solidFill>
                          <a:latin typeface="맑은 고딕"/>
                          <a:ea typeface="맑은 고딕"/>
                        </a:rPr>
                        <a:t>기본</a:t>
                      </a:r>
                      <a:r>
                        <a:rPr sz="1050" b="0" dirty="0">
                          <a:solidFill>
                            <a:srgbClr val="000000"/>
                          </a:solidFill>
                          <a:latin typeface="맑은 고딕"/>
                          <a:ea typeface="맑은 고딕"/>
                        </a:rPr>
                        <a:t>: HBM prefix cache + preemption recompute, DRAM·SSD </a:t>
                      </a:r>
                      <a:r>
                        <a:rPr sz="1050" b="0" dirty="0" err="1">
                          <a:solidFill>
                            <a:srgbClr val="000000"/>
                          </a:solidFill>
                          <a:latin typeface="맑은 고딕"/>
                          <a:ea typeface="맑은 고딕"/>
                        </a:rPr>
                        <a:t>사용</a:t>
                      </a:r>
                      <a:r>
                        <a:rPr sz="1050" b="0" dirty="0">
                          <a:solidFill>
                            <a:srgbClr val="000000"/>
                          </a:solidFill>
                          <a:latin typeface="맑은 고딕"/>
                          <a:ea typeface="맑은 고딕"/>
                        </a:rPr>
                        <a:t> </a:t>
                      </a:r>
                      <a:r>
                        <a:rPr sz="1050" b="0" dirty="0" err="1">
                          <a:solidFill>
                            <a:srgbClr val="000000"/>
                          </a:solidFill>
                          <a:latin typeface="맑은 고딕"/>
                          <a:ea typeface="맑은 고딕"/>
                        </a:rPr>
                        <a:t>없음</a:t>
                      </a:r>
                      <a:r>
                        <a:rPr sz="1050" b="0" dirty="0">
                          <a:solidFill>
                            <a:srgbClr val="000000"/>
                          </a:solidFill>
                          <a:latin typeface="맑은 고딕"/>
                          <a:ea typeface="맑은 고딕"/>
                        </a:rPr>
                        <a:t>. </a:t>
                      </a:r>
                      <a:endParaRPr lang="en-US"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cap="flat" cmpd="sng" algn="ctr">
                      <a:solidFill>
                        <a:srgbClr val="BFBFBF"/>
                      </a:solidFill>
                      <a:prstDash val="solid"/>
                      <a:round/>
                      <a:headEnd type="none" w="med" len="med"/>
                      <a:tailEnd type="none" w="med" len="med"/>
                    </a:lnT>
                    <a:lnB w="6350">
                      <a:solidFill>
                        <a:srgbClr val="BFBFBF"/>
                      </a:solidFill>
                    </a:lnB>
                  </a:tcPr>
                </a:tc>
                <a:tc>
                  <a:txBody>
                    <a:bodyPr/>
                    <a:lstStyle/>
                    <a:p>
                      <a:pPr algn="l">
                        <a:lnSpc>
                          <a:spcPct val="125000"/>
                        </a:lnSpc>
                      </a:pPr>
                      <a:r>
                        <a:rPr sz="1050" b="0" dirty="0" err="1">
                          <a:solidFill>
                            <a:srgbClr val="000000"/>
                          </a:solidFill>
                          <a:latin typeface="맑은 고딕"/>
                          <a:ea typeface="맑은 고딕"/>
                        </a:rPr>
                        <a:t>HBM에</a:t>
                      </a:r>
                      <a:r>
                        <a:rPr sz="1050" b="0" dirty="0">
                          <a:solidFill>
                            <a:srgbClr val="000000"/>
                          </a:solidFill>
                          <a:latin typeface="맑은 고딕"/>
                          <a:ea typeface="맑은 고딕"/>
                        </a:rPr>
                        <a:t> </a:t>
                      </a:r>
                      <a:r>
                        <a:rPr sz="1050" b="0" dirty="0" err="1">
                          <a:solidFill>
                            <a:srgbClr val="000000"/>
                          </a:solidFill>
                          <a:latin typeface="맑은 고딕"/>
                          <a:ea typeface="맑은 고딕"/>
                        </a:rPr>
                        <a:t>없으면</a:t>
                      </a:r>
                      <a:r>
                        <a:rPr sz="1050" b="0" dirty="0">
                          <a:solidFill>
                            <a:srgbClr val="000000"/>
                          </a:solidFill>
                          <a:latin typeface="맑은 고딕"/>
                          <a:ea typeface="맑은 고딕"/>
                        </a:rPr>
                        <a:t> 16K </a:t>
                      </a:r>
                      <a:r>
                        <a:rPr sz="1050" b="0" dirty="0" err="1">
                          <a:solidFill>
                            <a:srgbClr val="000000"/>
                          </a:solidFill>
                          <a:latin typeface="맑은 고딕"/>
                          <a:ea typeface="맑은 고딕"/>
                        </a:rPr>
                        <a:t>재prefill</a:t>
                      </a:r>
                      <a:r>
                        <a:rPr sz="1050" b="0" dirty="0">
                          <a:solidFill>
                            <a:srgbClr val="000000"/>
                          </a:solidFill>
                          <a:latin typeface="맑은 고딕"/>
                          <a:ea typeface="맑은 고딕"/>
                        </a:rPr>
                        <a:t> ≈ 0.65 s. </a:t>
                      </a:r>
                    </a:p>
                  </a:txBody>
                  <a:tcPr marL="54864" marR="54864" marT="22860" marB="22860" anchor="ctr">
                    <a:lnL w="6350">
                      <a:solidFill>
                        <a:srgbClr val="BFBFBF"/>
                      </a:solidFill>
                    </a:lnL>
                    <a:lnR w="6350">
                      <a:solidFill>
                        <a:srgbClr val="BFBFBF"/>
                      </a:solidFill>
                    </a:lnR>
                    <a:lnT w="6350" cap="flat" cmpd="sng" algn="ctr">
                      <a:solidFill>
                        <a:srgbClr val="BFBFBF"/>
                      </a:solidFill>
                      <a:prstDash val="solid"/>
                      <a:round/>
                      <a:headEnd type="none" w="med" len="med"/>
                      <a:tailEnd type="none" w="med" len="med"/>
                    </a:lnT>
                    <a:lnB w="6350">
                      <a:solidFill>
                        <a:srgbClr val="BFBFBF"/>
                      </a:solidFill>
                    </a:lnB>
                  </a:tcPr>
                </a:tc>
                <a:extLst>
                  <a:ext uri="{0D108BD9-81ED-4DB2-BD59-A6C34878D82A}">
                    <a16:rowId xmlns:a16="http://schemas.microsoft.com/office/drawing/2014/main" val="10006"/>
                  </a:ext>
                </a:extLst>
              </a:tr>
              <a:tr h="502920">
                <a:tc>
                  <a:txBody>
                    <a:bodyPr/>
                    <a:lstStyle/>
                    <a:p>
                      <a:pPr algn="l">
                        <a:lnSpc>
                          <a:spcPct val="125000"/>
                        </a:lnSpc>
                      </a:pPr>
                      <a:r>
                        <a:rPr sz="1050" b="0" dirty="0" err="1">
                          <a:solidFill>
                            <a:srgbClr val="000000"/>
                          </a:solidFill>
                          <a:latin typeface="맑은 고딕"/>
                          <a:ea typeface="맑은 고딕"/>
                        </a:rPr>
                        <a:t>경쟁</a:t>
                      </a:r>
                      <a:r>
                        <a:rPr sz="1050" b="0" dirty="0">
                          <a:solidFill>
                            <a:srgbClr val="000000"/>
                          </a:solidFill>
                          <a:latin typeface="맑은 고딕"/>
                          <a:ea typeface="맑은 고딕"/>
                        </a:rPr>
                        <a:t> </a:t>
                      </a:r>
                      <a:r>
                        <a:rPr sz="1050" b="0" dirty="0" err="1">
                          <a:solidFill>
                            <a:srgbClr val="000000"/>
                          </a:solidFill>
                          <a:latin typeface="맑은 고딕"/>
                          <a:ea typeface="맑은 고딕"/>
                        </a:rPr>
                        <a:t>기술</a:t>
                      </a:r>
                      <a:r>
                        <a:rPr sz="1050" b="0" dirty="0">
                          <a:solidFill>
                            <a:srgbClr val="000000"/>
                          </a:solidFill>
                          <a:latin typeface="맑은 고딕"/>
                          <a:ea typeface="맑은 고딕"/>
                        </a:rPr>
                        <a:t>: </a:t>
                      </a:r>
                      <a:r>
                        <a:rPr sz="1050" b="0" dirty="0" err="1">
                          <a:solidFill>
                            <a:srgbClr val="000000"/>
                          </a:solidFill>
                          <a:latin typeface="맑은 고딕"/>
                          <a:ea typeface="맑은 고딕"/>
                        </a:rPr>
                        <a:t>단순</a:t>
                      </a:r>
                      <a:r>
                        <a:rPr sz="1050" b="0" dirty="0">
                          <a:solidFill>
                            <a:srgbClr val="000000"/>
                          </a:solidFill>
                          <a:latin typeface="맑은 고딕"/>
                          <a:ea typeface="맑은 고딕"/>
                        </a:rPr>
                        <a:t> offloading (</a:t>
                      </a:r>
                      <a:r>
                        <a:rPr lang="ko-KR" altLang="en-US" sz="1050" b="0" dirty="0">
                          <a:solidFill>
                            <a:srgbClr val="000000"/>
                          </a:solidFill>
                          <a:latin typeface="맑은 고딕"/>
                          <a:ea typeface="맑은 고딕"/>
                        </a:rPr>
                        <a:t>참고 수치</a:t>
                      </a:r>
                      <a:r>
                        <a:rPr sz="105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25000"/>
                        </a:lnSpc>
                      </a:pPr>
                      <a:r>
                        <a:rPr sz="1050" b="0" dirty="0" err="1">
                          <a:solidFill>
                            <a:srgbClr val="000000"/>
                          </a:solidFill>
                          <a:latin typeface="맑은 고딕"/>
                          <a:ea typeface="맑은 고딕"/>
                        </a:rPr>
                        <a:t>HBM이</a:t>
                      </a:r>
                      <a:r>
                        <a:rPr sz="1050" b="0" dirty="0">
                          <a:solidFill>
                            <a:srgbClr val="000000"/>
                          </a:solidFill>
                          <a:latin typeface="맑은 고딕"/>
                          <a:ea typeface="맑은 고딕"/>
                        </a:rPr>
                        <a:t> </a:t>
                      </a:r>
                      <a:r>
                        <a:rPr sz="1050" b="0" dirty="0" err="1">
                          <a:solidFill>
                            <a:srgbClr val="000000"/>
                          </a:solidFill>
                          <a:latin typeface="맑은 고딕"/>
                          <a:ea typeface="맑은 고딕"/>
                        </a:rPr>
                        <a:t>차면</a:t>
                      </a:r>
                      <a:r>
                        <a:rPr sz="1050" b="0" dirty="0">
                          <a:solidFill>
                            <a:srgbClr val="000000"/>
                          </a:solidFill>
                          <a:latin typeface="맑은 고딕"/>
                          <a:ea typeface="맑은 고딕"/>
                        </a:rPr>
                        <a:t> </a:t>
                      </a:r>
                      <a:r>
                        <a:rPr sz="1050" b="0" dirty="0" err="1">
                          <a:solidFill>
                            <a:srgbClr val="000000"/>
                          </a:solidFill>
                          <a:latin typeface="맑은 고딕"/>
                          <a:ea typeface="맑은 고딕"/>
                        </a:rPr>
                        <a:t>LRU로</a:t>
                      </a:r>
                      <a:r>
                        <a:rPr sz="1050" b="0" dirty="0">
                          <a:solidFill>
                            <a:srgbClr val="000000"/>
                          </a:solidFill>
                          <a:latin typeface="맑은 고딕"/>
                          <a:ea typeface="맑은 고딕"/>
                        </a:rPr>
                        <a:t> DRAM, </a:t>
                      </a:r>
                      <a:r>
                        <a:rPr sz="1050" b="0" dirty="0" err="1">
                          <a:solidFill>
                            <a:srgbClr val="000000"/>
                          </a:solidFill>
                          <a:latin typeface="맑은 고딕"/>
                          <a:ea typeface="맑은 고딕"/>
                        </a:rPr>
                        <a:t>DRAM이</a:t>
                      </a:r>
                      <a:r>
                        <a:rPr sz="1050" b="0" dirty="0">
                          <a:solidFill>
                            <a:srgbClr val="000000"/>
                          </a:solidFill>
                          <a:latin typeface="맑은 고딕"/>
                          <a:ea typeface="맑은 고딕"/>
                        </a:rPr>
                        <a:t> </a:t>
                      </a:r>
                      <a:r>
                        <a:rPr sz="1050" b="0" dirty="0" err="1">
                          <a:solidFill>
                            <a:srgbClr val="000000"/>
                          </a:solidFill>
                          <a:latin typeface="맑은 고딕"/>
                          <a:ea typeface="맑은 고딕"/>
                        </a:rPr>
                        <a:t>차면</a:t>
                      </a:r>
                      <a:r>
                        <a:rPr sz="1050" b="0" dirty="0">
                          <a:solidFill>
                            <a:srgbClr val="000000"/>
                          </a:solidFill>
                          <a:latin typeface="맑은 고딕"/>
                          <a:ea typeface="맑은 고딕"/>
                        </a:rPr>
                        <a:t> </a:t>
                      </a:r>
                      <a:r>
                        <a:rPr sz="1050" b="0" dirty="0" err="1">
                          <a:solidFill>
                            <a:srgbClr val="000000"/>
                          </a:solidFill>
                          <a:latin typeface="맑은 고딕"/>
                          <a:ea typeface="맑은 고딕"/>
                        </a:rPr>
                        <a:t>SSD로</a:t>
                      </a:r>
                      <a:r>
                        <a:rPr sz="1050" b="0" dirty="0">
                          <a:solidFill>
                            <a:srgbClr val="000000"/>
                          </a:solidFill>
                          <a:latin typeface="맑은 고딕"/>
                          <a:ea typeface="맑은 고딕"/>
                        </a:rPr>
                        <a:t> </a:t>
                      </a:r>
                      <a:r>
                        <a:rPr sz="1050" b="0" dirty="0" err="1">
                          <a:solidFill>
                            <a:srgbClr val="000000"/>
                          </a:solidFill>
                          <a:latin typeface="맑은 고딕"/>
                          <a:ea typeface="맑은 고딕"/>
                        </a:rPr>
                        <a:t>이동</a:t>
                      </a:r>
                      <a:r>
                        <a:rPr sz="1050" b="0" dirty="0">
                          <a:solidFill>
                            <a:srgbClr val="000000"/>
                          </a:solidFill>
                          <a:latin typeface="맑은 고딕"/>
                          <a:ea typeface="맑은 고딕"/>
                        </a:rPr>
                        <a:t>(턴 </a:t>
                      </a:r>
                      <a:r>
                        <a:rPr sz="1050" b="0" dirty="0" err="1">
                          <a:solidFill>
                            <a:srgbClr val="000000"/>
                          </a:solidFill>
                          <a:latin typeface="맑은 고딕"/>
                          <a:ea typeface="맑은 고딕"/>
                        </a:rPr>
                        <a:t>종료</a:t>
                      </a:r>
                      <a:r>
                        <a:rPr sz="1050" b="0" dirty="0">
                          <a:solidFill>
                            <a:srgbClr val="000000"/>
                          </a:solidFill>
                          <a:latin typeface="맑은 고딕"/>
                          <a:ea typeface="맑은 고딕"/>
                        </a:rPr>
                        <a:t> 시 </a:t>
                      </a:r>
                      <a:r>
                        <a:rPr sz="1050" b="0" dirty="0" err="1">
                          <a:solidFill>
                            <a:srgbClr val="000000"/>
                          </a:solidFill>
                          <a:latin typeface="맑은 고딕"/>
                          <a:ea typeface="맑은 고딕"/>
                        </a:rPr>
                        <a:t>증분만</a:t>
                      </a:r>
                      <a:r>
                        <a:rPr sz="1050" b="0" dirty="0">
                          <a:solidFill>
                            <a:srgbClr val="000000"/>
                          </a:solidFill>
                          <a:latin typeface="맑은 고딕"/>
                          <a:ea typeface="맑은 고딕"/>
                        </a:rPr>
                        <a:t> </a:t>
                      </a:r>
                      <a:r>
                        <a:rPr sz="1050" b="0" dirty="0" err="1">
                          <a:solidFill>
                            <a:srgbClr val="000000"/>
                          </a:solidFill>
                          <a:latin typeface="맑은 고딕"/>
                          <a:ea typeface="맑은 고딕"/>
                        </a:rPr>
                        <a:t>기록하는</a:t>
                      </a:r>
                      <a:r>
                        <a:rPr sz="1050" b="0" dirty="0">
                          <a:solidFill>
                            <a:srgbClr val="000000"/>
                          </a:solidFill>
                          <a:latin typeface="맑은 고딕"/>
                          <a:ea typeface="맑은 고딕"/>
                        </a:rPr>
                        <a:t> write-through, </a:t>
                      </a:r>
                      <a:r>
                        <a:rPr sz="1050" b="0" dirty="0" err="1">
                          <a:solidFill>
                            <a:srgbClr val="000000"/>
                          </a:solidFill>
                          <a:latin typeface="맑은 고딕"/>
                          <a:ea typeface="맑은 고딕"/>
                        </a:rPr>
                        <a:t>축출은</a:t>
                      </a:r>
                      <a:r>
                        <a:rPr sz="1050" b="0" dirty="0">
                          <a:solidFill>
                            <a:srgbClr val="000000"/>
                          </a:solidFill>
                          <a:latin typeface="맑은 고딕"/>
                          <a:ea typeface="맑은 고딕"/>
                        </a:rPr>
                        <a:t> </a:t>
                      </a:r>
                      <a:r>
                        <a:rPr sz="1050" b="0" dirty="0" err="1">
                          <a:solidFill>
                            <a:srgbClr val="000000"/>
                          </a:solidFill>
                          <a:latin typeface="맑은 고딕"/>
                          <a:ea typeface="맑은 고딕"/>
                        </a:rPr>
                        <a:t>복사</a:t>
                      </a:r>
                      <a:r>
                        <a:rPr sz="1050" b="0" dirty="0">
                          <a:solidFill>
                            <a:srgbClr val="000000"/>
                          </a:solidFill>
                          <a:latin typeface="맑은 고딕"/>
                          <a:ea typeface="맑은 고딕"/>
                        </a:rPr>
                        <a:t> </a:t>
                      </a:r>
                      <a:r>
                        <a:rPr sz="1050" b="0" dirty="0" err="1">
                          <a:solidFill>
                            <a:srgbClr val="000000"/>
                          </a:solidFill>
                          <a:latin typeface="맑은 고딕"/>
                          <a:ea typeface="맑은 고딕"/>
                        </a:rPr>
                        <a:t>없이</a:t>
                      </a:r>
                      <a:r>
                        <a:rPr sz="1050" b="0" dirty="0">
                          <a:solidFill>
                            <a:srgbClr val="000000"/>
                          </a:solidFill>
                          <a:latin typeface="맑은 고딕"/>
                          <a:ea typeface="맑은 고딕"/>
                        </a:rPr>
                        <a:t> </a:t>
                      </a:r>
                      <a:r>
                        <a:rPr sz="1050" b="0" dirty="0" err="1">
                          <a:solidFill>
                            <a:srgbClr val="000000"/>
                          </a:solidFill>
                          <a:latin typeface="맑은 고딕"/>
                          <a:ea typeface="맑은 고딕"/>
                        </a:rPr>
                        <a:t>삭제</a:t>
                      </a:r>
                      <a:r>
                        <a:rPr sz="1050" b="0" dirty="0">
                          <a:solidFill>
                            <a:srgbClr val="000000"/>
                          </a:solidFill>
                          <a:latin typeface="맑은 고딕"/>
                          <a:ea typeface="맑은 고딕"/>
                        </a:rPr>
                        <a:t>). </a:t>
                      </a:r>
                      <a:r>
                        <a:rPr sz="1050" b="0" dirty="0" err="1">
                          <a:solidFill>
                            <a:srgbClr val="000000"/>
                          </a:solidFill>
                          <a:latin typeface="맑은 고딕"/>
                          <a:ea typeface="맑은 고딕"/>
                        </a:rPr>
                        <a:t>요청</a:t>
                      </a:r>
                      <a:r>
                        <a:rPr sz="1050" b="0" dirty="0">
                          <a:solidFill>
                            <a:srgbClr val="000000"/>
                          </a:solidFill>
                          <a:latin typeface="맑은 고딕"/>
                          <a:ea typeface="맑은 고딕"/>
                        </a:rPr>
                        <a:t> 시 </a:t>
                      </a:r>
                      <a:r>
                        <a:rPr sz="1050" b="0" dirty="0" err="1">
                          <a:solidFill>
                            <a:srgbClr val="000000"/>
                          </a:solidFill>
                          <a:latin typeface="맑은 고딕"/>
                          <a:ea typeface="맑은 고딕"/>
                        </a:rPr>
                        <a:t>동기</a:t>
                      </a:r>
                      <a:r>
                        <a:rPr sz="1050" b="0" dirty="0">
                          <a:solidFill>
                            <a:srgbClr val="000000"/>
                          </a:solidFill>
                          <a:latin typeface="맑은 고딕"/>
                          <a:ea typeface="맑은 고딕"/>
                        </a:rPr>
                        <a:t> </a:t>
                      </a:r>
                      <a:r>
                        <a:rPr sz="1050" b="0" dirty="0" err="1">
                          <a:solidFill>
                            <a:srgbClr val="000000"/>
                          </a:solidFill>
                          <a:latin typeface="맑은 고딕"/>
                          <a:ea typeface="맑은 고딕"/>
                        </a:rPr>
                        <a:t>복원</a:t>
                      </a:r>
                      <a:r>
                        <a:rPr sz="1050" b="0" dirty="0">
                          <a:solidFill>
                            <a:srgbClr val="000000"/>
                          </a:solidFill>
                          <a:latin typeface="맑은 고딕"/>
                          <a:ea typeface="맑은 고딕"/>
                        </a:rPr>
                        <a:t>, </a:t>
                      </a:r>
                      <a:r>
                        <a:rPr sz="1050" b="0" dirty="0" err="1">
                          <a:solidFill>
                            <a:srgbClr val="000000"/>
                          </a:solidFill>
                          <a:latin typeface="맑은 고딕"/>
                          <a:ea typeface="맑은 고딕"/>
                        </a:rPr>
                        <a:t>prefetch·예측·배치</a:t>
                      </a:r>
                      <a:r>
                        <a:rPr sz="1050" b="0" dirty="0">
                          <a:solidFill>
                            <a:srgbClr val="000000"/>
                          </a:solidFill>
                          <a:latin typeface="맑은 고딕"/>
                          <a:ea typeface="맑은 고딕"/>
                        </a:rPr>
                        <a:t> </a:t>
                      </a:r>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없음</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lnSpc>
                          <a:spcPct val="125000"/>
                        </a:lnSpc>
                      </a:pPr>
                      <a:r>
                        <a:rPr sz="1050" b="0" dirty="0" err="1">
                          <a:solidFill>
                            <a:srgbClr val="000000"/>
                          </a:solidFill>
                          <a:latin typeface="맑은 고딕"/>
                          <a:ea typeface="맑은 고딕"/>
                        </a:rPr>
                        <a:t>LMCache류</a:t>
                      </a:r>
                      <a:r>
                        <a:rPr sz="1050" b="0" dirty="0">
                          <a:solidFill>
                            <a:srgbClr val="000000"/>
                          </a:solidFill>
                          <a:latin typeface="맑은 고딕"/>
                          <a:ea typeface="맑은 고딕"/>
                        </a:rPr>
                        <a:t> CPU </a:t>
                      </a:r>
                      <a:r>
                        <a:rPr sz="1050" b="0" dirty="0" err="1">
                          <a:solidFill>
                            <a:srgbClr val="000000"/>
                          </a:solidFill>
                          <a:latin typeface="맑은 고딕"/>
                          <a:ea typeface="맑은 고딕"/>
                        </a:rPr>
                        <a:t>offload를</a:t>
                      </a:r>
                      <a:r>
                        <a:rPr sz="1050" b="0" dirty="0">
                          <a:solidFill>
                            <a:srgbClr val="000000"/>
                          </a:solidFill>
                          <a:latin typeface="맑은 고딕"/>
                          <a:ea typeface="맑은 고딕"/>
                        </a:rPr>
                        <a:t> SSD </a:t>
                      </a:r>
                      <a:r>
                        <a:rPr sz="1050" b="0" dirty="0" err="1">
                          <a:solidFill>
                            <a:srgbClr val="000000"/>
                          </a:solidFill>
                          <a:latin typeface="맑은 고딕"/>
                          <a:ea typeface="맑은 고딕"/>
                        </a:rPr>
                        <a:t>계층까지</a:t>
                      </a:r>
                      <a:r>
                        <a:rPr sz="1050" b="0" dirty="0">
                          <a:solidFill>
                            <a:srgbClr val="000000"/>
                          </a:solidFill>
                          <a:latin typeface="맑은 고딕"/>
                          <a:ea typeface="맑은 고딕"/>
                        </a:rPr>
                        <a:t> </a:t>
                      </a:r>
                      <a:r>
                        <a:rPr sz="1050" b="0" dirty="0" err="1">
                          <a:solidFill>
                            <a:srgbClr val="000000"/>
                          </a:solidFill>
                          <a:latin typeface="맑은 고딕"/>
                          <a:ea typeface="맑은 고딕"/>
                        </a:rPr>
                        <a:t>확장한</a:t>
                      </a:r>
                      <a:r>
                        <a:rPr sz="1050" b="0" dirty="0">
                          <a:solidFill>
                            <a:srgbClr val="000000"/>
                          </a:solidFill>
                          <a:latin typeface="맑은 고딕"/>
                          <a:ea typeface="맑은 고딕"/>
                        </a:rPr>
                        <a:t> </a:t>
                      </a:r>
                      <a:r>
                        <a:rPr sz="1050" b="0" dirty="0" err="1">
                          <a:solidFill>
                            <a:srgbClr val="000000"/>
                          </a:solidFill>
                          <a:latin typeface="맑은 고딕"/>
                          <a:ea typeface="맑은 고딕"/>
                        </a:rPr>
                        <a:t>정의</a:t>
                      </a:r>
                      <a:r>
                        <a:rPr sz="1050" b="0" dirty="0">
                          <a:solidFill>
                            <a:srgbClr val="000000"/>
                          </a:solidFill>
                          <a:latin typeface="맑은 고딕"/>
                          <a:ea typeface="맑은 고딕"/>
                        </a:rPr>
                        <a:t>. </a:t>
                      </a:r>
                      <a:r>
                        <a:rPr lang="ko-KR" altLang="en-US" sz="1050" b="0" dirty="0" err="1">
                          <a:solidFill>
                            <a:srgbClr val="000000"/>
                          </a:solidFill>
                          <a:latin typeface="맑은 고딕"/>
                          <a:ea typeface="맑은 고딕"/>
                        </a:rPr>
                        <a:t>실측값이</a:t>
                      </a:r>
                      <a:r>
                        <a:rPr lang="ko-KR" altLang="en-US" sz="1050" b="0" dirty="0">
                          <a:solidFill>
                            <a:srgbClr val="000000"/>
                          </a:solidFill>
                          <a:latin typeface="맑은 고딕"/>
                          <a:ea typeface="맑은 고딕"/>
                        </a:rPr>
                        <a:t> 없으면 </a:t>
                      </a:r>
                      <a:r>
                        <a:rPr lang="ko-KR" altLang="en-US" sz="1050" b="0" dirty="0" err="1">
                          <a:solidFill>
                            <a:srgbClr val="000000"/>
                          </a:solidFill>
                          <a:latin typeface="맑은 고딕"/>
                          <a:ea typeface="맑은 고딕"/>
                        </a:rPr>
                        <a:t>이론값</a:t>
                      </a:r>
                      <a:r>
                        <a:rPr lang="ko-KR" altLang="en-US" sz="1050" b="0" dirty="0">
                          <a:solidFill>
                            <a:srgbClr val="000000"/>
                          </a:solidFill>
                          <a:latin typeface="맑은 고딕"/>
                          <a:ea typeface="맑은 고딕"/>
                        </a:rPr>
                        <a:t> </a:t>
                      </a:r>
                      <a:r>
                        <a:rPr lang="en-US" altLang="ko-KR" sz="1050" b="0" dirty="0">
                          <a:solidFill>
                            <a:srgbClr val="000000"/>
                          </a:solidFill>
                          <a:latin typeface="맑은 고딕"/>
                          <a:ea typeface="맑은 고딕"/>
                        </a:rPr>
                        <a:t>B1 = B0</a:t>
                      </a:r>
                      <a:r>
                        <a:rPr lang="ko-KR" altLang="en-US" sz="1050" b="0" dirty="0">
                          <a:solidFill>
                            <a:srgbClr val="000000"/>
                          </a:solidFill>
                          <a:latin typeface="맑은 고딕"/>
                          <a:ea typeface="맑은 고딕"/>
                        </a:rPr>
                        <a:t>의 </a:t>
                      </a:r>
                      <a:r>
                        <a:rPr lang="en-US" altLang="ko-KR" sz="1050" b="0" dirty="0">
                          <a:solidFill>
                            <a:srgbClr val="000000"/>
                          </a:solidFill>
                          <a:latin typeface="맑은 고딕"/>
                          <a:ea typeface="맑은 고딕"/>
                        </a:rPr>
                        <a:t>×2.35: </a:t>
                      </a:r>
                      <a:r>
                        <a:rPr lang="en-US" altLang="ko-KR" sz="1050" b="0" dirty="0" err="1">
                          <a:solidFill>
                            <a:srgbClr val="000000"/>
                          </a:solidFill>
                          <a:latin typeface="맑은 고딕"/>
                          <a:ea typeface="맑은 고딕"/>
                        </a:rPr>
                        <a:t>LMCache</a:t>
                      </a:r>
                      <a:r>
                        <a:rPr lang="ko-KR" altLang="en-US" sz="1050" b="0" dirty="0">
                          <a:solidFill>
                            <a:srgbClr val="000000"/>
                          </a:solidFill>
                          <a:latin typeface="맑은 고딕"/>
                          <a:ea typeface="맑은 고딕"/>
                        </a:rPr>
                        <a:t> 단일 노드 하한</a:t>
                      </a:r>
                      <a:r>
                        <a:rPr lang="en-US" altLang="ko-KR" sz="1050" b="0" dirty="0">
                          <a:solidFill>
                            <a:srgbClr val="000000"/>
                          </a:solidFill>
                          <a:latin typeface="맑은 고딕"/>
                          <a:ea typeface="맑은 고딕"/>
                        </a:rPr>
                        <a:t>(2.3x)</a:t>
                      </a:r>
                      <a:r>
                        <a:rPr lang="ko-KR" altLang="en-US" sz="1050" b="0" dirty="0">
                          <a:solidFill>
                            <a:srgbClr val="000000"/>
                          </a:solidFill>
                          <a:latin typeface="맑은 고딕"/>
                          <a:ea typeface="맑은 고딕"/>
                        </a:rPr>
                        <a:t>과 같은 수준</a:t>
                      </a:r>
                      <a:r>
                        <a:rPr lang="en-US" altLang="ko-KR" sz="1050" b="0" dirty="0">
                          <a:solidFill>
                            <a:srgbClr val="000000"/>
                          </a:solidFill>
                          <a:latin typeface="맑은 고딕"/>
                          <a:ea typeface="맑은 고딕"/>
                        </a:rPr>
                        <a:t>.</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7"/>
                  </a:ext>
                </a:extLst>
              </a:tr>
            </a:tbl>
          </a:graphicData>
        </a:graphic>
      </p:graphicFrame>
      <p:grpSp>
        <p:nvGrpSpPr>
          <p:cNvPr id="9" name="그룹 8">
            <a:extLst>
              <a:ext uri="{FF2B5EF4-FFF2-40B4-BE49-F238E27FC236}">
                <a16:creationId xmlns:a16="http://schemas.microsoft.com/office/drawing/2014/main" id="{72F1EC01-020A-454C-9CB5-6636BDBD8316}"/>
              </a:ext>
            </a:extLst>
          </p:cNvPr>
          <p:cNvGrpSpPr/>
          <p:nvPr/>
        </p:nvGrpSpPr>
        <p:grpSpPr>
          <a:xfrm>
            <a:off x="6771322" y="67900"/>
            <a:ext cx="1448753" cy="287039"/>
            <a:chOff x="6771322" y="67900"/>
            <a:chExt cx="1448753" cy="287039"/>
          </a:xfrm>
        </p:grpSpPr>
        <p:sp>
          <p:nvSpPr>
            <p:cNvPr id="5" name="실행 단추: 앞으로 또는 다음으로 이동 4">
              <a:hlinkClick r:id="rId3" action="ppaction://hlinksldjump" highlightClick="1"/>
              <a:extLst>
                <a:ext uri="{FF2B5EF4-FFF2-40B4-BE49-F238E27FC236}">
                  <a16:creationId xmlns:a16="http://schemas.microsoft.com/office/drawing/2014/main" id="{D3FB14B2-205E-43B9-BCAB-0FE125C0FEE4}"/>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a:extLst>
                <a:ext uri="{FF2B5EF4-FFF2-40B4-BE49-F238E27FC236}">
                  <a16:creationId xmlns:a16="http://schemas.microsoft.com/office/drawing/2014/main" id="{0AA2AD34-346A-4810-9E85-4FC662A7A0D4}"/>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DP1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grpSp>
        <p:nvGrpSpPr>
          <p:cNvPr id="10" name="그룹 9">
            <a:extLst>
              <a:ext uri="{FF2B5EF4-FFF2-40B4-BE49-F238E27FC236}">
                <a16:creationId xmlns:a16="http://schemas.microsoft.com/office/drawing/2014/main" id="{352AD3D1-BBAC-4C43-A3C6-9F55782E77DA}"/>
              </a:ext>
            </a:extLst>
          </p:cNvPr>
          <p:cNvGrpSpPr/>
          <p:nvPr/>
        </p:nvGrpSpPr>
        <p:grpSpPr>
          <a:xfrm>
            <a:off x="6771322" y="389617"/>
            <a:ext cx="1448753" cy="287039"/>
            <a:chOff x="6771322" y="67900"/>
            <a:chExt cx="1448753" cy="287039"/>
          </a:xfrm>
        </p:grpSpPr>
        <p:sp>
          <p:nvSpPr>
            <p:cNvPr id="11" name="실행 단추: 앞으로 또는 다음으로 이동 10">
              <a:hlinkClick r:id="rId4" action="ppaction://hlinksldjump" highlightClick="1"/>
              <a:extLst>
                <a:ext uri="{FF2B5EF4-FFF2-40B4-BE49-F238E27FC236}">
                  <a16:creationId xmlns:a16="http://schemas.microsoft.com/office/drawing/2014/main" id="{EB3540B4-61C5-4668-8447-AC0091A5DD71}"/>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89303DC0-6788-43EE-9034-C3CBAD758BB5}"/>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DP2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grpSp>
        <p:nvGrpSpPr>
          <p:cNvPr id="13" name="그룹 12">
            <a:extLst>
              <a:ext uri="{FF2B5EF4-FFF2-40B4-BE49-F238E27FC236}">
                <a16:creationId xmlns:a16="http://schemas.microsoft.com/office/drawing/2014/main" id="{B04843D4-8DF8-407F-910E-E16B025A1C40}"/>
              </a:ext>
            </a:extLst>
          </p:cNvPr>
          <p:cNvGrpSpPr/>
          <p:nvPr/>
        </p:nvGrpSpPr>
        <p:grpSpPr>
          <a:xfrm>
            <a:off x="8352472" y="67900"/>
            <a:ext cx="1448753" cy="287039"/>
            <a:chOff x="6771322" y="67900"/>
            <a:chExt cx="1448753" cy="287039"/>
          </a:xfrm>
        </p:grpSpPr>
        <p:sp>
          <p:nvSpPr>
            <p:cNvPr id="14" name="실행 단추: 앞으로 또는 다음으로 이동 13">
              <a:hlinkClick r:id="rId5" action="ppaction://hlinksldjump" highlightClick="1"/>
              <a:extLst>
                <a:ext uri="{FF2B5EF4-FFF2-40B4-BE49-F238E27FC236}">
                  <a16:creationId xmlns:a16="http://schemas.microsoft.com/office/drawing/2014/main" id="{D9FCE326-8BBC-46F7-8A0E-C5DE337DCFD6}"/>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5" name="TextBox 14">
              <a:extLst>
                <a:ext uri="{FF2B5EF4-FFF2-40B4-BE49-F238E27FC236}">
                  <a16:creationId xmlns:a16="http://schemas.microsoft.com/office/drawing/2014/main" id="{EB870B3A-D910-4904-9786-F4D72E3F4C8E}"/>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DP3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grpSp>
        <p:nvGrpSpPr>
          <p:cNvPr id="16" name="그룹 15">
            <a:extLst>
              <a:ext uri="{FF2B5EF4-FFF2-40B4-BE49-F238E27FC236}">
                <a16:creationId xmlns:a16="http://schemas.microsoft.com/office/drawing/2014/main" id="{88D96BF0-E556-44DF-8A61-ABE2C7C491C6}"/>
              </a:ext>
            </a:extLst>
          </p:cNvPr>
          <p:cNvGrpSpPr/>
          <p:nvPr/>
        </p:nvGrpSpPr>
        <p:grpSpPr>
          <a:xfrm>
            <a:off x="8352472" y="401754"/>
            <a:ext cx="1448753" cy="287039"/>
            <a:chOff x="6771322" y="67900"/>
            <a:chExt cx="1448753" cy="287039"/>
          </a:xfrm>
        </p:grpSpPr>
        <p:sp>
          <p:nvSpPr>
            <p:cNvPr id="17" name="실행 단추: 앞으로 또는 다음으로 이동 16">
              <a:hlinkClick r:id="rId6" action="ppaction://hlinksldjump" highlightClick="1"/>
              <a:extLst>
                <a:ext uri="{FF2B5EF4-FFF2-40B4-BE49-F238E27FC236}">
                  <a16:creationId xmlns:a16="http://schemas.microsoft.com/office/drawing/2014/main" id="{05482DF2-950D-464C-B296-E6ADCED74A21}"/>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a16="http://schemas.microsoft.com/office/drawing/2014/main" id="{840A3075-3E7D-4856-A852-F023D12025A6}"/>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DP4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시나리오</a:t>
            </a:r>
            <a:r>
              <a:rPr sz="2200" b="1" dirty="0">
                <a:solidFill>
                  <a:srgbClr val="2F5597"/>
                </a:solidFill>
                <a:latin typeface="맑은 고딕"/>
                <a:ea typeface="맑은 고딕"/>
              </a:rPr>
              <a:t> </a:t>
            </a:r>
            <a:r>
              <a:rPr lang="en-US" altLang="ko-KR" sz="2200" b="1" dirty="0">
                <a:solidFill>
                  <a:srgbClr val="2F5597"/>
                </a:solidFill>
                <a:latin typeface="맑은 고딕"/>
                <a:ea typeface="맑은 고딕"/>
              </a:rPr>
              <a:t>–</a:t>
            </a:r>
            <a:r>
              <a:rPr sz="2200" b="1" dirty="0">
                <a:solidFill>
                  <a:srgbClr val="2F5597"/>
                </a:solidFill>
                <a:latin typeface="맑은 고딕"/>
                <a:ea typeface="맑은 고딕"/>
              </a:rPr>
              <a:t> </a:t>
            </a:r>
            <a:r>
              <a:rPr lang="en-US" sz="2200" b="1" dirty="0">
                <a:solidFill>
                  <a:srgbClr val="2F5597"/>
                </a:solidFill>
                <a:latin typeface="맑은 고딕"/>
                <a:ea typeface="맑은 고딕"/>
              </a:rPr>
              <a:t>DP</a:t>
            </a:r>
            <a:r>
              <a:rPr lang="ko-KR" altLang="en-US" sz="2200" b="1" dirty="0">
                <a:solidFill>
                  <a:srgbClr val="2F5597"/>
                </a:solidFill>
                <a:latin typeface="맑은 고딕"/>
                <a:ea typeface="맑은 고딕"/>
              </a:rPr>
              <a:t>별 특화 </a:t>
            </a:r>
            <a:r>
              <a:rPr sz="2200" b="1" dirty="0" err="1">
                <a:solidFill>
                  <a:srgbClr val="2F5597"/>
                </a:solidFill>
                <a:latin typeface="맑은 고딕"/>
                <a:ea typeface="맑은 고딕"/>
              </a:rPr>
              <a:t>구간</a:t>
            </a:r>
            <a:r>
              <a:rPr sz="2200" b="1" dirty="0">
                <a:solidFill>
                  <a:srgbClr val="2F5597"/>
                </a:solidFill>
                <a:latin typeface="맑은 고딕"/>
                <a:ea typeface="맑은 고딕"/>
              </a:rPr>
              <a:t>(Phase)</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한 시나리오 안에서 DP별 메커니즘이 작동하는 구간을 나누고, QA별 측정 규칙을 정한다</a:t>
            </a:r>
            <a:endParaRPr lang="en-US" altLang="ko-KR" sz="1100" b="0" dirty="0">
              <a:latin typeface="맑은 고딕"/>
              <a:ea typeface="맑은 고딕"/>
            </a:endParaRPr>
          </a:p>
        </p:txBody>
      </p:sp>
      <p:graphicFrame>
        <p:nvGraphicFramePr>
          <p:cNvPr id="7" name="tbl"/>
          <p:cNvGraphicFramePr>
            <a:graphicFrameLocks noGrp="1"/>
          </p:cNvGraphicFramePr>
          <p:nvPr/>
        </p:nvGraphicFramePr>
        <p:xfrm>
          <a:off x="365760" y="1097280"/>
          <a:ext cx="11457432" cy="3072384"/>
        </p:xfrm>
        <a:graphic>
          <a:graphicData uri="http://schemas.openxmlformats.org/drawingml/2006/table">
            <a:tbl>
              <a:tblPr>
                <a:tableStyleId>{2D5ABB26-0587-4C30-8999-92F81FD0307C}</a:tableStyleId>
              </a:tblPr>
              <a:tblGrid>
                <a:gridCol w="14630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tblGrid>
              <a:tr h="237744">
                <a:tc>
                  <a:txBody>
                    <a:bodyPr/>
                    <a:lstStyle/>
                    <a:p>
                      <a:pPr algn="ctr"/>
                      <a:r>
                        <a:rPr sz="1050" b="1">
                          <a:solidFill>
                            <a:srgbClr val="FFFFFF"/>
                          </a:solidFill>
                          <a:latin typeface="맑은 고딕"/>
                          <a:ea typeface="맑은 고딕"/>
                        </a:rPr>
                        <a:t>Phase</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a:solidFill>
                            <a:srgbClr val="FFFFFF"/>
                          </a:solidFill>
                          <a:latin typeface="맑은 고딕"/>
                          <a:ea typeface="맑은 고딕"/>
                        </a:rPr>
                        <a:t>구간 내용</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a:solidFill>
                            <a:srgbClr val="FFFFFF"/>
                          </a:solidFill>
                          <a:latin typeface="맑은 고딕"/>
                          <a:ea typeface="맑은 고딕"/>
                        </a:rPr>
                        <a:t>겨냥하는 DP 메커니즘</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a:solidFill>
                            <a:srgbClr val="FFFFFF"/>
                          </a:solidFill>
                          <a:latin typeface="맑은 고딕"/>
                          <a:ea typeface="맑은 고딕"/>
                        </a:rPr>
                        <a:t>측정 QA</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566928">
                <a:tc>
                  <a:txBody>
                    <a:bodyPr/>
                    <a:lstStyle/>
                    <a:p>
                      <a:pPr algn="l"/>
                      <a:r>
                        <a:rPr sz="1050" b="0" dirty="0">
                          <a:solidFill>
                            <a:srgbClr val="000000"/>
                          </a:solidFill>
                          <a:latin typeface="맑은 고딕"/>
                          <a:ea typeface="맑은 고딕"/>
                        </a:rPr>
                        <a:t>P1 </a:t>
                      </a:r>
                      <a:r>
                        <a:rPr sz="1050" b="0" dirty="0" err="1">
                          <a:solidFill>
                            <a:srgbClr val="000000"/>
                          </a:solidFill>
                          <a:latin typeface="맑은 고딕"/>
                          <a:ea typeface="맑은 고딕"/>
                        </a:rPr>
                        <a:t>정상</a:t>
                      </a:r>
                      <a:r>
                        <a:rPr sz="1050" b="0" dirty="0">
                          <a:solidFill>
                            <a:srgbClr val="000000"/>
                          </a:solidFill>
                          <a:latin typeface="맑은 고딕"/>
                          <a:ea typeface="맑은 고딕"/>
                        </a:rPr>
                        <a:t> multi-turn
(0~10분)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50" b="0" dirty="0">
                          <a:solidFill>
                            <a:srgbClr val="000000"/>
                          </a:solidFill>
                          <a:latin typeface="맑은 고딕"/>
                          <a:ea typeface="맑은 고딕"/>
                        </a:rPr>
                        <a:t>A</a:t>
                      </a:r>
                      <a:r>
                        <a:rPr sz="1050" b="0" dirty="0">
                          <a:solidFill>
                            <a:srgbClr val="000000"/>
                          </a:solidFill>
                          <a:latin typeface="맑은 고딕"/>
                          <a:ea typeface="맑은 고딕"/>
                        </a:rPr>
                        <a:t>gent </a:t>
                      </a:r>
                      <a:r>
                        <a:rPr sz="1050" b="0" dirty="0" err="1">
                          <a:solidFill>
                            <a:srgbClr val="000000"/>
                          </a:solidFill>
                          <a:latin typeface="맑은 고딕"/>
                          <a:ea typeface="맑은 고딕"/>
                        </a:rPr>
                        <a:t>세션이</a:t>
                      </a:r>
                      <a:r>
                        <a:rPr sz="1050" b="0" dirty="0">
                          <a:solidFill>
                            <a:srgbClr val="000000"/>
                          </a:solidFill>
                          <a:latin typeface="맑은 고딕"/>
                          <a:ea typeface="맑은 고딕"/>
                        </a:rPr>
                        <a:t> </a:t>
                      </a:r>
                      <a:r>
                        <a:rPr sz="1050" b="0" dirty="0" err="1">
                          <a:solidFill>
                            <a:srgbClr val="000000"/>
                          </a:solidFill>
                          <a:latin typeface="맑은 고딕"/>
                          <a:ea typeface="맑은 고딕"/>
                        </a:rPr>
                        <a:t>idle을</a:t>
                      </a:r>
                      <a:r>
                        <a:rPr sz="1050" b="0" dirty="0">
                          <a:solidFill>
                            <a:srgbClr val="000000"/>
                          </a:solidFill>
                          <a:latin typeface="맑은 고딕"/>
                          <a:ea typeface="맑은 고딕"/>
                        </a:rPr>
                        <a:t> </a:t>
                      </a:r>
                      <a:r>
                        <a:rPr sz="1050" b="0" dirty="0" err="1">
                          <a:solidFill>
                            <a:srgbClr val="000000"/>
                          </a:solidFill>
                          <a:latin typeface="맑은 고딕"/>
                          <a:ea typeface="맑은 고딕"/>
                        </a:rPr>
                        <a:t>두고</a:t>
                      </a:r>
                      <a:r>
                        <a:rPr sz="1050" b="0" dirty="0">
                          <a:solidFill>
                            <a:srgbClr val="000000"/>
                          </a:solidFill>
                          <a:latin typeface="맑은 고딕"/>
                          <a:ea typeface="맑은 고딕"/>
                        </a:rPr>
                        <a:t> </a:t>
                      </a:r>
                      <a:r>
                        <a:rPr sz="1050" b="0" dirty="0" err="1">
                          <a:solidFill>
                            <a:srgbClr val="000000"/>
                          </a:solidFill>
                          <a:latin typeface="맑은 고딕"/>
                          <a:ea typeface="맑은 고딕"/>
                        </a:rPr>
                        <a:t>턴을</a:t>
                      </a:r>
                      <a:r>
                        <a:rPr sz="1050" b="0" dirty="0">
                          <a:solidFill>
                            <a:srgbClr val="000000"/>
                          </a:solidFill>
                          <a:latin typeface="맑은 고딕"/>
                          <a:ea typeface="맑은 고딕"/>
                        </a:rPr>
                        <a:t> </a:t>
                      </a:r>
                      <a:r>
                        <a:rPr sz="1050" b="0" dirty="0" err="1">
                          <a:solidFill>
                            <a:srgbClr val="000000"/>
                          </a:solidFill>
                          <a:latin typeface="맑은 고딕"/>
                          <a:ea typeface="맑은 고딕"/>
                        </a:rPr>
                        <a:t>이어</a:t>
                      </a:r>
                      <a:r>
                        <a:rPr sz="1050" b="0" dirty="0">
                          <a:solidFill>
                            <a:srgbClr val="000000"/>
                          </a:solidFill>
                          <a:latin typeface="맑은 고딕"/>
                          <a:ea typeface="맑은 고딕"/>
                        </a:rPr>
                        <a:t> 감. </a:t>
                      </a:r>
                      <a:endParaRPr lang="en-US" sz="1050" b="0" dirty="0">
                        <a:solidFill>
                          <a:srgbClr val="000000"/>
                        </a:solidFill>
                        <a:latin typeface="맑은 고딕"/>
                        <a:ea typeface="맑은 고딕"/>
                      </a:endParaRPr>
                    </a:p>
                    <a:p>
                      <a:pPr algn="l"/>
                      <a:r>
                        <a:rPr sz="1050" b="0" dirty="0" err="1">
                          <a:solidFill>
                            <a:srgbClr val="000000"/>
                          </a:solidFill>
                          <a:latin typeface="맑은 고딕"/>
                          <a:ea typeface="맑은 고딕"/>
                        </a:rPr>
                        <a:t>유휴</a:t>
                      </a:r>
                      <a:r>
                        <a:rPr sz="1050" b="0" dirty="0">
                          <a:solidFill>
                            <a:srgbClr val="000000"/>
                          </a:solidFill>
                          <a:latin typeface="맑은 고딕"/>
                          <a:ea typeface="맑은 고딕"/>
                        </a:rPr>
                        <a:t> </a:t>
                      </a:r>
                      <a:r>
                        <a:rPr sz="1050" b="0" dirty="0" err="1">
                          <a:solidFill>
                            <a:srgbClr val="000000"/>
                          </a:solidFill>
                          <a:latin typeface="맑은 고딕"/>
                          <a:ea typeface="맑은 고딕"/>
                        </a:rPr>
                        <a:t>KV가</a:t>
                      </a:r>
                      <a:r>
                        <a:rPr sz="1050" b="0" dirty="0">
                          <a:solidFill>
                            <a:srgbClr val="000000"/>
                          </a:solidFill>
                          <a:latin typeface="맑은 고딕"/>
                          <a:ea typeface="맑은 고딕"/>
                        </a:rPr>
                        <a:t> </a:t>
                      </a:r>
                      <a:r>
                        <a:rPr sz="1050" b="0" dirty="0" err="1">
                          <a:solidFill>
                            <a:srgbClr val="000000"/>
                          </a:solidFill>
                          <a:latin typeface="맑은 고딕"/>
                          <a:ea typeface="맑은 고딕"/>
                        </a:rPr>
                        <a:t>HBM을</a:t>
                      </a:r>
                      <a:r>
                        <a:rPr sz="1050" b="0" dirty="0">
                          <a:solidFill>
                            <a:srgbClr val="000000"/>
                          </a:solidFill>
                          <a:latin typeface="맑은 고딕"/>
                          <a:ea typeface="맑은 고딕"/>
                        </a:rPr>
                        <a:t> </a:t>
                      </a:r>
                      <a:r>
                        <a:rPr sz="1050" b="0" dirty="0" err="1">
                          <a:solidFill>
                            <a:srgbClr val="000000"/>
                          </a:solidFill>
                          <a:latin typeface="맑은 고딕"/>
                          <a:ea typeface="맑은 고딕"/>
                        </a:rPr>
                        <a:t>점유</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a:solidFill>
                            <a:srgbClr val="000000"/>
                          </a:solidFill>
                          <a:latin typeface="맑은 고딕"/>
                          <a:ea typeface="맑은 고딕"/>
                        </a:rPr>
                        <a:t>DP1: </a:t>
                      </a:r>
                      <a:r>
                        <a:rPr sz="1050" b="0" dirty="0" err="1">
                          <a:solidFill>
                            <a:srgbClr val="000000"/>
                          </a:solidFill>
                          <a:latin typeface="맑은 고딕"/>
                          <a:ea typeface="맑은 고딕"/>
                        </a:rPr>
                        <a:t>유휴</a:t>
                      </a:r>
                      <a:r>
                        <a:rPr sz="1050" b="0" dirty="0">
                          <a:solidFill>
                            <a:srgbClr val="000000"/>
                          </a:solidFill>
                          <a:latin typeface="맑은 고딕"/>
                          <a:ea typeface="맑은 고딕"/>
                        </a:rPr>
                        <a:t> KV </a:t>
                      </a:r>
                      <a:r>
                        <a:rPr sz="1050" b="0" dirty="0" err="1">
                          <a:solidFill>
                            <a:srgbClr val="000000"/>
                          </a:solidFill>
                          <a:latin typeface="맑은 고딕"/>
                          <a:ea typeface="맑은 고딕"/>
                        </a:rPr>
                        <a:t>하위</a:t>
                      </a:r>
                      <a:r>
                        <a:rPr sz="1050" b="0" dirty="0">
                          <a:solidFill>
                            <a:srgbClr val="000000"/>
                          </a:solidFill>
                          <a:latin typeface="맑은 고딕"/>
                          <a:ea typeface="맑은 고딕"/>
                        </a:rPr>
                        <a:t> tier </a:t>
                      </a:r>
                      <a:r>
                        <a:rPr sz="1050" b="0" dirty="0" err="1">
                          <a:solidFill>
                            <a:srgbClr val="000000"/>
                          </a:solidFill>
                          <a:latin typeface="맑은 고딕"/>
                          <a:ea typeface="맑은 고딕"/>
                        </a:rPr>
                        <a:t>이동</a:t>
                      </a:r>
                      <a:r>
                        <a:rPr sz="1050" b="0" dirty="0">
                          <a:solidFill>
                            <a:srgbClr val="000000"/>
                          </a:solidFill>
                          <a:latin typeface="맑은 고딕"/>
                          <a:ea typeface="맑은 고딕"/>
                        </a:rPr>
                        <a:t>(demote)과 </a:t>
                      </a:r>
                      <a:r>
                        <a:rPr sz="1050" b="0" dirty="0" err="1">
                          <a:solidFill>
                            <a:srgbClr val="000000"/>
                          </a:solidFill>
                          <a:latin typeface="맑은 고딕"/>
                          <a:ea typeface="맑은 고딕"/>
                        </a:rPr>
                        <a:t>재개</a:t>
                      </a:r>
                      <a:r>
                        <a:rPr sz="1050" b="0" dirty="0">
                          <a:solidFill>
                            <a:srgbClr val="000000"/>
                          </a:solidFill>
                          <a:latin typeface="맑은 고딕"/>
                          <a:ea typeface="맑은 고딕"/>
                        </a:rPr>
                        <a:t> 시 </a:t>
                      </a:r>
                      <a:r>
                        <a:rPr sz="1050" b="0" dirty="0" err="1">
                          <a:solidFill>
                            <a:srgbClr val="000000"/>
                          </a:solidFill>
                          <a:latin typeface="맑은 고딕"/>
                          <a:ea typeface="맑은 고딕"/>
                        </a:rPr>
                        <a:t>승격</a:t>
                      </a:r>
                      <a:r>
                        <a:rPr lang="en-US" sz="1050" b="0" dirty="0">
                          <a:solidFill>
                            <a:srgbClr val="000000"/>
                          </a:solidFill>
                          <a:latin typeface="맑은 고딕"/>
                          <a:ea typeface="맑은 고딕"/>
                        </a:rPr>
                        <a:t> </a:t>
                      </a:r>
                      <a:r>
                        <a:rPr lang="ko-KR" altLang="en-US" sz="1050" b="0" dirty="0">
                          <a:solidFill>
                            <a:srgbClr val="000000"/>
                          </a:solidFill>
                          <a:latin typeface="맑은 고딕"/>
                          <a:ea typeface="맑은 고딕"/>
                        </a:rPr>
                        <a:t>및 </a:t>
                      </a:r>
                      <a:r>
                        <a:rPr sz="1050" b="0" dirty="0">
                          <a:solidFill>
                            <a:srgbClr val="000000"/>
                          </a:solidFill>
                          <a:latin typeface="맑은 고딕"/>
                          <a:ea typeface="맑은 고딕"/>
                        </a:rPr>
                        <a:t>prefetch</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50" b="0">
                          <a:solidFill>
                            <a:srgbClr val="000000"/>
                          </a:solidFill>
                          <a:latin typeface="맑은 고딕"/>
                          <a:ea typeface="맑은 고딕"/>
                        </a:rPr>
                        <a:t>Q1, Q2, Q3, Q5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566928">
                <a:tc>
                  <a:txBody>
                    <a:bodyPr/>
                    <a:lstStyle/>
                    <a:p>
                      <a:pPr algn="l"/>
                      <a:r>
                        <a:rPr sz="1050" b="0">
                          <a:solidFill>
                            <a:srgbClr val="000000"/>
                          </a:solidFill>
                          <a:latin typeface="맑은 고딕"/>
                          <a:ea typeface="맑은 고딕"/>
                        </a:rPr>
                        <a:t>P2 burst
(10~15분)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err="1">
                          <a:solidFill>
                            <a:srgbClr val="000000"/>
                          </a:solidFill>
                          <a:latin typeface="맑은 고딕"/>
                          <a:ea typeface="맑은 고딕"/>
                        </a:rPr>
                        <a:t>신규</a:t>
                      </a:r>
                      <a:r>
                        <a:rPr sz="1050" b="0" dirty="0">
                          <a:solidFill>
                            <a:srgbClr val="000000"/>
                          </a:solidFill>
                          <a:latin typeface="맑은 고딕"/>
                          <a:ea typeface="맑은 고딕"/>
                        </a:rPr>
                        <a:t>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3배 </a:t>
                      </a:r>
                      <a:r>
                        <a:rPr sz="1050" b="0" dirty="0" err="1">
                          <a:solidFill>
                            <a:srgbClr val="000000"/>
                          </a:solidFill>
                          <a:latin typeface="맑은 고딕"/>
                          <a:ea typeface="맑은 고딕"/>
                        </a:rPr>
                        <a:t>폭주</a:t>
                      </a:r>
                      <a:r>
                        <a:rPr sz="1050" b="0" dirty="0">
                          <a:solidFill>
                            <a:srgbClr val="000000"/>
                          </a:solidFill>
                          <a:latin typeface="맑은 고딕"/>
                          <a:ea typeface="맑은 고딕"/>
                        </a:rPr>
                        <a:t> + </a:t>
                      </a:r>
                      <a:r>
                        <a:rPr sz="1050" b="0" dirty="0" err="1">
                          <a:solidFill>
                            <a:srgbClr val="000000"/>
                          </a:solidFill>
                          <a:latin typeface="맑은 고딕"/>
                          <a:ea typeface="맑은 고딕"/>
                        </a:rPr>
                        <a:t>기존</a:t>
                      </a:r>
                      <a:r>
                        <a:rPr sz="1050" b="0" dirty="0">
                          <a:solidFill>
                            <a:srgbClr val="000000"/>
                          </a:solidFill>
                          <a:latin typeface="맑은 고딕"/>
                          <a:ea typeface="맑은 고딕"/>
                        </a:rPr>
                        <a:t>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a:t>
                      </a:r>
                      <a:r>
                        <a:rPr sz="1050" b="0" dirty="0" err="1">
                          <a:solidFill>
                            <a:srgbClr val="000000"/>
                          </a:solidFill>
                          <a:latin typeface="맑은 고딕"/>
                          <a:ea typeface="맑은 고딕"/>
                        </a:rPr>
                        <a:t>decode가</a:t>
                      </a:r>
                      <a:r>
                        <a:rPr sz="1050" b="0" dirty="0">
                          <a:solidFill>
                            <a:srgbClr val="000000"/>
                          </a:solidFill>
                          <a:latin typeface="맑은 고딕"/>
                          <a:ea typeface="맑은 고딕"/>
                        </a:rPr>
                        <a:t> </a:t>
                      </a:r>
                      <a:r>
                        <a:rPr sz="1050" b="0" dirty="0" err="1">
                          <a:solidFill>
                            <a:srgbClr val="000000"/>
                          </a:solidFill>
                          <a:latin typeface="맑은 고딕"/>
                          <a:ea typeface="맑은 고딕"/>
                        </a:rPr>
                        <a:t>겹침</a:t>
                      </a:r>
                      <a:endParaRPr lang="en-US" sz="1050" b="0" dirty="0">
                        <a:solidFill>
                          <a:srgbClr val="000000"/>
                        </a:solidFill>
                        <a:latin typeface="맑은 고딕"/>
                        <a:ea typeface="맑은 고딕"/>
                      </a:endParaRPr>
                    </a:p>
                    <a:p>
                      <a:pPr algn="l"/>
                      <a:r>
                        <a:rPr sz="1050" b="0" dirty="0">
                          <a:solidFill>
                            <a:srgbClr val="000000"/>
                          </a:solidFill>
                          <a:latin typeface="맑은 고딕"/>
                          <a:ea typeface="맑은 고딕"/>
                        </a:rPr>
                        <a:t>(prefill burst + decode-heavy)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a:solidFill>
                            <a:srgbClr val="000000"/>
                          </a:solidFill>
                          <a:latin typeface="맑은 고딕"/>
                          <a:ea typeface="맑은 고딕"/>
                        </a:rPr>
                        <a:t>DP2: Prefill/Decode </a:t>
                      </a:r>
                      <a:r>
                        <a:rPr sz="1050" b="0" dirty="0" err="1">
                          <a:solidFill>
                            <a:srgbClr val="000000"/>
                          </a:solidFill>
                          <a:latin typeface="맑은 고딕"/>
                          <a:ea typeface="맑은 고딕"/>
                        </a:rPr>
                        <a:t>실행</a:t>
                      </a:r>
                      <a:r>
                        <a:rPr sz="1050" b="0" dirty="0">
                          <a:solidFill>
                            <a:srgbClr val="000000"/>
                          </a:solidFill>
                          <a:latin typeface="맑은 고딕"/>
                          <a:ea typeface="맑은 고딕"/>
                        </a:rPr>
                        <a:t> </a:t>
                      </a:r>
                      <a:r>
                        <a:rPr sz="1050" b="0" dirty="0" err="1">
                          <a:solidFill>
                            <a:srgbClr val="000000"/>
                          </a:solidFill>
                          <a:latin typeface="맑은 고딕"/>
                          <a:ea typeface="맑은 고딕"/>
                        </a:rPr>
                        <a:t>위치</a:t>
                      </a:r>
                      <a:r>
                        <a:rPr sz="1050" b="0" dirty="0">
                          <a:solidFill>
                            <a:srgbClr val="000000"/>
                          </a:solidFill>
                          <a:latin typeface="맑은 고딕"/>
                          <a:ea typeface="맑은 고딕"/>
                        </a:rPr>
                        <a:t> 결</a:t>
                      </a:r>
                      <a:r>
                        <a:rPr lang="ko-KR" altLang="en-US" sz="1050" b="0" dirty="0">
                          <a:solidFill>
                            <a:srgbClr val="000000"/>
                          </a:solidFill>
                          <a:latin typeface="맑은 고딕"/>
                          <a:ea typeface="맑은 고딕"/>
                        </a:rPr>
                        <a:t>정</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50" b="0">
                          <a:solidFill>
                            <a:srgbClr val="000000"/>
                          </a:solidFill>
                          <a:latin typeface="맑은 고딕"/>
                          <a:ea typeface="맑은 고딕"/>
                        </a:rPr>
                        <a:t>Q1, Q2, Q3, Q4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566928">
                <a:tc>
                  <a:txBody>
                    <a:bodyPr/>
                    <a:lstStyle/>
                    <a:p>
                      <a:pPr algn="l"/>
                      <a:r>
                        <a:rPr sz="1050" b="0">
                          <a:solidFill>
                            <a:srgbClr val="000000"/>
                          </a:solidFill>
                          <a:latin typeface="맑은 고딕"/>
                          <a:ea typeface="맑은 고딕"/>
                        </a:rPr>
                        <a:t>P3 공유 문서 wave
(15~25분)</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err="1">
                          <a:solidFill>
                            <a:srgbClr val="000000"/>
                          </a:solidFill>
                          <a:latin typeface="맑은 고딕"/>
                          <a:ea typeface="맑은 고딕"/>
                        </a:rPr>
                        <a:t>같은</a:t>
                      </a:r>
                      <a:r>
                        <a:rPr sz="1050" b="0" dirty="0">
                          <a:solidFill>
                            <a:srgbClr val="000000"/>
                          </a:solidFill>
                          <a:latin typeface="맑은 고딕"/>
                          <a:ea typeface="맑은 고딕"/>
                        </a:rPr>
                        <a:t> </a:t>
                      </a:r>
                      <a:r>
                        <a:rPr sz="1050" b="0" dirty="0" err="1">
                          <a:solidFill>
                            <a:srgbClr val="000000"/>
                          </a:solidFill>
                          <a:latin typeface="맑은 고딕"/>
                          <a:ea typeface="맑은 고딕"/>
                        </a:rPr>
                        <a:t>문서</a:t>
                      </a:r>
                      <a:r>
                        <a:rPr sz="1050" b="0" dirty="0">
                          <a:solidFill>
                            <a:srgbClr val="000000"/>
                          </a:solidFill>
                          <a:latin typeface="맑은 고딕"/>
                          <a:ea typeface="맑은 고딕"/>
                        </a:rPr>
                        <a:t> </a:t>
                      </a:r>
                      <a:r>
                        <a:rPr sz="1050" b="0" dirty="0" err="1">
                          <a:solidFill>
                            <a:srgbClr val="000000"/>
                          </a:solidFill>
                          <a:latin typeface="맑은 고딕"/>
                          <a:ea typeface="맑은 고딕"/>
                        </a:rPr>
                        <a:t>청크를</a:t>
                      </a:r>
                      <a:r>
                        <a:rPr sz="1050" b="0" dirty="0">
                          <a:solidFill>
                            <a:srgbClr val="000000"/>
                          </a:solidFill>
                          <a:latin typeface="맑은 고딕"/>
                          <a:ea typeface="맑은 고딕"/>
                        </a:rPr>
                        <a:t> </a:t>
                      </a:r>
                      <a:r>
                        <a:rPr sz="1050" b="0" dirty="0" err="1">
                          <a:solidFill>
                            <a:srgbClr val="000000"/>
                          </a:solidFill>
                          <a:latin typeface="맑은 고딕"/>
                          <a:ea typeface="맑은 고딕"/>
                        </a:rPr>
                        <a:t>여러</a:t>
                      </a:r>
                      <a:r>
                        <a:rPr sz="1050" b="0" dirty="0">
                          <a:solidFill>
                            <a:srgbClr val="000000"/>
                          </a:solidFill>
                          <a:latin typeface="맑은 고딕"/>
                          <a:ea typeface="맑은 고딕"/>
                        </a:rPr>
                        <a:t> </a:t>
                      </a:r>
                      <a:r>
                        <a:rPr sz="1050" b="0" dirty="0" err="1">
                          <a:solidFill>
                            <a:srgbClr val="000000"/>
                          </a:solidFill>
                          <a:latin typeface="맑은 고딕"/>
                          <a:ea typeface="맑은 고딕"/>
                        </a:rPr>
                        <a:t>세션이</a:t>
                      </a:r>
                      <a:r>
                        <a:rPr sz="1050" b="0" dirty="0">
                          <a:solidFill>
                            <a:srgbClr val="000000"/>
                          </a:solidFill>
                          <a:latin typeface="맑은 고딕"/>
                          <a:ea typeface="맑은 고딕"/>
                        </a:rPr>
                        <a:t> </a:t>
                      </a:r>
                      <a:r>
                        <a:rPr sz="1050" b="0" dirty="0" err="1">
                          <a:solidFill>
                            <a:srgbClr val="000000"/>
                          </a:solidFill>
                          <a:latin typeface="맑은 고딕"/>
                          <a:ea typeface="맑은 고딕"/>
                        </a:rPr>
                        <a:t>연달아</a:t>
                      </a:r>
                      <a:r>
                        <a:rPr sz="1050" b="0" dirty="0">
                          <a:solidFill>
                            <a:srgbClr val="000000"/>
                          </a:solidFill>
                          <a:latin typeface="맑은 고딕"/>
                          <a:ea typeface="맑은 고딕"/>
                        </a:rPr>
                        <a:t> </a:t>
                      </a:r>
                      <a:r>
                        <a:rPr sz="1050" b="0" dirty="0" err="1">
                          <a:solidFill>
                            <a:srgbClr val="000000"/>
                          </a:solidFill>
                          <a:latin typeface="맑은 고딕"/>
                          <a:ea typeface="맑은 고딕"/>
                        </a:rPr>
                        <a:t>참조</a:t>
                      </a:r>
                      <a:endParaRPr lang="en-US" sz="1050" b="0" dirty="0">
                        <a:solidFill>
                          <a:srgbClr val="000000"/>
                        </a:solidFill>
                        <a:latin typeface="맑은 고딕"/>
                        <a:ea typeface="맑은 고딕"/>
                      </a:endParaRPr>
                    </a:p>
                    <a:p>
                      <a:pPr algn="l"/>
                      <a:r>
                        <a:rPr sz="1050" b="0" dirty="0">
                          <a:solidFill>
                            <a:srgbClr val="000000"/>
                          </a:solidFill>
                          <a:latin typeface="맑은 고딕"/>
                          <a:ea typeface="맑은 고딕"/>
                        </a:rPr>
                        <a:t>(non-prefix 50%)</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a:solidFill>
                            <a:srgbClr val="000000"/>
                          </a:solidFill>
                          <a:latin typeface="맑은 고딕"/>
                          <a:ea typeface="맑은 고딕"/>
                        </a:rPr>
                        <a:t>DP3: </a:t>
                      </a:r>
                      <a:r>
                        <a:rPr sz="1050" b="0" dirty="0" err="1">
                          <a:solidFill>
                            <a:srgbClr val="000000"/>
                          </a:solidFill>
                          <a:latin typeface="맑은 고딕"/>
                          <a:ea typeface="맑은 고딕"/>
                        </a:rPr>
                        <a:t>재사용·재계산</a:t>
                      </a:r>
                      <a:r>
                        <a:rPr sz="1050" b="0" dirty="0">
                          <a:solidFill>
                            <a:srgbClr val="000000"/>
                          </a:solidFill>
                          <a:latin typeface="맑은 고딕"/>
                          <a:ea typeface="맑은 고딕"/>
                        </a:rPr>
                        <a:t> </a:t>
                      </a:r>
                      <a:r>
                        <a:rPr sz="1050" b="0" dirty="0" err="1">
                          <a:solidFill>
                            <a:srgbClr val="000000"/>
                          </a:solidFill>
                          <a:latin typeface="맑은 고딕"/>
                          <a:ea typeface="맑은 고딕"/>
                        </a:rPr>
                        <a:t>대상</a:t>
                      </a:r>
                      <a:r>
                        <a:rPr sz="1050" b="0" dirty="0">
                          <a:solidFill>
                            <a:srgbClr val="000000"/>
                          </a:solidFill>
                          <a:latin typeface="맑은 고딕"/>
                          <a:ea typeface="맑은 고딕"/>
                        </a:rPr>
                        <a:t> </a:t>
                      </a:r>
                      <a:r>
                        <a:rPr sz="1050" b="0" dirty="0" err="1">
                          <a:solidFill>
                            <a:srgbClr val="000000"/>
                          </a:solidFill>
                          <a:latin typeface="맑은 고딕"/>
                          <a:ea typeface="맑은 고딕"/>
                        </a:rPr>
                        <a:t>선정</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50" b="0" dirty="0">
                          <a:solidFill>
                            <a:srgbClr val="000000"/>
                          </a:solidFill>
                          <a:latin typeface="맑은 고딕"/>
                          <a:ea typeface="맑은 고딕"/>
                        </a:rPr>
                        <a:t>Q1, Q2, Q3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r h="566928">
                <a:tc>
                  <a:txBody>
                    <a:bodyPr/>
                    <a:lstStyle/>
                    <a:p>
                      <a:pPr algn="l"/>
                      <a:r>
                        <a:rPr sz="1050" b="0">
                          <a:solidFill>
                            <a:srgbClr val="000000"/>
                          </a:solidFill>
                          <a:latin typeface="맑은 고딕"/>
                          <a:ea typeface="맑은 고딕"/>
                        </a:rPr>
                        <a:t>P4 노드 확장
(별도 run)</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err="1">
                          <a:solidFill>
                            <a:srgbClr val="000000"/>
                          </a:solidFill>
                          <a:latin typeface="맑은 고딕"/>
                          <a:ea typeface="맑은 고딕"/>
                        </a:rPr>
                        <a:t>노드</a:t>
                      </a:r>
                      <a:r>
                        <a:rPr sz="1050" b="0" dirty="0">
                          <a:solidFill>
                            <a:srgbClr val="000000"/>
                          </a:solidFill>
                          <a:latin typeface="맑은 고딕"/>
                          <a:ea typeface="맑은 고딕"/>
                        </a:rPr>
                        <a:t> 2→16, </a:t>
                      </a:r>
                      <a:r>
                        <a:rPr sz="1050" b="0" dirty="0" err="1">
                          <a:solidFill>
                            <a:srgbClr val="000000"/>
                          </a:solidFill>
                          <a:latin typeface="맑은 고딕"/>
                          <a:ea typeface="맑은 고딕"/>
                        </a:rPr>
                        <a:t>세션</a:t>
                      </a:r>
                      <a:r>
                        <a:rPr sz="1050" b="0" dirty="0">
                          <a:solidFill>
                            <a:srgbClr val="000000"/>
                          </a:solidFill>
                          <a:latin typeface="맑은 고딕"/>
                          <a:ea typeface="맑은 고딕"/>
                        </a:rPr>
                        <a:t> 수 ∝ </a:t>
                      </a:r>
                      <a:r>
                        <a:rPr sz="1050" b="0" dirty="0" err="1">
                          <a:solidFill>
                            <a:srgbClr val="000000"/>
                          </a:solidFill>
                          <a:latin typeface="맑은 고딕"/>
                          <a:ea typeface="맑은 고딕"/>
                        </a:rPr>
                        <a:t>노드</a:t>
                      </a:r>
                      <a:r>
                        <a:rPr sz="1050" b="0" dirty="0">
                          <a:solidFill>
                            <a:srgbClr val="000000"/>
                          </a:solidFill>
                          <a:latin typeface="맑은 고딕"/>
                          <a:ea typeface="맑은 고딕"/>
                        </a:rPr>
                        <a:t> 수. </a:t>
                      </a:r>
                      <a:endParaRPr lang="en-US" sz="1050" b="0" dirty="0">
                        <a:solidFill>
                          <a:srgbClr val="000000"/>
                        </a:solidFill>
                        <a:latin typeface="맑은 고딕"/>
                        <a:ea typeface="맑은 고딕"/>
                      </a:endParaRPr>
                    </a:p>
                    <a:p>
                      <a:pPr algn="l"/>
                      <a:r>
                        <a:rPr sz="1050" b="0" dirty="0" err="1">
                          <a:solidFill>
                            <a:srgbClr val="000000"/>
                          </a:solidFill>
                          <a:latin typeface="맑은 고딕"/>
                          <a:ea typeface="맑은 고딕"/>
                        </a:rPr>
                        <a:t>노드</a:t>
                      </a:r>
                      <a:r>
                        <a:rPr sz="1050" b="0" dirty="0">
                          <a:solidFill>
                            <a:srgbClr val="000000"/>
                          </a:solidFill>
                          <a:latin typeface="맑은 고딕"/>
                          <a:ea typeface="맑은 고딕"/>
                        </a:rPr>
                        <a:t> 간 KV </a:t>
                      </a:r>
                      <a:r>
                        <a:rPr sz="1050" b="0" dirty="0" err="1">
                          <a:solidFill>
                            <a:srgbClr val="000000"/>
                          </a:solidFill>
                          <a:latin typeface="맑은 고딕"/>
                          <a:ea typeface="맑은 고딕"/>
                        </a:rPr>
                        <a:t>블록</a:t>
                      </a:r>
                      <a:r>
                        <a:rPr sz="1050" b="0" dirty="0">
                          <a:solidFill>
                            <a:srgbClr val="000000"/>
                          </a:solidFill>
                          <a:latin typeface="맑은 고딕"/>
                          <a:ea typeface="맑은 고딕"/>
                        </a:rPr>
                        <a:t> </a:t>
                      </a:r>
                      <a:r>
                        <a:rPr sz="1050" b="0" dirty="0" err="1">
                          <a:solidFill>
                            <a:srgbClr val="000000"/>
                          </a:solidFill>
                          <a:latin typeface="맑은 고딕"/>
                          <a:ea typeface="맑은 고딕"/>
                        </a:rPr>
                        <a:t>조회</a:t>
                      </a:r>
                      <a:r>
                        <a:rPr lang="en-US" sz="1050" b="0" dirty="0">
                          <a:solidFill>
                            <a:srgbClr val="000000"/>
                          </a:solidFill>
                          <a:latin typeface="맑은 고딕"/>
                          <a:ea typeface="맑은 고딕"/>
                        </a:rPr>
                        <a:t> </a:t>
                      </a:r>
                      <a:r>
                        <a:rPr lang="ko-KR" altLang="en-US" sz="1050" b="0" dirty="0">
                          <a:solidFill>
                            <a:srgbClr val="000000"/>
                          </a:solidFill>
                          <a:latin typeface="맑은 고딕"/>
                          <a:ea typeface="맑은 고딕"/>
                        </a:rPr>
                        <a:t>및 </a:t>
                      </a:r>
                      <a:r>
                        <a:rPr sz="1050" b="0" dirty="0" err="1">
                          <a:solidFill>
                            <a:srgbClr val="000000"/>
                          </a:solidFill>
                          <a:latin typeface="맑은 고딕"/>
                          <a:ea typeface="맑은 고딕"/>
                        </a:rPr>
                        <a:t>소유권</a:t>
                      </a:r>
                      <a:r>
                        <a:rPr sz="1050" b="0" dirty="0">
                          <a:solidFill>
                            <a:srgbClr val="000000"/>
                          </a:solidFill>
                          <a:latin typeface="맑은 고딕"/>
                          <a:ea typeface="맑은 고딕"/>
                        </a:rPr>
                        <a:t> </a:t>
                      </a:r>
                      <a:r>
                        <a:rPr sz="1050" b="0" dirty="0" err="1">
                          <a:solidFill>
                            <a:srgbClr val="000000"/>
                          </a:solidFill>
                          <a:latin typeface="맑은 고딕"/>
                          <a:ea typeface="맑은 고딕"/>
                        </a:rPr>
                        <a:t>이동</a:t>
                      </a:r>
                      <a:r>
                        <a:rPr sz="1050" b="0" dirty="0">
                          <a:solidFill>
                            <a:srgbClr val="000000"/>
                          </a:solidFill>
                          <a:latin typeface="맑은 고딕"/>
                          <a:ea typeface="맑은 고딕"/>
                        </a:rPr>
                        <a:t> </a:t>
                      </a:r>
                      <a:r>
                        <a:rPr sz="1050" b="0" dirty="0" err="1">
                          <a:solidFill>
                            <a:srgbClr val="000000"/>
                          </a:solidFill>
                          <a:latin typeface="맑은 고딕"/>
                          <a:ea typeface="맑은 고딕"/>
                        </a:rPr>
                        <a:t>발생</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a:solidFill>
                            <a:srgbClr val="000000"/>
                          </a:solidFill>
                          <a:latin typeface="맑은 고딕"/>
                          <a:ea typeface="맑은 고딕"/>
                        </a:rPr>
                        <a:t>DP4: </a:t>
                      </a:r>
                      <a:r>
                        <a:rPr sz="1050" b="0" dirty="0" err="1">
                          <a:solidFill>
                            <a:srgbClr val="000000"/>
                          </a:solidFill>
                          <a:latin typeface="맑은 고딕"/>
                          <a:ea typeface="맑은 고딕"/>
                        </a:rPr>
                        <a:t>서버</a:t>
                      </a:r>
                      <a:r>
                        <a:rPr sz="1050" b="0" dirty="0">
                          <a:solidFill>
                            <a:srgbClr val="000000"/>
                          </a:solidFill>
                          <a:latin typeface="맑은 고딕"/>
                          <a:ea typeface="맑은 고딕"/>
                        </a:rPr>
                        <a:t> 간 KV </a:t>
                      </a:r>
                      <a:r>
                        <a:rPr sz="1050" b="0" dirty="0" err="1">
                          <a:solidFill>
                            <a:srgbClr val="000000"/>
                          </a:solidFill>
                          <a:latin typeface="맑은 고딕"/>
                          <a:ea typeface="맑은 고딕"/>
                        </a:rPr>
                        <a:t>공유</a:t>
                      </a:r>
                      <a:r>
                        <a:rPr lang="en-US" sz="1050" b="0" dirty="0">
                          <a:solidFill>
                            <a:srgbClr val="000000"/>
                          </a:solidFill>
                          <a:latin typeface="맑은 고딕"/>
                          <a:ea typeface="맑은 고딕"/>
                        </a:rPr>
                        <a:t> (</a:t>
                      </a:r>
                      <a:r>
                        <a:rPr lang="en-US" altLang="ko-KR" sz="1050" b="0" dirty="0">
                          <a:solidFill>
                            <a:srgbClr val="000000"/>
                          </a:solidFill>
                          <a:latin typeface="맑은 고딕"/>
                          <a:ea typeface="맑은 고딕"/>
                        </a:rPr>
                        <a:t>CXL </a:t>
                      </a:r>
                      <a:r>
                        <a:rPr lang="ko-KR" altLang="en-US" sz="1050" b="0" dirty="0">
                          <a:solidFill>
                            <a:srgbClr val="000000"/>
                          </a:solidFill>
                          <a:latin typeface="맑은 고딕"/>
                          <a:ea typeface="맑은 고딕"/>
                        </a:rPr>
                        <a:t>공유 풀이 </a:t>
                      </a:r>
                      <a:r>
                        <a:rPr lang="en-US" altLang="ko-KR" sz="1050" b="0" dirty="0">
                          <a:solidFill>
                            <a:srgbClr val="000000"/>
                          </a:solidFill>
                          <a:latin typeface="맑은 고딕"/>
                          <a:ea typeface="맑은 고딕"/>
                        </a:rPr>
                        <a:t>SSD</a:t>
                      </a:r>
                      <a:r>
                        <a:rPr lang="ko-KR" altLang="en-US" sz="1050" b="0" dirty="0">
                          <a:solidFill>
                            <a:srgbClr val="000000"/>
                          </a:solidFill>
                          <a:latin typeface="맑은 고딕"/>
                          <a:ea typeface="맑은 고딕"/>
                        </a:rPr>
                        <a:t>를 대체</a:t>
                      </a:r>
                      <a:r>
                        <a:rPr lang="en-US" altLang="ko-KR" sz="1050" b="0" dirty="0">
                          <a:solidFill>
                            <a:srgbClr val="000000"/>
                          </a:solidFill>
                          <a:latin typeface="맑은 고딕"/>
                          <a:ea typeface="맑은 고딕"/>
                        </a:rPr>
                        <a:t>)</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50" b="0" dirty="0">
                          <a:solidFill>
                            <a:srgbClr val="000000"/>
                          </a:solidFill>
                          <a:latin typeface="맑은 고딕"/>
                          <a:ea typeface="맑은 고딕"/>
                        </a:rPr>
                        <a:t>Q1, Q3, Q4</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4"/>
                  </a:ext>
                </a:extLst>
              </a:tr>
              <a:tr h="566928">
                <a:tc>
                  <a:txBody>
                    <a:bodyPr/>
                    <a:lstStyle/>
                    <a:p>
                      <a:pPr algn="l"/>
                      <a:r>
                        <a:rPr sz="1050" b="0">
                          <a:solidFill>
                            <a:srgbClr val="000000"/>
                          </a:solidFill>
                          <a:latin typeface="맑은 고딕"/>
                          <a:ea typeface="맑은 고딕"/>
                        </a:rPr>
                        <a:t>변경 시나리오
(구현 측정)</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a:solidFill>
                            <a:srgbClr val="000000"/>
                          </a:solidFill>
                          <a:latin typeface="맑은 고딕"/>
                          <a:ea typeface="맑은 고딕"/>
                        </a:rPr>
                        <a:t>S1 새 </a:t>
                      </a:r>
                      <a:r>
                        <a:rPr sz="1050" b="0" dirty="0" err="1">
                          <a:solidFill>
                            <a:srgbClr val="000000"/>
                          </a:solidFill>
                          <a:latin typeface="맑은 고딕"/>
                          <a:ea typeface="맑은 고딕"/>
                        </a:rPr>
                        <a:t>메모리</a:t>
                      </a:r>
                      <a:r>
                        <a:rPr sz="1050" b="0" dirty="0">
                          <a:solidFill>
                            <a:srgbClr val="000000"/>
                          </a:solidFill>
                          <a:latin typeface="맑은 고딕"/>
                          <a:ea typeface="맑은 고딕"/>
                        </a:rPr>
                        <a:t> tier</a:t>
                      </a:r>
                      <a:r>
                        <a:rPr lang="en-US" sz="1050" b="0" dirty="0">
                          <a:solidFill>
                            <a:srgbClr val="000000"/>
                          </a:solidFill>
                          <a:latin typeface="맑은 고딕"/>
                          <a:ea typeface="맑은 고딕"/>
                        </a:rPr>
                        <a:t>, </a:t>
                      </a:r>
                      <a:r>
                        <a:rPr sz="1050" b="0" dirty="0">
                          <a:solidFill>
                            <a:srgbClr val="000000"/>
                          </a:solidFill>
                          <a:latin typeface="맑은 고딕"/>
                          <a:ea typeface="맑은 고딕"/>
                        </a:rPr>
                        <a:t>S2 </a:t>
                      </a:r>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교체</a:t>
                      </a:r>
                      <a:r>
                        <a:rPr lang="en-US" sz="1050" b="0" dirty="0">
                          <a:solidFill>
                            <a:srgbClr val="000000"/>
                          </a:solidFill>
                          <a:latin typeface="맑은 고딕"/>
                          <a:ea typeface="맑은 고딕"/>
                        </a:rPr>
                        <a:t>, </a:t>
                      </a:r>
                      <a:r>
                        <a:rPr sz="1050" b="0" dirty="0">
                          <a:solidFill>
                            <a:srgbClr val="000000"/>
                          </a:solidFill>
                          <a:latin typeface="맑은 고딕"/>
                          <a:ea typeface="맑은 고딕"/>
                        </a:rPr>
                        <a:t>S3 </a:t>
                      </a:r>
                      <a:r>
                        <a:rPr sz="1050" b="0" dirty="0" err="1">
                          <a:solidFill>
                            <a:srgbClr val="000000"/>
                          </a:solidFill>
                          <a:latin typeface="맑은 고딕"/>
                          <a:ea typeface="맑은 고딕"/>
                        </a:rPr>
                        <a:t>vLLM</a:t>
                      </a:r>
                      <a:r>
                        <a:rPr sz="1050" b="0" dirty="0">
                          <a:solidFill>
                            <a:srgbClr val="000000"/>
                          </a:solidFill>
                          <a:latin typeface="맑은 고딕"/>
                          <a:ea typeface="맑은 고딕"/>
                        </a:rPr>
                        <a:t> upstream </a:t>
                      </a:r>
                      <a:r>
                        <a:rPr sz="1050" b="0" dirty="0" err="1">
                          <a:solidFill>
                            <a:srgbClr val="000000"/>
                          </a:solidFill>
                          <a:latin typeface="맑은 고딕"/>
                          <a:ea typeface="맑은 고딕"/>
                        </a:rPr>
                        <a:t>갱신</a:t>
                      </a:r>
                      <a:endParaRPr sz="105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50" b="0" dirty="0" err="1">
                          <a:solidFill>
                            <a:srgbClr val="000000"/>
                          </a:solidFill>
                          <a:latin typeface="맑은 고딕"/>
                          <a:ea typeface="맑은 고딕"/>
                        </a:rPr>
                        <a:t>모든</a:t>
                      </a:r>
                      <a:r>
                        <a:rPr sz="1050" b="0" dirty="0">
                          <a:solidFill>
                            <a:srgbClr val="000000"/>
                          </a:solidFill>
                          <a:latin typeface="맑은 고딕"/>
                          <a:ea typeface="맑은 고딕"/>
                        </a:rPr>
                        <a:t> DP </a:t>
                      </a:r>
                      <a:r>
                        <a:rPr sz="1050" b="0" dirty="0" err="1">
                          <a:solidFill>
                            <a:srgbClr val="000000"/>
                          </a:solidFill>
                          <a:latin typeface="맑은 고딕"/>
                          <a:ea typeface="맑은 고딕"/>
                        </a:rPr>
                        <a:t>후보의</a:t>
                      </a:r>
                      <a:r>
                        <a:rPr sz="1050" b="0" dirty="0">
                          <a:solidFill>
                            <a:srgbClr val="000000"/>
                          </a:solidFill>
                          <a:latin typeface="맑은 고딕"/>
                          <a:ea typeface="맑은 고딕"/>
                        </a:rPr>
                        <a:t> module </a:t>
                      </a:r>
                      <a:r>
                        <a:rPr sz="1050" b="0" dirty="0" err="1">
                          <a:solidFill>
                            <a:srgbClr val="000000"/>
                          </a:solidFill>
                          <a:latin typeface="맑은 고딕"/>
                          <a:ea typeface="맑은 고딕"/>
                        </a:rPr>
                        <a:t>수·M</a:t>
                      </a:r>
                      <a:r>
                        <a:rPr sz="1050" b="0" dirty="0">
                          <a:solidFill>
                            <a:srgbClr val="000000"/>
                          </a:solidFill>
                          <a:latin typeface="맑은 고딕"/>
                          <a:ea typeface="맑은 고딕"/>
                        </a:rPr>
                        <a:t>/M (</a:t>
                      </a:r>
                      <a:r>
                        <a:rPr sz="1050" b="0" dirty="0" err="1">
                          <a:solidFill>
                            <a:srgbClr val="000000"/>
                          </a:solidFill>
                          <a:latin typeface="맑은 고딕"/>
                          <a:ea typeface="맑은 고딕"/>
                        </a:rPr>
                        <a:t>시나리오</a:t>
                      </a:r>
                      <a:r>
                        <a:rPr sz="1050" b="0" dirty="0">
                          <a:solidFill>
                            <a:srgbClr val="000000"/>
                          </a:solidFill>
                          <a:latin typeface="맑은 고딕"/>
                          <a:ea typeface="맑은 고딕"/>
                        </a:rPr>
                        <a:t> </a:t>
                      </a:r>
                      <a:r>
                        <a:rPr sz="1050" b="0" dirty="0" err="1">
                          <a:solidFill>
                            <a:srgbClr val="000000"/>
                          </a:solidFill>
                          <a:latin typeface="맑은 고딕"/>
                          <a:ea typeface="맑은 고딕"/>
                        </a:rPr>
                        <a:t>평균</a:t>
                      </a:r>
                      <a:r>
                        <a:rPr sz="105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50" b="0" dirty="0">
                          <a:solidFill>
                            <a:srgbClr val="000000"/>
                          </a:solidFill>
                          <a:latin typeface="맑은 고딕"/>
                          <a:ea typeface="맑은 고딕"/>
                        </a:rPr>
                        <a:t>Q5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5"/>
                  </a:ext>
                </a:extLst>
              </a:tr>
            </a:tbl>
          </a:graphicData>
        </a:graphic>
      </p:graphicFrame>
      <p:grpSp>
        <p:nvGrpSpPr>
          <p:cNvPr id="6" name="그룹 5">
            <a:extLst>
              <a:ext uri="{FF2B5EF4-FFF2-40B4-BE49-F238E27FC236}">
                <a16:creationId xmlns:a16="http://schemas.microsoft.com/office/drawing/2014/main" id="{7CA66D69-0E62-43A9-8ED8-87D164370C8C}"/>
              </a:ext>
            </a:extLst>
          </p:cNvPr>
          <p:cNvGrpSpPr/>
          <p:nvPr/>
        </p:nvGrpSpPr>
        <p:grpSpPr>
          <a:xfrm>
            <a:off x="6771322" y="67900"/>
            <a:ext cx="1448753" cy="287039"/>
            <a:chOff x="6771322" y="67900"/>
            <a:chExt cx="1448753" cy="287039"/>
          </a:xfrm>
        </p:grpSpPr>
        <p:sp>
          <p:nvSpPr>
            <p:cNvPr id="8" name="실행 단추: 앞으로 또는 다음으로 이동 7">
              <a:hlinkClick r:id="rId3" action="ppaction://hlinksldjump" highlightClick="1"/>
              <a:extLst>
                <a:ext uri="{FF2B5EF4-FFF2-40B4-BE49-F238E27FC236}">
                  <a16:creationId xmlns:a16="http://schemas.microsoft.com/office/drawing/2014/main" id="{73694FE8-6D6B-4855-898F-4ED678ED614D}"/>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TextBox 8">
              <a:extLst>
                <a:ext uri="{FF2B5EF4-FFF2-40B4-BE49-F238E27FC236}">
                  <a16:creationId xmlns:a16="http://schemas.microsoft.com/office/drawing/2014/main" id="{857BB66B-57A5-49AE-8936-723A0DF085E3}"/>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DP1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grpSp>
        <p:nvGrpSpPr>
          <p:cNvPr id="10" name="그룹 9">
            <a:extLst>
              <a:ext uri="{FF2B5EF4-FFF2-40B4-BE49-F238E27FC236}">
                <a16:creationId xmlns:a16="http://schemas.microsoft.com/office/drawing/2014/main" id="{3110AE57-10FB-4016-937A-907898E524E8}"/>
              </a:ext>
            </a:extLst>
          </p:cNvPr>
          <p:cNvGrpSpPr/>
          <p:nvPr/>
        </p:nvGrpSpPr>
        <p:grpSpPr>
          <a:xfrm>
            <a:off x="6771322" y="389617"/>
            <a:ext cx="1448753" cy="287039"/>
            <a:chOff x="6771322" y="67900"/>
            <a:chExt cx="1448753" cy="287039"/>
          </a:xfrm>
        </p:grpSpPr>
        <p:sp>
          <p:nvSpPr>
            <p:cNvPr id="11" name="실행 단추: 앞으로 또는 다음으로 이동 10">
              <a:hlinkClick r:id="rId4" action="ppaction://hlinksldjump" highlightClick="1"/>
              <a:extLst>
                <a:ext uri="{FF2B5EF4-FFF2-40B4-BE49-F238E27FC236}">
                  <a16:creationId xmlns:a16="http://schemas.microsoft.com/office/drawing/2014/main" id="{F271F96C-A7C2-40EC-8C7F-F23505339628}"/>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017A24C6-E0BB-4302-826C-BD8CC8319B1F}"/>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DP2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grpSp>
        <p:nvGrpSpPr>
          <p:cNvPr id="13" name="그룹 12">
            <a:extLst>
              <a:ext uri="{FF2B5EF4-FFF2-40B4-BE49-F238E27FC236}">
                <a16:creationId xmlns:a16="http://schemas.microsoft.com/office/drawing/2014/main" id="{C731B189-5503-4F58-9084-F576DA5F4763}"/>
              </a:ext>
            </a:extLst>
          </p:cNvPr>
          <p:cNvGrpSpPr/>
          <p:nvPr/>
        </p:nvGrpSpPr>
        <p:grpSpPr>
          <a:xfrm>
            <a:off x="8352472" y="67900"/>
            <a:ext cx="1448753" cy="287039"/>
            <a:chOff x="6771322" y="67900"/>
            <a:chExt cx="1448753" cy="287039"/>
          </a:xfrm>
        </p:grpSpPr>
        <p:sp>
          <p:nvSpPr>
            <p:cNvPr id="14" name="실행 단추: 앞으로 또는 다음으로 이동 13">
              <a:hlinkClick r:id="rId5" action="ppaction://hlinksldjump" highlightClick="1"/>
              <a:extLst>
                <a:ext uri="{FF2B5EF4-FFF2-40B4-BE49-F238E27FC236}">
                  <a16:creationId xmlns:a16="http://schemas.microsoft.com/office/drawing/2014/main" id="{EE8E4BBF-71FA-43B3-82B8-E38526665B17}"/>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5" name="TextBox 14">
              <a:extLst>
                <a:ext uri="{FF2B5EF4-FFF2-40B4-BE49-F238E27FC236}">
                  <a16:creationId xmlns:a16="http://schemas.microsoft.com/office/drawing/2014/main" id="{0406519E-55A3-46AF-8347-079EEA997072}"/>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DP3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grpSp>
        <p:nvGrpSpPr>
          <p:cNvPr id="16" name="그룹 15">
            <a:extLst>
              <a:ext uri="{FF2B5EF4-FFF2-40B4-BE49-F238E27FC236}">
                <a16:creationId xmlns:a16="http://schemas.microsoft.com/office/drawing/2014/main" id="{45415D01-EA44-4B1F-94DA-1BEC032B2F14}"/>
              </a:ext>
            </a:extLst>
          </p:cNvPr>
          <p:cNvGrpSpPr/>
          <p:nvPr/>
        </p:nvGrpSpPr>
        <p:grpSpPr>
          <a:xfrm>
            <a:off x="8352472" y="401754"/>
            <a:ext cx="1448753" cy="287039"/>
            <a:chOff x="6771322" y="67900"/>
            <a:chExt cx="1448753" cy="287039"/>
          </a:xfrm>
        </p:grpSpPr>
        <p:sp>
          <p:nvSpPr>
            <p:cNvPr id="17" name="실행 단추: 앞으로 또는 다음으로 이동 16">
              <a:hlinkClick r:id="rId6" action="ppaction://hlinksldjump" highlightClick="1"/>
              <a:extLst>
                <a:ext uri="{FF2B5EF4-FFF2-40B4-BE49-F238E27FC236}">
                  <a16:creationId xmlns:a16="http://schemas.microsoft.com/office/drawing/2014/main" id="{9CFCB1C9-4A50-4897-B75A-73052725F2C4}"/>
                </a:ext>
              </a:extLst>
            </p:cNvPr>
            <p:cNvSpPr/>
            <p:nvPr/>
          </p:nvSpPr>
          <p:spPr>
            <a:xfrm>
              <a:off x="7981950" y="67900"/>
              <a:ext cx="238125" cy="2667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TextBox 17">
              <a:extLst>
                <a:ext uri="{FF2B5EF4-FFF2-40B4-BE49-F238E27FC236}">
                  <a16:creationId xmlns:a16="http://schemas.microsoft.com/office/drawing/2014/main" id="{81C1EC7A-E3A4-4719-BE74-7A8C632C4D95}"/>
                </a:ext>
              </a:extLst>
            </p:cNvPr>
            <p:cNvSpPr txBox="1"/>
            <p:nvPr/>
          </p:nvSpPr>
          <p:spPr>
            <a:xfrm>
              <a:off x="6771322" y="92175"/>
              <a:ext cx="1329690" cy="262764"/>
            </a:xfrm>
            <a:prstGeom prst="rect">
              <a:avLst/>
            </a:prstGeom>
            <a:noFill/>
          </p:spPr>
          <p:txBody>
            <a:bodyPr wrap="square">
              <a:spAutoFit/>
            </a:bodyPr>
            <a:lstStyle/>
            <a:p>
              <a:pPr marR="0" lvl="0" algn="ctr" defTabSz="914400" rtl="0" eaLnBrk="1" fontAlgn="auto" latinLnBrk="1" hangingPunct="1">
                <a:lnSpc>
                  <a:spcPct val="110000"/>
                </a:lnSpc>
                <a:spcBef>
                  <a:spcPts val="0"/>
                </a:spcBef>
                <a:spcAft>
                  <a:spcPts val="0"/>
                </a:spcAft>
                <a:buClrTx/>
                <a:buSzTx/>
                <a:tabLst/>
                <a:defRPr/>
              </a:pPr>
              <a:r>
                <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rPr>
                <a:t>DP4 </a:t>
              </a:r>
              <a:r>
                <a:rPr kumimoji="0" lang="ko-KR" altLang="en-US" sz="1100" b="0" i="0" u="none" strike="noStrike" kern="1200" cap="none" spc="0" normalizeH="0" baseline="0" noProof="0" dirty="0">
                  <a:ln>
                    <a:noFill/>
                  </a:ln>
                  <a:solidFill>
                    <a:srgbClr val="404040"/>
                  </a:solidFill>
                  <a:effectLst/>
                  <a:uLnTx/>
                  <a:uFillTx/>
                  <a:latin typeface="맑은 고딕"/>
                  <a:ea typeface="맑은 고딕"/>
                  <a:cs typeface="+mn-cs"/>
                </a:rPr>
                <a:t>평가 </a:t>
              </a:r>
              <a:r>
                <a:rPr lang="ko-KR" altLang="en-US" sz="1100" dirty="0">
                  <a:solidFill>
                    <a:srgbClr val="404040"/>
                  </a:solidFill>
                  <a:latin typeface="맑은 고딕"/>
                  <a:ea typeface="맑은 고딕"/>
                </a:rPr>
                <a:t>결과 </a:t>
              </a:r>
              <a:endParaRPr kumimoji="0" lang="en-US" altLang="ko-KR" sz="1100" b="0" i="0" u="none" strike="noStrike" kern="1200" cap="none" spc="0" normalizeH="0" baseline="0" noProof="0" dirty="0">
                <a:ln>
                  <a:noFill/>
                </a:ln>
                <a:solidFill>
                  <a:srgbClr val="404040"/>
                </a:solidFill>
                <a:effectLst/>
                <a:uLnTx/>
                <a:uFillTx/>
                <a:latin typeface="맑은 고딕"/>
                <a:ea typeface="맑은 고딕"/>
                <a:cs typeface="+mn-cs"/>
              </a:endParaRPr>
            </a:p>
          </p:txBody>
        </p:sp>
      </p:gr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7327127"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DP1. Data Migration 결정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078992"/>
            <a:ext cx="5623560" cy="640432"/>
          </a:xfrm>
          <a:prstGeom prst="rect">
            <a:avLst/>
          </a:prstGeom>
          <a:noFill/>
        </p:spPr>
        <p:txBody>
          <a:bodyPr wrap="square" lIns="73152" tIns="36576" rIns="73152" bIns="36576" anchor="t">
            <a:spAutoFit/>
          </a:bodyPr>
          <a:lstStyle/>
          <a:p>
            <a:pPr algn="l">
              <a:lnSpc>
                <a:spcPct val="125000"/>
              </a:lnSpc>
              <a:spcAft>
                <a:spcPts val="0"/>
              </a:spcAft>
            </a:pPr>
            <a:r>
              <a:rPr sz="1050" b="1" dirty="0" err="1">
                <a:solidFill>
                  <a:srgbClr val="2F5597"/>
                </a:solidFill>
                <a:latin typeface="맑은 고딕"/>
                <a:ea typeface="맑은 고딕"/>
              </a:rPr>
              <a:t>평가</a:t>
            </a:r>
            <a:r>
              <a:rPr sz="1050" b="1" dirty="0">
                <a:solidFill>
                  <a:srgbClr val="2F5597"/>
                </a:solidFill>
                <a:latin typeface="맑은 고딕"/>
                <a:ea typeface="맑은 고딕"/>
              </a:rPr>
              <a:t> </a:t>
            </a:r>
            <a:r>
              <a:rPr sz="1050" b="1" dirty="0" err="1">
                <a:solidFill>
                  <a:srgbClr val="2F5597"/>
                </a:solidFill>
                <a:latin typeface="맑은 고딕"/>
                <a:ea typeface="맑은 고딕"/>
              </a:rPr>
              <a:t>환경</a:t>
            </a:r>
            <a:endParaRPr sz="1050" b="1" dirty="0">
              <a:solidFill>
                <a:srgbClr val="2F5597"/>
              </a:solidFill>
              <a:latin typeface="맑은 고딕"/>
              <a:ea typeface="맑은 고딕"/>
            </a:endParaRPr>
          </a:p>
          <a:p>
            <a:pPr algn="l">
              <a:lnSpc>
                <a:spcPct val="125000"/>
              </a:lnSpc>
              <a:spcAft>
                <a:spcPts val="0"/>
              </a:spcAft>
            </a:pPr>
            <a:r>
              <a:rPr sz="1000" b="0" dirty="0">
                <a:solidFill>
                  <a:srgbClr val="000000"/>
                </a:solidFill>
                <a:latin typeface="맑은 고딕"/>
                <a:ea typeface="맑은 고딕"/>
              </a:rPr>
              <a:t>• 1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 H100×8(HBM 640 GiB), DRAM 1 TiB(</a:t>
            </a:r>
            <a:r>
              <a:rPr sz="1000" b="0" dirty="0" err="1">
                <a:solidFill>
                  <a:srgbClr val="000000"/>
                </a:solidFill>
                <a:latin typeface="맑은 고딕"/>
                <a:ea typeface="맑은 고딕"/>
              </a:rPr>
              <a:t>호스트</a:t>
            </a:r>
            <a:r>
              <a:rPr sz="1000" b="0" dirty="0">
                <a:solidFill>
                  <a:srgbClr val="000000"/>
                </a:solidFill>
                <a:latin typeface="맑은 고딕"/>
                <a:ea typeface="맑은 고딕"/>
              </a:rPr>
              <a:t> </a:t>
            </a:r>
            <a:r>
              <a:rPr sz="1000" b="0" dirty="0" err="1">
                <a:solidFill>
                  <a:srgbClr val="000000"/>
                </a:solidFill>
                <a:latin typeface="맑은 고딕"/>
                <a:ea typeface="맑은 고딕"/>
              </a:rPr>
              <a:t>링크</a:t>
            </a:r>
            <a:r>
              <a:rPr sz="1000" b="0" dirty="0">
                <a:solidFill>
                  <a:srgbClr val="000000"/>
                </a:solidFill>
                <a:latin typeface="맑은 고딕"/>
                <a:ea typeface="맑은 고딕"/>
              </a:rPr>
              <a:t> 64 GB/s), </a:t>
            </a:r>
            <a:r>
              <a:rPr sz="1000" b="0" dirty="0" err="1">
                <a:solidFill>
                  <a:srgbClr val="000000"/>
                </a:solidFill>
                <a:latin typeface="맑은 고딕"/>
                <a:ea typeface="맑은 고딕"/>
              </a:rPr>
              <a:t>NVMe</a:t>
            </a:r>
            <a:r>
              <a:rPr sz="1000" b="0" dirty="0">
                <a:solidFill>
                  <a:srgbClr val="000000"/>
                </a:solidFill>
                <a:latin typeface="맑은 고딕"/>
                <a:ea typeface="맑은 고딕"/>
              </a:rPr>
              <a:t> 16 GB/s</a:t>
            </a:r>
          </a:p>
          <a:p>
            <a:pPr algn="l">
              <a:lnSpc>
                <a:spcPct val="125000"/>
              </a:lnSpc>
              <a:spcAft>
                <a:spcPts val="0"/>
              </a:spcAft>
            </a:pPr>
            <a:r>
              <a:rPr sz="1000" b="0" dirty="0">
                <a:solidFill>
                  <a:srgbClr val="000000"/>
                </a:solidFill>
                <a:latin typeface="맑은 고딕"/>
                <a:ea typeface="맑은 고딕"/>
              </a:rPr>
              <a:t>• Llama-3.1-70B BF16, SYS-H100. Baseline = GPU-only</a:t>
            </a:r>
            <a:r>
              <a:rPr lang="en-US" sz="1000" dirty="0">
                <a:solidFill>
                  <a:srgbClr val="000000"/>
                </a:solidFill>
                <a:latin typeface="맑은 고딕"/>
                <a:ea typeface="맑은 고딕"/>
              </a:rPr>
              <a:t>, </a:t>
            </a:r>
            <a:r>
              <a:rPr sz="1000" b="0" dirty="0" err="1">
                <a:solidFill>
                  <a:srgbClr val="000000"/>
                </a:solidFill>
                <a:latin typeface="맑은 고딕"/>
                <a:ea typeface="맑은 고딕"/>
              </a:rPr>
              <a:t>단순</a:t>
            </a:r>
            <a:r>
              <a:rPr sz="1000" b="0" dirty="0">
                <a:solidFill>
                  <a:srgbClr val="000000"/>
                </a:solidFill>
                <a:latin typeface="맑은 고딕"/>
                <a:ea typeface="맑은 고딕"/>
              </a:rPr>
              <a:t> offloading</a:t>
            </a:r>
            <a:r>
              <a:rPr lang="ko-KR" altLang="en-US" sz="1000" b="0" dirty="0">
                <a:solidFill>
                  <a:srgbClr val="000000"/>
                </a:solidFill>
                <a:latin typeface="맑은 고딕"/>
                <a:ea typeface="맑은 고딕"/>
              </a:rPr>
              <a:t>도</a:t>
            </a:r>
            <a:r>
              <a:rPr lang="ko-KR" altLang="en-US" sz="1000" dirty="0">
                <a:solidFill>
                  <a:srgbClr val="000000"/>
                </a:solidFill>
                <a:latin typeface="맑은 고딕"/>
                <a:ea typeface="맑은 고딕"/>
              </a:rPr>
              <a:t> </a:t>
            </a:r>
            <a:r>
              <a:rPr lang="ko-KR" altLang="en-US" sz="1000" b="0" dirty="0">
                <a:solidFill>
                  <a:srgbClr val="000000"/>
                </a:solidFill>
                <a:latin typeface="맑은 고딕"/>
                <a:ea typeface="맑은 고딕"/>
              </a:rPr>
              <a:t>참고로 평가</a:t>
            </a:r>
            <a:endParaRPr sz="1000" b="0" dirty="0">
              <a:solidFill>
                <a:srgbClr val="000000"/>
              </a:solidFill>
              <a:latin typeface="맑은 고딕"/>
              <a:ea typeface="맑은 고딕"/>
            </a:endParaRPr>
          </a:p>
        </p:txBody>
      </p:sp>
      <p:sp>
        <p:nvSpPr>
          <p:cNvPr id="8" name="TextBox 7"/>
          <p:cNvSpPr txBox="1"/>
          <p:nvPr/>
        </p:nvSpPr>
        <p:spPr>
          <a:xfrm>
            <a:off x="5810693" y="1078992"/>
            <a:ext cx="5985067" cy="1006814"/>
          </a:xfrm>
          <a:prstGeom prst="rect">
            <a:avLst/>
          </a:prstGeom>
          <a:noFill/>
        </p:spPr>
        <p:txBody>
          <a:bodyPr wrap="square" lIns="73152" tIns="36576" rIns="73152" bIns="36576" anchor="t">
            <a:spAutoFit/>
          </a:bodyPr>
          <a:lstStyle/>
          <a:p>
            <a:pPr algn="l">
              <a:lnSpc>
                <a:spcPct val="125000"/>
              </a:lnSpc>
              <a:spcAft>
                <a:spcPts val="0"/>
              </a:spcAft>
            </a:pPr>
            <a:r>
              <a:rPr sz="1050" b="1" dirty="0" err="1">
                <a:solidFill>
                  <a:srgbClr val="2F5597"/>
                </a:solidFill>
                <a:latin typeface="맑은 고딕"/>
                <a:ea typeface="맑은 고딕"/>
              </a:rPr>
              <a:t>평가</a:t>
            </a:r>
            <a:r>
              <a:rPr sz="1050" b="1" dirty="0">
                <a:solidFill>
                  <a:srgbClr val="2F5597"/>
                </a:solidFill>
                <a:latin typeface="맑은 고딕"/>
                <a:ea typeface="맑은 고딕"/>
              </a:rPr>
              <a:t> </a:t>
            </a:r>
            <a:r>
              <a:rPr sz="1050" b="1" dirty="0" err="1">
                <a:solidFill>
                  <a:srgbClr val="2F5597"/>
                </a:solidFill>
                <a:latin typeface="맑은 고딕"/>
                <a:ea typeface="맑은 고딕"/>
              </a:rPr>
              <a:t>시나리오</a:t>
            </a:r>
            <a:endParaRPr sz="1050" b="1" dirty="0">
              <a:solidFill>
                <a:srgbClr val="2F5597"/>
              </a:solidFill>
              <a:latin typeface="맑은 고딕"/>
              <a:ea typeface="맑은 고딕"/>
            </a:endParaRPr>
          </a:p>
          <a:p>
            <a:pPr algn="l">
              <a:lnSpc>
                <a:spcPct val="125000"/>
              </a:lnSpc>
              <a:spcAft>
                <a:spcPts val="0"/>
              </a:spcAft>
            </a:pPr>
            <a:r>
              <a:rPr sz="1000" b="0" dirty="0">
                <a:solidFill>
                  <a:srgbClr val="000000"/>
                </a:solidFill>
                <a:latin typeface="맑은 고딕"/>
                <a:ea typeface="맑은 고딕"/>
              </a:rPr>
              <a:t>• Agent KV Fleet P1 </a:t>
            </a:r>
            <a:r>
              <a:rPr sz="1000" b="0" dirty="0" err="1">
                <a:solidFill>
                  <a:srgbClr val="000000"/>
                </a:solidFill>
                <a:latin typeface="맑은 고딕"/>
                <a:ea typeface="맑은 고딕"/>
              </a:rPr>
              <a:t>정상</a:t>
            </a:r>
            <a:r>
              <a:rPr sz="1000" b="0" dirty="0">
                <a:solidFill>
                  <a:srgbClr val="000000"/>
                </a:solidFill>
                <a:latin typeface="맑은 고딕"/>
                <a:ea typeface="맑은 고딕"/>
              </a:rPr>
              <a:t> multi-turn: </a:t>
            </a:r>
            <a:r>
              <a:rPr sz="1000" b="0" dirty="0" err="1">
                <a:solidFill>
                  <a:srgbClr val="000000"/>
                </a:solidFill>
                <a:latin typeface="맑은 고딕"/>
                <a:ea typeface="맑은 고딕"/>
              </a:rPr>
              <a:t>컨텍스트</a:t>
            </a:r>
            <a:r>
              <a:rPr sz="1000" b="0" dirty="0">
                <a:solidFill>
                  <a:srgbClr val="000000"/>
                </a:solidFill>
                <a:latin typeface="맑은 고딕"/>
                <a:ea typeface="맑은 고딕"/>
              </a:rPr>
              <a:t> 16K, </a:t>
            </a:r>
            <a:r>
              <a:rPr sz="1000" b="0" dirty="0" err="1">
                <a:solidFill>
                  <a:srgbClr val="000000"/>
                </a:solidFill>
                <a:latin typeface="맑은 고딕"/>
                <a:ea typeface="맑은 고딕"/>
              </a:rPr>
              <a:t>턴당</a:t>
            </a:r>
            <a:r>
              <a:rPr sz="1000" b="0" dirty="0">
                <a:solidFill>
                  <a:srgbClr val="000000"/>
                </a:solidFill>
                <a:latin typeface="맑은 고딕"/>
                <a:ea typeface="맑은 고딕"/>
              </a:rPr>
              <a:t> +1K</a:t>
            </a:r>
            <a:r>
              <a:rPr lang="en-US" sz="1000" dirty="0">
                <a:solidFill>
                  <a:srgbClr val="000000"/>
                </a:solidFill>
                <a:latin typeface="맑은 고딕"/>
                <a:ea typeface="맑은 고딕"/>
              </a:rPr>
              <a:t>, </a:t>
            </a:r>
            <a:r>
              <a:rPr sz="1000" b="0" dirty="0" err="1">
                <a:solidFill>
                  <a:srgbClr val="000000"/>
                </a:solidFill>
                <a:latin typeface="맑은 고딕"/>
                <a:ea typeface="맑은 고딕"/>
              </a:rPr>
              <a:t>출력</a:t>
            </a:r>
            <a:r>
              <a:rPr sz="1000" b="0" dirty="0">
                <a:solidFill>
                  <a:srgbClr val="000000"/>
                </a:solidFill>
                <a:latin typeface="맑은 고딕"/>
                <a:ea typeface="맑은 고딕"/>
              </a:rPr>
              <a:t> 256</a:t>
            </a:r>
            <a:r>
              <a:rPr lang="en-US" sz="1000" dirty="0">
                <a:solidFill>
                  <a:srgbClr val="000000"/>
                </a:solidFill>
                <a:latin typeface="맑은 고딕"/>
                <a:ea typeface="맑은 고딕"/>
              </a:rPr>
              <a:t>, </a:t>
            </a:r>
            <a:r>
              <a:rPr sz="1000" b="0" dirty="0">
                <a:solidFill>
                  <a:srgbClr val="000000"/>
                </a:solidFill>
                <a:latin typeface="맑은 고딕"/>
                <a:ea typeface="맑은 고딕"/>
              </a:rPr>
              <a:t>idle </a:t>
            </a:r>
            <a:r>
              <a:rPr sz="1000" b="0" dirty="0" err="1">
                <a:solidFill>
                  <a:srgbClr val="000000"/>
                </a:solidFill>
                <a:latin typeface="맑은 고딕"/>
                <a:ea typeface="맑은 고딕"/>
              </a:rPr>
              <a:t>평균</a:t>
            </a:r>
            <a:r>
              <a:rPr sz="1000" b="0" dirty="0">
                <a:solidFill>
                  <a:srgbClr val="000000"/>
                </a:solidFill>
                <a:latin typeface="맑은 고딕"/>
                <a:ea typeface="맑은 고딕"/>
              </a:rPr>
              <a:t> 60s</a:t>
            </a:r>
            <a:r>
              <a:rPr lang="en-US" sz="1000" b="0" dirty="0">
                <a:solidFill>
                  <a:srgbClr val="000000"/>
                </a:solidFill>
                <a:latin typeface="맑은 고딕"/>
                <a:ea typeface="맑은 고딕"/>
              </a:rPr>
              <a:t> </a:t>
            </a:r>
            <a:r>
              <a:rPr sz="1000" b="0" dirty="0">
                <a:solidFill>
                  <a:srgbClr val="000000"/>
                </a:solidFill>
                <a:latin typeface="맑은 고딕"/>
                <a:ea typeface="맑은 고딕"/>
              </a:rPr>
              <a:t>(open-loop)</a:t>
            </a:r>
          </a:p>
          <a:p>
            <a:pPr algn="l">
              <a:lnSpc>
                <a:spcPct val="125000"/>
              </a:lnSpc>
              <a:spcAft>
                <a:spcPts val="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동시</a:t>
            </a:r>
            <a:r>
              <a:rPr sz="1000" b="0" dirty="0">
                <a:solidFill>
                  <a:srgbClr val="000000"/>
                </a:solidFill>
                <a:latin typeface="맑은 고딕"/>
                <a:ea typeface="맑은 고딕"/>
              </a:rPr>
              <a:t> 세션≈250~450→KV 1.3~2.2 TiB(HBM 풀</a:t>
            </a:r>
            <a:r>
              <a:rPr lang="en-US" altLang="ko-KR" sz="1000" dirty="0"/>
              <a:t>(Weight, Activation</a:t>
            </a:r>
            <a:r>
              <a:rPr lang="ko-KR" altLang="en-US" sz="1000" dirty="0"/>
              <a:t>제외</a:t>
            </a:r>
            <a:r>
              <a:rPr lang="en-US" altLang="ko-KR" sz="1000" dirty="0"/>
              <a:t>)</a:t>
            </a:r>
            <a:r>
              <a:rPr sz="1000" b="0" dirty="0">
                <a:solidFill>
                  <a:srgbClr val="000000"/>
                </a:solidFill>
                <a:latin typeface="맑은 고딕"/>
                <a:ea typeface="맑은 고딕"/>
              </a:rPr>
              <a:t> 425 </a:t>
            </a:r>
            <a:r>
              <a:rPr sz="1000" b="0" dirty="0" err="1">
                <a:solidFill>
                  <a:srgbClr val="000000"/>
                </a:solidFill>
                <a:latin typeface="맑은 고딕"/>
                <a:ea typeface="맑은 고딕"/>
              </a:rPr>
              <a:t>GiB의</a:t>
            </a:r>
            <a:r>
              <a:rPr sz="1000" b="0" dirty="0">
                <a:solidFill>
                  <a:srgbClr val="000000"/>
                </a:solidFill>
                <a:latin typeface="맑은 고딕"/>
                <a:ea typeface="맑은 고딕"/>
              </a:rPr>
              <a:t> 3~5배, </a:t>
            </a:r>
            <a:r>
              <a:rPr sz="1000" b="0" dirty="0" err="1">
                <a:solidFill>
                  <a:srgbClr val="000000"/>
                </a:solidFill>
                <a:latin typeface="맑은 고딕"/>
                <a:ea typeface="맑은 고딕"/>
              </a:rPr>
              <a:t>HBM+DRAM도</a:t>
            </a:r>
            <a:r>
              <a:rPr sz="1000" b="0" dirty="0">
                <a:solidFill>
                  <a:srgbClr val="000000"/>
                </a:solidFill>
                <a:latin typeface="맑은 고딕"/>
                <a:ea typeface="맑은 고딕"/>
              </a:rPr>
              <a:t> </a:t>
            </a:r>
            <a:r>
              <a:rPr sz="1000" b="0" dirty="0" err="1">
                <a:solidFill>
                  <a:srgbClr val="000000"/>
                </a:solidFill>
                <a:latin typeface="맑은 고딕"/>
                <a:ea typeface="맑은 고딕"/>
              </a:rPr>
              <a:t>초과</a:t>
            </a:r>
            <a:r>
              <a:rPr sz="1000" b="0" dirty="0">
                <a:solidFill>
                  <a:srgbClr val="000000"/>
                </a:solidFill>
                <a:latin typeface="맑은 고딕"/>
                <a:ea typeface="맑은 고딕"/>
              </a:rPr>
              <a:t>)</a:t>
            </a:r>
            <a:r>
              <a:rPr lang="en-US" sz="1000" b="0" dirty="0">
                <a:solidFill>
                  <a:srgbClr val="000000"/>
                </a:solidFill>
                <a:latin typeface="맑은 고딕"/>
                <a:ea typeface="맑은 고딕"/>
              </a:rPr>
              <a:t>	</a:t>
            </a:r>
          </a:p>
          <a:p>
            <a:pPr algn="l"/>
            <a:r>
              <a:rPr lang="en-US" altLang="ko-KR" sz="1000" b="0" dirty="0">
                <a:solidFill>
                  <a:srgbClr val="000000"/>
                </a:solidFill>
                <a:latin typeface="맑은 고딕"/>
                <a:ea typeface="맑은 고딕"/>
              </a:rPr>
              <a:t>• Agent </a:t>
            </a:r>
            <a:r>
              <a:rPr lang="ko-KR" altLang="en-US" sz="1000" b="0" dirty="0">
                <a:solidFill>
                  <a:srgbClr val="000000"/>
                </a:solidFill>
                <a:latin typeface="맑은 고딕"/>
                <a:ea typeface="맑은 고딕"/>
              </a:rPr>
              <a:t>세션이 </a:t>
            </a:r>
            <a:r>
              <a:rPr lang="en-US" altLang="ko-KR" sz="1000" b="0" dirty="0">
                <a:solidFill>
                  <a:srgbClr val="000000"/>
                </a:solidFill>
                <a:latin typeface="맑은 고딕"/>
                <a:ea typeface="맑은 고딕"/>
              </a:rPr>
              <a:t>idle</a:t>
            </a:r>
            <a:r>
              <a:rPr lang="ko-KR" altLang="en-US" sz="1000" b="0" dirty="0">
                <a:solidFill>
                  <a:srgbClr val="000000"/>
                </a:solidFill>
                <a:latin typeface="맑은 고딕"/>
                <a:ea typeface="맑은 고딕"/>
              </a:rPr>
              <a:t>을 두고 턴을 이어 감</a:t>
            </a:r>
            <a:r>
              <a:rPr lang="en-US" altLang="ko-KR" sz="1000" b="0" dirty="0">
                <a:solidFill>
                  <a:srgbClr val="000000"/>
                </a:solidFill>
                <a:latin typeface="맑은 고딕"/>
                <a:ea typeface="맑은 고딕"/>
              </a:rPr>
              <a:t>. </a:t>
            </a:r>
            <a:r>
              <a:rPr lang="ko-KR" altLang="en-US" sz="1000" b="0" dirty="0">
                <a:solidFill>
                  <a:srgbClr val="000000"/>
                </a:solidFill>
                <a:latin typeface="맑은 고딕"/>
                <a:ea typeface="맑은 고딕"/>
              </a:rPr>
              <a:t>유휴 </a:t>
            </a:r>
            <a:r>
              <a:rPr lang="en-US" altLang="ko-KR" sz="1000" b="0" dirty="0">
                <a:solidFill>
                  <a:srgbClr val="000000"/>
                </a:solidFill>
                <a:latin typeface="맑은 고딕"/>
                <a:ea typeface="맑은 고딕"/>
              </a:rPr>
              <a:t>KV</a:t>
            </a:r>
            <a:r>
              <a:rPr lang="ko-KR" altLang="en-US" sz="1000" b="0" dirty="0">
                <a:solidFill>
                  <a:srgbClr val="000000"/>
                </a:solidFill>
                <a:latin typeface="맑은 고딕"/>
                <a:ea typeface="맑은 고딕"/>
              </a:rPr>
              <a:t>가 </a:t>
            </a:r>
            <a:r>
              <a:rPr lang="en-US" altLang="ko-KR" sz="1000" b="0" dirty="0">
                <a:solidFill>
                  <a:srgbClr val="000000"/>
                </a:solidFill>
                <a:latin typeface="맑은 고딕"/>
                <a:ea typeface="맑은 고딕"/>
              </a:rPr>
              <a:t>HBM</a:t>
            </a:r>
            <a:r>
              <a:rPr lang="ko-KR" altLang="en-US" sz="1000" b="0" dirty="0">
                <a:solidFill>
                  <a:srgbClr val="000000"/>
                </a:solidFill>
                <a:latin typeface="맑은 고딕"/>
                <a:ea typeface="맑은 고딕"/>
              </a:rPr>
              <a:t>을 점유</a:t>
            </a:r>
          </a:p>
        </p:txBody>
      </p:sp>
      <p:graphicFrame>
        <p:nvGraphicFramePr>
          <p:cNvPr id="9" name="tbl"/>
          <p:cNvGraphicFramePr>
            <a:graphicFrameLocks noGrp="1"/>
          </p:cNvGraphicFramePr>
          <p:nvPr>
            <p:extLst>
              <p:ext uri="{D42A27DB-BD31-4B8C-83A1-F6EECF244321}">
                <p14:modId xmlns:p14="http://schemas.microsoft.com/office/powerpoint/2010/main" val="3299051615"/>
              </p:ext>
            </p:extLst>
          </p:nvPr>
        </p:nvGraphicFramePr>
        <p:xfrm>
          <a:off x="365760" y="2616861"/>
          <a:ext cx="11457432" cy="2907792"/>
        </p:xfrm>
        <a:graphic>
          <a:graphicData uri="http://schemas.openxmlformats.org/drawingml/2006/table">
            <a:tbl>
              <a:tblPr>
                <a:tableStyleId>{2D5ABB26-0587-4C30-8999-92F81FD0307C}</a:tableStyleId>
              </a:tblPr>
              <a:tblGrid>
                <a:gridCol w="1097280">
                  <a:extLst>
                    <a:ext uri="{9D8B030D-6E8A-4147-A177-3AD203B41FA5}">
                      <a16:colId xmlns:a16="http://schemas.microsoft.com/office/drawing/2014/main" val="20000"/>
                    </a:ext>
                  </a:extLst>
                </a:gridCol>
                <a:gridCol w="2120132">
                  <a:extLst>
                    <a:ext uri="{9D8B030D-6E8A-4147-A177-3AD203B41FA5}">
                      <a16:colId xmlns:a16="http://schemas.microsoft.com/office/drawing/2014/main" val="20001"/>
                    </a:ext>
                  </a:extLst>
                </a:gridCol>
                <a:gridCol w="1446028">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gridCol w="2505456">
                  <a:extLst>
                    <a:ext uri="{9D8B030D-6E8A-4147-A177-3AD203B41FA5}">
                      <a16:colId xmlns:a16="http://schemas.microsoft.com/office/drawing/2014/main" val="20005"/>
                    </a:ext>
                  </a:extLst>
                </a:gridCol>
              </a:tblGrid>
              <a:tr h="274320">
                <a:tc>
                  <a:txBody>
                    <a:bodyPr/>
                    <a:lstStyle/>
                    <a:p>
                      <a:pPr algn="ctr"/>
                      <a:r>
                        <a:rPr sz="1050" b="1" dirty="0">
                          <a:solidFill>
                            <a:srgbClr val="FFFFFF"/>
                          </a:solidFill>
                          <a:latin typeface="맑은 고딕"/>
                          <a:ea typeface="맑은 고딕"/>
                        </a:rPr>
                        <a:t>QA</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lang="ko-KR" altLang="en-US" sz="1050" b="1" dirty="0">
                          <a:solidFill>
                            <a:srgbClr val="FFFFFF"/>
                          </a:solidFill>
                          <a:latin typeface="맑은 고딕"/>
                          <a:ea typeface="맑은 고딕"/>
                        </a:rPr>
                        <a:t>평가</a:t>
                      </a:r>
                      <a:r>
                        <a:rPr lang="en-US" altLang="ko-KR" sz="1050" b="1" dirty="0">
                          <a:solidFill>
                            <a:srgbClr val="FFFFFF"/>
                          </a:solidFill>
                          <a:latin typeface="맑은 고딕"/>
                          <a:ea typeface="맑은 고딕"/>
                        </a:rPr>
                        <a:t> Metric</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lang="en-US" sz="1050" b="1" dirty="0">
                          <a:solidFill>
                            <a:srgbClr val="FFFFFF"/>
                          </a:solidFill>
                          <a:latin typeface="맑은 고딕"/>
                          <a:ea typeface="맑은 고딕"/>
                        </a:rPr>
                        <a:t>Baseline (B0)</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err="1">
                          <a:solidFill>
                            <a:srgbClr val="FFFFFF"/>
                          </a:solidFill>
                          <a:latin typeface="맑은 고딕"/>
                          <a:ea typeface="맑은 고딕"/>
                        </a:rPr>
                        <a:t>단순</a:t>
                      </a:r>
                      <a:r>
                        <a:rPr sz="1050" b="1" dirty="0">
                          <a:solidFill>
                            <a:srgbClr val="FFFFFF"/>
                          </a:solidFill>
                          <a:latin typeface="맑은 고딕"/>
                          <a:ea typeface="맑은 고딕"/>
                        </a:rPr>
                        <a:t> offloading</a:t>
                      </a:r>
                      <a:r>
                        <a:rPr lang="en-US" sz="1050" b="1" dirty="0">
                          <a:solidFill>
                            <a:srgbClr val="FFFFFF"/>
                          </a:solidFill>
                          <a:latin typeface="맑은 고딕"/>
                          <a:ea typeface="맑은 고딕"/>
                        </a:rPr>
                        <a:t> </a:t>
                      </a:r>
                      <a:r>
                        <a:rPr lang="ko-KR" altLang="en-US" sz="1050" b="1" dirty="0">
                          <a:solidFill>
                            <a:srgbClr val="FFFFFF"/>
                          </a:solidFill>
                          <a:latin typeface="맑은 고딕"/>
                          <a:ea typeface="맑은 고딕"/>
                        </a:rPr>
                        <a:t>기법 </a:t>
                      </a:r>
                      <a:r>
                        <a:rPr lang="en-US" altLang="ko-KR" sz="1050" b="1" dirty="0">
                          <a:solidFill>
                            <a:srgbClr val="FFFFFF"/>
                          </a:solidFill>
                          <a:latin typeface="맑은 고딕"/>
                          <a:ea typeface="맑은 고딕"/>
                        </a:rPr>
                        <a:t>(B1)</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err="1">
                          <a:solidFill>
                            <a:srgbClr val="FFFFFF"/>
                          </a:solidFill>
                          <a:latin typeface="맑은 고딕"/>
                          <a:ea typeface="맑은 고딕"/>
                        </a:rPr>
                        <a:t>후보</a:t>
                      </a:r>
                      <a:r>
                        <a:rPr sz="1050" b="1" dirty="0">
                          <a:solidFill>
                            <a:srgbClr val="FFFFFF"/>
                          </a:solidFill>
                          <a:latin typeface="맑은 고딕"/>
                          <a:ea typeface="맑은 고딕"/>
                        </a:rPr>
                        <a:t> 1안 </a:t>
                      </a:r>
                      <a:r>
                        <a:rPr sz="1050" b="1" dirty="0" err="1">
                          <a:solidFill>
                            <a:srgbClr val="FFFFFF"/>
                          </a:solidFill>
                          <a:latin typeface="맑은 고딕"/>
                          <a:ea typeface="맑은 고딕"/>
                        </a:rPr>
                        <a:t>상태</a:t>
                      </a:r>
                      <a:r>
                        <a:rPr sz="1050" b="1" dirty="0">
                          <a:solidFill>
                            <a:srgbClr val="FFFFFF"/>
                          </a:solidFill>
                          <a:latin typeface="맑은 고딕"/>
                          <a:ea typeface="맑은 고딕"/>
                        </a:rPr>
                        <a:t> </a:t>
                      </a:r>
                      <a:r>
                        <a:rPr sz="1050" b="1" dirty="0" err="1">
                          <a:solidFill>
                            <a:srgbClr val="FFFFFF"/>
                          </a:solidFill>
                          <a:latin typeface="맑은 고딕"/>
                          <a:ea typeface="맑은 고딕"/>
                        </a:rPr>
                        <a:t>관측+이동</a:t>
                      </a:r>
                      <a:r>
                        <a:rPr sz="1050" b="1" dirty="0">
                          <a:solidFill>
                            <a:srgbClr val="FFFFFF"/>
                          </a:solidFill>
                          <a:latin typeface="맑은 고딕"/>
                          <a:ea typeface="맑은 고딕"/>
                        </a:rPr>
                        <a:t> </a:t>
                      </a:r>
                      <a:r>
                        <a:rPr sz="1050" b="1" dirty="0" err="1">
                          <a:solidFill>
                            <a:srgbClr val="FFFFFF"/>
                          </a:solidFill>
                          <a:latin typeface="맑은 고딕"/>
                          <a:ea typeface="맑은 고딕"/>
                        </a:rPr>
                        <a:t>결정</a:t>
                      </a:r>
                      <a:r>
                        <a:rPr sz="1050" b="1" dirty="0">
                          <a:solidFill>
                            <a:srgbClr val="FFFFFF"/>
                          </a:solidFill>
                          <a:latin typeface="맑은 고딕"/>
                          <a:ea typeface="맑은 고딕"/>
                        </a:rPr>
                        <a:t> </a:t>
                      </a:r>
                      <a:r>
                        <a:rPr sz="1050" b="1" dirty="0" err="1">
                          <a:solidFill>
                            <a:srgbClr val="FFFFFF"/>
                          </a:solidFill>
                          <a:latin typeface="맑은 고딕"/>
                          <a:ea typeface="맑은 고딕"/>
                        </a:rPr>
                        <a:t>통합</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err="1">
                          <a:solidFill>
                            <a:srgbClr val="FFFFFF"/>
                          </a:solidFill>
                          <a:latin typeface="맑은 고딕"/>
                          <a:ea typeface="맑은 고딕"/>
                        </a:rPr>
                        <a:t>후보</a:t>
                      </a:r>
                      <a:r>
                        <a:rPr sz="1050" b="1" dirty="0">
                          <a:solidFill>
                            <a:srgbClr val="FFFFFF"/>
                          </a:solidFill>
                          <a:latin typeface="맑은 고딕"/>
                          <a:ea typeface="맑은 고딕"/>
                        </a:rPr>
                        <a:t> 2안 </a:t>
                      </a:r>
                      <a:r>
                        <a:rPr sz="1050" b="1" dirty="0" err="1">
                          <a:solidFill>
                            <a:srgbClr val="FFFFFF"/>
                          </a:solidFill>
                          <a:latin typeface="맑은 고딕"/>
                          <a:ea typeface="맑은 고딕"/>
                        </a:rPr>
                        <a:t>관측·결정</a:t>
                      </a:r>
                      <a:r>
                        <a:rPr sz="1050" b="1" dirty="0">
                          <a:solidFill>
                            <a:srgbClr val="FFFFFF"/>
                          </a:solidFill>
                          <a:latin typeface="맑은 고딕"/>
                          <a:ea typeface="맑은 고딕"/>
                        </a:rPr>
                        <a:t> </a:t>
                      </a:r>
                      <a:r>
                        <a:rPr sz="1050" b="1" dirty="0" err="1">
                          <a:solidFill>
                            <a:srgbClr val="FFFFFF"/>
                          </a:solidFill>
                          <a:latin typeface="맑은 고딕"/>
                          <a:ea typeface="맑은 고딕"/>
                        </a:rPr>
                        <a:t>분리</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658368">
                <a:tc>
                  <a:txBody>
                    <a:bodyPr/>
                    <a:lstStyle/>
                    <a:p>
                      <a:pPr algn="l"/>
                      <a:r>
                        <a:rPr sz="1000" b="1">
                          <a:solidFill>
                            <a:srgbClr val="000000"/>
                          </a:solidFill>
                          <a:latin typeface="맑은 고딕"/>
                          <a:ea typeface="맑은 고딕"/>
                        </a:rPr>
                        <a:t>Q1 처리량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dirty="0">
                          <a:solidFill>
                            <a:srgbClr val="000000"/>
                          </a:solidFill>
                          <a:latin typeface="맑은 고딕"/>
                          <a:ea typeface="맑은 고딕"/>
                        </a:rPr>
                        <a:t>SLO(TTFT≤2</a:t>
                      </a:r>
                      <a:r>
                        <a:rPr lang="en-US" sz="1000" b="0" dirty="0">
                          <a:solidFill>
                            <a:srgbClr val="000000"/>
                          </a:solidFill>
                          <a:latin typeface="맑은 고딕"/>
                          <a:ea typeface="맑은 고딕"/>
                        </a:rPr>
                        <a:t>s</a:t>
                      </a:r>
                      <a:r>
                        <a:rPr sz="1000" b="0" dirty="0">
                          <a:solidFill>
                            <a:srgbClr val="000000"/>
                          </a:solidFill>
                          <a:latin typeface="맑은 고딕"/>
                          <a:ea typeface="맑은 고딕"/>
                        </a:rPr>
                        <a:t>, TPOT≤50ms)</a:t>
                      </a:r>
                      <a:r>
                        <a:rPr lang="en-US" sz="1000" b="0" dirty="0">
                          <a:solidFill>
                            <a:srgbClr val="000000"/>
                          </a:solidFill>
                          <a:latin typeface="맑은 고딕"/>
                          <a:ea typeface="맑은 고딕"/>
                        </a:rPr>
                        <a:t> </a:t>
                      </a:r>
                      <a:r>
                        <a:rPr sz="1000" b="0" dirty="0" err="1">
                          <a:solidFill>
                            <a:srgbClr val="000000"/>
                          </a:solidFill>
                          <a:latin typeface="맑은 고딕"/>
                          <a:ea typeface="맑은 고딕"/>
                        </a:rPr>
                        <a:t>만족</a:t>
                      </a:r>
                      <a:r>
                        <a:rPr lang="ko-KR" altLang="en-US" sz="1000" b="0" dirty="0">
                          <a:solidFill>
                            <a:srgbClr val="000000"/>
                          </a:solidFill>
                          <a:latin typeface="맑은 고딕"/>
                          <a:ea typeface="맑은 고딕"/>
                        </a:rPr>
                        <a:t>하는 최대 처리량 </a:t>
                      </a:r>
                      <a:r>
                        <a:rPr lang="en-US" altLang="ko-KR" sz="1000" b="0" dirty="0">
                          <a:solidFill>
                            <a:srgbClr val="000000"/>
                          </a:solidFill>
                          <a:latin typeface="맑은 고딕"/>
                          <a:ea typeface="맑은 고딕"/>
                        </a:rPr>
                        <a:t>(Max Goodput)</a:t>
                      </a:r>
                      <a:endParaRPr lang="en-US"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1000" b="0" dirty="0">
                          <a:solidFill>
                            <a:srgbClr val="000000"/>
                          </a:solidFill>
                          <a:latin typeface="맑은 고딕"/>
                          <a:ea typeface="맑은 고딕"/>
                        </a:rPr>
                        <a:t>1.76 query/s (QPS)</a:t>
                      </a:r>
                      <a:endParaRPr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1000" b="0" dirty="0">
                          <a:solidFill>
                            <a:srgbClr val="000000"/>
                          </a:solidFill>
                          <a:latin typeface="맑은 고딕"/>
                          <a:ea typeface="맑은 고딕"/>
                        </a:rPr>
                        <a:t>4.1</a:t>
                      </a:r>
                      <a:r>
                        <a:rPr sz="1000" b="0" dirty="0">
                          <a:solidFill>
                            <a:srgbClr val="000000"/>
                          </a:solidFill>
                          <a:latin typeface="맑은 고딕"/>
                          <a:ea typeface="맑은 고딕"/>
                        </a:rPr>
                        <a:t> </a:t>
                      </a:r>
                      <a:r>
                        <a:rPr lang="en-US" sz="1000" b="0" dirty="0">
                          <a:solidFill>
                            <a:srgbClr val="000000"/>
                          </a:solidFill>
                          <a:latin typeface="맑은 고딕"/>
                          <a:ea typeface="맑은 고딕"/>
                        </a:rPr>
                        <a:t>query/s </a:t>
                      </a:r>
                      <a:r>
                        <a:rPr sz="1000" b="0" dirty="0">
                          <a:solidFill>
                            <a:srgbClr val="000000"/>
                          </a:solidFill>
                          <a:latin typeface="맑은 고딕"/>
                          <a:ea typeface="맑은 고딕"/>
                        </a:rPr>
                        <a:t>(×2.35,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5.63</a:t>
                      </a:r>
                      <a:r>
                        <a:rPr sz="1000" b="1" dirty="0">
                          <a:solidFill>
                            <a:srgbClr val="000000"/>
                          </a:solidFill>
                          <a:latin typeface="맑은 고딕"/>
                          <a:ea typeface="맑은 고딕"/>
                        </a:rPr>
                        <a:t> </a:t>
                      </a:r>
                      <a:r>
                        <a:rPr lang="en-US" sz="1000" b="1" dirty="0">
                          <a:solidFill>
                            <a:srgbClr val="000000"/>
                          </a:solidFill>
                          <a:latin typeface="맑은 고딕"/>
                          <a:ea typeface="맑은 고딕"/>
                        </a:rPr>
                        <a:t>query/s</a:t>
                      </a:r>
                      <a:endParaRPr sz="1000" b="1" dirty="0">
                        <a:solidFill>
                          <a:srgbClr val="000000"/>
                        </a:solidFill>
                        <a:latin typeface="맑은 고딕"/>
                        <a:ea typeface="맑은 고딕"/>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en-US"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3.2x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1.5</a:t>
                      </a:r>
                      <a:endParaRPr lang="en-US" sz="900" b="0" dirty="0">
                        <a:solidFill>
                          <a:srgbClr val="404040"/>
                        </a:solidFill>
                        <a:latin typeface="맑은 고딕"/>
                        <a:ea typeface="맑은 고딕"/>
                      </a:endParaRPr>
                    </a:p>
                    <a:p>
                      <a:pPr marL="171450" indent="-171450" algn="l">
                        <a:buFontTx/>
                        <a:buChar char="-"/>
                      </a:pPr>
                      <a:r>
                        <a:rPr lang="en-US" altLang="ko-KR" sz="900" b="0" dirty="0">
                          <a:solidFill>
                            <a:srgbClr val="404040"/>
                          </a:solidFill>
                          <a:latin typeface="+mn-lt"/>
                          <a:ea typeface="맑은 고딕"/>
                        </a:rPr>
                        <a:t>B1 </a:t>
                      </a:r>
                      <a:r>
                        <a:rPr lang="ko-KR" altLang="en-US" sz="900" b="0" dirty="0">
                          <a:solidFill>
                            <a:srgbClr val="404040"/>
                          </a:solidFill>
                          <a:latin typeface="+mn-lt"/>
                          <a:ea typeface="맑은 고딕"/>
                        </a:rPr>
                        <a:t>대비 </a:t>
                      </a:r>
                      <a:r>
                        <a:rPr lang="en-US" sz="900" b="0" dirty="0">
                          <a:solidFill>
                            <a:srgbClr val="404040"/>
                          </a:solidFill>
                          <a:latin typeface="맑은 고딕"/>
                          <a:ea typeface="맑은 고딕"/>
                        </a:rPr>
                        <a:t>1.36x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7.57 query/s </a:t>
                      </a:r>
                      <a:endParaRPr sz="1000" b="1" dirty="0">
                        <a:solidFill>
                          <a:srgbClr val="000000"/>
                        </a:solidFill>
                        <a:latin typeface="맑은 고딕"/>
                        <a:ea typeface="맑은 고딕"/>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sz="900" b="0" dirty="0">
                          <a:solidFill>
                            <a:srgbClr val="404040"/>
                          </a:solidFill>
                          <a:latin typeface="맑은 고딕"/>
                          <a:ea typeface="맑은 고딕"/>
                        </a:rPr>
                        <a:t>B</a:t>
                      </a:r>
                      <a:r>
                        <a:rPr lang="en-US" sz="900" b="0" dirty="0">
                          <a:solidFill>
                            <a:srgbClr val="404040"/>
                          </a:solidFill>
                          <a:latin typeface="맑은 고딕"/>
                          <a:ea typeface="맑은 고딕"/>
                        </a:rPr>
                        <a:t>aseline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4.3x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en-US" sz="900" b="0" dirty="0">
                        <a:solidFill>
                          <a:srgbClr val="404040"/>
                        </a:solidFill>
                        <a:latin typeface="맑은 고딕"/>
                        <a:ea typeface="맑은 고딕"/>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900" b="0" dirty="0">
                          <a:solidFill>
                            <a:srgbClr val="404040"/>
                          </a:solidFill>
                          <a:latin typeface="+mn-lt"/>
                          <a:ea typeface="맑은 고딕"/>
                        </a:rPr>
                        <a:t>단순 </a:t>
                      </a:r>
                      <a:r>
                        <a:rPr lang="en-US" altLang="ko-KR" sz="900" b="0" dirty="0">
                          <a:solidFill>
                            <a:srgbClr val="404040"/>
                          </a:solidFill>
                          <a:latin typeface="+mn-lt"/>
                          <a:ea typeface="맑은 고딕"/>
                        </a:rPr>
                        <a:t>offloading </a:t>
                      </a:r>
                      <a:r>
                        <a:rPr lang="ko-KR" altLang="en-US" sz="900" b="0" dirty="0">
                          <a:solidFill>
                            <a:srgbClr val="404040"/>
                          </a:solidFill>
                          <a:latin typeface="+mn-lt"/>
                          <a:ea typeface="맑은 고딕"/>
                        </a:rPr>
                        <a:t>대비 </a:t>
                      </a:r>
                      <a:r>
                        <a:rPr lang="en-US" altLang="ko-KR" sz="900" b="0" dirty="0">
                          <a:solidFill>
                            <a:srgbClr val="404040"/>
                          </a:solidFill>
                          <a:latin typeface="+mn-lt"/>
                          <a:ea typeface="맑은 고딕"/>
                        </a:rPr>
                        <a:t>x1.83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658368">
                <a:tc>
                  <a:txBody>
                    <a:bodyPr/>
                    <a:lstStyle/>
                    <a:p>
                      <a:pPr algn="l"/>
                      <a:r>
                        <a:rPr sz="1000" b="1" dirty="0">
                          <a:solidFill>
                            <a:srgbClr val="000000"/>
                          </a:solidFill>
                          <a:latin typeface="맑은 고딕"/>
                          <a:ea typeface="맑은 고딕"/>
                        </a:rPr>
                        <a:t>Q2 HBM </a:t>
                      </a:r>
                      <a:r>
                        <a:rPr sz="1000" b="1" dirty="0" err="1">
                          <a:solidFill>
                            <a:srgbClr val="000000"/>
                          </a:solidFill>
                          <a:latin typeface="맑은 고딕"/>
                          <a:ea typeface="맑은 고딕"/>
                        </a:rPr>
                        <a:t>효율</a:t>
                      </a:r>
                      <a:endParaRPr sz="10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dirty="0">
                          <a:solidFill>
                            <a:srgbClr val="000000"/>
                          </a:solidFill>
                          <a:latin typeface="맑은 고딕"/>
                          <a:ea typeface="맑은 고딕"/>
                        </a:rPr>
                        <a:t>HBM </a:t>
                      </a:r>
                      <a:r>
                        <a:rPr sz="1000" b="0" dirty="0" err="1">
                          <a:solidFill>
                            <a:srgbClr val="000000"/>
                          </a:solidFill>
                          <a:latin typeface="맑은 고딕"/>
                          <a:ea typeface="맑은 고딕"/>
                        </a:rPr>
                        <a:t>상주</a:t>
                      </a:r>
                      <a:r>
                        <a:rPr sz="1000" b="0" dirty="0">
                          <a:solidFill>
                            <a:srgbClr val="000000"/>
                          </a:solidFill>
                          <a:latin typeface="맑은 고딕"/>
                          <a:ea typeface="맑은 고딕"/>
                        </a:rPr>
                        <a:t> KV </a:t>
                      </a:r>
                      <a:r>
                        <a:rPr sz="1000" b="0" dirty="0" err="1">
                          <a:solidFill>
                            <a:srgbClr val="000000"/>
                          </a:solidFill>
                          <a:latin typeface="맑은 고딕"/>
                          <a:ea typeface="맑은 고딕"/>
                        </a:rPr>
                        <a:t>시간</a:t>
                      </a:r>
                      <a:r>
                        <a:rPr sz="1000" b="0" dirty="0">
                          <a:solidFill>
                            <a:srgbClr val="000000"/>
                          </a:solidFill>
                          <a:latin typeface="맑은 고딕"/>
                          <a:ea typeface="맑은 고딕"/>
                        </a:rPr>
                        <a:t> </a:t>
                      </a:r>
                      <a:r>
                        <a:rPr sz="1000" b="0" dirty="0" err="1">
                          <a:solidFill>
                            <a:srgbClr val="000000"/>
                          </a:solidFill>
                          <a:latin typeface="맑은 고딕"/>
                          <a:ea typeface="맑은 고딕"/>
                        </a:rPr>
                        <a:t>평균</a:t>
                      </a:r>
                      <a:r>
                        <a:rPr sz="1000" b="0" dirty="0">
                          <a:solidFill>
                            <a:srgbClr val="000000"/>
                          </a:solidFill>
                          <a:latin typeface="맑은 고딕"/>
                          <a:ea typeface="맑은 고딕"/>
                        </a:rPr>
                        <a:t>(GiB)</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425 GiB</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425 GiB (</a:t>
                      </a:r>
                      <a:r>
                        <a:rPr lang="en-US" altLang="ko-KR" sz="1000" b="0" dirty="0">
                          <a:solidFill>
                            <a:srgbClr val="000000"/>
                          </a:solidFill>
                          <a:latin typeface="+mn-lt"/>
                          <a:ea typeface="맑은 고딕"/>
                        </a:rPr>
                        <a:t>0%, ☆</a:t>
                      </a:r>
                      <a:r>
                        <a:rPr sz="10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238</a:t>
                      </a:r>
                      <a:r>
                        <a:rPr sz="1000" b="1" dirty="0">
                          <a:solidFill>
                            <a:srgbClr val="000000"/>
                          </a:solidFill>
                          <a:latin typeface="맑은 고딕"/>
                          <a:ea typeface="맑은 고딕"/>
                        </a:rPr>
                        <a:t> GiB</a:t>
                      </a:r>
                      <a:endParaRPr lang="en-US" sz="1000" b="1" dirty="0">
                        <a:solidFill>
                          <a:srgbClr val="000000"/>
                        </a:solidFill>
                        <a:latin typeface="맑은 고딕"/>
                        <a:ea typeface="맑은 고딕"/>
                      </a:endParaRPr>
                    </a:p>
                    <a:p>
                      <a:pPr algn="l"/>
                      <a:r>
                        <a:rPr lang="en-US" sz="900" b="0" dirty="0">
                          <a:solidFill>
                            <a:srgbClr val="404040"/>
                          </a:solidFill>
                          <a:latin typeface="맑은 고딕"/>
                          <a:ea typeface="맑은 고딕"/>
                        </a:rPr>
                        <a:t>B0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44%</a:t>
                      </a:r>
                      <a:r>
                        <a:rPr lang="ko-KR" altLang="en-US" sz="900" b="0" dirty="0">
                          <a:solidFill>
                            <a:srgbClr val="404040"/>
                          </a:solidFill>
                          <a:latin typeface="맑은 고딕"/>
                          <a:ea typeface="맑은 고딕"/>
                        </a:rPr>
                        <a:t> 감소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ko-KR" altLang="en-US" sz="900" b="0" dirty="0">
                        <a:solidFill>
                          <a:srgbClr val="404040"/>
                        </a:solidFill>
                        <a:latin typeface="+mn-lt"/>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318</a:t>
                      </a:r>
                      <a:r>
                        <a:rPr sz="1000" b="1" dirty="0">
                          <a:solidFill>
                            <a:srgbClr val="000000"/>
                          </a:solidFill>
                          <a:latin typeface="맑은 고딕"/>
                          <a:ea typeface="맑은 고딕"/>
                        </a:rPr>
                        <a:t> GiB</a:t>
                      </a:r>
                    </a:p>
                    <a:p>
                      <a:pPr algn="l"/>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25</a:t>
                      </a:r>
                      <a:r>
                        <a:rPr sz="900" b="0" dirty="0">
                          <a:solidFill>
                            <a:srgbClr val="404040"/>
                          </a:solidFill>
                          <a:latin typeface="맑은 고딕"/>
                          <a:ea typeface="맑은 고딕"/>
                        </a:rPr>
                        <a:t>% </a:t>
                      </a:r>
                      <a:r>
                        <a:rPr lang="ko-KR" altLang="en-US" sz="900" b="0" dirty="0">
                          <a:solidFill>
                            <a:srgbClr val="404040"/>
                          </a:solidFill>
                          <a:latin typeface="맑은 고딕"/>
                          <a:ea typeface="맑은 고딕"/>
                        </a:rPr>
                        <a:t>감소 </a:t>
                      </a:r>
                      <a:r>
                        <a:rPr lang="ko-KR" altLang="en-US" sz="1000" b="1" dirty="0">
                          <a:solidFill>
                            <a:srgbClr val="2F5597"/>
                          </a:solidFill>
                          <a:latin typeface="+mn-lt"/>
                          <a:ea typeface="맑은 고딕"/>
                        </a:rPr>
                        <a:t>★</a:t>
                      </a:r>
                      <a:r>
                        <a:rPr lang="en-US" altLang="ko-KR" sz="1000" b="1" dirty="0">
                          <a:solidFill>
                            <a:srgbClr val="2F5597"/>
                          </a:solidFill>
                          <a:latin typeface="+mn-lt"/>
                          <a:ea typeface="맑은 고딕"/>
                        </a:rPr>
                        <a:t>1</a:t>
                      </a:r>
                      <a:endParaRPr lang="ko-KR" altLang="en-US" sz="1000" b="0" dirty="0">
                        <a:solidFill>
                          <a:srgbClr val="404040"/>
                        </a:solidFill>
                        <a:latin typeface="+mn-lt"/>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658368">
                <a:tc>
                  <a:txBody>
                    <a:bodyPr/>
                    <a:lstStyle/>
                    <a:p>
                      <a:pPr algn="l"/>
                      <a:r>
                        <a:rPr sz="1000" b="1">
                          <a:solidFill>
                            <a:srgbClr val="000000"/>
                          </a:solidFill>
                          <a:latin typeface="맑은 고딕"/>
                          <a:ea typeface="맑은 고딕"/>
                        </a:rPr>
                        <a:t>Q3 고부하 지연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0" dirty="0">
                          <a:solidFill>
                            <a:srgbClr val="000000"/>
                          </a:solidFill>
                          <a:latin typeface="맑은 고딕"/>
                          <a:ea typeface="맑은 고딕"/>
                        </a:rPr>
                        <a:t>Baseline </a:t>
                      </a:r>
                      <a:r>
                        <a:rPr sz="1000" b="0" dirty="0" err="1">
                          <a:solidFill>
                            <a:srgbClr val="000000"/>
                          </a:solidFill>
                          <a:latin typeface="맑은 고딕"/>
                          <a:ea typeface="맑은 고딕"/>
                        </a:rPr>
                        <a:t>포화</a:t>
                      </a:r>
                      <a:r>
                        <a:rPr sz="1000" b="0" dirty="0">
                          <a:solidFill>
                            <a:srgbClr val="000000"/>
                          </a:solidFill>
                          <a:latin typeface="맑은 고딕"/>
                          <a:ea typeface="맑은 고딕"/>
                        </a:rPr>
                        <a:t> </a:t>
                      </a:r>
                      <a:r>
                        <a:rPr sz="1000" b="0" dirty="0" err="1">
                          <a:solidFill>
                            <a:srgbClr val="000000"/>
                          </a:solidFill>
                          <a:latin typeface="맑은 고딕"/>
                          <a:ea typeface="맑은 고딕"/>
                        </a:rPr>
                        <a:t>부하의</a:t>
                      </a:r>
                      <a:r>
                        <a:rPr sz="1000" b="0" dirty="0">
                          <a:solidFill>
                            <a:srgbClr val="000000"/>
                          </a:solidFill>
                          <a:latin typeface="맑은 고딕"/>
                          <a:ea typeface="맑은 고딕"/>
                        </a:rPr>
                        <a:t> 90%에서 TTFT</a:t>
                      </a:r>
                      <a:r>
                        <a:rPr lang="en-US" sz="1000" b="0" dirty="0">
                          <a:solidFill>
                            <a:srgbClr val="000000"/>
                          </a:solidFill>
                          <a:latin typeface="맑은 고딕"/>
                          <a:ea typeface="맑은 고딕"/>
                        </a:rPr>
                        <a:t>, </a:t>
                      </a:r>
                      <a:r>
                        <a:rPr sz="1000" b="0" dirty="0">
                          <a:solidFill>
                            <a:srgbClr val="000000"/>
                          </a:solidFill>
                          <a:latin typeface="맑은 고딕"/>
                          <a:ea typeface="맑은 고딕"/>
                        </a:rPr>
                        <a:t>TPOT P99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TTFT </a:t>
                      </a:r>
                      <a:r>
                        <a:rPr lang="en-US" sz="1000" b="0" dirty="0">
                          <a:solidFill>
                            <a:srgbClr val="000000"/>
                          </a:solidFill>
                          <a:latin typeface="맑은 고딕"/>
                          <a:ea typeface="맑은 고딕"/>
                        </a:rPr>
                        <a:t>1</a:t>
                      </a:r>
                      <a:r>
                        <a:rPr sz="1000" b="0" dirty="0">
                          <a:solidFill>
                            <a:srgbClr val="000000"/>
                          </a:solidFill>
                          <a:latin typeface="맑은 고딕"/>
                          <a:ea typeface="맑은 고딕"/>
                        </a:rPr>
                        <a:t>.</a:t>
                      </a:r>
                      <a:r>
                        <a:rPr lang="en-US" sz="1000" b="0" dirty="0">
                          <a:solidFill>
                            <a:srgbClr val="000000"/>
                          </a:solidFill>
                          <a:latin typeface="맑은 고딕"/>
                          <a:ea typeface="맑은 고딕"/>
                        </a:rPr>
                        <a:t>89 s, </a:t>
                      </a:r>
                    </a:p>
                    <a:p>
                      <a:pPr algn="ctr"/>
                      <a:r>
                        <a:rPr sz="1000" b="0" dirty="0">
                          <a:solidFill>
                            <a:srgbClr val="000000"/>
                          </a:solidFill>
                          <a:latin typeface="맑은 고딕"/>
                          <a:ea typeface="맑은 고딕"/>
                        </a:rPr>
                        <a:t>TPOT 26.2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endParaRPr lang="en-US"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TTFT </a:t>
                      </a:r>
                      <a:r>
                        <a:rPr lang="en-US" sz="1000" b="0" dirty="0">
                          <a:solidFill>
                            <a:srgbClr val="000000"/>
                          </a:solidFill>
                          <a:latin typeface="맑은 고딕"/>
                          <a:ea typeface="맑은 고딕"/>
                        </a:rPr>
                        <a:t>1.5 </a:t>
                      </a:r>
                      <a:r>
                        <a:rPr sz="1000" b="0" dirty="0">
                          <a:solidFill>
                            <a:srgbClr val="000000"/>
                          </a:solidFill>
                          <a:latin typeface="맑은 고딕"/>
                          <a:ea typeface="맑은 고딕"/>
                        </a:rPr>
                        <a:t>s</a:t>
                      </a:r>
                      <a:r>
                        <a:rPr lang="en-US" sz="1000" b="0" dirty="0">
                          <a:solidFill>
                            <a:srgbClr val="000000"/>
                          </a:solidFill>
                          <a:latin typeface="맑은 고딕"/>
                          <a:ea typeface="맑은 고딕"/>
                        </a:rPr>
                        <a:t>,</a:t>
                      </a:r>
                    </a:p>
                    <a:p>
                      <a:pPr algn="ctr"/>
                      <a:r>
                        <a:rPr sz="1000" b="0" dirty="0">
                          <a:solidFill>
                            <a:srgbClr val="000000"/>
                          </a:solidFill>
                          <a:latin typeface="맑은 고딕"/>
                          <a:ea typeface="맑은 고딕"/>
                        </a:rPr>
                        <a:t>TPOT 21.6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endParaRPr lang="en-US" sz="1000" b="0" dirty="0">
                        <a:solidFill>
                          <a:srgbClr val="000000"/>
                        </a:solidFill>
                        <a:latin typeface="맑은 고딕"/>
                        <a:ea typeface="맑은 고딕"/>
                      </a:endParaRPr>
                    </a:p>
                    <a:p>
                      <a:pPr algn="ctr"/>
                      <a:r>
                        <a:rPr sz="1000" b="0" dirty="0">
                          <a:solidFill>
                            <a:srgbClr val="000000"/>
                          </a:solidFill>
                          <a:latin typeface="맑은 고딕"/>
                          <a:ea typeface="맑은 고딕"/>
                        </a:rPr>
                        <a:t>(</a:t>
                      </a:r>
                      <a:r>
                        <a:rPr lang="en-US" sz="1000" b="0" dirty="0">
                          <a:solidFill>
                            <a:srgbClr val="000000"/>
                          </a:solidFill>
                          <a:latin typeface="맑은 고딕"/>
                          <a:ea typeface="맑은 고딕"/>
                        </a:rPr>
                        <a:t>TTFT 20% </a:t>
                      </a:r>
                      <a:r>
                        <a:rPr lang="ko-KR" altLang="en-US" sz="1000" b="0" dirty="0">
                          <a:solidFill>
                            <a:srgbClr val="000000"/>
                          </a:solidFill>
                          <a:latin typeface="맑은 고딕"/>
                          <a:ea typeface="맑은 고딕"/>
                        </a:rPr>
                        <a:t>감소</a:t>
                      </a:r>
                      <a:r>
                        <a:rPr sz="1000" b="0" dirty="0">
                          <a:solidFill>
                            <a:srgbClr val="000000"/>
                          </a:solidFill>
                          <a:latin typeface="맑은 고딕"/>
                          <a:ea typeface="맑은 고딕"/>
                        </a:rPr>
                        <a:t>, </a:t>
                      </a:r>
                      <a:r>
                        <a:rPr lang="en-US" altLang="ko-KR" sz="1000" b="0" dirty="0">
                          <a:solidFill>
                            <a:srgbClr val="000000"/>
                          </a:solidFill>
                          <a:latin typeface="+mn-lt"/>
                          <a:ea typeface="맑은 고딕"/>
                        </a:rPr>
                        <a:t>0% ☆</a:t>
                      </a:r>
                      <a:r>
                        <a:rPr sz="10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1" dirty="0">
                          <a:solidFill>
                            <a:srgbClr val="000000"/>
                          </a:solidFill>
                          <a:latin typeface="맑은 고딕"/>
                          <a:ea typeface="맑은 고딕"/>
                        </a:rPr>
                        <a:t>TTFT </a:t>
                      </a:r>
                      <a:r>
                        <a:rPr lang="en-US" sz="1000" b="1" dirty="0">
                          <a:solidFill>
                            <a:srgbClr val="000000"/>
                          </a:solidFill>
                          <a:latin typeface="맑은 고딕"/>
                          <a:ea typeface="맑은 고딕"/>
                        </a:rPr>
                        <a:t>1.29</a:t>
                      </a:r>
                      <a:r>
                        <a:rPr sz="1000" b="1" dirty="0">
                          <a:solidFill>
                            <a:srgbClr val="000000"/>
                          </a:solidFill>
                          <a:latin typeface="맑은 고딕"/>
                          <a:ea typeface="맑은 고딕"/>
                        </a:rPr>
                        <a:t> s</a:t>
                      </a:r>
                      <a:r>
                        <a:rPr lang="en-US" sz="1000" b="1" dirty="0">
                          <a:solidFill>
                            <a:srgbClr val="000000"/>
                          </a:solidFill>
                          <a:latin typeface="맑은 고딕"/>
                          <a:ea typeface="맑은 고딕"/>
                        </a:rPr>
                        <a:t>, </a:t>
                      </a:r>
                      <a:r>
                        <a:rPr sz="1000" b="1" dirty="0">
                          <a:solidFill>
                            <a:srgbClr val="000000"/>
                          </a:solidFill>
                          <a:latin typeface="맑은 고딕"/>
                          <a:ea typeface="맑은 고딕"/>
                        </a:rPr>
                        <a:t> TPOT </a:t>
                      </a:r>
                      <a:r>
                        <a:rPr lang="en-US" sz="1000" b="1" dirty="0">
                          <a:solidFill>
                            <a:srgbClr val="000000"/>
                          </a:solidFill>
                          <a:latin typeface="맑은 고딕"/>
                          <a:ea typeface="맑은 고딕"/>
                        </a:rPr>
                        <a:t>25</a:t>
                      </a:r>
                      <a:r>
                        <a:rPr sz="1000" b="1" dirty="0">
                          <a:solidFill>
                            <a:srgbClr val="000000"/>
                          </a:solidFill>
                          <a:latin typeface="맑은 고딕"/>
                          <a:ea typeface="맑은 고딕"/>
                        </a:rPr>
                        <a:t> </a:t>
                      </a:r>
                      <a:r>
                        <a:rPr sz="1000" b="1" dirty="0" err="1">
                          <a:solidFill>
                            <a:srgbClr val="000000"/>
                          </a:solidFill>
                          <a:latin typeface="맑은 고딕"/>
                          <a:ea typeface="맑은 고딕"/>
                        </a:rPr>
                        <a:t>ms</a:t>
                      </a:r>
                      <a:endParaRPr sz="1000" b="1" dirty="0">
                        <a:solidFill>
                          <a:srgbClr val="000000"/>
                        </a:solidFill>
                        <a:latin typeface="맑은 고딕"/>
                        <a:ea typeface="맑은 고딕"/>
                      </a:endParaRPr>
                    </a:p>
                    <a:p>
                      <a:pPr marL="171450" indent="-171450" algn="l">
                        <a:buFontTx/>
                        <a:buChar char="-"/>
                      </a:pPr>
                      <a:r>
                        <a:rPr lang="en-US" sz="900" b="0" dirty="0">
                          <a:solidFill>
                            <a:srgbClr val="404040"/>
                          </a:solidFill>
                          <a:latin typeface="맑은 고딕"/>
                          <a:ea typeface="맑은 고딕"/>
                        </a:rPr>
                        <a:t>B0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TTFT 32% </a:t>
                      </a:r>
                      <a:r>
                        <a:rPr lang="ko-KR" altLang="en-US" sz="900" b="0" dirty="0">
                          <a:solidFill>
                            <a:srgbClr val="404040"/>
                          </a:solidFill>
                          <a:latin typeface="맑은 고딕"/>
                          <a:ea typeface="맑은 고딕"/>
                        </a:rPr>
                        <a:t>감소 </a:t>
                      </a:r>
                      <a:r>
                        <a:rPr lang="ko-KR" altLang="en-US" sz="1000" b="1" kern="1200" dirty="0">
                          <a:solidFill>
                            <a:srgbClr val="2F5597"/>
                          </a:solidFill>
                          <a:latin typeface="+mn-lt"/>
                          <a:ea typeface="맑은 고딕"/>
                          <a:cs typeface="+mn-cs"/>
                        </a:rPr>
                        <a:t>★</a:t>
                      </a:r>
                      <a:r>
                        <a:rPr lang="en-US" altLang="ko-KR" sz="1000" b="1" kern="1200" dirty="0">
                          <a:solidFill>
                            <a:srgbClr val="2F5597"/>
                          </a:solidFill>
                          <a:latin typeface="+mn-lt"/>
                          <a:ea typeface="맑은 고딕"/>
                          <a:cs typeface="+mn-cs"/>
                        </a:rPr>
                        <a:t>1</a:t>
                      </a:r>
                    </a:p>
                    <a:p>
                      <a:pPr marL="171450" indent="-171450" algn="l">
                        <a:buFontTx/>
                        <a:buChar char="-"/>
                      </a:pPr>
                      <a:r>
                        <a:rPr lang="en-US" altLang="ko-KR"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TTFT 14%  </a:t>
                      </a:r>
                      <a:r>
                        <a:rPr lang="ko-KR" altLang="en-US" sz="900" b="0" dirty="0">
                          <a:solidFill>
                            <a:srgbClr val="404040"/>
                          </a:solidFill>
                          <a:latin typeface="맑은 고딕"/>
                          <a:ea typeface="맑은 고딕"/>
                        </a:rPr>
                        <a:t>감소</a:t>
                      </a:r>
                      <a:endParaRPr lang="en-US" altLang="ko-KR"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1" dirty="0">
                          <a:solidFill>
                            <a:srgbClr val="000000"/>
                          </a:solidFill>
                          <a:latin typeface="맑은 고딕"/>
                          <a:ea typeface="맑은 고딕"/>
                        </a:rPr>
                        <a:t>TTFT 0.8</a:t>
                      </a:r>
                      <a:r>
                        <a:rPr lang="en-US" sz="1000" b="1" dirty="0">
                          <a:solidFill>
                            <a:srgbClr val="000000"/>
                          </a:solidFill>
                          <a:latin typeface="맑은 고딕"/>
                          <a:ea typeface="맑은 고딕"/>
                        </a:rPr>
                        <a:t>7</a:t>
                      </a:r>
                      <a:r>
                        <a:rPr sz="1000" b="1" dirty="0">
                          <a:solidFill>
                            <a:srgbClr val="000000"/>
                          </a:solidFill>
                          <a:latin typeface="맑은 고딕"/>
                          <a:ea typeface="맑은 고딕"/>
                        </a:rPr>
                        <a:t> s</a:t>
                      </a:r>
                      <a:r>
                        <a:rPr lang="en-US" sz="1000" b="1" dirty="0">
                          <a:solidFill>
                            <a:srgbClr val="000000"/>
                          </a:solidFill>
                          <a:latin typeface="맑은 고딕"/>
                          <a:ea typeface="맑은 고딕"/>
                        </a:rPr>
                        <a:t>, </a:t>
                      </a:r>
                      <a:r>
                        <a:rPr sz="1000" b="1" dirty="0">
                          <a:solidFill>
                            <a:srgbClr val="000000"/>
                          </a:solidFill>
                          <a:latin typeface="맑은 고딕"/>
                          <a:ea typeface="맑은 고딕"/>
                        </a:rPr>
                        <a:t>TPOT 21.4 </a:t>
                      </a:r>
                      <a:r>
                        <a:rPr sz="1000" b="1" dirty="0" err="1">
                          <a:solidFill>
                            <a:srgbClr val="000000"/>
                          </a:solidFill>
                          <a:latin typeface="맑은 고딕"/>
                          <a:ea typeface="맑은 고딕"/>
                        </a:rPr>
                        <a:t>ms</a:t>
                      </a:r>
                      <a:endParaRPr sz="10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TTFT</a:t>
                      </a:r>
                      <a:r>
                        <a:rPr lang="ko-KR" altLang="en-US" sz="900" b="0" dirty="0">
                          <a:solidFill>
                            <a:srgbClr val="404040"/>
                          </a:solidFill>
                          <a:latin typeface="맑은 고딕"/>
                          <a:ea typeface="맑은 고딕"/>
                        </a:rPr>
                        <a:t> </a:t>
                      </a:r>
                      <a:r>
                        <a:rPr lang="en-US" altLang="ko-KR" sz="900" b="0" dirty="0">
                          <a:solidFill>
                            <a:srgbClr val="404040"/>
                          </a:solidFill>
                          <a:latin typeface="맑은 고딕"/>
                          <a:ea typeface="맑은 고딕"/>
                        </a:rPr>
                        <a:t>54%</a:t>
                      </a:r>
                      <a:r>
                        <a:rPr lang="ko-KR" altLang="en-US" sz="900" b="0" dirty="0">
                          <a:solidFill>
                            <a:srgbClr val="404040"/>
                          </a:solidFill>
                          <a:latin typeface="맑은 고딕"/>
                          <a:ea typeface="맑은 고딕"/>
                        </a:rPr>
                        <a:t> 감소 </a:t>
                      </a:r>
                      <a:r>
                        <a:rPr lang="ko-KR" altLang="en-US" sz="1000" b="1" kern="1200" dirty="0">
                          <a:solidFill>
                            <a:srgbClr val="2F5597"/>
                          </a:solidFill>
                          <a:latin typeface="+mn-lt"/>
                          <a:ea typeface="맑은 고딕"/>
                          <a:cs typeface="+mn-cs"/>
                        </a:rPr>
                        <a:t>★</a:t>
                      </a:r>
                      <a:r>
                        <a:rPr lang="en-US" altLang="ko-KR" sz="1000" b="1" kern="1200" dirty="0">
                          <a:solidFill>
                            <a:srgbClr val="2F5597"/>
                          </a:solidFill>
                          <a:latin typeface="+mn-lt"/>
                          <a:ea typeface="맑은 고딕"/>
                          <a:cs typeface="+mn-cs"/>
                        </a:rPr>
                        <a:t>2</a:t>
                      </a:r>
                    </a:p>
                    <a:p>
                      <a:pPr marL="171450" indent="-171450" algn="l">
                        <a:buFontTx/>
                        <a:buChar char="-"/>
                      </a:pPr>
                      <a:r>
                        <a:rPr lang="en-US"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TTFT 42% </a:t>
                      </a:r>
                      <a:r>
                        <a:rPr lang="ko-KR" altLang="en-US" sz="900" b="0" dirty="0">
                          <a:solidFill>
                            <a:srgbClr val="404040"/>
                          </a:solidFill>
                          <a:latin typeface="맑은 고딕"/>
                          <a:ea typeface="맑은 고딕"/>
                        </a:rPr>
                        <a:t>감소 </a:t>
                      </a:r>
                      <a:endParaRPr lang="en-US" altLang="ko-KR"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r h="658368">
                <a:tc>
                  <a:txBody>
                    <a:bodyPr/>
                    <a:lstStyle/>
                    <a:p>
                      <a:pPr algn="l"/>
                      <a:r>
                        <a:rPr sz="1000" b="1" dirty="0">
                          <a:solidFill>
                            <a:srgbClr val="000000"/>
                          </a:solidFill>
                          <a:latin typeface="맑은 고딕"/>
                          <a:ea typeface="맑은 고딕"/>
                        </a:rPr>
                        <a:t>Q5 </a:t>
                      </a:r>
                      <a:r>
                        <a:rPr sz="1000" b="1" dirty="0" err="1">
                          <a:solidFill>
                            <a:srgbClr val="000000"/>
                          </a:solidFill>
                          <a:latin typeface="맑은 고딕"/>
                          <a:ea typeface="맑은 고딕"/>
                        </a:rPr>
                        <a:t>변경</a:t>
                      </a:r>
                      <a:r>
                        <a:rPr sz="1000" b="1" dirty="0">
                          <a:solidFill>
                            <a:srgbClr val="000000"/>
                          </a:solidFill>
                          <a:latin typeface="맑은 고딕"/>
                          <a:ea typeface="맑은 고딕"/>
                        </a:rPr>
                        <a:t> </a:t>
                      </a:r>
                      <a:r>
                        <a:rPr sz="1000" b="1" dirty="0" err="1">
                          <a:solidFill>
                            <a:srgbClr val="000000"/>
                          </a:solidFill>
                          <a:latin typeface="맑은 고딕"/>
                          <a:ea typeface="맑은 고딕"/>
                        </a:rPr>
                        <a:t>용이성</a:t>
                      </a:r>
                      <a:endParaRPr sz="10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dirty="0" err="1">
                          <a:solidFill>
                            <a:srgbClr val="000000"/>
                          </a:solidFill>
                          <a:latin typeface="맑은 고딕"/>
                          <a:ea typeface="맑은 고딕"/>
                        </a:rPr>
                        <a:t>변경</a:t>
                      </a:r>
                      <a:r>
                        <a:rPr sz="1000" b="0" dirty="0">
                          <a:solidFill>
                            <a:srgbClr val="000000"/>
                          </a:solidFill>
                          <a:latin typeface="맑은 고딕"/>
                          <a:ea typeface="맑은 고딕"/>
                        </a:rPr>
                        <a:t> </a:t>
                      </a:r>
                      <a:r>
                        <a:rPr sz="1000" b="0" dirty="0" err="1">
                          <a:solidFill>
                            <a:srgbClr val="000000"/>
                          </a:solidFill>
                          <a:latin typeface="맑은 고딕"/>
                          <a:ea typeface="맑은 고딕"/>
                        </a:rPr>
                        <a:t>시나리오</a:t>
                      </a:r>
                      <a:r>
                        <a:rPr sz="1000" b="0" dirty="0">
                          <a:solidFill>
                            <a:srgbClr val="000000"/>
                          </a:solidFill>
                          <a:latin typeface="맑은 고딕"/>
                          <a:ea typeface="맑은 고딕"/>
                        </a:rPr>
                        <a:t> </a:t>
                      </a:r>
                      <a:r>
                        <a:rPr sz="1000" b="0" dirty="0" err="1">
                          <a:solidFill>
                            <a:srgbClr val="000000"/>
                          </a:solidFill>
                          <a:latin typeface="맑은 고딕"/>
                          <a:ea typeface="맑은 고딕"/>
                        </a:rPr>
                        <a:t>평균</a:t>
                      </a:r>
                      <a:r>
                        <a:rPr sz="1000" b="0" dirty="0">
                          <a:solidFill>
                            <a:srgbClr val="000000"/>
                          </a:solidFill>
                          <a:latin typeface="맑은 고딕"/>
                          <a:ea typeface="맑은 고딕"/>
                        </a:rPr>
                        <a:t> module </a:t>
                      </a:r>
                      <a:r>
                        <a:rPr sz="1000" b="0" dirty="0" err="1">
                          <a:solidFill>
                            <a:srgbClr val="000000"/>
                          </a:solidFill>
                          <a:latin typeface="맑은 고딕"/>
                          <a:ea typeface="맑은 고딕"/>
                        </a:rPr>
                        <a:t>수·M</a:t>
                      </a:r>
                      <a:r>
                        <a:rPr sz="1000" b="0" dirty="0">
                          <a:solidFill>
                            <a:srgbClr val="000000"/>
                          </a:solidFill>
                          <a:latin typeface="맑은 고딕"/>
                          <a:ea typeface="맑은 고딕"/>
                        </a:rPr>
                        <a:t>/M (</a:t>
                      </a:r>
                      <a:r>
                        <a:rPr sz="1000" b="0" dirty="0" err="1">
                          <a:solidFill>
                            <a:srgbClr val="000000"/>
                          </a:solidFill>
                          <a:latin typeface="맑은 고딕"/>
                          <a:ea typeface="맑은 고딕"/>
                        </a:rPr>
                        <a:t>기존</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a:t>
                      </a:r>
                      <a:r>
                        <a:rPr sz="1000" b="0" dirty="0">
                          <a:solidFill>
                            <a:srgbClr val="000000"/>
                          </a:solidFill>
                          <a:latin typeface="맑은 고딕"/>
                          <a:ea typeface="맑은 고딕"/>
                        </a:rPr>
                        <a:t> </a:t>
                      </a:r>
                      <a:r>
                        <a:rPr sz="1000" b="0" dirty="0" err="1">
                          <a:solidFill>
                            <a:srgbClr val="000000"/>
                          </a:solidFill>
                          <a:latin typeface="맑은 고딕"/>
                          <a:ea typeface="맑은 고딕"/>
                        </a:rPr>
                        <a:t>측정</a:t>
                      </a:r>
                      <a:r>
                        <a:rPr sz="10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3.3</a:t>
                      </a:r>
                      <a:r>
                        <a:rPr sz="1000" b="1" dirty="0">
                          <a:solidFill>
                            <a:srgbClr val="000000"/>
                          </a:solidFill>
                          <a:latin typeface="맑은 고딕"/>
                          <a:ea typeface="맑은 고딕"/>
                        </a:rPr>
                        <a:t> module · 0.</a:t>
                      </a:r>
                      <a:r>
                        <a:rPr lang="en-US" sz="1000" b="1" dirty="0">
                          <a:solidFill>
                            <a:srgbClr val="000000"/>
                          </a:solidFill>
                          <a:latin typeface="맑은 고딕"/>
                          <a:ea typeface="맑은 고딕"/>
                        </a:rPr>
                        <a:t>67</a:t>
                      </a:r>
                      <a:r>
                        <a:rPr sz="1000" b="1" dirty="0">
                          <a:solidFill>
                            <a:srgbClr val="000000"/>
                          </a:solidFill>
                          <a:latin typeface="맑은 고딕"/>
                          <a:ea typeface="맑은 고딕"/>
                        </a:rPr>
                        <a:t> MM</a:t>
                      </a:r>
                      <a:r>
                        <a:rPr lang="en-US" sz="1000" b="1" dirty="0">
                          <a:solidFill>
                            <a:srgbClr val="000000"/>
                          </a:solidFill>
                          <a:latin typeface="+mn-lt"/>
                          <a:ea typeface="맑은 고딕"/>
                        </a:rPr>
                        <a:t> </a:t>
                      </a:r>
                      <a:r>
                        <a:rPr lang="en-US" sz="1000" b="1" kern="1200" dirty="0">
                          <a:solidFill>
                            <a:srgbClr val="2F5597"/>
                          </a:solidFill>
                          <a:latin typeface="+mn-lt"/>
                          <a:ea typeface="맑은 고딕"/>
                          <a:cs typeface="+mn-cs"/>
                        </a:rPr>
                        <a:t>★2</a:t>
                      </a:r>
                      <a:endParaRPr sz="1000" b="1" kern="1200" dirty="0">
                        <a:solidFill>
                          <a:srgbClr val="2F5597"/>
                        </a:solidFill>
                        <a:latin typeface="+mn-lt"/>
                        <a:ea typeface="맑은 고딕"/>
                        <a:cs typeface="+mn-cs"/>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3.6 </a:t>
                      </a:r>
                      <a:r>
                        <a:rPr sz="1000" b="1" dirty="0">
                          <a:solidFill>
                            <a:srgbClr val="000000"/>
                          </a:solidFill>
                          <a:latin typeface="맑은 고딕"/>
                          <a:ea typeface="맑은 고딕"/>
                        </a:rPr>
                        <a:t>module · </a:t>
                      </a:r>
                      <a:r>
                        <a:rPr lang="en-US" sz="1000" b="1" dirty="0">
                          <a:solidFill>
                            <a:srgbClr val="000000"/>
                          </a:solidFill>
                          <a:latin typeface="맑은 고딕"/>
                          <a:ea typeface="맑은 고딕"/>
                        </a:rPr>
                        <a:t>0.72 </a:t>
                      </a:r>
                      <a:r>
                        <a:rPr sz="1000" b="1" dirty="0">
                          <a:solidFill>
                            <a:srgbClr val="000000"/>
                          </a:solidFill>
                          <a:latin typeface="맑은 고딕"/>
                          <a:ea typeface="맑은 고딕"/>
                        </a:rPr>
                        <a:t>MM</a:t>
                      </a:r>
                      <a:r>
                        <a:rPr lang="en-US" sz="1000" b="1" dirty="0">
                          <a:solidFill>
                            <a:srgbClr val="000000"/>
                          </a:solidFill>
                          <a:latin typeface="+mn-lt"/>
                          <a:ea typeface="맑은 고딕"/>
                        </a:rPr>
                        <a:t> </a:t>
                      </a:r>
                      <a:r>
                        <a:rPr lang="en-US" sz="1000" b="1" kern="1200" dirty="0">
                          <a:solidFill>
                            <a:srgbClr val="2F5597"/>
                          </a:solidFill>
                          <a:latin typeface="+mn-lt"/>
                          <a:ea typeface="맑은 고딕"/>
                          <a:cs typeface="+mn-cs"/>
                        </a:rPr>
                        <a:t>★2</a:t>
                      </a:r>
                      <a:endParaRPr sz="1000" b="1" kern="1200" dirty="0">
                        <a:solidFill>
                          <a:srgbClr val="2F5597"/>
                        </a:solidFill>
                        <a:latin typeface="+mn-lt"/>
                        <a:ea typeface="맑은 고딕"/>
                        <a:cs typeface="+mn-cs"/>
                      </a:endParaRPr>
                    </a:p>
                    <a:p>
                      <a:pPr algn="l"/>
                      <a:r>
                        <a:rPr sz="1000" b="1" dirty="0">
                          <a:solidFill>
                            <a:srgbClr val="2F5597"/>
                          </a:solidFill>
                          <a:latin typeface="맑은 고딕"/>
                          <a:ea typeface="맑은 고딕"/>
                        </a:rPr>
                        <a:t>★2.5 (</a:t>
                      </a:r>
                      <a:r>
                        <a:rPr sz="1000" b="1" dirty="0" err="1">
                          <a:solidFill>
                            <a:srgbClr val="2F5597"/>
                          </a:solidFill>
                          <a:latin typeface="맑은 고딕"/>
                          <a:ea typeface="맑은 고딕"/>
                        </a:rPr>
                        <a:t>소유자</a:t>
                      </a:r>
                      <a:r>
                        <a:rPr sz="1000" b="1" dirty="0">
                          <a:solidFill>
                            <a:srgbClr val="2F5597"/>
                          </a:solidFill>
                          <a:latin typeface="맑은 고딕"/>
                          <a:ea typeface="맑은 고딕"/>
                        </a:rPr>
                        <a:t> ★2)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4"/>
                  </a:ext>
                </a:extLst>
              </a:tr>
            </a:tbl>
          </a:graphicData>
        </a:graphic>
      </p:graphicFrame>
      <p:sp>
        <p:nvSpPr>
          <p:cNvPr id="5" name="실행 단추: 앞으로 또는 다음으로 이동 4">
            <a:hlinkClick r:id="rId3" action="ppaction://hlinksldjump" highlightClick="1"/>
            <a:extLst>
              <a:ext uri="{FF2B5EF4-FFF2-40B4-BE49-F238E27FC236}">
                <a16:creationId xmlns:a16="http://schemas.microsoft.com/office/drawing/2014/main" id="{E84BAF67-7E05-4986-B3F5-CF74AEA81BD1}"/>
              </a:ext>
            </a:extLst>
          </p:cNvPr>
          <p:cNvSpPr/>
          <p:nvPr/>
        </p:nvSpPr>
        <p:spPr>
          <a:xfrm>
            <a:off x="11444531" y="210304"/>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subtitle">
            <a:extLst>
              <a:ext uri="{FF2B5EF4-FFF2-40B4-BE49-F238E27FC236}">
                <a16:creationId xmlns:a16="http://schemas.microsoft.com/office/drawing/2014/main" id="{AA4ADF57-134F-49EA-951D-6C026B55B559}"/>
              </a:ext>
            </a:extLst>
          </p:cNvPr>
          <p:cNvSpPr txBox="1"/>
          <p:nvPr/>
        </p:nvSpPr>
        <p:spPr>
          <a:xfrm>
            <a:off x="10281685" y="234420"/>
            <a:ext cx="1105786" cy="243143"/>
          </a:xfrm>
          <a:prstGeom prst="rect">
            <a:avLst/>
          </a:prstGeom>
          <a:noFill/>
        </p:spPr>
        <p:txBody>
          <a:bodyPr wrap="square" lIns="73152" tIns="36576" rIns="73152" bIns="36576" anchor="t">
            <a:spAutoFit/>
          </a:bodyPr>
          <a:lstStyle/>
          <a:p>
            <a:pPr>
              <a:spcAft>
                <a:spcPts val="250"/>
              </a:spcAft>
            </a:pPr>
            <a:r>
              <a:rPr lang="ko-KR" altLang="en-US" sz="1100" b="0" dirty="0">
                <a:solidFill>
                  <a:srgbClr val="404040"/>
                </a:solidFill>
                <a:latin typeface="맑은 고딕"/>
                <a:ea typeface="맑은 고딕"/>
              </a:rPr>
              <a:t>시나리오 상세</a:t>
            </a:r>
            <a:endParaRPr lang="en-US" altLang="ko-KR" sz="1100" b="0" dirty="0">
              <a:latin typeface="맑은 고딕"/>
              <a:ea typeface="맑은 고딕"/>
            </a:endParaRPr>
          </a:p>
        </p:txBody>
      </p:sp>
      <p:sp>
        <p:nvSpPr>
          <p:cNvPr id="13" name="실행 단추: 앞으로 또는 다음으로 이동 12">
            <a:hlinkClick r:id="rId4" action="ppaction://hlinksldjump" highlightClick="1"/>
            <a:extLst>
              <a:ext uri="{FF2B5EF4-FFF2-40B4-BE49-F238E27FC236}">
                <a16:creationId xmlns:a16="http://schemas.microsoft.com/office/drawing/2014/main" id="{22BF9CC6-7483-4E8A-9BEE-6601145BDE89}"/>
              </a:ext>
            </a:extLst>
          </p:cNvPr>
          <p:cNvSpPr/>
          <p:nvPr/>
        </p:nvSpPr>
        <p:spPr>
          <a:xfrm>
            <a:off x="11444531" y="577100"/>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subtitle">
            <a:extLst>
              <a:ext uri="{FF2B5EF4-FFF2-40B4-BE49-F238E27FC236}">
                <a16:creationId xmlns:a16="http://schemas.microsoft.com/office/drawing/2014/main" id="{A9E16D36-D0AB-4167-A1E7-7635FF89D3B0}"/>
              </a:ext>
            </a:extLst>
          </p:cNvPr>
          <p:cNvSpPr txBox="1"/>
          <p:nvPr/>
        </p:nvSpPr>
        <p:spPr>
          <a:xfrm>
            <a:off x="10281685" y="601216"/>
            <a:ext cx="1105786"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404040"/>
                </a:solidFill>
                <a:latin typeface="맑은 고딕"/>
                <a:ea typeface="맑은 고딕"/>
              </a:rPr>
              <a:t>DP </a:t>
            </a:r>
            <a:r>
              <a:rPr lang="ko-KR" altLang="en-US" sz="1100" b="0" dirty="0">
                <a:solidFill>
                  <a:srgbClr val="404040"/>
                </a:solidFill>
                <a:latin typeface="맑은 고딕"/>
                <a:ea typeface="맑은 고딕"/>
              </a:rPr>
              <a:t>특화 구간</a:t>
            </a:r>
            <a:endParaRPr lang="en-US" altLang="ko-KR" sz="1100" b="0" dirty="0">
              <a:latin typeface="맑은 고딕"/>
              <a:ea typeface="맑은 고딕"/>
            </a:endParaRPr>
          </a:p>
        </p:txBody>
      </p:sp>
      <p:sp>
        <p:nvSpPr>
          <p:cNvPr id="15" name="실행 단추: 뒤로 또는 앞으로 이동 14">
            <a:hlinkClick r:id="rId5" action="ppaction://hlinksldjump" highlightClick="1"/>
            <a:extLst>
              <a:ext uri="{FF2B5EF4-FFF2-40B4-BE49-F238E27FC236}">
                <a16:creationId xmlns:a16="http://schemas.microsoft.com/office/drawing/2014/main" id="{3F42F59D-BAA5-483B-8264-9C2B66C8B88D}"/>
              </a:ext>
            </a:extLst>
          </p:cNvPr>
          <p:cNvSpPr/>
          <p:nvPr/>
        </p:nvSpPr>
        <p:spPr>
          <a:xfrm>
            <a:off x="7640706" y="280816"/>
            <a:ext cx="313661" cy="30633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실행 단추: 앞으로 또는 다음으로 이동 4">
            <a:hlinkClick r:id="rId6" action="ppaction://hlinksldjump" highlightClick="1"/>
            <a:extLst>
              <a:ext uri="{FF2B5EF4-FFF2-40B4-BE49-F238E27FC236}">
                <a16:creationId xmlns:a16="http://schemas.microsoft.com/office/drawing/2014/main" id="{E84BAF67-7E05-4986-B3F5-CF74AEA81BD1}"/>
              </a:ext>
            </a:extLst>
          </p:cNvPr>
          <p:cNvSpPr/>
          <p:nvPr/>
        </p:nvSpPr>
        <p:spPr>
          <a:xfrm>
            <a:off x="8922259" y="286541"/>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subtitle">
            <a:extLst>
              <a:ext uri="{FF2B5EF4-FFF2-40B4-BE49-F238E27FC236}">
                <a16:creationId xmlns:a16="http://schemas.microsoft.com/office/drawing/2014/main" id="{AA4ADF57-134F-49EA-951D-6C026B55B559}"/>
              </a:ext>
            </a:extLst>
          </p:cNvPr>
          <p:cNvSpPr txBox="1"/>
          <p:nvPr/>
        </p:nvSpPr>
        <p:spPr>
          <a:xfrm>
            <a:off x="8533544" y="274985"/>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QA1 </a:t>
            </a:r>
            <a:endParaRPr lang="en-US" altLang="ko-KR" sz="1100" b="0" dirty="0">
              <a:latin typeface="맑은 고딕"/>
              <a:ea typeface="맑은 고딕"/>
            </a:endParaRPr>
          </a:p>
        </p:txBody>
      </p:sp>
      <p:sp>
        <p:nvSpPr>
          <p:cNvPr id="21" name="subtitle">
            <a:extLst>
              <a:ext uri="{FF2B5EF4-FFF2-40B4-BE49-F238E27FC236}">
                <a16:creationId xmlns:a16="http://schemas.microsoft.com/office/drawing/2014/main" id="{AA4ADF57-134F-49EA-951D-6C026B55B559}"/>
              </a:ext>
            </a:extLst>
          </p:cNvPr>
          <p:cNvSpPr txBox="1"/>
          <p:nvPr/>
        </p:nvSpPr>
        <p:spPr>
          <a:xfrm>
            <a:off x="8533544" y="493997"/>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QA2 </a:t>
            </a:r>
            <a:endParaRPr lang="en-US" altLang="ko-KR" sz="1100" b="0" dirty="0">
              <a:latin typeface="맑은 고딕"/>
              <a:ea typeface="맑은 고딕"/>
            </a:endParaRPr>
          </a:p>
        </p:txBody>
      </p:sp>
      <p:sp>
        <p:nvSpPr>
          <p:cNvPr id="23" name="subtitle">
            <a:extLst>
              <a:ext uri="{FF2B5EF4-FFF2-40B4-BE49-F238E27FC236}">
                <a16:creationId xmlns:a16="http://schemas.microsoft.com/office/drawing/2014/main" id="{AA4ADF57-134F-49EA-951D-6C026B55B559}"/>
              </a:ext>
            </a:extLst>
          </p:cNvPr>
          <p:cNvSpPr txBox="1"/>
          <p:nvPr/>
        </p:nvSpPr>
        <p:spPr>
          <a:xfrm>
            <a:off x="9215373" y="291871"/>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QA3 </a:t>
            </a:r>
            <a:endParaRPr lang="en-US" altLang="ko-KR" sz="1100" b="0" dirty="0">
              <a:latin typeface="맑은 고딕"/>
              <a:ea typeface="맑은 고딕"/>
            </a:endParaRPr>
          </a:p>
        </p:txBody>
      </p:sp>
      <p:sp>
        <p:nvSpPr>
          <p:cNvPr id="25" name="subtitle">
            <a:extLst>
              <a:ext uri="{FF2B5EF4-FFF2-40B4-BE49-F238E27FC236}">
                <a16:creationId xmlns:a16="http://schemas.microsoft.com/office/drawing/2014/main" id="{AA4ADF57-134F-49EA-951D-6C026B55B559}"/>
              </a:ext>
            </a:extLst>
          </p:cNvPr>
          <p:cNvSpPr txBox="1"/>
          <p:nvPr/>
        </p:nvSpPr>
        <p:spPr>
          <a:xfrm>
            <a:off x="9215373" y="483639"/>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QA4 </a:t>
            </a:r>
            <a:endParaRPr lang="en-US" altLang="ko-KR" sz="1100" b="0" dirty="0">
              <a:latin typeface="맑은 고딕"/>
              <a:ea typeface="맑은 고딕"/>
            </a:endParaRPr>
          </a:p>
        </p:txBody>
      </p:sp>
      <p:sp>
        <p:nvSpPr>
          <p:cNvPr id="27" name="subtitle">
            <a:extLst>
              <a:ext uri="{FF2B5EF4-FFF2-40B4-BE49-F238E27FC236}">
                <a16:creationId xmlns:a16="http://schemas.microsoft.com/office/drawing/2014/main" id="{AA4ADF57-134F-49EA-951D-6C026B55B559}"/>
              </a:ext>
            </a:extLst>
          </p:cNvPr>
          <p:cNvSpPr txBox="1"/>
          <p:nvPr/>
        </p:nvSpPr>
        <p:spPr>
          <a:xfrm>
            <a:off x="9215373" y="714740"/>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QA5 </a:t>
            </a:r>
            <a:endParaRPr lang="en-US" altLang="ko-KR" sz="1100" b="0" dirty="0">
              <a:latin typeface="맑은 고딕"/>
              <a:ea typeface="맑은 고딕"/>
            </a:endParaRPr>
          </a:p>
        </p:txBody>
      </p:sp>
      <p:sp>
        <p:nvSpPr>
          <p:cNvPr id="28" name="subtitle">
            <a:extLst>
              <a:ext uri="{FF2B5EF4-FFF2-40B4-BE49-F238E27FC236}">
                <a16:creationId xmlns:a16="http://schemas.microsoft.com/office/drawing/2014/main" id="{AA4ADF57-134F-49EA-951D-6C026B55B559}"/>
              </a:ext>
            </a:extLst>
          </p:cNvPr>
          <p:cNvSpPr txBox="1"/>
          <p:nvPr/>
        </p:nvSpPr>
        <p:spPr>
          <a:xfrm>
            <a:off x="8899811" y="10191"/>
            <a:ext cx="918512" cy="243143"/>
          </a:xfrm>
          <a:prstGeom prst="rect">
            <a:avLst/>
          </a:prstGeom>
          <a:noFill/>
        </p:spPr>
        <p:txBody>
          <a:bodyPr wrap="square" lIns="73152" tIns="36576" rIns="73152" bIns="36576" anchor="t">
            <a:spAutoFit/>
          </a:bodyPr>
          <a:lstStyle/>
          <a:p>
            <a:pPr>
              <a:spcAft>
                <a:spcPts val="250"/>
              </a:spcAft>
            </a:pPr>
            <a:r>
              <a:rPr lang="ko-KR" altLang="en-US" sz="1100" b="0" dirty="0">
                <a:latin typeface="맑은 고딕"/>
                <a:ea typeface="맑은 고딕"/>
              </a:rPr>
              <a:t>평가기준</a:t>
            </a:r>
            <a:endParaRPr lang="en-US" altLang="ko-KR" sz="1100" b="0" dirty="0">
              <a:latin typeface="맑은 고딕"/>
              <a:ea typeface="맑은 고딕"/>
            </a:endParaRPr>
          </a:p>
        </p:txBody>
      </p:sp>
      <p:sp>
        <p:nvSpPr>
          <p:cNvPr id="29" name="실행 단추: 앞으로 또는 다음으로 이동 4">
            <a:hlinkClick r:id="rId7" action="ppaction://hlinksldjump" highlightClick="1"/>
            <a:extLst>
              <a:ext uri="{FF2B5EF4-FFF2-40B4-BE49-F238E27FC236}">
                <a16:creationId xmlns:a16="http://schemas.microsoft.com/office/drawing/2014/main" id="{E84BAF67-7E05-4986-B3F5-CF74AEA81BD1}"/>
              </a:ext>
            </a:extLst>
          </p:cNvPr>
          <p:cNvSpPr/>
          <p:nvPr/>
        </p:nvSpPr>
        <p:spPr>
          <a:xfrm>
            <a:off x="8922259" y="544743"/>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실행 단추: 앞으로 또는 다음으로 이동 4">
            <a:hlinkClick r:id="rId8" action="ppaction://hlinksldjump" highlightClick="1"/>
            <a:extLst>
              <a:ext uri="{FF2B5EF4-FFF2-40B4-BE49-F238E27FC236}">
                <a16:creationId xmlns:a16="http://schemas.microsoft.com/office/drawing/2014/main" id="{E84BAF67-7E05-4986-B3F5-CF74AEA81BD1}"/>
              </a:ext>
            </a:extLst>
          </p:cNvPr>
          <p:cNvSpPr/>
          <p:nvPr/>
        </p:nvSpPr>
        <p:spPr>
          <a:xfrm>
            <a:off x="9604088" y="279949"/>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실행 단추: 앞으로 또는 다음으로 이동 4">
            <a:hlinkClick r:id="rId9" action="ppaction://hlinksldjump" highlightClick="1"/>
            <a:extLst>
              <a:ext uri="{FF2B5EF4-FFF2-40B4-BE49-F238E27FC236}">
                <a16:creationId xmlns:a16="http://schemas.microsoft.com/office/drawing/2014/main" id="{E84BAF67-7E05-4986-B3F5-CF74AEA81BD1}"/>
              </a:ext>
            </a:extLst>
          </p:cNvPr>
          <p:cNvSpPr/>
          <p:nvPr/>
        </p:nvSpPr>
        <p:spPr>
          <a:xfrm>
            <a:off x="9604088" y="51195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실행 단추: 앞으로 또는 다음으로 이동 4">
            <a:hlinkClick r:id="rId10" action="ppaction://hlinksldjump" highlightClick="1"/>
            <a:extLst>
              <a:ext uri="{FF2B5EF4-FFF2-40B4-BE49-F238E27FC236}">
                <a16:creationId xmlns:a16="http://schemas.microsoft.com/office/drawing/2014/main" id="{E84BAF67-7E05-4986-B3F5-CF74AEA81BD1}"/>
              </a:ext>
            </a:extLst>
          </p:cNvPr>
          <p:cNvSpPr/>
          <p:nvPr/>
        </p:nvSpPr>
        <p:spPr>
          <a:xfrm>
            <a:off x="9604088" y="74354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timing>
    <p:tnLst>
      <p:par>
        <p:cTn id="1" dur="indefinite" restart="never" nodeType="tmRoot"/>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193533"/>
            <a:ext cx="11430000" cy="789447"/>
          </a:xfrm>
          <a:prstGeom prst="rect">
            <a:avLst/>
          </a:prstGeom>
          <a:noFill/>
        </p:spPr>
        <p:txBody>
          <a:bodyPr wrap="square" lIns="73152" tIns="36576" rIns="73152" bIns="36576" anchor="ctr">
            <a:spAutoFit/>
          </a:bodyPr>
          <a:lstStyle/>
          <a:p>
            <a:pPr algn="l">
              <a:spcAft>
                <a:spcPts val="250"/>
              </a:spcAft>
            </a:pPr>
            <a:r>
              <a:rPr sz="2200" b="1" dirty="0">
                <a:solidFill>
                  <a:srgbClr val="2F5597"/>
                </a:solidFill>
                <a:latin typeface="맑은 고딕"/>
                <a:ea typeface="맑은 고딕"/>
              </a:rPr>
              <a:t>DP2. </a:t>
            </a:r>
            <a:r>
              <a:rPr sz="2200" b="1" dirty="0" err="1">
                <a:solidFill>
                  <a:srgbClr val="2F5597"/>
                </a:solidFill>
                <a:latin typeface="맑은 고딕"/>
                <a:ea typeface="맑은 고딕"/>
              </a:rPr>
              <a:t>연산</a:t>
            </a:r>
            <a:r>
              <a:rPr sz="2200" b="1" dirty="0">
                <a:solidFill>
                  <a:srgbClr val="2F5597"/>
                </a:solidFill>
                <a:latin typeface="맑은 고딕"/>
                <a:ea typeface="맑은 고딕"/>
              </a:rPr>
              <a:t>(Prefill/Decode) </a:t>
            </a:r>
            <a:r>
              <a:rPr sz="2200" b="1" dirty="0" err="1">
                <a:solidFill>
                  <a:srgbClr val="2F5597"/>
                </a:solidFill>
                <a:latin typeface="맑은 고딕"/>
                <a:ea typeface="맑은 고딕"/>
              </a:rPr>
              <a:t>실행</a:t>
            </a:r>
            <a:r>
              <a:rPr sz="2200" b="1" dirty="0">
                <a:solidFill>
                  <a:srgbClr val="2F5597"/>
                </a:solidFill>
                <a:latin typeface="맑은 고딕"/>
                <a:ea typeface="맑은 고딕"/>
              </a:rPr>
              <a:t> </a:t>
            </a:r>
            <a:r>
              <a:rPr sz="2200" b="1" dirty="0" err="1">
                <a:solidFill>
                  <a:srgbClr val="2F5597"/>
                </a:solidFill>
                <a:latin typeface="맑은 고딕"/>
                <a:ea typeface="맑은 고딕"/>
              </a:rPr>
              <a:t>위치</a:t>
            </a:r>
            <a:r>
              <a:rPr sz="2200" b="1" dirty="0">
                <a:solidFill>
                  <a:srgbClr val="2F5597"/>
                </a:solidFill>
                <a:latin typeface="맑은 고딕"/>
                <a:ea typeface="맑은 고딕"/>
              </a:rPr>
              <a:t> </a:t>
            </a:r>
            <a:r>
              <a:rPr sz="2200" b="1" dirty="0" err="1">
                <a:solidFill>
                  <a:srgbClr val="2F5597"/>
                </a:solidFill>
                <a:latin typeface="맑은 고딕"/>
                <a:ea typeface="맑은 고딕"/>
              </a:rPr>
              <a:t>결정</a:t>
            </a:r>
            <a:r>
              <a:rPr sz="2200" b="1" dirty="0">
                <a:solidFill>
                  <a:srgbClr val="2F5597"/>
                </a:solidFill>
                <a:latin typeface="맑은 고딕"/>
                <a:ea typeface="맑은 고딕"/>
              </a:rPr>
              <a:t> </a:t>
            </a:r>
            <a:r>
              <a:rPr sz="2200" b="1" dirty="0" err="1">
                <a:solidFill>
                  <a:srgbClr val="2F5597"/>
                </a:solidFill>
                <a:latin typeface="맑은 고딕"/>
                <a:ea typeface="맑은 고딕"/>
              </a:rPr>
              <a:t>구조</a:t>
            </a:r>
            <a:r>
              <a:rPr sz="2200" b="1" dirty="0">
                <a:solidFill>
                  <a:srgbClr val="2F5597"/>
                </a:solidFill>
                <a:latin typeface="맑은 고딕"/>
                <a:ea typeface="맑은 고딕"/>
              </a:rPr>
              <a:t> </a:t>
            </a:r>
            <a:endParaRPr lang="en-US" sz="2200" b="1" dirty="0">
              <a:solidFill>
                <a:srgbClr val="2F5597"/>
              </a:solidFill>
              <a:latin typeface="맑은 고딕"/>
              <a:ea typeface="맑은 고딕"/>
            </a:endParaRPr>
          </a:p>
          <a:p>
            <a:pPr algn="l">
              <a:spcAft>
                <a:spcPts val="250"/>
              </a:spcAft>
            </a:pPr>
            <a:r>
              <a:rPr sz="2200" b="1" dirty="0">
                <a:solidFill>
                  <a:srgbClr val="2F5597"/>
                </a:solidFill>
                <a:latin typeface="맑은 고딕"/>
                <a:ea typeface="맑은 고딕"/>
              </a:rPr>
              <a:t>— Trade-off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078992"/>
            <a:ext cx="5623560" cy="1209818"/>
          </a:xfrm>
          <a:prstGeom prst="rect">
            <a:avLst/>
          </a:prstGeom>
          <a:noFill/>
        </p:spPr>
        <p:txBody>
          <a:bodyPr wrap="square" lIns="73152" tIns="36576" rIns="73152" bIns="36576" anchor="t">
            <a:spAutoFit/>
          </a:bodyPr>
          <a:lstStyle/>
          <a:p>
            <a:pPr algn="l">
              <a:lnSpc>
                <a:spcPct val="150000"/>
              </a:lnSpc>
              <a:spcAft>
                <a:spcPts val="0"/>
              </a:spcAft>
            </a:pPr>
            <a:r>
              <a:rPr sz="1000" b="1" dirty="0" err="1">
                <a:solidFill>
                  <a:srgbClr val="2F5597"/>
                </a:solidFill>
                <a:latin typeface="맑은 고딕"/>
                <a:ea typeface="맑은 고딕"/>
              </a:rPr>
              <a:t>평가</a:t>
            </a:r>
            <a:r>
              <a:rPr sz="1000" b="1" dirty="0">
                <a:solidFill>
                  <a:srgbClr val="2F5597"/>
                </a:solidFill>
                <a:latin typeface="맑은 고딕"/>
                <a:ea typeface="맑은 고딕"/>
              </a:rPr>
              <a:t> </a:t>
            </a:r>
            <a:r>
              <a:rPr sz="1000" b="1" dirty="0" err="1">
                <a:solidFill>
                  <a:srgbClr val="2F5597"/>
                </a:solidFill>
                <a:latin typeface="맑은 고딕"/>
                <a:ea typeface="맑은 고딕"/>
              </a:rPr>
              <a:t>환경</a:t>
            </a:r>
            <a:endParaRPr sz="1000" b="1" dirty="0">
              <a:solidFill>
                <a:srgbClr val="2F5597"/>
              </a:solidFill>
              <a:latin typeface="맑은 고딕"/>
              <a:ea typeface="맑은 고딕"/>
            </a:endParaRPr>
          </a:p>
          <a:p>
            <a:pPr algn="l">
              <a:lnSpc>
                <a:spcPct val="150000"/>
              </a:lnSpc>
              <a:spcAft>
                <a:spcPts val="0"/>
              </a:spcAft>
            </a:pPr>
            <a:r>
              <a:rPr sz="1000" b="0" dirty="0">
                <a:solidFill>
                  <a:srgbClr val="000000"/>
                </a:solidFill>
                <a:latin typeface="맑은 고딕"/>
                <a:ea typeface="맑은 고딕"/>
              </a:rPr>
              <a:t>• H100×8 4노드 </a:t>
            </a:r>
            <a:r>
              <a:rPr sz="1000" b="0" dirty="0" err="1">
                <a:solidFill>
                  <a:srgbClr val="000000"/>
                </a:solidFill>
                <a:latin typeface="맑은 고딕"/>
                <a:ea typeface="맑은 고딕"/>
              </a:rPr>
              <a:t>클러스터</a:t>
            </a:r>
            <a:r>
              <a:rPr sz="1000" b="0" dirty="0">
                <a:solidFill>
                  <a:srgbClr val="000000"/>
                </a:solidFill>
                <a:latin typeface="맑은 고딕"/>
                <a:ea typeface="맑은 고딕"/>
              </a:rPr>
              <a:t>(</a:t>
            </a:r>
            <a:r>
              <a:rPr sz="1000" b="0" dirty="0" err="1">
                <a:solidFill>
                  <a:srgbClr val="000000"/>
                </a:solidFill>
                <a:latin typeface="맑은 고딕"/>
                <a:ea typeface="맑은 고딕"/>
              </a:rPr>
              <a:t>실장</a:t>
            </a:r>
            <a:r>
              <a:rPr sz="1000" b="0" dirty="0">
                <a:solidFill>
                  <a:srgbClr val="000000"/>
                </a:solidFill>
                <a:latin typeface="맑은 고딕"/>
                <a:ea typeface="맑은 고딕"/>
              </a:rPr>
              <a:t> </a:t>
            </a:r>
            <a:r>
              <a:rPr sz="1000" b="0" dirty="0" err="1">
                <a:solidFill>
                  <a:srgbClr val="000000"/>
                </a:solidFill>
                <a:latin typeface="맑은 고딕"/>
                <a:ea typeface="맑은 고딕"/>
              </a:rPr>
              <a:t>구성</a:t>
            </a:r>
            <a:r>
              <a:rPr sz="1000" b="0" dirty="0">
                <a:solidFill>
                  <a:srgbClr val="000000"/>
                </a:solidFill>
                <a:latin typeface="맑은 고딕"/>
                <a:ea typeface="맑은 고딕"/>
              </a:rPr>
              <a:t> </a:t>
            </a:r>
            <a:r>
              <a:rPr sz="1000" b="0" dirty="0" err="1">
                <a:solidFill>
                  <a:srgbClr val="000000"/>
                </a:solidFill>
                <a:latin typeface="맑은 고딕"/>
                <a:ea typeface="맑은 고딕"/>
              </a:rPr>
              <a:t>기준</a:t>
            </a:r>
            <a:r>
              <a:rPr sz="1000" b="0" dirty="0">
                <a:solidFill>
                  <a:srgbClr val="000000"/>
                </a:solidFill>
                <a:latin typeface="맑은 고딕"/>
                <a:ea typeface="맑은 고딕"/>
              </a:rPr>
              <a:t>): B0 = P 2대 + D 2대 </a:t>
            </a:r>
            <a:r>
              <a:rPr sz="1000" b="0" dirty="0" err="1">
                <a:solidFill>
                  <a:srgbClr val="000000"/>
                </a:solidFill>
                <a:latin typeface="맑은 고딕"/>
                <a:ea typeface="맑은 고딕"/>
              </a:rPr>
              <a:t>고정</a:t>
            </a:r>
            <a:r>
              <a:rPr sz="1000" b="0" dirty="0">
                <a:solidFill>
                  <a:srgbClr val="000000"/>
                </a:solidFill>
                <a:latin typeface="맑은 고딕"/>
                <a:ea typeface="맑은 고딕"/>
              </a:rPr>
              <a:t> </a:t>
            </a:r>
            <a:r>
              <a:rPr sz="1000" b="0" dirty="0" err="1">
                <a:solidFill>
                  <a:srgbClr val="000000"/>
                </a:solidFill>
                <a:latin typeface="맑은 고딕"/>
                <a:ea typeface="맑은 고딕"/>
              </a:rPr>
              <a:t>역할</a:t>
            </a:r>
            <a:r>
              <a:rPr sz="1000" b="0" dirty="0">
                <a:solidFill>
                  <a:srgbClr val="000000"/>
                </a:solidFill>
                <a:latin typeface="맑은 고딕"/>
                <a:ea typeface="맑은 고딕"/>
              </a:rPr>
              <a:t> GPU-only, B1 = </a:t>
            </a:r>
            <a:r>
              <a:rPr sz="1000" b="0" dirty="0" err="1">
                <a:solidFill>
                  <a:srgbClr val="000000"/>
                </a:solidFill>
                <a:latin typeface="맑은 고딕"/>
                <a:ea typeface="맑은 고딕"/>
              </a:rPr>
              <a:t>같은</a:t>
            </a:r>
            <a:r>
              <a:rPr sz="1000" b="0" dirty="0">
                <a:solidFill>
                  <a:srgbClr val="000000"/>
                </a:solidFill>
                <a:latin typeface="맑은 고딕"/>
                <a:ea typeface="맑은 고딕"/>
              </a:rPr>
              <a:t> </a:t>
            </a:r>
            <a:r>
              <a:rPr sz="1000" b="0" dirty="0" err="1">
                <a:solidFill>
                  <a:srgbClr val="000000"/>
                </a:solidFill>
                <a:latin typeface="맑은 고딕"/>
                <a:ea typeface="맑은 고딕"/>
              </a:rPr>
              <a:t>구성</a:t>
            </a:r>
            <a:r>
              <a:rPr sz="1000" b="0" dirty="0">
                <a:solidFill>
                  <a:srgbClr val="000000"/>
                </a:solidFill>
                <a:latin typeface="맑은 고딕"/>
                <a:ea typeface="맑은 고딕"/>
              </a:rPr>
              <a:t> + </a:t>
            </a:r>
            <a:r>
              <a:rPr sz="1000" b="0" dirty="0" err="1">
                <a:solidFill>
                  <a:srgbClr val="000000"/>
                </a:solidFill>
                <a:latin typeface="맑은 고딕"/>
                <a:ea typeface="맑은 고딕"/>
              </a:rPr>
              <a:t>노드별</a:t>
            </a:r>
            <a:r>
              <a:rPr sz="1000" b="0" dirty="0">
                <a:solidFill>
                  <a:srgbClr val="000000"/>
                </a:solidFill>
                <a:latin typeface="맑은 고딕"/>
                <a:ea typeface="맑은 고딕"/>
              </a:rPr>
              <a:t> </a:t>
            </a:r>
            <a:r>
              <a:rPr sz="1000" b="0" dirty="0" err="1">
                <a:solidFill>
                  <a:srgbClr val="000000"/>
                </a:solidFill>
                <a:latin typeface="맑은 고딕"/>
                <a:ea typeface="맑은 고딕"/>
              </a:rPr>
              <a:t>단순</a:t>
            </a:r>
            <a:r>
              <a:rPr sz="1000" b="0" dirty="0">
                <a:solidFill>
                  <a:srgbClr val="000000"/>
                </a:solidFill>
                <a:latin typeface="맑은 고딕"/>
                <a:ea typeface="맑은 고딕"/>
              </a:rPr>
              <a:t> offloading</a:t>
            </a:r>
          </a:p>
          <a:p>
            <a:pPr algn="l">
              <a:lnSpc>
                <a:spcPct val="150000"/>
              </a:lnSpc>
              <a:spcAft>
                <a:spcPts val="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 간 </a:t>
            </a:r>
            <a:r>
              <a:rPr sz="1000" b="0" dirty="0" err="1">
                <a:solidFill>
                  <a:srgbClr val="000000"/>
                </a:solidFill>
                <a:latin typeface="맑은 고딕"/>
                <a:ea typeface="맑은 고딕"/>
              </a:rPr>
              <a:t>링크</a:t>
            </a:r>
            <a:r>
              <a:rPr sz="1000" b="0" dirty="0">
                <a:solidFill>
                  <a:srgbClr val="000000"/>
                </a:solidFill>
                <a:latin typeface="맑은 고딕"/>
                <a:ea typeface="맑은 고딕"/>
              </a:rPr>
              <a:t> RDMA 50 GB/s [ASSUMED],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비용은</a:t>
            </a: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a:t>
            </a:r>
            <a:r>
              <a:rPr sz="1000" b="0" dirty="0" err="1">
                <a:solidFill>
                  <a:srgbClr val="000000"/>
                </a:solidFill>
                <a:latin typeface="맑은 고딕"/>
                <a:ea typeface="맑은 고딕"/>
              </a:rPr>
              <a:t>수에</a:t>
            </a:r>
            <a:r>
              <a:rPr sz="1000" b="0" dirty="0">
                <a:solidFill>
                  <a:srgbClr val="000000"/>
                </a:solidFill>
                <a:latin typeface="맑은 고딕"/>
                <a:ea typeface="맑은 고딕"/>
              </a:rPr>
              <a:t> </a:t>
            </a:r>
            <a:r>
              <a:rPr sz="1000" b="0" dirty="0" err="1">
                <a:solidFill>
                  <a:srgbClr val="000000"/>
                </a:solidFill>
                <a:latin typeface="맑은 고딕"/>
                <a:ea typeface="맑은 고딕"/>
              </a:rPr>
              <a:t>선형</a:t>
            </a:r>
            <a:r>
              <a:rPr sz="1000" b="0" dirty="0">
                <a:solidFill>
                  <a:srgbClr val="000000"/>
                </a:solidFill>
                <a:latin typeface="맑은 고딕"/>
                <a:ea typeface="맑은 고딕"/>
              </a:rPr>
              <a:t>(2 </a:t>
            </a:r>
            <a:r>
              <a:rPr sz="1000" b="0" dirty="0" err="1">
                <a:solidFill>
                  <a:srgbClr val="000000"/>
                </a:solidFill>
                <a:latin typeface="맑은 고딕"/>
                <a:ea typeface="맑은 고딕"/>
              </a:rPr>
              <a:t>ms</a:t>
            </a:r>
            <a:r>
              <a:rPr sz="1000" b="0" dirty="0">
                <a:solidFill>
                  <a:srgbClr val="000000"/>
                </a:solidFill>
                <a:latin typeface="맑은 고딕"/>
                <a:ea typeface="맑은 고딕"/>
              </a:rPr>
              <a:t> × N). </a:t>
            </a:r>
            <a:r>
              <a:rPr sz="1000" b="0" dirty="0" err="1">
                <a:solidFill>
                  <a:srgbClr val="000000"/>
                </a:solidFill>
                <a:latin typeface="맑은 고딕"/>
                <a:ea typeface="맑은 고딕"/>
              </a:rPr>
              <a:t>수치는</a:t>
            </a:r>
            <a:r>
              <a:rPr sz="1000" b="0" dirty="0">
                <a:solidFill>
                  <a:srgbClr val="000000"/>
                </a:solidFill>
                <a:latin typeface="맑은 고딕"/>
                <a:ea typeface="맑은 고딕"/>
              </a:rPr>
              <a:t> </a:t>
            </a:r>
            <a:r>
              <a:rPr sz="1000" b="0" dirty="0" err="1">
                <a:solidFill>
                  <a:srgbClr val="000000"/>
                </a:solidFill>
                <a:latin typeface="맑은 고딕"/>
                <a:ea typeface="맑은 고딕"/>
              </a:rPr>
              <a:t>이론</a:t>
            </a:r>
            <a:r>
              <a:rPr sz="1000" b="0" dirty="0">
                <a:solidFill>
                  <a:srgbClr val="000000"/>
                </a:solidFill>
                <a:latin typeface="맑은 고딕"/>
                <a:ea typeface="맑은 고딕"/>
              </a:rPr>
              <a:t> </a:t>
            </a:r>
            <a:r>
              <a:rPr sz="1000" b="0" dirty="0" err="1">
                <a:solidFill>
                  <a:srgbClr val="000000"/>
                </a:solidFill>
                <a:latin typeface="맑은 고딕"/>
                <a:ea typeface="맑은 고딕"/>
              </a:rPr>
              <a:t>예상값</a:t>
            </a:r>
            <a:endParaRPr sz="1000" b="0" dirty="0">
              <a:solidFill>
                <a:srgbClr val="000000"/>
              </a:solidFill>
              <a:latin typeface="맑은 고딕"/>
              <a:ea typeface="맑은 고딕"/>
            </a:endParaRPr>
          </a:p>
        </p:txBody>
      </p:sp>
      <p:sp>
        <p:nvSpPr>
          <p:cNvPr id="8" name="TextBox 7"/>
          <p:cNvSpPr txBox="1"/>
          <p:nvPr/>
        </p:nvSpPr>
        <p:spPr>
          <a:xfrm>
            <a:off x="6172200" y="1078992"/>
            <a:ext cx="5623560" cy="978986"/>
          </a:xfrm>
          <a:prstGeom prst="rect">
            <a:avLst/>
          </a:prstGeom>
          <a:noFill/>
        </p:spPr>
        <p:txBody>
          <a:bodyPr wrap="square" lIns="73152" tIns="36576" rIns="73152" bIns="36576" anchor="t">
            <a:spAutoFit/>
          </a:bodyPr>
          <a:lstStyle/>
          <a:p>
            <a:pPr algn="l">
              <a:lnSpc>
                <a:spcPct val="150000"/>
              </a:lnSpc>
              <a:spcAft>
                <a:spcPts val="0"/>
              </a:spcAft>
            </a:pPr>
            <a:r>
              <a:rPr sz="1000" b="1" dirty="0" err="1">
                <a:solidFill>
                  <a:srgbClr val="2F5597"/>
                </a:solidFill>
                <a:latin typeface="맑은 고딕"/>
                <a:ea typeface="맑은 고딕"/>
              </a:rPr>
              <a:t>평가</a:t>
            </a:r>
            <a:r>
              <a:rPr sz="1000" b="1" dirty="0">
                <a:solidFill>
                  <a:srgbClr val="2F5597"/>
                </a:solidFill>
                <a:latin typeface="맑은 고딕"/>
                <a:ea typeface="맑은 고딕"/>
              </a:rPr>
              <a:t> </a:t>
            </a:r>
            <a:r>
              <a:rPr sz="1000" b="1" dirty="0" err="1">
                <a:solidFill>
                  <a:srgbClr val="2F5597"/>
                </a:solidFill>
                <a:latin typeface="맑은 고딕"/>
                <a:ea typeface="맑은 고딕"/>
              </a:rPr>
              <a:t>시나리오</a:t>
            </a:r>
            <a:endParaRPr sz="1000" b="1" dirty="0">
              <a:solidFill>
                <a:srgbClr val="2F5597"/>
              </a:solidFill>
              <a:latin typeface="맑은 고딕"/>
              <a:ea typeface="맑은 고딕"/>
            </a:endParaRPr>
          </a:p>
          <a:p>
            <a:pPr algn="l">
              <a:lnSpc>
                <a:spcPct val="150000"/>
              </a:lnSpc>
              <a:spcAft>
                <a:spcPts val="0"/>
              </a:spcAft>
            </a:pPr>
            <a:r>
              <a:rPr sz="1000" b="0" dirty="0">
                <a:solidFill>
                  <a:srgbClr val="000000"/>
                </a:solidFill>
                <a:latin typeface="맑은 고딕"/>
                <a:ea typeface="맑은 고딕"/>
              </a:rPr>
              <a:t>• Agent KV Fleet P2 burst: </a:t>
            </a:r>
            <a:r>
              <a:rPr sz="1000" b="0" dirty="0" err="1">
                <a:solidFill>
                  <a:srgbClr val="000000"/>
                </a:solidFill>
                <a:latin typeface="맑은 고딕"/>
                <a:ea typeface="맑은 고딕"/>
              </a:rPr>
              <a:t>신규</a:t>
            </a:r>
            <a:r>
              <a:rPr sz="1000" b="0" dirty="0">
                <a:solidFill>
                  <a:srgbClr val="000000"/>
                </a:solidFill>
                <a:latin typeface="맑은 고딕"/>
                <a:ea typeface="맑은 고딕"/>
              </a:rPr>
              <a:t> </a:t>
            </a:r>
            <a:r>
              <a:rPr sz="1000" b="0" dirty="0" err="1">
                <a:solidFill>
                  <a:srgbClr val="000000"/>
                </a:solidFill>
                <a:latin typeface="맑은 고딕"/>
                <a:ea typeface="맑은 고딕"/>
              </a:rPr>
              <a:t>세션</a:t>
            </a:r>
            <a:r>
              <a:rPr sz="1000" b="0" dirty="0">
                <a:solidFill>
                  <a:srgbClr val="000000"/>
                </a:solidFill>
                <a:latin typeface="맑은 고딕"/>
                <a:ea typeface="맑은 고딕"/>
              </a:rPr>
              <a:t> 3배 </a:t>
            </a:r>
            <a:r>
              <a:rPr sz="1000" b="0" dirty="0" err="1">
                <a:solidFill>
                  <a:srgbClr val="000000"/>
                </a:solidFill>
                <a:latin typeface="맑은 고딕"/>
                <a:ea typeface="맑은 고딕"/>
              </a:rPr>
              <a:t>폭주</a:t>
            </a:r>
            <a:r>
              <a:rPr sz="1000" b="0" dirty="0">
                <a:solidFill>
                  <a:srgbClr val="000000"/>
                </a:solidFill>
                <a:latin typeface="맑은 고딕"/>
                <a:ea typeface="맑은 고딕"/>
              </a:rPr>
              <a:t> + decode </a:t>
            </a:r>
            <a:r>
              <a:rPr sz="1000" b="0" dirty="0" err="1">
                <a:solidFill>
                  <a:srgbClr val="000000"/>
                </a:solidFill>
                <a:latin typeface="맑은 고딕"/>
                <a:ea typeface="맑은 고딕"/>
              </a:rPr>
              <a:t>중첩</a:t>
            </a:r>
            <a:r>
              <a:rPr sz="1000" b="0" dirty="0">
                <a:solidFill>
                  <a:srgbClr val="000000"/>
                </a:solidFill>
                <a:latin typeface="맑은 고딕"/>
                <a:ea typeface="맑은 고딕"/>
              </a:rPr>
              <a:t>. </a:t>
            </a:r>
            <a:r>
              <a:rPr sz="1000" b="0" dirty="0" err="1">
                <a:solidFill>
                  <a:srgbClr val="000000"/>
                </a:solidFill>
                <a:latin typeface="맑은 고딕"/>
                <a:ea typeface="맑은 고딕"/>
              </a:rPr>
              <a:t>동적</a:t>
            </a:r>
            <a:r>
              <a:rPr sz="1000" b="0" dirty="0">
                <a:solidFill>
                  <a:srgbClr val="000000"/>
                </a:solidFill>
                <a:latin typeface="맑은 고딕"/>
                <a:ea typeface="맑은 고딕"/>
              </a:rPr>
              <a:t> </a:t>
            </a:r>
            <a:r>
              <a:rPr sz="1000" b="0" dirty="0" err="1">
                <a:solidFill>
                  <a:srgbClr val="000000"/>
                </a:solidFill>
                <a:latin typeface="맑은 고딕"/>
                <a:ea typeface="맑은 고딕"/>
              </a:rPr>
              <a:t>배치가</a:t>
            </a:r>
            <a:r>
              <a:rPr sz="1000" b="0" dirty="0">
                <a:solidFill>
                  <a:srgbClr val="000000"/>
                </a:solidFill>
                <a:latin typeface="맑은 고딕"/>
                <a:ea typeface="맑은 고딕"/>
              </a:rPr>
              <a:t> </a:t>
            </a:r>
            <a:r>
              <a:rPr sz="1000" b="0" dirty="0" err="1">
                <a:solidFill>
                  <a:srgbClr val="000000"/>
                </a:solidFill>
                <a:latin typeface="맑은 고딕"/>
                <a:ea typeface="맑은 고딕"/>
              </a:rPr>
              <a:t>유휴</a:t>
            </a:r>
            <a:r>
              <a:rPr sz="1000" b="0" dirty="0">
                <a:solidFill>
                  <a:srgbClr val="000000"/>
                </a:solidFill>
                <a:latin typeface="맑은 고딕"/>
                <a:ea typeface="맑은 고딕"/>
              </a:rPr>
              <a:t> P </a:t>
            </a:r>
            <a:r>
              <a:rPr sz="1000" b="0" dirty="0" err="1">
                <a:solidFill>
                  <a:srgbClr val="000000"/>
                </a:solidFill>
                <a:latin typeface="맑은 고딕"/>
                <a:ea typeface="맑은 고딕"/>
              </a:rPr>
              <a:t>노드의</a:t>
            </a:r>
            <a:r>
              <a:rPr sz="1000" b="0" dirty="0">
                <a:solidFill>
                  <a:srgbClr val="000000"/>
                </a:solidFill>
                <a:latin typeface="맑은 고딕"/>
                <a:ea typeface="맑은 고딕"/>
              </a:rPr>
              <a:t> </a:t>
            </a:r>
            <a:r>
              <a:rPr sz="1000" b="0" dirty="0" err="1">
                <a:solidFill>
                  <a:srgbClr val="000000"/>
                </a:solidFill>
                <a:latin typeface="맑은 고딕"/>
                <a:ea typeface="맑은 고딕"/>
              </a:rPr>
              <a:t>tier·링크를</a:t>
            </a:r>
            <a:r>
              <a:rPr sz="1000" b="0" dirty="0">
                <a:solidFill>
                  <a:srgbClr val="000000"/>
                </a:solidFill>
                <a:latin typeface="맑은 고딕"/>
                <a:ea typeface="맑은 고딕"/>
              </a:rPr>
              <a:t> </a:t>
            </a:r>
            <a:r>
              <a:rPr sz="1000" b="0" dirty="0" err="1">
                <a:solidFill>
                  <a:srgbClr val="000000"/>
                </a:solidFill>
                <a:latin typeface="맑은 고딕"/>
                <a:ea typeface="맑은 고딕"/>
              </a:rPr>
              <a:t>쓰는</a:t>
            </a:r>
            <a:r>
              <a:rPr sz="1000" b="0" dirty="0">
                <a:solidFill>
                  <a:srgbClr val="000000"/>
                </a:solidFill>
                <a:latin typeface="맑은 고딕"/>
                <a:ea typeface="맑은 고딕"/>
              </a:rPr>
              <a:t> </a:t>
            </a:r>
            <a:r>
              <a:rPr sz="1000" b="0" dirty="0" err="1">
                <a:solidFill>
                  <a:srgbClr val="000000"/>
                </a:solidFill>
                <a:latin typeface="맑은 고딕"/>
                <a:ea typeface="맑은 고딕"/>
              </a:rPr>
              <a:t>정도</a:t>
            </a:r>
            <a:r>
              <a:rPr sz="1000" b="0" dirty="0">
                <a:solidFill>
                  <a:srgbClr val="000000"/>
                </a:solidFill>
                <a:latin typeface="맑은 고딕"/>
                <a:ea typeface="맑은 고딕"/>
              </a:rPr>
              <a:t> </a:t>
            </a:r>
            <a:r>
              <a:rPr sz="1000" b="0" dirty="0" err="1">
                <a:solidFill>
                  <a:srgbClr val="000000"/>
                </a:solidFill>
                <a:latin typeface="맑은 고딕"/>
                <a:ea typeface="맑은 고딕"/>
              </a:rPr>
              <a:t>평가</a:t>
            </a:r>
            <a:endParaRPr sz="1000" b="0" dirty="0">
              <a:solidFill>
                <a:srgbClr val="000000"/>
              </a:solidFill>
              <a:latin typeface="맑은 고딕"/>
              <a:ea typeface="맑은 고딕"/>
            </a:endParaRPr>
          </a:p>
          <a:p>
            <a:pPr algn="l">
              <a:lnSpc>
                <a:spcPct val="150000"/>
              </a:lnSpc>
              <a:spcAft>
                <a:spcPts val="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확장성은</a:t>
            </a:r>
            <a:r>
              <a:rPr sz="1000" b="0" dirty="0">
                <a:solidFill>
                  <a:srgbClr val="000000"/>
                </a:solidFill>
                <a:latin typeface="맑은 고딕"/>
                <a:ea typeface="맑은 고딕"/>
              </a:rPr>
              <a:t> N=16 sweep(scheduler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용량</a:t>
            </a:r>
            <a:r>
              <a:rPr sz="1000" b="0" dirty="0">
                <a:solidFill>
                  <a:srgbClr val="000000"/>
                </a:solidFill>
                <a:latin typeface="맑은 고딕"/>
                <a:ea typeface="맑은 고딕"/>
              </a:rPr>
              <a:t> 대 </a:t>
            </a:r>
            <a:r>
              <a:rPr sz="1000" b="0" dirty="0" err="1">
                <a:solidFill>
                  <a:srgbClr val="000000"/>
                </a:solidFill>
                <a:latin typeface="맑은 고딕"/>
                <a:ea typeface="맑은 고딕"/>
              </a:rPr>
              <a:t>요구</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결정률</a:t>
            </a:r>
            <a:r>
              <a:rPr sz="1000" b="0" dirty="0">
                <a:solidFill>
                  <a:srgbClr val="000000"/>
                </a:solidFill>
                <a:latin typeface="맑은 고딕"/>
                <a:ea typeface="맑은 고딕"/>
              </a:rPr>
              <a:t>)</a:t>
            </a:r>
          </a:p>
        </p:txBody>
      </p:sp>
      <p:graphicFrame>
        <p:nvGraphicFramePr>
          <p:cNvPr id="9" name="tbl"/>
          <p:cNvGraphicFramePr>
            <a:graphicFrameLocks noGrp="1"/>
          </p:cNvGraphicFramePr>
          <p:nvPr>
            <p:extLst>
              <p:ext uri="{D42A27DB-BD31-4B8C-83A1-F6EECF244321}">
                <p14:modId xmlns:p14="http://schemas.microsoft.com/office/powerpoint/2010/main" val="2709604352"/>
              </p:ext>
            </p:extLst>
          </p:nvPr>
        </p:nvGraphicFramePr>
        <p:xfrm>
          <a:off x="365760" y="2566035"/>
          <a:ext cx="11457432" cy="2907792"/>
        </p:xfrm>
        <a:graphic>
          <a:graphicData uri="http://schemas.openxmlformats.org/drawingml/2006/table">
            <a:tbl>
              <a:tblPr>
                <a:tableStyleId>{2D5ABB26-0587-4C30-8999-92F81FD0307C}</a:tableStyleId>
              </a:tblPr>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gridCol w="2505456">
                  <a:extLst>
                    <a:ext uri="{9D8B030D-6E8A-4147-A177-3AD203B41FA5}">
                      <a16:colId xmlns:a16="http://schemas.microsoft.com/office/drawing/2014/main" val="20005"/>
                    </a:ext>
                  </a:extLst>
                </a:gridCol>
              </a:tblGrid>
              <a:tr h="274320">
                <a:tc>
                  <a:txBody>
                    <a:bodyPr/>
                    <a:lstStyle/>
                    <a:p>
                      <a:pPr algn="ctr"/>
                      <a:r>
                        <a:rPr sz="900" b="1" dirty="0">
                          <a:solidFill>
                            <a:srgbClr val="FFFFFF"/>
                          </a:solidFill>
                          <a:latin typeface="맑은 고딕"/>
                          <a:ea typeface="맑은 고딕"/>
                        </a:rPr>
                        <a:t>QA</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lang="ko-KR" altLang="en-US" sz="900" b="1" dirty="0">
                          <a:solidFill>
                            <a:srgbClr val="FFFFFF"/>
                          </a:solidFill>
                          <a:latin typeface="맑은 고딕"/>
                          <a:ea typeface="맑은 고딕"/>
                        </a:rPr>
                        <a:t>평가</a:t>
                      </a:r>
                      <a:r>
                        <a:rPr lang="en-US" sz="900" b="1" dirty="0">
                          <a:solidFill>
                            <a:srgbClr val="FFFFFF"/>
                          </a:solidFill>
                          <a:latin typeface="맑은 고딕"/>
                          <a:ea typeface="맑은 고딕"/>
                        </a:rPr>
                        <a:t> Metric</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a:solidFill>
                            <a:srgbClr val="FFFFFF"/>
                          </a:solidFill>
                          <a:latin typeface="맑은 고딕"/>
                          <a:ea typeface="맑은 고딕"/>
                        </a:rPr>
                        <a:t>B</a:t>
                      </a:r>
                      <a:r>
                        <a:rPr lang="en-US" sz="900" b="1" dirty="0">
                          <a:solidFill>
                            <a:srgbClr val="FFFFFF"/>
                          </a:solidFill>
                          <a:latin typeface="맑은 고딕"/>
                          <a:ea typeface="맑은 고딕"/>
                        </a:rPr>
                        <a:t>aseline </a:t>
                      </a:r>
                      <a:r>
                        <a:rPr sz="900" b="1" dirty="0">
                          <a:solidFill>
                            <a:srgbClr val="FFFFFF"/>
                          </a:solidFill>
                          <a:latin typeface="맑은 고딕"/>
                          <a:ea typeface="맑은 고딕"/>
                        </a:rPr>
                        <a:t>(</a:t>
                      </a:r>
                      <a:r>
                        <a:rPr lang="en-US" sz="900" b="1" dirty="0">
                          <a:solidFill>
                            <a:srgbClr val="FFFFFF"/>
                          </a:solidFill>
                          <a:latin typeface="맑은 고딕"/>
                          <a:ea typeface="맑은 고딕"/>
                        </a:rPr>
                        <a:t>B0</a:t>
                      </a:r>
                      <a:r>
                        <a:rPr sz="900" b="1" dirty="0">
                          <a:solidFill>
                            <a:srgbClr val="FFFFFF"/>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단순</a:t>
                      </a:r>
                      <a:r>
                        <a:rPr sz="900" b="1" dirty="0">
                          <a:solidFill>
                            <a:srgbClr val="FFFFFF"/>
                          </a:solidFill>
                          <a:latin typeface="맑은 고딕"/>
                          <a:ea typeface="맑은 고딕"/>
                        </a:rPr>
                        <a:t> offloading</a:t>
                      </a:r>
                      <a:r>
                        <a:rPr lang="en-US" sz="900" b="1" dirty="0">
                          <a:solidFill>
                            <a:srgbClr val="FFFFFF"/>
                          </a:solidFill>
                          <a:latin typeface="맑은 고딕"/>
                          <a:ea typeface="맑은 고딕"/>
                        </a:rPr>
                        <a:t> (B1)</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후보</a:t>
                      </a:r>
                      <a:r>
                        <a:rPr sz="900" b="1" dirty="0">
                          <a:solidFill>
                            <a:srgbClr val="FFFFFF"/>
                          </a:solidFill>
                          <a:latin typeface="맑은 고딕"/>
                          <a:ea typeface="맑은 고딕"/>
                        </a:rPr>
                        <a:t> 1안 </a:t>
                      </a:r>
                      <a:r>
                        <a:rPr sz="900" b="1" dirty="0" err="1">
                          <a:solidFill>
                            <a:srgbClr val="FFFFFF"/>
                          </a:solidFill>
                          <a:latin typeface="맑은 고딕"/>
                          <a:ea typeface="맑은 고딕"/>
                        </a:rPr>
                        <a:t>스케줄링</a:t>
                      </a:r>
                      <a:r>
                        <a:rPr sz="900" b="1" dirty="0">
                          <a:solidFill>
                            <a:srgbClr val="FFFFFF"/>
                          </a:solidFill>
                          <a:latin typeface="맑은 고딕"/>
                          <a:ea typeface="맑은 고딕"/>
                        </a:rPr>
                        <a:t> </a:t>
                      </a:r>
                      <a:r>
                        <a:rPr sz="900" b="1" dirty="0" err="1">
                          <a:solidFill>
                            <a:srgbClr val="FFFFFF"/>
                          </a:solidFill>
                          <a:latin typeface="맑은 고딕"/>
                          <a:ea typeface="맑은 고딕"/>
                        </a:rPr>
                        <a:t>시점</a:t>
                      </a:r>
                      <a:r>
                        <a:rPr sz="900" b="1" dirty="0">
                          <a:solidFill>
                            <a:srgbClr val="FFFFFF"/>
                          </a:solidFill>
                          <a:latin typeface="맑은 고딕"/>
                          <a:ea typeface="맑은 고딕"/>
                        </a:rPr>
                        <a:t> </a:t>
                      </a:r>
                      <a:r>
                        <a:rPr sz="900" b="1" dirty="0" err="1">
                          <a:solidFill>
                            <a:srgbClr val="FFFFFF"/>
                          </a:solidFill>
                          <a:latin typeface="맑은 고딕"/>
                          <a:ea typeface="맑은 고딕"/>
                        </a:rPr>
                        <a:t>결정</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900" b="1" dirty="0" err="1">
                          <a:solidFill>
                            <a:srgbClr val="FFFFFF"/>
                          </a:solidFill>
                          <a:latin typeface="맑은 고딕"/>
                          <a:ea typeface="맑은 고딕"/>
                        </a:rPr>
                        <a:t>후보</a:t>
                      </a:r>
                      <a:r>
                        <a:rPr sz="900" b="1" dirty="0">
                          <a:solidFill>
                            <a:srgbClr val="FFFFFF"/>
                          </a:solidFill>
                          <a:latin typeface="맑은 고딕"/>
                          <a:ea typeface="맑은 고딕"/>
                        </a:rPr>
                        <a:t> 2안 </a:t>
                      </a:r>
                      <a:r>
                        <a:rPr sz="900" b="1" dirty="0" err="1">
                          <a:solidFill>
                            <a:srgbClr val="FFFFFF"/>
                          </a:solidFill>
                          <a:latin typeface="맑은 고딕"/>
                          <a:ea typeface="맑은 고딕"/>
                        </a:rPr>
                        <a:t>사전</a:t>
                      </a:r>
                      <a:r>
                        <a:rPr sz="900" b="1" dirty="0">
                          <a:solidFill>
                            <a:srgbClr val="FFFFFF"/>
                          </a:solidFill>
                          <a:latin typeface="맑은 고딕"/>
                          <a:ea typeface="맑은 고딕"/>
                        </a:rPr>
                        <a:t> </a:t>
                      </a:r>
                      <a:r>
                        <a:rPr sz="900" b="1" dirty="0" err="1">
                          <a:solidFill>
                            <a:srgbClr val="FFFFFF"/>
                          </a:solidFill>
                          <a:latin typeface="맑은 고딕"/>
                          <a:ea typeface="맑은 고딕"/>
                        </a:rPr>
                        <a:t>계획</a:t>
                      </a:r>
                      <a:r>
                        <a:rPr sz="900" b="1" dirty="0">
                          <a:solidFill>
                            <a:srgbClr val="FFFFFF"/>
                          </a:solidFill>
                          <a:latin typeface="맑은 고딕"/>
                          <a:ea typeface="맑은 고딕"/>
                        </a:rPr>
                        <a:t> </a:t>
                      </a:r>
                      <a:r>
                        <a:rPr sz="900" b="1" dirty="0" err="1">
                          <a:solidFill>
                            <a:srgbClr val="FFFFFF"/>
                          </a:solidFill>
                          <a:latin typeface="맑은 고딕"/>
                          <a:ea typeface="맑은 고딕"/>
                        </a:rPr>
                        <a:t>결정</a:t>
                      </a:r>
                      <a:endParaRPr sz="90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658368">
                <a:tc>
                  <a:txBody>
                    <a:bodyPr/>
                    <a:lstStyle/>
                    <a:p>
                      <a:pPr algn="l"/>
                      <a:r>
                        <a:rPr sz="900" b="1" dirty="0">
                          <a:solidFill>
                            <a:srgbClr val="000000"/>
                          </a:solidFill>
                          <a:latin typeface="맑은 고딕"/>
                          <a:ea typeface="맑은 고딕"/>
                        </a:rPr>
                        <a:t>Q1 </a:t>
                      </a:r>
                      <a:r>
                        <a:rPr sz="900" b="1" dirty="0" err="1">
                          <a:solidFill>
                            <a:srgbClr val="000000"/>
                          </a:solidFill>
                          <a:latin typeface="맑은 고딕"/>
                          <a:ea typeface="맑은 고딕"/>
                        </a:rPr>
                        <a:t>처리량</a:t>
                      </a:r>
                      <a:endParaRPr sz="9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0" dirty="0">
                          <a:solidFill>
                            <a:srgbClr val="000000"/>
                          </a:solidFill>
                          <a:latin typeface="맑은 고딕"/>
                          <a:ea typeface="맑은 고딕"/>
                        </a:rPr>
                        <a:t>SLO(TTFT ≤ 2 s, TPOT ≤ 50 </a:t>
                      </a:r>
                      <a:r>
                        <a:rPr sz="900" b="0" dirty="0" err="1">
                          <a:solidFill>
                            <a:srgbClr val="000000"/>
                          </a:solidFill>
                          <a:latin typeface="맑은 고딕"/>
                          <a:ea typeface="맑은 고딕"/>
                        </a:rPr>
                        <a:t>ms</a:t>
                      </a:r>
                      <a:r>
                        <a:rPr sz="900" b="0" dirty="0">
                          <a:solidFill>
                            <a:srgbClr val="000000"/>
                          </a:solidFill>
                          <a:latin typeface="맑은 고딕"/>
                          <a:ea typeface="맑은 고딕"/>
                        </a:rPr>
                        <a:t>) </a:t>
                      </a:r>
                      <a:endParaRPr lang="en-US" sz="900" b="0" dirty="0">
                        <a:solidFill>
                          <a:srgbClr val="000000"/>
                        </a:solidFill>
                        <a:latin typeface="맑은 고딕"/>
                        <a:ea typeface="맑은 고딕"/>
                      </a:endParaRPr>
                    </a:p>
                    <a:p>
                      <a:pPr algn="l"/>
                      <a:r>
                        <a:rPr sz="900" b="0" dirty="0" err="1">
                          <a:solidFill>
                            <a:srgbClr val="000000"/>
                          </a:solidFill>
                          <a:latin typeface="맑은 고딕"/>
                          <a:ea typeface="맑은 고딕"/>
                        </a:rPr>
                        <a:t>만족</a:t>
                      </a:r>
                      <a:r>
                        <a:rPr sz="900" b="0" dirty="0">
                          <a:solidFill>
                            <a:srgbClr val="000000"/>
                          </a:solidFill>
                          <a:latin typeface="맑은 고딕"/>
                          <a:ea typeface="맑은 고딕"/>
                        </a:rPr>
                        <a:t> Max goodput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900" b="0" dirty="0">
                          <a:solidFill>
                            <a:srgbClr val="000000"/>
                          </a:solidFill>
                          <a:latin typeface="맑은 고딕"/>
                          <a:ea typeface="맑은 고딕"/>
                        </a:rPr>
                        <a:t>3.5 query/s (QPS)</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900" b="0" dirty="0">
                          <a:solidFill>
                            <a:srgbClr val="000000"/>
                          </a:solidFill>
                          <a:latin typeface="맑은 고딕"/>
                          <a:ea typeface="맑은 고딕"/>
                        </a:rPr>
                        <a:t>8.27 query/s</a:t>
                      </a:r>
                      <a:r>
                        <a:rPr sz="900" b="0" dirty="0">
                          <a:solidFill>
                            <a:srgbClr val="000000"/>
                          </a:solidFill>
                          <a:latin typeface="맑은 고딕"/>
                          <a:ea typeface="맑은 고딕"/>
                        </a:rPr>
                        <a:t> (×2.35,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900" b="1" dirty="0">
                          <a:solidFill>
                            <a:srgbClr val="000000"/>
                          </a:solidFill>
                          <a:latin typeface="맑은 고딕"/>
                          <a:ea typeface="맑은 고딕"/>
                        </a:rPr>
                        <a:t>9.85 query/s</a:t>
                      </a:r>
                      <a:endParaRPr sz="9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2.</a:t>
                      </a:r>
                      <a:r>
                        <a:rPr lang="en-US" sz="900" b="0" dirty="0">
                          <a:solidFill>
                            <a:srgbClr val="404040"/>
                          </a:solidFill>
                          <a:latin typeface="맑은 고딕"/>
                          <a:ea typeface="맑은 고딕"/>
                        </a:rPr>
                        <a:t>8x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1</a:t>
                      </a:r>
                    </a:p>
                    <a:p>
                      <a:pPr marL="171450" indent="-171450" algn="l">
                        <a:buFontTx/>
                        <a:buChar char="-"/>
                      </a:pPr>
                      <a:r>
                        <a:rPr lang="en-US" altLang="ko-KR" sz="900" b="0" dirty="0">
                          <a:solidFill>
                            <a:srgbClr val="404040"/>
                          </a:solidFill>
                          <a:latin typeface="맑은 고딕"/>
                          <a:ea typeface="맑은 고딕"/>
                        </a:rPr>
                        <a:t>B1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1.19x </a:t>
                      </a:r>
                      <a:endParaRPr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900" b="1" dirty="0">
                          <a:solidFill>
                            <a:srgbClr val="000000"/>
                          </a:solidFill>
                          <a:latin typeface="맑은 고딕"/>
                          <a:ea typeface="맑은 고딕"/>
                        </a:rPr>
                        <a:t>15.4 query/s</a:t>
                      </a: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4.4x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en-US" sz="900" b="0" dirty="0">
                        <a:solidFill>
                          <a:srgbClr val="404040"/>
                        </a:solidFill>
                        <a:latin typeface="맑은 고딕"/>
                        <a:ea typeface="맑은 고딕"/>
                      </a:endParaRPr>
                    </a:p>
                    <a:p>
                      <a:pPr marL="171450" indent="-171450" algn="l">
                        <a:buFontTx/>
                        <a:buChar char="-"/>
                      </a:pPr>
                      <a:r>
                        <a:rPr lang="en-US"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sz="900" b="0" dirty="0">
                          <a:solidFill>
                            <a:srgbClr val="404040"/>
                          </a:solidFill>
                          <a:latin typeface="맑은 고딕"/>
                          <a:ea typeface="맑은 고딕"/>
                        </a:rPr>
                        <a:t>1.86x</a:t>
                      </a:r>
                      <a:endParaRPr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658368">
                <a:tc>
                  <a:txBody>
                    <a:bodyPr/>
                    <a:lstStyle/>
                    <a:p>
                      <a:pPr algn="l"/>
                      <a:r>
                        <a:rPr sz="900" b="1">
                          <a:solidFill>
                            <a:srgbClr val="000000"/>
                          </a:solidFill>
                          <a:latin typeface="맑은 고딕"/>
                          <a:ea typeface="맑은 고딕"/>
                        </a:rPr>
                        <a:t>Q2 HBM 효율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0" dirty="0">
                          <a:solidFill>
                            <a:srgbClr val="000000"/>
                          </a:solidFill>
                          <a:latin typeface="맑은 고딕"/>
                          <a:ea typeface="맑은 고딕"/>
                        </a:rPr>
                        <a:t>HBM </a:t>
                      </a:r>
                      <a:r>
                        <a:rPr sz="900" b="0" dirty="0" err="1">
                          <a:solidFill>
                            <a:srgbClr val="000000"/>
                          </a:solidFill>
                          <a:latin typeface="맑은 고딕"/>
                          <a:ea typeface="맑은 고딕"/>
                        </a:rPr>
                        <a:t>상주</a:t>
                      </a:r>
                      <a:r>
                        <a:rPr sz="900" b="0" dirty="0">
                          <a:solidFill>
                            <a:srgbClr val="000000"/>
                          </a:solidFill>
                          <a:latin typeface="맑은 고딕"/>
                          <a:ea typeface="맑은 고딕"/>
                        </a:rPr>
                        <a:t> KV </a:t>
                      </a:r>
                      <a:r>
                        <a:rPr sz="900" b="0" dirty="0" err="1">
                          <a:solidFill>
                            <a:srgbClr val="000000"/>
                          </a:solidFill>
                          <a:latin typeface="맑은 고딕"/>
                          <a:ea typeface="맑은 고딕"/>
                        </a:rPr>
                        <a:t>시간</a:t>
                      </a:r>
                      <a:r>
                        <a:rPr sz="900" b="0" dirty="0">
                          <a:solidFill>
                            <a:srgbClr val="000000"/>
                          </a:solidFill>
                          <a:latin typeface="맑은 고딕"/>
                          <a:ea typeface="맑은 고딕"/>
                        </a:rPr>
                        <a:t> </a:t>
                      </a:r>
                      <a:r>
                        <a:rPr sz="900" b="0" dirty="0" err="1">
                          <a:solidFill>
                            <a:srgbClr val="000000"/>
                          </a:solidFill>
                          <a:latin typeface="맑은 고딕"/>
                          <a:ea typeface="맑은 고딕"/>
                        </a:rPr>
                        <a:t>평균</a:t>
                      </a:r>
                      <a:r>
                        <a:rPr sz="900" b="0" dirty="0">
                          <a:solidFill>
                            <a:srgbClr val="000000"/>
                          </a:solidFill>
                          <a:latin typeface="맑은 고딕"/>
                          <a:ea typeface="맑은 고딕"/>
                        </a:rPr>
                        <a:t>(GiB)</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900" b="0" dirty="0">
                          <a:solidFill>
                            <a:srgbClr val="000000"/>
                          </a:solidFill>
                          <a:latin typeface="맑은 고딕"/>
                          <a:ea typeface="맑은 고딕"/>
                        </a:rPr>
                        <a:t>850 GiB</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900" b="0">
                          <a:solidFill>
                            <a:srgbClr val="000000"/>
                          </a:solidFill>
                          <a:latin typeface="맑은 고딕"/>
                          <a:ea typeface="맑은 고딕"/>
                        </a:rPr>
                        <a:t>850 GiB (0%,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900" b="1" dirty="0">
                          <a:solidFill>
                            <a:srgbClr val="000000"/>
                          </a:solidFill>
                          <a:latin typeface="맑은 고딕"/>
                          <a:ea typeface="맑은 고딕"/>
                        </a:rPr>
                        <a:t>459</a:t>
                      </a:r>
                      <a:r>
                        <a:rPr sz="900" b="1" dirty="0">
                          <a:solidFill>
                            <a:srgbClr val="000000"/>
                          </a:solidFill>
                          <a:latin typeface="맑은 고딕"/>
                          <a:ea typeface="맑은 고딕"/>
                        </a:rPr>
                        <a:t> GiB</a:t>
                      </a:r>
                    </a:p>
                    <a:p>
                      <a:pPr marL="0" indent="0" algn="l">
                        <a:buFontTx/>
                        <a:buNone/>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-46</a:t>
                      </a:r>
                      <a:r>
                        <a:rPr sz="900" b="0" dirty="0">
                          <a:solidFill>
                            <a:srgbClr val="404040"/>
                          </a:solidFill>
                          <a:latin typeface="맑은 고딕"/>
                          <a:ea typeface="맑은 고딕"/>
                        </a:rPr>
                        <a:t>%</a:t>
                      </a:r>
                      <a:r>
                        <a:rPr lang="en-US" sz="900" b="0" dirty="0">
                          <a:solidFill>
                            <a:srgbClr val="404040"/>
                          </a:solidFill>
                          <a:latin typeface="맑은 고딕"/>
                          <a:ea typeface="맑은 고딕"/>
                        </a:rPr>
                        <a:t>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en-US"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900" b="1" dirty="0">
                          <a:solidFill>
                            <a:srgbClr val="000000"/>
                          </a:solidFill>
                          <a:latin typeface="맑은 고딕"/>
                          <a:ea typeface="맑은 고딕"/>
                        </a:rPr>
                        <a:t>536</a:t>
                      </a:r>
                      <a:r>
                        <a:rPr sz="900" b="1" dirty="0">
                          <a:solidFill>
                            <a:srgbClr val="000000"/>
                          </a:solidFill>
                          <a:latin typeface="맑은 고딕"/>
                          <a:ea typeface="맑은 고딕"/>
                        </a:rPr>
                        <a:t> GiB</a:t>
                      </a:r>
                    </a:p>
                    <a:p>
                      <a:pPr algn="l"/>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37</a:t>
                      </a:r>
                      <a:r>
                        <a:rPr sz="900" b="0" dirty="0">
                          <a:solidFill>
                            <a:srgbClr val="404040"/>
                          </a:solidFill>
                          <a:latin typeface="맑은 고딕"/>
                          <a:ea typeface="맑은 고딕"/>
                        </a:rPr>
                        <a:t>%</a:t>
                      </a:r>
                      <a:r>
                        <a:rPr lang="en-US" sz="900" b="1" dirty="0">
                          <a:solidFill>
                            <a:srgbClr val="2F5597"/>
                          </a:solidFill>
                          <a:latin typeface="맑은 고딕"/>
                          <a:ea typeface="맑은 고딕"/>
                        </a:rPr>
                        <a:t> </a:t>
                      </a:r>
                      <a:r>
                        <a:rPr sz="900" b="1" dirty="0">
                          <a:solidFill>
                            <a:srgbClr val="2F5597"/>
                          </a:solidFill>
                          <a:latin typeface="맑은 고딕"/>
                          <a:ea typeface="맑은 고딕"/>
                        </a:rPr>
                        <a:t>★1.5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658368">
                <a:tc>
                  <a:txBody>
                    <a:bodyPr/>
                    <a:lstStyle/>
                    <a:p>
                      <a:pPr algn="l"/>
                      <a:r>
                        <a:rPr sz="900" b="1">
                          <a:solidFill>
                            <a:srgbClr val="000000"/>
                          </a:solidFill>
                          <a:latin typeface="맑은 고딕"/>
                          <a:ea typeface="맑은 고딕"/>
                        </a:rPr>
                        <a:t>Q3 고부하 지연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0" dirty="0">
                          <a:solidFill>
                            <a:srgbClr val="000000"/>
                          </a:solidFill>
                          <a:latin typeface="맑은 고딕"/>
                          <a:ea typeface="맑은 고딕"/>
                        </a:rPr>
                        <a:t>B</a:t>
                      </a:r>
                      <a:r>
                        <a:rPr lang="en-US" sz="900" b="0" dirty="0">
                          <a:solidFill>
                            <a:srgbClr val="000000"/>
                          </a:solidFill>
                          <a:latin typeface="맑은 고딕"/>
                          <a:ea typeface="맑은 고딕"/>
                        </a:rPr>
                        <a:t>aseline</a:t>
                      </a:r>
                      <a:r>
                        <a:rPr sz="900" b="0" dirty="0">
                          <a:solidFill>
                            <a:srgbClr val="000000"/>
                          </a:solidFill>
                          <a:latin typeface="맑은 고딕"/>
                          <a:ea typeface="맑은 고딕"/>
                        </a:rPr>
                        <a:t> </a:t>
                      </a:r>
                      <a:r>
                        <a:rPr sz="900" b="0" dirty="0" err="1">
                          <a:solidFill>
                            <a:srgbClr val="000000"/>
                          </a:solidFill>
                          <a:latin typeface="맑은 고딕"/>
                          <a:ea typeface="맑은 고딕"/>
                        </a:rPr>
                        <a:t>포화</a:t>
                      </a:r>
                      <a:r>
                        <a:rPr sz="900" b="0" dirty="0">
                          <a:solidFill>
                            <a:srgbClr val="000000"/>
                          </a:solidFill>
                          <a:latin typeface="맑은 고딕"/>
                          <a:ea typeface="맑은 고딕"/>
                        </a:rPr>
                        <a:t> </a:t>
                      </a:r>
                      <a:r>
                        <a:rPr sz="900" b="0" dirty="0" err="1">
                          <a:solidFill>
                            <a:srgbClr val="000000"/>
                          </a:solidFill>
                          <a:latin typeface="맑은 고딕"/>
                          <a:ea typeface="맑은 고딕"/>
                        </a:rPr>
                        <a:t>부하의</a:t>
                      </a:r>
                      <a:r>
                        <a:rPr sz="900" b="0" dirty="0">
                          <a:solidFill>
                            <a:srgbClr val="000000"/>
                          </a:solidFill>
                          <a:latin typeface="맑은 고딕"/>
                          <a:ea typeface="맑은 고딕"/>
                        </a:rPr>
                        <a:t> 90%에서 TTFT·TPOT P99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900" b="0" dirty="0">
                          <a:solidFill>
                            <a:srgbClr val="000000"/>
                          </a:solidFill>
                          <a:latin typeface="맑은 고딕"/>
                          <a:ea typeface="맑은 고딕"/>
                        </a:rPr>
                        <a:t>TTFT </a:t>
                      </a:r>
                      <a:r>
                        <a:rPr lang="en-US" sz="900" b="0" dirty="0">
                          <a:solidFill>
                            <a:srgbClr val="000000"/>
                          </a:solidFill>
                          <a:latin typeface="맑은 고딕"/>
                          <a:ea typeface="맑은 고딕"/>
                        </a:rPr>
                        <a:t>1</a:t>
                      </a:r>
                      <a:r>
                        <a:rPr sz="900" b="0" dirty="0">
                          <a:solidFill>
                            <a:srgbClr val="000000"/>
                          </a:solidFill>
                          <a:latin typeface="맑은 고딕"/>
                          <a:ea typeface="맑은 고딕"/>
                        </a:rPr>
                        <a:t>.</a:t>
                      </a:r>
                      <a:r>
                        <a:rPr lang="en-US" sz="900" b="0" dirty="0">
                          <a:solidFill>
                            <a:srgbClr val="000000"/>
                          </a:solidFill>
                          <a:latin typeface="맑은 고딕"/>
                          <a:ea typeface="맑은 고딕"/>
                        </a:rPr>
                        <a:t>73</a:t>
                      </a:r>
                      <a:r>
                        <a:rPr sz="900" b="0" dirty="0">
                          <a:solidFill>
                            <a:srgbClr val="000000"/>
                          </a:solidFill>
                          <a:latin typeface="맑은 고딕"/>
                          <a:ea typeface="맑은 고딕"/>
                        </a:rPr>
                        <a:t> s</a:t>
                      </a:r>
                      <a:endParaRPr lang="en-US" sz="900" b="0" dirty="0">
                        <a:solidFill>
                          <a:srgbClr val="000000"/>
                        </a:solidFill>
                        <a:latin typeface="맑은 고딕"/>
                        <a:ea typeface="맑은 고딕"/>
                      </a:endParaRPr>
                    </a:p>
                    <a:p>
                      <a:pPr algn="ctr"/>
                      <a:r>
                        <a:rPr lang="en-US" sz="900" b="0" dirty="0">
                          <a:solidFill>
                            <a:srgbClr val="000000"/>
                          </a:solidFill>
                          <a:latin typeface="맑은 고딕"/>
                          <a:ea typeface="맑은 고딕"/>
                        </a:rPr>
                        <a:t>T</a:t>
                      </a:r>
                      <a:r>
                        <a:rPr sz="900" b="0" dirty="0">
                          <a:solidFill>
                            <a:srgbClr val="000000"/>
                          </a:solidFill>
                          <a:latin typeface="맑은 고딕"/>
                          <a:ea typeface="맑은 고딕"/>
                        </a:rPr>
                        <a:t>POT 26.2 </a:t>
                      </a:r>
                      <a:r>
                        <a:rPr sz="900" b="0" dirty="0" err="1">
                          <a:solidFill>
                            <a:srgbClr val="000000"/>
                          </a:solidFill>
                          <a:latin typeface="맑은 고딕"/>
                          <a:ea typeface="맑은 고딕"/>
                        </a:rPr>
                        <a:t>ms</a:t>
                      </a:r>
                      <a:r>
                        <a:rPr sz="900" b="0" dirty="0">
                          <a:solidFill>
                            <a:srgbClr val="000000"/>
                          </a:solidFill>
                          <a:latin typeface="맑은 고딕"/>
                          <a:ea typeface="맑은 고딕"/>
                        </a:rPr>
                        <a:t> </a:t>
                      </a:r>
                      <a:endParaRPr lang="en-US"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900" b="0" dirty="0">
                          <a:solidFill>
                            <a:srgbClr val="000000"/>
                          </a:solidFill>
                          <a:latin typeface="맑은 고딕"/>
                          <a:ea typeface="맑은 고딕"/>
                        </a:rPr>
                        <a:t>TTFT </a:t>
                      </a:r>
                      <a:r>
                        <a:rPr lang="en-US" sz="900" b="0" dirty="0">
                          <a:solidFill>
                            <a:srgbClr val="000000"/>
                          </a:solidFill>
                          <a:latin typeface="맑은 고딕"/>
                          <a:ea typeface="맑은 고딕"/>
                        </a:rPr>
                        <a:t>1.18</a:t>
                      </a:r>
                      <a:r>
                        <a:rPr sz="900" b="0" dirty="0">
                          <a:solidFill>
                            <a:srgbClr val="000000"/>
                          </a:solidFill>
                          <a:latin typeface="맑은 고딕"/>
                          <a:ea typeface="맑은 고딕"/>
                        </a:rPr>
                        <a:t> s</a:t>
                      </a:r>
                      <a:endParaRPr lang="en-US" sz="900" b="0" dirty="0">
                        <a:solidFill>
                          <a:srgbClr val="000000"/>
                        </a:solidFill>
                        <a:latin typeface="맑은 고딕"/>
                        <a:ea typeface="맑은 고딕"/>
                      </a:endParaRPr>
                    </a:p>
                    <a:p>
                      <a:pPr algn="ctr"/>
                      <a:r>
                        <a:rPr sz="900" b="0" dirty="0">
                          <a:solidFill>
                            <a:srgbClr val="000000"/>
                          </a:solidFill>
                          <a:latin typeface="맑은 고딕"/>
                          <a:ea typeface="맑은 고딕"/>
                        </a:rPr>
                        <a:t>TPOT 21.6 </a:t>
                      </a:r>
                      <a:r>
                        <a:rPr sz="900" b="0" dirty="0" err="1">
                          <a:solidFill>
                            <a:srgbClr val="000000"/>
                          </a:solidFill>
                          <a:latin typeface="맑은 고딕"/>
                          <a:ea typeface="맑은 고딕"/>
                        </a:rPr>
                        <a:t>ms</a:t>
                      </a:r>
                      <a:r>
                        <a:rPr sz="900" b="0" dirty="0">
                          <a:solidFill>
                            <a:srgbClr val="000000"/>
                          </a:solidFill>
                          <a:latin typeface="맑은 고딕"/>
                          <a:ea typeface="맑은 고딕"/>
                        </a:rPr>
                        <a:t> </a:t>
                      </a:r>
                      <a:endParaRPr lang="en-US" sz="900" b="0" dirty="0">
                        <a:solidFill>
                          <a:srgbClr val="000000"/>
                        </a:solidFill>
                        <a:latin typeface="맑은 고딕"/>
                        <a:ea typeface="맑은 고딕"/>
                      </a:endParaRPr>
                    </a:p>
                    <a:p>
                      <a:pPr algn="ctr"/>
                      <a:r>
                        <a:rPr sz="900" b="0" dirty="0">
                          <a:solidFill>
                            <a:srgbClr val="000000"/>
                          </a:solidFill>
                          <a:latin typeface="맑은 고딕"/>
                          <a:ea typeface="맑은 고딕"/>
                        </a:rPr>
                        <a:t>(</a:t>
                      </a:r>
                      <a:r>
                        <a:rPr lang="en-US" sz="900" b="0" dirty="0">
                          <a:solidFill>
                            <a:srgbClr val="000000"/>
                          </a:solidFill>
                          <a:latin typeface="맑은 고딕"/>
                          <a:ea typeface="맑은 고딕"/>
                        </a:rPr>
                        <a:t>TTFT 32% </a:t>
                      </a:r>
                      <a:r>
                        <a:rPr lang="ko-KR" altLang="en-US" sz="900" b="0" dirty="0">
                          <a:solidFill>
                            <a:srgbClr val="000000"/>
                          </a:solidFill>
                          <a:latin typeface="맑은 고딕"/>
                          <a:ea typeface="맑은 고딕"/>
                        </a:rPr>
                        <a:t>감소</a:t>
                      </a:r>
                      <a:r>
                        <a:rPr sz="900" b="0" dirty="0">
                          <a:solidFill>
                            <a:srgbClr val="000000"/>
                          </a:solidFill>
                          <a:latin typeface="맑은 고딕"/>
                          <a:ea typeface="맑은 고딕"/>
                        </a:rPr>
                        <a:t>, ★</a:t>
                      </a:r>
                      <a:r>
                        <a:rPr lang="en-US" sz="900" b="0" dirty="0">
                          <a:solidFill>
                            <a:srgbClr val="000000"/>
                          </a:solidFill>
                          <a:latin typeface="맑은 고딕"/>
                          <a:ea typeface="맑은 고딕"/>
                        </a:rPr>
                        <a:t>1</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1" dirty="0">
                          <a:solidFill>
                            <a:srgbClr val="000000"/>
                          </a:solidFill>
                          <a:latin typeface="맑은 고딕"/>
                          <a:ea typeface="맑은 고딕"/>
                        </a:rPr>
                        <a:t>TTFT 0.7</a:t>
                      </a:r>
                      <a:r>
                        <a:rPr lang="en-US" sz="900" b="1" dirty="0">
                          <a:solidFill>
                            <a:srgbClr val="000000"/>
                          </a:solidFill>
                          <a:latin typeface="맑은 고딕"/>
                          <a:ea typeface="맑은 고딕"/>
                        </a:rPr>
                        <a:t>9</a:t>
                      </a:r>
                      <a:r>
                        <a:rPr sz="900" b="1" dirty="0">
                          <a:solidFill>
                            <a:srgbClr val="000000"/>
                          </a:solidFill>
                          <a:latin typeface="맑은 고딕"/>
                          <a:ea typeface="맑은 고딕"/>
                        </a:rPr>
                        <a:t> s</a:t>
                      </a:r>
                      <a:r>
                        <a:rPr lang="en-US" sz="900" b="1" dirty="0">
                          <a:solidFill>
                            <a:srgbClr val="000000"/>
                          </a:solidFill>
                          <a:latin typeface="맑은 고딕"/>
                          <a:ea typeface="맑은 고딕"/>
                        </a:rPr>
                        <a:t>, </a:t>
                      </a:r>
                      <a:r>
                        <a:rPr sz="900" b="1" dirty="0">
                          <a:solidFill>
                            <a:srgbClr val="000000"/>
                          </a:solidFill>
                          <a:latin typeface="맑은 고딕"/>
                          <a:ea typeface="맑은 고딕"/>
                        </a:rPr>
                        <a:t>TPOT </a:t>
                      </a:r>
                      <a:r>
                        <a:rPr lang="en-US" sz="900" b="1" dirty="0">
                          <a:solidFill>
                            <a:srgbClr val="000000"/>
                          </a:solidFill>
                          <a:latin typeface="맑은 고딕"/>
                          <a:ea typeface="맑은 고딕"/>
                        </a:rPr>
                        <a:t>15.4 </a:t>
                      </a:r>
                      <a:r>
                        <a:rPr sz="900" b="1" dirty="0" err="1">
                          <a:solidFill>
                            <a:srgbClr val="000000"/>
                          </a:solidFill>
                          <a:latin typeface="맑은 고딕"/>
                          <a:ea typeface="맑은 고딕"/>
                        </a:rPr>
                        <a:t>ms</a:t>
                      </a:r>
                      <a:endParaRPr sz="9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TTFT -54%, TPOT -42%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en-US" sz="900" b="0" dirty="0">
                        <a:solidFill>
                          <a:srgbClr val="404040"/>
                        </a:solidFill>
                        <a:latin typeface="맑은 고딕"/>
                        <a:ea typeface="맑은 고딕"/>
                      </a:endParaRPr>
                    </a:p>
                    <a:p>
                      <a:pPr marL="171450" indent="-171450" algn="l">
                        <a:buFontTx/>
                        <a:buChar char="-"/>
                      </a:pPr>
                      <a:r>
                        <a:rPr lang="en-US"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TTFT -33%, TPOT -29%</a:t>
                      </a:r>
                      <a:endParaRPr lang="en-US"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altLang="ko-KR" sz="900" b="1" dirty="0">
                          <a:solidFill>
                            <a:srgbClr val="000000"/>
                          </a:solidFill>
                          <a:latin typeface="+mn-lt"/>
                          <a:ea typeface="맑은 고딕"/>
                        </a:rPr>
                        <a:t>TTFT 1.09 s, TPOT 19.2 </a:t>
                      </a:r>
                      <a:r>
                        <a:rPr lang="en-US" altLang="ko-KR" sz="900" b="1" dirty="0" err="1">
                          <a:solidFill>
                            <a:srgbClr val="000000"/>
                          </a:solidFill>
                          <a:latin typeface="+mn-lt"/>
                          <a:ea typeface="맑은 고딕"/>
                        </a:rPr>
                        <a:t>ms</a:t>
                      </a:r>
                      <a:endParaRPr lang="en-US" altLang="ko-KR" sz="900" b="1" dirty="0">
                        <a:solidFill>
                          <a:srgbClr val="000000"/>
                        </a:solidFill>
                        <a:latin typeface="+mn-lt"/>
                        <a:ea typeface="맑은 고딕"/>
                      </a:endParaRPr>
                    </a:p>
                    <a:p>
                      <a:pPr marL="171450" indent="-171450" algn="l">
                        <a:buFontTx/>
                        <a:buChar char="-"/>
                      </a:pPr>
                      <a:r>
                        <a:rPr lang="en-US" altLang="ko-KR" sz="900" b="0" dirty="0">
                          <a:solidFill>
                            <a:srgbClr val="404040"/>
                          </a:solidFill>
                          <a:latin typeface="+mn-lt"/>
                          <a:ea typeface="맑은 고딕"/>
                        </a:rPr>
                        <a:t>B0 </a:t>
                      </a:r>
                      <a:r>
                        <a:rPr lang="ko-KR" altLang="en-US" sz="900" b="0" dirty="0">
                          <a:solidFill>
                            <a:srgbClr val="404040"/>
                          </a:solidFill>
                          <a:latin typeface="+mn-lt"/>
                          <a:ea typeface="맑은 고딕"/>
                        </a:rPr>
                        <a:t>대비 </a:t>
                      </a:r>
                      <a:r>
                        <a:rPr lang="en-US" altLang="ko-KR" sz="900" b="0" dirty="0">
                          <a:solidFill>
                            <a:srgbClr val="404040"/>
                          </a:solidFill>
                          <a:latin typeface="+mn-lt"/>
                          <a:ea typeface="맑은 고딕"/>
                        </a:rPr>
                        <a:t>TTFT -37%, TPOT -27% </a:t>
                      </a:r>
                      <a:r>
                        <a:rPr lang="en-US" altLang="ko-KR" sz="900" b="1" dirty="0">
                          <a:solidFill>
                            <a:srgbClr val="2F5597"/>
                          </a:solidFill>
                          <a:latin typeface="+mn-lt"/>
                          <a:ea typeface="맑은 고딕"/>
                        </a:rPr>
                        <a:t>★1</a:t>
                      </a:r>
                      <a:endParaRPr lang="en-US" altLang="ko-KR" sz="900" b="0" dirty="0">
                        <a:solidFill>
                          <a:srgbClr val="404040"/>
                        </a:solidFill>
                        <a:latin typeface="+mn-lt"/>
                        <a:ea typeface="맑은 고딕"/>
                      </a:endParaRPr>
                    </a:p>
                    <a:p>
                      <a:pPr marL="171450" indent="-171450" algn="l">
                        <a:buFontTx/>
                        <a:buChar char="-"/>
                      </a:pPr>
                      <a:r>
                        <a:rPr lang="en-US" altLang="ko-KR" sz="900" b="0" dirty="0">
                          <a:solidFill>
                            <a:srgbClr val="404040"/>
                          </a:solidFill>
                          <a:latin typeface="+mn-lt"/>
                          <a:ea typeface="맑은 고딕"/>
                        </a:rPr>
                        <a:t>B1 </a:t>
                      </a:r>
                      <a:r>
                        <a:rPr lang="ko-KR" altLang="en-US" sz="900" b="0" dirty="0">
                          <a:solidFill>
                            <a:srgbClr val="404040"/>
                          </a:solidFill>
                          <a:latin typeface="+mn-lt"/>
                          <a:ea typeface="맑은 고딕"/>
                        </a:rPr>
                        <a:t>대비 </a:t>
                      </a:r>
                      <a:r>
                        <a:rPr lang="en-US" altLang="ko-KR" sz="900" b="0" dirty="0">
                          <a:solidFill>
                            <a:srgbClr val="404040"/>
                          </a:solidFill>
                          <a:latin typeface="+mn-lt"/>
                          <a:ea typeface="맑은 고딕"/>
                        </a:rPr>
                        <a:t>TTFT -8%, TPOT -12%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r h="658368">
                <a:tc>
                  <a:txBody>
                    <a:bodyPr/>
                    <a:lstStyle/>
                    <a:p>
                      <a:pPr algn="l"/>
                      <a:r>
                        <a:rPr sz="900" b="1">
                          <a:solidFill>
                            <a:srgbClr val="000000"/>
                          </a:solidFill>
                          <a:latin typeface="맑은 고딕"/>
                          <a:ea typeface="맑은 고딕"/>
                        </a:rPr>
                        <a:t>Q4 확장성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0" dirty="0">
                          <a:solidFill>
                            <a:srgbClr val="000000"/>
                          </a:solidFill>
                          <a:latin typeface="맑은 고딕"/>
                          <a:ea typeface="맑은 고딕"/>
                        </a:rPr>
                        <a:t>SE(N=16) = goodput </a:t>
                      </a:r>
                      <a:r>
                        <a:rPr sz="900" b="0" dirty="0" err="1">
                          <a:solidFill>
                            <a:srgbClr val="000000"/>
                          </a:solidFill>
                          <a:latin typeface="맑은 고딕"/>
                          <a:ea typeface="맑은 고딕"/>
                        </a:rPr>
                        <a:t>배율</a:t>
                      </a:r>
                      <a:r>
                        <a:rPr sz="900" b="0" dirty="0">
                          <a:solidFill>
                            <a:srgbClr val="000000"/>
                          </a:solidFill>
                          <a:latin typeface="맑은 고딕"/>
                          <a:ea typeface="맑은 고딕"/>
                        </a:rPr>
                        <a:t> ÷ </a:t>
                      </a:r>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배율</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900" b="0" dirty="0">
                          <a:solidFill>
                            <a:srgbClr val="000000"/>
                          </a:solidFill>
                          <a:latin typeface="맑은 고딕"/>
                          <a:ea typeface="맑은 고딕"/>
                        </a:rPr>
                        <a:t>SE </a:t>
                      </a:r>
                      <a:r>
                        <a:rPr lang="en-US" sz="900" b="0" dirty="0">
                          <a:solidFill>
                            <a:srgbClr val="000000"/>
                          </a:solidFill>
                          <a:latin typeface="맑은 고딕"/>
                          <a:ea typeface="맑은 고딕"/>
                        </a:rPr>
                        <a:t>80</a:t>
                      </a:r>
                      <a:r>
                        <a:rPr sz="9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900" b="0" dirty="0">
                          <a:solidFill>
                            <a:srgbClr val="000000"/>
                          </a:solidFill>
                          <a:latin typeface="맑은 고딕"/>
                          <a:ea typeface="맑은 고딕"/>
                        </a:rPr>
                        <a:t>SE </a:t>
                      </a:r>
                      <a:r>
                        <a:rPr lang="en-US" sz="900" b="0" dirty="0">
                          <a:solidFill>
                            <a:srgbClr val="000000"/>
                          </a:solidFill>
                          <a:latin typeface="맑은 고딕"/>
                          <a:ea typeface="맑은 고딕"/>
                        </a:rPr>
                        <a:t>80</a:t>
                      </a:r>
                      <a:r>
                        <a:rPr sz="900" b="0" dirty="0">
                          <a:solidFill>
                            <a:srgbClr val="000000"/>
                          </a:solidFill>
                          <a:latin typeface="맑은 고딕"/>
                          <a:ea typeface="맑은 고딕"/>
                        </a:rPr>
                        <a:t>%</a:t>
                      </a:r>
                      <a:r>
                        <a:rPr lang="en-US" sz="900" b="0" dirty="0">
                          <a:solidFill>
                            <a:srgbClr val="000000"/>
                          </a:solidFill>
                          <a:latin typeface="맑은 고딕"/>
                          <a:ea typeface="맑은 고딕"/>
                        </a:rPr>
                        <a:t> </a:t>
                      </a:r>
                      <a:r>
                        <a:rPr lang="ko-KR" altLang="en-US" sz="900" b="0" dirty="0">
                          <a:solidFill>
                            <a:srgbClr val="000000"/>
                          </a:solidFill>
                          <a:latin typeface="+mn-lt"/>
                          <a:ea typeface="맑은 고딕"/>
                        </a:rPr>
                        <a:t>★</a:t>
                      </a:r>
                      <a:r>
                        <a:rPr lang="en-US" altLang="ko-KR" sz="900" b="0" dirty="0">
                          <a:solidFill>
                            <a:srgbClr val="000000"/>
                          </a:solidFill>
                          <a:latin typeface="+mn-lt"/>
                          <a:ea typeface="맑은 고딕"/>
                        </a:rPr>
                        <a:t>1</a:t>
                      </a:r>
                      <a:endParaRPr sz="9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1" dirty="0">
                          <a:solidFill>
                            <a:srgbClr val="000000"/>
                          </a:solidFill>
                          <a:latin typeface="맑은 고딕"/>
                          <a:ea typeface="맑은 고딕"/>
                        </a:rPr>
                        <a:t>SE </a:t>
                      </a:r>
                      <a:r>
                        <a:rPr lang="en-US" sz="900" b="1" dirty="0">
                          <a:solidFill>
                            <a:srgbClr val="000000"/>
                          </a:solidFill>
                          <a:latin typeface="맑은 고딕"/>
                          <a:ea typeface="맑은 고딕"/>
                        </a:rPr>
                        <a:t>94</a:t>
                      </a:r>
                      <a:r>
                        <a:rPr sz="900" b="1" dirty="0">
                          <a:solidFill>
                            <a:srgbClr val="000000"/>
                          </a:solidFill>
                          <a:latin typeface="맑은 고딕"/>
                          <a:ea typeface="맑은 고딕"/>
                        </a:rPr>
                        <a:t>%</a:t>
                      </a:r>
                      <a:r>
                        <a:rPr lang="en-US" sz="900" b="1" dirty="0">
                          <a:solidFill>
                            <a:srgbClr val="000000"/>
                          </a:solidFill>
                          <a:latin typeface="맑은 고딕"/>
                          <a:ea typeface="맑은 고딕"/>
                        </a:rPr>
                        <a:t> </a:t>
                      </a:r>
                      <a:r>
                        <a:rPr sz="900" b="1" dirty="0">
                          <a:solidFill>
                            <a:srgbClr val="2F5597"/>
                          </a:solidFill>
                          <a:latin typeface="맑은 고딕"/>
                          <a:ea typeface="맑은 고딕"/>
                        </a:rPr>
                        <a:t>★2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900" b="1" dirty="0">
                          <a:solidFill>
                            <a:srgbClr val="000000"/>
                          </a:solidFill>
                          <a:latin typeface="맑은 고딕"/>
                          <a:ea typeface="맑은 고딕"/>
                        </a:rPr>
                        <a:t>SE 97%</a:t>
                      </a:r>
                      <a:r>
                        <a:rPr lang="en-US" sz="900" b="1" dirty="0">
                          <a:solidFill>
                            <a:srgbClr val="2F5597"/>
                          </a:solidFill>
                          <a:latin typeface="맑은 고딕"/>
                          <a:ea typeface="맑은 고딕"/>
                        </a:rPr>
                        <a:t> </a:t>
                      </a:r>
                      <a:r>
                        <a:rPr sz="900" b="1" dirty="0">
                          <a:solidFill>
                            <a:srgbClr val="2F5597"/>
                          </a:solidFill>
                          <a:latin typeface="맑은 고딕"/>
                          <a:ea typeface="맑은 고딕"/>
                        </a:rPr>
                        <a:t>★3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4"/>
                  </a:ext>
                </a:extLst>
              </a:tr>
            </a:tbl>
          </a:graphicData>
        </a:graphic>
      </p:graphicFrame>
      <p:sp>
        <p:nvSpPr>
          <p:cNvPr id="12" name="실행 단추: 앞으로 또는 다음으로 이동 11">
            <a:hlinkClick r:id="rId3" action="ppaction://hlinksldjump" highlightClick="1"/>
            <a:extLst>
              <a:ext uri="{FF2B5EF4-FFF2-40B4-BE49-F238E27FC236}">
                <a16:creationId xmlns:a16="http://schemas.microsoft.com/office/drawing/2014/main" id="{CB99D486-63A4-438D-872D-EEAC95801A8A}"/>
              </a:ext>
            </a:extLst>
          </p:cNvPr>
          <p:cNvSpPr/>
          <p:nvPr/>
        </p:nvSpPr>
        <p:spPr>
          <a:xfrm>
            <a:off x="11444531" y="210304"/>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subtitle">
            <a:extLst>
              <a:ext uri="{FF2B5EF4-FFF2-40B4-BE49-F238E27FC236}">
                <a16:creationId xmlns:a16="http://schemas.microsoft.com/office/drawing/2014/main" id="{57115538-A630-4D0A-B1D5-8A6D9F983D62}"/>
              </a:ext>
            </a:extLst>
          </p:cNvPr>
          <p:cNvSpPr txBox="1"/>
          <p:nvPr/>
        </p:nvSpPr>
        <p:spPr>
          <a:xfrm>
            <a:off x="10281685" y="234420"/>
            <a:ext cx="1105786" cy="243143"/>
          </a:xfrm>
          <a:prstGeom prst="rect">
            <a:avLst/>
          </a:prstGeom>
          <a:noFill/>
        </p:spPr>
        <p:txBody>
          <a:bodyPr wrap="square" lIns="73152" tIns="36576" rIns="73152" bIns="36576" anchor="t">
            <a:spAutoFit/>
          </a:bodyPr>
          <a:lstStyle/>
          <a:p>
            <a:pPr>
              <a:spcAft>
                <a:spcPts val="250"/>
              </a:spcAft>
            </a:pPr>
            <a:r>
              <a:rPr lang="ko-KR" altLang="en-US" sz="1100" b="0" dirty="0">
                <a:solidFill>
                  <a:srgbClr val="404040"/>
                </a:solidFill>
                <a:latin typeface="맑은 고딕"/>
                <a:ea typeface="맑은 고딕"/>
              </a:rPr>
              <a:t>시나리오 상세</a:t>
            </a:r>
            <a:endParaRPr lang="en-US" altLang="ko-KR" sz="1100" b="0" dirty="0">
              <a:latin typeface="맑은 고딕"/>
              <a:ea typeface="맑은 고딕"/>
            </a:endParaRPr>
          </a:p>
        </p:txBody>
      </p:sp>
      <p:sp>
        <p:nvSpPr>
          <p:cNvPr id="14" name="실행 단추: 앞으로 또는 다음으로 이동 13">
            <a:hlinkClick r:id="rId4" action="ppaction://hlinksldjump" highlightClick="1"/>
            <a:extLst>
              <a:ext uri="{FF2B5EF4-FFF2-40B4-BE49-F238E27FC236}">
                <a16:creationId xmlns:a16="http://schemas.microsoft.com/office/drawing/2014/main" id="{43FADD84-7A25-47DA-A508-1902079B373B}"/>
              </a:ext>
            </a:extLst>
          </p:cNvPr>
          <p:cNvSpPr/>
          <p:nvPr/>
        </p:nvSpPr>
        <p:spPr>
          <a:xfrm>
            <a:off x="11444531" y="577100"/>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subtitle">
            <a:extLst>
              <a:ext uri="{FF2B5EF4-FFF2-40B4-BE49-F238E27FC236}">
                <a16:creationId xmlns:a16="http://schemas.microsoft.com/office/drawing/2014/main" id="{CD8FBC37-0E26-4D13-836E-66864344D53A}"/>
              </a:ext>
            </a:extLst>
          </p:cNvPr>
          <p:cNvSpPr txBox="1"/>
          <p:nvPr/>
        </p:nvSpPr>
        <p:spPr>
          <a:xfrm>
            <a:off x="10281685" y="601216"/>
            <a:ext cx="1105786"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404040"/>
                </a:solidFill>
                <a:latin typeface="맑은 고딕"/>
                <a:ea typeface="맑은 고딕"/>
              </a:rPr>
              <a:t>DP </a:t>
            </a:r>
            <a:r>
              <a:rPr lang="ko-KR" altLang="en-US" sz="1100" b="0" dirty="0">
                <a:solidFill>
                  <a:srgbClr val="404040"/>
                </a:solidFill>
                <a:latin typeface="맑은 고딕"/>
                <a:ea typeface="맑은 고딕"/>
              </a:rPr>
              <a:t>특화 구간</a:t>
            </a:r>
            <a:endParaRPr lang="en-US" altLang="ko-KR" sz="1100" b="0" dirty="0">
              <a:latin typeface="맑은 고딕"/>
              <a:ea typeface="맑은 고딕"/>
            </a:endParaRPr>
          </a:p>
        </p:txBody>
      </p:sp>
      <p:sp>
        <p:nvSpPr>
          <p:cNvPr id="16" name="실행 단추: 뒤로 또는 앞으로 이동 15">
            <a:hlinkClick r:id="rId5" action="ppaction://hlinksldjump" highlightClick="1"/>
            <a:extLst>
              <a:ext uri="{FF2B5EF4-FFF2-40B4-BE49-F238E27FC236}">
                <a16:creationId xmlns:a16="http://schemas.microsoft.com/office/drawing/2014/main" id="{37B9DA10-1ACD-4539-B039-1F34A08D5590}"/>
              </a:ext>
            </a:extLst>
          </p:cNvPr>
          <p:cNvSpPr/>
          <p:nvPr/>
        </p:nvSpPr>
        <p:spPr>
          <a:xfrm>
            <a:off x="3486150" y="634048"/>
            <a:ext cx="313661" cy="30633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실행 단추: 앞으로 또는 다음으로 이동 4">
            <a:hlinkClick r:id="rId6" action="ppaction://hlinksldjump" highlightClick="1"/>
            <a:extLst>
              <a:ext uri="{FF2B5EF4-FFF2-40B4-BE49-F238E27FC236}">
                <a16:creationId xmlns:a16="http://schemas.microsoft.com/office/drawing/2014/main" id="{E84BAF67-7E05-4986-B3F5-CF74AEA81BD1}"/>
              </a:ext>
            </a:extLst>
          </p:cNvPr>
          <p:cNvSpPr/>
          <p:nvPr/>
        </p:nvSpPr>
        <p:spPr>
          <a:xfrm>
            <a:off x="8922259" y="286541"/>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subtitle">
            <a:extLst>
              <a:ext uri="{FF2B5EF4-FFF2-40B4-BE49-F238E27FC236}">
                <a16:creationId xmlns:a16="http://schemas.microsoft.com/office/drawing/2014/main" id="{AA4ADF57-134F-49EA-951D-6C026B55B559}"/>
              </a:ext>
            </a:extLst>
          </p:cNvPr>
          <p:cNvSpPr txBox="1"/>
          <p:nvPr/>
        </p:nvSpPr>
        <p:spPr>
          <a:xfrm>
            <a:off x="8533544" y="274985"/>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QA1 </a:t>
            </a:r>
            <a:endParaRPr lang="en-US" altLang="ko-KR" sz="1100" b="0" dirty="0">
              <a:latin typeface="맑은 고딕"/>
              <a:ea typeface="맑은 고딕"/>
            </a:endParaRPr>
          </a:p>
        </p:txBody>
      </p:sp>
      <p:sp>
        <p:nvSpPr>
          <p:cNvPr id="30" name="subtitle">
            <a:extLst>
              <a:ext uri="{FF2B5EF4-FFF2-40B4-BE49-F238E27FC236}">
                <a16:creationId xmlns:a16="http://schemas.microsoft.com/office/drawing/2014/main" id="{AA4ADF57-134F-49EA-951D-6C026B55B559}"/>
              </a:ext>
            </a:extLst>
          </p:cNvPr>
          <p:cNvSpPr txBox="1"/>
          <p:nvPr/>
        </p:nvSpPr>
        <p:spPr>
          <a:xfrm>
            <a:off x="8533544" y="493997"/>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QA2 </a:t>
            </a:r>
            <a:endParaRPr lang="en-US" altLang="ko-KR" sz="1100" b="0" dirty="0">
              <a:latin typeface="맑은 고딕"/>
              <a:ea typeface="맑은 고딕"/>
            </a:endParaRPr>
          </a:p>
        </p:txBody>
      </p:sp>
      <p:sp>
        <p:nvSpPr>
          <p:cNvPr id="31" name="subtitle">
            <a:extLst>
              <a:ext uri="{FF2B5EF4-FFF2-40B4-BE49-F238E27FC236}">
                <a16:creationId xmlns:a16="http://schemas.microsoft.com/office/drawing/2014/main" id="{AA4ADF57-134F-49EA-951D-6C026B55B559}"/>
              </a:ext>
            </a:extLst>
          </p:cNvPr>
          <p:cNvSpPr txBox="1"/>
          <p:nvPr/>
        </p:nvSpPr>
        <p:spPr>
          <a:xfrm>
            <a:off x="9215373" y="291871"/>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QA3 </a:t>
            </a:r>
            <a:endParaRPr lang="en-US" altLang="ko-KR" sz="1100" b="0" dirty="0">
              <a:latin typeface="맑은 고딕"/>
              <a:ea typeface="맑은 고딕"/>
            </a:endParaRPr>
          </a:p>
        </p:txBody>
      </p:sp>
      <p:sp>
        <p:nvSpPr>
          <p:cNvPr id="32" name="subtitle">
            <a:extLst>
              <a:ext uri="{FF2B5EF4-FFF2-40B4-BE49-F238E27FC236}">
                <a16:creationId xmlns:a16="http://schemas.microsoft.com/office/drawing/2014/main" id="{AA4ADF57-134F-49EA-951D-6C026B55B559}"/>
              </a:ext>
            </a:extLst>
          </p:cNvPr>
          <p:cNvSpPr txBox="1"/>
          <p:nvPr/>
        </p:nvSpPr>
        <p:spPr>
          <a:xfrm>
            <a:off x="9215373" y="483639"/>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QA4 </a:t>
            </a:r>
            <a:endParaRPr lang="en-US" altLang="ko-KR" sz="1100" b="0" dirty="0">
              <a:latin typeface="맑은 고딕"/>
              <a:ea typeface="맑은 고딕"/>
            </a:endParaRPr>
          </a:p>
        </p:txBody>
      </p:sp>
      <p:sp>
        <p:nvSpPr>
          <p:cNvPr id="33" name="subtitle">
            <a:extLst>
              <a:ext uri="{FF2B5EF4-FFF2-40B4-BE49-F238E27FC236}">
                <a16:creationId xmlns:a16="http://schemas.microsoft.com/office/drawing/2014/main" id="{AA4ADF57-134F-49EA-951D-6C026B55B559}"/>
              </a:ext>
            </a:extLst>
          </p:cNvPr>
          <p:cNvSpPr txBox="1"/>
          <p:nvPr/>
        </p:nvSpPr>
        <p:spPr>
          <a:xfrm>
            <a:off x="9215373" y="714740"/>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QA5 </a:t>
            </a:r>
            <a:endParaRPr lang="en-US" altLang="ko-KR" sz="1100" b="0" dirty="0">
              <a:latin typeface="맑은 고딕"/>
              <a:ea typeface="맑은 고딕"/>
            </a:endParaRPr>
          </a:p>
        </p:txBody>
      </p:sp>
      <p:sp>
        <p:nvSpPr>
          <p:cNvPr id="34" name="subtitle">
            <a:extLst>
              <a:ext uri="{FF2B5EF4-FFF2-40B4-BE49-F238E27FC236}">
                <a16:creationId xmlns:a16="http://schemas.microsoft.com/office/drawing/2014/main" id="{AA4ADF57-134F-49EA-951D-6C026B55B559}"/>
              </a:ext>
            </a:extLst>
          </p:cNvPr>
          <p:cNvSpPr txBox="1"/>
          <p:nvPr/>
        </p:nvSpPr>
        <p:spPr>
          <a:xfrm>
            <a:off x="8899811" y="10191"/>
            <a:ext cx="918512" cy="243143"/>
          </a:xfrm>
          <a:prstGeom prst="rect">
            <a:avLst/>
          </a:prstGeom>
          <a:noFill/>
        </p:spPr>
        <p:txBody>
          <a:bodyPr wrap="square" lIns="73152" tIns="36576" rIns="73152" bIns="36576" anchor="t">
            <a:spAutoFit/>
          </a:bodyPr>
          <a:lstStyle/>
          <a:p>
            <a:pPr>
              <a:spcAft>
                <a:spcPts val="250"/>
              </a:spcAft>
            </a:pPr>
            <a:r>
              <a:rPr lang="ko-KR" altLang="en-US" sz="1100" b="0" dirty="0">
                <a:latin typeface="맑은 고딕"/>
                <a:ea typeface="맑은 고딕"/>
              </a:rPr>
              <a:t>평가기준</a:t>
            </a:r>
            <a:endParaRPr lang="en-US" altLang="ko-KR" sz="1100" b="0" dirty="0">
              <a:latin typeface="맑은 고딕"/>
              <a:ea typeface="맑은 고딕"/>
            </a:endParaRPr>
          </a:p>
        </p:txBody>
      </p:sp>
      <p:sp>
        <p:nvSpPr>
          <p:cNvPr id="35" name="실행 단추: 앞으로 또는 다음으로 이동 4">
            <a:hlinkClick r:id="rId7" action="ppaction://hlinksldjump" highlightClick="1"/>
            <a:extLst>
              <a:ext uri="{FF2B5EF4-FFF2-40B4-BE49-F238E27FC236}">
                <a16:creationId xmlns:a16="http://schemas.microsoft.com/office/drawing/2014/main" id="{E84BAF67-7E05-4986-B3F5-CF74AEA81BD1}"/>
              </a:ext>
            </a:extLst>
          </p:cNvPr>
          <p:cNvSpPr/>
          <p:nvPr/>
        </p:nvSpPr>
        <p:spPr>
          <a:xfrm>
            <a:off x="8922259" y="544743"/>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실행 단추: 앞으로 또는 다음으로 이동 4">
            <a:hlinkClick r:id="rId8" action="ppaction://hlinksldjump" highlightClick="1"/>
            <a:extLst>
              <a:ext uri="{FF2B5EF4-FFF2-40B4-BE49-F238E27FC236}">
                <a16:creationId xmlns:a16="http://schemas.microsoft.com/office/drawing/2014/main" id="{E84BAF67-7E05-4986-B3F5-CF74AEA81BD1}"/>
              </a:ext>
            </a:extLst>
          </p:cNvPr>
          <p:cNvSpPr/>
          <p:nvPr/>
        </p:nvSpPr>
        <p:spPr>
          <a:xfrm>
            <a:off x="9604088" y="279949"/>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실행 단추: 앞으로 또는 다음으로 이동 4">
            <a:hlinkClick r:id="rId9" action="ppaction://hlinksldjump" highlightClick="1"/>
            <a:extLst>
              <a:ext uri="{FF2B5EF4-FFF2-40B4-BE49-F238E27FC236}">
                <a16:creationId xmlns:a16="http://schemas.microsoft.com/office/drawing/2014/main" id="{E84BAF67-7E05-4986-B3F5-CF74AEA81BD1}"/>
              </a:ext>
            </a:extLst>
          </p:cNvPr>
          <p:cNvSpPr/>
          <p:nvPr/>
        </p:nvSpPr>
        <p:spPr>
          <a:xfrm>
            <a:off x="9604088" y="51195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실행 단추: 앞으로 또는 다음으로 이동 4">
            <a:hlinkClick r:id="rId10" action="ppaction://hlinksldjump" highlightClick="1"/>
            <a:extLst>
              <a:ext uri="{FF2B5EF4-FFF2-40B4-BE49-F238E27FC236}">
                <a16:creationId xmlns:a16="http://schemas.microsoft.com/office/drawing/2014/main" id="{E84BAF67-7E05-4986-B3F5-CF74AEA81BD1}"/>
              </a:ext>
            </a:extLst>
          </p:cNvPr>
          <p:cNvSpPr/>
          <p:nvPr/>
        </p:nvSpPr>
        <p:spPr>
          <a:xfrm>
            <a:off x="9604088" y="74354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DP3. KV 캐시 재사용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078992"/>
            <a:ext cx="5623560" cy="575799"/>
          </a:xfrm>
          <a:prstGeom prst="rect">
            <a:avLst/>
          </a:prstGeom>
          <a:noFill/>
        </p:spPr>
        <p:txBody>
          <a:bodyPr wrap="square" lIns="73152" tIns="36576" rIns="73152" bIns="36576" anchor="t">
            <a:spAutoFit/>
          </a:bodyPr>
          <a:lstStyle/>
          <a:p>
            <a:pPr algn="l">
              <a:lnSpc>
                <a:spcPct val="110000"/>
              </a:lnSpc>
              <a:spcAft>
                <a:spcPts val="0"/>
              </a:spcAft>
            </a:pPr>
            <a:r>
              <a:rPr sz="1050" b="1" dirty="0" err="1">
                <a:solidFill>
                  <a:srgbClr val="2F5597"/>
                </a:solidFill>
                <a:latin typeface="맑은 고딕"/>
                <a:ea typeface="맑은 고딕"/>
              </a:rPr>
              <a:t>평가</a:t>
            </a:r>
            <a:r>
              <a:rPr sz="1050" b="1" dirty="0">
                <a:solidFill>
                  <a:srgbClr val="2F5597"/>
                </a:solidFill>
                <a:latin typeface="맑은 고딕"/>
                <a:ea typeface="맑은 고딕"/>
              </a:rPr>
              <a:t> </a:t>
            </a:r>
            <a:r>
              <a:rPr sz="1050" b="1" dirty="0" err="1">
                <a:solidFill>
                  <a:srgbClr val="2F5597"/>
                </a:solidFill>
                <a:latin typeface="맑은 고딕"/>
                <a:ea typeface="맑은 고딕"/>
              </a:rPr>
              <a:t>환경</a:t>
            </a:r>
            <a:endParaRPr sz="1050" b="1" dirty="0">
              <a:solidFill>
                <a:srgbClr val="2F5597"/>
              </a:solidFill>
              <a:latin typeface="맑은 고딕"/>
              <a:ea typeface="맑은 고딕"/>
            </a:endParaRPr>
          </a:p>
          <a:p>
            <a:pPr algn="l">
              <a:lnSpc>
                <a:spcPct val="110000"/>
              </a:lnSpc>
              <a:spcAft>
                <a:spcPts val="0"/>
              </a:spcAft>
            </a:pPr>
            <a:r>
              <a:rPr sz="1000" b="0" dirty="0">
                <a:solidFill>
                  <a:srgbClr val="000000"/>
                </a:solidFill>
                <a:latin typeface="맑은 고딕"/>
                <a:ea typeface="맑은 고딕"/>
              </a:rPr>
              <a:t>• 1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(DP1과 </a:t>
            </a:r>
            <a:r>
              <a:rPr sz="1000" b="0" dirty="0" err="1">
                <a:solidFill>
                  <a:srgbClr val="000000"/>
                </a:solidFill>
                <a:latin typeface="맑은 고딕"/>
                <a:ea typeface="맑은 고딕"/>
              </a:rPr>
              <a:t>같은</a:t>
            </a:r>
            <a:r>
              <a:rPr sz="1000" b="0" dirty="0">
                <a:solidFill>
                  <a:srgbClr val="000000"/>
                </a:solidFill>
                <a:latin typeface="맑은 고딕"/>
                <a:ea typeface="맑은 고딕"/>
              </a:rPr>
              <a:t> HW)</a:t>
            </a:r>
            <a:endParaRPr lang="en-US" sz="1000" b="0" dirty="0">
              <a:solidFill>
                <a:srgbClr val="000000"/>
              </a:solidFill>
              <a:latin typeface="맑은 고딕"/>
              <a:ea typeface="맑은 고딕"/>
            </a:endParaRPr>
          </a:p>
          <a:p>
            <a:pPr algn="l">
              <a:lnSpc>
                <a:spcPct val="110000"/>
              </a:lnSpc>
              <a:spcAft>
                <a:spcPts val="0"/>
              </a:spcAft>
            </a:pPr>
            <a:r>
              <a:rPr sz="1000" b="0" dirty="0">
                <a:solidFill>
                  <a:srgbClr val="000000"/>
                </a:solidFill>
                <a:latin typeface="맑은 고딕"/>
                <a:ea typeface="맑은 고딕"/>
              </a:rPr>
              <a:t>• Llama-3.1-70B BF16, SYS-H100. B0 = GPU-only, B1 = </a:t>
            </a:r>
            <a:r>
              <a:rPr sz="1000" b="0" dirty="0" err="1">
                <a:solidFill>
                  <a:srgbClr val="000000"/>
                </a:solidFill>
                <a:latin typeface="맑은 고딕"/>
                <a:ea typeface="맑은 고딕"/>
              </a:rPr>
              <a:t>단순</a:t>
            </a:r>
            <a:r>
              <a:rPr sz="1000" b="0" dirty="0">
                <a:solidFill>
                  <a:srgbClr val="000000"/>
                </a:solidFill>
                <a:latin typeface="맑은 고딕"/>
                <a:ea typeface="맑은 고딕"/>
              </a:rPr>
              <a:t> offloading</a:t>
            </a:r>
          </a:p>
        </p:txBody>
      </p:sp>
      <p:sp>
        <p:nvSpPr>
          <p:cNvPr id="8" name="TextBox 7"/>
          <p:cNvSpPr txBox="1"/>
          <p:nvPr/>
        </p:nvSpPr>
        <p:spPr>
          <a:xfrm>
            <a:off x="5791200" y="1078992"/>
            <a:ext cx="6004560" cy="575799"/>
          </a:xfrm>
          <a:prstGeom prst="rect">
            <a:avLst/>
          </a:prstGeom>
          <a:noFill/>
        </p:spPr>
        <p:txBody>
          <a:bodyPr wrap="square" lIns="73152" tIns="36576" rIns="73152" bIns="36576" anchor="t">
            <a:spAutoFit/>
          </a:bodyPr>
          <a:lstStyle/>
          <a:p>
            <a:pPr algn="l">
              <a:lnSpc>
                <a:spcPct val="110000"/>
              </a:lnSpc>
              <a:spcAft>
                <a:spcPts val="0"/>
              </a:spcAft>
            </a:pPr>
            <a:r>
              <a:rPr sz="1050" b="1" dirty="0" err="1">
                <a:solidFill>
                  <a:srgbClr val="2F5597"/>
                </a:solidFill>
                <a:latin typeface="맑은 고딕"/>
                <a:ea typeface="맑은 고딕"/>
              </a:rPr>
              <a:t>평가</a:t>
            </a:r>
            <a:r>
              <a:rPr sz="1050" b="1" dirty="0">
                <a:solidFill>
                  <a:srgbClr val="2F5597"/>
                </a:solidFill>
                <a:latin typeface="맑은 고딕"/>
                <a:ea typeface="맑은 고딕"/>
              </a:rPr>
              <a:t> </a:t>
            </a:r>
            <a:r>
              <a:rPr sz="1050" b="1" dirty="0" err="1">
                <a:solidFill>
                  <a:srgbClr val="2F5597"/>
                </a:solidFill>
                <a:latin typeface="맑은 고딕"/>
                <a:ea typeface="맑은 고딕"/>
              </a:rPr>
              <a:t>시나리오</a:t>
            </a:r>
            <a:endParaRPr sz="1050" b="1" dirty="0">
              <a:solidFill>
                <a:srgbClr val="2F5597"/>
              </a:solidFill>
              <a:latin typeface="맑은 고딕"/>
              <a:ea typeface="맑은 고딕"/>
            </a:endParaRPr>
          </a:p>
          <a:p>
            <a:pPr algn="l">
              <a:lnSpc>
                <a:spcPct val="110000"/>
              </a:lnSpc>
              <a:spcAft>
                <a:spcPts val="0"/>
              </a:spcAft>
            </a:pPr>
            <a:r>
              <a:rPr sz="1000" b="0" dirty="0">
                <a:solidFill>
                  <a:srgbClr val="000000"/>
                </a:solidFill>
                <a:latin typeface="맑은 고딕"/>
                <a:ea typeface="맑은 고딕"/>
              </a:rPr>
              <a:t>• Agent KV Fleet P3 </a:t>
            </a:r>
            <a:r>
              <a:rPr sz="1000" b="0" dirty="0" err="1">
                <a:solidFill>
                  <a:srgbClr val="000000"/>
                </a:solidFill>
                <a:latin typeface="맑은 고딕"/>
                <a:ea typeface="맑은 고딕"/>
              </a:rPr>
              <a:t>공유</a:t>
            </a:r>
            <a:r>
              <a:rPr sz="1000" b="0" dirty="0">
                <a:solidFill>
                  <a:srgbClr val="000000"/>
                </a:solidFill>
                <a:latin typeface="맑은 고딕"/>
                <a:ea typeface="맑은 고딕"/>
              </a:rPr>
              <a:t> </a:t>
            </a:r>
            <a:r>
              <a:rPr sz="1000" b="0" dirty="0" err="1">
                <a:solidFill>
                  <a:srgbClr val="000000"/>
                </a:solidFill>
                <a:latin typeface="맑은 고딕"/>
                <a:ea typeface="맑은 고딕"/>
              </a:rPr>
              <a:t>문서</a:t>
            </a:r>
            <a:r>
              <a:rPr sz="1000" b="0" dirty="0">
                <a:solidFill>
                  <a:srgbClr val="000000"/>
                </a:solidFill>
                <a:latin typeface="맑은 고딕"/>
                <a:ea typeface="맑은 고딕"/>
              </a:rPr>
              <a:t> : </a:t>
            </a:r>
            <a:r>
              <a:rPr sz="1000" b="0" dirty="0" err="1">
                <a:solidFill>
                  <a:srgbClr val="000000"/>
                </a:solidFill>
                <a:latin typeface="맑은 고딕"/>
                <a:ea typeface="맑은 고딕"/>
              </a:rPr>
              <a:t>컨텍스트의</a:t>
            </a:r>
            <a:r>
              <a:rPr sz="1000" b="0" dirty="0">
                <a:solidFill>
                  <a:srgbClr val="000000"/>
                </a:solidFill>
                <a:latin typeface="맑은 고딕"/>
                <a:ea typeface="맑은 고딕"/>
              </a:rPr>
              <a:t> 30%가 </a:t>
            </a:r>
            <a:r>
              <a:rPr sz="1000" b="0" dirty="0" err="1">
                <a:solidFill>
                  <a:srgbClr val="000000"/>
                </a:solidFill>
                <a:latin typeface="맑은 고딕"/>
                <a:ea typeface="맑은 고딕"/>
              </a:rPr>
              <a:t>세션</a:t>
            </a:r>
            <a:r>
              <a:rPr sz="1000" b="0" dirty="0">
                <a:solidFill>
                  <a:srgbClr val="000000"/>
                </a:solidFill>
                <a:latin typeface="맑은 고딕"/>
                <a:ea typeface="맑은 고딕"/>
              </a:rPr>
              <a:t> 간 </a:t>
            </a:r>
            <a:r>
              <a:rPr sz="1000" b="0" dirty="0" err="1">
                <a:solidFill>
                  <a:srgbClr val="000000"/>
                </a:solidFill>
                <a:latin typeface="맑은 고딕"/>
                <a:ea typeface="맑은 고딕"/>
              </a:rPr>
              <a:t>공유</a:t>
            </a:r>
            <a:r>
              <a:rPr sz="1000" b="0" dirty="0">
                <a:solidFill>
                  <a:srgbClr val="000000"/>
                </a:solidFill>
                <a:latin typeface="맑은 고딕"/>
                <a:ea typeface="맑은 고딕"/>
              </a:rPr>
              <a:t> </a:t>
            </a:r>
            <a:r>
              <a:rPr sz="1000" b="0" dirty="0" err="1">
                <a:solidFill>
                  <a:srgbClr val="000000"/>
                </a:solidFill>
                <a:latin typeface="맑은 고딕"/>
                <a:ea typeface="맑은 고딕"/>
              </a:rPr>
              <a:t>문서</a:t>
            </a:r>
            <a:r>
              <a:rPr sz="1000" b="0" dirty="0">
                <a:solidFill>
                  <a:srgbClr val="000000"/>
                </a:solidFill>
                <a:latin typeface="맑은 고딕"/>
                <a:ea typeface="맑은 고딕"/>
              </a:rPr>
              <a:t>(</a:t>
            </a:r>
            <a:r>
              <a:rPr sz="1000" b="0" dirty="0" err="1">
                <a:solidFill>
                  <a:srgbClr val="000000"/>
                </a:solidFill>
                <a:latin typeface="맑은 고딕"/>
                <a:ea typeface="맑은 고딕"/>
              </a:rPr>
              <a:t>그중</a:t>
            </a:r>
            <a:r>
              <a:rPr sz="1000" b="0" dirty="0">
                <a:solidFill>
                  <a:srgbClr val="000000"/>
                </a:solidFill>
                <a:latin typeface="맑은 고딕"/>
                <a:ea typeface="맑은 고딕"/>
              </a:rPr>
              <a:t> 50% non-prefix)</a:t>
            </a:r>
          </a:p>
          <a:p>
            <a:pPr algn="l">
              <a:lnSpc>
                <a:spcPct val="110000"/>
              </a:lnSpc>
              <a:spcAft>
                <a:spcPts val="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B</a:t>
            </a:r>
            <a:r>
              <a:rPr lang="en-US" sz="1000" dirty="0" err="1">
                <a:solidFill>
                  <a:srgbClr val="000000"/>
                </a:solidFill>
                <a:latin typeface="맑은 고딕"/>
                <a:ea typeface="맑은 고딕"/>
              </a:rPr>
              <a:t>aselne</a:t>
            </a:r>
            <a:r>
              <a:rPr sz="1000" b="0" dirty="0" err="1">
                <a:solidFill>
                  <a:srgbClr val="000000"/>
                </a:solidFill>
                <a:latin typeface="맑은 고딕"/>
                <a:ea typeface="맑은 고딕"/>
              </a:rPr>
              <a:t>은</a:t>
            </a:r>
            <a:r>
              <a:rPr sz="1000" b="0" dirty="0">
                <a:solidFill>
                  <a:srgbClr val="000000"/>
                </a:solidFill>
                <a:latin typeface="맑은 고딕"/>
                <a:ea typeface="맑은 고딕"/>
              </a:rPr>
              <a:t> </a:t>
            </a:r>
            <a:r>
              <a:rPr sz="1000" b="0" dirty="0" err="1">
                <a:solidFill>
                  <a:srgbClr val="000000"/>
                </a:solidFill>
                <a:latin typeface="맑은 고딕"/>
                <a:ea typeface="맑은 고딕"/>
              </a:rPr>
              <a:t>세션마다</a:t>
            </a:r>
            <a:r>
              <a:rPr sz="1000" b="0" dirty="0">
                <a:solidFill>
                  <a:srgbClr val="000000"/>
                </a:solidFill>
                <a:latin typeface="맑은 고딕"/>
                <a:ea typeface="맑은 고딕"/>
              </a:rPr>
              <a:t> </a:t>
            </a:r>
            <a:r>
              <a:rPr sz="1000" b="0" dirty="0" err="1">
                <a:solidFill>
                  <a:srgbClr val="000000"/>
                </a:solidFill>
                <a:latin typeface="맑은 고딕"/>
                <a:ea typeface="맑은 고딕"/>
              </a:rPr>
              <a:t>복제</a:t>
            </a:r>
            <a:r>
              <a:rPr sz="1000" b="0" dirty="0">
                <a:solidFill>
                  <a:srgbClr val="000000"/>
                </a:solidFill>
                <a:latin typeface="맑은 고딕"/>
                <a:ea typeface="맑은 고딕"/>
              </a:rPr>
              <a:t> </a:t>
            </a:r>
            <a:r>
              <a:rPr sz="1000" b="0" dirty="0" err="1">
                <a:solidFill>
                  <a:srgbClr val="000000"/>
                </a:solidFill>
                <a:latin typeface="맑은 고딕"/>
                <a:ea typeface="맑은 고딕"/>
              </a:rPr>
              <a:t>저장</a:t>
            </a:r>
            <a:r>
              <a:rPr sz="1000" b="0" dirty="0">
                <a:solidFill>
                  <a:srgbClr val="000000"/>
                </a:solidFill>
                <a:latin typeface="맑은 고딕"/>
                <a:ea typeface="맑은 고딕"/>
              </a:rPr>
              <a:t>, DP3는 1회 </a:t>
            </a:r>
            <a:r>
              <a:rPr sz="1000" b="0" dirty="0" err="1">
                <a:solidFill>
                  <a:srgbClr val="000000"/>
                </a:solidFill>
                <a:latin typeface="맑은 고딕"/>
                <a:ea typeface="맑은 고딕"/>
              </a:rPr>
              <a:t>보관</a:t>
            </a:r>
            <a:r>
              <a:rPr sz="1000" b="0" dirty="0">
                <a:solidFill>
                  <a:srgbClr val="000000"/>
                </a:solidFill>
                <a:latin typeface="맑은 고딕"/>
                <a:ea typeface="맑은 고딕"/>
              </a:rPr>
              <a:t> + </a:t>
            </a:r>
            <a:r>
              <a:rPr sz="1000" b="0" dirty="0" err="1">
                <a:solidFill>
                  <a:srgbClr val="000000"/>
                </a:solidFill>
                <a:latin typeface="맑은 고딕"/>
                <a:ea typeface="맑은 고딕"/>
              </a:rPr>
              <a:t>선택</a:t>
            </a:r>
            <a:r>
              <a:rPr sz="1000" b="0" dirty="0">
                <a:solidFill>
                  <a:srgbClr val="000000"/>
                </a:solidFill>
                <a:latin typeface="맑은 고딕"/>
                <a:ea typeface="맑은 고딕"/>
              </a:rPr>
              <a:t> </a:t>
            </a:r>
            <a:r>
              <a:rPr sz="1000" b="0" dirty="0" err="1">
                <a:solidFill>
                  <a:srgbClr val="000000"/>
                </a:solidFill>
                <a:latin typeface="맑은 고딕"/>
                <a:ea typeface="맑은 고딕"/>
              </a:rPr>
              <a:t>재계산</a:t>
            </a:r>
            <a:r>
              <a:rPr sz="1000" b="0" dirty="0">
                <a:solidFill>
                  <a:srgbClr val="000000"/>
                </a:solidFill>
                <a:latin typeface="맑은 고딕"/>
                <a:ea typeface="맑은 고딕"/>
              </a:rPr>
              <a:t>(</a:t>
            </a:r>
            <a:r>
              <a:rPr lang="en-US" sz="1000" dirty="0">
                <a:solidFill>
                  <a:srgbClr val="000000"/>
                </a:solidFill>
                <a:latin typeface="맑은 고딕"/>
                <a:ea typeface="맑은 고딕"/>
              </a:rPr>
              <a:t>20</a:t>
            </a:r>
            <a:r>
              <a:rPr sz="1000" b="0" dirty="0">
                <a:solidFill>
                  <a:srgbClr val="000000"/>
                </a:solidFill>
                <a:latin typeface="맑은 고딕"/>
                <a:ea typeface="맑은 고딕"/>
              </a:rPr>
              <a:t>% </a:t>
            </a:r>
            <a:r>
              <a:rPr sz="1000" b="0" dirty="0" err="1">
                <a:solidFill>
                  <a:srgbClr val="000000"/>
                </a:solidFill>
                <a:latin typeface="맑은 고딕"/>
                <a:ea typeface="맑은 고딕"/>
              </a:rPr>
              <a:t>토큰</a:t>
            </a:r>
            <a:r>
              <a:rPr sz="1000" b="0" dirty="0">
                <a:solidFill>
                  <a:srgbClr val="000000"/>
                </a:solidFill>
                <a:latin typeface="맑은 고딕"/>
                <a:ea typeface="맑은 고딕"/>
              </a:rPr>
              <a:t>)</a:t>
            </a:r>
          </a:p>
        </p:txBody>
      </p:sp>
      <p:graphicFrame>
        <p:nvGraphicFramePr>
          <p:cNvPr id="9" name="tbl"/>
          <p:cNvGraphicFramePr>
            <a:graphicFrameLocks noGrp="1"/>
          </p:cNvGraphicFramePr>
          <p:nvPr>
            <p:extLst>
              <p:ext uri="{D42A27DB-BD31-4B8C-83A1-F6EECF244321}">
                <p14:modId xmlns:p14="http://schemas.microsoft.com/office/powerpoint/2010/main" val="2281995574"/>
              </p:ext>
            </p:extLst>
          </p:nvPr>
        </p:nvGraphicFramePr>
        <p:xfrm>
          <a:off x="365760" y="2194560"/>
          <a:ext cx="11457432" cy="2253996"/>
        </p:xfrm>
        <a:graphic>
          <a:graphicData uri="http://schemas.openxmlformats.org/drawingml/2006/table">
            <a:tbl>
              <a:tblPr>
                <a:tableStyleId>{2D5ABB26-0587-4C30-8999-92F81FD0307C}</a:tableStyleId>
              </a:tblPr>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gridCol w="2505456">
                  <a:extLst>
                    <a:ext uri="{9D8B030D-6E8A-4147-A177-3AD203B41FA5}">
                      <a16:colId xmlns:a16="http://schemas.microsoft.com/office/drawing/2014/main" val="20005"/>
                    </a:ext>
                  </a:extLst>
                </a:gridCol>
              </a:tblGrid>
              <a:tr h="274320">
                <a:tc>
                  <a:txBody>
                    <a:bodyPr/>
                    <a:lstStyle/>
                    <a:p>
                      <a:pPr algn="ctr"/>
                      <a:r>
                        <a:rPr sz="1050" b="1">
                          <a:solidFill>
                            <a:srgbClr val="FFFFFF"/>
                          </a:solidFill>
                          <a:latin typeface="맑은 고딕"/>
                          <a:ea typeface="맑은 고딕"/>
                        </a:rPr>
                        <a:t>QA</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lang="ko-KR" altLang="en-US" sz="1050" b="1" dirty="0">
                          <a:solidFill>
                            <a:srgbClr val="FFFFFF"/>
                          </a:solidFill>
                          <a:latin typeface="맑은 고딕"/>
                          <a:ea typeface="맑은 고딕"/>
                        </a:rPr>
                        <a:t>평가 </a:t>
                      </a:r>
                      <a:r>
                        <a:rPr lang="en-US" altLang="ko-KR" sz="1050" b="1" dirty="0">
                          <a:solidFill>
                            <a:srgbClr val="FFFFFF"/>
                          </a:solidFill>
                          <a:latin typeface="맑은 고딕"/>
                          <a:ea typeface="맑은 고딕"/>
                        </a:rPr>
                        <a:t>Metric</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a:solidFill>
                            <a:srgbClr val="FFFFFF"/>
                          </a:solidFill>
                          <a:latin typeface="맑은 고딕"/>
                          <a:ea typeface="맑은 고딕"/>
                        </a:rPr>
                        <a:t>Baseline</a:t>
                      </a:r>
                      <a:r>
                        <a:rPr lang="en-US" sz="1050" b="1" dirty="0">
                          <a:solidFill>
                            <a:srgbClr val="FFFFFF"/>
                          </a:solidFill>
                          <a:latin typeface="맑은 고딕"/>
                          <a:ea typeface="맑은 고딕"/>
                        </a:rPr>
                        <a:t> (B0)</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err="1">
                          <a:solidFill>
                            <a:srgbClr val="FFFFFF"/>
                          </a:solidFill>
                          <a:latin typeface="맑은 고딕"/>
                          <a:ea typeface="맑은 고딕"/>
                        </a:rPr>
                        <a:t>단순</a:t>
                      </a:r>
                      <a:r>
                        <a:rPr sz="1050" b="1" dirty="0">
                          <a:solidFill>
                            <a:srgbClr val="FFFFFF"/>
                          </a:solidFill>
                          <a:latin typeface="맑은 고딕"/>
                          <a:ea typeface="맑은 고딕"/>
                        </a:rPr>
                        <a:t> offloading</a:t>
                      </a:r>
                      <a:r>
                        <a:rPr lang="en-US" sz="1050" b="1" dirty="0">
                          <a:solidFill>
                            <a:srgbClr val="FFFFFF"/>
                          </a:solidFill>
                          <a:latin typeface="맑은 고딕"/>
                          <a:ea typeface="맑은 고딕"/>
                        </a:rPr>
                        <a:t> (B1)</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a:solidFill>
                            <a:srgbClr val="FFFFFF"/>
                          </a:solidFill>
                          <a:latin typeface="맑은 고딕"/>
                          <a:ea typeface="맑은 고딕"/>
                        </a:rPr>
                        <a:t>후보 1안 Pipe-and-Filter</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a:solidFill>
                            <a:srgbClr val="FFFFFF"/>
                          </a:solidFill>
                          <a:latin typeface="맑은 고딕"/>
                          <a:ea typeface="맑은 고딕"/>
                        </a:rPr>
                        <a:t>후보 2안 Shared Repository</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658368">
                <a:tc>
                  <a:txBody>
                    <a:bodyPr/>
                    <a:lstStyle/>
                    <a:p>
                      <a:pPr algn="l"/>
                      <a:r>
                        <a:rPr sz="1000" b="1">
                          <a:solidFill>
                            <a:srgbClr val="000000"/>
                          </a:solidFill>
                          <a:latin typeface="맑은 고딕"/>
                          <a:ea typeface="맑은 고딕"/>
                        </a:rPr>
                        <a:t>Q1 처리량</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dirty="0">
                          <a:solidFill>
                            <a:srgbClr val="000000"/>
                          </a:solidFill>
                          <a:latin typeface="맑은 고딕"/>
                          <a:ea typeface="맑은 고딕"/>
                        </a:rPr>
                        <a:t>SLO(TTFT ≤ 2 s, TPOT ≤ 50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만족</a:t>
                      </a:r>
                      <a:r>
                        <a:rPr sz="1000" b="0" dirty="0">
                          <a:solidFill>
                            <a:srgbClr val="000000"/>
                          </a:solidFill>
                          <a:latin typeface="맑은 고딕"/>
                          <a:ea typeface="맑은 고딕"/>
                        </a:rPr>
                        <a:t> Max goodput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altLang="ko-KR" sz="1000" b="0" dirty="0">
                          <a:solidFill>
                            <a:srgbClr val="000000"/>
                          </a:solidFill>
                          <a:latin typeface="+mn-lt"/>
                          <a:ea typeface="맑은 고딕"/>
                        </a:rPr>
                        <a:t>1.76 query/s</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1000" b="0" dirty="0">
                          <a:solidFill>
                            <a:srgbClr val="000000"/>
                          </a:solidFill>
                          <a:latin typeface="맑은 고딕"/>
                          <a:ea typeface="맑은 고딕"/>
                        </a:rPr>
                        <a:t>4.13 query/s </a:t>
                      </a:r>
                    </a:p>
                    <a:p>
                      <a:pPr algn="ctr"/>
                      <a:r>
                        <a:rPr sz="1000" b="0" dirty="0">
                          <a:solidFill>
                            <a:srgbClr val="000000"/>
                          </a:solidFill>
                          <a:latin typeface="맑은 고딕"/>
                          <a:ea typeface="맑은 고딕"/>
                        </a:rPr>
                        <a:t>(2.35</a:t>
                      </a:r>
                      <a:r>
                        <a:rPr lang="en-US" sz="1000" b="0" dirty="0">
                          <a:solidFill>
                            <a:srgbClr val="000000"/>
                          </a:solidFill>
                          <a:latin typeface="맑은 고딕"/>
                          <a:ea typeface="맑은 고딕"/>
                        </a:rPr>
                        <a:t>x</a:t>
                      </a:r>
                      <a:r>
                        <a:rPr sz="1000" b="0" dirty="0">
                          <a:solidFill>
                            <a:srgbClr val="000000"/>
                          </a:solidFill>
                          <a:latin typeface="맑은 고딕"/>
                          <a:ea typeface="맑은 고딕"/>
                        </a:rPr>
                        <a:t>, ★1)</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4.2 query/s</a:t>
                      </a:r>
                      <a:endParaRPr sz="1000" b="1" dirty="0">
                        <a:solidFill>
                          <a:srgbClr val="000000"/>
                        </a:solidFill>
                        <a:latin typeface="맑은 고딕"/>
                        <a:ea typeface="맑은 고딕"/>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2.4x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1</a:t>
                      </a:r>
                      <a:r>
                        <a:rPr lang="en-US" sz="900" b="0" dirty="0">
                          <a:solidFill>
                            <a:srgbClr val="404040"/>
                          </a:solidFill>
                          <a:latin typeface="맑은 고딕"/>
                          <a:ea typeface="맑은 고딕"/>
                        </a:rPr>
                        <a:t>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5.28 query/s</a:t>
                      </a: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3.0.x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658368">
                <a:tc>
                  <a:txBody>
                    <a:bodyPr/>
                    <a:lstStyle/>
                    <a:p>
                      <a:pPr algn="l"/>
                      <a:r>
                        <a:rPr sz="1000" b="1">
                          <a:solidFill>
                            <a:srgbClr val="000000"/>
                          </a:solidFill>
                          <a:latin typeface="맑은 고딕"/>
                          <a:ea typeface="맑은 고딕"/>
                        </a:rPr>
                        <a:t>Q2 HBM 효율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dirty="0">
                          <a:solidFill>
                            <a:srgbClr val="000000"/>
                          </a:solidFill>
                          <a:latin typeface="맑은 고딕"/>
                          <a:ea typeface="맑은 고딕"/>
                        </a:rPr>
                        <a:t>HBM </a:t>
                      </a:r>
                      <a:r>
                        <a:rPr sz="1000" b="0" dirty="0" err="1">
                          <a:solidFill>
                            <a:srgbClr val="000000"/>
                          </a:solidFill>
                          <a:latin typeface="맑은 고딕"/>
                          <a:ea typeface="맑은 고딕"/>
                        </a:rPr>
                        <a:t>상주</a:t>
                      </a:r>
                      <a:r>
                        <a:rPr sz="1000" b="0" dirty="0">
                          <a:solidFill>
                            <a:srgbClr val="000000"/>
                          </a:solidFill>
                          <a:latin typeface="맑은 고딕"/>
                          <a:ea typeface="맑은 고딕"/>
                        </a:rPr>
                        <a:t> KV </a:t>
                      </a:r>
                      <a:r>
                        <a:rPr sz="1000" b="0" dirty="0" err="1">
                          <a:solidFill>
                            <a:srgbClr val="000000"/>
                          </a:solidFill>
                          <a:latin typeface="맑은 고딕"/>
                          <a:ea typeface="맑은 고딕"/>
                        </a:rPr>
                        <a:t>시간</a:t>
                      </a:r>
                      <a:r>
                        <a:rPr sz="1000" b="0" dirty="0">
                          <a:solidFill>
                            <a:srgbClr val="000000"/>
                          </a:solidFill>
                          <a:latin typeface="맑은 고딕"/>
                          <a:ea typeface="맑은 고딕"/>
                        </a:rPr>
                        <a:t> </a:t>
                      </a:r>
                      <a:r>
                        <a:rPr sz="1000" b="0" dirty="0" err="1">
                          <a:solidFill>
                            <a:srgbClr val="000000"/>
                          </a:solidFill>
                          <a:latin typeface="맑은 고딕"/>
                          <a:ea typeface="맑은 고딕"/>
                        </a:rPr>
                        <a:t>평균</a:t>
                      </a:r>
                      <a:r>
                        <a:rPr sz="1000" b="0" dirty="0">
                          <a:solidFill>
                            <a:srgbClr val="000000"/>
                          </a:solidFill>
                          <a:latin typeface="맑은 고딕"/>
                          <a:ea typeface="맑은 고딕"/>
                        </a:rPr>
                        <a:t>(GiB)</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a:solidFill>
                            <a:srgbClr val="000000"/>
                          </a:solidFill>
                          <a:latin typeface="맑은 고딕"/>
                          <a:ea typeface="맑은 고딕"/>
                        </a:rPr>
                        <a:t>425 GiB</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425 GiB (0%,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246 </a:t>
                      </a:r>
                      <a:r>
                        <a:rPr sz="1000" b="1" dirty="0" err="1">
                          <a:solidFill>
                            <a:srgbClr val="000000"/>
                          </a:solidFill>
                          <a:latin typeface="맑은 고딕"/>
                          <a:ea typeface="맑은 고딕"/>
                        </a:rPr>
                        <a:t>GiB</a:t>
                      </a:r>
                      <a:endParaRPr sz="10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42</a:t>
                      </a:r>
                      <a:r>
                        <a:rPr sz="900" b="0" dirty="0">
                          <a:solidFill>
                            <a:srgbClr val="404040"/>
                          </a:solidFill>
                          <a:latin typeface="맑은 고딕"/>
                          <a:ea typeface="맑은 고딕"/>
                        </a:rPr>
                        <a:t>%</a:t>
                      </a:r>
                      <a:r>
                        <a:rPr lang="en-US" sz="900" b="0" dirty="0">
                          <a:solidFill>
                            <a:srgbClr val="404040"/>
                          </a:solidFill>
                          <a:latin typeface="맑은 고딕"/>
                          <a:ea typeface="맑은 고딕"/>
                        </a:rPr>
                        <a:t>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en-US"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280 </a:t>
                      </a:r>
                      <a:r>
                        <a:rPr sz="1000" b="1" dirty="0" err="1">
                          <a:solidFill>
                            <a:srgbClr val="000000"/>
                          </a:solidFill>
                          <a:latin typeface="맑은 고딕"/>
                          <a:ea typeface="맑은 고딕"/>
                        </a:rPr>
                        <a:t>GiB</a:t>
                      </a:r>
                      <a:endParaRPr sz="10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34</a:t>
                      </a:r>
                      <a:r>
                        <a:rPr sz="900" b="0" dirty="0">
                          <a:solidFill>
                            <a:srgbClr val="404040"/>
                          </a:solidFill>
                          <a:latin typeface="맑은 고딕"/>
                          <a:ea typeface="맑은 고딕"/>
                        </a:rPr>
                        <a:t>%</a:t>
                      </a:r>
                      <a:r>
                        <a:rPr lang="en-US" sz="1000" b="1" dirty="0">
                          <a:solidFill>
                            <a:srgbClr val="2F5597"/>
                          </a:solidFill>
                          <a:latin typeface="맑은 고딕"/>
                          <a:ea typeface="맑은 고딕"/>
                        </a:rPr>
                        <a:t> </a:t>
                      </a:r>
                      <a:r>
                        <a:rPr sz="1000" b="1" dirty="0">
                          <a:solidFill>
                            <a:srgbClr val="2F5597"/>
                          </a:solidFill>
                          <a:latin typeface="맑은 고딕"/>
                          <a:ea typeface="맑은 고딕"/>
                        </a:rPr>
                        <a:t>★</a:t>
                      </a:r>
                      <a:r>
                        <a:rPr lang="en-US" sz="1000" b="1" dirty="0">
                          <a:solidFill>
                            <a:srgbClr val="2F5597"/>
                          </a:solidFill>
                          <a:latin typeface="맑은 고딕"/>
                          <a:ea typeface="맑은 고딕"/>
                        </a:rPr>
                        <a:t>1.5</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658368">
                <a:tc>
                  <a:txBody>
                    <a:bodyPr/>
                    <a:lstStyle/>
                    <a:p>
                      <a:pPr algn="l"/>
                      <a:r>
                        <a:rPr sz="1000" b="1">
                          <a:solidFill>
                            <a:srgbClr val="000000"/>
                          </a:solidFill>
                          <a:latin typeface="맑은 고딕"/>
                          <a:ea typeface="맑은 고딕"/>
                        </a:rPr>
                        <a:t>Q3 고부하 지연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altLang="ko-KR" sz="1000" b="0" dirty="0">
                          <a:solidFill>
                            <a:srgbClr val="000000"/>
                          </a:solidFill>
                          <a:latin typeface="+mn-lt"/>
                          <a:ea typeface="맑은 고딕"/>
                        </a:rPr>
                        <a:t>Baseline</a:t>
                      </a:r>
                      <a:r>
                        <a:rPr sz="1000" b="0" dirty="0">
                          <a:solidFill>
                            <a:srgbClr val="000000"/>
                          </a:solidFill>
                          <a:latin typeface="맑은 고딕"/>
                          <a:ea typeface="맑은 고딕"/>
                        </a:rPr>
                        <a:t> </a:t>
                      </a:r>
                      <a:r>
                        <a:rPr sz="1000" b="0" dirty="0" err="1">
                          <a:solidFill>
                            <a:srgbClr val="000000"/>
                          </a:solidFill>
                          <a:latin typeface="맑은 고딕"/>
                          <a:ea typeface="맑은 고딕"/>
                        </a:rPr>
                        <a:t>포화</a:t>
                      </a:r>
                      <a:r>
                        <a:rPr sz="1000" b="0" dirty="0">
                          <a:solidFill>
                            <a:srgbClr val="000000"/>
                          </a:solidFill>
                          <a:latin typeface="맑은 고딕"/>
                          <a:ea typeface="맑은 고딕"/>
                        </a:rPr>
                        <a:t> </a:t>
                      </a:r>
                      <a:r>
                        <a:rPr sz="1000" b="0" dirty="0" err="1">
                          <a:solidFill>
                            <a:srgbClr val="000000"/>
                          </a:solidFill>
                          <a:latin typeface="맑은 고딕"/>
                          <a:ea typeface="맑은 고딕"/>
                        </a:rPr>
                        <a:t>부하의</a:t>
                      </a:r>
                      <a:r>
                        <a:rPr sz="1000" b="0" dirty="0">
                          <a:solidFill>
                            <a:srgbClr val="000000"/>
                          </a:solidFill>
                          <a:latin typeface="맑은 고딕"/>
                          <a:ea typeface="맑은 고딕"/>
                        </a:rPr>
                        <a:t> 90%에서 </a:t>
                      </a:r>
                      <a:endParaRPr lang="en-US" sz="1000" b="0" dirty="0">
                        <a:solidFill>
                          <a:srgbClr val="000000"/>
                        </a:solidFill>
                        <a:latin typeface="맑은 고딕"/>
                        <a:ea typeface="맑은 고딕"/>
                      </a:endParaRPr>
                    </a:p>
                    <a:p>
                      <a:pPr algn="l"/>
                      <a:r>
                        <a:rPr sz="1000" b="0" dirty="0">
                          <a:solidFill>
                            <a:srgbClr val="000000"/>
                          </a:solidFill>
                          <a:latin typeface="맑은 고딕"/>
                          <a:ea typeface="맑은 고딕"/>
                        </a:rPr>
                        <a:t>TTFT·TPOT P99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TTFT </a:t>
                      </a:r>
                      <a:r>
                        <a:rPr lang="en-US" altLang="ko-KR" sz="1000" b="0" dirty="0">
                          <a:solidFill>
                            <a:srgbClr val="000000"/>
                          </a:solidFill>
                          <a:latin typeface="+mn-lt"/>
                          <a:ea typeface="맑은 고딕"/>
                        </a:rPr>
                        <a:t>1.89 </a:t>
                      </a:r>
                      <a:r>
                        <a:rPr sz="1000" b="0" dirty="0">
                          <a:solidFill>
                            <a:srgbClr val="000000"/>
                          </a:solidFill>
                          <a:latin typeface="맑은 고딕"/>
                          <a:ea typeface="맑은 고딕"/>
                        </a:rPr>
                        <a:t>s</a:t>
                      </a:r>
                      <a:endParaRPr lang="en-US" sz="1000" b="0" dirty="0">
                        <a:solidFill>
                          <a:srgbClr val="000000"/>
                        </a:solidFill>
                        <a:latin typeface="맑은 고딕"/>
                        <a:ea typeface="맑은 고딕"/>
                      </a:endParaRPr>
                    </a:p>
                    <a:p>
                      <a:pPr algn="ctr"/>
                      <a:r>
                        <a:rPr sz="1000" b="0" dirty="0">
                          <a:solidFill>
                            <a:srgbClr val="000000"/>
                          </a:solidFill>
                          <a:latin typeface="맑은 고딕"/>
                          <a:ea typeface="맑은 고딕"/>
                        </a:rPr>
                        <a:t>TPOT 26.2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endParaRPr lang="en-US"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TTFT </a:t>
                      </a:r>
                      <a:r>
                        <a:rPr lang="en-US" sz="1000" b="0" dirty="0">
                          <a:solidFill>
                            <a:srgbClr val="000000"/>
                          </a:solidFill>
                          <a:latin typeface="맑은 고딕"/>
                          <a:ea typeface="맑은 고딕"/>
                        </a:rPr>
                        <a:t>1.66 s</a:t>
                      </a:r>
                    </a:p>
                    <a:p>
                      <a:pPr algn="ctr"/>
                      <a:r>
                        <a:rPr sz="1000" b="0" dirty="0">
                          <a:solidFill>
                            <a:srgbClr val="000000"/>
                          </a:solidFill>
                          <a:latin typeface="맑은 고딕"/>
                          <a:ea typeface="맑은 고딕"/>
                        </a:rPr>
                        <a:t>TPOT 21.6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endParaRPr lang="en-US" sz="1000" b="0" dirty="0">
                        <a:solidFill>
                          <a:srgbClr val="000000"/>
                        </a:solidFill>
                        <a:latin typeface="맑은 고딕"/>
                        <a:ea typeface="맑은 고딕"/>
                      </a:endParaRPr>
                    </a:p>
                    <a:p>
                      <a:pPr algn="ctr"/>
                      <a:r>
                        <a:rPr sz="1000" b="0" dirty="0">
                          <a:solidFill>
                            <a:srgbClr val="000000"/>
                          </a:solidFill>
                          <a:latin typeface="맑은 고딕"/>
                          <a:ea typeface="맑은 고딕"/>
                        </a:rPr>
                        <a:t>(</a:t>
                      </a:r>
                      <a:r>
                        <a:rPr lang="en-US" sz="1000" b="0" dirty="0">
                          <a:solidFill>
                            <a:srgbClr val="000000"/>
                          </a:solidFill>
                          <a:latin typeface="맑은 고딕"/>
                          <a:ea typeface="맑은 고딕"/>
                        </a:rPr>
                        <a:t>TTFT 12% </a:t>
                      </a:r>
                      <a:r>
                        <a:rPr lang="ko-KR" altLang="en-US" sz="1000" b="0" dirty="0">
                          <a:solidFill>
                            <a:srgbClr val="000000"/>
                          </a:solidFill>
                          <a:latin typeface="맑은 고딕"/>
                          <a:ea typeface="맑은 고딕"/>
                        </a:rPr>
                        <a:t>감소</a:t>
                      </a:r>
                      <a:r>
                        <a:rPr sz="1000" b="0" dirty="0">
                          <a:solidFill>
                            <a:srgbClr val="000000"/>
                          </a:solidFill>
                          <a:latin typeface="맑은 고딕"/>
                          <a:ea typeface="맑은 고딕"/>
                        </a:rPr>
                        <a:t>, </a:t>
                      </a:r>
                      <a:r>
                        <a:rPr lang="ko-KR" altLang="en-US" sz="1000" b="0" dirty="0">
                          <a:solidFill>
                            <a:srgbClr val="000000"/>
                          </a:solidFill>
                          <a:latin typeface="+mn-lt"/>
                          <a:ea typeface="맑은 고딕"/>
                        </a:rPr>
                        <a:t>☆</a:t>
                      </a:r>
                      <a:r>
                        <a:rPr sz="1000" b="0" dirty="0">
                          <a:solidFill>
                            <a:srgbClr val="000000"/>
                          </a:solidFill>
                          <a:latin typeface="맑은 고딕"/>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1" dirty="0">
                          <a:solidFill>
                            <a:srgbClr val="000000"/>
                          </a:solidFill>
                          <a:latin typeface="맑은 고딕"/>
                          <a:ea typeface="맑은 고딕"/>
                        </a:rPr>
                        <a:t>TTFT </a:t>
                      </a:r>
                      <a:r>
                        <a:rPr lang="en-US" sz="1000" b="1" dirty="0">
                          <a:solidFill>
                            <a:srgbClr val="000000"/>
                          </a:solidFill>
                          <a:latin typeface="맑은 고딕"/>
                          <a:ea typeface="맑은 고딕"/>
                        </a:rPr>
                        <a:t>1.29 </a:t>
                      </a:r>
                      <a:r>
                        <a:rPr sz="1000" b="1" dirty="0">
                          <a:solidFill>
                            <a:srgbClr val="000000"/>
                          </a:solidFill>
                          <a:latin typeface="맑은 고딕"/>
                          <a:ea typeface="맑은 고딕"/>
                        </a:rPr>
                        <a:t>s</a:t>
                      </a:r>
                      <a:r>
                        <a:rPr lang="en-US" sz="1000" b="1" dirty="0">
                          <a:solidFill>
                            <a:srgbClr val="000000"/>
                          </a:solidFill>
                          <a:latin typeface="맑은 고딕"/>
                          <a:ea typeface="맑은 고딕"/>
                        </a:rPr>
                        <a:t>, </a:t>
                      </a:r>
                      <a:r>
                        <a:rPr sz="1000" b="1" dirty="0">
                          <a:solidFill>
                            <a:srgbClr val="000000"/>
                          </a:solidFill>
                          <a:latin typeface="맑은 고딕"/>
                          <a:ea typeface="맑은 고딕"/>
                        </a:rPr>
                        <a:t>TPOT 20.6 </a:t>
                      </a:r>
                      <a:r>
                        <a:rPr sz="1000" b="1" dirty="0" err="1">
                          <a:solidFill>
                            <a:srgbClr val="000000"/>
                          </a:solidFill>
                          <a:latin typeface="맑은 고딕"/>
                          <a:ea typeface="맑은 고딕"/>
                        </a:rPr>
                        <a:t>ms</a:t>
                      </a:r>
                      <a:endParaRPr sz="10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TTFT -32%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1</a:t>
                      </a:r>
                      <a:endParaRPr lang="en-US" sz="900" b="0" dirty="0">
                        <a:solidFill>
                          <a:srgbClr val="404040"/>
                        </a:solidFill>
                        <a:latin typeface="맑은 고딕"/>
                        <a:ea typeface="맑은 고딕"/>
                      </a:endParaRPr>
                    </a:p>
                    <a:p>
                      <a:pPr marL="171450" indent="-171450" algn="l">
                        <a:buFontTx/>
                        <a:buChar char="-"/>
                      </a:pPr>
                      <a:r>
                        <a:rPr lang="en-US"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TTFT -22%</a:t>
                      </a:r>
                      <a:endParaRPr sz="1000" b="1" dirty="0">
                        <a:solidFill>
                          <a:srgbClr val="2F5597"/>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altLang="ko-KR" sz="1050" b="1" dirty="0">
                          <a:solidFill>
                            <a:srgbClr val="000000"/>
                          </a:solidFill>
                          <a:latin typeface="+mn-lt"/>
                          <a:ea typeface="맑은 고딕"/>
                        </a:rPr>
                        <a:t>TTFT 0.85</a:t>
                      </a:r>
                      <a:r>
                        <a:rPr lang="en-US" altLang="ko-KR" sz="1050" b="1" baseline="0" dirty="0">
                          <a:solidFill>
                            <a:srgbClr val="000000"/>
                          </a:solidFill>
                          <a:latin typeface="+mn-lt"/>
                          <a:ea typeface="맑은 고딕"/>
                        </a:rPr>
                        <a:t> </a:t>
                      </a:r>
                      <a:r>
                        <a:rPr lang="en-US" altLang="ko-KR" sz="1050" b="1" dirty="0">
                          <a:solidFill>
                            <a:srgbClr val="000000"/>
                          </a:solidFill>
                          <a:latin typeface="+mn-lt"/>
                          <a:ea typeface="맑은 고딕"/>
                        </a:rPr>
                        <a:t>s, TPOT 20.5 </a:t>
                      </a:r>
                      <a:r>
                        <a:rPr lang="en-US" altLang="ko-KR" sz="1050" b="1" dirty="0" err="1">
                          <a:solidFill>
                            <a:srgbClr val="000000"/>
                          </a:solidFill>
                          <a:latin typeface="+mn-lt"/>
                          <a:ea typeface="맑은 고딕"/>
                        </a:rPr>
                        <a:t>ms</a:t>
                      </a:r>
                      <a:endParaRPr lang="en-US" altLang="ko-KR" sz="1050" b="1" dirty="0">
                        <a:solidFill>
                          <a:srgbClr val="000000"/>
                        </a:solidFill>
                        <a:latin typeface="+mn-lt"/>
                        <a:ea typeface="맑은 고딕"/>
                      </a:endParaRPr>
                    </a:p>
                    <a:p>
                      <a:pPr marL="171450" indent="-171450" algn="l">
                        <a:buFontTx/>
                        <a:buChar char="-"/>
                      </a:pPr>
                      <a:r>
                        <a:rPr lang="en-US" altLang="ko-KR" sz="1000" b="0" dirty="0">
                          <a:solidFill>
                            <a:srgbClr val="404040"/>
                          </a:solidFill>
                          <a:latin typeface="+mn-lt"/>
                          <a:ea typeface="맑은 고딕"/>
                        </a:rPr>
                        <a:t>B0 </a:t>
                      </a:r>
                      <a:r>
                        <a:rPr lang="ko-KR" altLang="en-US" sz="1000" b="0" dirty="0">
                          <a:solidFill>
                            <a:srgbClr val="404040"/>
                          </a:solidFill>
                          <a:latin typeface="+mn-lt"/>
                          <a:ea typeface="맑은 고딕"/>
                        </a:rPr>
                        <a:t>대비 </a:t>
                      </a:r>
                      <a:r>
                        <a:rPr lang="en-US" altLang="ko-KR" sz="1000" b="0" dirty="0">
                          <a:solidFill>
                            <a:srgbClr val="404040"/>
                          </a:solidFill>
                          <a:latin typeface="+mn-lt"/>
                          <a:ea typeface="맑은 고딕"/>
                        </a:rPr>
                        <a:t>TTFT -55% </a:t>
                      </a:r>
                      <a:r>
                        <a:rPr lang="en-US" altLang="ko-KR" sz="1000" b="1" dirty="0">
                          <a:solidFill>
                            <a:srgbClr val="2F5597"/>
                          </a:solidFill>
                          <a:latin typeface="+mn-lt"/>
                          <a:ea typeface="맑은 고딕"/>
                        </a:rPr>
                        <a:t>★2</a:t>
                      </a:r>
                      <a:endParaRPr lang="en-US" altLang="ko-KR" sz="1000" b="0" dirty="0">
                        <a:solidFill>
                          <a:srgbClr val="404040"/>
                        </a:solidFill>
                        <a:latin typeface="+mn-lt"/>
                        <a:ea typeface="맑은 고딕"/>
                      </a:endParaRPr>
                    </a:p>
                    <a:p>
                      <a:pPr marL="171450" indent="-171450" algn="l">
                        <a:buFontTx/>
                        <a:buChar char="-"/>
                      </a:pPr>
                      <a:r>
                        <a:rPr lang="en-US" altLang="ko-KR" sz="1000" b="0" dirty="0">
                          <a:solidFill>
                            <a:srgbClr val="404040"/>
                          </a:solidFill>
                          <a:latin typeface="+mn-lt"/>
                          <a:ea typeface="맑은 고딕"/>
                        </a:rPr>
                        <a:t>B1 </a:t>
                      </a:r>
                      <a:r>
                        <a:rPr lang="ko-KR" altLang="en-US" sz="1000" b="0" dirty="0">
                          <a:solidFill>
                            <a:srgbClr val="404040"/>
                          </a:solidFill>
                          <a:latin typeface="+mn-lt"/>
                          <a:ea typeface="맑은 고딕"/>
                        </a:rPr>
                        <a:t>대비 </a:t>
                      </a:r>
                      <a:r>
                        <a:rPr lang="en-US" altLang="ko-KR" sz="1000" b="0" dirty="0">
                          <a:solidFill>
                            <a:srgbClr val="404040"/>
                          </a:solidFill>
                          <a:latin typeface="+mn-lt"/>
                          <a:ea typeface="맑은 고딕"/>
                        </a:rPr>
                        <a:t>TTFT -57%</a:t>
                      </a:r>
                      <a:endParaRPr lang="en-US" altLang="ko-KR" sz="1050" b="1" dirty="0">
                        <a:solidFill>
                          <a:srgbClr val="2F5597"/>
                        </a:solidFill>
                        <a:latin typeface="+mn-lt"/>
                        <a:ea typeface="맑은 고딕"/>
                      </a:endParaRPr>
                    </a:p>
                    <a:p>
                      <a:pPr algn="l"/>
                      <a:endParaRPr sz="1000" b="1" dirty="0">
                        <a:solidFill>
                          <a:srgbClr val="2F5597"/>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bl>
          </a:graphicData>
        </a:graphic>
      </p:graphicFrame>
      <p:sp>
        <p:nvSpPr>
          <p:cNvPr id="12" name="실행 단추: 앞으로 또는 다음으로 이동 11">
            <a:hlinkClick r:id="rId3" action="ppaction://hlinksldjump" highlightClick="1"/>
            <a:extLst>
              <a:ext uri="{FF2B5EF4-FFF2-40B4-BE49-F238E27FC236}">
                <a16:creationId xmlns:a16="http://schemas.microsoft.com/office/drawing/2014/main" id="{868349A2-FBE8-4864-9D1A-244A669ACA77}"/>
              </a:ext>
            </a:extLst>
          </p:cNvPr>
          <p:cNvSpPr/>
          <p:nvPr/>
        </p:nvSpPr>
        <p:spPr>
          <a:xfrm>
            <a:off x="11444531" y="210304"/>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subtitle">
            <a:extLst>
              <a:ext uri="{FF2B5EF4-FFF2-40B4-BE49-F238E27FC236}">
                <a16:creationId xmlns:a16="http://schemas.microsoft.com/office/drawing/2014/main" id="{11B8BBF9-56A7-46CA-9BD1-C977529C6F7A}"/>
              </a:ext>
            </a:extLst>
          </p:cNvPr>
          <p:cNvSpPr txBox="1"/>
          <p:nvPr/>
        </p:nvSpPr>
        <p:spPr>
          <a:xfrm>
            <a:off x="10281685" y="234420"/>
            <a:ext cx="1105786" cy="243143"/>
          </a:xfrm>
          <a:prstGeom prst="rect">
            <a:avLst/>
          </a:prstGeom>
          <a:noFill/>
        </p:spPr>
        <p:txBody>
          <a:bodyPr wrap="square" lIns="73152" tIns="36576" rIns="73152" bIns="36576" anchor="t">
            <a:spAutoFit/>
          </a:bodyPr>
          <a:lstStyle/>
          <a:p>
            <a:pPr>
              <a:spcAft>
                <a:spcPts val="250"/>
              </a:spcAft>
            </a:pPr>
            <a:r>
              <a:rPr lang="ko-KR" altLang="en-US" sz="1100" b="0" dirty="0">
                <a:solidFill>
                  <a:srgbClr val="404040"/>
                </a:solidFill>
                <a:latin typeface="맑은 고딕"/>
                <a:ea typeface="맑은 고딕"/>
              </a:rPr>
              <a:t>시나리오 상세</a:t>
            </a:r>
            <a:endParaRPr lang="en-US" altLang="ko-KR" sz="1100" b="0" dirty="0">
              <a:latin typeface="맑은 고딕"/>
              <a:ea typeface="맑은 고딕"/>
            </a:endParaRPr>
          </a:p>
        </p:txBody>
      </p:sp>
      <p:sp>
        <p:nvSpPr>
          <p:cNvPr id="14" name="실행 단추: 앞으로 또는 다음으로 이동 13">
            <a:hlinkClick r:id="rId4" action="ppaction://hlinksldjump" highlightClick="1"/>
            <a:extLst>
              <a:ext uri="{FF2B5EF4-FFF2-40B4-BE49-F238E27FC236}">
                <a16:creationId xmlns:a16="http://schemas.microsoft.com/office/drawing/2014/main" id="{451F82EC-3E9D-4635-91A6-86D84D8D1966}"/>
              </a:ext>
            </a:extLst>
          </p:cNvPr>
          <p:cNvSpPr/>
          <p:nvPr/>
        </p:nvSpPr>
        <p:spPr>
          <a:xfrm>
            <a:off x="11444531" y="577100"/>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subtitle">
            <a:extLst>
              <a:ext uri="{FF2B5EF4-FFF2-40B4-BE49-F238E27FC236}">
                <a16:creationId xmlns:a16="http://schemas.microsoft.com/office/drawing/2014/main" id="{4AC2E98F-D96D-4CAF-A104-EC8CFAB36EC2}"/>
              </a:ext>
            </a:extLst>
          </p:cNvPr>
          <p:cNvSpPr txBox="1"/>
          <p:nvPr/>
        </p:nvSpPr>
        <p:spPr>
          <a:xfrm>
            <a:off x="10281685" y="601216"/>
            <a:ext cx="1105786"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404040"/>
                </a:solidFill>
                <a:latin typeface="맑은 고딕"/>
                <a:ea typeface="맑은 고딕"/>
              </a:rPr>
              <a:t>DP </a:t>
            </a:r>
            <a:r>
              <a:rPr lang="ko-KR" altLang="en-US" sz="1100" b="0" dirty="0">
                <a:solidFill>
                  <a:srgbClr val="404040"/>
                </a:solidFill>
                <a:latin typeface="맑은 고딕"/>
                <a:ea typeface="맑은 고딕"/>
              </a:rPr>
              <a:t>특화 구간</a:t>
            </a:r>
            <a:endParaRPr lang="en-US" altLang="ko-KR" sz="1100" b="0" dirty="0">
              <a:latin typeface="맑은 고딕"/>
              <a:ea typeface="맑은 고딕"/>
            </a:endParaRPr>
          </a:p>
        </p:txBody>
      </p:sp>
      <p:sp>
        <p:nvSpPr>
          <p:cNvPr id="16" name="실행 단추: 뒤로 또는 앞으로 이동 15">
            <a:hlinkClick r:id="rId5" action="ppaction://hlinksldjump" highlightClick="1"/>
            <a:extLst>
              <a:ext uri="{FF2B5EF4-FFF2-40B4-BE49-F238E27FC236}">
                <a16:creationId xmlns:a16="http://schemas.microsoft.com/office/drawing/2014/main" id="{772A84E7-2E69-4071-9D52-29293F922775}"/>
              </a:ext>
            </a:extLst>
          </p:cNvPr>
          <p:cNvSpPr/>
          <p:nvPr/>
        </p:nvSpPr>
        <p:spPr>
          <a:xfrm>
            <a:off x="6865455" y="270769"/>
            <a:ext cx="313661" cy="30633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실행 단추: 앞으로 또는 다음으로 이동 4">
            <a:hlinkClick r:id="rId6" action="ppaction://hlinksldjump" highlightClick="1"/>
            <a:extLst>
              <a:ext uri="{FF2B5EF4-FFF2-40B4-BE49-F238E27FC236}">
                <a16:creationId xmlns:a16="http://schemas.microsoft.com/office/drawing/2014/main" id="{E84BAF67-7E05-4986-B3F5-CF74AEA81BD1}"/>
              </a:ext>
            </a:extLst>
          </p:cNvPr>
          <p:cNvSpPr/>
          <p:nvPr/>
        </p:nvSpPr>
        <p:spPr>
          <a:xfrm>
            <a:off x="8922259" y="286541"/>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subtitle">
            <a:extLst>
              <a:ext uri="{FF2B5EF4-FFF2-40B4-BE49-F238E27FC236}">
                <a16:creationId xmlns:a16="http://schemas.microsoft.com/office/drawing/2014/main" id="{AA4ADF57-134F-49EA-951D-6C026B55B559}"/>
              </a:ext>
            </a:extLst>
          </p:cNvPr>
          <p:cNvSpPr txBox="1"/>
          <p:nvPr/>
        </p:nvSpPr>
        <p:spPr>
          <a:xfrm>
            <a:off x="8533544" y="274985"/>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QA1 </a:t>
            </a:r>
            <a:endParaRPr lang="en-US" altLang="ko-KR" sz="1100" b="0" dirty="0">
              <a:latin typeface="맑은 고딕"/>
              <a:ea typeface="맑은 고딕"/>
            </a:endParaRPr>
          </a:p>
        </p:txBody>
      </p:sp>
      <p:sp>
        <p:nvSpPr>
          <p:cNvPr id="19" name="subtitle">
            <a:extLst>
              <a:ext uri="{FF2B5EF4-FFF2-40B4-BE49-F238E27FC236}">
                <a16:creationId xmlns:a16="http://schemas.microsoft.com/office/drawing/2014/main" id="{AA4ADF57-134F-49EA-951D-6C026B55B559}"/>
              </a:ext>
            </a:extLst>
          </p:cNvPr>
          <p:cNvSpPr txBox="1"/>
          <p:nvPr/>
        </p:nvSpPr>
        <p:spPr>
          <a:xfrm>
            <a:off x="8533544" y="493997"/>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QA2 </a:t>
            </a:r>
            <a:endParaRPr lang="en-US" altLang="ko-KR" sz="1100" b="0" dirty="0">
              <a:latin typeface="맑은 고딕"/>
              <a:ea typeface="맑은 고딕"/>
            </a:endParaRPr>
          </a:p>
        </p:txBody>
      </p:sp>
      <p:sp>
        <p:nvSpPr>
          <p:cNvPr id="20" name="subtitle">
            <a:extLst>
              <a:ext uri="{FF2B5EF4-FFF2-40B4-BE49-F238E27FC236}">
                <a16:creationId xmlns:a16="http://schemas.microsoft.com/office/drawing/2014/main" id="{AA4ADF57-134F-49EA-951D-6C026B55B559}"/>
              </a:ext>
            </a:extLst>
          </p:cNvPr>
          <p:cNvSpPr txBox="1"/>
          <p:nvPr/>
        </p:nvSpPr>
        <p:spPr>
          <a:xfrm>
            <a:off x="9215373" y="291871"/>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QA3 </a:t>
            </a:r>
            <a:endParaRPr lang="en-US" altLang="ko-KR" sz="1100" b="0" dirty="0">
              <a:latin typeface="맑은 고딕"/>
              <a:ea typeface="맑은 고딕"/>
            </a:endParaRPr>
          </a:p>
        </p:txBody>
      </p:sp>
      <p:sp>
        <p:nvSpPr>
          <p:cNvPr id="21" name="subtitle">
            <a:extLst>
              <a:ext uri="{FF2B5EF4-FFF2-40B4-BE49-F238E27FC236}">
                <a16:creationId xmlns:a16="http://schemas.microsoft.com/office/drawing/2014/main" id="{AA4ADF57-134F-49EA-951D-6C026B55B559}"/>
              </a:ext>
            </a:extLst>
          </p:cNvPr>
          <p:cNvSpPr txBox="1"/>
          <p:nvPr/>
        </p:nvSpPr>
        <p:spPr>
          <a:xfrm>
            <a:off x="9215373" y="483639"/>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QA4 </a:t>
            </a:r>
            <a:endParaRPr lang="en-US" altLang="ko-KR" sz="1100" b="0" dirty="0">
              <a:latin typeface="맑은 고딕"/>
              <a:ea typeface="맑은 고딕"/>
            </a:endParaRPr>
          </a:p>
        </p:txBody>
      </p:sp>
      <p:sp>
        <p:nvSpPr>
          <p:cNvPr id="22" name="subtitle">
            <a:extLst>
              <a:ext uri="{FF2B5EF4-FFF2-40B4-BE49-F238E27FC236}">
                <a16:creationId xmlns:a16="http://schemas.microsoft.com/office/drawing/2014/main" id="{AA4ADF57-134F-49EA-951D-6C026B55B559}"/>
              </a:ext>
            </a:extLst>
          </p:cNvPr>
          <p:cNvSpPr txBox="1"/>
          <p:nvPr/>
        </p:nvSpPr>
        <p:spPr>
          <a:xfrm>
            <a:off x="9215373" y="714740"/>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QA5 </a:t>
            </a:r>
            <a:endParaRPr lang="en-US" altLang="ko-KR" sz="1100" b="0" dirty="0">
              <a:latin typeface="맑은 고딕"/>
              <a:ea typeface="맑은 고딕"/>
            </a:endParaRPr>
          </a:p>
        </p:txBody>
      </p:sp>
      <p:sp>
        <p:nvSpPr>
          <p:cNvPr id="23" name="subtitle">
            <a:extLst>
              <a:ext uri="{FF2B5EF4-FFF2-40B4-BE49-F238E27FC236}">
                <a16:creationId xmlns:a16="http://schemas.microsoft.com/office/drawing/2014/main" id="{AA4ADF57-134F-49EA-951D-6C026B55B559}"/>
              </a:ext>
            </a:extLst>
          </p:cNvPr>
          <p:cNvSpPr txBox="1"/>
          <p:nvPr/>
        </p:nvSpPr>
        <p:spPr>
          <a:xfrm>
            <a:off x="8899811" y="10191"/>
            <a:ext cx="918512" cy="243143"/>
          </a:xfrm>
          <a:prstGeom prst="rect">
            <a:avLst/>
          </a:prstGeom>
          <a:noFill/>
        </p:spPr>
        <p:txBody>
          <a:bodyPr wrap="square" lIns="73152" tIns="36576" rIns="73152" bIns="36576" anchor="t">
            <a:spAutoFit/>
          </a:bodyPr>
          <a:lstStyle/>
          <a:p>
            <a:pPr>
              <a:spcAft>
                <a:spcPts val="250"/>
              </a:spcAft>
            </a:pPr>
            <a:r>
              <a:rPr lang="ko-KR" altLang="en-US" sz="1100" b="0" dirty="0">
                <a:latin typeface="맑은 고딕"/>
                <a:ea typeface="맑은 고딕"/>
              </a:rPr>
              <a:t>평가기준</a:t>
            </a:r>
            <a:endParaRPr lang="en-US" altLang="ko-KR" sz="1100" b="0" dirty="0">
              <a:latin typeface="맑은 고딕"/>
              <a:ea typeface="맑은 고딕"/>
            </a:endParaRPr>
          </a:p>
        </p:txBody>
      </p:sp>
      <p:sp>
        <p:nvSpPr>
          <p:cNvPr id="24" name="실행 단추: 앞으로 또는 다음으로 이동 4">
            <a:hlinkClick r:id="rId7" action="ppaction://hlinksldjump" highlightClick="1"/>
            <a:extLst>
              <a:ext uri="{FF2B5EF4-FFF2-40B4-BE49-F238E27FC236}">
                <a16:creationId xmlns:a16="http://schemas.microsoft.com/office/drawing/2014/main" id="{E84BAF67-7E05-4986-B3F5-CF74AEA81BD1}"/>
              </a:ext>
            </a:extLst>
          </p:cNvPr>
          <p:cNvSpPr/>
          <p:nvPr/>
        </p:nvSpPr>
        <p:spPr>
          <a:xfrm>
            <a:off x="8922259" y="544743"/>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실행 단추: 앞으로 또는 다음으로 이동 4">
            <a:hlinkClick r:id="rId8" action="ppaction://hlinksldjump" highlightClick="1"/>
            <a:extLst>
              <a:ext uri="{FF2B5EF4-FFF2-40B4-BE49-F238E27FC236}">
                <a16:creationId xmlns:a16="http://schemas.microsoft.com/office/drawing/2014/main" id="{E84BAF67-7E05-4986-B3F5-CF74AEA81BD1}"/>
              </a:ext>
            </a:extLst>
          </p:cNvPr>
          <p:cNvSpPr/>
          <p:nvPr/>
        </p:nvSpPr>
        <p:spPr>
          <a:xfrm>
            <a:off x="9604088" y="279949"/>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실행 단추: 앞으로 또는 다음으로 이동 4">
            <a:hlinkClick r:id="rId9" action="ppaction://hlinksldjump" highlightClick="1"/>
            <a:extLst>
              <a:ext uri="{FF2B5EF4-FFF2-40B4-BE49-F238E27FC236}">
                <a16:creationId xmlns:a16="http://schemas.microsoft.com/office/drawing/2014/main" id="{E84BAF67-7E05-4986-B3F5-CF74AEA81BD1}"/>
              </a:ext>
            </a:extLst>
          </p:cNvPr>
          <p:cNvSpPr/>
          <p:nvPr/>
        </p:nvSpPr>
        <p:spPr>
          <a:xfrm>
            <a:off x="9604088" y="51195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실행 단추: 앞으로 또는 다음으로 이동 4">
            <a:hlinkClick r:id="rId10" action="ppaction://hlinksldjump" highlightClick="1"/>
            <a:extLst>
              <a:ext uri="{FF2B5EF4-FFF2-40B4-BE49-F238E27FC236}">
                <a16:creationId xmlns:a16="http://schemas.microsoft.com/office/drawing/2014/main" id="{E84BAF67-7E05-4986-B3F5-CF74AEA81BD1}"/>
              </a:ext>
            </a:extLst>
          </p:cNvPr>
          <p:cNvSpPr/>
          <p:nvPr/>
        </p:nvSpPr>
        <p:spPr>
          <a:xfrm>
            <a:off x="9604088" y="74354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DP4. 서버 간 KV 캐시 공유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59" y="1078992"/>
            <a:ext cx="5806441" cy="575799"/>
          </a:xfrm>
          <a:prstGeom prst="rect">
            <a:avLst/>
          </a:prstGeom>
          <a:noFill/>
        </p:spPr>
        <p:txBody>
          <a:bodyPr wrap="square" lIns="73152" tIns="36576" rIns="73152" bIns="36576" anchor="t">
            <a:spAutoFit/>
          </a:bodyPr>
          <a:lstStyle/>
          <a:p>
            <a:pPr algn="l">
              <a:lnSpc>
                <a:spcPct val="110000"/>
              </a:lnSpc>
              <a:spcAft>
                <a:spcPts val="0"/>
              </a:spcAft>
            </a:pPr>
            <a:r>
              <a:rPr sz="1050" b="1" dirty="0" err="1">
                <a:solidFill>
                  <a:srgbClr val="2F5597"/>
                </a:solidFill>
                <a:latin typeface="맑은 고딕"/>
                <a:ea typeface="맑은 고딕"/>
              </a:rPr>
              <a:t>평가</a:t>
            </a:r>
            <a:r>
              <a:rPr sz="1050" b="1" dirty="0">
                <a:solidFill>
                  <a:srgbClr val="2F5597"/>
                </a:solidFill>
                <a:latin typeface="맑은 고딕"/>
                <a:ea typeface="맑은 고딕"/>
              </a:rPr>
              <a:t> </a:t>
            </a:r>
            <a:r>
              <a:rPr sz="1050" b="1" dirty="0" err="1">
                <a:solidFill>
                  <a:srgbClr val="2F5597"/>
                </a:solidFill>
                <a:latin typeface="맑은 고딕"/>
                <a:ea typeface="맑은 고딕"/>
              </a:rPr>
              <a:t>환경</a:t>
            </a:r>
            <a:endParaRPr sz="1050" b="1" dirty="0">
              <a:solidFill>
                <a:srgbClr val="2F5597"/>
              </a:solidFill>
              <a:latin typeface="맑은 고딕"/>
              <a:ea typeface="맑은 고딕"/>
            </a:endParaRPr>
          </a:p>
          <a:p>
            <a:pPr algn="l">
              <a:lnSpc>
                <a:spcPct val="110000"/>
              </a:lnSpc>
              <a:spcAft>
                <a:spcPts val="0"/>
              </a:spcAft>
            </a:pPr>
            <a:r>
              <a:rPr sz="1000" b="0" dirty="0">
                <a:solidFill>
                  <a:srgbClr val="000000"/>
                </a:solidFill>
                <a:latin typeface="맑은 고딕"/>
                <a:ea typeface="맑은 고딕"/>
              </a:rPr>
              <a:t>• H100×8 4노드(</a:t>
            </a:r>
            <a:r>
              <a:rPr sz="1000" b="0" dirty="0" err="1">
                <a:solidFill>
                  <a:srgbClr val="000000"/>
                </a:solidFill>
                <a:latin typeface="맑은 고딕"/>
                <a:ea typeface="맑은 고딕"/>
              </a:rPr>
              <a:t>실장</a:t>
            </a:r>
            <a:r>
              <a:rPr sz="1000" b="0" dirty="0">
                <a:solidFill>
                  <a:srgbClr val="000000"/>
                </a:solidFill>
                <a:latin typeface="맑은 고딕"/>
                <a:ea typeface="맑은 고딕"/>
              </a:rPr>
              <a:t>) + CXL </a:t>
            </a:r>
            <a:r>
              <a:rPr sz="1000" b="0" dirty="0" err="1">
                <a:solidFill>
                  <a:srgbClr val="000000"/>
                </a:solidFill>
                <a:latin typeface="맑은 고딕"/>
                <a:ea typeface="맑은 고딕"/>
              </a:rPr>
              <a:t>공유</a:t>
            </a:r>
            <a:r>
              <a:rPr sz="1000" b="0" dirty="0">
                <a:solidFill>
                  <a:srgbClr val="000000"/>
                </a:solidFill>
                <a:latin typeface="맑은 고딕"/>
                <a:ea typeface="맑은 고딕"/>
              </a:rPr>
              <a:t> 풀 8 TiB(풀 </a:t>
            </a:r>
            <a:r>
              <a:rPr sz="1000" b="0" dirty="0" err="1">
                <a:solidFill>
                  <a:srgbClr val="000000"/>
                </a:solidFill>
                <a:latin typeface="맑은 고딕"/>
                <a:ea typeface="맑은 고딕"/>
              </a:rPr>
              <a:t>장비가</a:t>
            </a:r>
            <a:r>
              <a:rPr sz="1000" b="0" dirty="0">
                <a:solidFill>
                  <a:srgbClr val="000000"/>
                </a:solidFill>
                <a:latin typeface="맑은 고딕"/>
                <a:ea typeface="맑은 고딕"/>
              </a:rPr>
              <a:t> </a:t>
            </a:r>
            <a:r>
              <a:rPr sz="1000" b="0" dirty="0" err="1">
                <a:solidFill>
                  <a:srgbClr val="000000"/>
                </a:solidFill>
                <a:latin typeface="맑은 고딕"/>
                <a:ea typeface="맑은 고딕"/>
              </a:rPr>
              <a:t>없어</a:t>
            </a:r>
            <a:r>
              <a:rPr sz="1000" b="0" dirty="0">
                <a:solidFill>
                  <a:srgbClr val="000000"/>
                </a:solidFill>
                <a:latin typeface="맑은 고딕"/>
                <a:ea typeface="맑은 고딕"/>
              </a:rPr>
              <a:t> </a:t>
            </a:r>
            <a:r>
              <a:rPr sz="1000" b="0" dirty="0" err="1">
                <a:solidFill>
                  <a:srgbClr val="000000"/>
                </a:solidFill>
                <a:latin typeface="맑은 고딕"/>
                <a:ea typeface="맑은 고딕"/>
              </a:rPr>
              <a:t>시뮬레이션</a:t>
            </a:r>
            <a:r>
              <a:rPr sz="1000" b="0" dirty="0">
                <a:solidFill>
                  <a:srgbClr val="000000"/>
                </a:solidFill>
                <a:latin typeface="맑은 고딕"/>
                <a:ea typeface="맑은 고딕"/>
              </a:rPr>
              <a:t> </a:t>
            </a:r>
            <a:r>
              <a:rPr sz="1000" b="0" dirty="0" err="1">
                <a:solidFill>
                  <a:srgbClr val="000000"/>
                </a:solidFill>
                <a:latin typeface="맑은 고딕"/>
                <a:ea typeface="맑은 고딕"/>
              </a:rPr>
              <a:t>대상</a:t>
            </a:r>
            <a:r>
              <a:rPr sz="1000" b="0" dirty="0">
                <a:solidFill>
                  <a:srgbClr val="000000"/>
                </a:solidFill>
                <a:latin typeface="맑은 고딕"/>
                <a:ea typeface="맑은 고딕"/>
              </a:rPr>
              <a:t>, </a:t>
            </a:r>
            <a:r>
              <a:rPr sz="1000" b="0" dirty="0" err="1">
                <a:solidFill>
                  <a:srgbClr val="000000"/>
                </a:solidFill>
                <a:latin typeface="맑은 고딕"/>
                <a:ea typeface="맑은 고딕"/>
              </a:rPr>
              <a:t>노드당</a:t>
            </a:r>
            <a:r>
              <a:rPr sz="1000" b="0" dirty="0">
                <a:solidFill>
                  <a:srgbClr val="000000"/>
                </a:solidFill>
                <a:latin typeface="맑은 고딕"/>
                <a:ea typeface="맑은 고딕"/>
              </a:rPr>
              <a:t> </a:t>
            </a:r>
            <a:r>
              <a:rPr sz="1000" b="0" dirty="0" err="1">
                <a:solidFill>
                  <a:srgbClr val="000000"/>
                </a:solidFill>
                <a:latin typeface="맑은 고딕"/>
                <a:ea typeface="맑은 고딕"/>
              </a:rPr>
              <a:t>유효</a:t>
            </a:r>
            <a:r>
              <a:rPr sz="1000" b="0" dirty="0">
                <a:solidFill>
                  <a:srgbClr val="000000"/>
                </a:solidFill>
                <a:latin typeface="맑은 고딕"/>
                <a:ea typeface="맑은 고딕"/>
              </a:rPr>
              <a:t> 63GB/s)</a:t>
            </a:r>
            <a:endParaRPr lang="en-US" sz="1000" b="0" dirty="0">
              <a:solidFill>
                <a:srgbClr val="000000"/>
              </a:solidFill>
              <a:latin typeface="맑은 고딕"/>
              <a:ea typeface="맑은 고딕"/>
            </a:endParaRPr>
          </a:p>
          <a:p>
            <a:pPr algn="l">
              <a:lnSpc>
                <a:spcPct val="110000"/>
              </a:lnSpc>
              <a:spcAft>
                <a:spcPts val="0"/>
              </a:spcAft>
            </a:pPr>
            <a:r>
              <a:rPr lang="en-US" altLang="ko-KR" sz="1000" b="0" dirty="0">
                <a:solidFill>
                  <a:srgbClr val="000000"/>
                </a:solidFill>
                <a:latin typeface="맑은 고딕"/>
                <a:ea typeface="맑은 고딕"/>
              </a:rPr>
              <a:t>• </a:t>
            </a:r>
            <a:r>
              <a:rPr sz="1000" b="0" dirty="0">
                <a:solidFill>
                  <a:srgbClr val="000000"/>
                </a:solidFill>
                <a:latin typeface="맑은 고딕"/>
                <a:ea typeface="맑은 고딕"/>
              </a:rPr>
              <a:t>B</a:t>
            </a:r>
            <a:r>
              <a:rPr lang="en-US" sz="1000" b="0" dirty="0">
                <a:solidFill>
                  <a:srgbClr val="000000"/>
                </a:solidFill>
                <a:latin typeface="맑은 고딕"/>
                <a:ea typeface="맑은 고딕"/>
              </a:rPr>
              <a:t>aseline</a:t>
            </a:r>
            <a:r>
              <a:rPr lang="ko-KR" altLang="en-US" sz="1000" b="0" dirty="0">
                <a:solidFill>
                  <a:srgbClr val="000000"/>
                </a:solidFill>
                <a:latin typeface="맑은 고딕"/>
                <a:ea typeface="맑은 고딕"/>
              </a:rPr>
              <a:t>은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 독</a:t>
            </a:r>
            <a:r>
              <a:rPr lang="ko-KR" altLang="en-US" sz="1000" b="0" dirty="0">
                <a:solidFill>
                  <a:srgbClr val="000000"/>
                </a:solidFill>
                <a:latin typeface="맑은 고딕"/>
                <a:ea typeface="맑은 고딕"/>
              </a:rPr>
              <a:t>립</a:t>
            </a:r>
            <a:r>
              <a:rPr lang="en-US" sz="1000" b="0" dirty="0">
                <a:solidFill>
                  <a:srgbClr val="000000"/>
                </a:solidFill>
                <a:latin typeface="맑은 고딕"/>
                <a:ea typeface="맑은 고딕"/>
              </a:rPr>
              <a:t>, </a:t>
            </a:r>
            <a:r>
              <a:rPr lang="ko-KR" altLang="en-US" sz="1000" b="0" dirty="0">
                <a:solidFill>
                  <a:srgbClr val="000000"/>
                </a:solidFill>
                <a:latin typeface="맑은 고딕"/>
                <a:ea typeface="맑은 고딕"/>
              </a:rPr>
              <a:t>각 노드가 각자의 시스템 메모리만 사용 </a:t>
            </a:r>
            <a:endParaRPr lang="en-US" altLang="ko-KR" sz="1000" b="0" dirty="0">
              <a:solidFill>
                <a:srgbClr val="000000"/>
              </a:solidFill>
              <a:latin typeface="맑은 고딕"/>
              <a:ea typeface="맑은 고딕"/>
            </a:endParaRPr>
          </a:p>
        </p:txBody>
      </p:sp>
      <p:sp>
        <p:nvSpPr>
          <p:cNvPr id="8" name="TextBox 7"/>
          <p:cNvSpPr txBox="1"/>
          <p:nvPr/>
        </p:nvSpPr>
        <p:spPr>
          <a:xfrm>
            <a:off x="6276975" y="1078992"/>
            <a:ext cx="5623560" cy="574709"/>
          </a:xfrm>
          <a:prstGeom prst="rect">
            <a:avLst/>
          </a:prstGeom>
          <a:noFill/>
        </p:spPr>
        <p:txBody>
          <a:bodyPr wrap="square" lIns="73152" tIns="36576" rIns="73152" bIns="36576" anchor="t">
            <a:spAutoFit/>
          </a:bodyPr>
          <a:lstStyle/>
          <a:p>
            <a:pPr algn="l">
              <a:lnSpc>
                <a:spcPct val="110000"/>
              </a:lnSpc>
              <a:spcAft>
                <a:spcPts val="0"/>
              </a:spcAft>
            </a:pPr>
            <a:r>
              <a:rPr sz="1050" b="1" dirty="0" err="1">
                <a:solidFill>
                  <a:srgbClr val="2F5597"/>
                </a:solidFill>
                <a:latin typeface="맑은 고딕"/>
                <a:ea typeface="맑은 고딕"/>
              </a:rPr>
              <a:t>평가</a:t>
            </a:r>
            <a:r>
              <a:rPr sz="1050" b="1" dirty="0">
                <a:solidFill>
                  <a:srgbClr val="2F5597"/>
                </a:solidFill>
                <a:latin typeface="맑은 고딕"/>
                <a:ea typeface="맑은 고딕"/>
              </a:rPr>
              <a:t> </a:t>
            </a:r>
            <a:r>
              <a:rPr sz="1050" b="1" dirty="0" err="1">
                <a:solidFill>
                  <a:srgbClr val="2F5597"/>
                </a:solidFill>
                <a:latin typeface="맑은 고딕"/>
                <a:ea typeface="맑은 고딕"/>
              </a:rPr>
              <a:t>시나리오</a:t>
            </a:r>
            <a:endParaRPr sz="1050" b="1" dirty="0">
              <a:solidFill>
                <a:srgbClr val="2F5597"/>
              </a:solidFill>
              <a:latin typeface="맑은 고딕"/>
              <a:ea typeface="맑은 고딕"/>
            </a:endParaRPr>
          </a:p>
          <a:p>
            <a:pPr algn="l">
              <a:lnSpc>
                <a:spcPct val="110000"/>
              </a:lnSpc>
              <a:spcAft>
                <a:spcPts val="0"/>
              </a:spcAft>
            </a:pPr>
            <a:r>
              <a:rPr sz="1000" b="0" dirty="0">
                <a:solidFill>
                  <a:srgbClr val="000000"/>
                </a:solidFill>
                <a:latin typeface="맑은 고딕"/>
                <a:ea typeface="맑은 고딕"/>
              </a:rPr>
              <a:t>• Agent KV Fleet P4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 </a:t>
            </a:r>
            <a:r>
              <a:rPr sz="1000" b="0" dirty="0" err="1">
                <a:solidFill>
                  <a:srgbClr val="000000"/>
                </a:solidFill>
                <a:latin typeface="맑은 고딕"/>
                <a:ea typeface="맑은 고딕"/>
              </a:rPr>
              <a:t>확장</a:t>
            </a:r>
            <a:r>
              <a:rPr sz="1000" b="0" dirty="0">
                <a:solidFill>
                  <a:srgbClr val="000000"/>
                </a:solidFill>
                <a:latin typeface="맑은 고딕"/>
                <a:ea typeface="맑은 고딕"/>
              </a:rPr>
              <a:t>: 2→16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a:t>
            </a:r>
            <a:r>
              <a:rPr sz="1000" b="0" dirty="0" err="1">
                <a:solidFill>
                  <a:srgbClr val="000000"/>
                </a:solidFill>
                <a:latin typeface="맑은 고딕"/>
                <a:ea typeface="맑은 고딕"/>
              </a:rPr>
              <a:t>세션</a:t>
            </a:r>
            <a:r>
              <a:rPr sz="1000" b="0" dirty="0">
                <a:solidFill>
                  <a:srgbClr val="000000"/>
                </a:solidFill>
                <a:latin typeface="맑은 고딕"/>
                <a:ea typeface="맑은 고딕"/>
              </a:rPr>
              <a:t> ∝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 </a:t>
            </a:r>
            <a:r>
              <a:rPr sz="1000" b="0" dirty="0" err="1">
                <a:solidFill>
                  <a:srgbClr val="000000"/>
                </a:solidFill>
                <a:latin typeface="맑은 고딕"/>
                <a:ea typeface="맑은 고딕"/>
              </a:rPr>
              <a:t>노드</a:t>
            </a:r>
            <a:r>
              <a:rPr sz="1000" b="0" dirty="0">
                <a:solidFill>
                  <a:srgbClr val="000000"/>
                </a:solidFill>
                <a:latin typeface="맑은 고딕"/>
                <a:ea typeface="맑은 고딕"/>
              </a:rPr>
              <a:t> 간 KV </a:t>
            </a:r>
            <a:r>
              <a:rPr sz="1000" b="0" dirty="0" err="1">
                <a:solidFill>
                  <a:srgbClr val="000000"/>
                </a:solidFill>
                <a:latin typeface="맑은 고딕"/>
                <a:ea typeface="맑은 고딕"/>
              </a:rPr>
              <a:t>블록</a:t>
            </a:r>
            <a:r>
              <a:rPr sz="1000" b="0" dirty="0">
                <a:solidFill>
                  <a:srgbClr val="000000"/>
                </a:solidFill>
                <a:latin typeface="맑은 고딕"/>
                <a:ea typeface="맑은 고딕"/>
              </a:rPr>
              <a:t> </a:t>
            </a:r>
            <a:r>
              <a:rPr sz="1000" b="0" dirty="0" err="1">
                <a:solidFill>
                  <a:srgbClr val="000000"/>
                </a:solidFill>
                <a:latin typeface="맑은 고딕"/>
                <a:ea typeface="맑은 고딕"/>
              </a:rPr>
              <a:t>조회·소유권</a:t>
            </a:r>
            <a:r>
              <a:rPr sz="1000" b="0" dirty="0">
                <a:solidFill>
                  <a:srgbClr val="000000"/>
                </a:solidFill>
                <a:latin typeface="맑은 고딕"/>
                <a:ea typeface="맑은 고딕"/>
              </a:rPr>
              <a:t> </a:t>
            </a:r>
            <a:r>
              <a:rPr sz="1000" b="0" dirty="0" err="1">
                <a:solidFill>
                  <a:srgbClr val="000000"/>
                </a:solidFill>
                <a:latin typeface="맑은 고딕"/>
                <a:ea typeface="맑은 고딕"/>
              </a:rPr>
              <a:t>이동</a:t>
            </a:r>
            <a:endParaRPr sz="1000" b="0" dirty="0">
              <a:solidFill>
                <a:srgbClr val="000000"/>
              </a:solidFill>
              <a:latin typeface="맑은 고딕"/>
              <a:ea typeface="맑은 고딕"/>
            </a:endParaRPr>
          </a:p>
          <a:p>
            <a:pPr algn="l">
              <a:lnSpc>
                <a:spcPct val="110000"/>
              </a:lnSpc>
              <a:spcAft>
                <a:spcPts val="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제어</a:t>
            </a:r>
            <a:r>
              <a:rPr sz="1000" b="0" dirty="0">
                <a:solidFill>
                  <a:srgbClr val="000000"/>
                </a:solidFill>
                <a:latin typeface="맑은 고딕"/>
                <a:ea typeface="맑은 고딕"/>
              </a:rPr>
              <a:t> </a:t>
            </a:r>
            <a:r>
              <a:rPr sz="1000" b="0" dirty="0" err="1">
                <a:solidFill>
                  <a:srgbClr val="000000"/>
                </a:solidFill>
                <a:latin typeface="맑은 고딕"/>
                <a:ea typeface="맑은 고딕"/>
              </a:rPr>
              <a:t>평면</a:t>
            </a:r>
            <a:r>
              <a:rPr sz="1000" b="0" dirty="0">
                <a:solidFill>
                  <a:srgbClr val="000000"/>
                </a:solidFill>
                <a:latin typeface="맑은 고딕"/>
                <a:ea typeface="맑은 고딕"/>
              </a:rPr>
              <a:t>: </a:t>
            </a:r>
            <a:r>
              <a:rPr sz="1000" b="0" dirty="0" err="1">
                <a:solidFill>
                  <a:srgbClr val="000000"/>
                </a:solidFill>
                <a:latin typeface="맑은 고딕"/>
                <a:ea typeface="맑은 고딕"/>
              </a:rPr>
              <a:t>중앙</a:t>
            </a:r>
            <a:r>
              <a:rPr sz="1000" b="0" dirty="0">
                <a:solidFill>
                  <a:srgbClr val="000000"/>
                </a:solidFill>
                <a:latin typeface="맑은 고딕"/>
                <a:ea typeface="맑은 고딕"/>
              </a:rPr>
              <a:t> RPC ≈ 7 µs vs </a:t>
            </a:r>
            <a:r>
              <a:rPr sz="1000" b="0" dirty="0" err="1">
                <a:solidFill>
                  <a:srgbClr val="000000"/>
                </a:solidFill>
                <a:latin typeface="맑은 고딕"/>
                <a:ea typeface="맑은 고딕"/>
              </a:rPr>
              <a:t>분산</a:t>
            </a:r>
            <a:r>
              <a:rPr sz="1000" b="0" dirty="0">
                <a:solidFill>
                  <a:srgbClr val="000000"/>
                </a:solidFill>
                <a:latin typeface="맑은 고딕"/>
                <a:ea typeface="맑은 고딕"/>
              </a:rPr>
              <a:t> 락 P99 ≈ 804 µs (</a:t>
            </a:r>
            <a:r>
              <a:rPr sz="1000" b="0" dirty="0" err="1">
                <a:solidFill>
                  <a:srgbClr val="000000"/>
                </a:solidFill>
                <a:latin typeface="맑은 고딕"/>
                <a:ea typeface="맑은 고딕"/>
              </a:rPr>
              <a:t>요청당</a:t>
            </a:r>
            <a:r>
              <a:rPr sz="1000" b="0" dirty="0">
                <a:solidFill>
                  <a:srgbClr val="000000"/>
                </a:solidFill>
                <a:latin typeface="맑은 고딕"/>
                <a:ea typeface="맑은 고딕"/>
              </a:rPr>
              <a:t> 4 op)</a:t>
            </a:r>
          </a:p>
        </p:txBody>
      </p:sp>
      <p:graphicFrame>
        <p:nvGraphicFramePr>
          <p:cNvPr id="9" name="tbl"/>
          <p:cNvGraphicFramePr>
            <a:graphicFrameLocks noGrp="1"/>
          </p:cNvGraphicFramePr>
          <p:nvPr>
            <p:extLst>
              <p:ext uri="{D42A27DB-BD31-4B8C-83A1-F6EECF244321}">
                <p14:modId xmlns:p14="http://schemas.microsoft.com/office/powerpoint/2010/main" val="2852405955"/>
              </p:ext>
            </p:extLst>
          </p:nvPr>
        </p:nvGraphicFramePr>
        <p:xfrm>
          <a:off x="365760" y="2194560"/>
          <a:ext cx="11457432" cy="2249424"/>
        </p:xfrm>
        <a:graphic>
          <a:graphicData uri="http://schemas.openxmlformats.org/drawingml/2006/table">
            <a:tbl>
              <a:tblPr>
                <a:tableStyleId>{2D5ABB26-0587-4C30-8999-92F81FD0307C}</a:tableStyleId>
              </a:tblPr>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gridCol w="2505456">
                  <a:extLst>
                    <a:ext uri="{9D8B030D-6E8A-4147-A177-3AD203B41FA5}">
                      <a16:colId xmlns:a16="http://schemas.microsoft.com/office/drawing/2014/main" val="20005"/>
                    </a:ext>
                  </a:extLst>
                </a:gridCol>
              </a:tblGrid>
              <a:tr h="274320">
                <a:tc>
                  <a:txBody>
                    <a:bodyPr/>
                    <a:lstStyle/>
                    <a:p>
                      <a:pPr algn="ctr"/>
                      <a:r>
                        <a:rPr sz="1050" b="1" dirty="0">
                          <a:solidFill>
                            <a:srgbClr val="FFFFFF"/>
                          </a:solidFill>
                          <a:latin typeface="맑은 고딕"/>
                          <a:ea typeface="맑은 고딕"/>
                        </a:rPr>
                        <a:t>QA</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lang="ko-KR" altLang="en-US" sz="1050" b="1" dirty="0">
                          <a:solidFill>
                            <a:srgbClr val="FFFFFF"/>
                          </a:solidFill>
                          <a:latin typeface="맑은 고딕"/>
                          <a:ea typeface="맑은 고딕"/>
                        </a:rPr>
                        <a:t>평가</a:t>
                      </a:r>
                      <a:r>
                        <a:rPr lang="en-US" sz="1050" b="1" dirty="0">
                          <a:solidFill>
                            <a:srgbClr val="FFFFFF"/>
                          </a:solidFill>
                          <a:latin typeface="맑은 고딕"/>
                          <a:ea typeface="맑은 고딕"/>
                        </a:rPr>
                        <a:t> Metric</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lang="en-US" sz="1050" b="1" dirty="0">
                          <a:solidFill>
                            <a:srgbClr val="FFFFFF"/>
                          </a:solidFill>
                          <a:latin typeface="맑은 고딕"/>
                          <a:ea typeface="맑은 고딕"/>
                        </a:rPr>
                        <a:t>Baseline (B0)</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err="1">
                          <a:solidFill>
                            <a:srgbClr val="FFFFFF"/>
                          </a:solidFill>
                          <a:latin typeface="맑은 고딕"/>
                          <a:ea typeface="맑은 고딕"/>
                        </a:rPr>
                        <a:t>단순</a:t>
                      </a:r>
                      <a:r>
                        <a:rPr sz="1050" b="1" dirty="0">
                          <a:solidFill>
                            <a:srgbClr val="FFFFFF"/>
                          </a:solidFill>
                          <a:latin typeface="맑은 고딕"/>
                          <a:ea typeface="맑은 고딕"/>
                        </a:rPr>
                        <a:t> offloading</a:t>
                      </a:r>
                      <a:r>
                        <a:rPr lang="en-US" sz="1050" b="1" dirty="0">
                          <a:solidFill>
                            <a:srgbClr val="FFFFFF"/>
                          </a:solidFill>
                          <a:latin typeface="맑은 고딕"/>
                          <a:ea typeface="맑은 고딕"/>
                        </a:rPr>
                        <a:t> (B1)</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dirty="0" err="1">
                          <a:solidFill>
                            <a:srgbClr val="FFFFFF"/>
                          </a:solidFill>
                          <a:latin typeface="맑은 고딕"/>
                          <a:ea typeface="맑은 고딕"/>
                        </a:rPr>
                        <a:t>후보</a:t>
                      </a:r>
                      <a:r>
                        <a:rPr sz="1050" b="1" dirty="0">
                          <a:solidFill>
                            <a:srgbClr val="FFFFFF"/>
                          </a:solidFill>
                          <a:latin typeface="맑은 고딕"/>
                          <a:ea typeface="맑은 고딕"/>
                        </a:rPr>
                        <a:t> 1안 </a:t>
                      </a:r>
                      <a:r>
                        <a:rPr sz="1050" b="1" dirty="0" err="1">
                          <a:solidFill>
                            <a:srgbClr val="FFFFFF"/>
                          </a:solidFill>
                          <a:latin typeface="맑은 고딕"/>
                          <a:ea typeface="맑은 고딕"/>
                        </a:rPr>
                        <a:t>중앙</a:t>
                      </a:r>
                      <a:r>
                        <a:rPr sz="1050" b="1" dirty="0">
                          <a:solidFill>
                            <a:srgbClr val="FFFFFF"/>
                          </a:solidFill>
                          <a:latin typeface="맑은 고딕"/>
                          <a:ea typeface="맑은 고딕"/>
                        </a:rPr>
                        <a:t> </a:t>
                      </a:r>
                      <a:r>
                        <a:rPr sz="1050" b="1" dirty="0" err="1">
                          <a:solidFill>
                            <a:srgbClr val="FFFFFF"/>
                          </a:solidFill>
                          <a:latin typeface="맑은 고딕"/>
                          <a:ea typeface="맑은 고딕"/>
                        </a:rPr>
                        <a:t>서버</a:t>
                      </a:r>
                      <a:r>
                        <a:rPr sz="1050" b="1" dirty="0">
                          <a:solidFill>
                            <a:srgbClr val="FFFFFF"/>
                          </a:solidFill>
                          <a:latin typeface="맑은 고딕"/>
                          <a:ea typeface="맑은 고딕"/>
                        </a:rPr>
                        <a:t> </a:t>
                      </a:r>
                      <a:r>
                        <a:rPr sz="1050" b="1" dirty="0" err="1">
                          <a:solidFill>
                            <a:srgbClr val="FFFFFF"/>
                          </a:solidFill>
                          <a:latin typeface="맑은 고딕"/>
                          <a:ea typeface="맑은 고딕"/>
                        </a:rPr>
                        <a:t>중재</a:t>
                      </a:r>
                      <a:endParaRPr sz="1050" b="1" dirty="0">
                        <a:solidFill>
                          <a:srgbClr val="FFFFFF"/>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a:lstStyle/>
                    <a:p>
                      <a:pPr algn="ctr"/>
                      <a:r>
                        <a:rPr sz="1050" b="1">
                          <a:solidFill>
                            <a:srgbClr val="FFFFFF"/>
                          </a:solidFill>
                          <a:latin typeface="맑은 고딕"/>
                          <a:ea typeface="맑은 고딕"/>
                        </a:rPr>
                        <a:t>후보 2안 락 기반 직접 접근</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extLst>
                  <a:ext uri="{0D108BD9-81ED-4DB2-BD59-A6C34878D82A}">
                    <a16:rowId xmlns:a16="http://schemas.microsoft.com/office/drawing/2014/main" val="10000"/>
                  </a:ext>
                </a:extLst>
              </a:tr>
              <a:tr h="658368">
                <a:tc>
                  <a:txBody>
                    <a:bodyPr/>
                    <a:lstStyle/>
                    <a:p>
                      <a:pPr algn="l"/>
                      <a:r>
                        <a:rPr sz="1000" b="1" dirty="0">
                          <a:solidFill>
                            <a:srgbClr val="000000"/>
                          </a:solidFill>
                          <a:latin typeface="맑은 고딕"/>
                          <a:ea typeface="맑은 고딕"/>
                        </a:rPr>
                        <a:t>Q1 </a:t>
                      </a:r>
                      <a:r>
                        <a:rPr sz="1000" b="1" dirty="0" err="1">
                          <a:solidFill>
                            <a:srgbClr val="000000"/>
                          </a:solidFill>
                          <a:latin typeface="맑은 고딕"/>
                          <a:ea typeface="맑은 고딕"/>
                        </a:rPr>
                        <a:t>처리량</a:t>
                      </a:r>
                      <a:endParaRPr sz="1000" b="1"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a:solidFill>
                            <a:srgbClr val="000000"/>
                          </a:solidFill>
                          <a:latin typeface="맑은 고딕"/>
                          <a:ea typeface="맑은 고딕"/>
                        </a:rPr>
                        <a:t>SLO(TTFT ≤ 2 s, TPOT ≤ 50 ms) 만족 Max goodput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altLang="ko-KR" sz="1000" b="0" dirty="0">
                          <a:solidFill>
                            <a:srgbClr val="000000"/>
                          </a:solidFill>
                          <a:latin typeface="+mn-lt"/>
                          <a:ea typeface="맑은 고딕"/>
                        </a:rPr>
                        <a:t>1.76 query/s (QPS)</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altLang="ko-KR" sz="1000" b="0" dirty="0">
                          <a:solidFill>
                            <a:srgbClr val="000000"/>
                          </a:solidFill>
                          <a:latin typeface="+mn-lt"/>
                          <a:ea typeface="맑은 고딕"/>
                        </a:rPr>
                        <a:t>3.27 query/s (×1.86, ☆)</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11.4 query/s</a:t>
                      </a: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6.4x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2.5</a:t>
                      </a:r>
                      <a:endParaRPr lang="en-US" sz="900" b="0" dirty="0">
                        <a:solidFill>
                          <a:srgbClr val="404040"/>
                        </a:solidFill>
                        <a:latin typeface="맑은 고딕"/>
                        <a:ea typeface="맑은 고딕"/>
                      </a:endParaRPr>
                    </a:p>
                    <a:p>
                      <a:pPr marL="171450" indent="-171450" algn="l">
                        <a:buFontTx/>
                        <a:buChar char="-"/>
                      </a:pPr>
                      <a:r>
                        <a:rPr lang="en-US"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3.5x</a:t>
                      </a:r>
                      <a:endParaRPr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sz="1000" b="1" dirty="0">
                          <a:solidFill>
                            <a:srgbClr val="000000"/>
                          </a:solidFill>
                          <a:latin typeface="맑은 고딕"/>
                          <a:ea typeface="맑은 고딕"/>
                        </a:rPr>
                        <a:t>10 query/s</a:t>
                      </a:r>
                      <a:endParaRPr sz="1000" b="1" dirty="0">
                        <a:solidFill>
                          <a:srgbClr val="000000"/>
                        </a:solidFill>
                        <a:latin typeface="맑은 고딕"/>
                        <a:ea typeface="맑은 고딕"/>
                      </a:endParaRPr>
                    </a:p>
                    <a:p>
                      <a:pPr marL="171450" indent="-171450" algn="l">
                        <a:buFontTx/>
                        <a:buChar char="-"/>
                      </a:pPr>
                      <a:r>
                        <a:rPr sz="900" b="0" dirty="0">
                          <a:solidFill>
                            <a:srgbClr val="404040"/>
                          </a:solidFill>
                          <a:latin typeface="맑은 고딕"/>
                          <a:ea typeface="맑은 고딕"/>
                        </a:rPr>
                        <a:t>B0 </a:t>
                      </a:r>
                      <a:r>
                        <a:rPr sz="900" b="0" dirty="0" err="1">
                          <a:solidFill>
                            <a:srgbClr val="404040"/>
                          </a:solidFill>
                          <a:latin typeface="맑은 고딕"/>
                          <a:ea typeface="맑은 고딕"/>
                        </a:rPr>
                        <a:t>대비</a:t>
                      </a:r>
                      <a:r>
                        <a:rPr sz="900" b="0" dirty="0">
                          <a:solidFill>
                            <a:srgbClr val="404040"/>
                          </a:solidFill>
                          <a:latin typeface="맑은 고딕"/>
                          <a:ea typeface="맑은 고딕"/>
                        </a:rPr>
                        <a:t> </a:t>
                      </a:r>
                      <a:r>
                        <a:rPr lang="en-US" sz="900" b="0" dirty="0">
                          <a:solidFill>
                            <a:srgbClr val="404040"/>
                          </a:solidFill>
                          <a:latin typeface="맑은 고딕"/>
                          <a:ea typeface="맑은 고딕"/>
                        </a:rPr>
                        <a:t>5.7x </a:t>
                      </a:r>
                      <a:r>
                        <a:rPr lang="ko-KR" altLang="en-US" sz="900" b="1" dirty="0">
                          <a:solidFill>
                            <a:srgbClr val="2F5597"/>
                          </a:solidFill>
                          <a:latin typeface="+mn-lt"/>
                          <a:ea typeface="맑은 고딕"/>
                        </a:rPr>
                        <a:t>★</a:t>
                      </a:r>
                      <a:r>
                        <a:rPr lang="en-US" altLang="ko-KR" sz="900" b="1" dirty="0">
                          <a:solidFill>
                            <a:srgbClr val="2F5597"/>
                          </a:solidFill>
                          <a:latin typeface="+mn-lt"/>
                          <a:ea typeface="맑은 고딕"/>
                        </a:rPr>
                        <a:t>2</a:t>
                      </a:r>
                      <a:endParaRPr lang="en-US" sz="900" b="0" dirty="0">
                        <a:solidFill>
                          <a:srgbClr val="404040"/>
                        </a:solidFill>
                        <a:latin typeface="맑은 고딕"/>
                        <a:ea typeface="맑은 고딕"/>
                      </a:endParaRPr>
                    </a:p>
                    <a:p>
                      <a:pPr marL="171450" indent="-171450" algn="l">
                        <a:buFontTx/>
                        <a:buChar char="-"/>
                      </a:pPr>
                      <a:r>
                        <a:rPr lang="en-US" sz="900" b="0" dirty="0">
                          <a:solidFill>
                            <a:srgbClr val="404040"/>
                          </a:solidFill>
                          <a:latin typeface="맑은 고딕"/>
                          <a:ea typeface="맑은 고딕"/>
                        </a:rPr>
                        <a:t>B1 </a:t>
                      </a:r>
                      <a:r>
                        <a:rPr lang="ko-KR" altLang="en-US" sz="900" b="0" dirty="0">
                          <a:solidFill>
                            <a:srgbClr val="404040"/>
                          </a:solidFill>
                          <a:latin typeface="맑은 고딕"/>
                          <a:ea typeface="맑은 고딕"/>
                        </a:rPr>
                        <a:t>대비 </a:t>
                      </a:r>
                      <a:r>
                        <a:rPr lang="en-US" altLang="ko-KR" sz="900" b="0" dirty="0">
                          <a:solidFill>
                            <a:srgbClr val="404040"/>
                          </a:solidFill>
                          <a:latin typeface="맑은 고딕"/>
                          <a:ea typeface="맑은 고딕"/>
                        </a:rPr>
                        <a:t>3.07</a:t>
                      </a:r>
                      <a:endParaRPr sz="900" b="0" dirty="0">
                        <a:solidFill>
                          <a:srgbClr val="40404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1"/>
                  </a:ext>
                </a:extLst>
              </a:tr>
              <a:tr h="658368">
                <a:tc>
                  <a:txBody>
                    <a:bodyPr/>
                    <a:lstStyle/>
                    <a:p>
                      <a:pPr algn="l"/>
                      <a:r>
                        <a:rPr sz="1000" b="1">
                          <a:solidFill>
                            <a:srgbClr val="000000"/>
                          </a:solidFill>
                          <a:latin typeface="맑은 고딕"/>
                          <a:ea typeface="맑은 고딕"/>
                        </a:rPr>
                        <a:t>Q3 고부하 지연</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altLang="ko-KR" sz="1000" b="0" dirty="0">
                          <a:solidFill>
                            <a:srgbClr val="000000"/>
                          </a:solidFill>
                          <a:latin typeface="+mn-lt"/>
                          <a:ea typeface="맑은 고딕"/>
                        </a:rPr>
                        <a:t>Baseline</a:t>
                      </a:r>
                      <a:r>
                        <a:rPr sz="1000" b="0" dirty="0">
                          <a:solidFill>
                            <a:srgbClr val="000000"/>
                          </a:solidFill>
                          <a:latin typeface="맑은 고딕"/>
                          <a:ea typeface="맑은 고딕"/>
                        </a:rPr>
                        <a:t> </a:t>
                      </a:r>
                      <a:r>
                        <a:rPr sz="1000" b="0" dirty="0" err="1">
                          <a:solidFill>
                            <a:srgbClr val="000000"/>
                          </a:solidFill>
                          <a:latin typeface="맑은 고딕"/>
                          <a:ea typeface="맑은 고딕"/>
                        </a:rPr>
                        <a:t>포화</a:t>
                      </a:r>
                      <a:r>
                        <a:rPr sz="1000" b="0" dirty="0">
                          <a:solidFill>
                            <a:srgbClr val="000000"/>
                          </a:solidFill>
                          <a:latin typeface="맑은 고딕"/>
                          <a:ea typeface="맑은 고딕"/>
                        </a:rPr>
                        <a:t> </a:t>
                      </a:r>
                      <a:r>
                        <a:rPr sz="1000" b="0" dirty="0" err="1">
                          <a:solidFill>
                            <a:srgbClr val="000000"/>
                          </a:solidFill>
                          <a:latin typeface="맑은 고딕"/>
                          <a:ea typeface="맑은 고딕"/>
                        </a:rPr>
                        <a:t>부하의</a:t>
                      </a:r>
                      <a:r>
                        <a:rPr sz="1000" b="0" dirty="0">
                          <a:solidFill>
                            <a:srgbClr val="000000"/>
                          </a:solidFill>
                          <a:latin typeface="맑은 고딕"/>
                          <a:ea typeface="맑은 고딕"/>
                        </a:rPr>
                        <a:t> 90%에서 TTFT·TPOT P99</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altLang="ko-KR" sz="1000" b="0" dirty="0">
                          <a:solidFill>
                            <a:srgbClr val="000000"/>
                          </a:solidFill>
                          <a:latin typeface="+mn-lt"/>
                          <a:ea typeface="맑은 고딕"/>
                        </a:rPr>
                        <a:t>TTFT 1.89 s, </a:t>
                      </a:r>
                    </a:p>
                    <a:p>
                      <a:pPr algn="ctr"/>
                      <a:r>
                        <a:rPr lang="en-US" altLang="ko-KR" sz="1000" b="0" dirty="0">
                          <a:solidFill>
                            <a:srgbClr val="000000"/>
                          </a:solidFill>
                          <a:latin typeface="+mn-lt"/>
                          <a:ea typeface="맑은 고딕"/>
                        </a:rPr>
                        <a:t>TPOT 26.2 </a:t>
                      </a:r>
                      <a:r>
                        <a:rPr lang="en-US" altLang="ko-KR" sz="1000" b="0" dirty="0" err="1">
                          <a:solidFill>
                            <a:srgbClr val="000000"/>
                          </a:solidFill>
                          <a:latin typeface="+mn-lt"/>
                          <a:ea typeface="맑은 고딕"/>
                        </a:rPr>
                        <a:t>ms</a:t>
                      </a:r>
                      <a:r>
                        <a:rPr lang="en-US" altLang="ko-KR" sz="1000" b="0" dirty="0">
                          <a:solidFill>
                            <a:srgbClr val="000000"/>
                          </a:solidFill>
                          <a:latin typeface="+mn-lt"/>
                          <a:ea typeface="맑은 고딕"/>
                        </a:rPr>
                        <a:t> </a:t>
                      </a:r>
                      <a:endParaRPr lang="en-US"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sz="1000" b="0" dirty="0">
                          <a:solidFill>
                            <a:srgbClr val="000000"/>
                          </a:solidFill>
                          <a:latin typeface="맑은 고딕"/>
                          <a:ea typeface="맑은 고딕"/>
                        </a:rPr>
                        <a:t>TTFT 1.36 s</a:t>
                      </a:r>
                      <a:endParaRPr lang="en-US" sz="1000" b="0" dirty="0">
                        <a:solidFill>
                          <a:srgbClr val="000000"/>
                        </a:solidFill>
                        <a:latin typeface="맑은 고딕"/>
                        <a:ea typeface="맑은 고딕"/>
                      </a:endParaRPr>
                    </a:p>
                    <a:p>
                      <a:pPr algn="ctr"/>
                      <a:r>
                        <a:rPr sz="1000" b="0" dirty="0">
                          <a:solidFill>
                            <a:srgbClr val="000000"/>
                          </a:solidFill>
                          <a:latin typeface="맑은 고딕"/>
                          <a:ea typeface="맑은 고딕"/>
                        </a:rPr>
                        <a:t>TPOT 23.0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endParaRPr lang="en-US" sz="1000" b="0" dirty="0">
                        <a:solidFill>
                          <a:srgbClr val="000000"/>
                        </a:solidFill>
                        <a:latin typeface="맑은 고딕"/>
                        <a:ea typeface="맑은 고딕"/>
                      </a:endParaRPr>
                    </a:p>
                    <a:p>
                      <a:pPr algn="ctr"/>
                      <a:r>
                        <a:rPr lang="en-US" altLang="ko-KR" sz="1000" b="0" dirty="0">
                          <a:solidFill>
                            <a:srgbClr val="000000"/>
                          </a:solidFill>
                          <a:latin typeface="+mn-lt"/>
                          <a:ea typeface="맑은 고딕"/>
                        </a:rPr>
                        <a:t>(TTFT 28% </a:t>
                      </a:r>
                      <a:r>
                        <a:rPr lang="ko-KR" altLang="en-US" sz="1000" b="0" dirty="0">
                          <a:solidFill>
                            <a:srgbClr val="000000"/>
                          </a:solidFill>
                          <a:latin typeface="+mn-lt"/>
                          <a:ea typeface="맑은 고딕"/>
                        </a:rPr>
                        <a:t>감소</a:t>
                      </a:r>
                      <a:r>
                        <a:rPr lang="en-US" altLang="ko-KR" sz="1000" b="0" dirty="0">
                          <a:solidFill>
                            <a:srgbClr val="000000"/>
                          </a:solidFill>
                          <a:latin typeface="+mn-lt"/>
                          <a:ea typeface="맑은 고딕"/>
                        </a:rPr>
                        <a:t>,)</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altLang="ko-KR" sz="1050" b="1" dirty="0">
                          <a:solidFill>
                            <a:srgbClr val="000000"/>
                          </a:solidFill>
                          <a:latin typeface="+mn-lt"/>
                          <a:ea typeface="맑은 고딕"/>
                        </a:rPr>
                        <a:t>TTFT 0.83 s,  TPOT 21.1 </a:t>
                      </a:r>
                      <a:r>
                        <a:rPr lang="en-US" altLang="ko-KR" sz="1050" b="1" dirty="0" err="1">
                          <a:solidFill>
                            <a:srgbClr val="000000"/>
                          </a:solidFill>
                          <a:latin typeface="+mn-lt"/>
                          <a:ea typeface="맑은 고딕"/>
                        </a:rPr>
                        <a:t>ms</a:t>
                      </a:r>
                      <a:endParaRPr lang="en-US" altLang="ko-KR" sz="1050" b="1" dirty="0">
                        <a:solidFill>
                          <a:srgbClr val="000000"/>
                        </a:solidFill>
                        <a:latin typeface="+mn-lt"/>
                        <a:ea typeface="맑은 고딕"/>
                      </a:endParaRPr>
                    </a:p>
                    <a:p>
                      <a:pPr marL="171450" indent="-171450" algn="l">
                        <a:buFontTx/>
                        <a:buChar char="-"/>
                      </a:pPr>
                      <a:r>
                        <a:rPr lang="en-US" altLang="ko-KR" sz="1000" b="0" dirty="0">
                          <a:solidFill>
                            <a:srgbClr val="404040"/>
                          </a:solidFill>
                          <a:latin typeface="+mn-lt"/>
                          <a:ea typeface="맑은 고딕"/>
                        </a:rPr>
                        <a:t>B0 </a:t>
                      </a:r>
                      <a:r>
                        <a:rPr lang="ko-KR" altLang="en-US" sz="1000" b="0" dirty="0">
                          <a:solidFill>
                            <a:srgbClr val="404040"/>
                          </a:solidFill>
                          <a:latin typeface="+mn-lt"/>
                          <a:ea typeface="맑은 고딕"/>
                        </a:rPr>
                        <a:t>대비 </a:t>
                      </a:r>
                      <a:r>
                        <a:rPr lang="en-US" altLang="ko-KR" sz="1000" b="0" dirty="0">
                          <a:solidFill>
                            <a:srgbClr val="404040"/>
                          </a:solidFill>
                          <a:latin typeface="+mn-lt"/>
                          <a:ea typeface="맑은 고딕"/>
                        </a:rPr>
                        <a:t>TTFT 56% </a:t>
                      </a:r>
                      <a:r>
                        <a:rPr lang="ko-KR" altLang="en-US" sz="1000" b="0" dirty="0">
                          <a:solidFill>
                            <a:srgbClr val="404040"/>
                          </a:solidFill>
                          <a:latin typeface="+mn-lt"/>
                          <a:ea typeface="맑은 고딕"/>
                        </a:rPr>
                        <a:t>감소 </a:t>
                      </a:r>
                      <a:r>
                        <a:rPr lang="ko-KR" altLang="en-US" sz="1050" b="1" kern="1200" dirty="0">
                          <a:solidFill>
                            <a:srgbClr val="2F5597"/>
                          </a:solidFill>
                          <a:latin typeface="+mn-lt"/>
                          <a:ea typeface="맑은 고딕"/>
                          <a:cs typeface="+mn-cs"/>
                        </a:rPr>
                        <a:t>★</a:t>
                      </a:r>
                      <a:r>
                        <a:rPr lang="en-US" altLang="ko-KR" sz="1050" b="1" kern="1200" dirty="0">
                          <a:solidFill>
                            <a:srgbClr val="2F5597"/>
                          </a:solidFill>
                          <a:latin typeface="+mn-lt"/>
                          <a:ea typeface="맑은 고딕"/>
                          <a:cs typeface="+mn-cs"/>
                        </a:rPr>
                        <a:t>2</a:t>
                      </a:r>
                    </a:p>
                    <a:p>
                      <a:pPr marL="171450" indent="-171450" algn="l">
                        <a:buFontTx/>
                        <a:buChar char="-"/>
                      </a:pPr>
                      <a:r>
                        <a:rPr lang="en-US" altLang="ko-KR" sz="1000" b="0" dirty="0">
                          <a:solidFill>
                            <a:srgbClr val="404040"/>
                          </a:solidFill>
                          <a:latin typeface="+mn-lt"/>
                          <a:ea typeface="맑은 고딕"/>
                        </a:rPr>
                        <a:t>B1 </a:t>
                      </a:r>
                      <a:r>
                        <a:rPr lang="ko-KR" altLang="en-US" sz="1000" b="0" dirty="0">
                          <a:solidFill>
                            <a:srgbClr val="404040"/>
                          </a:solidFill>
                          <a:latin typeface="+mn-lt"/>
                          <a:ea typeface="맑은 고딕"/>
                        </a:rPr>
                        <a:t>대비 </a:t>
                      </a:r>
                      <a:r>
                        <a:rPr lang="en-US" altLang="ko-KR" sz="1000" b="0" dirty="0">
                          <a:solidFill>
                            <a:srgbClr val="404040"/>
                          </a:solidFill>
                          <a:latin typeface="+mn-lt"/>
                          <a:ea typeface="맑은 고딕"/>
                        </a:rPr>
                        <a:t>TTFT 39%  </a:t>
                      </a:r>
                      <a:r>
                        <a:rPr lang="ko-KR" altLang="en-US" sz="1000" b="0" dirty="0">
                          <a:solidFill>
                            <a:srgbClr val="404040"/>
                          </a:solidFill>
                          <a:latin typeface="+mn-lt"/>
                          <a:ea typeface="맑은 고딕"/>
                        </a:rPr>
                        <a:t>감소</a:t>
                      </a:r>
                      <a:endParaRPr sz="1000" b="1" dirty="0">
                        <a:solidFill>
                          <a:srgbClr val="2F5597"/>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lang="en-US" altLang="ko-KR" sz="1050" b="1" dirty="0">
                          <a:solidFill>
                            <a:srgbClr val="000000"/>
                          </a:solidFill>
                          <a:latin typeface="+mn-lt"/>
                          <a:ea typeface="맑은 고딕"/>
                        </a:rPr>
                        <a:t>TTFT 1.04 s,  TPOT 20.2 </a:t>
                      </a:r>
                      <a:r>
                        <a:rPr lang="en-US" altLang="ko-KR" sz="1050" b="1" dirty="0" err="1">
                          <a:solidFill>
                            <a:srgbClr val="000000"/>
                          </a:solidFill>
                          <a:latin typeface="+mn-lt"/>
                          <a:ea typeface="맑은 고딕"/>
                        </a:rPr>
                        <a:t>ms</a:t>
                      </a:r>
                      <a:endParaRPr lang="en-US" altLang="ko-KR" sz="1050" b="1" dirty="0">
                        <a:solidFill>
                          <a:srgbClr val="000000"/>
                        </a:solidFill>
                        <a:latin typeface="+mn-lt"/>
                        <a:ea typeface="맑은 고딕"/>
                      </a:endParaRPr>
                    </a:p>
                    <a:p>
                      <a:pPr marL="171450" indent="-171450" algn="l">
                        <a:buFontTx/>
                        <a:buChar char="-"/>
                      </a:pPr>
                      <a:r>
                        <a:rPr lang="en-US" altLang="ko-KR" sz="1000" b="0" dirty="0">
                          <a:solidFill>
                            <a:srgbClr val="404040"/>
                          </a:solidFill>
                          <a:latin typeface="+mn-lt"/>
                          <a:ea typeface="맑은 고딕"/>
                        </a:rPr>
                        <a:t>B0 </a:t>
                      </a:r>
                      <a:r>
                        <a:rPr lang="ko-KR" altLang="en-US" sz="1000" b="0" dirty="0">
                          <a:solidFill>
                            <a:srgbClr val="404040"/>
                          </a:solidFill>
                          <a:latin typeface="+mn-lt"/>
                          <a:ea typeface="맑은 고딕"/>
                        </a:rPr>
                        <a:t>대비 </a:t>
                      </a:r>
                      <a:r>
                        <a:rPr lang="en-US" altLang="ko-KR" sz="1000" b="0" dirty="0">
                          <a:solidFill>
                            <a:srgbClr val="404040"/>
                          </a:solidFill>
                          <a:latin typeface="+mn-lt"/>
                          <a:ea typeface="맑은 고딕"/>
                        </a:rPr>
                        <a:t>TTFT 45% </a:t>
                      </a:r>
                      <a:r>
                        <a:rPr lang="ko-KR" altLang="en-US" sz="1000" b="0" dirty="0">
                          <a:solidFill>
                            <a:srgbClr val="404040"/>
                          </a:solidFill>
                          <a:latin typeface="+mn-lt"/>
                          <a:ea typeface="맑은 고딕"/>
                        </a:rPr>
                        <a:t>감소 </a:t>
                      </a:r>
                      <a:r>
                        <a:rPr lang="ko-KR" altLang="en-US" sz="1050" b="1" kern="1200" dirty="0">
                          <a:solidFill>
                            <a:srgbClr val="2F5597"/>
                          </a:solidFill>
                          <a:latin typeface="+mn-lt"/>
                          <a:ea typeface="맑은 고딕"/>
                          <a:cs typeface="+mn-cs"/>
                        </a:rPr>
                        <a:t>★</a:t>
                      </a:r>
                      <a:r>
                        <a:rPr lang="en-US" altLang="ko-KR" sz="1050" b="1" kern="1200" dirty="0">
                          <a:solidFill>
                            <a:srgbClr val="2F5597"/>
                          </a:solidFill>
                          <a:latin typeface="+mn-lt"/>
                          <a:ea typeface="맑은 고딕"/>
                          <a:cs typeface="+mn-cs"/>
                        </a:rPr>
                        <a:t>1.5</a:t>
                      </a:r>
                    </a:p>
                    <a:p>
                      <a:pPr marL="171450" indent="-171450" algn="l">
                        <a:buFontTx/>
                        <a:buChar char="-"/>
                      </a:pPr>
                      <a:r>
                        <a:rPr lang="en-US" altLang="ko-KR" sz="1000" b="0" dirty="0">
                          <a:solidFill>
                            <a:srgbClr val="404040"/>
                          </a:solidFill>
                          <a:latin typeface="+mn-lt"/>
                          <a:ea typeface="맑은 고딕"/>
                        </a:rPr>
                        <a:t>B1 </a:t>
                      </a:r>
                      <a:r>
                        <a:rPr lang="ko-KR" altLang="en-US" sz="1000" b="0" dirty="0">
                          <a:solidFill>
                            <a:srgbClr val="404040"/>
                          </a:solidFill>
                          <a:latin typeface="+mn-lt"/>
                          <a:ea typeface="맑은 고딕"/>
                        </a:rPr>
                        <a:t>대비 </a:t>
                      </a:r>
                      <a:r>
                        <a:rPr lang="en-US" altLang="ko-KR" sz="1000" b="0" dirty="0">
                          <a:solidFill>
                            <a:srgbClr val="404040"/>
                          </a:solidFill>
                          <a:latin typeface="+mn-lt"/>
                          <a:ea typeface="맑은 고딕"/>
                        </a:rPr>
                        <a:t>TTFT 24%  </a:t>
                      </a:r>
                      <a:r>
                        <a:rPr lang="ko-KR" altLang="en-US" sz="1000" b="0" dirty="0">
                          <a:solidFill>
                            <a:srgbClr val="404040"/>
                          </a:solidFill>
                          <a:latin typeface="+mn-lt"/>
                          <a:ea typeface="맑은 고딕"/>
                        </a:rPr>
                        <a:t>감소</a:t>
                      </a:r>
                      <a:endParaRPr lang="ko-KR" altLang="en-US" sz="1000" b="1" dirty="0">
                        <a:solidFill>
                          <a:srgbClr val="2F5597"/>
                        </a:solidFill>
                        <a:latin typeface="+mn-lt"/>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658368">
                <a:tc>
                  <a:txBody>
                    <a:bodyPr/>
                    <a:lstStyle/>
                    <a:p>
                      <a:pPr algn="l"/>
                      <a:r>
                        <a:rPr sz="1000" b="1">
                          <a:solidFill>
                            <a:srgbClr val="000000"/>
                          </a:solidFill>
                          <a:latin typeface="맑은 고딕"/>
                          <a:ea typeface="맑은 고딕"/>
                        </a:rPr>
                        <a:t>Q4 확장성</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0">
                          <a:solidFill>
                            <a:srgbClr val="000000"/>
                          </a:solidFill>
                          <a:latin typeface="맑은 고딕"/>
                          <a:ea typeface="맑은 고딕"/>
                        </a:rPr>
                        <a:t>SE(N=16) = goodput 배율 ÷ 노드 배율</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1000" b="0" dirty="0">
                          <a:solidFill>
                            <a:srgbClr val="000000"/>
                          </a:solidFill>
                          <a:latin typeface="맑은 고딕"/>
                          <a:ea typeface="맑은 고딕"/>
                        </a:rPr>
                        <a:t>-</a:t>
                      </a:r>
                      <a:endParaRPr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ctr"/>
                      <a:r>
                        <a:rPr lang="en-US" sz="1000" b="0" dirty="0">
                          <a:solidFill>
                            <a:srgbClr val="000000"/>
                          </a:solidFill>
                          <a:latin typeface="맑은 고딕"/>
                          <a:ea typeface="맑은 고딕"/>
                        </a:rPr>
                        <a:t>-</a:t>
                      </a:r>
                      <a:endParaRPr sz="1000" b="0" dirty="0">
                        <a:solidFill>
                          <a:srgbClr val="000000"/>
                        </a:solidFill>
                        <a:latin typeface="맑은 고딕"/>
                        <a:ea typeface="맑은 고딕"/>
                      </a:endParaRP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1" dirty="0">
                          <a:solidFill>
                            <a:srgbClr val="000000"/>
                          </a:solidFill>
                          <a:latin typeface="맑은 고딕"/>
                          <a:ea typeface="맑은 고딕"/>
                        </a:rPr>
                        <a:t>SE 9</a:t>
                      </a:r>
                      <a:r>
                        <a:rPr lang="en-US" sz="1000" b="1" dirty="0">
                          <a:solidFill>
                            <a:srgbClr val="000000"/>
                          </a:solidFill>
                          <a:latin typeface="맑은 고딕"/>
                          <a:ea typeface="맑은 고딕"/>
                        </a:rPr>
                        <a:t>2</a:t>
                      </a:r>
                      <a:r>
                        <a:rPr sz="1000" b="1" dirty="0">
                          <a:solidFill>
                            <a:srgbClr val="000000"/>
                          </a:solidFill>
                          <a:latin typeface="맑은 고딕"/>
                          <a:ea typeface="맑은 고딕"/>
                        </a:rPr>
                        <a:t>%</a:t>
                      </a:r>
                      <a:r>
                        <a:rPr lang="en-US" sz="1000" b="1" dirty="0">
                          <a:solidFill>
                            <a:srgbClr val="000000"/>
                          </a:solidFill>
                          <a:latin typeface="맑은 고딕"/>
                          <a:ea typeface="맑은 고딕"/>
                        </a:rPr>
                        <a:t> </a:t>
                      </a:r>
                      <a:r>
                        <a:rPr sz="1000" b="1" dirty="0">
                          <a:solidFill>
                            <a:srgbClr val="2F5597"/>
                          </a:solidFill>
                          <a:latin typeface="맑은 고딕"/>
                          <a:ea typeface="맑은 고딕"/>
                        </a:rPr>
                        <a:t>★2</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tc>
                  <a:txBody>
                    <a:bodyPr/>
                    <a:lstStyle/>
                    <a:p>
                      <a:pPr algn="l"/>
                      <a:r>
                        <a:rPr sz="1000" b="1" dirty="0">
                          <a:solidFill>
                            <a:srgbClr val="000000"/>
                          </a:solidFill>
                          <a:latin typeface="맑은 고딕"/>
                          <a:ea typeface="맑은 고딕"/>
                        </a:rPr>
                        <a:t>SE 9</a:t>
                      </a:r>
                      <a:r>
                        <a:rPr lang="en-US" sz="1000" b="1" dirty="0">
                          <a:solidFill>
                            <a:srgbClr val="000000"/>
                          </a:solidFill>
                          <a:latin typeface="맑은 고딕"/>
                          <a:ea typeface="맑은 고딕"/>
                        </a:rPr>
                        <a:t>7</a:t>
                      </a:r>
                      <a:r>
                        <a:rPr sz="1000" b="1" dirty="0">
                          <a:solidFill>
                            <a:srgbClr val="000000"/>
                          </a:solidFill>
                          <a:latin typeface="맑은 고딕"/>
                          <a:ea typeface="맑은 고딕"/>
                        </a:rPr>
                        <a:t>%</a:t>
                      </a:r>
                      <a:r>
                        <a:rPr lang="en-US" sz="1000" b="1" dirty="0">
                          <a:solidFill>
                            <a:srgbClr val="000000"/>
                          </a:solidFill>
                          <a:latin typeface="맑은 고딕"/>
                          <a:ea typeface="맑은 고딕"/>
                        </a:rPr>
                        <a:t> </a:t>
                      </a:r>
                      <a:r>
                        <a:rPr sz="1000" b="1" dirty="0">
                          <a:solidFill>
                            <a:srgbClr val="2F5597"/>
                          </a:solidFill>
                          <a:latin typeface="맑은 고딕"/>
                          <a:ea typeface="맑은 고딕"/>
                        </a:rPr>
                        <a:t>★3</a:t>
                      </a:r>
                    </a:p>
                  </a:txBody>
                  <a:tcPr marL="54864" marR="54864" marT="22860" marB="22860" anchor="ct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bl>
          </a:graphicData>
        </a:graphic>
      </p:graphicFrame>
      <p:sp>
        <p:nvSpPr>
          <p:cNvPr id="12" name="실행 단추: 앞으로 또는 다음으로 이동 11">
            <a:hlinkClick r:id="rId3" action="ppaction://hlinksldjump" highlightClick="1"/>
            <a:extLst>
              <a:ext uri="{FF2B5EF4-FFF2-40B4-BE49-F238E27FC236}">
                <a16:creationId xmlns:a16="http://schemas.microsoft.com/office/drawing/2014/main" id="{35176BB7-3D41-4E1E-AAC6-E186021E5D33}"/>
              </a:ext>
            </a:extLst>
          </p:cNvPr>
          <p:cNvSpPr/>
          <p:nvPr/>
        </p:nvSpPr>
        <p:spPr>
          <a:xfrm>
            <a:off x="11444531" y="210304"/>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subtitle">
            <a:extLst>
              <a:ext uri="{FF2B5EF4-FFF2-40B4-BE49-F238E27FC236}">
                <a16:creationId xmlns:a16="http://schemas.microsoft.com/office/drawing/2014/main" id="{FA851C76-38D3-4F31-9333-DD65D9CD1AC4}"/>
              </a:ext>
            </a:extLst>
          </p:cNvPr>
          <p:cNvSpPr txBox="1"/>
          <p:nvPr/>
        </p:nvSpPr>
        <p:spPr>
          <a:xfrm>
            <a:off x="10281685" y="234420"/>
            <a:ext cx="1105786" cy="243143"/>
          </a:xfrm>
          <a:prstGeom prst="rect">
            <a:avLst/>
          </a:prstGeom>
          <a:noFill/>
        </p:spPr>
        <p:txBody>
          <a:bodyPr wrap="square" lIns="73152" tIns="36576" rIns="73152" bIns="36576" anchor="t">
            <a:spAutoFit/>
          </a:bodyPr>
          <a:lstStyle/>
          <a:p>
            <a:pPr>
              <a:spcAft>
                <a:spcPts val="250"/>
              </a:spcAft>
            </a:pPr>
            <a:r>
              <a:rPr lang="ko-KR" altLang="en-US" sz="1100" b="0" dirty="0">
                <a:solidFill>
                  <a:srgbClr val="404040"/>
                </a:solidFill>
                <a:latin typeface="맑은 고딕"/>
                <a:ea typeface="맑은 고딕"/>
              </a:rPr>
              <a:t>시나리오 상세</a:t>
            </a:r>
            <a:endParaRPr lang="en-US" altLang="ko-KR" sz="1100" b="0" dirty="0">
              <a:latin typeface="맑은 고딕"/>
              <a:ea typeface="맑은 고딕"/>
            </a:endParaRPr>
          </a:p>
        </p:txBody>
      </p:sp>
      <p:sp>
        <p:nvSpPr>
          <p:cNvPr id="14" name="실행 단추: 앞으로 또는 다음으로 이동 13">
            <a:hlinkClick r:id="rId4" action="ppaction://hlinksldjump" highlightClick="1"/>
            <a:extLst>
              <a:ext uri="{FF2B5EF4-FFF2-40B4-BE49-F238E27FC236}">
                <a16:creationId xmlns:a16="http://schemas.microsoft.com/office/drawing/2014/main" id="{01C90660-3F10-43EE-87C3-AA88D933D53B}"/>
              </a:ext>
            </a:extLst>
          </p:cNvPr>
          <p:cNvSpPr/>
          <p:nvPr/>
        </p:nvSpPr>
        <p:spPr>
          <a:xfrm>
            <a:off x="11444531" y="577100"/>
            <a:ext cx="313661" cy="2890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subtitle">
            <a:extLst>
              <a:ext uri="{FF2B5EF4-FFF2-40B4-BE49-F238E27FC236}">
                <a16:creationId xmlns:a16="http://schemas.microsoft.com/office/drawing/2014/main" id="{A5B3735A-F2E9-46EA-8E85-9E6DBBFB4D81}"/>
              </a:ext>
            </a:extLst>
          </p:cNvPr>
          <p:cNvSpPr txBox="1"/>
          <p:nvPr/>
        </p:nvSpPr>
        <p:spPr>
          <a:xfrm>
            <a:off x="10281685" y="601216"/>
            <a:ext cx="1105786" cy="243143"/>
          </a:xfrm>
          <a:prstGeom prst="rect">
            <a:avLst/>
          </a:prstGeom>
          <a:noFill/>
        </p:spPr>
        <p:txBody>
          <a:bodyPr wrap="square" lIns="73152" tIns="36576" rIns="73152" bIns="36576" anchor="t">
            <a:spAutoFit/>
          </a:bodyPr>
          <a:lstStyle/>
          <a:p>
            <a:pPr>
              <a:spcAft>
                <a:spcPts val="250"/>
              </a:spcAft>
            </a:pPr>
            <a:r>
              <a:rPr lang="en-US" altLang="ko-KR" sz="1100" b="0" dirty="0">
                <a:solidFill>
                  <a:srgbClr val="404040"/>
                </a:solidFill>
                <a:latin typeface="맑은 고딕"/>
                <a:ea typeface="맑은 고딕"/>
              </a:rPr>
              <a:t>DP </a:t>
            </a:r>
            <a:r>
              <a:rPr lang="ko-KR" altLang="en-US" sz="1100" b="0" dirty="0">
                <a:solidFill>
                  <a:srgbClr val="404040"/>
                </a:solidFill>
                <a:latin typeface="맑은 고딕"/>
                <a:ea typeface="맑은 고딕"/>
              </a:rPr>
              <a:t>특화 구간</a:t>
            </a:r>
            <a:endParaRPr lang="en-US" altLang="ko-KR" sz="1100" b="0" dirty="0">
              <a:latin typeface="맑은 고딕"/>
              <a:ea typeface="맑은 고딕"/>
            </a:endParaRPr>
          </a:p>
        </p:txBody>
      </p:sp>
      <p:sp>
        <p:nvSpPr>
          <p:cNvPr id="16" name="실행 단추: 뒤로 또는 앞으로 이동 15">
            <a:hlinkClick r:id="rId5" action="ppaction://hlinksldjump" highlightClick="1"/>
            <a:extLst>
              <a:ext uri="{FF2B5EF4-FFF2-40B4-BE49-F238E27FC236}">
                <a16:creationId xmlns:a16="http://schemas.microsoft.com/office/drawing/2014/main" id="{6C62E329-AC95-421D-80A4-066174CAAFF9}"/>
              </a:ext>
            </a:extLst>
          </p:cNvPr>
          <p:cNvSpPr/>
          <p:nvPr/>
        </p:nvSpPr>
        <p:spPr>
          <a:xfrm>
            <a:off x="7640706" y="264628"/>
            <a:ext cx="313661" cy="306331"/>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실행 단추: 앞으로 또는 다음으로 이동 4">
            <a:hlinkClick r:id="rId6" action="ppaction://hlinksldjump" highlightClick="1"/>
            <a:extLst>
              <a:ext uri="{FF2B5EF4-FFF2-40B4-BE49-F238E27FC236}">
                <a16:creationId xmlns:a16="http://schemas.microsoft.com/office/drawing/2014/main" id="{E84BAF67-7E05-4986-B3F5-CF74AEA81BD1}"/>
              </a:ext>
            </a:extLst>
          </p:cNvPr>
          <p:cNvSpPr/>
          <p:nvPr/>
        </p:nvSpPr>
        <p:spPr>
          <a:xfrm>
            <a:off x="8922259" y="286541"/>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subtitle">
            <a:extLst>
              <a:ext uri="{FF2B5EF4-FFF2-40B4-BE49-F238E27FC236}">
                <a16:creationId xmlns:a16="http://schemas.microsoft.com/office/drawing/2014/main" id="{AA4ADF57-134F-49EA-951D-6C026B55B559}"/>
              </a:ext>
            </a:extLst>
          </p:cNvPr>
          <p:cNvSpPr txBox="1"/>
          <p:nvPr/>
        </p:nvSpPr>
        <p:spPr>
          <a:xfrm>
            <a:off x="8533544" y="274985"/>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QA1 </a:t>
            </a:r>
            <a:endParaRPr lang="en-US" altLang="ko-KR" sz="1100" b="0" dirty="0">
              <a:latin typeface="맑은 고딕"/>
              <a:ea typeface="맑은 고딕"/>
            </a:endParaRPr>
          </a:p>
        </p:txBody>
      </p:sp>
      <p:sp>
        <p:nvSpPr>
          <p:cNvPr id="19" name="subtitle">
            <a:extLst>
              <a:ext uri="{FF2B5EF4-FFF2-40B4-BE49-F238E27FC236}">
                <a16:creationId xmlns:a16="http://schemas.microsoft.com/office/drawing/2014/main" id="{AA4ADF57-134F-49EA-951D-6C026B55B559}"/>
              </a:ext>
            </a:extLst>
          </p:cNvPr>
          <p:cNvSpPr txBox="1"/>
          <p:nvPr/>
        </p:nvSpPr>
        <p:spPr>
          <a:xfrm>
            <a:off x="8533544" y="493997"/>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QA2 </a:t>
            </a:r>
            <a:endParaRPr lang="en-US" altLang="ko-KR" sz="1100" b="0" dirty="0">
              <a:latin typeface="맑은 고딕"/>
              <a:ea typeface="맑은 고딕"/>
            </a:endParaRPr>
          </a:p>
        </p:txBody>
      </p:sp>
      <p:sp>
        <p:nvSpPr>
          <p:cNvPr id="20" name="subtitle">
            <a:extLst>
              <a:ext uri="{FF2B5EF4-FFF2-40B4-BE49-F238E27FC236}">
                <a16:creationId xmlns:a16="http://schemas.microsoft.com/office/drawing/2014/main" id="{AA4ADF57-134F-49EA-951D-6C026B55B559}"/>
              </a:ext>
            </a:extLst>
          </p:cNvPr>
          <p:cNvSpPr txBox="1"/>
          <p:nvPr/>
        </p:nvSpPr>
        <p:spPr>
          <a:xfrm>
            <a:off x="9215373" y="291871"/>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QA3 </a:t>
            </a:r>
            <a:endParaRPr lang="en-US" altLang="ko-KR" sz="1100" b="0" dirty="0">
              <a:latin typeface="맑은 고딕"/>
              <a:ea typeface="맑은 고딕"/>
            </a:endParaRPr>
          </a:p>
        </p:txBody>
      </p:sp>
      <p:sp>
        <p:nvSpPr>
          <p:cNvPr id="21" name="subtitle">
            <a:extLst>
              <a:ext uri="{FF2B5EF4-FFF2-40B4-BE49-F238E27FC236}">
                <a16:creationId xmlns:a16="http://schemas.microsoft.com/office/drawing/2014/main" id="{AA4ADF57-134F-49EA-951D-6C026B55B559}"/>
              </a:ext>
            </a:extLst>
          </p:cNvPr>
          <p:cNvSpPr txBox="1"/>
          <p:nvPr/>
        </p:nvSpPr>
        <p:spPr>
          <a:xfrm>
            <a:off x="9215373" y="483639"/>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QA4 </a:t>
            </a:r>
            <a:endParaRPr lang="en-US" altLang="ko-KR" sz="1100" b="0" dirty="0">
              <a:latin typeface="맑은 고딕"/>
              <a:ea typeface="맑은 고딕"/>
            </a:endParaRPr>
          </a:p>
        </p:txBody>
      </p:sp>
      <p:sp>
        <p:nvSpPr>
          <p:cNvPr id="22" name="subtitle">
            <a:extLst>
              <a:ext uri="{FF2B5EF4-FFF2-40B4-BE49-F238E27FC236}">
                <a16:creationId xmlns:a16="http://schemas.microsoft.com/office/drawing/2014/main" id="{AA4ADF57-134F-49EA-951D-6C026B55B559}"/>
              </a:ext>
            </a:extLst>
          </p:cNvPr>
          <p:cNvSpPr txBox="1"/>
          <p:nvPr/>
        </p:nvSpPr>
        <p:spPr>
          <a:xfrm>
            <a:off x="9215373" y="714740"/>
            <a:ext cx="455150" cy="243143"/>
          </a:xfrm>
          <a:prstGeom prst="rect">
            <a:avLst/>
          </a:prstGeom>
          <a:noFill/>
        </p:spPr>
        <p:txBody>
          <a:bodyPr wrap="square" lIns="73152" tIns="36576" rIns="73152" bIns="36576" anchor="t">
            <a:spAutoFit/>
          </a:bodyPr>
          <a:lstStyle/>
          <a:p>
            <a:pPr>
              <a:spcAft>
                <a:spcPts val="250"/>
              </a:spcAft>
            </a:pPr>
            <a:r>
              <a:rPr lang="en-US" altLang="ko-KR" sz="1100" dirty="0">
                <a:solidFill>
                  <a:srgbClr val="404040"/>
                </a:solidFill>
                <a:latin typeface="맑은 고딕"/>
                <a:ea typeface="맑은 고딕"/>
              </a:rPr>
              <a:t>QA5 </a:t>
            </a:r>
            <a:endParaRPr lang="en-US" altLang="ko-KR" sz="1100" b="0" dirty="0">
              <a:latin typeface="맑은 고딕"/>
              <a:ea typeface="맑은 고딕"/>
            </a:endParaRPr>
          </a:p>
        </p:txBody>
      </p:sp>
      <p:sp>
        <p:nvSpPr>
          <p:cNvPr id="23" name="subtitle">
            <a:extLst>
              <a:ext uri="{FF2B5EF4-FFF2-40B4-BE49-F238E27FC236}">
                <a16:creationId xmlns:a16="http://schemas.microsoft.com/office/drawing/2014/main" id="{AA4ADF57-134F-49EA-951D-6C026B55B559}"/>
              </a:ext>
            </a:extLst>
          </p:cNvPr>
          <p:cNvSpPr txBox="1"/>
          <p:nvPr/>
        </p:nvSpPr>
        <p:spPr>
          <a:xfrm>
            <a:off x="8899811" y="10191"/>
            <a:ext cx="918512" cy="243143"/>
          </a:xfrm>
          <a:prstGeom prst="rect">
            <a:avLst/>
          </a:prstGeom>
          <a:noFill/>
        </p:spPr>
        <p:txBody>
          <a:bodyPr wrap="square" lIns="73152" tIns="36576" rIns="73152" bIns="36576" anchor="t">
            <a:spAutoFit/>
          </a:bodyPr>
          <a:lstStyle/>
          <a:p>
            <a:pPr>
              <a:spcAft>
                <a:spcPts val="250"/>
              </a:spcAft>
            </a:pPr>
            <a:r>
              <a:rPr lang="ko-KR" altLang="en-US" sz="1100" b="0" dirty="0">
                <a:latin typeface="맑은 고딕"/>
                <a:ea typeface="맑은 고딕"/>
              </a:rPr>
              <a:t>평가기준</a:t>
            </a:r>
            <a:endParaRPr lang="en-US" altLang="ko-KR" sz="1100" b="0" dirty="0">
              <a:latin typeface="맑은 고딕"/>
              <a:ea typeface="맑은 고딕"/>
            </a:endParaRPr>
          </a:p>
        </p:txBody>
      </p:sp>
      <p:sp>
        <p:nvSpPr>
          <p:cNvPr id="24" name="실행 단추: 앞으로 또는 다음으로 이동 4">
            <a:hlinkClick r:id="rId7" action="ppaction://hlinksldjump" highlightClick="1"/>
            <a:extLst>
              <a:ext uri="{FF2B5EF4-FFF2-40B4-BE49-F238E27FC236}">
                <a16:creationId xmlns:a16="http://schemas.microsoft.com/office/drawing/2014/main" id="{E84BAF67-7E05-4986-B3F5-CF74AEA81BD1}"/>
              </a:ext>
            </a:extLst>
          </p:cNvPr>
          <p:cNvSpPr/>
          <p:nvPr/>
        </p:nvSpPr>
        <p:spPr>
          <a:xfrm>
            <a:off x="8922259" y="544743"/>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실행 단추: 앞으로 또는 다음으로 이동 4">
            <a:hlinkClick r:id="rId8" action="ppaction://hlinksldjump" highlightClick="1"/>
            <a:extLst>
              <a:ext uri="{FF2B5EF4-FFF2-40B4-BE49-F238E27FC236}">
                <a16:creationId xmlns:a16="http://schemas.microsoft.com/office/drawing/2014/main" id="{E84BAF67-7E05-4986-B3F5-CF74AEA81BD1}"/>
              </a:ext>
            </a:extLst>
          </p:cNvPr>
          <p:cNvSpPr/>
          <p:nvPr/>
        </p:nvSpPr>
        <p:spPr>
          <a:xfrm>
            <a:off x="9604088" y="279949"/>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실행 단추: 앞으로 또는 다음으로 이동 4">
            <a:hlinkClick r:id="rId9" action="ppaction://hlinksldjump" highlightClick="1"/>
            <a:extLst>
              <a:ext uri="{FF2B5EF4-FFF2-40B4-BE49-F238E27FC236}">
                <a16:creationId xmlns:a16="http://schemas.microsoft.com/office/drawing/2014/main" id="{E84BAF67-7E05-4986-B3F5-CF74AEA81BD1}"/>
              </a:ext>
            </a:extLst>
          </p:cNvPr>
          <p:cNvSpPr/>
          <p:nvPr/>
        </p:nvSpPr>
        <p:spPr>
          <a:xfrm>
            <a:off x="9604088" y="51195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실행 단추: 앞으로 또는 다음으로 이동 4">
            <a:hlinkClick r:id="rId10" action="ppaction://hlinksldjump" highlightClick="1"/>
            <a:extLst>
              <a:ext uri="{FF2B5EF4-FFF2-40B4-BE49-F238E27FC236}">
                <a16:creationId xmlns:a16="http://schemas.microsoft.com/office/drawing/2014/main" id="{E84BAF67-7E05-4986-B3F5-CF74AEA81BD1}"/>
              </a:ext>
            </a:extLst>
          </p:cNvPr>
          <p:cNvSpPr/>
          <p:nvPr/>
        </p:nvSpPr>
        <p:spPr>
          <a:xfrm>
            <a:off x="9604088" y="743548"/>
            <a:ext cx="214235" cy="23891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메모리 수요 급증과 고객 요구 변화</a:t>
            </a:r>
          </a:p>
        </p:txBody>
      </p:sp>
      <p:sp>
        <p:nvSpPr>
          <p:cNvPr id="75" name="직사각형 74"/>
          <p:cNvSpPr/>
          <p:nvPr/>
        </p:nvSpPr>
        <p:spPr>
          <a:xfrm>
            <a:off x="1089957"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Agentic AI</a:t>
            </a:r>
            <a:r>
              <a:rPr lang="ko-KR" altLang="en-US" sz="1400" b="1" dirty="0">
                <a:latin typeface="+mj-ea"/>
                <a:ea typeface="+mj-ea"/>
              </a:rPr>
              <a:t> 확산과 워크로드 변화</a:t>
            </a:r>
          </a:p>
        </p:txBody>
      </p:sp>
      <p:sp>
        <p:nvSpPr>
          <p:cNvPr id="55" name="Text 46">
            <a:extLst>
              <a:ext uri="{FF2B5EF4-FFF2-40B4-BE49-F238E27FC236}">
                <a16:creationId xmlns:a16="http://schemas.microsoft.com/office/drawing/2014/main" id="{C8A28DF0-ABCC-48F5-9ED9-DE4811816B18}"/>
              </a:ext>
            </a:extLst>
          </p:cNvPr>
          <p:cNvSpPr/>
          <p:nvPr/>
        </p:nvSpPr>
        <p:spPr>
          <a:xfrm>
            <a:off x="6328664" y="162215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en-US" sz="1200" b="1" dirty="0" err="1">
                <a:solidFill>
                  <a:srgbClr val="222222"/>
                </a:solidFill>
                <a:latin typeface="+mj-ea"/>
                <a:ea typeface="+mj-ea"/>
                <a:cs typeface="Noto Sans KR" pitchFamily="34" charset="-120"/>
              </a:rPr>
              <a:t>수요</a:t>
            </a:r>
            <a:r>
              <a:rPr lang="en-US" sz="1200" b="1" dirty="0">
                <a:solidFill>
                  <a:srgbClr val="222222"/>
                </a:solidFill>
                <a:latin typeface="+mj-ea"/>
                <a:ea typeface="+mj-ea"/>
                <a:cs typeface="Noto Sans KR" pitchFamily="34" charset="-120"/>
              </a:rPr>
              <a:t> 급증 → 시장 규모·가격 상승</a:t>
            </a:r>
            <a:endParaRPr lang="en-US" sz="1200" b="1" dirty="0">
              <a:latin typeface="+mj-ea"/>
              <a:ea typeface="+mj-ea"/>
            </a:endParaRPr>
          </a:p>
        </p:txBody>
      </p:sp>
      <p:sp>
        <p:nvSpPr>
          <p:cNvPr id="85" name="Text 72">
            <a:extLst>
              <a:ext uri="{FF2B5EF4-FFF2-40B4-BE49-F238E27FC236}">
                <a16:creationId xmlns:a16="http://schemas.microsoft.com/office/drawing/2014/main" id="{D907F967-3823-4F1E-8786-56273222550E}"/>
              </a:ext>
            </a:extLst>
          </p:cNvPr>
          <p:cNvSpPr/>
          <p:nvPr/>
        </p:nvSpPr>
        <p:spPr>
          <a:xfrm>
            <a:off x="6426432" y="3315595"/>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대규모 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4180575"/>
            <a:ext cx="5389372" cy="256480"/>
          </a:xfrm>
          <a:prstGeom prst="rect">
            <a:avLst/>
          </a:prstGeom>
          <a:noFill/>
          <a:ln/>
        </p:spPr>
        <p:txBody>
          <a:bodyPr wrap="square" lIns="0" tIns="0" rIns="0" bIns="0" rtlCol="0" anchor="t">
            <a:noAutofit/>
          </a:bodyPr>
          <a:lstStyle/>
          <a:p>
            <a:pPr>
              <a:lnSpc>
                <a:spcPts val="1820"/>
              </a:lnSpc>
            </a:pPr>
            <a:r>
              <a:rPr lang="ko-KR" altLang="en-US" sz="1200" dirty="0">
                <a:latin typeface="+mj-ea"/>
              </a:rPr>
              <a:t>■ </a:t>
            </a:r>
            <a:r>
              <a:rPr lang="ko-KR" altLang="en-US" sz="1200" b="1" dirty="0">
                <a:solidFill>
                  <a:srgbClr val="222222"/>
                </a:solidFill>
                <a:latin typeface="+mj-ea"/>
                <a:ea typeface="+mj-ea"/>
              </a:rPr>
              <a:t>비싸고 부족한 </a:t>
            </a:r>
            <a:r>
              <a:rPr lang="en-US" altLang="ko-KR" sz="1200" b="1" dirty="0">
                <a:solidFill>
                  <a:srgbClr val="222222"/>
                </a:solidFill>
                <a:latin typeface="+mj-ea"/>
                <a:ea typeface="+mj-ea"/>
              </a:rPr>
              <a:t>HBM → </a:t>
            </a:r>
            <a:r>
              <a:rPr lang="ko-KR" altLang="en-US" sz="1200" b="1" dirty="0">
                <a:solidFill>
                  <a:srgbClr val="222222"/>
                </a:solidFill>
                <a:latin typeface="+mj-ea"/>
                <a:ea typeface="+mj-ea"/>
              </a:rPr>
              <a:t>고객 수요가 용도별로 분화</a:t>
            </a:r>
            <a:r>
              <a:rPr lang="en-US" altLang="ko-KR" sz="1200" b="1" dirty="0">
                <a:solidFill>
                  <a:srgbClr val="222222"/>
                </a:solidFill>
                <a:latin typeface="+mj-ea"/>
                <a:ea typeface="+mj-ea"/>
              </a:rPr>
              <a:t>, </a:t>
            </a:r>
            <a:r>
              <a:rPr lang="ko-KR" altLang="en-US" sz="1200" b="1" dirty="0">
                <a:solidFill>
                  <a:srgbClr val="222222"/>
                </a:solidFill>
                <a:latin typeface="+mj-ea"/>
                <a:ea typeface="+mj-ea"/>
              </a:rPr>
              <a:t>신규 시장 성장</a:t>
            </a:r>
          </a:p>
          <a:p>
            <a:pPr>
              <a:lnSpc>
                <a:spcPts val="1820"/>
              </a:lnSpc>
            </a:pPr>
            <a:endParaRPr lang="en-US" sz="1200" b="1" dirty="0">
              <a:latin typeface="+mj-ea"/>
              <a:ea typeface="+mj-ea"/>
            </a:endParaRPr>
          </a:p>
        </p:txBody>
      </p:sp>
      <p:sp>
        <p:nvSpPr>
          <p:cNvPr id="88" name="Shape 75">
            <a:extLst>
              <a:ext uri="{FF2B5EF4-FFF2-40B4-BE49-F238E27FC236}">
                <a16:creationId xmlns:a16="http://schemas.microsoft.com/office/drawing/2014/main" id="{77C67412-091C-43CD-9077-F2619A58DD96}"/>
              </a:ext>
            </a:extLst>
          </p:cNvPr>
          <p:cNvSpPr/>
          <p:nvPr/>
        </p:nvSpPr>
        <p:spPr>
          <a:xfrm>
            <a:off x="6407150" y="4513161"/>
            <a:ext cx="5232400" cy="1447403"/>
          </a:xfrm>
          <a:prstGeom prst="roundRect">
            <a:avLst>
              <a:gd name="adj" fmla="val 6142"/>
            </a:avLst>
          </a:prstGeom>
          <a:solidFill>
            <a:srgbClr val="F4F7FB"/>
          </a:solidFill>
          <a:ln/>
        </p:spPr>
      </p:sp>
      <p:sp>
        <p:nvSpPr>
          <p:cNvPr id="89" name="Text 76">
            <a:extLst>
              <a:ext uri="{FF2B5EF4-FFF2-40B4-BE49-F238E27FC236}">
                <a16:creationId xmlns:a16="http://schemas.microsoft.com/office/drawing/2014/main" id="{4FB01726-B58B-4757-A1D3-60F1FA346A6D}"/>
              </a:ext>
            </a:extLst>
          </p:cNvPr>
          <p:cNvSpPr/>
          <p:nvPr/>
        </p:nvSpPr>
        <p:spPr>
          <a:xfrm>
            <a:off x="6502400" y="4570311"/>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00" b="1" dirty="0" err="1">
                <a:solidFill>
                  <a:srgbClr val="222222"/>
                </a:solidFill>
                <a:latin typeface="+mj-ea"/>
                <a:ea typeface="+mj-ea"/>
                <a:cs typeface="Noto Sans KR" pitchFamily="34" charset="-120"/>
              </a:rPr>
              <a:t>cHBM</a:t>
            </a:r>
            <a:r>
              <a:rPr lang="en-US" sz="1000" b="1" dirty="0">
                <a:solidFill>
                  <a:srgbClr val="222222"/>
                </a:solidFill>
                <a:latin typeface="+mj-ea"/>
                <a:ea typeface="+mj-ea"/>
                <a:cs typeface="Noto Sans KR" pitchFamily="34" charset="-120"/>
              </a:rPr>
              <a:t>(Custom HBM)</a:t>
            </a:r>
            <a:endParaRPr lang="en-US" sz="1000" dirty="0">
              <a:latin typeface="+mj-ea"/>
              <a:ea typeface="+mj-ea"/>
            </a:endParaRPr>
          </a:p>
        </p:txBody>
      </p:sp>
      <p:sp>
        <p:nvSpPr>
          <p:cNvPr id="90" name="Text 77">
            <a:extLst>
              <a:ext uri="{FF2B5EF4-FFF2-40B4-BE49-F238E27FC236}">
                <a16:creationId xmlns:a16="http://schemas.microsoft.com/office/drawing/2014/main" id="{28FF1791-DF29-457E-B507-081E035A94F3}"/>
              </a:ext>
            </a:extLst>
          </p:cNvPr>
          <p:cNvSpPr/>
          <p:nvPr/>
        </p:nvSpPr>
        <p:spPr>
          <a:xfrm>
            <a:off x="8147050" y="4589361"/>
            <a:ext cx="3505708" cy="223441"/>
          </a:xfrm>
          <a:prstGeom prst="rect">
            <a:avLst/>
          </a:prstGeom>
          <a:noFill/>
          <a:ln/>
        </p:spPr>
        <p:txBody>
          <a:bodyPr wrap="square" lIns="0" tIns="0" rIns="0" bIns="0" rtlCol="0" anchor="t">
            <a:normAutofit/>
          </a:bodyPr>
          <a:lstStyle/>
          <a:p>
            <a:pPr>
              <a:lnSpc>
                <a:spcPts val="1560"/>
              </a:lnSpc>
            </a:pPr>
            <a:r>
              <a:rPr lang="en-US" altLang="ko-KR" sz="1050" dirty="0">
                <a:latin typeface="+mj-ea"/>
                <a:ea typeface="+mj-ea"/>
              </a:rPr>
              <a:t>HBM Base die</a:t>
            </a:r>
            <a:r>
              <a:rPr lang="ko-KR" altLang="en-US" sz="1050" dirty="0">
                <a:latin typeface="+mj-ea"/>
                <a:ea typeface="+mj-ea"/>
              </a:rPr>
              <a:t>에 고객 특화 </a:t>
            </a:r>
            <a:r>
              <a:rPr lang="ko-KR" altLang="en-US" sz="1050" dirty="0" err="1">
                <a:latin typeface="+mj-ea"/>
                <a:ea typeface="+mj-ea"/>
              </a:rPr>
              <a:t>로직</a:t>
            </a:r>
            <a:endParaRPr lang="en-US" sz="1050" dirty="0">
              <a:latin typeface="+mj-ea"/>
              <a:ea typeface="+mj-ea"/>
            </a:endParaRPr>
          </a:p>
        </p:txBody>
      </p:sp>
      <p:sp>
        <p:nvSpPr>
          <p:cNvPr id="91" name="Text 78">
            <a:extLst>
              <a:ext uri="{FF2B5EF4-FFF2-40B4-BE49-F238E27FC236}">
                <a16:creationId xmlns:a16="http://schemas.microsoft.com/office/drawing/2014/main" id="{D33EC04A-7834-4B6D-B95F-F1C9D1C05C05}"/>
              </a:ext>
            </a:extLst>
          </p:cNvPr>
          <p:cNvSpPr/>
          <p:nvPr/>
        </p:nvSpPr>
        <p:spPr>
          <a:xfrm>
            <a:off x="6502400" y="4844551"/>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HBF</a:t>
            </a:r>
            <a:endParaRPr lang="en-US" sz="1050" dirty="0">
              <a:latin typeface="+mj-ea"/>
              <a:ea typeface="+mj-ea"/>
            </a:endParaRPr>
          </a:p>
        </p:txBody>
      </p:sp>
      <mc:AlternateContent xmlns:mc="http://schemas.openxmlformats.org/markup-compatibility/2006" xmlns:a14="http://schemas.microsoft.com/office/drawing/2010/main">
        <mc:Choice Requires="a14">
          <p:sp>
            <p:nvSpPr>
              <p:cNvPr id="92" name="Text 79">
                <a:extLst>
                  <a:ext uri="{FF2B5EF4-FFF2-40B4-BE49-F238E27FC236}">
                    <a16:creationId xmlns:a16="http://schemas.microsoft.com/office/drawing/2014/main" id="{675313DF-148E-4AB0-8939-560DC9805112}"/>
                  </a:ext>
                </a:extLst>
              </p:cNvPr>
              <p:cNvSpPr/>
              <p:nvPr/>
            </p:nvSpPr>
            <p:spPr>
              <a:xfrm>
                <a:off x="8147050" y="4863601"/>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HBM</m:t>
                      </m:r>
                      <m:r>
                        <m:rPr>
                          <m:nor/>
                        </m:rPr>
                        <a:rPr lang="en-US" altLang="ko-KR" sz="1050" dirty="0">
                          <a:solidFill>
                            <a:srgbClr val="222222"/>
                          </a:solidFill>
                          <a:latin typeface="+mj-ea"/>
                          <a:cs typeface="Noto Sans KR" pitchFamily="34" charset="-120"/>
                        </a:rPr>
                        <m:t>급</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읽기</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대역폭</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용량</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약</m:t>
                      </m:r>
                      <m:r>
                        <m:rPr>
                          <m:nor/>
                        </m:rPr>
                        <a:rPr lang="en-US" altLang="ko-KR" sz="1050" dirty="0">
                          <a:solidFill>
                            <a:srgbClr val="222222"/>
                          </a:solidFill>
                          <a:latin typeface="+mj-ea"/>
                          <a:cs typeface="Noto Sans KR" pitchFamily="34" charset="-120"/>
                        </a:rPr>
                        <m:t> 10</m:t>
                      </m:r>
                      <m:r>
                        <m:rPr>
                          <m:nor/>
                        </m:rPr>
                        <a:rPr lang="en-US" altLang="ko-KR" sz="1050" dirty="0">
                          <a:solidFill>
                            <a:srgbClr val="222222"/>
                          </a:solidFill>
                          <a:latin typeface="+mj-ea"/>
                          <a:cs typeface="Noto Sans KR" pitchFamily="34" charset="-120"/>
                        </a:rPr>
                        <m:t>배</m:t>
                      </m:r>
                      <m:r>
                        <m:rPr>
                          <m:nor/>
                        </m:rPr>
                        <a:rPr lang="en-US" altLang="ko-KR" sz="1050" dirty="0">
                          <a:solidFill>
                            <a:srgbClr val="222222"/>
                          </a:solidFill>
                          <a:latin typeface="+mj-ea"/>
                          <a:cs typeface="Noto Sans KR" pitchFamily="34" charset="-120"/>
                        </a:rPr>
                        <m:t> </m:t>
                      </m:r>
                    </m:oMath>
                  </m:oMathPara>
                </a14:m>
                <a:endParaRPr lang="en-US" sz="1050" dirty="0">
                  <a:latin typeface="+mj-ea"/>
                  <a:ea typeface="+mj-ea"/>
                </a:endParaRPr>
              </a:p>
            </p:txBody>
          </p:sp>
        </mc:Choice>
        <mc:Fallback xmlns="">
          <p:sp>
            <p:nvSpPr>
              <p:cNvPr id="92" name="Text 79">
                <a:extLst>
                  <a:ext uri="{FF2B5EF4-FFF2-40B4-BE49-F238E27FC236}">
                    <a16:creationId xmlns:a16="http://schemas.microsoft.com/office/drawing/2014/main" id="{675313DF-148E-4AB0-8939-560DC9805112}"/>
                  </a:ext>
                </a:extLst>
              </p:cNvPr>
              <p:cNvSpPr>
                <a:spLocks noRot="1" noChangeAspect="1" noMove="1" noResize="1" noEditPoints="1" noAdjustHandles="1" noChangeArrowheads="1" noChangeShapeType="1" noTextEdit="1"/>
              </p:cNvSpPr>
              <p:nvPr/>
            </p:nvSpPr>
            <p:spPr>
              <a:xfrm>
                <a:off x="8147050" y="4863601"/>
                <a:ext cx="3505708" cy="223441"/>
              </a:xfrm>
              <a:prstGeom prst="rect">
                <a:avLst/>
              </a:prstGeom>
              <a:blipFill>
                <a:blip r:embed="rId3"/>
                <a:stretch>
                  <a:fillRect l="-1389" b="-5556"/>
                </a:stretch>
              </a:blipFill>
              <a:ln/>
            </p:spPr>
            <p:txBody>
              <a:bodyPr/>
              <a:lstStyle/>
              <a:p>
                <a:r>
                  <a:rPr lang="ko-KR" altLang="en-US">
                    <a:noFill/>
                  </a:rPr>
                  <a:t> </a:t>
                </a:r>
              </a:p>
            </p:txBody>
          </p:sp>
        </mc:Fallback>
      </mc:AlternateContent>
      <p:sp>
        <p:nvSpPr>
          <p:cNvPr id="93" name="Text 80">
            <a:extLst>
              <a:ext uri="{FF2B5EF4-FFF2-40B4-BE49-F238E27FC236}">
                <a16:creationId xmlns:a16="http://schemas.microsoft.com/office/drawing/2014/main" id="{0C1AD13C-864B-4D96-A98A-5C0817A8689E}"/>
              </a:ext>
            </a:extLst>
          </p:cNvPr>
          <p:cNvSpPr/>
          <p:nvPr/>
        </p:nvSpPr>
        <p:spPr>
          <a:xfrm>
            <a:off x="6502400" y="5118792"/>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CXL 메모리 풀</a:t>
            </a:r>
            <a:endParaRPr lang="en-US" sz="1050" dirty="0">
              <a:latin typeface="+mj-ea"/>
              <a:ea typeface="+mj-ea"/>
            </a:endParaRPr>
          </a:p>
        </p:txBody>
      </p:sp>
      <mc:AlternateContent xmlns:mc="http://schemas.openxmlformats.org/markup-compatibility/2006" xmlns:a14="http://schemas.microsoft.com/office/drawing/2010/main">
        <mc:Choice Requires="a14">
          <p:sp>
            <p:nvSpPr>
              <p:cNvPr id="94" name="Text 81">
                <a:extLst>
                  <a:ext uri="{FF2B5EF4-FFF2-40B4-BE49-F238E27FC236}">
                    <a16:creationId xmlns:a16="http://schemas.microsoft.com/office/drawing/2014/main" id="{22D6CEDB-D07C-4A19-9BB6-5EBF9827010F}"/>
                  </a:ext>
                </a:extLst>
              </p:cNvPr>
              <p:cNvSpPr/>
              <p:nvPr/>
            </p:nvSpPr>
            <p:spPr>
              <a:xfrm>
                <a:off x="8147050" y="5137842"/>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서버</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단위</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용량</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확장</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KV</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oMath>
                  </m:oMathPara>
                </a14:m>
                <a:endParaRPr lang="en-US" altLang="ko-KR" sz="1050" dirty="0">
                  <a:latin typeface="+mj-ea"/>
                </a:endParaRPr>
              </a:p>
            </p:txBody>
          </p:sp>
        </mc:Choice>
        <mc:Fallback xmlns="">
          <p:sp>
            <p:nvSpPr>
              <p:cNvPr id="94" name="Text 81">
                <a:extLst>
                  <a:ext uri="{FF2B5EF4-FFF2-40B4-BE49-F238E27FC236}">
                    <a16:creationId xmlns:a16="http://schemas.microsoft.com/office/drawing/2014/main" id="{22D6CEDB-D07C-4A19-9BB6-5EBF9827010F}"/>
                  </a:ext>
                </a:extLst>
              </p:cNvPr>
              <p:cNvSpPr>
                <a:spLocks noRot="1" noChangeAspect="1" noMove="1" noResize="1" noEditPoints="1" noAdjustHandles="1" noChangeArrowheads="1" noChangeShapeType="1" noTextEdit="1"/>
              </p:cNvSpPr>
              <p:nvPr/>
            </p:nvSpPr>
            <p:spPr>
              <a:xfrm>
                <a:off x="8147050" y="5137842"/>
                <a:ext cx="3505708" cy="223441"/>
              </a:xfrm>
              <a:prstGeom prst="rect">
                <a:avLst/>
              </a:prstGeom>
              <a:blipFill>
                <a:blip r:embed="rId4"/>
                <a:stretch>
                  <a:fillRect l="-1910" b="-5556"/>
                </a:stretch>
              </a:blipFill>
              <a:ln/>
            </p:spPr>
            <p:txBody>
              <a:bodyPr/>
              <a:lstStyle/>
              <a:p>
                <a:r>
                  <a:rPr lang="ko-KR" altLang="en-US">
                    <a:noFill/>
                  </a:rPr>
                  <a:t> </a:t>
                </a:r>
              </a:p>
            </p:txBody>
          </p:sp>
        </mc:Fallback>
      </mc:AlternateContent>
      <p:sp>
        <p:nvSpPr>
          <p:cNvPr id="95" name="Text 82">
            <a:extLst>
              <a:ext uri="{FF2B5EF4-FFF2-40B4-BE49-F238E27FC236}">
                <a16:creationId xmlns:a16="http://schemas.microsoft.com/office/drawing/2014/main" id="{13940E19-D16E-46CC-B6D3-CCFFF181605C}"/>
              </a:ext>
            </a:extLst>
          </p:cNvPr>
          <p:cNvSpPr/>
          <p:nvPr/>
        </p:nvSpPr>
        <p:spPr>
          <a:xfrm>
            <a:off x="6502400" y="5393033"/>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SOCAMM2·LPDDR</a:t>
            </a:r>
            <a:endParaRPr lang="en-US" sz="1050" dirty="0">
              <a:latin typeface="+mj-ea"/>
              <a:ea typeface="+mj-ea"/>
            </a:endParaRPr>
          </a:p>
        </p:txBody>
      </p:sp>
      <mc:AlternateContent xmlns:mc="http://schemas.openxmlformats.org/markup-compatibility/2006" xmlns:a14="http://schemas.microsoft.com/office/drawing/2010/main">
        <mc:Choice Requires="a14">
          <p:sp>
            <p:nvSpPr>
              <p:cNvPr id="96" name="Text 83">
                <a:extLst>
                  <a:ext uri="{FF2B5EF4-FFF2-40B4-BE49-F238E27FC236}">
                    <a16:creationId xmlns:a16="http://schemas.microsoft.com/office/drawing/2014/main" id="{6CE3C4F7-E9CC-4AF2-8638-743B38943BFE}"/>
                  </a:ext>
                </a:extLst>
              </p:cNvPr>
              <p:cNvSpPr/>
              <p:nvPr/>
            </p:nvSpPr>
            <p:spPr>
              <a:xfrm>
                <a:off x="8147050" y="5412083"/>
                <a:ext cx="3505708" cy="223441"/>
              </a:xfrm>
              <a:prstGeom prst="rect">
                <a:avLst/>
              </a:prstGeom>
              <a:noFill/>
              <a:ln/>
            </p:spPr>
            <p:txBody>
              <a:bodyPr wrap="square" lIns="0" tIns="0" rIns="0" bIns="0" rtlCol="0" anchor="t">
                <a:normAutofit/>
              </a:bodyPr>
              <a:lstStyle/>
              <a:p>
                <a:pPr>
                  <a:lnSpc>
                    <a:spcPts val="1560"/>
                  </a:lnSpc>
                </a:pPr>
                <a14:m>
                  <m:oMath xmlns:m="http://schemas.openxmlformats.org/officeDocument/2006/math">
                    <m:r>
                      <m:rPr>
                        <m:nor/>
                      </m:rPr>
                      <a:rPr lang="en-US" altLang="ko-KR" sz="1050" dirty="0">
                        <a:solidFill>
                          <a:srgbClr val="222222"/>
                        </a:solidFill>
                        <a:latin typeface="+mj-ea"/>
                        <a:cs typeface="Noto Sans KR" pitchFamily="34" charset="-120"/>
                      </a:rPr>
                      <m:t>서버용</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저전력</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대용량</m:t>
                    </m:r>
                  </m:oMath>
                </a14:m>
                <a:r>
                  <a:rPr lang="en-US" sz="1050" dirty="0">
                    <a:latin typeface="+mj-ea"/>
                    <a:ea typeface="+mj-ea"/>
                  </a:rPr>
                  <a:t>  </a:t>
                </a:r>
              </a:p>
            </p:txBody>
          </p:sp>
        </mc:Choice>
        <mc:Fallback xmlns="">
          <p:sp>
            <p:nvSpPr>
              <p:cNvPr id="96" name="Text 83">
                <a:extLst>
                  <a:ext uri="{FF2B5EF4-FFF2-40B4-BE49-F238E27FC236}">
                    <a16:creationId xmlns:a16="http://schemas.microsoft.com/office/drawing/2014/main" id="{6CE3C4F7-E9CC-4AF2-8638-743B38943BFE}"/>
                  </a:ext>
                </a:extLst>
              </p:cNvPr>
              <p:cNvSpPr>
                <a:spLocks noRot="1" noChangeAspect="1" noMove="1" noResize="1" noEditPoints="1" noAdjustHandles="1" noChangeArrowheads="1" noChangeShapeType="1" noTextEdit="1"/>
              </p:cNvSpPr>
              <p:nvPr/>
            </p:nvSpPr>
            <p:spPr>
              <a:xfrm>
                <a:off x="8147050" y="5412083"/>
                <a:ext cx="3505708" cy="223441"/>
              </a:xfrm>
              <a:prstGeom prst="rect">
                <a:avLst/>
              </a:prstGeom>
              <a:blipFill>
                <a:blip r:embed="rId5"/>
                <a:stretch>
                  <a:fillRect l="-1910" b="-5556"/>
                </a:stretch>
              </a:blipFill>
              <a:ln/>
            </p:spPr>
            <p:txBody>
              <a:bodyPr/>
              <a:lstStyle/>
              <a:p>
                <a:r>
                  <a:rPr lang="ko-KR" altLang="en-US">
                    <a:noFill/>
                  </a:rPr>
                  <a:t> </a:t>
                </a:r>
              </a:p>
            </p:txBody>
          </p:sp>
        </mc:Fallback>
      </mc:AlternateContent>
      <p:sp>
        <p:nvSpPr>
          <p:cNvPr id="97" name="Text 84">
            <a:extLst>
              <a:ext uri="{FF2B5EF4-FFF2-40B4-BE49-F238E27FC236}">
                <a16:creationId xmlns:a16="http://schemas.microsoft.com/office/drawing/2014/main" id="{AFD5F8AB-70D5-4AB0-B25C-B18AD70216F7}"/>
              </a:ext>
            </a:extLst>
          </p:cNvPr>
          <p:cNvSpPr/>
          <p:nvPr/>
        </p:nvSpPr>
        <p:spPr>
          <a:xfrm>
            <a:off x="6502400" y="5667273"/>
            <a:ext cx="1574800" cy="236141"/>
          </a:xfrm>
          <a:prstGeom prst="roundRect">
            <a:avLst>
              <a:gd name="adj" fmla="val 18823"/>
            </a:avLst>
          </a:prstGeom>
          <a:solidFill>
            <a:srgbClr val="EAF1FA"/>
          </a:solidFill>
          <a:ln w="12700">
            <a:solidFill>
              <a:srgbClr val="2F6DB5"/>
            </a:solidFill>
            <a:prstDash val="solid"/>
          </a:ln>
        </p:spPr>
        <p:txBody>
          <a:bodyPr wrap="square" lIns="56831" tIns="6031" rIns="6031" bIns="0" rtlCol="0" anchor="t">
            <a:normAutofit/>
          </a:bodyPr>
          <a:lstStyle/>
          <a:p>
            <a:pPr marL="0" indent="0" algn="l">
              <a:lnSpc>
                <a:spcPts val="1560"/>
              </a:lnSpc>
              <a:buNone/>
            </a:pPr>
            <a:r>
              <a:rPr lang="en-US" sz="1050" b="1" dirty="0">
                <a:solidFill>
                  <a:srgbClr val="222222"/>
                </a:solidFill>
                <a:latin typeface="+mj-ea"/>
                <a:ea typeface="+mj-ea"/>
                <a:cs typeface="Noto Sans KR" pitchFamily="34" charset="-120"/>
              </a:rPr>
              <a:t>KV 전용 계층</a:t>
            </a:r>
            <a:endParaRPr lang="en-US" sz="1050" dirty="0">
              <a:latin typeface="+mj-ea"/>
              <a:ea typeface="+mj-ea"/>
            </a:endParaRPr>
          </a:p>
        </p:txBody>
      </p:sp>
      <mc:AlternateContent xmlns:mc="http://schemas.openxmlformats.org/markup-compatibility/2006" xmlns:a14="http://schemas.microsoft.com/office/drawing/2010/main">
        <mc:Choice Requires="a14">
          <p:sp>
            <p:nvSpPr>
              <p:cNvPr id="98" name="Text 85">
                <a:extLst>
                  <a:ext uri="{FF2B5EF4-FFF2-40B4-BE49-F238E27FC236}">
                    <a16:creationId xmlns:a16="http://schemas.microsoft.com/office/drawing/2014/main" id="{121C3D1A-2F75-4BD1-AE06-7A92B7CBBC26}"/>
                  </a:ext>
                </a:extLst>
              </p:cNvPr>
              <p:cNvSpPr/>
              <p:nvPr/>
            </p:nvSpPr>
            <p:spPr>
              <a:xfrm>
                <a:off x="8147050" y="5686323"/>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SSD</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oMath>
                  </m:oMathPara>
                </a14:m>
                <a:endParaRPr lang="en-US" sz="1050" dirty="0">
                  <a:latin typeface="+mj-ea"/>
                  <a:ea typeface="+mj-ea"/>
                </a:endParaRPr>
              </a:p>
            </p:txBody>
          </p:sp>
        </mc:Choice>
        <mc:Fallback xmlns="">
          <p:sp>
            <p:nvSpPr>
              <p:cNvPr id="98" name="Text 85">
                <a:extLst>
                  <a:ext uri="{FF2B5EF4-FFF2-40B4-BE49-F238E27FC236}">
                    <a16:creationId xmlns:a16="http://schemas.microsoft.com/office/drawing/2014/main" id="{121C3D1A-2F75-4BD1-AE06-7A92B7CBBC26}"/>
                  </a:ext>
                </a:extLst>
              </p:cNvPr>
              <p:cNvSpPr>
                <a:spLocks noRot="1" noChangeAspect="1" noMove="1" noResize="1" noEditPoints="1" noAdjustHandles="1" noChangeArrowheads="1" noChangeShapeType="1" noTextEdit="1"/>
              </p:cNvSpPr>
              <p:nvPr/>
            </p:nvSpPr>
            <p:spPr>
              <a:xfrm>
                <a:off x="8147050" y="5686323"/>
                <a:ext cx="3505708" cy="223441"/>
              </a:xfrm>
              <a:prstGeom prst="rect">
                <a:avLst/>
              </a:prstGeom>
              <a:blipFill>
                <a:blip r:embed="rId6"/>
                <a:stretch>
                  <a:fillRect l="-1389" b="-5556"/>
                </a:stretch>
              </a:blipFill>
              <a:ln/>
            </p:spPr>
            <p:txBody>
              <a:bodyPr/>
              <a:lstStyle/>
              <a:p>
                <a:r>
                  <a:rPr lang="ko-KR" altLang="en-US">
                    <a:noFill/>
                  </a:rPr>
                  <a:t> </a:t>
                </a:r>
              </a:p>
            </p:txBody>
          </p:sp>
        </mc:Fallback>
      </mc:AlternateContent>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2316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메모리 병목이 심화되고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8"/>
                <a:stretch>
                  <a:fillRect l="-843" t="-8824" b="-8824"/>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Group"/>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9"/>
                <a:stretch>
                  <a:fillRect t="-8824" b="-588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193</a:t>
            </a:r>
            <a:endParaRPr lang="en-US" sz="10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309</a:t>
            </a:r>
            <a:endParaRPr lang="en-US" sz="10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357</a:t>
            </a:r>
            <a:endParaRPr lang="en-US" sz="10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≈401</a:t>
            </a:r>
            <a:endParaRPr lang="en-US" sz="10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4Q25</a:t>
            </a:r>
            <a:endParaRPr lang="en-US" sz="10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1Q26</a:t>
            </a:r>
            <a:endParaRPr lang="en-US" sz="10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2Q26</a:t>
            </a:r>
            <a:endParaRPr lang="en-US" sz="10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3Q26</a:t>
            </a:r>
            <a:endParaRPr lang="en-US" sz="10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4Q26E</a:t>
            </a:r>
            <a:endParaRPr lang="en-US" sz="10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a:lnSpc>
                <a:spcPts val="1440"/>
              </a:lnSpc>
            </a:pPr>
            <a:r>
              <a:rPr lang="en-US" sz="1000" b="1" dirty="0" err="1">
                <a:solidFill>
                  <a:srgbClr val="7A3608"/>
                </a:solidFill>
                <a:latin typeface="+mj-ea"/>
                <a:ea typeface="+mj-ea"/>
                <a:cs typeface="Noto Sans KR" pitchFamily="34" charset="-120"/>
              </a:rPr>
              <a:t>가격</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계속</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상승</a:t>
            </a:r>
            <a:r>
              <a:rPr lang="en-US" sz="1000" b="1" dirty="0">
                <a:solidFill>
                  <a:srgbClr val="7A3608"/>
                </a:solidFill>
                <a:latin typeface="+mj-ea"/>
                <a:ea typeface="+mj-ea"/>
                <a:cs typeface="Noto Sans KR" pitchFamily="34" charset="-120"/>
              </a:rPr>
              <a:t> (</a:t>
            </a:r>
            <a:r>
              <a:rPr lang="en-US" altLang="ko-KR" sz="1000" b="1" dirty="0" err="1">
                <a:solidFill>
                  <a:srgbClr val="7A3608"/>
                </a:solidFill>
                <a:latin typeface="+mj-ea"/>
                <a:cs typeface="Noto Sans KR" pitchFamily="34" charset="-120"/>
              </a:rPr>
              <a:t>증가율</a:t>
            </a:r>
            <a:r>
              <a:rPr lang="en-US" altLang="ko-KR" sz="1000" b="1" dirty="0">
                <a:solidFill>
                  <a:srgbClr val="7A3608"/>
                </a:solidFill>
                <a:latin typeface="+mj-ea"/>
                <a:cs typeface="Noto Sans KR" pitchFamily="34" charset="-120"/>
              </a:rPr>
              <a:t> </a:t>
            </a:r>
            <a:r>
              <a:rPr lang="en-US" altLang="ko-KR" sz="1000" b="1" dirty="0" err="1">
                <a:solidFill>
                  <a:srgbClr val="7A3608"/>
                </a:solidFill>
                <a:latin typeface="+mj-ea"/>
                <a:cs typeface="Noto Sans KR" pitchFamily="34" charset="-120"/>
              </a:rPr>
              <a:t>둔화</a:t>
            </a:r>
            <a:r>
              <a:rPr lang="en-US" altLang="ko-KR" sz="1000" b="1" dirty="0">
                <a:solidFill>
                  <a:srgbClr val="7A3608"/>
                </a:solidFill>
                <a:latin typeface="+mj-ea"/>
                <a:cs typeface="Noto Sans KR" pitchFamily="34" charset="-120"/>
              </a:rPr>
              <a:t>)</a:t>
            </a:r>
            <a:endParaRPr lang="en-US" sz="1000" dirty="0">
              <a:latin typeface="+mj-ea"/>
              <a:ea typeface="+mj-ea"/>
            </a:endParaRPr>
          </a:p>
        </p:txBody>
      </p:sp>
      <p:sp>
        <p:nvSpPr>
          <p:cNvPr id="102" name="TextBox 101">
            <a:extLst>
              <a:ext uri="{FF2B5EF4-FFF2-40B4-BE49-F238E27FC236}">
                <a16:creationId xmlns:a16="http://schemas.microsoft.com/office/drawing/2014/main" id="{52C243B0-F61C-4DDC-8C1D-CAA93936C10F}"/>
              </a:ext>
            </a:extLst>
          </p:cNvPr>
          <p:cNvSpPr txBox="1"/>
          <p:nvPr/>
        </p:nvSpPr>
        <p:spPr>
          <a:xfrm>
            <a:off x="4587011" y="2660875"/>
            <a:ext cx="1319658" cy="184666"/>
          </a:xfrm>
          <a:prstGeom prst="rect">
            <a:avLst/>
          </a:prstGeom>
          <a:noFill/>
        </p:spPr>
        <p:txBody>
          <a:bodyPr wrap="square">
            <a:spAutoFit/>
          </a:bodyPr>
          <a:lstStyle/>
          <a:p>
            <a:r>
              <a:rPr lang="ko-KR" altLang="en-US" sz="600" dirty="0">
                <a:solidFill>
                  <a:schemeClr val="bg1">
                    <a:lumMod val="50000"/>
                  </a:schemeClr>
                </a:solidFill>
              </a:rPr>
              <a:t>실제 </a:t>
            </a:r>
            <a:r>
              <a:rPr lang="en-US" altLang="ko-KR" sz="600" dirty="0">
                <a:solidFill>
                  <a:schemeClr val="bg1">
                    <a:lumMod val="50000"/>
                  </a:schemeClr>
                </a:solidFill>
              </a:rPr>
              <a:t>Context </a:t>
            </a:r>
            <a:r>
              <a:rPr lang="ko-KR" altLang="en-US" sz="600" dirty="0">
                <a:solidFill>
                  <a:schemeClr val="bg1">
                    <a:lumMod val="50000"/>
                  </a:schemeClr>
                </a:solidFill>
              </a:rPr>
              <a:t>누적 길이</a:t>
            </a:r>
          </a:p>
        </p:txBody>
      </p:sp>
      <p:sp>
        <p:nvSpPr>
          <p:cNvPr id="167" name="TextBox 166">
            <a:extLst>
              <a:ext uri="{FF2B5EF4-FFF2-40B4-BE49-F238E27FC236}">
                <a16:creationId xmlns:a16="http://schemas.microsoft.com/office/drawing/2014/main" id="{6D44623D-F088-4C5E-92CF-0FEF7D09EFD3}"/>
              </a:ext>
            </a:extLst>
          </p:cNvPr>
          <p:cNvSpPr txBox="1"/>
          <p:nvPr/>
        </p:nvSpPr>
        <p:spPr>
          <a:xfrm>
            <a:off x="294321" y="147178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여러 턴에 걸쳐 </a:t>
            </a:r>
            <a:r>
              <a:rPr lang="en-US" altLang="ko-KR" sz="1200" b="1" dirty="0"/>
              <a:t>Context</a:t>
            </a:r>
            <a:r>
              <a:rPr lang="ko-KR" altLang="en-US" sz="1200" b="1" dirty="0"/>
              <a:t>가 누적되어 데이터 크기 및 </a:t>
            </a:r>
            <a:r>
              <a:rPr lang="en-US" altLang="ko-KR" sz="1200" b="1" dirty="0"/>
              <a:t>Lifetime </a:t>
            </a:r>
            <a:r>
              <a:rPr lang="ko-KR" altLang="en-US" sz="1200" b="1" dirty="0"/>
              <a:t>증가</a:t>
            </a:r>
            <a:endParaRPr lang="en-US" altLang="ko-KR" sz="1200" b="1" dirty="0"/>
          </a:p>
        </p:txBody>
      </p:sp>
      <p:grpSp>
        <p:nvGrpSpPr>
          <p:cNvPr id="185" name="그룹 184">
            <a:extLst>
              <a:ext uri="{FF2B5EF4-FFF2-40B4-BE49-F238E27FC236}">
                <a16:creationId xmlns:a16="http://schemas.microsoft.com/office/drawing/2014/main" id="{1F771957-8FF3-4E94-8822-8EA7D628409E}"/>
              </a:ext>
            </a:extLst>
          </p:cNvPr>
          <p:cNvGrpSpPr/>
          <p:nvPr/>
        </p:nvGrpSpPr>
        <p:grpSpPr>
          <a:xfrm>
            <a:off x="294321" y="1980506"/>
            <a:ext cx="5528599" cy="2048658"/>
            <a:chOff x="332200" y="2268462"/>
            <a:chExt cx="5528599" cy="2048658"/>
          </a:xfrm>
        </p:grpSpPr>
        <p:grpSp>
          <p:nvGrpSpPr>
            <p:cNvPr id="186" name="Figure A (graph image + editable text)">
              <a:extLst>
                <a:ext uri="{FF2B5EF4-FFF2-40B4-BE49-F238E27FC236}">
                  <a16:creationId xmlns:a16="http://schemas.microsoft.com/office/drawing/2014/main" id="{D5940657-C807-48F3-BCA3-A0142D576418}"/>
                </a:ext>
              </a:extLst>
            </p:cNvPr>
            <p:cNvGrpSpPr/>
            <p:nvPr/>
          </p:nvGrpSpPr>
          <p:grpSpPr>
            <a:xfrm>
              <a:off x="332200" y="2268462"/>
              <a:ext cx="5528599" cy="2048658"/>
              <a:chOff x="709672" y="941803"/>
              <a:chExt cx="4850000" cy="2020171"/>
            </a:xfrm>
          </p:grpSpPr>
          <p:pic>
            <p:nvPicPr>
              <p:cNvPr id="188" name="Graph A" descr="누적 문맥에 따른 Llama-3.1-70B KV cache 증가와 HBM 용량 비교 그래프">
                <a:extLst>
                  <a:ext uri="{FF2B5EF4-FFF2-40B4-BE49-F238E27FC236}">
                    <a16:creationId xmlns:a16="http://schemas.microsoft.com/office/drawing/2014/main" id="{9E28E7FE-D0FA-4575-A29B-76BA11589D63}"/>
                  </a:ext>
                </a:extLst>
              </p:cNvPr>
              <p:cNvPicPr>
                <a:picLocks noChangeAspect="1"/>
              </p:cNvPicPr>
              <p:nvPr/>
            </p:nvPicPr>
            <p:blipFill>
              <a:blip r:embed="rId10"/>
              <a:stretch>
                <a:fillRect/>
              </a:stretch>
            </p:blipFill>
            <p:spPr>
              <a:xfrm>
                <a:off x="709672" y="1100000"/>
                <a:ext cx="4850000" cy="1861974"/>
              </a:xfrm>
              <a:prstGeom prst="rect">
                <a:avLst/>
              </a:prstGeom>
            </p:spPr>
          </p:pic>
          <p:sp>
            <p:nvSpPr>
              <p:cNvPr id="189" name="Text A">
                <a:extLst>
                  <a:ext uri="{FF2B5EF4-FFF2-40B4-BE49-F238E27FC236}">
                    <a16:creationId xmlns:a16="http://schemas.microsoft.com/office/drawing/2014/main" id="{EF1ADE28-9406-433B-90FC-6BC4B59B3086}"/>
                  </a:ext>
                </a:extLst>
              </p:cNvPr>
              <p:cNvSpPr txBox="1"/>
              <p:nvPr/>
            </p:nvSpPr>
            <p:spPr>
              <a:xfrm>
                <a:off x="1165187" y="941803"/>
                <a:ext cx="4047237" cy="146952"/>
              </a:xfrm>
              <a:prstGeom prst="rect">
                <a:avLst/>
              </a:prstGeom>
              <a:solidFill>
                <a:schemeClr val="accent2">
                  <a:lumMod val="20000"/>
                  <a:lumOff val="80000"/>
                </a:schemeClr>
              </a:solidFill>
            </p:spPr>
            <p:txBody>
              <a:bodyPr wrap="none" lIns="0" tIns="0" rIns="0" bIns="0" rtlCol="0" anchor="t">
                <a:noAutofit/>
              </a:bodyPr>
              <a:lstStyle/>
              <a:p>
                <a:pPr algn="ctr">
                  <a:lnSpc>
                    <a:spcPct val="100000"/>
                  </a:lnSpc>
                  <a:spcBef>
                    <a:spcPts val="0"/>
                  </a:spcBef>
                </a:pPr>
                <a:r>
                  <a:rPr lang="ko-KR" altLang="en-US" sz="1000" b="1" dirty="0">
                    <a:solidFill>
                      <a:srgbClr val="1F2933"/>
                    </a:solidFill>
                  </a:rPr>
                  <a:t>문맥 누적 → 데이터</a:t>
                </a:r>
                <a:r>
                  <a:rPr lang="en-US" altLang="ko-KR" sz="1000" b="1" dirty="0">
                    <a:solidFill>
                      <a:srgbClr val="1F2933"/>
                    </a:solidFill>
                  </a:rPr>
                  <a:t>(</a:t>
                </a:r>
                <a:r>
                  <a:rPr lang="ko-KR" altLang="en-US" sz="1000" b="1" dirty="0">
                    <a:solidFill>
                      <a:srgbClr val="1F2933"/>
                    </a:solidFill>
                  </a:rPr>
                  <a:t>KV 캐시</a:t>
                </a:r>
                <a:r>
                  <a:rPr lang="en-US" altLang="ko-KR" sz="1000" b="1" dirty="0">
                    <a:solidFill>
                      <a:srgbClr val="1F2933"/>
                    </a:solidFill>
                  </a:rPr>
                  <a:t>)</a:t>
                </a:r>
                <a:r>
                  <a:rPr lang="ko-KR" altLang="en-US" sz="1000" b="1" dirty="0">
                    <a:solidFill>
                      <a:srgbClr val="1F2933"/>
                    </a:solidFill>
                  </a:rPr>
                  <a:t>증가 → HBM 용량 초과 (Llama-3.1-70B, BF16)</a:t>
                </a:r>
              </a:p>
            </p:txBody>
          </p:sp>
          <p:sp>
            <p:nvSpPr>
              <p:cNvPr id="190" name="Text A">
                <a:extLst>
                  <a:ext uri="{FF2B5EF4-FFF2-40B4-BE49-F238E27FC236}">
                    <a16:creationId xmlns:a16="http://schemas.microsoft.com/office/drawing/2014/main" id="{F7B98B0B-4623-4215-B486-C141CB0F4F10}"/>
                  </a:ext>
                </a:extLst>
              </p:cNvPr>
              <p:cNvSpPr txBox="1"/>
              <p:nvPr/>
            </p:nvSpPr>
            <p:spPr>
              <a:xfrm>
                <a:off x="1294863" y="1267700"/>
                <a:ext cx="3191956" cy="99060"/>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5F6B7A"/>
                    </a:solidFill>
                  </a:rPr>
                  <a:t>[1] 실측 앵커 (SWE-bench Pro 평균 누적 문맥 69–80K)</a:t>
                </a:r>
              </a:p>
            </p:txBody>
          </p:sp>
          <p:sp>
            <p:nvSpPr>
              <p:cNvPr id="191" name="Text A">
                <a:extLst>
                  <a:ext uri="{FF2B5EF4-FFF2-40B4-BE49-F238E27FC236}">
                    <a16:creationId xmlns:a16="http://schemas.microsoft.com/office/drawing/2014/main" id="{9FD7AB91-3161-4313-9460-7727929DB319}"/>
                  </a:ext>
                </a:extLst>
              </p:cNvPr>
              <p:cNvSpPr txBox="1"/>
              <p:nvPr/>
            </p:nvSpPr>
            <p:spPr>
              <a:xfrm>
                <a:off x="3839562" y="1267701"/>
                <a:ext cx="1306641" cy="79148"/>
              </a:xfrm>
              <a:prstGeom prst="rect">
                <a:avLst/>
              </a:prstGeom>
              <a:noFill/>
            </p:spPr>
            <p:txBody>
              <a:bodyPr wrap="none" lIns="0" tIns="0" rIns="0" bIns="0" rtlCol="0" anchor="ctr">
                <a:noAutofit/>
              </a:bodyPr>
              <a:lstStyle/>
              <a:p>
                <a:pPr algn="l">
                  <a:lnSpc>
                    <a:spcPct val="100000"/>
                  </a:lnSpc>
                  <a:spcBef>
                    <a:spcPts val="0"/>
                  </a:spcBef>
                </a:pPr>
                <a:r>
                  <a:rPr lang="ko-KR" altLang="en-US" sz="800" dirty="0">
                    <a:solidFill>
                      <a:srgbClr val="5F6B7A"/>
                    </a:solidFill>
                  </a:rPr>
                  <a:t>가정: [3] 토큰 사용량 배수 적용</a:t>
                </a:r>
              </a:p>
            </p:txBody>
          </p:sp>
          <p:sp>
            <p:nvSpPr>
              <p:cNvPr id="192" name="Text A">
                <a:extLst>
                  <a:ext uri="{FF2B5EF4-FFF2-40B4-BE49-F238E27FC236}">
                    <a16:creationId xmlns:a16="http://schemas.microsoft.com/office/drawing/2014/main" id="{8C83B945-C9E9-43B7-BA8D-FB67F8B5CCE1}"/>
                  </a:ext>
                </a:extLst>
              </p:cNvPr>
              <p:cNvSpPr txBox="1"/>
              <p:nvPr/>
            </p:nvSpPr>
            <p:spPr>
              <a:xfrm>
                <a:off x="1232798" y="1434268"/>
                <a:ext cx="3191956" cy="107315"/>
              </a:xfrm>
              <a:prstGeom prst="rect">
                <a:avLst/>
              </a:prstGeom>
              <a:noFill/>
            </p:spPr>
            <p:txBody>
              <a:bodyPr wrap="none" lIns="0" tIns="0" rIns="0" bIns="0" rtlCol="0" anchor="t">
                <a:noAutofit/>
              </a:bodyPr>
              <a:lstStyle/>
              <a:p>
                <a:pPr algn="l">
                  <a:lnSpc>
                    <a:spcPct val="100000"/>
                  </a:lnSpc>
                  <a:spcBef>
                    <a:spcPts val="0"/>
                  </a:spcBef>
                </a:pPr>
                <a:r>
                  <a:rPr lang="ko-KR" altLang="en-US" sz="700" dirty="0">
                    <a:solidFill>
                      <a:srgbClr val="B42318"/>
                    </a:solidFill>
                  </a:rPr>
                  <a:t>B200 · MI300X HBM 192 GB</a:t>
                </a:r>
              </a:p>
            </p:txBody>
          </p:sp>
          <p:sp>
            <p:nvSpPr>
              <p:cNvPr id="193" name="Text A">
                <a:extLst>
                  <a:ext uri="{FF2B5EF4-FFF2-40B4-BE49-F238E27FC236}">
                    <a16:creationId xmlns:a16="http://schemas.microsoft.com/office/drawing/2014/main" id="{314D1D6E-3BC1-4A5E-805F-5CAC91148F6E}"/>
                  </a:ext>
                </a:extLst>
              </p:cNvPr>
              <p:cNvSpPr txBox="1"/>
              <p:nvPr/>
            </p:nvSpPr>
            <p:spPr>
              <a:xfrm>
                <a:off x="2247130" y="1984851"/>
                <a:ext cx="3191956" cy="107315"/>
              </a:xfrm>
              <a:prstGeom prst="rect">
                <a:avLst/>
              </a:prstGeom>
              <a:noFill/>
            </p:spPr>
            <p:txBody>
              <a:bodyPr wrap="none" lIns="0" tIns="0" rIns="0" bIns="0" rtlCol="0" anchor="b">
                <a:noAutofit/>
              </a:bodyPr>
              <a:lstStyle/>
              <a:p>
                <a:pPr algn="r">
                  <a:lnSpc>
                    <a:spcPct val="100000"/>
                  </a:lnSpc>
                  <a:spcBef>
                    <a:spcPts val="0"/>
                  </a:spcBef>
                </a:pPr>
                <a:r>
                  <a:rPr lang="ko-KR" altLang="en-US" sz="700" dirty="0">
                    <a:solidFill>
                      <a:srgbClr val="B42318"/>
                    </a:solidFill>
                  </a:rPr>
                  <a:t>H100 HBM 80 GB</a:t>
                </a:r>
              </a:p>
            </p:txBody>
          </p:sp>
          <p:sp>
            <p:nvSpPr>
              <p:cNvPr id="194" name="Text A">
                <a:extLst>
                  <a:ext uri="{FF2B5EF4-FFF2-40B4-BE49-F238E27FC236}">
                    <a16:creationId xmlns:a16="http://schemas.microsoft.com/office/drawing/2014/main" id="{114C35BF-E9B5-4AD2-98A3-EF7078F3C469}"/>
                  </a:ext>
                </a:extLst>
              </p:cNvPr>
              <p:cNvSpPr txBox="1"/>
              <p:nvPr/>
            </p:nvSpPr>
            <p:spPr>
              <a:xfrm>
                <a:off x="3000011" y="2197678"/>
                <a:ext cx="2251530" cy="214630"/>
              </a:xfrm>
              <a:prstGeom prst="rect">
                <a:avLst/>
              </a:prstGeom>
              <a:noFill/>
            </p:spPr>
            <p:txBody>
              <a:bodyPr wrap="none" lIns="0" tIns="0" rIns="0" bIns="0" rtlCol="0" anchor="t">
                <a:noAutofit/>
              </a:bodyPr>
              <a:lstStyle/>
              <a:p>
                <a:pPr algn="l">
                  <a:lnSpc>
                    <a:spcPct val="100000"/>
                  </a:lnSpc>
                  <a:spcBef>
                    <a:spcPts val="0"/>
                  </a:spcBef>
                </a:pPr>
                <a:r>
                  <a:rPr lang="ko-KR" altLang="en-US" sz="700" dirty="0">
                    <a:solidFill>
                      <a:srgbClr val="B42318"/>
                    </a:solidFill>
                  </a:rPr>
                  <a:t>244K 토큰에서</a:t>
                </a:r>
              </a:p>
              <a:p>
                <a:pPr algn="l">
                  <a:lnSpc>
                    <a:spcPct val="100000"/>
                  </a:lnSpc>
                  <a:spcBef>
                    <a:spcPts val="0"/>
                  </a:spcBef>
                </a:pPr>
                <a:r>
                  <a:rPr lang="ko-KR" altLang="en-US" sz="700" dirty="0">
                    <a:solidFill>
                      <a:srgbClr val="B42318"/>
                    </a:solidFill>
                  </a:rPr>
                  <a:t>H100 80 GB 초과</a:t>
                </a:r>
              </a:p>
            </p:txBody>
          </p:sp>
          <p:sp>
            <p:nvSpPr>
              <p:cNvPr id="195" name="Text A">
                <a:extLst>
                  <a:ext uri="{FF2B5EF4-FFF2-40B4-BE49-F238E27FC236}">
                    <a16:creationId xmlns:a16="http://schemas.microsoft.com/office/drawing/2014/main" id="{44FEDBB6-E12E-413F-B37E-EA7BF6CE3D4E}"/>
                  </a:ext>
                </a:extLst>
              </p:cNvPr>
              <p:cNvSpPr txBox="1"/>
              <p:nvPr/>
            </p:nvSpPr>
            <p:spPr>
              <a:xfrm>
                <a:off x="1225704" y="2144419"/>
                <a:ext cx="3191956"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채팅  1×</a:t>
                </a:r>
              </a:p>
              <a:p>
                <a:pPr algn="l">
                  <a:lnSpc>
                    <a:spcPct val="100000"/>
                  </a:lnSpc>
                  <a:spcBef>
                    <a:spcPts val="0"/>
                  </a:spcBef>
                </a:pPr>
                <a:r>
                  <a:rPr lang="ko-KR" altLang="en-US" sz="700" dirty="0">
                    <a:solidFill>
                      <a:srgbClr val="1F2933"/>
                    </a:solidFill>
                  </a:rPr>
                  <a:t>≈19K · ≈6 GB</a:t>
                </a:r>
              </a:p>
            </p:txBody>
          </p:sp>
          <p:sp>
            <p:nvSpPr>
              <p:cNvPr id="196" name="Text A">
                <a:extLst>
                  <a:ext uri="{FF2B5EF4-FFF2-40B4-BE49-F238E27FC236}">
                    <a16:creationId xmlns:a16="http://schemas.microsoft.com/office/drawing/2014/main" id="{6E53047B-F5DC-4550-96C6-E9D1996E0484}"/>
                  </a:ext>
                </a:extLst>
              </p:cNvPr>
              <p:cNvSpPr txBox="1"/>
              <p:nvPr/>
            </p:nvSpPr>
            <p:spPr>
              <a:xfrm>
                <a:off x="1991774" y="2361649"/>
                <a:ext cx="3191956"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에이전트  ≈4×</a:t>
                </a:r>
              </a:p>
              <a:p>
                <a:pPr algn="l">
                  <a:lnSpc>
                    <a:spcPct val="100000"/>
                  </a:lnSpc>
                  <a:spcBef>
                    <a:spcPts val="0"/>
                  </a:spcBef>
                </a:pPr>
                <a:r>
                  <a:rPr lang="ko-KR" altLang="en-US" sz="700" dirty="0">
                    <a:solidFill>
                      <a:srgbClr val="1F2933"/>
                    </a:solidFill>
                  </a:rPr>
                  <a:t>69–80K · ≈25 GB</a:t>
                </a:r>
              </a:p>
            </p:txBody>
          </p:sp>
          <p:sp>
            <p:nvSpPr>
              <p:cNvPr id="197" name="Text A">
                <a:extLst>
                  <a:ext uri="{FF2B5EF4-FFF2-40B4-BE49-F238E27FC236}">
                    <a16:creationId xmlns:a16="http://schemas.microsoft.com/office/drawing/2014/main" id="{136ADBF4-7821-4FC1-9903-E1CCC242A77A}"/>
                  </a:ext>
                </a:extLst>
              </p:cNvPr>
              <p:cNvSpPr txBox="1"/>
              <p:nvPr/>
            </p:nvSpPr>
            <p:spPr>
              <a:xfrm>
                <a:off x="2901895" y="1699659"/>
                <a:ext cx="1515765" cy="214630"/>
              </a:xfrm>
              <a:prstGeom prst="rect">
                <a:avLst/>
              </a:prstGeom>
              <a:noFill/>
            </p:spPr>
            <p:txBody>
              <a:bodyPr wrap="none" lIns="0" tIns="0" rIns="0" bIns="0" rtlCol="0" anchor="b">
                <a:noAutofit/>
              </a:bodyPr>
              <a:lstStyle/>
              <a:p>
                <a:pPr algn="l">
                  <a:lnSpc>
                    <a:spcPct val="100000"/>
                  </a:lnSpc>
                  <a:spcBef>
                    <a:spcPts val="0"/>
                  </a:spcBef>
                </a:pPr>
                <a:r>
                  <a:rPr lang="ko-KR" altLang="en-US" sz="700" b="1" dirty="0">
                    <a:solidFill>
                      <a:srgbClr val="1F2933"/>
                    </a:solidFill>
                  </a:rPr>
                  <a:t>멀티에이전트  ≈15×</a:t>
                </a:r>
              </a:p>
              <a:p>
                <a:pPr algn="l">
                  <a:lnSpc>
                    <a:spcPct val="100000"/>
                  </a:lnSpc>
                  <a:spcBef>
                    <a:spcPts val="0"/>
                  </a:spcBef>
                </a:pPr>
                <a:r>
                  <a:rPr lang="ko-KR" altLang="en-US" sz="700" dirty="0">
                    <a:solidFill>
                      <a:srgbClr val="1F2933"/>
                    </a:solidFill>
                  </a:rPr>
                  <a:t>≈281K · ≈92 GB</a:t>
                </a:r>
              </a:p>
            </p:txBody>
          </p:sp>
          <p:sp>
            <p:nvSpPr>
              <p:cNvPr id="198" name="Text A">
                <a:extLst>
                  <a:ext uri="{FF2B5EF4-FFF2-40B4-BE49-F238E27FC236}">
                    <a16:creationId xmlns:a16="http://schemas.microsoft.com/office/drawing/2014/main" id="{CA4322CE-73E3-447B-8CA0-88EBDBDD997B}"/>
                  </a:ext>
                </a:extLst>
              </p:cNvPr>
              <p:cNvSpPr txBox="1"/>
              <p:nvPr/>
            </p:nvSpPr>
            <p:spPr>
              <a:xfrm>
                <a:off x="1729324" y="2757585"/>
                <a:ext cx="3191956" cy="107315"/>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5F6B7A"/>
                    </a:solidFill>
                  </a:rPr>
                  <a:t>누적 문맥 길이 (</a:t>
                </a:r>
                <a:r>
                  <a:rPr lang="ko-KR" altLang="en-US" sz="800" dirty="0" err="1">
                    <a:solidFill>
                      <a:srgbClr val="5F6B7A"/>
                    </a:solidFill>
                  </a:rPr>
                  <a:t>tokens</a:t>
                </a:r>
                <a:r>
                  <a:rPr lang="ko-KR" altLang="en-US" sz="800" dirty="0">
                    <a:solidFill>
                      <a:srgbClr val="5F6B7A"/>
                    </a:solidFill>
                  </a:rPr>
                  <a:t>)</a:t>
                </a:r>
              </a:p>
            </p:txBody>
          </p:sp>
          <p:sp>
            <p:nvSpPr>
              <p:cNvPr id="199" name="Text A">
                <a:extLst>
                  <a:ext uri="{FF2B5EF4-FFF2-40B4-BE49-F238E27FC236}">
                    <a16:creationId xmlns:a16="http://schemas.microsoft.com/office/drawing/2014/main" id="{64361004-759F-4AB7-9D13-7EB2A5CDE584}"/>
                  </a:ext>
                </a:extLst>
              </p:cNvPr>
              <p:cNvSpPr txBox="1"/>
              <p:nvPr/>
            </p:nvSpPr>
            <p:spPr>
              <a:xfrm rot="16200000">
                <a:off x="239745" y="1915722"/>
                <a:ext cx="1241316" cy="141864"/>
              </a:xfrm>
              <a:prstGeom prst="rect">
                <a:avLst/>
              </a:prstGeom>
              <a:noFill/>
            </p:spPr>
            <p:txBody>
              <a:bodyPr wrap="none" lIns="0" tIns="0" rIns="0" bIns="0" rtlCol="0" anchor="ctr">
                <a:noAutofit/>
              </a:bodyPr>
              <a:lstStyle/>
              <a:p>
                <a:pPr algn="ctr">
                  <a:lnSpc>
                    <a:spcPct val="100000"/>
                  </a:lnSpc>
                  <a:spcBef>
                    <a:spcPts val="0"/>
                  </a:spcBef>
                </a:pPr>
                <a:r>
                  <a:rPr lang="ko-KR" altLang="en-US" sz="800" dirty="0">
                    <a:solidFill>
                      <a:srgbClr val="5F6B7A"/>
                    </a:solidFill>
                  </a:rPr>
                  <a:t>KV cache (GB)</a:t>
                </a:r>
              </a:p>
            </p:txBody>
          </p:sp>
          <p:sp>
            <p:nvSpPr>
              <p:cNvPr id="255" name="Text A">
                <a:extLst>
                  <a:ext uri="{FF2B5EF4-FFF2-40B4-BE49-F238E27FC236}">
                    <a16:creationId xmlns:a16="http://schemas.microsoft.com/office/drawing/2014/main" id="{314D1D6E-3BC1-4A5E-805F-5CAC91148F6E}"/>
                  </a:ext>
                </a:extLst>
              </p:cNvPr>
              <p:cNvSpPr txBox="1"/>
              <p:nvPr/>
            </p:nvSpPr>
            <p:spPr>
              <a:xfrm>
                <a:off x="2613955" y="1507986"/>
                <a:ext cx="2106068" cy="164389"/>
              </a:xfrm>
              <a:prstGeom prst="rect">
                <a:avLst/>
              </a:prstGeom>
              <a:solidFill>
                <a:schemeClr val="accent4">
                  <a:lumMod val="20000"/>
                  <a:lumOff val="80000"/>
                </a:schemeClr>
              </a:solidFill>
            </p:spPr>
            <p:txBody>
              <a:bodyPr wrap="none" lIns="0" tIns="0" rIns="0" bIns="0" rtlCol="0" anchor="b">
                <a:noAutofit/>
              </a:bodyPr>
              <a:lstStyle/>
              <a:p>
                <a:pPr algn="r">
                  <a:lnSpc>
                    <a:spcPct val="100000"/>
                  </a:lnSpc>
                  <a:spcBef>
                    <a:spcPts val="0"/>
                  </a:spcBef>
                </a:pPr>
                <a:r>
                  <a:rPr lang="en-US" altLang="ko-KR" sz="700" dirty="0">
                    <a:solidFill>
                      <a:srgbClr val="B42318"/>
                    </a:solidFill>
                  </a:rPr>
                  <a:t>*</a:t>
                </a:r>
                <a:r>
                  <a:rPr lang="ko-KR" altLang="en-US" sz="700" dirty="0">
                    <a:solidFill>
                      <a:srgbClr val="B42318"/>
                    </a:solidFill>
                  </a:rPr>
                  <a:t> 밀레니엄 문제를 푼 </a:t>
                </a:r>
                <a:r>
                  <a:rPr lang="en-US" altLang="ko-KR" sz="700" dirty="0">
                    <a:solidFill>
                      <a:srgbClr val="B42318"/>
                    </a:solidFill>
                  </a:rPr>
                  <a:t>Agent </a:t>
                </a:r>
                <a:r>
                  <a:rPr lang="ko-KR" altLang="en-US" sz="700" dirty="0">
                    <a:solidFill>
                      <a:srgbClr val="B42318"/>
                    </a:solidFill>
                  </a:rPr>
                  <a:t>수는 </a:t>
                </a:r>
                <a:r>
                  <a:rPr lang="en-US" altLang="ko-KR" sz="700" dirty="0">
                    <a:solidFill>
                      <a:srgbClr val="B42318"/>
                    </a:solidFill>
                  </a:rPr>
                  <a:t>10</a:t>
                </a:r>
                <a:r>
                  <a:rPr lang="ko-KR" altLang="en-US" sz="700" dirty="0">
                    <a:solidFill>
                      <a:srgbClr val="B42318"/>
                    </a:solidFill>
                  </a:rPr>
                  <a:t>만개</a:t>
                </a:r>
                <a:r>
                  <a:rPr lang="en-US" altLang="ko-KR" sz="700" dirty="0">
                    <a:solidFill>
                      <a:srgbClr val="B42318"/>
                    </a:solidFill>
                  </a:rPr>
                  <a:t>, 1</a:t>
                </a:r>
                <a:r>
                  <a:rPr lang="ko-KR" altLang="en-US" sz="700" dirty="0">
                    <a:solidFill>
                      <a:srgbClr val="B42318"/>
                    </a:solidFill>
                  </a:rPr>
                  <a:t>그룹당 </a:t>
                </a:r>
                <a:r>
                  <a:rPr lang="en-US" altLang="ko-KR" sz="700" dirty="0">
                    <a:solidFill>
                      <a:srgbClr val="B42318"/>
                    </a:solidFill>
                  </a:rPr>
                  <a:t>100</a:t>
                </a:r>
                <a:r>
                  <a:rPr lang="ko-KR" altLang="en-US" sz="700" dirty="0">
                    <a:solidFill>
                      <a:srgbClr val="B42318"/>
                    </a:solidFill>
                  </a:rPr>
                  <a:t>개</a:t>
                </a:r>
              </a:p>
            </p:txBody>
          </p:sp>
        </p:grpSp>
        <p:sp>
          <p:nvSpPr>
            <p:cNvPr id="187" name="실행 단추: 앞으로 또는 다음으로 이동 186">
              <a:hlinkClick r:id="rId11" action="ppaction://hlinksldjump" highlightClick="1"/>
              <a:extLst>
                <a:ext uri="{FF2B5EF4-FFF2-40B4-BE49-F238E27FC236}">
                  <a16:creationId xmlns:a16="http://schemas.microsoft.com/office/drawing/2014/main" id="{98539F28-01D1-4C51-810A-DAD5913CD3D3}"/>
                </a:ext>
              </a:extLst>
            </p:cNvPr>
            <p:cNvSpPr/>
            <p:nvPr/>
          </p:nvSpPr>
          <p:spPr>
            <a:xfrm>
              <a:off x="5530405" y="2363763"/>
              <a:ext cx="185396" cy="18014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200" name="TextBox 199">
            <a:extLst>
              <a:ext uri="{FF2B5EF4-FFF2-40B4-BE49-F238E27FC236}">
                <a16:creationId xmlns:a16="http://schemas.microsoft.com/office/drawing/2014/main" id="{CE105C95-5508-4E86-8637-1A88AEFA109B}"/>
              </a:ext>
            </a:extLst>
          </p:cNvPr>
          <p:cNvSpPr txBox="1"/>
          <p:nvPr/>
        </p:nvSpPr>
        <p:spPr>
          <a:xfrm>
            <a:off x="294321" y="4085494"/>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 </a:t>
            </a:r>
            <a:r>
              <a:rPr lang="ko-KR" altLang="en-US" sz="1200" b="1" dirty="0"/>
              <a:t>검색</a:t>
            </a:r>
            <a:r>
              <a:rPr lang="en-US" altLang="ko-KR" sz="1200" b="1" dirty="0"/>
              <a:t>, </a:t>
            </a:r>
            <a:r>
              <a:rPr lang="ko-KR" altLang="en-US" sz="1200" b="1" dirty="0"/>
              <a:t>도구 실행의 반복과 연산 자원 경합에 따른 대기 지연 증가</a:t>
            </a:r>
          </a:p>
        </p:txBody>
      </p:sp>
      <p:sp>
        <p:nvSpPr>
          <p:cNvPr id="202" name="Text 99">
            <a:extLst>
              <a:ext uri="{FF2B5EF4-FFF2-40B4-BE49-F238E27FC236}">
                <a16:creationId xmlns:a16="http://schemas.microsoft.com/office/drawing/2014/main" id="{D3AB1718-7726-425A-9E69-7509BE0FD34A}"/>
              </a:ext>
            </a:extLst>
          </p:cNvPr>
          <p:cNvSpPr/>
          <p:nvPr/>
        </p:nvSpPr>
        <p:spPr>
          <a:xfrm>
            <a:off x="332200" y="6235476"/>
            <a:ext cx="5724489" cy="454947"/>
          </a:xfrm>
          <a:prstGeom prst="rect">
            <a:avLst/>
          </a:prstGeom>
          <a:noFill/>
          <a:ln/>
        </p:spPr>
        <p:txBody>
          <a:bodyPr wrap="square" lIns="0" tIns="0" rIns="0" bIns="0" rtlCol="0" anchor="t">
            <a:noAutofit/>
          </a:bodyPr>
          <a:lstStyle/>
          <a:p>
            <a:pPr>
              <a:lnSpc>
                <a:spcPct val="125000"/>
              </a:lnSpc>
            </a:pPr>
            <a:r>
              <a:rPr lang="en-US" sz="600" dirty="0" err="1">
                <a:solidFill>
                  <a:srgbClr val="555555"/>
                </a:solidFill>
                <a:latin typeface="Noto Sans KR" pitchFamily="34" charset="0"/>
                <a:ea typeface="Noto Sans KR" pitchFamily="34" charset="-122"/>
                <a:cs typeface="Noto Sans KR" pitchFamily="34" charset="-120"/>
              </a:rPr>
              <a:t>출처</a:t>
            </a:r>
            <a:r>
              <a:rPr lang="en-US" sz="600" dirty="0">
                <a:solidFill>
                  <a:srgbClr val="555555"/>
                </a:solidFill>
                <a:latin typeface="Noto Sans KR" pitchFamily="34" charset="0"/>
                <a:ea typeface="Noto Sans KR" pitchFamily="34" charset="-122"/>
                <a:cs typeface="Noto Sans KR" pitchFamily="34" charset="-120"/>
              </a:rPr>
              <a:t>: [1] arXiv:2605.26297 [2] arXiv:2608.15127 [3] Anthropic Eng. Blog [10] </a:t>
            </a:r>
            <a:r>
              <a:rPr lang="en-US" altLang="ko-KR" sz="600" dirty="0">
                <a:solidFill>
                  <a:srgbClr val="777777"/>
                </a:solidFill>
                <a:latin typeface="Arial"/>
              </a:rPr>
              <a:t>Conceptual illustration based on Continuum (Li et al., 2025), arXiv:2511.02230</a:t>
            </a:r>
            <a:endParaRPr lang="en-US" sz="600" dirty="0">
              <a:solidFill>
                <a:srgbClr val="555555"/>
              </a:solidFill>
              <a:latin typeface="Noto Sans KR" pitchFamily="34" charset="0"/>
              <a:ea typeface="Noto Sans KR" pitchFamily="34" charset="-122"/>
              <a:cs typeface="Noto Sans KR" pitchFamily="34" charset="-120"/>
            </a:endParaRPr>
          </a:p>
          <a:p>
            <a:pPr marL="0" indent="0" algn="l">
              <a:lnSpc>
                <a:spcPct val="125000"/>
              </a:lnSpc>
              <a:buNone/>
            </a:pPr>
            <a:r>
              <a:rPr lang="en-US" altLang="ko-KR" sz="600" dirty="0"/>
              <a:t>KV cache 0.33MB/token(Llama-3.1-70B, BF16). </a:t>
            </a:r>
            <a:r>
              <a:rPr lang="ko-KR" altLang="en-US" sz="600" dirty="0"/>
              <a:t>문맥 길이</a:t>
            </a:r>
            <a:r>
              <a:rPr lang="en-US" altLang="ko-KR" sz="600" dirty="0"/>
              <a:t>: </a:t>
            </a:r>
            <a:r>
              <a:rPr lang="ko-KR" altLang="en-US" sz="600" dirty="0"/>
              <a:t>에이전트 ≈</a:t>
            </a:r>
            <a:r>
              <a:rPr lang="en-US" altLang="ko-KR" sz="600" dirty="0"/>
              <a:t>75K [1], </a:t>
            </a:r>
            <a:r>
              <a:rPr lang="ko-KR" altLang="en-US" sz="600" dirty="0"/>
              <a:t>채팅</a:t>
            </a:r>
            <a:r>
              <a:rPr lang="en-US" altLang="ko-KR" sz="600" dirty="0"/>
              <a:t>·</a:t>
            </a:r>
            <a:r>
              <a:rPr lang="ko-KR" altLang="en-US" sz="600" dirty="0"/>
              <a:t>멀티는 </a:t>
            </a:r>
            <a:r>
              <a:rPr lang="en-US" altLang="ko-KR" sz="600" dirty="0"/>
              <a:t>[3]</a:t>
            </a:r>
            <a:r>
              <a:rPr lang="ko-KR" altLang="en-US" sz="600" dirty="0"/>
              <a:t>의 토큰 배수</a:t>
            </a:r>
            <a:r>
              <a:rPr lang="en-US" altLang="ko-KR" sz="600" dirty="0"/>
              <a:t>(≈4×/≈15×)</a:t>
            </a:r>
            <a:r>
              <a:rPr lang="ko-KR" altLang="en-US" sz="600" dirty="0"/>
              <a:t>를 적용한 가정</a:t>
            </a:r>
            <a:r>
              <a:rPr lang="en-US" altLang="ko-KR" sz="600" dirty="0"/>
              <a:t>. </a:t>
            </a:r>
            <a:r>
              <a:rPr lang="ko-KR" altLang="en-US" sz="600" dirty="0"/>
              <a:t>동시 수용 </a:t>
            </a:r>
            <a:r>
              <a:rPr lang="ko-KR" altLang="en-US" sz="500" dirty="0"/>
              <a:t>세션</a:t>
            </a:r>
            <a:r>
              <a:rPr lang="ko-KR" altLang="en-US" sz="600" dirty="0"/>
              <a:t> </a:t>
            </a:r>
            <a:r>
              <a:rPr lang="en-US" altLang="ko-KR" sz="600" dirty="0"/>
              <a:t>= (640GB−</a:t>
            </a:r>
            <a:r>
              <a:rPr lang="ko-KR" altLang="en-US" sz="600" dirty="0"/>
              <a:t>가중치 </a:t>
            </a:r>
            <a:r>
              <a:rPr lang="en-US" altLang="ko-KR" sz="600" dirty="0"/>
              <a:t>140GB)÷K</a:t>
            </a:r>
          </a:p>
        </p:txBody>
      </p:sp>
      <p:sp>
        <p:nvSpPr>
          <p:cNvPr id="249" name="Text 99">
            <a:extLst>
              <a:ext uri="{FF2B5EF4-FFF2-40B4-BE49-F238E27FC236}">
                <a16:creationId xmlns:a16="http://schemas.microsoft.com/office/drawing/2014/main" id="{D3AB1718-7726-425A-9E69-7509BE0FD34A}"/>
              </a:ext>
            </a:extLst>
          </p:cNvPr>
          <p:cNvSpPr/>
          <p:nvPr/>
        </p:nvSpPr>
        <p:spPr>
          <a:xfrm>
            <a:off x="6130551" y="6235476"/>
            <a:ext cx="5862667" cy="454947"/>
          </a:xfrm>
          <a:prstGeom prst="rect">
            <a:avLst/>
          </a:prstGeom>
          <a:noFill/>
          <a:ln/>
        </p:spPr>
        <p:txBody>
          <a:bodyPr wrap="square" lIns="0" tIns="0" rIns="0" bIns="0" rtlCol="0" anchor="t">
            <a:noAutofit/>
          </a:bodyPr>
          <a:lstStyle/>
          <a:p>
            <a:pPr marL="0" indent="0" algn="l">
              <a:lnSpc>
                <a:spcPct val="125000"/>
              </a:lnSpc>
              <a:buNone/>
            </a:pPr>
            <a:r>
              <a:rPr lang="en-US" sz="600" dirty="0">
                <a:solidFill>
                  <a:srgbClr val="555555"/>
                </a:solidFill>
                <a:latin typeface="Noto Sans KR" pitchFamily="34" charset="0"/>
                <a:ea typeface="Noto Sans KR" pitchFamily="34" charset="-122"/>
                <a:cs typeface="Noto Sans KR" pitchFamily="34" charset="-120"/>
              </a:rPr>
              <a:t> [4] Micron TAM(Meticulous) [5] </a:t>
            </a:r>
            <a:r>
              <a:rPr lang="en-US" sz="600" dirty="0" err="1">
                <a:solidFill>
                  <a:srgbClr val="555555"/>
                </a:solidFill>
                <a:latin typeface="Noto Sans KR" pitchFamily="34" charset="0"/>
                <a:ea typeface="Noto Sans KR" pitchFamily="34" charset="-122"/>
                <a:cs typeface="Noto Sans KR" pitchFamily="34" charset="-120"/>
              </a:rPr>
              <a:t>TrendForce</a:t>
            </a:r>
            <a:r>
              <a:rPr lang="en-US" sz="600" dirty="0">
                <a:solidFill>
                  <a:srgbClr val="555555"/>
                </a:solidFill>
                <a:latin typeface="Noto Sans KR" pitchFamily="34" charset="0"/>
                <a:ea typeface="Noto Sans KR" pitchFamily="34" charset="-122"/>
                <a:cs typeface="Noto Sans KR" pitchFamily="34" charset="-120"/>
              </a:rPr>
              <a:t> Press Center [6] SK </a:t>
            </a:r>
            <a:r>
              <a:rPr lang="en-US" sz="600" dirty="0" err="1">
                <a:solidFill>
                  <a:srgbClr val="555555"/>
                </a:solidFill>
                <a:latin typeface="Noto Sans KR" pitchFamily="34" charset="0"/>
                <a:ea typeface="Noto Sans KR" pitchFamily="34" charset="-122"/>
                <a:cs typeface="Noto Sans KR" pitchFamily="34" charset="-120"/>
              </a:rPr>
              <a:t>hynix</a:t>
            </a:r>
            <a:r>
              <a:rPr lang="en-US" sz="600" dirty="0">
                <a:solidFill>
                  <a:srgbClr val="555555"/>
                </a:solidFill>
                <a:latin typeface="Noto Sans KR" pitchFamily="34" charset="0"/>
                <a:ea typeface="Noto Sans KR" pitchFamily="34" charset="-122"/>
                <a:cs typeface="Noto Sans KR" pitchFamily="34" charset="-120"/>
              </a:rPr>
              <a:t> CES’26·Samsung OCP’26 [7] arXiv:2610.08378·2609.25782 [8] </a:t>
            </a:r>
            <a:r>
              <a:rPr lang="en-US" sz="600" dirty="0" err="1">
                <a:solidFill>
                  <a:srgbClr val="555555"/>
                </a:solidFill>
                <a:latin typeface="Noto Sans KR" pitchFamily="34" charset="0"/>
                <a:ea typeface="Noto Sans KR" pitchFamily="34" charset="-122"/>
                <a:cs typeface="Noto Sans KR" pitchFamily="34" charset="-120"/>
              </a:rPr>
              <a:t>TrendForce</a:t>
            </a:r>
            <a:r>
              <a:rPr lang="en-US" sz="600" dirty="0">
                <a:solidFill>
                  <a:srgbClr val="555555"/>
                </a:solidFill>
                <a:latin typeface="Noto Sans KR" pitchFamily="34" charset="0"/>
                <a:ea typeface="Noto Sans KR" pitchFamily="34" charset="-122"/>
                <a:cs typeface="Noto Sans KR" pitchFamily="34" charset="-120"/>
              </a:rPr>
              <a:t> News [9] </a:t>
            </a:r>
            <a:r>
              <a:rPr lang="en-US" sz="600" dirty="0" err="1">
                <a:solidFill>
                  <a:srgbClr val="555555"/>
                </a:solidFill>
                <a:latin typeface="Noto Sans KR" pitchFamily="34" charset="0"/>
                <a:ea typeface="Noto Sans KR" pitchFamily="34" charset="-122"/>
                <a:cs typeface="Noto Sans KR" pitchFamily="34" charset="-120"/>
              </a:rPr>
              <a:t>TrendForce</a:t>
            </a:r>
            <a:r>
              <a:rPr lang="en-US" sz="600" dirty="0">
                <a:solidFill>
                  <a:srgbClr val="555555"/>
                </a:solidFill>
                <a:latin typeface="Noto Sans KR" pitchFamily="34" charset="0"/>
                <a:ea typeface="Noto Sans KR" pitchFamily="34" charset="-122"/>
                <a:cs typeface="Noto Sans KR" pitchFamily="34" charset="-120"/>
              </a:rPr>
              <a:t> RP260612EF</a:t>
            </a:r>
            <a:endParaRPr lang="en-US" sz="600" dirty="0"/>
          </a:p>
        </p:txBody>
      </p:sp>
      <p:grpSp>
        <p:nvGrpSpPr>
          <p:cNvPr id="13" name="그룹 12"/>
          <p:cNvGrpSpPr/>
          <p:nvPr/>
        </p:nvGrpSpPr>
        <p:grpSpPr>
          <a:xfrm>
            <a:off x="447647" y="4446663"/>
            <a:ext cx="5618254" cy="1505890"/>
            <a:chOff x="447647" y="4446663"/>
            <a:chExt cx="5618254" cy="1505890"/>
          </a:xfrm>
        </p:grpSpPr>
        <p:sp>
          <p:nvSpPr>
            <p:cNvPr id="210" name="TextBox 209"/>
            <p:cNvSpPr txBox="1"/>
            <p:nvPr/>
          </p:nvSpPr>
          <p:spPr>
            <a:xfrm>
              <a:off x="447647" y="4691035"/>
              <a:ext cx="627095" cy="230832"/>
            </a:xfrm>
            <a:prstGeom prst="rect">
              <a:avLst/>
            </a:prstGeom>
            <a:noFill/>
          </p:spPr>
          <p:txBody>
            <a:bodyPr wrap="none" anchor="ctr">
              <a:spAutoFit/>
            </a:bodyPr>
            <a:lstStyle/>
            <a:p>
              <a:pPr defTabSz="457200" latinLnBrk="0"/>
              <a:r>
                <a:rPr sz="900" b="1" dirty="0">
                  <a:solidFill>
                    <a:srgbClr val="111111"/>
                  </a:solidFill>
                  <a:latin typeface="Arial"/>
                </a:rPr>
                <a:t>Agent A</a:t>
              </a:r>
            </a:p>
          </p:txBody>
        </p:sp>
        <p:sp>
          <p:nvSpPr>
            <p:cNvPr id="211" name="TextBox 210"/>
            <p:cNvSpPr txBox="1"/>
            <p:nvPr/>
          </p:nvSpPr>
          <p:spPr>
            <a:xfrm>
              <a:off x="447647" y="5368239"/>
              <a:ext cx="1217000" cy="230832"/>
            </a:xfrm>
            <a:prstGeom prst="rect">
              <a:avLst/>
            </a:prstGeom>
            <a:noFill/>
          </p:spPr>
          <p:txBody>
            <a:bodyPr wrap="none" anchor="ctr">
              <a:spAutoFit/>
            </a:bodyPr>
            <a:lstStyle/>
            <a:p>
              <a:pPr defTabSz="457200" latinLnBrk="0"/>
              <a:r>
                <a:rPr sz="900" b="1" dirty="0">
                  <a:solidFill>
                    <a:srgbClr val="111111"/>
                  </a:solidFill>
                  <a:latin typeface="Arial"/>
                </a:rPr>
                <a:t>GPU: other </a:t>
              </a:r>
              <a:r>
                <a:rPr lang="en-US" sz="900" b="1" dirty="0">
                  <a:solidFill>
                    <a:srgbClr val="111111"/>
                  </a:solidFill>
                  <a:latin typeface="Arial"/>
                </a:rPr>
                <a:t>Agents</a:t>
              </a:r>
              <a:endParaRPr sz="900" b="1" dirty="0">
                <a:solidFill>
                  <a:srgbClr val="111111"/>
                </a:solidFill>
                <a:latin typeface="Arial"/>
              </a:endParaRPr>
            </a:p>
          </p:txBody>
        </p:sp>
        <p:sp>
          <p:nvSpPr>
            <p:cNvPr id="212" name="Rectangle 4"/>
            <p:cNvSpPr/>
            <p:nvPr/>
          </p:nvSpPr>
          <p:spPr>
            <a:xfrm>
              <a:off x="1136704" y="4705625"/>
              <a:ext cx="598999"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3" name="Rectangle 5"/>
            <p:cNvSpPr/>
            <p:nvPr/>
          </p:nvSpPr>
          <p:spPr>
            <a:xfrm>
              <a:off x="1741472" y="4705625"/>
              <a:ext cx="598999"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Tool / Search</a:t>
              </a:r>
            </a:p>
          </p:txBody>
        </p:sp>
        <p:sp>
          <p:nvSpPr>
            <p:cNvPr id="214" name="Rectangle 6"/>
            <p:cNvSpPr/>
            <p:nvPr/>
          </p:nvSpPr>
          <p:spPr>
            <a:xfrm>
              <a:off x="2346239" y="4705625"/>
              <a:ext cx="705722"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5" name="Rectangle 7"/>
            <p:cNvSpPr/>
            <p:nvPr/>
          </p:nvSpPr>
          <p:spPr>
            <a:xfrm>
              <a:off x="3057731" y="4705625"/>
              <a:ext cx="492275"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6" name="Rectangle 8"/>
            <p:cNvSpPr/>
            <p:nvPr/>
          </p:nvSpPr>
          <p:spPr>
            <a:xfrm>
              <a:off x="3555775" y="4705625"/>
              <a:ext cx="456701"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Tool / </a:t>
              </a:r>
              <a:endParaRPr kumimoji="0" lang="en-US" sz="700" b="1" i="0" u="none" strike="noStrike" kern="0" cap="none" spc="0" normalizeH="0" baseline="0" noProof="0" dirty="0">
                <a:ln>
                  <a:noFill/>
                </a:ln>
                <a:solidFill>
                  <a:srgbClr val="FFFFFF"/>
                </a:solidFill>
                <a:effectLst/>
                <a:uLnTx/>
                <a:uFillTx/>
                <a:latin typeface="Arial"/>
                <a:ea typeface="+mn-ea"/>
                <a:cs typeface="+mn-cs"/>
              </a:endParaRPr>
            </a:p>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Search</a:t>
              </a:r>
            </a:p>
          </p:txBody>
        </p:sp>
        <p:sp>
          <p:nvSpPr>
            <p:cNvPr id="217" name="Rectangle 9"/>
            <p:cNvSpPr/>
            <p:nvPr/>
          </p:nvSpPr>
          <p:spPr>
            <a:xfrm>
              <a:off x="4018245" y="4705625"/>
              <a:ext cx="527849"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8" name="Rectangle 10"/>
            <p:cNvSpPr/>
            <p:nvPr/>
          </p:nvSpPr>
          <p:spPr>
            <a:xfrm>
              <a:off x="4551863" y="4705625"/>
              <a:ext cx="634574"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9" name="Rectangle 11"/>
            <p:cNvSpPr/>
            <p:nvPr/>
          </p:nvSpPr>
          <p:spPr>
            <a:xfrm>
              <a:off x="1741472" y="5375072"/>
              <a:ext cx="1309849"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sp>
          <p:nvSpPr>
            <p:cNvPr id="220" name="Rectangle 12"/>
            <p:cNvSpPr/>
            <p:nvPr/>
          </p:nvSpPr>
          <p:spPr>
            <a:xfrm>
              <a:off x="3555775" y="5375072"/>
              <a:ext cx="989678"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cxnSp>
          <p:nvCxnSpPr>
            <p:cNvPr id="221" name="Connector 13"/>
            <p:cNvCxnSpPr/>
            <p:nvPr/>
          </p:nvCxnSpPr>
          <p:spPr>
            <a:xfrm>
              <a:off x="1098245" y="5674140"/>
              <a:ext cx="4179211" cy="0"/>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cxnSp>
          <p:nvCxnSpPr>
            <p:cNvPr id="222" name="Connector 14"/>
            <p:cNvCxnSpPr/>
            <p:nvPr/>
          </p:nvCxnSpPr>
          <p:spPr>
            <a:xfrm>
              <a:off x="1136704"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3" name="TextBox 222"/>
            <p:cNvSpPr txBox="1"/>
            <p:nvPr/>
          </p:nvSpPr>
          <p:spPr>
            <a:xfrm>
              <a:off x="990671" y="5665183"/>
              <a:ext cx="292068" cy="184666"/>
            </a:xfrm>
            <a:prstGeom prst="rect">
              <a:avLst/>
            </a:prstGeom>
            <a:noFill/>
          </p:spPr>
          <p:txBody>
            <a:bodyPr wrap="none" anchor="ctr">
              <a:spAutoFit/>
            </a:bodyPr>
            <a:lstStyle/>
            <a:p>
              <a:pPr algn="ctr" defTabSz="457200" latinLnBrk="0"/>
              <a:r>
                <a:rPr sz="600">
                  <a:solidFill>
                    <a:srgbClr val="222222"/>
                  </a:solidFill>
                  <a:latin typeface="Arial"/>
                </a:rPr>
                <a:t>0.0</a:t>
              </a:r>
            </a:p>
          </p:txBody>
        </p:sp>
        <p:cxnSp>
          <p:nvCxnSpPr>
            <p:cNvPr id="224" name="Connector 16"/>
            <p:cNvCxnSpPr/>
            <p:nvPr/>
          </p:nvCxnSpPr>
          <p:spPr>
            <a:xfrm>
              <a:off x="1848196"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5" name="TextBox 224"/>
            <p:cNvSpPr txBox="1"/>
            <p:nvPr/>
          </p:nvSpPr>
          <p:spPr>
            <a:xfrm>
              <a:off x="1702162" y="5665183"/>
              <a:ext cx="292068" cy="184666"/>
            </a:xfrm>
            <a:prstGeom prst="rect">
              <a:avLst/>
            </a:prstGeom>
            <a:noFill/>
          </p:spPr>
          <p:txBody>
            <a:bodyPr wrap="none" anchor="ctr">
              <a:spAutoFit/>
            </a:bodyPr>
            <a:lstStyle/>
            <a:p>
              <a:pPr algn="ctr" defTabSz="457200" latinLnBrk="0"/>
              <a:r>
                <a:rPr sz="600">
                  <a:solidFill>
                    <a:srgbClr val="222222"/>
                  </a:solidFill>
                  <a:latin typeface="Arial"/>
                </a:rPr>
                <a:t>2.0</a:t>
              </a:r>
            </a:p>
          </p:txBody>
        </p:sp>
        <p:cxnSp>
          <p:nvCxnSpPr>
            <p:cNvPr id="226" name="Connector 18"/>
            <p:cNvCxnSpPr/>
            <p:nvPr/>
          </p:nvCxnSpPr>
          <p:spPr>
            <a:xfrm>
              <a:off x="2559687"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7" name="TextBox 226"/>
            <p:cNvSpPr txBox="1"/>
            <p:nvPr/>
          </p:nvSpPr>
          <p:spPr>
            <a:xfrm>
              <a:off x="241365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4.0</a:t>
              </a:r>
            </a:p>
          </p:txBody>
        </p:sp>
        <p:cxnSp>
          <p:nvCxnSpPr>
            <p:cNvPr id="228" name="Connector 20"/>
            <p:cNvCxnSpPr/>
            <p:nvPr/>
          </p:nvCxnSpPr>
          <p:spPr>
            <a:xfrm>
              <a:off x="3271178"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9" name="TextBox 228"/>
            <p:cNvSpPr txBox="1"/>
            <p:nvPr/>
          </p:nvSpPr>
          <p:spPr>
            <a:xfrm>
              <a:off x="312514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6.0</a:t>
              </a:r>
            </a:p>
          </p:txBody>
        </p:sp>
        <p:cxnSp>
          <p:nvCxnSpPr>
            <p:cNvPr id="230" name="Connector 22"/>
            <p:cNvCxnSpPr/>
            <p:nvPr/>
          </p:nvCxnSpPr>
          <p:spPr>
            <a:xfrm>
              <a:off x="3982670"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1" name="TextBox 230"/>
            <p:cNvSpPr txBox="1"/>
            <p:nvPr/>
          </p:nvSpPr>
          <p:spPr>
            <a:xfrm>
              <a:off x="3836637" y="5665183"/>
              <a:ext cx="292068" cy="184666"/>
            </a:xfrm>
            <a:prstGeom prst="rect">
              <a:avLst/>
            </a:prstGeom>
            <a:noFill/>
          </p:spPr>
          <p:txBody>
            <a:bodyPr wrap="none" anchor="ctr">
              <a:spAutoFit/>
            </a:bodyPr>
            <a:lstStyle/>
            <a:p>
              <a:pPr algn="ctr" defTabSz="457200" latinLnBrk="0"/>
              <a:r>
                <a:rPr sz="600">
                  <a:solidFill>
                    <a:srgbClr val="222222"/>
                  </a:solidFill>
                  <a:latin typeface="Arial"/>
                </a:rPr>
                <a:t>8.0</a:t>
              </a:r>
            </a:p>
          </p:txBody>
        </p:sp>
        <p:cxnSp>
          <p:nvCxnSpPr>
            <p:cNvPr id="232" name="Connector 24"/>
            <p:cNvCxnSpPr/>
            <p:nvPr/>
          </p:nvCxnSpPr>
          <p:spPr>
            <a:xfrm>
              <a:off x="4694162"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3" name="TextBox 232"/>
            <p:cNvSpPr txBox="1"/>
            <p:nvPr/>
          </p:nvSpPr>
          <p:spPr>
            <a:xfrm>
              <a:off x="4526486"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10.0</a:t>
              </a:r>
            </a:p>
          </p:txBody>
        </p:sp>
        <p:cxnSp>
          <p:nvCxnSpPr>
            <p:cNvPr id="234" name="Connector 26"/>
            <p:cNvCxnSpPr/>
            <p:nvPr/>
          </p:nvCxnSpPr>
          <p:spPr>
            <a:xfrm>
              <a:off x="5192205"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5" name="TextBox 234"/>
            <p:cNvSpPr txBox="1"/>
            <p:nvPr/>
          </p:nvSpPr>
          <p:spPr>
            <a:xfrm>
              <a:off x="5024530"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11.4</a:t>
              </a:r>
            </a:p>
          </p:txBody>
        </p:sp>
        <p:sp>
          <p:nvSpPr>
            <p:cNvPr id="236" name="TextBox 235"/>
            <p:cNvSpPr txBox="1"/>
            <p:nvPr/>
          </p:nvSpPr>
          <p:spPr>
            <a:xfrm>
              <a:off x="2873470" y="5752498"/>
              <a:ext cx="702436" cy="200055"/>
            </a:xfrm>
            <a:prstGeom prst="rect">
              <a:avLst/>
            </a:prstGeom>
            <a:noFill/>
          </p:spPr>
          <p:txBody>
            <a:bodyPr wrap="none" anchor="ctr">
              <a:spAutoFit/>
            </a:bodyPr>
            <a:lstStyle/>
            <a:p>
              <a:pPr algn="ctr" defTabSz="457200" latinLnBrk="0"/>
              <a:r>
                <a:rPr sz="700" dirty="0">
                  <a:solidFill>
                    <a:srgbClr val="222222"/>
                  </a:solidFill>
                  <a:latin typeface="Arial"/>
                </a:rPr>
                <a:t>Elapsed time</a:t>
              </a:r>
            </a:p>
          </p:txBody>
        </p:sp>
        <p:sp>
          <p:nvSpPr>
            <p:cNvPr id="237" name="TextBox 236"/>
            <p:cNvSpPr txBox="1"/>
            <p:nvPr/>
          </p:nvSpPr>
          <p:spPr>
            <a:xfrm>
              <a:off x="2352009" y="4446663"/>
              <a:ext cx="1329210" cy="215444"/>
            </a:xfrm>
            <a:prstGeom prst="rect">
              <a:avLst/>
            </a:prstGeom>
            <a:noFill/>
          </p:spPr>
          <p:txBody>
            <a:bodyPr wrap="none" anchor="ctr">
              <a:spAutoFit/>
            </a:bodyPr>
            <a:lstStyle/>
            <a:p>
              <a:pPr defTabSz="457200" latinLnBrk="0"/>
              <a:r>
                <a:rPr lang="en-US" sz="800" dirty="0">
                  <a:solidFill>
                    <a:srgbClr val="B35B06"/>
                  </a:solidFill>
                  <a:latin typeface="Arial"/>
                </a:rPr>
                <a:t>Waits until GPU is ready</a:t>
              </a:r>
              <a:endParaRPr sz="800" dirty="0">
                <a:solidFill>
                  <a:srgbClr val="B35B06"/>
                </a:solidFill>
                <a:latin typeface="Arial"/>
              </a:endParaRPr>
            </a:p>
          </p:txBody>
        </p:sp>
        <p:cxnSp>
          <p:nvCxnSpPr>
            <p:cNvPr id="238" name="Connector 30"/>
            <p:cNvCxnSpPr/>
            <p:nvPr/>
          </p:nvCxnSpPr>
          <p:spPr>
            <a:xfrm>
              <a:off x="2346239" y="4488460"/>
              <a:ext cx="0" cy="434330"/>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sp>
          <p:nvSpPr>
            <p:cNvPr id="239" name="TextBox 238"/>
            <p:cNvSpPr txBox="1"/>
            <p:nvPr/>
          </p:nvSpPr>
          <p:spPr>
            <a:xfrm>
              <a:off x="4021129" y="4458235"/>
              <a:ext cx="434734" cy="200055"/>
            </a:xfrm>
            <a:prstGeom prst="rect">
              <a:avLst/>
            </a:prstGeom>
            <a:noFill/>
          </p:spPr>
          <p:txBody>
            <a:bodyPr wrap="none" anchor="ctr">
              <a:spAutoFit/>
            </a:bodyPr>
            <a:lstStyle/>
            <a:p>
              <a:pPr defTabSz="457200" latinLnBrk="0"/>
              <a:r>
                <a:rPr lang="en-US" sz="700" dirty="0">
                  <a:solidFill>
                    <a:srgbClr val="B35B06"/>
                  </a:solidFill>
                  <a:latin typeface="Arial"/>
                </a:rPr>
                <a:t>Waits </a:t>
              </a:r>
              <a:endParaRPr sz="700" dirty="0">
                <a:solidFill>
                  <a:srgbClr val="B35B06"/>
                </a:solidFill>
                <a:latin typeface="Arial"/>
              </a:endParaRPr>
            </a:p>
          </p:txBody>
        </p:sp>
        <p:cxnSp>
          <p:nvCxnSpPr>
            <p:cNvPr id="240" name="Connector 32"/>
            <p:cNvCxnSpPr/>
            <p:nvPr/>
          </p:nvCxnSpPr>
          <p:spPr>
            <a:xfrm>
              <a:off x="4006707" y="4490693"/>
              <a:ext cx="0" cy="419524"/>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4" name="Connector 30"/>
            <p:cNvCxnSpPr/>
            <p:nvPr/>
          </p:nvCxnSpPr>
          <p:spPr>
            <a:xfrm>
              <a:off x="3057730"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5" name="Connector 30"/>
            <p:cNvCxnSpPr/>
            <p:nvPr/>
          </p:nvCxnSpPr>
          <p:spPr>
            <a:xfrm>
              <a:off x="4551863"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6" name="직선 화살표 연결선 245"/>
            <p:cNvCxnSpPr/>
            <p:nvPr/>
          </p:nvCxnSpPr>
          <p:spPr>
            <a:xfrm>
              <a:off x="2352009" y="4670724"/>
              <a:ext cx="705721"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cxnSp>
          <p:nvCxnSpPr>
            <p:cNvPr id="247" name="직선 화살표 연결선 246"/>
            <p:cNvCxnSpPr/>
            <p:nvPr/>
          </p:nvCxnSpPr>
          <p:spPr>
            <a:xfrm>
              <a:off x="4006707" y="4670724"/>
              <a:ext cx="545157"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sp>
          <p:nvSpPr>
            <p:cNvPr id="248" name="TextBox 247"/>
            <p:cNvSpPr txBox="1"/>
            <p:nvPr/>
          </p:nvSpPr>
          <p:spPr>
            <a:xfrm>
              <a:off x="4573185" y="5081478"/>
              <a:ext cx="1492716" cy="215444"/>
            </a:xfrm>
            <a:prstGeom prst="rect">
              <a:avLst/>
            </a:prstGeom>
            <a:noFill/>
          </p:spPr>
          <p:txBody>
            <a:bodyPr wrap="none" anchor="ctr">
              <a:spAutoFit/>
            </a:bodyPr>
            <a:lstStyle/>
            <a:p>
              <a:pPr defTabSz="457200" latinLnBrk="0"/>
              <a:r>
                <a:rPr lang="ko-KR" altLang="en-US" sz="800" b="1" dirty="0">
                  <a:solidFill>
                    <a:srgbClr val="FF0000"/>
                  </a:solidFill>
                  <a:latin typeface="Arial"/>
                </a:rPr>
                <a:t>최대 </a:t>
              </a:r>
              <a:r>
                <a:rPr lang="en-US" altLang="ko-KR" sz="800" b="1" dirty="0">
                  <a:solidFill>
                    <a:srgbClr val="FF0000"/>
                  </a:solidFill>
                  <a:latin typeface="Arial"/>
                </a:rPr>
                <a:t>3.66x </a:t>
              </a:r>
              <a:r>
                <a:rPr lang="ko-KR" altLang="en-US" sz="800" b="1" dirty="0">
                  <a:solidFill>
                    <a:srgbClr val="FF0000"/>
                  </a:solidFill>
                  <a:latin typeface="Arial"/>
                </a:rPr>
                <a:t>지연 시간 증가</a:t>
              </a:r>
              <a:r>
                <a:rPr lang="en-US" altLang="ko-KR" sz="500" b="1" dirty="0">
                  <a:solidFill>
                    <a:srgbClr val="FF0000"/>
                  </a:solidFill>
                  <a:latin typeface="Arial"/>
                </a:rPr>
                <a:t>[10]</a:t>
              </a:r>
              <a:endParaRPr sz="900" b="1" dirty="0">
                <a:solidFill>
                  <a:srgbClr val="FF0000"/>
                </a:solidFill>
                <a:latin typeface="Arial"/>
              </a:endParaRPr>
            </a:p>
          </p:txBody>
        </p:sp>
        <p:cxnSp>
          <p:nvCxnSpPr>
            <p:cNvPr id="9" name="직선 화살표 연결선 8"/>
            <p:cNvCxnSpPr/>
            <p:nvPr/>
          </p:nvCxnSpPr>
          <p:spPr>
            <a:xfrm flipV="1">
              <a:off x="1735703"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TextBox 249"/>
            <p:cNvSpPr txBox="1"/>
            <p:nvPr/>
          </p:nvSpPr>
          <p:spPr>
            <a:xfrm>
              <a:off x="1523415" y="5088224"/>
              <a:ext cx="1003801" cy="196272"/>
            </a:xfrm>
            <a:prstGeom prst="rect">
              <a:avLst/>
            </a:prstGeom>
            <a:noFill/>
          </p:spPr>
          <p:txBody>
            <a:bodyPr wrap="none" anchor="ctr">
              <a:spAutoFit/>
            </a:bodyPr>
            <a:lstStyle/>
            <a:p>
              <a:pPr defTabSz="457200" latinLnBrk="0">
                <a:lnSpc>
                  <a:spcPct val="125000"/>
                </a:lnSpc>
              </a:pPr>
              <a:r>
                <a:rPr lang="en-US"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a:t>
              </a:r>
              <a:r>
                <a:rPr lang="en-US" sz="600" b="1" dirty="0">
                  <a:solidFill>
                    <a:srgbClr val="B35B06"/>
                  </a:solidFill>
                  <a:latin typeface="Arial"/>
                </a:rPr>
                <a:t>CPU </a:t>
              </a:r>
              <a:r>
                <a:rPr lang="ko-KR" altLang="en-US" sz="600" b="1" dirty="0">
                  <a:solidFill>
                    <a:srgbClr val="B35B06"/>
                  </a:solidFill>
                  <a:latin typeface="Arial"/>
                </a:rPr>
                <a:t>진입</a:t>
              </a:r>
              <a:endParaRPr lang="en-US" altLang="ko-KR" sz="600" b="1" dirty="0">
                <a:solidFill>
                  <a:srgbClr val="B35B06"/>
                </a:solidFill>
                <a:latin typeface="Arial"/>
              </a:endParaRPr>
            </a:p>
          </p:txBody>
        </p:sp>
        <p:cxnSp>
          <p:nvCxnSpPr>
            <p:cNvPr id="253" name="직선 화살표 연결선 252"/>
            <p:cNvCxnSpPr/>
            <p:nvPr/>
          </p:nvCxnSpPr>
          <p:spPr>
            <a:xfrm flipV="1">
              <a:off x="3558989"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4" name="TextBox 253"/>
            <p:cNvSpPr txBox="1"/>
            <p:nvPr/>
          </p:nvSpPr>
          <p:spPr>
            <a:xfrm>
              <a:off x="3346701" y="5088224"/>
              <a:ext cx="1003801" cy="196272"/>
            </a:xfrm>
            <a:prstGeom prst="rect">
              <a:avLst/>
            </a:prstGeom>
            <a:noFill/>
          </p:spPr>
          <p:txBody>
            <a:bodyPr wrap="none" anchor="ctr">
              <a:spAutoFit/>
            </a:bodyPr>
            <a:lstStyle/>
            <a:p>
              <a:pPr defTabSz="457200" latinLnBrk="0">
                <a:lnSpc>
                  <a:spcPct val="125000"/>
                </a:lnSpc>
              </a:pPr>
              <a:r>
                <a:rPr lang="en-US" altLang="ko-KR"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CPU </a:t>
              </a:r>
              <a:r>
                <a:rPr lang="ko-KR" altLang="en-US" sz="600" b="1" dirty="0">
                  <a:solidFill>
                    <a:srgbClr val="B35B06"/>
                  </a:solidFill>
                  <a:latin typeface="Arial"/>
                </a:rPr>
                <a:t>진입</a:t>
              </a:r>
              <a:endParaRPr lang="en-US" altLang="ko-KR" sz="600" b="1" dirty="0">
                <a:solidFill>
                  <a:srgbClr val="B35B06"/>
                </a:solidFill>
                <a:latin typeface="Arial"/>
              </a:endParaRPr>
            </a:p>
          </p:txBody>
        </p:sp>
      </p:grpSp>
    </p:spTree>
    <p:extLst>
      <p:ext uri="{BB962C8B-B14F-4D97-AF65-F5344CB8AC3E}">
        <p14:creationId xmlns:p14="http://schemas.microsoft.com/office/powerpoint/2010/main" val="398564476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Shape 70">
            <a:extLst>
              <a:ext uri="{FF2B5EF4-FFF2-40B4-BE49-F238E27FC236}">
                <a16:creationId xmlns:a16="http://schemas.microsoft.com/office/drawing/2014/main" id="{4E14E130-65E6-4262-B2DC-5F123E9E9BEF}"/>
              </a:ext>
            </a:extLst>
          </p:cNvPr>
          <p:cNvSpPr/>
          <p:nvPr/>
        </p:nvSpPr>
        <p:spPr>
          <a:xfrm>
            <a:off x="6255045" y="5843873"/>
            <a:ext cx="5616203" cy="645917"/>
          </a:xfrm>
          <a:prstGeom prst="roundRect">
            <a:avLst>
              <a:gd name="adj" fmla="val 22951"/>
            </a:avLst>
          </a:prstGeom>
          <a:solidFill>
            <a:srgbClr val="FBEFE6"/>
          </a:solidFill>
          <a:ln/>
        </p:spPr>
      </p:sp>
      <p:sp>
        <p:nvSpPr>
          <p:cNvPr id="3" name="제목 2"/>
          <p:cNvSpPr>
            <a:spLocks noGrp="1"/>
          </p:cNvSpPr>
          <p:nvPr>
            <p:ph type="title"/>
          </p:nvPr>
        </p:nvSpPr>
        <p:spPr/>
        <p:txBody>
          <a:bodyPr/>
          <a:lstStyle/>
          <a:p>
            <a:r>
              <a:rPr lang="ko-KR" altLang="en-US" dirty="0"/>
              <a:t>과제 필요성</a:t>
            </a:r>
          </a:p>
        </p:txBody>
      </p:sp>
      <p:sp>
        <p:nvSpPr>
          <p:cNvPr id="55" name="모서리가 둥근 직사각형 54"/>
          <p:cNvSpPr/>
          <p:nvPr/>
        </p:nvSpPr>
        <p:spPr>
          <a:xfrm>
            <a:off x="6172198" y="899161"/>
            <a:ext cx="5830571" cy="4625758"/>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모서리가 둥근 직사각형 55"/>
          <p:cNvSpPr/>
          <p:nvPr/>
        </p:nvSpPr>
        <p:spPr>
          <a:xfrm>
            <a:off x="234948" y="899160"/>
            <a:ext cx="5830571" cy="5492839"/>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803967" y="698834"/>
            <a:ext cx="4716897"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당사 메모리 포트폴리오와 이기종 환경</a:t>
            </a:r>
          </a:p>
        </p:txBody>
      </p:sp>
      <p:sp>
        <p:nvSpPr>
          <p:cNvPr id="59" name="직사각형 58"/>
          <p:cNvSpPr/>
          <p:nvPr/>
        </p:nvSpPr>
        <p:spPr>
          <a:xfrm>
            <a:off x="6943438" y="698834"/>
            <a:ext cx="4288088" cy="369715"/>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t>기존 </a:t>
            </a:r>
            <a:r>
              <a:rPr lang="en-US" altLang="ko-KR" sz="1400" b="1" dirty="0"/>
              <a:t>AI SW </a:t>
            </a:r>
            <a:r>
              <a:rPr lang="ko-KR" altLang="en-US" sz="1400" b="1" dirty="0"/>
              <a:t>역할의 한계</a:t>
            </a:r>
          </a:p>
        </p:txBody>
      </p:sp>
      <p:sp>
        <p:nvSpPr>
          <p:cNvPr id="4" name="실행 단추: 앞으로 또는 다음 3">
            <a:hlinkClick r:id="rId3" action="ppaction://hlinksldjump" highlightClick="1"/>
          </p:cNvPr>
          <p:cNvSpPr/>
          <p:nvPr/>
        </p:nvSpPr>
        <p:spPr>
          <a:xfrm>
            <a:off x="7557747" y="205641"/>
            <a:ext cx="220978" cy="22859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p:cNvSpPr txBox="1"/>
          <p:nvPr/>
        </p:nvSpPr>
        <p:spPr>
          <a:xfrm>
            <a:off x="6382851" y="205641"/>
            <a:ext cx="1174896" cy="215444"/>
          </a:xfrm>
          <a:prstGeom prst="rect">
            <a:avLst/>
          </a:prstGeom>
          <a:noFill/>
        </p:spPr>
        <p:txBody>
          <a:bodyPr wrap="square" rtlCol="0">
            <a:spAutoFit/>
          </a:bodyPr>
          <a:lstStyle/>
          <a:p>
            <a:r>
              <a:rPr lang="en-US" altLang="ko-KR" sz="800" b="1" dirty="0">
                <a:solidFill>
                  <a:schemeClr val="tx1">
                    <a:lumMod val="50000"/>
                    <a:lumOff val="50000"/>
                  </a:schemeClr>
                </a:solidFill>
              </a:rPr>
              <a:t>System </a:t>
            </a:r>
            <a:r>
              <a:rPr lang="ko-KR" altLang="en-US" sz="800" b="1" dirty="0">
                <a:solidFill>
                  <a:schemeClr val="tx1">
                    <a:lumMod val="50000"/>
                    <a:lumOff val="50000"/>
                  </a:schemeClr>
                </a:solidFill>
              </a:rPr>
              <a:t>연구 필요성</a:t>
            </a:r>
          </a:p>
        </p:txBody>
      </p:sp>
      <p:sp>
        <p:nvSpPr>
          <p:cNvPr id="111" name="TextBox 110"/>
          <p:cNvSpPr txBox="1"/>
          <p:nvPr/>
        </p:nvSpPr>
        <p:spPr>
          <a:xfrm>
            <a:off x="264303" y="1147570"/>
            <a:ext cx="5771860" cy="333617"/>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latin typeface="+mj-ea"/>
                <a:ea typeface="+mj-ea"/>
              </a:rPr>
              <a:t>■ </a:t>
            </a:r>
            <a:r>
              <a:rPr lang="en-US" altLang="ko-KR" sz="1200" b="1" dirty="0" err="1">
                <a:solidFill>
                  <a:srgbClr val="222222"/>
                </a:solidFill>
                <a:latin typeface="+mj-ea"/>
                <a:ea typeface="+mj-ea"/>
                <a:cs typeface="Noto Sans KR" pitchFamily="34" charset="-120"/>
              </a:rPr>
              <a:t>당사의</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메모리</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포트폴리오</a:t>
            </a:r>
            <a:r>
              <a:rPr lang="en-US" altLang="ko-KR" sz="1200" b="1" dirty="0">
                <a:solidFill>
                  <a:srgbClr val="222222"/>
                </a:solidFill>
                <a:latin typeface="+mj-ea"/>
                <a:ea typeface="+mj-ea"/>
                <a:cs typeface="Noto Sans KR" pitchFamily="34" charset="-120"/>
              </a:rPr>
              <a:t> </a:t>
            </a:r>
            <a:r>
              <a:rPr lang="ko-KR" altLang="en-US" sz="1200" b="1" dirty="0">
                <a:solidFill>
                  <a:srgbClr val="222222"/>
                </a:solidFill>
                <a:latin typeface="+mj-ea"/>
                <a:ea typeface="+mj-ea"/>
                <a:cs typeface="Noto Sans KR" pitchFamily="34" charset="-120"/>
              </a:rPr>
              <a:t>다변화로 이기종 메모리 환경 확대</a:t>
            </a:r>
            <a:endParaRPr lang="en-US" altLang="ko-KR" sz="1200" dirty="0">
              <a:latin typeface="+mj-ea"/>
              <a:ea typeface="+mj-ea"/>
            </a:endParaRPr>
          </a:p>
        </p:txBody>
      </p:sp>
      <p:sp>
        <p:nvSpPr>
          <p:cNvPr id="112" name="TextBox 111"/>
          <p:cNvSpPr txBox="1"/>
          <p:nvPr/>
        </p:nvSpPr>
        <p:spPr>
          <a:xfrm>
            <a:off x="293659" y="4395084"/>
            <a:ext cx="5771860" cy="610616"/>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이기종 메모리 인지형 솔루션 연구로 고객의 </a:t>
            </a:r>
            <a:r>
              <a:rPr lang="en-US" altLang="ko-KR" sz="1200" b="1" dirty="0"/>
              <a:t>LLM </a:t>
            </a:r>
            <a:r>
              <a:rPr lang="ko-KR" altLang="en-US" sz="1200" b="1" dirty="0"/>
              <a:t>추론 처리량</a:t>
            </a:r>
            <a:r>
              <a:rPr lang="en-US" altLang="ko-KR" sz="1200" b="1" dirty="0"/>
              <a:t>·</a:t>
            </a:r>
            <a:r>
              <a:rPr lang="ko-KR" altLang="en-US" sz="1200" b="1" dirty="0"/>
              <a:t>원가 효율을 높이고</a:t>
            </a:r>
            <a:r>
              <a:rPr lang="en-US" altLang="ko-KR" sz="1200" b="1" dirty="0"/>
              <a:t>, </a:t>
            </a:r>
            <a:r>
              <a:rPr lang="ko-KR" altLang="en-US" sz="1200" b="1" dirty="0"/>
              <a:t>당사 메모리 디바이스의 차별적 경쟁력 확보</a:t>
            </a:r>
            <a:endParaRPr lang="en-US" altLang="ko-KR" sz="1200" b="1" dirty="0"/>
          </a:p>
        </p:txBody>
      </p:sp>
      <p:sp>
        <p:nvSpPr>
          <p:cNvPr id="116" name="TextBox 115"/>
          <p:cNvSpPr txBox="1"/>
          <p:nvPr/>
        </p:nvSpPr>
        <p:spPr>
          <a:xfrm>
            <a:off x="6201552" y="1147570"/>
            <a:ext cx="5771860" cy="646331"/>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a:t>
            </a:r>
            <a:r>
              <a:rPr lang="ko-KR" altLang="en-US" sz="1200" dirty="0">
                <a:latin typeface="+mj-ea"/>
                <a:ea typeface="+mj-ea"/>
              </a:rPr>
              <a:t> </a:t>
            </a:r>
            <a:r>
              <a:rPr lang="en-US" altLang="ko-KR" sz="1200" b="1" dirty="0" err="1">
                <a:solidFill>
                  <a:srgbClr val="222222"/>
                </a:solidFill>
                <a:latin typeface="+mj-ea"/>
                <a:ea typeface="+mj-ea"/>
                <a:cs typeface="Noto Sans KR" pitchFamily="34" charset="-120"/>
              </a:rPr>
              <a:t>자원</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heterogeneity가</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높아지고</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agent의</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자원</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수요가</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동적으로</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변하는</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상황에서</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런타임의</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역할이</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결국</a:t>
            </a:r>
            <a:r>
              <a:rPr lang="en-US" altLang="ko-KR" sz="1200" b="1" dirty="0">
                <a:solidFill>
                  <a:srgbClr val="222222"/>
                </a:solidFill>
                <a:latin typeface="+mj-ea"/>
                <a:ea typeface="+mj-ea"/>
                <a:cs typeface="Noto Sans KR" pitchFamily="34" charset="-120"/>
              </a:rPr>
              <a:t> </a:t>
            </a:r>
            <a:r>
              <a:rPr lang="en-US" altLang="ko-KR" sz="1200" b="1" dirty="0" err="1">
                <a:solidFill>
                  <a:srgbClr val="222222"/>
                </a:solidFill>
                <a:latin typeface="+mj-ea"/>
                <a:ea typeface="+mj-ea"/>
                <a:cs typeface="Noto Sans KR" pitchFamily="34" charset="-120"/>
              </a:rPr>
              <a:t>중요</a:t>
            </a:r>
            <a:endParaRPr lang="en-US" altLang="ko-KR" sz="1200" dirty="0">
              <a:latin typeface="+mj-ea"/>
              <a:ea typeface="+mj-ea"/>
            </a:endParaRPr>
          </a:p>
        </p:txBody>
      </p:sp>
      <p:sp>
        <p:nvSpPr>
          <p:cNvPr id="118" name="TextBox 117"/>
          <p:cNvSpPr txBox="1"/>
          <p:nvPr/>
        </p:nvSpPr>
        <p:spPr>
          <a:xfrm>
            <a:off x="6201552" y="3182649"/>
            <a:ext cx="5771860" cy="333617"/>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ko-KR" altLang="en-US" sz="1200" dirty="0"/>
              <a:t>■ </a:t>
            </a:r>
            <a:r>
              <a:rPr lang="ko-KR" altLang="en-US" sz="1200" b="1" dirty="0"/>
              <a:t>이기종 메모리 고려 부재</a:t>
            </a:r>
            <a:endParaRPr lang="en-US" altLang="ko-KR" sz="1200" b="1" dirty="0"/>
          </a:p>
        </p:txBody>
      </p:sp>
      <p:sp>
        <p:nvSpPr>
          <p:cNvPr id="8" name="TextBox 7">
            <a:extLst>
              <a:ext uri="{FF2B5EF4-FFF2-40B4-BE49-F238E27FC236}">
                <a16:creationId xmlns:a16="http://schemas.microsoft.com/office/drawing/2014/main" id="{3E426D35-55AF-4F94-AC6D-261857A848AB}"/>
              </a:ext>
            </a:extLst>
          </p:cNvPr>
          <p:cNvSpPr txBox="1"/>
          <p:nvPr/>
        </p:nvSpPr>
        <p:spPr>
          <a:xfrm>
            <a:off x="6342482" y="5899358"/>
            <a:ext cx="5660287" cy="584775"/>
          </a:xfrm>
          <a:prstGeom prst="rect">
            <a:avLst/>
          </a:prstGeom>
          <a:noFill/>
        </p:spPr>
        <p:txBody>
          <a:bodyPr wrap="square" rtlCol="0">
            <a:spAutoFit/>
          </a:bodyPr>
          <a:lstStyle/>
          <a:p>
            <a:pPr algn="ctr"/>
            <a:r>
              <a:rPr lang="en-US" altLang="ko-KR" sz="1600" b="1" dirty="0">
                <a:solidFill>
                  <a:schemeClr val="accent2">
                    <a:lumMod val="75000"/>
                  </a:schemeClr>
                </a:solidFill>
              </a:rPr>
              <a:t>LLM </a:t>
            </a:r>
            <a:r>
              <a:rPr lang="ko-KR" altLang="en-US" sz="1600" b="1" dirty="0">
                <a:solidFill>
                  <a:schemeClr val="accent2">
                    <a:lumMod val="75000"/>
                  </a:schemeClr>
                </a:solidFill>
              </a:rPr>
              <a:t>추론 처리량 향상을 위한  </a:t>
            </a:r>
          </a:p>
          <a:p>
            <a:pPr algn="ctr"/>
            <a:r>
              <a:rPr lang="ko-KR" altLang="en-US" sz="1600" b="1" dirty="0">
                <a:solidFill>
                  <a:schemeClr val="accent2">
                    <a:lumMod val="75000"/>
                  </a:schemeClr>
                </a:solidFill>
              </a:rPr>
              <a:t>이기종 메모리 인지형 런타임 연구 개발 필요 </a:t>
            </a:r>
          </a:p>
        </p:txBody>
      </p:sp>
      <p:sp>
        <p:nvSpPr>
          <p:cNvPr id="2" name="화살표: 아래쪽 1">
            <a:extLst>
              <a:ext uri="{FF2B5EF4-FFF2-40B4-BE49-F238E27FC236}">
                <a16:creationId xmlns:a16="http://schemas.microsoft.com/office/drawing/2014/main" id="{B625C597-E67B-4695-9BC8-B8F2F6B8E5EB}"/>
              </a:ext>
            </a:extLst>
          </p:cNvPr>
          <p:cNvSpPr/>
          <p:nvPr/>
        </p:nvSpPr>
        <p:spPr>
          <a:xfrm>
            <a:off x="8857640" y="5605896"/>
            <a:ext cx="651672" cy="20133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a:extLst>
              <a:ext uri="{FF2B5EF4-FFF2-40B4-BE49-F238E27FC236}">
                <a16:creationId xmlns:a16="http://schemas.microsoft.com/office/drawing/2014/main" id="{3649B709-ED35-4C0C-9832-AE31F3CB2BD1}"/>
              </a:ext>
            </a:extLst>
          </p:cNvPr>
          <p:cNvGrpSpPr/>
          <p:nvPr/>
        </p:nvGrpSpPr>
        <p:grpSpPr>
          <a:xfrm>
            <a:off x="1627914" y="1603425"/>
            <a:ext cx="4362427" cy="2563485"/>
            <a:chOff x="1380614" y="1577324"/>
            <a:chExt cx="4175381" cy="2617900"/>
          </a:xfrm>
        </p:grpSpPr>
        <p:sp>
          <p:nvSpPr>
            <p:cNvPr id="49" name="양쪽 모서리가 둥근 사각형 72">
              <a:extLst>
                <a:ext uri="{FF2B5EF4-FFF2-40B4-BE49-F238E27FC236}">
                  <a16:creationId xmlns:a16="http://schemas.microsoft.com/office/drawing/2014/main" id="{B87BA4A2-B807-4672-9201-500DE054F9C8}"/>
                </a:ext>
              </a:extLst>
            </p:cNvPr>
            <p:cNvSpPr/>
            <p:nvPr/>
          </p:nvSpPr>
          <p:spPr>
            <a:xfrm>
              <a:off x="1692838" y="1577324"/>
              <a:ext cx="3081418" cy="249061"/>
            </a:xfrm>
            <a:prstGeom prst="round2SameRect">
              <a:avLst>
                <a:gd name="adj1" fmla="val 21264"/>
                <a:gd name="adj2" fmla="val 0"/>
              </a:avLst>
            </a:pr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Computing Coupled Memory Hierarchy </a:t>
              </a:r>
            </a:p>
          </p:txBody>
        </p:sp>
        <p:sp>
          <p:nvSpPr>
            <p:cNvPr id="50" name="직사각형 49">
              <a:extLst>
                <a:ext uri="{FF2B5EF4-FFF2-40B4-BE49-F238E27FC236}">
                  <a16:creationId xmlns:a16="http://schemas.microsoft.com/office/drawing/2014/main" id="{48DEB424-195B-45D6-835C-3EA1D48E497A}"/>
                </a:ext>
              </a:extLst>
            </p:cNvPr>
            <p:cNvSpPr/>
            <p:nvPr/>
          </p:nvSpPr>
          <p:spPr>
            <a:xfrm>
              <a:off x="3377531" y="3120385"/>
              <a:ext cx="2086867" cy="210353"/>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600" b="0" i="0" u="none" strike="noStrike" kern="0" cap="none" spc="0" normalizeH="0" baseline="0" noProof="0">
                <a:ln>
                  <a:noFill/>
                </a:ln>
                <a:effectLst/>
                <a:uLnTx/>
                <a:uFillTx/>
                <a:latin typeface="SAMSUNGONE-400C" panose="020B0506030303020204" pitchFamily="34" charset="0"/>
                <a:ea typeface="맑은 고딕"/>
                <a:cs typeface="+mn-cs"/>
              </a:endParaRPr>
            </a:p>
          </p:txBody>
        </p:sp>
        <p:sp>
          <p:nvSpPr>
            <p:cNvPr id="51" name="직사각형 50">
              <a:extLst>
                <a:ext uri="{FF2B5EF4-FFF2-40B4-BE49-F238E27FC236}">
                  <a16:creationId xmlns:a16="http://schemas.microsoft.com/office/drawing/2014/main" id="{7AE2DE35-E283-4E5A-8BE1-4E2EC9F36A48}"/>
                </a:ext>
              </a:extLst>
            </p:cNvPr>
            <p:cNvSpPr/>
            <p:nvPr/>
          </p:nvSpPr>
          <p:spPr>
            <a:xfrm>
              <a:off x="3377531" y="3399320"/>
              <a:ext cx="2086867" cy="290558"/>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600" b="0" i="0" u="none" strike="noStrike" kern="0" cap="none" spc="0" normalizeH="0" baseline="0" noProof="0">
                <a:ln>
                  <a:noFill/>
                </a:ln>
                <a:effectLst/>
                <a:uLnTx/>
                <a:uFillTx/>
                <a:latin typeface="SAMSUNGONE-400C" panose="020B0506030303020204" pitchFamily="34" charset="0"/>
                <a:ea typeface="맑은 고딕"/>
                <a:cs typeface="+mn-cs"/>
              </a:endParaRPr>
            </a:p>
          </p:txBody>
        </p:sp>
        <p:sp>
          <p:nvSpPr>
            <p:cNvPr id="52" name="직사각형 51">
              <a:extLst>
                <a:ext uri="{FF2B5EF4-FFF2-40B4-BE49-F238E27FC236}">
                  <a16:creationId xmlns:a16="http://schemas.microsoft.com/office/drawing/2014/main" id="{7B018317-4DE9-4D88-A6D3-42AA0D37B200}"/>
                </a:ext>
              </a:extLst>
            </p:cNvPr>
            <p:cNvSpPr/>
            <p:nvPr/>
          </p:nvSpPr>
          <p:spPr>
            <a:xfrm>
              <a:off x="3369624" y="2881460"/>
              <a:ext cx="2094774" cy="187589"/>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600" b="0" i="0" u="none" strike="noStrike" kern="0" cap="none" spc="0" normalizeH="0" baseline="0" noProof="0">
                <a:ln>
                  <a:noFill/>
                </a:ln>
                <a:effectLst/>
                <a:uLnTx/>
                <a:uFillTx/>
                <a:latin typeface="SAMSUNGONE-400C" panose="020B0506030303020204" pitchFamily="34" charset="0"/>
                <a:ea typeface="맑은 고딕"/>
                <a:cs typeface="+mn-cs"/>
              </a:endParaRPr>
            </a:p>
          </p:txBody>
        </p:sp>
        <p:graphicFrame>
          <p:nvGraphicFramePr>
            <p:cNvPr id="53" name="다이어그램 262">
              <a:extLst>
                <a:ext uri="{FF2B5EF4-FFF2-40B4-BE49-F238E27FC236}">
                  <a16:creationId xmlns:a16="http://schemas.microsoft.com/office/drawing/2014/main" id="{99B4FDA2-F66B-4992-BD7F-5E6C87E6CEA0}"/>
                </a:ext>
              </a:extLst>
            </p:cNvPr>
            <p:cNvGraphicFramePr/>
            <p:nvPr/>
          </p:nvGraphicFramePr>
          <p:xfrm>
            <a:off x="1657852" y="1873559"/>
            <a:ext cx="2382939" cy="230046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54" name="TextBox 53">
              <a:extLst>
                <a:ext uri="{FF2B5EF4-FFF2-40B4-BE49-F238E27FC236}">
                  <a16:creationId xmlns:a16="http://schemas.microsoft.com/office/drawing/2014/main" id="{CE8F0561-D1AD-4699-AAFD-A4B4F267AD61}"/>
                </a:ext>
              </a:extLst>
            </p:cNvPr>
            <p:cNvSpPr txBox="1"/>
            <p:nvPr/>
          </p:nvSpPr>
          <p:spPr>
            <a:xfrm>
              <a:off x="4160268" y="2855919"/>
              <a:ext cx="1395727" cy="230832"/>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Extreme BW and Power</a:t>
              </a:r>
              <a:endParaRPr kumimoji="0" lang="ko-KR" altLang="en-US" sz="9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57" name="TextBox 56">
              <a:extLst>
                <a:ext uri="{FF2B5EF4-FFF2-40B4-BE49-F238E27FC236}">
                  <a16:creationId xmlns:a16="http://schemas.microsoft.com/office/drawing/2014/main" id="{A893456B-FB7C-4082-8DC9-76BBD30CF7CF}"/>
                </a:ext>
              </a:extLst>
            </p:cNvPr>
            <p:cNvSpPr txBox="1"/>
            <p:nvPr/>
          </p:nvSpPr>
          <p:spPr>
            <a:xfrm>
              <a:off x="3839752" y="3442882"/>
              <a:ext cx="1689317" cy="20991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Extreme capacity, Moderate cost</a:t>
              </a:r>
              <a:endParaRPr kumimoji="0" lang="ko-KR" altLang="en-US" sz="9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60" name="TextBox 59">
              <a:extLst>
                <a:ext uri="{FF2B5EF4-FFF2-40B4-BE49-F238E27FC236}">
                  <a16:creationId xmlns:a16="http://schemas.microsoft.com/office/drawing/2014/main" id="{A0AAFB7C-F274-442E-9927-09694FC7169B}"/>
                </a:ext>
              </a:extLst>
            </p:cNvPr>
            <p:cNvSpPr txBox="1"/>
            <p:nvPr/>
          </p:nvSpPr>
          <p:spPr>
            <a:xfrm>
              <a:off x="3769962" y="2542104"/>
              <a:ext cx="1642594" cy="237899"/>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[Memory requirement]</a:t>
              </a:r>
              <a:endParaRPr kumimoji="0" lang="ko-KR" altLang="en-US" sz="1100" b="1"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61" name="사다리꼴 83">
              <a:extLst>
                <a:ext uri="{FF2B5EF4-FFF2-40B4-BE49-F238E27FC236}">
                  <a16:creationId xmlns:a16="http://schemas.microsoft.com/office/drawing/2014/main" id="{DDD0215A-74DE-4913-98DD-8C91001DF1A5}"/>
                </a:ext>
              </a:extLst>
            </p:cNvPr>
            <p:cNvSpPr/>
            <p:nvPr/>
          </p:nvSpPr>
          <p:spPr>
            <a:xfrm>
              <a:off x="2103926" y="3123918"/>
              <a:ext cx="1493001" cy="216581"/>
            </a:xfrm>
            <a:custGeom>
              <a:avLst/>
              <a:gdLst>
                <a:gd name="connsiteX0" fmla="*/ 0 w 1361174"/>
                <a:gd name="connsiteY0" fmla="*/ 335927 h 335927"/>
                <a:gd name="connsiteX1" fmla="*/ 83982 w 1361174"/>
                <a:gd name="connsiteY1" fmla="*/ 0 h 335927"/>
                <a:gd name="connsiteX2" fmla="*/ 1277192 w 1361174"/>
                <a:gd name="connsiteY2" fmla="*/ 0 h 335927"/>
                <a:gd name="connsiteX3" fmla="*/ 1361174 w 1361174"/>
                <a:gd name="connsiteY3" fmla="*/ 335927 h 335927"/>
                <a:gd name="connsiteX4" fmla="*/ 0 w 1361174"/>
                <a:gd name="connsiteY4" fmla="*/ 335927 h 335927"/>
                <a:gd name="connsiteX0" fmla="*/ 0 w 1446899"/>
                <a:gd name="connsiteY0" fmla="*/ 338308 h 338308"/>
                <a:gd name="connsiteX1" fmla="*/ 169707 w 1446899"/>
                <a:gd name="connsiteY1" fmla="*/ 0 h 338308"/>
                <a:gd name="connsiteX2" fmla="*/ 1362917 w 1446899"/>
                <a:gd name="connsiteY2" fmla="*/ 0 h 338308"/>
                <a:gd name="connsiteX3" fmla="*/ 1446899 w 1446899"/>
                <a:gd name="connsiteY3" fmla="*/ 335927 h 338308"/>
                <a:gd name="connsiteX4" fmla="*/ 0 w 1446899"/>
                <a:gd name="connsiteY4" fmla="*/ 338308 h 338308"/>
                <a:gd name="connsiteX0" fmla="*/ 0 w 1537386"/>
                <a:gd name="connsiteY0" fmla="*/ 338308 h 338308"/>
                <a:gd name="connsiteX1" fmla="*/ 169707 w 1537386"/>
                <a:gd name="connsiteY1" fmla="*/ 0 h 338308"/>
                <a:gd name="connsiteX2" fmla="*/ 1362917 w 1537386"/>
                <a:gd name="connsiteY2" fmla="*/ 0 h 338308"/>
                <a:gd name="connsiteX3" fmla="*/ 1537386 w 1537386"/>
                <a:gd name="connsiteY3" fmla="*/ 338308 h 338308"/>
                <a:gd name="connsiteX4" fmla="*/ 0 w 1537386"/>
                <a:gd name="connsiteY4" fmla="*/ 338308 h 338308"/>
                <a:gd name="connsiteX0" fmla="*/ 0 w 1537386"/>
                <a:gd name="connsiteY0" fmla="*/ 341947 h 341947"/>
                <a:gd name="connsiteX1" fmla="*/ 148569 w 1537386"/>
                <a:gd name="connsiteY1" fmla="*/ 0 h 341947"/>
                <a:gd name="connsiteX2" fmla="*/ 1362917 w 1537386"/>
                <a:gd name="connsiteY2" fmla="*/ 3639 h 341947"/>
                <a:gd name="connsiteX3" fmla="*/ 1537386 w 1537386"/>
                <a:gd name="connsiteY3" fmla="*/ 341947 h 341947"/>
                <a:gd name="connsiteX4" fmla="*/ 0 w 1537386"/>
                <a:gd name="connsiteY4" fmla="*/ 341947 h 341947"/>
                <a:gd name="connsiteX0" fmla="*/ 0 w 1481655"/>
                <a:gd name="connsiteY0" fmla="*/ 334668 h 341947"/>
                <a:gd name="connsiteX1" fmla="*/ 92838 w 1481655"/>
                <a:gd name="connsiteY1" fmla="*/ 0 h 341947"/>
                <a:gd name="connsiteX2" fmla="*/ 1307186 w 1481655"/>
                <a:gd name="connsiteY2" fmla="*/ 3639 h 341947"/>
                <a:gd name="connsiteX3" fmla="*/ 1481655 w 1481655"/>
                <a:gd name="connsiteY3" fmla="*/ 341947 h 341947"/>
                <a:gd name="connsiteX4" fmla="*/ 0 w 1481655"/>
                <a:gd name="connsiteY4" fmla="*/ 334668 h 341947"/>
                <a:gd name="connsiteX0" fmla="*/ 0 w 1481655"/>
                <a:gd name="connsiteY0" fmla="*/ 334668 h 341947"/>
                <a:gd name="connsiteX1" fmla="*/ 92838 w 1481655"/>
                <a:gd name="connsiteY1" fmla="*/ 0 h 341947"/>
                <a:gd name="connsiteX2" fmla="*/ 1349464 w 1481655"/>
                <a:gd name="connsiteY2" fmla="*/ 3639 h 341947"/>
                <a:gd name="connsiteX3" fmla="*/ 1481655 w 1481655"/>
                <a:gd name="connsiteY3" fmla="*/ 341947 h 341947"/>
                <a:gd name="connsiteX4" fmla="*/ 0 w 1481655"/>
                <a:gd name="connsiteY4" fmla="*/ 334668 h 341947"/>
                <a:gd name="connsiteX0" fmla="*/ 0 w 1443220"/>
                <a:gd name="connsiteY0" fmla="*/ 334668 h 334670"/>
                <a:gd name="connsiteX1" fmla="*/ 92838 w 1443220"/>
                <a:gd name="connsiteY1" fmla="*/ 0 h 334670"/>
                <a:gd name="connsiteX2" fmla="*/ 1349464 w 1443220"/>
                <a:gd name="connsiteY2" fmla="*/ 3639 h 334670"/>
                <a:gd name="connsiteX3" fmla="*/ 1443220 w 1443220"/>
                <a:gd name="connsiteY3" fmla="*/ 334670 h 334670"/>
                <a:gd name="connsiteX4" fmla="*/ 0 w 1443220"/>
                <a:gd name="connsiteY4" fmla="*/ 334668 h 334670"/>
                <a:gd name="connsiteX0" fmla="*/ 0 w 1452828"/>
                <a:gd name="connsiteY0" fmla="*/ 334668 h 334670"/>
                <a:gd name="connsiteX1" fmla="*/ 92838 w 1452828"/>
                <a:gd name="connsiteY1" fmla="*/ 0 h 334670"/>
                <a:gd name="connsiteX2" fmla="*/ 1349464 w 1452828"/>
                <a:gd name="connsiteY2" fmla="*/ 3639 h 334670"/>
                <a:gd name="connsiteX3" fmla="*/ 1452828 w 1452828"/>
                <a:gd name="connsiteY3" fmla="*/ 334670 h 334670"/>
                <a:gd name="connsiteX4" fmla="*/ 0 w 1452828"/>
                <a:gd name="connsiteY4" fmla="*/ 334668 h 334670"/>
                <a:gd name="connsiteX0" fmla="*/ 0 w 1464358"/>
                <a:gd name="connsiteY0" fmla="*/ 334667 h 334670"/>
                <a:gd name="connsiteX1" fmla="*/ 104368 w 1464358"/>
                <a:gd name="connsiteY1" fmla="*/ 0 h 334670"/>
                <a:gd name="connsiteX2" fmla="*/ 1360994 w 1464358"/>
                <a:gd name="connsiteY2" fmla="*/ 3639 h 334670"/>
                <a:gd name="connsiteX3" fmla="*/ 1464358 w 1464358"/>
                <a:gd name="connsiteY3" fmla="*/ 334670 h 334670"/>
                <a:gd name="connsiteX4" fmla="*/ 0 w 1464358"/>
                <a:gd name="connsiteY4" fmla="*/ 334667 h 3346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64358" h="334670">
                  <a:moveTo>
                    <a:pt x="0" y="334667"/>
                  </a:moveTo>
                  <a:lnTo>
                    <a:pt x="104368" y="0"/>
                  </a:lnTo>
                  <a:lnTo>
                    <a:pt x="1360994" y="3639"/>
                  </a:lnTo>
                  <a:lnTo>
                    <a:pt x="1464358" y="334670"/>
                  </a:lnTo>
                  <a:lnTo>
                    <a:pt x="0" y="334667"/>
                  </a:lnTo>
                  <a:close/>
                </a:path>
              </a:pathLst>
            </a:cu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err="1">
                  <a:ln>
                    <a:noFill/>
                  </a:ln>
                  <a:effectLst/>
                  <a:uLnTx/>
                  <a:uFillTx/>
                  <a:latin typeface="SAMSUNGONE-400C" panose="020B0506030303020204" pitchFamily="34" charset="0"/>
                  <a:ea typeface="SAMSUNGONE-400C" panose="020B0506030303020204" pitchFamily="34" charset="0"/>
                  <a:cs typeface="+mn-cs"/>
                </a:rPr>
                <a:t>DDRx</a:t>
              </a:r>
              <a:r>
                <a:rPr kumimoji="0" lang="en-US" altLang="ko-KR" sz="800" b="0" i="0" u="none" strike="noStrike" kern="0" cap="none" spc="0" normalizeH="0" baseline="0" noProof="0" dirty="0">
                  <a:ln>
                    <a:noFill/>
                  </a:ln>
                  <a:effectLst/>
                  <a:uLnTx/>
                  <a:uFillTx/>
                  <a:latin typeface="SAMSUNGONE-400C" panose="020B0506030303020204" pitchFamily="34" charset="0"/>
                  <a:ea typeface="SAMSUNGONE-400C" panose="020B0506030303020204" pitchFamily="34" charset="0"/>
                  <a:cs typeface="+mn-cs"/>
                </a:rPr>
                <a:t>, LPDDR, </a:t>
              </a:r>
              <a:r>
                <a:rPr kumimoji="0" lang="en-US" altLang="ko-KR" sz="1000" b="1" i="0" u="none" strike="noStrike" kern="0" cap="none" spc="0" normalizeH="0" baseline="0" noProof="0" dirty="0">
                  <a:ln>
                    <a:noFill/>
                  </a:ln>
                  <a:solidFill>
                    <a:srgbClr val="FFFF00"/>
                  </a:solidFill>
                  <a:effectLst/>
                  <a:uLnTx/>
                  <a:uFillTx/>
                  <a:latin typeface="SAMSUNGONE-400C" panose="020B0506030303020204" pitchFamily="34" charset="0"/>
                  <a:ea typeface="SAMSUNGONE-400C" panose="020B0506030303020204" pitchFamily="34" charset="0"/>
                  <a:cs typeface="+mn-cs"/>
                </a:rPr>
                <a:t>LPDDR5X-PIM</a:t>
              </a:r>
              <a:endParaRPr kumimoji="0" lang="ko-KR" altLang="en-US" sz="1000" b="1" i="0" u="none" strike="noStrike" kern="0" cap="none" spc="0" normalizeH="0" baseline="0" noProof="0" dirty="0">
                <a:ln>
                  <a:noFill/>
                </a:ln>
                <a:solidFill>
                  <a:srgbClr val="FFFF00"/>
                </a:solidFill>
                <a:effectLst/>
                <a:uLnTx/>
                <a:uFillTx/>
                <a:latin typeface="SAMSUNGONE-400C" panose="020B0506030303020204" pitchFamily="34" charset="0"/>
                <a:ea typeface="맑은 고딕"/>
                <a:cs typeface="+mn-cs"/>
              </a:endParaRPr>
            </a:p>
          </p:txBody>
        </p:sp>
        <p:sp>
          <p:nvSpPr>
            <p:cNvPr id="62" name="사다리꼴 83">
              <a:extLst>
                <a:ext uri="{FF2B5EF4-FFF2-40B4-BE49-F238E27FC236}">
                  <a16:creationId xmlns:a16="http://schemas.microsoft.com/office/drawing/2014/main" id="{FBF2DCAC-28FE-400F-B06B-D7839F9FED9C}"/>
                </a:ext>
              </a:extLst>
            </p:cNvPr>
            <p:cNvSpPr/>
            <p:nvPr/>
          </p:nvSpPr>
          <p:spPr>
            <a:xfrm>
              <a:off x="1920428" y="3397006"/>
              <a:ext cx="1845739" cy="296056"/>
            </a:xfrm>
            <a:custGeom>
              <a:avLst/>
              <a:gdLst>
                <a:gd name="connsiteX0" fmla="*/ 0 w 1361174"/>
                <a:gd name="connsiteY0" fmla="*/ 335927 h 335927"/>
                <a:gd name="connsiteX1" fmla="*/ 83982 w 1361174"/>
                <a:gd name="connsiteY1" fmla="*/ 0 h 335927"/>
                <a:gd name="connsiteX2" fmla="*/ 1277192 w 1361174"/>
                <a:gd name="connsiteY2" fmla="*/ 0 h 335927"/>
                <a:gd name="connsiteX3" fmla="*/ 1361174 w 1361174"/>
                <a:gd name="connsiteY3" fmla="*/ 335927 h 335927"/>
                <a:gd name="connsiteX4" fmla="*/ 0 w 1361174"/>
                <a:gd name="connsiteY4" fmla="*/ 335927 h 335927"/>
                <a:gd name="connsiteX0" fmla="*/ 0 w 1446899"/>
                <a:gd name="connsiteY0" fmla="*/ 338308 h 338308"/>
                <a:gd name="connsiteX1" fmla="*/ 169707 w 1446899"/>
                <a:gd name="connsiteY1" fmla="*/ 0 h 338308"/>
                <a:gd name="connsiteX2" fmla="*/ 1362917 w 1446899"/>
                <a:gd name="connsiteY2" fmla="*/ 0 h 338308"/>
                <a:gd name="connsiteX3" fmla="*/ 1446899 w 1446899"/>
                <a:gd name="connsiteY3" fmla="*/ 335927 h 338308"/>
                <a:gd name="connsiteX4" fmla="*/ 0 w 1446899"/>
                <a:gd name="connsiteY4" fmla="*/ 338308 h 338308"/>
                <a:gd name="connsiteX0" fmla="*/ 0 w 1537386"/>
                <a:gd name="connsiteY0" fmla="*/ 338308 h 338308"/>
                <a:gd name="connsiteX1" fmla="*/ 169707 w 1537386"/>
                <a:gd name="connsiteY1" fmla="*/ 0 h 338308"/>
                <a:gd name="connsiteX2" fmla="*/ 1362917 w 1537386"/>
                <a:gd name="connsiteY2" fmla="*/ 0 h 338308"/>
                <a:gd name="connsiteX3" fmla="*/ 1537386 w 1537386"/>
                <a:gd name="connsiteY3" fmla="*/ 338308 h 338308"/>
                <a:gd name="connsiteX4" fmla="*/ 0 w 1537386"/>
                <a:gd name="connsiteY4" fmla="*/ 338308 h 338308"/>
                <a:gd name="connsiteX0" fmla="*/ 0 w 1537386"/>
                <a:gd name="connsiteY0" fmla="*/ 341947 h 341947"/>
                <a:gd name="connsiteX1" fmla="*/ 148569 w 1537386"/>
                <a:gd name="connsiteY1" fmla="*/ 0 h 341947"/>
                <a:gd name="connsiteX2" fmla="*/ 1362917 w 1537386"/>
                <a:gd name="connsiteY2" fmla="*/ 3639 h 341947"/>
                <a:gd name="connsiteX3" fmla="*/ 1537386 w 1537386"/>
                <a:gd name="connsiteY3" fmla="*/ 341947 h 341947"/>
                <a:gd name="connsiteX4" fmla="*/ 0 w 1537386"/>
                <a:gd name="connsiteY4" fmla="*/ 341947 h 341947"/>
                <a:gd name="connsiteX0" fmla="*/ 0 w 1481655"/>
                <a:gd name="connsiteY0" fmla="*/ 334668 h 341947"/>
                <a:gd name="connsiteX1" fmla="*/ 92838 w 1481655"/>
                <a:gd name="connsiteY1" fmla="*/ 0 h 341947"/>
                <a:gd name="connsiteX2" fmla="*/ 1307186 w 1481655"/>
                <a:gd name="connsiteY2" fmla="*/ 3639 h 341947"/>
                <a:gd name="connsiteX3" fmla="*/ 1481655 w 1481655"/>
                <a:gd name="connsiteY3" fmla="*/ 341947 h 341947"/>
                <a:gd name="connsiteX4" fmla="*/ 0 w 1481655"/>
                <a:gd name="connsiteY4" fmla="*/ 334668 h 341947"/>
                <a:gd name="connsiteX0" fmla="*/ 0 w 1481655"/>
                <a:gd name="connsiteY0" fmla="*/ 334668 h 341947"/>
                <a:gd name="connsiteX1" fmla="*/ 92838 w 1481655"/>
                <a:gd name="connsiteY1" fmla="*/ 0 h 341947"/>
                <a:gd name="connsiteX2" fmla="*/ 1349464 w 1481655"/>
                <a:gd name="connsiteY2" fmla="*/ 3639 h 341947"/>
                <a:gd name="connsiteX3" fmla="*/ 1481655 w 1481655"/>
                <a:gd name="connsiteY3" fmla="*/ 341947 h 341947"/>
                <a:gd name="connsiteX4" fmla="*/ 0 w 1481655"/>
                <a:gd name="connsiteY4" fmla="*/ 334668 h 341947"/>
                <a:gd name="connsiteX0" fmla="*/ 0 w 1443220"/>
                <a:gd name="connsiteY0" fmla="*/ 334668 h 334670"/>
                <a:gd name="connsiteX1" fmla="*/ 92838 w 1443220"/>
                <a:gd name="connsiteY1" fmla="*/ 0 h 334670"/>
                <a:gd name="connsiteX2" fmla="*/ 1349464 w 1443220"/>
                <a:gd name="connsiteY2" fmla="*/ 3639 h 334670"/>
                <a:gd name="connsiteX3" fmla="*/ 1443220 w 1443220"/>
                <a:gd name="connsiteY3" fmla="*/ 334670 h 334670"/>
                <a:gd name="connsiteX4" fmla="*/ 0 w 1443220"/>
                <a:gd name="connsiteY4" fmla="*/ 334668 h 334670"/>
                <a:gd name="connsiteX0" fmla="*/ 0 w 1443220"/>
                <a:gd name="connsiteY0" fmla="*/ 334668 h 334670"/>
                <a:gd name="connsiteX1" fmla="*/ 103124 w 1443220"/>
                <a:gd name="connsiteY1" fmla="*/ 0 h 334670"/>
                <a:gd name="connsiteX2" fmla="*/ 1349464 w 1443220"/>
                <a:gd name="connsiteY2" fmla="*/ 3639 h 334670"/>
                <a:gd name="connsiteX3" fmla="*/ 1443220 w 1443220"/>
                <a:gd name="connsiteY3" fmla="*/ 334670 h 334670"/>
                <a:gd name="connsiteX4" fmla="*/ 0 w 1443220"/>
                <a:gd name="connsiteY4" fmla="*/ 334668 h 334670"/>
                <a:gd name="connsiteX0" fmla="*/ 0 w 1457914"/>
                <a:gd name="connsiteY0" fmla="*/ 336868 h 336868"/>
                <a:gd name="connsiteX1" fmla="*/ 117818 w 1457914"/>
                <a:gd name="connsiteY1" fmla="*/ 0 h 336868"/>
                <a:gd name="connsiteX2" fmla="*/ 1364158 w 1457914"/>
                <a:gd name="connsiteY2" fmla="*/ 3639 h 336868"/>
                <a:gd name="connsiteX3" fmla="*/ 1457914 w 1457914"/>
                <a:gd name="connsiteY3" fmla="*/ 334670 h 336868"/>
                <a:gd name="connsiteX4" fmla="*/ 0 w 1457914"/>
                <a:gd name="connsiteY4" fmla="*/ 336868 h 336868"/>
                <a:gd name="connsiteX0" fmla="*/ 0 w 1469670"/>
                <a:gd name="connsiteY0" fmla="*/ 336868 h 336868"/>
                <a:gd name="connsiteX1" fmla="*/ 117818 w 1469670"/>
                <a:gd name="connsiteY1" fmla="*/ 0 h 336868"/>
                <a:gd name="connsiteX2" fmla="*/ 1364158 w 1469670"/>
                <a:gd name="connsiteY2" fmla="*/ 3639 h 336868"/>
                <a:gd name="connsiteX3" fmla="*/ 1469670 w 1469670"/>
                <a:gd name="connsiteY3" fmla="*/ 330270 h 336868"/>
                <a:gd name="connsiteX4" fmla="*/ 0 w 1469670"/>
                <a:gd name="connsiteY4" fmla="*/ 336868 h 336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69670" h="336868">
                  <a:moveTo>
                    <a:pt x="0" y="336868"/>
                  </a:moveTo>
                  <a:lnTo>
                    <a:pt x="117818" y="0"/>
                  </a:lnTo>
                  <a:lnTo>
                    <a:pt x="1364158" y="3639"/>
                  </a:lnTo>
                  <a:lnTo>
                    <a:pt x="1469670" y="330270"/>
                  </a:lnTo>
                  <a:lnTo>
                    <a:pt x="0" y="336868"/>
                  </a:lnTo>
                  <a:close/>
                </a:path>
              </a:pathLst>
            </a:cu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900" b="0" i="0" u="none" strike="noStrike" kern="0" cap="none" spc="0" normalizeH="0" baseline="0" noProof="0" dirty="0">
                  <a:ln>
                    <a:noFill/>
                  </a:ln>
                  <a:effectLst/>
                  <a:uLnTx/>
                  <a:uFillTx/>
                  <a:latin typeface="SAMSUNGONE-400C" panose="020B0506030303020204" pitchFamily="34" charset="0"/>
                  <a:ea typeface="SAMSUNGONE-400C" panose="020B0506030303020204" pitchFamily="34" charset="0"/>
                  <a:cs typeface="+mn-cs"/>
                </a:rPr>
                <a:t>DRAM, </a:t>
              </a:r>
              <a:r>
                <a:rPr kumimoji="0" lang="en-US" altLang="ko-KR" sz="900" b="0" i="0" u="none" strike="noStrike" kern="0" cap="none" spc="0" normalizeH="0" baseline="0" noProof="0" dirty="0" err="1">
                  <a:ln>
                    <a:noFill/>
                  </a:ln>
                  <a:effectLst/>
                  <a:uLnTx/>
                  <a:uFillTx/>
                  <a:latin typeface="SAMSUNGONE-400C" panose="020B0506030303020204" pitchFamily="34" charset="0"/>
                  <a:ea typeface="SAMSUNGONE-400C" panose="020B0506030303020204" pitchFamily="34" charset="0"/>
                  <a:cs typeface="+mn-cs"/>
                </a:rPr>
                <a:t>zNand</a:t>
              </a:r>
              <a:r>
                <a:rPr kumimoji="0" lang="en-US" altLang="ko-KR" sz="900" b="0" i="0" u="none" strike="noStrike" kern="0" cap="none" spc="0" normalizeH="0" baseline="0" noProof="0" dirty="0">
                  <a:ln>
                    <a:noFill/>
                  </a:ln>
                  <a:effectLst/>
                  <a:uLnTx/>
                  <a:uFillTx/>
                  <a:latin typeface="SAMSUNGONE-400C" panose="020B0506030303020204" pitchFamily="34" charset="0"/>
                  <a:ea typeface="SAMSUNGONE-400C" panose="020B0506030303020204" pitchFamily="34" charset="0"/>
                  <a:cs typeface="+mn-cs"/>
                </a:rPr>
                <a:t>, </a:t>
              </a:r>
              <a:r>
                <a:rPr kumimoji="0" lang="en-US" altLang="ko-KR" sz="1050" b="1" i="0" u="none" strike="noStrike" kern="0" cap="none" spc="0" normalizeH="0" baseline="0" noProof="0" dirty="0">
                  <a:ln>
                    <a:noFill/>
                  </a:ln>
                  <a:solidFill>
                    <a:srgbClr val="FFFF00"/>
                  </a:solidFill>
                  <a:effectLst/>
                  <a:uLnTx/>
                  <a:uFillTx/>
                  <a:latin typeface="SAMSUNGONE-400C" panose="020B0506030303020204" pitchFamily="34" charset="0"/>
                  <a:ea typeface="SAMSUNGONE-400C" panose="020B0506030303020204" pitchFamily="34" charset="0"/>
                  <a:cs typeface="+mn-cs"/>
                </a:rPr>
                <a:t>CXL-</a:t>
              </a:r>
              <a:r>
                <a:rPr lang="en-US" altLang="ko-KR" sz="1050" b="1" kern="0" dirty="0">
                  <a:solidFill>
                    <a:srgbClr val="FFFF00"/>
                  </a:solidFill>
                  <a:latin typeface="SAMSUNGONE-400C" panose="020B0506030303020204" pitchFamily="34" charset="0"/>
                  <a:ea typeface="SAMSUNGONE-400C" panose="020B0506030303020204" pitchFamily="34" charset="0"/>
                </a:rPr>
                <a:t>PNM</a:t>
              </a:r>
              <a:endParaRPr kumimoji="0" lang="ko-KR" altLang="en-US" sz="1050" b="1" i="0" u="none" strike="noStrike" kern="0" cap="none" spc="0" normalizeH="0" baseline="0" noProof="0" dirty="0">
                <a:ln>
                  <a:noFill/>
                </a:ln>
                <a:solidFill>
                  <a:srgbClr val="FFFF00"/>
                </a:solidFill>
                <a:effectLst/>
                <a:uLnTx/>
                <a:uFillTx/>
                <a:latin typeface="SAMSUNGONE-400C" panose="020B0506030303020204" pitchFamily="34" charset="0"/>
                <a:ea typeface="SAMSUNGONE-400C" panose="020B0506030303020204" pitchFamily="34" charset="0"/>
              </a:endParaRPr>
            </a:p>
          </p:txBody>
        </p:sp>
        <p:cxnSp>
          <p:nvCxnSpPr>
            <p:cNvPr id="63" name="직선 화살표 연결선 62">
              <a:extLst>
                <a:ext uri="{FF2B5EF4-FFF2-40B4-BE49-F238E27FC236}">
                  <a16:creationId xmlns:a16="http://schemas.microsoft.com/office/drawing/2014/main" id="{F1FC7A42-F82D-4DDC-A561-A165A8F03868}"/>
                </a:ext>
              </a:extLst>
            </p:cNvPr>
            <p:cNvCxnSpPr/>
            <p:nvPr/>
          </p:nvCxnSpPr>
          <p:spPr>
            <a:xfrm flipH="1">
              <a:off x="1380614" y="1947641"/>
              <a:ext cx="1114243" cy="2122922"/>
            </a:xfrm>
            <a:prstGeom prst="straightConnector1">
              <a:avLst/>
            </a:prstGeom>
            <a:noFill/>
            <a:ln w="6350" cap="flat" cmpd="sng" algn="ctr">
              <a:solidFill>
                <a:schemeClr val="tx1"/>
              </a:solidFill>
              <a:prstDash val="solid"/>
              <a:miter lim="800000"/>
              <a:tailEnd type="triangle"/>
            </a:ln>
            <a:effectLst/>
          </p:spPr>
        </p:cxnSp>
        <p:sp>
          <p:nvSpPr>
            <p:cNvPr id="64" name="TextBox 63">
              <a:extLst>
                <a:ext uri="{FF2B5EF4-FFF2-40B4-BE49-F238E27FC236}">
                  <a16:creationId xmlns:a16="http://schemas.microsoft.com/office/drawing/2014/main" id="{742AE973-D7A7-40D1-B6E3-E3D936F3A20D}"/>
                </a:ext>
              </a:extLst>
            </p:cNvPr>
            <p:cNvSpPr txBox="1"/>
            <p:nvPr/>
          </p:nvSpPr>
          <p:spPr>
            <a:xfrm>
              <a:off x="1702076" y="3140024"/>
              <a:ext cx="614439" cy="307869"/>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(~256GB)</a:t>
              </a:r>
              <a:endParaRPr kumimoji="0" lang="ko-KR" altLang="en-US" sz="8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65" name="TextBox 64">
              <a:extLst>
                <a:ext uri="{FF2B5EF4-FFF2-40B4-BE49-F238E27FC236}">
                  <a16:creationId xmlns:a16="http://schemas.microsoft.com/office/drawing/2014/main" id="{B8043185-43E0-48DB-9095-C4C84B356123}"/>
                </a:ext>
              </a:extLst>
            </p:cNvPr>
            <p:cNvSpPr txBox="1"/>
            <p:nvPr/>
          </p:nvSpPr>
          <p:spPr>
            <a:xfrm>
              <a:off x="1554516" y="3442882"/>
              <a:ext cx="614439" cy="307869"/>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(~512GB)</a:t>
              </a:r>
              <a:endParaRPr kumimoji="0" lang="ko-KR" altLang="en-US" sz="8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66" name="TextBox 65">
              <a:extLst>
                <a:ext uri="{FF2B5EF4-FFF2-40B4-BE49-F238E27FC236}">
                  <a16:creationId xmlns:a16="http://schemas.microsoft.com/office/drawing/2014/main" id="{B51DF10B-6DCE-4202-98EF-8C802BE207B8}"/>
                </a:ext>
              </a:extLst>
            </p:cNvPr>
            <p:cNvSpPr txBox="1"/>
            <p:nvPr/>
          </p:nvSpPr>
          <p:spPr>
            <a:xfrm>
              <a:off x="1440843" y="3718111"/>
              <a:ext cx="614439" cy="19591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(~8PB)</a:t>
              </a:r>
              <a:endParaRPr kumimoji="0" lang="ko-KR" altLang="en-US" sz="8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67" name="TextBox 66">
              <a:extLst>
                <a:ext uri="{FF2B5EF4-FFF2-40B4-BE49-F238E27FC236}">
                  <a16:creationId xmlns:a16="http://schemas.microsoft.com/office/drawing/2014/main" id="{A205C775-0261-4AA3-A63D-2A3225F477DC}"/>
                </a:ext>
              </a:extLst>
            </p:cNvPr>
            <p:cNvSpPr txBox="1"/>
            <p:nvPr/>
          </p:nvSpPr>
          <p:spPr>
            <a:xfrm>
              <a:off x="1835571" y="2888714"/>
              <a:ext cx="614439" cy="307869"/>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(~24GB)</a:t>
              </a:r>
              <a:endParaRPr kumimoji="0" lang="ko-KR" altLang="en-US" sz="8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68" name="TextBox 67">
              <a:extLst>
                <a:ext uri="{FF2B5EF4-FFF2-40B4-BE49-F238E27FC236}">
                  <a16:creationId xmlns:a16="http://schemas.microsoft.com/office/drawing/2014/main" id="{117C90D4-A804-42BA-8D14-CD03DF935E1E}"/>
                </a:ext>
              </a:extLst>
            </p:cNvPr>
            <p:cNvSpPr txBox="1"/>
            <p:nvPr/>
          </p:nvSpPr>
          <p:spPr>
            <a:xfrm>
              <a:off x="1987530" y="2618466"/>
              <a:ext cx="614439" cy="307869"/>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(~256MB)</a:t>
              </a:r>
              <a:endParaRPr kumimoji="0" lang="ko-KR" altLang="en-US" sz="8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cxnSp>
          <p:nvCxnSpPr>
            <p:cNvPr id="71" name="직선 화살표 연결선 70">
              <a:extLst>
                <a:ext uri="{FF2B5EF4-FFF2-40B4-BE49-F238E27FC236}">
                  <a16:creationId xmlns:a16="http://schemas.microsoft.com/office/drawing/2014/main" id="{A39A91B5-912C-4412-8AA5-B89BB8371AF0}"/>
                </a:ext>
              </a:extLst>
            </p:cNvPr>
            <p:cNvCxnSpPr/>
            <p:nvPr/>
          </p:nvCxnSpPr>
          <p:spPr>
            <a:xfrm flipH="1" flipV="1">
              <a:off x="2949000" y="1886051"/>
              <a:ext cx="1188115" cy="2224892"/>
            </a:xfrm>
            <a:prstGeom prst="straightConnector1">
              <a:avLst/>
            </a:prstGeom>
            <a:noFill/>
            <a:ln w="6350" cap="flat" cmpd="sng" algn="ctr">
              <a:solidFill>
                <a:schemeClr val="tx1"/>
              </a:solidFill>
              <a:prstDash val="solid"/>
              <a:miter lim="800000"/>
              <a:tailEnd type="triangle"/>
            </a:ln>
            <a:effectLst/>
          </p:spPr>
        </p:cxnSp>
        <p:sp>
          <p:nvSpPr>
            <p:cNvPr id="72" name="TextBox 71">
              <a:extLst>
                <a:ext uri="{FF2B5EF4-FFF2-40B4-BE49-F238E27FC236}">
                  <a16:creationId xmlns:a16="http://schemas.microsoft.com/office/drawing/2014/main" id="{E450C1F2-D351-48EE-ADA7-62DCAFC0B154}"/>
                </a:ext>
              </a:extLst>
            </p:cNvPr>
            <p:cNvSpPr txBox="1"/>
            <p:nvPr/>
          </p:nvSpPr>
          <p:spPr>
            <a:xfrm rot="3718224">
              <a:off x="2739129" y="2118443"/>
              <a:ext cx="1119083"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0"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Higher Bandwidth</a:t>
              </a:r>
              <a:endParaRPr kumimoji="0" lang="ko-KR" altLang="en-US" sz="11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76" name="TextBox 75">
              <a:extLst>
                <a:ext uri="{FF2B5EF4-FFF2-40B4-BE49-F238E27FC236}">
                  <a16:creationId xmlns:a16="http://schemas.microsoft.com/office/drawing/2014/main" id="{B18C82FD-72FF-4854-B058-E17485892544}"/>
                </a:ext>
              </a:extLst>
            </p:cNvPr>
            <p:cNvSpPr txBox="1"/>
            <p:nvPr/>
          </p:nvSpPr>
          <p:spPr>
            <a:xfrm rot="17939948">
              <a:off x="1389725" y="2638452"/>
              <a:ext cx="1119083"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SAMSUNGONE-400C" panose="020B0506030303020204" pitchFamily="34" charset="0"/>
                  <a:ea typeface="SAMSUNGONE-400C" panose="020B0506030303020204" pitchFamily="34" charset="0"/>
                  <a:cs typeface="+mn-cs"/>
                </a:rPr>
                <a:t>Capacity</a:t>
              </a:r>
              <a:endParaRPr kumimoji="0" lang="ko-KR" altLang="en-US" sz="1100" b="1"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80" name="사다리꼴 83">
              <a:extLst>
                <a:ext uri="{FF2B5EF4-FFF2-40B4-BE49-F238E27FC236}">
                  <a16:creationId xmlns:a16="http://schemas.microsoft.com/office/drawing/2014/main" id="{04EE5E37-79D1-4F2B-B642-4FA86DAD9132}"/>
                </a:ext>
              </a:extLst>
            </p:cNvPr>
            <p:cNvSpPr/>
            <p:nvPr/>
          </p:nvSpPr>
          <p:spPr>
            <a:xfrm>
              <a:off x="2249776" y="2885827"/>
              <a:ext cx="1203606" cy="183222"/>
            </a:xfrm>
            <a:custGeom>
              <a:avLst/>
              <a:gdLst>
                <a:gd name="connsiteX0" fmla="*/ 0 w 1361174"/>
                <a:gd name="connsiteY0" fmla="*/ 335927 h 335927"/>
                <a:gd name="connsiteX1" fmla="*/ 83982 w 1361174"/>
                <a:gd name="connsiteY1" fmla="*/ 0 h 335927"/>
                <a:gd name="connsiteX2" fmla="*/ 1277192 w 1361174"/>
                <a:gd name="connsiteY2" fmla="*/ 0 h 335927"/>
                <a:gd name="connsiteX3" fmla="*/ 1361174 w 1361174"/>
                <a:gd name="connsiteY3" fmla="*/ 335927 h 335927"/>
                <a:gd name="connsiteX4" fmla="*/ 0 w 1361174"/>
                <a:gd name="connsiteY4" fmla="*/ 335927 h 335927"/>
                <a:gd name="connsiteX0" fmla="*/ 0 w 1446899"/>
                <a:gd name="connsiteY0" fmla="*/ 338308 h 338308"/>
                <a:gd name="connsiteX1" fmla="*/ 169707 w 1446899"/>
                <a:gd name="connsiteY1" fmla="*/ 0 h 338308"/>
                <a:gd name="connsiteX2" fmla="*/ 1362917 w 1446899"/>
                <a:gd name="connsiteY2" fmla="*/ 0 h 338308"/>
                <a:gd name="connsiteX3" fmla="*/ 1446899 w 1446899"/>
                <a:gd name="connsiteY3" fmla="*/ 335927 h 338308"/>
                <a:gd name="connsiteX4" fmla="*/ 0 w 1446899"/>
                <a:gd name="connsiteY4" fmla="*/ 338308 h 338308"/>
                <a:gd name="connsiteX0" fmla="*/ 0 w 1537386"/>
                <a:gd name="connsiteY0" fmla="*/ 338308 h 338308"/>
                <a:gd name="connsiteX1" fmla="*/ 169707 w 1537386"/>
                <a:gd name="connsiteY1" fmla="*/ 0 h 338308"/>
                <a:gd name="connsiteX2" fmla="*/ 1362917 w 1537386"/>
                <a:gd name="connsiteY2" fmla="*/ 0 h 338308"/>
                <a:gd name="connsiteX3" fmla="*/ 1537386 w 1537386"/>
                <a:gd name="connsiteY3" fmla="*/ 338308 h 338308"/>
                <a:gd name="connsiteX4" fmla="*/ 0 w 1537386"/>
                <a:gd name="connsiteY4" fmla="*/ 338308 h 338308"/>
                <a:gd name="connsiteX0" fmla="*/ 0 w 1537386"/>
                <a:gd name="connsiteY0" fmla="*/ 341947 h 341947"/>
                <a:gd name="connsiteX1" fmla="*/ 148569 w 1537386"/>
                <a:gd name="connsiteY1" fmla="*/ 0 h 341947"/>
                <a:gd name="connsiteX2" fmla="*/ 1362917 w 1537386"/>
                <a:gd name="connsiteY2" fmla="*/ 3639 h 341947"/>
                <a:gd name="connsiteX3" fmla="*/ 1537386 w 1537386"/>
                <a:gd name="connsiteY3" fmla="*/ 341947 h 341947"/>
                <a:gd name="connsiteX4" fmla="*/ 0 w 1537386"/>
                <a:gd name="connsiteY4" fmla="*/ 341947 h 341947"/>
                <a:gd name="connsiteX0" fmla="*/ 0 w 1481655"/>
                <a:gd name="connsiteY0" fmla="*/ 334668 h 341947"/>
                <a:gd name="connsiteX1" fmla="*/ 92838 w 1481655"/>
                <a:gd name="connsiteY1" fmla="*/ 0 h 341947"/>
                <a:gd name="connsiteX2" fmla="*/ 1307186 w 1481655"/>
                <a:gd name="connsiteY2" fmla="*/ 3639 h 341947"/>
                <a:gd name="connsiteX3" fmla="*/ 1481655 w 1481655"/>
                <a:gd name="connsiteY3" fmla="*/ 341947 h 341947"/>
                <a:gd name="connsiteX4" fmla="*/ 0 w 1481655"/>
                <a:gd name="connsiteY4" fmla="*/ 334668 h 341947"/>
                <a:gd name="connsiteX0" fmla="*/ 0 w 1481655"/>
                <a:gd name="connsiteY0" fmla="*/ 334668 h 341947"/>
                <a:gd name="connsiteX1" fmla="*/ 92838 w 1481655"/>
                <a:gd name="connsiteY1" fmla="*/ 0 h 341947"/>
                <a:gd name="connsiteX2" fmla="*/ 1349464 w 1481655"/>
                <a:gd name="connsiteY2" fmla="*/ 3639 h 341947"/>
                <a:gd name="connsiteX3" fmla="*/ 1481655 w 1481655"/>
                <a:gd name="connsiteY3" fmla="*/ 341947 h 341947"/>
                <a:gd name="connsiteX4" fmla="*/ 0 w 1481655"/>
                <a:gd name="connsiteY4" fmla="*/ 334668 h 341947"/>
                <a:gd name="connsiteX0" fmla="*/ 0 w 1443220"/>
                <a:gd name="connsiteY0" fmla="*/ 334668 h 334670"/>
                <a:gd name="connsiteX1" fmla="*/ 92838 w 1443220"/>
                <a:gd name="connsiteY1" fmla="*/ 0 h 334670"/>
                <a:gd name="connsiteX2" fmla="*/ 1349464 w 1443220"/>
                <a:gd name="connsiteY2" fmla="*/ 3639 h 334670"/>
                <a:gd name="connsiteX3" fmla="*/ 1443220 w 1443220"/>
                <a:gd name="connsiteY3" fmla="*/ 334670 h 334670"/>
                <a:gd name="connsiteX4" fmla="*/ 0 w 1443220"/>
                <a:gd name="connsiteY4" fmla="*/ 334668 h 334670"/>
                <a:gd name="connsiteX0" fmla="*/ 0 w 1452828"/>
                <a:gd name="connsiteY0" fmla="*/ 334668 h 334670"/>
                <a:gd name="connsiteX1" fmla="*/ 92838 w 1452828"/>
                <a:gd name="connsiteY1" fmla="*/ 0 h 334670"/>
                <a:gd name="connsiteX2" fmla="*/ 1349464 w 1452828"/>
                <a:gd name="connsiteY2" fmla="*/ 3639 h 334670"/>
                <a:gd name="connsiteX3" fmla="*/ 1452828 w 1452828"/>
                <a:gd name="connsiteY3" fmla="*/ 334670 h 334670"/>
                <a:gd name="connsiteX4" fmla="*/ 0 w 1452828"/>
                <a:gd name="connsiteY4" fmla="*/ 334668 h 334670"/>
                <a:gd name="connsiteX0" fmla="*/ 0 w 1464358"/>
                <a:gd name="connsiteY0" fmla="*/ 334667 h 334670"/>
                <a:gd name="connsiteX1" fmla="*/ 104368 w 1464358"/>
                <a:gd name="connsiteY1" fmla="*/ 0 h 334670"/>
                <a:gd name="connsiteX2" fmla="*/ 1360994 w 1464358"/>
                <a:gd name="connsiteY2" fmla="*/ 3639 h 334670"/>
                <a:gd name="connsiteX3" fmla="*/ 1464358 w 1464358"/>
                <a:gd name="connsiteY3" fmla="*/ 334670 h 334670"/>
                <a:gd name="connsiteX4" fmla="*/ 0 w 1464358"/>
                <a:gd name="connsiteY4" fmla="*/ 334667 h 3346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64358" h="334670">
                  <a:moveTo>
                    <a:pt x="0" y="334667"/>
                  </a:moveTo>
                  <a:lnTo>
                    <a:pt x="104368" y="0"/>
                  </a:lnTo>
                  <a:lnTo>
                    <a:pt x="1360994" y="3639"/>
                  </a:lnTo>
                  <a:lnTo>
                    <a:pt x="1464358" y="334670"/>
                  </a:lnTo>
                  <a:lnTo>
                    <a:pt x="0" y="334667"/>
                  </a:lnTo>
                  <a:close/>
                </a:path>
              </a:pathLst>
            </a:cu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0" cap="none" spc="0" normalizeH="0" baseline="0" noProof="0" dirty="0">
                  <a:ln>
                    <a:noFill/>
                  </a:ln>
                  <a:effectLst/>
                  <a:uLnTx/>
                  <a:uFillTx/>
                  <a:latin typeface="SAMSUNGONE-400C" panose="020B0506030303020204" pitchFamily="34" charset="0"/>
                  <a:ea typeface="SAMSUNGONE-400C" panose="020B0506030303020204" pitchFamily="34" charset="0"/>
                  <a:cs typeface="+mn-cs"/>
                </a:rPr>
                <a:t>HBM, </a:t>
              </a:r>
              <a:r>
                <a:rPr lang="en-US" altLang="ko-KR" sz="1000" kern="0" dirty="0" err="1">
                  <a:latin typeface="SAMSUNGONE-400C" panose="020B0506030303020204" pitchFamily="34" charset="0"/>
                  <a:ea typeface="SAMSUNGONE-400C" panose="020B0506030303020204" pitchFamily="34" charset="0"/>
                </a:rPr>
                <a:t>cHBM</a:t>
              </a:r>
              <a:r>
                <a:rPr lang="en-US" altLang="ko-KR" sz="1000" kern="0" dirty="0">
                  <a:latin typeface="SAMSUNGONE-400C" panose="020B0506030303020204" pitchFamily="34" charset="0"/>
                  <a:ea typeface="SAMSUNGONE-400C" panose="020B0506030303020204" pitchFamily="34" charset="0"/>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dirty="0">
                  <a:ln>
                    <a:noFill/>
                  </a:ln>
                  <a:solidFill>
                    <a:srgbClr val="FFFF00"/>
                  </a:solidFill>
                  <a:effectLst/>
                  <a:uLnTx/>
                  <a:uFillTx/>
                  <a:latin typeface="SAMSUNGONE-400C" panose="020B0506030303020204" pitchFamily="34" charset="0"/>
                  <a:ea typeface="SAMSUNGONE-400C" panose="020B0506030303020204" pitchFamily="34" charset="0"/>
                  <a:cs typeface="+mn-cs"/>
                </a:rPr>
                <a:t>HBM-PNM</a:t>
              </a:r>
              <a:endParaRPr kumimoji="0" lang="ko-KR" altLang="en-US" sz="1000" b="1" i="0" u="none" strike="noStrike" kern="0" cap="none" spc="0" normalizeH="0" baseline="0" noProof="0" dirty="0">
                <a:ln>
                  <a:noFill/>
                </a:ln>
                <a:solidFill>
                  <a:srgbClr val="FFFF00"/>
                </a:solidFill>
                <a:effectLst/>
                <a:uLnTx/>
                <a:uFillTx/>
                <a:latin typeface="SAMSUNGONE-400C" panose="020B0506030303020204" pitchFamily="34" charset="0"/>
                <a:ea typeface="맑은 고딕"/>
                <a:cs typeface="+mn-cs"/>
              </a:endParaRPr>
            </a:p>
          </p:txBody>
        </p:sp>
        <p:sp>
          <p:nvSpPr>
            <p:cNvPr id="88" name="TextBox 87">
              <a:extLst>
                <a:ext uri="{FF2B5EF4-FFF2-40B4-BE49-F238E27FC236}">
                  <a16:creationId xmlns:a16="http://schemas.microsoft.com/office/drawing/2014/main" id="{5F99AF61-54F1-4EFE-9699-CF8FBFF20AFB}"/>
                </a:ext>
              </a:extLst>
            </p:cNvPr>
            <p:cNvSpPr txBox="1"/>
            <p:nvPr/>
          </p:nvSpPr>
          <p:spPr>
            <a:xfrm>
              <a:off x="3699032" y="3120827"/>
              <a:ext cx="1800726" cy="209910"/>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effectLst/>
                  <a:uLnTx/>
                  <a:uFillTx/>
                  <a:latin typeface="SAMSUNGONE-400C" panose="020B0506030303020204" pitchFamily="34" charset="0"/>
                  <a:ea typeface="맑은 고딕"/>
                  <a:cs typeface="+mn-cs"/>
                </a:rPr>
                <a:t>High capacity, BW for AI, Low power </a:t>
              </a:r>
              <a:endParaRPr kumimoji="0" lang="ko-KR" altLang="en-US" sz="900" b="0" i="0" u="none" strike="noStrike" kern="1200" cap="none" spc="0" normalizeH="0" baseline="0" noProof="0" dirty="0">
                <a:ln>
                  <a:noFill/>
                </a:ln>
                <a:effectLst/>
                <a:uLnTx/>
                <a:uFillTx/>
                <a:latin typeface="SAMSUNGONE-400C" panose="020B0506030303020204" pitchFamily="34" charset="0"/>
                <a:ea typeface="맑은 고딕"/>
                <a:cs typeface="+mn-cs"/>
              </a:endParaRPr>
            </a:p>
          </p:txBody>
        </p:sp>
        <p:sp>
          <p:nvSpPr>
            <p:cNvPr id="91" name="TextBox 90">
              <a:extLst>
                <a:ext uri="{FF2B5EF4-FFF2-40B4-BE49-F238E27FC236}">
                  <a16:creationId xmlns:a16="http://schemas.microsoft.com/office/drawing/2014/main" id="{01EB682C-8342-4490-8939-D0D7D1D5FE89}"/>
                </a:ext>
              </a:extLst>
            </p:cNvPr>
            <p:cNvSpPr txBox="1"/>
            <p:nvPr/>
          </p:nvSpPr>
          <p:spPr>
            <a:xfrm>
              <a:off x="3131094" y="4025947"/>
              <a:ext cx="931665" cy="169277"/>
            </a:xfrm>
            <a:prstGeom prst="rect">
              <a:avLst/>
            </a:prstGeom>
            <a:noFill/>
          </p:spPr>
          <p:txBody>
            <a:bodyPr wrap="none" rtlCol="0">
              <a:spAutoFit/>
            </a:bodyPr>
            <a:lstStyle/>
            <a:p>
              <a:r>
                <a:rPr lang="ko-KR" altLang="en-US" sz="500" b="1" dirty="0">
                  <a:solidFill>
                    <a:srgbClr val="FFFF00"/>
                  </a:solidFill>
                </a:rPr>
                <a:t>노란색</a:t>
              </a:r>
              <a:r>
                <a:rPr lang="en-US" altLang="ko-KR" sz="500" b="1" dirty="0">
                  <a:solidFill>
                    <a:srgbClr val="FFFF00"/>
                  </a:solidFill>
                </a:rPr>
                <a:t>: </a:t>
              </a:r>
              <a:r>
                <a:rPr lang="ko-KR" altLang="en-US" sz="500" b="1" dirty="0">
                  <a:solidFill>
                    <a:srgbClr val="FFFF00"/>
                  </a:solidFill>
                </a:rPr>
                <a:t>연산 가능 메모리 </a:t>
              </a:r>
            </a:p>
          </p:txBody>
        </p:sp>
      </p:grpSp>
      <p:grpSp>
        <p:nvGrpSpPr>
          <p:cNvPr id="6" name="그룹 5">
            <a:extLst>
              <a:ext uri="{FF2B5EF4-FFF2-40B4-BE49-F238E27FC236}">
                <a16:creationId xmlns:a16="http://schemas.microsoft.com/office/drawing/2014/main" id="{EE83EC41-919B-4571-B7CB-7C03078EEFF9}"/>
              </a:ext>
            </a:extLst>
          </p:cNvPr>
          <p:cNvGrpSpPr/>
          <p:nvPr/>
        </p:nvGrpSpPr>
        <p:grpSpPr>
          <a:xfrm>
            <a:off x="282477" y="2156510"/>
            <a:ext cx="1635688" cy="1235961"/>
            <a:chOff x="330994" y="917985"/>
            <a:chExt cx="1486989" cy="1123601"/>
          </a:xfrm>
        </p:grpSpPr>
        <p:grpSp>
          <p:nvGrpSpPr>
            <p:cNvPr id="96" name="그룹 95">
              <a:extLst>
                <a:ext uri="{FF2B5EF4-FFF2-40B4-BE49-F238E27FC236}">
                  <a16:creationId xmlns:a16="http://schemas.microsoft.com/office/drawing/2014/main" id="{281C9662-6B24-4BAC-9B7F-85EE0FF35DE9}"/>
                </a:ext>
              </a:extLst>
            </p:cNvPr>
            <p:cNvGrpSpPr/>
            <p:nvPr/>
          </p:nvGrpSpPr>
          <p:grpSpPr>
            <a:xfrm>
              <a:off x="377774" y="917985"/>
              <a:ext cx="1192955" cy="686763"/>
              <a:chOff x="170137" y="5382755"/>
              <a:chExt cx="2786026" cy="1344216"/>
            </a:xfrm>
          </p:grpSpPr>
          <p:grpSp>
            <p:nvGrpSpPr>
              <p:cNvPr id="97" name="그룹 96">
                <a:extLst>
                  <a:ext uri="{FF2B5EF4-FFF2-40B4-BE49-F238E27FC236}">
                    <a16:creationId xmlns:a16="http://schemas.microsoft.com/office/drawing/2014/main" id="{F4A4310F-BFA9-45A3-9B03-CAA0E61FC9E5}"/>
                  </a:ext>
                </a:extLst>
              </p:cNvPr>
              <p:cNvGrpSpPr/>
              <p:nvPr/>
            </p:nvGrpSpPr>
            <p:grpSpPr>
              <a:xfrm>
                <a:off x="362310" y="5382755"/>
                <a:ext cx="2342751" cy="1344216"/>
                <a:chOff x="361397" y="5033677"/>
                <a:chExt cx="2679500" cy="1695666"/>
              </a:xfrm>
            </p:grpSpPr>
            <p:sp>
              <p:nvSpPr>
                <p:cNvPr id="115" name="직사각형 114">
                  <a:extLst>
                    <a:ext uri="{FF2B5EF4-FFF2-40B4-BE49-F238E27FC236}">
                      <a16:creationId xmlns:a16="http://schemas.microsoft.com/office/drawing/2014/main" id="{FEAABAE9-87EB-4A52-B188-51BF418ACA63}"/>
                    </a:ext>
                  </a:extLst>
                </p:cNvPr>
                <p:cNvSpPr/>
                <p:nvPr/>
              </p:nvSpPr>
              <p:spPr>
                <a:xfrm>
                  <a:off x="361397" y="5033677"/>
                  <a:ext cx="2679500" cy="1695666"/>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ko-KR" altLang="en-US" sz="800" b="1" dirty="0"/>
                </a:p>
              </p:txBody>
            </p:sp>
            <p:sp>
              <p:nvSpPr>
                <p:cNvPr id="117" name="직사각형 116">
                  <a:extLst>
                    <a:ext uri="{FF2B5EF4-FFF2-40B4-BE49-F238E27FC236}">
                      <a16:creationId xmlns:a16="http://schemas.microsoft.com/office/drawing/2014/main" id="{A44C465A-7E75-401A-B385-2CE29F79E57E}"/>
                    </a:ext>
                  </a:extLst>
                </p:cNvPr>
                <p:cNvSpPr/>
                <p:nvPr/>
              </p:nvSpPr>
              <p:spPr>
                <a:xfrm>
                  <a:off x="833089" y="5103013"/>
                  <a:ext cx="1750642" cy="363638"/>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ko-KR" sz="800" b="1" dirty="0"/>
                    <a:t>Compute</a:t>
                  </a:r>
                  <a:endParaRPr lang="ko-KR" altLang="en-US" sz="800" b="1" dirty="0"/>
                </a:p>
              </p:txBody>
            </p:sp>
            <p:sp>
              <p:nvSpPr>
                <p:cNvPr id="120" name="직사각형 119">
                  <a:extLst>
                    <a:ext uri="{FF2B5EF4-FFF2-40B4-BE49-F238E27FC236}">
                      <a16:creationId xmlns:a16="http://schemas.microsoft.com/office/drawing/2014/main" id="{83106ED7-E5CD-42E1-8F48-7F53971E9BFA}"/>
                    </a:ext>
                  </a:extLst>
                </p:cNvPr>
                <p:cNvSpPr/>
                <p:nvPr/>
              </p:nvSpPr>
              <p:spPr>
                <a:xfrm>
                  <a:off x="648060" y="5844540"/>
                  <a:ext cx="2018940" cy="811530"/>
                </a:xfrm>
                <a:prstGeom prst="rect">
                  <a:avLst/>
                </a:prstGeom>
                <a:solidFill>
                  <a:schemeClr val="bg1"/>
                </a:solidFill>
                <a:ln w="9525">
                  <a:solidFill>
                    <a:schemeClr val="tx1"/>
                  </a:solidFill>
                </a:ln>
              </p:spPr>
              <p:style>
                <a:lnRef idx="2">
                  <a:schemeClr val="accent6"/>
                </a:lnRef>
                <a:fillRef idx="1">
                  <a:schemeClr val="lt1"/>
                </a:fillRef>
                <a:effectRef idx="0">
                  <a:schemeClr val="accent6"/>
                </a:effectRef>
                <a:fontRef idx="minor">
                  <a:schemeClr val="dk1"/>
                </a:fontRef>
              </p:style>
              <p:txBody>
                <a:bodyPr rtlCol="0" anchor="t"/>
                <a:lstStyle/>
                <a:p>
                  <a:pPr algn="ctr"/>
                  <a:endParaRPr lang="ko-KR" altLang="en-US" sz="800" b="1" dirty="0"/>
                </a:p>
              </p:txBody>
            </p:sp>
            <p:sp>
              <p:nvSpPr>
                <p:cNvPr id="121" name="직사각형 120">
                  <a:extLst>
                    <a:ext uri="{FF2B5EF4-FFF2-40B4-BE49-F238E27FC236}">
                      <a16:creationId xmlns:a16="http://schemas.microsoft.com/office/drawing/2014/main" id="{5313E58B-5645-4EF5-8E59-76C5B9E2E277}"/>
                    </a:ext>
                  </a:extLst>
                </p:cNvPr>
                <p:cNvSpPr/>
                <p:nvPr/>
              </p:nvSpPr>
              <p:spPr>
                <a:xfrm>
                  <a:off x="782209" y="6232645"/>
                  <a:ext cx="1750642" cy="363638"/>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ko-KR" sz="800" b="1" dirty="0"/>
                    <a:t>Compute</a:t>
                  </a:r>
                  <a:endParaRPr lang="ko-KR" altLang="en-US" sz="800" b="1" dirty="0"/>
                </a:p>
              </p:txBody>
            </p:sp>
          </p:grpSp>
          <p:sp>
            <p:nvSpPr>
              <p:cNvPr id="104" name="TextBox 103">
                <a:extLst>
                  <a:ext uri="{FF2B5EF4-FFF2-40B4-BE49-F238E27FC236}">
                    <a16:creationId xmlns:a16="http://schemas.microsoft.com/office/drawing/2014/main" id="{9782940C-696D-4453-8AE8-AEE9DF12944C}"/>
                  </a:ext>
                </a:extLst>
              </p:cNvPr>
              <p:cNvSpPr txBox="1"/>
              <p:nvPr/>
            </p:nvSpPr>
            <p:spPr>
              <a:xfrm>
                <a:off x="170137" y="5676655"/>
                <a:ext cx="2786026" cy="421693"/>
              </a:xfrm>
              <a:prstGeom prst="rect">
                <a:avLst/>
              </a:prstGeom>
              <a:noFill/>
            </p:spPr>
            <p:txBody>
              <a:bodyPr wrap="none" rtlCol="0">
                <a:spAutoFit/>
              </a:bodyPr>
              <a:lstStyle/>
              <a:p>
                <a:pPr algn="ctr"/>
                <a:r>
                  <a:rPr lang="en-US" altLang="ko-KR" sz="800" b="1" dirty="0"/>
                  <a:t>Memory Subsystem </a:t>
                </a:r>
              </a:p>
            </p:txBody>
          </p:sp>
          <p:sp>
            <p:nvSpPr>
              <p:cNvPr id="105" name="TextBox 104">
                <a:extLst>
                  <a:ext uri="{FF2B5EF4-FFF2-40B4-BE49-F238E27FC236}">
                    <a16:creationId xmlns:a16="http://schemas.microsoft.com/office/drawing/2014/main" id="{6B0909BC-0F79-4664-8DA7-D0A8F2C3CD08}"/>
                  </a:ext>
                </a:extLst>
              </p:cNvPr>
              <p:cNvSpPr txBox="1"/>
              <p:nvPr/>
            </p:nvSpPr>
            <p:spPr>
              <a:xfrm>
                <a:off x="541244" y="6023298"/>
                <a:ext cx="1850115" cy="421693"/>
              </a:xfrm>
              <a:prstGeom prst="rect">
                <a:avLst/>
              </a:prstGeom>
              <a:noFill/>
            </p:spPr>
            <p:txBody>
              <a:bodyPr wrap="none" rtlCol="0">
                <a:spAutoFit/>
              </a:bodyPr>
              <a:lstStyle/>
              <a:p>
                <a:pPr algn="ctr"/>
                <a:r>
                  <a:rPr lang="en-US" altLang="ko-KR" sz="800" b="1" dirty="0"/>
                  <a:t>Memory Die</a:t>
                </a:r>
              </a:p>
            </p:txBody>
          </p:sp>
        </p:grpSp>
        <p:sp>
          <p:nvSpPr>
            <p:cNvPr id="122" name="TextBox 121">
              <a:extLst>
                <a:ext uri="{FF2B5EF4-FFF2-40B4-BE49-F238E27FC236}">
                  <a16:creationId xmlns:a16="http://schemas.microsoft.com/office/drawing/2014/main" id="{DA191C91-BC00-41CC-B3D6-961E0DA38D85}"/>
                </a:ext>
              </a:extLst>
            </p:cNvPr>
            <p:cNvSpPr txBox="1"/>
            <p:nvPr/>
          </p:nvSpPr>
          <p:spPr>
            <a:xfrm>
              <a:off x="330994" y="1626088"/>
              <a:ext cx="1486989" cy="415498"/>
            </a:xfrm>
            <a:prstGeom prst="rect">
              <a:avLst/>
            </a:prstGeom>
            <a:noFill/>
          </p:spPr>
          <p:txBody>
            <a:bodyPr wrap="square" rtlCol="0">
              <a:spAutoFit/>
            </a:bodyPr>
            <a:lstStyle/>
            <a:p>
              <a:r>
                <a:rPr lang="en-US" altLang="ko-KR" sz="700" b="1" dirty="0">
                  <a:solidFill>
                    <a:srgbClr val="FFC000"/>
                  </a:solidFill>
                </a:rPr>
                <a:t>PIM</a:t>
              </a:r>
              <a:r>
                <a:rPr lang="en-US" altLang="ko-KR" sz="700" b="1" dirty="0">
                  <a:solidFill>
                    <a:schemeClr val="accent6"/>
                  </a:solidFill>
                </a:rPr>
                <a:t>: </a:t>
              </a:r>
              <a:r>
                <a:rPr lang="en-US" altLang="ko-KR" sz="700" b="1" dirty="0"/>
                <a:t>Processing</a:t>
              </a:r>
              <a:r>
                <a:rPr lang="en-US" altLang="ko-KR" sz="700" b="1" dirty="0">
                  <a:solidFill>
                    <a:srgbClr val="FFC000"/>
                  </a:solidFill>
                </a:rPr>
                <a:t> In </a:t>
              </a:r>
              <a:r>
                <a:rPr lang="en-US" altLang="ko-KR" sz="700" b="1" dirty="0"/>
                <a:t>Memory</a:t>
              </a:r>
            </a:p>
            <a:p>
              <a:r>
                <a:rPr lang="en-US" altLang="ko-KR" sz="700" b="1" dirty="0">
                  <a:solidFill>
                    <a:schemeClr val="accent6"/>
                  </a:solidFill>
                </a:rPr>
                <a:t>PNM: </a:t>
              </a:r>
              <a:r>
                <a:rPr lang="en-US" altLang="ko-KR" sz="700" b="1" dirty="0"/>
                <a:t>Processing</a:t>
              </a:r>
              <a:r>
                <a:rPr lang="en-US" altLang="ko-KR" sz="700" b="1" dirty="0">
                  <a:solidFill>
                    <a:srgbClr val="FFC000"/>
                  </a:solidFill>
                </a:rPr>
                <a:t> </a:t>
              </a:r>
              <a:r>
                <a:rPr lang="en-US" altLang="ko-KR" sz="700" b="1" dirty="0">
                  <a:solidFill>
                    <a:schemeClr val="accent6"/>
                  </a:solidFill>
                </a:rPr>
                <a:t>Near </a:t>
              </a:r>
              <a:r>
                <a:rPr lang="en-US" altLang="ko-KR" sz="700" b="1" dirty="0"/>
                <a:t>Memory</a:t>
              </a:r>
            </a:p>
          </p:txBody>
        </p:sp>
      </p:grpSp>
      <p:sp>
        <p:nvSpPr>
          <p:cNvPr id="123" name="Text 33">
            <a:extLst>
              <a:ext uri="{FF2B5EF4-FFF2-40B4-BE49-F238E27FC236}">
                <a16:creationId xmlns:a16="http://schemas.microsoft.com/office/drawing/2014/main" id="{C1A01B59-3D2E-4FFB-8C80-EAE7A221B37E}"/>
              </a:ext>
            </a:extLst>
          </p:cNvPr>
          <p:cNvSpPr/>
          <p:nvPr/>
        </p:nvSpPr>
        <p:spPr>
          <a:xfrm>
            <a:off x="558800" y="5174479"/>
            <a:ext cx="2425700" cy="286941"/>
          </a:xfrm>
          <a:prstGeom prst="roundRect">
            <a:avLst>
              <a:gd name="adj" fmla="val 24343"/>
            </a:avLst>
          </a:prstGeom>
          <a:solidFill>
            <a:srgbClr val="EAF1FA"/>
          </a:solidFill>
          <a:ln w="12700">
            <a:solidFill>
              <a:srgbClr val="2F6DB5"/>
            </a:solidFill>
            <a:prstDash val="solid"/>
          </a:ln>
        </p:spPr>
        <p:txBody>
          <a:bodyPr wrap="square" lIns="74792" tIns="23992" rIns="7736" bIns="0" rtlCol="0" anchor="t">
            <a:normAutofit/>
          </a:bodyPr>
          <a:lstStyle/>
          <a:p>
            <a:pPr marL="0" indent="0" algn="l">
              <a:lnSpc>
                <a:spcPts val="1560"/>
              </a:lnSpc>
              <a:buNone/>
            </a:pPr>
            <a:r>
              <a:rPr lang="en-US" sz="1050" b="1" dirty="0">
                <a:solidFill>
                  <a:srgbClr val="222222"/>
                </a:solidFill>
                <a:latin typeface="Noto Sans KR" pitchFamily="34" charset="0"/>
                <a:ea typeface="Noto Sans KR" pitchFamily="34" charset="-122"/>
                <a:cs typeface="Noto Sans KR" pitchFamily="34" charset="-120"/>
              </a:rPr>
              <a:t>활성 KV·가중치 (매 토큰)</a:t>
            </a:r>
            <a:endParaRPr lang="en-US" sz="1050" dirty="0"/>
          </a:p>
        </p:txBody>
      </p:sp>
      <p:pic>
        <p:nvPicPr>
          <p:cNvPr id="124" name="Image 0" descr="arrow-right">
            <a:extLst>
              <a:ext uri="{FF2B5EF4-FFF2-40B4-BE49-F238E27FC236}">
                <a16:creationId xmlns:a16="http://schemas.microsoft.com/office/drawing/2014/main" id="{B9C498E0-7B88-4CA0-B020-88145C535104}"/>
              </a:ext>
            </a:extLst>
          </p:cNvPr>
          <p:cNvPicPr>
            <a:picLocks noChangeAspect="1"/>
          </p:cNvPicPr>
          <p:nvPr/>
        </p:nvPicPr>
        <p:blipFill>
          <a:blip r:embed="rId9"/>
          <a:srcRect/>
          <a:stretch/>
        </p:blipFill>
        <p:spPr>
          <a:xfrm>
            <a:off x="3067050" y="5222699"/>
            <a:ext cx="355600" cy="190500"/>
          </a:xfrm>
          <a:prstGeom prst="rect">
            <a:avLst/>
          </a:prstGeom>
        </p:spPr>
      </p:pic>
      <p:sp>
        <p:nvSpPr>
          <p:cNvPr id="125" name="Text 34">
            <a:extLst>
              <a:ext uri="{FF2B5EF4-FFF2-40B4-BE49-F238E27FC236}">
                <a16:creationId xmlns:a16="http://schemas.microsoft.com/office/drawing/2014/main" id="{58D75593-5758-42DE-89EE-49814E6357B7}"/>
              </a:ext>
            </a:extLst>
          </p:cNvPr>
          <p:cNvSpPr/>
          <p:nvPr/>
        </p:nvSpPr>
        <p:spPr>
          <a:xfrm>
            <a:off x="3505200" y="5174479"/>
            <a:ext cx="2273300" cy="286941"/>
          </a:xfrm>
          <a:prstGeom prst="roundRect">
            <a:avLst>
              <a:gd name="adj" fmla="val 24343"/>
            </a:avLst>
          </a:prstGeom>
          <a:solidFill>
            <a:srgbClr val="E8F4F1"/>
          </a:solidFill>
          <a:ln w="12700">
            <a:solidFill>
              <a:srgbClr val="1F7A6D"/>
            </a:solidFill>
            <a:prstDash val="solid"/>
          </a:ln>
        </p:spPr>
        <p:txBody>
          <a:bodyPr wrap="square" lIns="74792" tIns="23992" rIns="12308" bIns="0" rtlCol="0" anchor="t">
            <a:normAutofit/>
          </a:bodyPr>
          <a:lstStyle/>
          <a:p>
            <a:pPr marL="0" indent="0" algn="l">
              <a:lnSpc>
                <a:spcPts val="1560"/>
              </a:lnSpc>
              <a:buNone/>
            </a:pPr>
            <a:r>
              <a:rPr lang="en-US" sz="1050" b="1" dirty="0">
                <a:solidFill>
                  <a:srgbClr val="222222"/>
                </a:solidFill>
                <a:latin typeface="Noto Sans KR" pitchFamily="34" charset="0"/>
                <a:ea typeface="Noto Sans KR" pitchFamily="34" charset="-122"/>
                <a:cs typeface="Noto Sans KR" pitchFamily="34" charset="-120"/>
              </a:rPr>
              <a:t>HBM4E, Custom HBM</a:t>
            </a:r>
            <a:endParaRPr lang="en-US" sz="1050" dirty="0"/>
          </a:p>
        </p:txBody>
      </p:sp>
      <p:sp>
        <p:nvSpPr>
          <p:cNvPr id="126" name="Text 35">
            <a:extLst>
              <a:ext uri="{FF2B5EF4-FFF2-40B4-BE49-F238E27FC236}">
                <a16:creationId xmlns:a16="http://schemas.microsoft.com/office/drawing/2014/main" id="{037752AE-52D8-4651-8CF2-6969B91B8382}"/>
              </a:ext>
            </a:extLst>
          </p:cNvPr>
          <p:cNvSpPr/>
          <p:nvPr/>
        </p:nvSpPr>
        <p:spPr>
          <a:xfrm>
            <a:off x="558800" y="5524919"/>
            <a:ext cx="2425700" cy="286941"/>
          </a:xfrm>
          <a:prstGeom prst="roundRect">
            <a:avLst>
              <a:gd name="adj" fmla="val 24343"/>
            </a:avLst>
          </a:prstGeom>
          <a:solidFill>
            <a:srgbClr val="EAF1FA"/>
          </a:solidFill>
          <a:ln w="12700">
            <a:solidFill>
              <a:srgbClr val="2F6DB5"/>
            </a:solidFill>
            <a:prstDash val="solid"/>
          </a:ln>
        </p:spPr>
        <p:txBody>
          <a:bodyPr wrap="square" lIns="74792" tIns="23992" rIns="7736" bIns="0" rtlCol="0" anchor="t">
            <a:normAutofit/>
          </a:bodyPr>
          <a:lstStyle/>
          <a:p>
            <a:pPr marL="0" indent="0" algn="l">
              <a:lnSpc>
                <a:spcPts val="1560"/>
              </a:lnSpc>
              <a:buNone/>
            </a:pPr>
            <a:r>
              <a:rPr lang="en-US" sz="1050" b="1" dirty="0">
                <a:solidFill>
                  <a:srgbClr val="222222"/>
                </a:solidFill>
                <a:latin typeface="Noto Sans KR" pitchFamily="34" charset="0"/>
                <a:ea typeface="Noto Sans KR" pitchFamily="34" charset="-122"/>
                <a:cs typeface="Noto Sans KR" pitchFamily="34" charset="-120"/>
              </a:rPr>
              <a:t>유휴·재사용 KV (분~시간)</a:t>
            </a:r>
            <a:endParaRPr lang="en-US" sz="1050" dirty="0"/>
          </a:p>
        </p:txBody>
      </p:sp>
      <p:pic>
        <p:nvPicPr>
          <p:cNvPr id="127" name="Image 1" descr="arrow-right">
            <a:extLst>
              <a:ext uri="{FF2B5EF4-FFF2-40B4-BE49-F238E27FC236}">
                <a16:creationId xmlns:a16="http://schemas.microsoft.com/office/drawing/2014/main" id="{62DFCA93-8B7A-4572-9D2A-0E5D9AF730EF}"/>
              </a:ext>
            </a:extLst>
          </p:cNvPr>
          <p:cNvPicPr>
            <a:picLocks noChangeAspect="1"/>
          </p:cNvPicPr>
          <p:nvPr/>
        </p:nvPicPr>
        <p:blipFill>
          <a:blip r:embed="rId9"/>
          <a:srcRect/>
          <a:stretch/>
        </p:blipFill>
        <p:spPr>
          <a:xfrm>
            <a:off x="3067050" y="5573140"/>
            <a:ext cx="355600" cy="190500"/>
          </a:xfrm>
          <a:prstGeom prst="rect">
            <a:avLst/>
          </a:prstGeom>
        </p:spPr>
      </p:pic>
      <p:sp>
        <p:nvSpPr>
          <p:cNvPr id="128" name="Text 36">
            <a:extLst>
              <a:ext uri="{FF2B5EF4-FFF2-40B4-BE49-F238E27FC236}">
                <a16:creationId xmlns:a16="http://schemas.microsoft.com/office/drawing/2014/main" id="{A606A8BD-149F-4893-92D3-5A0A5DCEABAF}"/>
              </a:ext>
            </a:extLst>
          </p:cNvPr>
          <p:cNvSpPr/>
          <p:nvPr/>
        </p:nvSpPr>
        <p:spPr>
          <a:xfrm>
            <a:off x="3505200" y="5524919"/>
            <a:ext cx="2273300" cy="286941"/>
          </a:xfrm>
          <a:prstGeom prst="roundRect">
            <a:avLst>
              <a:gd name="adj" fmla="val 24343"/>
            </a:avLst>
          </a:prstGeom>
          <a:solidFill>
            <a:srgbClr val="E8F4F1"/>
          </a:solidFill>
          <a:ln w="12700">
            <a:solidFill>
              <a:srgbClr val="1F7A6D"/>
            </a:solidFill>
            <a:prstDash val="solid"/>
          </a:ln>
        </p:spPr>
        <p:txBody>
          <a:bodyPr wrap="square" lIns="74792" tIns="23992" rIns="12308" bIns="0" rtlCol="0" anchor="t">
            <a:normAutofit/>
          </a:bodyPr>
          <a:lstStyle/>
          <a:p>
            <a:pPr marL="0" indent="0" algn="l">
              <a:lnSpc>
                <a:spcPts val="1560"/>
              </a:lnSpc>
              <a:buNone/>
            </a:pPr>
            <a:r>
              <a:rPr lang="en-US" sz="1050" b="1" dirty="0">
                <a:solidFill>
                  <a:srgbClr val="222222"/>
                </a:solidFill>
                <a:latin typeface="Noto Sans KR" pitchFamily="34" charset="0"/>
                <a:ea typeface="Noto Sans KR" pitchFamily="34" charset="-122"/>
                <a:cs typeface="Noto Sans KR" pitchFamily="34" charset="-120"/>
              </a:rPr>
              <a:t>DRAM, CXL Memory</a:t>
            </a:r>
            <a:endParaRPr lang="en-US" sz="1050" dirty="0"/>
          </a:p>
        </p:txBody>
      </p:sp>
      <p:sp>
        <p:nvSpPr>
          <p:cNvPr id="129" name="Text 37">
            <a:extLst>
              <a:ext uri="{FF2B5EF4-FFF2-40B4-BE49-F238E27FC236}">
                <a16:creationId xmlns:a16="http://schemas.microsoft.com/office/drawing/2014/main" id="{52561CAD-9FD3-4A79-9A58-9847DC6222FE}"/>
              </a:ext>
            </a:extLst>
          </p:cNvPr>
          <p:cNvSpPr/>
          <p:nvPr/>
        </p:nvSpPr>
        <p:spPr>
          <a:xfrm>
            <a:off x="558800" y="5875360"/>
            <a:ext cx="2425700" cy="286941"/>
          </a:xfrm>
          <a:prstGeom prst="roundRect">
            <a:avLst>
              <a:gd name="adj" fmla="val 24343"/>
            </a:avLst>
          </a:prstGeom>
          <a:solidFill>
            <a:srgbClr val="EAF1FA"/>
          </a:solidFill>
          <a:ln w="12700">
            <a:solidFill>
              <a:srgbClr val="2F6DB5"/>
            </a:solidFill>
            <a:prstDash val="solid"/>
          </a:ln>
        </p:spPr>
        <p:txBody>
          <a:bodyPr wrap="square" lIns="74792" tIns="23992" rIns="7736" bIns="0" rtlCol="0" anchor="t">
            <a:normAutofit/>
          </a:bodyPr>
          <a:lstStyle/>
          <a:p>
            <a:pPr marL="0" indent="0" algn="l">
              <a:lnSpc>
                <a:spcPts val="1560"/>
              </a:lnSpc>
              <a:buNone/>
            </a:pPr>
            <a:r>
              <a:rPr lang="ko-KR" altLang="en-US" sz="1050" b="1" dirty="0">
                <a:solidFill>
                  <a:srgbClr val="222222"/>
                </a:solidFill>
                <a:latin typeface="Noto Sans KR" pitchFamily="34" charset="0"/>
                <a:ea typeface="Noto Sans KR" pitchFamily="34" charset="-122"/>
                <a:cs typeface="Noto Sans KR" pitchFamily="34" charset="-120"/>
              </a:rPr>
              <a:t>대용량</a:t>
            </a:r>
            <a:r>
              <a:rPr lang="en-US" altLang="ko-KR" sz="1050" b="1" dirty="0">
                <a:solidFill>
                  <a:srgbClr val="222222"/>
                </a:solidFill>
                <a:latin typeface="Noto Sans KR" pitchFamily="34" charset="0"/>
                <a:ea typeface="Noto Sans KR" pitchFamily="34" charset="-122"/>
                <a:cs typeface="Noto Sans KR" pitchFamily="34" charset="-120"/>
              </a:rPr>
              <a:t>·</a:t>
            </a:r>
            <a:r>
              <a:rPr lang="ko-KR" altLang="en-US" sz="1050" b="1" dirty="0">
                <a:solidFill>
                  <a:srgbClr val="222222"/>
                </a:solidFill>
                <a:latin typeface="Noto Sans KR" pitchFamily="34" charset="0"/>
                <a:ea typeface="Noto Sans KR" pitchFamily="34" charset="-122"/>
                <a:cs typeface="Noto Sans KR" pitchFamily="34" charset="-120"/>
              </a:rPr>
              <a:t>저비용 계층</a:t>
            </a:r>
            <a:endParaRPr lang="en-US" sz="1050" dirty="0"/>
          </a:p>
        </p:txBody>
      </p:sp>
      <p:pic>
        <p:nvPicPr>
          <p:cNvPr id="130" name="Image 2" descr="arrow-right">
            <a:extLst>
              <a:ext uri="{FF2B5EF4-FFF2-40B4-BE49-F238E27FC236}">
                <a16:creationId xmlns:a16="http://schemas.microsoft.com/office/drawing/2014/main" id="{94B78512-00E1-4E14-BDD3-3861250C56DD}"/>
              </a:ext>
            </a:extLst>
          </p:cNvPr>
          <p:cNvPicPr>
            <a:picLocks noChangeAspect="1"/>
          </p:cNvPicPr>
          <p:nvPr/>
        </p:nvPicPr>
        <p:blipFill>
          <a:blip r:embed="rId9"/>
          <a:srcRect/>
          <a:stretch/>
        </p:blipFill>
        <p:spPr>
          <a:xfrm>
            <a:off x="3067050" y="5923580"/>
            <a:ext cx="355600" cy="190500"/>
          </a:xfrm>
          <a:prstGeom prst="rect">
            <a:avLst/>
          </a:prstGeom>
        </p:spPr>
      </p:pic>
      <p:sp>
        <p:nvSpPr>
          <p:cNvPr id="131" name="Text 38">
            <a:extLst>
              <a:ext uri="{FF2B5EF4-FFF2-40B4-BE49-F238E27FC236}">
                <a16:creationId xmlns:a16="http://schemas.microsoft.com/office/drawing/2014/main" id="{37D227D7-06A6-4E8D-BEED-10392141C344}"/>
              </a:ext>
            </a:extLst>
          </p:cNvPr>
          <p:cNvSpPr/>
          <p:nvPr/>
        </p:nvSpPr>
        <p:spPr>
          <a:xfrm>
            <a:off x="3505200" y="5875360"/>
            <a:ext cx="2273300" cy="286941"/>
          </a:xfrm>
          <a:prstGeom prst="roundRect">
            <a:avLst>
              <a:gd name="adj" fmla="val 24343"/>
            </a:avLst>
          </a:prstGeom>
          <a:solidFill>
            <a:srgbClr val="E8F4F1"/>
          </a:solidFill>
          <a:ln w="12700">
            <a:solidFill>
              <a:srgbClr val="1F7A6D"/>
            </a:solidFill>
            <a:prstDash val="solid"/>
          </a:ln>
        </p:spPr>
        <p:txBody>
          <a:bodyPr wrap="square" lIns="74792" tIns="23992" rIns="12308" bIns="0" rtlCol="0" anchor="t">
            <a:normAutofit/>
          </a:bodyPr>
          <a:lstStyle/>
          <a:p>
            <a:pPr marL="0" indent="0" algn="l">
              <a:lnSpc>
                <a:spcPts val="1560"/>
              </a:lnSpc>
              <a:buNone/>
            </a:pPr>
            <a:r>
              <a:rPr lang="en-US" sz="1050" b="1" dirty="0">
                <a:solidFill>
                  <a:srgbClr val="222222"/>
                </a:solidFill>
                <a:latin typeface="Noto Sans KR" pitchFamily="34" charset="0"/>
                <a:ea typeface="Noto Sans KR" pitchFamily="34" charset="-122"/>
                <a:cs typeface="Noto Sans KR" pitchFamily="34" charset="-120"/>
              </a:rPr>
              <a:t>SSD, HBF(UBF)</a:t>
            </a:r>
            <a:endParaRPr lang="en-US" sz="1050" dirty="0"/>
          </a:p>
        </p:txBody>
      </p:sp>
      <p:sp>
        <p:nvSpPr>
          <p:cNvPr id="134" name="Shape 44">
            <a:extLst>
              <a:ext uri="{FF2B5EF4-FFF2-40B4-BE49-F238E27FC236}">
                <a16:creationId xmlns:a16="http://schemas.microsoft.com/office/drawing/2014/main" id="{4C73575A-D801-4A7C-8608-065502BB922B}"/>
              </a:ext>
            </a:extLst>
          </p:cNvPr>
          <p:cNvSpPr/>
          <p:nvPr/>
        </p:nvSpPr>
        <p:spPr>
          <a:xfrm>
            <a:off x="6407150" y="1801985"/>
            <a:ext cx="5232400" cy="1206769"/>
          </a:xfrm>
          <a:prstGeom prst="roundRect">
            <a:avLst>
              <a:gd name="adj" fmla="val 9197"/>
            </a:avLst>
          </a:prstGeom>
          <a:solidFill>
            <a:srgbClr val="F4F7FB"/>
          </a:solidFill>
          <a:ln/>
        </p:spPr>
      </p:sp>
      <p:sp>
        <p:nvSpPr>
          <p:cNvPr id="135" name="Text 45">
            <a:extLst>
              <a:ext uri="{FF2B5EF4-FFF2-40B4-BE49-F238E27FC236}">
                <a16:creationId xmlns:a16="http://schemas.microsoft.com/office/drawing/2014/main" id="{F76134A2-2CEC-45FC-8CB2-E7C3A35DB655}"/>
              </a:ext>
            </a:extLst>
          </p:cNvPr>
          <p:cNvSpPr/>
          <p:nvPr/>
        </p:nvSpPr>
        <p:spPr>
          <a:xfrm>
            <a:off x="6521450" y="1904030"/>
            <a:ext cx="5153914" cy="223441"/>
          </a:xfrm>
          <a:prstGeom prst="rect">
            <a:avLst/>
          </a:prstGeom>
          <a:noFill/>
          <a:ln/>
        </p:spPr>
        <p:txBody>
          <a:bodyPr wrap="square" lIns="0" tIns="0" rIns="0" bIns="0" rtlCol="0" anchor="t">
            <a:normAutofit/>
          </a:bodyPr>
          <a:lstStyle/>
          <a:p>
            <a:pPr marL="0" indent="0" algn="l">
              <a:lnSpc>
                <a:spcPts val="1560"/>
              </a:lnSpc>
              <a:buNone/>
            </a:pPr>
            <a:r>
              <a:rPr lang="en-US" sz="1050" b="1" dirty="0">
                <a:solidFill>
                  <a:srgbClr val="333333"/>
                </a:solidFill>
                <a:latin typeface="Noto Sans KR" pitchFamily="34" charset="0"/>
                <a:ea typeface="Noto Sans KR" pitchFamily="34" charset="-122"/>
                <a:cs typeface="Noto Sans KR" pitchFamily="34" charset="-120"/>
              </a:rPr>
              <a:t>자원 특성을 인지한 배치·스케줄링의 효과 (공개 사례)</a:t>
            </a:r>
            <a:endParaRPr lang="en-US" sz="1050" dirty="0"/>
          </a:p>
        </p:txBody>
      </p:sp>
      <p:sp>
        <p:nvSpPr>
          <p:cNvPr id="136" name="Text 46">
            <a:extLst>
              <a:ext uri="{FF2B5EF4-FFF2-40B4-BE49-F238E27FC236}">
                <a16:creationId xmlns:a16="http://schemas.microsoft.com/office/drawing/2014/main" id="{50658F9D-2FA2-4406-8F14-C3912C53B7E4}"/>
              </a:ext>
            </a:extLst>
          </p:cNvPr>
          <p:cNvSpPr/>
          <p:nvPr/>
        </p:nvSpPr>
        <p:spPr>
          <a:xfrm>
            <a:off x="6521450" y="2224032"/>
            <a:ext cx="1962150" cy="223441"/>
          </a:xfrm>
          <a:prstGeom prst="rect">
            <a:avLst/>
          </a:prstGeom>
          <a:noFill/>
          <a:ln/>
        </p:spPr>
        <p:txBody>
          <a:bodyPr wrap="square" lIns="0" tIns="0" rIns="0" bIns="0" rtlCol="0" anchor="t">
            <a:normAutofit/>
          </a:bodyPr>
          <a:lstStyle/>
          <a:p>
            <a:pPr marL="0" indent="0" algn="l">
              <a:lnSpc>
                <a:spcPts val="1560"/>
              </a:lnSpc>
              <a:buNone/>
            </a:pPr>
            <a:r>
              <a:rPr lang="en-US" sz="1050" dirty="0">
                <a:solidFill>
                  <a:srgbClr val="222222"/>
                </a:solidFill>
                <a:latin typeface="Noto Sans KR" pitchFamily="34" charset="0"/>
                <a:ea typeface="Noto Sans KR" pitchFamily="34" charset="-122"/>
                <a:cs typeface="Noto Sans KR" pitchFamily="34" charset="-120"/>
              </a:rPr>
              <a:t>ThunderAgent 처리량 [2]</a:t>
            </a:r>
            <a:endParaRPr lang="en-US" sz="1050" dirty="0"/>
          </a:p>
        </p:txBody>
      </p:sp>
      <p:sp>
        <p:nvSpPr>
          <p:cNvPr id="137" name="Shape 47">
            <a:extLst>
              <a:ext uri="{FF2B5EF4-FFF2-40B4-BE49-F238E27FC236}">
                <a16:creationId xmlns:a16="http://schemas.microsoft.com/office/drawing/2014/main" id="{78BE5B52-0628-4901-91E4-B9CE01EC8EB3}"/>
              </a:ext>
            </a:extLst>
          </p:cNvPr>
          <p:cNvSpPr/>
          <p:nvPr/>
        </p:nvSpPr>
        <p:spPr>
          <a:xfrm>
            <a:off x="8502650" y="2246852"/>
            <a:ext cx="749300" cy="152400"/>
          </a:xfrm>
          <a:custGeom>
            <a:avLst/>
            <a:gdLst/>
            <a:ahLst/>
            <a:cxnLst/>
            <a:rect l="l" t="t" r="r" b="b"/>
            <a:pathLst>
              <a:path w="749300" h="152400">
                <a:moveTo>
                  <a:pt x="19050" y="0"/>
                </a:moveTo>
                <a:lnTo>
                  <a:pt x="749300" y="0"/>
                </a:lnTo>
                <a:lnTo>
                  <a:pt x="749300" y="152400"/>
                </a:lnTo>
                <a:lnTo>
                  <a:pt x="19050" y="152400"/>
                </a:lnTo>
                <a:arcTo wR="19050" hR="19050" stAng="5400000" swAng="5400000"/>
                <a:lnTo>
                  <a:pt x="0" y="19050"/>
                </a:lnTo>
                <a:arcTo wR="19050" hR="19050" stAng="10800000" swAng="5400000"/>
                <a:close/>
              </a:path>
            </a:pathLst>
          </a:custGeom>
          <a:solidFill>
            <a:srgbClr val="A9C1DF"/>
          </a:solidFill>
          <a:ln/>
        </p:spPr>
      </p:sp>
      <p:sp>
        <p:nvSpPr>
          <p:cNvPr id="138" name="Shape 48">
            <a:extLst>
              <a:ext uri="{FF2B5EF4-FFF2-40B4-BE49-F238E27FC236}">
                <a16:creationId xmlns:a16="http://schemas.microsoft.com/office/drawing/2014/main" id="{94894ED9-E221-4717-AD8C-E828C4F2DECB}"/>
              </a:ext>
            </a:extLst>
          </p:cNvPr>
          <p:cNvSpPr/>
          <p:nvPr/>
        </p:nvSpPr>
        <p:spPr>
          <a:xfrm>
            <a:off x="9302750" y="2246852"/>
            <a:ext cx="1054100" cy="152400"/>
          </a:xfrm>
          <a:custGeom>
            <a:avLst/>
            <a:gdLst/>
            <a:ahLst/>
            <a:cxnLst/>
            <a:rect l="l" t="t" r="r" b="b"/>
            <a:pathLst>
              <a:path w="1054100" h="152400">
                <a:moveTo>
                  <a:pt x="0" y="0"/>
                </a:moveTo>
                <a:lnTo>
                  <a:pt x="1035050" y="0"/>
                </a:lnTo>
                <a:arcTo wR="19050" hR="19050" stAng="16200000" swAng="5400000"/>
                <a:lnTo>
                  <a:pt x="1054100" y="133350"/>
                </a:lnTo>
                <a:arcTo wR="19050" hR="19050" stAng="0" swAng="5400000"/>
                <a:lnTo>
                  <a:pt x="0" y="152400"/>
                </a:lnTo>
                <a:lnTo>
                  <a:pt x="0" y="0"/>
                </a:lnTo>
                <a:close/>
              </a:path>
            </a:pathLst>
          </a:custGeom>
          <a:solidFill>
            <a:srgbClr val="2F6DB5"/>
          </a:solidFill>
          <a:ln/>
        </p:spPr>
      </p:sp>
      <p:sp>
        <p:nvSpPr>
          <p:cNvPr id="139" name="Text 49">
            <a:extLst>
              <a:ext uri="{FF2B5EF4-FFF2-40B4-BE49-F238E27FC236}">
                <a16:creationId xmlns:a16="http://schemas.microsoft.com/office/drawing/2014/main" id="{74F1C508-A890-4214-8D68-FAD12B5E99FF}"/>
              </a:ext>
            </a:extLst>
          </p:cNvPr>
          <p:cNvSpPr/>
          <p:nvPr/>
        </p:nvSpPr>
        <p:spPr>
          <a:xfrm>
            <a:off x="10407650" y="2216392"/>
            <a:ext cx="744835" cy="238720"/>
          </a:xfrm>
          <a:prstGeom prst="rect">
            <a:avLst/>
          </a:prstGeom>
          <a:noFill/>
          <a:ln/>
        </p:spPr>
        <p:txBody>
          <a:bodyPr wrap="none" lIns="0" tIns="0" rIns="0" bIns="0" rtlCol="0" anchor="t">
            <a:normAutofit/>
          </a:bodyPr>
          <a:lstStyle/>
          <a:p>
            <a:pPr marL="0" indent="0" algn="l">
              <a:lnSpc>
                <a:spcPts val="1680"/>
              </a:lnSpc>
              <a:buNone/>
            </a:pPr>
            <a:r>
              <a:rPr lang="en-US" sz="1050" b="1" dirty="0">
                <a:solidFill>
                  <a:srgbClr val="222222"/>
                </a:solidFill>
                <a:latin typeface="Noto Sans KR" pitchFamily="34" charset="0"/>
                <a:ea typeface="Noto Sans KR" pitchFamily="34" charset="-122"/>
                <a:cs typeface="Noto Sans KR" pitchFamily="34" charset="-120"/>
              </a:rPr>
              <a:t>1.5–3.6×</a:t>
            </a:r>
            <a:endParaRPr lang="en-US" sz="1050" dirty="0"/>
          </a:p>
        </p:txBody>
      </p:sp>
      <p:sp>
        <p:nvSpPr>
          <p:cNvPr id="140" name="Text 50">
            <a:extLst>
              <a:ext uri="{FF2B5EF4-FFF2-40B4-BE49-F238E27FC236}">
                <a16:creationId xmlns:a16="http://schemas.microsoft.com/office/drawing/2014/main" id="{8BCF6C8F-510D-45D8-BF19-A3514103550D}"/>
              </a:ext>
            </a:extLst>
          </p:cNvPr>
          <p:cNvSpPr/>
          <p:nvPr/>
        </p:nvSpPr>
        <p:spPr>
          <a:xfrm>
            <a:off x="6521450" y="2475452"/>
            <a:ext cx="1962150" cy="223441"/>
          </a:xfrm>
          <a:prstGeom prst="rect">
            <a:avLst/>
          </a:prstGeom>
          <a:noFill/>
          <a:ln/>
        </p:spPr>
        <p:txBody>
          <a:bodyPr wrap="square" lIns="0" tIns="0" rIns="0" bIns="0" rtlCol="0" anchor="t">
            <a:normAutofit/>
          </a:bodyPr>
          <a:lstStyle/>
          <a:p>
            <a:pPr marL="0" indent="0" algn="l">
              <a:lnSpc>
                <a:spcPts val="1560"/>
              </a:lnSpc>
              <a:buNone/>
            </a:pPr>
            <a:r>
              <a:rPr lang="en-US" sz="1050" dirty="0">
                <a:solidFill>
                  <a:srgbClr val="222222"/>
                </a:solidFill>
                <a:latin typeface="Noto Sans KR" pitchFamily="34" charset="0"/>
                <a:ea typeface="Noto Sans KR" pitchFamily="34" charset="-122"/>
                <a:cs typeface="Noto Sans KR" pitchFamily="34" charset="-120"/>
              </a:rPr>
              <a:t>CXL 풀 vs 200G RDMA [3]</a:t>
            </a:r>
            <a:endParaRPr lang="en-US" sz="1050" dirty="0"/>
          </a:p>
        </p:txBody>
      </p:sp>
      <p:sp>
        <p:nvSpPr>
          <p:cNvPr id="141" name="Shape 51">
            <a:extLst>
              <a:ext uri="{FF2B5EF4-FFF2-40B4-BE49-F238E27FC236}">
                <a16:creationId xmlns:a16="http://schemas.microsoft.com/office/drawing/2014/main" id="{D68B924C-03A7-44F5-8EB1-5AC17776FC26}"/>
              </a:ext>
            </a:extLst>
          </p:cNvPr>
          <p:cNvSpPr/>
          <p:nvPr/>
        </p:nvSpPr>
        <p:spPr>
          <a:xfrm>
            <a:off x="8502650" y="2498273"/>
            <a:ext cx="1905000" cy="152400"/>
          </a:xfrm>
          <a:prstGeom prst="roundRect">
            <a:avLst>
              <a:gd name="adj" fmla="val 12500"/>
            </a:avLst>
          </a:prstGeom>
          <a:solidFill>
            <a:srgbClr val="2F6DB5"/>
          </a:solidFill>
          <a:ln/>
        </p:spPr>
      </p:sp>
      <p:sp>
        <p:nvSpPr>
          <p:cNvPr id="142" name="Text 52">
            <a:extLst>
              <a:ext uri="{FF2B5EF4-FFF2-40B4-BE49-F238E27FC236}">
                <a16:creationId xmlns:a16="http://schemas.microsoft.com/office/drawing/2014/main" id="{9326733B-9EF5-4E87-92E3-C077A1E225A0}"/>
              </a:ext>
            </a:extLst>
          </p:cNvPr>
          <p:cNvSpPr/>
          <p:nvPr/>
        </p:nvSpPr>
        <p:spPr>
          <a:xfrm>
            <a:off x="10458450" y="2467813"/>
            <a:ext cx="432594" cy="238720"/>
          </a:xfrm>
          <a:prstGeom prst="rect">
            <a:avLst/>
          </a:prstGeom>
          <a:noFill/>
          <a:ln/>
        </p:spPr>
        <p:txBody>
          <a:bodyPr wrap="none" lIns="0" tIns="0" rIns="0" bIns="0" rtlCol="0" anchor="t">
            <a:normAutofit/>
          </a:bodyPr>
          <a:lstStyle/>
          <a:p>
            <a:pPr marL="0" indent="0" algn="l">
              <a:lnSpc>
                <a:spcPts val="1680"/>
              </a:lnSpc>
              <a:buNone/>
            </a:pPr>
            <a:r>
              <a:rPr lang="en-US" sz="1050" b="1" dirty="0">
                <a:solidFill>
                  <a:srgbClr val="222222"/>
                </a:solidFill>
                <a:latin typeface="Noto Sans KR" pitchFamily="34" charset="0"/>
                <a:ea typeface="Noto Sans KR" pitchFamily="34" charset="-122"/>
                <a:cs typeface="Noto Sans KR" pitchFamily="34" charset="-120"/>
              </a:rPr>
              <a:t>3.8×</a:t>
            </a:r>
            <a:endParaRPr lang="en-US" sz="1050" dirty="0"/>
          </a:p>
        </p:txBody>
      </p:sp>
      <p:sp>
        <p:nvSpPr>
          <p:cNvPr id="143" name="Text 53">
            <a:extLst>
              <a:ext uri="{FF2B5EF4-FFF2-40B4-BE49-F238E27FC236}">
                <a16:creationId xmlns:a16="http://schemas.microsoft.com/office/drawing/2014/main" id="{B3E7343B-2139-4D4A-B862-09CF3586B88E}"/>
              </a:ext>
            </a:extLst>
          </p:cNvPr>
          <p:cNvSpPr/>
          <p:nvPr/>
        </p:nvSpPr>
        <p:spPr>
          <a:xfrm>
            <a:off x="6521450" y="2726873"/>
            <a:ext cx="1962150" cy="223441"/>
          </a:xfrm>
          <a:prstGeom prst="rect">
            <a:avLst/>
          </a:prstGeom>
          <a:noFill/>
          <a:ln/>
        </p:spPr>
        <p:txBody>
          <a:bodyPr wrap="square" lIns="0" tIns="0" rIns="0" bIns="0" rtlCol="0" anchor="t">
            <a:normAutofit/>
          </a:bodyPr>
          <a:lstStyle/>
          <a:p>
            <a:pPr marL="0" indent="0" algn="l">
              <a:lnSpc>
                <a:spcPts val="1560"/>
              </a:lnSpc>
              <a:buNone/>
            </a:pPr>
            <a:r>
              <a:rPr lang="en-US" sz="1050" dirty="0">
                <a:solidFill>
                  <a:srgbClr val="222222"/>
                </a:solidFill>
                <a:latin typeface="Noto Sans KR" pitchFamily="34" charset="0"/>
                <a:ea typeface="Noto Sans KR" pitchFamily="34" charset="-122"/>
                <a:cs typeface="Noto Sans KR" pitchFamily="34" charset="-120"/>
              </a:rPr>
              <a:t>CXL 풀 vs SSD offload [3]</a:t>
            </a:r>
            <a:endParaRPr lang="en-US" sz="1050" dirty="0"/>
          </a:p>
        </p:txBody>
      </p:sp>
      <p:sp>
        <p:nvSpPr>
          <p:cNvPr id="144" name="Shape 54">
            <a:extLst>
              <a:ext uri="{FF2B5EF4-FFF2-40B4-BE49-F238E27FC236}">
                <a16:creationId xmlns:a16="http://schemas.microsoft.com/office/drawing/2014/main" id="{3F6B98D1-B457-432A-BCB8-7A2690911BD8}"/>
              </a:ext>
            </a:extLst>
          </p:cNvPr>
          <p:cNvSpPr/>
          <p:nvPr/>
        </p:nvSpPr>
        <p:spPr>
          <a:xfrm>
            <a:off x="8502650" y="2749693"/>
            <a:ext cx="2508250" cy="152400"/>
          </a:xfrm>
          <a:prstGeom prst="roundRect">
            <a:avLst>
              <a:gd name="adj" fmla="val 12500"/>
            </a:avLst>
          </a:prstGeom>
          <a:solidFill>
            <a:srgbClr val="2F6DB5"/>
          </a:solidFill>
          <a:ln/>
        </p:spPr>
      </p:sp>
      <p:sp>
        <p:nvSpPr>
          <p:cNvPr id="145" name="Text 55">
            <a:extLst>
              <a:ext uri="{FF2B5EF4-FFF2-40B4-BE49-F238E27FC236}">
                <a16:creationId xmlns:a16="http://schemas.microsoft.com/office/drawing/2014/main" id="{4ECC6719-E584-409A-9E6D-87BD8AE8634C}"/>
              </a:ext>
            </a:extLst>
          </p:cNvPr>
          <p:cNvSpPr/>
          <p:nvPr/>
        </p:nvSpPr>
        <p:spPr>
          <a:xfrm>
            <a:off x="11061700" y="2719233"/>
            <a:ext cx="383084" cy="238720"/>
          </a:xfrm>
          <a:prstGeom prst="rect">
            <a:avLst/>
          </a:prstGeom>
          <a:noFill/>
          <a:ln/>
        </p:spPr>
        <p:txBody>
          <a:bodyPr wrap="none" lIns="0" tIns="0" rIns="0" bIns="0" rtlCol="0" anchor="t">
            <a:normAutofit/>
          </a:bodyPr>
          <a:lstStyle/>
          <a:p>
            <a:pPr marL="0" indent="0" algn="l">
              <a:lnSpc>
                <a:spcPts val="1680"/>
              </a:lnSpc>
              <a:buNone/>
            </a:pPr>
            <a:r>
              <a:rPr lang="en-US" sz="1050" b="1" dirty="0">
                <a:solidFill>
                  <a:srgbClr val="222222"/>
                </a:solidFill>
                <a:latin typeface="Noto Sans KR" pitchFamily="34" charset="0"/>
                <a:ea typeface="Noto Sans KR" pitchFamily="34" charset="-122"/>
                <a:cs typeface="Noto Sans KR" pitchFamily="34" charset="-120"/>
              </a:rPr>
              <a:t>&gt;5×</a:t>
            </a:r>
            <a:endParaRPr lang="en-US" sz="1050" dirty="0"/>
          </a:p>
        </p:txBody>
      </p:sp>
      <p:sp>
        <p:nvSpPr>
          <p:cNvPr id="146" name="Text 72">
            <a:extLst>
              <a:ext uri="{FF2B5EF4-FFF2-40B4-BE49-F238E27FC236}">
                <a16:creationId xmlns:a16="http://schemas.microsoft.com/office/drawing/2014/main" id="{6A49CD4B-9085-4E60-A50E-F364EF7FACD3}"/>
              </a:ext>
            </a:extLst>
          </p:cNvPr>
          <p:cNvSpPr/>
          <p:nvPr/>
        </p:nvSpPr>
        <p:spPr>
          <a:xfrm>
            <a:off x="355600" y="6529437"/>
            <a:ext cx="11825224" cy="406400"/>
          </a:xfrm>
          <a:prstGeom prst="rect">
            <a:avLst/>
          </a:prstGeom>
          <a:noFill/>
          <a:ln/>
        </p:spPr>
        <p:txBody>
          <a:bodyPr wrap="square" lIns="0" tIns="0" rIns="0" bIns="0" rtlCol="0" anchor="t">
            <a:normAutofit/>
          </a:bodyPr>
          <a:lstStyle/>
          <a:p>
            <a:pPr marL="0" indent="0" algn="l">
              <a:lnSpc>
                <a:spcPts val="1500"/>
              </a:lnSpc>
              <a:buNone/>
            </a:pPr>
            <a:r>
              <a:rPr lang="en-US" sz="800" dirty="0">
                <a:solidFill>
                  <a:srgbClr val="555555"/>
                </a:solidFill>
                <a:latin typeface="Noto Sans KR" pitchFamily="34" charset="0"/>
                <a:ea typeface="Noto Sans KR" pitchFamily="34" charset="-122"/>
                <a:cs typeface="Noto Sans KR" pitchFamily="34" charset="-120"/>
              </a:rPr>
              <a:t>※ 계층 수치는 대표 구성(H100 HBM3 · CXL 3.0 Type-3 4×128GB · PCIe NVMe) 기준, 대역폭 막대는 로그 스케일. 당사 제품은 공개 보도 기준(사내 로드맵 반영 필요). 효과 배수는 조건·기준선이 달라 직접 비교 불가.</a:t>
            </a:r>
            <a:endParaRPr lang="en-US" sz="800" dirty="0"/>
          </a:p>
        </p:txBody>
      </p:sp>
      <p:sp>
        <p:nvSpPr>
          <p:cNvPr id="147" name="Text 73">
            <a:extLst>
              <a:ext uri="{FF2B5EF4-FFF2-40B4-BE49-F238E27FC236}">
                <a16:creationId xmlns:a16="http://schemas.microsoft.com/office/drawing/2014/main" id="{F75DD127-0D34-4AC7-9145-274EC0C2BBCC}"/>
              </a:ext>
            </a:extLst>
          </p:cNvPr>
          <p:cNvSpPr/>
          <p:nvPr/>
        </p:nvSpPr>
        <p:spPr>
          <a:xfrm>
            <a:off x="355600" y="6666875"/>
            <a:ext cx="11825224" cy="406400"/>
          </a:xfrm>
          <a:prstGeom prst="rect">
            <a:avLst/>
          </a:prstGeom>
          <a:noFill/>
          <a:ln/>
        </p:spPr>
        <p:txBody>
          <a:bodyPr wrap="square" lIns="0" tIns="0" rIns="0" bIns="0" rtlCol="0" anchor="t">
            <a:normAutofit/>
          </a:bodyPr>
          <a:lstStyle/>
          <a:p>
            <a:pPr marL="0" indent="0" algn="l">
              <a:lnSpc>
                <a:spcPts val="1500"/>
              </a:lnSpc>
              <a:buNone/>
            </a:pPr>
            <a:r>
              <a:rPr lang="en-US" sz="800" dirty="0">
                <a:solidFill>
                  <a:srgbClr val="555555"/>
                </a:solidFill>
                <a:latin typeface="Noto Sans KR" pitchFamily="34" charset="0"/>
                <a:ea typeface="Noto Sans KR" pitchFamily="34" charset="-122"/>
                <a:cs typeface="Noto Sans KR" pitchFamily="34" charset="-120"/>
              </a:rPr>
              <a:t>출처: [1] arXiv:2608.15127 · [2] ThunderAgent, arXiv:2602.13692 · [3] XConn·MemVerge SC25 시연(Introl 인용) · [4] arXiv:2607.28633 · [5] LMCache Docs, Architecture · [6] TrendForce News(2026.10.13) 등 공개 보도</a:t>
            </a:r>
            <a:endParaRPr lang="en-US" sz="800" dirty="0"/>
          </a:p>
        </p:txBody>
      </p:sp>
      <p:sp>
        <p:nvSpPr>
          <p:cNvPr id="133" name="Rectangle 64"/>
          <p:cNvSpPr/>
          <p:nvPr/>
        </p:nvSpPr>
        <p:spPr>
          <a:xfrm>
            <a:off x="6411954" y="3696401"/>
            <a:ext cx="5212080" cy="27432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dirty="0">
                <a:solidFill>
                  <a:srgbClr val="000000"/>
                </a:solidFill>
                <a:latin typeface="맑은 고딕"/>
                <a:ea typeface="맑은 고딕"/>
                <a:cs typeface="맑은 고딕"/>
              </a:rPr>
              <a:t>AI </a:t>
            </a:r>
            <a:r>
              <a:rPr sz="900" b="1" dirty="0" err="1">
                <a:solidFill>
                  <a:srgbClr val="000000"/>
                </a:solidFill>
                <a:latin typeface="맑은 고딕"/>
                <a:ea typeface="맑은 고딕"/>
                <a:cs typeface="맑은 고딕"/>
              </a:rPr>
              <a:t>워크로드</a:t>
            </a:r>
            <a:r>
              <a:rPr lang="en-US" sz="900" b="1" dirty="0">
                <a:solidFill>
                  <a:srgbClr val="000000"/>
                </a:solidFill>
                <a:latin typeface="맑은 고딕"/>
                <a:ea typeface="맑은 고딕"/>
                <a:cs typeface="맑은 고딕"/>
              </a:rPr>
              <a:t> (</a:t>
            </a:r>
            <a:r>
              <a:rPr lang="ko-KR" altLang="en-US" sz="900" b="1" dirty="0">
                <a:solidFill>
                  <a:srgbClr val="000000"/>
                </a:solidFill>
                <a:latin typeface="맑은 고딕"/>
                <a:ea typeface="맑은 고딕"/>
                <a:cs typeface="맑은 고딕"/>
              </a:rPr>
              <a:t>자원 수요 동적 변동</a:t>
            </a:r>
            <a:r>
              <a:rPr lang="en-US" altLang="ko-KR" sz="900" b="1" dirty="0">
                <a:solidFill>
                  <a:srgbClr val="000000"/>
                </a:solidFill>
                <a:latin typeface="맑은 고딕"/>
                <a:ea typeface="맑은 고딕"/>
                <a:cs typeface="맑은 고딕"/>
              </a:rPr>
              <a:t>)</a:t>
            </a:r>
            <a:endParaRPr sz="900" b="1" dirty="0">
              <a:solidFill>
                <a:srgbClr val="000000"/>
              </a:solidFill>
              <a:latin typeface="맑은 고딕"/>
              <a:ea typeface="맑은 고딕"/>
              <a:cs typeface="맑은 고딕"/>
            </a:endParaRPr>
          </a:p>
        </p:txBody>
      </p:sp>
      <p:cxnSp>
        <p:nvCxnSpPr>
          <p:cNvPr id="148" name="Connector 65"/>
          <p:cNvCxnSpPr>
            <a:stCxn id="133" idx="2"/>
          </p:cNvCxnSpPr>
          <p:nvPr/>
        </p:nvCxnSpPr>
        <p:spPr>
          <a:xfrm>
            <a:off x="9017994" y="3970721"/>
            <a:ext cx="0" cy="179026"/>
          </a:xfrm>
          <a:prstGeom prst="line">
            <a:avLst/>
          </a:prstGeom>
          <a:ln w="19050">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49" name="Rectangle 66"/>
          <p:cNvSpPr/>
          <p:nvPr/>
        </p:nvSpPr>
        <p:spPr>
          <a:xfrm>
            <a:off x="6411954" y="4124242"/>
            <a:ext cx="5212080" cy="493776"/>
          </a:xfrm>
          <a:prstGeom prst="rect">
            <a:avLst/>
          </a:prstGeom>
          <a:solidFill>
            <a:srgbClr val="FFFFFF"/>
          </a:solidFill>
          <a:ln w="19050">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dirty="0" err="1">
                <a:solidFill>
                  <a:srgbClr val="FF0000"/>
                </a:solidFill>
                <a:latin typeface="맑은 고딕"/>
                <a:ea typeface="맑은 고딕"/>
                <a:cs typeface="맑은 고딕"/>
              </a:rPr>
              <a:t>이기종</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메모리</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인지형</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런타임</a:t>
            </a:r>
            <a:r>
              <a:rPr lang="en-US" sz="1100" b="1" dirty="0">
                <a:solidFill>
                  <a:srgbClr val="FF0000"/>
                </a:solidFill>
                <a:latin typeface="맑은 고딕"/>
                <a:ea typeface="맑은 고딕"/>
                <a:cs typeface="맑은 고딕"/>
              </a:rPr>
              <a:t>(</a:t>
            </a:r>
            <a:r>
              <a:rPr lang="ko-KR" altLang="en-US" sz="1100" b="1" dirty="0" err="1">
                <a:solidFill>
                  <a:srgbClr val="FF0000"/>
                </a:solidFill>
                <a:latin typeface="맑은 고딕"/>
                <a:ea typeface="맑은 고딕"/>
                <a:cs typeface="맑은 고딕"/>
              </a:rPr>
              <a:t>서빙</a:t>
            </a:r>
            <a:r>
              <a:rPr lang="ko-KR" altLang="en-US" sz="1100" b="1" dirty="0">
                <a:solidFill>
                  <a:srgbClr val="FF0000"/>
                </a:solidFill>
                <a:latin typeface="맑은 고딕"/>
                <a:ea typeface="맑은 고딕"/>
                <a:cs typeface="맑은 고딕"/>
              </a:rPr>
              <a:t> 엔진</a:t>
            </a:r>
            <a:r>
              <a:rPr lang="en-US" altLang="ko-KR" sz="1100" b="1" dirty="0">
                <a:solidFill>
                  <a:srgbClr val="FF0000"/>
                </a:solidFill>
                <a:latin typeface="맑은 고딕"/>
                <a:ea typeface="맑은 고딕"/>
                <a:cs typeface="맑은 고딕"/>
              </a:rPr>
              <a:t>)</a:t>
            </a:r>
            <a:r>
              <a:rPr sz="1100" b="1" dirty="0">
                <a:solidFill>
                  <a:srgbClr val="FF0000"/>
                </a:solidFill>
                <a:latin typeface="맑은 고딕"/>
                <a:ea typeface="맑은 고딕"/>
                <a:cs typeface="맑은 고딕"/>
              </a:rPr>
              <a:t> </a:t>
            </a:r>
            <a:r>
              <a:rPr sz="1100" b="1" dirty="0" err="1">
                <a:solidFill>
                  <a:srgbClr val="FF0000"/>
                </a:solidFill>
                <a:latin typeface="맑은 고딕"/>
                <a:ea typeface="맑은 고딕"/>
                <a:cs typeface="맑은 고딕"/>
              </a:rPr>
              <a:t>부재</a:t>
            </a:r>
            <a:r>
              <a:rPr sz="1100" b="1" dirty="0">
                <a:solidFill>
                  <a:srgbClr val="FF0000"/>
                </a:solidFill>
                <a:latin typeface="맑은 고딕"/>
                <a:ea typeface="맑은 고딕"/>
                <a:cs typeface="맑은 고딕"/>
              </a:rPr>
              <a:t> </a:t>
            </a:r>
            <a:endParaRPr lang="en-US" sz="1100" b="1" dirty="0">
              <a:solidFill>
                <a:srgbClr val="FF0000"/>
              </a:solidFill>
              <a:latin typeface="맑은 고딕"/>
              <a:ea typeface="맑은 고딕"/>
              <a:cs typeface="맑은 고딕"/>
            </a:endParaRPr>
          </a:p>
          <a:p>
            <a:pPr algn="ctr">
              <a:spcAft>
                <a:spcPts val="200"/>
              </a:spcAft>
            </a:pPr>
            <a:r>
              <a:rPr sz="850" b="0" dirty="0" err="1">
                <a:solidFill>
                  <a:srgbClr val="595959"/>
                </a:solidFill>
                <a:latin typeface="맑은 고딕"/>
                <a:ea typeface="맑은 고딕"/>
                <a:cs typeface="맑은 고딕"/>
              </a:rPr>
              <a:t>메모리</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특성</a:t>
            </a:r>
            <a:r>
              <a:rPr sz="850" b="0" dirty="0">
                <a:solidFill>
                  <a:srgbClr val="595959"/>
                </a:solidFill>
                <a:latin typeface="맑은 고딕"/>
                <a:ea typeface="맑은 고딕"/>
                <a:cs typeface="맑은 고딕"/>
              </a:rPr>
              <a:t>(</a:t>
            </a:r>
            <a:r>
              <a:rPr sz="850" b="0" dirty="0" err="1">
                <a:solidFill>
                  <a:srgbClr val="595959"/>
                </a:solidFill>
                <a:latin typeface="맑은 고딕"/>
                <a:ea typeface="맑은 고딕"/>
                <a:cs typeface="맑은 고딕"/>
              </a:rPr>
              <a:t>대역폭·용량·연산</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가능</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여부</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인식</a:t>
            </a:r>
            <a:r>
              <a:rPr sz="850" b="0" dirty="0">
                <a:solidFill>
                  <a:srgbClr val="595959"/>
                </a:solidFill>
                <a:latin typeface="맑은 고딕"/>
                <a:ea typeface="맑은 고딕"/>
                <a:cs typeface="맑은 고딕"/>
              </a:rPr>
              <a:t> → </a:t>
            </a:r>
            <a:r>
              <a:rPr sz="850" b="0" dirty="0" err="1">
                <a:solidFill>
                  <a:srgbClr val="595959"/>
                </a:solidFill>
                <a:latin typeface="맑은 고딕"/>
                <a:ea typeface="맑은 고딕"/>
                <a:cs typeface="맑은 고딕"/>
              </a:rPr>
              <a:t>배치·스케줄링</a:t>
            </a:r>
            <a:r>
              <a:rPr sz="850" b="0" dirty="0">
                <a:solidFill>
                  <a:srgbClr val="595959"/>
                </a:solidFill>
                <a:latin typeface="맑은 고딕"/>
                <a:ea typeface="맑은 고딕"/>
                <a:cs typeface="맑은 고딕"/>
              </a:rPr>
              <a:t> </a:t>
            </a:r>
            <a:r>
              <a:rPr sz="850" b="0" dirty="0" err="1">
                <a:solidFill>
                  <a:srgbClr val="595959"/>
                </a:solidFill>
                <a:latin typeface="맑은 고딕"/>
                <a:ea typeface="맑은 고딕"/>
                <a:cs typeface="맑은 고딕"/>
              </a:rPr>
              <a:t>결정</a:t>
            </a:r>
            <a:endParaRPr sz="850" b="0" dirty="0">
              <a:solidFill>
                <a:srgbClr val="595959"/>
              </a:solidFill>
              <a:latin typeface="맑은 고딕"/>
              <a:ea typeface="맑은 고딕"/>
              <a:cs typeface="맑은 고딕"/>
            </a:endParaRPr>
          </a:p>
        </p:txBody>
      </p:sp>
      <p:cxnSp>
        <p:nvCxnSpPr>
          <p:cNvPr id="150" name="Connector 67"/>
          <p:cNvCxnSpPr>
            <a:stCxn id="149" idx="2"/>
          </p:cNvCxnSpPr>
          <p:nvPr/>
        </p:nvCxnSpPr>
        <p:spPr>
          <a:xfrm>
            <a:off x="9017994" y="4618018"/>
            <a:ext cx="0" cy="231455"/>
          </a:xfrm>
          <a:prstGeom prst="line">
            <a:avLst/>
          </a:prstGeom>
          <a:ln w="19050">
            <a:solidFill>
              <a:srgbClr val="FF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51" name="Rectangle 68"/>
          <p:cNvSpPr/>
          <p:nvPr/>
        </p:nvSpPr>
        <p:spPr>
          <a:xfrm>
            <a:off x="6338802" y="4849473"/>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HBM</a:t>
            </a:r>
          </a:p>
        </p:txBody>
      </p:sp>
      <p:sp>
        <p:nvSpPr>
          <p:cNvPr id="152" name="Rectangle 69"/>
          <p:cNvSpPr/>
          <p:nvPr/>
        </p:nvSpPr>
        <p:spPr>
          <a:xfrm>
            <a:off x="7225770" y="4849473"/>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DRAM</a:t>
            </a:r>
          </a:p>
        </p:txBody>
      </p:sp>
      <p:sp>
        <p:nvSpPr>
          <p:cNvPr id="153" name="Rectangle 70"/>
          <p:cNvSpPr/>
          <p:nvPr/>
        </p:nvSpPr>
        <p:spPr>
          <a:xfrm>
            <a:off x="8112738" y="4849473"/>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SSD</a:t>
            </a:r>
          </a:p>
        </p:txBody>
      </p:sp>
      <p:sp>
        <p:nvSpPr>
          <p:cNvPr id="154" name="Rectangle 71"/>
          <p:cNvSpPr/>
          <p:nvPr/>
        </p:nvSpPr>
        <p:spPr>
          <a:xfrm>
            <a:off x="8999706" y="4849473"/>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CXL-Memory</a:t>
            </a:r>
          </a:p>
        </p:txBody>
      </p:sp>
      <p:sp>
        <p:nvSpPr>
          <p:cNvPr id="155" name="Rectangle 72"/>
          <p:cNvSpPr/>
          <p:nvPr/>
        </p:nvSpPr>
        <p:spPr>
          <a:xfrm>
            <a:off x="9886674" y="4849473"/>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CXL-PNM</a:t>
            </a:r>
          </a:p>
        </p:txBody>
      </p:sp>
      <p:sp>
        <p:nvSpPr>
          <p:cNvPr id="156" name="Rectangle 73"/>
          <p:cNvSpPr/>
          <p:nvPr/>
        </p:nvSpPr>
        <p:spPr>
          <a:xfrm>
            <a:off x="10773642" y="4849473"/>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HBF · PIM</a:t>
            </a:r>
          </a:p>
        </p:txBody>
      </p:sp>
      <p:sp>
        <p:nvSpPr>
          <p:cNvPr id="157" name="TextBox 156"/>
          <p:cNvSpPr txBox="1"/>
          <p:nvPr/>
        </p:nvSpPr>
        <p:spPr>
          <a:xfrm>
            <a:off x="6338802" y="5105505"/>
            <a:ext cx="2651760" cy="164592"/>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기존 메모리 계층</a:t>
            </a:r>
          </a:p>
        </p:txBody>
      </p:sp>
      <p:sp>
        <p:nvSpPr>
          <p:cNvPr id="158" name="TextBox 157"/>
          <p:cNvSpPr txBox="1"/>
          <p:nvPr/>
        </p:nvSpPr>
        <p:spPr>
          <a:xfrm>
            <a:off x="8972274" y="5105505"/>
            <a:ext cx="2743200" cy="164592"/>
          </a:xfrm>
          <a:prstGeom prst="rect">
            <a:avLst/>
          </a:prstGeom>
          <a:noFill/>
        </p:spPr>
        <p:txBody>
          <a:bodyPr wrap="square" lIns="45720" tIns="27432" rIns="45720" bIns="27432" anchor="t">
            <a:spAutoFit/>
          </a:bodyPr>
          <a:lstStyle/>
          <a:p>
            <a:pPr algn="r">
              <a:spcAft>
                <a:spcPts val="200"/>
              </a:spcAft>
            </a:pPr>
            <a:r>
              <a:rPr sz="700" b="0">
                <a:solidFill>
                  <a:srgbClr val="C55A11"/>
                </a:solidFill>
                <a:latin typeface="맑은 고딕"/>
                <a:ea typeface="맑은 고딕"/>
                <a:cs typeface="맑은 고딕"/>
              </a:rPr>
              <a:t>신규 메모리: 특성 미인식 → 활용 불가</a:t>
            </a:r>
          </a:p>
        </p:txBody>
      </p:sp>
      <mc:AlternateContent xmlns:mc="http://schemas.openxmlformats.org/markup-compatibility/2006">
        <mc:Choice xmlns="" xmlns:pslz="http://schemas.microsoft.com/office/powerpoint/2016/slidezoom" Requires="pslz">
          <p:graphicFrame>
            <p:nvGraphicFramePr>
              <p:cNvPr id="9" name="슬라이드 확대/축소 8">
                <a:extLst>
                  <a:ext uri="{FF2B5EF4-FFF2-40B4-BE49-F238E27FC236}">
                    <a16:creationId xmlns:a16="http://schemas.microsoft.com/office/drawing/2014/main" id="{FE98CAAA-9846-464D-B8AB-8E1D57F5B556}"/>
                  </a:ext>
                </a:extLst>
              </p:cNvPr>
              <p:cNvGraphicFramePr>
                <a:graphicFrameLocks noChangeAspect="1"/>
              </p:cNvGraphicFramePr>
              <p:nvPr>
                <p:extLst>
                  <p:ext uri="{D42A27DB-BD31-4B8C-83A1-F6EECF244321}">
                    <p14:modId xmlns:p14="http://schemas.microsoft.com/office/powerpoint/2010/main" val="503092587"/>
                  </p:ext>
                </p:extLst>
              </p:nvPr>
            </p:nvGraphicFramePr>
            <p:xfrm>
              <a:off x="-2374815" y="1793666"/>
              <a:ext cx="3048000" cy="1714500"/>
            </p:xfrm>
            <a:graphic>
              <a:graphicData uri="http://schemas.microsoft.com/office/powerpoint/2016/slidezoom">
                <pslz:sldZm>
                  <pslz:sldZmObj sldId="938" cId="710075525">
                    <pslz:zmPr id="{C7358866-97C3-490A-8B95-5798E4166EAB}" returnToParent="0" transitionDur="1000">
                      <p166:blipFill xmlns:p166="http://schemas.microsoft.com/office/powerpoint/2016/6/main">
                        <a:blip r:embed="rId10"/>
                        <a:stretch>
                          <a:fillRect/>
                        </a:stretch>
                      </p166:blipFill>
                      <p166:spPr xmlns:p166="http://schemas.microsoft.com/office/powerpoint/2016/6/main">
                        <a:xfrm>
                          <a:off x="0" y="0"/>
                          <a:ext cx="3048000" cy="1714500"/>
                        </a:xfrm>
                        <a:prstGeom prst="rect">
                          <a:avLst/>
                        </a:prstGeom>
                        <a:ln w="3175">
                          <a:solidFill>
                            <a:prstClr val="ltGray"/>
                          </a:solidFill>
                        </a:ln>
                      </p166:spPr>
                    </pslz:zmPr>
                  </pslz:sldZmObj>
                </pslz:sldZm>
              </a:graphicData>
            </a:graphic>
          </p:graphicFrame>
        </mc:Choice>
        <mc:Fallback>
          <p:pic>
            <p:nvPicPr>
              <p:cNvPr id="9" name="슬라이드 확대/축소 8">
                <a:hlinkClick r:id="rId11" action="ppaction://hlinksldjump"/>
                <a:extLst>
                  <a:ext uri="{FF2B5EF4-FFF2-40B4-BE49-F238E27FC236}">
                    <a16:creationId xmlns:a16="http://schemas.microsoft.com/office/drawing/2014/main" id="{FE98CAAA-9846-464D-B8AB-8E1D57F5B556}"/>
                  </a:ext>
                </a:extLst>
              </p:cNvPr>
              <p:cNvPicPr>
                <a:picLocks noGrp="1" noRot="1" noChangeAspect="1" noMove="1" noResize="1" noEditPoints="1" noAdjustHandles="1" noChangeArrowheads="1" noChangeShapeType="1"/>
              </p:cNvPicPr>
              <p:nvPr/>
            </p:nvPicPr>
            <p:blipFill>
              <a:blip r:embed="rId12"/>
              <a:stretch>
                <a:fillRect/>
              </a:stretch>
            </p:blipFill>
            <p:spPr>
              <a:xfrm>
                <a:off x="-2374815" y="1793666"/>
                <a:ext cx="3048000" cy="1714500"/>
              </a:xfrm>
              <a:prstGeom prst="rect">
                <a:avLst/>
              </a:prstGeom>
              <a:ln w="3175">
                <a:solidFill>
                  <a:prstClr val="ltGray"/>
                </a:solidFill>
              </a:ln>
            </p:spPr>
          </p:pic>
        </mc:Fallback>
      </mc:AlternateContent>
    </p:spTree>
    <p:extLst>
      <p:ext uri="{BB962C8B-B14F-4D97-AF65-F5344CB8AC3E}">
        <p14:creationId xmlns:p14="http://schemas.microsoft.com/office/powerpoint/2010/main" val="351107113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과제 필요성</a:t>
            </a:r>
          </a:p>
        </p:txBody>
      </p:sp>
      <p:sp>
        <p:nvSpPr>
          <p:cNvPr id="10" name="TextBox 9"/>
          <p:cNvSpPr txBox="1"/>
          <p:nvPr/>
        </p:nvSpPr>
        <p:spPr>
          <a:xfrm>
            <a:off x="4206240" y="155448"/>
            <a:ext cx="3108960" cy="320040"/>
          </a:xfrm>
          <a:prstGeom prst="rect">
            <a:avLst/>
          </a:prstGeom>
          <a:noFill/>
        </p:spPr>
        <p:txBody>
          <a:bodyPr wrap="square" lIns="45720" tIns="27432" rIns="45720" bIns="27432" anchor="ctr">
            <a:spAutoFit/>
          </a:bodyPr>
          <a:lstStyle/>
          <a:p>
            <a:pPr algn="r">
              <a:spcAft>
                <a:spcPts val="200"/>
              </a:spcAft>
            </a:pPr>
            <a:r>
              <a:rPr sz="900" b="0">
                <a:solidFill>
                  <a:srgbClr val="7F7F7F"/>
                </a:solidFill>
                <a:latin typeface="맑은 고딕"/>
                <a:ea typeface="맑은 고딕"/>
                <a:cs typeface="맑은 고딕"/>
              </a:rPr>
              <a:t>System 연구 필요성  ▶</a:t>
            </a:r>
          </a:p>
        </p:txBody>
      </p:sp>
      <p:sp>
        <p:nvSpPr>
          <p:cNvPr id="11" name="Rectangle 10"/>
          <p:cNvSpPr/>
          <p:nvPr/>
        </p:nvSpPr>
        <p:spPr>
          <a:xfrm>
            <a:off x="237744" y="1069848"/>
            <a:ext cx="5760720" cy="2386584"/>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7472" y="914400"/>
            <a:ext cx="5541264" cy="310896"/>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300" b="1">
                <a:solidFill>
                  <a:srgbClr val="FFFFFF"/>
                </a:solidFill>
                <a:latin typeface="맑은 고딕"/>
                <a:ea typeface="맑은 고딕"/>
                <a:cs typeface="맑은 고딕"/>
              </a:rPr>
              <a:t>HBM 수요는 유지, 어떤 메모리가 더 커질지는 불확실</a:t>
            </a:r>
          </a:p>
        </p:txBody>
      </p:sp>
      <p:sp>
        <p:nvSpPr>
          <p:cNvPr id="13" name="TextBox 12"/>
          <p:cNvSpPr txBox="1"/>
          <p:nvPr/>
        </p:nvSpPr>
        <p:spPr>
          <a:xfrm>
            <a:off x="374904" y="1280160"/>
            <a:ext cx="5486400" cy="274320"/>
          </a:xfrm>
          <a:prstGeom prst="rect">
            <a:avLst/>
          </a:prstGeom>
          <a:noFill/>
        </p:spPr>
        <p:txBody>
          <a:bodyPr wrap="square" lIns="45720" tIns="27432" rIns="45720" bIns="27432" anchor="ctr">
            <a:spAutoFit/>
          </a:bodyPr>
          <a:lstStyle/>
          <a:p>
            <a:pPr algn="l">
              <a:spcAft>
                <a:spcPts val="200"/>
              </a:spcAft>
            </a:pPr>
            <a:r>
              <a:rPr sz="1050" b="1">
                <a:solidFill>
                  <a:srgbClr val="000000"/>
                </a:solidFill>
                <a:latin typeface="맑은 고딕"/>
                <a:ea typeface="맑은 고딕"/>
                <a:cs typeface="맑은 고딕"/>
              </a:rPr>
              <a:t>■ HBM 시장·수요를 해치지 않는 선에서 커질 메모리 type을 미리 대비</a:t>
            </a:r>
          </a:p>
        </p:txBody>
      </p:sp>
      <p:sp>
        <p:nvSpPr>
          <p:cNvPr id="14" name="TextBox 13"/>
          <p:cNvSpPr txBox="1"/>
          <p:nvPr/>
        </p:nvSpPr>
        <p:spPr>
          <a:xfrm>
            <a:off x="411480" y="1572768"/>
            <a:ext cx="2743200" cy="201168"/>
          </a:xfrm>
          <a:prstGeom prst="rect">
            <a:avLst/>
          </a:prstGeom>
          <a:noFill/>
        </p:spPr>
        <p:txBody>
          <a:bodyPr wrap="square" lIns="45720" tIns="27432" rIns="45720" bIns="27432" anchor="t">
            <a:spAutoFit/>
          </a:bodyPr>
          <a:lstStyle/>
          <a:p>
            <a:pPr algn="l">
              <a:spcAft>
                <a:spcPts val="200"/>
              </a:spcAft>
            </a:pPr>
            <a:r>
              <a:rPr sz="900" b="1">
                <a:solidFill>
                  <a:srgbClr val="7F7F7F"/>
                </a:solidFill>
                <a:latin typeface="맑은 고딕"/>
                <a:ea typeface="맑은 고딕"/>
                <a:cs typeface="맑은 고딕"/>
              </a:rPr>
              <a:t>AI 메모리 수요</a:t>
            </a:r>
          </a:p>
        </p:txBody>
      </p:sp>
      <p:sp>
        <p:nvSpPr>
          <p:cNvPr id="15" name="TextBox 14"/>
          <p:cNvSpPr txBox="1"/>
          <p:nvPr/>
        </p:nvSpPr>
        <p:spPr>
          <a:xfrm>
            <a:off x="3246120" y="1572768"/>
            <a:ext cx="2743200" cy="201168"/>
          </a:xfrm>
          <a:prstGeom prst="rect">
            <a:avLst/>
          </a:prstGeom>
          <a:noFill/>
        </p:spPr>
        <p:txBody>
          <a:bodyPr wrap="square" lIns="45720" tIns="27432" rIns="45720" bIns="27432" anchor="t">
            <a:spAutoFit/>
          </a:bodyPr>
          <a:lstStyle/>
          <a:p>
            <a:pPr algn="l">
              <a:spcAft>
                <a:spcPts val="200"/>
              </a:spcAft>
            </a:pPr>
            <a:r>
              <a:rPr sz="900" b="1">
                <a:solidFill>
                  <a:srgbClr val="7F7F7F"/>
                </a:solidFill>
                <a:latin typeface="맑은 고딕"/>
                <a:ea typeface="맑은 고딕"/>
                <a:cs typeface="맑은 고딕"/>
              </a:rPr>
              <a:t>추가 수요 후보 (규모·순서 미정)</a:t>
            </a:r>
          </a:p>
        </p:txBody>
      </p:sp>
      <p:sp>
        <p:nvSpPr>
          <p:cNvPr id="16" name="Rectangle 15"/>
          <p:cNvSpPr/>
          <p:nvPr/>
        </p:nvSpPr>
        <p:spPr>
          <a:xfrm>
            <a:off x="502920" y="2176272"/>
            <a:ext cx="868680" cy="777240"/>
          </a:xfrm>
          <a:prstGeom prst="rect">
            <a:avLst/>
          </a:prstGeom>
          <a:solidFill>
            <a:srgbClr val="DEEBF7"/>
          </a:solidFill>
          <a:ln w="1524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HBM</a:t>
            </a:r>
          </a:p>
          <a:p>
            <a:pPr algn="ctr">
              <a:spcAft>
                <a:spcPts val="200"/>
              </a:spcAft>
            </a:pPr>
            <a:r>
              <a:rPr sz="800" b="0">
                <a:solidFill>
                  <a:srgbClr val="000000"/>
                </a:solidFill>
                <a:latin typeface="맑은 고딕"/>
                <a:ea typeface="맑은 고딕"/>
                <a:cs typeface="맑은 고딕"/>
              </a:rPr>
              <a:t>현재 수요</a:t>
            </a:r>
          </a:p>
        </p:txBody>
      </p:sp>
      <p:cxnSp>
        <p:nvCxnSpPr>
          <p:cNvPr id="17" name="Connector 16"/>
          <p:cNvCxnSpPr/>
          <p:nvPr/>
        </p:nvCxnSpPr>
        <p:spPr>
          <a:xfrm>
            <a:off x="1463040" y="2560320"/>
            <a:ext cx="777240" cy="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71600" y="2084831"/>
            <a:ext cx="1005840" cy="457200"/>
          </a:xfrm>
          <a:prstGeom prst="rect">
            <a:avLst/>
          </a:prstGeom>
          <a:noFill/>
        </p:spPr>
        <p:txBody>
          <a:bodyPr wrap="square" lIns="45720" tIns="27432" rIns="45720" bIns="27432" anchor="t">
            <a:spAutoFit/>
          </a:bodyPr>
          <a:lstStyle/>
          <a:p>
            <a:pPr algn="ctr">
              <a:spcAft>
                <a:spcPts val="200"/>
              </a:spcAft>
            </a:pPr>
            <a:r>
              <a:rPr sz="800" b="0">
                <a:solidFill>
                  <a:srgbClr val="595959"/>
                </a:solidFill>
                <a:latin typeface="맑은 고딕"/>
                <a:ea typeface="맑은 고딕"/>
                <a:cs typeface="맑은 고딕"/>
              </a:rPr>
              <a:t>AI 추론 · Agent 확산</a:t>
            </a:r>
          </a:p>
        </p:txBody>
      </p:sp>
      <p:sp>
        <p:nvSpPr>
          <p:cNvPr id="19" name="Rectangle 18"/>
          <p:cNvSpPr/>
          <p:nvPr/>
        </p:nvSpPr>
        <p:spPr>
          <a:xfrm>
            <a:off x="2331720" y="2176272"/>
            <a:ext cx="868680" cy="777240"/>
          </a:xfrm>
          <a:prstGeom prst="rect">
            <a:avLst/>
          </a:prstGeom>
          <a:solidFill>
            <a:srgbClr val="DEEBF7"/>
          </a:solidFill>
          <a:ln w="1524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000" b="1">
                <a:solidFill>
                  <a:srgbClr val="000000"/>
                </a:solidFill>
                <a:latin typeface="맑은 고딕"/>
                <a:ea typeface="맑은 고딕"/>
                <a:cs typeface="맑은 고딕"/>
              </a:rPr>
              <a:t>HBM</a:t>
            </a:r>
          </a:p>
          <a:p>
            <a:pPr algn="ctr">
              <a:spcAft>
                <a:spcPts val="200"/>
              </a:spcAft>
            </a:pPr>
            <a:r>
              <a:rPr sz="800" b="0">
                <a:solidFill>
                  <a:srgbClr val="2E75B6"/>
                </a:solidFill>
                <a:latin typeface="맑은 고딕"/>
                <a:ea typeface="맑은 고딕"/>
                <a:cs typeface="맑은 고딕"/>
              </a:rPr>
              <a:t>유지 · 보존</a:t>
            </a:r>
          </a:p>
        </p:txBody>
      </p:sp>
      <p:sp>
        <p:nvSpPr>
          <p:cNvPr id="20" name="TextBox 19"/>
          <p:cNvSpPr txBox="1"/>
          <p:nvPr/>
        </p:nvSpPr>
        <p:spPr>
          <a:xfrm>
            <a:off x="3172968" y="2377440"/>
            <a:ext cx="182880" cy="365760"/>
          </a:xfrm>
          <a:prstGeom prst="rect">
            <a:avLst/>
          </a:prstGeom>
          <a:noFill/>
        </p:spPr>
        <p:txBody>
          <a:bodyPr wrap="square" lIns="45720" tIns="27432" rIns="45720" bIns="27432" anchor="t">
            <a:spAutoFit/>
          </a:bodyPr>
          <a:lstStyle/>
          <a:p>
            <a:pPr algn="l">
              <a:spcAft>
                <a:spcPts val="200"/>
              </a:spcAft>
            </a:pPr>
            <a:r>
              <a:rPr sz="1600" b="1">
                <a:solidFill>
                  <a:srgbClr val="7F7F7F"/>
                </a:solidFill>
                <a:latin typeface="맑은 고딕"/>
                <a:ea typeface="맑은 고딕"/>
                <a:cs typeface="맑은 고딕"/>
              </a:rPr>
              <a:t>+</a:t>
            </a:r>
          </a:p>
        </p:txBody>
      </p:sp>
      <p:sp>
        <p:nvSpPr>
          <p:cNvPr id="21" name="Rectangle 20"/>
          <p:cNvSpPr/>
          <p:nvPr/>
        </p:nvSpPr>
        <p:spPr>
          <a:xfrm>
            <a:off x="3429000" y="1801368"/>
            <a:ext cx="566928" cy="1152144"/>
          </a:xfrm>
          <a:prstGeom prst="rect">
            <a:avLst/>
          </a:prstGeom>
          <a:solidFill>
            <a:srgbClr val="E2F0D9"/>
          </a:solidFill>
          <a:ln w="15240">
            <a:solidFill>
              <a:srgbClr val="548235"/>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1600" b="1">
                <a:solidFill>
                  <a:srgbClr val="548235"/>
                </a:solidFill>
                <a:latin typeface="맑은 고딕"/>
                <a:ea typeface="맑은 고딕"/>
                <a:cs typeface="맑은 고딕"/>
              </a:rPr>
              <a:t>?</a:t>
            </a:r>
          </a:p>
          <a:p>
            <a:pPr algn="ctr">
              <a:spcAft>
                <a:spcPts val="200"/>
              </a:spcAft>
            </a:pPr>
            <a:r>
              <a:rPr sz="800" b="1">
                <a:solidFill>
                  <a:srgbClr val="000000"/>
                </a:solidFill>
                <a:latin typeface="맑은 고딕"/>
                <a:ea typeface="맑은 고딕"/>
                <a:cs typeface="맑은 고딕"/>
              </a:rPr>
              <a:t>CXL
Memory</a:t>
            </a:r>
          </a:p>
        </p:txBody>
      </p:sp>
      <p:sp>
        <p:nvSpPr>
          <p:cNvPr id="22" name="Rectangle 21"/>
          <p:cNvSpPr/>
          <p:nvPr/>
        </p:nvSpPr>
        <p:spPr>
          <a:xfrm>
            <a:off x="4069080" y="1801368"/>
            <a:ext cx="566928" cy="1152144"/>
          </a:xfrm>
          <a:prstGeom prst="rect">
            <a:avLst/>
          </a:prstGeom>
          <a:solidFill>
            <a:srgbClr val="DEEBF7"/>
          </a:solidFill>
          <a:ln w="15240">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1600" b="1">
                <a:solidFill>
                  <a:srgbClr val="2E75B6"/>
                </a:solidFill>
                <a:latin typeface="맑은 고딕"/>
                <a:ea typeface="맑은 고딕"/>
                <a:cs typeface="맑은 고딕"/>
              </a:rPr>
              <a:t>?</a:t>
            </a:r>
          </a:p>
          <a:p>
            <a:pPr algn="ctr">
              <a:spcAft>
                <a:spcPts val="200"/>
              </a:spcAft>
            </a:pPr>
            <a:r>
              <a:rPr sz="800" b="1">
                <a:solidFill>
                  <a:srgbClr val="000000"/>
                </a:solidFill>
                <a:latin typeface="맑은 고딕"/>
                <a:ea typeface="맑은 고딕"/>
                <a:cs typeface="맑은 고딕"/>
              </a:rPr>
              <a:t>Custom
HBM</a:t>
            </a:r>
          </a:p>
        </p:txBody>
      </p:sp>
      <p:sp>
        <p:nvSpPr>
          <p:cNvPr id="23" name="Rectangle 22"/>
          <p:cNvSpPr/>
          <p:nvPr/>
        </p:nvSpPr>
        <p:spPr>
          <a:xfrm>
            <a:off x="4709160" y="1801368"/>
            <a:ext cx="566928" cy="1152144"/>
          </a:xfrm>
          <a:prstGeom prst="rect">
            <a:avLst/>
          </a:prstGeom>
          <a:solidFill>
            <a:srgbClr val="FBE5D6"/>
          </a:solidFill>
          <a:ln w="1524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1600" b="1">
                <a:solidFill>
                  <a:srgbClr val="C55A11"/>
                </a:solidFill>
                <a:latin typeface="맑은 고딕"/>
                <a:ea typeface="맑은 고딕"/>
                <a:cs typeface="맑은 고딕"/>
              </a:rPr>
              <a:t>?</a:t>
            </a:r>
          </a:p>
          <a:p>
            <a:pPr algn="ctr">
              <a:spcAft>
                <a:spcPts val="200"/>
              </a:spcAft>
            </a:pPr>
            <a:r>
              <a:rPr sz="800" b="1">
                <a:solidFill>
                  <a:srgbClr val="000000"/>
                </a:solidFill>
                <a:latin typeface="맑은 고딕"/>
                <a:ea typeface="맑은 고딕"/>
                <a:cs typeface="맑은 고딕"/>
              </a:rPr>
              <a:t>HBF</a:t>
            </a:r>
          </a:p>
        </p:txBody>
      </p:sp>
      <p:sp>
        <p:nvSpPr>
          <p:cNvPr id="24" name="Rectangle 23"/>
          <p:cNvSpPr/>
          <p:nvPr/>
        </p:nvSpPr>
        <p:spPr>
          <a:xfrm>
            <a:off x="5349240" y="1801368"/>
            <a:ext cx="566928" cy="1152144"/>
          </a:xfrm>
          <a:prstGeom prst="rect">
            <a:avLst/>
          </a:prstGeom>
          <a:solidFill>
            <a:srgbClr val="F0F1F3"/>
          </a:solidFill>
          <a:ln w="1524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1600" b="1">
                <a:solidFill>
                  <a:srgbClr val="7F7F7F"/>
                </a:solidFill>
                <a:latin typeface="맑은 고딕"/>
                <a:ea typeface="맑은 고딕"/>
                <a:cs typeface="맑은 고딕"/>
              </a:rPr>
              <a:t>?</a:t>
            </a:r>
          </a:p>
          <a:p>
            <a:pPr algn="ctr">
              <a:spcAft>
                <a:spcPts val="200"/>
              </a:spcAft>
            </a:pPr>
            <a:r>
              <a:rPr sz="800" b="1">
                <a:solidFill>
                  <a:srgbClr val="000000"/>
                </a:solidFill>
                <a:latin typeface="맑은 고딕"/>
                <a:ea typeface="맑은 고딕"/>
                <a:cs typeface="맑은 고딕"/>
              </a:rPr>
              <a:t>기타
PIM·PNM</a:t>
            </a:r>
          </a:p>
        </p:txBody>
      </p:sp>
      <p:sp>
        <p:nvSpPr>
          <p:cNvPr id="25" name="TextBox 24"/>
          <p:cNvSpPr txBox="1"/>
          <p:nvPr/>
        </p:nvSpPr>
        <p:spPr>
          <a:xfrm>
            <a:off x="411480" y="2962656"/>
            <a:ext cx="5577840" cy="182880"/>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 점선 막대의 높이는 규모 미정을 뜻하는 표기이며 실제 수치가 아님</a:t>
            </a:r>
          </a:p>
        </p:txBody>
      </p:sp>
      <p:sp>
        <p:nvSpPr>
          <p:cNvPr id="26" name="Right Arrow 25"/>
          <p:cNvSpPr/>
          <p:nvPr/>
        </p:nvSpPr>
        <p:spPr>
          <a:xfrm>
            <a:off x="347472" y="3218688"/>
            <a:ext cx="274320" cy="182880"/>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8368" y="3154680"/>
            <a:ext cx="5303520" cy="310896"/>
          </a:xfrm>
          <a:prstGeom prst="rect">
            <a:avLst/>
          </a:prstGeom>
          <a:noFill/>
        </p:spPr>
        <p:txBody>
          <a:bodyPr wrap="square" lIns="45720" tIns="27432" rIns="45720" bIns="27432" anchor="ctr">
            <a:spAutoFit/>
          </a:bodyPr>
          <a:lstStyle/>
          <a:p>
            <a:pPr algn="l">
              <a:spcAft>
                <a:spcPts val="200"/>
              </a:spcAft>
            </a:pPr>
            <a:r>
              <a:rPr sz="1050" b="1">
                <a:solidFill>
                  <a:srgbClr val="0066FF"/>
                </a:solidFill>
                <a:latin typeface="맑은 고딕"/>
                <a:ea typeface="맑은 고딕"/>
                <a:cs typeface="맑은 고딕"/>
              </a:rPr>
              <a:t>어느 type이 커질지 알 수 없으므로, 제품별 SW 솔루션을 미리 준비</a:t>
            </a:r>
          </a:p>
        </p:txBody>
      </p:sp>
      <p:sp>
        <p:nvSpPr>
          <p:cNvPr id="28" name="Rectangle 27"/>
          <p:cNvSpPr/>
          <p:nvPr/>
        </p:nvSpPr>
        <p:spPr>
          <a:xfrm>
            <a:off x="6199632" y="1069848"/>
            <a:ext cx="5760720" cy="2386584"/>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309360" y="914400"/>
            <a:ext cx="5541264" cy="310896"/>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300" b="1">
                <a:solidFill>
                  <a:srgbClr val="FFFFFF"/>
                </a:solidFill>
                <a:latin typeface="맑은 고딕"/>
                <a:ea typeface="맑은 고딕"/>
                <a:cs typeface="맑은 고딕"/>
              </a:rPr>
              <a:t>런타임 역할의 한계: Offloading · Scheduling 효과 (공개 사례)</a:t>
            </a:r>
          </a:p>
        </p:txBody>
      </p:sp>
      <p:sp>
        <p:nvSpPr>
          <p:cNvPr id="30" name="TextBox 29"/>
          <p:cNvSpPr txBox="1"/>
          <p:nvPr/>
        </p:nvSpPr>
        <p:spPr>
          <a:xfrm>
            <a:off x="6336792" y="1280160"/>
            <a:ext cx="5486400" cy="274320"/>
          </a:xfrm>
          <a:prstGeom prst="rect">
            <a:avLst/>
          </a:prstGeom>
          <a:noFill/>
        </p:spPr>
        <p:txBody>
          <a:bodyPr wrap="square" lIns="45720" tIns="27432" rIns="45720" bIns="27432" anchor="ctr">
            <a:spAutoFit/>
          </a:bodyPr>
          <a:lstStyle/>
          <a:p>
            <a:pPr algn="l">
              <a:spcAft>
                <a:spcPts val="200"/>
              </a:spcAft>
            </a:pP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Agent의</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자원</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수요가</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동적으로</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변하는</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상황에서</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런타임</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역할이</a:t>
            </a:r>
            <a:r>
              <a:rPr sz="1050" b="1" dirty="0">
                <a:solidFill>
                  <a:srgbClr val="000000"/>
                </a:solidFill>
                <a:latin typeface="맑은 고딕"/>
                <a:ea typeface="맑은 고딕"/>
                <a:cs typeface="맑은 고딕"/>
              </a:rPr>
              <a:t> </a:t>
            </a:r>
            <a:r>
              <a:rPr sz="1050" b="1" dirty="0" err="1">
                <a:solidFill>
                  <a:srgbClr val="000000"/>
                </a:solidFill>
                <a:latin typeface="맑은 고딕"/>
                <a:ea typeface="맑은 고딕"/>
                <a:cs typeface="맑은 고딕"/>
              </a:rPr>
              <a:t>결정적</a:t>
            </a:r>
            <a:endParaRPr sz="1050" b="1" dirty="0">
              <a:solidFill>
                <a:srgbClr val="000000"/>
              </a:solidFill>
              <a:latin typeface="맑은 고딕"/>
              <a:ea typeface="맑은 고딕"/>
              <a:cs typeface="맑은 고딕"/>
            </a:endParaRPr>
          </a:p>
        </p:txBody>
      </p:sp>
      <p:sp>
        <p:nvSpPr>
          <p:cNvPr id="31" name="TextBox 30"/>
          <p:cNvSpPr txBox="1"/>
          <p:nvPr/>
        </p:nvSpPr>
        <p:spPr>
          <a:xfrm>
            <a:off x="6336792" y="1572768"/>
            <a:ext cx="5486400" cy="201168"/>
          </a:xfrm>
          <a:prstGeom prst="rect">
            <a:avLst/>
          </a:prstGeom>
          <a:noFill/>
        </p:spPr>
        <p:txBody>
          <a:bodyPr wrap="square" lIns="45720" tIns="27432" rIns="45720" bIns="27432" anchor="t">
            <a:spAutoFit/>
          </a:bodyPr>
          <a:lstStyle/>
          <a:p>
            <a:pPr algn="l">
              <a:spcAft>
                <a:spcPts val="200"/>
              </a:spcAft>
            </a:pPr>
            <a:r>
              <a:rPr sz="850" b="1">
                <a:solidFill>
                  <a:srgbClr val="595959"/>
                </a:solidFill>
                <a:latin typeface="맑은 고딕"/>
                <a:ea typeface="맑은 고딕"/>
                <a:cs typeface="맑은 고딕"/>
              </a:rPr>
              <a:t>(a) KV Offloading 유무 — 개선 배수(×), baseline = 1.0</a:t>
            </a:r>
          </a:p>
        </p:txBody>
      </p:sp>
      <p:sp>
        <p:nvSpPr>
          <p:cNvPr id="32" name="TextBox 31"/>
          <p:cNvSpPr txBox="1"/>
          <p:nvPr/>
        </p:nvSpPr>
        <p:spPr>
          <a:xfrm>
            <a:off x="6336792" y="1764792"/>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Baseline: GPU 메모리만 사용 (vLLM)</a:t>
            </a:r>
          </a:p>
        </p:txBody>
      </p:sp>
      <p:sp>
        <p:nvSpPr>
          <p:cNvPr id="33" name="Rectangle 32"/>
          <p:cNvSpPr/>
          <p:nvPr/>
        </p:nvSpPr>
        <p:spPr>
          <a:xfrm>
            <a:off x="8714232" y="1783080"/>
            <a:ext cx="160020" cy="155448"/>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01684" y="1755648"/>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1.0×</a:t>
            </a:r>
          </a:p>
        </p:txBody>
      </p:sp>
      <p:sp>
        <p:nvSpPr>
          <p:cNvPr id="35" name="TextBox 34"/>
          <p:cNvSpPr txBox="1"/>
          <p:nvPr/>
        </p:nvSpPr>
        <p:spPr>
          <a:xfrm>
            <a:off x="6336792" y="1947672"/>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LMCache 처리율 @동일 TTFT ①</a:t>
            </a:r>
          </a:p>
        </p:txBody>
      </p:sp>
      <p:sp>
        <p:nvSpPr>
          <p:cNvPr id="36" name="Rectangle 35"/>
          <p:cNvSpPr/>
          <p:nvPr/>
        </p:nvSpPr>
        <p:spPr>
          <a:xfrm>
            <a:off x="8714232" y="1965960"/>
            <a:ext cx="368046" cy="155448"/>
          </a:xfrm>
          <a:prstGeom prst="rect">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082278" y="1965960"/>
            <a:ext cx="1872234"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981944" y="1938528"/>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2.3–14×</a:t>
            </a:r>
          </a:p>
        </p:txBody>
      </p:sp>
      <p:sp>
        <p:nvSpPr>
          <p:cNvPr id="39" name="TextBox 38"/>
          <p:cNvSpPr txBox="1"/>
          <p:nvPr/>
        </p:nvSpPr>
        <p:spPr>
          <a:xfrm>
            <a:off x="6336792" y="2130552"/>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LMCache TTFT 단축 (QPS=1) ①</a:t>
            </a:r>
          </a:p>
        </p:txBody>
      </p:sp>
      <p:sp>
        <p:nvSpPr>
          <p:cNvPr id="40" name="Rectangle 39"/>
          <p:cNvSpPr/>
          <p:nvPr/>
        </p:nvSpPr>
        <p:spPr>
          <a:xfrm>
            <a:off x="8714232" y="2148840"/>
            <a:ext cx="304038" cy="155448"/>
          </a:xfrm>
          <a:prstGeom prst="rect">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9018270" y="2148840"/>
            <a:ext cx="992124"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037826" y="2121408"/>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1.9–8.1×</a:t>
            </a:r>
          </a:p>
        </p:txBody>
      </p:sp>
      <p:sp>
        <p:nvSpPr>
          <p:cNvPr id="43" name="TextBox 42"/>
          <p:cNvSpPr txBox="1"/>
          <p:nvPr/>
        </p:nvSpPr>
        <p:spPr>
          <a:xfrm>
            <a:off x="6336792" y="2313432"/>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Mooncake KV pool 요청 용량 (SLO 내) ②</a:t>
            </a:r>
          </a:p>
        </p:txBody>
      </p:sp>
      <p:sp>
        <p:nvSpPr>
          <p:cNvPr id="44" name="Rectangle 43"/>
          <p:cNvSpPr/>
          <p:nvPr/>
        </p:nvSpPr>
        <p:spPr>
          <a:xfrm>
            <a:off x="8714232" y="2331720"/>
            <a:ext cx="254431" cy="155448"/>
          </a:xfrm>
          <a:prstGeom prst="rect">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8968663" y="2331720"/>
            <a:ext cx="702487" cy="15544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698583" y="2304288"/>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1.59–5.98×</a:t>
            </a:r>
          </a:p>
        </p:txBody>
      </p:sp>
      <p:sp>
        <p:nvSpPr>
          <p:cNvPr id="47" name="TextBox 46"/>
          <p:cNvSpPr txBox="1"/>
          <p:nvPr/>
        </p:nvSpPr>
        <p:spPr>
          <a:xfrm>
            <a:off x="6336792" y="2542032"/>
            <a:ext cx="5486400" cy="201168"/>
          </a:xfrm>
          <a:prstGeom prst="rect">
            <a:avLst/>
          </a:prstGeom>
          <a:noFill/>
        </p:spPr>
        <p:txBody>
          <a:bodyPr wrap="square" lIns="45720" tIns="27432" rIns="45720" bIns="27432" anchor="t">
            <a:spAutoFit/>
          </a:bodyPr>
          <a:lstStyle/>
          <a:p>
            <a:pPr algn="l">
              <a:spcAft>
                <a:spcPts val="200"/>
              </a:spcAft>
            </a:pPr>
            <a:r>
              <a:rPr sz="850" b="1">
                <a:solidFill>
                  <a:srgbClr val="595959"/>
                </a:solidFill>
                <a:latin typeface="맑은 고딕"/>
                <a:ea typeface="맑은 고딕"/>
                <a:cs typeface="맑은 고딕"/>
              </a:rPr>
              <a:t>(b) Scheduling 유무 — 처리량(steps/min), SWE-agent ③</a:t>
            </a:r>
          </a:p>
        </p:txBody>
      </p:sp>
      <p:sp>
        <p:nvSpPr>
          <p:cNvPr id="48" name="TextBox 47"/>
          <p:cNvSpPr txBox="1"/>
          <p:nvPr/>
        </p:nvSpPr>
        <p:spPr>
          <a:xfrm>
            <a:off x="6336792" y="2734056"/>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Baseline: 요청 단위 스케줄링 (vLLM)</a:t>
            </a:r>
          </a:p>
        </p:txBody>
      </p:sp>
      <p:sp>
        <p:nvSpPr>
          <p:cNvPr id="49" name="Rectangle 48"/>
          <p:cNvSpPr/>
          <p:nvPr/>
        </p:nvSpPr>
        <p:spPr>
          <a:xfrm>
            <a:off x="8714232" y="2752344"/>
            <a:ext cx="1250156" cy="155448"/>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991820" y="2724912"/>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375</a:t>
            </a:r>
          </a:p>
        </p:txBody>
      </p:sp>
      <p:sp>
        <p:nvSpPr>
          <p:cNvPr id="51" name="TextBox 50"/>
          <p:cNvSpPr txBox="1"/>
          <p:nvPr/>
        </p:nvSpPr>
        <p:spPr>
          <a:xfrm>
            <a:off x="6336792" y="2916936"/>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 프로그램 인지 스케줄링 (로컬)</a:t>
            </a:r>
          </a:p>
        </p:txBody>
      </p:sp>
      <p:sp>
        <p:nvSpPr>
          <p:cNvPr id="52" name="Rectangle 51"/>
          <p:cNvSpPr/>
          <p:nvPr/>
        </p:nvSpPr>
        <p:spPr>
          <a:xfrm>
            <a:off x="8714232" y="2935224"/>
            <a:ext cx="2006917"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748581" y="2907792"/>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602 (1.61×)</a:t>
            </a:r>
          </a:p>
        </p:txBody>
      </p:sp>
      <p:sp>
        <p:nvSpPr>
          <p:cNvPr id="54" name="TextBox 53"/>
          <p:cNvSpPr txBox="1"/>
          <p:nvPr/>
        </p:nvSpPr>
        <p:spPr>
          <a:xfrm>
            <a:off x="6336792" y="3099816"/>
            <a:ext cx="2377440" cy="201168"/>
          </a:xfrm>
          <a:prstGeom prst="rect">
            <a:avLst/>
          </a:prstGeom>
          <a:noFill/>
        </p:spPr>
        <p:txBody>
          <a:bodyPr wrap="square" lIns="45720" tIns="27432" rIns="45720" bIns="27432" anchor="ctr">
            <a:spAutoFit/>
          </a:bodyPr>
          <a:lstStyle/>
          <a:p>
            <a:pPr algn="l">
              <a:spcAft>
                <a:spcPts val="200"/>
              </a:spcAft>
            </a:pPr>
            <a:r>
              <a:rPr sz="800" b="0">
                <a:solidFill>
                  <a:srgbClr val="000000"/>
                </a:solidFill>
                <a:latin typeface="맑은 고딕"/>
                <a:ea typeface="맑은 고딕"/>
                <a:cs typeface="맑은 고딕"/>
              </a:rPr>
              <a:t>+ 글로벌 대기열 (ThunderAgent)</a:t>
            </a:r>
          </a:p>
        </p:txBody>
      </p:sp>
      <p:sp>
        <p:nvSpPr>
          <p:cNvPr id="55" name="Rectangle 54"/>
          <p:cNvSpPr/>
          <p:nvPr/>
        </p:nvSpPr>
        <p:spPr>
          <a:xfrm>
            <a:off x="8714232" y="3118104"/>
            <a:ext cx="2240280" cy="15544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0981944" y="3090672"/>
            <a:ext cx="1005840" cy="201168"/>
          </a:xfrm>
          <a:prstGeom prst="rect">
            <a:avLst/>
          </a:prstGeom>
          <a:noFill/>
        </p:spPr>
        <p:txBody>
          <a:bodyPr wrap="square" lIns="45720" tIns="27432" rIns="45720" bIns="27432" anchor="ctr">
            <a:spAutoFit/>
          </a:bodyPr>
          <a:lstStyle/>
          <a:p>
            <a:pPr algn="l">
              <a:spcAft>
                <a:spcPts val="200"/>
              </a:spcAft>
            </a:pPr>
            <a:r>
              <a:rPr sz="850" b="1">
                <a:solidFill>
                  <a:srgbClr val="000000"/>
                </a:solidFill>
                <a:latin typeface="맑은 고딕"/>
                <a:ea typeface="맑은 고딕"/>
                <a:cs typeface="맑은 고딕"/>
              </a:rPr>
              <a:t>672 (1.79×)</a:t>
            </a:r>
          </a:p>
        </p:txBody>
      </p:sp>
      <p:sp>
        <p:nvSpPr>
          <p:cNvPr id="57" name="TextBox 56"/>
          <p:cNvSpPr txBox="1"/>
          <p:nvPr/>
        </p:nvSpPr>
        <p:spPr>
          <a:xfrm>
            <a:off x="10222992" y="2560320"/>
            <a:ext cx="1737360" cy="182880"/>
          </a:xfrm>
          <a:prstGeom prst="rect">
            <a:avLst/>
          </a:prstGeom>
          <a:noFill/>
        </p:spPr>
        <p:txBody>
          <a:bodyPr wrap="square" lIns="45720" tIns="27432" rIns="45720" bIns="27432" anchor="t">
            <a:spAutoFit/>
          </a:bodyPr>
          <a:lstStyle/>
          <a:p>
            <a:pPr algn="r">
              <a:spcAft>
                <a:spcPts val="200"/>
              </a:spcAft>
            </a:pPr>
            <a:r>
              <a:rPr sz="800" b="1">
                <a:solidFill>
                  <a:srgbClr val="C55A11"/>
                </a:solidFill>
                <a:latin typeface="맑은 고딕"/>
                <a:ea typeface="맑은 고딕"/>
                <a:cs typeface="맑은 고딕"/>
              </a:rPr>
              <a:t>벤치마크 전반 1.48–3.58×</a:t>
            </a:r>
          </a:p>
        </p:txBody>
      </p:sp>
      <p:sp>
        <p:nvSpPr>
          <p:cNvPr id="58" name="Rectangle 57"/>
          <p:cNvSpPr/>
          <p:nvPr/>
        </p:nvSpPr>
        <p:spPr>
          <a:xfrm>
            <a:off x="237744" y="3767328"/>
            <a:ext cx="5760720" cy="1947672"/>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347472" y="3611880"/>
            <a:ext cx="5541264" cy="310896"/>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300" b="1">
                <a:solidFill>
                  <a:srgbClr val="FFFFFF"/>
                </a:solidFill>
                <a:latin typeface="맑은 고딕"/>
                <a:ea typeface="맑은 고딕"/>
                <a:cs typeface="맑은 고딕"/>
              </a:rPr>
              <a:t>HBM 외 제품의 Biz Impact: HBM과 상호 보완</a:t>
            </a:r>
          </a:p>
        </p:txBody>
      </p:sp>
      <p:sp>
        <p:nvSpPr>
          <p:cNvPr id="60" name="TextBox 59"/>
          <p:cNvSpPr txBox="1"/>
          <p:nvPr/>
        </p:nvSpPr>
        <p:spPr>
          <a:xfrm>
            <a:off x="374904" y="3931920"/>
            <a:ext cx="5486400" cy="274320"/>
          </a:xfrm>
          <a:prstGeom prst="rect">
            <a:avLst/>
          </a:prstGeom>
          <a:noFill/>
        </p:spPr>
        <p:txBody>
          <a:bodyPr wrap="square" lIns="45720" tIns="27432" rIns="45720" bIns="27432" anchor="ctr">
            <a:spAutoFit/>
          </a:bodyPr>
          <a:lstStyle/>
          <a:p>
            <a:pPr algn="l">
              <a:spcAft>
                <a:spcPts val="200"/>
              </a:spcAft>
            </a:pPr>
            <a:r>
              <a:rPr sz="1050" b="1">
                <a:solidFill>
                  <a:srgbClr val="000000"/>
                </a:solidFill>
                <a:latin typeface="맑은 고딕"/>
                <a:ea typeface="맑은 고딕"/>
                <a:cs typeface="맑은 고딕"/>
              </a:rPr>
              <a:t>■ HBM의 수요를 뺏지 않고, HBM이 담지 못하는 영역을 채움</a:t>
            </a:r>
          </a:p>
        </p:txBody>
      </p:sp>
      <p:graphicFrame>
        <p:nvGraphicFramePr>
          <p:cNvPr id="61" name="Table 60"/>
          <p:cNvGraphicFramePr>
            <a:graphicFrameLocks noGrp="1"/>
          </p:cNvGraphicFramePr>
          <p:nvPr/>
        </p:nvGraphicFramePr>
        <p:xfrm>
          <a:off x="329184" y="4224528"/>
          <a:ext cx="5486400" cy="1322832"/>
        </p:xfrm>
        <a:graphic>
          <a:graphicData uri="http://schemas.openxmlformats.org/drawingml/2006/table">
            <a:tbl>
              <a:tblPr>
                <a:tableStyleId>{2D5ABB26-0587-4C30-8999-92F81FD0307C}</a:tableStyleId>
              </a:tblPr>
              <a:tblGrid>
                <a:gridCol w="868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201168">
                <a:tc>
                  <a:txBody>
                    <a:bodyPr/>
                    <a:lstStyle/>
                    <a:p>
                      <a:pPr algn="ctr">
                        <a:spcAft>
                          <a:spcPts val="100"/>
                        </a:spcAft>
                      </a:pPr>
                      <a:r>
                        <a:rPr sz="900" b="0">
                          <a:solidFill>
                            <a:srgbClr val="404040"/>
                          </a:solidFill>
                          <a:latin typeface="맑은 고딕"/>
                          <a:ea typeface="맑은 고딕"/>
                          <a:cs typeface="맑은 고딕"/>
                        </a:rPr>
                        <a:t>제품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00" b="1">
                          <a:solidFill>
                            <a:srgbClr val="404040"/>
                          </a:solidFill>
                          <a:latin typeface="맑은 고딕"/>
                          <a:ea typeface="맑은 고딕"/>
                          <a:cs typeface="맑은 고딕"/>
                        </a:rPr>
                        <a:t>담당 데이터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00" b="1">
                          <a:solidFill>
                            <a:srgbClr val="404040"/>
                          </a:solidFill>
                          <a:latin typeface="맑은 고딕"/>
                          <a:ea typeface="맑은 고딕"/>
                          <a:cs typeface="맑은 고딕"/>
                        </a:rPr>
                        <a:t>시장 전망 (2030, 공개 전망)</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spcAft>
                          <a:spcPts val="100"/>
                        </a:spcAft>
                      </a:pPr>
                      <a:r>
                        <a:rPr sz="900" b="1">
                          <a:solidFill>
                            <a:srgbClr val="404040"/>
                          </a:solidFill>
                          <a:latin typeface="맑은 고딕"/>
                          <a:ea typeface="맑은 고딕"/>
                          <a:cs typeface="맑은 고딕"/>
                        </a:rPr>
                        <a:t>HBM 수요 영향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0"/>
                  </a:ext>
                </a:extLst>
              </a:tr>
              <a:tr h="274320">
                <a:tc>
                  <a:txBody>
                    <a:bodyPr/>
                    <a:lstStyle/>
                    <a:p>
                      <a:pPr algn="ctr">
                        <a:spcAft>
                          <a:spcPts val="100"/>
                        </a:spcAft>
                      </a:pPr>
                      <a:r>
                        <a:rPr sz="800" b="0">
                          <a:solidFill>
                            <a:srgbClr val="404040"/>
                          </a:solidFill>
                          <a:latin typeface="맑은 고딕"/>
                          <a:ea typeface="맑은 고딕"/>
                          <a:cs typeface="맑은 고딕"/>
                        </a:rPr>
                        <a:t>HBM</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활성 KV·가중치</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&gt; $100B (Micron 전망) ④</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1">
                          <a:solidFill>
                            <a:srgbClr val="2E75B6"/>
                          </a:solidFill>
                          <a:latin typeface="맑은 고딕"/>
                          <a:ea typeface="맑은 고딕"/>
                          <a:cs typeface="맑은 고딕"/>
                        </a:rPr>
                        <a:t>기준선, 수요 유지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ctr">
                        <a:spcAft>
                          <a:spcPts val="100"/>
                        </a:spcAft>
                      </a:pPr>
                      <a:r>
                        <a:rPr sz="800" b="0">
                          <a:solidFill>
                            <a:srgbClr val="404040"/>
                          </a:solidFill>
                          <a:latin typeface="맑은 고딕"/>
                          <a:ea typeface="맑은 고딕"/>
                          <a:cs typeface="맑은 고딕"/>
                        </a:rPr>
                        <a:t>Custom HBM</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HBM 변형 (base die 맞춤)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수십 B$ (SK hynix 전망) 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2E75B6"/>
                          </a:solidFill>
                          <a:latin typeface="맑은 고딕"/>
                          <a:ea typeface="맑은 고딕"/>
                          <a:cs typeface="맑은 고딕"/>
                        </a:rPr>
                        <a:t>HBM 시장 내 성장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ctr">
                        <a:spcAft>
                          <a:spcPts val="100"/>
                        </a:spcAft>
                      </a:pPr>
                      <a:r>
                        <a:rPr sz="800" b="0">
                          <a:solidFill>
                            <a:srgbClr val="404040"/>
                          </a:solidFill>
                          <a:latin typeface="맑은 고딕"/>
                          <a:ea typeface="맑은 고딕"/>
                          <a:cs typeface="맑은 고딕"/>
                        </a:rPr>
                        <a:t>CXL Memory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유휴·재사용 KV</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약 $4–7B (범위 정의별 차이) 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2E75B6"/>
                          </a:solidFill>
                          <a:latin typeface="맑은 고딕"/>
                          <a:ea typeface="맑은 고딕"/>
                          <a:cs typeface="맑은 고딕"/>
                        </a:rPr>
                        <a:t>HBM 비대체, DRAM 확장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ctr">
                        <a:spcAft>
                          <a:spcPts val="100"/>
                        </a:spcAft>
                      </a:pPr>
                      <a:r>
                        <a:rPr sz="800" b="0">
                          <a:solidFill>
                            <a:srgbClr val="404040"/>
                          </a:solidFill>
                          <a:latin typeface="맑은 고딕"/>
                          <a:ea typeface="맑은 고딕"/>
                          <a:cs typeface="맑은 고딕"/>
                        </a:rPr>
                        <a:t>HBF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대용량·저비용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000000"/>
                          </a:solidFill>
                          <a:latin typeface="맑은 고딕"/>
                          <a:ea typeface="맑은 고딕"/>
                          <a:cs typeface="맑은 고딕"/>
                        </a:rPr>
                        <a:t>$40–150B (Goldman, 2차 인용) ⑦</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spcAft>
                          <a:spcPts val="100"/>
                        </a:spcAft>
                      </a:pPr>
                      <a:r>
                        <a:rPr sz="800" b="0">
                          <a:solidFill>
                            <a:srgbClr val="2E75B6"/>
                          </a:solidFill>
                          <a:latin typeface="맑은 고딕"/>
                          <a:ea typeface="맑은 고딕"/>
                          <a:cs typeface="맑은 고딕"/>
                        </a:rPr>
                        <a:t>HBM 비대체, 신규 Tier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62" name="Rectangle 61"/>
          <p:cNvSpPr/>
          <p:nvPr/>
        </p:nvSpPr>
        <p:spPr>
          <a:xfrm>
            <a:off x="6199632" y="3767328"/>
            <a:ext cx="5760720" cy="1947672"/>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6309360" y="3611880"/>
            <a:ext cx="5541264" cy="310896"/>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27432" rIns="18288" bIns="27432" rtlCol="0" anchor="ctr"/>
          <a:lstStyle/>
          <a:p>
            <a:pPr algn="ctr">
              <a:spcAft>
                <a:spcPts val="200"/>
              </a:spcAft>
            </a:pPr>
            <a:r>
              <a:rPr sz="1300" b="1">
                <a:solidFill>
                  <a:srgbClr val="FFFFFF"/>
                </a:solidFill>
                <a:latin typeface="맑은 고딕"/>
                <a:ea typeface="맑은 고딕"/>
                <a:cs typeface="맑은 고딕"/>
              </a:rPr>
              <a:t>이기종 메모리를 인지하는 SW의 부재</a:t>
            </a:r>
          </a:p>
        </p:txBody>
      </p:sp>
      <p:sp>
        <p:nvSpPr>
          <p:cNvPr id="64" name="TextBox 63"/>
          <p:cNvSpPr txBox="1"/>
          <p:nvPr/>
        </p:nvSpPr>
        <p:spPr>
          <a:xfrm>
            <a:off x="6336792" y="3931920"/>
            <a:ext cx="5486400" cy="274320"/>
          </a:xfrm>
          <a:prstGeom prst="rect">
            <a:avLst/>
          </a:prstGeom>
          <a:noFill/>
        </p:spPr>
        <p:txBody>
          <a:bodyPr wrap="square" lIns="45720" tIns="27432" rIns="45720" bIns="27432" anchor="ctr">
            <a:spAutoFit/>
          </a:bodyPr>
          <a:lstStyle/>
          <a:p>
            <a:pPr algn="l">
              <a:spcAft>
                <a:spcPts val="200"/>
              </a:spcAft>
            </a:pPr>
            <a:r>
              <a:rPr sz="1050" b="1">
                <a:solidFill>
                  <a:srgbClr val="000000"/>
                </a:solidFill>
                <a:latin typeface="맑은 고딕"/>
                <a:ea typeface="맑은 고딕"/>
                <a:cs typeface="맑은 고딕"/>
              </a:rPr>
              <a:t>■ 새 메모리를 AI 워크로드와 연결하는 소프트웨어 계층이 없음</a:t>
            </a:r>
          </a:p>
        </p:txBody>
      </p:sp>
      <p:sp>
        <p:nvSpPr>
          <p:cNvPr id="65" name="Rectangle 64"/>
          <p:cNvSpPr/>
          <p:nvPr/>
        </p:nvSpPr>
        <p:spPr>
          <a:xfrm>
            <a:off x="6473952" y="4242816"/>
            <a:ext cx="5212080" cy="27432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900" b="1">
                <a:solidFill>
                  <a:srgbClr val="000000"/>
                </a:solidFill>
                <a:latin typeface="맑은 고딕"/>
                <a:ea typeface="맑은 고딕"/>
                <a:cs typeface="맑은 고딕"/>
              </a:rPr>
              <a:t>AI 워크로드 (LLM 추론 · Agent: 자원 수요가 동적으로 변동)</a:t>
            </a:r>
          </a:p>
        </p:txBody>
      </p:sp>
      <p:cxnSp>
        <p:nvCxnSpPr>
          <p:cNvPr id="66" name="Connector 65"/>
          <p:cNvCxnSpPr/>
          <p:nvPr/>
        </p:nvCxnSpPr>
        <p:spPr>
          <a:xfrm>
            <a:off x="9079992" y="4517136"/>
            <a:ext cx="0" cy="109728"/>
          </a:xfrm>
          <a:prstGeom prst="line">
            <a:avLst/>
          </a:prstGeom>
          <a:ln w="19050">
            <a:solidFill>
              <a:srgbClr val="FF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6473952" y="4626864"/>
            <a:ext cx="5212080" cy="493776"/>
          </a:xfrm>
          <a:prstGeom prst="rect">
            <a:avLst/>
          </a:prstGeom>
          <a:solidFill>
            <a:srgbClr val="FFFFFF"/>
          </a:solidFill>
          <a:ln w="19050">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100" b="1">
                <a:solidFill>
                  <a:srgbClr val="FF0000"/>
                </a:solidFill>
                <a:latin typeface="맑은 고딕"/>
                <a:ea typeface="맑은 고딕"/>
                <a:cs typeface="맑은 고딕"/>
              </a:rPr>
              <a:t>이기종 메모리 인지형 런타임:  부재 (공백)</a:t>
            </a:r>
          </a:p>
          <a:p>
            <a:pPr algn="ctr">
              <a:spcAft>
                <a:spcPts val="200"/>
              </a:spcAft>
            </a:pPr>
            <a:r>
              <a:rPr sz="850" b="0">
                <a:solidFill>
                  <a:srgbClr val="595959"/>
                </a:solidFill>
                <a:latin typeface="맑은 고딕"/>
                <a:ea typeface="맑은 고딕"/>
                <a:cs typeface="맑은 고딕"/>
              </a:rPr>
              <a:t>메모리 특성(대역폭·용량·연산 가능 여부) 인식 → 배치·스케줄링 결정</a:t>
            </a:r>
          </a:p>
        </p:txBody>
      </p:sp>
      <p:cxnSp>
        <p:nvCxnSpPr>
          <p:cNvPr id="68" name="Connector 67"/>
          <p:cNvCxnSpPr/>
          <p:nvPr/>
        </p:nvCxnSpPr>
        <p:spPr>
          <a:xfrm>
            <a:off x="9079992" y="5120640"/>
            <a:ext cx="0" cy="128016"/>
          </a:xfrm>
          <a:prstGeom prst="line">
            <a:avLst/>
          </a:prstGeom>
          <a:ln w="19050">
            <a:solidFill>
              <a:srgbClr val="FF0000"/>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6400800" y="5248656"/>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HBM</a:t>
            </a:r>
          </a:p>
        </p:txBody>
      </p:sp>
      <p:sp>
        <p:nvSpPr>
          <p:cNvPr id="70" name="Rectangle 69"/>
          <p:cNvSpPr/>
          <p:nvPr/>
        </p:nvSpPr>
        <p:spPr>
          <a:xfrm>
            <a:off x="7287768" y="5248656"/>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DRAM</a:t>
            </a:r>
          </a:p>
        </p:txBody>
      </p:sp>
      <p:sp>
        <p:nvSpPr>
          <p:cNvPr id="71" name="Rectangle 70"/>
          <p:cNvSpPr/>
          <p:nvPr/>
        </p:nvSpPr>
        <p:spPr>
          <a:xfrm>
            <a:off x="8174736" y="5248656"/>
            <a:ext cx="822960" cy="256032"/>
          </a:xfrm>
          <a:prstGeom prst="rect">
            <a:avLst/>
          </a:prstGeom>
          <a:solidFill>
            <a:srgbClr val="F0F1F3"/>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SSD</a:t>
            </a:r>
          </a:p>
        </p:txBody>
      </p:sp>
      <p:sp>
        <p:nvSpPr>
          <p:cNvPr id="72" name="Rectangle 71"/>
          <p:cNvSpPr/>
          <p:nvPr/>
        </p:nvSpPr>
        <p:spPr>
          <a:xfrm>
            <a:off x="9061704" y="5248656"/>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CXL-Memory</a:t>
            </a:r>
          </a:p>
        </p:txBody>
      </p:sp>
      <p:sp>
        <p:nvSpPr>
          <p:cNvPr id="73" name="Rectangle 72"/>
          <p:cNvSpPr/>
          <p:nvPr/>
        </p:nvSpPr>
        <p:spPr>
          <a:xfrm>
            <a:off x="9948672" y="5248656"/>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CXL-PNM</a:t>
            </a:r>
          </a:p>
        </p:txBody>
      </p:sp>
      <p:sp>
        <p:nvSpPr>
          <p:cNvPr id="74" name="Rectangle 73"/>
          <p:cNvSpPr/>
          <p:nvPr/>
        </p:nvSpPr>
        <p:spPr>
          <a:xfrm>
            <a:off x="10835640" y="5248656"/>
            <a:ext cx="822960" cy="256032"/>
          </a:xfrm>
          <a:prstGeom prst="rect">
            <a:avLst/>
          </a:prstGeom>
          <a:solidFill>
            <a:srgbClr val="FFFFFF"/>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9144" tIns="27432" rIns="9144" bIns="27432" rtlCol="0" anchor="ctr"/>
          <a:lstStyle/>
          <a:p>
            <a:pPr algn="ctr">
              <a:spcAft>
                <a:spcPts val="200"/>
              </a:spcAft>
            </a:pPr>
            <a:r>
              <a:rPr sz="850" b="1">
                <a:solidFill>
                  <a:srgbClr val="000000"/>
                </a:solidFill>
                <a:latin typeface="맑은 고딕"/>
                <a:ea typeface="맑은 고딕"/>
                <a:cs typeface="맑은 고딕"/>
              </a:rPr>
              <a:t>HBF · PIM</a:t>
            </a:r>
          </a:p>
        </p:txBody>
      </p:sp>
      <p:sp>
        <p:nvSpPr>
          <p:cNvPr id="75" name="TextBox 74"/>
          <p:cNvSpPr txBox="1"/>
          <p:nvPr/>
        </p:nvSpPr>
        <p:spPr>
          <a:xfrm>
            <a:off x="6400800" y="5504688"/>
            <a:ext cx="2651760" cy="164592"/>
          </a:xfrm>
          <a:prstGeom prst="rect">
            <a:avLst/>
          </a:prstGeom>
          <a:noFill/>
        </p:spPr>
        <p:txBody>
          <a:bodyPr wrap="square" lIns="45720" tIns="27432" rIns="45720" bIns="27432" anchor="t">
            <a:spAutoFit/>
          </a:bodyPr>
          <a:lstStyle/>
          <a:p>
            <a:pPr algn="l">
              <a:spcAft>
                <a:spcPts val="200"/>
              </a:spcAft>
            </a:pPr>
            <a:r>
              <a:rPr sz="700" b="0">
                <a:solidFill>
                  <a:srgbClr val="7F7F7F"/>
                </a:solidFill>
                <a:latin typeface="맑은 고딕"/>
                <a:ea typeface="맑은 고딕"/>
                <a:cs typeface="맑은 고딕"/>
              </a:rPr>
              <a:t>기존 메모리 계층</a:t>
            </a:r>
          </a:p>
        </p:txBody>
      </p:sp>
      <p:sp>
        <p:nvSpPr>
          <p:cNvPr id="76" name="TextBox 75"/>
          <p:cNvSpPr txBox="1"/>
          <p:nvPr/>
        </p:nvSpPr>
        <p:spPr>
          <a:xfrm>
            <a:off x="9034272" y="5504688"/>
            <a:ext cx="2743200" cy="164592"/>
          </a:xfrm>
          <a:prstGeom prst="rect">
            <a:avLst/>
          </a:prstGeom>
          <a:noFill/>
        </p:spPr>
        <p:txBody>
          <a:bodyPr wrap="square" lIns="45720" tIns="27432" rIns="45720" bIns="27432" anchor="t">
            <a:spAutoFit/>
          </a:bodyPr>
          <a:lstStyle/>
          <a:p>
            <a:pPr algn="r">
              <a:spcAft>
                <a:spcPts val="200"/>
              </a:spcAft>
            </a:pPr>
            <a:r>
              <a:rPr sz="700" b="0">
                <a:solidFill>
                  <a:srgbClr val="C55A11"/>
                </a:solidFill>
                <a:latin typeface="맑은 고딕"/>
                <a:ea typeface="맑은 고딕"/>
                <a:cs typeface="맑은 고딕"/>
              </a:rPr>
              <a:t>신규 메모리: 특성 미인식 → 활용 불가</a:t>
            </a:r>
          </a:p>
        </p:txBody>
      </p:sp>
      <p:sp>
        <p:nvSpPr>
          <p:cNvPr id="77" name="Rounded Rectangle 76"/>
          <p:cNvSpPr/>
          <p:nvPr/>
        </p:nvSpPr>
        <p:spPr>
          <a:xfrm>
            <a:off x="237744" y="5742432"/>
            <a:ext cx="11750040" cy="347472"/>
          </a:xfrm>
          <a:prstGeom prst="roundRect">
            <a:avLst/>
          </a:prstGeom>
          <a:solidFill>
            <a:srgbClr val="FBE5D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sz="1400" b="1">
                <a:solidFill>
                  <a:srgbClr val="C55A11"/>
                </a:solidFill>
                <a:latin typeface="맑은 고딕"/>
                <a:ea typeface="맑은 고딕"/>
                <a:cs typeface="맑은 고딕"/>
              </a:rPr>
              <a:t>LLM 추론 처리량 향상을 위한 이기종 메모리 인지형 런타임 연구 개발 필요</a:t>
            </a:r>
          </a:p>
        </p:txBody>
      </p:sp>
      <p:sp>
        <p:nvSpPr>
          <p:cNvPr id="78" name="TextBox 77"/>
          <p:cNvSpPr txBox="1"/>
          <p:nvPr/>
        </p:nvSpPr>
        <p:spPr>
          <a:xfrm>
            <a:off x="237744" y="6126480"/>
            <a:ext cx="11750040" cy="640080"/>
          </a:xfrm>
          <a:prstGeom prst="rect">
            <a:avLst/>
          </a:prstGeom>
          <a:noFill/>
        </p:spPr>
        <p:txBody>
          <a:bodyPr wrap="square" lIns="45720" tIns="27432" rIns="45720" bIns="27432" anchor="t">
            <a:spAutoFit/>
          </a:bodyPr>
          <a:lstStyle/>
          <a:p>
            <a:pPr algn="l">
              <a:spcAft>
                <a:spcPts val="0"/>
              </a:spcAft>
            </a:pP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효과</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배수는</a:t>
            </a:r>
            <a:r>
              <a:rPr sz="650" b="0" dirty="0">
                <a:solidFill>
                  <a:srgbClr val="595959"/>
                </a:solidFill>
                <a:latin typeface="맑은 고딕"/>
                <a:ea typeface="맑은 고딕"/>
                <a:cs typeface="맑은 고딕"/>
              </a:rPr>
              <a:t> 각 </a:t>
            </a:r>
            <a:r>
              <a:rPr sz="650" b="0" dirty="0" err="1">
                <a:solidFill>
                  <a:srgbClr val="595959"/>
                </a:solidFill>
                <a:latin typeface="맑은 고딕"/>
                <a:ea typeface="맑은 고딕"/>
                <a:cs typeface="맑은 고딕"/>
              </a:rPr>
              <a:t>연구의</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모델·워크로드·baseline</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조건에서</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측정한</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값으로</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연구</a:t>
            </a:r>
            <a:r>
              <a:rPr sz="650" b="0" dirty="0">
                <a:solidFill>
                  <a:srgbClr val="595959"/>
                </a:solidFill>
                <a:latin typeface="맑은 고딕"/>
                <a:ea typeface="맑은 고딕"/>
                <a:cs typeface="맑은 고딕"/>
              </a:rPr>
              <a:t> 간 </a:t>
            </a:r>
            <a:r>
              <a:rPr sz="650" b="0" dirty="0" err="1">
                <a:solidFill>
                  <a:srgbClr val="595959"/>
                </a:solidFill>
                <a:latin typeface="맑은 고딕"/>
                <a:ea typeface="맑은 고딕"/>
                <a:cs typeface="맑은 고딕"/>
              </a:rPr>
              <a:t>직접</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비교는</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불가</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시장</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전망은</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출처·범위</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정의별</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편차가</a:t>
            </a:r>
            <a:r>
              <a:rPr sz="650" b="0" dirty="0">
                <a:solidFill>
                  <a:srgbClr val="595959"/>
                </a:solidFill>
                <a:latin typeface="맑은 고딕"/>
                <a:ea typeface="맑은 고딕"/>
                <a:cs typeface="맑은 고딕"/>
              </a:rPr>
              <a:t> 큼(</a:t>
            </a:r>
            <a:r>
              <a:rPr sz="650" b="0" dirty="0" err="1">
                <a:solidFill>
                  <a:srgbClr val="595959"/>
                </a:solidFill>
                <a:latin typeface="맑은 고딕"/>
                <a:ea typeface="맑은 고딕"/>
                <a:cs typeface="맑은 고딕"/>
              </a:rPr>
              <a:t>검증</a:t>
            </a:r>
            <a:r>
              <a:rPr sz="650" b="0" dirty="0">
                <a:solidFill>
                  <a:srgbClr val="595959"/>
                </a:solidFill>
                <a:latin typeface="맑은 고딕"/>
                <a:ea typeface="맑은 고딕"/>
                <a:cs typeface="맑은 고딕"/>
              </a:rPr>
              <a:t> 전 </a:t>
            </a:r>
            <a:r>
              <a:rPr sz="650" b="0" dirty="0" err="1">
                <a:solidFill>
                  <a:srgbClr val="595959"/>
                </a:solidFill>
                <a:latin typeface="맑은 고딕"/>
                <a:ea typeface="맑은 고딕"/>
                <a:cs typeface="맑은 고딕"/>
              </a:rPr>
              <a:t>공개</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전망</a:t>
            </a:r>
            <a:r>
              <a:rPr sz="650" b="0" dirty="0">
                <a:solidFill>
                  <a:srgbClr val="595959"/>
                </a:solidFill>
                <a:latin typeface="맑은 고딕"/>
                <a:ea typeface="맑은 고딕"/>
                <a:cs typeface="맑은 고딕"/>
              </a:rPr>
              <a:t>).</a:t>
            </a:r>
          </a:p>
          <a:p>
            <a:pPr algn="l">
              <a:spcAft>
                <a:spcPts val="0"/>
              </a:spcAft>
            </a:pPr>
            <a:r>
              <a:rPr sz="650" b="0" dirty="0">
                <a:solidFill>
                  <a:srgbClr val="595959"/>
                </a:solidFill>
                <a:latin typeface="맑은 고딕"/>
                <a:ea typeface="맑은 고딕"/>
                <a:cs typeface="맑은 고딕"/>
              </a:rPr>
              <a:t>① </a:t>
            </a:r>
            <a:r>
              <a:rPr sz="650" b="0" dirty="0" err="1">
                <a:solidFill>
                  <a:srgbClr val="595959"/>
                </a:solidFill>
                <a:latin typeface="맑은 고딕"/>
                <a:ea typeface="맑은 고딕"/>
                <a:cs typeface="맑은 고딕"/>
              </a:rPr>
              <a:t>LMCache</a:t>
            </a:r>
            <a:r>
              <a:rPr sz="650" b="0" dirty="0">
                <a:solidFill>
                  <a:srgbClr val="595959"/>
                </a:solidFill>
                <a:latin typeface="맑은 고딕"/>
                <a:ea typeface="맑은 고딕"/>
                <a:cs typeface="맑은 고딕"/>
              </a:rPr>
              <a:t>, arXiv:2510.09665 (</a:t>
            </a:r>
            <a:r>
              <a:rPr sz="650" b="0" dirty="0" err="1">
                <a:solidFill>
                  <a:srgbClr val="595959"/>
                </a:solidFill>
                <a:latin typeface="맑은 고딕"/>
                <a:ea typeface="맑은 고딕"/>
                <a:cs typeface="맑은 고딕"/>
              </a:rPr>
              <a:t>단일</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노드</a:t>
            </a:r>
            <a:r>
              <a:rPr sz="650" b="0" dirty="0">
                <a:solidFill>
                  <a:srgbClr val="595959"/>
                </a:solidFill>
                <a:latin typeface="맑은 고딕"/>
                <a:ea typeface="맑은 고딕"/>
                <a:cs typeface="맑은 고딕"/>
              </a:rPr>
              <a:t> CPU offload, 10K-token </a:t>
            </a:r>
            <a:r>
              <a:rPr sz="650" b="0" dirty="0" err="1">
                <a:solidFill>
                  <a:srgbClr val="595959"/>
                </a:solidFill>
                <a:latin typeface="맑은 고딕"/>
                <a:ea typeface="맑은 고딕"/>
                <a:cs typeface="맑은 고딕"/>
              </a:rPr>
              <a:t>멀티라운드</a:t>
            </a:r>
            <a:r>
              <a:rPr sz="650" b="0" dirty="0">
                <a:solidFill>
                  <a:srgbClr val="595959"/>
                </a:solidFill>
                <a:latin typeface="맑은 고딕"/>
                <a:ea typeface="맑은 고딕"/>
                <a:cs typeface="맑은 고딕"/>
              </a:rPr>
              <a:t> QA, baseline = GPU-only </a:t>
            </a:r>
            <a:r>
              <a:rPr sz="650" b="0" dirty="0" err="1">
                <a:solidFill>
                  <a:srgbClr val="595959"/>
                </a:solidFill>
                <a:latin typeface="맑은 고딕"/>
                <a:ea typeface="맑은 고딕"/>
                <a:cs typeface="맑은 고딕"/>
              </a:rPr>
              <a:t>vLLM</a:t>
            </a:r>
            <a:r>
              <a:rPr sz="650" b="0" dirty="0">
                <a:solidFill>
                  <a:srgbClr val="595959"/>
                </a:solidFill>
                <a:latin typeface="맑은 고딕"/>
                <a:ea typeface="맑은 고딕"/>
                <a:cs typeface="맑은 고딕"/>
              </a:rPr>
              <a:t>)  ② Mooncake, USENIX FAST'25 (Qin et al.), baseline </a:t>
            </a:r>
            <a:r>
              <a:rPr sz="650" b="0" dirty="0" err="1">
                <a:solidFill>
                  <a:srgbClr val="595959"/>
                </a:solidFill>
                <a:latin typeface="맑은 고딕"/>
                <a:ea typeface="맑은 고딕"/>
                <a:cs typeface="맑은 고딕"/>
              </a:rPr>
              <a:t>대비</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유효</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요청</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용량</a:t>
            </a:r>
            <a:r>
              <a:rPr sz="650" b="0" dirty="0">
                <a:solidFill>
                  <a:srgbClr val="595959"/>
                </a:solidFill>
                <a:latin typeface="맑은 고딕"/>
                <a:ea typeface="맑은 고딕"/>
                <a:cs typeface="맑은 고딕"/>
              </a:rPr>
              <a:t> +59–498%  ③ </a:t>
            </a:r>
            <a:r>
              <a:rPr sz="650" b="0" dirty="0" err="1">
                <a:solidFill>
                  <a:srgbClr val="595959"/>
                </a:solidFill>
                <a:latin typeface="맑은 고딕"/>
                <a:ea typeface="맑은 고딕"/>
                <a:cs typeface="맑은 고딕"/>
              </a:rPr>
              <a:t>ThunderAgent</a:t>
            </a:r>
            <a:r>
              <a:rPr sz="650" b="0" dirty="0">
                <a:solidFill>
                  <a:srgbClr val="595959"/>
                </a:solidFill>
                <a:latin typeface="맑은 고딕"/>
                <a:ea typeface="맑은 고딕"/>
                <a:cs typeface="맑은 고딕"/>
              </a:rPr>
              <a:t>, arXiv:2602.13692 (v2) — 1.48–3.58× vs </a:t>
            </a:r>
            <a:r>
              <a:rPr sz="650" b="0" dirty="0" err="1">
                <a:solidFill>
                  <a:srgbClr val="595959"/>
                </a:solidFill>
                <a:latin typeface="맑은 고딕"/>
                <a:ea typeface="맑은 고딕"/>
                <a:cs typeface="맑은 고딕"/>
              </a:rPr>
              <a:t>vLLM</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하단</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막대는</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부록</a:t>
            </a:r>
            <a:r>
              <a:rPr sz="650" b="0" dirty="0">
                <a:solidFill>
                  <a:srgbClr val="595959"/>
                </a:solidFill>
                <a:latin typeface="맑은 고딕"/>
                <a:ea typeface="맑은 고딕"/>
                <a:cs typeface="맑은 고딕"/>
              </a:rPr>
              <a:t> ablation(GLM-4.5-fp8, mini-</a:t>
            </a:r>
            <a:r>
              <a:rPr sz="650" b="0" dirty="0" err="1">
                <a:solidFill>
                  <a:srgbClr val="595959"/>
                </a:solidFill>
                <a:latin typeface="맑은 고딕"/>
                <a:ea typeface="맑은 고딕"/>
                <a:cs typeface="맑은 고딕"/>
              </a:rPr>
              <a:t>SWEAgent</a:t>
            </a:r>
            <a:r>
              <a:rPr sz="650" b="0" dirty="0">
                <a:solidFill>
                  <a:srgbClr val="595959"/>
                </a:solidFill>
                <a:latin typeface="맑은 고딕"/>
                <a:ea typeface="맑은 고딕"/>
                <a:cs typeface="맑은 고딕"/>
              </a:rPr>
              <a:t>, 2×H100, 144 programs)</a:t>
            </a:r>
          </a:p>
          <a:p>
            <a:pPr algn="l">
              <a:spcAft>
                <a:spcPts val="0"/>
              </a:spcAft>
            </a:pPr>
            <a:r>
              <a:rPr sz="650" b="0" dirty="0">
                <a:solidFill>
                  <a:srgbClr val="595959"/>
                </a:solidFill>
                <a:latin typeface="맑은 고딕"/>
                <a:ea typeface="맑은 고딕"/>
                <a:cs typeface="맑은 고딕"/>
              </a:rPr>
              <a:t>④ Micron FQ1'25 </a:t>
            </a:r>
            <a:r>
              <a:rPr sz="650" b="0" dirty="0" err="1">
                <a:solidFill>
                  <a:srgbClr val="595959"/>
                </a:solidFill>
                <a:latin typeface="맑은 고딕"/>
                <a:ea typeface="맑은 고딕"/>
                <a:cs typeface="맑은 고딕"/>
              </a:rPr>
              <a:t>실적발표</a:t>
            </a:r>
            <a:r>
              <a:rPr sz="650" b="0" dirty="0">
                <a:solidFill>
                  <a:srgbClr val="595959"/>
                </a:solidFill>
                <a:latin typeface="맑은 고딕"/>
                <a:ea typeface="맑은 고딕"/>
                <a:cs typeface="맑은 고딕"/>
              </a:rPr>
              <a:t>(2024 $16B → 2030 &gt; $100B, </a:t>
            </a:r>
            <a:r>
              <a:rPr sz="650" b="0" dirty="0" err="1">
                <a:solidFill>
                  <a:srgbClr val="595959"/>
                </a:solidFill>
                <a:latin typeface="맑은 고딕"/>
                <a:ea typeface="맑은 고딕"/>
                <a:cs typeface="맑은 고딕"/>
              </a:rPr>
              <a:t>회사</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전망</a:t>
            </a:r>
            <a:r>
              <a:rPr sz="650" b="0" dirty="0">
                <a:solidFill>
                  <a:srgbClr val="595959"/>
                </a:solidFill>
                <a:latin typeface="맑은 고딕"/>
                <a:ea typeface="맑은 고딕"/>
                <a:cs typeface="맑은 고딕"/>
              </a:rPr>
              <a:t>)  ⑤ SK </a:t>
            </a:r>
            <a:r>
              <a:rPr sz="650" b="0" dirty="0" err="1">
                <a:solidFill>
                  <a:srgbClr val="595959"/>
                </a:solidFill>
                <a:latin typeface="맑은 고딕"/>
                <a:ea typeface="맑은 고딕"/>
                <a:cs typeface="맑은 고딕"/>
              </a:rPr>
              <a:t>hynix</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전망</a:t>
            </a:r>
            <a:r>
              <a:rPr sz="650" b="0" dirty="0">
                <a:solidFill>
                  <a:srgbClr val="595959"/>
                </a:solidFill>
                <a:latin typeface="맑은 고딕"/>
                <a:ea typeface="맑은 고딕"/>
                <a:cs typeface="맑은 고딕"/>
              </a:rPr>
              <a:t>, Tom's Hardware  ⑥ Mordor </a:t>
            </a:r>
            <a:r>
              <a:rPr sz="650" b="0" dirty="0" err="1">
                <a:solidFill>
                  <a:srgbClr val="595959"/>
                </a:solidFill>
                <a:latin typeface="맑은 고딕"/>
                <a:ea typeface="맑은 고딕"/>
                <a:cs typeface="맑은 고딕"/>
              </a:rPr>
              <a:t>Intelligence·Business</a:t>
            </a:r>
            <a:r>
              <a:rPr sz="650" b="0" dirty="0">
                <a:solidFill>
                  <a:srgbClr val="595959"/>
                </a:solidFill>
                <a:latin typeface="맑은 고딕"/>
                <a:ea typeface="맑은 고딕"/>
                <a:cs typeface="맑은 고딕"/>
              </a:rPr>
              <a:t> Research Co. 등(2030 약 $4–7B, </a:t>
            </a:r>
            <a:r>
              <a:rPr sz="650" b="0" dirty="0" err="1">
                <a:solidFill>
                  <a:srgbClr val="595959"/>
                </a:solidFill>
                <a:latin typeface="맑은 고딕"/>
                <a:ea typeface="맑은 고딕"/>
                <a:cs typeface="맑은 고딕"/>
              </a:rPr>
              <a:t>보수적</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정의</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기준</a:t>
            </a:r>
            <a:r>
              <a:rPr sz="650" b="0" dirty="0">
                <a:solidFill>
                  <a:srgbClr val="595959"/>
                </a:solidFill>
                <a:latin typeface="맑은 고딕"/>
                <a:ea typeface="맑은 고딕"/>
                <a:cs typeface="맑은 고딕"/>
              </a:rPr>
              <a:t>)  ⑦ Goldman Sachs </a:t>
            </a:r>
            <a:r>
              <a:rPr sz="650" b="0" dirty="0" err="1">
                <a:solidFill>
                  <a:srgbClr val="595959"/>
                </a:solidFill>
                <a:latin typeface="맑은 고딕"/>
                <a:ea typeface="맑은 고딕"/>
                <a:cs typeface="맑은 고딕"/>
              </a:rPr>
              <a:t>추정의</a:t>
            </a:r>
            <a:r>
              <a:rPr sz="650" b="0" dirty="0">
                <a:solidFill>
                  <a:srgbClr val="595959"/>
                </a:solidFill>
                <a:latin typeface="맑은 고딕"/>
                <a:ea typeface="맑은 고딕"/>
                <a:cs typeface="맑은 고딕"/>
              </a:rPr>
              <a:t> 2차 </a:t>
            </a:r>
            <a:r>
              <a:rPr sz="650" b="0" dirty="0" err="1">
                <a:solidFill>
                  <a:srgbClr val="595959"/>
                </a:solidFill>
                <a:latin typeface="맑은 고딕"/>
                <a:ea typeface="맑은 고딕"/>
                <a:cs typeface="맑은 고딕"/>
              </a:rPr>
              <a:t>인용</a:t>
            </a:r>
            <a:r>
              <a:rPr sz="650" b="0" dirty="0">
                <a:solidFill>
                  <a:srgbClr val="595959"/>
                </a:solidFill>
                <a:latin typeface="맑은 고딕"/>
                <a:ea typeface="맑은 고딕"/>
                <a:cs typeface="맑은 고딕"/>
              </a:rPr>
              <a:t>(404k Research </a:t>
            </a:r>
            <a:r>
              <a:rPr sz="650" b="0" dirty="0" err="1">
                <a:solidFill>
                  <a:srgbClr val="595959"/>
                </a:solidFill>
                <a:latin typeface="맑은 고딕"/>
                <a:ea typeface="맑은 고딕"/>
                <a:cs typeface="맑은 고딕"/>
              </a:rPr>
              <a:t>Substack</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원문</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미확인</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샘플</a:t>
            </a:r>
            <a:r>
              <a:rPr sz="650" b="0" dirty="0">
                <a:solidFill>
                  <a:srgbClr val="595959"/>
                </a:solidFill>
                <a:latin typeface="맑은 고딕"/>
                <a:ea typeface="맑은 고딕"/>
                <a:cs typeface="맑은 고딕"/>
              </a:rPr>
              <a:t> 2026 </a:t>
            </a:r>
            <a:r>
              <a:rPr sz="650" b="0" dirty="0" err="1">
                <a:solidFill>
                  <a:srgbClr val="595959"/>
                </a:solidFill>
                <a:latin typeface="맑은 고딕"/>
                <a:ea typeface="맑은 고딕"/>
                <a:cs typeface="맑은 고딕"/>
              </a:rPr>
              <a:t>하반기·소규모</a:t>
            </a:r>
            <a:r>
              <a:rPr sz="650" b="0" dirty="0">
                <a:solidFill>
                  <a:srgbClr val="595959"/>
                </a:solidFill>
                <a:latin typeface="맑은 고딕"/>
                <a:ea typeface="맑은 고딕"/>
                <a:cs typeface="맑은 고딕"/>
              </a:rPr>
              <a:t> </a:t>
            </a:r>
            <a:r>
              <a:rPr sz="650" b="0" dirty="0" err="1">
                <a:solidFill>
                  <a:srgbClr val="595959"/>
                </a:solidFill>
                <a:latin typeface="맑은 고딕"/>
                <a:ea typeface="맑은 고딕"/>
                <a:cs typeface="맑은 고딕"/>
              </a:rPr>
              <a:t>상용</a:t>
            </a:r>
            <a:r>
              <a:rPr sz="650" b="0" dirty="0">
                <a:solidFill>
                  <a:srgbClr val="595959"/>
                </a:solidFill>
                <a:latin typeface="맑은 고딕"/>
                <a:ea typeface="맑은 고딕"/>
                <a:cs typeface="맑은 고딕"/>
              </a:rPr>
              <a:t> 2027–28 (OSCOO)</a:t>
            </a:r>
          </a:p>
        </p:txBody>
      </p:sp>
    </p:spTree>
    <p:extLst>
      <p:ext uri="{BB962C8B-B14F-4D97-AF65-F5344CB8AC3E}">
        <p14:creationId xmlns:p14="http://schemas.microsoft.com/office/powerpoint/2010/main" val="71007552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r>
              <a:rPr lang="ko-KR" altLang="en-US" sz="8800" b="1" dirty="0"/>
              <a:t>최종 설계 </a:t>
            </a:r>
            <a:r>
              <a:rPr lang="en-US" altLang="ko-KR" sz="8800" b="1" dirty="0"/>
              <a:t>Appendix</a:t>
            </a:r>
            <a:endParaRPr lang="ko-KR" altLang="en-US" sz="8800" b="1" dirty="0"/>
          </a:p>
        </p:txBody>
      </p:sp>
    </p:spTree>
    <p:extLst>
      <p:ext uri="{BB962C8B-B14F-4D97-AF65-F5344CB8AC3E}">
        <p14:creationId xmlns:p14="http://schemas.microsoft.com/office/powerpoint/2010/main" val="330512315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직사각형 165">
            <a:extLst>
              <a:ext uri="{FF2B5EF4-FFF2-40B4-BE49-F238E27FC236}">
                <a16:creationId xmlns:a16="http://schemas.microsoft.com/office/drawing/2014/main" id="{1242C599-BD36-4F5A-8843-1A0561C9867C}"/>
              </a:ext>
            </a:extLst>
          </p:cNvPr>
          <p:cNvSpPr/>
          <p:nvPr/>
        </p:nvSpPr>
        <p:spPr>
          <a:xfrm>
            <a:off x="1667523" y="2930967"/>
            <a:ext cx="6360041" cy="2806914"/>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Inference Engine</a:t>
            </a:r>
            <a:endParaRPr lang="ko-KR" altLang="en-US" sz="900" b="1" dirty="0">
              <a:solidFill>
                <a:schemeClr val="tx1"/>
              </a:solidFill>
            </a:endParaRPr>
          </a:p>
        </p:txBody>
      </p:sp>
      <p:sp>
        <p:nvSpPr>
          <p:cNvPr id="2" name="제목 1">
            <a:extLst>
              <a:ext uri="{FF2B5EF4-FFF2-40B4-BE49-F238E27FC236}">
                <a16:creationId xmlns:a16="http://schemas.microsoft.com/office/drawing/2014/main" id="{6B1E269D-86BE-454D-95E7-7AB7335B512E}"/>
              </a:ext>
            </a:extLst>
          </p:cNvPr>
          <p:cNvSpPr>
            <a:spLocks noGrp="1"/>
          </p:cNvSpPr>
          <p:nvPr>
            <p:ph type="title"/>
          </p:nvPr>
        </p:nvSpPr>
        <p:spPr/>
        <p:txBody>
          <a:bodyPr/>
          <a:lstStyle/>
          <a:p>
            <a:r>
              <a:rPr lang="en-US" altLang="ko-KR" dirty="0"/>
              <a:t>Architecture </a:t>
            </a:r>
            <a:r>
              <a:rPr lang="ko-KR" altLang="en-US" dirty="0"/>
              <a:t>분석 </a:t>
            </a:r>
            <a:r>
              <a:rPr lang="en-US" altLang="ko-KR" dirty="0"/>
              <a:t>– Overall</a:t>
            </a:r>
            <a:r>
              <a:rPr lang="ko-KR" altLang="en-US" dirty="0"/>
              <a:t> </a:t>
            </a:r>
            <a:r>
              <a:rPr lang="en-US" altLang="ko-KR" dirty="0"/>
              <a:t>Architecture (Module View)</a:t>
            </a:r>
            <a:endParaRPr lang="ko-KR" altLang="en-US" dirty="0"/>
          </a:p>
        </p:txBody>
      </p:sp>
      <p:sp>
        <p:nvSpPr>
          <p:cNvPr id="3" name="직사각형 2">
            <a:extLst>
              <a:ext uri="{FF2B5EF4-FFF2-40B4-BE49-F238E27FC236}">
                <a16:creationId xmlns:a16="http://schemas.microsoft.com/office/drawing/2014/main" id="{13987BE4-A66E-43CB-835D-E763AF31D81E}"/>
              </a:ext>
            </a:extLst>
          </p:cNvPr>
          <p:cNvSpPr/>
          <p:nvPr/>
        </p:nvSpPr>
        <p:spPr>
          <a:xfrm>
            <a:off x="356869" y="1301651"/>
            <a:ext cx="2403126" cy="26497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1100" b="1" dirty="0">
                <a:solidFill>
                  <a:schemeClr val="tx1"/>
                </a:solidFill>
              </a:rPr>
              <a:t>Memory-Centric AI Runtime</a:t>
            </a:r>
            <a:endParaRPr lang="ko-KR" altLang="en-US" sz="1100" b="1" dirty="0">
              <a:solidFill>
                <a:schemeClr val="tx1"/>
              </a:solidFill>
            </a:endParaRPr>
          </a:p>
        </p:txBody>
      </p:sp>
      <p:sp>
        <p:nvSpPr>
          <p:cNvPr id="5" name="직사각형 4">
            <a:extLst>
              <a:ext uri="{FF2B5EF4-FFF2-40B4-BE49-F238E27FC236}">
                <a16:creationId xmlns:a16="http://schemas.microsoft.com/office/drawing/2014/main" id="{12D98E46-4D0C-46AA-BA61-6FE6449A50A9}"/>
              </a:ext>
            </a:extLst>
          </p:cNvPr>
          <p:cNvSpPr/>
          <p:nvPr/>
        </p:nvSpPr>
        <p:spPr>
          <a:xfrm>
            <a:off x="356869" y="1566629"/>
            <a:ext cx="8888108" cy="4391749"/>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ko-KR" altLang="en-US" sz="600" b="1" dirty="0">
              <a:solidFill>
                <a:schemeClr val="tx1"/>
              </a:solidFill>
            </a:endParaRPr>
          </a:p>
        </p:txBody>
      </p:sp>
      <p:cxnSp>
        <p:nvCxnSpPr>
          <p:cNvPr id="6" name="직선 화살표 연결선 5">
            <a:extLst>
              <a:ext uri="{FF2B5EF4-FFF2-40B4-BE49-F238E27FC236}">
                <a16:creationId xmlns:a16="http://schemas.microsoft.com/office/drawing/2014/main" id="{0B69379A-E4C9-4712-8673-038D252E1590}"/>
              </a:ext>
            </a:extLst>
          </p:cNvPr>
          <p:cNvCxnSpPr>
            <a:cxnSpLocks/>
          </p:cNvCxnSpPr>
          <p:nvPr/>
        </p:nvCxnSpPr>
        <p:spPr>
          <a:xfrm>
            <a:off x="3682746" y="3917228"/>
            <a:ext cx="4592830" cy="8079"/>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7" name="직선 화살표 연결선 6">
            <a:extLst>
              <a:ext uri="{FF2B5EF4-FFF2-40B4-BE49-F238E27FC236}">
                <a16:creationId xmlns:a16="http://schemas.microsoft.com/office/drawing/2014/main" id="{27D6D7E5-4C5A-4F6F-99B5-9D7A4FC1F5C1}"/>
              </a:ext>
            </a:extLst>
          </p:cNvPr>
          <p:cNvCxnSpPr>
            <a:cxnSpLocks/>
          </p:cNvCxnSpPr>
          <p:nvPr/>
        </p:nvCxnSpPr>
        <p:spPr>
          <a:xfrm>
            <a:off x="6205987" y="4280616"/>
            <a:ext cx="2069589" cy="5862"/>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8" name="직선 화살표 연결선 7">
            <a:extLst>
              <a:ext uri="{FF2B5EF4-FFF2-40B4-BE49-F238E27FC236}">
                <a16:creationId xmlns:a16="http://schemas.microsoft.com/office/drawing/2014/main" id="{39F40B79-BC5C-4891-83AD-60166B46E7E1}"/>
              </a:ext>
            </a:extLst>
          </p:cNvPr>
          <p:cNvCxnSpPr>
            <a:cxnSpLocks/>
          </p:cNvCxnSpPr>
          <p:nvPr/>
        </p:nvCxnSpPr>
        <p:spPr>
          <a:xfrm>
            <a:off x="7582893" y="4656801"/>
            <a:ext cx="694144" cy="6057"/>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5" name="직사각형 14">
            <a:extLst>
              <a:ext uri="{FF2B5EF4-FFF2-40B4-BE49-F238E27FC236}">
                <a16:creationId xmlns:a16="http://schemas.microsoft.com/office/drawing/2014/main" id="{64DA1CFA-045E-4628-8869-1F56B7ECF57B}"/>
              </a:ext>
            </a:extLst>
          </p:cNvPr>
          <p:cNvSpPr/>
          <p:nvPr/>
        </p:nvSpPr>
        <p:spPr>
          <a:xfrm>
            <a:off x="4270980" y="3347272"/>
            <a:ext cx="1986013" cy="2161749"/>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Data Management</a:t>
            </a:r>
          </a:p>
        </p:txBody>
      </p:sp>
      <p:sp>
        <p:nvSpPr>
          <p:cNvPr id="16" name="직사각형 15">
            <a:extLst>
              <a:ext uri="{FF2B5EF4-FFF2-40B4-BE49-F238E27FC236}">
                <a16:creationId xmlns:a16="http://schemas.microsoft.com/office/drawing/2014/main" id="{5C911235-0C56-4AE4-9779-0F18111703B7}"/>
              </a:ext>
            </a:extLst>
          </p:cNvPr>
          <p:cNvSpPr/>
          <p:nvPr/>
        </p:nvSpPr>
        <p:spPr>
          <a:xfrm>
            <a:off x="6681597" y="3330310"/>
            <a:ext cx="996489" cy="2190239"/>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Resource Management</a:t>
            </a:r>
            <a:endParaRPr lang="ko-KR" altLang="en-US" sz="900" b="1" dirty="0">
              <a:solidFill>
                <a:schemeClr val="tx1"/>
              </a:solidFill>
            </a:endParaRPr>
          </a:p>
        </p:txBody>
      </p:sp>
      <p:sp>
        <p:nvSpPr>
          <p:cNvPr id="20" name="직사각형 19">
            <a:extLst>
              <a:ext uri="{FF2B5EF4-FFF2-40B4-BE49-F238E27FC236}">
                <a16:creationId xmlns:a16="http://schemas.microsoft.com/office/drawing/2014/main" id="{65F2A673-00A9-4622-8C5F-1F07A44E80DC}"/>
              </a:ext>
            </a:extLst>
          </p:cNvPr>
          <p:cNvSpPr/>
          <p:nvPr/>
        </p:nvSpPr>
        <p:spPr>
          <a:xfrm>
            <a:off x="6772763" y="3654331"/>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Resource State Monitor</a:t>
            </a:r>
            <a:endParaRPr lang="ko-KR" altLang="en-US" sz="700" b="1" dirty="0">
              <a:solidFill>
                <a:schemeClr val="tx1"/>
              </a:solidFill>
            </a:endParaRPr>
          </a:p>
        </p:txBody>
      </p:sp>
      <p:sp>
        <p:nvSpPr>
          <p:cNvPr id="21" name="직사각형 20">
            <a:extLst>
              <a:ext uri="{FF2B5EF4-FFF2-40B4-BE49-F238E27FC236}">
                <a16:creationId xmlns:a16="http://schemas.microsoft.com/office/drawing/2014/main" id="{A64AF095-3145-42B9-950F-8650F3231BF4}"/>
              </a:ext>
            </a:extLst>
          </p:cNvPr>
          <p:cNvSpPr/>
          <p:nvPr/>
        </p:nvSpPr>
        <p:spPr>
          <a:xfrm>
            <a:off x="6768370" y="4027387"/>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Resource Analyzer</a:t>
            </a:r>
            <a:endParaRPr lang="ko-KR" altLang="en-US" sz="700" b="1" dirty="0">
              <a:solidFill>
                <a:schemeClr val="tx1"/>
              </a:solidFill>
            </a:endParaRPr>
          </a:p>
        </p:txBody>
      </p:sp>
      <p:sp>
        <p:nvSpPr>
          <p:cNvPr id="22" name="직사각형 21">
            <a:extLst>
              <a:ext uri="{FF2B5EF4-FFF2-40B4-BE49-F238E27FC236}">
                <a16:creationId xmlns:a16="http://schemas.microsoft.com/office/drawing/2014/main" id="{4E7FDF7A-F68D-4C7C-B00C-F3972DD97D24}"/>
              </a:ext>
            </a:extLst>
          </p:cNvPr>
          <p:cNvSpPr/>
          <p:nvPr/>
        </p:nvSpPr>
        <p:spPr>
          <a:xfrm>
            <a:off x="6768370" y="4405012"/>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Destination Tier Selector</a:t>
            </a:r>
            <a:endParaRPr lang="ko-KR" altLang="en-US" sz="700" b="1" dirty="0">
              <a:solidFill>
                <a:schemeClr val="tx1"/>
              </a:solidFill>
            </a:endParaRPr>
          </a:p>
        </p:txBody>
      </p:sp>
      <p:sp>
        <p:nvSpPr>
          <p:cNvPr id="27" name="직사각형 26">
            <a:extLst>
              <a:ext uri="{FF2B5EF4-FFF2-40B4-BE49-F238E27FC236}">
                <a16:creationId xmlns:a16="http://schemas.microsoft.com/office/drawing/2014/main" id="{6627DCA7-A71D-4418-8B57-363A2C2B5AD6}"/>
              </a:ext>
            </a:extLst>
          </p:cNvPr>
          <p:cNvSpPr/>
          <p:nvPr/>
        </p:nvSpPr>
        <p:spPr>
          <a:xfrm>
            <a:off x="6768370" y="4774125"/>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Telemetry Collector</a:t>
            </a:r>
            <a:endParaRPr lang="ko-KR" altLang="en-US" sz="700" b="1" dirty="0">
              <a:solidFill>
                <a:schemeClr val="tx1"/>
              </a:solidFill>
            </a:endParaRPr>
          </a:p>
        </p:txBody>
      </p:sp>
      <p:sp>
        <p:nvSpPr>
          <p:cNvPr id="29" name="직사각형 28">
            <a:extLst>
              <a:ext uri="{FF2B5EF4-FFF2-40B4-BE49-F238E27FC236}">
                <a16:creationId xmlns:a16="http://schemas.microsoft.com/office/drawing/2014/main" id="{C2FC10B3-A64E-4BC5-A19B-135224951C91}"/>
              </a:ext>
            </a:extLst>
          </p:cNvPr>
          <p:cNvSpPr/>
          <p:nvPr/>
        </p:nvSpPr>
        <p:spPr>
          <a:xfrm>
            <a:off x="1747590" y="1888008"/>
            <a:ext cx="6005496" cy="732417"/>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Request Orchestrator</a:t>
            </a:r>
            <a:endParaRPr lang="ko-KR" altLang="en-US" sz="900" b="1" dirty="0">
              <a:solidFill>
                <a:schemeClr val="tx1"/>
              </a:solidFill>
            </a:endParaRPr>
          </a:p>
        </p:txBody>
      </p:sp>
      <p:sp>
        <p:nvSpPr>
          <p:cNvPr id="32" name="직사각형 31">
            <a:extLst>
              <a:ext uri="{FF2B5EF4-FFF2-40B4-BE49-F238E27FC236}">
                <a16:creationId xmlns:a16="http://schemas.microsoft.com/office/drawing/2014/main" id="{89A34B3D-E9CF-4CCB-AAED-A317E0E9C59A}"/>
              </a:ext>
            </a:extLst>
          </p:cNvPr>
          <p:cNvSpPr/>
          <p:nvPr/>
        </p:nvSpPr>
        <p:spPr>
          <a:xfrm>
            <a:off x="6768370" y="5135613"/>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Memory Registry</a:t>
            </a:r>
            <a:endParaRPr lang="ko-KR" altLang="en-US" sz="700" b="1" dirty="0">
              <a:solidFill>
                <a:schemeClr val="tx1"/>
              </a:solidFill>
            </a:endParaRPr>
          </a:p>
        </p:txBody>
      </p:sp>
      <p:sp>
        <p:nvSpPr>
          <p:cNvPr id="33" name="직사각형 32">
            <a:extLst>
              <a:ext uri="{FF2B5EF4-FFF2-40B4-BE49-F238E27FC236}">
                <a16:creationId xmlns:a16="http://schemas.microsoft.com/office/drawing/2014/main" id="{1E6B93BB-A891-48C9-A089-337174B4C624}"/>
              </a:ext>
            </a:extLst>
          </p:cNvPr>
          <p:cNvSpPr/>
          <p:nvPr/>
        </p:nvSpPr>
        <p:spPr>
          <a:xfrm>
            <a:off x="1751950" y="3347433"/>
            <a:ext cx="979011" cy="2173116"/>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Generation</a:t>
            </a:r>
            <a:endParaRPr lang="ko-KR" altLang="en-US" sz="900" b="1" dirty="0">
              <a:solidFill>
                <a:schemeClr val="tx1"/>
              </a:solidFill>
            </a:endParaRPr>
          </a:p>
        </p:txBody>
      </p:sp>
      <p:sp>
        <p:nvSpPr>
          <p:cNvPr id="34" name="직사각형 33">
            <a:extLst>
              <a:ext uri="{FF2B5EF4-FFF2-40B4-BE49-F238E27FC236}">
                <a16:creationId xmlns:a16="http://schemas.microsoft.com/office/drawing/2014/main" id="{5F53572B-A831-4841-B126-9C6E8F10F18B}"/>
              </a:ext>
            </a:extLst>
          </p:cNvPr>
          <p:cNvSpPr/>
          <p:nvPr/>
        </p:nvSpPr>
        <p:spPr>
          <a:xfrm>
            <a:off x="1832968" y="3650225"/>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Scheduler</a:t>
            </a:r>
            <a:endParaRPr lang="ko-KR" altLang="en-US" sz="700" b="1" dirty="0">
              <a:solidFill>
                <a:schemeClr val="tx1"/>
              </a:solidFill>
            </a:endParaRPr>
          </a:p>
        </p:txBody>
      </p:sp>
      <p:sp>
        <p:nvSpPr>
          <p:cNvPr id="35" name="직사각형 34">
            <a:extLst>
              <a:ext uri="{FF2B5EF4-FFF2-40B4-BE49-F238E27FC236}">
                <a16:creationId xmlns:a16="http://schemas.microsoft.com/office/drawing/2014/main" id="{99E0E5F2-21B7-428D-827E-E767EC5D2F39}"/>
              </a:ext>
            </a:extLst>
          </p:cNvPr>
          <p:cNvSpPr/>
          <p:nvPr/>
        </p:nvSpPr>
        <p:spPr>
          <a:xfrm>
            <a:off x="1832968" y="4029129"/>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Engine</a:t>
            </a:r>
            <a:r>
              <a:rPr lang="ko-KR" altLang="en-US" sz="700" b="1" dirty="0">
                <a:solidFill>
                  <a:schemeClr val="tx1"/>
                </a:solidFill>
              </a:rPr>
              <a:t> </a:t>
            </a:r>
            <a:r>
              <a:rPr lang="en-US" altLang="ko-KR" sz="700" b="1" dirty="0">
                <a:solidFill>
                  <a:schemeClr val="tx1"/>
                </a:solidFill>
              </a:rPr>
              <a:t>Core</a:t>
            </a:r>
          </a:p>
        </p:txBody>
      </p:sp>
      <p:sp>
        <p:nvSpPr>
          <p:cNvPr id="36" name="직사각형 35">
            <a:extLst>
              <a:ext uri="{FF2B5EF4-FFF2-40B4-BE49-F238E27FC236}">
                <a16:creationId xmlns:a16="http://schemas.microsoft.com/office/drawing/2014/main" id="{96915685-ADC8-455E-9AA5-761416FE3281}"/>
              </a:ext>
            </a:extLst>
          </p:cNvPr>
          <p:cNvSpPr/>
          <p:nvPr/>
        </p:nvSpPr>
        <p:spPr>
          <a:xfrm>
            <a:off x="1832968" y="4393004"/>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Executor</a:t>
            </a:r>
            <a:endParaRPr lang="ko-KR" altLang="en-US" sz="700" b="1" dirty="0">
              <a:solidFill>
                <a:schemeClr val="tx1"/>
              </a:solidFill>
            </a:endParaRPr>
          </a:p>
        </p:txBody>
      </p:sp>
      <p:sp>
        <p:nvSpPr>
          <p:cNvPr id="37" name="직사각형 36">
            <a:extLst>
              <a:ext uri="{FF2B5EF4-FFF2-40B4-BE49-F238E27FC236}">
                <a16:creationId xmlns:a16="http://schemas.microsoft.com/office/drawing/2014/main" id="{258AB417-7C37-42AC-9CAC-DC3FD03FAD91}"/>
              </a:ext>
            </a:extLst>
          </p:cNvPr>
          <p:cNvSpPr/>
          <p:nvPr/>
        </p:nvSpPr>
        <p:spPr>
          <a:xfrm>
            <a:off x="1832968" y="4762325"/>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Input/Output Processor</a:t>
            </a:r>
            <a:endParaRPr lang="ko-KR" altLang="en-US" sz="700" b="1" dirty="0">
              <a:solidFill>
                <a:schemeClr val="tx1"/>
              </a:solidFill>
            </a:endParaRPr>
          </a:p>
        </p:txBody>
      </p:sp>
      <p:sp>
        <p:nvSpPr>
          <p:cNvPr id="45" name="직사각형 44">
            <a:extLst>
              <a:ext uri="{FF2B5EF4-FFF2-40B4-BE49-F238E27FC236}">
                <a16:creationId xmlns:a16="http://schemas.microsoft.com/office/drawing/2014/main" id="{EA41461A-A297-4D14-BBF2-4F2CEE376EEC}"/>
              </a:ext>
            </a:extLst>
          </p:cNvPr>
          <p:cNvSpPr/>
          <p:nvPr/>
        </p:nvSpPr>
        <p:spPr>
          <a:xfrm>
            <a:off x="8280551" y="1901437"/>
            <a:ext cx="864882" cy="3834556"/>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System</a:t>
            </a:r>
            <a:endParaRPr lang="ko-KR" altLang="en-US" sz="900" b="1" dirty="0">
              <a:solidFill>
                <a:schemeClr val="tx1"/>
              </a:solidFill>
            </a:endParaRPr>
          </a:p>
        </p:txBody>
      </p:sp>
      <p:sp>
        <p:nvSpPr>
          <p:cNvPr id="46" name="직사각형 45">
            <a:extLst>
              <a:ext uri="{FF2B5EF4-FFF2-40B4-BE49-F238E27FC236}">
                <a16:creationId xmlns:a16="http://schemas.microsoft.com/office/drawing/2014/main" id="{FC14CD25-5690-4E8A-85BF-7D833CD6354B}"/>
              </a:ext>
            </a:extLst>
          </p:cNvPr>
          <p:cNvSpPr/>
          <p:nvPr/>
        </p:nvSpPr>
        <p:spPr>
          <a:xfrm>
            <a:off x="8339648" y="2222065"/>
            <a:ext cx="738196" cy="401521"/>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Utility</a:t>
            </a:r>
            <a:endParaRPr lang="ko-KR" altLang="en-US" sz="700" b="1" dirty="0">
              <a:solidFill>
                <a:schemeClr val="tx1"/>
              </a:solidFill>
            </a:endParaRPr>
          </a:p>
        </p:txBody>
      </p:sp>
      <p:sp>
        <p:nvSpPr>
          <p:cNvPr id="47" name="직사각형 46">
            <a:extLst>
              <a:ext uri="{FF2B5EF4-FFF2-40B4-BE49-F238E27FC236}">
                <a16:creationId xmlns:a16="http://schemas.microsoft.com/office/drawing/2014/main" id="{07B3CB5E-589C-4FE1-ABDF-F8E54085D318}"/>
              </a:ext>
            </a:extLst>
          </p:cNvPr>
          <p:cNvSpPr/>
          <p:nvPr/>
        </p:nvSpPr>
        <p:spPr>
          <a:xfrm>
            <a:off x="8339648" y="2760528"/>
            <a:ext cx="738196" cy="401521"/>
          </a:xfrm>
          <a:prstGeom prst="rect">
            <a:avLst/>
          </a:prstGeom>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600" b="1" dirty="0">
                <a:solidFill>
                  <a:schemeClr val="tx1"/>
                </a:solidFill>
              </a:rPr>
              <a:t>Configuration</a:t>
            </a:r>
            <a:endParaRPr lang="ko-KR" altLang="en-US" sz="600" b="1" dirty="0">
              <a:solidFill>
                <a:schemeClr val="tx1"/>
              </a:solidFill>
            </a:endParaRPr>
          </a:p>
        </p:txBody>
      </p:sp>
      <p:sp>
        <p:nvSpPr>
          <p:cNvPr id="48" name="직사각형 47">
            <a:extLst>
              <a:ext uri="{FF2B5EF4-FFF2-40B4-BE49-F238E27FC236}">
                <a16:creationId xmlns:a16="http://schemas.microsoft.com/office/drawing/2014/main" id="{D059C39C-6D34-4711-B6EA-B57CE7C4EF6E}"/>
              </a:ext>
            </a:extLst>
          </p:cNvPr>
          <p:cNvSpPr/>
          <p:nvPr/>
        </p:nvSpPr>
        <p:spPr>
          <a:xfrm>
            <a:off x="8339648" y="3298990"/>
            <a:ext cx="738196" cy="401521"/>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Network</a:t>
            </a:r>
            <a:endParaRPr lang="ko-KR" altLang="en-US" sz="700" b="1" dirty="0">
              <a:solidFill>
                <a:schemeClr val="tx1"/>
              </a:solidFill>
            </a:endParaRPr>
          </a:p>
        </p:txBody>
      </p:sp>
      <p:sp>
        <p:nvSpPr>
          <p:cNvPr id="49" name="직사각형 48">
            <a:extLst>
              <a:ext uri="{FF2B5EF4-FFF2-40B4-BE49-F238E27FC236}">
                <a16:creationId xmlns:a16="http://schemas.microsoft.com/office/drawing/2014/main" id="{963D9356-2AA3-43E0-ACAF-ED3D8266C112}"/>
              </a:ext>
            </a:extLst>
          </p:cNvPr>
          <p:cNvSpPr/>
          <p:nvPr/>
        </p:nvSpPr>
        <p:spPr>
          <a:xfrm>
            <a:off x="8339648" y="3837454"/>
            <a:ext cx="738196" cy="401521"/>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Memory Pool</a:t>
            </a:r>
            <a:endParaRPr lang="ko-KR" altLang="en-US" sz="700" b="1" dirty="0">
              <a:solidFill>
                <a:schemeClr val="tx1"/>
              </a:solidFill>
            </a:endParaRPr>
          </a:p>
        </p:txBody>
      </p:sp>
      <p:sp>
        <p:nvSpPr>
          <p:cNvPr id="50" name="직사각형 49">
            <a:extLst>
              <a:ext uri="{FF2B5EF4-FFF2-40B4-BE49-F238E27FC236}">
                <a16:creationId xmlns:a16="http://schemas.microsoft.com/office/drawing/2014/main" id="{550D8CD6-8959-4368-9774-18EC55010405}"/>
              </a:ext>
            </a:extLst>
          </p:cNvPr>
          <p:cNvSpPr/>
          <p:nvPr/>
        </p:nvSpPr>
        <p:spPr>
          <a:xfrm>
            <a:off x="8339648" y="4375918"/>
            <a:ext cx="738196" cy="401521"/>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Shared Pool</a:t>
            </a:r>
            <a:endParaRPr lang="ko-KR" altLang="en-US" sz="700" b="1" dirty="0">
              <a:solidFill>
                <a:schemeClr val="tx1"/>
              </a:solidFill>
            </a:endParaRPr>
          </a:p>
        </p:txBody>
      </p:sp>
      <p:cxnSp>
        <p:nvCxnSpPr>
          <p:cNvPr id="59" name="직선 화살표 연결선 58">
            <a:extLst>
              <a:ext uri="{FF2B5EF4-FFF2-40B4-BE49-F238E27FC236}">
                <a16:creationId xmlns:a16="http://schemas.microsoft.com/office/drawing/2014/main" id="{A98FEDAF-10E6-43E3-88E5-782FE8E2F423}"/>
              </a:ext>
            </a:extLst>
          </p:cNvPr>
          <p:cNvCxnSpPr/>
          <p:nvPr/>
        </p:nvCxnSpPr>
        <p:spPr>
          <a:xfrm>
            <a:off x="7758571" y="2142212"/>
            <a:ext cx="510693" cy="0"/>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F2D9E731-D8BB-45F3-9793-2CA3B1EC07E5}"/>
              </a:ext>
            </a:extLst>
          </p:cNvPr>
          <p:cNvSpPr txBox="1"/>
          <p:nvPr/>
        </p:nvSpPr>
        <p:spPr>
          <a:xfrm>
            <a:off x="7796828" y="2012805"/>
            <a:ext cx="406877" cy="65204"/>
          </a:xfrm>
          <a:prstGeom prst="rect">
            <a:avLst/>
          </a:prstGeom>
          <a:noFill/>
        </p:spPr>
        <p:txBody>
          <a:bodyPr wrap="square" lIns="0" tIns="0" rIns="0" bIns="0" rtlCol="0">
            <a:spAutoFit/>
          </a:bodyPr>
          <a:lstStyle/>
          <a:p>
            <a:pPr algn="ctr"/>
            <a:r>
              <a:rPr lang="en-US" altLang="ko-KR" sz="400" dirty="0"/>
              <a:t>&lt;&lt;use&gt;&gt;</a:t>
            </a:r>
            <a:endParaRPr lang="ko-KR" altLang="en-US" sz="400" dirty="0"/>
          </a:p>
        </p:txBody>
      </p:sp>
      <p:sp>
        <p:nvSpPr>
          <p:cNvPr id="61" name="직사각형 60">
            <a:extLst>
              <a:ext uri="{FF2B5EF4-FFF2-40B4-BE49-F238E27FC236}">
                <a16:creationId xmlns:a16="http://schemas.microsoft.com/office/drawing/2014/main" id="{CDCA96ED-4347-47C2-B946-D2E6A0EBA841}"/>
              </a:ext>
            </a:extLst>
          </p:cNvPr>
          <p:cNvSpPr/>
          <p:nvPr/>
        </p:nvSpPr>
        <p:spPr>
          <a:xfrm>
            <a:off x="437308" y="1888008"/>
            <a:ext cx="878833" cy="1135071"/>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Input</a:t>
            </a:r>
            <a:endParaRPr lang="ko-KR" altLang="en-US" sz="900" b="1" dirty="0">
              <a:solidFill>
                <a:schemeClr val="tx1"/>
              </a:solidFill>
            </a:endParaRPr>
          </a:p>
        </p:txBody>
      </p:sp>
      <p:sp>
        <p:nvSpPr>
          <p:cNvPr id="62" name="직사각형 61">
            <a:extLst>
              <a:ext uri="{FF2B5EF4-FFF2-40B4-BE49-F238E27FC236}">
                <a16:creationId xmlns:a16="http://schemas.microsoft.com/office/drawing/2014/main" id="{D7F39DDD-41B3-4425-BAE2-5527B2EDBE63}"/>
              </a:ext>
            </a:extLst>
          </p:cNvPr>
          <p:cNvSpPr/>
          <p:nvPr/>
        </p:nvSpPr>
        <p:spPr>
          <a:xfrm>
            <a:off x="499336" y="2165392"/>
            <a:ext cx="757604" cy="343122"/>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Query Hist-</a:t>
            </a:r>
            <a:r>
              <a:rPr lang="en-US" altLang="ko-KR" sz="700" b="1" dirty="0" err="1">
                <a:solidFill>
                  <a:schemeClr val="tx1"/>
                </a:solidFill>
              </a:rPr>
              <a:t>ory</a:t>
            </a:r>
            <a:r>
              <a:rPr lang="en-US" altLang="ko-KR" sz="700" b="1" dirty="0">
                <a:solidFill>
                  <a:schemeClr val="tx1"/>
                </a:solidFill>
              </a:rPr>
              <a:t> Manager</a:t>
            </a:r>
            <a:endParaRPr lang="ko-KR" altLang="en-US" sz="700" b="1" dirty="0">
              <a:solidFill>
                <a:schemeClr val="tx1"/>
              </a:solidFill>
            </a:endParaRPr>
          </a:p>
        </p:txBody>
      </p:sp>
      <p:sp>
        <p:nvSpPr>
          <p:cNvPr id="63" name="직사각형 62">
            <a:extLst>
              <a:ext uri="{FF2B5EF4-FFF2-40B4-BE49-F238E27FC236}">
                <a16:creationId xmlns:a16="http://schemas.microsoft.com/office/drawing/2014/main" id="{180BF17C-17D3-43A3-9CB6-B014F53CE8F4}"/>
              </a:ext>
            </a:extLst>
          </p:cNvPr>
          <p:cNvSpPr/>
          <p:nvPr/>
        </p:nvSpPr>
        <p:spPr>
          <a:xfrm>
            <a:off x="498707" y="2600586"/>
            <a:ext cx="755203" cy="343122"/>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User Query Manager</a:t>
            </a:r>
            <a:endParaRPr lang="ko-KR" altLang="en-US" sz="700" b="1" dirty="0">
              <a:solidFill>
                <a:schemeClr val="tx1"/>
              </a:solidFill>
            </a:endParaRPr>
          </a:p>
        </p:txBody>
      </p:sp>
      <p:cxnSp>
        <p:nvCxnSpPr>
          <p:cNvPr id="64" name="직선 화살표 연결선 63">
            <a:extLst>
              <a:ext uri="{FF2B5EF4-FFF2-40B4-BE49-F238E27FC236}">
                <a16:creationId xmlns:a16="http://schemas.microsoft.com/office/drawing/2014/main" id="{A655CFDC-6628-4EC6-BDF2-B1EE855E2F07}"/>
              </a:ext>
            </a:extLst>
          </p:cNvPr>
          <p:cNvCxnSpPr/>
          <p:nvPr/>
        </p:nvCxnSpPr>
        <p:spPr>
          <a:xfrm flipH="1">
            <a:off x="1323526" y="2142212"/>
            <a:ext cx="424064" cy="0"/>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1EA65D2F-022B-41A5-B18F-57A4B5469CF0}"/>
              </a:ext>
            </a:extLst>
          </p:cNvPr>
          <p:cNvSpPr txBox="1"/>
          <p:nvPr/>
        </p:nvSpPr>
        <p:spPr>
          <a:xfrm>
            <a:off x="1242922" y="1944671"/>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66" name="TextBox 65">
            <a:extLst>
              <a:ext uri="{FF2B5EF4-FFF2-40B4-BE49-F238E27FC236}">
                <a16:creationId xmlns:a16="http://schemas.microsoft.com/office/drawing/2014/main" id="{E262854A-2C05-485F-82E1-B2F491C43DE5}"/>
              </a:ext>
            </a:extLst>
          </p:cNvPr>
          <p:cNvSpPr txBox="1"/>
          <p:nvPr/>
        </p:nvSpPr>
        <p:spPr>
          <a:xfrm>
            <a:off x="7796828" y="3802778"/>
            <a:ext cx="406877" cy="65204"/>
          </a:xfrm>
          <a:prstGeom prst="rect">
            <a:avLst/>
          </a:prstGeom>
          <a:noFill/>
        </p:spPr>
        <p:txBody>
          <a:bodyPr wrap="square" lIns="0" tIns="0" rIns="0" bIns="0" rtlCol="0">
            <a:spAutoFit/>
          </a:bodyPr>
          <a:lstStyle/>
          <a:p>
            <a:pPr algn="ctr"/>
            <a:r>
              <a:rPr lang="en-US" altLang="ko-KR" sz="400" dirty="0"/>
              <a:t>&lt;&lt;use&gt;&gt;</a:t>
            </a:r>
            <a:endParaRPr lang="ko-KR" altLang="en-US" sz="400" dirty="0"/>
          </a:p>
        </p:txBody>
      </p:sp>
      <p:sp>
        <p:nvSpPr>
          <p:cNvPr id="67" name="TextBox 66">
            <a:extLst>
              <a:ext uri="{FF2B5EF4-FFF2-40B4-BE49-F238E27FC236}">
                <a16:creationId xmlns:a16="http://schemas.microsoft.com/office/drawing/2014/main" id="{CE01176E-BD38-42E4-8DD3-9F0729D676D9}"/>
              </a:ext>
            </a:extLst>
          </p:cNvPr>
          <p:cNvSpPr txBox="1"/>
          <p:nvPr/>
        </p:nvSpPr>
        <p:spPr>
          <a:xfrm>
            <a:off x="7796828" y="4153613"/>
            <a:ext cx="406877" cy="65204"/>
          </a:xfrm>
          <a:prstGeom prst="rect">
            <a:avLst/>
          </a:prstGeom>
          <a:noFill/>
        </p:spPr>
        <p:txBody>
          <a:bodyPr wrap="square" lIns="0" tIns="0" rIns="0" bIns="0" rtlCol="0">
            <a:spAutoFit/>
          </a:bodyPr>
          <a:lstStyle/>
          <a:p>
            <a:pPr algn="ctr"/>
            <a:r>
              <a:rPr lang="en-US" altLang="ko-KR" sz="400" dirty="0"/>
              <a:t>&lt;&lt;use&gt;&gt;</a:t>
            </a:r>
            <a:endParaRPr lang="ko-KR" altLang="en-US" sz="400" dirty="0"/>
          </a:p>
        </p:txBody>
      </p:sp>
      <p:sp>
        <p:nvSpPr>
          <p:cNvPr id="68" name="TextBox 67">
            <a:extLst>
              <a:ext uri="{FF2B5EF4-FFF2-40B4-BE49-F238E27FC236}">
                <a16:creationId xmlns:a16="http://schemas.microsoft.com/office/drawing/2014/main" id="{468C3069-92F2-4A89-A97C-44A23767F5D6}"/>
              </a:ext>
            </a:extLst>
          </p:cNvPr>
          <p:cNvSpPr txBox="1"/>
          <p:nvPr/>
        </p:nvSpPr>
        <p:spPr>
          <a:xfrm>
            <a:off x="7796828" y="4544664"/>
            <a:ext cx="406877" cy="65204"/>
          </a:xfrm>
          <a:prstGeom prst="rect">
            <a:avLst/>
          </a:prstGeom>
          <a:noFill/>
        </p:spPr>
        <p:txBody>
          <a:bodyPr wrap="square" lIns="0" tIns="0" rIns="0" bIns="0" rtlCol="0">
            <a:spAutoFit/>
          </a:bodyPr>
          <a:lstStyle/>
          <a:p>
            <a:pPr algn="ctr"/>
            <a:r>
              <a:rPr lang="en-US" altLang="ko-KR" sz="400" dirty="0"/>
              <a:t>&lt;&lt;use&gt;&gt;</a:t>
            </a:r>
            <a:endParaRPr lang="ko-KR" altLang="en-US" sz="400" dirty="0"/>
          </a:p>
        </p:txBody>
      </p:sp>
      <p:sp>
        <p:nvSpPr>
          <p:cNvPr id="71" name="직사각형 70">
            <a:extLst>
              <a:ext uri="{FF2B5EF4-FFF2-40B4-BE49-F238E27FC236}">
                <a16:creationId xmlns:a16="http://schemas.microsoft.com/office/drawing/2014/main" id="{E6A9138A-C182-47D9-B49C-7BF6607F944D}"/>
              </a:ext>
            </a:extLst>
          </p:cNvPr>
          <p:cNvSpPr/>
          <p:nvPr/>
        </p:nvSpPr>
        <p:spPr>
          <a:xfrm>
            <a:off x="3074901" y="2205566"/>
            <a:ext cx="1030973" cy="306831"/>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Prefill/Decode </a:t>
            </a:r>
          </a:p>
          <a:p>
            <a:pPr algn="ctr"/>
            <a:r>
              <a:rPr lang="en-US" altLang="ko-KR" sz="700" b="1" dirty="0">
                <a:solidFill>
                  <a:schemeClr val="tx1"/>
                </a:solidFill>
              </a:rPr>
              <a:t>Execution Planner</a:t>
            </a:r>
            <a:endParaRPr lang="ko-KR" altLang="en-US" sz="700" b="1" dirty="0">
              <a:solidFill>
                <a:schemeClr val="tx1"/>
              </a:solidFill>
            </a:endParaRPr>
          </a:p>
        </p:txBody>
      </p:sp>
      <p:sp>
        <p:nvSpPr>
          <p:cNvPr id="72" name="직사각형 71">
            <a:extLst>
              <a:ext uri="{FF2B5EF4-FFF2-40B4-BE49-F238E27FC236}">
                <a16:creationId xmlns:a16="http://schemas.microsoft.com/office/drawing/2014/main" id="{D34F8860-FA35-4E68-A7A5-565A0A8599E6}"/>
              </a:ext>
            </a:extLst>
          </p:cNvPr>
          <p:cNvSpPr/>
          <p:nvPr/>
        </p:nvSpPr>
        <p:spPr>
          <a:xfrm>
            <a:off x="4265519" y="2205566"/>
            <a:ext cx="1030973" cy="306831"/>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Router</a:t>
            </a:r>
            <a:endParaRPr lang="ko-KR" altLang="en-US" sz="700" b="1" dirty="0">
              <a:solidFill>
                <a:schemeClr val="tx1"/>
              </a:solidFill>
            </a:endParaRPr>
          </a:p>
        </p:txBody>
      </p:sp>
      <p:sp>
        <p:nvSpPr>
          <p:cNvPr id="73" name="직사각형 72">
            <a:extLst>
              <a:ext uri="{FF2B5EF4-FFF2-40B4-BE49-F238E27FC236}">
                <a16:creationId xmlns:a16="http://schemas.microsoft.com/office/drawing/2014/main" id="{4B26147D-BBEE-433B-902B-6409A56B92B1}"/>
              </a:ext>
            </a:extLst>
          </p:cNvPr>
          <p:cNvSpPr/>
          <p:nvPr/>
        </p:nvSpPr>
        <p:spPr>
          <a:xfrm>
            <a:off x="6646755" y="2205566"/>
            <a:ext cx="1030973" cy="306831"/>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Cost Evaluator</a:t>
            </a:r>
            <a:endParaRPr lang="ko-KR" altLang="en-US" sz="700" b="1" dirty="0">
              <a:solidFill>
                <a:schemeClr val="tx1"/>
              </a:solidFill>
            </a:endParaRPr>
          </a:p>
        </p:txBody>
      </p:sp>
      <p:sp>
        <p:nvSpPr>
          <p:cNvPr id="74" name="직사각형 73">
            <a:extLst>
              <a:ext uri="{FF2B5EF4-FFF2-40B4-BE49-F238E27FC236}">
                <a16:creationId xmlns:a16="http://schemas.microsoft.com/office/drawing/2014/main" id="{F5296705-1646-4329-A8F0-50B46937C6ED}"/>
              </a:ext>
            </a:extLst>
          </p:cNvPr>
          <p:cNvSpPr/>
          <p:nvPr/>
        </p:nvSpPr>
        <p:spPr>
          <a:xfrm>
            <a:off x="1884283" y="2205566"/>
            <a:ext cx="1030973" cy="306831"/>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Request Scheduler</a:t>
            </a:r>
            <a:endParaRPr lang="ko-KR" altLang="en-US" sz="700" b="1" dirty="0">
              <a:solidFill>
                <a:schemeClr val="tx1"/>
              </a:solidFill>
            </a:endParaRPr>
          </a:p>
        </p:txBody>
      </p:sp>
      <p:sp>
        <p:nvSpPr>
          <p:cNvPr id="75" name="직사각형 74">
            <a:extLst>
              <a:ext uri="{FF2B5EF4-FFF2-40B4-BE49-F238E27FC236}">
                <a16:creationId xmlns:a16="http://schemas.microsoft.com/office/drawing/2014/main" id="{038F448B-A0E2-4E53-8F30-25709573E212}"/>
              </a:ext>
            </a:extLst>
          </p:cNvPr>
          <p:cNvSpPr/>
          <p:nvPr/>
        </p:nvSpPr>
        <p:spPr>
          <a:xfrm>
            <a:off x="437308" y="3568051"/>
            <a:ext cx="878833" cy="155063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KV Pool</a:t>
            </a:r>
            <a:endParaRPr lang="ko-KR" altLang="en-US" sz="900" b="1" dirty="0">
              <a:solidFill>
                <a:schemeClr val="tx1"/>
              </a:solidFill>
            </a:endParaRPr>
          </a:p>
        </p:txBody>
      </p:sp>
      <p:sp>
        <p:nvSpPr>
          <p:cNvPr id="76" name="직사각형 75">
            <a:extLst>
              <a:ext uri="{FF2B5EF4-FFF2-40B4-BE49-F238E27FC236}">
                <a16:creationId xmlns:a16="http://schemas.microsoft.com/office/drawing/2014/main" id="{6B473A58-D4E2-4FA0-9A7D-1F5A60EAD4AD}"/>
              </a:ext>
            </a:extLst>
          </p:cNvPr>
          <p:cNvSpPr/>
          <p:nvPr/>
        </p:nvSpPr>
        <p:spPr>
          <a:xfrm>
            <a:off x="504341" y="4270921"/>
            <a:ext cx="731306"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Blending Manager</a:t>
            </a:r>
            <a:endParaRPr lang="ko-KR" altLang="en-US" sz="700" b="1" dirty="0">
              <a:solidFill>
                <a:schemeClr val="tx1"/>
              </a:solidFill>
            </a:endParaRPr>
          </a:p>
        </p:txBody>
      </p:sp>
      <p:sp>
        <p:nvSpPr>
          <p:cNvPr id="77" name="직사각형 76">
            <a:extLst>
              <a:ext uri="{FF2B5EF4-FFF2-40B4-BE49-F238E27FC236}">
                <a16:creationId xmlns:a16="http://schemas.microsoft.com/office/drawing/2014/main" id="{9A62AA52-D747-49F2-B3D2-58709970563E}"/>
              </a:ext>
            </a:extLst>
          </p:cNvPr>
          <p:cNvSpPr/>
          <p:nvPr/>
        </p:nvSpPr>
        <p:spPr>
          <a:xfrm>
            <a:off x="504341" y="3899394"/>
            <a:ext cx="731306"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KV Compressor</a:t>
            </a:r>
            <a:endParaRPr lang="ko-KR" altLang="en-US" sz="700" b="1" dirty="0">
              <a:solidFill>
                <a:schemeClr val="tx1"/>
              </a:solidFill>
            </a:endParaRPr>
          </a:p>
        </p:txBody>
      </p:sp>
      <p:cxnSp>
        <p:nvCxnSpPr>
          <p:cNvPr id="78" name="직선 화살표 연결선 77">
            <a:extLst>
              <a:ext uri="{FF2B5EF4-FFF2-40B4-BE49-F238E27FC236}">
                <a16:creationId xmlns:a16="http://schemas.microsoft.com/office/drawing/2014/main" id="{BF7FF720-49D8-4157-83B3-99E2D081D465}"/>
              </a:ext>
            </a:extLst>
          </p:cNvPr>
          <p:cNvCxnSpPr/>
          <p:nvPr/>
        </p:nvCxnSpPr>
        <p:spPr>
          <a:xfrm flipH="1">
            <a:off x="1322451" y="5007940"/>
            <a:ext cx="425139" cy="0"/>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CE66B868-FB5E-46E2-943A-191E289B584B}"/>
              </a:ext>
            </a:extLst>
          </p:cNvPr>
          <p:cNvSpPr txBox="1"/>
          <p:nvPr/>
        </p:nvSpPr>
        <p:spPr>
          <a:xfrm>
            <a:off x="1240480" y="4821851"/>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85" name="직사각형 84">
            <a:extLst>
              <a:ext uri="{FF2B5EF4-FFF2-40B4-BE49-F238E27FC236}">
                <a16:creationId xmlns:a16="http://schemas.microsoft.com/office/drawing/2014/main" id="{B6D5FAEA-73C8-4BA9-801D-7D0E25A8BE7B}"/>
              </a:ext>
            </a:extLst>
          </p:cNvPr>
          <p:cNvSpPr/>
          <p:nvPr/>
        </p:nvSpPr>
        <p:spPr>
          <a:xfrm>
            <a:off x="7024933" y="3261918"/>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86" name="직사각형 85">
            <a:extLst>
              <a:ext uri="{FF2B5EF4-FFF2-40B4-BE49-F238E27FC236}">
                <a16:creationId xmlns:a16="http://schemas.microsoft.com/office/drawing/2014/main" id="{529322D6-4503-4175-965B-5579364D3384}"/>
              </a:ext>
            </a:extLst>
          </p:cNvPr>
          <p:cNvSpPr/>
          <p:nvPr/>
        </p:nvSpPr>
        <p:spPr>
          <a:xfrm>
            <a:off x="7157523" y="3261918"/>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87" name="직사각형 86">
            <a:extLst>
              <a:ext uri="{FF2B5EF4-FFF2-40B4-BE49-F238E27FC236}">
                <a16:creationId xmlns:a16="http://schemas.microsoft.com/office/drawing/2014/main" id="{0DBE6106-25E3-4326-A986-EAF4BE6E78A8}"/>
              </a:ext>
            </a:extLst>
          </p:cNvPr>
          <p:cNvSpPr/>
          <p:nvPr/>
        </p:nvSpPr>
        <p:spPr>
          <a:xfrm>
            <a:off x="7282478" y="3261918"/>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89" name="직사각형 88">
            <a:extLst>
              <a:ext uri="{FF2B5EF4-FFF2-40B4-BE49-F238E27FC236}">
                <a16:creationId xmlns:a16="http://schemas.microsoft.com/office/drawing/2014/main" id="{B9CB965B-AE01-4439-A4F1-5A258843335D}"/>
              </a:ext>
            </a:extLst>
          </p:cNvPr>
          <p:cNvSpPr/>
          <p:nvPr/>
        </p:nvSpPr>
        <p:spPr>
          <a:xfrm>
            <a:off x="2562928" y="3243335"/>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91" name="직사각형 90">
            <a:extLst>
              <a:ext uri="{FF2B5EF4-FFF2-40B4-BE49-F238E27FC236}">
                <a16:creationId xmlns:a16="http://schemas.microsoft.com/office/drawing/2014/main" id="{9ADF5CDF-6244-4721-95BF-5FEC8028BFE2}"/>
              </a:ext>
            </a:extLst>
          </p:cNvPr>
          <p:cNvSpPr/>
          <p:nvPr/>
        </p:nvSpPr>
        <p:spPr>
          <a:xfrm>
            <a:off x="6081618" y="3252625"/>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cxnSp>
        <p:nvCxnSpPr>
          <p:cNvPr id="93" name="꺾인 연결선 197">
            <a:extLst>
              <a:ext uri="{FF2B5EF4-FFF2-40B4-BE49-F238E27FC236}">
                <a16:creationId xmlns:a16="http://schemas.microsoft.com/office/drawing/2014/main" id="{CEEC7ABF-C513-4E7C-B1A3-2B3DA29E9C60}"/>
              </a:ext>
            </a:extLst>
          </p:cNvPr>
          <p:cNvCxnSpPr>
            <a:cxnSpLocks/>
          </p:cNvCxnSpPr>
          <p:nvPr/>
        </p:nvCxnSpPr>
        <p:spPr>
          <a:xfrm rot="16200000" flipH="1">
            <a:off x="4908110" y="1016656"/>
            <a:ext cx="18583" cy="4624357"/>
          </a:xfrm>
          <a:prstGeom prst="bentConnector3">
            <a:avLst>
              <a:gd name="adj1" fmla="val -1230157"/>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95" name="꺾인 연결선 199">
            <a:extLst>
              <a:ext uri="{FF2B5EF4-FFF2-40B4-BE49-F238E27FC236}">
                <a16:creationId xmlns:a16="http://schemas.microsoft.com/office/drawing/2014/main" id="{00CC0BBE-238A-475C-A8FF-5598CF09FA07}"/>
              </a:ext>
            </a:extLst>
          </p:cNvPr>
          <p:cNvCxnSpPr>
            <a:cxnSpLocks/>
            <a:stCxn id="15" idx="3"/>
            <a:endCxn id="16" idx="1"/>
          </p:cNvCxnSpPr>
          <p:nvPr/>
        </p:nvCxnSpPr>
        <p:spPr>
          <a:xfrm flipV="1">
            <a:off x="6256993" y="4425430"/>
            <a:ext cx="424604" cy="2717"/>
          </a:xfrm>
          <a:prstGeom prst="bentConnector3">
            <a:avLst>
              <a:gd name="adj1" fmla="val 50000"/>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96" name="직선 화살표 연결선 95">
            <a:extLst>
              <a:ext uri="{FF2B5EF4-FFF2-40B4-BE49-F238E27FC236}">
                <a16:creationId xmlns:a16="http://schemas.microsoft.com/office/drawing/2014/main" id="{653B51CE-D02D-426C-B6EC-46CB1E98F0B3}"/>
              </a:ext>
            </a:extLst>
          </p:cNvPr>
          <p:cNvCxnSpPr>
            <a:cxnSpLocks/>
          </p:cNvCxnSpPr>
          <p:nvPr/>
        </p:nvCxnSpPr>
        <p:spPr>
          <a:xfrm>
            <a:off x="2240244" y="2500885"/>
            <a:ext cx="0" cy="798105"/>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98" name="직선 화살표 연결선 97">
            <a:extLst>
              <a:ext uri="{FF2B5EF4-FFF2-40B4-BE49-F238E27FC236}">
                <a16:creationId xmlns:a16="http://schemas.microsoft.com/office/drawing/2014/main" id="{E6027C02-B8AC-44A0-82A5-1F7F8387E3FE}"/>
              </a:ext>
            </a:extLst>
          </p:cNvPr>
          <p:cNvCxnSpPr>
            <a:cxnSpLocks/>
          </p:cNvCxnSpPr>
          <p:nvPr/>
        </p:nvCxnSpPr>
        <p:spPr>
          <a:xfrm>
            <a:off x="4746756" y="2620426"/>
            <a:ext cx="0" cy="726297"/>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99" name="직선 화살표 연결선 98">
            <a:extLst>
              <a:ext uri="{FF2B5EF4-FFF2-40B4-BE49-F238E27FC236}">
                <a16:creationId xmlns:a16="http://schemas.microsoft.com/office/drawing/2014/main" id="{6B3FC211-184A-450C-97B8-7A8BF87B61B2}"/>
              </a:ext>
            </a:extLst>
          </p:cNvPr>
          <p:cNvCxnSpPr>
            <a:cxnSpLocks/>
          </p:cNvCxnSpPr>
          <p:nvPr/>
        </p:nvCxnSpPr>
        <p:spPr>
          <a:xfrm>
            <a:off x="7389703" y="2620426"/>
            <a:ext cx="0" cy="716151"/>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785511F-19D2-468A-9DA5-2546B179A38E}"/>
              </a:ext>
            </a:extLst>
          </p:cNvPr>
          <p:cNvSpPr txBox="1"/>
          <p:nvPr/>
        </p:nvSpPr>
        <p:spPr>
          <a:xfrm>
            <a:off x="2116906" y="2739807"/>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03" name="TextBox 102">
            <a:extLst>
              <a:ext uri="{FF2B5EF4-FFF2-40B4-BE49-F238E27FC236}">
                <a16:creationId xmlns:a16="http://schemas.microsoft.com/office/drawing/2014/main" id="{C8FAA730-B10F-472F-A7FF-3051B63CDFF9}"/>
              </a:ext>
            </a:extLst>
          </p:cNvPr>
          <p:cNvSpPr txBox="1"/>
          <p:nvPr/>
        </p:nvSpPr>
        <p:spPr>
          <a:xfrm>
            <a:off x="4648553" y="2724836"/>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04" name="TextBox 103">
            <a:extLst>
              <a:ext uri="{FF2B5EF4-FFF2-40B4-BE49-F238E27FC236}">
                <a16:creationId xmlns:a16="http://schemas.microsoft.com/office/drawing/2014/main" id="{E5604597-0B51-4F3C-BF5A-A4E2B0C2FFAA}"/>
              </a:ext>
            </a:extLst>
          </p:cNvPr>
          <p:cNvSpPr txBox="1"/>
          <p:nvPr/>
        </p:nvSpPr>
        <p:spPr>
          <a:xfrm>
            <a:off x="7291666" y="2724836"/>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06" name="TextBox 105">
            <a:extLst>
              <a:ext uri="{FF2B5EF4-FFF2-40B4-BE49-F238E27FC236}">
                <a16:creationId xmlns:a16="http://schemas.microsoft.com/office/drawing/2014/main" id="{E4FE0B36-4E28-4210-A1E8-19D45FD7DA4C}"/>
              </a:ext>
            </a:extLst>
          </p:cNvPr>
          <p:cNvSpPr txBox="1"/>
          <p:nvPr/>
        </p:nvSpPr>
        <p:spPr>
          <a:xfrm>
            <a:off x="6163143" y="4273236"/>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07" name="TextBox 106">
            <a:extLst>
              <a:ext uri="{FF2B5EF4-FFF2-40B4-BE49-F238E27FC236}">
                <a16:creationId xmlns:a16="http://schemas.microsoft.com/office/drawing/2014/main" id="{C7A508D8-0ABD-46EF-A3FA-BD746858CA1B}"/>
              </a:ext>
            </a:extLst>
          </p:cNvPr>
          <p:cNvSpPr txBox="1"/>
          <p:nvPr/>
        </p:nvSpPr>
        <p:spPr>
          <a:xfrm>
            <a:off x="5434831" y="2936421"/>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08" name="TextBox 107">
            <a:extLst>
              <a:ext uri="{FF2B5EF4-FFF2-40B4-BE49-F238E27FC236}">
                <a16:creationId xmlns:a16="http://schemas.microsoft.com/office/drawing/2014/main" id="{CA502D86-0F3C-4383-BF26-87810FC4643F}"/>
              </a:ext>
            </a:extLst>
          </p:cNvPr>
          <p:cNvSpPr txBox="1"/>
          <p:nvPr/>
        </p:nvSpPr>
        <p:spPr>
          <a:xfrm>
            <a:off x="3030921" y="2923901"/>
            <a:ext cx="540770"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09" name="TextBox 108">
            <a:extLst>
              <a:ext uri="{FF2B5EF4-FFF2-40B4-BE49-F238E27FC236}">
                <a16:creationId xmlns:a16="http://schemas.microsoft.com/office/drawing/2014/main" id="{686DB123-E533-43DE-ADB8-3C149A164B89}"/>
              </a:ext>
            </a:extLst>
          </p:cNvPr>
          <p:cNvSpPr txBox="1"/>
          <p:nvPr/>
        </p:nvSpPr>
        <p:spPr>
          <a:xfrm>
            <a:off x="4944109" y="2977659"/>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112" name="직사각형 111">
            <a:extLst>
              <a:ext uri="{FF2B5EF4-FFF2-40B4-BE49-F238E27FC236}">
                <a16:creationId xmlns:a16="http://schemas.microsoft.com/office/drawing/2014/main" id="{076ABB55-4A68-49B9-B046-77372484C2DF}"/>
              </a:ext>
            </a:extLst>
          </p:cNvPr>
          <p:cNvSpPr/>
          <p:nvPr/>
        </p:nvSpPr>
        <p:spPr>
          <a:xfrm>
            <a:off x="8339648" y="4951974"/>
            <a:ext cx="738196" cy="401521"/>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Debug Log</a:t>
            </a:r>
            <a:endParaRPr lang="ko-KR" altLang="en-US" sz="700" b="1" dirty="0">
              <a:solidFill>
                <a:schemeClr val="tx1"/>
              </a:solidFill>
            </a:endParaRPr>
          </a:p>
        </p:txBody>
      </p:sp>
      <p:sp>
        <p:nvSpPr>
          <p:cNvPr id="113" name="직사각형 112">
            <a:extLst>
              <a:ext uri="{FF2B5EF4-FFF2-40B4-BE49-F238E27FC236}">
                <a16:creationId xmlns:a16="http://schemas.microsoft.com/office/drawing/2014/main" id="{03E2C7D4-6C3F-45BF-8125-3A061A155C3E}"/>
              </a:ext>
            </a:extLst>
          </p:cNvPr>
          <p:cNvSpPr/>
          <p:nvPr/>
        </p:nvSpPr>
        <p:spPr>
          <a:xfrm>
            <a:off x="1832968" y="5135927"/>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Engine Core Client</a:t>
            </a:r>
            <a:endParaRPr lang="ko-KR" altLang="en-US" sz="700" b="1" dirty="0">
              <a:solidFill>
                <a:schemeClr val="tx1"/>
              </a:solidFill>
            </a:endParaRPr>
          </a:p>
        </p:txBody>
      </p:sp>
      <p:sp>
        <p:nvSpPr>
          <p:cNvPr id="117" name="직사각형 116">
            <a:extLst>
              <a:ext uri="{FF2B5EF4-FFF2-40B4-BE49-F238E27FC236}">
                <a16:creationId xmlns:a16="http://schemas.microsoft.com/office/drawing/2014/main" id="{6416B6B3-D518-4F05-96A2-1F7BAD5BFAB2}"/>
              </a:ext>
            </a:extLst>
          </p:cNvPr>
          <p:cNvSpPr/>
          <p:nvPr/>
        </p:nvSpPr>
        <p:spPr>
          <a:xfrm>
            <a:off x="437308" y="1755912"/>
            <a:ext cx="462049"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118" name="직사각형 117">
            <a:extLst>
              <a:ext uri="{FF2B5EF4-FFF2-40B4-BE49-F238E27FC236}">
                <a16:creationId xmlns:a16="http://schemas.microsoft.com/office/drawing/2014/main" id="{26CCC084-9618-4794-8AD6-F546063948A0}"/>
              </a:ext>
            </a:extLst>
          </p:cNvPr>
          <p:cNvSpPr/>
          <p:nvPr/>
        </p:nvSpPr>
        <p:spPr>
          <a:xfrm>
            <a:off x="1747418" y="1755912"/>
            <a:ext cx="462049"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cxnSp>
        <p:nvCxnSpPr>
          <p:cNvPr id="234" name="직선 화살표 연결선 233">
            <a:extLst>
              <a:ext uri="{FF2B5EF4-FFF2-40B4-BE49-F238E27FC236}">
                <a16:creationId xmlns:a16="http://schemas.microsoft.com/office/drawing/2014/main" id="{540FF106-8E6A-4FA3-8B84-92434C6EC870}"/>
              </a:ext>
            </a:extLst>
          </p:cNvPr>
          <p:cNvCxnSpPr>
            <a:cxnSpLocks/>
            <a:stCxn id="33" idx="3"/>
            <a:endCxn id="15" idx="1"/>
          </p:cNvCxnSpPr>
          <p:nvPr/>
        </p:nvCxnSpPr>
        <p:spPr>
          <a:xfrm flipV="1">
            <a:off x="2730961" y="4428147"/>
            <a:ext cx="1540019" cy="5844"/>
          </a:xfrm>
          <a:prstGeom prst="straightConnector1">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19" name="직사각형 118">
            <a:extLst>
              <a:ext uri="{FF2B5EF4-FFF2-40B4-BE49-F238E27FC236}">
                <a16:creationId xmlns:a16="http://schemas.microsoft.com/office/drawing/2014/main" id="{9752EBAF-EA24-4AAC-92B2-711728D3919F}"/>
              </a:ext>
            </a:extLst>
          </p:cNvPr>
          <p:cNvSpPr/>
          <p:nvPr/>
        </p:nvSpPr>
        <p:spPr>
          <a:xfrm>
            <a:off x="8275573" y="1755912"/>
            <a:ext cx="462049"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120" name="직사각형 119">
            <a:extLst>
              <a:ext uri="{FF2B5EF4-FFF2-40B4-BE49-F238E27FC236}">
                <a16:creationId xmlns:a16="http://schemas.microsoft.com/office/drawing/2014/main" id="{2F8423FF-2D99-486D-AE0A-C10476FE5EA2}"/>
              </a:ext>
            </a:extLst>
          </p:cNvPr>
          <p:cNvSpPr/>
          <p:nvPr/>
        </p:nvSpPr>
        <p:spPr>
          <a:xfrm>
            <a:off x="1752062" y="3216544"/>
            <a:ext cx="264443"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122" name="직사각형 121">
            <a:extLst>
              <a:ext uri="{FF2B5EF4-FFF2-40B4-BE49-F238E27FC236}">
                <a16:creationId xmlns:a16="http://schemas.microsoft.com/office/drawing/2014/main" id="{0E035AFB-9309-4F8D-BC61-8EEC519A0615}"/>
              </a:ext>
            </a:extLst>
          </p:cNvPr>
          <p:cNvSpPr/>
          <p:nvPr/>
        </p:nvSpPr>
        <p:spPr>
          <a:xfrm>
            <a:off x="4272618" y="3215995"/>
            <a:ext cx="264443"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123" name="직사각형 122">
            <a:extLst>
              <a:ext uri="{FF2B5EF4-FFF2-40B4-BE49-F238E27FC236}">
                <a16:creationId xmlns:a16="http://schemas.microsoft.com/office/drawing/2014/main" id="{2B5CBED5-03A8-4431-BC69-3B5CAE173667}"/>
              </a:ext>
            </a:extLst>
          </p:cNvPr>
          <p:cNvSpPr/>
          <p:nvPr/>
        </p:nvSpPr>
        <p:spPr>
          <a:xfrm>
            <a:off x="6681597" y="3205849"/>
            <a:ext cx="264443"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124" name="직사각형 123">
            <a:extLst>
              <a:ext uri="{FF2B5EF4-FFF2-40B4-BE49-F238E27FC236}">
                <a16:creationId xmlns:a16="http://schemas.microsoft.com/office/drawing/2014/main" id="{79699B55-1870-4683-A3EF-B51DE9DD3037}"/>
              </a:ext>
            </a:extLst>
          </p:cNvPr>
          <p:cNvSpPr/>
          <p:nvPr/>
        </p:nvSpPr>
        <p:spPr>
          <a:xfrm>
            <a:off x="7578697" y="3246925"/>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127" name="직사각형 126">
            <a:extLst>
              <a:ext uri="{FF2B5EF4-FFF2-40B4-BE49-F238E27FC236}">
                <a16:creationId xmlns:a16="http://schemas.microsoft.com/office/drawing/2014/main" id="{836E3607-6A09-4E13-AEAE-06128F9ECE7C}"/>
              </a:ext>
            </a:extLst>
          </p:cNvPr>
          <p:cNvSpPr/>
          <p:nvPr/>
        </p:nvSpPr>
        <p:spPr>
          <a:xfrm>
            <a:off x="434820" y="3427779"/>
            <a:ext cx="462049"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178" name="직사각형 177">
            <a:extLst>
              <a:ext uri="{FF2B5EF4-FFF2-40B4-BE49-F238E27FC236}">
                <a16:creationId xmlns:a16="http://schemas.microsoft.com/office/drawing/2014/main" id="{29F98B32-5AEA-465F-ACF7-48DC7A79458B}"/>
              </a:ext>
            </a:extLst>
          </p:cNvPr>
          <p:cNvSpPr/>
          <p:nvPr/>
        </p:nvSpPr>
        <p:spPr>
          <a:xfrm>
            <a:off x="4392245" y="3678987"/>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Data Migra-</a:t>
            </a:r>
            <a:r>
              <a:rPr lang="en-US" altLang="ko-KR" sz="700" b="1" dirty="0" err="1">
                <a:solidFill>
                  <a:schemeClr val="tx1"/>
                </a:solidFill>
              </a:rPr>
              <a:t>tion</a:t>
            </a:r>
            <a:r>
              <a:rPr lang="en-US" altLang="ko-KR" sz="700" b="1" dirty="0">
                <a:solidFill>
                  <a:schemeClr val="tx1"/>
                </a:solidFill>
              </a:rPr>
              <a:t> Scheduler</a:t>
            </a:r>
            <a:endParaRPr lang="ko-KR" altLang="en-US" sz="700" b="1" dirty="0">
              <a:solidFill>
                <a:schemeClr val="tx1"/>
              </a:solidFill>
            </a:endParaRPr>
          </a:p>
        </p:txBody>
      </p:sp>
      <p:sp>
        <p:nvSpPr>
          <p:cNvPr id="179" name="직사각형 178">
            <a:extLst>
              <a:ext uri="{FF2B5EF4-FFF2-40B4-BE49-F238E27FC236}">
                <a16:creationId xmlns:a16="http://schemas.microsoft.com/office/drawing/2014/main" id="{1DE578DF-0FF1-4DE3-B625-EF569A8BF066}"/>
              </a:ext>
            </a:extLst>
          </p:cNvPr>
          <p:cNvSpPr/>
          <p:nvPr/>
        </p:nvSpPr>
        <p:spPr>
          <a:xfrm>
            <a:off x="4392245" y="4405699"/>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Expert</a:t>
            </a:r>
          </a:p>
          <a:p>
            <a:pPr algn="ctr"/>
            <a:r>
              <a:rPr lang="en-US" altLang="ko-KR" sz="700" b="1" dirty="0">
                <a:solidFill>
                  <a:schemeClr val="tx1"/>
                </a:solidFill>
              </a:rPr>
              <a:t>Manager</a:t>
            </a:r>
            <a:endParaRPr lang="ko-KR" altLang="en-US" sz="700" b="1" dirty="0">
              <a:solidFill>
                <a:schemeClr val="tx1"/>
              </a:solidFill>
            </a:endParaRPr>
          </a:p>
        </p:txBody>
      </p:sp>
      <p:sp>
        <p:nvSpPr>
          <p:cNvPr id="180" name="직사각형 179">
            <a:extLst>
              <a:ext uri="{FF2B5EF4-FFF2-40B4-BE49-F238E27FC236}">
                <a16:creationId xmlns:a16="http://schemas.microsoft.com/office/drawing/2014/main" id="{980AB048-A5FA-40DA-8F06-A7C654E32B79}"/>
              </a:ext>
            </a:extLst>
          </p:cNvPr>
          <p:cNvSpPr/>
          <p:nvPr/>
        </p:nvSpPr>
        <p:spPr>
          <a:xfrm>
            <a:off x="4392245" y="4041826"/>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KV Cache Manager</a:t>
            </a:r>
            <a:endParaRPr lang="ko-KR" altLang="en-US" sz="700" b="1" dirty="0">
              <a:solidFill>
                <a:schemeClr val="tx1"/>
              </a:solidFill>
            </a:endParaRPr>
          </a:p>
        </p:txBody>
      </p:sp>
      <p:sp>
        <p:nvSpPr>
          <p:cNvPr id="181" name="직사각형 180">
            <a:extLst>
              <a:ext uri="{FF2B5EF4-FFF2-40B4-BE49-F238E27FC236}">
                <a16:creationId xmlns:a16="http://schemas.microsoft.com/office/drawing/2014/main" id="{F8D82D52-E8F2-402F-9020-4933BB66A8C9}"/>
              </a:ext>
            </a:extLst>
          </p:cNvPr>
          <p:cNvSpPr/>
          <p:nvPr/>
        </p:nvSpPr>
        <p:spPr>
          <a:xfrm>
            <a:off x="4392245" y="4770857"/>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err="1">
                <a:solidFill>
                  <a:schemeClr val="tx1"/>
                </a:solidFill>
              </a:rPr>
              <a:t>LoRA</a:t>
            </a:r>
            <a:r>
              <a:rPr lang="en-US" altLang="ko-KR" sz="700" b="1" dirty="0">
                <a:solidFill>
                  <a:schemeClr val="tx1"/>
                </a:solidFill>
              </a:rPr>
              <a:t> Manager</a:t>
            </a:r>
            <a:endParaRPr lang="ko-KR" altLang="en-US" sz="700" b="1" dirty="0">
              <a:solidFill>
                <a:schemeClr val="tx1"/>
              </a:solidFill>
            </a:endParaRPr>
          </a:p>
        </p:txBody>
      </p:sp>
      <p:sp>
        <p:nvSpPr>
          <p:cNvPr id="182" name="직사각형 181">
            <a:extLst>
              <a:ext uri="{FF2B5EF4-FFF2-40B4-BE49-F238E27FC236}">
                <a16:creationId xmlns:a16="http://schemas.microsoft.com/office/drawing/2014/main" id="{118482D7-2D66-4500-811B-B158D62013F3}"/>
              </a:ext>
            </a:extLst>
          </p:cNvPr>
          <p:cNvSpPr/>
          <p:nvPr/>
        </p:nvSpPr>
        <p:spPr>
          <a:xfrm>
            <a:off x="4392245" y="5132882"/>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Data Object Registry</a:t>
            </a:r>
            <a:endParaRPr lang="ko-KR" altLang="en-US" sz="700" b="1" dirty="0">
              <a:solidFill>
                <a:schemeClr val="tx1"/>
              </a:solidFill>
            </a:endParaRPr>
          </a:p>
        </p:txBody>
      </p:sp>
      <p:sp>
        <p:nvSpPr>
          <p:cNvPr id="185" name="직사각형 184">
            <a:extLst>
              <a:ext uri="{FF2B5EF4-FFF2-40B4-BE49-F238E27FC236}">
                <a16:creationId xmlns:a16="http://schemas.microsoft.com/office/drawing/2014/main" id="{66A80510-5426-4FD3-898F-DE81168BF1B1}"/>
              </a:ext>
            </a:extLst>
          </p:cNvPr>
          <p:cNvSpPr/>
          <p:nvPr/>
        </p:nvSpPr>
        <p:spPr>
          <a:xfrm>
            <a:off x="5329726" y="3678987"/>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Data Behavior Monitor</a:t>
            </a:r>
            <a:endParaRPr lang="ko-KR" altLang="en-US" sz="700" b="1" dirty="0">
              <a:solidFill>
                <a:schemeClr val="tx1"/>
              </a:solidFill>
            </a:endParaRPr>
          </a:p>
        </p:txBody>
      </p:sp>
      <p:sp>
        <p:nvSpPr>
          <p:cNvPr id="186" name="직사각형 185">
            <a:extLst>
              <a:ext uri="{FF2B5EF4-FFF2-40B4-BE49-F238E27FC236}">
                <a16:creationId xmlns:a16="http://schemas.microsoft.com/office/drawing/2014/main" id="{E2066CD4-4E11-4C94-ACCB-196EF0671AFD}"/>
              </a:ext>
            </a:extLst>
          </p:cNvPr>
          <p:cNvSpPr/>
          <p:nvPr/>
        </p:nvSpPr>
        <p:spPr>
          <a:xfrm>
            <a:off x="5329726" y="4405699"/>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Behavior Predictor</a:t>
            </a:r>
            <a:endParaRPr lang="ko-KR" altLang="en-US" sz="700" b="1" dirty="0">
              <a:solidFill>
                <a:schemeClr val="tx1"/>
              </a:solidFill>
            </a:endParaRPr>
          </a:p>
        </p:txBody>
      </p:sp>
      <p:sp>
        <p:nvSpPr>
          <p:cNvPr id="187" name="직사각형 186">
            <a:extLst>
              <a:ext uri="{FF2B5EF4-FFF2-40B4-BE49-F238E27FC236}">
                <a16:creationId xmlns:a16="http://schemas.microsoft.com/office/drawing/2014/main" id="{8F5FA42E-0535-4FCB-B335-8A338E24A74E}"/>
              </a:ext>
            </a:extLst>
          </p:cNvPr>
          <p:cNvSpPr/>
          <p:nvPr/>
        </p:nvSpPr>
        <p:spPr>
          <a:xfrm>
            <a:off x="5329726" y="4041826"/>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Behavior Analyzer</a:t>
            </a:r>
            <a:endParaRPr lang="ko-KR" altLang="en-US" sz="700" b="1" dirty="0">
              <a:solidFill>
                <a:schemeClr val="tx1"/>
              </a:solidFill>
            </a:endParaRPr>
          </a:p>
        </p:txBody>
      </p:sp>
      <p:sp>
        <p:nvSpPr>
          <p:cNvPr id="188" name="직사각형 187">
            <a:extLst>
              <a:ext uri="{FF2B5EF4-FFF2-40B4-BE49-F238E27FC236}">
                <a16:creationId xmlns:a16="http://schemas.microsoft.com/office/drawing/2014/main" id="{E39DB062-5571-42A5-AFFD-615F797A3513}"/>
              </a:ext>
            </a:extLst>
          </p:cNvPr>
          <p:cNvSpPr/>
          <p:nvPr/>
        </p:nvSpPr>
        <p:spPr>
          <a:xfrm>
            <a:off x="5329726" y="4770857"/>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Data Migra-</a:t>
            </a:r>
            <a:r>
              <a:rPr lang="en-US" altLang="ko-KR" sz="700" b="1" dirty="0" err="1">
                <a:solidFill>
                  <a:schemeClr val="tx1"/>
                </a:solidFill>
              </a:rPr>
              <a:t>tion</a:t>
            </a:r>
            <a:r>
              <a:rPr lang="en-US" altLang="ko-KR" sz="700" b="1" dirty="0">
                <a:solidFill>
                  <a:schemeClr val="tx1"/>
                </a:solidFill>
              </a:rPr>
              <a:t> Selector</a:t>
            </a:r>
            <a:endParaRPr lang="ko-KR" altLang="en-US" sz="700" b="1" dirty="0">
              <a:solidFill>
                <a:schemeClr val="tx1"/>
              </a:solidFill>
            </a:endParaRPr>
          </a:p>
        </p:txBody>
      </p:sp>
      <p:sp>
        <p:nvSpPr>
          <p:cNvPr id="189" name="직사각형 188">
            <a:extLst>
              <a:ext uri="{FF2B5EF4-FFF2-40B4-BE49-F238E27FC236}">
                <a16:creationId xmlns:a16="http://schemas.microsoft.com/office/drawing/2014/main" id="{A1D1881B-A67C-4726-9931-E1DB7406F7B4}"/>
              </a:ext>
            </a:extLst>
          </p:cNvPr>
          <p:cNvSpPr/>
          <p:nvPr/>
        </p:nvSpPr>
        <p:spPr>
          <a:xfrm>
            <a:off x="5329726" y="5132882"/>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Data Eviction Manager</a:t>
            </a:r>
            <a:endParaRPr lang="ko-KR" altLang="en-US" sz="700" b="1" dirty="0">
              <a:solidFill>
                <a:schemeClr val="tx1"/>
              </a:solidFill>
            </a:endParaRPr>
          </a:p>
        </p:txBody>
      </p:sp>
      <p:sp>
        <p:nvSpPr>
          <p:cNvPr id="207" name="직사각형 206">
            <a:extLst>
              <a:ext uri="{FF2B5EF4-FFF2-40B4-BE49-F238E27FC236}">
                <a16:creationId xmlns:a16="http://schemas.microsoft.com/office/drawing/2014/main" id="{B06E824E-1BF9-4B18-B22B-AC4A74455002}"/>
              </a:ext>
            </a:extLst>
          </p:cNvPr>
          <p:cNvSpPr/>
          <p:nvPr/>
        </p:nvSpPr>
        <p:spPr>
          <a:xfrm>
            <a:off x="7202749" y="3278963"/>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208" name="직사각형 207">
            <a:extLst>
              <a:ext uri="{FF2B5EF4-FFF2-40B4-BE49-F238E27FC236}">
                <a16:creationId xmlns:a16="http://schemas.microsoft.com/office/drawing/2014/main" id="{518D7C32-08DD-4560-94CA-E3364A9B380E}"/>
              </a:ext>
            </a:extLst>
          </p:cNvPr>
          <p:cNvSpPr/>
          <p:nvPr/>
        </p:nvSpPr>
        <p:spPr>
          <a:xfrm>
            <a:off x="7336341" y="3261918"/>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209" name="직사각형 208">
            <a:extLst>
              <a:ext uri="{FF2B5EF4-FFF2-40B4-BE49-F238E27FC236}">
                <a16:creationId xmlns:a16="http://schemas.microsoft.com/office/drawing/2014/main" id="{E2B7E17A-02A7-4463-AE3F-26ADCED44908}"/>
              </a:ext>
            </a:extLst>
          </p:cNvPr>
          <p:cNvSpPr/>
          <p:nvPr/>
        </p:nvSpPr>
        <p:spPr>
          <a:xfrm>
            <a:off x="7461296" y="3261918"/>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211" name="직사각형 210">
            <a:extLst>
              <a:ext uri="{FF2B5EF4-FFF2-40B4-BE49-F238E27FC236}">
                <a16:creationId xmlns:a16="http://schemas.microsoft.com/office/drawing/2014/main" id="{C64F5E99-C08C-4E50-8068-C9B1DD456540}"/>
              </a:ext>
            </a:extLst>
          </p:cNvPr>
          <p:cNvSpPr/>
          <p:nvPr/>
        </p:nvSpPr>
        <p:spPr>
          <a:xfrm>
            <a:off x="7757515" y="3246925"/>
            <a:ext cx="84591" cy="13650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cxnSp>
        <p:nvCxnSpPr>
          <p:cNvPr id="227" name="직선 화살표 연결선 226">
            <a:extLst>
              <a:ext uri="{FF2B5EF4-FFF2-40B4-BE49-F238E27FC236}">
                <a16:creationId xmlns:a16="http://schemas.microsoft.com/office/drawing/2014/main" id="{321731F0-8452-430F-BE28-0C5D36C09582}"/>
              </a:ext>
            </a:extLst>
          </p:cNvPr>
          <p:cNvCxnSpPr>
            <a:cxnSpLocks/>
            <a:endCxn id="61" idx="2"/>
          </p:cNvCxnSpPr>
          <p:nvPr/>
        </p:nvCxnSpPr>
        <p:spPr>
          <a:xfrm rot="10800000">
            <a:off x="876726" y="3023080"/>
            <a:ext cx="872797" cy="437947"/>
          </a:xfrm>
          <a:prstGeom prst="bentConnector2">
            <a:avLst/>
          </a:prstGeom>
          <a:ln>
            <a:solidFill>
              <a:schemeClr val="tx1"/>
            </a:solidFill>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230" name="TextBox 229">
            <a:extLst>
              <a:ext uri="{FF2B5EF4-FFF2-40B4-BE49-F238E27FC236}">
                <a16:creationId xmlns:a16="http://schemas.microsoft.com/office/drawing/2014/main" id="{263D06B6-7D16-45FF-A1A9-C4444812C33E}"/>
              </a:ext>
            </a:extLst>
          </p:cNvPr>
          <p:cNvSpPr txBox="1"/>
          <p:nvPr/>
        </p:nvSpPr>
        <p:spPr>
          <a:xfrm>
            <a:off x="899357" y="3238716"/>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239" name="TextBox 238">
            <a:extLst>
              <a:ext uri="{FF2B5EF4-FFF2-40B4-BE49-F238E27FC236}">
                <a16:creationId xmlns:a16="http://schemas.microsoft.com/office/drawing/2014/main" id="{8D4FD793-A991-421C-85A2-D68ADED0CA3E}"/>
              </a:ext>
            </a:extLst>
          </p:cNvPr>
          <p:cNvSpPr txBox="1"/>
          <p:nvPr/>
        </p:nvSpPr>
        <p:spPr>
          <a:xfrm>
            <a:off x="3735814" y="4269911"/>
            <a:ext cx="582454" cy="163007"/>
          </a:xfrm>
          <a:prstGeom prst="rect">
            <a:avLst/>
          </a:prstGeom>
          <a:noFill/>
        </p:spPr>
        <p:txBody>
          <a:bodyPr wrap="square" rtlCol="0">
            <a:spAutoFit/>
          </a:bodyPr>
          <a:lstStyle/>
          <a:p>
            <a:pPr algn="ctr"/>
            <a:r>
              <a:rPr lang="en-US" altLang="ko-KR" sz="400" dirty="0"/>
              <a:t>&lt;&lt;use&gt;&gt;</a:t>
            </a:r>
            <a:endParaRPr lang="ko-KR" altLang="en-US" sz="400" dirty="0"/>
          </a:p>
        </p:txBody>
      </p:sp>
      <p:sp>
        <p:nvSpPr>
          <p:cNvPr id="298" name="직사각형 297">
            <a:extLst>
              <a:ext uri="{FF2B5EF4-FFF2-40B4-BE49-F238E27FC236}">
                <a16:creationId xmlns:a16="http://schemas.microsoft.com/office/drawing/2014/main" id="{019E176B-54A8-4449-914D-977803BBA35C}"/>
              </a:ext>
            </a:extLst>
          </p:cNvPr>
          <p:cNvSpPr/>
          <p:nvPr/>
        </p:nvSpPr>
        <p:spPr>
          <a:xfrm>
            <a:off x="5501798" y="2205566"/>
            <a:ext cx="1030973" cy="306831"/>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KV State Monitor</a:t>
            </a:r>
            <a:endParaRPr lang="ko-KR" altLang="en-US" sz="700" b="1" dirty="0">
              <a:solidFill>
                <a:schemeClr val="tx1"/>
              </a:solidFill>
            </a:endParaRPr>
          </a:p>
        </p:txBody>
      </p:sp>
      <p:sp>
        <p:nvSpPr>
          <p:cNvPr id="317" name="직사각형 316">
            <a:extLst>
              <a:ext uri="{FF2B5EF4-FFF2-40B4-BE49-F238E27FC236}">
                <a16:creationId xmlns:a16="http://schemas.microsoft.com/office/drawing/2014/main" id="{9EDF2630-A613-4E8E-A695-2BFF10D388FF}"/>
              </a:ext>
            </a:extLst>
          </p:cNvPr>
          <p:cNvSpPr/>
          <p:nvPr/>
        </p:nvSpPr>
        <p:spPr>
          <a:xfrm>
            <a:off x="2978360" y="3216544"/>
            <a:ext cx="264443" cy="130728"/>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ko-KR" altLang="en-US" sz="900" b="1" dirty="0">
              <a:solidFill>
                <a:schemeClr val="tx1"/>
              </a:solidFill>
            </a:endParaRPr>
          </a:p>
        </p:txBody>
      </p:sp>
      <p:sp>
        <p:nvSpPr>
          <p:cNvPr id="316" name="직사각형 315">
            <a:extLst>
              <a:ext uri="{FF2B5EF4-FFF2-40B4-BE49-F238E27FC236}">
                <a16:creationId xmlns:a16="http://schemas.microsoft.com/office/drawing/2014/main" id="{E8771830-0235-4208-9057-C78FD109F8F4}"/>
              </a:ext>
            </a:extLst>
          </p:cNvPr>
          <p:cNvSpPr/>
          <p:nvPr/>
        </p:nvSpPr>
        <p:spPr>
          <a:xfrm>
            <a:off x="2978248" y="3347433"/>
            <a:ext cx="979011" cy="2173116"/>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ko-KR" sz="900" b="1" dirty="0">
                <a:solidFill>
                  <a:schemeClr val="tx1"/>
                </a:solidFill>
              </a:rPr>
              <a:t>Compute Management</a:t>
            </a:r>
            <a:endParaRPr lang="ko-KR" altLang="en-US" sz="900" b="1" dirty="0">
              <a:solidFill>
                <a:schemeClr val="tx1"/>
              </a:solidFill>
            </a:endParaRPr>
          </a:p>
        </p:txBody>
      </p:sp>
      <p:sp>
        <p:nvSpPr>
          <p:cNvPr id="216" name="직사각형 215">
            <a:extLst>
              <a:ext uri="{FF2B5EF4-FFF2-40B4-BE49-F238E27FC236}">
                <a16:creationId xmlns:a16="http://schemas.microsoft.com/office/drawing/2014/main" id="{6E896632-A58A-43DA-877F-7667D80DD95A}"/>
              </a:ext>
            </a:extLst>
          </p:cNvPr>
          <p:cNvSpPr/>
          <p:nvPr/>
        </p:nvSpPr>
        <p:spPr>
          <a:xfrm>
            <a:off x="3082321" y="3675872"/>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Worker</a:t>
            </a:r>
            <a:endParaRPr lang="ko-KR" altLang="en-US" sz="700" b="1" dirty="0">
              <a:solidFill>
                <a:schemeClr val="tx1"/>
              </a:solidFill>
            </a:endParaRPr>
          </a:p>
        </p:txBody>
      </p:sp>
      <p:sp>
        <p:nvSpPr>
          <p:cNvPr id="217" name="직사각형 216">
            <a:extLst>
              <a:ext uri="{FF2B5EF4-FFF2-40B4-BE49-F238E27FC236}">
                <a16:creationId xmlns:a16="http://schemas.microsoft.com/office/drawing/2014/main" id="{C5EBD24D-B64A-4B7C-9D0C-815448032426}"/>
              </a:ext>
            </a:extLst>
          </p:cNvPr>
          <p:cNvSpPr/>
          <p:nvPr/>
        </p:nvSpPr>
        <p:spPr>
          <a:xfrm>
            <a:off x="3082321" y="4054776"/>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Model Runner</a:t>
            </a:r>
          </a:p>
        </p:txBody>
      </p:sp>
      <p:sp>
        <p:nvSpPr>
          <p:cNvPr id="218" name="직사각형 217">
            <a:extLst>
              <a:ext uri="{FF2B5EF4-FFF2-40B4-BE49-F238E27FC236}">
                <a16:creationId xmlns:a16="http://schemas.microsoft.com/office/drawing/2014/main" id="{6A687733-807F-423F-A595-B320D0B485E3}"/>
              </a:ext>
            </a:extLst>
          </p:cNvPr>
          <p:cNvSpPr/>
          <p:nvPr/>
        </p:nvSpPr>
        <p:spPr>
          <a:xfrm>
            <a:off x="3085372" y="4438037"/>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Model/Layers</a:t>
            </a:r>
            <a:endParaRPr lang="ko-KR" altLang="en-US" sz="700" b="1" dirty="0">
              <a:solidFill>
                <a:schemeClr val="tx1"/>
              </a:solidFill>
            </a:endParaRPr>
          </a:p>
        </p:txBody>
      </p:sp>
      <p:sp>
        <p:nvSpPr>
          <p:cNvPr id="219" name="직사각형 218">
            <a:extLst>
              <a:ext uri="{FF2B5EF4-FFF2-40B4-BE49-F238E27FC236}">
                <a16:creationId xmlns:a16="http://schemas.microsoft.com/office/drawing/2014/main" id="{EC19A98B-C198-496F-8F1B-377A9CFE8831}"/>
              </a:ext>
            </a:extLst>
          </p:cNvPr>
          <p:cNvSpPr/>
          <p:nvPr/>
        </p:nvSpPr>
        <p:spPr>
          <a:xfrm>
            <a:off x="3082321" y="4787972"/>
            <a:ext cx="814552"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Attention Backend</a:t>
            </a:r>
            <a:endParaRPr lang="ko-KR" altLang="en-US" sz="700" b="1" dirty="0">
              <a:solidFill>
                <a:schemeClr val="tx1"/>
              </a:solidFill>
            </a:endParaRPr>
          </a:p>
        </p:txBody>
      </p:sp>
      <p:sp>
        <p:nvSpPr>
          <p:cNvPr id="220" name="직사각형 219">
            <a:extLst>
              <a:ext uri="{FF2B5EF4-FFF2-40B4-BE49-F238E27FC236}">
                <a16:creationId xmlns:a16="http://schemas.microsoft.com/office/drawing/2014/main" id="{583F557F-D47C-48C6-BE32-029454599704}"/>
              </a:ext>
            </a:extLst>
          </p:cNvPr>
          <p:cNvSpPr/>
          <p:nvPr/>
        </p:nvSpPr>
        <p:spPr>
          <a:xfrm>
            <a:off x="3082321" y="5161574"/>
            <a:ext cx="814552" cy="296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Custom Operator</a:t>
            </a:r>
            <a:endParaRPr lang="ko-KR" altLang="en-US" sz="700" b="1" dirty="0">
              <a:solidFill>
                <a:schemeClr val="tx1"/>
              </a:solidFill>
            </a:endParaRPr>
          </a:p>
        </p:txBody>
      </p:sp>
      <p:sp>
        <p:nvSpPr>
          <p:cNvPr id="320" name="직사각형 319">
            <a:extLst>
              <a:ext uri="{FF2B5EF4-FFF2-40B4-BE49-F238E27FC236}">
                <a16:creationId xmlns:a16="http://schemas.microsoft.com/office/drawing/2014/main" id="{65FBDE47-ACC2-484F-A8A4-C64FB74ACB13}"/>
              </a:ext>
            </a:extLst>
          </p:cNvPr>
          <p:cNvSpPr/>
          <p:nvPr/>
        </p:nvSpPr>
        <p:spPr>
          <a:xfrm>
            <a:off x="4321477" y="3625954"/>
            <a:ext cx="3311330" cy="1970791"/>
          </a:xfrm>
          <a:prstGeom prst="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1" name="직사각형 320">
            <a:extLst>
              <a:ext uri="{FF2B5EF4-FFF2-40B4-BE49-F238E27FC236}">
                <a16:creationId xmlns:a16="http://schemas.microsoft.com/office/drawing/2014/main" id="{DCDC752D-254C-4A97-8DF2-CAD47C049929}"/>
              </a:ext>
            </a:extLst>
          </p:cNvPr>
          <p:cNvSpPr/>
          <p:nvPr/>
        </p:nvSpPr>
        <p:spPr>
          <a:xfrm>
            <a:off x="9580321" y="2540964"/>
            <a:ext cx="2109873" cy="284693"/>
          </a:xfrm>
          <a:prstGeom prst="rect">
            <a:avLst/>
          </a:prstGeom>
        </p:spPr>
        <p:txBody>
          <a:bodyPr wrap="none">
            <a:spAutoFit/>
          </a:bodyPr>
          <a:lstStyle/>
          <a:p>
            <a:r>
              <a:rPr lang="en-GB" altLang="ko-KR" sz="1250" b="1" dirty="0">
                <a:latin typeface="맑은 고딕" panose="020B0503020000020004" pitchFamily="50" charset="-127"/>
                <a:cs typeface="Times New Roman" panose="02020603050405020304" pitchFamily="18" charset="0"/>
              </a:rPr>
              <a:t>DP-2. </a:t>
            </a:r>
            <a:r>
              <a:rPr lang="ko-KR" altLang="en-US" sz="1250" b="1" dirty="0">
                <a:latin typeface="맑은 고딕" panose="020B0503020000020004" pitchFamily="50" charset="-127"/>
                <a:cs typeface="Times New Roman" panose="02020603050405020304" pitchFamily="18" charset="0"/>
              </a:rPr>
              <a:t>연산 실행 위치 결정</a:t>
            </a:r>
            <a:endParaRPr lang="ko-KR" altLang="en-US" sz="1250" b="1" dirty="0"/>
          </a:p>
        </p:txBody>
      </p:sp>
      <p:sp>
        <p:nvSpPr>
          <p:cNvPr id="324" name="직사각형 323">
            <a:extLst>
              <a:ext uri="{FF2B5EF4-FFF2-40B4-BE49-F238E27FC236}">
                <a16:creationId xmlns:a16="http://schemas.microsoft.com/office/drawing/2014/main" id="{9CF5B1FE-9495-4451-9594-8F8B85242E82}"/>
              </a:ext>
            </a:extLst>
          </p:cNvPr>
          <p:cNvSpPr/>
          <p:nvPr/>
        </p:nvSpPr>
        <p:spPr>
          <a:xfrm>
            <a:off x="9580321" y="5185457"/>
            <a:ext cx="2217274" cy="284693"/>
          </a:xfrm>
          <a:prstGeom prst="rect">
            <a:avLst/>
          </a:prstGeom>
        </p:spPr>
        <p:txBody>
          <a:bodyPr wrap="none">
            <a:spAutoFit/>
          </a:bodyPr>
          <a:lstStyle/>
          <a:p>
            <a:r>
              <a:rPr lang="en-GB" altLang="ko-KR" sz="1250" b="1" dirty="0">
                <a:latin typeface="맑은 고딕" panose="020B0503020000020004" pitchFamily="50" charset="-127"/>
                <a:cs typeface="Times New Roman" panose="02020603050405020304" pitchFamily="18" charset="0"/>
              </a:rPr>
              <a:t>DP-4. </a:t>
            </a:r>
            <a:r>
              <a:rPr lang="ko-KR" altLang="en-US" sz="1250" b="1" dirty="0">
                <a:latin typeface="맑은 고딕" panose="020B0503020000020004" pitchFamily="50" charset="-127"/>
                <a:cs typeface="Times New Roman" panose="02020603050405020304" pitchFamily="18" charset="0"/>
              </a:rPr>
              <a:t>서버 간 </a:t>
            </a:r>
            <a:r>
              <a:rPr lang="en-US" altLang="ko-KR" sz="1250" b="1" dirty="0">
                <a:latin typeface="맑은 고딕" panose="020B0503020000020004" pitchFamily="50" charset="-127"/>
                <a:cs typeface="Times New Roman" panose="02020603050405020304" pitchFamily="18" charset="0"/>
              </a:rPr>
              <a:t>KV </a:t>
            </a:r>
            <a:r>
              <a:rPr lang="ko-KR" altLang="en-US" sz="1250" b="1" dirty="0">
                <a:latin typeface="맑은 고딕" panose="020B0503020000020004" pitchFamily="50" charset="-127"/>
                <a:cs typeface="Times New Roman" panose="02020603050405020304" pitchFamily="18" charset="0"/>
              </a:rPr>
              <a:t>캐시 공유</a:t>
            </a:r>
            <a:endParaRPr lang="ko-KR" altLang="en-US" sz="1250" b="1" dirty="0"/>
          </a:p>
        </p:txBody>
      </p:sp>
      <p:sp>
        <p:nvSpPr>
          <p:cNvPr id="325" name="직사각형 324">
            <a:extLst>
              <a:ext uri="{FF2B5EF4-FFF2-40B4-BE49-F238E27FC236}">
                <a16:creationId xmlns:a16="http://schemas.microsoft.com/office/drawing/2014/main" id="{DABE46FD-C803-4916-A7EE-CF574B7B1A8D}"/>
              </a:ext>
            </a:extLst>
          </p:cNvPr>
          <p:cNvSpPr/>
          <p:nvPr/>
        </p:nvSpPr>
        <p:spPr>
          <a:xfrm>
            <a:off x="9580321" y="1183181"/>
            <a:ext cx="2250937" cy="284693"/>
          </a:xfrm>
          <a:prstGeom prst="rect">
            <a:avLst/>
          </a:prstGeom>
        </p:spPr>
        <p:txBody>
          <a:bodyPr wrap="none">
            <a:spAutoFit/>
          </a:bodyPr>
          <a:lstStyle/>
          <a:p>
            <a:r>
              <a:rPr lang="en-GB" altLang="ko-KR" sz="1250" b="1" dirty="0">
                <a:latin typeface="맑은 고딕" panose="020B0503020000020004" pitchFamily="50" charset="-127"/>
                <a:cs typeface="Times New Roman" panose="02020603050405020304" pitchFamily="18" charset="0"/>
              </a:rPr>
              <a:t>DP-1. </a:t>
            </a:r>
            <a:r>
              <a:rPr lang="en-US" altLang="ko-KR" sz="1250" b="1" dirty="0">
                <a:latin typeface="맑은 고딕" panose="020B0503020000020004" pitchFamily="50" charset="-127"/>
                <a:cs typeface="Times New Roman" panose="02020603050405020304" pitchFamily="18" charset="0"/>
              </a:rPr>
              <a:t>Data</a:t>
            </a:r>
            <a:r>
              <a:rPr lang="ko-KR" altLang="en-US" sz="1250" b="1" dirty="0">
                <a:latin typeface="맑은 고딕" panose="020B0503020000020004" pitchFamily="50" charset="-127"/>
                <a:cs typeface="Times New Roman" panose="02020603050405020304" pitchFamily="18" charset="0"/>
              </a:rPr>
              <a:t> </a:t>
            </a:r>
            <a:r>
              <a:rPr lang="en-US" altLang="ko-KR" sz="1250" b="1" dirty="0">
                <a:latin typeface="맑은 고딕" panose="020B0503020000020004" pitchFamily="50" charset="-127"/>
                <a:cs typeface="Times New Roman" panose="02020603050405020304" pitchFamily="18" charset="0"/>
              </a:rPr>
              <a:t>Migration</a:t>
            </a:r>
            <a:r>
              <a:rPr lang="ko-KR" altLang="en-US" sz="1250" b="1" dirty="0">
                <a:latin typeface="맑은 고딕" panose="020B0503020000020004" pitchFamily="50" charset="-127"/>
                <a:cs typeface="Times New Roman" panose="02020603050405020304" pitchFamily="18" charset="0"/>
              </a:rPr>
              <a:t> 결정 </a:t>
            </a:r>
            <a:endParaRPr lang="ko-KR" altLang="en-US" sz="1250" b="1" dirty="0"/>
          </a:p>
        </p:txBody>
      </p:sp>
      <p:sp>
        <p:nvSpPr>
          <p:cNvPr id="326" name="직사각형 325">
            <a:extLst>
              <a:ext uri="{FF2B5EF4-FFF2-40B4-BE49-F238E27FC236}">
                <a16:creationId xmlns:a16="http://schemas.microsoft.com/office/drawing/2014/main" id="{1F5BBC27-AF31-4074-BFA3-D3BB76637572}"/>
              </a:ext>
            </a:extLst>
          </p:cNvPr>
          <p:cNvSpPr/>
          <p:nvPr/>
        </p:nvSpPr>
        <p:spPr>
          <a:xfrm>
            <a:off x="9443551" y="1258375"/>
            <a:ext cx="158966" cy="920278"/>
          </a:xfrm>
          <a:prstGeom prst="rect">
            <a:avLst/>
          </a:prstGeom>
          <a:solidFill>
            <a:srgbClr val="C0000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직사각형 326">
            <a:extLst>
              <a:ext uri="{FF2B5EF4-FFF2-40B4-BE49-F238E27FC236}">
                <a16:creationId xmlns:a16="http://schemas.microsoft.com/office/drawing/2014/main" id="{EBF1A7DD-B698-4C3F-B0F7-FD6D9822FEEB}"/>
              </a:ext>
            </a:extLst>
          </p:cNvPr>
          <p:cNvSpPr/>
          <p:nvPr/>
        </p:nvSpPr>
        <p:spPr>
          <a:xfrm>
            <a:off x="9789799" y="1438410"/>
            <a:ext cx="1779654" cy="577081"/>
          </a:xfrm>
          <a:prstGeom prst="rect">
            <a:avLst/>
          </a:prstGeom>
        </p:spPr>
        <p:txBody>
          <a:bodyPr wrap="none">
            <a:spAutoFit/>
          </a:bodyPr>
          <a:lstStyle/>
          <a:p>
            <a:r>
              <a:rPr lang="en-US" altLang="ko-KR" sz="1050" b="1" dirty="0">
                <a:latin typeface="맑은 고딕" panose="020B0503020000020004" pitchFamily="50" charset="-127"/>
                <a:cs typeface="Times New Roman" panose="02020603050405020304" pitchFamily="18" charset="0"/>
              </a:rPr>
              <a:t>QA1. Throughput</a:t>
            </a:r>
          </a:p>
          <a:p>
            <a:r>
              <a:rPr lang="en-US" altLang="ko-KR" sz="1050" b="1" dirty="0">
                <a:latin typeface="맑은 고딕" panose="020B0503020000020004" pitchFamily="50" charset="-127"/>
                <a:cs typeface="Times New Roman" panose="02020603050405020304" pitchFamily="18" charset="0"/>
              </a:rPr>
              <a:t>QA2. Resource Efficiency</a:t>
            </a:r>
          </a:p>
          <a:p>
            <a:r>
              <a:rPr lang="en-US" altLang="ko-KR" sz="1050" b="1" dirty="0">
                <a:latin typeface="맑은 고딕" panose="020B0503020000020004" pitchFamily="50" charset="-127"/>
                <a:cs typeface="Times New Roman" panose="02020603050405020304" pitchFamily="18" charset="0"/>
              </a:rPr>
              <a:t>QA3. Modifiability </a:t>
            </a:r>
          </a:p>
        </p:txBody>
      </p:sp>
      <p:sp>
        <p:nvSpPr>
          <p:cNvPr id="329" name="직사각형 328">
            <a:extLst>
              <a:ext uri="{FF2B5EF4-FFF2-40B4-BE49-F238E27FC236}">
                <a16:creationId xmlns:a16="http://schemas.microsoft.com/office/drawing/2014/main" id="{EA8E4AB3-DEFD-4A79-B99F-08D8B5E2239F}"/>
              </a:ext>
            </a:extLst>
          </p:cNvPr>
          <p:cNvSpPr/>
          <p:nvPr/>
        </p:nvSpPr>
        <p:spPr>
          <a:xfrm>
            <a:off x="9789799" y="2796785"/>
            <a:ext cx="1779654" cy="577081"/>
          </a:xfrm>
          <a:prstGeom prst="rect">
            <a:avLst/>
          </a:prstGeom>
        </p:spPr>
        <p:txBody>
          <a:bodyPr wrap="none">
            <a:spAutoFit/>
          </a:bodyPr>
          <a:lstStyle/>
          <a:p>
            <a:r>
              <a:rPr lang="en-US" altLang="ko-KR" sz="1050" b="1" dirty="0">
                <a:latin typeface="맑은 고딕" panose="020B0503020000020004" pitchFamily="50" charset="-127"/>
                <a:cs typeface="Times New Roman" panose="02020603050405020304" pitchFamily="18" charset="0"/>
              </a:rPr>
              <a:t>QA1. Throughput</a:t>
            </a:r>
          </a:p>
          <a:p>
            <a:r>
              <a:rPr lang="en-US" altLang="ko-KR" sz="1050" b="1" dirty="0">
                <a:latin typeface="맑은 고딕" panose="020B0503020000020004" pitchFamily="50" charset="-127"/>
                <a:cs typeface="Times New Roman" panose="02020603050405020304" pitchFamily="18" charset="0"/>
              </a:rPr>
              <a:t>QA2. Resource Efficiency</a:t>
            </a:r>
          </a:p>
          <a:p>
            <a:r>
              <a:rPr lang="en-US" altLang="ko-KR" sz="1050" b="1" dirty="0">
                <a:latin typeface="맑은 고딕" panose="020B0503020000020004" pitchFamily="50" charset="-127"/>
                <a:cs typeface="Times New Roman" panose="02020603050405020304" pitchFamily="18" charset="0"/>
              </a:rPr>
              <a:t>QA4. Scalability</a:t>
            </a:r>
          </a:p>
        </p:txBody>
      </p:sp>
      <p:sp>
        <p:nvSpPr>
          <p:cNvPr id="334" name="직사각형 333">
            <a:extLst>
              <a:ext uri="{FF2B5EF4-FFF2-40B4-BE49-F238E27FC236}">
                <a16:creationId xmlns:a16="http://schemas.microsoft.com/office/drawing/2014/main" id="{1281D8CA-BE80-4341-821F-9E0FBE008879}"/>
              </a:ext>
            </a:extLst>
          </p:cNvPr>
          <p:cNvSpPr/>
          <p:nvPr/>
        </p:nvSpPr>
        <p:spPr>
          <a:xfrm>
            <a:off x="9443551" y="5246253"/>
            <a:ext cx="158966" cy="735995"/>
          </a:xfrm>
          <a:prstGeom prst="rect">
            <a:avLst/>
          </a:prstGeom>
          <a:solidFill>
            <a:schemeClr val="accent6"/>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5" name="직사각형 334">
            <a:extLst>
              <a:ext uri="{FF2B5EF4-FFF2-40B4-BE49-F238E27FC236}">
                <a16:creationId xmlns:a16="http://schemas.microsoft.com/office/drawing/2014/main" id="{73F9068F-D995-4FF3-9F53-6E31967EA48F}"/>
              </a:ext>
            </a:extLst>
          </p:cNvPr>
          <p:cNvSpPr/>
          <p:nvPr/>
        </p:nvSpPr>
        <p:spPr>
          <a:xfrm>
            <a:off x="9789799" y="5447705"/>
            <a:ext cx="1308371" cy="415498"/>
          </a:xfrm>
          <a:prstGeom prst="rect">
            <a:avLst/>
          </a:prstGeom>
        </p:spPr>
        <p:txBody>
          <a:bodyPr wrap="none">
            <a:spAutoFit/>
          </a:bodyPr>
          <a:lstStyle/>
          <a:p>
            <a:r>
              <a:rPr lang="en-US" altLang="ko-KR" sz="1050" b="1" dirty="0">
                <a:latin typeface="맑은 고딕" panose="020B0503020000020004" pitchFamily="50" charset="-127"/>
                <a:cs typeface="Times New Roman" panose="02020603050405020304" pitchFamily="18" charset="0"/>
              </a:rPr>
              <a:t>QA1. Throughput</a:t>
            </a:r>
          </a:p>
          <a:p>
            <a:r>
              <a:rPr lang="en-US" altLang="ko-KR" sz="1050" b="1" dirty="0">
                <a:latin typeface="맑은 고딕" panose="020B0503020000020004" pitchFamily="50" charset="-127"/>
                <a:cs typeface="Times New Roman" panose="02020603050405020304" pitchFamily="18" charset="0"/>
              </a:rPr>
              <a:t>QA5. Scalability</a:t>
            </a:r>
          </a:p>
        </p:txBody>
      </p:sp>
      <p:sp>
        <p:nvSpPr>
          <p:cNvPr id="336" name="직사각형 335">
            <a:extLst>
              <a:ext uri="{FF2B5EF4-FFF2-40B4-BE49-F238E27FC236}">
                <a16:creationId xmlns:a16="http://schemas.microsoft.com/office/drawing/2014/main" id="{AE5B1FAE-5F5C-417C-9BB4-206CA55C7102}"/>
              </a:ext>
            </a:extLst>
          </p:cNvPr>
          <p:cNvSpPr/>
          <p:nvPr/>
        </p:nvSpPr>
        <p:spPr>
          <a:xfrm>
            <a:off x="9580321" y="3937315"/>
            <a:ext cx="1784463" cy="284693"/>
          </a:xfrm>
          <a:prstGeom prst="rect">
            <a:avLst/>
          </a:prstGeom>
        </p:spPr>
        <p:txBody>
          <a:bodyPr wrap="none">
            <a:spAutoFit/>
          </a:bodyPr>
          <a:lstStyle/>
          <a:p>
            <a:r>
              <a:rPr lang="en-GB" altLang="ko-KR" sz="1250" b="1" dirty="0">
                <a:latin typeface="맑은 고딕" panose="020B0503020000020004" pitchFamily="50" charset="-127"/>
                <a:cs typeface="Times New Roman" panose="02020603050405020304" pitchFamily="18" charset="0"/>
              </a:rPr>
              <a:t>DP-3. </a:t>
            </a:r>
            <a:r>
              <a:rPr lang="en-US" altLang="ko-KR" sz="1250" b="1" dirty="0">
                <a:latin typeface="맑은 고딕" panose="020B0503020000020004" pitchFamily="50" charset="-127"/>
                <a:cs typeface="Times New Roman" panose="02020603050405020304" pitchFamily="18" charset="0"/>
              </a:rPr>
              <a:t>KV</a:t>
            </a:r>
            <a:r>
              <a:rPr lang="ko-KR" altLang="en-US" sz="1250" b="1" dirty="0">
                <a:latin typeface="맑은 고딕" panose="020B0503020000020004" pitchFamily="50" charset="-127"/>
                <a:cs typeface="Times New Roman" panose="02020603050405020304" pitchFamily="18" charset="0"/>
              </a:rPr>
              <a:t> 캐시 재사용</a:t>
            </a:r>
            <a:endParaRPr lang="ko-KR" altLang="en-US" sz="1250" b="1" dirty="0"/>
          </a:p>
        </p:txBody>
      </p:sp>
      <p:sp>
        <p:nvSpPr>
          <p:cNvPr id="337" name="직사각형 336">
            <a:extLst>
              <a:ext uri="{FF2B5EF4-FFF2-40B4-BE49-F238E27FC236}">
                <a16:creationId xmlns:a16="http://schemas.microsoft.com/office/drawing/2014/main" id="{208EA886-0989-42C4-8166-A549EF76B8C8}"/>
              </a:ext>
            </a:extLst>
          </p:cNvPr>
          <p:cNvSpPr/>
          <p:nvPr/>
        </p:nvSpPr>
        <p:spPr>
          <a:xfrm>
            <a:off x="9443551" y="3998112"/>
            <a:ext cx="158966" cy="727479"/>
          </a:xfrm>
          <a:prstGeom prst="rect">
            <a:avLst/>
          </a:prstGeom>
          <a:solidFill>
            <a:srgbClr val="7030A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8" name="직사각형 337">
            <a:extLst>
              <a:ext uri="{FF2B5EF4-FFF2-40B4-BE49-F238E27FC236}">
                <a16:creationId xmlns:a16="http://schemas.microsoft.com/office/drawing/2014/main" id="{23AF7D03-F190-46E0-8280-EB1F259562B5}"/>
              </a:ext>
            </a:extLst>
          </p:cNvPr>
          <p:cNvSpPr/>
          <p:nvPr/>
        </p:nvSpPr>
        <p:spPr>
          <a:xfrm>
            <a:off x="9789799" y="4199563"/>
            <a:ext cx="2004075" cy="577081"/>
          </a:xfrm>
          <a:prstGeom prst="rect">
            <a:avLst/>
          </a:prstGeom>
        </p:spPr>
        <p:txBody>
          <a:bodyPr wrap="none">
            <a:spAutoFit/>
          </a:bodyPr>
          <a:lstStyle/>
          <a:p>
            <a:r>
              <a:rPr lang="en-US" altLang="ko-KR" sz="1050" b="1" dirty="0">
                <a:latin typeface="맑은 고딕" panose="020B0503020000020004" pitchFamily="50" charset="-127"/>
                <a:cs typeface="Times New Roman" panose="02020603050405020304" pitchFamily="18" charset="0"/>
              </a:rPr>
              <a:t>QA1. Throughput</a:t>
            </a:r>
          </a:p>
          <a:p>
            <a:r>
              <a:rPr lang="en-US" altLang="ko-KR" sz="1050" b="1" dirty="0">
                <a:latin typeface="맑은 고딕" panose="020B0503020000020004" pitchFamily="50" charset="-127"/>
                <a:cs typeface="Times New Roman" panose="02020603050405020304" pitchFamily="18" charset="0"/>
              </a:rPr>
              <a:t>QA2. Resource Efficiency</a:t>
            </a:r>
          </a:p>
          <a:p>
            <a:r>
              <a:rPr lang="en-US" altLang="ko-KR" sz="1050" b="1" dirty="0">
                <a:latin typeface="맑은 고딕" panose="020B0503020000020004" pitchFamily="50" charset="-127"/>
                <a:cs typeface="Times New Roman" panose="02020603050405020304" pitchFamily="18" charset="0"/>
              </a:rPr>
              <a:t>QA5. Functional Correctness</a:t>
            </a:r>
          </a:p>
        </p:txBody>
      </p:sp>
      <p:sp>
        <p:nvSpPr>
          <p:cNvPr id="340" name="직사각형 339">
            <a:extLst>
              <a:ext uri="{FF2B5EF4-FFF2-40B4-BE49-F238E27FC236}">
                <a16:creationId xmlns:a16="http://schemas.microsoft.com/office/drawing/2014/main" id="{D69D0FCC-FF8F-491B-9315-43C7CB65367D}"/>
              </a:ext>
            </a:extLst>
          </p:cNvPr>
          <p:cNvSpPr/>
          <p:nvPr/>
        </p:nvSpPr>
        <p:spPr>
          <a:xfrm>
            <a:off x="9443551" y="2564262"/>
            <a:ext cx="158966" cy="920278"/>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5" name="직사각형 344">
            <a:extLst>
              <a:ext uri="{FF2B5EF4-FFF2-40B4-BE49-F238E27FC236}">
                <a16:creationId xmlns:a16="http://schemas.microsoft.com/office/drawing/2014/main" id="{DAA2D829-A8F0-4AA4-AC12-D22E2A7F96CF}"/>
              </a:ext>
            </a:extLst>
          </p:cNvPr>
          <p:cNvSpPr/>
          <p:nvPr/>
        </p:nvSpPr>
        <p:spPr>
          <a:xfrm>
            <a:off x="475643" y="3851589"/>
            <a:ext cx="800433" cy="756323"/>
          </a:xfrm>
          <a:prstGeom prst="rect">
            <a:avLst/>
          </a:prstGeom>
          <a:noFill/>
          <a:ln w="28575">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직사각형 346">
            <a:extLst>
              <a:ext uri="{FF2B5EF4-FFF2-40B4-BE49-F238E27FC236}">
                <a16:creationId xmlns:a16="http://schemas.microsoft.com/office/drawing/2014/main" id="{3F0CD0D6-203A-4775-A596-826544A8A24D}"/>
              </a:ext>
            </a:extLst>
          </p:cNvPr>
          <p:cNvSpPr/>
          <p:nvPr/>
        </p:nvSpPr>
        <p:spPr>
          <a:xfrm>
            <a:off x="1782222" y="4749985"/>
            <a:ext cx="2132637" cy="363158"/>
          </a:xfrm>
          <a:prstGeom prst="rect">
            <a:avLst/>
          </a:prstGeom>
          <a:noFill/>
          <a:ln w="28575">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8" name="직사각형 347">
            <a:extLst>
              <a:ext uri="{FF2B5EF4-FFF2-40B4-BE49-F238E27FC236}">
                <a16:creationId xmlns:a16="http://schemas.microsoft.com/office/drawing/2014/main" id="{4E0240E3-9BB8-45A1-901D-C7BBDD61D7A5}"/>
              </a:ext>
            </a:extLst>
          </p:cNvPr>
          <p:cNvSpPr/>
          <p:nvPr/>
        </p:nvSpPr>
        <p:spPr>
          <a:xfrm>
            <a:off x="472272" y="2113876"/>
            <a:ext cx="816203" cy="862360"/>
          </a:xfrm>
          <a:prstGeom prst="rect">
            <a:avLst/>
          </a:prstGeom>
          <a:noFill/>
          <a:ln w="28575">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9" name="직사각형 348">
            <a:extLst>
              <a:ext uri="{FF2B5EF4-FFF2-40B4-BE49-F238E27FC236}">
                <a16:creationId xmlns:a16="http://schemas.microsoft.com/office/drawing/2014/main" id="{CF1A6EA5-52FC-408F-9AEE-45B9AE0F6533}"/>
              </a:ext>
            </a:extLst>
          </p:cNvPr>
          <p:cNvSpPr/>
          <p:nvPr/>
        </p:nvSpPr>
        <p:spPr>
          <a:xfrm>
            <a:off x="3014145" y="2126062"/>
            <a:ext cx="4716603" cy="427114"/>
          </a:xfrm>
          <a:prstGeom prst="rect">
            <a:avLst/>
          </a:prstGeom>
          <a:noFill/>
          <a:ln w="28575">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2" name="직사각형 351">
            <a:extLst>
              <a:ext uri="{FF2B5EF4-FFF2-40B4-BE49-F238E27FC236}">
                <a16:creationId xmlns:a16="http://schemas.microsoft.com/office/drawing/2014/main" id="{0C5C70F7-44D1-43D1-A8AF-4039F97A9E41}"/>
              </a:ext>
            </a:extLst>
          </p:cNvPr>
          <p:cNvSpPr/>
          <p:nvPr/>
        </p:nvSpPr>
        <p:spPr>
          <a:xfrm>
            <a:off x="6730524" y="3645269"/>
            <a:ext cx="973051" cy="332911"/>
          </a:xfrm>
          <a:prstGeom prst="rect">
            <a:avLst/>
          </a:prstGeom>
          <a:noFill/>
          <a:ln w="28575">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61" name="그룹 360">
            <a:extLst>
              <a:ext uri="{FF2B5EF4-FFF2-40B4-BE49-F238E27FC236}">
                <a16:creationId xmlns:a16="http://schemas.microsoft.com/office/drawing/2014/main" id="{06DA6039-4915-48F7-957C-53BD25C4DECF}"/>
              </a:ext>
            </a:extLst>
          </p:cNvPr>
          <p:cNvGrpSpPr/>
          <p:nvPr/>
        </p:nvGrpSpPr>
        <p:grpSpPr>
          <a:xfrm>
            <a:off x="397988" y="5150460"/>
            <a:ext cx="723464" cy="740401"/>
            <a:chOff x="430412" y="5447854"/>
            <a:chExt cx="723464" cy="740401"/>
          </a:xfrm>
        </p:grpSpPr>
        <p:sp>
          <p:nvSpPr>
            <p:cNvPr id="355" name="직사각형 354">
              <a:extLst>
                <a:ext uri="{FF2B5EF4-FFF2-40B4-BE49-F238E27FC236}">
                  <a16:creationId xmlns:a16="http://schemas.microsoft.com/office/drawing/2014/main" id="{B0887197-F49B-407F-901A-7A4FBA359060}"/>
                </a:ext>
              </a:extLst>
            </p:cNvPr>
            <p:cNvSpPr/>
            <p:nvPr/>
          </p:nvSpPr>
          <p:spPr>
            <a:xfrm>
              <a:off x="494022" y="5942887"/>
              <a:ext cx="604385" cy="245368"/>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700" b="1" dirty="0">
                  <a:solidFill>
                    <a:schemeClr val="tx1"/>
                  </a:solidFill>
                </a:rPr>
                <a:t>신규</a:t>
              </a:r>
              <a:r>
                <a:rPr lang="en-US" altLang="ko-KR" sz="700" b="1" dirty="0">
                  <a:solidFill>
                    <a:schemeClr val="tx1"/>
                  </a:solidFill>
                </a:rPr>
                <a:t>/</a:t>
              </a:r>
              <a:r>
                <a:rPr lang="ko-KR" altLang="en-US" sz="700" b="1" dirty="0">
                  <a:solidFill>
                    <a:schemeClr val="tx1"/>
                  </a:solidFill>
                </a:rPr>
                <a:t>수정 </a:t>
              </a:r>
              <a:r>
                <a:rPr lang="en-US" altLang="ko-KR" sz="700" b="1" dirty="0">
                  <a:solidFill>
                    <a:schemeClr val="tx1"/>
                  </a:solidFill>
                </a:rPr>
                <a:t>Module</a:t>
              </a:r>
              <a:endParaRPr lang="ko-KR" altLang="en-US" sz="700" b="1" dirty="0">
                <a:solidFill>
                  <a:schemeClr val="tx1"/>
                </a:solidFill>
              </a:endParaRPr>
            </a:p>
          </p:txBody>
        </p:sp>
        <p:sp>
          <p:nvSpPr>
            <p:cNvPr id="356" name="직사각형 355">
              <a:extLst>
                <a:ext uri="{FF2B5EF4-FFF2-40B4-BE49-F238E27FC236}">
                  <a16:creationId xmlns:a16="http://schemas.microsoft.com/office/drawing/2014/main" id="{BFDBEC6B-6081-4054-B9CA-60DE32E87723}"/>
                </a:ext>
              </a:extLst>
            </p:cNvPr>
            <p:cNvSpPr/>
            <p:nvPr/>
          </p:nvSpPr>
          <p:spPr>
            <a:xfrm>
              <a:off x="494022" y="5655547"/>
              <a:ext cx="604385" cy="245368"/>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700" b="1" dirty="0">
                  <a:solidFill>
                    <a:schemeClr val="tx1"/>
                  </a:solidFill>
                </a:rPr>
                <a:t>기존 </a:t>
              </a:r>
              <a:r>
                <a:rPr lang="en-US" altLang="ko-KR" sz="700" b="1" dirty="0">
                  <a:solidFill>
                    <a:schemeClr val="tx1"/>
                  </a:solidFill>
                </a:rPr>
                <a:t>Module</a:t>
              </a:r>
              <a:endParaRPr lang="ko-KR" altLang="en-US" sz="700" b="1" dirty="0">
                <a:solidFill>
                  <a:schemeClr val="tx1"/>
                </a:solidFill>
              </a:endParaRPr>
            </a:p>
          </p:txBody>
        </p:sp>
        <p:sp>
          <p:nvSpPr>
            <p:cNvPr id="360" name="TextBox 359">
              <a:extLst>
                <a:ext uri="{FF2B5EF4-FFF2-40B4-BE49-F238E27FC236}">
                  <a16:creationId xmlns:a16="http://schemas.microsoft.com/office/drawing/2014/main" id="{D556D070-02D8-4D33-BFD9-7FFF7C31D0BB}"/>
                </a:ext>
              </a:extLst>
            </p:cNvPr>
            <p:cNvSpPr txBox="1"/>
            <p:nvPr/>
          </p:nvSpPr>
          <p:spPr>
            <a:xfrm>
              <a:off x="430412" y="5447854"/>
              <a:ext cx="723464" cy="215444"/>
            </a:xfrm>
            <a:prstGeom prst="rect">
              <a:avLst/>
            </a:prstGeom>
            <a:noFill/>
          </p:spPr>
          <p:txBody>
            <a:bodyPr wrap="square" rtlCol="0">
              <a:spAutoFit/>
            </a:bodyPr>
            <a:lstStyle/>
            <a:p>
              <a:pPr algn="ctr"/>
              <a:r>
                <a:rPr lang="en-US" altLang="ko-KR" sz="800" b="1" dirty="0"/>
                <a:t>Legend</a:t>
              </a:r>
              <a:endParaRPr lang="ko-KR" altLang="en-US" sz="800" b="1" dirty="0"/>
            </a:p>
          </p:txBody>
        </p:sp>
      </p:grpSp>
      <p:sp>
        <p:nvSpPr>
          <p:cNvPr id="363" name="직사각형 362">
            <a:extLst>
              <a:ext uri="{FF2B5EF4-FFF2-40B4-BE49-F238E27FC236}">
                <a16:creationId xmlns:a16="http://schemas.microsoft.com/office/drawing/2014/main" id="{AD051C3C-12D8-42BB-9F55-991CB6F616BC}"/>
              </a:ext>
            </a:extLst>
          </p:cNvPr>
          <p:cNvSpPr/>
          <p:nvPr/>
        </p:nvSpPr>
        <p:spPr>
          <a:xfrm>
            <a:off x="8315940" y="3243336"/>
            <a:ext cx="793194" cy="1608456"/>
          </a:xfrm>
          <a:prstGeom prst="rect">
            <a:avLst/>
          </a:prstGeom>
          <a:noFill/>
          <a:ln w="28575">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5" name="직사각형 364">
            <a:extLst>
              <a:ext uri="{FF2B5EF4-FFF2-40B4-BE49-F238E27FC236}">
                <a16:creationId xmlns:a16="http://schemas.microsoft.com/office/drawing/2014/main" id="{31F9289C-89E3-4569-8CB1-A50BCE19B7AD}"/>
              </a:ext>
            </a:extLst>
          </p:cNvPr>
          <p:cNvSpPr/>
          <p:nvPr/>
        </p:nvSpPr>
        <p:spPr>
          <a:xfrm>
            <a:off x="4350418" y="3982949"/>
            <a:ext cx="899880" cy="392969"/>
          </a:xfrm>
          <a:prstGeom prst="rect">
            <a:avLst/>
          </a:prstGeom>
          <a:noFill/>
          <a:ln w="28575">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8" name="직사각형 367">
            <a:extLst>
              <a:ext uri="{FF2B5EF4-FFF2-40B4-BE49-F238E27FC236}">
                <a16:creationId xmlns:a16="http://schemas.microsoft.com/office/drawing/2014/main" id="{E81D811F-D865-44DE-B588-B672A5ED15C9}"/>
              </a:ext>
            </a:extLst>
          </p:cNvPr>
          <p:cNvSpPr/>
          <p:nvPr/>
        </p:nvSpPr>
        <p:spPr>
          <a:xfrm>
            <a:off x="504341" y="4688629"/>
            <a:ext cx="731306" cy="296896"/>
          </a:xfrm>
          <a:prstGeom prst="rect">
            <a:avLst/>
          </a:prstGeom>
          <a:solidFill>
            <a:schemeClr val="accent4">
              <a:lumMod val="20000"/>
              <a:lumOff val="8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700" b="1" dirty="0">
                <a:solidFill>
                  <a:schemeClr val="tx1"/>
                </a:solidFill>
              </a:rPr>
              <a:t>KV Index</a:t>
            </a:r>
          </a:p>
          <a:p>
            <a:pPr algn="ctr"/>
            <a:r>
              <a:rPr lang="en-US" altLang="ko-KR" sz="700" b="1" dirty="0">
                <a:solidFill>
                  <a:schemeClr val="tx1"/>
                </a:solidFill>
              </a:rPr>
              <a:t>Manager</a:t>
            </a:r>
            <a:endParaRPr lang="ko-KR" altLang="en-US" sz="700" b="1" dirty="0">
              <a:solidFill>
                <a:schemeClr val="tx1"/>
              </a:solidFill>
            </a:endParaRPr>
          </a:p>
        </p:txBody>
      </p:sp>
      <p:sp>
        <p:nvSpPr>
          <p:cNvPr id="369" name="직사각형 368">
            <a:extLst>
              <a:ext uri="{FF2B5EF4-FFF2-40B4-BE49-F238E27FC236}">
                <a16:creationId xmlns:a16="http://schemas.microsoft.com/office/drawing/2014/main" id="{C1ECC368-8C00-47A3-B150-B92406C5E7BE}"/>
              </a:ext>
            </a:extLst>
          </p:cNvPr>
          <p:cNvSpPr/>
          <p:nvPr/>
        </p:nvSpPr>
        <p:spPr>
          <a:xfrm>
            <a:off x="461216" y="4670621"/>
            <a:ext cx="818835" cy="362304"/>
          </a:xfrm>
          <a:prstGeom prst="rect">
            <a:avLst/>
          </a:prstGeom>
          <a:noFill/>
          <a:ln w="28575">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0" name="직사각형 369">
            <a:extLst>
              <a:ext uri="{FF2B5EF4-FFF2-40B4-BE49-F238E27FC236}">
                <a16:creationId xmlns:a16="http://schemas.microsoft.com/office/drawing/2014/main" id="{8BD2194C-80C8-4765-9FEB-D972CEECD1A7}"/>
              </a:ext>
            </a:extLst>
          </p:cNvPr>
          <p:cNvSpPr/>
          <p:nvPr/>
        </p:nvSpPr>
        <p:spPr>
          <a:xfrm>
            <a:off x="392299" y="4639683"/>
            <a:ext cx="939880" cy="448181"/>
          </a:xfrm>
          <a:prstGeom prst="rect">
            <a:avLst/>
          </a:prstGeom>
          <a:noFill/>
          <a:ln w="28575">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3" name="직사각형 142">
            <a:extLst>
              <a:ext uri="{FF2B5EF4-FFF2-40B4-BE49-F238E27FC236}">
                <a16:creationId xmlns:a16="http://schemas.microsoft.com/office/drawing/2014/main" id="{8BD2194C-80C8-4765-9FEB-D972CEECD1A7}"/>
              </a:ext>
            </a:extLst>
          </p:cNvPr>
          <p:cNvSpPr/>
          <p:nvPr/>
        </p:nvSpPr>
        <p:spPr>
          <a:xfrm>
            <a:off x="1785381" y="4358738"/>
            <a:ext cx="2129478" cy="1119917"/>
          </a:xfrm>
          <a:prstGeom prst="rect">
            <a:avLst/>
          </a:prstGeom>
          <a:noFill/>
          <a:ln w="28575">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839720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최종 구조 설계 – 전체 Class Diagram (1/3) 요청 조율·실행 위치 결정</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17</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21792"/>
            <a:ext cx="8138160" cy="329184"/>
          </a:xfrm>
          <a:prstGeom prst="rect">
            <a:avLst/>
          </a:prstGeom>
          <a:noFill/>
        </p:spPr>
        <p:txBody>
          <a:bodyPr wrap="square" lIns="36576" tIns="18288" rIns="36576" bIns="18288" anchor="ctr">
            <a:spAutoFit/>
          </a:bodyPr>
          <a:lstStyle/>
          <a:p>
            <a:pPr algn="l">
              <a:spcAft>
                <a:spcPts val="0"/>
              </a:spcAft>
            </a:pPr>
            <a:r>
              <a:rPr sz="1100" b="1" i="0">
                <a:solidFill>
                  <a:srgbClr val="FFFFFF"/>
                </a:solidFill>
                <a:latin typeface="맑은 고딕"/>
                <a:ea typeface="맑은 고딕"/>
                <a:cs typeface="맑은 고딕"/>
              </a:rPr>
              <a:t>Request Orchestrator + Inference Engine — DP2: 사전 계획(Plan) + 저비용 검증(Decision)</a:t>
            </a:r>
          </a:p>
        </p:txBody>
      </p:sp>
      <p:sp>
        <p:nvSpPr>
          <p:cNvPr id="8" name="Rectangle 7"/>
          <p:cNvSpPr/>
          <p:nvPr/>
        </p:nvSpPr>
        <p:spPr>
          <a:xfrm>
            <a:off x="320040" y="1188720"/>
            <a:ext cx="1874519"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EngineCore</a:t>
            </a:r>
          </a:p>
        </p:txBody>
      </p:sp>
      <p:sp>
        <p:nvSpPr>
          <p:cNvPr id="9" name="Rectangle 8"/>
          <p:cNvSpPr/>
          <p:nvPr/>
        </p:nvSpPr>
        <p:spPr>
          <a:xfrm>
            <a:off x="320040" y="1371600"/>
            <a:ext cx="1874519"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scheduler: Scheduler</a:t>
            </a:r>
          </a:p>
          <a:p>
            <a:pPr algn="l">
              <a:spcAft>
                <a:spcPts val="0"/>
              </a:spcAft>
            </a:pPr>
            <a:r>
              <a:rPr sz="650" b="0" i="0">
                <a:solidFill>
                  <a:srgbClr val="000000"/>
                </a:solidFill>
                <a:latin typeface="맑은 고딕"/>
                <a:ea typeface="맑은 고딕"/>
                <a:cs typeface="맑은 고딕"/>
              </a:rPr>
              <a:t>model_executor: Executor</a:t>
            </a:r>
          </a:p>
        </p:txBody>
      </p:sp>
      <p:sp>
        <p:nvSpPr>
          <p:cNvPr id="10" name="Rectangle 9"/>
          <p:cNvSpPr/>
          <p:nvPr/>
        </p:nvSpPr>
        <p:spPr>
          <a:xfrm>
            <a:off x="320040" y="1633118"/>
            <a:ext cx="1874519"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step() / step_with_batch_queue()</a:t>
            </a:r>
          </a:p>
          <a:p>
            <a:pPr algn="l">
              <a:spcAft>
                <a:spcPts val="0"/>
              </a:spcAft>
            </a:pPr>
            <a:r>
              <a:rPr sz="650" b="0" i="0">
                <a:solidFill>
                  <a:srgbClr val="000000"/>
                </a:solidFill>
                <a:latin typeface="맑은 고딕"/>
                <a:ea typeface="맑은 고딕"/>
                <a:cs typeface="맑은 고딕"/>
              </a:rPr>
              <a:t>add_request(request)</a:t>
            </a:r>
          </a:p>
        </p:txBody>
      </p:sp>
      <p:sp>
        <p:nvSpPr>
          <p:cNvPr id="11" name="Rectangle 10"/>
          <p:cNvSpPr/>
          <p:nvPr/>
        </p:nvSpPr>
        <p:spPr>
          <a:xfrm>
            <a:off x="2670048" y="118872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12" name="Rectangle 11"/>
          <p:cNvSpPr/>
          <p:nvPr/>
        </p:nvSpPr>
        <p:spPr>
          <a:xfrm>
            <a:off x="2670048" y="1371600"/>
            <a:ext cx="1874519" cy="477316"/>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kv_cache_manager: KVCacheManager</a:t>
            </a:r>
          </a:p>
          <a:p>
            <a:pPr algn="l">
              <a:spcAft>
                <a:spcPts val="0"/>
              </a:spcAft>
            </a:pPr>
            <a:r>
              <a:rPr sz="650" b="0" i="0">
                <a:solidFill>
                  <a:srgbClr val="000000"/>
                </a:solidFill>
                <a:latin typeface="맑은 고딕"/>
                <a:ea typeface="맑은 고딕"/>
                <a:cs typeface="맑은 고딕"/>
              </a:rPr>
              <a:t>kv_connector: KVConnectorBase_V1</a:t>
            </a:r>
          </a:p>
          <a:p>
            <a:pPr algn="l">
              <a:spcAft>
                <a:spcPts val="0"/>
              </a:spcAft>
            </a:pPr>
            <a:r>
              <a:rPr sz="650" b="0" i="0">
                <a:solidFill>
                  <a:srgbClr val="000000"/>
                </a:solidFill>
                <a:latin typeface="맑은 고딕"/>
                <a:ea typeface="맑은 고딕"/>
                <a:cs typeface="맑은 고딕"/>
              </a:rPr>
              <a:t>planner: ExecutionPlanner</a:t>
            </a:r>
          </a:p>
          <a:p>
            <a:pPr algn="l">
              <a:spcAft>
                <a:spcPts val="0"/>
              </a:spcAft>
            </a:pPr>
            <a:r>
              <a:rPr sz="650" b="0" i="0">
                <a:solidFill>
                  <a:srgbClr val="000000"/>
                </a:solidFill>
                <a:latin typeface="맑은 고딕"/>
                <a:ea typeface="맑은 고딕"/>
                <a:cs typeface="맑은 고딕"/>
              </a:rPr>
              <a:t>plan_validator: PlanLookupValidator</a:t>
            </a:r>
          </a:p>
        </p:txBody>
      </p:sp>
      <p:sp>
        <p:nvSpPr>
          <p:cNvPr id="13" name="Rectangle 12"/>
          <p:cNvSpPr/>
          <p:nvPr/>
        </p:nvSpPr>
        <p:spPr>
          <a:xfrm>
            <a:off x="2670048" y="1848916"/>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 SchedulerOutput</a:t>
            </a:r>
          </a:p>
          <a:p>
            <a:pPr algn="l">
              <a:spcAft>
                <a:spcPts val="0"/>
              </a:spcAft>
            </a:pPr>
            <a:r>
              <a:rPr sz="650" b="0" i="0">
                <a:solidFill>
                  <a:srgbClr val="000000"/>
                </a:solidFill>
                <a:latin typeface="맑은 고딕"/>
                <a:ea typeface="맑은 고딕"/>
                <a:cs typeface="맑은 고딕"/>
              </a:rPr>
              <a:t>update_from_output(...)</a:t>
            </a:r>
          </a:p>
        </p:txBody>
      </p:sp>
      <p:sp>
        <p:nvSpPr>
          <p:cNvPr id="14" name="Rectangle 13"/>
          <p:cNvSpPr/>
          <p:nvPr/>
        </p:nvSpPr>
        <p:spPr>
          <a:xfrm>
            <a:off x="5020055" y="118872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SchedulerOutput</a:t>
            </a:r>
          </a:p>
        </p:txBody>
      </p:sp>
      <p:sp>
        <p:nvSpPr>
          <p:cNvPr id="15" name="Rectangle 14"/>
          <p:cNvSpPr/>
          <p:nvPr/>
        </p:nvSpPr>
        <p:spPr>
          <a:xfrm>
            <a:off x="5020055" y="1371600"/>
            <a:ext cx="1874519" cy="477316"/>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scheduled_new_reqs</a:t>
            </a:r>
          </a:p>
          <a:p>
            <a:pPr algn="l">
              <a:spcAft>
                <a:spcPts val="0"/>
              </a:spcAft>
            </a:pPr>
            <a:r>
              <a:rPr sz="650" b="0" i="0">
                <a:solidFill>
                  <a:srgbClr val="000000"/>
                </a:solidFill>
                <a:latin typeface="맑은 고딕"/>
                <a:ea typeface="맑은 고딕"/>
                <a:cs typeface="맑은 고딕"/>
              </a:rPr>
              <a:t>scheduled_cached_reqs</a:t>
            </a:r>
          </a:p>
          <a:p>
            <a:pPr algn="l">
              <a:spcAft>
                <a:spcPts val="0"/>
              </a:spcAft>
            </a:pPr>
            <a:r>
              <a:rPr sz="650" b="0" i="0">
                <a:solidFill>
                  <a:srgbClr val="000000"/>
                </a:solidFill>
                <a:latin typeface="맑은 고딕"/>
                <a:ea typeface="맑은 고딕"/>
                <a:cs typeface="맑은 고딕"/>
              </a:rPr>
              <a:t>kv_connector_metadata</a:t>
            </a:r>
          </a:p>
          <a:p>
            <a:pPr algn="l">
              <a:spcAft>
                <a:spcPts val="0"/>
              </a:spcAft>
            </a:pPr>
            <a:r>
              <a:rPr sz="650" b="0" i="0">
                <a:solidFill>
                  <a:srgbClr val="000000"/>
                </a:solidFill>
                <a:latin typeface="맑은 고딕"/>
                <a:ea typeface="맑은 고딕"/>
                <a:cs typeface="맑은 고딕"/>
              </a:rPr>
              <a:t>execution_plans: list[ExecutionPlan]</a:t>
            </a:r>
          </a:p>
        </p:txBody>
      </p:sp>
      <p:sp>
        <p:nvSpPr>
          <p:cNvPr id="16" name="Rectangle 15"/>
          <p:cNvSpPr/>
          <p:nvPr/>
        </p:nvSpPr>
        <p:spPr>
          <a:xfrm>
            <a:off x="5020055" y="1848916"/>
            <a:ext cx="1874519"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70063" y="1188720"/>
            <a:ext cx="1874519"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«abstract»</a:t>
            </a:r>
          </a:p>
          <a:p>
            <a:pPr algn="ctr">
              <a:spcAft>
                <a:spcPts val="0"/>
              </a:spcAft>
            </a:pPr>
            <a:r>
              <a:rPr sz="750" b="1" i="0">
                <a:solidFill>
                  <a:srgbClr val="000000"/>
                </a:solidFill>
                <a:latin typeface="맑은 고딕"/>
                <a:ea typeface="맑은 고딕"/>
                <a:cs typeface="맑은 고딕"/>
              </a:rPr>
              <a:t>Executor</a:t>
            </a:r>
          </a:p>
        </p:txBody>
      </p:sp>
      <p:sp>
        <p:nvSpPr>
          <p:cNvPr id="18" name="Rectangle 17"/>
          <p:cNvSpPr/>
          <p:nvPr/>
        </p:nvSpPr>
        <p:spPr>
          <a:xfrm>
            <a:off x="7370063" y="1463040"/>
            <a:ext cx="1874519"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370063" y="150876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execute_model(SchedulerOutput)</a:t>
            </a:r>
          </a:p>
          <a:p>
            <a:pPr algn="l">
              <a:spcAft>
                <a:spcPts val="0"/>
              </a:spcAft>
            </a:pPr>
            <a:r>
              <a:rPr sz="650" b="0" i="0">
                <a:solidFill>
                  <a:srgbClr val="000000"/>
                </a:solidFill>
                <a:latin typeface="맑은 고딕"/>
                <a:ea typeface="맑은 고딕"/>
                <a:cs typeface="맑은 고딕"/>
              </a:rPr>
              <a:t>collective_rpc(method, args)</a:t>
            </a:r>
          </a:p>
        </p:txBody>
      </p:sp>
      <p:sp>
        <p:nvSpPr>
          <p:cNvPr id="20" name="Rectangle 19"/>
          <p:cNvSpPr/>
          <p:nvPr/>
        </p:nvSpPr>
        <p:spPr>
          <a:xfrm>
            <a:off x="9720072" y="1188720"/>
            <a:ext cx="1874519"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Worker</a:t>
            </a:r>
          </a:p>
        </p:txBody>
      </p:sp>
      <p:sp>
        <p:nvSpPr>
          <p:cNvPr id="21" name="Rectangle 20"/>
          <p:cNvSpPr/>
          <p:nvPr/>
        </p:nvSpPr>
        <p:spPr>
          <a:xfrm>
            <a:off x="9720072" y="1371600"/>
            <a:ext cx="1874519"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model_runner: GPUModelRunner</a:t>
            </a:r>
          </a:p>
        </p:txBody>
      </p:sp>
      <p:sp>
        <p:nvSpPr>
          <p:cNvPr id="22" name="Rectangle 21"/>
          <p:cNvSpPr/>
          <p:nvPr/>
        </p:nvSpPr>
        <p:spPr>
          <a:xfrm>
            <a:off x="9720072" y="1525219"/>
            <a:ext cx="1874519"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execute_model(...)</a:t>
            </a:r>
          </a:p>
          <a:p>
            <a:pPr algn="l">
              <a:spcAft>
                <a:spcPts val="0"/>
              </a:spcAft>
            </a:pPr>
            <a:r>
              <a:rPr sz="650" b="0" i="0">
                <a:solidFill>
                  <a:srgbClr val="000000"/>
                </a:solidFill>
                <a:latin typeface="맑은 고딕"/>
                <a:ea typeface="맑은 고딕"/>
                <a:cs typeface="맑은 고딕"/>
              </a:rPr>
              <a:t>sample_tokens(...)</a:t>
            </a:r>
          </a:p>
        </p:txBody>
      </p:sp>
      <p:sp>
        <p:nvSpPr>
          <p:cNvPr id="23" name="Rectangle 22"/>
          <p:cNvSpPr/>
          <p:nvPr/>
        </p:nvSpPr>
        <p:spPr>
          <a:xfrm>
            <a:off x="320040"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ExecutionPlanner</a:t>
            </a:r>
          </a:p>
        </p:txBody>
      </p:sp>
      <p:sp>
        <p:nvSpPr>
          <p:cNvPr id="24" name="Rectangle 23"/>
          <p:cNvSpPr/>
          <p:nvPr/>
        </p:nvSpPr>
        <p:spPr>
          <a:xfrm>
            <a:off x="320040" y="269748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cost_evaluator: CostEvaluator</a:t>
            </a:r>
          </a:p>
          <a:p>
            <a:pPr algn="l">
              <a:spcAft>
                <a:spcPts val="0"/>
              </a:spcAft>
            </a:pPr>
            <a:r>
              <a:rPr sz="650" b="0" i="0">
                <a:solidFill>
                  <a:srgbClr val="000000"/>
                </a:solidFill>
                <a:latin typeface="맑은 고딕"/>
                <a:ea typeface="맑은 고딕"/>
                <a:cs typeface="맑은 고딕"/>
              </a:rPr>
              <a:t>publisher: PlanPublisher</a:t>
            </a:r>
          </a:p>
        </p:txBody>
      </p:sp>
      <p:sp>
        <p:nvSpPr>
          <p:cNvPr id="25" name="Rectangle 24"/>
          <p:cNvSpPr/>
          <p:nvPr/>
        </p:nvSpPr>
        <p:spPr>
          <a:xfrm>
            <a:off x="320040" y="2958998"/>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plan(ctx): ExecutionPlan</a:t>
            </a:r>
          </a:p>
          <a:p>
            <a:pPr algn="l">
              <a:spcAft>
                <a:spcPts val="0"/>
              </a:spcAft>
            </a:pPr>
            <a:r>
              <a:rPr sz="650" b="0" i="0">
                <a:solidFill>
                  <a:srgbClr val="000000"/>
                </a:solidFill>
                <a:latin typeface="맑은 고딕"/>
                <a:ea typeface="맑은 고딕"/>
                <a:cs typeface="맑은 고딕"/>
              </a:rPr>
              <a:t>replan(ctx, state): ExecutionPlan</a:t>
            </a:r>
          </a:p>
          <a:p>
            <a:pPr algn="l">
              <a:spcAft>
                <a:spcPts val="0"/>
              </a:spcAft>
            </a:pPr>
            <a:r>
              <a:rPr sz="650" b="0" i="0">
                <a:solidFill>
                  <a:srgbClr val="000000"/>
                </a:solidFill>
                <a:latin typeface="맑은 고딕"/>
                <a:ea typeface="맑은 고딕"/>
                <a:cs typeface="맑은 고딕"/>
              </a:rPr>
              <a:t>plan_window(W, k)  // 구간 조회 폭</a:t>
            </a:r>
          </a:p>
        </p:txBody>
      </p:sp>
      <p:sp>
        <p:nvSpPr>
          <p:cNvPr id="26" name="Rectangle 25"/>
          <p:cNvSpPr/>
          <p:nvPr/>
        </p:nvSpPr>
        <p:spPr>
          <a:xfrm>
            <a:off x="2670048"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PlanLookupValidator</a:t>
            </a:r>
          </a:p>
        </p:txBody>
      </p:sp>
      <p:sp>
        <p:nvSpPr>
          <p:cNvPr id="27" name="Rectangle 26"/>
          <p:cNvSpPr/>
          <p:nvPr/>
        </p:nvSpPr>
        <p:spPr>
          <a:xfrm>
            <a:off x="2670048" y="26974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max_plan_age: W × avg_service_time</a:t>
            </a:r>
          </a:p>
        </p:txBody>
      </p:sp>
      <p:sp>
        <p:nvSpPr>
          <p:cNvPr id="28" name="Rectangle 27"/>
          <p:cNvSpPr/>
          <p:nvPr/>
        </p:nvSpPr>
        <p:spPr>
          <a:xfrm>
            <a:off x="2670048" y="2851099"/>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lookup(request_id): ExecutionPlan</a:t>
            </a:r>
          </a:p>
          <a:p>
            <a:pPr algn="l">
              <a:spcAft>
                <a:spcPts val="0"/>
              </a:spcAft>
            </a:pPr>
            <a:r>
              <a:rPr sz="650" b="0" i="0">
                <a:solidFill>
                  <a:srgbClr val="000000"/>
                </a:solidFill>
                <a:latin typeface="맑은 고딕"/>
                <a:ea typeface="맑은 고딕"/>
                <a:cs typeface="맑은 고딕"/>
              </a:rPr>
              <a:t>validate(plan, state): bool</a:t>
            </a:r>
          </a:p>
          <a:p>
            <a:pPr algn="l">
              <a:spcAft>
                <a:spcPts val="0"/>
              </a:spcAft>
            </a:pPr>
            <a:r>
              <a:rPr sz="650" b="0" i="0">
                <a:solidFill>
                  <a:srgbClr val="000000"/>
                </a:solidFill>
                <a:latin typeface="맑은 고딕"/>
                <a:ea typeface="맑은 고딕"/>
                <a:cs typeface="맑은 고딕"/>
              </a:rPr>
              <a:t>next_candidate(plan, k)</a:t>
            </a:r>
          </a:p>
        </p:txBody>
      </p:sp>
      <p:sp>
        <p:nvSpPr>
          <p:cNvPr id="29" name="Rectangle 28"/>
          <p:cNvSpPr/>
          <p:nvPr/>
        </p:nvSpPr>
        <p:spPr>
          <a:xfrm>
            <a:off x="5020055"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a:t>
            </a:r>
          </a:p>
        </p:txBody>
      </p:sp>
      <p:sp>
        <p:nvSpPr>
          <p:cNvPr id="30" name="Rectangle 29"/>
          <p:cNvSpPr/>
          <p:nvPr/>
        </p:nvSpPr>
        <p:spPr>
          <a:xfrm>
            <a:off x="5020055" y="2697480"/>
            <a:ext cx="1874519" cy="585216"/>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prefill_resource</a:t>
            </a:r>
          </a:p>
          <a:p>
            <a:pPr algn="l">
              <a:spcAft>
                <a:spcPts val="0"/>
              </a:spcAft>
            </a:pPr>
            <a:r>
              <a:rPr sz="650" b="0" i="0">
                <a:solidFill>
                  <a:srgbClr val="000000"/>
                </a:solidFill>
                <a:latin typeface="맑은 고딕"/>
                <a:ea typeface="맑은 고딕"/>
                <a:cs typeface="맑은 고딕"/>
              </a:rPr>
              <a:t>decode_start_resource</a:t>
            </a:r>
          </a:p>
          <a:p>
            <a:pPr algn="l">
              <a:spcAft>
                <a:spcPts val="0"/>
              </a:spcAft>
            </a:pPr>
            <a:r>
              <a:rPr sz="650" b="0" i="0">
                <a:solidFill>
                  <a:srgbClr val="000000"/>
                </a:solidFill>
                <a:latin typeface="맑은 고딕"/>
                <a:ea typeface="맑은 고딕"/>
                <a:cs typeface="맑은 고딕"/>
              </a:rPr>
              <a:t>candidates: list (1순위..k)</a:t>
            </a:r>
          </a:p>
          <a:p>
            <a:pPr algn="l">
              <a:spcAft>
                <a:spcPts val="0"/>
              </a:spcAft>
            </a:pPr>
            <a:r>
              <a:rPr sz="650" b="0" i="0">
                <a:solidFill>
                  <a:srgbClr val="000000"/>
                </a:solidFill>
                <a:latin typeface="맑은 고딕"/>
                <a:ea typeface="맑은 고딕"/>
                <a:cs typeface="맑은 고딕"/>
              </a:rPr>
              <a:t>data_moves</a:t>
            </a:r>
          </a:p>
          <a:p>
            <a:pPr algn="l">
              <a:spcAft>
                <a:spcPts val="0"/>
              </a:spcAft>
            </a:pPr>
            <a:r>
              <a:rPr sz="650" b="0" i="0">
                <a:solidFill>
                  <a:srgbClr val="000000"/>
                </a:solidFill>
                <a:latin typeface="맑은 고딕"/>
                <a:ea typeface="맑은 고딕"/>
                <a:cs typeface="맑은 고딕"/>
              </a:rPr>
              <a:t>planned_at: timestamp</a:t>
            </a:r>
          </a:p>
        </p:txBody>
      </p:sp>
      <p:sp>
        <p:nvSpPr>
          <p:cNvPr id="31" name="Rectangle 30"/>
          <p:cNvSpPr/>
          <p:nvPr/>
        </p:nvSpPr>
        <p:spPr>
          <a:xfrm>
            <a:off x="5020055" y="3282696"/>
            <a:ext cx="1874519"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7370063"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ExecutionRouter</a:t>
            </a:r>
          </a:p>
        </p:txBody>
      </p:sp>
      <p:sp>
        <p:nvSpPr>
          <p:cNvPr id="33" name="Rectangle 32"/>
          <p:cNvSpPr/>
          <p:nvPr/>
        </p:nvSpPr>
        <p:spPr>
          <a:xfrm>
            <a:off x="7370063" y="26974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workers: dict[resource_id, Worker]</a:t>
            </a:r>
          </a:p>
        </p:txBody>
      </p:sp>
      <p:sp>
        <p:nvSpPr>
          <p:cNvPr id="34" name="Rectangle 33"/>
          <p:cNvSpPr/>
          <p:nvPr/>
        </p:nvSpPr>
        <p:spPr>
          <a:xfrm>
            <a:off x="7370063" y="285109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dispatch(plan, SchedulerOutput)</a:t>
            </a:r>
          </a:p>
          <a:p>
            <a:pPr algn="l">
              <a:spcAft>
                <a:spcPts val="0"/>
              </a:spcAft>
            </a:pPr>
            <a:r>
              <a:rPr sz="650" b="0" i="0">
                <a:solidFill>
                  <a:srgbClr val="000000"/>
                </a:solidFill>
                <a:latin typeface="맑은 고딕"/>
                <a:ea typeface="맑은 고딕"/>
                <a:cs typeface="맑은 고딕"/>
              </a:rPr>
              <a:t>fallback(plan)</a:t>
            </a:r>
          </a:p>
        </p:txBody>
      </p:sp>
      <p:sp>
        <p:nvSpPr>
          <p:cNvPr id="35" name="Rectangle 34"/>
          <p:cNvSpPr/>
          <p:nvPr/>
        </p:nvSpPr>
        <p:spPr>
          <a:xfrm>
            <a:off x="9720072" y="2514600"/>
            <a:ext cx="1874519"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GPUModelRunner</a:t>
            </a:r>
          </a:p>
        </p:txBody>
      </p:sp>
      <p:sp>
        <p:nvSpPr>
          <p:cNvPr id="36" name="Rectangle 35"/>
          <p:cNvSpPr/>
          <p:nvPr/>
        </p:nvSpPr>
        <p:spPr>
          <a:xfrm>
            <a:off x="9720072" y="2697480"/>
            <a:ext cx="1874519"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720072" y="2743200"/>
            <a:ext cx="1874519"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execute_model(scheduler_output)</a:t>
            </a:r>
          </a:p>
          <a:p>
            <a:pPr algn="l">
              <a:spcAft>
                <a:spcPts val="0"/>
              </a:spcAft>
            </a:pPr>
            <a:r>
              <a:rPr sz="650" b="0" i="0">
                <a:solidFill>
                  <a:srgbClr val="000000"/>
                </a:solidFill>
                <a:latin typeface="맑은 고딕"/>
                <a:ea typeface="맑은 고딕"/>
                <a:cs typeface="맑은 고딕"/>
              </a:rPr>
              <a:t>sample_tokens(grammar_output)</a:t>
            </a:r>
          </a:p>
        </p:txBody>
      </p:sp>
      <p:sp>
        <p:nvSpPr>
          <p:cNvPr id="38" name="Rectangle 37"/>
          <p:cNvSpPr/>
          <p:nvPr/>
        </p:nvSpPr>
        <p:spPr>
          <a:xfrm>
            <a:off x="320040"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CostEvaluator</a:t>
            </a:r>
          </a:p>
        </p:txBody>
      </p:sp>
      <p:sp>
        <p:nvSpPr>
          <p:cNvPr id="39" name="Rectangle 38"/>
          <p:cNvSpPr/>
          <p:nvPr/>
        </p:nvSpPr>
        <p:spPr>
          <a:xfrm>
            <a:off x="320040" y="402336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model: ExecutionCostModel</a:t>
            </a:r>
          </a:p>
        </p:txBody>
      </p:sp>
      <p:sp>
        <p:nvSpPr>
          <p:cNvPr id="40" name="Rectangle 39"/>
          <p:cNvSpPr/>
          <p:nvPr/>
        </p:nvSpPr>
        <p:spPr>
          <a:xfrm>
            <a:off x="320040" y="417697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evaluate(ctx, candidates, snapshot)</a:t>
            </a:r>
          </a:p>
          <a:p>
            <a:pPr algn="l">
              <a:spcAft>
                <a:spcPts val="0"/>
              </a:spcAft>
            </a:pPr>
            <a:r>
              <a:rPr sz="650" b="0" i="0">
                <a:solidFill>
                  <a:srgbClr val="000000"/>
                </a:solidFill>
                <a:latin typeface="맑은 고딕"/>
                <a:ea typeface="맑은 고딕"/>
                <a:cs typeface="맑은 고딕"/>
              </a:rPr>
              <a:t>evaluate_batch(ctxs, ...)</a:t>
            </a:r>
          </a:p>
        </p:txBody>
      </p:sp>
      <p:sp>
        <p:nvSpPr>
          <p:cNvPr id="41" name="Rectangle 40"/>
          <p:cNvSpPr/>
          <p:nvPr/>
        </p:nvSpPr>
        <p:spPr>
          <a:xfrm>
            <a:off x="2670048"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ExecutionPlanCache</a:t>
            </a:r>
          </a:p>
        </p:txBody>
      </p:sp>
      <p:sp>
        <p:nvSpPr>
          <p:cNvPr id="42" name="Rectangle 41"/>
          <p:cNvSpPr/>
          <p:nvPr/>
        </p:nvSpPr>
        <p:spPr>
          <a:xfrm>
            <a:off x="2670048" y="402336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entries: dict[request_id, ExecutionPlan]</a:t>
            </a:r>
          </a:p>
        </p:txBody>
      </p:sp>
      <p:sp>
        <p:nvSpPr>
          <p:cNvPr id="43" name="Rectangle 42"/>
          <p:cNvSpPr/>
          <p:nvPr/>
        </p:nvSpPr>
        <p:spPr>
          <a:xfrm>
            <a:off x="2670048" y="4176979"/>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put(plan)</a:t>
            </a:r>
          </a:p>
          <a:p>
            <a:pPr algn="l">
              <a:spcAft>
                <a:spcPts val="0"/>
              </a:spcAft>
            </a:pPr>
            <a:r>
              <a:rPr sz="650" b="0" i="0">
                <a:solidFill>
                  <a:srgbClr val="000000"/>
                </a:solidFill>
                <a:latin typeface="맑은 고딕"/>
                <a:ea typeface="맑은 고딕"/>
                <a:cs typeface="맑은 고딕"/>
              </a:rPr>
              <a:t>get(request_id)</a:t>
            </a:r>
          </a:p>
          <a:p>
            <a:pPr algn="l">
              <a:spcAft>
                <a:spcPts val="0"/>
              </a:spcAft>
            </a:pPr>
            <a:r>
              <a:rPr sz="650" b="0" i="0">
                <a:solidFill>
                  <a:srgbClr val="000000"/>
                </a:solidFill>
                <a:latin typeface="맑은 고딕"/>
                <a:ea typeface="맑은 고딕"/>
                <a:cs typeface="맑은 고딕"/>
              </a:rPr>
              <a:t>invalidate(request_id)</a:t>
            </a:r>
          </a:p>
        </p:txBody>
      </p:sp>
      <p:sp>
        <p:nvSpPr>
          <p:cNvPr id="44" name="Rectangle 43"/>
          <p:cNvSpPr/>
          <p:nvPr/>
        </p:nvSpPr>
        <p:spPr>
          <a:xfrm>
            <a:off x="9720072" y="3840480"/>
            <a:ext cx="1874519" cy="27432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«abstract»</a:t>
            </a:r>
          </a:p>
          <a:p>
            <a:pPr algn="ctr">
              <a:spcAft>
                <a:spcPts val="0"/>
              </a:spcAft>
            </a:pPr>
            <a:r>
              <a:rPr sz="750" b="1" i="0">
                <a:solidFill>
                  <a:srgbClr val="000000"/>
                </a:solidFill>
                <a:latin typeface="맑은 고딕"/>
                <a:ea typeface="맑은 고딕"/>
                <a:cs typeface="맑은 고딕"/>
              </a:rPr>
              <a:t>AttentionBackend</a:t>
            </a:r>
          </a:p>
        </p:txBody>
      </p:sp>
      <p:sp>
        <p:nvSpPr>
          <p:cNvPr id="45" name="Rectangle 44"/>
          <p:cNvSpPr/>
          <p:nvPr/>
        </p:nvSpPr>
        <p:spPr>
          <a:xfrm>
            <a:off x="9720072" y="4114800"/>
            <a:ext cx="1874519"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9720072" y="4160520"/>
            <a:ext cx="1874519"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forward(layer, q, k, v, ...)</a:t>
            </a:r>
          </a:p>
        </p:txBody>
      </p:sp>
      <p:sp>
        <p:nvSpPr>
          <p:cNvPr id="47" name="Rectangle 46"/>
          <p:cNvSpPr/>
          <p:nvPr/>
        </p:nvSpPr>
        <p:spPr>
          <a:xfrm>
            <a:off x="320040" y="5166360"/>
            <a:ext cx="1874519"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«interface»</a:t>
            </a:r>
          </a:p>
          <a:p>
            <a:pPr algn="ctr">
              <a:spcAft>
                <a:spcPts val="0"/>
              </a:spcAft>
            </a:pPr>
            <a:r>
              <a:rPr sz="750" b="1" i="0">
                <a:solidFill>
                  <a:srgbClr val="000000"/>
                </a:solidFill>
                <a:latin typeface="맑은 고딕"/>
                <a:ea typeface="맑은 고딕"/>
                <a:cs typeface="맑은 고딕"/>
              </a:rPr>
              <a:t>ExecutionCostModel</a:t>
            </a:r>
          </a:p>
        </p:txBody>
      </p:sp>
      <p:sp>
        <p:nvSpPr>
          <p:cNvPr id="48" name="Rectangle 47"/>
          <p:cNvSpPr/>
          <p:nvPr/>
        </p:nvSpPr>
        <p:spPr>
          <a:xfrm>
            <a:off x="320040" y="5440680"/>
            <a:ext cx="1874519"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320040" y="548640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estimate(ctx, cand, snap): CostEstimate</a:t>
            </a:r>
          </a:p>
          <a:p>
            <a:pPr algn="l">
              <a:spcAft>
                <a:spcPts val="0"/>
              </a:spcAft>
            </a:pPr>
            <a:r>
              <a:rPr sz="650" b="0" i="0">
                <a:solidFill>
                  <a:srgbClr val="000000"/>
                </a:solidFill>
                <a:latin typeface="맑은 고딕"/>
                <a:ea typeface="맑은 고딕"/>
                <a:cs typeface="맑은 고딕"/>
              </a:rPr>
              <a:t>// compute·memory·transfer·queue cost</a:t>
            </a:r>
          </a:p>
        </p:txBody>
      </p:sp>
      <p:sp>
        <p:nvSpPr>
          <p:cNvPr id="50" name="Rectangle 49"/>
          <p:cNvSpPr/>
          <p:nvPr/>
        </p:nvSpPr>
        <p:spPr>
          <a:xfrm>
            <a:off x="2670048" y="516636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ResourceStateMonitor</a:t>
            </a:r>
          </a:p>
        </p:txBody>
      </p:sp>
      <p:sp>
        <p:nvSpPr>
          <p:cNvPr id="51" name="Rectangle 50"/>
          <p:cNvSpPr/>
          <p:nvPr/>
        </p:nvSpPr>
        <p:spPr>
          <a:xfrm>
            <a:off x="2670048" y="534924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telemetry: TelemetryCollector</a:t>
            </a:r>
          </a:p>
          <a:p>
            <a:pPr algn="l">
              <a:spcAft>
                <a:spcPts val="0"/>
              </a:spcAft>
            </a:pPr>
            <a:r>
              <a:rPr sz="650" b="0" i="0">
                <a:solidFill>
                  <a:srgbClr val="000000"/>
                </a:solidFill>
                <a:latin typeface="맑은 고딕"/>
                <a:ea typeface="맑은 고딕"/>
                <a:cs typeface="맑은 고딕"/>
              </a:rPr>
              <a:t>kv_state: KVStateMonitor</a:t>
            </a:r>
          </a:p>
        </p:txBody>
      </p:sp>
      <p:sp>
        <p:nvSpPr>
          <p:cNvPr id="52" name="Rectangle 51"/>
          <p:cNvSpPr/>
          <p:nvPr/>
        </p:nvSpPr>
        <p:spPr>
          <a:xfrm>
            <a:off x="2670048" y="5610758"/>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snapshot(): RuntimeStateSnapshot</a:t>
            </a:r>
          </a:p>
          <a:p>
            <a:pPr algn="l">
              <a:spcAft>
                <a:spcPts val="0"/>
              </a:spcAft>
            </a:pPr>
            <a:r>
              <a:rPr sz="650" b="0" i="0">
                <a:solidFill>
                  <a:srgbClr val="000000"/>
                </a:solidFill>
                <a:latin typeface="맑은 고딕"/>
                <a:ea typeface="맑은 고딕"/>
                <a:cs typeface="맑은 고딕"/>
              </a:rPr>
              <a:t>update(telemetry)</a:t>
            </a:r>
          </a:p>
        </p:txBody>
      </p:sp>
      <p:sp>
        <p:nvSpPr>
          <p:cNvPr id="53" name="Rectangle 52"/>
          <p:cNvSpPr/>
          <p:nvPr/>
        </p:nvSpPr>
        <p:spPr>
          <a:xfrm>
            <a:off x="5020055" y="516636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PlanPublisher</a:t>
            </a:r>
          </a:p>
        </p:txBody>
      </p:sp>
      <p:sp>
        <p:nvSpPr>
          <p:cNvPr id="54" name="Rectangle 53"/>
          <p:cNvSpPr/>
          <p:nvPr/>
        </p:nvSpPr>
        <p:spPr>
          <a:xfrm>
            <a:off x="5020055" y="534924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cache: ExecutionPlanCache</a:t>
            </a:r>
          </a:p>
        </p:txBody>
      </p:sp>
      <p:sp>
        <p:nvSpPr>
          <p:cNvPr id="55" name="Rectangle 54"/>
          <p:cNvSpPr/>
          <p:nvPr/>
        </p:nvSpPr>
        <p:spPr>
          <a:xfrm>
            <a:off x="5020055" y="5502859"/>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publish(plan)  // async write</a:t>
            </a:r>
          </a:p>
        </p:txBody>
      </p:sp>
      <p:cxnSp>
        <p:nvCxnSpPr>
          <p:cNvPr id="56" name="Connector 55"/>
          <p:cNvCxnSpPr/>
          <p:nvPr/>
        </p:nvCxnSpPr>
        <p:spPr>
          <a:xfrm>
            <a:off x="2194560" y="1541678"/>
            <a:ext cx="475488" cy="107899"/>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270455" y="152247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owns</a:t>
            </a:r>
          </a:p>
        </p:txBody>
      </p:sp>
      <p:cxnSp>
        <p:nvCxnSpPr>
          <p:cNvPr id="58" name="Connector 57"/>
          <p:cNvCxnSpPr/>
          <p:nvPr/>
        </p:nvCxnSpPr>
        <p:spPr>
          <a:xfrm flipV="1">
            <a:off x="4544568" y="1541678"/>
            <a:ext cx="475487" cy="10789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4527194" y="152247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produces</a:t>
            </a:r>
          </a:p>
        </p:txBody>
      </p:sp>
      <p:cxnSp>
        <p:nvCxnSpPr>
          <p:cNvPr id="60" name="Connector 59"/>
          <p:cNvCxnSpPr/>
          <p:nvPr/>
        </p:nvCxnSpPr>
        <p:spPr>
          <a:xfrm>
            <a:off x="9244584" y="1479499"/>
            <a:ext cx="475488" cy="822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9343796" y="1410462"/>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rpc</a:t>
            </a:r>
          </a:p>
        </p:txBody>
      </p:sp>
      <p:cxnSp>
        <p:nvCxnSpPr>
          <p:cNvPr id="62" name="Connector 61"/>
          <p:cNvCxnSpPr/>
          <p:nvPr/>
        </p:nvCxnSpPr>
        <p:spPr>
          <a:xfrm>
            <a:off x="10657332" y="1786737"/>
            <a:ext cx="0" cy="727863"/>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657332" y="3004718"/>
            <a:ext cx="0" cy="835762"/>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10425531" y="3349447"/>
            <a:ext cx="463600"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forward</a:t>
            </a:r>
          </a:p>
        </p:txBody>
      </p:sp>
      <p:cxnSp>
        <p:nvCxnSpPr>
          <p:cNvPr id="65" name="Connector 64"/>
          <p:cNvCxnSpPr/>
          <p:nvPr/>
        </p:nvCxnSpPr>
        <p:spPr>
          <a:xfrm>
            <a:off x="3419856" y="2110435"/>
            <a:ext cx="0" cy="404165"/>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3164738" y="2239365"/>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validate</a:t>
            </a:r>
          </a:p>
        </p:txBody>
      </p:sp>
      <p:cxnSp>
        <p:nvCxnSpPr>
          <p:cNvPr id="67" name="Connector 66"/>
          <p:cNvCxnSpPr/>
          <p:nvPr/>
        </p:nvCxnSpPr>
        <p:spPr>
          <a:xfrm flipH="1">
            <a:off x="2194560" y="2867558"/>
            <a:ext cx="475488" cy="5395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2223820" y="2821381"/>
            <a:ext cx="41696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replan</a:t>
            </a:r>
          </a:p>
        </p:txBody>
      </p:sp>
      <p:cxnSp>
        <p:nvCxnSpPr>
          <p:cNvPr id="69" name="Connector 68"/>
          <p:cNvCxnSpPr/>
          <p:nvPr/>
        </p:nvCxnSpPr>
        <p:spPr>
          <a:xfrm>
            <a:off x="3419856" y="3220516"/>
            <a:ext cx="0" cy="61996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3211372" y="3457346"/>
            <a:ext cx="41696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lookup</a:t>
            </a:r>
          </a:p>
        </p:txBody>
      </p:sp>
      <p:cxnSp>
        <p:nvCxnSpPr>
          <p:cNvPr id="71" name="Connector 70"/>
          <p:cNvCxnSpPr/>
          <p:nvPr/>
        </p:nvCxnSpPr>
        <p:spPr>
          <a:xfrm>
            <a:off x="1257300" y="3328415"/>
            <a:ext cx="0" cy="512065"/>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1002182" y="351129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evaluate</a:t>
            </a:r>
          </a:p>
        </p:txBody>
      </p:sp>
      <p:cxnSp>
        <p:nvCxnSpPr>
          <p:cNvPr id="73" name="Connector 72"/>
          <p:cNvCxnSpPr/>
          <p:nvPr/>
        </p:nvCxnSpPr>
        <p:spPr>
          <a:xfrm>
            <a:off x="1257300" y="4438497"/>
            <a:ext cx="0"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95451" y="472927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uses</a:t>
            </a:r>
          </a:p>
        </p:txBody>
      </p:sp>
      <p:cxnSp>
        <p:nvCxnSpPr>
          <p:cNvPr id="75" name="Connector 74"/>
          <p:cNvCxnSpPr/>
          <p:nvPr/>
        </p:nvCxnSpPr>
        <p:spPr>
          <a:xfrm>
            <a:off x="2194560" y="5457139"/>
            <a:ext cx="475488" cy="62179"/>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2177186" y="541507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snapshot</a:t>
            </a:r>
          </a:p>
        </p:txBody>
      </p:sp>
      <p:cxnSp>
        <p:nvCxnSpPr>
          <p:cNvPr id="77" name="Connector 76"/>
          <p:cNvCxnSpPr/>
          <p:nvPr/>
        </p:nvCxnSpPr>
        <p:spPr>
          <a:xfrm flipH="1" flipV="1">
            <a:off x="4169663" y="4546396"/>
            <a:ext cx="1412749" cy="61996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4737506" y="4783226"/>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put</a:t>
            </a:r>
          </a:p>
        </p:txBody>
      </p:sp>
      <p:cxnSp>
        <p:nvCxnSpPr>
          <p:cNvPr id="79" name="Connector 78"/>
          <p:cNvCxnSpPr/>
          <p:nvPr/>
        </p:nvCxnSpPr>
        <p:spPr>
          <a:xfrm flipV="1">
            <a:off x="4357116" y="3328416"/>
            <a:ext cx="1037843" cy="512064"/>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667554" y="3511296"/>
            <a:ext cx="41696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stores</a:t>
            </a:r>
          </a:p>
        </p:txBody>
      </p:sp>
      <p:cxnSp>
        <p:nvCxnSpPr>
          <p:cNvPr id="81" name="Connector 80"/>
          <p:cNvCxnSpPr/>
          <p:nvPr/>
        </p:nvCxnSpPr>
        <p:spPr>
          <a:xfrm>
            <a:off x="5957315" y="1894636"/>
            <a:ext cx="0" cy="619964"/>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538977" y="2131466"/>
            <a:ext cx="83667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execution_plans</a:t>
            </a:r>
          </a:p>
        </p:txBody>
      </p:sp>
      <p:cxnSp>
        <p:nvCxnSpPr>
          <p:cNvPr id="83" name="Connector 82"/>
          <p:cNvCxnSpPr/>
          <p:nvPr/>
        </p:nvCxnSpPr>
        <p:spPr>
          <a:xfrm flipH="1">
            <a:off x="6894575" y="2813608"/>
            <a:ext cx="475488" cy="10790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877202" y="279440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consumes</a:t>
            </a:r>
          </a:p>
        </p:txBody>
      </p:sp>
      <p:cxnSp>
        <p:nvCxnSpPr>
          <p:cNvPr id="85" name="Connector 84"/>
          <p:cNvCxnSpPr/>
          <p:nvPr/>
        </p:nvCxnSpPr>
        <p:spPr>
          <a:xfrm flipV="1">
            <a:off x="8119871" y="1786737"/>
            <a:ext cx="2162557"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8946032" y="207751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dispatch</a:t>
            </a:r>
          </a:p>
        </p:txBody>
      </p:sp>
      <p:sp>
        <p:nvSpPr>
          <p:cNvPr id="87" name="Rectangle 86"/>
          <p:cNvSpPr/>
          <p:nvPr/>
        </p:nvSpPr>
        <p:spPr>
          <a:xfrm>
            <a:off x="5020055" y="3931920"/>
            <a:ext cx="457200" cy="20116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기존</a:t>
            </a:r>
          </a:p>
        </p:txBody>
      </p:sp>
      <p:sp>
        <p:nvSpPr>
          <p:cNvPr id="88" name="Rectangle 87"/>
          <p:cNvSpPr/>
          <p:nvPr/>
        </p:nvSpPr>
        <p:spPr>
          <a:xfrm>
            <a:off x="5522975" y="3931920"/>
            <a:ext cx="685800" cy="20116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신규/수정</a:t>
            </a:r>
          </a:p>
        </p:txBody>
      </p:sp>
      <p:sp>
        <p:nvSpPr>
          <p:cNvPr id="89" name="TextBox 88"/>
          <p:cNvSpPr txBox="1"/>
          <p:nvPr/>
        </p:nvSpPr>
        <p:spPr>
          <a:xfrm>
            <a:off x="5020055" y="4160520"/>
            <a:ext cx="2743200" cy="82296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구성(composition)   ━▶ 연관/호출</a:t>
            </a:r>
          </a:p>
          <a:p>
            <a:pPr algn="l">
              <a:spcAft>
                <a:spcPts val="0"/>
              </a:spcAft>
            </a:pPr>
            <a:r>
              <a:rPr sz="650" b="0" i="0">
                <a:solidFill>
                  <a:srgbClr val="000000"/>
                </a:solidFill>
                <a:latin typeface="맑은 고딕"/>
                <a:ea typeface="맑은 고딕"/>
                <a:cs typeface="맑은 고딕"/>
              </a:rPr>
              <a:t>┅▶ 의존(use / event)   ▷ 구현·상속</a:t>
            </a:r>
          </a:p>
          <a:p>
            <a:pPr algn="l">
              <a:spcAft>
                <a:spcPts val="0"/>
              </a:spcAft>
            </a:pPr>
            <a:r>
              <a:rPr sz="650" b="0" i="0">
                <a:solidFill>
                  <a:srgbClr val="595959"/>
                </a:solidFill>
                <a:latin typeface="맑은 고딕"/>
                <a:ea typeface="맑은 고딕"/>
                <a:cs typeface="맑은 고딕"/>
              </a:rPr>
              <a:t>노란 fill = 이 과제에서 신규 또는 수정하는 클래스</a:t>
            </a:r>
          </a:p>
        </p:txBody>
      </p:sp>
      <p:sp>
        <p:nvSpPr>
          <p:cNvPr id="90" name="TextBox 89"/>
          <p:cNvSpPr txBox="1"/>
          <p:nvPr/>
        </p:nvSpPr>
        <p:spPr>
          <a:xfrm>
            <a:off x="7370063" y="5166360"/>
            <a:ext cx="4480560" cy="1097280"/>
          </a:xfrm>
          <a:prstGeom prst="rect">
            <a:avLst/>
          </a:prstGeom>
          <a:noFill/>
        </p:spPr>
        <p:txBody>
          <a:bodyPr wrap="square" lIns="36576" tIns="18288" rIns="36576" bIns="18288" anchor="t">
            <a:spAutoFit/>
          </a:bodyPr>
          <a:lstStyle/>
          <a:p>
            <a:pPr algn="l">
              <a:spcAft>
                <a:spcPts val="0"/>
              </a:spcAft>
            </a:pPr>
            <a:r>
              <a:rPr sz="750" b="1" i="0">
                <a:solidFill>
                  <a:srgbClr val="000000"/>
                </a:solidFill>
                <a:latin typeface="맑은 고딕"/>
                <a:ea typeface="맑은 고딕"/>
                <a:cs typeface="맑은 고딕"/>
              </a:rPr>
              <a:t>읽는 법</a:t>
            </a:r>
          </a:p>
          <a:p>
            <a:pPr algn="l">
              <a:spcAft>
                <a:spcPts val="0"/>
              </a:spcAft>
            </a:pPr>
            <a:r>
              <a:rPr sz="650" b="0" i="0">
                <a:solidFill>
                  <a:srgbClr val="000000"/>
                </a:solidFill>
                <a:latin typeface="맑은 고딕"/>
                <a:ea typeface="맑은 고딕"/>
                <a:cs typeface="맑은 고딕"/>
              </a:rPr>
              <a:t>• Scheduler는 비용 모델 구현을 import하지 않고 ExecutionPlanner만 호출(의존 규칙 1)</a:t>
            </a:r>
          </a:p>
          <a:p>
            <a:pPr algn="l">
              <a:spcAft>
                <a:spcPts val="0"/>
              </a:spcAft>
            </a:pPr>
            <a:r>
              <a:rPr sz="650" b="0" i="0">
                <a:solidFill>
                  <a:srgbClr val="000000"/>
                </a:solidFill>
                <a:latin typeface="맑은 고딕"/>
                <a:ea typeface="맑은 고딕"/>
                <a:cs typeface="맑은 고딕"/>
              </a:rPr>
              <a:t>• ExecutionCostModel은 순수 추정(Worker/Executor 호출 금지), Executor는 plan만 소비</a:t>
            </a:r>
          </a:p>
          <a:p>
            <a:pPr algn="l">
              <a:spcAft>
                <a:spcPts val="0"/>
              </a:spcAft>
            </a:pPr>
            <a:r>
              <a:rPr sz="650" b="0" i="0">
                <a:solidFill>
                  <a:srgbClr val="000000"/>
                </a:solidFill>
                <a:latin typeface="맑은 고딕"/>
                <a:ea typeface="맑은 고딕"/>
                <a:cs typeface="맑은 고딕"/>
              </a:rPr>
              <a:t>• Plan 생성은 critical path 밖, Validator+Router만 critical path 안</a:t>
            </a:r>
          </a:p>
          <a:p>
            <a:pPr algn="l">
              <a:spcAft>
                <a:spcPts val="0"/>
              </a:spcAft>
            </a:pPr>
            <a:r>
              <a:rPr sz="650" b="0" i="0">
                <a:solidFill>
                  <a:srgbClr val="000000"/>
                </a:solidFill>
                <a:latin typeface="맑은 고딕"/>
                <a:ea typeface="맑은 고딕"/>
                <a:cs typeface="맑은 고딕"/>
              </a:rPr>
              <a:t>• Scheduler → KVCacheManager 호출은 (2/3)에서 이어짐</a:t>
            </a:r>
          </a:p>
        </p:txBody>
      </p:sp>
      <p:sp>
        <p:nvSpPr>
          <p:cNvPr id="93" name="실행 단추: 뒤로 또는 앞으로 이동 92">
            <a:hlinkClick r:id="rId3" action="ppaction://hlinksldjump" highlightClick="1"/>
            <a:extLst>
              <a:ext uri="{FF2B5EF4-FFF2-40B4-BE49-F238E27FC236}">
                <a16:creationId xmlns:a16="http://schemas.microsoft.com/office/drawing/2014/main" id="{9D36252C-B049-4CF5-B1DE-DAD08BE816C4}"/>
              </a:ext>
            </a:extLst>
          </p:cNvPr>
          <p:cNvSpPr/>
          <p:nvPr/>
        </p:nvSpPr>
        <p:spPr>
          <a:xfrm>
            <a:off x="7601406" y="214884"/>
            <a:ext cx="283692" cy="2377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최종 구조 설계 – 전체 Class Diagram (2/3) 데이터 이동·자원 관리</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18</a:t>
            </a:r>
          </a:p>
        </p:txBody>
      </p:sp>
      <p:sp>
        <p:nvSpPr>
          <p:cNvPr id="4" name="Rectangle 3"/>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621792"/>
            <a:ext cx="8138160" cy="329184"/>
          </a:xfrm>
          <a:prstGeom prst="rect">
            <a:avLst/>
          </a:prstGeom>
          <a:noFill/>
        </p:spPr>
        <p:txBody>
          <a:bodyPr wrap="square" lIns="36576" tIns="18288" rIns="36576" bIns="18288" anchor="ctr">
            <a:spAutoFit/>
          </a:bodyPr>
          <a:lstStyle/>
          <a:p>
            <a:pPr algn="l">
              <a:spcAft>
                <a:spcPts val="0"/>
              </a:spcAft>
            </a:pPr>
            <a:r>
              <a:rPr sz="1100" b="1" i="0">
                <a:solidFill>
                  <a:srgbClr val="FFFFFF"/>
                </a:solidFill>
                <a:latin typeface="맑은 고딕"/>
                <a:ea typeface="맑은 고딕"/>
                <a:cs typeface="맑은 고딕"/>
              </a:rPr>
              <a:t>Data / Resource Management — DP1: 상태 관측·이동 결정 분리 + Lease 제어</a:t>
            </a:r>
          </a:p>
        </p:txBody>
      </p:sp>
      <p:sp>
        <p:nvSpPr>
          <p:cNvPr id="8" name="Rectangle 7"/>
          <p:cNvSpPr/>
          <p:nvPr/>
        </p:nvSpPr>
        <p:spPr>
          <a:xfrm>
            <a:off x="320040" y="1188720"/>
            <a:ext cx="1874519"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Scheduler</a:t>
            </a:r>
          </a:p>
        </p:txBody>
      </p:sp>
      <p:sp>
        <p:nvSpPr>
          <p:cNvPr id="9" name="Rectangle 8"/>
          <p:cNvSpPr/>
          <p:nvPr/>
        </p:nvSpPr>
        <p:spPr>
          <a:xfrm>
            <a:off x="320040" y="1371600"/>
            <a:ext cx="1874519"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20040" y="1417320"/>
            <a:ext cx="1874519"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schedule()</a:t>
            </a:r>
          </a:p>
          <a:p>
            <a:pPr algn="l">
              <a:spcAft>
                <a:spcPts val="0"/>
              </a:spcAft>
            </a:pPr>
            <a:r>
              <a:rPr sz="650" b="0" i="0">
                <a:solidFill>
                  <a:srgbClr val="000000"/>
                </a:solidFill>
                <a:latin typeface="맑은 고딕"/>
                <a:ea typeface="맑은 고딕"/>
                <a:cs typeface="맑은 고딕"/>
              </a:rPr>
              <a:t>update_from_output(...)</a:t>
            </a:r>
          </a:p>
        </p:txBody>
      </p:sp>
      <p:sp>
        <p:nvSpPr>
          <p:cNvPr id="11" name="Rectangle 10"/>
          <p:cNvSpPr/>
          <p:nvPr/>
        </p:nvSpPr>
        <p:spPr>
          <a:xfrm>
            <a:off x="2670048" y="1188720"/>
            <a:ext cx="1874519"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«KVConnectorBase_V1»</a:t>
            </a:r>
          </a:p>
          <a:p>
            <a:pPr algn="ctr">
              <a:spcAft>
                <a:spcPts val="0"/>
              </a:spcAft>
            </a:pPr>
            <a:r>
              <a:rPr sz="750" b="1" i="0">
                <a:solidFill>
                  <a:srgbClr val="000000"/>
                </a:solidFill>
                <a:latin typeface="맑은 고딕"/>
                <a:ea typeface="맑은 고딕"/>
                <a:cs typeface="맑은 고딕"/>
              </a:rPr>
              <a:t>DP1Connector</a:t>
            </a:r>
          </a:p>
        </p:txBody>
      </p:sp>
      <p:sp>
        <p:nvSpPr>
          <p:cNvPr id="12" name="Rectangle 11"/>
          <p:cNvSpPr/>
          <p:nvPr/>
        </p:nvSpPr>
        <p:spPr>
          <a:xfrm>
            <a:off x="2670048" y="146304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event_sink: MigrationEventSink</a:t>
            </a:r>
          </a:p>
          <a:p>
            <a:pPr algn="l">
              <a:spcAft>
                <a:spcPts val="0"/>
              </a:spcAft>
            </a:pPr>
            <a:r>
              <a:rPr sz="650" b="0" i="0">
                <a:solidFill>
                  <a:srgbClr val="000000"/>
                </a:solidFill>
                <a:latin typeface="맑은 고딕"/>
                <a:ea typeface="맑은 고딕"/>
                <a:cs typeface="맑은 고딕"/>
              </a:rPr>
              <a:t>coordinator: MigrationCoordinator</a:t>
            </a:r>
          </a:p>
        </p:txBody>
      </p:sp>
      <p:sp>
        <p:nvSpPr>
          <p:cNvPr id="13" name="Rectangle 12"/>
          <p:cNvSpPr/>
          <p:nvPr/>
        </p:nvSpPr>
        <p:spPr>
          <a:xfrm>
            <a:off x="2670048" y="1724558"/>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get_num_new_matched_tokens()</a:t>
            </a:r>
          </a:p>
          <a:p>
            <a:pPr algn="l">
              <a:spcAft>
                <a:spcPts val="0"/>
              </a:spcAft>
            </a:pPr>
            <a:r>
              <a:rPr sz="650" b="0" i="0">
                <a:solidFill>
                  <a:srgbClr val="000000"/>
                </a:solidFill>
                <a:latin typeface="맑은 고딕"/>
                <a:ea typeface="맑은 고딕"/>
                <a:cs typeface="맑은 고딕"/>
              </a:rPr>
              <a:t>build_connector_meta(...)</a:t>
            </a:r>
          </a:p>
          <a:p>
            <a:pPr algn="l">
              <a:spcAft>
                <a:spcPts val="0"/>
              </a:spcAft>
            </a:pPr>
            <a:r>
              <a:rPr sz="650" b="0" i="0">
                <a:solidFill>
                  <a:srgbClr val="000000"/>
                </a:solidFill>
                <a:latin typeface="맑은 고딕"/>
                <a:ea typeface="맑은 고딕"/>
                <a:cs typeface="맑은 고딕"/>
              </a:rPr>
              <a:t>update_connector_output(...)</a:t>
            </a:r>
          </a:p>
        </p:txBody>
      </p:sp>
      <p:sp>
        <p:nvSpPr>
          <p:cNvPr id="14" name="Rectangle 13"/>
          <p:cNvSpPr/>
          <p:nvPr/>
        </p:nvSpPr>
        <p:spPr>
          <a:xfrm>
            <a:off x="5020055" y="118872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KVCacheManager</a:t>
            </a:r>
          </a:p>
        </p:txBody>
      </p:sp>
      <p:sp>
        <p:nvSpPr>
          <p:cNvPr id="15" name="Rectangle 14"/>
          <p:cNvSpPr/>
          <p:nvPr/>
        </p:nvSpPr>
        <p:spPr>
          <a:xfrm>
            <a:off x="5020055" y="137160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block_pool: BlockPool</a:t>
            </a:r>
          </a:p>
        </p:txBody>
      </p:sp>
      <p:sp>
        <p:nvSpPr>
          <p:cNvPr id="16" name="Rectangle 15"/>
          <p:cNvSpPr/>
          <p:nvPr/>
        </p:nvSpPr>
        <p:spPr>
          <a:xfrm>
            <a:off x="5020055" y="1525219"/>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get_computed_blocks(request)</a:t>
            </a:r>
          </a:p>
          <a:p>
            <a:pPr algn="l">
              <a:spcAft>
                <a:spcPts val="0"/>
              </a:spcAft>
            </a:pPr>
            <a:r>
              <a:rPr sz="650" b="0" i="0">
                <a:solidFill>
                  <a:srgbClr val="000000"/>
                </a:solidFill>
                <a:latin typeface="맑은 고딕"/>
                <a:ea typeface="맑은 고딕"/>
                <a:cs typeface="맑은 고딕"/>
              </a:rPr>
              <a:t>allocate_slots(...)</a:t>
            </a:r>
          </a:p>
          <a:p>
            <a:pPr algn="l">
              <a:spcAft>
                <a:spcPts val="0"/>
              </a:spcAft>
            </a:pPr>
            <a:r>
              <a:rPr sz="650" b="0" i="0">
                <a:solidFill>
                  <a:srgbClr val="000000"/>
                </a:solidFill>
                <a:latin typeface="맑은 고딕"/>
                <a:ea typeface="맑은 고딕"/>
                <a:cs typeface="맑은 고딕"/>
              </a:rPr>
              <a:t>evict_blocks(block_ids)</a:t>
            </a:r>
          </a:p>
        </p:txBody>
      </p:sp>
      <p:sp>
        <p:nvSpPr>
          <p:cNvPr id="17" name="Rectangle 16"/>
          <p:cNvSpPr/>
          <p:nvPr/>
        </p:nvSpPr>
        <p:spPr>
          <a:xfrm>
            <a:off x="7370063" y="118872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BlockPool</a:t>
            </a:r>
          </a:p>
        </p:txBody>
      </p:sp>
      <p:sp>
        <p:nvSpPr>
          <p:cNvPr id="18" name="Rectangle 17"/>
          <p:cNvSpPr/>
          <p:nvPr/>
        </p:nvSpPr>
        <p:spPr>
          <a:xfrm>
            <a:off x="7370063" y="137160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cached_block_hash_to_block</a:t>
            </a:r>
          </a:p>
          <a:p>
            <a:pPr algn="l">
              <a:spcAft>
                <a:spcPts val="0"/>
              </a:spcAft>
            </a:pPr>
            <a:r>
              <a:rPr sz="650" b="0" i="0">
                <a:solidFill>
                  <a:srgbClr val="000000"/>
                </a:solidFill>
                <a:latin typeface="맑은 고딕"/>
                <a:ea typeface="맑은 고딕"/>
                <a:cs typeface="맑은 고딕"/>
              </a:rPr>
              <a:t>free_block_queue</a:t>
            </a:r>
          </a:p>
        </p:txBody>
      </p:sp>
      <p:sp>
        <p:nvSpPr>
          <p:cNvPr id="19" name="Rectangle 18"/>
          <p:cNvSpPr/>
          <p:nvPr/>
        </p:nvSpPr>
        <p:spPr>
          <a:xfrm>
            <a:off x="7370063" y="1633118"/>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get_usage()</a:t>
            </a:r>
          </a:p>
          <a:p>
            <a:pPr algn="l">
              <a:spcAft>
                <a:spcPts val="0"/>
              </a:spcAft>
            </a:pPr>
            <a:r>
              <a:rPr sz="650" b="0" i="0">
                <a:solidFill>
                  <a:srgbClr val="000000"/>
                </a:solidFill>
                <a:latin typeface="맑은 고딕"/>
                <a:ea typeface="맑은 고딕"/>
                <a:cs typeface="맑은 고딕"/>
              </a:rPr>
              <a:t>get_new_blocks(n)</a:t>
            </a:r>
          </a:p>
          <a:p>
            <a:pPr algn="l">
              <a:spcAft>
                <a:spcPts val="0"/>
              </a:spcAft>
            </a:pPr>
            <a:r>
              <a:rPr sz="650" b="0" i="0">
                <a:solidFill>
                  <a:srgbClr val="000000"/>
                </a:solidFill>
                <a:latin typeface="맑은 고딕"/>
                <a:ea typeface="맑은 고딕"/>
                <a:cs typeface="맑은 고딕"/>
              </a:rPr>
              <a:t>insert_prefetched_blocks(...)</a:t>
            </a:r>
          </a:p>
        </p:txBody>
      </p:sp>
      <p:sp>
        <p:nvSpPr>
          <p:cNvPr id="20" name="Rectangle 19"/>
          <p:cNvSpPr/>
          <p:nvPr/>
        </p:nvSpPr>
        <p:spPr>
          <a:xfrm>
            <a:off x="320040"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DecisionScheduler</a:t>
            </a:r>
          </a:p>
        </p:txBody>
      </p:sp>
      <p:sp>
        <p:nvSpPr>
          <p:cNvPr id="21" name="Rectangle 20"/>
          <p:cNvSpPr/>
          <p:nvPr/>
        </p:nvSpPr>
        <p:spPr>
          <a:xfrm>
            <a:off x="320040" y="269748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period: 판단 주기(독립 보유)</a:t>
            </a:r>
          </a:p>
          <a:p>
            <a:pPr algn="l">
              <a:spcAft>
                <a:spcPts val="0"/>
              </a:spcAft>
            </a:pPr>
            <a:r>
              <a:rPr sz="650" b="0" i="0">
                <a:solidFill>
                  <a:srgbClr val="000000"/>
                </a:solidFill>
                <a:latin typeface="맑은 고딕"/>
                <a:ea typeface="맑은 고딕"/>
                <a:cs typeface="맑은 고딕"/>
              </a:rPr>
              <a:t>event_queue</a:t>
            </a:r>
          </a:p>
        </p:txBody>
      </p:sp>
      <p:sp>
        <p:nvSpPr>
          <p:cNvPr id="22" name="Rectangle 21"/>
          <p:cNvSpPr/>
          <p:nvPr/>
        </p:nvSpPr>
        <p:spPr>
          <a:xfrm>
            <a:off x="320040" y="2958998"/>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on_event(MigrationEvent)</a:t>
            </a:r>
          </a:p>
          <a:p>
            <a:pPr algn="l">
              <a:spcAft>
                <a:spcPts val="0"/>
              </a:spcAft>
            </a:pPr>
            <a:r>
              <a:rPr sz="650" b="0" i="0">
                <a:solidFill>
                  <a:srgbClr val="000000"/>
                </a:solidFill>
                <a:latin typeface="맑은 고딕"/>
                <a:ea typeface="맑은 고딕"/>
                <a:cs typeface="맑은 고딕"/>
              </a:rPr>
              <a:t>tick(): snapshot 요청</a:t>
            </a:r>
          </a:p>
        </p:txBody>
      </p:sp>
      <p:sp>
        <p:nvSpPr>
          <p:cNvPr id="23" name="Rectangle 22"/>
          <p:cNvSpPr/>
          <p:nvPr/>
        </p:nvSpPr>
        <p:spPr>
          <a:xfrm>
            <a:off x="2670048"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TrendAnalyzer</a:t>
            </a:r>
          </a:p>
        </p:txBody>
      </p:sp>
      <p:sp>
        <p:nvSpPr>
          <p:cNvPr id="24" name="Rectangle 23"/>
          <p:cNvSpPr/>
          <p:nvPr/>
        </p:nvSpPr>
        <p:spPr>
          <a:xfrm>
            <a:off x="2670048" y="26974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window</a:t>
            </a:r>
          </a:p>
        </p:txBody>
      </p:sp>
      <p:sp>
        <p:nvSpPr>
          <p:cNvPr id="25" name="Rectangle 24"/>
          <p:cNvSpPr/>
          <p:nvPr/>
        </p:nvSpPr>
        <p:spPr>
          <a:xfrm>
            <a:off x="2670048" y="285109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analyze(snapshot): ResourceState</a:t>
            </a:r>
          </a:p>
          <a:p>
            <a:pPr algn="l">
              <a:spcAft>
                <a:spcPts val="0"/>
              </a:spcAft>
            </a:pPr>
            <a:r>
              <a:rPr sz="650" b="0" i="0">
                <a:solidFill>
                  <a:srgbClr val="000000"/>
                </a:solidFill>
                <a:latin typeface="맑은 고딕"/>
                <a:ea typeface="맑은 고딕"/>
                <a:cs typeface="맑은 고딕"/>
              </a:rPr>
              <a:t>// 자원 추세 + 데이터 접근 추세</a:t>
            </a:r>
          </a:p>
        </p:txBody>
      </p:sp>
      <p:sp>
        <p:nvSpPr>
          <p:cNvPr id="26" name="Rectangle 25"/>
          <p:cNvSpPr/>
          <p:nvPr/>
        </p:nvSpPr>
        <p:spPr>
          <a:xfrm>
            <a:off x="5020055"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AffinityMapper</a:t>
            </a:r>
          </a:p>
        </p:txBody>
      </p:sp>
      <p:sp>
        <p:nvSpPr>
          <p:cNvPr id="27" name="Rectangle 26"/>
          <p:cNvSpPr/>
          <p:nvPr/>
        </p:nvSpPr>
        <p:spPr>
          <a:xfrm>
            <a:off x="5020055" y="26974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hints: AffinityHint</a:t>
            </a:r>
          </a:p>
        </p:txBody>
      </p:sp>
      <p:sp>
        <p:nvSpPr>
          <p:cNvPr id="28" name="Rectangle 27"/>
          <p:cNvSpPr/>
          <p:nvPr/>
        </p:nvSpPr>
        <p:spPr>
          <a:xfrm>
            <a:off x="5020055" y="285109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map(object, state): candidate tiers</a:t>
            </a:r>
          </a:p>
          <a:p>
            <a:pPr algn="l">
              <a:spcAft>
                <a:spcPts val="0"/>
              </a:spcAft>
            </a:pPr>
            <a:r>
              <a:rPr sz="650" b="0" i="0">
                <a:solidFill>
                  <a:srgbClr val="000000"/>
                </a:solidFill>
                <a:latin typeface="맑은 고딕"/>
                <a:ea typeface="맑은 고딕"/>
                <a:cs typeface="맑은 고딕"/>
              </a:rPr>
              <a:t>// 데이터·메모리 적합도</a:t>
            </a:r>
          </a:p>
        </p:txBody>
      </p:sp>
      <p:sp>
        <p:nvSpPr>
          <p:cNvPr id="29" name="Rectangle 28"/>
          <p:cNvSpPr/>
          <p:nvPr/>
        </p:nvSpPr>
        <p:spPr>
          <a:xfrm>
            <a:off x="7370063"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PolicyEngine</a:t>
            </a:r>
          </a:p>
        </p:txBody>
      </p:sp>
      <p:sp>
        <p:nvSpPr>
          <p:cNvPr id="30" name="Rectangle 29"/>
          <p:cNvSpPr/>
          <p:nvPr/>
        </p:nvSpPr>
        <p:spPr>
          <a:xfrm>
            <a:off x="7370063" y="26974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budget: MigrationBudget</a:t>
            </a:r>
          </a:p>
        </p:txBody>
      </p:sp>
      <p:sp>
        <p:nvSpPr>
          <p:cNvPr id="31" name="Rectangle 30"/>
          <p:cNvSpPr/>
          <p:nvPr/>
        </p:nvSpPr>
        <p:spPr>
          <a:xfrm>
            <a:off x="7370063" y="2851099"/>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decide(state, cands): list[Decision]</a:t>
            </a:r>
          </a:p>
        </p:txBody>
      </p:sp>
      <p:sp>
        <p:nvSpPr>
          <p:cNvPr id="32" name="Rectangle 31"/>
          <p:cNvSpPr/>
          <p:nvPr/>
        </p:nvSpPr>
        <p:spPr>
          <a:xfrm>
            <a:off x="9720072" y="251460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MigrationCommandQueue</a:t>
            </a:r>
          </a:p>
        </p:txBody>
      </p:sp>
      <p:sp>
        <p:nvSpPr>
          <p:cNvPr id="33" name="Rectangle 32"/>
          <p:cNvSpPr/>
          <p:nvPr/>
        </p:nvSpPr>
        <p:spPr>
          <a:xfrm>
            <a:off x="9720072" y="26974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commands: ordered buffer</a:t>
            </a:r>
          </a:p>
        </p:txBody>
      </p:sp>
      <p:sp>
        <p:nvSpPr>
          <p:cNvPr id="34" name="Rectangle 33"/>
          <p:cNvSpPr/>
          <p:nvPr/>
        </p:nvSpPr>
        <p:spPr>
          <a:xfrm>
            <a:off x="9720072" y="285109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enqueue(decision)</a:t>
            </a:r>
          </a:p>
          <a:p>
            <a:pPr algn="l">
              <a:spcAft>
                <a:spcPts val="0"/>
              </a:spcAft>
            </a:pPr>
            <a:r>
              <a:rPr sz="650" b="0" i="0">
                <a:solidFill>
                  <a:srgbClr val="000000"/>
                </a:solidFill>
                <a:latin typeface="맑은 고딕"/>
                <a:ea typeface="맑은 고딕"/>
                <a:cs typeface="맑은 고딕"/>
              </a:rPr>
              <a:t>dequeue(): MigrationCommand</a:t>
            </a:r>
          </a:p>
        </p:txBody>
      </p:sp>
      <p:sp>
        <p:nvSpPr>
          <p:cNvPr id="35" name="Rectangle 34"/>
          <p:cNvSpPr/>
          <p:nvPr/>
        </p:nvSpPr>
        <p:spPr>
          <a:xfrm>
            <a:off x="320040"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StateSnapshotBuilder</a:t>
            </a:r>
          </a:p>
        </p:txBody>
      </p:sp>
      <p:sp>
        <p:nvSpPr>
          <p:cNvPr id="36" name="Rectangle 35"/>
          <p:cNvSpPr/>
          <p:nvPr/>
        </p:nvSpPr>
        <p:spPr>
          <a:xfrm>
            <a:off x="320040" y="4023360"/>
            <a:ext cx="1874519"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320040" y="406908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build(): ResourceSnapshot</a:t>
            </a:r>
          </a:p>
          <a:p>
            <a:pPr algn="l">
              <a:spcAft>
                <a:spcPts val="0"/>
              </a:spcAft>
            </a:pPr>
            <a:r>
              <a:rPr sz="650" b="0" i="0">
                <a:solidFill>
                  <a:srgbClr val="000000"/>
                </a:solidFill>
                <a:latin typeface="맑은 고딕"/>
                <a:ea typeface="맑은 고딕"/>
                <a:cs typeface="맑은 고딕"/>
              </a:rPr>
              <a:t>// 일관 복사본, object 수 비례 비용</a:t>
            </a:r>
          </a:p>
        </p:txBody>
      </p:sp>
      <p:sp>
        <p:nvSpPr>
          <p:cNvPr id="38" name="Rectangle 37"/>
          <p:cNvSpPr/>
          <p:nvPr/>
        </p:nvSpPr>
        <p:spPr>
          <a:xfrm>
            <a:off x="2670048"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HbmLeaseGranter</a:t>
            </a:r>
          </a:p>
        </p:txBody>
      </p:sp>
      <p:sp>
        <p:nvSpPr>
          <p:cNvPr id="39" name="Rectangle 38"/>
          <p:cNvSpPr/>
          <p:nvPr/>
        </p:nvSpPr>
        <p:spPr>
          <a:xfrm>
            <a:off x="2670048" y="402336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default_lease: duration</a:t>
            </a:r>
          </a:p>
        </p:txBody>
      </p:sp>
      <p:sp>
        <p:nvSpPr>
          <p:cNvPr id="40" name="Rectangle 39"/>
          <p:cNvSpPr/>
          <p:nvPr/>
        </p:nvSpPr>
        <p:spPr>
          <a:xfrm>
            <a:off x="2670048" y="417697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grant(object, tier=HBM)</a:t>
            </a:r>
          </a:p>
          <a:p>
            <a:pPr algn="l">
              <a:spcAft>
                <a:spcPts val="0"/>
              </a:spcAft>
            </a:pPr>
            <a:r>
              <a:rPr sz="650" b="0" i="0">
                <a:solidFill>
                  <a:srgbClr val="000000"/>
                </a:solidFill>
                <a:latin typeface="맑은 고딕"/>
                <a:ea typeface="맑은 고딕"/>
                <a:cs typeface="맑은 고딕"/>
              </a:rPr>
              <a:t>extend(object, behavior)</a:t>
            </a:r>
          </a:p>
        </p:txBody>
      </p:sp>
      <p:sp>
        <p:nvSpPr>
          <p:cNvPr id="41" name="Rectangle 40"/>
          <p:cNvSpPr/>
          <p:nvPr/>
        </p:nvSpPr>
        <p:spPr>
          <a:xfrm>
            <a:off x="5020055"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DataObjectRegistry</a:t>
            </a:r>
          </a:p>
        </p:txBody>
      </p:sp>
      <p:sp>
        <p:nvSpPr>
          <p:cNvPr id="42" name="Rectangle 41"/>
          <p:cNvSpPr/>
          <p:nvPr/>
        </p:nvSpPr>
        <p:spPr>
          <a:xfrm>
            <a:off x="5020055" y="402336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records: dict[object_id, ObjectRecord]</a:t>
            </a:r>
          </a:p>
        </p:txBody>
      </p:sp>
      <p:sp>
        <p:nvSpPr>
          <p:cNvPr id="43" name="Rectangle 42"/>
          <p:cNvSpPr/>
          <p:nvPr/>
        </p:nvSpPr>
        <p:spPr>
          <a:xfrm>
            <a:off x="5020055" y="4176979"/>
            <a:ext cx="1874519"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add / remove / get(object_id)</a:t>
            </a:r>
          </a:p>
          <a:p>
            <a:pPr algn="l">
              <a:spcAft>
                <a:spcPts val="0"/>
              </a:spcAft>
            </a:pPr>
            <a:r>
              <a:rPr sz="650" b="0" i="0">
                <a:solidFill>
                  <a:srgbClr val="000000"/>
                </a:solidFill>
                <a:latin typeface="맑은 고딕"/>
                <a:ea typeface="맑은 고딕"/>
                <a:cs typeface="맑은 고딕"/>
              </a:rPr>
              <a:t>move(object_id, tier)</a:t>
            </a:r>
          </a:p>
          <a:p>
            <a:pPr algn="l">
              <a:spcAft>
                <a:spcPts val="0"/>
              </a:spcAft>
            </a:pPr>
            <a:r>
              <a:rPr sz="650" b="0" i="0">
                <a:solidFill>
                  <a:srgbClr val="000000"/>
                </a:solidFill>
                <a:latin typeface="맑은 고딕"/>
                <a:ea typeface="맑은 고딕"/>
                <a:cs typeface="맑은 고딕"/>
              </a:rPr>
              <a:t>drop_to_replica(object_id)</a:t>
            </a:r>
          </a:p>
        </p:txBody>
      </p:sp>
      <p:sp>
        <p:nvSpPr>
          <p:cNvPr id="44" name="Rectangle 43"/>
          <p:cNvSpPr/>
          <p:nvPr/>
        </p:nvSpPr>
        <p:spPr>
          <a:xfrm>
            <a:off x="7370063"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LeaseTimer</a:t>
            </a:r>
          </a:p>
        </p:txBody>
      </p:sp>
      <p:sp>
        <p:nvSpPr>
          <p:cNvPr id="45" name="Rectangle 44"/>
          <p:cNvSpPr/>
          <p:nvPr/>
        </p:nvSpPr>
        <p:spPr>
          <a:xfrm>
            <a:off x="7370063" y="402336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deadlines: heap</a:t>
            </a:r>
          </a:p>
        </p:txBody>
      </p:sp>
      <p:sp>
        <p:nvSpPr>
          <p:cNvPr id="46" name="Rectangle 45"/>
          <p:cNvSpPr/>
          <p:nvPr/>
        </p:nvSpPr>
        <p:spPr>
          <a:xfrm>
            <a:off x="7370063" y="417697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arm(object, ttl)</a:t>
            </a:r>
          </a:p>
          <a:p>
            <a:pPr algn="l">
              <a:spcAft>
                <a:spcPts val="0"/>
              </a:spcAft>
            </a:pPr>
            <a:r>
              <a:rPr sz="650" b="0" i="0">
                <a:solidFill>
                  <a:srgbClr val="000000"/>
                </a:solidFill>
                <a:latin typeface="맑은 고딕"/>
                <a:ea typeface="맑은 고딕"/>
                <a:cs typeface="맑은 고딕"/>
              </a:rPr>
              <a:t>on_expire(): Event(Lease Expired)</a:t>
            </a:r>
          </a:p>
        </p:txBody>
      </p:sp>
      <p:sp>
        <p:nvSpPr>
          <p:cNvPr id="47" name="Rectangle 46"/>
          <p:cNvSpPr/>
          <p:nvPr/>
        </p:nvSpPr>
        <p:spPr>
          <a:xfrm>
            <a:off x="9720072" y="384048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MigrationExecutor</a:t>
            </a:r>
          </a:p>
        </p:txBody>
      </p:sp>
      <p:sp>
        <p:nvSpPr>
          <p:cNvPr id="48" name="Rectangle 47"/>
          <p:cNvSpPr/>
          <p:nvPr/>
        </p:nvSpPr>
        <p:spPr>
          <a:xfrm>
            <a:off x="9720072" y="402336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handlers: TransferHandlerRegistry</a:t>
            </a:r>
          </a:p>
        </p:txBody>
      </p:sp>
      <p:sp>
        <p:nvSpPr>
          <p:cNvPr id="49" name="Rectangle 48"/>
          <p:cNvSpPr/>
          <p:nvPr/>
        </p:nvSpPr>
        <p:spPr>
          <a:xfrm>
            <a:off x="9720072" y="417697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execute(command)</a:t>
            </a:r>
          </a:p>
          <a:p>
            <a:pPr algn="l">
              <a:spcAft>
                <a:spcPts val="0"/>
              </a:spcAft>
            </a:pPr>
            <a:r>
              <a:rPr sz="650" b="0" i="0">
                <a:solidFill>
                  <a:srgbClr val="000000"/>
                </a:solidFill>
                <a:latin typeface="맑은 고딕"/>
                <a:ea typeface="맑은 고딕"/>
                <a:cs typeface="맑은 고딕"/>
              </a:rPr>
              <a:t>poll_completed(): list[Result]</a:t>
            </a:r>
          </a:p>
        </p:txBody>
      </p:sp>
      <p:sp>
        <p:nvSpPr>
          <p:cNvPr id="50" name="Rectangle 49"/>
          <p:cNvSpPr/>
          <p:nvPr/>
        </p:nvSpPr>
        <p:spPr>
          <a:xfrm>
            <a:off x="320040" y="516636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ResourceStateMonitor</a:t>
            </a:r>
          </a:p>
        </p:txBody>
      </p:sp>
      <p:sp>
        <p:nvSpPr>
          <p:cNvPr id="51" name="Rectangle 50"/>
          <p:cNvSpPr/>
          <p:nvPr/>
        </p:nvSpPr>
        <p:spPr>
          <a:xfrm>
            <a:off x="320040" y="534924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usage per tier</a:t>
            </a:r>
          </a:p>
        </p:txBody>
      </p:sp>
      <p:sp>
        <p:nvSpPr>
          <p:cNvPr id="52" name="Rectangle 51"/>
          <p:cNvSpPr/>
          <p:nvPr/>
        </p:nvSpPr>
        <p:spPr>
          <a:xfrm>
            <a:off x="320040" y="5502859"/>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observe(): usage, bw_util</a:t>
            </a:r>
          </a:p>
        </p:txBody>
      </p:sp>
      <p:sp>
        <p:nvSpPr>
          <p:cNvPr id="53" name="Rectangle 52"/>
          <p:cNvSpPr/>
          <p:nvPr/>
        </p:nvSpPr>
        <p:spPr>
          <a:xfrm>
            <a:off x="2670048" y="5166360"/>
            <a:ext cx="1874519"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TelemetryCollector</a:t>
            </a:r>
          </a:p>
        </p:txBody>
      </p:sp>
      <p:sp>
        <p:nvSpPr>
          <p:cNvPr id="54" name="Rectangle 53"/>
          <p:cNvSpPr/>
          <p:nvPr/>
        </p:nvSpPr>
        <p:spPr>
          <a:xfrm>
            <a:off x="2670048" y="534924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sources: BlockPool, SchedulerStats, ...</a:t>
            </a:r>
          </a:p>
        </p:txBody>
      </p:sp>
      <p:sp>
        <p:nvSpPr>
          <p:cNvPr id="55" name="Rectangle 54"/>
          <p:cNvSpPr/>
          <p:nvPr/>
        </p:nvSpPr>
        <p:spPr>
          <a:xfrm>
            <a:off x="2670048" y="5502859"/>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collect(): MemoryTelemetry</a:t>
            </a:r>
          </a:p>
        </p:txBody>
      </p:sp>
      <p:sp>
        <p:nvSpPr>
          <p:cNvPr id="56" name="Rectangle 55"/>
          <p:cNvSpPr/>
          <p:nvPr/>
        </p:nvSpPr>
        <p:spPr>
          <a:xfrm>
            <a:off x="5020055" y="5166360"/>
            <a:ext cx="1874519"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«interface»</a:t>
            </a:r>
          </a:p>
          <a:p>
            <a:pPr algn="ctr">
              <a:spcAft>
                <a:spcPts val="0"/>
              </a:spcAft>
            </a:pPr>
            <a:r>
              <a:rPr sz="750" b="1" i="0">
                <a:solidFill>
                  <a:srgbClr val="000000"/>
                </a:solidFill>
                <a:latin typeface="맑은 고딕"/>
                <a:ea typeface="맑은 고딕"/>
                <a:cs typeface="맑은 고딕"/>
              </a:rPr>
              <a:t>MemoryBackend</a:t>
            </a:r>
          </a:p>
        </p:txBody>
      </p:sp>
      <p:sp>
        <p:nvSpPr>
          <p:cNvPr id="57" name="Rectangle 56"/>
          <p:cNvSpPr/>
          <p:nvPr/>
        </p:nvSpPr>
        <p:spPr>
          <a:xfrm>
            <a:off x="5020055" y="5440680"/>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descriptor: MemoryDescriptor</a:t>
            </a:r>
          </a:p>
          <a:p>
            <a:pPr algn="l">
              <a:spcAft>
                <a:spcPts val="0"/>
              </a:spcAft>
            </a:pPr>
            <a:r>
              <a:rPr sz="650" b="0" i="0">
                <a:solidFill>
                  <a:srgbClr val="000000"/>
                </a:solidFill>
                <a:latin typeface="맑은 고딕"/>
                <a:ea typeface="맑은 고딕"/>
                <a:cs typeface="맑은 고딕"/>
              </a:rPr>
              <a:t>// capacity, bw, latency, capability</a:t>
            </a:r>
          </a:p>
        </p:txBody>
      </p:sp>
      <p:sp>
        <p:nvSpPr>
          <p:cNvPr id="58" name="Rectangle 57"/>
          <p:cNvSpPr/>
          <p:nvPr/>
        </p:nvSpPr>
        <p:spPr>
          <a:xfrm>
            <a:off x="5020055" y="5702198"/>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export_async / import_async(...)</a:t>
            </a:r>
          </a:p>
          <a:p>
            <a:pPr algn="l">
              <a:spcAft>
                <a:spcPts val="0"/>
              </a:spcAft>
            </a:pPr>
            <a:r>
              <a:rPr sz="650" b="0" i="0">
                <a:solidFill>
                  <a:srgbClr val="000000"/>
                </a:solidFill>
                <a:latin typeface="맑은 고딕"/>
                <a:ea typeface="맑은 고딕"/>
                <a:cs typeface="맑은 고딕"/>
              </a:rPr>
              <a:t>telemetry(): MemoryTelemetry</a:t>
            </a:r>
          </a:p>
        </p:txBody>
      </p:sp>
      <p:sp>
        <p:nvSpPr>
          <p:cNvPr id="59" name="Rectangle 58"/>
          <p:cNvSpPr/>
          <p:nvPr/>
        </p:nvSpPr>
        <p:spPr>
          <a:xfrm>
            <a:off x="7370063" y="5166360"/>
            <a:ext cx="1874519"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«OffloadingHandler»</a:t>
            </a:r>
          </a:p>
          <a:p>
            <a:pPr algn="ctr">
              <a:spcAft>
                <a:spcPts val="0"/>
              </a:spcAft>
            </a:pPr>
            <a:r>
              <a:rPr sz="750" b="1" i="0">
                <a:solidFill>
                  <a:srgbClr val="000000"/>
                </a:solidFill>
                <a:latin typeface="맑은 고딕"/>
                <a:ea typeface="맑은 고딕"/>
                <a:cs typeface="맑은 고딕"/>
              </a:rPr>
              <a:t>TransferHandler</a:t>
            </a:r>
          </a:p>
        </p:txBody>
      </p:sp>
      <p:sp>
        <p:nvSpPr>
          <p:cNvPr id="60" name="Rectangle 59"/>
          <p:cNvSpPr/>
          <p:nvPr/>
        </p:nvSpPr>
        <p:spPr>
          <a:xfrm>
            <a:off x="7370063" y="5440680"/>
            <a:ext cx="1874519"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src_medium, dst_medium</a:t>
            </a:r>
          </a:p>
        </p:txBody>
      </p:sp>
      <p:sp>
        <p:nvSpPr>
          <p:cNvPr id="61" name="Rectangle 60"/>
          <p:cNvSpPr/>
          <p:nvPr/>
        </p:nvSpPr>
        <p:spPr>
          <a:xfrm>
            <a:off x="7370063" y="5594299"/>
            <a:ext cx="1874519"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transfer_async(job_id, spec): bool</a:t>
            </a:r>
          </a:p>
          <a:p>
            <a:pPr algn="l">
              <a:spcAft>
                <a:spcPts val="0"/>
              </a:spcAft>
            </a:pPr>
            <a:r>
              <a:rPr sz="650" b="0" i="0">
                <a:solidFill>
                  <a:srgbClr val="000000"/>
                </a:solidFill>
                <a:latin typeface="맑은 고딕"/>
                <a:ea typeface="맑은 고딕"/>
                <a:cs typeface="맑은 고딕"/>
              </a:rPr>
              <a:t>get_finished(): list[Result]</a:t>
            </a:r>
          </a:p>
        </p:txBody>
      </p:sp>
      <p:cxnSp>
        <p:nvCxnSpPr>
          <p:cNvPr id="62" name="Connector 61"/>
          <p:cNvCxnSpPr/>
          <p:nvPr/>
        </p:nvCxnSpPr>
        <p:spPr>
          <a:xfrm>
            <a:off x="2194560" y="1433779"/>
            <a:ext cx="475488" cy="20756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93772" y="1464411"/>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API</a:t>
            </a:r>
          </a:p>
        </p:txBody>
      </p:sp>
      <p:cxnSp>
        <p:nvCxnSpPr>
          <p:cNvPr id="64" name="Connector 63"/>
          <p:cNvCxnSpPr/>
          <p:nvPr/>
        </p:nvCxnSpPr>
        <p:spPr>
          <a:xfrm flipV="1">
            <a:off x="4544568" y="1541678"/>
            <a:ext cx="475487" cy="9967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597146" y="1518361"/>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evict</a:t>
            </a:r>
          </a:p>
        </p:txBody>
      </p:sp>
      <p:cxnSp>
        <p:nvCxnSpPr>
          <p:cNvPr id="66" name="Connector 65"/>
          <p:cNvCxnSpPr/>
          <p:nvPr/>
        </p:nvCxnSpPr>
        <p:spPr>
          <a:xfrm>
            <a:off x="6894575" y="1541678"/>
            <a:ext cx="475488" cy="53950"/>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444751" y="2093976"/>
            <a:ext cx="1787652" cy="420624"/>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2153411" y="2231136"/>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event</a:t>
            </a:r>
          </a:p>
        </p:txBody>
      </p:sp>
      <p:cxnSp>
        <p:nvCxnSpPr>
          <p:cNvPr id="69" name="Connector 68"/>
          <p:cNvCxnSpPr/>
          <p:nvPr/>
        </p:nvCxnSpPr>
        <p:spPr>
          <a:xfrm flipV="1">
            <a:off x="2194560" y="2813608"/>
            <a:ext cx="475488"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544568" y="2813608"/>
            <a:ext cx="475487" cy="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6894575" y="2759659"/>
            <a:ext cx="475488"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9244584" y="2759659"/>
            <a:ext cx="475488"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9250527" y="2713482"/>
            <a:ext cx="463600"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enqueue</a:t>
            </a:r>
          </a:p>
        </p:txBody>
      </p:sp>
      <p:cxnSp>
        <p:nvCxnSpPr>
          <p:cNvPr id="74" name="Connector 73"/>
          <p:cNvCxnSpPr/>
          <p:nvPr/>
        </p:nvCxnSpPr>
        <p:spPr>
          <a:xfrm>
            <a:off x="1257300" y="3220516"/>
            <a:ext cx="0" cy="61996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1002182" y="345734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snapshot</a:t>
            </a:r>
          </a:p>
        </p:txBody>
      </p:sp>
      <p:cxnSp>
        <p:nvCxnSpPr>
          <p:cNvPr id="76" name="Connector 75"/>
          <p:cNvCxnSpPr/>
          <p:nvPr/>
        </p:nvCxnSpPr>
        <p:spPr>
          <a:xfrm>
            <a:off x="6144767" y="3112617"/>
            <a:ext cx="0" cy="727863"/>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5959601" y="3403396"/>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query</a:t>
            </a:r>
          </a:p>
        </p:txBody>
      </p:sp>
      <p:cxnSp>
        <p:nvCxnSpPr>
          <p:cNvPr id="78" name="Connector 77"/>
          <p:cNvCxnSpPr/>
          <p:nvPr/>
        </p:nvCxnSpPr>
        <p:spPr>
          <a:xfrm>
            <a:off x="4544568" y="4139488"/>
            <a:ext cx="475487"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4597146" y="4093311"/>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grant</a:t>
            </a:r>
          </a:p>
        </p:txBody>
      </p:sp>
      <p:cxnSp>
        <p:nvCxnSpPr>
          <p:cNvPr id="80" name="Connector 79"/>
          <p:cNvCxnSpPr/>
          <p:nvPr/>
        </p:nvCxnSpPr>
        <p:spPr>
          <a:xfrm flipV="1">
            <a:off x="6894575" y="4139488"/>
            <a:ext cx="475488"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993788" y="4093311"/>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arm</a:t>
            </a:r>
          </a:p>
        </p:txBody>
      </p:sp>
      <p:cxnSp>
        <p:nvCxnSpPr>
          <p:cNvPr id="82" name="Connector 81"/>
          <p:cNvCxnSpPr/>
          <p:nvPr/>
        </p:nvCxnSpPr>
        <p:spPr>
          <a:xfrm>
            <a:off x="10657332" y="3112617"/>
            <a:ext cx="0"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10425531" y="3403396"/>
            <a:ext cx="463600"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dequeue</a:t>
            </a:r>
          </a:p>
        </p:txBody>
      </p:sp>
      <p:cxnSp>
        <p:nvCxnSpPr>
          <p:cNvPr id="84" name="Connector 83"/>
          <p:cNvCxnSpPr/>
          <p:nvPr/>
        </p:nvCxnSpPr>
        <p:spPr>
          <a:xfrm flipH="1">
            <a:off x="8307323" y="4438497"/>
            <a:ext cx="1975105"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9039758" y="4729276"/>
            <a:ext cx="510235"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dispatch</a:t>
            </a:r>
          </a:p>
        </p:txBody>
      </p:sp>
      <p:cxnSp>
        <p:nvCxnSpPr>
          <p:cNvPr id="86" name="Connector 85"/>
          <p:cNvCxnSpPr/>
          <p:nvPr/>
        </p:nvCxnSpPr>
        <p:spPr>
          <a:xfrm flipV="1">
            <a:off x="1257300" y="4330598"/>
            <a:ext cx="0" cy="835762"/>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1072134" y="4675327"/>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usage</a:t>
            </a:r>
          </a:p>
        </p:txBody>
      </p:sp>
      <p:cxnSp>
        <p:nvCxnSpPr>
          <p:cNvPr id="88" name="Connector 87"/>
          <p:cNvCxnSpPr/>
          <p:nvPr/>
        </p:nvCxnSpPr>
        <p:spPr>
          <a:xfrm flipH="1" flipV="1">
            <a:off x="1819655" y="4330598"/>
            <a:ext cx="1412748" cy="835762"/>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4544568" y="5411419"/>
            <a:ext cx="475487" cy="153619"/>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a:off x="6894575" y="5511088"/>
            <a:ext cx="475488"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6993788" y="5464911"/>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I/O</a:t>
            </a:r>
          </a:p>
        </p:txBody>
      </p:sp>
      <p:sp>
        <p:nvSpPr>
          <p:cNvPr id="92" name="TextBox 91"/>
          <p:cNvSpPr txBox="1"/>
          <p:nvPr/>
        </p:nvSpPr>
        <p:spPr>
          <a:xfrm>
            <a:off x="9720072" y="1188720"/>
            <a:ext cx="2468880" cy="1371600"/>
          </a:xfrm>
          <a:prstGeom prst="rect">
            <a:avLst/>
          </a:prstGeom>
          <a:noFill/>
        </p:spPr>
        <p:txBody>
          <a:bodyPr wrap="square" lIns="36576" tIns="18288" rIns="36576" bIns="18288" anchor="t">
            <a:spAutoFit/>
          </a:bodyPr>
          <a:lstStyle/>
          <a:p>
            <a:pPr algn="l">
              <a:spcAft>
                <a:spcPts val="0"/>
              </a:spcAft>
            </a:pPr>
            <a:r>
              <a:rPr sz="750" b="1" i="0">
                <a:solidFill>
                  <a:srgbClr val="000000"/>
                </a:solidFill>
                <a:latin typeface="맑은 고딕"/>
                <a:ea typeface="맑은 고딕"/>
                <a:cs typeface="맑은 고딕"/>
              </a:rPr>
              <a:t>흐름 요약</a:t>
            </a:r>
          </a:p>
          <a:p>
            <a:pPr algn="l">
              <a:spcAft>
                <a:spcPts val="0"/>
              </a:spcAft>
            </a:pPr>
            <a:r>
              <a:rPr sz="650" b="0" i="0">
                <a:solidFill>
                  <a:srgbClr val="000000"/>
                </a:solidFill>
                <a:latin typeface="맑은 고딕"/>
                <a:ea typeface="맑은 고딕"/>
                <a:cs typeface="맑은 고딕"/>
              </a:rPr>
              <a:t>① TelemetryCollector → StateSnapshotBuilder ② DecisionScheduler 주기 tick</a:t>
            </a:r>
          </a:p>
          <a:p>
            <a:pPr algn="l">
              <a:spcAft>
                <a:spcPts val="0"/>
              </a:spcAft>
            </a:pPr>
            <a:r>
              <a:rPr sz="650" b="0" i="0">
                <a:solidFill>
                  <a:srgbClr val="000000"/>
                </a:solidFill>
                <a:latin typeface="맑은 고딕"/>
                <a:ea typeface="맑은 고딕"/>
                <a:cs typeface="맑은 고딕"/>
              </a:rPr>
              <a:t>③ Trend→Affinity→Policy → CommandQueue ④ MigrationExecutor→TransferHandler→MemoryBackend</a:t>
            </a:r>
          </a:p>
          <a:p>
            <a:pPr algn="l">
              <a:spcAft>
                <a:spcPts val="0"/>
              </a:spcAft>
            </a:pPr>
            <a:r>
              <a:rPr sz="650" b="0" i="0">
                <a:solidFill>
                  <a:srgbClr val="000000"/>
                </a:solidFill>
                <a:latin typeface="맑은 고딕"/>
                <a:ea typeface="맑은 고딕"/>
                <a:cs typeface="맑은 고딕"/>
              </a:rPr>
              <a:t>⑤ LeaseTimer 만료 Event → DecisionScheduler 재평가(lease 연장/선별 demotion)</a:t>
            </a:r>
          </a:p>
          <a:p>
            <a:pPr algn="l">
              <a:spcAft>
                <a:spcPts val="0"/>
              </a:spcAft>
            </a:pPr>
            <a:r>
              <a:rPr sz="650" b="0" i="0">
                <a:solidFill>
                  <a:srgbClr val="595959"/>
                </a:solidFill>
                <a:latin typeface="맑은 고딕"/>
                <a:ea typeface="맑은 고딕"/>
                <a:cs typeface="맑은 고딕"/>
              </a:rPr>
              <a:t>• Experts/LoRA는 Registry에 같은 방식으로 등록(Phase 1은 KV 한정)</a:t>
            </a:r>
          </a:p>
        </p:txBody>
      </p:sp>
      <p:sp>
        <p:nvSpPr>
          <p:cNvPr id="93" name="Rectangle 92"/>
          <p:cNvSpPr/>
          <p:nvPr/>
        </p:nvSpPr>
        <p:spPr>
          <a:xfrm>
            <a:off x="9720072" y="5257800"/>
            <a:ext cx="457200" cy="20116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기존</a:t>
            </a:r>
          </a:p>
        </p:txBody>
      </p:sp>
      <p:sp>
        <p:nvSpPr>
          <p:cNvPr id="94" name="Rectangle 93"/>
          <p:cNvSpPr/>
          <p:nvPr/>
        </p:nvSpPr>
        <p:spPr>
          <a:xfrm>
            <a:off x="10222992" y="5257800"/>
            <a:ext cx="685800" cy="20116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신규/수정</a:t>
            </a:r>
          </a:p>
        </p:txBody>
      </p:sp>
      <p:sp>
        <p:nvSpPr>
          <p:cNvPr id="95" name="TextBox 94"/>
          <p:cNvSpPr txBox="1"/>
          <p:nvPr/>
        </p:nvSpPr>
        <p:spPr>
          <a:xfrm>
            <a:off x="9720072" y="5486400"/>
            <a:ext cx="1737360" cy="54864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구성   ━▶ 연관·호출</a:t>
            </a:r>
          </a:p>
          <a:p>
            <a:pPr algn="l">
              <a:spcAft>
                <a:spcPts val="0"/>
              </a:spcAft>
            </a:pPr>
            <a:r>
              <a:rPr sz="650" b="0" i="0">
                <a:solidFill>
                  <a:srgbClr val="000000"/>
                </a:solidFill>
                <a:latin typeface="맑은 고딕"/>
                <a:ea typeface="맑은 고딕"/>
                <a:cs typeface="맑은 고딕"/>
              </a:rPr>
              <a:t>┅▶ 의존(use/event)  ▷ 구현</a:t>
            </a:r>
          </a:p>
        </p:txBody>
      </p:sp>
      <p:sp>
        <p:nvSpPr>
          <p:cNvPr id="98" name="실행 단추: 뒤로 또는 앞으로 이동 97">
            <a:hlinkClick r:id="rId3" action="ppaction://hlinksldjump" highlightClick="1"/>
            <a:extLst>
              <a:ext uri="{FF2B5EF4-FFF2-40B4-BE49-F238E27FC236}">
                <a16:creationId xmlns:a16="http://schemas.microsoft.com/office/drawing/2014/main" id="{AB9F87C1-560C-4E16-99AC-E00570FDBD5B}"/>
              </a:ext>
            </a:extLst>
          </p:cNvPr>
          <p:cNvSpPr/>
          <p:nvPr/>
        </p:nvSpPr>
        <p:spPr>
          <a:xfrm>
            <a:off x="7601406" y="214884"/>
            <a:ext cx="283692" cy="2377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최종 구조 설계 – 전체 Class Diagram (3/3) KV 재사용·공유</a:t>
            </a:r>
          </a:p>
        </p:txBody>
      </p:sp>
      <p:sp>
        <p:nvSpPr>
          <p:cNvPr id="3" name="TextBox 2"/>
          <p:cNvSpPr txBox="1"/>
          <p:nvPr/>
        </p:nvSpPr>
        <p:spPr>
          <a:xfrm>
            <a:off x="45720" y="6583680"/>
            <a:ext cx="548640" cy="237744"/>
          </a:xfrm>
          <a:prstGeom prst="rect">
            <a:avLst/>
          </a:prstGeom>
          <a:noFill/>
        </p:spPr>
        <p:txBody>
          <a:bodyPr wrap="square" lIns="36576" tIns="18288" rIns="36576" bIns="18288" anchor="t">
            <a:spAutoFit/>
          </a:bodyPr>
          <a:lstStyle/>
          <a:p>
            <a:pPr algn="l">
              <a:spcAft>
                <a:spcPts val="0"/>
              </a:spcAft>
            </a:pPr>
            <a:r>
              <a:rPr sz="1000" b="0" i="0">
                <a:solidFill>
                  <a:srgbClr val="7F7F7F"/>
                </a:solidFill>
                <a:latin typeface="맑은 고딕"/>
                <a:ea typeface="맑은 고딕"/>
                <a:cs typeface="맑은 고딕"/>
              </a:rPr>
              <a:t>19</a:t>
            </a:r>
          </a:p>
        </p:txBody>
      </p:sp>
      <p:sp>
        <p:nvSpPr>
          <p:cNvPr id="4" name="Rectangle 3"/>
          <p:cNvSpPr/>
          <p:nvPr/>
        </p:nvSpPr>
        <p:spPr>
          <a:xfrm>
            <a:off x="274320" y="685800"/>
            <a:ext cx="7863840" cy="274320"/>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DP3. KV 캐시 재사용 (사전 분석 1회 + 요청마다 조회)</a:t>
            </a:r>
          </a:p>
        </p:txBody>
      </p:sp>
      <p:sp>
        <p:nvSpPr>
          <p:cNvPr id="5" name="Rectangle 4"/>
          <p:cNvSpPr/>
          <p:nvPr/>
        </p:nvSpPr>
        <p:spPr>
          <a:xfrm>
            <a:off x="8321040" y="685800"/>
            <a:ext cx="3657600" cy="274320"/>
          </a:xfrm>
          <a:prstGeom prst="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DP4. 서버 간 KV 캐시 공유</a:t>
            </a:r>
          </a:p>
        </p:txBody>
      </p:sp>
      <p:sp>
        <p:nvSpPr>
          <p:cNvPr id="6" name="Rectangle 5"/>
          <p:cNvSpPr/>
          <p:nvPr/>
        </p:nvSpPr>
        <p:spPr>
          <a:xfrm>
            <a:off x="320040" y="118872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QuerySampler</a:t>
            </a:r>
          </a:p>
        </p:txBody>
      </p:sp>
      <p:sp>
        <p:nvSpPr>
          <p:cNvPr id="7" name="Rectangle 6"/>
          <p:cNvSpPr/>
          <p:nvPr/>
        </p:nvSpPr>
        <p:spPr>
          <a:xfrm>
            <a:off x="320040" y="137160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workloads</a:t>
            </a:r>
          </a:p>
        </p:txBody>
      </p:sp>
      <p:sp>
        <p:nvSpPr>
          <p:cNvPr id="8" name="Rectangle 7"/>
          <p:cNvSpPr/>
          <p:nvPr/>
        </p:nvSpPr>
        <p:spPr>
          <a:xfrm>
            <a:off x="320040" y="1525219"/>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sample(workload): representative queries</a:t>
            </a:r>
          </a:p>
        </p:txBody>
      </p:sp>
      <p:sp>
        <p:nvSpPr>
          <p:cNvPr id="9" name="Rectangle 8"/>
          <p:cNvSpPr/>
          <p:nvPr/>
        </p:nvSpPr>
        <p:spPr>
          <a:xfrm>
            <a:off x="2304288" y="118872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AttentionManager</a:t>
            </a:r>
          </a:p>
        </p:txBody>
      </p:sp>
      <p:sp>
        <p:nvSpPr>
          <p:cNvPr id="10" name="Rectangle 9"/>
          <p:cNvSpPr/>
          <p:nvPr/>
        </p:nvSpPr>
        <p:spPr>
          <a:xfrm>
            <a:off x="2304288" y="137160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304288" y="1417320"/>
            <a:ext cx="1600200" cy="153619"/>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score(query, context_kv): scores</a:t>
            </a:r>
          </a:p>
        </p:txBody>
      </p:sp>
      <p:sp>
        <p:nvSpPr>
          <p:cNvPr id="12" name="Rectangle 11"/>
          <p:cNvSpPr/>
          <p:nvPr/>
        </p:nvSpPr>
        <p:spPr>
          <a:xfrm>
            <a:off x="4288536" y="118872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KVSampler</a:t>
            </a:r>
          </a:p>
        </p:txBody>
      </p:sp>
      <p:sp>
        <p:nvSpPr>
          <p:cNvPr id="13" name="Rectangle 12"/>
          <p:cNvSpPr/>
          <p:nvPr/>
        </p:nvSpPr>
        <p:spPr>
          <a:xfrm>
            <a:off x="4288536" y="137160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88536" y="141732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select_reuse(scores): token_ids</a:t>
            </a:r>
          </a:p>
        </p:txBody>
      </p:sp>
      <p:sp>
        <p:nvSpPr>
          <p:cNvPr id="15" name="Rectangle 14"/>
          <p:cNvSpPr/>
          <p:nvPr/>
        </p:nvSpPr>
        <p:spPr>
          <a:xfrm>
            <a:off x="6272783" y="118872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RecomputeTokenSelector</a:t>
            </a:r>
          </a:p>
        </p:txBody>
      </p:sp>
      <p:sp>
        <p:nvSpPr>
          <p:cNvPr id="16" name="Rectangle 15"/>
          <p:cNvSpPr/>
          <p:nvPr/>
        </p:nvSpPr>
        <p:spPr>
          <a:xfrm>
            <a:off x="6272783" y="1371600"/>
            <a:ext cx="1600200" cy="45720"/>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72783" y="141732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select(scores): recompute_positions</a:t>
            </a:r>
          </a:p>
        </p:txBody>
      </p:sp>
      <p:sp>
        <p:nvSpPr>
          <p:cNvPr id="18" name="Rectangle 17"/>
          <p:cNvSpPr/>
          <p:nvPr/>
        </p:nvSpPr>
        <p:spPr>
          <a:xfrm>
            <a:off x="320040" y="251460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OfflineAnalyzer</a:t>
            </a:r>
          </a:p>
        </p:txBody>
      </p:sp>
      <p:sp>
        <p:nvSpPr>
          <p:cNvPr id="19" name="Rectangle 18"/>
          <p:cNvSpPr/>
          <p:nvPr/>
        </p:nvSpPr>
        <p:spPr>
          <a:xfrm>
            <a:off x="320040" y="269748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sampler / attn / kv_sampler / selector</a:t>
            </a:r>
          </a:p>
        </p:txBody>
      </p:sp>
      <p:sp>
        <p:nvSpPr>
          <p:cNvPr id="20" name="Rectangle 19"/>
          <p:cNvSpPr/>
          <p:nvPr/>
        </p:nvSpPr>
        <p:spPr>
          <a:xfrm>
            <a:off x="320040" y="285109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analyze(workload): ReusePlan</a:t>
            </a:r>
          </a:p>
          <a:p>
            <a:pPr algn="l">
              <a:spcAft>
                <a:spcPts val="0"/>
              </a:spcAft>
            </a:pPr>
            <a:r>
              <a:rPr sz="650" b="0" i="0">
                <a:solidFill>
                  <a:srgbClr val="000000"/>
                </a:solidFill>
                <a:latin typeface="맑은 고딕"/>
                <a:ea typeface="맑은 고딕"/>
                <a:cs typeface="맑은 고딕"/>
              </a:rPr>
              <a:t>// 사전 1회</a:t>
            </a:r>
          </a:p>
        </p:txBody>
      </p:sp>
      <p:sp>
        <p:nvSpPr>
          <p:cNvPr id="21" name="Rectangle 20"/>
          <p:cNvSpPr/>
          <p:nvPr/>
        </p:nvSpPr>
        <p:spPr>
          <a:xfrm>
            <a:off x="6272783" y="2514600"/>
            <a:ext cx="160020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«repository»</a:t>
            </a:r>
          </a:p>
          <a:p>
            <a:pPr algn="ctr">
              <a:spcAft>
                <a:spcPts val="0"/>
              </a:spcAft>
            </a:pPr>
            <a:r>
              <a:rPr sz="750" b="1" i="0">
                <a:solidFill>
                  <a:srgbClr val="000000"/>
                </a:solidFill>
                <a:latin typeface="맑은 고딕"/>
                <a:ea typeface="맑은 고딕"/>
                <a:cs typeface="맑은 고딕"/>
              </a:rPr>
              <a:t>PlanStore</a:t>
            </a:r>
          </a:p>
        </p:txBody>
      </p:sp>
      <p:sp>
        <p:nvSpPr>
          <p:cNvPr id="22" name="Rectangle 21"/>
          <p:cNvSpPr/>
          <p:nvPr/>
        </p:nvSpPr>
        <p:spPr>
          <a:xfrm>
            <a:off x="6272783" y="278892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plans: dict[context_id, ReusePlan]</a:t>
            </a:r>
          </a:p>
          <a:p>
            <a:pPr algn="l">
              <a:spcAft>
                <a:spcPts val="0"/>
              </a:spcAft>
            </a:pPr>
            <a:r>
              <a:rPr sz="650" b="0" i="0">
                <a:solidFill>
                  <a:srgbClr val="000000"/>
                </a:solidFill>
                <a:latin typeface="맑은 고딕"/>
                <a:ea typeface="맑은 고딕"/>
                <a:cs typeface="맑은 고딕"/>
              </a:rPr>
              <a:t>context_kv: KV Repository</a:t>
            </a:r>
          </a:p>
        </p:txBody>
      </p:sp>
      <p:sp>
        <p:nvSpPr>
          <p:cNvPr id="23" name="Rectangle 22"/>
          <p:cNvSpPr/>
          <p:nvPr/>
        </p:nvSpPr>
        <p:spPr>
          <a:xfrm>
            <a:off x="6272783" y="305043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write(plan)  // 1회</a:t>
            </a:r>
          </a:p>
          <a:p>
            <a:pPr algn="l">
              <a:spcAft>
                <a:spcPts val="0"/>
              </a:spcAft>
            </a:pPr>
            <a:r>
              <a:rPr sz="650" b="0" i="0">
                <a:solidFill>
                  <a:srgbClr val="000000"/>
                </a:solidFill>
                <a:latin typeface="맑은 고딕"/>
                <a:ea typeface="맑은 고딕"/>
                <a:cs typeface="맑은 고딕"/>
              </a:rPr>
              <a:t>read(context_id): ReusePlan</a:t>
            </a:r>
          </a:p>
        </p:txBody>
      </p:sp>
      <p:sp>
        <p:nvSpPr>
          <p:cNvPr id="24" name="Rectangle 23"/>
          <p:cNvSpPr/>
          <p:nvPr/>
        </p:nvSpPr>
        <p:spPr>
          <a:xfrm>
            <a:off x="320040" y="38404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PlanAwareAdmissionController</a:t>
            </a:r>
          </a:p>
        </p:txBody>
      </p:sp>
      <p:sp>
        <p:nvSpPr>
          <p:cNvPr id="25" name="Rectangle 24"/>
          <p:cNvSpPr/>
          <p:nvPr/>
        </p:nvSpPr>
        <p:spPr>
          <a:xfrm>
            <a:off x="320040" y="40233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hbm_budget</a:t>
            </a:r>
          </a:p>
        </p:txBody>
      </p:sp>
      <p:sp>
        <p:nvSpPr>
          <p:cNvPr id="26" name="Rectangle 25"/>
          <p:cNvSpPr/>
          <p:nvPr/>
        </p:nvSpPr>
        <p:spPr>
          <a:xfrm>
            <a:off x="320040" y="417697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required_hbm(plan): bytes</a:t>
            </a:r>
          </a:p>
          <a:p>
            <a:pPr algn="l">
              <a:spcAft>
                <a:spcPts val="0"/>
              </a:spcAft>
            </a:pPr>
            <a:r>
              <a:rPr sz="650" b="0" i="0">
                <a:solidFill>
                  <a:srgbClr val="000000"/>
                </a:solidFill>
                <a:latin typeface="맑은 고딕"/>
                <a:ea typeface="맑은 고딕"/>
                <a:cs typeface="맑은 고딕"/>
              </a:rPr>
              <a:t>admit(request): bool</a:t>
            </a:r>
          </a:p>
        </p:txBody>
      </p:sp>
      <p:sp>
        <p:nvSpPr>
          <p:cNvPr id="27" name="Rectangle 26"/>
          <p:cNvSpPr/>
          <p:nvPr/>
        </p:nvSpPr>
        <p:spPr>
          <a:xfrm>
            <a:off x="2304288" y="38404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KVLayoutManager</a:t>
            </a:r>
          </a:p>
        </p:txBody>
      </p:sp>
      <p:sp>
        <p:nvSpPr>
          <p:cNvPr id="28" name="Rectangle 27"/>
          <p:cNvSpPr/>
          <p:nvPr/>
        </p:nvSpPr>
        <p:spPr>
          <a:xfrm>
            <a:off x="2304288" y="4023360"/>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base_refcount: dict</a:t>
            </a:r>
          </a:p>
          <a:p>
            <a:pPr algn="l">
              <a:spcAft>
                <a:spcPts val="0"/>
              </a:spcAft>
            </a:pPr>
            <a:r>
              <a:rPr sz="650" b="0" i="0">
                <a:solidFill>
                  <a:srgbClr val="000000"/>
                </a:solidFill>
                <a:latin typeface="맑은 고딕"/>
                <a:ea typeface="맑은 고딕"/>
                <a:cs typeface="맑은 고딕"/>
              </a:rPr>
              <a:t>delta_alloc: per request</a:t>
            </a:r>
          </a:p>
        </p:txBody>
      </p:sp>
      <p:sp>
        <p:nvSpPr>
          <p:cNvPr id="29" name="Rectangle 28"/>
          <p:cNvSpPr/>
          <p:nvPr/>
        </p:nvSpPr>
        <p:spPr>
          <a:xfrm>
            <a:off x="2304288" y="4284878"/>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share_base(context_id)</a:t>
            </a:r>
          </a:p>
          <a:p>
            <a:pPr algn="l">
              <a:spcAft>
                <a:spcPts val="0"/>
              </a:spcAft>
            </a:pPr>
            <a:r>
              <a:rPr sz="650" b="0" i="0">
                <a:solidFill>
                  <a:srgbClr val="000000"/>
                </a:solidFill>
                <a:latin typeface="맑은 고딕"/>
                <a:ea typeface="맑은 고딕"/>
                <a:cs typeface="맑은 고딕"/>
              </a:rPr>
              <a:t>allocate_delta(request, ρ)</a:t>
            </a:r>
          </a:p>
        </p:txBody>
      </p:sp>
      <p:sp>
        <p:nvSpPr>
          <p:cNvPr id="30" name="Rectangle 29"/>
          <p:cNvSpPr/>
          <p:nvPr/>
        </p:nvSpPr>
        <p:spPr>
          <a:xfrm>
            <a:off x="4288536" y="3840480"/>
            <a:ext cx="1600200" cy="182880"/>
          </a:xfrm>
          <a:prstGeom prst="rect">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SelectiveRecomputer</a:t>
            </a:r>
          </a:p>
        </p:txBody>
      </p:sp>
      <p:sp>
        <p:nvSpPr>
          <p:cNvPr id="31" name="Rectangle 30"/>
          <p:cNvSpPr/>
          <p:nvPr/>
        </p:nvSpPr>
        <p:spPr>
          <a:xfrm>
            <a:off x="4288536" y="4023360"/>
            <a:ext cx="1600200" cy="4572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288536" y="4069080"/>
            <a:ext cx="1600200" cy="261518"/>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recompute(tokens, base+delta)</a:t>
            </a:r>
          </a:p>
          <a:p>
            <a:pPr algn="l">
              <a:spcAft>
                <a:spcPts val="0"/>
              </a:spcAft>
            </a:pPr>
            <a:r>
              <a:rPr sz="650" b="0" i="0">
                <a:solidFill>
                  <a:srgbClr val="000000"/>
                </a:solidFill>
                <a:latin typeface="맑은 고딕"/>
                <a:ea typeface="맑은 고딕"/>
                <a:cs typeface="맑은 고딕"/>
              </a:rPr>
              <a:t>// blending과 같은 동작</a:t>
            </a:r>
          </a:p>
        </p:txBody>
      </p:sp>
      <p:sp>
        <p:nvSpPr>
          <p:cNvPr id="33" name="Rectangle 32"/>
          <p:cNvSpPr/>
          <p:nvPr/>
        </p:nvSpPr>
        <p:spPr>
          <a:xfrm>
            <a:off x="6272783" y="3840480"/>
            <a:ext cx="160020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Validator</a:t>
            </a:r>
          </a:p>
        </p:txBody>
      </p:sp>
      <p:sp>
        <p:nvSpPr>
          <p:cNvPr id="34" name="Rectangle 33"/>
          <p:cNvSpPr/>
          <p:nvPr/>
        </p:nvSpPr>
        <p:spPr>
          <a:xfrm>
            <a:off x="6272783" y="4023360"/>
            <a:ext cx="160020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stale 기준</a:t>
            </a:r>
          </a:p>
        </p:txBody>
      </p:sp>
      <p:sp>
        <p:nvSpPr>
          <p:cNvPr id="35" name="Rectangle 34"/>
          <p:cNvSpPr/>
          <p:nvPr/>
        </p:nvSpPr>
        <p:spPr>
          <a:xfrm>
            <a:off x="6272783" y="4176979"/>
            <a:ext cx="160020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validate(plan, result)</a:t>
            </a:r>
          </a:p>
          <a:p>
            <a:pPr algn="l">
              <a:spcAft>
                <a:spcPts val="0"/>
              </a:spcAft>
            </a:pPr>
            <a:r>
              <a:rPr sz="650" b="0" i="0">
                <a:solidFill>
                  <a:srgbClr val="000000"/>
                </a:solidFill>
                <a:latin typeface="맑은 고딕"/>
                <a:ea typeface="맑은 고딕"/>
                <a:cs typeface="맑은 고딕"/>
              </a:rPr>
              <a:t>update(plan)  // stale 보완</a:t>
            </a:r>
          </a:p>
        </p:txBody>
      </p:sp>
      <p:cxnSp>
        <p:nvCxnSpPr>
          <p:cNvPr id="36" name="Connector 35"/>
          <p:cNvCxnSpPr/>
          <p:nvPr/>
        </p:nvCxnSpPr>
        <p:spPr>
          <a:xfrm flipV="1">
            <a:off x="1920240" y="1379829"/>
            <a:ext cx="384048" cy="5395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927098" y="1333652"/>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query</a:t>
            </a:r>
          </a:p>
        </p:txBody>
      </p:sp>
      <p:cxnSp>
        <p:nvCxnSpPr>
          <p:cNvPr id="38" name="Connector 37"/>
          <p:cNvCxnSpPr/>
          <p:nvPr/>
        </p:nvCxnSpPr>
        <p:spPr>
          <a:xfrm>
            <a:off x="3904487" y="1379829"/>
            <a:ext cx="384049"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888028" y="1306677"/>
            <a:ext cx="41696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scores</a:t>
            </a:r>
          </a:p>
        </p:txBody>
      </p:sp>
      <p:cxnSp>
        <p:nvCxnSpPr>
          <p:cNvPr id="40" name="Connector 39"/>
          <p:cNvCxnSpPr/>
          <p:nvPr/>
        </p:nvCxnSpPr>
        <p:spPr>
          <a:xfrm>
            <a:off x="5888736" y="1379829"/>
            <a:ext cx="384047" cy="0"/>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20140" y="1678838"/>
            <a:ext cx="0" cy="835762"/>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958291" y="2023567"/>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uses</a:t>
            </a:r>
          </a:p>
        </p:txBody>
      </p:sp>
      <p:cxnSp>
        <p:nvCxnSpPr>
          <p:cNvPr id="43" name="Connector 42"/>
          <p:cNvCxnSpPr/>
          <p:nvPr/>
        </p:nvCxnSpPr>
        <p:spPr>
          <a:xfrm>
            <a:off x="7072883" y="1570939"/>
            <a:ext cx="0" cy="943661"/>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887718" y="1969617"/>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write</a:t>
            </a:r>
          </a:p>
        </p:txBody>
      </p:sp>
      <p:cxnSp>
        <p:nvCxnSpPr>
          <p:cNvPr id="45" name="Connector 44"/>
          <p:cNvCxnSpPr/>
          <p:nvPr/>
        </p:nvCxnSpPr>
        <p:spPr>
          <a:xfrm>
            <a:off x="7392923" y="3311956"/>
            <a:ext cx="0" cy="528524"/>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184440" y="3503066"/>
            <a:ext cx="416966"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update</a:t>
            </a:r>
          </a:p>
        </p:txBody>
      </p:sp>
      <p:cxnSp>
        <p:nvCxnSpPr>
          <p:cNvPr id="47" name="Connector 46"/>
          <p:cNvCxnSpPr/>
          <p:nvPr/>
        </p:nvCxnSpPr>
        <p:spPr>
          <a:xfrm>
            <a:off x="1920240" y="4139488"/>
            <a:ext cx="384048"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927098" y="4093311"/>
            <a:ext cx="370332"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Delta</a:t>
            </a:r>
          </a:p>
        </p:txBody>
      </p:sp>
      <p:cxnSp>
        <p:nvCxnSpPr>
          <p:cNvPr id="49" name="Connector 48"/>
          <p:cNvCxnSpPr/>
          <p:nvPr/>
        </p:nvCxnSpPr>
        <p:spPr>
          <a:xfrm flipV="1">
            <a:off x="3904487" y="4085539"/>
            <a:ext cx="384049" cy="10789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981297" y="4066336"/>
            <a:ext cx="230428"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KV</a:t>
            </a:r>
          </a:p>
        </p:txBody>
      </p:sp>
      <p:cxnSp>
        <p:nvCxnSpPr>
          <p:cNvPr id="51" name="Connector 50"/>
          <p:cNvCxnSpPr/>
          <p:nvPr/>
        </p:nvCxnSpPr>
        <p:spPr>
          <a:xfrm>
            <a:off x="5888736" y="4085539"/>
            <a:ext cx="384047" cy="53949"/>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965545" y="4039362"/>
            <a:ext cx="230428"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결과</a:t>
            </a:r>
          </a:p>
        </p:txBody>
      </p:sp>
      <p:cxnSp>
        <p:nvCxnSpPr>
          <p:cNvPr id="53" name="Connector 52"/>
          <p:cNvCxnSpPr/>
          <p:nvPr/>
        </p:nvCxnSpPr>
        <p:spPr>
          <a:xfrm flipH="1">
            <a:off x="5568696" y="3311956"/>
            <a:ext cx="1024127" cy="528524"/>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802325" y="3503066"/>
            <a:ext cx="556869"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read plan</a:t>
            </a:r>
          </a:p>
        </p:txBody>
      </p:sp>
      <p:sp>
        <p:nvSpPr>
          <p:cNvPr id="55" name="TextBox 54"/>
          <p:cNvSpPr txBox="1"/>
          <p:nvPr/>
        </p:nvSpPr>
        <p:spPr>
          <a:xfrm>
            <a:off x="2258568" y="2560320"/>
            <a:ext cx="3749039" cy="1143000"/>
          </a:xfrm>
          <a:prstGeom prst="rect">
            <a:avLst/>
          </a:prstGeom>
          <a:noFill/>
        </p:spPr>
        <p:txBody>
          <a:bodyPr wrap="square" lIns="36576" tIns="18288" rIns="36576" bIns="18288" anchor="t">
            <a:spAutoFit/>
          </a:bodyPr>
          <a:lstStyle/>
          <a:p>
            <a:pPr algn="l">
              <a:spcAft>
                <a:spcPts val="0"/>
              </a:spcAft>
            </a:pPr>
            <a:r>
              <a:rPr sz="700" b="1" i="0">
                <a:solidFill>
                  <a:srgbClr val="000000"/>
                </a:solidFill>
                <a:latin typeface="맑은 고딕"/>
                <a:ea typeface="맑은 고딕"/>
                <a:cs typeface="맑은 고딕"/>
              </a:rPr>
              <a:t>서빙 경로: Scheduler → (admit) → KVLayoutManager → SelectiveRecomputer</a:t>
            </a:r>
          </a:p>
          <a:p>
            <a:pPr algn="l">
              <a:spcAft>
                <a:spcPts val="0"/>
              </a:spcAft>
            </a:pPr>
            <a:r>
              <a:rPr sz="650" b="0" i="0">
                <a:solidFill>
                  <a:srgbClr val="000000"/>
                </a:solidFill>
                <a:latin typeface="맑은 고딕"/>
                <a:ea typeface="맑은 고딕"/>
                <a:cs typeface="맑은 고딕"/>
              </a:rPr>
              <a:t>• 조회는 PlanStore read 1회뿐 → tail latency 평탄</a:t>
            </a:r>
          </a:p>
          <a:p>
            <a:pPr algn="l">
              <a:spcAft>
                <a:spcPts val="0"/>
              </a:spcAft>
            </a:pPr>
            <a:r>
              <a:rPr sz="650" b="0" i="0">
                <a:solidFill>
                  <a:srgbClr val="000000"/>
                </a:solidFill>
                <a:latin typeface="맑은 고딕"/>
                <a:ea typeface="맑은 고딕"/>
                <a:cs typeface="맑은 고딕"/>
              </a:rPr>
              <a:t>• 공통 KV는 Base로 공유(refcount), 요청별 Delta만 Append → HBM 3.0L→1.3L (N=3, ρ=0.15 가정)</a:t>
            </a:r>
          </a:p>
          <a:p>
            <a:pPr algn="l">
              <a:spcAft>
                <a:spcPts val="0"/>
              </a:spcAft>
            </a:pPr>
            <a:r>
              <a:rPr sz="650" b="0" i="0">
                <a:solidFill>
                  <a:srgbClr val="000000"/>
                </a:solidFill>
                <a:latin typeface="맑은 고딕"/>
                <a:ea typeface="맑은 고딕"/>
                <a:cs typeface="맑은 고딕"/>
              </a:rPr>
              <a:t>• Validator가 stale 재계산 위치를 갱신 (정확도 C02 보호)</a:t>
            </a:r>
          </a:p>
        </p:txBody>
      </p:sp>
      <p:sp>
        <p:nvSpPr>
          <p:cNvPr id="56" name="Rectangle 55"/>
          <p:cNvSpPr/>
          <p:nvPr/>
        </p:nvSpPr>
        <p:spPr>
          <a:xfrm>
            <a:off x="8412480" y="1188720"/>
            <a:ext cx="169164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MigrationExecutor</a:t>
            </a:r>
          </a:p>
        </p:txBody>
      </p:sp>
      <p:sp>
        <p:nvSpPr>
          <p:cNvPr id="57" name="Rectangle 56"/>
          <p:cNvSpPr/>
          <p:nvPr/>
        </p:nvSpPr>
        <p:spPr>
          <a:xfrm>
            <a:off x="8412480" y="1371600"/>
            <a:ext cx="169164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client: MetadataClient</a:t>
            </a:r>
          </a:p>
        </p:txBody>
      </p:sp>
      <p:sp>
        <p:nvSpPr>
          <p:cNvPr id="58" name="Rectangle 57"/>
          <p:cNvSpPr/>
          <p:nvPr/>
        </p:nvSpPr>
        <p:spPr>
          <a:xfrm>
            <a:off x="8412480" y="1525219"/>
            <a:ext cx="169164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execute(command)</a:t>
            </a:r>
          </a:p>
          <a:p>
            <a:pPr algn="l">
              <a:spcAft>
                <a:spcPts val="0"/>
              </a:spcAft>
            </a:pPr>
            <a:r>
              <a:rPr sz="650" b="0" i="0">
                <a:solidFill>
                  <a:srgbClr val="000000"/>
                </a:solidFill>
                <a:latin typeface="맑은 고딕"/>
                <a:ea typeface="맑은 고딕"/>
                <a:cs typeface="맑은 고딕"/>
              </a:rPr>
              <a:t>// 데이터 송·수신</a:t>
            </a:r>
          </a:p>
        </p:txBody>
      </p:sp>
      <p:sp>
        <p:nvSpPr>
          <p:cNvPr id="59" name="Rectangle 58"/>
          <p:cNvSpPr/>
          <p:nvPr/>
        </p:nvSpPr>
        <p:spPr>
          <a:xfrm>
            <a:off x="10241280" y="1188720"/>
            <a:ext cx="169164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MetadataClient</a:t>
            </a:r>
          </a:p>
        </p:txBody>
      </p:sp>
      <p:sp>
        <p:nvSpPr>
          <p:cNvPr id="60" name="Rectangle 59"/>
          <p:cNvSpPr/>
          <p:nvPr/>
        </p:nvSpPr>
        <p:spPr>
          <a:xfrm>
            <a:off x="10241280" y="1371600"/>
            <a:ext cx="169164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slot: request/response</a:t>
            </a:r>
          </a:p>
          <a:p>
            <a:pPr algn="l">
              <a:spcAft>
                <a:spcPts val="0"/>
              </a:spcAft>
            </a:pPr>
            <a:r>
              <a:rPr sz="650" b="0" i="0">
                <a:solidFill>
                  <a:srgbClr val="000000"/>
                </a:solidFill>
                <a:latin typeface="맑은 고딕"/>
                <a:ea typeface="맑은 고딕"/>
                <a:cs typeface="맑은 고딕"/>
              </a:rPr>
              <a:t>server_addr</a:t>
            </a:r>
          </a:p>
        </p:txBody>
      </p:sp>
      <p:sp>
        <p:nvSpPr>
          <p:cNvPr id="61" name="Rectangle 60"/>
          <p:cNvSpPr/>
          <p:nvPr/>
        </p:nvSpPr>
        <p:spPr>
          <a:xfrm>
            <a:off x="10241280" y="1633118"/>
            <a:ext cx="169164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request(op, key): Response</a:t>
            </a:r>
          </a:p>
          <a:p>
            <a:pPr algn="l">
              <a:spcAft>
                <a:spcPts val="0"/>
              </a:spcAft>
            </a:pPr>
            <a:r>
              <a:rPr sz="650" b="0" i="0">
                <a:solidFill>
                  <a:srgbClr val="000000"/>
                </a:solidFill>
                <a:latin typeface="맑은 고딕"/>
                <a:ea typeface="맑은 고딕"/>
                <a:cs typeface="맑은 고딕"/>
              </a:rPr>
              <a:t>// 캐시 우회 write, polling</a:t>
            </a:r>
          </a:p>
        </p:txBody>
      </p:sp>
      <p:sp>
        <p:nvSpPr>
          <p:cNvPr id="62" name="Rectangle 61"/>
          <p:cNvSpPr/>
          <p:nvPr/>
        </p:nvSpPr>
        <p:spPr>
          <a:xfrm>
            <a:off x="8412480" y="2514600"/>
            <a:ext cx="1691640" cy="27432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600" b="0" i="0">
                <a:solidFill>
                  <a:srgbClr val="595959"/>
                </a:solidFill>
                <a:latin typeface="맑은 고딕"/>
                <a:ea typeface="맑은 고딕"/>
                <a:cs typeface="맑은 고딕"/>
              </a:rPr>
              <a:t>«store»</a:t>
            </a:r>
          </a:p>
          <a:p>
            <a:pPr algn="ctr">
              <a:spcAft>
                <a:spcPts val="0"/>
              </a:spcAft>
            </a:pPr>
            <a:r>
              <a:rPr sz="750" b="1" i="0">
                <a:solidFill>
                  <a:srgbClr val="000000"/>
                </a:solidFill>
                <a:latin typeface="맑은 고딕"/>
                <a:ea typeface="맑은 고딕"/>
                <a:cs typeface="맑은 고딕"/>
              </a:rPr>
              <a:t>CxlSharedPool</a:t>
            </a:r>
          </a:p>
        </p:txBody>
      </p:sp>
      <p:sp>
        <p:nvSpPr>
          <p:cNvPr id="63" name="Rectangle 62"/>
          <p:cNvSpPr/>
          <p:nvPr/>
        </p:nvSpPr>
        <p:spPr>
          <a:xfrm>
            <a:off x="8412480" y="2788920"/>
            <a:ext cx="169164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kv_data (non-coherent)</a:t>
            </a:r>
          </a:p>
        </p:txBody>
      </p:sp>
      <p:sp>
        <p:nvSpPr>
          <p:cNvPr id="64" name="Rectangle 63"/>
          <p:cNvSpPr/>
          <p:nvPr/>
        </p:nvSpPr>
        <p:spPr>
          <a:xfrm>
            <a:off x="8412480" y="2942539"/>
            <a:ext cx="169164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read(addr, n)</a:t>
            </a:r>
          </a:p>
          <a:p>
            <a:pPr algn="l">
              <a:spcAft>
                <a:spcPts val="0"/>
              </a:spcAft>
            </a:pPr>
            <a:r>
              <a:rPr sz="650" b="0" i="0">
                <a:solidFill>
                  <a:srgbClr val="000000"/>
                </a:solidFill>
                <a:latin typeface="맑은 고딕"/>
                <a:ea typeface="맑은 고딕"/>
                <a:cs typeface="맑은 고딕"/>
              </a:rPr>
              <a:t>write(addr, n)</a:t>
            </a:r>
          </a:p>
        </p:txBody>
      </p:sp>
      <p:sp>
        <p:nvSpPr>
          <p:cNvPr id="65" name="Rectangle 64"/>
          <p:cNvSpPr/>
          <p:nvPr/>
        </p:nvSpPr>
        <p:spPr>
          <a:xfrm>
            <a:off x="10241280" y="2514600"/>
            <a:ext cx="169164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ShardRouter</a:t>
            </a:r>
          </a:p>
        </p:txBody>
      </p:sp>
      <p:sp>
        <p:nvSpPr>
          <p:cNvPr id="66" name="Rectangle 65"/>
          <p:cNvSpPr/>
          <p:nvPr/>
        </p:nvSpPr>
        <p:spPr>
          <a:xfrm>
            <a:off x="10241280" y="2697480"/>
            <a:ext cx="169164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workers: list[ShardWorker]</a:t>
            </a:r>
          </a:p>
        </p:txBody>
      </p:sp>
      <p:sp>
        <p:nvSpPr>
          <p:cNvPr id="67" name="Rectangle 66"/>
          <p:cNvSpPr/>
          <p:nvPr/>
        </p:nvSpPr>
        <p:spPr>
          <a:xfrm>
            <a:off x="10241280" y="2851099"/>
            <a:ext cx="169164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route(object_id): ShardWorker</a:t>
            </a:r>
          </a:p>
          <a:p>
            <a:pPr algn="l">
              <a:spcAft>
                <a:spcPts val="0"/>
              </a:spcAft>
            </a:pPr>
            <a:r>
              <a:rPr sz="650" b="0" i="0">
                <a:solidFill>
                  <a:srgbClr val="000000"/>
                </a:solidFill>
                <a:latin typeface="맑은 고딕"/>
                <a:ea typeface="맑은 고딕"/>
                <a:cs typeface="맑은 고딕"/>
              </a:rPr>
              <a:t>// hash(Data Object ID)</a:t>
            </a:r>
          </a:p>
        </p:txBody>
      </p:sp>
      <p:sp>
        <p:nvSpPr>
          <p:cNvPr id="68" name="Rectangle 67"/>
          <p:cNvSpPr/>
          <p:nvPr/>
        </p:nvSpPr>
        <p:spPr>
          <a:xfrm>
            <a:off x="10241280" y="3840480"/>
            <a:ext cx="169164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ShardWorker</a:t>
            </a:r>
          </a:p>
        </p:txBody>
      </p:sp>
      <p:sp>
        <p:nvSpPr>
          <p:cNvPr id="69" name="Rectangle 68"/>
          <p:cNvSpPr/>
          <p:nvPr/>
        </p:nvSpPr>
        <p:spPr>
          <a:xfrm>
            <a:off x="10241280" y="4023360"/>
            <a:ext cx="169164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shard: MetadataShard</a:t>
            </a:r>
          </a:p>
        </p:txBody>
      </p:sp>
      <p:sp>
        <p:nvSpPr>
          <p:cNvPr id="70" name="Rectangle 69"/>
          <p:cNvSpPr/>
          <p:nvPr/>
        </p:nvSpPr>
        <p:spPr>
          <a:xfrm>
            <a:off x="10241280" y="4176979"/>
            <a:ext cx="1691640" cy="261518"/>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lookup / insert / evict(key)</a:t>
            </a:r>
          </a:p>
          <a:p>
            <a:pPr algn="l">
              <a:spcAft>
                <a:spcPts val="0"/>
              </a:spcAft>
            </a:pPr>
            <a:r>
              <a:rPr sz="650" b="0" i="0">
                <a:solidFill>
                  <a:srgbClr val="000000"/>
                </a:solidFill>
                <a:latin typeface="맑은 고딕"/>
                <a:ea typeface="맑은 고딕"/>
                <a:cs typeface="맑은 고딕"/>
              </a:rPr>
              <a:t>// 독립 처리 스레드</a:t>
            </a:r>
          </a:p>
        </p:txBody>
      </p:sp>
      <p:sp>
        <p:nvSpPr>
          <p:cNvPr id="71" name="Rectangle 70"/>
          <p:cNvSpPr/>
          <p:nvPr/>
        </p:nvSpPr>
        <p:spPr>
          <a:xfrm>
            <a:off x="10241280" y="5166360"/>
            <a:ext cx="1691640" cy="182880"/>
          </a:xfrm>
          <a:prstGeom prst="rect">
            <a:avLst/>
          </a:prstGeom>
          <a:solidFill>
            <a:srgbClr val="FFF2CC"/>
          </a:solidFill>
          <a:ln w="12700">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18288" tIns="18288" rIns="18288" bIns="18288" rtlCol="0" anchor="ctr"/>
          <a:lstStyle/>
          <a:p>
            <a:pPr algn="ctr">
              <a:spcAft>
                <a:spcPts val="0"/>
              </a:spcAft>
            </a:pPr>
            <a:r>
              <a:rPr sz="750" b="1" i="0">
                <a:solidFill>
                  <a:srgbClr val="000000"/>
                </a:solidFill>
                <a:latin typeface="맑은 고딕"/>
                <a:ea typeface="맑은 고딕"/>
                <a:cs typeface="맑은 고딕"/>
              </a:rPr>
              <a:t>MetadataShard</a:t>
            </a:r>
          </a:p>
        </p:txBody>
      </p:sp>
      <p:sp>
        <p:nvSpPr>
          <p:cNvPr id="72" name="Rectangle 71"/>
          <p:cNvSpPr/>
          <p:nvPr/>
        </p:nvSpPr>
        <p:spPr>
          <a:xfrm>
            <a:off x="10241280" y="5349240"/>
            <a:ext cx="1691640" cy="369417"/>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hash_table</a:t>
            </a:r>
          </a:p>
          <a:p>
            <a:pPr algn="l">
              <a:spcAft>
                <a:spcPts val="0"/>
              </a:spcAft>
            </a:pPr>
            <a:r>
              <a:rPr sz="650" b="0" i="0">
                <a:solidFill>
                  <a:srgbClr val="000000"/>
                </a:solidFill>
                <a:latin typeface="맑은 고딕"/>
                <a:ea typeface="맑은 고딕"/>
                <a:cs typeface="맑은 고딕"/>
              </a:rPr>
              <a:t>allocator</a:t>
            </a:r>
          </a:p>
          <a:p>
            <a:pPr algn="l">
              <a:spcAft>
                <a:spcPts val="0"/>
              </a:spcAft>
            </a:pPr>
            <a:r>
              <a:rPr sz="650" b="0" i="0">
                <a:solidFill>
                  <a:srgbClr val="000000"/>
                </a:solidFill>
                <a:latin typeface="맑은 고딕"/>
                <a:ea typeface="맑은 고딕"/>
                <a:cs typeface="맑은 고딕"/>
              </a:rPr>
              <a:t>lru</a:t>
            </a:r>
          </a:p>
        </p:txBody>
      </p:sp>
      <p:sp>
        <p:nvSpPr>
          <p:cNvPr id="73" name="Rectangle 72"/>
          <p:cNvSpPr/>
          <p:nvPr/>
        </p:nvSpPr>
        <p:spPr>
          <a:xfrm>
            <a:off x="10241280" y="5718657"/>
            <a:ext cx="1691640" cy="153619"/>
          </a:xfrm>
          <a:prstGeom prst="rect">
            <a:avLst/>
          </a:prstGeom>
          <a:solidFill>
            <a:srgbClr val="FFF2CC"/>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wrap="none" lIns="36576" tIns="18288" rIns="36576" bIns="18288" rtlCol="0" anchor="t"/>
          <a:lstStyle/>
          <a:p>
            <a:pPr algn="l">
              <a:spcAft>
                <a:spcPts val="0"/>
              </a:spcAft>
            </a:pPr>
            <a:r>
              <a:rPr sz="650" b="0" i="0">
                <a:solidFill>
                  <a:srgbClr val="000000"/>
                </a:solidFill>
                <a:latin typeface="맑은 고딕"/>
                <a:ea typeface="맑은 고딕"/>
                <a:cs typeface="맑은 고딕"/>
              </a:rPr>
              <a:t>get / put / free(key)</a:t>
            </a:r>
          </a:p>
        </p:txBody>
      </p:sp>
      <p:cxnSp>
        <p:nvCxnSpPr>
          <p:cNvPr id="74" name="Connector 73"/>
          <p:cNvCxnSpPr/>
          <p:nvPr/>
        </p:nvCxnSpPr>
        <p:spPr>
          <a:xfrm>
            <a:off x="10104119" y="1487728"/>
            <a:ext cx="137161" cy="53950"/>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1087100" y="1894636"/>
            <a:ext cx="0" cy="619964"/>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0948568" y="2131466"/>
            <a:ext cx="277063"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RPC</a:t>
            </a:r>
          </a:p>
        </p:txBody>
      </p:sp>
      <p:cxnSp>
        <p:nvCxnSpPr>
          <p:cNvPr id="77" name="Connector 76"/>
          <p:cNvCxnSpPr/>
          <p:nvPr/>
        </p:nvCxnSpPr>
        <p:spPr>
          <a:xfrm>
            <a:off x="11087100" y="3112617"/>
            <a:ext cx="0"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0925251" y="340339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hash</a:t>
            </a:r>
          </a:p>
        </p:txBody>
      </p:sp>
      <p:cxnSp>
        <p:nvCxnSpPr>
          <p:cNvPr id="79" name="Connector 78"/>
          <p:cNvCxnSpPr/>
          <p:nvPr/>
        </p:nvCxnSpPr>
        <p:spPr>
          <a:xfrm>
            <a:off x="11087100" y="4438497"/>
            <a:ext cx="0" cy="727863"/>
          </a:xfrm>
          <a:prstGeom prst="line">
            <a:avLst/>
          </a:prstGeom>
          <a:ln w="11430">
            <a:solidFill>
              <a:srgbClr val="595959"/>
            </a:solidFill>
            <a:headEnd type="diamond"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258300" y="1786737"/>
            <a:ext cx="0" cy="727863"/>
          </a:xfrm>
          <a:prstGeom prst="line">
            <a:avLst/>
          </a:prstGeom>
          <a:ln w="11430">
            <a:solidFill>
              <a:srgbClr val="595959"/>
            </a:solidFill>
            <a:tailEnd type="arrow"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9096451" y="207751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data</a:t>
            </a:r>
          </a:p>
        </p:txBody>
      </p:sp>
      <p:cxnSp>
        <p:nvCxnSpPr>
          <p:cNvPr id="82" name="Connector 81"/>
          <p:cNvCxnSpPr/>
          <p:nvPr/>
        </p:nvCxnSpPr>
        <p:spPr>
          <a:xfrm flipH="1" flipV="1">
            <a:off x="9258300" y="3204057"/>
            <a:ext cx="1321307" cy="636423"/>
          </a:xfrm>
          <a:prstGeom prst="line">
            <a:avLst/>
          </a:prstGeom>
          <a:ln w="11430">
            <a:solidFill>
              <a:srgbClr val="595959"/>
            </a:solidFill>
            <a:prstDash val="dash"/>
            <a:tailEnd type="arrow"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9757105" y="3449116"/>
            <a:ext cx="323697" cy="146304"/>
          </a:xfrm>
          <a:prstGeom prst="rect">
            <a:avLst/>
          </a:prstGeom>
          <a:noFill/>
        </p:spPr>
        <p:txBody>
          <a:bodyPr wrap="none" lIns="0" tIns="18288" rIns="0" bIns="18288" anchor="t">
            <a:spAutoFit/>
          </a:bodyPr>
          <a:lstStyle/>
          <a:p>
            <a:pPr algn="ctr">
              <a:spcAft>
                <a:spcPts val="0"/>
              </a:spcAft>
            </a:pPr>
            <a:r>
              <a:rPr sz="600" b="0" i="0">
                <a:solidFill>
                  <a:srgbClr val="404040"/>
                </a:solidFill>
                <a:latin typeface="맑은 고딕"/>
                <a:ea typeface="맑은 고딕"/>
                <a:cs typeface="맑은 고딕"/>
              </a:rPr>
              <a:t>addr</a:t>
            </a:r>
          </a:p>
        </p:txBody>
      </p:sp>
      <p:sp>
        <p:nvSpPr>
          <p:cNvPr id="84" name="Rectangle 83"/>
          <p:cNvSpPr/>
          <p:nvPr/>
        </p:nvSpPr>
        <p:spPr>
          <a:xfrm>
            <a:off x="8412480" y="5257800"/>
            <a:ext cx="457200" cy="20116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기존</a:t>
            </a:r>
          </a:p>
        </p:txBody>
      </p:sp>
      <p:sp>
        <p:nvSpPr>
          <p:cNvPr id="85" name="Rectangle 84"/>
          <p:cNvSpPr/>
          <p:nvPr/>
        </p:nvSpPr>
        <p:spPr>
          <a:xfrm>
            <a:off x="8915400" y="5257800"/>
            <a:ext cx="685800" cy="20116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650" b="0" i="0">
                <a:solidFill>
                  <a:srgbClr val="000000"/>
                </a:solidFill>
                <a:latin typeface="맑은 고딕"/>
                <a:ea typeface="맑은 고딕"/>
                <a:cs typeface="맑은 고딕"/>
              </a:rPr>
              <a:t>신규/수정</a:t>
            </a:r>
          </a:p>
        </p:txBody>
      </p:sp>
      <p:sp>
        <p:nvSpPr>
          <p:cNvPr id="86" name="TextBox 85"/>
          <p:cNvSpPr txBox="1"/>
          <p:nvPr/>
        </p:nvSpPr>
        <p:spPr>
          <a:xfrm>
            <a:off x="8412480" y="5486400"/>
            <a:ext cx="1737360" cy="548640"/>
          </a:xfrm>
          <a:prstGeom prst="rect">
            <a:avLst/>
          </a:prstGeom>
          <a:noFill/>
        </p:spPr>
        <p:txBody>
          <a:bodyPr wrap="square" lIns="36576" tIns="18288" rIns="36576" bIns="18288" anchor="t">
            <a:spAutoFit/>
          </a:bodyPr>
          <a:lstStyle/>
          <a:p>
            <a:pPr algn="l">
              <a:spcAft>
                <a:spcPts val="0"/>
              </a:spcAft>
            </a:pPr>
            <a:r>
              <a:rPr sz="650" b="0" i="0">
                <a:solidFill>
                  <a:srgbClr val="000000"/>
                </a:solidFill>
                <a:latin typeface="맑은 고딕"/>
                <a:ea typeface="맑은 고딕"/>
                <a:cs typeface="맑은 고딕"/>
              </a:rPr>
              <a:t>◇━ 구성   ━▶ 연관·호출</a:t>
            </a:r>
          </a:p>
          <a:p>
            <a:pPr algn="l">
              <a:spcAft>
                <a:spcPts val="0"/>
              </a:spcAft>
            </a:pPr>
            <a:r>
              <a:rPr sz="650" b="0" i="0">
                <a:solidFill>
                  <a:srgbClr val="000000"/>
                </a:solidFill>
                <a:latin typeface="맑은 고딕"/>
                <a:ea typeface="맑은 고딕"/>
                <a:cs typeface="맑은 고딕"/>
              </a:rPr>
              <a:t>┅▶ 의존(use/event)  ▷ 구현</a:t>
            </a:r>
          </a:p>
        </p:txBody>
      </p:sp>
      <p:sp>
        <p:nvSpPr>
          <p:cNvPr id="87" name="TextBox 86"/>
          <p:cNvSpPr txBox="1"/>
          <p:nvPr/>
        </p:nvSpPr>
        <p:spPr>
          <a:xfrm>
            <a:off x="320040" y="5212080"/>
            <a:ext cx="3749039" cy="652486"/>
          </a:xfrm>
          <a:prstGeom prst="rect">
            <a:avLst/>
          </a:prstGeom>
          <a:noFill/>
        </p:spPr>
        <p:txBody>
          <a:bodyPr wrap="square" lIns="36576" tIns="18288" rIns="36576" bIns="18288" anchor="t">
            <a:spAutoFit/>
          </a:bodyPr>
          <a:lstStyle/>
          <a:p>
            <a:pPr algn="l">
              <a:spcAft>
                <a:spcPts val="0"/>
              </a:spcAft>
            </a:pPr>
            <a:r>
              <a:rPr sz="750" b="1" i="0" dirty="0" err="1">
                <a:solidFill>
                  <a:srgbClr val="000000"/>
                </a:solidFill>
                <a:latin typeface="맑은 고딕"/>
                <a:ea typeface="맑은 고딕"/>
                <a:cs typeface="맑은 고딕"/>
              </a:rPr>
              <a:t>읽는</a:t>
            </a:r>
            <a:r>
              <a:rPr sz="750" b="1" i="0" dirty="0">
                <a:solidFill>
                  <a:srgbClr val="000000"/>
                </a:solidFill>
                <a:latin typeface="맑은 고딕"/>
                <a:ea typeface="맑은 고딕"/>
                <a:cs typeface="맑은 고딕"/>
              </a:rPr>
              <a:t> 법</a:t>
            </a: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사전</a:t>
            </a:r>
            <a:r>
              <a:rPr sz="650" b="0" i="0" dirty="0">
                <a:solidFill>
                  <a:srgbClr val="000000"/>
                </a:solidFill>
                <a:latin typeface="맑은 고딕"/>
                <a:ea typeface="맑은 고딕"/>
                <a:cs typeface="맑은 고딕"/>
              </a:rPr>
              <a:t>(Offline): </a:t>
            </a:r>
            <a:r>
              <a:rPr sz="650" b="0" i="0" dirty="0" err="1">
                <a:solidFill>
                  <a:srgbClr val="000000"/>
                </a:solidFill>
                <a:latin typeface="맑은 고딕"/>
                <a:ea typeface="맑은 고딕"/>
                <a:cs typeface="맑은 고딕"/>
              </a:rPr>
              <a:t>OfflineAnalyzer가</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대표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Query로</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재사용</a:t>
            </a:r>
            <a:r>
              <a:rPr sz="650" b="0" i="0" dirty="0">
                <a:solidFill>
                  <a:srgbClr val="000000"/>
                </a:solidFill>
                <a:latin typeface="맑은 고딕"/>
                <a:ea typeface="맑은 고딕"/>
                <a:cs typeface="맑은 고딕"/>
              </a:rPr>
              <a:t>/</a:t>
            </a:r>
            <a:r>
              <a:rPr sz="650" b="0" i="0" dirty="0" err="1">
                <a:solidFill>
                  <a:srgbClr val="000000"/>
                </a:solidFill>
                <a:latin typeface="맑은 고딕"/>
                <a:ea typeface="맑은 고딕"/>
                <a:cs typeface="맑은 고딕"/>
              </a:rPr>
              <a:t>재계산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토큰을</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선정해</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PlanStore에</a:t>
            </a:r>
            <a:r>
              <a:rPr sz="650" b="0" i="0" dirty="0">
                <a:solidFill>
                  <a:srgbClr val="000000"/>
                </a:solidFill>
                <a:latin typeface="맑은 고딕"/>
                <a:ea typeface="맑은 고딕"/>
                <a:cs typeface="맑은 고딕"/>
              </a:rPr>
              <a:t> 1회 </a:t>
            </a:r>
            <a:r>
              <a:rPr sz="650" b="0" i="0" dirty="0" err="1">
                <a:solidFill>
                  <a:srgbClr val="000000"/>
                </a:solidFill>
                <a:latin typeface="맑은 고딕"/>
                <a:ea typeface="맑은 고딕"/>
                <a:cs typeface="맑은 고딕"/>
              </a:rPr>
              <a:t>기록</a:t>
            </a:r>
            <a:endParaRPr sz="650" b="0" i="0" dirty="0">
              <a:solidFill>
                <a:srgbClr val="000000"/>
              </a:solidFill>
              <a:latin typeface="맑은 고딕"/>
              <a:ea typeface="맑은 고딕"/>
              <a:cs typeface="맑은 고딕"/>
            </a:endParaRPr>
          </a:p>
          <a:p>
            <a:pPr algn="l">
              <a:spcAft>
                <a:spcPts val="0"/>
              </a:spcAft>
            </a:pPr>
            <a:r>
              <a:rPr sz="650" b="0" i="0" dirty="0">
                <a:solidFill>
                  <a:srgbClr val="000000"/>
                </a:solidFill>
                <a:latin typeface="맑은 고딕"/>
                <a:ea typeface="맑은 고딕"/>
                <a:cs typeface="맑은 고딕"/>
              </a:rPr>
              <a:t>• DP4: </a:t>
            </a:r>
            <a:r>
              <a:rPr sz="650" b="0" i="0" dirty="0" err="1">
                <a:solidFill>
                  <a:srgbClr val="000000"/>
                </a:solidFill>
                <a:latin typeface="맑은 고딕"/>
                <a:ea typeface="맑은 고딕"/>
                <a:cs typeface="맑은 고딕"/>
              </a:rPr>
              <a:t>메타데이터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요청은</a:t>
            </a:r>
            <a:r>
              <a:rPr sz="650" b="0" i="0" dirty="0">
                <a:solidFill>
                  <a:srgbClr val="000000"/>
                </a:solidFill>
                <a:latin typeface="맑은 고딕"/>
                <a:ea typeface="맑은 고딕"/>
                <a:cs typeface="맑은 고딕"/>
              </a:rPr>
              <a:t> hash(Data Object ID)로 Shard </a:t>
            </a:r>
            <a:r>
              <a:rPr sz="650" b="0" i="0" dirty="0" err="1">
                <a:solidFill>
                  <a:srgbClr val="000000"/>
                </a:solidFill>
                <a:latin typeface="맑은 고딕"/>
                <a:ea typeface="맑은 고딕"/>
                <a:cs typeface="맑은 고딕"/>
              </a:rPr>
              <a:t>Worker에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분산</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데이터는</a:t>
            </a:r>
            <a:r>
              <a:rPr sz="650" b="0" i="0" dirty="0">
                <a:solidFill>
                  <a:srgbClr val="000000"/>
                </a:solidFill>
                <a:latin typeface="맑은 고딕"/>
                <a:ea typeface="맑은 고딕"/>
                <a:cs typeface="맑은 고딕"/>
              </a:rPr>
              <a:t> CXL </a:t>
            </a:r>
            <a:r>
              <a:rPr sz="650" b="0" i="0" dirty="0" err="1">
                <a:solidFill>
                  <a:srgbClr val="000000"/>
                </a:solidFill>
                <a:latin typeface="맑은 고딕"/>
                <a:ea typeface="맑은 고딕"/>
                <a:cs typeface="맑은 고딕"/>
              </a:rPr>
              <a:t>공유</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풀에</a:t>
            </a: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직접</a:t>
            </a:r>
            <a:r>
              <a:rPr sz="650" b="0" i="0" dirty="0">
                <a:solidFill>
                  <a:srgbClr val="000000"/>
                </a:solidFill>
                <a:latin typeface="맑은 고딕"/>
                <a:ea typeface="맑은 고딕"/>
                <a:cs typeface="맑은 고딕"/>
              </a:rPr>
              <a:t> read/write</a:t>
            </a:r>
          </a:p>
          <a:p>
            <a:pPr algn="l">
              <a:spcAft>
                <a:spcPts val="0"/>
              </a:spcAft>
            </a:pPr>
            <a:r>
              <a:rPr sz="650" b="0" i="0" dirty="0">
                <a:solidFill>
                  <a:srgbClr val="000000"/>
                </a:solidFill>
                <a:latin typeface="맑은 고딕"/>
                <a:ea typeface="맑은 고딕"/>
                <a:cs typeface="맑은 고딕"/>
              </a:rPr>
              <a:t>• </a:t>
            </a:r>
            <a:r>
              <a:rPr sz="650" b="0" i="0" dirty="0" err="1">
                <a:solidFill>
                  <a:srgbClr val="000000"/>
                </a:solidFill>
                <a:latin typeface="맑은 고딕"/>
                <a:ea typeface="맑은 고딕"/>
                <a:cs typeface="맑은 고딕"/>
              </a:rPr>
              <a:t>실패</a:t>
            </a:r>
            <a:r>
              <a:rPr sz="650" b="0" i="0" dirty="0">
                <a:solidFill>
                  <a:srgbClr val="000000"/>
                </a:solidFill>
                <a:latin typeface="맑은 고딕"/>
                <a:ea typeface="맑은 고딕"/>
                <a:cs typeface="맑은 고딕"/>
              </a:rPr>
              <a:t>/timeout 시 </a:t>
            </a:r>
            <a:r>
              <a:rPr sz="650" b="0" i="0" dirty="0" err="1">
                <a:solidFill>
                  <a:srgbClr val="000000"/>
                </a:solidFill>
                <a:latin typeface="맑은 고딕"/>
                <a:ea typeface="맑은 고딕"/>
                <a:cs typeface="맑은 고딕"/>
              </a:rPr>
              <a:t>재계산</a:t>
            </a:r>
            <a:r>
              <a:rPr sz="650" b="0" i="0" dirty="0">
                <a:solidFill>
                  <a:srgbClr val="000000"/>
                </a:solidFill>
                <a:latin typeface="맑은 고딕"/>
                <a:ea typeface="맑은 고딕"/>
                <a:cs typeface="맑은 고딕"/>
              </a:rPr>
              <a:t> fallback(QA-07) — </a:t>
            </a:r>
            <a:r>
              <a:rPr sz="650" b="0" i="0" dirty="0" err="1">
                <a:solidFill>
                  <a:srgbClr val="000000"/>
                </a:solidFill>
                <a:latin typeface="맑은 고딕"/>
                <a:ea typeface="맑은 고딕"/>
                <a:cs typeface="맑은 고딕"/>
              </a:rPr>
              <a:t>시퀀스는</a:t>
            </a:r>
            <a:r>
              <a:rPr sz="650" b="0" i="0" dirty="0">
                <a:solidFill>
                  <a:srgbClr val="000000"/>
                </a:solidFill>
                <a:latin typeface="맑은 고딕"/>
                <a:ea typeface="맑은 고딕"/>
                <a:cs typeface="맑은 고딕"/>
              </a:rPr>
              <a:t> DP4 </a:t>
            </a:r>
            <a:r>
              <a:rPr sz="650" b="0" i="0" dirty="0" err="1">
                <a:solidFill>
                  <a:srgbClr val="000000"/>
                </a:solidFill>
                <a:latin typeface="맑은 고딕"/>
                <a:ea typeface="맑은 고딕"/>
                <a:cs typeface="맑은 고딕"/>
              </a:rPr>
              <a:t>상세</a:t>
            </a:r>
            <a:r>
              <a:rPr sz="650" b="0" i="0" dirty="0">
                <a:solidFill>
                  <a:srgbClr val="000000"/>
                </a:solidFill>
                <a:latin typeface="맑은 고딕"/>
                <a:ea typeface="맑은 고딕"/>
                <a:cs typeface="맑은 고딕"/>
              </a:rPr>
              <a:t>(p.26) </a:t>
            </a:r>
            <a:r>
              <a:rPr sz="650" b="0" i="0" dirty="0" err="1">
                <a:solidFill>
                  <a:srgbClr val="000000"/>
                </a:solidFill>
                <a:latin typeface="맑은 고딕"/>
                <a:ea typeface="맑은 고딕"/>
                <a:cs typeface="맑은 고딕"/>
              </a:rPr>
              <a:t>참조</a:t>
            </a:r>
            <a:endParaRPr sz="650" b="0" i="0" dirty="0">
              <a:solidFill>
                <a:srgbClr val="000000"/>
              </a:solidFill>
              <a:latin typeface="맑은 고딕"/>
              <a:ea typeface="맑은 고딕"/>
              <a:cs typeface="맑은 고딕"/>
            </a:endParaRPr>
          </a:p>
        </p:txBody>
      </p:sp>
      <p:sp>
        <p:nvSpPr>
          <p:cNvPr id="88" name="실행 단추: 뒤로 또는 앞으로 이동 87">
            <a:hlinkClick r:id="rId3" action="ppaction://hlinksldjump" highlightClick="1"/>
            <a:extLst>
              <a:ext uri="{FF2B5EF4-FFF2-40B4-BE49-F238E27FC236}">
                <a16:creationId xmlns:a16="http://schemas.microsoft.com/office/drawing/2014/main" id="{867A9816-7B11-40BF-B8BA-52E33E13BB20}"/>
              </a:ext>
            </a:extLst>
          </p:cNvPr>
          <p:cNvSpPr/>
          <p:nvPr/>
        </p:nvSpPr>
        <p:spPr>
          <a:xfrm>
            <a:off x="7601406" y="214884"/>
            <a:ext cx="283692" cy="237744"/>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BE4D6FB-A0A0-428F-836F-7D734A8A433D}"/>
              </a:ext>
            </a:extLst>
          </p:cNvPr>
          <p:cNvSpPr>
            <a:spLocks noGrp="1"/>
          </p:cNvSpPr>
          <p:nvPr>
            <p:ph type="title"/>
          </p:nvPr>
        </p:nvSpPr>
        <p:spPr/>
        <p:txBody>
          <a:bodyPr/>
          <a:lstStyle/>
          <a:p>
            <a:endParaRPr lang="ko-KR" altLang="en-US"/>
          </a:p>
        </p:txBody>
      </p:sp>
      <p:sp>
        <p:nvSpPr>
          <p:cNvPr id="3" name="TextBox 2">
            <a:extLst>
              <a:ext uri="{FF2B5EF4-FFF2-40B4-BE49-F238E27FC236}">
                <a16:creationId xmlns:a16="http://schemas.microsoft.com/office/drawing/2014/main" id="{57FBCA91-A885-4968-94F5-B59CBD33BF8D}"/>
              </a:ext>
            </a:extLst>
          </p:cNvPr>
          <p:cNvSpPr txBox="1"/>
          <p:nvPr/>
        </p:nvSpPr>
        <p:spPr>
          <a:xfrm>
            <a:off x="762000" y="2876550"/>
            <a:ext cx="10668000" cy="1446550"/>
          </a:xfrm>
          <a:prstGeom prst="rect">
            <a:avLst/>
          </a:prstGeom>
          <a:noFill/>
        </p:spPr>
        <p:txBody>
          <a:bodyPr wrap="square" rtlCol="0">
            <a:spAutoFit/>
          </a:bodyPr>
          <a:lstStyle/>
          <a:p>
            <a:r>
              <a:rPr lang="ko-KR" altLang="en-US" sz="8800" b="1" dirty="0"/>
              <a:t>구현 검증 </a:t>
            </a:r>
            <a:r>
              <a:rPr lang="en-US" altLang="ko-KR" sz="8800" b="1" dirty="0"/>
              <a:t>Appendix</a:t>
            </a:r>
            <a:endParaRPr lang="ko-KR" altLang="en-US" sz="8800" b="1" dirty="0"/>
          </a:p>
        </p:txBody>
      </p:sp>
    </p:spTree>
    <p:extLst>
      <p:ext uri="{BB962C8B-B14F-4D97-AF65-F5344CB8AC3E}">
        <p14:creationId xmlns:p14="http://schemas.microsoft.com/office/powerpoint/2010/main" val="3815474144"/>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주요 품질 속성 검증 – QA-01 Throughput</a:t>
            </a:r>
          </a:p>
        </p:txBody>
      </p:sp>
      <p:sp>
        <p:nvSpPr>
          <p:cNvPr id="4" name="Rectangle 3"/>
          <p:cNvSpPr/>
          <p:nvPr/>
        </p:nvSpPr>
        <p:spPr>
          <a:xfrm>
            <a:off x="7863840" y="73152"/>
            <a:ext cx="4206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hevron 4"/>
          <p:cNvSpPr/>
          <p:nvPr/>
        </p:nvSpPr>
        <p:spPr>
          <a:xfrm>
            <a:off x="7991856"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과제 소개</a:t>
            </a:r>
          </a:p>
        </p:txBody>
      </p:sp>
      <p:sp>
        <p:nvSpPr>
          <p:cNvPr id="6" name="Chevron 5"/>
          <p:cNvSpPr/>
          <p:nvPr/>
        </p:nvSpPr>
        <p:spPr>
          <a:xfrm>
            <a:off x="8787384"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요구사항</a:t>
            </a:r>
          </a:p>
        </p:txBody>
      </p:sp>
      <p:sp>
        <p:nvSpPr>
          <p:cNvPr id="7" name="Chevron 6"/>
          <p:cNvSpPr/>
          <p:nvPr/>
        </p:nvSpPr>
        <p:spPr>
          <a:xfrm>
            <a:off x="9582912"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설계</a:t>
            </a:r>
          </a:p>
        </p:txBody>
      </p:sp>
      <p:sp>
        <p:nvSpPr>
          <p:cNvPr id="8" name="Chevron 7"/>
          <p:cNvSpPr/>
          <p:nvPr/>
        </p:nvSpPr>
        <p:spPr>
          <a:xfrm>
            <a:off x="10378440" y="137160"/>
            <a:ext cx="868680" cy="356616"/>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구현/검증</a:t>
            </a:r>
          </a:p>
        </p:txBody>
      </p:sp>
      <p:sp>
        <p:nvSpPr>
          <p:cNvPr id="9" name="Chevron 8"/>
          <p:cNvSpPr/>
          <p:nvPr/>
        </p:nvSpPr>
        <p:spPr>
          <a:xfrm>
            <a:off x="11173968"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결론</a:t>
            </a:r>
          </a:p>
        </p:txBody>
      </p:sp>
      <p:sp>
        <p:nvSpPr>
          <p:cNvPr id="10" name="Rectangle 9"/>
          <p:cNvSpPr/>
          <p:nvPr/>
        </p:nvSpPr>
        <p:spPr>
          <a:xfrm>
            <a:off x="274320" y="68580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관련 </a:t>
            </a:r>
            <a:r>
              <a:rPr lang="en-US" altLang="ko-KR" sz="1100" b="1" dirty="0">
                <a:solidFill>
                  <a:srgbClr val="FFFFFF"/>
                </a:solidFill>
                <a:ea typeface="맑은 고딕"/>
                <a:cs typeface="맑은 고딕"/>
              </a:rPr>
              <a:t>DP </a:t>
            </a:r>
            <a:r>
              <a:rPr lang="ko-KR" altLang="en-US" sz="1100" b="1" dirty="0">
                <a:solidFill>
                  <a:srgbClr val="FFFFFF"/>
                </a:solidFill>
                <a:ea typeface="맑은 고딕"/>
                <a:cs typeface="맑은 고딕"/>
              </a:rPr>
              <a:t>평가 결과 </a:t>
            </a:r>
          </a:p>
        </p:txBody>
      </p:sp>
      <p:graphicFrame>
        <p:nvGraphicFramePr>
          <p:cNvPr id="11" name="Chart 10"/>
          <p:cNvGraphicFramePr>
            <a:graphicFrameLocks noGrp="1"/>
          </p:cNvGraphicFramePr>
          <p:nvPr>
            <p:extLst>
              <p:ext uri="{D42A27DB-BD31-4B8C-83A1-F6EECF244321}">
                <p14:modId xmlns:p14="http://schemas.microsoft.com/office/powerpoint/2010/main" val="1930146018"/>
              </p:ext>
            </p:extLst>
          </p:nvPr>
        </p:nvGraphicFramePr>
        <p:xfrm>
          <a:off x="274320" y="1112311"/>
          <a:ext cx="5852160" cy="2857292"/>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p:cNvSpPr/>
          <p:nvPr/>
        </p:nvSpPr>
        <p:spPr>
          <a:xfrm>
            <a:off x="274320" y="3918129"/>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latin typeface="맑은 고딕"/>
                <a:ea typeface="맑은 고딕"/>
                <a:cs typeface="맑은 고딕"/>
              </a:rPr>
              <a:t>실행 결과 </a:t>
            </a:r>
            <a:endParaRPr sz="1100" b="1" i="0" dirty="0">
              <a:solidFill>
                <a:srgbClr val="FFFFFF"/>
              </a:solidFill>
              <a:latin typeface="맑은 고딕"/>
              <a:ea typeface="맑은 고딕"/>
              <a:cs typeface="맑은 고딕"/>
            </a:endParaRPr>
          </a:p>
        </p:txBody>
      </p:sp>
      <p:sp>
        <p:nvSpPr>
          <p:cNvPr id="15" name="Rectangle 14"/>
          <p:cNvSpPr/>
          <p:nvPr/>
        </p:nvSpPr>
        <p:spPr>
          <a:xfrm>
            <a:off x="6309360" y="68580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QA-01 품질 시나리오 (6-element)</a:t>
            </a:r>
          </a:p>
        </p:txBody>
      </p:sp>
      <p:graphicFrame>
        <p:nvGraphicFramePr>
          <p:cNvPr id="16" name="Table 15"/>
          <p:cNvGraphicFramePr>
            <a:graphicFrameLocks noGrp="1"/>
          </p:cNvGraphicFramePr>
          <p:nvPr>
            <p:extLst>
              <p:ext uri="{D42A27DB-BD31-4B8C-83A1-F6EECF244321}">
                <p14:modId xmlns:p14="http://schemas.microsoft.com/office/powerpoint/2010/main" val="402672862"/>
              </p:ext>
            </p:extLst>
          </p:nvPr>
        </p:nvGraphicFramePr>
        <p:xfrm>
          <a:off x="6309360" y="1005840"/>
          <a:ext cx="5669280" cy="5341623"/>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434007">
                <a:tc>
                  <a:txBody>
                    <a:bodyPr/>
                    <a:lstStyle/>
                    <a:p>
                      <a:pPr algn="ctr"/>
                      <a:r>
                        <a:rPr sz="1100" b="1" i="0">
                          <a:solidFill>
                            <a:srgbClr val="FFFFFF"/>
                          </a:solidFill>
                          <a:latin typeface="맑은 고딕"/>
                          <a:ea typeface="맑은 고딕"/>
                          <a:cs typeface="맑은 고딕"/>
                        </a:rPr>
                        <a:t>항목</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100" b="1" i="0">
                          <a:solidFill>
                            <a:srgbClr val="FFFFFF"/>
                          </a:solidFill>
                          <a:latin typeface="맑은 고딕"/>
                          <a:ea typeface="맑은 고딕"/>
                          <a:cs typeface="맑은 고딕"/>
                        </a:rPr>
                        <a:t>내용</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701088">
                <a:tc>
                  <a:txBody>
                    <a:bodyPr/>
                    <a:lstStyle/>
                    <a:p>
                      <a:pPr algn="ctr"/>
                      <a:r>
                        <a:rPr sz="1050" b="0" i="0" dirty="0">
                          <a:solidFill>
                            <a:srgbClr val="000000"/>
                          </a:solidFill>
                          <a:latin typeface="맑은 고딕"/>
                          <a:ea typeface="맑은 고딕"/>
                          <a:cs typeface="맑은 고딕"/>
                        </a:rPr>
                        <a:t>Description</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다수</a:t>
                      </a:r>
                      <a:r>
                        <a:rPr sz="1050" b="0" i="0" dirty="0">
                          <a:solidFill>
                            <a:srgbClr val="000000"/>
                          </a:solidFill>
                          <a:latin typeface="맑은 고딕"/>
                          <a:ea typeface="맑은 고딕"/>
                          <a:cs typeface="맑은 고딕"/>
                        </a:rPr>
                        <a:t> agent </a:t>
                      </a:r>
                      <a:r>
                        <a:rPr sz="1050" b="0" i="0" dirty="0" err="1">
                          <a:solidFill>
                            <a:srgbClr val="000000"/>
                          </a:solidFill>
                          <a:latin typeface="맑은 고딕"/>
                          <a:ea typeface="맑은 고딕"/>
                          <a:cs typeface="맑은 고딕"/>
                        </a:rPr>
                        <a:t>세션이</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동시에</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요청할</a:t>
                      </a:r>
                      <a:r>
                        <a:rPr sz="1050" b="0" i="0" dirty="0">
                          <a:solidFill>
                            <a:srgbClr val="000000"/>
                          </a:solidFill>
                          <a:latin typeface="맑은 고딕"/>
                          <a:ea typeface="맑은 고딕"/>
                          <a:cs typeface="맑은 고딕"/>
                        </a:rPr>
                        <a:t> 때, </a:t>
                      </a:r>
                      <a:r>
                        <a:rPr sz="1050" b="0" i="0" dirty="0" err="1">
                          <a:solidFill>
                            <a:srgbClr val="000000"/>
                          </a:solidFill>
                          <a:latin typeface="맑은 고딕"/>
                          <a:ea typeface="맑은 고딕"/>
                          <a:cs typeface="맑은 고딕"/>
                        </a:rPr>
                        <a:t>SLO를</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만족하며</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처리할</a:t>
                      </a:r>
                      <a:r>
                        <a:rPr sz="1050" b="0" i="0" dirty="0">
                          <a:solidFill>
                            <a:srgbClr val="000000"/>
                          </a:solidFill>
                          <a:latin typeface="맑은 고딕"/>
                          <a:ea typeface="맑은 고딕"/>
                          <a:cs typeface="맑은 고딕"/>
                        </a:rPr>
                        <a:t> 수 </a:t>
                      </a:r>
                      <a:r>
                        <a:rPr sz="1050" b="0" i="0" dirty="0" err="1">
                          <a:solidFill>
                            <a:srgbClr val="000000"/>
                          </a:solidFill>
                          <a:latin typeface="맑은 고딕"/>
                          <a:ea typeface="맑은 고딕"/>
                          <a:cs typeface="맑은 고딕"/>
                        </a:rPr>
                        <a:t>있는</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최대</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요청량이</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Baseline보다</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커야</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701088">
                <a:tc>
                  <a:txBody>
                    <a:bodyPr/>
                    <a:lstStyle/>
                    <a:p>
                      <a:pPr algn="ctr"/>
                      <a:r>
                        <a:rPr sz="1050" b="0" i="0">
                          <a:solidFill>
                            <a:srgbClr val="000000"/>
                          </a:solidFill>
                          <a:latin typeface="맑은 고딕"/>
                          <a:ea typeface="맑은 고딕"/>
                          <a:cs typeface="맑은 고딕"/>
                        </a:rPr>
                        <a:t>Source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Agent / LLM Client (</a:t>
                      </a:r>
                      <a:r>
                        <a:rPr sz="1050" b="0" i="0" dirty="0" err="1">
                          <a:solidFill>
                            <a:srgbClr val="000000"/>
                          </a:solidFill>
                          <a:latin typeface="맑은 고딕"/>
                          <a:ea typeface="맑은 고딕"/>
                          <a:cs typeface="맑은 고딕"/>
                        </a:rPr>
                        <a:t>다수</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세션</a:t>
                      </a:r>
                      <a:r>
                        <a:rPr sz="105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701088">
                <a:tc>
                  <a:txBody>
                    <a:bodyPr/>
                    <a:lstStyle/>
                    <a:p>
                      <a:pPr algn="ctr"/>
                      <a:r>
                        <a:rPr sz="1050" b="0" i="0">
                          <a:solidFill>
                            <a:srgbClr val="000000"/>
                          </a:solidFill>
                          <a:latin typeface="맑은 고딕"/>
                          <a:ea typeface="맑은 고딕"/>
                          <a:cs typeface="맑은 고딕"/>
                        </a:rPr>
                        <a:t>Stimulus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다수</a:t>
                      </a:r>
                      <a:r>
                        <a:rPr sz="1050" b="0" i="0" dirty="0">
                          <a:solidFill>
                            <a:srgbClr val="000000"/>
                          </a:solidFill>
                          <a:latin typeface="맑은 고딕"/>
                          <a:ea typeface="맑은 고딕"/>
                          <a:cs typeface="맑은 고딕"/>
                        </a:rPr>
                        <a:t> agent </a:t>
                      </a:r>
                      <a:r>
                        <a:rPr sz="1050" b="0" i="0" dirty="0" err="1">
                          <a:solidFill>
                            <a:srgbClr val="000000"/>
                          </a:solidFill>
                          <a:latin typeface="맑은 고딕"/>
                          <a:ea typeface="맑은 고딕"/>
                          <a:cs typeface="맑은 고딕"/>
                        </a:rPr>
                        <a:t>세션의</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동시</a:t>
                      </a:r>
                      <a:r>
                        <a:rPr sz="1050" b="0" i="0" dirty="0">
                          <a:solidFill>
                            <a:srgbClr val="000000"/>
                          </a:solidFill>
                          <a:latin typeface="맑은 고딕"/>
                          <a:ea typeface="맑은 고딕"/>
                          <a:cs typeface="맑은 고딕"/>
                        </a:rPr>
                        <a:t> multi-turn </a:t>
                      </a:r>
                      <a:r>
                        <a:rPr sz="1050" b="0" i="0" dirty="0" err="1">
                          <a:solidFill>
                            <a:srgbClr val="000000"/>
                          </a:solidFill>
                          <a:latin typeface="맑은 고딕"/>
                          <a:ea typeface="맑은 고딕"/>
                          <a:cs typeface="맑은 고딕"/>
                        </a:rPr>
                        <a:t>요청</a:t>
                      </a:r>
                      <a:r>
                        <a:rPr sz="1050" b="0" i="0" dirty="0">
                          <a:solidFill>
                            <a:srgbClr val="000000"/>
                          </a:solidFill>
                          <a:latin typeface="맑은 고딕"/>
                          <a:ea typeface="맑은 고딕"/>
                          <a:cs typeface="맑은 고딕"/>
                        </a:rPr>
                        <a:t> (open-loop)</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701088">
                <a:tc>
                  <a:txBody>
                    <a:bodyPr/>
                    <a:lstStyle/>
                    <a:p>
                      <a:pPr algn="ctr"/>
                      <a:r>
                        <a:rPr sz="1050" b="0" i="0">
                          <a:solidFill>
                            <a:srgbClr val="000000"/>
                          </a:solidFill>
                          <a:latin typeface="맑은 고딕"/>
                          <a:ea typeface="맑은 고딕"/>
                          <a:cs typeface="맑은 고딕"/>
                        </a:rPr>
                        <a:t>Artifact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Memory-Centric Runtime (Request Orchestrator, Inference Engine)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701088">
                <a:tc>
                  <a:txBody>
                    <a:bodyPr/>
                    <a:lstStyle/>
                    <a:p>
                      <a:pPr algn="ctr"/>
                      <a:r>
                        <a:rPr sz="1050" b="0" i="0">
                          <a:solidFill>
                            <a:srgbClr val="000000"/>
                          </a:solidFill>
                          <a:latin typeface="맑은 고딕"/>
                          <a:ea typeface="맑은 고딕"/>
                          <a:cs typeface="맑은 고딕"/>
                        </a:rPr>
                        <a:t>Environment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정상</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운전</a:t>
                      </a:r>
                      <a:r>
                        <a:rPr sz="1050" b="0" i="0" dirty="0">
                          <a:solidFill>
                            <a:srgbClr val="000000"/>
                          </a:solidFill>
                          <a:latin typeface="맑은 고딕"/>
                          <a:ea typeface="맑은 고딕"/>
                          <a:cs typeface="맑은 고딕"/>
                        </a:rPr>
                        <a:t>, 8-GPU </a:t>
                      </a:r>
                      <a:r>
                        <a:rPr sz="1050" b="0" i="0" dirty="0" err="1">
                          <a:solidFill>
                            <a:srgbClr val="000000"/>
                          </a:solidFill>
                          <a:latin typeface="맑은 고딕"/>
                          <a:ea typeface="맑은 고딕"/>
                          <a:cs typeface="맑은 고딕"/>
                        </a:rPr>
                        <a:t>노드</a:t>
                      </a:r>
                      <a:r>
                        <a:rPr sz="1050" b="0" i="0" dirty="0">
                          <a:solidFill>
                            <a:srgbClr val="000000"/>
                          </a:solidFill>
                          <a:latin typeface="맑은 고딕"/>
                          <a:ea typeface="맑은 고딕"/>
                          <a:cs typeface="맑은 고딕"/>
                        </a:rPr>
                        <a:t>(SYS-H100), Agent KV Fleet </a:t>
                      </a:r>
                      <a:r>
                        <a:rPr sz="1050" b="0" i="0" dirty="0" err="1">
                          <a:solidFill>
                            <a:srgbClr val="000000"/>
                          </a:solidFill>
                          <a:latin typeface="맑은 고딕"/>
                          <a:ea typeface="맑은 고딕"/>
                          <a:cs typeface="맑은 고딕"/>
                        </a:rPr>
                        <a:t>시나리오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701088">
                <a:tc>
                  <a:txBody>
                    <a:bodyPr/>
                    <a:lstStyle/>
                    <a:p>
                      <a:pPr algn="ctr"/>
                      <a:r>
                        <a:rPr sz="1050" b="0" i="0">
                          <a:solidFill>
                            <a:srgbClr val="000000"/>
                          </a:solidFill>
                          <a:latin typeface="맑은 고딕"/>
                          <a:ea typeface="맑은 고딕"/>
                          <a:cs typeface="맑은 고딕"/>
                        </a:rPr>
                        <a:t>Response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SLO(TTFT P99 ≤ 2s, TPOT P99 ≤ 50ms)를 </a:t>
                      </a:r>
                      <a:r>
                        <a:rPr sz="1050" b="0" i="0" dirty="0" err="1">
                          <a:solidFill>
                            <a:srgbClr val="000000"/>
                          </a:solidFill>
                          <a:latin typeface="맑은 고딕"/>
                          <a:ea typeface="맑은 고딕"/>
                          <a:cs typeface="맑은 고딕"/>
                        </a:rPr>
                        <a:t>만족하는</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최대</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goodput을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처리한다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701088">
                <a:tc>
                  <a:txBody>
                    <a:bodyPr/>
                    <a:lstStyle/>
                    <a:p>
                      <a:pPr algn="ctr"/>
                      <a:r>
                        <a:rPr sz="1050" b="0" i="0">
                          <a:solidFill>
                            <a:srgbClr val="000000"/>
                          </a:solidFill>
                          <a:latin typeface="맑은 고딕"/>
                          <a:ea typeface="맑은 고딕"/>
                          <a:cs typeface="맑은 고딕"/>
                        </a:rPr>
                        <a:t>Response Measure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[R = Max SLO </a:t>
                      </a:r>
                      <a:r>
                        <a:rPr sz="1050" b="0" i="0" dirty="0" err="1">
                          <a:solidFill>
                            <a:srgbClr val="000000"/>
                          </a:solidFill>
                          <a:latin typeface="맑은 고딕"/>
                          <a:ea typeface="맑은 고딕"/>
                          <a:cs typeface="맑은 고딕"/>
                        </a:rPr>
                        <a:t>goodput</a:t>
                      </a:r>
                      <a:r>
                        <a:rPr sz="1050" b="0" i="0" dirty="0">
                          <a:solidFill>
                            <a:srgbClr val="000000"/>
                          </a:solidFill>
                          <a:latin typeface="맑은 고딕"/>
                          <a:ea typeface="맑은 고딕"/>
                          <a:cs typeface="맑은 고딕"/>
                        </a:rPr>
                        <a:t> ÷ Baseline(GPU-only) ≥ 2x]</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bl>
          </a:graphicData>
        </a:graphic>
      </p:graphicFrame>
      <p:pic>
        <p:nvPicPr>
          <p:cNvPr id="3" name="그림 2"/>
          <p:cNvPicPr>
            <a:picLocks noChangeAspect="1"/>
          </p:cNvPicPr>
          <p:nvPr/>
        </p:nvPicPr>
        <p:blipFill rotWithShape="1">
          <a:blip r:embed="rId4"/>
          <a:srcRect r="521" b="60940"/>
          <a:stretch/>
        </p:blipFill>
        <p:spPr>
          <a:xfrm>
            <a:off x="274320" y="4266622"/>
            <a:ext cx="2780030" cy="1583722"/>
          </a:xfrm>
          <a:prstGeom prst="rect">
            <a:avLst/>
          </a:prstGeom>
        </p:spPr>
      </p:pic>
      <p:pic>
        <p:nvPicPr>
          <p:cNvPr id="20" name="그림 19"/>
          <p:cNvPicPr>
            <a:picLocks noChangeAspect="1"/>
          </p:cNvPicPr>
          <p:nvPr/>
        </p:nvPicPr>
        <p:blipFill rotWithShape="1">
          <a:blip r:embed="rId4"/>
          <a:srcRect l="195" t="39959" r="1694" b="21850"/>
          <a:stretch/>
        </p:blipFill>
        <p:spPr>
          <a:xfrm>
            <a:off x="3191510" y="4255227"/>
            <a:ext cx="2824295" cy="1595117"/>
          </a:xfrm>
          <a:prstGeom prst="rect">
            <a:avLst/>
          </a:prstGeom>
        </p:spPr>
      </p:pic>
      <p:pic>
        <p:nvPicPr>
          <p:cNvPr id="21" name="그림 20"/>
          <p:cNvPicPr>
            <a:picLocks noChangeAspect="1"/>
          </p:cNvPicPr>
          <p:nvPr/>
        </p:nvPicPr>
        <p:blipFill rotWithShape="1">
          <a:blip r:embed="rId4"/>
          <a:srcRect l="283" t="79416" r="7510" b="516"/>
          <a:stretch/>
        </p:blipFill>
        <p:spPr>
          <a:xfrm>
            <a:off x="1795780" y="5928363"/>
            <a:ext cx="2654300" cy="838200"/>
          </a:xfrm>
          <a:prstGeom prst="rect">
            <a:avLst/>
          </a:prstGeom>
        </p:spPr>
      </p:pic>
      <p:sp>
        <p:nvSpPr>
          <p:cNvPr id="13" name="실행 단추: 뒤로 또는 이전 12">
            <a:hlinkClick r:id="rId5" action="ppaction://hlinksldjump" highlightClick="1"/>
          </p:cNvPr>
          <p:cNvSpPr/>
          <p:nvPr/>
        </p:nvSpPr>
        <p:spPr>
          <a:xfrm>
            <a:off x="7534995" y="187353"/>
            <a:ext cx="270933" cy="26517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48375524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주요 품질 속성 검증 – QA-02 Resource Efficiency (HBM)</a:t>
            </a:r>
          </a:p>
        </p:txBody>
      </p:sp>
      <p:sp>
        <p:nvSpPr>
          <p:cNvPr id="4" name="Rectangle 3"/>
          <p:cNvSpPr/>
          <p:nvPr/>
        </p:nvSpPr>
        <p:spPr>
          <a:xfrm>
            <a:off x="7863840" y="73152"/>
            <a:ext cx="4206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hevron 4"/>
          <p:cNvSpPr/>
          <p:nvPr/>
        </p:nvSpPr>
        <p:spPr>
          <a:xfrm>
            <a:off x="7991856"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과제 소개</a:t>
            </a:r>
          </a:p>
        </p:txBody>
      </p:sp>
      <p:sp>
        <p:nvSpPr>
          <p:cNvPr id="6" name="Chevron 5"/>
          <p:cNvSpPr/>
          <p:nvPr/>
        </p:nvSpPr>
        <p:spPr>
          <a:xfrm>
            <a:off x="8787384"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요구사항</a:t>
            </a:r>
          </a:p>
        </p:txBody>
      </p:sp>
      <p:sp>
        <p:nvSpPr>
          <p:cNvPr id="7" name="Chevron 6"/>
          <p:cNvSpPr/>
          <p:nvPr/>
        </p:nvSpPr>
        <p:spPr>
          <a:xfrm>
            <a:off x="9582912"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설계</a:t>
            </a:r>
          </a:p>
        </p:txBody>
      </p:sp>
      <p:sp>
        <p:nvSpPr>
          <p:cNvPr id="8" name="Chevron 7"/>
          <p:cNvSpPr/>
          <p:nvPr/>
        </p:nvSpPr>
        <p:spPr>
          <a:xfrm>
            <a:off x="10378440" y="137160"/>
            <a:ext cx="868680" cy="356616"/>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구현/검증</a:t>
            </a:r>
          </a:p>
        </p:txBody>
      </p:sp>
      <p:sp>
        <p:nvSpPr>
          <p:cNvPr id="9" name="Chevron 8"/>
          <p:cNvSpPr/>
          <p:nvPr/>
        </p:nvSpPr>
        <p:spPr>
          <a:xfrm>
            <a:off x="11173968"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결론</a:t>
            </a:r>
          </a:p>
        </p:txBody>
      </p:sp>
      <p:sp>
        <p:nvSpPr>
          <p:cNvPr id="10" name="Rectangle 9"/>
          <p:cNvSpPr/>
          <p:nvPr/>
        </p:nvSpPr>
        <p:spPr>
          <a:xfrm>
            <a:off x="274320" y="68580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관련 </a:t>
            </a:r>
            <a:r>
              <a:rPr lang="en-US" altLang="ko-KR" sz="1100" b="1" dirty="0">
                <a:solidFill>
                  <a:srgbClr val="FFFFFF"/>
                </a:solidFill>
                <a:ea typeface="맑은 고딕"/>
                <a:cs typeface="맑은 고딕"/>
              </a:rPr>
              <a:t>DP </a:t>
            </a:r>
            <a:r>
              <a:rPr lang="ko-KR" altLang="en-US" sz="1100" b="1" dirty="0">
                <a:solidFill>
                  <a:srgbClr val="FFFFFF"/>
                </a:solidFill>
                <a:ea typeface="맑은 고딕"/>
                <a:cs typeface="맑은 고딕"/>
              </a:rPr>
              <a:t>평가 결과 </a:t>
            </a:r>
          </a:p>
        </p:txBody>
      </p:sp>
      <p:graphicFrame>
        <p:nvGraphicFramePr>
          <p:cNvPr id="11" name="Chart 10"/>
          <p:cNvGraphicFramePr>
            <a:graphicFrameLocks noGrp="1"/>
          </p:cNvGraphicFramePr>
          <p:nvPr/>
        </p:nvGraphicFramePr>
        <p:xfrm>
          <a:off x="274320" y="1005840"/>
          <a:ext cx="585216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p:cNvSpPr/>
          <p:nvPr/>
        </p:nvSpPr>
        <p:spPr>
          <a:xfrm>
            <a:off x="274320" y="3749039"/>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실행 결과 </a:t>
            </a:r>
          </a:p>
        </p:txBody>
      </p:sp>
      <p:sp>
        <p:nvSpPr>
          <p:cNvPr id="15" name="Rectangle 14"/>
          <p:cNvSpPr/>
          <p:nvPr/>
        </p:nvSpPr>
        <p:spPr>
          <a:xfrm>
            <a:off x="6309360" y="68580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QA-02 품질 시나리오 (6-element)</a:t>
            </a:r>
          </a:p>
        </p:txBody>
      </p:sp>
      <p:graphicFrame>
        <p:nvGraphicFramePr>
          <p:cNvPr id="16" name="Table 15"/>
          <p:cNvGraphicFramePr>
            <a:graphicFrameLocks noGrp="1"/>
          </p:cNvGraphicFramePr>
          <p:nvPr>
            <p:extLst>
              <p:ext uri="{D42A27DB-BD31-4B8C-83A1-F6EECF244321}">
                <p14:modId xmlns:p14="http://schemas.microsoft.com/office/powerpoint/2010/main" val="2742885116"/>
              </p:ext>
            </p:extLst>
          </p:nvPr>
        </p:nvGraphicFramePr>
        <p:xfrm>
          <a:off x="6309360" y="1005840"/>
          <a:ext cx="5669280" cy="5341623"/>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434007">
                <a:tc>
                  <a:txBody>
                    <a:bodyPr/>
                    <a:lstStyle/>
                    <a:p>
                      <a:pPr algn="ctr"/>
                      <a:r>
                        <a:rPr sz="1100" b="1" i="0" dirty="0" err="1">
                          <a:solidFill>
                            <a:srgbClr val="FFFFFF"/>
                          </a:solidFill>
                          <a:latin typeface="맑은 고딕"/>
                          <a:ea typeface="맑은 고딕"/>
                          <a:cs typeface="맑은 고딕"/>
                        </a:rPr>
                        <a:t>항목</a:t>
                      </a:r>
                      <a:endParaRPr sz="1100" b="1" i="0" dirty="0">
                        <a:solidFill>
                          <a:srgbClr val="FFFF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100" b="1" i="0" dirty="0" err="1">
                          <a:solidFill>
                            <a:srgbClr val="FFFFFF"/>
                          </a:solidFill>
                          <a:latin typeface="맑은 고딕"/>
                          <a:ea typeface="맑은 고딕"/>
                          <a:cs typeface="맑은 고딕"/>
                        </a:rPr>
                        <a:t>내용</a:t>
                      </a:r>
                      <a:endParaRPr sz="1100" b="1" i="0" dirty="0">
                        <a:solidFill>
                          <a:srgbClr val="FFFF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701088">
                <a:tc>
                  <a:txBody>
                    <a:bodyPr/>
                    <a:lstStyle/>
                    <a:p>
                      <a:pPr algn="ctr"/>
                      <a:r>
                        <a:rPr sz="1050" b="0" i="0" dirty="0">
                          <a:solidFill>
                            <a:srgbClr val="000000"/>
                          </a:solidFill>
                          <a:latin typeface="맑은 고딕"/>
                          <a:ea typeface="맑은 고딕"/>
                          <a:cs typeface="맑은 고딕"/>
                        </a:rPr>
                        <a:t>Description</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a:solidFill>
                            <a:srgbClr val="000000"/>
                          </a:solidFill>
                          <a:latin typeface="맑은 고딕"/>
                          <a:ea typeface="맑은 고딕"/>
                          <a:cs typeface="맑은 고딕"/>
                        </a:rPr>
                        <a:t>동일한 성능 조건에서 HBM 점유율이 Baseline보다 낮아야 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701088">
                <a:tc>
                  <a:txBody>
                    <a:bodyPr/>
                    <a:lstStyle/>
                    <a:p>
                      <a:pPr algn="ctr"/>
                      <a:r>
                        <a:rPr sz="1050" b="0" i="0">
                          <a:solidFill>
                            <a:srgbClr val="000000"/>
                          </a:solidFill>
                          <a:latin typeface="맑은 고딕"/>
                          <a:ea typeface="맑은 고딕"/>
                          <a:cs typeface="맑은 고딕"/>
                        </a:rPr>
                        <a:t>Source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Agent / LLM Client (</a:t>
                      </a:r>
                      <a:r>
                        <a:rPr sz="1050" b="0" i="0" dirty="0" err="1">
                          <a:solidFill>
                            <a:srgbClr val="000000"/>
                          </a:solidFill>
                          <a:latin typeface="맑은 고딕"/>
                          <a:ea typeface="맑은 고딕"/>
                          <a:cs typeface="맑은 고딕"/>
                        </a:rPr>
                        <a:t>다수</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세션</a:t>
                      </a:r>
                      <a:r>
                        <a:rPr sz="105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701088">
                <a:tc>
                  <a:txBody>
                    <a:bodyPr/>
                    <a:lstStyle/>
                    <a:p>
                      <a:pPr algn="ctr"/>
                      <a:r>
                        <a:rPr sz="1050" b="0" i="0">
                          <a:solidFill>
                            <a:srgbClr val="000000"/>
                          </a:solidFill>
                          <a:latin typeface="맑은 고딕"/>
                          <a:ea typeface="맑은 고딕"/>
                          <a:cs typeface="맑은 고딕"/>
                        </a:rPr>
                        <a:t>Stimulus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세션</a:t>
                      </a:r>
                      <a:r>
                        <a:rPr sz="1050" b="0" i="0" dirty="0">
                          <a:solidFill>
                            <a:srgbClr val="000000"/>
                          </a:solidFill>
                          <a:latin typeface="맑은 고딕"/>
                          <a:ea typeface="맑은 고딕"/>
                          <a:cs typeface="맑은 고딕"/>
                        </a:rPr>
                        <a:t> 수 </a:t>
                      </a:r>
                      <a:r>
                        <a:rPr sz="1050" b="0" i="0" dirty="0" err="1">
                          <a:solidFill>
                            <a:srgbClr val="000000"/>
                          </a:solidFill>
                          <a:latin typeface="맑은 고딕"/>
                          <a:ea typeface="맑은 고딕"/>
                          <a:cs typeface="맑은 고딕"/>
                        </a:rPr>
                        <a:t>증가로</a:t>
                      </a:r>
                      <a:r>
                        <a:rPr sz="1050" b="0" i="0" dirty="0">
                          <a:solidFill>
                            <a:srgbClr val="000000"/>
                          </a:solidFill>
                          <a:latin typeface="맑은 고딕"/>
                          <a:ea typeface="맑은 고딕"/>
                          <a:cs typeface="맑은 고딕"/>
                        </a:rPr>
                        <a:t> KV </a:t>
                      </a:r>
                      <a:r>
                        <a:rPr sz="1050" b="0" i="0" dirty="0" err="1">
                          <a:solidFill>
                            <a:srgbClr val="000000"/>
                          </a:solidFill>
                          <a:latin typeface="맑은 고딕"/>
                          <a:ea typeface="맑은 고딕"/>
                          <a:cs typeface="맑은 고딕"/>
                        </a:rPr>
                        <a:t>캐시가</a:t>
                      </a:r>
                      <a:r>
                        <a:rPr sz="1050" b="0" i="0" dirty="0">
                          <a:solidFill>
                            <a:srgbClr val="000000"/>
                          </a:solidFill>
                          <a:latin typeface="맑은 고딕"/>
                          <a:ea typeface="맑은 고딕"/>
                          <a:cs typeface="맑은 고딕"/>
                        </a:rPr>
                        <a:t> HBM </a:t>
                      </a:r>
                      <a:r>
                        <a:rPr sz="1050" b="0" i="0" dirty="0" err="1">
                          <a:solidFill>
                            <a:srgbClr val="000000"/>
                          </a:solidFill>
                          <a:latin typeface="맑은 고딕"/>
                          <a:ea typeface="맑은 고딕"/>
                          <a:cs typeface="맑은 고딕"/>
                        </a:rPr>
                        <a:t>용량을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압박</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701088">
                <a:tc>
                  <a:txBody>
                    <a:bodyPr/>
                    <a:lstStyle/>
                    <a:p>
                      <a:pPr algn="ctr"/>
                      <a:r>
                        <a:rPr sz="1050" b="0" i="0">
                          <a:solidFill>
                            <a:srgbClr val="000000"/>
                          </a:solidFill>
                          <a:latin typeface="맑은 고딕"/>
                          <a:ea typeface="맑은 고딕"/>
                          <a:cs typeface="맑은 고딕"/>
                        </a:rPr>
                        <a:t>Artifact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KV Cache Manager, Data Management, Resource Management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701088">
                <a:tc>
                  <a:txBody>
                    <a:bodyPr/>
                    <a:lstStyle/>
                    <a:p>
                      <a:pPr algn="ctr"/>
                      <a:r>
                        <a:rPr sz="1050" b="0" i="0">
                          <a:solidFill>
                            <a:srgbClr val="000000"/>
                          </a:solidFill>
                          <a:latin typeface="맑은 고딕"/>
                          <a:ea typeface="맑은 고딕"/>
                          <a:cs typeface="맑은 고딕"/>
                        </a:rPr>
                        <a:t>Environment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정상</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운전</a:t>
                      </a:r>
                      <a:r>
                        <a:rPr sz="1050" b="0" i="0" dirty="0">
                          <a:solidFill>
                            <a:srgbClr val="000000"/>
                          </a:solidFill>
                          <a:latin typeface="맑은 고딕"/>
                          <a:ea typeface="맑은 고딕"/>
                          <a:cs typeface="맑은 고딕"/>
                        </a:rPr>
                        <a:t>, 8-GPU </a:t>
                      </a:r>
                      <a:r>
                        <a:rPr sz="1050" b="0" i="0" dirty="0" err="1">
                          <a:solidFill>
                            <a:srgbClr val="000000"/>
                          </a:solidFill>
                          <a:latin typeface="맑은 고딕"/>
                          <a:ea typeface="맑은 고딕"/>
                          <a:cs typeface="맑은 고딕"/>
                        </a:rPr>
                        <a:t>노드</a:t>
                      </a:r>
                      <a:r>
                        <a:rPr sz="1050" b="0" i="0" dirty="0">
                          <a:solidFill>
                            <a:srgbClr val="000000"/>
                          </a:solidFill>
                          <a:latin typeface="맑은 고딕"/>
                          <a:ea typeface="맑은 고딕"/>
                          <a:cs typeface="맑은 고딕"/>
                        </a:rPr>
                        <a:t>(SYS-H100), HBM KV 풀 ≈ 425 </a:t>
                      </a:r>
                      <a:r>
                        <a:rPr sz="1050" b="0" i="0" dirty="0" err="1">
                          <a:solidFill>
                            <a:srgbClr val="000000"/>
                          </a:solidFill>
                          <a:latin typeface="맑은 고딕"/>
                          <a:ea typeface="맑은 고딕"/>
                          <a:cs typeface="맑은 고딕"/>
                        </a:rPr>
                        <a:t>GiB</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701088">
                <a:tc>
                  <a:txBody>
                    <a:bodyPr/>
                    <a:lstStyle/>
                    <a:p>
                      <a:pPr algn="ctr"/>
                      <a:r>
                        <a:rPr sz="1050" b="0" i="0">
                          <a:solidFill>
                            <a:srgbClr val="000000"/>
                          </a:solidFill>
                          <a:latin typeface="맑은 고딕"/>
                          <a:ea typeface="맑은 고딕"/>
                          <a:cs typeface="맑은 고딕"/>
                        </a:rPr>
                        <a:t>Response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KV를</a:t>
                      </a:r>
                      <a:r>
                        <a:rPr sz="1050" b="0" i="0" dirty="0">
                          <a:solidFill>
                            <a:srgbClr val="000000"/>
                          </a:solidFill>
                          <a:latin typeface="맑은 고딕"/>
                          <a:ea typeface="맑은 고딕"/>
                          <a:cs typeface="맑은 고딕"/>
                        </a:rPr>
                        <a:t> DRAM/CXL/</a:t>
                      </a:r>
                      <a:r>
                        <a:rPr sz="1050" b="0" i="0" dirty="0" err="1">
                          <a:solidFill>
                            <a:srgbClr val="000000"/>
                          </a:solidFill>
                          <a:latin typeface="맑은 고딕"/>
                          <a:ea typeface="맑은 고딕"/>
                          <a:cs typeface="맑은 고딕"/>
                        </a:rPr>
                        <a:t>SSD로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이동·재사용해</a:t>
                      </a:r>
                      <a:r>
                        <a:rPr sz="1050" b="0" i="0" dirty="0">
                          <a:solidFill>
                            <a:srgbClr val="000000"/>
                          </a:solidFill>
                          <a:latin typeface="맑은 고딕"/>
                          <a:ea typeface="맑은 고딕"/>
                          <a:cs typeface="맑은 고딕"/>
                        </a:rPr>
                        <a:t> HBM </a:t>
                      </a:r>
                      <a:r>
                        <a:rPr sz="1050" b="0" i="0" dirty="0" err="1">
                          <a:solidFill>
                            <a:srgbClr val="000000"/>
                          </a:solidFill>
                          <a:latin typeface="맑은 고딕"/>
                          <a:ea typeface="맑은 고딕"/>
                          <a:cs typeface="맑은 고딕"/>
                        </a:rPr>
                        <a:t>사용량을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줄인다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701088">
                <a:tc>
                  <a:txBody>
                    <a:bodyPr/>
                    <a:lstStyle/>
                    <a:p>
                      <a:pPr algn="ctr"/>
                      <a:r>
                        <a:rPr sz="1050" b="0" i="0" dirty="0">
                          <a:solidFill>
                            <a:srgbClr val="000000"/>
                          </a:solidFill>
                          <a:latin typeface="맑은 고딕"/>
                          <a:ea typeface="맑은 고딕"/>
                          <a:cs typeface="맑은 고딕"/>
                        </a:rPr>
                        <a:t>Response Measure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[HBM </a:t>
                      </a:r>
                      <a:r>
                        <a:rPr sz="1050" b="0" i="0" dirty="0" err="1">
                          <a:solidFill>
                            <a:srgbClr val="000000"/>
                          </a:solidFill>
                          <a:latin typeface="맑은 고딕"/>
                          <a:ea typeface="맑은 고딕"/>
                          <a:cs typeface="맑은 고딕"/>
                        </a:rPr>
                        <a:t>사용량</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감소율</a:t>
                      </a:r>
                      <a:r>
                        <a:rPr sz="1050" b="0" i="0" dirty="0">
                          <a:solidFill>
                            <a:srgbClr val="000000"/>
                          </a:solidFill>
                          <a:latin typeface="맑은 고딕"/>
                          <a:ea typeface="맑은 고딕"/>
                          <a:cs typeface="맑은 고딕"/>
                        </a:rPr>
                        <a:t> ≥ 20% (B0 </a:t>
                      </a:r>
                      <a:r>
                        <a:rPr sz="1050" b="0" i="0" dirty="0" err="1">
                          <a:solidFill>
                            <a:srgbClr val="000000"/>
                          </a:solidFill>
                          <a:latin typeface="맑은 고딕"/>
                          <a:ea typeface="맑은 고딕"/>
                          <a:cs typeface="맑은 고딕"/>
                        </a:rPr>
                        <a:t>대비</a:t>
                      </a:r>
                      <a:r>
                        <a:rPr sz="105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877669973"/>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주요 품질 속성 검증 – QA-03 Tail Latency</a:t>
            </a:r>
          </a:p>
        </p:txBody>
      </p:sp>
      <p:sp>
        <p:nvSpPr>
          <p:cNvPr id="4" name="Rectangle 3"/>
          <p:cNvSpPr/>
          <p:nvPr/>
        </p:nvSpPr>
        <p:spPr>
          <a:xfrm>
            <a:off x="7863840" y="73152"/>
            <a:ext cx="4206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hevron 4"/>
          <p:cNvSpPr/>
          <p:nvPr/>
        </p:nvSpPr>
        <p:spPr>
          <a:xfrm>
            <a:off x="7991856"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과제 소개</a:t>
            </a:r>
          </a:p>
        </p:txBody>
      </p:sp>
      <p:sp>
        <p:nvSpPr>
          <p:cNvPr id="6" name="Chevron 5"/>
          <p:cNvSpPr/>
          <p:nvPr/>
        </p:nvSpPr>
        <p:spPr>
          <a:xfrm>
            <a:off x="8787384"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요구사항</a:t>
            </a:r>
          </a:p>
        </p:txBody>
      </p:sp>
      <p:sp>
        <p:nvSpPr>
          <p:cNvPr id="7" name="Chevron 6"/>
          <p:cNvSpPr/>
          <p:nvPr/>
        </p:nvSpPr>
        <p:spPr>
          <a:xfrm>
            <a:off x="9582912"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설계</a:t>
            </a:r>
          </a:p>
        </p:txBody>
      </p:sp>
      <p:sp>
        <p:nvSpPr>
          <p:cNvPr id="8" name="Chevron 7"/>
          <p:cNvSpPr/>
          <p:nvPr/>
        </p:nvSpPr>
        <p:spPr>
          <a:xfrm>
            <a:off x="10378440" y="137160"/>
            <a:ext cx="868680" cy="356616"/>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구현/검증</a:t>
            </a:r>
          </a:p>
        </p:txBody>
      </p:sp>
      <p:sp>
        <p:nvSpPr>
          <p:cNvPr id="9" name="Chevron 8"/>
          <p:cNvSpPr/>
          <p:nvPr/>
        </p:nvSpPr>
        <p:spPr>
          <a:xfrm>
            <a:off x="11173968"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결론</a:t>
            </a:r>
          </a:p>
        </p:txBody>
      </p:sp>
      <p:sp>
        <p:nvSpPr>
          <p:cNvPr id="10" name="Rectangle 9"/>
          <p:cNvSpPr/>
          <p:nvPr/>
        </p:nvSpPr>
        <p:spPr>
          <a:xfrm>
            <a:off x="274320" y="68580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관련 </a:t>
            </a:r>
            <a:r>
              <a:rPr lang="en-US" altLang="ko-KR" sz="1100" b="1" dirty="0">
                <a:solidFill>
                  <a:srgbClr val="FFFFFF"/>
                </a:solidFill>
                <a:ea typeface="맑은 고딕"/>
                <a:cs typeface="맑은 고딕"/>
              </a:rPr>
              <a:t>DP </a:t>
            </a:r>
            <a:r>
              <a:rPr lang="ko-KR" altLang="en-US" sz="1100" b="1" dirty="0">
                <a:solidFill>
                  <a:srgbClr val="FFFFFF"/>
                </a:solidFill>
                <a:ea typeface="맑은 고딕"/>
                <a:cs typeface="맑은 고딕"/>
              </a:rPr>
              <a:t>평가 결과 </a:t>
            </a:r>
          </a:p>
        </p:txBody>
      </p:sp>
      <p:graphicFrame>
        <p:nvGraphicFramePr>
          <p:cNvPr id="11" name="Chart 10"/>
          <p:cNvGraphicFramePr>
            <a:graphicFrameLocks noGrp="1"/>
          </p:cNvGraphicFramePr>
          <p:nvPr/>
        </p:nvGraphicFramePr>
        <p:xfrm>
          <a:off x="274320" y="1005840"/>
          <a:ext cx="585216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p:cNvSpPr/>
          <p:nvPr/>
        </p:nvSpPr>
        <p:spPr>
          <a:xfrm>
            <a:off x="274320" y="3749039"/>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실행 결과 </a:t>
            </a:r>
          </a:p>
        </p:txBody>
      </p:sp>
      <p:sp>
        <p:nvSpPr>
          <p:cNvPr id="15" name="Rectangle 14"/>
          <p:cNvSpPr/>
          <p:nvPr/>
        </p:nvSpPr>
        <p:spPr>
          <a:xfrm>
            <a:off x="6309360" y="68580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QA-03 품질 시나리오 (6-element)</a:t>
            </a:r>
          </a:p>
        </p:txBody>
      </p:sp>
      <p:graphicFrame>
        <p:nvGraphicFramePr>
          <p:cNvPr id="16" name="Table 15"/>
          <p:cNvGraphicFramePr>
            <a:graphicFrameLocks noGrp="1"/>
          </p:cNvGraphicFramePr>
          <p:nvPr>
            <p:extLst>
              <p:ext uri="{D42A27DB-BD31-4B8C-83A1-F6EECF244321}">
                <p14:modId xmlns:p14="http://schemas.microsoft.com/office/powerpoint/2010/main" val="3890238024"/>
              </p:ext>
            </p:extLst>
          </p:nvPr>
        </p:nvGraphicFramePr>
        <p:xfrm>
          <a:off x="6309360" y="1005840"/>
          <a:ext cx="5669280" cy="5334004"/>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433388">
                <a:tc>
                  <a:txBody>
                    <a:bodyPr/>
                    <a:lstStyle/>
                    <a:p>
                      <a:pPr algn="ctr"/>
                      <a:r>
                        <a:rPr sz="1050" b="1" i="0" dirty="0" err="1">
                          <a:solidFill>
                            <a:srgbClr val="FFFFFF"/>
                          </a:solidFill>
                          <a:latin typeface="맑은 고딕"/>
                          <a:ea typeface="맑은 고딕"/>
                          <a:cs typeface="맑은 고딕"/>
                        </a:rPr>
                        <a:t>항목</a:t>
                      </a:r>
                      <a:endParaRPr sz="1050" b="1" i="0" dirty="0">
                        <a:solidFill>
                          <a:srgbClr val="FFFF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50" b="1" i="0">
                          <a:solidFill>
                            <a:srgbClr val="FFFFFF"/>
                          </a:solidFill>
                          <a:latin typeface="맑은 고딕"/>
                          <a:ea typeface="맑은 고딕"/>
                          <a:cs typeface="맑은 고딕"/>
                        </a:rPr>
                        <a:t>내용</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700088">
                <a:tc>
                  <a:txBody>
                    <a:bodyPr/>
                    <a:lstStyle/>
                    <a:p>
                      <a:pPr algn="ctr"/>
                      <a:r>
                        <a:rPr sz="1050" b="0" i="0" dirty="0">
                          <a:solidFill>
                            <a:srgbClr val="000000"/>
                          </a:solidFill>
                          <a:latin typeface="맑은 고딕"/>
                          <a:ea typeface="맑은 고딕"/>
                          <a:cs typeface="맑은 고딕"/>
                        </a:rPr>
                        <a:t>Description</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고부하</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환경에서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최악</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응답</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지연</a:t>
                      </a:r>
                      <a:r>
                        <a:rPr sz="1050" b="0" i="0" dirty="0">
                          <a:solidFill>
                            <a:srgbClr val="000000"/>
                          </a:solidFill>
                          <a:latin typeface="맑은 고딕"/>
                          <a:ea typeface="맑은 고딕"/>
                          <a:cs typeface="맑은 고딕"/>
                        </a:rPr>
                        <a:t>(Tail Latency)을 Baseline </a:t>
                      </a:r>
                      <a:r>
                        <a:rPr sz="1050" b="0" i="0" dirty="0" err="1">
                          <a:solidFill>
                            <a:srgbClr val="000000"/>
                          </a:solidFill>
                          <a:latin typeface="맑은 고딕"/>
                          <a:ea typeface="맑은 고딕"/>
                          <a:cs typeface="맑은 고딕"/>
                        </a:rPr>
                        <a:t>대비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개선해야</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700088">
                <a:tc>
                  <a:txBody>
                    <a:bodyPr/>
                    <a:lstStyle/>
                    <a:p>
                      <a:pPr algn="ctr"/>
                      <a:r>
                        <a:rPr sz="1050" b="0" i="0">
                          <a:solidFill>
                            <a:srgbClr val="000000"/>
                          </a:solidFill>
                          <a:latin typeface="맑은 고딕"/>
                          <a:ea typeface="맑은 고딕"/>
                          <a:cs typeface="맑은 고딕"/>
                        </a:rPr>
                        <a:t>Source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Agent / LLM Client (</a:t>
                      </a:r>
                      <a:r>
                        <a:rPr sz="1050" b="0" i="0" dirty="0" err="1">
                          <a:solidFill>
                            <a:srgbClr val="000000"/>
                          </a:solidFill>
                          <a:latin typeface="맑은 고딕"/>
                          <a:ea typeface="맑은 고딕"/>
                          <a:cs typeface="맑은 고딕"/>
                        </a:rPr>
                        <a:t>다수</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세션</a:t>
                      </a:r>
                      <a:r>
                        <a:rPr sz="105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700088">
                <a:tc>
                  <a:txBody>
                    <a:bodyPr/>
                    <a:lstStyle/>
                    <a:p>
                      <a:pPr algn="ctr"/>
                      <a:r>
                        <a:rPr sz="1050" b="0" i="0">
                          <a:solidFill>
                            <a:srgbClr val="000000"/>
                          </a:solidFill>
                          <a:latin typeface="맑은 고딕"/>
                          <a:ea typeface="맑은 고딕"/>
                          <a:cs typeface="맑은 고딕"/>
                        </a:rPr>
                        <a:t>Stimulus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B</a:t>
                      </a:r>
                      <a:r>
                        <a:rPr lang="en-US" sz="1050" b="0" i="0" dirty="0">
                          <a:solidFill>
                            <a:srgbClr val="000000"/>
                          </a:solidFill>
                          <a:latin typeface="맑은 고딕"/>
                          <a:ea typeface="맑은 고딕"/>
                          <a:cs typeface="맑은 고딕"/>
                        </a:rPr>
                        <a:t>aseline</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포화</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부하의</a:t>
                      </a:r>
                      <a:r>
                        <a:rPr sz="1050" b="0" i="0" dirty="0">
                          <a:solidFill>
                            <a:srgbClr val="000000"/>
                          </a:solidFill>
                          <a:latin typeface="맑은 고딕"/>
                          <a:ea typeface="맑은 고딕"/>
                          <a:cs typeface="맑은 고딕"/>
                        </a:rPr>
                        <a:t> 90%에서 </a:t>
                      </a:r>
                      <a:r>
                        <a:rPr sz="1050" b="0" i="0" dirty="0" err="1">
                          <a:solidFill>
                            <a:srgbClr val="000000"/>
                          </a:solidFill>
                          <a:latin typeface="맑은 고딕"/>
                          <a:ea typeface="맑은 고딕"/>
                          <a:cs typeface="맑은 고딕"/>
                        </a:rPr>
                        <a:t>요청</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도착</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700088">
                <a:tc>
                  <a:txBody>
                    <a:bodyPr/>
                    <a:lstStyle/>
                    <a:p>
                      <a:pPr algn="ctr"/>
                      <a:r>
                        <a:rPr sz="1050" b="0" i="0">
                          <a:solidFill>
                            <a:srgbClr val="000000"/>
                          </a:solidFill>
                          <a:latin typeface="맑은 고딕"/>
                          <a:ea typeface="맑은 고딕"/>
                          <a:cs typeface="맑은 고딕"/>
                        </a:rPr>
                        <a:t>Artifact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Request Orchestrator, Inference Engine, Data Management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700088">
                <a:tc>
                  <a:txBody>
                    <a:bodyPr/>
                    <a:lstStyle/>
                    <a:p>
                      <a:pPr algn="ctr"/>
                      <a:r>
                        <a:rPr sz="1050" b="0" i="0">
                          <a:solidFill>
                            <a:srgbClr val="000000"/>
                          </a:solidFill>
                          <a:latin typeface="맑은 고딕"/>
                          <a:ea typeface="맑은 고딕"/>
                          <a:cs typeface="맑은 고딕"/>
                        </a:rPr>
                        <a:t>Environment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정상</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운전</a:t>
                      </a:r>
                      <a:r>
                        <a:rPr sz="1050" b="0" i="0" dirty="0">
                          <a:solidFill>
                            <a:srgbClr val="000000"/>
                          </a:solidFill>
                          <a:latin typeface="맑은 고딕"/>
                          <a:ea typeface="맑은 고딕"/>
                          <a:cs typeface="맑은 고딕"/>
                        </a:rPr>
                        <a:t>(</a:t>
                      </a:r>
                      <a:r>
                        <a:rPr sz="1050" b="0" i="0" dirty="0" err="1">
                          <a:solidFill>
                            <a:srgbClr val="000000"/>
                          </a:solidFill>
                          <a:latin typeface="맑은 고딕"/>
                          <a:ea typeface="맑은 고딕"/>
                          <a:cs typeface="맑은 고딕"/>
                        </a:rPr>
                        <a:t>고부하</a:t>
                      </a:r>
                      <a:r>
                        <a:rPr sz="1050" b="0" i="0" dirty="0">
                          <a:solidFill>
                            <a:srgbClr val="000000"/>
                          </a:solidFill>
                          <a:latin typeface="맑은 고딕"/>
                          <a:ea typeface="맑은 고딕"/>
                          <a:cs typeface="맑은 고딕"/>
                        </a:rPr>
                        <a:t>), 8-GPU </a:t>
                      </a:r>
                      <a:r>
                        <a:rPr sz="1050" b="0" i="0" dirty="0" err="1">
                          <a:solidFill>
                            <a:srgbClr val="000000"/>
                          </a:solidFill>
                          <a:latin typeface="맑은 고딕"/>
                          <a:ea typeface="맑은 고딕"/>
                          <a:cs typeface="맑은 고딕"/>
                        </a:rPr>
                        <a:t>노드</a:t>
                      </a:r>
                      <a:r>
                        <a:rPr sz="1050" b="0" i="0" dirty="0">
                          <a:solidFill>
                            <a:srgbClr val="000000"/>
                          </a:solidFill>
                          <a:latin typeface="맑은 고딕"/>
                          <a:ea typeface="맑은 고딕"/>
                          <a:cs typeface="맑은 고딕"/>
                        </a:rPr>
                        <a:t>, TTFT P99 ≤ 2s, TPOT P99 ≤ 50ms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700088">
                <a:tc>
                  <a:txBody>
                    <a:bodyPr/>
                    <a:lstStyle/>
                    <a:p>
                      <a:pPr algn="ctr"/>
                      <a:r>
                        <a:rPr sz="1050" b="0" i="0">
                          <a:solidFill>
                            <a:srgbClr val="000000"/>
                          </a:solidFill>
                          <a:latin typeface="맑은 고딕"/>
                          <a:ea typeface="맑은 고딕"/>
                          <a:cs typeface="맑은 고딕"/>
                        </a:rPr>
                        <a:t>Response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대기</a:t>
                      </a:r>
                      <a:r>
                        <a:rPr lang="en-US" sz="1050" b="0" i="0" dirty="0">
                          <a:solidFill>
                            <a:srgbClr val="000000"/>
                          </a:solidFill>
                          <a:latin typeface="맑은 고딕"/>
                          <a:ea typeface="맑은 고딕"/>
                          <a:cs typeface="맑은 고딕"/>
                        </a:rPr>
                        <a:t>,</a:t>
                      </a:r>
                      <a:r>
                        <a:rPr lang="en-US" sz="1050" b="0" i="0" baseline="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복원</a:t>
                      </a:r>
                      <a:r>
                        <a:rPr lang="en-US" sz="1050" b="0" i="0" dirty="0">
                          <a:solidFill>
                            <a:srgbClr val="000000"/>
                          </a:solidFill>
                          <a:latin typeface="맑은 고딕"/>
                          <a:ea typeface="맑은 고딕"/>
                          <a:cs typeface="맑은 고딕"/>
                        </a:rPr>
                        <a:t>,</a:t>
                      </a:r>
                      <a:r>
                        <a:rPr lang="en-US" sz="1050" b="0" i="0" baseline="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재계산</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지연을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줄여</a:t>
                      </a:r>
                      <a:r>
                        <a:rPr sz="1050" b="0" i="0" dirty="0">
                          <a:solidFill>
                            <a:srgbClr val="000000"/>
                          </a:solidFill>
                          <a:latin typeface="맑은 고딕"/>
                          <a:ea typeface="맑은 고딕"/>
                          <a:cs typeface="맑은 고딕"/>
                        </a:rPr>
                        <a:t> TTFT</a:t>
                      </a:r>
                      <a:r>
                        <a:rPr lang="en-US" sz="1050" b="0" i="0" baseline="0" dirty="0">
                          <a:solidFill>
                            <a:srgbClr val="000000"/>
                          </a:solidFill>
                          <a:latin typeface="맑은 고딕"/>
                          <a:ea typeface="맑은 고딕"/>
                          <a:cs typeface="맑은 고딕"/>
                        </a:rPr>
                        <a:t> </a:t>
                      </a:r>
                      <a:r>
                        <a:rPr lang="ko-KR" altLang="en-US" sz="1050" b="0" i="0" baseline="0" dirty="0">
                          <a:solidFill>
                            <a:srgbClr val="000000"/>
                          </a:solidFill>
                          <a:latin typeface="맑은 고딕"/>
                          <a:ea typeface="맑은 고딕"/>
                          <a:cs typeface="맑은 고딕"/>
                        </a:rPr>
                        <a:t>및 </a:t>
                      </a:r>
                      <a:r>
                        <a:rPr sz="1050" b="0" i="0" dirty="0">
                          <a:solidFill>
                            <a:srgbClr val="000000"/>
                          </a:solidFill>
                          <a:latin typeface="맑은 고딕"/>
                          <a:ea typeface="맑은 고딕"/>
                          <a:cs typeface="맑은 고딕"/>
                        </a:rPr>
                        <a:t>TPOT P99를 </a:t>
                      </a:r>
                      <a:r>
                        <a:rPr sz="1050" b="0" i="0" dirty="0" err="1">
                          <a:solidFill>
                            <a:srgbClr val="000000"/>
                          </a:solidFill>
                          <a:latin typeface="맑은 고딕"/>
                          <a:ea typeface="맑은 고딕"/>
                          <a:cs typeface="맑은 고딕"/>
                        </a:rPr>
                        <a:t>개선한다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700088">
                <a:tc>
                  <a:txBody>
                    <a:bodyPr/>
                    <a:lstStyle/>
                    <a:p>
                      <a:pPr algn="ctr"/>
                      <a:r>
                        <a:rPr sz="1050" b="0" i="0" dirty="0">
                          <a:solidFill>
                            <a:srgbClr val="000000"/>
                          </a:solidFill>
                          <a:latin typeface="맑은 고딕"/>
                          <a:ea typeface="맑은 고딕"/>
                          <a:cs typeface="맑은 고딕"/>
                        </a:rPr>
                        <a:t>Response Measure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[r = √</a:t>
                      </a:r>
                      <a:r>
                        <a:rPr lang="en-US" sz="1050" b="0" i="0" dirty="0">
                          <a:solidFill>
                            <a:srgbClr val="000000"/>
                          </a:solidFill>
                          <a:latin typeface="맑은 고딕"/>
                          <a:ea typeface="맑은 고딕"/>
                          <a:cs typeface="맑은 고딕"/>
                        </a:rPr>
                        <a:t>max</a:t>
                      </a:r>
                      <a:r>
                        <a:rPr sz="1050" b="0" i="0" dirty="0">
                          <a:solidFill>
                            <a:srgbClr val="000000"/>
                          </a:solidFill>
                          <a:latin typeface="맑은 고딕"/>
                          <a:ea typeface="맑은 고딕"/>
                          <a:cs typeface="맑은 고딕"/>
                        </a:rPr>
                        <a:t>(TTFT</a:t>
                      </a:r>
                      <a:r>
                        <a:rPr lang="en-US" sz="1050" b="0" i="0" baseline="0" dirty="0">
                          <a:solidFill>
                            <a:srgbClr val="000000"/>
                          </a:solidFill>
                          <a:latin typeface="맑은 고딕"/>
                          <a:ea typeface="맑은 고딕"/>
                          <a:cs typeface="맑은 고딕"/>
                        </a:rPr>
                        <a:t> P99, </a:t>
                      </a:r>
                      <a:r>
                        <a:rPr sz="1050" b="0" i="0" dirty="0">
                          <a:solidFill>
                            <a:srgbClr val="000000"/>
                          </a:solidFill>
                          <a:latin typeface="맑은 고딕"/>
                          <a:ea typeface="맑은 고딕"/>
                          <a:cs typeface="맑은 고딕"/>
                        </a:rPr>
                        <a:t>TPOT P99 </a:t>
                      </a:r>
                      <a:r>
                        <a:rPr sz="1050" b="0" i="0" dirty="0" err="1">
                          <a:solidFill>
                            <a:srgbClr val="000000"/>
                          </a:solidFill>
                          <a:latin typeface="맑은 고딕"/>
                          <a:ea typeface="맑은 고딕"/>
                          <a:cs typeface="맑은 고딕"/>
                        </a:rPr>
                        <a:t>개선</a:t>
                      </a:r>
                      <a:r>
                        <a:rPr sz="1050" b="0" i="0" dirty="0">
                          <a:solidFill>
                            <a:srgbClr val="000000"/>
                          </a:solidFill>
                          <a:latin typeface="맑은 고딕"/>
                          <a:ea typeface="맑은 고딕"/>
                          <a:cs typeface="맑은 고딕"/>
                        </a:rPr>
                        <a:t>) ≥ 1.43 (</a:t>
                      </a:r>
                      <a:r>
                        <a:rPr sz="1050" b="0" i="0" dirty="0" err="1">
                          <a:solidFill>
                            <a:srgbClr val="000000"/>
                          </a:solidFill>
                          <a:latin typeface="맑은 고딕"/>
                          <a:ea typeface="맑은 고딕"/>
                          <a:cs typeface="맑은 고딕"/>
                        </a:rPr>
                        <a:t>감소</a:t>
                      </a:r>
                      <a:r>
                        <a:rPr sz="1050" b="0" i="0" dirty="0">
                          <a:solidFill>
                            <a:srgbClr val="000000"/>
                          </a:solidFill>
                          <a:latin typeface="맑은 고딕"/>
                          <a:ea typeface="맑은 고딕"/>
                          <a:cs typeface="맑은 고딕"/>
                        </a:rPr>
                        <a:t> 30%), SLO </a:t>
                      </a:r>
                      <a:r>
                        <a:rPr sz="1050" b="0" i="0" dirty="0" err="1">
                          <a:solidFill>
                            <a:srgbClr val="000000"/>
                          </a:solidFill>
                          <a:latin typeface="맑은 고딕"/>
                          <a:ea typeface="맑은 고딕"/>
                          <a:cs typeface="맑은 고딕"/>
                        </a:rPr>
                        <a:t>만족</a:t>
                      </a:r>
                      <a:r>
                        <a:rPr sz="105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bl>
          </a:graphicData>
        </a:graphic>
      </p:graphicFrame>
      <p:pic>
        <p:nvPicPr>
          <p:cNvPr id="3" name="그림 2"/>
          <p:cNvPicPr>
            <a:picLocks noChangeAspect="1"/>
          </p:cNvPicPr>
          <p:nvPr/>
        </p:nvPicPr>
        <p:blipFill rotWithShape="1">
          <a:blip r:embed="rId4"/>
          <a:srcRect r="9019" b="62023"/>
          <a:stretch/>
        </p:blipFill>
        <p:spPr>
          <a:xfrm>
            <a:off x="175170" y="4069078"/>
            <a:ext cx="2954588" cy="1496713"/>
          </a:xfrm>
          <a:prstGeom prst="rect">
            <a:avLst/>
          </a:prstGeom>
        </p:spPr>
      </p:pic>
      <p:pic>
        <p:nvPicPr>
          <p:cNvPr id="17" name="그림 16"/>
          <p:cNvPicPr>
            <a:picLocks noChangeAspect="1"/>
          </p:cNvPicPr>
          <p:nvPr/>
        </p:nvPicPr>
        <p:blipFill rotWithShape="1">
          <a:blip r:embed="rId4"/>
          <a:srcRect t="38673" r="8155"/>
          <a:stretch/>
        </p:blipFill>
        <p:spPr>
          <a:xfrm>
            <a:off x="3143843" y="4069078"/>
            <a:ext cx="2982637" cy="2416926"/>
          </a:xfrm>
          <a:prstGeom prst="rect">
            <a:avLst/>
          </a:prstGeom>
        </p:spPr>
      </p:pic>
    </p:spTree>
    <p:extLst>
      <p:ext uri="{BB962C8B-B14F-4D97-AF65-F5344CB8AC3E}">
        <p14:creationId xmlns:p14="http://schemas.microsoft.com/office/powerpoint/2010/main" val="156750392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주요 품질 속성 검증 – QA-04 Scalability</a:t>
            </a:r>
          </a:p>
        </p:txBody>
      </p:sp>
      <p:sp>
        <p:nvSpPr>
          <p:cNvPr id="4" name="Rectangle 3"/>
          <p:cNvSpPr/>
          <p:nvPr/>
        </p:nvSpPr>
        <p:spPr>
          <a:xfrm>
            <a:off x="7863840" y="73152"/>
            <a:ext cx="4206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hevron 4"/>
          <p:cNvSpPr/>
          <p:nvPr/>
        </p:nvSpPr>
        <p:spPr>
          <a:xfrm>
            <a:off x="7991856"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과제 소개</a:t>
            </a:r>
          </a:p>
        </p:txBody>
      </p:sp>
      <p:sp>
        <p:nvSpPr>
          <p:cNvPr id="6" name="Chevron 5"/>
          <p:cNvSpPr/>
          <p:nvPr/>
        </p:nvSpPr>
        <p:spPr>
          <a:xfrm>
            <a:off x="8787384"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요구사항</a:t>
            </a:r>
          </a:p>
        </p:txBody>
      </p:sp>
      <p:sp>
        <p:nvSpPr>
          <p:cNvPr id="7" name="Chevron 6"/>
          <p:cNvSpPr/>
          <p:nvPr/>
        </p:nvSpPr>
        <p:spPr>
          <a:xfrm>
            <a:off x="9582912"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설계</a:t>
            </a:r>
          </a:p>
        </p:txBody>
      </p:sp>
      <p:sp>
        <p:nvSpPr>
          <p:cNvPr id="8" name="Chevron 7"/>
          <p:cNvSpPr/>
          <p:nvPr/>
        </p:nvSpPr>
        <p:spPr>
          <a:xfrm>
            <a:off x="10378440" y="137160"/>
            <a:ext cx="868680" cy="356616"/>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구현/검증</a:t>
            </a:r>
          </a:p>
        </p:txBody>
      </p:sp>
      <p:sp>
        <p:nvSpPr>
          <p:cNvPr id="9" name="Chevron 8"/>
          <p:cNvSpPr/>
          <p:nvPr/>
        </p:nvSpPr>
        <p:spPr>
          <a:xfrm>
            <a:off x="11173968"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결론</a:t>
            </a:r>
          </a:p>
        </p:txBody>
      </p:sp>
      <p:sp>
        <p:nvSpPr>
          <p:cNvPr id="10" name="Rectangle 9"/>
          <p:cNvSpPr/>
          <p:nvPr/>
        </p:nvSpPr>
        <p:spPr>
          <a:xfrm>
            <a:off x="274320" y="68580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관련 </a:t>
            </a:r>
            <a:r>
              <a:rPr lang="en-US" altLang="ko-KR" sz="1100" b="1" dirty="0">
                <a:solidFill>
                  <a:srgbClr val="FFFFFF"/>
                </a:solidFill>
                <a:ea typeface="맑은 고딕"/>
                <a:cs typeface="맑은 고딕"/>
              </a:rPr>
              <a:t>DP </a:t>
            </a:r>
            <a:r>
              <a:rPr lang="ko-KR" altLang="en-US" sz="1100" b="1" dirty="0">
                <a:solidFill>
                  <a:srgbClr val="FFFFFF"/>
                </a:solidFill>
                <a:ea typeface="맑은 고딕"/>
                <a:cs typeface="맑은 고딕"/>
              </a:rPr>
              <a:t>평가 결과 </a:t>
            </a:r>
          </a:p>
        </p:txBody>
      </p:sp>
      <p:graphicFrame>
        <p:nvGraphicFramePr>
          <p:cNvPr id="11" name="Chart 10"/>
          <p:cNvGraphicFramePr>
            <a:graphicFrameLocks noGrp="1"/>
          </p:cNvGraphicFramePr>
          <p:nvPr/>
        </p:nvGraphicFramePr>
        <p:xfrm>
          <a:off x="274320" y="1005840"/>
          <a:ext cx="585216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p:cNvSpPr/>
          <p:nvPr/>
        </p:nvSpPr>
        <p:spPr>
          <a:xfrm>
            <a:off x="274320" y="3749039"/>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err="1">
                <a:solidFill>
                  <a:srgbClr val="FFFFFF"/>
                </a:solidFill>
                <a:latin typeface="맑은 고딕"/>
                <a:ea typeface="맑은 고딕"/>
                <a:cs typeface="맑은 고딕"/>
              </a:rPr>
              <a:t>시뮬레이션</a:t>
            </a:r>
            <a:r>
              <a:rPr sz="1100" b="1" i="0" dirty="0">
                <a:solidFill>
                  <a:srgbClr val="FFFFFF"/>
                </a:solidFill>
                <a:latin typeface="맑은 고딕"/>
                <a:ea typeface="맑은 고딕"/>
                <a:cs typeface="맑은 고딕"/>
              </a:rPr>
              <a:t>  </a:t>
            </a:r>
          </a:p>
        </p:txBody>
      </p:sp>
      <p:sp>
        <p:nvSpPr>
          <p:cNvPr id="15" name="Rectangle 14"/>
          <p:cNvSpPr/>
          <p:nvPr/>
        </p:nvSpPr>
        <p:spPr>
          <a:xfrm>
            <a:off x="6309360" y="68580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QA-04 품질 시나리오 (6-element)</a:t>
            </a:r>
          </a:p>
        </p:txBody>
      </p:sp>
      <p:graphicFrame>
        <p:nvGraphicFramePr>
          <p:cNvPr id="16" name="Table 15"/>
          <p:cNvGraphicFramePr>
            <a:graphicFrameLocks noGrp="1"/>
          </p:cNvGraphicFramePr>
          <p:nvPr>
            <p:extLst>
              <p:ext uri="{D42A27DB-BD31-4B8C-83A1-F6EECF244321}">
                <p14:modId xmlns:p14="http://schemas.microsoft.com/office/powerpoint/2010/main" val="1193984956"/>
              </p:ext>
            </p:extLst>
          </p:nvPr>
        </p:nvGraphicFramePr>
        <p:xfrm>
          <a:off x="6309360" y="1005840"/>
          <a:ext cx="5669280" cy="5326377"/>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432768">
                <a:tc>
                  <a:txBody>
                    <a:bodyPr/>
                    <a:lstStyle/>
                    <a:p>
                      <a:pPr algn="ctr"/>
                      <a:r>
                        <a:rPr sz="1050" b="1" i="0" dirty="0" err="1">
                          <a:solidFill>
                            <a:srgbClr val="FFFFFF"/>
                          </a:solidFill>
                          <a:latin typeface="맑은 고딕"/>
                          <a:ea typeface="맑은 고딕"/>
                          <a:cs typeface="맑은 고딕"/>
                        </a:rPr>
                        <a:t>항목</a:t>
                      </a:r>
                      <a:endParaRPr sz="1050" b="1" i="0" dirty="0">
                        <a:solidFill>
                          <a:srgbClr val="FFFF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50" b="1" i="0">
                          <a:solidFill>
                            <a:srgbClr val="FFFFFF"/>
                          </a:solidFill>
                          <a:latin typeface="맑은 고딕"/>
                          <a:ea typeface="맑은 고딕"/>
                          <a:cs typeface="맑은 고딕"/>
                        </a:rPr>
                        <a:t>내용</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699087">
                <a:tc>
                  <a:txBody>
                    <a:bodyPr/>
                    <a:lstStyle/>
                    <a:p>
                      <a:pPr algn="ctr"/>
                      <a:r>
                        <a:rPr sz="1050" b="0" i="0">
                          <a:solidFill>
                            <a:srgbClr val="000000"/>
                          </a:solidFill>
                          <a:latin typeface="맑은 고딕"/>
                          <a:ea typeface="맑은 고딕"/>
                          <a:cs typeface="맑은 고딕"/>
                        </a:rPr>
                        <a:t>Description</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a:solidFill>
                            <a:srgbClr val="000000"/>
                          </a:solidFill>
                          <a:latin typeface="맑은 고딕"/>
                          <a:ea typeface="맑은 고딕"/>
                          <a:cs typeface="맑은 고딕"/>
                        </a:rPr>
                        <a:t>늘어난 자원(노드)에 비례해 성능이 증가해야 한다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699087">
                <a:tc>
                  <a:txBody>
                    <a:bodyPr/>
                    <a:lstStyle/>
                    <a:p>
                      <a:pPr algn="ctr"/>
                      <a:r>
                        <a:rPr sz="1050" b="0" i="0">
                          <a:solidFill>
                            <a:srgbClr val="000000"/>
                          </a:solidFill>
                          <a:latin typeface="맑은 고딕"/>
                          <a:ea typeface="맑은 고딕"/>
                          <a:cs typeface="맑은 고딕"/>
                        </a:rPr>
                        <a:t>Source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a:solidFill>
                            <a:srgbClr val="000000"/>
                          </a:solidFill>
                          <a:latin typeface="맑은 고딕"/>
                          <a:ea typeface="맑은 고딕"/>
                          <a:cs typeface="맑은 고딕"/>
                        </a:rPr>
                        <a:t>서비스 제공자 (자원 증설)</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699087">
                <a:tc>
                  <a:txBody>
                    <a:bodyPr/>
                    <a:lstStyle/>
                    <a:p>
                      <a:pPr algn="ctr"/>
                      <a:r>
                        <a:rPr sz="1050" b="0" i="0">
                          <a:solidFill>
                            <a:srgbClr val="000000"/>
                          </a:solidFill>
                          <a:latin typeface="맑은 고딕"/>
                          <a:ea typeface="맑은 고딕"/>
                          <a:cs typeface="맑은 고딕"/>
                        </a:rPr>
                        <a:t>Stimulus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노드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수를</a:t>
                      </a:r>
                      <a:r>
                        <a:rPr sz="1050" b="0" i="0" dirty="0">
                          <a:solidFill>
                            <a:srgbClr val="000000"/>
                          </a:solidFill>
                          <a:latin typeface="맑은 고딕"/>
                          <a:ea typeface="맑은 고딕"/>
                          <a:cs typeface="맑은 고딕"/>
                        </a:rPr>
                        <a:t> 2에서 16으로 </a:t>
                      </a:r>
                      <a:r>
                        <a:rPr sz="1050" b="0" i="0" dirty="0" err="1">
                          <a:solidFill>
                            <a:srgbClr val="000000"/>
                          </a:solidFill>
                          <a:latin typeface="맑은 고딕"/>
                          <a:ea typeface="맑은 고딕"/>
                          <a:cs typeface="맑은 고딕"/>
                        </a:rPr>
                        <a:t>증설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699087">
                <a:tc>
                  <a:txBody>
                    <a:bodyPr/>
                    <a:lstStyle/>
                    <a:p>
                      <a:pPr algn="ctr"/>
                      <a:r>
                        <a:rPr sz="1050" b="0" i="0">
                          <a:solidFill>
                            <a:srgbClr val="000000"/>
                          </a:solidFill>
                          <a:latin typeface="맑은 고딕"/>
                          <a:ea typeface="맑은 고딕"/>
                          <a:cs typeface="맑은 고딕"/>
                        </a:rPr>
                        <a:t>Artifact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Request Orchestrator (DP2), Metadata </a:t>
                      </a:r>
                      <a:r>
                        <a:rPr sz="1050" b="0" i="0" dirty="0" err="1">
                          <a:solidFill>
                            <a:srgbClr val="000000"/>
                          </a:solidFill>
                          <a:latin typeface="맑은 고딕"/>
                          <a:ea typeface="맑은 고딕"/>
                          <a:cs typeface="맑은 고딕"/>
                        </a:rPr>
                        <a:t>Server·Shard</a:t>
                      </a:r>
                      <a:r>
                        <a:rPr sz="1050" b="0" i="0" dirty="0">
                          <a:solidFill>
                            <a:srgbClr val="000000"/>
                          </a:solidFill>
                          <a:latin typeface="맑은 고딕"/>
                          <a:ea typeface="맑은 고딕"/>
                          <a:cs typeface="맑은 고딕"/>
                        </a:rPr>
                        <a:t> (DP4)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699087">
                <a:tc>
                  <a:txBody>
                    <a:bodyPr/>
                    <a:lstStyle/>
                    <a:p>
                      <a:pPr algn="ctr"/>
                      <a:r>
                        <a:rPr sz="1050" b="0" i="0">
                          <a:solidFill>
                            <a:srgbClr val="000000"/>
                          </a:solidFill>
                          <a:latin typeface="맑은 고딕"/>
                          <a:ea typeface="맑은 고딕"/>
                          <a:cs typeface="맑은 고딕"/>
                        </a:rPr>
                        <a:t>Environment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정상</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운전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멀티</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노드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노드</a:t>
                      </a:r>
                      <a:r>
                        <a:rPr sz="1050" b="0" i="0" dirty="0">
                          <a:solidFill>
                            <a:srgbClr val="000000"/>
                          </a:solidFill>
                          <a:latin typeface="맑은 고딕"/>
                          <a:ea typeface="맑은 고딕"/>
                          <a:cs typeface="맑은 고딕"/>
                        </a:rPr>
                        <a:t> 간 </a:t>
                      </a:r>
                      <a:r>
                        <a:rPr sz="1050" b="0" i="0" dirty="0" err="1">
                          <a:solidFill>
                            <a:srgbClr val="000000"/>
                          </a:solidFill>
                          <a:latin typeface="맑은 고딕"/>
                          <a:ea typeface="맑은 고딕"/>
                          <a:cs typeface="맑은 고딕"/>
                        </a:rPr>
                        <a:t>PCIe</a:t>
                      </a:r>
                      <a:r>
                        <a:rPr sz="1050" b="0" i="0" dirty="0">
                          <a:solidFill>
                            <a:srgbClr val="000000"/>
                          </a:solidFill>
                          <a:latin typeface="맑은 고딕"/>
                          <a:ea typeface="맑은 고딕"/>
                          <a:cs typeface="맑은 고딕"/>
                        </a:rPr>
                        <a:t> 64GB/s, CXL </a:t>
                      </a:r>
                      <a:r>
                        <a:rPr sz="1050" b="0" i="0" dirty="0" err="1">
                          <a:solidFill>
                            <a:srgbClr val="000000"/>
                          </a:solidFill>
                          <a:latin typeface="맑은 고딕"/>
                          <a:ea typeface="맑은 고딕"/>
                          <a:cs typeface="맑은 고딕"/>
                        </a:rPr>
                        <a:t>공유</a:t>
                      </a:r>
                      <a:r>
                        <a:rPr sz="1050" b="0" i="0" dirty="0">
                          <a:solidFill>
                            <a:srgbClr val="000000"/>
                          </a:solidFill>
                          <a:latin typeface="맑은 고딕"/>
                          <a:ea typeface="맑은 고딕"/>
                          <a:cs typeface="맑은 고딕"/>
                        </a:rPr>
                        <a:t> 풀)</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699087">
                <a:tc>
                  <a:txBody>
                    <a:bodyPr/>
                    <a:lstStyle/>
                    <a:p>
                      <a:pPr algn="ctr"/>
                      <a:r>
                        <a:rPr sz="1050" b="0" i="0">
                          <a:solidFill>
                            <a:srgbClr val="000000"/>
                          </a:solidFill>
                          <a:latin typeface="맑은 고딕"/>
                          <a:ea typeface="맑은 고딕"/>
                          <a:cs typeface="맑은 고딕"/>
                        </a:rPr>
                        <a:t>Response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증설한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노드만큼</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goodput이</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증가한다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699087">
                <a:tc>
                  <a:txBody>
                    <a:bodyPr/>
                    <a:lstStyle/>
                    <a:p>
                      <a:pPr algn="ctr"/>
                      <a:r>
                        <a:rPr sz="1050" b="0" i="0">
                          <a:solidFill>
                            <a:srgbClr val="000000"/>
                          </a:solidFill>
                          <a:latin typeface="맑은 고딕"/>
                          <a:ea typeface="맑은 고딕"/>
                          <a:cs typeface="맑은 고딕"/>
                        </a:rPr>
                        <a:t>Response Measure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[Scaling Efficiency SE(N=16) &gt; 80%]</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056633174"/>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주요 품질 속성 검증 – QA-05 Modifiability</a:t>
            </a:r>
          </a:p>
        </p:txBody>
      </p:sp>
      <p:sp>
        <p:nvSpPr>
          <p:cNvPr id="4" name="Rectangle 3"/>
          <p:cNvSpPr/>
          <p:nvPr/>
        </p:nvSpPr>
        <p:spPr>
          <a:xfrm>
            <a:off x="7863840" y="73152"/>
            <a:ext cx="4206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hevron 4"/>
          <p:cNvSpPr/>
          <p:nvPr/>
        </p:nvSpPr>
        <p:spPr>
          <a:xfrm>
            <a:off x="7991856"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과제 소개</a:t>
            </a:r>
          </a:p>
        </p:txBody>
      </p:sp>
      <p:sp>
        <p:nvSpPr>
          <p:cNvPr id="6" name="Chevron 5"/>
          <p:cNvSpPr/>
          <p:nvPr/>
        </p:nvSpPr>
        <p:spPr>
          <a:xfrm>
            <a:off x="8787384"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요구사항</a:t>
            </a:r>
          </a:p>
        </p:txBody>
      </p:sp>
      <p:sp>
        <p:nvSpPr>
          <p:cNvPr id="7" name="Chevron 6"/>
          <p:cNvSpPr/>
          <p:nvPr/>
        </p:nvSpPr>
        <p:spPr>
          <a:xfrm>
            <a:off x="9582912"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설계</a:t>
            </a:r>
          </a:p>
        </p:txBody>
      </p:sp>
      <p:sp>
        <p:nvSpPr>
          <p:cNvPr id="8" name="Chevron 7"/>
          <p:cNvSpPr/>
          <p:nvPr/>
        </p:nvSpPr>
        <p:spPr>
          <a:xfrm>
            <a:off x="10378440" y="137160"/>
            <a:ext cx="868680" cy="356616"/>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구현/검증</a:t>
            </a:r>
          </a:p>
        </p:txBody>
      </p:sp>
      <p:sp>
        <p:nvSpPr>
          <p:cNvPr id="9" name="Chevron 8"/>
          <p:cNvSpPr/>
          <p:nvPr/>
        </p:nvSpPr>
        <p:spPr>
          <a:xfrm>
            <a:off x="11173968" y="137160"/>
            <a:ext cx="868680" cy="356616"/>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800" b="1" i="0">
                <a:solidFill>
                  <a:srgbClr val="FFFFFF"/>
                </a:solidFill>
                <a:latin typeface="맑은 고딕"/>
                <a:ea typeface="맑은 고딕"/>
                <a:cs typeface="맑은 고딕"/>
              </a:rPr>
              <a:t>결론</a:t>
            </a:r>
          </a:p>
        </p:txBody>
      </p:sp>
      <p:sp>
        <p:nvSpPr>
          <p:cNvPr id="10" name="Rectangle 9"/>
          <p:cNvSpPr/>
          <p:nvPr/>
        </p:nvSpPr>
        <p:spPr>
          <a:xfrm>
            <a:off x="274320" y="685800"/>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lang="ko-KR" altLang="en-US" sz="1100" b="1" dirty="0">
                <a:solidFill>
                  <a:srgbClr val="FFFFFF"/>
                </a:solidFill>
                <a:ea typeface="맑은 고딕"/>
                <a:cs typeface="맑은 고딕"/>
              </a:rPr>
              <a:t>관련 </a:t>
            </a:r>
            <a:r>
              <a:rPr lang="en-US" altLang="ko-KR" sz="1100" b="1" dirty="0">
                <a:solidFill>
                  <a:srgbClr val="FFFFFF"/>
                </a:solidFill>
                <a:ea typeface="맑은 고딕"/>
                <a:cs typeface="맑은 고딕"/>
              </a:rPr>
              <a:t>DP </a:t>
            </a:r>
            <a:r>
              <a:rPr lang="ko-KR" altLang="en-US" sz="1100" b="1" dirty="0">
                <a:solidFill>
                  <a:srgbClr val="FFFFFF"/>
                </a:solidFill>
                <a:ea typeface="맑은 고딕"/>
                <a:cs typeface="맑은 고딕"/>
              </a:rPr>
              <a:t>평가 결과 </a:t>
            </a:r>
          </a:p>
        </p:txBody>
      </p:sp>
      <p:graphicFrame>
        <p:nvGraphicFramePr>
          <p:cNvPr id="11" name="Chart 10"/>
          <p:cNvGraphicFramePr>
            <a:graphicFrameLocks noGrp="1"/>
          </p:cNvGraphicFramePr>
          <p:nvPr>
            <p:extLst>
              <p:ext uri="{D42A27DB-BD31-4B8C-83A1-F6EECF244321}">
                <p14:modId xmlns:p14="http://schemas.microsoft.com/office/powerpoint/2010/main" val="1987041888"/>
              </p:ext>
            </p:extLst>
          </p:nvPr>
        </p:nvGraphicFramePr>
        <p:xfrm>
          <a:off x="274320" y="1005840"/>
          <a:ext cx="288036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p:cNvGraphicFramePr>
            <a:graphicFrameLocks noGrp="1"/>
          </p:cNvGraphicFramePr>
          <p:nvPr>
            <p:extLst>
              <p:ext uri="{D42A27DB-BD31-4B8C-83A1-F6EECF244321}">
                <p14:modId xmlns:p14="http://schemas.microsoft.com/office/powerpoint/2010/main" val="2542316090"/>
              </p:ext>
            </p:extLst>
          </p:nvPr>
        </p:nvGraphicFramePr>
        <p:xfrm>
          <a:off x="3246120" y="1005840"/>
          <a:ext cx="288036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Rectangle 12"/>
          <p:cNvSpPr/>
          <p:nvPr/>
        </p:nvSpPr>
        <p:spPr>
          <a:xfrm>
            <a:off x="274320" y="3749039"/>
            <a:ext cx="585216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dirty="0" err="1">
                <a:solidFill>
                  <a:srgbClr val="FFFFFF"/>
                </a:solidFill>
                <a:latin typeface="맑은 고딕"/>
                <a:ea typeface="맑은 고딕"/>
                <a:cs typeface="맑은 고딕"/>
              </a:rPr>
              <a:t>시뮬레이션</a:t>
            </a:r>
            <a:r>
              <a:rPr sz="1100" b="1" i="0" dirty="0">
                <a:solidFill>
                  <a:srgbClr val="FFFFFF"/>
                </a:solidFill>
                <a:latin typeface="맑은 고딕"/>
                <a:ea typeface="맑은 고딕"/>
                <a:cs typeface="맑은 고딕"/>
              </a:rPr>
              <a:t> — </a:t>
            </a:r>
            <a:r>
              <a:rPr sz="1100" b="1" i="0" dirty="0" err="1">
                <a:solidFill>
                  <a:srgbClr val="FFFFFF"/>
                </a:solidFill>
                <a:latin typeface="맑은 고딕"/>
                <a:ea typeface="맑은 고딕"/>
                <a:cs typeface="맑은 고딕"/>
              </a:rPr>
              <a:t>기존</a:t>
            </a:r>
            <a:r>
              <a:rPr sz="1100" b="1" i="0" dirty="0">
                <a:solidFill>
                  <a:srgbClr val="FFFFFF"/>
                </a:solidFill>
                <a:latin typeface="맑은 고딕"/>
                <a:ea typeface="맑은 고딕"/>
                <a:cs typeface="맑은 고딕"/>
              </a:rPr>
              <a:t> </a:t>
            </a:r>
            <a:r>
              <a:rPr sz="1100" b="1" i="0" dirty="0" err="1">
                <a:solidFill>
                  <a:srgbClr val="FFFFFF"/>
                </a:solidFill>
                <a:latin typeface="맑은 고딕"/>
                <a:ea typeface="맑은 고딕"/>
                <a:cs typeface="맑은 고딕"/>
              </a:rPr>
              <a:t>중립</a:t>
            </a:r>
            <a:r>
              <a:rPr sz="1100" b="1" i="0" dirty="0">
                <a:solidFill>
                  <a:srgbClr val="FFFFFF"/>
                </a:solidFill>
                <a:latin typeface="맑은 고딕"/>
                <a:ea typeface="맑은 고딕"/>
                <a:cs typeface="맑은 고딕"/>
              </a:rPr>
              <a:t> </a:t>
            </a:r>
            <a:r>
              <a:rPr sz="1100" b="1" i="0" dirty="0" err="1">
                <a:solidFill>
                  <a:srgbClr val="FFFFFF"/>
                </a:solidFill>
                <a:latin typeface="맑은 고딕"/>
                <a:ea typeface="맑은 고딕"/>
                <a:cs typeface="맑은 고딕"/>
              </a:rPr>
              <a:t>벤치마크</a:t>
            </a:r>
            <a:r>
              <a:rPr sz="1100" b="1" i="0" dirty="0">
                <a:solidFill>
                  <a:srgbClr val="FFFFFF"/>
                </a:solidFill>
                <a:latin typeface="맑은 고딕"/>
                <a:ea typeface="맑은 고딕"/>
                <a:cs typeface="맑은 고딕"/>
              </a:rPr>
              <a:t> </a:t>
            </a:r>
          </a:p>
        </p:txBody>
      </p:sp>
      <p:graphicFrame>
        <p:nvGraphicFramePr>
          <p:cNvPr id="14" name="Table 13"/>
          <p:cNvGraphicFramePr>
            <a:graphicFrameLocks noGrp="1"/>
          </p:cNvGraphicFramePr>
          <p:nvPr>
            <p:extLst>
              <p:ext uri="{D42A27DB-BD31-4B8C-83A1-F6EECF244321}">
                <p14:modId xmlns:p14="http://schemas.microsoft.com/office/powerpoint/2010/main" val="719822344"/>
              </p:ext>
            </p:extLst>
          </p:nvPr>
        </p:nvGraphicFramePr>
        <p:xfrm>
          <a:off x="274320" y="4069080"/>
          <a:ext cx="5852160" cy="1060704"/>
        </p:xfrm>
        <a:graphic>
          <a:graphicData uri="http://schemas.openxmlformats.org/drawingml/2006/table">
            <a:tbl>
              <a:tblPr>
                <a:tableStyleId>{2D5ABB26-0587-4C30-8999-92F81FD0307C}</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37744">
                <a:tc>
                  <a:txBody>
                    <a:bodyPr/>
                    <a:lstStyle/>
                    <a:p>
                      <a:pPr algn="ctr"/>
                      <a:r>
                        <a:rPr sz="750" b="1" i="0">
                          <a:solidFill>
                            <a:srgbClr val="FFFFFF"/>
                          </a:solidFill>
                          <a:latin typeface="맑은 고딕"/>
                          <a:ea typeface="맑은 고딕"/>
                          <a:cs typeface="맑은 고딕"/>
                        </a:rPr>
                        <a:t>후보</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750" b="1" i="0">
                          <a:solidFill>
                            <a:srgbClr val="FFFFFF"/>
                          </a:solidFill>
                          <a:latin typeface="맑은 고딕"/>
                          <a:ea typeface="맑은 고딕"/>
                          <a:cs typeface="맑은 고딕"/>
                        </a:rPr>
                        <a:t>시뮬레이션 값</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750" b="1" i="0">
                          <a:solidFill>
                            <a:srgbClr val="FFFFFF"/>
                          </a:solidFill>
                          <a:latin typeface="맑은 고딕"/>
                          <a:ea typeface="맑은 고딕"/>
                          <a:cs typeface="맑은 고딕"/>
                        </a:rPr>
                        <a:t>Response Measure 대비</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274320">
                <a:tc>
                  <a:txBody>
                    <a:bodyPr/>
                    <a:lstStyle/>
                    <a:p>
                      <a:pPr algn="l"/>
                      <a:r>
                        <a:rPr sz="750" b="0" i="0">
                          <a:solidFill>
                            <a:srgbClr val="000000"/>
                          </a:solidFill>
                          <a:latin typeface="맑은 고딕"/>
                          <a:ea typeface="맑은 고딕"/>
                          <a:cs typeface="맑은 고딕"/>
                        </a:rPr>
                        <a:t>DP1 1안</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lang="en-US" sz="750" b="0" i="0" dirty="0">
                          <a:solidFill>
                            <a:srgbClr val="000000"/>
                          </a:solidFill>
                          <a:latin typeface="맑은 고딕"/>
                          <a:ea typeface="맑은 고딕"/>
                          <a:cs typeface="맑은 고딕"/>
                        </a:rPr>
                        <a:t>3.3</a:t>
                      </a:r>
                      <a:r>
                        <a:rPr sz="750" b="0" i="0" dirty="0">
                          <a:solidFill>
                            <a:srgbClr val="000000"/>
                          </a:solidFill>
                          <a:latin typeface="맑은 고딕"/>
                          <a:ea typeface="맑은 고딕"/>
                          <a:cs typeface="맑은 고딕"/>
                        </a:rPr>
                        <a:t> module · 0.</a:t>
                      </a:r>
                      <a:r>
                        <a:rPr lang="en-US" sz="750" b="0" i="0" dirty="0">
                          <a:solidFill>
                            <a:srgbClr val="000000"/>
                          </a:solidFill>
                          <a:latin typeface="맑은 고딕"/>
                          <a:ea typeface="맑은 고딕"/>
                          <a:cs typeface="맑은 고딕"/>
                        </a:rPr>
                        <a:t>66</a:t>
                      </a:r>
                      <a:r>
                        <a:rPr sz="750" b="0" i="0" dirty="0">
                          <a:solidFill>
                            <a:srgbClr val="000000"/>
                          </a:solidFill>
                          <a:latin typeface="맑은 고딕"/>
                          <a:ea typeface="맑은 고딕"/>
                          <a:cs typeface="맑은 고딕"/>
                        </a:rPr>
                        <a:t> MM</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750" b="0" i="0" dirty="0" err="1">
                          <a:solidFill>
                            <a:srgbClr val="000000"/>
                          </a:solidFill>
                          <a:latin typeface="맑은 고딕"/>
                          <a:ea typeface="맑은 고딕"/>
                          <a:cs typeface="맑은 고딕"/>
                        </a:rPr>
                        <a:t>달성</a:t>
                      </a:r>
                      <a:endParaRPr sz="7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750" b="0" i="0">
                          <a:solidFill>
                            <a:srgbClr val="000000"/>
                          </a:solidFill>
                          <a:latin typeface="맑은 고딕"/>
                          <a:ea typeface="맑은 고딕"/>
                          <a:cs typeface="맑은 고딕"/>
                        </a:rPr>
                        <a:t>DP1 2안 (선정)</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lang="en-US" sz="750" b="0" i="0" dirty="0">
                          <a:solidFill>
                            <a:srgbClr val="000000"/>
                          </a:solidFill>
                          <a:latin typeface="맑은 고딕"/>
                          <a:ea typeface="맑은 고딕"/>
                          <a:cs typeface="맑은 고딕"/>
                        </a:rPr>
                        <a:t>3.6</a:t>
                      </a:r>
                      <a:r>
                        <a:rPr sz="750" b="0" i="0" dirty="0">
                          <a:solidFill>
                            <a:srgbClr val="000000"/>
                          </a:solidFill>
                          <a:latin typeface="맑은 고딕"/>
                          <a:ea typeface="맑은 고딕"/>
                          <a:cs typeface="맑은 고딕"/>
                        </a:rPr>
                        <a:t> module · 0.</a:t>
                      </a:r>
                      <a:r>
                        <a:rPr lang="en-US" sz="750" b="0" i="0" dirty="0">
                          <a:solidFill>
                            <a:srgbClr val="000000"/>
                          </a:solidFill>
                          <a:latin typeface="맑은 고딕"/>
                          <a:ea typeface="맑은 고딕"/>
                          <a:cs typeface="맑은 고딕"/>
                        </a:rPr>
                        <a:t>72</a:t>
                      </a:r>
                      <a:r>
                        <a:rPr sz="750" b="0" i="0" dirty="0">
                          <a:solidFill>
                            <a:srgbClr val="000000"/>
                          </a:solidFill>
                          <a:latin typeface="맑은 고딕"/>
                          <a:ea typeface="맑은 고딕"/>
                          <a:cs typeface="맑은 고딕"/>
                        </a:rPr>
                        <a:t> MM</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750" b="0" i="0" dirty="0" err="1">
                          <a:solidFill>
                            <a:srgbClr val="000000"/>
                          </a:solidFill>
                          <a:latin typeface="맑은 고딕"/>
                          <a:ea typeface="맑은 고딕"/>
                          <a:cs typeface="맑은 고딕"/>
                        </a:rPr>
                        <a:t>달성</a:t>
                      </a:r>
                      <a:r>
                        <a:rPr sz="750" b="0" i="0" dirty="0">
                          <a:solidFill>
                            <a:srgbClr val="000000"/>
                          </a:solidFill>
                          <a:latin typeface="맑은 고딕"/>
                          <a:ea typeface="맑은 고딕"/>
                          <a:cs typeface="맑은 고딕"/>
                        </a:rPr>
                        <a:t> (≤ 5 · 1.0)</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750" b="0" i="0">
                          <a:solidFill>
                            <a:srgbClr val="000000"/>
                          </a:solidFill>
                          <a:latin typeface="맑은 고딕"/>
                          <a:ea typeface="맑은 고딕"/>
                          <a:cs typeface="맑은 고딕"/>
                        </a:rPr>
                        <a:t>DP2~DP4</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r>
                        <a:rPr sz="750" b="0" i="0" dirty="0" err="1">
                          <a:solidFill>
                            <a:srgbClr val="000000"/>
                          </a:solidFill>
                          <a:latin typeface="맑은 고딕"/>
                          <a:ea typeface="맑은 고딕"/>
                          <a:cs typeface="맑은 고딕"/>
                        </a:rPr>
                        <a:t>미측정</a:t>
                      </a:r>
                      <a:endParaRPr sz="7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r>
                        <a:rPr sz="750" b="0" i="0" dirty="0" err="1">
                          <a:solidFill>
                            <a:srgbClr val="000000"/>
                          </a:solidFill>
                          <a:latin typeface="맑은 고딕"/>
                          <a:ea typeface="맑은 고딕"/>
                          <a:cs typeface="맑은 고딕"/>
                        </a:rPr>
                        <a:t>미검증</a:t>
                      </a:r>
                      <a:endParaRPr sz="7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16" name="Rectangle 15"/>
          <p:cNvSpPr/>
          <p:nvPr/>
        </p:nvSpPr>
        <p:spPr>
          <a:xfrm>
            <a:off x="6309360" y="685800"/>
            <a:ext cx="5669280"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spcAft>
                <a:spcPts val="0"/>
              </a:spcAft>
            </a:pPr>
            <a:r>
              <a:rPr sz="1100" b="1" i="0">
                <a:solidFill>
                  <a:srgbClr val="FFFFFF"/>
                </a:solidFill>
                <a:latin typeface="맑은 고딕"/>
                <a:ea typeface="맑은 고딕"/>
                <a:cs typeface="맑은 고딕"/>
              </a:rPr>
              <a:t>QA-05 품질 시나리오 (6-element)</a:t>
            </a:r>
          </a:p>
        </p:txBody>
      </p:sp>
      <p:graphicFrame>
        <p:nvGraphicFramePr>
          <p:cNvPr id="17" name="Table 16"/>
          <p:cNvGraphicFramePr>
            <a:graphicFrameLocks noGrp="1"/>
          </p:cNvGraphicFramePr>
          <p:nvPr>
            <p:extLst>
              <p:ext uri="{D42A27DB-BD31-4B8C-83A1-F6EECF244321}">
                <p14:modId xmlns:p14="http://schemas.microsoft.com/office/powerpoint/2010/main" val="1156946605"/>
              </p:ext>
            </p:extLst>
          </p:nvPr>
        </p:nvGraphicFramePr>
        <p:xfrm>
          <a:off x="6309360" y="1005840"/>
          <a:ext cx="5669280" cy="5311139"/>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431530">
                <a:tc>
                  <a:txBody>
                    <a:bodyPr/>
                    <a:lstStyle/>
                    <a:p>
                      <a:pPr algn="ctr"/>
                      <a:r>
                        <a:rPr sz="1050" b="1" i="0" dirty="0" err="1">
                          <a:solidFill>
                            <a:srgbClr val="FFFFFF"/>
                          </a:solidFill>
                          <a:latin typeface="맑은 고딕"/>
                          <a:ea typeface="맑은 고딕"/>
                          <a:cs typeface="맑은 고딕"/>
                        </a:rPr>
                        <a:t>항목</a:t>
                      </a:r>
                      <a:endParaRPr sz="1050" b="1" i="0" dirty="0">
                        <a:solidFill>
                          <a:srgbClr val="FFFFFF"/>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tc>
                  <a:txBody>
                    <a:bodyPr/>
                    <a:lstStyle/>
                    <a:p>
                      <a:pPr algn="ctr"/>
                      <a:r>
                        <a:rPr sz="1050" b="1" i="0">
                          <a:solidFill>
                            <a:srgbClr val="FFFFFF"/>
                          </a:solidFill>
                          <a:latin typeface="맑은 고딕"/>
                          <a:ea typeface="맑은 고딕"/>
                          <a:cs typeface="맑은 고딕"/>
                        </a:rPr>
                        <a:t>내용</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404040"/>
                    </a:solidFill>
                  </a:tcPr>
                </a:tc>
                <a:extLst>
                  <a:ext uri="{0D108BD9-81ED-4DB2-BD59-A6C34878D82A}">
                    <a16:rowId xmlns:a16="http://schemas.microsoft.com/office/drawing/2014/main" val="10000"/>
                  </a:ext>
                </a:extLst>
              </a:tr>
              <a:tr h="697087">
                <a:tc>
                  <a:txBody>
                    <a:bodyPr/>
                    <a:lstStyle/>
                    <a:p>
                      <a:pPr algn="ctr"/>
                      <a:r>
                        <a:rPr sz="1050" b="0" i="0">
                          <a:solidFill>
                            <a:srgbClr val="000000"/>
                          </a:solidFill>
                          <a:latin typeface="맑은 고딕"/>
                          <a:ea typeface="맑은 고딕"/>
                          <a:cs typeface="맑은 고딕"/>
                        </a:rPr>
                        <a:t>Description</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새 </a:t>
                      </a:r>
                      <a:r>
                        <a:rPr sz="1050" b="0" i="0" dirty="0" err="1">
                          <a:solidFill>
                            <a:srgbClr val="000000"/>
                          </a:solidFill>
                          <a:latin typeface="맑은 고딕"/>
                          <a:ea typeface="맑은 고딕"/>
                          <a:cs typeface="맑은 고딕"/>
                        </a:rPr>
                        <a:t>메모리</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tier·이동</a:t>
                      </a:r>
                      <a:r>
                        <a:rPr sz="1050" b="0" i="0" dirty="0">
                          <a:solidFill>
                            <a:srgbClr val="000000"/>
                          </a:solidFill>
                          <a:latin typeface="맑은 고딕"/>
                          <a:ea typeface="맑은 고딕"/>
                          <a:cs typeface="맑은 고딕"/>
                        </a:rPr>
                        <a:t>/</a:t>
                      </a:r>
                      <a:r>
                        <a:rPr sz="1050" b="0" i="0" dirty="0" err="1">
                          <a:solidFill>
                            <a:srgbClr val="000000"/>
                          </a:solidFill>
                          <a:latin typeface="맑은 고딕"/>
                          <a:ea typeface="맑은 고딕"/>
                          <a:cs typeface="맑은 고딕"/>
                        </a:rPr>
                        <a:t>배치</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정책·데이터</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객체</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유형을</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추가할</a:t>
                      </a:r>
                      <a:r>
                        <a:rPr sz="1050" b="0" i="0" dirty="0">
                          <a:solidFill>
                            <a:srgbClr val="000000"/>
                          </a:solidFill>
                          <a:latin typeface="맑은 고딕"/>
                          <a:ea typeface="맑은 고딕"/>
                          <a:cs typeface="맑은 고딕"/>
                        </a:rPr>
                        <a:t> 때 </a:t>
                      </a:r>
                      <a:r>
                        <a:rPr sz="1050" b="0" i="0" dirty="0" err="1">
                          <a:solidFill>
                            <a:srgbClr val="000000"/>
                          </a:solidFill>
                          <a:latin typeface="맑은 고딕"/>
                          <a:ea typeface="맑은 고딕"/>
                          <a:cs typeface="맑은 고딕"/>
                        </a:rPr>
                        <a:t>서빙</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경로를</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수정하지</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않고</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반영할</a:t>
                      </a:r>
                      <a:r>
                        <a:rPr sz="1050" b="0" i="0" dirty="0">
                          <a:solidFill>
                            <a:srgbClr val="000000"/>
                          </a:solidFill>
                          <a:latin typeface="맑은 고딕"/>
                          <a:ea typeface="맑은 고딕"/>
                          <a:cs typeface="맑은 고딕"/>
                        </a:rPr>
                        <a:t> 수 </a:t>
                      </a:r>
                      <a:r>
                        <a:rPr sz="1050" b="0" i="0" dirty="0" err="1">
                          <a:solidFill>
                            <a:srgbClr val="000000"/>
                          </a:solidFill>
                          <a:latin typeface="맑은 고딕"/>
                          <a:ea typeface="맑은 고딕"/>
                          <a:cs typeface="맑은 고딕"/>
                        </a:rPr>
                        <a:t>있어야</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1"/>
                  </a:ext>
                </a:extLst>
              </a:tr>
              <a:tr h="697087">
                <a:tc>
                  <a:txBody>
                    <a:bodyPr/>
                    <a:lstStyle/>
                    <a:p>
                      <a:pPr algn="ctr"/>
                      <a:r>
                        <a:rPr sz="1050" b="0" i="0">
                          <a:solidFill>
                            <a:srgbClr val="000000"/>
                          </a:solidFill>
                          <a:latin typeface="맑은 고딕"/>
                          <a:ea typeface="맑은 고딕"/>
                          <a:cs typeface="맑은 고딕"/>
                        </a:rPr>
                        <a:t>Source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Runtime </a:t>
                      </a:r>
                      <a:r>
                        <a:rPr sz="1050" b="0" i="0" dirty="0" err="1">
                          <a:solidFill>
                            <a:srgbClr val="000000"/>
                          </a:solidFill>
                          <a:latin typeface="맑은 고딕"/>
                          <a:ea typeface="맑은 고딕"/>
                          <a:cs typeface="맑은 고딕"/>
                        </a:rPr>
                        <a:t>개발자</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2"/>
                  </a:ext>
                </a:extLst>
              </a:tr>
              <a:tr h="697087">
                <a:tc>
                  <a:txBody>
                    <a:bodyPr/>
                    <a:lstStyle/>
                    <a:p>
                      <a:pPr algn="ctr"/>
                      <a:r>
                        <a:rPr sz="1050" b="0" i="0">
                          <a:solidFill>
                            <a:srgbClr val="000000"/>
                          </a:solidFill>
                          <a:latin typeface="맑은 고딕"/>
                          <a:ea typeface="맑은 고딕"/>
                          <a:cs typeface="맑은 고딕"/>
                        </a:rPr>
                        <a:t>Stimulus</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새 </a:t>
                      </a:r>
                      <a:r>
                        <a:rPr sz="1050" b="0" i="0" dirty="0" err="1">
                          <a:solidFill>
                            <a:srgbClr val="000000"/>
                          </a:solidFill>
                          <a:latin typeface="맑은 고딕"/>
                          <a:ea typeface="맑은 고딕"/>
                          <a:cs typeface="맑은 고딕"/>
                        </a:rPr>
                        <a:t>메모리</a:t>
                      </a:r>
                      <a:r>
                        <a:rPr sz="1050" b="0" i="0" dirty="0">
                          <a:solidFill>
                            <a:srgbClr val="000000"/>
                          </a:solidFill>
                          <a:latin typeface="맑은 고딕"/>
                          <a:ea typeface="맑은 고딕"/>
                          <a:cs typeface="맑은 고딕"/>
                        </a:rPr>
                        <a:t> tier </a:t>
                      </a:r>
                      <a:r>
                        <a:rPr sz="1050" b="0" i="0" dirty="0" err="1">
                          <a:solidFill>
                            <a:srgbClr val="000000"/>
                          </a:solidFill>
                          <a:latin typeface="맑은 고딕"/>
                          <a:ea typeface="맑은 고딕"/>
                          <a:cs typeface="맑은 고딕"/>
                        </a:rPr>
                        <a:t>추가</a:t>
                      </a:r>
                      <a:r>
                        <a:rPr sz="1050" b="0" i="0" dirty="0">
                          <a:solidFill>
                            <a:srgbClr val="000000"/>
                          </a:solidFill>
                          <a:latin typeface="맑은 고딕"/>
                          <a:ea typeface="맑은 고딕"/>
                          <a:cs typeface="맑은 고딕"/>
                        </a:rPr>
                        <a:t> / </a:t>
                      </a:r>
                      <a:r>
                        <a:rPr sz="1050" b="0" i="0" dirty="0" err="1">
                          <a:solidFill>
                            <a:srgbClr val="000000"/>
                          </a:solidFill>
                          <a:latin typeface="맑은 고딕"/>
                          <a:ea typeface="맑은 고딕"/>
                          <a:cs typeface="맑은 고딕"/>
                        </a:rPr>
                        <a:t>이동</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정책</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교체</a:t>
                      </a:r>
                      <a:r>
                        <a:rPr sz="1050" b="0" i="0" dirty="0">
                          <a:solidFill>
                            <a:srgbClr val="000000"/>
                          </a:solidFill>
                          <a:latin typeface="맑은 고딕"/>
                          <a:ea typeface="맑은 고딕"/>
                          <a:cs typeface="맑은 고딕"/>
                        </a:rPr>
                        <a:t> / </a:t>
                      </a:r>
                      <a:r>
                        <a:rPr sz="1050" b="0" i="0" dirty="0" err="1">
                          <a:solidFill>
                            <a:srgbClr val="000000"/>
                          </a:solidFill>
                          <a:latin typeface="맑은 고딕"/>
                          <a:ea typeface="맑은 고딕"/>
                          <a:cs typeface="맑은 고딕"/>
                        </a:rPr>
                        <a:t>vLLM</a:t>
                      </a:r>
                      <a:r>
                        <a:rPr sz="1050" b="0" i="0" dirty="0">
                          <a:solidFill>
                            <a:srgbClr val="000000"/>
                          </a:solidFill>
                          <a:latin typeface="맑은 고딕"/>
                          <a:ea typeface="맑은 고딕"/>
                          <a:cs typeface="맑은 고딕"/>
                        </a:rPr>
                        <a:t> upstream </a:t>
                      </a:r>
                      <a:r>
                        <a:rPr sz="1050" b="0" i="0" dirty="0" err="1">
                          <a:solidFill>
                            <a:srgbClr val="000000"/>
                          </a:solidFill>
                          <a:latin typeface="맑은 고딕"/>
                          <a:ea typeface="맑은 고딕"/>
                          <a:cs typeface="맑은 고딕"/>
                        </a:rPr>
                        <a:t>갱신</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3"/>
                  </a:ext>
                </a:extLst>
              </a:tr>
              <a:tr h="697087">
                <a:tc>
                  <a:txBody>
                    <a:bodyPr/>
                    <a:lstStyle/>
                    <a:p>
                      <a:pPr algn="ctr"/>
                      <a:r>
                        <a:rPr sz="1050" b="0" i="0">
                          <a:solidFill>
                            <a:srgbClr val="000000"/>
                          </a:solidFill>
                          <a:latin typeface="맑은 고딕"/>
                          <a:ea typeface="맑은 고딕"/>
                          <a:cs typeface="맑은 고딕"/>
                        </a:rPr>
                        <a:t>Artifact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Common Memory Backend Interface, Policy Engine, DP1 Connector</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4"/>
                  </a:ext>
                </a:extLst>
              </a:tr>
              <a:tr h="697087">
                <a:tc>
                  <a:txBody>
                    <a:bodyPr/>
                    <a:lstStyle/>
                    <a:p>
                      <a:pPr algn="ctr"/>
                      <a:r>
                        <a:rPr sz="1050" b="0" i="0">
                          <a:solidFill>
                            <a:srgbClr val="000000"/>
                          </a:solidFill>
                          <a:latin typeface="맑은 고딕"/>
                          <a:ea typeface="맑은 고딕"/>
                          <a:cs typeface="맑은 고딕"/>
                        </a:rPr>
                        <a:t>Environment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개발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시점</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5"/>
                  </a:ext>
                </a:extLst>
              </a:tr>
              <a:tr h="697087">
                <a:tc>
                  <a:txBody>
                    <a:bodyPr/>
                    <a:lstStyle/>
                    <a:p>
                      <a:pPr algn="ctr"/>
                      <a:r>
                        <a:rPr sz="1050" b="0" i="0">
                          <a:solidFill>
                            <a:srgbClr val="000000"/>
                          </a:solidFill>
                          <a:latin typeface="맑은 고딕"/>
                          <a:ea typeface="맑은 고딕"/>
                          <a:cs typeface="맑은 고딕"/>
                        </a:rPr>
                        <a:t>Response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err="1">
                          <a:solidFill>
                            <a:srgbClr val="000000"/>
                          </a:solidFill>
                          <a:latin typeface="맑은 고딕"/>
                          <a:ea typeface="맑은 고딕"/>
                          <a:cs typeface="맑은 고딕"/>
                        </a:rPr>
                        <a:t>서빙</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경로</a:t>
                      </a:r>
                      <a:r>
                        <a:rPr sz="1050" b="0" i="0" dirty="0">
                          <a:solidFill>
                            <a:srgbClr val="000000"/>
                          </a:solidFill>
                          <a:latin typeface="맑은 고딕"/>
                          <a:ea typeface="맑은 고딕"/>
                          <a:cs typeface="맑은 고딕"/>
                        </a:rPr>
                        <a:t>(Scheduler, Worker </a:t>
                      </a:r>
                      <a:r>
                        <a:rPr sz="1050" b="0" i="0" dirty="0" err="1">
                          <a:solidFill>
                            <a:srgbClr val="000000"/>
                          </a:solidFill>
                          <a:latin typeface="맑은 고딕"/>
                          <a:ea typeface="맑은 고딕"/>
                          <a:cs typeface="맑은 고딕"/>
                        </a:rPr>
                        <a:t>실행</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경로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수정</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없이</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모듈</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추가·교체로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반영한다</a:t>
                      </a:r>
                      <a:endParaRPr sz="1050" b="0" i="0" dirty="0">
                        <a:solidFill>
                          <a:srgbClr val="000000"/>
                        </a:solidFill>
                        <a:latin typeface="맑은 고딕"/>
                        <a:ea typeface="맑은 고딕"/>
                        <a:cs typeface="맑은 고딕"/>
                      </a:endParaRP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6"/>
                  </a:ext>
                </a:extLst>
              </a:tr>
              <a:tr h="697087">
                <a:tc>
                  <a:txBody>
                    <a:bodyPr/>
                    <a:lstStyle/>
                    <a:p>
                      <a:pPr algn="ctr"/>
                      <a:r>
                        <a:rPr sz="1050" b="0" i="0">
                          <a:solidFill>
                            <a:srgbClr val="000000"/>
                          </a:solidFill>
                          <a:latin typeface="맑은 고딕"/>
                          <a:ea typeface="맑은 고딕"/>
                          <a:cs typeface="맑은 고딕"/>
                        </a:rPr>
                        <a:t>Response Measure</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r>
                        <a:rPr sz="1050" b="0" i="0" dirty="0">
                          <a:solidFill>
                            <a:srgbClr val="000000"/>
                          </a:solidFill>
                          <a:latin typeface="맑은 고딕"/>
                          <a:ea typeface="맑은 고딕"/>
                          <a:cs typeface="맑은 고딕"/>
                        </a:rPr>
                        <a:t>[</a:t>
                      </a:r>
                      <a:r>
                        <a:rPr sz="1050" b="0" i="0" dirty="0" err="1">
                          <a:solidFill>
                            <a:srgbClr val="000000"/>
                          </a:solidFill>
                          <a:latin typeface="맑은 고딕"/>
                          <a:ea typeface="맑은 고딕"/>
                          <a:cs typeface="맑은 고딕"/>
                        </a:rPr>
                        <a:t>변경</a:t>
                      </a:r>
                      <a:r>
                        <a:rPr sz="1050" b="0" i="0" dirty="0">
                          <a:solidFill>
                            <a:srgbClr val="000000"/>
                          </a:solidFill>
                          <a:latin typeface="맑은 고딕"/>
                          <a:ea typeface="맑은 고딕"/>
                          <a:cs typeface="맑은 고딕"/>
                        </a:rPr>
                        <a:t> module ≤ 5 AND </a:t>
                      </a:r>
                      <a:r>
                        <a:rPr sz="1050" b="0" i="0" dirty="0" err="1">
                          <a:solidFill>
                            <a:srgbClr val="000000"/>
                          </a:solidFill>
                          <a:latin typeface="맑은 고딕"/>
                          <a:ea typeface="맑은 고딕"/>
                          <a:cs typeface="맑은 고딕"/>
                        </a:rPr>
                        <a:t>개발</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공수</a:t>
                      </a:r>
                      <a:r>
                        <a:rPr sz="1050" b="0" i="0" dirty="0">
                          <a:solidFill>
                            <a:srgbClr val="000000"/>
                          </a:solidFill>
                          <a:latin typeface="맑은 고딕"/>
                          <a:ea typeface="맑은 고딕"/>
                          <a:cs typeface="맑은 고딕"/>
                        </a:rPr>
                        <a:t> ≤ 1.0 MM (</a:t>
                      </a:r>
                      <a:r>
                        <a:rPr sz="1050" b="0" i="0" dirty="0" err="1">
                          <a:solidFill>
                            <a:srgbClr val="000000"/>
                          </a:solidFill>
                          <a:latin typeface="맑은 고딕"/>
                          <a:ea typeface="맑은 고딕"/>
                          <a:cs typeface="맑은 고딕"/>
                        </a:rPr>
                        <a:t>시나리오</a:t>
                      </a:r>
                      <a:r>
                        <a:rPr sz="1050" b="0" i="0" dirty="0">
                          <a:solidFill>
                            <a:srgbClr val="000000"/>
                          </a:solidFill>
                          <a:latin typeface="맑은 고딕"/>
                          <a:ea typeface="맑은 고딕"/>
                          <a:cs typeface="맑은 고딕"/>
                        </a:rPr>
                        <a:t> </a:t>
                      </a:r>
                      <a:r>
                        <a:rPr sz="1050" b="0" i="0" dirty="0" err="1">
                          <a:solidFill>
                            <a:srgbClr val="000000"/>
                          </a:solidFill>
                          <a:latin typeface="맑은 고딕"/>
                          <a:ea typeface="맑은 고딕"/>
                          <a:cs typeface="맑은 고딕"/>
                        </a:rPr>
                        <a:t>평균</a:t>
                      </a:r>
                      <a:r>
                        <a:rPr sz="1050" b="0" i="0" dirty="0">
                          <a:solidFill>
                            <a:srgbClr val="000000"/>
                          </a:solidFill>
                          <a:latin typeface="맑은 고딕"/>
                          <a:ea typeface="맑은 고딕"/>
                          <a:cs typeface="맑은 고딕"/>
                        </a:rPr>
                        <a:t>)]</a:t>
                      </a:r>
                    </a:p>
                  </a:txBody>
                  <a:tcPr marL="45720" marR="45720"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421873415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a:t>
            </a:r>
            <a:r>
              <a:rPr lang="ko-KR" altLang="en-US" dirty="0"/>
              <a:t>공동개발</a:t>
            </a:r>
            <a:r>
              <a:rPr lang="en-US" altLang="ko-KR" dirty="0"/>
              <a:t>] PIM-SSD </a:t>
            </a:r>
            <a:r>
              <a:rPr lang="ko-KR" altLang="en-US" dirty="0"/>
              <a:t>활용 </a:t>
            </a:r>
            <a:r>
              <a:rPr lang="en-US" altLang="ko-KR" dirty="0"/>
              <a:t>AI</a:t>
            </a:r>
            <a:r>
              <a:rPr lang="ko-KR" altLang="en-US" dirty="0"/>
              <a:t>응용 가속 연구 </a:t>
            </a:r>
            <a:r>
              <a:rPr lang="en-US" altLang="ko-KR" dirty="0"/>
              <a:t>(</a:t>
            </a:r>
            <a:r>
              <a:rPr lang="ko-KR" altLang="en-US" dirty="0"/>
              <a:t>메모리 </a:t>
            </a:r>
            <a:r>
              <a:rPr lang="en-US" altLang="ko-KR" dirty="0"/>
              <a:t>S/W </a:t>
            </a:r>
            <a:r>
              <a:rPr lang="ko-KR" altLang="en-US" dirty="0" err="1"/>
              <a:t>설계팀</a:t>
            </a:r>
            <a:r>
              <a:rPr lang="en-US" altLang="ko-KR" dirty="0"/>
              <a:t>)</a:t>
            </a:r>
            <a:endParaRPr lang="ko-KR" altLang="en-US" dirty="0"/>
          </a:p>
        </p:txBody>
      </p:sp>
      <p:pic>
        <p:nvPicPr>
          <p:cNvPr id="5" name="그림 4"/>
          <p:cNvPicPr>
            <a:picLocks noChangeAspect="1"/>
          </p:cNvPicPr>
          <p:nvPr/>
        </p:nvPicPr>
        <p:blipFill rotWithShape="1">
          <a:blip r:embed="rId2"/>
          <a:srcRect r="4010" b="68069"/>
          <a:stretch/>
        </p:blipFill>
        <p:spPr>
          <a:xfrm>
            <a:off x="456763" y="845034"/>
            <a:ext cx="5424698" cy="3329125"/>
          </a:xfrm>
          <a:prstGeom prst="rect">
            <a:avLst/>
          </a:prstGeom>
        </p:spPr>
      </p:pic>
      <p:pic>
        <p:nvPicPr>
          <p:cNvPr id="6" name="그림 5"/>
          <p:cNvPicPr>
            <a:picLocks noChangeAspect="1"/>
          </p:cNvPicPr>
          <p:nvPr/>
        </p:nvPicPr>
        <p:blipFill rotWithShape="1">
          <a:blip r:embed="rId2"/>
          <a:srcRect l="231" t="33539" r="-1"/>
          <a:stretch/>
        </p:blipFill>
        <p:spPr>
          <a:xfrm>
            <a:off x="6376612" y="845034"/>
            <a:ext cx="4659727" cy="5726634"/>
          </a:xfrm>
          <a:prstGeom prst="rect">
            <a:avLst/>
          </a:prstGeom>
        </p:spPr>
      </p:pic>
      <p:sp>
        <p:nvSpPr>
          <p:cNvPr id="7" name="실행 단추: 뒤로 또는 이전 6">
            <a:hlinkClick r:id="rId3" action="ppaction://hlinksldjump" highlightClick="1"/>
          </p:cNvPr>
          <p:cNvSpPr/>
          <p:nvPr/>
        </p:nvSpPr>
        <p:spPr>
          <a:xfrm>
            <a:off x="7597140" y="213360"/>
            <a:ext cx="293793"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007681780"/>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a:t>
            </a:r>
            <a:r>
              <a:rPr lang="ko-KR" altLang="en-US" dirty="0"/>
              <a:t>공동개발</a:t>
            </a:r>
            <a:r>
              <a:rPr lang="en-US" altLang="ko-KR" dirty="0"/>
              <a:t>] UBF System Level </a:t>
            </a:r>
            <a:r>
              <a:rPr lang="ko-KR" altLang="en-US" dirty="0"/>
              <a:t>연구 </a:t>
            </a:r>
            <a:r>
              <a:rPr lang="en-US" altLang="ko-KR" dirty="0"/>
              <a:t>(</a:t>
            </a:r>
            <a:r>
              <a:rPr lang="ko-KR" altLang="en-US" dirty="0"/>
              <a:t>메모리 </a:t>
            </a:r>
            <a:r>
              <a:rPr lang="en-US" altLang="ko-KR" dirty="0"/>
              <a:t>Flash </a:t>
            </a:r>
            <a:r>
              <a:rPr lang="ko-KR" altLang="en-US" dirty="0" err="1"/>
              <a:t>설계팀</a:t>
            </a:r>
            <a:r>
              <a:rPr lang="en-US" altLang="ko-KR" dirty="0"/>
              <a:t>)</a:t>
            </a:r>
            <a:endParaRPr lang="ko-KR" altLang="en-US" dirty="0"/>
          </a:p>
        </p:txBody>
      </p:sp>
      <p:pic>
        <p:nvPicPr>
          <p:cNvPr id="3" name="그림 2"/>
          <p:cNvPicPr>
            <a:picLocks noChangeAspect="1"/>
          </p:cNvPicPr>
          <p:nvPr/>
        </p:nvPicPr>
        <p:blipFill rotWithShape="1">
          <a:blip r:embed="rId2"/>
          <a:srcRect r="22085" b="54228"/>
          <a:stretch/>
        </p:blipFill>
        <p:spPr>
          <a:xfrm>
            <a:off x="160179" y="1419449"/>
            <a:ext cx="5653882" cy="3602131"/>
          </a:xfrm>
          <a:prstGeom prst="rect">
            <a:avLst/>
          </a:prstGeom>
        </p:spPr>
      </p:pic>
      <p:pic>
        <p:nvPicPr>
          <p:cNvPr id="4" name="그림 3"/>
          <p:cNvPicPr>
            <a:picLocks noChangeAspect="1"/>
          </p:cNvPicPr>
          <p:nvPr/>
        </p:nvPicPr>
        <p:blipFill rotWithShape="1">
          <a:blip r:embed="rId2"/>
          <a:srcRect l="1468" t="46256" r="29751"/>
          <a:stretch/>
        </p:blipFill>
        <p:spPr>
          <a:xfrm>
            <a:off x="6256021" y="1105759"/>
            <a:ext cx="4991100" cy="4229509"/>
          </a:xfrm>
          <a:prstGeom prst="rect">
            <a:avLst/>
          </a:prstGeom>
        </p:spPr>
      </p:pic>
      <p:sp>
        <p:nvSpPr>
          <p:cNvPr id="5" name="실행 단추: 뒤로 또는 이전 4">
            <a:hlinkClick r:id="rId3" action="ppaction://hlinksldjump" highlightClick="1"/>
          </p:cNvPr>
          <p:cNvSpPr/>
          <p:nvPr/>
        </p:nvSpPr>
        <p:spPr>
          <a:xfrm>
            <a:off x="7597140" y="213360"/>
            <a:ext cx="293793"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2435172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234948" y="137379"/>
            <a:ext cx="8890002" cy="365125"/>
          </a:xfrm>
        </p:spPr>
        <p:txBody>
          <a:bodyPr/>
          <a:lstStyle/>
          <a:p>
            <a:r>
              <a:rPr lang="en-US" altLang="ko-KR" dirty="0"/>
              <a:t>[</a:t>
            </a:r>
            <a:r>
              <a:rPr lang="ko-KR" altLang="en-US" dirty="0"/>
              <a:t>공동연구협약</a:t>
            </a:r>
            <a:r>
              <a:rPr lang="en-US" altLang="ko-KR" dirty="0"/>
              <a:t>] Future Memory-centric System Architecture (Google Research)</a:t>
            </a:r>
            <a:endParaRPr lang="ko-KR" altLang="en-US" dirty="0"/>
          </a:p>
        </p:txBody>
      </p:sp>
      <p:pic>
        <p:nvPicPr>
          <p:cNvPr id="3" name="그림 2"/>
          <p:cNvPicPr>
            <a:picLocks noChangeAspect="1"/>
          </p:cNvPicPr>
          <p:nvPr/>
        </p:nvPicPr>
        <p:blipFill>
          <a:blip r:embed="rId2"/>
          <a:stretch>
            <a:fillRect/>
          </a:stretch>
        </p:blipFill>
        <p:spPr>
          <a:xfrm>
            <a:off x="438948" y="594243"/>
            <a:ext cx="5503855" cy="6211053"/>
          </a:xfrm>
          <a:prstGeom prst="rect">
            <a:avLst/>
          </a:prstGeom>
        </p:spPr>
      </p:pic>
      <p:sp>
        <p:nvSpPr>
          <p:cNvPr id="8" name="실행 단추: 뒤로 또는 이전 7">
            <a:hlinkClick r:id="rId3" action="ppaction://hlinksldjump" highlightClick="1"/>
          </p:cNvPr>
          <p:cNvSpPr/>
          <p:nvPr/>
        </p:nvSpPr>
        <p:spPr>
          <a:xfrm>
            <a:off x="11567160" y="662940"/>
            <a:ext cx="293793"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9633860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err="1"/>
              <a:t>CompBlend</a:t>
            </a:r>
            <a:r>
              <a:rPr lang="en-US" altLang="ko-KR" dirty="0"/>
              <a:t> – </a:t>
            </a:r>
            <a:r>
              <a:rPr lang="en-US" altLang="ko-KR" dirty="0" err="1"/>
              <a:t>EuroSys</a:t>
            </a:r>
            <a:r>
              <a:rPr lang="en-US" altLang="ko-KR" dirty="0"/>
              <a:t> ‘27</a:t>
            </a:r>
            <a:endParaRPr lang="ko-KR" altLang="en-US" dirty="0"/>
          </a:p>
        </p:txBody>
      </p:sp>
      <p:pic>
        <p:nvPicPr>
          <p:cNvPr id="6" name="그림 5"/>
          <p:cNvPicPr>
            <a:picLocks noChangeAspect="1"/>
          </p:cNvPicPr>
          <p:nvPr/>
        </p:nvPicPr>
        <p:blipFill>
          <a:blip r:embed="rId2"/>
          <a:stretch>
            <a:fillRect/>
          </a:stretch>
        </p:blipFill>
        <p:spPr>
          <a:xfrm>
            <a:off x="7111998" y="744852"/>
            <a:ext cx="4636792" cy="5654047"/>
          </a:xfrm>
          <a:prstGeom prst="rect">
            <a:avLst/>
          </a:prstGeom>
        </p:spPr>
      </p:pic>
      <p:sp>
        <p:nvSpPr>
          <p:cNvPr id="8" name="TextBox 7"/>
          <p:cNvSpPr txBox="1"/>
          <p:nvPr/>
        </p:nvSpPr>
        <p:spPr>
          <a:xfrm>
            <a:off x="355599" y="653749"/>
            <a:ext cx="6756399" cy="646331"/>
          </a:xfrm>
          <a:prstGeom prst="rect">
            <a:avLst/>
          </a:prstGeom>
          <a:noFill/>
        </p:spPr>
        <p:txBody>
          <a:bodyPr wrap="square" rtlCol="0">
            <a:spAutoFit/>
          </a:bodyPr>
          <a:lstStyle>
            <a:defPPr>
              <a:defRPr lang="ko-KR"/>
            </a:defPPr>
            <a:lvl1pPr algn="ctr">
              <a:defRPr sz="1000">
                <a:latin typeface="+mn-ea"/>
              </a:defRPr>
            </a:lvl1pPr>
          </a:lstStyle>
          <a:p>
            <a:pPr algn="l">
              <a:lnSpc>
                <a:spcPct val="150000"/>
              </a:lnSpc>
            </a:pPr>
            <a:r>
              <a:rPr lang="en-US" altLang="ko-KR" sz="1200" b="1" dirty="0" err="1"/>
              <a:t>CompBlend</a:t>
            </a:r>
            <a:r>
              <a:rPr lang="en-US" altLang="ko-KR" sz="1200" b="1" dirty="0"/>
              <a:t>: </a:t>
            </a:r>
            <a:r>
              <a:rPr lang="en-US" altLang="ko-KR" sz="1200" dirty="0"/>
              <a:t>Query-Distribution-Aware, Blending-Aware KV Cache Compression for </a:t>
            </a:r>
            <a:r>
              <a:rPr lang="en-US" altLang="ko-KR" sz="1200" dirty="0" err="1"/>
              <a:t>ComposableReuse</a:t>
            </a:r>
            <a:r>
              <a:rPr lang="en-US" altLang="ko-KR" sz="1050" dirty="0"/>
              <a:t> - </a:t>
            </a:r>
          </a:p>
        </p:txBody>
      </p:sp>
      <p:sp>
        <p:nvSpPr>
          <p:cNvPr id="10" name="직사각형 9"/>
          <p:cNvSpPr/>
          <p:nvPr/>
        </p:nvSpPr>
        <p:spPr>
          <a:xfrm>
            <a:off x="355599" y="1451326"/>
            <a:ext cx="6597651" cy="4339650"/>
          </a:xfrm>
          <a:prstGeom prst="rect">
            <a:avLst/>
          </a:prstGeom>
        </p:spPr>
        <p:txBody>
          <a:bodyPr wrap="square">
            <a:spAutoFit/>
          </a:bodyPr>
          <a:lstStyle/>
          <a:p>
            <a:r>
              <a:rPr lang="en-US" altLang="ko-KR" sz="1200" b="1" dirty="0"/>
              <a:t>Abstract</a:t>
            </a:r>
          </a:p>
          <a:p>
            <a:r>
              <a:rPr lang="en-US" altLang="ko-KR" sz="1200" dirty="0"/>
              <a:t>Key–value (KV) cache reuse removes repeated prefill from large language model (LLM) serving, and cache blending extends it beyond identical prefixes by assembling independently cached chunks and </a:t>
            </a:r>
            <a:r>
              <a:rPr lang="en-US" altLang="ko-KR" sz="1200" dirty="0" err="1"/>
              <a:t>recomputing</a:t>
            </a:r>
            <a:r>
              <a:rPr lang="en-US" altLang="ko-KR" sz="1200" dirty="0"/>
              <a:t> a fraction of their states. As reusable caches grow into a storage tier, compression becomes necessary. Stacked naively, the two interfere: compression discards exactly the tokens blending needs to </a:t>
            </a:r>
            <a:r>
              <a:rPr lang="en-US" altLang="ko-KR" sz="1200" dirty="0" err="1"/>
              <a:t>recompute</a:t>
            </a:r>
            <a:r>
              <a:rPr lang="en-US" altLang="ko-KR" sz="1200" dirty="0"/>
              <a:t>, and multi-hop QA loses most of its accuracy. </a:t>
            </a:r>
            <a:r>
              <a:rPr lang="en-US" altLang="ko-KR" sz="1200" dirty="0" err="1"/>
              <a:t>CompBlend</a:t>
            </a:r>
            <a:r>
              <a:rPr lang="en-US" altLang="ko-KR" sz="1200" dirty="0"/>
              <a:t> is a query-distribution-aware and blending-aware compressor that decides what to retain at compression time. A query-distribution-aware Coverage score ranks each position by how strongly the workload’s logged queries would read it; a blending-aware Coupling score measures how far a position’s cached state changes when its chunk is placed behind a surrogate preceding context. Together they fix retention once, offline, so the tokens blending will </a:t>
            </a:r>
            <a:r>
              <a:rPr lang="en-US" altLang="ko-KR" sz="1200" dirty="0" err="1"/>
              <a:t>recompute</a:t>
            </a:r>
            <a:r>
              <a:rPr lang="en-US" altLang="ko-KR" sz="1200" dirty="0"/>
              <a:t> survive compression; the executor’s online </a:t>
            </a:r>
            <a:r>
              <a:rPr lang="en-US" altLang="ko-KR" sz="1200" dirty="0" err="1"/>
              <a:t>recompute</a:t>
            </a:r>
            <a:r>
              <a:rPr lang="en-US" altLang="ko-KR" sz="1200" dirty="0"/>
              <a:t> choice is unchanged. With Llama-3.1-8B-Instruct on eight </a:t>
            </a:r>
            <a:r>
              <a:rPr lang="en-US" altLang="ko-KR" sz="1200" dirty="0" err="1"/>
              <a:t>LongBench</a:t>
            </a:r>
            <a:r>
              <a:rPr lang="en-US" altLang="ko-KR" sz="1200" dirty="0"/>
              <a:t> tasks, </a:t>
            </a:r>
            <a:r>
              <a:rPr lang="en-US" altLang="ko-KR" sz="1200" dirty="0" err="1"/>
              <a:t>CompBlend</a:t>
            </a:r>
            <a:r>
              <a:rPr lang="en-US" altLang="ko-KR" sz="1200" dirty="0"/>
              <a:t> stays on par with full prefill (≥0.99×) on every task’s evaluated examples, with configuration and keep chosen on those examples, while retaining 10–40% of the positions, and at keep= 0.4, where stored KV is partially reused, adds 13–17 F1 points on three multi-hop QA tasks over the state-of-the-art compressor and blender stacked with the same eviction structure. On a QA-only stream on an eight-GPU server with a shared storage tier, it reads 0.18 GB per request instead of 1.3 GB and meets a one-second first-token SLO for every request at 80% of full-prefill capacity, where uncompressed blending meets 26%. Decided from the workload’s query distribution, what to keep anticipates what blending will </a:t>
            </a:r>
            <a:r>
              <a:rPr lang="en-US" altLang="ko-KR" sz="1200" dirty="0" err="1"/>
              <a:t>recompute</a:t>
            </a:r>
            <a:r>
              <a:rPr lang="en-US" altLang="ko-KR" sz="1200" dirty="0"/>
              <a:t>, making the compressed cache the reuse tier’s native representation.</a:t>
            </a:r>
          </a:p>
        </p:txBody>
      </p:sp>
      <p:sp>
        <p:nvSpPr>
          <p:cNvPr id="11" name="실행 단추: 뒤로 또는 이전 10">
            <a:hlinkClick r:id="rId3" action="ppaction://hlinksldjump" highlightClick="1"/>
          </p:cNvPr>
          <p:cNvSpPr/>
          <p:nvPr/>
        </p:nvSpPr>
        <p:spPr>
          <a:xfrm>
            <a:off x="7597140" y="213360"/>
            <a:ext cx="293793"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1572958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err="1"/>
              <a:t>BlendPrune</a:t>
            </a:r>
            <a:r>
              <a:rPr lang="en-US" altLang="ko-KR" dirty="0"/>
              <a:t> – </a:t>
            </a:r>
            <a:r>
              <a:rPr lang="en-US" altLang="ko-KR" dirty="0" err="1"/>
              <a:t>MLSys</a:t>
            </a:r>
            <a:r>
              <a:rPr lang="en-US" altLang="ko-KR" dirty="0"/>
              <a:t> ‘27</a:t>
            </a:r>
            <a:endParaRPr lang="ko-KR" altLang="en-US" dirty="0"/>
          </a:p>
        </p:txBody>
      </p:sp>
      <p:sp>
        <p:nvSpPr>
          <p:cNvPr id="8" name="TextBox 7"/>
          <p:cNvSpPr txBox="1"/>
          <p:nvPr/>
        </p:nvSpPr>
        <p:spPr>
          <a:xfrm>
            <a:off x="355599" y="653749"/>
            <a:ext cx="8997951" cy="276999"/>
          </a:xfrm>
          <a:prstGeom prst="rect">
            <a:avLst/>
          </a:prstGeom>
          <a:noFill/>
        </p:spPr>
        <p:txBody>
          <a:bodyPr wrap="square" rtlCol="0">
            <a:spAutoFit/>
          </a:bodyPr>
          <a:lstStyle>
            <a:defPPr>
              <a:defRPr lang="ko-KR"/>
            </a:defPPr>
            <a:lvl1pPr algn="ctr">
              <a:defRPr sz="1000">
                <a:latin typeface="+mn-ea"/>
              </a:defRPr>
            </a:lvl1pPr>
          </a:lstStyle>
          <a:p>
            <a:pPr algn="l"/>
            <a:r>
              <a:rPr lang="en-US" altLang="ko-KR" sz="1200" b="1" dirty="0" err="1"/>
              <a:t>CompBlend</a:t>
            </a:r>
            <a:r>
              <a:rPr lang="en-US" altLang="ko-KR" sz="1200" b="1" dirty="0"/>
              <a:t>: </a:t>
            </a:r>
            <a:r>
              <a:rPr lang="en-US" altLang="ko-KR" sz="1200" dirty="0"/>
              <a:t>BLENDPRUNE: SEPARATING CORRECTION AND RETENTION FOR COMPOSABLE KV CACHE REUSE</a:t>
            </a:r>
          </a:p>
        </p:txBody>
      </p:sp>
      <p:pic>
        <p:nvPicPr>
          <p:cNvPr id="4" name="그림 3"/>
          <p:cNvPicPr>
            <a:picLocks noChangeAspect="1"/>
          </p:cNvPicPr>
          <p:nvPr/>
        </p:nvPicPr>
        <p:blipFill>
          <a:blip r:embed="rId2"/>
          <a:stretch>
            <a:fillRect/>
          </a:stretch>
        </p:blipFill>
        <p:spPr>
          <a:xfrm>
            <a:off x="1596572" y="1322019"/>
            <a:ext cx="8998856" cy="5204563"/>
          </a:xfrm>
          <a:prstGeom prst="rect">
            <a:avLst/>
          </a:prstGeom>
        </p:spPr>
      </p:pic>
      <p:sp>
        <p:nvSpPr>
          <p:cNvPr id="9" name="실행 단추: 뒤로 또는 이전 8">
            <a:hlinkClick r:id="rId3" action="ppaction://hlinksldjump" highlightClick="1"/>
          </p:cNvPr>
          <p:cNvSpPr/>
          <p:nvPr/>
        </p:nvSpPr>
        <p:spPr>
          <a:xfrm>
            <a:off x="7597140" y="213360"/>
            <a:ext cx="293793"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16009933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특허 실적</a:t>
            </a:r>
          </a:p>
        </p:txBody>
      </p:sp>
      <p:pic>
        <p:nvPicPr>
          <p:cNvPr id="3" name="그림 2"/>
          <p:cNvPicPr>
            <a:picLocks noChangeAspect="1"/>
          </p:cNvPicPr>
          <p:nvPr/>
        </p:nvPicPr>
        <p:blipFill rotWithShape="1">
          <a:blip r:embed="rId2"/>
          <a:srcRect r="32442"/>
          <a:stretch/>
        </p:blipFill>
        <p:spPr>
          <a:xfrm>
            <a:off x="447674" y="1123950"/>
            <a:ext cx="10701338" cy="2019300"/>
          </a:xfrm>
          <a:prstGeom prst="rect">
            <a:avLst/>
          </a:prstGeom>
        </p:spPr>
      </p:pic>
      <p:pic>
        <p:nvPicPr>
          <p:cNvPr id="4" name="그림 3"/>
          <p:cNvPicPr>
            <a:picLocks noChangeAspect="1"/>
          </p:cNvPicPr>
          <p:nvPr/>
        </p:nvPicPr>
        <p:blipFill rotWithShape="1">
          <a:blip r:embed="rId2"/>
          <a:srcRect l="61425"/>
          <a:stretch/>
        </p:blipFill>
        <p:spPr>
          <a:xfrm>
            <a:off x="542925" y="3371850"/>
            <a:ext cx="6110287" cy="2019300"/>
          </a:xfrm>
          <a:prstGeom prst="rect">
            <a:avLst/>
          </a:prstGeom>
        </p:spPr>
      </p:pic>
      <p:sp>
        <p:nvSpPr>
          <p:cNvPr id="5" name="실행 단추: 뒤로 또는 이전 4">
            <a:hlinkClick r:id="rId3" action="ppaction://hlinksldjump" highlightClick="1"/>
          </p:cNvPr>
          <p:cNvSpPr/>
          <p:nvPr/>
        </p:nvSpPr>
        <p:spPr>
          <a:xfrm>
            <a:off x="7597140" y="213360"/>
            <a:ext cx="293793" cy="228600"/>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 name="직선 연결선 8"/>
          <p:cNvCxnSpPr/>
          <p:nvPr/>
        </p:nvCxnSpPr>
        <p:spPr>
          <a:xfrm>
            <a:off x="1752600" y="1775460"/>
            <a:ext cx="4511040" cy="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a:off x="1752600" y="1973580"/>
            <a:ext cx="4511040" cy="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p:nvPr/>
        </p:nvCxnSpPr>
        <p:spPr>
          <a:xfrm>
            <a:off x="1752600" y="2133600"/>
            <a:ext cx="4511040" cy="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 name="직선 연결선 12"/>
          <p:cNvCxnSpPr/>
          <p:nvPr/>
        </p:nvCxnSpPr>
        <p:spPr>
          <a:xfrm>
            <a:off x="1752600" y="2522220"/>
            <a:ext cx="4511040" cy="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직선 연결선 13"/>
          <p:cNvCxnSpPr/>
          <p:nvPr/>
        </p:nvCxnSpPr>
        <p:spPr>
          <a:xfrm>
            <a:off x="1752600" y="2918460"/>
            <a:ext cx="4511040" cy="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587246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Default">
  <a:themeElements>
    <a:clrScheme name="Custom 1">
      <a:dk1>
        <a:srgbClr val="000000"/>
      </a:dk1>
      <a:lt1>
        <a:srgbClr val="FFFFFF"/>
      </a:lt1>
      <a:dk2>
        <a:srgbClr val="1C1C1C"/>
      </a:dk2>
      <a:lt2>
        <a:srgbClr val="0DD5FF"/>
      </a:lt2>
      <a:accent1>
        <a:srgbClr val="3C77FF"/>
      </a:accent1>
      <a:accent2>
        <a:srgbClr val="FF6616"/>
      </a:accent2>
      <a:accent3>
        <a:srgbClr val="EFB949"/>
      </a:accent3>
      <a:accent4>
        <a:srgbClr val="FF4150"/>
      </a:accent4>
      <a:accent5>
        <a:srgbClr val="FF8050"/>
      </a:accent5>
      <a:accent6>
        <a:srgbClr val="7049FF"/>
      </a:accent6>
      <a:hlink>
        <a:srgbClr val="8080FF"/>
      </a:hlink>
      <a:folHlink>
        <a:srgbClr val="40A780"/>
      </a:folHlink>
    </a:clrScheme>
    <a:fontScheme name="Custom 1">
      <a:majorFont>
        <a:latin typeface="Samsung Sharp Sans Bold"/>
        <a:ea typeface=""/>
        <a:cs typeface=""/>
      </a:majorFont>
      <a:minorFont>
        <a:latin typeface="Samsung Sharp Sans Medium"/>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3_Default">
  <a:themeElements>
    <a:clrScheme name="Custom 1">
      <a:dk1>
        <a:srgbClr val="000000"/>
      </a:dk1>
      <a:lt1>
        <a:srgbClr val="FFFFFF"/>
      </a:lt1>
      <a:dk2>
        <a:srgbClr val="1C1C1C"/>
      </a:dk2>
      <a:lt2>
        <a:srgbClr val="0DD5FF"/>
      </a:lt2>
      <a:accent1>
        <a:srgbClr val="3C77FF"/>
      </a:accent1>
      <a:accent2>
        <a:srgbClr val="FF6616"/>
      </a:accent2>
      <a:accent3>
        <a:srgbClr val="EFB949"/>
      </a:accent3>
      <a:accent4>
        <a:srgbClr val="FF4150"/>
      </a:accent4>
      <a:accent5>
        <a:srgbClr val="FF8050"/>
      </a:accent5>
      <a:accent6>
        <a:srgbClr val="7049FF"/>
      </a:accent6>
      <a:hlink>
        <a:srgbClr val="8080FF"/>
      </a:hlink>
      <a:folHlink>
        <a:srgbClr val="40A780"/>
      </a:folHlink>
    </a:clrScheme>
    <a:fontScheme name="Custom 1">
      <a:majorFont>
        <a:latin typeface="Samsung Sharp Sans Bold"/>
        <a:ea typeface=""/>
        <a:cs typeface=""/>
      </a:majorFont>
      <a:minorFont>
        <a:latin typeface="Samsung Sharp Sans Medium"/>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85255</TotalTime>
  <Words>109560</Words>
  <Application>Microsoft Office PowerPoint</Application>
  <PresentationFormat>와이드스크린</PresentationFormat>
  <Paragraphs>16510</Paragraphs>
  <Slides>231</Slides>
  <Notes>218</Notes>
  <HiddenSlides>0</HiddenSlides>
  <MMClips>0</MMClips>
  <ScaleCrop>false</ScaleCrop>
  <HeadingPairs>
    <vt:vector size="6" baseType="variant">
      <vt:variant>
        <vt:lpstr>사용한 글꼴</vt:lpstr>
      </vt:variant>
      <vt:variant>
        <vt:i4>25</vt:i4>
      </vt:variant>
      <vt:variant>
        <vt:lpstr>테마</vt:lpstr>
      </vt:variant>
      <vt:variant>
        <vt:i4>4</vt:i4>
      </vt:variant>
      <vt:variant>
        <vt:lpstr>슬라이드 제목</vt:lpstr>
      </vt:variant>
      <vt:variant>
        <vt:i4>231</vt:i4>
      </vt:variant>
    </vt:vector>
  </HeadingPairs>
  <TitlesOfParts>
    <vt:vector size="260" baseType="lpstr">
      <vt:lpstr>-apple-system</vt:lpstr>
      <vt:lpstr>Aptos</vt:lpstr>
      <vt:lpstr>Arial Unicode MS</vt:lpstr>
      <vt:lpstr>Helvetica Neue</vt:lpstr>
      <vt:lpstr>Mona Sans VF</vt:lpstr>
      <vt:lpstr>Noto Sans KR</vt:lpstr>
      <vt:lpstr>Samsung Sharp Sans Bold</vt:lpstr>
      <vt:lpstr>Samsung Sharp Sans Medium</vt:lpstr>
      <vt:lpstr>Samsung Sharp Sans Regular</vt:lpstr>
      <vt:lpstr>SAMSUNGONE-400C</vt:lpstr>
      <vt:lpstr>SAMSUNGONE-600C</vt:lpstr>
      <vt:lpstr>SamsungOneKorean 600C</vt:lpstr>
      <vt:lpstr>SamsungOneKorean 700</vt:lpstr>
      <vt:lpstr>Yu Gothic</vt:lpstr>
      <vt:lpstr>굴림</vt:lpstr>
      <vt:lpstr>맑은 고딕</vt:lpstr>
      <vt:lpstr>맑은 고딕</vt:lpstr>
      <vt:lpstr>Arial</vt:lpstr>
      <vt:lpstr>Calibri</vt:lpstr>
      <vt:lpstr>Cambria Math</vt:lpstr>
      <vt:lpstr>Courier New</vt:lpstr>
      <vt:lpstr>Segoe UI</vt:lpstr>
      <vt:lpstr>Symbol</vt:lpstr>
      <vt:lpstr>Times New Roman</vt:lpstr>
      <vt:lpstr>Wingdings</vt:lpstr>
      <vt:lpstr>Office 테마</vt:lpstr>
      <vt:lpstr>2_Default</vt:lpstr>
      <vt:lpstr>3_Default</vt:lpstr>
      <vt:lpstr>2_Office 테마</vt:lpstr>
      <vt:lpstr>PowerPoint 프레젠테이션</vt:lpstr>
      <vt:lpstr>PowerPoint 프레젠테이션</vt:lpstr>
      <vt:lpstr>과제 배경</vt:lpstr>
      <vt:lpstr>과제 필요성</vt:lpstr>
      <vt:lpstr>과제 필요성</vt:lpstr>
      <vt:lpstr>과제 개요</vt:lpstr>
      <vt:lpstr>요구사항 수집 및 분석</vt:lpstr>
      <vt:lpstr>PowerPoint 프레젠테이션</vt:lpstr>
      <vt:lpstr>Baseline 시스템 vs Target 시스템</vt:lpstr>
      <vt:lpstr>Baseline 시스템 vs Target 시스템</vt:lpstr>
      <vt:lpstr>품질 요구사항</vt:lpstr>
      <vt:lpstr>아키텍처 드라이버 선정</vt:lpstr>
      <vt:lpstr>Architecture 분석 – Overall System (Context View)</vt:lpstr>
      <vt:lpstr>Architecture 분석 – ASR과 DP 간의 연결성</vt:lpstr>
      <vt:lpstr>Architecture 분석 – Overall Architecture (Module View, 요약)</vt:lpstr>
      <vt:lpstr>DP1. Data Migration 결정 구조 - 배경</vt:lpstr>
      <vt:lpstr>DP1. Data Migration 결정 구조 - 설계</vt:lpstr>
      <vt:lpstr>DP2. 연산(Prefill/Decode) 실행 위치 결정 구조 - 배경</vt:lpstr>
      <vt:lpstr>DP2. 연산(Prefill/Decode) 실행 위치 결정 구조 - 설계</vt:lpstr>
      <vt:lpstr>DP2. 연산(Prefill/Decode) 실행 위치 결정 구조 – 보완 Tactic </vt:lpstr>
      <vt:lpstr>DP3. KV 캐시 재사용 구조 – 배경 </vt:lpstr>
      <vt:lpstr>DP3. KV 캐시 재사용 구조 – 설계 </vt:lpstr>
      <vt:lpstr>DP3. KV 캐시 재사용 구조 – 보완 Tactic</vt:lpstr>
      <vt:lpstr>DP4. 서버 간 KV 캐시 공유를 위한 일관성 관리 구조 – 배경</vt:lpstr>
      <vt:lpstr>DP4. 서버 간 KV 캐시 공유를 위한 일관성 관리 구조  – 설계</vt:lpstr>
      <vt:lpstr>전체 설계 Coverage</vt:lpstr>
      <vt:lpstr>최종 구조 설계 – Module View</vt:lpstr>
      <vt:lpstr>최종 구조 설계 – C&amp;C View</vt:lpstr>
      <vt:lpstr>최종 구조 설계 – Deployment View</vt:lpstr>
      <vt:lpstr>주요 품질 속성 검증</vt:lpstr>
      <vt:lpstr>성과 및 계획</vt:lpstr>
      <vt:lpstr>Architect 양성 과정 소회</vt:lpstr>
      <vt:lpstr>PowerPoint 프레젠테이션</vt:lpstr>
      <vt:lpstr>과제 배경</vt:lpstr>
      <vt:lpstr>과제 필요성</vt:lpstr>
      <vt:lpstr>문제 정의 (Problem Definition)</vt:lpstr>
      <vt:lpstr>과제 배경</vt:lpstr>
      <vt:lpstr>과제 배경</vt:lpstr>
      <vt:lpstr>문제 정의 (Problem Definition)</vt:lpstr>
      <vt:lpstr>문제 정의 (Problem Definition)</vt:lpstr>
      <vt:lpstr>과제 배경</vt:lpstr>
      <vt:lpstr>실제 Context 누적 길이</vt:lpstr>
      <vt:lpstr>System 연구를 왜 해야 하는가? </vt:lpstr>
      <vt:lpstr>PowerPoint 프레젠테이션</vt:lpstr>
      <vt:lpstr>Samsung Future Memory for AI</vt:lpstr>
      <vt:lpstr>ScHBM (Samsung Custom HBM)</vt:lpstr>
      <vt:lpstr>Companion Mode VS. Standalone Mode</vt:lpstr>
      <vt:lpstr>과제 개요</vt:lpstr>
      <vt:lpstr>과제 범위</vt:lpstr>
      <vt:lpstr>PowerPoint 프레젠테이션</vt:lpstr>
      <vt:lpstr>Baseline 시스템 vs Target 시스템</vt:lpstr>
      <vt:lpstr>Baseline 시스템 vs Target 시스템</vt:lpstr>
      <vt:lpstr>Baseline 시스템 vs Target 시스템</vt:lpstr>
      <vt:lpstr>Baseline 시스템 vs Target 시스템</vt:lpstr>
      <vt:lpstr>Baseline 시스템 vs Target 시스템</vt:lpstr>
      <vt:lpstr>Baseline 시스템 vs Target 시스템</vt:lpstr>
      <vt:lpstr>품질 요구사항</vt:lpstr>
      <vt:lpstr>PowerPoint 프레젠테이션</vt:lpstr>
      <vt:lpstr>PowerPoint 프레젠테이션</vt:lpstr>
      <vt:lpstr>협업 논의 자료 – 메모리 DRAM 솔루션팀 (CXL-PNM)</vt:lpstr>
      <vt:lpstr>인터뷰 자료 – 메모리 상품기획팀, DRAM 설계팀 (PIM)</vt:lpstr>
      <vt:lpstr>인터뷰 자료 – 메모리 DRAM 설계팀 손교민 Master (PIM)</vt:lpstr>
      <vt:lpstr>협업 논의 자료 – Flash 설계팀 (UBF)</vt:lpstr>
      <vt:lpstr>요구사항 분석 – 요구사항 도출 과정 상세</vt:lpstr>
      <vt:lpstr>Use Case 도출 – Use-case Diagram</vt:lpstr>
      <vt:lpstr>Use Case 도출 – UC 목록</vt:lpstr>
      <vt:lpstr>Use Case 도출 – Use-case Diagram</vt:lpstr>
      <vt:lpstr>Use Case 도출 – UC 목록</vt:lpstr>
      <vt:lpstr>Domain Model </vt:lpstr>
      <vt:lpstr>요구사항 분석 – 기능 요구사항 분석</vt:lpstr>
      <vt:lpstr>기능 요구사항 – 전체</vt:lpstr>
      <vt:lpstr>PowerPoint 프레젠테이션</vt:lpstr>
      <vt:lpstr>PowerPoint 프레젠테이션</vt:lpstr>
      <vt:lpstr>PowerPoint 프레젠테이션</vt:lpstr>
      <vt:lpstr>PowerPoint 프레젠테이션</vt:lpstr>
      <vt:lpstr>품질 요구사항</vt:lpstr>
      <vt:lpstr>품질 요구사항</vt:lpstr>
      <vt:lpstr>품질 요구사항</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품질 요구사항</vt:lpstr>
      <vt:lpstr>QA-01. Performance (Time behavior) - 별 기준과 근거</vt:lpstr>
      <vt:lpstr>QA-02. Resource Efficiency - 별 기준과 근거</vt:lpstr>
      <vt:lpstr>QA-03. Modifiability - 별 기준과 근거</vt:lpstr>
      <vt:lpstr>QA-04. Scalability - 별 기준과 근거</vt:lpstr>
      <vt:lpstr>QA-05. Functional Correctness - 별 기준과 근거</vt:lpstr>
      <vt:lpstr>PowerPoint 프레젠테이션</vt:lpstr>
      <vt:lpstr>DP1. Data Migration 결정 구조 - 배경</vt:lpstr>
      <vt:lpstr>배경 지식 (KV 캐시, Prefill/Decode)</vt:lpstr>
      <vt:lpstr>배경 지식 (Agent, KV 캐시, Prefill/Decode)</vt:lpstr>
      <vt:lpstr>Architecture 분석 – ASR과 DP 간의 연결성</vt:lpstr>
      <vt:lpstr>Architecture 분석 – (DP 연결성, ASR관점, Biz driver)</vt:lpstr>
      <vt:lpstr>요청 처리 기본 경로 – Class / Sequence (vLLM 기준선)</vt:lpstr>
      <vt:lpstr>DP1 Data Migration 결정 – 1안 Class / Sequence</vt:lpstr>
      <vt:lpstr>DP1 Data Migration 결정 – 2안 Class / Sequence</vt:lpstr>
      <vt:lpstr>DP2 연산 실행 위치 결정 – 1안 Class / Sequence</vt:lpstr>
      <vt:lpstr>DP2 연산 실행 위치 결정 – 2안 Class / Sequence</vt:lpstr>
      <vt:lpstr>DP3 KV 캐시 재사용 – 1안 Class / Sequence</vt:lpstr>
      <vt:lpstr>DP3 KV 캐시 재사용 – 2안 Class / Sequence</vt:lpstr>
      <vt:lpstr>DP4 서버 간 KV 캐시 공유 – 1안 Class / Sequence</vt:lpstr>
      <vt:lpstr>DP4 서버 간 KV 캐시 공유 – 2안 Class / Sequence</vt:lpstr>
      <vt:lpstr>DP1. 이기종 메모리 기반 Data Migration 결정 구조 - 설계</vt:lpstr>
      <vt:lpstr>DP1. 이기종 메모리 기반 Data Migration 결정 구조 – 1안 상세</vt:lpstr>
      <vt:lpstr>DP1. 이기종 메모리 기반 Data Migration 결정 구조 – 2안 상세</vt:lpstr>
      <vt:lpstr>PowerPoint 프레젠테이션</vt:lpstr>
      <vt:lpstr>PowerPoint 프레젠테이션</vt:lpstr>
      <vt:lpstr>PowerPoint 프레젠테이션</vt:lpstr>
      <vt:lpstr>PowerPoint 프레젠테이션</vt:lpstr>
      <vt:lpstr> C1 — 스케줄링 시점 결정</vt:lpstr>
      <vt:lpstr>C2 — 사전 계획 결정</vt:lpstr>
      <vt:lpstr>QA List - ISO/IEC 25010:2023</vt:lpstr>
      <vt:lpstr>요구사항 분석 – 배경 지식 (vLLM Framework)</vt:lpstr>
      <vt:lpstr>vLLM – 모듈 별 역할</vt:lpstr>
      <vt:lpstr>KV 캐시를 활용한 Attention 연산 과정 상세</vt:lpstr>
      <vt:lpstr>전체 DP 별 QA</vt:lpstr>
      <vt:lpstr>PowerPoint 프레젠테이션</vt:lpstr>
      <vt:lpstr>DP1. Data Migration 결정 구조 - 설계</vt:lpstr>
      <vt:lpstr>DP1. Data Migration 결정 구조 - 설계</vt:lpstr>
      <vt:lpstr>DP1. Data Migration 결정 구조 - 설계</vt:lpstr>
      <vt:lpstr>DP1. Data Migration 결정 구조 - 보완 Tactic </vt:lpstr>
      <vt:lpstr>PowerPoint 프레젠테이션</vt:lpstr>
      <vt:lpstr>DP2. 연산(Prefill/Decode) 실행 위치 결정 시점 최적화 - 설계</vt:lpstr>
      <vt:lpstr>DP2. 연산(Prefill/Decode) 실행 위치 결정 시점 최적화 – 보완 Tactic </vt:lpstr>
      <vt:lpstr>PowerPoint 프레젠테이션</vt:lpstr>
      <vt:lpstr>DP3. KV 캐시 재사용 구조 – 설계 </vt:lpstr>
      <vt:lpstr>DP3. KV 캐시 재사용 구조 – 보완 Tactic </vt:lpstr>
      <vt:lpstr>PowerPoint 프레젠테이션</vt:lpstr>
      <vt:lpstr>DP4. 서버 간 KV 캐시 공유를 위한 일관성 관리 구조 – 보완 Tactic</vt:lpstr>
      <vt:lpstr>PowerPoint 프레젠테이션</vt:lpstr>
      <vt:lpstr>DP3. KV 캐시 재사용 구조 – 보완 설계 </vt:lpstr>
      <vt:lpstr>DP3. Long Context를 위한 KV 캐시 재사용 구조 - 보완 설계</vt:lpstr>
      <vt:lpstr>DP3. Long Context를 위한 KV 캐시 재사용 구조 - 보완 설계</vt:lpstr>
      <vt:lpstr>DP3. Long Context를 위한 KV 캐시 재사용 구조 - 보완 설계</vt:lpstr>
      <vt:lpstr>DP3. Long Context를 위한 KV 캐시 재사용 구조 - 보완 설계</vt:lpstr>
      <vt:lpstr>DP3. Long Context를 위한 KV 캐시 재사용 구조 - 보완 설계</vt:lpstr>
      <vt:lpstr>DP4. 비일관 CXL 공유 메모리의 KV 일관성 구조 – 배경</vt:lpstr>
      <vt:lpstr>DP4. 비일관 CXL 공유 메모리의 KV 일관성 구조 – 설계</vt:lpstr>
      <vt:lpstr>DP4. 서버 간 KV 캐시 공유 구조 – 배경</vt:lpstr>
      <vt:lpstr>DP4. 서버 간 KV 캐시 공유 구조 – 설계</vt:lpstr>
      <vt:lpstr>DP5. 다중 서버 간 요청 조율 (Orchestration) 구조 - 배경</vt:lpstr>
      <vt:lpstr>DP5. 다중 서버 간 요청 조율 (Orchestration) 구조 - 배경</vt:lpstr>
      <vt:lpstr>DP5. 다중 서버 간 요청 조율 (Orchestration) 구조 - 배경</vt:lpstr>
      <vt:lpstr>DP5. 다중 서버 간 요청 조율 (Orchestration) 구조 - 설계</vt:lpstr>
      <vt:lpstr>과제 배경</vt:lpstr>
      <vt:lpstr>DP1. Data Migration 결정 구조 - 설계</vt:lpstr>
      <vt:lpstr>DP1. Data Migration 결정 구조 - 설계</vt:lpstr>
      <vt:lpstr>DP1. Data Migration 결정 구조 - 설계</vt:lpstr>
      <vt:lpstr>DP1. Data Migration 결정 구조 - 보완 설계</vt:lpstr>
      <vt:lpstr>DP1. Data Migration 결정 구조 - 배경</vt:lpstr>
      <vt:lpstr>DP3. KV 캐시 재사용 구조 – 설계 상세 </vt:lpstr>
      <vt:lpstr>DP4. 서버 간 데이터 공유 구조 – 배경</vt:lpstr>
      <vt:lpstr>DP4. 서버 간 데이터 공유 구조 – 배경</vt:lpstr>
      <vt:lpstr>DP3. KV 캐시 재사용 구조 – 배경 </vt:lpstr>
      <vt:lpstr>DP3. KV 캐시 재사용 구조 – 설계 </vt:lpstr>
      <vt:lpstr>DP4. 서버 간 데이터 공유 구조 – 설계</vt:lpstr>
      <vt:lpstr>PowerPoint 프레젠테이션</vt:lpstr>
      <vt:lpstr>DP1. Data Migration 결정 구조 - 설계</vt:lpstr>
      <vt:lpstr>DP1. Data Migration 결정 구조 - 설계</vt:lpstr>
      <vt:lpstr>DP1. Data Migration 결정 구조 - 설계</vt:lpstr>
      <vt:lpstr>DP1. Data Migration 결정 구조 - 설계</vt:lpstr>
      <vt:lpstr>DP1. Data Migration 결정 구조 - 설계</vt:lpstr>
      <vt:lpstr>DP1. Data Migration 결정 구조 - 배경</vt:lpstr>
      <vt:lpstr>DP1. Data Migration 결정 구조 - 배경</vt:lpstr>
      <vt:lpstr>DP1. Data Migration 결정 구조 - 배경</vt:lpstr>
      <vt:lpstr>DP1. Data Migration 결정 구조 - 설계</vt:lpstr>
      <vt:lpstr>DP1. Data Migration 결정 구조 - 보완 설계</vt:lpstr>
      <vt:lpstr>DP1. Data Migration 결정 구조 - 설계</vt:lpstr>
      <vt:lpstr>DP1. Data Migration 결정 구조 – 보완 설계</vt:lpstr>
      <vt:lpstr>PowerPoint 프레젠테이션</vt:lpstr>
      <vt:lpstr>PowerPoint 프레젠테이션</vt:lpstr>
      <vt:lpstr>배경 지식 (KV Cache)</vt:lpstr>
      <vt:lpstr>DP2. 배경 지식 – Prefill / Decode 연산</vt:lpstr>
      <vt:lpstr>DP1. Data Migration 결정 구조 - 설계</vt:lpstr>
      <vt:lpstr>DP2. 연산(Prefill/Decode) 실행 위치 결정 구조 - 설계</vt:lpstr>
      <vt:lpstr>DP2. 연산(Prefill/Decode) 실행 위치 결정 구조 – 보완 설계</vt:lpstr>
      <vt:lpstr>DP3. KV 캐시 재사용 구조 – 설계 </vt:lpstr>
      <vt:lpstr>DP3. KV 캐시 재사용 구조 – 보완 설계 </vt:lpstr>
      <vt:lpstr>DP4. 서버 간 KV 캐시 공유 구조 – 배경</vt:lpstr>
      <vt:lpstr>DP3. KV 캐시 재사용 구조 – 배경 </vt:lpstr>
      <vt:lpstr>DP3. KV 캐시 재사용 구조 – 보완 설계 </vt:lpstr>
      <vt:lpstr>DP2. Cost 계산 비용 검토 — 사전 계획(Plan) 분리의 근거</vt:lpstr>
      <vt:lpstr>품질 요구사항</vt:lpstr>
      <vt:lpstr>DP4. 서버 간 KV 캐시 공유 구조 – 설계</vt:lpstr>
      <vt:lpstr>DP4. 서버 간 KV 캐시 공유 구조 – 설계</vt:lpstr>
      <vt:lpstr>DP4. 서버 간 KV 캐시 공유 구조 – 보완 설계</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과제 배경</vt:lpstr>
      <vt:lpstr>과제 필요성</vt:lpstr>
      <vt:lpstr>과제 필요성</vt:lpstr>
      <vt:lpstr>PowerPoint 프레젠테이션</vt:lpstr>
      <vt:lpstr>Architecture 분석 – Overall Architecture (Module View)</vt:lpstr>
      <vt:lpstr>최종 구조 설계 – 전체 Class Diagram (1/3) 요청 조율·실행 위치 결정</vt:lpstr>
      <vt:lpstr>최종 구조 설계 – 전체 Class Diagram (2/3) 데이터 이동·자원 관리</vt:lpstr>
      <vt:lpstr>최종 구조 설계 – 전체 Class Diagram (3/3) KV 재사용·공유</vt:lpstr>
      <vt:lpstr>PowerPoint 프레젠테이션</vt:lpstr>
      <vt:lpstr>주요 품질 속성 검증 – QA-01 Throughput</vt:lpstr>
      <vt:lpstr>주요 품질 속성 검증 – QA-02 Resource Efficiency (HBM)</vt:lpstr>
      <vt:lpstr>주요 품질 속성 검증 – QA-03 Tail Latency</vt:lpstr>
      <vt:lpstr>주요 품질 속성 검증 – QA-04 Scalability</vt:lpstr>
      <vt:lpstr>주요 품질 속성 검증 – QA-05 Modifiability</vt:lpstr>
      <vt:lpstr>[공동개발] PIM-SSD 활용 AI응용 가속 연구 (메모리 S/W 설계팀)</vt:lpstr>
      <vt:lpstr>[공동개발] UBF System Level 연구 (메모리 Flash 설계팀)</vt:lpstr>
      <vt:lpstr>[공동연구협약] Future Memory-centric System Architecture (Google Research)</vt:lpstr>
      <vt:lpstr>CompBlend – EuroSys ‘27</vt:lpstr>
      <vt:lpstr>BlendPrune – MLSys ‘27</vt:lpstr>
      <vt:lpstr>특허 실적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김명우/MYEONG WOO KIM</dc:creator>
  <cp:lastModifiedBy>김명우/MYEONG WOO KIM</cp:lastModifiedBy>
  <cp:revision>1743</cp:revision>
  <dcterms:created xsi:type="dcterms:W3CDTF">2026-06-30T10:16:17Z</dcterms:created>
  <dcterms:modified xsi:type="dcterms:W3CDTF">2026-10-29T13:23:32Z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